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1.jp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1.jpg"/><Relationship Id="rId3" Type="http://schemas.openxmlformats.org/officeDocument/2006/relationships/image" Target="../media/image-2-3.jp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1.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1.jp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1.jp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1.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1.jpg"/><Relationship Id="rId3" Type="http://schemas.openxmlformats.org/officeDocument/2006/relationships/image" Target="../media/image-11-3.jp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1.jpg"/><Relationship Id="rId3" Type="http://schemas.openxmlformats.org/officeDocument/2006/relationships/image" Target="../media/image-12-3.jp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1.jpg"/><Relationship Id="rId3" Type="http://schemas.openxmlformats.org/officeDocument/2006/relationships/image" Target="../media/image-13-3.jp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1.jpg"/><Relationship Id="rId3" Type="http://schemas.openxmlformats.org/officeDocument/2006/relationships/image" Target="../media/image-14-3.jp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1.jpg"/><Relationship Id="rId3" Type="http://schemas.openxmlformats.org/officeDocument/2006/relationships/image" Target="../media/image-15-3.jp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1.jpg"/><Relationship Id="rId3" Type="http://schemas.openxmlformats.org/officeDocument/2006/relationships/image" Target="../media/image-16-3.jp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1.jpg"/><Relationship Id="rId3" Type="http://schemas.openxmlformats.org/officeDocument/2006/relationships/image" Target="../media/image-17-3.jp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1.jpg"/><Relationship Id="rId3" Type="http://schemas.openxmlformats.org/officeDocument/2006/relationships/image" Target="../media/image-18-3.jp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1.jpg"/><Relationship Id="rId3" Type="http://schemas.openxmlformats.org/officeDocument/2006/relationships/image" Target="../media/image-19-3.jp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a:t>
            </a:r>
            <a:endParaRPr lang="en-US" sz="900" dirty="0"/>
          </a:p>
        </p:txBody>
      </p:sp>
      <p:pic>
        <p:nvPicPr>
          <p:cNvPr id="6" name="Image 2" descr="/tmp/claude-0/-home-user-Dom-Manipulation/01edd7ad-16e1-5ac5-9e2e-840f37702b96/scratchpad/img/crop/hero.jpg">    </p:cNvPr>
          <p:cNvPicPr>
            <a:picLocks noChangeAspect="1"/>
          </p:cNvPicPr>
          <p:nvPr/>
        </p:nvPicPr>
        <p:blipFill>
          <a:blip r:embed="rId3"/>
          <a:stretch>
            <a:fillRect/>
          </a:stretch>
        </p:blipFill>
        <p:spPr>
          <a:xfrm>
            <a:off x="502920" y="2240280"/>
            <a:ext cx="7624724" cy="4114800"/>
          </a:xfrm>
          <a:prstGeom prst="rect">
            <a:avLst/>
          </a:prstGeom>
        </p:spPr>
      </p:pic>
      <p:sp>
        <p:nvSpPr>
          <p:cNvPr id="7" name="Shape 2"/>
          <p:cNvSpPr/>
          <p:nvPr/>
        </p:nvSpPr>
        <p:spPr>
          <a:xfrm>
            <a:off x="5120640" y="640080"/>
            <a:ext cx="6583680" cy="1920240"/>
          </a:xfrm>
          <a:prstGeom prst="rect">
            <a:avLst/>
          </a:prstGeom>
          <a:solidFill>
            <a:srgbClr val="FFFFFF">
              <a:alpha val="88000"/>
            </a:srgbClr>
          </a:solidFill>
          <a:ln w="12700">
            <a:solidFill>
              <a:srgbClr val="FFFFFF"/>
            </a:solidFill>
            <a:prstDash val="solid"/>
          </a:ln>
        </p:spPr>
      </p:sp>
      <p:sp>
        <p:nvSpPr>
          <p:cNvPr id="8" name="Text 3"/>
          <p:cNvSpPr txBox="1"/>
          <p:nvPr/>
        </p:nvSpPr>
        <p:spPr>
          <a:xfrm>
            <a:off x="5257800" y="685800"/>
            <a:ext cx="6400800" cy="1828800"/>
          </a:xfrm>
          <a:prstGeom prst="rect">
            <a:avLst/>
          </a:prstGeom>
          <a:noFill/>
          <a:ln/>
        </p:spPr>
        <p:txBody>
          <a:bodyPr wrap="square" lIns="0" tIns="0" rIns="0" bIns="0" rtlCol="0" anchor="ctr"/>
          <a:lstStyle/>
          <a:p>
            <a:pPr algn="r" indent="0" marL="0">
              <a:lnSpc>
                <a:spcPct val="95000"/>
              </a:lnSpc>
              <a:buNone/>
            </a:pPr>
            <a:r>
              <a:rPr lang="en-US" sz="3000" b="1" spc="-100" kern="0" dirty="0">
                <a:solidFill>
                  <a:srgbClr val="111111"/>
                </a:solidFill>
                <a:latin typeface="Arial" pitchFamily="34" charset="0"/>
                <a:ea typeface="Arial" pitchFamily="34" charset="-122"/>
                <a:cs typeface="Arial" pitchFamily="34" charset="-120"/>
              </a:rPr>
              <a:t>INVENTORY MANAGEMENT</a:t>
            </a:r>
            <a:endParaRPr lang="en-US" sz="3000" dirty="0"/>
          </a:p>
          <a:p>
            <a:pPr algn="r" indent="0" marL="0">
              <a:lnSpc>
                <a:spcPct val="95000"/>
              </a:lnSpc>
              <a:buNone/>
            </a:pPr>
            <a:r>
              <a:rPr lang="en-US" sz="3000" b="1" spc="-100" kern="0" dirty="0">
                <a:solidFill>
                  <a:srgbClr val="111111"/>
                </a:solidFill>
                <a:latin typeface="Arial" pitchFamily="34" charset="0"/>
                <a:ea typeface="Arial" pitchFamily="34" charset="-122"/>
                <a:cs typeface="Arial" pitchFamily="34" charset="-120"/>
              </a:rPr>
              <a:t>SEBAGAI KEUNGGULAN</a:t>
            </a:r>
            <a:endParaRPr lang="en-US" sz="3000" dirty="0"/>
          </a:p>
          <a:p>
            <a:pPr algn="r" indent="0" marL="0">
              <a:lnSpc>
                <a:spcPct val="95000"/>
              </a:lnSpc>
              <a:buNone/>
            </a:pPr>
            <a:r>
              <a:rPr lang="en-US" sz="3000" b="1" spc="-100" kern="0" dirty="0">
                <a:solidFill>
                  <a:srgbClr val="111111"/>
                </a:solidFill>
                <a:latin typeface="Arial" pitchFamily="34" charset="0"/>
                <a:ea typeface="Arial" pitchFamily="34" charset="-122"/>
                <a:cs typeface="Arial" pitchFamily="34" charset="-120"/>
              </a:rPr>
              <a:t>KOMPETITIF AMAZON.COM</a:t>
            </a:r>
            <a:endParaRPr lang="en-US" sz="3000" dirty="0"/>
          </a:p>
        </p:txBody>
      </p:sp>
      <p:sp>
        <p:nvSpPr>
          <p:cNvPr id="9" name="Text 4"/>
          <p:cNvSpPr txBox="1"/>
          <p:nvPr/>
        </p:nvSpPr>
        <p:spPr>
          <a:xfrm>
            <a:off x="777240" y="731520"/>
            <a:ext cx="1463040" cy="329184"/>
          </a:xfrm>
          <a:prstGeom prst="rect">
            <a:avLst/>
          </a:prstGeom>
          <a:solidFill>
            <a:srgbClr val="FF9900"/>
          </a:solidFill>
          <a:ln/>
        </p:spPr>
        <p:txBody>
          <a:bodyPr wrap="square" lIns="508" tIns="1270" rIns="1270" bIns="508" rtlCol="0" anchor="ctr"/>
          <a:lstStyle/>
          <a:p>
            <a:pPr algn="l" indent="0" marL="0">
              <a:lnSpc>
                <a:spcPct val="105000"/>
              </a:lnSpc>
              <a:buNone/>
            </a:pPr>
            <a:r>
              <a:rPr lang="en-US" sz="1200" b="1" dirty="0">
                <a:solidFill>
                  <a:srgbClr val="111111"/>
                </a:solidFill>
                <a:latin typeface="Arial" pitchFamily="34" charset="0"/>
                <a:ea typeface="Arial" pitchFamily="34" charset="-122"/>
                <a:cs typeface="Arial" pitchFamily="34" charset="-120"/>
              </a:rPr>
              <a:t>KELOMPOK 4</a:t>
            </a:r>
            <a:endParaRPr lang="en-US" sz="1200" dirty="0"/>
          </a:p>
        </p:txBody>
      </p:sp>
      <p:sp>
        <p:nvSpPr>
          <p:cNvPr id="10" name="Text 5"/>
          <p:cNvSpPr txBox="1"/>
          <p:nvPr/>
        </p:nvSpPr>
        <p:spPr>
          <a:xfrm>
            <a:off x="777240" y="1143000"/>
            <a:ext cx="4206240" cy="100584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Bagaskoro  ·  25/574280/PEK/31778</a:t>
            </a:r>
            <a:endParaRPr lang="en-US" sz="1050" dirty="0"/>
          </a:p>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Aulia Sisca Rahmadiyanti  ·  25/574305/PEK/31789</a:t>
            </a:r>
            <a:endParaRPr lang="en-US" sz="1050" dirty="0"/>
          </a:p>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Fitra Aidila  ·  25/574309/PEK/31791</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2</a:t>
            </a:r>
            <a:endParaRPr lang="en-US" sz="900" dirty="0"/>
          </a:p>
        </p:txBody>
      </p:sp>
      <p:sp>
        <p:nvSpPr>
          <p:cNvPr id="6" name="Text 2"/>
          <p:cNvSpPr txBox="1"/>
          <p:nvPr/>
        </p:nvSpPr>
        <p:spPr>
          <a:xfrm>
            <a:off x="777240" y="731520"/>
            <a:ext cx="5394960" cy="605790"/>
          </a:xfrm>
          <a:prstGeom prst="rect">
            <a:avLst/>
          </a:prstGeom>
          <a:noFill/>
          <a:ln/>
        </p:spPr>
        <p:txBody>
          <a:bodyPr wrap="square" lIns="0" tIns="0" rIns="0" bIns="0" rtlCol="0" anchor="t"/>
          <a:lstStyle/>
          <a:p>
            <a:pPr indent="0" marL="0">
              <a:lnSpc>
                <a:spcPct val="95000"/>
              </a:lnSpc>
              <a:buNone/>
            </a:pPr>
            <a:r>
              <a:rPr lang="en-US" sz="3000" b="1" spc="-100" kern="0" dirty="0">
                <a:solidFill>
                  <a:srgbClr val="111111"/>
                </a:solidFill>
                <a:latin typeface="Arial" pitchFamily="34" charset="0"/>
                <a:ea typeface="Arial" pitchFamily="34" charset="-122"/>
                <a:cs typeface="Arial" pitchFamily="34" charset="-120"/>
              </a:rPr>
              <a:t>ALUR PEMBAHASAN</a:t>
            </a:r>
            <a:endParaRPr lang="en-US" sz="3000" dirty="0"/>
          </a:p>
        </p:txBody>
      </p:sp>
      <p:sp>
        <p:nvSpPr>
          <p:cNvPr id="7" name="Text 3"/>
          <p:cNvSpPr txBox="1"/>
          <p:nvPr/>
        </p:nvSpPr>
        <p:spPr>
          <a:xfrm>
            <a:off x="777240" y="1371600"/>
            <a:ext cx="5394960" cy="548640"/>
          </a:xfrm>
          <a:prstGeom prst="rect">
            <a:avLst/>
          </a:prstGeom>
          <a:noFill/>
          <a:ln/>
        </p:spPr>
        <p:txBody>
          <a:bodyPr wrap="square" lIns="0" tIns="0" rIns="0" bIns="0" rtlCol="0" anchor="t"/>
          <a:lstStyle/>
          <a:p>
            <a:pPr algn="l" indent="0" marL="0">
              <a:lnSpc>
                <a:spcPct val="105000"/>
              </a:lnSpc>
              <a:buNone/>
            </a:pPr>
            <a:r>
              <a:rPr lang="en-US" sz="1150" dirty="0">
                <a:solidFill>
                  <a:srgbClr val="4A4A4A"/>
                </a:solidFill>
                <a:latin typeface="Calibri" pitchFamily="34" charset="0"/>
                <a:ea typeface="Calibri" pitchFamily="34" charset="-122"/>
                <a:cs typeface="Calibri" pitchFamily="34" charset="-120"/>
              </a:rPr>
              <a:t>Urutan yang dipakai di kelas: kisah sukses, apa yang dilakukan perusahaan, mengapa berhasil, lalu apa yang bisa dan tidak bisa ditiru.</a:t>
            </a:r>
            <a:endParaRPr lang="en-US" sz="1150" dirty="0"/>
          </a:p>
        </p:txBody>
      </p:sp>
      <p:sp>
        <p:nvSpPr>
          <p:cNvPr id="8" name="Text 4"/>
          <p:cNvSpPr txBox="1"/>
          <p:nvPr/>
        </p:nvSpPr>
        <p:spPr>
          <a:xfrm>
            <a:off x="777240" y="2011680"/>
            <a:ext cx="640080" cy="512064"/>
          </a:xfrm>
          <a:prstGeom prst="rect">
            <a:avLst/>
          </a:prstGeom>
          <a:noFill/>
          <a:ln/>
        </p:spPr>
        <p:txBody>
          <a:bodyPr wrap="square" lIns="0" tIns="0" rIns="0" bIns="0" rtlCol="0" anchor="ctr"/>
          <a:lstStyle/>
          <a:p>
            <a:pPr indent="0" marL="0">
              <a:buNone/>
            </a:pPr>
            <a:r>
              <a:rPr lang="en-US" sz="1600" b="1" dirty="0">
                <a:solidFill>
                  <a:srgbClr val="FF9900"/>
                </a:solidFill>
                <a:latin typeface="Arial" pitchFamily="34" charset="0"/>
                <a:ea typeface="Arial" pitchFamily="34" charset="-122"/>
                <a:cs typeface="Arial" pitchFamily="34" charset="-120"/>
              </a:rPr>
              <a:t>01</a:t>
            </a:r>
            <a:endParaRPr lang="en-US" sz="1600" dirty="0"/>
          </a:p>
        </p:txBody>
      </p:sp>
      <p:sp>
        <p:nvSpPr>
          <p:cNvPr id="9" name="Text 5"/>
          <p:cNvSpPr txBox="1"/>
          <p:nvPr/>
        </p:nvSpPr>
        <p:spPr>
          <a:xfrm>
            <a:off x="1463040" y="2011680"/>
            <a:ext cx="4709160" cy="256032"/>
          </a:xfrm>
          <a:prstGeom prst="rect">
            <a:avLst/>
          </a:prstGeom>
          <a:solidFill>
            <a:srgbClr val="FFE2B8"/>
          </a:solidFill>
          <a:ln/>
        </p:spPr>
        <p:txBody>
          <a:bodyPr wrap="square" lIns="508" tIns="1270" rIns="1270" bIns="508" rtlCol="0" anchor="ctr"/>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Kerangka berpikir</a:t>
            </a:r>
            <a:endParaRPr lang="en-US" sz="1100" dirty="0"/>
          </a:p>
        </p:txBody>
      </p:sp>
      <p:sp>
        <p:nvSpPr>
          <p:cNvPr id="10" name="Text 6"/>
          <p:cNvSpPr txBox="1"/>
          <p:nvPr/>
        </p:nvSpPr>
        <p:spPr>
          <a:xfrm>
            <a:off x="1463040" y="2277953"/>
            <a:ext cx="4709160" cy="256032"/>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Strategi dulu, baru keputusan teknis; dilema persediaan dan aturan keputusannya</a:t>
            </a:r>
            <a:endParaRPr lang="en-US" sz="950" dirty="0"/>
          </a:p>
        </p:txBody>
      </p:sp>
      <p:sp>
        <p:nvSpPr>
          <p:cNvPr id="11" name="Text 7"/>
          <p:cNvSpPr txBox="1"/>
          <p:nvPr/>
        </p:nvSpPr>
        <p:spPr>
          <a:xfrm>
            <a:off x="777240" y="2606040"/>
            <a:ext cx="640080" cy="512064"/>
          </a:xfrm>
          <a:prstGeom prst="rect">
            <a:avLst/>
          </a:prstGeom>
          <a:noFill/>
          <a:ln/>
        </p:spPr>
        <p:txBody>
          <a:bodyPr wrap="square" lIns="0" tIns="0" rIns="0" bIns="0" rtlCol="0" anchor="ctr"/>
          <a:lstStyle/>
          <a:p>
            <a:pPr indent="0" marL="0">
              <a:buNone/>
            </a:pPr>
            <a:r>
              <a:rPr lang="en-US" sz="1600" b="1" dirty="0">
                <a:solidFill>
                  <a:srgbClr val="FF9900"/>
                </a:solidFill>
                <a:latin typeface="Arial" pitchFamily="34" charset="0"/>
                <a:ea typeface="Arial" pitchFamily="34" charset="-122"/>
                <a:cs typeface="Arial" pitchFamily="34" charset="-120"/>
              </a:rPr>
              <a:t>02</a:t>
            </a:r>
            <a:endParaRPr lang="en-US" sz="1600" dirty="0"/>
          </a:p>
        </p:txBody>
      </p:sp>
      <p:sp>
        <p:nvSpPr>
          <p:cNvPr id="12" name="Text 8"/>
          <p:cNvSpPr txBox="1"/>
          <p:nvPr/>
        </p:nvSpPr>
        <p:spPr>
          <a:xfrm>
            <a:off x="1463040" y="2606040"/>
            <a:ext cx="4709160" cy="256032"/>
          </a:xfrm>
          <a:prstGeom prst="rect">
            <a:avLst/>
          </a:prstGeom>
          <a:solidFill>
            <a:srgbClr val="FFE2B8"/>
          </a:solidFill>
          <a:ln/>
        </p:spPr>
        <p:txBody>
          <a:bodyPr wrap="square" lIns="508" tIns="1270" rIns="1270" bIns="508" rtlCol="0" anchor="ctr"/>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Kisah sukses</a:t>
            </a:r>
            <a:endParaRPr lang="en-US" sz="1100" dirty="0"/>
          </a:p>
        </p:txBody>
      </p:sp>
      <p:sp>
        <p:nvSpPr>
          <p:cNvPr id="13" name="Text 9"/>
          <p:cNvSpPr txBox="1"/>
          <p:nvPr/>
        </p:nvSpPr>
        <p:spPr>
          <a:xfrm>
            <a:off x="1463040" y="2872313"/>
            <a:ext cx="4709160" cy="256032"/>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Transformasi Amazon dari pengecer virtual menjadi pengelola persediaan</a:t>
            </a:r>
            <a:endParaRPr lang="en-US" sz="950" dirty="0"/>
          </a:p>
        </p:txBody>
      </p:sp>
      <p:sp>
        <p:nvSpPr>
          <p:cNvPr id="14" name="Text 10"/>
          <p:cNvSpPr txBox="1"/>
          <p:nvPr/>
        </p:nvSpPr>
        <p:spPr>
          <a:xfrm>
            <a:off x="777240" y="3200400"/>
            <a:ext cx="640080" cy="512064"/>
          </a:xfrm>
          <a:prstGeom prst="rect">
            <a:avLst/>
          </a:prstGeom>
          <a:noFill/>
          <a:ln/>
        </p:spPr>
        <p:txBody>
          <a:bodyPr wrap="square" lIns="0" tIns="0" rIns="0" bIns="0" rtlCol="0" anchor="ctr"/>
          <a:lstStyle/>
          <a:p>
            <a:pPr indent="0" marL="0">
              <a:buNone/>
            </a:pPr>
            <a:r>
              <a:rPr lang="en-US" sz="1600" b="1" dirty="0">
                <a:solidFill>
                  <a:srgbClr val="FF9900"/>
                </a:solidFill>
                <a:latin typeface="Arial" pitchFamily="34" charset="0"/>
                <a:ea typeface="Arial" pitchFamily="34" charset="-122"/>
                <a:cs typeface="Arial" pitchFamily="34" charset="-120"/>
              </a:rPr>
              <a:t>03</a:t>
            </a:r>
            <a:endParaRPr lang="en-US" sz="1600" dirty="0"/>
          </a:p>
        </p:txBody>
      </p:sp>
      <p:sp>
        <p:nvSpPr>
          <p:cNvPr id="15" name="Text 11"/>
          <p:cNvSpPr txBox="1"/>
          <p:nvPr/>
        </p:nvSpPr>
        <p:spPr>
          <a:xfrm>
            <a:off x="1463040" y="3200400"/>
            <a:ext cx="4709160" cy="256032"/>
          </a:xfrm>
          <a:prstGeom prst="rect">
            <a:avLst/>
          </a:prstGeom>
          <a:solidFill>
            <a:srgbClr val="FFE2B8"/>
          </a:solidFill>
          <a:ln/>
        </p:spPr>
        <p:txBody>
          <a:bodyPr wrap="square" lIns="508" tIns="1270" rIns="1270" bIns="508" rtlCol="0" anchor="ctr"/>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Proses pemenuhan pesanan</a:t>
            </a:r>
            <a:endParaRPr lang="en-US" sz="1100" dirty="0"/>
          </a:p>
        </p:txBody>
      </p:sp>
      <p:sp>
        <p:nvSpPr>
          <p:cNvPr id="16" name="Text 12"/>
          <p:cNvSpPr txBox="1"/>
          <p:nvPr/>
        </p:nvSpPr>
        <p:spPr>
          <a:xfrm>
            <a:off x="1463040" y="3466673"/>
            <a:ext cx="4709160" cy="256032"/>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Delapan langkah pada satu pesanan, dan kuantifikasinya</a:t>
            </a:r>
            <a:endParaRPr lang="en-US" sz="950" dirty="0"/>
          </a:p>
        </p:txBody>
      </p:sp>
      <p:sp>
        <p:nvSpPr>
          <p:cNvPr id="17" name="Text 13"/>
          <p:cNvSpPr txBox="1"/>
          <p:nvPr/>
        </p:nvSpPr>
        <p:spPr>
          <a:xfrm>
            <a:off x="777240" y="3794760"/>
            <a:ext cx="640080" cy="512064"/>
          </a:xfrm>
          <a:prstGeom prst="rect">
            <a:avLst/>
          </a:prstGeom>
          <a:noFill/>
          <a:ln/>
        </p:spPr>
        <p:txBody>
          <a:bodyPr wrap="square" lIns="0" tIns="0" rIns="0" bIns="0" rtlCol="0" anchor="ctr"/>
          <a:lstStyle/>
          <a:p>
            <a:pPr indent="0" marL="0">
              <a:buNone/>
            </a:pPr>
            <a:r>
              <a:rPr lang="en-US" sz="1600" b="1" dirty="0">
                <a:solidFill>
                  <a:srgbClr val="FF9900"/>
                </a:solidFill>
                <a:latin typeface="Arial" pitchFamily="34" charset="0"/>
                <a:ea typeface="Arial" pitchFamily="34" charset="-122"/>
                <a:cs typeface="Arial" pitchFamily="34" charset="-120"/>
              </a:rPr>
              <a:t>04</a:t>
            </a:r>
            <a:endParaRPr lang="en-US" sz="1600" dirty="0"/>
          </a:p>
        </p:txBody>
      </p:sp>
      <p:sp>
        <p:nvSpPr>
          <p:cNvPr id="18" name="Text 14"/>
          <p:cNvSpPr txBox="1"/>
          <p:nvPr/>
        </p:nvSpPr>
        <p:spPr>
          <a:xfrm>
            <a:off x="1463040" y="3794760"/>
            <a:ext cx="4709160" cy="256032"/>
          </a:xfrm>
          <a:prstGeom prst="rect">
            <a:avLst/>
          </a:prstGeom>
          <a:solidFill>
            <a:srgbClr val="FFE2B8"/>
          </a:solidFill>
          <a:ln/>
        </p:spPr>
        <p:txBody>
          <a:bodyPr wrap="square" lIns="508" tIns="1270" rIns="1270" bIns="508" rtlCol="0" anchor="ctr"/>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Analisis trade-off</a:t>
            </a:r>
            <a:endParaRPr lang="en-US" sz="1100" dirty="0"/>
          </a:p>
        </p:txBody>
      </p:sp>
      <p:sp>
        <p:nvSpPr>
          <p:cNvPr id="19" name="Text 15"/>
          <p:cNvSpPr txBox="1"/>
          <p:nvPr/>
        </p:nvSpPr>
        <p:spPr>
          <a:xfrm>
            <a:off x="1463040" y="4061033"/>
            <a:ext cx="4709160" cy="256032"/>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Mengapa berhasil; mana trade-off nyata, mana yang searah</a:t>
            </a:r>
            <a:endParaRPr lang="en-US" sz="950" dirty="0"/>
          </a:p>
        </p:txBody>
      </p:sp>
      <p:sp>
        <p:nvSpPr>
          <p:cNvPr id="20" name="Text 16"/>
          <p:cNvSpPr txBox="1"/>
          <p:nvPr/>
        </p:nvSpPr>
        <p:spPr>
          <a:xfrm>
            <a:off x="777240" y="4389120"/>
            <a:ext cx="640080" cy="512064"/>
          </a:xfrm>
          <a:prstGeom prst="rect">
            <a:avLst/>
          </a:prstGeom>
          <a:noFill/>
          <a:ln/>
        </p:spPr>
        <p:txBody>
          <a:bodyPr wrap="square" lIns="0" tIns="0" rIns="0" bIns="0" rtlCol="0" anchor="ctr"/>
          <a:lstStyle/>
          <a:p>
            <a:pPr indent="0" marL="0">
              <a:buNone/>
            </a:pPr>
            <a:r>
              <a:rPr lang="en-US" sz="1600" b="1" dirty="0">
                <a:solidFill>
                  <a:srgbClr val="FF9900"/>
                </a:solidFill>
                <a:latin typeface="Arial" pitchFamily="34" charset="0"/>
                <a:ea typeface="Arial" pitchFamily="34" charset="-122"/>
                <a:cs typeface="Arial" pitchFamily="34" charset="-120"/>
              </a:rPr>
              <a:t>05</a:t>
            </a:r>
            <a:endParaRPr lang="en-US" sz="1600" dirty="0"/>
          </a:p>
        </p:txBody>
      </p:sp>
      <p:sp>
        <p:nvSpPr>
          <p:cNvPr id="21" name="Text 17"/>
          <p:cNvSpPr txBox="1"/>
          <p:nvPr/>
        </p:nvSpPr>
        <p:spPr>
          <a:xfrm>
            <a:off x="1463040" y="4389120"/>
            <a:ext cx="4709160" cy="256032"/>
          </a:xfrm>
          <a:prstGeom prst="rect">
            <a:avLst/>
          </a:prstGeom>
          <a:solidFill>
            <a:srgbClr val="FFE2B8"/>
          </a:solidFill>
          <a:ln/>
        </p:spPr>
        <p:txBody>
          <a:bodyPr wrap="square" lIns="508" tIns="1270" rIns="1270" bIns="508" rtlCol="0" anchor="ctr"/>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Kaitan dengan teori persediaan</a:t>
            </a:r>
            <a:endParaRPr lang="en-US" sz="1100" dirty="0"/>
          </a:p>
        </p:txBody>
      </p:sp>
      <p:sp>
        <p:nvSpPr>
          <p:cNvPr id="22" name="Text 18"/>
          <p:cNvSpPr txBox="1"/>
          <p:nvPr/>
        </p:nvSpPr>
        <p:spPr>
          <a:xfrm>
            <a:off x="1463040" y="4655393"/>
            <a:ext cx="4709160" cy="256032"/>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Konsep Bab 12 yang terlihat bekerja</a:t>
            </a:r>
            <a:endParaRPr lang="en-US" sz="950" dirty="0"/>
          </a:p>
        </p:txBody>
      </p:sp>
      <p:sp>
        <p:nvSpPr>
          <p:cNvPr id="23" name="Text 19"/>
          <p:cNvSpPr txBox="1"/>
          <p:nvPr/>
        </p:nvSpPr>
        <p:spPr>
          <a:xfrm>
            <a:off x="777240" y="4983480"/>
            <a:ext cx="640080" cy="512064"/>
          </a:xfrm>
          <a:prstGeom prst="rect">
            <a:avLst/>
          </a:prstGeom>
          <a:noFill/>
          <a:ln/>
        </p:spPr>
        <p:txBody>
          <a:bodyPr wrap="square" lIns="0" tIns="0" rIns="0" bIns="0" rtlCol="0" anchor="ctr"/>
          <a:lstStyle/>
          <a:p>
            <a:pPr indent="0" marL="0">
              <a:buNone/>
            </a:pPr>
            <a:r>
              <a:rPr lang="en-US" sz="1600" b="1" dirty="0">
                <a:solidFill>
                  <a:srgbClr val="FF9900"/>
                </a:solidFill>
                <a:latin typeface="Arial" pitchFamily="34" charset="0"/>
                <a:ea typeface="Arial" pitchFamily="34" charset="-122"/>
                <a:cs typeface="Arial" pitchFamily="34" charset="-120"/>
              </a:rPr>
              <a:t>06</a:t>
            </a:r>
            <a:endParaRPr lang="en-US" sz="1600" dirty="0"/>
          </a:p>
        </p:txBody>
      </p:sp>
      <p:sp>
        <p:nvSpPr>
          <p:cNvPr id="24" name="Text 20"/>
          <p:cNvSpPr txBox="1"/>
          <p:nvPr/>
        </p:nvSpPr>
        <p:spPr>
          <a:xfrm>
            <a:off x="1463040" y="4983480"/>
            <a:ext cx="4709160" cy="256032"/>
          </a:xfrm>
          <a:prstGeom prst="rect">
            <a:avLst/>
          </a:prstGeom>
          <a:solidFill>
            <a:srgbClr val="FFE2B8"/>
          </a:solidFill>
          <a:ln/>
        </p:spPr>
        <p:txBody>
          <a:bodyPr wrap="square" lIns="508" tIns="1270" rIns="1270" bIns="508" rtlCol="0" anchor="ctr"/>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Perkembangan terbaru</a:t>
            </a:r>
            <a:endParaRPr lang="en-US" sz="1100" dirty="0"/>
          </a:p>
        </p:txBody>
      </p:sp>
      <p:sp>
        <p:nvSpPr>
          <p:cNvPr id="25" name="Text 21"/>
          <p:cNvSpPr txBox="1"/>
          <p:nvPr/>
        </p:nvSpPr>
        <p:spPr>
          <a:xfrm>
            <a:off x="1463040" y="5249753"/>
            <a:ext cx="4709160" cy="256032"/>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Setelah buku terbit: 2023 dan 2025</a:t>
            </a:r>
            <a:endParaRPr lang="en-US" sz="950" dirty="0"/>
          </a:p>
        </p:txBody>
      </p:sp>
      <p:sp>
        <p:nvSpPr>
          <p:cNvPr id="26" name="Text 22"/>
          <p:cNvSpPr txBox="1"/>
          <p:nvPr/>
        </p:nvSpPr>
        <p:spPr>
          <a:xfrm>
            <a:off x="777240" y="5577840"/>
            <a:ext cx="640080" cy="512064"/>
          </a:xfrm>
          <a:prstGeom prst="rect">
            <a:avLst/>
          </a:prstGeom>
          <a:noFill/>
          <a:ln/>
        </p:spPr>
        <p:txBody>
          <a:bodyPr wrap="square" lIns="0" tIns="0" rIns="0" bIns="0" rtlCol="0" anchor="ctr"/>
          <a:lstStyle/>
          <a:p>
            <a:pPr indent="0" marL="0">
              <a:buNone/>
            </a:pPr>
            <a:r>
              <a:rPr lang="en-US" sz="1600" b="1" dirty="0">
                <a:solidFill>
                  <a:srgbClr val="FF9900"/>
                </a:solidFill>
                <a:latin typeface="Arial" pitchFamily="34" charset="0"/>
                <a:ea typeface="Arial" pitchFamily="34" charset="-122"/>
                <a:cs typeface="Arial" pitchFamily="34" charset="-120"/>
              </a:rPr>
              <a:t>07</a:t>
            </a:r>
            <a:endParaRPr lang="en-US" sz="1600" dirty="0"/>
          </a:p>
        </p:txBody>
      </p:sp>
      <p:sp>
        <p:nvSpPr>
          <p:cNvPr id="27" name="Text 23"/>
          <p:cNvSpPr txBox="1"/>
          <p:nvPr/>
        </p:nvSpPr>
        <p:spPr>
          <a:xfrm>
            <a:off x="1463040" y="5577840"/>
            <a:ext cx="4709160" cy="256032"/>
          </a:xfrm>
          <a:prstGeom prst="rect">
            <a:avLst/>
          </a:prstGeom>
          <a:solidFill>
            <a:srgbClr val="FFE2B8"/>
          </a:solidFill>
          <a:ln/>
        </p:spPr>
        <p:txBody>
          <a:bodyPr wrap="square" lIns="508" tIns="1270" rIns="1270" bIns="508" rtlCol="0" anchor="ctr"/>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Lesson learned</a:t>
            </a:r>
            <a:endParaRPr lang="en-US" sz="1100" dirty="0"/>
          </a:p>
        </p:txBody>
      </p:sp>
      <p:sp>
        <p:nvSpPr>
          <p:cNvPr id="28" name="Text 24"/>
          <p:cNvSpPr txBox="1"/>
          <p:nvPr/>
        </p:nvSpPr>
        <p:spPr>
          <a:xfrm>
            <a:off x="1463040" y="5844113"/>
            <a:ext cx="4709160" cy="256032"/>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Apa yang bisa dan tidak bisa ditiru</a:t>
            </a:r>
            <a:endParaRPr lang="en-US" sz="950" dirty="0"/>
          </a:p>
        </p:txBody>
      </p:sp>
      <p:pic>
        <p:nvPicPr>
          <p:cNvPr id="29" name="Image 2" descr="/tmp/claude-0/-home-user-Dom-Manipulation/01edd7ad-16e1-5ac5-9e2e-840f37702b96/scratchpad/img/crop/delivery.jpg">    </p:cNvPr>
          <p:cNvPicPr>
            <a:picLocks noChangeAspect="1"/>
          </p:cNvPicPr>
          <p:nvPr/>
        </p:nvPicPr>
        <p:blipFill>
          <a:blip r:embed="rId3"/>
          <a:stretch>
            <a:fillRect/>
          </a:stretch>
        </p:blipFill>
        <p:spPr>
          <a:xfrm>
            <a:off x="7742225" y="1005840"/>
            <a:ext cx="3992270" cy="5394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3</a:t>
            </a:r>
            <a:endParaRPr lang="en-US" sz="900" dirty="0"/>
          </a:p>
        </p:txBody>
      </p:sp>
      <p:sp>
        <p:nvSpPr>
          <p:cNvPr id="6" name="Text 2"/>
          <p:cNvSpPr txBox="1"/>
          <p:nvPr/>
        </p:nvSpPr>
        <p:spPr>
          <a:xfrm>
            <a:off x="777240" y="731520"/>
            <a:ext cx="594360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KERANGKA BERPIKIR PERSEDIAAN</a:t>
            </a:r>
            <a:endParaRPr lang="en-US" sz="2800" dirty="0"/>
          </a:p>
        </p:txBody>
      </p:sp>
      <p:sp>
        <p:nvSpPr>
          <p:cNvPr id="7" name="Text 3"/>
          <p:cNvSpPr txBox="1"/>
          <p:nvPr/>
        </p:nvSpPr>
        <p:spPr>
          <a:xfrm>
            <a:off x="777240" y="1371600"/>
            <a:ext cx="5394960" cy="1371600"/>
          </a:xfrm>
          <a:prstGeom prst="rect">
            <a:avLst/>
          </a:prstGeom>
          <a:noFill/>
          <a:ln/>
        </p:spPr>
        <p:txBody>
          <a:bodyPr wrap="square" lIns="0" tIns="0" rIns="0" bIns="0" rtlCol="0" anchor="t"/>
          <a:lstStyle/>
          <a:p>
            <a:pPr algn="l" indent="0" marL="0">
              <a:lnSpc>
                <a:spcPct val="105000"/>
              </a:lnSpc>
              <a:buNone/>
            </a:pPr>
            <a:r>
              <a:rPr lang="en-US" sz="1150" dirty="0">
                <a:solidFill>
                  <a:srgbClr val="4A4A4A"/>
                </a:solidFill>
                <a:latin typeface="Calibri" pitchFamily="34" charset="0"/>
                <a:ea typeface="Calibri" pitchFamily="34" charset="-122"/>
                <a:cs typeface="Calibri" pitchFamily="34" charset="-120"/>
              </a:rPr>
              <a:t>Tentukan dulu apa yang mau dicapai (strategi dan value proposition), baru turunkan ke keputusan teknis. Inventory management ada di lapisan teknis itu, satu kelompok dengan MRP, sequencing, dan scheduling. Dalam sepuluh keputusan OM (Heizer), persediaan adalah keputusan ke-8 dengan dua pertanyaan dasar, ditambah satu pertanyaan khusus Amazon.</a:t>
            </a:r>
            <a:endParaRPr lang="en-US" sz="1150" dirty="0"/>
          </a:p>
        </p:txBody>
      </p:sp>
      <p:sp>
        <p:nvSpPr>
          <p:cNvPr id="8" name="Text 4"/>
          <p:cNvSpPr txBox="1"/>
          <p:nvPr/>
        </p:nvSpPr>
        <p:spPr>
          <a:xfrm>
            <a:off x="777240" y="2880360"/>
            <a:ext cx="640080" cy="64008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01</a:t>
            </a:r>
            <a:endParaRPr lang="en-US" sz="2000" dirty="0"/>
          </a:p>
        </p:txBody>
      </p:sp>
      <p:sp>
        <p:nvSpPr>
          <p:cNvPr id="9" name="Text 5"/>
          <p:cNvSpPr txBox="1"/>
          <p:nvPr/>
        </p:nvSpPr>
        <p:spPr>
          <a:xfrm>
            <a:off x="1463040" y="2880360"/>
            <a:ext cx="4709160" cy="320040"/>
          </a:xfrm>
          <a:prstGeom prst="rect">
            <a:avLst/>
          </a:prstGeom>
          <a:solidFill>
            <a:srgbClr val="FFE2B8"/>
          </a:solidFill>
          <a:ln/>
        </p:spPr>
        <p:txBody>
          <a:bodyPr wrap="square" lIns="508" tIns="1270" rIns="1270" bIns="508" rtlCol="0" anchor="ctr"/>
          <a:lstStyle/>
          <a:p>
            <a:pPr algn="l" indent="0" marL="0">
              <a:lnSpc>
                <a:spcPct val="105000"/>
              </a:lnSpc>
              <a:buNone/>
            </a:pPr>
            <a:r>
              <a:rPr lang="en-US" sz="1200" b="1" dirty="0">
                <a:solidFill>
                  <a:srgbClr val="111111"/>
                </a:solidFill>
                <a:latin typeface="Calibri" pitchFamily="34" charset="0"/>
                <a:ea typeface="Calibri" pitchFamily="34" charset="-122"/>
                <a:cs typeface="Calibri" pitchFamily="34" charset="-120"/>
              </a:rPr>
              <a:t>How much</a:t>
            </a:r>
            <a:endParaRPr lang="en-US" sz="1200" dirty="0"/>
          </a:p>
        </p:txBody>
      </p:sp>
      <p:sp>
        <p:nvSpPr>
          <p:cNvPr id="10" name="Text 6"/>
          <p:cNvSpPr txBox="1"/>
          <p:nvPr/>
        </p:nvSpPr>
        <p:spPr>
          <a:xfrm>
            <a:off x="1463040" y="3213202"/>
            <a:ext cx="4709160" cy="320040"/>
          </a:xfrm>
          <a:prstGeom prst="rect">
            <a:avLst/>
          </a:prstGeom>
          <a:noFill/>
          <a:ln/>
        </p:spPr>
        <p:txBody>
          <a:bodyPr wrap="square" lIns="0" tIns="0" rIns="0" bIns="0" rtlCol="0" anchor="t"/>
          <a:lstStyle/>
          <a:p>
            <a:pPr algn="l" indent="0" marL="0">
              <a:lnSpc>
                <a:spcPct val="105000"/>
              </a:lnSpc>
              <a:buNone/>
            </a:pPr>
            <a:r>
              <a:rPr lang="en-US" sz="1050" dirty="0">
                <a:solidFill>
                  <a:srgbClr val="4A4A4A"/>
                </a:solidFill>
                <a:latin typeface="Calibri" pitchFamily="34" charset="0"/>
                <a:ea typeface="Calibri" pitchFamily="34" charset="-122"/>
                <a:cs typeface="Calibri" pitchFamily="34" charset="-120"/>
              </a:rPr>
              <a:t>Berapa banyak persediaan setiap item yang harus dimiliki?</a:t>
            </a:r>
            <a:endParaRPr lang="en-US" sz="1050" dirty="0"/>
          </a:p>
        </p:txBody>
      </p:sp>
      <p:sp>
        <p:nvSpPr>
          <p:cNvPr id="11" name="Text 7"/>
          <p:cNvSpPr txBox="1"/>
          <p:nvPr/>
        </p:nvSpPr>
        <p:spPr>
          <a:xfrm>
            <a:off x="777240" y="3666744"/>
            <a:ext cx="640080" cy="64008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02</a:t>
            </a:r>
            <a:endParaRPr lang="en-US" sz="2000" dirty="0"/>
          </a:p>
        </p:txBody>
      </p:sp>
      <p:sp>
        <p:nvSpPr>
          <p:cNvPr id="12" name="Text 8"/>
          <p:cNvSpPr txBox="1"/>
          <p:nvPr/>
        </p:nvSpPr>
        <p:spPr>
          <a:xfrm>
            <a:off x="1463040" y="3666744"/>
            <a:ext cx="4709160" cy="320040"/>
          </a:xfrm>
          <a:prstGeom prst="rect">
            <a:avLst/>
          </a:prstGeom>
          <a:solidFill>
            <a:srgbClr val="FFE2B8"/>
          </a:solidFill>
          <a:ln/>
        </p:spPr>
        <p:txBody>
          <a:bodyPr wrap="square" lIns="508" tIns="1270" rIns="1270" bIns="508" rtlCol="0" anchor="ctr"/>
          <a:lstStyle/>
          <a:p>
            <a:pPr algn="l" indent="0" marL="0">
              <a:lnSpc>
                <a:spcPct val="105000"/>
              </a:lnSpc>
              <a:buNone/>
            </a:pPr>
            <a:r>
              <a:rPr lang="en-US" sz="1200" b="1" dirty="0">
                <a:solidFill>
                  <a:srgbClr val="111111"/>
                </a:solidFill>
                <a:latin typeface="Calibri" pitchFamily="34" charset="0"/>
                <a:ea typeface="Calibri" pitchFamily="34" charset="-122"/>
                <a:cs typeface="Calibri" pitchFamily="34" charset="-120"/>
              </a:rPr>
              <a:t>When</a:t>
            </a:r>
            <a:endParaRPr lang="en-US" sz="1200" dirty="0"/>
          </a:p>
        </p:txBody>
      </p:sp>
      <p:sp>
        <p:nvSpPr>
          <p:cNvPr id="13" name="Text 9"/>
          <p:cNvSpPr txBox="1"/>
          <p:nvPr/>
        </p:nvSpPr>
        <p:spPr>
          <a:xfrm>
            <a:off x="1463040" y="3999586"/>
            <a:ext cx="4709160" cy="320040"/>
          </a:xfrm>
          <a:prstGeom prst="rect">
            <a:avLst/>
          </a:prstGeom>
          <a:noFill/>
          <a:ln/>
        </p:spPr>
        <p:txBody>
          <a:bodyPr wrap="square" lIns="0" tIns="0" rIns="0" bIns="0" rtlCol="0" anchor="t"/>
          <a:lstStyle/>
          <a:p>
            <a:pPr algn="l" indent="0" marL="0">
              <a:lnSpc>
                <a:spcPct val="105000"/>
              </a:lnSpc>
              <a:buNone/>
            </a:pPr>
            <a:r>
              <a:rPr lang="en-US" sz="1050" dirty="0">
                <a:solidFill>
                  <a:srgbClr val="4A4A4A"/>
                </a:solidFill>
                <a:latin typeface="Calibri" pitchFamily="34" charset="0"/>
                <a:ea typeface="Calibri" pitchFamily="34" charset="-122"/>
                <a:cs typeface="Calibri" pitchFamily="34" charset="-120"/>
              </a:rPr>
              <a:t>Kapan harus memesan kembali?</a:t>
            </a:r>
            <a:endParaRPr lang="en-US" sz="1050" dirty="0"/>
          </a:p>
        </p:txBody>
      </p:sp>
      <p:sp>
        <p:nvSpPr>
          <p:cNvPr id="14" name="Text 10"/>
          <p:cNvSpPr txBox="1"/>
          <p:nvPr/>
        </p:nvSpPr>
        <p:spPr>
          <a:xfrm>
            <a:off x="777240" y="4453128"/>
            <a:ext cx="640080" cy="64008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03</a:t>
            </a:r>
            <a:endParaRPr lang="en-US" sz="2000" dirty="0"/>
          </a:p>
        </p:txBody>
      </p:sp>
      <p:sp>
        <p:nvSpPr>
          <p:cNvPr id="15" name="Text 11"/>
          <p:cNvSpPr txBox="1"/>
          <p:nvPr/>
        </p:nvSpPr>
        <p:spPr>
          <a:xfrm>
            <a:off x="1463040" y="4453128"/>
            <a:ext cx="4709160" cy="320040"/>
          </a:xfrm>
          <a:prstGeom prst="rect">
            <a:avLst/>
          </a:prstGeom>
          <a:solidFill>
            <a:srgbClr val="FFE2B8"/>
          </a:solidFill>
          <a:ln/>
        </p:spPr>
        <p:txBody>
          <a:bodyPr wrap="square" lIns="508" tIns="1270" rIns="1270" bIns="508" rtlCol="0" anchor="ctr"/>
          <a:lstStyle/>
          <a:p>
            <a:pPr algn="l" indent="0" marL="0">
              <a:lnSpc>
                <a:spcPct val="105000"/>
              </a:lnSpc>
              <a:buNone/>
            </a:pPr>
            <a:r>
              <a:rPr lang="en-US" sz="1200" b="1" dirty="0">
                <a:solidFill>
                  <a:srgbClr val="111111"/>
                </a:solidFill>
                <a:latin typeface="Calibri" pitchFamily="34" charset="0"/>
                <a:ea typeface="Calibri" pitchFamily="34" charset="-122"/>
                <a:cs typeface="Calibri" pitchFamily="34" charset="-120"/>
              </a:rPr>
              <a:t>Where</a:t>
            </a:r>
            <a:endParaRPr lang="en-US" sz="1200" dirty="0"/>
          </a:p>
        </p:txBody>
      </p:sp>
      <p:sp>
        <p:nvSpPr>
          <p:cNvPr id="16" name="Text 12"/>
          <p:cNvSpPr txBox="1"/>
          <p:nvPr/>
        </p:nvSpPr>
        <p:spPr>
          <a:xfrm>
            <a:off x="1463040" y="4785970"/>
            <a:ext cx="4709160" cy="320040"/>
          </a:xfrm>
          <a:prstGeom prst="rect">
            <a:avLst/>
          </a:prstGeom>
          <a:noFill/>
          <a:ln/>
        </p:spPr>
        <p:txBody>
          <a:bodyPr wrap="square" lIns="0" tIns="0" rIns="0" bIns="0" rtlCol="0" anchor="t"/>
          <a:lstStyle/>
          <a:p>
            <a:pPr algn="l" indent="0" marL="0">
              <a:lnSpc>
                <a:spcPct val="105000"/>
              </a:lnSpc>
              <a:buNone/>
            </a:pPr>
            <a:r>
              <a:rPr lang="en-US" sz="1050" dirty="0">
                <a:solidFill>
                  <a:srgbClr val="4A4A4A"/>
                </a:solidFill>
                <a:latin typeface="Calibri" pitchFamily="34" charset="0"/>
                <a:ea typeface="Calibri" pitchFamily="34" charset="-122"/>
                <a:cs typeface="Calibri" pitchFamily="34" charset="-120"/>
              </a:rPr>
              <a:t>Item mana disimpan di gudang mana; stok Amazon tersebar di lebih dari 150 gudang.</a:t>
            </a:r>
            <a:endParaRPr lang="en-US" sz="1050" dirty="0"/>
          </a:p>
        </p:txBody>
      </p:sp>
      <p:sp>
        <p:nvSpPr>
          <p:cNvPr id="17" name="Text 13"/>
          <p:cNvSpPr txBox="1"/>
          <p:nvPr/>
        </p:nvSpPr>
        <p:spPr>
          <a:xfrm>
            <a:off x="777240" y="5376672"/>
            <a:ext cx="5394960" cy="868680"/>
          </a:xfrm>
          <a:prstGeom prst="rect">
            <a:avLst/>
          </a:prstGeom>
          <a:solidFill>
            <a:srgbClr val="FF9900"/>
          </a:solidFill>
          <a:ln/>
        </p:spPr>
        <p:txBody>
          <a:bodyPr wrap="square" lIns="508" tIns="1270" rIns="1270" bIns="508" rtlCol="0" anchor="ctr"/>
          <a:lstStyle/>
          <a:p>
            <a:pPr algn="l" indent="0" marL="0">
              <a:lnSpc>
                <a:spcPct val="105000"/>
              </a:lnSpc>
              <a:buNone/>
            </a:pPr>
            <a:r>
              <a:rPr lang="en-US" sz="1100" dirty="0">
                <a:solidFill>
                  <a:srgbClr val="111111"/>
                </a:solidFill>
                <a:latin typeface="Calibri" pitchFamily="34" charset="0"/>
                <a:ea typeface="Calibri" pitchFamily="34" charset="-122"/>
                <a:cs typeface="Calibri" pitchFamily="34" charset="-120"/>
              </a:rPr>
              <a:t>Tiga pertanyaan ini yang dicari jawabannya di sepanjang kasus. Where adalah keputusan yang membuat Amazon berbeda dari toko tunggal: stok harus berada dekat pelanggan sebelum pesanan datang.</a:t>
            </a:r>
            <a:endParaRPr lang="en-US" sz="1100" dirty="0"/>
          </a:p>
        </p:txBody>
      </p:sp>
      <p:pic>
        <p:nvPicPr>
          <p:cNvPr id="18" name="Image 2" descr="/tmp/claude-0/-home-user-Dom-Manipulation/01edd7ad-16e1-5ac5-9e2e-840f37702b96/scratchpad/img/crop/shelves.jpg">    </p:cNvPr>
          <p:cNvPicPr>
            <a:picLocks noChangeAspect="1"/>
          </p:cNvPicPr>
          <p:nvPr/>
        </p:nvPicPr>
        <p:blipFill>
          <a:blip r:embed="rId3"/>
          <a:stretch>
            <a:fillRect/>
          </a:stretch>
        </p:blipFill>
        <p:spPr>
          <a:xfrm>
            <a:off x="6492240" y="3349429"/>
            <a:ext cx="5242255" cy="305137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4</a:t>
            </a:r>
            <a:endParaRPr lang="en-US" sz="900" dirty="0"/>
          </a:p>
        </p:txBody>
      </p:sp>
      <p:sp>
        <p:nvSpPr>
          <p:cNvPr id="6" name="Text 2"/>
          <p:cNvSpPr txBox="1"/>
          <p:nvPr/>
        </p:nvSpPr>
        <p:spPr>
          <a:xfrm>
            <a:off x="777240" y="731520"/>
            <a:ext cx="649224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STRUKTUR KEPUTUSAN PERSEDIAAN</a:t>
            </a:r>
            <a:endParaRPr lang="en-US" sz="2800" dirty="0"/>
          </a:p>
        </p:txBody>
      </p:sp>
      <p:sp>
        <p:nvSpPr>
          <p:cNvPr id="7" name="Text 3"/>
          <p:cNvSpPr txBox="1"/>
          <p:nvPr/>
        </p:nvSpPr>
        <p:spPr>
          <a:xfrm>
            <a:off x="777240" y="1371600"/>
            <a:ext cx="6309360" cy="548640"/>
          </a:xfrm>
          <a:prstGeom prst="rect">
            <a:avLst/>
          </a:prstGeom>
          <a:noFill/>
          <a:ln/>
        </p:spPr>
        <p:txBody>
          <a:bodyPr wrap="square" lIns="0" tIns="0" rIns="0" bIns="0" rtlCol="0" anchor="t"/>
          <a:lstStyle/>
          <a:p>
            <a:pPr algn="l" indent="0" marL="0">
              <a:lnSpc>
                <a:spcPct val="105000"/>
              </a:lnSpc>
              <a:buNone/>
            </a:pPr>
            <a:r>
              <a:rPr lang="en-US" sz="1150" dirty="0">
                <a:solidFill>
                  <a:srgbClr val="4A4A4A"/>
                </a:solidFill>
                <a:latin typeface="Calibri" pitchFamily="34" charset="0"/>
                <a:ea typeface="Calibri" pitchFamily="34" charset="-122"/>
                <a:cs typeface="Calibri" pitchFamily="34" charset="-120"/>
              </a:rPr>
              <a:t>Kalau kita modelkan, persoalan persediaan selalu punya struktur yang sama: ada tujuan, ada variabel yang bisa diatur, dan ada batasan.</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2057400"/>
          <a:ext cx="6309360" cy="914400"/>
        </p:xfrm>
        <a:graphic>
          <a:graphicData uri="http://schemas.openxmlformats.org/drawingml/2006/table">
            <a:tbl>
              <a:tblPr/>
              <a:tblGrid>
                <a:gridCol w="1371600"/>
                <a:gridCol w="2468880"/>
                <a:gridCol w="2468880"/>
              </a:tblGrid>
              <a:tr h="0">
                <a:tc>
                  <a:txBody>
                    <a:bodyPr/>
                    <a:lstStyle/>
                    <a:p>
                      <a:pPr indent="0" marL="0">
                        <a:buNone/>
                      </a:pPr>
                      <a:r>
                        <a:rPr lang="en-US" sz="950" b="1" dirty="0">
                          <a:solidFill>
                            <a:srgbClr val="FFFFFF"/>
                          </a:solidFill>
                          <a:latin typeface="Arial" pitchFamily="34" charset="0"/>
                          <a:ea typeface="Arial" pitchFamily="34" charset="-122"/>
                          <a:cs typeface="Arial" pitchFamily="34" charset="-120"/>
                        </a:rPr>
                        <a:t>Unsur model</a:t>
                      </a:r>
                      <a:endParaRPr lang="en-US" sz="95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Isi umum</a:t>
                      </a:r>
                      <a:endParaRPr lang="en-US" sz="95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Bentuknya di Amazon</a:t>
                      </a:r>
                      <a:endParaRPr lang="en-US" sz="95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r>
              <a:tr h="0">
                <a:tc>
                  <a:txBody>
                    <a:bodyPr/>
                    <a:lstStyle/>
                    <a:p>
                      <a:pPr indent="0" marL="0">
                        <a:buNone/>
                      </a:pPr>
                      <a:r>
                        <a:rPr lang="en-US" sz="1000" b="1" dirty="0">
                          <a:solidFill>
                            <a:srgbClr val="111111"/>
                          </a:solidFill>
                          <a:latin typeface="Calibri" pitchFamily="34" charset="0"/>
                          <a:ea typeface="Calibri" pitchFamily="34" charset="-122"/>
                          <a:cs typeface="Calibri" pitchFamily="34" charset="-120"/>
                        </a:rPr>
                        <a:t>Objective</a:t>
                      </a:r>
                      <a:endParaRPr lang="en-US" sz="10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00" dirty="0">
                          <a:solidFill>
                            <a:srgbClr val="4A4A4A"/>
                          </a:solidFill>
                          <a:latin typeface="Calibri" pitchFamily="34" charset="0"/>
                          <a:ea typeface="Calibri" pitchFamily="34" charset="-122"/>
                          <a:cs typeface="Calibri" pitchFamily="34" charset="-120"/>
                        </a:rPr>
                        <a:t>Meminimalkan total biaya persediaan: biaya simpan (holding) + biaya pesan (ordering) + biaya kekurangan (shortage)</a:t>
                      </a:r>
                      <a:endParaRPr lang="en-US" sz="10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00" dirty="0">
                          <a:solidFill>
                            <a:srgbClr val="4A4A4A"/>
                          </a:solidFill>
                          <a:latin typeface="Calibri" pitchFamily="34" charset="0"/>
                          <a:ea typeface="Calibri" pitchFamily="34" charset="-122"/>
                          <a:cs typeface="Calibri" pitchFamily="34" charset="-120"/>
                        </a:rPr>
                        <a:t>Ditambah satu komponen yang oleh buku disebut sangat mahal: biaya kesalahan pemenuhan (returns)</a:t>
                      </a:r>
                      <a:endParaRPr lang="en-US" sz="10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11111"/>
                          </a:solidFill>
                          <a:latin typeface="Calibri" pitchFamily="34" charset="0"/>
                          <a:ea typeface="Calibri" pitchFamily="34" charset="-122"/>
                          <a:cs typeface="Calibri" pitchFamily="34" charset="-120"/>
                        </a:rPr>
                        <a:t>Decision variables</a:t>
                      </a:r>
                      <a:endParaRPr lang="en-US" sz="10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1000" dirty="0">
                          <a:solidFill>
                            <a:srgbClr val="4A4A4A"/>
                          </a:solidFill>
                          <a:latin typeface="Calibri" pitchFamily="34" charset="0"/>
                          <a:ea typeface="Calibri" pitchFamily="34" charset="-122"/>
                          <a:cs typeface="Calibri" pitchFamily="34" charset="-120"/>
                        </a:rPr>
                        <a:t>Jumlah pesan (Q), titik pesan ulang (ROP), stok pengaman</a:t>
                      </a:r>
                      <a:endParaRPr lang="en-US" sz="10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1000" dirty="0">
                          <a:solidFill>
                            <a:srgbClr val="4A4A4A"/>
                          </a:solidFill>
                          <a:latin typeface="Calibri" pitchFamily="34" charset="0"/>
                          <a:ea typeface="Calibri" pitchFamily="34" charset="-122"/>
                          <a:cs typeface="Calibri" pitchFamily="34" charset="-120"/>
                        </a:rPr>
                        <a:t>Ditambah alokasi: item apa di gudang mana, dan pesanan mana dipenuhi dari gudang mana</a:t>
                      </a:r>
                      <a:endParaRPr lang="en-US" sz="10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r>
              <a:tr h="0">
                <a:tc>
                  <a:txBody>
                    <a:bodyPr/>
                    <a:lstStyle/>
                    <a:p>
                      <a:pPr indent="0" marL="0">
                        <a:buNone/>
                      </a:pPr>
                      <a:r>
                        <a:rPr lang="en-US" sz="1000" b="1" dirty="0">
                          <a:solidFill>
                            <a:srgbClr val="111111"/>
                          </a:solidFill>
                          <a:latin typeface="Calibri" pitchFamily="34" charset="0"/>
                          <a:ea typeface="Calibri" pitchFamily="34" charset="-122"/>
                          <a:cs typeface="Calibri" pitchFamily="34" charset="-120"/>
                        </a:rPr>
                        <a:t>Constraints</a:t>
                      </a:r>
                      <a:endParaRPr lang="en-US" sz="10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00" dirty="0">
                          <a:solidFill>
                            <a:srgbClr val="4A4A4A"/>
                          </a:solidFill>
                          <a:latin typeface="Calibri" pitchFamily="34" charset="0"/>
                          <a:ea typeface="Calibri" pitchFamily="34" charset="-122"/>
                          <a:cs typeface="Calibri" pitchFamily="34" charset="-120"/>
                        </a:rPr>
                        <a:t>Service level yang dijanjikan, kapasitas gudang, lead time pemasok</a:t>
                      </a:r>
                      <a:endParaRPr lang="en-US" sz="10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00" dirty="0">
                          <a:solidFill>
                            <a:srgbClr val="4A4A4A"/>
                          </a:solidFill>
                          <a:latin typeface="Calibri" pitchFamily="34" charset="0"/>
                          <a:ea typeface="Calibri" pitchFamily="34" charset="-122"/>
                          <a:cs typeface="Calibri" pitchFamily="34" charset="-120"/>
                        </a:rPr>
                        <a:t>Janji ke pelanggan: harga terendah, kirim tercepat, bebas kesalahan</a:t>
                      </a:r>
                      <a:endParaRPr lang="en-US" sz="10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9" name="Text 4"/>
          <p:cNvSpPr txBox="1"/>
          <p:nvPr/>
        </p:nvSpPr>
        <p:spPr>
          <a:xfrm>
            <a:off x="777240" y="4754880"/>
            <a:ext cx="6309360" cy="384048"/>
          </a:xfrm>
          <a:prstGeom prst="rect">
            <a:avLst/>
          </a:prstGeom>
          <a:solidFill>
            <a:srgbClr val="FF9900"/>
          </a:solidFill>
          <a:ln/>
        </p:spPr>
        <p:txBody>
          <a:bodyPr wrap="square" lIns="508" tIns="1270" rIns="1270" bIns="508" rtlCol="0" anchor="ctr"/>
          <a:lstStyle/>
          <a:p>
            <a:pPr algn="l" indent="0" marL="0">
              <a:lnSpc>
                <a:spcPct val="105000"/>
              </a:lnSpc>
              <a:buNone/>
            </a:pPr>
            <a:r>
              <a:rPr lang="en-US" sz="1250" b="1" dirty="0">
                <a:solidFill>
                  <a:srgbClr val="111111"/>
                </a:solidFill>
                <a:latin typeface="Calibri" pitchFamily="34" charset="0"/>
                <a:ea typeface="Calibri" pitchFamily="34" charset="-122"/>
                <a:cs typeface="Calibri" pitchFamily="34" charset="-120"/>
              </a:rPr>
              <a:t>Intuisinya: service level adalah constraint, bukan objective.</a:t>
            </a:r>
            <a:endParaRPr lang="en-US" sz="1250" dirty="0"/>
          </a:p>
        </p:txBody>
      </p:sp>
      <p:sp>
        <p:nvSpPr>
          <p:cNvPr id="10" name="Text 5"/>
          <p:cNvSpPr txBox="1"/>
          <p:nvPr/>
        </p:nvSpPr>
        <p:spPr>
          <a:xfrm>
            <a:off x="777240" y="5257800"/>
            <a:ext cx="6309360" cy="822960"/>
          </a:xfrm>
          <a:prstGeom prst="rect">
            <a:avLst/>
          </a:prstGeom>
          <a:noFill/>
          <a:ln/>
        </p:spPr>
        <p:txBody>
          <a:bodyPr wrap="square" lIns="0" tIns="0" rIns="0" bIns="0" rtlCol="0" anchor="t"/>
          <a:lstStyle/>
          <a:p>
            <a:pPr algn="l" indent="0" marL="0">
              <a:lnSpc>
                <a:spcPct val="105000"/>
              </a:lnSpc>
              <a:buNone/>
            </a:pPr>
            <a:r>
              <a:rPr lang="en-US" sz="1100" dirty="0">
                <a:solidFill>
                  <a:srgbClr val="4A4A4A"/>
                </a:solidFill>
                <a:latin typeface="Calibri" pitchFamily="34" charset="0"/>
                <a:ea typeface="Calibri" pitchFamily="34" charset="-122"/>
                <a:cs typeface="Calibri" pitchFamily="34" charset="-120"/>
              </a:rPr>
              <a:t>Perusahaan tidak meminimalkan stok; perusahaan meminimalkan biaya pada tingkat layanan yang sudah dijanjikan. Perbedaan ini kecil kelihatannya, tetapi menentukan cara membaca Amazon di bagian analisis trade-off.</a:t>
            </a:r>
            <a:endParaRPr lang="en-US" sz="1100" dirty="0"/>
          </a:p>
        </p:txBody>
      </p:sp>
      <p:pic>
        <p:nvPicPr>
          <p:cNvPr id="11" name="Image 2" descr="/tmp/claude-0/-home-user-Dom-Manipulation/01edd7ad-16e1-5ac5-9e2e-840f37702b96/scratchpad/img/crop/totes.jpg">    </p:cNvPr>
          <p:cNvPicPr>
            <a:picLocks noChangeAspect="1"/>
          </p:cNvPicPr>
          <p:nvPr/>
        </p:nvPicPr>
        <p:blipFill>
          <a:blip r:embed="rId3"/>
          <a:stretch>
            <a:fillRect/>
          </a:stretch>
        </p:blipFill>
        <p:spPr>
          <a:xfrm>
            <a:off x="7253935" y="3844862"/>
            <a:ext cx="4480560" cy="255593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5</a:t>
            </a:r>
            <a:endParaRPr lang="en-US" sz="900" dirty="0"/>
          </a:p>
        </p:txBody>
      </p:sp>
      <p:sp>
        <p:nvSpPr>
          <p:cNvPr id="6" name="Text 2"/>
          <p:cNvSpPr txBox="1"/>
          <p:nvPr/>
        </p:nvSpPr>
        <p:spPr>
          <a:xfrm>
            <a:off x="777240" y="731520"/>
            <a:ext cx="594360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DILEMA DAN ATURAN KEPUTUSAN</a:t>
            </a:r>
            <a:endParaRPr lang="en-US" sz="2800" dirty="0"/>
          </a:p>
        </p:txBody>
      </p:sp>
      <p:sp>
        <p:nvSpPr>
          <p:cNvPr id="7" name="Text 3"/>
          <p:cNvSpPr txBox="1"/>
          <p:nvPr/>
        </p:nvSpPr>
        <p:spPr>
          <a:xfrm>
            <a:off x="777240" y="1463040"/>
            <a:ext cx="5394960" cy="331470"/>
          </a:xfrm>
          <a:prstGeom prst="rect">
            <a:avLst/>
          </a:prstGeom>
          <a:noFill/>
          <a:ln/>
        </p:spPr>
        <p:txBody>
          <a:bodyPr wrap="square" lIns="0" tIns="0" rIns="0" bIns="0" rtlCol="0" anchor="t"/>
          <a:lstStyle/>
          <a:p>
            <a:pPr indent="0" marL="0">
              <a:lnSpc>
                <a:spcPct val="95000"/>
              </a:lnSpc>
              <a:buNone/>
            </a:pPr>
            <a:r>
              <a:rPr lang="en-US" sz="1400" b="1" spc="-100" kern="0" dirty="0">
                <a:solidFill>
                  <a:srgbClr val="111111"/>
                </a:solidFill>
                <a:latin typeface="Arial" pitchFamily="34" charset="0"/>
                <a:ea typeface="Arial" pitchFamily="34" charset="-122"/>
                <a:cs typeface="Arial" pitchFamily="34" charset="-120"/>
              </a:rPr>
              <a:t>STOK TERLALU BANYAK</a:t>
            </a:r>
            <a:endParaRPr lang="en-US" sz="1400" dirty="0"/>
          </a:p>
        </p:txBody>
      </p:sp>
      <p:sp>
        <p:nvSpPr>
          <p:cNvPr id="8" name="Text 4"/>
          <p:cNvSpPr txBox="1"/>
          <p:nvPr/>
        </p:nvSpPr>
        <p:spPr>
          <a:xfrm>
            <a:off x="777240" y="1801368"/>
            <a:ext cx="5394960" cy="868680"/>
          </a:xfrm>
          <a:prstGeom prst="rect">
            <a:avLst/>
          </a:prstGeom>
          <a:noFill/>
          <a:ln/>
        </p:spPr>
        <p:txBody>
          <a:bodyPr wrap="square" lIns="0" tIns="0" rIns="0" bIns="0" rtlCol="0" anchor="t"/>
          <a:lstStyle/>
          <a:p>
            <a:pPr marL="342900" indent="-342900">
              <a:lnSpc>
                <a:spcPct val="105000"/>
              </a:lnSpc>
              <a:spcAft>
                <a:spcPts val="400"/>
              </a:spcAft>
              <a:buSzPct val="100000"/>
              <a:buChar char="■"/>
            </a:pPr>
            <a:r>
              <a:rPr lang="en-US" sz="1100" dirty="0">
                <a:solidFill>
                  <a:srgbClr val="4A4A4A"/>
                </a:solidFill>
                <a:latin typeface="Calibri" pitchFamily="34" charset="0"/>
                <a:ea typeface="Calibri" pitchFamily="34" charset="-122"/>
                <a:cs typeface="Calibri" pitchFamily="34" charset="-120"/>
              </a:rPr>
              <a:t>Biaya simpan dan biaya penanganan naik</a:t>
            </a:r>
            <a:endParaRPr lang="en-US" sz="1100" dirty="0"/>
          </a:p>
          <a:p>
            <a:pPr marL="342900" indent="-342900">
              <a:lnSpc>
                <a:spcPct val="105000"/>
              </a:lnSpc>
              <a:spcAft>
                <a:spcPts val="400"/>
              </a:spcAft>
              <a:buSzPct val="100000"/>
              <a:buChar char="■"/>
            </a:pPr>
            <a:r>
              <a:rPr lang="en-US" sz="1100" dirty="0">
                <a:solidFill>
                  <a:srgbClr val="4A4A4A"/>
                </a:solidFill>
                <a:latin typeface="Calibri" pitchFamily="34" charset="0"/>
                <a:ea typeface="Calibri" pitchFamily="34" charset="-122"/>
                <a:cs typeface="Calibri" pitchFamily="34" charset="-120"/>
              </a:rPr>
              <a:t>Modal tertahan di gudang</a:t>
            </a:r>
            <a:endParaRPr lang="en-US" sz="1100" dirty="0"/>
          </a:p>
          <a:p>
            <a:pPr marL="342900" indent="-342900">
              <a:lnSpc>
                <a:spcPct val="105000"/>
              </a:lnSpc>
              <a:spcAft>
                <a:spcPts val="400"/>
              </a:spcAft>
              <a:buSzPct val="100000"/>
              <a:buChar char="■"/>
            </a:pPr>
            <a:r>
              <a:rPr lang="en-US" sz="1100" dirty="0">
                <a:solidFill>
                  <a:srgbClr val="4A4A4A"/>
                </a:solidFill>
                <a:latin typeface="Calibri" pitchFamily="34" charset="0"/>
                <a:ea typeface="Calibri" pitchFamily="34" charset="-122"/>
                <a:cs typeface="Calibri" pitchFamily="34" charset="-120"/>
              </a:rPr>
              <a:t>Risiko barang usang (obsolescence)</a:t>
            </a:r>
            <a:endParaRPr lang="en-US" sz="1100" dirty="0"/>
          </a:p>
        </p:txBody>
      </p:sp>
      <p:sp>
        <p:nvSpPr>
          <p:cNvPr id="9" name="Text 5"/>
          <p:cNvSpPr txBox="1"/>
          <p:nvPr/>
        </p:nvSpPr>
        <p:spPr>
          <a:xfrm>
            <a:off x="777240" y="2697480"/>
            <a:ext cx="5394960" cy="331470"/>
          </a:xfrm>
          <a:prstGeom prst="rect">
            <a:avLst/>
          </a:prstGeom>
          <a:noFill/>
          <a:ln/>
        </p:spPr>
        <p:txBody>
          <a:bodyPr wrap="square" lIns="0" tIns="0" rIns="0" bIns="0" rtlCol="0" anchor="t"/>
          <a:lstStyle/>
          <a:p>
            <a:pPr indent="0" marL="0">
              <a:lnSpc>
                <a:spcPct val="95000"/>
              </a:lnSpc>
              <a:buNone/>
            </a:pPr>
            <a:r>
              <a:rPr lang="en-US" sz="1400" b="1" spc="-100" kern="0" dirty="0">
                <a:solidFill>
                  <a:srgbClr val="111111"/>
                </a:solidFill>
                <a:latin typeface="Arial" pitchFamily="34" charset="0"/>
                <a:ea typeface="Arial" pitchFamily="34" charset="-122"/>
                <a:cs typeface="Arial" pitchFamily="34" charset="-120"/>
              </a:rPr>
              <a:t>STOK TERLALU SEDIKIT</a:t>
            </a:r>
            <a:endParaRPr lang="en-US" sz="1400" dirty="0"/>
          </a:p>
        </p:txBody>
      </p:sp>
      <p:sp>
        <p:nvSpPr>
          <p:cNvPr id="10" name="Text 6"/>
          <p:cNvSpPr txBox="1"/>
          <p:nvPr/>
        </p:nvSpPr>
        <p:spPr>
          <a:xfrm>
            <a:off x="777240" y="3035808"/>
            <a:ext cx="5394960" cy="960120"/>
          </a:xfrm>
          <a:prstGeom prst="rect">
            <a:avLst/>
          </a:prstGeom>
          <a:noFill/>
          <a:ln/>
        </p:spPr>
        <p:txBody>
          <a:bodyPr wrap="square" lIns="0" tIns="0" rIns="0" bIns="0" rtlCol="0" anchor="t"/>
          <a:lstStyle/>
          <a:p>
            <a:pPr marL="342900" indent="-342900">
              <a:lnSpc>
                <a:spcPct val="105000"/>
              </a:lnSpc>
              <a:spcAft>
                <a:spcPts val="400"/>
              </a:spcAft>
              <a:buSzPct val="100000"/>
              <a:buChar char="■"/>
            </a:pPr>
            <a:r>
              <a:rPr lang="en-US" sz="1100" dirty="0">
                <a:solidFill>
                  <a:srgbClr val="4A4A4A"/>
                </a:solidFill>
                <a:latin typeface="Calibri" pitchFamily="34" charset="0"/>
                <a:ea typeface="Calibri" pitchFamily="34" charset="-122"/>
                <a:cs typeface="Calibri" pitchFamily="34" charset="-120"/>
              </a:rPr>
              <a:t>Stock out, permintaan tidak terpenuhi</a:t>
            </a:r>
            <a:endParaRPr lang="en-US" sz="1100" dirty="0"/>
          </a:p>
          <a:p>
            <a:pPr marL="342900" indent="-342900">
              <a:lnSpc>
                <a:spcPct val="105000"/>
              </a:lnSpc>
              <a:spcAft>
                <a:spcPts val="400"/>
              </a:spcAft>
              <a:buSzPct val="100000"/>
              <a:buChar char="■"/>
            </a:pPr>
            <a:r>
              <a:rPr lang="en-US" sz="1100" dirty="0">
                <a:solidFill>
                  <a:srgbClr val="4A4A4A"/>
                </a:solidFill>
                <a:latin typeface="Calibri" pitchFamily="34" charset="0"/>
                <a:ea typeface="Calibri" pitchFamily="34" charset="-122"/>
                <a:cs typeface="Calibri" pitchFamily="34" charset="-120"/>
              </a:rPr>
              <a:t>Kalau terjadi di produksi, produksinya berhenti</a:t>
            </a:r>
            <a:endParaRPr lang="en-US" sz="1100" dirty="0"/>
          </a:p>
          <a:p>
            <a:pPr marL="342900" indent="-342900">
              <a:lnSpc>
                <a:spcPct val="105000"/>
              </a:lnSpc>
              <a:spcAft>
                <a:spcPts val="400"/>
              </a:spcAft>
              <a:buSzPct val="100000"/>
              <a:buChar char="■"/>
            </a:pPr>
            <a:r>
              <a:rPr lang="en-US" sz="1100" dirty="0">
                <a:solidFill>
                  <a:srgbClr val="4A4A4A"/>
                </a:solidFill>
                <a:latin typeface="Calibri" pitchFamily="34" charset="0"/>
                <a:ea typeface="Calibri" pitchFamily="34" charset="-122"/>
                <a:cs typeface="Calibri" pitchFamily="34" charset="-120"/>
              </a:rPr>
              <a:t>Pada ritel daring, pelanggan berpindah ke penjual lain dalam hitungan detik</a:t>
            </a:r>
            <a:endParaRPr lang="en-US" sz="1100" dirty="0"/>
          </a:p>
        </p:txBody>
      </p:sp>
      <p:sp>
        <p:nvSpPr>
          <p:cNvPr id="11" name="Text 7"/>
          <p:cNvSpPr txBox="1"/>
          <p:nvPr/>
        </p:nvSpPr>
        <p:spPr>
          <a:xfrm>
            <a:off x="777240" y="4114800"/>
            <a:ext cx="5394960" cy="331470"/>
          </a:xfrm>
          <a:prstGeom prst="rect">
            <a:avLst/>
          </a:prstGeom>
          <a:noFill/>
          <a:ln/>
        </p:spPr>
        <p:txBody>
          <a:bodyPr wrap="square" lIns="0" tIns="0" rIns="0" bIns="0" rtlCol="0" anchor="t"/>
          <a:lstStyle/>
          <a:p>
            <a:pPr indent="0" marL="0">
              <a:lnSpc>
                <a:spcPct val="95000"/>
              </a:lnSpc>
              <a:buNone/>
            </a:pPr>
            <a:r>
              <a:rPr lang="en-US" sz="1400" b="1" spc="-100" kern="0" dirty="0">
                <a:solidFill>
                  <a:srgbClr val="111111"/>
                </a:solidFill>
                <a:latin typeface="Arial" pitchFamily="34" charset="0"/>
                <a:ea typeface="Arial" pitchFamily="34" charset="-122"/>
                <a:cs typeface="Arial" pitchFamily="34" charset="-120"/>
              </a:rPr>
              <a:t>ATURAN KEPUTUSAN</a:t>
            </a:r>
            <a:endParaRPr lang="en-US" sz="1400" dirty="0"/>
          </a:p>
        </p:txBody>
      </p:sp>
      <p:sp>
        <p:nvSpPr>
          <p:cNvPr id="12" name="Text 8"/>
          <p:cNvSpPr txBox="1"/>
          <p:nvPr/>
        </p:nvSpPr>
        <p:spPr>
          <a:xfrm>
            <a:off x="777240" y="4480560"/>
            <a:ext cx="5394960" cy="1051560"/>
          </a:xfrm>
          <a:prstGeom prst="rect">
            <a:avLst/>
          </a:prstGeom>
          <a:solidFill>
            <a:srgbClr val="FF9900"/>
          </a:solidFill>
          <a:ln/>
        </p:spPr>
        <p:txBody>
          <a:bodyPr wrap="square" lIns="508" tIns="1270" rIns="1270" bIns="508" rtlCol="0" anchor="ctr"/>
          <a:lstStyle/>
          <a:p>
            <a:pPr algn="l" indent="0" marL="0">
              <a:lnSpc>
                <a:spcPct val="105000"/>
              </a:lnSpc>
              <a:buNone/>
            </a:pPr>
            <a:r>
              <a:rPr lang="en-US" sz="1150" dirty="0">
                <a:solidFill>
                  <a:srgbClr val="111111"/>
                </a:solidFill>
                <a:latin typeface="Calibri" pitchFamily="34" charset="0"/>
                <a:ea typeface="Calibri" pitchFamily="34" charset="-122"/>
                <a:cs typeface="Calibri" pitchFamily="34" charset="-120"/>
              </a:rPr>
              <a:t>Kalau dampak gangguan (kekosongan stok) tidak signifikan, tidak perlu menyimpan stok banyak. Kalau dampaknya signifikan, misalnya lead time pemesanan panjang atau biaya kehilangan penjualan besar, stok cadangan harus dinaikkan untuk menekan risiko.</a:t>
            </a:r>
            <a:endParaRPr lang="en-US" sz="1150" dirty="0"/>
          </a:p>
        </p:txBody>
      </p:sp>
      <p:sp>
        <p:nvSpPr>
          <p:cNvPr id="13" name="Text 9"/>
          <p:cNvSpPr txBox="1"/>
          <p:nvPr/>
        </p:nvSpPr>
        <p:spPr>
          <a:xfrm>
            <a:off x="777240" y="5669280"/>
            <a:ext cx="5394960" cy="548640"/>
          </a:xfrm>
          <a:prstGeom prst="rect">
            <a:avLst/>
          </a:prstGeom>
          <a:noFill/>
          <a:ln/>
        </p:spPr>
        <p:txBody>
          <a:bodyPr wrap="square" lIns="0" tIns="0" rIns="0" bIns="0" rtlCol="0" anchor="t"/>
          <a:lstStyle/>
          <a:p>
            <a:pPr algn="l" indent="0" marL="0">
              <a:lnSpc>
                <a:spcPct val="105000"/>
              </a:lnSpc>
              <a:buNone/>
            </a:pPr>
            <a:r>
              <a:rPr lang="en-US" sz="1050" i="1" dirty="0">
                <a:solidFill>
                  <a:srgbClr val="4A4A4A"/>
                </a:solidFill>
                <a:latin typeface="Calibri" pitchFamily="34" charset="0"/>
                <a:ea typeface="Calibri" pitchFamily="34" charset="-122"/>
                <a:cs typeface="Calibri" pitchFamily="34" charset="-120"/>
              </a:rPr>
              <a:t>Aturan ini yang dipakai untuk menilai apakah stok Amazon yang sangat besar itu pemborosan atau justru keputusan yang benar.</a:t>
            </a:r>
            <a:endParaRPr lang="en-US" sz="1050" dirty="0"/>
          </a:p>
        </p:txBody>
      </p:sp>
      <p:pic>
        <p:nvPicPr>
          <p:cNvPr id="14" name="Image 2" descr="/tmp/claude-0/-home-user-Dom-Manipulation/01edd7ad-16e1-5ac5-9e2e-840f37702b96/scratchpad/img/crop/sortation.jpg">    </p:cNvPr>
          <p:cNvPicPr>
            <a:picLocks noChangeAspect="1"/>
          </p:cNvPicPr>
          <p:nvPr/>
        </p:nvPicPr>
        <p:blipFill>
          <a:blip r:embed="rId3"/>
          <a:stretch>
            <a:fillRect/>
          </a:stretch>
        </p:blipFill>
        <p:spPr>
          <a:xfrm>
            <a:off x="6492240" y="3440746"/>
            <a:ext cx="5242255" cy="296005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4"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6</a:t>
            </a:r>
            <a:endParaRPr lang="en-US" sz="900" dirty="0"/>
          </a:p>
        </p:txBody>
      </p:sp>
      <p:pic>
        <p:nvPicPr>
          <p:cNvPr id="5" name="Image 1" descr="/tmp/claude-0/-home-user-Dom-Manipulation/01edd7ad-16e1-5ac5-9e2e-840f37702b96/scratchpad/img/crop/hero.jpg">    </p:cNvPr>
          <p:cNvPicPr>
            <a:picLocks noChangeAspect="1"/>
          </p:cNvPicPr>
          <p:nvPr/>
        </p:nvPicPr>
        <p:blipFill>
          <a:blip r:embed="rId2"/>
          <a:srcRect l="0" r="0" t="0" b="0"/>
          <a:stretch/>
        </p:blipFill>
        <p:spPr>
          <a:xfrm>
            <a:off x="429768" y="429768"/>
            <a:ext cx="11332159" cy="5998464"/>
          </a:xfrm>
          <a:prstGeom prst="rect">
            <a:avLst/>
          </a:prstGeom>
        </p:spPr>
      </p:pic>
      <p:sp>
        <p:nvSpPr>
          <p:cNvPr id="6" name="Shape 2"/>
          <p:cNvSpPr/>
          <p:nvPr/>
        </p:nvSpPr>
        <p:spPr>
          <a:xfrm>
            <a:off x="429768" y="429768"/>
            <a:ext cx="11332159" cy="5998464"/>
          </a:xfrm>
          <a:prstGeom prst="rect">
            <a:avLst/>
          </a:prstGeom>
          <a:solidFill>
            <a:srgbClr val="FFFFFF">
              <a:alpha val="22000"/>
            </a:srgbClr>
          </a:solidFill>
          <a:ln w="12700">
            <a:solidFill>
              <a:srgbClr val="FFFFFF"/>
            </a:solidFill>
            <a:prstDash val="solid"/>
          </a:ln>
        </p:spPr>
      </p:sp>
      <p:sp>
        <p:nvSpPr>
          <p:cNvPr id="7" name="Text 3"/>
          <p:cNvSpPr txBox="1"/>
          <p:nvPr/>
        </p:nvSpPr>
        <p:spPr>
          <a:xfrm>
            <a:off x="777240" y="685800"/>
            <a:ext cx="822960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TRANSFORMASI MODEL BISNIS AMAZON</a:t>
            </a:r>
            <a:endParaRPr lang="en-US" sz="2800" dirty="0"/>
          </a:p>
        </p:txBody>
      </p:sp>
      <p:sp>
        <p:nvSpPr>
          <p:cNvPr id="8" name="Shape 4"/>
          <p:cNvSpPr/>
          <p:nvPr/>
        </p:nvSpPr>
        <p:spPr>
          <a:xfrm>
            <a:off x="777240" y="1554480"/>
            <a:ext cx="5394960" cy="1938528"/>
          </a:xfrm>
          <a:prstGeom prst="roundRect">
            <a:avLst>
              <a:gd name="adj" fmla="val 4717"/>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9" name="Text 5"/>
          <p:cNvSpPr txBox="1"/>
          <p:nvPr/>
        </p:nvSpPr>
        <p:spPr>
          <a:xfrm>
            <a:off x="914400" y="162763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01</a:t>
            </a:r>
            <a:endParaRPr lang="en-US" sz="3200" dirty="0"/>
          </a:p>
        </p:txBody>
      </p:sp>
      <p:sp>
        <p:nvSpPr>
          <p:cNvPr id="10" name="Text 6"/>
          <p:cNvSpPr txBox="1"/>
          <p:nvPr/>
        </p:nvSpPr>
        <p:spPr>
          <a:xfrm>
            <a:off x="1828800" y="1682496"/>
            <a:ext cx="420624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400" b="1" dirty="0">
                <a:solidFill>
                  <a:srgbClr val="111111"/>
                </a:solidFill>
                <a:latin typeface="Arial" pitchFamily="34" charset="0"/>
                <a:ea typeface="Arial" pitchFamily="34" charset="-122"/>
                <a:cs typeface="Arial" pitchFamily="34" charset="-120"/>
              </a:rPr>
              <a:t>RENCANA 1995: PENGECER VIRTUAL</a:t>
            </a:r>
            <a:endParaRPr lang="en-US" sz="1400" dirty="0"/>
          </a:p>
        </p:txBody>
      </p:sp>
      <p:sp>
        <p:nvSpPr>
          <p:cNvPr id="11" name="Text 7"/>
          <p:cNvSpPr txBox="1"/>
          <p:nvPr/>
        </p:nvSpPr>
        <p:spPr>
          <a:xfrm>
            <a:off x="1920240" y="2267712"/>
            <a:ext cx="4069080" cy="1143000"/>
          </a:xfrm>
          <a:prstGeom prst="rect">
            <a:avLst/>
          </a:prstGeom>
          <a:noFill/>
          <a:ln/>
        </p:spPr>
        <p:txBody>
          <a:bodyPr wrap="square" lIns="0" tIns="0" rIns="0" bIns="0" rtlCol="0" anchor="t"/>
          <a:lstStyle/>
          <a:p>
            <a:pPr algn="l" indent="0" marL="0">
              <a:lnSpc>
                <a:spcPct val="105000"/>
              </a:lnSpc>
              <a:buNone/>
            </a:pPr>
            <a:r>
              <a:rPr lang="en-US" sz="1050" dirty="0">
                <a:solidFill>
                  <a:srgbClr val="4A4A4A"/>
                </a:solidFill>
                <a:latin typeface="Calibri" pitchFamily="34" charset="0"/>
                <a:ea typeface="Calibri" pitchFamily="34" charset="-122"/>
                <a:cs typeface="Calibri" pitchFamily="34" charset="-120"/>
              </a:rPr>
              <a:t>Tanpa persediaan, tanpa gudang, tanpa overhead. Hanya komputer yang menerima pesanan buku dan meneruskan pemenuhannya ke pihak lain. Secara default rencana yang menarik: modal kecil, tidak ada risiko stok.</a:t>
            </a:r>
            <a:endParaRPr lang="en-US" sz="1050" dirty="0"/>
          </a:p>
        </p:txBody>
      </p:sp>
      <p:sp>
        <p:nvSpPr>
          <p:cNvPr id="12" name="Shape 8"/>
          <p:cNvSpPr/>
          <p:nvPr/>
        </p:nvSpPr>
        <p:spPr>
          <a:xfrm>
            <a:off x="777240" y="3703320"/>
            <a:ext cx="5394960" cy="1938528"/>
          </a:xfrm>
          <a:prstGeom prst="roundRect">
            <a:avLst>
              <a:gd name="adj" fmla="val 4717"/>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13" name="Text 9"/>
          <p:cNvSpPr txBox="1"/>
          <p:nvPr/>
        </p:nvSpPr>
        <p:spPr>
          <a:xfrm>
            <a:off x="914400" y="377647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02</a:t>
            </a:r>
            <a:endParaRPr lang="en-US" sz="3200" dirty="0"/>
          </a:p>
        </p:txBody>
      </p:sp>
      <p:sp>
        <p:nvSpPr>
          <p:cNvPr id="14" name="Text 10"/>
          <p:cNvSpPr txBox="1"/>
          <p:nvPr/>
        </p:nvSpPr>
        <p:spPr>
          <a:xfrm>
            <a:off x="1828800" y="3831336"/>
            <a:ext cx="420624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300" b="1" dirty="0">
                <a:solidFill>
                  <a:srgbClr val="111111"/>
                </a:solidFill>
                <a:latin typeface="Arial" pitchFamily="34" charset="0"/>
                <a:ea typeface="Arial" pitchFamily="34" charset="-122"/>
                <a:cs typeface="Arial" pitchFamily="34" charset="-120"/>
              </a:rPr>
              <a:t>KENYATAAN: “THINGS CLEARLY DIDN’T WORK OUT THAT WAY”</a:t>
            </a:r>
            <a:endParaRPr lang="en-US" sz="1300" dirty="0"/>
          </a:p>
        </p:txBody>
      </p:sp>
      <p:sp>
        <p:nvSpPr>
          <p:cNvPr id="15" name="Text 11"/>
          <p:cNvSpPr txBox="1"/>
          <p:nvPr/>
        </p:nvSpPr>
        <p:spPr>
          <a:xfrm>
            <a:off x="1920240" y="4416552"/>
            <a:ext cx="4069080" cy="1143000"/>
          </a:xfrm>
          <a:prstGeom prst="rect">
            <a:avLst/>
          </a:prstGeom>
          <a:noFill/>
          <a:ln/>
        </p:spPr>
        <p:txBody>
          <a:bodyPr wrap="square" lIns="0" tIns="0" rIns="0" bIns="0" rtlCol="0" anchor="t"/>
          <a:lstStyle/>
          <a:p>
            <a:pPr algn="l" indent="0" marL="0">
              <a:lnSpc>
                <a:spcPct val="105000"/>
              </a:lnSpc>
              <a:buNone/>
            </a:pPr>
            <a:r>
              <a:rPr lang="en-US" sz="1050" dirty="0">
                <a:solidFill>
                  <a:srgbClr val="4A4A4A"/>
                </a:solidFill>
                <a:latin typeface="Calibri" pitchFamily="34" charset="0"/>
                <a:ea typeface="Calibri" pitchFamily="34" charset="-122"/>
                <a:cs typeface="Calibri" pitchFamily="34" charset="-120"/>
              </a:rPr>
              <a:t>Buku hanya memberi satu kalimat itu. Yang tercatat sekarang adalah jaringan gudang terbesar di dunia dan perangkat lunak pesanan yang begitu baik sehingga keahlian order taking, processing, dan billing dijual ke pihak lain.</a:t>
            </a:r>
            <a:endParaRPr lang="en-US" sz="1050" dirty="0"/>
          </a:p>
        </p:txBody>
      </p:sp>
      <p:sp>
        <p:nvSpPr>
          <p:cNvPr id="16" name="Shape 12"/>
          <p:cNvSpPr/>
          <p:nvPr/>
        </p:nvSpPr>
        <p:spPr>
          <a:xfrm>
            <a:off x="6949440" y="1554480"/>
            <a:ext cx="4480560" cy="1005840"/>
          </a:xfrm>
          <a:prstGeom prst="rect">
            <a:avLst/>
          </a:prstGeom>
          <a:solidFill>
            <a:srgbClr val="FFFFFF"/>
          </a:solidFill>
          <a:ln w="12700">
            <a:solidFill>
              <a:srgbClr val="FFFFFF"/>
            </a:solidFill>
            <a:prstDash val="solid"/>
          </a:ln>
        </p:spPr>
      </p:sp>
      <p:sp>
        <p:nvSpPr>
          <p:cNvPr id="17" name="Text 13"/>
          <p:cNvSpPr txBox="1"/>
          <p:nvPr/>
        </p:nvSpPr>
        <p:spPr>
          <a:xfrm>
            <a:off x="7086600" y="1627632"/>
            <a:ext cx="4206240" cy="548640"/>
          </a:xfrm>
          <a:prstGeom prst="rect">
            <a:avLst/>
          </a:prstGeom>
          <a:noFill/>
          <a:ln/>
        </p:spPr>
        <p:txBody>
          <a:bodyPr wrap="square" lIns="0" tIns="0" rIns="0" bIns="0" rtlCol="0" anchor="ctr"/>
          <a:lstStyle/>
          <a:p>
            <a:pPr indent="0" marL="0">
              <a:buNone/>
            </a:pPr>
            <a:r>
              <a:rPr lang="en-US" sz="2600" b="1" dirty="0">
                <a:solidFill>
                  <a:srgbClr val="FF9900"/>
                </a:solidFill>
                <a:latin typeface="Arial" pitchFamily="34" charset="0"/>
                <a:ea typeface="Arial" pitchFamily="34" charset="-122"/>
                <a:cs typeface="Arial" pitchFamily="34" charset="-120"/>
              </a:rPr>
              <a:t>150+</a:t>
            </a:r>
            <a:endParaRPr lang="en-US" sz="2600" dirty="0"/>
          </a:p>
        </p:txBody>
      </p:sp>
      <p:sp>
        <p:nvSpPr>
          <p:cNvPr id="18" name="Text 14"/>
          <p:cNvSpPr txBox="1"/>
          <p:nvPr/>
        </p:nvSpPr>
        <p:spPr>
          <a:xfrm>
            <a:off x="7086600" y="2176272"/>
            <a:ext cx="4206240" cy="32004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gudang di seluruh dunia</a:t>
            </a:r>
            <a:endParaRPr lang="en-US" sz="1050" dirty="0"/>
          </a:p>
        </p:txBody>
      </p:sp>
      <p:sp>
        <p:nvSpPr>
          <p:cNvPr id="19" name="Shape 15"/>
          <p:cNvSpPr/>
          <p:nvPr/>
        </p:nvSpPr>
        <p:spPr>
          <a:xfrm>
            <a:off x="6949440" y="2743200"/>
            <a:ext cx="4480560" cy="1005840"/>
          </a:xfrm>
          <a:prstGeom prst="rect">
            <a:avLst/>
          </a:prstGeom>
          <a:solidFill>
            <a:srgbClr val="FFFFFF"/>
          </a:solidFill>
          <a:ln w="12700">
            <a:solidFill>
              <a:srgbClr val="FFFFFF"/>
            </a:solidFill>
            <a:prstDash val="solid"/>
          </a:ln>
        </p:spPr>
      </p:sp>
      <p:sp>
        <p:nvSpPr>
          <p:cNvPr id="20" name="Text 16"/>
          <p:cNvSpPr txBox="1"/>
          <p:nvPr/>
        </p:nvSpPr>
        <p:spPr>
          <a:xfrm>
            <a:off x="7086600" y="2816352"/>
            <a:ext cx="4206240" cy="548640"/>
          </a:xfrm>
          <a:prstGeom prst="rect">
            <a:avLst/>
          </a:prstGeom>
          <a:noFill/>
          <a:ln/>
        </p:spPr>
        <p:txBody>
          <a:bodyPr wrap="square" lIns="0" tIns="0" rIns="0" bIns="0" rtlCol="0" anchor="ctr"/>
          <a:lstStyle/>
          <a:p>
            <a:pPr indent="0" marL="0">
              <a:buNone/>
            </a:pPr>
            <a:r>
              <a:rPr lang="en-US" sz="2600" b="1" dirty="0">
                <a:solidFill>
                  <a:srgbClr val="FF9900"/>
                </a:solidFill>
                <a:latin typeface="Arial" pitchFamily="34" charset="0"/>
                <a:ea typeface="Arial" pitchFamily="34" charset="-122"/>
                <a:cs typeface="Arial" pitchFamily="34" charset="-120"/>
              </a:rPr>
              <a:t>200 juta</a:t>
            </a:r>
            <a:endParaRPr lang="en-US" sz="2600" dirty="0"/>
          </a:p>
        </p:txBody>
      </p:sp>
      <p:sp>
        <p:nvSpPr>
          <p:cNvPr id="21" name="Text 17"/>
          <p:cNvSpPr txBox="1"/>
          <p:nvPr/>
        </p:nvSpPr>
        <p:spPr>
          <a:xfrm>
            <a:off x="7086600" y="3364992"/>
            <a:ext cx="4206240" cy="32004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item tersedia di situs</a:t>
            </a:r>
            <a:endParaRPr lang="en-US" sz="1050" dirty="0"/>
          </a:p>
        </p:txBody>
      </p:sp>
      <p:sp>
        <p:nvSpPr>
          <p:cNvPr id="22" name="Shape 18"/>
          <p:cNvSpPr/>
          <p:nvPr/>
        </p:nvSpPr>
        <p:spPr>
          <a:xfrm>
            <a:off x="6949440" y="3931920"/>
            <a:ext cx="4480560" cy="1005840"/>
          </a:xfrm>
          <a:prstGeom prst="rect">
            <a:avLst/>
          </a:prstGeom>
          <a:solidFill>
            <a:srgbClr val="FFFFFF"/>
          </a:solidFill>
          <a:ln w="12700">
            <a:solidFill>
              <a:srgbClr val="FFFFFF"/>
            </a:solidFill>
            <a:prstDash val="solid"/>
          </a:ln>
        </p:spPr>
      </p:sp>
      <p:sp>
        <p:nvSpPr>
          <p:cNvPr id="23" name="Text 19"/>
          <p:cNvSpPr txBox="1"/>
          <p:nvPr/>
        </p:nvSpPr>
        <p:spPr>
          <a:xfrm>
            <a:off x="7086600" y="4005072"/>
            <a:ext cx="4206240" cy="548640"/>
          </a:xfrm>
          <a:prstGeom prst="rect">
            <a:avLst/>
          </a:prstGeom>
          <a:noFill/>
          <a:ln/>
        </p:spPr>
        <p:txBody>
          <a:bodyPr wrap="square" lIns="0" tIns="0" rIns="0" bIns="0" rtlCol="0" anchor="ctr"/>
          <a:lstStyle/>
          <a:p>
            <a:pPr indent="0" marL="0">
              <a:buNone/>
            </a:pPr>
            <a:r>
              <a:rPr lang="en-US" sz="2600" b="1" dirty="0">
                <a:solidFill>
                  <a:srgbClr val="FF9900"/>
                </a:solidFill>
                <a:latin typeface="Arial" pitchFamily="34" charset="0"/>
                <a:ea typeface="Arial" pitchFamily="34" charset="-122"/>
                <a:cs typeface="Arial" pitchFamily="34" charset="-120"/>
              </a:rPr>
              <a:t>200.000</a:t>
            </a:r>
            <a:endParaRPr lang="en-US" sz="2600" dirty="0"/>
          </a:p>
        </p:txBody>
      </p:sp>
      <p:sp>
        <p:nvSpPr>
          <p:cNvPr id="24" name="Text 20"/>
          <p:cNvSpPr txBox="1"/>
          <p:nvPr/>
        </p:nvSpPr>
        <p:spPr>
          <a:xfrm>
            <a:off x="7086600" y="4553712"/>
            <a:ext cx="4206240" cy="32004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pieces per hari dari satu gudang</a:t>
            </a:r>
            <a:endParaRPr lang="en-US" sz="1050" dirty="0"/>
          </a:p>
        </p:txBody>
      </p:sp>
      <p:sp>
        <p:nvSpPr>
          <p:cNvPr id="25" name="Shape 21"/>
          <p:cNvSpPr/>
          <p:nvPr/>
        </p:nvSpPr>
        <p:spPr>
          <a:xfrm>
            <a:off x="6949440" y="5120640"/>
            <a:ext cx="4480560" cy="1005840"/>
          </a:xfrm>
          <a:prstGeom prst="rect">
            <a:avLst/>
          </a:prstGeom>
          <a:solidFill>
            <a:srgbClr val="FFFFFF"/>
          </a:solidFill>
          <a:ln w="12700">
            <a:solidFill>
              <a:srgbClr val="FFFFFF"/>
            </a:solidFill>
            <a:prstDash val="solid"/>
          </a:ln>
        </p:spPr>
      </p:sp>
      <p:sp>
        <p:nvSpPr>
          <p:cNvPr id="26" name="Text 22"/>
          <p:cNvSpPr txBox="1"/>
          <p:nvPr/>
        </p:nvSpPr>
        <p:spPr>
          <a:xfrm>
            <a:off x="7086600" y="5193792"/>
            <a:ext cx="4206240" cy="548640"/>
          </a:xfrm>
          <a:prstGeom prst="rect">
            <a:avLst/>
          </a:prstGeom>
          <a:noFill/>
          <a:ln/>
        </p:spPr>
        <p:txBody>
          <a:bodyPr wrap="square" lIns="0" tIns="0" rIns="0" bIns="0" rtlCol="0" anchor="ctr"/>
          <a:lstStyle/>
          <a:p>
            <a:pPr indent="0" marL="0">
              <a:buNone/>
            </a:pPr>
            <a:r>
              <a:rPr lang="en-US" sz="2600" b="1" dirty="0">
                <a:solidFill>
                  <a:srgbClr val="FF9900"/>
                </a:solidFill>
                <a:latin typeface="Arial" pitchFamily="34" charset="0"/>
                <a:ea typeface="Arial" pitchFamily="34" charset="-122"/>
                <a:cs typeface="Arial" pitchFamily="34" charset="-120"/>
              </a:rPr>
              <a:t>&lt; 3 menit</a:t>
            </a:r>
            <a:endParaRPr lang="en-US" sz="2600" dirty="0"/>
          </a:p>
        </p:txBody>
      </p:sp>
      <p:sp>
        <p:nvSpPr>
          <p:cNvPr id="27" name="Text 23"/>
          <p:cNvSpPr txBox="1"/>
          <p:nvPr/>
        </p:nvSpPr>
        <p:spPr>
          <a:xfrm>
            <a:off x="7086600" y="5742432"/>
            <a:ext cx="4206240" cy="32004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tenaga kerja per pesanan</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7</a:t>
            </a:r>
            <a:endParaRPr lang="en-US" sz="900" dirty="0"/>
          </a:p>
        </p:txBody>
      </p:sp>
      <p:sp>
        <p:nvSpPr>
          <p:cNvPr id="6" name="Text 2"/>
          <p:cNvSpPr txBox="1"/>
          <p:nvPr/>
        </p:nvSpPr>
        <p:spPr>
          <a:xfrm>
            <a:off x="777240" y="731520"/>
            <a:ext cx="676656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APAKAH RENCANA AWALNYA SALAH?</a:t>
            </a:r>
            <a:endParaRPr lang="en-US" sz="2800" dirty="0"/>
          </a:p>
        </p:txBody>
      </p:sp>
      <p:sp>
        <p:nvSpPr>
          <p:cNvPr id="7" name="Text 3"/>
          <p:cNvSpPr txBox="1"/>
          <p:nvPr/>
        </p:nvSpPr>
        <p:spPr>
          <a:xfrm>
            <a:off x="777240" y="1371600"/>
            <a:ext cx="6309360" cy="640080"/>
          </a:xfrm>
          <a:prstGeom prst="rect">
            <a:avLst/>
          </a:prstGeom>
          <a:noFill/>
          <a:ln/>
        </p:spPr>
        <p:txBody>
          <a:bodyPr wrap="square" lIns="0" tIns="0" rIns="0" bIns="0" rtlCol="0" anchor="t"/>
          <a:lstStyle/>
          <a:p>
            <a:pPr algn="l" indent="0" marL="0">
              <a:lnSpc>
                <a:spcPct val="105000"/>
              </a:lnSpc>
              <a:buNone/>
            </a:pPr>
            <a:r>
              <a:rPr lang="en-US" sz="1150" dirty="0">
                <a:solidFill>
                  <a:srgbClr val="4A4A4A"/>
                </a:solidFill>
                <a:latin typeface="Calibri" pitchFamily="34" charset="0"/>
                <a:ea typeface="Calibri" pitchFamily="34" charset="-122"/>
                <a:cs typeface="Calibri" pitchFamily="34" charset="-120"/>
              </a:rPr>
              <a:t>Bukan salah, tetapi asumsinya tidak bisa dipertahankan begitu value proposition ditetapkan. Bezos menetapkan pengalaman pelanggan harus menghasilkan tiga hal sekaligus:</a:t>
            </a:r>
            <a:endParaRPr lang="en-US" sz="1150" dirty="0"/>
          </a:p>
        </p:txBody>
      </p:sp>
      <p:sp>
        <p:nvSpPr>
          <p:cNvPr id="8" name="Text 4"/>
          <p:cNvSpPr txBox="1"/>
          <p:nvPr/>
        </p:nvSpPr>
        <p:spPr>
          <a:xfrm>
            <a:off x="777240" y="2057400"/>
            <a:ext cx="640080" cy="365760"/>
          </a:xfrm>
          <a:prstGeom prst="rect">
            <a:avLst/>
          </a:prstGeom>
          <a:noFill/>
          <a:ln/>
        </p:spPr>
        <p:txBody>
          <a:bodyPr wrap="square" lIns="0" tIns="0" rIns="0" bIns="0" rtlCol="0" anchor="ctr"/>
          <a:lstStyle/>
          <a:p>
            <a:pPr indent="0" marL="0">
              <a:buNone/>
            </a:pPr>
            <a:r>
              <a:rPr lang="en-US" sz="1500" b="1" dirty="0">
                <a:solidFill>
                  <a:srgbClr val="FF9900"/>
                </a:solidFill>
                <a:latin typeface="Arial" pitchFamily="34" charset="0"/>
                <a:ea typeface="Arial" pitchFamily="34" charset="-122"/>
                <a:cs typeface="Arial" pitchFamily="34" charset="-120"/>
              </a:rPr>
              <a:t>01</a:t>
            </a:r>
            <a:endParaRPr lang="en-US" sz="1500" dirty="0"/>
          </a:p>
        </p:txBody>
      </p:sp>
      <p:sp>
        <p:nvSpPr>
          <p:cNvPr id="9" name="Text 5"/>
          <p:cNvSpPr txBox="1"/>
          <p:nvPr/>
        </p:nvSpPr>
        <p:spPr>
          <a:xfrm>
            <a:off x="1463040" y="2057400"/>
            <a:ext cx="5623560" cy="365760"/>
          </a:xfrm>
          <a:prstGeom prst="rect">
            <a:avLst/>
          </a:prstGeom>
          <a:solidFill>
            <a:srgbClr val="FFE2B8"/>
          </a:solidFill>
          <a:ln/>
        </p:spPr>
        <p:txBody>
          <a:bodyPr wrap="square" lIns="508" tIns="1270" rIns="1270" bIns="508" rtlCol="0" anchor="ctr"/>
          <a:lstStyle/>
          <a:p>
            <a:pPr algn="l" indent="0" marL="0">
              <a:lnSpc>
                <a:spcPct val="105000"/>
              </a:lnSpc>
              <a:buNone/>
            </a:pPr>
            <a:r>
              <a:rPr lang="en-US" sz="1100" dirty="0">
                <a:solidFill>
                  <a:srgbClr val="111111"/>
                </a:solidFill>
                <a:latin typeface="Calibri" pitchFamily="34" charset="0"/>
                <a:ea typeface="Calibri" pitchFamily="34" charset="-122"/>
                <a:cs typeface="Calibri" pitchFamily="34" charset="-120"/>
              </a:rPr>
              <a:t>Lowest price: harga terendah</a:t>
            </a:r>
            <a:endParaRPr lang="en-US" sz="1100" dirty="0"/>
          </a:p>
        </p:txBody>
      </p:sp>
      <p:sp>
        <p:nvSpPr>
          <p:cNvPr id="10" name="Text 6"/>
          <p:cNvSpPr txBox="1"/>
          <p:nvPr/>
        </p:nvSpPr>
        <p:spPr>
          <a:xfrm>
            <a:off x="777240" y="2496312"/>
            <a:ext cx="640080" cy="365760"/>
          </a:xfrm>
          <a:prstGeom prst="rect">
            <a:avLst/>
          </a:prstGeom>
          <a:noFill/>
          <a:ln/>
        </p:spPr>
        <p:txBody>
          <a:bodyPr wrap="square" lIns="0" tIns="0" rIns="0" bIns="0" rtlCol="0" anchor="ctr"/>
          <a:lstStyle/>
          <a:p>
            <a:pPr indent="0" marL="0">
              <a:buNone/>
            </a:pPr>
            <a:r>
              <a:rPr lang="en-US" sz="1500" b="1" dirty="0">
                <a:solidFill>
                  <a:srgbClr val="FF9900"/>
                </a:solidFill>
                <a:latin typeface="Arial" pitchFamily="34" charset="0"/>
                <a:ea typeface="Arial" pitchFamily="34" charset="-122"/>
                <a:cs typeface="Arial" pitchFamily="34" charset="-120"/>
              </a:rPr>
              <a:t>02</a:t>
            </a:r>
            <a:endParaRPr lang="en-US" sz="1500" dirty="0"/>
          </a:p>
        </p:txBody>
      </p:sp>
      <p:sp>
        <p:nvSpPr>
          <p:cNvPr id="11" name="Text 7"/>
          <p:cNvSpPr txBox="1"/>
          <p:nvPr/>
        </p:nvSpPr>
        <p:spPr>
          <a:xfrm>
            <a:off x="1463040" y="2496312"/>
            <a:ext cx="5623560" cy="365760"/>
          </a:xfrm>
          <a:prstGeom prst="rect">
            <a:avLst/>
          </a:prstGeom>
          <a:solidFill>
            <a:srgbClr val="FFE2B8"/>
          </a:solidFill>
          <a:ln/>
        </p:spPr>
        <p:txBody>
          <a:bodyPr wrap="square" lIns="508" tIns="1270" rIns="1270" bIns="508" rtlCol="0" anchor="ctr"/>
          <a:lstStyle/>
          <a:p>
            <a:pPr algn="l" indent="0" marL="0">
              <a:lnSpc>
                <a:spcPct val="105000"/>
              </a:lnSpc>
              <a:buNone/>
            </a:pPr>
            <a:r>
              <a:rPr lang="en-US" sz="1100" dirty="0">
                <a:solidFill>
                  <a:srgbClr val="111111"/>
                </a:solidFill>
                <a:latin typeface="Calibri" pitchFamily="34" charset="0"/>
                <a:ea typeface="Calibri" pitchFamily="34" charset="-122"/>
                <a:cs typeface="Calibri" pitchFamily="34" charset="-120"/>
              </a:rPr>
              <a:t>Fastest delivery: pengiriman tercepat</a:t>
            </a:r>
            <a:endParaRPr lang="en-US" sz="1100" dirty="0"/>
          </a:p>
        </p:txBody>
      </p:sp>
      <p:sp>
        <p:nvSpPr>
          <p:cNvPr id="12" name="Text 8"/>
          <p:cNvSpPr txBox="1"/>
          <p:nvPr/>
        </p:nvSpPr>
        <p:spPr>
          <a:xfrm>
            <a:off x="777240" y="2935224"/>
            <a:ext cx="640080" cy="365760"/>
          </a:xfrm>
          <a:prstGeom prst="rect">
            <a:avLst/>
          </a:prstGeom>
          <a:noFill/>
          <a:ln/>
        </p:spPr>
        <p:txBody>
          <a:bodyPr wrap="square" lIns="0" tIns="0" rIns="0" bIns="0" rtlCol="0" anchor="ctr"/>
          <a:lstStyle/>
          <a:p>
            <a:pPr indent="0" marL="0">
              <a:buNone/>
            </a:pPr>
            <a:r>
              <a:rPr lang="en-US" sz="1500" b="1" dirty="0">
                <a:solidFill>
                  <a:srgbClr val="FF9900"/>
                </a:solidFill>
                <a:latin typeface="Arial" pitchFamily="34" charset="0"/>
                <a:ea typeface="Arial" pitchFamily="34" charset="-122"/>
                <a:cs typeface="Arial" pitchFamily="34" charset="-120"/>
              </a:rPr>
              <a:t>03</a:t>
            </a:r>
            <a:endParaRPr lang="en-US" sz="1500" dirty="0"/>
          </a:p>
        </p:txBody>
      </p:sp>
      <p:sp>
        <p:nvSpPr>
          <p:cNvPr id="13" name="Text 9"/>
          <p:cNvSpPr txBox="1"/>
          <p:nvPr/>
        </p:nvSpPr>
        <p:spPr>
          <a:xfrm>
            <a:off x="1463040" y="2935224"/>
            <a:ext cx="5623560" cy="365760"/>
          </a:xfrm>
          <a:prstGeom prst="rect">
            <a:avLst/>
          </a:prstGeom>
          <a:solidFill>
            <a:srgbClr val="FFE2B8"/>
          </a:solidFill>
          <a:ln/>
        </p:spPr>
        <p:txBody>
          <a:bodyPr wrap="square" lIns="508" tIns="1270" rIns="1270" bIns="508" rtlCol="0" anchor="ctr"/>
          <a:lstStyle/>
          <a:p>
            <a:pPr algn="l" indent="0" marL="0">
              <a:lnSpc>
                <a:spcPct val="105000"/>
              </a:lnSpc>
              <a:buNone/>
            </a:pPr>
            <a:r>
              <a:rPr lang="en-US" sz="1100" dirty="0">
                <a:solidFill>
                  <a:srgbClr val="111111"/>
                </a:solidFill>
                <a:latin typeface="Calibri" pitchFamily="34" charset="0"/>
                <a:ea typeface="Calibri" pitchFamily="34" charset="-122"/>
                <a:cs typeface="Calibri" pitchFamily="34" charset="-120"/>
              </a:rPr>
              <a:t>Error-free: pemenuhan pesanan bebas kesalahan</a:t>
            </a:r>
            <a:endParaRPr lang="en-US" sz="1100" dirty="0"/>
          </a:p>
        </p:txBody>
      </p:sp>
      <p:sp>
        <p:nvSpPr>
          <p:cNvPr id="14" name="Text 10"/>
          <p:cNvSpPr txBox="1"/>
          <p:nvPr/>
        </p:nvSpPr>
        <p:spPr>
          <a:xfrm>
            <a:off x="777240" y="3429000"/>
            <a:ext cx="6309360" cy="457200"/>
          </a:xfrm>
          <a:prstGeom prst="rect">
            <a:avLst/>
          </a:prstGeom>
          <a:noFill/>
          <a:ln/>
        </p:spPr>
        <p:txBody>
          <a:bodyPr wrap="square" lIns="0" tIns="0" rIns="0" bIns="0" rtlCol="0" anchor="t"/>
          <a:lstStyle/>
          <a:p>
            <a:pPr algn="l" indent="0" marL="0">
              <a:lnSpc>
                <a:spcPct val="105000"/>
              </a:lnSpc>
              <a:buNone/>
            </a:pPr>
            <a:r>
              <a:rPr lang="en-US" sz="1100" i="1" dirty="0">
                <a:solidFill>
                  <a:srgbClr val="111111"/>
                </a:solidFill>
                <a:latin typeface="Calibri" pitchFamily="34" charset="0"/>
                <a:ea typeface="Calibri" pitchFamily="34" charset="-122"/>
                <a:cs typeface="Calibri" pitchFamily="34" charset="-120"/>
              </a:rPr>
              <a:t>Kalimat kunci dari buku: exchanges and returns are very expensive. Kesalahan bukan sekadar masalah mutu, tetapi biaya.</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77240" y="3931920"/>
          <a:ext cx="6309360" cy="914400"/>
        </p:xfrm>
        <a:graphic>
          <a:graphicData uri="http://schemas.openxmlformats.org/drawingml/2006/table">
            <a:tbl>
              <a:tblPr/>
              <a:tblGrid>
                <a:gridCol w="1280160"/>
                <a:gridCol w="2514600"/>
                <a:gridCol w="2514600"/>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Target</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Pemenuhan oleh pihak ketiga</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Pemenuhan dikelola sendiri</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Fastest delivery</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Kecepatan bergantung stok dan proses orang lain; janji waktu kirim tidak bisa dibuat</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Stok diletakkan di gudang terdekat pelanggan; waktu proses internal bisa ditekan</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Error-free</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Kesalahan pihak lain menjadi biaya return Amazon, tetapi tidak bisa dikendalikan</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Titik kontrol (pemindaian, penimbangan) dirancang sendiri</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Lowest price</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Margin pihak ketiga masuk ke harga</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Biaya per pesanan ditekan lewat volume dan otomasi</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16" name="Image 2" descr="/tmp/claude-0/-home-user-Dom-Manipulation/01edd7ad-16e1-5ac5-9e2e-840f37702b96/scratchpad/img/crop/packing.jpg">    </p:cNvPr>
          <p:cNvPicPr>
            <a:picLocks noChangeAspect="1"/>
          </p:cNvPicPr>
          <p:nvPr/>
        </p:nvPicPr>
        <p:blipFill>
          <a:blip r:embed="rId3"/>
          <a:stretch>
            <a:fillRect/>
          </a:stretch>
        </p:blipFill>
        <p:spPr>
          <a:xfrm>
            <a:off x="7253935" y="3839016"/>
            <a:ext cx="4480560" cy="2561784"/>
          </a:xfrm>
          <a:prstGeom prst="rect">
            <a:avLst/>
          </a:prstGeom>
        </p:spPr>
      </p:pic>
      <p:sp>
        <p:nvSpPr>
          <p:cNvPr id="17" name="Text 11"/>
          <p:cNvSpPr txBox="1"/>
          <p:nvPr/>
        </p:nvSpPr>
        <p:spPr>
          <a:xfrm>
            <a:off x="7315200" y="777240"/>
            <a:ext cx="4419295" cy="1188720"/>
          </a:xfrm>
          <a:prstGeom prst="rect">
            <a:avLst/>
          </a:prstGeom>
          <a:solidFill>
            <a:srgbClr val="FF9900"/>
          </a:solidFill>
          <a:ln/>
        </p:spPr>
        <p:txBody>
          <a:bodyPr wrap="square" lIns="508" tIns="1270" rIns="1270" bIns="508" rtlCol="0" anchor="ctr"/>
          <a:lstStyle/>
          <a:p>
            <a:pPr algn="l" indent="0" marL="0">
              <a:lnSpc>
                <a:spcPct val="105000"/>
              </a:lnSpc>
              <a:buNone/>
            </a:pPr>
            <a:r>
              <a:rPr lang="en-US" sz="1100" dirty="0">
                <a:solidFill>
                  <a:srgbClr val="111111"/>
                </a:solidFill>
                <a:latin typeface="Calibri" pitchFamily="34" charset="0"/>
                <a:ea typeface="Calibri" pitchFamily="34" charset="-122"/>
                <a:cs typeface="Calibri" pitchFamily="34" charset="-120"/>
              </a:rPr>
              <a:t>Menyimpan persediaan sendiri bukan penyimpangan dari strategi Amazon, melainkan konsekuensinya. Value proposition men-direct keputusan di belakangnya.</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8</a:t>
            </a:r>
            <a:endParaRPr lang="en-US" sz="900" dirty="0"/>
          </a:p>
        </p:txBody>
      </p:sp>
      <p:sp>
        <p:nvSpPr>
          <p:cNvPr id="6" name="Text 2"/>
          <p:cNvSpPr txBox="1"/>
          <p:nvPr/>
        </p:nvSpPr>
        <p:spPr>
          <a:xfrm>
            <a:off x="777240" y="731520"/>
            <a:ext cx="722376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KARAKTER OPERASI AMAZON DENGAN 4V</a:t>
            </a:r>
            <a:endParaRPr lang="en-US" sz="2800" dirty="0"/>
          </a:p>
        </p:txBody>
      </p:sp>
      <p:sp>
        <p:nvSpPr>
          <p:cNvPr id="7" name="Text 3"/>
          <p:cNvSpPr txBox="1"/>
          <p:nvPr/>
        </p:nvSpPr>
        <p:spPr>
          <a:xfrm>
            <a:off x="777240" y="1371600"/>
            <a:ext cx="7223760" cy="502920"/>
          </a:xfrm>
          <a:prstGeom prst="rect">
            <a:avLst/>
          </a:prstGeom>
          <a:noFill/>
          <a:ln/>
        </p:spPr>
        <p:txBody>
          <a:bodyPr wrap="square" lIns="0" tIns="0" rIns="0" bIns="0" rtlCol="0" anchor="t"/>
          <a:lstStyle/>
          <a:p>
            <a:pPr algn="l" indent="0" marL="0">
              <a:lnSpc>
                <a:spcPct val="105000"/>
              </a:lnSpc>
              <a:buNone/>
            </a:pPr>
            <a:r>
              <a:rPr lang="en-US" sz="1150" dirty="0">
                <a:solidFill>
                  <a:srgbClr val="4A4A4A"/>
                </a:solidFill>
                <a:latin typeface="Calibri" pitchFamily="34" charset="0"/>
                <a:ea typeface="Calibri" pitchFamily="34" charset="-122"/>
                <a:cs typeface="Calibri" pitchFamily="34" charset="-120"/>
              </a:rPr>
              <a:t>Karakter operasi menentukan cara mengelolanya, meskipun industrinya sama. Bukti dari buku; posisi pada skala adalah penilaian penyusun.</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965960"/>
          <a:ext cx="7223760" cy="914400"/>
        </p:xfrm>
        <a:graphic>
          <a:graphicData uri="http://schemas.openxmlformats.org/drawingml/2006/table">
            <a:tbl>
              <a:tblPr/>
              <a:tblGrid>
                <a:gridCol w="1005840"/>
                <a:gridCol w="1097280"/>
                <a:gridCol w="2560320"/>
                <a:gridCol w="2560320"/>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Dimensi</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Posisi</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Bukti</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Konsekuensi pada persediaan</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Volume</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Sangat tinggi</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200.000 pieces/hari per gudang; 150+ gudang</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Economies of scale: otomasi dan standardisasi ekonomis, biaya per unit turun</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Variety</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Sangat tinggi</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200 juta item; 70% pesanan berisi lebih dari satu produk</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Kesalahan pengambilan mudah terjadi; akurasi catatan per item menjadi persoalan utama</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Variation</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Tinggi</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Ritel daring dengan musim puncak; gudang dirancang untuk kapasitas harian maksimum</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Perlu stok pengaman dan kapasitas yang bisa menyerap lonjakan</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Visibility</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Rendah</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Pelanggan hanya melihat hasil: harga, waktu tiba, ketepatan isi paket</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Proses gudang bebas dirancang untuk efisiensi</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r>
            </a:tbl>
          </a:graphicData>
        </a:graphic>
      </p:graphicFrame>
      <p:sp>
        <p:nvSpPr>
          <p:cNvPr id="9" name="Text 4"/>
          <p:cNvSpPr txBox="1"/>
          <p:nvPr/>
        </p:nvSpPr>
        <p:spPr>
          <a:xfrm>
            <a:off x="777240" y="4892040"/>
            <a:ext cx="7223760" cy="384048"/>
          </a:xfrm>
          <a:prstGeom prst="rect">
            <a:avLst/>
          </a:prstGeom>
          <a:solidFill>
            <a:srgbClr val="FF9900"/>
          </a:solidFill>
          <a:ln/>
        </p:spPr>
        <p:txBody>
          <a:bodyPr wrap="square" lIns="508" tIns="1270" rIns="1270" bIns="508" rtlCol="0" anchor="ctr"/>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Secara natural volume tinggi berpasangan dengan variety rendah. Amazon punya keduanya tinggi.</a:t>
            </a:r>
            <a:endParaRPr lang="en-US" sz="1150" dirty="0"/>
          </a:p>
        </p:txBody>
      </p:sp>
      <p:sp>
        <p:nvSpPr>
          <p:cNvPr id="10" name="Text 5"/>
          <p:cNvSpPr txBox="1"/>
          <p:nvPr/>
        </p:nvSpPr>
        <p:spPr>
          <a:xfrm>
            <a:off x="777240" y="5349240"/>
            <a:ext cx="7223760" cy="1005840"/>
          </a:xfrm>
          <a:prstGeom prst="rect">
            <a:avLst/>
          </a:prstGeom>
          <a:noFill/>
          <a:ln/>
        </p:spPr>
        <p:txBody>
          <a:bodyPr wrap="square" lIns="0" tIns="0" rIns="0" bIns="0" rtlCol="0" anchor="t"/>
          <a:lstStyle/>
          <a:p>
            <a:pPr algn="l" indent="0" marL="0">
              <a:lnSpc>
                <a:spcPct val="105000"/>
              </a:lnSpc>
              <a:buNone/>
            </a:pPr>
            <a:r>
              <a:rPr lang="en-US" sz="1050" dirty="0">
                <a:solidFill>
                  <a:srgbClr val="4A4A4A"/>
                </a:solidFill>
                <a:latin typeface="Calibri" pitchFamily="34" charset="0"/>
                <a:ea typeface="Calibri" pitchFamily="34" charset="-122"/>
                <a:cs typeface="Calibri" pitchFamily="34" charset="-120"/>
              </a:rPr>
              <a:t>Kombinasi ini tidak otomatis berarti tidak efisien, asalkan kustomisasi (komposisi pesanan yang berbeda-beda) bisa dilayani dengan proses massal: pengambilan massal dalam batch, penyusunan per pesanan di ujung proses. Strateginya menuntut cost dan response sekaligus; apakah keduanya benar bertentangan diperiksa pada analisis trade-off.</a:t>
            </a:r>
            <a:endParaRPr lang="en-US" sz="1050" dirty="0"/>
          </a:p>
        </p:txBody>
      </p:sp>
      <p:pic>
        <p:nvPicPr>
          <p:cNvPr id="11" name="Image 2" descr="/tmp/claude-0/-home-user-Dom-Manipulation/01edd7ad-16e1-5ac5-9e2e-840f37702b96/scratchpad/img/crop/delivery.jpg">    </p:cNvPr>
          <p:cNvPicPr>
            <a:picLocks noChangeAspect="1"/>
          </p:cNvPicPr>
          <p:nvPr/>
        </p:nvPicPr>
        <p:blipFill>
          <a:blip r:embed="rId3"/>
          <a:stretch>
            <a:fillRect/>
          </a:stretch>
        </p:blipFill>
        <p:spPr>
          <a:xfrm>
            <a:off x="8442655" y="1952368"/>
            <a:ext cx="3291840" cy="444843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4"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9</a:t>
            </a:r>
            <a:endParaRPr lang="en-US" sz="900" dirty="0"/>
          </a:p>
        </p:txBody>
      </p:sp>
      <p:pic>
        <p:nvPicPr>
          <p:cNvPr id="5" name="Image 1" descr="/tmp/claude-0/-home-user-Dom-Manipulation/01edd7ad-16e1-5ac5-9e2e-840f37702b96/scratchpad/img/crop/totes.jpg">    </p:cNvPr>
          <p:cNvPicPr>
            <a:picLocks noChangeAspect="1"/>
          </p:cNvPicPr>
          <p:nvPr/>
        </p:nvPicPr>
        <p:blipFill>
          <a:blip r:embed="rId2"/>
          <a:srcRect l="0" r="0" t="0" b="0"/>
          <a:stretch/>
        </p:blipFill>
        <p:spPr>
          <a:xfrm>
            <a:off x="429768" y="429768"/>
            <a:ext cx="11332159" cy="5998464"/>
          </a:xfrm>
          <a:prstGeom prst="rect">
            <a:avLst/>
          </a:prstGeom>
        </p:spPr>
      </p:pic>
      <p:sp>
        <p:nvSpPr>
          <p:cNvPr id="6" name="Shape 2"/>
          <p:cNvSpPr/>
          <p:nvPr/>
        </p:nvSpPr>
        <p:spPr>
          <a:xfrm>
            <a:off x="429768" y="429768"/>
            <a:ext cx="11332159" cy="5998464"/>
          </a:xfrm>
          <a:prstGeom prst="rect">
            <a:avLst/>
          </a:prstGeom>
          <a:solidFill>
            <a:srgbClr val="FFFFFF">
              <a:alpha val="22000"/>
            </a:srgbClr>
          </a:solidFill>
          <a:ln w="12700">
            <a:solidFill>
              <a:srgbClr val="FFFFFF"/>
            </a:solidFill>
            <a:prstDash val="solid"/>
          </a:ln>
        </p:spPr>
      </p:sp>
      <p:sp>
        <p:nvSpPr>
          <p:cNvPr id="7" name="Text 3"/>
          <p:cNvSpPr txBox="1"/>
          <p:nvPr/>
        </p:nvSpPr>
        <p:spPr>
          <a:xfrm>
            <a:off x="777240" y="685800"/>
            <a:ext cx="10058400" cy="537210"/>
          </a:xfrm>
          <a:prstGeom prst="rect">
            <a:avLst/>
          </a:prstGeom>
          <a:noFill/>
          <a:ln/>
        </p:spPr>
        <p:txBody>
          <a:bodyPr wrap="square" lIns="0" tIns="0" rIns="0" bIns="0" rtlCol="0" anchor="t"/>
          <a:lstStyle/>
          <a:p>
            <a:pPr indent="0" marL="0">
              <a:lnSpc>
                <a:spcPct val="95000"/>
              </a:lnSpc>
              <a:buNone/>
            </a:pPr>
            <a:r>
              <a:rPr lang="en-US" sz="2600" b="1" spc="-100" kern="0" dirty="0">
                <a:solidFill>
                  <a:srgbClr val="111111"/>
                </a:solidFill>
                <a:latin typeface="Arial" pitchFamily="34" charset="0"/>
                <a:ea typeface="Arial" pitchFamily="34" charset="-122"/>
                <a:cs typeface="Arial" pitchFamily="34" charset="-120"/>
              </a:rPr>
              <a:t>PROSES PEMENUHAN PESANAN: LANGKAH 1 SAMPAI 4</a:t>
            </a:r>
            <a:endParaRPr lang="en-US" sz="2600" dirty="0"/>
          </a:p>
        </p:txBody>
      </p:sp>
      <p:sp>
        <p:nvSpPr>
          <p:cNvPr id="8" name="Shape 4"/>
          <p:cNvSpPr/>
          <p:nvPr/>
        </p:nvSpPr>
        <p:spPr>
          <a:xfrm>
            <a:off x="777240" y="1508760"/>
            <a:ext cx="5303520" cy="2029968"/>
          </a:xfrm>
          <a:prstGeom prst="roundRect">
            <a:avLst>
              <a:gd name="adj" fmla="val 4505"/>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9" name="Text 5"/>
          <p:cNvSpPr txBox="1"/>
          <p:nvPr/>
        </p:nvSpPr>
        <p:spPr>
          <a:xfrm>
            <a:off x="914400" y="158191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01</a:t>
            </a:r>
            <a:endParaRPr lang="en-US" sz="3200" dirty="0"/>
          </a:p>
        </p:txBody>
      </p:sp>
      <p:sp>
        <p:nvSpPr>
          <p:cNvPr id="10" name="Text 6"/>
          <p:cNvSpPr txBox="1"/>
          <p:nvPr/>
        </p:nvSpPr>
        <p:spPr>
          <a:xfrm>
            <a:off x="1828800" y="1636776"/>
            <a:ext cx="411480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250" b="1" dirty="0">
                <a:solidFill>
                  <a:srgbClr val="111111"/>
                </a:solidFill>
                <a:latin typeface="Arial" pitchFamily="34" charset="0"/>
                <a:ea typeface="Arial" pitchFamily="34" charset="-122"/>
                <a:cs typeface="Arial" pitchFamily="34" charset="-120"/>
              </a:rPr>
              <a:t>PESANAN MASUK, KOMPUTER DI SEATTLE MENGAMBIL ALIH</a:t>
            </a:r>
            <a:endParaRPr lang="en-US" sz="1250" dirty="0"/>
          </a:p>
        </p:txBody>
      </p:sp>
      <p:sp>
        <p:nvSpPr>
          <p:cNvPr id="11" name="Text 7"/>
          <p:cNvSpPr txBox="1"/>
          <p:nvPr/>
        </p:nvSpPr>
        <p:spPr>
          <a:xfrm>
            <a:off x="1920240" y="2221992"/>
            <a:ext cx="3977640" cy="1234440"/>
          </a:xfrm>
          <a:prstGeom prst="rect">
            <a:avLst/>
          </a:prstGeom>
          <a:noFill/>
          <a:ln/>
        </p:spPr>
        <p:txBody>
          <a:bodyPr wrap="square" lIns="0" tIns="0" rIns="0" bIns="0" rtlCol="0" anchor="t"/>
          <a:lstStyle/>
          <a:p>
            <a:pPr algn="l" indent="0" marL="0">
              <a:lnSpc>
                <a:spcPct val="105000"/>
              </a:lnSpc>
              <a:buNone/>
            </a:pPr>
            <a:r>
              <a:rPr lang="en-US" sz="1000" dirty="0">
                <a:solidFill>
                  <a:srgbClr val="4A4A4A"/>
                </a:solidFill>
                <a:latin typeface="Calibri" pitchFamily="34" charset="0"/>
                <a:ea typeface="Calibri" pitchFamily="34" charset="-122"/>
                <a:cs typeface="Calibri" pitchFamily="34" charset="-120"/>
              </a:rPr>
              <a:t>Komputer menugaskan pesanan (buku, permainan, kamera digital) ke salah satu pusat distribusi besar di AS. Ini jawaban atas where; syaratnya catatan stok tiap DC benar saat itu juga (perpetual inventory).</a:t>
            </a:r>
            <a:endParaRPr lang="en-US" sz="1000" dirty="0"/>
          </a:p>
        </p:txBody>
      </p:sp>
      <p:sp>
        <p:nvSpPr>
          <p:cNvPr id="12" name="Shape 8"/>
          <p:cNvSpPr/>
          <p:nvPr/>
        </p:nvSpPr>
        <p:spPr>
          <a:xfrm>
            <a:off x="6355080" y="1508760"/>
            <a:ext cx="5303520" cy="2029968"/>
          </a:xfrm>
          <a:prstGeom prst="roundRect">
            <a:avLst>
              <a:gd name="adj" fmla="val 4505"/>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13" name="Text 9"/>
          <p:cNvSpPr txBox="1"/>
          <p:nvPr/>
        </p:nvSpPr>
        <p:spPr>
          <a:xfrm>
            <a:off x="6492240" y="158191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02</a:t>
            </a:r>
            <a:endParaRPr lang="en-US" sz="3200" dirty="0"/>
          </a:p>
        </p:txBody>
      </p:sp>
      <p:sp>
        <p:nvSpPr>
          <p:cNvPr id="14" name="Text 10"/>
          <p:cNvSpPr txBox="1"/>
          <p:nvPr/>
        </p:nvSpPr>
        <p:spPr>
          <a:xfrm>
            <a:off x="7406640" y="1636776"/>
            <a:ext cx="411480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250" b="1" dirty="0">
                <a:solidFill>
                  <a:srgbClr val="111111"/>
                </a:solidFill>
                <a:latin typeface="Arial" pitchFamily="34" charset="0"/>
                <a:ea typeface="Arial" pitchFamily="34" charset="-122"/>
                <a:cs typeface="Arial" pitchFamily="34" charset="-120"/>
              </a:rPr>
              <a:t>FLOW MEISTER DI DC MENERIMA PESANAN</a:t>
            </a:r>
            <a:endParaRPr lang="en-US" sz="1250" dirty="0"/>
          </a:p>
        </p:txBody>
      </p:sp>
      <p:sp>
        <p:nvSpPr>
          <p:cNvPr id="15" name="Text 11"/>
          <p:cNvSpPr txBox="1"/>
          <p:nvPr/>
        </p:nvSpPr>
        <p:spPr>
          <a:xfrm>
            <a:off x="7498080" y="2221992"/>
            <a:ext cx="3977640" cy="1234440"/>
          </a:xfrm>
          <a:prstGeom prst="rect">
            <a:avLst/>
          </a:prstGeom>
          <a:noFill/>
          <a:ln/>
        </p:spPr>
        <p:txBody>
          <a:bodyPr wrap="square" lIns="0" tIns="0" rIns="0" bIns="0" rtlCol="0" anchor="t"/>
          <a:lstStyle/>
          <a:p>
            <a:pPr algn="l" indent="0" marL="0">
              <a:lnSpc>
                <a:spcPct val="105000"/>
              </a:lnSpc>
              <a:buNone/>
            </a:pPr>
            <a:r>
              <a:rPr lang="en-US" sz="1000" dirty="0">
                <a:solidFill>
                  <a:srgbClr val="4A4A4A"/>
                </a:solidFill>
                <a:latin typeface="Calibri" pitchFamily="34" charset="0"/>
                <a:ea typeface="Calibri" pitchFamily="34" charset="-122"/>
                <a:cs typeface="Calibri" pitchFamily="34" charset="-120"/>
              </a:rPr>
              <a:t>Ia menentukan pekerja mana pergi ke mana. Pesanan diubah menjadi penugasan picking; masih ada manusia sebagai pengatur beban kerja.</a:t>
            </a:r>
            <a:endParaRPr lang="en-US" sz="1000" dirty="0"/>
          </a:p>
        </p:txBody>
      </p:sp>
      <p:sp>
        <p:nvSpPr>
          <p:cNvPr id="16" name="Shape 12"/>
          <p:cNvSpPr/>
          <p:nvPr/>
        </p:nvSpPr>
        <p:spPr>
          <a:xfrm>
            <a:off x="777240" y="3886200"/>
            <a:ext cx="5303520" cy="2029968"/>
          </a:xfrm>
          <a:prstGeom prst="roundRect">
            <a:avLst>
              <a:gd name="adj" fmla="val 4505"/>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17" name="Text 13"/>
          <p:cNvSpPr txBox="1"/>
          <p:nvPr/>
        </p:nvSpPr>
        <p:spPr>
          <a:xfrm>
            <a:off x="914400" y="395935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03</a:t>
            </a:r>
            <a:endParaRPr lang="en-US" sz="3200" dirty="0"/>
          </a:p>
        </p:txBody>
      </p:sp>
      <p:sp>
        <p:nvSpPr>
          <p:cNvPr id="18" name="Text 14"/>
          <p:cNvSpPr txBox="1"/>
          <p:nvPr/>
        </p:nvSpPr>
        <p:spPr>
          <a:xfrm>
            <a:off x="1828800" y="4014216"/>
            <a:ext cx="411480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250" b="1" dirty="0">
                <a:solidFill>
                  <a:srgbClr val="111111"/>
                </a:solidFill>
                <a:latin typeface="Arial" pitchFamily="34" charset="0"/>
                <a:ea typeface="Arial" pitchFamily="34" charset="-122"/>
                <a:cs typeface="Arial" pitchFamily="34" charset="-120"/>
              </a:rPr>
              <a:t>PICKING</a:t>
            </a:r>
            <a:endParaRPr lang="en-US" sz="1250" dirty="0"/>
          </a:p>
        </p:txBody>
      </p:sp>
      <p:sp>
        <p:nvSpPr>
          <p:cNvPr id="19" name="Text 15"/>
          <p:cNvSpPr txBox="1"/>
          <p:nvPr/>
        </p:nvSpPr>
        <p:spPr>
          <a:xfrm>
            <a:off x="1920240" y="4599432"/>
            <a:ext cx="3977640" cy="1234440"/>
          </a:xfrm>
          <a:prstGeom prst="rect">
            <a:avLst/>
          </a:prstGeom>
          <a:noFill/>
          <a:ln/>
        </p:spPr>
        <p:txBody>
          <a:bodyPr wrap="square" lIns="0" tIns="0" rIns="0" bIns="0" rtlCol="0" anchor="t"/>
          <a:lstStyle/>
          <a:p>
            <a:pPr algn="l" indent="0" marL="0">
              <a:lnSpc>
                <a:spcPct val="105000"/>
              </a:lnSpc>
              <a:buNone/>
            </a:pPr>
            <a:r>
              <a:rPr lang="en-US" sz="1000" dirty="0">
                <a:solidFill>
                  <a:srgbClr val="4A4A4A"/>
                </a:solidFill>
                <a:latin typeface="Calibri" pitchFamily="34" charset="0"/>
                <a:ea typeface="Calibri" pitchFamily="34" charset="-122"/>
                <a:cs typeface="Calibri" pitchFamily="34" charset="-120"/>
              </a:rPr>
              <a:t>Sistem Amazon menggandakan kecepatan picking operator manual dan menurunkan tingkat kesalahan mendekati nol. Mekanismenya robot Kiva.</a:t>
            </a:r>
            <a:endParaRPr lang="en-US" sz="1000" dirty="0"/>
          </a:p>
        </p:txBody>
      </p:sp>
      <p:sp>
        <p:nvSpPr>
          <p:cNvPr id="20" name="Shape 16"/>
          <p:cNvSpPr/>
          <p:nvPr/>
        </p:nvSpPr>
        <p:spPr>
          <a:xfrm>
            <a:off x="6355080" y="3886200"/>
            <a:ext cx="5303520" cy="2029968"/>
          </a:xfrm>
          <a:prstGeom prst="roundRect">
            <a:avLst>
              <a:gd name="adj" fmla="val 4505"/>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21" name="Text 17"/>
          <p:cNvSpPr txBox="1"/>
          <p:nvPr/>
        </p:nvSpPr>
        <p:spPr>
          <a:xfrm>
            <a:off x="6492240" y="395935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04</a:t>
            </a:r>
            <a:endParaRPr lang="en-US" sz="3200" dirty="0"/>
          </a:p>
        </p:txBody>
      </p:sp>
      <p:sp>
        <p:nvSpPr>
          <p:cNvPr id="22" name="Text 18"/>
          <p:cNvSpPr txBox="1"/>
          <p:nvPr/>
        </p:nvSpPr>
        <p:spPr>
          <a:xfrm>
            <a:off x="7406640" y="4014216"/>
            <a:ext cx="411480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250" b="1" dirty="0">
                <a:solidFill>
                  <a:srgbClr val="111111"/>
                </a:solidFill>
                <a:latin typeface="Arial" pitchFamily="34" charset="0"/>
                <a:ea typeface="Arial" pitchFamily="34" charset="-122"/>
                <a:cs typeface="Arial" pitchFamily="34" charset="-120"/>
              </a:rPr>
              <a:t>BARANG MASUK CRATE DI BAN BERJALAN</a:t>
            </a:r>
            <a:endParaRPr lang="en-US" sz="1250" dirty="0"/>
          </a:p>
        </p:txBody>
      </p:sp>
      <p:sp>
        <p:nvSpPr>
          <p:cNvPr id="23" name="Text 19"/>
          <p:cNvSpPr txBox="1"/>
          <p:nvPr/>
        </p:nvSpPr>
        <p:spPr>
          <a:xfrm>
            <a:off x="7498080" y="4599432"/>
            <a:ext cx="3977640" cy="1234440"/>
          </a:xfrm>
          <a:prstGeom prst="rect">
            <a:avLst/>
          </a:prstGeom>
          <a:noFill/>
          <a:ln/>
        </p:spPr>
        <p:txBody>
          <a:bodyPr wrap="square" lIns="0" tIns="0" rIns="0" bIns="0" rtlCol="0" anchor="t"/>
          <a:lstStyle/>
          <a:p>
            <a:pPr algn="l" indent="0" marL="0">
              <a:lnSpc>
                <a:spcPct val="105000"/>
              </a:lnSpc>
              <a:buNone/>
            </a:pPr>
            <a:r>
              <a:rPr lang="en-US" sz="1000" dirty="0">
                <a:solidFill>
                  <a:srgbClr val="4A4A4A"/>
                </a:solidFill>
                <a:latin typeface="Calibri" pitchFamily="34" charset="0"/>
                <a:ea typeface="Calibri" pitchFamily="34" charset="-122"/>
                <a:cs typeface="Calibri" pitchFamily="34" charset="-120"/>
              </a:rPr>
              <a:t>Crate kuning berisi pesanan banyak pelanggan; conveyor lebih dari 10 mil, 2,9 kaki/detik; bar code dipindai 15 kali oleh mesin dan pekerja. Batch picking dan verifikasi berulang: record accuracy paling konkret.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4"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10</a:t>
            </a:r>
            <a:endParaRPr lang="en-US" sz="900" dirty="0"/>
          </a:p>
        </p:txBody>
      </p:sp>
      <p:pic>
        <p:nvPicPr>
          <p:cNvPr id="5" name="Image 1" descr="/tmp/claude-0/-home-user-Dom-Manipulation/01edd7ad-16e1-5ac5-9e2e-840f37702b96/scratchpad/img/crop/sortation.jpg">    </p:cNvPr>
          <p:cNvPicPr>
            <a:picLocks noChangeAspect="1"/>
          </p:cNvPicPr>
          <p:nvPr/>
        </p:nvPicPr>
        <p:blipFill>
          <a:blip r:embed="rId2"/>
          <a:srcRect l="0" r="0" t="0" b="0"/>
          <a:stretch/>
        </p:blipFill>
        <p:spPr>
          <a:xfrm>
            <a:off x="429768" y="429768"/>
            <a:ext cx="11332159" cy="5998464"/>
          </a:xfrm>
          <a:prstGeom prst="rect">
            <a:avLst/>
          </a:prstGeom>
        </p:spPr>
      </p:pic>
      <p:sp>
        <p:nvSpPr>
          <p:cNvPr id="6" name="Shape 2"/>
          <p:cNvSpPr/>
          <p:nvPr/>
        </p:nvSpPr>
        <p:spPr>
          <a:xfrm>
            <a:off x="429768" y="429768"/>
            <a:ext cx="11332159" cy="5998464"/>
          </a:xfrm>
          <a:prstGeom prst="rect">
            <a:avLst/>
          </a:prstGeom>
          <a:solidFill>
            <a:srgbClr val="FFFFFF">
              <a:alpha val="22000"/>
            </a:srgbClr>
          </a:solidFill>
          <a:ln w="12700">
            <a:solidFill>
              <a:srgbClr val="FFFFFF"/>
            </a:solidFill>
            <a:prstDash val="solid"/>
          </a:ln>
        </p:spPr>
      </p:sp>
      <p:sp>
        <p:nvSpPr>
          <p:cNvPr id="7" name="Text 3"/>
          <p:cNvSpPr txBox="1"/>
          <p:nvPr/>
        </p:nvSpPr>
        <p:spPr>
          <a:xfrm>
            <a:off x="777240" y="685800"/>
            <a:ext cx="10058400" cy="537210"/>
          </a:xfrm>
          <a:prstGeom prst="rect">
            <a:avLst/>
          </a:prstGeom>
          <a:noFill/>
          <a:ln/>
        </p:spPr>
        <p:txBody>
          <a:bodyPr wrap="square" lIns="0" tIns="0" rIns="0" bIns="0" rtlCol="0" anchor="t"/>
          <a:lstStyle/>
          <a:p>
            <a:pPr indent="0" marL="0">
              <a:lnSpc>
                <a:spcPct val="95000"/>
              </a:lnSpc>
              <a:buNone/>
            </a:pPr>
            <a:r>
              <a:rPr lang="en-US" sz="2600" b="1" spc="-100" kern="0" dirty="0">
                <a:solidFill>
                  <a:srgbClr val="111111"/>
                </a:solidFill>
                <a:latin typeface="Arial" pitchFamily="34" charset="0"/>
                <a:ea typeface="Arial" pitchFamily="34" charset="-122"/>
                <a:cs typeface="Arial" pitchFamily="34" charset="-120"/>
              </a:rPr>
              <a:t>PROSES PEMENUHAN PESANAN: LANGKAH 5 SAMPAI 8</a:t>
            </a:r>
            <a:endParaRPr lang="en-US" sz="2600" dirty="0"/>
          </a:p>
        </p:txBody>
      </p:sp>
      <p:sp>
        <p:nvSpPr>
          <p:cNvPr id="8" name="Shape 4"/>
          <p:cNvSpPr/>
          <p:nvPr/>
        </p:nvSpPr>
        <p:spPr>
          <a:xfrm>
            <a:off x="777240" y="1508760"/>
            <a:ext cx="5303520" cy="2029968"/>
          </a:xfrm>
          <a:prstGeom prst="roundRect">
            <a:avLst>
              <a:gd name="adj" fmla="val 4505"/>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9" name="Text 5"/>
          <p:cNvSpPr txBox="1"/>
          <p:nvPr/>
        </p:nvSpPr>
        <p:spPr>
          <a:xfrm>
            <a:off x="914400" y="158191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05</a:t>
            </a:r>
            <a:endParaRPr lang="en-US" sz="3200" dirty="0"/>
          </a:p>
        </p:txBody>
      </p:sp>
      <p:sp>
        <p:nvSpPr>
          <p:cNvPr id="10" name="Text 6"/>
          <p:cNvSpPr txBox="1"/>
          <p:nvPr/>
        </p:nvSpPr>
        <p:spPr>
          <a:xfrm>
            <a:off x="1828800" y="1636776"/>
            <a:ext cx="411480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250" b="1" dirty="0">
                <a:solidFill>
                  <a:srgbClr val="111111"/>
                </a:solidFill>
                <a:latin typeface="Arial" pitchFamily="34" charset="0"/>
                <a:ea typeface="Arial" pitchFamily="34" charset="-122"/>
                <a:cs typeface="Arial" pitchFamily="34" charset="-120"/>
              </a:rPr>
              <a:t>KETIGA BARANG BERTEMU DI CHUTE, LALU MASUK KOTAK</a:t>
            </a:r>
            <a:endParaRPr lang="en-US" sz="1250" dirty="0"/>
          </a:p>
        </p:txBody>
      </p:sp>
      <p:sp>
        <p:nvSpPr>
          <p:cNvPr id="11" name="Text 7"/>
          <p:cNvSpPr txBox="1"/>
          <p:nvPr/>
        </p:nvSpPr>
        <p:spPr>
          <a:xfrm>
            <a:off x="1920240" y="2221992"/>
            <a:ext cx="3977640" cy="1234440"/>
          </a:xfrm>
          <a:prstGeom prst="rect">
            <a:avLst/>
          </a:prstGeom>
          <a:noFill/>
          <a:ln/>
        </p:spPr>
        <p:txBody>
          <a:bodyPr wrap="square" lIns="0" tIns="0" rIns="0" bIns="0" rtlCol="0" anchor="t"/>
          <a:lstStyle/>
          <a:p>
            <a:pPr algn="l" indent="0" marL="0">
              <a:lnSpc>
                <a:spcPct val="105000"/>
              </a:lnSpc>
              <a:buNone/>
            </a:pPr>
            <a:r>
              <a:rPr lang="en-US" sz="1000" dirty="0">
                <a:solidFill>
                  <a:srgbClr val="4A4A4A"/>
                </a:solidFill>
                <a:latin typeface="Calibri" pitchFamily="34" charset="0"/>
                <a:ea typeface="Calibri" pitchFamily="34" charset="-122"/>
                <a:cs typeface="Calibri" pitchFamily="34" charset="-120"/>
              </a:rPr>
              <a:t>Bar code dicocokkan dengan nomor pesanan; chute selebar 3 kaki (ribuan); kotak diberi bar code baru. Picking diurutkan untuk mengurangi perjalanan operator (sortation dan sequencing).</a:t>
            </a:r>
            <a:endParaRPr lang="en-US" sz="1000" dirty="0"/>
          </a:p>
        </p:txBody>
      </p:sp>
      <p:sp>
        <p:nvSpPr>
          <p:cNvPr id="12" name="Shape 8"/>
          <p:cNvSpPr/>
          <p:nvPr/>
        </p:nvSpPr>
        <p:spPr>
          <a:xfrm>
            <a:off x="6355080" y="1508760"/>
            <a:ext cx="5303520" cy="2029968"/>
          </a:xfrm>
          <a:prstGeom prst="roundRect">
            <a:avLst>
              <a:gd name="adj" fmla="val 4505"/>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13" name="Text 9"/>
          <p:cNvSpPr txBox="1"/>
          <p:nvPr/>
        </p:nvSpPr>
        <p:spPr>
          <a:xfrm>
            <a:off x="6492240" y="158191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06</a:t>
            </a:r>
            <a:endParaRPr lang="en-US" sz="3200" dirty="0"/>
          </a:p>
        </p:txBody>
      </p:sp>
      <p:sp>
        <p:nvSpPr>
          <p:cNvPr id="14" name="Text 10"/>
          <p:cNvSpPr txBox="1"/>
          <p:nvPr/>
        </p:nvSpPr>
        <p:spPr>
          <a:xfrm>
            <a:off x="7406640" y="1636776"/>
            <a:ext cx="411480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250" b="1" dirty="0">
                <a:solidFill>
                  <a:srgbClr val="111111"/>
                </a:solidFill>
                <a:latin typeface="Arial" pitchFamily="34" charset="0"/>
                <a:ea typeface="Arial" pitchFamily="34" charset="-122"/>
                <a:cs typeface="Arial" pitchFamily="34" charset="-120"/>
              </a:rPr>
              <a:t>PEMBUNGKUSAN KADO MANUAL</a:t>
            </a:r>
            <a:endParaRPr lang="en-US" sz="1250" dirty="0"/>
          </a:p>
        </p:txBody>
      </p:sp>
      <p:sp>
        <p:nvSpPr>
          <p:cNvPr id="15" name="Text 11"/>
          <p:cNvSpPr txBox="1"/>
          <p:nvPr/>
        </p:nvSpPr>
        <p:spPr>
          <a:xfrm>
            <a:off x="7498080" y="2221992"/>
            <a:ext cx="3977640" cy="1234440"/>
          </a:xfrm>
          <a:prstGeom prst="rect">
            <a:avLst/>
          </a:prstGeom>
          <a:noFill/>
          <a:ln/>
        </p:spPr>
        <p:txBody>
          <a:bodyPr wrap="square" lIns="0" tIns="0" rIns="0" bIns="0" rtlCol="0" anchor="t"/>
          <a:lstStyle/>
          <a:p>
            <a:pPr algn="l" indent="0" marL="0">
              <a:lnSpc>
                <a:spcPct val="105000"/>
              </a:lnSpc>
              <a:buNone/>
            </a:pPr>
            <a:r>
              <a:rPr lang="en-US" sz="1000" dirty="0">
                <a:solidFill>
                  <a:srgbClr val="4A4A4A"/>
                </a:solidFill>
                <a:latin typeface="Calibri" pitchFamily="34" charset="0"/>
                <a:ea typeface="Calibri" pitchFamily="34" charset="-122"/>
                <a:cs typeface="Calibri" pitchFamily="34" charset="-120"/>
              </a:rPr>
              <a:t>Dilakukan tim pembungkus terlatih dengan standar 30 paket per jam. Sengaja tidak diotomasi: variasi tinggi, volume kecil; dikelola dengan standard time.</a:t>
            </a:r>
            <a:endParaRPr lang="en-US" sz="1000" dirty="0"/>
          </a:p>
        </p:txBody>
      </p:sp>
      <p:sp>
        <p:nvSpPr>
          <p:cNvPr id="16" name="Shape 12"/>
          <p:cNvSpPr/>
          <p:nvPr/>
        </p:nvSpPr>
        <p:spPr>
          <a:xfrm>
            <a:off x="777240" y="3886200"/>
            <a:ext cx="5303520" cy="2029968"/>
          </a:xfrm>
          <a:prstGeom prst="roundRect">
            <a:avLst>
              <a:gd name="adj" fmla="val 4505"/>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17" name="Text 13"/>
          <p:cNvSpPr txBox="1"/>
          <p:nvPr/>
        </p:nvSpPr>
        <p:spPr>
          <a:xfrm>
            <a:off x="914400" y="395935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07</a:t>
            </a:r>
            <a:endParaRPr lang="en-US" sz="3200" dirty="0"/>
          </a:p>
        </p:txBody>
      </p:sp>
      <p:sp>
        <p:nvSpPr>
          <p:cNvPr id="18" name="Text 14"/>
          <p:cNvSpPr txBox="1"/>
          <p:nvPr/>
        </p:nvSpPr>
        <p:spPr>
          <a:xfrm>
            <a:off x="1828800" y="4014216"/>
            <a:ext cx="411480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250" b="1" dirty="0">
                <a:solidFill>
                  <a:srgbClr val="111111"/>
                </a:solidFill>
                <a:latin typeface="Arial" pitchFamily="34" charset="0"/>
                <a:ea typeface="Arial" pitchFamily="34" charset="-122"/>
                <a:cs typeface="Arial" pitchFamily="34" charset="-120"/>
              </a:rPr>
              <a:t>KOTAK DIKEMAS, DILAKBAN, DITIMBANG, DILABELI</a:t>
            </a:r>
            <a:endParaRPr lang="en-US" sz="1250" dirty="0"/>
          </a:p>
        </p:txBody>
      </p:sp>
      <p:sp>
        <p:nvSpPr>
          <p:cNvPr id="19" name="Text 15"/>
          <p:cNvSpPr txBox="1"/>
          <p:nvPr/>
        </p:nvSpPr>
        <p:spPr>
          <a:xfrm>
            <a:off x="1920240" y="4599432"/>
            <a:ext cx="3977640" cy="1234440"/>
          </a:xfrm>
          <a:prstGeom prst="rect">
            <a:avLst/>
          </a:prstGeom>
          <a:noFill/>
          <a:ln/>
        </p:spPr>
        <p:txBody>
          <a:bodyPr wrap="square" lIns="0" tIns="0" rIns="0" bIns="0" rtlCol="0" anchor="t"/>
          <a:lstStyle/>
          <a:p>
            <a:pPr algn="l" indent="0" marL="0">
              <a:lnSpc>
                <a:spcPct val="105000"/>
              </a:lnSpc>
              <a:buNone/>
            </a:pPr>
            <a:r>
              <a:rPr lang="en-US" sz="1000" dirty="0">
                <a:solidFill>
                  <a:srgbClr val="4A4A4A"/>
                </a:solidFill>
                <a:latin typeface="Calibri" pitchFamily="34" charset="0"/>
                <a:ea typeface="Calibri" pitchFamily="34" charset="-122"/>
                <a:cs typeface="Calibri" pitchFamily="34" charset="-120"/>
              </a:rPr>
              <a:t>Gudang tipikal mengirim sampai 200.000 pieces per hari; sekitar 60% lewat USPS, sisanya UPS. Penimbangan adalah verifikasi akhir isi paket; moda kirim mayoritas berbiaya rendah.</a:t>
            </a:r>
            <a:endParaRPr lang="en-US" sz="1000" dirty="0"/>
          </a:p>
        </p:txBody>
      </p:sp>
      <p:sp>
        <p:nvSpPr>
          <p:cNvPr id="20" name="Shape 16"/>
          <p:cNvSpPr/>
          <p:nvPr/>
        </p:nvSpPr>
        <p:spPr>
          <a:xfrm>
            <a:off x="6355080" y="3886200"/>
            <a:ext cx="5303520" cy="2029968"/>
          </a:xfrm>
          <a:prstGeom prst="roundRect">
            <a:avLst>
              <a:gd name="adj" fmla="val 4505"/>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21" name="Text 17"/>
          <p:cNvSpPr txBox="1"/>
          <p:nvPr/>
        </p:nvSpPr>
        <p:spPr>
          <a:xfrm>
            <a:off x="6492240" y="395935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08</a:t>
            </a:r>
            <a:endParaRPr lang="en-US" sz="3200" dirty="0"/>
          </a:p>
        </p:txBody>
      </p:sp>
      <p:sp>
        <p:nvSpPr>
          <p:cNvPr id="22" name="Text 18"/>
          <p:cNvSpPr txBox="1"/>
          <p:nvPr/>
        </p:nvSpPr>
        <p:spPr>
          <a:xfrm>
            <a:off x="7406640" y="4014216"/>
            <a:ext cx="411480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250" b="1" dirty="0">
                <a:solidFill>
                  <a:srgbClr val="111111"/>
                </a:solidFill>
                <a:latin typeface="Arial" pitchFamily="34" charset="0"/>
                <a:ea typeface="Arial" pitchFamily="34" charset="-122"/>
                <a:cs typeface="Arial" pitchFamily="34" charset="-120"/>
              </a:rPr>
              <a:t>PESANAN TIBA DI PELANGGAN</a:t>
            </a:r>
            <a:endParaRPr lang="en-US" sz="1250" dirty="0"/>
          </a:p>
        </p:txBody>
      </p:sp>
      <p:sp>
        <p:nvSpPr>
          <p:cNvPr id="23" name="Text 19"/>
          <p:cNvSpPr txBox="1"/>
          <p:nvPr/>
        </p:nvSpPr>
        <p:spPr>
          <a:xfrm>
            <a:off x="7498080" y="4599432"/>
            <a:ext cx="3977640" cy="1234440"/>
          </a:xfrm>
          <a:prstGeom prst="rect">
            <a:avLst/>
          </a:prstGeom>
          <a:noFill/>
          <a:ln/>
        </p:spPr>
        <p:txBody>
          <a:bodyPr wrap="square" lIns="0" tIns="0" rIns="0" bIns="0" rtlCol="0" anchor="t"/>
          <a:lstStyle/>
          <a:p>
            <a:pPr algn="l" indent="0" marL="0">
              <a:lnSpc>
                <a:spcPct val="105000"/>
              </a:lnSpc>
              <a:buNone/>
            </a:pPr>
            <a:r>
              <a:rPr lang="en-US" sz="1000" dirty="0">
                <a:solidFill>
                  <a:srgbClr val="4A4A4A"/>
                </a:solidFill>
                <a:latin typeface="Calibri" pitchFamily="34" charset="0"/>
                <a:ea typeface="Calibri" pitchFamily="34" charset="-122"/>
                <a:cs typeface="Calibri" pitchFamily="34" charset="-120"/>
              </a:rPr>
              <a:t>Dalam 1 atau 2 hari. Inilah ukuran yang dilihat pelanggan: speed dan dependability.</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11</a:t>
            </a:r>
            <a:endParaRPr lang="en-US" sz="900" dirty="0"/>
          </a:p>
        </p:txBody>
      </p:sp>
      <p:sp>
        <p:nvSpPr>
          <p:cNvPr id="6" name="Text 2"/>
          <p:cNvSpPr txBox="1"/>
          <p:nvPr/>
        </p:nvSpPr>
        <p:spPr>
          <a:xfrm>
            <a:off x="777240" y="731520"/>
            <a:ext cx="630936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DUA ANGKA YANG BERBEDA</a:t>
            </a:r>
            <a:endParaRPr lang="en-US" sz="2800" dirty="0"/>
          </a:p>
        </p:txBody>
      </p:sp>
      <p:sp>
        <p:nvSpPr>
          <p:cNvPr id="7" name="Text 3"/>
          <p:cNvSpPr txBox="1"/>
          <p:nvPr/>
        </p:nvSpPr>
        <p:spPr>
          <a:xfrm>
            <a:off x="777240" y="1371600"/>
            <a:ext cx="5394960" cy="914400"/>
          </a:xfrm>
          <a:prstGeom prst="rect">
            <a:avLst/>
          </a:prstGeom>
          <a:noFill/>
          <a:ln/>
        </p:spPr>
        <p:txBody>
          <a:bodyPr wrap="square" lIns="0" tIns="0" rIns="0" bIns="0" rtlCol="0" anchor="t"/>
          <a:lstStyle/>
          <a:p>
            <a:pPr algn="l" indent="0" marL="0">
              <a:lnSpc>
                <a:spcPct val="105000"/>
              </a:lnSpc>
              <a:buNone/>
            </a:pPr>
            <a:r>
              <a:rPr lang="en-US" sz="1150" dirty="0">
                <a:solidFill>
                  <a:srgbClr val="4A4A4A"/>
                </a:solidFill>
                <a:latin typeface="Calibri" pitchFamily="34" charset="0"/>
                <a:ea typeface="Calibri" pitchFamily="34" charset="-122"/>
                <a:cs typeface="Calibri" pitchFamily="34" charset="-120"/>
              </a:rPr>
              <a:t>Menerima, memproses, menempatkan stok, lalu mengambil dan mengemas satu pesanan secara akurat memerlukan investasi tenaga kerja kurang dari 3 menit; 70% pesanan adalah pesanan multiproduk; buku menyebutnya world-class performance.</a:t>
            </a:r>
            <a:endParaRPr lang="en-US" sz="1150" dirty="0"/>
          </a:p>
        </p:txBody>
      </p:sp>
      <p:sp>
        <p:nvSpPr>
          <p:cNvPr id="8" name="Text 4"/>
          <p:cNvSpPr txBox="1"/>
          <p:nvPr/>
        </p:nvSpPr>
        <p:spPr>
          <a:xfrm>
            <a:off x="777240" y="2331720"/>
            <a:ext cx="2651760" cy="640080"/>
          </a:xfrm>
          <a:prstGeom prst="rect">
            <a:avLst/>
          </a:prstGeom>
          <a:noFill/>
          <a:ln/>
        </p:spPr>
        <p:txBody>
          <a:bodyPr wrap="square" lIns="0" tIns="0" rIns="0" bIns="0" rtlCol="0" anchor="ctr"/>
          <a:lstStyle/>
          <a:p>
            <a:pPr indent="0" marL="0">
              <a:buNone/>
            </a:pPr>
            <a:r>
              <a:rPr lang="en-US" sz="3000" b="1" dirty="0">
                <a:solidFill>
                  <a:srgbClr val="FF9900"/>
                </a:solidFill>
                <a:latin typeface="Arial" pitchFamily="34" charset="0"/>
                <a:ea typeface="Arial" pitchFamily="34" charset="-122"/>
                <a:cs typeface="Arial" pitchFamily="34" charset="-120"/>
              </a:rPr>
              <a:t>&lt; 3 menit</a:t>
            </a:r>
            <a:endParaRPr lang="en-US" sz="3000" dirty="0"/>
          </a:p>
        </p:txBody>
      </p:sp>
      <p:sp>
        <p:nvSpPr>
          <p:cNvPr id="9" name="Text 5"/>
          <p:cNvSpPr txBox="1"/>
          <p:nvPr/>
        </p:nvSpPr>
        <p:spPr>
          <a:xfrm>
            <a:off x="777240" y="2971800"/>
            <a:ext cx="2468880" cy="310896"/>
          </a:xfrm>
          <a:prstGeom prst="rect">
            <a:avLst/>
          </a:prstGeom>
          <a:solidFill>
            <a:srgbClr val="FF9900"/>
          </a:solidFill>
          <a:ln/>
        </p:spPr>
        <p:txBody>
          <a:bodyPr wrap="square" lIns="508" tIns="1270" rIns="1270" bIns="508" rtlCol="0" anchor="ctr"/>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Ukuran input (biaya)</a:t>
            </a:r>
            <a:endParaRPr lang="en-US" sz="1100" dirty="0"/>
          </a:p>
        </p:txBody>
      </p:sp>
      <p:sp>
        <p:nvSpPr>
          <p:cNvPr id="10" name="Text 6"/>
          <p:cNvSpPr txBox="1"/>
          <p:nvPr/>
        </p:nvSpPr>
        <p:spPr>
          <a:xfrm>
            <a:off x="777240" y="3337560"/>
            <a:ext cx="2514600" cy="822960"/>
          </a:xfrm>
          <a:prstGeom prst="rect">
            <a:avLst/>
          </a:prstGeom>
          <a:noFill/>
          <a:ln/>
        </p:spPr>
        <p:txBody>
          <a:bodyPr wrap="square" lIns="0" tIns="0" rIns="0" bIns="0" rtlCol="0" anchor="t"/>
          <a:lstStyle/>
          <a:p>
            <a:pPr algn="l" indent="0" marL="0">
              <a:lnSpc>
                <a:spcPct val="105000"/>
              </a:lnSpc>
              <a:buNone/>
            </a:pPr>
            <a:r>
              <a:rPr lang="en-US" sz="1050" dirty="0">
                <a:solidFill>
                  <a:srgbClr val="4A4A4A"/>
                </a:solidFill>
                <a:latin typeface="Calibri" pitchFamily="34" charset="0"/>
                <a:ea typeface="Calibri" pitchFamily="34" charset="-122"/>
                <a:cs typeface="Calibri" pitchFamily="34" charset="-120"/>
              </a:rPr>
              <a:t>Jam kerja yang dipakai per pesanan, hasil dari efisiensi proses di dalam gudang.</a:t>
            </a:r>
            <a:endParaRPr lang="en-US" sz="1050" dirty="0"/>
          </a:p>
        </p:txBody>
      </p:sp>
      <p:sp>
        <p:nvSpPr>
          <p:cNvPr id="11" name="Text 7"/>
          <p:cNvSpPr txBox="1"/>
          <p:nvPr/>
        </p:nvSpPr>
        <p:spPr>
          <a:xfrm>
            <a:off x="3611880" y="2331720"/>
            <a:ext cx="2651760" cy="640080"/>
          </a:xfrm>
          <a:prstGeom prst="rect">
            <a:avLst/>
          </a:prstGeom>
          <a:noFill/>
          <a:ln/>
        </p:spPr>
        <p:txBody>
          <a:bodyPr wrap="square" lIns="0" tIns="0" rIns="0" bIns="0" rtlCol="0" anchor="ctr"/>
          <a:lstStyle/>
          <a:p>
            <a:pPr indent="0" marL="0">
              <a:buNone/>
            </a:pPr>
            <a:r>
              <a:rPr lang="en-US" sz="3000" b="1" dirty="0">
                <a:solidFill>
                  <a:srgbClr val="FF9900"/>
                </a:solidFill>
                <a:latin typeface="Arial" pitchFamily="34" charset="0"/>
                <a:ea typeface="Arial" pitchFamily="34" charset="-122"/>
                <a:cs typeface="Arial" pitchFamily="34" charset="-120"/>
              </a:rPr>
              <a:t>1–2 hari</a:t>
            </a:r>
            <a:endParaRPr lang="en-US" sz="3000" dirty="0"/>
          </a:p>
        </p:txBody>
      </p:sp>
      <p:sp>
        <p:nvSpPr>
          <p:cNvPr id="12" name="Text 8"/>
          <p:cNvSpPr txBox="1"/>
          <p:nvPr/>
        </p:nvSpPr>
        <p:spPr>
          <a:xfrm>
            <a:off x="3611880" y="2971800"/>
            <a:ext cx="2468880" cy="310896"/>
          </a:xfrm>
          <a:prstGeom prst="rect">
            <a:avLst/>
          </a:prstGeom>
          <a:solidFill>
            <a:srgbClr val="FF9900"/>
          </a:solidFill>
          <a:ln/>
        </p:spPr>
        <p:txBody>
          <a:bodyPr wrap="square" lIns="508" tIns="1270" rIns="1270" bIns="508" rtlCol="0" anchor="ctr"/>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Ukuran output (speed)</a:t>
            </a:r>
            <a:endParaRPr lang="en-US" sz="1100" dirty="0"/>
          </a:p>
        </p:txBody>
      </p:sp>
      <p:sp>
        <p:nvSpPr>
          <p:cNvPr id="13" name="Text 9"/>
          <p:cNvSpPr txBox="1"/>
          <p:nvPr/>
        </p:nvSpPr>
        <p:spPr>
          <a:xfrm>
            <a:off x="3611880" y="3337560"/>
            <a:ext cx="2514600" cy="822960"/>
          </a:xfrm>
          <a:prstGeom prst="rect">
            <a:avLst/>
          </a:prstGeom>
          <a:noFill/>
          <a:ln/>
        </p:spPr>
        <p:txBody>
          <a:bodyPr wrap="square" lIns="0" tIns="0" rIns="0" bIns="0" rtlCol="0" anchor="t"/>
          <a:lstStyle/>
          <a:p>
            <a:pPr algn="l" indent="0" marL="0">
              <a:lnSpc>
                <a:spcPct val="105000"/>
              </a:lnSpc>
              <a:buNone/>
            </a:pPr>
            <a:r>
              <a:rPr lang="en-US" sz="1050" dirty="0">
                <a:solidFill>
                  <a:srgbClr val="4A4A4A"/>
                </a:solidFill>
                <a:latin typeface="Calibri" pitchFamily="34" charset="0"/>
                <a:ea typeface="Calibri" pitchFamily="34" charset="-122"/>
                <a:cs typeface="Calibri" pitchFamily="34" charset="-120"/>
              </a:rPr>
              <a:t>Yang dirasakan pelanggan, hasil dari posisi stok yang dekat pelanggan, bukan dari proses gudang saja.</a:t>
            </a:r>
            <a:endParaRPr lang="en-US" sz="1050" dirty="0"/>
          </a:p>
        </p:txBody>
      </p:sp>
      <p:sp>
        <p:nvSpPr>
          <p:cNvPr id="14" name="Text 10"/>
          <p:cNvSpPr txBox="1"/>
          <p:nvPr/>
        </p:nvSpPr>
        <p:spPr>
          <a:xfrm>
            <a:off x="777240" y="4343400"/>
            <a:ext cx="5394960" cy="1097280"/>
          </a:xfrm>
          <a:prstGeom prst="rect">
            <a:avLst/>
          </a:prstGeom>
          <a:solidFill>
            <a:srgbClr val="FF9900"/>
          </a:solidFill>
          <a:ln/>
        </p:spPr>
        <p:txBody>
          <a:bodyPr wrap="square" lIns="508" tIns="1270" rIns="1270" bIns="508" rtlCol="0" anchor="ctr"/>
          <a:lstStyle/>
          <a:p>
            <a:pPr algn="l" indent="0" marL="0">
              <a:lnSpc>
                <a:spcPct val="105000"/>
              </a:lnSpc>
              <a:buNone/>
            </a:pPr>
            <a:r>
              <a:rPr lang="en-US" sz="1100" dirty="0">
                <a:solidFill>
                  <a:srgbClr val="111111"/>
                </a:solidFill>
                <a:latin typeface="Calibri" pitchFamily="34" charset="0"/>
                <a:ea typeface="Calibri" pitchFamily="34" charset="-122"/>
                <a:cs typeface="Calibri" pitchFamily="34" charset="-120"/>
              </a:rPr>
              <a:t>Dua angka ini jangan dicampur saat presentasi. Amazon unggul di keduanya, tetapi mekanismenya berbeda. Angka 70% pesanan multiproduk menunjukkan kecepatan itu dicapai pada pesanan yang komposisinya berbeda-beda, bukan pada pesanan seragam.</a:t>
            </a:r>
            <a:endParaRPr lang="en-US" sz="1100" dirty="0"/>
          </a:p>
        </p:txBody>
      </p:sp>
      <p:pic>
        <p:nvPicPr>
          <p:cNvPr id="15" name="Image 2" descr="/tmp/claude-0/-home-user-Dom-Manipulation/01edd7ad-16e1-5ac5-9e2e-840f37702b96/scratchpad/img/crop/packing.jpg">    </p:cNvPr>
          <p:cNvPicPr>
            <a:picLocks noChangeAspect="1"/>
          </p:cNvPicPr>
          <p:nvPr/>
        </p:nvPicPr>
        <p:blipFill>
          <a:blip r:embed="rId3"/>
          <a:stretch>
            <a:fillRect/>
          </a:stretch>
        </p:blipFill>
        <p:spPr>
          <a:xfrm>
            <a:off x="6492240" y="3403513"/>
            <a:ext cx="5242255" cy="299728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12</a:t>
            </a:r>
            <a:endParaRPr lang="en-US" sz="900" dirty="0"/>
          </a:p>
        </p:txBody>
      </p:sp>
      <p:sp>
        <p:nvSpPr>
          <p:cNvPr id="6" name="Text 2"/>
          <p:cNvSpPr txBox="1"/>
          <p:nvPr/>
        </p:nvSpPr>
        <p:spPr>
          <a:xfrm>
            <a:off x="777240" y="731520"/>
            <a:ext cx="630936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MEKANISME ROBOT KIVA</a:t>
            </a:r>
            <a:endParaRPr lang="en-US" sz="2800" dirty="0"/>
          </a:p>
        </p:txBody>
      </p:sp>
      <p:sp>
        <p:nvSpPr>
          <p:cNvPr id="7" name="Text 3"/>
          <p:cNvSpPr txBox="1"/>
          <p:nvPr/>
        </p:nvSpPr>
        <p:spPr>
          <a:xfrm>
            <a:off x="777240" y="1371600"/>
            <a:ext cx="5394960" cy="548640"/>
          </a:xfrm>
          <a:prstGeom prst="rect">
            <a:avLst/>
          </a:prstGeom>
          <a:noFill/>
          <a:ln/>
        </p:spPr>
        <p:txBody>
          <a:bodyPr wrap="square" lIns="0" tIns="0" rIns="0" bIns="0" rtlCol="0" anchor="t"/>
          <a:lstStyle/>
          <a:p>
            <a:pPr algn="l" indent="0" marL="0">
              <a:lnSpc>
                <a:spcPct val="105000"/>
              </a:lnSpc>
              <a:buNone/>
            </a:pPr>
            <a:r>
              <a:rPr lang="en-US" sz="1150" dirty="0">
                <a:solidFill>
                  <a:srgbClr val="4A4A4A"/>
                </a:solidFill>
                <a:latin typeface="Calibri" pitchFamily="34" charset="0"/>
                <a:ea typeface="Calibri" pitchFamily="34" charset="-122"/>
                <a:cs typeface="Calibri" pitchFamily="34" charset="-120"/>
              </a:rPr>
              <a:t>Langkah picking hanya menyebut hasilnya. Mekanismenya dijelaskan pada bab tata letak, dan dari sinilah angka kecepatan dan akurasi itu berasal.</a:t>
            </a:r>
            <a:endParaRPr lang="en-US" sz="1150" dirty="0"/>
          </a:p>
        </p:txBody>
      </p:sp>
      <p:sp>
        <p:nvSpPr>
          <p:cNvPr id="8" name="Text 4"/>
          <p:cNvSpPr txBox="1"/>
          <p:nvPr/>
        </p:nvSpPr>
        <p:spPr>
          <a:xfrm>
            <a:off x="777240" y="2011680"/>
            <a:ext cx="640080" cy="731520"/>
          </a:xfrm>
          <a:prstGeom prst="rect">
            <a:avLst/>
          </a:prstGeom>
          <a:noFill/>
          <a:ln/>
        </p:spPr>
        <p:txBody>
          <a:bodyPr wrap="square" lIns="0" tIns="0" rIns="0" bIns="0" rtlCol="0" anchor="ctr"/>
          <a:lstStyle/>
          <a:p>
            <a:pPr indent="0" marL="0">
              <a:buNone/>
            </a:pPr>
            <a:r>
              <a:rPr lang="en-US" sz="1800" b="1" dirty="0">
                <a:solidFill>
                  <a:srgbClr val="FF9900"/>
                </a:solidFill>
                <a:latin typeface="Arial" pitchFamily="34" charset="0"/>
                <a:ea typeface="Arial" pitchFamily="34" charset="-122"/>
                <a:cs typeface="Arial" pitchFamily="34" charset="-120"/>
              </a:rPr>
              <a:t>01</a:t>
            </a:r>
            <a:endParaRPr lang="en-US" sz="1800" dirty="0"/>
          </a:p>
        </p:txBody>
      </p:sp>
      <p:sp>
        <p:nvSpPr>
          <p:cNvPr id="9" name="Text 5"/>
          <p:cNvSpPr txBox="1"/>
          <p:nvPr/>
        </p:nvSpPr>
        <p:spPr>
          <a:xfrm>
            <a:off x="1463040" y="2011680"/>
            <a:ext cx="4709160" cy="365760"/>
          </a:xfrm>
          <a:prstGeom prst="rect">
            <a:avLst/>
          </a:prstGeom>
          <a:solidFill>
            <a:srgbClr val="FFE2B8"/>
          </a:solidFill>
          <a:ln/>
        </p:spPr>
        <p:txBody>
          <a:bodyPr wrap="square" lIns="508" tIns="1270" rIns="1270" bIns="508" rtlCol="0" anchor="ctr"/>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10.000+ robot Kiva</a:t>
            </a:r>
            <a:endParaRPr lang="en-US" sz="1100" dirty="0"/>
          </a:p>
        </p:txBody>
      </p:sp>
      <p:sp>
        <p:nvSpPr>
          <p:cNvPr id="10" name="Text 6"/>
          <p:cNvSpPr txBox="1"/>
          <p:nvPr/>
        </p:nvSpPr>
        <p:spPr>
          <a:xfrm>
            <a:off x="1463040" y="2392070"/>
            <a:ext cx="4709160" cy="365760"/>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Robot membawa rak berisi stok ke pekerja; buku menyamakannya dengan lini perakitan bergerak: barangnya yang bergerak, bukan orangnya.</a:t>
            </a:r>
            <a:endParaRPr lang="en-US" sz="950" dirty="0"/>
          </a:p>
        </p:txBody>
      </p:sp>
      <p:sp>
        <p:nvSpPr>
          <p:cNvPr id="11" name="Text 7"/>
          <p:cNvSpPr txBox="1"/>
          <p:nvPr/>
        </p:nvSpPr>
        <p:spPr>
          <a:xfrm>
            <a:off x="777240" y="2852928"/>
            <a:ext cx="640080" cy="731520"/>
          </a:xfrm>
          <a:prstGeom prst="rect">
            <a:avLst/>
          </a:prstGeom>
          <a:noFill/>
          <a:ln/>
        </p:spPr>
        <p:txBody>
          <a:bodyPr wrap="square" lIns="0" tIns="0" rIns="0" bIns="0" rtlCol="0" anchor="ctr"/>
          <a:lstStyle/>
          <a:p>
            <a:pPr indent="0" marL="0">
              <a:buNone/>
            </a:pPr>
            <a:r>
              <a:rPr lang="en-US" sz="1800" b="1" dirty="0">
                <a:solidFill>
                  <a:srgbClr val="FF9900"/>
                </a:solidFill>
                <a:latin typeface="Arial" pitchFamily="34" charset="0"/>
                <a:ea typeface="Arial" pitchFamily="34" charset="-122"/>
                <a:cs typeface="Arial" pitchFamily="34" charset="-120"/>
              </a:rPr>
              <a:t>02</a:t>
            </a:r>
            <a:endParaRPr lang="en-US" sz="1800" dirty="0"/>
          </a:p>
        </p:txBody>
      </p:sp>
      <p:sp>
        <p:nvSpPr>
          <p:cNvPr id="12" name="Text 8"/>
          <p:cNvSpPr txBox="1"/>
          <p:nvPr/>
        </p:nvSpPr>
        <p:spPr>
          <a:xfrm>
            <a:off x="1463040" y="2852928"/>
            <a:ext cx="4709160" cy="365760"/>
          </a:xfrm>
          <a:prstGeom prst="rect">
            <a:avLst/>
          </a:prstGeom>
          <a:solidFill>
            <a:srgbClr val="FFE2B8"/>
          </a:solidFill>
          <a:ln/>
        </p:spPr>
        <p:txBody>
          <a:bodyPr wrap="square" lIns="508" tIns="1270" rIns="1270" bIns="508" rtlCol="0" anchor="ctr"/>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20 mil jalan kaki per hari dihemat</a:t>
            </a:r>
            <a:endParaRPr lang="en-US" sz="1100" dirty="0"/>
          </a:p>
        </p:txBody>
      </p:sp>
      <p:sp>
        <p:nvSpPr>
          <p:cNvPr id="13" name="Text 9"/>
          <p:cNvSpPr txBox="1"/>
          <p:nvPr/>
        </p:nvSpPr>
        <p:spPr>
          <a:xfrm>
            <a:off x="1463040" y="3233318"/>
            <a:ext cx="4709160" cy="365760"/>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Di gudang Tracy, California (1,2 juta kaki persegi), picker berdiri di satu tempat dan robot membawa rak kepadanya.</a:t>
            </a:r>
            <a:endParaRPr lang="en-US" sz="950" dirty="0"/>
          </a:p>
        </p:txBody>
      </p:sp>
      <p:sp>
        <p:nvSpPr>
          <p:cNvPr id="14" name="Text 10"/>
          <p:cNvSpPr txBox="1"/>
          <p:nvPr/>
        </p:nvSpPr>
        <p:spPr>
          <a:xfrm>
            <a:off x="777240" y="3694176"/>
            <a:ext cx="640080" cy="731520"/>
          </a:xfrm>
          <a:prstGeom prst="rect">
            <a:avLst/>
          </a:prstGeom>
          <a:noFill/>
          <a:ln/>
        </p:spPr>
        <p:txBody>
          <a:bodyPr wrap="square" lIns="0" tIns="0" rIns="0" bIns="0" rtlCol="0" anchor="ctr"/>
          <a:lstStyle/>
          <a:p>
            <a:pPr indent="0" marL="0">
              <a:buNone/>
            </a:pPr>
            <a:r>
              <a:rPr lang="en-US" sz="1800" b="1" dirty="0">
                <a:solidFill>
                  <a:srgbClr val="FF9900"/>
                </a:solidFill>
                <a:latin typeface="Arial" pitchFamily="34" charset="0"/>
                <a:ea typeface="Arial" pitchFamily="34" charset="-122"/>
                <a:cs typeface="Arial" pitchFamily="34" charset="-120"/>
              </a:rPr>
              <a:t>03</a:t>
            </a:r>
            <a:endParaRPr lang="en-US" sz="1800" dirty="0"/>
          </a:p>
        </p:txBody>
      </p:sp>
      <p:sp>
        <p:nvSpPr>
          <p:cNvPr id="15" name="Text 11"/>
          <p:cNvSpPr txBox="1"/>
          <p:nvPr/>
        </p:nvSpPr>
        <p:spPr>
          <a:xfrm>
            <a:off x="1463040" y="3694176"/>
            <a:ext cx="4709160" cy="365760"/>
          </a:xfrm>
          <a:prstGeom prst="rect">
            <a:avLst/>
          </a:prstGeom>
          <a:solidFill>
            <a:srgbClr val="FFE2B8"/>
          </a:solidFill>
          <a:ln/>
        </p:spPr>
        <p:txBody>
          <a:bodyPr wrap="square" lIns="508" tIns="1270" rIns="1270" bIns="508" rtlCol="0" anchor="ctr"/>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100 menjadi 300 item per jam</a:t>
            </a:r>
            <a:endParaRPr lang="en-US" sz="1100" dirty="0"/>
          </a:p>
        </p:txBody>
      </p:sp>
      <p:sp>
        <p:nvSpPr>
          <p:cNvPr id="16" name="Text 12"/>
          <p:cNvSpPr txBox="1"/>
          <p:nvPr/>
        </p:nvSpPr>
        <p:spPr>
          <a:xfrm>
            <a:off x="1463040" y="4074566"/>
            <a:ext cx="4709160" cy="365760"/>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Standar pick and scan per pekerja naik tiga kali lipat.</a:t>
            </a:r>
            <a:endParaRPr lang="en-US" sz="950" dirty="0"/>
          </a:p>
        </p:txBody>
      </p:sp>
      <p:sp>
        <p:nvSpPr>
          <p:cNvPr id="17" name="Text 13"/>
          <p:cNvSpPr txBox="1"/>
          <p:nvPr/>
        </p:nvSpPr>
        <p:spPr>
          <a:xfrm>
            <a:off x="777240" y="4535424"/>
            <a:ext cx="640080" cy="731520"/>
          </a:xfrm>
          <a:prstGeom prst="rect">
            <a:avLst/>
          </a:prstGeom>
          <a:noFill/>
          <a:ln/>
        </p:spPr>
        <p:txBody>
          <a:bodyPr wrap="square" lIns="0" tIns="0" rIns="0" bIns="0" rtlCol="0" anchor="ctr"/>
          <a:lstStyle/>
          <a:p>
            <a:pPr indent="0" marL="0">
              <a:buNone/>
            </a:pPr>
            <a:r>
              <a:rPr lang="en-US" sz="1800" b="1" dirty="0">
                <a:solidFill>
                  <a:srgbClr val="FF9900"/>
                </a:solidFill>
                <a:latin typeface="Arial" pitchFamily="34" charset="0"/>
                <a:ea typeface="Arial" pitchFamily="34" charset="-122"/>
                <a:cs typeface="Arial" pitchFamily="34" charset="-120"/>
              </a:rPr>
              <a:t>04</a:t>
            </a:r>
            <a:endParaRPr lang="en-US" sz="1800" dirty="0"/>
          </a:p>
        </p:txBody>
      </p:sp>
      <p:sp>
        <p:nvSpPr>
          <p:cNvPr id="18" name="Text 14"/>
          <p:cNvSpPr txBox="1"/>
          <p:nvPr/>
        </p:nvSpPr>
        <p:spPr>
          <a:xfrm>
            <a:off x="1463040" y="4535424"/>
            <a:ext cx="4709160" cy="365760"/>
          </a:xfrm>
          <a:prstGeom prst="rect">
            <a:avLst/>
          </a:prstGeom>
          <a:solidFill>
            <a:srgbClr val="FFE2B8"/>
          </a:solidFill>
          <a:ln/>
        </p:spPr>
        <p:txBody>
          <a:bodyPr wrap="square" lIns="508" tIns="1270" rIns="1270" bIns="508" rtlCol="0" anchor="ctr"/>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20–40% biaya per pesanan dipangkas</a:t>
            </a:r>
            <a:endParaRPr lang="en-US" sz="1100" dirty="0"/>
          </a:p>
        </p:txBody>
      </p:sp>
      <p:sp>
        <p:nvSpPr>
          <p:cNvPr id="19" name="Text 15"/>
          <p:cNvSpPr txBox="1"/>
          <p:nvPr/>
        </p:nvSpPr>
        <p:spPr>
          <a:xfrm>
            <a:off x="1463040" y="4915814"/>
            <a:ext cx="4709160" cy="365760"/>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Dari biaya US$3,50–3,75 untuk sort, pick, pack; setara US$400–900 juta per tahun.</a:t>
            </a:r>
            <a:endParaRPr lang="en-US" sz="950" dirty="0"/>
          </a:p>
        </p:txBody>
      </p:sp>
      <p:sp>
        <p:nvSpPr>
          <p:cNvPr id="20" name="Text 16"/>
          <p:cNvSpPr txBox="1"/>
          <p:nvPr/>
        </p:nvSpPr>
        <p:spPr>
          <a:xfrm>
            <a:off x="777240" y="5440680"/>
            <a:ext cx="5394960" cy="868680"/>
          </a:xfrm>
          <a:prstGeom prst="rect">
            <a:avLst/>
          </a:prstGeom>
          <a:solidFill>
            <a:srgbClr val="FF9900"/>
          </a:solidFill>
          <a:ln/>
        </p:spPr>
        <p:txBody>
          <a:bodyPr wrap="square" lIns="508" tIns="1270" rIns="1270" bIns="508"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Dari sisi persediaan, robot mengubah dua hal: lokasi fisik stok tidak lagi harus tetap (slotting diatur perangkat lunak), dan setiap pengambilan langsung dipindai sehingga catatan stok diperbarui bersamaan dengan pengambilan fisik.</a:t>
            </a:r>
            <a:endParaRPr lang="en-US" sz="1050" dirty="0"/>
          </a:p>
        </p:txBody>
      </p:sp>
      <p:pic>
        <p:nvPicPr>
          <p:cNvPr id="21" name="Image 2" descr="/tmp/claude-0/-home-user-Dom-Manipulation/01edd7ad-16e1-5ac5-9e2e-840f37702b96/scratchpad/img/crop/robots.jpg">    </p:cNvPr>
          <p:cNvPicPr>
            <a:picLocks noChangeAspect="1"/>
          </p:cNvPicPr>
          <p:nvPr/>
        </p:nvPicPr>
        <p:blipFill>
          <a:blip r:embed="rId3"/>
          <a:stretch>
            <a:fillRect/>
          </a:stretch>
        </p:blipFill>
        <p:spPr>
          <a:xfrm>
            <a:off x="6492240" y="3336945"/>
            <a:ext cx="5242255" cy="306385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13</a:t>
            </a:r>
            <a:endParaRPr lang="en-US" sz="900" dirty="0"/>
          </a:p>
        </p:txBody>
      </p:sp>
      <p:sp>
        <p:nvSpPr>
          <p:cNvPr id="6" name="Text 2"/>
          <p:cNvSpPr txBox="1"/>
          <p:nvPr/>
        </p:nvSpPr>
        <p:spPr>
          <a:xfrm>
            <a:off x="777240" y="731520"/>
            <a:ext cx="676656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PRODUKTIVITAS YANG ADIL</a:t>
            </a:r>
            <a:endParaRPr lang="en-US" sz="2800" dirty="0"/>
          </a:p>
        </p:txBody>
      </p:sp>
      <p:sp>
        <p:nvSpPr>
          <p:cNvPr id="7" name="Text 3"/>
          <p:cNvSpPr txBox="1"/>
          <p:nvPr/>
        </p:nvSpPr>
        <p:spPr>
          <a:xfrm>
            <a:off x="777240" y="1371600"/>
            <a:ext cx="6492240" cy="1188720"/>
          </a:xfrm>
          <a:prstGeom prst="rect">
            <a:avLst/>
          </a:prstGeom>
          <a:noFill/>
          <a:ln/>
        </p:spPr>
        <p:txBody>
          <a:bodyPr wrap="square" lIns="0" tIns="0" rIns="0" bIns="0" rtlCol="0" anchor="t"/>
          <a:lstStyle/>
          <a:p>
            <a:pPr algn="l" indent="0" marL="0">
              <a:lnSpc>
                <a:spcPct val="105000"/>
              </a:lnSpc>
              <a:buNone/>
            </a:pPr>
            <a:r>
              <a:rPr lang="en-US" sz="1150" dirty="0">
                <a:solidFill>
                  <a:srgbClr val="4A4A4A"/>
                </a:solidFill>
                <a:latin typeface="Calibri" pitchFamily="34" charset="0"/>
                <a:ea typeface="Calibri" pitchFamily="34" charset="-122"/>
                <a:cs typeface="Calibri" pitchFamily="34" charset="-120"/>
              </a:rPr>
              <a:t>Angka 100 menjadi 300 item per jam mudah dibaca sebagai kenaikan produktivitas 200%. Itu single-factor productivity, hanya menghitung tenaga kerja. Ukurannya not fair, karena kenaikan itu dicapai dengan menambah resource lain (robot) yang biayanya tidak ikut dihitung. Yang adil adalah multi-factor productivity: semua resource diuangkan lalu dijumlahkan.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2651760"/>
          <a:ext cx="6492240" cy="914400"/>
        </p:xfrm>
        <a:graphic>
          <a:graphicData uri="http://schemas.openxmlformats.org/drawingml/2006/table">
            <a:tbl>
              <a:tblPr/>
              <a:tblGrid>
                <a:gridCol w="2011680"/>
                <a:gridCol w="2103120"/>
                <a:gridCol w="2377440"/>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Ukuran</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Angka dari buku</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Cara membacanya</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Labor productivity (single-factor)</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100 menjadi 300 item/jam per pekerja</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Naik 200%. Benar, tetapi belum memperhitungkan investasi robot</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Biaya per pesanan (multi-factor, termasuk robot)</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Turun 20–40% dari US$3,50–3,75 per pesanan</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Penghematan bersih sekitar US$0,70–1,50 per pesanan. Jauh di bawah 200%, tetapi tetap positif</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Dampak tahunan</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US$400–900 juta per tahun</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Angka kecil per pesanan menjadi besar karena volume</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9" name="Text 4"/>
          <p:cNvSpPr txBox="1"/>
          <p:nvPr/>
        </p:nvSpPr>
        <p:spPr>
          <a:xfrm>
            <a:off x="777240" y="5166360"/>
            <a:ext cx="6492240" cy="868680"/>
          </a:xfrm>
          <a:prstGeom prst="rect">
            <a:avLst/>
          </a:prstGeom>
          <a:solidFill>
            <a:srgbClr val="FF9900"/>
          </a:solidFill>
          <a:ln/>
        </p:spPr>
        <p:txBody>
          <a:bodyPr wrap="square" lIns="508" tIns="1270" rIns="1270" bIns="508" rtlCol="0" anchor="ctr"/>
          <a:lstStyle/>
          <a:p>
            <a:pPr algn="l" indent="0" marL="0">
              <a:lnSpc>
                <a:spcPct val="105000"/>
              </a:lnSpc>
              <a:buNone/>
            </a:pPr>
            <a:r>
              <a:rPr lang="en-US" sz="1100" dirty="0">
                <a:solidFill>
                  <a:srgbClr val="111111"/>
                </a:solidFill>
                <a:latin typeface="Calibri" pitchFamily="34" charset="0"/>
                <a:ea typeface="Calibri" pitchFamily="34" charset="-122"/>
                <a:cs typeface="Calibri" pitchFamily="34" charset="-120"/>
              </a:rPr>
              <a:t>Investasi robot terbukti menaikkan produktivitas, tetapi klaimnya harus dikoreksi dengan ukuran multi-faktor. Yang dipresentasikan sebaiknya angka biaya per pesanan, bukan angka 200%.</a:t>
            </a:r>
            <a:endParaRPr lang="en-US" sz="1100" dirty="0"/>
          </a:p>
        </p:txBody>
      </p:sp>
      <p:pic>
        <p:nvPicPr>
          <p:cNvPr id="10" name="Image 2" descr="/tmp/claude-0/-home-user-Dom-Manipulation/01edd7ad-16e1-5ac5-9e2e-840f37702b96/scratchpad/img/crop/scanner.jpg">    </p:cNvPr>
          <p:cNvPicPr>
            <a:picLocks noChangeAspect="1"/>
          </p:cNvPicPr>
          <p:nvPr/>
        </p:nvPicPr>
        <p:blipFill>
          <a:blip r:embed="rId3"/>
          <a:stretch>
            <a:fillRect/>
          </a:stretch>
        </p:blipFill>
        <p:spPr>
          <a:xfrm>
            <a:off x="9087856" y="3108960"/>
            <a:ext cx="2646639" cy="32918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14</a:t>
            </a:r>
            <a:endParaRPr lang="en-US" sz="900" dirty="0"/>
          </a:p>
        </p:txBody>
      </p:sp>
      <p:sp>
        <p:nvSpPr>
          <p:cNvPr id="6" name="Text 2"/>
          <p:cNvSpPr txBox="1"/>
          <p:nvPr/>
        </p:nvSpPr>
        <p:spPr>
          <a:xfrm>
            <a:off x="777240" y="731520"/>
            <a:ext cx="539496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STOK BESAR, TIDAK EFISIEN?</a:t>
            </a:r>
            <a:endParaRPr lang="en-US" sz="2800" dirty="0"/>
          </a:p>
        </p:txBody>
      </p:sp>
      <p:sp>
        <p:nvSpPr>
          <p:cNvPr id="7" name="Text 3"/>
          <p:cNvSpPr txBox="1"/>
          <p:nvPr/>
        </p:nvSpPr>
        <p:spPr>
          <a:xfrm>
            <a:off x="777240" y="1371600"/>
            <a:ext cx="5394960" cy="914400"/>
          </a:xfrm>
          <a:prstGeom prst="rect">
            <a:avLst/>
          </a:prstGeom>
          <a:noFill/>
          <a:ln/>
        </p:spPr>
        <p:txBody>
          <a:bodyPr wrap="square" lIns="0" tIns="0" rIns="0" bIns="0" rtlCol="0" anchor="t"/>
          <a:lstStyle/>
          <a:p>
            <a:pPr algn="l" indent="0" marL="0">
              <a:lnSpc>
                <a:spcPct val="105000"/>
              </a:lnSpc>
              <a:buNone/>
            </a:pPr>
            <a:r>
              <a:rPr lang="en-US" sz="1150" dirty="0">
                <a:solidFill>
                  <a:srgbClr val="4A4A4A"/>
                </a:solidFill>
                <a:latin typeface="Calibri" pitchFamily="34" charset="0"/>
                <a:ea typeface="Calibri" pitchFamily="34" charset="-122"/>
                <a:cs typeface="Calibri" pitchFamily="34" charset="-120"/>
              </a:rPr>
              <a:t>Buku merumuskan tujuan inventory management sebagai keseimbangan antara investasi persediaan dan layanan pelanggan; persediaan bisa mencapai 50% dari total modal. Amazon jelas di sisi investasi besar: jutaan item di lebih dari 150 gudang.</a:t>
            </a:r>
            <a:endParaRPr lang="en-US" sz="1150" dirty="0"/>
          </a:p>
        </p:txBody>
      </p:sp>
      <p:sp>
        <p:nvSpPr>
          <p:cNvPr id="8" name="Text 4"/>
          <p:cNvSpPr txBox="1"/>
          <p:nvPr/>
        </p:nvSpPr>
        <p:spPr>
          <a:xfrm>
            <a:off x="777240" y="2377440"/>
            <a:ext cx="5394960" cy="384048"/>
          </a:xfrm>
          <a:prstGeom prst="rect">
            <a:avLst/>
          </a:prstGeom>
          <a:solidFill>
            <a:srgbClr val="FF9900"/>
          </a:solidFill>
          <a:ln/>
        </p:spPr>
        <p:txBody>
          <a:bodyPr wrap="square" lIns="508" tIns="1270" rIns="1270" bIns="508" rtlCol="0" anchor="ctr"/>
          <a:lstStyle/>
          <a:p>
            <a:pPr algn="l" indent="0" marL="0">
              <a:lnSpc>
                <a:spcPct val="105000"/>
              </a:lnSpc>
              <a:buNone/>
            </a:pPr>
            <a:r>
              <a:rPr lang="en-US" sz="1250" b="1" dirty="0">
                <a:solidFill>
                  <a:srgbClr val="111111"/>
                </a:solidFill>
                <a:latin typeface="Calibri" pitchFamily="34" charset="0"/>
                <a:ea typeface="Calibri" pitchFamily="34" charset="-122"/>
                <a:cs typeface="Calibri" pitchFamily="34" charset="-120"/>
              </a:rPr>
              <a:t>Jawabannya harus dikembalikan ke objective.</a:t>
            </a:r>
            <a:endParaRPr lang="en-US" sz="1250" dirty="0"/>
          </a:p>
        </p:txBody>
      </p:sp>
      <p:sp>
        <p:nvSpPr>
          <p:cNvPr id="9" name="Text 5"/>
          <p:cNvSpPr txBox="1"/>
          <p:nvPr/>
        </p:nvSpPr>
        <p:spPr>
          <a:xfrm>
            <a:off x="777240" y="2880360"/>
            <a:ext cx="5394960" cy="2194560"/>
          </a:xfrm>
          <a:prstGeom prst="rect">
            <a:avLst/>
          </a:prstGeom>
          <a:noFill/>
          <a:ln/>
        </p:spPr>
        <p:txBody>
          <a:bodyPr wrap="square" lIns="0" tIns="0" rIns="0" bIns="0" rtlCol="0" anchor="t"/>
          <a:lstStyle/>
          <a:p>
            <a:pPr algn="l" indent="0" marL="0">
              <a:lnSpc>
                <a:spcPct val="105000"/>
              </a:lnSpc>
              <a:buNone/>
            </a:pPr>
            <a:r>
              <a:rPr lang="en-US" sz="1100" dirty="0">
                <a:solidFill>
                  <a:srgbClr val="4A4A4A"/>
                </a:solidFill>
                <a:latin typeface="Calibri" pitchFamily="34" charset="0"/>
                <a:ea typeface="Calibri" pitchFamily="34" charset="-122"/>
                <a:cs typeface="Calibri" pitchFamily="34" charset="-120"/>
              </a:rPr>
              <a:t>Amazon tidak meminimalkan stok. Amazon meminimalkan total biaya pada tingkat layanan yang sudah dijanjikan (tercepat, bebas kesalahan). Pada tingkat itu, kekosongan stok berarti penjualan hilang dan janji fastest delivery rusak: dampaknya signifikan, sehingga stok besar konsisten dengan tujuannya, bukan pemborosan.</a:t>
            </a:r>
            <a:endParaRPr lang="en-US" sz="1100" dirty="0"/>
          </a:p>
          <a:p>
            <a:pPr algn="l" indent="0" marL="0">
              <a:lnSpc>
                <a:spcPct val="105000"/>
              </a:lnSpc>
              <a:buNone/>
            </a:pPr>
            <a:endParaRPr lang="en-US" sz="1100" dirty="0"/>
          </a:p>
          <a:p>
            <a:pPr algn="l" indent="0" marL="0">
              <a:lnSpc>
                <a:spcPct val="105000"/>
              </a:lnSpc>
              <a:buNone/>
            </a:pPr>
            <a:r>
              <a:rPr lang="en-US" sz="1100" dirty="0">
                <a:solidFill>
                  <a:srgbClr val="4A4A4A"/>
                </a:solidFill>
                <a:latin typeface="Calibri" pitchFamily="34" charset="0"/>
                <a:ea typeface="Calibri" pitchFamily="34" charset="-122"/>
                <a:cs typeface="Calibri" pitchFamily="34" charset="-120"/>
              </a:rPr>
              <a:t>Yang diminimalkan Amazon adalah dua komponen lain: tenaga kerja per pesanan (kurang dari 3 menit) dan kesalahan (mendekati nol).</a:t>
            </a:r>
            <a:endParaRPr lang="en-US" sz="1100" dirty="0"/>
          </a:p>
        </p:txBody>
      </p:sp>
      <p:sp>
        <p:nvSpPr>
          <p:cNvPr id="10" name="Text 6"/>
          <p:cNvSpPr txBox="1"/>
          <p:nvPr/>
        </p:nvSpPr>
        <p:spPr>
          <a:xfrm>
            <a:off x="777240" y="5212080"/>
            <a:ext cx="5394960" cy="384048"/>
          </a:xfrm>
          <a:prstGeom prst="rect">
            <a:avLst/>
          </a:prstGeom>
          <a:solidFill>
            <a:srgbClr val="FF9900"/>
          </a:solidFill>
          <a:ln/>
        </p:spPr>
        <p:txBody>
          <a:bodyPr wrap="square" lIns="508" tIns="1270" rIns="1270" bIns="508" rtlCol="0" anchor="ctr"/>
          <a:lstStyle/>
          <a:p>
            <a:pPr algn="l" indent="0" marL="0">
              <a:lnSpc>
                <a:spcPct val="105000"/>
              </a:lnSpc>
              <a:buNone/>
            </a:pPr>
            <a:r>
              <a:rPr lang="en-US" sz="1250" b="1" dirty="0">
                <a:solidFill>
                  <a:srgbClr val="111111"/>
                </a:solidFill>
                <a:latin typeface="Calibri" pitchFamily="34" charset="0"/>
                <a:ea typeface="Calibri" pitchFamily="34" charset="-122"/>
                <a:cs typeface="Calibri" pitchFamily="34" charset="-120"/>
              </a:rPr>
              <a:t>Bukan stok sedikit, tetapi stok besar yang dikelola presisi.</a:t>
            </a:r>
            <a:endParaRPr lang="en-US" sz="1250" dirty="0"/>
          </a:p>
        </p:txBody>
      </p:sp>
      <p:pic>
        <p:nvPicPr>
          <p:cNvPr id="11" name="Image 2" descr="/tmp/claude-0/-home-user-Dom-Manipulation/01edd7ad-16e1-5ac5-9e2e-840f37702b96/scratchpad/img/crop/shelves.jpg">    </p:cNvPr>
          <p:cNvPicPr>
            <a:picLocks noChangeAspect="1"/>
          </p:cNvPicPr>
          <p:nvPr/>
        </p:nvPicPr>
        <p:blipFill>
          <a:blip r:embed="rId3"/>
          <a:stretch>
            <a:fillRect/>
          </a:stretch>
        </p:blipFill>
        <p:spPr>
          <a:xfrm>
            <a:off x="6492240" y="3349429"/>
            <a:ext cx="5242255" cy="305137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15</a:t>
            </a:r>
            <a:endParaRPr lang="en-US" sz="900" dirty="0"/>
          </a:p>
        </p:txBody>
      </p:sp>
      <p:sp>
        <p:nvSpPr>
          <p:cNvPr id="6" name="Text 2"/>
          <p:cNvSpPr txBox="1"/>
          <p:nvPr/>
        </p:nvSpPr>
        <p:spPr>
          <a:xfrm>
            <a:off x="777240" y="731520"/>
            <a:ext cx="768096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LIMA TUJUAN KINERJA OPERASI</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6675120" cy="914400"/>
        </p:xfrm>
        <a:graphic>
          <a:graphicData uri="http://schemas.openxmlformats.org/drawingml/2006/table">
            <a:tbl>
              <a:tblPr/>
              <a:tblGrid>
                <a:gridCol w="1371600"/>
                <a:gridCol w="2560320"/>
                <a:gridCol w="2743200"/>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Tujuan kinerja</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Wujud di Amazon</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Mekanisme yang menghasilkannya</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Speed</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Tiba 1–2 hari; tenaga kerja &lt; 3 menit per pesanan</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Alokasi ke DC yang punya stok; conveyor konstan; picking diurutkan; robot membawa rak</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Quality (bebas kesalahan)</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Kesalahan picking mendekati nol; bar code dipindai 15 kali</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Verifikasi di setiap perpindahan; penimbangan sebelum keluar</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Dependability</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Janji 1–2 hari terpenuhi; tidak perlu kontak lanjutan</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Ketersediaan stok dan proses terstandar. As promised, bukan sekadar cepat</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Flexibility</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70% pesanan multiproduk dari 200 juta item dilayani satu sistem</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Batch picking ke crate bersama, lalu konsolidasi per pesanan di chute</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Cost</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Harga terendah; 60% kiriman lewat USPS; biaya sort-pick-pack turun 20–40%</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Volume menyerap biaya tetap otomasi; moda kirim murah untuk mayoritas pesanan</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777240" y="5166360"/>
            <a:ext cx="6675120" cy="685800"/>
          </a:xfrm>
          <a:prstGeom prst="rect">
            <a:avLst/>
          </a:prstGeom>
          <a:solidFill>
            <a:srgbClr val="FF9900"/>
          </a:solidFill>
          <a:ln/>
        </p:spPr>
        <p:txBody>
          <a:bodyPr wrap="square" lIns="508" tIns="1270" rIns="1270" bIns="508" rtlCol="0" anchor="ctr"/>
          <a:lstStyle/>
          <a:p>
            <a:pPr algn="l" indent="0" marL="0">
              <a:lnSpc>
                <a:spcPct val="105000"/>
              </a:lnSpc>
              <a:buNone/>
            </a:pPr>
            <a:r>
              <a:rPr lang="en-US" sz="1100" dirty="0">
                <a:solidFill>
                  <a:srgbClr val="111111"/>
                </a:solidFill>
                <a:latin typeface="Calibri" pitchFamily="34" charset="0"/>
                <a:ea typeface="Calibri" pitchFamily="34" charset="-122"/>
                <a:cs typeface="Calibri" pitchFamily="34" charset="-120"/>
              </a:rPr>
              <a:t>Kelima tujuan kinerja dipenuhi oleh satu sistem yang sama: stok yang akurat lokasinya, proses yang pendek, dan kontrol berlapis.</a:t>
            </a:r>
            <a:endParaRPr lang="en-US" sz="1100" dirty="0"/>
          </a:p>
        </p:txBody>
      </p:sp>
      <p:pic>
        <p:nvPicPr>
          <p:cNvPr id="9" name="Image 2" descr="/tmp/claude-0/-home-user-Dom-Manipulation/01edd7ad-16e1-5ac5-9e2e-840f37702b96/scratchpad/img/crop/dock.jpg">    </p:cNvPr>
          <p:cNvPicPr>
            <a:picLocks noChangeAspect="1"/>
          </p:cNvPicPr>
          <p:nvPr/>
        </p:nvPicPr>
        <p:blipFill>
          <a:blip r:embed="rId3"/>
          <a:stretch>
            <a:fillRect/>
          </a:stretch>
        </p:blipFill>
        <p:spPr>
          <a:xfrm>
            <a:off x="7711135" y="4049333"/>
            <a:ext cx="4023360" cy="235146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16</a:t>
            </a:r>
            <a:endParaRPr lang="en-US" sz="900" dirty="0"/>
          </a:p>
        </p:txBody>
      </p:sp>
      <p:sp>
        <p:nvSpPr>
          <p:cNvPr id="6" name="Text 2"/>
          <p:cNvSpPr txBox="1"/>
          <p:nvPr/>
        </p:nvSpPr>
        <p:spPr>
          <a:xfrm>
            <a:off x="777240" y="731520"/>
            <a:ext cx="768096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TIGA TRADE-OFF UTAMA</a:t>
            </a:r>
            <a:endParaRPr lang="en-US" sz="2800" dirty="0"/>
          </a:p>
        </p:txBody>
      </p:sp>
      <p:sp>
        <p:nvSpPr>
          <p:cNvPr id="7" name="Text 3"/>
          <p:cNvSpPr txBox="1"/>
          <p:nvPr/>
        </p:nvSpPr>
        <p:spPr>
          <a:xfrm>
            <a:off x="777240" y="1463040"/>
            <a:ext cx="640080" cy="45720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01</a:t>
            </a:r>
            <a:endParaRPr lang="en-US" sz="2000" dirty="0"/>
          </a:p>
        </p:txBody>
      </p:sp>
      <p:sp>
        <p:nvSpPr>
          <p:cNvPr id="8" name="Text 4"/>
          <p:cNvSpPr txBox="1"/>
          <p:nvPr/>
        </p:nvSpPr>
        <p:spPr>
          <a:xfrm>
            <a:off x="1463040" y="1463040"/>
            <a:ext cx="6858000" cy="384048"/>
          </a:xfrm>
          <a:prstGeom prst="rect">
            <a:avLst/>
          </a:prstGeom>
          <a:solidFill>
            <a:srgbClr val="FFE2B8"/>
          </a:solidFill>
          <a:ln/>
        </p:spPr>
        <p:txBody>
          <a:bodyPr wrap="square" lIns="508" tIns="1270" rIns="1270" bIns="508" rtlCol="0" anchor="ctr"/>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Holding cost vs service level</a:t>
            </a:r>
            <a:endParaRPr lang="en-US" sz="1150" dirty="0"/>
          </a:p>
        </p:txBody>
      </p:sp>
      <p:sp>
        <p:nvSpPr>
          <p:cNvPr id="9" name="Text 5"/>
          <p:cNvSpPr txBox="1"/>
          <p:nvPr/>
        </p:nvSpPr>
        <p:spPr>
          <a:xfrm>
            <a:off x="1463040" y="1920240"/>
            <a:ext cx="6858000" cy="548640"/>
          </a:xfrm>
          <a:prstGeom prst="rect">
            <a:avLst/>
          </a:prstGeom>
          <a:noFill/>
          <a:ln/>
        </p:spPr>
        <p:txBody>
          <a:bodyPr wrap="square" lIns="0" tIns="0" rIns="0" bIns="0" rtlCol="0" anchor="t"/>
          <a:lstStyle/>
          <a:p>
            <a:pPr algn="l" indent="0" marL="0">
              <a:lnSpc>
                <a:spcPct val="105000"/>
              </a:lnSpc>
              <a:buNone/>
            </a:pPr>
            <a:r>
              <a:rPr lang="en-US" sz="1000" dirty="0">
                <a:solidFill>
                  <a:srgbClr val="4A4A4A"/>
                </a:solidFill>
                <a:latin typeface="Calibri" pitchFamily="34" charset="0"/>
                <a:ea typeface="Calibri" pitchFamily="34" charset="-122"/>
                <a:cs typeface="Calibri" pitchFamily="34" charset="-120"/>
              </a:rPr>
              <a:t>Carrying cost sekitar 26% dari nilai persediaan per tahun, dan biaya kebijakan naik eksponensial ketika service level dinaikkan.</a:t>
            </a:r>
            <a:endParaRPr lang="en-US" sz="1000" dirty="0"/>
          </a:p>
        </p:txBody>
      </p:sp>
      <p:sp>
        <p:nvSpPr>
          <p:cNvPr id="10" name="Text 6"/>
          <p:cNvSpPr txBox="1"/>
          <p:nvPr/>
        </p:nvSpPr>
        <p:spPr>
          <a:xfrm>
            <a:off x="1463040" y="2468880"/>
            <a:ext cx="6858000" cy="502920"/>
          </a:xfrm>
          <a:prstGeom prst="rect">
            <a:avLst/>
          </a:prstGeom>
          <a:solidFill>
            <a:srgbClr val="FF9900"/>
          </a:solidFill>
          <a:ln/>
        </p:spPr>
        <p:txBody>
          <a:bodyPr wrap="square" lIns="508" tIns="1270" rIns="1270" bIns="508" rtlCol="0" anchor="ctr"/>
          <a:lstStyle/>
          <a:p>
            <a:pPr algn="l" indent="0" marL="0">
              <a:lnSpc>
                <a:spcPct val="105000"/>
              </a:lnSpc>
              <a:buNone/>
            </a:pPr>
            <a:r>
              <a:rPr lang="en-US" sz="950" dirty="0">
                <a:solidFill>
                  <a:srgbClr val="111111"/>
                </a:solidFill>
                <a:latin typeface="Calibri" pitchFamily="34" charset="0"/>
                <a:ea typeface="Calibri" pitchFamily="34" charset="-122"/>
                <a:cs typeface="Calibri" pitchFamily="34" charset="-120"/>
              </a:rPr>
              <a:t>Aturan: bandingkan biaya simpan tambahan dengan biaya kekosongan. Untuk ritel daring biaya kekosongan tinggi, sehingga pilihan Amazon di sisi stok tinggi konsisten.</a:t>
            </a:r>
            <a:endParaRPr lang="en-US" sz="950" dirty="0"/>
          </a:p>
        </p:txBody>
      </p:sp>
      <p:sp>
        <p:nvSpPr>
          <p:cNvPr id="11" name="Text 7"/>
          <p:cNvSpPr txBox="1"/>
          <p:nvPr/>
        </p:nvSpPr>
        <p:spPr>
          <a:xfrm>
            <a:off x="777240" y="3063240"/>
            <a:ext cx="640080" cy="45720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02</a:t>
            </a:r>
            <a:endParaRPr lang="en-US" sz="2000" dirty="0"/>
          </a:p>
        </p:txBody>
      </p:sp>
      <p:sp>
        <p:nvSpPr>
          <p:cNvPr id="12" name="Text 8"/>
          <p:cNvSpPr txBox="1"/>
          <p:nvPr/>
        </p:nvSpPr>
        <p:spPr>
          <a:xfrm>
            <a:off x="1463040" y="3063240"/>
            <a:ext cx="6858000" cy="384048"/>
          </a:xfrm>
          <a:prstGeom prst="rect">
            <a:avLst/>
          </a:prstGeom>
          <a:solidFill>
            <a:srgbClr val="FFE2B8"/>
          </a:solidFill>
          <a:ln/>
        </p:spPr>
        <p:txBody>
          <a:bodyPr wrap="square" lIns="508" tIns="1270" rIns="1270" bIns="508" rtlCol="0" anchor="ctr"/>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Otomasi (biaya tetap) vs kesalahan dan tenaga kerja (biaya variabel)</a:t>
            </a:r>
            <a:endParaRPr lang="en-US" sz="1150" dirty="0"/>
          </a:p>
        </p:txBody>
      </p:sp>
      <p:sp>
        <p:nvSpPr>
          <p:cNvPr id="13" name="Text 9"/>
          <p:cNvSpPr txBox="1"/>
          <p:nvPr/>
        </p:nvSpPr>
        <p:spPr>
          <a:xfrm>
            <a:off x="1463040" y="3520440"/>
            <a:ext cx="6858000" cy="548640"/>
          </a:xfrm>
          <a:prstGeom prst="rect">
            <a:avLst/>
          </a:prstGeom>
          <a:noFill/>
          <a:ln/>
        </p:spPr>
        <p:txBody>
          <a:bodyPr wrap="square" lIns="0" tIns="0" rIns="0" bIns="0" rtlCol="0" anchor="t"/>
          <a:lstStyle/>
          <a:p>
            <a:pPr algn="l" indent="0" marL="0">
              <a:lnSpc>
                <a:spcPct val="105000"/>
              </a:lnSpc>
              <a:buNone/>
            </a:pPr>
            <a:r>
              <a:rPr lang="en-US" sz="1000" dirty="0">
                <a:solidFill>
                  <a:srgbClr val="4A4A4A"/>
                </a:solidFill>
                <a:latin typeface="Calibri" pitchFamily="34" charset="0"/>
                <a:ea typeface="Calibri" pitchFamily="34" charset="-122"/>
                <a:cs typeface="Calibri" pitchFamily="34" charset="-120"/>
              </a:rPr>
              <a:t>Pemindaian 15 kali, penimbangan, dan robot adalah biaya tetap. Kesalahan menimbulkan biaya return, kirim ulang, dan hilangnya kepercayaan.</a:t>
            </a:r>
            <a:endParaRPr lang="en-US" sz="1000" dirty="0"/>
          </a:p>
        </p:txBody>
      </p:sp>
      <p:sp>
        <p:nvSpPr>
          <p:cNvPr id="14" name="Text 10"/>
          <p:cNvSpPr txBox="1"/>
          <p:nvPr/>
        </p:nvSpPr>
        <p:spPr>
          <a:xfrm>
            <a:off x="1463040" y="4069080"/>
            <a:ext cx="6858000" cy="502920"/>
          </a:xfrm>
          <a:prstGeom prst="rect">
            <a:avLst/>
          </a:prstGeom>
          <a:solidFill>
            <a:srgbClr val="FF9900"/>
          </a:solidFill>
          <a:ln/>
        </p:spPr>
        <p:txBody>
          <a:bodyPr wrap="square" lIns="508" tIns="1270" rIns="1270" bIns="508" rtlCol="0" anchor="ctr"/>
          <a:lstStyle/>
          <a:p>
            <a:pPr algn="l" indent="0" marL="0">
              <a:lnSpc>
                <a:spcPct val="105000"/>
              </a:lnSpc>
              <a:buNone/>
            </a:pPr>
            <a:r>
              <a:rPr lang="en-US" sz="950" dirty="0">
                <a:solidFill>
                  <a:srgbClr val="111111"/>
                </a:solidFill>
                <a:latin typeface="Calibri" pitchFamily="34" charset="0"/>
                <a:ea typeface="Calibri" pitchFamily="34" charset="-122"/>
                <a:cs typeface="Calibri" pitchFamily="34" charset="-120"/>
              </a:rPr>
              <a:t>Aturan: otomasi layak kalau penghematan per pesanan dikali jumlah pesanan per tahun lebih besar dari biaya tahunan otomasi. Penentunya volume, bukan teknologinya.</a:t>
            </a:r>
            <a:endParaRPr lang="en-US" sz="950" dirty="0"/>
          </a:p>
        </p:txBody>
      </p:sp>
      <p:sp>
        <p:nvSpPr>
          <p:cNvPr id="15" name="Text 11"/>
          <p:cNvSpPr txBox="1"/>
          <p:nvPr/>
        </p:nvSpPr>
        <p:spPr>
          <a:xfrm>
            <a:off x="777240" y="4663440"/>
            <a:ext cx="640080" cy="45720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03</a:t>
            </a:r>
            <a:endParaRPr lang="en-US" sz="2000" dirty="0"/>
          </a:p>
        </p:txBody>
      </p:sp>
      <p:sp>
        <p:nvSpPr>
          <p:cNvPr id="16" name="Text 12"/>
          <p:cNvSpPr txBox="1"/>
          <p:nvPr/>
        </p:nvSpPr>
        <p:spPr>
          <a:xfrm>
            <a:off x="1463040" y="4663440"/>
            <a:ext cx="6858000" cy="384048"/>
          </a:xfrm>
          <a:prstGeom prst="rect">
            <a:avLst/>
          </a:prstGeom>
          <a:solidFill>
            <a:srgbClr val="FFE2B8"/>
          </a:solidFill>
          <a:ln/>
        </p:spPr>
        <p:txBody>
          <a:bodyPr wrap="square" lIns="508" tIns="1270" rIns="1270" bIns="508" rtlCol="0" anchor="ctr"/>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Kecepatan kirim vs biaya kirim</a:t>
            </a:r>
            <a:endParaRPr lang="en-US" sz="1150" dirty="0"/>
          </a:p>
        </p:txBody>
      </p:sp>
      <p:sp>
        <p:nvSpPr>
          <p:cNvPr id="17" name="Text 13"/>
          <p:cNvSpPr txBox="1"/>
          <p:nvPr/>
        </p:nvSpPr>
        <p:spPr>
          <a:xfrm>
            <a:off x="1463040" y="5120640"/>
            <a:ext cx="6858000" cy="548640"/>
          </a:xfrm>
          <a:prstGeom prst="rect">
            <a:avLst/>
          </a:prstGeom>
          <a:noFill/>
          <a:ln/>
        </p:spPr>
        <p:txBody>
          <a:bodyPr wrap="square" lIns="0" tIns="0" rIns="0" bIns="0" rtlCol="0" anchor="t"/>
          <a:lstStyle/>
          <a:p>
            <a:pPr algn="l" indent="0" marL="0">
              <a:lnSpc>
                <a:spcPct val="105000"/>
              </a:lnSpc>
              <a:buNone/>
            </a:pPr>
            <a:r>
              <a:rPr lang="en-US" sz="1000" dirty="0">
                <a:solidFill>
                  <a:srgbClr val="4A4A4A"/>
                </a:solidFill>
                <a:latin typeface="Calibri" pitchFamily="34" charset="0"/>
                <a:ea typeface="Calibri" pitchFamily="34" charset="-122"/>
                <a:cs typeface="Calibri" pitchFamily="34" charset="-120"/>
              </a:rPr>
              <a:t>Kirim lebih cepat biasanya lebih mahal; barang lebih lama di jalan menahan modal. Amazon mengirim 60% pesanan lewat USPS, moda yang murah.</a:t>
            </a:r>
            <a:endParaRPr lang="en-US" sz="1000" dirty="0"/>
          </a:p>
        </p:txBody>
      </p:sp>
      <p:sp>
        <p:nvSpPr>
          <p:cNvPr id="18" name="Text 14"/>
          <p:cNvSpPr txBox="1"/>
          <p:nvPr/>
        </p:nvSpPr>
        <p:spPr>
          <a:xfrm>
            <a:off x="1463040" y="5669280"/>
            <a:ext cx="6858000" cy="502920"/>
          </a:xfrm>
          <a:prstGeom prst="rect">
            <a:avLst/>
          </a:prstGeom>
          <a:solidFill>
            <a:srgbClr val="FF9900"/>
          </a:solidFill>
          <a:ln/>
        </p:spPr>
        <p:txBody>
          <a:bodyPr wrap="square" lIns="508" tIns="1270" rIns="1270" bIns="508" rtlCol="0" anchor="ctr"/>
          <a:lstStyle/>
          <a:p>
            <a:pPr algn="l" indent="0" marL="0">
              <a:lnSpc>
                <a:spcPct val="105000"/>
              </a:lnSpc>
              <a:buNone/>
            </a:pPr>
            <a:r>
              <a:rPr lang="en-US" sz="950" dirty="0">
                <a:solidFill>
                  <a:srgbClr val="111111"/>
                </a:solidFill>
                <a:latin typeface="Calibri" pitchFamily="34" charset="0"/>
                <a:ea typeface="Calibri" pitchFamily="34" charset="-122"/>
                <a:cs typeface="Calibri" pitchFamily="34" charset="-120"/>
              </a:rPr>
              <a:t>Aturan: kecepatan dibangun dari dalam (stok dekat pelanggan, proses gudang pendek), sehingga moda kirim murah tetap bisa dipakai.</a:t>
            </a:r>
            <a:endParaRPr lang="en-US" sz="950" dirty="0"/>
          </a:p>
        </p:txBody>
      </p:sp>
      <p:pic>
        <p:nvPicPr>
          <p:cNvPr id="19" name="Image 2" descr="/tmp/claude-0/-home-user-Dom-Manipulation/01edd7ad-16e1-5ac5-9e2e-840f37702b96/scratchpad/img/crop/giftwrap.jpg">    </p:cNvPr>
          <p:cNvPicPr>
            <a:picLocks noChangeAspect="1"/>
          </p:cNvPicPr>
          <p:nvPr/>
        </p:nvPicPr>
        <p:blipFill>
          <a:blip r:embed="rId3"/>
          <a:stretch>
            <a:fillRect/>
          </a:stretch>
        </p:blipFill>
        <p:spPr>
          <a:xfrm>
            <a:off x="8716975" y="3832698"/>
            <a:ext cx="3017520" cy="256810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17</a:t>
            </a:r>
            <a:endParaRPr lang="en-US" sz="900" dirty="0"/>
          </a:p>
        </p:txBody>
      </p:sp>
      <p:sp>
        <p:nvSpPr>
          <p:cNvPr id="6" name="Text 2"/>
          <p:cNvSpPr txBox="1"/>
          <p:nvPr/>
        </p:nvSpPr>
        <p:spPr>
          <a:xfrm>
            <a:off x="777240" y="731520"/>
            <a:ext cx="539496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VERIFIKASI TRADE-OFF</a:t>
            </a:r>
            <a:endParaRPr lang="en-US" sz="2800" dirty="0"/>
          </a:p>
        </p:txBody>
      </p:sp>
      <p:sp>
        <p:nvSpPr>
          <p:cNvPr id="7" name="Text 3"/>
          <p:cNvSpPr txBox="1"/>
          <p:nvPr/>
        </p:nvSpPr>
        <p:spPr>
          <a:xfrm>
            <a:off x="777240" y="1371600"/>
            <a:ext cx="6858000" cy="548640"/>
          </a:xfrm>
          <a:prstGeom prst="rect">
            <a:avLst/>
          </a:prstGeom>
          <a:noFill/>
          <a:ln/>
        </p:spPr>
        <p:txBody>
          <a:bodyPr wrap="square" lIns="0" tIns="0" rIns="0" bIns="0" rtlCol="0" anchor="t"/>
          <a:lstStyle/>
          <a:p>
            <a:pPr algn="l" indent="0" marL="0">
              <a:lnSpc>
                <a:spcPct val="105000"/>
              </a:lnSpc>
              <a:buNone/>
            </a:pPr>
            <a:r>
              <a:rPr lang="en-US" sz="1150" dirty="0">
                <a:solidFill>
                  <a:srgbClr val="4A4A4A"/>
                </a:solidFill>
                <a:latin typeface="Calibri" pitchFamily="34" charset="0"/>
                <a:ea typeface="Calibri" pitchFamily="34" charset="-122"/>
                <a:cs typeface="Calibri" pitchFamily="34" charset="-120"/>
              </a:rPr>
              <a:t>Sebelum menyimpulkan ada trade-off, periksa dulu apakah dua tujuan itu benar bertentangan atau justru complementary. Kalau searah, tidak perlu ditimbang; kerjakan saja.</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2011680"/>
          <a:ext cx="6858000" cy="914400"/>
        </p:xfrm>
        <a:graphic>
          <a:graphicData uri="http://schemas.openxmlformats.org/drawingml/2006/table">
            <a:tbl>
              <a:tblPr/>
              <a:tblGrid>
                <a:gridCol w="2011680"/>
                <a:gridCol w="1280160"/>
                <a:gridCol w="3566160"/>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Pasangan tujuan</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Hubungan</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Alasan</a:t>
                      </a:r>
                      <a:endParaRPr lang="en-US" sz="90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Akurasi (kesalahan nol) vs biaya</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Searah</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Setiap kesalahan yang dicegah menghilangkan biaya return. Tidak ada yang perlu dikorbankan.</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Kecepatan proses internal vs biaya</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Searah</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Kurang dari 3 menit per pesanan sekaligus menekan biaya dan mempercepat.</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Ketersediaan stok vs holding cost</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Trade-off nyata</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Stok pengaman menaikkan biaya simpan. Amazon memilih sadar di sisi service level tinggi.</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Kecepatan kirim vs biaya kirim</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Trade-off nyata, dihindari</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50" dirty="0">
                          <a:solidFill>
                            <a:srgbClr val="4A4A4A"/>
                          </a:solidFill>
                          <a:latin typeface="Calibri" pitchFamily="34" charset="0"/>
                          <a:ea typeface="Calibri" pitchFamily="34" charset="-122"/>
                          <a:cs typeface="Calibri" pitchFamily="34" charset="-120"/>
                        </a:rPr>
                        <a:t>Sumber kecepatan dipindahkan dari moda kirim ke posisi stok dan proses gudang.</a:t>
                      </a:r>
                      <a:endParaRPr lang="en-US" sz="95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r>
            </a:tbl>
          </a:graphicData>
        </a:graphic>
      </p:graphicFrame>
      <p:sp>
        <p:nvSpPr>
          <p:cNvPr id="9" name="Text 4"/>
          <p:cNvSpPr txBox="1"/>
          <p:nvPr/>
        </p:nvSpPr>
        <p:spPr>
          <a:xfrm>
            <a:off x="777240" y="4617720"/>
            <a:ext cx="6858000" cy="640080"/>
          </a:xfrm>
          <a:prstGeom prst="rect">
            <a:avLst/>
          </a:prstGeom>
          <a:solidFill>
            <a:srgbClr val="FF9900"/>
          </a:solidFill>
          <a:ln/>
        </p:spPr>
        <p:txBody>
          <a:bodyPr wrap="square" lIns="508" tIns="1270" rIns="1270" bIns="508" rtlCol="0" anchor="ctr"/>
          <a:lstStyle/>
          <a:p>
            <a:pPr algn="l" indent="0" marL="0">
              <a:lnSpc>
                <a:spcPct val="105000"/>
              </a:lnSpc>
              <a:buNone/>
            </a:pPr>
            <a:r>
              <a:rPr lang="en-US" sz="1100" dirty="0">
                <a:solidFill>
                  <a:srgbClr val="111111"/>
                </a:solidFill>
                <a:latin typeface="Calibri" pitchFamily="34" charset="0"/>
                <a:ea typeface="Calibri" pitchFamily="34" charset="-122"/>
                <a:cs typeface="Calibri" pitchFamily="34" charset="-120"/>
              </a:rPr>
              <a:t>Dari tiga target Bezos, hanya ketersediaan stok yang benar-benar menuntut pengorbanan biaya. Dua target lain justru menurunkan biaya.</a:t>
            </a:r>
            <a:endParaRPr lang="en-US" sz="1100" dirty="0"/>
          </a:p>
        </p:txBody>
      </p:sp>
      <p:sp>
        <p:nvSpPr>
          <p:cNvPr id="10" name="Text 5"/>
          <p:cNvSpPr txBox="1"/>
          <p:nvPr/>
        </p:nvSpPr>
        <p:spPr>
          <a:xfrm>
            <a:off x="777240" y="5394960"/>
            <a:ext cx="5394960" cy="314325"/>
          </a:xfrm>
          <a:prstGeom prst="rect">
            <a:avLst/>
          </a:prstGeom>
          <a:noFill/>
          <a:ln/>
        </p:spPr>
        <p:txBody>
          <a:bodyPr wrap="square" lIns="0" tIns="0" rIns="0" bIns="0" rtlCol="0" anchor="t"/>
          <a:lstStyle/>
          <a:p>
            <a:pPr indent="0" marL="0">
              <a:lnSpc>
                <a:spcPct val="95000"/>
              </a:lnSpc>
              <a:buNone/>
            </a:pPr>
            <a:r>
              <a:rPr lang="en-US" sz="1300" b="1" spc="-100" kern="0" dirty="0">
                <a:solidFill>
                  <a:srgbClr val="111111"/>
                </a:solidFill>
                <a:latin typeface="Arial" pitchFamily="34" charset="0"/>
                <a:ea typeface="Arial" pitchFamily="34" charset="-122"/>
                <a:cs typeface="Arial" pitchFamily="34" charset="-120"/>
              </a:rPr>
              <a:t>EFFICIENT FRONTIER</a:t>
            </a:r>
            <a:endParaRPr lang="en-US" sz="1300" dirty="0"/>
          </a:p>
        </p:txBody>
      </p:sp>
      <p:sp>
        <p:nvSpPr>
          <p:cNvPr id="11" name="Text 6"/>
          <p:cNvSpPr txBox="1"/>
          <p:nvPr/>
        </p:nvSpPr>
        <p:spPr>
          <a:xfrm>
            <a:off x="777240" y="5715000"/>
            <a:ext cx="640080" cy="237744"/>
          </a:xfrm>
          <a:prstGeom prst="rect">
            <a:avLst/>
          </a:prstGeom>
          <a:noFill/>
          <a:ln/>
        </p:spPr>
        <p:txBody>
          <a:bodyPr wrap="square" lIns="0" tIns="0" rIns="0" bIns="0" rtlCol="0" anchor="ctr"/>
          <a:lstStyle/>
          <a:p>
            <a:pPr indent="0" marL="0">
              <a:buNone/>
            </a:pPr>
            <a:r>
              <a:rPr lang="en-US" sz="1000" b="1" dirty="0">
                <a:solidFill>
                  <a:srgbClr val="FF9900"/>
                </a:solidFill>
                <a:latin typeface="Arial" pitchFamily="34" charset="0"/>
                <a:ea typeface="Arial" pitchFamily="34" charset="-122"/>
                <a:cs typeface="Arial" pitchFamily="34" charset="-120"/>
              </a:rPr>
              <a:t>01</a:t>
            </a:r>
            <a:endParaRPr lang="en-US" sz="1000" dirty="0"/>
          </a:p>
        </p:txBody>
      </p:sp>
      <p:sp>
        <p:nvSpPr>
          <p:cNvPr id="12" name="Text 7"/>
          <p:cNvSpPr txBox="1"/>
          <p:nvPr/>
        </p:nvSpPr>
        <p:spPr>
          <a:xfrm>
            <a:off x="1463040" y="5715000"/>
            <a:ext cx="6172200" cy="237744"/>
          </a:xfrm>
          <a:prstGeom prst="rect">
            <a:avLst/>
          </a:prstGeom>
          <a:solidFill>
            <a:srgbClr val="FFE2B8"/>
          </a:solidFill>
          <a:ln/>
        </p:spPr>
        <p:txBody>
          <a:bodyPr wrap="square" lIns="508" tIns="1270" rIns="1270" bIns="508" rtlCol="0" anchor="ctr"/>
          <a:lstStyle/>
          <a:p>
            <a:pPr algn="l" indent="0" marL="0">
              <a:lnSpc>
                <a:spcPct val="105000"/>
              </a:lnSpc>
              <a:buNone/>
            </a:pPr>
            <a:r>
              <a:rPr lang="en-US" sz="850" dirty="0">
                <a:solidFill>
                  <a:srgbClr val="111111"/>
                </a:solidFill>
                <a:latin typeface="Calibri" pitchFamily="34" charset="0"/>
                <a:ea typeface="Calibri" pitchFamily="34" charset="-122"/>
                <a:cs typeface="Calibri" pitchFamily="34" charset="-120"/>
              </a:rPr>
              <a:t>Pengecer virtual (1995): modal paling rendah, tetapi tidak memenuhi constraint bebas kesalahan dan tercepat</a:t>
            </a:r>
            <a:endParaRPr lang="en-US" sz="850" dirty="0"/>
          </a:p>
        </p:txBody>
      </p:sp>
      <p:sp>
        <p:nvSpPr>
          <p:cNvPr id="13" name="Text 8"/>
          <p:cNvSpPr txBox="1"/>
          <p:nvPr/>
        </p:nvSpPr>
        <p:spPr>
          <a:xfrm>
            <a:off x="777240" y="5989320"/>
            <a:ext cx="640080" cy="237744"/>
          </a:xfrm>
          <a:prstGeom prst="rect">
            <a:avLst/>
          </a:prstGeom>
          <a:noFill/>
          <a:ln/>
        </p:spPr>
        <p:txBody>
          <a:bodyPr wrap="square" lIns="0" tIns="0" rIns="0" bIns="0" rtlCol="0" anchor="ctr"/>
          <a:lstStyle/>
          <a:p>
            <a:pPr indent="0" marL="0">
              <a:buNone/>
            </a:pPr>
            <a:r>
              <a:rPr lang="en-US" sz="1000" b="1" dirty="0">
                <a:solidFill>
                  <a:srgbClr val="FF9900"/>
                </a:solidFill>
                <a:latin typeface="Arial" pitchFamily="34" charset="0"/>
                <a:ea typeface="Arial" pitchFamily="34" charset="-122"/>
                <a:cs typeface="Arial" pitchFamily="34" charset="-120"/>
              </a:rPr>
              <a:t>02</a:t>
            </a:r>
            <a:endParaRPr lang="en-US" sz="1000" dirty="0"/>
          </a:p>
        </p:txBody>
      </p:sp>
      <p:sp>
        <p:nvSpPr>
          <p:cNvPr id="14" name="Text 9"/>
          <p:cNvSpPr txBox="1"/>
          <p:nvPr/>
        </p:nvSpPr>
        <p:spPr>
          <a:xfrm>
            <a:off x="1463040" y="5989320"/>
            <a:ext cx="6172200" cy="237744"/>
          </a:xfrm>
          <a:prstGeom prst="rect">
            <a:avLst/>
          </a:prstGeom>
          <a:solidFill>
            <a:srgbClr val="FFE2B8"/>
          </a:solidFill>
          <a:ln/>
        </p:spPr>
        <p:txBody>
          <a:bodyPr wrap="square" lIns="508" tIns="1270" rIns="1270" bIns="508" rtlCol="0" anchor="ctr"/>
          <a:lstStyle/>
          <a:p>
            <a:pPr algn="l" indent="0" marL="0">
              <a:lnSpc>
                <a:spcPct val="105000"/>
              </a:lnSpc>
              <a:buNone/>
            </a:pPr>
            <a:r>
              <a:rPr lang="en-US" sz="850" dirty="0">
                <a:solidFill>
                  <a:srgbClr val="111111"/>
                </a:solidFill>
                <a:latin typeface="Calibri" pitchFamily="34" charset="0"/>
                <a:ea typeface="Calibri" pitchFamily="34" charset="-122"/>
                <a:cs typeface="Calibri" pitchFamily="34" charset="-120"/>
              </a:rPr>
              <a:t>Gudang sendiri, manual: didominasi alternatif otomasi pada volume Amazon; dicoret</a:t>
            </a:r>
            <a:endParaRPr lang="en-US" sz="850" dirty="0"/>
          </a:p>
        </p:txBody>
      </p:sp>
      <p:sp>
        <p:nvSpPr>
          <p:cNvPr id="15" name="Text 10"/>
          <p:cNvSpPr txBox="1"/>
          <p:nvPr/>
        </p:nvSpPr>
        <p:spPr>
          <a:xfrm>
            <a:off x="777240" y="6263640"/>
            <a:ext cx="640080" cy="237744"/>
          </a:xfrm>
          <a:prstGeom prst="rect">
            <a:avLst/>
          </a:prstGeom>
          <a:noFill/>
          <a:ln/>
        </p:spPr>
        <p:txBody>
          <a:bodyPr wrap="square" lIns="0" tIns="0" rIns="0" bIns="0" rtlCol="0" anchor="ctr"/>
          <a:lstStyle/>
          <a:p>
            <a:pPr indent="0" marL="0">
              <a:buNone/>
            </a:pPr>
            <a:r>
              <a:rPr lang="en-US" sz="1000" b="1" dirty="0">
                <a:solidFill>
                  <a:srgbClr val="FF9900"/>
                </a:solidFill>
                <a:latin typeface="Arial" pitchFamily="34" charset="0"/>
                <a:ea typeface="Arial" pitchFamily="34" charset="-122"/>
                <a:cs typeface="Arial" pitchFamily="34" charset="-120"/>
              </a:rPr>
              <a:t>03</a:t>
            </a:r>
            <a:endParaRPr lang="en-US" sz="1000" dirty="0"/>
          </a:p>
        </p:txBody>
      </p:sp>
      <p:sp>
        <p:nvSpPr>
          <p:cNvPr id="16" name="Text 11"/>
          <p:cNvSpPr txBox="1"/>
          <p:nvPr/>
        </p:nvSpPr>
        <p:spPr>
          <a:xfrm>
            <a:off x="1463040" y="6263640"/>
            <a:ext cx="6172200" cy="237744"/>
          </a:xfrm>
          <a:prstGeom prst="rect">
            <a:avLst/>
          </a:prstGeom>
          <a:solidFill>
            <a:srgbClr val="FFE2B8"/>
          </a:solidFill>
          <a:ln/>
        </p:spPr>
        <p:txBody>
          <a:bodyPr wrap="square" lIns="508" tIns="1270" rIns="1270" bIns="508" rtlCol="0" anchor="ctr"/>
          <a:lstStyle/>
          <a:p>
            <a:pPr algn="l" indent="0" marL="0">
              <a:lnSpc>
                <a:spcPct val="105000"/>
              </a:lnSpc>
              <a:buNone/>
            </a:pPr>
            <a:r>
              <a:rPr lang="en-US" sz="850" dirty="0">
                <a:solidFill>
                  <a:srgbClr val="111111"/>
                </a:solidFill>
                <a:latin typeface="Calibri" pitchFamily="34" charset="0"/>
                <a:ea typeface="Calibri" pitchFamily="34" charset="-122"/>
                <a:cs typeface="Calibri" pitchFamily="34" charset="-120"/>
              </a:rPr>
              <a:t>Gudang sendiri, terotomasi: di frontier; dipilih sesuai value proposition</a:t>
            </a:r>
            <a:endParaRPr lang="en-US" sz="850" dirty="0"/>
          </a:p>
        </p:txBody>
      </p:sp>
      <p:pic>
        <p:nvPicPr>
          <p:cNvPr id="17" name="Image 2" descr="/tmp/claude-0/-home-user-Dom-Manipulation/01edd7ad-16e1-5ac5-9e2e-840f37702b96/scratchpad/img/crop/dock.jpg">    </p:cNvPr>
          <p:cNvPicPr>
            <a:picLocks noChangeAspect="1"/>
          </p:cNvPicPr>
          <p:nvPr/>
        </p:nvPicPr>
        <p:blipFill>
          <a:blip r:embed="rId3"/>
          <a:stretch>
            <a:fillRect/>
          </a:stretch>
        </p:blipFill>
        <p:spPr>
          <a:xfrm>
            <a:off x="8442655" y="777240"/>
            <a:ext cx="3291840" cy="1923928"/>
          </a:xfrm>
          <a:prstGeom prst="rect">
            <a:avLst/>
          </a:prstGeom>
        </p:spPr>
      </p:pic>
      <p:sp>
        <p:nvSpPr>
          <p:cNvPr id="18" name="Text 12"/>
          <p:cNvSpPr txBox="1"/>
          <p:nvPr/>
        </p:nvSpPr>
        <p:spPr>
          <a:xfrm>
            <a:off x="8442655" y="3703320"/>
            <a:ext cx="3291840" cy="1097280"/>
          </a:xfrm>
          <a:prstGeom prst="rect">
            <a:avLst/>
          </a:prstGeom>
          <a:noFill/>
          <a:ln/>
        </p:spPr>
        <p:txBody>
          <a:bodyPr wrap="square" lIns="0" tIns="0" rIns="0" bIns="0" rtlCol="0" anchor="t"/>
          <a:lstStyle/>
          <a:p>
            <a:pPr algn="l" indent="0" marL="0">
              <a:lnSpc>
                <a:spcPct val="105000"/>
              </a:lnSpc>
              <a:buNone/>
            </a:pPr>
            <a:r>
              <a:rPr lang="en-US" sz="950" i="1" dirty="0">
                <a:solidFill>
                  <a:srgbClr val="232F3E"/>
                </a:solidFill>
                <a:latin typeface="Calibri" pitchFamily="34" charset="0"/>
                <a:ea typeface="Calibri" pitchFamily="34" charset="-122"/>
                <a:cs typeface="Calibri" pitchFamily="34" charset="-120"/>
              </a:rPr>
              <a:t>Catatan: dominasi otomasi atas manual hanya berlaku pada volume Amazon. Pada volume kecil, biaya tetap robot tidak terserap dan alternatif manual kembali ke frontier.</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18</a:t>
            </a:r>
            <a:endParaRPr lang="en-US" sz="900" dirty="0"/>
          </a:p>
        </p:txBody>
      </p:sp>
      <p:sp>
        <p:nvSpPr>
          <p:cNvPr id="6" name="Text 2"/>
          <p:cNvSpPr txBox="1"/>
          <p:nvPr/>
        </p:nvSpPr>
        <p:spPr>
          <a:xfrm>
            <a:off x="777240" y="731520"/>
            <a:ext cx="676656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KAITAN DENGAN TEORI PERSEDIAAN</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77240" y="1417320"/>
          <a:ext cx="6858000" cy="914400"/>
        </p:xfrm>
        <a:graphic>
          <a:graphicData uri="http://schemas.openxmlformats.org/drawingml/2006/table">
            <a:tbl>
              <a:tblPr/>
              <a:tblGrid>
                <a:gridCol w="2560320"/>
                <a:gridCol w="3017520"/>
                <a:gridCol w="1280160"/>
              </a:tblGrid>
              <a:tr h="0">
                <a:tc>
                  <a:txBody>
                    <a:bodyPr/>
                    <a:lstStyle/>
                    <a:p>
                      <a:pPr indent="0" marL="0">
                        <a:buNone/>
                      </a:pPr>
                      <a:r>
                        <a:rPr lang="en-US" sz="850" b="1" dirty="0">
                          <a:solidFill>
                            <a:srgbClr val="FFFFFF"/>
                          </a:solidFill>
                          <a:latin typeface="Arial" pitchFamily="34" charset="0"/>
                          <a:ea typeface="Arial" pitchFamily="34" charset="-122"/>
                          <a:cs typeface="Arial" pitchFamily="34" charset="-120"/>
                        </a:rPr>
                        <a:t>Konsep Bab 12</a:t>
                      </a:r>
                      <a:endParaRPr lang="en-US" sz="85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Wujud di Amazon</a:t>
                      </a:r>
                      <a:endParaRPr lang="en-US" sz="85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Status</a:t>
                      </a:r>
                      <a:endParaRPr lang="en-US" sz="850" dirty="0">
                        <a:latin typeface="Arial" charset="0"/>
                        <a:ea typeface="Arial" charset="0"/>
                        <a:cs typeface="Arial"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r>
              <a:tr h="0">
                <a:tc>
                  <a:txBody>
                    <a:bodyPr/>
                    <a:lstStyle/>
                    <a:p>
                      <a:pPr indent="0" marL="0">
                        <a:buNone/>
                      </a:pPr>
                      <a:r>
                        <a:rPr lang="en-US" sz="900" b="1" dirty="0">
                          <a:solidFill>
                            <a:srgbClr val="111111"/>
                          </a:solidFill>
                          <a:latin typeface="Calibri" pitchFamily="34" charset="0"/>
                          <a:ea typeface="Calibri" pitchFamily="34" charset="-122"/>
                          <a:cs typeface="Calibri" pitchFamily="34" charset="-120"/>
                        </a:rPr>
                        <a:t>Fungsi persediaan: pilihan barang untuk permintaan yang diantisipasi</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4A4A4A"/>
                          </a:solidFill>
                          <a:latin typeface="Calibri" pitchFamily="34" charset="0"/>
                          <a:ea typeface="Calibri" pitchFamily="34" charset="-122"/>
                          <a:cs typeface="Calibri" pitchFamily="34" charset="-120"/>
                        </a:rPr>
                        <a:t>Jutaan item di 150+ gudang; buku menyebut fungsi ini tipikal ritel</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4A4A4A"/>
                          </a:solidFill>
                          <a:latin typeface="Calibri" pitchFamily="34" charset="0"/>
                          <a:ea typeface="Calibri" pitchFamily="34" charset="-122"/>
                          <a:cs typeface="Calibri" pitchFamily="34" charset="-120"/>
                        </a:rPr>
                        <a:t>Eksplisit</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111111"/>
                          </a:solidFill>
                          <a:latin typeface="Calibri" pitchFamily="34" charset="0"/>
                          <a:ea typeface="Calibri" pitchFamily="34" charset="-122"/>
                          <a:cs typeface="Calibri" pitchFamily="34" charset="-120"/>
                        </a:rPr>
                        <a:t>Record accuracy: sistem perpetual dengan bar code</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00" dirty="0">
                          <a:solidFill>
                            <a:srgbClr val="4A4A4A"/>
                          </a:solidFill>
                          <a:latin typeface="Calibri" pitchFamily="34" charset="0"/>
                          <a:ea typeface="Calibri" pitchFamily="34" charset="-122"/>
                          <a:cs typeface="Calibri" pitchFamily="34" charset="-120"/>
                        </a:rPr>
                        <a:t>Bar code dipindai 15 kali; alokasi dari Seattle mengandalkan catatan stok per DC</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00" dirty="0">
                          <a:solidFill>
                            <a:srgbClr val="4A4A4A"/>
                          </a:solidFill>
                          <a:latin typeface="Calibri" pitchFamily="34" charset="0"/>
                          <a:ea typeface="Calibri" pitchFamily="34" charset="-122"/>
                          <a:cs typeface="Calibri" pitchFamily="34" charset="-120"/>
                        </a:rPr>
                        <a:t>Eksplisit; inferensi (alokasi)</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r>
              <a:tr h="0">
                <a:tc>
                  <a:txBody>
                    <a:bodyPr/>
                    <a:lstStyle/>
                    <a:p>
                      <a:pPr indent="0" marL="0">
                        <a:buNone/>
                      </a:pPr>
                      <a:r>
                        <a:rPr lang="en-US" sz="900" b="1" dirty="0">
                          <a:solidFill>
                            <a:srgbClr val="111111"/>
                          </a:solidFill>
                          <a:latin typeface="Calibri" pitchFamily="34" charset="0"/>
                          <a:ea typeface="Calibri" pitchFamily="34" charset="-122"/>
                          <a:cs typeface="Calibri" pitchFamily="34" charset="-120"/>
                        </a:rPr>
                        <a:t>Cycle counting</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4A4A4A"/>
                          </a:solidFill>
                          <a:latin typeface="Calibri" pitchFamily="34" charset="0"/>
                          <a:ea typeface="Calibri" pitchFamily="34" charset="-122"/>
                          <a:cs typeface="Calibri" pitchFamily="34" charset="-120"/>
                        </a:rPr>
                        <a:t>Tidak disebut; verifikasi berkala tetap diperlukan untuk kesalahan fisik</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4A4A4A"/>
                          </a:solidFill>
                          <a:latin typeface="Calibri" pitchFamily="34" charset="0"/>
                          <a:ea typeface="Calibri" pitchFamily="34" charset="-122"/>
                          <a:cs typeface="Calibri" pitchFamily="34" charset="-120"/>
                        </a:rPr>
                        <a:t>Asumsi</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111111"/>
                          </a:solidFill>
                          <a:latin typeface="Calibri" pitchFamily="34" charset="0"/>
                          <a:ea typeface="Calibri" pitchFamily="34" charset="-122"/>
                          <a:cs typeface="Calibri" pitchFamily="34" charset="-120"/>
                        </a:rPr>
                        <a:t>ABC analysis / Pareto</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00" dirty="0">
                          <a:solidFill>
                            <a:srgbClr val="4A4A4A"/>
                          </a:solidFill>
                          <a:latin typeface="Calibri" pitchFamily="34" charset="0"/>
                          <a:ea typeface="Calibri" pitchFamily="34" charset="-122"/>
                          <a:cs typeface="Calibri" pitchFamily="34" charset="-120"/>
                        </a:rPr>
                        <a:t>Praktik 2023: same-day facility menyimpan 100.000 item terlaris per wilayah</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00" dirty="0">
                          <a:solidFill>
                            <a:srgbClr val="4A4A4A"/>
                          </a:solidFill>
                          <a:latin typeface="Calibri" pitchFamily="34" charset="0"/>
                          <a:ea typeface="Calibri" pitchFamily="34" charset="-122"/>
                          <a:cs typeface="Calibri" pitchFamily="34" charset="-120"/>
                        </a:rPr>
                        <a:t>Sumber lain</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r>
              <a:tr h="0">
                <a:tc>
                  <a:txBody>
                    <a:bodyPr/>
                    <a:lstStyle/>
                    <a:p>
                      <a:pPr indent="0" marL="0">
                        <a:buNone/>
                      </a:pPr>
                      <a:r>
                        <a:rPr lang="en-US" sz="900" b="1" dirty="0">
                          <a:solidFill>
                            <a:srgbClr val="111111"/>
                          </a:solidFill>
                          <a:latin typeface="Calibri" pitchFamily="34" charset="0"/>
                          <a:ea typeface="Calibri" pitchFamily="34" charset="-122"/>
                          <a:cs typeface="Calibri" pitchFamily="34" charset="-120"/>
                        </a:rPr>
                        <a:t>Kontrol persediaan ritel: barang masuk dan keluar dengan bar code</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4A4A4A"/>
                          </a:solidFill>
                          <a:latin typeface="Calibri" pitchFamily="34" charset="0"/>
                          <a:ea typeface="Calibri" pitchFamily="34" charset="-122"/>
                          <a:cs typeface="Calibri" pitchFamily="34" charset="-120"/>
                        </a:rPr>
                        <a:t>Setiap item dan kotak diberi bar code; penimbangan sebelum keluar gudang</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4A4A4A"/>
                          </a:solidFill>
                          <a:latin typeface="Calibri" pitchFamily="34" charset="0"/>
                          <a:ea typeface="Calibri" pitchFamily="34" charset="-122"/>
                          <a:cs typeface="Calibri" pitchFamily="34" charset="-120"/>
                        </a:rPr>
                        <a:t>Eksplisit</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111111"/>
                          </a:solidFill>
                          <a:latin typeface="Calibri" pitchFamily="34" charset="0"/>
                          <a:ea typeface="Calibri" pitchFamily="34" charset="-122"/>
                          <a:cs typeface="Calibri" pitchFamily="34" charset="-120"/>
                        </a:rPr>
                        <a:t>Independent demand; ROP = permintaan selama lead time + Zσ</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00" dirty="0">
                          <a:solidFill>
                            <a:srgbClr val="4A4A4A"/>
                          </a:solidFill>
                          <a:latin typeface="Calibri" pitchFamily="34" charset="0"/>
                          <a:ea typeface="Calibri" pitchFamily="34" charset="-122"/>
                          <a:cs typeface="Calibri" pitchFamily="34" charset="-120"/>
                        </a:rPr>
                        <a:t>Service level tinggi menuntut safety stock besar, sejalan dengan investasi persediaan Amazon</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c>
                  <a:txBody>
                    <a:bodyPr/>
                    <a:lstStyle/>
                    <a:p>
                      <a:pPr indent="0" marL="0">
                        <a:buNone/>
                      </a:pPr>
                      <a:r>
                        <a:rPr lang="en-US" sz="900" dirty="0">
                          <a:solidFill>
                            <a:srgbClr val="4A4A4A"/>
                          </a:solidFill>
                          <a:latin typeface="Calibri" pitchFamily="34" charset="0"/>
                          <a:ea typeface="Calibri" pitchFamily="34" charset="-122"/>
                          <a:cs typeface="Calibri" pitchFamily="34" charset="-120"/>
                        </a:rPr>
                        <a:t>Inferensi</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BFBFB"/>
                    </a:solidFill>
                  </a:tcPr>
                </a:tc>
              </a:tr>
              <a:tr h="0">
                <a:tc>
                  <a:txBody>
                    <a:bodyPr/>
                    <a:lstStyle/>
                    <a:p>
                      <a:pPr indent="0" marL="0">
                        <a:buNone/>
                      </a:pPr>
                      <a:r>
                        <a:rPr lang="en-US" sz="900" b="1" dirty="0">
                          <a:solidFill>
                            <a:srgbClr val="111111"/>
                          </a:solidFill>
                          <a:latin typeface="Calibri" pitchFamily="34" charset="0"/>
                          <a:ea typeface="Calibri" pitchFamily="34" charset="-122"/>
                          <a:cs typeface="Calibri" pitchFamily="34" charset="-120"/>
                        </a:rPr>
                        <a:t>Penempatan di gudang: rasio trip/blok tertinggi paling dekat dock</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4A4A4A"/>
                          </a:solidFill>
                          <a:latin typeface="Calibri" pitchFamily="34" charset="0"/>
                          <a:ea typeface="Calibri" pitchFamily="34" charset="-122"/>
                          <a:cs typeface="Calibri" pitchFamily="34" charset="-120"/>
                        </a:rPr>
                        <a:t>Picking is sequenced to reduce operator travel; robot membuat slotting bisa diatur perangkat lunak</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4A4A4A"/>
                          </a:solidFill>
                          <a:latin typeface="Calibri" pitchFamily="34" charset="0"/>
                          <a:ea typeface="Calibri" pitchFamily="34" charset="-122"/>
                          <a:cs typeface="Calibri" pitchFamily="34" charset="-120"/>
                        </a:rPr>
                        <a:t>Eksplisit; inferensi</a:t>
                      </a:r>
                      <a:endParaRPr lang="en-US" sz="900" dirty="0">
                        <a:latin typeface="Calibri" charset="0"/>
                        <a:ea typeface="Calibri" charset="0"/>
                        <a:cs typeface="Calibri" charset="0"/>
                      </a:endParaRPr>
                    </a:p>
                  </a:txBody>
                  <a:tcPr marL="45720" marR="45720" marT="45720" marB="45720"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777240" y="5486400"/>
            <a:ext cx="6858000" cy="640080"/>
          </a:xfrm>
          <a:prstGeom prst="rect">
            <a:avLst/>
          </a:prstGeom>
          <a:solidFill>
            <a:srgbClr val="FF9900"/>
          </a:solidFill>
          <a:ln/>
        </p:spPr>
        <p:txBody>
          <a:bodyPr wrap="square" lIns="508" tIns="1270" rIns="1270" bIns="508" rtlCol="0" anchor="ctr"/>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Profil Amazon menekankan sisi pengendalian (akurasi catatan, kontrol barang keluar, aliran kerja), bukan model kuantitatif. Urutannya: akurasi dulu, model kemudian.</a:t>
            </a:r>
            <a:endParaRPr lang="en-US" sz="1050" dirty="0"/>
          </a:p>
        </p:txBody>
      </p:sp>
      <p:pic>
        <p:nvPicPr>
          <p:cNvPr id="9" name="Image 2" descr="/tmp/claude-0/-home-user-Dom-Manipulation/01edd7ad-16e1-5ac5-9e2e-840f37702b96/scratchpad/img/crop/scanner.jpg">    </p:cNvPr>
          <p:cNvPicPr>
            <a:picLocks noChangeAspect="1"/>
          </p:cNvPicPr>
          <p:nvPr/>
        </p:nvPicPr>
        <p:blipFill>
          <a:blip r:embed="rId3"/>
          <a:stretch>
            <a:fillRect/>
          </a:stretch>
        </p:blipFill>
        <p:spPr>
          <a:xfrm>
            <a:off x="8442655" y="2306472"/>
            <a:ext cx="3291840" cy="409432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pic>
        <p:nvPicPr>
          <p:cNvPr id="4" name="Image 1" descr="/tmp/claude-0/-home-user-Dom-Manipulation/01edd7ad-16e1-5ac5-9e2e-840f37702b96/scratchpad/img/map_bg.jpg">    </p:cNvPr>
          <p:cNvPicPr>
            <a:picLocks noChangeAspect="1"/>
          </p:cNvPicPr>
          <p:nvPr/>
        </p:nvPicPr>
        <p:blipFill>
          <a:blip r:embed="rId2">
            <a:alphaModFix amt="32000"/>
          </a:blip>
          <a:stretch>
            <a:fillRect/>
          </a:stretch>
        </p:blipFill>
        <p:spPr>
          <a:xfrm>
            <a:off x="365760" y="365760"/>
            <a:ext cx="11460175" cy="6126480"/>
          </a:xfrm>
          <a:prstGeom prst="rect">
            <a:avLst/>
          </a:prstGeom>
        </p:spPr>
      </p:pic>
      <p:sp>
        <p:nvSpPr>
          <p:cNvPr id="5"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19</a:t>
            </a:r>
            <a:endParaRPr lang="en-US" sz="900" dirty="0"/>
          </a:p>
        </p:txBody>
      </p:sp>
      <p:sp>
        <p:nvSpPr>
          <p:cNvPr id="6" name="Text 2"/>
          <p:cNvSpPr txBox="1"/>
          <p:nvPr/>
        </p:nvSpPr>
        <p:spPr>
          <a:xfrm>
            <a:off x="777240" y="731520"/>
            <a:ext cx="6309360" cy="571500"/>
          </a:xfrm>
          <a:prstGeom prst="rect">
            <a:avLst/>
          </a:prstGeom>
          <a:noFill/>
          <a:ln/>
        </p:spPr>
        <p:txBody>
          <a:bodyPr wrap="square" lIns="0" tIns="0" rIns="0" bIns="0" rtlCol="0" anchor="t"/>
          <a:lstStyle/>
          <a:p>
            <a:pPr indent="0" marL="0">
              <a:lnSpc>
                <a:spcPct val="95000"/>
              </a:lnSpc>
              <a:buNone/>
            </a:pPr>
            <a:r>
              <a:rPr lang="en-US" sz="2800" b="1" spc="-100" kern="0" dirty="0">
                <a:solidFill>
                  <a:srgbClr val="111111"/>
                </a:solidFill>
                <a:latin typeface="Arial" pitchFamily="34" charset="0"/>
                <a:ea typeface="Arial" pitchFamily="34" charset="-122"/>
                <a:cs typeface="Arial" pitchFamily="34" charset="-120"/>
              </a:rPr>
              <a:t>PERKEMBANGAN TERBARU</a:t>
            </a:r>
            <a:endParaRPr lang="en-US" sz="2800" dirty="0"/>
          </a:p>
        </p:txBody>
      </p:sp>
      <p:sp>
        <p:nvSpPr>
          <p:cNvPr id="7" name="Text 3"/>
          <p:cNvSpPr txBox="1"/>
          <p:nvPr/>
        </p:nvSpPr>
        <p:spPr>
          <a:xfrm>
            <a:off x="777240" y="1371600"/>
            <a:ext cx="5394960" cy="548640"/>
          </a:xfrm>
          <a:prstGeom prst="rect">
            <a:avLst/>
          </a:prstGeom>
          <a:noFill/>
          <a:ln/>
        </p:spPr>
        <p:txBody>
          <a:bodyPr wrap="square" lIns="0" tIns="0" rIns="0" bIns="0" rtlCol="0" anchor="t"/>
          <a:lstStyle/>
          <a:p>
            <a:pPr algn="l" indent="0" marL="0">
              <a:lnSpc>
                <a:spcPct val="105000"/>
              </a:lnSpc>
              <a:buNone/>
            </a:pPr>
            <a:r>
              <a:rPr lang="en-US" sz="1150" dirty="0">
                <a:solidFill>
                  <a:srgbClr val="4A4A4A"/>
                </a:solidFill>
                <a:latin typeface="Calibri" pitchFamily="34" charset="0"/>
                <a:ea typeface="Calibri" pitchFamily="34" charset="-122"/>
                <a:cs typeface="Calibri" pitchFamily="34" charset="-120"/>
              </a:rPr>
              <a:t>Buku menggambarkan kondisi sekitar 2017. Sumber berikut dari blog resmi para penulis buku, sehingga sejalan dengan rujukan kelas.</a:t>
            </a:r>
            <a:endParaRPr lang="en-US" sz="1150" dirty="0"/>
          </a:p>
        </p:txBody>
      </p:sp>
      <p:sp>
        <p:nvSpPr>
          <p:cNvPr id="8" name="Text 4"/>
          <p:cNvSpPr txBox="1"/>
          <p:nvPr/>
        </p:nvSpPr>
        <p:spPr>
          <a:xfrm>
            <a:off x="777240" y="1965960"/>
            <a:ext cx="1828800" cy="502920"/>
          </a:xfrm>
          <a:prstGeom prst="rect">
            <a:avLst/>
          </a:prstGeom>
          <a:noFill/>
          <a:ln/>
        </p:spPr>
        <p:txBody>
          <a:bodyPr wrap="square" lIns="0" tIns="0" rIns="0" bIns="0" rtlCol="0" anchor="ctr"/>
          <a:lstStyle/>
          <a:p>
            <a:pPr indent="0" marL="0">
              <a:buNone/>
            </a:pPr>
            <a:r>
              <a:rPr lang="en-US" sz="2600" b="1" dirty="0">
                <a:solidFill>
                  <a:srgbClr val="FF9900"/>
                </a:solidFill>
                <a:latin typeface="Arial" pitchFamily="34" charset="0"/>
                <a:ea typeface="Arial" pitchFamily="34" charset="-122"/>
                <a:cs typeface="Arial" pitchFamily="34" charset="-120"/>
              </a:rPr>
              <a:t>2023</a:t>
            </a:r>
            <a:endParaRPr lang="en-US" sz="2600" dirty="0"/>
          </a:p>
        </p:txBody>
      </p:sp>
      <p:sp>
        <p:nvSpPr>
          <p:cNvPr id="9" name="Text 5"/>
          <p:cNvSpPr txBox="1"/>
          <p:nvPr/>
        </p:nvSpPr>
        <p:spPr>
          <a:xfrm>
            <a:off x="777240" y="2514600"/>
            <a:ext cx="5394960" cy="1188720"/>
          </a:xfrm>
          <a:prstGeom prst="rect">
            <a:avLst/>
          </a:prstGeom>
          <a:noFill/>
          <a:ln/>
        </p:spPr>
        <p:txBody>
          <a:bodyPr wrap="square" lIns="0" tIns="0" rIns="0" bIns="0" rtlCol="0" anchor="t"/>
          <a:lstStyle/>
          <a:p>
            <a:pPr marL="342900" indent="-342900">
              <a:lnSpc>
                <a:spcPct val="105000"/>
              </a:lnSpc>
              <a:spcAft>
                <a:spcPts val="400"/>
              </a:spcAft>
              <a:buSzPct val="100000"/>
              <a:buChar char="■"/>
            </a:pPr>
            <a:r>
              <a:rPr lang="en-US" sz="1050" dirty="0">
                <a:solidFill>
                  <a:srgbClr val="4A4A4A"/>
                </a:solidFill>
                <a:latin typeface="Calibri" pitchFamily="34" charset="0"/>
                <a:ea typeface="Calibri" pitchFamily="34" charset="-122"/>
                <a:cs typeface="Calibri" pitchFamily="34" charset="-120"/>
              </a:rPr>
              <a:t>Jaringan AS dibagi 8 wilayah dengan stok lengkap per wilayah; lebih dari 76% permintaan dipenuhi dari dalam wilayahnya</a:t>
            </a:r>
            <a:endParaRPr lang="en-US" sz="1050" dirty="0"/>
          </a:p>
          <a:p>
            <a:pPr marL="342900" indent="-342900">
              <a:lnSpc>
                <a:spcPct val="105000"/>
              </a:lnSpc>
              <a:spcAft>
                <a:spcPts val="400"/>
              </a:spcAft>
              <a:buSzPct val="100000"/>
              <a:buChar char="■"/>
            </a:pPr>
            <a:r>
              <a:rPr lang="en-US" sz="1050" dirty="0">
                <a:solidFill>
                  <a:srgbClr val="4A4A4A"/>
                </a:solidFill>
                <a:latin typeface="Calibri" pitchFamily="34" charset="0"/>
                <a:ea typeface="Calibri" pitchFamily="34" charset="-122"/>
                <a:cs typeface="Calibri" pitchFamily="34" charset="-120"/>
              </a:rPr>
              <a:t>Same-day facility menyimpan 100.000 item terlaris per wilayah, dipilih dengan machine learning</a:t>
            </a:r>
            <a:endParaRPr lang="en-US" sz="1050" dirty="0"/>
          </a:p>
          <a:p>
            <a:pPr marL="342900" indent="-342900">
              <a:lnSpc>
                <a:spcPct val="105000"/>
              </a:lnSpc>
              <a:spcAft>
                <a:spcPts val="400"/>
              </a:spcAft>
              <a:buSzPct val="100000"/>
              <a:buChar char="■"/>
            </a:pPr>
            <a:r>
              <a:rPr lang="en-US" sz="1050" dirty="0">
                <a:solidFill>
                  <a:srgbClr val="4A4A4A"/>
                </a:solidFill>
                <a:latin typeface="Calibri" pitchFamily="34" charset="0"/>
                <a:ea typeface="Calibri" pitchFamily="34" charset="-122"/>
                <a:cs typeface="Calibri" pitchFamily="34" charset="-120"/>
              </a:rPr>
              <a:t>Rata-rata picking sampai paket di dock keluar: 11 menit</a:t>
            </a:r>
            <a:endParaRPr lang="en-US" sz="1050" dirty="0"/>
          </a:p>
        </p:txBody>
      </p:sp>
      <p:sp>
        <p:nvSpPr>
          <p:cNvPr id="10" name="Text 6"/>
          <p:cNvSpPr txBox="1"/>
          <p:nvPr/>
        </p:nvSpPr>
        <p:spPr>
          <a:xfrm>
            <a:off x="777240" y="3703320"/>
            <a:ext cx="5394960" cy="502920"/>
          </a:xfrm>
          <a:prstGeom prst="rect">
            <a:avLst/>
          </a:prstGeom>
          <a:solidFill>
            <a:srgbClr val="FFE2B8"/>
          </a:solidFill>
          <a:ln/>
        </p:spPr>
        <p:txBody>
          <a:bodyPr wrap="square" lIns="508" tIns="1270" rIns="1270" bIns="508" rtlCol="0" anchor="ctr"/>
          <a:lstStyle/>
          <a:p>
            <a:pPr algn="l" indent="0" marL="0">
              <a:lnSpc>
                <a:spcPct val="105000"/>
              </a:lnSpc>
              <a:buNone/>
            </a:pPr>
            <a:r>
              <a:rPr lang="en-US" sz="950" dirty="0">
                <a:solidFill>
                  <a:srgbClr val="111111"/>
                </a:solidFill>
                <a:latin typeface="Calibri" pitchFamily="34" charset="0"/>
                <a:ea typeface="Calibri" pitchFamily="34" charset="-122"/>
                <a:cs typeface="Calibri" pitchFamily="34" charset="-120"/>
              </a:rPr>
              <a:t>Melanjutkan langkah alokasi ke DC menjadi keputusan where per wilayah; pemilihan 100.000 item terlaris adalah Pareto/ABC pada penempatan stok.</a:t>
            </a:r>
            <a:endParaRPr lang="en-US" sz="950" dirty="0"/>
          </a:p>
        </p:txBody>
      </p:sp>
      <p:sp>
        <p:nvSpPr>
          <p:cNvPr id="11" name="Text 7"/>
          <p:cNvSpPr txBox="1"/>
          <p:nvPr/>
        </p:nvSpPr>
        <p:spPr>
          <a:xfrm>
            <a:off x="777240" y="4343400"/>
            <a:ext cx="1828800" cy="502920"/>
          </a:xfrm>
          <a:prstGeom prst="rect">
            <a:avLst/>
          </a:prstGeom>
          <a:noFill/>
          <a:ln/>
        </p:spPr>
        <p:txBody>
          <a:bodyPr wrap="square" lIns="0" tIns="0" rIns="0" bIns="0" rtlCol="0" anchor="ctr"/>
          <a:lstStyle/>
          <a:p>
            <a:pPr indent="0" marL="0">
              <a:buNone/>
            </a:pPr>
            <a:r>
              <a:rPr lang="en-US" sz="2600" b="1" dirty="0">
                <a:solidFill>
                  <a:srgbClr val="FF9900"/>
                </a:solidFill>
                <a:latin typeface="Arial" pitchFamily="34" charset="0"/>
                <a:ea typeface="Arial" pitchFamily="34" charset="-122"/>
                <a:cs typeface="Arial" pitchFamily="34" charset="-120"/>
              </a:rPr>
              <a:t>2025</a:t>
            </a:r>
            <a:endParaRPr lang="en-US" sz="2600" dirty="0"/>
          </a:p>
        </p:txBody>
      </p:sp>
      <p:sp>
        <p:nvSpPr>
          <p:cNvPr id="12" name="Text 8"/>
          <p:cNvSpPr txBox="1"/>
          <p:nvPr/>
        </p:nvSpPr>
        <p:spPr>
          <a:xfrm>
            <a:off x="777240" y="4892040"/>
            <a:ext cx="5394960" cy="822960"/>
          </a:xfrm>
          <a:prstGeom prst="rect">
            <a:avLst/>
          </a:prstGeom>
          <a:noFill/>
          <a:ln/>
        </p:spPr>
        <p:txBody>
          <a:bodyPr wrap="square" lIns="0" tIns="0" rIns="0" bIns="0" rtlCol="0" anchor="t"/>
          <a:lstStyle/>
          <a:p>
            <a:pPr marL="342900" indent="-342900">
              <a:lnSpc>
                <a:spcPct val="105000"/>
              </a:lnSpc>
              <a:spcAft>
                <a:spcPts val="400"/>
              </a:spcAft>
              <a:buSzPct val="100000"/>
              <a:buChar char="■"/>
            </a:pPr>
            <a:r>
              <a:rPr lang="en-US" sz="1050" dirty="0">
                <a:solidFill>
                  <a:srgbClr val="4A4A4A"/>
                </a:solidFill>
                <a:latin typeface="Calibri" pitchFamily="34" charset="0"/>
                <a:ea typeface="Calibri" pitchFamily="34" charset="-122"/>
                <a:cs typeface="Calibri" pitchFamily="34" charset="-120"/>
              </a:rPr>
              <a:t>Lebih dari satu juta robot beroperasi; sekitar 75% pengiriman global melibatkan bantuan robot</a:t>
            </a:r>
            <a:endParaRPr lang="en-US" sz="1050" dirty="0"/>
          </a:p>
          <a:p>
            <a:pPr marL="342900" indent="-342900">
              <a:lnSpc>
                <a:spcPct val="105000"/>
              </a:lnSpc>
              <a:spcAft>
                <a:spcPts val="400"/>
              </a:spcAft>
              <a:buSzPct val="100000"/>
              <a:buChar char="■"/>
            </a:pPr>
            <a:r>
              <a:rPr lang="en-US" sz="1050" dirty="0">
                <a:solidFill>
                  <a:srgbClr val="4A4A4A"/>
                </a:solidFill>
                <a:latin typeface="Calibri" pitchFamily="34" charset="0"/>
                <a:ea typeface="Calibri" pitchFamily="34" charset="-122"/>
                <a:cs typeface="Calibri" pitchFamily="34" charset="-120"/>
              </a:rPr>
              <a:t>Paket terkirim per karyawan per tahun naik dari 175 menjadi 3.870 dalam satu dekade</a:t>
            </a:r>
            <a:endParaRPr lang="en-US" sz="1050" dirty="0"/>
          </a:p>
        </p:txBody>
      </p:sp>
      <p:sp>
        <p:nvSpPr>
          <p:cNvPr id="13" name="Text 9"/>
          <p:cNvSpPr txBox="1"/>
          <p:nvPr/>
        </p:nvSpPr>
        <p:spPr>
          <a:xfrm>
            <a:off x="777240" y="5760720"/>
            <a:ext cx="5394960" cy="384048"/>
          </a:xfrm>
          <a:prstGeom prst="rect">
            <a:avLst/>
          </a:prstGeom>
          <a:solidFill>
            <a:srgbClr val="FFE2B8"/>
          </a:solidFill>
          <a:ln/>
        </p:spPr>
        <p:txBody>
          <a:bodyPr wrap="square" lIns="508" tIns="1270" rIns="1270" bIns="508" rtlCol="0" anchor="ctr"/>
          <a:lstStyle/>
          <a:p>
            <a:pPr algn="l" indent="0" marL="0">
              <a:lnSpc>
                <a:spcPct val="105000"/>
              </a:lnSpc>
              <a:buNone/>
            </a:pPr>
            <a:r>
              <a:rPr lang="en-US" sz="950" dirty="0">
                <a:solidFill>
                  <a:srgbClr val="111111"/>
                </a:solidFill>
                <a:latin typeface="Calibri" pitchFamily="34" charset="0"/>
                <a:ea typeface="Calibri" pitchFamily="34" charset="-122"/>
                <a:cs typeface="Calibri" pitchFamily="34" charset="-120"/>
              </a:rPr>
              <a:t>Angka per karyawan adalah ukuran single-factor; jangan dibaca sebagai efisiensi total.</a:t>
            </a:r>
            <a:endParaRPr lang="en-US" sz="950" dirty="0"/>
          </a:p>
        </p:txBody>
      </p:sp>
      <p:pic>
        <p:nvPicPr>
          <p:cNvPr id="14" name="Image 2" descr="/tmp/claude-0/-home-user-Dom-Manipulation/01edd7ad-16e1-5ac5-9e2e-840f37702b96/scratchpad/img/crop/robots.jpg">    </p:cNvPr>
          <p:cNvPicPr>
            <a:picLocks noChangeAspect="1"/>
          </p:cNvPicPr>
          <p:nvPr/>
        </p:nvPicPr>
        <p:blipFill>
          <a:blip r:embed="rId3"/>
          <a:stretch>
            <a:fillRect/>
          </a:stretch>
        </p:blipFill>
        <p:spPr>
          <a:xfrm>
            <a:off x="6492240" y="3336945"/>
            <a:ext cx="5242255" cy="306385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6F6"/>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55000"/>
          </a:blip>
          <a:stretch>
            <a:fillRect/>
          </a:stretch>
        </p:blipFill>
        <p:spPr>
          <a:xfrm>
            <a:off x="0" y="0"/>
            <a:ext cx="12191695" cy="6858000"/>
          </a:xfrm>
          <a:prstGeom prst="rect">
            <a:avLst/>
          </a:prstGeom>
        </p:spPr>
      </p:pic>
      <p:sp>
        <p:nvSpPr>
          <p:cNvPr id="3" name="Shape 0"/>
          <p:cNvSpPr/>
          <p:nvPr/>
        </p:nvSpPr>
        <p:spPr>
          <a:xfrm>
            <a:off x="320040" y="320040"/>
            <a:ext cx="11551615" cy="6217920"/>
          </a:xfrm>
          <a:prstGeom prst="roundRect">
            <a:avLst>
              <a:gd name="adj" fmla="val 2647"/>
            </a:avLst>
          </a:prstGeom>
          <a:solidFill>
            <a:srgbClr val="FFFFFF"/>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4" name="Text 1"/>
          <p:cNvSpPr txBox="1"/>
          <p:nvPr/>
        </p:nvSpPr>
        <p:spPr>
          <a:xfrm>
            <a:off x="11277295" y="6556248"/>
            <a:ext cx="502920" cy="22860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20</a:t>
            </a:r>
            <a:endParaRPr lang="en-US" sz="900" dirty="0"/>
          </a:p>
        </p:txBody>
      </p:sp>
      <p:pic>
        <p:nvPicPr>
          <p:cNvPr id="5" name="Image 1" descr="/tmp/claude-0/-home-user-Dom-Manipulation/01edd7ad-16e1-5ac5-9e2e-840f37702b96/scratchpad/img/crop/dock.jpg">    </p:cNvPr>
          <p:cNvPicPr>
            <a:picLocks noChangeAspect="1"/>
          </p:cNvPicPr>
          <p:nvPr/>
        </p:nvPicPr>
        <p:blipFill>
          <a:blip r:embed="rId2"/>
          <a:srcRect l="0" r="0" t="0" b="0"/>
          <a:stretch/>
        </p:blipFill>
        <p:spPr>
          <a:xfrm>
            <a:off x="429768" y="429768"/>
            <a:ext cx="11332159" cy="5998464"/>
          </a:xfrm>
          <a:prstGeom prst="rect">
            <a:avLst/>
          </a:prstGeom>
        </p:spPr>
      </p:pic>
      <p:sp>
        <p:nvSpPr>
          <p:cNvPr id="6" name="Shape 2"/>
          <p:cNvSpPr/>
          <p:nvPr/>
        </p:nvSpPr>
        <p:spPr>
          <a:xfrm>
            <a:off x="429768" y="429768"/>
            <a:ext cx="11332159" cy="5998464"/>
          </a:xfrm>
          <a:prstGeom prst="rect">
            <a:avLst/>
          </a:prstGeom>
          <a:solidFill>
            <a:srgbClr val="FFFFFF">
              <a:alpha val="22000"/>
            </a:srgbClr>
          </a:solidFill>
          <a:ln w="12700">
            <a:solidFill>
              <a:srgbClr val="FFFFFF"/>
            </a:solidFill>
            <a:prstDash val="solid"/>
          </a:ln>
        </p:spPr>
      </p:sp>
      <p:sp>
        <p:nvSpPr>
          <p:cNvPr id="7" name="Text 3"/>
          <p:cNvSpPr txBox="1"/>
          <p:nvPr/>
        </p:nvSpPr>
        <p:spPr>
          <a:xfrm>
            <a:off x="777240" y="685800"/>
            <a:ext cx="10515600" cy="537210"/>
          </a:xfrm>
          <a:prstGeom prst="rect">
            <a:avLst/>
          </a:prstGeom>
          <a:noFill/>
          <a:ln/>
        </p:spPr>
        <p:txBody>
          <a:bodyPr wrap="square" lIns="0" tIns="0" rIns="0" bIns="0" rtlCol="0" anchor="t"/>
          <a:lstStyle/>
          <a:p>
            <a:pPr indent="0" marL="0">
              <a:lnSpc>
                <a:spcPct val="95000"/>
              </a:lnSpc>
              <a:buNone/>
            </a:pPr>
            <a:r>
              <a:rPr lang="en-US" sz="2600" b="1" spc="-100" kern="0" dirty="0">
                <a:solidFill>
                  <a:srgbClr val="111111"/>
                </a:solidFill>
                <a:latin typeface="Arial" pitchFamily="34" charset="0"/>
                <a:ea typeface="Arial" pitchFamily="34" charset="-122"/>
                <a:cs typeface="Arial" pitchFamily="34" charset="-120"/>
              </a:rPr>
              <a:t>LESSON LEARNED: APA YANG BISA DAN TIDAK BISA DITIRU</a:t>
            </a:r>
            <a:endParaRPr lang="en-US" sz="2600" dirty="0"/>
          </a:p>
        </p:txBody>
      </p:sp>
      <p:sp>
        <p:nvSpPr>
          <p:cNvPr id="8" name="Shape 4"/>
          <p:cNvSpPr/>
          <p:nvPr/>
        </p:nvSpPr>
        <p:spPr>
          <a:xfrm>
            <a:off x="777240" y="1508760"/>
            <a:ext cx="5303520" cy="1362456"/>
          </a:xfrm>
          <a:prstGeom prst="roundRect">
            <a:avLst>
              <a:gd name="adj" fmla="val 6711"/>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9" name="Text 5"/>
          <p:cNvSpPr txBox="1"/>
          <p:nvPr/>
        </p:nvSpPr>
        <p:spPr>
          <a:xfrm>
            <a:off x="914400" y="158191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01</a:t>
            </a:r>
            <a:endParaRPr lang="en-US" sz="3200" dirty="0"/>
          </a:p>
        </p:txBody>
      </p:sp>
      <p:sp>
        <p:nvSpPr>
          <p:cNvPr id="10" name="Text 6"/>
          <p:cNvSpPr txBox="1"/>
          <p:nvPr/>
        </p:nvSpPr>
        <p:spPr>
          <a:xfrm>
            <a:off x="1828800" y="1636776"/>
            <a:ext cx="411480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200" b="1" dirty="0">
                <a:solidFill>
                  <a:srgbClr val="111111"/>
                </a:solidFill>
                <a:latin typeface="Arial" pitchFamily="34" charset="0"/>
                <a:ea typeface="Arial" pitchFamily="34" charset="-122"/>
                <a:cs typeface="Arial" pitchFamily="34" charset="-120"/>
              </a:rPr>
              <a:t>PERSEDIAAN BISA MENJADI KEUNGGULAN BERSAING</a:t>
            </a:r>
            <a:endParaRPr lang="en-US" sz="1200" dirty="0"/>
          </a:p>
        </p:txBody>
      </p:sp>
      <p:sp>
        <p:nvSpPr>
          <p:cNvPr id="11" name="Text 7"/>
          <p:cNvSpPr txBox="1"/>
          <p:nvPr/>
        </p:nvSpPr>
        <p:spPr>
          <a:xfrm>
            <a:off x="1920240" y="2221992"/>
            <a:ext cx="3977640" cy="566928"/>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Syaratnya dikelola presisi: stok besar yang diketahui lokasinya, diambil benar, diproses cepat.</a:t>
            </a:r>
            <a:endParaRPr lang="en-US" sz="950" dirty="0"/>
          </a:p>
        </p:txBody>
      </p:sp>
      <p:sp>
        <p:nvSpPr>
          <p:cNvPr id="12" name="Shape 8"/>
          <p:cNvSpPr/>
          <p:nvPr/>
        </p:nvSpPr>
        <p:spPr>
          <a:xfrm>
            <a:off x="6355080" y="1508760"/>
            <a:ext cx="5303520" cy="1362456"/>
          </a:xfrm>
          <a:prstGeom prst="roundRect">
            <a:avLst>
              <a:gd name="adj" fmla="val 6711"/>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13" name="Text 9"/>
          <p:cNvSpPr txBox="1"/>
          <p:nvPr/>
        </p:nvSpPr>
        <p:spPr>
          <a:xfrm>
            <a:off x="6492240" y="158191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02</a:t>
            </a:r>
            <a:endParaRPr lang="en-US" sz="3200" dirty="0"/>
          </a:p>
        </p:txBody>
      </p:sp>
      <p:sp>
        <p:nvSpPr>
          <p:cNvPr id="14" name="Text 10"/>
          <p:cNvSpPr txBox="1"/>
          <p:nvPr/>
        </p:nvSpPr>
        <p:spPr>
          <a:xfrm>
            <a:off x="7406640" y="1636776"/>
            <a:ext cx="411480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200" b="1" dirty="0">
                <a:solidFill>
                  <a:srgbClr val="111111"/>
                </a:solidFill>
                <a:latin typeface="Arial" pitchFamily="34" charset="0"/>
                <a:ea typeface="Arial" pitchFamily="34" charset="-122"/>
                <a:cs typeface="Arial" pitchFamily="34" charset="-120"/>
              </a:rPr>
              <a:t>AKURASI CATATAN ADALAH PRASYARAT</a:t>
            </a:r>
            <a:endParaRPr lang="en-US" sz="1200" dirty="0"/>
          </a:p>
        </p:txBody>
      </p:sp>
      <p:sp>
        <p:nvSpPr>
          <p:cNvPr id="15" name="Text 11"/>
          <p:cNvSpPr txBox="1"/>
          <p:nvPr/>
        </p:nvSpPr>
        <p:spPr>
          <a:xfrm>
            <a:off x="7498080" y="2221992"/>
            <a:ext cx="3977640" cy="566928"/>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Delapan langkah runtuh kalau catatan stok per DC salah. Akurasi dulu, model kemudian.</a:t>
            </a:r>
            <a:endParaRPr lang="en-US" sz="950" dirty="0"/>
          </a:p>
        </p:txBody>
      </p:sp>
      <p:sp>
        <p:nvSpPr>
          <p:cNvPr id="16" name="Shape 12"/>
          <p:cNvSpPr/>
          <p:nvPr/>
        </p:nvSpPr>
        <p:spPr>
          <a:xfrm>
            <a:off x="777240" y="3108960"/>
            <a:ext cx="5303520" cy="1362456"/>
          </a:xfrm>
          <a:prstGeom prst="roundRect">
            <a:avLst>
              <a:gd name="adj" fmla="val 6711"/>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17" name="Text 13"/>
          <p:cNvSpPr txBox="1"/>
          <p:nvPr/>
        </p:nvSpPr>
        <p:spPr>
          <a:xfrm>
            <a:off x="914400" y="318211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03</a:t>
            </a:r>
            <a:endParaRPr lang="en-US" sz="3200" dirty="0"/>
          </a:p>
        </p:txBody>
      </p:sp>
      <p:sp>
        <p:nvSpPr>
          <p:cNvPr id="18" name="Text 14"/>
          <p:cNvSpPr txBox="1"/>
          <p:nvPr/>
        </p:nvSpPr>
        <p:spPr>
          <a:xfrm>
            <a:off x="1828800" y="3236976"/>
            <a:ext cx="411480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200" b="1" dirty="0">
                <a:solidFill>
                  <a:srgbClr val="111111"/>
                </a:solidFill>
                <a:latin typeface="Arial" pitchFamily="34" charset="0"/>
                <a:ea typeface="Arial" pitchFamily="34" charset="-122"/>
                <a:cs typeface="Arial" pitchFamily="34" charset="-120"/>
              </a:rPr>
              <a:t>KECEPATAN DIBANGUN DARI DALAM</a:t>
            </a:r>
            <a:endParaRPr lang="en-US" sz="1200" dirty="0"/>
          </a:p>
        </p:txBody>
      </p:sp>
      <p:sp>
        <p:nvSpPr>
          <p:cNvPr id="19" name="Text 15"/>
          <p:cNvSpPr txBox="1"/>
          <p:nvPr/>
        </p:nvSpPr>
        <p:spPr>
          <a:xfrm>
            <a:off x="1920240" y="3822192"/>
            <a:ext cx="3977640" cy="566928"/>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Posisi stok dan proses pendek memungkinkan moda kirim murah untuk 60% pesanan.</a:t>
            </a:r>
            <a:endParaRPr lang="en-US" sz="950" dirty="0"/>
          </a:p>
        </p:txBody>
      </p:sp>
      <p:sp>
        <p:nvSpPr>
          <p:cNvPr id="20" name="Shape 16"/>
          <p:cNvSpPr/>
          <p:nvPr/>
        </p:nvSpPr>
        <p:spPr>
          <a:xfrm>
            <a:off x="6355080" y="3108960"/>
            <a:ext cx="5303520" cy="1362456"/>
          </a:xfrm>
          <a:prstGeom prst="roundRect">
            <a:avLst>
              <a:gd name="adj" fmla="val 6711"/>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21" name="Text 17"/>
          <p:cNvSpPr txBox="1"/>
          <p:nvPr/>
        </p:nvSpPr>
        <p:spPr>
          <a:xfrm>
            <a:off x="6492240" y="318211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04</a:t>
            </a:r>
            <a:endParaRPr lang="en-US" sz="3200" dirty="0"/>
          </a:p>
        </p:txBody>
      </p:sp>
      <p:sp>
        <p:nvSpPr>
          <p:cNvPr id="22" name="Text 18"/>
          <p:cNvSpPr txBox="1"/>
          <p:nvPr/>
        </p:nvSpPr>
        <p:spPr>
          <a:xfrm>
            <a:off x="7406640" y="3236976"/>
            <a:ext cx="411480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200" b="1" dirty="0">
                <a:solidFill>
                  <a:srgbClr val="111111"/>
                </a:solidFill>
                <a:latin typeface="Arial" pitchFamily="34" charset="0"/>
                <a:ea typeface="Arial" pitchFamily="34" charset="-122"/>
                <a:cs typeface="Arial" pitchFamily="34" charset="-120"/>
              </a:rPr>
              <a:t>KONTROL BERLAPIS KARENA BIAYA KESALAHAN LEBIH BESAR</a:t>
            </a:r>
            <a:endParaRPr lang="en-US" sz="1200" dirty="0"/>
          </a:p>
        </p:txBody>
      </p:sp>
      <p:sp>
        <p:nvSpPr>
          <p:cNvPr id="23" name="Text 19"/>
          <p:cNvSpPr txBox="1"/>
          <p:nvPr/>
        </p:nvSpPr>
        <p:spPr>
          <a:xfrm>
            <a:off x="7498080" y="3822192"/>
            <a:ext cx="3977640" cy="566928"/>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Bukan trade-off; keduanya searah. Kerjakan saja.</a:t>
            </a:r>
            <a:endParaRPr lang="en-US" sz="950" dirty="0"/>
          </a:p>
        </p:txBody>
      </p:sp>
      <p:sp>
        <p:nvSpPr>
          <p:cNvPr id="24" name="Shape 20"/>
          <p:cNvSpPr/>
          <p:nvPr/>
        </p:nvSpPr>
        <p:spPr>
          <a:xfrm>
            <a:off x="777240" y="4709160"/>
            <a:ext cx="5303520" cy="1362456"/>
          </a:xfrm>
          <a:prstGeom prst="roundRect">
            <a:avLst>
              <a:gd name="adj" fmla="val 6711"/>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25" name="Text 21"/>
          <p:cNvSpPr txBox="1"/>
          <p:nvPr/>
        </p:nvSpPr>
        <p:spPr>
          <a:xfrm>
            <a:off x="914400" y="478231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05</a:t>
            </a:r>
            <a:endParaRPr lang="en-US" sz="3200" dirty="0"/>
          </a:p>
        </p:txBody>
      </p:sp>
      <p:sp>
        <p:nvSpPr>
          <p:cNvPr id="26" name="Text 22"/>
          <p:cNvSpPr txBox="1"/>
          <p:nvPr/>
        </p:nvSpPr>
        <p:spPr>
          <a:xfrm>
            <a:off x="1828800" y="4837176"/>
            <a:ext cx="411480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200" b="1" dirty="0">
                <a:solidFill>
                  <a:srgbClr val="111111"/>
                </a:solidFill>
                <a:latin typeface="Arial" pitchFamily="34" charset="0"/>
                <a:ea typeface="Arial" pitchFamily="34" charset="-122"/>
                <a:cs typeface="Arial" pitchFamily="34" charset="-120"/>
              </a:rPr>
              <a:t>OTOMASI DIBENARKAN OLEH VOLUME</a:t>
            </a:r>
            <a:endParaRPr lang="en-US" sz="1200" dirty="0"/>
          </a:p>
        </p:txBody>
      </p:sp>
      <p:sp>
        <p:nvSpPr>
          <p:cNvPr id="27" name="Text 23"/>
          <p:cNvSpPr txBox="1"/>
          <p:nvPr/>
        </p:nvSpPr>
        <p:spPr>
          <a:xfrm>
            <a:off x="1920240" y="5422392"/>
            <a:ext cx="3977640" cy="566928"/>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Penghematan US$0,70–1,50 per pesanan hanya berarti pada ratusan ribu pieces per hari.</a:t>
            </a:r>
            <a:endParaRPr lang="en-US" sz="950" dirty="0"/>
          </a:p>
        </p:txBody>
      </p:sp>
      <p:sp>
        <p:nvSpPr>
          <p:cNvPr id="28" name="Shape 24"/>
          <p:cNvSpPr/>
          <p:nvPr/>
        </p:nvSpPr>
        <p:spPr>
          <a:xfrm>
            <a:off x="6355080" y="4709160"/>
            <a:ext cx="5303520" cy="1362456"/>
          </a:xfrm>
          <a:prstGeom prst="roundRect">
            <a:avLst>
              <a:gd name="adj" fmla="val 6711"/>
            </a:avLst>
          </a:prstGeom>
          <a:solidFill>
            <a:srgbClr val="FFFFFF">
              <a:alpha val="94000"/>
            </a:srgbClr>
          </a:solidFill>
          <a:ln w="12700">
            <a:solidFill>
              <a:srgbClr val="FFFFFF"/>
            </a:solidFill>
            <a:prstDash val="solid"/>
          </a:ln>
          <a:effectLst>
            <a:outerShdw sx="100000" sy="100000" kx="0" ky="0" algn="bl" rotWithShape="0" blurRad="101600" dist="38100" dir="3600000">
              <a:srgbClr val="000000">
                <a:alpha val="18000"/>
              </a:srgbClr>
            </a:outerShdw>
          </a:effectLst>
        </p:spPr>
      </p:sp>
      <p:sp>
        <p:nvSpPr>
          <p:cNvPr id="29" name="Text 25"/>
          <p:cNvSpPr txBox="1"/>
          <p:nvPr/>
        </p:nvSpPr>
        <p:spPr>
          <a:xfrm>
            <a:off x="6492240" y="4782312"/>
            <a:ext cx="914400" cy="566928"/>
          </a:xfrm>
          <a:prstGeom prst="rect">
            <a:avLst/>
          </a:prstGeom>
          <a:noFill/>
          <a:ln/>
        </p:spPr>
        <p:txBody>
          <a:bodyPr wrap="square" lIns="0" tIns="0" rIns="0" bIns="0" rtlCol="0" anchor="ctr"/>
          <a:lstStyle/>
          <a:p>
            <a:pPr indent="0" marL="0">
              <a:buNone/>
            </a:pPr>
            <a:r>
              <a:rPr lang="en-US" sz="3200" b="1" dirty="0">
                <a:solidFill>
                  <a:srgbClr val="FF9900"/>
                </a:solidFill>
                <a:latin typeface="Arial" pitchFamily="34" charset="0"/>
                <a:ea typeface="Arial" pitchFamily="34" charset="-122"/>
                <a:cs typeface="Arial" pitchFamily="34" charset="-120"/>
              </a:rPr>
              <a:t>06</a:t>
            </a:r>
            <a:endParaRPr lang="en-US" sz="3200" dirty="0"/>
          </a:p>
        </p:txBody>
      </p:sp>
      <p:sp>
        <p:nvSpPr>
          <p:cNvPr id="30" name="Text 26"/>
          <p:cNvSpPr txBox="1"/>
          <p:nvPr/>
        </p:nvSpPr>
        <p:spPr>
          <a:xfrm>
            <a:off x="7406640" y="4837176"/>
            <a:ext cx="4114800" cy="457200"/>
          </a:xfrm>
          <a:prstGeom prst="rect">
            <a:avLst/>
          </a:prstGeom>
          <a:solidFill>
            <a:srgbClr val="FFE2B8"/>
          </a:solidFill>
          <a:ln/>
        </p:spPr>
        <p:txBody>
          <a:bodyPr wrap="square" lIns="508" tIns="1270" rIns="1270" bIns="508" rtlCol="0" anchor="ctr"/>
          <a:lstStyle/>
          <a:p>
            <a:pPr algn="l" indent="0" marL="0">
              <a:lnSpc>
                <a:spcPct val="105000"/>
              </a:lnSpc>
              <a:buNone/>
            </a:pPr>
            <a:r>
              <a:rPr lang="en-US" sz="1200" b="1" dirty="0">
                <a:solidFill>
                  <a:srgbClr val="111111"/>
                </a:solidFill>
                <a:latin typeface="Arial" pitchFamily="34" charset="0"/>
                <a:ea typeface="Arial" pitchFamily="34" charset="-122"/>
                <a:cs typeface="Arial" pitchFamily="34" charset="-120"/>
              </a:rPr>
              <a:t>TRADE-OFF YANG TERSISA DIPILIH SECARA SADAR</a:t>
            </a:r>
            <a:endParaRPr lang="en-US" sz="1200" dirty="0"/>
          </a:p>
        </p:txBody>
      </p:sp>
      <p:sp>
        <p:nvSpPr>
          <p:cNvPr id="31" name="Text 27"/>
          <p:cNvSpPr txBox="1"/>
          <p:nvPr/>
        </p:nvSpPr>
        <p:spPr>
          <a:xfrm>
            <a:off x="7498080" y="5422392"/>
            <a:ext cx="3977640" cy="566928"/>
          </a:xfrm>
          <a:prstGeom prst="rect">
            <a:avLst/>
          </a:prstGeom>
          <a:noFill/>
          <a:ln/>
        </p:spPr>
        <p:txBody>
          <a:bodyPr wrap="square" lIns="0" tIns="0" rIns="0" bIns="0" rtlCol="0" anchor="t"/>
          <a:lstStyle/>
          <a:p>
            <a:pPr algn="l" indent="0" marL="0">
              <a:lnSpc>
                <a:spcPct val="105000"/>
              </a:lnSpc>
              <a:buNone/>
            </a:pPr>
            <a:r>
              <a:rPr lang="en-US" sz="950" dirty="0">
                <a:solidFill>
                  <a:srgbClr val="4A4A4A"/>
                </a:solidFill>
                <a:latin typeface="Calibri" pitchFamily="34" charset="0"/>
                <a:ea typeface="Calibri" pitchFamily="34" charset="-122"/>
                <a:cs typeface="Calibri" pitchFamily="34" charset="-120"/>
              </a:rPr>
              <a:t>Holding cost tinggi diterima karena dampak kekosongan di ritel daring signifikan.</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Inventory Management sebagai Keunggulan Kompetitif Amazon.com</dc:title>
  <dc:subject>PptxGenJS Presentation</dc:subject>
  <dc:creator>Kelompok 4</dc:creator>
  <cp:lastModifiedBy>Kelompok 4</cp:lastModifiedBy>
  <cp:revision>1</cp:revision>
  <dcterms:created xsi:type="dcterms:W3CDTF">2026-09-07T15:16:26Z</dcterms:created>
  <dcterms:modified xsi:type="dcterms:W3CDTF">2026-09-07T15:16:26Z</dcterms:modified>
</cp:coreProperties>
</file>