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Inventory management termasuk daily decision, satu kelompok dengan MRP, sequencing, dan scheduling. Arahnya ditentukan strategi operasi yang dipilih lebih dulu.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Aturan ini dipakai untuk menilai apakah stok Amazon yang sangat besar itu pemborosan atau justru keputusan yang benar.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Dikelola sendiri: stok di gudang terdekat pelanggan, titik kontrol dirancang sendiri, biaya per pesanan ditekan lewat volume dan otomasi. Kalau dititipkan ke pihak ketiga: kecepatan bergantung stok dan proses orang lain; kesalahan pihak lain menjadi biaya return Amazon tetapi tidak bisa dikendalikan; margin pihak ketiga masuk ke harga.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sky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6113" y="2414016"/>
            <a:ext cx="9579469" cy="35204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84632" y="5916168"/>
            <a:ext cx="11222431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484632" y="5916168"/>
            <a:ext cx="1463040" cy="457200"/>
          </a:xfrm>
          <a:prstGeom prst="rect">
            <a:avLst/>
          </a:prstGeom>
          <a:solidFill>
            <a:srgbClr val="E8A0A8"/>
          </a:solidFill>
          <a:ln w="12700">
            <a:solidFill>
              <a:srgbClr val="E8A0A8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484632" y="591616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KELOMPOK 4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2194560" y="5916168"/>
            <a:ext cx="9357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Bagaskoro  ·  25/574280/PEK/31778          Aulia Sisca Rahmadiyanti  ·  25/574305/PEK/31789          Fitra Aidila  ·  25/574309/PEK/31791</a:t>
            </a:r>
            <a:endParaRPr lang="en-US" sz="1300" dirty="0"/>
          </a:p>
        </p:txBody>
      </p:sp>
      <p:pic>
        <p:nvPicPr>
          <p:cNvPr id="10" name="Image 2" descr="/tmp/claude-0/-home-user-Dom-Manipulation/01edd7ad-16e1-5ac5-9e2e-840f37702b96/scratchpad/img/txt/45b8b9d1ee1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731520"/>
            <a:ext cx="8726394" cy="173123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map_den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6344"/>
            <a:ext cx="3861511" cy="5925312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f46ac3db330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1283178" cy="59134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645920"/>
            <a:ext cx="8778240" cy="56692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Membaca kasus Amazon dari strategi ke bawah: mengapa persediaan dipegang sendiri, bagaimana satu pesanan dipenuhi, dan trade-off apa yang diambil.</a:t>
            </a:r>
            <a:endParaRPr lang="en-US" sz="1600" dirty="0"/>
          </a:p>
        </p:txBody>
      </p:sp>
      <p:pic>
        <p:nvPicPr>
          <p:cNvPr id="8" name="Image 3" descr="/tmp/claude-0/-home-user-Dom-Manipulation/01edd7ad-16e1-5ac5-9e2e-840f37702b96/scratchpad/img/cut/arr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2423160"/>
            <a:ext cx="914400" cy="603778"/>
          </a:xfrm>
          <a:prstGeom prst="rect">
            <a:avLst/>
          </a:prstGeom>
        </p:spPr>
      </p:pic>
      <p:pic>
        <p:nvPicPr>
          <p:cNvPr id="9" name="Image 4" descr="/tmp/claude-0/-home-user-Dom-Manipulation/01edd7ad-16e1-5ac5-9e2e-840f37702b96/scratchpad/img/txt/c5699454b57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03120" y="2651760"/>
            <a:ext cx="3267426" cy="591342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2103120" y="3474720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4"/>
          <p:cNvSpPr txBox="1"/>
          <p:nvPr/>
        </p:nvSpPr>
        <p:spPr>
          <a:xfrm>
            <a:off x="2468880" y="3474720"/>
            <a:ext cx="4297680" cy="47548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Kerangka berpikir: strategi dulu, baru teknis</a:t>
            </a:r>
            <a:endParaRPr lang="en-US" sz="1500" dirty="0"/>
          </a:p>
        </p:txBody>
      </p:sp>
      <p:sp>
        <p:nvSpPr>
          <p:cNvPr id="12" name="Text 5"/>
          <p:cNvSpPr txBox="1"/>
          <p:nvPr/>
        </p:nvSpPr>
        <p:spPr>
          <a:xfrm>
            <a:off x="2103120" y="4078224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6"/>
          <p:cNvSpPr txBox="1"/>
          <p:nvPr/>
        </p:nvSpPr>
        <p:spPr>
          <a:xfrm>
            <a:off x="2468880" y="4078224"/>
            <a:ext cx="4297680" cy="47548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Kisah sukses: dari pengecer virtual ke pengelola persediaan</a:t>
            </a:r>
            <a:endParaRPr lang="en-US" sz="1500" dirty="0"/>
          </a:p>
        </p:txBody>
      </p:sp>
      <p:sp>
        <p:nvSpPr>
          <p:cNvPr id="14" name="Text 7"/>
          <p:cNvSpPr txBox="1"/>
          <p:nvPr/>
        </p:nvSpPr>
        <p:spPr>
          <a:xfrm>
            <a:off x="2103120" y="4681728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8"/>
          <p:cNvSpPr txBox="1"/>
          <p:nvPr/>
        </p:nvSpPr>
        <p:spPr>
          <a:xfrm>
            <a:off x="2468880" y="4681728"/>
            <a:ext cx="4297680" cy="47548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Proses pemenuhan pesanan: delapan langkah</a:t>
            </a:r>
            <a:endParaRPr lang="en-US" sz="1500" dirty="0"/>
          </a:p>
        </p:txBody>
      </p:sp>
      <p:sp>
        <p:nvSpPr>
          <p:cNvPr id="16" name="Text 9"/>
          <p:cNvSpPr txBox="1"/>
          <p:nvPr/>
        </p:nvSpPr>
        <p:spPr>
          <a:xfrm>
            <a:off x="2103120" y="5285232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0"/>
          <p:cNvSpPr txBox="1"/>
          <p:nvPr/>
        </p:nvSpPr>
        <p:spPr>
          <a:xfrm>
            <a:off x="2468880" y="5285232"/>
            <a:ext cx="4297680" cy="47548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Analisis trade-off: nyata atau searah</a:t>
            </a:r>
            <a:endParaRPr lang="en-US" sz="1500" dirty="0"/>
          </a:p>
        </p:txBody>
      </p:sp>
      <p:sp>
        <p:nvSpPr>
          <p:cNvPr id="18" name="Text 11"/>
          <p:cNvSpPr txBox="1"/>
          <p:nvPr/>
        </p:nvSpPr>
        <p:spPr>
          <a:xfrm>
            <a:off x="6995160" y="3474720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9" name="Text 12"/>
          <p:cNvSpPr txBox="1"/>
          <p:nvPr/>
        </p:nvSpPr>
        <p:spPr>
          <a:xfrm>
            <a:off x="7360920" y="3474720"/>
            <a:ext cx="4297680" cy="47548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Kaitan dengan teori persediaan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6995160" y="4078224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1" name="Text 14"/>
          <p:cNvSpPr txBox="1"/>
          <p:nvPr/>
        </p:nvSpPr>
        <p:spPr>
          <a:xfrm>
            <a:off x="7360920" y="4078224"/>
            <a:ext cx="4297680" cy="47548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Perkembangan terbaru: 2023 dan 2025</a:t>
            </a:r>
            <a:endParaRPr lang="en-US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6995160" y="4681728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7360920" y="4681728"/>
            <a:ext cx="4297680" cy="47548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learned: apa yang bisa ditiru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r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3281" y="1069848"/>
            <a:ext cx="3397206" cy="539496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f795e17a035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3444270" cy="59134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645920"/>
            <a:ext cx="6583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Tentukan dulu apa yang mau dicapai, baru turunkan ke keputusan teknis. Persediaan adalah keputusan OM ke-8 dengan tiga pertanyaan.</a:t>
            </a:r>
            <a:endParaRPr lang="en-US" sz="1600" dirty="0"/>
          </a:p>
        </p:txBody>
      </p:sp>
      <p:pic>
        <p:nvPicPr>
          <p:cNvPr id="8" name="Image 3" descr="/tmp/claude-0/-home-user-Dom-Manipulation/01edd7ad-16e1-5ac5-9e2e-840f37702b96/scratchpad/img/txt/b4ab0963171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2377440"/>
            <a:ext cx="1182594" cy="384048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960120" y="283464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Berapa banyak persediaan setiap item yang harus dimiliki?</a:t>
            </a:r>
            <a:endParaRPr lang="en-US" sz="1600" dirty="0"/>
          </a:p>
        </p:txBody>
      </p:sp>
      <p:pic>
        <p:nvPicPr>
          <p:cNvPr id="10" name="Image 4" descr="/tmp/claude-0/-home-user-Dom-Manipulation/01edd7ad-16e1-5ac5-9e2e-840f37702b96/scratchpad/img/txt/f4a6c5d7214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3246120"/>
            <a:ext cx="646206" cy="384048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960120" y="370332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Kapan harus memesan kembali?</a:t>
            </a:r>
            <a:endParaRPr lang="en-US" sz="1600" dirty="0"/>
          </a:p>
        </p:txBody>
      </p:sp>
      <p:pic>
        <p:nvPicPr>
          <p:cNvPr id="12" name="Image 5" descr="/tmp/claude-0/-home-user-Dom-Manipulation/01edd7ad-16e1-5ac5-9e2e-840f37702b96/scratchpad/img/txt/08d7a257130f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" y="4114800"/>
            <a:ext cx="768096" cy="384048"/>
          </a:xfrm>
          <a:prstGeom prst="rect">
            <a:avLst/>
          </a:prstGeom>
        </p:spPr>
      </p:pic>
      <p:sp>
        <p:nvSpPr>
          <p:cNvPr id="13" name="Text 5"/>
          <p:cNvSpPr txBox="1"/>
          <p:nvPr/>
        </p:nvSpPr>
        <p:spPr>
          <a:xfrm>
            <a:off x="960120" y="4572000"/>
            <a:ext cx="6583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mana disimpan di gudang mana; stok Amazon tersebar di lebih dari 150 gudang.</a:t>
            </a:r>
            <a:endParaRPr lang="en-US" sz="1600" dirty="0"/>
          </a:p>
        </p:txBody>
      </p:sp>
      <p:sp>
        <p:nvSpPr>
          <p:cNvPr id="14" name="Text 6"/>
          <p:cNvSpPr txBox="1"/>
          <p:nvPr/>
        </p:nvSpPr>
        <p:spPr>
          <a:xfrm>
            <a:off x="960120" y="5239512"/>
            <a:ext cx="6583680" cy="56692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yang membuat Amazon berbeda: stok harus berada dekat pelanggan sebelum pesanan datang.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box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3353" y="1069848"/>
            <a:ext cx="2597134" cy="539496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44eae67b81e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3822192" cy="59134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645920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Persoalan persediaan selalu punya struktur yang sama.</a:t>
            </a:r>
            <a:endParaRPr lang="en-US" sz="1600" dirty="0"/>
          </a:p>
        </p:txBody>
      </p:sp>
      <p:pic>
        <p:nvPicPr>
          <p:cNvPr id="8" name="Image 3" descr="/tmp/claude-0/-home-user-Dom-Manipulation/01edd7ad-16e1-5ac5-9e2e-840f37702b96/scratchpad/img/txt/ddf934e26cc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2057400"/>
            <a:ext cx="1124712" cy="384048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960120" y="2514600"/>
            <a:ext cx="6583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Minimalkan biaya simpan, biaya pesan, dan biaya kekurangan. Amazon menambah biaya kesalahan pemenuhan (returns).</a:t>
            </a:r>
            <a:endParaRPr lang="en-US" sz="1600" dirty="0"/>
          </a:p>
        </p:txBody>
      </p:sp>
      <p:pic>
        <p:nvPicPr>
          <p:cNvPr id="10" name="Image 4" descr="/tmp/claude-0/-home-user-Dom-Manipulation/01edd7ad-16e1-5ac5-9e2e-840f37702b96/scratchpad/img/txt/80a07f4e565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3154680"/>
            <a:ext cx="2191542" cy="384048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960120" y="3611880"/>
            <a:ext cx="6583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Jumlah pesan, titik pesan ulang, stok pengaman. Amazon menambah alokasi: item apa di gudang mana.</a:t>
            </a:r>
            <a:endParaRPr lang="en-US" sz="1600" dirty="0"/>
          </a:p>
        </p:txBody>
      </p:sp>
      <p:pic>
        <p:nvPicPr>
          <p:cNvPr id="12" name="Image 5" descr="/tmp/claude-0/-home-user-Dom-Manipulation/01edd7ad-16e1-5ac5-9e2e-840f37702b96/scratchpad/img/txt/5771dcb47476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" y="4251960"/>
            <a:ext cx="1475202" cy="384048"/>
          </a:xfrm>
          <a:prstGeom prst="rect">
            <a:avLst/>
          </a:prstGeom>
        </p:spPr>
      </p:pic>
      <p:sp>
        <p:nvSpPr>
          <p:cNvPr id="13" name="Text 5"/>
          <p:cNvSpPr txBox="1"/>
          <p:nvPr/>
        </p:nvSpPr>
        <p:spPr>
          <a:xfrm>
            <a:off x="960120" y="4709160"/>
            <a:ext cx="6583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level, kapasitas gudang, lead time. Bagi Amazon: harga terendah, kirim tercepat, bebas kesalahan.</a:t>
            </a:r>
            <a:endParaRPr lang="en-US" sz="1600" dirty="0"/>
          </a:p>
        </p:txBody>
      </p:sp>
      <p:sp>
        <p:nvSpPr>
          <p:cNvPr id="14" name="Text 6"/>
          <p:cNvSpPr txBox="1"/>
          <p:nvPr/>
        </p:nvSpPr>
        <p:spPr>
          <a:xfrm>
            <a:off x="960120" y="5349240"/>
            <a:ext cx="6583680" cy="56692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level adalah constraint, bukan objective: biaya diminimalkan pada tingkat layanan yang dijanjikan.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convey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9847" y="3547563"/>
            <a:ext cx="5120640" cy="2917245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6c713d82ea2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3438144" cy="591342"/>
          </a:xfrm>
          <a:prstGeom prst="rect">
            <a:avLst/>
          </a:prstGeom>
        </p:spPr>
      </p:pic>
      <p:pic>
        <p:nvPicPr>
          <p:cNvPr id="7" name="Image 3" descr="/tmp/claude-0/-home-user-Dom-Manipulation/01edd7ad-16e1-5ac5-9e2e-840f37702b96/scratchpad/img/txt/84f72332777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1691640"/>
            <a:ext cx="2289018" cy="359634"/>
          </a:xfrm>
          <a:prstGeom prst="rect">
            <a:avLst/>
          </a:prstGeom>
        </p:spPr>
      </p:pic>
      <p:sp>
        <p:nvSpPr>
          <p:cNvPr id="8" name="Text 2"/>
          <p:cNvSpPr txBox="1"/>
          <p:nvPr/>
        </p:nvSpPr>
        <p:spPr>
          <a:xfrm>
            <a:off x="960120" y="2124426"/>
            <a:ext cx="5486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Biaya simpan dan penanganan naik; modal tertahan; risiko barang usang.</a:t>
            </a:r>
            <a:endParaRPr lang="en-US" sz="1600" dirty="0"/>
          </a:p>
        </p:txBody>
      </p:sp>
      <p:pic>
        <p:nvPicPr>
          <p:cNvPr id="9" name="Image 4" descr="/tmp/claude-0/-home-user-Dom-Manipulation/01edd7ad-16e1-5ac5-9e2e-840f37702b96/scratchpad/img/txt/c195d5fc338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2764506"/>
            <a:ext cx="2258568" cy="35963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60120" y="3197291"/>
            <a:ext cx="5486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out; produksi berhenti; pada ritel daring pelanggan berpindah dalam hitungan detik.</a:t>
            </a:r>
            <a:endParaRPr lang="en-US" sz="1600" dirty="0"/>
          </a:p>
        </p:txBody>
      </p:sp>
      <p:pic>
        <p:nvPicPr>
          <p:cNvPr id="11" name="Image 5" descr="/tmp/claude-0/-home-user-Dom-Manipulation/01edd7ad-16e1-5ac5-9e2e-840f37702b96/scratchpad/img/cut/arro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" y="3837371"/>
            <a:ext cx="868680" cy="573589"/>
          </a:xfrm>
          <a:prstGeom prst="rect">
            <a:avLst/>
          </a:prstGeom>
        </p:spPr>
      </p:pic>
      <p:pic>
        <p:nvPicPr>
          <p:cNvPr id="12" name="Image 6" descr="/tmp/claude-0/-home-user-Dom-Manipulation/01edd7ad-16e1-5ac5-9e2e-840f37702b96/scratchpad/img/txt/ee7013b77eb4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11680" y="4093403"/>
            <a:ext cx="3392424" cy="591342"/>
          </a:xfrm>
          <a:prstGeom prst="rect">
            <a:avLst/>
          </a:prstGeom>
        </p:spPr>
      </p:pic>
      <p:sp>
        <p:nvSpPr>
          <p:cNvPr id="13" name="Text 4"/>
          <p:cNvSpPr txBox="1"/>
          <p:nvPr/>
        </p:nvSpPr>
        <p:spPr>
          <a:xfrm>
            <a:off x="2011680" y="4751771"/>
            <a:ext cx="5120640" cy="82296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Kalau dampak kekosongan stok tidak signifikan, tidak perlu stok banyak. Kalau signifikan (lead time panjang, biaya kehilangan penjualan besar), stok cadangan dinaikkan.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pic>
        <p:nvPicPr>
          <p:cNvPr id="4" name="Image 0" descr="/tmp/claude-0/-home-user-Dom-Manipulation/01edd7ad-16e1-5ac5-9e2e-840f37702b96/scratchpad/img/cut/bg_her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66344" y="466344"/>
            <a:ext cx="11259007" cy="5925312"/>
          </a:xfrm>
          <a:prstGeom prst="rect">
            <a:avLst/>
          </a:prstGeom>
        </p:spPr>
      </p:pic>
      <p:pic>
        <p:nvPicPr>
          <p:cNvPr id="5" name="Image 1" descr="/tmp/claude-0/-home-user-Dom-Manipulation/01edd7ad-16e1-5ac5-9e2e-840f37702b96/scratchpad/img/txt/4b2a6a01fe9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777240"/>
            <a:ext cx="5023074" cy="460218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5523f0fe2de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554480"/>
            <a:ext cx="1078992" cy="771114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554480" y="2331720"/>
            <a:ext cx="521208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9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RENCANA 1995: PENGECER VIRTUAL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1554480" y="2788920"/>
            <a:ext cx="5212080" cy="7132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Tanpa persediaan, tanpa gudang, tanpa overhead: komputer menerima pesanan buku dan meneruskan pemenuhannya ke pihak lain.</a:t>
            </a:r>
            <a:endParaRPr lang="en-US" sz="1400" dirty="0"/>
          </a:p>
        </p:txBody>
      </p:sp>
      <p:pic>
        <p:nvPicPr>
          <p:cNvPr id="9" name="Image 3" descr="/tmp/claude-0/-home-user-Dom-Manipulation/01edd7ad-16e1-5ac5-9e2e-840f37702b96/scratchpad/img/txt/c1ed6d0bda7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3657600"/>
            <a:ext cx="1078992" cy="771114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675120" y="4434840"/>
            <a:ext cx="502920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9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KENYATAAN: GUDANG TERBESAR DI DUNIA</a:t>
            </a:r>
            <a:endParaRPr lang="en-US" sz="1900" dirty="0"/>
          </a:p>
        </p:txBody>
      </p:sp>
      <p:sp>
        <p:nvSpPr>
          <p:cNvPr id="11" name="Text 5"/>
          <p:cNvSpPr txBox="1"/>
          <p:nvPr/>
        </p:nvSpPr>
        <p:spPr>
          <a:xfrm>
            <a:off x="6675120" y="4892040"/>
            <a:ext cx="5029200" cy="7132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150+ gudang, 200 juta item di situs, 200.000 pieces per hari dari satu gudang, tenaga kerja kurang dari 3 menit per pesanan.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v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7510" y="3813048"/>
            <a:ext cx="5162977" cy="265176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a99f38bd8d1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6062472" cy="59134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645920"/>
            <a:ext cx="5669280" cy="56692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Bukan salah, tetapi asumsinya tidak bisa dipertahankan begitu value proposition ditetapkan.</a:t>
            </a:r>
            <a:endParaRPr lang="en-US" sz="1600" dirty="0"/>
          </a:p>
        </p:txBody>
      </p:sp>
      <p:pic>
        <p:nvPicPr>
          <p:cNvPr id="8" name="Image 3" descr="/tmp/claude-0/-home-user-Dom-Manipulation/01edd7ad-16e1-5ac5-9e2e-840f37702b96/scratchpad/img/cut/arr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2423160"/>
            <a:ext cx="868680" cy="573589"/>
          </a:xfrm>
          <a:prstGeom prst="rect">
            <a:avLst/>
          </a:prstGeom>
        </p:spPr>
      </p:pic>
      <p:pic>
        <p:nvPicPr>
          <p:cNvPr id="9" name="Image 4" descr="/tmp/claude-0/-home-user-Dom-Manipulation/01edd7ad-16e1-5ac5-9e2e-840f37702b96/scratchpad/img/txt/d953d05a775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11680" y="2651760"/>
            <a:ext cx="2520726" cy="46021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2011680" y="329184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4"/>
          <p:cNvSpPr txBox="1"/>
          <p:nvPr/>
        </p:nvSpPr>
        <p:spPr>
          <a:xfrm>
            <a:off x="2377440" y="3291840"/>
            <a:ext cx="420624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price: harga terendah</a:t>
            </a:r>
            <a:endParaRPr lang="en-US" sz="1600" dirty="0"/>
          </a:p>
        </p:txBody>
      </p:sp>
      <p:sp>
        <p:nvSpPr>
          <p:cNvPr id="12" name="Text 5"/>
          <p:cNvSpPr txBox="1"/>
          <p:nvPr/>
        </p:nvSpPr>
        <p:spPr>
          <a:xfrm>
            <a:off x="2011680" y="376732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6"/>
          <p:cNvSpPr txBox="1"/>
          <p:nvPr/>
        </p:nvSpPr>
        <p:spPr>
          <a:xfrm>
            <a:off x="2377440" y="3767328"/>
            <a:ext cx="420624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delivery: pengiriman tercepat</a:t>
            </a:r>
            <a:endParaRPr lang="en-US" sz="1600" dirty="0"/>
          </a:p>
        </p:txBody>
      </p:sp>
      <p:sp>
        <p:nvSpPr>
          <p:cNvPr id="14" name="Text 7"/>
          <p:cNvSpPr txBox="1"/>
          <p:nvPr/>
        </p:nvSpPr>
        <p:spPr>
          <a:xfrm>
            <a:off x="2011680" y="4242816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8"/>
          <p:cNvSpPr txBox="1"/>
          <p:nvPr/>
        </p:nvSpPr>
        <p:spPr>
          <a:xfrm>
            <a:off x="2377440" y="4242816"/>
            <a:ext cx="420624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Error-free: pemenuhan pesanan bebas kesalahan</a:t>
            </a:r>
            <a:endParaRPr lang="en-US" sz="1600" dirty="0"/>
          </a:p>
        </p:txBody>
      </p:sp>
      <p:sp>
        <p:nvSpPr>
          <p:cNvPr id="16" name="Text 9"/>
          <p:cNvSpPr txBox="1"/>
          <p:nvPr/>
        </p:nvSpPr>
        <p:spPr>
          <a:xfrm>
            <a:off x="960120" y="4937760"/>
            <a:ext cx="5120640" cy="82296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Menyimpan persediaan sendiri bukan penyimpangan dari strategi, melainkan konsekuensinya: exchanges and returns are very expensive.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work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8838" y="1069848"/>
            <a:ext cx="4871649" cy="539496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2983755ca07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3910614" cy="591342"/>
          </a:xfrm>
          <a:prstGeom prst="rect">
            <a:avLst/>
          </a:prstGeom>
        </p:spPr>
      </p:pic>
      <p:pic>
        <p:nvPicPr>
          <p:cNvPr id="7" name="Image 3" descr="/tmp/claude-0/-home-user-Dom-Manipulation/01edd7ad-16e1-5ac5-9e2e-840f37702b96/scratchpad/img/txt/b5a9f1e661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1691640"/>
            <a:ext cx="2444466" cy="359634"/>
          </a:xfrm>
          <a:prstGeom prst="rect">
            <a:avLst/>
          </a:prstGeom>
        </p:spPr>
      </p:pic>
      <p:sp>
        <p:nvSpPr>
          <p:cNvPr id="8" name="Text 2"/>
          <p:cNvSpPr txBox="1"/>
          <p:nvPr/>
        </p:nvSpPr>
        <p:spPr>
          <a:xfrm>
            <a:off x="960120" y="2124426"/>
            <a:ext cx="55643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200.000 pieces per hari per gudang; otomasi menjadi ekonomis.</a:t>
            </a:r>
            <a:endParaRPr lang="en-US" sz="1600" dirty="0"/>
          </a:p>
        </p:txBody>
      </p:sp>
      <p:pic>
        <p:nvPicPr>
          <p:cNvPr id="9" name="Image 4" descr="/tmp/claude-0/-home-user-Dom-Manipulation/01edd7ad-16e1-5ac5-9e2e-840f37702b96/scratchpad/img/txt/bdf5e2343e7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2508474"/>
            <a:ext cx="2459736" cy="35963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60120" y="2941259"/>
            <a:ext cx="55643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juta item; akurasi catatan per item menjadi persoalan utama.</a:t>
            </a:r>
            <a:endParaRPr lang="en-US" sz="1600" dirty="0"/>
          </a:p>
        </p:txBody>
      </p:sp>
      <p:pic>
        <p:nvPicPr>
          <p:cNvPr id="11" name="Image 5" descr="/tmp/claude-0/-home-user-Dom-Manipulation/01edd7ad-16e1-5ac5-9e2e-840f37702b96/scratchpad/img/txt/399607fc0e14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" y="3325307"/>
            <a:ext cx="1850106" cy="359634"/>
          </a:xfrm>
          <a:prstGeom prst="rect">
            <a:avLst/>
          </a:prstGeom>
        </p:spPr>
      </p:pic>
      <p:sp>
        <p:nvSpPr>
          <p:cNvPr id="12" name="Text 4"/>
          <p:cNvSpPr txBox="1"/>
          <p:nvPr/>
        </p:nvSpPr>
        <p:spPr>
          <a:xfrm>
            <a:off x="960120" y="3758093"/>
            <a:ext cx="55643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Musim puncak; gudang dirancang untuk kapasitas maksimum.</a:t>
            </a:r>
            <a:endParaRPr lang="en-US" sz="1600" dirty="0"/>
          </a:p>
        </p:txBody>
      </p:sp>
      <p:pic>
        <p:nvPicPr>
          <p:cNvPr id="13" name="Image 6" descr="/tmp/claude-0/-home-user-Dom-Manipulation/01edd7ad-16e1-5ac5-9e2e-840f37702b96/scratchpad/img/txt/55e6469b8f5f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4142141"/>
            <a:ext cx="1984248" cy="359634"/>
          </a:xfrm>
          <a:prstGeom prst="rect">
            <a:avLst/>
          </a:prstGeom>
        </p:spPr>
      </p:pic>
      <p:sp>
        <p:nvSpPr>
          <p:cNvPr id="14" name="Text 5"/>
          <p:cNvSpPr txBox="1"/>
          <p:nvPr/>
        </p:nvSpPr>
        <p:spPr>
          <a:xfrm>
            <a:off x="960120" y="4574926"/>
            <a:ext cx="55643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Pelanggan hanya melihat harga, waktu tiba, dan isi paket.</a:t>
            </a:r>
            <a:endParaRPr lang="en-US" sz="1600" dirty="0"/>
          </a:p>
        </p:txBody>
      </p:sp>
      <p:sp>
        <p:nvSpPr>
          <p:cNvPr id="15" name="Text 6"/>
          <p:cNvSpPr txBox="1"/>
          <p:nvPr/>
        </p:nvSpPr>
        <p:spPr>
          <a:xfrm>
            <a:off x="960120" y="4986406"/>
            <a:ext cx="5564398" cy="56692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dan variety sama-sama tinggi, tetap efisien: pengambilan massal dalam batch, penyusunan per pesanan di ujung proses.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  <p:pic>
        <p:nvPicPr>
          <p:cNvPr id="4" name="Image 0" descr="/tmp/claude-0/-home-user-Dom-Manipulation/01edd7ad-16e1-5ac5-9e2e-840f37702b96/scratchpad/img/cut/bg_tote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66344" y="466344"/>
            <a:ext cx="11259007" cy="5925312"/>
          </a:xfrm>
          <a:prstGeom prst="rect">
            <a:avLst/>
          </a:prstGeom>
        </p:spPr>
      </p:pic>
      <p:pic>
        <p:nvPicPr>
          <p:cNvPr id="5" name="Image 1" descr="/tmp/claude-0/-home-user-Dom-Manipulation/01edd7ad-16e1-5ac5-9e2e-840f37702b96/scratchpad/img/txt/97442fc8a16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777240"/>
            <a:ext cx="5907024" cy="460218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57ee52ba25c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645920"/>
            <a:ext cx="969264" cy="694944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463040" y="2304288"/>
            <a:ext cx="489204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PESANAN MASUK, SEATTLE MENGAMBIL ALIH</a:t>
            </a:r>
            <a:endParaRPr lang="en-US" sz="1700" dirty="0"/>
          </a:p>
        </p:txBody>
      </p:sp>
      <p:sp>
        <p:nvSpPr>
          <p:cNvPr id="8" name="Text 3"/>
          <p:cNvSpPr txBox="1"/>
          <p:nvPr/>
        </p:nvSpPr>
        <p:spPr>
          <a:xfrm>
            <a:off x="1463040" y="2779776"/>
            <a:ext cx="4892040" cy="7132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Pesanan dialokasikan ke DC yang punya stok: jawaban atas where; catatan stok tiap DC harus benar.</a:t>
            </a:r>
            <a:endParaRPr lang="en-US" sz="1400" dirty="0"/>
          </a:p>
        </p:txBody>
      </p:sp>
      <p:pic>
        <p:nvPicPr>
          <p:cNvPr id="9" name="Image 3" descr="/tmp/claude-0/-home-user-Dom-Manipulation/01edd7ad-16e1-5ac5-9e2e-840f37702b96/scratchpad/img/txt/efe8b2f086f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645920"/>
            <a:ext cx="969264" cy="694944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7040880" y="2304288"/>
            <a:ext cx="489204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MEISTER MENERIMA PESANAN</a:t>
            </a:r>
            <a:endParaRPr lang="en-US" sz="1700" dirty="0"/>
          </a:p>
        </p:txBody>
      </p:sp>
      <p:sp>
        <p:nvSpPr>
          <p:cNvPr id="11" name="Text 5"/>
          <p:cNvSpPr txBox="1"/>
          <p:nvPr/>
        </p:nvSpPr>
        <p:spPr>
          <a:xfrm>
            <a:off x="7040880" y="2779776"/>
            <a:ext cx="4892040" cy="7132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Menentukan pekerja mana pergi ke mana; pesanan diubah menjadi penugasan picking.</a:t>
            </a:r>
            <a:endParaRPr lang="en-US" sz="1400" dirty="0"/>
          </a:p>
        </p:txBody>
      </p:sp>
      <p:pic>
        <p:nvPicPr>
          <p:cNvPr id="12" name="Image 4" descr="/tmp/claude-0/-home-user-Dom-Manipulation/01edd7ad-16e1-5ac5-9e2e-840f37702b96/scratchpad/img/txt/9601447df89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4023360"/>
            <a:ext cx="969264" cy="694944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463040" y="4681728"/>
            <a:ext cx="489204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PICKING</a:t>
            </a:r>
            <a:endParaRPr lang="en-US" sz="1700" dirty="0"/>
          </a:p>
        </p:txBody>
      </p:sp>
      <p:sp>
        <p:nvSpPr>
          <p:cNvPr id="14" name="Text 7"/>
          <p:cNvSpPr txBox="1"/>
          <p:nvPr/>
        </p:nvSpPr>
        <p:spPr>
          <a:xfrm>
            <a:off x="1463040" y="5157216"/>
            <a:ext cx="4892040" cy="7132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Kecepatan dua kali operator manual, kesalahan mendekati nol. Mekanismenya robot Kiva.</a:t>
            </a:r>
            <a:endParaRPr lang="en-US" sz="1400" dirty="0"/>
          </a:p>
        </p:txBody>
      </p:sp>
      <p:pic>
        <p:nvPicPr>
          <p:cNvPr id="15" name="Image 5" descr="/tmp/claude-0/-home-user-Dom-Manipulation/01edd7ad-16e1-5ac5-9e2e-840f37702b96/scratchpad/img/txt/3d2074ea9d28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7960" y="4023360"/>
            <a:ext cx="969264" cy="694944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7040880" y="4681728"/>
            <a:ext cx="489204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CRATE DI BAN BERJALAN</a:t>
            </a:r>
            <a:endParaRPr lang="en-US" sz="1700" dirty="0"/>
          </a:p>
        </p:txBody>
      </p:sp>
      <p:sp>
        <p:nvSpPr>
          <p:cNvPr id="17" name="Text 9"/>
          <p:cNvSpPr txBox="1"/>
          <p:nvPr/>
        </p:nvSpPr>
        <p:spPr>
          <a:xfrm>
            <a:off x="7040880" y="5157216"/>
            <a:ext cx="4892040" cy="7132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Conveyor lebih dari 10 mil; bar code dipindai 15 kali; batch picking dan verifikasi berulang.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  <p:pic>
        <p:nvPicPr>
          <p:cNvPr id="4" name="Image 0" descr="/tmp/claude-0/-home-user-Dom-Manipulation/01edd7ad-16e1-5ac5-9e2e-840f37702b96/scratchpad/img/cut/bg_sortatio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66344" y="466344"/>
            <a:ext cx="11259007" cy="5925312"/>
          </a:xfrm>
          <a:prstGeom prst="rect">
            <a:avLst/>
          </a:prstGeom>
        </p:spPr>
      </p:pic>
      <p:pic>
        <p:nvPicPr>
          <p:cNvPr id="5" name="Image 1" descr="/tmp/claude-0/-home-user-Dom-Manipulation/01edd7ad-16e1-5ac5-9e2e-840f37702b96/scratchpad/img/txt/f5e8d5568b4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777240"/>
            <a:ext cx="5907024" cy="460218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a0254a5ebc0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645920"/>
            <a:ext cx="969264" cy="694944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463040" y="2304288"/>
            <a:ext cx="489204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BERTEMU DI CHUTE, MASUK KOTAK</a:t>
            </a:r>
            <a:endParaRPr lang="en-US" sz="1700" dirty="0"/>
          </a:p>
        </p:txBody>
      </p:sp>
      <p:sp>
        <p:nvSpPr>
          <p:cNvPr id="8" name="Text 3"/>
          <p:cNvSpPr txBox="1"/>
          <p:nvPr/>
        </p:nvSpPr>
        <p:spPr>
          <a:xfrm>
            <a:off x="1463040" y="2779776"/>
            <a:ext cx="4892040" cy="7132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code dicocokkan dengan nomor pesanan; picking diurutkan untuk mengurangi perjalanan.</a:t>
            </a:r>
            <a:endParaRPr lang="en-US" sz="1400" dirty="0"/>
          </a:p>
        </p:txBody>
      </p:sp>
      <p:pic>
        <p:nvPicPr>
          <p:cNvPr id="9" name="Image 3" descr="/tmp/claude-0/-home-user-Dom-Manipulation/01edd7ad-16e1-5ac5-9e2e-840f37702b96/scratchpad/img/txt/d2a2b321183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645920"/>
            <a:ext cx="969264" cy="694944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7040880" y="2304288"/>
            <a:ext cx="489204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PEMBUNGKUSAN KADO MANUAL</a:t>
            </a:r>
            <a:endParaRPr lang="en-US" sz="1700" dirty="0"/>
          </a:p>
        </p:txBody>
      </p:sp>
      <p:sp>
        <p:nvSpPr>
          <p:cNvPr id="11" name="Text 5"/>
          <p:cNvSpPr txBox="1"/>
          <p:nvPr/>
        </p:nvSpPr>
        <p:spPr>
          <a:xfrm>
            <a:off x="7040880" y="2779776"/>
            <a:ext cx="4892040" cy="7132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 terlatih, 30 paket per jam; tidak diotomasi karena variasi tinggi dan volume kecil.</a:t>
            </a:r>
            <a:endParaRPr lang="en-US" sz="1400" dirty="0"/>
          </a:p>
        </p:txBody>
      </p:sp>
      <p:pic>
        <p:nvPicPr>
          <p:cNvPr id="12" name="Image 4" descr="/tmp/claude-0/-home-user-Dom-Manipulation/01edd7ad-16e1-5ac5-9e2e-840f37702b96/scratchpad/img/txt/cc3ba90502b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4023360"/>
            <a:ext cx="969264" cy="694944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463040" y="4681728"/>
            <a:ext cx="489204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DIKEMAS, DITIMBANG, DILABELI</a:t>
            </a:r>
            <a:endParaRPr lang="en-US" sz="1700" dirty="0"/>
          </a:p>
        </p:txBody>
      </p:sp>
      <p:sp>
        <p:nvSpPr>
          <p:cNvPr id="14" name="Text 7"/>
          <p:cNvSpPr txBox="1"/>
          <p:nvPr/>
        </p:nvSpPr>
        <p:spPr>
          <a:xfrm>
            <a:off x="1463040" y="5157216"/>
            <a:ext cx="4892040" cy="7132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Sampai 200.000 pieces per hari; 60% lewat USPS; penimbangan adalah verifikasi akhir.</a:t>
            </a:r>
            <a:endParaRPr lang="en-US" sz="1400" dirty="0"/>
          </a:p>
        </p:txBody>
      </p:sp>
      <p:pic>
        <p:nvPicPr>
          <p:cNvPr id="15" name="Image 5" descr="/tmp/claude-0/-home-user-Dom-Manipulation/01edd7ad-16e1-5ac5-9e2e-840f37702b96/scratchpad/img/txt/42b3b880053c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7960" y="4023360"/>
            <a:ext cx="969264" cy="694944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7040880" y="4681728"/>
            <a:ext cx="489204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TIBA DI PELANGGAN</a:t>
            </a:r>
            <a:endParaRPr lang="en-US" sz="1700" dirty="0"/>
          </a:p>
        </p:txBody>
      </p:sp>
      <p:sp>
        <p:nvSpPr>
          <p:cNvPr id="17" name="Text 9"/>
          <p:cNvSpPr txBox="1"/>
          <p:nvPr/>
        </p:nvSpPr>
        <p:spPr>
          <a:xfrm>
            <a:off x="7040880" y="5157216"/>
            <a:ext cx="4892040" cy="7132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Dalam 1 atau 2 hari: ukuran yang dilihat pelanggan, speed dan dependability.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scann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1488" y="2807208"/>
            <a:ext cx="5338999" cy="365760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38a177bc172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4501866" cy="59134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64592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 pesanan diproses dengan tenaga kerja kurang dari 3 menit; 70% pesanan multiproduk.</a:t>
            </a:r>
            <a:endParaRPr lang="en-US" sz="1600" dirty="0"/>
          </a:p>
        </p:txBody>
      </p:sp>
      <p:pic>
        <p:nvPicPr>
          <p:cNvPr id="8" name="Image 3" descr="/tmp/claude-0/-home-user-Dom-Manipulation/01edd7ad-16e1-5ac5-9e2e-840f37702b96/scratchpad/img/txt/b0ab9268697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2377440"/>
            <a:ext cx="1770918" cy="615666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960120" y="3154680"/>
            <a:ext cx="2286000" cy="36576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Ukuran input (biaya)</a:t>
            </a:r>
            <a:endParaRPr lang="en-US" sz="1600" dirty="0"/>
          </a:p>
        </p:txBody>
      </p:sp>
      <p:sp>
        <p:nvSpPr>
          <p:cNvPr id="10" name="Text 4"/>
          <p:cNvSpPr txBox="1"/>
          <p:nvPr/>
        </p:nvSpPr>
        <p:spPr>
          <a:xfrm>
            <a:off x="960120" y="36118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 kerja per pesanan; hasil proses gudang.</a:t>
            </a:r>
            <a:endParaRPr lang="en-US" sz="1600" dirty="0"/>
          </a:p>
        </p:txBody>
      </p:sp>
      <p:pic>
        <p:nvPicPr>
          <p:cNvPr id="11" name="Image 4" descr="/tmp/claude-0/-home-user-Dom-Manipulation/01edd7ad-16e1-5ac5-9e2e-840f37702b96/scratchpad/img/txt/b38412ff058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0440" y="2377440"/>
            <a:ext cx="1581912" cy="615666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3520440" y="3154680"/>
            <a:ext cx="2286000" cy="36576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Ukuran output (speed)</a:t>
            </a:r>
            <a:endParaRPr lang="en-US" sz="1600" dirty="0"/>
          </a:p>
        </p:txBody>
      </p:sp>
      <p:sp>
        <p:nvSpPr>
          <p:cNvPr id="13" name="Text 6"/>
          <p:cNvSpPr txBox="1"/>
          <p:nvPr/>
        </p:nvSpPr>
        <p:spPr>
          <a:xfrm>
            <a:off x="3520440" y="36118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Dirasakan pelanggan; hasil stok yang dekat.</a:t>
            </a:r>
            <a:endParaRPr lang="en-US" sz="1600" dirty="0"/>
          </a:p>
        </p:txBody>
      </p:sp>
      <p:sp>
        <p:nvSpPr>
          <p:cNvPr id="14" name="Text 7"/>
          <p:cNvSpPr txBox="1"/>
          <p:nvPr/>
        </p:nvSpPr>
        <p:spPr>
          <a:xfrm>
            <a:off x="960120" y="4617720"/>
            <a:ext cx="4846320" cy="56692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 angka ini jangan dicampur: Amazon unggul di keduanya, tetapi mekanismenya berbeda.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rob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6131" y="1069848"/>
            <a:ext cx="3194356" cy="539496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2ebda11c221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4069080" cy="59134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645920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Dari sinilah angka kecepatan dan akurasi picking berasal.</a:t>
            </a:r>
            <a:endParaRPr lang="en-US" sz="16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2057400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1325880" y="2057400"/>
            <a:ext cx="6217920" cy="438912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10.000+ robot membawa rak ke pekerja: barangnya yang bergerak</a:t>
            </a:r>
            <a:endParaRPr lang="en-US" sz="15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2587752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1325880" y="2587752"/>
            <a:ext cx="6217920" cy="438912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mil jalan kaki per hari per pekerja dihemat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3118104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1325880" y="3118104"/>
            <a:ext cx="6217920" cy="438912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and scan naik dari 100 menjadi 300 item per jam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3648456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1325880" y="3648456"/>
            <a:ext cx="6217920" cy="438912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Biaya per pesanan turun 20–40%; US$400–900 juta per tahun</a:t>
            </a:r>
            <a:endParaRPr lang="en-US" sz="1500" dirty="0"/>
          </a:p>
        </p:txBody>
      </p:sp>
      <p:pic>
        <p:nvPicPr>
          <p:cNvPr id="16" name="Image 3" descr="/tmp/claude-0/-home-user-Dom-Manipulation/01edd7ad-16e1-5ac5-9e2e-840f37702b96/scratchpad/img/txt/a58eebf546b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361688"/>
            <a:ext cx="2691354" cy="35963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60120" y="4794474"/>
            <a:ext cx="6583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Lokasi stok tidak lagi harus tetap, dan setiap pengambilan langsung dipindai: catatan stok selalu mutakhir.</a:t>
            </a:r>
            <a:endParaRPr lang="en-US" sz="1600" dirty="0"/>
          </a:p>
        </p:txBody>
      </p:sp>
      <p:sp>
        <p:nvSpPr>
          <p:cNvPr id="18" name="Text 12"/>
          <p:cNvSpPr txBox="1"/>
          <p:nvPr/>
        </p:nvSpPr>
        <p:spPr>
          <a:xfrm>
            <a:off x="960120" y="5434554"/>
            <a:ext cx="6583680" cy="56692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Inilah yang membuat alokasi pesanan dari Seattle bisa mengandalkan data stok per DC.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forkli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4988" y="3264408"/>
            <a:ext cx="4955499" cy="320040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1ff86573812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4407408" cy="59134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64592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menjadi 300 item per jam mudah dibaca sebagai kenaikan 200%. Itu single-factor: biaya robot tidak ikut dihitung.</a:t>
            </a:r>
            <a:endParaRPr lang="en-US" sz="1600" dirty="0"/>
          </a:p>
        </p:txBody>
      </p:sp>
      <p:pic>
        <p:nvPicPr>
          <p:cNvPr id="8" name="Image 3" descr="/tmp/claude-0/-home-user-Dom-Manipulation/01edd7ad-16e1-5ac5-9e2e-840f37702b96/scratchpad/img/txt/8fe0d00c168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2377440"/>
            <a:ext cx="2429286" cy="359634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960120" y="281022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Benar, tetapi belum memperhitungkan investasi robot.</a:t>
            </a:r>
            <a:endParaRPr lang="en-US" sz="1600" dirty="0"/>
          </a:p>
        </p:txBody>
      </p:sp>
      <p:pic>
        <p:nvPicPr>
          <p:cNvPr id="10" name="Image 4" descr="/tmp/claude-0/-home-user-Dom-Manipulation/01edd7ad-16e1-5ac5-9e2e-840f37702b96/scratchpad/img/txt/7144a8e2ff1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3194274"/>
            <a:ext cx="4562856" cy="359634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960120" y="3627059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Sudah termasuk biaya robot: hemat US$0,70–1,50 per pesanan.</a:t>
            </a:r>
            <a:endParaRPr lang="en-US" sz="1600" dirty="0"/>
          </a:p>
        </p:txBody>
      </p:sp>
      <p:pic>
        <p:nvPicPr>
          <p:cNvPr id="12" name="Image 5" descr="/tmp/claude-0/-home-user-Dom-Manipulation/01edd7ad-16e1-5ac5-9e2e-840f37702b96/scratchpad/img/txt/95a34a56280b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" y="4011107"/>
            <a:ext cx="3773454" cy="359634"/>
          </a:xfrm>
          <a:prstGeom prst="rect">
            <a:avLst/>
          </a:prstGeom>
        </p:spPr>
      </p:pic>
      <p:sp>
        <p:nvSpPr>
          <p:cNvPr id="13" name="Text 5"/>
          <p:cNvSpPr txBox="1"/>
          <p:nvPr/>
        </p:nvSpPr>
        <p:spPr>
          <a:xfrm>
            <a:off x="960120" y="4443893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Angka kecil per pesanan menjadi besar karena volume.</a:t>
            </a:r>
            <a:endParaRPr lang="en-US" sz="1600" dirty="0"/>
          </a:p>
        </p:txBody>
      </p:sp>
      <p:sp>
        <p:nvSpPr>
          <p:cNvPr id="14" name="Text 6"/>
          <p:cNvSpPr txBox="1"/>
          <p:nvPr/>
        </p:nvSpPr>
        <p:spPr>
          <a:xfrm>
            <a:off x="960120" y="4855373"/>
            <a:ext cx="5212080" cy="56692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dipresentasikan sebaiknya angka biaya per pesanan, bukan angka 200%.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box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3353" y="1069848"/>
            <a:ext cx="2597134" cy="539496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f9a5b4319ca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4794474" cy="59134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645920"/>
            <a:ext cx="6583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Persediaan bisa mencapai 50% dari total modal. Amazon jelas di sisi investasi besar: jutaan item di 150+ gudang.</a:t>
            </a:r>
            <a:endParaRPr lang="en-US" sz="16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2331720"/>
            <a:ext cx="658368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Jawabannya harus dikembalikan ke objective.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960120" y="2834640"/>
            <a:ext cx="658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tidak meminimalkan stok; Amazon meminimalkan total biaya pada tingkat layanan yang dijanjikan. Kekosongan stok berarti penjualan hilang dan janji rusak, sehingga stok besar konsisten dengan tujuannya.</a:t>
            </a:r>
            <a:endParaRPr lang="en-US" sz="1600" dirty="0"/>
          </a:p>
        </p:txBody>
      </p:sp>
      <p:pic>
        <p:nvPicPr>
          <p:cNvPr id="10" name="Image 3" descr="/tmp/claude-0/-home-user-Dom-Manipulation/01edd7ad-16e1-5ac5-9e2e-840f37702b96/scratchpad/img/txt/a9381d599d0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069080"/>
            <a:ext cx="2950494" cy="359634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960120" y="4501866"/>
            <a:ext cx="6583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Tenaga kerja per pesanan (kurang dari 3 menit) dan kesalahan (mendekati nol).</a:t>
            </a:r>
            <a:endParaRPr lang="en-US" sz="1600" dirty="0"/>
          </a:p>
        </p:txBody>
      </p:sp>
      <p:sp>
        <p:nvSpPr>
          <p:cNvPr id="12" name="Text 6"/>
          <p:cNvSpPr txBox="1"/>
          <p:nvPr/>
        </p:nvSpPr>
        <p:spPr>
          <a:xfrm>
            <a:off x="960120" y="5141946"/>
            <a:ext cx="658368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Bukan stok sedikit, tetapi stok besar yang dikelola presisi.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tru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6752" y="4087368"/>
            <a:ext cx="4723736" cy="237744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f0d8647d03a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5151090" cy="591342"/>
          </a:xfrm>
          <a:prstGeom prst="rect">
            <a:avLst/>
          </a:prstGeom>
        </p:spPr>
      </p:pic>
      <p:pic>
        <p:nvPicPr>
          <p:cNvPr id="7" name="Image 3" descr="/tmp/claude-0/-home-user-Dom-Manipulation/01edd7ad-16e1-5ac5-9e2e-840f37702b96/scratchpad/img/txt/a5b7096cac2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1645920"/>
            <a:ext cx="548640" cy="304770"/>
          </a:xfrm>
          <a:prstGeom prst="rect">
            <a:avLst/>
          </a:prstGeom>
        </p:spPr>
      </p:pic>
      <p:sp>
        <p:nvSpPr>
          <p:cNvPr id="8" name="Text 2"/>
          <p:cNvSpPr txBox="1"/>
          <p:nvPr/>
        </p:nvSpPr>
        <p:spPr>
          <a:xfrm>
            <a:off x="960120" y="202384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Tiba 1–2 hari; tenaga kerja kurang dari 3 menit per pesanan.</a:t>
            </a:r>
            <a:endParaRPr lang="en-US" sz="1500" dirty="0"/>
          </a:p>
        </p:txBody>
      </p:sp>
      <p:pic>
        <p:nvPicPr>
          <p:cNvPr id="9" name="Image 4" descr="/tmp/claude-0/-home-user-Dom-Manipulation/01edd7ad-16e1-5ac5-9e2e-840f37702b96/scratchpad/img/txt/7f38c4477a1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2389602"/>
            <a:ext cx="716250" cy="304770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60120" y="2767523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Kesalahan mendekati nol; bar code dipindai 15 kali; ditimbang.</a:t>
            </a:r>
            <a:endParaRPr lang="en-US" sz="1500" dirty="0"/>
          </a:p>
        </p:txBody>
      </p:sp>
      <p:pic>
        <p:nvPicPr>
          <p:cNvPr id="11" name="Image 5" descr="/tmp/claude-0/-home-user-Dom-Manipulation/01edd7ad-16e1-5ac5-9e2e-840f37702b96/scratchpad/img/txt/de74601b38e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" y="3133283"/>
            <a:ext cx="1310610" cy="304770"/>
          </a:xfrm>
          <a:prstGeom prst="rect">
            <a:avLst/>
          </a:prstGeom>
        </p:spPr>
      </p:pic>
      <p:sp>
        <p:nvSpPr>
          <p:cNvPr id="12" name="Text 4"/>
          <p:cNvSpPr txBox="1"/>
          <p:nvPr/>
        </p:nvSpPr>
        <p:spPr>
          <a:xfrm>
            <a:off x="960120" y="3511205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Janji 1–2 hari terpenuhi; as promised, bukan sekadar cepat.</a:t>
            </a:r>
            <a:endParaRPr lang="en-US" sz="1500" dirty="0"/>
          </a:p>
        </p:txBody>
      </p:sp>
      <p:pic>
        <p:nvPicPr>
          <p:cNvPr id="13" name="Image 6" descr="/tmp/claude-0/-home-user-Dom-Manipulation/01edd7ad-16e1-5ac5-9e2e-840f37702b96/scratchpad/img/txt/cf0605a24da4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3876965"/>
            <a:ext cx="1005840" cy="304770"/>
          </a:xfrm>
          <a:prstGeom prst="rect">
            <a:avLst/>
          </a:prstGeom>
        </p:spPr>
      </p:pic>
      <p:sp>
        <p:nvSpPr>
          <p:cNvPr id="14" name="Text 5"/>
          <p:cNvSpPr txBox="1"/>
          <p:nvPr/>
        </p:nvSpPr>
        <p:spPr>
          <a:xfrm>
            <a:off x="960120" y="425488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pesanan multiproduk dilayani satu sistem batch picking.</a:t>
            </a:r>
            <a:endParaRPr lang="en-US" sz="1500" dirty="0"/>
          </a:p>
        </p:txBody>
      </p:sp>
      <p:pic>
        <p:nvPicPr>
          <p:cNvPr id="15" name="Image 7" descr="/tmp/claude-0/-home-user-Dom-Manipulation/01edd7ad-16e1-5ac5-9e2e-840f37702b96/scratchpad/img/txt/036719f71de6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0120" y="4620646"/>
            <a:ext cx="445038" cy="304770"/>
          </a:xfrm>
          <a:prstGeom prst="rect">
            <a:avLst/>
          </a:prstGeom>
        </p:spPr>
      </p:pic>
      <p:sp>
        <p:nvSpPr>
          <p:cNvPr id="16" name="Text 6"/>
          <p:cNvSpPr txBox="1"/>
          <p:nvPr/>
        </p:nvSpPr>
        <p:spPr>
          <a:xfrm>
            <a:off x="960120" y="499856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Harga terendah; 60% lewat USPS; biaya proses turun 20–40%.</a:t>
            </a:r>
            <a:endParaRPr lang="en-US" sz="1500" dirty="0"/>
          </a:p>
        </p:txBody>
      </p:sp>
      <p:sp>
        <p:nvSpPr>
          <p:cNvPr id="17" name="Text 7"/>
          <p:cNvSpPr txBox="1"/>
          <p:nvPr/>
        </p:nvSpPr>
        <p:spPr>
          <a:xfrm>
            <a:off x="960120" y="5364328"/>
            <a:ext cx="5120640" cy="56692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 sistem yang sama: stok yang akurat lokasinya, proses pendek, kontrol berlapis.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box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3353" y="1069848"/>
            <a:ext cx="2597134" cy="539496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7e24667e6f9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3941064" cy="59134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645920"/>
            <a:ext cx="6583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Setiap pilihan operasi punya biaya di sisi lain; keputusan yang baik tahu mana yang less loss.</a:t>
            </a:r>
            <a:endParaRPr lang="en-US" sz="16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237744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1325880" y="2377440"/>
            <a:ext cx="621792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Holding cost vs service level</a:t>
            </a:r>
            <a:endParaRPr lang="en-US" sz="1600" dirty="0"/>
          </a:p>
        </p:txBody>
      </p:sp>
      <p:sp>
        <p:nvSpPr>
          <p:cNvPr id="10" name="Text 5"/>
          <p:cNvSpPr txBox="1"/>
          <p:nvPr/>
        </p:nvSpPr>
        <p:spPr>
          <a:xfrm>
            <a:off x="1325880" y="2834640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Carrying cost sekitar 26% per tahun. Aturan: naikkan stok kalau biaya kekosongan lebih besar dari biaya simpan; untuk ritel daring, terpenuhi.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960120" y="356616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1325880" y="3566160"/>
            <a:ext cx="621792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Otomasi vs kesalahan dan tenaga kerja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1325880" y="4023360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Aturan: otomasi layak kalau penghematan per pesanan dikali volume tahunan lebih besar dari biaya otomasi. Penentunya volume.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475488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1325880" y="4754880"/>
            <a:ext cx="621792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Kecepatan kirim vs biaya kirim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1325880" y="5212080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pesanan lewat USPS yang murah. Aturan: kecepatan dibangun dari dalam, stok dekat pelanggan dan proses pendek.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convey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5348" y="3721608"/>
            <a:ext cx="4815139" cy="274320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91322335636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3764310" cy="59134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64592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Periksa dulu apakah dua tujuan benar bertentangan atau justru searah. Kalau searah, kerjakan saja.</a:t>
            </a:r>
            <a:endParaRPr lang="en-US" sz="16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2377440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1325880" y="2377440"/>
            <a:ext cx="5120640" cy="438912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Akurasi vs biaya: searah, mencegah biaya return</a:t>
            </a:r>
            <a:endParaRPr lang="en-US" sz="15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2907792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1325880" y="2907792"/>
            <a:ext cx="5120640" cy="438912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Kecepatan proses vs biaya: searah, kurang dari 3 menit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3438144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1325880" y="3438144"/>
            <a:ext cx="5120640" cy="438912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Ketersediaan stok vs holding cost: trade-off nyata, dipilih sadar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3968496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1325880" y="3968496"/>
            <a:ext cx="5120640" cy="438912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Kecepatan kirim vs biaya kirim: trade-off nyata yang dihindari</a:t>
            </a:r>
            <a:endParaRPr lang="en-US" sz="1500" dirty="0"/>
          </a:p>
        </p:txBody>
      </p:sp>
      <p:pic>
        <p:nvPicPr>
          <p:cNvPr id="16" name="Image 3" descr="/tmp/claude-0/-home-user-Dom-Manipulation/01edd7ad-16e1-5ac5-9e2e-840f37702b96/scratchpad/img/cut/arr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590288"/>
            <a:ext cx="822960" cy="543400"/>
          </a:xfrm>
          <a:prstGeom prst="rect">
            <a:avLst/>
          </a:prstGeom>
        </p:spPr>
      </p:pic>
      <p:pic>
        <p:nvPicPr>
          <p:cNvPr id="17" name="Image 4" descr="/tmp/claude-0/-home-user-Dom-Manipulation/01edd7ad-16e1-5ac5-9e2e-840f37702b96/scratchpad/img/txt/ec127a1c209f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65960" y="4818888"/>
            <a:ext cx="2465862" cy="435894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965960" y="5413248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Pengecer virtual gagal memenuhi constraint; gudang manual didominasi otomasi pada volume Amazon; gudang terotomasi berada di frontier. Pada volume kecil, alternatif manual kembali ke frontier.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r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3281" y="1069848"/>
            <a:ext cx="3397206" cy="539496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bcf83c68c3c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5873466" cy="59134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645920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Tanda dalam kurung: disebut buku secara eksplisit, atau inferensi.</a:t>
            </a:r>
            <a:endParaRPr lang="en-US" sz="16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205740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1325880" y="2057400"/>
            <a:ext cx="621792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Fungsi persediaan: pilihan barang untuk permintaan yang diantisipasi (eksplisit)</a:t>
            </a:r>
            <a:endParaRPr lang="en-US" sz="14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251460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1325880" y="2514600"/>
            <a:ext cx="621792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accuracy: sistem perpetual, bar code dipindai 15 kali (eksplisit)</a:t>
            </a:r>
            <a:endParaRPr lang="en-US" sz="14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297180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1325880" y="2971800"/>
            <a:ext cx="621792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counting: verifikasi berkala tetap diperlukan (asumsi)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342900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1325880" y="3429000"/>
            <a:ext cx="621792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ABC analysis: 100.000 item terlaris per wilayah (sumber lain, 2023)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960120" y="388620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1325880" y="3886200"/>
            <a:ext cx="621792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 persediaan ritel: barang masuk dan keluar dengan bar code (eksplisit)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960120" y="434340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1325880" y="4343400"/>
            <a:ext cx="621792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demand: service level tinggi menuntut stok besar (inferensi)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960120" y="480060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1325880" y="4800600"/>
            <a:ext cx="621792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Penempatan di gudang: picking diurutkan, slotting oleh perangkat lunak (eksplisit)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5367528"/>
            <a:ext cx="658368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Urutannya: akurasi dulu, model kemudian.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rob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6131" y="1069848"/>
            <a:ext cx="3194356" cy="539496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c482bdbc8b0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4382994" cy="59134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645920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blog resmi para penulis buku, sejalan dengan rujukan kelas.</a:t>
            </a:r>
            <a:endParaRPr lang="en-US" sz="1600" dirty="0"/>
          </a:p>
        </p:txBody>
      </p:sp>
      <p:pic>
        <p:nvPicPr>
          <p:cNvPr id="8" name="Image 3" descr="/tmp/claude-0/-home-user-Dom-Manipulation/01edd7ad-16e1-5ac5-9e2e-840f37702b96/scratchpad/img/txt/af45c9633b5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2057400"/>
            <a:ext cx="3188238" cy="359634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960120" y="2490186"/>
            <a:ext cx="6583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wilayah dengan stok lengkap; 76% permintaan dipenuhi dari dalam wilayah; same-day facility menyimpan 100.000 item terlaris.</a:t>
            </a:r>
            <a:endParaRPr lang="en-US" sz="1600" dirty="0"/>
          </a:p>
        </p:txBody>
      </p:sp>
      <p:sp>
        <p:nvSpPr>
          <p:cNvPr id="10" name="Text 4"/>
          <p:cNvSpPr txBox="1"/>
          <p:nvPr/>
        </p:nvSpPr>
        <p:spPr>
          <a:xfrm>
            <a:off x="960120" y="3130266"/>
            <a:ext cx="658368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Keputusan where kini per wilayah; 100.000 item terlaris adalah Pareto/ABC.</a:t>
            </a:r>
            <a:endParaRPr lang="en-US" sz="1600" dirty="0"/>
          </a:p>
        </p:txBody>
      </p:sp>
      <p:pic>
        <p:nvPicPr>
          <p:cNvPr id="11" name="Image 4" descr="/tmp/claude-0/-home-user-Dom-Manipulation/01edd7ad-16e1-5ac5-9e2e-840f37702b96/scratchpad/img/txt/173701b80936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3697194"/>
            <a:ext cx="2054382" cy="359634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960120" y="4129979"/>
            <a:ext cx="6583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Lebih dari satu juta robot; 75% pengiriman melibatkan robot; paket per karyawan naik dari 175 menjadi 3.870 per tahun.</a:t>
            </a:r>
            <a:endParaRPr lang="en-US" sz="1600" dirty="0"/>
          </a:p>
        </p:txBody>
      </p:sp>
      <p:sp>
        <p:nvSpPr>
          <p:cNvPr id="13" name="Text 6"/>
          <p:cNvSpPr txBox="1"/>
          <p:nvPr/>
        </p:nvSpPr>
        <p:spPr>
          <a:xfrm>
            <a:off x="960120" y="4770059"/>
            <a:ext cx="658368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Angka per karyawan adalah single-factor; jangan dibaca sebagai efisiensi total.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00" dirty="0"/>
          </a:p>
        </p:txBody>
      </p:sp>
      <p:pic>
        <p:nvPicPr>
          <p:cNvPr id="4" name="Image 0" descr="/tmp/claude-0/-home-user-Dom-Manipulation/01edd7ad-16e1-5ac5-9e2e-840f37702b96/scratchpad/img/cut/bg_doc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66344" y="466344"/>
            <a:ext cx="11259007" cy="5925312"/>
          </a:xfrm>
          <a:prstGeom prst="rect">
            <a:avLst/>
          </a:prstGeom>
        </p:spPr>
      </p:pic>
      <p:pic>
        <p:nvPicPr>
          <p:cNvPr id="5" name="Image 1" descr="/tmp/claude-0/-home-user-Dom-Manipulation/01edd7ad-16e1-5ac5-9e2e-840f37702b96/scratchpad/img/txt/6e0cb3269ea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777240"/>
            <a:ext cx="2234154" cy="460218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05833fc66be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600200"/>
            <a:ext cx="859536" cy="615666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417320" y="2167128"/>
            <a:ext cx="4983480" cy="32918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PERSEDIAAN BISA MENJADI KEUNGGULAN BERSAING</a:t>
            </a:r>
            <a:endParaRPr lang="en-US" sz="1600" dirty="0"/>
          </a:p>
        </p:txBody>
      </p:sp>
      <p:sp>
        <p:nvSpPr>
          <p:cNvPr id="8" name="Text 3"/>
          <p:cNvSpPr txBox="1"/>
          <p:nvPr/>
        </p:nvSpPr>
        <p:spPr>
          <a:xfrm>
            <a:off x="1417320" y="2660904"/>
            <a:ext cx="498348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Syaratnya dikelola presisi: stok besar yang diketahui lokasinya.</a:t>
            </a:r>
            <a:endParaRPr lang="en-US" sz="1400" dirty="0"/>
          </a:p>
        </p:txBody>
      </p:sp>
      <p:pic>
        <p:nvPicPr>
          <p:cNvPr id="9" name="Image 3" descr="/tmp/claude-0/-home-user-Dom-Manipulation/01edd7ad-16e1-5ac5-9e2e-840f37702b96/scratchpad/img/txt/3b5de7330ea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600200"/>
            <a:ext cx="859536" cy="615666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995160" y="2167128"/>
            <a:ext cx="4983480" cy="32918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AKURASI CATATAN ADALAH PRASYARAT</a:t>
            </a:r>
            <a:endParaRPr lang="en-US" sz="1600" dirty="0"/>
          </a:p>
        </p:txBody>
      </p:sp>
      <p:sp>
        <p:nvSpPr>
          <p:cNvPr id="11" name="Text 5"/>
          <p:cNvSpPr txBox="1"/>
          <p:nvPr/>
        </p:nvSpPr>
        <p:spPr>
          <a:xfrm>
            <a:off x="6995160" y="2660904"/>
            <a:ext cx="498348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Akurasi dulu, model kemudian.</a:t>
            </a:r>
            <a:endParaRPr lang="en-US" sz="1400" dirty="0"/>
          </a:p>
        </p:txBody>
      </p:sp>
      <p:pic>
        <p:nvPicPr>
          <p:cNvPr id="12" name="Image 4" descr="/tmp/claude-0/-home-user-Dom-Manipulation/01edd7ad-16e1-5ac5-9e2e-840f37702b96/scratchpad/img/txt/5b7385603a59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3200400"/>
            <a:ext cx="859536" cy="615666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417320" y="3767328"/>
            <a:ext cx="4983480" cy="32918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KECEPATAN DIBANGUN DARI DALAM</a:t>
            </a:r>
            <a:endParaRPr lang="en-US" sz="1600" dirty="0"/>
          </a:p>
        </p:txBody>
      </p:sp>
      <p:sp>
        <p:nvSpPr>
          <p:cNvPr id="14" name="Text 7"/>
          <p:cNvSpPr txBox="1"/>
          <p:nvPr/>
        </p:nvSpPr>
        <p:spPr>
          <a:xfrm>
            <a:off x="1417320" y="4261104"/>
            <a:ext cx="498348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Posisi stok dan proses pendek memungkinkan moda kirim murah.</a:t>
            </a:r>
            <a:endParaRPr lang="en-US" sz="1400" dirty="0"/>
          </a:p>
        </p:txBody>
      </p:sp>
      <p:pic>
        <p:nvPicPr>
          <p:cNvPr id="15" name="Image 5" descr="/tmp/claude-0/-home-user-Dom-Manipulation/01edd7ad-16e1-5ac5-9e2e-840f37702b96/scratchpad/img/txt/1d941eeb9a68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7960" y="3200400"/>
            <a:ext cx="859536" cy="615666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6995160" y="3767328"/>
            <a:ext cx="4983480" cy="32918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 BERLAPIS, BUKAN TRADE-OFF</a:t>
            </a:r>
            <a:endParaRPr lang="en-US" sz="1600" dirty="0"/>
          </a:p>
        </p:txBody>
      </p:sp>
      <p:sp>
        <p:nvSpPr>
          <p:cNvPr id="17" name="Text 9"/>
          <p:cNvSpPr txBox="1"/>
          <p:nvPr/>
        </p:nvSpPr>
        <p:spPr>
          <a:xfrm>
            <a:off x="6995160" y="4261104"/>
            <a:ext cx="498348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Biaya kesalahan lebih besar dari biaya kontrol; kerjakan saja.</a:t>
            </a:r>
            <a:endParaRPr lang="en-US" sz="1400" dirty="0"/>
          </a:p>
        </p:txBody>
      </p:sp>
      <p:pic>
        <p:nvPicPr>
          <p:cNvPr id="18" name="Image 6" descr="/tmp/claude-0/-home-user-Dom-Manipulation/01edd7ad-16e1-5ac5-9e2e-840f37702b96/scratchpad/img/txt/eabe8e55bb79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4800600"/>
            <a:ext cx="859536" cy="615666"/>
          </a:xfrm>
          <a:prstGeom prst="rect">
            <a:avLst/>
          </a:prstGeom>
        </p:spPr>
      </p:pic>
      <p:sp>
        <p:nvSpPr>
          <p:cNvPr id="19" name="Text 10"/>
          <p:cNvSpPr txBox="1"/>
          <p:nvPr/>
        </p:nvSpPr>
        <p:spPr>
          <a:xfrm>
            <a:off x="1417320" y="5367528"/>
            <a:ext cx="4983480" cy="32918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OTOMASI DIBENARKAN OLEH VOLUME</a:t>
            </a:r>
            <a:endParaRPr lang="en-US" sz="1600" dirty="0"/>
          </a:p>
        </p:txBody>
      </p:sp>
      <p:sp>
        <p:nvSpPr>
          <p:cNvPr id="20" name="Text 11"/>
          <p:cNvSpPr txBox="1"/>
          <p:nvPr/>
        </p:nvSpPr>
        <p:spPr>
          <a:xfrm>
            <a:off x="1417320" y="5861304"/>
            <a:ext cx="498348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Penghematan kecil per pesanan hanya berarti pada volume besar.</a:t>
            </a:r>
            <a:endParaRPr lang="en-US" sz="1400" dirty="0"/>
          </a:p>
        </p:txBody>
      </p:sp>
      <p:pic>
        <p:nvPicPr>
          <p:cNvPr id="21" name="Image 7" descr="/tmp/claude-0/-home-user-Dom-Manipulation/01edd7ad-16e1-5ac5-9e2e-840f37702b96/scratchpad/img/txt/6533abe200c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37960" y="4800600"/>
            <a:ext cx="859536" cy="615666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6995160" y="5367528"/>
            <a:ext cx="4983480" cy="32918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 YANG TERSISA DIPILIH SADAR</a:t>
            </a:r>
            <a:endParaRPr lang="en-US" sz="1600" dirty="0"/>
          </a:p>
        </p:txBody>
      </p:sp>
      <p:sp>
        <p:nvSpPr>
          <p:cNvPr id="23" name="Text 13"/>
          <p:cNvSpPr txBox="1"/>
          <p:nvPr/>
        </p:nvSpPr>
        <p:spPr>
          <a:xfrm>
            <a:off x="6995160" y="5861304"/>
            <a:ext cx="498348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Holding cost tinggi diterima karena biaya kekosongan signifikan.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sky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909" y="2898648"/>
            <a:ext cx="9703878" cy="356616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99e8d743023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685800"/>
            <a:ext cx="1237458" cy="1965960"/>
          </a:xfrm>
          <a:prstGeom prst="rect">
            <a:avLst/>
          </a:prstGeom>
        </p:spPr>
      </p:pic>
      <p:pic>
        <p:nvPicPr>
          <p:cNvPr id="7" name="Image 3" descr="/tmp/claude-0/-home-user-Dom-Manipulation/01edd7ad-16e1-5ac5-9e2e-840f37702b96/scratchpad/img/txt/bd321f067ba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4698" y="685800"/>
            <a:ext cx="8055864" cy="1965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Inventory Management sebagai Keunggulan Kompetitif Amazon</dc:title>
  <dc:subject>PptxGenJS Presentation</dc:subject>
  <dc:creator>Kelompok 4</dc:creator>
  <cp:lastModifiedBy>Kelompok 4</cp:lastModifiedBy>
  <cp:revision>1</cp:revision>
  <dcterms:created xsi:type="dcterms:W3CDTF">2026-09-08T02:53:41Z</dcterms:created>
  <dcterms:modified xsi:type="dcterms:W3CDTF">2026-09-08T02:53:41Z</dcterms:modified>
</cp:coreProperties>
</file>