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60000"/>
          </a:blip>
          <a:stretch>
            <a:fillRect/>
          </a:stretch>
        </p:blipFill>
        <p:spPr>
          <a:xfrm>
            <a:off x="0" y="0"/>
            <a:ext cx="12191695" cy="6858000"/>
          </a:xfrm>
          <a:prstGeom prst="rect">
            <a:avLst/>
          </a:prstGeom>
        </p:spPr>
      </p:pic>
      <p:sp>
        <p:nvSpPr>
          <p:cNvPr id="3" name="Text 0"/>
          <p:cNvSpPr txBox="1"/>
          <p:nvPr/>
        </p:nvSpPr>
        <p:spPr>
          <a:xfrm>
            <a:off x="548640" y="502920"/>
            <a:ext cx="82296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STUDI KASUS 4  ·  OPERATIONS &amp; TECHNOLOGY MANAGEMENT  ·  SESI 6</a:t>
            </a:r>
            <a:endParaRPr lang="en-US" sz="1000" dirty="0"/>
          </a:p>
        </p:txBody>
      </p:sp>
      <p:sp>
        <p:nvSpPr>
          <p:cNvPr id="4" name="Text 1"/>
          <p:cNvSpPr txBox="1"/>
          <p:nvPr/>
        </p:nvSpPr>
        <p:spPr>
          <a:xfrm>
            <a:off x="548640" y="868680"/>
            <a:ext cx="5852160" cy="2651760"/>
          </a:xfrm>
          <a:prstGeom prst="rect">
            <a:avLst/>
          </a:prstGeom>
          <a:noFill/>
          <a:ln/>
        </p:spPr>
        <p:txBody>
          <a:bodyPr wrap="square" lIns="0" tIns="0" rIns="0" bIns="0" rtlCol="0" anchor="t"/>
          <a:lstStyle/>
          <a:p>
            <a:pPr indent="0" marL="0">
              <a:lnSpc>
                <a:spcPct val="92000"/>
              </a:lnSpc>
              <a:buNone/>
            </a:pPr>
            <a:r>
              <a:rPr lang="en-US" sz="4600" b="1" spc="-200" kern="0" dirty="0">
                <a:solidFill>
                  <a:srgbClr val="111111"/>
                </a:solidFill>
                <a:latin typeface="Arial" pitchFamily="34" charset="0"/>
                <a:ea typeface="Arial" pitchFamily="34" charset="-122"/>
                <a:cs typeface="Arial" pitchFamily="34" charset="-120"/>
              </a:rPr>
              <a:t>INVENTORY</a:t>
            </a:r>
            <a:endParaRPr lang="en-US" sz="4600" dirty="0"/>
          </a:p>
          <a:p>
            <a:pPr indent="0" marL="0">
              <a:lnSpc>
                <a:spcPct val="92000"/>
              </a:lnSpc>
              <a:buNone/>
            </a:pPr>
            <a:r>
              <a:rPr lang="en-US" sz="4600" b="1" spc="-200" kern="0" dirty="0">
                <a:solidFill>
                  <a:srgbClr val="111111"/>
                </a:solidFill>
                <a:latin typeface="Arial" pitchFamily="34" charset="0"/>
                <a:ea typeface="Arial" pitchFamily="34" charset="-122"/>
                <a:cs typeface="Arial" pitchFamily="34" charset="-120"/>
              </a:rPr>
              <a:t>MANAGEMENT</a:t>
            </a:r>
            <a:endParaRPr lang="en-US" sz="4600" dirty="0"/>
          </a:p>
          <a:p>
            <a:pPr indent="0" marL="0">
              <a:lnSpc>
                <a:spcPct val="92000"/>
              </a:lnSpc>
              <a:buNone/>
            </a:pPr>
            <a:r>
              <a:rPr lang="en-US" sz="4600" b="1" spc="-200" kern="0" dirty="0">
                <a:solidFill>
                  <a:srgbClr val="111111"/>
                </a:solidFill>
                <a:latin typeface="Arial" pitchFamily="34" charset="0"/>
                <a:ea typeface="Arial" pitchFamily="34" charset="-122"/>
                <a:cs typeface="Arial" pitchFamily="34" charset="-120"/>
              </a:rPr>
              <a:t>DI AMAZON.COM</a:t>
            </a:r>
            <a:endParaRPr lang="en-US" sz="4600" dirty="0"/>
          </a:p>
        </p:txBody>
      </p:sp>
      <p:sp>
        <p:nvSpPr>
          <p:cNvPr id="5" name="Text 2"/>
          <p:cNvSpPr txBox="1"/>
          <p:nvPr/>
        </p:nvSpPr>
        <p:spPr>
          <a:xfrm>
            <a:off x="548640" y="3611880"/>
            <a:ext cx="5669280" cy="822960"/>
          </a:xfrm>
          <a:prstGeom prst="rect">
            <a:avLst/>
          </a:prstGeom>
          <a:noFill/>
          <a:ln/>
        </p:spPr>
        <p:txBody>
          <a:bodyPr wrap="square" lIns="0" tIns="0" rIns="0" bIns="0" rtlCol="0" anchor="t"/>
          <a:lstStyle/>
          <a:p>
            <a:pPr algn="l" indent="0" marL="0">
              <a:lnSpc>
                <a:spcPct val="105000"/>
              </a:lnSpc>
              <a:buNone/>
            </a:pPr>
            <a:r>
              <a:rPr lang="en-US" sz="1200" i="1" dirty="0">
                <a:solidFill>
                  <a:srgbClr val="555555"/>
                </a:solidFill>
                <a:latin typeface="Calibri" pitchFamily="34" charset="0"/>
                <a:ea typeface="Calibri" pitchFamily="34" charset="-122"/>
                <a:cs typeface="Calibri" pitchFamily="34" charset="-120"/>
              </a:rPr>
              <a:t>Inventory Management Provides Competitive Advantage at Amazon.com</a:t>
            </a:r>
            <a:endParaRPr lang="en-US" sz="1200" dirty="0"/>
          </a:p>
          <a:p>
            <a:pPr algn="l" indent="0" marL="0">
              <a:lnSpc>
                <a:spcPct val="105000"/>
              </a:lnSpc>
              <a:buNone/>
            </a:pPr>
            <a:r>
              <a:rPr lang="en-US" sz="1200" i="1" dirty="0">
                <a:solidFill>
                  <a:srgbClr val="555555"/>
                </a:solidFill>
                <a:latin typeface="Calibri" pitchFamily="34" charset="0"/>
                <a:ea typeface="Calibri" pitchFamily="34" charset="-122"/>
                <a:cs typeface="Calibri" pitchFamily="34" charset="-120"/>
              </a:rPr>
              <a:t>Heizer, Render &amp; Munson (2017), Operations Management 12th ed., Bab 12, hlm. 487–489</a:t>
            </a:r>
            <a:endParaRPr lang="en-US" sz="1200" dirty="0"/>
          </a:p>
        </p:txBody>
      </p:sp>
      <p:pic>
        <p:nvPicPr>
          <p:cNvPr id="6" name="Image 1" descr="/tmp/claude-0/-home-user-Dom-Manipulation/01edd7ad-16e1-5ac5-9e2e-840f37702b96/scratchpad/img/crop/hero.jpg">    </p:cNvPr>
          <p:cNvPicPr>
            <a:picLocks noChangeAspect="1"/>
          </p:cNvPicPr>
          <p:nvPr/>
        </p:nvPicPr>
        <p:blipFill>
          <a:blip r:embed="rId2"/>
          <a:stretch>
            <a:fillRect/>
          </a:stretch>
        </p:blipFill>
        <p:spPr>
          <a:xfrm>
            <a:off x="5989320" y="914400"/>
            <a:ext cx="5852160" cy="3112851"/>
          </a:xfrm>
          <a:prstGeom prst="rect">
            <a:avLst/>
          </a:prstGeom>
        </p:spPr>
      </p:pic>
      <p:sp>
        <p:nvSpPr>
          <p:cNvPr id="7" name="Shape 3"/>
          <p:cNvSpPr/>
          <p:nvPr/>
        </p:nvSpPr>
        <p:spPr>
          <a:xfrm>
            <a:off x="466344" y="4581144"/>
            <a:ext cx="5394960" cy="1600200"/>
          </a:xfrm>
          <a:prstGeom prst="roundRect">
            <a:avLst>
              <a:gd name="adj" fmla="val 6857"/>
            </a:avLst>
          </a:prstGeom>
          <a:solidFill>
            <a:srgbClr val="FF9900"/>
          </a:solidFill>
          <a:ln w="12700">
            <a:solidFill>
              <a:srgbClr val="FF9900"/>
            </a:solidFill>
            <a:prstDash val="solid"/>
          </a:ln>
        </p:spPr>
      </p:sp>
      <p:sp>
        <p:nvSpPr>
          <p:cNvPr id="8" name="Shape 4"/>
          <p:cNvSpPr/>
          <p:nvPr/>
        </p:nvSpPr>
        <p:spPr>
          <a:xfrm>
            <a:off x="548640" y="4663440"/>
            <a:ext cx="5394960"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5"/>
          <p:cNvSpPr txBox="1"/>
          <p:nvPr/>
        </p:nvSpPr>
        <p:spPr>
          <a:xfrm>
            <a:off x="777240" y="4846320"/>
            <a:ext cx="2743200" cy="320040"/>
          </a:xfrm>
          <a:prstGeom prst="rect">
            <a:avLst/>
          </a:prstGeom>
          <a:noFill/>
          <a:ln/>
        </p:spPr>
        <p:txBody>
          <a:bodyPr wrap="square" lIns="0" tIns="0" rIns="0" bIns="0" rtlCol="0" anchor="t"/>
          <a:lstStyle/>
          <a:p>
            <a:pPr indent="0" marL="0">
              <a:buNone/>
            </a:pPr>
            <a:r>
              <a:rPr lang="en-US" sz="1500" b="1" dirty="0">
                <a:solidFill>
                  <a:srgbClr val="111111"/>
                </a:solidFill>
                <a:latin typeface="Arial" pitchFamily="34" charset="0"/>
                <a:ea typeface="Arial" pitchFamily="34" charset="-122"/>
                <a:cs typeface="Arial" pitchFamily="34" charset="-120"/>
              </a:rPr>
              <a:t>KELOMPOK 4</a:t>
            </a:r>
            <a:endParaRPr lang="en-US" sz="1500" dirty="0"/>
          </a:p>
        </p:txBody>
      </p:sp>
      <p:sp>
        <p:nvSpPr>
          <p:cNvPr id="10" name="Text 6"/>
          <p:cNvSpPr txBox="1"/>
          <p:nvPr/>
        </p:nvSpPr>
        <p:spPr>
          <a:xfrm>
            <a:off x="777240" y="5212080"/>
            <a:ext cx="5029200" cy="320040"/>
          </a:xfrm>
          <a:prstGeom prst="rect">
            <a:avLst/>
          </a:prstGeom>
          <a:noFill/>
          <a:ln/>
        </p:spPr>
        <p:txBody>
          <a:bodyPr wrap="square" lIns="0" tIns="0" rIns="0" bIns="0" rtlCol="0" anchor="t"/>
          <a:lstStyle/>
          <a:p>
            <a:pPr algn="l" indent="0" marL="0">
              <a:lnSpc>
                <a:spcPct val="105000"/>
              </a:lnSpc>
              <a:buNone/>
            </a:pPr>
            <a:r>
              <a:rPr lang="en-US" sz="1200" b="1" dirty="0">
                <a:solidFill>
                  <a:srgbClr val="111111"/>
                </a:solidFill>
                <a:latin typeface="Calibri" pitchFamily="34" charset="0"/>
                <a:ea typeface="Calibri" pitchFamily="34" charset="-122"/>
                <a:cs typeface="Calibri" pitchFamily="34" charset="-120"/>
              </a:rPr>
              <a:t>Bagaskoro  ·  Aulia Sisca Rahmadiyanti  ·  Fitra Aidila</a:t>
            </a:r>
            <a:endParaRPr lang="en-US" sz="1200" dirty="0"/>
          </a:p>
        </p:txBody>
      </p:sp>
      <p:sp>
        <p:nvSpPr>
          <p:cNvPr id="11" name="Text 7"/>
          <p:cNvSpPr txBox="1"/>
          <p:nvPr/>
        </p:nvSpPr>
        <p:spPr>
          <a:xfrm>
            <a:off x="777240" y="5532120"/>
            <a:ext cx="5029200" cy="640080"/>
          </a:xfrm>
          <a:prstGeom prst="rect">
            <a:avLst/>
          </a:prstGeom>
          <a:noFill/>
          <a:ln/>
        </p:spPr>
        <p:txBody>
          <a:bodyPr wrap="square" lIns="0" tIns="0" rIns="0" bIns="0" rtlCol="0" anchor="t"/>
          <a:lstStyle/>
          <a:p>
            <a:pPr algn="l" indent="0" marL="0">
              <a:lnSpc>
                <a:spcPct val="105000"/>
              </a:lnSpc>
              <a:buNone/>
            </a:pPr>
            <a:r>
              <a:rPr lang="en-US" sz="1100" dirty="0">
                <a:solidFill>
                  <a:srgbClr val="555555"/>
                </a:solidFill>
                <a:latin typeface="Calibri" pitchFamily="34" charset="0"/>
                <a:ea typeface="Calibri" pitchFamily="34" charset="-122"/>
                <a:cs typeface="Calibri" pitchFamily="34" charset="-120"/>
              </a:rPr>
              <a:t>Dosen: Prof. Nur Aini Masruroh, ST., M.Sc., Ph.D.</a:t>
            </a:r>
            <a:endParaRPr lang="en-US" sz="1100" dirty="0"/>
          </a:p>
          <a:p>
            <a:pPr algn="l" indent="0" marL="0">
              <a:lnSpc>
                <a:spcPct val="105000"/>
              </a:lnSpc>
              <a:buNone/>
            </a:pPr>
            <a:r>
              <a:rPr lang="en-US" sz="1100" dirty="0">
                <a:solidFill>
                  <a:srgbClr val="555555"/>
                </a:solidFill>
                <a:latin typeface="Calibri" pitchFamily="34" charset="0"/>
                <a:ea typeface="Calibri" pitchFamily="34" charset="-122"/>
                <a:cs typeface="Calibri" pitchFamily="34" charset="-120"/>
              </a:rPr>
              <a:t>Program Magister Manajemen, Universitas Gadjah Mada  ·  12 September 2026</a:t>
            </a:r>
            <a:endParaRPr lang="en-US" sz="1100" dirty="0"/>
          </a:p>
        </p:txBody>
      </p:sp>
      <p:sp>
        <p:nvSpPr>
          <p:cNvPr id="12" name="Shape 8"/>
          <p:cNvSpPr/>
          <p:nvPr/>
        </p:nvSpPr>
        <p:spPr>
          <a:xfrm>
            <a:off x="6592824" y="4764024"/>
            <a:ext cx="5029200" cy="1417320"/>
          </a:xfrm>
          <a:prstGeom prst="roundRect">
            <a:avLst>
              <a:gd name="adj" fmla="val 7742"/>
            </a:avLst>
          </a:prstGeom>
          <a:solidFill>
            <a:srgbClr val="232F3E"/>
          </a:solidFill>
          <a:ln w="12700">
            <a:solidFill>
              <a:srgbClr val="232F3E"/>
            </a:solidFill>
            <a:prstDash val="solid"/>
          </a:ln>
        </p:spPr>
      </p:sp>
      <p:sp>
        <p:nvSpPr>
          <p:cNvPr id="13" name="Shape 9"/>
          <p:cNvSpPr/>
          <p:nvPr/>
        </p:nvSpPr>
        <p:spPr>
          <a:xfrm>
            <a:off x="6675120" y="4846320"/>
            <a:ext cx="5029200"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4" name="Text 10"/>
          <p:cNvSpPr txBox="1"/>
          <p:nvPr/>
        </p:nvSpPr>
        <p:spPr>
          <a:xfrm>
            <a:off x="6903720" y="5029200"/>
            <a:ext cx="4617720" cy="1097280"/>
          </a:xfrm>
          <a:prstGeom prst="rect">
            <a:avLst/>
          </a:prstGeom>
          <a:noFill/>
          <a:ln/>
        </p:spPr>
        <p:txBody>
          <a:bodyPr wrap="square" lIns="0" tIns="0" rIns="0" bIns="0" rtlCol="0" anchor="t"/>
          <a:lstStyle/>
          <a:p>
            <a:pPr algn="l" indent="0" marL="0">
              <a:lnSpc>
                <a:spcPct val="105000"/>
              </a:lnSpc>
              <a:buNone/>
            </a:pPr>
            <a:r>
              <a:rPr lang="en-US" sz="1200" dirty="0">
                <a:solidFill>
                  <a:srgbClr val="111111"/>
                </a:solidFill>
                <a:latin typeface="Calibri" pitchFamily="34" charset="0"/>
                <a:ea typeface="Calibri" pitchFamily="34" charset="-122"/>
                <a:cs typeface="Calibri" pitchFamily="34" charset="-120"/>
              </a:rPr>
              <a:t>Kasus dibaca dari strategi Amazon ke bawah, bukan dari gudang ke atas. Fokus pada kasus; teori disinggung secukupnya sebagai pintu masuk.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2</a:t>
            </a:r>
            <a:endParaRPr lang="en-US" sz="900" dirty="0"/>
          </a:p>
        </p:txBody>
      </p:sp>
      <p:sp>
        <p:nvSpPr>
          <p:cNvPr id="5" name="Text 2"/>
          <p:cNvSpPr txBox="1"/>
          <p:nvPr/>
        </p:nvSpPr>
        <p:spPr>
          <a:xfrm>
            <a:off x="548640" y="457200"/>
            <a:ext cx="45720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KELOMPOK 4</a:t>
            </a:r>
            <a:endParaRPr lang="en-US" sz="1000" dirty="0"/>
          </a:p>
        </p:txBody>
      </p:sp>
      <p:sp>
        <p:nvSpPr>
          <p:cNvPr id="6" name="Text 3"/>
          <p:cNvSpPr txBox="1"/>
          <p:nvPr/>
        </p:nvSpPr>
        <p:spPr>
          <a:xfrm>
            <a:off x="548640" y="731520"/>
            <a:ext cx="6400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ANGGOTA DAN RUJUKAN</a:t>
            </a:r>
            <a:endParaRPr lang="en-US" sz="2600" dirty="0"/>
          </a:p>
        </p:txBody>
      </p:sp>
      <p:sp>
        <p:nvSpPr>
          <p:cNvPr id="7" name="Shape 4"/>
          <p:cNvSpPr/>
          <p:nvPr/>
        </p:nvSpPr>
        <p:spPr>
          <a:xfrm>
            <a:off x="466344" y="1517904"/>
            <a:ext cx="5120640" cy="914400"/>
          </a:xfrm>
          <a:prstGeom prst="roundRect">
            <a:avLst>
              <a:gd name="adj" fmla="val 12000"/>
            </a:avLst>
          </a:prstGeom>
          <a:solidFill>
            <a:srgbClr val="FF9900"/>
          </a:solidFill>
          <a:ln w="12700">
            <a:solidFill>
              <a:srgbClr val="FF9900"/>
            </a:solidFill>
            <a:prstDash val="solid"/>
          </a:ln>
        </p:spPr>
      </p:sp>
      <p:sp>
        <p:nvSpPr>
          <p:cNvPr id="8" name="Shape 5"/>
          <p:cNvSpPr/>
          <p:nvPr/>
        </p:nvSpPr>
        <p:spPr>
          <a:xfrm>
            <a:off x="548640" y="1600200"/>
            <a:ext cx="5120640"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77240" y="182880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783080" y="1783080"/>
            <a:ext cx="3749040" cy="320040"/>
          </a:xfrm>
          <a:prstGeom prst="rect">
            <a:avLst/>
          </a:prstGeom>
          <a:noFill/>
          <a:ln/>
        </p:spPr>
        <p:txBody>
          <a:bodyPr wrap="square" lIns="0" tIns="0" rIns="0" bIns="0" rtlCol="0" anchor="t"/>
          <a:lstStyle/>
          <a:p>
            <a:pPr algn="l" indent="0" marL="0">
              <a:lnSpc>
                <a:spcPct val="105000"/>
              </a:lnSpc>
              <a:buNone/>
            </a:pPr>
            <a:r>
              <a:rPr lang="en-US" sz="1500" b="1" dirty="0">
                <a:solidFill>
                  <a:srgbClr val="111111"/>
                </a:solidFill>
                <a:latin typeface="Calibri" pitchFamily="34" charset="0"/>
                <a:ea typeface="Calibri" pitchFamily="34" charset="-122"/>
                <a:cs typeface="Calibri" pitchFamily="34" charset="-120"/>
              </a:rPr>
              <a:t>Bagaskoro</a:t>
            </a:r>
            <a:endParaRPr lang="en-US" sz="1500" dirty="0"/>
          </a:p>
        </p:txBody>
      </p:sp>
      <p:sp>
        <p:nvSpPr>
          <p:cNvPr id="11" name="Text 8"/>
          <p:cNvSpPr txBox="1"/>
          <p:nvPr/>
        </p:nvSpPr>
        <p:spPr>
          <a:xfrm>
            <a:off x="1783080" y="2112264"/>
            <a:ext cx="3749040" cy="27432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NIM 25/574280/PEK/31778</a:t>
            </a:r>
            <a:endParaRPr lang="en-US" sz="1150" dirty="0"/>
          </a:p>
        </p:txBody>
      </p:sp>
      <p:sp>
        <p:nvSpPr>
          <p:cNvPr id="12" name="Shape 9"/>
          <p:cNvSpPr/>
          <p:nvPr/>
        </p:nvSpPr>
        <p:spPr>
          <a:xfrm>
            <a:off x="466344" y="2660904"/>
            <a:ext cx="5120640" cy="914400"/>
          </a:xfrm>
          <a:prstGeom prst="roundRect">
            <a:avLst>
              <a:gd name="adj" fmla="val 12000"/>
            </a:avLst>
          </a:prstGeom>
          <a:solidFill>
            <a:srgbClr val="FF9900"/>
          </a:solidFill>
          <a:ln w="12700">
            <a:solidFill>
              <a:srgbClr val="FF9900"/>
            </a:solidFill>
            <a:prstDash val="solid"/>
          </a:ln>
        </p:spPr>
      </p:sp>
      <p:sp>
        <p:nvSpPr>
          <p:cNvPr id="13" name="Shape 10"/>
          <p:cNvSpPr/>
          <p:nvPr/>
        </p:nvSpPr>
        <p:spPr>
          <a:xfrm>
            <a:off x="548640" y="2743200"/>
            <a:ext cx="5120640"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4" name="Text 11"/>
          <p:cNvSpPr txBox="1"/>
          <p:nvPr/>
        </p:nvSpPr>
        <p:spPr>
          <a:xfrm>
            <a:off x="777240" y="297180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//02</a:t>
            </a:r>
            <a:endParaRPr lang="en-US" sz="2200" dirty="0"/>
          </a:p>
        </p:txBody>
      </p:sp>
      <p:sp>
        <p:nvSpPr>
          <p:cNvPr id="15" name="Text 12"/>
          <p:cNvSpPr txBox="1"/>
          <p:nvPr/>
        </p:nvSpPr>
        <p:spPr>
          <a:xfrm>
            <a:off x="1783080" y="2926080"/>
            <a:ext cx="3749040" cy="320040"/>
          </a:xfrm>
          <a:prstGeom prst="rect">
            <a:avLst/>
          </a:prstGeom>
          <a:noFill/>
          <a:ln/>
        </p:spPr>
        <p:txBody>
          <a:bodyPr wrap="square" lIns="0" tIns="0" rIns="0" bIns="0" rtlCol="0" anchor="t"/>
          <a:lstStyle/>
          <a:p>
            <a:pPr algn="l" indent="0" marL="0">
              <a:lnSpc>
                <a:spcPct val="105000"/>
              </a:lnSpc>
              <a:buNone/>
            </a:pPr>
            <a:r>
              <a:rPr lang="en-US" sz="1500" b="1" dirty="0">
                <a:solidFill>
                  <a:srgbClr val="111111"/>
                </a:solidFill>
                <a:latin typeface="Calibri" pitchFamily="34" charset="0"/>
                <a:ea typeface="Calibri" pitchFamily="34" charset="-122"/>
                <a:cs typeface="Calibri" pitchFamily="34" charset="-120"/>
              </a:rPr>
              <a:t>Aulia Sisca Rahmadiyanti</a:t>
            </a:r>
            <a:endParaRPr lang="en-US" sz="1500" dirty="0"/>
          </a:p>
        </p:txBody>
      </p:sp>
      <p:sp>
        <p:nvSpPr>
          <p:cNvPr id="16" name="Text 13"/>
          <p:cNvSpPr txBox="1"/>
          <p:nvPr/>
        </p:nvSpPr>
        <p:spPr>
          <a:xfrm>
            <a:off x="1783080" y="3255264"/>
            <a:ext cx="3749040" cy="27432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NIM 25/574305/PEK/31789</a:t>
            </a:r>
            <a:endParaRPr lang="en-US" sz="1150" dirty="0"/>
          </a:p>
        </p:txBody>
      </p:sp>
      <p:sp>
        <p:nvSpPr>
          <p:cNvPr id="17" name="Shape 14"/>
          <p:cNvSpPr/>
          <p:nvPr/>
        </p:nvSpPr>
        <p:spPr>
          <a:xfrm>
            <a:off x="466344" y="3803904"/>
            <a:ext cx="5120640" cy="914400"/>
          </a:xfrm>
          <a:prstGeom prst="roundRect">
            <a:avLst>
              <a:gd name="adj" fmla="val 12000"/>
            </a:avLst>
          </a:prstGeom>
          <a:solidFill>
            <a:srgbClr val="FF9900"/>
          </a:solidFill>
          <a:ln w="12700">
            <a:solidFill>
              <a:srgbClr val="FF9900"/>
            </a:solidFill>
            <a:prstDash val="solid"/>
          </a:ln>
        </p:spPr>
      </p:sp>
      <p:sp>
        <p:nvSpPr>
          <p:cNvPr id="18" name="Shape 15"/>
          <p:cNvSpPr/>
          <p:nvPr/>
        </p:nvSpPr>
        <p:spPr>
          <a:xfrm>
            <a:off x="548640" y="3886200"/>
            <a:ext cx="5120640"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9" name="Text 16"/>
          <p:cNvSpPr txBox="1"/>
          <p:nvPr/>
        </p:nvSpPr>
        <p:spPr>
          <a:xfrm>
            <a:off x="777240" y="411480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//03</a:t>
            </a:r>
            <a:endParaRPr lang="en-US" sz="2200" dirty="0"/>
          </a:p>
        </p:txBody>
      </p:sp>
      <p:sp>
        <p:nvSpPr>
          <p:cNvPr id="20" name="Text 17"/>
          <p:cNvSpPr txBox="1"/>
          <p:nvPr/>
        </p:nvSpPr>
        <p:spPr>
          <a:xfrm>
            <a:off x="1783080" y="4069080"/>
            <a:ext cx="3749040" cy="320040"/>
          </a:xfrm>
          <a:prstGeom prst="rect">
            <a:avLst/>
          </a:prstGeom>
          <a:noFill/>
          <a:ln/>
        </p:spPr>
        <p:txBody>
          <a:bodyPr wrap="square" lIns="0" tIns="0" rIns="0" bIns="0" rtlCol="0" anchor="t"/>
          <a:lstStyle/>
          <a:p>
            <a:pPr algn="l" indent="0" marL="0">
              <a:lnSpc>
                <a:spcPct val="105000"/>
              </a:lnSpc>
              <a:buNone/>
            </a:pPr>
            <a:r>
              <a:rPr lang="en-US" sz="1500" b="1" dirty="0">
                <a:solidFill>
                  <a:srgbClr val="111111"/>
                </a:solidFill>
                <a:latin typeface="Calibri" pitchFamily="34" charset="0"/>
                <a:ea typeface="Calibri" pitchFamily="34" charset="-122"/>
                <a:cs typeface="Calibri" pitchFamily="34" charset="-120"/>
              </a:rPr>
              <a:t>Fitra Aidila</a:t>
            </a:r>
            <a:endParaRPr lang="en-US" sz="1500" dirty="0"/>
          </a:p>
        </p:txBody>
      </p:sp>
      <p:sp>
        <p:nvSpPr>
          <p:cNvPr id="21" name="Text 18"/>
          <p:cNvSpPr txBox="1"/>
          <p:nvPr/>
        </p:nvSpPr>
        <p:spPr>
          <a:xfrm>
            <a:off x="1783080" y="4398264"/>
            <a:ext cx="3749040" cy="27432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NIM 25/574309/PEK/31791</a:t>
            </a:r>
            <a:endParaRPr lang="en-US" sz="1150" dirty="0"/>
          </a:p>
        </p:txBody>
      </p:sp>
      <p:sp>
        <p:nvSpPr>
          <p:cNvPr id="22" name="Shape 19"/>
          <p:cNvSpPr/>
          <p:nvPr/>
        </p:nvSpPr>
        <p:spPr>
          <a:xfrm>
            <a:off x="466344" y="4992624"/>
            <a:ext cx="5120640" cy="1143000"/>
          </a:xfrm>
          <a:prstGeom prst="roundRect">
            <a:avLst>
              <a:gd name="adj" fmla="val 9600"/>
            </a:avLst>
          </a:prstGeom>
          <a:solidFill>
            <a:srgbClr val="232F3E"/>
          </a:solidFill>
          <a:ln w="12700">
            <a:solidFill>
              <a:srgbClr val="232F3E"/>
            </a:solidFill>
            <a:prstDash val="solid"/>
          </a:ln>
        </p:spPr>
      </p:sp>
      <p:sp>
        <p:nvSpPr>
          <p:cNvPr id="23" name="Shape 20"/>
          <p:cNvSpPr/>
          <p:nvPr/>
        </p:nvSpPr>
        <p:spPr>
          <a:xfrm>
            <a:off x="548640" y="5074920"/>
            <a:ext cx="5120640" cy="1143000"/>
          </a:xfrm>
          <a:prstGeom prst="roundRect">
            <a:avLst>
              <a:gd name="adj" fmla="val 96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4" name="Text 21"/>
          <p:cNvSpPr txBox="1"/>
          <p:nvPr/>
        </p:nvSpPr>
        <p:spPr>
          <a:xfrm>
            <a:off x="777240" y="5212080"/>
            <a:ext cx="4572000" cy="274320"/>
          </a:xfrm>
          <a:prstGeom prst="rect">
            <a:avLst/>
          </a:prstGeom>
          <a:noFill/>
          <a:ln/>
        </p:spPr>
        <p:txBody>
          <a:bodyPr wrap="square" lIns="0" tIns="0" rIns="0" bIns="0" rtlCol="0" anchor="t"/>
          <a:lstStyle/>
          <a:p>
            <a:pPr algn="l" indent="0" marL="0">
              <a:lnSpc>
                <a:spcPct val="105000"/>
              </a:lnSpc>
              <a:buNone/>
            </a:pPr>
            <a:r>
              <a:rPr lang="en-US" sz="1000" b="1" dirty="0">
                <a:solidFill>
                  <a:srgbClr val="FF9900"/>
                </a:solidFill>
                <a:latin typeface="Calibri" pitchFamily="34" charset="0"/>
                <a:ea typeface="Calibri" pitchFamily="34" charset="-122"/>
                <a:cs typeface="Calibri" pitchFamily="34" charset="-120"/>
              </a:rPr>
              <a:t>Dosen pengampu</a:t>
            </a:r>
            <a:endParaRPr lang="en-US" sz="1000" dirty="0"/>
          </a:p>
        </p:txBody>
      </p:sp>
      <p:sp>
        <p:nvSpPr>
          <p:cNvPr id="25" name="Text 22"/>
          <p:cNvSpPr txBox="1"/>
          <p:nvPr/>
        </p:nvSpPr>
        <p:spPr>
          <a:xfrm>
            <a:off x="777240" y="5468112"/>
            <a:ext cx="4754880" cy="320040"/>
          </a:xfrm>
          <a:prstGeom prst="rect">
            <a:avLst/>
          </a:prstGeom>
          <a:noFill/>
          <a:ln/>
        </p:spPr>
        <p:txBody>
          <a:bodyPr wrap="square" lIns="0" tIns="0" rIns="0" bIns="0" rtlCol="0" anchor="t"/>
          <a:lstStyle/>
          <a:p>
            <a:pPr algn="l" indent="0" marL="0">
              <a:lnSpc>
                <a:spcPct val="105000"/>
              </a:lnSpc>
              <a:buNone/>
            </a:pPr>
            <a:r>
              <a:rPr lang="en-US" sz="1400" b="1" dirty="0">
                <a:solidFill>
                  <a:srgbClr val="111111"/>
                </a:solidFill>
                <a:latin typeface="Calibri" pitchFamily="34" charset="0"/>
                <a:ea typeface="Calibri" pitchFamily="34" charset="-122"/>
                <a:cs typeface="Calibri" pitchFamily="34" charset="-120"/>
              </a:rPr>
              <a:t>Prof. Nur Aini Masruroh, ST., M.Sc., Ph.D.</a:t>
            </a:r>
            <a:endParaRPr lang="en-US" sz="1400" dirty="0"/>
          </a:p>
        </p:txBody>
      </p:sp>
      <p:sp>
        <p:nvSpPr>
          <p:cNvPr id="26" name="Text 23"/>
          <p:cNvSpPr txBox="1"/>
          <p:nvPr/>
        </p:nvSpPr>
        <p:spPr>
          <a:xfrm>
            <a:off x="777240" y="5806440"/>
            <a:ext cx="4754880" cy="32004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Operations &amp; Technology Management · Sesi 6 · Inventory Management</a:t>
            </a:r>
            <a:endParaRPr lang="en-US" sz="1050" dirty="0"/>
          </a:p>
        </p:txBody>
      </p:sp>
      <p:pic>
        <p:nvPicPr>
          <p:cNvPr id="27" name="Image 1" descr="/tmp/claude-0/-home-user-Dom-Manipulation/01edd7ad-16e1-5ac5-9e2e-840f37702b96/scratchpad/img/crop/scanner.jpg">    </p:cNvPr>
          <p:cNvPicPr>
            <a:picLocks noChangeAspect="1"/>
          </p:cNvPicPr>
          <p:nvPr/>
        </p:nvPicPr>
        <p:blipFill>
          <a:blip r:embed="rId2"/>
          <a:stretch>
            <a:fillRect/>
          </a:stretch>
        </p:blipFill>
        <p:spPr>
          <a:xfrm>
            <a:off x="6126480" y="640080"/>
            <a:ext cx="5486400" cy="3732245"/>
          </a:xfrm>
          <a:prstGeom prst="rect">
            <a:avLst/>
          </a:prstGeom>
        </p:spPr>
      </p:pic>
      <p:sp>
        <p:nvSpPr>
          <p:cNvPr id="28" name="Shape 24"/>
          <p:cNvSpPr/>
          <p:nvPr/>
        </p:nvSpPr>
        <p:spPr>
          <a:xfrm>
            <a:off x="6044184" y="4489704"/>
            <a:ext cx="5486400" cy="1691640"/>
          </a:xfrm>
          <a:prstGeom prst="roundRect">
            <a:avLst>
              <a:gd name="adj" fmla="val 6486"/>
            </a:avLst>
          </a:prstGeom>
          <a:solidFill>
            <a:srgbClr val="FF9900"/>
          </a:solidFill>
          <a:ln w="12700">
            <a:solidFill>
              <a:srgbClr val="FF9900"/>
            </a:solidFill>
            <a:prstDash val="solid"/>
          </a:ln>
        </p:spPr>
      </p:sp>
      <p:sp>
        <p:nvSpPr>
          <p:cNvPr id="29" name="Shape 25"/>
          <p:cNvSpPr/>
          <p:nvPr/>
        </p:nvSpPr>
        <p:spPr>
          <a:xfrm>
            <a:off x="6126480" y="4572000"/>
            <a:ext cx="5486400" cy="1691640"/>
          </a:xfrm>
          <a:prstGeom prst="roundRect">
            <a:avLst>
              <a:gd name="adj" fmla="val 6486"/>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30" name="Text 26"/>
          <p:cNvSpPr txBox="1"/>
          <p:nvPr/>
        </p:nvSpPr>
        <p:spPr>
          <a:xfrm>
            <a:off x="6355080" y="4709160"/>
            <a:ext cx="5029200" cy="274320"/>
          </a:xfrm>
          <a:prstGeom prst="rect">
            <a:avLst/>
          </a:prstGeom>
          <a:noFill/>
          <a:ln/>
        </p:spPr>
        <p:txBody>
          <a:bodyPr wrap="square" lIns="0" tIns="0" rIns="0" bIns="0" rtlCol="0" anchor="t"/>
          <a:lstStyle/>
          <a:p>
            <a:pPr indent="0" marL="0">
              <a:buNone/>
            </a:pPr>
            <a:r>
              <a:rPr lang="en-US" sz="1200" b="1" dirty="0">
                <a:solidFill>
                  <a:srgbClr val="111111"/>
                </a:solidFill>
                <a:latin typeface="Arial" pitchFamily="34" charset="0"/>
                <a:ea typeface="Arial" pitchFamily="34" charset="-122"/>
                <a:cs typeface="Arial" pitchFamily="34" charset="-120"/>
              </a:rPr>
              <a:t>RUJUKAN YANG DIPAKAI</a:t>
            </a:r>
            <a:endParaRPr lang="en-US" sz="1200" dirty="0"/>
          </a:p>
        </p:txBody>
      </p:sp>
      <p:sp>
        <p:nvSpPr>
          <p:cNvPr id="31" name="Text 27"/>
          <p:cNvSpPr txBox="1"/>
          <p:nvPr/>
        </p:nvSpPr>
        <p:spPr>
          <a:xfrm>
            <a:off x="6355080" y="5029200"/>
            <a:ext cx="5074920" cy="118872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HRM Bab 12, hlm. 487–489: Global Company Profile Amazon.com (kasus utama)</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HRM Bab 12, hlm. 490–514 dan Suplemen 11: teori pendukung</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HRM Bab 9, hlm. 376: OM in Action, Amazon Lets Loose the Robots</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The OM Blog by Heizer, Render &amp; Munson (2023, 2025): perkembangan terbaru</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3</a:t>
            </a:r>
            <a:endParaRPr lang="en-US" sz="900" dirty="0"/>
          </a:p>
        </p:txBody>
      </p:sp>
      <p:sp>
        <p:nvSpPr>
          <p:cNvPr id="5" name="Text 2"/>
          <p:cNvSpPr txBox="1"/>
          <p:nvPr/>
        </p:nvSpPr>
        <p:spPr>
          <a:xfrm>
            <a:off x="548640" y="457200"/>
            <a:ext cx="45720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ALUR PEMBAHASAN</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DARI KISAH SUKSES KE LESSON LEARNED</a:t>
            </a:r>
            <a:endParaRPr lang="en-US" sz="2600" dirty="0"/>
          </a:p>
        </p:txBody>
      </p:sp>
      <p:sp>
        <p:nvSpPr>
          <p:cNvPr id="7" name="Text 4"/>
          <p:cNvSpPr txBox="1"/>
          <p:nvPr/>
        </p:nvSpPr>
        <p:spPr>
          <a:xfrm>
            <a:off x="548640" y="1371600"/>
            <a:ext cx="7772400" cy="548640"/>
          </a:xfrm>
          <a:prstGeom prst="rect">
            <a:avLst/>
          </a:prstGeom>
          <a:noFill/>
          <a:ln/>
        </p:spPr>
        <p:txBody>
          <a:bodyPr wrap="square" lIns="0" tIns="0" rIns="0" bIns="0" rtlCol="0" anchor="t"/>
          <a:lstStyle/>
          <a:p>
            <a:pPr algn="l" indent="0" marL="0">
              <a:lnSpc>
                <a:spcPct val="105000"/>
              </a:lnSpc>
              <a:buNone/>
            </a:pPr>
            <a:r>
              <a:rPr lang="en-US" sz="1250" dirty="0">
                <a:solidFill>
                  <a:srgbClr val="555555"/>
                </a:solidFill>
                <a:latin typeface="Calibri" pitchFamily="34" charset="0"/>
                <a:ea typeface="Calibri" pitchFamily="34" charset="-122"/>
                <a:cs typeface="Calibri" pitchFamily="34" charset="-120"/>
              </a:rPr>
              <a:t>Urutan yang dipakai di kelas: kisah sukses, apa yang dilakukan perusahaan, mengapa berhasil, lalu apa yang bisa dan tidak bisa ditiru.</a:t>
            </a:r>
            <a:endParaRPr lang="en-US" sz="1250" dirty="0"/>
          </a:p>
        </p:txBody>
      </p:sp>
      <p:sp>
        <p:nvSpPr>
          <p:cNvPr id="8" name="Shape 5"/>
          <p:cNvSpPr/>
          <p:nvPr/>
        </p:nvSpPr>
        <p:spPr>
          <a:xfrm>
            <a:off x="466344" y="2020824"/>
            <a:ext cx="3749040" cy="868680"/>
          </a:xfrm>
          <a:prstGeom prst="roundRect">
            <a:avLst>
              <a:gd name="adj" fmla="val 12632"/>
            </a:avLst>
          </a:prstGeom>
          <a:solidFill>
            <a:srgbClr val="FF9900"/>
          </a:solidFill>
          <a:ln w="12700">
            <a:solidFill>
              <a:srgbClr val="FF9900"/>
            </a:solidFill>
            <a:prstDash val="solid"/>
          </a:ln>
        </p:spPr>
      </p:sp>
      <p:sp>
        <p:nvSpPr>
          <p:cNvPr id="9" name="Shape 6"/>
          <p:cNvSpPr/>
          <p:nvPr/>
        </p:nvSpPr>
        <p:spPr>
          <a:xfrm>
            <a:off x="548640" y="210312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0" name="Text 7"/>
          <p:cNvSpPr txBox="1"/>
          <p:nvPr/>
        </p:nvSpPr>
        <p:spPr>
          <a:xfrm>
            <a:off x="731520" y="230428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//A</a:t>
            </a:r>
            <a:endParaRPr lang="en-US" sz="2200" dirty="0"/>
          </a:p>
        </p:txBody>
      </p:sp>
      <p:sp>
        <p:nvSpPr>
          <p:cNvPr id="11" name="Text 8"/>
          <p:cNvSpPr txBox="1"/>
          <p:nvPr/>
        </p:nvSpPr>
        <p:spPr>
          <a:xfrm>
            <a:off x="1508760" y="223113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Kerangka berpikir</a:t>
            </a:r>
            <a:endParaRPr lang="en-US" sz="1300" dirty="0"/>
          </a:p>
        </p:txBody>
      </p:sp>
      <p:sp>
        <p:nvSpPr>
          <p:cNvPr id="12" name="Text 9"/>
          <p:cNvSpPr txBox="1"/>
          <p:nvPr/>
        </p:nvSpPr>
        <p:spPr>
          <a:xfrm>
            <a:off x="1508760" y="251460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Strategi dulu, baru keputusan teknis; dilema persediaan dan aturan keputusannya</a:t>
            </a:r>
            <a:endParaRPr lang="en-US" sz="950" dirty="0"/>
          </a:p>
        </p:txBody>
      </p:sp>
      <p:sp>
        <p:nvSpPr>
          <p:cNvPr id="13" name="Shape 10"/>
          <p:cNvSpPr/>
          <p:nvPr/>
        </p:nvSpPr>
        <p:spPr>
          <a:xfrm>
            <a:off x="4526280" y="210312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4" name="Text 11"/>
          <p:cNvSpPr txBox="1"/>
          <p:nvPr/>
        </p:nvSpPr>
        <p:spPr>
          <a:xfrm>
            <a:off x="4709160" y="230428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//B</a:t>
            </a:r>
            <a:endParaRPr lang="en-US" sz="2200" dirty="0"/>
          </a:p>
        </p:txBody>
      </p:sp>
      <p:sp>
        <p:nvSpPr>
          <p:cNvPr id="15" name="Text 12"/>
          <p:cNvSpPr txBox="1"/>
          <p:nvPr/>
        </p:nvSpPr>
        <p:spPr>
          <a:xfrm>
            <a:off x="5486400" y="223113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Kisah sukses</a:t>
            </a:r>
            <a:endParaRPr lang="en-US" sz="1300" dirty="0"/>
          </a:p>
        </p:txBody>
      </p:sp>
      <p:sp>
        <p:nvSpPr>
          <p:cNvPr id="16" name="Text 13"/>
          <p:cNvSpPr txBox="1"/>
          <p:nvPr/>
        </p:nvSpPr>
        <p:spPr>
          <a:xfrm>
            <a:off x="5486400" y="251460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Dari pengecer virtual (1995) menjadi pengelola persediaan</a:t>
            </a:r>
            <a:endParaRPr lang="en-US" sz="950" dirty="0"/>
          </a:p>
        </p:txBody>
      </p:sp>
      <p:sp>
        <p:nvSpPr>
          <p:cNvPr id="17" name="Shape 14"/>
          <p:cNvSpPr/>
          <p:nvPr/>
        </p:nvSpPr>
        <p:spPr>
          <a:xfrm>
            <a:off x="548640" y="315468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8" name="Text 15"/>
          <p:cNvSpPr txBox="1"/>
          <p:nvPr/>
        </p:nvSpPr>
        <p:spPr>
          <a:xfrm>
            <a:off x="731520" y="335584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//C</a:t>
            </a:r>
            <a:endParaRPr lang="en-US" sz="2200" dirty="0"/>
          </a:p>
        </p:txBody>
      </p:sp>
      <p:sp>
        <p:nvSpPr>
          <p:cNvPr id="19" name="Text 16"/>
          <p:cNvSpPr txBox="1"/>
          <p:nvPr/>
        </p:nvSpPr>
        <p:spPr>
          <a:xfrm>
            <a:off x="1508760" y="328269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Delapan langkah</a:t>
            </a:r>
            <a:endParaRPr lang="en-US" sz="1300" dirty="0"/>
          </a:p>
        </p:txBody>
      </p:sp>
      <p:sp>
        <p:nvSpPr>
          <p:cNvPr id="20" name="Text 17"/>
          <p:cNvSpPr txBox="1"/>
          <p:nvPr/>
        </p:nvSpPr>
        <p:spPr>
          <a:xfrm>
            <a:off x="1508760" y="356616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Apa yang dilakukan Amazon pada satu pesanan, dan kuantifikasinya</a:t>
            </a:r>
            <a:endParaRPr lang="en-US" sz="950" dirty="0"/>
          </a:p>
        </p:txBody>
      </p:sp>
      <p:sp>
        <p:nvSpPr>
          <p:cNvPr id="21" name="Shape 18"/>
          <p:cNvSpPr/>
          <p:nvPr/>
        </p:nvSpPr>
        <p:spPr>
          <a:xfrm>
            <a:off x="4443984" y="3072384"/>
            <a:ext cx="3749040" cy="868680"/>
          </a:xfrm>
          <a:prstGeom prst="roundRect">
            <a:avLst>
              <a:gd name="adj" fmla="val 12632"/>
            </a:avLst>
          </a:prstGeom>
          <a:solidFill>
            <a:srgbClr val="FF9900"/>
          </a:solidFill>
          <a:ln w="12700">
            <a:solidFill>
              <a:srgbClr val="FF9900"/>
            </a:solidFill>
            <a:prstDash val="solid"/>
          </a:ln>
        </p:spPr>
      </p:sp>
      <p:sp>
        <p:nvSpPr>
          <p:cNvPr id="22" name="Shape 19"/>
          <p:cNvSpPr/>
          <p:nvPr/>
        </p:nvSpPr>
        <p:spPr>
          <a:xfrm>
            <a:off x="4526280" y="315468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3" name="Text 20"/>
          <p:cNvSpPr txBox="1"/>
          <p:nvPr/>
        </p:nvSpPr>
        <p:spPr>
          <a:xfrm>
            <a:off x="4709160" y="335584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//D</a:t>
            </a:r>
            <a:endParaRPr lang="en-US" sz="2200" dirty="0"/>
          </a:p>
        </p:txBody>
      </p:sp>
      <p:sp>
        <p:nvSpPr>
          <p:cNvPr id="24" name="Text 21"/>
          <p:cNvSpPr txBox="1"/>
          <p:nvPr/>
        </p:nvSpPr>
        <p:spPr>
          <a:xfrm>
            <a:off x="5486400" y="328269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Analisis trade-off</a:t>
            </a:r>
            <a:endParaRPr lang="en-US" sz="1300" dirty="0"/>
          </a:p>
        </p:txBody>
      </p:sp>
      <p:sp>
        <p:nvSpPr>
          <p:cNvPr id="25" name="Text 22"/>
          <p:cNvSpPr txBox="1"/>
          <p:nvPr/>
        </p:nvSpPr>
        <p:spPr>
          <a:xfrm>
            <a:off x="5486400" y="356616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Mengapa berhasil; mana trade-off nyata, mana yang searah</a:t>
            </a:r>
            <a:endParaRPr lang="en-US" sz="950" dirty="0"/>
          </a:p>
        </p:txBody>
      </p:sp>
      <p:sp>
        <p:nvSpPr>
          <p:cNvPr id="26" name="Shape 23"/>
          <p:cNvSpPr/>
          <p:nvPr/>
        </p:nvSpPr>
        <p:spPr>
          <a:xfrm>
            <a:off x="548640" y="420624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7" name="Text 24"/>
          <p:cNvSpPr txBox="1"/>
          <p:nvPr/>
        </p:nvSpPr>
        <p:spPr>
          <a:xfrm>
            <a:off x="731520" y="440740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//E</a:t>
            </a:r>
            <a:endParaRPr lang="en-US" sz="2200" dirty="0"/>
          </a:p>
        </p:txBody>
      </p:sp>
      <p:sp>
        <p:nvSpPr>
          <p:cNvPr id="28" name="Text 25"/>
          <p:cNvSpPr txBox="1"/>
          <p:nvPr/>
        </p:nvSpPr>
        <p:spPr>
          <a:xfrm>
            <a:off x="1508760" y="433425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Pintu masuk teori</a:t>
            </a:r>
            <a:endParaRPr lang="en-US" sz="1300" dirty="0"/>
          </a:p>
        </p:txBody>
      </p:sp>
      <p:sp>
        <p:nvSpPr>
          <p:cNvPr id="29" name="Text 26"/>
          <p:cNvSpPr txBox="1"/>
          <p:nvPr/>
        </p:nvSpPr>
        <p:spPr>
          <a:xfrm>
            <a:off x="1508760" y="461772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Konsep Bab 12 yang terlihat bekerja</a:t>
            </a:r>
            <a:endParaRPr lang="en-US" sz="950" dirty="0"/>
          </a:p>
        </p:txBody>
      </p:sp>
      <p:sp>
        <p:nvSpPr>
          <p:cNvPr id="30" name="Shape 27"/>
          <p:cNvSpPr/>
          <p:nvPr/>
        </p:nvSpPr>
        <p:spPr>
          <a:xfrm>
            <a:off x="4526280" y="420624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31" name="Text 28"/>
          <p:cNvSpPr txBox="1"/>
          <p:nvPr/>
        </p:nvSpPr>
        <p:spPr>
          <a:xfrm>
            <a:off x="4709160" y="440740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//F</a:t>
            </a:r>
            <a:endParaRPr lang="en-US" sz="2200" dirty="0"/>
          </a:p>
        </p:txBody>
      </p:sp>
      <p:sp>
        <p:nvSpPr>
          <p:cNvPr id="32" name="Text 29"/>
          <p:cNvSpPr txBox="1"/>
          <p:nvPr/>
        </p:nvSpPr>
        <p:spPr>
          <a:xfrm>
            <a:off x="5486400" y="433425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Perkembangan</a:t>
            </a:r>
            <a:endParaRPr lang="en-US" sz="1300" dirty="0"/>
          </a:p>
        </p:txBody>
      </p:sp>
      <p:sp>
        <p:nvSpPr>
          <p:cNvPr id="33" name="Text 30"/>
          <p:cNvSpPr txBox="1"/>
          <p:nvPr/>
        </p:nvSpPr>
        <p:spPr>
          <a:xfrm>
            <a:off x="5486400" y="461772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Setelah buku terbit: 2023 dan 2025</a:t>
            </a:r>
            <a:endParaRPr lang="en-US" sz="950" dirty="0"/>
          </a:p>
        </p:txBody>
      </p:sp>
      <p:sp>
        <p:nvSpPr>
          <p:cNvPr id="34" name="Shape 31"/>
          <p:cNvSpPr/>
          <p:nvPr/>
        </p:nvSpPr>
        <p:spPr>
          <a:xfrm>
            <a:off x="466344" y="5175504"/>
            <a:ext cx="3749040" cy="868680"/>
          </a:xfrm>
          <a:prstGeom prst="roundRect">
            <a:avLst>
              <a:gd name="adj" fmla="val 12632"/>
            </a:avLst>
          </a:prstGeom>
          <a:solidFill>
            <a:srgbClr val="FF9900"/>
          </a:solidFill>
          <a:ln w="12700">
            <a:solidFill>
              <a:srgbClr val="FF9900"/>
            </a:solidFill>
            <a:prstDash val="solid"/>
          </a:ln>
        </p:spPr>
      </p:sp>
      <p:sp>
        <p:nvSpPr>
          <p:cNvPr id="35" name="Shape 32"/>
          <p:cNvSpPr/>
          <p:nvPr/>
        </p:nvSpPr>
        <p:spPr>
          <a:xfrm>
            <a:off x="548640" y="5257800"/>
            <a:ext cx="3749040" cy="868680"/>
          </a:xfrm>
          <a:prstGeom prst="roundRect">
            <a:avLst>
              <a:gd name="adj" fmla="val 1263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36" name="Text 33"/>
          <p:cNvSpPr txBox="1"/>
          <p:nvPr/>
        </p:nvSpPr>
        <p:spPr>
          <a:xfrm>
            <a:off x="731520" y="5458968"/>
            <a:ext cx="8229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//G</a:t>
            </a:r>
            <a:endParaRPr lang="en-US" sz="2200" dirty="0"/>
          </a:p>
        </p:txBody>
      </p:sp>
      <p:sp>
        <p:nvSpPr>
          <p:cNvPr id="37" name="Text 34"/>
          <p:cNvSpPr txBox="1"/>
          <p:nvPr/>
        </p:nvSpPr>
        <p:spPr>
          <a:xfrm>
            <a:off x="1508760" y="5385816"/>
            <a:ext cx="2743200" cy="274320"/>
          </a:xfrm>
          <a:prstGeom prst="rect">
            <a:avLst/>
          </a:prstGeom>
          <a:noFill/>
          <a:ln/>
        </p:spPr>
        <p:txBody>
          <a:bodyPr wrap="square" lIns="0" tIns="0" rIns="0" bIns="0" rtlCol="0" anchor="t"/>
          <a:lstStyle/>
          <a:p>
            <a:pPr algn="l" indent="0" marL="0">
              <a:lnSpc>
                <a:spcPct val="105000"/>
              </a:lnSpc>
              <a:buNone/>
            </a:pPr>
            <a:r>
              <a:rPr lang="en-US" sz="1300" b="1" dirty="0">
                <a:solidFill>
                  <a:srgbClr val="111111"/>
                </a:solidFill>
                <a:latin typeface="Calibri" pitchFamily="34" charset="0"/>
                <a:ea typeface="Calibri" pitchFamily="34" charset="-122"/>
                <a:cs typeface="Calibri" pitchFamily="34" charset="-120"/>
              </a:rPr>
              <a:t>Lesson learned</a:t>
            </a:r>
            <a:endParaRPr lang="en-US" sz="1300" dirty="0"/>
          </a:p>
        </p:txBody>
      </p:sp>
      <p:sp>
        <p:nvSpPr>
          <p:cNvPr id="38" name="Text 35"/>
          <p:cNvSpPr txBox="1"/>
          <p:nvPr/>
        </p:nvSpPr>
        <p:spPr>
          <a:xfrm>
            <a:off x="1508760" y="5669280"/>
            <a:ext cx="269748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Apa yang bisa dan tidak bisa ditiru</a:t>
            </a:r>
            <a:endParaRPr lang="en-US" sz="950" dirty="0"/>
          </a:p>
        </p:txBody>
      </p:sp>
      <p:pic>
        <p:nvPicPr>
          <p:cNvPr id="39" name="Image 1" descr="/tmp/claude-0/-home-user-Dom-Manipulation/01edd7ad-16e1-5ac5-9e2e-840f37702b96/scratchpad/img/crop/delivery.jpg">    </p:cNvPr>
          <p:cNvPicPr>
            <a:picLocks noChangeAspect="1"/>
          </p:cNvPicPr>
          <p:nvPr/>
        </p:nvPicPr>
        <p:blipFill>
          <a:blip r:embed="rId2"/>
          <a:stretch>
            <a:fillRect/>
          </a:stretch>
        </p:blipFill>
        <p:spPr>
          <a:xfrm>
            <a:off x="8732520" y="1417320"/>
            <a:ext cx="3375965" cy="475488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4</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A  ·  KERANGKA BERPIKIR</a:t>
            </a:r>
            <a:endParaRPr lang="en-US" sz="1000" dirty="0"/>
          </a:p>
        </p:txBody>
      </p:sp>
      <p:sp>
        <p:nvSpPr>
          <p:cNvPr id="6" name="Text 3"/>
          <p:cNvSpPr txBox="1"/>
          <p:nvPr/>
        </p:nvSpPr>
        <p:spPr>
          <a:xfrm>
            <a:off x="548640" y="731520"/>
            <a:ext cx="68580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STRATEGI DULU, BARU TEKNIS</a:t>
            </a:r>
            <a:endParaRPr lang="en-US" sz="2600" dirty="0"/>
          </a:p>
        </p:txBody>
      </p:sp>
      <p:sp>
        <p:nvSpPr>
          <p:cNvPr id="7" name="Text 4"/>
          <p:cNvSpPr txBox="1"/>
          <p:nvPr/>
        </p:nvSpPr>
        <p:spPr>
          <a:xfrm>
            <a:off x="548640" y="1417320"/>
            <a:ext cx="5760720" cy="1371600"/>
          </a:xfrm>
          <a:prstGeom prst="rect">
            <a:avLst/>
          </a:prstGeom>
          <a:noFill/>
          <a:ln/>
        </p:spPr>
        <p:txBody>
          <a:bodyPr wrap="square" lIns="0" tIns="0" rIns="0" bIns="0" rtlCol="0" anchor="t"/>
          <a:lstStyle/>
          <a:p>
            <a:pPr algn="l" indent="0" marL="0">
              <a:lnSpc>
                <a:spcPct val="105000"/>
              </a:lnSpc>
              <a:buNone/>
            </a:pPr>
            <a:r>
              <a:rPr lang="en-US" sz="1250" dirty="0">
                <a:solidFill>
                  <a:srgbClr val="555555"/>
                </a:solidFill>
                <a:latin typeface="Calibri" pitchFamily="34" charset="0"/>
                <a:ea typeface="Calibri" pitchFamily="34" charset="-122"/>
                <a:cs typeface="Calibri" pitchFamily="34" charset="-120"/>
              </a:rPr>
              <a:t>Tentukan dulu apa yang mau dicapai (strategi dan value proposition), baru turunkan ke keputusan teknis. Inventory management ada di lapisan teknis itu, satu kelompok dengan MRP, sequencing, dan scheduling. Dalam sepuluh keputusan OM (Heizer), persediaan adalah keputusan ke-8.</a:t>
            </a:r>
            <a:endParaRPr lang="en-US" sz="1250" dirty="0"/>
          </a:p>
        </p:txBody>
      </p:sp>
      <p:sp>
        <p:nvSpPr>
          <p:cNvPr id="8" name="Shape 5"/>
          <p:cNvSpPr/>
          <p:nvPr/>
        </p:nvSpPr>
        <p:spPr>
          <a:xfrm>
            <a:off x="548640" y="2971800"/>
            <a:ext cx="5760720" cy="896112"/>
          </a:xfrm>
          <a:prstGeom prst="roundRect">
            <a:avLst>
              <a:gd name="adj" fmla="val 1224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77240" y="320040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//01</a:t>
            </a:r>
            <a:endParaRPr lang="en-US" sz="2200" dirty="0"/>
          </a:p>
        </p:txBody>
      </p:sp>
      <p:sp>
        <p:nvSpPr>
          <p:cNvPr id="10" name="Text 7"/>
          <p:cNvSpPr txBox="1"/>
          <p:nvPr/>
        </p:nvSpPr>
        <p:spPr>
          <a:xfrm>
            <a:off x="1783080" y="3099816"/>
            <a:ext cx="4297680" cy="292608"/>
          </a:xfrm>
          <a:prstGeom prst="rect">
            <a:avLst/>
          </a:prstGeom>
          <a:noFill/>
          <a:ln/>
        </p:spPr>
        <p:txBody>
          <a:bodyPr wrap="square" lIns="0" tIns="0" rIns="0" bIns="0" rtlCol="0" anchor="t"/>
          <a:lstStyle/>
          <a:p>
            <a:pPr algn="l" indent="0" marL="0">
              <a:lnSpc>
                <a:spcPct val="105000"/>
              </a:lnSpc>
              <a:buNone/>
            </a:pPr>
            <a:r>
              <a:rPr lang="en-US" sz="1400" b="1" dirty="0">
                <a:solidFill>
                  <a:srgbClr val="111111"/>
                </a:solidFill>
                <a:latin typeface="Calibri" pitchFamily="34" charset="0"/>
                <a:ea typeface="Calibri" pitchFamily="34" charset="-122"/>
                <a:cs typeface="Calibri" pitchFamily="34" charset="-120"/>
              </a:rPr>
              <a:t>How much</a:t>
            </a:r>
            <a:endParaRPr lang="en-US" sz="1400" dirty="0"/>
          </a:p>
        </p:txBody>
      </p:sp>
      <p:sp>
        <p:nvSpPr>
          <p:cNvPr id="11" name="Text 8"/>
          <p:cNvSpPr txBox="1"/>
          <p:nvPr/>
        </p:nvSpPr>
        <p:spPr>
          <a:xfrm>
            <a:off x="1783080" y="3401568"/>
            <a:ext cx="4343400" cy="45720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Berapa banyak persediaan setiap item yang harus dimiliki?</a:t>
            </a:r>
            <a:endParaRPr lang="en-US" sz="1050" dirty="0"/>
          </a:p>
        </p:txBody>
      </p:sp>
      <p:sp>
        <p:nvSpPr>
          <p:cNvPr id="12" name="Shape 9"/>
          <p:cNvSpPr/>
          <p:nvPr/>
        </p:nvSpPr>
        <p:spPr>
          <a:xfrm>
            <a:off x="548640" y="4023360"/>
            <a:ext cx="5760720" cy="896112"/>
          </a:xfrm>
          <a:prstGeom prst="roundRect">
            <a:avLst>
              <a:gd name="adj" fmla="val 1224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10"/>
          <p:cNvSpPr txBox="1"/>
          <p:nvPr/>
        </p:nvSpPr>
        <p:spPr>
          <a:xfrm>
            <a:off x="777240" y="425196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783080" y="4151376"/>
            <a:ext cx="4297680" cy="292608"/>
          </a:xfrm>
          <a:prstGeom prst="rect">
            <a:avLst/>
          </a:prstGeom>
          <a:noFill/>
          <a:ln/>
        </p:spPr>
        <p:txBody>
          <a:bodyPr wrap="square" lIns="0" tIns="0" rIns="0" bIns="0" rtlCol="0" anchor="t"/>
          <a:lstStyle/>
          <a:p>
            <a:pPr algn="l" indent="0" marL="0">
              <a:lnSpc>
                <a:spcPct val="105000"/>
              </a:lnSpc>
              <a:buNone/>
            </a:pPr>
            <a:r>
              <a:rPr lang="en-US" sz="1400" b="1" dirty="0">
                <a:solidFill>
                  <a:srgbClr val="111111"/>
                </a:solidFill>
                <a:latin typeface="Calibri" pitchFamily="34" charset="0"/>
                <a:ea typeface="Calibri" pitchFamily="34" charset="-122"/>
                <a:cs typeface="Calibri" pitchFamily="34" charset="-120"/>
              </a:rPr>
              <a:t>When</a:t>
            </a:r>
            <a:endParaRPr lang="en-US" sz="1400" dirty="0"/>
          </a:p>
        </p:txBody>
      </p:sp>
      <p:sp>
        <p:nvSpPr>
          <p:cNvPr id="15" name="Text 12"/>
          <p:cNvSpPr txBox="1"/>
          <p:nvPr/>
        </p:nvSpPr>
        <p:spPr>
          <a:xfrm>
            <a:off x="1783080" y="4453128"/>
            <a:ext cx="4343400" cy="45720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Kapan harus memesan kembali?</a:t>
            </a:r>
            <a:endParaRPr lang="en-US" sz="1050" dirty="0"/>
          </a:p>
        </p:txBody>
      </p:sp>
      <p:sp>
        <p:nvSpPr>
          <p:cNvPr id="16" name="Shape 13"/>
          <p:cNvSpPr/>
          <p:nvPr/>
        </p:nvSpPr>
        <p:spPr>
          <a:xfrm>
            <a:off x="466344" y="4992624"/>
            <a:ext cx="5760720" cy="896112"/>
          </a:xfrm>
          <a:prstGeom prst="roundRect">
            <a:avLst>
              <a:gd name="adj" fmla="val 12245"/>
            </a:avLst>
          </a:prstGeom>
          <a:solidFill>
            <a:srgbClr val="FF9900"/>
          </a:solidFill>
          <a:ln w="12700">
            <a:solidFill>
              <a:srgbClr val="FF9900"/>
            </a:solidFill>
            <a:prstDash val="solid"/>
          </a:ln>
        </p:spPr>
      </p:sp>
      <p:sp>
        <p:nvSpPr>
          <p:cNvPr id="17" name="Shape 14"/>
          <p:cNvSpPr/>
          <p:nvPr/>
        </p:nvSpPr>
        <p:spPr>
          <a:xfrm>
            <a:off x="548640" y="5074920"/>
            <a:ext cx="5760720" cy="896112"/>
          </a:xfrm>
          <a:prstGeom prst="roundRect">
            <a:avLst>
              <a:gd name="adj" fmla="val 1224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8" name="Text 15"/>
          <p:cNvSpPr txBox="1"/>
          <p:nvPr/>
        </p:nvSpPr>
        <p:spPr>
          <a:xfrm>
            <a:off x="777240" y="530352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//03</a:t>
            </a:r>
            <a:endParaRPr lang="en-US" sz="2200" dirty="0"/>
          </a:p>
        </p:txBody>
      </p:sp>
      <p:sp>
        <p:nvSpPr>
          <p:cNvPr id="19" name="Text 16"/>
          <p:cNvSpPr txBox="1"/>
          <p:nvPr/>
        </p:nvSpPr>
        <p:spPr>
          <a:xfrm>
            <a:off x="1783080" y="5202936"/>
            <a:ext cx="4297680" cy="292608"/>
          </a:xfrm>
          <a:prstGeom prst="rect">
            <a:avLst/>
          </a:prstGeom>
          <a:noFill/>
          <a:ln/>
        </p:spPr>
        <p:txBody>
          <a:bodyPr wrap="square" lIns="0" tIns="0" rIns="0" bIns="0" rtlCol="0" anchor="t"/>
          <a:lstStyle/>
          <a:p>
            <a:pPr algn="l" indent="0" marL="0">
              <a:lnSpc>
                <a:spcPct val="105000"/>
              </a:lnSpc>
              <a:buNone/>
            </a:pPr>
            <a:r>
              <a:rPr lang="en-US" sz="1400" b="1" dirty="0">
                <a:solidFill>
                  <a:srgbClr val="111111"/>
                </a:solidFill>
                <a:latin typeface="Calibri" pitchFamily="34" charset="0"/>
                <a:ea typeface="Calibri" pitchFamily="34" charset="-122"/>
                <a:cs typeface="Calibri" pitchFamily="34" charset="-120"/>
              </a:rPr>
              <a:t>Where</a:t>
            </a:r>
            <a:endParaRPr lang="en-US" sz="1400" dirty="0"/>
          </a:p>
        </p:txBody>
      </p:sp>
      <p:sp>
        <p:nvSpPr>
          <p:cNvPr id="20" name="Text 17"/>
          <p:cNvSpPr txBox="1"/>
          <p:nvPr/>
        </p:nvSpPr>
        <p:spPr>
          <a:xfrm>
            <a:off x="1783080" y="5504688"/>
            <a:ext cx="4343400" cy="45720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Item mana disimpan di gudang mana. Pertanyaan ketiga khusus Amazon, karena stok tersebar di lebih dari 150 gudang.</a:t>
            </a:r>
            <a:endParaRPr lang="en-US" sz="1050" dirty="0"/>
          </a:p>
        </p:txBody>
      </p:sp>
      <p:pic>
        <p:nvPicPr>
          <p:cNvPr id="21" name="Image 1" descr="/tmp/claude-0/-home-user-Dom-Manipulation/01edd7ad-16e1-5ac5-9e2e-840f37702b96/scratchpad/img/crop/shelves.jpg">    </p:cNvPr>
          <p:cNvPicPr>
            <a:picLocks noChangeAspect="1"/>
          </p:cNvPicPr>
          <p:nvPr/>
        </p:nvPicPr>
        <p:blipFill>
          <a:blip r:embed="rId2"/>
          <a:stretch>
            <a:fillRect/>
          </a:stretch>
        </p:blipFill>
        <p:spPr>
          <a:xfrm>
            <a:off x="6675120" y="1097280"/>
            <a:ext cx="5029200" cy="2605803"/>
          </a:xfrm>
          <a:prstGeom prst="rect">
            <a:avLst/>
          </a:prstGeom>
        </p:spPr>
      </p:pic>
      <p:sp>
        <p:nvSpPr>
          <p:cNvPr id="22" name="Shape 18"/>
          <p:cNvSpPr/>
          <p:nvPr/>
        </p:nvSpPr>
        <p:spPr>
          <a:xfrm>
            <a:off x="6592824" y="3895344"/>
            <a:ext cx="5029200" cy="2148840"/>
          </a:xfrm>
          <a:prstGeom prst="roundRect">
            <a:avLst>
              <a:gd name="adj" fmla="val 5106"/>
            </a:avLst>
          </a:prstGeom>
          <a:solidFill>
            <a:srgbClr val="232F3E"/>
          </a:solidFill>
          <a:ln w="12700">
            <a:solidFill>
              <a:srgbClr val="232F3E"/>
            </a:solidFill>
            <a:prstDash val="solid"/>
          </a:ln>
        </p:spPr>
      </p:sp>
      <p:sp>
        <p:nvSpPr>
          <p:cNvPr id="23" name="Shape 19"/>
          <p:cNvSpPr/>
          <p:nvPr/>
        </p:nvSpPr>
        <p:spPr>
          <a:xfrm>
            <a:off x="6675120" y="3977640"/>
            <a:ext cx="5029200" cy="2148840"/>
          </a:xfrm>
          <a:prstGeom prst="roundRect">
            <a:avLst>
              <a:gd name="adj" fmla="val 5106"/>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4" name="Text 20"/>
          <p:cNvSpPr txBox="1"/>
          <p:nvPr/>
        </p:nvSpPr>
        <p:spPr>
          <a:xfrm>
            <a:off x="6903720" y="4160520"/>
            <a:ext cx="4617720" cy="548640"/>
          </a:xfrm>
          <a:prstGeom prst="rect">
            <a:avLst/>
          </a:prstGeom>
          <a:noFill/>
          <a:ln/>
        </p:spPr>
        <p:txBody>
          <a:bodyPr wrap="square" lIns="0" tIns="0" rIns="0" bIns="0" rtlCol="0" anchor="t"/>
          <a:lstStyle/>
          <a:p>
            <a:pPr indent="0" marL="0">
              <a:buNone/>
            </a:pPr>
            <a:r>
              <a:rPr lang="en-US" sz="1200" b="1" dirty="0">
                <a:solidFill>
                  <a:srgbClr val="111111"/>
                </a:solidFill>
                <a:latin typeface="Arial" pitchFamily="34" charset="0"/>
                <a:ea typeface="Arial" pitchFamily="34" charset="-122"/>
                <a:cs typeface="Arial" pitchFamily="34" charset="-120"/>
              </a:rPr>
              <a:t>TIGA PERTANYAAN INI YANG DICARI JAWABANNYA DI SEPANJANG KASUS</a:t>
            </a:r>
            <a:endParaRPr lang="en-US" sz="1200" dirty="0"/>
          </a:p>
        </p:txBody>
      </p:sp>
      <p:sp>
        <p:nvSpPr>
          <p:cNvPr id="25" name="Text 21"/>
          <p:cNvSpPr txBox="1"/>
          <p:nvPr/>
        </p:nvSpPr>
        <p:spPr>
          <a:xfrm>
            <a:off x="6903720" y="4754880"/>
            <a:ext cx="4617720" cy="128016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How much dan when dijawab oleh model persediaan klasik. Where adalah keputusan yang membuat kasus Amazon berbeda dari toko tunggal: stok harus diletakkan dekat pelanggan sebelum pesanan datang.</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5</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A  ·  A.2</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PERSEDIAAN SEBAGAI KEPUTUSAN</a:t>
            </a:r>
            <a:endParaRPr lang="en-US" sz="2600" dirty="0"/>
          </a:p>
        </p:txBody>
      </p:sp>
      <p:sp>
        <p:nvSpPr>
          <p:cNvPr id="7" name="Text 4"/>
          <p:cNvSpPr txBox="1"/>
          <p:nvPr/>
        </p:nvSpPr>
        <p:spPr>
          <a:xfrm>
            <a:off x="548640" y="1371600"/>
            <a:ext cx="7589520" cy="640080"/>
          </a:xfrm>
          <a:prstGeom prst="rect">
            <a:avLst/>
          </a:prstGeom>
          <a:noFill/>
          <a:ln/>
        </p:spPr>
        <p:txBody>
          <a:bodyPr wrap="square" lIns="0" tIns="0" rIns="0" bIns="0" rtlCol="0" anchor="t"/>
          <a:lstStyle/>
          <a:p>
            <a:pPr algn="l" indent="0" marL="0">
              <a:lnSpc>
                <a:spcPct val="105000"/>
              </a:lnSpc>
              <a:buNone/>
            </a:pPr>
            <a:r>
              <a:rPr lang="en-US" sz="1250" dirty="0">
                <a:solidFill>
                  <a:srgbClr val="555555"/>
                </a:solidFill>
                <a:latin typeface="Calibri" pitchFamily="34" charset="0"/>
                <a:ea typeface="Calibri" pitchFamily="34" charset="-122"/>
                <a:cs typeface="Calibri" pitchFamily="34" charset="-120"/>
              </a:rPr>
              <a:t>Kalau kita modelkan, persoalan persediaan selalu punya struktur yang sama: ada tujuan, ada variabel yang bisa diatur, dan ada batasan.</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7589520" cy="914400"/>
        </p:xfrm>
        <a:graphic>
          <a:graphicData uri="http://schemas.openxmlformats.org/drawingml/2006/table">
            <a:tbl>
              <a:tblPr/>
              <a:tblGrid>
                <a:gridCol w="1645920"/>
                <a:gridCol w="2971800"/>
                <a:gridCol w="2971800"/>
              </a:tblGrid>
              <a:tr h="0">
                <a:tc>
                  <a:txBody>
                    <a:bodyPr/>
                    <a:lstStyle/>
                    <a:p>
                      <a:pPr indent="0" marL="0">
                        <a:buNone/>
                      </a:pPr>
                      <a:r>
                        <a:rPr lang="en-US" sz="1050" b="1" dirty="0">
                          <a:solidFill>
                            <a:srgbClr val="FFFFFF"/>
                          </a:solidFill>
                          <a:latin typeface="Arial" pitchFamily="34" charset="0"/>
                          <a:ea typeface="Arial" pitchFamily="34" charset="-122"/>
                          <a:cs typeface="Arial" pitchFamily="34" charset="-120"/>
                        </a:rPr>
                        <a:t>Unsur model</a:t>
                      </a:r>
                      <a:endParaRPr lang="en-US" sz="10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Isi umum</a:t>
                      </a:r>
                      <a:endParaRPr lang="en-US" sz="10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Bentuknya di Amazon</a:t>
                      </a:r>
                      <a:endParaRPr lang="en-US" sz="10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1100" b="1" dirty="0">
                          <a:solidFill>
                            <a:srgbClr val="111111"/>
                          </a:solidFill>
                          <a:latin typeface="Calibri" pitchFamily="34" charset="0"/>
                          <a:ea typeface="Calibri" pitchFamily="34" charset="-122"/>
                          <a:cs typeface="Calibri" pitchFamily="34" charset="-120"/>
                        </a:rPr>
                        <a:t>Objective</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Meminimalkan total biaya persediaan: biaya simpan (holding) + biaya pesan (ordering) + biaya kekurangan (shortage)</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Ditambah satu komponen yang oleh buku disebut sangat mahal: biaya kesalahan pemenuhan (returns)</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11111"/>
                          </a:solidFill>
                          <a:latin typeface="Calibri" pitchFamily="34" charset="0"/>
                          <a:ea typeface="Calibri" pitchFamily="34" charset="-122"/>
                          <a:cs typeface="Calibri" pitchFamily="34" charset="-120"/>
                        </a:rPr>
                        <a:t>Decision variables</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Jumlah pesan (Q), titik pesan ulang (ROP), stok pengaman</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Ditambah alokasi: item apa di gudang mana, dan pesanan mana dipenuhi dari gudang mana</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1100" b="1" dirty="0">
                          <a:solidFill>
                            <a:srgbClr val="111111"/>
                          </a:solidFill>
                          <a:latin typeface="Calibri" pitchFamily="34" charset="0"/>
                          <a:ea typeface="Calibri" pitchFamily="34" charset="-122"/>
                          <a:cs typeface="Calibri" pitchFamily="34" charset="-120"/>
                        </a:rPr>
                        <a:t>Constraints</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Service level yang dijanjikan, kapasitas gudang, lead time pemasok</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100" dirty="0">
                          <a:solidFill>
                            <a:srgbClr val="555555"/>
                          </a:solidFill>
                          <a:latin typeface="Calibri" pitchFamily="34" charset="0"/>
                          <a:ea typeface="Calibri" pitchFamily="34" charset="-122"/>
                          <a:cs typeface="Calibri" pitchFamily="34" charset="-120"/>
                        </a:rPr>
                        <a:t>Janji ke pelanggan: harga terendah, kirim tercepat, bebas kesalahan</a:t>
                      </a:r>
                      <a:endParaRPr lang="en-US" sz="11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9" name="Shape 5"/>
          <p:cNvSpPr/>
          <p:nvPr/>
        </p:nvSpPr>
        <p:spPr>
          <a:xfrm>
            <a:off x="466344" y="4809744"/>
            <a:ext cx="7589520" cy="1280160"/>
          </a:xfrm>
          <a:prstGeom prst="roundRect">
            <a:avLst>
              <a:gd name="adj" fmla="val 8571"/>
            </a:avLst>
          </a:prstGeom>
          <a:solidFill>
            <a:srgbClr val="232F3E"/>
          </a:solidFill>
          <a:ln w="12700">
            <a:solidFill>
              <a:srgbClr val="232F3E"/>
            </a:solidFill>
            <a:prstDash val="solid"/>
          </a:ln>
        </p:spPr>
      </p:sp>
      <p:sp>
        <p:nvSpPr>
          <p:cNvPr id="10" name="Shape 6"/>
          <p:cNvSpPr/>
          <p:nvPr/>
        </p:nvSpPr>
        <p:spPr>
          <a:xfrm>
            <a:off x="548640" y="4892040"/>
            <a:ext cx="7589520"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1" name="Text 7"/>
          <p:cNvSpPr txBox="1"/>
          <p:nvPr/>
        </p:nvSpPr>
        <p:spPr>
          <a:xfrm>
            <a:off x="777240" y="5029200"/>
            <a:ext cx="7223760" cy="320040"/>
          </a:xfrm>
          <a:prstGeom prst="rect">
            <a:avLst/>
          </a:prstGeom>
          <a:noFill/>
          <a:ln/>
        </p:spPr>
        <p:txBody>
          <a:bodyPr wrap="square" lIns="0" tIns="0" rIns="0" bIns="0" rtlCol="0" anchor="t"/>
          <a:lstStyle/>
          <a:p>
            <a:pPr algn="l" indent="0" marL="0">
              <a:lnSpc>
                <a:spcPct val="105000"/>
              </a:lnSpc>
              <a:buNone/>
            </a:pPr>
            <a:r>
              <a:rPr lang="en-US" sz="1350" b="1" dirty="0">
                <a:solidFill>
                  <a:srgbClr val="111111"/>
                </a:solidFill>
                <a:latin typeface="Calibri" pitchFamily="34" charset="0"/>
                <a:ea typeface="Calibri" pitchFamily="34" charset="-122"/>
                <a:cs typeface="Calibri" pitchFamily="34" charset="-120"/>
              </a:rPr>
              <a:t>Intuisinya: service level adalah constraint, bukan objective.</a:t>
            </a:r>
            <a:endParaRPr lang="en-US" sz="1350" dirty="0"/>
          </a:p>
        </p:txBody>
      </p:sp>
      <p:sp>
        <p:nvSpPr>
          <p:cNvPr id="12" name="Text 8"/>
          <p:cNvSpPr txBox="1"/>
          <p:nvPr/>
        </p:nvSpPr>
        <p:spPr>
          <a:xfrm>
            <a:off x="777240" y="5376672"/>
            <a:ext cx="7223760" cy="73152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Perusahaan tidak meminimalkan stok; perusahaan meminimalkan biaya pada tingkat layanan yang sudah dijanjikan. Perbedaan ini kecil kelihatannya, tetapi menentukan cara membaca Amazon di Bagian D.</a:t>
            </a:r>
            <a:endParaRPr lang="en-US" sz="1150" dirty="0"/>
          </a:p>
        </p:txBody>
      </p:sp>
      <p:pic>
        <p:nvPicPr>
          <p:cNvPr id="13" name="Image 1" descr="/tmp/claude-0/-home-user-Dom-Manipulation/01edd7ad-16e1-5ac5-9e2e-840f37702b96/scratchpad/img/crop/totes.jpg">    </p:cNvPr>
          <p:cNvPicPr>
            <a:picLocks noChangeAspect="1"/>
          </p:cNvPicPr>
          <p:nvPr/>
        </p:nvPicPr>
        <p:blipFill>
          <a:blip r:embed="rId2"/>
          <a:stretch>
            <a:fillRect/>
          </a:stretch>
        </p:blipFill>
        <p:spPr>
          <a:xfrm>
            <a:off x="8458200" y="1188720"/>
            <a:ext cx="3291840" cy="1959429"/>
          </a:xfrm>
          <a:prstGeom prst="rect">
            <a:avLst/>
          </a:prstGeom>
        </p:spPr>
      </p:pic>
      <p:pic>
        <p:nvPicPr>
          <p:cNvPr id="14" name="Image 2" descr="/tmp/claude-0/-home-user-Dom-Manipulation/01edd7ad-16e1-5ac5-9e2e-840f37702b96/scratchpad/img/crop/giftwrap.jpg">    </p:cNvPr>
          <p:cNvPicPr>
            <a:picLocks noChangeAspect="1"/>
          </p:cNvPicPr>
          <p:nvPr/>
        </p:nvPicPr>
        <p:blipFill>
          <a:blip r:embed="rId3"/>
          <a:stretch>
            <a:fillRect/>
          </a:stretch>
        </p:blipFill>
        <p:spPr>
          <a:xfrm>
            <a:off x="8458200" y="3429000"/>
            <a:ext cx="3291840" cy="22702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6</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A  ·  A.3</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DILEMA DAN ATURAN KEPUTUSAN</a:t>
            </a:r>
            <a:endParaRPr lang="en-US" sz="2600" dirty="0"/>
          </a:p>
        </p:txBody>
      </p:sp>
      <p:sp>
        <p:nvSpPr>
          <p:cNvPr id="7" name="Shape 4"/>
          <p:cNvSpPr/>
          <p:nvPr/>
        </p:nvSpPr>
        <p:spPr>
          <a:xfrm>
            <a:off x="466344" y="1472184"/>
            <a:ext cx="3566160" cy="2103120"/>
          </a:xfrm>
          <a:prstGeom prst="roundRect">
            <a:avLst>
              <a:gd name="adj" fmla="val 5217"/>
            </a:avLst>
          </a:prstGeom>
          <a:solidFill>
            <a:srgbClr val="FF9900"/>
          </a:solidFill>
          <a:ln w="12700">
            <a:solidFill>
              <a:srgbClr val="FF9900"/>
            </a:solidFill>
            <a:prstDash val="solid"/>
          </a:ln>
        </p:spPr>
      </p:sp>
      <p:sp>
        <p:nvSpPr>
          <p:cNvPr id="8" name="Shape 5"/>
          <p:cNvSpPr/>
          <p:nvPr/>
        </p:nvSpPr>
        <p:spPr>
          <a:xfrm>
            <a:off x="548640" y="1554480"/>
            <a:ext cx="356616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77240" y="1737360"/>
            <a:ext cx="3200400" cy="320040"/>
          </a:xfrm>
          <a:prstGeom prst="rect">
            <a:avLst/>
          </a:prstGeom>
          <a:noFill/>
          <a:ln/>
        </p:spPr>
        <p:txBody>
          <a:bodyPr wrap="square" lIns="0" tIns="0" rIns="0" bIns="0" rtlCol="0" anchor="t"/>
          <a:lstStyle/>
          <a:p>
            <a:pPr indent="0" marL="0">
              <a:buNone/>
            </a:pPr>
            <a:r>
              <a:rPr lang="en-US" sz="1400" b="1" dirty="0">
                <a:solidFill>
                  <a:srgbClr val="111111"/>
                </a:solidFill>
                <a:latin typeface="Arial" pitchFamily="34" charset="0"/>
                <a:ea typeface="Arial" pitchFamily="34" charset="-122"/>
                <a:cs typeface="Arial" pitchFamily="34" charset="-120"/>
              </a:rPr>
              <a:t>STOK TERLALU BANYAK</a:t>
            </a:r>
            <a:endParaRPr lang="en-US" sz="1400" dirty="0"/>
          </a:p>
        </p:txBody>
      </p:sp>
      <p:sp>
        <p:nvSpPr>
          <p:cNvPr id="10" name="Text 7"/>
          <p:cNvSpPr txBox="1"/>
          <p:nvPr/>
        </p:nvSpPr>
        <p:spPr>
          <a:xfrm>
            <a:off x="777240" y="2148840"/>
            <a:ext cx="3154680"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Biaya simpan dan biaya penanganan naik</a:t>
            </a:r>
            <a:endParaRPr lang="en-US" sz="1150" dirty="0"/>
          </a:p>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Modal tertahan di gudang</a:t>
            </a:r>
            <a:endParaRPr lang="en-US" sz="1150" dirty="0"/>
          </a:p>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Risiko barang usang (obsolescence)</a:t>
            </a:r>
            <a:endParaRPr lang="en-US" sz="1150" dirty="0"/>
          </a:p>
        </p:txBody>
      </p:sp>
      <p:sp>
        <p:nvSpPr>
          <p:cNvPr id="11" name="Shape 8"/>
          <p:cNvSpPr/>
          <p:nvPr/>
        </p:nvSpPr>
        <p:spPr>
          <a:xfrm>
            <a:off x="4261104" y="1472184"/>
            <a:ext cx="3566160" cy="2103120"/>
          </a:xfrm>
          <a:prstGeom prst="roundRect">
            <a:avLst>
              <a:gd name="adj" fmla="val 5217"/>
            </a:avLst>
          </a:prstGeom>
          <a:solidFill>
            <a:srgbClr val="FF9900"/>
          </a:solidFill>
          <a:ln w="12700">
            <a:solidFill>
              <a:srgbClr val="FF9900"/>
            </a:solidFill>
            <a:prstDash val="solid"/>
          </a:ln>
        </p:spPr>
      </p:sp>
      <p:sp>
        <p:nvSpPr>
          <p:cNvPr id="12" name="Shape 9"/>
          <p:cNvSpPr/>
          <p:nvPr/>
        </p:nvSpPr>
        <p:spPr>
          <a:xfrm>
            <a:off x="4343400" y="1554480"/>
            <a:ext cx="356616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10"/>
          <p:cNvSpPr txBox="1"/>
          <p:nvPr/>
        </p:nvSpPr>
        <p:spPr>
          <a:xfrm>
            <a:off x="4572000" y="1737360"/>
            <a:ext cx="3200400" cy="320040"/>
          </a:xfrm>
          <a:prstGeom prst="rect">
            <a:avLst/>
          </a:prstGeom>
          <a:noFill/>
          <a:ln/>
        </p:spPr>
        <p:txBody>
          <a:bodyPr wrap="square" lIns="0" tIns="0" rIns="0" bIns="0" rtlCol="0" anchor="t"/>
          <a:lstStyle/>
          <a:p>
            <a:pPr indent="0" marL="0">
              <a:buNone/>
            </a:pPr>
            <a:r>
              <a:rPr lang="en-US" sz="1400" b="1" dirty="0">
                <a:solidFill>
                  <a:srgbClr val="111111"/>
                </a:solidFill>
                <a:latin typeface="Arial" pitchFamily="34" charset="0"/>
                <a:ea typeface="Arial" pitchFamily="34" charset="-122"/>
                <a:cs typeface="Arial" pitchFamily="34" charset="-120"/>
              </a:rPr>
              <a:t>STOK TERLALU SEDIKIT</a:t>
            </a:r>
            <a:endParaRPr lang="en-US" sz="1400" dirty="0"/>
          </a:p>
        </p:txBody>
      </p:sp>
      <p:sp>
        <p:nvSpPr>
          <p:cNvPr id="14" name="Text 11"/>
          <p:cNvSpPr txBox="1"/>
          <p:nvPr/>
        </p:nvSpPr>
        <p:spPr>
          <a:xfrm>
            <a:off x="4572000" y="2148840"/>
            <a:ext cx="3154680" cy="146304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Stock out, permintaan tidak terpenuhi</a:t>
            </a:r>
            <a:endParaRPr lang="en-US" sz="1150" dirty="0"/>
          </a:p>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Kalau terjadi di produksi, produksinya berhenti</a:t>
            </a:r>
            <a:endParaRPr lang="en-US" sz="1150" dirty="0"/>
          </a:p>
          <a:p>
            <a:pPr marL="342900" indent="-342900">
              <a:lnSpc>
                <a:spcPct val="105000"/>
              </a:lnSpc>
              <a:spcAft>
                <a:spcPts val="500"/>
              </a:spcAft>
              <a:buSzPct val="100000"/>
              <a:buChar char="■"/>
            </a:pPr>
            <a:r>
              <a:rPr lang="en-US" sz="1150" dirty="0">
                <a:solidFill>
                  <a:srgbClr val="555555"/>
                </a:solidFill>
                <a:latin typeface="Calibri" pitchFamily="34" charset="0"/>
                <a:ea typeface="Calibri" pitchFamily="34" charset="-122"/>
                <a:cs typeface="Calibri" pitchFamily="34" charset="-120"/>
              </a:rPr>
              <a:t>Untuk ritel daring: pelanggan berpindah ke penjual lain dalam hitungan detik</a:t>
            </a:r>
            <a:endParaRPr lang="en-US" sz="1150" dirty="0"/>
          </a:p>
        </p:txBody>
      </p:sp>
      <p:sp>
        <p:nvSpPr>
          <p:cNvPr id="15" name="Shape 12"/>
          <p:cNvSpPr/>
          <p:nvPr/>
        </p:nvSpPr>
        <p:spPr>
          <a:xfrm>
            <a:off x="466344" y="3849624"/>
            <a:ext cx="7360920" cy="2240280"/>
          </a:xfrm>
          <a:prstGeom prst="roundRect">
            <a:avLst>
              <a:gd name="adj" fmla="val 4898"/>
            </a:avLst>
          </a:prstGeom>
          <a:solidFill>
            <a:srgbClr val="FF9900"/>
          </a:solidFill>
          <a:ln w="12700">
            <a:solidFill>
              <a:srgbClr val="FF9900"/>
            </a:solidFill>
            <a:prstDash val="solid"/>
          </a:ln>
        </p:spPr>
      </p:sp>
      <p:sp>
        <p:nvSpPr>
          <p:cNvPr id="16" name="Shape 13"/>
          <p:cNvSpPr/>
          <p:nvPr/>
        </p:nvSpPr>
        <p:spPr>
          <a:xfrm>
            <a:off x="548640" y="3931920"/>
            <a:ext cx="7360920" cy="2240280"/>
          </a:xfrm>
          <a:prstGeom prst="roundRect">
            <a:avLst>
              <a:gd name="adj" fmla="val 4898"/>
            </a:avLst>
          </a:prstGeom>
          <a:solidFill>
            <a:srgbClr val="232F3E"/>
          </a:solidFill>
          <a:ln w="12700">
            <a:solidFill>
              <a:srgbClr val="232F3E"/>
            </a:solidFill>
            <a:prstDash val="solid"/>
          </a:ln>
          <a:effectLst>
            <a:outerShdw sx="100000" sy="100000" kx="0" ky="0" algn="bl" rotWithShape="0" blurRad="76200" dist="25400" dir="2700000">
              <a:srgbClr val="000000">
                <a:alpha val="16000"/>
              </a:srgbClr>
            </a:outerShdw>
          </a:effectLst>
        </p:spPr>
      </p:sp>
      <p:sp>
        <p:nvSpPr>
          <p:cNvPr id="17" name="Text 14"/>
          <p:cNvSpPr txBox="1"/>
          <p:nvPr/>
        </p:nvSpPr>
        <p:spPr>
          <a:xfrm>
            <a:off x="822960" y="4114800"/>
            <a:ext cx="6858000" cy="274320"/>
          </a:xfrm>
          <a:prstGeom prst="rect">
            <a:avLst/>
          </a:prstGeom>
          <a:noFill/>
          <a:ln/>
        </p:spPr>
        <p:txBody>
          <a:bodyPr wrap="square" lIns="0" tIns="0" rIns="0" bIns="0" rtlCol="0" anchor="t"/>
          <a:lstStyle/>
          <a:p>
            <a:pPr algn="l" indent="0" marL="0">
              <a:lnSpc>
                <a:spcPct val="105000"/>
              </a:lnSpc>
              <a:buNone/>
            </a:pPr>
            <a:r>
              <a:rPr lang="en-US" sz="1000" b="1" dirty="0">
                <a:solidFill>
                  <a:srgbClr val="FF9900"/>
                </a:solidFill>
                <a:latin typeface="Calibri" pitchFamily="34" charset="0"/>
                <a:ea typeface="Calibri" pitchFamily="34" charset="-122"/>
                <a:cs typeface="Calibri" pitchFamily="34" charset="-120"/>
              </a:rPr>
              <a:t>ATURAN KEPUTUSAN</a:t>
            </a:r>
            <a:endParaRPr lang="en-US" sz="1000" dirty="0"/>
          </a:p>
        </p:txBody>
      </p:sp>
      <p:sp>
        <p:nvSpPr>
          <p:cNvPr id="18" name="Text 15"/>
          <p:cNvSpPr txBox="1"/>
          <p:nvPr/>
        </p:nvSpPr>
        <p:spPr>
          <a:xfrm>
            <a:off x="822960" y="4434840"/>
            <a:ext cx="6858000" cy="1097280"/>
          </a:xfrm>
          <a:prstGeom prst="rect">
            <a:avLst/>
          </a:prstGeom>
          <a:noFill/>
          <a:ln/>
        </p:spPr>
        <p:txBody>
          <a:bodyPr wrap="square" lIns="0" tIns="0" rIns="0" bIns="0" rtlCol="0" anchor="t"/>
          <a:lstStyle/>
          <a:p>
            <a:pPr algn="l" indent="0" marL="0">
              <a:lnSpc>
                <a:spcPct val="105000"/>
              </a:lnSpc>
              <a:buNone/>
            </a:pPr>
            <a:r>
              <a:rPr lang="en-US" sz="1300" dirty="0">
                <a:solidFill>
                  <a:srgbClr val="FFFFFF"/>
                </a:solidFill>
                <a:latin typeface="Calibri" pitchFamily="34" charset="0"/>
                <a:ea typeface="Calibri" pitchFamily="34" charset="-122"/>
                <a:cs typeface="Calibri" pitchFamily="34" charset="-120"/>
              </a:rPr>
              <a:t>Kalau dampak gangguan (kekosongan stok) tidak signifikan, tidak perlu menyimpan stok banyak. Kalau dampaknya signifikan, misalnya lead time pemesanan panjang atau biaya kehilangan penjualan besar, stok cadangan harus dinaikkan untuk menekan risiko.</a:t>
            </a:r>
            <a:endParaRPr lang="en-US" sz="1300" dirty="0"/>
          </a:p>
        </p:txBody>
      </p:sp>
      <p:sp>
        <p:nvSpPr>
          <p:cNvPr id="19" name="Text 16"/>
          <p:cNvSpPr txBox="1"/>
          <p:nvPr/>
        </p:nvSpPr>
        <p:spPr>
          <a:xfrm>
            <a:off x="822960" y="5532120"/>
            <a:ext cx="6858000" cy="548640"/>
          </a:xfrm>
          <a:prstGeom prst="rect">
            <a:avLst/>
          </a:prstGeom>
          <a:noFill/>
          <a:ln/>
        </p:spPr>
        <p:txBody>
          <a:bodyPr wrap="square" lIns="0" tIns="0" rIns="0" bIns="0" rtlCol="0" anchor="t"/>
          <a:lstStyle/>
          <a:p>
            <a:pPr algn="l" indent="0" marL="0">
              <a:lnSpc>
                <a:spcPct val="105000"/>
              </a:lnSpc>
              <a:buNone/>
            </a:pPr>
            <a:r>
              <a:rPr lang="en-US" sz="1100" i="1" dirty="0">
                <a:solidFill>
                  <a:srgbClr val="D9D9D9"/>
                </a:solidFill>
                <a:latin typeface="Calibri" pitchFamily="34" charset="0"/>
                <a:ea typeface="Calibri" pitchFamily="34" charset="-122"/>
                <a:cs typeface="Calibri" pitchFamily="34" charset="-120"/>
              </a:rPr>
              <a:t>Aturan ini yang dipakai untuk menilai apakah stok Amazon yang sangat besar itu pemborosan atau justru keputusan yang benar.</a:t>
            </a:r>
            <a:endParaRPr lang="en-US" sz="1100" dirty="0"/>
          </a:p>
        </p:txBody>
      </p:sp>
      <p:pic>
        <p:nvPicPr>
          <p:cNvPr id="20" name="Image 1" descr="/tmp/claude-0/-home-user-Dom-Manipulation/01edd7ad-16e1-5ac5-9e2e-840f37702b96/scratchpad/img/crop/sortation.jpg">    </p:cNvPr>
          <p:cNvPicPr>
            <a:picLocks noChangeAspect="1"/>
          </p:cNvPicPr>
          <p:nvPr/>
        </p:nvPicPr>
        <p:blipFill>
          <a:blip r:embed="rId2"/>
          <a:stretch>
            <a:fillRect/>
          </a:stretch>
        </p:blipFill>
        <p:spPr>
          <a:xfrm>
            <a:off x="8229600" y="1463040"/>
            <a:ext cx="3566160" cy="2228850"/>
          </a:xfrm>
          <a:prstGeom prst="rect">
            <a:avLst/>
          </a:prstGeom>
        </p:spPr>
      </p:pic>
      <p:pic>
        <p:nvPicPr>
          <p:cNvPr id="21" name="Image 2" descr="/tmp/claude-0/-home-user-Dom-Manipulation/01edd7ad-16e1-5ac5-9e2e-840f37702b96/scratchpad/img/crop/dock.jpg">    </p:cNvPr>
          <p:cNvPicPr>
            <a:picLocks noChangeAspect="1"/>
          </p:cNvPicPr>
          <p:nvPr/>
        </p:nvPicPr>
        <p:blipFill>
          <a:blip r:embed="rId3"/>
          <a:stretch>
            <a:fillRect/>
          </a:stretch>
        </p:blipFill>
        <p:spPr>
          <a:xfrm>
            <a:off x="8229600" y="3977640"/>
            <a:ext cx="3566160" cy="211015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7</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B  ·  KISAH SUKSES</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DARI VIRTUAL KE PENGELOLA STOK</a:t>
            </a:r>
            <a:endParaRPr lang="en-US" sz="2600" dirty="0"/>
          </a:p>
        </p:txBody>
      </p:sp>
      <p:sp>
        <p:nvSpPr>
          <p:cNvPr id="7" name="Shape 4"/>
          <p:cNvSpPr/>
          <p:nvPr/>
        </p:nvSpPr>
        <p:spPr>
          <a:xfrm>
            <a:off x="466344" y="1426464"/>
            <a:ext cx="3840480" cy="2240280"/>
          </a:xfrm>
          <a:prstGeom prst="roundRect">
            <a:avLst>
              <a:gd name="adj" fmla="val 4898"/>
            </a:avLst>
          </a:prstGeom>
          <a:solidFill>
            <a:srgbClr val="FF9900"/>
          </a:solidFill>
          <a:ln w="12700">
            <a:solidFill>
              <a:srgbClr val="FF9900"/>
            </a:solidFill>
            <a:prstDash val="solid"/>
          </a:ln>
        </p:spPr>
      </p:sp>
      <p:sp>
        <p:nvSpPr>
          <p:cNvPr id="8" name="Shape 5"/>
          <p:cNvSpPr/>
          <p:nvPr/>
        </p:nvSpPr>
        <p:spPr>
          <a:xfrm>
            <a:off x="548640" y="1508760"/>
            <a:ext cx="3840480" cy="2240280"/>
          </a:xfrm>
          <a:prstGeom prst="roundRect">
            <a:avLst>
              <a:gd name="adj" fmla="val 4898"/>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77240" y="1691640"/>
            <a:ext cx="1280160" cy="457200"/>
          </a:xfrm>
          <a:prstGeom prst="rect">
            <a:avLst/>
          </a:prstGeom>
          <a:noFill/>
          <a:ln/>
        </p:spPr>
        <p:txBody>
          <a:bodyPr wrap="square" lIns="0" tIns="0" rIns="0" bIns="0" rtlCol="0" anchor="ctr"/>
          <a:lstStyle/>
          <a:p>
            <a:pPr indent="0" marL="0">
              <a:buNone/>
            </a:pPr>
            <a:r>
              <a:rPr lang="en-US" sz="2200" b="1" dirty="0">
                <a:solidFill>
                  <a:srgbClr val="FF9900"/>
                </a:solidFill>
                <a:latin typeface="Arial" pitchFamily="34" charset="0"/>
                <a:ea typeface="Arial" pitchFamily="34" charset="-122"/>
                <a:cs typeface="Arial" pitchFamily="34" charset="-120"/>
              </a:rPr>
              <a:t>//1995</a:t>
            </a:r>
            <a:endParaRPr lang="en-US" sz="2200" dirty="0"/>
          </a:p>
        </p:txBody>
      </p:sp>
      <p:sp>
        <p:nvSpPr>
          <p:cNvPr id="10" name="Text 7"/>
          <p:cNvSpPr txBox="1"/>
          <p:nvPr/>
        </p:nvSpPr>
        <p:spPr>
          <a:xfrm>
            <a:off x="777240" y="2194560"/>
            <a:ext cx="3429000" cy="1508760"/>
          </a:xfrm>
          <a:prstGeom prst="rect">
            <a:avLst/>
          </a:prstGeom>
          <a:noFill/>
          <a:ln/>
        </p:spPr>
        <p:txBody>
          <a:bodyPr wrap="square" lIns="0" tIns="0" rIns="0" bIns="0" rtlCol="0" anchor="t"/>
          <a:lstStyle/>
          <a:p>
            <a:pPr algn="l" indent="0" marL="0">
              <a:lnSpc>
                <a:spcPct val="105000"/>
              </a:lnSpc>
              <a:buNone/>
            </a:pPr>
            <a:r>
              <a:rPr lang="en-US" sz="1100" dirty="0">
                <a:solidFill>
                  <a:srgbClr val="555555"/>
                </a:solidFill>
                <a:latin typeface="Calibri" pitchFamily="34" charset="0"/>
                <a:ea typeface="Calibri" pitchFamily="34" charset="-122"/>
                <a:cs typeface="Calibri" pitchFamily="34" charset="-120"/>
              </a:rPr>
              <a:t>Rencana awal: pengecer “virtual”. Tanpa persediaan, tanpa gudang, tanpa overhead. Hanya komputer yang menerima pesanan buku dan meneruskan pemenuhannya ke pihak lain (HRM, hlm. 488). Secara default rencana yang menarik: modal kecil, tidak ada risiko stok.</a:t>
            </a:r>
            <a:endParaRPr lang="en-US" sz="1100" dirty="0"/>
          </a:p>
        </p:txBody>
      </p:sp>
      <p:sp>
        <p:nvSpPr>
          <p:cNvPr id="11" name="Shape 8"/>
          <p:cNvSpPr/>
          <p:nvPr/>
        </p:nvSpPr>
        <p:spPr>
          <a:xfrm>
            <a:off x="466344" y="3895344"/>
            <a:ext cx="3840480" cy="2194560"/>
          </a:xfrm>
          <a:prstGeom prst="roundRect">
            <a:avLst>
              <a:gd name="adj" fmla="val 5000"/>
            </a:avLst>
          </a:prstGeom>
          <a:solidFill>
            <a:srgbClr val="232F3E"/>
          </a:solidFill>
          <a:ln w="12700">
            <a:solidFill>
              <a:srgbClr val="232F3E"/>
            </a:solidFill>
            <a:prstDash val="solid"/>
          </a:ln>
        </p:spPr>
      </p:sp>
      <p:sp>
        <p:nvSpPr>
          <p:cNvPr id="12" name="Shape 9"/>
          <p:cNvSpPr/>
          <p:nvPr/>
        </p:nvSpPr>
        <p:spPr>
          <a:xfrm>
            <a:off x="548640" y="397764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10"/>
          <p:cNvSpPr txBox="1"/>
          <p:nvPr/>
        </p:nvSpPr>
        <p:spPr>
          <a:xfrm>
            <a:off x="777240" y="4160520"/>
            <a:ext cx="3429000" cy="548640"/>
          </a:xfrm>
          <a:prstGeom prst="rect">
            <a:avLst/>
          </a:prstGeom>
          <a:noFill/>
          <a:ln/>
        </p:spPr>
        <p:txBody>
          <a:bodyPr wrap="square" lIns="0" tIns="0" rIns="0" bIns="0" rtlCol="0" anchor="t"/>
          <a:lstStyle/>
          <a:p>
            <a:pPr algn="l" indent="0" marL="0">
              <a:lnSpc>
                <a:spcPct val="105000"/>
              </a:lnSpc>
              <a:buNone/>
            </a:pPr>
            <a:r>
              <a:rPr lang="en-US" sz="1300" b="1" i="1" dirty="0">
                <a:solidFill>
                  <a:srgbClr val="111111"/>
                </a:solidFill>
                <a:latin typeface="Calibri" pitchFamily="34" charset="0"/>
                <a:ea typeface="Calibri" pitchFamily="34" charset="-122"/>
                <a:cs typeface="Calibri" pitchFamily="34" charset="-120"/>
              </a:rPr>
              <a:t>“Things clearly didn’t work out that way.”</a:t>
            </a:r>
            <a:endParaRPr lang="en-US" sz="1300" dirty="0"/>
          </a:p>
        </p:txBody>
      </p:sp>
      <p:sp>
        <p:nvSpPr>
          <p:cNvPr id="14" name="Text 11"/>
          <p:cNvSpPr txBox="1"/>
          <p:nvPr/>
        </p:nvSpPr>
        <p:spPr>
          <a:xfrm>
            <a:off x="777240" y="4709160"/>
            <a:ext cx="3429000" cy="141732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Buku hanya memberi satu kalimat itu. Yang tercatat sekarang adalah perusahaan dengan jaringan gudang terbesar di dunia dan perangkat lunak pesanan yang begitu baik sehingga keahlian order taking, processing, dan billing dijual ke pihak lain (HRM, hlm. 489).</a:t>
            </a:r>
            <a:endParaRPr lang="en-US" sz="1050" dirty="0"/>
          </a:p>
        </p:txBody>
      </p:sp>
      <p:sp>
        <p:nvSpPr>
          <p:cNvPr id="15" name="Shape 12"/>
          <p:cNvSpPr/>
          <p:nvPr/>
        </p:nvSpPr>
        <p:spPr>
          <a:xfrm>
            <a:off x="4626864" y="1426464"/>
            <a:ext cx="3337560" cy="1188720"/>
          </a:xfrm>
          <a:prstGeom prst="roundRect">
            <a:avLst>
              <a:gd name="adj" fmla="val 9231"/>
            </a:avLst>
          </a:prstGeom>
          <a:solidFill>
            <a:srgbClr val="FF9900"/>
          </a:solidFill>
          <a:ln w="12700">
            <a:solidFill>
              <a:srgbClr val="FF9900"/>
            </a:solidFill>
            <a:prstDash val="solid"/>
          </a:ln>
        </p:spPr>
      </p:sp>
      <p:sp>
        <p:nvSpPr>
          <p:cNvPr id="16" name="Shape 13"/>
          <p:cNvSpPr/>
          <p:nvPr/>
        </p:nvSpPr>
        <p:spPr>
          <a:xfrm>
            <a:off x="4709160" y="1508760"/>
            <a:ext cx="333756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7" name="Text 14"/>
          <p:cNvSpPr txBox="1"/>
          <p:nvPr/>
        </p:nvSpPr>
        <p:spPr>
          <a:xfrm>
            <a:off x="4892040" y="1618488"/>
            <a:ext cx="3017520" cy="548640"/>
          </a:xfrm>
          <a:prstGeom prst="rect">
            <a:avLst/>
          </a:prstGeom>
          <a:noFill/>
          <a:ln/>
        </p:spPr>
        <p:txBody>
          <a:bodyPr wrap="square" lIns="0" tIns="0" rIns="0" bIns="0" rtlCol="0" anchor="ctr"/>
          <a:lstStyle/>
          <a:p>
            <a:pPr indent="0" marL="0">
              <a:buNone/>
            </a:pPr>
            <a:r>
              <a:rPr lang="en-US" sz="2800" b="1" dirty="0">
                <a:solidFill>
                  <a:srgbClr val="FF9900"/>
                </a:solidFill>
                <a:latin typeface="Arial" pitchFamily="34" charset="0"/>
                <a:ea typeface="Arial" pitchFamily="34" charset="-122"/>
                <a:cs typeface="Arial" pitchFamily="34" charset="-120"/>
              </a:rPr>
              <a:t>150+</a:t>
            </a:r>
            <a:endParaRPr lang="en-US" sz="2800" dirty="0"/>
          </a:p>
        </p:txBody>
      </p:sp>
      <p:sp>
        <p:nvSpPr>
          <p:cNvPr id="18" name="Text 15"/>
          <p:cNvSpPr txBox="1"/>
          <p:nvPr/>
        </p:nvSpPr>
        <p:spPr>
          <a:xfrm>
            <a:off x="4892040" y="2221992"/>
            <a:ext cx="3017520" cy="4114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gudang di seluruh dunia</a:t>
            </a:r>
            <a:endParaRPr lang="en-US" sz="1050" dirty="0"/>
          </a:p>
        </p:txBody>
      </p:sp>
      <p:sp>
        <p:nvSpPr>
          <p:cNvPr id="19" name="Shape 16"/>
          <p:cNvSpPr/>
          <p:nvPr/>
        </p:nvSpPr>
        <p:spPr>
          <a:xfrm>
            <a:off x="8275320" y="1508760"/>
            <a:ext cx="333756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0" name="Text 17"/>
          <p:cNvSpPr txBox="1"/>
          <p:nvPr/>
        </p:nvSpPr>
        <p:spPr>
          <a:xfrm>
            <a:off x="8458200" y="1618488"/>
            <a:ext cx="3017520" cy="548640"/>
          </a:xfrm>
          <a:prstGeom prst="rect">
            <a:avLst/>
          </a:prstGeom>
          <a:noFill/>
          <a:ln/>
        </p:spPr>
        <p:txBody>
          <a:bodyPr wrap="square" lIns="0" tIns="0" rIns="0" bIns="0" rtlCol="0" anchor="ctr"/>
          <a:lstStyle/>
          <a:p>
            <a:pPr indent="0" marL="0">
              <a:buNone/>
            </a:pPr>
            <a:r>
              <a:rPr lang="en-US" sz="2800" b="1" dirty="0">
                <a:solidFill>
                  <a:srgbClr val="FF9900"/>
                </a:solidFill>
                <a:latin typeface="Arial" pitchFamily="34" charset="0"/>
                <a:ea typeface="Arial" pitchFamily="34" charset="-122"/>
                <a:cs typeface="Arial" pitchFamily="34" charset="-120"/>
              </a:rPr>
              <a:t>200 juta</a:t>
            </a:r>
            <a:endParaRPr lang="en-US" sz="2800" dirty="0"/>
          </a:p>
        </p:txBody>
      </p:sp>
      <p:sp>
        <p:nvSpPr>
          <p:cNvPr id="21" name="Text 18"/>
          <p:cNvSpPr txBox="1"/>
          <p:nvPr/>
        </p:nvSpPr>
        <p:spPr>
          <a:xfrm>
            <a:off x="8458200" y="2221992"/>
            <a:ext cx="3017520" cy="4114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item tersedia di situs</a:t>
            </a:r>
            <a:endParaRPr lang="en-US" sz="1050" dirty="0"/>
          </a:p>
        </p:txBody>
      </p:sp>
      <p:sp>
        <p:nvSpPr>
          <p:cNvPr id="22" name="Shape 19"/>
          <p:cNvSpPr/>
          <p:nvPr/>
        </p:nvSpPr>
        <p:spPr>
          <a:xfrm>
            <a:off x="4709160" y="2880360"/>
            <a:ext cx="333756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3" name="Text 20"/>
          <p:cNvSpPr txBox="1"/>
          <p:nvPr/>
        </p:nvSpPr>
        <p:spPr>
          <a:xfrm>
            <a:off x="4892040" y="2990088"/>
            <a:ext cx="3017520" cy="548640"/>
          </a:xfrm>
          <a:prstGeom prst="rect">
            <a:avLst/>
          </a:prstGeom>
          <a:noFill/>
          <a:ln/>
        </p:spPr>
        <p:txBody>
          <a:bodyPr wrap="square" lIns="0" tIns="0" rIns="0" bIns="0" rtlCol="0" anchor="ctr"/>
          <a:lstStyle/>
          <a:p>
            <a:pPr indent="0" marL="0">
              <a:buNone/>
            </a:pPr>
            <a:r>
              <a:rPr lang="en-US" sz="2800" b="1" dirty="0">
                <a:solidFill>
                  <a:srgbClr val="FF9900"/>
                </a:solidFill>
                <a:latin typeface="Arial" pitchFamily="34" charset="0"/>
                <a:ea typeface="Arial" pitchFamily="34" charset="-122"/>
                <a:cs typeface="Arial" pitchFamily="34" charset="-120"/>
              </a:rPr>
              <a:t>200.000</a:t>
            </a:r>
            <a:endParaRPr lang="en-US" sz="2800" dirty="0"/>
          </a:p>
        </p:txBody>
      </p:sp>
      <p:sp>
        <p:nvSpPr>
          <p:cNvPr id="24" name="Text 21"/>
          <p:cNvSpPr txBox="1"/>
          <p:nvPr/>
        </p:nvSpPr>
        <p:spPr>
          <a:xfrm>
            <a:off x="4892040" y="3593592"/>
            <a:ext cx="3017520" cy="4114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pieces per hari, kapasitas kirim satu gudang</a:t>
            </a:r>
            <a:endParaRPr lang="en-US" sz="1050" dirty="0"/>
          </a:p>
        </p:txBody>
      </p:sp>
      <p:sp>
        <p:nvSpPr>
          <p:cNvPr id="25" name="Shape 22"/>
          <p:cNvSpPr/>
          <p:nvPr/>
        </p:nvSpPr>
        <p:spPr>
          <a:xfrm>
            <a:off x="8193024" y="2798064"/>
            <a:ext cx="3337560" cy="1188720"/>
          </a:xfrm>
          <a:prstGeom prst="roundRect">
            <a:avLst>
              <a:gd name="adj" fmla="val 9231"/>
            </a:avLst>
          </a:prstGeom>
          <a:solidFill>
            <a:srgbClr val="FF9900"/>
          </a:solidFill>
          <a:ln w="12700">
            <a:solidFill>
              <a:srgbClr val="FF9900"/>
            </a:solidFill>
            <a:prstDash val="solid"/>
          </a:ln>
        </p:spPr>
      </p:sp>
      <p:sp>
        <p:nvSpPr>
          <p:cNvPr id="26" name="Shape 23"/>
          <p:cNvSpPr/>
          <p:nvPr/>
        </p:nvSpPr>
        <p:spPr>
          <a:xfrm>
            <a:off x="8275320" y="2880360"/>
            <a:ext cx="3337560" cy="1188720"/>
          </a:xfrm>
          <a:prstGeom prst="roundRect">
            <a:avLst>
              <a:gd name="adj" fmla="val 923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7" name="Text 24"/>
          <p:cNvSpPr txBox="1"/>
          <p:nvPr/>
        </p:nvSpPr>
        <p:spPr>
          <a:xfrm>
            <a:off x="8458200" y="2990088"/>
            <a:ext cx="3017520" cy="548640"/>
          </a:xfrm>
          <a:prstGeom prst="rect">
            <a:avLst/>
          </a:prstGeom>
          <a:noFill/>
          <a:ln/>
        </p:spPr>
        <p:txBody>
          <a:bodyPr wrap="square" lIns="0" tIns="0" rIns="0" bIns="0" rtlCol="0" anchor="ctr"/>
          <a:lstStyle/>
          <a:p>
            <a:pPr indent="0" marL="0">
              <a:buNone/>
            </a:pPr>
            <a:r>
              <a:rPr lang="en-US" sz="2800" b="1" dirty="0">
                <a:solidFill>
                  <a:srgbClr val="FF9900"/>
                </a:solidFill>
                <a:latin typeface="Arial" pitchFamily="34" charset="0"/>
                <a:ea typeface="Arial" pitchFamily="34" charset="-122"/>
                <a:cs typeface="Arial" pitchFamily="34" charset="-120"/>
              </a:rPr>
              <a:t>600</a:t>
            </a:r>
            <a:endParaRPr lang="en-US" sz="2800" dirty="0"/>
          </a:p>
        </p:txBody>
      </p:sp>
      <p:sp>
        <p:nvSpPr>
          <p:cNvPr id="28" name="Text 25"/>
          <p:cNvSpPr txBox="1"/>
          <p:nvPr/>
        </p:nvSpPr>
        <p:spPr>
          <a:xfrm>
            <a:off x="8458200" y="3593592"/>
            <a:ext cx="3017520" cy="4114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pekerja terlibat pemindaian di satu gudang</a:t>
            </a:r>
            <a:endParaRPr lang="en-US" sz="1050" dirty="0"/>
          </a:p>
        </p:txBody>
      </p:sp>
      <p:pic>
        <p:nvPicPr>
          <p:cNvPr id="29" name="Image 1" descr="/tmp/claude-0/-home-user-Dom-Manipulation/01edd7ad-16e1-5ac5-9e2e-840f37702b96/scratchpad/img/crop/hero.jpg">    </p:cNvPr>
          <p:cNvPicPr>
            <a:picLocks noChangeAspect="1"/>
          </p:cNvPicPr>
          <p:nvPr/>
        </p:nvPicPr>
        <p:blipFill>
          <a:blip r:embed="rId2"/>
          <a:stretch>
            <a:fillRect/>
          </a:stretch>
        </p:blipFill>
        <p:spPr>
          <a:xfrm>
            <a:off x="4709160" y="4297680"/>
            <a:ext cx="3524098" cy="1874520"/>
          </a:xfrm>
          <a:prstGeom prst="rect">
            <a:avLst/>
          </a:prstGeom>
        </p:spPr>
      </p:pic>
      <p:sp>
        <p:nvSpPr>
          <p:cNvPr id="30" name="Text 26"/>
          <p:cNvSpPr txBox="1"/>
          <p:nvPr/>
        </p:nvSpPr>
        <p:spPr>
          <a:xfrm>
            <a:off x="4709160" y="6263640"/>
            <a:ext cx="6949440" cy="228600"/>
          </a:xfrm>
          <a:prstGeom prst="rect">
            <a:avLst/>
          </a:prstGeom>
          <a:noFill/>
          <a:ln/>
        </p:spPr>
        <p:txBody>
          <a:bodyPr wrap="square" lIns="0" tIns="0" rIns="0" bIns="0" rtlCol="0" anchor="t"/>
          <a:lstStyle/>
          <a:p>
            <a:pPr algn="l" indent="0" marL="0">
              <a:lnSpc>
                <a:spcPct val="105000"/>
              </a:lnSpc>
              <a:buNone/>
            </a:pPr>
            <a:r>
              <a:rPr lang="en-US" sz="850" i="1" dirty="0">
                <a:solidFill>
                  <a:srgbClr val="8A8A8A"/>
                </a:solidFill>
                <a:latin typeface="Calibri" pitchFamily="34" charset="0"/>
                <a:ea typeface="Calibri" pitchFamily="34" charset="-122"/>
                <a:cs typeface="Calibri" pitchFamily="34" charset="-120"/>
              </a:rPr>
              <a:t>Kondisi yang dilaporkan buku: jutaan item dalam ratusan ribu bin (HRM, hlm. 488–489)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8</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B  ·  B.3</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APAKAH RENCANA AWALNYA SALAH?</a:t>
            </a:r>
            <a:endParaRPr lang="en-US" sz="2600" dirty="0"/>
          </a:p>
        </p:txBody>
      </p:sp>
      <p:sp>
        <p:nvSpPr>
          <p:cNvPr id="7" name="Text 4"/>
          <p:cNvSpPr txBox="1"/>
          <p:nvPr/>
        </p:nvSpPr>
        <p:spPr>
          <a:xfrm>
            <a:off x="548640" y="1371600"/>
            <a:ext cx="7498080" cy="640080"/>
          </a:xfrm>
          <a:prstGeom prst="rect">
            <a:avLst/>
          </a:prstGeom>
          <a:noFill/>
          <a:ln/>
        </p:spPr>
        <p:txBody>
          <a:bodyPr wrap="square" lIns="0" tIns="0" rIns="0" bIns="0" rtlCol="0" anchor="t"/>
          <a:lstStyle/>
          <a:p>
            <a:pPr algn="l" indent="0" marL="0">
              <a:lnSpc>
                <a:spcPct val="105000"/>
              </a:lnSpc>
              <a:buNone/>
            </a:pPr>
            <a:r>
              <a:rPr lang="en-US" sz="1250" dirty="0">
                <a:solidFill>
                  <a:srgbClr val="555555"/>
                </a:solidFill>
                <a:latin typeface="Calibri" pitchFamily="34" charset="0"/>
                <a:ea typeface="Calibri" pitchFamily="34" charset="-122"/>
                <a:cs typeface="Calibri" pitchFamily="34" charset="-120"/>
              </a:rPr>
              <a:t>Bukan salah, tetapi asumsinya tidak bisa dipertahankan begitu value proposition ditetapkan. Bezos menetapkan pengalaman pelanggan harus menghasilkan tiga hal sekaligus (HRM, hlm. 489):</a:t>
            </a:r>
            <a:endParaRPr lang="en-US" sz="1250" dirty="0"/>
          </a:p>
        </p:txBody>
      </p:sp>
      <p:sp>
        <p:nvSpPr>
          <p:cNvPr id="8" name="Shape 5"/>
          <p:cNvSpPr/>
          <p:nvPr/>
        </p:nvSpPr>
        <p:spPr>
          <a:xfrm>
            <a:off x="548640" y="2148840"/>
            <a:ext cx="237744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31520" y="2286000"/>
            <a:ext cx="1280160" cy="45720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//01</a:t>
            </a:r>
            <a:endParaRPr lang="en-US" sz="1800" dirty="0"/>
          </a:p>
        </p:txBody>
      </p:sp>
      <p:sp>
        <p:nvSpPr>
          <p:cNvPr id="10" name="Text 7"/>
          <p:cNvSpPr txBox="1"/>
          <p:nvPr/>
        </p:nvSpPr>
        <p:spPr>
          <a:xfrm>
            <a:off x="1508760" y="2267712"/>
            <a:ext cx="1417320" cy="274320"/>
          </a:xfrm>
          <a:prstGeom prst="rect">
            <a:avLst/>
          </a:prstGeom>
          <a:noFill/>
          <a:ln/>
        </p:spPr>
        <p:txBody>
          <a:bodyPr wrap="square" lIns="0" tIns="0" rIns="0" bIns="0" rtlCol="0" anchor="t"/>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Lowest price</a:t>
            </a:r>
            <a:endParaRPr lang="en-US" sz="1250" dirty="0"/>
          </a:p>
        </p:txBody>
      </p:sp>
      <p:sp>
        <p:nvSpPr>
          <p:cNvPr id="11" name="Text 8"/>
          <p:cNvSpPr txBox="1"/>
          <p:nvPr/>
        </p:nvSpPr>
        <p:spPr>
          <a:xfrm>
            <a:off x="1508760" y="2560320"/>
            <a:ext cx="141732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harga terendah</a:t>
            </a:r>
            <a:endParaRPr lang="en-US" sz="950" dirty="0"/>
          </a:p>
        </p:txBody>
      </p:sp>
      <p:sp>
        <p:nvSpPr>
          <p:cNvPr id="12" name="Shape 9"/>
          <p:cNvSpPr/>
          <p:nvPr/>
        </p:nvSpPr>
        <p:spPr>
          <a:xfrm>
            <a:off x="3072384" y="2066544"/>
            <a:ext cx="2377440" cy="960120"/>
          </a:xfrm>
          <a:prstGeom prst="roundRect">
            <a:avLst>
              <a:gd name="adj" fmla="val 11429"/>
            </a:avLst>
          </a:prstGeom>
          <a:solidFill>
            <a:srgbClr val="FF9900"/>
          </a:solidFill>
          <a:ln w="12700">
            <a:solidFill>
              <a:srgbClr val="FF9900"/>
            </a:solidFill>
            <a:prstDash val="solid"/>
          </a:ln>
        </p:spPr>
      </p:sp>
      <p:sp>
        <p:nvSpPr>
          <p:cNvPr id="13" name="Shape 10"/>
          <p:cNvSpPr/>
          <p:nvPr/>
        </p:nvSpPr>
        <p:spPr>
          <a:xfrm>
            <a:off x="3154680" y="2148840"/>
            <a:ext cx="237744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4" name="Text 11"/>
          <p:cNvSpPr txBox="1"/>
          <p:nvPr/>
        </p:nvSpPr>
        <p:spPr>
          <a:xfrm>
            <a:off x="3337560" y="2286000"/>
            <a:ext cx="1280160" cy="45720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//02</a:t>
            </a:r>
            <a:endParaRPr lang="en-US" sz="1800" dirty="0"/>
          </a:p>
        </p:txBody>
      </p:sp>
      <p:sp>
        <p:nvSpPr>
          <p:cNvPr id="15" name="Text 12"/>
          <p:cNvSpPr txBox="1"/>
          <p:nvPr/>
        </p:nvSpPr>
        <p:spPr>
          <a:xfrm>
            <a:off x="4114800" y="2267712"/>
            <a:ext cx="1417320" cy="274320"/>
          </a:xfrm>
          <a:prstGeom prst="rect">
            <a:avLst/>
          </a:prstGeom>
          <a:noFill/>
          <a:ln/>
        </p:spPr>
        <p:txBody>
          <a:bodyPr wrap="square" lIns="0" tIns="0" rIns="0" bIns="0" rtlCol="0" anchor="t"/>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Fastest delivery</a:t>
            </a:r>
            <a:endParaRPr lang="en-US" sz="1250" dirty="0"/>
          </a:p>
        </p:txBody>
      </p:sp>
      <p:sp>
        <p:nvSpPr>
          <p:cNvPr id="16" name="Text 13"/>
          <p:cNvSpPr txBox="1"/>
          <p:nvPr/>
        </p:nvSpPr>
        <p:spPr>
          <a:xfrm>
            <a:off x="4114800" y="2560320"/>
            <a:ext cx="141732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pengiriman tercepat</a:t>
            </a:r>
            <a:endParaRPr lang="en-US" sz="950" dirty="0"/>
          </a:p>
        </p:txBody>
      </p:sp>
      <p:sp>
        <p:nvSpPr>
          <p:cNvPr id="17" name="Shape 14"/>
          <p:cNvSpPr/>
          <p:nvPr/>
        </p:nvSpPr>
        <p:spPr>
          <a:xfrm>
            <a:off x="5760720" y="2148840"/>
            <a:ext cx="2377440" cy="960120"/>
          </a:xfrm>
          <a:prstGeom prst="roundRect">
            <a:avLst>
              <a:gd name="adj" fmla="val 11429"/>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8" name="Text 15"/>
          <p:cNvSpPr txBox="1"/>
          <p:nvPr/>
        </p:nvSpPr>
        <p:spPr>
          <a:xfrm>
            <a:off x="5943600" y="2286000"/>
            <a:ext cx="1280160" cy="457200"/>
          </a:xfrm>
          <a:prstGeom prst="rect">
            <a:avLst/>
          </a:prstGeom>
          <a:noFill/>
          <a:ln/>
        </p:spPr>
        <p:txBody>
          <a:bodyPr wrap="square" lIns="0" tIns="0" rIns="0" bIns="0" rtlCol="0" anchor="ctr"/>
          <a:lstStyle/>
          <a:p>
            <a:pPr indent="0" marL="0">
              <a:buNone/>
            </a:pPr>
            <a:r>
              <a:rPr lang="en-US" sz="1800" b="1" dirty="0">
                <a:solidFill>
                  <a:srgbClr val="FF9900"/>
                </a:solidFill>
                <a:latin typeface="Arial" pitchFamily="34" charset="0"/>
                <a:ea typeface="Arial" pitchFamily="34" charset="-122"/>
                <a:cs typeface="Arial" pitchFamily="34" charset="-120"/>
              </a:rPr>
              <a:t>//03</a:t>
            </a:r>
            <a:endParaRPr lang="en-US" sz="1800" dirty="0"/>
          </a:p>
        </p:txBody>
      </p:sp>
      <p:sp>
        <p:nvSpPr>
          <p:cNvPr id="19" name="Text 16"/>
          <p:cNvSpPr txBox="1"/>
          <p:nvPr/>
        </p:nvSpPr>
        <p:spPr>
          <a:xfrm>
            <a:off x="6720840" y="2267712"/>
            <a:ext cx="1417320" cy="274320"/>
          </a:xfrm>
          <a:prstGeom prst="rect">
            <a:avLst/>
          </a:prstGeom>
          <a:noFill/>
          <a:ln/>
        </p:spPr>
        <p:txBody>
          <a:bodyPr wrap="square" lIns="0" tIns="0" rIns="0" bIns="0" rtlCol="0" anchor="t"/>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Error-free</a:t>
            </a:r>
            <a:endParaRPr lang="en-US" sz="1250" dirty="0"/>
          </a:p>
        </p:txBody>
      </p:sp>
      <p:sp>
        <p:nvSpPr>
          <p:cNvPr id="20" name="Text 17"/>
          <p:cNvSpPr txBox="1"/>
          <p:nvPr/>
        </p:nvSpPr>
        <p:spPr>
          <a:xfrm>
            <a:off x="6720840" y="2560320"/>
            <a:ext cx="1417320" cy="45720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pemenuhan pesanan bebas kesalahan</a:t>
            </a:r>
            <a:endParaRPr lang="en-US" sz="950" dirty="0"/>
          </a:p>
        </p:txBody>
      </p:sp>
      <p:sp>
        <p:nvSpPr>
          <p:cNvPr id="21" name="Text 18"/>
          <p:cNvSpPr txBox="1"/>
          <p:nvPr/>
        </p:nvSpPr>
        <p:spPr>
          <a:xfrm>
            <a:off x="548640" y="3246120"/>
            <a:ext cx="7498080" cy="457200"/>
          </a:xfrm>
          <a:prstGeom prst="rect">
            <a:avLst/>
          </a:prstGeom>
          <a:noFill/>
          <a:ln/>
        </p:spPr>
        <p:txBody>
          <a:bodyPr wrap="square" lIns="0" tIns="0" rIns="0" bIns="0" rtlCol="0" anchor="t"/>
          <a:lstStyle/>
          <a:p>
            <a:pPr algn="l" indent="0" marL="0">
              <a:lnSpc>
                <a:spcPct val="105000"/>
              </a:lnSpc>
              <a:buNone/>
            </a:pPr>
            <a:r>
              <a:rPr lang="en-US" sz="1150" i="1" dirty="0">
                <a:solidFill>
                  <a:srgbClr val="111111"/>
                </a:solidFill>
                <a:latin typeface="Calibri" pitchFamily="34" charset="0"/>
                <a:ea typeface="Calibri" pitchFamily="34" charset="-122"/>
                <a:cs typeface="Calibri" pitchFamily="34" charset="-120"/>
              </a:rPr>
              <a:t>Kalimat kunci dari buku: exchanges and returns are very expensive. Kesalahan bukan sekadar masalah mutu, tetapi biaya.</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7498080" cy="914400"/>
        </p:xfrm>
        <a:graphic>
          <a:graphicData uri="http://schemas.openxmlformats.org/drawingml/2006/table">
            <a:tbl>
              <a:tblPr/>
              <a:tblGrid>
                <a:gridCol w="1554480"/>
                <a:gridCol w="2971800"/>
                <a:gridCol w="297180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Target</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Kalau pemenuhan dititipkan ke pihak ketiga</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Kalau dikelola sendiri</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Fastest delivery</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Kecepatan bergantung stok dan proses orang lain; janji waktu kirim tidak bisa dibuat</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Stok diletakkan di gudang terdekat pelanggan; waktu proses internal bisa ditekan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Error-free</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Kesalahan pihak lain menjadi biaya return Amazon, tetapi tidak bisa dikendalikan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Titik kontrol (pemindaian, penimbangan) dirancang sendiri</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Lowest price</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Margin pihak ketiga masuk ke harga</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Biaya per pesanan ditekan lewat volume dan otomasi</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23" name="Image 1" descr="/tmp/claude-0/-home-user-Dom-Manipulation/01edd7ad-16e1-5ac5-9e2e-840f37702b96/scratchpad/img/crop/packing.jpg">    </p:cNvPr>
          <p:cNvPicPr>
            <a:picLocks noChangeAspect="1"/>
          </p:cNvPicPr>
          <p:nvPr/>
        </p:nvPicPr>
        <p:blipFill>
          <a:blip r:embed="rId2"/>
          <a:stretch>
            <a:fillRect/>
          </a:stretch>
        </p:blipFill>
        <p:spPr>
          <a:xfrm>
            <a:off x="8412480" y="1188720"/>
            <a:ext cx="3383280" cy="2451652"/>
          </a:xfrm>
          <a:prstGeom prst="rect">
            <a:avLst/>
          </a:prstGeom>
        </p:spPr>
      </p:pic>
      <p:sp>
        <p:nvSpPr>
          <p:cNvPr id="24" name="Shape 19"/>
          <p:cNvSpPr/>
          <p:nvPr/>
        </p:nvSpPr>
        <p:spPr>
          <a:xfrm>
            <a:off x="8330184" y="3758184"/>
            <a:ext cx="3383280" cy="2331720"/>
          </a:xfrm>
          <a:prstGeom prst="roundRect">
            <a:avLst>
              <a:gd name="adj" fmla="val 4706"/>
            </a:avLst>
          </a:prstGeom>
          <a:solidFill>
            <a:srgbClr val="232F3E"/>
          </a:solidFill>
          <a:ln w="12700">
            <a:solidFill>
              <a:srgbClr val="232F3E"/>
            </a:solidFill>
            <a:prstDash val="solid"/>
          </a:ln>
        </p:spPr>
      </p:sp>
      <p:sp>
        <p:nvSpPr>
          <p:cNvPr id="25" name="Shape 20"/>
          <p:cNvSpPr/>
          <p:nvPr/>
        </p:nvSpPr>
        <p:spPr>
          <a:xfrm>
            <a:off x="8412480" y="3840480"/>
            <a:ext cx="3383280" cy="2331720"/>
          </a:xfrm>
          <a:prstGeom prst="roundRect">
            <a:avLst>
              <a:gd name="adj" fmla="val 4706"/>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6" name="Text 21"/>
          <p:cNvSpPr txBox="1"/>
          <p:nvPr/>
        </p:nvSpPr>
        <p:spPr>
          <a:xfrm>
            <a:off x="8641080" y="4005072"/>
            <a:ext cx="2926080" cy="274320"/>
          </a:xfrm>
          <a:prstGeom prst="rect">
            <a:avLst/>
          </a:prstGeom>
          <a:noFill/>
          <a:ln/>
        </p:spPr>
        <p:txBody>
          <a:bodyPr wrap="square" lIns="0" tIns="0" rIns="0" bIns="0" rtlCol="0" anchor="t"/>
          <a:lstStyle/>
          <a:p>
            <a:pPr algn="l" indent="0" marL="0">
              <a:lnSpc>
                <a:spcPct val="105000"/>
              </a:lnSpc>
              <a:buNone/>
            </a:pPr>
            <a:r>
              <a:rPr lang="en-US" sz="1000" b="1" dirty="0">
                <a:solidFill>
                  <a:srgbClr val="FF9900"/>
                </a:solidFill>
                <a:latin typeface="Calibri" pitchFamily="34" charset="0"/>
                <a:ea typeface="Calibri" pitchFamily="34" charset="-122"/>
                <a:cs typeface="Calibri" pitchFamily="34" charset="-120"/>
              </a:rPr>
              <a:t>KESIMPULAN</a:t>
            </a:r>
            <a:endParaRPr lang="en-US" sz="1000" dirty="0"/>
          </a:p>
        </p:txBody>
      </p:sp>
      <p:sp>
        <p:nvSpPr>
          <p:cNvPr id="27" name="Text 22"/>
          <p:cNvSpPr txBox="1"/>
          <p:nvPr/>
        </p:nvSpPr>
        <p:spPr>
          <a:xfrm>
            <a:off x="8641080" y="4297680"/>
            <a:ext cx="2971800" cy="1783080"/>
          </a:xfrm>
          <a:prstGeom prst="rect">
            <a:avLst/>
          </a:prstGeom>
          <a:noFill/>
          <a:ln/>
        </p:spPr>
        <p:txBody>
          <a:bodyPr wrap="square" lIns="0" tIns="0" rIns="0" bIns="0" rtlCol="0" anchor="t"/>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Menyimpan persediaan sendiri bukan penyimpangan dari strategi Amazon, melainkan konsekuensinya. Sama dengan logika Hard Rock Cafe: begitu keunikan ditetapkan, lokasi mengikuti. Value proposition men-direct keputusan di belakangnya.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9</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B  ·  B.4 DAN B.5</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KARAKTER OPERASI DENGAN 4V</a:t>
            </a:r>
            <a:endParaRPr lang="en-US" sz="2600" dirty="0"/>
          </a:p>
        </p:txBody>
      </p:sp>
      <p:sp>
        <p:nvSpPr>
          <p:cNvPr id="7" name="Text 4"/>
          <p:cNvSpPr txBox="1"/>
          <p:nvPr/>
        </p:nvSpPr>
        <p:spPr>
          <a:xfrm>
            <a:off x="548640" y="1371600"/>
            <a:ext cx="7863840" cy="457200"/>
          </a:xfrm>
          <a:prstGeom prst="rect">
            <a:avLst/>
          </a:prstGeom>
          <a:noFill/>
          <a:ln/>
        </p:spPr>
        <p:txBody>
          <a:bodyPr wrap="square" lIns="0" tIns="0" rIns="0" bIns="0" rtlCol="0" anchor="t"/>
          <a:lstStyle/>
          <a:p>
            <a:pPr algn="l" indent="0" marL="0">
              <a:lnSpc>
                <a:spcPct val="105000"/>
              </a:lnSpc>
              <a:buNone/>
            </a:pPr>
            <a:r>
              <a:rPr lang="en-US" sz="1200" dirty="0">
                <a:solidFill>
                  <a:srgbClr val="555555"/>
                </a:solidFill>
                <a:latin typeface="Calibri" pitchFamily="34" charset="0"/>
                <a:ea typeface="Calibri" pitchFamily="34" charset="-122"/>
                <a:cs typeface="Calibri" pitchFamily="34" charset="-120"/>
              </a:rPr>
              <a:t>Karakter operasi menentukan cara mengelolanya, meskipun industrinya sama. Bukti dari buku; posisi pada skala adalah penilaian penyusun.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863840" cy="914400"/>
        </p:xfrm>
        <a:graphic>
          <a:graphicData uri="http://schemas.openxmlformats.org/drawingml/2006/table">
            <a:tbl>
              <a:tblPr/>
              <a:tblGrid>
                <a:gridCol w="1188720"/>
                <a:gridCol w="1554480"/>
                <a:gridCol w="2560320"/>
                <a:gridCol w="256032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Dimensi</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Posisi</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Bukti</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Konsekuensi pada persediaan</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Volume</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Sangat tinggi</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200.000 pieces/hari per gudang; 150+ gudang</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Economies of scale: otomasi dan standardisasi ekonomis, biaya per unit turun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Variety</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Sangat tinggi</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200 juta item; 70% pesanan berisi lebih dari satu produk</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Kesalahan pengambilan mudah terjadi; akurasi catatan per item menjadi persoalan utama</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Variation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Tinggi (buku tidak memberi angka)</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Ritel daring dengan musim puncak; gudang dirancang untuk kapasitas harian maksimum</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Perlu stok pengaman dan kapasitas yang bisa menyerap lonjakan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Visibility</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Rendah</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Pelanggan hanya melihat hasil: harga, waktu tiba, ketepatan isi paket</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Proses gudang bebas dirancang untuk efisiensi</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bl>
          </a:graphicData>
        </a:graphic>
      </p:graphicFrame>
      <p:sp>
        <p:nvSpPr>
          <p:cNvPr id="9" name="Shape 5"/>
          <p:cNvSpPr/>
          <p:nvPr/>
        </p:nvSpPr>
        <p:spPr>
          <a:xfrm>
            <a:off x="466344" y="4764024"/>
            <a:ext cx="7863840" cy="1325880"/>
          </a:xfrm>
          <a:prstGeom prst="roundRect">
            <a:avLst>
              <a:gd name="adj" fmla="val 8276"/>
            </a:avLst>
          </a:prstGeom>
          <a:solidFill>
            <a:srgbClr val="232F3E"/>
          </a:solidFill>
          <a:ln w="12700">
            <a:solidFill>
              <a:srgbClr val="232F3E"/>
            </a:solidFill>
            <a:prstDash val="solid"/>
          </a:ln>
        </p:spPr>
      </p:sp>
      <p:sp>
        <p:nvSpPr>
          <p:cNvPr id="10" name="Shape 6"/>
          <p:cNvSpPr/>
          <p:nvPr/>
        </p:nvSpPr>
        <p:spPr>
          <a:xfrm>
            <a:off x="548640" y="4846320"/>
            <a:ext cx="7863840"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1" name="Text 7"/>
          <p:cNvSpPr txBox="1"/>
          <p:nvPr/>
        </p:nvSpPr>
        <p:spPr>
          <a:xfrm>
            <a:off x="777240" y="4983480"/>
            <a:ext cx="7406640" cy="320040"/>
          </a:xfrm>
          <a:prstGeom prst="rect">
            <a:avLst/>
          </a:prstGeom>
          <a:noFill/>
          <a:ln/>
        </p:spPr>
        <p:txBody>
          <a:bodyPr wrap="square" lIns="0" tIns="0" rIns="0" bIns="0" rtlCol="0" anchor="t"/>
          <a:lstStyle/>
          <a:p>
            <a:pPr algn="l" indent="0" marL="0">
              <a:lnSpc>
                <a:spcPct val="105000"/>
              </a:lnSpc>
              <a:buNone/>
            </a:pPr>
            <a:r>
              <a:rPr lang="en-US" sz="1250" b="1" dirty="0">
                <a:solidFill>
                  <a:srgbClr val="111111"/>
                </a:solidFill>
                <a:latin typeface="Calibri" pitchFamily="34" charset="0"/>
                <a:ea typeface="Calibri" pitchFamily="34" charset="-122"/>
                <a:cs typeface="Calibri" pitchFamily="34" charset="-120"/>
              </a:rPr>
              <a:t>Insight: secara natural volume tinggi berpasangan dengan variety rendah. Amazon punya keduanya tinggi.</a:t>
            </a:r>
            <a:endParaRPr lang="en-US" sz="1250" dirty="0"/>
          </a:p>
        </p:txBody>
      </p:sp>
      <p:sp>
        <p:nvSpPr>
          <p:cNvPr id="12" name="Text 8"/>
          <p:cNvSpPr txBox="1"/>
          <p:nvPr/>
        </p:nvSpPr>
        <p:spPr>
          <a:xfrm>
            <a:off x="777240" y="5321808"/>
            <a:ext cx="7406640" cy="82296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Kombinasi ini tidak otomatis berarti tidak efisien, asalkan ada strategi yang membuat kustomisasi (komposisi pesanan yang berbeda-beda) bisa dilayani dengan proses massal: pengambilan massal dalam batch, penyusunan per pesanan di ujung proses. Strateginya menuntut cost dan response sekaligus; apakah keduanya benar bertentangan diperiksa di Bagian D. Jangan disimpulkan dulu.</a:t>
            </a:r>
            <a:endParaRPr lang="en-US" sz="1050" dirty="0"/>
          </a:p>
        </p:txBody>
      </p:sp>
      <p:pic>
        <p:nvPicPr>
          <p:cNvPr id="13" name="Image 1" descr="/tmp/claude-0/-home-user-Dom-Manipulation/01edd7ad-16e1-5ac5-9e2e-840f37702b96/scratchpad/img/crop/delivery.jpg">    </p:cNvPr>
          <p:cNvPicPr>
            <a:picLocks noChangeAspect="1"/>
          </p:cNvPicPr>
          <p:nvPr/>
        </p:nvPicPr>
        <p:blipFill>
          <a:blip r:embed="rId2"/>
          <a:stretch>
            <a:fillRect/>
          </a:stretch>
        </p:blipFill>
        <p:spPr>
          <a:xfrm>
            <a:off x="8778240" y="1234440"/>
            <a:ext cx="3505810" cy="493776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10</a:t>
            </a:r>
            <a:endParaRPr lang="en-US" sz="900" dirty="0"/>
          </a:p>
        </p:txBody>
      </p:sp>
      <p:sp>
        <p:nvSpPr>
          <p:cNvPr id="5" name="Text 2"/>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C  ·  DELAPAN LANGKAH PEMENUHAN PESANAN (HRM, HLM. 488–489)</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LANGKAH 1–4: DARI KLIK KE CONVEYOR</a:t>
            </a:r>
            <a:endParaRPr lang="en-US" sz="2600" dirty="0"/>
          </a:p>
        </p:txBody>
      </p:sp>
      <p:sp>
        <p:nvSpPr>
          <p:cNvPr id="7" name="Shape 4"/>
          <p:cNvSpPr/>
          <p:nvPr/>
        </p:nvSpPr>
        <p:spPr>
          <a:xfrm>
            <a:off x="466344" y="1380744"/>
            <a:ext cx="3840480" cy="2194560"/>
          </a:xfrm>
          <a:prstGeom prst="roundRect">
            <a:avLst>
              <a:gd name="adj" fmla="val 5000"/>
            </a:avLst>
          </a:prstGeom>
          <a:solidFill>
            <a:srgbClr val="FF9900"/>
          </a:solidFill>
          <a:ln w="12700">
            <a:solidFill>
              <a:srgbClr val="FF9900"/>
            </a:solidFill>
            <a:prstDash val="solid"/>
          </a:ln>
        </p:spPr>
      </p:sp>
      <p:sp>
        <p:nvSpPr>
          <p:cNvPr id="8" name="Shape 5"/>
          <p:cNvSpPr/>
          <p:nvPr/>
        </p:nvSpPr>
        <p:spPr>
          <a:xfrm>
            <a:off x="548640" y="146304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31520" y="160020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1645920" y="162763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Pesanan masuk, komputer di Seattle mengambil alih</a:t>
            </a:r>
            <a:endParaRPr lang="en-US" sz="1150" dirty="0"/>
          </a:p>
        </p:txBody>
      </p:sp>
      <p:sp>
        <p:nvSpPr>
          <p:cNvPr id="11" name="Text 8"/>
          <p:cNvSpPr txBox="1"/>
          <p:nvPr/>
        </p:nvSpPr>
        <p:spPr>
          <a:xfrm>
            <a:off x="731520" y="219456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Komputer menugaskan pesanan (buku, permainan, kamera digital) ke salah satu pusat distribusi (DC) besar di AS.</a:t>
            </a:r>
            <a:endParaRPr lang="en-US" sz="950" dirty="0"/>
          </a:p>
        </p:txBody>
      </p:sp>
      <p:sp>
        <p:nvSpPr>
          <p:cNvPr id="12" name="Shape 9"/>
          <p:cNvSpPr/>
          <p:nvPr/>
        </p:nvSpPr>
        <p:spPr>
          <a:xfrm>
            <a:off x="731520" y="2944368"/>
            <a:ext cx="3474720" cy="566928"/>
          </a:xfrm>
          <a:prstGeom prst="rect">
            <a:avLst/>
          </a:prstGeom>
          <a:solidFill>
            <a:srgbClr val="F3F3F3"/>
          </a:solidFill>
          <a:ln w="12700">
            <a:solidFill>
              <a:srgbClr val="F3F3F3"/>
            </a:solidFill>
            <a:prstDash val="solid"/>
          </a:ln>
        </p:spPr>
      </p:sp>
      <p:sp>
        <p:nvSpPr>
          <p:cNvPr id="13" name="Text 10"/>
          <p:cNvSpPr txBox="1"/>
          <p:nvPr/>
        </p:nvSpPr>
        <p:spPr>
          <a:xfrm>
            <a:off x="822960" y="298094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Jawaban atas where. Syaratnya catatan stok tiap DC benar saat itu juga (perpetual inventory).</a:t>
            </a:r>
            <a:endParaRPr lang="en-US" sz="850" dirty="0"/>
          </a:p>
        </p:txBody>
      </p:sp>
      <p:sp>
        <p:nvSpPr>
          <p:cNvPr id="14" name="Shape 11"/>
          <p:cNvSpPr/>
          <p:nvPr/>
        </p:nvSpPr>
        <p:spPr>
          <a:xfrm>
            <a:off x="4617720" y="146304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5" name="Text 12"/>
          <p:cNvSpPr txBox="1"/>
          <p:nvPr/>
        </p:nvSpPr>
        <p:spPr>
          <a:xfrm>
            <a:off x="4800600" y="160020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//02</a:t>
            </a:r>
            <a:endParaRPr lang="en-US" sz="2000" dirty="0"/>
          </a:p>
        </p:txBody>
      </p:sp>
      <p:sp>
        <p:nvSpPr>
          <p:cNvPr id="16" name="Text 13"/>
          <p:cNvSpPr txBox="1"/>
          <p:nvPr/>
        </p:nvSpPr>
        <p:spPr>
          <a:xfrm>
            <a:off x="5715000" y="162763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“Flow meister” di DC menerima pesanan</a:t>
            </a:r>
            <a:endParaRPr lang="en-US" sz="1150" dirty="0"/>
          </a:p>
        </p:txBody>
      </p:sp>
      <p:sp>
        <p:nvSpPr>
          <p:cNvPr id="17" name="Text 14"/>
          <p:cNvSpPr txBox="1"/>
          <p:nvPr/>
        </p:nvSpPr>
        <p:spPr>
          <a:xfrm>
            <a:off x="4800600" y="219456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Ia menentukan pekerja mana pergi ke mana untuk memenuhi pesanan.</a:t>
            </a:r>
            <a:endParaRPr lang="en-US" sz="950" dirty="0"/>
          </a:p>
        </p:txBody>
      </p:sp>
      <p:sp>
        <p:nvSpPr>
          <p:cNvPr id="18" name="Shape 15"/>
          <p:cNvSpPr/>
          <p:nvPr/>
        </p:nvSpPr>
        <p:spPr>
          <a:xfrm>
            <a:off x="4800600" y="2944368"/>
            <a:ext cx="3474720" cy="566928"/>
          </a:xfrm>
          <a:prstGeom prst="rect">
            <a:avLst/>
          </a:prstGeom>
          <a:solidFill>
            <a:srgbClr val="F3F3F3"/>
          </a:solidFill>
          <a:ln w="12700">
            <a:solidFill>
              <a:srgbClr val="F3F3F3"/>
            </a:solidFill>
            <a:prstDash val="solid"/>
          </a:ln>
        </p:spPr>
      </p:sp>
      <p:sp>
        <p:nvSpPr>
          <p:cNvPr id="19" name="Text 16"/>
          <p:cNvSpPr txBox="1"/>
          <p:nvPr/>
        </p:nvSpPr>
        <p:spPr>
          <a:xfrm>
            <a:off x="4892040" y="298094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Pengendalian aliran kerja: pesanan diubah menjadi penugasan picking. Masih ada manusia sebagai pengatur beban.</a:t>
            </a:r>
            <a:endParaRPr lang="en-US" sz="850" dirty="0"/>
          </a:p>
        </p:txBody>
      </p:sp>
      <p:sp>
        <p:nvSpPr>
          <p:cNvPr id="20" name="Shape 17"/>
          <p:cNvSpPr/>
          <p:nvPr/>
        </p:nvSpPr>
        <p:spPr>
          <a:xfrm>
            <a:off x="548640" y="384048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1" name="Text 18"/>
          <p:cNvSpPr txBox="1"/>
          <p:nvPr/>
        </p:nvSpPr>
        <p:spPr>
          <a:xfrm>
            <a:off x="731520" y="397764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//03</a:t>
            </a:r>
            <a:endParaRPr lang="en-US" sz="2000" dirty="0"/>
          </a:p>
        </p:txBody>
      </p:sp>
      <p:sp>
        <p:nvSpPr>
          <p:cNvPr id="22" name="Text 19"/>
          <p:cNvSpPr txBox="1"/>
          <p:nvPr/>
        </p:nvSpPr>
        <p:spPr>
          <a:xfrm>
            <a:off x="1645920" y="400507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Picking</a:t>
            </a:r>
            <a:endParaRPr lang="en-US" sz="1150" dirty="0"/>
          </a:p>
        </p:txBody>
      </p:sp>
      <p:sp>
        <p:nvSpPr>
          <p:cNvPr id="23" name="Text 20"/>
          <p:cNvSpPr txBox="1"/>
          <p:nvPr/>
        </p:nvSpPr>
        <p:spPr>
          <a:xfrm>
            <a:off x="731520" y="457200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Sistem Amazon menggandakan kecepatan picking operator manual dan menurunkan tingkat kesalahan mendekati nol.</a:t>
            </a:r>
            <a:endParaRPr lang="en-US" sz="950" dirty="0"/>
          </a:p>
        </p:txBody>
      </p:sp>
      <p:sp>
        <p:nvSpPr>
          <p:cNvPr id="24" name="Shape 21"/>
          <p:cNvSpPr/>
          <p:nvPr/>
        </p:nvSpPr>
        <p:spPr>
          <a:xfrm>
            <a:off x="731520" y="5321808"/>
            <a:ext cx="3474720" cy="566928"/>
          </a:xfrm>
          <a:prstGeom prst="rect">
            <a:avLst/>
          </a:prstGeom>
          <a:solidFill>
            <a:srgbClr val="F3F3F3"/>
          </a:solidFill>
          <a:ln w="12700">
            <a:solidFill>
              <a:srgbClr val="F3F3F3"/>
            </a:solidFill>
            <a:prstDash val="solid"/>
          </a:ln>
        </p:spPr>
      </p:sp>
      <p:sp>
        <p:nvSpPr>
          <p:cNvPr id="25" name="Text 22"/>
          <p:cNvSpPr txBox="1"/>
          <p:nvPr/>
        </p:nvSpPr>
        <p:spPr>
          <a:xfrm>
            <a:off x="822960" y="535838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Produktivitas dan akurasi pengambilan. Mekanismenya robot Kiva (Bab 9).</a:t>
            </a:r>
            <a:endParaRPr lang="en-US" sz="850" dirty="0"/>
          </a:p>
        </p:txBody>
      </p:sp>
      <p:sp>
        <p:nvSpPr>
          <p:cNvPr id="26" name="Shape 23"/>
          <p:cNvSpPr/>
          <p:nvPr/>
        </p:nvSpPr>
        <p:spPr>
          <a:xfrm>
            <a:off x="4535424" y="3758184"/>
            <a:ext cx="3840480" cy="2194560"/>
          </a:xfrm>
          <a:prstGeom prst="roundRect">
            <a:avLst>
              <a:gd name="adj" fmla="val 5000"/>
            </a:avLst>
          </a:prstGeom>
          <a:solidFill>
            <a:srgbClr val="FF9900"/>
          </a:solidFill>
          <a:ln w="12700">
            <a:solidFill>
              <a:srgbClr val="FF9900"/>
            </a:solidFill>
            <a:prstDash val="solid"/>
          </a:ln>
        </p:spPr>
      </p:sp>
      <p:sp>
        <p:nvSpPr>
          <p:cNvPr id="27" name="Shape 24"/>
          <p:cNvSpPr/>
          <p:nvPr/>
        </p:nvSpPr>
        <p:spPr>
          <a:xfrm>
            <a:off x="4617720" y="384048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8" name="Text 25"/>
          <p:cNvSpPr txBox="1"/>
          <p:nvPr/>
        </p:nvSpPr>
        <p:spPr>
          <a:xfrm>
            <a:off x="4800600" y="397764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//04</a:t>
            </a:r>
            <a:endParaRPr lang="en-US" sz="2000" dirty="0"/>
          </a:p>
        </p:txBody>
      </p:sp>
      <p:sp>
        <p:nvSpPr>
          <p:cNvPr id="29" name="Text 26"/>
          <p:cNvSpPr txBox="1"/>
          <p:nvPr/>
        </p:nvSpPr>
        <p:spPr>
          <a:xfrm>
            <a:off x="5715000" y="400507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Barang masuk crate di ban berjalan</a:t>
            </a:r>
            <a:endParaRPr lang="en-US" sz="1150" dirty="0"/>
          </a:p>
        </p:txBody>
      </p:sp>
      <p:sp>
        <p:nvSpPr>
          <p:cNvPr id="30" name="Text 27"/>
          <p:cNvSpPr txBox="1"/>
          <p:nvPr/>
        </p:nvSpPr>
        <p:spPr>
          <a:xfrm>
            <a:off x="4800600" y="457200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Crate kuning berisi pesanan banyak pelanggan; conveyor &gt;10 mil, 2,9 kaki/detik; bar code dipindai 15 kali oleh mesin dan pekerja. Return sangat mahal.</a:t>
            </a:r>
            <a:endParaRPr lang="en-US" sz="950" dirty="0"/>
          </a:p>
        </p:txBody>
      </p:sp>
      <p:sp>
        <p:nvSpPr>
          <p:cNvPr id="31" name="Shape 28"/>
          <p:cNvSpPr/>
          <p:nvPr/>
        </p:nvSpPr>
        <p:spPr>
          <a:xfrm>
            <a:off x="4800600" y="5321808"/>
            <a:ext cx="3474720" cy="566928"/>
          </a:xfrm>
          <a:prstGeom prst="rect">
            <a:avLst/>
          </a:prstGeom>
          <a:solidFill>
            <a:srgbClr val="F3F3F3"/>
          </a:solidFill>
          <a:ln w="12700">
            <a:solidFill>
              <a:srgbClr val="F3F3F3"/>
            </a:solidFill>
            <a:prstDash val="solid"/>
          </a:ln>
        </p:spPr>
      </p:sp>
      <p:sp>
        <p:nvSpPr>
          <p:cNvPr id="32" name="Text 29"/>
          <p:cNvSpPr txBox="1"/>
          <p:nvPr/>
        </p:nvSpPr>
        <p:spPr>
          <a:xfrm>
            <a:off x="4892040" y="535838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Batch picking supaya perjalanan efisien; identitas item diverifikasi berulang: record accuracy paling konkret.</a:t>
            </a:r>
            <a:endParaRPr lang="en-US" sz="850" dirty="0"/>
          </a:p>
        </p:txBody>
      </p:sp>
      <p:pic>
        <p:nvPicPr>
          <p:cNvPr id="33" name="Image 1" descr="/tmp/claude-0/-home-user-Dom-Manipulation/01edd7ad-16e1-5ac5-9e2e-840f37702b96/scratchpad/img/crop/scanner.jpg">    </p:cNvPr>
          <p:cNvPicPr>
            <a:picLocks noChangeAspect="1"/>
          </p:cNvPicPr>
          <p:nvPr/>
        </p:nvPicPr>
        <p:blipFill>
          <a:blip r:embed="rId2"/>
          <a:stretch>
            <a:fillRect/>
          </a:stretch>
        </p:blipFill>
        <p:spPr>
          <a:xfrm>
            <a:off x="8732520" y="1234440"/>
            <a:ext cx="3017520" cy="2052735"/>
          </a:xfrm>
          <a:prstGeom prst="rect">
            <a:avLst/>
          </a:prstGeom>
        </p:spPr>
      </p:pic>
      <p:pic>
        <p:nvPicPr>
          <p:cNvPr id="34" name="Image 2" descr="/tmp/claude-0/-home-user-Dom-Manipulation/01edd7ad-16e1-5ac5-9e2e-840f37702b96/scratchpad/img/crop/totes.jpg">    </p:cNvPr>
          <p:cNvPicPr>
            <a:picLocks noChangeAspect="1"/>
          </p:cNvPicPr>
          <p:nvPr/>
        </p:nvPicPr>
        <p:blipFill>
          <a:blip r:embed="rId3"/>
          <a:stretch>
            <a:fillRect/>
          </a:stretch>
        </p:blipFill>
        <p:spPr>
          <a:xfrm>
            <a:off x="8732520" y="3561495"/>
            <a:ext cx="3017520" cy="179614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11</a:t>
            </a:r>
            <a:endParaRPr lang="en-US" sz="900" dirty="0"/>
          </a:p>
        </p:txBody>
      </p:sp>
      <p:sp>
        <p:nvSpPr>
          <p:cNvPr id="5" name="Text 2"/>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C  ·  DELAPAN LANGKAH PEMENUHAN PESANAN (HRM, HLM. 488–489)</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LANGKAH 5–8: DARI CHUTE KE PELANGGAN</a:t>
            </a:r>
            <a:endParaRPr lang="en-US" sz="2600" dirty="0"/>
          </a:p>
        </p:txBody>
      </p:sp>
      <p:sp>
        <p:nvSpPr>
          <p:cNvPr id="7" name="Shape 4"/>
          <p:cNvSpPr/>
          <p:nvPr/>
        </p:nvSpPr>
        <p:spPr>
          <a:xfrm>
            <a:off x="466344" y="1380744"/>
            <a:ext cx="3840480" cy="2194560"/>
          </a:xfrm>
          <a:prstGeom prst="roundRect">
            <a:avLst>
              <a:gd name="adj" fmla="val 5000"/>
            </a:avLst>
          </a:prstGeom>
          <a:solidFill>
            <a:srgbClr val="FF9900"/>
          </a:solidFill>
          <a:ln w="12700">
            <a:solidFill>
              <a:srgbClr val="FF9900"/>
            </a:solidFill>
            <a:prstDash val="solid"/>
          </a:ln>
        </p:spPr>
      </p:sp>
      <p:sp>
        <p:nvSpPr>
          <p:cNvPr id="8" name="Shape 5"/>
          <p:cNvSpPr/>
          <p:nvPr/>
        </p:nvSpPr>
        <p:spPr>
          <a:xfrm>
            <a:off x="548640" y="146304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31520" y="160020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//05</a:t>
            </a:r>
            <a:endParaRPr lang="en-US" sz="2000" dirty="0"/>
          </a:p>
        </p:txBody>
      </p:sp>
      <p:sp>
        <p:nvSpPr>
          <p:cNvPr id="10" name="Text 7"/>
          <p:cNvSpPr txBox="1"/>
          <p:nvPr/>
        </p:nvSpPr>
        <p:spPr>
          <a:xfrm>
            <a:off x="1645920" y="162763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Ketiga barang bertemu di chute, lalu masuk kotak</a:t>
            </a:r>
            <a:endParaRPr lang="en-US" sz="1150" dirty="0"/>
          </a:p>
        </p:txBody>
      </p:sp>
      <p:sp>
        <p:nvSpPr>
          <p:cNvPr id="11" name="Text 8"/>
          <p:cNvSpPr txBox="1"/>
          <p:nvPr/>
        </p:nvSpPr>
        <p:spPr>
          <a:xfrm>
            <a:off x="731520" y="219456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Bar code dicocokkan dengan nomor pesanan; chute selebar 3 kaki (ribuan); kotak diberi bar code baru. Picking diurutkan untuk mengurangi perjalanan operator.</a:t>
            </a:r>
            <a:endParaRPr lang="en-US" sz="950" dirty="0"/>
          </a:p>
        </p:txBody>
      </p:sp>
      <p:sp>
        <p:nvSpPr>
          <p:cNvPr id="12" name="Shape 9"/>
          <p:cNvSpPr/>
          <p:nvPr/>
        </p:nvSpPr>
        <p:spPr>
          <a:xfrm>
            <a:off x="731520" y="2944368"/>
            <a:ext cx="3474720" cy="566928"/>
          </a:xfrm>
          <a:prstGeom prst="rect">
            <a:avLst/>
          </a:prstGeom>
          <a:solidFill>
            <a:srgbClr val="F3F3F3"/>
          </a:solidFill>
          <a:ln w="12700">
            <a:solidFill>
              <a:srgbClr val="F3F3F3"/>
            </a:solidFill>
            <a:prstDash val="solid"/>
          </a:ln>
        </p:spPr>
      </p:sp>
      <p:sp>
        <p:nvSpPr>
          <p:cNvPr id="13" name="Text 10"/>
          <p:cNvSpPr txBox="1"/>
          <p:nvPr/>
        </p:nvSpPr>
        <p:spPr>
          <a:xfrm>
            <a:off x="822960" y="298094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Konsolidasi (sortation): dari batch kembali ke pesanan individual. Sequencing adalah keputusan penjadwalan.</a:t>
            </a:r>
            <a:endParaRPr lang="en-US" sz="850" dirty="0"/>
          </a:p>
        </p:txBody>
      </p:sp>
      <p:sp>
        <p:nvSpPr>
          <p:cNvPr id="14" name="Shape 11"/>
          <p:cNvSpPr/>
          <p:nvPr/>
        </p:nvSpPr>
        <p:spPr>
          <a:xfrm>
            <a:off x="4617720" y="146304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5" name="Text 12"/>
          <p:cNvSpPr txBox="1"/>
          <p:nvPr/>
        </p:nvSpPr>
        <p:spPr>
          <a:xfrm>
            <a:off x="4800600" y="160020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//06</a:t>
            </a:r>
            <a:endParaRPr lang="en-US" sz="2000" dirty="0"/>
          </a:p>
        </p:txBody>
      </p:sp>
      <p:sp>
        <p:nvSpPr>
          <p:cNvPr id="16" name="Text 13"/>
          <p:cNvSpPr txBox="1"/>
          <p:nvPr/>
        </p:nvSpPr>
        <p:spPr>
          <a:xfrm>
            <a:off x="5715000" y="162763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Hadiah dibungkus dengan tangan</a:t>
            </a:r>
            <a:endParaRPr lang="en-US" sz="1150" dirty="0"/>
          </a:p>
        </p:txBody>
      </p:sp>
      <p:sp>
        <p:nvSpPr>
          <p:cNvPr id="17" name="Text 14"/>
          <p:cNvSpPr txBox="1"/>
          <p:nvPr/>
        </p:nvSpPr>
        <p:spPr>
          <a:xfrm>
            <a:off x="4800600" y="219456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Kelompok pembungkus kado terlatih, masing-masing 30 paket per jam.</a:t>
            </a:r>
            <a:endParaRPr lang="en-US" sz="950" dirty="0"/>
          </a:p>
        </p:txBody>
      </p:sp>
      <p:sp>
        <p:nvSpPr>
          <p:cNvPr id="18" name="Shape 15"/>
          <p:cNvSpPr/>
          <p:nvPr/>
        </p:nvSpPr>
        <p:spPr>
          <a:xfrm>
            <a:off x="4800600" y="2944368"/>
            <a:ext cx="3474720" cy="566928"/>
          </a:xfrm>
          <a:prstGeom prst="rect">
            <a:avLst/>
          </a:prstGeom>
          <a:solidFill>
            <a:srgbClr val="F3F3F3"/>
          </a:solidFill>
          <a:ln w="12700">
            <a:solidFill>
              <a:srgbClr val="F3F3F3"/>
            </a:solidFill>
            <a:prstDash val="solid"/>
          </a:ln>
        </p:spPr>
      </p:sp>
      <p:sp>
        <p:nvSpPr>
          <p:cNvPr id="19" name="Text 16"/>
          <p:cNvSpPr txBox="1"/>
          <p:nvPr/>
        </p:nvSpPr>
        <p:spPr>
          <a:xfrm>
            <a:off x="4892040" y="298094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Sengaja tidak diotomasi: variasi tinggi, volume kecil. Dikelola dengan standard time.</a:t>
            </a:r>
            <a:endParaRPr lang="en-US" sz="850" dirty="0"/>
          </a:p>
        </p:txBody>
      </p:sp>
      <p:sp>
        <p:nvSpPr>
          <p:cNvPr id="20" name="Shape 17"/>
          <p:cNvSpPr/>
          <p:nvPr/>
        </p:nvSpPr>
        <p:spPr>
          <a:xfrm>
            <a:off x="548640" y="384048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1" name="Text 18"/>
          <p:cNvSpPr txBox="1"/>
          <p:nvPr/>
        </p:nvSpPr>
        <p:spPr>
          <a:xfrm>
            <a:off x="731520" y="397764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//07</a:t>
            </a:r>
            <a:endParaRPr lang="en-US" sz="2000" dirty="0"/>
          </a:p>
        </p:txBody>
      </p:sp>
      <p:sp>
        <p:nvSpPr>
          <p:cNvPr id="22" name="Text 19"/>
          <p:cNvSpPr txBox="1"/>
          <p:nvPr/>
        </p:nvSpPr>
        <p:spPr>
          <a:xfrm>
            <a:off x="1645920" y="400507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Kotak dikemas, dilakban, ditimbang, dilabeli</a:t>
            </a:r>
            <a:endParaRPr lang="en-US" sz="1150" dirty="0"/>
          </a:p>
        </p:txBody>
      </p:sp>
      <p:sp>
        <p:nvSpPr>
          <p:cNvPr id="23" name="Text 20"/>
          <p:cNvSpPr txBox="1"/>
          <p:nvPr/>
        </p:nvSpPr>
        <p:spPr>
          <a:xfrm>
            <a:off x="731520" y="457200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Gudang tipikal mengirim sampai 200.000 pieces/hari. Sekitar 60% lewat USPS, sisanya UPS.</a:t>
            </a:r>
            <a:endParaRPr lang="en-US" sz="950" dirty="0"/>
          </a:p>
        </p:txBody>
      </p:sp>
      <p:sp>
        <p:nvSpPr>
          <p:cNvPr id="24" name="Shape 21"/>
          <p:cNvSpPr/>
          <p:nvPr/>
        </p:nvSpPr>
        <p:spPr>
          <a:xfrm>
            <a:off x="731520" y="5321808"/>
            <a:ext cx="3474720" cy="566928"/>
          </a:xfrm>
          <a:prstGeom prst="rect">
            <a:avLst/>
          </a:prstGeom>
          <a:solidFill>
            <a:srgbClr val="F3F3F3"/>
          </a:solidFill>
          <a:ln w="12700">
            <a:solidFill>
              <a:srgbClr val="F3F3F3"/>
            </a:solidFill>
            <a:prstDash val="solid"/>
          </a:ln>
        </p:spPr>
      </p:sp>
      <p:sp>
        <p:nvSpPr>
          <p:cNvPr id="25" name="Text 22"/>
          <p:cNvSpPr txBox="1"/>
          <p:nvPr/>
        </p:nvSpPr>
        <p:spPr>
          <a:xfrm>
            <a:off x="822960" y="535838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Penimbangan adalah verifikasi akhir isi paket (bandingkan Milton Bradley, hlm. 493). Moda kirim mayoritas berbiaya rendah.</a:t>
            </a:r>
            <a:endParaRPr lang="en-US" sz="850" dirty="0"/>
          </a:p>
        </p:txBody>
      </p:sp>
      <p:sp>
        <p:nvSpPr>
          <p:cNvPr id="26" name="Shape 23"/>
          <p:cNvSpPr/>
          <p:nvPr/>
        </p:nvSpPr>
        <p:spPr>
          <a:xfrm>
            <a:off x="4535424" y="3758184"/>
            <a:ext cx="3840480" cy="2194560"/>
          </a:xfrm>
          <a:prstGeom prst="roundRect">
            <a:avLst>
              <a:gd name="adj" fmla="val 5000"/>
            </a:avLst>
          </a:prstGeom>
          <a:solidFill>
            <a:srgbClr val="FF9900"/>
          </a:solidFill>
          <a:ln w="12700">
            <a:solidFill>
              <a:srgbClr val="FF9900"/>
            </a:solidFill>
            <a:prstDash val="solid"/>
          </a:ln>
        </p:spPr>
      </p:sp>
      <p:sp>
        <p:nvSpPr>
          <p:cNvPr id="27" name="Shape 24"/>
          <p:cNvSpPr/>
          <p:nvPr/>
        </p:nvSpPr>
        <p:spPr>
          <a:xfrm>
            <a:off x="4617720" y="3840480"/>
            <a:ext cx="3840480" cy="2194560"/>
          </a:xfrm>
          <a:prstGeom prst="roundRect">
            <a:avLst>
              <a:gd name="adj" fmla="val 5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8" name="Text 25"/>
          <p:cNvSpPr txBox="1"/>
          <p:nvPr/>
        </p:nvSpPr>
        <p:spPr>
          <a:xfrm>
            <a:off x="4800600" y="3977640"/>
            <a:ext cx="1097280" cy="41148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//08</a:t>
            </a:r>
            <a:endParaRPr lang="en-US" sz="2000" dirty="0"/>
          </a:p>
        </p:txBody>
      </p:sp>
      <p:sp>
        <p:nvSpPr>
          <p:cNvPr id="29" name="Text 26"/>
          <p:cNvSpPr txBox="1"/>
          <p:nvPr/>
        </p:nvSpPr>
        <p:spPr>
          <a:xfrm>
            <a:off x="5715000" y="4005072"/>
            <a:ext cx="2606040" cy="50292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Pesanan tiba di pelanggan</a:t>
            </a:r>
            <a:endParaRPr lang="en-US" sz="1150" dirty="0"/>
          </a:p>
        </p:txBody>
      </p:sp>
      <p:sp>
        <p:nvSpPr>
          <p:cNvPr id="30" name="Text 27"/>
          <p:cNvSpPr txBox="1"/>
          <p:nvPr/>
        </p:nvSpPr>
        <p:spPr>
          <a:xfrm>
            <a:off x="4800600" y="4572000"/>
            <a:ext cx="3474720" cy="77724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Dalam 1 atau 2 hari.</a:t>
            </a:r>
            <a:endParaRPr lang="en-US" sz="950" dirty="0"/>
          </a:p>
        </p:txBody>
      </p:sp>
      <p:sp>
        <p:nvSpPr>
          <p:cNvPr id="31" name="Shape 28"/>
          <p:cNvSpPr/>
          <p:nvPr/>
        </p:nvSpPr>
        <p:spPr>
          <a:xfrm>
            <a:off x="4800600" y="5321808"/>
            <a:ext cx="3474720" cy="566928"/>
          </a:xfrm>
          <a:prstGeom prst="rect">
            <a:avLst/>
          </a:prstGeom>
          <a:solidFill>
            <a:srgbClr val="F3F3F3"/>
          </a:solidFill>
          <a:ln w="12700">
            <a:solidFill>
              <a:srgbClr val="F3F3F3"/>
            </a:solidFill>
            <a:prstDash val="solid"/>
          </a:ln>
        </p:spPr>
      </p:sp>
      <p:sp>
        <p:nvSpPr>
          <p:cNvPr id="32" name="Text 29"/>
          <p:cNvSpPr txBox="1"/>
          <p:nvPr/>
        </p:nvSpPr>
        <p:spPr>
          <a:xfrm>
            <a:off x="4892040" y="5358384"/>
            <a:ext cx="3310128" cy="512064"/>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Ukuran yang dilihat pelanggan: speed dan dependability.</a:t>
            </a:r>
            <a:endParaRPr lang="en-US" sz="850" dirty="0"/>
          </a:p>
        </p:txBody>
      </p:sp>
      <p:pic>
        <p:nvPicPr>
          <p:cNvPr id="33" name="Image 1" descr="/tmp/claude-0/-home-user-Dom-Manipulation/01edd7ad-16e1-5ac5-9e2e-840f37702b96/scratchpad/img/crop/sortation.jpg">    </p:cNvPr>
          <p:cNvPicPr>
            <a:picLocks noChangeAspect="1"/>
          </p:cNvPicPr>
          <p:nvPr/>
        </p:nvPicPr>
        <p:blipFill>
          <a:blip r:embed="rId2"/>
          <a:stretch>
            <a:fillRect/>
          </a:stretch>
        </p:blipFill>
        <p:spPr>
          <a:xfrm>
            <a:off x="8732520" y="1234440"/>
            <a:ext cx="3017520" cy="1885950"/>
          </a:xfrm>
          <a:prstGeom prst="rect">
            <a:avLst/>
          </a:prstGeom>
        </p:spPr>
      </p:pic>
      <p:pic>
        <p:nvPicPr>
          <p:cNvPr id="34" name="Image 2" descr="/tmp/claude-0/-home-user-Dom-Manipulation/01edd7ad-16e1-5ac5-9e2e-840f37702b96/scratchpad/img/crop/giftwrap.jpg">    </p:cNvPr>
          <p:cNvPicPr>
            <a:picLocks noChangeAspect="1"/>
          </p:cNvPicPr>
          <p:nvPr/>
        </p:nvPicPr>
        <p:blipFill>
          <a:blip r:embed="rId3"/>
          <a:stretch>
            <a:fillRect/>
          </a:stretch>
        </p:blipFill>
        <p:spPr>
          <a:xfrm>
            <a:off x="8732520" y="3394710"/>
            <a:ext cx="3017520" cy="208104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12</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C  ·  C.1 UKURAN HASIL</a:t>
            </a:r>
            <a:endParaRPr lang="en-US" sz="1000" dirty="0"/>
          </a:p>
        </p:txBody>
      </p:sp>
      <p:sp>
        <p:nvSpPr>
          <p:cNvPr id="6" name="Text 3"/>
          <p:cNvSpPr txBox="1"/>
          <p:nvPr/>
        </p:nvSpPr>
        <p:spPr>
          <a:xfrm>
            <a:off x="548640" y="731520"/>
            <a:ext cx="82296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DUA ANGKA YANG HARUS DIBEDAKAN</a:t>
            </a:r>
            <a:endParaRPr lang="en-US" sz="2600" dirty="0"/>
          </a:p>
        </p:txBody>
      </p:sp>
      <p:sp>
        <p:nvSpPr>
          <p:cNvPr id="7" name="Text 4"/>
          <p:cNvSpPr txBox="1"/>
          <p:nvPr/>
        </p:nvSpPr>
        <p:spPr>
          <a:xfrm>
            <a:off x="548640" y="1371600"/>
            <a:ext cx="7589520" cy="777240"/>
          </a:xfrm>
          <a:prstGeom prst="rect">
            <a:avLst/>
          </a:prstGeom>
          <a:noFill/>
          <a:ln/>
        </p:spPr>
        <p:txBody>
          <a:bodyPr wrap="square" lIns="0" tIns="0" rIns="0" bIns="0" rtlCol="0" anchor="t"/>
          <a:lstStyle/>
          <a:p>
            <a:pPr algn="l" indent="0" marL="0">
              <a:lnSpc>
                <a:spcPct val="105000"/>
              </a:lnSpc>
              <a:buNone/>
            </a:pPr>
            <a:r>
              <a:rPr lang="en-US" sz="1200" dirty="0">
                <a:solidFill>
                  <a:srgbClr val="555555"/>
                </a:solidFill>
                <a:latin typeface="Calibri" pitchFamily="34" charset="0"/>
                <a:ea typeface="Calibri" pitchFamily="34" charset="-122"/>
                <a:cs typeface="Calibri" pitchFamily="34" charset="-120"/>
              </a:rPr>
              <a:t>Menerima, memproses, menempatkan stok, lalu mengambil dan mengemas satu pesanan secara akurat memerlukan investasi tenaga kerja kurang dari 3 menit; 70% pesanan adalah pesanan multiproduk; buku menyebutnya world-class performance (HRM, hlm. 489).</a:t>
            </a:r>
            <a:endParaRPr lang="en-US" sz="1200" dirty="0"/>
          </a:p>
        </p:txBody>
      </p:sp>
      <p:sp>
        <p:nvSpPr>
          <p:cNvPr id="8" name="Shape 5"/>
          <p:cNvSpPr/>
          <p:nvPr/>
        </p:nvSpPr>
        <p:spPr>
          <a:xfrm>
            <a:off x="466344" y="2249424"/>
            <a:ext cx="3657600" cy="2377440"/>
          </a:xfrm>
          <a:prstGeom prst="roundRect">
            <a:avLst>
              <a:gd name="adj" fmla="val 4615"/>
            </a:avLst>
          </a:prstGeom>
          <a:solidFill>
            <a:srgbClr val="232F3E"/>
          </a:solidFill>
          <a:ln w="12700">
            <a:solidFill>
              <a:srgbClr val="232F3E"/>
            </a:solidFill>
            <a:prstDash val="solid"/>
          </a:ln>
        </p:spPr>
      </p:sp>
      <p:sp>
        <p:nvSpPr>
          <p:cNvPr id="9" name="Shape 6"/>
          <p:cNvSpPr/>
          <p:nvPr/>
        </p:nvSpPr>
        <p:spPr>
          <a:xfrm>
            <a:off x="548640" y="2331720"/>
            <a:ext cx="365760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0" name="Text 7"/>
          <p:cNvSpPr txBox="1"/>
          <p:nvPr/>
        </p:nvSpPr>
        <p:spPr>
          <a:xfrm>
            <a:off x="777240" y="2468880"/>
            <a:ext cx="3200400" cy="731520"/>
          </a:xfrm>
          <a:prstGeom prst="rect">
            <a:avLst/>
          </a:prstGeom>
          <a:noFill/>
          <a:ln/>
        </p:spPr>
        <p:txBody>
          <a:bodyPr wrap="square" lIns="0" tIns="0" rIns="0" bIns="0" rtlCol="0" anchor="ctr"/>
          <a:lstStyle/>
          <a:p>
            <a:pPr indent="0" marL="0">
              <a:buNone/>
            </a:pPr>
            <a:r>
              <a:rPr lang="en-US" sz="3800" b="1" dirty="0">
                <a:solidFill>
                  <a:srgbClr val="FF9900"/>
                </a:solidFill>
                <a:latin typeface="Arial" pitchFamily="34" charset="0"/>
                <a:ea typeface="Arial" pitchFamily="34" charset="-122"/>
                <a:cs typeface="Arial" pitchFamily="34" charset="-120"/>
              </a:rPr>
              <a:t>&lt; 3 menit</a:t>
            </a:r>
            <a:endParaRPr lang="en-US" sz="3800" dirty="0"/>
          </a:p>
        </p:txBody>
      </p:sp>
      <p:sp>
        <p:nvSpPr>
          <p:cNvPr id="11" name="Text 8"/>
          <p:cNvSpPr txBox="1"/>
          <p:nvPr/>
        </p:nvSpPr>
        <p:spPr>
          <a:xfrm>
            <a:off x="777240" y="3200400"/>
            <a:ext cx="3200400" cy="274320"/>
          </a:xfrm>
          <a:prstGeom prst="rect">
            <a:avLst/>
          </a:prstGeom>
          <a:noFill/>
          <a:ln/>
        </p:spPr>
        <p:txBody>
          <a:bodyPr wrap="square" lIns="0" tIns="0" rIns="0" bIns="0" rtlCol="0" anchor="t"/>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Ukuran INPUT</a:t>
            </a:r>
            <a:endParaRPr lang="en-US" sz="1100" dirty="0"/>
          </a:p>
        </p:txBody>
      </p:sp>
      <p:sp>
        <p:nvSpPr>
          <p:cNvPr id="12" name="Text 9"/>
          <p:cNvSpPr txBox="1"/>
          <p:nvPr/>
        </p:nvSpPr>
        <p:spPr>
          <a:xfrm>
            <a:off x="777240" y="3493008"/>
            <a:ext cx="3200400" cy="1097280"/>
          </a:xfrm>
          <a:prstGeom prst="rect">
            <a:avLst/>
          </a:prstGeom>
          <a:noFill/>
          <a:ln/>
        </p:spPr>
        <p:txBody>
          <a:bodyPr wrap="square" lIns="0" tIns="0" rIns="0" bIns="0" rtlCol="0" anchor="t"/>
          <a:lstStyle/>
          <a:p>
            <a:pPr algn="l" indent="0" marL="0">
              <a:lnSpc>
                <a:spcPct val="105000"/>
              </a:lnSpc>
              <a:buNone/>
            </a:pPr>
            <a:r>
              <a:rPr lang="en-US" sz="1100" dirty="0">
                <a:solidFill>
                  <a:srgbClr val="555555"/>
                </a:solidFill>
                <a:latin typeface="Calibri" pitchFamily="34" charset="0"/>
                <a:ea typeface="Calibri" pitchFamily="34" charset="-122"/>
                <a:cs typeface="Calibri" pitchFamily="34" charset="-120"/>
              </a:rPr>
              <a:t>Jam kerja yang dipakai per pesanan. Ini ukuran biaya, hasil dari efisiensi proses di dalam gudang.</a:t>
            </a:r>
            <a:endParaRPr lang="en-US" sz="1100" dirty="0"/>
          </a:p>
        </p:txBody>
      </p:sp>
      <p:sp>
        <p:nvSpPr>
          <p:cNvPr id="13" name="Shape 10"/>
          <p:cNvSpPr/>
          <p:nvPr/>
        </p:nvSpPr>
        <p:spPr>
          <a:xfrm>
            <a:off x="4398264" y="2249424"/>
            <a:ext cx="3657600" cy="2377440"/>
          </a:xfrm>
          <a:prstGeom prst="roundRect">
            <a:avLst>
              <a:gd name="adj" fmla="val 4615"/>
            </a:avLst>
          </a:prstGeom>
          <a:solidFill>
            <a:srgbClr val="FF9900"/>
          </a:solidFill>
          <a:ln w="12700">
            <a:solidFill>
              <a:srgbClr val="FF9900"/>
            </a:solidFill>
            <a:prstDash val="solid"/>
          </a:ln>
        </p:spPr>
      </p:sp>
      <p:sp>
        <p:nvSpPr>
          <p:cNvPr id="14" name="Shape 11"/>
          <p:cNvSpPr/>
          <p:nvPr/>
        </p:nvSpPr>
        <p:spPr>
          <a:xfrm>
            <a:off x="4480560" y="2331720"/>
            <a:ext cx="3657600" cy="2377440"/>
          </a:xfrm>
          <a:prstGeom prst="roundRect">
            <a:avLst>
              <a:gd name="adj" fmla="val 461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5" name="Text 12"/>
          <p:cNvSpPr txBox="1"/>
          <p:nvPr/>
        </p:nvSpPr>
        <p:spPr>
          <a:xfrm>
            <a:off x="4709160" y="2468880"/>
            <a:ext cx="3200400" cy="731520"/>
          </a:xfrm>
          <a:prstGeom prst="rect">
            <a:avLst/>
          </a:prstGeom>
          <a:noFill/>
          <a:ln/>
        </p:spPr>
        <p:txBody>
          <a:bodyPr wrap="square" lIns="0" tIns="0" rIns="0" bIns="0" rtlCol="0" anchor="ctr"/>
          <a:lstStyle/>
          <a:p>
            <a:pPr indent="0" marL="0">
              <a:buNone/>
            </a:pPr>
            <a:r>
              <a:rPr lang="en-US" sz="3800" b="1" dirty="0">
                <a:solidFill>
                  <a:srgbClr val="FF9900"/>
                </a:solidFill>
                <a:latin typeface="Arial" pitchFamily="34" charset="0"/>
                <a:ea typeface="Arial" pitchFamily="34" charset="-122"/>
                <a:cs typeface="Arial" pitchFamily="34" charset="-120"/>
              </a:rPr>
              <a:t>1–2 hari</a:t>
            </a:r>
            <a:endParaRPr lang="en-US" sz="3800" dirty="0"/>
          </a:p>
        </p:txBody>
      </p:sp>
      <p:sp>
        <p:nvSpPr>
          <p:cNvPr id="16" name="Text 13"/>
          <p:cNvSpPr txBox="1"/>
          <p:nvPr/>
        </p:nvSpPr>
        <p:spPr>
          <a:xfrm>
            <a:off x="4709160" y="3200400"/>
            <a:ext cx="3200400" cy="274320"/>
          </a:xfrm>
          <a:prstGeom prst="rect">
            <a:avLst/>
          </a:prstGeom>
          <a:noFill/>
          <a:ln/>
        </p:spPr>
        <p:txBody>
          <a:bodyPr wrap="square" lIns="0" tIns="0" rIns="0" bIns="0" rtlCol="0" anchor="t"/>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Ukuran OUTPUT (speed)</a:t>
            </a:r>
            <a:endParaRPr lang="en-US" sz="1100" dirty="0"/>
          </a:p>
        </p:txBody>
      </p:sp>
      <p:sp>
        <p:nvSpPr>
          <p:cNvPr id="17" name="Text 14"/>
          <p:cNvSpPr txBox="1"/>
          <p:nvPr/>
        </p:nvSpPr>
        <p:spPr>
          <a:xfrm>
            <a:off x="4709160" y="3493008"/>
            <a:ext cx="3200400" cy="1097280"/>
          </a:xfrm>
          <a:prstGeom prst="rect">
            <a:avLst/>
          </a:prstGeom>
          <a:noFill/>
          <a:ln/>
        </p:spPr>
        <p:txBody>
          <a:bodyPr wrap="square" lIns="0" tIns="0" rIns="0" bIns="0" rtlCol="0" anchor="t"/>
          <a:lstStyle/>
          <a:p>
            <a:pPr algn="l" indent="0" marL="0">
              <a:lnSpc>
                <a:spcPct val="105000"/>
              </a:lnSpc>
              <a:buNone/>
            </a:pPr>
            <a:r>
              <a:rPr lang="en-US" sz="1100" dirty="0">
                <a:solidFill>
                  <a:srgbClr val="555555"/>
                </a:solidFill>
                <a:latin typeface="Calibri" pitchFamily="34" charset="0"/>
                <a:ea typeface="Calibri" pitchFamily="34" charset="-122"/>
                <a:cs typeface="Calibri" pitchFamily="34" charset="-120"/>
              </a:rPr>
              <a:t>Yang dirasakan pelanggan. Hasil dari posisi stok yang dekat pelanggan, bukan dari proses gudang saja.</a:t>
            </a:r>
            <a:endParaRPr lang="en-US" sz="1100" dirty="0"/>
          </a:p>
        </p:txBody>
      </p:sp>
      <p:sp>
        <p:nvSpPr>
          <p:cNvPr id="18" name="Shape 15"/>
          <p:cNvSpPr/>
          <p:nvPr/>
        </p:nvSpPr>
        <p:spPr>
          <a:xfrm>
            <a:off x="548640" y="4937760"/>
            <a:ext cx="7589520" cy="1234440"/>
          </a:xfrm>
          <a:prstGeom prst="roundRect">
            <a:avLst>
              <a:gd name="adj" fmla="val 8889"/>
            </a:avLst>
          </a:prstGeom>
          <a:solidFill>
            <a:srgbClr val="232F3E"/>
          </a:solidFill>
          <a:ln w="12700">
            <a:solidFill>
              <a:srgbClr val="232F3E"/>
            </a:solidFill>
            <a:prstDash val="solid"/>
          </a:ln>
          <a:effectLst>
            <a:outerShdw sx="100000" sy="100000" kx="0" ky="0" algn="bl" rotWithShape="0" blurRad="76200" dist="25400" dir="2700000">
              <a:srgbClr val="000000">
                <a:alpha val="16000"/>
              </a:srgbClr>
            </a:outerShdw>
          </a:effectLst>
        </p:spPr>
      </p:sp>
      <p:sp>
        <p:nvSpPr>
          <p:cNvPr id="19" name="Text 16"/>
          <p:cNvSpPr txBox="1"/>
          <p:nvPr/>
        </p:nvSpPr>
        <p:spPr>
          <a:xfrm>
            <a:off x="822960" y="5102352"/>
            <a:ext cx="7040880" cy="960120"/>
          </a:xfrm>
          <a:prstGeom prst="rect">
            <a:avLst/>
          </a:prstGeom>
          <a:noFill/>
          <a:ln/>
        </p:spPr>
        <p:txBody>
          <a:bodyPr wrap="square" lIns="0" tIns="0" rIns="0" bIns="0" rtlCol="0" anchor="t"/>
          <a:lstStyle/>
          <a:p>
            <a:pPr algn="l" indent="0" marL="0">
              <a:lnSpc>
                <a:spcPct val="105000"/>
              </a:lnSpc>
              <a:buNone/>
            </a:pPr>
            <a:r>
              <a:rPr lang="en-US" sz="1150" dirty="0">
                <a:solidFill>
                  <a:srgbClr val="FFFFFF"/>
                </a:solidFill>
                <a:latin typeface="Calibri" pitchFamily="34" charset="0"/>
                <a:ea typeface="Calibri" pitchFamily="34" charset="-122"/>
                <a:cs typeface="Calibri" pitchFamily="34" charset="-120"/>
              </a:rPr>
              <a:t>Yang perlu dicermati: dua angka ini jangan dicampur saat presentasi. Amazon unggul di keduanya, tetapi mekanismenya berbeda. Angka 70% pesanan multiproduk menunjukkan bahwa kecepatan itu dicapai pada pesanan yang komposisinya berbeda-beda, bukan pada pesanan seragam.</a:t>
            </a:r>
            <a:endParaRPr lang="en-US" sz="1150" dirty="0"/>
          </a:p>
        </p:txBody>
      </p:sp>
      <p:pic>
        <p:nvPicPr>
          <p:cNvPr id="20" name="Image 1" descr="/tmp/claude-0/-home-user-Dom-Manipulation/01edd7ad-16e1-5ac5-9e2e-840f37702b96/scratchpad/img/crop/packing.jpg">    </p:cNvPr>
          <p:cNvPicPr>
            <a:picLocks noChangeAspect="1"/>
          </p:cNvPicPr>
          <p:nvPr/>
        </p:nvPicPr>
        <p:blipFill>
          <a:blip r:embed="rId2"/>
          <a:stretch>
            <a:fillRect/>
          </a:stretch>
        </p:blipFill>
        <p:spPr>
          <a:xfrm>
            <a:off x="8458200" y="1280160"/>
            <a:ext cx="3337560" cy="2418522"/>
          </a:xfrm>
          <a:prstGeom prst="rect">
            <a:avLst/>
          </a:prstGeom>
        </p:spPr>
      </p:pic>
      <p:sp>
        <p:nvSpPr>
          <p:cNvPr id="21" name="Text 17"/>
          <p:cNvSpPr txBox="1"/>
          <p:nvPr/>
        </p:nvSpPr>
        <p:spPr>
          <a:xfrm>
            <a:off x="8458200" y="3931920"/>
            <a:ext cx="3337560" cy="822960"/>
          </a:xfrm>
          <a:prstGeom prst="rect">
            <a:avLst/>
          </a:prstGeom>
          <a:noFill/>
          <a:ln/>
        </p:spPr>
        <p:txBody>
          <a:bodyPr wrap="square" lIns="0" tIns="0" rIns="0" bIns="0" rtlCol="0" anchor="ctr"/>
          <a:lstStyle/>
          <a:p>
            <a:pPr algn="ctr" indent="0" marL="0">
              <a:buNone/>
            </a:pPr>
            <a:r>
              <a:rPr lang="en-US" sz="5400" b="1" dirty="0">
                <a:solidFill>
                  <a:srgbClr val="111111"/>
                </a:solidFill>
                <a:latin typeface="Arial" pitchFamily="34" charset="0"/>
                <a:ea typeface="Arial" pitchFamily="34" charset="-122"/>
                <a:cs typeface="Arial" pitchFamily="34" charset="-120"/>
              </a:rPr>
              <a:t>70%</a:t>
            </a:r>
            <a:endParaRPr lang="en-US" sz="5400" dirty="0"/>
          </a:p>
        </p:txBody>
      </p:sp>
      <p:sp>
        <p:nvSpPr>
          <p:cNvPr id="22" name="Text 18"/>
          <p:cNvSpPr txBox="1"/>
          <p:nvPr/>
        </p:nvSpPr>
        <p:spPr>
          <a:xfrm>
            <a:off x="8458200" y="4754880"/>
            <a:ext cx="3337560" cy="548640"/>
          </a:xfrm>
          <a:prstGeom prst="rect">
            <a:avLst/>
          </a:prstGeom>
          <a:noFill/>
          <a:ln/>
        </p:spPr>
        <p:txBody>
          <a:bodyPr wrap="square" lIns="0" tIns="0" rIns="0" bIns="0" rtlCol="0" anchor="t"/>
          <a:lstStyle/>
          <a:p>
            <a:pPr algn="ctr" indent="0" marL="0">
              <a:lnSpc>
                <a:spcPct val="105000"/>
              </a:lnSpc>
              <a:buNone/>
            </a:pPr>
            <a:r>
              <a:rPr lang="en-US" sz="1100" dirty="0">
                <a:solidFill>
                  <a:srgbClr val="555555"/>
                </a:solidFill>
                <a:latin typeface="Calibri" pitchFamily="34" charset="0"/>
                <a:ea typeface="Calibri" pitchFamily="34" charset="-122"/>
                <a:cs typeface="Calibri" pitchFamily="34" charset="-120"/>
              </a:rPr>
              <a:t>pesanan Amazon berisi lebih dari satu produk (HRM, hlm. 489)</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13</a:t>
            </a:r>
            <a:endParaRPr lang="en-US" sz="900" dirty="0"/>
          </a:p>
        </p:txBody>
      </p:sp>
      <p:sp>
        <p:nvSpPr>
          <p:cNvPr id="5" name="Text 2"/>
          <p:cNvSpPr txBox="1"/>
          <p:nvPr/>
        </p:nvSpPr>
        <p:spPr>
          <a:xfrm>
            <a:off x="548640" y="457200"/>
            <a:ext cx="73152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C  ·  C.2 MEKANISME PICKING (HRM BAB 9, HLM. 376)</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ROBOT KIVA: BARANG YANG BERGERAK</a:t>
            </a:r>
            <a:endParaRPr lang="en-US" sz="2600" dirty="0"/>
          </a:p>
        </p:txBody>
      </p:sp>
      <p:pic>
        <p:nvPicPr>
          <p:cNvPr id="7" name="Image 1" descr="/tmp/claude-0/-home-user-Dom-Manipulation/01edd7ad-16e1-5ac5-9e2e-840f37702b96/scratchpad/img/crop/robots.jpg">    </p:cNvPr>
          <p:cNvPicPr>
            <a:picLocks noChangeAspect="1"/>
          </p:cNvPicPr>
          <p:nvPr/>
        </p:nvPicPr>
        <p:blipFill>
          <a:blip r:embed="rId2"/>
          <a:stretch>
            <a:fillRect/>
          </a:stretch>
        </p:blipFill>
        <p:spPr>
          <a:xfrm>
            <a:off x="548640" y="1417320"/>
            <a:ext cx="6035040" cy="3429000"/>
          </a:xfrm>
          <a:prstGeom prst="rect">
            <a:avLst/>
          </a:prstGeom>
        </p:spPr>
      </p:pic>
      <p:sp>
        <p:nvSpPr>
          <p:cNvPr id="8" name="Shape 4"/>
          <p:cNvSpPr/>
          <p:nvPr/>
        </p:nvSpPr>
        <p:spPr>
          <a:xfrm>
            <a:off x="6821424" y="1335024"/>
            <a:ext cx="4800600" cy="1024128"/>
          </a:xfrm>
          <a:prstGeom prst="roundRect">
            <a:avLst>
              <a:gd name="adj" fmla="val 10714"/>
            </a:avLst>
          </a:prstGeom>
          <a:solidFill>
            <a:srgbClr val="FF9900"/>
          </a:solidFill>
          <a:ln w="12700">
            <a:solidFill>
              <a:srgbClr val="FF9900"/>
            </a:solidFill>
            <a:prstDash val="solid"/>
          </a:ln>
        </p:spPr>
      </p:sp>
      <p:sp>
        <p:nvSpPr>
          <p:cNvPr id="9" name="Shape 5"/>
          <p:cNvSpPr/>
          <p:nvPr/>
        </p:nvSpPr>
        <p:spPr>
          <a:xfrm>
            <a:off x="6903720" y="1417320"/>
            <a:ext cx="480060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0" name="Text 6"/>
          <p:cNvSpPr txBox="1"/>
          <p:nvPr/>
        </p:nvSpPr>
        <p:spPr>
          <a:xfrm>
            <a:off x="7086600" y="1545336"/>
            <a:ext cx="1463040" cy="457200"/>
          </a:xfrm>
          <a:prstGeom prst="rect">
            <a:avLst/>
          </a:prstGeom>
          <a:noFill/>
          <a:ln/>
        </p:spPr>
        <p:txBody>
          <a:bodyPr wrap="square" lIns="0" tIns="0" rIns="0" bIns="0" rtlCol="0" anchor="ctr"/>
          <a:lstStyle/>
          <a:p>
            <a:pPr indent="0" marL="0">
              <a:buNone/>
            </a:pPr>
            <a:r>
              <a:rPr lang="en-US" sz="1700" b="1" dirty="0">
                <a:solidFill>
                  <a:srgbClr val="FF9900"/>
                </a:solidFill>
                <a:latin typeface="Arial" pitchFamily="34" charset="0"/>
                <a:ea typeface="Arial" pitchFamily="34" charset="-122"/>
                <a:cs typeface="Arial" pitchFamily="34" charset="-120"/>
              </a:rPr>
              <a:t>10.000+</a:t>
            </a:r>
            <a:endParaRPr lang="en-US" sz="1700" dirty="0"/>
          </a:p>
        </p:txBody>
      </p:sp>
      <p:sp>
        <p:nvSpPr>
          <p:cNvPr id="11" name="Text 7"/>
          <p:cNvSpPr txBox="1"/>
          <p:nvPr/>
        </p:nvSpPr>
        <p:spPr>
          <a:xfrm>
            <a:off x="8595360" y="1527048"/>
            <a:ext cx="3017520" cy="86868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robot Kiva dipasang di beberapa gudang AS. Robot membawa rak berisi stok ke pekerja; buku menyamakannya dengan lini perakitan bergerak.</a:t>
            </a:r>
            <a:endParaRPr lang="en-US" sz="950" dirty="0"/>
          </a:p>
        </p:txBody>
      </p:sp>
      <p:sp>
        <p:nvSpPr>
          <p:cNvPr id="12" name="Shape 8"/>
          <p:cNvSpPr/>
          <p:nvPr/>
        </p:nvSpPr>
        <p:spPr>
          <a:xfrm>
            <a:off x="6903720" y="2606040"/>
            <a:ext cx="480060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9"/>
          <p:cNvSpPr txBox="1"/>
          <p:nvPr/>
        </p:nvSpPr>
        <p:spPr>
          <a:xfrm>
            <a:off x="7086600" y="2734056"/>
            <a:ext cx="1463040" cy="457200"/>
          </a:xfrm>
          <a:prstGeom prst="rect">
            <a:avLst/>
          </a:prstGeom>
          <a:noFill/>
          <a:ln/>
        </p:spPr>
        <p:txBody>
          <a:bodyPr wrap="square" lIns="0" tIns="0" rIns="0" bIns="0" rtlCol="0" anchor="ctr"/>
          <a:lstStyle/>
          <a:p>
            <a:pPr indent="0" marL="0">
              <a:buNone/>
            </a:pPr>
            <a:r>
              <a:rPr lang="en-US" sz="1700" b="1" dirty="0">
                <a:solidFill>
                  <a:srgbClr val="FF9900"/>
                </a:solidFill>
                <a:latin typeface="Arial" pitchFamily="34" charset="0"/>
                <a:ea typeface="Arial" pitchFamily="34" charset="-122"/>
                <a:cs typeface="Arial" pitchFamily="34" charset="-120"/>
              </a:rPr>
              <a:t>20 mil</a:t>
            </a:r>
            <a:endParaRPr lang="en-US" sz="1700" dirty="0"/>
          </a:p>
        </p:txBody>
      </p:sp>
      <p:sp>
        <p:nvSpPr>
          <p:cNvPr id="14" name="Text 10"/>
          <p:cNvSpPr txBox="1"/>
          <p:nvPr/>
        </p:nvSpPr>
        <p:spPr>
          <a:xfrm>
            <a:off x="8595360" y="2715768"/>
            <a:ext cx="3017520" cy="86868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jalan kaki per hari per pekerja yang dihemat di gudang Tracy, California (1,2 juta kaki persegi); picker berdiri di satu tempat.</a:t>
            </a:r>
            <a:endParaRPr lang="en-US" sz="950" dirty="0"/>
          </a:p>
        </p:txBody>
      </p:sp>
      <p:sp>
        <p:nvSpPr>
          <p:cNvPr id="15" name="Shape 11"/>
          <p:cNvSpPr/>
          <p:nvPr/>
        </p:nvSpPr>
        <p:spPr>
          <a:xfrm>
            <a:off x="6903720" y="3794760"/>
            <a:ext cx="480060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6" name="Text 12"/>
          <p:cNvSpPr txBox="1"/>
          <p:nvPr/>
        </p:nvSpPr>
        <p:spPr>
          <a:xfrm>
            <a:off x="7086600" y="3922776"/>
            <a:ext cx="1463040" cy="457200"/>
          </a:xfrm>
          <a:prstGeom prst="rect">
            <a:avLst/>
          </a:prstGeom>
          <a:noFill/>
          <a:ln/>
        </p:spPr>
        <p:txBody>
          <a:bodyPr wrap="square" lIns="0" tIns="0" rIns="0" bIns="0" rtlCol="0" anchor="ctr"/>
          <a:lstStyle/>
          <a:p>
            <a:pPr indent="0" marL="0">
              <a:buNone/>
            </a:pPr>
            <a:r>
              <a:rPr lang="en-US" sz="1700" b="1" dirty="0">
                <a:solidFill>
                  <a:srgbClr val="FF9900"/>
                </a:solidFill>
                <a:latin typeface="Arial" pitchFamily="34" charset="0"/>
                <a:ea typeface="Arial" pitchFamily="34" charset="-122"/>
                <a:cs typeface="Arial" pitchFamily="34" charset="-120"/>
              </a:rPr>
              <a:t>100 → 300</a:t>
            </a:r>
            <a:endParaRPr lang="en-US" sz="1700" dirty="0"/>
          </a:p>
        </p:txBody>
      </p:sp>
      <p:sp>
        <p:nvSpPr>
          <p:cNvPr id="17" name="Text 13"/>
          <p:cNvSpPr txBox="1"/>
          <p:nvPr/>
        </p:nvSpPr>
        <p:spPr>
          <a:xfrm>
            <a:off x="8595360" y="3904488"/>
            <a:ext cx="3017520" cy="86868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item per jam: standar pick and scan per pekerja naik tiga kali lipat.</a:t>
            </a:r>
            <a:endParaRPr lang="en-US" sz="950" dirty="0"/>
          </a:p>
        </p:txBody>
      </p:sp>
      <p:sp>
        <p:nvSpPr>
          <p:cNvPr id="18" name="Shape 14"/>
          <p:cNvSpPr/>
          <p:nvPr/>
        </p:nvSpPr>
        <p:spPr>
          <a:xfrm>
            <a:off x="6903720" y="4983480"/>
            <a:ext cx="4800600" cy="1024128"/>
          </a:xfrm>
          <a:prstGeom prst="roundRect">
            <a:avLst>
              <a:gd name="adj" fmla="val 10714"/>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9" name="Text 15"/>
          <p:cNvSpPr txBox="1"/>
          <p:nvPr/>
        </p:nvSpPr>
        <p:spPr>
          <a:xfrm>
            <a:off x="7086600" y="5111496"/>
            <a:ext cx="1463040" cy="457200"/>
          </a:xfrm>
          <a:prstGeom prst="rect">
            <a:avLst/>
          </a:prstGeom>
          <a:noFill/>
          <a:ln/>
        </p:spPr>
        <p:txBody>
          <a:bodyPr wrap="square" lIns="0" tIns="0" rIns="0" bIns="0" rtlCol="0" anchor="ctr"/>
          <a:lstStyle/>
          <a:p>
            <a:pPr indent="0" marL="0">
              <a:buNone/>
            </a:pPr>
            <a:r>
              <a:rPr lang="en-US" sz="1700" b="1" dirty="0">
                <a:solidFill>
                  <a:srgbClr val="FF9900"/>
                </a:solidFill>
                <a:latin typeface="Arial" pitchFamily="34" charset="0"/>
                <a:ea typeface="Arial" pitchFamily="34" charset="-122"/>
                <a:cs typeface="Arial" pitchFamily="34" charset="-120"/>
              </a:rPr>
              <a:t>20–40%</a:t>
            </a:r>
            <a:endParaRPr lang="en-US" sz="1700" dirty="0"/>
          </a:p>
        </p:txBody>
      </p:sp>
      <p:sp>
        <p:nvSpPr>
          <p:cNvPr id="20" name="Text 16"/>
          <p:cNvSpPr txBox="1"/>
          <p:nvPr/>
        </p:nvSpPr>
        <p:spPr>
          <a:xfrm>
            <a:off x="8595360" y="5093208"/>
            <a:ext cx="3017520" cy="86868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dipangkas dari biaya US$3,50–3,75 per pesanan untuk sort, pick, pack; setara US$400–900 juta per tahun.</a:t>
            </a:r>
            <a:endParaRPr lang="en-US" sz="950" dirty="0"/>
          </a:p>
        </p:txBody>
      </p:sp>
      <p:sp>
        <p:nvSpPr>
          <p:cNvPr id="21" name="Shape 17"/>
          <p:cNvSpPr/>
          <p:nvPr/>
        </p:nvSpPr>
        <p:spPr>
          <a:xfrm>
            <a:off x="466344" y="4946904"/>
            <a:ext cx="6035040" cy="1143000"/>
          </a:xfrm>
          <a:prstGeom prst="roundRect">
            <a:avLst>
              <a:gd name="adj" fmla="val 9600"/>
            </a:avLst>
          </a:prstGeom>
          <a:solidFill>
            <a:srgbClr val="232F3E"/>
          </a:solidFill>
          <a:ln w="12700">
            <a:solidFill>
              <a:srgbClr val="232F3E"/>
            </a:solidFill>
            <a:prstDash val="solid"/>
          </a:ln>
        </p:spPr>
      </p:sp>
      <p:sp>
        <p:nvSpPr>
          <p:cNvPr id="22" name="Shape 18"/>
          <p:cNvSpPr/>
          <p:nvPr/>
        </p:nvSpPr>
        <p:spPr>
          <a:xfrm>
            <a:off x="548640" y="5029200"/>
            <a:ext cx="6035040" cy="1143000"/>
          </a:xfrm>
          <a:prstGeom prst="roundRect">
            <a:avLst>
              <a:gd name="adj" fmla="val 96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3" name="Text 19"/>
          <p:cNvSpPr txBox="1"/>
          <p:nvPr/>
        </p:nvSpPr>
        <p:spPr>
          <a:xfrm>
            <a:off x="777240" y="5138928"/>
            <a:ext cx="5623560" cy="96012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Dari sisi persediaan, robot mengubah dua hal: lokasi fisik stok tidak lagi harus tetap (slotting bisa diatur perangkat lunak), dan setiap pengambilan langsung dipindai sehingga catatan stok diperbarui bersamaan dengan pengambilan fisik. Ini yang membuat langkah 1 bisa mengandalkan data stok per DC.</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14</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C  ·  C.3 KUANTIFIKASI PRODUKTIVITAS</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JANGAN OVER-CLAIM PRODUKTIVITAS</a:t>
            </a:r>
            <a:endParaRPr lang="en-US" sz="2600" dirty="0"/>
          </a:p>
        </p:txBody>
      </p:sp>
      <p:sp>
        <p:nvSpPr>
          <p:cNvPr id="7" name="Text 4"/>
          <p:cNvSpPr txBox="1"/>
          <p:nvPr/>
        </p:nvSpPr>
        <p:spPr>
          <a:xfrm>
            <a:off x="548640" y="1371600"/>
            <a:ext cx="7680960" cy="1051560"/>
          </a:xfrm>
          <a:prstGeom prst="rect">
            <a:avLst/>
          </a:prstGeom>
          <a:noFill/>
          <a:ln/>
        </p:spPr>
        <p:txBody>
          <a:bodyPr wrap="square" lIns="0" tIns="0" rIns="0" bIns="0" rtlCol="0" anchor="t"/>
          <a:lstStyle/>
          <a:p>
            <a:pPr algn="l" indent="0" marL="0">
              <a:lnSpc>
                <a:spcPct val="105000"/>
              </a:lnSpc>
              <a:buNone/>
            </a:pPr>
            <a:r>
              <a:rPr lang="en-US" sz="1200" dirty="0">
                <a:solidFill>
                  <a:srgbClr val="555555"/>
                </a:solidFill>
                <a:latin typeface="Calibri" pitchFamily="34" charset="0"/>
                <a:ea typeface="Calibri" pitchFamily="34" charset="-122"/>
                <a:cs typeface="Calibri" pitchFamily="34" charset="-120"/>
              </a:rPr>
              <a:t>Angka 100 menjadi 300 item per jam mudah dibaca sebagai kenaikan produktivitas 200%. Itu single-factor productivity, hanya menghitung tenaga kerja. Ukurannya not fair, karena kenaikan itu dicapai dengan menambah resource lain (robot) yang biayanya tidak ikut dihitung. Yang adil adalah multi-factor productivity: semua resource diuangkan lalu dijumlahkan.</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560320"/>
          <a:ext cx="7680960" cy="914400"/>
        </p:xfrm>
        <a:graphic>
          <a:graphicData uri="http://schemas.openxmlformats.org/drawingml/2006/table">
            <a:tbl>
              <a:tblPr/>
              <a:tblGrid>
                <a:gridCol w="2286000"/>
                <a:gridCol w="2560320"/>
                <a:gridCol w="2834640"/>
              </a:tblGrid>
              <a:tr h="0">
                <a:tc>
                  <a:txBody>
                    <a:bodyPr/>
                    <a:lstStyle/>
                    <a:p>
                      <a:pPr indent="0" marL="0">
                        <a:buNone/>
                      </a:pPr>
                      <a:r>
                        <a:rPr lang="en-US" sz="1000" b="1" dirty="0">
                          <a:solidFill>
                            <a:srgbClr val="FFFFFF"/>
                          </a:solidFill>
                          <a:latin typeface="Arial" pitchFamily="34" charset="0"/>
                          <a:ea typeface="Arial" pitchFamily="34" charset="-122"/>
                          <a:cs typeface="Arial" pitchFamily="34" charset="-120"/>
                        </a:rPr>
                        <a:t>Ukuran</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Angka dari buku</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Cara membacanya</a:t>
                      </a:r>
                      <a:endParaRPr lang="en-US" sz="10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Labor productivity (single-factor)</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100 → 300 item/jam per pekerja (HRM, hlm. 376)</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Naik 200%. Benar, tetapi belum memperhitungkan investasi robot</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Biaya per pesanan (multi-factor, sudah termasuk robot)</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Turun 20–40% dari US$3,50–3,75 per pesanan (HRM, hlm. 376)</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Penghematan bersih sekitar US$0,70–1,50 per pesanan. Jauh di bawah 200%, tetapi tetap positif</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1050" b="1" dirty="0">
                          <a:solidFill>
                            <a:srgbClr val="111111"/>
                          </a:solidFill>
                          <a:latin typeface="Calibri" pitchFamily="34" charset="0"/>
                          <a:ea typeface="Calibri" pitchFamily="34" charset="-122"/>
                          <a:cs typeface="Calibri" pitchFamily="34" charset="-120"/>
                        </a:rPr>
                        <a:t>Dampak tahunan</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US$400–900 juta per tahun (HRM, hlm. 376)</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050" dirty="0">
                          <a:solidFill>
                            <a:srgbClr val="555555"/>
                          </a:solidFill>
                          <a:latin typeface="Calibri" pitchFamily="34" charset="0"/>
                          <a:ea typeface="Calibri" pitchFamily="34" charset="-122"/>
                          <a:cs typeface="Calibri" pitchFamily="34" charset="-120"/>
                        </a:rPr>
                        <a:t>Angka kecil per pesanan menjadi besar karena volume</a:t>
                      </a:r>
                      <a:endParaRPr lang="en-US" sz="10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9" name="Shape 5"/>
          <p:cNvSpPr/>
          <p:nvPr/>
        </p:nvSpPr>
        <p:spPr>
          <a:xfrm>
            <a:off x="466344" y="4809744"/>
            <a:ext cx="7680960" cy="1280160"/>
          </a:xfrm>
          <a:prstGeom prst="roundRect">
            <a:avLst>
              <a:gd name="adj" fmla="val 8571"/>
            </a:avLst>
          </a:prstGeom>
          <a:solidFill>
            <a:srgbClr val="232F3E"/>
          </a:solidFill>
          <a:ln w="12700">
            <a:solidFill>
              <a:srgbClr val="232F3E"/>
            </a:solidFill>
            <a:prstDash val="solid"/>
          </a:ln>
        </p:spPr>
      </p:sp>
      <p:sp>
        <p:nvSpPr>
          <p:cNvPr id="10" name="Shape 6"/>
          <p:cNvSpPr/>
          <p:nvPr/>
        </p:nvSpPr>
        <p:spPr>
          <a:xfrm>
            <a:off x="548640" y="4892040"/>
            <a:ext cx="7680960" cy="1280160"/>
          </a:xfrm>
          <a:prstGeom prst="roundRect">
            <a:avLst>
              <a:gd name="adj" fmla="val 857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1" name="Text 7"/>
          <p:cNvSpPr txBox="1"/>
          <p:nvPr/>
        </p:nvSpPr>
        <p:spPr>
          <a:xfrm>
            <a:off x="777240" y="5029200"/>
            <a:ext cx="7223760" cy="1051560"/>
          </a:xfrm>
          <a:prstGeom prst="rect">
            <a:avLst/>
          </a:prstGeom>
          <a:noFill/>
          <a:ln/>
        </p:spPr>
        <p:txBody>
          <a:bodyPr wrap="square" lIns="0" tIns="0" rIns="0" bIns="0" rtlCol="0" anchor="t"/>
          <a:lstStyle/>
          <a:p>
            <a:pPr algn="l" indent="0" marL="0">
              <a:lnSpc>
                <a:spcPct val="105000"/>
              </a:lnSpc>
              <a:buNone/>
            </a:pPr>
            <a:r>
              <a:rPr lang="en-US" sz="1150" dirty="0">
                <a:solidFill>
                  <a:srgbClr val="111111"/>
                </a:solidFill>
                <a:latin typeface="Calibri" pitchFamily="34" charset="0"/>
                <a:ea typeface="Calibri" pitchFamily="34" charset="-122"/>
                <a:cs typeface="Calibri" pitchFamily="34" charset="-120"/>
              </a:rPr>
              <a:t>Kesimpulan: investasi robot terbukti menaikkan produktivitas, tetapi klaimnya harus dikoreksi dengan ukuran multi-faktor. Pola ini sama dengan contoh Collins Title di kelas: 75% pada ukuran tenaga kerja, 26% pada ukuran multi-faktor. Yang dipresentasikan sebaiknya angka biaya per pesanan, bukan angka 200%.</a:t>
            </a:r>
            <a:endParaRPr lang="en-US" sz="1150" dirty="0"/>
          </a:p>
        </p:txBody>
      </p:sp>
      <p:sp>
        <p:nvSpPr>
          <p:cNvPr id="12" name="Shape 8"/>
          <p:cNvSpPr/>
          <p:nvPr/>
        </p:nvSpPr>
        <p:spPr>
          <a:xfrm>
            <a:off x="8549640" y="1371600"/>
            <a:ext cx="3200400" cy="2103120"/>
          </a:xfrm>
          <a:prstGeom prst="roundRect">
            <a:avLst>
              <a:gd name="adj" fmla="val 521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9"/>
          <p:cNvSpPr txBox="1"/>
          <p:nvPr/>
        </p:nvSpPr>
        <p:spPr>
          <a:xfrm>
            <a:off x="8732520" y="1508760"/>
            <a:ext cx="2834640" cy="685800"/>
          </a:xfrm>
          <a:prstGeom prst="rect">
            <a:avLst/>
          </a:prstGeom>
          <a:noFill/>
          <a:ln/>
        </p:spPr>
        <p:txBody>
          <a:bodyPr wrap="square" lIns="0" tIns="0" rIns="0" bIns="0" rtlCol="0" anchor="ctr"/>
          <a:lstStyle/>
          <a:p>
            <a:pPr indent="0" marL="0">
              <a:buNone/>
            </a:pPr>
            <a:r>
              <a:rPr lang="en-US" sz="3400" b="1" dirty="0">
                <a:solidFill>
                  <a:srgbClr val="8A8A8A"/>
                </a:solidFill>
                <a:latin typeface="Arial" pitchFamily="34" charset="0"/>
                <a:ea typeface="Arial" pitchFamily="34" charset="-122"/>
                <a:cs typeface="Arial" pitchFamily="34" charset="-120"/>
              </a:rPr>
              <a:t>+200%</a:t>
            </a:r>
            <a:endParaRPr lang="en-US" sz="3400" dirty="0"/>
          </a:p>
        </p:txBody>
      </p:sp>
      <p:sp>
        <p:nvSpPr>
          <p:cNvPr id="14" name="Text 10"/>
          <p:cNvSpPr txBox="1"/>
          <p:nvPr/>
        </p:nvSpPr>
        <p:spPr>
          <a:xfrm>
            <a:off x="8732520" y="2194560"/>
            <a:ext cx="2834640" cy="274320"/>
          </a:xfrm>
          <a:prstGeom prst="rect">
            <a:avLst/>
          </a:prstGeom>
          <a:noFill/>
          <a:ln/>
        </p:spPr>
        <p:txBody>
          <a:bodyPr wrap="square" lIns="0" tIns="0" rIns="0" bIns="0" rtlCol="0" anchor="t"/>
          <a:lstStyle/>
          <a:p>
            <a:pPr algn="l" indent="0" marL="0">
              <a:lnSpc>
                <a:spcPct val="105000"/>
              </a:lnSpc>
              <a:buNone/>
            </a:pPr>
            <a:r>
              <a:rPr lang="en-US" sz="1050" dirty="0">
                <a:solidFill>
                  <a:srgbClr val="8A8A8A"/>
                </a:solidFill>
                <a:latin typeface="Calibri" pitchFamily="34" charset="0"/>
                <a:ea typeface="Calibri" pitchFamily="34" charset="-122"/>
                <a:cs typeface="Calibri" pitchFamily="34" charset="-120"/>
              </a:rPr>
              <a:t>single-factor (tenaga kerja saja)</a:t>
            </a:r>
            <a:endParaRPr lang="en-US" sz="1050" dirty="0"/>
          </a:p>
        </p:txBody>
      </p:sp>
      <p:sp>
        <p:nvSpPr>
          <p:cNvPr id="15" name="Text 11"/>
          <p:cNvSpPr txBox="1"/>
          <p:nvPr/>
        </p:nvSpPr>
        <p:spPr>
          <a:xfrm>
            <a:off x="8732520" y="2514600"/>
            <a:ext cx="2834640" cy="82296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Menarik, tetapi tidak adil untuk dilaporkan sendirian.</a:t>
            </a:r>
            <a:endParaRPr lang="en-US" sz="1050" dirty="0"/>
          </a:p>
        </p:txBody>
      </p:sp>
      <p:sp>
        <p:nvSpPr>
          <p:cNvPr id="16" name="Shape 12"/>
          <p:cNvSpPr/>
          <p:nvPr/>
        </p:nvSpPr>
        <p:spPr>
          <a:xfrm>
            <a:off x="8467344" y="3621024"/>
            <a:ext cx="3200400" cy="2468880"/>
          </a:xfrm>
          <a:prstGeom prst="roundRect">
            <a:avLst>
              <a:gd name="adj" fmla="val 4444"/>
            </a:avLst>
          </a:prstGeom>
          <a:solidFill>
            <a:srgbClr val="FF9900"/>
          </a:solidFill>
          <a:ln w="12700">
            <a:solidFill>
              <a:srgbClr val="FF9900"/>
            </a:solidFill>
            <a:prstDash val="solid"/>
          </a:ln>
        </p:spPr>
      </p:sp>
      <p:sp>
        <p:nvSpPr>
          <p:cNvPr id="17" name="Shape 13"/>
          <p:cNvSpPr/>
          <p:nvPr/>
        </p:nvSpPr>
        <p:spPr>
          <a:xfrm>
            <a:off x="8549640" y="3703320"/>
            <a:ext cx="3200400" cy="2468880"/>
          </a:xfrm>
          <a:prstGeom prst="roundRect">
            <a:avLst>
              <a:gd name="adj" fmla="val 4444"/>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8" name="Text 14"/>
          <p:cNvSpPr txBox="1"/>
          <p:nvPr/>
        </p:nvSpPr>
        <p:spPr>
          <a:xfrm>
            <a:off x="8732520" y="3840480"/>
            <a:ext cx="2834640" cy="685800"/>
          </a:xfrm>
          <a:prstGeom prst="rect">
            <a:avLst/>
          </a:prstGeom>
          <a:noFill/>
          <a:ln/>
        </p:spPr>
        <p:txBody>
          <a:bodyPr wrap="square" lIns="0" tIns="0" rIns="0" bIns="0" rtlCol="0" anchor="ctr"/>
          <a:lstStyle/>
          <a:p>
            <a:pPr indent="0" marL="0">
              <a:buNone/>
            </a:pPr>
            <a:r>
              <a:rPr lang="en-US" sz="3400" b="1" dirty="0">
                <a:solidFill>
                  <a:srgbClr val="FF9900"/>
                </a:solidFill>
                <a:latin typeface="Arial" pitchFamily="34" charset="0"/>
                <a:ea typeface="Arial" pitchFamily="34" charset="-122"/>
                <a:cs typeface="Arial" pitchFamily="34" charset="-120"/>
              </a:rPr>
              <a:t>−20–40%</a:t>
            </a:r>
            <a:endParaRPr lang="en-US" sz="3400" dirty="0"/>
          </a:p>
        </p:txBody>
      </p:sp>
      <p:sp>
        <p:nvSpPr>
          <p:cNvPr id="19" name="Text 15"/>
          <p:cNvSpPr txBox="1"/>
          <p:nvPr/>
        </p:nvSpPr>
        <p:spPr>
          <a:xfrm>
            <a:off x="8732520" y="4526280"/>
            <a:ext cx="2834640" cy="274320"/>
          </a:xfrm>
          <a:prstGeom prst="rect">
            <a:avLst/>
          </a:prstGeom>
          <a:noFill/>
          <a:ln/>
        </p:spPr>
        <p:txBody>
          <a:bodyPr wrap="square" lIns="0" tIns="0" rIns="0" bIns="0" rtlCol="0" anchor="t"/>
          <a:lstStyle/>
          <a:p>
            <a:pPr algn="l" indent="0" marL="0">
              <a:lnSpc>
                <a:spcPct val="105000"/>
              </a:lnSpc>
              <a:buNone/>
            </a:pPr>
            <a:r>
              <a:rPr lang="en-US" sz="1050" b="1" dirty="0">
                <a:solidFill>
                  <a:srgbClr val="111111"/>
                </a:solidFill>
                <a:latin typeface="Calibri" pitchFamily="34" charset="0"/>
                <a:ea typeface="Calibri" pitchFamily="34" charset="-122"/>
                <a:cs typeface="Calibri" pitchFamily="34" charset="-120"/>
              </a:rPr>
              <a:t>biaya per pesanan (multi-factor)</a:t>
            </a:r>
            <a:endParaRPr lang="en-US" sz="1050" dirty="0"/>
          </a:p>
        </p:txBody>
      </p:sp>
      <p:sp>
        <p:nvSpPr>
          <p:cNvPr id="20" name="Text 16"/>
          <p:cNvSpPr txBox="1"/>
          <p:nvPr/>
        </p:nvSpPr>
        <p:spPr>
          <a:xfrm>
            <a:off x="8732520" y="4846320"/>
            <a:ext cx="2834640" cy="1188720"/>
          </a:xfrm>
          <a:prstGeom prst="rect">
            <a:avLst/>
          </a:prstGeom>
          <a:noFill/>
          <a:ln/>
        </p:spPr>
        <p:txBody>
          <a:bodyPr wrap="square" lIns="0" tIns="0" rIns="0" bIns="0" rtlCol="0" anchor="t"/>
          <a:lstStyle/>
          <a:p>
            <a:pPr algn="l" indent="0" marL="0">
              <a:lnSpc>
                <a:spcPct val="105000"/>
              </a:lnSpc>
              <a:buNone/>
            </a:pPr>
            <a:r>
              <a:rPr lang="en-US" sz="1050" dirty="0">
                <a:solidFill>
                  <a:srgbClr val="555555"/>
                </a:solidFill>
                <a:latin typeface="Calibri" pitchFamily="34" charset="0"/>
                <a:ea typeface="Calibri" pitchFamily="34" charset="-122"/>
                <a:cs typeface="Calibri" pitchFamily="34" charset="-120"/>
              </a:rPr>
              <a:t>Ukuran yang layak dipresentasikan: sudah menanggung biaya robot, dan tetap positif.</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15</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D  ·  MENGAPA BERHASIL</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STOK BESAR, TIDAK EFISIEN?</a:t>
            </a:r>
            <a:endParaRPr lang="en-US" sz="2600" dirty="0"/>
          </a:p>
        </p:txBody>
      </p:sp>
      <p:sp>
        <p:nvSpPr>
          <p:cNvPr id="7" name="Shape 4"/>
          <p:cNvSpPr/>
          <p:nvPr/>
        </p:nvSpPr>
        <p:spPr>
          <a:xfrm>
            <a:off x="466344" y="1380744"/>
            <a:ext cx="4206240" cy="4709160"/>
          </a:xfrm>
          <a:prstGeom prst="roundRect">
            <a:avLst>
              <a:gd name="adj" fmla="val 2609"/>
            </a:avLst>
          </a:prstGeom>
          <a:solidFill>
            <a:srgbClr val="232F3E"/>
          </a:solidFill>
          <a:ln w="12700">
            <a:solidFill>
              <a:srgbClr val="232F3E"/>
            </a:solidFill>
            <a:prstDash val="solid"/>
          </a:ln>
        </p:spPr>
      </p:sp>
      <p:sp>
        <p:nvSpPr>
          <p:cNvPr id="8" name="Shape 5"/>
          <p:cNvSpPr/>
          <p:nvPr/>
        </p:nvSpPr>
        <p:spPr>
          <a:xfrm>
            <a:off x="548640" y="1463040"/>
            <a:ext cx="4206240" cy="4709160"/>
          </a:xfrm>
          <a:prstGeom prst="roundRect">
            <a:avLst>
              <a:gd name="adj" fmla="val 2609"/>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77240" y="1627632"/>
            <a:ext cx="3749040" cy="274320"/>
          </a:xfrm>
          <a:prstGeom prst="rect">
            <a:avLst/>
          </a:prstGeom>
          <a:noFill/>
          <a:ln/>
        </p:spPr>
        <p:txBody>
          <a:bodyPr wrap="square" lIns="0" tIns="0" rIns="0" bIns="0" rtlCol="0" anchor="t"/>
          <a:lstStyle/>
          <a:p>
            <a:pPr algn="l" indent="0" marL="0">
              <a:lnSpc>
                <a:spcPct val="105000"/>
              </a:lnSpc>
              <a:buNone/>
            </a:pPr>
            <a:r>
              <a:rPr lang="en-US" sz="1000" b="1" dirty="0">
                <a:solidFill>
                  <a:srgbClr val="FF9900"/>
                </a:solidFill>
                <a:latin typeface="Calibri" pitchFamily="34" charset="0"/>
                <a:ea typeface="Calibri" pitchFamily="34" charset="-122"/>
                <a:cs typeface="Calibri" pitchFamily="34" charset="-120"/>
              </a:rPr>
              <a:t>JAWABAN HARUS DIKEMBALIKAN KE OBJECTIVE</a:t>
            </a:r>
            <a:endParaRPr lang="en-US" sz="1000" dirty="0"/>
          </a:p>
        </p:txBody>
      </p:sp>
      <p:sp>
        <p:nvSpPr>
          <p:cNvPr id="10" name="Text 7"/>
          <p:cNvSpPr txBox="1"/>
          <p:nvPr/>
        </p:nvSpPr>
        <p:spPr>
          <a:xfrm>
            <a:off x="777240" y="1920240"/>
            <a:ext cx="3749040" cy="411480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Buku merumuskan tujuan inventory management sebagai keseimbangan antara investasi persediaan dan layanan pelanggan; persediaan bisa mencapai 50% dari total modal (HRM, hlm. 490). Amazon jelas di sisi investasi besar.</a:t>
            </a:r>
            <a:endParaRPr lang="en-US" sz="1050" dirty="0"/>
          </a:p>
          <a:p>
            <a:pPr algn="l" indent="0" marL="0">
              <a:lnSpc>
                <a:spcPct val="105000"/>
              </a:lnSpc>
              <a:buNone/>
            </a:pP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Amazon tidak meminimalkan stok. Amazon meminimalkan total biaya pada tingkat layanan yang sudah dijanjikan. Pada tingkat itu, kekosongan stok berarti penjualan hilang dan janji fastest delivery rusak: dampaknya signifikan, sehingga stok besar konsisten dengan tujuannya, bukan pemborosan.</a:t>
            </a:r>
            <a:endParaRPr lang="en-US" sz="1050" dirty="0"/>
          </a:p>
          <a:p>
            <a:pPr algn="l" indent="0" marL="0">
              <a:lnSpc>
                <a:spcPct val="105000"/>
              </a:lnSpc>
              <a:buNone/>
            </a:pP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Yang diminimalkan Amazon adalah dua komponen lain: tenaga kerja per pesanan (&lt; 3 menit) dan kesalahan (mendekati nol). Judul profil harus dibaca dengan makna ini: bukan stok sedikit, tetapi stok besar yang dikelola presisi.</a:t>
            </a:r>
            <a:endParaRPr lang="en-US" sz="1050" dirty="0"/>
          </a:p>
        </p:txBody>
      </p:sp>
      <p:sp>
        <p:nvSpPr>
          <p:cNvPr id="11" name="Text 8"/>
          <p:cNvSpPr txBox="1"/>
          <p:nvPr/>
        </p:nvSpPr>
        <p:spPr>
          <a:xfrm>
            <a:off x="5074920" y="1463040"/>
            <a:ext cx="6583680" cy="320040"/>
          </a:xfrm>
          <a:prstGeom prst="rect">
            <a:avLst/>
          </a:prstGeom>
          <a:noFill/>
          <a:ln/>
        </p:spPr>
        <p:txBody>
          <a:bodyPr wrap="square" lIns="0" tIns="0" rIns="0" bIns="0" rtlCol="0" anchor="t"/>
          <a:lstStyle/>
          <a:p>
            <a:pPr indent="0" marL="0">
              <a:buNone/>
            </a:pPr>
            <a:r>
              <a:rPr lang="en-US" sz="1300" b="1" dirty="0">
                <a:solidFill>
                  <a:srgbClr val="111111"/>
                </a:solidFill>
                <a:latin typeface="Arial" pitchFamily="34" charset="0"/>
                <a:ea typeface="Arial" pitchFamily="34" charset="-122"/>
                <a:cs typeface="Arial" pitchFamily="34" charset="-120"/>
              </a:rPr>
              <a:t>D.2 PEMETAAN KE LIMA TUJUAN KINERJA OPERASI</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74920" y="1874520"/>
          <a:ext cx="6583680" cy="914400"/>
        </p:xfrm>
        <a:graphic>
          <a:graphicData uri="http://schemas.openxmlformats.org/drawingml/2006/table">
            <a:tbl>
              <a:tblPr/>
              <a:tblGrid>
                <a:gridCol w="1371600"/>
                <a:gridCol w="2514600"/>
                <a:gridCol w="269748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Tujuan kinerja</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Wujud di Amazon (fakta buku)</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Mekanisme yang menghasilkannya</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Speed</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Tiba 1–2 hari; tenaga kerja &lt; 3 menit per pesanan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Alokasi ke DC yang punya stok; conveyor konstan; picking diurutkan; robot membawa rak</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Quality (bebas kesalahan)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Kesalahan picking mendekati nol; bar code dipindai 15 kali</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Verifikasi di setiap perpindahan; penimbangan sebelum keluar</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Dependability</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Janji 1–2 hari terpenuhi; tidak perlu kontak lanjutan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Ketersediaan stok dan proses terstandar. As promised, bukan sekadar cepat</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Flexibility</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70% pesanan multiproduk dari 200 juta item dilayani satu sistem</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Batch picking ke crate bersama, lalu konsolidasi per pesanan di chute</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Cost</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Harga terendah; 60% kiriman lewat USPS; biaya sort-pick-pack turun 20–40%</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Volume menyerap biaya tetap otomasi; moda kirim murah untuk mayoritas pesanan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13" name="Image 1" descr="/tmp/claude-0/-home-user-Dom-Manipulation/01edd7ad-16e1-5ac5-9e2e-840f37702b96/scratchpad/img/crop/totes.jpg">    </p:cNvPr>
          <p:cNvPicPr>
            <a:picLocks noChangeAspect="1"/>
          </p:cNvPicPr>
          <p:nvPr/>
        </p:nvPicPr>
        <p:blipFill>
          <a:blip r:embed="rId2"/>
          <a:stretch>
            <a:fillRect/>
          </a:stretch>
        </p:blipFill>
        <p:spPr>
          <a:xfrm>
            <a:off x="5074920" y="4343400"/>
            <a:ext cx="3072384" cy="1828800"/>
          </a:xfrm>
          <a:prstGeom prst="rect">
            <a:avLst/>
          </a:prstGeom>
        </p:spPr>
      </p:pic>
      <p:sp>
        <p:nvSpPr>
          <p:cNvPr id="14" name="Shape 9"/>
          <p:cNvSpPr/>
          <p:nvPr/>
        </p:nvSpPr>
        <p:spPr>
          <a:xfrm>
            <a:off x="8330184" y="4261104"/>
            <a:ext cx="3246120" cy="1828800"/>
          </a:xfrm>
          <a:prstGeom prst="roundRect">
            <a:avLst>
              <a:gd name="adj" fmla="val 6000"/>
            </a:avLst>
          </a:prstGeom>
          <a:solidFill>
            <a:srgbClr val="FF9900"/>
          </a:solidFill>
          <a:ln w="12700">
            <a:solidFill>
              <a:srgbClr val="FF9900"/>
            </a:solidFill>
            <a:prstDash val="solid"/>
          </a:ln>
        </p:spPr>
      </p:sp>
      <p:sp>
        <p:nvSpPr>
          <p:cNvPr id="15" name="Shape 10"/>
          <p:cNvSpPr/>
          <p:nvPr/>
        </p:nvSpPr>
        <p:spPr>
          <a:xfrm>
            <a:off x="8412480" y="4343400"/>
            <a:ext cx="3246120"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6" name="Text 11"/>
          <p:cNvSpPr txBox="1"/>
          <p:nvPr/>
        </p:nvSpPr>
        <p:spPr>
          <a:xfrm>
            <a:off x="8641080" y="4480560"/>
            <a:ext cx="2834640" cy="274320"/>
          </a:xfrm>
          <a:prstGeom prst="rect">
            <a:avLst/>
          </a:prstGeom>
          <a:noFill/>
          <a:ln/>
        </p:spPr>
        <p:txBody>
          <a:bodyPr wrap="square" lIns="0" tIns="0" rIns="0" bIns="0" rtlCol="0" anchor="t"/>
          <a:lstStyle/>
          <a:p>
            <a:pPr algn="l" indent="0" marL="0">
              <a:lnSpc>
                <a:spcPct val="105000"/>
              </a:lnSpc>
              <a:buNone/>
            </a:pPr>
            <a:r>
              <a:rPr lang="en-US" sz="900" b="1" dirty="0">
                <a:solidFill>
                  <a:srgbClr val="FF9900"/>
                </a:solidFill>
                <a:latin typeface="Calibri" pitchFamily="34" charset="0"/>
                <a:ea typeface="Calibri" pitchFamily="34" charset="-122"/>
                <a:cs typeface="Calibri" pitchFamily="34" charset="-120"/>
              </a:rPr>
              <a:t>JUDUL PROFIL DI BUKU</a:t>
            </a:r>
            <a:endParaRPr lang="en-US" sz="900" dirty="0"/>
          </a:p>
        </p:txBody>
      </p:sp>
      <p:sp>
        <p:nvSpPr>
          <p:cNvPr id="17" name="Text 12"/>
          <p:cNvSpPr txBox="1"/>
          <p:nvPr/>
        </p:nvSpPr>
        <p:spPr>
          <a:xfrm>
            <a:off x="8641080" y="4754880"/>
            <a:ext cx="2834640" cy="13258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“Inventory management provides competitive advantage.” Dibaca sebagai: stok besar yang dikelola presisi, bukan stok sedikit.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16</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D  ·  D.3</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TIGA TRADE-OFF DAN ATURAN KEPUTUSANNYA</a:t>
            </a:r>
            <a:endParaRPr lang="en-US" sz="2600" dirty="0"/>
          </a:p>
        </p:txBody>
      </p:sp>
      <p:sp>
        <p:nvSpPr>
          <p:cNvPr id="7" name="Text 4"/>
          <p:cNvSpPr txBox="1"/>
          <p:nvPr/>
        </p:nvSpPr>
        <p:spPr>
          <a:xfrm>
            <a:off x="548640" y="1371600"/>
            <a:ext cx="11064240" cy="457200"/>
          </a:xfrm>
          <a:prstGeom prst="rect">
            <a:avLst/>
          </a:prstGeom>
          <a:noFill/>
          <a:ln/>
        </p:spPr>
        <p:txBody>
          <a:bodyPr wrap="square" lIns="0" tIns="0" rIns="0" bIns="0" rtlCol="0" anchor="t"/>
          <a:lstStyle/>
          <a:p>
            <a:pPr algn="l" indent="0" marL="0">
              <a:lnSpc>
                <a:spcPct val="105000"/>
              </a:lnSpc>
              <a:buNone/>
            </a:pPr>
            <a:r>
              <a:rPr lang="en-US" sz="1200" dirty="0">
                <a:solidFill>
                  <a:srgbClr val="555555"/>
                </a:solidFill>
                <a:latin typeface="Calibri" pitchFamily="34" charset="0"/>
                <a:ea typeface="Calibri" pitchFamily="34" charset="-122"/>
                <a:cs typeface="Calibri" pitchFamily="34" charset="-120"/>
              </a:rPr>
              <a:t>Setiap pilihan operasi punya biaya di sisi lain. Keputusan yang baik bukan yang tanpa biaya, tetapi yang sadar biayanya dan bisa menunjukkan mana yang less loss.</a:t>
            </a:r>
            <a:endParaRPr lang="en-US" sz="1200" dirty="0"/>
          </a:p>
        </p:txBody>
      </p:sp>
      <p:sp>
        <p:nvSpPr>
          <p:cNvPr id="8" name="Shape 5"/>
          <p:cNvSpPr/>
          <p:nvPr/>
        </p:nvSpPr>
        <p:spPr>
          <a:xfrm>
            <a:off x="548640" y="20116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731520" y="2148840"/>
            <a:ext cx="128016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//01</a:t>
            </a:r>
            <a:endParaRPr lang="en-US" sz="2000" dirty="0"/>
          </a:p>
        </p:txBody>
      </p:sp>
      <p:sp>
        <p:nvSpPr>
          <p:cNvPr id="10" name="Text 7"/>
          <p:cNvSpPr txBox="1"/>
          <p:nvPr/>
        </p:nvSpPr>
        <p:spPr>
          <a:xfrm>
            <a:off x="1554480" y="2176272"/>
            <a:ext cx="2423160" cy="68580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Holding cost vs service level</a:t>
            </a:r>
            <a:endParaRPr lang="en-US" sz="1150" dirty="0"/>
          </a:p>
        </p:txBody>
      </p:sp>
      <p:sp>
        <p:nvSpPr>
          <p:cNvPr id="11" name="Text 8"/>
          <p:cNvSpPr txBox="1"/>
          <p:nvPr/>
        </p:nvSpPr>
        <p:spPr>
          <a:xfrm>
            <a:off x="731520" y="2926080"/>
            <a:ext cx="3200400" cy="141732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Carrying cost sekitar 26% dari nilai persediaan per tahun (HRM Tabel 12.1, hlm. 496), dan biaya kebijakan naik eksponensial ketika service level dinaikkan (hlm. 510). Stok Amazon mahal, dan makin mahal di tingkat layanan tinggi.</a:t>
            </a:r>
            <a:endParaRPr lang="en-US" sz="950" dirty="0"/>
          </a:p>
        </p:txBody>
      </p:sp>
      <p:sp>
        <p:nvSpPr>
          <p:cNvPr id="12" name="Shape 9"/>
          <p:cNvSpPr/>
          <p:nvPr/>
        </p:nvSpPr>
        <p:spPr>
          <a:xfrm>
            <a:off x="731520" y="4389120"/>
            <a:ext cx="3200400" cy="1645920"/>
          </a:xfrm>
          <a:prstGeom prst="rect">
            <a:avLst/>
          </a:prstGeom>
          <a:solidFill>
            <a:srgbClr val="232F3E"/>
          </a:solidFill>
          <a:ln w="12700">
            <a:solidFill>
              <a:srgbClr val="232F3E"/>
            </a:solidFill>
            <a:prstDash val="solid"/>
          </a:ln>
        </p:spPr>
      </p:sp>
      <p:sp>
        <p:nvSpPr>
          <p:cNvPr id="13" name="Text 10"/>
          <p:cNvSpPr txBox="1"/>
          <p:nvPr/>
        </p:nvSpPr>
        <p:spPr>
          <a:xfrm>
            <a:off x="841248" y="4462272"/>
            <a:ext cx="3017520" cy="228600"/>
          </a:xfrm>
          <a:prstGeom prst="rect">
            <a:avLst/>
          </a:prstGeom>
          <a:noFill/>
          <a:ln/>
        </p:spPr>
        <p:txBody>
          <a:bodyPr wrap="square" lIns="0" tIns="0" rIns="0" bIns="0" rtlCol="0" anchor="t"/>
          <a:lstStyle/>
          <a:p>
            <a:pPr algn="l" indent="0" marL="0">
              <a:lnSpc>
                <a:spcPct val="105000"/>
              </a:lnSpc>
              <a:buNone/>
            </a:pPr>
            <a:r>
              <a:rPr lang="en-US" sz="800" b="1" dirty="0">
                <a:solidFill>
                  <a:srgbClr val="FF9900"/>
                </a:solidFill>
                <a:latin typeface="Calibri" pitchFamily="34" charset="0"/>
                <a:ea typeface="Calibri" pitchFamily="34" charset="-122"/>
                <a:cs typeface="Calibri" pitchFamily="34" charset="-120"/>
              </a:rPr>
              <a:t>ATURAN KEPUTUSAN</a:t>
            </a:r>
            <a:endParaRPr lang="en-US" sz="800" dirty="0"/>
          </a:p>
        </p:txBody>
      </p:sp>
      <p:sp>
        <p:nvSpPr>
          <p:cNvPr id="14" name="Text 11"/>
          <p:cNvSpPr txBox="1"/>
          <p:nvPr/>
        </p:nvSpPr>
        <p:spPr>
          <a:xfrm>
            <a:off x="841248" y="4681728"/>
            <a:ext cx="2999232" cy="1325880"/>
          </a:xfrm>
          <a:prstGeom prst="rect">
            <a:avLst/>
          </a:prstGeom>
          <a:noFill/>
          <a:ln/>
        </p:spPr>
        <p:txBody>
          <a:bodyPr wrap="square" lIns="0" tIns="0" rIns="0" bIns="0" rtlCol="0" anchor="t"/>
          <a:lstStyle/>
          <a:p>
            <a:pPr algn="l" indent="0" marL="0">
              <a:lnSpc>
                <a:spcPct val="105000"/>
              </a:lnSpc>
              <a:buNone/>
            </a:pPr>
            <a:r>
              <a:rPr lang="en-US" sz="900" dirty="0">
                <a:solidFill>
                  <a:srgbClr val="FFFFFF"/>
                </a:solidFill>
                <a:latin typeface="Calibri" pitchFamily="34" charset="0"/>
                <a:ea typeface="Calibri" pitchFamily="34" charset="-122"/>
                <a:cs typeface="Calibri" pitchFamily="34" charset="-120"/>
              </a:rPr>
              <a:t>Bandingkan biaya simpan tambahan dengan biaya kekosongan. Kalau biaya kekosongan (penjualan hilang + janji rusak) lebih besar, naikkan stok. Untuk ritel daring biaya kekosongan tinggi: pilihan Amazon konsisten.</a:t>
            </a:r>
            <a:endParaRPr lang="en-US" sz="900" dirty="0"/>
          </a:p>
        </p:txBody>
      </p:sp>
      <p:sp>
        <p:nvSpPr>
          <p:cNvPr id="15" name="Shape 12"/>
          <p:cNvSpPr/>
          <p:nvPr/>
        </p:nvSpPr>
        <p:spPr>
          <a:xfrm>
            <a:off x="4215384" y="1929384"/>
            <a:ext cx="3566160" cy="4160520"/>
          </a:xfrm>
          <a:prstGeom prst="roundRect">
            <a:avLst>
              <a:gd name="adj" fmla="val 3077"/>
            </a:avLst>
          </a:prstGeom>
          <a:solidFill>
            <a:srgbClr val="FF9900"/>
          </a:solidFill>
          <a:ln w="12700">
            <a:solidFill>
              <a:srgbClr val="FF9900"/>
            </a:solidFill>
            <a:prstDash val="solid"/>
          </a:ln>
        </p:spPr>
      </p:sp>
      <p:sp>
        <p:nvSpPr>
          <p:cNvPr id="16" name="Shape 13"/>
          <p:cNvSpPr/>
          <p:nvPr/>
        </p:nvSpPr>
        <p:spPr>
          <a:xfrm>
            <a:off x="4297680" y="20116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7" name="Text 14"/>
          <p:cNvSpPr txBox="1"/>
          <p:nvPr/>
        </p:nvSpPr>
        <p:spPr>
          <a:xfrm>
            <a:off x="4480560" y="2148840"/>
            <a:ext cx="128016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//02</a:t>
            </a:r>
            <a:endParaRPr lang="en-US" sz="2000" dirty="0"/>
          </a:p>
        </p:txBody>
      </p:sp>
      <p:sp>
        <p:nvSpPr>
          <p:cNvPr id="18" name="Text 15"/>
          <p:cNvSpPr txBox="1"/>
          <p:nvPr/>
        </p:nvSpPr>
        <p:spPr>
          <a:xfrm>
            <a:off x="5303520" y="2176272"/>
            <a:ext cx="2423160" cy="68580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Otomasi (biaya tetap) vs kesalahan dan tenaga kerja (biaya variabel)</a:t>
            </a:r>
            <a:endParaRPr lang="en-US" sz="1150" dirty="0"/>
          </a:p>
        </p:txBody>
      </p:sp>
      <p:sp>
        <p:nvSpPr>
          <p:cNvPr id="19" name="Text 16"/>
          <p:cNvSpPr txBox="1"/>
          <p:nvPr/>
        </p:nvSpPr>
        <p:spPr>
          <a:xfrm>
            <a:off x="4480560" y="2926080"/>
            <a:ext cx="3200400" cy="141732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Pemindaian 15 kali, penimbangan, dan robot adalah biaya tetap plus biaya per transaksi kecil. Kesalahan menimbulkan biaya return, kirim ulang, dan hilangnya kepercayaan.</a:t>
            </a:r>
            <a:endParaRPr lang="en-US" sz="950" dirty="0"/>
          </a:p>
        </p:txBody>
      </p:sp>
      <p:sp>
        <p:nvSpPr>
          <p:cNvPr id="20" name="Shape 17"/>
          <p:cNvSpPr/>
          <p:nvPr/>
        </p:nvSpPr>
        <p:spPr>
          <a:xfrm>
            <a:off x="4480560" y="4389120"/>
            <a:ext cx="3200400" cy="1645920"/>
          </a:xfrm>
          <a:prstGeom prst="rect">
            <a:avLst/>
          </a:prstGeom>
          <a:solidFill>
            <a:srgbClr val="232F3E"/>
          </a:solidFill>
          <a:ln w="12700">
            <a:solidFill>
              <a:srgbClr val="232F3E"/>
            </a:solidFill>
            <a:prstDash val="solid"/>
          </a:ln>
        </p:spPr>
      </p:sp>
      <p:sp>
        <p:nvSpPr>
          <p:cNvPr id="21" name="Text 18"/>
          <p:cNvSpPr txBox="1"/>
          <p:nvPr/>
        </p:nvSpPr>
        <p:spPr>
          <a:xfrm>
            <a:off x="4590288" y="4462272"/>
            <a:ext cx="3017520" cy="228600"/>
          </a:xfrm>
          <a:prstGeom prst="rect">
            <a:avLst/>
          </a:prstGeom>
          <a:noFill/>
          <a:ln/>
        </p:spPr>
        <p:txBody>
          <a:bodyPr wrap="square" lIns="0" tIns="0" rIns="0" bIns="0" rtlCol="0" anchor="t"/>
          <a:lstStyle/>
          <a:p>
            <a:pPr algn="l" indent="0" marL="0">
              <a:lnSpc>
                <a:spcPct val="105000"/>
              </a:lnSpc>
              <a:buNone/>
            </a:pPr>
            <a:r>
              <a:rPr lang="en-US" sz="800" b="1" dirty="0">
                <a:solidFill>
                  <a:srgbClr val="FF9900"/>
                </a:solidFill>
                <a:latin typeface="Calibri" pitchFamily="34" charset="0"/>
                <a:ea typeface="Calibri" pitchFamily="34" charset="-122"/>
                <a:cs typeface="Calibri" pitchFamily="34" charset="-120"/>
              </a:rPr>
              <a:t>ATURAN KEPUTUSAN</a:t>
            </a:r>
            <a:endParaRPr lang="en-US" sz="800" dirty="0"/>
          </a:p>
        </p:txBody>
      </p:sp>
      <p:sp>
        <p:nvSpPr>
          <p:cNvPr id="22" name="Text 19"/>
          <p:cNvSpPr txBox="1"/>
          <p:nvPr/>
        </p:nvSpPr>
        <p:spPr>
          <a:xfrm>
            <a:off x="4590288" y="4681728"/>
            <a:ext cx="2999232" cy="1325880"/>
          </a:xfrm>
          <a:prstGeom prst="rect">
            <a:avLst/>
          </a:prstGeom>
          <a:noFill/>
          <a:ln/>
        </p:spPr>
        <p:txBody>
          <a:bodyPr wrap="square" lIns="0" tIns="0" rIns="0" bIns="0" rtlCol="0" anchor="t"/>
          <a:lstStyle/>
          <a:p>
            <a:pPr algn="l" indent="0" marL="0">
              <a:lnSpc>
                <a:spcPct val="105000"/>
              </a:lnSpc>
              <a:buNone/>
            </a:pPr>
            <a:r>
              <a:rPr lang="en-US" sz="900" dirty="0">
                <a:solidFill>
                  <a:srgbClr val="FFFFFF"/>
                </a:solidFill>
                <a:latin typeface="Calibri" pitchFamily="34" charset="0"/>
                <a:ea typeface="Calibri" pitchFamily="34" charset="-122"/>
                <a:cs typeface="Calibri" pitchFamily="34" charset="-120"/>
              </a:rPr>
              <a:t>Otomasi layak kalau (penghematan per pesanan) × (pesanan per tahun) &gt; biaya tahunan otomasi. Penghematan hanya US$0,70–1,50 per pesanan; baru berarti pada volume Amazon. Penentunya volume, bukan teknologinya.</a:t>
            </a:r>
            <a:endParaRPr lang="en-US" sz="900" dirty="0"/>
          </a:p>
        </p:txBody>
      </p:sp>
      <p:sp>
        <p:nvSpPr>
          <p:cNvPr id="23" name="Shape 20"/>
          <p:cNvSpPr/>
          <p:nvPr/>
        </p:nvSpPr>
        <p:spPr>
          <a:xfrm>
            <a:off x="8046720" y="2011680"/>
            <a:ext cx="3566160" cy="4160520"/>
          </a:xfrm>
          <a:prstGeom prst="roundRect">
            <a:avLst>
              <a:gd name="adj" fmla="val 3077"/>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4" name="Text 21"/>
          <p:cNvSpPr txBox="1"/>
          <p:nvPr/>
        </p:nvSpPr>
        <p:spPr>
          <a:xfrm>
            <a:off x="8229600" y="2148840"/>
            <a:ext cx="1280160" cy="457200"/>
          </a:xfrm>
          <a:prstGeom prst="rect">
            <a:avLst/>
          </a:prstGeom>
          <a:noFill/>
          <a:ln/>
        </p:spPr>
        <p:txBody>
          <a:bodyPr wrap="square" lIns="0" tIns="0" rIns="0" bIns="0" rtlCol="0" anchor="ctr"/>
          <a:lstStyle/>
          <a:p>
            <a:pPr indent="0" marL="0">
              <a:buNone/>
            </a:pPr>
            <a:r>
              <a:rPr lang="en-US" sz="2000" b="1" dirty="0">
                <a:solidFill>
                  <a:srgbClr val="FF9900"/>
                </a:solidFill>
                <a:latin typeface="Arial" pitchFamily="34" charset="0"/>
                <a:ea typeface="Arial" pitchFamily="34" charset="-122"/>
                <a:cs typeface="Arial" pitchFamily="34" charset="-120"/>
              </a:rPr>
              <a:t>//03</a:t>
            </a:r>
            <a:endParaRPr lang="en-US" sz="2000" dirty="0"/>
          </a:p>
        </p:txBody>
      </p:sp>
      <p:sp>
        <p:nvSpPr>
          <p:cNvPr id="25" name="Text 22"/>
          <p:cNvSpPr txBox="1"/>
          <p:nvPr/>
        </p:nvSpPr>
        <p:spPr>
          <a:xfrm>
            <a:off x="9052560" y="2176272"/>
            <a:ext cx="2423160" cy="685800"/>
          </a:xfrm>
          <a:prstGeom prst="rect">
            <a:avLst/>
          </a:prstGeom>
          <a:noFill/>
          <a:ln/>
        </p:spPr>
        <p:txBody>
          <a:bodyPr wrap="square" lIns="0" tIns="0" rIns="0" bIns="0" rtlCol="0" anchor="t"/>
          <a:lstStyle/>
          <a:p>
            <a:pPr algn="l" indent="0" marL="0">
              <a:lnSpc>
                <a:spcPct val="105000"/>
              </a:lnSpc>
              <a:buNone/>
            </a:pPr>
            <a:r>
              <a:rPr lang="en-US" sz="1150" b="1" dirty="0">
                <a:solidFill>
                  <a:srgbClr val="111111"/>
                </a:solidFill>
                <a:latin typeface="Calibri" pitchFamily="34" charset="0"/>
                <a:ea typeface="Calibri" pitchFamily="34" charset="-122"/>
                <a:cs typeface="Calibri" pitchFamily="34" charset="-120"/>
              </a:rPr>
              <a:t>Kecepatan kirim vs biaya kirim</a:t>
            </a:r>
            <a:endParaRPr lang="en-US" sz="1150" dirty="0"/>
          </a:p>
        </p:txBody>
      </p:sp>
      <p:sp>
        <p:nvSpPr>
          <p:cNvPr id="26" name="Text 23"/>
          <p:cNvSpPr txBox="1"/>
          <p:nvPr/>
        </p:nvSpPr>
        <p:spPr>
          <a:xfrm>
            <a:off x="8229600" y="2926080"/>
            <a:ext cx="3200400" cy="141732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Suplemen 11 (hlm. 477): kirim lebih cepat biasanya lebih mahal; barang lebih lama di jalan menahan modal lebih lama. Amazon mengirim 60% pesanan lewat USPS, moda yang murah.</a:t>
            </a:r>
            <a:endParaRPr lang="en-US" sz="950" dirty="0"/>
          </a:p>
        </p:txBody>
      </p:sp>
      <p:sp>
        <p:nvSpPr>
          <p:cNvPr id="27" name="Shape 24"/>
          <p:cNvSpPr/>
          <p:nvPr/>
        </p:nvSpPr>
        <p:spPr>
          <a:xfrm>
            <a:off x="8229600" y="4389120"/>
            <a:ext cx="3200400" cy="1645920"/>
          </a:xfrm>
          <a:prstGeom prst="rect">
            <a:avLst/>
          </a:prstGeom>
          <a:solidFill>
            <a:srgbClr val="232F3E"/>
          </a:solidFill>
          <a:ln w="12700">
            <a:solidFill>
              <a:srgbClr val="232F3E"/>
            </a:solidFill>
            <a:prstDash val="solid"/>
          </a:ln>
        </p:spPr>
      </p:sp>
      <p:sp>
        <p:nvSpPr>
          <p:cNvPr id="28" name="Text 25"/>
          <p:cNvSpPr txBox="1"/>
          <p:nvPr/>
        </p:nvSpPr>
        <p:spPr>
          <a:xfrm>
            <a:off x="8339328" y="4462272"/>
            <a:ext cx="3017520" cy="228600"/>
          </a:xfrm>
          <a:prstGeom prst="rect">
            <a:avLst/>
          </a:prstGeom>
          <a:noFill/>
          <a:ln/>
        </p:spPr>
        <p:txBody>
          <a:bodyPr wrap="square" lIns="0" tIns="0" rIns="0" bIns="0" rtlCol="0" anchor="t"/>
          <a:lstStyle/>
          <a:p>
            <a:pPr algn="l" indent="0" marL="0">
              <a:lnSpc>
                <a:spcPct val="105000"/>
              </a:lnSpc>
              <a:buNone/>
            </a:pPr>
            <a:r>
              <a:rPr lang="en-US" sz="800" b="1" dirty="0">
                <a:solidFill>
                  <a:srgbClr val="FF9900"/>
                </a:solidFill>
                <a:latin typeface="Calibri" pitchFamily="34" charset="0"/>
                <a:ea typeface="Calibri" pitchFamily="34" charset="-122"/>
                <a:cs typeface="Calibri" pitchFamily="34" charset="-120"/>
              </a:rPr>
              <a:t>ATURAN KEPUTUSAN</a:t>
            </a:r>
            <a:endParaRPr lang="en-US" sz="800" dirty="0"/>
          </a:p>
        </p:txBody>
      </p:sp>
      <p:sp>
        <p:nvSpPr>
          <p:cNvPr id="29" name="Text 26"/>
          <p:cNvSpPr txBox="1"/>
          <p:nvPr/>
        </p:nvSpPr>
        <p:spPr>
          <a:xfrm>
            <a:off x="8339328" y="4681728"/>
            <a:ext cx="2999232" cy="1325880"/>
          </a:xfrm>
          <a:prstGeom prst="rect">
            <a:avLst/>
          </a:prstGeom>
          <a:noFill/>
          <a:ln/>
        </p:spPr>
        <p:txBody>
          <a:bodyPr wrap="square" lIns="0" tIns="0" rIns="0" bIns="0" rtlCol="0" anchor="t"/>
          <a:lstStyle/>
          <a:p>
            <a:pPr algn="l" indent="0" marL="0">
              <a:lnSpc>
                <a:spcPct val="105000"/>
              </a:lnSpc>
              <a:buNone/>
            </a:pPr>
            <a:r>
              <a:rPr lang="en-US" sz="900" dirty="0">
                <a:solidFill>
                  <a:srgbClr val="FFFFFF"/>
                </a:solidFill>
                <a:latin typeface="Calibri" pitchFamily="34" charset="0"/>
                <a:ea typeface="Calibri" pitchFamily="34" charset="-122"/>
                <a:cs typeface="Calibri" pitchFamily="34" charset="-120"/>
              </a:rPr>
              <a:t>Kecepatan 1–2 hari tidak dibeli dari moda mahal; dibangun dari dalam: stok sudah di DC dekat pelanggan dan proses gudang pendek. Target harga terendah dan tercepat bisa dipegang bersamaan.</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17</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D  ·  D.4 DAN D.5</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TRADE-OFF NYATA, ATAU SEARAH?</a:t>
            </a:r>
            <a:endParaRPr lang="en-US" sz="2600" dirty="0"/>
          </a:p>
        </p:txBody>
      </p:sp>
      <p:sp>
        <p:nvSpPr>
          <p:cNvPr id="7" name="Text 4"/>
          <p:cNvSpPr txBox="1"/>
          <p:nvPr/>
        </p:nvSpPr>
        <p:spPr>
          <a:xfrm>
            <a:off x="548640" y="1371600"/>
            <a:ext cx="6949440" cy="54864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Sebelum menyimpulkan ada trade-off, periksa dulu apakah dua tujuan itu benar bertentangan atau justru complementary. Kalau searah, tidak perlu ditimbang; kerjakan saja.</a:t>
            </a:r>
            <a:endParaRPr lang="en-US" sz="11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6949440" cy="914400"/>
        </p:xfrm>
        <a:graphic>
          <a:graphicData uri="http://schemas.openxmlformats.org/drawingml/2006/table">
            <a:tbl>
              <a:tblPr/>
              <a:tblGrid>
                <a:gridCol w="2011680"/>
                <a:gridCol w="1325880"/>
                <a:gridCol w="361188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Pasangan tujuan</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Hubungan</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Alasan</a:t>
                      </a:r>
                      <a:endParaRPr lang="en-US" sz="90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Akurasi (kesalahan nol) vs biaya</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Searah</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Setiap kesalahan yang dicegah menghilangkan biaya return. Tidak ada yang perlu dikorbankan.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Kecepatan proses internal vs biaya</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Searah</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&lt; 3 menit per pesanan sekaligus menekan biaya dan mempercepat; robot menghemat jalan kaki dan biaya sort-pick-pack bersamaan.</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Ketersediaan stok vs holding cost</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Trade-off nyata</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Stok pengaman menaikkan biaya simpan; tidak ada mekanisme yang menghilangkannya. Amazon memilih sadar di sisi service level tinggi.</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50" b="1" dirty="0">
                          <a:solidFill>
                            <a:srgbClr val="111111"/>
                          </a:solidFill>
                          <a:latin typeface="Calibri" pitchFamily="34" charset="0"/>
                          <a:ea typeface="Calibri" pitchFamily="34" charset="-122"/>
                          <a:cs typeface="Calibri" pitchFamily="34" charset="-120"/>
                        </a:rPr>
                        <a:t>Kecepatan kirim vs biaya kirim</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Trade-off nyata, dihindari</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50" dirty="0">
                          <a:solidFill>
                            <a:srgbClr val="555555"/>
                          </a:solidFill>
                          <a:latin typeface="Calibri" pitchFamily="34" charset="0"/>
                          <a:ea typeface="Calibri" pitchFamily="34" charset="-122"/>
                          <a:cs typeface="Calibri" pitchFamily="34" charset="-120"/>
                        </a:rPr>
                        <a:t>Sumber kecepatan dipindahkan dari moda kirim ke posisi stok dan proses gudang, sehingga moda murah tetap bisa dipakai.</a:t>
                      </a:r>
                      <a:endParaRPr lang="en-US" sz="95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bl>
          </a:graphicData>
        </a:graphic>
      </p:graphicFrame>
      <p:sp>
        <p:nvSpPr>
          <p:cNvPr id="9" name="Shape 5"/>
          <p:cNvSpPr/>
          <p:nvPr/>
        </p:nvSpPr>
        <p:spPr>
          <a:xfrm>
            <a:off x="466344" y="4992624"/>
            <a:ext cx="6949440" cy="1097280"/>
          </a:xfrm>
          <a:prstGeom prst="roundRect">
            <a:avLst>
              <a:gd name="adj" fmla="val 10000"/>
            </a:avLst>
          </a:prstGeom>
          <a:solidFill>
            <a:srgbClr val="232F3E"/>
          </a:solidFill>
          <a:ln w="12700">
            <a:solidFill>
              <a:srgbClr val="232F3E"/>
            </a:solidFill>
            <a:prstDash val="solid"/>
          </a:ln>
        </p:spPr>
      </p:sp>
      <p:sp>
        <p:nvSpPr>
          <p:cNvPr id="10" name="Shape 6"/>
          <p:cNvSpPr/>
          <p:nvPr/>
        </p:nvSpPr>
        <p:spPr>
          <a:xfrm>
            <a:off x="548640" y="5074920"/>
            <a:ext cx="6949440" cy="1097280"/>
          </a:xfrm>
          <a:prstGeom prst="roundRect">
            <a:avLst>
              <a:gd name="adj" fmla="val 10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1" name="Text 7"/>
          <p:cNvSpPr txBox="1"/>
          <p:nvPr/>
        </p:nvSpPr>
        <p:spPr>
          <a:xfrm>
            <a:off x="777240" y="5212080"/>
            <a:ext cx="6492240" cy="8686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Kesimpulan: dari tiga target Bezos, hanya ketersediaan stok yang benar-benar menuntut pengorbanan biaya. Dua target lain justru menurunkan biaya. Karena itu Amazon bisa menuntut ketiganya sekaligus tanpa terjebak memilih satu strategi generik.</a:t>
            </a:r>
            <a:endParaRPr lang="en-US" sz="1050" dirty="0"/>
          </a:p>
        </p:txBody>
      </p:sp>
      <p:sp>
        <p:nvSpPr>
          <p:cNvPr id="12" name="Text 8"/>
          <p:cNvSpPr txBox="1"/>
          <p:nvPr/>
        </p:nvSpPr>
        <p:spPr>
          <a:xfrm>
            <a:off x="7863840" y="1371600"/>
            <a:ext cx="3840480" cy="320040"/>
          </a:xfrm>
          <a:prstGeom prst="rect">
            <a:avLst/>
          </a:prstGeom>
          <a:noFill/>
          <a:ln/>
        </p:spPr>
        <p:txBody>
          <a:bodyPr wrap="square" lIns="0" tIns="0" rIns="0" bIns="0" rtlCol="0" anchor="t"/>
          <a:lstStyle/>
          <a:p>
            <a:pPr indent="0" marL="0">
              <a:buNone/>
            </a:pPr>
            <a:r>
              <a:rPr lang="en-US" sz="1300" b="1" dirty="0">
                <a:solidFill>
                  <a:srgbClr val="111111"/>
                </a:solidFill>
                <a:latin typeface="Arial" pitchFamily="34" charset="0"/>
                <a:ea typeface="Arial" pitchFamily="34" charset="-122"/>
                <a:cs typeface="Arial" pitchFamily="34" charset="-120"/>
              </a:rPr>
              <a:t>D.5 EFFICIENT FRONTIER</a:t>
            </a:r>
            <a:endParaRPr lang="en-US" sz="1300" dirty="0"/>
          </a:p>
        </p:txBody>
      </p:sp>
      <p:sp>
        <p:nvSpPr>
          <p:cNvPr id="13" name="Text 9"/>
          <p:cNvSpPr txBox="1"/>
          <p:nvPr/>
        </p:nvSpPr>
        <p:spPr>
          <a:xfrm>
            <a:off x="7863840" y="1691640"/>
            <a:ext cx="3840480" cy="640080"/>
          </a:xfrm>
          <a:prstGeom prst="rect">
            <a:avLst/>
          </a:prstGeom>
          <a:noFill/>
          <a:ln/>
        </p:spPr>
        <p:txBody>
          <a:bodyPr wrap="square" lIns="0" tIns="0" rIns="0" bIns="0" rtlCol="0" anchor="t"/>
          <a:lstStyle/>
          <a:p>
            <a:pPr algn="l" indent="0" marL="0">
              <a:lnSpc>
                <a:spcPct val="105000"/>
              </a:lnSpc>
              <a:buNone/>
            </a:pPr>
            <a:r>
              <a:rPr lang="en-US" sz="950" dirty="0">
                <a:solidFill>
                  <a:srgbClr val="555555"/>
                </a:solidFill>
                <a:latin typeface="Calibri" pitchFamily="34" charset="0"/>
                <a:ea typeface="Calibri" pitchFamily="34" charset="-122"/>
                <a:cs typeface="Calibri" pitchFamily="34" charset="-120"/>
              </a:rPr>
              <a:t>Alternatif yang didominasi (lebih mahal dan lebih lambat sekaligus) dicoret; sisanya membentuk frontier, pilihannya diserahkan ke preferensi.</a:t>
            </a:r>
            <a:endParaRPr lang="en-US" sz="950" dirty="0"/>
          </a:p>
        </p:txBody>
      </p:sp>
      <p:sp>
        <p:nvSpPr>
          <p:cNvPr id="14" name="Shape 10"/>
          <p:cNvSpPr/>
          <p:nvPr/>
        </p:nvSpPr>
        <p:spPr>
          <a:xfrm>
            <a:off x="7863840" y="2423160"/>
            <a:ext cx="3840480"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5" name="Text 11"/>
          <p:cNvSpPr txBox="1"/>
          <p:nvPr/>
        </p:nvSpPr>
        <p:spPr>
          <a:xfrm>
            <a:off x="8046720" y="2606040"/>
            <a:ext cx="548640" cy="548640"/>
          </a:xfrm>
          <a:prstGeom prst="rect">
            <a:avLst/>
          </a:prstGeom>
          <a:noFill/>
          <a:ln/>
        </p:spPr>
        <p:txBody>
          <a:bodyPr wrap="square" lIns="0" tIns="0" rIns="0" bIns="0" rtlCol="0" anchor="ctr"/>
          <a:lstStyle/>
          <a:p>
            <a:pPr indent="0" marL="0">
              <a:buNone/>
            </a:pPr>
            <a:r>
              <a:rPr lang="en-US" sz="2400" b="1" dirty="0">
                <a:solidFill>
                  <a:srgbClr val="FF9900"/>
                </a:solidFill>
                <a:latin typeface="Arial" pitchFamily="34" charset="0"/>
                <a:ea typeface="Arial" pitchFamily="34" charset="-122"/>
                <a:cs typeface="Arial" pitchFamily="34" charset="-120"/>
              </a:rPr>
              <a:t>A</a:t>
            </a:r>
            <a:endParaRPr lang="en-US" sz="2400" dirty="0"/>
          </a:p>
        </p:txBody>
      </p:sp>
      <p:sp>
        <p:nvSpPr>
          <p:cNvPr id="16" name="Text 12"/>
          <p:cNvSpPr txBox="1"/>
          <p:nvPr/>
        </p:nvSpPr>
        <p:spPr>
          <a:xfrm>
            <a:off x="8641080" y="2514600"/>
            <a:ext cx="2971800" cy="274320"/>
          </a:xfrm>
          <a:prstGeom prst="rect">
            <a:avLst/>
          </a:prstGeom>
          <a:noFill/>
          <a:ln/>
        </p:spPr>
        <p:txBody>
          <a:bodyPr wrap="square" lIns="0" tIns="0" rIns="0" bIns="0" rtlCol="0" anchor="t"/>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Pengecer virtual (1995)</a:t>
            </a:r>
            <a:endParaRPr lang="en-US" sz="1100" dirty="0"/>
          </a:p>
        </p:txBody>
      </p:sp>
      <p:sp>
        <p:nvSpPr>
          <p:cNvPr id="17" name="Text 13"/>
          <p:cNvSpPr txBox="1"/>
          <p:nvPr/>
        </p:nvSpPr>
        <p:spPr>
          <a:xfrm>
            <a:off x="8641080" y="2770632"/>
            <a:ext cx="2971800" cy="54864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Modal paling rendah, tetapi tidak memenuhi constraint bebas kesalahan dan tercepat.</a:t>
            </a:r>
            <a:endParaRPr lang="en-US" sz="850" dirty="0"/>
          </a:p>
        </p:txBody>
      </p:sp>
      <p:sp>
        <p:nvSpPr>
          <p:cNvPr id="18" name="Shape 14"/>
          <p:cNvSpPr/>
          <p:nvPr/>
        </p:nvSpPr>
        <p:spPr>
          <a:xfrm>
            <a:off x="7863840" y="3474720"/>
            <a:ext cx="3840480" cy="914400"/>
          </a:xfrm>
          <a:prstGeom prst="roundRect">
            <a:avLst>
              <a:gd name="adj" fmla="val 12000"/>
            </a:avLst>
          </a:prstGeom>
          <a:solidFill>
            <a:srgbClr val="F3F3F3"/>
          </a:solidFill>
          <a:ln w="12700">
            <a:solidFill>
              <a:srgbClr val="F3F3F3"/>
            </a:solidFill>
            <a:prstDash val="solid"/>
          </a:ln>
          <a:effectLst>
            <a:outerShdw sx="100000" sy="100000" kx="0" ky="0" algn="bl" rotWithShape="0" blurRad="76200" dist="25400" dir="2700000">
              <a:srgbClr val="000000">
                <a:alpha val="16000"/>
              </a:srgbClr>
            </a:outerShdw>
          </a:effectLst>
        </p:spPr>
      </p:sp>
      <p:sp>
        <p:nvSpPr>
          <p:cNvPr id="19" name="Text 15"/>
          <p:cNvSpPr txBox="1"/>
          <p:nvPr/>
        </p:nvSpPr>
        <p:spPr>
          <a:xfrm>
            <a:off x="8046720" y="3657600"/>
            <a:ext cx="548640" cy="548640"/>
          </a:xfrm>
          <a:prstGeom prst="rect">
            <a:avLst/>
          </a:prstGeom>
          <a:noFill/>
          <a:ln/>
        </p:spPr>
        <p:txBody>
          <a:bodyPr wrap="square" lIns="0" tIns="0" rIns="0" bIns="0" rtlCol="0" anchor="ctr"/>
          <a:lstStyle/>
          <a:p>
            <a:pPr indent="0" marL="0">
              <a:buNone/>
            </a:pPr>
            <a:r>
              <a:rPr lang="en-US" sz="2400" b="1" strike="sngStrike" dirty="0">
                <a:solidFill>
                  <a:srgbClr val="8A8A8A"/>
                </a:solidFill>
                <a:latin typeface="Arial" pitchFamily="34" charset="0"/>
                <a:ea typeface="Arial" pitchFamily="34" charset="-122"/>
                <a:cs typeface="Arial" pitchFamily="34" charset="-120"/>
              </a:rPr>
              <a:t>B</a:t>
            </a:r>
            <a:endParaRPr lang="en-US" sz="2400" dirty="0"/>
          </a:p>
        </p:txBody>
      </p:sp>
      <p:sp>
        <p:nvSpPr>
          <p:cNvPr id="20" name="Text 16"/>
          <p:cNvSpPr txBox="1"/>
          <p:nvPr/>
        </p:nvSpPr>
        <p:spPr>
          <a:xfrm>
            <a:off x="8641080" y="3566160"/>
            <a:ext cx="2971800" cy="274320"/>
          </a:xfrm>
          <a:prstGeom prst="rect">
            <a:avLst/>
          </a:prstGeom>
          <a:noFill/>
          <a:ln/>
        </p:spPr>
        <p:txBody>
          <a:bodyPr wrap="square" lIns="0" tIns="0" rIns="0" bIns="0" rtlCol="0" anchor="t"/>
          <a:lstStyle/>
          <a:p>
            <a:pPr algn="l" indent="0" marL="0">
              <a:lnSpc>
                <a:spcPct val="105000"/>
              </a:lnSpc>
              <a:buNone/>
            </a:pPr>
            <a:r>
              <a:rPr lang="en-US" sz="1100" b="1" dirty="0">
                <a:solidFill>
                  <a:srgbClr val="8A8A8A"/>
                </a:solidFill>
                <a:latin typeface="Calibri" pitchFamily="34" charset="0"/>
                <a:ea typeface="Calibri" pitchFamily="34" charset="-122"/>
                <a:cs typeface="Calibri" pitchFamily="34" charset="-120"/>
              </a:rPr>
              <a:t>Gudang sendiri, manual</a:t>
            </a:r>
            <a:endParaRPr lang="en-US" sz="1100" dirty="0"/>
          </a:p>
        </p:txBody>
      </p:sp>
      <p:sp>
        <p:nvSpPr>
          <p:cNvPr id="21" name="Text 17"/>
          <p:cNvSpPr txBox="1"/>
          <p:nvPr/>
        </p:nvSpPr>
        <p:spPr>
          <a:xfrm>
            <a:off x="8641080" y="3822192"/>
            <a:ext cx="2971800" cy="548640"/>
          </a:xfrm>
          <a:prstGeom prst="rect">
            <a:avLst/>
          </a:prstGeom>
          <a:noFill/>
          <a:ln/>
        </p:spPr>
        <p:txBody>
          <a:bodyPr wrap="square" lIns="0" tIns="0" rIns="0" bIns="0" rtlCol="0" anchor="t"/>
          <a:lstStyle/>
          <a:p>
            <a:pPr algn="l" indent="0" marL="0">
              <a:lnSpc>
                <a:spcPct val="105000"/>
              </a:lnSpc>
              <a:buNone/>
            </a:pPr>
            <a:r>
              <a:rPr lang="en-US" sz="850" dirty="0">
                <a:solidFill>
                  <a:srgbClr val="8A8A8A"/>
                </a:solidFill>
                <a:latin typeface="Calibri" pitchFamily="34" charset="0"/>
                <a:ea typeface="Calibri" pitchFamily="34" charset="-122"/>
                <a:cs typeface="Calibri" pitchFamily="34" charset="-120"/>
              </a:rPr>
              <a:t>US$3,50–3,75 per pesanan, risiko kesalahan manusia. Didominasi C pada volume Amazon: dicoret.</a:t>
            </a:r>
            <a:endParaRPr lang="en-US" sz="850" dirty="0"/>
          </a:p>
        </p:txBody>
      </p:sp>
      <p:sp>
        <p:nvSpPr>
          <p:cNvPr id="22" name="Shape 18"/>
          <p:cNvSpPr/>
          <p:nvPr/>
        </p:nvSpPr>
        <p:spPr>
          <a:xfrm>
            <a:off x="7781544" y="4443984"/>
            <a:ext cx="3840480" cy="914400"/>
          </a:xfrm>
          <a:prstGeom prst="roundRect">
            <a:avLst>
              <a:gd name="adj" fmla="val 12000"/>
            </a:avLst>
          </a:prstGeom>
          <a:solidFill>
            <a:srgbClr val="FF9900"/>
          </a:solidFill>
          <a:ln w="12700">
            <a:solidFill>
              <a:srgbClr val="FF9900"/>
            </a:solidFill>
            <a:prstDash val="solid"/>
          </a:ln>
        </p:spPr>
      </p:sp>
      <p:sp>
        <p:nvSpPr>
          <p:cNvPr id="23" name="Shape 19"/>
          <p:cNvSpPr/>
          <p:nvPr/>
        </p:nvSpPr>
        <p:spPr>
          <a:xfrm>
            <a:off x="7863840" y="4526280"/>
            <a:ext cx="3840480" cy="914400"/>
          </a:xfrm>
          <a:prstGeom prst="roundRect">
            <a:avLst>
              <a:gd name="adj" fmla="val 12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4" name="Text 20"/>
          <p:cNvSpPr txBox="1"/>
          <p:nvPr/>
        </p:nvSpPr>
        <p:spPr>
          <a:xfrm>
            <a:off x="8046720" y="4709160"/>
            <a:ext cx="548640" cy="548640"/>
          </a:xfrm>
          <a:prstGeom prst="rect">
            <a:avLst/>
          </a:prstGeom>
          <a:noFill/>
          <a:ln/>
        </p:spPr>
        <p:txBody>
          <a:bodyPr wrap="square" lIns="0" tIns="0" rIns="0" bIns="0" rtlCol="0" anchor="ctr"/>
          <a:lstStyle/>
          <a:p>
            <a:pPr indent="0" marL="0">
              <a:buNone/>
            </a:pPr>
            <a:r>
              <a:rPr lang="en-US" sz="2400" b="1" dirty="0">
                <a:solidFill>
                  <a:srgbClr val="FF9900"/>
                </a:solidFill>
                <a:latin typeface="Arial" pitchFamily="34" charset="0"/>
                <a:ea typeface="Arial" pitchFamily="34" charset="-122"/>
                <a:cs typeface="Arial" pitchFamily="34" charset="-120"/>
              </a:rPr>
              <a:t>C</a:t>
            </a:r>
            <a:endParaRPr lang="en-US" sz="2400" dirty="0"/>
          </a:p>
        </p:txBody>
      </p:sp>
      <p:sp>
        <p:nvSpPr>
          <p:cNvPr id="25" name="Text 21"/>
          <p:cNvSpPr txBox="1"/>
          <p:nvPr/>
        </p:nvSpPr>
        <p:spPr>
          <a:xfrm>
            <a:off x="8641080" y="4617720"/>
            <a:ext cx="2971800" cy="274320"/>
          </a:xfrm>
          <a:prstGeom prst="rect">
            <a:avLst/>
          </a:prstGeom>
          <a:noFill/>
          <a:ln/>
        </p:spPr>
        <p:txBody>
          <a:bodyPr wrap="square" lIns="0" tIns="0" rIns="0" bIns="0" rtlCol="0" anchor="t"/>
          <a:lstStyle/>
          <a:p>
            <a:pPr algn="l" indent="0" marL="0">
              <a:lnSpc>
                <a:spcPct val="105000"/>
              </a:lnSpc>
              <a:buNone/>
            </a:pPr>
            <a:r>
              <a:rPr lang="en-US" sz="1100" b="1" dirty="0">
                <a:solidFill>
                  <a:srgbClr val="111111"/>
                </a:solidFill>
                <a:latin typeface="Calibri" pitchFamily="34" charset="0"/>
                <a:ea typeface="Calibri" pitchFamily="34" charset="-122"/>
                <a:cs typeface="Calibri" pitchFamily="34" charset="-120"/>
              </a:rPr>
              <a:t>Gudang sendiri, terotomasi</a:t>
            </a:r>
            <a:endParaRPr lang="en-US" sz="1100" dirty="0"/>
          </a:p>
        </p:txBody>
      </p:sp>
      <p:sp>
        <p:nvSpPr>
          <p:cNvPr id="26" name="Text 22"/>
          <p:cNvSpPr txBox="1"/>
          <p:nvPr/>
        </p:nvSpPr>
        <p:spPr>
          <a:xfrm>
            <a:off x="8641080" y="4873752"/>
            <a:ext cx="2971800" cy="54864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Biaya turun 20–40%, kesalahan mendekati nol, 1–2 hari. Di frontier; dipilih sesuai value proposition.</a:t>
            </a:r>
            <a:endParaRPr lang="en-US" sz="850" dirty="0"/>
          </a:p>
        </p:txBody>
      </p:sp>
      <p:sp>
        <p:nvSpPr>
          <p:cNvPr id="27" name="Text 23"/>
          <p:cNvSpPr txBox="1"/>
          <p:nvPr/>
        </p:nvSpPr>
        <p:spPr>
          <a:xfrm>
            <a:off x="7863840" y="5577840"/>
            <a:ext cx="3840480" cy="640080"/>
          </a:xfrm>
          <a:prstGeom prst="rect">
            <a:avLst/>
          </a:prstGeom>
          <a:noFill/>
          <a:ln/>
        </p:spPr>
        <p:txBody>
          <a:bodyPr wrap="square" lIns="0" tIns="0" rIns="0" bIns="0" rtlCol="0" anchor="t"/>
          <a:lstStyle/>
          <a:p>
            <a:pPr algn="l" indent="0" marL="0">
              <a:lnSpc>
                <a:spcPct val="105000"/>
              </a:lnSpc>
              <a:buNone/>
            </a:pPr>
            <a:r>
              <a:rPr lang="en-US" sz="900" i="1" dirty="0">
                <a:solidFill>
                  <a:srgbClr val="232F3E"/>
                </a:solidFill>
                <a:latin typeface="Calibri" pitchFamily="34" charset="0"/>
                <a:ea typeface="Calibri" pitchFamily="34" charset="-122"/>
                <a:cs typeface="Calibri" pitchFamily="34" charset="-120"/>
              </a:rPr>
              <a:t>Catatan: dominasi C atas B hanya berlaku pada volume Amazon. Pada volume kecil, biaya tetap robot tidak terserap dan B kembali ke frontier. Tidak ada jawaban pasti untuk semua perusahaan.</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18</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E</a:t>
            </a:r>
            <a:endParaRPr lang="en-US" sz="1000" dirty="0"/>
          </a:p>
        </p:txBody>
      </p:sp>
      <p:sp>
        <p:nvSpPr>
          <p:cNvPr id="6" name="Text 3"/>
          <p:cNvSpPr txBox="1"/>
          <p:nvPr/>
        </p:nvSpPr>
        <p:spPr>
          <a:xfrm>
            <a:off x="548640" y="731520"/>
            <a:ext cx="100584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PINTU MASUK KE TEORI BAB 12</a:t>
            </a:r>
            <a:endParaRPr lang="en-US" sz="2600" dirty="0"/>
          </a:p>
        </p:txBody>
      </p:sp>
      <p:sp>
        <p:nvSpPr>
          <p:cNvPr id="7" name="Text 4"/>
          <p:cNvSpPr txBox="1"/>
          <p:nvPr/>
        </p:nvSpPr>
        <p:spPr>
          <a:xfrm>
            <a:off x="548640" y="1325880"/>
            <a:ext cx="7863840" cy="50292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Sengaja ringkas. Kolom status menyatakan apakah kaitan itu disebut buku secara eksplisit atau merupakan inferensi, supaya di kelas jelas mana yang bisa dipegang.</a:t>
            </a:r>
            <a:endParaRPr lang="en-US" sz="11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7863840" cy="914400"/>
        </p:xfrm>
        <a:graphic>
          <a:graphicData uri="http://schemas.openxmlformats.org/drawingml/2006/table">
            <a:tbl>
              <a:tblPr/>
              <a:tblGrid>
                <a:gridCol w="3017520"/>
                <a:gridCol w="3291840"/>
                <a:gridCol w="1554480"/>
              </a:tblGrid>
              <a:tr h="0">
                <a:tc>
                  <a:txBody>
                    <a:bodyPr/>
                    <a:lstStyle/>
                    <a:p>
                      <a:pPr indent="0" marL="0">
                        <a:buNone/>
                      </a:pPr>
                      <a:r>
                        <a:rPr lang="en-US" sz="850" b="1" dirty="0">
                          <a:solidFill>
                            <a:srgbClr val="FFFFFF"/>
                          </a:solidFill>
                          <a:latin typeface="Arial" pitchFamily="34" charset="0"/>
                          <a:ea typeface="Arial" pitchFamily="34" charset="-122"/>
                          <a:cs typeface="Arial" pitchFamily="34" charset="-120"/>
                        </a:rPr>
                        <a:t>Konsep (HRM Bab 12)</a:t>
                      </a:r>
                      <a:endParaRPr lang="en-US" sz="8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Wujud di Amazon</a:t>
                      </a:r>
                      <a:endParaRPr lang="en-US" sz="8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Status</a:t>
                      </a:r>
                      <a:endParaRPr lang="en-US" sz="850" dirty="0">
                        <a:latin typeface="Arial" charset="0"/>
                        <a:ea typeface="Arial" charset="0"/>
                        <a:cs typeface="Arial"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232F3E"/>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Fungsi persediaan no. 1: pilihan barang untuk permintaan yang diantisipasi (hlm. 490)</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Jutaan item di 150+ gudang; buku menyebut fungsi ini tipikal ritel</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Eksplisit</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Record accuracy: sistem perpetual dengan bar code (hlm. 493)</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Bar code dipindai 15 kali; alokasi dari Seattle mengandalkan catatan stok per DC</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Eksplisit (pindai); inferensi (alokasi)</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Cycle counting (hlm. 493–494)</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Tidak disebut; verifikasi berkala tetap diperlukan untuk kesalahan fisik</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Tidak disebut; asumsi</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ABC analysis / Pareto (hlm. 491–492)</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Tidak disebut di profil; praktik 2023: same-day facility menyimpan 100.000 item terlaris per wilayah</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Sumber lain</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Kontrol persediaan ritel: barang masuk dan keluar dengan bar code (hlm. 494–495)</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Setiap item dan kotak diberi bar code; penimbangan sebelum keluar gudang</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Eksplisit</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Independent demand; ROP = permintaan selama lead time + Zσ (hlm. 495, 510)</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Service level tinggi menuntut safety stock besar, sejalan dengan investasi persediaan Amazon</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Inferensi</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AFAFA"/>
                    </a:solidFill>
                  </a:tcPr>
                </a:tc>
              </a:tr>
              <a:tr h="0">
                <a:tc>
                  <a:txBody>
                    <a:bodyPr/>
                    <a:lstStyle/>
                    <a:p>
                      <a:pPr indent="0" marL="0">
                        <a:buNone/>
                      </a:pPr>
                      <a:r>
                        <a:rPr lang="en-US" sz="900" b="1" dirty="0">
                          <a:solidFill>
                            <a:srgbClr val="111111"/>
                          </a:solidFill>
                          <a:latin typeface="Calibri" pitchFamily="34" charset="0"/>
                          <a:ea typeface="Calibri" pitchFamily="34" charset="-122"/>
                          <a:cs typeface="Calibri" pitchFamily="34" charset="-120"/>
                        </a:rPr>
                        <a:t>Penempatan di gudang: rasio trip/blok tertinggi paling dekat dock (Supl. 11, hlm. 478)</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“Picking is sequenced to reduce operator travel”; robot membuat slotting bisa diatur perangkat lunak</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900" dirty="0">
                          <a:solidFill>
                            <a:srgbClr val="555555"/>
                          </a:solidFill>
                          <a:latin typeface="Calibri" pitchFamily="34" charset="0"/>
                          <a:ea typeface="Calibri" pitchFamily="34" charset="-122"/>
                          <a:cs typeface="Calibri" pitchFamily="34" charset="-120"/>
                        </a:rPr>
                        <a:t>Eksplisit; inferensi (slotting)</a:t>
                      </a:r>
                      <a:endParaRPr lang="en-US" sz="900" dirty="0">
                        <a:latin typeface="Calibri" charset="0"/>
                        <a:ea typeface="Calibri" charset="0"/>
                        <a:cs typeface="Calibri" charset="0"/>
                      </a:endParaRPr>
                    </a:p>
                  </a:txBody>
                  <a:tcPr marL="54864" marR="54864" marT="54864" marB="54864" anchor="t">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9" name="Image 1" descr="/tmp/claude-0/-home-user-Dom-Manipulation/01edd7ad-16e1-5ac5-9e2e-840f37702b96/scratchpad/img/crop/shelves.jpg">    </p:cNvPr>
          <p:cNvPicPr>
            <a:picLocks noChangeAspect="1"/>
          </p:cNvPicPr>
          <p:nvPr/>
        </p:nvPicPr>
        <p:blipFill>
          <a:blip r:embed="rId2"/>
          <a:stretch>
            <a:fillRect/>
          </a:stretch>
        </p:blipFill>
        <p:spPr>
          <a:xfrm>
            <a:off x="8732520" y="1371600"/>
            <a:ext cx="3017520" cy="1563482"/>
          </a:xfrm>
          <a:prstGeom prst="rect">
            <a:avLst/>
          </a:prstGeom>
        </p:spPr>
      </p:pic>
      <p:sp>
        <p:nvSpPr>
          <p:cNvPr id="10" name="Shape 5"/>
          <p:cNvSpPr/>
          <p:nvPr/>
        </p:nvSpPr>
        <p:spPr>
          <a:xfrm>
            <a:off x="8650224" y="3118104"/>
            <a:ext cx="3017520" cy="2971800"/>
          </a:xfrm>
          <a:prstGeom prst="roundRect">
            <a:avLst>
              <a:gd name="adj" fmla="val 3692"/>
            </a:avLst>
          </a:prstGeom>
          <a:solidFill>
            <a:srgbClr val="232F3E"/>
          </a:solidFill>
          <a:ln w="12700">
            <a:solidFill>
              <a:srgbClr val="232F3E"/>
            </a:solidFill>
            <a:prstDash val="solid"/>
          </a:ln>
        </p:spPr>
      </p:sp>
      <p:sp>
        <p:nvSpPr>
          <p:cNvPr id="11" name="Shape 6"/>
          <p:cNvSpPr/>
          <p:nvPr/>
        </p:nvSpPr>
        <p:spPr>
          <a:xfrm>
            <a:off x="8732520" y="3200400"/>
            <a:ext cx="3017520" cy="2971800"/>
          </a:xfrm>
          <a:prstGeom prst="roundRect">
            <a:avLst>
              <a:gd name="adj" fmla="val 3692"/>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2" name="Text 7"/>
          <p:cNvSpPr txBox="1"/>
          <p:nvPr/>
        </p:nvSpPr>
        <p:spPr>
          <a:xfrm>
            <a:off x="8961120" y="3364992"/>
            <a:ext cx="2651760" cy="274320"/>
          </a:xfrm>
          <a:prstGeom prst="rect">
            <a:avLst/>
          </a:prstGeom>
          <a:noFill/>
          <a:ln/>
        </p:spPr>
        <p:txBody>
          <a:bodyPr wrap="square" lIns="0" tIns="0" rIns="0" bIns="0" rtlCol="0" anchor="t"/>
          <a:lstStyle/>
          <a:p>
            <a:pPr algn="l" indent="0" marL="0">
              <a:lnSpc>
                <a:spcPct val="105000"/>
              </a:lnSpc>
              <a:buNone/>
            </a:pPr>
            <a:r>
              <a:rPr lang="en-US" sz="1000" b="1" dirty="0">
                <a:solidFill>
                  <a:srgbClr val="FF9900"/>
                </a:solidFill>
                <a:latin typeface="Calibri" pitchFamily="34" charset="0"/>
                <a:ea typeface="Calibri" pitchFamily="34" charset="-122"/>
                <a:cs typeface="Calibri" pitchFamily="34" charset="-120"/>
              </a:rPr>
              <a:t>INSIGHT</a:t>
            </a:r>
            <a:endParaRPr lang="en-US" sz="1000" dirty="0"/>
          </a:p>
        </p:txBody>
      </p:sp>
      <p:sp>
        <p:nvSpPr>
          <p:cNvPr id="13" name="Text 8"/>
          <p:cNvSpPr txBox="1"/>
          <p:nvPr/>
        </p:nvSpPr>
        <p:spPr>
          <a:xfrm>
            <a:off x="8961120" y="3657600"/>
            <a:ext cx="2606040" cy="246888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Profil Amazon menekankan sisi pengendalian (akurasi catatan, kontrol barang keluar, aliran kerja), bukan sisi model kuantitatif (EOQ, ROP). Ini masuk akal: model berapa dan kapan hanya berguna kalau angka stok yang menjadi masukannya benar.</a:t>
            </a:r>
            <a:endParaRPr lang="en-US" sz="1050" dirty="0"/>
          </a:p>
          <a:p>
            <a:pPr algn="l" indent="0" marL="0">
              <a:lnSpc>
                <a:spcPct val="105000"/>
              </a:lnSpc>
              <a:buNone/>
            </a:pP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Urutannya: akurasi dulu, model kemudian.</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45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19</a:t>
            </a:r>
            <a:endParaRPr lang="en-US" sz="900" dirty="0"/>
          </a:p>
        </p:txBody>
      </p:sp>
      <p:sp>
        <p:nvSpPr>
          <p:cNvPr id="5" name="Text 2"/>
          <p:cNvSpPr txBox="1"/>
          <p:nvPr/>
        </p:nvSpPr>
        <p:spPr>
          <a:xfrm>
            <a:off x="548640" y="457200"/>
            <a:ext cx="64008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F  ·  PERKEMBANGAN SETELAH BUKU TERBIT</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ARAH TETAP, ALATNYA BERUBAH</a:t>
            </a:r>
            <a:endParaRPr lang="en-US" sz="2600" dirty="0"/>
          </a:p>
        </p:txBody>
      </p:sp>
      <p:sp>
        <p:nvSpPr>
          <p:cNvPr id="7" name="Text 4"/>
          <p:cNvSpPr txBox="1"/>
          <p:nvPr/>
        </p:nvSpPr>
        <p:spPr>
          <a:xfrm>
            <a:off x="548640" y="1371600"/>
            <a:ext cx="7498080" cy="548640"/>
          </a:xfrm>
          <a:prstGeom prst="rect">
            <a:avLst/>
          </a:prstGeom>
          <a:noFill/>
          <a:ln/>
        </p:spPr>
        <p:txBody>
          <a:bodyPr wrap="square" lIns="0" tIns="0" rIns="0" bIns="0" rtlCol="0" anchor="t"/>
          <a:lstStyle/>
          <a:p>
            <a:pPr algn="l" indent="0" marL="0">
              <a:lnSpc>
                <a:spcPct val="105000"/>
              </a:lnSpc>
              <a:buNone/>
            </a:pPr>
            <a:r>
              <a:rPr lang="en-US" sz="1150" dirty="0">
                <a:solidFill>
                  <a:srgbClr val="555555"/>
                </a:solidFill>
                <a:latin typeface="Calibri" pitchFamily="34" charset="0"/>
                <a:ea typeface="Calibri" pitchFamily="34" charset="-122"/>
                <a:cs typeface="Calibri" pitchFamily="34" charset="-120"/>
              </a:rPr>
              <a:t>Buku menggambarkan kondisi sekitar 2017. Sumber berikut dari blog resmi para penulis buku (The OM Blog by Heizer, Render &amp; Munson), sehingga sejalan dengan rujukan kelas.</a:t>
            </a:r>
            <a:endParaRPr lang="en-US" sz="1150" dirty="0"/>
          </a:p>
        </p:txBody>
      </p:sp>
      <p:sp>
        <p:nvSpPr>
          <p:cNvPr id="8" name="Shape 5"/>
          <p:cNvSpPr/>
          <p:nvPr/>
        </p:nvSpPr>
        <p:spPr>
          <a:xfrm>
            <a:off x="466344" y="2020824"/>
            <a:ext cx="3657600" cy="4069080"/>
          </a:xfrm>
          <a:prstGeom prst="roundRect">
            <a:avLst>
              <a:gd name="adj" fmla="val 3000"/>
            </a:avLst>
          </a:prstGeom>
          <a:solidFill>
            <a:srgbClr val="232F3E"/>
          </a:solidFill>
          <a:ln w="12700">
            <a:solidFill>
              <a:srgbClr val="232F3E"/>
            </a:solidFill>
            <a:prstDash val="solid"/>
          </a:ln>
        </p:spPr>
      </p:sp>
      <p:sp>
        <p:nvSpPr>
          <p:cNvPr id="9" name="Shape 6"/>
          <p:cNvSpPr/>
          <p:nvPr/>
        </p:nvSpPr>
        <p:spPr>
          <a:xfrm>
            <a:off x="548640" y="2103120"/>
            <a:ext cx="3657600" cy="4069080"/>
          </a:xfrm>
          <a:prstGeom prst="roundRect">
            <a:avLst>
              <a:gd name="adj" fmla="val 3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0" name="Text 7"/>
          <p:cNvSpPr txBox="1"/>
          <p:nvPr/>
        </p:nvSpPr>
        <p:spPr>
          <a:xfrm>
            <a:off x="777240" y="2240280"/>
            <a:ext cx="3200400" cy="548640"/>
          </a:xfrm>
          <a:prstGeom prst="rect">
            <a:avLst/>
          </a:prstGeom>
          <a:noFill/>
          <a:ln/>
        </p:spPr>
        <p:txBody>
          <a:bodyPr wrap="square" lIns="0" tIns="0" rIns="0" bIns="0" rtlCol="0" anchor="ctr"/>
          <a:lstStyle/>
          <a:p>
            <a:pPr indent="0" marL="0">
              <a:buNone/>
            </a:pPr>
            <a:r>
              <a:rPr lang="en-US" sz="3000" b="1" dirty="0">
                <a:solidFill>
                  <a:srgbClr val="FF9900"/>
                </a:solidFill>
                <a:latin typeface="Arial" pitchFamily="34" charset="0"/>
                <a:ea typeface="Arial" pitchFamily="34" charset="-122"/>
                <a:cs typeface="Arial" pitchFamily="34" charset="-120"/>
              </a:rPr>
              <a:t>2023</a:t>
            </a:r>
            <a:endParaRPr lang="en-US" sz="3000" dirty="0"/>
          </a:p>
        </p:txBody>
      </p:sp>
      <p:sp>
        <p:nvSpPr>
          <p:cNvPr id="11" name="Text 8"/>
          <p:cNvSpPr txBox="1"/>
          <p:nvPr/>
        </p:nvSpPr>
        <p:spPr>
          <a:xfrm>
            <a:off x="777240" y="2788920"/>
            <a:ext cx="3200400" cy="274320"/>
          </a:xfrm>
          <a:prstGeom prst="rect">
            <a:avLst/>
          </a:prstGeom>
          <a:noFill/>
          <a:ln/>
        </p:spPr>
        <p:txBody>
          <a:bodyPr wrap="square" lIns="0" tIns="0" rIns="0" bIns="0" rtlCol="0" anchor="t"/>
          <a:lstStyle/>
          <a:p>
            <a:pPr algn="l" indent="0" marL="0">
              <a:lnSpc>
                <a:spcPct val="105000"/>
              </a:lnSpc>
              <a:buNone/>
            </a:pPr>
            <a:r>
              <a:rPr lang="en-US" sz="900" i="1" dirty="0">
                <a:solidFill>
                  <a:srgbClr val="8A8A8A"/>
                </a:solidFill>
                <a:latin typeface="Calibri" pitchFamily="34" charset="0"/>
                <a:ea typeface="Calibri" pitchFamily="34" charset="-122"/>
                <a:cs typeface="Calibri" pitchFamily="34" charset="-120"/>
              </a:rPr>
              <a:t>OM Blog, 18 Nov 2023 (video Wall Street Journal)</a:t>
            </a:r>
            <a:endParaRPr lang="en-US" sz="900" dirty="0"/>
          </a:p>
        </p:txBody>
      </p:sp>
      <p:sp>
        <p:nvSpPr>
          <p:cNvPr id="12" name="Text 9"/>
          <p:cNvSpPr txBox="1"/>
          <p:nvPr/>
        </p:nvSpPr>
        <p:spPr>
          <a:xfrm>
            <a:off x="777240" y="3108960"/>
            <a:ext cx="3200400" cy="20116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Jaringan AS dibagi 8 wilayah dengan stok lengkap per wilayah; &gt;76% permintaan dipenuhi dari dalam wilayahnya</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Same-day facility menyimpan 100.000 item terlaris per wilayah, dipilih dengan machine learning</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Rata-rata picking sampai paket di dock keluar: 11 menit</a:t>
            </a:r>
            <a:endParaRPr lang="en-US" sz="1050" dirty="0"/>
          </a:p>
        </p:txBody>
      </p:sp>
      <p:sp>
        <p:nvSpPr>
          <p:cNvPr id="13" name="Shape 10"/>
          <p:cNvSpPr/>
          <p:nvPr/>
        </p:nvSpPr>
        <p:spPr>
          <a:xfrm>
            <a:off x="777240" y="5166360"/>
            <a:ext cx="3200400" cy="868680"/>
          </a:xfrm>
          <a:prstGeom prst="rect">
            <a:avLst/>
          </a:prstGeom>
          <a:solidFill>
            <a:srgbClr val="F3F3F3"/>
          </a:solidFill>
          <a:ln w="12700">
            <a:solidFill>
              <a:srgbClr val="F3F3F3"/>
            </a:solidFill>
            <a:prstDash val="solid"/>
          </a:ln>
        </p:spPr>
      </p:sp>
      <p:sp>
        <p:nvSpPr>
          <p:cNvPr id="14" name="Text 11"/>
          <p:cNvSpPr txBox="1"/>
          <p:nvPr/>
        </p:nvSpPr>
        <p:spPr>
          <a:xfrm>
            <a:off x="868680" y="5212080"/>
            <a:ext cx="3017520" cy="822960"/>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Melanjutkan langkah 1 (alokasi ke DC) menjadi keputusan where per wilayah. Pemilihan 100.000 item terlaris adalah Pareto/ABC pada penempatan stok.</a:t>
            </a:r>
            <a:endParaRPr lang="en-US" sz="850" dirty="0"/>
          </a:p>
        </p:txBody>
      </p:sp>
      <p:sp>
        <p:nvSpPr>
          <p:cNvPr id="15" name="Shape 12"/>
          <p:cNvSpPr/>
          <p:nvPr/>
        </p:nvSpPr>
        <p:spPr>
          <a:xfrm>
            <a:off x="4352544" y="2020824"/>
            <a:ext cx="3657600" cy="4069080"/>
          </a:xfrm>
          <a:prstGeom prst="roundRect">
            <a:avLst>
              <a:gd name="adj" fmla="val 3000"/>
            </a:avLst>
          </a:prstGeom>
          <a:solidFill>
            <a:srgbClr val="FF9900"/>
          </a:solidFill>
          <a:ln w="12700">
            <a:solidFill>
              <a:srgbClr val="FF9900"/>
            </a:solidFill>
            <a:prstDash val="solid"/>
          </a:ln>
        </p:spPr>
      </p:sp>
      <p:sp>
        <p:nvSpPr>
          <p:cNvPr id="16" name="Shape 13"/>
          <p:cNvSpPr/>
          <p:nvPr/>
        </p:nvSpPr>
        <p:spPr>
          <a:xfrm>
            <a:off x="4434840" y="2103120"/>
            <a:ext cx="3657600" cy="4069080"/>
          </a:xfrm>
          <a:prstGeom prst="roundRect">
            <a:avLst>
              <a:gd name="adj" fmla="val 3000"/>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7" name="Text 14"/>
          <p:cNvSpPr txBox="1"/>
          <p:nvPr/>
        </p:nvSpPr>
        <p:spPr>
          <a:xfrm>
            <a:off x="4663440" y="2240280"/>
            <a:ext cx="3200400" cy="548640"/>
          </a:xfrm>
          <a:prstGeom prst="rect">
            <a:avLst/>
          </a:prstGeom>
          <a:noFill/>
          <a:ln/>
        </p:spPr>
        <p:txBody>
          <a:bodyPr wrap="square" lIns="0" tIns="0" rIns="0" bIns="0" rtlCol="0" anchor="ctr"/>
          <a:lstStyle/>
          <a:p>
            <a:pPr indent="0" marL="0">
              <a:buNone/>
            </a:pPr>
            <a:r>
              <a:rPr lang="en-US" sz="3000" b="1" dirty="0">
                <a:solidFill>
                  <a:srgbClr val="FF9900"/>
                </a:solidFill>
                <a:latin typeface="Arial" pitchFamily="34" charset="0"/>
                <a:ea typeface="Arial" pitchFamily="34" charset="-122"/>
                <a:cs typeface="Arial" pitchFamily="34" charset="-120"/>
              </a:rPr>
              <a:t>2025</a:t>
            </a:r>
            <a:endParaRPr lang="en-US" sz="3000" dirty="0"/>
          </a:p>
        </p:txBody>
      </p:sp>
      <p:sp>
        <p:nvSpPr>
          <p:cNvPr id="18" name="Text 15"/>
          <p:cNvSpPr txBox="1"/>
          <p:nvPr/>
        </p:nvSpPr>
        <p:spPr>
          <a:xfrm>
            <a:off x="4663440" y="2788920"/>
            <a:ext cx="3200400" cy="274320"/>
          </a:xfrm>
          <a:prstGeom prst="rect">
            <a:avLst/>
          </a:prstGeom>
          <a:noFill/>
          <a:ln/>
        </p:spPr>
        <p:txBody>
          <a:bodyPr wrap="square" lIns="0" tIns="0" rIns="0" bIns="0" rtlCol="0" anchor="t"/>
          <a:lstStyle/>
          <a:p>
            <a:pPr algn="l" indent="0" marL="0">
              <a:lnSpc>
                <a:spcPct val="105000"/>
              </a:lnSpc>
              <a:buNone/>
            </a:pPr>
            <a:r>
              <a:rPr lang="en-US" sz="900" i="1" dirty="0">
                <a:solidFill>
                  <a:srgbClr val="8A8A8A"/>
                </a:solidFill>
                <a:latin typeface="Calibri" pitchFamily="34" charset="0"/>
                <a:ea typeface="Calibri" pitchFamily="34" charset="-122"/>
                <a:cs typeface="Calibri" pitchFamily="34" charset="-120"/>
              </a:rPr>
              <a:t>OM Blog, 7 Jul 2025</a:t>
            </a:r>
            <a:endParaRPr lang="en-US" sz="900" dirty="0"/>
          </a:p>
        </p:txBody>
      </p:sp>
      <p:sp>
        <p:nvSpPr>
          <p:cNvPr id="19" name="Text 16"/>
          <p:cNvSpPr txBox="1"/>
          <p:nvPr/>
        </p:nvSpPr>
        <p:spPr>
          <a:xfrm>
            <a:off x="4663440" y="3108960"/>
            <a:ext cx="3200400" cy="20116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Lebih dari satu juta robot beroperasi; sekitar 75% pengiriman global melibatkan bantuan robot</a:t>
            </a:r>
            <a:endParaRPr lang="en-US" sz="1050" dirty="0"/>
          </a:p>
          <a:p>
            <a:pPr marL="342900" indent="-342900">
              <a:lnSpc>
                <a:spcPct val="105000"/>
              </a:lnSpc>
              <a:spcAft>
                <a:spcPts val="500"/>
              </a:spcAft>
              <a:buSzPct val="100000"/>
              <a:buChar char="■"/>
            </a:pPr>
            <a:r>
              <a:rPr lang="en-US" sz="1050" dirty="0">
                <a:solidFill>
                  <a:srgbClr val="555555"/>
                </a:solidFill>
                <a:latin typeface="Calibri" pitchFamily="34" charset="0"/>
                <a:ea typeface="Calibri" pitchFamily="34" charset="-122"/>
                <a:cs typeface="Calibri" pitchFamily="34" charset="-120"/>
              </a:rPr>
              <a:t>Paket terkirim per karyawan per tahun naik dari 175 menjadi 3.870 dalam satu dekade</a:t>
            </a:r>
            <a:endParaRPr lang="en-US" sz="1050" dirty="0"/>
          </a:p>
        </p:txBody>
      </p:sp>
      <p:sp>
        <p:nvSpPr>
          <p:cNvPr id="20" name="Shape 17"/>
          <p:cNvSpPr/>
          <p:nvPr/>
        </p:nvSpPr>
        <p:spPr>
          <a:xfrm>
            <a:off x="4663440" y="5166360"/>
            <a:ext cx="3200400" cy="868680"/>
          </a:xfrm>
          <a:prstGeom prst="rect">
            <a:avLst/>
          </a:prstGeom>
          <a:solidFill>
            <a:srgbClr val="F3F3F3"/>
          </a:solidFill>
          <a:ln w="12700">
            <a:solidFill>
              <a:srgbClr val="F3F3F3"/>
            </a:solidFill>
            <a:prstDash val="solid"/>
          </a:ln>
        </p:spPr>
      </p:sp>
      <p:sp>
        <p:nvSpPr>
          <p:cNvPr id="21" name="Text 18"/>
          <p:cNvSpPr txBox="1"/>
          <p:nvPr/>
        </p:nvSpPr>
        <p:spPr>
          <a:xfrm>
            <a:off x="4754880" y="5212080"/>
            <a:ext cx="3017520" cy="822960"/>
          </a:xfrm>
          <a:prstGeom prst="rect">
            <a:avLst/>
          </a:prstGeom>
          <a:noFill/>
          <a:ln/>
        </p:spPr>
        <p:txBody>
          <a:bodyPr wrap="square" lIns="0" tIns="0" rIns="0" bIns="0" rtlCol="0" anchor="t"/>
          <a:lstStyle/>
          <a:p>
            <a:pPr algn="l" indent="0" marL="0">
              <a:lnSpc>
                <a:spcPct val="105000"/>
              </a:lnSpc>
              <a:buNone/>
            </a:pPr>
            <a:r>
              <a:rPr lang="en-US" sz="850" dirty="0">
                <a:solidFill>
                  <a:srgbClr val="232F3E"/>
                </a:solidFill>
                <a:latin typeface="Calibri" pitchFamily="34" charset="0"/>
                <a:ea typeface="Calibri" pitchFamily="34" charset="-122"/>
                <a:cs typeface="Calibri" pitchFamily="34" charset="-120"/>
              </a:rPr>
              <a:t>Melanjutkan langkah 3 (picking terotomasi). Ingat C.3: angka per karyawan adalah ukuran single-factor; jangan dibaca sebagai efisiensi total.</a:t>
            </a:r>
            <a:endParaRPr lang="en-US" sz="850" dirty="0"/>
          </a:p>
        </p:txBody>
      </p:sp>
      <p:pic>
        <p:nvPicPr>
          <p:cNvPr id="22" name="Image 1" descr="/tmp/claude-0/-home-user-Dom-Manipulation/01edd7ad-16e1-5ac5-9e2e-840f37702b96/scratchpad/img/crop/robots.jpg">    </p:cNvPr>
          <p:cNvPicPr>
            <a:picLocks noChangeAspect="1"/>
          </p:cNvPicPr>
          <p:nvPr/>
        </p:nvPicPr>
        <p:blipFill>
          <a:blip r:embed="rId2"/>
          <a:stretch>
            <a:fillRect/>
          </a:stretch>
        </p:blipFill>
        <p:spPr>
          <a:xfrm>
            <a:off x="8366760" y="1371600"/>
            <a:ext cx="3383280" cy="1922318"/>
          </a:xfrm>
          <a:prstGeom prst="rect">
            <a:avLst/>
          </a:prstGeom>
        </p:spPr>
      </p:pic>
      <p:sp>
        <p:nvSpPr>
          <p:cNvPr id="23" name="Shape 19"/>
          <p:cNvSpPr/>
          <p:nvPr/>
        </p:nvSpPr>
        <p:spPr>
          <a:xfrm>
            <a:off x="8284464" y="3438144"/>
            <a:ext cx="3383280" cy="2651760"/>
          </a:xfrm>
          <a:prstGeom prst="roundRect">
            <a:avLst>
              <a:gd name="adj" fmla="val 4138"/>
            </a:avLst>
          </a:prstGeom>
          <a:solidFill>
            <a:srgbClr val="232F3E"/>
          </a:solidFill>
          <a:ln w="12700">
            <a:solidFill>
              <a:srgbClr val="232F3E"/>
            </a:solidFill>
            <a:prstDash val="solid"/>
          </a:ln>
        </p:spPr>
      </p:sp>
      <p:sp>
        <p:nvSpPr>
          <p:cNvPr id="24" name="Shape 20"/>
          <p:cNvSpPr/>
          <p:nvPr/>
        </p:nvSpPr>
        <p:spPr>
          <a:xfrm>
            <a:off x="8366760" y="3520440"/>
            <a:ext cx="3383280" cy="2651760"/>
          </a:xfrm>
          <a:prstGeom prst="roundRect">
            <a:avLst>
              <a:gd name="adj" fmla="val 4138"/>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5" name="Text 21"/>
          <p:cNvSpPr txBox="1"/>
          <p:nvPr/>
        </p:nvSpPr>
        <p:spPr>
          <a:xfrm>
            <a:off x="8595360" y="3703320"/>
            <a:ext cx="2926080" cy="2286000"/>
          </a:xfrm>
          <a:prstGeom prst="rect">
            <a:avLst/>
          </a:prstGeom>
          <a:noFill/>
          <a:ln/>
        </p:spPr>
        <p:txBody>
          <a:bodyPr wrap="square" lIns="0" tIns="0" rIns="0" bIns="0" rtlCol="0" anchor="t"/>
          <a:lstStyle/>
          <a:p>
            <a:pPr algn="l" indent="0" marL="0">
              <a:lnSpc>
                <a:spcPct val="105000"/>
              </a:lnSpc>
              <a:buNone/>
            </a:pPr>
            <a:r>
              <a:rPr lang="en-US" sz="1100" dirty="0">
                <a:solidFill>
                  <a:srgbClr val="111111"/>
                </a:solidFill>
                <a:latin typeface="Calibri" pitchFamily="34" charset="0"/>
                <a:ea typeface="Calibri" pitchFamily="34" charset="-122"/>
                <a:cs typeface="Calibri" pitchFamily="34" charset="-120"/>
              </a:rPr>
              <a:t>Kecepatan tetap dicapai lewat posisi stok yang mendekat ke pelanggan; akurasi dan biaya lewat otomasi. Yang berubah adalah alatnya: pembagian wilayah, prediksi permintaan per wilayah, dan skala robot.</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tmp/claude-0/-home-user-Dom-Manipulation/01edd7ad-16e1-5ac5-9e2e-840f37702b96/scratchpad/img/map_bg.jpg">    </p:cNvPr>
          <p:cNvPicPr>
            <a:picLocks noChangeAspect="1"/>
          </p:cNvPicPr>
          <p:nvPr/>
        </p:nvPicPr>
        <p:blipFill>
          <a:blip r:embed="rId1">
            <a:alphaModFix amt="60000"/>
          </a:blip>
          <a:stretch>
            <a:fillRect/>
          </a:stretch>
        </p:blipFill>
        <p:spPr>
          <a:xfrm>
            <a:off x="0" y="0"/>
            <a:ext cx="12191695" cy="6858000"/>
          </a:xfrm>
          <a:prstGeom prst="rect">
            <a:avLst/>
          </a:prstGeom>
        </p:spPr>
      </p:pic>
      <p:sp>
        <p:nvSpPr>
          <p:cNvPr id="3" name="Text 0"/>
          <p:cNvSpPr txBox="1"/>
          <p:nvPr/>
        </p:nvSpPr>
        <p:spPr>
          <a:xfrm>
            <a:off x="457200" y="6473952"/>
            <a:ext cx="8229600" cy="274320"/>
          </a:xfrm>
          <a:prstGeom prst="rect">
            <a:avLst/>
          </a:prstGeom>
          <a:noFill/>
          <a:ln/>
        </p:spPr>
        <p:txBody>
          <a:bodyPr wrap="square" lIns="0" tIns="0" rIns="0" bIns="0" rtlCol="0" anchor="ctr"/>
          <a:lstStyle/>
          <a:p>
            <a:pPr indent="0" marL="0">
              <a:buNone/>
            </a:pPr>
            <a:r>
              <a:rPr lang="en-US" sz="900" dirty="0">
                <a:solidFill>
                  <a:srgbClr val="8A8A8A"/>
                </a:solidFill>
                <a:latin typeface="Calibri" pitchFamily="34" charset="0"/>
                <a:ea typeface="Calibri" pitchFamily="34" charset="-122"/>
                <a:cs typeface="Calibri" pitchFamily="34" charset="-120"/>
              </a:rPr>
              <a:t>Studi Kasus 4  |  Inventory Management di Amazon.com  |  Kelompok 4</a:t>
            </a:r>
            <a:endParaRPr lang="en-US" sz="900" dirty="0"/>
          </a:p>
        </p:txBody>
      </p:sp>
      <p:sp>
        <p:nvSpPr>
          <p:cNvPr id="4" name="Text 1"/>
          <p:cNvSpPr txBox="1"/>
          <p:nvPr/>
        </p:nvSpPr>
        <p:spPr>
          <a:xfrm>
            <a:off x="11277295" y="6473952"/>
            <a:ext cx="457200" cy="274320"/>
          </a:xfrm>
          <a:prstGeom prst="rect">
            <a:avLst/>
          </a:prstGeom>
          <a:noFill/>
          <a:ln/>
        </p:spPr>
        <p:txBody>
          <a:bodyPr wrap="square" lIns="0" tIns="0" rIns="0" bIns="0" rtlCol="0" anchor="ctr"/>
          <a:lstStyle/>
          <a:p>
            <a:pPr algn="r" indent="0" marL="0">
              <a:buNone/>
            </a:pPr>
            <a:r>
              <a:rPr lang="en-US" sz="900" b="1" dirty="0">
                <a:solidFill>
                  <a:srgbClr val="FF9900"/>
                </a:solidFill>
                <a:latin typeface="Arial" pitchFamily="34" charset="0"/>
                <a:ea typeface="Arial" pitchFamily="34" charset="-122"/>
                <a:cs typeface="Arial" pitchFamily="34" charset="-120"/>
              </a:rPr>
              <a:t>20</a:t>
            </a:r>
            <a:endParaRPr lang="en-US" sz="900" dirty="0"/>
          </a:p>
        </p:txBody>
      </p:sp>
      <p:sp>
        <p:nvSpPr>
          <p:cNvPr id="5" name="Text 2"/>
          <p:cNvSpPr txBox="1"/>
          <p:nvPr/>
        </p:nvSpPr>
        <p:spPr>
          <a:xfrm>
            <a:off x="548640" y="457200"/>
            <a:ext cx="5486400" cy="274320"/>
          </a:xfrm>
          <a:prstGeom prst="rect">
            <a:avLst/>
          </a:prstGeom>
          <a:noFill/>
          <a:ln/>
        </p:spPr>
        <p:txBody>
          <a:bodyPr wrap="square" lIns="0" tIns="0" rIns="0" bIns="0" rtlCol="0" anchor="ctr"/>
          <a:lstStyle/>
          <a:p>
            <a:pPr indent="0" marL="0">
              <a:buNone/>
            </a:pPr>
            <a:r>
              <a:rPr lang="en-US" sz="1000" b="1" spc="200" kern="0" dirty="0">
                <a:solidFill>
                  <a:srgbClr val="FF9900"/>
                </a:solidFill>
                <a:latin typeface="Arial" pitchFamily="34" charset="0"/>
                <a:ea typeface="Arial" pitchFamily="34" charset="-122"/>
                <a:cs typeface="Arial" pitchFamily="34" charset="-120"/>
              </a:rPr>
              <a:t>BAGIAN G  ·  LESSON LEARNED</a:t>
            </a:r>
            <a:endParaRPr lang="en-US" sz="1000" dirty="0"/>
          </a:p>
        </p:txBody>
      </p:sp>
      <p:sp>
        <p:nvSpPr>
          <p:cNvPr id="6" name="Text 3"/>
          <p:cNvSpPr txBox="1"/>
          <p:nvPr/>
        </p:nvSpPr>
        <p:spPr>
          <a:xfrm>
            <a:off x="548640" y="731520"/>
            <a:ext cx="8686800" cy="640080"/>
          </a:xfrm>
          <a:prstGeom prst="rect">
            <a:avLst/>
          </a:prstGeom>
          <a:noFill/>
          <a:ln/>
        </p:spPr>
        <p:txBody>
          <a:bodyPr wrap="square" lIns="0" tIns="0" rIns="0" bIns="0" rtlCol="0" anchor="t"/>
          <a:lstStyle/>
          <a:p>
            <a:pPr indent="0" marL="0">
              <a:buNone/>
            </a:pPr>
            <a:r>
              <a:rPr lang="en-US" sz="2600" b="1" spc="-100" kern="0" dirty="0">
                <a:solidFill>
                  <a:srgbClr val="111111"/>
                </a:solidFill>
                <a:latin typeface="Arial" pitchFamily="34" charset="0"/>
                <a:ea typeface="Arial" pitchFamily="34" charset="-122"/>
                <a:cs typeface="Arial" pitchFamily="34" charset="-120"/>
              </a:rPr>
              <a:t>APA YANG BISA DAN TIDAK BISA DITIRU</a:t>
            </a:r>
            <a:endParaRPr lang="en-US" sz="2600" dirty="0"/>
          </a:p>
        </p:txBody>
      </p:sp>
      <p:sp>
        <p:nvSpPr>
          <p:cNvPr id="7" name="Shape 4"/>
          <p:cNvSpPr/>
          <p:nvPr/>
        </p:nvSpPr>
        <p:spPr>
          <a:xfrm>
            <a:off x="466344" y="1380744"/>
            <a:ext cx="3611880" cy="1051560"/>
          </a:xfrm>
          <a:prstGeom prst="roundRect">
            <a:avLst>
              <a:gd name="adj" fmla="val 10435"/>
            </a:avLst>
          </a:prstGeom>
          <a:solidFill>
            <a:srgbClr val="FF9900"/>
          </a:solidFill>
          <a:ln w="12700">
            <a:solidFill>
              <a:srgbClr val="FF9900"/>
            </a:solidFill>
            <a:prstDash val="solid"/>
          </a:ln>
        </p:spPr>
      </p:sp>
      <p:sp>
        <p:nvSpPr>
          <p:cNvPr id="8" name="Shape 5"/>
          <p:cNvSpPr/>
          <p:nvPr/>
        </p:nvSpPr>
        <p:spPr>
          <a:xfrm>
            <a:off x="548640" y="146304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9" name="Text 6"/>
          <p:cNvSpPr txBox="1"/>
          <p:nvPr/>
        </p:nvSpPr>
        <p:spPr>
          <a:xfrm>
            <a:off x="685800" y="160020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//01</a:t>
            </a:r>
            <a:endParaRPr lang="en-US" sz="1500" dirty="0"/>
          </a:p>
        </p:txBody>
      </p:sp>
      <p:sp>
        <p:nvSpPr>
          <p:cNvPr id="10" name="Text 7"/>
          <p:cNvSpPr txBox="1"/>
          <p:nvPr/>
        </p:nvSpPr>
        <p:spPr>
          <a:xfrm>
            <a:off x="1463040" y="157276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Persediaan bisa menjadi keunggulan bersaing, syaratnya dikelola presisi</a:t>
            </a:r>
            <a:endParaRPr lang="en-US" sz="1000" dirty="0"/>
          </a:p>
        </p:txBody>
      </p:sp>
      <p:sp>
        <p:nvSpPr>
          <p:cNvPr id="11" name="Text 8"/>
          <p:cNvSpPr txBox="1"/>
          <p:nvPr/>
        </p:nvSpPr>
        <p:spPr>
          <a:xfrm>
            <a:off x="1463040" y="202996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Bukan stok sedikit; stok besar yang diketahui lokasinya, diambil benar, diproses cepat.</a:t>
            </a:r>
            <a:endParaRPr lang="en-US" sz="850" dirty="0"/>
          </a:p>
        </p:txBody>
      </p:sp>
      <p:sp>
        <p:nvSpPr>
          <p:cNvPr id="12" name="Shape 9"/>
          <p:cNvSpPr/>
          <p:nvPr/>
        </p:nvSpPr>
        <p:spPr>
          <a:xfrm>
            <a:off x="4389120" y="146304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3" name="Text 10"/>
          <p:cNvSpPr txBox="1"/>
          <p:nvPr/>
        </p:nvSpPr>
        <p:spPr>
          <a:xfrm>
            <a:off x="4526280" y="160020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//02</a:t>
            </a:r>
            <a:endParaRPr lang="en-US" sz="1500" dirty="0"/>
          </a:p>
        </p:txBody>
      </p:sp>
      <p:sp>
        <p:nvSpPr>
          <p:cNvPr id="14" name="Text 11"/>
          <p:cNvSpPr txBox="1"/>
          <p:nvPr/>
        </p:nvSpPr>
        <p:spPr>
          <a:xfrm>
            <a:off x="5303520" y="157276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Akurasi catatan adalah prasyarat, bukan pelengkap</a:t>
            </a:r>
            <a:endParaRPr lang="en-US" sz="1000" dirty="0"/>
          </a:p>
        </p:txBody>
      </p:sp>
      <p:sp>
        <p:nvSpPr>
          <p:cNvPr id="15" name="Text 12"/>
          <p:cNvSpPr txBox="1"/>
          <p:nvPr/>
        </p:nvSpPr>
        <p:spPr>
          <a:xfrm>
            <a:off x="5303520" y="202996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Delapan langkah runtuh kalau catatan stok per DC salah. Akurasi dulu, model kemudian.</a:t>
            </a:r>
            <a:endParaRPr lang="en-US" sz="850" dirty="0"/>
          </a:p>
        </p:txBody>
      </p:sp>
      <p:sp>
        <p:nvSpPr>
          <p:cNvPr id="16" name="Shape 13"/>
          <p:cNvSpPr/>
          <p:nvPr/>
        </p:nvSpPr>
        <p:spPr>
          <a:xfrm>
            <a:off x="548640" y="269748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17" name="Text 14"/>
          <p:cNvSpPr txBox="1"/>
          <p:nvPr/>
        </p:nvSpPr>
        <p:spPr>
          <a:xfrm>
            <a:off x="685800" y="283464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//03</a:t>
            </a:r>
            <a:endParaRPr lang="en-US" sz="1500" dirty="0"/>
          </a:p>
        </p:txBody>
      </p:sp>
      <p:sp>
        <p:nvSpPr>
          <p:cNvPr id="18" name="Text 15"/>
          <p:cNvSpPr txBox="1"/>
          <p:nvPr/>
        </p:nvSpPr>
        <p:spPr>
          <a:xfrm>
            <a:off x="1463040" y="280720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Kecepatan dibangun dari dalam, bukan dibeli dari luar</a:t>
            </a:r>
            <a:endParaRPr lang="en-US" sz="1000" dirty="0"/>
          </a:p>
        </p:txBody>
      </p:sp>
      <p:sp>
        <p:nvSpPr>
          <p:cNvPr id="19" name="Text 16"/>
          <p:cNvSpPr txBox="1"/>
          <p:nvPr/>
        </p:nvSpPr>
        <p:spPr>
          <a:xfrm>
            <a:off x="1463040" y="326440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Posisi stok dan proses pendek memungkinkan moda kirim murah untuk 60% pesanan.</a:t>
            </a:r>
            <a:endParaRPr lang="en-US" sz="850" dirty="0"/>
          </a:p>
        </p:txBody>
      </p:sp>
      <p:sp>
        <p:nvSpPr>
          <p:cNvPr id="20" name="Shape 17"/>
          <p:cNvSpPr/>
          <p:nvPr/>
        </p:nvSpPr>
        <p:spPr>
          <a:xfrm>
            <a:off x="4389120" y="269748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1" name="Text 18"/>
          <p:cNvSpPr txBox="1"/>
          <p:nvPr/>
        </p:nvSpPr>
        <p:spPr>
          <a:xfrm>
            <a:off x="4526280" y="283464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//04</a:t>
            </a:r>
            <a:endParaRPr lang="en-US" sz="1500" dirty="0"/>
          </a:p>
        </p:txBody>
      </p:sp>
      <p:sp>
        <p:nvSpPr>
          <p:cNvPr id="22" name="Text 19"/>
          <p:cNvSpPr txBox="1"/>
          <p:nvPr/>
        </p:nvSpPr>
        <p:spPr>
          <a:xfrm>
            <a:off x="5303520" y="280720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Kesalahan dikendalikan di banyak titik karena biaya kesalahan &gt; biaya kontrol</a:t>
            </a:r>
            <a:endParaRPr lang="en-US" sz="1000" dirty="0"/>
          </a:p>
        </p:txBody>
      </p:sp>
      <p:sp>
        <p:nvSpPr>
          <p:cNvPr id="23" name="Text 20"/>
          <p:cNvSpPr txBox="1"/>
          <p:nvPr/>
        </p:nvSpPr>
        <p:spPr>
          <a:xfrm>
            <a:off x="5303520" y="326440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Bukan trade-off; keduanya searah. Kerjakan saja.</a:t>
            </a:r>
            <a:endParaRPr lang="en-US" sz="850" dirty="0"/>
          </a:p>
        </p:txBody>
      </p:sp>
      <p:sp>
        <p:nvSpPr>
          <p:cNvPr id="24" name="Shape 21"/>
          <p:cNvSpPr/>
          <p:nvPr/>
        </p:nvSpPr>
        <p:spPr>
          <a:xfrm>
            <a:off x="548640" y="393192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25" name="Text 22"/>
          <p:cNvSpPr txBox="1"/>
          <p:nvPr/>
        </p:nvSpPr>
        <p:spPr>
          <a:xfrm>
            <a:off x="685800" y="406908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//05</a:t>
            </a:r>
            <a:endParaRPr lang="en-US" sz="1500" dirty="0"/>
          </a:p>
        </p:txBody>
      </p:sp>
      <p:sp>
        <p:nvSpPr>
          <p:cNvPr id="26" name="Text 23"/>
          <p:cNvSpPr txBox="1"/>
          <p:nvPr/>
        </p:nvSpPr>
        <p:spPr>
          <a:xfrm>
            <a:off x="1463040" y="404164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Otomasi dibenarkan oleh volume, bukan oleh teknologinya</a:t>
            </a:r>
            <a:endParaRPr lang="en-US" sz="1000" dirty="0"/>
          </a:p>
        </p:txBody>
      </p:sp>
      <p:sp>
        <p:nvSpPr>
          <p:cNvPr id="27" name="Text 24"/>
          <p:cNvSpPr txBox="1"/>
          <p:nvPr/>
        </p:nvSpPr>
        <p:spPr>
          <a:xfrm>
            <a:off x="1463040" y="449884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US$0,70–1,50 per pesanan hanya berarti pada ratusan ribu pieces per hari. Hitung dengan aturan keputusan.</a:t>
            </a:r>
            <a:endParaRPr lang="en-US" sz="850" dirty="0"/>
          </a:p>
        </p:txBody>
      </p:sp>
      <p:sp>
        <p:nvSpPr>
          <p:cNvPr id="28" name="Shape 25"/>
          <p:cNvSpPr/>
          <p:nvPr/>
        </p:nvSpPr>
        <p:spPr>
          <a:xfrm>
            <a:off x="4306824" y="3849624"/>
            <a:ext cx="3611880" cy="1051560"/>
          </a:xfrm>
          <a:prstGeom prst="roundRect">
            <a:avLst>
              <a:gd name="adj" fmla="val 10435"/>
            </a:avLst>
          </a:prstGeom>
          <a:solidFill>
            <a:srgbClr val="FF9900"/>
          </a:solidFill>
          <a:ln w="12700">
            <a:solidFill>
              <a:srgbClr val="FF9900"/>
            </a:solidFill>
            <a:prstDash val="solid"/>
          </a:ln>
        </p:spPr>
      </p:sp>
      <p:sp>
        <p:nvSpPr>
          <p:cNvPr id="29" name="Shape 26"/>
          <p:cNvSpPr/>
          <p:nvPr/>
        </p:nvSpPr>
        <p:spPr>
          <a:xfrm>
            <a:off x="4389120" y="3931920"/>
            <a:ext cx="3611880" cy="1051560"/>
          </a:xfrm>
          <a:prstGeom prst="roundRect">
            <a:avLst>
              <a:gd name="adj" fmla="val 10435"/>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30" name="Text 27"/>
          <p:cNvSpPr txBox="1"/>
          <p:nvPr/>
        </p:nvSpPr>
        <p:spPr>
          <a:xfrm>
            <a:off x="4526280" y="4069080"/>
            <a:ext cx="777240" cy="365760"/>
          </a:xfrm>
          <a:prstGeom prst="rect">
            <a:avLst/>
          </a:prstGeom>
          <a:noFill/>
          <a:ln/>
        </p:spPr>
        <p:txBody>
          <a:bodyPr wrap="square" lIns="0" tIns="0" rIns="0" bIns="0" rtlCol="0" anchor="ctr"/>
          <a:lstStyle/>
          <a:p>
            <a:pPr indent="0" marL="0">
              <a:buNone/>
            </a:pPr>
            <a:r>
              <a:rPr lang="en-US" sz="1500" b="1" dirty="0">
                <a:solidFill>
                  <a:srgbClr val="FF9900"/>
                </a:solidFill>
                <a:latin typeface="Arial" pitchFamily="34" charset="0"/>
                <a:ea typeface="Arial" pitchFamily="34" charset="-122"/>
                <a:cs typeface="Arial" pitchFamily="34" charset="-120"/>
              </a:rPr>
              <a:t>//06</a:t>
            </a:r>
            <a:endParaRPr lang="en-US" sz="1500" dirty="0"/>
          </a:p>
        </p:txBody>
      </p:sp>
      <p:sp>
        <p:nvSpPr>
          <p:cNvPr id="31" name="Text 28"/>
          <p:cNvSpPr txBox="1"/>
          <p:nvPr/>
        </p:nvSpPr>
        <p:spPr>
          <a:xfrm>
            <a:off x="5303520" y="4041648"/>
            <a:ext cx="2606040" cy="457200"/>
          </a:xfrm>
          <a:prstGeom prst="rect">
            <a:avLst/>
          </a:prstGeom>
          <a:noFill/>
          <a:ln/>
        </p:spPr>
        <p:txBody>
          <a:bodyPr wrap="square" lIns="0" tIns="0" rIns="0" bIns="0" rtlCol="0" anchor="t"/>
          <a:lstStyle/>
          <a:p>
            <a:pPr algn="l" indent="0" marL="0">
              <a:lnSpc>
                <a:spcPct val="105000"/>
              </a:lnSpc>
              <a:buNone/>
            </a:pPr>
            <a:r>
              <a:rPr lang="en-US" sz="1000" b="1" dirty="0">
                <a:solidFill>
                  <a:srgbClr val="111111"/>
                </a:solidFill>
                <a:latin typeface="Calibri" pitchFamily="34" charset="0"/>
                <a:ea typeface="Calibri" pitchFamily="34" charset="-122"/>
                <a:cs typeface="Calibri" pitchFamily="34" charset="-120"/>
              </a:rPr>
              <a:t>Trade-off yang tersisa dipilih secara sadar</a:t>
            </a:r>
            <a:endParaRPr lang="en-US" sz="1000" dirty="0"/>
          </a:p>
        </p:txBody>
      </p:sp>
      <p:sp>
        <p:nvSpPr>
          <p:cNvPr id="32" name="Text 29"/>
          <p:cNvSpPr txBox="1"/>
          <p:nvPr/>
        </p:nvSpPr>
        <p:spPr>
          <a:xfrm>
            <a:off x="5303520" y="4498848"/>
            <a:ext cx="2606040" cy="457200"/>
          </a:xfrm>
          <a:prstGeom prst="rect">
            <a:avLst/>
          </a:prstGeom>
          <a:noFill/>
          <a:ln/>
        </p:spPr>
        <p:txBody>
          <a:bodyPr wrap="square" lIns="0" tIns="0" rIns="0" bIns="0" rtlCol="0" anchor="t"/>
          <a:lstStyle/>
          <a:p>
            <a:pPr algn="l" indent="0" marL="0">
              <a:lnSpc>
                <a:spcPct val="105000"/>
              </a:lnSpc>
              <a:buNone/>
            </a:pPr>
            <a:r>
              <a:rPr lang="en-US" sz="850" dirty="0">
                <a:solidFill>
                  <a:srgbClr val="555555"/>
                </a:solidFill>
                <a:latin typeface="Calibri" pitchFamily="34" charset="0"/>
                <a:ea typeface="Calibri" pitchFamily="34" charset="-122"/>
                <a:cs typeface="Calibri" pitchFamily="34" charset="-120"/>
              </a:rPr>
              <a:t>Holding cost tinggi diterima karena dampak kekosongan di ritel daring signifikan; tidak semua bagian diotomasi (kado tetap manual).</a:t>
            </a:r>
            <a:endParaRPr lang="en-US" sz="850" dirty="0"/>
          </a:p>
        </p:txBody>
      </p:sp>
      <p:sp>
        <p:nvSpPr>
          <p:cNvPr id="33" name="Shape 30"/>
          <p:cNvSpPr/>
          <p:nvPr/>
        </p:nvSpPr>
        <p:spPr>
          <a:xfrm>
            <a:off x="548640" y="5212080"/>
            <a:ext cx="7452360" cy="960120"/>
          </a:xfrm>
          <a:prstGeom prst="roundRect">
            <a:avLst>
              <a:gd name="adj" fmla="val 11429"/>
            </a:avLst>
          </a:prstGeom>
          <a:solidFill>
            <a:srgbClr val="232F3E"/>
          </a:solidFill>
          <a:ln w="12700">
            <a:solidFill>
              <a:srgbClr val="232F3E"/>
            </a:solidFill>
            <a:prstDash val="solid"/>
          </a:ln>
          <a:effectLst>
            <a:outerShdw sx="100000" sy="100000" kx="0" ky="0" algn="bl" rotWithShape="0" blurRad="76200" dist="25400" dir="2700000">
              <a:srgbClr val="000000">
                <a:alpha val="16000"/>
              </a:srgbClr>
            </a:outerShdw>
          </a:effectLst>
        </p:spPr>
      </p:sp>
      <p:sp>
        <p:nvSpPr>
          <p:cNvPr id="34" name="Text 31"/>
          <p:cNvSpPr txBox="1"/>
          <p:nvPr/>
        </p:nvSpPr>
        <p:spPr>
          <a:xfrm>
            <a:off x="777240" y="5321808"/>
            <a:ext cx="7040880" cy="777240"/>
          </a:xfrm>
          <a:prstGeom prst="rect">
            <a:avLst/>
          </a:prstGeom>
          <a:noFill/>
          <a:ln/>
        </p:spPr>
        <p:txBody>
          <a:bodyPr wrap="square" lIns="0" tIns="0" rIns="0" bIns="0" rtlCol="0" anchor="t"/>
          <a:lstStyle/>
          <a:p>
            <a:pPr algn="l" indent="0" marL="0">
              <a:lnSpc>
                <a:spcPct val="105000"/>
              </a:lnSpc>
              <a:buNone/>
            </a:pPr>
            <a:r>
              <a:rPr lang="en-US" sz="1050" dirty="0">
                <a:solidFill>
                  <a:srgbClr val="FFFFFF"/>
                </a:solidFill>
                <a:latin typeface="Calibri" pitchFamily="34" charset="0"/>
                <a:ea typeface="Calibri" pitchFamily="34" charset="-122"/>
                <a:cs typeface="Calibri" pitchFamily="34" charset="-120"/>
              </a:rPr>
              <a:t>Yang bisa dibawa ke perusahaan lain bukan tingkat otomasinya, melainkan urutan berpikirnya: tetapkan target kinerja, pastikan akurasi catatan, periksa mana trade-off dan mana yang searah, hitung dengan ukuran yang adil, baru putuskan investasi persediaan dan teknologinya.</a:t>
            </a:r>
            <a:endParaRPr lang="en-US" sz="1050" dirty="0"/>
          </a:p>
        </p:txBody>
      </p:sp>
      <p:pic>
        <p:nvPicPr>
          <p:cNvPr id="35" name="Image 1" descr="/tmp/claude-0/-home-user-Dom-Manipulation/01edd7ad-16e1-5ac5-9e2e-840f37702b96/scratchpad/img/crop/dock.jpg">    </p:cNvPr>
          <p:cNvPicPr>
            <a:picLocks noChangeAspect="1"/>
          </p:cNvPicPr>
          <p:nvPr/>
        </p:nvPicPr>
        <p:blipFill>
          <a:blip r:embed="rId2"/>
          <a:stretch>
            <a:fillRect/>
          </a:stretch>
        </p:blipFill>
        <p:spPr>
          <a:xfrm>
            <a:off x="8321040" y="1325880"/>
            <a:ext cx="3429000" cy="2028994"/>
          </a:xfrm>
          <a:prstGeom prst="rect">
            <a:avLst/>
          </a:prstGeom>
        </p:spPr>
      </p:pic>
      <p:sp>
        <p:nvSpPr>
          <p:cNvPr id="36" name="Shape 32"/>
          <p:cNvSpPr/>
          <p:nvPr/>
        </p:nvSpPr>
        <p:spPr>
          <a:xfrm>
            <a:off x="8238744" y="3483864"/>
            <a:ext cx="3429000" cy="2606040"/>
          </a:xfrm>
          <a:prstGeom prst="roundRect">
            <a:avLst>
              <a:gd name="adj" fmla="val 4211"/>
            </a:avLst>
          </a:prstGeom>
          <a:solidFill>
            <a:srgbClr val="FF9900"/>
          </a:solidFill>
          <a:ln w="12700">
            <a:solidFill>
              <a:srgbClr val="FF9900"/>
            </a:solidFill>
            <a:prstDash val="solid"/>
          </a:ln>
        </p:spPr>
      </p:sp>
      <p:sp>
        <p:nvSpPr>
          <p:cNvPr id="37" name="Shape 33"/>
          <p:cNvSpPr/>
          <p:nvPr/>
        </p:nvSpPr>
        <p:spPr>
          <a:xfrm>
            <a:off x="8321040" y="3566160"/>
            <a:ext cx="3429000" cy="2606040"/>
          </a:xfrm>
          <a:prstGeom prst="roundRect">
            <a:avLst>
              <a:gd name="adj" fmla="val 4211"/>
            </a:avLst>
          </a:prstGeom>
          <a:solidFill>
            <a:srgbClr val="FFFFFF"/>
          </a:solidFill>
          <a:ln w="12700">
            <a:solidFill>
              <a:srgbClr val="FFFFFF"/>
            </a:solidFill>
            <a:prstDash val="solid"/>
          </a:ln>
          <a:effectLst>
            <a:outerShdw sx="100000" sy="100000" kx="0" ky="0" algn="bl" rotWithShape="0" blurRad="76200" dist="25400" dir="2700000">
              <a:srgbClr val="000000">
                <a:alpha val="16000"/>
              </a:srgbClr>
            </a:outerShdw>
          </a:effectLst>
        </p:spPr>
      </p:sp>
      <p:sp>
        <p:nvSpPr>
          <p:cNvPr id="38" name="Text 34"/>
          <p:cNvSpPr txBox="1"/>
          <p:nvPr/>
        </p:nvSpPr>
        <p:spPr>
          <a:xfrm>
            <a:off x="8503920" y="3749040"/>
            <a:ext cx="3108960" cy="548640"/>
          </a:xfrm>
          <a:prstGeom prst="rect">
            <a:avLst/>
          </a:prstGeom>
          <a:noFill/>
          <a:ln/>
        </p:spPr>
        <p:txBody>
          <a:bodyPr wrap="square" lIns="0" tIns="0" rIns="0" bIns="0" rtlCol="0" anchor="ctr"/>
          <a:lstStyle/>
          <a:p>
            <a:pPr indent="0" marL="0">
              <a:buNone/>
            </a:pPr>
            <a:r>
              <a:rPr lang="en-US" sz="2400" b="1" spc="-100" kern="0" dirty="0">
                <a:solidFill>
                  <a:srgbClr val="111111"/>
                </a:solidFill>
                <a:latin typeface="Arial" pitchFamily="34" charset="0"/>
                <a:ea typeface="Arial" pitchFamily="34" charset="-122"/>
                <a:cs typeface="Arial" pitchFamily="34" charset="-120"/>
              </a:rPr>
              <a:t>TERIMA KASIH</a:t>
            </a:r>
            <a:endParaRPr lang="en-US" sz="2400" dirty="0"/>
          </a:p>
        </p:txBody>
      </p:sp>
      <p:sp>
        <p:nvSpPr>
          <p:cNvPr id="39" name="Text 35"/>
          <p:cNvSpPr txBox="1"/>
          <p:nvPr/>
        </p:nvSpPr>
        <p:spPr>
          <a:xfrm>
            <a:off x="8503920" y="4343400"/>
            <a:ext cx="3108960" cy="685800"/>
          </a:xfrm>
          <a:prstGeom prst="rect">
            <a:avLst/>
          </a:prstGeom>
          <a:noFill/>
          <a:ln/>
        </p:spPr>
        <p:txBody>
          <a:bodyPr wrap="square" lIns="0" tIns="0" rIns="0" bIns="0" rtlCol="0" anchor="t"/>
          <a:lstStyle/>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Kelompok 4</a:t>
            </a:r>
            <a:endParaRPr lang="en-US" sz="1050" dirty="0"/>
          </a:p>
          <a:p>
            <a:pPr algn="l" indent="0" marL="0">
              <a:lnSpc>
                <a:spcPct val="105000"/>
              </a:lnSpc>
              <a:buNone/>
            </a:pPr>
            <a:r>
              <a:rPr lang="en-US" sz="1050" dirty="0">
                <a:solidFill>
                  <a:srgbClr val="111111"/>
                </a:solidFill>
                <a:latin typeface="Calibri" pitchFamily="34" charset="0"/>
                <a:ea typeface="Calibri" pitchFamily="34" charset="-122"/>
                <a:cs typeface="Calibri" pitchFamily="34" charset="-120"/>
              </a:rPr>
              <a:t>Bagaskoro · Aulia Sisca Rahmadiyanti · Fitra Aidila</a:t>
            </a:r>
            <a:endParaRPr lang="en-US" sz="1050" dirty="0"/>
          </a:p>
        </p:txBody>
      </p:sp>
      <p:sp>
        <p:nvSpPr>
          <p:cNvPr id="40" name="Text 36"/>
          <p:cNvSpPr txBox="1"/>
          <p:nvPr/>
        </p:nvSpPr>
        <p:spPr>
          <a:xfrm>
            <a:off x="8503920" y="5074920"/>
            <a:ext cx="3108960" cy="1005840"/>
          </a:xfrm>
          <a:prstGeom prst="rect">
            <a:avLst/>
          </a:prstGeom>
          <a:noFill/>
          <a:ln/>
        </p:spPr>
        <p:txBody>
          <a:bodyPr wrap="square" lIns="0" tIns="0" rIns="0" bIns="0" rtlCol="0" anchor="t"/>
          <a:lstStyle/>
          <a:p>
            <a:pPr algn="l" indent="0" marL="0">
              <a:lnSpc>
                <a:spcPct val="105000"/>
              </a:lnSpc>
              <a:buNone/>
            </a:pPr>
            <a:r>
              <a:rPr lang="en-US" sz="850" dirty="0">
                <a:solidFill>
                  <a:srgbClr val="8A8A8A"/>
                </a:solidFill>
                <a:latin typeface="Calibri" pitchFamily="34" charset="0"/>
                <a:ea typeface="Calibri" pitchFamily="34" charset="-122"/>
                <a:cs typeface="Calibri" pitchFamily="34" charset="-120"/>
              </a:rPr>
              <a:t>Rujukan utama: Heizer, Render &amp; Munson (2017), Operations Management, 12th ed., Bab 12 hlm. 487–514; Bab 9 hlm. 376; Suplemen 11. The OM Blog (2023, 2025).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Studi Kasus 4: Inventory Management di Amazon.com</dc:title>
  <dc:subject>PptxGenJS Presentation</dc:subject>
  <dc:creator>Kelompok 4</dc:creator>
  <cp:lastModifiedBy>Kelompok 4</cp:lastModifiedBy>
  <cp:revision>1</cp:revision>
  <dcterms:created xsi:type="dcterms:W3CDTF">2026-09-07T14:42:14Z</dcterms:created>
  <dcterms:modified xsi:type="dcterms:W3CDTF">2026-09-07T14:42:14Z</dcterms:modified>
</cp:coreProperties>
</file>