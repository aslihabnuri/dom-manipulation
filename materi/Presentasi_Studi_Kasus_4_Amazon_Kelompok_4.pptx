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Inventory management termasuk daily decision, satu kelompok dengan MRP, sequencing, dan scheduling. Arahnya ditentukan strategi operasi yang dipilih lebih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ini dipakai untuk menilai apakah stok Amazon yang sangat besar itu pemborosan atau justru keputusan yang benar.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Kalau pemenuhan dititipkan ke pihak ketiga: kecepatan bergantung stok dan proses orang lain; kesalahan pihak lain menjadi biaya return Amazon tetapi tidak bisa dikendalikan; margin pihak ketiga masuk ke harga.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07208"/>
            <a:ext cx="9952695" cy="36576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6aa5474a13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731520"/>
            <a:ext cx="5330952" cy="2118390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7c3f597641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868680"/>
            <a:ext cx="987552" cy="280446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1280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Bagaskoro  ·  25/574280/PEK/31778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Aulia Sisca Rahmadiyanti  ·  25/574305/PEK/31789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Fitra Aidila  ·  25/574309/PEK/31791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map_den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466344"/>
            <a:ext cx="5690311" cy="5925312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e4ec049fd1f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914400"/>
            <a:ext cx="993678" cy="46021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554480"/>
            <a:ext cx="484632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kasus Amazon dari strategi ke bawah: mengapa persediaan dipegang sendiri, bagaimana satu pesanan dipenuhi, dan trade-off apa yang diambil.</a:t>
            </a:r>
            <a:endParaRPr lang="en-US" sz="95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194560"/>
            <a:ext cx="1005840" cy="664156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b8e980fb996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2468880"/>
            <a:ext cx="2523744" cy="46021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19456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4"/>
          <p:cNvSpPr txBox="1"/>
          <p:nvPr/>
        </p:nvSpPr>
        <p:spPr>
          <a:xfrm>
            <a:off x="2468880" y="3154680"/>
            <a:ext cx="39319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berpikir: strategi dulu, baru keputusan teknis</a:t>
            </a:r>
            <a:endParaRPr lang="en-US" sz="900" dirty="0"/>
          </a:p>
        </p:txBody>
      </p:sp>
      <p:sp>
        <p:nvSpPr>
          <p:cNvPr id="12" name="Text 5"/>
          <p:cNvSpPr txBox="1"/>
          <p:nvPr/>
        </p:nvSpPr>
        <p:spPr>
          <a:xfrm>
            <a:off x="2194560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6"/>
          <p:cNvSpPr txBox="1"/>
          <p:nvPr/>
        </p:nvSpPr>
        <p:spPr>
          <a:xfrm>
            <a:off x="2468880" y="3520440"/>
            <a:ext cx="39319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Kisah sukses: dari pengecer virtual ke pengelola persediaan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219456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8"/>
          <p:cNvSpPr txBox="1"/>
          <p:nvPr/>
        </p:nvSpPr>
        <p:spPr>
          <a:xfrm>
            <a:off x="2468880" y="3886200"/>
            <a:ext cx="39319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pemenuhan pesanan: delapan langkah dan kuantifikasinya</a:t>
            </a:r>
            <a:endParaRPr lang="en-US" sz="900" dirty="0"/>
          </a:p>
        </p:txBody>
      </p:sp>
      <p:sp>
        <p:nvSpPr>
          <p:cNvPr id="16" name="Text 9"/>
          <p:cNvSpPr txBox="1"/>
          <p:nvPr/>
        </p:nvSpPr>
        <p:spPr>
          <a:xfrm>
            <a:off x="21945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0"/>
          <p:cNvSpPr txBox="1"/>
          <p:nvPr/>
        </p:nvSpPr>
        <p:spPr>
          <a:xfrm>
            <a:off x="2468880" y="4251960"/>
            <a:ext cx="39319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trade-off: mana trade-off nyata, mana yang searah</a:t>
            </a:r>
            <a:endParaRPr lang="en-US" sz="900" dirty="0"/>
          </a:p>
        </p:txBody>
      </p:sp>
      <p:sp>
        <p:nvSpPr>
          <p:cNvPr id="18" name="Text 11"/>
          <p:cNvSpPr txBox="1"/>
          <p:nvPr/>
        </p:nvSpPr>
        <p:spPr>
          <a:xfrm>
            <a:off x="21945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2"/>
          <p:cNvSpPr txBox="1"/>
          <p:nvPr/>
        </p:nvSpPr>
        <p:spPr>
          <a:xfrm>
            <a:off x="2468880" y="4617720"/>
            <a:ext cx="39319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Kaitan dengan teori persediaan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2194560" y="4983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4"/>
          <p:cNvSpPr txBox="1"/>
          <p:nvPr/>
        </p:nvSpPr>
        <p:spPr>
          <a:xfrm>
            <a:off x="2468880" y="4983480"/>
            <a:ext cx="39319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Perkembangan terbaru: 2023 dan 2025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>
            <a:off x="2194560" y="5349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2468880" y="5349240"/>
            <a:ext cx="39319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learned: apa yang bisa dan tidak bisa ditiru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92837108f80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2657886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55448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Tentukan dulu apa yang mau dicapai (strategi dan value proposition), baru turunkan ke keputusan teknis. Persediaan adalah keputusan OM ke-8 dengan dua pertanyaan dasar, ditambah satu pertanyaan khusus Amazon.</a:t>
            </a:r>
            <a:endParaRPr lang="en-US" sz="950" dirty="0"/>
          </a:p>
        </p:txBody>
      </p:sp>
      <p:pic>
        <p:nvPicPr>
          <p:cNvPr id="7" name="Image 2" descr="/tmp/claude-0/-home-user-Dom-Manipulation/01edd7ad-16e1-5ac5-9e2e-840f37702b96/scratchpad/img/txt/783b340a2e8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468880"/>
            <a:ext cx="932688" cy="30477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282851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Berapa banyak persediaan setiap item yang harus dimiliki?</a:t>
            </a:r>
            <a:endParaRPr lang="en-US" sz="950" dirty="0"/>
          </a:p>
        </p:txBody>
      </p:sp>
      <p:pic>
        <p:nvPicPr>
          <p:cNvPr id="9" name="Image 3" descr="/tmp/claude-0/-home-user-Dom-Manipulation/01edd7ad-16e1-5ac5-9e2e-840f37702b96/scratchpad/img/txt/fdaa4376dda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285714"/>
            <a:ext cx="512064" cy="30477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60120" y="3645347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 harus memesan kembali?</a:t>
            </a:r>
            <a:endParaRPr lang="en-US" sz="950" dirty="0"/>
          </a:p>
        </p:txBody>
      </p:sp>
      <p:pic>
        <p:nvPicPr>
          <p:cNvPr id="11" name="Image 4" descr="/tmp/claude-0/-home-user-Dom-Manipulation/01edd7ad-16e1-5ac5-9e2e-840f37702b96/scratchpad/img/txt/4eb8388aa21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102547"/>
            <a:ext cx="606522" cy="30477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60120" y="4462181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mana disimpan di gudang mana; stok Amazon tersebar di lebih dari 150 gudang.</a:t>
            </a:r>
            <a:endParaRPr lang="en-US" sz="950" dirty="0"/>
          </a:p>
        </p:txBody>
      </p:sp>
      <p:sp>
        <p:nvSpPr>
          <p:cNvPr id="13" name="Text 6"/>
          <p:cNvSpPr txBox="1"/>
          <p:nvPr/>
        </p:nvSpPr>
        <p:spPr>
          <a:xfrm>
            <a:off x="960120" y="4983389"/>
            <a:ext cx="429768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yang membuat Amazon berbeda: stok harus berada dekat pelanggan sebelum pesanan datang.</a:t>
            </a:r>
            <a:endParaRPr lang="en-US" sz="950" dirty="0"/>
          </a:p>
        </p:txBody>
      </p:sp>
      <p:pic>
        <p:nvPicPr>
          <p:cNvPr id="14" name="Image 5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888" y="1435608"/>
            <a:ext cx="316688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1844d572a03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2950494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554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kita modelkan, persoalan persediaan selalu punya struktur yang sama.</a:t>
            </a:r>
            <a:endParaRPr lang="en-US" sz="950" dirty="0"/>
          </a:p>
        </p:txBody>
      </p:sp>
      <p:pic>
        <p:nvPicPr>
          <p:cNvPr id="7" name="Image 2" descr="/tmp/claude-0/-home-user-Dom-Manipulation/01edd7ad-16e1-5ac5-9e2e-840f37702b96/scratchpad/img/txt/806d5c67cd2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057400"/>
            <a:ext cx="886968" cy="30477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241703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Meminimalkan total biaya persediaan: biaya simpan, biaya pesan, biaya kekurangan. Amazon menambah biaya kesalahan pemenuhan (returns).</a:t>
            </a:r>
            <a:endParaRPr lang="en-US" sz="950" dirty="0"/>
          </a:p>
        </p:txBody>
      </p:sp>
      <p:pic>
        <p:nvPicPr>
          <p:cNvPr id="9" name="Image 3" descr="/tmp/claude-0/-home-user-Dom-Manipulation/01edd7ad-16e1-5ac5-9e2e-840f37702b96/scratchpad/img/txt/09d8ce3f4a5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057114"/>
            <a:ext cx="1722090" cy="30477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60120" y="3416747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pesan, titik pesan ulang, stok pengaman. Amazon menambah alokasi: item apa di gudang mana.</a:t>
            </a:r>
            <a:endParaRPr lang="en-US" sz="950" dirty="0"/>
          </a:p>
        </p:txBody>
      </p:sp>
      <p:pic>
        <p:nvPicPr>
          <p:cNvPr id="11" name="Image 4" descr="/tmp/claude-0/-home-user-Dom-Manipulation/01edd7ad-16e1-5ac5-9e2e-840f37702b96/scratchpad/img/txt/b3531ea83ee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56827"/>
            <a:ext cx="1161288" cy="30477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60120" y="4416461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yang dijanjikan, kapasitas gudang, lead time. Bagi Amazon: harga terendah, kirim tercepat, bebas kesalahan.</a:t>
            </a:r>
            <a:endParaRPr lang="en-US" sz="950" dirty="0"/>
          </a:p>
        </p:txBody>
      </p:sp>
      <p:sp>
        <p:nvSpPr>
          <p:cNvPr id="13" name="Text 6"/>
          <p:cNvSpPr txBox="1"/>
          <p:nvPr/>
        </p:nvSpPr>
        <p:spPr>
          <a:xfrm>
            <a:off x="960120" y="5010821"/>
            <a:ext cx="429768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adalah constraint, bukan objective: perusahaan meminimalkan biaya pada tingkat layanan yang sudah dijanjikan.</a:t>
            </a:r>
            <a:endParaRPr lang="en-US" sz="950" dirty="0"/>
          </a:p>
        </p:txBody>
      </p:sp>
      <p:pic>
        <p:nvPicPr>
          <p:cNvPr id="14" name="Image 5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5757" y="1618488"/>
            <a:ext cx="2333018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807c56db84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2654778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8cde9ec6a8e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1764792" cy="28044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93551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simpan dan penanganan naik; modal tertahan; risiko barang usang.</a:t>
            </a:r>
            <a:endParaRPr lang="en-US" sz="950" dirty="0"/>
          </a:p>
        </p:txBody>
      </p:sp>
      <p:pic>
        <p:nvPicPr>
          <p:cNvPr id="8" name="Image 3" descr="/tmp/claude-0/-home-user-Dom-Manipulation/01edd7ad-16e1-5ac5-9e2e-840f37702b96/scratchpad/img/txt/48d528bdcfa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92710"/>
            <a:ext cx="1740378" cy="28044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728021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out; produksi berhenti; pada ritel daring pelanggan berpindah ke penjual lain dalam hitungan detik.</a:t>
            </a:r>
            <a:endParaRPr lang="en-US" sz="950" dirty="0"/>
          </a:p>
        </p:txBody>
      </p:sp>
      <p:pic>
        <p:nvPicPr>
          <p:cNvPr id="10" name="Image 4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30941"/>
            <a:ext cx="914400" cy="603778"/>
          </a:xfrm>
          <a:prstGeom prst="rect">
            <a:avLst/>
          </a:prstGeom>
        </p:spPr>
      </p:pic>
      <p:pic>
        <p:nvPicPr>
          <p:cNvPr id="11" name="Image 5" descr="/tmp/claude-0/-home-user-Dom-Manipulation/01edd7ad-16e1-5ac5-9e2e-840f37702b96/scratchpad/img/txt/38fb1dad973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0" y="3505261"/>
            <a:ext cx="2618202" cy="460218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2057400" y="4145341"/>
            <a:ext cx="3200400" cy="65836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dampak kekosongan stok tidak signifikan, tidak perlu stok banyak. Kalau signifikan (lead time panjang, biaya kehilangan penjualan besar), stok cadangan dinaikkan.</a:t>
            </a:r>
            <a:endParaRPr lang="en-US" sz="950" dirty="0"/>
          </a:p>
        </p:txBody>
      </p:sp>
      <p:pic>
        <p:nvPicPr>
          <p:cNvPr id="13" name="Image 6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0608" y="3172968"/>
            <a:ext cx="5778167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82fbd7363f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822960"/>
            <a:ext cx="4739610" cy="435894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6b354bbaf54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554480"/>
            <a:ext cx="1045434" cy="74679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508760" y="2286000"/>
            <a:ext cx="457200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1995: PENGECER VIRTUAL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1508760" y="2743200"/>
            <a:ext cx="45720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persediaan, tanpa gudang, tanpa overhead: komputer menerima pesanan buku dan meneruskan pemenuhannya ke pihak lain.</a:t>
            </a:r>
            <a:endParaRPr lang="en-US" sz="900" dirty="0"/>
          </a:p>
        </p:txBody>
      </p:sp>
      <p:pic>
        <p:nvPicPr>
          <p:cNvPr id="9" name="Image 3" descr="/tmp/claude-0/-home-user-Dom-Manipulation/01edd7ad-16e1-5ac5-9e2e-840f37702b96/scratchpad/img/txt/ea6f7c1eadf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657600"/>
            <a:ext cx="1045434" cy="74679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20840" y="4389120"/>
            <a:ext cx="46634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KENYATAAN: JARINGAN GUDANG TERBESAR DI DUNIA</a:t>
            </a:r>
            <a:endParaRPr lang="en-US" sz="1500" dirty="0"/>
          </a:p>
        </p:txBody>
      </p:sp>
      <p:sp>
        <p:nvSpPr>
          <p:cNvPr id="11" name="Text 5"/>
          <p:cNvSpPr txBox="1"/>
          <p:nvPr/>
        </p:nvSpPr>
        <p:spPr>
          <a:xfrm>
            <a:off x="6720840" y="4846320"/>
            <a:ext cx="466344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clearly didn’t work out that way. 150+ gudang, 200 juta item di situs, 200.000 pieces per hari dari satu gudang, tenaga kerja kurang dari 3 menit per pesanan.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86939157a3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4675602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554480"/>
            <a:ext cx="48463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salah, tetapi asumsinya tidak bisa dipertahankan begitu value proposition ditetapkan.</a:t>
            </a:r>
            <a:endParaRPr lang="en-US" sz="950" dirty="0"/>
          </a:p>
        </p:txBody>
      </p:sp>
      <p:pic>
        <p:nvPicPr>
          <p:cNvPr id="7" name="Image 2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03120"/>
            <a:ext cx="914400" cy="603778"/>
          </a:xfrm>
          <a:prstGeom prst="rect">
            <a:avLst/>
          </a:prstGeom>
        </p:spPr>
      </p:pic>
      <p:pic>
        <p:nvPicPr>
          <p:cNvPr id="8" name="Image 3" descr="/tmp/claude-0/-home-user-Dom-Manipulation/01edd7ad-16e1-5ac5-9e2e-840f37702b96/scratchpad/img/txt/921f8699ba6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2331720"/>
            <a:ext cx="2237262" cy="41148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205740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2331720" y="2926080"/>
            <a:ext cx="356616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price: harga terendah</a:t>
            </a:r>
            <a:endParaRPr lang="en-US" sz="950" dirty="0"/>
          </a:p>
        </p:txBody>
      </p:sp>
      <p:sp>
        <p:nvSpPr>
          <p:cNvPr id="11" name="Text 5"/>
          <p:cNvSpPr txBox="1"/>
          <p:nvPr/>
        </p:nvSpPr>
        <p:spPr>
          <a:xfrm>
            <a:off x="205740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6"/>
          <p:cNvSpPr txBox="1"/>
          <p:nvPr/>
        </p:nvSpPr>
        <p:spPr>
          <a:xfrm>
            <a:off x="2331720" y="3291840"/>
            <a:ext cx="356616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delivery: pengiriman tercepat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20574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2331720" y="3657600"/>
            <a:ext cx="356616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Error-free: pemenuhan pesanan bebas kesalahan</a:t>
            </a:r>
            <a:endParaRPr lang="en-US" sz="950" dirty="0"/>
          </a:p>
        </p:txBody>
      </p:sp>
      <p:pic>
        <p:nvPicPr>
          <p:cNvPr id="15" name="Image 4" descr="/tmp/claude-0/-home-user-Dom-Manipulation/01edd7ad-16e1-5ac5-9e2e-840f37702b96/scratchpad/img/txt/335b5b435cf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06240"/>
            <a:ext cx="1383762" cy="28044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60120" y="454155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 gudang terdekat pelanggan, titik kontrol dirancang sendiri, biaya per pesanan ditekan lewat volume dan otomasi. Exchanges and returns are very expensive.</a:t>
            </a:r>
            <a:endParaRPr lang="en-US" sz="950" dirty="0"/>
          </a:p>
        </p:txBody>
      </p:sp>
      <p:sp>
        <p:nvSpPr>
          <p:cNvPr id="17" name="Text 10"/>
          <p:cNvSpPr txBox="1"/>
          <p:nvPr/>
        </p:nvSpPr>
        <p:spPr>
          <a:xfrm>
            <a:off x="960120" y="5135910"/>
            <a:ext cx="4297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Menyimpan persediaan sendiri bukan penyimpangan dari strategi, melainkan konsekuensinya.</a:t>
            </a:r>
            <a:endParaRPr lang="en-US" sz="950" dirty="0"/>
          </a:p>
        </p:txBody>
      </p:sp>
      <p:pic>
        <p:nvPicPr>
          <p:cNvPr id="18" name="Image 5" descr="/tmp/claude-0/-home-user-Dom-Manipulation/01edd7ad-16e1-5ac5-9e2e-840f37702b96/scratchpad/img/cut/v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9563" y="3172968"/>
            <a:ext cx="6409212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46e46d6044d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3017520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409d0beec7c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1883664" cy="28044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93551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200.000 pieces per hari per gudang. Otomasi dan standardisasi menjadi ekonomis.</a:t>
            </a:r>
            <a:endParaRPr lang="en-US" sz="950" dirty="0"/>
          </a:p>
        </p:txBody>
      </p:sp>
      <p:pic>
        <p:nvPicPr>
          <p:cNvPr id="8" name="Image 3" descr="/tmp/claude-0/-home-user-Dom-Manipulation/01edd7ad-16e1-5ac5-9e2e-840f37702b96/scratchpad/img/txt/69da6d2664f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92710"/>
            <a:ext cx="1895826" cy="28044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728021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juta item; 70% pesanan multiproduk. Akurasi catatan per item menjadi persoalan utama.</a:t>
            </a:r>
            <a:endParaRPr lang="en-US" sz="950" dirty="0"/>
          </a:p>
        </p:txBody>
      </p:sp>
      <p:pic>
        <p:nvPicPr>
          <p:cNvPr id="10" name="Image 4" descr="/tmp/claude-0/-home-user-Dom-Manipulation/01edd7ad-16e1-5ac5-9e2e-840f37702b96/scratchpad/img/txt/a8bb88e5bf3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85221"/>
            <a:ext cx="1426464" cy="280446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520531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Musim puncak; gudang dirancang untuk kapasitas harian maksimum; perlu stok pengaman.</a:t>
            </a:r>
            <a:endParaRPr lang="en-US" sz="950" dirty="0"/>
          </a:p>
        </p:txBody>
      </p:sp>
      <p:pic>
        <p:nvPicPr>
          <p:cNvPr id="12" name="Image 5" descr="/tmp/claude-0/-home-user-Dom-Manipulation/01edd7ad-16e1-5ac5-9e2e-840f37702b96/scratchpad/img/txt/d9d6d78eb7f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977731"/>
            <a:ext cx="1530066" cy="280446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31304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hanya melihat harga, waktu tiba, dan ketepatan isi paket.</a:t>
            </a:r>
            <a:endParaRPr lang="en-US" sz="95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4724522"/>
            <a:ext cx="429768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dan variety sama-sama tinggi, tetap efisien: pengambilan massal dalam batch, penyusunan per pesanan di ujung proses.</a:t>
            </a:r>
            <a:endParaRPr lang="en-US" sz="950" dirty="0"/>
          </a:p>
        </p:txBody>
      </p:sp>
      <p:pic>
        <p:nvPicPr>
          <p:cNvPr id="15" name="Image 6" descr="/tmp/claude-0/-home-user-Dom-Manipulation/01edd7ad-16e1-5ac5-9e2e-840f37702b96/scratchpad/img/cut/work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7408" y="1435608"/>
            <a:ext cx="454136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tot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7b97482eb32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571714" cy="435894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efcc828e9f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35706" cy="67053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04288"/>
            <a:ext cx="47548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MASUK, KOMPUTER SEATTLE MENGAMBIL ALIH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743200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dialokasikan ke DC yang punya stok: jawaban atas where; catatan stok tiap DC harus benar saat itu juga.</a:t>
            </a:r>
            <a:endParaRPr lang="en-US" sz="900" dirty="0"/>
          </a:p>
        </p:txBody>
      </p:sp>
      <p:pic>
        <p:nvPicPr>
          <p:cNvPr id="9" name="Image 3" descr="/tmp/claude-0/-home-user-Dom-Manipulation/01edd7ad-16e1-5ac5-9e2e-840f37702b96/scratchpad/img/txt/2664be2de7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35706" cy="67053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04288"/>
            <a:ext cx="47548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MEISTER MENERIMA PESANAN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743200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Menentukan pekerja mana pergi ke mana; pesanan diubah menjadi penugasan picking.</a:t>
            </a:r>
            <a:endParaRPr lang="en-US" sz="900" dirty="0"/>
          </a:p>
        </p:txBody>
      </p:sp>
      <p:pic>
        <p:nvPicPr>
          <p:cNvPr id="12" name="Image 4" descr="/tmp/claude-0/-home-user-Dom-Manipulation/01edd7ad-16e1-5ac5-9e2e-840f37702b96/scratchpad/img/txt/efadf076ef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977640"/>
            <a:ext cx="935706" cy="67053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636008"/>
            <a:ext cx="47548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074920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dua kali operator manual, kesalahan mendekati nol. Mekanismenya robot Kiva.</a:t>
            </a:r>
            <a:endParaRPr lang="en-US" sz="900" dirty="0"/>
          </a:p>
        </p:txBody>
      </p:sp>
      <p:pic>
        <p:nvPicPr>
          <p:cNvPr id="15" name="Image 5" descr="/tmp/claude-0/-home-user-Dom-Manipulation/01edd7ad-16e1-5ac5-9e2e-840f37702b96/scratchpad/img/txt/8306f75158b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977640"/>
            <a:ext cx="935706" cy="67053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636008"/>
            <a:ext cx="47548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 DI BAN BERJALAN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074920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lebih dari 10 mil, 2,9 kaki/detik; bar code dipindai 15 kali; batch picking dan verifikasi berulang.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sort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e06f999146c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571714" cy="435894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0083eb0e38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35706" cy="67053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04288"/>
            <a:ext cx="47548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BERTEMU DI CHUTE, MASUK KOTAK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743200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code dicocokkan dengan nomor pesanan; ribuan chute; picking diurutkan untuk mengurangi perjalanan.</a:t>
            </a:r>
            <a:endParaRPr lang="en-US" sz="900" dirty="0"/>
          </a:p>
        </p:txBody>
      </p:sp>
      <p:pic>
        <p:nvPicPr>
          <p:cNvPr id="9" name="Image 3" descr="/tmp/claude-0/-home-user-Dom-Manipulation/01edd7ad-16e1-5ac5-9e2e-840f37702b96/scratchpad/img/txt/4b847b287b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35706" cy="67053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04288"/>
            <a:ext cx="47548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PEMBUNGKUSAN KADO MANUAL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743200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terlatih, 30 paket per jam; sengaja tidak diotomasi karena variasi tinggi dan volume kecil.</a:t>
            </a:r>
            <a:endParaRPr lang="en-US" sz="900" dirty="0"/>
          </a:p>
        </p:txBody>
      </p:sp>
      <p:pic>
        <p:nvPicPr>
          <p:cNvPr id="12" name="Image 4" descr="/tmp/claude-0/-home-user-Dom-Manipulation/01edd7ad-16e1-5ac5-9e2e-840f37702b96/scratchpad/img/txt/6fe4c3952e9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977640"/>
            <a:ext cx="935706" cy="67053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636008"/>
            <a:ext cx="47548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DIKEMAS, DITIMBANG, DILABELI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074920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200.000 pieces per hari; 60% lewat USPS; penimbangan adalah verifikasi akhir isi paket.</a:t>
            </a:r>
            <a:endParaRPr lang="en-US" sz="900" dirty="0"/>
          </a:p>
        </p:txBody>
      </p:sp>
      <p:pic>
        <p:nvPicPr>
          <p:cNvPr id="15" name="Image 5" descr="/tmp/claude-0/-home-user-Dom-Manipulation/01edd7ad-16e1-5ac5-9e2e-840f37702b96/scratchpad/img/txt/02d38cd5dd9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977640"/>
            <a:ext cx="935706" cy="67053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636008"/>
            <a:ext cx="47548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DI PELANGGAN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074920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atau 2 hari: ukuran yang dilihat pelanggan, speed dan dependability.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dfb0ca92a4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3474720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5544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pesanan diproses dengan investasi tenaga kerja kurang dari 3 menit; 70% pesanan multiproduk; buku menyebutnya world-class performance.</a:t>
            </a:r>
            <a:endParaRPr lang="en-US" sz="950" dirty="0"/>
          </a:p>
        </p:txBody>
      </p:sp>
      <p:pic>
        <p:nvPicPr>
          <p:cNvPr id="7" name="Image 2" descr="/tmp/claude-0/-home-user-Dom-Manipulation/01edd7ad-16e1-5ac5-9e2e-840f37702b96/scratchpad/img/txt/93fcbd7cb59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331720"/>
            <a:ext cx="1697766" cy="59134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3108960"/>
            <a:ext cx="21031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input (biaya)</a:t>
            </a:r>
            <a:endParaRPr lang="en-US" sz="950" dirty="0"/>
          </a:p>
        </p:txBody>
      </p:sp>
      <p:sp>
        <p:nvSpPr>
          <p:cNvPr id="9" name="Text 4"/>
          <p:cNvSpPr txBox="1"/>
          <p:nvPr/>
        </p:nvSpPr>
        <p:spPr>
          <a:xfrm>
            <a:off x="960120" y="34472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kerja per pesanan, hasil efisiensi proses di dalam gudang.</a:t>
            </a:r>
            <a:endParaRPr lang="en-US" sz="950" dirty="0"/>
          </a:p>
        </p:txBody>
      </p:sp>
      <p:pic>
        <p:nvPicPr>
          <p:cNvPr id="10" name="Image 3" descr="/tmp/claude-0/-home-user-Dom-Manipulation/01edd7ad-16e1-5ac5-9e2e-840f37702b96/scratchpad/img/txt/15be62850ca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2331720"/>
            <a:ext cx="1514886" cy="59134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337560" y="3108960"/>
            <a:ext cx="210312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output (speed)</a:t>
            </a:r>
            <a:endParaRPr lang="en-US" sz="950" dirty="0"/>
          </a:p>
        </p:txBody>
      </p:sp>
      <p:sp>
        <p:nvSpPr>
          <p:cNvPr id="12" name="Text 6"/>
          <p:cNvSpPr txBox="1"/>
          <p:nvPr/>
        </p:nvSpPr>
        <p:spPr>
          <a:xfrm>
            <a:off x="3337560" y="34472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dirasakan pelanggan, hasil posisi stok yang dekat pelanggan.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960120" y="4251960"/>
            <a:ext cx="4297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angka ini jangan dicampur: Amazon unggul di keduanya, tetapi mekanismenya berbeda.</a:t>
            </a:r>
            <a:endParaRPr lang="en-US" sz="950" dirty="0"/>
          </a:p>
        </p:txBody>
      </p:sp>
      <p:pic>
        <p:nvPicPr>
          <p:cNvPr id="14" name="Image 4" descr="/tmp/claude-0/-home-user-Dom-Manipulation/01edd7ad-16e1-5ac5-9e2e-840f37702b96/scratchpad/img/cut/scann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2827" y="2624328"/>
            <a:ext cx="5605949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2bb5a14fe3e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3142518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5544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sinilah angka kecepatan dan akurasi picking berasal.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20116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2011680"/>
            <a:ext cx="4297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10.000+ robot membawa rak ke pekerja: barangnya yang bergerak, bukan orangnya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960120" y="2505456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2505456"/>
            <a:ext cx="4297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mil jalan kaki per hari per pekerja dihemat (gudang Tracy, California)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299923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2999232"/>
            <a:ext cx="4297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pick and scan naik dari 100 menjadi 300 item per jam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3493008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234440" y="3493008"/>
            <a:ext cx="4297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per pesanan turun 20–40%; setara US$400–900 juta per tahun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114800"/>
            <a:ext cx="429768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stok tidak lagi harus tetap, dan setiap pengambilan langsung dipindai: catatan stok selalu mutakhir.</a:t>
            </a:r>
            <a:endParaRPr lang="en-US" sz="950" dirty="0"/>
          </a:p>
        </p:txBody>
      </p:sp>
      <p:pic>
        <p:nvPicPr>
          <p:cNvPr id="16" name="Image 2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0986" y="1435608"/>
            <a:ext cx="297778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958430578cd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3401568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5544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menjadi 300 item per jam mudah dibaca sebagai kenaikan 200%. Itu single-factor, hanya menghitung tenaga kerja; biaya robot tidak ikut dihitung.</a:t>
            </a:r>
            <a:endParaRPr lang="en-US" sz="950" dirty="0"/>
          </a:p>
        </p:txBody>
      </p:sp>
      <p:pic>
        <p:nvPicPr>
          <p:cNvPr id="7" name="Image 2" descr="/tmp/claude-0/-home-user-Dom-Manipulation/01edd7ad-16e1-5ac5-9e2e-840f37702b96/scratchpad/img/txt/684a9c8b56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331720"/>
            <a:ext cx="1871502" cy="28044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266703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Benar, tetapi belum memperhitungkan investasi robot.</a:t>
            </a:r>
            <a:endParaRPr lang="en-US" sz="950" dirty="0"/>
          </a:p>
        </p:txBody>
      </p:sp>
      <p:pic>
        <p:nvPicPr>
          <p:cNvPr id="9" name="Image 3" descr="/tmp/claude-0/-home-user-Dom-Manipulation/01edd7ad-16e1-5ac5-9e2e-840f37702b96/scratchpad/img/txt/c119a4db367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078510"/>
            <a:ext cx="3511296" cy="28044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60120" y="3413821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termasuk biaya robot: hemat US$0,70–1,50 per pesanan. Jauh di bawah 200%, tetapi tetap positif.</a:t>
            </a:r>
            <a:endParaRPr lang="en-US" sz="950" dirty="0"/>
          </a:p>
        </p:txBody>
      </p:sp>
      <p:pic>
        <p:nvPicPr>
          <p:cNvPr id="11" name="Image 4" descr="/tmp/claude-0/-home-user-Dom-Manipulation/01edd7ad-16e1-5ac5-9e2e-840f37702b96/scratchpad/img/txt/d4e83c0884f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962461"/>
            <a:ext cx="2904774" cy="28044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60120" y="4297771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kecil per pesanan menjadi besar karena volume.</a:t>
            </a:r>
            <a:endParaRPr lang="en-US" sz="950" dirty="0"/>
          </a:p>
        </p:txBody>
      </p:sp>
      <p:sp>
        <p:nvSpPr>
          <p:cNvPr id="13" name="Text 6"/>
          <p:cNvSpPr txBox="1"/>
          <p:nvPr/>
        </p:nvSpPr>
        <p:spPr>
          <a:xfrm>
            <a:off x="960120" y="4663531"/>
            <a:ext cx="4297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dipresentasikan sebaiknya angka biaya per pesanan, bukan angka 200%.</a:t>
            </a:r>
            <a:endParaRPr lang="en-US" sz="950" dirty="0"/>
          </a:p>
        </p:txBody>
      </p:sp>
      <p:pic>
        <p:nvPicPr>
          <p:cNvPr id="14" name="Image 5" descr="/tmp/claude-0/-home-user-Dom-Manipulation/01edd7ad-16e1-5ac5-9e2e-840f37702b96/scratchpad/img/cut/forklif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6933" y="2898648"/>
            <a:ext cx="5521842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2d095a42d95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3697194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5544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mencapai 50% dari total modal. Amazon jelas di sisi investasi besar: jutaan item di lebih dari 150 gudang.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2194560"/>
            <a:ext cx="42976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Jawabannya harus dikembalikan ke objective.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269748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tidak meminimalkan stok. Amazon meminimalkan total biaya pada tingkat layanan yang dijanjikan. Pada tingkat itu, kekosongan stok berarti penjualan hilang dan janji fastest delivery rusak: dampaknya signifikan, sehingga stok besar konsisten dengan tujuannya.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diminimalkan adalah dua komponen lain: tenaga kerja per pesanan dan kesalahan.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960120" y="4526280"/>
            <a:ext cx="42976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stok sedikit, tetapi stok besar yang dikelola presisi.</a:t>
            </a:r>
            <a:endParaRPr lang="en-US" sz="950" dirty="0"/>
          </a:p>
        </p:txBody>
      </p:sp>
      <p:pic>
        <p:nvPicPr>
          <p:cNvPr id="10" name="Image 2" descr="/tmp/claude-0/-home-user-Dom-Manipulation/01edd7ad-16e1-5ac5-9e2e-840f37702b96/scratchpad/img/cut/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848" y="3355848"/>
            <a:ext cx="7330928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406c0408f4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3974622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4588af9be3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478506" cy="26819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92325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1–2 hari; tenaga kerja kurang dari 3 menit per pesanan.</a:t>
            </a:r>
            <a:endParaRPr lang="en-US" sz="900" dirty="0"/>
          </a:p>
        </p:txBody>
      </p:sp>
      <p:pic>
        <p:nvPicPr>
          <p:cNvPr id="8" name="Image 3" descr="/tmp/claude-0/-home-user-Dom-Manipulation/01edd7ad-16e1-5ac5-9e2e-840f37702b96/scratchpad/img/txt/ce66b97fd87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25594"/>
            <a:ext cx="624810" cy="268194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648651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picking mendekati nol; bar code dipindai 15 kali; penimbangan sebelum keluar.</a:t>
            </a:r>
            <a:endParaRPr lang="en-US" sz="900" dirty="0"/>
          </a:p>
        </p:txBody>
      </p:sp>
      <p:pic>
        <p:nvPicPr>
          <p:cNvPr id="10" name="Image 4" descr="/tmp/claude-0/-home-user-Dom-Manipulation/01edd7ad-16e1-5ac5-9e2e-840f37702b96/scratchpad/img/txt/a3f23fdd9f3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050987"/>
            <a:ext cx="1139982" cy="268194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374045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Janji 1–2 hari terpenuhi; as promised, bukan sekadar cepat.</a:t>
            </a:r>
            <a:endParaRPr lang="en-US" sz="900" dirty="0"/>
          </a:p>
        </p:txBody>
      </p:sp>
      <p:pic>
        <p:nvPicPr>
          <p:cNvPr id="12" name="Image 5" descr="/tmp/claude-0/-home-user-Dom-Manipulation/01edd7ad-16e1-5ac5-9e2e-840f37702b96/scratchpad/img/txt/01f3b17eeb2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776381"/>
            <a:ext cx="877824" cy="268194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09943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pesanan multiproduk dilayani satu sistem: batch picking, konsolidasi di chute.</a:t>
            </a:r>
            <a:endParaRPr lang="en-US" sz="900" dirty="0"/>
          </a:p>
        </p:txBody>
      </p:sp>
      <p:pic>
        <p:nvPicPr>
          <p:cNvPr id="14" name="Image 6" descr="/tmp/claude-0/-home-user-Dom-Manipulation/01edd7ad-16e1-5ac5-9e2e-840f37702b96/scratchpad/img/txt/f784ed3583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501774"/>
            <a:ext cx="390174" cy="268194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60120" y="4824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terendah; 60% kiriman lewat USPS; biaya sort-pick-pack turun 20–40%.</a:t>
            </a:r>
            <a:endParaRPr lang="en-US" sz="900" dirty="0"/>
          </a:p>
        </p:txBody>
      </p:sp>
      <p:sp>
        <p:nvSpPr>
          <p:cNvPr id="16" name="Text 7"/>
          <p:cNvSpPr txBox="1"/>
          <p:nvPr/>
        </p:nvSpPr>
        <p:spPr>
          <a:xfrm>
            <a:off x="960120" y="5227168"/>
            <a:ext cx="429768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sistem yang sama: stok yang akurat lokasinya, proses pendek, kontrol berlapis.</a:t>
            </a:r>
            <a:endParaRPr lang="en-US" sz="950" dirty="0"/>
          </a:p>
        </p:txBody>
      </p:sp>
      <p:pic>
        <p:nvPicPr>
          <p:cNvPr id="17" name="Image 7" descr="/tmp/claude-0/-home-user-Dom-Manipulation/01edd7ad-16e1-5ac5-9e2e-840f37702b96/scratchpad/img/cut/tru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4947" y="3538728"/>
            <a:ext cx="5813828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28d35ace70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3041934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60020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1234440" y="1600200"/>
            <a:ext cx="40233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vs service level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19659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cost sekitar 26% per tahun dan naik eksponensial di service level tinggi. Aturan: naikkan stok kalau biaya kekosongan lebih besar dari biaya simpan tambahan; untuk ritel daring, ini terpenuhi.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60120" y="28803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2880360"/>
            <a:ext cx="40233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vs kesalahan dan tenaga kerja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32461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dan pemindaian berlapis adalah biaya tetap. Aturan: otomasi layak kalau penghematan per pesanan dikali volume tahunan lebih besar dari biaya otomasi. Penentunya volume.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41605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4160520"/>
            <a:ext cx="40233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1234440" y="45262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pesanan lewat USPS yang murah. Aturan: kecepatan dibangun dari dalam, stok dekat pelanggan dan proses gudang pendek.</a:t>
            </a:r>
            <a:endParaRPr lang="en-US" sz="900" dirty="0"/>
          </a:p>
        </p:txBody>
      </p:sp>
      <p:pic>
        <p:nvPicPr>
          <p:cNvPr id="15" name="Image 2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7814" y="1892808"/>
            <a:ext cx="220096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5046b470b33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2904774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554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Periksa dulu apakah dua tujuan benar bertentangan atau justru searah. Kalau searah, tidak perlu ditimbang.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21031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2103120"/>
            <a:ext cx="429768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vs biaya: searah, kesalahan yang dicegah menghilangkan biaya return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60120" y="24871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2487168"/>
            <a:ext cx="429768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proses vs biaya: searah, kurang dari 3 menit per pesanan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28712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2871216"/>
            <a:ext cx="429768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Ketersediaan stok vs holding cost: trade-off nyata, dipilih sadar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325526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234440" y="3255264"/>
            <a:ext cx="429768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kirim: trade-off nyata yang dihindari</a:t>
            </a:r>
            <a:endParaRPr lang="en-US" sz="900" dirty="0"/>
          </a:p>
        </p:txBody>
      </p:sp>
      <p:pic>
        <p:nvPicPr>
          <p:cNvPr id="15" name="Image 2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03320"/>
            <a:ext cx="822960" cy="543400"/>
          </a:xfrm>
          <a:prstGeom prst="rect">
            <a:avLst/>
          </a:prstGeom>
        </p:spPr>
      </p:pic>
      <p:pic>
        <p:nvPicPr>
          <p:cNvPr id="16" name="Image 3" descr="/tmp/claude-0/-home-user-Dom-Manipulation/01edd7ad-16e1-5ac5-9e2e-840f37702b96/scratchpad/img/txt/f814b869e0c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3931920"/>
            <a:ext cx="2154966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965960" y="44348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Pengecer virtual: modal terendah, tetapi gagal memenuhi constraint bebas kesalahan dan tercepat. Gudang manual: didominasi otomasi pada volume Amazon. Gudang terotomasi: di frontier, dipilih sesuai value proposition. Pada volume kecil, alternatif manual kembali ke frontier.</a:t>
            </a:r>
            <a:endParaRPr lang="en-US" sz="900" dirty="0"/>
          </a:p>
        </p:txBody>
      </p:sp>
      <p:pic>
        <p:nvPicPr>
          <p:cNvPr id="18" name="Image 4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618" y="3355848"/>
            <a:ext cx="5457157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47a640dfa4a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4532406" cy="4602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16459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1234440" y="1645920"/>
            <a:ext cx="44805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persediaan: pilihan barang untuk permintaan yang diantisipasi (eksplisit)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20299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234440" y="2029968"/>
            <a:ext cx="44805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accuracy: sistem perpetual dengan bar code, dipindai 15 kali (eksplisit)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24140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2414016"/>
            <a:ext cx="44805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counting: tidak disebut, verifikasi berkala tetap diperlukan (asumsi)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79806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2798064"/>
            <a:ext cx="44805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analysis: 100.000 item terlaris per wilayah (sumber lain, 2023)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318211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234440" y="3182112"/>
            <a:ext cx="44805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persediaan ritel: barang masuk dan keluar dengan bar code (eksplisit)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5661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234440" y="3566160"/>
            <a:ext cx="44805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demand dan safety stock: service level tinggi menuntut stok besar (inferensi)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95020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234440" y="3950208"/>
            <a:ext cx="4480560" cy="29260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Penempatan di gudang: picking diurutkan, slotting diatur perangkat lunak (eksplisit)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4434840"/>
            <a:ext cx="3108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Urutannya: akurasi dulu, model kemudian.</a:t>
            </a:r>
            <a:endParaRPr lang="en-US" sz="950" dirty="0"/>
          </a:p>
        </p:txBody>
      </p:sp>
      <p:pic>
        <p:nvPicPr>
          <p:cNvPr id="21" name="Image 2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0106" y="2258568"/>
            <a:ext cx="2648669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txt/db487a2c70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914400"/>
            <a:ext cx="3383280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7d3f9048e0d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2691354" cy="3047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95983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wilayah dengan stok lengkap; 76% permintaan dipenuhi dari dalam wilayah; same-day facility menyimpan 100.000 item terlaris per wilayah; picking sampai dock 11 menit.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599914"/>
            <a:ext cx="4297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where per wilayah; 100.000 item terlaris adalah Pareto/ABC pada penempatan stok.</a:t>
            </a:r>
            <a:endParaRPr lang="en-US" sz="950" dirty="0"/>
          </a:p>
        </p:txBody>
      </p:sp>
      <p:pic>
        <p:nvPicPr>
          <p:cNvPr id="9" name="Image 3" descr="/tmp/claude-0/-home-user-Dom-Manipulation/01edd7ad-16e1-5ac5-9e2e-840f37702b96/scratchpad/img/txt/4a78070d735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239994"/>
            <a:ext cx="1734342" cy="30477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60120" y="3599627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dari satu juta robot; 75% pengiriman melibatkan robot; paket per karyawan per tahun naik dari 175 menjadi 3.870.</a:t>
            </a:r>
            <a:endParaRPr lang="en-US" sz="950" dirty="0"/>
          </a:p>
        </p:txBody>
      </p:sp>
      <p:sp>
        <p:nvSpPr>
          <p:cNvPr id="11" name="Text 5"/>
          <p:cNvSpPr txBox="1"/>
          <p:nvPr/>
        </p:nvSpPr>
        <p:spPr>
          <a:xfrm>
            <a:off x="960120" y="4148267"/>
            <a:ext cx="42976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per karyawan adalah single-factor; jangan dibaca sebagai efisiensi total.</a:t>
            </a:r>
            <a:endParaRPr lang="en-US" sz="950" dirty="0"/>
          </a:p>
        </p:txBody>
      </p:sp>
      <p:pic>
        <p:nvPicPr>
          <p:cNvPr id="12" name="Image 4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260" y="2258568"/>
            <a:ext cx="249051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do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9e3c8ed4dbc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109246" cy="435894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67982532f9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825978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17320" y="2167128"/>
            <a:ext cx="484632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MENJADI KEUNGGULAN BERSAING</a:t>
            </a:r>
            <a:endParaRPr lang="en-US" sz="1150" dirty="0"/>
          </a:p>
        </p:txBody>
      </p:sp>
      <p:sp>
        <p:nvSpPr>
          <p:cNvPr id="8" name="Text 3"/>
          <p:cNvSpPr txBox="1"/>
          <p:nvPr/>
        </p:nvSpPr>
        <p:spPr>
          <a:xfrm>
            <a:off x="1417320" y="2532888"/>
            <a:ext cx="48463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Syaratnya dikelola presisi: stok besar yang diketahui lokasinya.</a:t>
            </a:r>
            <a:endParaRPr lang="en-US" sz="900" dirty="0"/>
          </a:p>
        </p:txBody>
      </p:sp>
      <p:pic>
        <p:nvPicPr>
          <p:cNvPr id="9" name="Image 3" descr="/tmp/claude-0/-home-user-Dom-Manipulation/01edd7ad-16e1-5ac5-9e2e-840f37702b96/scratchpad/img/txt/4e946ff4fc8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00200"/>
            <a:ext cx="825978" cy="59134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995160" y="2167128"/>
            <a:ext cx="484632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CATATAN ADALAH PRASYARAT</a:t>
            </a:r>
            <a:endParaRPr lang="en-US" sz="1150" dirty="0"/>
          </a:p>
        </p:txBody>
      </p:sp>
      <p:sp>
        <p:nvSpPr>
          <p:cNvPr id="11" name="Text 5"/>
          <p:cNvSpPr txBox="1"/>
          <p:nvPr/>
        </p:nvSpPr>
        <p:spPr>
          <a:xfrm>
            <a:off x="6995160" y="2532888"/>
            <a:ext cx="48463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dulu, model kemudian.</a:t>
            </a:r>
            <a:endParaRPr lang="en-US" sz="900" dirty="0"/>
          </a:p>
        </p:txBody>
      </p:sp>
      <p:pic>
        <p:nvPicPr>
          <p:cNvPr id="12" name="Image 4" descr="/tmp/claude-0/-home-user-Dom-Manipulation/01edd7ad-16e1-5ac5-9e2e-840f37702b96/scratchpad/img/txt/5feb96c19df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54680"/>
            <a:ext cx="825978" cy="59134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17320" y="3721608"/>
            <a:ext cx="484632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DIBANGUN DARI DALAM</a:t>
            </a:r>
            <a:endParaRPr lang="en-US" sz="1150" dirty="0"/>
          </a:p>
        </p:txBody>
      </p:sp>
      <p:sp>
        <p:nvSpPr>
          <p:cNvPr id="14" name="Text 7"/>
          <p:cNvSpPr txBox="1"/>
          <p:nvPr/>
        </p:nvSpPr>
        <p:spPr>
          <a:xfrm>
            <a:off x="1417320" y="4087368"/>
            <a:ext cx="48463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stok dan proses pendek memungkinkan moda kirim murah.</a:t>
            </a:r>
            <a:endParaRPr lang="en-US" sz="900" dirty="0"/>
          </a:p>
        </p:txBody>
      </p:sp>
      <p:pic>
        <p:nvPicPr>
          <p:cNvPr id="15" name="Image 5" descr="/tmp/claude-0/-home-user-Dom-Manipulation/01edd7ad-16e1-5ac5-9e2e-840f37702b96/scratchpad/img/txt/50d05874121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154680"/>
            <a:ext cx="825978" cy="591342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95160" y="3721608"/>
            <a:ext cx="484632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BERLAPIS, BUKAN TRADE-OFF</a:t>
            </a:r>
            <a:endParaRPr lang="en-US" sz="1150" dirty="0"/>
          </a:p>
        </p:txBody>
      </p:sp>
      <p:sp>
        <p:nvSpPr>
          <p:cNvPr id="17" name="Text 9"/>
          <p:cNvSpPr txBox="1"/>
          <p:nvPr/>
        </p:nvSpPr>
        <p:spPr>
          <a:xfrm>
            <a:off x="6995160" y="4087368"/>
            <a:ext cx="48463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kesalahan lebih besar dari biaya kontrol; kerjakan saja.</a:t>
            </a:r>
            <a:endParaRPr lang="en-US" sz="900" dirty="0"/>
          </a:p>
        </p:txBody>
      </p:sp>
      <p:pic>
        <p:nvPicPr>
          <p:cNvPr id="18" name="Image 6" descr="/tmp/claude-0/-home-user-Dom-Manipulation/01edd7ad-16e1-5ac5-9e2e-840f37702b96/scratchpad/img/txt/44ab4e1a06a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709160"/>
            <a:ext cx="825978" cy="591342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5276088"/>
            <a:ext cx="484632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DIBENARKAN OLEH VOLUME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1417320" y="5641848"/>
            <a:ext cx="48463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Penghematan kecil per pesanan hanya berarti pada volume besar.</a:t>
            </a:r>
            <a:endParaRPr lang="en-US" sz="900" dirty="0"/>
          </a:p>
        </p:txBody>
      </p:sp>
      <p:pic>
        <p:nvPicPr>
          <p:cNvPr id="21" name="Image 7" descr="/tmp/claude-0/-home-user-Dom-Manipulation/01edd7ad-16e1-5ac5-9e2e-840f37702b96/scratchpad/img/txt/78cf4aedf21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4709160"/>
            <a:ext cx="825978" cy="59134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995160" y="5276088"/>
            <a:ext cx="484632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YANG TERSISA DIPILIH SADAR</a:t>
            </a:r>
            <a:endParaRPr lang="en-US" sz="1150" dirty="0"/>
          </a:p>
        </p:txBody>
      </p:sp>
      <p:sp>
        <p:nvSpPr>
          <p:cNvPr id="23" name="Text 13"/>
          <p:cNvSpPr txBox="1"/>
          <p:nvPr/>
        </p:nvSpPr>
        <p:spPr>
          <a:xfrm>
            <a:off x="6995160" y="5641848"/>
            <a:ext cx="48463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889" rIns="889" bIns="254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tinggi diterima karena biaya kekosongan signifikan.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Inventory Management sebagai Keunggulan Kompetitif Amazon.com</dc:title>
  <dc:subject>PptxGenJS Presentation</dc:subject>
  <dc:creator>Kelompok 4</dc:creator>
  <cp:lastModifiedBy>Kelompok 4</cp:lastModifiedBy>
  <cp:revision>1</cp:revision>
  <dcterms:created xsi:type="dcterms:W3CDTF">2026-09-08T01:58:11Z</dcterms:created>
  <dcterms:modified xsi:type="dcterms:W3CDTF">2026-09-08T01:58:11Z</dcterms:modified>
</cp:coreProperties>
</file>