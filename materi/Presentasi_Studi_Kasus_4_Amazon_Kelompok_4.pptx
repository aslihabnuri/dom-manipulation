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Inventory management termasuk daily decision, satu kelompok dengan MRP, sequencing, dan scheduling. Arahnya ditentukan strategi operasi yang dipilih lebih dulu.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Aturan ini dipakai untuk menilai apakah stok Amazon yang sangat besar itu pemborosan atau justru keputusan yang benar.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Dikelola sendiri: stok di gudang terdekat pelanggan, titik kontrol dirancang sendiri, biaya per pesanan ditekan lewat volume dan otomasi. Kalau dititipkan ke pihak ketiga: kecepatan bergantung stok dan proses orang lain; kesalahan pihak lain menjadi biaya return Amazon tetapi tidak bisa dikendalikan; margin pihak ketiga masuk ke harga.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sky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113" y="2414016"/>
            <a:ext cx="9579469" cy="35204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84632" y="5916168"/>
            <a:ext cx="11222431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84632" y="5916168"/>
            <a:ext cx="1463040" cy="457200"/>
          </a:xfrm>
          <a:prstGeom prst="rect">
            <a:avLst/>
          </a:prstGeom>
          <a:solidFill>
            <a:srgbClr val="E8A0A8"/>
          </a:solidFill>
          <a:ln w="12700">
            <a:solidFill>
              <a:srgbClr val="E8A0A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84632" y="59161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KELOMPOK 4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2194560" y="5916168"/>
            <a:ext cx="9357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Bagaskoro  ·  25/574280/PEK/31778          Aulia Sisca Rahmadiyanti  ·  25/574305/PEK/31789          Fitra Aidila  ·  25/574309/PEK/31791</a:t>
            </a:r>
            <a:endParaRPr lang="en-US" sz="1100" dirty="0"/>
          </a:p>
        </p:txBody>
      </p:sp>
      <p:pic>
        <p:nvPicPr>
          <p:cNvPr id="10" name="Image 2" descr="/tmp/claude-0/-home-user-Dom-Manipulation/01edd7ad-16e1-5ac5-9e2e-840f37702b96/scratchpad/img/txt/45b8b9d1ee1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731520"/>
            <a:ext cx="8726394" cy="17312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map_den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6344"/>
            <a:ext cx="3861511" cy="5925312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f46ac3db330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1283178" cy="59134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8778240" cy="56692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Membaca kasus Amazon dari </a:t>
            </a:r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strategi ke bawah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mengapa persediaan dipegang sendiri, bagaimana satu pesanan dipenuhi, dan </a:t>
            </a:r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trade-off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apa yang diambil.</a:t>
            </a:r>
            <a:endParaRPr lang="en-US" sz="1400" dirty="0"/>
          </a:p>
        </p:txBody>
      </p:sp>
      <p:pic>
        <p:nvPicPr>
          <p:cNvPr id="8" name="Image 3" descr="/tmp/claude-0/-home-user-Dom-Manipulation/01edd7ad-16e1-5ac5-9e2e-840f37702b96/scratchpad/img/cut/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423160"/>
            <a:ext cx="914400" cy="603778"/>
          </a:xfrm>
          <a:prstGeom prst="rect">
            <a:avLst/>
          </a:prstGeom>
        </p:spPr>
      </p:pic>
      <p:pic>
        <p:nvPicPr>
          <p:cNvPr id="9" name="Image 4" descr="/tmp/claude-0/-home-user-Dom-Manipulation/01edd7ad-16e1-5ac5-9e2e-840f37702b96/scratchpad/img/txt/c5699454b57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03120" y="2651760"/>
            <a:ext cx="3267426" cy="591342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2103120" y="3474720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4"/>
          <p:cNvSpPr txBox="1"/>
          <p:nvPr/>
        </p:nvSpPr>
        <p:spPr>
          <a:xfrm>
            <a:off x="2468880" y="3474720"/>
            <a:ext cx="4297680" cy="47548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Kerangka berpikir: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strategi dulu, baru teknis</a:t>
            </a:r>
            <a:endParaRPr lang="en-US" sz="1400" dirty="0"/>
          </a:p>
        </p:txBody>
      </p:sp>
      <p:sp>
        <p:nvSpPr>
          <p:cNvPr id="12" name="Text 5"/>
          <p:cNvSpPr txBox="1"/>
          <p:nvPr/>
        </p:nvSpPr>
        <p:spPr>
          <a:xfrm>
            <a:off x="2103120" y="4078224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6"/>
          <p:cNvSpPr txBox="1"/>
          <p:nvPr/>
        </p:nvSpPr>
        <p:spPr>
          <a:xfrm>
            <a:off x="2468880" y="4078224"/>
            <a:ext cx="4297680" cy="47548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Kisah sukses: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dari virtual ke pengelola persediaan</a:t>
            </a:r>
            <a:endParaRPr lang="en-US" sz="1400" dirty="0"/>
          </a:p>
        </p:txBody>
      </p:sp>
      <p:sp>
        <p:nvSpPr>
          <p:cNvPr id="14" name="Text 7"/>
          <p:cNvSpPr txBox="1"/>
          <p:nvPr/>
        </p:nvSpPr>
        <p:spPr>
          <a:xfrm>
            <a:off x="2103120" y="468172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8"/>
          <p:cNvSpPr txBox="1"/>
          <p:nvPr/>
        </p:nvSpPr>
        <p:spPr>
          <a:xfrm>
            <a:off x="2468880" y="4681728"/>
            <a:ext cx="4297680" cy="47548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Proses pemenuhan pesanan: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delapan langkah</a:t>
            </a:r>
            <a:endParaRPr lang="en-US" sz="1400" dirty="0"/>
          </a:p>
        </p:txBody>
      </p:sp>
      <p:sp>
        <p:nvSpPr>
          <p:cNvPr id="16" name="Text 9"/>
          <p:cNvSpPr txBox="1"/>
          <p:nvPr/>
        </p:nvSpPr>
        <p:spPr>
          <a:xfrm>
            <a:off x="2103120" y="5285232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0"/>
          <p:cNvSpPr txBox="1"/>
          <p:nvPr/>
        </p:nvSpPr>
        <p:spPr>
          <a:xfrm>
            <a:off x="2468880" y="5285232"/>
            <a:ext cx="4297680" cy="47548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Analisis trade-off: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nyata atau searah</a:t>
            </a:r>
            <a:endParaRPr lang="en-US" sz="1400" dirty="0"/>
          </a:p>
        </p:txBody>
      </p:sp>
      <p:sp>
        <p:nvSpPr>
          <p:cNvPr id="18" name="Text 11"/>
          <p:cNvSpPr txBox="1"/>
          <p:nvPr/>
        </p:nvSpPr>
        <p:spPr>
          <a:xfrm>
            <a:off x="6995160" y="3474720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2"/>
          <p:cNvSpPr txBox="1"/>
          <p:nvPr/>
        </p:nvSpPr>
        <p:spPr>
          <a:xfrm>
            <a:off x="7360920" y="3474720"/>
            <a:ext cx="4297680" cy="47548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Kaitan dengan teori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persediaan</a:t>
            </a:r>
            <a:endParaRPr lang="en-US" sz="1400" dirty="0"/>
          </a:p>
        </p:txBody>
      </p:sp>
      <p:sp>
        <p:nvSpPr>
          <p:cNvPr id="20" name="Text 13"/>
          <p:cNvSpPr txBox="1"/>
          <p:nvPr/>
        </p:nvSpPr>
        <p:spPr>
          <a:xfrm>
            <a:off x="6995160" y="4078224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4"/>
          <p:cNvSpPr txBox="1"/>
          <p:nvPr/>
        </p:nvSpPr>
        <p:spPr>
          <a:xfrm>
            <a:off x="7360920" y="4078224"/>
            <a:ext cx="4297680" cy="47548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Perkembangan terbaru: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2023 dan 2025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6995160" y="468172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400" dirty="0"/>
          </a:p>
        </p:txBody>
      </p:sp>
      <p:sp>
        <p:nvSpPr>
          <p:cNvPr id="23" name="Text 16"/>
          <p:cNvSpPr txBox="1"/>
          <p:nvPr/>
        </p:nvSpPr>
        <p:spPr>
          <a:xfrm>
            <a:off x="7360920" y="4681728"/>
            <a:ext cx="4297680" cy="47548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Lesson learned: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apa yang bisa ditiru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3281" y="1069848"/>
            <a:ext cx="3397206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f795e17a035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444270" cy="59134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Tentukan dulu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apa yang mau dicapai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baru turunkan ke keputusan teknis. Persediaan adalah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keputusan OM ke-8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dengan tiga pertanyaan.</a:t>
            </a:r>
            <a:endParaRPr lang="en-US" sz="1400" dirty="0"/>
          </a:p>
        </p:txBody>
      </p:sp>
      <p:pic>
        <p:nvPicPr>
          <p:cNvPr id="8" name="Image 3" descr="/tmp/claude-0/-home-user-Dom-Manipulation/01edd7ad-16e1-5ac5-9e2e-840f37702b96/scratchpad/img/txt/b4ab0963171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377440"/>
            <a:ext cx="1182594" cy="384048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28346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Berapa banyak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persediaan setiap item yang harus dimiliki?</a:t>
            </a:r>
            <a:endParaRPr lang="en-US" sz="1400" dirty="0"/>
          </a:p>
        </p:txBody>
      </p:sp>
      <p:pic>
        <p:nvPicPr>
          <p:cNvPr id="10" name="Image 4" descr="/tmp/claude-0/-home-user-Dom-Manipulation/01edd7ad-16e1-5ac5-9e2e-840f37702b96/scratchpad/img/txt/f4a6c5d7214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246120"/>
            <a:ext cx="646206" cy="384048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960120" y="370332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Kapan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harus memesan kembali?</a:t>
            </a:r>
            <a:endParaRPr lang="en-US" sz="1400" dirty="0"/>
          </a:p>
        </p:txBody>
      </p:sp>
      <p:pic>
        <p:nvPicPr>
          <p:cNvPr id="12" name="Image 5" descr="/tmp/claude-0/-home-user-Dom-Manipulation/01edd7ad-16e1-5ac5-9e2e-840f37702b96/scratchpad/img/txt/08d7a257130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4114800"/>
            <a:ext cx="768096" cy="384048"/>
          </a:xfrm>
          <a:prstGeom prst="rect">
            <a:avLst/>
          </a:prstGeom>
        </p:spPr>
      </p:pic>
      <p:sp>
        <p:nvSpPr>
          <p:cNvPr id="13" name="Text 5"/>
          <p:cNvSpPr txBox="1"/>
          <p:nvPr/>
        </p:nvSpPr>
        <p:spPr>
          <a:xfrm>
            <a:off x="960120" y="4572000"/>
            <a:ext cx="6583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Item mana disimpan di gudang mana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stok Amazon tersebar di lebih dari 150 gudang.</a:t>
            </a:r>
            <a:endParaRPr lang="en-US" sz="1400" dirty="0"/>
          </a:p>
        </p:txBody>
      </p:sp>
      <p:sp>
        <p:nvSpPr>
          <p:cNvPr id="14" name="Text 6"/>
          <p:cNvSpPr txBox="1"/>
          <p:nvPr/>
        </p:nvSpPr>
        <p:spPr>
          <a:xfrm>
            <a:off x="960120" y="5239512"/>
            <a:ext cx="6583680" cy="56692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yang membuat Amazon berbeda: stok harus berada </a:t>
            </a:r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dekat pelanggan sebelum pesanan datang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box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3353" y="1069848"/>
            <a:ext cx="2597134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44eae67b81e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822192" cy="59134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Persoalan persediaan selalu punya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struktur yang sama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  <p:pic>
        <p:nvPicPr>
          <p:cNvPr id="8" name="Image 3" descr="/tmp/claude-0/-home-user-Dom-Manipulation/01edd7ad-16e1-5ac5-9e2e-840f37702b96/scratchpad/img/txt/ddf934e26cc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057400"/>
            <a:ext cx="1124712" cy="384048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2514600"/>
            <a:ext cx="6583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Minimalkan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biaya simpan, biaya pesan, dan biaya kekurangan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Amazon menambah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biaya kesalahan pemenuhan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(returns).</a:t>
            </a:r>
            <a:endParaRPr lang="en-US" sz="1400" dirty="0"/>
          </a:p>
        </p:txBody>
      </p:sp>
      <p:pic>
        <p:nvPicPr>
          <p:cNvPr id="10" name="Image 4" descr="/tmp/claude-0/-home-user-Dom-Manipulation/01edd7ad-16e1-5ac5-9e2e-840f37702b96/scratchpad/img/txt/80a07f4e565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154680"/>
            <a:ext cx="2191542" cy="384048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960120" y="3611880"/>
            <a:ext cx="6583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Jumlah pesan, titik pesan ulang, stok pengaman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Amazon menambah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alokasi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item apa di gudang mana.</a:t>
            </a:r>
            <a:endParaRPr lang="en-US" sz="1400" dirty="0"/>
          </a:p>
        </p:txBody>
      </p:sp>
      <p:pic>
        <p:nvPicPr>
          <p:cNvPr id="12" name="Image 5" descr="/tmp/claude-0/-home-user-Dom-Manipulation/01edd7ad-16e1-5ac5-9e2e-840f37702b96/scratchpad/img/txt/5771dcb4747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4251960"/>
            <a:ext cx="1475202" cy="384048"/>
          </a:xfrm>
          <a:prstGeom prst="rect">
            <a:avLst/>
          </a:prstGeom>
        </p:spPr>
      </p:pic>
      <p:sp>
        <p:nvSpPr>
          <p:cNvPr id="13" name="Text 5"/>
          <p:cNvSpPr txBox="1"/>
          <p:nvPr/>
        </p:nvSpPr>
        <p:spPr>
          <a:xfrm>
            <a:off x="960120" y="4709160"/>
            <a:ext cx="6583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Service level, kapasitas gudang, lead time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Bagi Amazon: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harga terendah, kirim tercepat, bebas kesalahan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  <p:sp>
        <p:nvSpPr>
          <p:cNvPr id="14" name="Text 6"/>
          <p:cNvSpPr txBox="1"/>
          <p:nvPr/>
        </p:nvSpPr>
        <p:spPr>
          <a:xfrm>
            <a:off x="960120" y="5349240"/>
            <a:ext cx="6583680" cy="56692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Service level adalah </a:t>
            </a:r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constraint, bukan objective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biaya diminimalkan pada tingkat layanan yang dijanjikan.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convey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7047" y="3808031"/>
            <a:ext cx="4663440" cy="2656777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6c713d82ea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438144" cy="591342"/>
          </a:xfrm>
          <a:prstGeom prst="rect">
            <a:avLst/>
          </a:prstGeom>
        </p:spPr>
      </p:pic>
      <p:pic>
        <p:nvPicPr>
          <p:cNvPr id="7" name="Image 3" descr="/tmp/claude-0/-home-user-Dom-Manipulation/01edd7ad-16e1-5ac5-9e2e-840f37702b96/scratchpad/img/txt/84f72332777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1691640"/>
            <a:ext cx="2289018" cy="359634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960120" y="2124426"/>
            <a:ext cx="5486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Biaya simpan dan penanganan naik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modal tertahan; risiko barang usang.</a:t>
            </a:r>
            <a:endParaRPr lang="en-US" sz="1400" dirty="0"/>
          </a:p>
        </p:txBody>
      </p:sp>
      <p:pic>
        <p:nvPicPr>
          <p:cNvPr id="9" name="Image 4" descr="/tmp/claude-0/-home-user-Dom-Manipulation/01edd7ad-16e1-5ac5-9e2e-840f37702b96/scratchpad/img/txt/c195d5fc338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2764506"/>
            <a:ext cx="2258568" cy="35963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60120" y="3197291"/>
            <a:ext cx="5486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Stock out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produksi berhenti; pada ritel daring pelanggan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berpindah dalam hitungan detik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  <p:pic>
        <p:nvPicPr>
          <p:cNvPr id="11" name="Image 5" descr="/tmp/claude-0/-home-user-Dom-Manipulation/01edd7ad-16e1-5ac5-9e2e-840f37702b96/scratchpad/img/cut/arro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3837371"/>
            <a:ext cx="868680" cy="573589"/>
          </a:xfrm>
          <a:prstGeom prst="rect">
            <a:avLst/>
          </a:prstGeom>
        </p:spPr>
      </p:pic>
      <p:pic>
        <p:nvPicPr>
          <p:cNvPr id="12" name="Image 6" descr="/tmp/claude-0/-home-user-Dom-Manipulation/01edd7ad-16e1-5ac5-9e2e-840f37702b96/scratchpad/img/txt/ee7013b77eb4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1680" y="4093403"/>
            <a:ext cx="3392424" cy="591342"/>
          </a:xfrm>
          <a:prstGeom prst="rect">
            <a:avLst/>
          </a:prstGeom>
        </p:spPr>
      </p:pic>
      <p:sp>
        <p:nvSpPr>
          <p:cNvPr id="13" name="Text 4"/>
          <p:cNvSpPr txBox="1"/>
          <p:nvPr/>
        </p:nvSpPr>
        <p:spPr>
          <a:xfrm>
            <a:off x="2011680" y="4751771"/>
            <a:ext cx="5120640" cy="82296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Kalau dampak kekosongan stok </a:t>
            </a:r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tidak signifikan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tidak perlu stok banyak. Kalau </a:t>
            </a:r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signifikan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(lead time panjang, biaya kehilangan penjualan besar), </a:t>
            </a:r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stok cadangan dinaikkan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00" dirty="0"/>
          </a:p>
        </p:txBody>
      </p:sp>
      <p:pic>
        <p:nvPicPr>
          <p:cNvPr id="4" name="Image 0" descr="/tmp/claude-0/-home-user-Dom-Manipulation/01edd7ad-16e1-5ac5-9e2e-840f37702b96/scratchpad/img/cut/bg_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" y="466344"/>
            <a:ext cx="11259007" cy="5925312"/>
          </a:xfrm>
          <a:prstGeom prst="rect">
            <a:avLst/>
          </a:prstGeom>
        </p:spPr>
      </p:pic>
      <p:pic>
        <p:nvPicPr>
          <p:cNvPr id="5" name="Image 1" descr="/tmp/claude-0/-home-user-Dom-Manipulation/01edd7ad-16e1-5ac5-9e2e-840f37702b96/scratchpad/img/txt/4b2a6a01fe9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5023074" cy="460218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5523f0fe2de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554480"/>
            <a:ext cx="1078992" cy="77111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554480" y="2331720"/>
            <a:ext cx="521208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RENCANA 1995: PENGECER VIRTUAL</a:t>
            </a:r>
            <a:endParaRPr lang="en-US" sz="1800" dirty="0"/>
          </a:p>
        </p:txBody>
      </p:sp>
      <p:sp>
        <p:nvSpPr>
          <p:cNvPr id="8" name="Text 3"/>
          <p:cNvSpPr txBox="1"/>
          <p:nvPr/>
        </p:nvSpPr>
        <p:spPr>
          <a:xfrm>
            <a:off x="1554480" y="2788920"/>
            <a:ext cx="5212080" cy="7132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Tanpa persediaan, tanpa gudang, tanpa overhead</a:t>
            </a:r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komputer menerima pesanan buku dan meneruskan pemenuhannya ke pihak lain.</a:t>
            </a:r>
            <a:endParaRPr lang="en-US" sz="1300" dirty="0"/>
          </a:p>
        </p:txBody>
      </p:sp>
      <p:pic>
        <p:nvPicPr>
          <p:cNvPr id="9" name="Image 3" descr="/tmp/claude-0/-home-user-Dom-Manipulation/01edd7ad-16e1-5ac5-9e2e-840f37702b96/scratchpad/img/txt/c1ed6d0bda7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3657600"/>
            <a:ext cx="1078992" cy="77111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675120" y="4434840"/>
            <a:ext cx="502920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KENYATAAN: GUDANG TERBESAR DI DUNIA</a:t>
            </a:r>
            <a:endParaRPr lang="en-US" sz="1800" dirty="0"/>
          </a:p>
        </p:txBody>
      </p:sp>
      <p:sp>
        <p:nvSpPr>
          <p:cNvPr id="11" name="Text 5"/>
          <p:cNvSpPr txBox="1"/>
          <p:nvPr/>
        </p:nvSpPr>
        <p:spPr>
          <a:xfrm>
            <a:off x="6675120" y="4892040"/>
            <a:ext cx="5029200" cy="7132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150+ gudang</a:t>
            </a:r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200 juta item di situs, 200.000 pieces per hari dari satu gudang, tenaga kerja </a:t>
            </a:r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kurang dari 3 menit</a:t>
            </a:r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 pesanan.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v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510" y="3813048"/>
            <a:ext cx="5162977" cy="26517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a99f38bd8d1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6062472" cy="59134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5669280" cy="56692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Bukan salah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tetapi asumsinya tidak bisa dipertahankan begitu </a:t>
            </a:r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 proposition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ditetapkan.</a:t>
            </a:r>
            <a:endParaRPr lang="en-US" sz="1400" dirty="0"/>
          </a:p>
        </p:txBody>
      </p:sp>
      <p:pic>
        <p:nvPicPr>
          <p:cNvPr id="8" name="Image 3" descr="/tmp/claude-0/-home-user-Dom-Manipulation/01edd7ad-16e1-5ac5-9e2e-840f37702b96/scratchpad/img/cut/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423160"/>
            <a:ext cx="868680" cy="573589"/>
          </a:xfrm>
          <a:prstGeom prst="rect">
            <a:avLst/>
          </a:prstGeom>
        </p:spPr>
      </p:pic>
      <p:pic>
        <p:nvPicPr>
          <p:cNvPr id="9" name="Image 4" descr="/tmp/claude-0/-home-user-Dom-Manipulation/01edd7ad-16e1-5ac5-9e2e-840f37702b96/scratchpad/img/txt/d953d05a775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2651760"/>
            <a:ext cx="2520726" cy="46021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2011680" y="32918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4"/>
          <p:cNvSpPr txBox="1"/>
          <p:nvPr/>
        </p:nvSpPr>
        <p:spPr>
          <a:xfrm>
            <a:off x="2377440" y="3291840"/>
            <a:ext cx="42062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Lowest price: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harga terendah</a:t>
            </a:r>
            <a:endParaRPr lang="en-US" sz="1400" dirty="0"/>
          </a:p>
        </p:txBody>
      </p:sp>
      <p:sp>
        <p:nvSpPr>
          <p:cNvPr id="12" name="Text 5"/>
          <p:cNvSpPr txBox="1"/>
          <p:nvPr/>
        </p:nvSpPr>
        <p:spPr>
          <a:xfrm>
            <a:off x="2011680" y="376732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6"/>
          <p:cNvSpPr txBox="1"/>
          <p:nvPr/>
        </p:nvSpPr>
        <p:spPr>
          <a:xfrm>
            <a:off x="2377440" y="3767328"/>
            <a:ext cx="42062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Fastest delivery: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pengiriman tercepat</a:t>
            </a:r>
            <a:endParaRPr lang="en-US" sz="1400" dirty="0"/>
          </a:p>
        </p:txBody>
      </p:sp>
      <p:sp>
        <p:nvSpPr>
          <p:cNvPr id="14" name="Text 7"/>
          <p:cNvSpPr txBox="1"/>
          <p:nvPr/>
        </p:nvSpPr>
        <p:spPr>
          <a:xfrm>
            <a:off x="2011680" y="424281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8"/>
          <p:cNvSpPr txBox="1"/>
          <p:nvPr/>
        </p:nvSpPr>
        <p:spPr>
          <a:xfrm>
            <a:off x="2377440" y="4242816"/>
            <a:ext cx="42062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Error-free: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pesanan bebas kesalahan</a:t>
            </a:r>
            <a:endParaRPr lang="en-US" sz="1400" dirty="0"/>
          </a:p>
        </p:txBody>
      </p:sp>
      <p:sp>
        <p:nvSpPr>
          <p:cNvPr id="16" name="Text 9"/>
          <p:cNvSpPr txBox="1"/>
          <p:nvPr/>
        </p:nvSpPr>
        <p:spPr>
          <a:xfrm>
            <a:off x="960120" y="4937760"/>
            <a:ext cx="5120640" cy="82296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Menyimpan persediaan sendiri </a:t>
            </a:r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bukan penyimpangan dari strategi, melainkan konsekuensinya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exchanges and returns are very expensive.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wor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838" y="1069848"/>
            <a:ext cx="4871649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2983755ca07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910614" cy="591342"/>
          </a:xfrm>
          <a:prstGeom prst="rect">
            <a:avLst/>
          </a:prstGeom>
        </p:spPr>
      </p:pic>
      <p:pic>
        <p:nvPicPr>
          <p:cNvPr id="7" name="Image 3" descr="/tmp/claude-0/-home-user-Dom-Manipulation/01edd7ad-16e1-5ac5-9e2e-840f37702b96/scratchpad/img/txt/b5a9f1e661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1691640"/>
            <a:ext cx="2444466" cy="359634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960120" y="2124426"/>
            <a:ext cx="55643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200.000 pieces/hari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 gudang; otomasi ekonomis.</a:t>
            </a:r>
            <a:endParaRPr lang="en-US" sz="1400" dirty="0"/>
          </a:p>
        </p:txBody>
      </p:sp>
      <p:pic>
        <p:nvPicPr>
          <p:cNvPr id="9" name="Image 4" descr="/tmp/claude-0/-home-user-Dom-Manipulation/01edd7ad-16e1-5ac5-9e2e-840f37702b96/scratchpad/img/txt/bdf5e2343e7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2508474"/>
            <a:ext cx="2459736" cy="35963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60120" y="2941259"/>
            <a:ext cx="55643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200 juta item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akurasi catatan per item jadi kunci.</a:t>
            </a:r>
            <a:endParaRPr lang="en-US" sz="1400" dirty="0"/>
          </a:p>
        </p:txBody>
      </p:sp>
      <p:pic>
        <p:nvPicPr>
          <p:cNvPr id="11" name="Image 5" descr="/tmp/claude-0/-home-user-Dom-Manipulation/01edd7ad-16e1-5ac5-9e2e-840f37702b96/scratchpad/img/txt/399607fc0e14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3325307"/>
            <a:ext cx="1850106" cy="359634"/>
          </a:xfrm>
          <a:prstGeom prst="rect">
            <a:avLst/>
          </a:prstGeom>
        </p:spPr>
      </p:pic>
      <p:sp>
        <p:nvSpPr>
          <p:cNvPr id="12" name="Text 4"/>
          <p:cNvSpPr txBox="1"/>
          <p:nvPr/>
        </p:nvSpPr>
        <p:spPr>
          <a:xfrm>
            <a:off x="960120" y="3758093"/>
            <a:ext cx="55643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Musim puncak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gudang dirancang untuk beban puncak.</a:t>
            </a:r>
            <a:endParaRPr lang="en-US" sz="1400" dirty="0"/>
          </a:p>
        </p:txBody>
      </p:sp>
      <p:pic>
        <p:nvPicPr>
          <p:cNvPr id="13" name="Image 6" descr="/tmp/claude-0/-home-user-Dom-Manipulation/01edd7ad-16e1-5ac5-9e2e-840f37702b96/scratchpad/img/txt/55e6469b8f5f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4142141"/>
            <a:ext cx="1984248" cy="359634"/>
          </a:xfrm>
          <a:prstGeom prst="rect">
            <a:avLst/>
          </a:prstGeom>
        </p:spPr>
      </p:pic>
      <p:sp>
        <p:nvSpPr>
          <p:cNvPr id="14" name="Text 5"/>
          <p:cNvSpPr txBox="1"/>
          <p:nvPr/>
        </p:nvSpPr>
        <p:spPr>
          <a:xfrm>
            <a:off x="960120" y="4574926"/>
            <a:ext cx="55643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Pelanggan hanya melihat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harga, waktu tiba, isi paket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  <p:sp>
        <p:nvSpPr>
          <p:cNvPr id="15" name="Text 6"/>
          <p:cNvSpPr txBox="1"/>
          <p:nvPr/>
        </p:nvSpPr>
        <p:spPr>
          <a:xfrm>
            <a:off x="960120" y="4986406"/>
            <a:ext cx="5564398" cy="56692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Volume dan variety sama-sama tinggi, tetap efisien: </a:t>
            </a:r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pengambilan massal dalam batch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penyusunan per pesanan di ujung proses.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800" dirty="0"/>
          </a:p>
        </p:txBody>
      </p:sp>
      <p:pic>
        <p:nvPicPr>
          <p:cNvPr id="4" name="Image 0" descr="/tmp/claude-0/-home-user-Dom-Manipulation/01edd7ad-16e1-5ac5-9e2e-840f37702b96/scratchpad/img/cut/bg_tot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" y="466344"/>
            <a:ext cx="11259007" cy="5925312"/>
          </a:xfrm>
          <a:prstGeom prst="rect">
            <a:avLst/>
          </a:prstGeom>
        </p:spPr>
      </p:pic>
      <p:pic>
        <p:nvPicPr>
          <p:cNvPr id="5" name="Image 1" descr="/tmp/claude-0/-home-user-Dom-Manipulation/01edd7ad-16e1-5ac5-9e2e-840f37702b96/scratchpad/img/txt/97442fc8a16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5907024" cy="460218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57ee52ba25c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645920"/>
            <a:ext cx="969264" cy="69494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463040" y="2304288"/>
            <a:ext cx="48920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PESANAN MASUK, SEATTLE MENGAMBIL ALIH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779776"/>
            <a:ext cx="4892040" cy="7132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Pesanan dialokasikan ke DC yang punya stok: </a:t>
            </a:r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jawaban atas where</a:t>
            </a:r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catatan stok tiap DC harus benar.</a:t>
            </a:r>
            <a:endParaRPr lang="en-US" sz="1300" dirty="0"/>
          </a:p>
        </p:txBody>
      </p:sp>
      <p:pic>
        <p:nvPicPr>
          <p:cNvPr id="9" name="Image 3" descr="/tmp/claude-0/-home-user-Dom-Manipulation/01edd7ad-16e1-5ac5-9e2e-840f37702b96/scratchpad/img/txt/efe8b2f086f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45920"/>
            <a:ext cx="969264" cy="69494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040880" y="2304288"/>
            <a:ext cx="48920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FLOW MEISTER MENERIMA PESANAN</a:t>
            </a:r>
            <a:endParaRPr lang="en-US" sz="1600" dirty="0"/>
          </a:p>
        </p:txBody>
      </p:sp>
      <p:sp>
        <p:nvSpPr>
          <p:cNvPr id="11" name="Text 5"/>
          <p:cNvSpPr txBox="1"/>
          <p:nvPr/>
        </p:nvSpPr>
        <p:spPr>
          <a:xfrm>
            <a:off x="7040880" y="2779776"/>
            <a:ext cx="4892040" cy="7132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Menentukan pekerja mana pergi ke mana; pesanan diubah menjadi </a:t>
            </a:r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penugasan picking</a:t>
            </a:r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300" dirty="0"/>
          </a:p>
        </p:txBody>
      </p:sp>
      <p:pic>
        <p:nvPicPr>
          <p:cNvPr id="12" name="Image 4" descr="/tmp/claude-0/-home-user-Dom-Manipulation/01edd7ad-16e1-5ac5-9e2e-840f37702b96/scratchpad/img/txt/9601447df89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023360"/>
            <a:ext cx="969264" cy="694944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463040" y="4681728"/>
            <a:ext cx="48920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PICKING</a:t>
            </a:r>
            <a:endParaRPr lang="en-US" sz="1600" dirty="0"/>
          </a:p>
        </p:txBody>
      </p:sp>
      <p:sp>
        <p:nvSpPr>
          <p:cNvPr id="14" name="Text 7"/>
          <p:cNvSpPr txBox="1"/>
          <p:nvPr/>
        </p:nvSpPr>
        <p:spPr>
          <a:xfrm>
            <a:off x="1463040" y="5157216"/>
            <a:ext cx="4892040" cy="7132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Kecepatan dua kali</a:t>
            </a:r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operator manual, </a:t>
            </a:r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kesalahan mendekati nol</a:t>
            </a:r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Mekanismenya robot Kiva.</a:t>
            </a:r>
            <a:endParaRPr lang="en-US" sz="1300" dirty="0"/>
          </a:p>
        </p:txBody>
      </p:sp>
      <p:pic>
        <p:nvPicPr>
          <p:cNvPr id="15" name="Image 5" descr="/tmp/claude-0/-home-user-Dom-Manipulation/01edd7ad-16e1-5ac5-9e2e-840f37702b96/scratchpad/img/txt/3d2074ea9d2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4023360"/>
            <a:ext cx="969264" cy="694944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7040880" y="4681728"/>
            <a:ext cx="48920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CRATE DI BAN BERJALAN</a:t>
            </a:r>
            <a:endParaRPr lang="en-US" sz="1600" dirty="0"/>
          </a:p>
        </p:txBody>
      </p:sp>
      <p:sp>
        <p:nvSpPr>
          <p:cNvPr id="17" name="Text 9"/>
          <p:cNvSpPr txBox="1"/>
          <p:nvPr/>
        </p:nvSpPr>
        <p:spPr>
          <a:xfrm>
            <a:off x="7040880" y="5157216"/>
            <a:ext cx="4892040" cy="7132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Conveyor lebih dari 10 mil; </a:t>
            </a:r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bar code dipindai 15 kali</a:t>
            </a:r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batch picking dan verifikasi berulang.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800" dirty="0"/>
          </a:p>
        </p:txBody>
      </p:sp>
      <p:pic>
        <p:nvPicPr>
          <p:cNvPr id="4" name="Image 0" descr="/tmp/claude-0/-home-user-Dom-Manipulation/01edd7ad-16e1-5ac5-9e2e-840f37702b96/scratchpad/img/cut/bg_sortat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" y="466344"/>
            <a:ext cx="11259007" cy="5925312"/>
          </a:xfrm>
          <a:prstGeom prst="rect">
            <a:avLst/>
          </a:prstGeom>
        </p:spPr>
      </p:pic>
      <p:pic>
        <p:nvPicPr>
          <p:cNvPr id="5" name="Image 1" descr="/tmp/claude-0/-home-user-Dom-Manipulation/01edd7ad-16e1-5ac5-9e2e-840f37702b96/scratchpad/img/txt/f5e8d5568b4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5907024" cy="460218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a0254a5ebc0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645920"/>
            <a:ext cx="969264" cy="69494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463040" y="2304288"/>
            <a:ext cx="48920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BERTEMU DI CHUTE, MASUK KOTAK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779776"/>
            <a:ext cx="4892040" cy="7132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 code dicocokkan dengan nomor pesanan; </a:t>
            </a:r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picking diurutkan</a:t>
            </a:r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untuk mengurangi perjalanan.</a:t>
            </a:r>
            <a:endParaRPr lang="en-US" sz="1300" dirty="0"/>
          </a:p>
        </p:txBody>
      </p:sp>
      <p:pic>
        <p:nvPicPr>
          <p:cNvPr id="9" name="Image 3" descr="/tmp/claude-0/-home-user-Dom-Manipulation/01edd7ad-16e1-5ac5-9e2e-840f37702b96/scratchpad/img/txt/d2a2b321183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45920"/>
            <a:ext cx="969264" cy="69494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040880" y="2304288"/>
            <a:ext cx="48920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PEMBUNGKUSAN KADO MANUAL</a:t>
            </a:r>
            <a:endParaRPr lang="en-US" sz="1600" dirty="0"/>
          </a:p>
        </p:txBody>
      </p:sp>
      <p:sp>
        <p:nvSpPr>
          <p:cNvPr id="11" name="Text 5"/>
          <p:cNvSpPr txBox="1"/>
          <p:nvPr/>
        </p:nvSpPr>
        <p:spPr>
          <a:xfrm>
            <a:off x="7040880" y="2779776"/>
            <a:ext cx="4892040" cy="7132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 terlatih, 30 paket per jam; </a:t>
            </a:r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tidak diotomasi</a:t>
            </a:r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karena variasi tinggi dan volume kecil.</a:t>
            </a:r>
            <a:endParaRPr lang="en-US" sz="1300" dirty="0"/>
          </a:p>
        </p:txBody>
      </p:sp>
      <p:pic>
        <p:nvPicPr>
          <p:cNvPr id="12" name="Image 4" descr="/tmp/claude-0/-home-user-Dom-Manipulation/01edd7ad-16e1-5ac5-9e2e-840f37702b96/scratchpad/img/txt/cc3ba90502b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023360"/>
            <a:ext cx="969264" cy="694944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463040" y="4681728"/>
            <a:ext cx="48920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DIKEMAS, DITIMBANG, DILABELI</a:t>
            </a:r>
            <a:endParaRPr lang="en-US" sz="1600" dirty="0"/>
          </a:p>
        </p:txBody>
      </p:sp>
      <p:sp>
        <p:nvSpPr>
          <p:cNvPr id="14" name="Text 7"/>
          <p:cNvSpPr txBox="1"/>
          <p:nvPr/>
        </p:nvSpPr>
        <p:spPr>
          <a:xfrm>
            <a:off x="1463040" y="5157216"/>
            <a:ext cx="4892040" cy="7132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Sampai 200.000 pieces per hari; </a:t>
            </a:r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60% lewat USPS</a:t>
            </a:r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penimbangan adalah verifikasi akhir.</a:t>
            </a:r>
            <a:endParaRPr lang="en-US" sz="1300" dirty="0"/>
          </a:p>
        </p:txBody>
      </p:sp>
      <p:pic>
        <p:nvPicPr>
          <p:cNvPr id="15" name="Image 5" descr="/tmp/claude-0/-home-user-Dom-Manipulation/01edd7ad-16e1-5ac5-9e2e-840f37702b96/scratchpad/img/txt/42b3b880053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4023360"/>
            <a:ext cx="969264" cy="694944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7040880" y="4681728"/>
            <a:ext cx="48920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TIBA DI PELANGGAN</a:t>
            </a:r>
            <a:endParaRPr lang="en-US" sz="1600" dirty="0"/>
          </a:p>
        </p:txBody>
      </p:sp>
      <p:sp>
        <p:nvSpPr>
          <p:cNvPr id="17" name="Text 9"/>
          <p:cNvSpPr txBox="1"/>
          <p:nvPr/>
        </p:nvSpPr>
        <p:spPr>
          <a:xfrm>
            <a:off x="7040880" y="5157216"/>
            <a:ext cx="4892040" cy="7132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Dalam </a:t>
            </a:r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1 atau 2 hari</a:t>
            </a:r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ukuran yang dilihat pelanggan, speed dan dependability.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scan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488" y="2807208"/>
            <a:ext cx="5338999" cy="365760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38a177bc172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4501866" cy="59134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Satu pesanan diproses dengan tenaga kerja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kurang dari 3 menit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70% pesanan multiproduk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  <p:pic>
        <p:nvPicPr>
          <p:cNvPr id="8" name="Image 3" descr="/tmp/claude-0/-home-user-Dom-Manipulation/01edd7ad-16e1-5ac5-9e2e-840f37702b96/scratchpad/img/txt/b0ab9268697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377440"/>
            <a:ext cx="1770918" cy="615666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3154680"/>
            <a:ext cx="2286000" cy="36576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Ukuran input (biaya)</a:t>
            </a:r>
            <a:endParaRPr lang="en-US" sz="1400" dirty="0"/>
          </a:p>
        </p:txBody>
      </p:sp>
      <p:sp>
        <p:nvSpPr>
          <p:cNvPr id="10" name="Text 4"/>
          <p:cNvSpPr txBox="1"/>
          <p:nvPr/>
        </p:nvSpPr>
        <p:spPr>
          <a:xfrm>
            <a:off x="960120" y="36118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Jam kerja per pesanan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hasil proses gudang.</a:t>
            </a:r>
            <a:endParaRPr lang="en-US" sz="1400" dirty="0"/>
          </a:p>
        </p:txBody>
      </p:sp>
      <p:pic>
        <p:nvPicPr>
          <p:cNvPr id="11" name="Image 4" descr="/tmp/claude-0/-home-user-Dom-Manipulation/01edd7ad-16e1-5ac5-9e2e-840f37702b96/scratchpad/img/txt/b38412ff058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2377440"/>
            <a:ext cx="1581912" cy="615666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3520440" y="3154680"/>
            <a:ext cx="2286000" cy="36576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Ukuran output (speed)</a:t>
            </a:r>
            <a:endParaRPr lang="en-US" sz="1400" dirty="0"/>
          </a:p>
        </p:txBody>
      </p:sp>
      <p:sp>
        <p:nvSpPr>
          <p:cNvPr id="13" name="Text 6"/>
          <p:cNvSpPr txBox="1"/>
          <p:nvPr/>
        </p:nvSpPr>
        <p:spPr>
          <a:xfrm>
            <a:off x="3520440" y="36118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Dirasakan pelanggan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hasil stok yang dekat.</a:t>
            </a:r>
            <a:endParaRPr lang="en-US" sz="14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4617720"/>
            <a:ext cx="4846320" cy="56692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Dua angka ini jangan dicampur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Amazon unggul di keduanya, tetapi mekanismenya berbeda.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131" y="1069848"/>
            <a:ext cx="3194356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2ebda11c221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4069080" cy="59134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Dari sinilah angka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kecepatan dan akurasi picking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berasal.</a:t>
            </a:r>
            <a:endParaRPr lang="en-US" sz="14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205740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4"/>
          <p:cNvSpPr txBox="1"/>
          <p:nvPr/>
        </p:nvSpPr>
        <p:spPr>
          <a:xfrm>
            <a:off x="1325880" y="2057400"/>
            <a:ext cx="6217920" cy="43891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10.000+ robot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membawa rak ke pekerja: barangnya yang bergerak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2587752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1325880" y="2587752"/>
            <a:ext cx="6217920" cy="43891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mil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jalan kaki per hari per pekerja dihemat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3118104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1325880" y="3118104"/>
            <a:ext cx="6217920" cy="43891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Pick and scan naik dari </a:t>
            </a:r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 menjadi 300 item per jam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3648456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3648456"/>
            <a:ext cx="6217920" cy="43891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Biaya per pesanan turun </a:t>
            </a:r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20–40%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US$400–900 juta per tahun</a:t>
            </a:r>
            <a:endParaRPr lang="en-US" sz="1400" dirty="0"/>
          </a:p>
        </p:txBody>
      </p:sp>
      <p:pic>
        <p:nvPicPr>
          <p:cNvPr id="16" name="Image 3" descr="/tmp/claude-0/-home-user-Dom-Manipulation/01edd7ad-16e1-5ac5-9e2e-840f37702b96/scratchpad/img/txt/a58eebf546b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361688"/>
            <a:ext cx="2691354" cy="35963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60120" y="4794474"/>
            <a:ext cx="6583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Lokasi stok tidak lagi harus tetap, dan setiap pengambilan langsung dipindai: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catatan stok selalu mutakhir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960120" y="5434554"/>
            <a:ext cx="6583680" cy="56692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Inilah yang membuat alokasi pesanan dari Seattle bisa mengandalkan </a:t>
            </a:r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stok per DC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forkli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988" y="3264408"/>
            <a:ext cx="4955499" cy="320040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1ff86573812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4407408" cy="59134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 ke 300 item per jam mudah dibaca sebagai kenaikan 200%. Itu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single-factor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biaya robot tidak dihitung.</a:t>
            </a:r>
            <a:endParaRPr lang="en-US" sz="1400" dirty="0"/>
          </a:p>
        </p:txBody>
      </p:sp>
      <p:pic>
        <p:nvPicPr>
          <p:cNvPr id="8" name="Image 3" descr="/tmp/claude-0/-home-user-Dom-Manipulation/01edd7ad-16e1-5ac5-9e2e-840f37702b96/scratchpad/img/txt/8fe0d00c168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377440"/>
            <a:ext cx="2429286" cy="359634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281022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Benar, tetapi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belum memperhitungkan investasi robot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  <p:pic>
        <p:nvPicPr>
          <p:cNvPr id="10" name="Image 4" descr="/tmp/claude-0/-home-user-Dom-Manipulation/01edd7ad-16e1-5ac5-9e2e-840f37702b96/scratchpad/img/txt/7144a8e2ff1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194274"/>
            <a:ext cx="4562856" cy="359634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960120" y="3627059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Termasuk biaya robot: hemat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US$0,70–1,50 per pesanan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  <p:pic>
        <p:nvPicPr>
          <p:cNvPr id="12" name="Image 5" descr="/tmp/claude-0/-home-user-Dom-Manipulation/01edd7ad-16e1-5ac5-9e2e-840f37702b96/scratchpad/img/txt/95a34a56280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4011107"/>
            <a:ext cx="3773454" cy="359634"/>
          </a:xfrm>
          <a:prstGeom prst="rect">
            <a:avLst/>
          </a:prstGeom>
        </p:spPr>
      </p:pic>
      <p:sp>
        <p:nvSpPr>
          <p:cNvPr id="13" name="Text 5"/>
          <p:cNvSpPr txBox="1"/>
          <p:nvPr/>
        </p:nvSpPr>
        <p:spPr>
          <a:xfrm>
            <a:off x="960120" y="4443893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Angka kecil per pesanan menjadi besar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karena volume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  <p:sp>
        <p:nvSpPr>
          <p:cNvPr id="14" name="Text 6"/>
          <p:cNvSpPr txBox="1"/>
          <p:nvPr/>
        </p:nvSpPr>
        <p:spPr>
          <a:xfrm>
            <a:off x="960120" y="4855373"/>
            <a:ext cx="5212080" cy="56692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Yang dipresentasikan sebaiknya </a:t>
            </a:r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angka biaya per pesanan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bukan angka 200%.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box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3353" y="1069848"/>
            <a:ext cx="2597134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f9a5b4319ca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4794474" cy="59134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Persediaan bisa mencapai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50% dari total modal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Amazon jelas di sisi investasi besar: jutaan item di 150+ gudang.</a:t>
            </a:r>
            <a:endParaRPr lang="en-US" sz="14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2331720"/>
            <a:ext cx="658368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Jawabannya harus dikembalikan ke </a:t>
            </a:r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objective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  <p:sp>
        <p:nvSpPr>
          <p:cNvPr id="9" name="Text 4"/>
          <p:cNvSpPr txBox="1"/>
          <p:nvPr/>
        </p:nvSpPr>
        <p:spPr>
          <a:xfrm>
            <a:off x="960120" y="283464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Amazon tidak meminimalkan stok; Amazon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meminimalkan total biaya pada tingkat layanan yang dijanjikan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Kekosongan stok berarti penjualan hilang dan janji rusak, sehingga stok besar konsisten dengan tujuannya.</a:t>
            </a:r>
            <a:endParaRPr lang="en-US" sz="1400" dirty="0"/>
          </a:p>
        </p:txBody>
      </p:sp>
      <p:pic>
        <p:nvPicPr>
          <p:cNvPr id="10" name="Image 3" descr="/tmp/claude-0/-home-user-Dom-Manipulation/01edd7ad-16e1-5ac5-9e2e-840f37702b96/scratchpad/img/txt/a9381d599d0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069080"/>
            <a:ext cx="2950494" cy="359634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960120" y="4501866"/>
            <a:ext cx="6583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Tenaga kerja per pesanan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(kurang dari 3 menit) dan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kesalahan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(mendekati nol).</a:t>
            </a:r>
            <a:endParaRPr lang="en-US" sz="14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5141946"/>
            <a:ext cx="658368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Bukan stok sedikit, tetapi </a:t>
            </a:r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stok besar yang dikelola presisi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tru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8487" y="4163736"/>
            <a:ext cx="4572000" cy="2301072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f0d8647d03a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5151090" cy="591342"/>
          </a:xfrm>
          <a:prstGeom prst="rect">
            <a:avLst/>
          </a:prstGeom>
        </p:spPr>
      </p:pic>
      <p:pic>
        <p:nvPicPr>
          <p:cNvPr id="7" name="Image 3" descr="/tmp/claude-0/-home-user-Dom-Manipulation/01edd7ad-16e1-5ac5-9e2e-840f37702b96/scratchpad/img/txt/a5b7096cac2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1645920"/>
            <a:ext cx="548640" cy="304770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960120" y="202384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Tiba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1–2 hari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tenaga kerja kurang dari 3 menit per pesanan.</a:t>
            </a:r>
            <a:endParaRPr lang="en-US" sz="1400" dirty="0"/>
          </a:p>
        </p:txBody>
      </p:sp>
      <p:pic>
        <p:nvPicPr>
          <p:cNvPr id="9" name="Image 4" descr="/tmp/claude-0/-home-user-Dom-Manipulation/01edd7ad-16e1-5ac5-9e2e-840f37702b96/scratchpad/img/txt/7f38c4477a1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2389602"/>
            <a:ext cx="716250" cy="304770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60120" y="2767523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Kesalahan mendekati nol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bar code dipindai 15 kali; ditimbang.</a:t>
            </a:r>
            <a:endParaRPr lang="en-US" sz="1400" dirty="0"/>
          </a:p>
        </p:txBody>
      </p:sp>
      <p:pic>
        <p:nvPicPr>
          <p:cNvPr id="11" name="Image 5" descr="/tmp/claude-0/-home-user-Dom-Manipulation/01edd7ad-16e1-5ac5-9e2e-840f37702b96/scratchpad/img/txt/de74601b38e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3133283"/>
            <a:ext cx="1310610" cy="304770"/>
          </a:xfrm>
          <a:prstGeom prst="rect">
            <a:avLst/>
          </a:prstGeom>
        </p:spPr>
      </p:pic>
      <p:sp>
        <p:nvSpPr>
          <p:cNvPr id="12" name="Text 4"/>
          <p:cNvSpPr txBox="1"/>
          <p:nvPr/>
        </p:nvSpPr>
        <p:spPr>
          <a:xfrm>
            <a:off x="960120" y="3511205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Janji 1–2 hari terpenuhi;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as promised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bukan sekadar cepat.</a:t>
            </a:r>
            <a:endParaRPr lang="en-US" sz="1400" dirty="0"/>
          </a:p>
        </p:txBody>
      </p:sp>
      <p:pic>
        <p:nvPicPr>
          <p:cNvPr id="13" name="Image 6" descr="/tmp/claude-0/-home-user-Dom-Manipulation/01edd7ad-16e1-5ac5-9e2e-840f37702b96/scratchpad/img/txt/de611277e56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3876965"/>
            <a:ext cx="1005840" cy="304770"/>
          </a:xfrm>
          <a:prstGeom prst="rect">
            <a:avLst/>
          </a:prstGeom>
        </p:spPr>
      </p:pic>
      <p:sp>
        <p:nvSpPr>
          <p:cNvPr id="14" name="Text 5"/>
          <p:cNvSpPr txBox="1"/>
          <p:nvPr/>
        </p:nvSpPr>
        <p:spPr>
          <a:xfrm>
            <a:off x="960120" y="425488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70% pesanan multiproduk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satu sistem batch picking.</a:t>
            </a:r>
            <a:endParaRPr lang="en-US" sz="1400" dirty="0"/>
          </a:p>
        </p:txBody>
      </p:sp>
      <p:pic>
        <p:nvPicPr>
          <p:cNvPr id="15" name="Image 7" descr="/tmp/claude-0/-home-user-Dom-Manipulation/01edd7ad-16e1-5ac5-9e2e-840f37702b96/scratchpad/img/txt/f40ddf7d6864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0120" y="4620646"/>
            <a:ext cx="445038" cy="304770"/>
          </a:xfrm>
          <a:prstGeom prst="rect">
            <a:avLst/>
          </a:prstGeom>
        </p:spPr>
      </p:pic>
      <p:sp>
        <p:nvSpPr>
          <p:cNvPr id="16" name="Text 6"/>
          <p:cNvSpPr txBox="1"/>
          <p:nvPr/>
        </p:nvSpPr>
        <p:spPr>
          <a:xfrm>
            <a:off x="960120" y="49985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Harga terendah; 60% via USPS; biaya proses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turun 20–40%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  <p:sp>
        <p:nvSpPr>
          <p:cNvPr id="17" name="Text 7"/>
          <p:cNvSpPr txBox="1"/>
          <p:nvPr/>
        </p:nvSpPr>
        <p:spPr>
          <a:xfrm>
            <a:off x="960120" y="5364328"/>
            <a:ext cx="5486400" cy="56692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Satu sistem yang sama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stok yang akurat lokasinya, proses pendek, kontrol berlapis.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box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3353" y="1069848"/>
            <a:ext cx="2597134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7e24667e6f9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941064" cy="59134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Setiap pilihan operasi punya biaya di sisi lain; keputusan yang baik tahu mana yang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less loss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23774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4"/>
          <p:cNvSpPr txBox="1"/>
          <p:nvPr/>
        </p:nvSpPr>
        <p:spPr>
          <a:xfrm>
            <a:off x="1325880" y="2377440"/>
            <a:ext cx="621792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Holding cost vs service level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1325880" y="28346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Carrying cost 26%/tahun.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Aturan: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tambah stok bila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biaya kekosongan &gt; biaya simpan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ritel daring memenuhinya.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960120" y="36576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1325880" y="3657600"/>
            <a:ext cx="621792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Otomasi vs kesalahan dan tenaga kerja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1325880" y="411480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Aturan: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otomasi layak bila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hemat per pesanan × volume tahunan &gt; biaya otomasi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Penentunya volume.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493776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4937760"/>
            <a:ext cx="621792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Kecepatan kirim vs biaya kirim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1325880" y="539496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 pesanan via USPS yang murah.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Aturan: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kecepatan dibangun dari dalam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stok dekat pelanggan, proses pendek.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convey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5348" y="3721608"/>
            <a:ext cx="4815139" cy="274320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91322335636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764310" cy="59134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Periksa dulu apakah dua tujuan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benar bertentangan atau justru searah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Kalau searah, kerjakan saja.</a:t>
            </a:r>
            <a:endParaRPr lang="en-US" sz="14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23317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4"/>
          <p:cNvSpPr txBox="1"/>
          <p:nvPr/>
        </p:nvSpPr>
        <p:spPr>
          <a:xfrm>
            <a:off x="1325880" y="2331720"/>
            <a:ext cx="548640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Akurasi vs biaya: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searah, mencegah biaya return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280720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1325880" y="2807208"/>
            <a:ext cx="548640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Kecepatan proses vs biaya: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searah, kurang dari 3 menit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3282696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1325880" y="3282696"/>
            <a:ext cx="548640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Stok vs holding cost: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trade-off nyata, dipilih sadar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3758184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3758184"/>
            <a:ext cx="548640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Kecepatan vs biaya kirim: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trade-off nyata, dihindari</a:t>
            </a:r>
            <a:endParaRPr lang="en-US" sz="1400" dirty="0"/>
          </a:p>
        </p:txBody>
      </p:sp>
      <p:pic>
        <p:nvPicPr>
          <p:cNvPr id="16" name="Image 3" descr="/tmp/claude-0/-home-user-Dom-Manipulation/01edd7ad-16e1-5ac5-9e2e-840f37702b96/scratchpad/img/cut/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97680"/>
            <a:ext cx="822960" cy="543400"/>
          </a:xfrm>
          <a:prstGeom prst="rect">
            <a:avLst/>
          </a:prstGeom>
        </p:spPr>
      </p:pic>
      <p:pic>
        <p:nvPicPr>
          <p:cNvPr id="17" name="Image 4" descr="/tmp/claude-0/-home-user-Dom-Manipulation/01edd7ad-16e1-5ac5-9e2e-840f37702b96/scratchpad/img/txt/ec127a1c209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5960" y="4526280"/>
            <a:ext cx="2465862" cy="43589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965960" y="51206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Pengecer virtual </a:t>
            </a:r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gagal memenuhi constraint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gudang manual kalah oleh otomasi pada volume Amazon; </a:t>
            </a:r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gudang terotomasi ada di frontier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Pada volume kecil, manual kembali ke frontier.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3281" y="1069848"/>
            <a:ext cx="3397206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bcf83c68c3c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5873466" cy="59134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Tanda dalam kurung: disebut buku secara eksplisit, atau inferensi.</a:t>
            </a:r>
            <a:endParaRPr lang="en-US" sz="14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20574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4"/>
          <p:cNvSpPr txBox="1"/>
          <p:nvPr/>
        </p:nvSpPr>
        <p:spPr>
          <a:xfrm>
            <a:off x="1325880" y="2057400"/>
            <a:ext cx="621792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Fungsi persediaan:</a:t>
            </a:r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stok untuk permintaan terantisipasi (eksplisit)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25146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1325880" y="2514600"/>
            <a:ext cx="621792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 accuracy:</a:t>
            </a:r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sistem perpetual, bar code dipindai 15 kali (eksplisit)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29718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1325880" y="2971800"/>
            <a:ext cx="621792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Cycle counting:</a:t>
            </a:r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verifikasi berkala tetap diperlukan (asumsi)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34290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3429000"/>
            <a:ext cx="621792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ABC analysis:</a:t>
            </a:r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100.000 item terlaris per wilayah (sumber lain, 2023)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960120" y="38862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25880" y="3886200"/>
            <a:ext cx="621792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Kontrol ritel:</a:t>
            </a:r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barang masuk dan keluar dengan bar code (eksplisit)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960120" y="43434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1325880" y="4343400"/>
            <a:ext cx="621792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Independent demand:</a:t>
            </a:r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service level tinggi menuntut stok besar (inferensi)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960120" y="48006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1325880" y="4800600"/>
            <a:ext cx="621792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Slotting:</a:t>
            </a:r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penempatan dan urutan picking diatur software (eksplisit)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5367528"/>
            <a:ext cx="658368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Urutannya: </a:t>
            </a:r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akurasi dulu, model kemudian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131" y="1069848"/>
            <a:ext cx="3194356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c482bdbc8b0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4382994" cy="59134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Sumber: blog resmi para penulis buku, sejalan dengan rujukan kelas.</a:t>
            </a:r>
            <a:endParaRPr lang="en-US" sz="1400" dirty="0"/>
          </a:p>
        </p:txBody>
      </p:sp>
      <p:pic>
        <p:nvPicPr>
          <p:cNvPr id="8" name="Image 3" descr="/tmp/claude-0/-home-user-Dom-Manipulation/01edd7ad-16e1-5ac5-9e2e-840f37702b96/scratchpad/img/txt/af45c9633b5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057400"/>
            <a:ext cx="3188238" cy="359634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2490186"/>
            <a:ext cx="6583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8 wilayah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dengan stok lengkap;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76% permintaan dipenuhi dari dalam wilayah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same-day facility menyimpan 100.000 item terlaris.</a:t>
            </a:r>
            <a:endParaRPr lang="en-US" sz="1400" dirty="0"/>
          </a:p>
        </p:txBody>
      </p:sp>
      <p:sp>
        <p:nvSpPr>
          <p:cNvPr id="10" name="Text 4"/>
          <p:cNvSpPr txBox="1"/>
          <p:nvPr/>
        </p:nvSpPr>
        <p:spPr>
          <a:xfrm>
            <a:off x="960120" y="3130266"/>
            <a:ext cx="6583680" cy="50292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Keputusan where kini </a:t>
            </a:r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 wilayah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100.000 item terlaris adalah </a:t>
            </a:r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Pareto/ABC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  <p:pic>
        <p:nvPicPr>
          <p:cNvPr id="11" name="Image 4" descr="/tmp/claude-0/-home-user-Dom-Manipulation/01edd7ad-16e1-5ac5-9e2e-840f37702b96/scratchpad/img/txt/173701b8093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788634"/>
            <a:ext cx="2054382" cy="359634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960120" y="4221419"/>
            <a:ext cx="6583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Lebih dari satu juta robot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75% pengiriman melibatkan robot; paket per karyawan naik dari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175 menjadi 3.870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 tahun.</a:t>
            </a:r>
            <a:endParaRPr lang="en-US" sz="1400" dirty="0"/>
          </a:p>
        </p:txBody>
      </p:sp>
      <p:sp>
        <p:nvSpPr>
          <p:cNvPr id="13" name="Text 6"/>
          <p:cNvSpPr txBox="1"/>
          <p:nvPr/>
        </p:nvSpPr>
        <p:spPr>
          <a:xfrm>
            <a:off x="960120" y="4861499"/>
            <a:ext cx="6583680" cy="50292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Angka per karyawan adalah </a:t>
            </a:r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single-factor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jangan dibaca sebagai efisiensi total.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800" dirty="0"/>
          </a:p>
        </p:txBody>
      </p:sp>
      <p:pic>
        <p:nvPicPr>
          <p:cNvPr id="4" name="Image 0" descr="/tmp/claude-0/-home-user-Dom-Manipulation/01edd7ad-16e1-5ac5-9e2e-840f37702b96/scratchpad/img/cut/bg_doc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" y="466344"/>
            <a:ext cx="11259007" cy="5925312"/>
          </a:xfrm>
          <a:prstGeom prst="rect">
            <a:avLst/>
          </a:prstGeom>
        </p:spPr>
      </p:pic>
      <p:pic>
        <p:nvPicPr>
          <p:cNvPr id="5" name="Image 1" descr="/tmp/claude-0/-home-user-Dom-Manipulation/01edd7ad-16e1-5ac5-9e2e-840f37702b96/scratchpad/img/txt/6e0cb3269ea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2234154" cy="460218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05833fc66be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600200"/>
            <a:ext cx="859536" cy="61566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417320" y="2130552"/>
            <a:ext cx="498348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PERSEDIAAN BISA MENJADI KEUNGGULAN BERSAING</a:t>
            </a:r>
            <a:endParaRPr lang="en-US" sz="1500" dirty="0"/>
          </a:p>
        </p:txBody>
      </p:sp>
      <p:sp>
        <p:nvSpPr>
          <p:cNvPr id="8" name="Text 3"/>
          <p:cNvSpPr txBox="1"/>
          <p:nvPr/>
        </p:nvSpPr>
        <p:spPr>
          <a:xfrm>
            <a:off x="1417320" y="2532888"/>
            <a:ext cx="4983480" cy="4754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Syaratnya </a:t>
            </a:r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dikelola presisi</a:t>
            </a:r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stok besar yang diketahui lokasinya.</a:t>
            </a:r>
            <a:endParaRPr lang="en-US" sz="1300" dirty="0"/>
          </a:p>
        </p:txBody>
      </p:sp>
      <p:pic>
        <p:nvPicPr>
          <p:cNvPr id="9" name="Image 3" descr="/tmp/claude-0/-home-user-Dom-Manipulation/01edd7ad-16e1-5ac5-9e2e-840f37702b96/scratchpad/img/txt/3b5de7330ea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00200"/>
            <a:ext cx="859536" cy="615666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995160" y="2130552"/>
            <a:ext cx="498348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AKURASI CATATAN ADALAH PRASYARAT</a:t>
            </a:r>
            <a:endParaRPr lang="en-US" sz="1500" dirty="0"/>
          </a:p>
        </p:txBody>
      </p:sp>
      <p:sp>
        <p:nvSpPr>
          <p:cNvPr id="11" name="Text 5"/>
          <p:cNvSpPr txBox="1"/>
          <p:nvPr/>
        </p:nvSpPr>
        <p:spPr>
          <a:xfrm>
            <a:off x="6995160" y="2532888"/>
            <a:ext cx="4983480" cy="4754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Akurasi dulu, model kemudian</a:t>
            </a:r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300" dirty="0"/>
          </a:p>
        </p:txBody>
      </p:sp>
      <p:pic>
        <p:nvPicPr>
          <p:cNvPr id="12" name="Image 4" descr="/tmp/claude-0/-home-user-Dom-Manipulation/01edd7ad-16e1-5ac5-9e2e-840f37702b96/scratchpad/img/txt/5b7385603a5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200400"/>
            <a:ext cx="859536" cy="615666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417320" y="3730752"/>
            <a:ext cx="498348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KECEPATAN DIBANGUN DARI DALAM</a:t>
            </a:r>
            <a:endParaRPr lang="en-US" sz="1500" dirty="0"/>
          </a:p>
        </p:txBody>
      </p:sp>
      <p:sp>
        <p:nvSpPr>
          <p:cNvPr id="14" name="Text 7"/>
          <p:cNvSpPr txBox="1"/>
          <p:nvPr/>
        </p:nvSpPr>
        <p:spPr>
          <a:xfrm>
            <a:off x="1417320" y="4133088"/>
            <a:ext cx="4983480" cy="4754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Posisi stok dan proses pendek</a:t>
            </a:r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memungkinkan moda kirim murah.</a:t>
            </a:r>
            <a:endParaRPr lang="en-US" sz="1300" dirty="0"/>
          </a:p>
        </p:txBody>
      </p:sp>
      <p:pic>
        <p:nvPicPr>
          <p:cNvPr id="15" name="Image 5" descr="/tmp/claude-0/-home-user-Dom-Manipulation/01edd7ad-16e1-5ac5-9e2e-840f37702b96/scratchpad/img/txt/1d941eeb9a6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3200400"/>
            <a:ext cx="859536" cy="615666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6995160" y="3730752"/>
            <a:ext cx="498348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KONTROL BERLAPIS, BUKAN TRADE-OFF</a:t>
            </a:r>
            <a:endParaRPr lang="en-US" sz="1500" dirty="0"/>
          </a:p>
        </p:txBody>
      </p:sp>
      <p:sp>
        <p:nvSpPr>
          <p:cNvPr id="17" name="Text 9"/>
          <p:cNvSpPr txBox="1"/>
          <p:nvPr/>
        </p:nvSpPr>
        <p:spPr>
          <a:xfrm>
            <a:off x="6995160" y="4133088"/>
            <a:ext cx="4983480" cy="4754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Biaya kesalahan lebih besar dari biaya kontrol; </a:t>
            </a:r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kerjakan saja</a:t>
            </a:r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300" dirty="0"/>
          </a:p>
        </p:txBody>
      </p:sp>
      <p:pic>
        <p:nvPicPr>
          <p:cNvPr id="18" name="Image 6" descr="/tmp/claude-0/-home-user-Dom-Manipulation/01edd7ad-16e1-5ac5-9e2e-840f37702b96/scratchpad/img/txt/eabe8e55bb79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4800600"/>
            <a:ext cx="859536" cy="615666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1417320" y="5330952"/>
            <a:ext cx="498348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OTOMASI DIBENARKAN OLEH VOLUME</a:t>
            </a:r>
            <a:endParaRPr lang="en-US" sz="1500" dirty="0"/>
          </a:p>
        </p:txBody>
      </p:sp>
      <p:sp>
        <p:nvSpPr>
          <p:cNvPr id="20" name="Text 11"/>
          <p:cNvSpPr txBox="1"/>
          <p:nvPr/>
        </p:nvSpPr>
        <p:spPr>
          <a:xfrm>
            <a:off x="1417320" y="5733288"/>
            <a:ext cx="4983480" cy="4754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Penghematan kecil per pesanan </a:t>
            </a:r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hanya berarti pada volume besar</a:t>
            </a:r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300" dirty="0"/>
          </a:p>
        </p:txBody>
      </p:sp>
      <p:pic>
        <p:nvPicPr>
          <p:cNvPr id="21" name="Image 7" descr="/tmp/claude-0/-home-user-Dom-Manipulation/01edd7ad-16e1-5ac5-9e2e-840f37702b96/scratchpad/img/txt/6533abe200c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7960" y="4800600"/>
            <a:ext cx="859536" cy="615666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6995160" y="5330952"/>
            <a:ext cx="498348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TRADE-OFF YANG TERSISA DIPILIH SADAR</a:t>
            </a:r>
            <a:endParaRPr lang="en-US" sz="1500" dirty="0"/>
          </a:p>
        </p:txBody>
      </p:sp>
      <p:sp>
        <p:nvSpPr>
          <p:cNvPr id="23" name="Text 13"/>
          <p:cNvSpPr txBox="1"/>
          <p:nvPr/>
        </p:nvSpPr>
        <p:spPr>
          <a:xfrm>
            <a:off x="6995160" y="5733288"/>
            <a:ext cx="4983480" cy="4754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Holding cost tinggi diterima karena </a:t>
            </a:r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highlight>
                  <a:srgbClr val="E8A0A8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biaya kekosongan signifikan</a:t>
            </a:r>
            <a:pPr algn="l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sky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909" y="2898648"/>
            <a:ext cx="9703878" cy="35661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99e8d743023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685800"/>
            <a:ext cx="1237458" cy="1965960"/>
          </a:xfrm>
          <a:prstGeom prst="rect">
            <a:avLst/>
          </a:prstGeom>
        </p:spPr>
      </p:pic>
      <p:pic>
        <p:nvPicPr>
          <p:cNvPr id="7" name="Image 3" descr="/tmp/claude-0/-home-user-Dom-Manipulation/01edd7ad-16e1-5ac5-9e2e-840f37702b96/scratchpad/img/txt/bd321f067ba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4698" y="685800"/>
            <a:ext cx="8055864" cy="1965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Inventory Management sebagai Keunggulan Kompetitif Amazon</dc:title>
  <dc:subject>PptxGenJS Presentation</dc:subject>
  <dc:creator>Kelompok 4</dc:creator>
  <cp:lastModifiedBy>Kelompok 4</cp:lastModifiedBy>
  <cp:revision>1</cp:revision>
  <dcterms:created xsi:type="dcterms:W3CDTF">2026-09-08T04:04:54Z</dcterms:created>
  <dcterms:modified xsi:type="dcterms:W3CDTF">2026-09-08T04:04:54Z</dcterms:modified>
</cp:coreProperties>
</file>