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1.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a:t>
            </a:r>
            <a:endParaRPr lang="en-US" sz="1000" dirty="0"/>
          </a:p>
        </p:txBody>
      </p:sp>
      <p:pic>
        <p:nvPicPr>
          <p:cNvPr id="5" name="Image 1" descr="/tmp/claude-0/-home-user-Dom-Manipulation/01edd7ad-16e1-5ac5-9e2e-840f37702b96/scratchpad/img/crop/hero.jpg">    </p:cNvPr>
          <p:cNvPicPr>
            <a:picLocks noChangeAspect="1"/>
          </p:cNvPicPr>
          <p:nvPr/>
        </p:nvPicPr>
        <p:blipFill>
          <a:blip r:embed="rId2"/>
          <a:stretch>
            <a:fillRect/>
          </a:stretch>
        </p:blipFill>
        <p:spPr>
          <a:xfrm>
            <a:off x="502920" y="2450592"/>
            <a:ext cx="7455286" cy="4023360"/>
          </a:xfrm>
          <a:prstGeom prst="rect">
            <a:avLst/>
          </a:prstGeom>
        </p:spPr>
      </p:pic>
      <p:sp>
        <p:nvSpPr>
          <p:cNvPr id="6" name="Text 2"/>
          <p:cNvSpPr txBox="1"/>
          <p:nvPr/>
        </p:nvSpPr>
        <p:spPr>
          <a:xfrm>
            <a:off x="6035040" y="685800"/>
            <a:ext cx="5669280" cy="1920240"/>
          </a:xfrm>
          <a:prstGeom prst="rect">
            <a:avLst/>
          </a:prstGeom>
          <a:noFill/>
          <a:ln/>
        </p:spPr>
        <p:txBody>
          <a:bodyPr wrap="square" lIns="0" tIns="0" rIns="0" bIns="0" rtlCol="0" anchor="t"/>
          <a:lstStyle/>
          <a:p>
            <a:pPr algn="l" indent="0" marL="0">
              <a:lnSpc>
                <a:spcPct val="90000"/>
              </a:lnSpc>
              <a:buNone/>
            </a:pPr>
            <a:r>
              <a:rPr lang="en-US" sz="3600" b="1" dirty="0">
                <a:solidFill>
                  <a:srgbClr val="111111"/>
                </a:solidFill>
                <a:latin typeface="Arial Narrow" pitchFamily="34" charset="0"/>
                <a:ea typeface="Arial Narrow" pitchFamily="34" charset="-122"/>
                <a:cs typeface="Arial Narrow" pitchFamily="34" charset="-120"/>
              </a:rPr>
              <a:t>INVENTORY MANAGEMENT</a:t>
            </a:r>
            <a:endParaRPr lang="en-US" sz="3600" dirty="0"/>
          </a:p>
          <a:p>
            <a:pPr algn="l" indent="0" marL="0">
              <a:lnSpc>
                <a:spcPct val="90000"/>
              </a:lnSpc>
              <a:buNone/>
            </a:pPr>
            <a:r>
              <a:rPr lang="en-US" sz="3600" b="1" dirty="0">
                <a:solidFill>
                  <a:srgbClr val="111111"/>
                </a:solidFill>
                <a:latin typeface="Arial Narrow" pitchFamily="34" charset="0"/>
                <a:ea typeface="Arial Narrow" pitchFamily="34" charset="-122"/>
                <a:cs typeface="Arial Narrow" pitchFamily="34" charset="-120"/>
              </a:rPr>
              <a:t>SEBAGAI KEUNGGULAN</a:t>
            </a:r>
            <a:endParaRPr lang="en-US" sz="3600" dirty="0"/>
          </a:p>
          <a:p>
            <a:pPr algn="l" indent="0" marL="0">
              <a:lnSpc>
                <a:spcPct val="90000"/>
              </a:lnSpc>
              <a:buNone/>
            </a:pPr>
            <a:r>
              <a:rPr lang="en-US" sz="3600" b="1" dirty="0">
                <a:solidFill>
                  <a:srgbClr val="111111"/>
                </a:solidFill>
                <a:latin typeface="Arial Narrow" pitchFamily="34" charset="0"/>
                <a:ea typeface="Arial Narrow" pitchFamily="34" charset="-122"/>
                <a:cs typeface="Arial Narrow" pitchFamily="34" charset="-120"/>
              </a:rPr>
              <a:t>KOMPETITIF AMAZON.COM</a:t>
            </a:r>
            <a:endParaRPr lang="en-US" sz="3600" dirty="0"/>
          </a:p>
        </p:txBody>
      </p:sp>
      <p:sp>
        <p:nvSpPr>
          <p:cNvPr id="7" name="Text 3"/>
          <p:cNvSpPr txBox="1"/>
          <p:nvPr/>
        </p:nvSpPr>
        <p:spPr>
          <a:xfrm>
            <a:off x="868680" y="731520"/>
            <a:ext cx="2743200" cy="390652"/>
          </a:xfrm>
          <a:prstGeom prst="rect">
            <a:avLst/>
          </a:prstGeom>
          <a:noFill/>
          <a:ln/>
        </p:spPr>
        <p:txBody>
          <a:bodyPr wrap="square" lIns="0" tIns="0" rIns="0" bIns="0" rtlCol="0" anchor="t"/>
          <a:lstStyle/>
          <a:p>
            <a:pPr algn="l" indent="0" marL="0">
              <a:lnSpc>
                <a:spcPct val="92000"/>
              </a:lnSpc>
              <a:buNone/>
            </a:pPr>
            <a:r>
              <a:rPr lang="en-US" sz="2000" b="1" dirty="0">
                <a:solidFill>
                  <a:srgbClr val="111111"/>
                </a:solidFill>
                <a:latin typeface="Arial Narrow" pitchFamily="34" charset="0"/>
                <a:ea typeface="Arial Narrow" pitchFamily="34" charset="-122"/>
                <a:cs typeface="Arial Narrow" pitchFamily="34" charset="-120"/>
              </a:rPr>
              <a:t>KELOMPOK 4</a:t>
            </a:r>
            <a:endParaRPr lang="en-US" sz="2000" dirty="0"/>
          </a:p>
        </p:txBody>
      </p:sp>
      <p:sp>
        <p:nvSpPr>
          <p:cNvPr id="8" name="Text 4"/>
          <p:cNvSpPr txBox="1"/>
          <p:nvPr/>
        </p:nvSpPr>
        <p:spPr>
          <a:xfrm>
            <a:off x="868680" y="1143000"/>
            <a:ext cx="4572000" cy="822960"/>
          </a:xfrm>
          <a:prstGeom prst="rect">
            <a:avLst/>
          </a:prstGeom>
          <a:noFill/>
          <a:ln/>
        </p:spPr>
        <p:txBody>
          <a:bodyPr wrap="square" lIns="0" tIns="0" rIns="0" bIns="0" rtlCol="0" anchor="t"/>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Bagaskoro  ·  25/574280/PEK/31778</a:t>
            </a:r>
            <a:endParaRPr lang="en-US" sz="1000" dirty="0"/>
          </a:p>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Aulia Sisca Rahmadiyanti  ·  25/574305/PEK/31789</a:t>
            </a:r>
            <a:endParaRPr lang="en-US" sz="1000" dirty="0"/>
          </a:p>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Fitra Aidila  ·  25/574309/PEK/31791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2</a:t>
            </a:r>
            <a:endParaRPr lang="en-US" sz="1000" dirty="0"/>
          </a:p>
        </p:txBody>
      </p:sp>
      <p:pic>
        <p:nvPicPr>
          <p:cNvPr id="5" name="Image 1" descr="/tmp/claude-0/-home-user-Dom-Manipulation/01edd7ad-16e1-5ac5-9e2e-840f37702b96/scratchpad/img/map_bg.jpg">    </p:cNvPr>
          <p:cNvPicPr>
            <a:picLocks noChangeAspect="1"/>
          </p:cNvPicPr>
          <p:nvPr/>
        </p:nvPicPr>
        <p:blipFill>
          <a:blip r:embed="rId2">
            <a:alphaModFix amt="75000"/>
          </a:blip>
          <a:srcRect l="0" r="0" t="0" b="0"/>
          <a:stretch/>
        </p:blipFill>
        <p:spPr>
          <a:xfrm>
            <a:off x="6583680" y="914400"/>
            <a:ext cx="5029200" cy="5120640"/>
          </a:xfrm>
          <a:prstGeom prst="rect">
            <a:avLst/>
          </a:prstGeom>
        </p:spPr>
      </p:pic>
      <p:sp>
        <p:nvSpPr>
          <p:cNvPr id="6"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TUJUAN</a:t>
            </a:r>
            <a:endParaRPr lang="en-US" sz="3000" dirty="0"/>
          </a:p>
        </p:txBody>
      </p:sp>
      <p:sp>
        <p:nvSpPr>
          <p:cNvPr id="7" name="Text 3"/>
          <p:cNvSpPr txBox="1"/>
          <p:nvPr/>
        </p:nvSpPr>
        <p:spPr>
          <a:xfrm>
            <a:off x="868680" y="1417320"/>
            <a:ext cx="5212080" cy="566928"/>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Membaca kasus Amazon dari strategi ke bawah: mengapa persediaan dipegang sendiri, bagaimana satu pesanan dipenuhi, dan trade-off apa yang diambil.</a:t>
            </a:r>
            <a:endParaRPr lang="en-US" sz="1050" dirty="0"/>
          </a:p>
        </p:txBody>
      </p:sp>
      <p:sp>
        <p:nvSpPr>
          <p:cNvPr id="8" name="Shape 4"/>
          <p:cNvSpPr/>
          <p:nvPr/>
        </p:nvSpPr>
        <p:spPr>
          <a:xfrm rot="12000000">
            <a:off x="1051560" y="2148840"/>
            <a:ext cx="502920" cy="685800"/>
          </a:xfrm>
          <a:prstGeom prst="curvedRightArrow">
            <a:avLst/>
          </a:prstGeom>
          <a:solidFill>
            <a:srgbClr val="111111"/>
          </a:solidFill>
          <a:ln w="12700">
            <a:solidFill>
              <a:srgbClr val="111111"/>
            </a:solidFill>
            <a:prstDash val="solid"/>
          </a:ln>
        </p:spPr>
      </p:sp>
      <p:sp>
        <p:nvSpPr>
          <p:cNvPr id="9" name="Text 5"/>
          <p:cNvSpPr txBox="1"/>
          <p:nvPr/>
        </p:nvSpPr>
        <p:spPr>
          <a:xfrm>
            <a:off x="1783080" y="2331720"/>
            <a:ext cx="521208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ALUR PEMBAHASAN</a:t>
            </a:r>
            <a:endParaRPr lang="en-US" sz="3000" dirty="0"/>
          </a:p>
        </p:txBody>
      </p:sp>
      <p:sp>
        <p:nvSpPr>
          <p:cNvPr id="10" name="Text 6"/>
          <p:cNvSpPr txBox="1"/>
          <p:nvPr/>
        </p:nvSpPr>
        <p:spPr>
          <a:xfrm>
            <a:off x="1783080" y="297180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1.</a:t>
            </a:r>
            <a:endParaRPr lang="en-US" sz="1300" dirty="0"/>
          </a:p>
        </p:txBody>
      </p:sp>
      <p:sp>
        <p:nvSpPr>
          <p:cNvPr id="11" name="Text 7"/>
          <p:cNvSpPr txBox="1"/>
          <p:nvPr/>
        </p:nvSpPr>
        <p:spPr>
          <a:xfrm>
            <a:off x="2130552" y="297180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Kerangka berpikir: strategi dulu, baru keputusan teknis</a:t>
            </a:r>
            <a:endParaRPr lang="en-US" sz="1000" dirty="0"/>
          </a:p>
        </p:txBody>
      </p:sp>
      <p:sp>
        <p:nvSpPr>
          <p:cNvPr id="12" name="Text 8"/>
          <p:cNvSpPr txBox="1"/>
          <p:nvPr/>
        </p:nvSpPr>
        <p:spPr>
          <a:xfrm>
            <a:off x="1783080" y="338328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2.</a:t>
            </a:r>
            <a:endParaRPr lang="en-US" sz="1300" dirty="0"/>
          </a:p>
        </p:txBody>
      </p:sp>
      <p:sp>
        <p:nvSpPr>
          <p:cNvPr id="13" name="Text 9"/>
          <p:cNvSpPr txBox="1"/>
          <p:nvPr/>
        </p:nvSpPr>
        <p:spPr>
          <a:xfrm>
            <a:off x="2130552" y="338328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Kisah sukses: dari pengecer virtual ke pengelola persediaan</a:t>
            </a:r>
            <a:endParaRPr lang="en-US" sz="1000" dirty="0"/>
          </a:p>
        </p:txBody>
      </p:sp>
      <p:sp>
        <p:nvSpPr>
          <p:cNvPr id="14" name="Text 10"/>
          <p:cNvSpPr txBox="1"/>
          <p:nvPr/>
        </p:nvSpPr>
        <p:spPr>
          <a:xfrm>
            <a:off x="1783080" y="379476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3.</a:t>
            </a:r>
            <a:endParaRPr lang="en-US" sz="1300" dirty="0"/>
          </a:p>
        </p:txBody>
      </p:sp>
      <p:sp>
        <p:nvSpPr>
          <p:cNvPr id="15" name="Text 11"/>
          <p:cNvSpPr txBox="1"/>
          <p:nvPr/>
        </p:nvSpPr>
        <p:spPr>
          <a:xfrm>
            <a:off x="2130552" y="379476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Proses pemenuhan pesanan: delapan langkah dan kuantifikasinya</a:t>
            </a:r>
            <a:endParaRPr lang="en-US" sz="1000" dirty="0"/>
          </a:p>
        </p:txBody>
      </p:sp>
      <p:sp>
        <p:nvSpPr>
          <p:cNvPr id="16" name="Text 12"/>
          <p:cNvSpPr txBox="1"/>
          <p:nvPr/>
        </p:nvSpPr>
        <p:spPr>
          <a:xfrm>
            <a:off x="1783080" y="420624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4.</a:t>
            </a:r>
            <a:endParaRPr lang="en-US" sz="1300" dirty="0"/>
          </a:p>
        </p:txBody>
      </p:sp>
      <p:sp>
        <p:nvSpPr>
          <p:cNvPr id="17" name="Text 13"/>
          <p:cNvSpPr txBox="1"/>
          <p:nvPr/>
        </p:nvSpPr>
        <p:spPr>
          <a:xfrm>
            <a:off x="2130552" y="420624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Analisis trade-off: mana trade-off nyata, mana yang searah</a:t>
            </a:r>
            <a:endParaRPr lang="en-US" sz="1000" dirty="0"/>
          </a:p>
        </p:txBody>
      </p:sp>
      <p:sp>
        <p:nvSpPr>
          <p:cNvPr id="18" name="Text 14"/>
          <p:cNvSpPr txBox="1"/>
          <p:nvPr/>
        </p:nvSpPr>
        <p:spPr>
          <a:xfrm>
            <a:off x="1783080" y="461772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5.</a:t>
            </a:r>
            <a:endParaRPr lang="en-US" sz="1300" dirty="0"/>
          </a:p>
        </p:txBody>
      </p:sp>
      <p:sp>
        <p:nvSpPr>
          <p:cNvPr id="19" name="Text 15"/>
          <p:cNvSpPr txBox="1"/>
          <p:nvPr/>
        </p:nvSpPr>
        <p:spPr>
          <a:xfrm>
            <a:off x="2130552" y="461772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Kaitan dengan teori persediaan</a:t>
            </a:r>
            <a:endParaRPr lang="en-US" sz="1000" dirty="0"/>
          </a:p>
        </p:txBody>
      </p:sp>
      <p:sp>
        <p:nvSpPr>
          <p:cNvPr id="20" name="Text 16"/>
          <p:cNvSpPr txBox="1"/>
          <p:nvPr/>
        </p:nvSpPr>
        <p:spPr>
          <a:xfrm>
            <a:off x="1783080" y="502920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6.</a:t>
            </a:r>
            <a:endParaRPr lang="en-US" sz="1300" dirty="0"/>
          </a:p>
        </p:txBody>
      </p:sp>
      <p:sp>
        <p:nvSpPr>
          <p:cNvPr id="21" name="Text 17"/>
          <p:cNvSpPr txBox="1"/>
          <p:nvPr/>
        </p:nvSpPr>
        <p:spPr>
          <a:xfrm>
            <a:off x="2130552" y="502920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Perkembangan terbaru: 2023 dan 2025</a:t>
            </a:r>
            <a:endParaRPr lang="en-US" sz="1000" dirty="0"/>
          </a:p>
        </p:txBody>
      </p:sp>
      <p:sp>
        <p:nvSpPr>
          <p:cNvPr id="22" name="Text 18"/>
          <p:cNvSpPr txBox="1"/>
          <p:nvPr/>
        </p:nvSpPr>
        <p:spPr>
          <a:xfrm>
            <a:off x="1783080" y="5440680"/>
            <a:ext cx="320040" cy="32918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7.</a:t>
            </a:r>
            <a:endParaRPr lang="en-US" sz="1300" dirty="0"/>
          </a:p>
        </p:txBody>
      </p:sp>
      <p:sp>
        <p:nvSpPr>
          <p:cNvPr id="23" name="Text 19"/>
          <p:cNvSpPr txBox="1"/>
          <p:nvPr/>
        </p:nvSpPr>
        <p:spPr>
          <a:xfrm>
            <a:off x="2130552" y="5440680"/>
            <a:ext cx="4498848"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Lesson learned: apa yang bisa dan tidak bisa ditiru</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3</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KERANGKA BERPIKIR PERSEDIAAN</a:t>
            </a:r>
            <a:endParaRPr lang="en-US" sz="3000" dirty="0"/>
          </a:p>
        </p:txBody>
      </p:sp>
      <p:sp>
        <p:nvSpPr>
          <p:cNvPr id="6" name="Text 3"/>
          <p:cNvSpPr txBox="1"/>
          <p:nvPr/>
        </p:nvSpPr>
        <p:spPr>
          <a:xfrm>
            <a:off x="868680" y="1417320"/>
            <a:ext cx="5212080" cy="109728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Tentukan dulu apa yang mau dicapai (strategi dan value proposition), baru turunkan ke keputusan teknis. Inventory management ada di lapisan teknis itu, satu kelompok dengan MRP, sequencing, dan scheduling. Dalam sepuluh keputusan OM (Heizer), persediaan adalah keputusan ke-8 dengan dua pertanyaan dasar, ditambah satu pertanyaan khusus Amazon.</a:t>
            </a:r>
            <a:endParaRPr lang="en-US" sz="1000" dirty="0"/>
          </a:p>
        </p:txBody>
      </p:sp>
      <p:sp>
        <p:nvSpPr>
          <p:cNvPr id="7" name="Text 4"/>
          <p:cNvSpPr txBox="1"/>
          <p:nvPr/>
        </p:nvSpPr>
        <p:spPr>
          <a:xfrm>
            <a:off x="868680" y="269748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HOW MUCH</a:t>
            </a:r>
            <a:endParaRPr lang="en-US" sz="1800" dirty="0"/>
          </a:p>
        </p:txBody>
      </p:sp>
      <p:sp>
        <p:nvSpPr>
          <p:cNvPr id="8" name="Text 5"/>
          <p:cNvSpPr txBox="1"/>
          <p:nvPr/>
        </p:nvSpPr>
        <p:spPr>
          <a:xfrm>
            <a:off x="868680" y="3074670"/>
            <a:ext cx="5212080" cy="3200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Berapa banyak persediaan setiap item yang harus dimiliki?</a:t>
            </a:r>
            <a:endParaRPr lang="en-US" sz="1000" dirty="0"/>
          </a:p>
        </p:txBody>
      </p:sp>
      <p:sp>
        <p:nvSpPr>
          <p:cNvPr id="9" name="Text 6"/>
          <p:cNvSpPr txBox="1"/>
          <p:nvPr/>
        </p:nvSpPr>
        <p:spPr>
          <a:xfrm>
            <a:off x="868680" y="342900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WHEN</a:t>
            </a:r>
            <a:endParaRPr lang="en-US" sz="1800" dirty="0"/>
          </a:p>
        </p:txBody>
      </p:sp>
      <p:sp>
        <p:nvSpPr>
          <p:cNvPr id="10" name="Text 7"/>
          <p:cNvSpPr txBox="1"/>
          <p:nvPr/>
        </p:nvSpPr>
        <p:spPr>
          <a:xfrm>
            <a:off x="868680" y="3806190"/>
            <a:ext cx="5212080" cy="3200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Kapan harus memesan kembali?</a:t>
            </a:r>
            <a:endParaRPr lang="en-US" sz="1000" dirty="0"/>
          </a:p>
        </p:txBody>
      </p:sp>
      <p:sp>
        <p:nvSpPr>
          <p:cNvPr id="11" name="Text 8"/>
          <p:cNvSpPr txBox="1"/>
          <p:nvPr/>
        </p:nvSpPr>
        <p:spPr>
          <a:xfrm>
            <a:off x="868680" y="416052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WHERE</a:t>
            </a:r>
            <a:endParaRPr lang="en-US" sz="1800" dirty="0"/>
          </a:p>
        </p:txBody>
      </p:sp>
      <p:sp>
        <p:nvSpPr>
          <p:cNvPr id="12" name="Text 9"/>
          <p:cNvSpPr txBox="1"/>
          <p:nvPr/>
        </p:nvSpPr>
        <p:spPr>
          <a:xfrm>
            <a:off x="868680" y="453771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Item mana disimpan di gudang mana; stok Amazon tersebar di lebih dari 150 gudang.</a:t>
            </a:r>
            <a:endParaRPr lang="en-US" sz="1000" dirty="0"/>
          </a:p>
        </p:txBody>
      </p:sp>
      <p:sp>
        <p:nvSpPr>
          <p:cNvPr id="13" name="Text 10"/>
          <p:cNvSpPr txBox="1"/>
          <p:nvPr/>
        </p:nvSpPr>
        <p:spPr>
          <a:xfrm>
            <a:off x="868680" y="5074920"/>
            <a:ext cx="5212080" cy="566928"/>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Where adalah keputusan yang membuat Amazon berbeda dari toko tunggal: stok harus berada dekat pelanggan sebelum pesanan datang.</a:t>
            </a:r>
            <a:endParaRPr lang="en-US" sz="1050" dirty="0"/>
          </a:p>
        </p:txBody>
      </p:sp>
      <p:pic>
        <p:nvPicPr>
          <p:cNvPr id="14" name="Image 1" descr="/tmp/claude-0/-home-user-Dom-Manipulation/01edd7ad-16e1-5ac5-9e2e-840f37702b96/scratchpad/img/crop/shelves.jpg">    </p:cNvPr>
          <p:cNvPicPr>
            <a:picLocks noChangeAspect="1"/>
          </p:cNvPicPr>
          <p:nvPr/>
        </p:nvPicPr>
        <p:blipFill>
          <a:blip r:embed="rId2"/>
          <a:stretch>
            <a:fillRect/>
          </a:stretch>
        </p:blipFill>
        <p:spPr>
          <a:xfrm>
            <a:off x="6291072" y="3262907"/>
            <a:ext cx="5516575" cy="321104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4</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STRUKTUR KEPUTUSAN PERSEDIAAN</a:t>
            </a:r>
            <a:endParaRPr lang="en-US" sz="3000" dirty="0"/>
          </a:p>
        </p:txBody>
      </p:sp>
      <p:sp>
        <p:nvSpPr>
          <p:cNvPr id="6" name="Text 3"/>
          <p:cNvSpPr txBox="1"/>
          <p:nvPr/>
        </p:nvSpPr>
        <p:spPr>
          <a:xfrm>
            <a:off x="868680" y="141732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Kalau kita modelkan, persoalan persediaan selalu punya struktur yang sama: ada tujuan, ada variabel yang bisa diatur, dan ada batasan.</a:t>
            </a:r>
            <a:endParaRPr lang="en-US" sz="1000" dirty="0"/>
          </a:p>
        </p:txBody>
      </p:sp>
      <p:sp>
        <p:nvSpPr>
          <p:cNvPr id="7" name="Text 4"/>
          <p:cNvSpPr txBox="1"/>
          <p:nvPr/>
        </p:nvSpPr>
        <p:spPr>
          <a:xfrm>
            <a:off x="868680" y="205740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OBJECTIVE</a:t>
            </a:r>
            <a:endParaRPr lang="en-US" sz="1800" dirty="0"/>
          </a:p>
        </p:txBody>
      </p:sp>
      <p:sp>
        <p:nvSpPr>
          <p:cNvPr id="8" name="Text 5"/>
          <p:cNvSpPr txBox="1"/>
          <p:nvPr/>
        </p:nvSpPr>
        <p:spPr>
          <a:xfrm>
            <a:off x="868680" y="2434590"/>
            <a:ext cx="5212080" cy="6858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Umum: meminimalkan total biaya persediaan (biaya simpan + biaya pesan + biaya kekurangan).</a:t>
            </a:r>
            <a:endParaRPr lang="en-US" sz="1000" dirty="0"/>
          </a:p>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Amazon: ditambah satu komponen yang oleh buku disebut sangat mahal, biaya kesalahan pemenuhan (returns).</a:t>
            </a:r>
            <a:endParaRPr lang="en-US" sz="1000" dirty="0"/>
          </a:p>
        </p:txBody>
      </p:sp>
      <p:sp>
        <p:nvSpPr>
          <p:cNvPr id="9" name="Text 6"/>
          <p:cNvSpPr txBox="1"/>
          <p:nvPr/>
        </p:nvSpPr>
        <p:spPr>
          <a:xfrm>
            <a:off x="868680" y="310896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DECISION VARIABLES</a:t>
            </a:r>
            <a:endParaRPr lang="en-US" sz="1800" dirty="0"/>
          </a:p>
        </p:txBody>
      </p:sp>
      <p:sp>
        <p:nvSpPr>
          <p:cNvPr id="10" name="Text 7"/>
          <p:cNvSpPr txBox="1"/>
          <p:nvPr/>
        </p:nvSpPr>
        <p:spPr>
          <a:xfrm>
            <a:off x="868680" y="3486150"/>
            <a:ext cx="5212080" cy="6858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Umum: jumlah pesan (Q), titik pesan ulang (ROP), stok pengaman.</a:t>
            </a:r>
            <a:endParaRPr lang="en-US" sz="1000" dirty="0"/>
          </a:p>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Amazon: ditambah alokasi, item apa di gudang mana dan pesanan mana dipenuhi dari gudang mana.</a:t>
            </a:r>
            <a:endParaRPr lang="en-US" sz="1000" dirty="0"/>
          </a:p>
        </p:txBody>
      </p:sp>
      <p:sp>
        <p:nvSpPr>
          <p:cNvPr id="11" name="Text 8"/>
          <p:cNvSpPr txBox="1"/>
          <p:nvPr/>
        </p:nvSpPr>
        <p:spPr>
          <a:xfrm>
            <a:off x="868680" y="416052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CONSTRAINTS</a:t>
            </a:r>
            <a:endParaRPr lang="en-US" sz="1800" dirty="0"/>
          </a:p>
        </p:txBody>
      </p:sp>
      <p:sp>
        <p:nvSpPr>
          <p:cNvPr id="12" name="Text 9"/>
          <p:cNvSpPr txBox="1"/>
          <p:nvPr/>
        </p:nvSpPr>
        <p:spPr>
          <a:xfrm>
            <a:off x="868680" y="4537710"/>
            <a:ext cx="5212080" cy="6858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Umum: service level yang dijanjikan, kapasitas gudang, lead time pemasok.</a:t>
            </a:r>
            <a:endParaRPr lang="en-US" sz="1000" dirty="0"/>
          </a:p>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Amazon: janji ke pelanggan, harga terendah, kirim tercepat, bebas kesalahan.</a:t>
            </a:r>
            <a:endParaRPr lang="en-US" sz="1000" dirty="0"/>
          </a:p>
        </p:txBody>
      </p:sp>
      <p:sp>
        <p:nvSpPr>
          <p:cNvPr id="13" name="Text 10"/>
          <p:cNvSpPr txBox="1"/>
          <p:nvPr/>
        </p:nvSpPr>
        <p:spPr>
          <a:xfrm>
            <a:off x="868680" y="5257800"/>
            <a:ext cx="5212080" cy="566928"/>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Service level adalah constraint, bukan objective. Perusahaan tidak meminimalkan stok; perusahaan meminimalkan biaya pada tingkat layanan yang sudah dijanjikan.</a:t>
            </a:r>
            <a:endParaRPr lang="en-US" sz="1050" dirty="0"/>
          </a:p>
        </p:txBody>
      </p:sp>
      <p:pic>
        <p:nvPicPr>
          <p:cNvPr id="14" name="Image 1" descr="/tmp/claude-0/-home-user-Dom-Manipulation/01edd7ad-16e1-5ac5-9e2e-840f37702b96/scratchpad/img/crop/totes.jpg">    </p:cNvPr>
          <p:cNvPicPr>
            <a:picLocks noChangeAspect="1"/>
          </p:cNvPicPr>
          <p:nvPr/>
        </p:nvPicPr>
        <p:blipFill>
          <a:blip r:embed="rId2"/>
          <a:stretch>
            <a:fillRect/>
          </a:stretch>
        </p:blipFill>
        <p:spPr>
          <a:xfrm>
            <a:off x="6961327" y="3709366"/>
            <a:ext cx="4846320" cy="276458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5</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DILEMA PERSEDIAAN</a:t>
            </a:r>
            <a:endParaRPr lang="en-US" sz="3000" dirty="0"/>
          </a:p>
        </p:txBody>
      </p:sp>
      <p:sp>
        <p:nvSpPr>
          <p:cNvPr id="6" name="Text 3"/>
          <p:cNvSpPr txBox="1"/>
          <p:nvPr/>
        </p:nvSpPr>
        <p:spPr>
          <a:xfrm>
            <a:off x="868680" y="146304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STOK TERLALU BANYAK</a:t>
            </a:r>
            <a:endParaRPr lang="en-US" sz="1800" dirty="0"/>
          </a:p>
        </p:txBody>
      </p:sp>
      <p:sp>
        <p:nvSpPr>
          <p:cNvPr id="7" name="Text 4"/>
          <p:cNvSpPr txBox="1"/>
          <p:nvPr/>
        </p:nvSpPr>
        <p:spPr>
          <a:xfrm>
            <a:off x="868680" y="184023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Biaya simpan dan biaya penanganan naik; modal tertahan di gudang; risiko barang usang (obsolescence).</a:t>
            </a:r>
            <a:endParaRPr lang="en-US" sz="1000" dirty="0"/>
          </a:p>
        </p:txBody>
      </p:sp>
      <p:sp>
        <p:nvSpPr>
          <p:cNvPr id="8" name="Text 5"/>
          <p:cNvSpPr txBox="1"/>
          <p:nvPr/>
        </p:nvSpPr>
        <p:spPr>
          <a:xfrm>
            <a:off x="868680" y="237744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STOK TERLALU SEDIKIT</a:t>
            </a:r>
            <a:endParaRPr lang="en-US" sz="1800" dirty="0"/>
          </a:p>
        </p:txBody>
      </p:sp>
      <p:sp>
        <p:nvSpPr>
          <p:cNvPr id="9" name="Text 6"/>
          <p:cNvSpPr txBox="1"/>
          <p:nvPr/>
        </p:nvSpPr>
        <p:spPr>
          <a:xfrm>
            <a:off x="868680" y="2754630"/>
            <a:ext cx="5212080" cy="59436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Stock out, permintaan tidak terpenuhi; kalau terjadi di produksi, produksinya berhenti. Pada ritel daring, pelanggan berpindah ke penjual lain dalam hitungan detik.</a:t>
            </a:r>
            <a:endParaRPr lang="en-US" sz="1000" dirty="0"/>
          </a:p>
        </p:txBody>
      </p:sp>
      <p:sp>
        <p:nvSpPr>
          <p:cNvPr id="10" name="Shape 7"/>
          <p:cNvSpPr/>
          <p:nvPr/>
        </p:nvSpPr>
        <p:spPr>
          <a:xfrm rot="12000000">
            <a:off x="960120" y="3337560"/>
            <a:ext cx="502920" cy="685800"/>
          </a:xfrm>
          <a:prstGeom prst="curvedRightArrow">
            <a:avLst/>
          </a:prstGeom>
          <a:solidFill>
            <a:srgbClr val="111111"/>
          </a:solidFill>
          <a:ln w="12700">
            <a:solidFill>
              <a:srgbClr val="111111"/>
            </a:solidFill>
            <a:prstDash val="solid"/>
          </a:ln>
        </p:spPr>
      </p:sp>
      <p:sp>
        <p:nvSpPr>
          <p:cNvPr id="11" name="Text 8"/>
          <p:cNvSpPr txBox="1"/>
          <p:nvPr/>
        </p:nvSpPr>
        <p:spPr>
          <a:xfrm>
            <a:off x="1691640" y="3520440"/>
            <a:ext cx="521208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ATURAN KEPUTUSAN</a:t>
            </a:r>
            <a:endParaRPr lang="en-US" sz="3000" dirty="0"/>
          </a:p>
        </p:txBody>
      </p:sp>
      <p:sp>
        <p:nvSpPr>
          <p:cNvPr id="12" name="Text 9"/>
          <p:cNvSpPr txBox="1"/>
          <p:nvPr/>
        </p:nvSpPr>
        <p:spPr>
          <a:xfrm>
            <a:off x="1691640" y="4114800"/>
            <a:ext cx="4389120" cy="86868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Kalau dampak gangguan (kekosongan stok) tidak signifikan, tidak perlu menyimpan stok banyak. Kalau dampaknya signifikan, misalnya lead time pemesanan panjang atau biaya kehilangan penjualan besar, stok cadangan harus dinaikkan untuk menekan risiko.</a:t>
            </a:r>
            <a:endParaRPr lang="en-US" sz="1050" dirty="0"/>
          </a:p>
        </p:txBody>
      </p:sp>
      <p:sp>
        <p:nvSpPr>
          <p:cNvPr id="13" name="Text 10"/>
          <p:cNvSpPr txBox="1"/>
          <p:nvPr/>
        </p:nvSpPr>
        <p:spPr>
          <a:xfrm>
            <a:off x="1691640" y="5074920"/>
            <a:ext cx="4389120" cy="457200"/>
          </a:xfrm>
          <a:prstGeom prst="rect">
            <a:avLst/>
          </a:prstGeom>
          <a:noFill/>
          <a:ln/>
        </p:spPr>
        <p:txBody>
          <a:bodyPr wrap="square" lIns="0" tIns="0" rIns="0" bIns="0" rtlCol="0" anchor="t"/>
          <a:lstStyle/>
          <a:p>
            <a:pPr algn="l" indent="0" marL="0">
              <a:lnSpc>
                <a:spcPct val="105000"/>
              </a:lnSpc>
              <a:buNone/>
            </a:pPr>
            <a:r>
              <a:rPr lang="en-US" sz="1000" i="1" dirty="0">
                <a:solidFill>
                  <a:srgbClr val="5A5A5A"/>
                </a:solidFill>
                <a:latin typeface="Calibri" pitchFamily="34" charset="0"/>
                <a:ea typeface="Calibri" pitchFamily="34" charset="-122"/>
                <a:cs typeface="Calibri" pitchFamily="34" charset="-120"/>
              </a:rPr>
              <a:t>Aturan ini yang dipakai untuk menilai apakah stok Amazon yang sangat besar itu pemborosan atau justru keputusan yang benar.</a:t>
            </a:r>
            <a:endParaRPr lang="en-US" sz="1000" dirty="0"/>
          </a:p>
        </p:txBody>
      </p:sp>
      <p:pic>
        <p:nvPicPr>
          <p:cNvPr id="14" name="Image 1" descr="/tmp/claude-0/-home-user-Dom-Manipulation/01edd7ad-16e1-5ac5-9e2e-840f37702b96/scratchpad/img/crop/sortation.jpg">    </p:cNvPr>
          <p:cNvPicPr>
            <a:picLocks noChangeAspect="1"/>
          </p:cNvPicPr>
          <p:nvPr/>
        </p:nvPicPr>
        <p:blipFill>
          <a:blip r:embed="rId2"/>
          <a:stretch>
            <a:fillRect/>
          </a:stretch>
        </p:blipFill>
        <p:spPr>
          <a:xfrm>
            <a:off x="6291072" y="3359003"/>
            <a:ext cx="5516575" cy="31149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sp>
        <p:nvSpPr>
          <p:cNvPr id="3"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6</a:t>
            </a:r>
            <a:endParaRPr lang="en-US" sz="1000" dirty="0"/>
          </a:p>
        </p:txBody>
      </p:sp>
      <p:pic>
        <p:nvPicPr>
          <p:cNvPr id="4" name="Image 0" descr="/tmp/claude-0/-home-user-Dom-Manipulation/01edd7ad-16e1-5ac5-9e2e-840f37702b96/scratchpad/img/crop/hero_full.jpg">    </p:cNvPr>
          <p:cNvPicPr>
            <a:picLocks noChangeAspect="1"/>
          </p:cNvPicPr>
          <p:nvPr/>
        </p:nvPicPr>
        <p:blipFill>
          <a:blip r:embed="rId1"/>
          <a:srcRect l="0" r="0" t="0" b="0"/>
          <a:stretch/>
        </p:blipFill>
        <p:spPr>
          <a:xfrm>
            <a:off x="438912" y="438912"/>
            <a:ext cx="11313871" cy="5980176"/>
          </a:xfrm>
          <a:prstGeom prst="rect">
            <a:avLst/>
          </a:prstGeom>
        </p:spPr>
      </p:pic>
      <p:sp>
        <p:nvSpPr>
          <p:cNvPr id="5" name="Shape 2"/>
          <p:cNvSpPr/>
          <p:nvPr/>
        </p:nvSpPr>
        <p:spPr>
          <a:xfrm>
            <a:off x="438912" y="438912"/>
            <a:ext cx="11313871" cy="5980176"/>
          </a:xfrm>
          <a:prstGeom prst="rect">
            <a:avLst/>
          </a:prstGeom>
          <a:solidFill>
            <a:srgbClr val="FFFFFF">
              <a:alpha val="30000"/>
            </a:srgbClr>
          </a:solidFill>
          <a:ln w="12700">
            <a:solidFill>
              <a:srgbClr val="FFFFFF"/>
            </a:solidFill>
            <a:prstDash val="solid"/>
          </a:ln>
        </p:spPr>
      </p:sp>
      <p:sp>
        <p:nvSpPr>
          <p:cNvPr id="6" name="Text 3"/>
          <p:cNvSpPr txBox="1"/>
          <p:nvPr/>
        </p:nvSpPr>
        <p:spPr>
          <a:xfrm>
            <a:off x="822960" y="685800"/>
            <a:ext cx="82296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TRANSFORMASI MODEL BISNIS AMAZON</a:t>
            </a:r>
            <a:endParaRPr lang="en-US" sz="3000" dirty="0"/>
          </a:p>
        </p:txBody>
      </p:sp>
      <p:sp>
        <p:nvSpPr>
          <p:cNvPr id="7" name="Text 4"/>
          <p:cNvSpPr txBox="1"/>
          <p:nvPr/>
        </p:nvSpPr>
        <p:spPr>
          <a:xfrm>
            <a:off x="822960" y="153619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01</a:t>
            </a:r>
            <a:endParaRPr lang="en-US" sz="4400" dirty="0"/>
          </a:p>
        </p:txBody>
      </p:sp>
      <p:sp>
        <p:nvSpPr>
          <p:cNvPr id="8" name="Text 5"/>
          <p:cNvSpPr txBox="1"/>
          <p:nvPr/>
        </p:nvSpPr>
        <p:spPr>
          <a:xfrm>
            <a:off x="1965960" y="1664208"/>
            <a:ext cx="48920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700" b="1" dirty="0">
                <a:solidFill>
                  <a:srgbClr val="111111"/>
                </a:solidFill>
                <a:latin typeface="Arial Narrow" pitchFamily="34" charset="0"/>
                <a:ea typeface="Arial Narrow" pitchFamily="34" charset="-122"/>
                <a:cs typeface="Arial Narrow" pitchFamily="34" charset="-120"/>
              </a:rPr>
              <a:t>RENCANA 1995: PENGECER VIRTUAL</a:t>
            </a:r>
            <a:endParaRPr lang="en-US" sz="1700" dirty="0"/>
          </a:p>
        </p:txBody>
      </p:sp>
      <p:sp>
        <p:nvSpPr>
          <p:cNvPr id="9" name="Text 6"/>
          <p:cNvSpPr txBox="1"/>
          <p:nvPr/>
        </p:nvSpPr>
        <p:spPr>
          <a:xfrm>
            <a:off x="1965960" y="2304288"/>
            <a:ext cx="4892040" cy="9144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Tanpa persediaan, tanpa gudang, tanpa overhead. Hanya komputer yang menerima pesanan buku dan meneruskan pemenuhannya ke pihak lain. Secara default rencana yang menarik: modal kecil, tidak ada risiko stok.</a:t>
            </a:r>
            <a:endParaRPr lang="en-US" sz="950" dirty="0"/>
          </a:p>
        </p:txBody>
      </p:sp>
      <p:sp>
        <p:nvSpPr>
          <p:cNvPr id="10" name="Text 7"/>
          <p:cNvSpPr txBox="1"/>
          <p:nvPr/>
        </p:nvSpPr>
        <p:spPr>
          <a:xfrm>
            <a:off x="822960" y="377647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02</a:t>
            </a:r>
            <a:endParaRPr lang="en-US" sz="4400" dirty="0"/>
          </a:p>
        </p:txBody>
      </p:sp>
      <p:sp>
        <p:nvSpPr>
          <p:cNvPr id="11" name="Text 8"/>
          <p:cNvSpPr txBox="1"/>
          <p:nvPr/>
        </p:nvSpPr>
        <p:spPr>
          <a:xfrm>
            <a:off x="1965960" y="3904488"/>
            <a:ext cx="48920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500" b="1" dirty="0">
                <a:solidFill>
                  <a:srgbClr val="111111"/>
                </a:solidFill>
                <a:latin typeface="Arial Narrow" pitchFamily="34" charset="0"/>
                <a:ea typeface="Arial Narrow" pitchFamily="34" charset="-122"/>
                <a:cs typeface="Arial Narrow" pitchFamily="34" charset="-120"/>
              </a:rPr>
              <a:t>KENYATAAN: JARINGAN GUDANG TERBESAR DI DUNIA</a:t>
            </a:r>
            <a:endParaRPr lang="en-US" sz="1500" dirty="0"/>
          </a:p>
        </p:txBody>
      </p:sp>
      <p:sp>
        <p:nvSpPr>
          <p:cNvPr id="12" name="Text 9"/>
          <p:cNvSpPr txBox="1"/>
          <p:nvPr/>
        </p:nvSpPr>
        <p:spPr>
          <a:xfrm>
            <a:off x="1965960" y="4544568"/>
            <a:ext cx="4892040" cy="9144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Buku hanya memberi satu kalimat: things clearly didn’t work out that way. Perangkat lunak pesanan Amazon begitu baik sehingga keahlian order taking, processing, dan billing dijual ke pihak lain.</a:t>
            </a:r>
            <a:endParaRPr lang="en-US" sz="950" dirty="0"/>
          </a:p>
        </p:txBody>
      </p:sp>
      <p:sp>
        <p:nvSpPr>
          <p:cNvPr id="13" name="Text 10"/>
          <p:cNvSpPr txBox="1"/>
          <p:nvPr/>
        </p:nvSpPr>
        <p:spPr>
          <a:xfrm>
            <a:off x="7680960" y="1737360"/>
            <a:ext cx="3657600" cy="502920"/>
          </a:xfrm>
          <a:prstGeom prst="rect">
            <a:avLst/>
          </a:prstGeom>
          <a:solidFill>
            <a:srgbClr val="FFFFFF"/>
          </a:solidFill>
          <a:ln/>
        </p:spPr>
        <p:txBody>
          <a:bodyPr wrap="square" lIns="254" tIns="1270" rIns="1270" bIns="254" rtlCol="0" anchor="ctr"/>
          <a:lstStyle/>
          <a:p>
            <a:pPr indent="0" marL="0">
              <a:buNone/>
            </a:pPr>
            <a:r>
              <a:rPr lang="en-US" sz="2800" b="1" dirty="0">
                <a:solidFill>
                  <a:srgbClr val="E4708F"/>
                </a:solidFill>
                <a:latin typeface="Arial Narrow" pitchFamily="34" charset="0"/>
                <a:ea typeface="Arial Narrow" pitchFamily="34" charset="-122"/>
                <a:cs typeface="Arial Narrow" pitchFamily="34" charset="-120"/>
              </a:rPr>
              <a:t>150+</a:t>
            </a:r>
            <a:endParaRPr lang="en-US" sz="2800" dirty="0"/>
          </a:p>
        </p:txBody>
      </p:sp>
      <p:sp>
        <p:nvSpPr>
          <p:cNvPr id="14" name="Text 11"/>
          <p:cNvSpPr txBox="1"/>
          <p:nvPr/>
        </p:nvSpPr>
        <p:spPr>
          <a:xfrm>
            <a:off x="7680960" y="2240280"/>
            <a:ext cx="3657600" cy="292608"/>
          </a:xfrm>
          <a:prstGeom prst="rect">
            <a:avLst/>
          </a:prstGeom>
          <a:solidFill>
            <a:srgbClr val="FFFFFF"/>
          </a:solidFill>
          <a:ln/>
        </p:spPr>
        <p:txBody>
          <a:bodyPr wrap="square" lIns="381" tIns="1016" rIns="1016" bIns="381" rtlCol="0" anchor="ctr"/>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gudang di seluruh dunia</a:t>
            </a:r>
            <a:endParaRPr lang="en-US" sz="1000" dirty="0"/>
          </a:p>
        </p:txBody>
      </p:sp>
      <p:sp>
        <p:nvSpPr>
          <p:cNvPr id="15" name="Text 12"/>
          <p:cNvSpPr txBox="1"/>
          <p:nvPr/>
        </p:nvSpPr>
        <p:spPr>
          <a:xfrm>
            <a:off x="7680960" y="2880360"/>
            <a:ext cx="3657600" cy="502920"/>
          </a:xfrm>
          <a:prstGeom prst="rect">
            <a:avLst/>
          </a:prstGeom>
          <a:solidFill>
            <a:srgbClr val="FFFFFF"/>
          </a:solidFill>
          <a:ln/>
        </p:spPr>
        <p:txBody>
          <a:bodyPr wrap="square" lIns="254" tIns="1270" rIns="1270" bIns="254" rtlCol="0" anchor="ctr"/>
          <a:lstStyle/>
          <a:p>
            <a:pPr indent="0" marL="0">
              <a:buNone/>
            </a:pPr>
            <a:r>
              <a:rPr lang="en-US" sz="2800" b="1" dirty="0">
                <a:solidFill>
                  <a:srgbClr val="E4708F"/>
                </a:solidFill>
                <a:latin typeface="Arial Narrow" pitchFamily="34" charset="0"/>
                <a:ea typeface="Arial Narrow" pitchFamily="34" charset="-122"/>
                <a:cs typeface="Arial Narrow" pitchFamily="34" charset="-120"/>
              </a:rPr>
              <a:t>200 juta</a:t>
            </a:r>
            <a:endParaRPr lang="en-US" sz="2800" dirty="0"/>
          </a:p>
        </p:txBody>
      </p:sp>
      <p:sp>
        <p:nvSpPr>
          <p:cNvPr id="16" name="Text 13"/>
          <p:cNvSpPr txBox="1"/>
          <p:nvPr/>
        </p:nvSpPr>
        <p:spPr>
          <a:xfrm>
            <a:off x="7680960" y="3383280"/>
            <a:ext cx="3657600" cy="292608"/>
          </a:xfrm>
          <a:prstGeom prst="rect">
            <a:avLst/>
          </a:prstGeom>
          <a:solidFill>
            <a:srgbClr val="FFFFFF"/>
          </a:solidFill>
          <a:ln/>
        </p:spPr>
        <p:txBody>
          <a:bodyPr wrap="square" lIns="381" tIns="1016" rIns="1016" bIns="381" rtlCol="0" anchor="ctr"/>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item tersedia di situs</a:t>
            </a:r>
            <a:endParaRPr lang="en-US" sz="1000" dirty="0"/>
          </a:p>
        </p:txBody>
      </p:sp>
      <p:sp>
        <p:nvSpPr>
          <p:cNvPr id="17" name="Text 14"/>
          <p:cNvSpPr txBox="1"/>
          <p:nvPr/>
        </p:nvSpPr>
        <p:spPr>
          <a:xfrm>
            <a:off x="7680960" y="4023360"/>
            <a:ext cx="3657600" cy="502920"/>
          </a:xfrm>
          <a:prstGeom prst="rect">
            <a:avLst/>
          </a:prstGeom>
          <a:solidFill>
            <a:srgbClr val="FFFFFF"/>
          </a:solidFill>
          <a:ln/>
        </p:spPr>
        <p:txBody>
          <a:bodyPr wrap="square" lIns="254" tIns="1270" rIns="1270" bIns="254" rtlCol="0" anchor="ctr"/>
          <a:lstStyle/>
          <a:p>
            <a:pPr indent="0" marL="0">
              <a:buNone/>
            </a:pPr>
            <a:r>
              <a:rPr lang="en-US" sz="2800" b="1" dirty="0">
                <a:solidFill>
                  <a:srgbClr val="E4708F"/>
                </a:solidFill>
                <a:latin typeface="Arial Narrow" pitchFamily="34" charset="0"/>
                <a:ea typeface="Arial Narrow" pitchFamily="34" charset="-122"/>
                <a:cs typeface="Arial Narrow" pitchFamily="34" charset="-120"/>
              </a:rPr>
              <a:t>200.000</a:t>
            </a:r>
            <a:endParaRPr lang="en-US" sz="2800" dirty="0"/>
          </a:p>
        </p:txBody>
      </p:sp>
      <p:sp>
        <p:nvSpPr>
          <p:cNvPr id="18" name="Text 15"/>
          <p:cNvSpPr txBox="1"/>
          <p:nvPr/>
        </p:nvSpPr>
        <p:spPr>
          <a:xfrm>
            <a:off x="7680960" y="4526280"/>
            <a:ext cx="3657600" cy="292608"/>
          </a:xfrm>
          <a:prstGeom prst="rect">
            <a:avLst/>
          </a:prstGeom>
          <a:solidFill>
            <a:srgbClr val="FFFFFF"/>
          </a:solidFill>
          <a:ln/>
        </p:spPr>
        <p:txBody>
          <a:bodyPr wrap="square" lIns="381" tIns="1016" rIns="1016" bIns="381" rtlCol="0" anchor="ctr"/>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pieces per hari dari satu gudang</a:t>
            </a:r>
            <a:endParaRPr lang="en-US" sz="1000" dirty="0"/>
          </a:p>
        </p:txBody>
      </p:sp>
      <p:sp>
        <p:nvSpPr>
          <p:cNvPr id="19" name="Text 16"/>
          <p:cNvSpPr txBox="1"/>
          <p:nvPr/>
        </p:nvSpPr>
        <p:spPr>
          <a:xfrm>
            <a:off x="7680960" y="5166360"/>
            <a:ext cx="3657600" cy="502920"/>
          </a:xfrm>
          <a:prstGeom prst="rect">
            <a:avLst/>
          </a:prstGeom>
          <a:solidFill>
            <a:srgbClr val="FFFFFF"/>
          </a:solidFill>
          <a:ln/>
        </p:spPr>
        <p:txBody>
          <a:bodyPr wrap="square" lIns="254" tIns="1270" rIns="1270" bIns="254" rtlCol="0" anchor="ctr"/>
          <a:lstStyle/>
          <a:p>
            <a:pPr indent="0" marL="0">
              <a:buNone/>
            </a:pPr>
            <a:r>
              <a:rPr lang="en-US" sz="2800" b="1" dirty="0">
                <a:solidFill>
                  <a:srgbClr val="E4708F"/>
                </a:solidFill>
                <a:latin typeface="Arial Narrow" pitchFamily="34" charset="0"/>
                <a:ea typeface="Arial Narrow" pitchFamily="34" charset="-122"/>
                <a:cs typeface="Arial Narrow" pitchFamily="34" charset="-120"/>
              </a:rPr>
              <a:t>&lt; 3 menit</a:t>
            </a:r>
            <a:endParaRPr lang="en-US" sz="2800" dirty="0"/>
          </a:p>
        </p:txBody>
      </p:sp>
      <p:sp>
        <p:nvSpPr>
          <p:cNvPr id="20" name="Text 17"/>
          <p:cNvSpPr txBox="1"/>
          <p:nvPr/>
        </p:nvSpPr>
        <p:spPr>
          <a:xfrm>
            <a:off x="7680960" y="5669280"/>
            <a:ext cx="3657600" cy="292608"/>
          </a:xfrm>
          <a:prstGeom prst="rect">
            <a:avLst/>
          </a:prstGeom>
          <a:solidFill>
            <a:srgbClr val="FFFFFF"/>
          </a:solidFill>
          <a:ln/>
        </p:spPr>
        <p:txBody>
          <a:bodyPr wrap="square" lIns="381" tIns="1016" rIns="1016" bIns="381" rtlCol="0" anchor="ctr"/>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tenaga kerja per pesanan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7</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APAKAH RENCANA AWALNYA SALAH?</a:t>
            </a:r>
            <a:endParaRPr lang="en-US" sz="3000" dirty="0"/>
          </a:p>
        </p:txBody>
      </p:sp>
      <p:sp>
        <p:nvSpPr>
          <p:cNvPr id="6" name="Text 3"/>
          <p:cNvSpPr txBox="1"/>
          <p:nvPr/>
        </p:nvSpPr>
        <p:spPr>
          <a:xfrm>
            <a:off x="868680" y="1417320"/>
            <a:ext cx="5212080"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Bukan salah, tetapi asumsinya tidak bisa dipertahankan begitu value proposition ditetapkan.</a:t>
            </a:r>
            <a:endParaRPr lang="en-US" sz="1050" dirty="0"/>
          </a:p>
        </p:txBody>
      </p:sp>
      <p:sp>
        <p:nvSpPr>
          <p:cNvPr id="7" name="Shape 4"/>
          <p:cNvSpPr/>
          <p:nvPr/>
        </p:nvSpPr>
        <p:spPr>
          <a:xfrm rot="12000000">
            <a:off x="1051560" y="2011680"/>
            <a:ext cx="502920" cy="685800"/>
          </a:xfrm>
          <a:prstGeom prst="curvedRightArrow">
            <a:avLst/>
          </a:prstGeom>
          <a:solidFill>
            <a:srgbClr val="111111"/>
          </a:solidFill>
          <a:ln w="12700">
            <a:solidFill>
              <a:srgbClr val="111111"/>
            </a:solidFill>
            <a:prstDash val="solid"/>
          </a:ln>
        </p:spPr>
      </p:sp>
      <p:sp>
        <p:nvSpPr>
          <p:cNvPr id="8" name="Text 5"/>
          <p:cNvSpPr txBox="1"/>
          <p:nvPr/>
        </p:nvSpPr>
        <p:spPr>
          <a:xfrm>
            <a:off x="1783080" y="2194560"/>
            <a:ext cx="5212080" cy="454152"/>
          </a:xfrm>
          <a:prstGeom prst="rect">
            <a:avLst/>
          </a:prstGeom>
          <a:noFill/>
          <a:ln/>
        </p:spPr>
        <p:txBody>
          <a:bodyPr wrap="square" lIns="0" tIns="0" rIns="0" bIns="0" rtlCol="0" anchor="t"/>
          <a:lstStyle/>
          <a:p>
            <a:pPr algn="l" indent="0" marL="0">
              <a:lnSpc>
                <a:spcPct val="92000"/>
              </a:lnSpc>
              <a:buNone/>
            </a:pPr>
            <a:r>
              <a:rPr lang="en-US" sz="2400" b="1" dirty="0">
                <a:solidFill>
                  <a:srgbClr val="111111"/>
                </a:solidFill>
                <a:latin typeface="Arial Narrow" pitchFamily="34" charset="0"/>
                <a:ea typeface="Arial Narrow" pitchFamily="34" charset="-122"/>
                <a:cs typeface="Arial Narrow" pitchFamily="34" charset="-120"/>
              </a:rPr>
              <a:t>TIGA TARGET BEZOS</a:t>
            </a:r>
            <a:endParaRPr lang="en-US" sz="2400" dirty="0"/>
          </a:p>
        </p:txBody>
      </p:sp>
      <p:sp>
        <p:nvSpPr>
          <p:cNvPr id="9" name="Text 6"/>
          <p:cNvSpPr txBox="1"/>
          <p:nvPr/>
        </p:nvSpPr>
        <p:spPr>
          <a:xfrm>
            <a:off x="1783080" y="2697480"/>
            <a:ext cx="320040" cy="29260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1.</a:t>
            </a:r>
            <a:endParaRPr lang="en-US" sz="1300" dirty="0"/>
          </a:p>
        </p:txBody>
      </p:sp>
      <p:sp>
        <p:nvSpPr>
          <p:cNvPr id="10" name="Text 7"/>
          <p:cNvSpPr txBox="1"/>
          <p:nvPr/>
        </p:nvSpPr>
        <p:spPr>
          <a:xfrm>
            <a:off x="2130552" y="2697480"/>
            <a:ext cx="3950208" cy="292608"/>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Lowest price: harga terendah</a:t>
            </a:r>
            <a:endParaRPr lang="en-US" sz="1000" dirty="0"/>
          </a:p>
        </p:txBody>
      </p:sp>
      <p:sp>
        <p:nvSpPr>
          <p:cNvPr id="11" name="Text 8"/>
          <p:cNvSpPr txBox="1"/>
          <p:nvPr/>
        </p:nvSpPr>
        <p:spPr>
          <a:xfrm>
            <a:off x="1783080" y="3063240"/>
            <a:ext cx="320040" cy="29260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2.</a:t>
            </a:r>
            <a:endParaRPr lang="en-US" sz="1300" dirty="0"/>
          </a:p>
        </p:txBody>
      </p:sp>
      <p:sp>
        <p:nvSpPr>
          <p:cNvPr id="12" name="Text 9"/>
          <p:cNvSpPr txBox="1"/>
          <p:nvPr/>
        </p:nvSpPr>
        <p:spPr>
          <a:xfrm>
            <a:off x="2130552" y="3063240"/>
            <a:ext cx="3950208" cy="292608"/>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Fastest delivery: pengiriman tercepat</a:t>
            </a:r>
            <a:endParaRPr lang="en-US" sz="1000" dirty="0"/>
          </a:p>
        </p:txBody>
      </p:sp>
      <p:sp>
        <p:nvSpPr>
          <p:cNvPr id="13" name="Text 10"/>
          <p:cNvSpPr txBox="1"/>
          <p:nvPr/>
        </p:nvSpPr>
        <p:spPr>
          <a:xfrm>
            <a:off x="1783080" y="3429000"/>
            <a:ext cx="320040" cy="29260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3.</a:t>
            </a:r>
            <a:endParaRPr lang="en-US" sz="1300" dirty="0"/>
          </a:p>
        </p:txBody>
      </p:sp>
      <p:sp>
        <p:nvSpPr>
          <p:cNvPr id="14" name="Text 11"/>
          <p:cNvSpPr txBox="1"/>
          <p:nvPr/>
        </p:nvSpPr>
        <p:spPr>
          <a:xfrm>
            <a:off x="2130552" y="3429000"/>
            <a:ext cx="3950208" cy="292608"/>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Error-free: pemenuhan pesanan bebas kesalahan</a:t>
            </a:r>
            <a:endParaRPr lang="en-US" sz="1000" dirty="0"/>
          </a:p>
        </p:txBody>
      </p:sp>
      <p:sp>
        <p:nvSpPr>
          <p:cNvPr id="15" name="Text 12"/>
          <p:cNvSpPr txBox="1"/>
          <p:nvPr/>
        </p:nvSpPr>
        <p:spPr>
          <a:xfrm>
            <a:off x="868680" y="3931920"/>
            <a:ext cx="5212080" cy="411480"/>
          </a:xfrm>
          <a:prstGeom prst="rect">
            <a:avLst/>
          </a:prstGeom>
          <a:noFill/>
          <a:ln/>
        </p:spPr>
        <p:txBody>
          <a:bodyPr wrap="square" lIns="0" tIns="0" rIns="0" bIns="0" rtlCol="0" anchor="t"/>
          <a:lstStyle/>
          <a:p>
            <a:pPr algn="l" indent="0" marL="0">
              <a:lnSpc>
                <a:spcPct val="105000"/>
              </a:lnSpc>
              <a:buNone/>
            </a:pPr>
            <a:r>
              <a:rPr lang="en-US" sz="1000" i="1" dirty="0">
                <a:solidFill>
                  <a:srgbClr val="111111"/>
                </a:solidFill>
                <a:latin typeface="Calibri" pitchFamily="34" charset="0"/>
                <a:ea typeface="Calibri" pitchFamily="34" charset="-122"/>
                <a:cs typeface="Calibri" pitchFamily="34" charset="-120"/>
              </a:rPr>
              <a:t>Kalimat kunci dari buku: exchanges and returns are very expensive. Kesalahan bukan sekadar masalah mutu, tetapi biaya.</a:t>
            </a:r>
            <a:endParaRPr lang="en-US" sz="1000" dirty="0"/>
          </a:p>
        </p:txBody>
      </p:sp>
      <p:sp>
        <p:nvSpPr>
          <p:cNvPr id="16" name="Text 13"/>
          <p:cNvSpPr txBox="1"/>
          <p:nvPr/>
        </p:nvSpPr>
        <p:spPr>
          <a:xfrm>
            <a:off x="868680" y="443484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PEMENUHAN OLEH PIHAK KETIGA</a:t>
            </a:r>
            <a:endParaRPr lang="en-US" sz="1600" dirty="0"/>
          </a:p>
        </p:txBody>
      </p:sp>
      <p:sp>
        <p:nvSpPr>
          <p:cNvPr id="17" name="Text 14"/>
          <p:cNvSpPr txBox="1"/>
          <p:nvPr/>
        </p:nvSpPr>
        <p:spPr>
          <a:xfrm>
            <a:off x="868680" y="4780280"/>
            <a:ext cx="5212080" cy="50292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Kecepatan bergantung stok dan proses orang lain; kesalahan pihak lain menjadi biaya return Amazon tetapi tidak bisa dikendalikan; margin pihak ketiga masuk ke harga.</a:t>
            </a:r>
            <a:endParaRPr lang="en-US" sz="1000" dirty="0"/>
          </a:p>
        </p:txBody>
      </p:sp>
      <p:sp>
        <p:nvSpPr>
          <p:cNvPr id="18" name="Text 15"/>
          <p:cNvSpPr txBox="1"/>
          <p:nvPr/>
        </p:nvSpPr>
        <p:spPr>
          <a:xfrm>
            <a:off x="868680" y="530352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PEMENUHAN DIKELOLA SENDIRI</a:t>
            </a:r>
            <a:endParaRPr lang="en-US" sz="1600" dirty="0"/>
          </a:p>
        </p:txBody>
      </p:sp>
      <p:sp>
        <p:nvSpPr>
          <p:cNvPr id="19" name="Text 16"/>
          <p:cNvSpPr txBox="1"/>
          <p:nvPr/>
        </p:nvSpPr>
        <p:spPr>
          <a:xfrm>
            <a:off x="868680" y="5648960"/>
            <a:ext cx="5212080" cy="5486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Stok diletakkan di gudang terdekat pelanggan; titik kontrol dirancang sendiri; biaya per pesanan ditekan lewat volume dan otomasi. Value proposition men-direct keputusan di belakangnya.</a:t>
            </a:r>
            <a:endParaRPr lang="en-US" sz="1000" dirty="0"/>
          </a:p>
        </p:txBody>
      </p:sp>
      <p:pic>
        <p:nvPicPr>
          <p:cNvPr id="20" name="Image 1" descr="/tmp/claude-0/-home-user-Dom-Manipulation/01edd7ad-16e1-5ac5-9e2e-840f37702b96/scratchpad/img/crop/packing.jpg">    </p:cNvPr>
          <p:cNvPicPr>
            <a:picLocks noChangeAspect="1"/>
          </p:cNvPicPr>
          <p:nvPr/>
        </p:nvPicPr>
        <p:blipFill>
          <a:blip r:embed="rId2"/>
          <a:stretch>
            <a:fillRect/>
          </a:stretch>
        </p:blipFill>
        <p:spPr>
          <a:xfrm>
            <a:off x="7052767" y="3755324"/>
            <a:ext cx="4754880" cy="271862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8</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KARAKTER OPERASI AMAZON DENGAN 4V</a:t>
            </a:r>
            <a:endParaRPr lang="en-US" sz="3000" dirty="0"/>
          </a:p>
        </p:txBody>
      </p:sp>
      <p:sp>
        <p:nvSpPr>
          <p:cNvPr id="6" name="Text 3"/>
          <p:cNvSpPr txBox="1"/>
          <p:nvPr/>
        </p:nvSpPr>
        <p:spPr>
          <a:xfrm>
            <a:off x="868680" y="146304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VOLUME: SANGAT TINGGI</a:t>
            </a:r>
            <a:endParaRPr lang="en-US" sz="1600" dirty="0"/>
          </a:p>
        </p:txBody>
      </p:sp>
      <p:sp>
        <p:nvSpPr>
          <p:cNvPr id="7" name="Text 4"/>
          <p:cNvSpPr txBox="1"/>
          <p:nvPr/>
        </p:nvSpPr>
        <p:spPr>
          <a:xfrm>
            <a:off x="868680" y="180848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200.000 pieces per hari per gudang, lebih dari 150 gudang. Economies of scale: otomasi dan standardisasi menjadi ekonomis.</a:t>
            </a:r>
            <a:endParaRPr lang="en-US" sz="1000" dirty="0"/>
          </a:p>
        </p:txBody>
      </p:sp>
      <p:sp>
        <p:nvSpPr>
          <p:cNvPr id="8" name="Text 5"/>
          <p:cNvSpPr txBox="1"/>
          <p:nvPr/>
        </p:nvSpPr>
        <p:spPr>
          <a:xfrm>
            <a:off x="868680" y="233172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VARIETY: SANGAT TINGGI</a:t>
            </a:r>
            <a:endParaRPr lang="en-US" sz="1600" dirty="0"/>
          </a:p>
        </p:txBody>
      </p:sp>
      <p:sp>
        <p:nvSpPr>
          <p:cNvPr id="9" name="Text 6"/>
          <p:cNvSpPr txBox="1"/>
          <p:nvPr/>
        </p:nvSpPr>
        <p:spPr>
          <a:xfrm>
            <a:off x="868680" y="267716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200 juta item; 70% pesanan berisi lebih dari satu produk. Kesalahan pengambilan mudah terjadi; akurasi catatan per item menjadi persoalan utama.</a:t>
            </a:r>
            <a:endParaRPr lang="en-US" sz="1000" dirty="0"/>
          </a:p>
        </p:txBody>
      </p:sp>
      <p:sp>
        <p:nvSpPr>
          <p:cNvPr id="10" name="Text 7"/>
          <p:cNvSpPr txBox="1"/>
          <p:nvPr/>
        </p:nvSpPr>
        <p:spPr>
          <a:xfrm>
            <a:off x="868680" y="320040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VARIATION: TINGGI</a:t>
            </a:r>
            <a:endParaRPr lang="en-US" sz="1600" dirty="0"/>
          </a:p>
        </p:txBody>
      </p:sp>
      <p:sp>
        <p:nvSpPr>
          <p:cNvPr id="11" name="Text 8"/>
          <p:cNvSpPr txBox="1"/>
          <p:nvPr/>
        </p:nvSpPr>
        <p:spPr>
          <a:xfrm>
            <a:off x="868680" y="354584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Ritel daring dengan musim puncak; gudang dirancang untuk kapasitas harian maksimum. Perlu stok pengaman dan kapasitas yang bisa menyerap lonjakan.</a:t>
            </a:r>
            <a:endParaRPr lang="en-US" sz="1000" dirty="0"/>
          </a:p>
        </p:txBody>
      </p:sp>
      <p:sp>
        <p:nvSpPr>
          <p:cNvPr id="12" name="Text 9"/>
          <p:cNvSpPr txBox="1"/>
          <p:nvPr/>
        </p:nvSpPr>
        <p:spPr>
          <a:xfrm>
            <a:off x="868680" y="406908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VISIBILITY: RENDAH</a:t>
            </a:r>
            <a:endParaRPr lang="en-US" sz="1600" dirty="0"/>
          </a:p>
        </p:txBody>
      </p:sp>
      <p:sp>
        <p:nvSpPr>
          <p:cNvPr id="13" name="Text 10"/>
          <p:cNvSpPr txBox="1"/>
          <p:nvPr/>
        </p:nvSpPr>
        <p:spPr>
          <a:xfrm>
            <a:off x="868680" y="441452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Pelanggan hanya melihat hasil: harga, waktu tiba, ketepatan isi paket. Proses gudang bebas dirancang untuk efisiensi.</a:t>
            </a:r>
            <a:endParaRPr lang="en-US" sz="1000" dirty="0"/>
          </a:p>
        </p:txBody>
      </p:sp>
      <p:sp>
        <p:nvSpPr>
          <p:cNvPr id="14" name="Text 11"/>
          <p:cNvSpPr txBox="1"/>
          <p:nvPr/>
        </p:nvSpPr>
        <p:spPr>
          <a:xfrm>
            <a:off x="868680" y="4983480"/>
            <a:ext cx="5212080" cy="73152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Secara natural volume tinggi berpasangan dengan variety rendah. Amazon punya keduanya tinggi, dan tetap efisien karena pengambilan dilakukan massal dalam batch, lalu disusun per pesanan di ujung proses.</a:t>
            </a:r>
            <a:endParaRPr lang="en-US" sz="1050" dirty="0"/>
          </a:p>
        </p:txBody>
      </p:sp>
      <p:pic>
        <p:nvPicPr>
          <p:cNvPr id="15" name="Image 1" descr="/tmp/claude-0/-home-user-Dom-Manipulation/01edd7ad-16e1-5ac5-9e2e-840f37702b96/scratchpad/img/crop/delivery.jpg">    </p:cNvPr>
          <p:cNvPicPr>
            <a:picLocks noChangeAspect="1"/>
          </p:cNvPicPr>
          <p:nvPr/>
        </p:nvPicPr>
        <p:blipFill>
          <a:blip r:embed="rId2"/>
          <a:stretch>
            <a:fillRect/>
          </a:stretch>
        </p:blipFill>
        <p:spPr>
          <a:xfrm>
            <a:off x="7815377" y="1078992"/>
            <a:ext cx="3992270" cy="53949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sp>
        <p:nvSpPr>
          <p:cNvPr id="3"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9</a:t>
            </a:r>
            <a:endParaRPr lang="en-US" sz="1000" dirty="0"/>
          </a:p>
        </p:txBody>
      </p:sp>
      <p:pic>
        <p:nvPicPr>
          <p:cNvPr id="4" name="Image 0" descr="/tmp/claude-0/-home-user-Dom-Manipulation/01edd7ad-16e1-5ac5-9e2e-840f37702b96/scratchpad/img/crop/totes_full.jpg">    </p:cNvPr>
          <p:cNvPicPr>
            <a:picLocks noChangeAspect="1"/>
          </p:cNvPicPr>
          <p:nvPr/>
        </p:nvPicPr>
        <p:blipFill>
          <a:blip r:embed="rId1"/>
          <a:srcRect l="0" r="0" t="0" b="0"/>
          <a:stretch/>
        </p:blipFill>
        <p:spPr>
          <a:xfrm>
            <a:off x="438912" y="438912"/>
            <a:ext cx="11313871" cy="5980176"/>
          </a:xfrm>
          <a:prstGeom prst="rect">
            <a:avLst/>
          </a:prstGeom>
        </p:spPr>
      </p:pic>
      <p:sp>
        <p:nvSpPr>
          <p:cNvPr id="5" name="Shape 2"/>
          <p:cNvSpPr/>
          <p:nvPr/>
        </p:nvSpPr>
        <p:spPr>
          <a:xfrm>
            <a:off x="438912" y="438912"/>
            <a:ext cx="11313871" cy="5980176"/>
          </a:xfrm>
          <a:prstGeom prst="rect">
            <a:avLst/>
          </a:prstGeom>
          <a:solidFill>
            <a:srgbClr val="FFFFFF">
              <a:alpha val="30000"/>
            </a:srgbClr>
          </a:solidFill>
          <a:ln w="12700">
            <a:solidFill>
              <a:srgbClr val="FFFFFF"/>
            </a:solidFill>
            <a:prstDash val="solid"/>
          </a:ln>
        </p:spPr>
      </p:sp>
      <p:sp>
        <p:nvSpPr>
          <p:cNvPr id="6" name="Text 3"/>
          <p:cNvSpPr txBox="1"/>
          <p:nvPr/>
        </p:nvSpPr>
        <p:spPr>
          <a:xfrm>
            <a:off x="822960" y="685800"/>
            <a:ext cx="100584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PROSES PEMENUHAN PESANAN: LANGKAH 1 SAMPAI 4</a:t>
            </a:r>
            <a:endParaRPr lang="en-US" sz="3000" dirty="0"/>
          </a:p>
        </p:txBody>
      </p:sp>
      <p:sp>
        <p:nvSpPr>
          <p:cNvPr id="7" name="Text 4"/>
          <p:cNvSpPr txBox="1"/>
          <p:nvPr/>
        </p:nvSpPr>
        <p:spPr>
          <a:xfrm>
            <a:off x="822960" y="158191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01</a:t>
            </a:r>
            <a:endParaRPr lang="en-US" sz="4400" dirty="0"/>
          </a:p>
        </p:txBody>
      </p:sp>
      <p:sp>
        <p:nvSpPr>
          <p:cNvPr id="8" name="Text 5"/>
          <p:cNvSpPr txBox="1"/>
          <p:nvPr/>
        </p:nvSpPr>
        <p:spPr>
          <a:xfrm>
            <a:off x="1965960" y="170992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PESANAN MASUK, KOMPUTER DI SEATTLE MENGAMBIL ALIH</a:t>
            </a:r>
            <a:endParaRPr lang="en-US" sz="1400" dirty="0"/>
          </a:p>
        </p:txBody>
      </p:sp>
      <p:sp>
        <p:nvSpPr>
          <p:cNvPr id="9" name="Text 6"/>
          <p:cNvSpPr txBox="1"/>
          <p:nvPr/>
        </p:nvSpPr>
        <p:spPr>
          <a:xfrm>
            <a:off x="1965960" y="235000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Komputer menugaskan pesanan (buku, permainan, kamera digital) ke salah satu pusat distribusi besar di AS. Ini jawaban atas where; syaratnya catatan stok tiap DC benar saat itu juga.</a:t>
            </a:r>
            <a:endParaRPr lang="en-US" sz="950" dirty="0"/>
          </a:p>
        </p:txBody>
      </p:sp>
      <p:sp>
        <p:nvSpPr>
          <p:cNvPr id="10" name="Text 7"/>
          <p:cNvSpPr txBox="1"/>
          <p:nvPr/>
        </p:nvSpPr>
        <p:spPr>
          <a:xfrm>
            <a:off x="6400800" y="158191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02</a:t>
            </a:r>
            <a:endParaRPr lang="en-US" sz="4400" dirty="0"/>
          </a:p>
        </p:txBody>
      </p:sp>
      <p:sp>
        <p:nvSpPr>
          <p:cNvPr id="11" name="Text 8"/>
          <p:cNvSpPr txBox="1"/>
          <p:nvPr/>
        </p:nvSpPr>
        <p:spPr>
          <a:xfrm>
            <a:off x="7543800" y="170992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FLOW MEISTER DI DC MENERIMA PESANAN</a:t>
            </a:r>
            <a:endParaRPr lang="en-US" sz="1400" dirty="0"/>
          </a:p>
        </p:txBody>
      </p:sp>
      <p:sp>
        <p:nvSpPr>
          <p:cNvPr id="12" name="Text 9"/>
          <p:cNvSpPr txBox="1"/>
          <p:nvPr/>
        </p:nvSpPr>
        <p:spPr>
          <a:xfrm>
            <a:off x="7543800" y="235000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Ia menentukan pekerja mana pergi ke mana. Pesanan diubah menjadi penugasan picking; masih ada manusia sebagai pengatur beban kerja.</a:t>
            </a:r>
            <a:endParaRPr lang="en-US" sz="950" dirty="0"/>
          </a:p>
        </p:txBody>
      </p:sp>
      <p:sp>
        <p:nvSpPr>
          <p:cNvPr id="13" name="Text 10"/>
          <p:cNvSpPr txBox="1"/>
          <p:nvPr/>
        </p:nvSpPr>
        <p:spPr>
          <a:xfrm>
            <a:off x="822960" y="395935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03</a:t>
            </a:r>
            <a:endParaRPr lang="en-US" sz="4400" dirty="0"/>
          </a:p>
        </p:txBody>
      </p:sp>
      <p:sp>
        <p:nvSpPr>
          <p:cNvPr id="14" name="Text 11"/>
          <p:cNvSpPr txBox="1"/>
          <p:nvPr/>
        </p:nvSpPr>
        <p:spPr>
          <a:xfrm>
            <a:off x="1965960" y="408736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PICKING</a:t>
            </a:r>
            <a:endParaRPr lang="en-US" sz="1400" dirty="0"/>
          </a:p>
        </p:txBody>
      </p:sp>
      <p:sp>
        <p:nvSpPr>
          <p:cNvPr id="15" name="Text 12"/>
          <p:cNvSpPr txBox="1"/>
          <p:nvPr/>
        </p:nvSpPr>
        <p:spPr>
          <a:xfrm>
            <a:off x="1965960" y="472744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Sistem Amazon menggandakan kecepatan picking operator manual dan menurunkan tingkat kesalahan mendekati nol. Mekanismenya robot Kiva.</a:t>
            </a:r>
            <a:endParaRPr lang="en-US" sz="950" dirty="0"/>
          </a:p>
        </p:txBody>
      </p:sp>
      <p:sp>
        <p:nvSpPr>
          <p:cNvPr id="16" name="Text 13"/>
          <p:cNvSpPr txBox="1"/>
          <p:nvPr/>
        </p:nvSpPr>
        <p:spPr>
          <a:xfrm>
            <a:off x="6400800" y="395935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04</a:t>
            </a:r>
            <a:endParaRPr lang="en-US" sz="4400" dirty="0"/>
          </a:p>
        </p:txBody>
      </p:sp>
      <p:sp>
        <p:nvSpPr>
          <p:cNvPr id="17" name="Text 14"/>
          <p:cNvSpPr txBox="1"/>
          <p:nvPr/>
        </p:nvSpPr>
        <p:spPr>
          <a:xfrm>
            <a:off x="7543800" y="408736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BARANG MASUK CRATE DI BAN BERJALAN</a:t>
            </a:r>
            <a:endParaRPr lang="en-US" sz="1400" dirty="0"/>
          </a:p>
        </p:txBody>
      </p:sp>
      <p:sp>
        <p:nvSpPr>
          <p:cNvPr id="18" name="Text 15"/>
          <p:cNvSpPr txBox="1"/>
          <p:nvPr/>
        </p:nvSpPr>
        <p:spPr>
          <a:xfrm>
            <a:off x="7543800" y="472744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Crate kuning berisi pesanan banyak pelanggan; conveyor lebih dari 10 mil, 2,9 kaki/detik; bar code dipindai 15 kali oleh mesin dan pekerja. Batch picking dan verifikasi berulang.</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sp>
        <p:nvSpPr>
          <p:cNvPr id="3"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10</a:t>
            </a:r>
            <a:endParaRPr lang="en-US" sz="1000" dirty="0"/>
          </a:p>
        </p:txBody>
      </p:sp>
      <p:pic>
        <p:nvPicPr>
          <p:cNvPr id="4" name="Image 0" descr="/tmp/claude-0/-home-user-Dom-Manipulation/01edd7ad-16e1-5ac5-9e2e-840f37702b96/scratchpad/img/crop/sortation_full.jpg">    </p:cNvPr>
          <p:cNvPicPr>
            <a:picLocks noChangeAspect="1"/>
          </p:cNvPicPr>
          <p:nvPr/>
        </p:nvPicPr>
        <p:blipFill>
          <a:blip r:embed="rId1"/>
          <a:srcRect l="0" r="0" t="0" b="0"/>
          <a:stretch/>
        </p:blipFill>
        <p:spPr>
          <a:xfrm>
            <a:off x="438912" y="438912"/>
            <a:ext cx="11313871" cy="5980176"/>
          </a:xfrm>
          <a:prstGeom prst="rect">
            <a:avLst/>
          </a:prstGeom>
        </p:spPr>
      </p:pic>
      <p:sp>
        <p:nvSpPr>
          <p:cNvPr id="5" name="Shape 2"/>
          <p:cNvSpPr/>
          <p:nvPr/>
        </p:nvSpPr>
        <p:spPr>
          <a:xfrm>
            <a:off x="438912" y="438912"/>
            <a:ext cx="11313871" cy="5980176"/>
          </a:xfrm>
          <a:prstGeom prst="rect">
            <a:avLst/>
          </a:prstGeom>
          <a:solidFill>
            <a:srgbClr val="FFFFFF">
              <a:alpha val="30000"/>
            </a:srgbClr>
          </a:solidFill>
          <a:ln w="12700">
            <a:solidFill>
              <a:srgbClr val="FFFFFF"/>
            </a:solidFill>
            <a:prstDash val="solid"/>
          </a:ln>
        </p:spPr>
      </p:sp>
      <p:sp>
        <p:nvSpPr>
          <p:cNvPr id="6" name="Text 3"/>
          <p:cNvSpPr txBox="1"/>
          <p:nvPr/>
        </p:nvSpPr>
        <p:spPr>
          <a:xfrm>
            <a:off x="822960" y="685800"/>
            <a:ext cx="100584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PROSES PEMENUHAN PESANAN: LANGKAH 5 SAMPAI 8</a:t>
            </a:r>
            <a:endParaRPr lang="en-US" sz="3000" dirty="0"/>
          </a:p>
        </p:txBody>
      </p:sp>
      <p:sp>
        <p:nvSpPr>
          <p:cNvPr id="7" name="Text 4"/>
          <p:cNvSpPr txBox="1"/>
          <p:nvPr/>
        </p:nvSpPr>
        <p:spPr>
          <a:xfrm>
            <a:off x="822960" y="158191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05</a:t>
            </a:r>
            <a:endParaRPr lang="en-US" sz="4400" dirty="0"/>
          </a:p>
        </p:txBody>
      </p:sp>
      <p:sp>
        <p:nvSpPr>
          <p:cNvPr id="8" name="Text 5"/>
          <p:cNvSpPr txBox="1"/>
          <p:nvPr/>
        </p:nvSpPr>
        <p:spPr>
          <a:xfrm>
            <a:off x="1965960" y="170992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KETIGA BARANG BERTEMU DI CHUTE, LALU MASUK KOTAK</a:t>
            </a:r>
            <a:endParaRPr lang="en-US" sz="1400" dirty="0"/>
          </a:p>
        </p:txBody>
      </p:sp>
      <p:sp>
        <p:nvSpPr>
          <p:cNvPr id="9" name="Text 6"/>
          <p:cNvSpPr txBox="1"/>
          <p:nvPr/>
        </p:nvSpPr>
        <p:spPr>
          <a:xfrm>
            <a:off x="1965960" y="235000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Bar code dicocokkan dengan nomor pesanan; chute selebar 3 kaki (ribuan); kotak diberi bar code baru. Picking diurutkan untuk mengurangi perjalanan operator.</a:t>
            </a:r>
            <a:endParaRPr lang="en-US" sz="950" dirty="0"/>
          </a:p>
        </p:txBody>
      </p:sp>
      <p:sp>
        <p:nvSpPr>
          <p:cNvPr id="10" name="Text 7"/>
          <p:cNvSpPr txBox="1"/>
          <p:nvPr/>
        </p:nvSpPr>
        <p:spPr>
          <a:xfrm>
            <a:off x="6400800" y="158191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06</a:t>
            </a:r>
            <a:endParaRPr lang="en-US" sz="4400" dirty="0"/>
          </a:p>
        </p:txBody>
      </p:sp>
      <p:sp>
        <p:nvSpPr>
          <p:cNvPr id="11" name="Text 8"/>
          <p:cNvSpPr txBox="1"/>
          <p:nvPr/>
        </p:nvSpPr>
        <p:spPr>
          <a:xfrm>
            <a:off x="7543800" y="170992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PEMBUNGKUSAN KADO MANUAL</a:t>
            </a:r>
            <a:endParaRPr lang="en-US" sz="1400" dirty="0"/>
          </a:p>
        </p:txBody>
      </p:sp>
      <p:sp>
        <p:nvSpPr>
          <p:cNvPr id="12" name="Text 9"/>
          <p:cNvSpPr txBox="1"/>
          <p:nvPr/>
        </p:nvSpPr>
        <p:spPr>
          <a:xfrm>
            <a:off x="7543800" y="235000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Dilakukan tim pembungkus terlatih dengan standar 30 paket per jam. Sengaja tidak diotomasi: variasi tinggi, volume kecil; dikelola dengan standard time.</a:t>
            </a:r>
            <a:endParaRPr lang="en-US" sz="950" dirty="0"/>
          </a:p>
        </p:txBody>
      </p:sp>
      <p:sp>
        <p:nvSpPr>
          <p:cNvPr id="13" name="Text 10"/>
          <p:cNvSpPr txBox="1"/>
          <p:nvPr/>
        </p:nvSpPr>
        <p:spPr>
          <a:xfrm>
            <a:off x="822960" y="395935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07</a:t>
            </a:r>
            <a:endParaRPr lang="en-US" sz="4400" dirty="0"/>
          </a:p>
        </p:txBody>
      </p:sp>
      <p:sp>
        <p:nvSpPr>
          <p:cNvPr id="14" name="Text 11"/>
          <p:cNvSpPr txBox="1"/>
          <p:nvPr/>
        </p:nvSpPr>
        <p:spPr>
          <a:xfrm>
            <a:off x="1965960" y="408736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KOTAK DIKEMAS, DILAKBAN, DITIMBANG, DILABELI</a:t>
            </a:r>
            <a:endParaRPr lang="en-US" sz="1400" dirty="0"/>
          </a:p>
        </p:txBody>
      </p:sp>
      <p:sp>
        <p:nvSpPr>
          <p:cNvPr id="15" name="Text 12"/>
          <p:cNvSpPr txBox="1"/>
          <p:nvPr/>
        </p:nvSpPr>
        <p:spPr>
          <a:xfrm>
            <a:off x="1965960" y="472744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Gudang tipikal mengirim sampai 200.000 pieces per hari; sekitar 60% lewat USPS, sisanya UPS. Penimbangan adalah verifikasi akhir isi paket.</a:t>
            </a:r>
            <a:endParaRPr lang="en-US" sz="950" dirty="0"/>
          </a:p>
        </p:txBody>
      </p:sp>
      <p:sp>
        <p:nvSpPr>
          <p:cNvPr id="16" name="Text 13"/>
          <p:cNvSpPr txBox="1"/>
          <p:nvPr/>
        </p:nvSpPr>
        <p:spPr>
          <a:xfrm>
            <a:off x="6400800" y="3959352"/>
            <a:ext cx="1188720" cy="822960"/>
          </a:xfrm>
          <a:prstGeom prst="rect">
            <a:avLst/>
          </a:prstGeom>
          <a:noFill/>
          <a:ln/>
        </p:spPr>
        <p:txBody>
          <a:bodyPr wrap="square" lIns="0" tIns="0" rIns="0" bIns="0" rtlCol="0" anchor="ctr"/>
          <a:lstStyle/>
          <a:p>
            <a:pPr indent="0" marL="0">
              <a:buNone/>
            </a:pPr>
            <a:r>
              <a:rPr lang="en-US" sz="4400" b="1" dirty="0">
                <a:solidFill>
                  <a:srgbClr val="E4708F"/>
                </a:solidFill>
                <a:latin typeface="Arial Narrow" pitchFamily="34" charset="0"/>
                <a:ea typeface="Arial Narrow" pitchFamily="34" charset="-122"/>
                <a:cs typeface="Arial Narrow" pitchFamily="34" charset="-120"/>
              </a:rPr>
              <a:t>08</a:t>
            </a:r>
            <a:endParaRPr lang="en-US" sz="4400" dirty="0"/>
          </a:p>
        </p:txBody>
      </p:sp>
      <p:sp>
        <p:nvSpPr>
          <p:cNvPr id="17" name="Text 14"/>
          <p:cNvSpPr txBox="1"/>
          <p:nvPr/>
        </p:nvSpPr>
        <p:spPr>
          <a:xfrm>
            <a:off x="7543800" y="408736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400" b="1" dirty="0">
                <a:solidFill>
                  <a:srgbClr val="111111"/>
                </a:solidFill>
                <a:latin typeface="Arial Narrow" pitchFamily="34" charset="0"/>
                <a:ea typeface="Arial Narrow" pitchFamily="34" charset="-122"/>
                <a:cs typeface="Arial Narrow" pitchFamily="34" charset="-120"/>
              </a:rPr>
              <a:t>PESANAN TIBA DI PELANGGAN</a:t>
            </a:r>
            <a:endParaRPr lang="en-US" sz="1400" dirty="0"/>
          </a:p>
        </p:txBody>
      </p:sp>
      <p:sp>
        <p:nvSpPr>
          <p:cNvPr id="18" name="Text 15"/>
          <p:cNvSpPr txBox="1"/>
          <p:nvPr/>
        </p:nvSpPr>
        <p:spPr>
          <a:xfrm>
            <a:off x="7543800" y="4727448"/>
            <a:ext cx="4206240" cy="105156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Dalam 1 atau 2 hari. Inilah ukuran yang dilihat pelanggan: speed dan dependability.</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11</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DUA ANGKA YANG BERBEDA</a:t>
            </a:r>
            <a:endParaRPr lang="en-US" sz="3000" dirty="0"/>
          </a:p>
        </p:txBody>
      </p:sp>
      <p:sp>
        <p:nvSpPr>
          <p:cNvPr id="6" name="Text 3"/>
          <p:cNvSpPr txBox="1"/>
          <p:nvPr/>
        </p:nvSpPr>
        <p:spPr>
          <a:xfrm>
            <a:off x="868680" y="1417320"/>
            <a:ext cx="5212080" cy="7772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Menerima, memproses, menempatkan stok, lalu mengambil dan mengemas satu pesanan secara akurat memerlukan investasi tenaga kerja kurang dari 3 menit; 70% pesanan adalah pesanan multiproduk; buku menyebutnya world-class performance.</a:t>
            </a:r>
            <a:endParaRPr lang="en-US" sz="1000" dirty="0"/>
          </a:p>
        </p:txBody>
      </p:sp>
      <p:sp>
        <p:nvSpPr>
          <p:cNvPr id="7" name="Text 4"/>
          <p:cNvSpPr txBox="1"/>
          <p:nvPr/>
        </p:nvSpPr>
        <p:spPr>
          <a:xfrm>
            <a:off x="868680" y="2377440"/>
            <a:ext cx="2468880" cy="612902"/>
          </a:xfrm>
          <a:prstGeom prst="rect">
            <a:avLst/>
          </a:prstGeom>
          <a:noFill/>
          <a:ln/>
        </p:spPr>
        <p:txBody>
          <a:bodyPr wrap="square" lIns="0" tIns="0" rIns="0" bIns="0" rtlCol="0" anchor="t"/>
          <a:lstStyle/>
          <a:p>
            <a:pPr algn="l" indent="0" marL="0">
              <a:lnSpc>
                <a:spcPct val="92000"/>
              </a:lnSpc>
              <a:buNone/>
            </a:pPr>
            <a:r>
              <a:rPr lang="en-US" sz="3400" b="1" dirty="0">
                <a:solidFill>
                  <a:srgbClr val="E4708F"/>
                </a:solidFill>
                <a:latin typeface="Arial Narrow" pitchFamily="34" charset="0"/>
                <a:ea typeface="Arial Narrow" pitchFamily="34" charset="-122"/>
                <a:cs typeface="Arial Narrow" pitchFamily="34" charset="-120"/>
              </a:rPr>
              <a:t>&lt; 3 MENIT</a:t>
            </a:r>
            <a:endParaRPr lang="en-US" sz="3400" dirty="0"/>
          </a:p>
        </p:txBody>
      </p:sp>
      <p:sp>
        <p:nvSpPr>
          <p:cNvPr id="8" name="Text 5"/>
          <p:cNvSpPr txBox="1"/>
          <p:nvPr/>
        </p:nvSpPr>
        <p:spPr>
          <a:xfrm>
            <a:off x="868680" y="3017520"/>
            <a:ext cx="2377440" cy="27432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Ukuran input (biaya)</a:t>
            </a:r>
            <a:endParaRPr lang="en-US" sz="1000" dirty="0"/>
          </a:p>
        </p:txBody>
      </p:sp>
      <p:sp>
        <p:nvSpPr>
          <p:cNvPr id="9" name="Text 6"/>
          <p:cNvSpPr txBox="1"/>
          <p:nvPr/>
        </p:nvSpPr>
        <p:spPr>
          <a:xfrm>
            <a:off x="868680" y="3364992"/>
            <a:ext cx="2377440" cy="64008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Jam kerja yang dipakai per pesanan, hasil dari efisiensi proses di dalam gudang.</a:t>
            </a:r>
            <a:endParaRPr lang="en-US" sz="1000" dirty="0"/>
          </a:p>
        </p:txBody>
      </p:sp>
      <p:sp>
        <p:nvSpPr>
          <p:cNvPr id="10" name="Text 7"/>
          <p:cNvSpPr txBox="1"/>
          <p:nvPr/>
        </p:nvSpPr>
        <p:spPr>
          <a:xfrm>
            <a:off x="3611880" y="2377440"/>
            <a:ext cx="2468880" cy="612902"/>
          </a:xfrm>
          <a:prstGeom prst="rect">
            <a:avLst/>
          </a:prstGeom>
          <a:noFill/>
          <a:ln/>
        </p:spPr>
        <p:txBody>
          <a:bodyPr wrap="square" lIns="0" tIns="0" rIns="0" bIns="0" rtlCol="0" anchor="t"/>
          <a:lstStyle/>
          <a:p>
            <a:pPr algn="l" indent="0" marL="0">
              <a:lnSpc>
                <a:spcPct val="92000"/>
              </a:lnSpc>
              <a:buNone/>
            </a:pPr>
            <a:r>
              <a:rPr lang="en-US" sz="3400" b="1" dirty="0">
                <a:solidFill>
                  <a:srgbClr val="E4708F"/>
                </a:solidFill>
                <a:latin typeface="Arial Narrow" pitchFamily="34" charset="0"/>
                <a:ea typeface="Arial Narrow" pitchFamily="34" charset="-122"/>
                <a:cs typeface="Arial Narrow" pitchFamily="34" charset="-120"/>
              </a:rPr>
              <a:t>1–2 HARI</a:t>
            </a:r>
            <a:endParaRPr lang="en-US" sz="3400" dirty="0"/>
          </a:p>
        </p:txBody>
      </p:sp>
      <p:sp>
        <p:nvSpPr>
          <p:cNvPr id="11" name="Text 8"/>
          <p:cNvSpPr txBox="1"/>
          <p:nvPr/>
        </p:nvSpPr>
        <p:spPr>
          <a:xfrm>
            <a:off x="3611880" y="3017520"/>
            <a:ext cx="2377440" cy="27432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Ukuran output (speed)</a:t>
            </a:r>
            <a:endParaRPr lang="en-US" sz="1000" dirty="0"/>
          </a:p>
        </p:txBody>
      </p:sp>
      <p:sp>
        <p:nvSpPr>
          <p:cNvPr id="12" name="Text 9"/>
          <p:cNvSpPr txBox="1"/>
          <p:nvPr/>
        </p:nvSpPr>
        <p:spPr>
          <a:xfrm>
            <a:off x="3611880" y="3364992"/>
            <a:ext cx="2377440" cy="64008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Yang dirasakan pelanggan, hasil dari posisi stok yang dekat pelanggan, bukan dari proses gudang saja.</a:t>
            </a:r>
            <a:endParaRPr lang="en-US" sz="1000" dirty="0"/>
          </a:p>
        </p:txBody>
      </p:sp>
      <p:sp>
        <p:nvSpPr>
          <p:cNvPr id="13" name="Text 10"/>
          <p:cNvSpPr txBox="1"/>
          <p:nvPr/>
        </p:nvSpPr>
        <p:spPr>
          <a:xfrm>
            <a:off x="868680" y="4297680"/>
            <a:ext cx="5212080" cy="73152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Dua angka ini jangan dicampur saat presentasi. Amazon unggul di keduanya, tetapi mekanismenya berbeda. Angka 70% pesanan multiproduk menunjukkan kecepatan itu dicapai pada pesanan yang komposisinya berbeda-beda.</a:t>
            </a:r>
            <a:endParaRPr lang="en-US" sz="1050" dirty="0"/>
          </a:p>
        </p:txBody>
      </p:sp>
      <p:pic>
        <p:nvPicPr>
          <p:cNvPr id="14" name="Image 1" descr="/tmp/claude-0/-home-user-Dom-Manipulation/01edd7ad-16e1-5ac5-9e2e-840f37702b96/scratchpad/img/crop/packing.jpg">    </p:cNvPr>
          <p:cNvPicPr>
            <a:picLocks noChangeAspect="1"/>
          </p:cNvPicPr>
          <p:nvPr/>
        </p:nvPicPr>
        <p:blipFill>
          <a:blip r:embed="rId2"/>
          <a:stretch>
            <a:fillRect/>
          </a:stretch>
        </p:blipFill>
        <p:spPr>
          <a:xfrm>
            <a:off x="6961327" y="3703043"/>
            <a:ext cx="4846320" cy="277090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12</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MEKANISME ROBOT KIVA</a:t>
            </a:r>
            <a:endParaRPr lang="en-US" sz="3000" dirty="0"/>
          </a:p>
        </p:txBody>
      </p:sp>
      <p:sp>
        <p:nvSpPr>
          <p:cNvPr id="6" name="Text 3"/>
          <p:cNvSpPr txBox="1"/>
          <p:nvPr/>
        </p:nvSpPr>
        <p:spPr>
          <a:xfrm>
            <a:off x="868680" y="141732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Langkah picking hanya menyebut hasilnya. Mekanismenya dijelaskan pada bab tata letak, dan dari sinilah angka kecepatan dan akurasi itu berasal.</a:t>
            </a:r>
            <a:endParaRPr lang="en-US" sz="1000" dirty="0"/>
          </a:p>
        </p:txBody>
      </p:sp>
      <p:sp>
        <p:nvSpPr>
          <p:cNvPr id="7" name="Text 4"/>
          <p:cNvSpPr txBox="1"/>
          <p:nvPr/>
        </p:nvSpPr>
        <p:spPr>
          <a:xfrm>
            <a:off x="868680" y="2057400"/>
            <a:ext cx="320040" cy="457200"/>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1.</a:t>
            </a:r>
            <a:endParaRPr lang="en-US" sz="1300" dirty="0"/>
          </a:p>
        </p:txBody>
      </p:sp>
      <p:sp>
        <p:nvSpPr>
          <p:cNvPr id="8" name="Text 5"/>
          <p:cNvSpPr txBox="1"/>
          <p:nvPr/>
        </p:nvSpPr>
        <p:spPr>
          <a:xfrm>
            <a:off x="1216152" y="2057400"/>
            <a:ext cx="4864608"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10.000+ robot Kiva membawa rak berisi stok ke pekerja: barangnya yang bergerak, bukan orangnya</a:t>
            </a:r>
            <a:endParaRPr lang="en-US" sz="1000" dirty="0"/>
          </a:p>
        </p:txBody>
      </p:sp>
      <p:sp>
        <p:nvSpPr>
          <p:cNvPr id="9" name="Text 6"/>
          <p:cNvSpPr txBox="1"/>
          <p:nvPr/>
        </p:nvSpPr>
        <p:spPr>
          <a:xfrm>
            <a:off x="868680" y="2624328"/>
            <a:ext cx="320040" cy="457200"/>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2.</a:t>
            </a:r>
            <a:endParaRPr lang="en-US" sz="1300" dirty="0"/>
          </a:p>
        </p:txBody>
      </p:sp>
      <p:sp>
        <p:nvSpPr>
          <p:cNvPr id="10" name="Text 7"/>
          <p:cNvSpPr txBox="1"/>
          <p:nvPr/>
        </p:nvSpPr>
        <p:spPr>
          <a:xfrm>
            <a:off x="1216152" y="2624328"/>
            <a:ext cx="4864608"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20 mil jalan kaki per hari per pekerja dihemat di gudang Tracy, California (1,2 juta kaki persegi)</a:t>
            </a:r>
            <a:endParaRPr lang="en-US" sz="1000" dirty="0"/>
          </a:p>
        </p:txBody>
      </p:sp>
      <p:sp>
        <p:nvSpPr>
          <p:cNvPr id="11" name="Text 8"/>
          <p:cNvSpPr txBox="1"/>
          <p:nvPr/>
        </p:nvSpPr>
        <p:spPr>
          <a:xfrm>
            <a:off x="868680" y="3191256"/>
            <a:ext cx="320040" cy="457200"/>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3.</a:t>
            </a:r>
            <a:endParaRPr lang="en-US" sz="1300" dirty="0"/>
          </a:p>
        </p:txBody>
      </p:sp>
      <p:sp>
        <p:nvSpPr>
          <p:cNvPr id="12" name="Text 9"/>
          <p:cNvSpPr txBox="1"/>
          <p:nvPr/>
        </p:nvSpPr>
        <p:spPr>
          <a:xfrm>
            <a:off x="1216152" y="3191256"/>
            <a:ext cx="4864608"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Standar pick and scan naik dari 100 menjadi 300 item per jam per pekerja</a:t>
            </a:r>
            <a:endParaRPr lang="en-US" sz="1000" dirty="0"/>
          </a:p>
        </p:txBody>
      </p:sp>
      <p:sp>
        <p:nvSpPr>
          <p:cNvPr id="13" name="Text 10"/>
          <p:cNvSpPr txBox="1"/>
          <p:nvPr/>
        </p:nvSpPr>
        <p:spPr>
          <a:xfrm>
            <a:off x="868680" y="3758184"/>
            <a:ext cx="320040" cy="457200"/>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4.</a:t>
            </a:r>
            <a:endParaRPr lang="en-US" sz="1300" dirty="0"/>
          </a:p>
        </p:txBody>
      </p:sp>
      <p:sp>
        <p:nvSpPr>
          <p:cNvPr id="14" name="Text 11"/>
          <p:cNvSpPr txBox="1"/>
          <p:nvPr/>
        </p:nvSpPr>
        <p:spPr>
          <a:xfrm>
            <a:off x="1216152" y="3758184"/>
            <a:ext cx="4864608"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20–40% biaya per pesanan dipangkas dari US$3,50–3,75; setara US$400–900 juta per tahun</a:t>
            </a:r>
            <a:endParaRPr lang="en-US" sz="1000" dirty="0"/>
          </a:p>
        </p:txBody>
      </p:sp>
      <p:sp>
        <p:nvSpPr>
          <p:cNvPr id="15" name="Text 12"/>
          <p:cNvSpPr txBox="1"/>
          <p:nvPr/>
        </p:nvSpPr>
        <p:spPr>
          <a:xfrm>
            <a:off x="868680" y="4480560"/>
            <a:ext cx="5212080" cy="73152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Dari sisi persediaan, robot mengubah dua hal: lokasi fisik stok tidak lagi harus tetap (slotting diatur perangkat lunak), dan setiap pengambilan langsung dipindai sehingga catatan stok diperbarui bersamaan dengan pengambilan fisik.</a:t>
            </a:r>
            <a:endParaRPr lang="en-US" sz="1050" dirty="0"/>
          </a:p>
        </p:txBody>
      </p:sp>
      <p:pic>
        <p:nvPicPr>
          <p:cNvPr id="16" name="Image 1" descr="/tmp/claude-0/-home-user-Dom-Manipulation/01edd7ad-16e1-5ac5-9e2e-840f37702b96/scratchpad/img/crop/robots.jpg">    </p:cNvPr>
          <p:cNvPicPr>
            <a:picLocks noChangeAspect="1"/>
          </p:cNvPicPr>
          <p:nvPr/>
        </p:nvPicPr>
        <p:blipFill>
          <a:blip r:embed="rId2"/>
          <a:stretch>
            <a:fillRect/>
          </a:stretch>
        </p:blipFill>
        <p:spPr>
          <a:xfrm>
            <a:off x="6687007" y="3481176"/>
            <a:ext cx="5120640" cy="299277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13</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PRODUKTIVITAS YANG ADIL</a:t>
            </a:r>
            <a:endParaRPr lang="en-US" sz="3000" dirty="0"/>
          </a:p>
        </p:txBody>
      </p:sp>
      <p:sp>
        <p:nvSpPr>
          <p:cNvPr id="6" name="Text 3"/>
          <p:cNvSpPr txBox="1"/>
          <p:nvPr/>
        </p:nvSpPr>
        <p:spPr>
          <a:xfrm>
            <a:off x="868680" y="1417320"/>
            <a:ext cx="5212080" cy="7772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Angka 100 menjadi 300 item per jam mudah dibaca sebagai kenaikan produktivitas 200%. Itu single-factor productivity, hanya menghitung tenaga kerja. Ukurannya not fair, karena kenaikan itu dicapai dengan menambah resource lain (robot) yang biayanya tidak ikut dihitung.</a:t>
            </a:r>
            <a:endParaRPr lang="en-US" sz="1000" dirty="0"/>
          </a:p>
        </p:txBody>
      </p:sp>
      <p:sp>
        <p:nvSpPr>
          <p:cNvPr id="7" name="Text 4"/>
          <p:cNvSpPr txBox="1"/>
          <p:nvPr/>
        </p:nvSpPr>
        <p:spPr>
          <a:xfrm>
            <a:off x="868680" y="237744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SINGLE-FACTOR: +200%</a:t>
            </a:r>
            <a:endParaRPr lang="en-US" sz="1600" dirty="0"/>
          </a:p>
        </p:txBody>
      </p:sp>
      <p:sp>
        <p:nvSpPr>
          <p:cNvPr id="8" name="Text 5"/>
          <p:cNvSpPr txBox="1"/>
          <p:nvPr/>
        </p:nvSpPr>
        <p:spPr>
          <a:xfrm>
            <a:off x="868680" y="272288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Labor productivity naik dari 100 menjadi 300 item per jam per pekerja. Benar, tetapi belum memperhitungkan investasi robot.</a:t>
            </a:r>
            <a:endParaRPr lang="en-US" sz="1000" dirty="0"/>
          </a:p>
        </p:txBody>
      </p:sp>
      <p:sp>
        <p:nvSpPr>
          <p:cNvPr id="9" name="Text 6"/>
          <p:cNvSpPr txBox="1"/>
          <p:nvPr/>
        </p:nvSpPr>
        <p:spPr>
          <a:xfrm>
            <a:off x="868680" y="324612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MULTI-FACTOR: BIAYA PER PESANAN TURUN 20–40%</a:t>
            </a:r>
            <a:endParaRPr lang="en-US" sz="1600" dirty="0"/>
          </a:p>
        </p:txBody>
      </p:sp>
      <p:sp>
        <p:nvSpPr>
          <p:cNvPr id="10" name="Text 7"/>
          <p:cNvSpPr txBox="1"/>
          <p:nvPr/>
        </p:nvSpPr>
        <p:spPr>
          <a:xfrm>
            <a:off x="868680" y="3591560"/>
            <a:ext cx="5212080" cy="50292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Dari US$3,50–3,75 per pesanan, sudah termasuk biaya robot. Penghematan bersih sekitar US$0,70–1,50 per pesanan: jauh di bawah 200%, tetapi tetap positif.</a:t>
            </a:r>
            <a:endParaRPr lang="en-US" sz="1000" dirty="0"/>
          </a:p>
        </p:txBody>
      </p:sp>
      <p:sp>
        <p:nvSpPr>
          <p:cNvPr id="11" name="Text 8"/>
          <p:cNvSpPr txBox="1"/>
          <p:nvPr/>
        </p:nvSpPr>
        <p:spPr>
          <a:xfrm>
            <a:off x="868680" y="4160520"/>
            <a:ext cx="5212080" cy="327152"/>
          </a:xfrm>
          <a:prstGeom prst="rect">
            <a:avLst/>
          </a:prstGeom>
          <a:noFill/>
          <a:ln/>
        </p:spPr>
        <p:txBody>
          <a:bodyPr wrap="square" lIns="0" tIns="0" rIns="0" bIns="0" rtlCol="0" anchor="t"/>
          <a:lstStyle/>
          <a:p>
            <a:pPr algn="l" indent="0" marL="0">
              <a:lnSpc>
                <a:spcPct val="92000"/>
              </a:lnSpc>
              <a:buNone/>
            </a:pPr>
            <a:r>
              <a:rPr lang="en-US" sz="1600" b="1" dirty="0">
                <a:solidFill>
                  <a:srgbClr val="111111"/>
                </a:solidFill>
                <a:latin typeface="Arial Narrow" pitchFamily="34" charset="0"/>
                <a:ea typeface="Arial Narrow" pitchFamily="34" charset="-122"/>
                <a:cs typeface="Arial Narrow" pitchFamily="34" charset="-120"/>
              </a:rPr>
              <a:t>DAMPAK TAHUNAN: US$400–900 JUTA</a:t>
            </a:r>
            <a:endParaRPr lang="en-US" sz="1600" dirty="0"/>
          </a:p>
        </p:txBody>
      </p:sp>
      <p:sp>
        <p:nvSpPr>
          <p:cNvPr id="12" name="Text 9"/>
          <p:cNvSpPr txBox="1"/>
          <p:nvPr/>
        </p:nvSpPr>
        <p:spPr>
          <a:xfrm>
            <a:off x="868680" y="4505960"/>
            <a:ext cx="5212080" cy="3200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Angka kecil per pesanan menjadi besar karena volume.</a:t>
            </a:r>
            <a:endParaRPr lang="en-US" sz="1000" dirty="0"/>
          </a:p>
        </p:txBody>
      </p:sp>
      <p:sp>
        <p:nvSpPr>
          <p:cNvPr id="13" name="Text 10"/>
          <p:cNvSpPr txBox="1"/>
          <p:nvPr/>
        </p:nvSpPr>
        <p:spPr>
          <a:xfrm>
            <a:off x="868680" y="4937760"/>
            <a:ext cx="5212080" cy="54864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Yang dipresentasikan sebaiknya angka biaya per pesanan, bukan angka 200%. Semua resource diuangkan lalu dijumlahkan.</a:t>
            </a:r>
            <a:endParaRPr lang="en-US" sz="1050" dirty="0"/>
          </a:p>
        </p:txBody>
      </p:sp>
      <p:pic>
        <p:nvPicPr>
          <p:cNvPr id="14" name="Image 1" descr="/tmp/claude-0/-home-user-Dom-Manipulation/01edd7ad-16e1-5ac5-9e2e-840f37702b96/scratchpad/img/crop/scanner.jpg">    </p:cNvPr>
          <p:cNvPicPr>
            <a:picLocks noChangeAspect="1"/>
          </p:cNvPicPr>
          <p:nvPr/>
        </p:nvPicPr>
        <p:blipFill>
          <a:blip r:embed="rId2"/>
          <a:stretch>
            <a:fillRect/>
          </a:stretch>
        </p:blipFill>
        <p:spPr>
          <a:xfrm>
            <a:off x="7690653" y="1353312"/>
            <a:ext cx="4116995" cy="5120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14</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STOK BESAR, TIDAK EFISIEN?</a:t>
            </a:r>
            <a:endParaRPr lang="en-US" sz="3000" dirty="0"/>
          </a:p>
        </p:txBody>
      </p:sp>
      <p:sp>
        <p:nvSpPr>
          <p:cNvPr id="6" name="Text 3"/>
          <p:cNvSpPr txBox="1"/>
          <p:nvPr/>
        </p:nvSpPr>
        <p:spPr>
          <a:xfrm>
            <a:off x="868680" y="1417320"/>
            <a:ext cx="5212080" cy="77724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Buku merumuskan tujuan inventory management sebagai keseimbangan antara investasi persediaan dan layanan pelanggan; persediaan bisa mencapai 50% dari total modal. Amazon jelas di sisi investasi besar: jutaan item di lebih dari 150 gudang.</a:t>
            </a:r>
            <a:endParaRPr lang="en-US" sz="1000" dirty="0"/>
          </a:p>
        </p:txBody>
      </p:sp>
      <p:sp>
        <p:nvSpPr>
          <p:cNvPr id="7" name="Text 4"/>
          <p:cNvSpPr txBox="1"/>
          <p:nvPr/>
        </p:nvSpPr>
        <p:spPr>
          <a:xfrm>
            <a:off x="868680" y="2286000"/>
            <a:ext cx="5212080"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Jawabannya harus dikembalikan ke objective.</a:t>
            </a:r>
            <a:endParaRPr lang="en-US" sz="1050" dirty="0"/>
          </a:p>
        </p:txBody>
      </p:sp>
      <p:sp>
        <p:nvSpPr>
          <p:cNvPr id="8" name="Text 5"/>
          <p:cNvSpPr txBox="1"/>
          <p:nvPr/>
        </p:nvSpPr>
        <p:spPr>
          <a:xfrm>
            <a:off x="868680" y="2743200"/>
            <a:ext cx="5212080" cy="201168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Amazon tidak meminimalkan stok. Amazon meminimalkan total biaya pada tingkat layanan yang sudah dijanjikan (tercepat, bebas kesalahan). Pada tingkat itu, kekosongan stok berarti penjualan hilang dan janji fastest delivery rusak: dampaknya signifikan, sehingga stok besar konsisten dengan tujuannya, bukan pemborosan.</a:t>
            </a:r>
            <a:endParaRPr lang="en-US" sz="1000" dirty="0"/>
          </a:p>
          <a:p>
            <a:pPr algn="l" indent="0" marL="0">
              <a:lnSpc>
                <a:spcPct val="105000"/>
              </a:lnSpc>
              <a:buNone/>
            </a:pPr>
            <a:endParaRPr lang="en-US" sz="1000" dirty="0"/>
          </a:p>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Yang diminimalkan Amazon adalah dua komponen lain: tenaga kerja per pesanan (kurang dari 3 menit) dan kesalahan (mendekati nol).</a:t>
            </a:r>
            <a:endParaRPr lang="en-US" sz="1000" dirty="0"/>
          </a:p>
        </p:txBody>
      </p:sp>
      <p:sp>
        <p:nvSpPr>
          <p:cNvPr id="9" name="Text 6"/>
          <p:cNvSpPr txBox="1"/>
          <p:nvPr/>
        </p:nvSpPr>
        <p:spPr>
          <a:xfrm>
            <a:off x="868680" y="4892040"/>
            <a:ext cx="5212080"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Bukan stok sedikit, tetapi stok besar yang dikelola presisi.</a:t>
            </a:r>
            <a:endParaRPr lang="en-US" sz="1050" dirty="0"/>
          </a:p>
        </p:txBody>
      </p:sp>
      <p:pic>
        <p:nvPicPr>
          <p:cNvPr id="10" name="Image 1" descr="/tmp/claude-0/-home-user-Dom-Manipulation/01edd7ad-16e1-5ac5-9e2e-840f37702b96/scratchpad/img/crop/shelves.jpg">    </p:cNvPr>
          <p:cNvPicPr>
            <a:picLocks noChangeAspect="1"/>
          </p:cNvPicPr>
          <p:nvPr/>
        </p:nvPicPr>
        <p:blipFill>
          <a:blip r:embed="rId2"/>
          <a:stretch>
            <a:fillRect/>
          </a:stretch>
        </p:blipFill>
        <p:spPr>
          <a:xfrm>
            <a:off x="6291072" y="3262907"/>
            <a:ext cx="5516575" cy="32110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15</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LIMA TUJUAN KINERJA OPERASI</a:t>
            </a:r>
            <a:endParaRPr lang="en-US" sz="3000" dirty="0"/>
          </a:p>
        </p:txBody>
      </p:sp>
      <p:sp>
        <p:nvSpPr>
          <p:cNvPr id="6" name="Text 3"/>
          <p:cNvSpPr txBox="1"/>
          <p:nvPr/>
        </p:nvSpPr>
        <p:spPr>
          <a:xfrm>
            <a:off x="868680" y="1463040"/>
            <a:ext cx="5212080" cy="311277"/>
          </a:xfrm>
          <a:prstGeom prst="rect">
            <a:avLst/>
          </a:prstGeom>
          <a:noFill/>
          <a:ln/>
        </p:spPr>
        <p:txBody>
          <a:bodyPr wrap="square" lIns="0" tIns="0" rIns="0" bIns="0" rtlCol="0" anchor="t"/>
          <a:lstStyle/>
          <a:p>
            <a:pPr algn="l" indent="0" marL="0">
              <a:lnSpc>
                <a:spcPct val="92000"/>
              </a:lnSpc>
              <a:buNone/>
            </a:pPr>
            <a:r>
              <a:rPr lang="en-US" sz="1500" b="1" dirty="0">
                <a:solidFill>
                  <a:srgbClr val="111111"/>
                </a:solidFill>
                <a:latin typeface="Arial Narrow" pitchFamily="34" charset="0"/>
                <a:ea typeface="Arial Narrow" pitchFamily="34" charset="-122"/>
                <a:cs typeface="Arial Narrow" pitchFamily="34" charset="-120"/>
              </a:rPr>
              <a:t>SPEED</a:t>
            </a:r>
            <a:endParaRPr lang="en-US" sz="1500" dirty="0"/>
          </a:p>
        </p:txBody>
      </p:sp>
      <p:sp>
        <p:nvSpPr>
          <p:cNvPr id="7" name="Text 4"/>
          <p:cNvSpPr txBox="1"/>
          <p:nvPr/>
        </p:nvSpPr>
        <p:spPr>
          <a:xfrm>
            <a:off x="868680" y="1792605"/>
            <a:ext cx="5212080" cy="45720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Tiba 1–2 hari; tenaga kerja kurang dari 3 menit per pesanan. Alokasi ke DC yang punya stok, conveyor konstan, picking diurutkan, robot membawa rak.</a:t>
            </a:r>
            <a:endParaRPr lang="en-US" sz="950" dirty="0"/>
          </a:p>
        </p:txBody>
      </p:sp>
      <p:sp>
        <p:nvSpPr>
          <p:cNvPr id="8" name="Text 5"/>
          <p:cNvSpPr txBox="1"/>
          <p:nvPr/>
        </p:nvSpPr>
        <p:spPr>
          <a:xfrm>
            <a:off x="868680" y="2331720"/>
            <a:ext cx="5212080" cy="311277"/>
          </a:xfrm>
          <a:prstGeom prst="rect">
            <a:avLst/>
          </a:prstGeom>
          <a:noFill/>
          <a:ln/>
        </p:spPr>
        <p:txBody>
          <a:bodyPr wrap="square" lIns="0" tIns="0" rIns="0" bIns="0" rtlCol="0" anchor="t"/>
          <a:lstStyle/>
          <a:p>
            <a:pPr algn="l" indent="0" marL="0">
              <a:lnSpc>
                <a:spcPct val="92000"/>
              </a:lnSpc>
              <a:buNone/>
            </a:pPr>
            <a:r>
              <a:rPr lang="en-US" sz="1500" b="1" dirty="0">
                <a:solidFill>
                  <a:srgbClr val="111111"/>
                </a:solidFill>
                <a:latin typeface="Arial Narrow" pitchFamily="34" charset="0"/>
                <a:ea typeface="Arial Narrow" pitchFamily="34" charset="-122"/>
                <a:cs typeface="Arial Narrow" pitchFamily="34" charset="-120"/>
              </a:rPr>
              <a:t>QUALITY: BEBAS KESALAHAN</a:t>
            </a:r>
            <a:endParaRPr lang="en-US" sz="1500" dirty="0"/>
          </a:p>
        </p:txBody>
      </p:sp>
      <p:sp>
        <p:nvSpPr>
          <p:cNvPr id="9" name="Text 6"/>
          <p:cNvSpPr txBox="1"/>
          <p:nvPr/>
        </p:nvSpPr>
        <p:spPr>
          <a:xfrm>
            <a:off x="868680" y="2661285"/>
            <a:ext cx="5212080" cy="45720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Kesalahan picking mendekati nol; bar code dipindai 15 kali; penimbangan sebelum keluar.</a:t>
            </a:r>
            <a:endParaRPr lang="en-US" sz="950" dirty="0"/>
          </a:p>
        </p:txBody>
      </p:sp>
      <p:sp>
        <p:nvSpPr>
          <p:cNvPr id="10" name="Text 7"/>
          <p:cNvSpPr txBox="1"/>
          <p:nvPr/>
        </p:nvSpPr>
        <p:spPr>
          <a:xfrm>
            <a:off x="868680" y="3200400"/>
            <a:ext cx="5212080" cy="311277"/>
          </a:xfrm>
          <a:prstGeom prst="rect">
            <a:avLst/>
          </a:prstGeom>
          <a:noFill/>
          <a:ln/>
        </p:spPr>
        <p:txBody>
          <a:bodyPr wrap="square" lIns="0" tIns="0" rIns="0" bIns="0" rtlCol="0" anchor="t"/>
          <a:lstStyle/>
          <a:p>
            <a:pPr algn="l" indent="0" marL="0">
              <a:lnSpc>
                <a:spcPct val="92000"/>
              </a:lnSpc>
              <a:buNone/>
            </a:pPr>
            <a:r>
              <a:rPr lang="en-US" sz="1500" b="1" dirty="0">
                <a:solidFill>
                  <a:srgbClr val="111111"/>
                </a:solidFill>
                <a:latin typeface="Arial Narrow" pitchFamily="34" charset="0"/>
                <a:ea typeface="Arial Narrow" pitchFamily="34" charset="-122"/>
                <a:cs typeface="Arial Narrow" pitchFamily="34" charset="-120"/>
              </a:rPr>
              <a:t>DEPENDABILITY</a:t>
            </a:r>
            <a:endParaRPr lang="en-US" sz="1500" dirty="0"/>
          </a:p>
        </p:txBody>
      </p:sp>
      <p:sp>
        <p:nvSpPr>
          <p:cNvPr id="11" name="Text 8"/>
          <p:cNvSpPr txBox="1"/>
          <p:nvPr/>
        </p:nvSpPr>
        <p:spPr>
          <a:xfrm>
            <a:off x="868680" y="3529965"/>
            <a:ext cx="5212080" cy="45720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Janji 1–2 hari terpenuhi; tidak perlu kontak lanjutan. As promised, bukan sekadar cepat.</a:t>
            </a:r>
            <a:endParaRPr lang="en-US" sz="950" dirty="0"/>
          </a:p>
        </p:txBody>
      </p:sp>
      <p:sp>
        <p:nvSpPr>
          <p:cNvPr id="12" name="Text 9"/>
          <p:cNvSpPr txBox="1"/>
          <p:nvPr/>
        </p:nvSpPr>
        <p:spPr>
          <a:xfrm>
            <a:off x="868680" y="4069080"/>
            <a:ext cx="5212080" cy="311277"/>
          </a:xfrm>
          <a:prstGeom prst="rect">
            <a:avLst/>
          </a:prstGeom>
          <a:noFill/>
          <a:ln/>
        </p:spPr>
        <p:txBody>
          <a:bodyPr wrap="square" lIns="0" tIns="0" rIns="0" bIns="0" rtlCol="0" anchor="t"/>
          <a:lstStyle/>
          <a:p>
            <a:pPr algn="l" indent="0" marL="0">
              <a:lnSpc>
                <a:spcPct val="92000"/>
              </a:lnSpc>
              <a:buNone/>
            </a:pPr>
            <a:r>
              <a:rPr lang="en-US" sz="1500" b="1" dirty="0">
                <a:solidFill>
                  <a:srgbClr val="111111"/>
                </a:solidFill>
                <a:latin typeface="Arial Narrow" pitchFamily="34" charset="0"/>
                <a:ea typeface="Arial Narrow" pitchFamily="34" charset="-122"/>
                <a:cs typeface="Arial Narrow" pitchFamily="34" charset="-120"/>
              </a:rPr>
              <a:t>FLEXIBILITY</a:t>
            </a:r>
            <a:endParaRPr lang="en-US" sz="1500" dirty="0"/>
          </a:p>
        </p:txBody>
      </p:sp>
      <p:sp>
        <p:nvSpPr>
          <p:cNvPr id="13" name="Text 10"/>
          <p:cNvSpPr txBox="1"/>
          <p:nvPr/>
        </p:nvSpPr>
        <p:spPr>
          <a:xfrm>
            <a:off x="868680" y="4398645"/>
            <a:ext cx="5212080" cy="45720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70% pesanan multiproduk dari 200 juta item dilayani satu sistem: batch picking, lalu konsolidasi per pesanan di chute.</a:t>
            </a:r>
            <a:endParaRPr lang="en-US" sz="950" dirty="0"/>
          </a:p>
        </p:txBody>
      </p:sp>
      <p:sp>
        <p:nvSpPr>
          <p:cNvPr id="14" name="Text 11"/>
          <p:cNvSpPr txBox="1"/>
          <p:nvPr/>
        </p:nvSpPr>
        <p:spPr>
          <a:xfrm>
            <a:off x="868680" y="4937760"/>
            <a:ext cx="5212080" cy="311277"/>
          </a:xfrm>
          <a:prstGeom prst="rect">
            <a:avLst/>
          </a:prstGeom>
          <a:noFill/>
          <a:ln/>
        </p:spPr>
        <p:txBody>
          <a:bodyPr wrap="square" lIns="0" tIns="0" rIns="0" bIns="0" rtlCol="0" anchor="t"/>
          <a:lstStyle/>
          <a:p>
            <a:pPr algn="l" indent="0" marL="0">
              <a:lnSpc>
                <a:spcPct val="92000"/>
              </a:lnSpc>
              <a:buNone/>
            </a:pPr>
            <a:r>
              <a:rPr lang="en-US" sz="1500" b="1" dirty="0">
                <a:solidFill>
                  <a:srgbClr val="111111"/>
                </a:solidFill>
                <a:latin typeface="Arial Narrow" pitchFamily="34" charset="0"/>
                <a:ea typeface="Arial Narrow" pitchFamily="34" charset="-122"/>
                <a:cs typeface="Arial Narrow" pitchFamily="34" charset="-120"/>
              </a:rPr>
              <a:t>COST</a:t>
            </a:r>
            <a:endParaRPr lang="en-US" sz="1500" dirty="0"/>
          </a:p>
        </p:txBody>
      </p:sp>
      <p:sp>
        <p:nvSpPr>
          <p:cNvPr id="15" name="Text 12"/>
          <p:cNvSpPr txBox="1"/>
          <p:nvPr/>
        </p:nvSpPr>
        <p:spPr>
          <a:xfrm>
            <a:off x="868680" y="5267325"/>
            <a:ext cx="5212080" cy="45720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Harga terendah; 60% kiriman lewat USPS; biaya sort-pick-pack turun 20–40%. Volume menyerap biaya tetap otomasi.</a:t>
            </a:r>
            <a:endParaRPr lang="en-US" sz="950" dirty="0"/>
          </a:p>
        </p:txBody>
      </p:sp>
      <p:sp>
        <p:nvSpPr>
          <p:cNvPr id="16" name="Text 13"/>
          <p:cNvSpPr txBox="1"/>
          <p:nvPr/>
        </p:nvSpPr>
        <p:spPr>
          <a:xfrm>
            <a:off x="868680" y="5852160"/>
            <a:ext cx="5212080"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Kelima tujuan dipenuhi oleh satu sistem yang sama: stok yang akurat lokasinya, proses yang pendek, dan kontrol berlapis.</a:t>
            </a:r>
            <a:endParaRPr lang="en-US" sz="1050" dirty="0"/>
          </a:p>
        </p:txBody>
      </p:sp>
      <p:pic>
        <p:nvPicPr>
          <p:cNvPr id="17" name="Image 1" descr="/tmp/claude-0/-home-user-Dom-Manipulation/01edd7ad-16e1-5ac5-9e2e-840f37702b96/scratchpad/img/crop/dock.jpg">    </p:cNvPr>
          <p:cNvPicPr>
            <a:picLocks noChangeAspect="1"/>
          </p:cNvPicPr>
          <p:nvPr/>
        </p:nvPicPr>
        <p:blipFill>
          <a:blip r:embed="rId2"/>
          <a:stretch>
            <a:fillRect/>
          </a:stretch>
        </p:blipFill>
        <p:spPr>
          <a:xfrm>
            <a:off x="6869887" y="3588061"/>
            <a:ext cx="4937760" cy="288589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16</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TIGA TRADE-OFF UTAMA</a:t>
            </a:r>
            <a:endParaRPr lang="en-US" sz="3000" dirty="0"/>
          </a:p>
        </p:txBody>
      </p:sp>
      <p:sp>
        <p:nvSpPr>
          <p:cNvPr id="6" name="Text 3"/>
          <p:cNvSpPr txBox="1"/>
          <p:nvPr/>
        </p:nvSpPr>
        <p:spPr>
          <a:xfrm>
            <a:off x="868680" y="1463040"/>
            <a:ext cx="320040" cy="310896"/>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1.</a:t>
            </a:r>
            <a:endParaRPr lang="en-US" sz="1300" dirty="0"/>
          </a:p>
        </p:txBody>
      </p:sp>
      <p:sp>
        <p:nvSpPr>
          <p:cNvPr id="7" name="Text 4"/>
          <p:cNvSpPr txBox="1"/>
          <p:nvPr/>
        </p:nvSpPr>
        <p:spPr>
          <a:xfrm>
            <a:off x="1216152" y="1463040"/>
            <a:ext cx="4864608" cy="310896"/>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Holding cost vs service level</a:t>
            </a:r>
            <a:endParaRPr lang="en-US" sz="1050" dirty="0"/>
          </a:p>
        </p:txBody>
      </p:sp>
      <p:sp>
        <p:nvSpPr>
          <p:cNvPr id="8" name="Text 5"/>
          <p:cNvSpPr txBox="1"/>
          <p:nvPr/>
        </p:nvSpPr>
        <p:spPr>
          <a:xfrm>
            <a:off x="1216152" y="1847088"/>
            <a:ext cx="4864608" cy="109728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Carrying cost sekitar 26% dari nilai persediaan per tahun, dan biaya kebijakan naik eksponensial ketika service level dinaikkan. Aturan: bandingkan biaya simpan tambahan dengan biaya kekosongan; untuk ritel daring biaya kekosongan tinggi, sehingga pilihan Amazon konsisten.</a:t>
            </a:r>
            <a:endParaRPr lang="en-US" sz="950" dirty="0"/>
          </a:p>
        </p:txBody>
      </p:sp>
      <p:sp>
        <p:nvSpPr>
          <p:cNvPr id="9" name="Text 6"/>
          <p:cNvSpPr txBox="1"/>
          <p:nvPr/>
        </p:nvSpPr>
        <p:spPr>
          <a:xfrm>
            <a:off x="868680" y="3017520"/>
            <a:ext cx="320040" cy="310896"/>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2.</a:t>
            </a:r>
            <a:endParaRPr lang="en-US" sz="1300" dirty="0"/>
          </a:p>
        </p:txBody>
      </p:sp>
      <p:sp>
        <p:nvSpPr>
          <p:cNvPr id="10" name="Text 7"/>
          <p:cNvSpPr txBox="1"/>
          <p:nvPr/>
        </p:nvSpPr>
        <p:spPr>
          <a:xfrm>
            <a:off x="1216152" y="3017520"/>
            <a:ext cx="4864608" cy="310896"/>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Otomasi vs kesalahan dan tenaga kerja</a:t>
            </a:r>
            <a:endParaRPr lang="en-US" sz="1050" dirty="0"/>
          </a:p>
        </p:txBody>
      </p:sp>
      <p:sp>
        <p:nvSpPr>
          <p:cNvPr id="11" name="Text 8"/>
          <p:cNvSpPr txBox="1"/>
          <p:nvPr/>
        </p:nvSpPr>
        <p:spPr>
          <a:xfrm>
            <a:off x="1216152" y="3401568"/>
            <a:ext cx="4864608" cy="109728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Pemindaian 15 kali, penimbangan, dan robot adalah biaya tetap; kesalahan menimbulkan biaya return dan hilangnya kepercayaan. Aturan: otomasi layak kalau penghematan per pesanan dikali jumlah pesanan per tahun lebih besar dari biaya tahunan otomasi. Penentunya volume.</a:t>
            </a:r>
            <a:endParaRPr lang="en-US" sz="950" dirty="0"/>
          </a:p>
        </p:txBody>
      </p:sp>
      <p:sp>
        <p:nvSpPr>
          <p:cNvPr id="12" name="Text 9"/>
          <p:cNvSpPr txBox="1"/>
          <p:nvPr/>
        </p:nvSpPr>
        <p:spPr>
          <a:xfrm>
            <a:off x="868680" y="4572000"/>
            <a:ext cx="320040" cy="310896"/>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3.</a:t>
            </a:r>
            <a:endParaRPr lang="en-US" sz="1300" dirty="0"/>
          </a:p>
        </p:txBody>
      </p:sp>
      <p:sp>
        <p:nvSpPr>
          <p:cNvPr id="13" name="Text 10"/>
          <p:cNvSpPr txBox="1"/>
          <p:nvPr/>
        </p:nvSpPr>
        <p:spPr>
          <a:xfrm>
            <a:off x="1216152" y="4572000"/>
            <a:ext cx="4864608" cy="310896"/>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Kecepatan kirim vs biaya kirim</a:t>
            </a:r>
            <a:endParaRPr lang="en-US" sz="1050" dirty="0"/>
          </a:p>
        </p:txBody>
      </p:sp>
      <p:sp>
        <p:nvSpPr>
          <p:cNvPr id="14" name="Text 11"/>
          <p:cNvSpPr txBox="1"/>
          <p:nvPr/>
        </p:nvSpPr>
        <p:spPr>
          <a:xfrm>
            <a:off x="1216152" y="4956048"/>
            <a:ext cx="4864608" cy="109728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Kirim lebih cepat biasanya lebih mahal. Amazon mengirim 60% pesanan lewat USPS, moda yang murah. Aturan: kecepatan dibangun dari dalam (stok dekat pelanggan, proses gudang pendek), sehingga moda kirim murah tetap bisa dipakai.</a:t>
            </a:r>
            <a:endParaRPr lang="en-US" sz="950" dirty="0"/>
          </a:p>
        </p:txBody>
      </p:sp>
      <p:pic>
        <p:nvPicPr>
          <p:cNvPr id="15" name="Image 1" descr="/tmp/claude-0/-home-user-Dom-Manipulation/01edd7ad-16e1-5ac5-9e2e-840f37702b96/scratchpad/img/crop/giftwrap.jpg">    </p:cNvPr>
          <p:cNvPicPr>
            <a:picLocks noChangeAspect="1"/>
          </p:cNvPicPr>
          <p:nvPr/>
        </p:nvPicPr>
        <p:blipFill>
          <a:blip r:embed="rId2"/>
          <a:stretch>
            <a:fillRect/>
          </a:stretch>
        </p:blipFill>
        <p:spPr>
          <a:xfrm>
            <a:off x="6435547" y="1901952"/>
            <a:ext cx="5372100"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17</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VERIFIKASI TRADE-OFF</a:t>
            </a:r>
            <a:endParaRPr lang="en-US" sz="3000" dirty="0"/>
          </a:p>
        </p:txBody>
      </p:sp>
      <p:sp>
        <p:nvSpPr>
          <p:cNvPr id="6" name="Text 3"/>
          <p:cNvSpPr txBox="1"/>
          <p:nvPr/>
        </p:nvSpPr>
        <p:spPr>
          <a:xfrm>
            <a:off x="868680" y="1417320"/>
            <a:ext cx="5212080" cy="50292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Sebelum menyimpulkan ada trade-off, periksa dulu apakah dua tujuan itu benar bertentangan atau justru complementary. Kalau searah, tidak perlu ditimbang; kerjakan saja.</a:t>
            </a:r>
            <a:endParaRPr lang="en-US" sz="1000" dirty="0"/>
          </a:p>
        </p:txBody>
      </p:sp>
      <p:sp>
        <p:nvSpPr>
          <p:cNvPr id="7" name="Text 4"/>
          <p:cNvSpPr txBox="1"/>
          <p:nvPr/>
        </p:nvSpPr>
        <p:spPr>
          <a:xfrm>
            <a:off x="868680" y="2057400"/>
            <a:ext cx="320040" cy="42062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1.</a:t>
            </a:r>
            <a:endParaRPr lang="en-US" sz="1300" dirty="0"/>
          </a:p>
        </p:txBody>
      </p:sp>
      <p:sp>
        <p:nvSpPr>
          <p:cNvPr id="8" name="Text 5"/>
          <p:cNvSpPr txBox="1"/>
          <p:nvPr/>
        </p:nvSpPr>
        <p:spPr>
          <a:xfrm>
            <a:off x="1216152" y="2057400"/>
            <a:ext cx="4864608" cy="420624"/>
          </a:xfrm>
          <a:prstGeom prst="rect">
            <a:avLst/>
          </a:prstGeom>
          <a:solidFill>
            <a:srgbClr val="F3A6B9"/>
          </a:solidFill>
          <a:ln/>
        </p:spPr>
        <p:txBody>
          <a:bodyPr wrap="square" lIns="381" tIns="1016" rIns="1016" bIns="381"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Akurasi vs biaya: searah. Setiap kesalahan yang dicegah menghilangkan biaya return.</a:t>
            </a:r>
            <a:endParaRPr lang="en-US" sz="950" dirty="0"/>
          </a:p>
        </p:txBody>
      </p:sp>
      <p:sp>
        <p:nvSpPr>
          <p:cNvPr id="9" name="Text 6"/>
          <p:cNvSpPr txBox="1"/>
          <p:nvPr/>
        </p:nvSpPr>
        <p:spPr>
          <a:xfrm>
            <a:off x="868680" y="2569464"/>
            <a:ext cx="320040" cy="42062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2.</a:t>
            </a:r>
            <a:endParaRPr lang="en-US" sz="1300" dirty="0"/>
          </a:p>
        </p:txBody>
      </p:sp>
      <p:sp>
        <p:nvSpPr>
          <p:cNvPr id="10" name="Text 7"/>
          <p:cNvSpPr txBox="1"/>
          <p:nvPr/>
        </p:nvSpPr>
        <p:spPr>
          <a:xfrm>
            <a:off x="1216152" y="2569464"/>
            <a:ext cx="4864608" cy="420624"/>
          </a:xfrm>
          <a:prstGeom prst="rect">
            <a:avLst/>
          </a:prstGeom>
          <a:solidFill>
            <a:srgbClr val="F3A6B9"/>
          </a:solidFill>
          <a:ln/>
        </p:spPr>
        <p:txBody>
          <a:bodyPr wrap="square" lIns="381" tIns="1016" rIns="1016" bIns="381"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Kecepatan proses internal vs biaya: searah. Kurang dari 3 menit per pesanan menekan biaya sekaligus mempercepat.</a:t>
            </a:r>
            <a:endParaRPr lang="en-US" sz="950" dirty="0"/>
          </a:p>
        </p:txBody>
      </p:sp>
      <p:sp>
        <p:nvSpPr>
          <p:cNvPr id="11" name="Text 8"/>
          <p:cNvSpPr txBox="1"/>
          <p:nvPr/>
        </p:nvSpPr>
        <p:spPr>
          <a:xfrm>
            <a:off x="868680" y="3081528"/>
            <a:ext cx="320040" cy="42062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3.</a:t>
            </a:r>
            <a:endParaRPr lang="en-US" sz="1300" dirty="0"/>
          </a:p>
        </p:txBody>
      </p:sp>
      <p:sp>
        <p:nvSpPr>
          <p:cNvPr id="12" name="Text 9"/>
          <p:cNvSpPr txBox="1"/>
          <p:nvPr/>
        </p:nvSpPr>
        <p:spPr>
          <a:xfrm>
            <a:off x="1216152" y="3081528"/>
            <a:ext cx="4864608" cy="420624"/>
          </a:xfrm>
          <a:prstGeom prst="rect">
            <a:avLst/>
          </a:prstGeom>
          <a:solidFill>
            <a:srgbClr val="F3A6B9"/>
          </a:solidFill>
          <a:ln/>
        </p:spPr>
        <p:txBody>
          <a:bodyPr wrap="square" lIns="381" tIns="1016" rIns="1016" bIns="381"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Ketersediaan stok vs holding cost: trade-off nyata. Amazon memilih sadar di sisi service level tinggi.</a:t>
            </a:r>
            <a:endParaRPr lang="en-US" sz="950" dirty="0"/>
          </a:p>
        </p:txBody>
      </p:sp>
      <p:sp>
        <p:nvSpPr>
          <p:cNvPr id="13" name="Text 10"/>
          <p:cNvSpPr txBox="1"/>
          <p:nvPr/>
        </p:nvSpPr>
        <p:spPr>
          <a:xfrm>
            <a:off x="868680" y="3593592"/>
            <a:ext cx="320040" cy="420624"/>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4.</a:t>
            </a:r>
            <a:endParaRPr lang="en-US" sz="1300" dirty="0"/>
          </a:p>
        </p:txBody>
      </p:sp>
      <p:sp>
        <p:nvSpPr>
          <p:cNvPr id="14" name="Text 11"/>
          <p:cNvSpPr txBox="1"/>
          <p:nvPr/>
        </p:nvSpPr>
        <p:spPr>
          <a:xfrm>
            <a:off x="1216152" y="3593592"/>
            <a:ext cx="4864608" cy="420624"/>
          </a:xfrm>
          <a:prstGeom prst="rect">
            <a:avLst/>
          </a:prstGeom>
          <a:solidFill>
            <a:srgbClr val="F3A6B9"/>
          </a:solidFill>
          <a:ln/>
        </p:spPr>
        <p:txBody>
          <a:bodyPr wrap="square" lIns="381" tIns="1016" rIns="1016" bIns="381"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Kecepatan kirim vs biaya kirim: trade-off nyata yang dihindari, kecepatan dipindahkan ke posisi stok dan proses gudang.</a:t>
            </a:r>
            <a:endParaRPr lang="en-US" sz="950" dirty="0"/>
          </a:p>
        </p:txBody>
      </p:sp>
      <p:sp>
        <p:nvSpPr>
          <p:cNvPr id="15" name="Shape 12"/>
          <p:cNvSpPr/>
          <p:nvPr/>
        </p:nvSpPr>
        <p:spPr>
          <a:xfrm rot="12000000">
            <a:off x="960120" y="4160520"/>
            <a:ext cx="502920" cy="685800"/>
          </a:xfrm>
          <a:prstGeom prst="curvedRightArrow">
            <a:avLst/>
          </a:prstGeom>
          <a:solidFill>
            <a:srgbClr val="111111"/>
          </a:solidFill>
          <a:ln w="12700">
            <a:solidFill>
              <a:srgbClr val="111111"/>
            </a:solidFill>
            <a:prstDash val="solid"/>
          </a:ln>
        </p:spPr>
      </p:sp>
      <p:sp>
        <p:nvSpPr>
          <p:cNvPr id="16" name="Text 13"/>
          <p:cNvSpPr txBox="1"/>
          <p:nvPr/>
        </p:nvSpPr>
        <p:spPr>
          <a:xfrm>
            <a:off x="1691640" y="4343400"/>
            <a:ext cx="5212080" cy="454152"/>
          </a:xfrm>
          <a:prstGeom prst="rect">
            <a:avLst/>
          </a:prstGeom>
          <a:noFill/>
          <a:ln/>
        </p:spPr>
        <p:txBody>
          <a:bodyPr wrap="square" lIns="0" tIns="0" rIns="0" bIns="0" rtlCol="0" anchor="t"/>
          <a:lstStyle/>
          <a:p>
            <a:pPr algn="l" indent="0" marL="0">
              <a:lnSpc>
                <a:spcPct val="92000"/>
              </a:lnSpc>
              <a:buNone/>
            </a:pPr>
            <a:r>
              <a:rPr lang="en-US" sz="2400" b="1" dirty="0">
                <a:solidFill>
                  <a:srgbClr val="111111"/>
                </a:solidFill>
                <a:latin typeface="Arial Narrow" pitchFamily="34" charset="0"/>
                <a:ea typeface="Arial Narrow" pitchFamily="34" charset="-122"/>
                <a:cs typeface="Arial Narrow" pitchFamily="34" charset="-120"/>
              </a:rPr>
              <a:t>EFFICIENT FRONTIER</a:t>
            </a:r>
            <a:endParaRPr lang="en-US" sz="2400" dirty="0"/>
          </a:p>
        </p:txBody>
      </p:sp>
      <p:sp>
        <p:nvSpPr>
          <p:cNvPr id="17" name="Text 14"/>
          <p:cNvSpPr txBox="1"/>
          <p:nvPr/>
        </p:nvSpPr>
        <p:spPr>
          <a:xfrm>
            <a:off x="1691640" y="4846320"/>
            <a:ext cx="4389120" cy="1371600"/>
          </a:xfrm>
          <a:prstGeom prst="rect">
            <a:avLst/>
          </a:prstGeom>
          <a:noFill/>
          <a:ln/>
        </p:spPr>
        <p:txBody>
          <a:bodyPr wrap="square" lIns="0" tIns="0" rIns="0" bIns="0" rtlCol="0" anchor="t"/>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Pengecer virtual (1995): modal paling rendah, tetapi tidak memenuhi constraint bebas kesalahan dan tercepat.</a:t>
            </a:r>
            <a:endParaRPr lang="en-US" sz="950" dirty="0"/>
          </a:p>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Gudang sendiri, manual: didominasi alternatif otomasi pada volume Amazon; dicoret.</a:t>
            </a:r>
            <a:endParaRPr lang="en-US" sz="950" dirty="0"/>
          </a:p>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Gudang sendiri, terotomasi: berada di frontier; dipilih sesuai value proposition. Pada volume kecil, biaya tetap robot tidak terserap dan alternatif manual kembali ke frontier.</a:t>
            </a:r>
            <a:endParaRPr lang="en-US" sz="950" dirty="0"/>
          </a:p>
        </p:txBody>
      </p:sp>
      <p:pic>
        <p:nvPicPr>
          <p:cNvPr id="18" name="Image 1" descr="/tmp/claude-0/-home-user-Dom-Manipulation/01edd7ad-16e1-5ac5-9e2e-840f37702b96/scratchpad/img/crop/dock.jpg">    </p:cNvPr>
          <p:cNvPicPr>
            <a:picLocks noChangeAspect="1"/>
          </p:cNvPicPr>
          <p:nvPr/>
        </p:nvPicPr>
        <p:blipFill>
          <a:blip r:embed="rId2"/>
          <a:stretch>
            <a:fillRect/>
          </a:stretch>
        </p:blipFill>
        <p:spPr>
          <a:xfrm>
            <a:off x="6869887" y="3588061"/>
            <a:ext cx="4937760" cy="288589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18</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KAITAN DENGAN TEORI PERSEDIAAN</a:t>
            </a:r>
            <a:endParaRPr lang="en-US" sz="3000" dirty="0"/>
          </a:p>
        </p:txBody>
      </p:sp>
      <p:sp>
        <p:nvSpPr>
          <p:cNvPr id="6" name="Text 3"/>
          <p:cNvSpPr txBox="1"/>
          <p:nvPr/>
        </p:nvSpPr>
        <p:spPr>
          <a:xfrm>
            <a:off x="868680" y="141732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Konsep Bab 12 yang terlihat bekerja di Amazon. Tanda dalam kurung menyatakan apakah kaitan itu disebut buku secara eksplisit atau merupakan inferensi.</a:t>
            </a:r>
            <a:endParaRPr lang="en-US" sz="1000" dirty="0"/>
          </a:p>
        </p:txBody>
      </p:sp>
      <p:sp>
        <p:nvSpPr>
          <p:cNvPr id="7" name="Text 4"/>
          <p:cNvSpPr txBox="1"/>
          <p:nvPr/>
        </p:nvSpPr>
        <p:spPr>
          <a:xfrm>
            <a:off x="868680" y="20116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1.</a:t>
            </a:r>
            <a:endParaRPr lang="en-US" sz="1300" dirty="0"/>
          </a:p>
        </p:txBody>
      </p:sp>
      <p:sp>
        <p:nvSpPr>
          <p:cNvPr id="8" name="Text 5"/>
          <p:cNvSpPr txBox="1"/>
          <p:nvPr/>
        </p:nvSpPr>
        <p:spPr>
          <a:xfrm>
            <a:off x="1216152" y="20116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Fungsi persediaan: pilihan barang untuk permintaan yang diantisipasi; jutaan item di 150+ gudang (eksplisit)</a:t>
            </a:r>
            <a:endParaRPr lang="en-US" sz="900" dirty="0"/>
          </a:p>
        </p:txBody>
      </p:sp>
      <p:sp>
        <p:nvSpPr>
          <p:cNvPr id="9" name="Text 6"/>
          <p:cNvSpPr txBox="1"/>
          <p:nvPr/>
        </p:nvSpPr>
        <p:spPr>
          <a:xfrm>
            <a:off x="868680" y="24688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2.</a:t>
            </a:r>
            <a:endParaRPr lang="en-US" sz="1300" dirty="0"/>
          </a:p>
        </p:txBody>
      </p:sp>
      <p:sp>
        <p:nvSpPr>
          <p:cNvPr id="10" name="Text 7"/>
          <p:cNvSpPr txBox="1"/>
          <p:nvPr/>
        </p:nvSpPr>
        <p:spPr>
          <a:xfrm>
            <a:off x="1216152" y="24688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Record accuracy: sistem perpetual dengan bar code; dipindai 15 kali, alokasi mengandalkan catatan per DC (eksplisit)</a:t>
            </a:r>
            <a:endParaRPr lang="en-US" sz="900" dirty="0"/>
          </a:p>
        </p:txBody>
      </p:sp>
      <p:sp>
        <p:nvSpPr>
          <p:cNvPr id="11" name="Text 8"/>
          <p:cNvSpPr txBox="1"/>
          <p:nvPr/>
        </p:nvSpPr>
        <p:spPr>
          <a:xfrm>
            <a:off x="868680" y="29260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3.</a:t>
            </a:r>
            <a:endParaRPr lang="en-US" sz="1300" dirty="0"/>
          </a:p>
        </p:txBody>
      </p:sp>
      <p:sp>
        <p:nvSpPr>
          <p:cNvPr id="12" name="Text 9"/>
          <p:cNvSpPr txBox="1"/>
          <p:nvPr/>
        </p:nvSpPr>
        <p:spPr>
          <a:xfrm>
            <a:off x="1216152" y="29260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Cycle counting: tidak disebut; verifikasi berkala tetap diperlukan untuk kesalahan fisik (asumsi)</a:t>
            </a:r>
            <a:endParaRPr lang="en-US" sz="900" dirty="0"/>
          </a:p>
        </p:txBody>
      </p:sp>
      <p:sp>
        <p:nvSpPr>
          <p:cNvPr id="13" name="Text 10"/>
          <p:cNvSpPr txBox="1"/>
          <p:nvPr/>
        </p:nvSpPr>
        <p:spPr>
          <a:xfrm>
            <a:off x="868680" y="33832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4.</a:t>
            </a:r>
            <a:endParaRPr lang="en-US" sz="1300" dirty="0"/>
          </a:p>
        </p:txBody>
      </p:sp>
      <p:sp>
        <p:nvSpPr>
          <p:cNvPr id="14" name="Text 11"/>
          <p:cNvSpPr txBox="1"/>
          <p:nvPr/>
        </p:nvSpPr>
        <p:spPr>
          <a:xfrm>
            <a:off x="1216152" y="33832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ABC analysis: same-day facility menyimpan 100.000 item terlaris per wilayah (sumber lain, 2023)</a:t>
            </a:r>
            <a:endParaRPr lang="en-US" sz="900" dirty="0"/>
          </a:p>
        </p:txBody>
      </p:sp>
      <p:sp>
        <p:nvSpPr>
          <p:cNvPr id="15" name="Text 12"/>
          <p:cNvSpPr txBox="1"/>
          <p:nvPr/>
        </p:nvSpPr>
        <p:spPr>
          <a:xfrm>
            <a:off x="868680" y="38404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5.</a:t>
            </a:r>
            <a:endParaRPr lang="en-US" sz="1300" dirty="0"/>
          </a:p>
        </p:txBody>
      </p:sp>
      <p:sp>
        <p:nvSpPr>
          <p:cNvPr id="16" name="Text 13"/>
          <p:cNvSpPr txBox="1"/>
          <p:nvPr/>
        </p:nvSpPr>
        <p:spPr>
          <a:xfrm>
            <a:off x="1216152" y="38404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Kontrol persediaan ritel: barang masuk dan keluar dengan bar code; penimbangan sebelum keluar (eksplisit)</a:t>
            </a:r>
            <a:endParaRPr lang="en-US" sz="900" dirty="0"/>
          </a:p>
        </p:txBody>
      </p:sp>
      <p:sp>
        <p:nvSpPr>
          <p:cNvPr id="17" name="Text 14"/>
          <p:cNvSpPr txBox="1"/>
          <p:nvPr/>
        </p:nvSpPr>
        <p:spPr>
          <a:xfrm>
            <a:off x="868680" y="42976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6.</a:t>
            </a:r>
            <a:endParaRPr lang="en-US" sz="1300" dirty="0"/>
          </a:p>
        </p:txBody>
      </p:sp>
      <p:sp>
        <p:nvSpPr>
          <p:cNvPr id="18" name="Text 15"/>
          <p:cNvSpPr txBox="1"/>
          <p:nvPr/>
        </p:nvSpPr>
        <p:spPr>
          <a:xfrm>
            <a:off x="1216152" y="42976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Independent demand, ROP dengan safety stock: service level tinggi menuntut stok besar (inferensi)</a:t>
            </a:r>
            <a:endParaRPr lang="en-US" sz="900" dirty="0"/>
          </a:p>
        </p:txBody>
      </p:sp>
      <p:sp>
        <p:nvSpPr>
          <p:cNvPr id="19" name="Text 16"/>
          <p:cNvSpPr txBox="1"/>
          <p:nvPr/>
        </p:nvSpPr>
        <p:spPr>
          <a:xfrm>
            <a:off x="868680" y="4754880"/>
            <a:ext cx="320040" cy="384048"/>
          </a:xfrm>
          <a:prstGeom prst="rect">
            <a:avLst/>
          </a:prstGeom>
          <a:noFill/>
          <a:ln/>
        </p:spPr>
        <p:txBody>
          <a:bodyPr wrap="square" lIns="0" tIns="0" rIns="0" bIns="0" rtlCol="0" anchor="ctr"/>
          <a:lstStyle/>
          <a:p>
            <a:pPr indent="0" marL="0">
              <a:buNone/>
            </a:pPr>
            <a:r>
              <a:rPr lang="en-US" sz="1300" b="1" dirty="0">
                <a:solidFill>
                  <a:srgbClr val="111111"/>
                </a:solidFill>
                <a:latin typeface="Arial Narrow" pitchFamily="34" charset="0"/>
                <a:ea typeface="Arial Narrow" pitchFamily="34" charset="-122"/>
                <a:cs typeface="Arial Narrow" pitchFamily="34" charset="-120"/>
              </a:rPr>
              <a:t>7.</a:t>
            </a:r>
            <a:endParaRPr lang="en-US" sz="1300" dirty="0"/>
          </a:p>
        </p:txBody>
      </p:sp>
      <p:sp>
        <p:nvSpPr>
          <p:cNvPr id="20" name="Text 17"/>
          <p:cNvSpPr txBox="1"/>
          <p:nvPr/>
        </p:nvSpPr>
        <p:spPr>
          <a:xfrm>
            <a:off x="1216152" y="4754880"/>
            <a:ext cx="4864608" cy="384048"/>
          </a:xfrm>
          <a:prstGeom prst="rect">
            <a:avLst/>
          </a:prstGeom>
          <a:solidFill>
            <a:srgbClr val="F3A6B9"/>
          </a:solidFill>
          <a:ln/>
        </p:spPr>
        <p:txBody>
          <a:bodyPr wrap="square" lIns="381" tIns="1016" rIns="1016" bIns="381" rtlCol="0" anchor="ctr"/>
          <a:lstStyle/>
          <a:p>
            <a:pPr algn="l" indent="0" marL="0">
              <a:lnSpc>
                <a:spcPct val="105000"/>
              </a:lnSpc>
              <a:buNone/>
            </a:pPr>
            <a:r>
              <a:rPr lang="en-US" sz="900" dirty="0">
                <a:solidFill>
                  <a:srgbClr val="111111"/>
                </a:solidFill>
                <a:latin typeface="Calibri" pitchFamily="34" charset="0"/>
                <a:ea typeface="Calibri" pitchFamily="34" charset="-122"/>
                <a:cs typeface="Calibri" pitchFamily="34" charset="-120"/>
              </a:rPr>
              <a:t>Penempatan di gudang: picking diurutkan untuk mengurangi perjalanan; slotting diatur perangkat lunak (eksplisit)</a:t>
            </a:r>
            <a:endParaRPr lang="en-US" sz="900" dirty="0"/>
          </a:p>
        </p:txBody>
      </p:sp>
      <p:sp>
        <p:nvSpPr>
          <p:cNvPr id="21" name="Text 18"/>
          <p:cNvSpPr txBox="1"/>
          <p:nvPr/>
        </p:nvSpPr>
        <p:spPr>
          <a:xfrm>
            <a:off x="868680" y="5303520"/>
            <a:ext cx="5212080"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Urutannya: akurasi dulu, model kemudian.</a:t>
            </a:r>
            <a:endParaRPr lang="en-US" sz="1050" dirty="0"/>
          </a:p>
        </p:txBody>
      </p:sp>
      <p:pic>
        <p:nvPicPr>
          <p:cNvPr id="22" name="Image 1" descr="/tmp/claude-0/-home-user-Dom-Manipulation/01edd7ad-16e1-5ac5-9e2e-840f37702b96/scratchpad/img/crop/scanner.jpg">    </p:cNvPr>
          <p:cNvPicPr>
            <a:picLocks noChangeAspect="1"/>
          </p:cNvPicPr>
          <p:nvPr/>
        </p:nvPicPr>
        <p:blipFill>
          <a:blip r:embed="rId2"/>
          <a:stretch>
            <a:fillRect/>
          </a:stretch>
        </p:blipFill>
        <p:spPr>
          <a:xfrm>
            <a:off x="7690653" y="1353312"/>
            <a:ext cx="4116995" cy="51206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pic>
        <p:nvPicPr>
          <p:cNvPr id="3" name="Image 0" descr="/tmp/claude-0/-home-user-Dom-Manipulation/01edd7ad-16e1-5ac5-9e2e-840f37702b96/scratchpad/img/map_bg.jpg">    </p:cNvPr>
          <p:cNvPicPr>
            <a:picLocks noChangeAspect="1"/>
          </p:cNvPicPr>
          <p:nvPr/>
        </p:nvPicPr>
        <p:blipFill>
          <a:blip r:embed="rId1">
            <a:alphaModFix amt="38000"/>
          </a:blip>
          <a:stretch>
            <a:fillRect/>
          </a:stretch>
        </p:blipFill>
        <p:spPr>
          <a:xfrm>
            <a:off x="402336" y="402336"/>
            <a:ext cx="11387023" cy="6053328"/>
          </a:xfrm>
          <a:prstGeom prst="rect">
            <a:avLst/>
          </a:prstGeom>
        </p:spPr>
      </p:pic>
      <p:sp>
        <p:nvSpPr>
          <p:cNvPr id="4"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19</a:t>
            </a:r>
            <a:endParaRPr lang="en-US" sz="1000" dirty="0"/>
          </a:p>
        </p:txBody>
      </p:sp>
      <p:sp>
        <p:nvSpPr>
          <p:cNvPr id="5" name="Text 2"/>
          <p:cNvSpPr txBox="1"/>
          <p:nvPr/>
        </p:nvSpPr>
        <p:spPr>
          <a:xfrm>
            <a:off x="868680" y="822960"/>
            <a:ext cx="73152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PERKEMBANGAN TERBARU</a:t>
            </a:r>
            <a:endParaRPr lang="en-US" sz="3000" dirty="0"/>
          </a:p>
        </p:txBody>
      </p:sp>
      <p:sp>
        <p:nvSpPr>
          <p:cNvPr id="6" name="Text 3"/>
          <p:cNvSpPr txBox="1"/>
          <p:nvPr/>
        </p:nvSpPr>
        <p:spPr>
          <a:xfrm>
            <a:off x="868680" y="1417320"/>
            <a:ext cx="5212080" cy="4572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Buku menggambarkan kondisi sekitar 2017. Sumber berikut dari blog resmi para penulis buku, sehingga sejalan dengan rujukan kelas.</a:t>
            </a:r>
            <a:endParaRPr lang="en-US" sz="1000" dirty="0"/>
          </a:p>
        </p:txBody>
      </p:sp>
      <p:sp>
        <p:nvSpPr>
          <p:cNvPr id="7" name="Text 4"/>
          <p:cNvSpPr txBox="1"/>
          <p:nvPr/>
        </p:nvSpPr>
        <p:spPr>
          <a:xfrm>
            <a:off x="868680" y="201168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2023: REGIONALISASI JARINGAN</a:t>
            </a:r>
            <a:endParaRPr lang="en-US" sz="1800" dirty="0"/>
          </a:p>
        </p:txBody>
      </p:sp>
      <p:sp>
        <p:nvSpPr>
          <p:cNvPr id="8" name="Text 5"/>
          <p:cNvSpPr txBox="1"/>
          <p:nvPr/>
        </p:nvSpPr>
        <p:spPr>
          <a:xfrm>
            <a:off x="868680" y="2388870"/>
            <a:ext cx="5212080" cy="91440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Jaringan AS dibagi 8 wilayah dengan stok lengkap per wilayah; lebih dari 76% permintaan dipenuhi dari dalam wilayahnya. Same-day facility menyimpan 100.000 item terlaris per wilayah, dipilih dengan machine learning. Rata-rata picking sampai paket di dock keluar: 11 menit.</a:t>
            </a:r>
            <a:endParaRPr lang="en-US" sz="1000" dirty="0"/>
          </a:p>
        </p:txBody>
      </p:sp>
      <p:sp>
        <p:nvSpPr>
          <p:cNvPr id="9" name="Text 6"/>
          <p:cNvSpPr txBox="1"/>
          <p:nvPr/>
        </p:nvSpPr>
        <p:spPr>
          <a:xfrm>
            <a:off x="868680" y="3383280"/>
            <a:ext cx="5212080" cy="457200"/>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Keputusan where kini per wilayah; pemilihan 100.000 item terlaris adalah Pareto/ABC pada penempatan stok.</a:t>
            </a:r>
            <a:endParaRPr lang="en-US" sz="1000" dirty="0"/>
          </a:p>
        </p:txBody>
      </p:sp>
      <p:sp>
        <p:nvSpPr>
          <p:cNvPr id="10" name="Text 7"/>
          <p:cNvSpPr txBox="1"/>
          <p:nvPr/>
        </p:nvSpPr>
        <p:spPr>
          <a:xfrm>
            <a:off x="868680" y="4023360"/>
            <a:ext cx="5212080" cy="358902"/>
          </a:xfrm>
          <a:prstGeom prst="rect">
            <a:avLst/>
          </a:prstGeom>
          <a:noFill/>
          <a:ln/>
        </p:spPr>
        <p:txBody>
          <a:bodyPr wrap="square" lIns="0" tIns="0" rIns="0" bIns="0" rtlCol="0" anchor="t"/>
          <a:lstStyle/>
          <a:p>
            <a:pPr algn="l" indent="0" marL="0">
              <a:lnSpc>
                <a:spcPct val="92000"/>
              </a:lnSpc>
              <a:buNone/>
            </a:pPr>
            <a:r>
              <a:rPr lang="en-US" sz="1800" b="1" dirty="0">
                <a:solidFill>
                  <a:srgbClr val="111111"/>
                </a:solidFill>
                <a:latin typeface="Arial Narrow" pitchFamily="34" charset="0"/>
                <a:ea typeface="Arial Narrow" pitchFamily="34" charset="-122"/>
                <a:cs typeface="Arial Narrow" pitchFamily="34" charset="-120"/>
              </a:rPr>
              <a:t>2025: SKALA ROBOT</a:t>
            </a:r>
            <a:endParaRPr lang="en-US" sz="1800" dirty="0"/>
          </a:p>
        </p:txBody>
      </p:sp>
      <p:sp>
        <p:nvSpPr>
          <p:cNvPr id="11" name="Text 8"/>
          <p:cNvSpPr txBox="1"/>
          <p:nvPr/>
        </p:nvSpPr>
        <p:spPr>
          <a:xfrm>
            <a:off x="868680" y="4400550"/>
            <a:ext cx="5212080" cy="731520"/>
          </a:xfrm>
          <a:prstGeom prst="rect">
            <a:avLst/>
          </a:prstGeom>
          <a:noFill/>
          <a:ln/>
        </p:spPr>
        <p:txBody>
          <a:bodyPr wrap="square" lIns="0" tIns="0" rIns="0" bIns="0" rtlCol="0" anchor="t"/>
          <a:lstStyle/>
          <a:p>
            <a:pPr algn="l" indent="0" marL="0">
              <a:lnSpc>
                <a:spcPct val="105000"/>
              </a:lnSpc>
              <a:buNone/>
            </a:pPr>
            <a:r>
              <a:rPr lang="en-US" sz="1000" dirty="0">
                <a:solidFill>
                  <a:srgbClr val="5A5A5A"/>
                </a:solidFill>
                <a:latin typeface="Calibri" pitchFamily="34" charset="0"/>
                <a:ea typeface="Calibri" pitchFamily="34" charset="-122"/>
                <a:cs typeface="Calibri" pitchFamily="34" charset="-120"/>
              </a:rPr>
              <a:t>Lebih dari satu juta robot beroperasi; sekitar 75% pengiriman global melibatkan bantuan robot. Paket terkirim per karyawan per tahun naik dari 175 menjadi 3.870 dalam satu dekade.</a:t>
            </a:r>
            <a:endParaRPr lang="en-US" sz="1000" dirty="0"/>
          </a:p>
        </p:txBody>
      </p:sp>
      <p:sp>
        <p:nvSpPr>
          <p:cNvPr id="12" name="Text 9"/>
          <p:cNvSpPr txBox="1"/>
          <p:nvPr/>
        </p:nvSpPr>
        <p:spPr>
          <a:xfrm>
            <a:off x="868680" y="5212080"/>
            <a:ext cx="5212080" cy="329184"/>
          </a:xfrm>
          <a:prstGeom prst="rect">
            <a:avLst/>
          </a:prstGeom>
          <a:solidFill>
            <a:srgbClr val="F3A6B9"/>
          </a:solidFill>
          <a:ln/>
        </p:spPr>
        <p:txBody>
          <a:bodyPr wrap="square" lIns="381" tIns="1016" rIns="1016" bIns="381" rtlCol="0" anchor="ctr"/>
          <a:lstStyle/>
          <a:p>
            <a:pPr algn="l" indent="0" marL="0">
              <a:lnSpc>
                <a:spcPct val="105000"/>
              </a:lnSpc>
              <a:buNone/>
            </a:pPr>
            <a:r>
              <a:rPr lang="en-US" sz="1000" dirty="0">
                <a:solidFill>
                  <a:srgbClr val="111111"/>
                </a:solidFill>
                <a:latin typeface="Calibri" pitchFamily="34" charset="0"/>
                <a:ea typeface="Calibri" pitchFamily="34" charset="-122"/>
                <a:cs typeface="Calibri" pitchFamily="34" charset="-120"/>
              </a:rPr>
              <a:t>Angka per karyawan adalah ukuran single-factor; jangan dibaca sebagai efisiensi total.</a:t>
            </a:r>
            <a:endParaRPr lang="en-US" sz="1000" dirty="0"/>
          </a:p>
        </p:txBody>
      </p:sp>
      <p:pic>
        <p:nvPicPr>
          <p:cNvPr id="13" name="Image 1" descr="/tmp/claude-0/-home-user-Dom-Manipulation/01edd7ad-16e1-5ac5-9e2e-840f37702b96/scratchpad/img/crop/robots.jpg">    </p:cNvPr>
          <p:cNvPicPr>
            <a:picLocks noChangeAspect="1"/>
          </p:cNvPicPr>
          <p:nvPr/>
        </p:nvPicPr>
        <p:blipFill>
          <a:blip r:embed="rId2"/>
          <a:stretch>
            <a:fillRect/>
          </a:stretch>
        </p:blipFill>
        <p:spPr>
          <a:xfrm>
            <a:off x="6687007" y="3481176"/>
            <a:ext cx="5120640" cy="299277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365760"/>
            <a:ext cx="11460175" cy="6126480"/>
          </a:xfrm>
          <a:prstGeom prst="roundRect">
            <a:avLst>
              <a:gd name="adj" fmla="val 2388"/>
            </a:avLst>
          </a:prstGeom>
          <a:solidFill>
            <a:srgbClr val="FFFFFF"/>
          </a:solidFill>
          <a:ln w="6350">
            <a:solidFill>
              <a:srgbClr val="E6E6E6"/>
            </a:solidFill>
            <a:prstDash val="solid"/>
          </a:ln>
          <a:effectLst>
            <a:outerShdw sx="100000" sy="100000" kx="0" ky="0" algn="bl" rotWithShape="0" blurRad="127000" dist="38100" dir="3600000">
              <a:srgbClr val="000000">
                <a:alpha val="16000"/>
              </a:srgbClr>
            </a:outerShdw>
          </a:effectLst>
        </p:spPr>
      </p:sp>
      <p:sp>
        <p:nvSpPr>
          <p:cNvPr id="3" name="Text 1"/>
          <p:cNvSpPr txBox="1"/>
          <p:nvPr/>
        </p:nvSpPr>
        <p:spPr>
          <a:xfrm>
            <a:off x="11323015" y="6528816"/>
            <a:ext cx="457200" cy="228600"/>
          </a:xfrm>
          <a:prstGeom prst="rect">
            <a:avLst/>
          </a:prstGeom>
          <a:noFill/>
          <a:ln/>
        </p:spPr>
        <p:txBody>
          <a:bodyPr wrap="square" lIns="0" tIns="0" rIns="0" bIns="0" rtlCol="0" anchor="ctr"/>
          <a:lstStyle/>
          <a:p>
            <a:pPr algn="r" indent="0" marL="0">
              <a:buNone/>
            </a:pPr>
            <a:r>
              <a:rPr lang="en-US" sz="1000" b="1" dirty="0">
                <a:solidFill>
                  <a:srgbClr val="E4708F"/>
                </a:solidFill>
                <a:latin typeface="Arial Narrow" pitchFamily="34" charset="0"/>
                <a:ea typeface="Arial Narrow" pitchFamily="34" charset="-122"/>
                <a:cs typeface="Arial Narrow" pitchFamily="34" charset="-120"/>
              </a:rPr>
              <a:t>20</a:t>
            </a:r>
            <a:endParaRPr lang="en-US" sz="1000" dirty="0"/>
          </a:p>
        </p:txBody>
      </p:sp>
      <p:pic>
        <p:nvPicPr>
          <p:cNvPr id="4" name="Image 0" descr="/tmp/claude-0/-home-user-Dom-Manipulation/01edd7ad-16e1-5ac5-9e2e-840f37702b96/scratchpad/img/crop/dock_full.jpg">    </p:cNvPr>
          <p:cNvPicPr>
            <a:picLocks noChangeAspect="1"/>
          </p:cNvPicPr>
          <p:nvPr/>
        </p:nvPicPr>
        <p:blipFill>
          <a:blip r:embed="rId1"/>
          <a:srcRect l="0" r="0" t="0" b="0"/>
          <a:stretch/>
        </p:blipFill>
        <p:spPr>
          <a:xfrm>
            <a:off x="438912" y="438912"/>
            <a:ext cx="11313871" cy="5980176"/>
          </a:xfrm>
          <a:prstGeom prst="rect">
            <a:avLst/>
          </a:prstGeom>
        </p:spPr>
      </p:pic>
      <p:sp>
        <p:nvSpPr>
          <p:cNvPr id="5" name="Shape 2"/>
          <p:cNvSpPr/>
          <p:nvPr/>
        </p:nvSpPr>
        <p:spPr>
          <a:xfrm>
            <a:off x="438912" y="438912"/>
            <a:ext cx="11313871" cy="5980176"/>
          </a:xfrm>
          <a:prstGeom prst="rect">
            <a:avLst/>
          </a:prstGeom>
          <a:solidFill>
            <a:srgbClr val="FFFFFF">
              <a:alpha val="30000"/>
            </a:srgbClr>
          </a:solidFill>
          <a:ln w="12700">
            <a:solidFill>
              <a:srgbClr val="FFFFFF"/>
            </a:solidFill>
            <a:prstDash val="solid"/>
          </a:ln>
        </p:spPr>
      </p:sp>
      <p:sp>
        <p:nvSpPr>
          <p:cNvPr id="6" name="Text 3"/>
          <p:cNvSpPr txBox="1"/>
          <p:nvPr/>
        </p:nvSpPr>
        <p:spPr>
          <a:xfrm>
            <a:off x="822960" y="685800"/>
            <a:ext cx="10515600" cy="549402"/>
          </a:xfrm>
          <a:prstGeom prst="rect">
            <a:avLst/>
          </a:prstGeom>
          <a:noFill/>
          <a:ln/>
        </p:spPr>
        <p:txBody>
          <a:bodyPr wrap="square" lIns="0" tIns="0" rIns="0" bIns="0" rtlCol="0" anchor="t"/>
          <a:lstStyle/>
          <a:p>
            <a:pPr algn="l" indent="0" marL="0">
              <a:lnSpc>
                <a:spcPct val="92000"/>
              </a:lnSpc>
              <a:buNone/>
            </a:pPr>
            <a:r>
              <a:rPr lang="en-US" sz="3000" b="1" dirty="0">
                <a:solidFill>
                  <a:srgbClr val="111111"/>
                </a:solidFill>
                <a:latin typeface="Arial Narrow" pitchFamily="34" charset="0"/>
                <a:ea typeface="Arial Narrow" pitchFamily="34" charset="-122"/>
                <a:cs typeface="Arial Narrow" pitchFamily="34" charset="-120"/>
              </a:rPr>
              <a:t>LESSON LEARNED: APA YANG BISA DAN TIDAK BISA DITIRU</a:t>
            </a:r>
            <a:endParaRPr lang="en-US" sz="3000" dirty="0"/>
          </a:p>
        </p:txBody>
      </p:sp>
      <p:sp>
        <p:nvSpPr>
          <p:cNvPr id="7" name="Text 4"/>
          <p:cNvSpPr txBox="1"/>
          <p:nvPr/>
        </p:nvSpPr>
        <p:spPr>
          <a:xfrm>
            <a:off x="822960" y="1536192"/>
            <a:ext cx="1188720" cy="822960"/>
          </a:xfrm>
          <a:prstGeom prst="rect">
            <a:avLst/>
          </a:prstGeom>
          <a:noFill/>
          <a:ln/>
        </p:spPr>
        <p:txBody>
          <a:bodyPr wrap="square" lIns="0" tIns="0" rIns="0" bIns="0" rtlCol="0" anchor="ctr"/>
          <a:lstStyle/>
          <a:p>
            <a:pPr indent="0" marL="0">
              <a:buNone/>
            </a:pPr>
            <a:r>
              <a:rPr lang="en-US" sz="3800" b="1" dirty="0">
                <a:solidFill>
                  <a:srgbClr val="E4708F"/>
                </a:solidFill>
                <a:latin typeface="Arial Narrow" pitchFamily="34" charset="0"/>
                <a:ea typeface="Arial Narrow" pitchFamily="34" charset="-122"/>
                <a:cs typeface="Arial Narrow" pitchFamily="34" charset="-120"/>
              </a:rPr>
              <a:t>01</a:t>
            </a:r>
            <a:endParaRPr lang="en-US" sz="3800" dirty="0"/>
          </a:p>
        </p:txBody>
      </p:sp>
      <p:sp>
        <p:nvSpPr>
          <p:cNvPr id="8" name="Text 5"/>
          <p:cNvSpPr txBox="1"/>
          <p:nvPr/>
        </p:nvSpPr>
        <p:spPr>
          <a:xfrm>
            <a:off x="1965960" y="166420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300" b="1" dirty="0">
                <a:solidFill>
                  <a:srgbClr val="111111"/>
                </a:solidFill>
                <a:latin typeface="Arial Narrow" pitchFamily="34" charset="0"/>
                <a:ea typeface="Arial Narrow" pitchFamily="34" charset="-122"/>
                <a:cs typeface="Arial Narrow" pitchFamily="34" charset="-120"/>
              </a:rPr>
              <a:t>PERSEDIAAN BISA MENJADI KEUNGGULAN BERSAING</a:t>
            </a:r>
            <a:endParaRPr lang="en-US" sz="1300" dirty="0"/>
          </a:p>
        </p:txBody>
      </p:sp>
      <p:sp>
        <p:nvSpPr>
          <p:cNvPr id="9" name="Text 6"/>
          <p:cNvSpPr txBox="1"/>
          <p:nvPr/>
        </p:nvSpPr>
        <p:spPr>
          <a:xfrm>
            <a:off x="1965960" y="2304288"/>
            <a:ext cx="4206240" cy="4572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Syaratnya dikelola presisi: stok besar yang diketahui lokasinya, diambil benar, diproses cepat.</a:t>
            </a:r>
            <a:endParaRPr lang="en-US" sz="950" dirty="0"/>
          </a:p>
        </p:txBody>
      </p:sp>
      <p:sp>
        <p:nvSpPr>
          <p:cNvPr id="10" name="Text 7"/>
          <p:cNvSpPr txBox="1"/>
          <p:nvPr/>
        </p:nvSpPr>
        <p:spPr>
          <a:xfrm>
            <a:off x="6400800" y="1536192"/>
            <a:ext cx="1188720" cy="822960"/>
          </a:xfrm>
          <a:prstGeom prst="rect">
            <a:avLst/>
          </a:prstGeom>
          <a:noFill/>
          <a:ln/>
        </p:spPr>
        <p:txBody>
          <a:bodyPr wrap="square" lIns="0" tIns="0" rIns="0" bIns="0" rtlCol="0" anchor="ctr"/>
          <a:lstStyle/>
          <a:p>
            <a:pPr indent="0" marL="0">
              <a:buNone/>
            </a:pPr>
            <a:r>
              <a:rPr lang="en-US" sz="3800" b="1" dirty="0">
                <a:solidFill>
                  <a:srgbClr val="E4708F"/>
                </a:solidFill>
                <a:latin typeface="Arial Narrow" pitchFamily="34" charset="0"/>
                <a:ea typeface="Arial Narrow" pitchFamily="34" charset="-122"/>
                <a:cs typeface="Arial Narrow" pitchFamily="34" charset="-120"/>
              </a:rPr>
              <a:t>02</a:t>
            </a:r>
            <a:endParaRPr lang="en-US" sz="3800" dirty="0"/>
          </a:p>
        </p:txBody>
      </p:sp>
      <p:sp>
        <p:nvSpPr>
          <p:cNvPr id="11" name="Text 8"/>
          <p:cNvSpPr txBox="1"/>
          <p:nvPr/>
        </p:nvSpPr>
        <p:spPr>
          <a:xfrm>
            <a:off x="7543800" y="166420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300" b="1" dirty="0">
                <a:solidFill>
                  <a:srgbClr val="111111"/>
                </a:solidFill>
                <a:latin typeface="Arial Narrow" pitchFamily="34" charset="0"/>
                <a:ea typeface="Arial Narrow" pitchFamily="34" charset="-122"/>
                <a:cs typeface="Arial Narrow" pitchFamily="34" charset="-120"/>
              </a:rPr>
              <a:t>AKURASI CATATAN ADALAH PRASYARAT</a:t>
            </a:r>
            <a:endParaRPr lang="en-US" sz="1300" dirty="0"/>
          </a:p>
        </p:txBody>
      </p:sp>
      <p:sp>
        <p:nvSpPr>
          <p:cNvPr id="12" name="Text 9"/>
          <p:cNvSpPr txBox="1"/>
          <p:nvPr/>
        </p:nvSpPr>
        <p:spPr>
          <a:xfrm>
            <a:off x="7543800" y="2304288"/>
            <a:ext cx="4206240" cy="4572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Delapan langkah runtuh kalau catatan stok per DC salah. Akurasi dulu, model kemudian.</a:t>
            </a:r>
            <a:endParaRPr lang="en-US" sz="950" dirty="0"/>
          </a:p>
        </p:txBody>
      </p:sp>
      <p:sp>
        <p:nvSpPr>
          <p:cNvPr id="13" name="Text 10"/>
          <p:cNvSpPr txBox="1"/>
          <p:nvPr/>
        </p:nvSpPr>
        <p:spPr>
          <a:xfrm>
            <a:off x="822960" y="3136392"/>
            <a:ext cx="1188720" cy="822960"/>
          </a:xfrm>
          <a:prstGeom prst="rect">
            <a:avLst/>
          </a:prstGeom>
          <a:noFill/>
          <a:ln/>
        </p:spPr>
        <p:txBody>
          <a:bodyPr wrap="square" lIns="0" tIns="0" rIns="0" bIns="0" rtlCol="0" anchor="ctr"/>
          <a:lstStyle/>
          <a:p>
            <a:pPr indent="0" marL="0">
              <a:buNone/>
            </a:pPr>
            <a:r>
              <a:rPr lang="en-US" sz="3800" b="1" dirty="0">
                <a:solidFill>
                  <a:srgbClr val="E4708F"/>
                </a:solidFill>
                <a:latin typeface="Arial Narrow" pitchFamily="34" charset="0"/>
                <a:ea typeface="Arial Narrow" pitchFamily="34" charset="-122"/>
                <a:cs typeface="Arial Narrow" pitchFamily="34" charset="-120"/>
              </a:rPr>
              <a:t>03</a:t>
            </a:r>
            <a:endParaRPr lang="en-US" sz="3800" dirty="0"/>
          </a:p>
        </p:txBody>
      </p:sp>
      <p:sp>
        <p:nvSpPr>
          <p:cNvPr id="14" name="Text 11"/>
          <p:cNvSpPr txBox="1"/>
          <p:nvPr/>
        </p:nvSpPr>
        <p:spPr>
          <a:xfrm>
            <a:off x="1965960" y="326440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300" b="1" dirty="0">
                <a:solidFill>
                  <a:srgbClr val="111111"/>
                </a:solidFill>
                <a:latin typeface="Arial Narrow" pitchFamily="34" charset="0"/>
                <a:ea typeface="Arial Narrow" pitchFamily="34" charset="-122"/>
                <a:cs typeface="Arial Narrow" pitchFamily="34" charset="-120"/>
              </a:rPr>
              <a:t>KECEPATAN DIBANGUN DARI DALAM</a:t>
            </a:r>
            <a:endParaRPr lang="en-US" sz="1300" dirty="0"/>
          </a:p>
        </p:txBody>
      </p:sp>
      <p:sp>
        <p:nvSpPr>
          <p:cNvPr id="15" name="Text 12"/>
          <p:cNvSpPr txBox="1"/>
          <p:nvPr/>
        </p:nvSpPr>
        <p:spPr>
          <a:xfrm>
            <a:off x="1965960" y="3904488"/>
            <a:ext cx="4206240" cy="4572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Posisi stok dan proses pendek memungkinkan moda kirim murah untuk 60% pesanan.</a:t>
            </a:r>
            <a:endParaRPr lang="en-US" sz="950" dirty="0"/>
          </a:p>
        </p:txBody>
      </p:sp>
      <p:sp>
        <p:nvSpPr>
          <p:cNvPr id="16" name="Text 13"/>
          <p:cNvSpPr txBox="1"/>
          <p:nvPr/>
        </p:nvSpPr>
        <p:spPr>
          <a:xfrm>
            <a:off x="6400800" y="3136392"/>
            <a:ext cx="1188720" cy="822960"/>
          </a:xfrm>
          <a:prstGeom prst="rect">
            <a:avLst/>
          </a:prstGeom>
          <a:noFill/>
          <a:ln/>
        </p:spPr>
        <p:txBody>
          <a:bodyPr wrap="square" lIns="0" tIns="0" rIns="0" bIns="0" rtlCol="0" anchor="ctr"/>
          <a:lstStyle/>
          <a:p>
            <a:pPr indent="0" marL="0">
              <a:buNone/>
            </a:pPr>
            <a:r>
              <a:rPr lang="en-US" sz="3800" b="1" dirty="0">
                <a:solidFill>
                  <a:srgbClr val="E4708F"/>
                </a:solidFill>
                <a:latin typeface="Arial Narrow" pitchFamily="34" charset="0"/>
                <a:ea typeface="Arial Narrow" pitchFamily="34" charset="-122"/>
                <a:cs typeface="Arial Narrow" pitchFamily="34" charset="-120"/>
              </a:rPr>
              <a:t>04</a:t>
            </a:r>
            <a:endParaRPr lang="en-US" sz="3800" dirty="0"/>
          </a:p>
        </p:txBody>
      </p:sp>
      <p:sp>
        <p:nvSpPr>
          <p:cNvPr id="17" name="Text 14"/>
          <p:cNvSpPr txBox="1"/>
          <p:nvPr/>
        </p:nvSpPr>
        <p:spPr>
          <a:xfrm>
            <a:off x="7543800" y="326440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300" b="1" dirty="0">
                <a:solidFill>
                  <a:srgbClr val="111111"/>
                </a:solidFill>
                <a:latin typeface="Arial Narrow" pitchFamily="34" charset="0"/>
                <a:ea typeface="Arial Narrow" pitchFamily="34" charset="-122"/>
                <a:cs typeface="Arial Narrow" pitchFamily="34" charset="-120"/>
              </a:rPr>
              <a:t>KONTROL BERLAPIS KARENA BIAYA KESALAHAN LEBIH BESAR</a:t>
            </a:r>
            <a:endParaRPr lang="en-US" sz="1300" dirty="0"/>
          </a:p>
        </p:txBody>
      </p:sp>
      <p:sp>
        <p:nvSpPr>
          <p:cNvPr id="18" name="Text 15"/>
          <p:cNvSpPr txBox="1"/>
          <p:nvPr/>
        </p:nvSpPr>
        <p:spPr>
          <a:xfrm>
            <a:off x="7543800" y="3904488"/>
            <a:ext cx="4206240" cy="4572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Bukan trade-off; keduanya searah. Kerjakan saja.</a:t>
            </a:r>
            <a:endParaRPr lang="en-US" sz="950" dirty="0"/>
          </a:p>
        </p:txBody>
      </p:sp>
      <p:sp>
        <p:nvSpPr>
          <p:cNvPr id="19" name="Text 16"/>
          <p:cNvSpPr txBox="1"/>
          <p:nvPr/>
        </p:nvSpPr>
        <p:spPr>
          <a:xfrm>
            <a:off x="822960" y="4736592"/>
            <a:ext cx="1188720" cy="822960"/>
          </a:xfrm>
          <a:prstGeom prst="rect">
            <a:avLst/>
          </a:prstGeom>
          <a:noFill/>
          <a:ln/>
        </p:spPr>
        <p:txBody>
          <a:bodyPr wrap="square" lIns="0" tIns="0" rIns="0" bIns="0" rtlCol="0" anchor="ctr"/>
          <a:lstStyle/>
          <a:p>
            <a:pPr indent="0" marL="0">
              <a:buNone/>
            </a:pPr>
            <a:r>
              <a:rPr lang="en-US" sz="3800" b="1" dirty="0">
                <a:solidFill>
                  <a:srgbClr val="E4708F"/>
                </a:solidFill>
                <a:latin typeface="Arial Narrow" pitchFamily="34" charset="0"/>
                <a:ea typeface="Arial Narrow" pitchFamily="34" charset="-122"/>
                <a:cs typeface="Arial Narrow" pitchFamily="34" charset="-120"/>
              </a:rPr>
              <a:t>05</a:t>
            </a:r>
            <a:endParaRPr lang="en-US" sz="3800" dirty="0"/>
          </a:p>
        </p:txBody>
      </p:sp>
      <p:sp>
        <p:nvSpPr>
          <p:cNvPr id="20" name="Text 17"/>
          <p:cNvSpPr txBox="1"/>
          <p:nvPr/>
        </p:nvSpPr>
        <p:spPr>
          <a:xfrm>
            <a:off x="1965960" y="486460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300" b="1" dirty="0">
                <a:solidFill>
                  <a:srgbClr val="111111"/>
                </a:solidFill>
                <a:latin typeface="Arial Narrow" pitchFamily="34" charset="0"/>
                <a:ea typeface="Arial Narrow" pitchFamily="34" charset="-122"/>
                <a:cs typeface="Arial Narrow" pitchFamily="34" charset="-120"/>
              </a:rPr>
              <a:t>OTOMASI DIBENARKAN OLEH VOLUME</a:t>
            </a:r>
            <a:endParaRPr lang="en-US" sz="1300" dirty="0"/>
          </a:p>
        </p:txBody>
      </p:sp>
      <p:sp>
        <p:nvSpPr>
          <p:cNvPr id="21" name="Text 18"/>
          <p:cNvSpPr txBox="1"/>
          <p:nvPr/>
        </p:nvSpPr>
        <p:spPr>
          <a:xfrm>
            <a:off x="1965960" y="5504688"/>
            <a:ext cx="4206240" cy="4572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Penghematan US$0,70–1,50 per pesanan hanya berarti pada ratusan ribu pieces per hari.</a:t>
            </a:r>
            <a:endParaRPr lang="en-US" sz="950" dirty="0"/>
          </a:p>
        </p:txBody>
      </p:sp>
      <p:sp>
        <p:nvSpPr>
          <p:cNvPr id="22" name="Text 19"/>
          <p:cNvSpPr txBox="1"/>
          <p:nvPr/>
        </p:nvSpPr>
        <p:spPr>
          <a:xfrm>
            <a:off x="6400800" y="4736592"/>
            <a:ext cx="1188720" cy="822960"/>
          </a:xfrm>
          <a:prstGeom prst="rect">
            <a:avLst/>
          </a:prstGeom>
          <a:noFill/>
          <a:ln/>
        </p:spPr>
        <p:txBody>
          <a:bodyPr wrap="square" lIns="0" tIns="0" rIns="0" bIns="0" rtlCol="0" anchor="ctr"/>
          <a:lstStyle/>
          <a:p>
            <a:pPr indent="0" marL="0">
              <a:buNone/>
            </a:pPr>
            <a:r>
              <a:rPr lang="en-US" sz="3800" b="1" dirty="0">
                <a:solidFill>
                  <a:srgbClr val="E4708F"/>
                </a:solidFill>
                <a:latin typeface="Arial Narrow" pitchFamily="34" charset="0"/>
                <a:ea typeface="Arial Narrow" pitchFamily="34" charset="-122"/>
                <a:cs typeface="Arial Narrow" pitchFamily="34" charset="-120"/>
              </a:rPr>
              <a:t>06</a:t>
            </a:r>
            <a:endParaRPr lang="en-US" sz="3800" dirty="0"/>
          </a:p>
        </p:txBody>
      </p:sp>
      <p:sp>
        <p:nvSpPr>
          <p:cNvPr id="23" name="Text 20"/>
          <p:cNvSpPr txBox="1"/>
          <p:nvPr/>
        </p:nvSpPr>
        <p:spPr>
          <a:xfrm>
            <a:off x="7543800" y="4864608"/>
            <a:ext cx="4206240" cy="548640"/>
          </a:xfrm>
          <a:prstGeom prst="rect">
            <a:avLst/>
          </a:prstGeom>
          <a:solidFill>
            <a:srgbClr val="FFFFFF"/>
          </a:solidFill>
          <a:ln/>
        </p:spPr>
        <p:txBody>
          <a:bodyPr wrap="square" lIns="381" tIns="1016" rIns="1016" bIns="381" rtlCol="0" anchor="ctr"/>
          <a:lstStyle/>
          <a:p>
            <a:pPr algn="l" indent="0" marL="0">
              <a:lnSpc>
                <a:spcPct val="105000"/>
              </a:lnSpc>
              <a:buNone/>
            </a:pPr>
            <a:r>
              <a:rPr lang="en-US" sz="1300" b="1" dirty="0">
                <a:solidFill>
                  <a:srgbClr val="111111"/>
                </a:solidFill>
                <a:latin typeface="Arial Narrow" pitchFamily="34" charset="0"/>
                <a:ea typeface="Arial Narrow" pitchFamily="34" charset="-122"/>
                <a:cs typeface="Arial Narrow" pitchFamily="34" charset="-120"/>
              </a:rPr>
              <a:t>TRADE-OFF YANG TERSISA DIPILIH SECARA SADAR</a:t>
            </a:r>
            <a:endParaRPr lang="en-US" sz="1300" dirty="0"/>
          </a:p>
        </p:txBody>
      </p:sp>
      <p:sp>
        <p:nvSpPr>
          <p:cNvPr id="24" name="Text 21"/>
          <p:cNvSpPr txBox="1"/>
          <p:nvPr/>
        </p:nvSpPr>
        <p:spPr>
          <a:xfrm>
            <a:off x="7543800" y="5504688"/>
            <a:ext cx="4206240" cy="457200"/>
          </a:xfrm>
          <a:prstGeom prst="rect">
            <a:avLst/>
          </a:prstGeom>
          <a:solidFill>
            <a:srgbClr val="FFFFFF"/>
          </a:solidFill>
          <a:ln/>
        </p:spPr>
        <p:txBody>
          <a:bodyPr wrap="square" lIns="381" tIns="1016" rIns="1016" bIns="381" rtlCol="0" anchor="ctr"/>
          <a:lstStyle/>
          <a:p>
            <a:pPr algn="l" indent="0" marL="0">
              <a:lnSpc>
                <a:spcPct val="105000"/>
              </a:lnSpc>
              <a:buNone/>
            </a:pPr>
            <a:r>
              <a:rPr lang="en-US" sz="950" dirty="0">
                <a:solidFill>
                  <a:srgbClr val="5A5A5A"/>
                </a:solidFill>
                <a:latin typeface="Calibri" pitchFamily="34" charset="0"/>
                <a:ea typeface="Calibri" pitchFamily="34" charset="-122"/>
                <a:cs typeface="Calibri" pitchFamily="34" charset="-120"/>
              </a:rPr>
              <a:t>Holding cost tinggi diterima karena dampak kekosongan di ritel daring signifikan.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Inventory Management sebagai Keunggulan Kompetitif Amazon.com</dc:title>
  <dc:subject>PptxGenJS Presentation</dc:subject>
  <dc:creator>Kelompok 4</dc:creator>
  <cp:lastModifiedBy>Kelompok 4</cp:lastModifiedBy>
  <cp:revision>1</cp:revision>
  <dcterms:created xsi:type="dcterms:W3CDTF">2026-09-07T23:08:09Z</dcterms:created>
  <dcterms:modified xsi:type="dcterms:W3CDTF">2026-09-07T23:08:09Z</dcterms:modified>
</cp:coreProperties>
</file>