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Inventory management termasuk daily decision, satu kelompok dengan MRP, sequencing, dan scheduling. Arahnya ditentukan strategi operasi yang dipilih lebih dulu.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Aturan ini dipakai untuk menilai apakah stok Amazon yang sangat besar itu pemborosan atau justru keputusan yang benar.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pemenuhan dititipkan ke pihak ketiga: kecepatan bergantung stok dan proses orang lain; kesalahan pihak lain menjadi biaya return Amazon tetapi tidak bisa dikendalikan; margin pihak ketiga masuk ke harga. Exchanges and returns are very expensive.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sky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98648"/>
            <a:ext cx="9703878" cy="356616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679f7123936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731520"/>
            <a:ext cx="5306538" cy="211839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806440" y="2959638"/>
            <a:ext cx="1234440" cy="27432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4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7178040" y="294135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Bagaskoro  ·  25/574280/PEK/31778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Aulia Sisca Rahmadiyanti  ·  25/574305/PEK/31789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Fitra Aidila  ·  25/574309/PEK/31791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map_den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66344"/>
            <a:ext cx="4958791" cy="5925312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02e0df40d3e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1109442" cy="515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60120" y="1600200"/>
            <a:ext cx="5760720" cy="566928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kasus Amazon dari strategi ke bawah: mengapa persediaan dipegang sendiri, bagaimana satu pesanan dipenuhi, dan trade-off apa yang diambil.</a:t>
            </a:r>
            <a:endParaRPr lang="en-US" sz="1200" dirty="0"/>
          </a:p>
        </p:txBody>
      </p:sp>
      <p:pic>
        <p:nvPicPr>
          <p:cNvPr id="8" name="Image 3" descr="/tmp/claude-0/-home-user-Dom-Manipulation/01edd7ad-16e1-5ac5-9e2e-840f37702b96/scratchpad/img/cut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377440"/>
            <a:ext cx="1005840" cy="664156"/>
          </a:xfrm>
          <a:prstGeom prst="rect">
            <a:avLst/>
          </a:prstGeom>
        </p:spPr>
      </p:pic>
      <p:pic>
        <p:nvPicPr>
          <p:cNvPr id="9" name="Image 4" descr="/tmp/claude-0/-home-user-Dom-Manipulation/01edd7ad-16e1-5ac5-9e2e-840f37702b96/scratchpad/img/txt/a2d424d9032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2651760"/>
            <a:ext cx="2825496" cy="515082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2194560" y="342900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4"/>
          <p:cNvSpPr txBox="1"/>
          <p:nvPr/>
        </p:nvSpPr>
        <p:spPr>
          <a:xfrm>
            <a:off x="2514600" y="3429000"/>
            <a:ext cx="4800600" cy="32918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berpikir: strategi dulu, baru keputusan teknis</a:t>
            </a:r>
            <a:endParaRPr lang="en-US" sz="1150" dirty="0"/>
          </a:p>
        </p:txBody>
      </p:sp>
      <p:sp>
        <p:nvSpPr>
          <p:cNvPr id="12" name="Text 5"/>
          <p:cNvSpPr txBox="1"/>
          <p:nvPr/>
        </p:nvSpPr>
        <p:spPr>
          <a:xfrm>
            <a:off x="2194560" y="384962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6"/>
          <p:cNvSpPr txBox="1"/>
          <p:nvPr/>
        </p:nvSpPr>
        <p:spPr>
          <a:xfrm>
            <a:off x="2514600" y="3849624"/>
            <a:ext cx="4800600" cy="32918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Kisah sukses: dari pengecer virtual ke pengelola persediaan</a:t>
            </a:r>
            <a:endParaRPr lang="en-US" sz="1150" dirty="0"/>
          </a:p>
        </p:txBody>
      </p:sp>
      <p:sp>
        <p:nvSpPr>
          <p:cNvPr id="14" name="Text 7"/>
          <p:cNvSpPr txBox="1"/>
          <p:nvPr/>
        </p:nvSpPr>
        <p:spPr>
          <a:xfrm>
            <a:off x="2194560" y="427024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2514600" y="4270248"/>
            <a:ext cx="4800600" cy="32918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pemenuhan pesanan: delapan langkah dan kuantifikasinya</a:t>
            </a:r>
            <a:endParaRPr lang="en-US" sz="1150" dirty="0"/>
          </a:p>
        </p:txBody>
      </p:sp>
      <p:sp>
        <p:nvSpPr>
          <p:cNvPr id="16" name="Text 9"/>
          <p:cNvSpPr txBox="1"/>
          <p:nvPr/>
        </p:nvSpPr>
        <p:spPr>
          <a:xfrm>
            <a:off x="2194560" y="469087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2514600" y="4690872"/>
            <a:ext cx="4800600" cy="32918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trade-off: mana trade-off nyata, mana yang searah</a:t>
            </a:r>
            <a:endParaRPr lang="en-US" sz="1150" dirty="0"/>
          </a:p>
        </p:txBody>
      </p:sp>
      <p:sp>
        <p:nvSpPr>
          <p:cNvPr id="18" name="Text 11"/>
          <p:cNvSpPr txBox="1"/>
          <p:nvPr/>
        </p:nvSpPr>
        <p:spPr>
          <a:xfrm>
            <a:off x="2194560" y="511149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2514600" y="5111496"/>
            <a:ext cx="4800600" cy="32918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Kaitan dengan teori persediaan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2194560" y="55321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2514600" y="5532120"/>
            <a:ext cx="4800600" cy="32918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Perkembangan terbaru: 2023 dan 2025</a:t>
            </a:r>
            <a:endParaRPr lang="en-US" sz="1150" dirty="0"/>
          </a:p>
        </p:txBody>
      </p:sp>
      <p:sp>
        <p:nvSpPr>
          <p:cNvPr id="22" name="Text 15"/>
          <p:cNvSpPr txBox="1"/>
          <p:nvPr/>
        </p:nvSpPr>
        <p:spPr>
          <a:xfrm>
            <a:off x="2194560" y="595274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2514600" y="5952744"/>
            <a:ext cx="4800600" cy="32918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learned: apa yang bisa dan tidak bisa ditiru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r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281" y="1069848"/>
            <a:ext cx="3397206" cy="539496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a83d6db23a6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2974818" cy="515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60120" y="16459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dulu apa yang mau dicapai (strategi dan value proposition), baru turunkan ke keputusan teknis. Persediaan adalah keputusan OM ke-8 dengan dua pertanyaan dasar, ditambah satu pertanyaan khusus Amazon.</a:t>
            </a:r>
            <a:endParaRPr lang="en-US" sz="1200" dirty="0"/>
          </a:p>
        </p:txBody>
      </p:sp>
      <p:pic>
        <p:nvPicPr>
          <p:cNvPr id="8" name="Image 3" descr="/tmp/claude-0/-home-user-Dom-Manipulation/01edd7ad-16e1-5ac5-9e2e-840f37702b96/scratchpad/img/txt/d70c143d2da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743200"/>
            <a:ext cx="1024128" cy="33531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960120" y="315166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banyak persediaan setiap item yang harus dimiliki?</a:t>
            </a:r>
            <a:endParaRPr lang="en-US" sz="1200" dirty="0"/>
          </a:p>
        </p:txBody>
      </p:sp>
      <p:pic>
        <p:nvPicPr>
          <p:cNvPr id="10" name="Image 4" descr="/tmp/claude-0/-home-user-Dom-Manipulation/01edd7ad-16e1-5ac5-9e2e-840f37702b96/scratchpad/img/txt/d766103b97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654582"/>
            <a:ext cx="560802" cy="33531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960120" y="4063045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harus memesan kembali?</a:t>
            </a:r>
            <a:endParaRPr lang="en-US" sz="1200" dirty="0"/>
          </a:p>
        </p:txBody>
      </p:sp>
      <p:pic>
        <p:nvPicPr>
          <p:cNvPr id="12" name="Image 5" descr="/tmp/claude-0/-home-user-Dom-Manipulation/01edd7ad-16e1-5ac5-9e2e-840f37702b96/scratchpad/img/txt/e8d982d59e8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565965"/>
            <a:ext cx="664494" cy="335310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960120" y="4974427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mana disimpan di gudang mana; stok Amazon tersebar di lebih dari 150 gudang.</a:t>
            </a:r>
            <a:endParaRPr lang="en-US" sz="1200" dirty="0"/>
          </a:p>
        </p:txBody>
      </p:sp>
      <p:sp>
        <p:nvSpPr>
          <p:cNvPr id="14" name="Text 6"/>
          <p:cNvSpPr txBox="1"/>
          <p:nvPr/>
        </p:nvSpPr>
        <p:spPr>
          <a:xfrm>
            <a:off x="960120" y="5614507"/>
            <a:ext cx="6035040" cy="54864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yang membuat Amazon berbeda: stok harus berada dekat pelanggan sebelum pesanan datang.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353" y="1069848"/>
            <a:ext cx="2597134" cy="539496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e5722d5f132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3304002" cy="515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60120" y="16459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kita modelkan, persoalan persediaan selalu punya struktur yang sama: tujuan, variabel yang bisa diatur, dan batasan.</a:t>
            </a:r>
            <a:endParaRPr lang="en-US" sz="1200" dirty="0"/>
          </a:p>
        </p:txBody>
      </p:sp>
      <p:pic>
        <p:nvPicPr>
          <p:cNvPr id="8" name="Image 3" descr="/tmp/claude-0/-home-user-Dom-Manipulation/01edd7ad-16e1-5ac5-9e2e-840f37702b96/scratchpad/img/txt/95847b25d1d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331720"/>
            <a:ext cx="972282" cy="33531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960120" y="274018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Meminimalkan total biaya persediaan: biaya simpan, biaya pesan, biaya kekurangan. Amazon menambah biaya kesalahan pemenuhan (returns).</a:t>
            </a:r>
            <a:endParaRPr lang="en-US" sz="1200" dirty="0"/>
          </a:p>
        </p:txBody>
      </p:sp>
      <p:pic>
        <p:nvPicPr>
          <p:cNvPr id="10" name="Image 4" descr="/tmp/claude-0/-home-user-Dom-Manipulation/01edd7ad-16e1-5ac5-9e2e-840f37702b96/scratchpad/img/txt/b5b92c2050f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453414"/>
            <a:ext cx="1892808" cy="33531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960120" y="3861877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pesan, titik pesan ulang, stok pengaman. Amazon menambah alokasi: item apa di gudang mana.</a:t>
            </a:r>
            <a:endParaRPr lang="en-US" sz="1200" dirty="0"/>
          </a:p>
        </p:txBody>
      </p:sp>
      <p:pic>
        <p:nvPicPr>
          <p:cNvPr id="12" name="Image 5" descr="/tmp/claude-0/-home-user-Dom-Manipulation/01edd7ad-16e1-5ac5-9e2e-840f37702b96/scratchpad/img/txt/6a5c9a726e5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575109"/>
            <a:ext cx="1274034" cy="335310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960120" y="4983571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yang dijanjikan, kapasitas gudang, lead time. Bagi Amazon: harga terendah, kirim tercepat, bebas kesalahan.</a:t>
            </a:r>
            <a:endParaRPr lang="en-US" sz="1200" dirty="0"/>
          </a:p>
        </p:txBody>
      </p:sp>
      <p:sp>
        <p:nvSpPr>
          <p:cNvPr id="14" name="Text 6"/>
          <p:cNvSpPr txBox="1"/>
          <p:nvPr/>
        </p:nvSpPr>
        <p:spPr>
          <a:xfrm>
            <a:off x="960120" y="5641939"/>
            <a:ext cx="6035040" cy="54864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adalah constraint, bukan objective: perusahaan meminimalkan biaya pada tingkat layanan yang sudah dijanjikan.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convey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327" y="3130814"/>
            <a:ext cx="5852160" cy="3333994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d4fa67a212d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2971800" cy="515082"/>
          </a:xfrm>
          <a:prstGeom prst="rect">
            <a:avLst/>
          </a:prstGeom>
        </p:spPr>
      </p:pic>
      <p:pic>
        <p:nvPicPr>
          <p:cNvPr id="7" name="Image 3" descr="/tmp/claude-0/-home-user-Dom-Manipulation/01edd7ad-16e1-5ac5-9e2e-840f37702b96/scratchpad/img/txt/2b775d5e7b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691640"/>
            <a:ext cx="1932402" cy="30477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960120" y="206956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simpan dan penanganan naik; modal tertahan; risiko barang usang.</a:t>
            </a:r>
            <a:endParaRPr lang="en-US" sz="1200" dirty="0"/>
          </a:p>
        </p:txBody>
      </p:sp>
      <p:pic>
        <p:nvPicPr>
          <p:cNvPr id="9" name="Image 4" descr="/tmp/claude-0/-home-user-Dom-Manipulation/01edd7ad-16e1-5ac5-9e2e-840f37702b96/scratchpad/img/txt/1a800faa5bc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599914"/>
            <a:ext cx="1908078" cy="304770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60120" y="2977835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out; produksi berhenti; pada ritel daring pelanggan berpindah ke penjual lain dalam hitungan detik.</a:t>
            </a:r>
            <a:endParaRPr lang="en-US" sz="1200" dirty="0"/>
          </a:p>
        </p:txBody>
      </p:sp>
      <p:pic>
        <p:nvPicPr>
          <p:cNvPr id="11" name="Image 5" descr="/tmp/claude-0/-home-user-Dom-Manipulation/01edd7ad-16e1-5ac5-9e2e-840f37702b96/scratchpad/img/cut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663635"/>
            <a:ext cx="914400" cy="603778"/>
          </a:xfrm>
          <a:prstGeom prst="rect">
            <a:avLst/>
          </a:prstGeom>
        </p:spPr>
      </p:pic>
      <p:pic>
        <p:nvPicPr>
          <p:cNvPr id="12" name="Image 6" descr="/tmp/claude-0/-home-user-Dom-Manipulation/01edd7ad-16e1-5ac5-9e2e-840f37702b96/scratchpad/img/txt/3e27d4d076c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3937955"/>
            <a:ext cx="2932206" cy="515082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2057400" y="4623755"/>
            <a:ext cx="4572000" cy="86868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dampak kekosongan stok tidak signifikan, tidak perlu stok banyak. Kalau signifikan (lead time panjang, biaya kehilangan penjualan besar), stok cadangan dinaikkan.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4" name="Image 0" descr="/tmp/claude-0/-home-user-Dom-Manipulation/01edd7ad-16e1-5ac5-9e2e-840f37702b96/scratchpad/img/cut/bg_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466344"/>
            <a:ext cx="11259007" cy="5925312"/>
          </a:xfrm>
          <a:prstGeom prst="rect">
            <a:avLst/>
          </a:prstGeom>
        </p:spPr>
      </p:pic>
      <p:pic>
        <p:nvPicPr>
          <p:cNvPr id="5" name="Image 1" descr="/tmp/claude-0/-home-user-Dom-Manipulation/01edd7ad-16e1-5ac5-9e2e-840f37702b96/scratchpad/img/txt/4b2a6a01fe9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77240"/>
            <a:ext cx="5023074" cy="460218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5523f0fe2de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54480"/>
            <a:ext cx="1078992" cy="77111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554480" y="2331720"/>
            <a:ext cx="4937760" cy="42062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1995: PENGECER VIRTUAL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1554480" y="2825496"/>
            <a:ext cx="49377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persediaan, tanpa gudang, tanpa overhead: komputer menerima pesanan buku dan meneruskan pemenuhannya ke pihak lain.</a:t>
            </a:r>
            <a:endParaRPr lang="en-US" sz="1100" dirty="0"/>
          </a:p>
        </p:txBody>
      </p:sp>
      <p:pic>
        <p:nvPicPr>
          <p:cNvPr id="9" name="Image 3" descr="/tmp/claude-0/-home-user-Dom-Manipulation/01edd7ad-16e1-5ac5-9e2e-840f37702b96/scratchpad/img/txt/c1ed6d0bda7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657600"/>
            <a:ext cx="1078992" cy="77111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675120" y="4434840"/>
            <a:ext cx="4846320" cy="42062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KENYATAAN: JARINGAN GUDANG TERBESAR DI DUNIA</a:t>
            </a:r>
            <a:endParaRPr lang="en-US" sz="1600" dirty="0"/>
          </a:p>
        </p:txBody>
      </p:sp>
      <p:sp>
        <p:nvSpPr>
          <p:cNvPr id="11" name="Text 5"/>
          <p:cNvSpPr txBox="1"/>
          <p:nvPr/>
        </p:nvSpPr>
        <p:spPr>
          <a:xfrm>
            <a:off x="6675120" y="4928616"/>
            <a:ext cx="484632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clearly didn’t work out that way: 150+ gudang, 200 juta item di situs, 200.000 pieces per hari dari satu gudang, tenaga kerja kurang dari 3 menit per pesanan.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v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443" y="3630168"/>
            <a:ext cx="5519044" cy="283464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07f57bf568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5236494" cy="515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60120" y="1645920"/>
            <a:ext cx="5486400" cy="45720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salah, tetapi asumsinya tidak bisa dipertahankan begitu value proposition ditetapkan.</a:t>
            </a:r>
            <a:endParaRPr lang="en-US" sz="1200" dirty="0"/>
          </a:p>
        </p:txBody>
      </p:sp>
      <p:pic>
        <p:nvPicPr>
          <p:cNvPr id="8" name="Image 3" descr="/tmp/claude-0/-home-user-Dom-Manipulation/01edd7ad-16e1-5ac5-9e2e-840f37702b96/scratchpad/img/cut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240280"/>
            <a:ext cx="914400" cy="603778"/>
          </a:xfrm>
          <a:prstGeom prst="rect">
            <a:avLst/>
          </a:prstGeom>
        </p:spPr>
      </p:pic>
      <p:pic>
        <p:nvPicPr>
          <p:cNvPr id="9" name="Image 4" descr="/tmp/claude-0/-home-user-Dom-Manipulation/01edd7ad-16e1-5ac5-9e2e-840f37702b96/scratchpad/img/txt/e659281a549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514600"/>
            <a:ext cx="2377440" cy="43589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2057400" y="315468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4"/>
          <p:cNvSpPr txBox="1"/>
          <p:nvPr/>
        </p:nvSpPr>
        <p:spPr>
          <a:xfrm>
            <a:off x="2377440" y="3154680"/>
            <a:ext cx="4251960" cy="32918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price: harga terendah</a:t>
            </a:r>
            <a:endParaRPr lang="en-US" sz="1200" dirty="0"/>
          </a:p>
        </p:txBody>
      </p:sp>
      <p:sp>
        <p:nvSpPr>
          <p:cNvPr id="12" name="Text 5"/>
          <p:cNvSpPr txBox="1"/>
          <p:nvPr/>
        </p:nvSpPr>
        <p:spPr>
          <a:xfrm>
            <a:off x="2057400" y="357530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6"/>
          <p:cNvSpPr txBox="1"/>
          <p:nvPr/>
        </p:nvSpPr>
        <p:spPr>
          <a:xfrm>
            <a:off x="2377440" y="3575304"/>
            <a:ext cx="4251960" cy="32918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delivery: pengiriman tercepat</a:t>
            </a:r>
            <a:endParaRPr lang="en-US" sz="1200" dirty="0"/>
          </a:p>
        </p:txBody>
      </p:sp>
      <p:sp>
        <p:nvSpPr>
          <p:cNvPr id="14" name="Text 7"/>
          <p:cNvSpPr txBox="1"/>
          <p:nvPr/>
        </p:nvSpPr>
        <p:spPr>
          <a:xfrm>
            <a:off x="2057400" y="399592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2377440" y="3995928"/>
            <a:ext cx="4251960" cy="32918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Error-free: pemenuhan pesanan bebas kesalahan</a:t>
            </a:r>
            <a:endParaRPr lang="en-US" sz="1200" dirty="0"/>
          </a:p>
        </p:txBody>
      </p:sp>
      <p:pic>
        <p:nvPicPr>
          <p:cNvPr id="16" name="Image 5" descr="/tmp/claude-0/-home-user-Dom-Manipulation/01edd7ad-16e1-5ac5-9e2e-840f37702b96/scratchpad/img/txt/98410f16293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572000"/>
            <a:ext cx="1514886" cy="30477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960120" y="494992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di gudang terdekat pelanggan, titik kontrol dirancang sendiri, biaya per pesanan ditekan lewat volume dan otomasi.</a:t>
            </a:r>
            <a:endParaRPr lang="en-US" sz="1200" dirty="0"/>
          </a:p>
        </p:txBody>
      </p:sp>
      <p:sp>
        <p:nvSpPr>
          <p:cNvPr id="18" name="Text 10"/>
          <p:cNvSpPr txBox="1"/>
          <p:nvPr/>
        </p:nvSpPr>
        <p:spPr>
          <a:xfrm>
            <a:off x="960120" y="5562570"/>
            <a:ext cx="4846320" cy="45720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persediaan sendiri bukan penyimpangan dari strategi, melainkan konsekuensinya.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wor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838" y="1069848"/>
            <a:ext cx="4871649" cy="539496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d5bcb14927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3377154" cy="515082"/>
          </a:xfrm>
          <a:prstGeom prst="rect">
            <a:avLst/>
          </a:prstGeom>
        </p:spPr>
      </p:pic>
      <p:pic>
        <p:nvPicPr>
          <p:cNvPr id="7" name="Image 3" descr="/tmp/claude-0/-home-user-Dom-Manipulation/01edd7ad-16e1-5ac5-9e2e-840f37702b96/scratchpad/img/txt/c77ccf34779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737360"/>
            <a:ext cx="2063526" cy="30477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960120" y="2115282"/>
            <a:ext cx="5518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200.000 pieces per hari per gudang. Otomasi dan standardisasi menjadi ekonomis.</a:t>
            </a:r>
            <a:endParaRPr lang="en-US" sz="1200" dirty="0"/>
          </a:p>
        </p:txBody>
      </p:sp>
      <p:pic>
        <p:nvPicPr>
          <p:cNvPr id="9" name="Image 4" descr="/tmp/claude-0/-home-user-Dom-Manipulation/01edd7ad-16e1-5ac5-9e2e-840f37702b96/scratchpad/img/txt/398fd31e75d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618202"/>
            <a:ext cx="2078706" cy="304770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60120" y="2996123"/>
            <a:ext cx="5518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juta item; 70% pesanan multiproduk. Akurasi catatan per item menjadi persoalan utama.</a:t>
            </a:r>
            <a:endParaRPr lang="en-US" sz="1200" dirty="0"/>
          </a:p>
        </p:txBody>
      </p:sp>
      <p:pic>
        <p:nvPicPr>
          <p:cNvPr id="11" name="Image 5" descr="/tmp/claude-0/-home-user-Dom-Manipulation/01edd7ad-16e1-5ac5-9e2e-840f37702b96/scratchpad/img/txt/2bf5e275a5e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499043"/>
            <a:ext cx="1563624" cy="304770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960120" y="3876965"/>
            <a:ext cx="5518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Musim puncak; gudang dirancang untuk kapasitas harian maksimum; perlu stok pengaman.</a:t>
            </a:r>
            <a:endParaRPr lang="en-US" sz="1200" dirty="0"/>
          </a:p>
        </p:txBody>
      </p:sp>
      <p:pic>
        <p:nvPicPr>
          <p:cNvPr id="13" name="Image 6" descr="/tmp/claude-0/-home-user-Dom-Manipulation/01edd7ad-16e1-5ac5-9e2e-840f37702b96/scratchpad/img/txt/11b22ce5893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379885"/>
            <a:ext cx="1676370" cy="304770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960120" y="4757806"/>
            <a:ext cx="5518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hanya melihat harga, waktu tiba, dan ketepatan isi paket.</a:t>
            </a:r>
            <a:endParaRPr lang="en-US" sz="1200" dirty="0"/>
          </a:p>
        </p:txBody>
      </p:sp>
      <p:sp>
        <p:nvSpPr>
          <p:cNvPr id="15" name="Text 6"/>
          <p:cNvSpPr txBox="1"/>
          <p:nvPr/>
        </p:nvSpPr>
        <p:spPr>
          <a:xfrm>
            <a:off x="960120" y="5215006"/>
            <a:ext cx="5518678" cy="54864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dan variety sama-sama tinggi, tetap efisien: pengambilan massal dalam batch, penyusunan per pesanan di ujung proses.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4" name="Image 0" descr="/tmp/claude-0/-home-user-Dom-Manipulation/01edd7ad-16e1-5ac5-9e2e-840f37702b96/scratchpad/img/cut/bg_tot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466344"/>
            <a:ext cx="11259007" cy="5925312"/>
          </a:xfrm>
          <a:prstGeom prst="rect">
            <a:avLst/>
          </a:prstGeom>
        </p:spPr>
      </p:pic>
      <p:pic>
        <p:nvPicPr>
          <p:cNvPr id="5" name="Image 1" descr="/tmp/claude-0/-home-user-Dom-Manipulation/01edd7ad-16e1-5ac5-9e2e-840f37702b96/scratchpad/img/txt/97442fc8a1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77240"/>
            <a:ext cx="5907024" cy="460218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57ee52ba25c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45920"/>
            <a:ext cx="969264" cy="69494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463040" y="2331720"/>
            <a:ext cx="4846320" cy="402336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MASUK, KOMPUTER SEATTLE MENGAMBIL ALIH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807208"/>
            <a:ext cx="48463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dialokasikan ke DC yang punya stok: jawaban atas where; catatan stok tiap DC harus benar saat itu juga.</a:t>
            </a:r>
            <a:endParaRPr lang="en-US" sz="1100" dirty="0"/>
          </a:p>
        </p:txBody>
      </p:sp>
      <p:pic>
        <p:nvPicPr>
          <p:cNvPr id="9" name="Image 3" descr="/tmp/claude-0/-home-user-Dom-Manipulation/01edd7ad-16e1-5ac5-9e2e-840f37702b96/scratchpad/img/txt/efe8b2f086f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645920"/>
            <a:ext cx="969264" cy="69494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040880" y="2331720"/>
            <a:ext cx="4846320" cy="402336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MEISTER MENERIMA PESANAN</a:t>
            </a:r>
            <a:endParaRPr lang="en-US" sz="1400" dirty="0"/>
          </a:p>
        </p:txBody>
      </p:sp>
      <p:sp>
        <p:nvSpPr>
          <p:cNvPr id="11" name="Text 5"/>
          <p:cNvSpPr txBox="1"/>
          <p:nvPr/>
        </p:nvSpPr>
        <p:spPr>
          <a:xfrm>
            <a:off x="7040880" y="2807208"/>
            <a:ext cx="48463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pekerja mana pergi ke mana; pesanan diubah menjadi penugasan picking.</a:t>
            </a:r>
            <a:endParaRPr lang="en-US" sz="1100" dirty="0"/>
          </a:p>
        </p:txBody>
      </p:sp>
      <p:pic>
        <p:nvPicPr>
          <p:cNvPr id="12" name="Image 4" descr="/tmp/claude-0/-home-user-Dom-Manipulation/01edd7ad-16e1-5ac5-9e2e-840f37702b96/scratchpad/img/txt/9601447df89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023360"/>
            <a:ext cx="969264" cy="6949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463040" y="4709160"/>
            <a:ext cx="4846320" cy="402336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</a:t>
            </a:r>
            <a:endParaRPr lang="en-US" sz="1400" dirty="0"/>
          </a:p>
        </p:txBody>
      </p:sp>
      <p:sp>
        <p:nvSpPr>
          <p:cNvPr id="14" name="Text 7"/>
          <p:cNvSpPr txBox="1"/>
          <p:nvPr/>
        </p:nvSpPr>
        <p:spPr>
          <a:xfrm>
            <a:off x="1463040" y="5184648"/>
            <a:ext cx="48463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dua kali operator manual, kesalahan mendekati nol. Mekanismenya robot Kiva.</a:t>
            </a:r>
            <a:endParaRPr lang="en-US" sz="1100" dirty="0"/>
          </a:p>
        </p:txBody>
      </p:sp>
      <p:pic>
        <p:nvPicPr>
          <p:cNvPr id="15" name="Image 5" descr="/tmp/claude-0/-home-user-Dom-Manipulation/01edd7ad-16e1-5ac5-9e2e-840f37702b96/scratchpad/img/txt/3d2074ea9d2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023360"/>
            <a:ext cx="969264" cy="694944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040880" y="4709160"/>
            <a:ext cx="4846320" cy="402336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 DI BAN BERJALAN</a:t>
            </a:r>
            <a:endParaRPr lang="en-US" sz="1400" dirty="0"/>
          </a:p>
        </p:txBody>
      </p:sp>
      <p:sp>
        <p:nvSpPr>
          <p:cNvPr id="17" name="Text 9"/>
          <p:cNvSpPr txBox="1"/>
          <p:nvPr/>
        </p:nvSpPr>
        <p:spPr>
          <a:xfrm>
            <a:off x="7040880" y="5184648"/>
            <a:ext cx="48463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lebih dari 10 mil, 2,9 kaki/detik; bar code dipindai 15 kali; batch picking dan verifikasi berulang.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4" name="Image 0" descr="/tmp/claude-0/-home-user-Dom-Manipulation/01edd7ad-16e1-5ac5-9e2e-840f37702b96/scratchpad/img/cut/bg_sorta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466344"/>
            <a:ext cx="11259007" cy="5925312"/>
          </a:xfrm>
          <a:prstGeom prst="rect">
            <a:avLst/>
          </a:prstGeom>
        </p:spPr>
      </p:pic>
      <p:pic>
        <p:nvPicPr>
          <p:cNvPr id="5" name="Image 1" descr="/tmp/claude-0/-home-user-Dom-Manipulation/01edd7ad-16e1-5ac5-9e2e-840f37702b96/scratchpad/img/txt/f5e8d5568b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77240"/>
            <a:ext cx="5907024" cy="460218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a0254a5ebc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45920"/>
            <a:ext cx="969264" cy="69494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463040" y="2331720"/>
            <a:ext cx="4846320" cy="402336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BERTEMU DI CHUTE, MASUK KOTAK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807208"/>
            <a:ext cx="48463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code dicocokkan dengan nomor pesanan; ribuan chute; picking diurutkan untuk mengurangi perjalanan.</a:t>
            </a:r>
            <a:endParaRPr lang="en-US" sz="1100" dirty="0"/>
          </a:p>
        </p:txBody>
      </p:sp>
      <p:pic>
        <p:nvPicPr>
          <p:cNvPr id="9" name="Image 3" descr="/tmp/claude-0/-home-user-Dom-Manipulation/01edd7ad-16e1-5ac5-9e2e-840f37702b96/scratchpad/img/txt/d2a2b321183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645920"/>
            <a:ext cx="969264" cy="69494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040880" y="2331720"/>
            <a:ext cx="4846320" cy="402336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PEMBUNGKUSAN KADO MANUAL</a:t>
            </a:r>
            <a:endParaRPr lang="en-US" sz="1400" dirty="0"/>
          </a:p>
        </p:txBody>
      </p:sp>
      <p:sp>
        <p:nvSpPr>
          <p:cNvPr id="11" name="Text 5"/>
          <p:cNvSpPr txBox="1"/>
          <p:nvPr/>
        </p:nvSpPr>
        <p:spPr>
          <a:xfrm>
            <a:off x="7040880" y="2807208"/>
            <a:ext cx="48463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terlatih, 30 paket per jam; sengaja tidak diotomasi karena variasi tinggi dan volume kecil.</a:t>
            </a:r>
            <a:endParaRPr lang="en-US" sz="1100" dirty="0"/>
          </a:p>
        </p:txBody>
      </p:sp>
      <p:pic>
        <p:nvPicPr>
          <p:cNvPr id="12" name="Image 4" descr="/tmp/claude-0/-home-user-Dom-Manipulation/01edd7ad-16e1-5ac5-9e2e-840f37702b96/scratchpad/img/txt/cc3ba90502b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023360"/>
            <a:ext cx="969264" cy="6949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463040" y="4709160"/>
            <a:ext cx="4846320" cy="402336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DIKEMAS, DITIMBANG, DILABELI</a:t>
            </a:r>
            <a:endParaRPr lang="en-US" sz="1400" dirty="0"/>
          </a:p>
        </p:txBody>
      </p:sp>
      <p:sp>
        <p:nvSpPr>
          <p:cNvPr id="14" name="Text 7"/>
          <p:cNvSpPr txBox="1"/>
          <p:nvPr/>
        </p:nvSpPr>
        <p:spPr>
          <a:xfrm>
            <a:off x="1463040" y="5184648"/>
            <a:ext cx="48463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200.000 pieces per hari; 60% lewat USPS; penimbangan adalah verifikasi akhir isi paket.</a:t>
            </a:r>
            <a:endParaRPr lang="en-US" sz="1100" dirty="0"/>
          </a:p>
        </p:txBody>
      </p:sp>
      <p:pic>
        <p:nvPicPr>
          <p:cNvPr id="15" name="Image 5" descr="/tmp/claude-0/-home-user-Dom-Manipulation/01edd7ad-16e1-5ac5-9e2e-840f37702b96/scratchpad/img/txt/42b3b880053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023360"/>
            <a:ext cx="969264" cy="694944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040880" y="4709160"/>
            <a:ext cx="4846320" cy="402336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TIBA DI PELANGGAN</a:t>
            </a:r>
            <a:endParaRPr lang="en-US" sz="1400" dirty="0"/>
          </a:p>
        </p:txBody>
      </p:sp>
      <p:sp>
        <p:nvSpPr>
          <p:cNvPr id="17" name="Text 9"/>
          <p:cNvSpPr txBox="1"/>
          <p:nvPr/>
        </p:nvSpPr>
        <p:spPr>
          <a:xfrm>
            <a:off x="7040880" y="5184648"/>
            <a:ext cx="48463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1 atau 2 hari: ukuran yang dilihat pelanggan, speed dan dependability.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sc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539" y="2624328"/>
            <a:ext cx="5605949" cy="384048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4f1e37de281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3889218" cy="515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60120" y="16459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pesanan diproses dengan investasi tenaga kerja kurang dari 3 menit; 70% pesanan multiproduk; buku menyebutnya world-class performance.</a:t>
            </a:r>
            <a:endParaRPr lang="en-US" sz="1200" dirty="0"/>
          </a:p>
        </p:txBody>
      </p:sp>
      <p:pic>
        <p:nvPicPr>
          <p:cNvPr id="8" name="Image 3" descr="/tmp/claude-0/-home-user-Dom-Manipulation/01edd7ad-16e1-5ac5-9e2e-840f37702b96/scratchpad/img/txt/b0ab9268697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468880"/>
            <a:ext cx="1770918" cy="61566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960120" y="3291840"/>
            <a:ext cx="2377440" cy="32918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input (biaya)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960120" y="3703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kerja per pesanan, hasil efisiensi proses di dalam gudang.</a:t>
            </a:r>
            <a:endParaRPr lang="en-US" sz="1200" dirty="0"/>
          </a:p>
        </p:txBody>
      </p:sp>
      <p:pic>
        <p:nvPicPr>
          <p:cNvPr id="11" name="Image 4" descr="/tmp/claude-0/-home-user-Dom-Manipulation/01edd7ad-16e1-5ac5-9e2e-840f37702b96/scratchpad/img/txt/b38412ff058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2468880"/>
            <a:ext cx="1581912" cy="615666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657600" y="3291840"/>
            <a:ext cx="2377440" cy="329184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output (speed)</a:t>
            </a:r>
            <a:endParaRPr lang="en-US" sz="1200" dirty="0"/>
          </a:p>
        </p:txBody>
      </p:sp>
      <p:sp>
        <p:nvSpPr>
          <p:cNvPr id="13" name="Text 6"/>
          <p:cNvSpPr txBox="1"/>
          <p:nvPr/>
        </p:nvSpPr>
        <p:spPr>
          <a:xfrm>
            <a:off x="3657600" y="3703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dirasakan pelanggan, hasil posisi stok yang dekat pelanggan.</a:t>
            </a:r>
            <a:endParaRPr lang="en-US" sz="1200" dirty="0"/>
          </a:p>
        </p:txBody>
      </p:sp>
      <p:sp>
        <p:nvSpPr>
          <p:cNvPr id="14" name="Text 7"/>
          <p:cNvSpPr txBox="1"/>
          <p:nvPr/>
        </p:nvSpPr>
        <p:spPr>
          <a:xfrm>
            <a:off x="960120" y="4663440"/>
            <a:ext cx="4846320" cy="50292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angka ini jangan dicampur: Amazon unggul di keduanya, tetapi mekanismenya berbeda.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131" y="1069848"/>
            <a:ext cx="3194356" cy="539496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e34e98dc93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3517422" cy="515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60120" y="16459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picking hanya menyebut hasilnya. Mekanismenya dijelaskan pada bab tata letak, dan dari sinilah angka kecepatan dan akurasi picking berasal.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2423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1280160" y="2423160"/>
            <a:ext cx="5715000" cy="45720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10.000+ robot membawa rak ke pekerja: barangnya yang bergerak, bukan orangnya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30083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1280160" y="3008376"/>
            <a:ext cx="5715000" cy="45720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mil jalan kaki per hari per pekerja dihemat (gudang Tracy, California)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359359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280160" y="3593592"/>
            <a:ext cx="5715000" cy="45720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pick and scan naik dari 100 menjadi 300 item per jam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41788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4178808"/>
            <a:ext cx="5715000" cy="45720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per pesanan turun 20–40%; setara US$400–900 juta per tahun</a:t>
            </a:r>
            <a:endParaRPr lang="en-US" sz="1200" dirty="0"/>
          </a:p>
        </p:txBody>
      </p:sp>
      <p:pic>
        <p:nvPicPr>
          <p:cNvPr id="16" name="Image 3" descr="/tmp/claude-0/-home-user-Dom-Manipulation/01edd7ad-16e1-5ac5-9e2e-840f37702b96/scratchpad/img/txt/1fcbb6e7fa7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10328"/>
            <a:ext cx="2270730" cy="30477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60120" y="528825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fisik stok tidak lagi harus tetap (slotting diatur perangkat lunak), dan setiap pengambilan langsung dipindai sehingga catatan stok diperbarui bersamaan dengan pengambilan fisik.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960120" y="6019770"/>
            <a:ext cx="6035040" cy="41148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yang membuat alokasi pesanan dari Seattle bisa mengandalkan data stok per DC.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forkl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816" y="3081528"/>
            <a:ext cx="5238671" cy="338328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d472f241b2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3806922" cy="515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60120" y="16459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menjadi 300 item per jam mudah dibaca sebagai kenaikan 200%. Itu single-factor, hanya menghitung tenaga kerja; biaya robot tidak ikut dihitung.</a:t>
            </a:r>
            <a:endParaRPr lang="en-US" sz="1200" dirty="0"/>
          </a:p>
        </p:txBody>
      </p:sp>
      <p:pic>
        <p:nvPicPr>
          <p:cNvPr id="8" name="Image 3" descr="/tmp/claude-0/-home-user-Dom-Manipulation/01edd7ad-16e1-5ac5-9e2e-840f37702b96/scratchpad/img/txt/65b8a5d1c88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423160"/>
            <a:ext cx="2051274" cy="30477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960120" y="280108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Benar, tetapi belum memperhitungkan investasi robot.</a:t>
            </a:r>
            <a:endParaRPr lang="en-US" sz="1200" dirty="0"/>
          </a:p>
        </p:txBody>
      </p:sp>
      <p:pic>
        <p:nvPicPr>
          <p:cNvPr id="10" name="Image 4" descr="/tmp/claude-0/-home-user-Dom-Manipulation/01edd7ad-16e1-5ac5-9e2e-840f37702b96/scratchpad/img/txt/280a361f297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258282"/>
            <a:ext cx="3849624" cy="30477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960120" y="3636203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termasuk biaya robot: hemat US$0,70–1,50 per pesanan. Jauh di bawah 200%, tetapi tetap positif.</a:t>
            </a:r>
            <a:endParaRPr lang="en-US" sz="1200" dirty="0"/>
          </a:p>
        </p:txBody>
      </p:sp>
      <p:pic>
        <p:nvPicPr>
          <p:cNvPr id="12" name="Image 5" descr="/tmp/claude-0/-home-user-Dom-Manipulation/01edd7ad-16e1-5ac5-9e2e-840f37702b96/scratchpad/img/txt/0b8da625c79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276283"/>
            <a:ext cx="3182112" cy="304770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960120" y="4654205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kecil per pesanan menjadi besar karena volume.</a:t>
            </a:r>
            <a:endParaRPr lang="en-US" sz="1200" dirty="0"/>
          </a:p>
        </p:txBody>
      </p:sp>
      <p:sp>
        <p:nvSpPr>
          <p:cNvPr id="14" name="Text 6"/>
          <p:cNvSpPr txBox="1"/>
          <p:nvPr/>
        </p:nvSpPr>
        <p:spPr>
          <a:xfrm>
            <a:off x="960120" y="5083973"/>
            <a:ext cx="4937760" cy="41148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dipresentasikan sebaiknya angka biaya per pesanan, bukan angka 200%.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353" y="1069848"/>
            <a:ext cx="2597134" cy="539496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22b8a6f5e9c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4142232" cy="515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60120" y="16459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Persediaan bisa mencapai 50% dari total modal. Amazon jelas di sisi investasi besar: jutaan item di lebih dari 150 gudang.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2331720"/>
            <a:ext cx="6035040" cy="384048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Jawabannya harus dikembalikan ke objective.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960120" y="28803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tidak meminimalkan stok. Amazon meminimalkan total biaya pada tingkat layanan yang dijanjikan. Pada tingkat itu, kekosongan stok berarti penjualan hilang dan janji fastest delivery rusak: dampaknya signifikan, sehingga stok besar konsisten dengan tujuannya, bukan pemborosan.</a:t>
            </a:r>
            <a:endParaRPr lang="en-US" sz="1200" dirty="0"/>
          </a:p>
        </p:txBody>
      </p:sp>
      <p:pic>
        <p:nvPicPr>
          <p:cNvPr id="10" name="Image 3" descr="/tmp/claude-0/-home-user-Dom-Manipulation/01edd7ad-16e1-5ac5-9e2e-840f37702b96/scratchpad/img/txt/7502e10607f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97680"/>
            <a:ext cx="2490186" cy="30477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60120" y="467560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komponen lain: tenaga kerja per pesanan (kurang dari 3 menit) dan kesalahan (mendekati nol).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60120" y="5288250"/>
            <a:ext cx="6035040" cy="384048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stok sedikit, tetapi stok besar yang dikelola presisi.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023" y="3721608"/>
            <a:ext cx="5450464" cy="274320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c4450c84311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4450110" cy="515082"/>
          </a:xfrm>
          <a:prstGeom prst="rect">
            <a:avLst/>
          </a:prstGeom>
        </p:spPr>
      </p:pic>
      <p:pic>
        <p:nvPicPr>
          <p:cNvPr id="7" name="Image 3" descr="/tmp/claude-0/-home-user-Dom-Manipulation/01edd7ad-16e1-5ac5-9e2e-840f37702b96/scratchpad/img/txt/e4058ca9b4c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737360"/>
            <a:ext cx="524226" cy="292608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960120" y="21031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Tiba 1–2 hari; tenaga kerja kurang dari 3 menit per pesanan.</a:t>
            </a:r>
            <a:endParaRPr lang="en-US" sz="1150" dirty="0"/>
          </a:p>
        </p:txBody>
      </p:sp>
      <p:pic>
        <p:nvPicPr>
          <p:cNvPr id="9" name="Image 4" descr="/tmp/claude-0/-home-user-Dom-Manipulation/01edd7ad-16e1-5ac5-9e2e-840f37702b96/scratchpad/img/txt/1a9b4a4b7c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542032"/>
            <a:ext cx="685800" cy="29260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60120" y="29077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picking mendekati nol; bar code dipindai 15 kali; penimbangan sebelum keluar.</a:t>
            </a:r>
            <a:endParaRPr lang="en-US" sz="1150" dirty="0"/>
          </a:p>
        </p:txBody>
      </p:sp>
      <p:pic>
        <p:nvPicPr>
          <p:cNvPr id="11" name="Image 5" descr="/tmp/claude-0/-home-user-Dom-Manipulation/01edd7ad-16e1-5ac5-9e2e-840f37702b96/scratchpad/img/txt/04956c4989b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346704"/>
            <a:ext cx="1255746" cy="292608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960120" y="37124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Janji 1–2 hari terpenuhi; as promised, bukan sekadar cepat.</a:t>
            </a:r>
            <a:endParaRPr lang="en-US" sz="1150" dirty="0"/>
          </a:p>
        </p:txBody>
      </p:sp>
      <p:pic>
        <p:nvPicPr>
          <p:cNvPr id="13" name="Image 6" descr="/tmp/claude-0/-home-user-Dom-Manipulation/01edd7ad-16e1-5ac5-9e2e-840f37702b96/scratchpad/img/txt/cf6e0211bfc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151376"/>
            <a:ext cx="963138" cy="292608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960120" y="451713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pesanan multiproduk dilayani satu sistem: batch picking, konsolidasi di chute.</a:t>
            </a:r>
            <a:endParaRPr lang="en-US" sz="1150" dirty="0"/>
          </a:p>
        </p:txBody>
      </p:sp>
      <p:pic>
        <p:nvPicPr>
          <p:cNvPr id="15" name="Image 7" descr="/tmp/claude-0/-home-user-Dom-Manipulation/01edd7ad-16e1-5ac5-9e2e-840f37702b96/scratchpad/img/txt/7445cfff9f7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956048"/>
            <a:ext cx="426750" cy="292608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960120" y="53218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terendah; 60% kiriman lewat USPS; biaya sort-pick-pack turun 20–40%.</a:t>
            </a:r>
            <a:endParaRPr lang="en-US" sz="1150" dirty="0"/>
          </a:p>
        </p:txBody>
      </p:sp>
      <p:sp>
        <p:nvSpPr>
          <p:cNvPr id="17" name="Text 7"/>
          <p:cNvSpPr txBox="1"/>
          <p:nvPr/>
        </p:nvSpPr>
        <p:spPr>
          <a:xfrm>
            <a:off x="960120" y="5760720"/>
            <a:ext cx="4846320" cy="384048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sistem yang sama: stok yang akurat lokasinya, proses pendek, kontrol berlapis.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353" y="1069848"/>
            <a:ext cx="2597134" cy="539496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bb31d9d9f6c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3404586" cy="515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60120" y="16459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pilihan operasi punya biaya di sisi lain; keputusan yang baik sadar biayanya dan tahu mana yang less loss.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1280160" y="2331720"/>
            <a:ext cx="5715000" cy="36576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cost vs service level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1280160" y="2770632"/>
            <a:ext cx="5715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cost sekitar 26% per tahun dan naik eksponensial di service level tinggi. Aturan: naikkan stok kalau biaya kekosongan lebih besar dari biaya simpan tambahan; untuk ritel daring, ini terpenuhi.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960120" y="3703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1280160" y="3703320"/>
            <a:ext cx="5715000" cy="36576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Otomasi vs kesalahan dan tenaga kerja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280160" y="4142232"/>
            <a:ext cx="5715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dan pemindaian berlapis adalah biaya tetap. Aturan: otomasi layak kalau penghematan per pesanan dikali volume tahunan lebih besar dari biaya otomasi. Penentunya volume.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5074920"/>
            <a:ext cx="5715000" cy="36576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kirim vs biaya kirim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5513832"/>
            <a:ext cx="5715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pesanan lewat USPS yang murah. Aturan: kecepatan dibangun dari dalam, stok dekat pelanggan dan proses gudang pendek.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convey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339" y="3538728"/>
            <a:ext cx="5136148" cy="292608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77c98cca8c4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3252246" cy="515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60120" y="16459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dulu apakah dua tujuan benar bertentangan atau justru searah. Kalau searah, tidak perlu ditimbang; kerjakan saja.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2331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1280160" y="2331720"/>
            <a:ext cx="5074920" cy="347472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vs biaya: searah, kesalahan yang dicegah menghilangkan biaya return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277063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1280160" y="2770632"/>
            <a:ext cx="5074920" cy="347472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proses vs biaya: searah, kurang dari 3 menit per pesanan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32095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280160" y="3209544"/>
            <a:ext cx="5074920" cy="347472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Ketersediaan stok vs holding cost: trade-off nyata, dipilih sadar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36484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648456"/>
            <a:ext cx="5074920" cy="347472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kirim vs biaya kirim: trade-off nyata yang dihindari</a:t>
            </a:r>
            <a:endParaRPr lang="en-US" sz="1150" dirty="0"/>
          </a:p>
        </p:txBody>
      </p:sp>
      <p:pic>
        <p:nvPicPr>
          <p:cNvPr id="16" name="Image 3" descr="/tmp/claude-0/-home-user-Dom-Manipulation/01edd7ad-16e1-5ac5-9e2e-840f37702b96/scratchpad/img/cut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24528"/>
            <a:ext cx="822960" cy="543400"/>
          </a:xfrm>
          <a:prstGeom prst="rect">
            <a:avLst/>
          </a:prstGeom>
        </p:spPr>
      </p:pic>
      <p:pic>
        <p:nvPicPr>
          <p:cNvPr id="17" name="Image 4" descr="/tmp/claude-0/-home-user-Dom-Manipulation/01edd7ad-16e1-5ac5-9e2e-840f37702b96/scratchpad/img/txt/ea70eb1c85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4453128"/>
            <a:ext cx="2319558" cy="4114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965960" y="500176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Pengecer virtual: modal terendah, tetapi gagal memenuhi constraint bebas kesalahan dan tercepat. Gudang manual: didominasi otomasi pada volume Amazon. Gudang terotomasi: di frontier, dipilih sesuai value proposition. Pada volume kecil, alternatif manual kembali ke frontier.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r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281" y="1069848"/>
            <a:ext cx="3397206" cy="539496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df3b1352b9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5074920" cy="515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60120" y="16459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Bab 12 yang terlihat bekerja di Amazon. Tanda dalam kurung menyatakan apakah kaitan itu disebut buku secara eksplisit atau merupakan inferensi.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2331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1280160" y="2331720"/>
            <a:ext cx="5715000" cy="347472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persediaan: pilihan barang untuk permintaan yang diantisipasi (eksplisit)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27614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1280160" y="2761488"/>
            <a:ext cx="5715000" cy="347472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accuracy: sistem perpetual dengan bar code, dipindai 15 kali (eksplisit)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31912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280160" y="3191256"/>
            <a:ext cx="5715000" cy="347472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counting: tidak disebut, verifikasi berkala tetap diperlukan (asumsi)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362102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621024"/>
            <a:ext cx="5715000" cy="347472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analysis: 100.000 item terlaris per wilayah (sumber lain, 2023)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960120" y="40507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4050792"/>
            <a:ext cx="5715000" cy="347472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persediaan ritel: barang masuk dan keluar dengan bar code (eksplisit)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960120" y="44805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280160" y="4480560"/>
            <a:ext cx="5715000" cy="347472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demand dan safety stock: service level tinggi menuntut stok besar (inferensi)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960120" y="49103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280160" y="4910328"/>
            <a:ext cx="5715000" cy="347472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Penempatan di gudang: picking diurutkan, slotting diatur perangkat lunak (eksplisit)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960120" y="5486400"/>
            <a:ext cx="6035040" cy="50292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Amazon menekankan pengendalian, bukan model kuantitatif. Urutannya: akurasi dulu, model kemudian.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131" y="1069848"/>
            <a:ext cx="3194356" cy="539496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d3b3fb8867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868680"/>
            <a:ext cx="3788634" cy="515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60120" y="16459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Buku menggambarkan kondisi 2017. Sumber berikut dari blog resmi para penulis buku, sehingga sejalan dengan rujukan kelas.</a:t>
            </a:r>
            <a:endParaRPr lang="en-US" sz="1200" dirty="0"/>
          </a:p>
        </p:txBody>
      </p:sp>
      <p:pic>
        <p:nvPicPr>
          <p:cNvPr id="8" name="Image 3" descr="/tmp/claude-0/-home-user-Dom-Manipulation/01edd7ad-16e1-5ac5-9e2e-840f37702b96/scratchpad/img/txt/dbb3f84f150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331720"/>
            <a:ext cx="2953512" cy="33531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960120" y="274018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wilayah dengan stok lengkap; 76% permintaan dipenuhi dari dalam wilayah; same-day facility menyimpan 100.000 item terlaris per wilayah; picking sampai dock 11 menit.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960120" y="3608862"/>
            <a:ext cx="6035040" cy="50292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where kini per wilayah; 100.000 item terlaris adalah Pareto/ABC pada penempatan stok.</a:t>
            </a:r>
            <a:endParaRPr lang="en-US" sz="1200" dirty="0"/>
          </a:p>
        </p:txBody>
      </p:sp>
      <p:pic>
        <p:nvPicPr>
          <p:cNvPr id="11" name="Image 4" descr="/tmp/claude-0/-home-user-Dom-Manipulation/01edd7ad-16e1-5ac5-9e2e-840f37702b96/scratchpad/img/txt/d6cab952a28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386102"/>
            <a:ext cx="1904970" cy="33531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60120" y="4794565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dari satu juta robot; 75% pengiriman melibatkan robot; paket per karyawan per tahun naik dari 175 menjadi 3.870.</a:t>
            </a:r>
            <a:endParaRPr lang="en-US" sz="1200" dirty="0"/>
          </a:p>
        </p:txBody>
      </p:sp>
      <p:sp>
        <p:nvSpPr>
          <p:cNvPr id="13" name="Text 6"/>
          <p:cNvSpPr txBox="1"/>
          <p:nvPr/>
        </p:nvSpPr>
        <p:spPr>
          <a:xfrm>
            <a:off x="960120" y="5434645"/>
            <a:ext cx="6035040" cy="384048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per karyawan adalah single-factor; jangan dibaca sebagai efisiensi total.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4" name="Image 0" descr="/tmp/claude-0/-home-user-Dom-Manipulation/01edd7ad-16e1-5ac5-9e2e-840f37702b96/scratchpad/img/cut/bg_doc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466344"/>
            <a:ext cx="11259007" cy="5925312"/>
          </a:xfrm>
          <a:prstGeom prst="rect">
            <a:avLst/>
          </a:prstGeom>
        </p:spPr>
      </p:pic>
      <p:pic>
        <p:nvPicPr>
          <p:cNvPr id="5" name="Image 1" descr="/tmp/claude-0/-home-user-Dom-Manipulation/01edd7ad-16e1-5ac5-9e2e-840f37702b96/scratchpad/img/txt/6e0cb3269e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77240"/>
            <a:ext cx="2234154" cy="460218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05833fc66b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00200"/>
            <a:ext cx="859536" cy="61566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417320" y="2203704"/>
            <a:ext cx="4937760" cy="384048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PERSEDIAAN BISA MENJADI KEUNGGULAN BERSAING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1417320" y="2624328"/>
            <a:ext cx="49377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Syaratnya dikelola presisi: stok besar yang diketahui lokasinya.</a:t>
            </a:r>
            <a:endParaRPr lang="en-US" sz="1100" dirty="0"/>
          </a:p>
        </p:txBody>
      </p:sp>
      <p:pic>
        <p:nvPicPr>
          <p:cNvPr id="9" name="Image 3" descr="/tmp/claude-0/-home-user-Dom-Manipulation/01edd7ad-16e1-5ac5-9e2e-840f37702b96/scratchpad/img/txt/3b5de7330ea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600200"/>
            <a:ext cx="859536" cy="61566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995160" y="2203704"/>
            <a:ext cx="4937760" cy="384048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CATATAN ADALAH PRASYARAT</a:t>
            </a:r>
            <a:endParaRPr lang="en-US" sz="1300" dirty="0"/>
          </a:p>
        </p:txBody>
      </p:sp>
      <p:sp>
        <p:nvSpPr>
          <p:cNvPr id="11" name="Text 5"/>
          <p:cNvSpPr txBox="1"/>
          <p:nvPr/>
        </p:nvSpPr>
        <p:spPr>
          <a:xfrm>
            <a:off x="6995160" y="2624328"/>
            <a:ext cx="49377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dulu, model kemudian.</a:t>
            </a:r>
            <a:endParaRPr lang="en-US" sz="1100" dirty="0"/>
          </a:p>
        </p:txBody>
      </p:sp>
      <p:pic>
        <p:nvPicPr>
          <p:cNvPr id="12" name="Image 4" descr="/tmp/claude-0/-home-user-Dom-Manipulation/01edd7ad-16e1-5ac5-9e2e-840f37702b96/scratchpad/img/txt/5b7385603a5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200400"/>
            <a:ext cx="859536" cy="61566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417320" y="3803904"/>
            <a:ext cx="4937760" cy="384048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DIBANGUN DARI DALAM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1417320" y="4224528"/>
            <a:ext cx="49377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stok dan proses pendek memungkinkan moda kirim murah.</a:t>
            </a:r>
            <a:endParaRPr lang="en-US" sz="1100" dirty="0"/>
          </a:p>
        </p:txBody>
      </p:sp>
      <p:pic>
        <p:nvPicPr>
          <p:cNvPr id="15" name="Image 5" descr="/tmp/claude-0/-home-user-Dom-Manipulation/01edd7ad-16e1-5ac5-9e2e-840f37702b96/scratchpad/img/txt/1d941eeb9a6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200400"/>
            <a:ext cx="859536" cy="615666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6995160" y="3803904"/>
            <a:ext cx="4937760" cy="384048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BERLAPIS, BUKAN TRADE-OFF</a:t>
            </a:r>
            <a:endParaRPr lang="en-US" sz="1300" dirty="0"/>
          </a:p>
        </p:txBody>
      </p:sp>
      <p:sp>
        <p:nvSpPr>
          <p:cNvPr id="17" name="Text 9"/>
          <p:cNvSpPr txBox="1"/>
          <p:nvPr/>
        </p:nvSpPr>
        <p:spPr>
          <a:xfrm>
            <a:off x="6995160" y="4224528"/>
            <a:ext cx="49377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kesalahan lebih besar dari biaya kontrol; kerjakan saja.</a:t>
            </a:r>
            <a:endParaRPr lang="en-US" sz="1100" dirty="0"/>
          </a:p>
        </p:txBody>
      </p:sp>
      <p:pic>
        <p:nvPicPr>
          <p:cNvPr id="18" name="Image 6" descr="/tmp/claude-0/-home-user-Dom-Manipulation/01edd7ad-16e1-5ac5-9e2e-840f37702b96/scratchpad/img/txt/eabe8e55bb7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800600"/>
            <a:ext cx="859536" cy="615666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417320" y="5404104"/>
            <a:ext cx="4937760" cy="384048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OTOMASI DIBENARKAN OLEH VOLUME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1417320" y="5824728"/>
            <a:ext cx="49377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Penghematan kecil per pesanan hanya berarti pada volume besar.</a:t>
            </a:r>
            <a:endParaRPr lang="en-US" sz="1100" dirty="0"/>
          </a:p>
        </p:txBody>
      </p:sp>
      <p:pic>
        <p:nvPicPr>
          <p:cNvPr id="21" name="Image 7" descr="/tmp/claude-0/-home-user-Dom-Manipulation/01edd7ad-16e1-5ac5-9e2e-840f37702b96/scratchpad/img/txt/6533abe200c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800600"/>
            <a:ext cx="859536" cy="615666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6995160" y="5404104"/>
            <a:ext cx="4937760" cy="384048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YANG TERSISA DIPILIH SADAR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6995160" y="5824728"/>
            <a:ext cx="49377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cost tinggi diterima karena biaya kekosongan signifikan.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52400" dist="50800" dir="3600000">
              <a:srgbClr val="000000">
                <a:alpha val="14000"/>
              </a:srgbClr>
            </a:outerShdw>
          </a:effectLst>
        </p:spPr>
      </p:sp>
      <p:pic>
        <p:nvPicPr>
          <p:cNvPr id="3" name="Image 0" descr="/tmp/claude-0/-home-user-Dom-Manipulation/01edd7ad-16e1-5ac5-9e2e-840f37702b96/scratchpad/img/cut/map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457200" y="457200"/>
            <a:ext cx="11277295" cy="5943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68735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5" name="Image 1" descr="/tmp/claude-0/-home-user-Dom-Manipulation/01edd7ad-16e1-5ac5-9e2e-840f37702b96/scratchpad/img/cut/sky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72968"/>
            <a:ext cx="8957426" cy="3291840"/>
          </a:xfrm>
          <a:prstGeom prst="rect">
            <a:avLst/>
          </a:prstGeom>
        </p:spPr>
      </p:pic>
      <p:pic>
        <p:nvPicPr>
          <p:cNvPr id="6" name="Image 2" descr="/tmp/claude-0/-home-user-Dom-Manipulation/01edd7ad-16e1-5ac5-9e2e-840f37702b96/scratchpad/img/txt/88c5bd880e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731520"/>
            <a:ext cx="606522" cy="957102"/>
          </a:xfrm>
          <a:prstGeom prst="rect">
            <a:avLst/>
          </a:prstGeom>
        </p:spPr>
      </p:pic>
      <p:pic>
        <p:nvPicPr>
          <p:cNvPr id="7" name="Image 3" descr="/tmp/claude-0/-home-user-Dom-Manipulation/01edd7ad-16e1-5ac5-9e2e-840f37702b96/scratchpad/img/txt/f068553cc1a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822960"/>
            <a:ext cx="3880074" cy="957102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5806440" y="2011680"/>
            <a:ext cx="1234440" cy="274320"/>
          </a:xfrm>
          <a:prstGeom prst="rect">
            <a:avLst/>
          </a:prstGeom>
          <a:solidFill>
            <a:srgbClr val="E8A0A8"/>
          </a:solidFill>
          <a:ln/>
        </p:spPr>
        <p:txBody>
          <a:bodyPr wrap="square" lIns="381" tIns="1270" rIns="1270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4</a:t>
            </a:r>
            <a:endParaRPr lang="en-US" sz="1100" dirty="0"/>
          </a:p>
        </p:txBody>
      </p:sp>
      <p:sp>
        <p:nvSpPr>
          <p:cNvPr id="9" name="Text 3"/>
          <p:cNvSpPr txBox="1"/>
          <p:nvPr/>
        </p:nvSpPr>
        <p:spPr>
          <a:xfrm>
            <a:off x="7178040" y="19933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Bagaskoro  ·  Aulia Sisca Rahmadiyanti  ·  Fitra Aidila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5806440" y="2377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4 · Inventory Management di Amazon · Operations &amp; Technology Management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sebagai Keunggulan Kompetitif Amazon</dc:title>
  <dc:subject>PptxGenJS Presentation</dc:subject>
  <dc:creator>Kelompok 4</dc:creator>
  <cp:lastModifiedBy>Kelompok 4</cp:lastModifiedBy>
  <cp:revision>1</cp:revision>
  <dcterms:created xsi:type="dcterms:W3CDTF">2026-09-08T02:17:05Z</dcterms:created>
  <dcterms:modified xsi:type="dcterms:W3CDTF">2026-09-08T02:17:05Z</dcterms:modified>
</cp:coreProperties>
</file>