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e04c544b-8b88-361d-4209-e79d4ba524af}">
          <p14:sldIdLst>
            <p14:sldId id="256"/>
            <p14:sldId id="257"/>
          </p14:sldIdLst>
        </p14:section>
        <p14:section name="Profil" id="{d5151d1e-c037-b840-7435-e6de2e85f585}">
          <p14:sldIdLst>
            <p14:sldId id="258"/>
            <p14:sldId id="259"/>
            <p14:sldId id="260"/>
          </p14:sldIdLst>
        </p14:section>
        <p14:section name="MRP dan ERP" id="{5f1faa74-4a9d-6652-2992-93e03bd8e2c5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equencing and Scheduling" id="{648bc752-9a5d-1a6d-cec2-e0c6fa669262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enutup" id="{844f86eb-39b1-609d-7b25-b829c98cbb8f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C14"/>
                </a:solidFill>
                <a:latin typeface="+mn-lt"/>
              </a:rPr>
              <a:t>Ketepatan waktu kedatangan 2024 (%), lima besar Amerika Utara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Ketepatan waktu kedatangan 2024 (%)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</c:v>
                  </c:pt>
                  <c:pt idx="1">
                    <c:v>United</c:v>
                  </c:pt>
                  <c:pt idx="2">
                    <c:v>Alaska</c:v>
                  </c:pt>
                  <c:pt idx="3">
                    <c:v>American</c:v>
                  </c:pt>
                  <c:pt idx="4">
                    <c:v>Southwest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83.46</c:v>
                </c:pt>
                <c:pt idx="1">
                  <c:v>80.93</c:v>
                </c:pt>
                <c:pt idx="2">
                  <c:v>79.25</c:v>
                </c:pt>
                <c:pt idx="3">
                  <c:v>77.78</c:v>
                </c:pt>
                <c:pt idx="4">
                  <c:v>77.77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C14"/>
                </a:solidFill>
                <a:latin typeface="+mn-lt"/>
              </a:rPr>
              <a:t>Waktu penyelesaian rata-rata (hari)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Waktu penyelesaian rata-rata (hari)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SPT</c:v>
                  </c:pt>
                  <c:pt idx="2">
                    <c:v>EDD</c:v>
                  </c:pt>
                  <c:pt idx="3">
                    <c:v>LPT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13</c:v>
                </c:pt>
                <c:pt idx="2">
                  <c:v>13.6</c:v>
                </c:pt>
                <c:pt idx="3">
                  <c:v>20.6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judul dengan presenter dan NIM. Studi kasus 5 Alaska Airlines, Sesi 7 Planning and Control: subtopik MRP dan ERP serta Sequencing and Scheduling.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pembahasan empat langkah, mengikuti dua subtopik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 Alaska Airlines: Alaska Air Group fact sheet; Heizer et al. (2017); rilis SOC 29 Oktober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Skala operasi dan ketepatan waktu (Cirium 2024). Sumber angka: Alaska Air Group fact sheet; Aviacionline (2025); Heizer et al. (2017).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sumber gangguan rencana: cuaca, geografi, kegagalan sistem 2025, grounding MAX 9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Rantai turunan: flight timetable → rencana perawatan → work package → kebutuhan bersih.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net requirements plan brake assembly untuk heavy check (lot-for-lot, lead time 2 minggu).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MAX 9 (Januari 2024) sebagai lonjakan kebutuhan; Tailsight (April 2026) sebagai perencanaan berbasis kapasitas. Sumber: CNBC, ADN (2024); Alaska Airlines newsroom (2026).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 operasi terintegrasi Alaska dan nilai integrasi yang terbukti.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outage 2025 sebagai bukti risiko integrasi. Sumber: CBS News (Juli 2025); GeekWire (Oktober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objek penjadwalan harian Alaska (Heizer et al., 2017, Tabel 15.1).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hari badai Desember di Seattle: lima titik waktu (Heizer et al., 2017, hlm. 600).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Flight Operations Department (lampu andon) dan penjadwalan kru dengan kendala legalitas. Sumber: Heizer et al. (2017); Halldale (2024).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prioritas pada lima paket pekerjaan hangar (data HRM Contoh 15.4) dan critical ratio untuk AOG.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Johnson's rule pada alur inspeksi lalu perbaikan (HRM Contoh 15.6) dan jadwal siklis petugas gate (HRM Contoh 15.8).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Evaluasi dan empat rekomendasi dengan indikator.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kesimpulan dan angka kunci. Referensi: Heizer, J., Render, B., &amp; Munson, C. (2017). Operations Management (12th ed.), Bab 14–15, Global Company Profile Alaska Airlines hlm. 600–602. Pearson. | Slack, N., Brandon-Jones, A., &amp; Burgess, N. (2022). Operations Management (10th ed.), Bab 10 &amp; 14. Pearson. | Alaska Airlines (2026, 16 April). Alaska Airlines and Tailsight launch AI-powered maintenance planning solution. | Alaska Airlines (2025, 29 Oktober). Alaska Airlines and Hawaiian Airlines reach major integration milestone: a single operating certificate. | Alaska Air Group fact sheet. | Cirium (2025). 2024 On-Time Performance Review (via Fox Business). | GeekWire (Okt 2025); CBS News (Jul 2025) tentang outage. | CNBC (25 Jan 2024); Anchorage Daily News (6 Jan 2024) tentang grounding 737 MAX 9. | Aviacionline (2025) armada akhir 2024. | Halldale (2024) Fox TMS.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/>
          <p:nvPr/>
        </p:nvSpPr>
        <p:spPr>
          <a:xfrm>
            <a:off x="548640" y="548640"/>
            <a:ext cx="6035040" cy="384048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" name="tag label"/>
          <p:cNvSpPr txBox="1"/>
          <p:nvPr/>
        </p:nvSpPr>
        <p:spPr>
          <a:xfrm>
            <a:off x="548640" y="5486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STUDI KASUS 5  ·  OPERATIONS &amp; TECHNOLOGY MANAGEMENT  ·  SESI 7</a:t>
            </a:r>
            <a:endParaRPr lang="en-US" sz="1400" dirty="0"/>
          </a:p>
        </p:txBody>
      </p:sp>
      <p:sp>
        <p:nvSpPr>
          <p:cNvPr id="5" name="headline"/>
          <p:cNvSpPr txBox="1"/>
          <p:nvPr/>
        </p:nvSpPr>
        <p:spPr>
          <a:xfrm>
            <a:off x="548640" y="1097280"/>
            <a:ext cx="43975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PLANNING AND</a:t>
            </a:r>
            <a:endParaRPr lang="en-US" sz="6000" dirty="0"/>
          </a:p>
        </p:txBody>
      </p:sp>
      <p:sp>
        <p:nvSpPr>
          <p:cNvPr id="6" name="headline"/>
          <p:cNvSpPr txBox="1"/>
          <p:nvPr/>
        </p:nvSpPr>
        <p:spPr>
          <a:xfrm>
            <a:off x="548640" y="1911096"/>
            <a:ext cx="3526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CONTROL DI</a:t>
            </a:r>
            <a:endParaRPr lang="en-US" sz="6000" dirty="0"/>
          </a:p>
        </p:txBody>
      </p:sp>
      <p:sp>
        <p:nvSpPr>
          <p:cNvPr id="7" name="highlight"/>
          <p:cNvSpPr/>
          <p:nvPr/>
        </p:nvSpPr>
        <p:spPr>
          <a:xfrm>
            <a:off x="411480" y="2756002"/>
            <a:ext cx="516560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8" name="headline"/>
          <p:cNvSpPr txBox="1"/>
          <p:nvPr/>
        </p:nvSpPr>
        <p:spPr>
          <a:xfrm>
            <a:off x="548640" y="2724912"/>
            <a:ext cx="51656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6000" dirty="0"/>
          </a:p>
        </p:txBody>
      </p:sp>
      <p:sp>
        <p:nvSpPr>
          <p:cNvPr id="9" name="text"/>
          <p:cNvSpPr txBox="1"/>
          <p:nvPr/>
        </p:nvSpPr>
        <p:spPr>
          <a:xfrm>
            <a:off x="548640" y="3657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MRP dan ERP  ·  Sequencing and Scheduling</a:t>
            </a:r>
            <a:endParaRPr lang="en-US" sz="2200" dirty="0"/>
          </a:p>
        </p:txBody>
      </p:sp>
      <p:sp>
        <p:nvSpPr>
          <p:cNvPr id="10" name="burst"/>
          <p:cNvSpPr/>
          <p:nvPr/>
        </p:nvSpPr>
        <p:spPr>
          <a:xfrm>
            <a:off x="6949440" y="3675888"/>
            <a:ext cx="365760" cy="36576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1" name="icon FaAsteris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9907" y="3756355"/>
            <a:ext cx="204826" cy="204826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48640" y="4251960"/>
            <a:ext cx="6858000" cy="1920240"/>
          </a:xfrm>
          <a:prstGeom prst="roundRect">
            <a:avLst>
              <a:gd name="adj" fmla="val 10476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PRESENTER</a:t>
            </a:r>
            <a:endParaRPr lang="en-US" sz="2000" dirty="0"/>
          </a:p>
        </p:txBody>
      </p:sp>
      <p:sp>
        <p:nvSpPr>
          <p:cNvPr id="14" name="text"/>
          <p:cNvSpPr txBox="1"/>
          <p:nvPr/>
        </p:nvSpPr>
        <p:spPr>
          <a:xfrm>
            <a:off x="82296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Aslih Abnuri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82296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25/574338/PEK/31801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416052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Happy Dinithasari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416052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25/574400/PEK/31831</a:t>
            </a:r>
            <a:endParaRPr lang="en-US" sz="1400" dirty="0"/>
          </a:p>
        </p:txBody>
      </p:sp>
      <p:sp>
        <p:nvSpPr>
          <p:cNvPr id="18" name="text"/>
          <p:cNvSpPr txBox="1"/>
          <p:nvPr/>
        </p:nvSpPr>
        <p:spPr>
          <a:xfrm>
            <a:off x="82296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Juan Bagas Prayogo</a:t>
            </a:r>
            <a:endParaRPr lang="en-US" sz="1600" dirty="0"/>
          </a:p>
        </p:txBody>
      </p:sp>
      <p:sp>
        <p:nvSpPr>
          <p:cNvPr id="19" name="text"/>
          <p:cNvSpPr txBox="1"/>
          <p:nvPr/>
        </p:nvSpPr>
        <p:spPr>
          <a:xfrm>
            <a:off x="82296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25/573847/PEK/31678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416052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Riska Novalita</a:t>
            </a:r>
            <a:endParaRPr lang="en-US" sz="1600" dirty="0"/>
          </a:p>
        </p:txBody>
      </p:sp>
      <p:sp>
        <p:nvSpPr>
          <p:cNvPr id="21" name="text"/>
          <p:cNvSpPr txBox="1"/>
          <p:nvPr/>
        </p:nvSpPr>
        <p:spPr>
          <a:xfrm>
            <a:off x="416052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25/574037/PEK/31724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548640" y="6309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Dosen Pengampu: Prof. Nur Aini Masruroh, S.T., M.Sc., Ph.D.</a:t>
            </a:r>
            <a:endParaRPr lang="en-US" sz="1400" dirty="0"/>
          </a:p>
        </p:txBody>
      </p:sp>
      <p:pic>
        <p:nvPicPr>
          <p:cNvPr id="23" name="foto pesawat di gate malam hari" descr="/tmp/claude-0/-home-user-Dom-Manipulation/385e5267-c23e-5c04-80f5-d5fb4946a902/scratchpad/build/img4/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502920"/>
            <a:ext cx="3913632" cy="5221224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726680" y="5852160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 darat Alaska Airlines di Seattle–Tacoma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43623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1832471" y="527792"/>
            <a:ext cx="3199194" cy="572049"/>
          </a:xfrm>
          <a:prstGeom prst="roundRect">
            <a:avLst>
              <a:gd name="adj" fmla="val 1278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1942199" y="502920"/>
            <a:ext cx="32540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PEMBAHASAN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Langsung pada kasus, mengikuti dua subtopik sesi. Setiap langkah memakai temuan langkah sebelumnya.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2647874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10" name="heading"/>
          <p:cNvSpPr txBox="1"/>
          <p:nvPr/>
        </p:nvSpPr>
        <p:spPr>
          <a:xfrm>
            <a:off x="822960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PROFIL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PERMASALAHAN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Skala operasi Alaska Airlines dan empat sumber gangguan terhadap rencana.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3379394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dot"/>
          <p:cNvSpPr/>
          <p:nvPr/>
        </p:nvSpPr>
        <p:spPr>
          <a:xfrm>
            <a:off x="5478628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3653714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5" name="heading"/>
          <p:cNvSpPr txBox="1"/>
          <p:nvPr/>
        </p:nvSpPr>
        <p:spPr>
          <a:xfrm>
            <a:off x="3653714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2600" dirty="0"/>
          </a:p>
        </p:txBody>
      </p:sp>
      <p:sp>
        <p:nvSpPr>
          <p:cNvPr id="16" name="text"/>
          <p:cNvSpPr txBox="1"/>
          <p:nvPr/>
        </p:nvSpPr>
        <p:spPr>
          <a:xfrm>
            <a:off x="3653714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ke suku cadang, lalu ke satu basis data operasi.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210148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dot"/>
          <p:cNvSpPr/>
          <p:nvPr/>
        </p:nvSpPr>
        <p:spPr>
          <a:xfrm>
            <a:off x="8309381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6484468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20" name="heading"/>
          <p:cNvSpPr txBox="1"/>
          <p:nvPr/>
        </p:nvSpPr>
        <p:spPr>
          <a:xfrm>
            <a:off x="6484468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SCHEDULING</a:t>
            </a:r>
            <a:endParaRPr lang="en-US" sz="2600" dirty="0"/>
          </a:p>
        </p:txBody>
      </p:sp>
      <p:sp>
        <p:nvSpPr>
          <p:cNvPr id="21" name="text"/>
          <p:cNvSpPr txBox="1"/>
          <p:nvPr/>
        </p:nvSpPr>
        <p:spPr>
          <a:xfrm>
            <a:off x="6484468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pesawat, kru, hangar, dan staf darat, termasuk saat badai.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9040901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dot"/>
          <p:cNvSpPr/>
          <p:nvPr/>
        </p:nvSpPr>
        <p:spPr>
          <a:xfrm>
            <a:off x="11140135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heading"/>
          <p:cNvSpPr txBox="1"/>
          <p:nvPr/>
        </p:nvSpPr>
        <p:spPr>
          <a:xfrm>
            <a:off x="9315221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5" name="heading"/>
          <p:cNvSpPr txBox="1"/>
          <p:nvPr/>
        </p:nvSpPr>
        <p:spPr>
          <a:xfrm>
            <a:off x="9315221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2600" dirty="0"/>
          </a:p>
        </p:txBody>
      </p:sp>
      <p:sp>
        <p:nvSpPr>
          <p:cNvPr id="26" name="text"/>
          <p:cNvSpPr txBox="1"/>
          <p:nvPr/>
        </p:nvSpPr>
        <p:spPr>
          <a:xfrm>
            <a:off x="9315221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Apa yang kuat, apa yang lemah, dan apa yang perlu dibenahi.</a:t>
            </a:r>
            <a:endParaRPr lang="en-US" sz="16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Bacaan pendukung: Heizer, Render &amp; Munson (2017) Bab 14–15  ·  Slack, Brandon-Jones &amp; Burgess (2022) Bab 10 &amp; 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33052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TENTANG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2726769" y="527792"/>
            <a:ext cx="4132524" cy="572049"/>
          </a:xfrm>
          <a:prstGeom prst="roundRect">
            <a:avLst>
              <a:gd name="adj" fmla="val 12788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836497" y="502920"/>
            <a:ext cx="41873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6492240" cy="4800600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68680" y="16459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Maskapai berbasis Seattle–Tacoma (SEA) di bawah Alaska Air Group bersama Horizon Air dan, sejak 2024, Hawaiian Airlines: lebih dari 140 destinasi, 30.000 karyawan, dan 392 pesawat pada akhir 2024.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28803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SEA adalah bandara tersibuk ke-15 di AS dengan hujan sekitar 5 inci per bulan saat musim dingin, namun memiliki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tertinggi di AS (85,8%). Alaska mengoperasikan lebih dari separuh penerbangan domestik di sana (Heizer et al., 2017).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44805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29 Oktober 2025: FAA memberikan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bagi Alaska dan Hawaiian. Dua merek, satu sistem operasi.</a:t>
            </a:r>
            <a:endParaRPr lang="en-US" sz="1600" dirty="0"/>
          </a:p>
        </p:txBody>
      </p:sp>
      <p:sp>
        <p:nvSpPr>
          <p:cNvPr id="10" name="tag"/>
          <p:cNvSpPr/>
          <p:nvPr/>
        </p:nvSpPr>
        <p:spPr>
          <a:xfrm>
            <a:off x="868680" y="55778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1" name="tag label"/>
          <p:cNvSpPr txBox="1"/>
          <p:nvPr/>
        </p:nvSpPr>
        <p:spPr>
          <a:xfrm>
            <a:off x="868680" y="5577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HUB: SEATTLE–TACOMA</a:t>
            </a:r>
            <a:endParaRPr lang="en-US" sz="1300" dirty="0"/>
          </a:p>
        </p:txBody>
      </p:sp>
      <p:sp>
        <p:nvSpPr>
          <p:cNvPr id="12" name="tag"/>
          <p:cNvSpPr/>
          <p:nvPr/>
        </p:nvSpPr>
        <p:spPr>
          <a:xfrm>
            <a:off x="3383280" y="557784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3383280" y="5577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ALASKA · HORIZON · HAWAIIAN</a:t>
            </a:r>
            <a:endParaRPr lang="en-US" sz="1300" dirty="0"/>
          </a:p>
        </p:txBody>
      </p:sp>
      <p:pic>
        <p:nvPicPr>
          <p:cNvPr id="14" name="foto apron bandara saat matahari terbit" descr="/tmp/claude-0/-home-user-Dom-Manipulation/385e5267-c23e-5c04-80f5-d5fb4946a902/scratchpad/build/img4/ap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17320"/>
            <a:ext cx="4370832" cy="3273552"/>
          </a:xfrm>
          <a:prstGeom prst="rect">
            <a:avLst/>
          </a:prstGeom>
        </p:spPr>
      </p:pic>
      <p:sp>
        <p:nvSpPr>
          <p:cNvPr id="15" name="card"/>
          <p:cNvSpPr/>
          <p:nvPr/>
        </p:nvSpPr>
        <p:spPr>
          <a:xfrm>
            <a:off x="7269480" y="4846320"/>
            <a:ext cx="4370832" cy="1371600"/>
          </a:xfrm>
          <a:prstGeom prst="roundRect">
            <a:avLst>
              <a:gd name="adj" fmla="val 14667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7498080" y="48463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"Alaska menemukan keunggulan kompetitif pada kemampuannya melakukan penyesuaian menit terakhir." — Heizer et al. (2017)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7628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SKALA OPERASI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5159077" y="527792"/>
            <a:ext cx="4494018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5268805" y="502920"/>
            <a:ext cx="45488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77724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392</a:t>
            </a:r>
            <a:endParaRPr lang="en-US" sz="4000" dirty="0"/>
          </a:p>
        </p:txBody>
      </p:sp>
      <p:sp>
        <p:nvSpPr>
          <p:cNvPr id="8" name="heading"/>
          <p:cNvSpPr txBox="1"/>
          <p:nvPr/>
        </p:nvSpPr>
        <p:spPr>
          <a:xfrm>
            <a:off x="7772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PESAWAT (AKHIR 2024)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370332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393192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4.500+</a:t>
            </a:r>
            <a:endParaRPr lang="en-US" sz="4000" dirty="0"/>
          </a:p>
        </p:txBody>
      </p:sp>
      <p:sp>
        <p:nvSpPr>
          <p:cNvPr id="11" name="heading"/>
          <p:cNvSpPr txBox="1"/>
          <p:nvPr/>
        </p:nvSpPr>
        <p:spPr>
          <a:xfrm>
            <a:off x="393192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PILOT &amp; AWAK KABIN DIJADWALKAN/HARI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77724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140+</a:t>
            </a:r>
            <a:endParaRPr lang="en-US" sz="4000" dirty="0"/>
          </a:p>
        </p:txBody>
      </p:sp>
      <p:sp>
        <p:nvSpPr>
          <p:cNvPr id="14" name="heading"/>
          <p:cNvSpPr txBox="1"/>
          <p:nvPr/>
        </p:nvSpPr>
        <p:spPr>
          <a:xfrm>
            <a:off x="77724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DESTINASI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370332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393192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30.000+</a:t>
            </a:r>
            <a:endParaRPr lang="en-US" sz="4000" dirty="0"/>
          </a:p>
        </p:txBody>
      </p:sp>
      <p:sp>
        <p:nvSpPr>
          <p:cNvPr id="17" name="heading"/>
          <p:cNvSpPr txBox="1"/>
          <p:nvPr/>
        </p:nvSpPr>
        <p:spPr>
          <a:xfrm>
            <a:off x="393192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KARYAWAN GRUP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54864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77724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&gt;50%</a:t>
            </a:r>
            <a:endParaRPr lang="en-US" sz="4000" dirty="0"/>
          </a:p>
        </p:txBody>
      </p:sp>
      <p:sp>
        <p:nvSpPr>
          <p:cNvPr id="20" name="heading"/>
          <p:cNvSpPr txBox="1"/>
          <p:nvPr/>
        </p:nvSpPr>
        <p:spPr>
          <a:xfrm>
            <a:off x="77724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PENERBANGAN DOMESTIK SEA</a:t>
            </a:r>
            <a:endParaRPr lang="en-US" sz="1700" dirty="0"/>
          </a:p>
        </p:txBody>
      </p:sp>
      <p:sp>
        <p:nvSpPr>
          <p:cNvPr id="21" name="card"/>
          <p:cNvSpPr/>
          <p:nvPr/>
        </p:nvSpPr>
        <p:spPr>
          <a:xfrm>
            <a:off x="370332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393192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4000" dirty="0"/>
          </a:p>
        </p:txBody>
      </p:sp>
      <p:sp>
        <p:nvSpPr>
          <p:cNvPr id="23" name="heading"/>
          <p:cNvSpPr txBox="1"/>
          <p:nvPr/>
        </p:nvSpPr>
        <p:spPr>
          <a:xfrm>
            <a:off x="393192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HEMAT PER TAHUN DARI PENJADWALAN ULANG</a:t>
            </a:r>
            <a:endParaRPr lang="en-US" sz="1700" dirty="0"/>
          </a:p>
        </p:txBody>
      </p:sp>
      <p:sp>
        <p:nvSpPr>
          <p:cNvPr id="24" name="card"/>
          <p:cNvSpPr/>
          <p:nvPr/>
        </p:nvSpPr>
        <p:spPr>
          <a:xfrm>
            <a:off x="6903720" y="1417320"/>
            <a:ext cx="4739335" cy="48006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25" name="chart ketepatan waktu" descr=""/>
          <p:cNvGraphicFramePr/>
          <p:nvPr/>
        </p:nvGraphicFramePr>
        <p:xfrm>
          <a:off x="7040880" y="1508760"/>
          <a:ext cx="44650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"/>
          <p:cNvSpPr txBox="1"/>
          <p:nvPr/>
        </p:nvSpPr>
        <p:spPr>
          <a:xfrm>
            <a:off x="7040880" y="5669280"/>
            <a:ext cx="4465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Sumber: Cirium 2024 On-Time Performance Review (Jan 2025). Alaska peringkat ke-3.</a:t>
            </a:r>
            <a:endParaRPr lang="en-US" sz="13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E3D3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 angka: Alaska Air Group fact sheet; Aviacionline (2025); Heizer et al. (2017).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59869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EMPAT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1984772" y="525719"/>
            <a:ext cx="4123980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085356" y="502920"/>
            <a:ext cx="419713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SUMBER GANGGUAN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220512" y="502920"/>
            <a:ext cx="445472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TERHADAP RENCANA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number circle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heading"/>
          <p:cNvSpPr txBox="1"/>
          <p:nvPr/>
        </p:nvSpPr>
        <p:spPr>
          <a:xfrm>
            <a:off x="1645920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CUACA SEATTLE</a:t>
            </a:r>
            <a:endParaRPr lang="en-US" sz="28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badai Desember memaksa rencana pembatalan 50–80% penerbangan; keputusan direvisi setiap beberapa jam (Heizer et al., 2017).</a:t>
            </a:r>
            <a:endParaRPr lang="en-US" sz="1500" dirty="0"/>
          </a:p>
        </p:txBody>
      </p:sp>
      <p:sp>
        <p:nvSpPr>
          <p:cNvPr id="12" name="tag"/>
          <p:cNvSpPr/>
          <p:nvPr/>
        </p:nvSpPr>
        <p:spPr>
          <a:xfrm>
            <a:off x="822960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822960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6210148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" name="number circle"/>
          <p:cNvSpPr/>
          <p:nvPr/>
        </p:nvSpPr>
        <p:spPr>
          <a:xfrm>
            <a:off x="6484468" y="16459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648446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heading"/>
          <p:cNvSpPr txBox="1"/>
          <p:nvPr/>
        </p:nvSpPr>
        <p:spPr>
          <a:xfrm>
            <a:off x="7307428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GEOGRAFI ALASKA</a:t>
            </a:r>
            <a:endParaRPr lang="en-US" sz="2800" dirty="0"/>
          </a:p>
        </p:txBody>
      </p:sp>
      <p:sp>
        <p:nvSpPr>
          <p:cNvPr id="18" name="text"/>
          <p:cNvSpPr txBox="1"/>
          <p:nvPr/>
        </p:nvSpPr>
        <p:spPr>
          <a:xfrm>
            <a:off x="6484468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Juneau (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wind shear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), Sitka (landasan tunggal di tanah sempit), Kodiak (hanya kapten boleh mendarat): pesawat dan kru tidak bebas ditugaskan.</a:t>
            </a:r>
            <a:endParaRPr lang="en-US" sz="1500" dirty="0"/>
          </a:p>
        </p:txBody>
      </p:sp>
      <p:sp>
        <p:nvSpPr>
          <p:cNvPr id="19" name="tag"/>
          <p:cNvSpPr/>
          <p:nvPr/>
        </p:nvSpPr>
        <p:spPr>
          <a:xfrm>
            <a:off x="6484468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0" name="tag label"/>
          <p:cNvSpPr txBox="1"/>
          <p:nvPr/>
        </p:nvSpPr>
        <p:spPr>
          <a:xfrm>
            <a:off x="6484468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 KRU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548640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" name="number circle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8229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2600" dirty="0"/>
          </a:p>
        </p:txBody>
      </p:sp>
      <p:sp>
        <p:nvSpPr>
          <p:cNvPr id="24" name="heading"/>
          <p:cNvSpPr txBox="1"/>
          <p:nvPr/>
        </p:nvSpPr>
        <p:spPr>
          <a:xfrm>
            <a:off x="1645920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KEGAGALAN SISTEM 2025</a:t>
            </a:r>
            <a:endParaRPr lang="en-US" sz="2800" dirty="0"/>
          </a:p>
        </p:txBody>
      </p:sp>
      <p:sp>
        <p:nvSpPr>
          <p:cNvPr id="25" name="text"/>
          <p:cNvSpPr txBox="1"/>
          <p:nvPr/>
        </p:nvSpPr>
        <p:spPr>
          <a:xfrm>
            <a:off x="822960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 Juli: perangkat keras pusat data gagal,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jam, &gt;150 pembatalan. 23 Oktober: pusat data utama gagal, ±8 jam, &gt;400 pembatalan, ±49.000 penumpang.</a:t>
            </a:r>
            <a:endParaRPr lang="en-US" sz="1500" dirty="0"/>
          </a:p>
        </p:txBody>
      </p:sp>
      <p:sp>
        <p:nvSpPr>
          <p:cNvPr id="26" name="tag"/>
          <p:cNvSpPr/>
          <p:nvPr/>
        </p:nvSpPr>
        <p:spPr>
          <a:xfrm>
            <a:off x="822960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7" name="tag label"/>
          <p:cNvSpPr txBox="1"/>
          <p:nvPr/>
        </p:nvSpPr>
        <p:spPr>
          <a:xfrm>
            <a:off x="822960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ERP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210148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9" name="number circle"/>
          <p:cNvSpPr/>
          <p:nvPr/>
        </p:nvSpPr>
        <p:spPr>
          <a:xfrm>
            <a:off x="6484468" y="41605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6484468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heading"/>
          <p:cNvSpPr txBox="1"/>
          <p:nvPr/>
        </p:nvSpPr>
        <p:spPr>
          <a:xfrm>
            <a:off x="7307428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2800" dirty="0"/>
          </a:p>
        </p:txBody>
      </p:sp>
      <p:sp>
        <p:nvSpPr>
          <p:cNvPr id="32" name="text"/>
          <p:cNvSpPr txBox="1"/>
          <p:nvPr/>
        </p:nvSpPr>
        <p:spPr>
          <a:xfrm>
            <a:off x="6484468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Januari 2024: 65 pesawat diinspeksi serentak, sekitar 3.000 pembatalan dalam sebulan, dampak sekitar US$150 juta.</a:t>
            </a:r>
            <a:endParaRPr lang="en-US" sz="1500" dirty="0"/>
          </a:p>
        </p:txBody>
      </p:sp>
      <p:sp>
        <p:nvSpPr>
          <p:cNvPr id="33" name="tag"/>
          <p:cNvSpPr/>
          <p:nvPr/>
        </p:nvSpPr>
        <p:spPr>
          <a:xfrm>
            <a:off x="6484468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6484468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MRP PERAWATAN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hangar perawatan malam hari" descr="/tmp/claude-0/-home-user-Dom-Manipulation/385e5267-c23e-5c04-80f5-d5fb4946a902/scratchpad/build/img4/div_hang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1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3931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menjadi kebutuhan perawatan dan suku cadang, lalu menjadi satu basis data operasi.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72516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DARI JADWAL PENERBANGAN KE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111246" y="525719"/>
            <a:ext cx="3022572" cy="524378"/>
          </a:xfrm>
          <a:prstGeom prst="roundRect">
            <a:avLst>
              <a:gd name="adj" fmla="val 1395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211830" y="502920"/>
            <a:ext cx="3095724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SUKU CADANG</a:t>
            </a:r>
            <a:endParaRPr lang="en-US" sz="44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Permintaan suku cadang dihitung dari jadwal, bukan diramalkan (</a:t>
            </a:r>
            <a:r>
              <a:rPr lang="en-US" sz="18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dependent demand</a:t>
            </a: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Rantainya berjalan dalam empat langkah.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TIMETABLE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Jadwal terpublikasi berfungsi sebagai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master schedule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pesawat, rute, jam, dan siklus.</a:t>
            </a:r>
            <a:endParaRPr lang="en-US" sz="1500" dirty="0"/>
          </a:p>
        </p:txBody>
      </p:sp>
      <p:sp>
        <p:nvSpPr>
          <p:cNvPr id="11" name="arrow"/>
          <p:cNvSpPr/>
          <p:nvPr/>
        </p:nvSpPr>
        <p:spPr>
          <a:xfrm>
            <a:off x="3178226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2" name="card"/>
          <p:cNvSpPr/>
          <p:nvPr/>
        </p:nvSpPr>
        <p:spPr>
          <a:xfrm>
            <a:off x="3379394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3653714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4" name="heading"/>
          <p:cNvSpPr txBox="1"/>
          <p:nvPr/>
        </p:nvSpPr>
        <p:spPr>
          <a:xfrm>
            <a:off x="3653714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RENCANA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3653714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terbang dan siklus per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 number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menentukan kapan 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jatuh tempo.</a:t>
            </a:r>
            <a:endParaRPr lang="en-US" sz="1500" dirty="0"/>
          </a:p>
        </p:txBody>
      </p:sp>
      <p:sp>
        <p:nvSpPr>
          <p:cNvPr id="16" name="arrow"/>
          <p:cNvSpPr/>
          <p:nvPr/>
        </p:nvSpPr>
        <p:spPr>
          <a:xfrm>
            <a:off x="6008980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6210148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6484468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19" name="heading"/>
          <p:cNvSpPr txBox="1"/>
          <p:nvPr/>
        </p:nvSpPr>
        <p:spPr>
          <a:xfrm>
            <a:off x="6484468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WORK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PACKAGE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484468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diurai menjadi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task card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daftar komponen dan jam kerja.</a:t>
            </a:r>
            <a:endParaRPr lang="en-US" sz="1500" dirty="0"/>
          </a:p>
        </p:txBody>
      </p:sp>
      <p:sp>
        <p:nvSpPr>
          <p:cNvPr id="21" name="arrow"/>
          <p:cNvSpPr/>
          <p:nvPr/>
        </p:nvSpPr>
        <p:spPr>
          <a:xfrm>
            <a:off x="8839733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9040901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9315221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4" name="heading"/>
          <p:cNvSpPr txBox="1"/>
          <p:nvPr/>
        </p:nvSpPr>
        <p:spPr>
          <a:xfrm>
            <a:off x="9315221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KEBUTUHAN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BERSIH</a:t>
            </a:r>
            <a:endParaRPr lang="en-US" sz="2600" dirty="0"/>
          </a:p>
        </p:txBody>
      </p:sp>
      <p:sp>
        <p:nvSpPr>
          <p:cNvPr id="25" name="text"/>
          <p:cNvSpPr txBox="1"/>
          <p:nvPr/>
        </p:nvSpPr>
        <p:spPr>
          <a:xfrm>
            <a:off x="9315221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Dikurangi stok dan pesanan berjalan, lalu digeser mundur sebesar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7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jadwal penerbangan merambat ke jatuh tempo perawatan, dan jatuh tempo yang bergeser mengubah kapan suku cadang harus dipesan.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06307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CONTOH: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449155" y="525719"/>
            <a:ext cx="3761296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549739" y="502920"/>
            <a:ext cx="383444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BRAKE ASSEMBLY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322211" y="502920"/>
            <a:ext cx="45190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UNTUK HEAVY CHECK</a:t>
            </a:r>
            <a:endParaRPr lang="en-US" sz="4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13258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unit per paket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heavy check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pemasok 2 minggu; stok awal 6 unit; 4 unit tiba pada minggu 2; kebijakan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lot-for-lot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Rencana perawatan: 2 paket (minggu 5), 1 paket (minggu 7), 2 paket (minggu 8).</a:t>
            </a:r>
            <a:endParaRPr lang="en-US" sz="16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Minggu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Gross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Scheduled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Projected on hand (awal 6)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Net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releases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9" name="card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8333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868680" y="516636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pesanan 2 unit dirilis minggu 5 dan 8 unit minggu 6 agar tiba tepat pada minggu 7 dan 8. Terlambat berarti pesawat menganggur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); terlalu awal berarti stok menumpuk. Pada 392 pesawat, logika ini berjalan untuk ribuan komponen.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9537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PERENCANAAN PERAWATAN: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81452" y="525719"/>
            <a:ext cx="3004653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82036" y="502920"/>
            <a:ext cx="307780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2024 VS 2026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68680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6868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JANUARI 2024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68680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3000" dirty="0"/>
          </a:p>
        </p:txBody>
      </p:sp>
      <p:sp>
        <p:nvSpPr>
          <p:cNvPr id="10" name="text"/>
          <p:cNvSpPr txBox="1"/>
          <p:nvPr/>
        </p:nvSpPr>
        <p:spPr>
          <a:xfrm>
            <a:off x="868680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Setelah insiden 5 Januari 2024, 65 pesawat MAX 9 dikandangkan dan diinspeksi serentak. Kebutuhan melonjak pada satu periode: kapasitas hangar dan teknisi dijadwalkan ulang, sekitar 150 penerbangan per hari dibatalkan selama tiga minggu, dampak sekitar US$150 juta. Pesawat pertama kembali terbang 26 Januari.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6233008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6553048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6553048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6553048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KEMITRAAN TAILSIGHT</a:t>
            </a:r>
            <a:endParaRPr lang="en-US" sz="3000" dirty="0"/>
          </a:p>
        </p:txBody>
      </p:sp>
      <p:sp>
        <p:nvSpPr>
          <p:cNvPr id="15" name="text"/>
          <p:cNvSpPr txBox="1"/>
          <p:nvPr/>
        </p:nvSpPr>
        <p:spPr>
          <a:xfrm>
            <a:off x="6553048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Platform optimasi perencanaan perawatan: menggabungkan data sistem perawatan, jadwal penerbangan, staf,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station capability rules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dan ketersediaan suku cadang menjadi rencana yang memperhitungkan tenaga kerja dan kesiapan pesawat. Target: utilisasi naik, waktu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turun.</a:t>
            </a:r>
            <a:endParaRPr lang="en-US" sz="1550" dirty="0"/>
          </a:p>
        </p:txBody>
      </p:sp>
      <p:sp>
        <p:nvSpPr>
          <p:cNvPr id="16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Pergeseran: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dari perencanaan yang mengabaikan kapasitas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infinite loading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 menuju perencanaan tertutup berkapasitas berhingga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closed-loop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6802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 SISTEM ALA ERP: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54108" y="525719"/>
            <a:ext cx="3660747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54692" y="502920"/>
            <a:ext cx="373389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BASIS DATA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12064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line"/>
          <p:cNvSpPr/>
          <p:nvPr/>
        </p:nvSpPr>
        <p:spPr>
          <a:xfrm flipH="1">
            <a:off x="3108960" y="2468880"/>
            <a:ext cx="0" cy="1371600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8" name="line"/>
          <p:cNvSpPr/>
          <p:nvPr/>
        </p:nvSpPr>
        <p:spPr>
          <a:xfrm flipH="1">
            <a:off x="3108960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9" name="line"/>
          <p:cNvSpPr/>
          <p:nvPr/>
        </p:nvSpPr>
        <p:spPr>
          <a:xfrm>
            <a:off x="3108960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0" name="line"/>
          <p:cNvSpPr/>
          <p:nvPr/>
        </p:nvSpPr>
        <p:spPr>
          <a:xfrm flipH="1">
            <a:off x="2087765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1" name="line"/>
          <p:cNvSpPr/>
          <p:nvPr/>
        </p:nvSpPr>
        <p:spPr>
          <a:xfrm>
            <a:off x="1456632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2" name="node"/>
          <p:cNvSpPr/>
          <p:nvPr/>
        </p:nvSpPr>
        <p:spPr>
          <a:xfrm>
            <a:off x="2779776" y="2139696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3" name="icon FaTicket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2304288"/>
            <a:ext cx="329184" cy="329184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224028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Reservasi &amp; check-in</a:t>
            </a:r>
            <a:endParaRPr lang="en-US" sz="1400" dirty="0"/>
          </a:p>
        </p:txBody>
      </p:sp>
      <p:sp>
        <p:nvSpPr>
          <p:cNvPr id="15" name="node"/>
          <p:cNvSpPr/>
          <p:nvPr/>
        </p:nvSpPr>
        <p:spPr>
          <a:xfrm>
            <a:off x="4432104" y="3087448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16" name="icon FaUserC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696" y="3252040"/>
            <a:ext cx="329184" cy="329184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3892608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kru</a:t>
            </a:r>
            <a:endParaRPr lang="en-US" sz="1400" dirty="0"/>
          </a:p>
        </p:txBody>
      </p:sp>
      <p:sp>
        <p:nvSpPr>
          <p:cNvPr id="18" name="node"/>
          <p:cNvSpPr/>
          <p:nvPr/>
        </p:nvSpPr>
        <p:spPr>
          <a:xfrm>
            <a:off x="3800971" y="4620944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9" name="icon FaCloudSu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563" y="4785536"/>
            <a:ext cx="329184" cy="329184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326147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Flight dispatch &amp; cuaca</a:t>
            </a:r>
            <a:endParaRPr lang="en-US" sz="1400" dirty="0"/>
          </a:p>
        </p:txBody>
      </p:sp>
      <p:sp>
        <p:nvSpPr>
          <p:cNvPr id="21" name="node"/>
          <p:cNvSpPr/>
          <p:nvPr/>
        </p:nvSpPr>
        <p:spPr>
          <a:xfrm>
            <a:off x="1758581" y="4620944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22" name="icon FaTool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173" y="4785536"/>
            <a:ext cx="329184" cy="329184"/>
          </a:xfrm>
          <a:prstGeom prst="rect">
            <a:avLst/>
          </a:prstGeom>
        </p:spPr>
      </p:pic>
      <p:sp>
        <p:nvSpPr>
          <p:cNvPr id="23" name="text"/>
          <p:cNvSpPr txBox="1"/>
          <p:nvPr/>
        </p:nvSpPr>
        <p:spPr>
          <a:xfrm>
            <a:off x="121908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Perawatan &amp; suku cadang</a:t>
            </a:r>
            <a:endParaRPr lang="en-US" sz="1400" dirty="0"/>
          </a:p>
        </p:txBody>
      </p:sp>
      <p:sp>
        <p:nvSpPr>
          <p:cNvPr id="24" name="node"/>
          <p:cNvSpPr/>
          <p:nvPr/>
        </p:nvSpPr>
        <p:spPr>
          <a:xfrm>
            <a:off x="1127448" y="3087448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25" name="icon FaMoneyCheckA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2040" y="3252040"/>
            <a:ext cx="329184" cy="329184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587952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Keuangan &amp; SDM</a:t>
            </a:r>
            <a:endParaRPr lang="en-US" sz="1400" dirty="0"/>
          </a:p>
        </p:txBody>
      </p:sp>
      <p:sp>
        <p:nvSpPr>
          <p:cNvPr id="27" name="hub"/>
          <p:cNvSpPr/>
          <p:nvPr/>
        </p:nvSpPr>
        <p:spPr>
          <a:xfrm>
            <a:off x="2194560" y="3273552"/>
            <a:ext cx="1828800" cy="1133856"/>
          </a:xfrm>
          <a:prstGeom prst="ellipse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pic>
        <p:nvPicPr>
          <p:cNvPr id="28" name="icon FaDatabas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" y="3383280"/>
            <a:ext cx="329184" cy="329184"/>
          </a:xfrm>
          <a:prstGeom prst="rect">
            <a:avLst/>
          </a:prstGeom>
        </p:spPr>
      </p:pic>
      <p:sp>
        <p:nvSpPr>
          <p:cNvPr id="29" name="heading"/>
          <p:cNvSpPr txBox="1"/>
          <p:nvPr/>
        </p:nvSpPr>
        <p:spPr>
          <a:xfrm>
            <a:off x="2240280" y="37307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BASIS DATA</a:t>
            </a:r>
            <a:endParaRPr lang="en-US" sz="1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OPERASI BERSAMA</a:t>
            </a:r>
            <a:endParaRPr lang="en-US" sz="1600" dirty="0"/>
          </a:p>
        </p:txBody>
      </p:sp>
      <p:sp>
        <p:nvSpPr>
          <p:cNvPr id="30" name="card"/>
          <p:cNvSpPr/>
          <p:nvPr/>
        </p:nvSpPr>
        <p:spPr>
          <a:xfrm>
            <a:off x="5897880" y="1371600"/>
            <a:ext cx="5745175" cy="4892040"/>
          </a:xfrm>
          <a:prstGeom prst="roundRect">
            <a:avLst>
              <a:gd name="adj" fmla="val 411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1" name="heading"/>
          <p:cNvSpPr txBox="1"/>
          <p:nvPr/>
        </p:nvSpPr>
        <p:spPr>
          <a:xfrm>
            <a:off x="6217920" y="160020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NILAI INTEGRASI YANG TERBUKTI</a:t>
            </a:r>
            <a:endParaRPr lang="en-US" sz="2800" dirty="0"/>
          </a:p>
        </p:txBody>
      </p:sp>
      <p:sp>
        <p:nvSpPr>
          <p:cNvPr id="32" name="bullets"/>
          <p:cNvSpPr txBox="1"/>
          <p:nvPr/>
        </p:nvSpPr>
        <p:spPr>
          <a:xfrm>
            <a:off x="6217920" y="2194560"/>
            <a:ext cx="5105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ulang lintas fungsi dalam hitungan jam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cuaca memburuk; taksiran penghematan US$18 juta per tahun (Heizer et al., 2017).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Integrasi Hawaiian Airlines: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29 Oktober 2025 setelah setahun kerja multidepartemen; sistem layanan penumpang tunggal menyusul pada 2026.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Tailsight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memakai data perawatan, jadwal, staf, dan suku cadang sekaligus; nilainya bergantung pada konsistensi data di seluruh sistem.</a:t>
            </a:r>
            <a:endParaRPr lang="en-US" sz="1550" dirty="0"/>
          </a:p>
        </p:txBody>
      </p:sp>
      <p:sp>
        <p:nvSpPr>
          <p:cNvPr id="33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Infrastruktur hibrida: pusat data sendiri untuk beban kritis ditambah layanan cloud (GeekWire, 2025).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00272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RISIKO INTEGRASI: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388802" y="525719"/>
            <a:ext cx="380042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489386" y="502920"/>
            <a:ext cx="387357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DUA OUTAGE 2025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22960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2296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 JULI 2025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PERANGKAT KERAS PUSAT DATA GAGAL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perangkat keras multiredundan gagal; beberapa sistem operasional lumpuh.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 agar pesawat tetap di posisi; &gt;150 pembatalan. Alaska menyatakan telah "mengeraskan" sistemnya.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4129888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4404208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4404208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 OKTOBER 2025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4404208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DATA UTAMA GAGAL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4404208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±8 jam, &gt;400 pembatalan, ±49.000 penumpang terdampak. Bukan serangan siber. Audit seluruh infrastruktur IT oleh pakar eksternal; perangkat keras pusat data diganti.</a:t>
            </a:r>
            <a:endParaRPr lang="en-US" sz="1550" dirty="0"/>
          </a:p>
        </p:txBody>
      </p:sp>
      <p:pic>
        <p:nvPicPr>
          <p:cNvPr id="16" name="foto pusat operasi" descr="/tmp/claude-0/-home-user-Dom-Manipulation/385e5267-c23e-5c04-80f5-d5fb4946a902/scratchpad/build/img4/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135" y="1371600"/>
            <a:ext cx="3931920" cy="2944368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7711135" y="4389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Pusat operasi penerbangan bergantung pada sistem terintegrasi.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Pelajaran: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semakin terintegrasi sistem, semakin besar dampak satu titik kegagalan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point of failure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Nilai integrasi hanya terwujud bila sistemnya tetap hidup.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marshaller malam hari" descr="/tmp/claude-0/-home-user-Dom-Manipulation/385e5267-c23e-5c04-80f5-d5fb4946a902/scratchpad/build/img4/div_marshal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2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8568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AND SCHEDULING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dan menjadwalkan pesawat, kru, hangar, dan staf darat dalam horizon hari dan jam, termasuk ketika cuaca menjadi musuh.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27091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APA YANG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656999" y="525719"/>
            <a:ext cx="3132665" cy="524378"/>
          </a:xfrm>
          <a:prstGeom prst="roundRect">
            <a:avLst>
              <a:gd name="adj" fmla="val 1395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757583" y="502920"/>
            <a:ext cx="32058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DIJADWALKAN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5901424" y="502920"/>
            <a:ext cx="45262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SETIAP HARI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8" name="PESAWAT &amp; PERAWATAN" descr="/tmp/claude-0/-home-user-Dom-Manipulation/385e5267-c23e-5c04-80f5-d5fb4946a902/scratchpad/build/img4/r43_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3058058" cy="2293544"/>
          </a:xfrm>
          <a:prstGeom prst="rect">
            <a:avLst/>
          </a:prstGeom>
        </p:spPr>
      </p:pic>
      <p:sp>
        <p:nvSpPr>
          <p:cNvPr id="9" name="heading"/>
          <p:cNvSpPr txBox="1"/>
          <p:nvPr/>
        </p:nvSpPr>
        <p:spPr>
          <a:xfrm>
            <a:off x="777240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PESAWAT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777240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Sekitar 150 pesawat per hari (Heizer et al., 2017), kini 392 pesawat grup; slot hangar dan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line maintenance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setiap basis.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38218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2" name="KRU &amp; JADWAL KEBERANGKATAN" descr="/tmp/claude-0/-home-user-Dom-Manipulation/385e5267-c23e-5c04-80f5-d5fb4946a902/scratchpad/build/img4/r43_pil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818" y="1600200"/>
            <a:ext cx="3058058" cy="2293544"/>
          </a:xfrm>
          <a:prstGeom prst="rect">
            <a:avLst/>
          </a:prstGeom>
        </p:spPr>
      </p:pic>
      <p:sp>
        <p:nvSpPr>
          <p:cNvPr id="13" name="heading"/>
          <p:cNvSpPr txBox="1"/>
          <p:nvPr/>
        </p:nvSpPr>
        <p:spPr>
          <a:xfrm>
            <a:off x="4566818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KRU &amp; JADWAL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KEBERANGKATAN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4566818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Lebih dari 4.500 pilot dan awak kabin; batas jam tugas FAA, kontrak serikat,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127797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6" name="GATE, TIKET &amp; KATERING" descr="/tmp/claude-0/-home-user-Dom-Manipulation/385e5267-c23e-5c04-80f5-d5fb4946a902/scratchpad/build/img4/r43_bagg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397" y="1600200"/>
            <a:ext cx="3058058" cy="2293544"/>
          </a:xfrm>
          <a:prstGeom prst="rect">
            <a:avLst/>
          </a:prstGeom>
        </p:spPr>
      </p:pic>
      <p:sp>
        <p:nvSpPr>
          <p:cNvPr id="17" name="heading"/>
          <p:cNvSpPr txBox="1"/>
          <p:nvPr/>
        </p:nvSpPr>
        <p:spPr>
          <a:xfrm>
            <a:off x="8356397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GATE, TIKET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KATERING</a:t>
            </a:r>
            <a:endParaRPr lang="en-US" sz="2600" dirty="0"/>
          </a:p>
        </p:txBody>
      </p:sp>
      <p:sp>
        <p:nvSpPr>
          <p:cNvPr id="18" name="text"/>
          <p:cNvSpPr txBox="1"/>
          <p:nvPr/>
        </p:nvSpPr>
        <p:spPr>
          <a:xfrm>
            <a:off x="8356397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staf berubah menurut hari, jam, dan cuaca, termasuk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musim dingin.</a:t>
            </a:r>
            <a:endParaRPr lang="en-US" sz="1500" dirty="0"/>
          </a:p>
        </p:txBody>
      </p:sp>
      <p:sp>
        <p:nvSpPr>
          <p:cNvPr id="19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satu jadwal merambat ke yang lain (ripple effect). Sumber: Heizer et al. (2017), Tabel 15.1.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01422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HARI BADAI DI SEATTLE:</a:t>
            </a:r>
            <a:endParaRPr lang="en-US" sz="4200" dirty="0"/>
          </a:p>
        </p:txBody>
      </p:sp>
      <p:sp>
        <p:nvSpPr>
          <p:cNvPr id="4" name="highlight"/>
          <p:cNvSpPr/>
          <p:nvPr/>
        </p:nvSpPr>
        <p:spPr>
          <a:xfrm>
            <a:off x="6395224" y="524683"/>
            <a:ext cx="4875824" cy="500543"/>
          </a:xfrm>
          <a:prstGeom prst="roundRect">
            <a:avLst>
              <a:gd name="adj" fmla="val 14615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91236" y="502920"/>
            <a:ext cx="49581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DIREVISI 5 KALI</a:t>
            </a:r>
            <a:endParaRPr lang="en-US" sz="4200" dirty="0"/>
          </a:p>
        </p:txBody>
      </p:sp>
      <p:sp>
        <p:nvSpPr>
          <p:cNvPr id="6" name="line"/>
          <p:cNvSpPr/>
          <p:nvPr/>
        </p:nvSpPr>
        <p:spPr>
          <a:xfrm>
            <a:off x="1584930" y="1627632"/>
            <a:ext cx="9021836" cy="0"/>
          </a:xfrm>
          <a:prstGeom prst="line">
            <a:avLst/>
          </a:prstGeom>
          <a:noFill/>
          <a:ln w="31750">
            <a:solidFill>
              <a:srgbClr val="1A1C14"/>
            </a:solidFill>
            <a:prstDash val="solid"/>
          </a:ln>
        </p:spPr>
      </p:sp>
      <p:sp>
        <p:nvSpPr>
          <p:cNvPr id="7" name="dot"/>
          <p:cNvSpPr/>
          <p:nvPr/>
        </p:nvSpPr>
        <p:spPr>
          <a:xfrm>
            <a:off x="1475202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548640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" name="tag"/>
          <p:cNvSpPr/>
          <p:nvPr/>
        </p:nvSpPr>
        <p:spPr>
          <a:xfrm>
            <a:off x="1036290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0" name="tag label"/>
          <p:cNvSpPr txBox="1"/>
          <p:nvPr/>
        </p:nvSpPr>
        <p:spPr>
          <a:xfrm>
            <a:off x="1036290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04.00</a:t>
            </a:r>
            <a:endParaRPr lang="en-US" sz="1500" dirty="0"/>
          </a:p>
        </p:txBody>
      </p:sp>
      <p:sp>
        <p:nvSpPr>
          <p:cNvPr id="11" name="heading"/>
          <p:cNvSpPr txBox="1"/>
          <p:nvPr/>
        </p:nvSpPr>
        <p:spPr>
          <a:xfrm>
            <a:off x="731520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731520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Hujan, kemungkinan salju ringan.</a:t>
            </a:r>
            <a:endParaRPr lang="en-US" sz="1450" dirty="0"/>
          </a:p>
        </p:txBody>
      </p:sp>
      <p:sp>
        <p:nvSpPr>
          <p:cNvPr id="13" name="heading"/>
          <p:cNvSpPr txBox="1"/>
          <p:nvPr/>
        </p:nvSpPr>
        <p:spPr>
          <a:xfrm>
            <a:off x="731520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14" name="text"/>
          <p:cNvSpPr txBox="1"/>
          <p:nvPr/>
        </p:nvSpPr>
        <p:spPr>
          <a:xfrm>
            <a:off x="731520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Bahas status pesawat dan kemungkinan pembatalan.</a:t>
            </a:r>
            <a:endParaRPr lang="en-US" sz="1450" dirty="0"/>
          </a:p>
        </p:txBody>
      </p:sp>
      <p:sp>
        <p:nvSpPr>
          <p:cNvPr id="15" name="dot"/>
          <p:cNvSpPr/>
          <p:nvPr/>
        </p:nvSpPr>
        <p:spPr>
          <a:xfrm>
            <a:off x="3730661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card"/>
          <p:cNvSpPr/>
          <p:nvPr/>
        </p:nvSpPr>
        <p:spPr>
          <a:xfrm>
            <a:off x="2804099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" name="tag"/>
          <p:cNvSpPr/>
          <p:nvPr/>
        </p:nvSpPr>
        <p:spPr>
          <a:xfrm>
            <a:off x="3291749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8" name="tag label"/>
          <p:cNvSpPr txBox="1"/>
          <p:nvPr/>
        </p:nvSpPr>
        <p:spPr>
          <a:xfrm>
            <a:off x="3291749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10.00</a:t>
            </a:r>
            <a:endParaRPr lang="en-US" sz="1500" dirty="0"/>
          </a:p>
        </p:txBody>
      </p:sp>
      <p:sp>
        <p:nvSpPr>
          <p:cNvPr id="19" name="heading"/>
          <p:cNvSpPr txBox="1"/>
          <p:nvPr/>
        </p:nvSpPr>
        <p:spPr>
          <a:xfrm>
            <a:off x="2986979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0" name="text"/>
          <p:cNvSpPr txBox="1"/>
          <p:nvPr/>
        </p:nvSpPr>
        <p:spPr>
          <a:xfrm>
            <a:off x="2986979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beku setelah pukul 17.00.</a:t>
            </a:r>
            <a:endParaRPr lang="en-US" sz="1450" dirty="0"/>
          </a:p>
        </p:txBody>
      </p:sp>
      <p:sp>
        <p:nvSpPr>
          <p:cNvPr id="21" name="heading"/>
          <p:cNvSpPr txBox="1"/>
          <p:nvPr/>
        </p:nvSpPr>
        <p:spPr>
          <a:xfrm>
            <a:off x="2986979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22" name="text"/>
          <p:cNvSpPr txBox="1"/>
          <p:nvPr/>
        </p:nvSpPr>
        <p:spPr>
          <a:xfrm>
            <a:off x="2986979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Siapkan truk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rencanakan pembatalan 50–80% penerbangan setelah 18.00.</a:t>
            </a:r>
            <a:endParaRPr lang="en-US" sz="1450" dirty="0"/>
          </a:p>
        </p:txBody>
      </p:sp>
      <p:sp>
        <p:nvSpPr>
          <p:cNvPr id="23" name="dot"/>
          <p:cNvSpPr/>
          <p:nvPr/>
        </p:nvSpPr>
        <p:spPr>
          <a:xfrm>
            <a:off x="5986120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card"/>
          <p:cNvSpPr/>
          <p:nvPr/>
        </p:nvSpPr>
        <p:spPr>
          <a:xfrm>
            <a:off x="5059558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5547208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6" name="tag label"/>
          <p:cNvSpPr txBox="1"/>
          <p:nvPr/>
        </p:nvSpPr>
        <p:spPr>
          <a:xfrm>
            <a:off x="5547208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13.30</a:t>
            </a:r>
            <a:endParaRPr lang="en-US" sz="1500" dirty="0"/>
          </a:p>
        </p:txBody>
      </p:sp>
      <p:sp>
        <p:nvSpPr>
          <p:cNvPr id="27" name="heading"/>
          <p:cNvSpPr txBox="1"/>
          <p:nvPr/>
        </p:nvSpPr>
        <p:spPr>
          <a:xfrm>
            <a:off x="5242438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8" name="text"/>
          <p:cNvSpPr txBox="1"/>
          <p:nvPr/>
        </p:nvSpPr>
        <p:spPr>
          <a:xfrm>
            <a:off x="5242438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menjadi salju.</a:t>
            </a:r>
            <a:endParaRPr lang="en-US" sz="1450" dirty="0"/>
          </a:p>
        </p:txBody>
      </p:sp>
      <p:sp>
        <p:nvSpPr>
          <p:cNvPr id="29" name="heading"/>
          <p:cNvSpPr txBox="1"/>
          <p:nvPr/>
        </p:nvSpPr>
        <p:spPr>
          <a:xfrm>
            <a:off x="5242438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0" name="text"/>
          <p:cNvSpPr txBox="1"/>
          <p:nvPr/>
        </p:nvSpPr>
        <p:spPr>
          <a:xfrm>
            <a:off x="5242438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Batalkan separuh penerbangan 18.00–10.00; beri tahu penumpang; alihkan rute.</a:t>
            </a:r>
            <a:endParaRPr lang="en-US" sz="1450" dirty="0"/>
          </a:p>
        </p:txBody>
      </p:sp>
      <p:sp>
        <p:nvSpPr>
          <p:cNvPr id="31" name="dot"/>
          <p:cNvSpPr/>
          <p:nvPr/>
        </p:nvSpPr>
        <p:spPr>
          <a:xfrm>
            <a:off x="8241579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7315017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3" name="tag"/>
          <p:cNvSpPr/>
          <p:nvPr/>
        </p:nvSpPr>
        <p:spPr>
          <a:xfrm>
            <a:off x="7802667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7802667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17.00</a:t>
            </a:r>
            <a:endParaRPr lang="en-US" sz="1500" dirty="0"/>
          </a:p>
        </p:txBody>
      </p:sp>
      <p:sp>
        <p:nvSpPr>
          <p:cNvPr id="35" name="heading"/>
          <p:cNvSpPr txBox="1"/>
          <p:nvPr/>
        </p:nvSpPr>
        <p:spPr>
          <a:xfrm>
            <a:off x="7497897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36" name="text"/>
          <p:cNvSpPr txBox="1"/>
          <p:nvPr/>
        </p:nvSpPr>
        <p:spPr>
          <a:xfrm>
            <a:off x="7497897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lebih sedikit dari perkiraan.</a:t>
            </a:r>
            <a:endParaRPr lang="en-US" sz="1450" dirty="0"/>
          </a:p>
        </p:txBody>
      </p:sp>
      <p:sp>
        <p:nvSpPr>
          <p:cNvPr id="37" name="heading"/>
          <p:cNvSpPr txBox="1"/>
          <p:nvPr/>
        </p:nvSpPr>
        <p:spPr>
          <a:xfrm>
            <a:off x="7497897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8" name="text"/>
          <p:cNvSpPr txBox="1"/>
          <p:nvPr/>
        </p:nvSpPr>
        <p:spPr>
          <a:xfrm>
            <a:off x="7497897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Terus hubungi penumpang; atur penerbangan alternatif.</a:t>
            </a:r>
            <a:endParaRPr lang="en-US" sz="1450" dirty="0"/>
          </a:p>
        </p:txBody>
      </p:sp>
      <p:sp>
        <p:nvSpPr>
          <p:cNvPr id="39" name="dot"/>
          <p:cNvSpPr/>
          <p:nvPr/>
        </p:nvSpPr>
        <p:spPr>
          <a:xfrm>
            <a:off x="10497038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40" name="card"/>
          <p:cNvSpPr/>
          <p:nvPr/>
        </p:nvSpPr>
        <p:spPr>
          <a:xfrm>
            <a:off x="9570476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1" name="tag"/>
          <p:cNvSpPr/>
          <p:nvPr/>
        </p:nvSpPr>
        <p:spPr>
          <a:xfrm>
            <a:off x="10058126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2" name="tag label"/>
          <p:cNvSpPr txBox="1"/>
          <p:nvPr/>
        </p:nvSpPr>
        <p:spPr>
          <a:xfrm>
            <a:off x="10058126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22.00</a:t>
            </a:r>
            <a:endParaRPr lang="en-US" sz="1500" dirty="0"/>
          </a:p>
        </p:txBody>
      </p:sp>
      <p:sp>
        <p:nvSpPr>
          <p:cNvPr id="43" name="heading"/>
          <p:cNvSpPr txBox="1"/>
          <p:nvPr/>
        </p:nvSpPr>
        <p:spPr>
          <a:xfrm>
            <a:off x="9753356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44" name="text"/>
          <p:cNvSpPr txBox="1"/>
          <p:nvPr/>
        </p:nvSpPr>
        <p:spPr>
          <a:xfrm>
            <a:off x="9753356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mereda.</a:t>
            </a:r>
            <a:endParaRPr lang="en-US" sz="1450" dirty="0"/>
          </a:p>
        </p:txBody>
      </p:sp>
      <p:sp>
        <p:nvSpPr>
          <p:cNvPr id="45" name="heading"/>
          <p:cNvSpPr txBox="1"/>
          <p:nvPr/>
        </p:nvSpPr>
        <p:spPr>
          <a:xfrm>
            <a:off x="9753356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46" name="text"/>
          <p:cNvSpPr txBox="1"/>
          <p:nvPr/>
        </p:nvSpPr>
        <p:spPr>
          <a:xfrm>
            <a:off x="9753356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Carikan hotel untuk 600 penumpang yang terdampar.</a:t>
            </a:r>
            <a:endParaRPr lang="en-US" sz="1450" dirty="0"/>
          </a:p>
        </p:txBody>
      </p:sp>
      <p:sp>
        <p:nvSpPr>
          <p:cNvPr id="47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8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revisi dalam 18 jam; setiap revisi memicu tindakan baru. Teknologi penjadwalan ulang Alaska menghemat sekitar US$18 juta per tahun (Heizer et al., 2017).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34300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OPERASI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729083" y="525719"/>
            <a:ext cx="417761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829667" y="502920"/>
            <a:ext cx="425076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KRU</a:t>
            </a:r>
            <a:endParaRPr lang="en-US" sz="4400" dirty="0"/>
          </a:p>
        </p:txBody>
      </p:sp>
      <p:pic>
        <p:nvPicPr>
          <p:cNvPr id="6" name="foto pusat operasi" descr="/tmp/claude-0/-home-user-Dom-Manipulation/385e5267-c23e-5c04-80f5-d5fb4946a902/scratchpad/build/img4/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31546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709160"/>
            <a:ext cx="4206240" cy="1554480"/>
          </a:xfrm>
          <a:prstGeom prst="roundRect">
            <a:avLst>
              <a:gd name="adj" fmla="val 1294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4800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6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5440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per tahun dari teknologi yang menekan pembatalan dan keterlambatan.</a:t>
            </a:r>
            <a:endParaRPr lang="en-US" sz="1450" dirty="0"/>
          </a:p>
        </p:txBody>
      </p:sp>
      <p:sp>
        <p:nvSpPr>
          <p:cNvPr id="10" name="card"/>
          <p:cNvSpPr/>
          <p:nvPr/>
        </p:nvSpPr>
        <p:spPr>
          <a:xfrm>
            <a:off x="4983480" y="137160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heading"/>
          <p:cNvSpPr txBox="1"/>
          <p:nvPr/>
        </p:nvSpPr>
        <p:spPr>
          <a:xfrm>
            <a:off x="5303520" y="155448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 OPERATIONS DEPARTMENT, SEATTLE</a:t>
            </a:r>
            <a:endParaRPr lang="en-US" sz="2600" dirty="0"/>
          </a:p>
        </p:txBody>
      </p:sp>
      <p:sp>
        <p:nvSpPr>
          <p:cNvPr id="12" name="text"/>
          <p:cNvSpPr txBox="1"/>
          <p:nvPr/>
        </p:nvSpPr>
        <p:spPr>
          <a:xfrm>
            <a:off x="5303520" y="2057400"/>
            <a:ext cx="6019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Puluhan layar memantau penerbangan dan cuaca; lampu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andon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hijau, kuning, merah menandai status. Model penjadwalan matematis menyusun jadwal alternatif, mengalihkan rute, memastikan kru tersedia, dan memberi tahu penumpang.</a:t>
            </a:r>
            <a:endParaRPr lang="en-US" sz="1550" dirty="0"/>
          </a:p>
        </p:txBody>
      </p:sp>
      <p:sp>
        <p:nvSpPr>
          <p:cNvPr id="13" name="card"/>
          <p:cNvSpPr/>
          <p:nvPr/>
        </p:nvSpPr>
        <p:spPr>
          <a:xfrm>
            <a:off x="4983480" y="393192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5303520" y="411480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4.500+ PILOT DAN AWAK KABIN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5303520" y="4617720"/>
            <a:ext cx="6019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bawah batas jam tugas FAA dan kontrak serikat: kapasitas berhingga dengan kendala legalitas. Kodiak: hanya kapten boleh mendarat, sehingga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pairing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kru tidak bebas. Data kualifikasi kru dijaga oleh sistem pelatihan (Fox TMS, 2024).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3248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MENGURUTKAN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3710940" y="525719"/>
            <a:ext cx="4900704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811524" y="502920"/>
            <a:ext cx="497385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PEKERJAAN DI HANGAR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4572000" cy="489204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22960" y="1554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paket pekerjaan A–E: waktu proses 6, 2, 8, 3, 9 hari;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due date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8, 6, 18, 15, 23 hari (HRM Contoh 15.4).</a:t>
            </a:r>
            <a:endParaRPr lang="en-US" sz="1500" dirty="0"/>
          </a:p>
        </p:txBody>
      </p:sp>
      <p:graphicFrame>
        <p:nvGraphicFramePr>
          <p:cNvPr id="8" name="chart aturan prioritas" descr=""/>
          <p:cNvGraphicFramePr/>
          <p:nvPr/>
        </p:nvGraphicFramePr>
        <p:xfrm>
          <a:off x="685800" y="2377440"/>
          <a:ext cx="4297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"/>
          <p:cNvSpPr txBox="1"/>
          <p:nvPr/>
        </p:nvSpPr>
        <p:spPr>
          <a:xfrm>
            <a:off x="822960" y="5212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FCFS = urutan kedatangan · SPT = terpendek dahulu · EDD = tenggat terdekat dahulu · LPT = terpanjang dahulu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349240" y="1371600"/>
            <a:ext cx="629381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08760"/>
          <a:ext cx="58366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43000"/>
                <a:gridCol w="1051560"/>
                <a:gridCol w="868680"/>
                <a:gridCol w="1051560"/>
                <a:gridCol w="990295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Aturan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Urutan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Waktu selesai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Utilisasi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Pekerjaan rata-rata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Terlambat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FCFS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A–B–C–D–E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15,4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36,4%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2,75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B–D–A–C–E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13,0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43,1%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2,32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EDD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B–A–D–C–E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41,2%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2,43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E–C–A–D–B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20,6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27,2%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3,68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9,6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card"/>
          <p:cNvSpPr/>
          <p:nvPr/>
        </p:nvSpPr>
        <p:spPr>
          <a:xfrm>
            <a:off x="5577840" y="4434840"/>
            <a:ext cx="5836615" cy="1691640"/>
          </a:xfrm>
          <a:prstGeom prst="roundRect">
            <a:avLst>
              <a:gd name="adj" fmla="val 1189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5806440" y="4434840"/>
            <a:ext cx="53794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 untuk Alaska: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SPT memaksimalkan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throughput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hangar; EDD meminimalkan keterlambatan terhadap tenggat kelaikan udara; LPT terburuk. Untuk pesawat AOG dipakai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(sisa waktu ÷ sisa pekerjaan) yang diperbarui setiap hari. Tidak ada satu aturan yang unggul di semua kriteria.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93578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 DUA TAHAP DI HANGAR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321867" y="525719"/>
            <a:ext cx="2656554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422451" y="502920"/>
            <a:ext cx="272970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DARAT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76072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554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INSPEKSI LALU PERBAIKAN</a:t>
            </a:r>
            <a:endParaRPr lang="en-US" sz="2600" dirty="0"/>
          </a:p>
        </p:txBody>
      </p:sp>
      <p:sp>
        <p:nvSpPr>
          <p:cNvPr id="8" name="text"/>
          <p:cNvSpPr txBox="1"/>
          <p:nvPr/>
        </p:nvSpPr>
        <p:spPr>
          <a:xfrm>
            <a:off x="822960" y="205740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komponen melewati dua pusat kerja berurutan (jam inspeksi/perbaikan): A 5/2, B 3/6, C 8/4, D 10/7, E 7/12. Dengan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urutan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B–E–D–C–A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selesai dalam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urutan A–B–C–D–E butuh 45 jam.</a:t>
            </a:r>
            <a:endParaRPr lang="en-US" sz="15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3703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Inspeksi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4251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Perbaikan</a:t>
            </a:r>
            <a:endParaRPr lang="en-US" sz="1400" dirty="0"/>
          </a:p>
        </p:txBody>
      </p:sp>
      <p:sp>
        <p:nvSpPr>
          <p:cNvPr id="11" name="gantt bar"/>
          <p:cNvSpPr/>
          <p:nvPr/>
        </p:nvSpPr>
        <p:spPr>
          <a:xfrm>
            <a:off x="1892808" y="3703320"/>
            <a:ext cx="312202" cy="457200"/>
          </a:xfrm>
          <a:prstGeom prst="roundRect">
            <a:avLst>
              <a:gd name="adj" fmla="val 2343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1874520" y="3703320"/>
            <a:ext cx="348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gantt bar"/>
          <p:cNvSpPr/>
          <p:nvPr/>
        </p:nvSpPr>
        <p:spPr>
          <a:xfrm>
            <a:off x="2241586" y="370332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2223298" y="370332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15" name="gantt bar"/>
          <p:cNvSpPr/>
          <p:nvPr/>
        </p:nvSpPr>
        <p:spPr>
          <a:xfrm>
            <a:off x="3055402" y="3703320"/>
            <a:ext cx="1126018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037114" y="3703320"/>
            <a:ext cx="11625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17" name="gantt bar"/>
          <p:cNvSpPr/>
          <p:nvPr/>
        </p:nvSpPr>
        <p:spPr>
          <a:xfrm>
            <a:off x="4217997" y="3703320"/>
            <a:ext cx="893499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4199709" y="3703320"/>
            <a:ext cx="930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gantt bar"/>
          <p:cNvSpPr/>
          <p:nvPr/>
        </p:nvSpPr>
        <p:spPr>
          <a:xfrm>
            <a:off x="5148072" y="3703320"/>
            <a:ext cx="544721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5129784" y="3703320"/>
            <a:ext cx="581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gantt bar"/>
          <p:cNvSpPr/>
          <p:nvPr/>
        </p:nvSpPr>
        <p:spPr>
          <a:xfrm>
            <a:off x="2241586" y="4251960"/>
            <a:ext cx="660981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2223298" y="4251960"/>
            <a:ext cx="697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gantt bar"/>
          <p:cNvSpPr/>
          <p:nvPr/>
        </p:nvSpPr>
        <p:spPr>
          <a:xfrm>
            <a:off x="3055402" y="4251960"/>
            <a:ext cx="1358537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3037114" y="4251960"/>
            <a:ext cx="1395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gantt bar"/>
          <p:cNvSpPr/>
          <p:nvPr/>
        </p:nvSpPr>
        <p:spPr>
          <a:xfrm>
            <a:off x="4450515" y="425196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4432227" y="425196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27" name="gantt bar"/>
          <p:cNvSpPr/>
          <p:nvPr/>
        </p:nvSpPr>
        <p:spPr>
          <a:xfrm>
            <a:off x="5264331" y="4251960"/>
            <a:ext cx="428462" cy="457200"/>
          </a:xfrm>
          <a:prstGeom prst="roundRect">
            <a:avLst>
              <a:gd name="adj" fmla="val 1707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5246043" y="4251960"/>
            <a:ext cx="465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gantt bar"/>
          <p:cNvSpPr/>
          <p:nvPr/>
        </p:nvSpPr>
        <p:spPr>
          <a:xfrm>
            <a:off x="5729369" y="4251960"/>
            <a:ext cx="195943" cy="457200"/>
          </a:xfrm>
          <a:prstGeom prst="roundRect">
            <a:avLst>
              <a:gd name="adj" fmla="val 3733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5711081" y="4251960"/>
            <a:ext cx="232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"/>
          <p:cNvSpPr txBox="1"/>
          <p:nvPr/>
        </p:nvSpPr>
        <p:spPr>
          <a:xfrm>
            <a:off x="1600200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"/>
          <p:cNvSpPr txBox="1"/>
          <p:nvPr/>
        </p:nvSpPr>
        <p:spPr>
          <a:xfrm>
            <a:off x="2762794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</a:t>
            </a:r>
            <a:endParaRPr lang="en-US" sz="1200" dirty="0"/>
          </a:p>
        </p:txBody>
      </p:sp>
      <p:sp>
        <p:nvSpPr>
          <p:cNvPr id="33" name="text"/>
          <p:cNvSpPr txBox="1"/>
          <p:nvPr/>
        </p:nvSpPr>
        <p:spPr>
          <a:xfrm>
            <a:off x="3925389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</a:t>
            </a:r>
            <a:endParaRPr lang="en-US" sz="1200" dirty="0"/>
          </a:p>
        </p:txBody>
      </p:sp>
      <p:sp>
        <p:nvSpPr>
          <p:cNvPr id="34" name="text"/>
          <p:cNvSpPr txBox="1"/>
          <p:nvPr/>
        </p:nvSpPr>
        <p:spPr>
          <a:xfrm>
            <a:off x="5087983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</a:t>
            </a:r>
            <a:endParaRPr lang="en-US" sz="1200" dirty="0"/>
          </a:p>
        </p:txBody>
      </p:sp>
      <p:sp>
        <p:nvSpPr>
          <p:cNvPr id="35" name="text"/>
          <p:cNvSpPr txBox="1"/>
          <p:nvPr/>
        </p:nvSpPr>
        <p:spPr>
          <a:xfrm>
            <a:off x="5394960" y="47823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endParaRPr lang="en-US" sz="1200" dirty="0"/>
          </a:p>
        </p:txBody>
      </p:sp>
      <p:sp>
        <p:nvSpPr>
          <p:cNvPr id="36" name="text"/>
          <p:cNvSpPr txBox="1"/>
          <p:nvPr/>
        </p:nvSpPr>
        <p:spPr>
          <a:xfrm>
            <a:off x="82296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Pusat kerja kedua menganggur hanya saat menunggu pekerjaan pertama.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6583680" y="1371600"/>
            <a:ext cx="505937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8" name="heading"/>
          <p:cNvSpPr txBox="1"/>
          <p:nvPr/>
        </p:nvSpPr>
        <p:spPr>
          <a:xfrm>
            <a:off x="6858000" y="15544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GATE DENGAN JADWAL SIKLIS</a:t>
            </a:r>
            <a:endParaRPr lang="en-US" sz="2600" dirty="0"/>
          </a:p>
        </p:txBody>
      </p:sp>
      <p:sp>
        <p:nvSpPr>
          <p:cNvPr id="39" name="text"/>
          <p:cNvSpPr txBox="1"/>
          <p:nvPr/>
        </p:nvSpPr>
        <p:spPr>
          <a:xfrm>
            <a:off x="6858000" y="205740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petugas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Senin–Minggu: 5, 5, 6, 5, 4, 3, 3. Pola lima hari kerja dan dua hari libur berurutan: tujuh petugas mencukupi.</a:t>
            </a:r>
            <a:endParaRPr lang="en-US" sz="15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017520"/>
          <a:ext cx="45107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81105"/>
                <a:gridCol w="481105"/>
                <a:gridCol w="481105"/>
                <a:gridCol w="481105"/>
                <a:gridCol w="481105"/>
                <a:gridCol w="481105"/>
                <a:gridCol w="48110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Sel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Jum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Kebutuhan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Kapasitas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Kelebihan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"/>
          <p:cNvSpPr txBox="1"/>
          <p:nvPr/>
        </p:nvSpPr>
        <p:spPr>
          <a:xfrm>
            <a:off x="6858000" y="4709160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Hari libur: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P1, P2, P4 Sabtu–Minggu; P3, P6 Kamis–Jumat; P5, P7 Senin–Selasa (P = petugas).</a:t>
            </a:r>
            <a:endParaRPr lang="en-US" sz="1400" dirty="0"/>
          </a:p>
        </p:txBody>
      </p:sp>
      <p:sp>
        <p:nvSpPr>
          <p:cNvPr id="42" name="text"/>
          <p:cNvSpPr txBox="1"/>
          <p:nvPr/>
        </p:nvSpPr>
        <p:spPr>
          <a:xfrm>
            <a:off x="6858000" y="5321808"/>
            <a:ext cx="45107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Kapasitas 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disiapkan delapan jam sebelum hujan beku tiba (10.00 untuk 18.00): staf darat musim dingin dijadwalkan dari prakiraan, bukan dari kejadian.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4040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3800277" y="527792"/>
            <a:ext cx="3288213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910005" y="502920"/>
            <a:ext cx="334307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Alaska kuat pada penjadwalan ulang jangka pendek dan sedang memperkuat perencanaan perawatan berbasis kapasitas; titik lemah yang terbukti adalah ketahanan infrastruktur terintegrasi.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heading"/>
          <p:cNvSpPr txBox="1"/>
          <p:nvPr/>
        </p:nvSpPr>
        <p:spPr>
          <a:xfrm>
            <a:off x="1645920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KETAHANAN INFRASTRUKTUR TERINTEGRASI</a:t>
            </a:r>
            <a:endParaRPr lang="en-US" sz="2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Redundansi aktif-aktif pusat data dan cloud, uji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failover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berkala, prosedur manual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degraded mode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dispatch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dan kru.</a:t>
            </a:r>
            <a:endParaRPr lang="en-US" sz="145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Waktu pemulihan;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akibat IT.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210148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6484468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heading"/>
          <p:cNvSpPr txBox="1"/>
          <p:nvPr/>
        </p:nvSpPr>
        <p:spPr>
          <a:xfrm>
            <a:off x="7307428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 BERKAPASITAS BERHINGGA</a:t>
            </a:r>
            <a:endParaRPr lang="en-US" sz="2400" dirty="0"/>
          </a:p>
        </p:txBody>
      </p:sp>
      <p:sp>
        <p:nvSpPr>
          <p:cNvPr id="15" name="text"/>
          <p:cNvSpPr txBox="1"/>
          <p:nvPr/>
        </p:nvSpPr>
        <p:spPr>
          <a:xfrm>
            <a:off x="6484468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Operasionalkan Tailsight dengan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load report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 dan suku cadang; masukkan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OEM sebagai kendala.</a:t>
            </a:r>
            <a:endParaRPr lang="en-US" sz="1450" dirty="0"/>
          </a:p>
        </p:txBody>
      </p:sp>
      <p:sp>
        <p:nvSpPr>
          <p:cNvPr id="16" name="text"/>
          <p:cNvSpPr txBox="1"/>
          <p:nvPr/>
        </p:nvSpPr>
        <p:spPr>
          <a:xfrm>
            <a:off x="6484468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AOG;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fill rate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utilisasi teknisi.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48640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822960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heading"/>
          <p:cNvSpPr txBox="1"/>
          <p:nvPr/>
        </p:nvSpPr>
        <p:spPr>
          <a:xfrm>
            <a:off x="1645920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ATURAN PRIORITAS HIBRIDA</a:t>
            </a:r>
            <a:endParaRPr lang="en-US" sz="2400" dirty="0"/>
          </a:p>
        </p:txBody>
      </p:sp>
      <p:sp>
        <p:nvSpPr>
          <p:cNvPr id="20" name="text"/>
          <p:cNvSpPr txBox="1"/>
          <p:nvPr/>
        </p:nvSpPr>
        <p:spPr>
          <a:xfrm>
            <a:off x="822960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AOG, SPT untuk antrean rutin,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alur dua tahap.</a:t>
            </a:r>
            <a:endParaRPr lang="en-US" sz="1450" dirty="0"/>
          </a:p>
        </p:txBody>
      </p:sp>
      <p:sp>
        <p:nvSpPr>
          <p:cNvPr id="21" name="text"/>
          <p:cNvSpPr txBox="1"/>
          <p:nvPr/>
        </p:nvSpPr>
        <p:spPr>
          <a:xfrm>
            <a:off x="822960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Keterlambatan rata-rata;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makespan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6210148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6484468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heading"/>
          <p:cNvSpPr txBox="1"/>
          <p:nvPr/>
        </p:nvSpPr>
        <p:spPr>
          <a:xfrm>
            <a:off x="7307428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PROSES DULU, SISTEM KEMUDIAN</a:t>
            </a:r>
            <a:endParaRPr lang="en-US" sz="2400" dirty="0"/>
          </a:p>
        </p:txBody>
      </p:sp>
      <p:sp>
        <p:nvSpPr>
          <p:cNvPr id="25" name="text"/>
          <p:cNvSpPr txBox="1"/>
          <p:nvPr/>
        </p:nvSpPr>
        <p:spPr>
          <a:xfrm>
            <a:off x="6484468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Standarkan proses kru, perawatan, dan layanan penumpang sebelum migrasi Hawaiian ke sistem tunggal; batasi kustomisasi.</a:t>
            </a:r>
            <a:endParaRPr lang="en-US" sz="1450" dirty="0"/>
          </a:p>
        </p:txBody>
      </p:sp>
      <p:sp>
        <p:nvSpPr>
          <p:cNvPr id="26" name="text"/>
          <p:cNvSpPr txBox="1"/>
          <p:nvPr/>
        </p:nvSpPr>
        <p:spPr>
          <a:xfrm>
            <a:off x="6484468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Biaya kustomisasi; insiden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cut-over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ighlight"/>
          <p:cNvSpPr/>
          <p:nvPr/>
        </p:nvSpPr>
        <p:spPr>
          <a:xfrm>
            <a:off x="438912" y="527792"/>
            <a:ext cx="3037070" cy="572049"/>
          </a:xfrm>
          <a:prstGeom prst="roundRect">
            <a:avLst>
              <a:gd name="adj" fmla="val 1278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4" name="headline"/>
          <p:cNvSpPr txBox="1"/>
          <p:nvPr/>
        </p:nvSpPr>
        <p:spPr>
          <a:xfrm>
            <a:off x="548640" y="502920"/>
            <a:ext cx="30919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KESIMPULAN</a:t>
            </a:r>
            <a:endParaRPr lang="en-US" sz="48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" name="number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heading"/>
          <p:cNvSpPr txBox="1"/>
          <p:nvPr/>
        </p:nvSpPr>
        <p:spPr>
          <a:xfrm>
            <a:off x="16459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PENERBANGAN ADALAH MASTER SCHEDULE</a:t>
            </a:r>
            <a:endParaRPr lang="en-US" sz="2500" dirty="0"/>
          </a:p>
        </p:txBody>
      </p:sp>
      <p:sp>
        <p:nvSpPr>
          <p:cNvPr id="9" name="text"/>
          <p:cNvSpPr txBox="1"/>
          <p:nvPr/>
        </p:nvSpPr>
        <p:spPr>
          <a:xfrm>
            <a:off x="1645920" y="20299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perawatan, suku cadang, dan kru diturunkan darinya (logika MRP); satu basis data operasi menyatukannya (logika ERP).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01752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number circle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heading"/>
          <p:cNvSpPr txBox="1"/>
          <p:nvPr/>
        </p:nvSpPr>
        <p:spPr>
          <a:xfrm>
            <a:off x="82296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heading"/>
          <p:cNvSpPr txBox="1"/>
          <p:nvPr/>
        </p:nvSpPr>
        <p:spPr>
          <a:xfrm>
            <a:off x="1645920" y="32004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 DIJAGA JAM DEMI JAM</a:t>
            </a:r>
            <a:endParaRPr lang="en-US" sz="2500" dirty="0"/>
          </a:p>
        </p:txBody>
      </p:sp>
      <p:sp>
        <p:nvSpPr>
          <p:cNvPr id="14" name="text"/>
          <p:cNvSpPr txBox="1"/>
          <p:nvPr/>
        </p:nvSpPr>
        <p:spPr>
          <a:xfrm>
            <a:off x="1645920" y="367588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Aturan prioritas di hangar, penjadwalan kru berkapasitas berhingga, jadwal siklis staf darat, dan penjadwalan ulang saat badai.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548640" y="466344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6" name="number circle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heading"/>
          <p:cNvSpPr txBox="1"/>
          <p:nvPr/>
        </p:nvSpPr>
        <p:spPr>
          <a:xfrm>
            <a:off x="164592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INTEGRASI: KEUNGGULAN SEKALIGUS RISIKO</a:t>
            </a:r>
            <a:endParaRPr lang="en-US" sz="2500" dirty="0"/>
          </a:p>
        </p:txBody>
      </p:sp>
      <p:sp>
        <p:nvSpPr>
          <p:cNvPr id="19" name="text"/>
          <p:cNvSpPr txBox="1"/>
          <p:nvPr/>
        </p:nvSpPr>
        <p:spPr>
          <a:xfrm>
            <a:off x="1645920" y="53218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US$18 juta per tahun, tetapi dua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outage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2025 menghentikan seluruh operasi. Ketahanan infrastruktur harus direncanakan sekeras jadwalnya.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8549640" y="1371600"/>
            <a:ext cx="3093415" cy="4892040"/>
          </a:xfrm>
          <a:prstGeom prst="roundRect">
            <a:avLst>
              <a:gd name="adj" fmla="val 6503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1" name="heading"/>
          <p:cNvSpPr txBox="1"/>
          <p:nvPr/>
        </p:nvSpPr>
        <p:spPr>
          <a:xfrm>
            <a:off x="8823960" y="1554480"/>
            <a:ext cx="2544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ANGKA KUNCI</a:t>
            </a:r>
            <a:endParaRPr lang="en-US" sz="2200" dirty="0"/>
          </a:p>
        </p:txBody>
      </p:sp>
      <p:sp>
        <p:nvSpPr>
          <p:cNvPr id="22" name="heading"/>
          <p:cNvSpPr txBox="1"/>
          <p:nvPr/>
        </p:nvSpPr>
        <p:spPr>
          <a:xfrm>
            <a:off x="8823960" y="21031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400" dirty="0"/>
          </a:p>
        </p:txBody>
      </p:sp>
      <p:sp>
        <p:nvSpPr>
          <p:cNvPr id="23" name="text"/>
          <p:cNvSpPr txBox="1"/>
          <p:nvPr/>
        </p:nvSpPr>
        <p:spPr>
          <a:xfrm>
            <a:off x="8823960" y="26700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penghematan per tahun dari penjadwalan ulang</a:t>
            </a:r>
            <a:endParaRPr lang="en-US" sz="1350" dirty="0"/>
          </a:p>
        </p:txBody>
      </p:sp>
      <p:sp>
        <p:nvSpPr>
          <p:cNvPr id="24" name="heading"/>
          <p:cNvSpPr txBox="1"/>
          <p:nvPr/>
        </p:nvSpPr>
        <p:spPr>
          <a:xfrm>
            <a:off x="8823960" y="34747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85,8%</a:t>
            </a:r>
            <a:endParaRPr lang="en-US" sz="3400" dirty="0"/>
          </a:p>
        </p:txBody>
      </p:sp>
      <p:sp>
        <p:nvSpPr>
          <p:cNvPr id="25" name="text"/>
          <p:cNvSpPr txBox="1"/>
          <p:nvPr/>
        </p:nvSpPr>
        <p:spPr>
          <a:xfrm>
            <a:off x="8823960" y="40416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SEA, tertinggi di AS (Heizer et al., 2017)</a:t>
            </a:r>
            <a:endParaRPr lang="en-US" sz="1350" dirty="0"/>
          </a:p>
        </p:txBody>
      </p:sp>
      <p:sp>
        <p:nvSpPr>
          <p:cNvPr id="26" name="heading"/>
          <p:cNvSpPr txBox="1"/>
          <p:nvPr/>
        </p:nvSpPr>
        <p:spPr>
          <a:xfrm>
            <a:off x="8823960" y="48463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79,25%</a:t>
            </a:r>
            <a:endParaRPr lang="en-US" sz="3400" dirty="0"/>
          </a:p>
        </p:txBody>
      </p:sp>
      <p:sp>
        <p:nvSpPr>
          <p:cNvPr id="27" name="text"/>
          <p:cNvSpPr txBox="1"/>
          <p:nvPr/>
        </p:nvSpPr>
        <p:spPr>
          <a:xfrm>
            <a:off x="8823960" y="54132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ketepatan kedatangan 2024, peringkat ke-3 Amerika Utara (Cirium)</a:t>
            </a:r>
            <a:endParaRPr lang="en-US" sz="1350" dirty="0"/>
          </a:p>
        </p:txBody>
      </p:sp>
      <p:sp>
        <p:nvSpPr>
          <p:cNvPr id="28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Referensi lengkap tercantum pada catatan pembicara slide ini.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ing"/>
          <p:cNvSpPr txBox="1"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TERIMA KASIH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aska Klyro">
  <a:themeElements>
    <a:clrScheme name="Alaska Klyro">
      <a:dk1>
        <a:srgbClr val="1A1C14"/>
      </a:dk1>
      <a:lt1>
        <a:srgbClr val="FFFFFF"/>
      </a:lt1>
      <a:dk2>
        <a:srgbClr val="6B6B66"/>
      </a:dk2>
      <a:lt2>
        <a:srgbClr val="F4F4F2"/>
      </a:lt2>
      <a:accent1>
        <a:srgbClr val="F1681D"/>
      </a:accent1>
      <a:accent2>
        <a:srgbClr val="9CC506"/>
      </a:accent2>
      <a:accent3>
        <a:srgbClr val="86A90A"/>
      </a:accent3>
      <a:accent4>
        <a:srgbClr val="1A1C14"/>
      </a:accent4>
      <a:accent5>
        <a:srgbClr val="F39D6A"/>
      </a:accent5>
      <a:accent6>
        <a:srgbClr val="C9E36A"/>
      </a:accent6>
      <a:hlink>
        <a:srgbClr val="F1681D"/>
      </a:hlink>
      <a:folHlink>
        <a:srgbClr val="86A90A"/>
      </a:folHlink>
    </a:clrScheme>
    <a:fontScheme name="Alaska Klyro">
      <a:majorFont>
        <a:latin typeface="Barlow Condens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rlo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and Control di Alaska Airlines — MRP dan ERP, Sequencing and Scheduling</dc:title>
  <dc:subject>PptxGenJS Presentation</dc:subject>
  <dc:creator>PptxGenJS</dc:creator>
  <cp:lastModifiedBy>PptxGenJS</cp:lastModifiedBy>
  <cp:revision>1</cp:revision>
  <dcterms:created xsi:type="dcterms:W3CDTF">2026-10-27T13:28:38Z</dcterms:created>
  <dcterms:modified xsi:type="dcterms:W3CDTF">2026-10-27T13:28:38Z</dcterms:modified>
</cp:coreProperties>
</file>