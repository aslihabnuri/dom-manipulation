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54e499af-4d78-ab1f-1974-c3f9aab9e81a}">
          <p14:sldIdLst>
            <p14:sldId id="256"/>
            <p14:sldId id="257"/>
          </p14:sldIdLst>
        </p14:section>
        <p14:section name="Profil" id="{a139f376-63e7-ffcd-189c-98274078047e}">
          <p14:sldIdLst>
            <p14:sldId id="258"/>
            <p14:sldId id="259"/>
            <p14:sldId id="260"/>
          </p14:sldIdLst>
        </p14:section>
        <p14:section name="MRP dan ERP" id="{3e09d42a-ebc1-8921-2fca-4755af25a0f9}">
          <p14:sldIdLst>
            <p14:sldId id="261"/>
            <p14:sldId id="262"/>
            <p14:sldId id="263"/>
            <p14:sldId id="264"/>
            <p14:sldId id="265"/>
            <p14:sldId id="266"/>
          </p14:sldIdLst>
        </p14:section>
        <p14:section name="Sequencing and Scheduling" id="{9ed71c0c-99c8-b011-877f-1a0780956e17}">
          <p14:sldIdLst>
            <p14:sldId id="267"/>
            <p14:sldId id="268"/>
            <p14:sldId id="269"/>
            <p14:sldId id="270"/>
            <p14:sldId id="271"/>
            <p14:sldId id="272"/>
          </p14:sldIdLst>
        </p14:section>
        <p14:section name="Penutup" id="{3438fcfa-2985-ca59-f344-4a32cb71c667}">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A1C14"/>
                </a:solidFill>
                <a:latin typeface="+mn-lt"/>
              </a:defRPr>
            </a:pPr>
            <a:r>
              <a:rPr sz="1500" b="0" i="0" u="none" strike="noStrike">
                <a:solidFill>
                  <a:srgbClr val="1A1C14"/>
                </a:solidFill>
                <a:latin typeface="+mn-lt"/>
              </a:rPr>
              <a:t>Ketepatan waktu kedatangan 2024 (%), lima besar Amerika Utara</a:t>
            </a:r>
          </a:p>
        </c:rich>
      </c:tx>
      <c:layout/>
      <c:overlay val="0"/>
    </c:title>
    <c:autoTitleDeleted val="0"/>
    <c:plotArea>
      <c:layout/>
      <c:barChart>
        <c:barDir val="bar"/>
        <c:grouping val="clustered"/>
        <c:varyColors val="0"/>
        <c:ser>
          <c:idx val="0"/>
          <c:order val="0"/>
          <c:tx>
            <c:strRef>
              <c:f>Sheet1!$B$1</c:f>
              <c:strCache>
                <c:ptCount val="1"/>
                <c:pt idx="0">
                  <c:v>Ketepatan waktu kedatangan 2024 (%)</c:v>
                </c:pt>
              </c:strCache>
            </c:strRef>
          </c:tx>
          <c:spPr>
            <a:solidFill>
              <a:srgbClr val="DADAD5"/>
            </a:solidFill>
            <a:effectLst/>
          </c:spPr>
          <c:invertIfNegative val="0"/>
          <c:dLbls>
            <c:numFmt formatCode="0.00" sourceLinked="0"/>
            <c:txPr>
              <a:bodyPr/>
              <a:lstStyle/>
              <a:p>
                <a:pPr>
                  <a:defRPr b="0" i="0" strike="noStrike" sz="1400" u="none">
                    <a:solidFill>
                      <a:srgbClr val="1A1C14"/>
                    </a:solidFill>
                    <a:latin typeface="+mn-lt"/>
                  </a:defRPr>
                </a:pPr>
              </a:p>
            </c:txPr>
            <c:showLegendKey val="0"/>
            <c:showVal val="1"/>
            <c:showCatName val="0"/>
            <c:showSerName val="0"/>
            <c:showPercent val="0"/>
            <c:showBubbleSize val="0"/>
            <c:showLeaderLines val="0"/>
          </c:dLbls>
          <c:dPt>
            <c:idx val="0"/>
            <c:invertIfNegative val="0"/>
            <c:bubble3D val="0"/>
            <c:spPr>
              <a:solidFill>
                <a:srgbClr val="DADAD5"/>
              </a:solidFill>
              <a:effectLst/>
            </c:spPr>
          </c:dPt>
          <c:dPt>
            <c:idx val="1"/>
            <c:invertIfNegative val="0"/>
            <c:bubble3D val="0"/>
            <c:spPr>
              <a:solidFill>
                <a:srgbClr val="DADAD5"/>
              </a:solidFill>
              <a:effectLst/>
            </c:spPr>
          </c:dPt>
          <c:dPt>
            <c:idx val="2"/>
            <c:invertIfNegative val="0"/>
            <c:bubble3D val="0"/>
            <c:spPr>
              <a:solidFill>
                <a:srgbClr val="F1681D"/>
              </a:solidFill>
              <a:effectLst/>
            </c:spPr>
          </c:dPt>
          <c:dPt>
            <c:idx val="3"/>
            <c:invertIfNegative val="0"/>
            <c:bubble3D val="0"/>
            <c:spPr>
              <a:solidFill>
                <a:srgbClr val="DADAD5"/>
              </a:solidFill>
              <a:effectLst/>
            </c:spPr>
          </c:dPt>
          <c:dPt>
            <c:idx val="4"/>
            <c:invertIfNegative val="0"/>
            <c:bubble3D val="0"/>
            <c:spPr>
              <a:solidFill>
                <a:srgbClr val="DADAD5"/>
              </a:solidFill>
              <a:effectLst/>
            </c:spPr>
          </c:dPt>
          <c:cat>
            <c:multiLvlStrRef>
              <c:f>Sheet1!$A$2:$A$6</c:f>
              <c:multiLvlStrCache>
                <c:ptCount val="5"/>
                <c:lvl>
                  <c:pt idx="0">
                    <c:v>Delta</c:v>
                  </c:pt>
                  <c:pt idx="1">
                    <c:v>United</c:v>
                  </c:pt>
                  <c:pt idx="2">
                    <c:v>Alaska</c:v>
                  </c:pt>
                  <c:pt idx="3">
                    <c:v>American</c:v>
                  </c:pt>
                  <c:pt idx="4">
                    <c:v>Southwest</c:v>
                  </c:pt>
                </c:lvl>
              </c:multiLvlStrCache>
            </c:multiLvlStrRef>
          </c:cat>
          <c:val>
            <c:numRef>
              <c:f>Sheet1!$B$2:$B$6</c:f>
              <c:numCache>
                <c:formatCode>General</c:formatCode>
                <c:ptCount val="5"/>
                <c:pt idx="0">
                  <c:v>83.46</c:v>
                </c:pt>
                <c:pt idx="1">
                  <c:v>80.93</c:v>
                </c:pt>
                <c:pt idx="2">
                  <c:v>79.25</c:v>
                </c:pt>
                <c:pt idx="3">
                  <c:v>77.78</c:v>
                </c:pt>
                <c:pt idx="4">
                  <c:v>77.77</c:v>
                </c:pt>
              </c:numCache>
            </c:numRef>
          </c:val>
        </c:ser>
        <c:dLbls>
          <c:numFmt formatCode="0.00" sourceLinked="0"/>
          <c:txPr>
            <a:bodyPr/>
            <a:lstStyle/>
            <a:p>
              <a:pPr>
                <a:defRPr b="0" i="0" strike="noStrike" sz="1400" u="none">
                  <a:solidFill>
                    <a:srgbClr val="1A1C1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1A1C14"/>
                </a:solidFill>
                <a:latin typeface="+mn-lt"/>
              </a:defRPr>
            </a:pPr>
            <a:endParaRPr lang="en-US"/>
          </a:p>
        </c:txPr>
        <c:crossAx val="2094734552"/>
        <c:crosses val="autoZero"/>
        <c:auto val="1"/>
        <c:lblAlgn val="ctr"/>
        <c:noMultiLvlLbl val="1"/>
      </c:catAx>
      <c:valAx>
        <c:axId val="2094734552"/>
        <c:scaling>
          <c:orientation val="minMax"/>
          <c:max val="90"/>
          <c:min val="7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C14"/>
                </a:solidFill>
                <a:latin typeface="+mn-lt"/>
              </a:defRPr>
            </a:pPr>
            <a:r>
              <a:rPr sz="1400" b="0" i="0" u="none" strike="noStrike">
                <a:solidFill>
                  <a:srgbClr val="1A1C14"/>
                </a:solidFill>
                <a:latin typeface="+mn-lt"/>
              </a:rPr>
              <a:t>Waktu penyelesaian rata-rata (hari)</a:t>
            </a:r>
          </a:p>
        </c:rich>
      </c:tx>
      <c:layout/>
      <c:overlay val="0"/>
    </c:title>
    <c:autoTitleDeleted val="0"/>
    <c:plotArea>
      <c:layout/>
      <c:barChart>
        <c:barDir val="col"/>
        <c:grouping val="clustered"/>
        <c:varyColors val="0"/>
        <c:ser>
          <c:idx val="0"/>
          <c:order val="0"/>
          <c:tx>
            <c:strRef>
              <c:f>Sheet1!$B$1</c:f>
              <c:strCache>
                <c:ptCount val="1"/>
                <c:pt idx="0">
                  <c:v>Waktu penyelesaian rata-rata (hari)</c:v>
                </c:pt>
              </c:strCache>
            </c:strRef>
          </c:tx>
          <c:spPr>
            <a:solidFill>
              <a:srgbClr val="DADAD5"/>
            </a:solidFill>
            <a:effectLst/>
          </c:spPr>
          <c:invertIfNegative val="0"/>
          <c:dLbls>
            <c:numFmt formatCode="0.0" sourceLinked="0"/>
            <c:txPr>
              <a:bodyPr/>
              <a:lstStyle/>
              <a:p>
                <a:pPr>
                  <a:defRPr b="0" i="0" strike="noStrike" sz="1400" u="none">
                    <a:solidFill>
                      <a:srgbClr val="1A1C14"/>
                    </a:solidFill>
                    <a:latin typeface="+mn-lt"/>
                  </a:defRPr>
                </a:pPr>
              </a:p>
            </c:txPr>
            <c:showLegendKey val="0"/>
            <c:showVal val="1"/>
            <c:showCatName val="0"/>
            <c:showSerName val="0"/>
            <c:showPercent val="0"/>
            <c:showBubbleSize val="0"/>
            <c:showLeaderLines val="0"/>
          </c:dLbls>
          <c:dPt>
            <c:idx val="0"/>
            <c:invertIfNegative val="0"/>
            <c:bubble3D val="0"/>
            <c:spPr>
              <a:solidFill>
                <a:srgbClr val="DADAD5"/>
              </a:solidFill>
              <a:effectLst/>
            </c:spPr>
          </c:dPt>
          <c:dPt>
            <c:idx val="1"/>
            <c:invertIfNegative val="0"/>
            <c:bubble3D val="0"/>
            <c:spPr>
              <a:solidFill>
                <a:srgbClr val="9CC506"/>
              </a:solidFill>
              <a:effectLst/>
            </c:spPr>
          </c:dPt>
          <c:dPt>
            <c:idx val="2"/>
            <c:invertIfNegative val="0"/>
            <c:bubble3D val="0"/>
            <c:spPr>
              <a:solidFill>
                <a:srgbClr val="DADAD5"/>
              </a:solidFill>
              <a:effectLst/>
            </c:spPr>
          </c:dPt>
          <c:dPt>
            <c:idx val="3"/>
            <c:invertIfNegative val="0"/>
            <c:bubble3D val="0"/>
            <c:spPr>
              <a:solidFill>
                <a:srgbClr val="F1681D"/>
              </a:solidFill>
              <a:effectLst/>
            </c:spPr>
          </c:dPt>
          <c:cat>
            <c:multiLvlStrRef>
              <c:f>Sheet1!$A$2:$A$5</c:f>
              <c:multiLvlStrCache>
                <c:ptCount val="4"/>
                <c:lvl>
                  <c:pt idx="0">
                    <c:v>FCFS</c:v>
                  </c:pt>
                  <c:pt idx="1">
                    <c:v>SPT</c:v>
                  </c:pt>
                  <c:pt idx="2">
                    <c:v>EDD</c:v>
                  </c:pt>
                  <c:pt idx="3">
                    <c:v>LPT</c:v>
                  </c:pt>
                </c:lvl>
              </c:multiLvlStrCache>
            </c:multiLvlStrRef>
          </c:cat>
          <c:val>
            <c:numRef>
              <c:f>Sheet1!$B$2:$B$5</c:f>
              <c:numCache>
                <c:formatCode>General</c:formatCode>
                <c:ptCount val="4"/>
                <c:pt idx="0">
                  <c:v>15.4</c:v>
                </c:pt>
                <c:pt idx="1">
                  <c:v>13</c:v>
                </c:pt>
                <c:pt idx="2">
                  <c:v>13.6</c:v>
                </c:pt>
                <c:pt idx="3">
                  <c:v>20.6</c:v>
                </c:pt>
              </c:numCache>
            </c:numRef>
          </c:val>
        </c:ser>
        <c:dLbls>
          <c:numFmt formatCode="0.0" sourceLinked="0"/>
          <c:txPr>
            <a:bodyPr/>
            <a:lstStyle/>
            <a:p>
              <a:pPr>
                <a:defRPr b="0" i="0" strike="noStrike" sz="1400" u="none">
                  <a:solidFill>
                    <a:srgbClr val="1A1C1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C14"/>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[Aslih · 0:45] Selamat pagi, Ibu Prof. Nur Aini dan teman-teman. Kami kelompok Alaska Airlines. Saya Aslih, bersama Happy, Juan, dan Riska. Hari ini kami membahas Planning and Control di Alaska Airlines. Ada dua subtopik: MRP dan ERP, lalu sequencing and scheduling. Pembagiannya begini: saya membuka dengan profil perusahaan dan bagian MRP, Happy melanjutkan ke ERP, Juan membahas scheduling, dan Riska menutup dengan sequencing, evaluasi, dan kesimpulan.
Catatan: Sebut nama anggota sambil mengarah ke kotak PRESENTER. NIM tidak perlu dibaca.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[Aslih · 0:45] Alur kami empat langkah. Pertama, kita berkenalan dulu dengan Alaska Airlines: seberapa besar operasinya dan apa saja yang sering mengganggu rencananya. Kedua, MRP dan ERP: bagaimana jadwal penerbangan diterjemahkan menjadi kebutuhan perawatan dan suku cadang, lalu bagaimana semua datanya disatukan. Ketiga, sequencing and scheduling: bagaimana pesawat, kru, hangar, dan staf darat diatur urutan dan jadwalnya, termasuk saat badai. Keempat, evaluasi dan rekomendasi. Setiap langkah memakai hasil langkah sebelumnya.
Catatan: Tunjuk kartu 01 sampai 04 berurutan.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[Aslih · 1:15] Alaska Airlines berpusat di Seattle. Sejak 2024 ia bergabung dengan Hawaiian Airlines. Totalnya 392 pesawat, lebih dari 140 tujuan, dan 30 ribu karyawan. Yang menarik adalah lingkungannya. Bandara Seattle termasuk 15 bandara tersibuk di Amerika, dan di musim dingin hujannya sekitar 5 inci per bulan. Tetapi justru bandara ini punya rekor keberangkatan tepat waktu tertinggi di Amerika, 85,8 persen. Menurut Heizer, sebagian besar berkat Alaska, karena lebih dari separuh penerbangan domestik di sana milik Alaska. Satu lagi: pada 29 Oktober 2025, FAA memberi satu sertifikat operasi untuk Alaska dan Hawaiian. Artinya dua merek, satu sistem. Kutipan di kanan bawah adalah inti presentasi kami: keunggulan Alaska ada pada kemampuannya menyesuaikan jadwal di menit terakhir.
Catatan: Tekankan kalimat terakhir; Juan dan Riska akan merujuknya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[Aslih · 1:00] Ini skalanya. Setiap hari Alaska mengatur 392 pesawat dan lebih dari 4.500 pilot dan awak kabin. Angka 18 juta dolar itu taksiran Alaska sendiri: sebesar itu penghematan per tahun dari teknologi yang membantu mereka mengatur ulang jadwal saat ada gangguan. Grafik di kanan adalah hasilnya: pada 2024, menurut Cirium, Alaska nomor tiga paling tepat waktu di Amerika Utara, 79 persen lebih, di bawah Delta dan United. Jadi kinerjanya bagus. Pertanyaannya: bagaimana caranya?
Catatan: Tidak perlu membaca semua angka. Tunjuk 4.500 kru dan 18 juta dolar, dua angka yang akan muncul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[Aslih · 1:15] Ada empat hal yang sering mengganggu rencana Alaska. Satu, cuaca Seattle. Satu badai di bulan Desember bisa memaksa pembatalan 50 sampai 80 persen penerbangan, dan keputusannya berubah tiap beberapa jam. Ini soal scheduling. Dua, geografi Alaska. Di Juneau ada angin berbahaya, di Sitka landasannya hanya satu dan sempit, di Kodiak hanya kapten yang boleh mendarat. Jadi tidak semua pesawat dan kru bisa dipasang ke sembarang rute. Tiga, sistem komputernya pernah gagal dua kali pada 2025, Juli dan Oktober, dan seluruh operasi berhenti. Ini sisi gelap ERP. Empat, Januari 2024, 65 pesawat MAX 9 dilarang terbang dan harus diperiksa serentak. Ini lonjakan kebutuhan perawatan, wilayah MRP. Pertanyaan kami: bagaimana MRP, ERP, dan sequencing and scheduling menjelaskan cara Alaska bertahan, dan di mana kelemahannya.
Catatan: Sebutkan label dimensi di bawah tiap kartu supaya kelas melihat kaitannya dengan subtopik.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[Aslih · 0:20] Sekarang kita masuk subtopik pertama, MRP dan ERP. Saya mulai dari MRP.
Catatan: Transisi singkat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[Aslih · 1:30] Inti MRP sederhana: kebutuhan suku cadang tidak ditebak, tetapi dihitung dari jadwal. Ibaratnya, kalau kita tahu menu makan satu minggu, kita bisa menghitung belanjaannya. Rantainya empat langkah. Satu, jadwal penerbangan: pesawat mana terbang ke mana dan berapa jam. Ini jadwal induknya. Dua, dari jam terbang tiap pesawat kita tahu kapan pesawat itu harus masuk perawatan. Tiga, setiap perawatan punya daftar pekerjaan, disebut task card: komponen apa yang diganti dan berapa jam kerjanya. Ini seperti resep. Empat, kebutuhan itu dikurangi stok yang ada dan barang yang sedang dipesan, lalu dimundurkan sesuai lama pemesanan, lead time, supaya barang datang pas waktunya. Akibatnya, kalau jadwal penerbangan berubah, jadwal perawatan ikut berubah, dan jadwal pemesanan suku cadang ikut bergeser.
Catatan: Ikuti panah dari kartu 01 ke 04 dengan tangan.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[Aslih · 1:45] Supaya jelas, ini contoh satu komponen: brake assembly, atau rem. Anggaplah satu paket perawatan besar butuh 4 unit rem. Pesan ke pemasok butuh 2 minggu. Stok awal 6. Ada 4 unit yang sudah dipesan dan datang di minggu kedua. Rencana perawatan: 2 paket di minggu 5, 1 paket di minggu 7, 2 paket di minggu 8. Baris pertama, kebutuhan kotor: 8, 4, 8. Baris stok: mulai 6, jadi 10 di minggu 2, dipakai 8 di minggu 5, sisa 2. Minggu 7 butuh 4, stok cuma 2, kurang 2. Minggu 8 butuh 8, stok habis, kurang 8. Karena memesan butuh 2 minggu, pesanan 2 unit harus dilepas di minggu 5, dan 8 unit di minggu 6. Itu dua sel hijau di baris paling bawah. Logika sesederhana ini dijalankan sistem Alaska untuk ribuan komponen di 392 pesawat. Kalau pesan terlambat, pesawat menganggur menunggu barang, istilahnya AOG. Kalau terlalu cepat, gudang penuh.
Catatan: Tunjuk sel per sel di baris stok, lalu dua sel hijau di baris paling bawah.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[Aslih · 1:30] Dua peristiwa menunjukkan perubahan cara Alaska merencanakan perawatan. Januari 2024, setelah insiden 5 Januari, FAA melarang terbang 737 MAX 9. Alaska harus memeriksa 65 pesawat sekaligus. Dalam bahasa MRP, kebutuhannya melonjak di satu waktu, padahal hangar dan teknisinya terbatas. Hasilnya, sekitar 150 penerbangan per hari dibatalkan selama tiga minggu, dan kerugiannya sekitar 150 juta dolar. April 2026, Alaska bermitra dengan Tailsight. Ini perangkat lunak yang menyusun rencana perawatan dengan menggabungkan data perawatan, jadwal penerbangan, jumlah staf, kemampuan tiap stasiun, dan ketersediaan suku cadang. Jadi kapasitasnya ikut dihitung sejak awal, bukan dicek belakangan. Istilahnya: dari infinite loading menjadi closed-loop. Nah, karena alat ini bergantung pada data dari banyak sistem, kita masuk ke ERP. Silakan, Happy.
Catatan: Kalimat terakhir adalah jembatan ke Happy. Tunggu Happy mengambil alih.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 2:00] Terima kasih, Aslih. Inti ERP satu: satu basis data bersama. Data dimasukkan sekali, dipakai semua bagian. Diagram di kiri menunjukkan sistem-sistem Alaska yang terhubung ke satu pusat: reservasi dan check-in, penjadwalan kru, pengaturan penerbangan dan cuaca, perawatan dan suku cadang, serta keuangan dan SDM. Di kanan, tiga bukti manfaatnya. Pertama, saat cuaca buruk, data pesawat, kru, dan penumpang yang sama dipakai untuk menyusun jadwal baru dan mengabari penumpang, hanya dalam hitungan jam. Alaska menaksir manfaatnya 18 juta dolar per tahun. Kedua, penggabungan dengan Hawaiian: satu sertifikat operasi tercapai 29 Oktober 2025 setelah setahun kerja lintas departemen, dan pada 2026 sistem layanan penumpangnya disatukan. Ketiga, Tailsight yang tadi disebut Aslih hanya berguna kalau data perawatan, jadwal, staf, dan suku cadang konsisten di semua sistem. Satu catatan: Alaska memakai pusat data sendiri untuk sistem penting, ditambah cloud. Ingat kata 'pusat data' ini untuk slide berikutnya.
Catatan: Tunjuk lingkaran hitam di tengah diagram saat menyebut 'satu basis data bersama'.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 2:00] Karena semuanya terhubung, kalau pusatnya mati, semuanya ikut berhenti. Pada 2025 itu terjadi dua kali. 20 Juli, satu perangkat keras di pusat data rusak dan beberapa sistem lumpuh. Alaska menahan semua pesawat di darat sekitar tiga jam, dan lebih dari 150 penerbangan dibatalkan. Setelah itu Alaska menyatakan sudah memperkuat sistemnya. Tetapi 23 Oktober, pusat data utamanya gagal: pesawat ditahan sekitar delapan jam, lebih dari 400 penerbangan batal, sekitar 49 ribu penumpang terdampak. Bukan serangan siber. Alaska lalu mendatangkan ahli dari luar untuk memeriksa seluruh sistemnya dan mengganti perangkat kerasnya. Pelajarannya: makin terintegrasi, makin besar akibat satu titik kegagalan. Manfaat 18 juta dolar tadi hanya ada kalau sistemnya hidup. Inilah kelemahan ERP menurut Heizer: rumit, dan pekerjaannya tidak pernah benar-benar selesai. Lalu, bagaimana rencana itu dijalankan jam demi jam? Juan akan membahas scheduling.
Catatan: Foto kanan: deretan pesawat tertahan di gate saat ground stop. Beri jeda sebelum menyebut 49 ribu.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 0:20] Terima kasih, Happy. Subtopik kedua: sequencing and scheduling. Saya membahas scheduling, yaitu mengatur jadwal jam demi jam. Riska nanti membahas sequencing, yaitu mengatur urutan.
Catatan: Transisi singkat.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 1:30] Apa saja yang dijadwalkan Alaska setiap hari? Tiga hal. Pertama, pesawat dan perawatannya: dulu sekitar 150 pesawat per hari, sekarang 392, ditambah slot perawatan yang harus diselipkan di antara jadwal terbang. Kedua, kru dan jadwal keberangkatan: lebih dari 4.500 pilot dan awak kabin, dengan aturan batas jam kerja dari FAA, kontrak serikat, dan sistem bidding, yaitu kru memilih jadwal yang mereka inginkan. Ketiga, petugas gate, tiket, katering, dan deicing, yang kebutuhannya naik-turun tergantung hari dan cuaca. Ketiganya saling terkait: satu jadwal berubah, yang lain ikut berubah, sampai ke puluhan bandara. Istilahnya ripple effect, efek riak.
Catatan: Tunjuk foto saat menyebut tiap objek.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 2:00] Ini cerita satu hari badai di Seattle dari buku Heizer. Jam 4 pagi, prakiraannya hujan, mungkin salju ringan. Tindakannya baru rapat: membahas kondisi pesawat dan kemungkinan pembatalan. Jam 10, prakiraan berubah: hujan beku setelah jam 5 sore. Tindakannya: siapkan truk deicing, dan susun rencana membatalkan 50 sampai 80 persen penerbangan setelah jam 6 sore. Jam setengah 2 siang, hujan berubah menjadi salju. Separuh penerbangan dari jam 6 sore sampai jam 10 pagi dibatalkan, penumpang dikabari, pesawat dialihkan. Jam 5 sore, salju ternyata lebih sedikit. Tim terus menelepon penumpang dan mencarikan penerbangan pengganti. Jam 10 malam, salju reda. Sisanya mencarikan hotel untuk 600 penumpang yang tertahan. Lima kali rencana direvisi dalam 18 jam, dan setiap revisi langsung ditindaklanjuti. Di sinilah nilai 18 juta dolar itu: teknologi yang membantu menyusun ulang jadwal dengan cepat.
Catatan: Berjalan dari kartu kiri ke kanan mengikuti garis waktu. Ini slide paling bercerita; jangan terburu-buru.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[Juan · 1:45] Siapa yang mengerjakan semua itu? Flight Operations Department di Seattle. Ruangannya penuh layar: posisi pesawat, peta cuaca, radar. Ada lampu status, disebut andon: hijau aman, kuning perlu perhatian, merah darurat. Dengan model matematika, tim ini menyusun jadwal pengganti, mengalihkan rute, memastikan kru tersedia, dan mengabari penumpang. Bagian kedua: mengatur 4.500 lebih kru. Kru memilih jadwal lewat sistem bidding, tetapi sistem memeriksa batas jam kerja FAA dan kontrak serikat secara real time. Ada juga kendala khusus: di Kodiak hanya kapten yang boleh mendarat, jadi tidak semua pasangan kru bisa ditugaskan ke sana. Intinya, scheduling di Alaska bukan hanya menyusun jadwal, tetapi menjaga jadwal tetap bisa dijalankan saat kondisi berubah. Selanjutnya, Riska akan menjelaskan cara mengurutkan pekerjaan.
Catatan: Tunjuk lampu pada foto saat menyebut andon.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[Riska · 2:00] Terima kasih, Juan. Kalau beberapa pesawat antre di hangar, mana yang dikerjakan dulu? Urutannya menentukan hasil. Kami memakai contoh dari Heizer: lima paket pekerjaan, A sampai E, dengan lama pengerjaan 6, 2, 8, 3, dan 9 hari, serta tenggat 8, 6, 18, 15, dan 23 hari. Ada empat aturan. Yang datang dulu dikerjakan dulu, FCFS: rata-rata selesai 15,4 hari. Yang paling cepat dikerjakan dulu, SPT: rata-rata 13 hari, dan terbaik di tiga ukuran, yaitu waktu selesai, utilisasi 43 persen, dan jumlah pekerjaan yang menumpuk. Yang tenggatnya paling dekat dulu, EDD: paling sedikit terlambat, rata-rata hanya 1,2 hari. Yang paling lama dulu, LPT: paling buruk di semua ukuran. Artinya untuk Alaska: kalau ingin hangar cepat kosong, pakai SPT; kalau ingin tidak melewati tenggat kelaikan udara, pakai EDD; dan untuk pesawat yang sedang menganggur menunggu perbaikan, dipakai critical ratio, yaitu sisa waktu dibagi sisa pekerjaan, yang dihitung ulang setiap hari. Tidak ada satu aturan yang paling bagus di semua ukuran, jadi aturannya dipilih sesuai situasi.
Catatan: Kalau ditanya cara menghitung: utilisasi = total lama pengerjaan dibagi total waktu alir. Tabel lengkap ada di Materi Pemahaman bagian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[Riska · 1:45] Dua contoh lagi. Pertama, pekerjaan dua tahap: inspeksi dulu, baru perbaikan. Lima komponen dengan lama inspeksi dan perbaikan: A 5 dan 2 jam, B 3 dan 6, C 8 dan 4, D 10 dan 7, E 7 dan 12. Dengan Johnson's rule, yang inspeksinya cepat ditaruh di awal, yang perbaikannya cepat ditaruh di akhir. Hasilnya urutan B, E, D, C, A, dan semuanya selesai dalam 35 jam. Kalau urutan sembarang A sampai E, butuh 45 jam. Hemat 10 jam hanya dari urutan. Kedua, petugas gate di musim dingin. Kebutuhan Senin sampai Minggu: 5, 5, 6, 5, 4, 3, 3. Dengan pola kerja lima hari dan libur dua hari berurutan, cukup tujuh petugas: empat libur Sabtu–Minggu, dua libur Kamis–Jumat, satu libur Senin–Selasa, dan kelebihan tenaganya hanya empat orang-hari seminggu. Ingat juga dari slide Juan: truk deicing disiapkan delapan jam sebelum hujan beku datang. Jadi staf darat diatur berdasarkan prakiraan, bukan menunggu kejadian.
Catatan: Tunjuk batang Gantt B–E–D–C–A saat menyebut 35 jam.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[Riska · 1:45] Evaluasi kami: Alaska kuat dalam menyusun ulang jadwal jangka pendek, dan sedang memperbaiki perencanaan perawatan agar memperhitungkan kapasitas. Kelemahan yang terbukti adalah ketahanan sistem komputer terintegrasinya. Empat rekomendasi. Satu, perkuat ketahanan infrastruktur: dua pusat data yang sama-sama aktif, uji pindah sistem secara rutin, dan prosedur manual kalau sistem mati. Ukurannya: waktu pemulihan dan jumlah ground stop karena IT. Dua, jalankan perencanaan perawatan yang menghitung kapasitas lewat Tailsight, dengan lama pemesanan pemasok sebagai batasan. Ukurannya: jam pesawat menganggur, ketersediaan suku cadang, dan pemakaian jam teknisi. Tiga, aturan prioritas campuran di hangar: critical ratio untuk yang mendesak, SPT untuk antrean biasa, Johnson's rule untuk pekerjaan dua tahap. Ukurannya: keterlambatan rata-rata dan total waktu selesai. Empat, rapikan proses dulu, baru satukan sistem, saat Hawaiian dipindah ke sistem Alaska, dan jangan terlalu banyak mengubah perangkat lunaknya. Ukurannya: biaya kustomisasi dan jumlah masalah saat perpindahan.
Catatan: Setiap rekomendasi punya dasar teori; lihat bagian 8 Materi Pemahaman bila ditanya.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[Riska · 1:15] Tiga kesimpulan. Pertama, jadwal penerbangan adalah jadwal induk Alaska: dari situ kebutuhan perawatan, suku cadang, dan kru dihitung. Itu MRP. Dan satu basis data menyatukan semuanya. Itu ERP. Kedua, ketepatan waktu dijaga jam demi jam lewat sequencing and scheduling: aturan prioritas di hangar, pengaturan kru dengan batasan aturan, jadwal bergilir staf darat, dan penyusunan ulang jadwal saat badai. Ketiga, integrasi itu kekuatan sekaligus risiko: hemat 18 juta dolar per tahun, tetapi dua kali sistem mati pada 2025 menghentikan seluruh operasi. Jadi ketahanan sistem harus direncanakan seserius jadwalnya. Angka yang perlu diingat: 18 juta dolar, 85,8 persen, dan 79,25 persen.
Catatan: Daftar referensi lengkap ada di catatan pembicara slide ini dan di Materi Pemahaman.
Referensi: Heizer, J., Render, B., &amp; Munson, C. (2017). Operations Management (12th ed.), Bab 14–15, Global Company Profile Alaska Airlines hlm. 600–602. Pearson. | Slack, N., Brandon-Jones, A., &amp; Burgess, N. (2022). Operations Management (10th ed.), Bab 10 &amp; 14. Pearson. | Alaska Airlines (2026, 16 April). Alaska Airlines and Tailsight launch AI-powered maintenance planning solution. | Alaska Airlines (2025, 29 Oktober). Alaska Airlines and Hawaiian Airlines reach major integration milestone: a single operating certificate. | Alaska Air Group fact sheet. | Cirium (2025). 2024 On-Time Performance Review (via Fox Business). | GeekWire (Okt 2025); CBS News (Jul 2025) tentang outage. | CNBC (25 Jan 2024); Anchorage Daily News (6 Jan 2024) tentang grounding 737 MAX 9. | Aviacionline (2025) armada akhir 2024. | Halldale (2024) Fox TMS.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[Riska · 0:15] Itu presentasi kami. Terima kasih, kami siap menerima pertanyaan.
Catatan: Semua anggota berdiri untuk tanya jawab; pertanyaan dijawab pemilik bagian masing-masing.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UM">
    <p:bg>
      <p:bgPr>
        <a:solidFill>
          <a:srgbClr val="F4F4F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4F4F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2"/>
        </a:solidFill>
      </p:bgPr>
    </p:bg>
    <p:spTree>
      <p:nvGrpSpPr>
        <p:cNvPr id="1" name=""/>
        <p:cNvGrpSpPr/>
        <p:nvPr/>
      </p:nvGrpSpPr>
      <p:grpSpPr>
        <a:xfrm>
          <a:off x="0" y="0"/>
          <a:ext cx="0" cy="0"/>
          <a:chOff x="0" y="0"/>
          <a:chExt cx="0" cy="0"/>
        </a:xfrm>
      </p:grpSpPr>
      <p:sp>
        <p:nvSpPr>
          <p:cNvPr id="3" name="tag"/>
          <p:cNvSpPr/>
          <p:nvPr/>
        </p:nvSpPr>
        <p:spPr>
          <a:xfrm>
            <a:off x="548640" y="548640"/>
            <a:ext cx="6035040" cy="384048"/>
          </a:xfrm>
          <a:prstGeom prst="roundRect">
            <a:avLst>
              <a:gd name="adj" fmla="val 50000"/>
            </a:avLst>
          </a:prstGeom>
          <a:solidFill>
            <a:srgbClr val="1A1C14"/>
          </a:solidFill>
          <a:ln w="3175">
            <a:solidFill>
              <a:srgbClr val="1A1C14"/>
            </a:solidFill>
            <a:prstDash val="solid"/>
          </a:ln>
        </p:spPr>
      </p:sp>
      <p:sp>
        <p:nvSpPr>
          <p:cNvPr id="4" name="tag label"/>
          <p:cNvSpPr txBox="1"/>
          <p:nvPr/>
        </p:nvSpPr>
        <p:spPr>
          <a:xfrm>
            <a:off x="548640" y="548640"/>
            <a:ext cx="6035040" cy="384048"/>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Barlow Condensed" pitchFamily="34" charset="0"/>
                <a:ea typeface="Barlow Condensed" pitchFamily="34" charset="-122"/>
                <a:cs typeface="Barlow Condensed" pitchFamily="34" charset="-120"/>
              </a:rPr>
              <a:t>STUDI KASUS 5  ·  OPERATIONS &amp; TECHNOLOGY MANAGEMENT  ·  SESI 7</a:t>
            </a:r>
            <a:endParaRPr lang="en-US" sz="1400" dirty="0"/>
          </a:p>
        </p:txBody>
      </p:sp>
      <p:sp>
        <p:nvSpPr>
          <p:cNvPr id="5" name="headline"/>
          <p:cNvSpPr txBox="1"/>
          <p:nvPr/>
        </p:nvSpPr>
        <p:spPr>
          <a:xfrm>
            <a:off x="548640" y="1097280"/>
            <a:ext cx="4397514" cy="777240"/>
          </a:xfrm>
          <a:prstGeom prst="rect">
            <a:avLst/>
          </a:prstGeom>
          <a:noFill/>
          <a:ln/>
        </p:spPr>
        <p:txBody>
          <a:bodyPr wrap="square" lIns="0" tIns="0" rIns="0" bIns="0" rtlCol="0" anchor="ctr"/>
          <a:lstStyle/>
          <a:p>
            <a:pPr algn="l" indent="0" marL="0">
              <a:buNone/>
            </a:pPr>
            <a:r>
              <a:rPr lang="en-US" sz="6000" dirty="0">
                <a:solidFill>
                  <a:srgbClr val="1A1C14"/>
                </a:solidFill>
                <a:latin typeface="Barlow Condensed ExtraBold" pitchFamily="34" charset="0"/>
                <a:ea typeface="Barlow Condensed ExtraBold" pitchFamily="34" charset="-122"/>
                <a:cs typeface="Barlow Condensed ExtraBold" pitchFamily="34" charset="-120"/>
              </a:rPr>
              <a:t>PLANNING AND</a:t>
            </a:r>
            <a:endParaRPr lang="en-US" sz="6000" dirty="0"/>
          </a:p>
        </p:txBody>
      </p:sp>
      <p:sp>
        <p:nvSpPr>
          <p:cNvPr id="6" name="headline"/>
          <p:cNvSpPr txBox="1"/>
          <p:nvPr/>
        </p:nvSpPr>
        <p:spPr>
          <a:xfrm>
            <a:off x="548640" y="1911096"/>
            <a:ext cx="3526552" cy="777240"/>
          </a:xfrm>
          <a:prstGeom prst="rect">
            <a:avLst/>
          </a:prstGeom>
          <a:noFill/>
          <a:ln/>
        </p:spPr>
        <p:txBody>
          <a:bodyPr wrap="square" lIns="0" tIns="0" rIns="0" bIns="0" rtlCol="0" anchor="ctr"/>
          <a:lstStyle/>
          <a:p>
            <a:pPr algn="l" indent="0" marL="0">
              <a:buNone/>
            </a:pPr>
            <a:r>
              <a:rPr lang="en-US" sz="6000" dirty="0">
                <a:solidFill>
                  <a:srgbClr val="1A1C14"/>
                </a:solidFill>
                <a:latin typeface="Barlow Condensed ExtraBold" pitchFamily="34" charset="0"/>
                <a:ea typeface="Barlow Condensed ExtraBold" pitchFamily="34" charset="-122"/>
                <a:cs typeface="Barlow Condensed ExtraBold" pitchFamily="34" charset="-120"/>
              </a:rPr>
              <a:t>CONTROL DI</a:t>
            </a:r>
            <a:endParaRPr lang="en-US" sz="6000" dirty="0"/>
          </a:p>
        </p:txBody>
      </p:sp>
      <p:sp>
        <p:nvSpPr>
          <p:cNvPr id="7" name="highlight"/>
          <p:cNvSpPr/>
          <p:nvPr/>
        </p:nvSpPr>
        <p:spPr>
          <a:xfrm>
            <a:off x="411480" y="2756002"/>
            <a:ext cx="5165606" cy="715061"/>
          </a:xfrm>
          <a:prstGeom prst="roundRect">
            <a:avLst>
              <a:gd name="adj" fmla="val 10230"/>
            </a:avLst>
          </a:prstGeom>
          <a:solidFill>
            <a:srgbClr val="9CC506"/>
          </a:solidFill>
          <a:ln w="3175">
            <a:solidFill>
              <a:srgbClr val="9CC506"/>
            </a:solidFill>
            <a:prstDash val="solid"/>
          </a:ln>
        </p:spPr>
      </p:sp>
      <p:sp>
        <p:nvSpPr>
          <p:cNvPr id="8" name="headline"/>
          <p:cNvSpPr txBox="1"/>
          <p:nvPr/>
        </p:nvSpPr>
        <p:spPr>
          <a:xfrm>
            <a:off x="548640" y="2724912"/>
            <a:ext cx="5165606" cy="777240"/>
          </a:xfrm>
          <a:prstGeom prst="rect">
            <a:avLst/>
          </a:prstGeom>
          <a:noFill/>
          <a:ln/>
        </p:spPr>
        <p:txBody>
          <a:bodyPr wrap="square" lIns="0" tIns="0" rIns="0" bIns="0" rtlCol="0" anchor="ctr"/>
          <a:lstStyle/>
          <a:p>
            <a:pPr algn="l" indent="0" marL="0">
              <a:buNone/>
            </a:pPr>
            <a:r>
              <a:rPr lang="en-US" sz="6000" dirty="0">
                <a:solidFill>
                  <a:srgbClr val="1A1C14"/>
                </a:solidFill>
                <a:latin typeface="Barlow Condensed ExtraBold" pitchFamily="34" charset="0"/>
                <a:ea typeface="Barlow Condensed ExtraBold" pitchFamily="34" charset="-122"/>
                <a:cs typeface="Barlow Condensed ExtraBold" pitchFamily="34" charset="-120"/>
              </a:rPr>
              <a:t>ALASKA AIRLINES</a:t>
            </a:r>
            <a:endParaRPr lang="en-US" sz="6000" dirty="0"/>
          </a:p>
        </p:txBody>
      </p:sp>
      <p:sp>
        <p:nvSpPr>
          <p:cNvPr id="9" name="text"/>
          <p:cNvSpPr txBox="1"/>
          <p:nvPr/>
        </p:nvSpPr>
        <p:spPr>
          <a:xfrm>
            <a:off x="548640" y="3657600"/>
            <a:ext cx="6675120" cy="411480"/>
          </a:xfrm>
          <a:prstGeom prst="rect">
            <a:avLst/>
          </a:prstGeom>
          <a:noFill/>
          <a:ln/>
        </p:spPr>
        <p:txBody>
          <a:bodyPr wrap="square" lIns="0" tIns="0" rIns="0" bIns="0" rtlCol="0" anchor="t"/>
          <a:lstStyle/>
          <a:p>
            <a:pPr algn="l" indent="0" marL="0">
              <a:buNone/>
            </a:pPr>
            <a:r>
              <a:rPr lang="en-US" sz="2200" b="1" dirty="0">
                <a:solidFill>
                  <a:srgbClr val="1A1C14"/>
                </a:solidFill>
                <a:latin typeface="Barlow" pitchFamily="34" charset="0"/>
                <a:ea typeface="Barlow" pitchFamily="34" charset="-122"/>
                <a:cs typeface="Barlow" pitchFamily="34" charset="-120"/>
              </a:rPr>
              <a:t>MRP dan ERP  ·  Sequencing and Scheduling</a:t>
            </a:r>
            <a:endParaRPr lang="en-US" sz="2200" dirty="0"/>
          </a:p>
        </p:txBody>
      </p:sp>
      <p:sp>
        <p:nvSpPr>
          <p:cNvPr id="10" name="burst"/>
          <p:cNvSpPr/>
          <p:nvPr/>
        </p:nvSpPr>
        <p:spPr>
          <a:xfrm>
            <a:off x="6949440" y="3675888"/>
            <a:ext cx="365760" cy="365760"/>
          </a:xfrm>
          <a:prstGeom prst="ellipse">
            <a:avLst/>
          </a:prstGeom>
          <a:solidFill>
            <a:srgbClr val="F1681D"/>
          </a:solidFill>
          <a:ln w="3175">
            <a:solidFill>
              <a:srgbClr val="F1681D"/>
            </a:solidFill>
            <a:prstDash val="solid"/>
          </a:ln>
        </p:spPr>
      </p:sp>
      <p:pic>
        <p:nvPicPr>
          <p:cNvPr id="11" name="icon FaAsterisk" descr="preencoded.png">    </p:cNvPr>
          <p:cNvPicPr>
            <a:picLocks noChangeAspect="1"/>
          </p:cNvPicPr>
          <p:nvPr/>
        </p:nvPicPr>
        <p:blipFill>
          <a:blip r:embed="rId1"/>
          <a:stretch>
            <a:fillRect/>
          </a:stretch>
        </p:blipFill>
        <p:spPr>
          <a:xfrm>
            <a:off x="7029907" y="3756355"/>
            <a:ext cx="204826" cy="204826"/>
          </a:xfrm>
          <a:prstGeom prst="rect">
            <a:avLst/>
          </a:prstGeom>
        </p:spPr>
      </p:pic>
      <p:sp>
        <p:nvSpPr>
          <p:cNvPr id="12" name="card"/>
          <p:cNvSpPr/>
          <p:nvPr/>
        </p:nvSpPr>
        <p:spPr>
          <a:xfrm>
            <a:off x="548640" y="4251960"/>
            <a:ext cx="6858000" cy="1920240"/>
          </a:xfrm>
          <a:prstGeom prst="roundRect">
            <a:avLst>
              <a:gd name="adj" fmla="val 10476"/>
            </a:avLst>
          </a:prstGeom>
          <a:solidFill>
            <a:srgbClr val="1A1C14"/>
          </a:solidFill>
          <a:ln w="3175">
            <a:solidFill>
              <a:srgbClr val="1A1C14"/>
            </a:solidFill>
            <a:prstDash val="solid"/>
          </a:ln>
        </p:spPr>
      </p:sp>
      <p:sp>
        <p:nvSpPr>
          <p:cNvPr id="13" name="heading"/>
          <p:cNvSpPr txBox="1"/>
          <p:nvPr/>
        </p:nvSpPr>
        <p:spPr>
          <a:xfrm>
            <a:off x="822960" y="4389120"/>
            <a:ext cx="2743200" cy="365760"/>
          </a:xfrm>
          <a:prstGeom prst="rect">
            <a:avLst/>
          </a:prstGeom>
          <a:noFill/>
          <a:ln/>
        </p:spPr>
        <p:txBody>
          <a:bodyPr wrap="square" lIns="0" tIns="0" rIns="0" bIns="0" rtlCol="0" anchor="t"/>
          <a:lstStyle/>
          <a:p>
            <a:pPr algn="l" indent="0" marL="0">
              <a:lnSpc>
                <a:spcPct val="90000"/>
              </a:lnSpc>
              <a:buNone/>
            </a:pPr>
            <a:r>
              <a:rPr lang="en-US" sz="2000" dirty="0">
                <a:solidFill>
                  <a:srgbClr val="9CC506"/>
                </a:solidFill>
                <a:latin typeface="Barlow Condensed ExtraBold" pitchFamily="34" charset="0"/>
                <a:ea typeface="Barlow Condensed ExtraBold" pitchFamily="34" charset="-122"/>
                <a:cs typeface="Barlow Condensed ExtraBold" pitchFamily="34" charset="-120"/>
              </a:rPr>
              <a:t>PRESENTER</a:t>
            </a:r>
            <a:endParaRPr lang="en-US" sz="2000" dirty="0"/>
          </a:p>
        </p:txBody>
      </p:sp>
      <p:sp>
        <p:nvSpPr>
          <p:cNvPr id="14" name="text"/>
          <p:cNvSpPr txBox="1"/>
          <p:nvPr/>
        </p:nvSpPr>
        <p:spPr>
          <a:xfrm>
            <a:off x="822960" y="4800600"/>
            <a:ext cx="3200400" cy="292608"/>
          </a:xfrm>
          <a:prstGeom prst="rect">
            <a:avLst/>
          </a:prstGeom>
          <a:noFill/>
          <a:ln/>
        </p:spPr>
        <p:txBody>
          <a:bodyPr wrap="square" lIns="0" tIns="0" rIns="0" bIns="0" rtlCol="0" anchor="t"/>
          <a:lstStyle/>
          <a:p>
            <a:pPr algn="l" indent="0" marL="0">
              <a:buNone/>
            </a:pPr>
            <a:r>
              <a:rPr lang="en-US" sz="1600" b="1" dirty="0">
                <a:solidFill>
                  <a:srgbClr val="FFFFFF"/>
                </a:solidFill>
                <a:latin typeface="Barlow" pitchFamily="34" charset="0"/>
                <a:ea typeface="Barlow" pitchFamily="34" charset="-122"/>
                <a:cs typeface="Barlow" pitchFamily="34" charset="-120"/>
              </a:rPr>
              <a:t>Aslih Abnuri</a:t>
            </a:r>
            <a:endParaRPr lang="en-US" sz="1600" dirty="0"/>
          </a:p>
        </p:txBody>
      </p:sp>
      <p:sp>
        <p:nvSpPr>
          <p:cNvPr id="15" name="text"/>
          <p:cNvSpPr txBox="1"/>
          <p:nvPr/>
        </p:nvSpPr>
        <p:spPr>
          <a:xfrm>
            <a:off x="822960" y="5093208"/>
            <a:ext cx="3200400" cy="274320"/>
          </a:xfrm>
          <a:prstGeom prst="rect">
            <a:avLst/>
          </a:prstGeom>
          <a:noFill/>
          <a:ln/>
        </p:spPr>
        <p:txBody>
          <a:bodyPr wrap="square" lIns="0" tIns="0" rIns="0" bIns="0" rtlCol="0" anchor="t"/>
          <a:lstStyle/>
          <a:p>
            <a:pPr algn="l" indent="0" marL="0">
              <a:buNone/>
            </a:pPr>
            <a:r>
              <a:rPr lang="en-US" sz="1400" dirty="0">
                <a:solidFill>
                  <a:srgbClr val="C9E36A"/>
                </a:solidFill>
                <a:latin typeface="Barlow" pitchFamily="34" charset="0"/>
                <a:ea typeface="Barlow" pitchFamily="34" charset="-122"/>
                <a:cs typeface="Barlow" pitchFamily="34" charset="-120"/>
              </a:rPr>
              <a:t>NIM 25/574338/PEK/31801</a:t>
            </a:r>
            <a:endParaRPr lang="en-US" sz="1400" dirty="0"/>
          </a:p>
        </p:txBody>
      </p:sp>
      <p:sp>
        <p:nvSpPr>
          <p:cNvPr id="16" name="text"/>
          <p:cNvSpPr txBox="1"/>
          <p:nvPr/>
        </p:nvSpPr>
        <p:spPr>
          <a:xfrm>
            <a:off x="4160520" y="4800600"/>
            <a:ext cx="3200400" cy="292608"/>
          </a:xfrm>
          <a:prstGeom prst="rect">
            <a:avLst/>
          </a:prstGeom>
          <a:noFill/>
          <a:ln/>
        </p:spPr>
        <p:txBody>
          <a:bodyPr wrap="square" lIns="0" tIns="0" rIns="0" bIns="0" rtlCol="0" anchor="t"/>
          <a:lstStyle/>
          <a:p>
            <a:pPr algn="l" indent="0" marL="0">
              <a:buNone/>
            </a:pPr>
            <a:r>
              <a:rPr lang="en-US" sz="1600" b="1" dirty="0">
                <a:solidFill>
                  <a:srgbClr val="FFFFFF"/>
                </a:solidFill>
                <a:latin typeface="Barlow" pitchFamily="34" charset="0"/>
                <a:ea typeface="Barlow" pitchFamily="34" charset="-122"/>
                <a:cs typeface="Barlow" pitchFamily="34" charset="-120"/>
              </a:rPr>
              <a:t>Happy Dinithasari</a:t>
            </a:r>
            <a:endParaRPr lang="en-US" sz="1600" dirty="0"/>
          </a:p>
        </p:txBody>
      </p:sp>
      <p:sp>
        <p:nvSpPr>
          <p:cNvPr id="17" name="text"/>
          <p:cNvSpPr txBox="1"/>
          <p:nvPr/>
        </p:nvSpPr>
        <p:spPr>
          <a:xfrm>
            <a:off x="4160520" y="5093208"/>
            <a:ext cx="3200400" cy="274320"/>
          </a:xfrm>
          <a:prstGeom prst="rect">
            <a:avLst/>
          </a:prstGeom>
          <a:noFill/>
          <a:ln/>
        </p:spPr>
        <p:txBody>
          <a:bodyPr wrap="square" lIns="0" tIns="0" rIns="0" bIns="0" rtlCol="0" anchor="t"/>
          <a:lstStyle/>
          <a:p>
            <a:pPr algn="l" indent="0" marL="0">
              <a:buNone/>
            </a:pPr>
            <a:r>
              <a:rPr lang="en-US" sz="1400" dirty="0">
                <a:solidFill>
                  <a:srgbClr val="C9E36A"/>
                </a:solidFill>
                <a:latin typeface="Barlow" pitchFamily="34" charset="0"/>
                <a:ea typeface="Barlow" pitchFamily="34" charset="-122"/>
                <a:cs typeface="Barlow" pitchFamily="34" charset="-120"/>
              </a:rPr>
              <a:t>NIM 25/574400/PEK/31831</a:t>
            </a:r>
            <a:endParaRPr lang="en-US" sz="1400" dirty="0"/>
          </a:p>
        </p:txBody>
      </p:sp>
      <p:sp>
        <p:nvSpPr>
          <p:cNvPr id="18" name="text"/>
          <p:cNvSpPr txBox="1"/>
          <p:nvPr/>
        </p:nvSpPr>
        <p:spPr>
          <a:xfrm>
            <a:off x="822960" y="5440680"/>
            <a:ext cx="3200400" cy="292608"/>
          </a:xfrm>
          <a:prstGeom prst="rect">
            <a:avLst/>
          </a:prstGeom>
          <a:noFill/>
          <a:ln/>
        </p:spPr>
        <p:txBody>
          <a:bodyPr wrap="square" lIns="0" tIns="0" rIns="0" bIns="0" rtlCol="0" anchor="t"/>
          <a:lstStyle/>
          <a:p>
            <a:pPr algn="l" indent="0" marL="0">
              <a:buNone/>
            </a:pPr>
            <a:r>
              <a:rPr lang="en-US" sz="1600" b="1" dirty="0">
                <a:solidFill>
                  <a:srgbClr val="FFFFFF"/>
                </a:solidFill>
                <a:latin typeface="Barlow" pitchFamily="34" charset="0"/>
                <a:ea typeface="Barlow" pitchFamily="34" charset="-122"/>
                <a:cs typeface="Barlow" pitchFamily="34" charset="-120"/>
              </a:rPr>
              <a:t>Juan Bagas Prayogo</a:t>
            </a:r>
            <a:endParaRPr lang="en-US" sz="1600" dirty="0"/>
          </a:p>
        </p:txBody>
      </p:sp>
      <p:sp>
        <p:nvSpPr>
          <p:cNvPr id="19" name="text"/>
          <p:cNvSpPr txBox="1"/>
          <p:nvPr/>
        </p:nvSpPr>
        <p:spPr>
          <a:xfrm>
            <a:off x="822960" y="5733288"/>
            <a:ext cx="3200400" cy="274320"/>
          </a:xfrm>
          <a:prstGeom prst="rect">
            <a:avLst/>
          </a:prstGeom>
          <a:noFill/>
          <a:ln/>
        </p:spPr>
        <p:txBody>
          <a:bodyPr wrap="square" lIns="0" tIns="0" rIns="0" bIns="0" rtlCol="0" anchor="t"/>
          <a:lstStyle/>
          <a:p>
            <a:pPr algn="l" indent="0" marL="0">
              <a:buNone/>
            </a:pPr>
            <a:r>
              <a:rPr lang="en-US" sz="1400" dirty="0">
                <a:solidFill>
                  <a:srgbClr val="C9E36A"/>
                </a:solidFill>
                <a:latin typeface="Barlow" pitchFamily="34" charset="0"/>
                <a:ea typeface="Barlow" pitchFamily="34" charset="-122"/>
                <a:cs typeface="Barlow" pitchFamily="34" charset="-120"/>
              </a:rPr>
              <a:t>NIM 25/573847/PEK/31678</a:t>
            </a:r>
            <a:endParaRPr lang="en-US" sz="1400" dirty="0"/>
          </a:p>
        </p:txBody>
      </p:sp>
      <p:sp>
        <p:nvSpPr>
          <p:cNvPr id="20" name="text"/>
          <p:cNvSpPr txBox="1"/>
          <p:nvPr/>
        </p:nvSpPr>
        <p:spPr>
          <a:xfrm>
            <a:off x="4160520" y="5440680"/>
            <a:ext cx="3200400" cy="292608"/>
          </a:xfrm>
          <a:prstGeom prst="rect">
            <a:avLst/>
          </a:prstGeom>
          <a:noFill/>
          <a:ln/>
        </p:spPr>
        <p:txBody>
          <a:bodyPr wrap="square" lIns="0" tIns="0" rIns="0" bIns="0" rtlCol="0" anchor="t"/>
          <a:lstStyle/>
          <a:p>
            <a:pPr algn="l" indent="0" marL="0">
              <a:buNone/>
            </a:pPr>
            <a:r>
              <a:rPr lang="en-US" sz="1600" b="1" dirty="0">
                <a:solidFill>
                  <a:srgbClr val="FFFFFF"/>
                </a:solidFill>
                <a:latin typeface="Barlow" pitchFamily="34" charset="0"/>
                <a:ea typeface="Barlow" pitchFamily="34" charset="-122"/>
                <a:cs typeface="Barlow" pitchFamily="34" charset="-120"/>
              </a:rPr>
              <a:t>Riska Novalita</a:t>
            </a:r>
            <a:endParaRPr lang="en-US" sz="1600" dirty="0"/>
          </a:p>
        </p:txBody>
      </p:sp>
      <p:sp>
        <p:nvSpPr>
          <p:cNvPr id="21" name="text"/>
          <p:cNvSpPr txBox="1"/>
          <p:nvPr/>
        </p:nvSpPr>
        <p:spPr>
          <a:xfrm>
            <a:off x="4160520" y="5733288"/>
            <a:ext cx="3200400" cy="274320"/>
          </a:xfrm>
          <a:prstGeom prst="rect">
            <a:avLst/>
          </a:prstGeom>
          <a:noFill/>
          <a:ln/>
        </p:spPr>
        <p:txBody>
          <a:bodyPr wrap="square" lIns="0" tIns="0" rIns="0" bIns="0" rtlCol="0" anchor="t"/>
          <a:lstStyle/>
          <a:p>
            <a:pPr algn="l" indent="0" marL="0">
              <a:buNone/>
            </a:pPr>
            <a:r>
              <a:rPr lang="en-US" sz="1400" dirty="0">
                <a:solidFill>
                  <a:srgbClr val="C9E36A"/>
                </a:solidFill>
                <a:latin typeface="Barlow" pitchFamily="34" charset="0"/>
                <a:ea typeface="Barlow" pitchFamily="34" charset="-122"/>
                <a:cs typeface="Barlow" pitchFamily="34" charset="-120"/>
              </a:rPr>
              <a:t>NIM 25/574037/PEK/31724</a:t>
            </a:r>
            <a:endParaRPr lang="en-US" sz="1400" dirty="0"/>
          </a:p>
        </p:txBody>
      </p:sp>
      <p:sp>
        <p:nvSpPr>
          <p:cNvPr id="22" name="text"/>
          <p:cNvSpPr txBox="1"/>
          <p:nvPr/>
        </p:nvSpPr>
        <p:spPr>
          <a:xfrm>
            <a:off x="548640" y="6309360"/>
            <a:ext cx="6858000" cy="320040"/>
          </a:xfrm>
          <a:prstGeom prst="rect">
            <a:avLst/>
          </a:prstGeom>
          <a:noFill/>
          <a:ln/>
        </p:spPr>
        <p:txBody>
          <a:bodyPr wrap="square" lIns="0" tIns="0" rIns="0" bIns="0" rtlCol="0" anchor="t"/>
          <a:lstStyle/>
          <a:p>
            <a:pPr algn="l" indent="0" marL="0">
              <a:buNone/>
            </a:pPr>
            <a:r>
              <a:rPr lang="en-US" sz="1400" dirty="0">
                <a:solidFill>
                  <a:srgbClr val="1A1C14"/>
                </a:solidFill>
                <a:latin typeface="Barlow" pitchFamily="34" charset="0"/>
                <a:ea typeface="Barlow" pitchFamily="34" charset="-122"/>
                <a:cs typeface="Barlow" pitchFamily="34" charset="-120"/>
              </a:rPr>
              <a:t>Dosen Pengampu: Prof. Nur Aini Masruroh, S.T., M.Sc., Ph.D.</a:t>
            </a:r>
            <a:endParaRPr lang="en-US" sz="1400" dirty="0"/>
          </a:p>
        </p:txBody>
      </p:sp>
      <p:pic>
        <p:nvPicPr>
          <p:cNvPr id="23" name="foto pesawat di gate malam hari" descr="/tmp/claude-0/-home-user-Dom-Manipulation/385e5267-c23e-5c04-80f5-d5fb4946a902/scratchpad/build/img4/cover.png">    </p:cNvPr>
          <p:cNvPicPr>
            <a:picLocks noChangeAspect="1"/>
          </p:cNvPicPr>
          <p:nvPr/>
        </p:nvPicPr>
        <p:blipFill>
          <a:blip r:embed="rId2"/>
          <a:stretch>
            <a:fillRect/>
          </a:stretch>
        </p:blipFill>
        <p:spPr>
          <a:xfrm>
            <a:off x="7726680" y="502920"/>
            <a:ext cx="3913632" cy="5221224"/>
          </a:xfrm>
          <a:prstGeom prst="rect">
            <a:avLst/>
          </a:prstGeom>
        </p:spPr>
      </p:pic>
      <p:sp>
        <p:nvSpPr>
          <p:cNvPr id="24" name="text"/>
          <p:cNvSpPr txBox="1"/>
          <p:nvPr/>
        </p:nvSpPr>
        <p:spPr>
          <a:xfrm>
            <a:off x="7726680" y="5852160"/>
            <a:ext cx="3913632" cy="320040"/>
          </a:xfrm>
          <a:prstGeom prst="rect">
            <a:avLst/>
          </a:prstGeom>
          <a:noFill/>
          <a:ln/>
        </p:spPr>
        <p:txBody>
          <a:bodyPr wrap="square" lIns="0" tIns="0" rIns="0" bIns="0" rtlCol="0" anchor="t"/>
          <a:lstStyle/>
          <a:p>
            <a:pPr algn="ctr" indent="0" marL="0">
              <a:buNone/>
            </a:pPr>
            <a:r>
              <a:rPr lang="en-US" sz="1300" i="1" dirty="0">
                <a:solidFill>
                  <a:srgbClr val="6B6B66"/>
                </a:solidFill>
                <a:latin typeface="Barlow" pitchFamily="34" charset="0"/>
                <a:ea typeface="Barlow" pitchFamily="34" charset="-122"/>
                <a:cs typeface="Barlow" pitchFamily="34" charset="-120"/>
              </a:rPr>
              <a:t>Operasi darat Alaska Airlines di Seattle–Tacoma</a:t>
            </a:r>
            <a:endParaRPr lang="en-US" sz="13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9CC506"/>
        </a:solidFill>
      </p:bgPr>
    </p:bg>
    <p:spTree>
      <p:nvGrpSpPr>
        <p:cNvPr id="1" name=""/>
        <p:cNvGrpSpPr/>
        <p:nvPr/>
      </p:nvGrpSpPr>
      <p:grpSpPr>
        <a:xfrm>
          <a:off x="0" y="0"/>
          <a:ext cx="0" cy="0"/>
          <a:chOff x="0" y="0"/>
          <a:chExt cx="0" cy="0"/>
        </a:xfrm>
      </p:grpSpPr>
      <p:sp>
        <p:nvSpPr>
          <p:cNvPr id="3" name="headline"/>
          <p:cNvSpPr txBox="1"/>
          <p:nvPr/>
        </p:nvSpPr>
        <p:spPr>
          <a:xfrm>
            <a:off x="548640" y="502920"/>
            <a:ext cx="1436231" cy="621792"/>
          </a:xfrm>
          <a:prstGeom prst="rect">
            <a:avLst/>
          </a:prstGeom>
          <a:noFill/>
          <a:ln/>
        </p:spPr>
        <p:txBody>
          <a:bodyPr wrap="square" lIns="0" tIns="0" rIns="0" bIns="0" rtlCol="0" anchor="ctr"/>
          <a:lstStyle/>
          <a:p>
            <a:pPr algn="l" indent="0" marL="0">
              <a:buNone/>
            </a:pPr>
            <a:r>
              <a:rPr lang="en-US" sz="4800" dirty="0">
                <a:solidFill>
                  <a:srgbClr val="1A1C14"/>
                </a:solidFill>
                <a:latin typeface="Barlow Condensed ExtraBold" pitchFamily="34" charset="0"/>
                <a:ea typeface="Barlow Condensed ExtraBold" pitchFamily="34" charset="-122"/>
                <a:cs typeface="Barlow Condensed ExtraBold" pitchFamily="34" charset="-120"/>
              </a:rPr>
              <a:t>ALUR</a:t>
            </a:r>
            <a:endParaRPr lang="en-US" sz="4800" dirty="0"/>
          </a:p>
        </p:txBody>
      </p:sp>
      <p:sp>
        <p:nvSpPr>
          <p:cNvPr id="4" name="highlight"/>
          <p:cNvSpPr/>
          <p:nvPr/>
        </p:nvSpPr>
        <p:spPr>
          <a:xfrm>
            <a:off x="1832471" y="527792"/>
            <a:ext cx="3199194" cy="572049"/>
          </a:xfrm>
          <a:prstGeom prst="roundRect">
            <a:avLst>
              <a:gd name="adj" fmla="val 12788"/>
            </a:avLst>
          </a:prstGeom>
          <a:solidFill>
            <a:srgbClr val="FFFFFF"/>
          </a:solidFill>
          <a:ln w="3175">
            <a:solidFill>
              <a:srgbClr val="FFFFFF"/>
            </a:solidFill>
            <a:prstDash val="solid"/>
          </a:ln>
        </p:spPr>
      </p:sp>
      <p:sp>
        <p:nvSpPr>
          <p:cNvPr id="5" name="headline"/>
          <p:cNvSpPr txBox="1"/>
          <p:nvPr/>
        </p:nvSpPr>
        <p:spPr>
          <a:xfrm>
            <a:off x="1942199" y="502920"/>
            <a:ext cx="3254057" cy="621792"/>
          </a:xfrm>
          <a:prstGeom prst="rect">
            <a:avLst/>
          </a:prstGeom>
          <a:noFill/>
          <a:ln/>
        </p:spPr>
        <p:txBody>
          <a:bodyPr wrap="square" lIns="0" tIns="0" rIns="0" bIns="0" rtlCol="0" anchor="ctr"/>
          <a:lstStyle/>
          <a:p>
            <a:pPr algn="l" indent="0" marL="0">
              <a:buNone/>
            </a:pPr>
            <a:r>
              <a:rPr lang="en-US" sz="4800" dirty="0">
                <a:solidFill>
                  <a:srgbClr val="1A1C14"/>
                </a:solidFill>
                <a:latin typeface="Barlow Condensed ExtraBold" pitchFamily="34" charset="0"/>
                <a:ea typeface="Barlow Condensed ExtraBold" pitchFamily="34" charset="-122"/>
                <a:cs typeface="Barlow Condensed ExtraBold" pitchFamily="34" charset="-120"/>
              </a:rPr>
              <a:t>PEMBAHASAN</a:t>
            </a:r>
            <a:endParaRPr lang="en-US" sz="4800" dirty="0"/>
          </a:p>
        </p:txBody>
      </p:sp>
      <p:sp>
        <p:nvSpPr>
          <p:cNvPr id="6" name="text"/>
          <p:cNvSpPr txBox="1"/>
          <p:nvPr/>
        </p:nvSpPr>
        <p:spPr>
          <a:xfrm>
            <a:off x="548640" y="1325880"/>
            <a:ext cx="8686800" cy="457200"/>
          </a:xfrm>
          <a:prstGeom prst="rect">
            <a:avLst/>
          </a:prstGeom>
          <a:noFill/>
          <a:ln/>
        </p:spPr>
        <p:txBody>
          <a:bodyPr wrap="square" lIns="0" tIns="0" rIns="0" bIns="0" rtlCol="0" anchor="t"/>
          <a:lstStyle/>
          <a:p>
            <a:pPr algn="l" indent="0" marL="0">
              <a:buNone/>
            </a:pPr>
            <a:r>
              <a:rPr lang="en-US" sz="1800" dirty="0">
                <a:solidFill>
                  <a:srgbClr val="1A1C14"/>
                </a:solidFill>
                <a:latin typeface="Barlow" pitchFamily="34" charset="0"/>
                <a:ea typeface="Barlow" pitchFamily="34" charset="-122"/>
                <a:cs typeface="Barlow" pitchFamily="34" charset="-120"/>
              </a:rPr>
              <a:t>Langsung pada kasus, mengikuti dua subtopik sesi. Setiap langkah memakai temuan langkah sebelumnya.</a:t>
            </a:r>
            <a:endParaRPr lang="en-US" sz="1800" dirty="0"/>
          </a:p>
        </p:txBody>
      </p:sp>
      <p:sp>
        <p:nvSpPr>
          <p:cNvPr id="7" name="card"/>
          <p:cNvSpPr/>
          <p:nvPr/>
        </p:nvSpPr>
        <p:spPr>
          <a:xfrm>
            <a:off x="548640" y="2011680"/>
            <a:ext cx="2602154" cy="3566160"/>
          </a:xfrm>
          <a:prstGeom prst="roundRect">
            <a:avLst>
              <a:gd name="adj" fmla="val 7731"/>
            </a:avLst>
          </a:prstGeom>
          <a:solidFill>
            <a:srgbClr val="FFFFFF"/>
          </a:solidFill>
          <a:ln w="3175">
            <a:solidFill>
              <a:srgbClr val="FFFFFF"/>
            </a:solidFill>
            <a:prstDash val="solid"/>
          </a:ln>
        </p:spPr>
      </p:sp>
      <p:sp>
        <p:nvSpPr>
          <p:cNvPr id="8" name="dot"/>
          <p:cNvSpPr/>
          <p:nvPr/>
        </p:nvSpPr>
        <p:spPr>
          <a:xfrm>
            <a:off x="2647874" y="2240280"/>
            <a:ext cx="274320" cy="274320"/>
          </a:xfrm>
          <a:prstGeom prst="ellipse">
            <a:avLst/>
          </a:prstGeom>
          <a:solidFill>
            <a:srgbClr val="F1681D"/>
          </a:solidFill>
          <a:ln w="3175">
            <a:solidFill>
              <a:srgbClr val="F1681D"/>
            </a:solidFill>
            <a:prstDash val="solid"/>
          </a:ln>
        </p:spPr>
      </p:sp>
      <p:sp>
        <p:nvSpPr>
          <p:cNvPr id="9" name="heading"/>
          <p:cNvSpPr txBox="1"/>
          <p:nvPr/>
        </p:nvSpPr>
        <p:spPr>
          <a:xfrm>
            <a:off x="822960" y="2194560"/>
            <a:ext cx="1371600" cy="685800"/>
          </a:xfrm>
          <a:prstGeom prst="rect">
            <a:avLst/>
          </a:prstGeom>
          <a:noFill/>
          <a:ln/>
        </p:spPr>
        <p:txBody>
          <a:bodyPr wrap="square" lIns="0" tIns="0" rIns="0" bIns="0" rtlCol="0" anchor="t"/>
          <a:lstStyle/>
          <a:p>
            <a:pPr algn="l" indent="0" marL="0">
              <a:lnSpc>
                <a:spcPct val="90000"/>
              </a:lnSpc>
              <a:buNone/>
            </a:pPr>
            <a:r>
              <a:rPr lang="en-US" sz="4400" dirty="0">
                <a:solidFill>
                  <a:srgbClr val="F1681D"/>
                </a:solidFill>
                <a:latin typeface="Barlow Condensed ExtraBold" pitchFamily="34" charset="0"/>
                <a:ea typeface="Barlow Condensed ExtraBold" pitchFamily="34" charset="-122"/>
                <a:cs typeface="Barlow Condensed ExtraBold" pitchFamily="34" charset="-120"/>
              </a:rPr>
              <a:t>01</a:t>
            </a:r>
            <a:endParaRPr lang="en-US" sz="4400" dirty="0"/>
          </a:p>
        </p:txBody>
      </p:sp>
      <p:sp>
        <p:nvSpPr>
          <p:cNvPr id="10" name="heading"/>
          <p:cNvSpPr txBox="1"/>
          <p:nvPr/>
        </p:nvSpPr>
        <p:spPr>
          <a:xfrm>
            <a:off x="822960" y="2971800"/>
            <a:ext cx="2053514" cy="86868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PROFIL &amp;</a:t>
            </a:r>
            <a:endParaRPr lang="en-US" sz="2600" dirty="0"/>
          </a:p>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PERMASALAHAN</a:t>
            </a:r>
            <a:endParaRPr lang="en-US" sz="2600" dirty="0"/>
          </a:p>
        </p:txBody>
      </p:sp>
      <p:sp>
        <p:nvSpPr>
          <p:cNvPr id="11" name="text"/>
          <p:cNvSpPr txBox="1"/>
          <p:nvPr/>
        </p:nvSpPr>
        <p:spPr>
          <a:xfrm>
            <a:off x="822960" y="3931920"/>
            <a:ext cx="2053514" cy="1554480"/>
          </a:xfrm>
          <a:prstGeom prst="rect">
            <a:avLst/>
          </a:prstGeom>
          <a:noFill/>
          <a:ln/>
        </p:spPr>
        <p:txBody>
          <a:bodyPr wrap="square" lIns="0" tIns="0" rIns="0" bIns="0" rtlCol="0" anchor="t"/>
          <a:lstStyle/>
          <a:p>
            <a:pPr algn="l" indent="0" marL="0">
              <a:buNone/>
            </a:pPr>
            <a:r>
              <a:rPr lang="en-US" sz="1600" dirty="0">
                <a:solidFill>
                  <a:srgbClr val="1A1C14"/>
                </a:solidFill>
                <a:latin typeface="Barlow" pitchFamily="34" charset="0"/>
                <a:ea typeface="Barlow" pitchFamily="34" charset="-122"/>
                <a:cs typeface="Barlow" pitchFamily="34" charset="-120"/>
              </a:rPr>
              <a:t>Skala operasi Alaska Airlines dan empat sumber gangguan terhadap rencana.</a:t>
            </a:r>
            <a:endParaRPr lang="en-US" sz="1600" dirty="0"/>
          </a:p>
        </p:txBody>
      </p:sp>
      <p:sp>
        <p:nvSpPr>
          <p:cNvPr id="12" name="card"/>
          <p:cNvSpPr/>
          <p:nvPr/>
        </p:nvSpPr>
        <p:spPr>
          <a:xfrm>
            <a:off x="3379394" y="2011680"/>
            <a:ext cx="2602154" cy="3566160"/>
          </a:xfrm>
          <a:prstGeom prst="roundRect">
            <a:avLst>
              <a:gd name="adj" fmla="val 7731"/>
            </a:avLst>
          </a:prstGeom>
          <a:solidFill>
            <a:srgbClr val="FFFFFF"/>
          </a:solidFill>
          <a:ln w="3175">
            <a:solidFill>
              <a:srgbClr val="FFFFFF"/>
            </a:solidFill>
            <a:prstDash val="solid"/>
          </a:ln>
        </p:spPr>
      </p:sp>
      <p:sp>
        <p:nvSpPr>
          <p:cNvPr id="13" name="dot"/>
          <p:cNvSpPr/>
          <p:nvPr/>
        </p:nvSpPr>
        <p:spPr>
          <a:xfrm>
            <a:off x="5478628" y="2240280"/>
            <a:ext cx="274320" cy="274320"/>
          </a:xfrm>
          <a:prstGeom prst="ellipse">
            <a:avLst/>
          </a:prstGeom>
          <a:solidFill>
            <a:srgbClr val="F1681D"/>
          </a:solidFill>
          <a:ln w="3175">
            <a:solidFill>
              <a:srgbClr val="F1681D"/>
            </a:solidFill>
            <a:prstDash val="solid"/>
          </a:ln>
        </p:spPr>
      </p:sp>
      <p:sp>
        <p:nvSpPr>
          <p:cNvPr id="14" name="heading"/>
          <p:cNvSpPr txBox="1"/>
          <p:nvPr/>
        </p:nvSpPr>
        <p:spPr>
          <a:xfrm>
            <a:off x="3653714" y="2194560"/>
            <a:ext cx="1371600" cy="685800"/>
          </a:xfrm>
          <a:prstGeom prst="rect">
            <a:avLst/>
          </a:prstGeom>
          <a:noFill/>
          <a:ln/>
        </p:spPr>
        <p:txBody>
          <a:bodyPr wrap="square" lIns="0" tIns="0" rIns="0" bIns="0" rtlCol="0" anchor="t"/>
          <a:lstStyle/>
          <a:p>
            <a:pPr algn="l" indent="0" marL="0">
              <a:lnSpc>
                <a:spcPct val="90000"/>
              </a:lnSpc>
              <a:buNone/>
            </a:pPr>
            <a:r>
              <a:rPr lang="en-US" sz="4400" dirty="0">
                <a:solidFill>
                  <a:srgbClr val="F1681D"/>
                </a:solidFill>
                <a:latin typeface="Barlow Condensed ExtraBold" pitchFamily="34" charset="0"/>
                <a:ea typeface="Barlow Condensed ExtraBold" pitchFamily="34" charset="-122"/>
                <a:cs typeface="Barlow Condensed ExtraBold" pitchFamily="34" charset="-120"/>
              </a:rPr>
              <a:t>02</a:t>
            </a:r>
            <a:endParaRPr lang="en-US" sz="4400" dirty="0"/>
          </a:p>
        </p:txBody>
      </p:sp>
      <p:sp>
        <p:nvSpPr>
          <p:cNvPr id="15" name="heading"/>
          <p:cNvSpPr txBox="1"/>
          <p:nvPr/>
        </p:nvSpPr>
        <p:spPr>
          <a:xfrm>
            <a:off x="3653714" y="2971800"/>
            <a:ext cx="2053514" cy="86868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MRP DAN ERP</a:t>
            </a:r>
            <a:endParaRPr lang="en-US" sz="2600" dirty="0"/>
          </a:p>
        </p:txBody>
      </p:sp>
      <p:sp>
        <p:nvSpPr>
          <p:cNvPr id="16" name="text"/>
          <p:cNvSpPr txBox="1"/>
          <p:nvPr/>
        </p:nvSpPr>
        <p:spPr>
          <a:xfrm>
            <a:off x="3653714" y="3931920"/>
            <a:ext cx="2053514" cy="1554480"/>
          </a:xfrm>
          <a:prstGeom prst="rect">
            <a:avLst/>
          </a:prstGeom>
          <a:noFill/>
          <a:ln/>
        </p:spPr>
        <p:txBody>
          <a:bodyPr wrap="square" lIns="0" tIns="0" rIns="0" bIns="0" rtlCol="0" anchor="t"/>
          <a:lstStyle/>
          <a:p>
            <a:pPr algn="l" indent="0" marL="0">
              <a:buNone/>
            </a:pPr>
            <a:r>
              <a:rPr lang="en-US" sz="1600" dirty="0">
                <a:solidFill>
                  <a:srgbClr val="1A1C14"/>
                </a:solidFill>
                <a:latin typeface="Barlow" pitchFamily="34" charset="0"/>
                <a:ea typeface="Barlow" pitchFamily="34" charset="-122"/>
                <a:cs typeface="Barlow" pitchFamily="34" charset="-120"/>
              </a:rPr>
              <a:t>Dari jadwal penerbangan ke suku cadang, lalu ke satu basis data operasi.</a:t>
            </a:r>
            <a:endParaRPr lang="en-US" sz="1600" dirty="0"/>
          </a:p>
        </p:txBody>
      </p:sp>
      <p:sp>
        <p:nvSpPr>
          <p:cNvPr id="17" name="card"/>
          <p:cNvSpPr/>
          <p:nvPr/>
        </p:nvSpPr>
        <p:spPr>
          <a:xfrm>
            <a:off x="6210148" y="2011680"/>
            <a:ext cx="2602154" cy="3566160"/>
          </a:xfrm>
          <a:prstGeom prst="roundRect">
            <a:avLst>
              <a:gd name="adj" fmla="val 7731"/>
            </a:avLst>
          </a:prstGeom>
          <a:solidFill>
            <a:srgbClr val="FFFFFF"/>
          </a:solidFill>
          <a:ln w="3175">
            <a:solidFill>
              <a:srgbClr val="FFFFFF"/>
            </a:solidFill>
            <a:prstDash val="solid"/>
          </a:ln>
        </p:spPr>
      </p:sp>
      <p:sp>
        <p:nvSpPr>
          <p:cNvPr id="18" name="dot"/>
          <p:cNvSpPr/>
          <p:nvPr/>
        </p:nvSpPr>
        <p:spPr>
          <a:xfrm>
            <a:off x="8309381" y="2240280"/>
            <a:ext cx="274320" cy="274320"/>
          </a:xfrm>
          <a:prstGeom prst="ellipse">
            <a:avLst/>
          </a:prstGeom>
          <a:solidFill>
            <a:srgbClr val="F1681D"/>
          </a:solidFill>
          <a:ln w="3175">
            <a:solidFill>
              <a:srgbClr val="F1681D"/>
            </a:solidFill>
            <a:prstDash val="solid"/>
          </a:ln>
        </p:spPr>
      </p:sp>
      <p:sp>
        <p:nvSpPr>
          <p:cNvPr id="19" name="heading"/>
          <p:cNvSpPr txBox="1"/>
          <p:nvPr/>
        </p:nvSpPr>
        <p:spPr>
          <a:xfrm>
            <a:off x="6484468" y="2194560"/>
            <a:ext cx="1371600" cy="685800"/>
          </a:xfrm>
          <a:prstGeom prst="rect">
            <a:avLst/>
          </a:prstGeom>
          <a:noFill/>
          <a:ln/>
        </p:spPr>
        <p:txBody>
          <a:bodyPr wrap="square" lIns="0" tIns="0" rIns="0" bIns="0" rtlCol="0" anchor="t"/>
          <a:lstStyle/>
          <a:p>
            <a:pPr algn="l" indent="0" marL="0">
              <a:lnSpc>
                <a:spcPct val="90000"/>
              </a:lnSpc>
              <a:buNone/>
            </a:pPr>
            <a:r>
              <a:rPr lang="en-US" sz="4400" dirty="0">
                <a:solidFill>
                  <a:srgbClr val="F1681D"/>
                </a:solidFill>
                <a:latin typeface="Barlow Condensed ExtraBold" pitchFamily="34" charset="0"/>
                <a:ea typeface="Barlow Condensed ExtraBold" pitchFamily="34" charset="-122"/>
                <a:cs typeface="Barlow Condensed ExtraBold" pitchFamily="34" charset="-120"/>
              </a:rPr>
              <a:t>03</a:t>
            </a:r>
            <a:endParaRPr lang="en-US" sz="4400" dirty="0"/>
          </a:p>
        </p:txBody>
      </p:sp>
      <p:sp>
        <p:nvSpPr>
          <p:cNvPr id="20" name="heading"/>
          <p:cNvSpPr txBox="1"/>
          <p:nvPr/>
        </p:nvSpPr>
        <p:spPr>
          <a:xfrm>
            <a:off x="6484468" y="2971800"/>
            <a:ext cx="2053514" cy="86868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SEQUENCING &amp;</a:t>
            </a:r>
            <a:endParaRPr lang="en-US" sz="2600" dirty="0"/>
          </a:p>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SCHEDULING</a:t>
            </a:r>
            <a:endParaRPr lang="en-US" sz="2600" dirty="0"/>
          </a:p>
        </p:txBody>
      </p:sp>
      <p:sp>
        <p:nvSpPr>
          <p:cNvPr id="21" name="text"/>
          <p:cNvSpPr txBox="1"/>
          <p:nvPr/>
        </p:nvSpPr>
        <p:spPr>
          <a:xfrm>
            <a:off x="6484468" y="3931920"/>
            <a:ext cx="2053514" cy="1554480"/>
          </a:xfrm>
          <a:prstGeom prst="rect">
            <a:avLst/>
          </a:prstGeom>
          <a:noFill/>
          <a:ln/>
        </p:spPr>
        <p:txBody>
          <a:bodyPr wrap="square" lIns="0" tIns="0" rIns="0" bIns="0" rtlCol="0" anchor="t"/>
          <a:lstStyle/>
          <a:p>
            <a:pPr algn="l" indent="0" marL="0">
              <a:buNone/>
            </a:pPr>
            <a:r>
              <a:rPr lang="en-US" sz="1600" dirty="0">
                <a:solidFill>
                  <a:srgbClr val="1A1C14"/>
                </a:solidFill>
                <a:latin typeface="Barlow" pitchFamily="34" charset="0"/>
                <a:ea typeface="Barlow" pitchFamily="34" charset="-122"/>
                <a:cs typeface="Barlow" pitchFamily="34" charset="-120"/>
              </a:rPr>
              <a:t>Mengurutkan pesawat, kru, hangar, dan staf darat, termasuk saat badai.</a:t>
            </a:r>
            <a:endParaRPr lang="en-US" sz="1600" dirty="0"/>
          </a:p>
        </p:txBody>
      </p:sp>
      <p:sp>
        <p:nvSpPr>
          <p:cNvPr id="22" name="card"/>
          <p:cNvSpPr/>
          <p:nvPr/>
        </p:nvSpPr>
        <p:spPr>
          <a:xfrm>
            <a:off x="9040901" y="2011680"/>
            <a:ext cx="2602154" cy="3566160"/>
          </a:xfrm>
          <a:prstGeom prst="roundRect">
            <a:avLst>
              <a:gd name="adj" fmla="val 7731"/>
            </a:avLst>
          </a:prstGeom>
          <a:solidFill>
            <a:srgbClr val="FFFFFF"/>
          </a:solidFill>
          <a:ln w="3175">
            <a:solidFill>
              <a:srgbClr val="FFFFFF"/>
            </a:solidFill>
            <a:prstDash val="solid"/>
          </a:ln>
        </p:spPr>
      </p:sp>
      <p:sp>
        <p:nvSpPr>
          <p:cNvPr id="23" name="dot"/>
          <p:cNvSpPr/>
          <p:nvPr/>
        </p:nvSpPr>
        <p:spPr>
          <a:xfrm>
            <a:off x="11140135" y="2240280"/>
            <a:ext cx="274320" cy="274320"/>
          </a:xfrm>
          <a:prstGeom prst="ellipse">
            <a:avLst/>
          </a:prstGeom>
          <a:solidFill>
            <a:srgbClr val="F1681D"/>
          </a:solidFill>
          <a:ln w="3175">
            <a:solidFill>
              <a:srgbClr val="F1681D"/>
            </a:solidFill>
            <a:prstDash val="solid"/>
          </a:ln>
        </p:spPr>
      </p:sp>
      <p:sp>
        <p:nvSpPr>
          <p:cNvPr id="24" name="heading"/>
          <p:cNvSpPr txBox="1"/>
          <p:nvPr/>
        </p:nvSpPr>
        <p:spPr>
          <a:xfrm>
            <a:off x="9315221" y="2194560"/>
            <a:ext cx="1371600" cy="685800"/>
          </a:xfrm>
          <a:prstGeom prst="rect">
            <a:avLst/>
          </a:prstGeom>
          <a:noFill/>
          <a:ln/>
        </p:spPr>
        <p:txBody>
          <a:bodyPr wrap="square" lIns="0" tIns="0" rIns="0" bIns="0" rtlCol="0" anchor="t"/>
          <a:lstStyle/>
          <a:p>
            <a:pPr algn="l" indent="0" marL="0">
              <a:lnSpc>
                <a:spcPct val="90000"/>
              </a:lnSpc>
              <a:buNone/>
            </a:pPr>
            <a:r>
              <a:rPr lang="en-US" sz="4400" dirty="0">
                <a:solidFill>
                  <a:srgbClr val="F1681D"/>
                </a:solidFill>
                <a:latin typeface="Barlow Condensed ExtraBold" pitchFamily="34" charset="0"/>
                <a:ea typeface="Barlow Condensed ExtraBold" pitchFamily="34" charset="-122"/>
                <a:cs typeface="Barlow Condensed ExtraBold" pitchFamily="34" charset="-120"/>
              </a:rPr>
              <a:t>04</a:t>
            </a:r>
            <a:endParaRPr lang="en-US" sz="4400" dirty="0"/>
          </a:p>
        </p:txBody>
      </p:sp>
      <p:sp>
        <p:nvSpPr>
          <p:cNvPr id="25" name="heading"/>
          <p:cNvSpPr txBox="1"/>
          <p:nvPr/>
        </p:nvSpPr>
        <p:spPr>
          <a:xfrm>
            <a:off x="9315221" y="2971800"/>
            <a:ext cx="2053514" cy="86868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EVALUASI &amp;</a:t>
            </a:r>
            <a:endParaRPr lang="en-US" sz="2600" dirty="0"/>
          </a:p>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REKOMENDASI</a:t>
            </a:r>
            <a:endParaRPr lang="en-US" sz="2600" dirty="0"/>
          </a:p>
        </p:txBody>
      </p:sp>
      <p:sp>
        <p:nvSpPr>
          <p:cNvPr id="26" name="text"/>
          <p:cNvSpPr txBox="1"/>
          <p:nvPr/>
        </p:nvSpPr>
        <p:spPr>
          <a:xfrm>
            <a:off x="9315221" y="3931920"/>
            <a:ext cx="2053514" cy="1554480"/>
          </a:xfrm>
          <a:prstGeom prst="rect">
            <a:avLst/>
          </a:prstGeom>
          <a:noFill/>
          <a:ln/>
        </p:spPr>
        <p:txBody>
          <a:bodyPr wrap="square" lIns="0" tIns="0" rIns="0" bIns="0" rtlCol="0" anchor="t"/>
          <a:lstStyle/>
          <a:p>
            <a:pPr algn="l" indent="0" marL="0">
              <a:buNone/>
            </a:pPr>
            <a:r>
              <a:rPr lang="en-US" sz="1600" dirty="0">
                <a:solidFill>
                  <a:srgbClr val="1A1C14"/>
                </a:solidFill>
                <a:latin typeface="Barlow" pitchFamily="34" charset="0"/>
                <a:ea typeface="Barlow" pitchFamily="34" charset="-122"/>
                <a:cs typeface="Barlow" pitchFamily="34" charset="-120"/>
              </a:rPr>
              <a:t>Apa yang kuat, apa yang lemah, dan apa yang perlu dibenahi.</a:t>
            </a:r>
            <a:endParaRPr lang="en-US" sz="1600" dirty="0"/>
          </a:p>
        </p:txBody>
      </p:sp>
      <p:sp>
        <p:nvSpPr>
          <p:cNvPr id="27" name="text"/>
          <p:cNvSpPr txBox="1"/>
          <p:nvPr/>
        </p:nvSpPr>
        <p:spPr>
          <a:xfrm>
            <a:off x="548640" y="5897880"/>
            <a:ext cx="11094415" cy="365760"/>
          </a:xfrm>
          <a:prstGeom prst="rect">
            <a:avLst/>
          </a:prstGeom>
          <a:noFill/>
          <a:ln/>
        </p:spPr>
        <p:txBody>
          <a:bodyPr wrap="square" lIns="0" tIns="0" rIns="0" bIns="0" rtlCol="0" anchor="t"/>
          <a:lstStyle/>
          <a:p>
            <a:pPr algn="l" indent="0" marL="0">
              <a:buNone/>
            </a:pPr>
            <a:r>
              <a:rPr lang="en-US" sz="1400" dirty="0">
                <a:solidFill>
                  <a:srgbClr val="1A1C14"/>
                </a:solidFill>
                <a:latin typeface="Barlow" pitchFamily="34" charset="0"/>
                <a:ea typeface="Barlow" pitchFamily="34" charset="-122"/>
                <a:cs typeface="Barlow" pitchFamily="34" charset="-120"/>
              </a:rPr>
              <a:t>Bacaan pendukung: Heizer, Render &amp; Munson (2017) Bab 14–15  ·  Slack, Brandon-Jones &amp; Burgess (2022) Bab 10 &amp; 14</a:t>
            </a:r>
            <a:endParaRPr lang="en-US" sz="14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3" name="headline"/>
          <p:cNvSpPr txBox="1"/>
          <p:nvPr/>
        </p:nvSpPr>
        <p:spPr>
          <a:xfrm>
            <a:off x="548640" y="502920"/>
            <a:ext cx="2330529" cy="621792"/>
          </a:xfrm>
          <a:prstGeom prst="rect">
            <a:avLst/>
          </a:prstGeom>
          <a:noFill/>
          <a:ln/>
        </p:spPr>
        <p:txBody>
          <a:bodyPr wrap="square" lIns="0" tIns="0" rIns="0" bIns="0" rtlCol="0" anchor="ctr"/>
          <a:lstStyle/>
          <a:p>
            <a:pPr algn="l" indent="0" marL="0">
              <a:buNone/>
            </a:pPr>
            <a:r>
              <a:rPr lang="en-US" sz="4800" dirty="0">
                <a:solidFill>
                  <a:srgbClr val="1A1C14"/>
                </a:solidFill>
                <a:latin typeface="Barlow Condensed ExtraBold" pitchFamily="34" charset="0"/>
                <a:ea typeface="Barlow Condensed ExtraBold" pitchFamily="34" charset="-122"/>
                <a:cs typeface="Barlow Condensed ExtraBold" pitchFamily="34" charset="-120"/>
              </a:rPr>
              <a:t>TENTANG</a:t>
            </a:r>
            <a:endParaRPr lang="en-US" sz="4800" dirty="0"/>
          </a:p>
        </p:txBody>
      </p:sp>
      <p:sp>
        <p:nvSpPr>
          <p:cNvPr id="4" name="highlight"/>
          <p:cNvSpPr/>
          <p:nvPr/>
        </p:nvSpPr>
        <p:spPr>
          <a:xfrm>
            <a:off x="2726769" y="527792"/>
            <a:ext cx="4132524" cy="572049"/>
          </a:xfrm>
          <a:prstGeom prst="roundRect">
            <a:avLst>
              <a:gd name="adj" fmla="val 12788"/>
            </a:avLst>
          </a:prstGeom>
          <a:solidFill>
            <a:srgbClr val="F1681D"/>
          </a:solidFill>
          <a:ln w="3175">
            <a:solidFill>
              <a:srgbClr val="F1681D"/>
            </a:solidFill>
            <a:prstDash val="solid"/>
          </a:ln>
        </p:spPr>
      </p:sp>
      <p:sp>
        <p:nvSpPr>
          <p:cNvPr id="5" name="headline"/>
          <p:cNvSpPr txBox="1"/>
          <p:nvPr/>
        </p:nvSpPr>
        <p:spPr>
          <a:xfrm>
            <a:off x="2836497" y="502920"/>
            <a:ext cx="4187388" cy="621792"/>
          </a:xfrm>
          <a:prstGeom prst="rect">
            <a:avLst/>
          </a:prstGeom>
          <a:noFill/>
          <a:ln/>
        </p:spPr>
        <p:txBody>
          <a:bodyPr wrap="square" lIns="0" tIns="0" rIns="0" bIns="0" rtlCol="0" anchor="ctr"/>
          <a:lstStyle/>
          <a:p>
            <a:pPr algn="l" indent="0" marL="0">
              <a:buNone/>
            </a:pPr>
            <a:r>
              <a:rPr lang="en-US" sz="4800" dirty="0">
                <a:solidFill>
                  <a:srgbClr val="FFFFFF"/>
                </a:solidFill>
                <a:latin typeface="Barlow Condensed ExtraBold" pitchFamily="34" charset="0"/>
                <a:ea typeface="Barlow Condensed ExtraBold" pitchFamily="34" charset="-122"/>
                <a:cs typeface="Barlow Condensed ExtraBold" pitchFamily="34" charset="-120"/>
              </a:rPr>
              <a:t>ALASKA AIRLINES</a:t>
            </a:r>
            <a:endParaRPr lang="en-US" sz="4800" dirty="0"/>
          </a:p>
        </p:txBody>
      </p:sp>
      <p:sp>
        <p:nvSpPr>
          <p:cNvPr id="6" name="card"/>
          <p:cNvSpPr/>
          <p:nvPr/>
        </p:nvSpPr>
        <p:spPr>
          <a:xfrm>
            <a:off x="548640" y="1417320"/>
            <a:ext cx="6492240" cy="4800600"/>
          </a:xfrm>
          <a:prstGeom prst="roundRect">
            <a:avLst>
              <a:gd name="adj" fmla="val 4190"/>
            </a:avLst>
          </a:prstGeom>
          <a:solidFill>
            <a:srgbClr val="FFFFFF"/>
          </a:solidFill>
          <a:ln w="3175">
            <a:solidFill>
              <a:srgbClr val="FFFFFF"/>
            </a:solidFill>
            <a:prstDash val="solid"/>
          </a:ln>
        </p:spPr>
      </p:sp>
      <p:sp>
        <p:nvSpPr>
          <p:cNvPr id="7" name="text"/>
          <p:cNvSpPr txBox="1"/>
          <p:nvPr/>
        </p:nvSpPr>
        <p:spPr>
          <a:xfrm>
            <a:off x="868680" y="1645920"/>
            <a:ext cx="5852160" cy="1188720"/>
          </a:xfrm>
          <a:prstGeom prst="rect">
            <a:avLst/>
          </a:prstGeom>
          <a:noFill/>
          <a:ln/>
        </p:spPr>
        <p:txBody>
          <a:bodyPr wrap="square" lIns="0" tIns="0" rIns="0" bIns="0" rtlCol="0" anchor="t"/>
          <a:lstStyle/>
          <a:p>
            <a:pPr algn="l" indent="0" marL="0">
              <a:buNone/>
            </a:pPr>
            <a:r>
              <a:rPr lang="en-US" sz="1600" dirty="0">
                <a:solidFill>
                  <a:srgbClr val="1A1C14"/>
                </a:solidFill>
                <a:latin typeface="Barlow" pitchFamily="34" charset="0"/>
                <a:ea typeface="Barlow" pitchFamily="34" charset="-122"/>
                <a:cs typeface="Barlow" pitchFamily="34" charset="-120"/>
              </a:rPr>
              <a:t>Maskapai berbasis Seattle–Tacoma (SEA) di bawah Alaska Air Group bersama Horizon Air dan, sejak 2024, Hawaiian Airlines: lebih dari 140 destinasi, 30.000 karyawan, dan 392 pesawat pada akhir 2024.</a:t>
            </a:r>
            <a:endParaRPr lang="en-US" sz="1600" dirty="0"/>
          </a:p>
        </p:txBody>
      </p:sp>
      <p:sp>
        <p:nvSpPr>
          <p:cNvPr id="8" name="text"/>
          <p:cNvSpPr txBox="1"/>
          <p:nvPr/>
        </p:nvSpPr>
        <p:spPr>
          <a:xfrm>
            <a:off x="868680" y="2880360"/>
            <a:ext cx="5852160" cy="1554480"/>
          </a:xfrm>
          <a:prstGeom prst="rect">
            <a:avLst/>
          </a:prstGeom>
          <a:noFill/>
          <a:ln/>
        </p:spPr>
        <p:txBody>
          <a:bodyPr wrap="square" lIns="0" tIns="0" rIns="0" bIns="0" rtlCol="0" anchor="t"/>
          <a:lstStyle/>
          <a:p>
            <a:pPr algn="l" indent="0" marL="0">
              <a:buNone/>
            </a:pPr>
            <a:r>
              <a:rPr lang="en-US" sz="1600" dirty="0">
                <a:solidFill>
                  <a:srgbClr val="1A1C14"/>
                </a:solidFill>
                <a:latin typeface="Barlow" pitchFamily="34" charset="0"/>
                <a:ea typeface="Barlow" pitchFamily="34" charset="-122"/>
                <a:cs typeface="Barlow" pitchFamily="34" charset="-120"/>
              </a:rPr>
              <a:t>SEA adalah bandara tersibuk ke-15 di AS dengan hujan sekitar 5 inci per bulan saat musim dingin, namun memiliki </a:t>
            </a:r>
            <a:r>
              <a:rPr lang="en-US" sz="1600" i="1" dirty="0">
                <a:solidFill>
                  <a:srgbClr val="1A1C14"/>
                </a:solidFill>
                <a:latin typeface="Barlow" pitchFamily="34" charset="0"/>
                <a:ea typeface="Barlow" pitchFamily="34" charset="-122"/>
                <a:cs typeface="Barlow" pitchFamily="34" charset="-120"/>
              </a:rPr>
              <a:t>on-time departures</a:t>
            </a:r>
            <a:r>
              <a:rPr lang="en-US" sz="1600" dirty="0">
                <a:solidFill>
                  <a:srgbClr val="1A1C14"/>
                </a:solidFill>
                <a:latin typeface="Barlow" pitchFamily="34" charset="0"/>
                <a:ea typeface="Barlow" pitchFamily="34" charset="-122"/>
                <a:cs typeface="Barlow" pitchFamily="34" charset="-120"/>
              </a:rPr>
              <a:t> tertinggi di AS (85,8%). Alaska mengoperasikan lebih dari separuh penerbangan domestik di sana (Heizer et al., 2017).</a:t>
            </a:r>
            <a:endParaRPr lang="en-US" sz="1600" dirty="0"/>
          </a:p>
        </p:txBody>
      </p:sp>
      <p:sp>
        <p:nvSpPr>
          <p:cNvPr id="9" name="text"/>
          <p:cNvSpPr txBox="1"/>
          <p:nvPr/>
        </p:nvSpPr>
        <p:spPr>
          <a:xfrm>
            <a:off x="868680" y="4480560"/>
            <a:ext cx="5852160" cy="914400"/>
          </a:xfrm>
          <a:prstGeom prst="rect">
            <a:avLst/>
          </a:prstGeom>
          <a:noFill/>
          <a:ln/>
        </p:spPr>
        <p:txBody>
          <a:bodyPr wrap="square" lIns="0" tIns="0" rIns="0" bIns="0" rtlCol="0" anchor="t"/>
          <a:lstStyle/>
          <a:p>
            <a:pPr algn="l" indent="0" marL="0">
              <a:buNone/>
            </a:pPr>
            <a:r>
              <a:rPr lang="en-US" sz="1600" dirty="0">
                <a:solidFill>
                  <a:srgbClr val="1A1C14"/>
                </a:solidFill>
                <a:latin typeface="Barlow" pitchFamily="34" charset="0"/>
                <a:ea typeface="Barlow" pitchFamily="34" charset="-122"/>
                <a:cs typeface="Barlow" pitchFamily="34" charset="-120"/>
              </a:rPr>
              <a:t>29 Oktober 2025: FAA memberikan </a:t>
            </a:r>
            <a:r>
              <a:rPr lang="en-US" sz="1600" i="1" dirty="0">
                <a:solidFill>
                  <a:srgbClr val="1A1C14"/>
                </a:solidFill>
                <a:latin typeface="Barlow" pitchFamily="34" charset="0"/>
                <a:ea typeface="Barlow" pitchFamily="34" charset="-122"/>
                <a:cs typeface="Barlow" pitchFamily="34" charset="-120"/>
              </a:rPr>
              <a:t>single operating certificate</a:t>
            </a:r>
            <a:r>
              <a:rPr lang="en-US" sz="1600" dirty="0">
                <a:solidFill>
                  <a:srgbClr val="1A1C14"/>
                </a:solidFill>
                <a:latin typeface="Barlow" pitchFamily="34" charset="0"/>
                <a:ea typeface="Barlow" pitchFamily="34" charset="-122"/>
                <a:cs typeface="Barlow" pitchFamily="34" charset="-120"/>
              </a:rPr>
              <a:t> bagi Alaska dan Hawaiian. Dua merek, satu sistem operasi.</a:t>
            </a:r>
            <a:endParaRPr lang="en-US" sz="1600" dirty="0"/>
          </a:p>
        </p:txBody>
      </p:sp>
      <p:sp>
        <p:nvSpPr>
          <p:cNvPr id="10" name="tag"/>
          <p:cNvSpPr/>
          <p:nvPr/>
        </p:nvSpPr>
        <p:spPr>
          <a:xfrm>
            <a:off x="868680" y="5577840"/>
            <a:ext cx="2377440" cy="365760"/>
          </a:xfrm>
          <a:prstGeom prst="roundRect">
            <a:avLst>
              <a:gd name="adj" fmla="val 50000"/>
            </a:avLst>
          </a:prstGeom>
          <a:solidFill>
            <a:srgbClr val="9CC506"/>
          </a:solidFill>
          <a:ln w="3175">
            <a:solidFill>
              <a:srgbClr val="9CC506"/>
            </a:solidFill>
            <a:prstDash val="solid"/>
          </a:ln>
        </p:spPr>
      </p:sp>
      <p:sp>
        <p:nvSpPr>
          <p:cNvPr id="11" name="tag label"/>
          <p:cNvSpPr txBox="1"/>
          <p:nvPr/>
        </p:nvSpPr>
        <p:spPr>
          <a:xfrm>
            <a:off x="868680" y="5577840"/>
            <a:ext cx="2377440" cy="365760"/>
          </a:xfrm>
          <a:prstGeom prst="rect">
            <a:avLst/>
          </a:prstGeom>
          <a:noFill/>
          <a:ln/>
        </p:spPr>
        <p:txBody>
          <a:bodyPr wrap="square" lIns="0" tIns="0" rIns="0" bIns="0" rtlCol="0" anchor="ctr"/>
          <a:lstStyle/>
          <a:p>
            <a:pPr algn="ctr" indent="0" marL="0">
              <a:buNone/>
            </a:pPr>
            <a:r>
              <a:rPr lang="en-US" sz="1300" b="1" spc="100" kern="0" dirty="0">
                <a:solidFill>
                  <a:srgbClr val="1A1C14"/>
                </a:solidFill>
                <a:latin typeface="Barlow Condensed" pitchFamily="34" charset="0"/>
                <a:ea typeface="Barlow Condensed" pitchFamily="34" charset="-122"/>
                <a:cs typeface="Barlow Condensed" pitchFamily="34" charset="-120"/>
              </a:rPr>
              <a:t>HUB: SEATTLE–TACOMA</a:t>
            </a:r>
            <a:endParaRPr lang="en-US" sz="1300" dirty="0"/>
          </a:p>
        </p:txBody>
      </p:sp>
      <p:sp>
        <p:nvSpPr>
          <p:cNvPr id="12" name="tag"/>
          <p:cNvSpPr/>
          <p:nvPr/>
        </p:nvSpPr>
        <p:spPr>
          <a:xfrm>
            <a:off x="3383280" y="5577840"/>
            <a:ext cx="3200400" cy="365760"/>
          </a:xfrm>
          <a:prstGeom prst="roundRect">
            <a:avLst>
              <a:gd name="adj" fmla="val 50000"/>
            </a:avLst>
          </a:prstGeom>
          <a:solidFill>
            <a:srgbClr val="9CC506"/>
          </a:solidFill>
          <a:ln w="3175">
            <a:solidFill>
              <a:srgbClr val="9CC506"/>
            </a:solidFill>
            <a:prstDash val="solid"/>
          </a:ln>
        </p:spPr>
      </p:sp>
      <p:sp>
        <p:nvSpPr>
          <p:cNvPr id="13" name="tag label"/>
          <p:cNvSpPr txBox="1"/>
          <p:nvPr/>
        </p:nvSpPr>
        <p:spPr>
          <a:xfrm>
            <a:off x="3383280" y="5577840"/>
            <a:ext cx="3200400" cy="365760"/>
          </a:xfrm>
          <a:prstGeom prst="rect">
            <a:avLst/>
          </a:prstGeom>
          <a:noFill/>
          <a:ln/>
        </p:spPr>
        <p:txBody>
          <a:bodyPr wrap="square" lIns="0" tIns="0" rIns="0" bIns="0" rtlCol="0" anchor="ctr"/>
          <a:lstStyle/>
          <a:p>
            <a:pPr algn="ctr" indent="0" marL="0">
              <a:buNone/>
            </a:pPr>
            <a:r>
              <a:rPr lang="en-US" sz="1300" b="1" spc="100" kern="0" dirty="0">
                <a:solidFill>
                  <a:srgbClr val="1A1C14"/>
                </a:solidFill>
                <a:latin typeface="Barlow Condensed" pitchFamily="34" charset="0"/>
                <a:ea typeface="Barlow Condensed" pitchFamily="34" charset="-122"/>
                <a:cs typeface="Barlow Condensed" pitchFamily="34" charset="-120"/>
              </a:rPr>
              <a:t>ALASKA · HORIZON · HAWAIIAN</a:t>
            </a:r>
            <a:endParaRPr lang="en-US" sz="1300" dirty="0"/>
          </a:p>
        </p:txBody>
      </p:sp>
      <p:pic>
        <p:nvPicPr>
          <p:cNvPr id="14" name="foto apron bandara saat matahari terbit" descr="/tmp/claude-0/-home-user-Dom-Manipulation/385e5267-c23e-5c04-80f5-d5fb4946a902/scratchpad/build/img4/apron.png">    </p:cNvPr>
          <p:cNvPicPr>
            <a:picLocks noChangeAspect="1"/>
          </p:cNvPicPr>
          <p:nvPr/>
        </p:nvPicPr>
        <p:blipFill>
          <a:blip r:embed="rId1"/>
          <a:stretch>
            <a:fillRect/>
          </a:stretch>
        </p:blipFill>
        <p:spPr>
          <a:xfrm>
            <a:off x="7269480" y="1417320"/>
            <a:ext cx="4370832" cy="3273552"/>
          </a:xfrm>
          <a:prstGeom prst="rect">
            <a:avLst/>
          </a:prstGeom>
        </p:spPr>
      </p:pic>
      <p:sp>
        <p:nvSpPr>
          <p:cNvPr id="15" name="card"/>
          <p:cNvSpPr/>
          <p:nvPr/>
        </p:nvSpPr>
        <p:spPr>
          <a:xfrm>
            <a:off x="7269480" y="4846320"/>
            <a:ext cx="4370832" cy="1371600"/>
          </a:xfrm>
          <a:prstGeom prst="roundRect">
            <a:avLst>
              <a:gd name="adj" fmla="val 14667"/>
            </a:avLst>
          </a:prstGeom>
          <a:solidFill>
            <a:srgbClr val="1A1C14"/>
          </a:solidFill>
          <a:ln w="3175">
            <a:solidFill>
              <a:srgbClr val="1A1C14"/>
            </a:solidFill>
            <a:prstDash val="solid"/>
          </a:ln>
        </p:spPr>
      </p:sp>
      <p:sp>
        <p:nvSpPr>
          <p:cNvPr id="16" name="text"/>
          <p:cNvSpPr txBox="1"/>
          <p:nvPr/>
        </p:nvSpPr>
        <p:spPr>
          <a:xfrm>
            <a:off x="7498080" y="4846320"/>
            <a:ext cx="3931920" cy="1371600"/>
          </a:xfrm>
          <a:prstGeom prst="rect">
            <a:avLst/>
          </a:prstGeom>
          <a:noFill/>
          <a:ln/>
        </p:spPr>
        <p:txBody>
          <a:bodyPr wrap="square" lIns="0" tIns="0" rIns="0" bIns="0" rtlCol="0" anchor="ctr"/>
          <a:lstStyle/>
          <a:p>
            <a:pPr algn="l" indent="0" marL="0">
              <a:buNone/>
            </a:pPr>
            <a:r>
              <a:rPr lang="en-US" sz="1500" i="1" dirty="0">
                <a:solidFill>
                  <a:srgbClr val="FFFFFF"/>
                </a:solidFill>
                <a:latin typeface="Barlow" pitchFamily="34" charset="0"/>
                <a:ea typeface="Barlow" pitchFamily="34" charset="-122"/>
                <a:cs typeface="Barlow" pitchFamily="34" charset="-120"/>
              </a:rPr>
              <a:t>"Alaska menemukan keunggulan kompetitif pada kemampuannya melakukan penyesuaian menit terakhir." — Heizer et al. (2017)</a:t>
            </a:r>
            <a:endParaRPr lang="en-US" sz="15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681D"/>
        </a:solidFill>
      </p:bgPr>
    </p:bg>
    <p:spTree>
      <p:nvGrpSpPr>
        <p:cNvPr id="1" name=""/>
        <p:cNvGrpSpPr/>
        <p:nvPr/>
      </p:nvGrpSpPr>
      <p:grpSpPr>
        <a:xfrm>
          <a:off x="0" y="0"/>
          <a:ext cx="0" cy="0"/>
          <a:chOff x="0" y="0"/>
          <a:chExt cx="0" cy="0"/>
        </a:xfrm>
      </p:grpSpPr>
      <p:sp>
        <p:nvSpPr>
          <p:cNvPr id="3" name="headline"/>
          <p:cNvSpPr txBox="1"/>
          <p:nvPr/>
        </p:nvSpPr>
        <p:spPr>
          <a:xfrm>
            <a:off x="548640" y="502920"/>
            <a:ext cx="4762837" cy="621792"/>
          </a:xfrm>
          <a:prstGeom prst="rect">
            <a:avLst/>
          </a:prstGeom>
          <a:noFill/>
          <a:ln/>
        </p:spPr>
        <p:txBody>
          <a:bodyPr wrap="square" lIns="0" tIns="0" rIns="0" bIns="0" rtlCol="0" anchor="ctr"/>
          <a:lstStyle/>
          <a:p>
            <a:pPr algn="l" indent="0" marL="0">
              <a:buNone/>
            </a:pPr>
            <a:r>
              <a:rPr lang="en-US" sz="4800" dirty="0">
                <a:solidFill>
                  <a:srgbClr val="FFFFFF"/>
                </a:solidFill>
                <a:latin typeface="Barlow Condensed ExtraBold" pitchFamily="34" charset="0"/>
                <a:ea typeface="Barlow Condensed ExtraBold" pitchFamily="34" charset="-122"/>
                <a:cs typeface="Barlow Condensed ExtraBold" pitchFamily="34" charset="-120"/>
              </a:rPr>
              <a:t>SKALA OPERASI DAN</a:t>
            </a:r>
            <a:endParaRPr lang="en-US" sz="4800" dirty="0"/>
          </a:p>
        </p:txBody>
      </p:sp>
      <p:sp>
        <p:nvSpPr>
          <p:cNvPr id="4" name="highlight"/>
          <p:cNvSpPr/>
          <p:nvPr/>
        </p:nvSpPr>
        <p:spPr>
          <a:xfrm>
            <a:off x="5159077" y="527792"/>
            <a:ext cx="4494018" cy="572049"/>
          </a:xfrm>
          <a:prstGeom prst="roundRect">
            <a:avLst>
              <a:gd name="adj" fmla="val 12788"/>
            </a:avLst>
          </a:prstGeom>
          <a:solidFill>
            <a:srgbClr val="1A1C14"/>
          </a:solidFill>
          <a:ln w="3175">
            <a:solidFill>
              <a:srgbClr val="1A1C14"/>
            </a:solidFill>
            <a:prstDash val="solid"/>
          </a:ln>
        </p:spPr>
      </p:sp>
      <p:sp>
        <p:nvSpPr>
          <p:cNvPr id="5" name="headline"/>
          <p:cNvSpPr txBox="1"/>
          <p:nvPr/>
        </p:nvSpPr>
        <p:spPr>
          <a:xfrm>
            <a:off x="5268805" y="502920"/>
            <a:ext cx="4548882" cy="621792"/>
          </a:xfrm>
          <a:prstGeom prst="rect">
            <a:avLst/>
          </a:prstGeom>
          <a:noFill/>
          <a:ln/>
        </p:spPr>
        <p:txBody>
          <a:bodyPr wrap="square" lIns="0" tIns="0" rIns="0" bIns="0" rtlCol="0" anchor="ctr"/>
          <a:lstStyle/>
          <a:p>
            <a:pPr algn="l" indent="0" marL="0">
              <a:buNone/>
            </a:pPr>
            <a:r>
              <a:rPr lang="en-US" sz="4800" dirty="0">
                <a:solidFill>
                  <a:srgbClr val="FFFFFF"/>
                </a:solidFill>
                <a:latin typeface="Barlow Condensed ExtraBold" pitchFamily="34" charset="0"/>
                <a:ea typeface="Barlow Condensed ExtraBold" pitchFamily="34" charset="-122"/>
                <a:cs typeface="Barlow Condensed ExtraBold" pitchFamily="34" charset="-120"/>
              </a:rPr>
              <a:t>KETEPATAN WAKTU</a:t>
            </a:r>
            <a:endParaRPr lang="en-US" sz="4800" dirty="0"/>
          </a:p>
        </p:txBody>
      </p:sp>
      <p:sp>
        <p:nvSpPr>
          <p:cNvPr id="6" name="card"/>
          <p:cNvSpPr/>
          <p:nvPr/>
        </p:nvSpPr>
        <p:spPr>
          <a:xfrm>
            <a:off x="548640" y="1417320"/>
            <a:ext cx="2971800" cy="1478280"/>
          </a:xfrm>
          <a:prstGeom prst="roundRect">
            <a:avLst>
              <a:gd name="adj" fmla="val 13608"/>
            </a:avLst>
          </a:prstGeom>
          <a:solidFill>
            <a:srgbClr val="FFFFFF"/>
          </a:solidFill>
          <a:ln w="3175">
            <a:solidFill>
              <a:srgbClr val="FFFFFF"/>
            </a:solidFill>
            <a:prstDash val="solid"/>
          </a:ln>
        </p:spPr>
      </p:sp>
      <p:sp>
        <p:nvSpPr>
          <p:cNvPr id="7" name="heading"/>
          <p:cNvSpPr txBox="1"/>
          <p:nvPr/>
        </p:nvSpPr>
        <p:spPr>
          <a:xfrm>
            <a:off x="777240" y="1554480"/>
            <a:ext cx="2514600" cy="731520"/>
          </a:xfrm>
          <a:prstGeom prst="rect">
            <a:avLst/>
          </a:prstGeom>
          <a:noFill/>
          <a:ln/>
        </p:spPr>
        <p:txBody>
          <a:bodyPr wrap="square" lIns="0" tIns="0" rIns="0" bIns="0" rtlCol="0" anchor="t"/>
          <a:lstStyle/>
          <a:p>
            <a:pPr algn="l" indent="0" marL="0">
              <a:lnSpc>
                <a:spcPct val="90000"/>
              </a:lnSpc>
              <a:buNone/>
            </a:pPr>
            <a:r>
              <a:rPr lang="en-US" sz="4000" dirty="0">
                <a:solidFill>
                  <a:srgbClr val="1A1C14"/>
                </a:solidFill>
                <a:latin typeface="Barlow Condensed ExtraBold" pitchFamily="34" charset="0"/>
                <a:ea typeface="Barlow Condensed ExtraBold" pitchFamily="34" charset="-122"/>
                <a:cs typeface="Barlow Condensed ExtraBold" pitchFamily="34" charset="-120"/>
              </a:rPr>
              <a:t>392</a:t>
            </a:r>
            <a:endParaRPr lang="en-US" sz="4000" dirty="0"/>
          </a:p>
        </p:txBody>
      </p:sp>
      <p:sp>
        <p:nvSpPr>
          <p:cNvPr id="8" name="heading"/>
          <p:cNvSpPr txBox="1"/>
          <p:nvPr/>
        </p:nvSpPr>
        <p:spPr>
          <a:xfrm>
            <a:off x="777240" y="2286000"/>
            <a:ext cx="2514600" cy="548640"/>
          </a:xfrm>
          <a:prstGeom prst="rect">
            <a:avLst/>
          </a:prstGeom>
          <a:noFill/>
          <a:ln/>
        </p:spPr>
        <p:txBody>
          <a:bodyPr wrap="square" lIns="0" tIns="0" rIns="0" bIns="0" rtlCol="0" anchor="t"/>
          <a:lstStyle/>
          <a:p>
            <a:pPr algn="l" indent="0" marL="0">
              <a:lnSpc>
                <a:spcPct val="90000"/>
              </a:lnSpc>
              <a:buNone/>
            </a:pPr>
            <a:r>
              <a:rPr lang="en-US" sz="1700" b="1" spc="100" kern="0" dirty="0">
                <a:solidFill>
                  <a:srgbClr val="1A1C14"/>
                </a:solidFill>
                <a:latin typeface="Barlow Condensed" pitchFamily="34" charset="0"/>
                <a:ea typeface="Barlow Condensed" pitchFamily="34" charset="-122"/>
                <a:cs typeface="Barlow Condensed" pitchFamily="34" charset="-120"/>
              </a:rPr>
              <a:t>PESAWAT (AKHIR 2024)</a:t>
            </a:r>
            <a:endParaRPr lang="en-US" sz="1700" dirty="0"/>
          </a:p>
        </p:txBody>
      </p:sp>
      <p:sp>
        <p:nvSpPr>
          <p:cNvPr id="9" name="card"/>
          <p:cNvSpPr/>
          <p:nvPr/>
        </p:nvSpPr>
        <p:spPr>
          <a:xfrm>
            <a:off x="3703320" y="1417320"/>
            <a:ext cx="2971800" cy="1478280"/>
          </a:xfrm>
          <a:prstGeom prst="roundRect">
            <a:avLst>
              <a:gd name="adj" fmla="val 13608"/>
            </a:avLst>
          </a:prstGeom>
          <a:solidFill>
            <a:srgbClr val="9CC506"/>
          </a:solidFill>
          <a:ln w="3175">
            <a:solidFill>
              <a:srgbClr val="9CC506"/>
            </a:solidFill>
            <a:prstDash val="solid"/>
          </a:ln>
        </p:spPr>
      </p:sp>
      <p:sp>
        <p:nvSpPr>
          <p:cNvPr id="10" name="heading"/>
          <p:cNvSpPr txBox="1"/>
          <p:nvPr/>
        </p:nvSpPr>
        <p:spPr>
          <a:xfrm>
            <a:off x="3931920" y="1554480"/>
            <a:ext cx="2514600" cy="731520"/>
          </a:xfrm>
          <a:prstGeom prst="rect">
            <a:avLst/>
          </a:prstGeom>
          <a:noFill/>
          <a:ln/>
        </p:spPr>
        <p:txBody>
          <a:bodyPr wrap="square" lIns="0" tIns="0" rIns="0" bIns="0" rtlCol="0" anchor="t"/>
          <a:lstStyle/>
          <a:p>
            <a:pPr algn="l" indent="0" marL="0">
              <a:lnSpc>
                <a:spcPct val="90000"/>
              </a:lnSpc>
              <a:buNone/>
            </a:pPr>
            <a:r>
              <a:rPr lang="en-US" sz="4000" dirty="0">
                <a:solidFill>
                  <a:srgbClr val="1A1C14"/>
                </a:solidFill>
                <a:latin typeface="Barlow Condensed ExtraBold" pitchFamily="34" charset="0"/>
                <a:ea typeface="Barlow Condensed ExtraBold" pitchFamily="34" charset="-122"/>
                <a:cs typeface="Barlow Condensed ExtraBold" pitchFamily="34" charset="-120"/>
              </a:rPr>
              <a:t>4.500+</a:t>
            </a:r>
            <a:endParaRPr lang="en-US" sz="4000" dirty="0"/>
          </a:p>
        </p:txBody>
      </p:sp>
      <p:sp>
        <p:nvSpPr>
          <p:cNvPr id="11" name="heading"/>
          <p:cNvSpPr txBox="1"/>
          <p:nvPr/>
        </p:nvSpPr>
        <p:spPr>
          <a:xfrm>
            <a:off x="3931920" y="2286000"/>
            <a:ext cx="2514600" cy="548640"/>
          </a:xfrm>
          <a:prstGeom prst="rect">
            <a:avLst/>
          </a:prstGeom>
          <a:noFill/>
          <a:ln/>
        </p:spPr>
        <p:txBody>
          <a:bodyPr wrap="square" lIns="0" tIns="0" rIns="0" bIns="0" rtlCol="0" anchor="t"/>
          <a:lstStyle/>
          <a:p>
            <a:pPr algn="l" indent="0" marL="0">
              <a:lnSpc>
                <a:spcPct val="90000"/>
              </a:lnSpc>
              <a:buNone/>
            </a:pPr>
            <a:r>
              <a:rPr lang="en-US" sz="1700" b="1" spc="100" kern="0" dirty="0">
                <a:solidFill>
                  <a:srgbClr val="1A1C14"/>
                </a:solidFill>
                <a:latin typeface="Barlow Condensed" pitchFamily="34" charset="0"/>
                <a:ea typeface="Barlow Condensed" pitchFamily="34" charset="-122"/>
                <a:cs typeface="Barlow Condensed" pitchFamily="34" charset="-120"/>
              </a:rPr>
              <a:t>PILOT &amp; AWAK KABIN DIJADWALKAN/HARI</a:t>
            </a:r>
            <a:endParaRPr lang="en-US" sz="1700" dirty="0"/>
          </a:p>
        </p:txBody>
      </p:sp>
      <p:sp>
        <p:nvSpPr>
          <p:cNvPr id="12" name="card"/>
          <p:cNvSpPr/>
          <p:nvPr/>
        </p:nvSpPr>
        <p:spPr>
          <a:xfrm>
            <a:off x="548640" y="3078480"/>
            <a:ext cx="2971800" cy="1478280"/>
          </a:xfrm>
          <a:prstGeom prst="roundRect">
            <a:avLst>
              <a:gd name="adj" fmla="val 13608"/>
            </a:avLst>
          </a:prstGeom>
          <a:solidFill>
            <a:srgbClr val="FFFFFF"/>
          </a:solidFill>
          <a:ln w="3175">
            <a:solidFill>
              <a:srgbClr val="FFFFFF"/>
            </a:solidFill>
            <a:prstDash val="solid"/>
          </a:ln>
        </p:spPr>
      </p:sp>
      <p:sp>
        <p:nvSpPr>
          <p:cNvPr id="13" name="heading"/>
          <p:cNvSpPr txBox="1"/>
          <p:nvPr/>
        </p:nvSpPr>
        <p:spPr>
          <a:xfrm>
            <a:off x="777240" y="3215640"/>
            <a:ext cx="2514600" cy="731520"/>
          </a:xfrm>
          <a:prstGeom prst="rect">
            <a:avLst/>
          </a:prstGeom>
          <a:noFill/>
          <a:ln/>
        </p:spPr>
        <p:txBody>
          <a:bodyPr wrap="square" lIns="0" tIns="0" rIns="0" bIns="0" rtlCol="0" anchor="t"/>
          <a:lstStyle/>
          <a:p>
            <a:pPr algn="l" indent="0" marL="0">
              <a:lnSpc>
                <a:spcPct val="90000"/>
              </a:lnSpc>
              <a:buNone/>
            </a:pPr>
            <a:r>
              <a:rPr lang="en-US" sz="4000" dirty="0">
                <a:solidFill>
                  <a:srgbClr val="1A1C14"/>
                </a:solidFill>
                <a:latin typeface="Barlow Condensed ExtraBold" pitchFamily="34" charset="0"/>
                <a:ea typeface="Barlow Condensed ExtraBold" pitchFamily="34" charset="-122"/>
                <a:cs typeface="Barlow Condensed ExtraBold" pitchFamily="34" charset="-120"/>
              </a:rPr>
              <a:t>140+</a:t>
            </a:r>
            <a:endParaRPr lang="en-US" sz="4000" dirty="0"/>
          </a:p>
        </p:txBody>
      </p:sp>
      <p:sp>
        <p:nvSpPr>
          <p:cNvPr id="14" name="heading"/>
          <p:cNvSpPr txBox="1"/>
          <p:nvPr/>
        </p:nvSpPr>
        <p:spPr>
          <a:xfrm>
            <a:off x="777240" y="3947160"/>
            <a:ext cx="2514600" cy="548640"/>
          </a:xfrm>
          <a:prstGeom prst="rect">
            <a:avLst/>
          </a:prstGeom>
          <a:noFill/>
          <a:ln/>
        </p:spPr>
        <p:txBody>
          <a:bodyPr wrap="square" lIns="0" tIns="0" rIns="0" bIns="0" rtlCol="0" anchor="t"/>
          <a:lstStyle/>
          <a:p>
            <a:pPr algn="l" indent="0" marL="0">
              <a:lnSpc>
                <a:spcPct val="90000"/>
              </a:lnSpc>
              <a:buNone/>
            </a:pPr>
            <a:r>
              <a:rPr lang="en-US" sz="1700" b="1" spc="100" kern="0" dirty="0">
                <a:solidFill>
                  <a:srgbClr val="1A1C14"/>
                </a:solidFill>
                <a:latin typeface="Barlow Condensed" pitchFamily="34" charset="0"/>
                <a:ea typeface="Barlow Condensed" pitchFamily="34" charset="-122"/>
                <a:cs typeface="Barlow Condensed" pitchFamily="34" charset="-120"/>
              </a:rPr>
              <a:t>DESTINASI</a:t>
            </a:r>
            <a:endParaRPr lang="en-US" sz="1700" dirty="0"/>
          </a:p>
        </p:txBody>
      </p:sp>
      <p:sp>
        <p:nvSpPr>
          <p:cNvPr id="15" name="card"/>
          <p:cNvSpPr/>
          <p:nvPr/>
        </p:nvSpPr>
        <p:spPr>
          <a:xfrm>
            <a:off x="3703320" y="3078480"/>
            <a:ext cx="2971800" cy="1478280"/>
          </a:xfrm>
          <a:prstGeom prst="roundRect">
            <a:avLst>
              <a:gd name="adj" fmla="val 13608"/>
            </a:avLst>
          </a:prstGeom>
          <a:solidFill>
            <a:srgbClr val="9CC506"/>
          </a:solidFill>
          <a:ln w="3175">
            <a:solidFill>
              <a:srgbClr val="9CC506"/>
            </a:solidFill>
            <a:prstDash val="solid"/>
          </a:ln>
        </p:spPr>
      </p:sp>
      <p:sp>
        <p:nvSpPr>
          <p:cNvPr id="16" name="heading"/>
          <p:cNvSpPr txBox="1"/>
          <p:nvPr/>
        </p:nvSpPr>
        <p:spPr>
          <a:xfrm>
            <a:off x="3931920" y="3215640"/>
            <a:ext cx="2514600" cy="731520"/>
          </a:xfrm>
          <a:prstGeom prst="rect">
            <a:avLst/>
          </a:prstGeom>
          <a:noFill/>
          <a:ln/>
        </p:spPr>
        <p:txBody>
          <a:bodyPr wrap="square" lIns="0" tIns="0" rIns="0" bIns="0" rtlCol="0" anchor="t"/>
          <a:lstStyle/>
          <a:p>
            <a:pPr algn="l" indent="0" marL="0">
              <a:lnSpc>
                <a:spcPct val="90000"/>
              </a:lnSpc>
              <a:buNone/>
            </a:pPr>
            <a:r>
              <a:rPr lang="en-US" sz="4000" dirty="0">
                <a:solidFill>
                  <a:srgbClr val="1A1C14"/>
                </a:solidFill>
                <a:latin typeface="Barlow Condensed ExtraBold" pitchFamily="34" charset="0"/>
                <a:ea typeface="Barlow Condensed ExtraBold" pitchFamily="34" charset="-122"/>
                <a:cs typeface="Barlow Condensed ExtraBold" pitchFamily="34" charset="-120"/>
              </a:rPr>
              <a:t>30.000+</a:t>
            </a:r>
            <a:endParaRPr lang="en-US" sz="4000" dirty="0"/>
          </a:p>
        </p:txBody>
      </p:sp>
      <p:sp>
        <p:nvSpPr>
          <p:cNvPr id="17" name="heading"/>
          <p:cNvSpPr txBox="1"/>
          <p:nvPr/>
        </p:nvSpPr>
        <p:spPr>
          <a:xfrm>
            <a:off x="3931920" y="3947160"/>
            <a:ext cx="2514600" cy="548640"/>
          </a:xfrm>
          <a:prstGeom prst="rect">
            <a:avLst/>
          </a:prstGeom>
          <a:noFill/>
          <a:ln/>
        </p:spPr>
        <p:txBody>
          <a:bodyPr wrap="square" lIns="0" tIns="0" rIns="0" bIns="0" rtlCol="0" anchor="t"/>
          <a:lstStyle/>
          <a:p>
            <a:pPr algn="l" indent="0" marL="0">
              <a:lnSpc>
                <a:spcPct val="90000"/>
              </a:lnSpc>
              <a:buNone/>
            </a:pPr>
            <a:r>
              <a:rPr lang="en-US" sz="1700" b="1" spc="100" kern="0" dirty="0">
                <a:solidFill>
                  <a:srgbClr val="1A1C14"/>
                </a:solidFill>
                <a:latin typeface="Barlow Condensed" pitchFamily="34" charset="0"/>
                <a:ea typeface="Barlow Condensed" pitchFamily="34" charset="-122"/>
                <a:cs typeface="Barlow Condensed" pitchFamily="34" charset="-120"/>
              </a:rPr>
              <a:t>KARYAWAN GRUP</a:t>
            </a:r>
            <a:endParaRPr lang="en-US" sz="1700" dirty="0"/>
          </a:p>
        </p:txBody>
      </p:sp>
      <p:sp>
        <p:nvSpPr>
          <p:cNvPr id="18" name="card"/>
          <p:cNvSpPr/>
          <p:nvPr/>
        </p:nvSpPr>
        <p:spPr>
          <a:xfrm>
            <a:off x="548640" y="4739640"/>
            <a:ext cx="2971800" cy="1478280"/>
          </a:xfrm>
          <a:prstGeom prst="roundRect">
            <a:avLst>
              <a:gd name="adj" fmla="val 13608"/>
            </a:avLst>
          </a:prstGeom>
          <a:solidFill>
            <a:srgbClr val="FFFFFF"/>
          </a:solidFill>
          <a:ln w="3175">
            <a:solidFill>
              <a:srgbClr val="FFFFFF"/>
            </a:solidFill>
            <a:prstDash val="solid"/>
          </a:ln>
        </p:spPr>
      </p:sp>
      <p:sp>
        <p:nvSpPr>
          <p:cNvPr id="19" name="heading"/>
          <p:cNvSpPr txBox="1"/>
          <p:nvPr/>
        </p:nvSpPr>
        <p:spPr>
          <a:xfrm>
            <a:off x="777240" y="4876800"/>
            <a:ext cx="2514600" cy="731520"/>
          </a:xfrm>
          <a:prstGeom prst="rect">
            <a:avLst/>
          </a:prstGeom>
          <a:noFill/>
          <a:ln/>
        </p:spPr>
        <p:txBody>
          <a:bodyPr wrap="square" lIns="0" tIns="0" rIns="0" bIns="0" rtlCol="0" anchor="t"/>
          <a:lstStyle/>
          <a:p>
            <a:pPr algn="l" indent="0" marL="0">
              <a:lnSpc>
                <a:spcPct val="90000"/>
              </a:lnSpc>
              <a:buNone/>
            </a:pPr>
            <a:r>
              <a:rPr lang="en-US" sz="4000" dirty="0">
                <a:solidFill>
                  <a:srgbClr val="1A1C14"/>
                </a:solidFill>
                <a:latin typeface="Barlow Condensed ExtraBold" pitchFamily="34" charset="0"/>
                <a:ea typeface="Barlow Condensed ExtraBold" pitchFamily="34" charset="-122"/>
                <a:cs typeface="Barlow Condensed ExtraBold" pitchFamily="34" charset="-120"/>
              </a:rPr>
              <a:t>&gt;50%</a:t>
            </a:r>
            <a:endParaRPr lang="en-US" sz="4000" dirty="0"/>
          </a:p>
        </p:txBody>
      </p:sp>
      <p:sp>
        <p:nvSpPr>
          <p:cNvPr id="20" name="heading"/>
          <p:cNvSpPr txBox="1"/>
          <p:nvPr/>
        </p:nvSpPr>
        <p:spPr>
          <a:xfrm>
            <a:off x="777240" y="5608320"/>
            <a:ext cx="2514600" cy="548640"/>
          </a:xfrm>
          <a:prstGeom prst="rect">
            <a:avLst/>
          </a:prstGeom>
          <a:noFill/>
          <a:ln/>
        </p:spPr>
        <p:txBody>
          <a:bodyPr wrap="square" lIns="0" tIns="0" rIns="0" bIns="0" rtlCol="0" anchor="t"/>
          <a:lstStyle/>
          <a:p>
            <a:pPr algn="l" indent="0" marL="0">
              <a:lnSpc>
                <a:spcPct val="90000"/>
              </a:lnSpc>
              <a:buNone/>
            </a:pPr>
            <a:r>
              <a:rPr lang="en-US" sz="1700" b="1" spc="100" kern="0" dirty="0">
                <a:solidFill>
                  <a:srgbClr val="1A1C14"/>
                </a:solidFill>
                <a:latin typeface="Barlow Condensed" pitchFamily="34" charset="0"/>
                <a:ea typeface="Barlow Condensed" pitchFamily="34" charset="-122"/>
                <a:cs typeface="Barlow Condensed" pitchFamily="34" charset="-120"/>
              </a:rPr>
              <a:t>PENERBANGAN DOMESTIK SEA</a:t>
            </a:r>
            <a:endParaRPr lang="en-US" sz="1700" dirty="0"/>
          </a:p>
        </p:txBody>
      </p:sp>
      <p:sp>
        <p:nvSpPr>
          <p:cNvPr id="21" name="card"/>
          <p:cNvSpPr/>
          <p:nvPr/>
        </p:nvSpPr>
        <p:spPr>
          <a:xfrm>
            <a:off x="3703320" y="4739640"/>
            <a:ext cx="2971800" cy="1478280"/>
          </a:xfrm>
          <a:prstGeom prst="roundRect">
            <a:avLst>
              <a:gd name="adj" fmla="val 13608"/>
            </a:avLst>
          </a:prstGeom>
          <a:solidFill>
            <a:srgbClr val="9CC506"/>
          </a:solidFill>
          <a:ln w="3175">
            <a:solidFill>
              <a:srgbClr val="9CC506"/>
            </a:solidFill>
            <a:prstDash val="solid"/>
          </a:ln>
        </p:spPr>
      </p:sp>
      <p:sp>
        <p:nvSpPr>
          <p:cNvPr id="22" name="heading"/>
          <p:cNvSpPr txBox="1"/>
          <p:nvPr/>
        </p:nvSpPr>
        <p:spPr>
          <a:xfrm>
            <a:off x="3931920" y="4876800"/>
            <a:ext cx="2514600" cy="731520"/>
          </a:xfrm>
          <a:prstGeom prst="rect">
            <a:avLst/>
          </a:prstGeom>
          <a:noFill/>
          <a:ln/>
        </p:spPr>
        <p:txBody>
          <a:bodyPr wrap="square" lIns="0" tIns="0" rIns="0" bIns="0" rtlCol="0" anchor="t"/>
          <a:lstStyle/>
          <a:p>
            <a:pPr algn="l" indent="0" marL="0">
              <a:lnSpc>
                <a:spcPct val="90000"/>
              </a:lnSpc>
              <a:buNone/>
            </a:pPr>
            <a:r>
              <a:rPr lang="en-US" sz="4000" dirty="0">
                <a:solidFill>
                  <a:srgbClr val="1A1C14"/>
                </a:solidFill>
                <a:latin typeface="Barlow Condensed ExtraBold" pitchFamily="34" charset="0"/>
                <a:ea typeface="Barlow Condensed ExtraBold" pitchFamily="34" charset="-122"/>
                <a:cs typeface="Barlow Condensed ExtraBold" pitchFamily="34" charset="-120"/>
              </a:rPr>
              <a:t>US$18 JUTA</a:t>
            </a:r>
            <a:endParaRPr lang="en-US" sz="4000" dirty="0"/>
          </a:p>
        </p:txBody>
      </p:sp>
      <p:sp>
        <p:nvSpPr>
          <p:cNvPr id="23" name="heading"/>
          <p:cNvSpPr txBox="1"/>
          <p:nvPr/>
        </p:nvSpPr>
        <p:spPr>
          <a:xfrm>
            <a:off x="3931920" y="5608320"/>
            <a:ext cx="2514600" cy="548640"/>
          </a:xfrm>
          <a:prstGeom prst="rect">
            <a:avLst/>
          </a:prstGeom>
          <a:noFill/>
          <a:ln/>
        </p:spPr>
        <p:txBody>
          <a:bodyPr wrap="square" lIns="0" tIns="0" rIns="0" bIns="0" rtlCol="0" anchor="t"/>
          <a:lstStyle/>
          <a:p>
            <a:pPr algn="l" indent="0" marL="0">
              <a:lnSpc>
                <a:spcPct val="90000"/>
              </a:lnSpc>
              <a:buNone/>
            </a:pPr>
            <a:r>
              <a:rPr lang="en-US" sz="1700" b="1" spc="100" kern="0" dirty="0">
                <a:solidFill>
                  <a:srgbClr val="1A1C14"/>
                </a:solidFill>
                <a:latin typeface="Barlow Condensed" pitchFamily="34" charset="0"/>
                <a:ea typeface="Barlow Condensed" pitchFamily="34" charset="-122"/>
                <a:cs typeface="Barlow Condensed" pitchFamily="34" charset="-120"/>
              </a:rPr>
              <a:t>HEMAT PER TAHUN DARI PENJADWALAN ULANG</a:t>
            </a:r>
            <a:endParaRPr lang="en-US" sz="1700" dirty="0"/>
          </a:p>
        </p:txBody>
      </p:sp>
      <p:sp>
        <p:nvSpPr>
          <p:cNvPr id="24" name="card"/>
          <p:cNvSpPr/>
          <p:nvPr/>
        </p:nvSpPr>
        <p:spPr>
          <a:xfrm>
            <a:off x="6903720" y="1417320"/>
            <a:ext cx="4739335" cy="4800600"/>
          </a:xfrm>
          <a:prstGeom prst="roundRect">
            <a:avLst>
              <a:gd name="adj" fmla="val 4245"/>
            </a:avLst>
          </a:prstGeom>
          <a:solidFill>
            <a:srgbClr val="FFFFFF"/>
          </a:solidFill>
          <a:ln w="3175">
            <a:solidFill>
              <a:srgbClr val="FFFFFF"/>
            </a:solidFill>
            <a:prstDash val="solid"/>
          </a:ln>
        </p:spPr>
      </p:sp>
      <p:graphicFrame>
        <p:nvGraphicFramePr>
          <p:cNvPr id="25" name="chart ketepatan waktu" descr=""/>
          <p:cNvGraphicFramePr/>
          <p:nvPr/>
        </p:nvGraphicFramePr>
        <p:xfrm>
          <a:off x="7040880" y="1508760"/>
          <a:ext cx="4465015" cy="4114800"/>
        </p:xfrm>
        <a:graphic xmlns:a="http://schemas.openxmlformats.org/drawingml/2006/main">
          <a:graphicData uri="http://schemas.openxmlformats.org/drawingml/2006/chart">
            <c:chart xmlns:c="http://schemas.openxmlformats.org/drawingml/2006/chart" r:id="rId1"/>
          </a:graphicData>
        </a:graphic>
      </p:graphicFrame>
      <p:sp>
        <p:nvSpPr>
          <p:cNvPr id="26" name="text"/>
          <p:cNvSpPr txBox="1"/>
          <p:nvPr/>
        </p:nvSpPr>
        <p:spPr>
          <a:xfrm>
            <a:off x="7040880" y="5669280"/>
            <a:ext cx="4465015" cy="457200"/>
          </a:xfrm>
          <a:prstGeom prst="rect">
            <a:avLst/>
          </a:prstGeom>
          <a:noFill/>
          <a:ln/>
        </p:spPr>
        <p:txBody>
          <a:bodyPr wrap="square" lIns="0" tIns="0" rIns="0" bIns="0" rtlCol="0" anchor="t"/>
          <a:lstStyle/>
          <a:p>
            <a:pPr algn="ctr" indent="0" marL="0">
              <a:buNone/>
            </a:pPr>
            <a:r>
              <a:rPr lang="en-US" sz="1300" i="1" dirty="0">
                <a:solidFill>
                  <a:srgbClr val="6B6B66"/>
                </a:solidFill>
                <a:latin typeface="Barlow" pitchFamily="34" charset="0"/>
                <a:ea typeface="Barlow" pitchFamily="34" charset="-122"/>
                <a:cs typeface="Barlow" pitchFamily="34" charset="-120"/>
              </a:rPr>
              <a:t>Sumber: Cirium 2024 On-Time Performance Review (Jan 2025). Alaska peringkat ke-3.</a:t>
            </a:r>
            <a:endParaRPr lang="en-US" sz="1300" dirty="0"/>
          </a:p>
        </p:txBody>
      </p:sp>
      <p:sp>
        <p:nvSpPr>
          <p:cNvPr id="27" name="text"/>
          <p:cNvSpPr txBox="1"/>
          <p:nvPr/>
        </p:nvSpPr>
        <p:spPr>
          <a:xfrm>
            <a:off x="548640" y="6364224"/>
            <a:ext cx="10058400" cy="347472"/>
          </a:xfrm>
          <a:prstGeom prst="rect">
            <a:avLst/>
          </a:prstGeom>
          <a:noFill/>
          <a:ln/>
        </p:spPr>
        <p:txBody>
          <a:bodyPr wrap="square" lIns="0" tIns="0" rIns="0" bIns="0" rtlCol="0" anchor="t"/>
          <a:lstStyle/>
          <a:p>
            <a:pPr algn="l" indent="0" marL="0">
              <a:buNone/>
            </a:pPr>
            <a:r>
              <a:rPr lang="en-US" sz="1300" i="1" dirty="0">
                <a:solidFill>
                  <a:srgbClr val="FBE3D3"/>
                </a:solidFill>
                <a:latin typeface="Barlow" pitchFamily="34" charset="0"/>
                <a:ea typeface="Barlow" pitchFamily="34" charset="-122"/>
                <a:cs typeface="Barlow" pitchFamily="34" charset="-120"/>
              </a:rPr>
              <a:t>Sumber angka: Alaska Air Group fact sheet; Aviacionline (2025); Heizer et al. (2017).</a:t>
            </a:r>
            <a:endParaRPr lang="en-US" sz="13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3" name="headline"/>
          <p:cNvSpPr txBox="1"/>
          <p:nvPr/>
        </p:nvSpPr>
        <p:spPr>
          <a:xfrm>
            <a:off x="548640" y="502920"/>
            <a:ext cx="1598692"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EMPAT</a:t>
            </a:r>
            <a:endParaRPr lang="en-US" sz="4400" dirty="0"/>
          </a:p>
        </p:txBody>
      </p:sp>
      <p:sp>
        <p:nvSpPr>
          <p:cNvPr id="4" name="highlight"/>
          <p:cNvSpPr/>
          <p:nvPr/>
        </p:nvSpPr>
        <p:spPr>
          <a:xfrm>
            <a:off x="1984772" y="525719"/>
            <a:ext cx="4123980" cy="524378"/>
          </a:xfrm>
          <a:prstGeom prst="roundRect">
            <a:avLst>
              <a:gd name="adj" fmla="val 13950"/>
            </a:avLst>
          </a:prstGeom>
          <a:solidFill>
            <a:srgbClr val="9CC506"/>
          </a:solidFill>
          <a:ln w="3175">
            <a:solidFill>
              <a:srgbClr val="9CC506"/>
            </a:solidFill>
            <a:prstDash val="solid"/>
          </a:ln>
        </p:spPr>
      </p:sp>
      <p:sp>
        <p:nvSpPr>
          <p:cNvPr id="5" name="headline"/>
          <p:cNvSpPr txBox="1"/>
          <p:nvPr/>
        </p:nvSpPr>
        <p:spPr>
          <a:xfrm>
            <a:off x="2085356" y="502920"/>
            <a:ext cx="4197132"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SUMBER GANGGUAN</a:t>
            </a:r>
            <a:endParaRPr lang="en-US" sz="4400" dirty="0"/>
          </a:p>
        </p:txBody>
      </p:sp>
      <p:sp>
        <p:nvSpPr>
          <p:cNvPr id="6" name="headline"/>
          <p:cNvSpPr txBox="1"/>
          <p:nvPr/>
        </p:nvSpPr>
        <p:spPr>
          <a:xfrm>
            <a:off x="6220512" y="502920"/>
            <a:ext cx="4454723"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TERHADAP RENCANA</a:t>
            </a:r>
            <a:endParaRPr lang="en-US" sz="4400" dirty="0"/>
          </a:p>
        </p:txBody>
      </p:sp>
      <p:sp>
        <p:nvSpPr>
          <p:cNvPr id="7" name="card"/>
          <p:cNvSpPr/>
          <p:nvPr/>
        </p:nvSpPr>
        <p:spPr>
          <a:xfrm>
            <a:off x="548640" y="1371600"/>
            <a:ext cx="5432908" cy="2331720"/>
          </a:xfrm>
          <a:prstGeom prst="roundRect">
            <a:avLst>
              <a:gd name="adj" fmla="val 8627"/>
            </a:avLst>
          </a:prstGeom>
          <a:solidFill>
            <a:srgbClr val="FFFFFF"/>
          </a:solidFill>
          <a:ln w="3175">
            <a:solidFill>
              <a:srgbClr val="FFFFFF"/>
            </a:solidFill>
            <a:prstDash val="solid"/>
          </a:ln>
        </p:spPr>
      </p:sp>
      <p:sp>
        <p:nvSpPr>
          <p:cNvPr id="8" name="number circle"/>
          <p:cNvSpPr/>
          <p:nvPr/>
        </p:nvSpPr>
        <p:spPr>
          <a:xfrm>
            <a:off x="822960" y="1645920"/>
            <a:ext cx="640080" cy="640080"/>
          </a:xfrm>
          <a:prstGeom prst="ellipse">
            <a:avLst/>
          </a:prstGeom>
          <a:solidFill>
            <a:srgbClr val="F1681D"/>
          </a:solidFill>
          <a:ln w="3175">
            <a:solidFill>
              <a:srgbClr val="F1681D"/>
            </a:solidFill>
            <a:prstDash val="solid"/>
          </a:ln>
        </p:spPr>
      </p:sp>
      <p:sp>
        <p:nvSpPr>
          <p:cNvPr id="9" name="heading"/>
          <p:cNvSpPr txBox="1"/>
          <p:nvPr/>
        </p:nvSpPr>
        <p:spPr>
          <a:xfrm>
            <a:off x="822960" y="1645920"/>
            <a:ext cx="640080" cy="640080"/>
          </a:xfrm>
          <a:prstGeom prst="rect">
            <a:avLst/>
          </a:prstGeom>
          <a:noFill/>
          <a:ln/>
        </p:spPr>
        <p:txBody>
          <a:bodyPr wrap="square" lIns="0" tIns="0" rIns="0" bIns="0" rtlCol="0" anchor="ctr"/>
          <a:lstStyle/>
          <a:p>
            <a:pPr algn="ctr" indent="0" marL="0">
              <a:lnSpc>
                <a:spcPct val="90000"/>
              </a:lnSpc>
              <a:buNone/>
            </a:pPr>
            <a:r>
              <a:rPr lang="en-US" sz="2600" dirty="0">
                <a:solidFill>
                  <a:srgbClr val="FFFFFF"/>
                </a:solidFill>
                <a:latin typeface="Barlow Condensed ExtraBold" pitchFamily="34" charset="0"/>
                <a:ea typeface="Barlow Condensed ExtraBold" pitchFamily="34" charset="-122"/>
                <a:cs typeface="Barlow Condensed ExtraBold" pitchFamily="34" charset="-120"/>
              </a:rPr>
              <a:t>01</a:t>
            </a:r>
            <a:endParaRPr lang="en-US" sz="2600" dirty="0"/>
          </a:p>
        </p:txBody>
      </p:sp>
      <p:sp>
        <p:nvSpPr>
          <p:cNvPr id="10" name="heading"/>
          <p:cNvSpPr txBox="1"/>
          <p:nvPr/>
        </p:nvSpPr>
        <p:spPr>
          <a:xfrm>
            <a:off x="1645920" y="1645920"/>
            <a:ext cx="4061308" cy="640080"/>
          </a:xfrm>
          <a:prstGeom prst="rect">
            <a:avLst/>
          </a:prstGeom>
          <a:noFill/>
          <a:ln/>
        </p:spPr>
        <p:txBody>
          <a:bodyPr wrap="square" lIns="0" tIns="0" rIns="0" bIns="0" rtlCol="0" anchor="ctr"/>
          <a:lstStyle/>
          <a:p>
            <a:pPr algn="l" indent="0" marL="0">
              <a:lnSpc>
                <a:spcPct val="90000"/>
              </a:lnSpc>
              <a:buNone/>
            </a:pPr>
            <a:r>
              <a:rPr lang="en-US" sz="2800" dirty="0">
                <a:solidFill>
                  <a:srgbClr val="1A1C14"/>
                </a:solidFill>
                <a:latin typeface="Barlow Condensed ExtraBold" pitchFamily="34" charset="0"/>
                <a:ea typeface="Barlow Condensed ExtraBold" pitchFamily="34" charset="-122"/>
                <a:cs typeface="Barlow Condensed ExtraBold" pitchFamily="34" charset="-120"/>
              </a:rPr>
              <a:t>CUACA SEATTLE</a:t>
            </a:r>
            <a:endParaRPr lang="en-US" sz="2800" dirty="0"/>
          </a:p>
        </p:txBody>
      </p:sp>
      <p:sp>
        <p:nvSpPr>
          <p:cNvPr id="11" name="text"/>
          <p:cNvSpPr txBox="1"/>
          <p:nvPr/>
        </p:nvSpPr>
        <p:spPr>
          <a:xfrm>
            <a:off x="822960" y="2423160"/>
            <a:ext cx="4884268" cy="96012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Satu badai Desember memaksa rencana pembatalan 50–80% penerbangan; keputusan direvisi setiap beberapa jam (Heizer et al., 2017).</a:t>
            </a:r>
            <a:endParaRPr lang="en-US" sz="1500" dirty="0"/>
          </a:p>
        </p:txBody>
      </p:sp>
      <p:sp>
        <p:nvSpPr>
          <p:cNvPr id="12" name="tag"/>
          <p:cNvSpPr/>
          <p:nvPr/>
        </p:nvSpPr>
        <p:spPr>
          <a:xfrm>
            <a:off x="822960" y="3246120"/>
            <a:ext cx="2377440" cy="310896"/>
          </a:xfrm>
          <a:prstGeom prst="roundRect">
            <a:avLst>
              <a:gd name="adj" fmla="val 50000"/>
            </a:avLst>
          </a:prstGeom>
          <a:solidFill>
            <a:srgbClr val="F4F4F2"/>
          </a:solidFill>
          <a:ln w="3175">
            <a:solidFill>
              <a:srgbClr val="F4F4F2"/>
            </a:solidFill>
            <a:prstDash val="solid"/>
          </a:ln>
        </p:spPr>
      </p:sp>
      <p:sp>
        <p:nvSpPr>
          <p:cNvPr id="13" name="tag label"/>
          <p:cNvSpPr txBox="1"/>
          <p:nvPr/>
        </p:nvSpPr>
        <p:spPr>
          <a:xfrm>
            <a:off x="822960" y="3246120"/>
            <a:ext cx="2377440" cy="310896"/>
          </a:xfrm>
          <a:prstGeom prst="rect">
            <a:avLst/>
          </a:prstGeom>
          <a:noFill/>
          <a:ln/>
        </p:spPr>
        <p:txBody>
          <a:bodyPr wrap="square" lIns="0" tIns="0" rIns="0" bIns="0" rtlCol="0" anchor="ctr"/>
          <a:lstStyle/>
          <a:p>
            <a:pPr algn="ctr" indent="0" marL="0">
              <a:buNone/>
            </a:pPr>
            <a:r>
              <a:rPr lang="en-US" sz="1200" b="1" spc="100" kern="0" dirty="0">
                <a:solidFill>
                  <a:srgbClr val="1A1C14"/>
                </a:solidFill>
                <a:latin typeface="Barlow Condensed" pitchFamily="34" charset="0"/>
                <a:ea typeface="Barlow Condensed" pitchFamily="34" charset="-122"/>
                <a:cs typeface="Barlow Condensed" pitchFamily="34" charset="-120"/>
              </a:rPr>
              <a:t>DIMENSI: SCHEDULING</a:t>
            </a:r>
            <a:endParaRPr lang="en-US" sz="1200" dirty="0"/>
          </a:p>
        </p:txBody>
      </p:sp>
      <p:sp>
        <p:nvSpPr>
          <p:cNvPr id="14" name="card"/>
          <p:cNvSpPr/>
          <p:nvPr/>
        </p:nvSpPr>
        <p:spPr>
          <a:xfrm>
            <a:off x="6210148" y="1371600"/>
            <a:ext cx="5432908" cy="2331720"/>
          </a:xfrm>
          <a:prstGeom prst="roundRect">
            <a:avLst>
              <a:gd name="adj" fmla="val 8627"/>
            </a:avLst>
          </a:prstGeom>
          <a:solidFill>
            <a:srgbClr val="FFFFFF"/>
          </a:solidFill>
          <a:ln w="3175">
            <a:solidFill>
              <a:srgbClr val="FFFFFF"/>
            </a:solidFill>
            <a:prstDash val="solid"/>
          </a:ln>
        </p:spPr>
      </p:sp>
      <p:sp>
        <p:nvSpPr>
          <p:cNvPr id="15" name="number circle"/>
          <p:cNvSpPr/>
          <p:nvPr/>
        </p:nvSpPr>
        <p:spPr>
          <a:xfrm>
            <a:off x="6484468" y="1645920"/>
            <a:ext cx="640080" cy="640080"/>
          </a:xfrm>
          <a:prstGeom prst="ellipse">
            <a:avLst/>
          </a:prstGeom>
          <a:solidFill>
            <a:srgbClr val="9CC506"/>
          </a:solidFill>
          <a:ln w="3175">
            <a:solidFill>
              <a:srgbClr val="9CC506"/>
            </a:solidFill>
            <a:prstDash val="solid"/>
          </a:ln>
        </p:spPr>
      </p:sp>
      <p:sp>
        <p:nvSpPr>
          <p:cNvPr id="16" name="heading"/>
          <p:cNvSpPr txBox="1"/>
          <p:nvPr/>
        </p:nvSpPr>
        <p:spPr>
          <a:xfrm>
            <a:off x="6484468" y="1645920"/>
            <a:ext cx="640080" cy="640080"/>
          </a:xfrm>
          <a:prstGeom prst="rect">
            <a:avLst/>
          </a:prstGeom>
          <a:noFill/>
          <a:ln/>
        </p:spPr>
        <p:txBody>
          <a:bodyPr wrap="square" lIns="0" tIns="0" rIns="0" bIns="0" rtlCol="0" anchor="ctr"/>
          <a:lstStyle/>
          <a:p>
            <a:pPr algn="ctr"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02</a:t>
            </a:r>
            <a:endParaRPr lang="en-US" sz="2600" dirty="0"/>
          </a:p>
        </p:txBody>
      </p:sp>
      <p:sp>
        <p:nvSpPr>
          <p:cNvPr id="17" name="heading"/>
          <p:cNvSpPr txBox="1"/>
          <p:nvPr/>
        </p:nvSpPr>
        <p:spPr>
          <a:xfrm>
            <a:off x="7307428" y="1645920"/>
            <a:ext cx="4061308" cy="640080"/>
          </a:xfrm>
          <a:prstGeom prst="rect">
            <a:avLst/>
          </a:prstGeom>
          <a:noFill/>
          <a:ln/>
        </p:spPr>
        <p:txBody>
          <a:bodyPr wrap="square" lIns="0" tIns="0" rIns="0" bIns="0" rtlCol="0" anchor="ctr"/>
          <a:lstStyle/>
          <a:p>
            <a:pPr algn="l" indent="0" marL="0">
              <a:lnSpc>
                <a:spcPct val="90000"/>
              </a:lnSpc>
              <a:buNone/>
            </a:pPr>
            <a:r>
              <a:rPr lang="en-US" sz="2800" dirty="0">
                <a:solidFill>
                  <a:srgbClr val="1A1C14"/>
                </a:solidFill>
                <a:latin typeface="Barlow Condensed ExtraBold" pitchFamily="34" charset="0"/>
                <a:ea typeface="Barlow Condensed ExtraBold" pitchFamily="34" charset="-122"/>
                <a:cs typeface="Barlow Condensed ExtraBold" pitchFamily="34" charset="-120"/>
              </a:rPr>
              <a:t>GEOGRAFI ALASKA</a:t>
            </a:r>
            <a:endParaRPr lang="en-US" sz="2800" dirty="0"/>
          </a:p>
        </p:txBody>
      </p:sp>
      <p:sp>
        <p:nvSpPr>
          <p:cNvPr id="18" name="text"/>
          <p:cNvSpPr txBox="1"/>
          <p:nvPr/>
        </p:nvSpPr>
        <p:spPr>
          <a:xfrm>
            <a:off x="6484468" y="2423160"/>
            <a:ext cx="4884268" cy="96012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Juneau (</a:t>
            </a:r>
            <a:r>
              <a:rPr lang="en-US" sz="1500" i="1" dirty="0">
                <a:solidFill>
                  <a:srgbClr val="1A1C14"/>
                </a:solidFill>
                <a:latin typeface="Barlow" pitchFamily="34" charset="0"/>
                <a:ea typeface="Barlow" pitchFamily="34" charset="-122"/>
                <a:cs typeface="Barlow" pitchFamily="34" charset="-120"/>
              </a:rPr>
              <a:t>wind shear</a:t>
            </a:r>
            <a:r>
              <a:rPr lang="en-US" sz="1500" dirty="0">
                <a:solidFill>
                  <a:srgbClr val="1A1C14"/>
                </a:solidFill>
                <a:latin typeface="Barlow" pitchFamily="34" charset="0"/>
                <a:ea typeface="Barlow" pitchFamily="34" charset="-122"/>
                <a:cs typeface="Barlow" pitchFamily="34" charset="-120"/>
              </a:rPr>
              <a:t>), Sitka (landasan tunggal di tanah sempit), Kodiak (hanya kapten boleh mendarat): pesawat dan kru tidak bebas ditugaskan.</a:t>
            </a:r>
            <a:endParaRPr lang="en-US" sz="1500" dirty="0"/>
          </a:p>
        </p:txBody>
      </p:sp>
      <p:sp>
        <p:nvSpPr>
          <p:cNvPr id="19" name="tag"/>
          <p:cNvSpPr/>
          <p:nvPr/>
        </p:nvSpPr>
        <p:spPr>
          <a:xfrm>
            <a:off x="6484468" y="3246120"/>
            <a:ext cx="2377440" cy="310896"/>
          </a:xfrm>
          <a:prstGeom prst="roundRect">
            <a:avLst>
              <a:gd name="adj" fmla="val 50000"/>
            </a:avLst>
          </a:prstGeom>
          <a:solidFill>
            <a:srgbClr val="F4F4F2"/>
          </a:solidFill>
          <a:ln w="3175">
            <a:solidFill>
              <a:srgbClr val="F4F4F2"/>
            </a:solidFill>
            <a:prstDash val="solid"/>
          </a:ln>
        </p:spPr>
      </p:sp>
      <p:sp>
        <p:nvSpPr>
          <p:cNvPr id="20" name="tag label"/>
          <p:cNvSpPr txBox="1"/>
          <p:nvPr/>
        </p:nvSpPr>
        <p:spPr>
          <a:xfrm>
            <a:off x="6484468" y="3246120"/>
            <a:ext cx="2377440" cy="310896"/>
          </a:xfrm>
          <a:prstGeom prst="rect">
            <a:avLst/>
          </a:prstGeom>
          <a:noFill/>
          <a:ln/>
        </p:spPr>
        <p:txBody>
          <a:bodyPr wrap="square" lIns="0" tIns="0" rIns="0" bIns="0" rtlCol="0" anchor="ctr"/>
          <a:lstStyle/>
          <a:p>
            <a:pPr algn="ctr" indent="0" marL="0">
              <a:buNone/>
            </a:pPr>
            <a:r>
              <a:rPr lang="en-US" sz="1200" b="1" spc="100" kern="0" dirty="0">
                <a:solidFill>
                  <a:srgbClr val="1A1C14"/>
                </a:solidFill>
                <a:latin typeface="Barlow Condensed" pitchFamily="34" charset="0"/>
                <a:ea typeface="Barlow Condensed" pitchFamily="34" charset="-122"/>
                <a:cs typeface="Barlow Condensed" pitchFamily="34" charset="-120"/>
              </a:rPr>
              <a:t>DIMENSI: SCHEDULING KRU</a:t>
            </a:r>
            <a:endParaRPr lang="en-US" sz="1200" dirty="0"/>
          </a:p>
        </p:txBody>
      </p:sp>
      <p:sp>
        <p:nvSpPr>
          <p:cNvPr id="21" name="card"/>
          <p:cNvSpPr/>
          <p:nvPr/>
        </p:nvSpPr>
        <p:spPr>
          <a:xfrm>
            <a:off x="548640" y="3886200"/>
            <a:ext cx="5432908" cy="2331720"/>
          </a:xfrm>
          <a:prstGeom prst="roundRect">
            <a:avLst>
              <a:gd name="adj" fmla="val 8627"/>
            </a:avLst>
          </a:prstGeom>
          <a:solidFill>
            <a:srgbClr val="FFFFFF"/>
          </a:solidFill>
          <a:ln w="3175">
            <a:solidFill>
              <a:srgbClr val="FFFFFF"/>
            </a:solidFill>
            <a:prstDash val="solid"/>
          </a:ln>
        </p:spPr>
      </p:sp>
      <p:sp>
        <p:nvSpPr>
          <p:cNvPr id="22" name="number circle"/>
          <p:cNvSpPr/>
          <p:nvPr/>
        </p:nvSpPr>
        <p:spPr>
          <a:xfrm>
            <a:off x="822960" y="4160520"/>
            <a:ext cx="640080" cy="640080"/>
          </a:xfrm>
          <a:prstGeom prst="ellipse">
            <a:avLst/>
          </a:prstGeom>
          <a:solidFill>
            <a:srgbClr val="F1681D"/>
          </a:solidFill>
          <a:ln w="3175">
            <a:solidFill>
              <a:srgbClr val="F1681D"/>
            </a:solidFill>
            <a:prstDash val="solid"/>
          </a:ln>
        </p:spPr>
      </p:sp>
      <p:sp>
        <p:nvSpPr>
          <p:cNvPr id="23" name="heading"/>
          <p:cNvSpPr txBox="1"/>
          <p:nvPr/>
        </p:nvSpPr>
        <p:spPr>
          <a:xfrm>
            <a:off x="822960" y="4160520"/>
            <a:ext cx="640080" cy="640080"/>
          </a:xfrm>
          <a:prstGeom prst="rect">
            <a:avLst/>
          </a:prstGeom>
          <a:noFill/>
          <a:ln/>
        </p:spPr>
        <p:txBody>
          <a:bodyPr wrap="square" lIns="0" tIns="0" rIns="0" bIns="0" rtlCol="0" anchor="ctr"/>
          <a:lstStyle/>
          <a:p>
            <a:pPr algn="ctr" indent="0" marL="0">
              <a:lnSpc>
                <a:spcPct val="90000"/>
              </a:lnSpc>
              <a:buNone/>
            </a:pPr>
            <a:r>
              <a:rPr lang="en-US" sz="2600" dirty="0">
                <a:solidFill>
                  <a:srgbClr val="FFFFFF"/>
                </a:solidFill>
                <a:latin typeface="Barlow Condensed ExtraBold" pitchFamily="34" charset="0"/>
                <a:ea typeface="Barlow Condensed ExtraBold" pitchFamily="34" charset="-122"/>
                <a:cs typeface="Barlow Condensed ExtraBold" pitchFamily="34" charset="-120"/>
              </a:rPr>
              <a:t>03</a:t>
            </a:r>
            <a:endParaRPr lang="en-US" sz="2600" dirty="0"/>
          </a:p>
        </p:txBody>
      </p:sp>
      <p:sp>
        <p:nvSpPr>
          <p:cNvPr id="24" name="heading"/>
          <p:cNvSpPr txBox="1"/>
          <p:nvPr/>
        </p:nvSpPr>
        <p:spPr>
          <a:xfrm>
            <a:off x="1645920" y="4160520"/>
            <a:ext cx="4061308" cy="640080"/>
          </a:xfrm>
          <a:prstGeom prst="rect">
            <a:avLst/>
          </a:prstGeom>
          <a:noFill/>
          <a:ln/>
        </p:spPr>
        <p:txBody>
          <a:bodyPr wrap="square" lIns="0" tIns="0" rIns="0" bIns="0" rtlCol="0" anchor="ctr"/>
          <a:lstStyle/>
          <a:p>
            <a:pPr algn="l" indent="0" marL="0">
              <a:lnSpc>
                <a:spcPct val="90000"/>
              </a:lnSpc>
              <a:buNone/>
            </a:pPr>
            <a:r>
              <a:rPr lang="en-US" sz="2800" dirty="0">
                <a:solidFill>
                  <a:srgbClr val="1A1C14"/>
                </a:solidFill>
                <a:latin typeface="Barlow Condensed ExtraBold" pitchFamily="34" charset="0"/>
                <a:ea typeface="Barlow Condensed ExtraBold" pitchFamily="34" charset="-122"/>
                <a:cs typeface="Barlow Condensed ExtraBold" pitchFamily="34" charset="-120"/>
              </a:rPr>
              <a:t>KEGAGALAN SISTEM 2025</a:t>
            </a:r>
            <a:endParaRPr lang="en-US" sz="2800" dirty="0"/>
          </a:p>
        </p:txBody>
      </p:sp>
      <p:sp>
        <p:nvSpPr>
          <p:cNvPr id="25" name="text"/>
          <p:cNvSpPr txBox="1"/>
          <p:nvPr/>
        </p:nvSpPr>
        <p:spPr>
          <a:xfrm>
            <a:off x="822960" y="4937760"/>
            <a:ext cx="4884268" cy="96012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20 Juli: perangkat keras pusat data gagal, </a:t>
            </a:r>
            <a:r>
              <a:rPr lang="en-US" sz="1500" i="1" dirty="0">
                <a:solidFill>
                  <a:srgbClr val="1A1C14"/>
                </a:solidFill>
                <a:latin typeface="Barlow" pitchFamily="34" charset="0"/>
                <a:ea typeface="Barlow" pitchFamily="34" charset="-122"/>
                <a:cs typeface="Barlow" pitchFamily="34" charset="-120"/>
              </a:rPr>
              <a:t>ground stop</a:t>
            </a:r>
            <a:r>
              <a:rPr lang="en-US" sz="1500" dirty="0">
                <a:solidFill>
                  <a:srgbClr val="1A1C14"/>
                </a:solidFill>
                <a:latin typeface="Barlow" pitchFamily="34" charset="0"/>
                <a:ea typeface="Barlow" pitchFamily="34" charset="-122"/>
                <a:cs typeface="Barlow" pitchFamily="34" charset="-120"/>
              </a:rPr>
              <a:t> ±3 jam, &gt;150 pembatalan. 23 Oktober: pusat data utama gagal, ±8 jam, &gt;400 pembatalan, ±49.000 penumpang.</a:t>
            </a:r>
            <a:endParaRPr lang="en-US" sz="1500" dirty="0"/>
          </a:p>
        </p:txBody>
      </p:sp>
      <p:sp>
        <p:nvSpPr>
          <p:cNvPr id="26" name="tag"/>
          <p:cNvSpPr/>
          <p:nvPr/>
        </p:nvSpPr>
        <p:spPr>
          <a:xfrm>
            <a:off x="822960" y="5760720"/>
            <a:ext cx="2377440" cy="310896"/>
          </a:xfrm>
          <a:prstGeom prst="roundRect">
            <a:avLst>
              <a:gd name="adj" fmla="val 50000"/>
            </a:avLst>
          </a:prstGeom>
          <a:solidFill>
            <a:srgbClr val="F4F4F2"/>
          </a:solidFill>
          <a:ln w="3175">
            <a:solidFill>
              <a:srgbClr val="F4F4F2"/>
            </a:solidFill>
            <a:prstDash val="solid"/>
          </a:ln>
        </p:spPr>
      </p:sp>
      <p:sp>
        <p:nvSpPr>
          <p:cNvPr id="27" name="tag label"/>
          <p:cNvSpPr txBox="1"/>
          <p:nvPr/>
        </p:nvSpPr>
        <p:spPr>
          <a:xfrm>
            <a:off x="822960" y="5760720"/>
            <a:ext cx="2377440" cy="310896"/>
          </a:xfrm>
          <a:prstGeom prst="rect">
            <a:avLst/>
          </a:prstGeom>
          <a:noFill/>
          <a:ln/>
        </p:spPr>
        <p:txBody>
          <a:bodyPr wrap="square" lIns="0" tIns="0" rIns="0" bIns="0" rtlCol="0" anchor="ctr"/>
          <a:lstStyle/>
          <a:p>
            <a:pPr algn="ctr" indent="0" marL="0">
              <a:buNone/>
            </a:pPr>
            <a:r>
              <a:rPr lang="en-US" sz="1200" b="1" spc="100" kern="0" dirty="0">
                <a:solidFill>
                  <a:srgbClr val="1A1C14"/>
                </a:solidFill>
                <a:latin typeface="Barlow Condensed" pitchFamily="34" charset="0"/>
                <a:ea typeface="Barlow Condensed" pitchFamily="34" charset="-122"/>
                <a:cs typeface="Barlow Condensed" pitchFamily="34" charset="-120"/>
              </a:rPr>
              <a:t>DIMENSI: ERP</a:t>
            </a:r>
            <a:endParaRPr lang="en-US" sz="1200" dirty="0"/>
          </a:p>
        </p:txBody>
      </p:sp>
      <p:sp>
        <p:nvSpPr>
          <p:cNvPr id="28" name="card"/>
          <p:cNvSpPr/>
          <p:nvPr/>
        </p:nvSpPr>
        <p:spPr>
          <a:xfrm>
            <a:off x="6210148" y="3886200"/>
            <a:ext cx="5432908" cy="2331720"/>
          </a:xfrm>
          <a:prstGeom prst="roundRect">
            <a:avLst>
              <a:gd name="adj" fmla="val 8627"/>
            </a:avLst>
          </a:prstGeom>
          <a:solidFill>
            <a:srgbClr val="FFFFFF"/>
          </a:solidFill>
          <a:ln w="3175">
            <a:solidFill>
              <a:srgbClr val="FFFFFF"/>
            </a:solidFill>
            <a:prstDash val="solid"/>
          </a:ln>
        </p:spPr>
      </p:sp>
      <p:sp>
        <p:nvSpPr>
          <p:cNvPr id="29" name="number circle"/>
          <p:cNvSpPr/>
          <p:nvPr/>
        </p:nvSpPr>
        <p:spPr>
          <a:xfrm>
            <a:off x="6484468" y="4160520"/>
            <a:ext cx="640080" cy="640080"/>
          </a:xfrm>
          <a:prstGeom prst="ellipse">
            <a:avLst/>
          </a:prstGeom>
          <a:solidFill>
            <a:srgbClr val="9CC506"/>
          </a:solidFill>
          <a:ln w="3175">
            <a:solidFill>
              <a:srgbClr val="9CC506"/>
            </a:solidFill>
            <a:prstDash val="solid"/>
          </a:ln>
        </p:spPr>
      </p:sp>
      <p:sp>
        <p:nvSpPr>
          <p:cNvPr id="30" name="heading"/>
          <p:cNvSpPr txBox="1"/>
          <p:nvPr/>
        </p:nvSpPr>
        <p:spPr>
          <a:xfrm>
            <a:off x="6484468" y="4160520"/>
            <a:ext cx="640080" cy="640080"/>
          </a:xfrm>
          <a:prstGeom prst="rect">
            <a:avLst/>
          </a:prstGeom>
          <a:noFill/>
          <a:ln/>
        </p:spPr>
        <p:txBody>
          <a:bodyPr wrap="square" lIns="0" tIns="0" rIns="0" bIns="0" rtlCol="0" anchor="ctr"/>
          <a:lstStyle/>
          <a:p>
            <a:pPr algn="ctr"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04</a:t>
            </a:r>
            <a:endParaRPr lang="en-US" sz="2600" dirty="0"/>
          </a:p>
        </p:txBody>
      </p:sp>
      <p:sp>
        <p:nvSpPr>
          <p:cNvPr id="31" name="heading"/>
          <p:cNvSpPr txBox="1"/>
          <p:nvPr/>
        </p:nvSpPr>
        <p:spPr>
          <a:xfrm>
            <a:off x="7307428" y="4160520"/>
            <a:ext cx="4061308" cy="640080"/>
          </a:xfrm>
          <a:prstGeom prst="rect">
            <a:avLst/>
          </a:prstGeom>
          <a:noFill/>
          <a:ln/>
        </p:spPr>
        <p:txBody>
          <a:bodyPr wrap="square" lIns="0" tIns="0" rIns="0" bIns="0" rtlCol="0" anchor="ctr"/>
          <a:lstStyle/>
          <a:p>
            <a:pPr algn="l" indent="0" marL="0">
              <a:lnSpc>
                <a:spcPct val="90000"/>
              </a:lnSpc>
              <a:buNone/>
            </a:pPr>
            <a:r>
              <a:rPr lang="en-US" sz="2800" dirty="0">
                <a:solidFill>
                  <a:srgbClr val="1A1C14"/>
                </a:solidFill>
                <a:latin typeface="Barlow Condensed ExtraBold" pitchFamily="34" charset="0"/>
                <a:ea typeface="Barlow Condensed ExtraBold" pitchFamily="34" charset="-122"/>
                <a:cs typeface="Barlow Condensed ExtraBold" pitchFamily="34" charset="-120"/>
              </a:rPr>
              <a:t>GROUNDING 737 MAX 9</a:t>
            </a:r>
            <a:endParaRPr lang="en-US" sz="2800" dirty="0"/>
          </a:p>
        </p:txBody>
      </p:sp>
      <p:sp>
        <p:nvSpPr>
          <p:cNvPr id="32" name="text"/>
          <p:cNvSpPr txBox="1"/>
          <p:nvPr/>
        </p:nvSpPr>
        <p:spPr>
          <a:xfrm>
            <a:off x="6484468" y="4937760"/>
            <a:ext cx="4884268" cy="96012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Januari 2024: 65 pesawat diinspeksi serentak, sekitar 3.000 pembatalan dalam sebulan, dampak sekitar US$150 juta.</a:t>
            </a:r>
            <a:endParaRPr lang="en-US" sz="1500" dirty="0"/>
          </a:p>
        </p:txBody>
      </p:sp>
      <p:sp>
        <p:nvSpPr>
          <p:cNvPr id="33" name="tag"/>
          <p:cNvSpPr/>
          <p:nvPr/>
        </p:nvSpPr>
        <p:spPr>
          <a:xfrm>
            <a:off x="6484468" y="5760720"/>
            <a:ext cx="2377440" cy="310896"/>
          </a:xfrm>
          <a:prstGeom prst="roundRect">
            <a:avLst>
              <a:gd name="adj" fmla="val 50000"/>
            </a:avLst>
          </a:prstGeom>
          <a:solidFill>
            <a:srgbClr val="F4F4F2"/>
          </a:solidFill>
          <a:ln w="3175">
            <a:solidFill>
              <a:srgbClr val="F4F4F2"/>
            </a:solidFill>
            <a:prstDash val="solid"/>
          </a:ln>
        </p:spPr>
      </p:sp>
      <p:sp>
        <p:nvSpPr>
          <p:cNvPr id="34" name="tag label"/>
          <p:cNvSpPr txBox="1"/>
          <p:nvPr/>
        </p:nvSpPr>
        <p:spPr>
          <a:xfrm>
            <a:off x="6484468" y="5760720"/>
            <a:ext cx="2377440" cy="310896"/>
          </a:xfrm>
          <a:prstGeom prst="rect">
            <a:avLst/>
          </a:prstGeom>
          <a:noFill/>
          <a:ln/>
        </p:spPr>
        <p:txBody>
          <a:bodyPr wrap="square" lIns="0" tIns="0" rIns="0" bIns="0" rtlCol="0" anchor="ctr"/>
          <a:lstStyle/>
          <a:p>
            <a:pPr algn="ctr" indent="0" marL="0">
              <a:buNone/>
            </a:pPr>
            <a:r>
              <a:rPr lang="en-US" sz="1200" b="1" spc="100" kern="0" dirty="0">
                <a:solidFill>
                  <a:srgbClr val="1A1C14"/>
                </a:solidFill>
                <a:latin typeface="Barlow Condensed" pitchFamily="34" charset="0"/>
                <a:ea typeface="Barlow Condensed" pitchFamily="34" charset="-122"/>
                <a:cs typeface="Barlow Condensed" pitchFamily="34" charset="-120"/>
              </a:rPr>
              <a:t>DIMENSI: MRP PERAWATAN</a:t>
            </a:r>
            <a:endParaRPr lang="en-US" sz="12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C14"/>
        </a:solidFill>
      </p:bgPr>
    </p:bg>
    <p:spTree>
      <p:nvGrpSpPr>
        <p:cNvPr id="1" name=""/>
        <p:cNvGrpSpPr/>
        <p:nvPr/>
      </p:nvGrpSpPr>
      <p:grpSpPr>
        <a:xfrm>
          <a:off x="0" y="0"/>
          <a:ext cx="0" cy="0"/>
          <a:chOff x="0" y="0"/>
          <a:chExt cx="0" cy="0"/>
        </a:xfrm>
      </p:grpSpPr>
      <p:pic>
        <p:nvPicPr>
          <p:cNvPr id="3" name="foto hangar perawatan malam hari" descr="/tmp/claude-0/-home-user-Dom-Manipulation/385e5267-c23e-5c04-80f5-d5fb4946a902/scratchpad/build/img4/div_hangar.jpg">    </p:cNvPr>
          <p:cNvPicPr>
            <a:picLocks noChangeAspect="1"/>
          </p:cNvPicPr>
          <p:nvPr/>
        </p:nvPicPr>
        <p:blipFill>
          <a:blip r:embed="rId1"/>
          <a:stretch>
            <a:fillRect/>
          </a:stretch>
        </p:blipFill>
        <p:spPr>
          <a:xfrm>
            <a:off x="0" y="0"/>
            <a:ext cx="12191695" cy="6858000"/>
          </a:xfrm>
          <a:prstGeom prst="rect">
            <a:avLst/>
          </a:prstGeom>
        </p:spPr>
      </p:pic>
      <p:sp>
        <p:nvSpPr>
          <p:cNvPr id="4" name="overlay"/>
          <p:cNvSpPr/>
          <p:nvPr/>
        </p:nvSpPr>
        <p:spPr>
          <a:xfrm>
            <a:off x="0" y="0"/>
            <a:ext cx="12191695" cy="6858000"/>
          </a:xfrm>
          <a:prstGeom prst="rect">
            <a:avLst/>
          </a:prstGeom>
          <a:solidFill>
            <a:srgbClr val="1A1C14">
              <a:alpha val="58000"/>
            </a:srgbClr>
          </a:solidFill>
          <a:ln w="12700">
            <a:solidFill>
              <a:srgbClr val="1A1C14">
                <a:alpha val="0"/>
              </a:srgbClr>
            </a:solidFill>
            <a:prstDash val="solid"/>
          </a:ln>
        </p:spPr>
      </p:sp>
      <p:sp>
        <p:nvSpPr>
          <p:cNvPr id="5" name="tag"/>
          <p:cNvSpPr/>
          <p:nvPr/>
        </p:nvSpPr>
        <p:spPr>
          <a:xfrm>
            <a:off x="548640" y="1920240"/>
            <a:ext cx="1737360" cy="411480"/>
          </a:xfrm>
          <a:prstGeom prst="roundRect">
            <a:avLst>
              <a:gd name="adj" fmla="val 50000"/>
            </a:avLst>
          </a:prstGeom>
          <a:solidFill>
            <a:srgbClr val="9CC506"/>
          </a:solidFill>
          <a:ln w="3175">
            <a:solidFill>
              <a:srgbClr val="9CC506"/>
            </a:solidFill>
            <a:prstDash val="solid"/>
          </a:ln>
        </p:spPr>
      </p:sp>
      <p:sp>
        <p:nvSpPr>
          <p:cNvPr id="6" name="tag label"/>
          <p:cNvSpPr txBox="1"/>
          <p:nvPr/>
        </p:nvSpPr>
        <p:spPr>
          <a:xfrm>
            <a:off x="548640" y="1920240"/>
            <a:ext cx="1737360" cy="411480"/>
          </a:xfrm>
          <a:prstGeom prst="rect">
            <a:avLst/>
          </a:prstGeom>
          <a:noFill/>
          <a:ln/>
        </p:spPr>
        <p:txBody>
          <a:bodyPr wrap="square" lIns="0" tIns="0" rIns="0" bIns="0" rtlCol="0" anchor="ctr"/>
          <a:lstStyle/>
          <a:p>
            <a:pPr algn="ctr" indent="0" marL="0">
              <a:buNone/>
            </a:pPr>
            <a:r>
              <a:rPr lang="en-US" sz="1500" b="1" spc="100" kern="0" dirty="0">
                <a:solidFill>
                  <a:srgbClr val="1A1C14"/>
                </a:solidFill>
                <a:latin typeface="Barlow Condensed" pitchFamily="34" charset="0"/>
                <a:ea typeface="Barlow Condensed" pitchFamily="34" charset="-122"/>
                <a:cs typeface="Barlow Condensed" pitchFamily="34" charset="-120"/>
              </a:rPr>
              <a:t>SUBTOPIK 1</a:t>
            </a:r>
            <a:endParaRPr lang="en-US" sz="1500" dirty="0"/>
          </a:p>
        </p:txBody>
      </p:sp>
      <p:sp>
        <p:nvSpPr>
          <p:cNvPr id="7" name="headline"/>
          <p:cNvSpPr txBox="1"/>
          <p:nvPr/>
        </p:nvSpPr>
        <p:spPr>
          <a:xfrm>
            <a:off x="548640" y="2514600"/>
            <a:ext cx="3931900" cy="777240"/>
          </a:xfrm>
          <a:prstGeom prst="rect">
            <a:avLst/>
          </a:prstGeom>
          <a:noFill/>
          <a:ln/>
        </p:spPr>
        <p:txBody>
          <a:bodyPr wrap="square" lIns="0" tIns="0" rIns="0" bIns="0" rtlCol="0" anchor="ctr"/>
          <a:lstStyle/>
          <a:p>
            <a:pPr algn="l" indent="0" marL="0">
              <a:buNone/>
            </a:pPr>
            <a:r>
              <a:rPr lang="en-US" sz="6000" dirty="0">
                <a:solidFill>
                  <a:srgbClr val="FFFFFF"/>
                </a:solidFill>
                <a:latin typeface="Barlow Condensed ExtraBold" pitchFamily="34" charset="0"/>
                <a:ea typeface="Barlow Condensed ExtraBold" pitchFamily="34" charset="-122"/>
                <a:cs typeface="Barlow Condensed ExtraBold" pitchFamily="34" charset="-120"/>
              </a:rPr>
              <a:t>MRP DAN ERP</a:t>
            </a:r>
            <a:endParaRPr lang="en-US" sz="6000" dirty="0"/>
          </a:p>
        </p:txBody>
      </p:sp>
      <p:sp>
        <p:nvSpPr>
          <p:cNvPr id="8" name="highlight"/>
          <p:cNvSpPr/>
          <p:nvPr/>
        </p:nvSpPr>
        <p:spPr>
          <a:xfrm>
            <a:off x="411480" y="3359506"/>
            <a:ext cx="5862836" cy="715061"/>
          </a:xfrm>
          <a:prstGeom prst="roundRect">
            <a:avLst>
              <a:gd name="adj" fmla="val 10230"/>
            </a:avLst>
          </a:prstGeom>
          <a:solidFill>
            <a:srgbClr val="F1681D"/>
          </a:solidFill>
          <a:ln w="3175">
            <a:solidFill>
              <a:srgbClr val="F1681D"/>
            </a:solidFill>
            <a:prstDash val="solid"/>
          </a:ln>
        </p:spPr>
      </p:sp>
      <p:sp>
        <p:nvSpPr>
          <p:cNvPr id="9" name="headline"/>
          <p:cNvSpPr txBox="1"/>
          <p:nvPr/>
        </p:nvSpPr>
        <p:spPr>
          <a:xfrm>
            <a:off x="548640" y="3328416"/>
            <a:ext cx="5862836" cy="777240"/>
          </a:xfrm>
          <a:prstGeom prst="rect">
            <a:avLst/>
          </a:prstGeom>
          <a:noFill/>
          <a:ln/>
        </p:spPr>
        <p:txBody>
          <a:bodyPr wrap="square" lIns="0" tIns="0" rIns="0" bIns="0" rtlCol="0" anchor="ctr"/>
          <a:lstStyle/>
          <a:p>
            <a:pPr algn="l" indent="0" marL="0">
              <a:buNone/>
            </a:pPr>
            <a:r>
              <a:rPr lang="en-US" sz="6000" dirty="0">
                <a:solidFill>
                  <a:srgbClr val="FFFFFF"/>
                </a:solidFill>
                <a:latin typeface="Barlow Condensed ExtraBold" pitchFamily="34" charset="0"/>
                <a:ea typeface="Barlow Condensed ExtraBold" pitchFamily="34" charset="-122"/>
                <a:cs typeface="Barlow Condensed ExtraBold" pitchFamily="34" charset="-120"/>
              </a:rPr>
              <a:t>DI ALASKA AIRLINES</a:t>
            </a:r>
            <a:endParaRPr lang="en-US" sz="6000" dirty="0"/>
          </a:p>
        </p:txBody>
      </p:sp>
      <p:sp>
        <p:nvSpPr>
          <p:cNvPr id="10" name="text"/>
          <p:cNvSpPr txBox="1"/>
          <p:nvPr/>
        </p:nvSpPr>
        <p:spPr>
          <a:xfrm>
            <a:off x="548640" y="4709160"/>
            <a:ext cx="7772400" cy="822960"/>
          </a:xfrm>
          <a:prstGeom prst="rect">
            <a:avLst/>
          </a:prstGeom>
          <a:noFill/>
          <a:ln/>
        </p:spPr>
        <p:txBody>
          <a:bodyPr wrap="square" lIns="0" tIns="0" rIns="0" bIns="0" rtlCol="0" anchor="t"/>
          <a:lstStyle/>
          <a:p>
            <a:pPr algn="l" indent="0" marL="0">
              <a:buNone/>
            </a:pPr>
            <a:r>
              <a:rPr lang="en-US" sz="2000" dirty="0">
                <a:solidFill>
                  <a:srgbClr val="FFFFFF"/>
                </a:solidFill>
                <a:latin typeface="Barlow" pitchFamily="34" charset="0"/>
                <a:ea typeface="Barlow" pitchFamily="34" charset="-122"/>
                <a:cs typeface="Barlow" pitchFamily="34" charset="-120"/>
              </a:rPr>
              <a:t>Dari jadwal penerbangan menjadi kebutuhan perawatan dan suku cadang, lalu menjadi satu basis data operasi.</a:t>
            </a:r>
            <a:endParaRPr lang="en-US" sz="20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9CC506"/>
        </a:solidFill>
      </p:bgPr>
    </p:bg>
    <p:spTree>
      <p:nvGrpSpPr>
        <p:cNvPr id="1" name=""/>
        <p:cNvGrpSpPr/>
        <p:nvPr/>
      </p:nvGrpSpPr>
      <p:grpSpPr>
        <a:xfrm>
          <a:off x="0" y="0"/>
          <a:ext cx="0" cy="0"/>
          <a:chOff x="0" y="0"/>
          <a:chExt cx="0" cy="0"/>
        </a:xfrm>
      </p:grpSpPr>
      <p:sp>
        <p:nvSpPr>
          <p:cNvPr id="3" name="headline"/>
          <p:cNvSpPr txBox="1"/>
          <p:nvPr/>
        </p:nvSpPr>
        <p:spPr>
          <a:xfrm>
            <a:off x="548640" y="502920"/>
            <a:ext cx="6725166"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DARI JADWAL PENERBANGAN KE</a:t>
            </a:r>
            <a:endParaRPr lang="en-US" sz="4400" dirty="0"/>
          </a:p>
        </p:txBody>
      </p:sp>
      <p:sp>
        <p:nvSpPr>
          <p:cNvPr id="4" name="highlight"/>
          <p:cNvSpPr/>
          <p:nvPr/>
        </p:nvSpPr>
        <p:spPr>
          <a:xfrm>
            <a:off x="7111246" y="525719"/>
            <a:ext cx="3022572" cy="524378"/>
          </a:xfrm>
          <a:prstGeom prst="roundRect">
            <a:avLst>
              <a:gd name="adj" fmla="val 13950"/>
            </a:avLst>
          </a:prstGeom>
          <a:solidFill>
            <a:srgbClr val="1A1C14"/>
          </a:solidFill>
          <a:ln w="3175">
            <a:solidFill>
              <a:srgbClr val="1A1C14"/>
            </a:solidFill>
            <a:prstDash val="solid"/>
          </a:ln>
        </p:spPr>
      </p:sp>
      <p:sp>
        <p:nvSpPr>
          <p:cNvPr id="5" name="headline"/>
          <p:cNvSpPr txBox="1"/>
          <p:nvPr/>
        </p:nvSpPr>
        <p:spPr>
          <a:xfrm>
            <a:off x="7211830" y="502920"/>
            <a:ext cx="3095724" cy="569976"/>
          </a:xfrm>
          <a:prstGeom prst="rect">
            <a:avLst/>
          </a:prstGeom>
          <a:noFill/>
          <a:ln/>
        </p:spPr>
        <p:txBody>
          <a:bodyPr wrap="square" lIns="0" tIns="0" rIns="0" bIns="0" rtlCol="0" anchor="ctr"/>
          <a:lstStyle/>
          <a:p>
            <a:pPr algn="l" indent="0" marL="0">
              <a:buNone/>
            </a:pPr>
            <a:r>
              <a:rPr lang="en-US" sz="4400" dirty="0">
                <a:solidFill>
                  <a:srgbClr val="FFFFFF"/>
                </a:solidFill>
                <a:latin typeface="Barlow Condensed ExtraBold" pitchFamily="34" charset="0"/>
                <a:ea typeface="Barlow Condensed ExtraBold" pitchFamily="34" charset="-122"/>
                <a:cs typeface="Barlow Condensed ExtraBold" pitchFamily="34" charset="-120"/>
              </a:rPr>
              <a:t>SUKU CADANG</a:t>
            </a:r>
            <a:endParaRPr lang="en-US" sz="4400" dirty="0"/>
          </a:p>
        </p:txBody>
      </p:sp>
      <p:sp>
        <p:nvSpPr>
          <p:cNvPr id="6" name="text"/>
          <p:cNvSpPr txBox="1"/>
          <p:nvPr/>
        </p:nvSpPr>
        <p:spPr>
          <a:xfrm>
            <a:off x="548640" y="1325880"/>
            <a:ext cx="10058400" cy="457200"/>
          </a:xfrm>
          <a:prstGeom prst="rect">
            <a:avLst/>
          </a:prstGeom>
          <a:noFill/>
          <a:ln/>
        </p:spPr>
        <p:txBody>
          <a:bodyPr wrap="square" lIns="0" tIns="0" rIns="0" bIns="0" rtlCol="0" anchor="t"/>
          <a:lstStyle/>
          <a:p>
            <a:pPr algn="l" indent="0" marL="0">
              <a:buNone/>
            </a:pPr>
            <a:r>
              <a:rPr lang="en-US" sz="1800" dirty="0">
                <a:solidFill>
                  <a:srgbClr val="1A1C14"/>
                </a:solidFill>
                <a:latin typeface="Barlow" pitchFamily="34" charset="0"/>
                <a:ea typeface="Barlow" pitchFamily="34" charset="-122"/>
                <a:cs typeface="Barlow" pitchFamily="34" charset="-120"/>
              </a:rPr>
              <a:t>Permintaan suku cadang dihitung dari jadwal, bukan diramalkan (</a:t>
            </a:r>
            <a:r>
              <a:rPr lang="en-US" sz="1800" i="1" dirty="0">
                <a:solidFill>
                  <a:srgbClr val="1A1C14"/>
                </a:solidFill>
                <a:latin typeface="Barlow" pitchFamily="34" charset="0"/>
                <a:ea typeface="Barlow" pitchFamily="34" charset="-122"/>
                <a:cs typeface="Barlow" pitchFamily="34" charset="-120"/>
              </a:rPr>
              <a:t>dependent demand</a:t>
            </a:r>
            <a:r>
              <a:rPr lang="en-US" sz="1800" dirty="0">
                <a:solidFill>
                  <a:srgbClr val="1A1C14"/>
                </a:solidFill>
                <a:latin typeface="Barlow" pitchFamily="34" charset="0"/>
                <a:ea typeface="Barlow" pitchFamily="34" charset="-122"/>
                <a:cs typeface="Barlow" pitchFamily="34" charset="-120"/>
              </a:rPr>
              <a:t>). Rantainya berjalan dalam empat langkah.</a:t>
            </a:r>
            <a:endParaRPr lang="en-US" sz="1800" dirty="0"/>
          </a:p>
        </p:txBody>
      </p:sp>
      <p:sp>
        <p:nvSpPr>
          <p:cNvPr id="7" name="card"/>
          <p:cNvSpPr/>
          <p:nvPr/>
        </p:nvSpPr>
        <p:spPr>
          <a:xfrm>
            <a:off x="548640" y="1965960"/>
            <a:ext cx="2602154" cy="3200400"/>
          </a:xfrm>
          <a:prstGeom prst="roundRect">
            <a:avLst>
              <a:gd name="adj" fmla="val 7731"/>
            </a:avLst>
          </a:prstGeom>
          <a:solidFill>
            <a:srgbClr val="FFFFFF"/>
          </a:solidFill>
          <a:ln w="3175">
            <a:solidFill>
              <a:srgbClr val="FFFFFF"/>
            </a:solidFill>
            <a:prstDash val="solid"/>
          </a:ln>
        </p:spPr>
      </p:sp>
      <p:sp>
        <p:nvSpPr>
          <p:cNvPr id="8" name="heading"/>
          <p:cNvSpPr txBox="1"/>
          <p:nvPr/>
        </p:nvSpPr>
        <p:spPr>
          <a:xfrm>
            <a:off x="822960" y="2148840"/>
            <a:ext cx="1371600" cy="685800"/>
          </a:xfrm>
          <a:prstGeom prst="rect">
            <a:avLst/>
          </a:prstGeom>
          <a:noFill/>
          <a:ln/>
        </p:spPr>
        <p:txBody>
          <a:bodyPr wrap="square" lIns="0" tIns="0" rIns="0" bIns="0" rtlCol="0" anchor="t"/>
          <a:lstStyle/>
          <a:p>
            <a:pPr algn="l" indent="0" marL="0">
              <a:lnSpc>
                <a:spcPct val="90000"/>
              </a:lnSpc>
              <a:buNone/>
            </a:pPr>
            <a:r>
              <a:rPr lang="en-US" sz="4400" dirty="0">
                <a:solidFill>
                  <a:srgbClr val="F1681D"/>
                </a:solidFill>
                <a:latin typeface="Barlow Condensed ExtraBold" pitchFamily="34" charset="0"/>
                <a:ea typeface="Barlow Condensed ExtraBold" pitchFamily="34" charset="-122"/>
                <a:cs typeface="Barlow Condensed ExtraBold" pitchFamily="34" charset="-120"/>
              </a:rPr>
              <a:t>01</a:t>
            </a:r>
            <a:endParaRPr lang="en-US" sz="4400" dirty="0"/>
          </a:p>
        </p:txBody>
      </p:sp>
      <p:sp>
        <p:nvSpPr>
          <p:cNvPr id="9" name="heading"/>
          <p:cNvSpPr txBox="1"/>
          <p:nvPr/>
        </p:nvSpPr>
        <p:spPr>
          <a:xfrm>
            <a:off x="822960" y="2880360"/>
            <a:ext cx="2053514" cy="86868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FLIGHT</a:t>
            </a:r>
            <a:endParaRPr lang="en-US" sz="2600" dirty="0"/>
          </a:p>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TIMETABLE</a:t>
            </a:r>
            <a:endParaRPr lang="en-US" sz="2600" dirty="0"/>
          </a:p>
        </p:txBody>
      </p:sp>
      <p:sp>
        <p:nvSpPr>
          <p:cNvPr id="10" name="text"/>
          <p:cNvSpPr txBox="1"/>
          <p:nvPr/>
        </p:nvSpPr>
        <p:spPr>
          <a:xfrm>
            <a:off x="822960" y="3794760"/>
            <a:ext cx="2053514" cy="128016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Jadwal terpublikasi berfungsi sebagai </a:t>
            </a:r>
            <a:r>
              <a:rPr lang="en-US" sz="1500" i="1" dirty="0">
                <a:solidFill>
                  <a:srgbClr val="1A1C14"/>
                </a:solidFill>
                <a:latin typeface="Barlow" pitchFamily="34" charset="0"/>
                <a:ea typeface="Barlow" pitchFamily="34" charset="-122"/>
                <a:cs typeface="Barlow" pitchFamily="34" charset="-120"/>
              </a:rPr>
              <a:t>master schedule</a:t>
            </a:r>
            <a:r>
              <a:rPr lang="en-US" sz="1500" dirty="0">
                <a:solidFill>
                  <a:srgbClr val="1A1C14"/>
                </a:solidFill>
                <a:latin typeface="Barlow" pitchFamily="34" charset="0"/>
                <a:ea typeface="Barlow" pitchFamily="34" charset="-122"/>
                <a:cs typeface="Barlow" pitchFamily="34" charset="-120"/>
              </a:rPr>
              <a:t>: pesawat, rute, jam, dan siklus.</a:t>
            </a:r>
            <a:endParaRPr lang="en-US" sz="1500" dirty="0"/>
          </a:p>
        </p:txBody>
      </p:sp>
      <p:sp>
        <p:nvSpPr>
          <p:cNvPr id="11" name="arrow"/>
          <p:cNvSpPr/>
          <p:nvPr/>
        </p:nvSpPr>
        <p:spPr>
          <a:xfrm>
            <a:off x="3178226" y="3154680"/>
            <a:ext cx="173736" cy="310896"/>
          </a:xfrm>
          <a:prstGeom prst="rightArrow">
            <a:avLst/>
          </a:prstGeom>
          <a:solidFill>
            <a:srgbClr val="1A1C14"/>
          </a:solidFill>
          <a:ln w="3175">
            <a:solidFill>
              <a:srgbClr val="1A1C14"/>
            </a:solidFill>
            <a:prstDash val="solid"/>
          </a:ln>
        </p:spPr>
      </p:sp>
      <p:sp>
        <p:nvSpPr>
          <p:cNvPr id="12" name="card"/>
          <p:cNvSpPr/>
          <p:nvPr/>
        </p:nvSpPr>
        <p:spPr>
          <a:xfrm>
            <a:off x="3379394" y="1965960"/>
            <a:ext cx="2602154" cy="3200400"/>
          </a:xfrm>
          <a:prstGeom prst="roundRect">
            <a:avLst>
              <a:gd name="adj" fmla="val 7731"/>
            </a:avLst>
          </a:prstGeom>
          <a:solidFill>
            <a:srgbClr val="FFFFFF"/>
          </a:solidFill>
          <a:ln w="3175">
            <a:solidFill>
              <a:srgbClr val="FFFFFF"/>
            </a:solidFill>
            <a:prstDash val="solid"/>
          </a:ln>
        </p:spPr>
      </p:sp>
      <p:sp>
        <p:nvSpPr>
          <p:cNvPr id="13" name="heading"/>
          <p:cNvSpPr txBox="1"/>
          <p:nvPr/>
        </p:nvSpPr>
        <p:spPr>
          <a:xfrm>
            <a:off x="3653714" y="2148840"/>
            <a:ext cx="1371600" cy="685800"/>
          </a:xfrm>
          <a:prstGeom prst="rect">
            <a:avLst/>
          </a:prstGeom>
          <a:noFill/>
          <a:ln/>
        </p:spPr>
        <p:txBody>
          <a:bodyPr wrap="square" lIns="0" tIns="0" rIns="0" bIns="0" rtlCol="0" anchor="t"/>
          <a:lstStyle/>
          <a:p>
            <a:pPr algn="l" indent="0" marL="0">
              <a:lnSpc>
                <a:spcPct val="90000"/>
              </a:lnSpc>
              <a:buNone/>
            </a:pPr>
            <a:r>
              <a:rPr lang="en-US" sz="4400" dirty="0">
                <a:solidFill>
                  <a:srgbClr val="F1681D"/>
                </a:solidFill>
                <a:latin typeface="Barlow Condensed ExtraBold" pitchFamily="34" charset="0"/>
                <a:ea typeface="Barlow Condensed ExtraBold" pitchFamily="34" charset="-122"/>
                <a:cs typeface="Barlow Condensed ExtraBold" pitchFamily="34" charset="-120"/>
              </a:rPr>
              <a:t>02</a:t>
            </a:r>
            <a:endParaRPr lang="en-US" sz="4400" dirty="0"/>
          </a:p>
        </p:txBody>
      </p:sp>
      <p:sp>
        <p:nvSpPr>
          <p:cNvPr id="14" name="heading"/>
          <p:cNvSpPr txBox="1"/>
          <p:nvPr/>
        </p:nvSpPr>
        <p:spPr>
          <a:xfrm>
            <a:off x="3653714" y="2880360"/>
            <a:ext cx="2053514" cy="86868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RENCANA</a:t>
            </a:r>
            <a:endParaRPr lang="en-US" sz="2600" dirty="0"/>
          </a:p>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PERAWATAN</a:t>
            </a:r>
            <a:endParaRPr lang="en-US" sz="2600" dirty="0"/>
          </a:p>
        </p:txBody>
      </p:sp>
      <p:sp>
        <p:nvSpPr>
          <p:cNvPr id="15" name="text"/>
          <p:cNvSpPr txBox="1"/>
          <p:nvPr/>
        </p:nvSpPr>
        <p:spPr>
          <a:xfrm>
            <a:off x="3653714" y="3794760"/>
            <a:ext cx="2053514" cy="128016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Jam terbang dan siklus per </a:t>
            </a:r>
            <a:r>
              <a:rPr lang="en-US" sz="1500" i="1" dirty="0">
                <a:solidFill>
                  <a:srgbClr val="1A1C14"/>
                </a:solidFill>
                <a:latin typeface="Barlow" pitchFamily="34" charset="0"/>
                <a:ea typeface="Barlow" pitchFamily="34" charset="-122"/>
                <a:cs typeface="Barlow" pitchFamily="34" charset="-120"/>
              </a:rPr>
              <a:t>tail number</a:t>
            </a:r>
            <a:r>
              <a:rPr lang="en-US" sz="1500" dirty="0">
                <a:solidFill>
                  <a:srgbClr val="1A1C14"/>
                </a:solidFill>
                <a:latin typeface="Barlow" pitchFamily="34" charset="0"/>
                <a:ea typeface="Barlow" pitchFamily="34" charset="-122"/>
                <a:cs typeface="Barlow" pitchFamily="34" charset="-120"/>
              </a:rPr>
              <a:t> menentukan kapan setiap </a:t>
            </a:r>
            <a:r>
              <a:rPr lang="en-US" sz="1500" i="1" dirty="0">
                <a:solidFill>
                  <a:srgbClr val="1A1C14"/>
                </a:solidFill>
                <a:latin typeface="Barlow" pitchFamily="34" charset="0"/>
                <a:ea typeface="Barlow" pitchFamily="34" charset="-122"/>
                <a:cs typeface="Barlow" pitchFamily="34" charset="-120"/>
              </a:rPr>
              <a:t>check</a:t>
            </a:r>
            <a:r>
              <a:rPr lang="en-US" sz="1500" dirty="0">
                <a:solidFill>
                  <a:srgbClr val="1A1C14"/>
                </a:solidFill>
                <a:latin typeface="Barlow" pitchFamily="34" charset="0"/>
                <a:ea typeface="Barlow" pitchFamily="34" charset="-122"/>
                <a:cs typeface="Barlow" pitchFamily="34" charset="-120"/>
              </a:rPr>
              <a:t> jatuh tempo.</a:t>
            </a:r>
            <a:endParaRPr lang="en-US" sz="1500" dirty="0"/>
          </a:p>
        </p:txBody>
      </p:sp>
      <p:sp>
        <p:nvSpPr>
          <p:cNvPr id="16" name="arrow"/>
          <p:cNvSpPr/>
          <p:nvPr/>
        </p:nvSpPr>
        <p:spPr>
          <a:xfrm>
            <a:off x="6008980" y="3154680"/>
            <a:ext cx="173736" cy="310896"/>
          </a:xfrm>
          <a:prstGeom prst="rightArrow">
            <a:avLst/>
          </a:prstGeom>
          <a:solidFill>
            <a:srgbClr val="1A1C14"/>
          </a:solidFill>
          <a:ln w="3175">
            <a:solidFill>
              <a:srgbClr val="1A1C14"/>
            </a:solidFill>
            <a:prstDash val="solid"/>
          </a:ln>
        </p:spPr>
      </p:sp>
      <p:sp>
        <p:nvSpPr>
          <p:cNvPr id="17" name="card"/>
          <p:cNvSpPr/>
          <p:nvPr/>
        </p:nvSpPr>
        <p:spPr>
          <a:xfrm>
            <a:off x="6210148" y="1965960"/>
            <a:ext cx="2602154" cy="3200400"/>
          </a:xfrm>
          <a:prstGeom prst="roundRect">
            <a:avLst>
              <a:gd name="adj" fmla="val 7731"/>
            </a:avLst>
          </a:prstGeom>
          <a:solidFill>
            <a:srgbClr val="FFFFFF"/>
          </a:solidFill>
          <a:ln w="3175">
            <a:solidFill>
              <a:srgbClr val="FFFFFF"/>
            </a:solidFill>
            <a:prstDash val="solid"/>
          </a:ln>
        </p:spPr>
      </p:sp>
      <p:sp>
        <p:nvSpPr>
          <p:cNvPr id="18" name="heading"/>
          <p:cNvSpPr txBox="1"/>
          <p:nvPr/>
        </p:nvSpPr>
        <p:spPr>
          <a:xfrm>
            <a:off x="6484468" y="2148840"/>
            <a:ext cx="1371600" cy="685800"/>
          </a:xfrm>
          <a:prstGeom prst="rect">
            <a:avLst/>
          </a:prstGeom>
          <a:noFill/>
          <a:ln/>
        </p:spPr>
        <p:txBody>
          <a:bodyPr wrap="square" lIns="0" tIns="0" rIns="0" bIns="0" rtlCol="0" anchor="t"/>
          <a:lstStyle/>
          <a:p>
            <a:pPr algn="l" indent="0" marL="0">
              <a:lnSpc>
                <a:spcPct val="90000"/>
              </a:lnSpc>
              <a:buNone/>
            </a:pPr>
            <a:r>
              <a:rPr lang="en-US" sz="4400" dirty="0">
                <a:solidFill>
                  <a:srgbClr val="F1681D"/>
                </a:solidFill>
                <a:latin typeface="Barlow Condensed ExtraBold" pitchFamily="34" charset="0"/>
                <a:ea typeface="Barlow Condensed ExtraBold" pitchFamily="34" charset="-122"/>
                <a:cs typeface="Barlow Condensed ExtraBold" pitchFamily="34" charset="-120"/>
              </a:rPr>
              <a:t>03</a:t>
            </a:r>
            <a:endParaRPr lang="en-US" sz="4400" dirty="0"/>
          </a:p>
        </p:txBody>
      </p:sp>
      <p:sp>
        <p:nvSpPr>
          <p:cNvPr id="19" name="heading"/>
          <p:cNvSpPr txBox="1"/>
          <p:nvPr/>
        </p:nvSpPr>
        <p:spPr>
          <a:xfrm>
            <a:off x="6484468" y="2880360"/>
            <a:ext cx="2053514" cy="86868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WORK</a:t>
            </a:r>
            <a:endParaRPr lang="en-US" sz="2600" dirty="0"/>
          </a:p>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PACKAGE</a:t>
            </a:r>
            <a:endParaRPr lang="en-US" sz="2600" dirty="0"/>
          </a:p>
        </p:txBody>
      </p:sp>
      <p:sp>
        <p:nvSpPr>
          <p:cNvPr id="20" name="text"/>
          <p:cNvSpPr txBox="1"/>
          <p:nvPr/>
        </p:nvSpPr>
        <p:spPr>
          <a:xfrm>
            <a:off x="6484468" y="3794760"/>
            <a:ext cx="2053514" cy="128016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Setiap </a:t>
            </a:r>
            <a:r>
              <a:rPr lang="en-US" sz="1500" i="1" dirty="0">
                <a:solidFill>
                  <a:srgbClr val="1A1C14"/>
                </a:solidFill>
                <a:latin typeface="Barlow" pitchFamily="34" charset="0"/>
                <a:ea typeface="Barlow" pitchFamily="34" charset="-122"/>
                <a:cs typeface="Barlow" pitchFamily="34" charset="-120"/>
              </a:rPr>
              <a:t>check</a:t>
            </a:r>
            <a:r>
              <a:rPr lang="en-US" sz="1500" dirty="0">
                <a:solidFill>
                  <a:srgbClr val="1A1C14"/>
                </a:solidFill>
                <a:latin typeface="Barlow" pitchFamily="34" charset="0"/>
                <a:ea typeface="Barlow" pitchFamily="34" charset="-122"/>
                <a:cs typeface="Barlow" pitchFamily="34" charset="-120"/>
              </a:rPr>
              <a:t> diurai menjadi </a:t>
            </a:r>
            <a:r>
              <a:rPr lang="en-US" sz="1500" i="1" dirty="0">
                <a:solidFill>
                  <a:srgbClr val="1A1C14"/>
                </a:solidFill>
                <a:latin typeface="Barlow" pitchFamily="34" charset="0"/>
                <a:ea typeface="Barlow" pitchFamily="34" charset="-122"/>
                <a:cs typeface="Barlow" pitchFamily="34" charset="-120"/>
              </a:rPr>
              <a:t>task card</a:t>
            </a:r>
            <a:r>
              <a:rPr lang="en-US" sz="1500" dirty="0">
                <a:solidFill>
                  <a:srgbClr val="1A1C14"/>
                </a:solidFill>
                <a:latin typeface="Barlow" pitchFamily="34" charset="0"/>
                <a:ea typeface="Barlow" pitchFamily="34" charset="-122"/>
                <a:cs typeface="Barlow" pitchFamily="34" charset="-120"/>
              </a:rPr>
              <a:t>: daftar komponen dan jam kerja.</a:t>
            </a:r>
            <a:endParaRPr lang="en-US" sz="1500" dirty="0"/>
          </a:p>
        </p:txBody>
      </p:sp>
      <p:sp>
        <p:nvSpPr>
          <p:cNvPr id="21" name="arrow"/>
          <p:cNvSpPr/>
          <p:nvPr/>
        </p:nvSpPr>
        <p:spPr>
          <a:xfrm>
            <a:off x="8839733" y="3154680"/>
            <a:ext cx="173736" cy="310896"/>
          </a:xfrm>
          <a:prstGeom prst="rightArrow">
            <a:avLst/>
          </a:prstGeom>
          <a:solidFill>
            <a:srgbClr val="1A1C14"/>
          </a:solidFill>
          <a:ln w="3175">
            <a:solidFill>
              <a:srgbClr val="1A1C14"/>
            </a:solidFill>
            <a:prstDash val="solid"/>
          </a:ln>
        </p:spPr>
      </p:sp>
      <p:sp>
        <p:nvSpPr>
          <p:cNvPr id="22" name="card"/>
          <p:cNvSpPr/>
          <p:nvPr/>
        </p:nvSpPr>
        <p:spPr>
          <a:xfrm>
            <a:off x="9040901" y="1965960"/>
            <a:ext cx="2602154" cy="3200400"/>
          </a:xfrm>
          <a:prstGeom prst="roundRect">
            <a:avLst>
              <a:gd name="adj" fmla="val 7731"/>
            </a:avLst>
          </a:prstGeom>
          <a:solidFill>
            <a:srgbClr val="FFFFFF"/>
          </a:solidFill>
          <a:ln w="3175">
            <a:solidFill>
              <a:srgbClr val="FFFFFF"/>
            </a:solidFill>
            <a:prstDash val="solid"/>
          </a:ln>
        </p:spPr>
      </p:sp>
      <p:sp>
        <p:nvSpPr>
          <p:cNvPr id="23" name="heading"/>
          <p:cNvSpPr txBox="1"/>
          <p:nvPr/>
        </p:nvSpPr>
        <p:spPr>
          <a:xfrm>
            <a:off x="9315221" y="2148840"/>
            <a:ext cx="1371600" cy="685800"/>
          </a:xfrm>
          <a:prstGeom prst="rect">
            <a:avLst/>
          </a:prstGeom>
          <a:noFill/>
          <a:ln/>
        </p:spPr>
        <p:txBody>
          <a:bodyPr wrap="square" lIns="0" tIns="0" rIns="0" bIns="0" rtlCol="0" anchor="t"/>
          <a:lstStyle/>
          <a:p>
            <a:pPr algn="l" indent="0" marL="0">
              <a:lnSpc>
                <a:spcPct val="90000"/>
              </a:lnSpc>
              <a:buNone/>
            </a:pPr>
            <a:r>
              <a:rPr lang="en-US" sz="4400" dirty="0">
                <a:solidFill>
                  <a:srgbClr val="F1681D"/>
                </a:solidFill>
                <a:latin typeface="Barlow Condensed ExtraBold" pitchFamily="34" charset="0"/>
                <a:ea typeface="Barlow Condensed ExtraBold" pitchFamily="34" charset="-122"/>
                <a:cs typeface="Barlow Condensed ExtraBold" pitchFamily="34" charset="-120"/>
              </a:rPr>
              <a:t>04</a:t>
            </a:r>
            <a:endParaRPr lang="en-US" sz="4400" dirty="0"/>
          </a:p>
        </p:txBody>
      </p:sp>
      <p:sp>
        <p:nvSpPr>
          <p:cNvPr id="24" name="heading"/>
          <p:cNvSpPr txBox="1"/>
          <p:nvPr/>
        </p:nvSpPr>
        <p:spPr>
          <a:xfrm>
            <a:off x="9315221" y="2880360"/>
            <a:ext cx="2053514" cy="86868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KEBUTUHAN</a:t>
            </a:r>
            <a:endParaRPr lang="en-US" sz="2600" dirty="0"/>
          </a:p>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BERSIH</a:t>
            </a:r>
            <a:endParaRPr lang="en-US" sz="2600" dirty="0"/>
          </a:p>
        </p:txBody>
      </p:sp>
      <p:sp>
        <p:nvSpPr>
          <p:cNvPr id="25" name="text"/>
          <p:cNvSpPr txBox="1"/>
          <p:nvPr/>
        </p:nvSpPr>
        <p:spPr>
          <a:xfrm>
            <a:off x="9315221" y="3794760"/>
            <a:ext cx="2053514" cy="128016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Dikurangi stok dan pesanan berjalan, lalu digeser mundur sebesar </a:t>
            </a:r>
            <a:r>
              <a:rPr lang="en-US" sz="1500" i="1" dirty="0">
                <a:solidFill>
                  <a:srgbClr val="1A1C14"/>
                </a:solidFill>
                <a:latin typeface="Barlow" pitchFamily="34" charset="0"/>
                <a:ea typeface="Barlow" pitchFamily="34" charset="-122"/>
                <a:cs typeface="Barlow" pitchFamily="34" charset="-120"/>
              </a:rPr>
              <a:t>lead time</a:t>
            </a:r>
            <a:r>
              <a:rPr lang="en-US" sz="1500" dirty="0">
                <a:solidFill>
                  <a:srgbClr val="1A1C14"/>
                </a:solidFill>
                <a:latin typeface="Barlow" pitchFamily="34" charset="0"/>
                <a:ea typeface="Barlow" pitchFamily="34" charset="-122"/>
                <a:cs typeface="Barlow" pitchFamily="34" charset="-120"/>
              </a:rPr>
              <a:t>.</a:t>
            </a:r>
            <a:endParaRPr lang="en-US" sz="1500" dirty="0"/>
          </a:p>
        </p:txBody>
      </p:sp>
      <p:sp>
        <p:nvSpPr>
          <p:cNvPr id="26" name="card"/>
          <p:cNvSpPr/>
          <p:nvPr/>
        </p:nvSpPr>
        <p:spPr>
          <a:xfrm>
            <a:off x="548640" y="5394960"/>
            <a:ext cx="11094415" cy="868680"/>
          </a:xfrm>
          <a:prstGeom prst="roundRect">
            <a:avLst>
              <a:gd name="adj" fmla="val 23158"/>
            </a:avLst>
          </a:prstGeom>
          <a:solidFill>
            <a:srgbClr val="1A1C14"/>
          </a:solidFill>
          <a:ln w="3175">
            <a:solidFill>
              <a:srgbClr val="1A1C14"/>
            </a:solidFill>
            <a:prstDash val="solid"/>
          </a:ln>
        </p:spPr>
      </p:sp>
      <p:sp>
        <p:nvSpPr>
          <p:cNvPr id="27" name="text"/>
          <p:cNvSpPr txBox="1"/>
          <p:nvPr/>
        </p:nvSpPr>
        <p:spPr>
          <a:xfrm>
            <a:off x="868680" y="5394960"/>
            <a:ext cx="10454335" cy="868680"/>
          </a:xfrm>
          <a:prstGeom prst="rect">
            <a:avLst/>
          </a:prstGeom>
          <a:noFill/>
          <a:ln/>
        </p:spPr>
        <p:txBody>
          <a:bodyPr wrap="square" lIns="0" tIns="0" rIns="0" bIns="0" rtlCol="0" anchor="ctr"/>
          <a:lstStyle/>
          <a:p>
            <a:pPr algn="l" indent="0" marL="0">
              <a:buNone/>
            </a:pPr>
            <a:r>
              <a:rPr lang="en-US" sz="1600" dirty="0">
                <a:solidFill>
                  <a:srgbClr val="FFFFFF"/>
                </a:solidFill>
                <a:latin typeface="Barlow" pitchFamily="34" charset="0"/>
                <a:ea typeface="Barlow" pitchFamily="34" charset="-122"/>
                <a:cs typeface="Barlow" pitchFamily="34" charset="-120"/>
              </a:rPr>
              <a:t>Perubahan jadwal penerbangan merambat ke jatuh tempo perawatan, dan jatuh tempo yang bergeser mengubah kapan suku cadang harus dipesan.</a:t>
            </a:r>
            <a:endParaRPr lang="en-US" sz="16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3" name="headline"/>
          <p:cNvSpPr txBox="1"/>
          <p:nvPr/>
        </p:nvSpPr>
        <p:spPr>
          <a:xfrm>
            <a:off x="548640" y="502920"/>
            <a:ext cx="2063075"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CONTOH:</a:t>
            </a:r>
            <a:endParaRPr lang="en-US" sz="4400" dirty="0"/>
          </a:p>
        </p:txBody>
      </p:sp>
      <p:sp>
        <p:nvSpPr>
          <p:cNvPr id="4" name="highlight"/>
          <p:cNvSpPr/>
          <p:nvPr/>
        </p:nvSpPr>
        <p:spPr>
          <a:xfrm>
            <a:off x="2449155" y="525719"/>
            <a:ext cx="3761296" cy="524378"/>
          </a:xfrm>
          <a:prstGeom prst="roundRect">
            <a:avLst>
              <a:gd name="adj" fmla="val 13950"/>
            </a:avLst>
          </a:prstGeom>
          <a:solidFill>
            <a:srgbClr val="F1681D"/>
          </a:solidFill>
          <a:ln w="3175">
            <a:solidFill>
              <a:srgbClr val="F1681D"/>
            </a:solidFill>
            <a:prstDash val="solid"/>
          </a:ln>
        </p:spPr>
      </p:sp>
      <p:sp>
        <p:nvSpPr>
          <p:cNvPr id="5" name="headline"/>
          <p:cNvSpPr txBox="1"/>
          <p:nvPr/>
        </p:nvSpPr>
        <p:spPr>
          <a:xfrm>
            <a:off x="2549739" y="502920"/>
            <a:ext cx="3834448" cy="569976"/>
          </a:xfrm>
          <a:prstGeom prst="rect">
            <a:avLst/>
          </a:prstGeom>
          <a:noFill/>
          <a:ln/>
        </p:spPr>
        <p:txBody>
          <a:bodyPr wrap="square" lIns="0" tIns="0" rIns="0" bIns="0" rtlCol="0" anchor="ctr"/>
          <a:lstStyle/>
          <a:p>
            <a:pPr algn="l" indent="0" marL="0">
              <a:buNone/>
            </a:pPr>
            <a:r>
              <a:rPr lang="en-US" sz="4400" dirty="0">
                <a:solidFill>
                  <a:srgbClr val="FFFFFF"/>
                </a:solidFill>
                <a:latin typeface="Barlow Condensed ExtraBold" pitchFamily="34" charset="0"/>
                <a:ea typeface="Barlow Condensed ExtraBold" pitchFamily="34" charset="-122"/>
                <a:cs typeface="Barlow Condensed ExtraBold" pitchFamily="34" charset="-120"/>
              </a:rPr>
              <a:t>BRAKE ASSEMBLY</a:t>
            </a:r>
            <a:endParaRPr lang="en-US" sz="4400" dirty="0"/>
          </a:p>
        </p:txBody>
      </p:sp>
      <p:sp>
        <p:nvSpPr>
          <p:cNvPr id="6" name="headline"/>
          <p:cNvSpPr txBox="1"/>
          <p:nvPr/>
        </p:nvSpPr>
        <p:spPr>
          <a:xfrm>
            <a:off x="6322211" y="502920"/>
            <a:ext cx="4519017"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UNTUK HEAVY CHECK</a:t>
            </a:r>
            <a:endParaRPr lang="en-US" sz="4400" dirty="0"/>
          </a:p>
        </p:txBody>
      </p:sp>
      <p:sp>
        <p:nvSpPr>
          <p:cNvPr id="7" name="text"/>
          <p:cNvSpPr txBox="1"/>
          <p:nvPr/>
        </p:nvSpPr>
        <p:spPr>
          <a:xfrm>
            <a:off x="548640" y="1325880"/>
            <a:ext cx="11094415" cy="777240"/>
          </a:xfrm>
          <a:prstGeom prst="rect">
            <a:avLst/>
          </a:prstGeom>
          <a:noFill/>
          <a:ln/>
        </p:spPr>
        <p:txBody>
          <a:bodyPr wrap="square" lIns="0" tIns="0" rIns="0" bIns="0" rtlCol="0" anchor="t"/>
          <a:lstStyle/>
          <a:p>
            <a:pPr algn="l" indent="0" marL="0">
              <a:buNone/>
            </a:pPr>
            <a:r>
              <a:rPr lang="en-US" sz="1600" dirty="0">
                <a:solidFill>
                  <a:srgbClr val="1A1C14"/>
                </a:solidFill>
                <a:latin typeface="Barlow" pitchFamily="34" charset="0"/>
                <a:ea typeface="Barlow" pitchFamily="34" charset="-122"/>
                <a:cs typeface="Barlow" pitchFamily="34" charset="-120"/>
              </a:rPr>
              <a:t>4 unit per paket </a:t>
            </a:r>
            <a:r>
              <a:rPr lang="en-US" sz="1600" i="1" dirty="0">
                <a:solidFill>
                  <a:srgbClr val="1A1C14"/>
                </a:solidFill>
                <a:latin typeface="Barlow" pitchFamily="34" charset="0"/>
                <a:ea typeface="Barlow" pitchFamily="34" charset="-122"/>
                <a:cs typeface="Barlow" pitchFamily="34" charset="-120"/>
              </a:rPr>
              <a:t>heavy check</a:t>
            </a:r>
            <a:r>
              <a:rPr lang="en-US" sz="1600" dirty="0">
                <a:solidFill>
                  <a:srgbClr val="1A1C14"/>
                </a:solidFill>
                <a:latin typeface="Barlow" pitchFamily="34" charset="0"/>
                <a:ea typeface="Barlow" pitchFamily="34" charset="-122"/>
                <a:cs typeface="Barlow" pitchFamily="34" charset="-120"/>
              </a:rPr>
              <a:t>; </a:t>
            </a:r>
            <a:r>
              <a:rPr lang="en-US" sz="1600" i="1" dirty="0">
                <a:solidFill>
                  <a:srgbClr val="1A1C14"/>
                </a:solidFill>
                <a:latin typeface="Barlow" pitchFamily="34" charset="0"/>
                <a:ea typeface="Barlow" pitchFamily="34" charset="-122"/>
                <a:cs typeface="Barlow" pitchFamily="34" charset="-120"/>
              </a:rPr>
              <a:t>lead time</a:t>
            </a:r>
            <a:r>
              <a:rPr lang="en-US" sz="1600" dirty="0">
                <a:solidFill>
                  <a:srgbClr val="1A1C14"/>
                </a:solidFill>
                <a:latin typeface="Barlow" pitchFamily="34" charset="0"/>
                <a:ea typeface="Barlow" pitchFamily="34" charset="-122"/>
                <a:cs typeface="Barlow" pitchFamily="34" charset="-120"/>
              </a:rPr>
              <a:t> pemasok 2 minggu; stok awal 6 unit; 4 unit tiba pada minggu 2; kebijakan </a:t>
            </a:r>
            <a:r>
              <a:rPr lang="en-US" sz="1600" i="1" dirty="0">
                <a:solidFill>
                  <a:srgbClr val="1A1C14"/>
                </a:solidFill>
                <a:latin typeface="Barlow" pitchFamily="34" charset="0"/>
                <a:ea typeface="Barlow" pitchFamily="34" charset="-122"/>
                <a:cs typeface="Barlow" pitchFamily="34" charset="-120"/>
              </a:rPr>
              <a:t>lot-for-lot</a:t>
            </a:r>
            <a:r>
              <a:rPr lang="en-US" sz="1600" dirty="0">
                <a:solidFill>
                  <a:srgbClr val="1A1C14"/>
                </a:solidFill>
                <a:latin typeface="Barlow" pitchFamily="34" charset="0"/>
                <a:ea typeface="Barlow" pitchFamily="34" charset="-122"/>
                <a:cs typeface="Barlow" pitchFamily="34" charset="-120"/>
              </a:rPr>
              <a:t>. Rencana perawatan: 2 paket (minggu 5), 1 paket (minggu 7), 2 paket (minggu 8).</a:t>
            </a:r>
            <a:endParaRPr lang="en-US" sz="16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3017520"/>
                <a:gridCol w="1009612"/>
                <a:gridCol w="1009612"/>
                <a:gridCol w="1009612"/>
                <a:gridCol w="1009612"/>
                <a:gridCol w="1009612"/>
                <a:gridCol w="1009612"/>
                <a:gridCol w="1009612"/>
                <a:gridCol w="1009612"/>
              </a:tblGrid>
              <a:tr h="384048">
                <a:tc>
                  <a:txBody>
                    <a:bodyPr/>
                    <a:lstStyle/>
                    <a:p>
                      <a:pPr algn="ctr" indent="0" marL="0">
                        <a:buNone/>
                      </a:pPr>
                      <a:r>
                        <a:rPr lang="en-US" sz="1500" b="1" dirty="0">
                          <a:solidFill>
                            <a:srgbClr val="FFFFFF"/>
                          </a:solidFill>
                          <a:latin typeface="Barlow" pitchFamily="34" charset="0"/>
                          <a:ea typeface="Barlow" pitchFamily="34" charset="-122"/>
                          <a:cs typeface="Barlow" pitchFamily="34" charset="-120"/>
                        </a:rPr>
                        <a:t>Minggu</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500" b="1" dirty="0">
                          <a:solidFill>
                            <a:srgbClr val="FFFFFF"/>
                          </a:solidFill>
                          <a:latin typeface="Barlow" pitchFamily="34" charset="0"/>
                          <a:ea typeface="Barlow" pitchFamily="34" charset="-122"/>
                          <a:cs typeface="Barlow" pitchFamily="34" charset="-120"/>
                        </a:rPr>
                        <a:t>1</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500" b="1" dirty="0">
                          <a:solidFill>
                            <a:srgbClr val="FFFFFF"/>
                          </a:solidFill>
                          <a:latin typeface="Barlow" pitchFamily="34" charset="0"/>
                          <a:ea typeface="Barlow" pitchFamily="34" charset="-122"/>
                          <a:cs typeface="Barlow" pitchFamily="34" charset="-120"/>
                        </a:rPr>
                        <a:t>2</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500" b="1" dirty="0">
                          <a:solidFill>
                            <a:srgbClr val="FFFFFF"/>
                          </a:solidFill>
                          <a:latin typeface="Barlow" pitchFamily="34" charset="0"/>
                          <a:ea typeface="Barlow" pitchFamily="34" charset="-122"/>
                          <a:cs typeface="Barlow" pitchFamily="34" charset="-120"/>
                        </a:rPr>
                        <a:t>3</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500" b="1" dirty="0">
                          <a:solidFill>
                            <a:srgbClr val="FFFFFF"/>
                          </a:solidFill>
                          <a:latin typeface="Barlow" pitchFamily="34" charset="0"/>
                          <a:ea typeface="Barlow" pitchFamily="34" charset="-122"/>
                          <a:cs typeface="Barlow" pitchFamily="34" charset="-120"/>
                        </a:rPr>
                        <a:t>4</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500" b="1" dirty="0">
                          <a:solidFill>
                            <a:srgbClr val="FFFFFF"/>
                          </a:solidFill>
                          <a:latin typeface="Barlow" pitchFamily="34" charset="0"/>
                          <a:ea typeface="Barlow" pitchFamily="34" charset="-122"/>
                          <a:cs typeface="Barlow" pitchFamily="34" charset="-120"/>
                        </a:rPr>
                        <a:t>5</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500" b="1" dirty="0">
                          <a:solidFill>
                            <a:srgbClr val="FFFFFF"/>
                          </a:solidFill>
                          <a:latin typeface="Barlow" pitchFamily="34" charset="0"/>
                          <a:ea typeface="Barlow" pitchFamily="34" charset="-122"/>
                          <a:cs typeface="Barlow" pitchFamily="34" charset="-120"/>
                        </a:rPr>
                        <a:t>6</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500" b="1" dirty="0">
                          <a:solidFill>
                            <a:srgbClr val="FFFFFF"/>
                          </a:solidFill>
                          <a:latin typeface="Barlow" pitchFamily="34" charset="0"/>
                          <a:ea typeface="Barlow" pitchFamily="34" charset="-122"/>
                          <a:cs typeface="Barlow" pitchFamily="34" charset="-120"/>
                        </a:rPr>
                        <a:t>7</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500" b="1" dirty="0">
                          <a:solidFill>
                            <a:srgbClr val="FFFFFF"/>
                          </a:solidFill>
                          <a:latin typeface="Barlow" pitchFamily="34" charset="0"/>
                          <a:ea typeface="Barlow" pitchFamily="34" charset="-122"/>
                          <a:cs typeface="Barlow" pitchFamily="34" charset="-120"/>
                        </a:rPr>
                        <a:t>8</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r>
              <a:tr h="384048">
                <a:tc>
                  <a:txBody>
                    <a:bodyPr/>
                    <a:lstStyle/>
                    <a:p>
                      <a:pPr algn="l" indent="0" marL="0">
                        <a:buNone/>
                      </a:pPr>
                      <a:r>
                        <a:rPr lang="en-US" sz="1500" b="1" dirty="0">
                          <a:solidFill>
                            <a:srgbClr val="1A1C14"/>
                          </a:solidFill>
                          <a:latin typeface="Barlow" pitchFamily="34" charset="0"/>
                          <a:ea typeface="Barlow" pitchFamily="34" charset="-122"/>
                          <a:cs typeface="Barlow" pitchFamily="34" charset="-120"/>
                        </a:rPr>
                        <a:t>Gross requirements</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8</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4</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8</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r>
              <a:tr h="384048">
                <a:tc>
                  <a:txBody>
                    <a:bodyPr/>
                    <a:lstStyle/>
                    <a:p>
                      <a:pPr algn="l" indent="0" marL="0">
                        <a:buNone/>
                      </a:pPr>
                      <a:r>
                        <a:rPr lang="en-US" sz="1500" b="1" dirty="0">
                          <a:solidFill>
                            <a:srgbClr val="1A1C14"/>
                          </a:solidFill>
                          <a:latin typeface="Barlow" pitchFamily="34" charset="0"/>
                          <a:ea typeface="Barlow" pitchFamily="34" charset="-122"/>
                          <a:cs typeface="Barlow" pitchFamily="34" charset="-120"/>
                        </a:rPr>
                        <a:t>Scheduled receipts</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4</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r>
              <a:tr h="384048">
                <a:tc>
                  <a:txBody>
                    <a:bodyPr/>
                    <a:lstStyle/>
                    <a:p>
                      <a:pPr algn="l" indent="0" marL="0">
                        <a:buNone/>
                      </a:pPr>
                      <a:r>
                        <a:rPr lang="en-US" sz="1500" b="1" dirty="0">
                          <a:solidFill>
                            <a:srgbClr val="1A1C14"/>
                          </a:solidFill>
                          <a:latin typeface="Barlow" pitchFamily="34" charset="0"/>
                          <a:ea typeface="Barlow" pitchFamily="34" charset="-122"/>
                          <a:cs typeface="Barlow" pitchFamily="34" charset="-120"/>
                        </a:rPr>
                        <a:t>Projected on hand (awal 6)</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6</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10</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10</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10</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2</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2</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r>
              <a:tr h="384048">
                <a:tc>
                  <a:txBody>
                    <a:bodyPr/>
                    <a:lstStyle/>
                    <a:p>
                      <a:pPr algn="l" indent="0" marL="0">
                        <a:buNone/>
                      </a:pPr>
                      <a:r>
                        <a:rPr lang="en-US" sz="1500" b="1" dirty="0">
                          <a:solidFill>
                            <a:srgbClr val="1A1C14"/>
                          </a:solidFill>
                          <a:latin typeface="Barlow" pitchFamily="34" charset="0"/>
                          <a:ea typeface="Barlow" pitchFamily="34" charset="-122"/>
                          <a:cs typeface="Barlow" pitchFamily="34" charset="-120"/>
                        </a:rPr>
                        <a:t>Net requirements</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2</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8</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r>
              <a:tr h="384048">
                <a:tc>
                  <a:txBody>
                    <a:bodyPr/>
                    <a:lstStyle/>
                    <a:p>
                      <a:pPr algn="l" indent="0" marL="0">
                        <a:buNone/>
                      </a:pPr>
                      <a:r>
                        <a:rPr lang="en-US" sz="1500" b="1" dirty="0">
                          <a:solidFill>
                            <a:srgbClr val="1A1C14"/>
                          </a:solidFill>
                          <a:latin typeface="Barlow" pitchFamily="34" charset="0"/>
                          <a:ea typeface="Barlow" pitchFamily="34" charset="-122"/>
                          <a:cs typeface="Barlow" pitchFamily="34" charset="-120"/>
                        </a:rPr>
                        <a:t>Planned order receipts</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2</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8</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r>
              <a:tr h="384048">
                <a:tc>
                  <a:txBody>
                    <a:bodyPr/>
                    <a:lstStyle/>
                    <a:p>
                      <a:pPr algn="l" indent="0" marL="0">
                        <a:buNone/>
                      </a:pPr>
                      <a:r>
                        <a:rPr lang="en-US" sz="1500" b="1" dirty="0">
                          <a:solidFill>
                            <a:srgbClr val="1A1C14"/>
                          </a:solidFill>
                          <a:latin typeface="Barlow" pitchFamily="34" charset="0"/>
                          <a:ea typeface="Barlow" pitchFamily="34" charset="-122"/>
                          <a:cs typeface="Barlow" pitchFamily="34" charset="-120"/>
                        </a:rPr>
                        <a:t>Planned order releases</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b="1" dirty="0">
                          <a:solidFill>
                            <a:srgbClr val="1A1C14"/>
                          </a:solidFill>
                          <a:latin typeface="Barlow" pitchFamily="34" charset="0"/>
                          <a:ea typeface="Barlow" pitchFamily="34" charset="-122"/>
                          <a:cs typeface="Barlow" pitchFamily="34" charset="-120"/>
                        </a:rPr>
                        <a:t>2</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c>
                  <a:txBody>
                    <a:bodyPr/>
                    <a:lstStyle/>
                    <a:p>
                      <a:pPr algn="ctr" indent="0" marL="0">
                        <a:buNone/>
                      </a:pPr>
                      <a:r>
                        <a:rPr lang="en-US" sz="1500" b="1" dirty="0">
                          <a:solidFill>
                            <a:srgbClr val="1A1C14"/>
                          </a:solidFill>
                          <a:latin typeface="Barlow" pitchFamily="34" charset="0"/>
                          <a:ea typeface="Barlow" pitchFamily="34" charset="-122"/>
                          <a:cs typeface="Barlow" pitchFamily="34" charset="-120"/>
                        </a:rPr>
                        <a:t>8</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500" dirty="0">
                          <a:solidFill>
                            <a:srgbClr val="1A1C14"/>
                          </a:solidFill>
                          <a:latin typeface="Barlow" pitchFamily="34" charset="0"/>
                          <a:ea typeface="Barlow" pitchFamily="34" charset="-122"/>
                          <a:cs typeface="Barlow" pitchFamily="34" charset="-120"/>
                        </a:rPr>
                        <a:t>–</a:t>
                      </a:r>
                      <a:endParaRPr lang="en-US" sz="150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r>
            </a:tbl>
          </a:graphicData>
        </a:graphic>
      </p:graphicFrame>
      <p:sp>
        <p:nvSpPr>
          <p:cNvPr id="9" name="card"/>
          <p:cNvSpPr/>
          <p:nvPr/>
        </p:nvSpPr>
        <p:spPr>
          <a:xfrm>
            <a:off x="548640" y="5166360"/>
            <a:ext cx="11094415" cy="1097280"/>
          </a:xfrm>
          <a:prstGeom prst="roundRect">
            <a:avLst>
              <a:gd name="adj" fmla="val 18333"/>
            </a:avLst>
          </a:prstGeom>
          <a:solidFill>
            <a:srgbClr val="F1681D"/>
          </a:solidFill>
          <a:ln w="3175">
            <a:solidFill>
              <a:srgbClr val="F1681D"/>
            </a:solidFill>
            <a:prstDash val="solid"/>
          </a:ln>
        </p:spPr>
      </p:sp>
      <p:sp>
        <p:nvSpPr>
          <p:cNvPr id="10" name="text"/>
          <p:cNvSpPr txBox="1"/>
          <p:nvPr/>
        </p:nvSpPr>
        <p:spPr>
          <a:xfrm>
            <a:off x="868680" y="5166360"/>
            <a:ext cx="10454335" cy="1097280"/>
          </a:xfrm>
          <a:prstGeom prst="rect">
            <a:avLst/>
          </a:prstGeom>
          <a:noFill/>
          <a:ln/>
        </p:spPr>
        <p:txBody>
          <a:bodyPr wrap="square" lIns="0" tIns="0" rIns="0" bIns="0" rtlCol="0" anchor="ctr"/>
          <a:lstStyle/>
          <a:p>
            <a:pPr algn="l" indent="0" marL="0">
              <a:buNone/>
            </a:pPr>
            <a:r>
              <a:rPr lang="en-US" sz="1600" b="1" dirty="0">
                <a:solidFill>
                  <a:srgbClr val="FFFFFF"/>
                </a:solidFill>
                <a:latin typeface="Barlow" pitchFamily="34" charset="0"/>
                <a:ea typeface="Barlow" pitchFamily="34" charset="-122"/>
                <a:cs typeface="Barlow" pitchFamily="34" charset="-120"/>
              </a:rPr>
              <a:t>Pembacaan:</a:t>
            </a:r>
            <a:r>
              <a:rPr lang="en-US" sz="1600" dirty="0">
                <a:solidFill>
                  <a:srgbClr val="FFFFFF"/>
                </a:solidFill>
                <a:latin typeface="Barlow" pitchFamily="34" charset="0"/>
                <a:ea typeface="Barlow" pitchFamily="34" charset="-122"/>
                <a:cs typeface="Barlow" pitchFamily="34" charset="-120"/>
              </a:rPr>
              <a:t> pesanan 2 unit dirilis minggu 5 dan 8 unit minggu 6 agar tiba tepat pada minggu 7 dan 8. Terlambat berarti pesawat menganggur (</a:t>
            </a:r>
            <a:r>
              <a:rPr lang="en-US" sz="1600" i="1" dirty="0">
                <a:solidFill>
                  <a:srgbClr val="FFFFFF"/>
                </a:solidFill>
                <a:latin typeface="Barlow" pitchFamily="34" charset="0"/>
                <a:ea typeface="Barlow" pitchFamily="34" charset="-122"/>
                <a:cs typeface="Barlow" pitchFamily="34" charset="-120"/>
              </a:rPr>
              <a:t>aircraft-on-ground</a:t>
            </a:r>
            <a:r>
              <a:rPr lang="en-US" sz="1600" dirty="0">
                <a:solidFill>
                  <a:srgbClr val="FFFFFF"/>
                </a:solidFill>
                <a:latin typeface="Barlow" pitchFamily="34" charset="0"/>
                <a:ea typeface="Barlow" pitchFamily="34" charset="-122"/>
                <a:cs typeface="Barlow" pitchFamily="34" charset="-120"/>
              </a:rPr>
              <a:t>); terlalu awal berarti stok menumpuk. Pada 392 pesawat, logika ini berjalan untuk ribuan komponen.</a:t>
            </a:r>
            <a:endParaRPr lang="en-US" sz="16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3" name="headline"/>
          <p:cNvSpPr txBox="1"/>
          <p:nvPr/>
        </p:nvSpPr>
        <p:spPr>
          <a:xfrm>
            <a:off x="548640" y="502920"/>
            <a:ext cx="5995372"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PERENCANAAN PERAWATAN:</a:t>
            </a:r>
            <a:endParaRPr lang="en-US" sz="4400" dirty="0"/>
          </a:p>
        </p:txBody>
      </p:sp>
      <p:sp>
        <p:nvSpPr>
          <p:cNvPr id="4" name="highlight"/>
          <p:cNvSpPr/>
          <p:nvPr/>
        </p:nvSpPr>
        <p:spPr>
          <a:xfrm>
            <a:off x="6381452" y="525719"/>
            <a:ext cx="3004653" cy="524378"/>
          </a:xfrm>
          <a:prstGeom prst="roundRect">
            <a:avLst>
              <a:gd name="adj" fmla="val 13950"/>
            </a:avLst>
          </a:prstGeom>
          <a:solidFill>
            <a:srgbClr val="9CC506"/>
          </a:solidFill>
          <a:ln w="3175">
            <a:solidFill>
              <a:srgbClr val="9CC506"/>
            </a:solidFill>
            <a:prstDash val="solid"/>
          </a:ln>
        </p:spPr>
      </p:sp>
      <p:sp>
        <p:nvSpPr>
          <p:cNvPr id="5" name="headline"/>
          <p:cNvSpPr txBox="1"/>
          <p:nvPr/>
        </p:nvSpPr>
        <p:spPr>
          <a:xfrm>
            <a:off x="6482036" y="502920"/>
            <a:ext cx="3077805"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2024 VS 2026</a:t>
            </a:r>
            <a:endParaRPr lang="en-US" sz="4400" dirty="0"/>
          </a:p>
        </p:txBody>
      </p:sp>
      <p:sp>
        <p:nvSpPr>
          <p:cNvPr id="6" name="card"/>
          <p:cNvSpPr/>
          <p:nvPr/>
        </p:nvSpPr>
        <p:spPr>
          <a:xfrm>
            <a:off x="548640" y="1371600"/>
            <a:ext cx="5410048" cy="3931920"/>
          </a:xfrm>
          <a:prstGeom prst="roundRect">
            <a:avLst>
              <a:gd name="adj" fmla="val 5116"/>
            </a:avLst>
          </a:prstGeom>
          <a:solidFill>
            <a:srgbClr val="F1681D"/>
          </a:solidFill>
          <a:ln w="3175">
            <a:solidFill>
              <a:srgbClr val="F1681D"/>
            </a:solidFill>
            <a:prstDash val="solid"/>
          </a:ln>
        </p:spPr>
      </p:sp>
      <p:sp>
        <p:nvSpPr>
          <p:cNvPr id="7" name="tag"/>
          <p:cNvSpPr/>
          <p:nvPr/>
        </p:nvSpPr>
        <p:spPr>
          <a:xfrm>
            <a:off x="868680" y="1645920"/>
            <a:ext cx="1920240" cy="365760"/>
          </a:xfrm>
          <a:prstGeom prst="roundRect">
            <a:avLst>
              <a:gd name="adj" fmla="val 50000"/>
            </a:avLst>
          </a:prstGeom>
          <a:solidFill>
            <a:srgbClr val="FFFFFF"/>
          </a:solidFill>
          <a:ln w="3175">
            <a:solidFill>
              <a:srgbClr val="FFFFFF"/>
            </a:solidFill>
            <a:prstDash val="solid"/>
          </a:ln>
        </p:spPr>
      </p:sp>
      <p:sp>
        <p:nvSpPr>
          <p:cNvPr id="8" name="tag label"/>
          <p:cNvSpPr txBox="1"/>
          <p:nvPr/>
        </p:nvSpPr>
        <p:spPr>
          <a:xfrm>
            <a:off x="868680" y="1645920"/>
            <a:ext cx="1920240" cy="365760"/>
          </a:xfrm>
          <a:prstGeom prst="rect">
            <a:avLst/>
          </a:prstGeom>
          <a:noFill/>
          <a:ln/>
        </p:spPr>
        <p:txBody>
          <a:bodyPr wrap="square" lIns="0" tIns="0" rIns="0" bIns="0" rtlCol="0" anchor="ctr"/>
          <a:lstStyle/>
          <a:p>
            <a:pPr algn="ctr" indent="0" marL="0">
              <a:buNone/>
            </a:pPr>
            <a:r>
              <a:rPr lang="en-US" sz="1400" b="1" spc="100" kern="0" dirty="0">
                <a:solidFill>
                  <a:srgbClr val="F1681D"/>
                </a:solidFill>
                <a:latin typeface="Barlow Condensed" pitchFamily="34" charset="0"/>
                <a:ea typeface="Barlow Condensed" pitchFamily="34" charset="-122"/>
                <a:cs typeface="Barlow Condensed" pitchFamily="34" charset="-120"/>
              </a:rPr>
              <a:t>JANUARI 2024</a:t>
            </a:r>
            <a:endParaRPr lang="en-US" sz="1400" dirty="0"/>
          </a:p>
        </p:txBody>
      </p:sp>
      <p:sp>
        <p:nvSpPr>
          <p:cNvPr id="9" name="heading"/>
          <p:cNvSpPr txBox="1"/>
          <p:nvPr/>
        </p:nvSpPr>
        <p:spPr>
          <a:xfrm>
            <a:off x="868680" y="2148840"/>
            <a:ext cx="4769968" cy="548640"/>
          </a:xfrm>
          <a:prstGeom prst="rect">
            <a:avLst/>
          </a:prstGeom>
          <a:noFill/>
          <a:ln/>
        </p:spPr>
        <p:txBody>
          <a:bodyPr wrap="square" lIns="0" tIns="0" rIns="0" bIns="0" rtlCol="0" anchor="t"/>
          <a:lstStyle/>
          <a:p>
            <a:pPr algn="l" indent="0" marL="0">
              <a:lnSpc>
                <a:spcPct val="90000"/>
              </a:lnSpc>
              <a:buNone/>
            </a:pPr>
            <a:r>
              <a:rPr lang="en-US" sz="3000" dirty="0">
                <a:solidFill>
                  <a:srgbClr val="FFFFFF"/>
                </a:solidFill>
                <a:latin typeface="Barlow Condensed ExtraBold" pitchFamily="34" charset="0"/>
                <a:ea typeface="Barlow Condensed ExtraBold" pitchFamily="34" charset="-122"/>
                <a:cs typeface="Barlow Condensed ExtraBold" pitchFamily="34" charset="-120"/>
              </a:rPr>
              <a:t>GROUNDING 737 MAX 9</a:t>
            </a:r>
            <a:endParaRPr lang="en-US" sz="3000" dirty="0"/>
          </a:p>
        </p:txBody>
      </p:sp>
      <p:sp>
        <p:nvSpPr>
          <p:cNvPr id="10" name="text"/>
          <p:cNvSpPr txBox="1"/>
          <p:nvPr/>
        </p:nvSpPr>
        <p:spPr>
          <a:xfrm>
            <a:off x="868680" y="2788920"/>
            <a:ext cx="4769968" cy="2377440"/>
          </a:xfrm>
          <a:prstGeom prst="rect">
            <a:avLst/>
          </a:prstGeom>
          <a:noFill/>
          <a:ln/>
        </p:spPr>
        <p:txBody>
          <a:bodyPr wrap="square" lIns="0" tIns="0" rIns="0" bIns="0" rtlCol="0" anchor="t"/>
          <a:lstStyle/>
          <a:p>
            <a:pPr algn="l" indent="0" marL="0">
              <a:buNone/>
            </a:pPr>
            <a:r>
              <a:rPr lang="en-US" sz="1550" dirty="0">
                <a:solidFill>
                  <a:srgbClr val="FFFFFF"/>
                </a:solidFill>
                <a:latin typeface="Barlow" pitchFamily="34" charset="0"/>
                <a:ea typeface="Barlow" pitchFamily="34" charset="-122"/>
                <a:cs typeface="Barlow" pitchFamily="34" charset="-120"/>
              </a:rPr>
              <a:t>Setelah insiden 5 Januari 2024, 65 pesawat MAX 9 dikandangkan dan diinspeksi serentak. Kebutuhan melonjak pada satu periode: kapasitas hangar dan teknisi dijadwalkan ulang, sekitar 150 penerbangan per hari dibatalkan selama tiga minggu, dampak sekitar US$150 juta. Pesawat pertama kembali terbang 26 Januari.</a:t>
            </a:r>
            <a:endParaRPr lang="en-US" sz="1550" dirty="0"/>
          </a:p>
        </p:txBody>
      </p:sp>
      <p:sp>
        <p:nvSpPr>
          <p:cNvPr id="11" name="card"/>
          <p:cNvSpPr/>
          <p:nvPr/>
        </p:nvSpPr>
        <p:spPr>
          <a:xfrm>
            <a:off x="6233008" y="1371600"/>
            <a:ext cx="5410048" cy="3931920"/>
          </a:xfrm>
          <a:prstGeom prst="roundRect">
            <a:avLst>
              <a:gd name="adj" fmla="val 5116"/>
            </a:avLst>
          </a:prstGeom>
          <a:solidFill>
            <a:srgbClr val="9CC506"/>
          </a:solidFill>
          <a:ln w="3175">
            <a:solidFill>
              <a:srgbClr val="9CC506"/>
            </a:solidFill>
            <a:prstDash val="solid"/>
          </a:ln>
        </p:spPr>
      </p:sp>
      <p:sp>
        <p:nvSpPr>
          <p:cNvPr id="12" name="tag"/>
          <p:cNvSpPr/>
          <p:nvPr/>
        </p:nvSpPr>
        <p:spPr>
          <a:xfrm>
            <a:off x="6553048" y="1645920"/>
            <a:ext cx="1920240" cy="365760"/>
          </a:xfrm>
          <a:prstGeom prst="roundRect">
            <a:avLst>
              <a:gd name="adj" fmla="val 50000"/>
            </a:avLst>
          </a:prstGeom>
          <a:solidFill>
            <a:srgbClr val="1A1C14"/>
          </a:solidFill>
          <a:ln w="3175">
            <a:solidFill>
              <a:srgbClr val="1A1C14"/>
            </a:solidFill>
            <a:prstDash val="solid"/>
          </a:ln>
        </p:spPr>
      </p:sp>
      <p:sp>
        <p:nvSpPr>
          <p:cNvPr id="13" name="tag label"/>
          <p:cNvSpPr txBox="1"/>
          <p:nvPr/>
        </p:nvSpPr>
        <p:spPr>
          <a:xfrm>
            <a:off x="6553048" y="1645920"/>
            <a:ext cx="192024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Barlow Condensed" pitchFamily="34" charset="0"/>
                <a:ea typeface="Barlow Condensed" pitchFamily="34" charset="-122"/>
                <a:cs typeface="Barlow Condensed" pitchFamily="34" charset="-120"/>
              </a:rPr>
              <a:t>APRIL 2026</a:t>
            </a:r>
            <a:endParaRPr lang="en-US" sz="1400" dirty="0"/>
          </a:p>
        </p:txBody>
      </p:sp>
      <p:sp>
        <p:nvSpPr>
          <p:cNvPr id="14" name="heading"/>
          <p:cNvSpPr txBox="1"/>
          <p:nvPr/>
        </p:nvSpPr>
        <p:spPr>
          <a:xfrm>
            <a:off x="6553048" y="2148840"/>
            <a:ext cx="4769968" cy="548640"/>
          </a:xfrm>
          <a:prstGeom prst="rect">
            <a:avLst/>
          </a:prstGeom>
          <a:noFill/>
          <a:ln/>
        </p:spPr>
        <p:txBody>
          <a:bodyPr wrap="square" lIns="0" tIns="0" rIns="0" bIns="0" rtlCol="0" anchor="t"/>
          <a:lstStyle/>
          <a:p>
            <a:pPr algn="l" indent="0" marL="0">
              <a:lnSpc>
                <a:spcPct val="90000"/>
              </a:lnSpc>
              <a:buNone/>
            </a:pPr>
            <a:r>
              <a:rPr lang="en-US" sz="3000" dirty="0">
                <a:solidFill>
                  <a:srgbClr val="1A1C14"/>
                </a:solidFill>
                <a:latin typeface="Barlow Condensed ExtraBold" pitchFamily="34" charset="0"/>
                <a:ea typeface="Barlow Condensed ExtraBold" pitchFamily="34" charset="-122"/>
                <a:cs typeface="Barlow Condensed ExtraBold" pitchFamily="34" charset="-120"/>
              </a:rPr>
              <a:t>KEMITRAAN TAILSIGHT</a:t>
            </a:r>
            <a:endParaRPr lang="en-US" sz="3000" dirty="0"/>
          </a:p>
        </p:txBody>
      </p:sp>
      <p:sp>
        <p:nvSpPr>
          <p:cNvPr id="15" name="text"/>
          <p:cNvSpPr txBox="1"/>
          <p:nvPr/>
        </p:nvSpPr>
        <p:spPr>
          <a:xfrm>
            <a:off x="6553048" y="2788920"/>
            <a:ext cx="4769968" cy="2377440"/>
          </a:xfrm>
          <a:prstGeom prst="rect">
            <a:avLst/>
          </a:prstGeom>
          <a:noFill/>
          <a:ln/>
        </p:spPr>
        <p:txBody>
          <a:bodyPr wrap="square" lIns="0" tIns="0" rIns="0" bIns="0" rtlCol="0" anchor="t"/>
          <a:lstStyle/>
          <a:p>
            <a:pPr algn="l" indent="0" marL="0">
              <a:buNone/>
            </a:pPr>
            <a:r>
              <a:rPr lang="en-US" sz="1550" dirty="0">
                <a:solidFill>
                  <a:srgbClr val="1A1C14"/>
                </a:solidFill>
                <a:latin typeface="Barlow" pitchFamily="34" charset="0"/>
                <a:ea typeface="Barlow" pitchFamily="34" charset="-122"/>
                <a:cs typeface="Barlow" pitchFamily="34" charset="-120"/>
              </a:rPr>
              <a:t>Platform optimasi perencanaan perawatan: menggabungkan data sistem perawatan, jadwal penerbangan, staf, </a:t>
            </a:r>
            <a:r>
              <a:rPr lang="en-US" sz="1550" i="1" dirty="0">
                <a:solidFill>
                  <a:srgbClr val="1A1C14"/>
                </a:solidFill>
                <a:latin typeface="Barlow" pitchFamily="34" charset="0"/>
                <a:ea typeface="Barlow" pitchFamily="34" charset="-122"/>
                <a:cs typeface="Barlow" pitchFamily="34" charset="-120"/>
              </a:rPr>
              <a:t>station capability rules</a:t>
            </a:r>
            <a:r>
              <a:rPr lang="en-US" sz="1550" dirty="0">
                <a:solidFill>
                  <a:srgbClr val="1A1C14"/>
                </a:solidFill>
                <a:latin typeface="Barlow" pitchFamily="34" charset="0"/>
                <a:ea typeface="Barlow" pitchFamily="34" charset="-122"/>
                <a:cs typeface="Barlow" pitchFamily="34" charset="-120"/>
              </a:rPr>
              <a:t>, dan ketersediaan suku cadang menjadi rencana yang memperhitungkan tenaga kerja dan kesiapan pesawat. Target: utilisasi naik, waktu </a:t>
            </a:r>
            <a:r>
              <a:rPr lang="en-US" sz="1550" i="1" dirty="0">
                <a:solidFill>
                  <a:srgbClr val="1A1C14"/>
                </a:solidFill>
                <a:latin typeface="Barlow" pitchFamily="34" charset="0"/>
                <a:ea typeface="Barlow" pitchFamily="34" charset="-122"/>
                <a:cs typeface="Barlow" pitchFamily="34" charset="-120"/>
              </a:rPr>
              <a:t>aircraft-on-ground</a:t>
            </a:r>
            <a:r>
              <a:rPr lang="en-US" sz="1550" dirty="0">
                <a:solidFill>
                  <a:srgbClr val="1A1C14"/>
                </a:solidFill>
                <a:latin typeface="Barlow" pitchFamily="34" charset="0"/>
                <a:ea typeface="Barlow" pitchFamily="34" charset="-122"/>
                <a:cs typeface="Barlow" pitchFamily="34" charset="-120"/>
              </a:rPr>
              <a:t> turun.</a:t>
            </a:r>
            <a:endParaRPr lang="en-US" sz="1550" dirty="0"/>
          </a:p>
        </p:txBody>
      </p:sp>
      <p:sp>
        <p:nvSpPr>
          <p:cNvPr id="16" name="card"/>
          <p:cNvSpPr/>
          <p:nvPr/>
        </p:nvSpPr>
        <p:spPr>
          <a:xfrm>
            <a:off x="548640" y="5486400"/>
            <a:ext cx="11094415" cy="777240"/>
          </a:xfrm>
          <a:prstGeom prst="roundRect">
            <a:avLst>
              <a:gd name="adj" fmla="val 25882"/>
            </a:avLst>
          </a:prstGeom>
          <a:solidFill>
            <a:srgbClr val="1A1C14"/>
          </a:solidFill>
          <a:ln w="3175">
            <a:solidFill>
              <a:srgbClr val="1A1C14"/>
            </a:solidFill>
            <a:prstDash val="solid"/>
          </a:ln>
        </p:spPr>
      </p:sp>
      <p:sp>
        <p:nvSpPr>
          <p:cNvPr id="17" name="text"/>
          <p:cNvSpPr txBox="1"/>
          <p:nvPr/>
        </p:nvSpPr>
        <p:spPr>
          <a:xfrm>
            <a:off x="868680" y="5486400"/>
            <a:ext cx="10454335" cy="777240"/>
          </a:xfrm>
          <a:prstGeom prst="rect">
            <a:avLst/>
          </a:prstGeom>
          <a:noFill/>
          <a:ln/>
        </p:spPr>
        <p:txBody>
          <a:bodyPr wrap="square" lIns="0" tIns="0" rIns="0" bIns="0" rtlCol="0" anchor="ctr"/>
          <a:lstStyle/>
          <a:p>
            <a:pPr algn="l" indent="0" marL="0">
              <a:buNone/>
            </a:pPr>
            <a:r>
              <a:rPr lang="en-US" sz="1600" b="1" dirty="0">
                <a:solidFill>
                  <a:srgbClr val="FFFFFF"/>
                </a:solidFill>
                <a:latin typeface="Barlow" pitchFamily="34" charset="0"/>
                <a:ea typeface="Barlow" pitchFamily="34" charset="-122"/>
                <a:cs typeface="Barlow" pitchFamily="34" charset="-120"/>
              </a:rPr>
              <a:t>Pergeseran:</a:t>
            </a:r>
            <a:r>
              <a:rPr lang="en-US" sz="1600" dirty="0">
                <a:solidFill>
                  <a:srgbClr val="FFFFFF"/>
                </a:solidFill>
                <a:latin typeface="Barlow" pitchFamily="34" charset="0"/>
                <a:ea typeface="Barlow" pitchFamily="34" charset="-122"/>
                <a:cs typeface="Barlow" pitchFamily="34" charset="-120"/>
              </a:rPr>
              <a:t> dari perencanaan yang mengabaikan kapasitas (</a:t>
            </a:r>
            <a:r>
              <a:rPr lang="en-US" sz="1600" i="1" dirty="0">
                <a:solidFill>
                  <a:srgbClr val="FFFFFF"/>
                </a:solidFill>
                <a:latin typeface="Barlow" pitchFamily="34" charset="0"/>
                <a:ea typeface="Barlow" pitchFamily="34" charset="-122"/>
                <a:cs typeface="Barlow" pitchFamily="34" charset="-120"/>
              </a:rPr>
              <a:t>infinite loading</a:t>
            </a:r>
            <a:r>
              <a:rPr lang="en-US" sz="1600" dirty="0">
                <a:solidFill>
                  <a:srgbClr val="FFFFFF"/>
                </a:solidFill>
                <a:latin typeface="Barlow" pitchFamily="34" charset="0"/>
                <a:ea typeface="Barlow" pitchFamily="34" charset="-122"/>
                <a:cs typeface="Barlow" pitchFamily="34" charset="-120"/>
              </a:rPr>
              <a:t>) menuju perencanaan tertutup berkapasitas berhingga (</a:t>
            </a:r>
            <a:r>
              <a:rPr lang="en-US" sz="1600" i="1" dirty="0">
                <a:solidFill>
                  <a:srgbClr val="FFFFFF"/>
                </a:solidFill>
                <a:latin typeface="Barlow" pitchFamily="34" charset="0"/>
                <a:ea typeface="Barlow" pitchFamily="34" charset="-122"/>
                <a:cs typeface="Barlow" pitchFamily="34" charset="-120"/>
              </a:rPr>
              <a:t>closed-loop</a:t>
            </a:r>
            <a:r>
              <a:rPr lang="en-US" sz="1600" dirty="0">
                <a:solidFill>
                  <a:srgbClr val="FFFFFF"/>
                </a:solidFill>
                <a:latin typeface="Barlow" pitchFamily="34" charset="0"/>
                <a:ea typeface="Barlow" pitchFamily="34" charset="-122"/>
                <a:cs typeface="Barlow" pitchFamily="34" charset="-120"/>
              </a:rPr>
              <a:t>).</a:t>
            </a:r>
            <a:endParaRPr lang="en-US" sz="16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3" name="headline"/>
          <p:cNvSpPr txBox="1"/>
          <p:nvPr/>
        </p:nvSpPr>
        <p:spPr>
          <a:xfrm>
            <a:off x="548640" y="502920"/>
            <a:ext cx="5968028"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INTEGRASI SISTEM ALA ERP:</a:t>
            </a:r>
            <a:endParaRPr lang="en-US" sz="4400" dirty="0"/>
          </a:p>
        </p:txBody>
      </p:sp>
      <p:sp>
        <p:nvSpPr>
          <p:cNvPr id="4" name="highlight"/>
          <p:cNvSpPr/>
          <p:nvPr/>
        </p:nvSpPr>
        <p:spPr>
          <a:xfrm>
            <a:off x="6354108" y="525719"/>
            <a:ext cx="3660747" cy="524378"/>
          </a:xfrm>
          <a:prstGeom prst="roundRect">
            <a:avLst>
              <a:gd name="adj" fmla="val 13950"/>
            </a:avLst>
          </a:prstGeom>
          <a:solidFill>
            <a:srgbClr val="F1681D"/>
          </a:solidFill>
          <a:ln w="3175">
            <a:solidFill>
              <a:srgbClr val="F1681D"/>
            </a:solidFill>
            <a:prstDash val="solid"/>
          </a:ln>
        </p:spPr>
      </p:sp>
      <p:sp>
        <p:nvSpPr>
          <p:cNvPr id="5" name="headline"/>
          <p:cNvSpPr txBox="1"/>
          <p:nvPr/>
        </p:nvSpPr>
        <p:spPr>
          <a:xfrm>
            <a:off x="6454692" y="502920"/>
            <a:ext cx="3733899" cy="569976"/>
          </a:xfrm>
          <a:prstGeom prst="rect">
            <a:avLst/>
          </a:prstGeom>
          <a:noFill/>
          <a:ln/>
        </p:spPr>
        <p:txBody>
          <a:bodyPr wrap="square" lIns="0" tIns="0" rIns="0" bIns="0" rtlCol="0" anchor="ctr"/>
          <a:lstStyle/>
          <a:p>
            <a:pPr algn="l" indent="0" marL="0">
              <a:buNone/>
            </a:pPr>
            <a:r>
              <a:rPr lang="en-US" sz="4400" dirty="0">
                <a:solidFill>
                  <a:srgbClr val="FFFFFF"/>
                </a:solidFill>
                <a:latin typeface="Barlow Condensed ExtraBold" pitchFamily="34" charset="0"/>
                <a:ea typeface="Barlow Condensed ExtraBold" pitchFamily="34" charset="-122"/>
                <a:cs typeface="Barlow Condensed ExtraBold" pitchFamily="34" charset="-120"/>
              </a:rPr>
              <a:t>SATU BASIS DATA</a:t>
            </a:r>
            <a:endParaRPr lang="en-US" sz="4400" dirty="0"/>
          </a:p>
        </p:txBody>
      </p:sp>
      <p:sp>
        <p:nvSpPr>
          <p:cNvPr id="6" name="card"/>
          <p:cNvSpPr/>
          <p:nvPr/>
        </p:nvSpPr>
        <p:spPr>
          <a:xfrm>
            <a:off x="548640" y="1371600"/>
            <a:ext cx="5120640" cy="4892040"/>
          </a:xfrm>
          <a:prstGeom prst="roundRect">
            <a:avLst>
              <a:gd name="adj" fmla="val 4112"/>
            </a:avLst>
          </a:prstGeom>
          <a:solidFill>
            <a:srgbClr val="FFFFFF"/>
          </a:solidFill>
          <a:ln w="3175">
            <a:solidFill>
              <a:srgbClr val="FFFFFF"/>
            </a:solidFill>
            <a:prstDash val="solid"/>
          </a:ln>
        </p:spPr>
      </p:sp>
      <p:sp>
        <p:nvSpPr>
          <p:cNvPr id="7" name="line"/>
          <p:cNvSpPr/>
          <p:nvPr/>
        </p:nvSpPr>
        <p:spPr>
          <a:xfrm flipH="1">
            <a:off x="3108960" y="2468880"/>
            <a:ext cx="0" cy="1371600"/>
          </a:xfrm>
          <a:prstGeom prst="line">
            <a:avLst/>
          </a:prstGeom>
          <a:noFill/>
          <a:ln w="25400">
            <a:solidFill>
              <a:srgbClr val="DADAD5"/>
            </a:solidFill>
            <a:prstDash val="solid"/>
          </a:ln>
        </p:spPr>
      </p:sp>
      <p:sp>
        <p:nvSpPr>
          <p:cNvPr id="8" name="line"/>
          <p:cNvSpPr/>
          <p:nvPr/>
        </p:nvSpPr>
        <p:spPr>
          <a:xfrm flipH="1">
            <a:off x="3108960" y="3416632"/>
            <a:ext cx="1652328" cy="423848"/>
          </a:xfrm>
          <a:prstGeom prst="line">
            <a:avLst/>
          </a:prstGeom>
          <a:noFill/>
          <a:ln w="25400">
            <a:solidFill>
              <a:srgbClr val="DADAD5"/>
            </a:solidFill>
            <a:prstDash val="solid"/>
          </a:ln>
        </p:spPr>
      </p:sp>
      <p:sp>
        <p:nvSpPr>
          <p:cNvPr id="9" name="line"/>
          <p:cNvSpPr/>
          <p:nvPr/>
        </p:nvSpPr>
        <p:spPr>
          <a:xfrm>
            <a:off x="3108960" y="3840480"/>
            <a:ext cx="1021195" cy="1109648"/>
          </a:xfrm>
          <a:prstGeom prst="line">
            <a:avLst/>
          </a:prstGeom>
          <a:noFill/>
          <a:ln w="25400">
            <a:solidFill>
              <a:srgbClr val="DADAD5"/>
            </a:solidFill>
            <a:prstDash val="solid"/>
          </a:ln>
        </p:spPr>
      </p:sp>
      <p:sp>
        <p:nvSpPr>
          <p:cNvPr id="10" name="line"/>
          <p:cNvSpPr/>
          <p:nvPr/>
        </p:nvSpPr>
        <p:spPr>
          <a:xfrm flipH="1">
            <a:off x="2087765" y="3840480"/>
            <a:ext cx="1021195" cy="1109648"/>
          </a:xfrm>
          <a:prstGeom prst="line">
            <a:avLst/>
          </a:prstGeom>
          <a:noFill/>
          <a:ln w="25400">
            <a:solidFill>
              <a:srgbClr val="DADAD5"/>
            </a:solidFill>
            <a:prstDash val="solid"/>
          </a:ln>
        </p:spPr>
      </p:sp>
      <p:sp>
        <p:nvSpPr>
          <p:cNvPr id="11" name="line"/>
          <p:cNvSpPr/>
          <p:nvPr/>
        </p:nvSpPr>
        <p:spPr>
          <a:xfrm>
            <a:off x="1456632" y="3416632"/>
            <a:ext cx="1652328" cy="423848"/>
          </a:xfrm>
          <a:prstGeom prst="line">
            <a:avLst/>
          </a:prstGeom>
          <a:noFill/>
          <a:ln w="25400">
            <a:solidFill>
              <a:srgbClr val="DADAD5"/>
            </a:solidFill>
            <a:prstDash val="solid"/>
          </a:ln>
        </p:spPr>
      </p:sp>
      <p:sp>
        <p:nvSpPr>
          <p:cNvPr id="12" name="node"/>
          <p:cNvSpPr/>
          <p:nvPr/>
        </p:nvSpPr>
        <p:spPr>
          <a:xfrm>
            <a:off x="2779776" y="2139696"/>
            <a:ext cx="658368" cy="658368"/>
          </a:xfrm>
          <a:prstGeom prst="ellipse">
            <a:avLst/>
          </a:prstGeom>
          <a:solidFill>
            <a:srgbClr val="F1681D"/>
          </a:solidFill>
          <a:ln w="3175">
            <a:solidFill>
              <a:srgbClr val="F1681D"/>
            </a:solidFill>
            <a:prstDash val="solid"/>
          </a:ln>
        </p:spPr>
      </p:sp>
      <p:pic>
        <p:nvPicPr>
          <p:cNvPr id="13" name="icon FaTicketAlt" descr="preencoded.png">    </p:cNvPr>
          <p:cNvPicPr>
            <a:picLocks noChangeAspect="1"/>
          </p:cNvPicPr>
          <p:nvPr/>
        </p:nvPicPr>
        <p:blipFill>
          <a:blip r:embed="rId1"/>
          <a:stretch>
            <a:fillRect/>
          </a:stretch>
        </p:blipFill>
        <p:spPr>
          <a:xfrm>
            <a:off x="2944368" y="2304288"/>
            <a:ext cx="329184" cy="329184"/>
          </a:xfrm>
          <a:prstGeom prst="rect">
            <a:avLst/>
          </a:prstGeom>
        </p:spPr>
      </p:pic>
      <p:sp>
        <p:nvSpPr>
          <p:cNvPr id="14" name="text"/>
          <p:cNvSpPr txBox="1"/>
          <p:nvPr/>
        </p:nvSpPr>
        <p:spPr>
          <a:xfrm>
            <a:off x="2240280" y="2834640"/>
            <a:ext cx="1737360" cy="457200"/>
          </a:xfrm>
          <a:prstGeom prst="rect">
            <a:avLst/>
          </a:prstGeom>
          <a:noFill/>
          <a:ln/>
        </p:spPr>
        <p:txBody>
          <a:bodyPr wrap="square" lIns="0" tIns="0" rIns="0" bIns="0" rtlCol="0" anchor="t"/>
          <a:lstStyle/>
          <a:p>
            <a:pPr algn="ctr" indent="0" marL="0">
              <a:buNone/>
            </a:pPr>
            <a:r>
              <a:rPr lang="en-US" sz="1400" b="1" dirty="0">
                <a:solidFill>
                  <a:srgbClr val="1A1C14"/>
                </a:solidFill>
                <a:latin typeface="Barlow" pitchFamily="34" charset="0"/>
                <a:ea typeface="Barlow" pitchFamily="34" charset="-122"/>
                <a:cs typeface="Barlow" pitchFamily="34" charset="-120"/>
              </a:rPr>
              <a:t>Reservasi &amp; check-in</a:t>
            </a:r>
            <a:endParaRPr lang="en-US" sz="1400" dirty="0"/>
          </a:p>
        </p:txBody>
      </p:sp>
      <p:sp>
        <p:nvSpPr>
          <p:cNvPr id="15" name="node"/>
          <p:cNvSpPr/>
          <p:nvPr/>
        </p:nvSpPr>
        <p:spPr>
          <a:xfrm>
            <a:off x="4432104" y="3087448"/>
            <a:ext cx="658368" cy="658368"/>
          </a:xfrm>
          <a:prstGeom prst="ellipse">
            <a:avLst/>
          </a:prstGeom>
          <a:solidFill>
            <a:srgbClr val="9CC506"/>
          </a:solidFill>
          <a:ln w="3175">
            <a:solidFill>
              <a:srgbClr val="9CC506"/>
            </a:solidFill>
            <a:prstDash val="solid"/>
          </a:ln>
        </p:spPr>
      </p:sp>
      <p:pic>
        <p:nvPicPr>
          <p:cNvPr id="16" name="icon FaUserClock" descr="preencoded.png">    </p:cNvPr>
          <p:cNvPicPr>
            <a:picLocks noChangeAspect="1"/>
          </p:cNvPicPr>
          <p:nvPr/>
        </p:nvPicPr>
        <p:blipFill>
          <a:blip r:embed="rId2"/>
          <a:stretch>
            <a:fillRect/>
          </a:stretch>
        </p:blipFill>
        <p:spPr>
          <a:xfrm>
            <a:off x="4596696" y="3252040"/>
            <a:ext cx="329184" cy="329184"/>
          </a:xfrm>
          <a:prstGeom prst="rect">
            <a:avLst/>
          </a:prstGeom>
        </p:spPr>
      </p:pic>
      <p:sp>
        <p:nvSpPr>
          <p:cNvPr id="17" name="text"/>
          <p:cNvSpPr txBox="1"/>
          <p:nvPr/>
        </p:nvSpPr>
        <p:spPr>
          <a:xfrm>
            <a:off x="3892608" y="3782392"/>
            <a:ext cx="1737360" cy="457200"/>
          </a:xfrm>
          <a:prstGeom prst="rect">
            <a:avLst/>
          </a:prstGeom>
          <a:noFill/>
          <a:ln/>
        </p:spPr>
        <p:txBody>
          <a:bodyPr wrap="square" lIns="0" tIns="0" rIns="0" bIns="0" rtlCol="0" anchor="t"/>
          <a:lstStyle/>
          <a:p>
            <a:pPr algn="ctr" indent="0" marL="0">
              <a:buNone/>
            </a:pPr>
            <a:r>
              <a:rPr lang="en-US" sz="1400" b="1" dirty="0">
                <a:solidFill>
                  <a:srgbClr val="1A1C14"/>
                </a:solidFill>
                <a:latin typeface="Barlow" pitchFamily="34" charset="0"/>
                <a:ea typeface="Barlow" pitchFamily="34" charset="-122"/>
                <a:cs typeface="Barlow" pitchFamily="34" charset="-120"/>
              </a:rPr>
              <a:t>Penjadwalan kru</a:t>
            </a:r>
            <a:endParaRPr lang="en-US" sz="1400" dirty="0"/>
          </a:p>
        </p:txBody>
      </p:sp>
      <p:sp>
        <p:nvSpPr>
          <p:cNvPr id="18" name="node"/>
          <p:cNvSpPr/>
          <p:nvPr/>
        </p:nvSpPr>
        <p:spPr>
          <a:xfrm>
            <a:off x="3800971" y="4620944"/>
            <a:ext cx="658368" cy="658368"/>
          </a:xfrm>
          <a:prstGeom prst="ellipse">
            <a:avLst/>
          </a:prstGeom>
          <a:solidFill>
            <a:srgbClr val="F1681D"/>
          </a:solidFill>
          <a:ln w="3175">
            <a:solidFill>
              <a:srgbClr val="F1681D"/>
            </a:solidFill>
            <a:prstDash val="solid"/>
          </a:ln>
        </p:spPr>
      </p:sp>
      <p:pic>
        <p:nvPicPr>
          <p:cNvPr id="19" name="icon FaCloudSun" descr="preencoded.png">    </p:cNvPr>
          <p:cNvPicPr>
            <a:picLocks noChangeAspect="1"/>
          </p:cNvPicPr>
          <p:nvPr/>
        </p:nvPicPr>
        <p:blipFill>
          <a:blip r:embed="rId3"/>
          <a:stretch>
            <a:fillRect/>
          </a:stretch>
        </p:blipFill>
        <p:spPr>
          <a:xfrm>
            <a:off x="3965563" y="4785536"/>
            <a:ext cx="329184" cy="329184"/>
          </a:xfrm>
          <a:prstGeom prst="rect">
            <a:avLst/>
          </a:prstGeom>
        </p:spPr>
      </p:pic>
      <p:sp>
        <p:nvSpPr>
          <p:cNvPr id="20" name="text"/>
          <p:cNvSpPr txBox="1"/>
          <p:nvPr/>
        </p:nvSpPr>
        <p:spPr>
          <a:xfrm>
            <a:off x="3261475" y="5315888"/>
            <a:ext cx="1737360" cy="457200"/>
          </a:xfrm>
          <a:prstGeom prst="rect">
            <a:avLst/>
          </a:prstGeom>
          <a:noFill/>
          <a:ln/>
        </p:spPr>
        <p:txBody>
          <a:bodyPr wrap="square" lIns="0" tIns="0" rIns="0" bIns="0" rtlCol="0" anchor="t"/>
          <a:lstStyle/>
          <a:p>
            <a:pPr algn="ctr" indent="0" marL="0">
              <a:buNone/>
            </a:pPr>
            <a:r>
              <a:rPr lang="en-US" sz="1400" b="1" dirty="0">
                <a:solidFill>
                  <a:srgbClr val="1A1C14"/>
                </a:solidFill>
                <a:latin typeface="Barlow" pitchFamily="34" charset="0"/>
                <a:ea typeface="Barlow" pitchFamily="34" charset="-122"/>
                <a:cs typeface="Barlow" pitchFamily="34" charset="-120"/>
              </a:rPr>
              <a:t>Flight dispatch &amp; cuaca</a:t>
            </a:r>
            <a:endParaRPr lang="en-US" sz="1400" dirty="0"/>
          </a:p>
        </p:txBody>
      </p:sp>
      <p:sp>
        <p:nvSpPr>
          <p:cNvPr id="21" name="node"/>
          <p:cNvSpPr/>
          <p:nvPr/>
        </p:nvSpPr>
        <p:spPr>
          <a:xfrm>
            <a:off x="1758581" y="4620944"/>
            <a:ext cx="658368" cy="658368"/>
          </a:xfrm>
          <a:prstGeom prst="ellipse">
            <a:avLst/>
          </a:prstGeom>
          <a:solidFill>
            <a:srgbClr val="9CC506"/>
          </a:solidFill>
          <a:ln w="3175">
            <a:solidFill>
              <a:srgbClr val="9CC506"/>
            </a:solidFill>
            <a:prstDash val="solid"/>
          </a:ln>
        </p:spPr>
      </p:sp>
      <p:pic>
        <p:nvPicPr>
          <p:cNvPr id="22" name="icon FaTools" descr="preencoded.png">    </p:cNvPr>
          <p:cNvPicPr>
            <a:picLocks noChangeAspect="1"/>
          </p:cNvPicPr>
          <p:nvPr/>
        </p:nvPicPr>
        <p:blipFill>
          <a:blip r:embed="rId4"/>
          <a:stretch>
            <a:fillRect/>
          </a:stretch>
        </p:blipFill>
        <p:spPr>
          <a:xfrm>
            <a:off x="1923173" y="4785536"/>
            <a:ext cx="329184" cy="329184"/>
          </a:xfrm>
          <a:prstGeom prst="rect">
            <a:avLst/>
          </a:prstGeom>
        </p:spPr>
      </p:pic>
      <p:sp>
        <p:nvSpPr>
          <p:cNvPr id="23" name="text"/>
          <p:cNvSpPr txBox="1"/>
          <p:nvPr/>
        </p:nvSpPr>
        <p:spPr>
          <a:xfrm>
            <a:off x="1219085" y="5315888"/>
            <a:ext cx="1737360" cy="457200"/>
          </a:xfrm>
          <a:prstGeom prst="rect">
            <a:avLst/>
          </a:prstGeom>
          <a:noFill/>
          <a:ln/>
        </p:spPr>
        <p:txBody>
          <a:bodyPr wrap="square" lIns="0" tIns="0" rIns="0" bIns="0" rtlCol="0" anchor="t"/>
          <a:lstStyle/>
          <a:p>
            <a:pPr algn="ctr" indent="0" marL="0">
              <a:buNone/>
            </a:pPr>
            <a:r>
              <a:rPr lang="en-US" sz="1400" b="1" dirty="0">
                <a:solidFill>
                  <a:srgbClr val="1A1C14"/>
                </a:solidFill>
                <a:latin typeface="Barlow" pitchFamily="34" charset="0"/>
                <a:ea typeface="Barlow" pitchFamily="34" charset="-122"/>
                <a:cs typeface="Barlow" pitchFamily="34" charset="-120"/>
              </a:rPr>
              <a:t>Perawatan &amp; suku cadang</a:t>
            </a:r>
            <a:endParaRPr lang="en-US" sz="1400" dirty="0"/>
          </a:p>
        </p:txBody>
      </p:sp>
      <p:sp>
        <p:nvSpPr>
          <p:cNvPr id="24" name="node"/>
          <p:cNvSpPr/>
          <p:nvPr/>
        </p:nvSpPr>
        <p:spPr>
          <a:xfrm>
            <a:off x="1127448" y="3087448"/>
            <a:ext cx="658368" cy="658368"/>
          </a:xfrm>
          <a:prstGeom prst="ellipse">
            <a:avLst/>
          </a:prstGeom>
          <a:solidFill>
            <a:srgbClr val="F1681D"/>
          </a:solidFill>
          <a:ln w="3175">
            <a:solidFill>
              <a:srgbClr val="F1681D"/>
            </a:solidFill>
            <a:prstDash val="solid"/>
          </a:ln>
        </p:spPr>
      </p:sp>
      <p:pic>
        <p:nvPicPr>
          <p:cNvPr id="25" name="icon FaMoneyCheckAlt" descr="preencoded.png">    </p:cNvPr>
          <p:cNvPicPr>
            <a:picLocks noChangeAspect="1"/>
          </p:cNvPicPr>
          <p:nvPr/>
        </p:nvPicPr>
        <p:blipFill>
          <a:blip r:embed="rId5"/>
          <a:stretch>
            <a:fillRect/>
          </a:stretch>
        </p:blipFill>
        <p:spPr>
          <a:xfrm>
            <a:off x="1292040" y="3252040"/>
            <a:ext cx="329184" cy="329184"/>
          </a:xfrm>
          <a:prstGeom prst="rect">
            <a:avLst/>
          </a:prstGeom>
        </p:spPr>
      </p:pic>
      <p:sp>
        <p:nvSpPr>
          <p:cNvPr id="26" name="text"/>
          <p:cNvSpPr txBox="1"/>
          <p:nvPr/>
        </p:nvSpPr>
        <p:spPr>
          <a:xfrm>
            <a:off x="587952" y="3782392"/>
            <a:ext cx="1737360" cy="457200"/>
          </a:xfrm>
          <a:prstGeom prst="rect">
            <a:avLst/>
          </a:prstGeom>
          <a:noFill/>
          <a:ln/>
        </p:spPr>
        <p:txBody>
          <a:bodyPr wrap="square" lIns="0" tIns="0" rIns="0" bIns="0" rtlCol="0" anchor="t"/>
          <a:lstStyle/>
          <a:p>
            <a:pPr algn="ctr" indent="0" marL="0">
              <a:buNone/>
            </a:pPr>
            <a:r>
              <a:rPr lang="en-US" sz="1400" b="1" dirty="0">
                <a:solidFill>
                  <a:srgbClr val="1A1C14"/>
                </a:solidFill>
                <a:latin typeface="Barlow" pitchFamily="34" charset="0"/>
                <a:ea typeface="Barlow" pitchFamily="34" charset="-122"/>
                <a:cs typeface="Barlow" pitchFamily="34" charset="-120"/>
              </a:rPr>
              <a:t>Keuangan &amp; SDM</a:t>
            </a:r>
            <a:endParaRPr lang="en-US" sz="1400" dirty="0"/>
          </a:p>
        </p:txBody>
      </p:sp>
      <p:sp>
        <p:nvSpPr>
          <p:cNvPr id="27" name="hub"/>
          <p:cNvSpPr/>
          <p:nvPr/>
        </p:nvSpPr>
        <p:spPr>
          <a:xfrm>
            <a:off x="2194560" y="3273552"/>
            <a:ext cx="1828800" cy="1133856"/>
          </a:xfrm>
          <a:prstGeom prst="ellipse">
            <a:avLst/>
          </a:prstGeom>
          <a:solidFill>
            <a:srgbClr val="1A1C14"/>
          </a:solidFill>
          <a:ln w="3175">
            <a:solidFill>
              <a:srgbClr val="1A1C14"/>
            </a:solidFill>
            <a:prstDash val="solid"/>
          </a:ln>
        </p:spPr>
      </p:sp>
      <p:pic>
        <p:nvPicPr>
          <p:cNvPr id="28" name="icon FaDatabase" descr="preencoded.png">    </p:cNvPr>
          <p:cNvPicPr>
            <a:picLocks noChangeAspect="1"/>
          </p:cNvPicPr>
          <p:nvPr/>
        </p:nvPicPr>
        <p:blipFill>
          <a:blip r:embed="rId6"/>
          <a:stretch>
            <a:fillRect/>
          </a:stretch>
        </p:blipFill>
        <p:spPr>
          <a:xfrm>
            <a:off x="2944368" y="3383280"/>
            <a:ext cx="329184" cy="329184"/>
          </a:xfrm>
          <a:prstGeom prst="rect">
            <a:avLst/>
          </a:prstGeom>
        </p:spPr>
      </p:pic>
      <p:sp>
        <p:nvSpPr>
          <p:cNvPr id="29" name="heading"/>
          <p:cNvSpPr txBox="1"/>
          <p:nvPr/>
        </p:nvSpPr>
        <p:spPr>
          <a:xfrm>
            <a:off x="2240280" y="3730752"/>
            <a:ext cx="1737360" cy="640080"/>
          </a:xfrm>
          <a:prstGeom prst="rect">
            <a:avLst/>
          </a:prstGeom>
          <a:noFill/>
          <a:ln/>
        </p:spPr>
        <p:txBody>
          <a:bodyPr wrap="square" lIns="0" tIns="0" rIns="0" bIns="0" rtlCol="0" anchor="t"/>
          <a:lstStyle/>
          <a:p>
            <a:pPr algn="ctr" indent="0" marL="0">
              <a:lnSpc>
                <a:spcPct val="90000"/>
              </a:lnSpc>
              <a:buNone/>
            </a:pPr>
            <a:r>
              <a:rPr lang="en-US" sz="1600" b="1" dirty="0">
                <a:solidFill>
                  <a:srgbClr val="FFFFFF"/>
                </a:solidFill>
                <a:latin typeface="Barlow Condensed" pitchFamily="34" charset="0"/>
                <a:ea typeface="Barlow Condensed" pitchFamily="34" charset="-122"/>
                <a:cs typeface="Barlow Condensed" pitchFamily="34" charset="-120"/>
              </a:rPr>
              <a:t>BASIS DATA</a:t>
            </a:r>
            <a:endParaRPr lang="en-US" sz="1600" dirty="0"/>
          </a:p>
          <a:p>
            <a:pPr algn="ctr" indent="0" marL="0">
              <a:lnSpc>
                <a:spcPct val="90000"/>
              </a:lnSpc>
              <a:buNone/>
            </a:pPr>
            <a:r>
              <a:rPr lang="en-US" sz="1600" b="1" dirty="0">
                <a:solidFill>
                  <a:srgbClr val="FFFFFF"/>
                </a:solidFill>
                <a:latin typeface="Barlow Condensed" pitchFamily="34" charset="0"/>
                <a:ea typeface="Barlow Condensed" pitchFamily="34" charset="-122"/>
                <a:cs typeface="Barlow Condensed" pitchFamily="34" charset="-120"/>
              </a:rPr>
              <a:t>OPERASI BERSAMA</a:t>
            </a:r>
            <a:endParaRPr lang="en-US" sz="1600" dirty="0"/>
          </a:p>
        </p:txBody>
      </p:sp>
      <p:sp>
        <p:nvSpPr>
          <p:cNvPr id="30" name="card"/>
          <p:cNvSpPr/>
          <p:nvPr/>
        </p:nvSpPr>
        <p:spPr>
          <a:xfrm>
            <a:off x="5897880" y="1371600"/>
            <a:ext cx="5745175" cy="4892040"/>
          </a:xfrm>
          <a:prstGeom prst="roundRect">
            <a:avLst>
              <a:gd name="adj" fmla="val 4112"/>
            </a:avLst>
          </a:prstGeom>
          <a:solidFill>
            <a:srgbClr val="9CC506"/>
          </a:solidFill>
          <a:ln w="3175">
            <a:solidFill>
              <a:srgbClr val="9CC506"/>
            </a:solidFill>
            <a:prstDash val="solid"/>
          </a:ln>
        </p:spPr>
      </p:sp>
      <p:sp>
        <p:nvSpPr>
          <p:cNvPr id="31" name="heading"/>
          <p:cNvSpPr txBox="1"/>
          <p:nvPr/>
        </p:nvSpPr>
        <p:spPr>
          <a:xfrm>
            <a:off x="6217920" y="1600200"/>
            <a:ext cx="5105095" cy="457200"/>
          </a:xfrm>
          <a:prstGeom prst="rect">
            <a:avLst/>
          </a:prstGeom>
          <a:noFill/>
          <a:ln/>
        </p:spPr>
        <p:txBody>
          <a:bodyPr wrap="square" lIns="0" tIns="0" rIns="0" bIns="0" rtlCol="0" anchor="t"/>
          <a:lstStyle/>
          <a:p>
            <a:pPr algn="l" indent="0" marL="0">
              <a:lnSpc>
                <a:spcPct val="90000"/>
              </a:lnSpc>
              <a:buNone/>
            </a:pPr>
            <a:r>
              <a:rPr lang="en-US" sz="2800" dirty="0">
                <a:solidFill>
                  <a:srgbClr val="1A1C14"/>
                </a:solidFill>
                <a:latin typeface="Barlow Condensed ExtraBold" pitchFamily="34" charset="0"/>
                <a:ea typeface="Barlow Condensed ExtraBold" pitchFamily="34" charset="-122"/>
                <a:cs typeface="Barlow Condensed ExtraBold" pitchFamily="34" charset="-120"/>
              </a:rPr>
              <a:t>NILAI INTEGRASI YANG TERBUKTI</a:t>
            </a:r>
            <a:endParaRPr lang="en-US" sz="2800" dirty="0"/>
          </a:p>
        </p:txBody>
      </p:sp>
      <p:sp>
        <p:nvSpPr>
          <p:cNvPr id="32" name="bullets"/>
          <p:cNvSpPr txBox="1"/>
          <p:nvPr/>
        </p:nvSpPr>
        <p:spPr>
          <a:xfrm>
            <a:off x="6217920" y="2194560"/>
            <a:ext cx="5105095" cy="3931920"/>
          </a:xfrm>
          <a:prstGeom prst="rect">
            <a:avLst/>
          </a:prstGeom>
          <a:noFill/>
          <a:ln/>
        </p:spPr>
        <p:txBody>
          <a:bodyPr wrap="square" lIns="0" tIns="0" rIns="0" bIns="0" rtlCol="0" anchor="t"/>
          <a:lstStyle/>
          <a:p>
            <a:pPr marL="342900" indent="-342900">
              <a:spcAft>
                <a:spcPts val="1000"/>
              </a:spcAft>
              <a:buSzPct val="100000"/>
              <a:buChar char="•"/>
            </a:pPr>
            <a:r>
              <a:rPr lang="en-US" sz="1550" b="1" dirty="0">
                <a:solidFill>
                  <a:srgbClr val="1A1C14"/>
                </a:solidFill>
                <a:latin typeface="Barlow" pitchFamily="34" charset="0"/>
                <a:ea typeface="Barlow" pitchFamily="34" charset="-122"/>
                <a:cs typeface="Barlow" pitchFamily="34" charset="-120"/>
              </a:rPr>
              <a:t>Penjadwalan ulang lintas fungsi dalam hitungan jam</a:t>
            </a:r>
            <a:r>
              <a:rPr lang="en-US" sz="1550" dirty="0">
                <a:solidFill>
                  <a:srgbClr val="1A1C14"/>
                </a:solidFill>
                <a:latin typeface="Barlow" pitchFamily="34" charset="0"/>
                <a:ea typeface="Barlow" pitchFamily="34" charset="-122"/>
                <a:cs typeface="Barlow" pitchFamily="34" charset="-120"/>
              </a:rPr>
              <a:t> saat cuaca memburuk; taksiran penghematan US$18 juta per tahun (Heizer et al., 2017).</a:t>
            </a:r>
            <a:endParaRPr lang="en-US" sz="1550" dirty="0"/>
          </a:p>
          <a:p>
            <a:pPr marL="342900" indent="-342900">
              <a:spcAft>
                <a:spcPts val="1000"/>
              </a:spcAft>
              <a:buSzPct val="100000"/>
              <a:buChar char="•"/>
            </a:pPr>
            <a:r>
              <a:rPr lang="en-US" sz="1550" b="1" dirty="0">
                <a:solidFill>
                  <a:srgbClr val="1A1C14"/>
                </a:solidFill>
                <a:latin typeface="Barlow" pitchFamily="34" charset="0"/>
                <a:ea typeface="Barlow" pitchFamily="34" charset="-122"/>
                <a:cs typeface="Barlow" pitchFamily="34" charset="-120"/>
              </a:rPr>
              <a:t>Integrasi Hawaiian Airlines:</a:t>
            </a:r>
            <a:r>
              <a:rPr lang="en-US" sz="1550" dirty="0">
                <a:solidFill>
                  <a:srgbClr val="1A1C14"/>
                </a:solidFill>
                <a:latin typeface="Barlow" pitchFamily="34" charset="0"/>
                <a:ea typeface="Barlow" pitchFamily="34" charset="-122"/>
                <a:cs typeface="Barlow" pitchFamily="34" charset="-120"/>
              </a:rPr>
              <a:t> </a:t>
            </a:r>
            <a:r>
              <a:rPr lang="en-US" sz="1550" i="1" dirty="0">
                <a:solidFill>
                  <a:srgbClr val="1A1C14"/>
                </a:solidFill>
                <a:latin typeface="Barlow" pitchFamily="34" charset="0"/>
                <a:ea typeface="Barlow" pitchFamily="34" charset="-122"/>
                <a:cs typeface="Barlow" pitchFamily="34" charset="-120"/>
              </a:rPr>
              <a:t>single operating certificate</a:t>
            </a:r>
            <a:r>
              <a:rPr lang="en-US" sz="1550" dirty="0">
                <a:solidFill>
                  <a:srgbClr val="1A1C14"/>
                </a:solidFill>
                <a:latin typeface="Barlow" pitchFamily="34" charset="0"/>
                <a:ea typeface="Barlow" pitchFamily="34" charset="-122"/>
                <a:cs typeface="Barlow" pitchFamily="34" charset="-120"/>
              </a:rPr>
              <a:t> 29 Oktober 2025 setelah setahun kerja multidepartemen; sistem layanan penumpang tunggal menyusul pada 2026.</a:t>
            </a:r>
            <a:endParaRPr lang="en-US" sz="1550" dirty="0"/>
          </a:p>
          <a:p>
            <a:pPr marL="342900" indent="-342900">
              <a:spcAft>
                <a:spcPts val="1000"/>
              </a:spcAft>
              <a:buSzPct val="100000"/>
              <a:buChar char="•"/>
            </a:pPr>
            <a:r>
              <a:rPr lang="en-US" sz="1550" b="1" dirty="0">
                <a:solidFill>
                  <a:srgbClr val="1A1C14"/>
                </a:solidFill>
                <a:latin typeface="Barlow" pitchFamily="34" charset="0"/>
                <a:ea typeface="Barlow" pitchFamily="34" charset="-122"/>
                <a:cs typeface="Barlow" pitchFamily="34" charset="-120"/>
              </a:rPr>
              <a:t>Tailsight</a:t>
            </a:r>
            <a:r>
              <a:rPr lang="en-US" sz="1550" dirty="0">
                <a:solidFill>
                  <a:srgbClr val="1A1C14"/>
                </a:solidFill>
                <a:latin typeface="Barlow" pitchFamily="34" charset="0"/>
                <a:ea typeface="Barlow" pitchFamily="34" charset="-122"/>
                <a:cs typeface="Barlow" pitchFamily="34" charset="-120"/>
              </a:rPr>
              <a:t> memakai data perawatan, jadwal, staf, dan suku cadang sekaligus; nilainya bergantung pada konsistensi data di seluruh sistem.</a:t>
            </a:r>
            <a:endParaRPr lang="en-US" sz="1550" dirty="0"/>
          </a:p>
        </p:txBody>
      </p:sp>
      <p:sp>
        <p:nvSpPr>
          <p:cNvPr id="33" name="text"/>
          <p:cNvSpPr txBox="1"/>
          <p:nvPr/>
        </p:nvSpPr>
        <p:spPr>
          <a:xfrm>
            <a:off x="548640" y="6364224"/>
            <a:ext cx="10058400" cy="347472"/>
          </a:xfrm>
          <a:prstGeom prst="rect">
            <a:avLst/>
          </a:prstGeom>
          <a:noFill/>
          <a:ln/>
        </p:spPr>
        <p:txBody>
          <a:bodyPr wrap="square" lIns="0" tIns="0" rIns="0" bIns="0" rtlCol="0" anchor="t"/>
          <a:lstStyle/>
          <a:p>
            <a:pPr algn="l" indent="0" marL="0">
              <a:buNone/>
            </a:pPr>
            <a:r>
              <a:rPr lang="en-US" sz="1300" i="1" dirty="0">
                <a:solidFill>
                  <a:srgbClr val="6B6B66"/>
                </a:solidFill>
                <a:latin typeface="Barlow" pitchFamily="34" charset="0"/>
                <a:ea typeface="Barlow" pitchFamily="34" charset="-122"/>
                <a:cs typeface="Barlow" pitchFamily="34" charset="-120"/>
              </a:rPr>
              <a:t>Infrastruktur hibrida: pusat data sendiri untuk beban kritis ditambah layanan cloud (GeekWire, 2025).</a:t>
            </a:r>
            <a:endParaRPr lang="en-US" sz="13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3" name="headline"/>
          <p:cNvSpPr txBox="1"/>
          <p:nvPr/>
        </p:nvSpPr>
        <p:spPr>
          <a:xfrm>
            <a:off x="548640" y="502920"/>
            <a:ext cx="4002722"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RISIKO INTEGRASI:</a:t>
            </a:r>
            <a:endParaRPr lang="en-US" sz="4400" dirty="0"/>
          </a:p>
        </p:txBody>
      </p:sp>
      <p:sp>
        <p:nvSpPr>
          <p:cNvPr id="4" name="highlight"/>
          <p:cNvSpPr/>
          <p:nvPr/>
        </p:nvSpPr>
        <p:spPr>
          <a:xfrm>
            <a:off x="4388802" y="525719"/>
            <a:ext cx="3800427" cy="524378"/>
          </a:xfrm>
          <a:prstGeom prst="roundRect">
            <a:avLst>
              <a:gd name="adj" fmla="val 13950"/>
            </a:avLst>
          </a:prstGeom>
          <a:solidFill>
            <a:srgbClr val="9CC506"/>
          </a:solidFill>
          <a:ln w="3175">
            <a:solidFill>
              <a:srgbClr val="9CC506"/>
            </a:solidFill>
            <a:prstDash val="solid"/>
          </a:ln>
        </p:spPr>
      </p:sp>
      <p:sp>
        <p:nvSpPr>
          <p:cNvPr id="5" name="headline"/>
          <p:cNvSpPr txBox="1"/>
          <p:nvPr/>
        </p:nvSpPr>
        <p:spPr>
          <a:xfrm>
            <a:off x="4489386" y="502920"/>
            <a:ext cx="3873579"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DUA OUTAGE 2025</a:t>
            </a:r>
            <a:endParaRPr lang="en-US" sz="4400" dirty="0"/>
          </a:p>
        </p:txBody>
      </p:sp>
      <p:sp>
        <p:nvSpPr>
          <p:cNvPr id="6" name="card"/>
          <p:cNvSpPr/>
          <p:nvPr/>
        </p:nvSpPr>
        <p:spPr>
          <a:xfrm>
            <a:off x="548640" y="1371600"/>
            <a:ext cx="3352648" cy="3931920"/>
          </a:xfrm>
          <a:prstGeom prst="roundRect">
            <a:avLst>
              <a:gd name="adj" fmla="val 6000"/>
            </a:avLst>
          </a:prstGeom>
          <a:solidFill>
            <a:srgbClr val="FFFFFF"/>
          </a:solidFill>
          <a:ln w="3175">
            <a:solidFill>
              <a:srgbClr val="FFFFFF"/>
            </a:solidFill>
            <a:prstDash val="solid"/>
          </a:ln>
        </p:spPr>
      </p:sp>
      <p:sp>
        <p:nvSpPr>
          <p:cNvPr id="7" name="tag"/>
          <p:cNvSpPr/>
          <p:nvPr/>
        </p:nvSpPr>
        <p:spPr>
          <a:xfrm>
            <a:off x="822960" y="1600200"/>
            <a:ext cx="2011680" cy="365760"/>
          </a:xfrm>
          <a:prstGeom prst="roundRect">
            <a:avLst>
              <a:gd name="adj" fmla="val 50000"/>
            </a:avLst>
          </a:prstGeom>
          <a:solidFill>
            <a:srgbClr val="F1681D"/>
          </a:solidFill>
          <a:ln w="3175">
            <a:solidFill>
              <a:srgbClr val="F1681D"/>
            </a:solidFill>
            <a:prstDash val="solid"/>
          </a:ln>
        </p:spPr>
      </p:sp>
      <p:sp>
        <p:nvSpPr>
          <p:cNvPr id="8" name="tag label"/>
          <p:cNvSpPr txBox="1"/>
          <p:nvPr/>
        </p:nvSpPr>
        <p:spPr>
          <a:xfrm>
            <a:off x="822960" y="1600200"/>
            <a:ext cx="201168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Barlow Condensed" pitchFamily="34" charset="0"/>
                <a:ea typeface="Barlow Condensed" pitchFamily="34" charset="-122"/>
                <a:cs typeface="Barlow Condensed" pitchFamily="34" charset="-120"/>
              </a:rPr>
              <a:t>20 JULI 2025</a:t>
            </a:r>
            <a:endParaRPr lang="en-US" sz="1400" dirty="0"/>
          </a:p>
        </p:txBody>
      </p:sp>
      <p:sp>
        <p:nvSpPr>
          <p:cNvPr id="9" name="heading"/>
          <p:cNvSpPr txBox="1"/>
          <p:nvPr/>
        </p:nvSpPr>
        <p:spPr>
          <a:xfrm>
            <a:off x="822960" y="2103120"/>
            <a:ext cx="2804008" cy="86868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PERANGKAT KERAS PUSAT DATA GAGAL</a:t>
            </a:r>
            <a:endParaRPr lang="en-US" sz="2600" dirty="0"/>
          </a:p>
        </p:txBody>
      </p:sp>
      <p:sp>
        <p:nvSpPr>
          <p:cNvPr id="10" name="text"/>
          <p:cNvSpPr txBox="1"/>
          <p:nvPr/>
        </p:nvSpPr>
        <p:spPr>
          <a:xfrm>
            <a:off x="822960" y="3017520"/>
            <a:ext cx="2804008" cy="2194560"/>
          </a:xfrm>
          <a:prstGeom prst="rect">
            <a:avLst/>
          </a:prstGeom>
          <a:noFill/>
          <a:ln/>
        </p:spPr>
        <p:txBody>
          <a:bodyPr wrap="square" lIns="0" tIns="0" rIns="0" bIns="0" rtlCol="0" anchor="t"/>
          <a:lstStyle/>
          <a:p>
            <a:pPr algn="l" indent="0" marL="0">
              <a:buNone/>
            </a:pPr>
            <a:r>
              <a:rPr lang="en-US" sz="1550" dirty="0">
                <a:solidFill>
                  <a:srgbClr val="1A1C14"/>
                </a:solidFill>
                <a:latin typeface="Barlow" pitchFamily="34" charset="0"/>
                <a:ea typeface="Barlow" pitchFamily="34" charset="-122"/>
                <a:cs typeface="Barlow" pitchFamily="34" charset="-120"/>
              </a:rPr>
              <a:t>Satu perangkat keras multiredundan gagal; beberapa sistem operasional lumpuh. </a:t>
            </a:r>
            <a:r>
              <a:rPr lang="en-US" sz="1550" i="1" dirty="0">
                <a:solidFill>
                  <a:srgbClr val="1A1C14"/>
                </a:solidFill>
                <a:latin typeface="Barlow" pitchFamily="34" charset="0"/>
                <a:ea typeface="Barlow" pitchFamily="34" charset="-122"/>
                <a:cs typeface="Barlow" pitchFamily="34" charset="-120"/>
              </a:rPr>
              <a:t>Ground stop</a:t>
            </a:r>
            <a:r>
              <a:rPr lang="en-US" sz="1550" dirty="0">
                <a:solidFill>
                  <a:srgbClr val="1A1C14"/>
                </a:solidFill>
                <a:latin typeface="Barlow" pitchFamily="34" charset="0"/>
                <a:ea typeface="Barlow" pitchFamily="34" charset="-122"/>
                <a:cs typeface="Barlow" pitchFamily="34" charset="-120"/>
              </a:rPr>
              <a:t> ±3 jam agar pesawat tetap di posisi; &gt;150 pembatalan. Alaska menyatakan telah "mengeraskan" sistemnya.</a:t>
            </a:r>
            <a:endParaRPr lang="en-US" sz="1550" dirty="0"/>
          </a:p>
        </p:txBody>
      </p:sp>
      <p:sp>
        <p:nvSpPr>
          <p:cNvPr id="11" name="card"/>
          <p:cNvSpPr/>
          <p:nvPr/>
        </p:nvSpPr>
        <p:spPr>
          <a:xfrm>
            <a:off x="4129888" y="1371600"/>
            <a:ext cx="3352648" cy="3931920"/>
          </a:xfrm>
          <a:prstGeom prst="roundRect">
            <a:avLst>
              <a:gd name="adj" fmla="val 6000"/>
            </a:avLst>
          </a:prstGeom>
          <a:solidFill>
            <a:srgbClr val="FFFFFF"/>
          </a:solidFill>
          <a:ln w="3175">
            <a:solidFill>
              <a:srgbClr val="FFFFFF"/>
            </a:solidFill>
            <a:prstDash val="solid"/>
          </a:ln>
        </p:spPr>
      </p:sp>
      <p:sp>
        <p:nvSpPr>
          <p:cNvPr id="12" name="tag"/>
          <p:cNvSpPr/>
          <p:nvPr/>
        </p:nvSpPr>
        <p:spPr>
          <a:xfrm>
            <a:off x="4404208" y="1600200"/>
            <a:ext cx="2011680" cy="365760"/>
          </a:xfrm>
          <a:prstGeom prst="roundRect">
            <a:avLst>
              <a:gd name="adj" fmla="val 50000"/>
            </a:avLst>
          </a:prstGeom>
          <a:solidFill>
            <a:srgbClr val="F1681D"/>
          </a:solidFill>
          <a:ln w="3175">
            <a:solidFill>
              <a:srgbClr val="F1681D"/>
            </a:solidFill>
            <a:prstDash val="solid"/>
          </a:ln>
        </p:spPr>
      </p:sp>
      <p:sp>
        <p:nvSpPr>
          <p:cNvPr id="13" name="tag label"/>
          <p:cNvSpPr txBox="1"/>
          <p:nvPr/>
        </p:nvSpPr>
        <p:spPr>
          <a:xfrm>
            <a:off x="4404208" y="1600200"/>
            <a:ext cx="201168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Barlow Condensed" pitchFamily="34" charset="0"/>
                <a:ea typeface="Barlow Condensed" pitchFamily="34" charset="-122"/>
                <a:cs typeface="Barlow Condensed" pitchFamily="34" charset="-120"/>
              </a:rPr>
              <a:t>23 OKTOBER 2025</a:t>
            </a:r>
            <a:endParaRPr lang="en-US" sz="1400" dirty="0"/>
          </a:p>
        </p:txBody>
      </p:sp>
      <p:sp>
        <p:nvSpPr>
          <p:cNvPr id="14" name="heading"/>
          <p:cNvSpPr txBox="1"/>
          <p:nvPr/>
        </p:nvSpPr>
        <p:spPr>
          <a:xfrm>
            <a:off x="4404208" y="2103120"/>
            <a:ext cx="2804008" cy="86868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PUSAT DATA UTAMA GAGAL</a:t>
            </a:r>
            <a:endParaRPr lang="en-US" sz="2600" dirty="0"/>
          </a:p>
        </p:txBody>
      </p:sp>
      <p:sp>
        <p:nvSpPr>
          <p:cNvPr id="15" name="text"/>
          <p:cNvSpPr txBox="1"/>
          <p:nvPr/>
        </p:nvSpPr>
        <p:spPr>
          <a:xfrm>
            <a:off x="4404208" y="3017520"/>
            <a:ext cx="2804008" cy="2194560"/>
          </a:xfrm>
          <a:prstGeom prst="rect">
            <a:avLst/>
          </a:prstGeom>
          <a:noFill/>
          <a:ln/>
        </p:spPr>
        <p:txBody>
          <a:bodyPr wrap="square" lIns="0" tIns="0" rIns="0" bIns="0" rtlCol="0" anchor="t"/>
          <a:lstStyle/>
          <a:p>
            <a:pPr algn="l" indent="0" marL="0">
              <a:buNone/>
            </a:pPr>
            <a:r>
              <a:rPr lang="en-US" sz="1550" i="1" dirty="0">
                <a:solidFill>
                  <a:srgbClr val="1A1C14"/>
                </a:solidFill>
                <a:latin typeface="Barlow" pitchFamily="34" charset="0"/>
                <a:ea typeface="Barlow" pitchFamily="34" charset="-122"/>
                <a:cs typeface="Barlow" pitchFamily="34" charset="-120"/>
              </a:rPr>
              <a:t>Ground stop</a:t>
            </a:r>
            <a:r>
              <a:rPr lang="en-US" sz="1550" dirty="0">
                <a:solidFill>
                  <a:srgbClr val="1A1C14"/>
                </a:solidFill>
                <a:latin typeface="Barlow" pitchFamily="34" charset="0"/>
                <a:ea typeface="Barlow" pitchFamily="34" charset="-122"/>
                <a:cs typeface="Barlow" pitchFamily="34" charset="-120"/>
              </a:rPr>
              <a:t> ±8 jam, &gt;400 pembatalan, ±49.000 penumpang terdampak. Bukan serangan siber. Audit seluruh infrastruktur IT oleh pakar eksternal; perangkat keras pusat data diganti.</a:t>
            </a:r>
            <a:endParaRPr lang="en-US" sz="1550" dirty="0"/>
          </a:p>
        </p:txBody>
      </p:sp>
      <p:pic>
        <p:nvPicPr>
          <p:cNvPr id="16" name="foto apron sepi saat ground stop" descr="/tmp/claude-0/-home-user-Dom-Manipulation/385e5267-c23e-5c04-80f5-d5fb4946a902/scratchpad/build/img4/ground_stop.png">    </p:cNvPr>
          <p:cNvPicPr>
            <a:picLocks noChangeAspect="1"/>
          </p:cNvPicPr>
          <p:nvPr/>
        </p:nvPicPr>
        <p:blipFill>
          <a:blip r:embed="rId1"/>
          <a:stretch>
            <a:fillRect/>
          </a:stretch>
        </p:blipFill>
        <p:spPr>
          <a:xfrm>
            <a:off x="7711135" y="1371600"/>
            <a:ext cx="3931920" cy="2944368"/>
          </a:xfrm>
          <a:prstGeom prst="rect">
            <a:avLst/>
          </a:prstGeom>
        </p:spPr>
      </p:pic>
      <p:sp>
        <p:nvSpPr>
          <p:cNvPr id="17" name="text"/>
          <p:cNvSpPr txBox="1"/>
          <p:nvPr/>
        </p:nvSpPr>
        <p:spPr>
          <a:xfrm>
            <a:off x="7711135" y="4389120"/>
            <a:ext cx="3931920" cy="731520"/>
          </a:xfrm>
          <a:prstGeom prst="rect">
            <a:avLst/>
          </a:prstGeom>
          <a:noFill/>
          <a:ln/>
        </p:spPr>
        <p:txBody>
          <a:bodyPr wrap="square" lIns="0" tIns="0" rIns="0" bIns="0" rtlCol="0" anchor="t"/>
          <a:lstStyle/>
          <a:p>
            <a:pPr algn="ctr" indent="0" marL="0">
              <a:buNone/>
            </a:pPr>
            <a:r>
              <a:rPr lang="en-US" sz="1400" i="1" dirty="0">
                <a:solidFill>
                  <a:srgbClr val="6B6B66"/>
                </a:solidFill>
                <a:latin typeface="Barlow" pitchFamily="34" charset="0"/>
                <a:ea typeface="Barlow" pitchFamily="34" charset="-122"/>
                <a:cs typeface="Barlow" pitchFamily="34" charset="-120"/>
              </a:rPr>
              <a:t>Ground stop: seluruh pesawat tertahan di gate sampai sistem pulih.</a:t>
            </a:r>
            <a:endParaRPr lang="en-US" sz="1400" dirty="0"/>
          </a:p>
        </p:txBody>
      </p:sp>
      <p:sp>
        <p:nvSpPr>
          <p:cNvPr id="18" name="card"/>
          <p:cNvSpPr/>
          <p:nvPr/>
        </p:nvSpPr>
        <p:spPr>
          <a:xfrm>
            <a:off x="548640" y="5486400"/>
            <a:ext cx="11094415" cy="777240"/>
          </a:xfrm>
          <a:prstGeom prst="roundRect">
            <a:avLst>
              <a:gd name="adj" fmla="val 25882"/>
            </a:avLst>
          </a:prstGeom>
          <a:solidFill>
            <a:srgbClr val="1A1C14"/>
          </a:solidFill>
          <a:ln w="3175">
            <a:solidFill>
              <a:srgbClr val="1A1C14"/>
            </a:solidFill>
            <a:prstDash val="solid"/>
          </a:ln>
        </p:spPr>
      </p:sp>
      <p:sp>
        <p:nvSpPr>
          <p:cNvPr id="19" name="text"/>
          <p:cNvSpPr txBox="1"/>
          <p:nvPr/>
        </p:nvSpPr>
        <p:spPr>
          <a:xfrm>
            <a:off x="868680" y="5486400"/>
            <a:ext cx="10454335" cy="777240"/>
          </a:xfrm>
          <a:prstGeom prst="rect">
            <a:avLst/>
          </a:prstGeom>
          <a:noFill/>
          <a:ln/>
        </p:spPr>
        <p:txBody>
          <a:bodyPr wrap="square" lIns="0" tIns="0" rIns="0" bIns="0" rtlCol="0" anchor="ctr"/>
          <a:lstStyle/>
          <a:p>
            <a:pPr algn="l" indent="0" marL="0">
              <a:buNone/>
            </a:pPr>
            <a:r>
              <a:rPr lang="en-US" sz="1600" b="1" dirty="0">
                <a:solidFill>
                  <a:srgbClr val="FFFFFF"/>
                </a:solidFill>
                <a:latin typeface="Barlow" pitchFamily="34" charset="0"/>
                <a:ea typeface="Barlow" pitchFamily="34" charset="-122"/>
                <a:cs typeface="Barlow" pitchFamily="34" charset="-120"/>
              </a:rPr>
              <a:t>Pelajaran:</a:t>
            </a:r>
            <a:r>
              <a:rPr lang="en-US" sz="1600" dirty="0">
                <a:solidFill>
                  <a:srgbClr val="FFFFFF"/>
                </a:solidFill>
                <a:latin typeface="Barlow" pitchFamily="34" charset="0"/>
                <a:ea typeface="Barlow" pitchFamily="34" charset="-122"/>
                <a:cs typeface="Barlow" pitchFamily="34" charset="-120"/>
              </a:rPr>
              <a:t> semakin terintegrasi sistem, semakin besar dampak satu titik kegagalan (</a:t>
            </a:r>
            <a:r>
              <a:rPr lang="en-US" sz="1600" i="1" dirty="0">
                <a:solidFill>
                  <a:srgbClr val="FFFFFF"/>
                </a:solidFill>
                <a:latin typeface="Barlow" pitchFamily="34" charset="0"/>
                <a:ea typeface="Barlow" pitchFamily="34" charset="-122"/>
                <a:cs typeface="Barlow" pitchFamily="34" charset="-120"/>
              </a:rPr>
              <a:t>single point of failure</a:t>
            </a:r>
            <a:r>
              <a:rPr lang="en-US" sz="1600" dirty="0">
                <a:solidFill>
                  <a:srgbClr val="FFFFFF"/>
                </a:solidFill>
                <a:latin typeface="Barlow" pitchFamily="34" charset="0"/>
                <a:ea typeface="Barlow" pitchFamily="34" charset="-122"/>
                <a:cs typeface="Barlow" pitchFamily="34" charset="-120"/>
              </a:rPr>
              <a:t>). Nilai integrasi hanya terwujud bila sistemnya tetap hidup.</a:t>
            </a:r>
            <a:endParaRPr lang="en-US" sz="16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C14"/>
        </a:solidFill>
      </p:bgPr>
    </p:bg>
    <p:spTree>
      <p:nvGrpSpPr>
        <p:cNvPr id="1" name=""/>
        <p:cNvGrpSpPr/>
        <p:nvPr/>
      </p:nvGrpSpPr>
      <p:grpSpPr>
        <a:xfrm>
          <a:off x="0" y="0"/>
          <a:ext cx="0" cy="0"/>
          <a:chOff x="0" y="0"/>
          <a:chExt cx="0" cy="0"/>
        </a:xfrm>
      </p:grpSpPr>
      <p:pic>
        <p:nvPicPr>
          <p:cNvPr id="3" name="foto marshaller malam hari" descr="/tmp/claude-0/-home-user-Dom-Manipulation/385e5267-c23e-5c04-80f5-d5fb4946a902/scratchpad/build/img4/div_marshaller.jpg">    </p:cNvPr>
          <p:cNvPicPr>
            <a:picLocks noChangeAspect="1"/>
          </p:cNvPicPr>
          <p:nvPr/>
        </p:nvPicPr>
        <p:blipFill>
          <a:blip r:embed="rId1"/>
          <a:stretch>
            <a:fillRect/>
          </a:stretch>
        </p:blipFill>
        <p:spPr>
          <a:xfrm>
            <a:off x="0" y="0"/>
            <a:ext cx="12191695" cy="6858000"/>
          </a:xfrm>
          <a:prstGeom prst="rect">
            <a:avLst/>
          </a:prstGeom>
        </p:spPr>
      </p:pic>
      <p:sp>
        <p:nvSpPr>
          <p:cNvPr id="4" name="overlay"/>
          <p:cNvSpPr/>
          <p:nvPr/>
        </p:nvSpPr>
        <p:spPr>
          <a:xfrm>
            <a:off x="0" y="0"/>
            <a:ext cx="12191695" cy="6858000"/>
          </a:xfrm>
          <a:prstGeom prst="rect">
            <a:avLst/>
          </a:prstGeom>
          <a:solidFill>
            <a:srgbClr val="1A1C14">
              <a:alpha val="58000"/>
            </a:srgbClr>
          </a:solidFill>
          <a:ln w="12700">
            <a:solidFill>
              <a:srgbClr val="1A1C14">
                <a:alpha val="0"/>
              </a:srgbClr>
            </a:solidFill>
            <a:prstDash val="solid"/>
          </a:ln>
        </p:spPr>
      </p:sp>
      <p:sp>
        <p:nvSpPr>
          <p:cNvPr id="5" name="tag"/>
          <p:cNvSpPr/>
          <p:nvPr/>
        </p:nvSpPr>
        <p:spPr>
          <a:xfrm>
            <a:off x="548640" y="1920240"/>
            <a:ext cx="1737360" cy="411480"/>
          </a:xfrm>
          <a:prstGeom prst="roundRect">
            <a:avLst>
              <a:gd name="adj" fmla="val 50000"/>
            </a:avLst>
          </a:prstGeom>
          <a:solidFill>
            <a:srgbClr val="F1681D"/>
          </a:solidFill>
          <a:ln w="3175">
            <a:solidFill>
              <a:srgbClr val="F1681D"/>
            </a:solidFill>
            <a:prstDash val="solid"/>
          </a:ln>
        </p:spPr>
      </p:sp>
      <p:sp>
        <p:nvSpPr>
          <p:cNvPr id="6" name="tag label"/>
          <p:cNvSpPr txBox="1"/>
          <p:nvPr/>
        </p:nvSpPr>
        <p:spPr>
          <a:xfrm>
            <a:off x="548640" y="1920240"/>
            <a:ext cx="1737360" cy="411480"/>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Barlow Condensed" pitchFamily="34" charset="0"/>
                <a:ea typeface="Barlow Condensed" pitchFamily="34" charset="-122"/>
                <a:cs typeface="Barlow Condensed" pitchFamily="34" charset="-120"/>
              </a:rPr>
              <a:t>SUBTOPIK 2</a:t>
            </a:r>
            <a:endParaRPr lang="en-US" sz="1500" dirty="0"/>
          </a:p>
        </p:txBody>
      </p:sp>
      <p:sp>
        <p:nvSpPr>
          <p:cNvPr id="7" name="headline"/>
          <p:cNvSpPr txBox="1"/>
          <p:nvPr/>
        </p:nvSpPr>
        <p:spPr>
          <a:xfrm>
            <a:off x="548640" y="2514600"/>
            <a:ext cx="8568710" cy="777240"/>
          </a:xfrm>
          <a:prstGeom prst="rect">
            <a:avLst/>
          </a:prstGeom>
          <a:noFill/>
          <a:ln/>
        </p:spPr>
        <p:txBody>
          <a:bodyPr wrap="square" lIns="0" tIns="0" rIns="0" bIns="0" rtlCol="0" anchor="ctr"/>
          <a:lstStyle/>
          <a:p>
            <a:pPr algn="l" indent="0" marL="0">
              <a:buNone/>
            </a:pPr>
            <a:r>
              <a:rPr lang="en-US" sz="6000" dirty="0">
                <a:solidFill>
                  <a:srgbClr val="FFFFFF"/>
                </a:solidFill>
                <a:latin typeface="Barlow Condensed ExtraBold" pitchFamily="34" charset="0"/>
                <a:ea typeface="Barlow Condensed ExtraBold" pitchFamily="34" charset="-122"/>
                <a:cs typeface="Barlow Condensed ExtraBold" pitchFamily="34" charset="-120"/>
              </a:rPr>
              <a:t>SEQUENCING AND SCHEDULING</a:t>
            </a:r>
            <a:endParaRPr lang="en-US" sz="6000" dirty="0"/>
          </a:p>
        </p:txBody>
      </p:sp>
      <p:sp>
        <p:nvSpPr>
          <p:cNvPr id="8" name="highlight"/>
          <p:cNvSpPr/>
          <p:nvPr/>
        </p:nvSpPr>
        <p:spPr>
          <a:xfrm>
            <a:off x="411480" y="3359506"/>
            <a:ext cx="5862836" cy="715061"/>
          </a:xfrm>
          <a:prstGeom prst="roundRect">
            <a:avLst>
              <a:gd name="adj" fmla="val 10230"/>
            </a:avLst>
          </a:prstGeom>
          <a:solidFill>
            <a:srgbClr val="9CC506"/>
          </a:solidFill>
          <a:ln w="3175">
            <a:solidFill>
              <a:srgbClr val="9CC506"/>
            </a:solidFill>
            <a:prstDash val="solid"/>
          </a:ln>
        </p:spPr>
      </p:sp>
      <p:sp>
        <p:nvSpPr>
          <p:cNvPr id="9" name="headline"/>
          <p:cNvSpPr txBox="1"/>
          <p:nvPr/>
        </p:nvSpPr>
        <p:spPr>
          <a:xfrm>
            <a:off x="548640" y="3328416"/>
            <a:ext cx="5862836" cy="777240"/>
          </a:xfrm>
          <a:prstGeom prst="rect">
            <a:avLst/>
          </a:prstGeom>
          <a:noFill/>
          <a:ln/>
        </p:spPr>
        <p:txBody>
          <a:bodyPr wrap="square" lIns="0" tIns="0" rIns="0" bIns="0" rtlCol="0" anchor="ctr"/>
          <a:lstStyle/>
          <a:p>
            <a:pPr algn="l" indent="0" marL="0">
              <a:buNone/>
            </a:pPr>
            <a:r>
              <a:rPr lang="en-US" sz="6000" dirty="0">
                <a:solidFill>
                  <a:srgbClr val="1A1C14"/>
                </a:solidFill>
                <a:latin typeface="Barlow Condensed ExtraBold" pitchFamily="34" charset="0"/>
                <a:ea typeface="Barlow Condensed ExtraBold" pitchFamily="34" charset="-122"/>
                <a:cs typeface="Barlow Condensed ExtraBold" pitchFamily="34" charset="-120"/>
              </a:rPr>
              <a:t>DI ALASKA AIRLINES</a:t>
            </a:r>
            <a:endParaRPr lang="en-US" sz="6000" dirty="0"/>
          </a:p>
        </p:txBody>
      </p:sp>
      <p:sp>
        <p:nvSpPr>
          <p:cNvPr id="10" name="text"/>
          <p:cNvSpPr txBox="1"/>
          <p:nvPr/>
        </p:nvSpPr>
        <p:spPr>
          <a:xfrm>
            <a:off x="548640" y="4709160"/>
            <a:ext cx="8229600" cy="822960"/>
          </a:xfrm>
          <a:prstGeom prst="rect">
            <a:avLst/>
          </a:prstGeom>
          <a:noFill/>
          <a:ln/>
        </p:spPr>
        <p:txBody>
          <a:bodyPr wrap="square" lIns="0" tIns="0" rIns="0" bIns="0" rtlCol="0" anchor="t"/>
          <a:lstStyle/>
          <a:p>
            <a:pPr algn="l" indent="0" marL="0">
              <a:buNone/>
            </a:pPr>
            <a:r>
              <a:rPr lang="en-US" sz="2000" dirty="0">
                <a:solidFill>
                  <a:srgbClr val="FFFFFF"/>
                </a:solidFill>
                <a:latin typeface="Barlow" pitchFamily="34" charset="0"/>
                <a:ea typeface="Barlow" pitchFamily="34" charset="-122"/>
                <a:cs typeface="Barlow" pitchFamily="34" charset="-120"/>
              </a:rPr>
              <a:t>Mengurutkan dan menjadwalkan pesawat, kru, hangar, dan staf darat dalam horizon hari dan jam, termasuk ketika cuaca menjadi musuh.</a:t>
            </a:r>
            <a:endParaRPr lang="en-US" sz="20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9CC506"/>
        </a:solidFill>
      </p:bgPr>
    </p:bg>
    <p:spTree>
      <p:nvGrpSpPr>
        <p:cNvPr id="1" name=""/>
        <p:cNvGrpSpPr/>
        <p:nvPr/>
      </p:nvGrpSpPr>
      <p:grpSpPr>
        <a:xfrm>
          <a:off x="0" y="0"/>
          <a:ext cx="0" cy="0"/>
          <a:chOff x="0" y="0"/>
          <a:chExt cx="0" cy="0"/>
        </a:xfrm>
      </p:grpSpPr>
      <p:sp>
        <p:nvSpPr>
          <p:cNvPr id="3" name="headline"/>
          <p:cNvSpPr txBox="1"/>
          <p:nvPr/>
        </p:nvSpPr>
        <p:spPr>
          <a:xfrm>
            <a:off x="548640" y="502920"/>
            <a:ext cx="2270919"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APA YANG</a:t>
            </a:r>
            <a:endParaRPr lang="en-US" sz="4400" dirty="0"/>
          </a:p>
        </p:txBody>
      </p:sp>
      <p:sp>
        <p:nvSpPr>
          <p:cNvPr id="4" name="highlight"/>
          <p:cNvSpPr/>
          <p:nvPr/>
        </p:nvSpPr>
        <p:spPr>
          <a:xfrm>
            <a:off x="2656999" y="525719"/>
            <a:ext cx="3132665" cy="524378"/>
          </a:xfrm>
          <a:prstGeom prst="roundRect">
            <a:avLst>
              <a:gd name="adj" fmla="val 13950"/>
            </a:avLst>
          </a:prstGeom>
          <a:solidFill>
            <a:srgbClr val="FFFFFF"/>
          </a:solidFill>
          <a:ln w="3175">
            <a:solidFill>
              <a:srgbClr val="FFFFFF"/>
            </a:solidFill>
            <a:prstDash val="solid"/>
          </a:ln>
        </p:spPr>
      </p:sp>
      <p:sp>
        <p:nvSpPr>
          <p:cNvPr id="5" name="headline"/>
          <p:cNvSpPr txBox="1"/>
          <p:nvPr/>
        </p:nvSpPr>
        <p:spPr>
          <a:xfrm>
            <a:off x="2757583" y="502920"/>
            <a:ext cx="3205817"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DIJADWALKAN</a:t>
            </a:r>
            <a:endParaRPr lang="en-US" sz="4400" dirty="0"/>
          </a:p>
        </p:txBody>
      </p:sp>
      <p:sp>
        <p:nvSpPr>
          <p:cNvPr id="6" name="headline"/>
          <p:cNvSpPr txBox="1"/>
          <p:nvPr/>
        </p:nvSpPr>
        <p:spPr>
          <a:xfrm>
            <a:off x="5901424" y="502920"/>
            <a:ext cx="4526260"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ALASKA SETIAP HARI</a:t>
            </a:r>
            <a:endParaRPr lang="en-US" sz="4400" dirty="0"/>
          </a:p>
        </p:txBody>
      </p:sp>
      <p:sp>
        <p:nvSpPr>
          <p:cNvPr id="7" name="card"/>
          <p:cNvSpPr/>
          <p:nvPr/>
        </p:nvSpPr>
        <p:spPr>
          <a:xfrm>
            <a:off x="548640" y="1371600"/>
            <a:ext cx="3515258" cy="4800600"/>
          </a:xfrm>
          <a:prstGeom prst="roundRect">
            <a:avLst>
              <a:gd name="adj" fmla="val 5723"/>
            </a:avLst>
          </a:prstGeom>
          <a:solidFill>
            <a:srgbClr val="FFFFFF"/>
          </a:solidFill>
          <a:ln w="3175">
            <a:solidFill>
              <a:srgbClr val="FFFFFF"/>
            </a:solidFill>
            <a:prstDash val="solid"/>
          </a:ln>
        </p:spPr>
      </p:sp>
      <p:pic>
        <p:nvPicPr>
          <p:cNvPr id="8" name="PESAWAT &amp; PERAWATAN" descr="/tmp/claude-0/-home-user-Dom-Manipulation/385e5267-c23e-5c04-80f5-d5fb4946a902/scratchpad/build/img4/r43_tech.png">    </p:cNvPr>
          <p:cNvPicPr>
            <a:picLocks noChangeAspect="1"/>
          </p:cNvPicPr>
          <p:nvPr/>
        </p:nvPicPr>
        <p:blipFill>
          <a:blip r:embed="rId1"/>
          <a:stretch>
            <a:fillRect/>
          </a:stretch>
        </p:blipFill>
        <p:spPr>
          <a:xfrm>
            <a:off x="777240" y="1600200"/>
            <a:ext cx="3058058" cy="2293544"/>
          </a:xfrm>
          <a:prstGeom prst="rect">
            <a:avLst/>
          </a:prstGeom>
        </p:spPr>
      </p:pic>
      <p:sp>
        <p:nvSpPr>
          <p:cNvPr id="9" name="heading"/>
          <p:cNvSpPr txBox="1"/>
          <p:nvPr/>
        </p:nvSpPr>
        <p:spPr>
          <a:xfrm>
            <a:off x="777240" y="4030904"/>
            <a:ext cx="3058058" cy="77724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PESAWAT &amp;</a:t>
            </a:r>
            <a:endParaRPr lang="en-US" sz="2600" dirty="0"/>
          </a:p>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PERAWATAN</a:t>
            </a:r>
            <a:endParaRPr lang="en-US" sz="2600" dirty="0"/>
          </a:p>
        </p:txBody>
      </p:sp>
      <p:sp>
        <p:nvSpPr>
          <p:cNvPr id="10" name="text"/>
          <p:cNvSpPr txBox="1"/>
          <p:nvPr/>
        </p:nvSpPr>
        <p:spPr>
          <a:xfrm>
            <a:off x="777240" y="4853864"/>
            <a:ext cx="3058058" cy="1226896"/>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Sekitar 150 pesawat per hari (Heizer et al., 2017), kini 392 pesawat grup; slot hangar dan </a:t>
            </a:r>
            <a:r>
              <a:rPr lang="en-US" sz="1500" i="1" dirty="0">
                <a:solidFill>
                  <a:srgbClr val="1A1C14"/>
                </a:solidFill>
                <a:latin typeface="Barlow" pitchFamily="34" charset="0"/>
                <a:ea typeface="Barlow" pitchFamily="34" charset="-122"/>
                <a:cs typeface="Barlow" pitchFamily="34" charset="-120"/>
              </a:rPr>
              <a:t>line maintenance</a:t>
            </a:r>
            <a:r>
              <a:rPr lang="en-US" sz="1500" dirty="0">
                <a:solidFill>
                  <a:srgbClr val="1A1C14"/>
                </a:solidFill>
                <a:latin typeface="Barlow" pitchFamily="34" charset="0"/>
                <a:ea typeface="Barlow" pitchFamily="34" charset="-122"/>
                <a:cs typeface="Barlow" pitchFamily="34" charset="-120"/>
              </a:rPr>
              <a:t> di setiap basis.</a:t>
            </a:r>
            <a:endParaRPr lang="en-US" sz="1500" dirty="0"/>
          </a:p>
        </p:txBody>
      </p:sp>
      <p:sp>
        <p:nvSpPr>
          <p:cNvPr id="11" name="card"/>
          <p:cNvSpPr/>
          <p:nvPr/>
        </p:nvSpPr>
        <p:spPr>
          <a:xfrm>
            <a:off x="4338218" y="1371600"/>
            <a:ext cx="3515258" cy="4800600"/>
          </a:xfrm>
          <a:prstGeom prst="roundRect">
            <a:avLst>
              <a:gd name="adj" fmla="val 5723"/>
            </a:avLst>
          </a:prstGeom>
          <a:solidFill>
            <a:srgbClr val="FFFFFF"/>
          </a:solidFill>
          <a:ln w="3175">
            <a:solidFill>
              <a:srgbClr val="FFFFFF"/>
            </a:solidFill>
            <a:prstDash val="solid"/>
          </a:ln>
        </p:spPr>
      </p:sp>
      <p:pic>
        <p:nvPicPr>
          <p:cNvPr id="12" name="KRU &amp; JADWAL KEBERANGKATAN" descr="/tmp/claude-0/-home-user-Dom-Manipulation/385e5267-c23e-5c04-80f5-d5fb4946a902/scratchpad/build/img4/r43_pilots.png">    </p:cNvPr>
          <p:cNvPicPr>
            <a:picLocks noChangeAspect="1"/>
          </p:cNvPicPr>
          <p:nvPr/>
        </p:nvPicPr>
        <p:blipFill>
          <a:blip r:embed="rId2"/>
          <a:stretch>
            <a:fillRect/>
          </a:stretch>
        </p:blipFill>
        <p:spPr>
          <a:xfrm>
            <a:off x="4566818" y="1600200"/>
            <a:ext cx="3058058" cy="2293544"/>
          </a:xfrm>
          <a:prstGeom prst="rect">
            <a:avLst/>
          </a:prstGeom>
        </p:spPr>
      </p:pic>
      <p:sp>
        <p:nvSpPr>
          <p:cNvPr id="13" name="heading"/>
          <p:cNvSpPr txBox="1"/>
          <p:nvPr/>
        </p:nvSpPr>
        <p:spPr>
          <a:xfrm>
            <a:off x="4566818" y="4030904"/>
            <a:ext cx="3058058" cy="77724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KRU &amp; JADWAL</a:t>
            </a:r>
            <a:endParaRPr lang="en-US" sz="2600" dirty="0"/>
          </a:p>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KEBERANGKATAN</a:t>
            </a:r>
            <a:endParaRPr lang="en-US" sz="2600" dirty="0"/>
          </a:p>
        </p:txBody>
      </p:sp>
      <p:sp>
        <p:nvSpPr>
          <p:cNvPr id="14" name="text"/>
          <p:cNvSpPr txBox="1"/>
          <p:nvPr/>
        </p:nvSpPr>
        <p:spPr>
          <a:xfrm>
            <a:off x="4566818" y="4853864"/>
            <a:ext cx="3058058" cy="1226896"/>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Lebih dari 4.500 pilot dan awak kabin; batas jam tugas FAA, kontrak serikat, </a:t>
            </a:r>
            <a:r>
              <a:rPr lang="en-US" sz="1500" i="1" dirty="0">
                <a:solidFill>
                  <a:srgbClr val="1A1C14"/>
                </a:solidFill>
                <a:latin typeface="Barlow" pitchFamily="34" charset="0"/>
                <a:ea typeface="Barlow" pitchFamily="34" charset="-122"/>
                <a:cs typeface="Barlow" pitchFamily="34" charset="-120"/>
              </a:rPr>
              <a:t>preferential bidding system</a:t>
            </a:r>
            <a:r>
              <a:rPr lang="en-US" sz="1500" dirty="0">
                <a:solidFill>
                  <a:srgbClr val="1A1C14"/>
                </a:solidFill>
                <a:latin typeface="Barlow" pitchFamily="34" charset="0"/>
                <a:ea typeface="Barlow" pitchFamily="34" charset="-122"/>
                <a:cs typeface="Barlow" pitchFamily="34" charset="-120"/>
              </a:rPr>
              <a:t>.</a:t>
            </a:r>
            <a:endParaRPr lang="en-US" sz="1500" dirty="0"/>
          </a:p>
        </p:txBody>
      </p:sp>
      <p:sp>
        <p:nvSpPr>
          <p:cNvPr id="15" name="card"/>
          <p:cNvSpPr/>
          <p:nvPr/>
        </p:nvSpPr>
        <p:spPr>
          <a:xfrm>
            <a:off x="8127797" y="1371600"/>
            <a:ext cx="3515258" cy="4800600"/>
          </a:xfrm>
          <a:prstGeom prst="roundRect">
            <a:avLst>
              <a:gd name="adj" fmla="val 5723"/>
            </a:avLst>
          </a:prstGeom>
          <a:solidFill>
            <a:srgbClr val="FFFFFF"/>
          </a:solidFill>
          <a:ln w="3175">
            <a:solidFill>
              <a:srgbClr val="FFFFFF"/>
            </a:solidFill>
            <a:prstDash val="solid"/>
          </a:ln>
        </p:spPr>
      </p:sp>
      <p:pic>
        <p:nvPicPr>
          <p:cNvPr id="16" name="GATE, TIKET &amp; KATERING" descr="/tmp/claude-0/-home-user-Dom-Manipulation/385e5267-c23e-5c04-80f5-d5fb4946a902/scratchpad/build/img4/r43_baggage.png">    </p:cNvPr>
          <p:cNvPicPr>
            <a:picLocks noChangeAspect="1"/>
          </p:cNvPicPr>
          <p:nvPr/>
        </p:nvPicPr>
        <p:blipFill>
          <a:blip r:embed="rId3"/>
          <a:stretch>
            <a:fillRect/>
          </a:stretch>
        </p:blipFill>
        <p:spPr>
          <a:xfrm>
            <a:off x="8356397" y="1600200"/>
            <a:ext cx="3058058" cy="2293544"/>
          </a:xfrm>
          <a:prstGeom prst="rect">
            <a:avLst/>
          </a:prstGeom>
        </p:spPr>
      </p:pic>
      <p:sp>
        <p:nvSpPr>
          <p:cNvPr id="17" name="heading"/>
          <p:cNvSpPr txBox="1"/>
          <p:nvPr/>
        </p:nvSpPr>
        <p:spPr>
          <a:xfrm>
            <a:off x="8356397" y="4030904"/>
            <a:ext cx="3058058" cy="77724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GATE, TIKET &amp;</a:t>
            </a:r>
            <a:endParaRPr lang="en-US" sz="2600" dirty="0"/>
          </a:p>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KATERING</a:t>
            </a:r>
            <a:endParaRPr lang="en-US" sz="2600" dirty="0"/>
          </a:p>
        </p:txBody>
      </p:sp>
      <p:sp>
        <p:nvSpPr>
          <p:cNvPr id="18" name="text"/>
          <p:cNvSpPr txBox="1"/>
          <p:nvPr/>
        </p:nvSpPr>
        <p:spPr>
          <a:xfrm>
            <a:off x="8356397" y="4853864"/>
            <a:ext cx="3058058" cy="1226896"/>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Kebutuhan staf berubah menurut hari, jam, dan cuaca, termasuk </a:t>
            </a:r>
            <a:r>
              <a:rPr lang="en-US" sz="1500" i="1" dirty="0">
                <a:solidFill>
                  <a:srgbClr val="1A1C14"/>
                </a:solidFill>
                <a:latin typeface="Barlow" pitchFamily="34" charset="0"/>
                <a:ea typeface="Barlow" pitchFamily="34" charset="-122"/>
                <a:cs typeface="Barlow" pitchFamily="34" charset="-120"/>
              </a:rPr>
              <a:t>deicing</a:t>
            </a:r>
            <a:r>
              <a:rPr lang="en-US" sz="1500" dirty="0">
                <a:solidFill>
                  <a:srgbClr val="1A1C14"/>
                </a:solidFill>
                <a:latin typeface="Barlow" pitchFamily="34" charset="0"/>
                <a:ea typeface="Barlow" pitchFamily="34" charset="-122"/>
                <a:cs typeface="Barlow" pitchFamily="34" charset="-120"/>
              </a:rPr>
              <a:t> saat musim dingin.</a:t>
            </a:r>
            <a:endParaRPr lang="en-US" sz="1500" dirty="0"/>
          </a:p>
        </p:txBody>
      </p:sp>
      <p:sp>
        <p:nvSpPr>
          <p:cNvPr id="19" name="text"/>
          <p:cNvSpPr txBox="1"/>
          <p:nvPr/>
        </p:nvSpPr>
        <p:spPr>
          <a:xfrm>
            <a:off x="548640" y="6364224"/>
            <a:ext cx="10058400" cy="347472"/>
          </a:xfrm>
          <a:prstGeom prst="rect">
            <a:avLst/>
          </a:prstGeom>
          <a:noFill/>
          <a:ln/>
        </p:spPr>
        <p:txBody>
          <a:bodyPr wrap="square" lIns="0" tIns="0" rIns="0" bIns="0" rtlCol="0" anchor="t"/>
          <a:lstStyle/>
          <a:p>
            <a:pPr algn="l" indent="0" marL="0">
              <a:buNone/>
            </a:pPr>
            <a:r>
              <a:rPr lang="en-US" sz="1300" i="1" dirty="0">
                <a:solidFill>
                  <a:srgbClr val="1A1C14"/>
                </a:solidFill>
                <a:latin typeface="Barlow" pitchFamily="34" charset="0"/>
                <a:ea typeface="Barlow" pitchFamily="34" charset="-122"/>
                <a:cs typeface="Barlow" pitchFamily="34" charset="-120"/>
              </a:rPr>
              <a:t>Perubahan satu jadwal merambat ke yang lain (ripple effect). Sumber: Heizer et al. (2017), Tabel 15.1.</a:t>
            </a:r>
            <a:endParaRPr lang="en-US" sz="13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2"/>
        </a:solidFill>
      </p:bgPr>
    </p:bg>
    <p:spTree>
      <p:nvGrpSpPr>
        <p:cNvPr id="1" name=""/>
        <p:cNvGrpSpPr/>
        <p:nvPr/>
      </p:nvGrpSpPr>
      <p:grpSpPr>
        <a:xfrm>
          <a:off x="0" y="0"/>
          <a:ext cx="0" cy="0"/>
          <a:chOff x="0" y="0"/>
          <a:chExt cx="0" cy="0"/>
        </a:xfrm>
      </p:grpSpPr>
      <p:sp>
        <p:nvSpPr>
          <p:cNvPr id="3" name="headline"/>
          <p:cNvSpPr txBox="1"/>
          <p:nvPr/>
        </p:nvSpPr>
        <p:spPr>
          <a:xfrm>
            <a:off x="548640" y="502920"/>
            <a:ext cx="6014224" cy="544068"/>
          </a:xfrm>
          <a:prstGeom prst="rect">
            <a:avLst/>
          </a:prstGeom>
          <a:noFill/>
          <a:ln/>
        </p:spPr>
        <p:txBody>
          <a:bodyPr wrap="square" lIns="0" tIns="0" rIns="0" bIns="0" rtlCol="0" anchor="ctr"/>
          <a:lstStyle/>
          <a:p>
            <a:pPr algn="l" indent="0" marL="0">
              <a:buNone/>
            </a:pPr>
            <a:r>
              <a:rPr lang="en-US" sz="4200" dirty="0">
                <a:solidFill>
                  <a:srgbClr val="1A1C14"/>
                </a:solidFill>
                <a:latin typeface="Barlow Condensed ExtraBold" pitchFamily="34" charset="0"/>
                <a:ea typeface="Barlow Condensed ExtraBold" pitchFamily="34" charset="-122"/>
                <a:cs typeface="Barlow Condensed ExtraBold" pitchFamily="34" charset="-120"/>
              </a:rPr>
              <a:t>SATU HARI BADAI DI SEATTLE:</a:t>
            </a:r>
            <a:endParaRPr lang="en-US" sz="4200" dirty="0"/>
          </a:p>
        </p:txBody>
      </p:sp>
      <p:sp>
        <p:nvSpPr>
          <p:cNvPr id="4" name="highlight"/>
          <p:cNvSpPr/>
          <p:nvPr/>
        </p:nvSpPr>
        <p:spPr>
          <a:xfrm>
            <a:off x="6395224" y="524683"/>
            <a:ext cx="4875824" cy="500543"/>
          </a:xfrm>
          <a:prstGeom prst="roundRect">
            <a:avLst>
              <a:gd name="adj" fmla="val 14615"/>
            </a:avLst>
          </a:prstGeom>
          <a:solidFill>
            <a:srgbClr val="F1681D"/>
          </a:solidFill>
          <a:ln w="3175">
            <a:solidFill>
              <a:srgbClr val="F1681D"/>
            </a:solidFill>
            <a:prstDash val="solid"/>
          </a:ln>
        </p:spPr>
      </p:sp>
      <p:sp>
        <p:nvSpPr>
          <p:cNvPr id="5" name="headline"/>
          <p:cNvSpPr txBox="1"/>
          <p:nvPr/>
        </p:nvSpPr>
        <p:spPr>
          <a:xfrm>
            <a:off x="6491236" y="502920"/>
            <a:ext cx="4958120" cy="544068"/>
          </a:xfrm>
          <a:prstGeom prst="rect">
            <a:avLst/>
          </a:prstGeom>
          <a:noFill/>
          <a:ln/>
        </p:spPr>
        <p:txBody>
          <a:bodyPr wrap="square" lIns="0" tIns="0" rIns="0" bIns="0" rtlCol="0" anchor="ctr"/>
          <a:lstStyle/>
          <a:p>
            <a:pPr algn="l" indent="0" marL="0">
              <a:buNone/>
            </a:pPr>
            <a:r>
              <a:rPr lang="en-US" sz="4200" dirty="0">
                <a:solidFill>
                  <a:srgbClr val="FFFFFF"/>
                </a:solidFill>
                <a:latin typeface="Barlow Condensed ExtraBold" pitchFamily="34" charset="0"/>
                <a:ea typeface="Barlow Condensed ExtraBold" pitchFamily="34" charset="-122"/>
                <a:cs typeface="Barlow Condensed ExtraBold" pitchFamily="34" charset="-120"/>
              </a:rPr>
              <a:t>JADWAL DIREVISI 5 KALI</a:t>
            </a:r>
            <a:endParaRPr lang="en-US" sz="4200" dirty="0"/>
          </a:p>
        </p:txBody>
      </p:sp>
      <p:sp>
        <p:nvSpPr>
          <p:cNvPr id="6" name="line"/>
          <p:cNvSpPr/>
          <p:nvPr/>
        </p:nvSpPr>
        <p:spPr>
          <a:xfrm>
            <a:off x="1584930" y="1627632"/>
            <a:ext cx="9021836" cy="0"/>
          </a:xfrm>
          <a:prstGeom prst="line">
            <a:avLst/>
          </a:prstGeom>
          <a:noFill/>
          <a:ln w="31750">
            <a:solidFill>
              <a:srgbClr val="1A1C14"/>
            </a:solidFill>
            <a:prstDash val="solid"/>
          </a:ln>
        </p:spPr>
      </p:sp>
      <p:sp>
        <p:nvSpPr>
          <p:cNvPr id="7" name="dot"/>
          <p:cNvSpPr/>
          <p:nvPr/>
        </p:nvSpPr>
        <p:spPr>
          <a:xfrm>
            <a:off x="1475202" y="1517904"/>
            <a:ext cx="219456" cy="219456"/>
          </a:xfrm>
          <a:prstGeom prst="ellipse">
            <a:avLst/>
          </a:prstGeom>
          <a:solidFill>
            <a:srgbClr val="F1681D"/>
          </a:solidFill>
          <a:ln w="3175">
            <a:solidFill>
              <a:srgbClr val="F1681D"/>
            </a:solidFill>
            <a:prstDash val="solid"/>
          </a:ln>
        </p:spPr>
      </p:sp>
      <p:sp>
        <p:nvSpPr>
          <p:cNvPr id="8" name="card"/>
          <p:cNvSpPr/>
          <p:nvPr/>
        </p:nvSpPr>
        <p:spPr>
          <a:xfrm>
            <a:off x="548640" y="1920240"/>
            <a:ext cx="2072579" cy="3246120"/>
          </a:xfrm>
          <a:prstGeom prst="roundRect">
            <a:avLst>
              <a:gd name="adj" fmla="val 9706"/>
            </a:avLst>
          </a:prstGeom>
          <a:solidFill>
            <a:srgbClr val="FFFFFF"/>
          </a:solidFill>
          <a:ln w="3175">
            <a:solidFill>
              <a:srgbClr val="FFFFFF"/>
            </a:solidFill>
            <a:prstDash val="solid"/>
          </a:ln>
        </p:spPr>
      </p:sp>
      <p:sp>
        <p:nvSpPr>
          <p:cNvPr id="9" name="tag"/>
          <p:cNvSpPr/>
          <p:nvPr/>
        </p:nvSpPr>
        <p:spPr>
          <a:xfrm>
            <a:off x="1036290" y="1737360"/>
            <a:ext cx="1097280" cy="365760"/>
          </a:xfrm>
          <a:prstGeom prst="roundRect">
            <a:avLst>
              <a:gd name="adj" fmla="val 50000"/>
            </a:avLst>
          </a:prstGeom>
          <a:solidFill>
            <a:srgbClr val="1A1C14"/>
          </a:solidFill>
          <a:ln w="3175">
            <a:solidFill>
              <a:srgbClr val="1A1C14"/>
            </a:solidFill>
            <a:prstDash val="solid"/>
          </a:ln>
        </p:spPr>
      </p:sp>
      <p:sp>
        <p:nvSpPr>
          <p:cNvPr id="10" name="tag label"/>
          <p:cNvSpPr txBox="1"/>
          <p:nvPr/>
        </p:nvSpPr>
        <p:spPr>
          <a:xfrm>
            <a:off x="1036290" y="1737360"/>
            <a:ext cx="1097280" cy="365760"/>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Barlow Condensed" pitchFamily="34" charset="0"/>
                <a:ea typeface="Barlow Condensed" pitchFamily="34" charset="-122"/>
                <a:cs typeface="Barlow Condensed" pitchFamily="34" charset="-120"/>
              </a:rPr>
              <a:t>04.00</a:t>
            </a:r>
            <a:endParaRPr lang="en-US" sz="1500" dirty="0"/>
          </a:p>
        </p:txBody>
      </p:sp>
      <p:sp>
        <p:nvSpPr>
          <p:cNvPr id="11" name="heading"/>
          <p:cNvSpPr txBox="1"/>
          <p:nvPr/>
        </p:nvSpPr>
        <p:spPr>
          <a:xfrm>
            <a:off x="731520" y="2286000"/>
            <a:ext cx="1706819" cy="274320"/>
          </a:xfrm>
          <a:prstGeom prst="rect">
            <a:avLst/>
          </a:prstGeom>
          <a:noFill/>
          <a:ln/>
        </p:spPr>
        <p:txBody>
          <a:bodyPr wrap="square" lIns="0" tIns="0" rIns="0" bIns="0" rtlCol="0" anchor="t"/>
          <a:lstStyle/>
          <a:p>
            <a:pPr algn="l" indent="0" marL="0">
              <a:lnSpc>
                <a:spcPct val="90000"/>
              </a:lnSpc>
              <a:buNone/>
            </a:pPr>
            <a:r>
              <a:rPr lang="en-US" sz="1600" b="1" spc="100" kern="0" dirty="0">
                <a:solidFill>
                  <a:srgbClr val="86A90A"/>
                </a:solidFill>
                <a:latin typeface="Barlow Condensed" pitchFamily="34" charset="0"/>
                <a:ea typeface="Barlow Condensed" pitchFamily="34" charset="-122"/>
                <a:cs typeface="Barlow Condensed" pitchFamily="34" charset="-120"/>
              </a:rPr>
              <a:t>PRAKIRAAN</a:t>
            </a:r>
            <a:endParaRPr lang="en-US" sz="1600" dirty="0"/>
          </a:p>
        </p:txBody>
      </p:sp>
      <p:sp>
        <p:nvSpPr>
          <p:cNvPr id="12" name="text"/>
          <p:cNvSpPr txBox="1"/>
          <p:nvPr/>
        </p:nvSpPr>
        <p:spPr>
          <a:xfrm>
            <a:off x="731520" y="2578608"/>
            <a:ext cx="1706819" cy="86868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Hujan, kemungkinan salju ringan.</a:t>
            </a:r>
            <a:endParaRPr lang="en-US" sz="1450" dirty="0"/>
          </a:p>
        </p:txBody>
      </p:sp>
      <p:sp>
        <p:nvSpPr>
          <p:cNvPr id="13" name="heading"/>
          <p:cNvSpPr txBox="1"/>
          <p:nvPr/>
        </p:nvSpPr>
        <p:spPr>
          <a:xfrm>
            <a:off x="731520" y="3474720"/>
            <a:ext cx="1706819" cy="274320"/>
          </a:xfrm>
          <a:prstGeom prst="rect">
            <a:avLst/>
          </a:prstGeom>
          <a:noFill/>
          <a:ln/>
        </p:spPr>
        <p:txBody>
          <a:bodyPr wrap="square" lIns="0" tIns="0" rIns="0" bIns="0" rtlCol="0" anchor="t"/>
          <a:lstStyle/>
          <a:p>
            <a:pPr algn="l" indent="0" marL="0">
              <a:lnSpc>
                <a:spcPct val="90000"/>
              </a:lnSpc>
              <a:buNone/>
            </a:pPr>
            <a:r>
              <a:rPr lang="en-US" sz="1600" b="1" spc="100" kern="0" dirty="0">
                <a:solidFill>
                  <a:srgbClr val="F1681D"/>
                </a:solidFill>
                <a:latin typeface="Barlow Condensed" pitchFamily="34" charset="0"/>
                <a:ea typeface="Barlow Condensed" pitchFamily="34" charset="-122"/>
                <a:cs typeface="Barlow Condensed" pitchFamily="34" charset="-120"/>
              </a:rPr>
              <a:t>TINDAKAN</a:t>
            </a:r>
            <a:endParaRPr lang="en-US" sz="1600" dirty="0"/>
          </a:p>
        </p:txBody>
      </p:sp>
      <p:sp>
        <p:nvSpPr>
          <p:cNvPr id="14" name="text"/>
          <p:cNvSpPr txBox="1"/>
          <p:nvPr/>
        </p:nvSpPr>
        <p:spPr>
          <a:xfrm>
            <a:off x="731520" y="3767328"/>
            <a:ext cx="1706819" cy="137160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Bahas status pesawat dan kemungkinan pembatalan.</a:t>
            </a:r>
            <a:endParaRPr lang="en-US" sz="1450" dirty="0"/>
          </a:p>
        </p:txBody>
      </p:sp>
      <p:sp>
        <p:nvSpPr>
          <p:cNvPr id="15" name="dot"/>
          <p:cNvSpPr/>
          <p:nvPr/>
        </p:nvSpPr>
        <p:spPr>
          <a:xfrm>
            <a:off x="3730661" y="1517904"/>
            <a:ext cx="219456" cy="219456"/>
          </a:xfrm>
          <a:prstGeom prst="ellipse">
            <a:avLst/>
          </a:prstGeom>
          <a:solidFill>
            <a:srgbClr val="F1681D"/>
          </a:solidFill>
          <a:ln w="3175">
            <a:solidFill>
              <a:srgbClr val="F1681D"/>
            </a:solidFill>
            <a:prstDash val="solid"/>
          </a:ln>
        </p:spPr>
      </p:sp>
      <p:sp>
        <p:nvSpPr>
          <p:cNvPr id="16" name="card"/>
          <p:cNvSpPr/>
          <p:nvPr/>
        </p:nvSpPr>
        <p:spPr>
          <a:xfrm>
            <a:off x="2804099" y="1920240"/>
            <a:ext cx="2072579" cy="3246120"/>
          </a:xfrm>
          <a:prstGeom prst="roundRect">
            <a:avLst>
              <a:gd name="adj" fmla="val 9706"/>
            </a:avLst>
          </a:prstGeom>
          <a:solidFill>
            <a:srgbClr val="FFFFFF"/>
          </a:solidFill>
          <a:ln w="3175">
            <a:solidFill>
              <a:srgbClr val="FFFFFF"/>
            </a:solidFill>
            <a:prstDash val="solid"/>
          </a:ln>
        </p:spPr>
      </p:sp>
      <p:sp>
        <p:nvSpPr>
          <p:cNvPr id="17" name="tag"/>
          <p:cNvSpPr/>
          <p:nvPr/>
        </p:nvSpPr>
        <p:spPr>
          <a:xfrm>
            <a:off x="3291749" y="1737360"/>
            <a:ext cx="1097280" cy="365760"/>
          </a:xfrm>
          <a:prstGeom prst="roundRect">
            <a:avLst>
              <a:gd name="adj" fmla="val 50000"/>
            </a:avLst>
          </a:prstGeom>
          <a:solidFill>
            <a:srgbClr val="1A1C14"/>
          </a:solidFill>
          <a:ln w="3175">
            <a:solidFill>
              <a:srgbClr val="1A1C14"/>
            </a:solidFill>
            <a:prstDash val="solid"/>
          </a:ln>
        </p:spPr>
      </p:sp>
      <p:sp>
        <p:nvSpPr>
          <p:cNvPr id="18" name="tag label"/>
          <p:cNvSpPr txBox="1"/>
          <p:nvPr/>
        </p:nvSpPr>
        <p:spPr>
          <a:xfrm>
            <a:off x="3291749" y="1737360"/>
            <a:ext cx="1097280" cy="365760"/>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Barlow Condensed" pitchFamily="34" charset="0"/>
                <a:ea typeface="Barlow Condensed" pitchFamily="34" charset="-122"/>
                <a:cs typeface="Barlow Condensed" pitchFamily="34" charset="-120"/>
              </a:rPr>
              <a:t>10.00</a:t>
            </a:r>
            <a:endParaRPr lang="en-US" sz="1500" dirty="0"/>
          </a:p>
        </p:txBody>
      </p:sp>
      <p:sp>
        <p:nvSpPr>
          <p:cNvPr id="19" name="heading"/>
          <p:cNvSpPr txBox="1"/>
          <p:nvPr/>
        </p:nvSpPr>
        <p:spPr>
          <a:xfrm>
            <a:off x="2986979" y="2286000"/>
            <a:ext cx="1706819" cy="274320"/>
          </a:xfrm>
          <a:prstGeom prst="rect">
            <a:avLst/>
          </a:prstGeom>
          <a:noFill/>
          <a:ln/>
        </p:spPr>
        <p:txBody>
          <a:bodyPr wrap="square" lIns="0" tIns="0" rIns="0" bIns="0" rtlCol="0" anchor="t"/>
          <a:lstStyle/>
          <a:p>
            <a:pPr algn="l" indent="0" marL="0">
              <a:lnSpc>
                <a:spcPct val="90000"/>
              </a:lnSpc>
              <a:buNone/>
            </a:pPr>
            <a:r>
              <a:rPr lang="en-US" sz="1600" b="1" spc="100" kern="0" dirty="0">
                <a:solidFill>
                  <a:srgbClr val="86A90A"/>
                </a:solidFill>
                <a:latin typeface="Barlow Condensed" pitchFamily="34" charset="0"/>
                <a:ea typeface="Barlow Condensed" pitchFamily="34" charset="-122"/>
                <a:cs typeface="Barlow Condensed" pitchFamily="34" charset="-120"/>
              </a:rPr>
              <a:t>PRAKIRAAN</a:t>
            </a:r>
            <a:endParaRPr lang="en-US" sz="1600" dirty="0"/>
          </a:p>
        </p:txBody>
      </p:sp>
      <p:sp>
        <p:nvSpPr>
          <p:cNvPr id="20" name="text"/>
          <p:cNvSpPr txBox="1"/>
          <p:nvPr/>
        </p:nvSpPr>
        <p:spPr>
          <a:xfrm>
            <a:off x="2986979" y="2578608"/>
            <a:ext cx="1706819" cy="86868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Hujan beku setelah pukul 17.00.</a:t>
            </a:r>
            <a:endParaRPr lang="en-US" sz="1450" dirty="0"/>
          </a:p>
        </p:txBody>
      </p:sp>
      <p:sp>
        <p:nvSpPr>
          <p:cNvPr id="21" name="heading"/>
          <p:cNvSpPr txBox="1"/>
          <p:nvPr/>
        </p:nvSpPr>
        <p:spPr>
          <a:xfrm>
            <a:off x="2986979" y="3474720"/>
            <a:ext cx="1706819" cy="274320"/>
          </a:xfrm>
          <a:prstGeom prst="rect">
            <a:avLst/>
          </a:prstGeom>
          <a:noFill/>
          <a:ln/>
        </p:spPr>
        <p:txBody>
          <a:bodyPr wrap="square" lIns="0" tIns="0" rIns="0" bIns="0" rtlCol="0" anchor="t"/>
          <a:lstStyle/>
          <a:p>
            <a:pPr algn="l" indent="0" marL="0">
              <a:lnSpc>
                <a:spcPct val="90000"/>
              </a:lnSpc>
              <a:buNone/>
            </a:pPr>
            <a:r>
              <a:rPr lang="en-US" sz="1600" b="1" spc="100" kern="0" dirty="0">
                <a:solidFill>
                  <a:srgbClr val="F1681D"/>
                </a:solidFill>
                <a:latin typeface="Barlow Condensed" pitchFamily="34" charset="0"/>
                <a:ea typeface="Barlow Condensed" pitchFamily="34" charset="-122"/>
                <a:cs typeface="Barlow Condensed" pitchFamily="34" charset="-120"/>
              </a:rPr>
              <a:t>TINDAKAN</a:t>
            </a:r>
            <a:endParaRPr lang="en-US" sz="1600" dirty="0"/>
          </a:p>
        </p:txBody>
      </p:sp>
      <p:sp>
        <p:nvSpPr>
          <p:cNvPr id="22" name="text"/>
          <p:cNvSpPr txBox="1"/>
          <p:nvPr/>
        </p:nvSpPr>
        <p:spPr>
          <a:xfrm>
            <a:off x="2986979" y="3767328"/>
            <a:ext cx="1706819" cy="137160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Siapkan truk </a:t>
            </a:r>
            <a:r>
              <a:rPr lang="en-US" sz="1450" i="1" dirty="0">
                <a:solidFill>
                  <a:srgbClr val="1A1C14"/>
                </a:solidFill>
                <a:latin typeface="Barlow" pitchFamily="34" charset="0"/>
                <a:ea typeface="Barlow" pitchFamily="34" charset="-122"/>
                <a:cs typeface="Barlow" pitchFamily="34" charset="-120"/>
              </a:rPr>
              <a:t>deicing</a:t>
            </a:r>
            <a:r>
              <a:rPr lang="en-US" sz="1450" dirty="0">
                <a:solidFill>
                  <a:srgbClr val="1A1C14"/>
                </a:solidFill>
                <a:latin typeface="Barlow" pitchFamily="34" charset="0"/>
                <a:ea typeface="Barlow" pitchFamily="34" charset="-122"/>
                <a:cs typeface="Barlow" pitchFamily="34" charset="-120"/>
              </a:rPr>
              <a:t>; rencanakan pembatalan 50–80% penerbangan setelah 18.00.</a:t>
            </a:r>
            <a:endParaRPr lang="en-US" sz="1450" dirty="0"/>
          </a:p>
        </p:txBody>
      </p:sp>
      <p:sp>
        <p:nvSpPr>
          <p:cNvPr id="23" name="dot"/>
          <p:cNvSpPr/>
          <p:nvPr/>
        </p:nvSpPr>
        <p:spPr>
          <a:xfrm>
            <a:off x="5986120" y="1517904"/>
            <a:ext cx="219456" cy="219456"/>
          </a:xfrm>
          <a:prstGeom prst="ellipse">
            <a:avLst/>
          </a:prstGeom>
          <a:solidFill>
            <a:srgbClr val="F1681D"/>
          </a:solidFill>
          <a:ln w="3175">
            <a:solidFill>
              <a:srgbClr val="F1681D"/>
            </a:solidFill>
            <a:prstDash val="solid"/>
          </a:ln>
        </p:spPr>
      </p:sp>
      <p:sp>
        <p:nvSpPr>
          <p:cNvPr id="24" name="card"/>
          <p:cNvSpPr/>
          <p:nvPr/>
        </p:nvSpPr>
        <p:spPr>
          <a:xfrm>
            <a:off x="5059558" y="1920240"/>
            <a:ext cx="2072579" cy="3246120"/>
          </a:xfrm>
          <a:prstGeom prst="roundRect">
            <a:avLst>
              <a:gd name="adj" fmla="val 9706"/>
            </a:avLst>
          </a:prstGeom>
          <a:solidFill>
            <a:srgbClr val="FFFFFF"/>
          </a:solidFill>
          <a:ln w="3175">
            <a:solidFill>
              <a:srgbClr val="FFFFFF"/>
            </a:solidFill>
            <a:prstDash val="solid"/>
          </a:ln>
        </p:spPr>
      </p:sp>
      <p:sp>
        <p:nvSpPr>
          <p:cNvPr id="25" name="tag"/>
          <p:cNvSpPr/>
          <p:nvPr/>
        </p:nvSpPr>
        <p:spPr>
          <a:xfrm>
            <a:off x="5547208" y="1737360"/>
            <a:ext cx="1097280" cy="365760"/>
          </a:xfrm>
          <a:prstGeom prst="roundRect">
            <a:avLst>
              <a:gd name="adj" fmla="val 50000"/>
            </a:avLst>
          </a:prstGeom>
          <a:solidFill>
            <a:srgbClr val="1A1C14"/>
          </a:solidFill>
          <a:ln w="3175">
            <a:solidFill>
              <a:srgbClr val="1A1C14"/>
            </a:solidFill>
            <a:prstDash val="solid"/>
          </a:ln>
        </p:spPr>
      </p:sp>
      <p:sp>
        <p:nvSpPr>
          <p:cNvPr id="26" name="tag label"/>
          <p:cNvSpPr txBox="1"/>
          <p:nvPr/>
        </p:nvSpPr>
        <p:spPr>
          <a:xfrm>
            <a:off x="5547208" y="1737360"/>
            <a:ext cx="1097280" cy="365760"/>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Barlow Condensed" pitchFamily="34" charset="0"/>
                <a:ea typeface="Barlow Condensed" pitchFamily="34" charset="-122"/>
                <a:cs typeface="Barlow Condensed" pitchFamily="34" charset="-120"/>
              </a:rPr>
              <a:t>13.30</a:t>
            </a:r>
            <a:endParaRPr lang="en-US" sz="1500" dirty="0"/>
          </a:p>
        </p:txBody>
      </p:sp>
      <p:sp>
        <p:nvSpPr>
          <p:cNvPr id="27" name="heading"/>
          <p:cNvSpPr txBox="1"/>
          <p:nvPr/>
        </p:nvSpPr>
        <p:spPr>
          <a:xfrm>
            <a:off x="5242438" y="2286000"/>
            <a:ext cx="1706819" cy="274320"/>
          </a:xfrm>
          <a:prstGeom prst="rect">
            <a:avLst/>
          </a:prstGeom>
          <a:noFill/>
          <a:ln/>
        </p:spPr>
        <p:txBody>
          <a:bodyPr wrap="square" lIns="0" tIns="0" rIns="0" bIns="0" rtlCol="0" anchor="t"/>
          <a:lstStyle/>
          <a:p>
            <a:pPr algn="l" indent="0" marL="0">
              <a:lnSpc>
                <a:spcPct val="90000"/>
              </a:lnSpc>
              <a:buNone/>
            </a:pPr>
            <a:r>
              <a:rPr lang="en-US" sz="1600" b="1" spc="100" kern="0" dirty="0">
                <a:solidFill>
                  <a:srgbClr val="86A90A"/>
                </a:solidFill>
                <a:latin typeface="Barlow Condensed" pitchFamily="34" charset="0"/>
                <a:ea typeface="Barlow Condensed" pitchFamily="34" charset="-122"/>
                <a:cs typeface="Barlow Condensed" pitchFamily="34" charset="-120"/>
              </a:rPr>
              <a:t>PRAKIRAAN</a:t>
            </a:r>
            <a:endParaRPr lang="en-US" sz="1600" dirty="0"/>
          </a:p>
        </p:txBody>
      </p:sp>
      <p:sp>
        <p:nvSpPr>
          <p:cNvPr id="28" name="text"/>
          <p:cNvSpPr txBox="1"/>
          <p:nvPr/>
        </p:nvSpPr>
        <p:spPr>
          <a:xfrm>
            <a:off x="5242438" y="2578608"/>
            <a:ext cx="1706819" cy="86868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Hujan menjadi salju.</a:t>
            </a:r>
            <a:endParaRPr lang="en-US" sz="1450" dirty="0"/>
          </a:p>
        </p:txBody>
      </p:sp>
      <p:sp>
        <p:nvSpPr>
          <p:cNvPr id="29" name="heading"/>
          <p:cNvSpPr txBox="1"/>
          <p:nvPr/>
        </p:nvSpPr>
        <p:spPr>
          <a:xfrm>
            <a:off x="5242438" y="3474720"/>
            <a:ext cx="1706819" cy="274320"/>
          </a:xfrm>
          <a:prstGeom prst="rect">
            <a:avLst/>
          </a:prstGeom>
          <a:noFill/>
          <a:ln/>
        </p:spPr>
        <p:txBody>
          <a:bodyPr wrap="square" lIns="0" tIns="0" rIns="0" bIns="0" rtlCol="0" anchor="t"/>
          <a:lstStyle/>
          <a:p>
            <a:pPr algn="l" indent="0" marL="0">
              <a:lnSpc>
                <a:spcPct val="90000"/>
              </a:lnSpc>
              <a:buNone/>
            </a:pPr>
            <a:r>
              <a:rPr lang="en-US" sz="1600" b="1" spc="100" kern="0" dirty="0">
                <a:solidFill>
                  <a:srgbClr val="F1681D"/>
                </a:solidFill>
                <a:latin typeface="Barlow Condensed" pitchFamily="34" charset="0"/>
                <a:ea typeface="Barlow Condensed" pitchFamily="34" charset="-122"/>
                <a:cs typeface="Barlow Condensed" pitchFamily="34" charset="-120"/>
              </a:rPr>
              <a:t>TINDAKAN</a:t>
            </a:r>
            <a:endParaRPr lang="en-US" sz="1600" dirty="0"/>
          </a:p>
        </p:txBody>
      </p:sp>
      <p:sp>
        <p:nvSpPr>
          <p:cNvPr id="30" name="text"/>
          <p:cNvSpPr txBox="1"/>
          <p:nvPr/>
        </p:nvSpPr>
        <p:spPr>
          <a:xfrm>
            <a:off x="5242438" y="3767328"/>
            <a:ext cx="1706819" cy="137160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Batalkan separuh penerbangan 18.00–10.00; beri tahu penumpang; alihkan rute.</a:t>
            </a:r>
            <a:endParaRPr lang="en-US" sz="1450" dirty="0"/>
          </a:p>
        </p:txBody>
      </p:sp>
      <p:sp>
        <p:nvSpPr>
          <p:cNvPr id="31" name="dot"/>
          <p:cNvSpPr/>
          <p:nvPr/>
        </p:nvSpPr>
        <p:spPr>
          <a:xfrm>
            <a:off x="8241579" y="1517904"/>
            <a:ext cx="219456" cy="219456"/>
          </a:xfrm>
          <a:prstGeom prst="ellipse">
            <a:avLst/>
          </a:prstGeom>
          <a:solidFill>
            <a:srgbClr val="F1681D"/>
          </a:solidFill>
          <a:ln w="3175">
            <a:solidFill>
              <a:srgbClr val="F1681D"/>
            </a:solidFill>
            <a:prstDash val="solid"/>
          </a:ln>
        </p:spPr>
      </p:sp>
      <p:sp>
        <p:nvSpPr>
          <p:cNvPr id="32" name="card"/>
          <p:cNvSpPr/>
          <p:nvPr/>
        </p:nvSpPr>
        <p:spPr>
          <a:xfrm>
            <a:off x="7315017" y="1920240"/>
            <a:ext cx="2072579" cy="3246120"/>
          </a:xfrm>
          <a:prstGeom prst="roundRect">
            <a:avLst>
              <a:gd name="adj" fmla="val 9706"/>
            </a:avLst>
          </a:prstGeom>
          <a:solidFill>
            <a:srgbClr val="FFFFFF"/>
          </a:solidFill>
          <a:ln w="3175">
            <a:solidFill>
              <a:srgbClr val="FFFFFF"/>
            </a:solidFill>
            <a:prstDash val="solid"/>
          </a:ln>
        </p:spPr>
      </p:sp>
      <p:sp>
        <p:nvSpPr>
          <p:cNvPr id="33" name="tag"/>
          <p:cNvSpPr/>
          <p:nvPr/>
        </p:nvSpPr>
        <p:spPr>
          <a:xfrm>
            <a:off x="7802667" y="1737360"/>
            <a:ext cx="1097280" cy="365760"/>
          </a:xfrm>
          <a:prstGeom prst="roundRect">
            <a:avLst>
              <a:gd name="adj" fmla="val 50000"/>
            </a:avLst>
          </a:prstGeom>
          <a:solidFill>
            <a:srgbClr val="1A1C14"/>
          </a:solidFill>
          <a:ln w="3175">
            <a:solidFill>
              <a:srgbClr val="1A1C14"/>
            </a:solidFill>
            <a:prstDash val="solid"/>
          </a:ln>
        </p:spPr>
      </p:sp>
      <p:sp>
        <p:nvSpPr>
          <p:cNvPr id="34" name="tag label"/>
          <p:cNvSpPr txBox="1"/>
          <p:nvPr/>
        </p:nvSpPr>
        <p:spPr>
          <a:xfrm>
            <a:off x="7802667" y="1737360"/>
            <a:ext cx="1097280" cy="365760"/>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Barlow Condensed" pitchFamily="34" charset="0"/>
                <a:ea typeface="Barlow Condensed" pitchFamily="34" charset="-122"/>
                <a:cs typeface="Barlow Condensed" pitchFamily="34" charset="-120"/>
              </a:rPr>
              <a:t>17.00</a:t>
            </a:r>
            <a:endParaRPr lang="en-US" sz="1500" dirty="0"/>
          </a:p>
        </p:txBody>
      </p:sp>
      <p:sp>
        <p:nvSpPr>
          <p:cNvPr id="35" name="heading"/>
          <p:cNvSpPr txBox="1"/>
          <p:nvPr/>
        </p:nvSpPr>
        <p:spPr>
          <a:xfrm>
            <a:off x="7497897" y="2286000"/>
            <a:ext cx="1706819" cy="274320"/>
          </a:xfrm>
          <a:prstGeom prst="rect">
            <a:avLst/>
          </a:prstGeom>
          <a:noFill/>
          <a:ln/>
        </p:spPr>
        <p:txBody>
          <a:bodyPr wrap="square" lIns="0" tIns="0" rIns="0" bIns="0" rtlCol="0" anchor="t"/>
          <a:lstStyle/>
          <a:p>
            <a:pPr algn="l" indent="0" marL="0">
              <a:lnSpc>
                <a:spcPct val="90000"/>
              </a:lnSpc>
              <a:buNone/>
            </a:pPr>
            <a:r>
              <a:rPr lang="en-US" sz="1600" b="1" spc="100" kern="0" dirty="0">
                <a:solidFill>
                  <a:srgbClr val="86A90A"/>
                </a:solidFill>
                <a:latin typeface="Barlow Condensed" pitchFamily="34" charset="0"/>
                <a:ea typeface="Barlow Condensed" pitchFamily="34" charset="-122"/>
                <a:cs typeface="Barlow Condensed" pitchFamily="34" charset="-120"/>
              </a:rPr>
              <a:t>PRAKIRAAN</a:t>
            </a:r>
            <a:endParaRPr lang="en-US" sz="1600" dirty="0"/>
          </a:p>
        </p:txBody>
      </p:sp>
      <p:sp>
        <p:nvSpPr>
          <p:cNvPr id="36" name="text"/>
          <p:cNvSpPr txBox="1"/>
          <p:nvPr/>
        </p:nvSpPr>
        <p:spPr>
          <a:xfrm>
            <a:off x="7497897" y="2578608"/>
            <a:ext cx="1706819" cy="86868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Salju lebih sedikit dari perkiraan.</a:t>
            </a:r>
            <a:endParaRPr lang="en-US" sz="1450" dirty="0"/>
          </a:p>
        </p:txBody>
      </p:sp>
      <p:sp>
        <p:nvSpPr>
          <p:cNvPr id="37" name="heading"/>
          <p:cNvSpPr txBox="1"/>
          <p:nvPr/>
        </p:nvSpPr>
        <p:spPr>
          <a:xfrm>
            <a:off x="7497897" y="3474720"/>
            <a:ext cx="1706819" cy="274320"/>
          </a:xfrm>
          <a:prstGeom prst="rect">
            <a:avLst/>
          </a:prstGeom>
          <a:noFill/>
          <a:ln/>
        </p:spPr>
        <p:txBody>
          <a:bodyPr wrap="square" lIns="0" tIns="0" rIns="0" bIns="0" rtlCol="0" anchor="t"/>
          <a:lstStyle/>
          <a:p>
            <a:pPr algn="l" indent="0" marL="0">
              <a:lnSpc>
                <a:spcPct val="90000"/>
              </a:lnSpc>
              <a:buNone/>
            </a:pPr>
            <a:r>
              <a:rPr lang="en-US" sz="1600" b="1" spc="100" kern="0" dirty="0">
                <a:solidFill>
                  <a:srgbClr val="F1681D"/>
                </a:solidFill>
                <a:latin typeface="Barlow Condensed" pitchFamily="34" charset="0"/>
                <a:ea typeface="Barlow Condensed" pitchFamily="34" charset="-122"/>
                <a:cs typeface="Barlow Condensed" pitchFamily="34" charset="-120"/>
              </a:rPr>
              <a:t>TINDAKAN</a:t>
            </a:r>
            <a:endParaRPr lang="en-US" sz="1600" dirty="0"/>
          </a:p>
        </p:txBody>
      </p:sp>
      <p:sp>
        <p:nvSpPr>
          <p:cNvPr id="38" name="text"/>
          <p:cNvSpPr txBox="1"/>
          <p:nvPr/>
        </p:nvSpPr>
        <p:spPr>
          <a:xfrm>
            <a:off x="7497897" y="3767328"/>
            <a:ext cx="1706819" cy="137160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Terus hubungi penumpang; atur penerbangan alternatif.</a:t>
            </a:r>
            <a:endParaRPr lang="en-US" sz="1450" dirty="0"/>
          </a:p>
        </p:txBody>
      </p:sp>
      <p:sp>
        <p:nvSpPr>
          <p:cNvPr id="39" name="dot"/>
          <p:cNvSpPr/>
          <p:nvPr/>
        </p:nvSpPr>
        <p:spPr>
          <a:xfrm>
            <a:off x="10497038" y="1517904"/>
            <a:ext cx="219456" cy="219456"/>
          </a:xfrm>
          <a:prstGeom prst="ellipse">
            <a:avLst/>
          </a:prstGeom>
          <a:solidFill>
            <a:srgbClr val="F1681D"/>
          </a:solidFill>
          <a:ln w="3175">
            <a:solidFill>
              <a:srgbClr val="F1681D"/>
            </a:solidFill>
            <a:prstDash val="solid"/>
          </a:ln>
        </p:spPr>
      </p:sp>
      <p:sp>
        <p:nvSpPr>
          <p:cNvPr id="40" name="card"/>
          <p:cNvSpPr/>
          <p:nvPr/>
        </p:nvSpPr>
        <p:spPr>
          <a:xfrm>
            <a:off x="9570476" y="1920240"/>
            <a:ext cx="2072579" cy="3246120"/>
          </a:xfrm>
          <a:prstGeom prst="roundRect">
            <a:avLst>
              <a:gd name="adj" fmla="val 9706"/>
            </a:avLst>
          </a:prstGeom>
          <a:solidFill>
            <a:srgbClr val="FFFFFF"/>
          </a:solidFill>
          <a:ln w="3175">
            <a:solidFill>
              <a:srgbClr val="FFFFFF"/>
            </a:solidFill>
            <a:prstDash val="solid"/>
          </a:ln>
        </p:spPr>
      </p:sp>
      <p:sp>
        <p:nvSpPr>
          <p:cNvPr id="41" name="tag"/>
          <p:cNvSpPr/>
          <p:nvPr/>
        </p:nvSpPr>
        <p:spPr>
          <a:xfrm>
            <a:off x="10058126" y="1737360"/>
            <a:ext cx="1097280" cy="365760"/>
          </a:xfrm>
          <a:prstGeom prst="roundRect">
            <a:avLst>
              <a:gd name="adj" fmla="val 50000"/>
            </a:avLst>
          </a:prstGeom>
          <a:solidFill>
            <a:srgbClr val="1A1C14"/>
          </a:solidFill>
          <a:ln w="3175">
            <a:solidFill>
              <a:srgbClr val="1A1C14"/>
            </a:solidFill>
            <a:prstDash val="solid"/>
          </a:ln>
        </p:spPr>
      </p:sp>
      <p:sp>
        <p:nvSpPr>
          <p:cNvPr id="42" name="tag label"/>
          <p:cNvSpPr txBox="1"/>
          <p:nvPr/>
        </p:nvSpPr>
        <p:spPr>
          <a:xfrm>
            <a:off x="10058126" y="1737360"/>
            <a:ext cx="1097280" cy="365760"/>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Barlow Condensed" pitchFamily="34" charset="0"/>
                <a:ea typeface="Barlow Condensed" pitchFamily="34" charset="-122"/>
                <a:cs typeface="Barlow Condensed" pitchFamily="34" charset="-120"/>
              </a:rPr>
              <a:t>22.00</a:t>
            </a:r>
            <a:endParaRPr lang="en-US" sz="1500" dirty="0"/>
          </a:p>
        </p:txBody>
      </p:sp>
      <p:sp>
        <p:nvSpPr>
          <p:cNvPr id="43" name="heading"/>
          <p:cNvSpPr txBox="1"/>
          <p:nvPr/>
        </p:nvSpPr>
        <p:spPr>
          <a:xfrm>
            <a:off x="9753356" y="2286000"/>
            <a:ext cx="1706819" cy="274320"/>
          </a:xfrm>
          <a:prstGeom prst="rect">
            <a:avLst/>
          </a:prstGeom>
          <a:noFill/>
          <a:ln/>
        </p:spPr>
        <p:txBody>
          <a:bodyPr wrap="square" lIns="0" tIns="0" rIns="0" bIns="0" rtlCol="0" anchor="t"/>
          <a:lstStyle/>
          <a:p>
            <a:pPr algn="l" indent="0" marL="0">
              <a:lnSpc>
                <a:spcPct val="90000"/>
              </a:lnSpc>
              <a:buNone/>
            </a:pPr>
            <a:r>
              <a:rPr lang="en-US" sz="1600" b="1" spc="100" kern="0" dirty="0">
                <a:solidFill>
                  <a:srgbClr val="86A90A"/>
                </a:solidFill>
                <a:latin typeface="Barlow Condensed" pitchFamily="34" charset="0"/>
                <a:ea typeface="Barlow Condensed" pitchFamily="34" charset="-122"/>
                <a:cs typeface="Barlow Condensed" pitchFamily="34" charset="-120"/>
              </a:rPr>
              <a:t>PRAKIRAAN</a:t>
            </a:r>
            <a:endParaRPr lang="en-US" sz="1600" dirty="0"/>
          </a:p>
        </p:txBody>
      </p:sp>
      <p:sp>
        <p:nvSpPr>
          <p:cNvPr id="44" name="text"/>
          <p:cNvSpPr txBox="1"/>
          <p:nvPr/>
        </p:nvSpPr>
        <p:spPr>
          <a:xfrm>
            <a:off x="9753356" y="2578608"/>
            <a:ext cx="1706819" cy="86868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Salju mereda.</a:t>
            </a:r>
            <a:endParaRPr lang="en-US" sz="1450" dirty="0"/>
          </a:p>
        </p:txBody>
      </p:sp>
      <p:sp>
        <p:nvSpPr>
          <p:cNvPr id="45" name="heading"/>
          <p:cNvSpPr txBox="1"/>
          <p:nvPr/>
        </p:nvSpPr>
        <p:spPr>
          <a:xfrm>
            <a:off x="9753356" y="3474720"/>
            <a:ext cx="1706819" cy="274320"/>
          </a:xfrm>
          <a:prstGeom prst="rect">
            <a:avLst/>
          </a:prstGeom>
          <a:noFill/>
          <a:ln/>
        </p:spPr>
        <p:txBody>
          <a:bodyPr wrap="square" lIns="0" tIns="0" rIns="0" bIns="0" rtlCol="0" anchor="t"/>
          <a:lstStyle/>
          <a:p>
            <a:pPr algn="l" indent="0" marL="0">
              <a:lnSpc>
                <a:spcPct val="90000"/>
              </a:lnSpc>
              <a:buNone/>
            </a:pPr>
            <a:r>
              <a:rPr lang="en-US" sz="1600" b="1" spc="100" kern="0" dirty="0">
                <a:solidFill>
                  <a:srgbClr val="F1681D"/>
                </a:solidFill>
                <a:latin typeface="Barlow Condensed" pitchFamily="34" charset="0"/>
                <a:ea typeface="Barlow Condensed" pitchFamily="34" charset="-122"/>
                <a:cs typeface="Barlow Condensed" pitchFamily="34" charset="-120"/>
              </a:rPr>
              <a:t>TINDAKAN</a:t>
            </a:r>
            <a:endParaRPr lang="en-US" sz="1600" dirty="0"/>
          </a:p>
        </p:txBody>
      </p:sp>
      <p:sp>
        <p:nvSpPr>
          <p:cNvPr id="46" name="text"/>
          <p:cNvSpPr txBox="1"/>
          <p:nvPr/>
        </p:nvSpPr>
        <p:spPr>
          <a:xfrm>
            <a:off x="9753356" y="3767328"/>
            <a:ext cx="1706819" cy="137160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Carikan hotel untuk 600 penumpang yang terdampar.</a:t>
            </a:r>
            <a:endParaRPr lang="en-US" sz="1450" dirty="0"/>
          </a:p>
        </p:txBody>
      </p:sp>
      <p:sp>
        <p:nvSpPr>
          <p:cNvPr id="47" name="card"/>
          <p:cNvSpPr/>
          <p:nvPr/>
        </p:nvSpPr>
        <p:spPr>
          <a:xfrm>
            <a:off x="548640" y="5394960"/>
            <a:ext cx="11094415" cy="868680"/>
          </a:xfrm>
          <a:prstGeom prst="roundRect">
            <a:avLst>
              <a:gd name="adj" fmla="val 23158"/>
            </a:avLst>
          </a:prstGeom>
          <a:solidFill>
            <a:srgbClr val="1A1C14"/>
          </a:solidFill>
          <a:ln w="3175">
            <a:solidFill>
              <a:srgbClr val="1A1C14"/>
            </a:solidFill>
            <a:prstDash val="solid"/>
          </a:ln>
        </p:spPr>
      </p:sp>
      <p:sp>
        <p:nvSpPr>
          <p:cNvPr id="48" name="text"/>
          <p:cNvSpPr txBox="1"/>
          <p:nvPr/>
        </p:nvSpPr>
        <p:spPr>
          <a:xfrm>
            <a:off x="868680" y="5394960"/>
            <a:ext cx="10454335" cy="868680"/>
          </a:xfrm>
          <a:prstGeom prst="rect">
            <a:avLst/>
          </a:prstGeom>
          <a:noFill/>
          <a:ln/>
        </p:spPr>
        <p:txBody>
          <a:bodyPr wrap="square" lIns="0" tIns="0" rIns="0" bIns="0" rtlCol="0" anchor="ctr"/>
          <a:lstStyle/>
          <a:p>
            <a:pPr algn="l" indent="0" marL="0">
              <a:buNone/>
            </a:pPr>
            <a:r>
              <a:rPr lang="en-US" sz="1600" dirty="0">
                <a:solidFill>
                  <a:srgbClr val="FFFFFF"/>
                </a:solidFill>
                <a:latin typeface="Barlow" pitchFamily="34" charset="0"/>
                <a:ea typeface="Barlow" pitchFamily="34" charset="-122"/>
                <a:cs typeface="Barlow" pitchFamily="34" charset="-120"/>
              </a:rPr>
              <a:t>Lima revisi dalam 18 jam; setiap revisi memicu tindakan baru. Teknologi penjadwalan ulang Alaska menghemat sekitar US$18 juta per tahun (Heizer et al., 2017).</a:t>
            </a:r>
            <a:endParaRPr lang="en-US" sz="16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4F2"/>
        </a:solidFill>
      </p:bgPr>
    </p:bg>
    <p:spTree>
      <p:nvGrpSpPr>
        <p:cNvPr id="1" name=""/>
        <p:cNvGrpSpPr/>
        <p:nvPr/>
      </p:nvGrpSpPr>
      <p:grpSpPr>
        <a:xfrm>
          <a:off x="0" y="0"/>
          <a:ext cx="0" cy="0"/>
          <a:chOff x="0" y="0"/>
          <a:chExt cx="0" cy="0"/>
        </a:xfrm>
      </p:grpSpPr>
      <p:sp>
        <p:nvSpPr>
          <p:cNvPr id="3" name="headline"/>
          <p:cNvSpPr txBox="1"/>
          <p:nvPr/>
        </p:nvSpPr>
        <p:spPr>
          <a:xfrm>
            <a:off x="548640" y="502920"/>
            <a:ext cx="4343003"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PUSAT OPERASI DAN</a:t>
            </a:r>
            <a:endParaRPr lang="en-US" sz="4400" dirty="0"/>
          </a:p>
        </p:txBody>
      </p:sp>
      <p:sp>
        <p:nvSpPr>
          <p:cNvPr id="4" name="highlight"/>
          <p:cNvSpPr/>
          <p:nvPr/>
        </p:nvSpPr>
        <p:spPr>
          <a:xfrm>
            <a:off x="4729083" y="525719"/>
            <a:ext cx="4177617" cy="524378"/>
          </a:xfrm>
          <a:prstGeom prst="roundRect">
            <a:avLst>
              <a:gd name="adj" fmla="val 13950"/>
            </a:avLst>
          </a:prstGeom>
          <a:solidFill>
            <a:srgbClr val="9CC506"/>
          </a:solidFill>
          <a:ln w="3175">
            <a:solidFill>
              <a:srgbClr val="9CC506"/>
            </a:solidFill>
            <a:prstDash val="solid"/>
          </a:ln>
        </p:spPr>
      </p:sp>
      <p:sp>
        <p:nvSpPr>
          <p:cNvPr id="5" name="headline"/>
          <p:cNvSpPr txBox="1"/>
          <p:nvPr/>
        </p:nvSpPr>
        <p:spPr>
          <a:xfrm>
            <a:off x="4829667" y="502920"/>
            <a:ext cx="4250769"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PENJADWALAN KRU</a:t>
            </a:r>
            <a:endParaRPr lang="en-US" sz="4400" dirty="0"/>
          </a:p>
        </p:txBody>
      </p:sp>
      <p:pic>
        <p:nvPicPr>
          <p:cNvPr id="6" name="foto pusat operasi" descr="/tmp/claude-0/-home-user-Dom-Manipulation/385e5267-c23e-5c04-80f5-d5fb4946a902/scratchpad/build/img4/ops.png">    </p:cNvPr>
          <p:cNvPicPr>
            <a:picLocks noChangeAspect="1"/>
          </p:cNvPicPr>
          <p:nvPr/>
        </p:nvPicPr>
        <p:blipFill>
          <a:blip r:embed="rId1"/>
          <a:stretch>
            <a:fillRect/>
          </a:stretch>
        </p:blipFill>
        <p:spPr>
          <a:xfrm>
            <a:off x="548640" y="1371600"/>
            <a:ext cx="4206240" cy="3154680"/>
          </a:xfrm>
          <a:prstGeom prst="rect">
            <a:avLst/>
          </a:prstGeom>
        </p:spPr>
      </p:pic>
      <p:sp>
        <p:nvSpPr>
          <p:cNvPr id="7" name="card"/>
          <p:cNvSpPr/>
          <p:nvPr/>
        </p:nvSpPr>
        <p:spPr>
          <a:xfrm>
            <a:off x="548640" y="4709160"/>
            <a:ext cx="4206240" cy="1554480"/>
          </a:xfrm>
          <a:prstGeom prst="roundRect">
            <a:avLst>
              <a:gd name="adj" fmla="val 12941"/>
            </a:avLst>
          </a:prstGeom>
          <a:solidFill>
            <a:srgbClr val="F1681D"/>
          </a:solidFill>
          <a:ln w="3175">
            <a:solidFill>
              <a:srgbClr val="F1681D"/>
            </a:solidFill>
            <a:prstDash val="solid"/>
          </a:ln>
        </p:spPr>
      </p:sp>
      <p:sp>
        <p:nvSpPr>
          <p:cNvPr id="8" name="heading"/>
          <p:cNvSpPr txBox="1"/>
          <p:nvPr/>
        </p:nvSpPr>
        <p:spPr>
          <a:xfrm>
            <a:off x="822960" y="4800600"/>
            <a:ext cx="3657600" cy="640080"/>
          </a:xfrm>
          <a:prstGeom prst="rect">
            <a:avLst/>
          </a:prstGeom>
          <a:noFill/>
          <a:ln/>
        </p:spPr>
        <p:txBody>
          <a:bodyPr wrap="square" lIns="0" tIns="0" rIns="0" bIns="0" rtlCol="0" anchor="t"/>
          <a:lstStyle/>
          <a:p>
            <a:pPr algn="l" indent="0" marL="0">
              <a:lnSpc>
                <a:spcPct val="90000"/>
              </a:lnSpc>
              <a:buNone/>
            </a:pPr>
            <a:r>
              <a:rPr lang="en-US" sz="3600" dirty="0">
                <a:solidFill>
                  <a:srgbClr val="FFFFFF"/>
                </a:solidFill>
                <a:latin typeface="Barlow Condensed ExtraBold" pitchFamily="34" charset="0"/>
                <a:ea typeface="Barlow Condensed ExtraBold" pitchFamily="34" charset="-122"/>
                <a:cs typeface="Barlow Condensed ExtraBold" pitchFamily="34" charset="-120"/>
              </a:rPr>
              <a:t>US$18 JUTA</a:t>
            </a:r>
            <a:endParaRPr lang="en-US" sz="3600" dirty="0"/>
          </a:p>
        </p:txBody>
      </p:sp>
      <p:sp>
        <p:nvSpPr>
          <p:cNvPr id="9" name="text"/>
          <p:cNvSpPr txBox="1"/>
          <p:nvPr/>
        </p:nvSpPr>
        <p:spPr>
          <a:xfrm>
            <a:off x="822960" y="5440680"/>
            <a:ext cx="3657600" cy="777240"/>
          </a:xfrm>
          <a:prstGeom prst="rect">
            <a:avLst/>
          </a:prstGeom>
          <a:noFill/>
          <a:ln/>
        </p:spPr>
        <p:txBody>
          <a:bodyPr wrap="square" lIns="0" tIns="0" rIns="0" bIns="0" rtlCol="0" anchor="t"/>
          <a:lstStyle/>
          <a:p>
            <a:pPr algn="l" indent="0" marL="0">
              <a:buNone/>
            </a:pPr>
            <a:r>
              <a:rPr lang="en-US" sz="1450" dirty="0">
                <a:solidFill>
                  <a:srgbClr val="FFFFFF"/>
                </a:solidFill>
                <a:latin typeface="Barlow" pitchFamily="34" charset="0"/>
                <a:ea typeface="Barlow" pitchFamily="34" charset="-122"/>
                <a:cs typeface="Barlow" pitchFamily="34" charset="-120"/>
              </a:rPr>
              <a:t>hemat per tahun dari teknologi yang menekan pembatalan dan keterlambatan.</a:t>
            </a:r>
            <a:endParaRPr lang="en-US" sz="1450" dirty="0"/>
          </a:p>
        </p:txBody>
      </p:sp>
      <p:sp>
        <p:nvSpPr>
          <p:cNvPr id="10" name="card"/>
          <p:cNvSpPr/>
          <p:nvPr/>
        </p:nvSpPr>
        <p:spPr>
          <a:xfrm>
            <a:off x="4983480" y="1371600"/>
            <a:ext cx="6659575" cy="2331720"/>
          </a:xfrm>
          <a:prstGeom prst="roundRect">
            <a:avLst>
              <a:gd name="adj" fmla="val 8627"/>
            </a:avLst>
          </a:prstGeom>
          <a:solidFill>
            <a:srgbClr val="FFFFFF"/>
          </a:solidFill>
          <a:ln w="3175">
            <a:solidFill>
              <a:srgbClr val="FFFFFF"/>
            </a:solidFill>
            <a:prstDash val="solid"/>
          </a:ln>
        </p:spPr>
      </p:sp>
      <p:sp>
        <p:nvSpPr>
          <p:cNvPr id="11" name="heading"/>
          <p:cNvSpPr txBox="1"/>
          <p:nvPr/>
        </p:nvSpPr>
        <p:spPr>
          <a:xfrm>
            <a:off x="5303520" y="1554480"/>
            <a:ext cx="6019495" cy="45720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FLIGHT OPERATIONS DEPARTMENT, SEATTLE</a:t>
            </a:r>
            <a:endParaRPr lang="en-US" sz="2600" dirty="0"/>
          </a:p>
        </p:txBody>
      </p:sp>
      <p:sp>
        <p:nvSpPr>
          <p:cNvPr id="12" name="text"/>
          <p:cNvSpPr txBox="1"/>
          <p:nvPr/>
        </p:nvSpPr>
        <p:spPr>
          <a:xfrm>
            <a:off x="5303520" y="2057400"/>
            <a:ext cx="6019495" cy="1554480"/>
          </a:xfrm>
          <a:prstGeom prst="rect">
            <a:avLst/>
          </a:prstGeom>
          <a:noFill/>
          <a:ln/>
        </p:spPr>
        <p:txBody>
          <a:bodyPr wrap="square" lIns="0" tIns="0" rIns="0" bIns="0" rtlCol="0" anchor="t"/>
          <a:lstStyle/>
          <a:p>
            <a:pPr algn="l" indent="0" marL="0">
              <a:buNone/>
            </a:pPr>
            <a:r>
              <a:rPr lang="en-US" sz="1550" dirty="0">
                <a:solidFill>
                  <a:srgbClr val="1A1C14"/>
                </a:solidFill>
                <a:latin typeface="Barlow" pitchFamily="34" charset="0"/>
                <a:ea typeface="Barlow" pitchFamily="34" charset="-122"/>
                <a:cs typeface="Barlow" pitchFamily="34" charset="-120"/>
              </a:rPr>
              <a:t>Puluhan layar memantau penerbangan dan cuaca; lampu </a:t>
            </a:r>
            <a:r>
              <a:rPr lang="en-US" sz="1550" i="1" dirty="0">
                <a:solidFill>
                  <a:srgbClr val="1A1C14"/>
                </a:solidFill>
                <a:latin typeface="Barlow" pitchFamily="34" charset="0"/>
                <a:ea typeface="Barlow" pitchFamily="34" charset="-122"/>
                <a:cs typeface="Barlow" pitchFamily="34" charset="-120"/>
              </a:rPr>
              <a:t>andon</a:t>
            </a:r>
            <a:r>
              <a:rPr lang="en-US" sz="1550" dirty="0">
                <a:solidFill>
                  <a:srgbClr val="1A1C14"/>
                </a:solidFill>
                <a:latin typeface="Barlow" pitchFamily="34" charset="0"/>
                <a:ea typeface="Barlow" pitchFamily="34" charset="-122"/>
                <a:cs typeface="Barlow" pitchFamily="34" charset="-120"/>
              </a:rPr>
              <a:t> hijau, kuning, merah menandai status. Model penjadwalan matematis menyusun jadwal alternatif, mengalihkan rute, memastikan kru tersedia, dan memberi tahu penumpang.</a:t>
            </a:r>
            <a:endParaRPr lang="en-US" sz="1550" dirty="0"/>
          </a:p>
        </p:txBody>
      </p:sp>
      <p:sp>
        <p:nvSpPr>
          <p:cNvPr id="13" name="card"/>
          <p:cNvSpPr/>
          <p:nvPr/>
        </p:nvSpPr>
        <p:spPr>
          <a:xfrm>
            <a:off x="4983480" y="3931920"/>
            <a:ext cx="6659575" cy="2331720"/>
          </a:xfrm>
          <a:prstGeom prst="roundRect">
            <a:avLst>
              <a:gd name="adj" fmla="val 8627"/>
            </a:avLst>
          </a:prstGeom>
          <a:solidFill>
            <a:srgbClr val="FFFFFF"/>
          </a:solidFill>
          <a:ln w="3175">
            <a:solidFill>
              <a:srgbClr val="FFFFFF"/>
            </a:solidFill>
            <a:prstDash val="solid"/>
          </a:ln>
        </p:spPr>
      </p:sp>
      <p:sp>
        <p:nvSpPr>
          <p:cNvPr id="14" name="heading"/>
          <p:cNvSpPr txBox="1"/>
          <p:nvPr/>
        </p:nvSpPr>
        <p:spPr>
          <a:xfrm>
            <a:off x="5303520" y="4114800"/>
            <a:ext cx="6019495" cy="45720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PENJADWALAN 4.500+ PILOT DAN AWAK KABIN</a:t>
            </a:r>
            <a:endParaRPr lang="en-US" sz="2600" dirty="0"/>
          </a:p>
        </p:txBody>
      </p:sp>
      <p:sp>
        <p:nvSpPr>
          <p:cNvPr id="15" name="text"/>
          <p:cNvSpPr txBox="1"/>
          <p:nvPr/>
        </p:nvSpPr>
        <p:spPr>
          <a:xfrm>
            <a:off x="5303520" y="4617720"/>
            <a:ext cx="6019495" cy="1600200"/>
          </a:xfrm>
          <a:prstGeom prst="rect">
            <a:avLst/>
          </a:prstGeom>
          <a:noFill/>
          <a:ln/>
        </p:spPr>
        <p:txBody>
          <a:bodyPr wrap="square" lIns="0" tIns="0" rIns="0" bIns="0" rtlCol="0" anchor="t"/>
          <a:lstStyle/>
          <a:p>
            <a:pPr algn="l" indent="0" marL="0">
              <a:buNone/>
            </a:pPr>
            <a:r>
              <a:rPr lang="en-US" sz="1550" i="1" dirty="0">
                <a:solidFill>
                  <a:srgbClr val="1A1C14"/>
                </a:solidFill>
                <a:latin typeface="Barlow" pitchFamily="34" charset="0"/>
                <a:ea typeface="Barlow" pitchFamily="34" charset="-122"/>
                <a:cs typeface="Barlow" pitchFamily="34" charset="-120"/>
              </a:rPr>
              <a:t>Preferential bidding system</a:t>
            </a:r>
            <a:r>
              <a:rPr lang="en-US" sz="1550" dirty="0">
                <a:solidFill>
                  <a:srgbClr val="1A1C14"/>
                </a:solidFill>
                <a:latin typeface="Barlow" pitchFamily="34" charset="0"/>
                <a:ea typeface="Barlow" pitchFamily="34" charset="-122"/>
                <a:cs typeface="Barlow" pitchFamily="34" charset="-120"/>
              </a:rPr>
              <a:t> di bawah batas jam tugas FAA dan kontrak serikat: kapasitas berhingga dengan kendala legalitas. Kodiak: hanya kapten boleh mendarat, sehingga </a:t>
            </a:r>
            <a:r>
              <a:rPr lang="en-US" sz="1550" i="1" dirty="0">
                <a:solidFill>
                  <a:srgbClr val="1A1C14"/>
                </a:solidFill>
                <a:latin typeface="Barlow" pitchFamily="34" charset="0"/>
                <a:ea typeface="Barlow" pitchFamily="34" charset="-122"/>
                <a:cs typeface="Barlow" pitchFamily="34" charset="-120"/>
              </a:rPr>
              <a:t>pairing</a:t>
            </a:r>
            <a:r>
              <a:rPr lang="en-US" sz="1550" dirty="0">
                <a:solidFill>
                  <a:srgbClr val="1A1C14"/>
                </a:solidFill>
                <a:latin typeface="Barlow" pitchFamily="34" charset="0"/>
                <a:ea typeface="Barlow" pitchFamily="34" charset="-122"/>
                <a:cs typeface="Barlow" pitchFamily="34" charset="-120"/>
              </a:rPr>
              <a:t> kru tidak bebas. Data kualifikasi kru dijaga oleh sistem pelatihan (Fox TMS, 2024).</a:t>
            </a:r>
            <a:endParaRPr lang="en-US" sz="155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4F2"/>
        </a:solidFill>
      </p:bgPr>
    </p:bg>
    <p:spTree>
      <p:nvGrpSpPr>
        <p:cNvPr id="1" name=""/>
        <p:cNvGrpSpPr/>
        <p:nvPr/>
      </p:nvGrpSpPr>
      <p:grpSpPr>
        <a:xfrm>
          <a:off x="0" y="0"/>
          <a:ext cx="0" cy="0"/>
          <a:chOff x="0" y="0"/>
          <a:chExt cx="0" cy="0"/>
        </a:xfrm>
      </p:grpSpPr>
      <p:sp>
        <p:nvSpPr>
          <p:cNvPr id="3" name="headline"/>
          <p:cNvSpPr txBox="1"/>
          <p:nvPr/>
        </p:nvSpPr>
        <p:spPr>
          <a:xfrm>
            <a:off x="548640" y="502920"/>
            <a:ext cx="3324860"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MENGURUTKAN</a:t>
            </a:r>
            <a:endParaRPr lang="en-US" sz="4400" dirty="0"/>
          </a:p>
        </p:txBody>
      </p:sp>
      <p:sp>
        <p:nvSpPr>
          <p:cNvPr id="4" name="highlight"/>
          <p:cNvSpPr/>
          <p:nvPr/>
        </p:nvSpPr>
        <p:spPr>
          <a:xfrm>
            <a:off x="3710940" y="525719"/>
            <a:ext cx="4900704" cy="524378"/>
          </a:xfrm>
          <a:prstGeom prst="roundRect">
            <a:avLst>
              <a:gd name="adj" fmla="val 13950"/>
            </a:avLst>
          </a:prstGeom>
          <a:solidFill>
            <a:srgbClr val="F1681D"/>
          </a:solidFill>
          <a:ln w="3175">
            <a:solidFill>
              <a:srgbClr val="F1681D"/>
            </a:solidFill>
            <a:prstDash val="solid"/>
          </a:ln>
        </p:spPr>
      </p:sp>
      <p:sp>
        <p:nvSpPr>
          <p:cNvPr id="5" name="headline"/>
          <p:cNvSpPr txBox="1"/>
          <p:nvPr/>
        </p:nvSpPr>
        <p:spPr>
          <a:xfrm>
            <a:off x="3811524" y="502920"/>
            <a:ext cx="4973856" cy="569976"/>
          </a:xfrm>
          <a:prstGeom prst="rect">
            <a:avLst/>
          </a:prstGeom>
          <a:noFill/>
          <a:ln/>
        </p:spPr>
        <p:txBody>
          <a:bodyPr wrap="square" lIns="0" tIns="0" rIns="0" bIns="0" rtlCol="0" anchor="ctr"/>
          <a:lstStyle/>
          <a:p>
            <a:pPr algn="l" indent="0" marL="0">
              <a:buNone/>
            </a:pPr>
            <a:r>
              <a:rPr lang="en-US" sz="4400" dirty="0">
                <a:solidFill>
                  <a:srgbClr val="FFFFFF"/>
                </a:solidFill>
                <a:latin typeface="Barlow Condensed ExtraBold" pitchFamily="34" charset="0"/>
                <a:ea typeface="Barlow Condensed ExtraBold" pitchFamily="34" charset="-122"/>
                <a:cs typeface="Barlow Condensed ExtraBold" pitchFamily="34" charset="-120"/>
              </a:rPr>
              <a:t>PEKERJAAN DI HANGAR</a:t>
            </a:r>
            <a:endParaRPr lang="en-US" sz="4400" dirty="0"/>
          </a:p>
        </p:txBody>
      </p:sp>
      <p:sp>
        <p:nvSpPr>
          <p:cNvPr id="6" name="card"/>
          <p:cNvSpPr/>
          <p:nvPr/>
        </p:nvSpPr>
        <p:spPr>
          <a:xfrm>
            <a:off x="548640" y="1371600"/>
            <a:ext cx="4572000" cy="4892040"/>
          </a:xfrm>
          <a:prstGeom prst="roundRect">
            <a:avLst>
              <a:gd name="adj" fmla="val 4400"/>
            </a:avLst>
          </a:prstGeom>
          <a:solidFill>
            <a:srgbClr val="FFFFFF"/>
          </a:solidFill>
          <a:ln w="3175">
            <a:solidFill>
              <a:srgbClr val="FFFFFF"/>
            </a:solidFill>
            <a:prstDash val="solid"/>
          </a:ln>
        </p:spPr>
      </p:sp>
      <p:sp>
        <p:nvSpPr>
          <p:cNvPr id="7" name="text"/>
          <p:cNvSpPr txBox="1"/>
          <p:nvPr/>
        </p:nvSpPr>
        <p:spPr>
          <a:xfrm>
            <a:off x="822960" y="1554480"/>
            <a:ext cx="4023360" cy="82296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Lima paket pekerjaan A–E: waktu proses 6, 2, 8, 3, 9 hari; </a:t>
            </a:r>
            <a:r>
              <a:rPr lang="en-US" sz="1500" i="1" dirty="0">
                <a:solidFill>
                  <a:srgbClr val="1A1C14"/>
                </a:solidFill>
                <a:latin typeface="Barlow" pitchFamily="34" charset="0"/>
                <a:ea typeface="Barlow" pitchFamily="34" charset="-122"/>
                <a:cs typeface="Barlow" pitchFamily="34" charset="-120"/>
              </a:rPr>
              <a:t>due date</a:t>
            </a:r>
            <a:r>
              <a:rPr lang="en-US" sz="1500" dirty="0">
                <a:solidFill>
                  <a:srgbClr val="1A1C14"/>
                </a:solidFill>
                <a:latin typeface="Barlow" pitchFamily="34" charset="0"/>
                <a:ea typeface="Barlow" pitchFamily="34" charset="-122"/>
                <a:cs typeface="Barlow" pitchFamily="34" charset="-120"/>
              </a:rPr>
              <a:t> 8, 6, 18, 15, 23 hari (HRM Contoh 15.4).</a:t>
            </a:r>
            <a:endParaRPr lang="en-US" sz="1500" dirty="0"/>
          </a:p>
        </p:txBody>
      </p:sp>
      <p:graphicFrame>
        <p:nvGraphicFramePr>
          <p:cNvPr id="8" name="chart aturan prioritas" descr=""/>
          <p:cNvGraphicFramePr/>
          <p:nvPr/>
        </p:nvGraphicFramePr>
        <p:xfrm>
          <a:off x="685800" y="2377440"/>
          <a:ext cx="4297680" cy="2743200"/>
        </p:xfrm>
        <a:graphic xmlns:a="http://schemas.openxmlformats.org/drawingml/2006/main">
          <a:graphicData uri="http://schemas.openxmlformats.org/drawingml/2006/chart">
            <c:chart xmlns:c="http://schemas.openxmlformats.org/drawingml/2006/chart" r:id="rId1"/>
          </a:graphicData>
        </a:graphic>
      </p:graphicFrame>
      <p:sp>
        <p:nvSpPr>
          <p:cNvPr id="9" name="text"/>
          <p:cNvSpPr txBox="1"/>
          <p:nvPr/>
        </p:nvSpPr>
        <p:spPr>
          <a:xfrm>
            <a:off x="822960" y="5212080"/>
            <a:ext cx="4023360" cy="914400"/>
          </a:xfrm>
          <a:prstGeom prst="rect">
            <a:avLst/>
          </a:prstGeom>
          <a:noFill/>
          <a:ln/>
        </p:spPr>
        <p:txBody>
          <a:bodyPr wrap="square" lIns="0" tIns="0" rIns="0" bIns="0" rtlCol="0" anchor="t"/>
          <a:lstStyle/>
          <a:p>
            <a:pPr algn="l" indent="0" marL="0">
              <a:buNone/>
            </a:pPr>
            <a:r>
              <a:rPr lang="en-US" sz="1300" i="1" dirty="0">
                <a:solidFill>
                  <a:srgbClr val="6B6B66"/>
                </a:solidFill>
                <a:latin typeface="Barlow" pitchFamily="34" charset="0"/>
                <a:ea typeface="Barlow" pitchFamily="34" charset="-122"/>
                <a:cs typeface="Barlow" pitchFamily="34" charset="-120"/>
              </a:rPr>
              <a:t>FCFS = urutan kedatangan · SPT = terpendek dahulu · EDD = tenggat terdekat dahulu · LPT = terpanjang dahulu</a:t>
            </a:r>
            <a:endParaRPr lang="en-US" sz="1300" dirty="0"/>
          </a:p>
        </p:txBody>
      </p:sp>
      <p:sp>
        <p:nvSpPr>
          <p:cNvPr id="10" name="card"/>
          <p:cNvSpPr/>
          <p:nvPr/>
        </p:nvSpPr>
        <p:spPr>
          <a:xfrm>
            <a:off x="5349240" y="1371600"/>
            <a:ext cx="6293815" cy="4892040"/>
          </a:xfrm>
          <a:prstGeom prst="roundRect">
            <a:avLst>
              <a:gd name="adj" fmla="val 4112"/>
            </a:avLst>
          </a:prstGeom>
          <a:solidFill>
            <a:srgbClr val="FFFFFF"/>
          </a:solidFill>
          <a:ln w="3175">
            <a:solidFill>
              <a:srgbClr val="FFFFFF"/>
            </a:solidFill>
            <a:prstDash val="solid"/>
          </a:ln>
        </p:spPr>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577840" y="1508760"/>
          <a:ext cx="5836615" cy="914400"/>
        </p:xfrm>
        <a:graphic>
          <a:graphicData uri="http://schemas.openxmlformats.org/drawingml/2006/table">
            <a:tbl>
              <a:tblPr/>
              <a:tblGrid>
                <a:gridCol w="731520"/>
                <a:gridCol w="1143000"/>
                <a:gridCol w="1051560"/>
                <a:gridCol w="868680"/>
                <a:gridCol w="1051560"/>
                <a:gridCol w="990295"/>
              </a:tblGrid>
              <a:tr h="420624">
                <a:tc>
                  <a:txBody>
                    <a:bodyPr/>
                    <a:lstStyle/>
                    <a:p>
                      <a:pPr algn="ctr" indent="0" marL="0">
                        <a:buNone/>
                      </a:pPr>
                      <a:r>
                        <a:rPr lang="en-US" sz="1350" b="1" dirty="0">
                          <a:solidFill>
                            <a:srgbClr val="FFFFFF"/>
                          </a:solidFill>
                          <a:latin typeface="Barlow" pitchFamily="34" charset="0"/>
                          <a:ea typeface="Barlow" pitchFamily="34" charset="-122"/>
                          <a:cs typeface="Barlow" pitchFamily="34" charset="-120"/>
                        </a:rPr>
                        <a:t>Aturan</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350" b="1" dirty="0">
                          <a:solidFill>
                            <a:srgbClr val="FFFFFF"/>
                          </a:solidFill>
                          <a:latin typeface="Barlow" pitchFamily="34" charset="0"/>
                          <a:ea typeface="Barlow" pitchFamily="34" charset="-122"/>
                          <a:cs typeface="Barlow" pitchFamily="34" charset="-120"/>
                        </a:rPr>
                        <a:t>Urutan</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350" b="1" dirty="0">
                          <a:solidFill>
                            <a:srgbClr val="FFFFFF"/>
                          </a:solidFill>
                          <a:latin typeface="Barlow" pitchFamily="34" charset="0"/>
                          <a:ea typeface="Barlow" pitchFamily="34" charset="-122"/>
                          <a:cs typeface="Barlow" pitchFamily="34" charset="-120"/>
                        </a:rPr>
                        <a:t>Waktu selesai (hari)</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350" b="1" dirty="0">
                          <a:solidFill>
                            <a:srgbClr val="FFFFFF"/>
                          </a:solidFill>
                          <a:latin typeface="Barlow" pitchFamily="34" charset="0"/>
                          <a:ea typeface="Barlow" pitchFamily="34" charset="-122"/>
                          <a:cs typeface="Barlow" pitchFamily="34" charset="-120"/>
                        </a:rPr>
                        <a:t>Utilisasi</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350" b="1" dirty="0">
                          <a:solidFill>
                            <a:srgbClr val="FFFFFF"/>
                          </a:solidFill>
                          <a:latin typeface="Barlow" pitchFamily="34" charset="0"/>
                          <a:ea typeface="Barlow" pitchFamily="34" charset="-122"/>
                          <a:cs typeface="Barlow" pitchFamily="34" charset="-120"/>
                        </a:rPr>
                        <a:t>Pekerjaan rata-rata</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350" b="1" dirty="0">
                          <a:solidFill>
                            <a:srgbClr val="FFFFFF"/>
                          </a:solidFill>
                          <a:latin typeface="Barlow" pitchFamily="34" charset="0"/>
                          <a:ea typeface="Barlow" pitchFamily="34" charset="-122"/>
                          <a:cs typeface="Barlow" pitchFamily="34" charset="-120"/>
                        </a:rPr>
                        <a:t>Terlambat (hari)</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r>
              <a:tr h="420624">
                <a:tc>
                  <a:txBody>
                    <a:bodyPr/>
                    <a:lstStyle/>
                    <a:p>
                      <a:pPr algn="l" indent="0" marL="0">
                        <a:buNone/>
                      </a:pPr>
                      <a:r>
                        <a:rPr lang="en-US" sz="1350" b="1" dirty="0">
                          <a:solidFill>
                            <a:srgbClr val="1A1C14"/>
                          </a:solidFill>
                          <a:latin typeface="Barlow" pitchFamily="34" charset="0"/>
                          <a:ea typeface="Barlow" pitchFamily="34" charset="-122"/>
                          <a:cs typeface="Barlow" pitchFamily="34" charset="-120"/>
                        </a:rPr>
                        <a:t>FCFS</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A–B–C–D–E</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15,4</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36,4%</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2,75</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2,2</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r>
              <a:tr h="420624">
                <a:tc>
                  <a:txBody>
                    <a:bodyPr/>
                    <a:lstStyle/>
                    <a:p>
                      <a:pPr algn="l" indent="0" marL="0">
                        <a:buNone/>
                      </a:pPr>
                      <a:r>
                        <a:rPr lang="en-US" sz="1350" b="1" dirty="0">
                          <a:solidFill>
                            <a:srgbClr val="1A1C14"/>
                          </a:solidFill>
                          <a:latin typeface="Barlow" pitchFamily="34" charset="0"/>
                          <a:ea typeface="Barlow" pitchFamily="34" charset="-122"/>
                          <a:cs typeface="Barlow" pitchFamily="34" charset="-120"/>
                        </a:rPr>
                        <a:t>SPT</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B–D–A–C–E</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350" b="1" dirty="0">
                          <a:solidFill>
                            <a:srgbClr val="1A1C14"/>
                          </a:solidFill>
                          <a:latin typeface="Barlow" pitchFamily="34" charset="0"/>
                          <a:ea typeface="Barlow" pitchFamily="34" charset="-122"/>
                          <a:cs typeface="Barlow" pitchFamily="34" charset="-120"/>
                        </a:rPr>
                        <a:t>13,0</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c>
                  <a:txBody>
                    <a:bodyPr/>
                    <a:lstStyle/>
                    <a:p>
                      <a:pPr algn="ctr" indent="0" marL="0">
                        <a:buNone/>
                      </a:pPr>
                      <a:r>
                        <a:rPr lang="en-US" sz="1350" b="1" dirty="0">
                          <a:solidFill>
                            <a:srgbClr val="1A1C14"/>
                          </a:solidFill>
                          <a:latin typeface="Barlow" pitchFamily="34" charset="0"/>
                          <a:ea typeface="Barlow" pitchFamily="34" charset="-122"/>
                          <a:cs typeface="Barlow" pitchFamily="34" charset="-120"/>
                        </a:rPr>
                        <a:t>43,1%</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c>
                  <a:txBody>
                    <a:bodyPr/>
                    <a:lstStyle/>
                    <a:p>
                      <a:pPr algn="ctr" indent="0" marL="0">
                        <a:buNone/>
                      </a:pPr>
                      <a:r>
                        <a:rPr lang="en-US" sz="1350" b="1" dirty="0">
                          <a:solidFill>
                            <a:srgbClr val="1A1C14"/>
                          </a:solidFill>
                          <a:latin typeface="Barlow" pitchFamily="34" charset="0"/>
                          <a:ea typeface="Barlow" pitchFamily="34" charset="-122"/>
                          <a:cs typeface="Barlow" pitchFamily="34" charset="-120"/>
                        </a:rPr>
                        <a:t>2,32</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1,8</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r>
              <a:tr h="420624">
                <a:tc>
                  <a:txBody>
                    <a:bodyPr/>
                    <a:lstStyle/>
                    <a:p>
                      <a:pPr algn="l" indent="0" marL="0">
                        <a:buNone/>
                      </a:pPr>
                      <a:r>
                        <a:rPr lang="en-US" sz="1350" b="1" dirty="0">
                          <a:solidFill>
                            <a:srgbClr val="1A1C14"/>
                          </a:solidFill>
                          <a:latin typeface="Barlow" pitchFamily="34" charset="0"/>
                          <a:ea typeface="Barlow" pitchFamily="34" charset="-122"/>
                          <a:cs typeface="Barlow" pitchFamily="34" charset="-120"/>
                        </a:rPr>
                        <a:t>EDD</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B–A–D–C–E</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13,6</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41,2%</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2,43</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350" b="1" dirty="0">
                          <a:solidFill>
                            <a:srgbClr val="1A1C14"/>
                          </a:solidFill>
                          <a:latin typeface="Barlow" pitchFamily="34" charset="0"/>
                          <a:ea typeface="Barlow" pitchFamily="34" charset="-122"/>
                          <a:cs typeface="Barlow" pitchFamily="34" charset="-120"/>
                        </a:rPr>
                        <a:t>1,2</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r>
              <a:tr h="420624">
                <a:tc>
                  <a:txBody>
                    <a:bodyPr/>
                    <a:lstStyle/>
                    <a:p>
                      <a:pPr algn="l" indent="0" marL="0">
                        <a:buNone/>
                      </a:pPr>
                      <a:r>
                        <a:rPr lang="en-US" sz="1350" b="1" dirty="0">
                          <a:solidFill>
                            <a:srgbClr val="1A1C14"/>
                          </a:solidFill>
                          <a:latin typeface="Barlow" pitchFamily="34" charset="0"/>
                          <a:ea typeface="Barlow" pitchFamily="34" charset="-122"/>
                          <a:cs typeface="Barlow" pitchFamily="34" charset="-120"/>
                        </a:rPr>
                        <a:t>LPT</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E–C–A–D–B</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20,6</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27,2%</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3,68</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350" dirty="0">
                          <a:solidFill>
                            <a:srgbClr val="1A1C14"/>
                          </a:solidFill>
                          <a:latin typeface="Barlow" pitchFamily="34" charset="0"/>
                          <a:ea typeface="Barlow" pitchFamily="34" charset="-122"/>
                          <a:cs typeface="Barlow" pitchFamily="34" charset="-120"/>
                        </a:rPr>
                        <a:t>9,6</a:t>
                      </a:r>
                      <a:endParaRPr lang="en-US" sz="13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r>
            </a:tbl>
          </a:graphicData>
        </a:graphic>
      </p:graphicFrame>
      <p:sp>
        <p:nvSpPr>
          <p:cNvPr id="12" name="card"/>
          <p:cNvSpPr/>
          <p:nvPr/>
        </p:nvSpPr>
        <p:spPr>
          <a:xfrm>
            <a:off x="5577840" y="4434840"/>
            <a:ext cx="5836615" cy="1691640"/>
          </a:xfrm>
          <a:prstGeom prst="roundRect">
            <a:avLst>
              <a:gd name="adj" fmla="val 11892"/>
            </a:avLst>
          </a:prstGeom>
          <a:solidFill>
            <a:srgbClr val="9CC506"/>
          </a:solidFill>
          <a:ln w="3175">
            <a:solidFill>
              <a:srgbClr val="9CC506"/>
            </a:solidFill>
            <a:prstDash val="solid"/>
          </a:ln>
        </p:spPr>
      </p:sp>
      <p:sp>
        <p:nvSpPr>
          <p:cNvPr id="13" name="text"/>
          <p:cNvSpPr txBox="1"/>
          <p:nvPr/>
        </p:nvSpPr>
        <p:spPr>
          <a:xfrm>
            <a:off x="5806440" y="4434840"/>
            <a:ext cx="5379415" cy="1691640"/>
          </a:xfrm>
          <a:prstGeom prst="rect">
            <a:avLst/>
          </a:prstGeom>
          <a:noFill/>
          <a:ln/>
        </p:spPr>
        <p:txBody>
          <a:bodyPr wrap="square" lIns="0" tIns="0" rIns="0" bIns="0" rtlCol="0" anchor="ctr"/>
          <a:lstStyle/>
          <a:p>
            <a:pPr algn="l" indent="0" marL="0">
              <a:buNone/>
            </a:pPr>
            <a:r>
              <a:rPr lang="en-US" sz="1400" b="1" dirty="0">
                <a:solidFill>
                  <a:srgbClr val="1A1C14"/>
                </a:solidFill>
                <a:latin typeface="Barlow" pitchFamily="34" charset="0"/>
                <a:ea typeface="Barlow" pitchFamily="34" charset="-122"/>
                <a:cs typeface="Barlow" pitchFamily="34" charset="-120"/>
              </a:rPr>
              <a:t>Pembacaan untuk Alaska:</a:t>
            </a:r>
            <a:r>
              <a:rPr lang="en-US" sz="1400" dirty="0">
                <a:solidFill>
                  <a:srgbClr val="1A1C14"/>
                </a:solidFill>
                <a:latin typeface="Barlow" pitchFamily="34" charset="0"/>
                <a:ea typeface="Barlow" pitchFamily="34" charset="-122"/>
                <a:cs typeface="Barlow" pitchFamily="34" charset="-120"/>
              </a:rPr>
              <a:t> SPT memaksimalkan </a:t>
            </a:r>
            <a:r>
              <a:rPr lang="en-US" sz="1400" i="1" dirty="0">
                <a:solidFill>
                  <a:srgbClr val="1A1C14"/>
                </a:solidFill>
                <a:latin typeface="Barlow" pitchFamily="34" charset="0"/>
                <a:ea typeface="Barlow" pitchFamily="34" charset="-122"/>
                <a:cs typeface="Barlow" pitchFamily="34" charset="-120"/>
              </a:rPr>
              <a:t>throughput</a:t>
            </a:r>
            <a:r>
              <a:rPr lang="en-US" sz="1400" dirty="0">
                <a:solidFill>
                  <a:srgbClr val="1A1C14"/>
                </a:solidFill>
                <a:latin typeface="Barlow" pitchFamily="34" charset="0"/>
                <a:ea typeface="Barlow" pitchFamily="34" charset="-122"/>
                <a:cs typeface="Barlow" pitchFamily="34" charset="-120"/>
              </a:rPr>
              <a:t> hangar; EDD meminimalkan keterlambatan terhadap tenggat kelaikan udara; LPT terburuk. Untuk pesawat AOG dipakai </a:t>
            </a:r>
            <a:r>
              <a:rPr lang="en-US" sz="1400" i="1" dirty="0">
                <a:solidFill>
                  <a:srgbClr val="1A1C14"/>
                </a:solidFill>
                <a:latin typeface="Barlow" pitchFamily="34" charset="0"/>
                <a:ea typeface="Barlow" pitchFamily="34" charset="-122"/>
                <a:cs typeface="Barlow" pitchFamily="34" charset="-120"/>
              </a:rPr>
              <a:t>critical ratio</a:t>
            </a:r>
            <a:r>
              <a:rPr lang="en-US" sz="1400" dirty="0">
                <a:solidFill>
                  <a:srgbClr val="1A1C14"/>
                </a:solidFill>
                <a:latin typeface="Barlow" pitchFamily="34" charset="0"/>
                <a:ea typeface="Barlow" pitchFamily="34" charset="-122"/>
                <a:cs typeface="Barlow" pitchFamily="34" charset="-120"/>
              </a:rPr>
              <a:t> (sisa waktu ÷ sisa pekerjaan) yang diperbarui setiap hari. Tidak ada satu aturan yang unggul di semua kriteria.</a:t>
            </a:r>
            <a:endParaRPr lang="en-US" sz="14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4F2"/>
        </a:solidFill>
      </p:bgPr>
    </p:bg>
    <p:spTree>
      <p:nvGrpSpPr>
        <p:cNvPr id="1" name=""/>
        <p:cNvGrpSpPr/>
        <p:nvPr/>
      </p:nvGrpSpPr>
      <p:grpSpPr>
        <a:xfrm>
          <a:off x="0" y="0"/>
          <a:ext cx="0" cy="0"/>
          <a:chOff x="0" y="0"/>
          <a:chExt cx="0" cy="0"/>
        </a:xfrm>
      </p:grpSpPr>
      <p:sp>
        <p:nvSpPr>
          <p:cNvPr id="3" name="headline"/>
          <p:cNvSpPr txBox="1"/>
          <p:nvPr/>
        </p:nvSpPr>
        <p:spPr>
          <a:xfrm>
            <a:off x="548640" y="502920"/>
            <a:ext cx="6935787"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ALUR DUA TAHAP DI HANGAR DAN</a:t>
            </a:r>
            <a:endParaRPr lang="en-US" sz="4400" dirty="0"/>
          </a:p>
        </p:txBody>
      </p:sp>
      <p:sp>
        <p:nvSpPr>
          <p:cNvPr id="4" name="highlight"/>
          <p:cNvSpPr/>
          <p:nvPr/>
        </p:nvSpPr>
        <p:spPr>
          <a:xfrm>
            <a:off x="7321867" y="525719"/>
            <a:ext cx="2656554" cy="524378"/>
          </a:xfrm>
          <a:prstGeom prst="roundRect">
            <a:avLst>
              <a:gd name="adj" fmla="val 13950"/>
            </a:avLst>
          </a:prstGeom>
          <a:solidFill>
            <a:srgbClr val="9CC506"/>
          </a:solidFill>
          <a:ln w="3175">
            <a:solidFill>
              <a:srgbClr val="9CC506"/>
            </a:solidFill>
            <a:prstDash val="solid"/>
          </a:ln>
        </p:spPr>
      </p:sp>
      <p:sp>
        <p:nvSpPr>
          <p:cNvPr id="5" name="headline"/>
          <p:cNvSpPr txBox="1"/>
          <p:nvPr/>
        </p:nvSpPr>
        <p:spPr>
          <a:xfrm>
            <a:off x="7422451" y="502920"/>
            <a:ext cx="2729706" cy="569976"/>
          </a:xfrm>
          <a:prstGeom prst="rect">
            <a:avLst/>
          </a:prstGeom>
          <a:noFill/>
          <a:ln/>
        </p:spPr>
        <p:txBody>
          <a:bodyPr wrap="square" lIns="0" tIns="0" rIns="0" bIns="0" rtlCol="0" anchor="ctr"/>
          <a:lstStyle/>
          <a:p>
            <a:pPr algn="l" indent="0" marL="0">
              <a:buNone/>
            </a:pPr>
            <a:r>
              <a:rPr lang="en-US" sz="4400" dirty="0">
                <a:solidFill>
                  <a:srgbClr val="1A1C14"/>
                </a:solidFill>
                <a:latin typeface="Barlow Condensed ExtraBold" pitchFamily="34" charset="0"/>
                <a:ea typeface="Barlow Condensed ExtraBold" pitchFamily="34" charset="-122"/>
                <a:cs typeface="Barlow Condensed ExtraBold" pitchFamily="34" charset="-120"/>
              </a:rPr>
              <a:t>STAF DARAT</a:t>
            </a:r>
            <a:endParaRPr lang="en-US" sz="4400" dirty="0"/>
          </a:p>
        </p:txBody>
      </p:sp>
      <p:sp>
        <p:nvSpPr>
          <p:cNvPr id="6" name="card"/>
          <p:cNvSpPr/>
          <p:nvPr/>
        </p:nvSpPr>
        <p:spPr>
          <a:xfrm>
            <a:off x="548640" y="1371600"/>
            <a:ext cx="5760720" cy="4892040"/>
          </a:xfrm>
          <a:prstGeom prst="roundRect">
            <a:avLst>
              <a:gd name="adj" fmla="val 4112"/>
            </a:avLst>
          </a:prstGeom>
          <a:solidFill>
            <a:srgbClr val="FFFFFF"/>
          </a:solidFill>
          <a:ln w="3175">
            <a:solidFill>
              <a:srgbClr val="FFFFFF"/>
            </a:solidFill>
            <a:prstDash val="solid"/>
          </a:ln>
        </p:spPr>
      </p:sp>
      <p:sp>
        <p:nvSpPr>
          <p:cNvPr id="7" name="heading"/>
          <p:cNvSpPr txBox="1"/>
          <p:nvPr/>
        </p:nvSpPr>
        <p:spPr>
          <a:xfrm>
            <a:off x="822960" y="1554480"/>
            <a:ext cx="5212080" cy="45720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INSPEKSI LALU PERBAIKAN</a:t>
            </a:r>
            <a:endParaRPr lang="en-US" sz="2600" dirty="0"/>
          </a:p>
        </p:txBody>
      </p:sp>
      <p:sp>
        <p:nvSpPr>
          <p:cNvPr id="8" name="text"/>
          <p:cNvSpPr txBox="1"/>
          <p:nvPr/>
        </p:nvSpPr>
        <p:spPr>
          <a:xfrm>
            <a:off x="822960" y="2057400"/>
            <a:ext cx="5212080" cy="146304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Lima komponen melewati dua pusat kerja berurutan (jam inspeksi/perbaikan): A 5/2, B 3/6, C 8/4, D 10/7, E 7/12. Dengan </a:t>
            </a:r>
            <a:r>
              <a:rPr lang="en-US" sz="1500" i="1" dirty="0">
                <a:solidFill>
                  <a:srgbClr val="1A1C14"/>
                </a:solidFill>
                <a:latin typeface="Barlow" pitchFamily="34" charset="0"/>
                <a:ea typeface="Barlow" pitchFamily="34" charset="-122"/>
                <a:cs typeface="Barlow" pitchFamily="34" charset="-120"/>
              </a:rPr>
              <a:t>Johnson's rule</a:t>
            </a:r>
            <a:r>
              <a:rPr lang="en-US" sz="1500" dirty="0">
                <a:solidFill>
                  <a:srgbClr val="1A1C14"/>
                </a:solidFill>
                <a:latin typeface="Barlow" pitchFamily="34" charset="0"/>
                <a:ea typeface="Barlow" pitchFamily="34" charset="-122"/>
                <a:cs typeface="Barlow" pitchFamily="34" charset="-120"/>
              </a:rPr>
              <a:t>, urutan </a:t>
            </a:r>
            <a:r>
              <a:rPr lang="en-US" sz="1500" b="1" dirty="0">
                <a:solidFill>
                  <a:srgbClr val="1A1C14"/>
                </a:solidFill>
                <a:latin typeface="Barlow" pitchFamily="34" charset="0"/>
                <a:ea typeface="Barlow" pitchFamily="34" charset="-122"/>
                <a:cs typeface="Barlow" pitchFamily="34" charset="-120"/>
              </a:rPr>
              <a:t>B–E–D–C–A</a:t>
            </a:r>
            <a:r>
              <a:rPr lang="en-US" sz="1500" dirty="0">
                <a:solidFill>
                  <a:srgbClr val="1A1C14"/>
                </a:solidFill>
                <a:latin typeface="Barlow" pitchFamily="34" charset="0"/>
                <a:ea typeface="Barlow" pitchFamily="34" charset="-122"/>
                <a:cs typeface="Barlow" pitchFamily="34" charset="-120"/>
              </a:rPr>
              <a:t> selesai dalam </a:t>
            </a:r>
            <a:r>
              <a:rPr lang="en-US" sz="1500" b="1" dirty="0">
                <a:solidFill>
                  <a:srgbClr val="1A1C14"/>
                </a:solidFill>
                <a:latin typeface="Barlow" pitchFamily="34" charset="0"/>
                <a:ea typeface="Barlow" pitchFamily="34" charset="-122"/>
                <a:cs typeface="Barlow" pitchFamily="34" charset="-120"/>
              </a:rPr>
              <a:t>35 jam</a:t>
            </a:r>
            <a:r>
              <a:rPr lang="en-US" sz="1500" dirty="0">
                <a:solidFill>
                  <a:srgbClr val="1A1C14"/>
                </a:solidFill>
                <a:latin typeface="Barlow" pitchFamily="34" charset="0"/>
                <a:ea typeface="Barlow" pitchFamily="34" charset="-122"/>
                <a:cs typeface="Barlow" pitchFamily="34" charset="-120"/>
              </a:rPr>
              <a:t>; urutan A–B–C–D–E butuh 45 jam.</a:t>
            </a:r>
            <a:endParaRPr lang="en-US" sz="1500" dirty="0"/>
          </a:p>
        </p:txBody>
      </p:sp>
      <p:sp>
        <p:nvSpPr>
          <p:cNvPr id="9" name="text"/>
          <p:cNvSpPr txBox="1"/>
          <p:nvPr/>
        </p:nvSpPr>
        <p:spPr>
          <a:xfrm>
            <a:off x="822960" y="3703320"/>
            <a:ext cx="1005840" cy="457200"/>
          </a:xfrm>
          <a:prstGeom prst="rect">
            <a:avLst/>
          </a:prstGeom>
          <a:noFill/>
          <a:ln/>
        </p:spPr>
        <p:txBody>
          <a:bodyPr wrap="square" lIns="0" tIns="0" rIns="0" bIns="0" rtlCol="0" anchor="ctr"/>
          <a:lstStyle/>
          <a:p>
            <a:pPr algn="l" indent="0" marL="0">
              <a:buNone/>
            </a:pPr>
            <a:r>
              <a:rPr lang="en-US" sz="1400" b="1" dirty="0">
                <a:solidFill>
                  <a:srgbClr val="1A1C14"/>
                </a:solidFill>
                <a:latin typeface="Barlow" pitchFamily="34" charset="0"/>
                <a:ea typeface="Barlow" pitchFamily="34" charset="-122"/>
                <a:cs typeface="Barlow" pitchFamily="34" charset="-120"/>
              </a:rPr>
              <a:t>Inspeksi</a:t>
            </a:r>
            <a:endParaRPr lang="en-US" sz="1400" dirty="0"/>
          </a:p>
        </p:txBody>
      </p:sp>
      <p:sp>
        <p:nvSpPr>
          <p:cNvPr id="10" name="text"/>
          <p:cNvSpPr txBox="1"/>
          <p:nvPr/>
        </p:nvSpPr>
        <p:spPr>
          <a:xfrm>
            <a:off x="822960" y="4251960"/>
            <a:ext cx="1005840" cy="457200"/>
          </a:xfrm>
          <a:prstGeom prst="rect">
            <a:avLst/>
          </a:prstGeom>
          <a:noFill/>
          <a:ln/>
        </p:spPr>
        <p:txBody>
          <a:bodyPr wrap="square" lIns="0" tIns="0" rIns="0" bIns="0" rtlCol="0" anchor="ctr"/>
          <a:lstStyle/>
          <a:p>
            <a:pPr algn="l" indent="0" marL="0">
              <a:buNone/>
            </a:pPr>
            <a:r>
              <a:rPr lang="en-US" sz="1400" b="1" dirty="0">
                <a:solidFill>
                  <a:srgbClr val="1A1C14"/>
                </a:solidFill>
                <a:latin typeface="Barlow" pitchFamily="34" charset="0"/>
                <a:ea typeface="Barlow" pitchFamily="34" charset="-122"/>
                <a:cs typeface="Barlow" pitchFamily="34" charset="-120"/>
              </a:rPr>
              <a:t>Perbaikan</a:t>
            </a:r>
            <a:endParaRPr lang="en-US" sz="1400" dirty="0"/>
          </a:p>
        </p:txBody>
      </p:sp>
      <p:sp>
        <p:nvSpPr>
          <p:cNvPr id="11" name="gantt bar"/>
          <p:cNvSpPr/>
          <p:nvPr/>
        </p:nvSpPr>
        <p:spPr>
          <a:xfrm>
            <a:off x="1892808" y="3703320"/>
            <a:ext cx="312202" cy="457200"/>
          </a:xfrm>
          <a:prstGeom prst="roundRect">
            <a:avLst>
              <a:gd name="adj" fmla="val 23431"/>
            </a:avLst>
          </a:prstGeom>
          <a:solidFill>
            <a:srgbClr val="F1681D"/>
          </a:solidFill>
          <a:ln w="3175">
            <a:solidFill>
              <a:srgbClr val="F1681D"/>
            </a:solidFill>
            <a:prstDash val="solid"/>
          </a:ln>
        </p:spPr>
      </p:sp>
      <p:sp>
        <p:nvSpPr>
          <p:cNvPr id="12" name="text"/>
          <p:cNvSpPr txBox="1"/>
          <p:nvPr/>
        </p:nvSpPr>
        <p:spPr>
          <a:xfrm>
            <a:off x="1874520" y="3703320"/>
            <a:ext cx="348778"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arlow" pitchFamily="34" charset="0"/>
                <a:ea typeface="Barlow" pitchFamily="34" charset="-122"/>
                <a:cs typeface="Barlow" pitchFamily="34" charset="-120"/>
              </a:rPr>
              <a:t>B</a:t>
            </a:r>
            <a:endParaRPr lang="en-US" sz="1400" dirty="0"/>
          </a:p>
        </p:txBody>
      </p:sp>
      <p:sp>
        <p:nvSpPr>
          <p:cNvPr id="13" name="gantt bar"/>
          <p:cNvSpPr/>
          <p:nvPr/>
        </p:nvSpPr>
        <p:spPr>
          <a:xfrm>
            <a:off x="2241586" y="3703320"/>
            <a:ext cx="777240" cy="457200"/>
          </a:xfrm>
          <a:prstGeom prst="roundRect">
            <a:avLst>
              <a:gd name="adj" fmla="val 16000"/>
            </a:avLst>
          </a:prstGeom>
          <a:solidFill>
            <a:srgbClr val="F1681D"/>
          </a:solidFill>
          <a:ln w="3175">
            <a:solidFill>
              <a:srgbClr val="F1681D"/>
            </a:solidFill>
            <a:prstDash val="solid"/>
          </a:ln>
        </p:spPr>
      </p:sp>
      <p:sp>
        <p:nvSpPr>
          <p:cNvPr id="14" name="text"/>
          <p:cNvSpPr txBox="1"/>
          <p:nvPr/>
        </p:nvSpPr>
        <p:spPr>
          <a:xfrm>
            <a:off x="2223298" y="3703320"/>
            <a:ext cx="813816"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arlow" pitchFamily="34" charset="0"/>
                <a:ea typeface="Barlow" pitchFamily="34" charset="-122"/>
                <a:cs typeface="Barlow" pitchFamily="34" charset="-120"/>
              </a:rPr>
              <a:t>E</a:t>
            </a:r>
            <a:endParaRPr lang="en-US" sz="1400" dirty="0"/>
          </a:p>
        </p:txBody>
      </p:sp>
      <p:sp>
        <p:nvSpPr>
          <p:cNvPr id="15" name="gantt bar"/>
          <p:cNvSpPr/>
          <p:nvPr/>
        </p:nvSpPr>
        <p:spPr>
          <a:xfrm>
            <a:off x="3055402" y="3703320"/>
            <a:ext cx="1126018" cy="457200"/>
          </a:xfrm>
          <a:prstGeom prst="roundRect">
            <a:avLst>
              <a:gd name="adj" fmla="val 16000"/>
            </a:avLst>
          </a:prstGeom>
          <a:solidFill>
            <a:srgbClr val="F1681D"/>
          </a:solidFill>
          <a:ln w="3175">
            <a:solidFill>
              <a:srgbClr val="F1681D"/>
            </a:solidFill>
            <a:prstDash val="solid"/>
          </a:ln>
        </p:spPr>
      </p:sp>
      <p:sp>
        <p:nvSpPr>
          <p:cNvPr id="16" name="text"/>
          <p:cNvSpPr txBox="1"/>
          <p:nvPr/>
        </p:nvSpPr>
        <p:spPr>
          <a:xfrm>
            <a:off x="3037114" y="3703320"/>
            <a:ext cx="1162594"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arlow" pitchFamily="34" charset="0"/>
                <a:ea typeface="Barlow" pitchFamily="34" charset="-122"/>
                <a:cs typeface="Barlow" pitchFamily="34" charset="-120"/>
              </a:rPr>
              <a:t>D</a:t>
            </a:r>
            <a:endParaRPr lang="en-US" sz="1400" dirty="0"/>
          </a:p>
        </p:txBody>
      </p:sp>
      <p:sp>
        <p:nvSpPr>
          <p:cNvPr id="17" name="gantt bar"/>
          <p:cNvSpPr/>
          <p:nvPr/>
        </p:nvSpPr>
        <p:spPr>
          <a:xfrm>
            <a:off x="4217997" y="3703320"/>
            <a:ext cx="893499" cy="457200"/>
          </a:xfrm>
          <a:prstGeom prst="roundRect">
            <a:avLst>
              <a:gd name="adj" fmla="val 16000"/>
            </a:avLst>
          </a:prstGeom>
          <a:solidFill>
            <a:srgbClr val="F1681D"/>
          </a:solidFill>
          <a:ln w="3175">
            <a:solidFill>
              <a:srgbClr val="F1681D"/>
            </a:solidFill>
            <a:prstDash val="solid"/>
          </a:ln>
        </p:spPr>
      </p:sp>
      <p:sp>
        <p:nvSpPr>
          <p:cNvPr id="18" name="text"/>
          <p:cNvSpPr txBox="1"/>
          <p:nvPr/>
        </p:nvSpPr>
        <p:spPr>
          <a:xfrm>
            <a:off x="4199709" y="3703320"/>
            <a:ext cx="930075"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arlow" pitchFamily="34" charset="0"/>
                <a:ea typeface="Barlow" pitchFamily="34" charset="-122"/>
                <a:cs typeface="Barlow" pitchFamily="34" charset="-120"/>
              </a:rPr>
              <a:t>C</a:t>
            </a:r>
            <a:endParaRPr lang="en-US" sz="1400" dirty="0"/>
          </a:p>
        </p:txBody>
      </p:sp>
      <p:sp>
        <p:nvSpPr>
          <p:cNvPr id="19" name="gantt bar"/>
          <p:cNvSpPr/>
          <p:nvPr/>
        </p:nvSpPr>
        <p:spPr>
          <a:xfrm>
            <a:off x="5148072" y="3703320"/>
            <a:ext cx="544721" cy="457200"/>
          </a:xfrm>
          <a:prstGeom prst="roundRect">
            <a:avLst>
              <a:gd name="adj" fmla="val 16000"/>
            </a:avLst>
          </a:prstGeom>
          <a:solidFill>
            <a:srgbClr val="F1681D"/>
          </a:solidFill>
          <a:ln w="3175">
            <a:solidFill>
              <a:srgbClr val="F1681D"/>
            </a:solidFill>
            <a:prstDash val="solid"/>
          </a:ln>
        </p:spPr>
      </p:sp>
      <p:sp>
        <p:nvSpPr>
          <p:cNvPr id="20" name="text"/>
          <p:cNvSpPr txBox="1"/>
          <p:nvPr/>
        </p:nvSpPr>
        <p:spPr>
          <a:xfrm>
            <a:off x="5129784" y="3703320"/>
            <a:ext cx="581297"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arlow" pitchFamily="34" charset="0"/>
                <a:ea typeface="Barlow" pitchFamily="34" charset="-122"/>
                <a:cs typeface="Barlow" pitchFamily="34" charset="-120"/>
              </a:rPr>
              <a:t>A</a:t>
            </a:r>
            <a:endParaRPr lang="en-US" sz="1400" dirty="0"/>
          </a:p>
        </p:txBody>
      </p:sp>
      <p:sp>
        <p:nvSpPr>
          <p:cNvPr id="21" name="gantt bar"/>
          <p:cNvSpPr/>
          <p:nvPr/>
        </p:nvSpPr>
        <p:spPr>
          <a:xfrm>
            <a:off x="2241586" y="4251960"/>
            <a:ext cx="660981" cy="457200"/>
          </a:xfrm>
          <a:prstGeom prst="roundRect">
            <a:avLst>
              <a:gd name="adj" fmla="val 16000"/>
            </a:avLst>
          </a:prstGeom>
          <a:solidFill>
            <a:srgbClr val="9CC506"/>
          </a:solidFill>
          <a:ln w="3175">
            <a:solidFill>
              <a:srgbClr val="9CC506"/>
            </a:solidFill>
            <a:prstDash val="solid"/>
          </a:ln>
        </p:spPr>
      </p:sp>
      <p:sp>
        <p:nvSpPr>
          <p:cNvPr id="22" name="text"/>
          <p:cNvSpPr txBox="1"/>
          <p:nvPr/>
        </p:nvSpPr>
        <p:spPr>
          <a:xfrm>
            <a:off x="2223298" y="4251960"/>
            <a:ext cx="697557" cy="457200"/>
          </a:xfrm>
          <a:prstGeom prst="rect">
            <a:avLst/>
          </a:prstGeom>
          <a:noFill/>
          <a:ln/>
        </p:spPr>
        <p:txBody>
          <a:bodyPr wrap="square" lIns="0" tIns="0" rIns="0" bIns="0" rtlCol="0" anchor="ctr"/>
          <a:lstStyle/>
          <a:p>
            <a:pPr algn="ctr" indent="0" marL="0">
              <a:buNone/>
            </a:pPr>
            <a:r>
              <a:rPr lang="en-US" sz="1400" b="1" dirty="0">
                <a:solidFill>
                  <a:srgbClr val="1A1C14"/>
                </a:solidFill>
                <a:latin typeface="Barlow" pitchFamily="34" charset="0"/>
                <a:ea typeface="Barlow" pitchFamily="34" charset="-122"/>
                <a:cs typeface="Barlow" pitchFamily="34" charset="-120"/>
              </a:rPr>
              <a:t>B</a:t>
            </a:r>
            <a:endParaRPr lang="en-US" sz="1400" dirty="0"/>
          </a:p>
        </p:txBody>
      </p:sp>
      <p:sp>
        <p:nvSpPr>
          <p:cNvPr id="23" name="gantt bar"/>
          <p:cNvSpPr/>
          <p:nvPr/>
        </p:nvSpPr>
        <p:spPr>
          <a:xfrm>
            <a:off x="3055402" y="4251960"/>
            <a:ext cx="1358537" cy="457200"/>
          </a:xfrm>
          <a:prstGeom prst="roundRect">
            <a:avLst>
              <a:gd name="adj" fmla="val 16000"/>
            </a:avLst>
          </a:prstGeom>
          <a:solidFill>
            <a:srgbClr val="9CC506"/>
          </a:solidFill>
          <a:ln w="3175">
            <a:solidFill>
              <a:srgbClr val="9CC506"/>
            </a:solidFill>
            <a:prstDash val="solid"/>
          </a:ln>
        </p:spPr>
      </p:sp>
      <p:sp>
        <p:nvSpPr>
          <p:cNvPr id="24" name="text"/>
          <p:cNvSpPr txBox="1"/>
          <p:nvPr/>
        </p:nvSpPr>
        <p:spPr>
          <a:xfrm>
            <a:off x="3037114" y="4251960"/>
            <a:ext cx="1395113" cy="457200"/>
          </a:xfrm>
          <a:prstGeom prst="rect">
            <a:avLst/>
          </a:prstGeom>
          <a:noFill/>
          <a:ln/>
        </p:spPr>
        <p:txBody>
          <a:bodyPr wrap="square" lIns="0" tIns="0" rIns="0" bIns="0" rtlCol="0" anchor="ctr"/>
          <a:lstStyle/>
          <a:p>
            <a:pPr algn="ctr" indent="0" marL="0">
              <a:buNone/>
            </a:pPr>
            <a:r>
              <a:rPr lang="en-US" sz="1400" b="1" dirty="0">
                <a:solidFill>
                  <a:srgbClr val="1A1C14"/>
                </a:solidFill>
                <a:latin typeface="Barlow" pitchFamily="34" charset="0"/>
                <a:ea typeface="Barlow" pitchFamily="34" charset="-122"/>
                <a:cs typeface="Barlow" pitchFamily="34" charset="-120"/>
              </a:rPr>
              <a:t>E</a:t>
            </a:r>
            <a:endParaRPr lang="en-US" sz="1400" dirty="0"/>
          </a:p>
        </p:txBody>
      </p:sp>
      <p:sp>
        <p:nvSpPr>
          <p:cNvPr id="25" name="gantt bar"/>
          <p:cNvSpPr/>
          <p:nvPr/>
        </p:nvSpPr>
        <p:spPr>
          <a:xfrm>
            <a:off x="4450515" y="4251960"/>
            <a:ext cx="777240" cy="457200"/>
          </a:xfrm>
          <a:prstGeom prst="roundRect">
            <a:avLst>
              <a:gd name="adj" fmla="val 16000"/>
            </a:avLst>
          </a:prstGeom>
          <a:solidFill>
            <a:srgbClr val="9CC506"/>
          </a:solidFill>
          <a:ln w="3175">
            <a:solidFill>
              <a:srgbClr val="9CC506"/>
            </a:solidFill>
            <a:prstDash val="solid"/>
          </a:ln>
        </p:spPr>
      </p:sp>
      <p:sp>
        <p:nvSpPr>
          <p:cNvPr id="26" name="text"/>
          <p:cNvSpPr txBox="1"/>
          <p:nvPr/>
        </p:nvSpPr>
        <p:spPr>
          <a:xfrm>
            <a:off x="4432227" y="4251960"/>
            <a:ext cx="813816" cy="457200"/>
          </a:xfrm>
          <a:prstGeom prst="rect">
            <a:avLst/>
          </a:prstGeom>
          <a:noFill/>
          <a:ln/>
        </p:spPr>
        <p:txBody>
          <a:bodyPr wrap="square" lIns="0" tIns="0" rIns="0" bIns="0" rtlCol="0" anchor="ctr"/>
          <a:lstStyle/>
          <a:p>
            <a:pPr algn="ctr" indent="0" marL="0">
              <a:buNone/>
            </a:pPr>
            <a:r>
              <a:rPr lang="en-US" sz="1400" b="1" dirty="0">
                <a:solidFill>
                  <a:srgbClr val="1A1C14"/>
                </a:solidFill>
                <a:latin typeface="Barlow" pitchFamily="34" charset="0"/>
                <a:ea typeface="Barlow" pitchFamily="34" charset="-122"/>
                <a:cs typeface="Barlow" pitchFamily="34" charset="-120"/>
              </a:rPr>
              <a:t>D</a:t>
            </a:r>
            <a:endParaRPr lang="en-US" sz="1400" dirty="0"/>
          </a:p>
        </p:txBody>
      </p:sp>
      <p:sp>
        <p:nvSpPr>
          <p:cNvPr id="27" name="gantt bar"/>
          <p:cNvSpPr/>
          <p:nvPr/>
        </p:nvSpPr>
        <p:spPr>
          <a:xfrm>
            <a:off x="5264331" y="4251960"/>
            <a:ext cx="428462" cy="457200"/>
          </a:xfrm>
          <a:prstGeom prst="roundRect">
            <a:avLst>
              <a:gd name="adj" fmla="val 17073"/>
            </a:avLst>
          </a:prstGeom>
          <a:solidFill>
            <a:srgbClr val="9CC506"/>
          </a:solidFill>
          <a:ln w="3175">
            <a:solidFill>
              <a:srgbClr val="9CC506"/>
            </a:solidFill>
            <a:prstDash val="solid"/>
          </a:ln>
        </p:spPr>
      </p:sp>
      <p:sp>
        <p:nvSpPr>
          <p:cNvPr id="28" name="text"/>
          <p:cNvSpPr txBox="1"/>
          <p:nvPr/>
        </p:nvSpPr>
        <p:spPr>
          <a:xfrm>
            <a:off x="5246043" y="4251960"/>
            <a:ext cx="465038" cy="457200"/>
          </a:xfrm>
          <a:prstGeom prst="rect">
            <a:avLst/>
          </a:prstGeom>
          <a:noFill/>
          <a:ln/>
        </p:spPr>
        <p:txBody>
          <a:bodyPr wrap="square" lIns="0" tIns="0" rIns="0" bIns="0" rtlCol="0" anchor="ctr"/>
          <a:lstStyle/>
          <a:p>
            <a:pPr algn="ctr" indent="0" marL="0">
              <a:buNone/>
            </a:pPr>
            <a:r>
              <a:rPr lang="en-US" sz="1400" b="1" dirty="0">
                <a:solidFill>
                  <a:srgbClr val="1A1C14"/>
                </a:solidFill>
                <a:latin typeface="Barlow" pitchFamily="34" charset="0"/>
                <a:ea typeface="Barlow" pitchFamily="34" charset="-122"/>
                <a:cs typeface="Barlow" pitchFamily="34" charset="-120"/>
              </a:rPr>
              <a:t>C</a:t>
            </a:r>
            <a:endParaRPr lang="en-US" sz="1400" dirty="0"/>
          </a:p>
        </p:txBody>
      </p:sp>
      <p:sp>
        <p:nvSpPr>
          <p:cNvPr id="29" name="gantt bar"/>
          <p:cNvSpPr/>
          <p:nvPr/>
        </p:nvSpPr>
        <p:spPr>
          <a:xfrm>
            <a:off x="5729369" y="4251960"/>
            <a:ext cx="195943" cy="457200"/>
          </a:xfrm>
          <a:prstGeom prst="roundRect">
            <a:avLst>
              <a:gd name="adj" fmla="val 37333"/>
            </a:avLst>
          </a:prstGeom>
          <a:solidFill>
            <a:srgbClr val="9CC506"/>
          </a:solidFill>
          <a:ln w="3175">
            <a:solidFill>
              <a:srgbClr val="9CC506"/>
            </a:solidFill>
            <a:prstDash val="solid"/>
          </a:ln>
        </p:spPr>
      </p:sp>
      <p:sp>
        <p:nvSpPr>
          <p:cNvPr id="30" name="text"/>
          <p:cNvSpPr txBox="1"/>
          <p:nvPr/>
        </p:nvSpPr>
        <p:spPr>
          <a:xfrm>
            <a:off x="5711081" y="4251960"/>
            <a:ext cx="232519" cy="457200"/>
          </a:xfrm>
          <a:prstGeom prst="rect">
            <a:avLst/>
          </a:prstGeom>
          <a:noFill/>
          <a:ln/>
        </p:spPr>
        <p:txBody>
          <a:bodyPr wrap="square" lIns="0" tIns="0" rIns="0" bIns="0" rtlCol="0" anchor="ctr"/>
          <a:lstStyle/>
          <a:p>
            <a:pPr algn="ctr" indent="0" marL="0">
              <a:buNone/>
            </a:pPr>
            <a:r>
              <a:rPr lang="en-US" sz="1400" b="1" dirty="0">
                <a:solidFill>
                  <a:srgbClr val="1A1C14"/>
                </a:solidFill>
                <a:latin typeface="Barlow" pitchFamily="34" charset="0"/>
                <a:ea typeface="Barlow" pitchFamily="34" charset="-122"/>
                <a:cs typeface="Barlow" pitchFamily="34" charset="-120"/>
              </a:rPr>
              <a:t>A</a:t>
            </a:r>
            <a:endParaRPr lang="en-US" sz="1400" dirty="0"/>
          </a:p>
        </p:txBody>
      </p:sp>
      <p:sp>
        <p:nvSpPr>
          <p:cNvPr id="31" name="text"/>
          <p:cNvSpPr txBox="1"/>
          <p:nvPr/>
        </p:nvSpPr>
        <p:spPr>
          <a:xfrm>
            <a:off x="1600200" y="4782312"/>
            <a:ext cx="548640" cy="274320"/>
          </a:xfrm>
          <a:prstGeom prst="rect">
            <a:avLst/>
          </a:prstGeom>
          <a:noFill/>
          <a:ln/>
        </p:spPr>
        <p:txBody>
          <a:bodyPr wrap="square" lIns="0" tIns="0" rIns="0" bIns="0" rtlCol="0" anchor="t"/>
          <a:lstStyle/>
          <a:p>
            <a:pPr algn="ctr" indent="0" marL="0">
              <a:buNone/>
            </a:pPr>
            <a:r>
              <a:rPr lang="en-US" sz="1200" dirty="0">
                <a:solidFill>
                  <a:srgbClr val="6B6B66"/>
                </a:solidFill>
                <a:latin typeface="Barlow" pitchFamily="34" charset="0"/>
                <a:ea typeface="Barlow" pitchFamily="34" charset="-122"/>
                <a:cs typeface="Barlow" pitchFamily="34" charset="-120"/>
              </a:rPr>
              <a:t>0</a:t>
            </a:r>
            <a:endParaRPr lang="en-US" sz="1200" dirty="0"/>
          </a:p>
        </p:txBody>
      </p:sp>
      <p:sp>
        <p:nvSpPr>
          <p:cNvPr id="32" name="text"/>
          <p:cNvSpPr txBox="1"/>
          <p:nvPr/>
        </p:nvSpPr>
        <p:spPr>
          <a:xfrm>
            <a:off x="2762794" y="4782312"/>
            <a:ext cx="548640" cy="274320"/>
          </a:xfrm>
          <a:prstGeom prst="rect">
            <a:avLst/>
          </a:prstGeom>
          <a:noFill/>
          <a:ln/>
        </p:spPr>
        <p:txBody>
          <a:bodyPr wrap="square" lIns="0" tIns="0" rIns="0" bIns="0" rtlCol="0" anchor="t"/>
          <a:lstStyle/>
          <a:p>
            <a:pPr algn="ctr" indent="0" marL="0">
              <a:buNone/>
            </a:pPr>
            <a:r>
              <a:rPr lang="en-US" sz="1200" dirty="0">
                <a:solidFill>
                  <a:srgbClr val="6B6B66"/>
                </a:solidFill>
                <a:latin typeface="Barlow" pitchFamily="34" charset="0"/>
                <a:ea typeface="Barlow" pitchFamily="34" charset="-122"/>
                <a:cs typeface="Barlow" pitchFamily="34" charset="-120"/>
              </a:rPr>
              <a:t>10</a:t>
            </a:r>
            <a:endParaRPr lang="en-US" sz="1200" dirty="0"/>
          </a:p>
        </p:txBody>
      </p:sp>
      <p:sp>
        <p:nvSpPr>
          <p:cNvPr id="33" name="text"/>
          <p:cNvSpPr txBox="1"/>
          <p:nvPr/>
        </p:nvSpPr>
        <p:spPr>
          <a:xfrm>
            <a:off x="3925389" y="4782312"/>
            <a:ext cx="548640" cy="274320"/>
          </a:xfrm>
          <a:prstGeom prst="rect">
            <a:avLst/>
          </a:prstGeom>
          <a:noFill/>
          <a:ln/>
        </p:spPr>
        <p:txBody>
          <a:bodyPr wrap="square" lIns="0" tIns="0" rIns="0" bIns="0" rtlCol="0" anchor="t"/>
          <a:lstStyle/>
          <a:p>
            <a:pPr algn="ctr" indent="0" marL="0">
              <a:buNone/>
            </a:pPr>
            <a:r>
              <a:rPr lang="en-US" sz="1200" dirty="0">
                <a:solidFill>
                  <a:srgbClr val="6B6B66"/>
                </a:solidFill>
                <a:latin typeface="Barlow" pitchFamily="34" charset="0"/>
                <a:ea typeface="Barlow" pitchFamily="34" charset="-122"/>
                <a:cs typeface="Barlow" pitchFamily="34" charset="-120"/>
              </a:rPr>
              <a:t>20</a:t>
            </a:r>
            <a:endParaRPr lang="en-US" sz="1200" dirty="0"/>
          </a:p>
        </p:txBody>
      </p:sp>
      <p:sp>
        <p:nvSpPr>
          <p:cNvPr id="34" name="text"/>
          <p:cNvSpPr txBox="1"/>
          <p:nvPr/>
        </p:nvSpPr>
        <p:spPr>
          <a:xfrm>
            <a:off x="5087983" y="4782312"/>
            <a:ext cx="548640" cy="274320"/>
          </a:xfrm>
          <a:prstGeom prst="rect">
            <a:avLst/>
          </a:prstGeom>
          <a:noFill/>
          <a:ln/>
        </p:spPr>
        <p:txBody>
          <a:bodyPr wrap="square" lIns="0" tIns="0" rIns="0" bIns="0" rtlCol="0" anchor="t"/>
          <a:lstStyle/>
          <a:p>
            <a:pPr algn="ctr" indent="0" marL="0">
              <a:buNone/>
            </a:pPr>
            <a:r>
              <a:rPr lang="en-US" sz="1200" dirty="0">
                <a:solidFill>
                  <a:srgbClr val="6B6B66"/>
                </a:solidFill>
                <a:latin typeface="Barlow" pitchFamily="34" charset="0"/>
                <a:ea typeface="Barlow" pitchFamily="34" charset="-122"/>
                <a:cs typeface="Barlow" pitchFamily="34" charset="-120"/>
              </a:rPr>
              <a:t>30</a:t>
            </a:r>
            <a:endParaRPr lang="en-US" sz="1200" dirty="0"/>
          </a:p>
        </p:txBody>
      </p:sp>
      <p:sp>
        <p:nvSpPr>
          <p:cNvPr id="35" name="text"/>
          <p:cNvSpPr txBox="1"/>
          <p:nvPr/>
        </p:nvSpPr>
        <p:spPr>
          <a:xfrm>
            <a:off x="5394960" y="4782312"/>
            <a:ext cx="731520" cy="274320"/>
          </a:xfrm>
          <a:prstGeom prst="rect">
            <a:avLst/>
          </a:prstGeom>
          <a:noFill/>
          <a:ln/>
        </p:spPr>
        <p:txBody>
          <a:bodyPr wrap="square" lIns="0" tIns="0" rIns="0" bIns="0" rtlCol="0" anchor="t"/>
          <a:lstStyle/>
          <a:p>
            <a:pPr algn="r" indent="0" marL="0">
              <a:buNone/>
            </a:pPr>
            <a:r>
              <a:rPr lang="en-US" sz="1200" dirty="0">
                <a:solidFill>
                  <a:srgbClr val="6B6B66"/>
                </a:solidFill>
                <a:latin typeface="Barlow" pitchFamily="34" charset="0"/>
                <a:ea typeface="Barlow" pitchFamily="34" charset="-122"/>
                <a:cs typeface="Barlow" pitchFamily="34" charset="-120"/>
              </a:rPr>
              <a:t>35 jam</a:t>
            </a:r>
            <a:endParaRPr lang="en-US" sz="1200" dirty="0"/>
          </a:p>
        </p:txBody>
      </p:sp>
      <p:sp>
        <p:nvSpPr>
          <p:cNvPr id="36" name="text"/>
          <p:cNvSpPr txBox="1"/>
          <p:nvPr/>
        </p:nvSpPr>
        <p:spPr>
          <a:xfrm>
            <a:off x="822960" y="5257800"/>
            <a:ext cx="5212080" cy="822960"/>
          </a:xfrm>
          <a:prstGeom prst="rect">
            <a:avLst/>
          </a:prstGeom>
          <a:noFill/>
          <a:ln/>
        </p:spPr>
        <p:txBody>
          <a:bodyPr wrap="square" lIns="0" tIns="0" rIns="0" bIns="0" rtlCol="0" anchor="t"/>
          <a:lstStyle/>
          <a:p>
            <a:pPr algn="l" indent="0" marL="0">
              <a:buNone/>
            </a:pPr>
            <a:r>
              <a:rPr lang="en-US" sz="1400" i="1" dirty="0">
                <a:solidFill>
                  <a:srgbClr val="6B6B66"/>
                </a:solidFill>
                <a:latin typeface="Barlow" pitchFamily="34" charset="0"/>
                <a:ea typeface="Barlow" pitchFamily="34" charset="-122"/>
                <a:cs typeface="Barlow" pitchFamily="34" charset="-120"/>
              </a:rPr>
              <a:t>Pusat kerja kedua menganggur hanya saat menunggu pekerjaan pertama.</a:t>
            </a:r>
            <a:endParaRPr lang="en-US" sz="1400" dirty="0"/>
          </a:p>
        </p:txBody>
      </p:sp>
      <p:sp>
        <p:nvSpPr>
          <p:cNvPr id="37" name="card"/>
          <p:cNvSpPr/>
          <p:nvPr/>
        </p:nvSpPr>
        <p:spPr>
          <a:xfrm>
            <a:off x="6583680" y="1371600"/>
            <a:ext cx="5059375" cy="4892040"/>
          </a:xfrm>
          <a:prstGeom prst="roundRect">
            <a:avLst>
              <a:gd name="adj" fmla="val 4112"/>
            </a:avLst>
          </a:prstGeom>
          <a:solidFill>
            <a:srgbClr val="FFFFFF"/>
          </a:solidFill>
          <a:ln w="3175">
            <a:solidFill>
              <a:srgbClr val="FFFFFF"/>
            </a:solidFill>
            <a:prstDash val="solid"/>
          </a:ln>
        </p:spPr>
      </p:sp>
      <p:sp>
        <p:nvSpPr>
          <p:cNvPr id="38" name="heading"/>
          <p:cNvSpPr txBox="1"/>
          <p:nvPr/>
        </p:nvSpPr>
        <p:spPr>
          <a:xfrm>
            <a:off x="6858000" y="1554480"/>
            <a:ext cx="4510735" cy="457200"/>
          </a:xfrm>
          <a:prstGeom prst="rect">
            <a:avLst/>
          </a:prstGeom>
          <a:noFill/>
          <a:ln/>
        </p:spPr>
        <p:txBody>
          <a:bodyPr wrap="square" lIns="0" tIns="0" rIns="0" bIns="0" rtlCol="0" anchor="t"/>
          <a:lstStyle/>
          <a:p>
            <a:pPr algn="l"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STAF GATE DENGAN JADWAL SIKLIS</a:t>
            </a:r>
            <a:endParaRPr lang="en-US" sz="2600" dirty="0"/>
          </a:p>
        </p:txBody>
      </p:sp>
      <p:sp>
        <p:nvSpPr>
          <p:cNvPr id="39" name="text"/>
          <p:cNvSpPr txBox="1"/>
          <p:nvPr/>
        </p:nvSpPr>
        <p:spPr>
          <a:xfrm>
            <a:off x="6858000" y="2057400"/>
            <a:ext cx="4510735" cy="91440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Kebutuhan petugas </a:t>
            </a:r>
            <a:r>
              <a:rPr lang="en-US" sz="1500" i="1" dirty="0">
                <a:solidFill>
                  <a:srgbClr val="1A1C14"/>
                </a:solidFill>
                <a:latin typeface="Barlow" pitchFamily="34" charset="0"/>
                <a:ea typeface="Barlow" pitchFamily="34" charset="-122"/>
                <a:cs typeface="Barlow" pitchFamily="34" charset="-120"/>
              </a:rPr>
              <a:t>gate</a:t>
            </a:r>
            <a:r>
              <a:rPr lang="en-US" sz="1500" dirty="0">
                <a:solidFill>
                  <a:srgbClr val="1A1C14"/>
                </a:solidFill>
                <a:latin typeface="Barlow" pitchFamily="34" charset="0"/>
                <a:ea typeface="Barlow" pitchFamily="34" charset="-122"/>
                <a:cs typeface="Barlow" pitchFamily="34" charset="-120"/>
              </a:rPr>
              <a:t> Senin–Minggu: 5, 5, 6, 5, 4, 3, 3. Pola lima hari kerja dan dua hari libur berurutan: tujuh petugas mencukupi.</a:t>
            </a:r>
            <a:endParaRPr lang="en-US" sz="15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6858000" y="3017520"/>
          <a:ext cx="4510735" cy="914400"/>
        </p:xfrm>
        <a:graphic>
          <a:graphicData uri="http://schemas.openxmlformats.org/drawingml/2006/table">
            <a:tbl>
              <a:tblPr/>
              <a:tblGrid>
                <a:gridCol w="1143000"/>
                <a:gridCol w="481105"/>
                <a:gridCol w="481105"/>
                <a:gridCol w="481105"/>
                <a:gridCol w="481105"/>
                <a:gridCol w="481105"/>
                <a:gridCol w="481105"/>
                <a:gridCol w="481105"/>
              </a:tblGrid>
              <a:tr h="384048">
                <a:tc>
                  <a:txBody>
                    <a:bodyPr/>
                    <a:lstStyle/>
                    <a:p>
                      <a:pPr algn="ctr" indent="0" marL="0">
                        <a:buNone/>
                      </a:pP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250" b="1" dirty="0">
                          <a:solidFill>
                            <a:srgbClr val="FFFFFF"/>
                          </a:solidFill>
                          <a:latin typeface="Barlow" pitchFamily="34" charset="0"/>
                          <a:ea typeface="Barlow" pitchFamily="34" charset="-122"/>
                          <a:cs typeface="Barlow" pitchFamily="34" charset="-120"/>
                        </a:rPr>
                        <a:t>Sen</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250" b="1" dirty="0">
                          <a:solidFill>
                            <a:srgbClr val="FFFFFF"/>
                          </a:solidFill>
                          <a:latin typeface="Barlow" pitchFamily="34" charset="0"/>
                          <a:ea typeface="Barlow" pitchFamily="34" charset="-122"/>
                          <a:cs typeface="Barlow" pitchFamily="34" charset="-120"/>
                        </a:rPr>
                        <a:t>Sel</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250" b="1" dirty="0">
                          <a:solidFill>
                            <a:srgbClr val="FFFFFF"/>
                          </a:solidFill>
                          <a:latin typeface="Barlow" pitchFamily="34" charset="0"/>
                          <a:ea typeface="Barlow" pitchFamily="34" charset="-122"/>
                          <a:cs typeface="Barlow" pitchFamily="34" charset="-120"/>
                        </a:rPr>
                        <a:t>Rab</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250" b="1" dirty="0">
                          <a:solidFill>
                            <a:srgbClr val="FFFFFF"/>
                          </a:solidFill>
                          <a:latin typeface="Barlow" pitchFamily="34" charset="0"/>
                          <a:ea typeface="Barlow" pitchFamily="34" charset="-122"/>
                          <a:cs typeface="Barlow" pitchFamily="34" charset="-120"/>
                        </a:rPr>
                        <a:t>Kam</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250" b="1" dirty="0">
                          <a:solidFill>
                            <a:srgbClr val="FFFFFF"/>
                          </a:solidFill>
                          <a:latin typeface="Barlow" pitchFamily="34" charset="0"/>
                          <a:ea typeface="Barlow" pitchFamily="34" charset="-122"/>
                          <a:cs typeface="Barlow" pitchFamily="34" charset="-120"/>
                        </a:rPr>
                        <a:t>Jum</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250" b="1" dirty="0">
                          <a:solidFill>
                            <a:srgbClr val="FFFFFF"/>
                          </a:solidFill>
                          <a:latin typeface="Barlow" pitchFamily="34" charset="0"/>
                          <a:ea typeface="Barlow" pitchFamily="34" charset="-122"/>
                          <a:cs typeface="Barlow" pitchFamily="34" charset="-120"/>
                        </a:rPr>
                        <a:t>Sab</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c>
                  <a:txBody>
                    <a:bodyPr/>
                    <a:lstStyle/>
                    <a:p>
                      <a:pPr algn="ctr" indent="0" marL="0">
                        <a:buNone/>
                      </a:pPr>
                      <a:r>
                        <a:rPr lang="en-US" sz="1250" b="1" dirty="0">
                          <a:solidFill>
                            <a:srgbClr val="FFFFFF"/>
                          </a:solidFill>
                          <a:latin typeface="Barlow" pitchFamily="34" charset="0"/>
                          <a:ea typeface="Barlow" pitchFamily="34" charset="-122"/>
                          <a:cs typeface="Barlow" pitchFamily="34" charset="-120"/>
                        </a:rPr>
                        <a:t>Min</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1A1C14"/>
                    </a:solidFill>
                  </a:tcPr>
                </a:tc>
              </a:tr>
              <a:tr h="384048">
                <a:tc>
                  <a:txBody>
                    <a:bodyPr/>
                    <a:lstStyle/>
                    <a:p>
                      <a:pPr algn="l" indent="0" marL="0">
                        <a:buNone/>
                      </a:pPr>
                      <a:r>
                        <a:rPr lang="en-US" sz="1250" b="1" dirty="0">
                          <a:solidFill>
                            <a:srgbClr val="1A1C14"/>
                          </a:solidFill>
                          <a:latin typeface="Barlow" pitchFamily="34" charset="0"/>
                          <a:ea typeface="Barlow" pitchFamily="34" charset="-122"/>
                          <a:cs typeface="Barlow" pitchFamily="34" charset="-120"/>
                        </a:rPr>
                        <a:t>Kebutuhan</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5</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5</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6</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5</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4</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3</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3</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1A1C14"/>
                          </a:solidFill>
                          <a:latin typeface="Barlow" pitchFamily="34" charset="0"/>
                          <a:ea typeface="Barlow" pitchFamily="34" charset="-122"/>
                          <a:cs typeface="Barlow" pitchFamily="34" charset="-120"/>
                        </a:rPr>
                        <a:t>Kapasitas</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4F4F2"/>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6</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6</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7</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5</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5</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3</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3</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9CC506"/>
                    </a:solidFill>
                  </a:tcPr>
                </a:tc>
              </a:tr>
              <a:tr h="384048">
                <a:tc>
                  <a:txBody>
                    <a:bodyPr/>
                    <a:lstStyle/>
                    <a:p>
                      <a:pPr algn="l" indent="0" marL="0">
                        <a:buNone/>
                      </a:pPr>
                      <a:r>
                        <a:rPr lang="en-US" sz="1250" b="1" dirty="0">
                          <a:solidFill>
                            <a:srgbClr val="1A1C14"/>
                          </a:solidFill>
                          <a:latin typeface="Barlow" pitchFamily="34" charset="0"/>
                          <a:ea typeface="Barlow" pitchFamily="34" charset="-122"/>
                          <a:cs typeface="Barlow" pitchFamily="34" charset="-120"/>
                        </a:rPr>
                        <a:t>Kelebihan</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1</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1</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1</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0</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1</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0</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C14"/>
                          </a:solidFill>
                          <a:latin typeface="Barlow" pitchFamily="34" charset="0"/>
                          <a:ea typeface="Barlow" pitchFamily="34" charset="-122"/>
                          <a:cs typeface="Barlow" pitchFamily="34" charset="-120"/>
                        </a:rPr>
                        <a:t>0</a:t>
                      </a:r>
                      <a:endParaRPr lang="en-US" sz="1250" dirty="0">
                        <a:latin typeface="Barlow" charset="0"/>
                        <a:ea typeface="Barlow" charset="0"/>
                        <a:cs typeface="Barlow" charset="0"/>
                      </a:endParaRPr>
                    </a:p>
                  </a:txBody>
                  <a:tcPr marL="54864" marR="54864" marT="54864" marB="54864" anchor="ctr">
                    <a:lnL w="9525" cap="flat" cmpd="sng" algn="ctr">
                      <a:solidFill>
                        <a:srgbClr val="DADAD5"/>
                      </a:solidFill>
                      <a:prstDash val="solid"/>
                      <a:round/>
                      <a:headEnd type="none" w="med" len="med"/>
                      <a:tailEnd type="none" w="med" len="med"/>
                    </a:lnL>
                    <a:lnR w="9525" cap="flat" cmpd="sng" algn="ctr">
                      <a:solidFill>
                        <a:srgbClr val="DADAD5"/>
                      </a:solidFill>
                      <a:prstDash val="solid"/>
                      <a:round/>
                      <a:headEnd type="none" w="med" len="med"/>
                      <a:tailEnd type="none" w="med" len="med"/>
                    </a:lnR>
                    <a:lnT w="9525" cap="flat" cmpd="sng" algn="ctr">
                      <a:solidFill>
                        <a:srgbClr val="DADAD5"/>
                      </a:solidFill>
                      <a:prstDash val="solid"/>
                      <a:round/>
                      <a:headEnd type="none" w="med" len="med"/>
                      <a:tailEnd type="none" w="med" len="med"/>
                    </a:lnT>
                    <a:lnB w="9525" cap="flat" cmpd="sng" algn="ctr">
                      <a:solidFill>
                        <a:srgbClr val="DADAD5"/>
                      </a:solidFill>
                      <a:prstDash val="solid"/>
                      <a:round/>
                      <a:headEnd type="none" w="med" len="med"/>
                      <a:tailEnd type="none" w="med" len="med"/>
                    </a:lnB>
                    <a:solidFill>
                      <a:srgbClr val="FFFFFF"/>
                    </a:solidFill>
                  </a:tcPr>
                </a:tc>
              </a:tr>
            </a:tbl>
          </a:graphicData>
        </a:graphic>
      </p:graphicFrame>
      <p:sp>
        <p:nvSpPr>
          <p:cNvPr id="41" name="text"/>
          <p:cNvSpPr txBox="1"/>
          <p:nvPr/>
        </p:nvSpPr>
        <p:spPr>
          <a:xfrm>
            <a:off x="6858000" y="4709160"/>
            <a:ext cx="4510735" cy="548640"/>
          </a:xfrm>
          <a:prstGeom prst="rect">
            <a:avLst/>
          </a:prstGeom>
          <a:noFill/>
          <a:ln/>
        </p:spPr>
        <p:txBody>
          <a:bodyPr wrap="square" lIns="0" tIns="0" rIns="0" bIns="0" rtlCol="0" anchor="t"/>
          <a:lstStyle/>
          <a:p>
            <a:pPr algn="l" indent="0" marL="0">
              <a:buNone/>
            </a:pPr>
            <a:r>
              <a:rPr lang="en-US" sz="1400" b="1" dirty="0">
                <a:solidFill>
                  <a:srgbClr val="1A1C14"/>
                </a:solidFill>
                <a:latin typeface="Barlow" pitchFamily="34" charset="0"/>
                <a:ea typeface="Barlow" pitchFamily="34" charset="-122"/>
                <a:cs typeface="Barlow" pitchFamily="34" charset="-120"/>
              </a:rPr>
              <a:t>Hari libur:</a:t>
            </a:r>
            <a:r>
              <a:rPr lang="en-US" sz="1400" dirty="0">
                <a:solidFill>
                  <a:srgbClr val="1A1C14"/>
                </a:solidFill>
                <a:latin typeface="Barlow" pitchFamily="34" charset="0"/>
                <a:ea typeface="Barlow" pitchFamily="34" charset="-122"/>
                <a:cs typeface="Barlow" pitchFamily="34" charset="-120"/>
              </a:rPr>
              <a:t> P1, P2, P4, P7 Sabtu–Minggu; P3, P6 Kamis–Jumat; P5 Senin–Selasa (P = petugas).</a:t>
            </a:r>
            <a:endParaRPr lang="en-US" sz="1400" dirty="0"/>
          </a:p>
        </p:txBody>
      </p:sp>
      <p:sp>
        <p:nvSpPr>
          <p:cNvPr id="42" name="text"/>
          <p:cNvSpPr txBox="1"/>
          <p:nvPr/>
        </p:nvSpPr>
        <p:spPr>
          <a:xfrm>
            <a:off x="6858000" y="5321808"/>
            <a:ext cx="4510735" cy="896112"/>
          </a:xfrm>
          <a:prstGeom prst="rect">
            <a:avLst/>
          </a:prstGeom>
          <a:noFill/>
          <a:ln/>
        </p:spPr>
        <p:txBody>
          <a:bodyPr wrap="square" lIns="0" tIns="0" rIns="0" bIns="0" rtlCol="0" anchor="t"/>
          <a:lstStyle/>
          <a:p>
            <a:pPr algn="l" indent="0" marL="0">
              <a:buNone/>
            </a:pPr>
            <a:r>
              <a:rPr lang="en-US" sz="1350" i="1" dirty="0">
                <a:solidFill>
                  <a:srgbClr val="6B6B66"/>
                </a:solidFill>
                <a:latin typeface="Barlow" pitchFamily="34" charset="0"/>
                <a:ea typeface="Barlow" pitchFamily="34" charset="-122"/>
                <a:cs typeface="Barlow" pitchFamily="34" charset="-120"/>
              </a:rPr>
              <a:t>Kapasitas </a:t>
            </a:r>
            <a:r>
              <a:rPr lang="en-US" sz="1350" i="1" dirty="0">
                <a:solidFill>
                  <a:srgbClr val="6B6B66"/>
                </a:solidFill>
                <a:latin typeface="Barlow" pitchFamily="34" charset="0"/>
                <a:ea typeface="Barlow" pitchFamily="34" charset="-122"/>
                <a:cs typeface="Barlow" pitchFamily="34" charset="-120"/>
              </a:rPr>
              <a:t>deicing</a:t>
            </a:r>
            <a:r>
              <a:rPr lang="en-US" sz="1350" i="1" dirty="0">
                <a:solidFill>
                  <a:srgbClr val="6B6B66"/>
                </a:solidFill>
                <a:latin typeface="Barlow" pitchFamily="34" charset="0"/>
                <a:ea typeface="Barlow" pitchFamily="34" charset="-122"/>
                <a:cs typeface="Barlow" pitchFamily="34" charset="-120"/>
              </a:rPr>
              <a:t> disiapkan delapan jam sebelum hujan beku tiba (10.00 untuk 18.00): staf darat musim dingin dijadwalkan dari prakiraan, bukan dari kejadian.</a:t>
            </a:r>
            <a:endParaRPr lang="en-US" sz="135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681D"/>
        </a:solidFill>
      </p:bgPr>
    </p:bg>
    <p:spTree>
      <p:nvGrpSpPr>
        <p:cNvPr id="1" name=""/>
        <p:cNvGrpSpPr/>
        <p:nvPr/>
      </p:nvGrpSpPr>
      <p:grpSpPr>
        <a:xfrm>
          <a:off x="0" y="0"/>
          <a:ext cx="0" cy="0"/>
          <a:chOff x="0" y="0"/>
          <a:chExt cx="0" cy="0"/>
        </a:xfrm>
      </p:grpSpPr>
      <p:sp>
        <p:nvSpPr>
          <p:cNvPr id="3" name="headline"/>
          <p:cNvSpPr txBox="1"/>
          <p:nvPr/>
        </p:nvSpPr>
        <p:spPr>
          <a:xfrm>
            <a:off x="548640" y="502920"/>
            <a:ext cx="3404037" cy="621792"/>
          </a:xfrm>
          <a:prstGeom prst="rect">
            <a:avLst/>
          </a:prstGeom>
          <a:noFill/>
          <a:ln/>
        </p:spPr>
        <p:txBody>
          <a:bodyPr wrap="square" lIns="0" tIns="0" rIns="0" bIns="0" rtlCol="0" anchor="ctr"/>
          <a:lstStyle/>
          <a:p>
            <a:pPr algn="l" indent="0" marL="0">
              <a:buNone/>
            </a:pPr>
            <a:r>
              <a:rPr lang="en-US" sz="4800" dirty="0">
                <a:solidFill>
                  <a:srgbClr val="FFFFFF"/>
                </a:solidFill>
                <a:latin typeface="Barlow Condensed ExtraBold" pitchFamily="34" charset="0"/>
                <a:ea typeface="Barlow Condensed ExtraBold" pitchFamily="34" charset="-122"/>
                <a:cs typeface="Barlow Condensed ExtraBold" pitchFamily="34" charset="-120"/>
              </a:rPr>
              <a:t>EVALUASI DAN</a:t>
            </a:r>
            <a:endParaRPr lang="en-US" sz="4800" dirty="0"/>
          </a:p>
        </p:txBody>
      </p:sp>
      <p:sp>
        <p:nvSpPr>
          <p:cNvPr id="4" name="highlight"/>
          <p:cNvSpPr/>
          <p:nvPr/>
        </p:nvSpPr>
        <p:spPr>
          <a:xfrm>
            <a:off x="3800277" y="527792"/>
            <a:ext cx="3288213" cy="572049"/>
          </a:xfrm>
          <a:prstGeom prst="roundRect">
            <a:avLst>
              <a:gd name="adj" fmla="val 12788"/>
            </a:avLst>
          </a:prstGeom>
          <a:solidFill>
            <a:srgbClr val="1A1C14"/>
          </a:solidFill>
          <a:ln w="3175">
            <a:solidFill>
              <a:srgbClr val="1A1C14"/>
            </a:solidFill>
            <a:prstDash val="solid"/>
          </a:ln>
        </p:spPr>
      </p:sp>
      <p:sp>
        <p:nvSpPr>
          <p:cNvPr id="5" name="headline"/>
          <p:cNvSpPr txBox="1"/>
          <p:nvPr/>
        </p:nvSpPr>
        <p:spPr>
          <a:xfrm>
            <a:off x="3910005" y="502920"/>
            <a:ext cx="3343077" cy="621792"/>
          </a:xfrm>
          <a:prstGeom prst="rect">
            <a:avLst/>
          </a:prstGeom>
          <a:noFill/>
          <a:ln/>
        </p:spPr>
        <p:txBody>
          <a:bodyPr wrap="square" lIns="0" tIns="0" rIns="0" bIns="0" rtlCol="0" anchor="ctr"/>
          <a:lstStyle/>
          <a:p>
            <a:pPr algn="l" indent="0" marL="0">
              <a:buNone/>
            </a:pPr>
            <a:r>
              <a:rPr lang="en-US" sz="4800" dirty="0">
                <a:solidFill>
                  <a:srgbClr val="FFFFFF"/>
                </a:solidFill>
                <a:latin typeface="Barlow Condensed ExtraBold" pitchFamily="34" charset="0"/>
                <a:ea typeface="Barlow Condensed ExtraBold" pitchFamily="34" charset="-122"/>
                <a:cs typeface="Barlow Condensed ExtraBold" pitchFamily="34" charset="-120"/>
              </a:rPr>
              <a:t>REKOMENDASI</a:t>
            </a:r>
            <a:endParaRPr lang="en-US" sz="4800" dirty="0"/>
          </a:p>
        </p:txBody>
      </p:sp>
      <p:sp>
        <p:nvSpPr>
          <p:cNvPr id="6" name="text"/>
          <p:cNvSpPr txBox="1"/>
          <p:nvPr/>
        </p:nvSpPr>
        <p:spPr>
          <a:xfrm>
            <a:off x="548640" y="1325880"/>
            <a:ext cx="11094415" cy="685800"/>
          </a:xfrm>
          <a:prstGeom prst="rect">
            <a:avLst/>
          </a:prstGeom>
          <a:noFill/>
          <a:ln/>
        </p:spPr>
        <p:txBody>
          <a:bodyPr wrap="square" lIns="0" tIns="0" rIns="0" bIns="0" rtlCol="0" anchor="t"/>
          <a:lstStyle/>
          <a:p>
            <a:pPr algn="l" indent="0" marL="0">
              <a:buNone/>
            </a:pPr>
            <a:r>
              <a:rPr lang="en-US" sz="1700" dirty="0">
                <a:solidFill>
                  <a:srgbClr val="FFFFFF"/>
                </a:solidFill>
                <a:latin typeface="Barlow" pitchFamily="34" charset="0"/>
                <a:ea typeface="Barlow" pitchFamily="34" charset="-122"/>
                <a:cs typeface="Barlow" pitchFamily="34" charset="-120"/>
              </a:rPr>
              <a:t>Alaska kuat pada penjadwalan ulang jangka pendek dan sedang memperkuat perencanaan perawatan berbasis kapasitas; titik lemah yang terbukti adalah ketahanan infrastruktur terintegrasi.</a:t>
            </a:r>
            <a:endParaRPr lang="en-US" sz="1700" dirty="0"/>
          </a:p>
        </p:txBody>
      </p:sp>
      <p:sp>
        <p:nvSpPr>
          <p:cNvPr id="7" name="card"/>
          <p:cNvSpPr/>
          <p:nvPr/>
        </p:nvSpPr>
        <p:spPr>
          <a:xfrm>
            <a:off x="548640" y="2148840"/>
            <a:ext cx="5432908" cy="2011680"/>
          </a:xfrm>
          <a:prstGeom prst="roundRect">
            <a:avLst>
              <a:gd name="adj" fmla="val 10000"/>
            </a:avLst>
          </a:prstGeom>
          <a:solidFill>
            <a:srgbClr val="FFFFFF"/>
          </a:solidFill>
          <a:ln w="3175">
            <a:solidFill>
              <a:srgbClr val="FFFFFF"/>
            </a:solidFill>
            <a:prstDash val="solid"/>
          </a:ln>
        </p:spPr>
      </p:sp>
      <p:sp>
        <p:nvSpPr>
          <p:cNvPr id="8" name="heading"/>
          <p:cNvSpPr txBox="1"/>
          <p:nvPr/>
        </p:nvSpPr>
        <p:spPr>
          <a:xfrm>
            <a:off x="822960" y="2331720"/>
            <a:ext cx="914400" cy="548640"/>
          </a:xfrm>
          <a:prstGeom prst="rect">
            <a:avLst/>
          </a:prstGeom>
          <a:noFill/>
          <a:ln/>
        </p:spPr>
        <p:txBody>
          <a:bodyPr wrap="square" lIns="0" tIns="0" rIns="0" bIns="0" rtlCol="0" anchor="t"/>
          <a:lstStyle/>
          <a:p>
            <a:pPr algn="l" indent="0" marL="0">
              <a:lnSpc>
                <a:spcPct val="90000"/>
              </a:lnSpc>
              <a:buNone/>
            </a:pPr>
            <a:r>
              <a:rPr lang="en-US" sz="3400" dirty="0">
                <a:solidFill>
                  <a:srgbClr val="F1681D"/>
                </a:solidFill>
                <a:latin typeface="Barlow Condensed ExtraBold" pitchFamily="34" charset="0"/>
                <a:ea typeface="Barlow Condensed ExtraBold" pitchFamily="34" charset="-122"/>
                <a:cs typeface="Barlow Condensed ExtraBold" pitchFamily="34" charset="-120"/>
              </a:rPr>
              <a:t>01</a:t>
            </a:r>
            <a:endParaRPr lang="en-US" sz="3400" dirty="0"/>
          </a:p>
        </p:txBody>
      </p:sp>
      <p:sp>
        <p:nvSpPr>
          <p:cNvPr id="9" name="heading"/>
          <p:cNvSpPr txBox="1"/>
          <p:nvPr/>
        </p:nvSpPr>
        <p:spPr>
          <a:xfrm>
            <a:off x="1645920" y="2350008"/>
            <a:ext cx="4061308" cy="548640"/>
          </a:xfrm>
          <a:prstGeom prst="rect">
            <a:avLst/>
          </a:prstGeom>
          <a:noFill/>
          <a:ln/>
        </p:spPr>
        <p:txBody>
          <a:bodyPr wrap="square" lIns="0" tIns="0" rIns="0" bIns="0" rtlCol="0" anchor="ctr"/>
          <a:lstStyle/>
          <a:p>
            <a:pPr algn="l" indent="0" marL="0">
              <a:lnSpc>
                <a:spcPct val="90000"/>
              </a:lnSpc>
              <a:buNone/>
            </a:pPr>
            <a:r>
              <a:rPr lang="en-US" sz="2400" dirty="0">
                <a:solidFill>
                  <a:srgbClr val="1A1C14"/>
                </a:solidFill>
                <a:latin typeface="Barlow Condensed ExtraBold" pitchFamily="34" charset="0"/>
                <a:ea typeface="Barlow Condensed ExtraBold" pitchFamily="34" charset="-122"/>
                <a:cs typeface="Barlow Condensed ExtraBold" pitchFamily="34" charset="-120"/>
              </a:rPr>
              <a:t>KETAHANAN INFRASTRUKTUR TERINTEGRASI</a:t>
            </a:r>
            <a:endParaRPr lang="en-US" sz="2400" dirty="0"/>
          </a:p>
        </p:txBody>
      </p:sp>
      <p:sp>
        <p:nvSpPr>
          <p:cNvPr id="10" name="text"/>
          <p:cNvSpPr txBox="1"/>
          <p:nvPr/>
        </p:nvSpPr>
        <p:spPr>
          <a:xfrm>
            <a:off x="822960" y="3017520"/>
            <a:ext cx="4884268" cy="77724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Redundansi aktif-aktif pusat data dan cloud, uji </a:t>
            </a:r>
            <a:r>
              <a:rPr lang="en-US" sz="1450" i="1" dirty="0">
                <a:solidFill>
                  <a:srgbClr val="1A1C14"/>
                </a:solidFill>
                <a:latin typeface="Barlow" pitchFamily="34" charset="0"/>
                <a:ea typeface="Barlow" pitchFamily="34" charset="-122"/>
                <a:cs typeface="Barlow" pitchFamily="34" charset="-120"/>
              </a:rPr>
              <a:t>failover</a:t>
            </a:r>
            <a:r>
              <a:rPr lang="en-US" sz="1450" dirty="0">
                <a:solidFill>
                  <a:srgbClr val="1A1C14"/>
                </a:solidFill>
                <a:latin typeface="Barlow" pitchFamily="34" charset="0"/>
                <a:ea typeface="Barlow" pitchFamily="34" charset="-122"/>
                <a:cs typeface="Barlow" pitchFamily="34" charset="-120"/>
              </a:rPr>
              <a:t> berkala, prosedur manual </a:t>
            </a:r>
            <a:r>
              <a:rPr lang="en-US" sz="1450" i="1" dirty="0">
                <a:solidFill>
                  <a:srgbClr val="1A1C14"/>
                </a:solidFill>
                <a:latin typeface="Barlow" pitchFamily="34" charset="0"/>
                <a:ea typeface="Barlow" pitchFamily="34" charset="-122"/>
                <a:cs typeface="Barlow" pitchFamily="34" charset="-120"/>
              </a:rPr>
              <a:t>degraded mode</a:t>
            </a:r>
            <a:r>
              <a:rPr lang="en-US" sz="1450" dirty="0">
                <a:solidFill>
                  <a:srgbClr val="1A1C14"/>
                </a:solidFill>
                <a:latin typeface="Barlow" pitchFamily="34" charset="0"/>
                <a:ea typeface="Barlow" pitchFamily="34" charset="-122"/>
                <a:cs typeface="Barlow" pitchFamily="34" charset="-120"/>
              </a:rPr>
              <a:t> untuk </a:t>
            </a:r>
            <a:r>
              <a:rPr lang="en-US" sz="1450" i="1" dirty="0">
                <a:solidFill>
                  <a:srgbClr val="1A1C14"/>
                </a:solidFill>
                <a:latin typeface="Barlow" pitchFamily="34" charset="0"/>
                <a:ea typeface="Barlow" pitchFamily="34" charset="-122"/>
                <a:cs typeface="Barlow" pitchFamily="34" charset="-120"/>
              </a:rPr>
              <a:t>dispatch</a:t>
            </a:r>
            <a:r>
              <a:rPr lang="en-US" sz="1450" dirty="0">
                <a:solidFill>
                  <a:srgbClr val="1A1C14"/>
                </a:solidFill>
                <a:latin typeface="Barlow" pitchFamily="34" charset="0"/>
                <a:ea typeface="Barlow" pitchFamily="34" charset="-122"/>
                <a:cs typeface="Barlow" pitchFamily="34" charset="-120"/>
              </a:rPr>
              <a:t> dan kru.</a:t>
            </a:r>
            <a:endParaRPr lang="en-US" sz="1450" dirty="0"/>
          </a:p>
        </p:txBody>
      </p:sp>
      <p:sp>
        <p:nvSpPr>
          <p:cNvPr id="11" name="text"/>
          <p:cNvSpPr txBox="1"/>
          <p:nvPr/>
        </p:nvSpPr>
        <p:spPr>
          <a:xfrm>
            <a:off x="822960" y="3749040"/>
            <a:ext cx="4884268" cy="365760"/>
          </a:xfrm>
          <a:prstGeom prst="rect">
            <a:avLst/>
          </a:prstGeom>
          <a:noFill/>
          <a:ln/>
        </p:spPr>
        <p:txBody>
          <a:bodyPr wrap="square" lIns="0" tIns="0" rIns="0" bIns="0" rtlCol="0" anchor="t"/>
          <a:lstStyle/>
          <a:p>
            <a:pPr algn="l" indent="0" marL="0">
              <a:buNone/>
            </a:pPr>
            <a:r>
              <a:rPr lang="en-US" sz="1400" b="1" dirty="0">
                <a:solidFill>
                  <a:srgbClr val="1A1C14"/>
                </a:solidFill>
                <a:latin typeface="Barlow" pitchFamily="34" charset="0"/>
                <a:ea typeface="Barlow" pitchFamily="34" charset="-122"/>
                <a:cs typeface="Barlow" pitchFamily="34" charset="-120"/>
              </a:rPr>
              <a:t>Indikator: </a:t>
            </a:r>
            <a:r>
              <a:rPr lang="en-US" sz="1400" dirty="0">
                <a:solidFill>
                  <a:srgbClr val="1A1C14"/>
                </a:solidFill>
                <a:latin typeface="Barlow" pitchFamily="34" charset="0"/>
                <a:ea typeface="Barlow" pitchFamily="34" charset="-122"/>
                <a:cs typeface="Barlow" pitchFamily="34" charset="-120"/>
              </a:rPr>
              <a:t>Waktu pemulihan; </a:t>
            </a:r>
            <a:r>
              <a:rPr lang="en-US" sz="1400" i="1" dirty="0">
                <a:solidFill>
                  <a:srgbClr val="1A1C14"/>
                </a:solidFill>
                <a:latin typeface="Barlow" pitchFamily="34" charset="0"/>
                <a:ea typeface="Barlow" pitchFamily="34" charset="-122"/>
                <a:cs typeface="Barlow" pitchFamily="34" charset="-120"/>
              </a:rPr>
              <a:t>ground stop</a:t>
            </a:r>
            <a:r>
              <a:rPr lang="en-US" sz="1400" dirty="0">
                <a:solidFill>
                  <a:srgbClr val="1A1C14"/>
                </a:solidFill>
                <a:latin typeface="Barlow" pitchFamily="34" charset="0"/>
                <a:ea typeface="Barlow" pitchFamily="34" charset="-122"/>
                <a:cs typeface="Barlow" pitchFamily="34" charset="-120"/>
              </a:rPr>
              <a:t> akibat IT.</a:t>
            </a:r>
            <a:endParaRPr lang="en-US" sz="1400" dirty="0"/>
          </a:p>
        </p:txBody>
      </p:sp>
      <p:sp>
        <p:nvSpPr>
          <p:cNvPr id="12" name="card"/>
          <p:cNvSpPr/>
          <p:nvPr/>
        </p:nvSpPr>
        <p:spPr>
          <a:xfrm>
            <a:off x="6210148" y="2148840"/>
            <a:ext cx="5432908" cy="2011680"/>
          </a:xfrm>
          <a:prstGeom prst="roundRect">
            <a:avLst>
              <a:gd name="adj" fmla="val 10000"/>
            </a:avLst>
          </a:prstGeom>
          <a:solidFill>
            <a:srgbClr val="9CC506"/>
          </a:solidFill>
          <a:ln w="3175">
            <a:solidFill>
              <a:srgbClr val="9CC506"/>
            </a:solidFill>
            <a:prstDash val="solid"/>
          </a:ln>
        </p:spPr>
      </p:sp>
      <p:sp>
        <p:nvSpPr>
          <p:cNvPr id="13" name="heading"/>
          <p:cNvSpPr txBox="1"/>
          <p:nvPr/>
        </p:nvSpPr>
        <p:spPr>
          <a:xfrm>
            <a:off x="6484468" y="2331720"/>
            <a:ext cx="914400" cy="548640"/>
          </a:xfrm>
          <a:prstGeom prst="rect">
            <a:avLst/>
          </a:prstGeom>
          <a:noFill/>
          <a:ln/>
        </p:spPr>
        <p:txBody>
          <a:bodyPr wrap="square" lIns="0" tIns="0" rIns="0" bIns="0" rtlCol="0" anchor="t"/>
          <a:lstStyle/>
          <a:p>
            <a:pPr algn="l" indent="0" marL="0">
              <a:lnSpc>
                <a:spcPct val="90000"/>
              </a:lnSpc>
              <a:buNone/>
            </a:pPr>
            <a:r>
              <a:rPr lang="en-US" sz="3400" dirty="0">
                <a:solidFill>
                  <a:srgbClr val="F1681D"/>
                </a:solidFill>
                <a:latin typeface="Barlow Condensed ExtraBold" pitchFamily="34" charset="0"/>
                <a:ea typeface="Barlow Condensed ExtraBold" pitchFamily="34" charset="-122"/>
                <a:cs typeface="Barlow Condensed ExtraBold" pitchFamily="34" charset="-120"/>
              </a:rPr>
              <a:t>02</a:t>
            </a:r>
            <a:endParaRPr lang="en-US" sz="3400" dirty="0"/>
          </a:p>
        </p:txBody>
      </p:sp>
      <p:sp>
        <p:nvSpPr>
          <p:cNvPr id="14" name="heading"/>
          <p:cNvSpPr txBox="1"/>
          <p:nvPr/>
        </p:nvSpPr>
        <p:spPr>
          <a:xfrm>
            <a:off x="7307428" y="2350008"/>
            <a:ext cx="4061308" cy="548640"/>
          </a:xfrm>
          <a:prstGeom prst="rect">
            <a:avLst/>
          </a:prstGeom>
          <a:noFill/>
          <a:ln/>
        </p:spPr>
        <p:txBody>
          <a:bodyPr wrap="square" lIns="0" tIns="0" rIns="0" bIns="0" rtlCol="0" anchor="ctr"/>
          <a:lstStyle/>
          <a:p>
            <a:pPr algn="l" indent="0" marL="0">
              <a:lnSpc>
                <a:spcPct val="90000"/>
              </a:lnSpc>
              <a:buNone/>
            </a:pPr>
            <a:r>
              <a:rPr lang="en-US" sz="2400" dirty="0">
                <a:solidFill>
                  <a:srgbClr val="1A1C14"/>
                </a:solidFill>
                <a:latin typeface="Barlow Condensed ExtraBold" pitchFamily="34" charset="0"/>
                <a:ea typeface="Barlow Condensed ExtraBold" pitchFamily="34" charset="-122"/>
                <a:cs typeface="Barlow Condensed ExtraBold" pitchFamily="34" charset="-120"/>
              </a:rPr>
              <a:t>PERAWATAN BERKAPASITAS BERHINGGA</a:t>
            </a:r>
            <a:endParaRPr lang="en-US" sz="2400" dirty="0"/>
          </a:p>
        </p:txBody>
      </p:sp>
      <p:sp>
        <p:nvSpPr>
          <p:cNvPr id="15" name="text"/>
          <p:cNvSpPr txBox="1"/>
          <p:nvPr/>
        </p:nvSpPr>
        <p:spPr>
          <a:xfrm>
            <a:off x="6484468" y="3017520"/>
            <a:ext cx="4884268" cy="77724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Operasionalkan Tailsight dengan </a:t>
            </a:r>
            <a:r>
              <a:rPr lang="en-US" sz="1450" i="1" dirty="0">
                <a:solidFill>
                  <a:srgbClr val="1A1C14"/>
                </a:solidFill>
                <a:latin typeface="Barlow" pitchFamily="34" charset="0"/>
                <a:ea typeface="Barlow" pitchFamily="34" charset="-122"/>
                <a:cs typeface="Barlow" pitchFamily="34" charset="-120"/>
              </a:rPr>
              <a:t>load report</a:t>
            </a:r>
            <a:r>
              <a:rPr lang="en-US" sz="1450" dirty="0">
                <a:solidFill>
                  <a:srgbClr val="1A1C14"/>
                </a:solidFill>
                <a:latin typeface="Barlow" pitchFamily="34" charset="0"/>
                <a:ea typeface="Barlow" pitchFamily="34" charset="-122"/>
                <a:cs typeface="Barlow" pitchFamily="34" charset="-120"/>
              </a:rPr>
              <a:t> hangar dan suku cadang; masukkan </a:t>
            </a:r>
            <a:r>
              <a:rPr lang="en-US" sz="1450" i="1" dirty="0">
                <a:solidFill>
                  <a:srgbClr val="1A1C14"/>
                </a:solidFill>
                <a:latin typeface="Barlow" pitchFamily="34" charset="0"/>
                <a:ea typeface="Barlow" pitchFamily="34" charset="-122"/>
                <a:cs typeface="Barlow" pitchFamily="34" charset="-120"/>
              </a:rPr>
              <a:t>lead time</a:t>
            </a:r>
            <a:r>
              <a:rPr lang="en-US" sz="1450" dirty="0">
                <a:solidFill>
                  <a:srgbClr val="1A1C14"/>
                </a:solidFill>
                <a:latin typeface="Barlow" pitchFamily="34" charset="0"/>
                <a:ea typeface="Barlow" pitchFamily="34" charset="-122"/>
                <a:cs typeface="Barlow" pitchFamily="34" charset="-120"/>
              </a:rPr>
              <a:t> OEM sebagai kendala.</a:t>
            </a:r>
            <a:endParaRPr lang="en-US" sz="1450" dirty="0"/>
          </a:p>
        </p:txBody>
      </p:sp>
      <p:sp>
        <p:nvSpPr>
          <p:cNvPr id="16" name="text"/>
          <p:cNvSpPr txBox="1"/>
          <p:nvPr/>
        </p:nvSpPr>
        <p:spPr>
          <a:xfrm>
            <a:off x="6484468" y="3749040"/>
            <a:ext cx="4884268" cy="365760"/>
          </a:xfrm>
          <a:prstGeom prst="rect">
            <a:avLst/>
          </a:prstGeom>
          <a:noFill/>
          <a:ln/>
        </p:spPr>
        <p:txBody>
          <a:bodyPr wrap="square" lIns="0" tIns="0" rIns="0" bIns="0" rtlCol="0" anchor="t"/>
          <a:lstStyle/>
          <a:p>
            <a:pPr algn="l" indent="0" marL="0">
              <a:buNone/>
            </a:pPr>
            <a:r>
              <a:rPr lang="en-US" sz="1400" b="1" dirty="0">
                <a:solidFill>
                  <a:srgbClr val="1A1C14"/>
                </a:solidFill>
                <a:latin typeface="Barlow" pitchFamily="34" charset="0"/>
                <a:ea typeface="Barlow" pitchFamily="34" charset="-122"/>
                <a:cs typeface="Barlow" pitchFamily="34" charset="-120"/>
              </a:rPr>
              <a:t>Indikator: </a:t>
            </a:r>
            <a:r>
              <a:rPr lang="en-US" sz="1400" dirty="0">
                <a:solidFill>
                  <a:srgbClr val="1A1C14"/>
                </a:solidFill>
                <a:latin typeface="Barlow" pitchFamily="34" charset="0"/>
                <a:ea typeface="Barlow" pitchFamily="34" charset="-122"/>
                <a:cs typeface="Barlow" pitchFamily="34" charset="-120"/>
              </a:rPr>
              <a:t>Jam AOG; </a:t>
            </a:r>
            <a:r>
              <a:rPr lang="en-US" sz="1400" i="1" dirty="0">
                <a:solidFill>
                  <a:srgbClr val="1A1C14"/>
                </a:solidFill>
                <a:latin typeface="Barlow" pitchFamily="34" charset="0"/>
                <a:ea typeface="Barlow" pitchFamily="34" charset="-122"/>
                <a:cs typeface="Barlow" pitchFamily="34" charset="-120"/>
              </a:rPr>
              <a:t>fill rate</a:t>
            </a:r>
            <a:r>
              <a:rPr lang="en-US" sz="1400" dirty="0">
                <a:solidFill>
                  <a:srgbClr val="1A1C14"/>
                </a:solidFill>
                <a:latin typeface="Barlow" pitchFamily="34" charset="0"/>
                <a:ea typeface="Barlow" pitchFamily="34" charset="-122"/>
                <a:cs typeface="Barlow" pitchFamily="34" charset="-120"/>
              </a:rPr>
              <a:t>; utilisasi teknisi.</a:t>
            </a:r>
            <a:endParaRPr lang="en-US" sz="1400" dirty="0"/>
          </a:p>
        </p:txBody>
      </p:sp>
      <p:sp>
        <p:nvSpPr>
          <p:cNvPr id="17" name="card"/>
          <p:cNvSpPr/>
          <p:nvPr/>
        </p:nvSpPr>
        <p:spPr>
          <a:xfrm>
            <a:off x="548640" y="4343400"/>
            <a:ext cx="5432908" cy="2011680"/>
          </a:xfrm>
          <a:prstGeom prst="roundRect">
            <a:avLst>
              <a:gd name="adj" fmla="val 10000"/>
            </a:avLst>
          </a:prstGeom>
          <a:solidFill>
            <a:srgbClr val="FFFFFF"/>
          </a:solidFill>
          <a:ln w="3175">
            <a:solidFill>
              <a:srgbClr val="FFFFFF"/>
            </a:solidFill>
            <a:prstDash val="solid"/>
          </a:ln>
        </p:spPr>
      </p:sp>
      <p:sp>
        <p:nvSpPr>
          <p:cNvPr id="18" name="heading"/>
          <p:cNvSpPr txBox="1"/>
          <p:nvPr/>
        </p:nvSpPr>
        <p:spPr>
          <a:xfrm>
            <a:off x="822960" y="4526280"/>
            <a:ext cx="914400" cy="548640"/>
          </a:xfrm>
          <a:prstGeom prst="rect">
            <a:avLst/>
          </a:prstGeom>
          <a:noFill/>
          <a:ln/>
        </p:spPr>
        <p:txBody>
          <a:bodyPr wrap="square" lIns="0" tIns="0" rIns="0" bIns="0" rtlCol="0" anchor="t"/>
          <a:lstStyle/>
          <a:p>
            <a:pPr algn="l" indent="0" marL="0">
              <a:lnSpc>
                <a:spcPct val="90000"/>
              </a:lnSpc>
              <a:buNone/>
            </a:pPr>
            <a:r>
              <a:rPr lang="en-US" sz="3400" dirty="0">
                <a:solidFill>
                  <a:srgbClr val="F1681D"/>
                </a:solidFill>
                <a:latin typeface="Barlow Condensed ExtraBold" pitchFamily="34" charset="0"/>
                <a:ea typeface="Barlow Condensed ExtraBold" pitchFamily="34" charset="-122"/>
                <a:cs typeface="Barlow Condensed ExtraBold" pitchFamily="34" charset="-120"/>
              </a:rPr>
              <a:t>03</a:t>
            </a:r>
            <a:endParaRPr lang="en-US" sz="3400" dirty="0"/>
          </a:p>
        </p:txBody>
      </p:sp>
      <p:sp>
        <p:nvSpPr>
          <p:cNvPr id="19" name="heading"/>
          <p:cNvSpPr txBox="1"/>
          <p:nvPr/>
        </p:nvSpPr>
        <p:spPr>
          <a:xfrm>
            <a:off x="1645920" y="4544568"/>
            <a:ext cx="4061308" cy="548640"/>
          </a:xfrm>
          <a:prstGeom prst="rect">
            <a:avLst/>
          </a:prstGeom>
          <a:noFill/>
          <a:ln/>
        </p:spPr>
        <p:txBody>
          <a:bodyPr wrap="square" lIns="0" tIns="0" rIns="0" bIns="0" rtlCol="0" anchor="ctr"/>
          <a:lstStyle/>
          <a:p>
            <a:pPr algn="l" indent="0" marL="0">
              <a:lnSpc>
                <a:spcPct val="90000"/>
              </a:lnSpc>
              <a:buNone/>
            </a:pPr>
            <a:r>
              <a:rPr lang="en-US" sz="2400" dirty="0">
                <a:solidFill>
                  <a:srgbClr val="1A1C14"/>
                </a:solidFill>
                <a:latin typeface="Barlow Condensed ExtraBold" pitchFamily="34" charset="0"/>
                <a:ea typeface="Barlow Condensed ExtraBold" pitchFamily="34" charset="-122"/>
                <a:cs typeface="Barlow Condensed ExtraBold" pitchFamily="34" charset="-120"/>
              </a:rPr>
              <a:t>ATURAN PRIORITAS HIBRIDA</a:t>
            </a:r>
            <a:endParaRPr lang="en-US" sz="2400" dirty="0"/>
          </a:p>
        </p:txBody>
      </p:sp>
      <p:sp>
        <p:nvSpPr>
          <p:cNvPr id="20" name="text"/>
          <p:cNvSpPr txBox="1"/>
          <p:nvPr/>
        </p:nvSpPr>
        <p:spPr>
          <a:xfrm>
            <a:off x="822960" y="5212080"/>
            <a:ext cx="4884268" cy="777240"/>
          </a:xfrm>
          <a:prstGeom prst="rect">
            <a:avLst/>
          </a:prstGeom>
          <a:noFill/>
          <a:ln/>
        </p:spPr>
        <p:txBody>
          <a:bodyPr wrap="square" lIns="0" tIns="0" rIns="0" bIns="0" rtlCol="0" anchor="t"/>
          <a:lstStyle/>
          <a:p>
            <a:pPr algn="l" indent="0" marL="0">
              <a:buNone/>
            </a:pPr>
            <a:r>
              <a:rPr lang="en-US" sz="1450" i="1" dirty="0">
                <a:solidFill>
                  <a:srgbClr val="1A1C14"/>
                </a:solidFill>
                <a:latin typeface="Barlow" pitchFamily="34" charset="0"/>
                <a:ea typeface="Barlow" pitchFamily="34" charset="-122"/>
                <a:cs typeface="Barlow" pitchFamily="34" charset="-120"/>
              </a:rPr>
              <a:t>Critical ratio</a:t>
            </a:r>
            <a:r>
              <a:rPr lang="en-US" sz="1450" dirty="0">
                <a:solidFill>
                  <a:srgbClr val="1A1C14"/>
                </a:solidFill>
                <a:latin typeface="Barlow" pitchFamily="34" charset="0"/>
                <a:ea typeface="Barlow" pitchFamily="34" charset="-122"/>
                <a:cs typeface="Barlow" pitchFamily="34" charset="-120"/>
              </a:rPr>
              <a:t> untuk AOG, SPT untuk antrean rutin, </a:t>
            </a:r>
            <a:r>
              <a:rPr lang="en-US" sz="1450" i="1" dirty="0">
                <a:solidFill>
                  <a:srgbClr val="1A1C14"/>
                </a:solidFill>
                <a:latin typeface="Barlow" pitchFamily="34" charset="0"/>
                <a:ea typeface="Barlow" pitchFamily="34" charset="-122"/>
                <a:cs typeface="Barlow" pitchFamily="34" charset="-120"/>
              </a:rPr>
              <a:t>Johnson's rule</a:t>
            </a:r>
            <a:r>
              <a:rPr lang="en-US" sz="1450" dirty="0">
                <a:solidFill>
                  <a:srgbClr val="1A1C14"/>
                </a:solidFill>
                <a:latin typeface="Barlow" pitchFamily="34" charset="0"/>
                <a:ea typeface="Barlow" pitchFamily="34" charset="-122"/>
                <a:cs typeface="Barlow" pitchFamily="34" charset="-120"/>
              </a:rPr>
              <a:t> untuk alur dua tahap.</a:t>
            </a:r>
            <a:endParaRPr lang="en-US" sz="1450" dirty="0"/>
          </a:p>
        </p:txBody>
      </p:sp>
      <p:sp>
        <p:nvSpPr>
          <p:cNvPr id="21" name="text"/>
          <p:cNvSpPr txBox="1"/>
          <p:nvPr/>
        </p:nvSpPr>
        <p:spPr>
          <a:xfrm>
            <a:off x="822960" y="5943600"/>
            <a:ext cx="4884268" cy="365760"/>
          </a:xfrm>
          <a:prstGeom prst="rect">
            <a:avLst/>
          </a:prstGeom>
          <a:noFill/>
          <a:ln/>
        </p:spPr>
        <p:txBody>
          <a:bodyPr wrap="square" lIns="0" tIns="0" rIns="0" bIns="0" rtlCol="0" anchor="t"/>
          <a:lstStyle/>
          <a:p>
            <a:pPr algn="l" indent="0" marL="0">
              <a:buNone/>
            </a:pPr>
            <a:r>
              <a:rPr lang="en-US" sz="1400" b="1" dirty="0">
                <a:solidFill>
                  <a:srgbClr val="1A1C14"/>
                </a:solidFill>
                <a:latin typeface="Barlow" pitchFamily="34" charset="0"/>
                <a:ea typeface="Barlow" pitchFamily="34" charset="-122"/>
                <a:cs typeface="Barlow" pitchFamily="34" charset="-120"/>
              </a:rPr>
              <a:t>Indikator: </a:t>
            </a:r>
            <a:r>
              <a:rPr lang="en-US" sz="1400" dirty="0">
                <a:solidFill>
                  <a:srgbClr val="1A1C14"/>
                </a:solidFill>
                <a:latin typeface="Barlow" pitchFamily="34" charset="0"/>
                <a:ea typeface="Barlow" pitchFamily="34" charset="-122"/>
                <a:cs typeface="Barlow" pitchFamily="34" charset="-120"/>
              </a:rPr>
              <a:t>Keterlambatan rata-rata; </a:t>
            </a:r>
            <a:r>
              <a:rPr lang="en-US" sz="1400" i="1" dirty="0">
                <a:solidFill>
                  <a:srgbClr val="1A1C14"/>
                </a:solidFill>
                <a:latin typeface="Barlow" pitchFamily="34" charset="0"/>
                <a:ea typeface="Barlow" pitchFamily="34" charset="-122"/>
                <a:cs typeface="Barlow" pitchFamily="34" charset="-120"/>
              </a:rPr>
              <a:t>makespan</a:t>
            </a:r>
            <a:r>
              <a:rPr lang="en-US" sz="1400" dirty="0">
                <a:solidFill>
                  <a:srgbClr val="1A1C14"/>
                </a:solidFill>
                <a:latin typeface="Barlow" pitchFamily="34" charset="0"/>
                <a:ea typeface="Barlow" pitchFamily="34" charset="-122"/>
                <a:cs typeface="Barlow" pitchFamily="34" charset="-120"/>
              </a:rPr>
              <a:t>.</a:t>
            </a:r>
            <a:endParaRPr lang="en-US" sz="1400" dirty="0"/>
          </a:p>
        </p:txBody>
      </p:sp>
      <p:sp>
        <p:nvSpPr>
          <p:cNvPr id="22" name="card"/>
          <p:cNvSpPr/>
          <p:nvPr/>
        </p:nvSpPr>
        <p:spPr>
          <a:xfrm>
            <a:off x="6210148" y="4343400"/>
            <a:ext cx="5432908" cy="2011680"/>
          </a:xfrm>
          <a:prstGeom prst="roundRect">
            <a:avLst>
              <a:gd name="adj" fmla="val 10000"/>
            </a:avLst>
          </a:prstGeom>
          <a:solidFill>
            <a:srgbClr val="FFFFFF"/>
          </a:solidFill>
          <a:ln w="3175">
            <a:solidFill>
              <a:srgbClr val="FFFFFF"/>
            </a:solidFill>
            <a:prstDash val="solid"/>
          </a:ln>
        </p:spPr>
      </p:sp>
      <p:sp>
        <p:nvSpPr>
          <p:cNvPr id="23" name="heading"/>
          <p:cNvSpPr txBox="1"/>
          <p:nvPr/>
        </p:nvSpPr>
        <p:spPr>
          <a:xfrm>
            <a:off x="6484468" y="4526280"/>
            <a:ext cx="914400" cy="548640"/>
          </a:xfrm>
          <a:prstGeom prst="rect">
            <a:avLst/>
          </a:prstGeom>
          <a:noFill/>
          <a:ln/>
        </p:spPr>
        <p:txBody>
          <a:bodyPr wrap="square" lIns="0" tIns="0" rIns="0" bIns="0" rtlCol="0" anchor="t"/>
          <a:lstStyle/>
          <a:p>
            <a:pPr algn="l" indent="0" marL="0">
              <a:lnSpc>
                <a:spcPct val="90000"/>
              </a:lnSpc>
              <a:buNone/>
            </a:pPr>
            <a:r>
              <a:rPr lang="en-US" sz="3400" dirty="0">
                <a:solidFill>
                  <a:srgbClr val="F1681D"/>
                </a:solidFill>
                <a:latin typeface="Barlow Condensed ExtraBold" pitchFamily="34" charset="0"/>
                <a:ea typeface="Barlow Condensed ExtraBold" pitchFamily="34" charset="-122"/>
                <a:cs typeface="Barlow Condensed ExtraBold" pitchFamily="34" charset="-120"/>
              </a:rPr>
              <a:t>04</a:t>
            </a:r>
            <a:endParaRPr lang="en-US" sz="3400" dirty="0"/>
          </a:p>
        </p:txBody>
      </p:sp>
      <p:sp>
        <p:nvSpPr>
          <p:cNvPr id="24" name="heading"/>
          <p:cNvSpPr txBox="1"/>
          <p:nvPr/>
        </p:nvSpPr>
        <p:spPr>
          <a:xfrm>
            <a:off x="7307428" y="4544568"/>
            <a:ext cx="4061308" cy="548640"/>
          </a:xfrm>
          <a:prstGeom prst="rect">
            <a:avLst/>
          </a:prstGeom>
          <a:noFill/>
          <a:ln/>
        </p:spPr>
        <p:txBody>
          <a:bodyPr wrap="square" lIns="0" tIns="0" rIns="0" bIns="0" rtlCol="0" anchor="ctr"/>
          <a:lstStyle/>
          <a:p>
            <a:pPr algn="l" indent="0" marL="0">
              <a:lnSpc>
                <a:spcPct val="90000"/>
              </a:lnSpc>
              <a:buNone/>
            </a:pPr>
            <a:r>
              <a:rPr lang="en-US" sz="2400" dirty="0">
                <a:solidFill>
                  <a:srgbClr val="1A1C14"/>
                </a:solidFill>
                <a:latin typeface="Barlow Condensed ExtraBold" pitchFamily="34" charset="0"/>
                <a:ea typeface="Barlow Condensed ExtraBold" pitchFamily="34" charset="-122"/>
                <a:cs typeface="Barlow Condensed ExtraBold" pitchFamily="34" charset="-120"/>
              </a:rPr>
              <a:t>PROSES DULU, SISTEM KEMUDIAN</a:t>
            </a:r>
            <a:endParaRPr lang="en-US" sz="2400" dirty="0"/>
          </a:p>
        </p:txBody>
      </p:sp>
      <p:sp>
        <p:nvSpPr>
          <p:cNvPr id="25" name="text"/>
          <p:cNvSpPr txBox="1"/>
          <p:nvPr/>
        </p:nvSpPr>
        <p:spPr>
          <a:xfrm>
            <a:off x="6484468" y="5212080"/>
            <a:ext cx="4884268" cy="777240"/>
          </a:xfrm>
          <a:prstGeom prst="rect">
            <a:avLst/>
          </a:prstGeom>
          <a:noFill/>
          <a:ln/>
        </p:spPr>
        <p:txBody>
          <a:bodyPr wrap="square" lIns="0" tIns="0" rIns="0" bIns="0" rtlCol="0" anchor="t"/>
          <a:lstStyle/>
          <a:p>
            <a:pPr algn="l" indent="0" marL="0">
              <a:buNone/>
            </a:pPr>
            <a:r>
              <a:rPr lang="en-US" sz="1450" dirty="0">
                <a:solidFill>
                  <a:srgbClr val="1A1C14"/>
                </a:solidFill>
                <a:latin typeface="Barlow" pitchFamily="34" charset="0"/>
                <a:ea typeface="Barlow" pitchFamily="34" charset="-122"/>
                <a:cs typeface="Barlow" pitchFamily="34" charset="-120"/>
              </a:rPr>
              <a:t>Standarkan proses kru, perawatan, dan layanan penumpang sebelum migrasi Hawaiian ke sistem tunggal; batasi kustomisasi.</a:t>
            </a:r>
            <a:endParaRPr lang="en-US" sz="1450" dirty="0"/>
          </a:p>
        </p:txBody>
      </p:sp>
      <p:sp>
        <p:nvSpPr>
          <p:cNvPr id="26" name="text"/>
          <p:cNvSpPr txBox="1"/>
          <p:nvPr/>
        </p:nvSpPr>
        <p:spPr>
          <a:xfrm>
            <a:off x="6484468" y="5943600"/>
            <a:ext cx="4884268" cy="365760"/>
          </a:xfrm>
          <a:prstGeom prst="rect">
            <a:avLst/>
          </a:prstGeom>
          <a:noFill/>
          <a:ln/>
        </p:spPr>
        <p:txBody>
          <a:bodyPr wrap="square" lIns="0" tIns="0" rIns="0" bIns="0" rtlCol="0" anchor="t"/>
          <a:lstStyle/>
          <a:p>
            <a:pPr algn="l" indent="0" marL="0">
              <a:buNone/>
            </a:pPr>
            <a:r>
              <a:rPr lang="en-US" sz="1400" b="1" dirty="0">
                <a:solidFill>
                  <a:srgbClr val="1A1C14"/>
                </a:solidFill>
                <a:latin typeface="Barlow" pitchFamily="34" charset="0"/>
                <a:ea typeface="Barlow" pitchFamily="34" charset="-122"/>
                <a:cs typeface="Barlow" pitchFamily="34" charset="-120"/>
              </a:rPr>
              <a:t>Indikator: </a:t>
            </a:r>
            <a:r>
              <a:rPr lang="en-US" sz="1400" dirty="0">
                <a:solidFill>
                  <a:srgbClr val="1A1C14"/>
                </a:solidFill>
                <a:latin typeface="Barlow" pitchFamily="34" charset="0"/>
                <a:ea typeface="Barlow" pitchFamily="34" charset="-122"/>
                <a:cs typeface="Barlow" pitchFamily="34" charset="-120"/>
              </a:rPr>
              <a:t>Biaya kustomisasi; insiden </a:t>
            </a:r>
            <a:r>
              <a:rPr lang="en-US" sz="1400" i="1" dirty="0">
                <a:solidFill>
                  <a:srgbClr val="1A1C14"/>
                </a:solidFill>
                <a:latin typeface="Barlow" pitchFamily="34" charset="0"/>
                <a:ea typeface="Barlow" pitchFamily="34" charset="-122"/>
                <a:cs typeface="Barlow" pitchFamily="34" charset="-120"/>
              </a:rPr>
              <a:t>cut-over</a:t>
            </a:r>
            <a:r>
              <a:rPr lang="en-US" sz="1400" dirty="0">
                <a:solidFill>
                  <a:srgbClr val="1A1C14"/>
                </a:solidFill>
                <a:latin typeface="Barlow" pitchFamily="34" charset="0"/>
                <a:ea typeface="Barlow" pitchFamily="34" charset="-122"/>
                <a:cs typeface="Barlow" pitchFamily="34" charset="-120"/>
              </a:rPr>
              <a:t>.</a:t>
            </a:r>
            <a:endParaRPr lang="en-US" sz="14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4F2"/>
        </a:solidFill>
      </p:bgPr>
    </p:bg>
    <p:spTree>
      <p:nvGrpSpPr>
        <p:cNvPr id="1" name=""/>
        <p:cNvGrpSpPr/>
        <p:nvPr/>
      </p:nvGrpSpPr>
      <p:grpSpPr>
        <a:xfrm>
          <a:off x="0" y="0"/>
          <a:ext cx="0" cy="0"/>
          <a:chOff x="0" y="0"/>
          <a:chExt cx="0" cy="0"/>
        </a:xfrm>
      </p:grpSpPr>
      <p:sp>
        <p:nvSpPr>
          <p:cNvPr id="3" name="highlight"/>
          <p:cNvSpPr/>
          <p:nvPr/>
        </p:nvSpPr>
        <p:spPr>
          <a:xfrm>
            <a:off x="438912" y="527792"/>
            <a:ext cx="3037070" cy="572049"/>
          </a:xfrm>
          <a:prstGeom prst="roundRect">
            <a:avLst>
              <a:gd name="adj" fmla="val 12788"/>
            </a:avLst>
          </a:prstGeom>
          <a:solidFill>
            <a:srgbClr val="9CC506"/>
          </a:solidFill>
          <a:ln w="3175">
            <a:solidFill>
              <a:srgbClr val="9CC506"/>
            </a:solidFill>
            <a:prstDash val="solid"/>
          </a:ln>
        </p:spPr>
      </p:sp>
      <p:sp>
        <p:nvSpPr>
          <p:cNvPr id="4" name="headline"/>
          <p:cNvSpPr txBox="1"/>
          <p:nvPr/>
        </p:nvSpPr>
        <p:spPr>
          <a:xfrm>
            <a:off x="548640" y="502920"/>
            <a:ext cx="3091934" cy="621792"/>
          </a:xfrm>
          <a:prstGeom prst="rect">
            <a:avLst/>
          </a:prstGeom>
          <a:noFill/>
          <a:ln/>
        </p:spPr>
        <p:txBody>
          <a:bodyPr wrap="square" lIns="0" tIns="0" rIns="0" bIns="0" rtlCol="0" anchor="ctr"/>
          <a:lstStyle/>
          <a:p>
            <a:pPr algn="l" indent="0" marL="0">
              <a:buNone/>
            </a:pPr>
            <a:r>
              <a:rPr lang="en-US" sz="4800" dirty="0">
                <a:solidFill>
                  <a:srgbClr val="1A1C14"/>
                </a:solidFill>
                <a:latin typeface="Barlow Condensed ExtraBold" pitchFamily="34" charset="0"/>
                <a:ea typeface="Barlow Condensed ExtraBold" pitchFamily="34" charset="-122"/>
                <a:cs typeface="Barlow Condensed ExtraBold" pitchFamily="34" charset="-120"/>
              </a:rPr>
              <a:t>KESIMPULAN</a:t>
            </a:r>
            <a:endParaRPr lang="en-US" sz="4800" dirty="0"/>
          </a:p>
        </p:txBody>
      </p:sp>
      <p:sp>
        <p:nvSpPr>
          <p:cNvPr id="5" name="card"/>
          <p:cNvSpPr/>
          <p:nvPr/>
        </p:nvSpPr>
        <p:spPr>
          <a:xfrm>
            <a:off x="548640" y="1371600"/>
            <a:ext cx="7772400" cy="1481328"/>
          </a:xfrm>
          <a:prstGeom prst="roundRect">
            <a:avLst>
              <a:gd name="adj" fmla="val 13580"/>
            </a:avLst>
          </a:prstGeom>
          <a:solidFill>
            <a:srgbClr val="FFFFFF"/>
          </a:solidFill>
          <a:ln w="3175">
            <a:solidFill>
              <a:srgbClr val="FFFFFF"/>
            </a:solidFill>
            <a:prstDash val="solid"/>
          </a:ln>
        </p:spPr>
      </p:sp>
      <p:sp>
        <p:nvSpPr>
          <p:cNvPr id="6" name="number circle"/>
          <p:cNvSpPr/>
          <p:nvPr/>
        </p:nvSpPr>
        <p:spPr>
          <a:xfrm>
            <a:off x="822960" y="1783080"/>
            <a:ext cx="640080" cy="640080"/>
          </a:xfrm>
          <a:prstGeom prst="ellipse">
            <a:avLst/>
          </a:prstGeom>
          <a:solidFill>
            <a:srgbClr val="F1681D"/>
          </a:solidFill>
          <a:ln w="3175">
            <a:solidFill>
              <a:srgbClr val="F1681D"/>
            </a:solidFill>
            <a:prstDash val="solid"/>
          </a:ln>
        </p:spPr>
      </p:sp>
      <p:sp>
        <p:nvSpPr>
          <p:cNvPr id="7" name="heading"/>
          <p:cNvSpPr txBox="1"/>
          <p:nvPr/>
        </p:nvSpPr>
        <p:spPr>
          <a:xfrm>
            <a:off x="822960" y="1783080"/>
            <a:ext cx="640080" cy="640080"/>
          </a:xfrm>
          <a:prstGeom prst="rect">
            <a:avLst/>
          </a:prstGeom>
          <a:noFill/>
          <a:ln/>
        </p:spPr>
        <p:txBody>
          <a:bodyPr wrap="square" lIns="0" tIns="0" rIns="0" bIns="0" rtlCol="0" anchor="ctr"/>
          <a:lstStyle/>
          <a:p>
            <a:pPr algn="ctr" indent="0" marL="0">
              <a:lnSpc>
                <a:spcPct val="90000"/>
              </a:lnSpc>
              <a:buNone/>
            </a:pPr>
            <a:r>
              <a:rPr lang="en-US" sz="2600" dirty="0">
                <a:solidFill>
                  <a:srgbClr val="FFFFFF"/>
                </a:solidFill>
                <a:latin typeface="Barlow Condensed ExtraBold" pitchFamily="34" charset="0"/>
                <a:ea typeface="Barlow Condensed ExtraBold" pitchFamily="34" charset="-122"/>
                <a:cs typeface="Barlow Condensed ExtraBold" pitchFamily="34" charset="-120"/>
              </a:rPr>
              <a:t>1</a:t>
            </a:r>
            <a:endParaRPr lang="en-US" sz="2600" dirty="0"/>
          </a:p>
        </p:txBody>
      </p:sp>
      <p:sp>
        <p:nvSpPr>
          <p:cNvPr id="8" name="heading"/>
          <p:cNvSpPr txBox="1"/>
          <p:nvPr/>
        </p:nvSpPr>
        <p:spPr>
          <a:xfrm>
            <a:off x="1645920" y="1554480"/>
            <a:ext cx="6400800" cy="457200"/>
          </a:xfrm>
          <a:prstGeom prst="rect">
            <a:avLst/>
          </a:prstGeom>
          <a:noFill/>
          <a:ln/>
        </p:spPr>
        <p:txBody>
          <a:bodyPr wrap="square" lIns="0" tIns="0" rIns="0" bIns="0" rtlCol="0" anchor="t"/>
          <a:lstStyle/>
          <a:p>
            <a:pPr algn="l" indent="0" marL="0">
              <a:lnSpc>
                <a:spcPct val="90000"/>
              </a:lnSpc>
              <a:buNone/>
            </a:pPr>
            <a:r>
              <a:rPr lang="en-US" sz="2500" dirty="0">
                <a:solidFill>
                  <a:srgbClr val="1A1C14"/>
                </a:solidFill>
                <a:latin typeface="Barlow Condensed ExtraBold" pitchFamily="34" charset="0"/>
                <a:ea typeface="Barlow Condensed ExtraBold" pitchFamily="34" charset="-122"/>
                <a:cs typeface="Barlow Condensed ExtraBold" pitchFamily="34" charset="-120"/>
              </a:rPr>
              <a:t>JADWAL PENERBANGAN ADALAH MASTER SCHEDULE</a:t>
            </a:r>
            <a:endParaRPr lang="en-US" sz="2500" dirty="0"/>
          </a:p>
        </p:txBody>
      </p:sp>
      <p:sp>
        <p:nvSpPr>
          <p:cNvPr id="9" name="text"/>
          <p:cNvSpPr txBox="1"/>
          <p:nvPr/>
        </p:nvSpPr>
        <p:spPr>
          <a:xfrm>
            <a:off x="1645920" y="2029968"/>
            <a:ext cx="6400800" cy="77724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Kebutuhan perawatan, suku cadang, dan kru diturunkan darinya (logika MRP); satu basis data operasi menyatukannya (logika ERP).</a:t>
            </a:r>
            <a:endParaRPr lang="en-US" sz="1500" dirty="0"/>
          </a:p>
        </p:txBody>
      </p:sp>
      <p:sp>
        <p:nvSpPr>
          <p:cNvPr id="10" name="card"/>
          <p:cNvSpPr/>
          <p:nvPr/>
        </p:nvSpPr>
        <p:spPr>
          <a:xfrm>
            <a:off x="548640" y="3017520"/>
            <a:ext cx="7772400" cy="1481328"/>
          </a:xfrm>
          <a:prstGeom prst="roundRect">
            <a:avLst>
              <a:gd name="adj" fmla="val 13580"/>
            </a:avLst>
          </a:prstGeom>
          <a:solidFill>
            <a:srgbClr val="FFFFFF"/>
          </a:solidFill>
          <a:ln w="3175">
            <a:solidFill>
              <a:srgbClr val="FFFFFF"/>
            </a:solidFill>
            <a:prstDash val="solid"/>
          </a:ln>
        </p:spPr>
      </p:sp>
      <p:sp>
        <p:nvSpPr>
          <p:cNvPr id="11" name="number circle"/>
          <p:cNvSpPr/>
          <p:nvPr/>
        </p:nvSpPr>
        <p:spPr>
          <a:xfrm>
            <a:off x="822960" y="3429000"/>
            <a:ext cx="640080" cy="640080"/>
          </a:xfrm>
          <a:prstGeom prst="ellipse">
            <a:avLst/>
          </a:prstGeom>
          <a:solidFill>
            <a:srgbClr val="9CC506"/>
          </a:solidFill>
          <a:ln w="3175">
            <a:solidFill>
              <a:srgbClr val="9CC506"/>
            </a:solidFill>
            <a:prstDash val="solid"/>
          </a:ln>
        </p:spPr>
      </p:sp>
      <p:sp>
        <p:nvSpPr>
          <p:cNvPr id="12" name="heading"/>
          <p:cNvSpPr txBox="1"/>
          <p:nvPr/>
        </p:nvSpPr>
        <p:spPr>
          <a:xfrm>
            <a:off x="822960" y="3429000"/>
            <a:ext cx="640080" cy="640080"/>
          </a:xfrm>
          <a:prstGeom prst="rect">
            <a:avLst/>
          </a:prstGeom>
          <a:noFill/>
          <a:ln/>
        </p:spPr>
        <p:txBody>
          <a:bodyPr wrap="square" lIns="0" tIns="0" rIns="0" bIns="0" rtlCol="0" anchor="ctr"/>
          <a:lstStyle/>
          <a:p>
            <a:pPr algn="ctr" indent="0" marL="0">
              <a:lnSpc>
                <a:spcPct val="90000"/>
              </a:lnSpc>
              <a:buNone/>
            </a:pPr>
            <a:r>
              <a:rPr lang="en-US" sz="2600" dirty="0">
                <a:solidFill>
                  <a:srgbClr val="1A1C14"/>
                </a:solidFill>
                <a:latin typeface="Barlow Condensed ExtraBold" pitchFamily="34" charset="0"/>
                <a:ea typeface="Barlow Condensed ExtraBold" pitchFamily="34" charset="-122"/>
                <a:cs typeface="Barlow Condensed ExtraBold" pitchFamily="34" charset="-120"/>
              </a:rPr>
              <a:t>2</a:t>
            </a:r>
            <a:endParaRPr lang="en-US" sz="2600" dirty="0"/>
          </a:p>
        </p:txBody>
      </p:sp>
      <p:sp>
        <p:nvSpPr>
          <p:cNvPr id="13" name="heading"/>
          <p:cNvSpPr txBox="1"/>
          <p:nvPr/>
        </p:nvSpPr>
        <p:spPr>
          <a:xfrm>
            <a:off x="1645920" y="3200400"/>
            <a:ext cx="6400800" cy="457200"/>
          </a:xfrm>
          <a:prstGeom prst="rect">
            <a:avLst/>
          </a:prstGeom>
          <a:noFill/>
          <a:ln/>
        </p:spPr>
        <p:txBody>
          <a:bodyPr wrap="square" lIns="0" tIns="0" rIns="0" bIns="0" rtlCol="0" anchor="t"/>
          <a:lstStyle/>
          <a:p>
            <a:pPr algn="l" indent="0" marL="0">
              <a:lnSpc>
                <a:spcPct val="90000"/>
              </a:lnSpc>
              <a:buNone/>
            </a:pPr>
            <a:r>
              <a:rPr lang="en-US" sz="2500" dirty="0">
                <a:solidFill>
                  <a:srgbClr val="1A1C14"/>
                </a:solidFill>
                <a:latin typeface="Barlow Condensed ExtraBold" pitchFamily="34" charset="0"/>
                <a:ea typeface="Barlow Condensed ExtraBold" pitchFamily="34" charset="-122"/>
                <a:cs typeface="Barlow Condensed ExtraBold" pitchFamily="34" charset="-120"/>
              </a:rPr>
              <a:t>KETEPATAN WAKTU DIJAGA JAM DEMI JAM</a:t>
            </a:r>
            <a:endParaRPr lang="en-US" sz="2500" dirty="0"/>
          </a:p>
        </p:txBody>
      </p:sp>
      <p:sp>
        <p:nvSpPr>
          <p:cNvPr id="14" name="text"/>
          <p:cNvSpPr txBox="1"/>
          <p:nvPr/>
        </p:nvSpPr>
        <p:spPr>
          <a:xfrm>
            <a:off x="1645920" y="3675888"/>
            <a:ext cx="6400800" cy="77724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Aturan prioritas di hangar, penjadwalan kru berkapasitas berhingga, jadwal siklis staf darat, dan penjadwalan ulang saat badai.</a:t>
            </a:r>
            <a:endParaRPr lang="en-US" sz="1500" dirty="0"/>
          </a:p>
        </p:txBody>
      </p:sp>
      <p:sp>
        <p:nvSpPr>
          <p:cNvPr id="15" name="card"/>
          <p:cNvSpPr/>
          <p:nvPr/>
        </p:nvSpPr>
        <p:spPr>
          <a:xfrm>
            <a:off x="548640" y="4663440"/>
            <a:ext cx="7772400" cy="1481328"/>
          </a:xfrm>
          <a:prstGeom prst="roundRect">
            <a:avLst>
              <a:gd name="adj" fmla="val 13580"/>
            </a:avLst>
          </a:prstGeom>
          <a:solidFill>
            <a:srgbClr val="FFFFFF"/>
          </a:solidFill>
          <a:ln w="3175">
            <a:solidFill>
              <a:srgbClr val="FFFFFF"/>
            </a:solidFill>
            <a:prstDash val="solid"/>
          </a:ln>
        </p:spPr>
      </p:sp>
      <p:sp>
        <p:nvSpPr>
          <p:cNvPr id="16" name="number circle"/>
          <p:cNvSpPr/>
          <p:nvPr/>
        </p:nvSpPr>
        <p:spPr>
          <a:xfrm>
            <a:off x="822960" y="5074920"/>
            <a:ext cx="640080" cy="640080"/>
          </a:xfrm>
          <a:prstGeom prst="ellipse">
            <a:avLst/>
          </a:prstGeom>
          <a:solidFill>
            <a:srgbClr val="F1681D"/>
          </a:solidFill>
          <a:ln w="3175">
            <a:solidFill>
              <a:srgbClr val="F1681D"/>
            </a:solidFill>
            <a:prstDash val="solid"/>
          </a:ln>
        </p:spPr>
      </p:sp>
      <p:sp>
        <p:nvSpPr>
          <p:cNvPr id="17" name="heading"/>
          <p:cNvSpPr txBox="1"/>
          <p:nvPr/>
        </p:nvSpPr>
        <p:spPr>
          <a:xfrm>
            <a:off x="822960" y="5074920"/>
            <a:ext cx="640080" cy="640080"/>
          </a:xfrm>
          <a:prstGeom prst="rect">
            <a:avLst/>
          </a:prstGeom>
          <a:noFill/>
          <a:ln/>
        </p:spPr>
        <p:txBody>
          <a:bodyPr wrap="square" lIns="0" tIns="0" rIns="0" bIns="0" rtlCol="0" anchor="ctr"/>
          <a:lstStyle/>
          <a:p>
            <a:pPr algn="ctr" indent="0" marL="0">
              <a:lnSpc>
                <a:spcPct val="90000"/>
              </a:lnSpc>
              <a:buNone/>
            </a:pPr>
            <a:r>
              <a:rPr lang="en-US" sz="2600" dirty="0">
                <a:solidFill>
                  <a:srgbClr val="FFFFFF"/>
                </a:solidFill>
                <a:latin typeface="Barlow Condensed ExtraBold" pitchFamily="34" charset="0"/>
                <a:ea typeface="Barlow Condensed ExtraBold" pitchFamily="34" charset="-122"/>
                <a:cs typeface="Barlow Condensed ExtraBold" pitchFamily="34" charset="-120"/>
              </a:rPr>
              <a:t>3</a:t>
            </a:r>
            <a:endParaRPr lang="en-US" sz="2600" dirty="0"/>
          </a:p>
        </p:txBody>
      </p:sp>
      <p:sp>
        <p:nvSpPr>
          <p:cNvPr id="18" name="heading"/>
          <p:cNvSpPr txBox="1"/>
          <p:nvPr/>
        </p:nvSpPr>
        <p:spPr>
          <a:xfrm>
            <a:off x="1645920" y="4846320"/>
            <a:ext cx="6400800" cy="457200"/>
          </a:xfrm>
          <a:prstGeom prst="rect">
            <a:avLst/>
          </a:prstGeom>
          <a:noFill/>
          <a:ln/>
        </p:spPr>
        <p:txBody>
          <a:bodyPr wrap="square" lIns="0" tIns="0" rIns="0" bIns="0" rtlCol="0" anchor="t"/>
          <a:lstStyle/>
          <a:p>
            <a:pPr algn="l" indent="0" marL="0">
              <a:lnSpc>
                <a:spcPct val="90000"/>
              </a:lnSpc>
              <a:buNone/>
            </a:pPr>
            <a:r>
              <a:rPr lang="en-US" sz="2500" dirty="0">
                <a:solidFill>
                  <a:srgbClr val="1A1C14"/>
                </a:solidFill>
                <a:latin typeface="Barlow Condensed ExtraBold" pitchFamily="34" charset="0"/>
                <a:ea typeface="Barlow Condensed ExtraBold" pitchFamily="34" charset="-122"/>
                <a:cs typeface="Barlow Condensed ExtraBold" pitchFamily="34" charset="-120"/>
              </a:rPr>
              <a:t>INTEGRASI: KEUNGGULAN SEKALIGUS RISIKO</a:t>
            </a:r>
            <a:endParaRPr lang="en-US" sz="2500" dirty="0"/>
          </a:p>
        </p:txBody>
      </p:sp>
      <p:sp>
        <p:nvSpPr>
          <p:cNvPr id="19" name="text"/>
          <p:cNvSpPr txBox="1"/>
          <p:nvPr/>
        </p:nvSpPr>
        <p:spPr>
          <a:xfrm>
            <a:off x="1645920" y="5321808"/>
            <a:ext cx="6400800" cy="777240"/>
          </a:xfrm>
          <a:prstGeom prst="rect">
            <a:avLst/>
          </a:prstGeom>
          <a:noFill/>
          <a:ln/>
        </p:spPr>
        <p:txBody>
          <a:bodyPr wrap="square" lIns="0" tIns="0" rIns="0" bIns="0" rtlCol="0" anchor="t"/>
          <a:lstStyle/>
          <a:p>
            <a:pPr algn="l" indent="0" marL="0">
              <a:buNone/>
            </a:pPr>
            <a:r>
              <a:rPr lang="en-US" sz="1500" dirty="0">
                <a:solidFill>
                  <a:srgbClr val="1A1C14"/>
                </a:solidFill>
                <a:latin typeface="Barlow" pitchFamily="34" charset="0"/>
                <a:ea typeface="Barlow" pitchFamily="34" charset="-122"/>
                <a:cs typeface="Barlow" pitchFamily="34" charset="-120"/>
              </a:rPr>
              <a:t>Hemat US$18 juta per tahun, tetapi dua </a:t>
            </a:r>
            <a:r>
              <a:rPr lang="en-US" sz="1500" i="1" dirty="0">
                <a:solidFill>
                  <a:srgbClr val="1A1C14"/>
                </a:solidFill>
                <a:latin typeface="Barlow" pitchFamily="34" charset="0"/>
                <a:ea typeface="Barlow" pitchFamily="34" charset="-122"/>
                <a:cs typeface="Barlow" pitchFamily="34" charset="-120"/>
              </a:rPr>
              <a:t>outage</a:t>
            </a:r>
            <a:r>
              <a:rPr lang="en-US" sz="1500" dirty="0">
                <a:solidFill>
                  <a:srgbClr val="1A1C14"/>
                </a:solidFill>
                <a:latin typeface="Barlow" pitchFamily="34" charset="0"/>
                <a:ea typeface="Barlow" pitchFamily="34" charset="-122"/>
                <a:cs typeface="Barlow" pitchFamily="34" charset="-120"/>
              </a:rPr>
              <a:t> 2025 menghentikan seluruh operasi. Ketahanan infrastruktur harus direncanakan sekeras jadwalnya.</a:t>
            </a:r>
            <a:endParaRPr lang="en-US" sz="1500" dirty="0"/>
          </a:p>
        </p:txBody>
      </p:sp>
      <p:sp>
        <p:nvSpPr>
          <p:cNvPr id="20" name="card"/>
          <p:cNvSpPr/>
          <p:nvPr/>
        </p:nvSpPr>
        <p:spPr>
          <a:xfrm>
            <a:off x="8549640" y="1371600"/>
            <a:ext cx="3093415" cy="4892040"/>
          </a:xfrm>
          <a:prstGeom prst="roundRect">
            <a:avLst>
              <a:gd name="adj" fmla="val 6503"/>
            </a:avLst>
          </a:prstGeom>
          <a:solidFill>
            <a:srgbClr val="1A1C14"/>
          </a:solidFill>
          <a:ln w="3175">
            <a:solidFill>
              <a:srgbClr val="1A1C14"/>
            </a:solidFill>
            <a:prstDash val="solid"/>
          </a:ln>
        </p:spPr>
      </p:sp>
      <p:sp>
        <p:nvSpPr>
          <p:cNvPr id="21" name="heading"/>
          <p:cNvSpPr txBox="1"/>
          <p:nvPr/>
        </p:nvSpPr>
        <p:spPr>
          <a:xfrm>
            <a:off x="8823960" y="1554480"/>
            <a:ext cx="2544775" cy="411480"/>
          </a:xfrm>
          <a:prstGeom prst="rect">
            <a:avLst/>
          </a:prstGeom>
          <a:noFill/>
          <a:ln/>
        </p:spPr>
        <p:txBody>
          <a:bodyPr wrap="square" lIns="0" tIns="0" rIns="0" bIns="0" rtlCol="0" anchor="t"/>
          <a:lstStyle/>
          <a:p>
            <a:pPr algn="l" indent="0" marL="0">
              <a:lnSpc>
                <a:spcPct val="90000"/>
              </a:lnSpc>
              <a:buNone/>
            </a:pPr>
            <a:r>
              <a:rPr lang="en-US" sz="2200" dirty="0">
                <a:solidFill>
                  <a:srgbClr val="9CC506"/>
                </a:solidFill>
                <a:latin typeface="Barlow Condensed ExtraBold" pitchFamily="34" charset="0"/>
                <a:ea typeface="Barlow Condensed ExtraBold" pitchFamily="34" charset="-122"/>
                <a:cs typeface="Barlow Condensed ExtraBold" pitchFamily="34" charset="-120"/>
              </a:rPr>
              <a:t>ANGKA KUNCI</a:t>
            </a:r>
            <a:endParaRPr lang="en-US" sz="2200" dirty="0"/>
          </a:p>
        </p:txBody>
      </p:sp>
      <p:sp>
        <p:nvSpPr>
          <p:cNvPr id="22" name="heading"/>
          <p:cNvSpPr txBox="1"/>
          <p:nvPr/>
        </p:nvSpPr>
        <p:spPr>
          <a:xfrm>
            <a:off x="8823960" y="2103120"/>
            <a:ext cx="2544775" cy="548640"/>
          </a:xfrm>
          <a:prstGeom prst="rect">
            <a:avLst/>
          </a:prstGeom>
          <a:noFill/>
          <a:ln/>
        </p:spPr>
        <p:txBody>
          <a:bodyPr wrap="square" lIns="0" tIns="0" rIns="0" bIns="0" rtlCol="0" anchor="t"/>
          <a:lstStyle/>
          <a:p>
            <a:pPr algn="l" indent="0" marL="0">
              <a:lnSpc>
                <a:spcPct val="90000"/>
              </a:lnSpc>
              <a:buNone/>
            </a:pPr>
            <a:r>
              <a:rPr lang="en-US" sz="3400" dirty="0">
                <a:solidFill>
                  <a:srgbClr val="FFFFFF"/>
                </a:solidFill>
                <a:latin typeface="Barlow Condensed ExtraBold" pitchFamily="34" charset="0"/>
                <a:ea typeface="Barlow Condensed ExtraBold" pitchFamily="34" charset="-122"/>
                <a:cs typeface="Barlow Condensed ExtraBold" pitchFamily="34" charset="-120"/>
              </a:rPr>
              <a:t>US$18 JUTA</a:t>
            </a:r>
            <a:endParaRPr lang="en-US" sz="3400" dirty="0"/>
          </a:p>
        </p:txBody>
      </p:sp>
      <p:sp>
        <p:nvSpPr>
          <p:cNvPr id="23" name="text"/>
          <p:cNvSpPr txBox="1"/>
          <p:nvPr/>
        </p:nvSpPr>
        <p:spPr>
          <a:xfrm>
            <a:off x="8823960" y="2670048"/>
            <a:ext cx="2544775" cy="731520"/>
          </a:xfrm>
          <a:prstGeom prst="rect">
            <a:avLst/>
          </a:prstGeom>
          <a:noFill/>
          <a:ln/>
        </p:spPr>
        <p:txBody>
          <a:bodyPr wrap="square" lIns="0" tIns="0" rIns="0" bIns="0" rtlCol="0" anchor="t"/>
          <a:lstStyle/>
          <a:p>
            <a:pPr algn="l" indent="0" marL="0">
              <a:buNone/>
            </a:pPr>
            <a:r>
              <a:rPr lang="en-US" sz="1350" dirty="0">
                <a:solidFill>
                  <a:srgbClr val="C9E36A"/>
                </a:solidFill>
                <a:latin typeface="Barlow" pitchFamily="34" charset="0"/>
                <a:ea typeface="Barlow" pitchFamily="34" charset="-122"/>
                <a:cs typeface="Barlow" pitchFamily="34" charset="-120"/>
              </a:rPr>
              <a:t>penghematan per tahun dari penjadwalan ulang</a:t>
            </a:r>
            <a:endParaRPr lang="en-US" sz="1350" dirty="0"/>
          </a:p>
        </p:txBody>
      </p:sp>
      <p:sp>
        <p:nvSpPr>
          <p:cNvPr id="24" name="heading"/>
          <p:cNvSpPr txBox="1"/>
          <p:nvPr/>
        </p:nvSpPr>
        <p:spPr>
          <a:xfrm>
            <a:off x="8823960" y="3474720"/>
            <a:ext cx="2544775" cy="548640"/>
          </a:xfrm>
          <a:prstGeom prst="rect">
            <a:avLst/>
          </a:prstGeom>
          <a:noFill/>
          <a:ln/>
        </p:spPr>
        <p:txBody>
          <a:bodyPr wrap="square" lIns="0" tIns="0" rIns="0" bIns="0" rtlCol="0" anchor="t"/>
          <a:lstStyle/>
          <a:p>
            <a:pPr algn="l" indent="0" marL="0">
              <a:lnSpc>
                <a:spcPct val="90000"/>
              </a:lnSpc>
              <a:buNone/>
            </a:pPr>
            <a:r>
              <a:rPr lang="en-US" sz="3400" dirty="0">
                <a:solidFill>
                  <a:srgbClr val="FFFFFF"/>
                </a:solidFill>
                <a:latin typeface="Barlow Condensed ExtraBold" pitchFamily="34" charset="0"/>
                <a:ea typeface="Barlow Condensed ExtraBold" pitchFamily="34" charset="-122"/>
                <a:cs typeface="Barlow Condensed ExtraBold" pitchFamily="34" charset="-120"/>
              </a:rPr>
              <a:t>85,8%</a:t>
            </a:r>
            <a:endParaRPr lang="en-US" sz="3400" dirty="0"/>
          </a:p>
        </p:txBody>
      </p:sp>
      <p:sp>
        <p:nvSpPr>
          <p:cNvPr id="25" name="text"/>
          <p:cNvSpPr txBox="1"/>
          <p:nvPr/>
        </p:nvSpPr>
        <p:spPr>
          <a:xfrm>
            <a:off x="8823960" y="4041648"/>
            <a:ext cx="2544775" cy="731520"/>
          </a:xfrm>
          <a:prstGeom prst="rect">
            <a:avLst/>
          </a:prstGeom>
          <a:noFill/>
          <a:ln/>
        </p:spPr>
        <p:txBody>
          <a:bodyPr wrap="square" lIns="0" tIns="0" rIns="0" bIns="0" rtlCol="0" anchor="t"/>
          <a:lstStyle/>
          <a:p>
            <a:pPr algn="l" indent="0" marL="0">
              <a:buNone/>
            </a:pPr>
            <a:r>
              <a:rPr lang="en-US" sz="1350" i="1" dirty="0">
                <a:solidFill>
                  <a:srgbClr val="C9E36A"/>
                </a:solidFill>
                <a:latin typeface="Barlow" pitchFamily="34" charset="0"/>
                <a:ea typeface="Barlow" pitchFamily="34" charset="-122"/>
                <a:cs typeface="Barlow" pitchFamily="34" charset="-120"/>
              </a:rPr>
              <a:t>on-time departures</a:t>
            </a:r>
            <a:r>
              <a:rPr lang="en-US" sz="1350" dirty="0">
                <a:solidFill>
                  <a:srgbClr val="C9E36A"/>
                </a:solidFill>
                <a:latin typeface="Barlow" pitchFamily="34" charset="0"/>
                <a:ea typeface="Barlow" pitchFamily="34" charset="-122"/>
                <a:cs typeface="Barlow" pitchFamily="34" charset="-120"/>
              </a:rPr>
              <a:t> SEA, tertinggi di AS (Heizer et al., 2017)</a:t>
            </a:r>
            <a:endParaRPr lang="en-US" sz="1350" dirty="0"/>
          </a:p>
        </p:txBody>
      </p:sp>
      <p:sp>
        <p:nvSpPr>
          <p:cNvPr id="26" name="heading"/>
          <p:cNvSpPr txBox="1"/>
          <p:nvPr/>
        </p:nvSpPr>
        <p:spPr>
          <a:xfrm>
            <a:off x="8823960" y="4846320"/>
            <a:ext cx="2544775" cy="548640"/>
          </a:xfrm>
          <a:prstGeom prst="rect">
            <a:avLst/>
          </a:prstGeom>
          <a:noFill/>
          <a:ln/>
        </p:spPr>
        <p:txBody>
          <a:bodyPr wrap="square" lIns="0" tIns="0" rIns="0" bIns="0" rtlCol="0" anchor="t"/>
          <a:lstStyle/>
          <a:p>
            <a:pPr algn="l" indent="0" marL="0">
              <a:lnSpc>
                <a:spcPct val="90000"/>
              </a:lnSpc>
              <a:buNone/>
            </a:pPr>
            <a:r>
              <a:rPr lang="en-US" sz="3400" dirty="0">
                <a:solidFill>
                  <a:srgbClr val="FFFFFF"/>
                </a:solidFill>
                <a:latin typeface="Barlow Condensed ExtraBold" pitchFamily="34" charset="0"/>
                <a:ea typeface="Barlow Condensed ExtraBold" pitchFamily="34" charset="-122"/>
                <a:cs typeface="Barlow Condensed ExtraBold" pitchFamily="34" charset="-120"/>
              </a:rPr>
              <a:t>79,25%</a:t>
            </a:r>
            <a:endParaRPr lang="en-US" sz="3400" dirty="0"/>
          </a:p>
        </p:txBody>
      </p:sp>
      <p:sp>
        <p:nvSpPr>
          <p:cNvPr id="27" name="text"/>
          <p:cNvSpPr txBox="1"/>
          <p:nvPr/>
        </p:nvSpPr>
        <p:spPr>
          <a:xfrm>
            <a:off x="8823960" y="5413248"/>
            <a:ext cx="2544775" cy="731520"/>
          </a:xfrm>
          <a:prstGeom prst="rect">
            <a:avLst/>
          </a:prstGeom>
          <a:noFill/>
          <a:ln/>
        </p:spPr>
        <p:txBody>
          <a:bodyPr wrap="square" lIns="0" tIns="0" rIns="0" bIns="0" rtlCol="0" anchor="t"/>
          <a:lstStyle/>
          <a:p>
            <a:pPr algn="l" indent="0" marL="0">
              <a:buNone/>
            </a:pPr>
            <a:r>
              <a:rPr lang="en-US" sz="1350" dirty="0">
                <a:solidFill>
                  <a:srgbClr val="C9E36A"/>
                </a:solidFill>
                <a:latin typeface="Barlow" pitchFamily="34" charset="0"/>
                <a:ea typeface="Barlow" pitchFamily="34" charset="-122"/>
                <a:cs typeface="Barlow" pitchFamily="34" charset="-120"/>
              </a:rPr>
              <a:t>ketepatan kedatangan 2024, peringkat ke-3 Amerika Utara (Cirium)</a:t>
            </a:r>
            <a:endParaRPr lang="en-US" sz="1350" dirty="0"/>
          </a:p>
        </p:txBody>
      </p:sp>
      <p:sp>
        <p:nvSpPr>
          <p:cNvPr id="28" name="text"/>
          <p:cNvSpPr txBox="1"/>
          <p:nvPr/>
        </p:nvSpPr>
        <p:spPr>
          <a:xfrm>
            <a:off x="548640" y="6364224"/>
            <a:ext cx="10058400" cy="347472"/>
          </a:xfrm>
          <a:prstGeom prst="rect">
            <a:avLst/>
          </a:prstGeom>
          <a:noFill/>
          <a:ln/>
        </p:spPr>
        <p:txBody>
          <a:bodyPr wrap="square" lIns="0" tIns="0" rIns="0" bIns="0" rtlCol="0" anchor="t"/>
          <a:lstStyle/>
          <a:p>
            <a:pPr algn="l" indent="0" marL="0">
              <a:buNone/>
            </a:pPr>
            <a:r>
              <a:rPr lang="en-US" sz="1300" i="1" dirty="0">
                <a:solidFill>
                  <a:srgbClr val="6B6B66"/>
                </a:solidFill>
                <a:latin typeface="Barlow" pitchFamily="34" charset="0"/>
                <a:ea typeface="Barlow" pitchFamily="34" charset="-122"/>
                <a:cs typeface="Barlow" pitchFamily="34" charset="-120"/>
              </a:rPr>
              <a:t>Referensi lengkap tercantum pada catatan pembicara slide ini.</a:t>
            </a:r>
            <a:endParaRPr lang="en-US" sz="1300" dirty="0"/>
          </a:p>
        </p:txBody>
      </p:sp>
      <p:sp>
        <p:nvSpPr>
          <p:cNvPr id="25" name="Slide Number Placeholder 0"/>
          <p:cNvSpPr>
            <a:spLocks noGrp="1"/>
          </p:cNvSpPr>
          <p:nvPr>
            <p:ph type="sldNum" sz="quarter" idx="4294967295"/>
          </p:nvPr>
        </p:nvSpPr>
        <p:spPr>
          <a:xfrm>
            <a:off x="11155680" y="6400800"/>
            <a:ext cx="484632"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1A1C14"/>
                </a:solidFill>
                <a:latin typeface="Barlow"/>
                <a:ea typeface="Barlow"/>
                <a:cs typeface="Barlow"/>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9CC506"/>
        </a:solidFill>
      </p:bgPr>
    </p:bg>
    <p:spTree>
      <p:nvGrpSpPr>
        <p:cNvPr id="1" name=""/>
        <p:cNvGrpSpPr/>
        <p:nvPr/>
      </p:nvGrpSpPr>
      <p:grpSpPr>
        <a:xfrm>
          <a:off x="0" y="0"/>
          <a:ext cx="0" cy="0"/>
          <a:chOff x="0" y="0"/>
          <a:chExt cx="0" cy="0"/>
        </a:xfrm>
      </p:grpSpPr>
      <p:sp>
        <p:nvSpPr>
          <p:cNvPr id="3" name="heading"/>
          <p:cNvSpPr txBox="1"/>
          <p:nvPr/>
        </p:nvSpPr>
        <p:spPr>
          <a:xfrm>
            <a:off x="0" y="2377440"/>
            <a:ext cx="12191695" cy="2103120"/>
          </a:xfrm>
          <a:prstGeom prst="rect">
            <a:avLst/>
          </a:prstGeom>
          <a:noFill/>
          <a:ln/>
        </p:spPr>
        <p:txBody>
          <a:bodyPr wrap="square" lIns="0" tIns="0" rIns="0" bIns="0" rtlCol="0" anchor="ctr"/>
          <a:lstStyle/>
          <a:p>
            <a:pPr algn="ctr" indent="0" marL="0">
              <a:lnSpc>
                <a:spcPct val="90000"/>
              </a:lnSpc>
              <a:buNone/>
            </a:pPr>
            <a:r>
              <a:rPr lang="en-US" sz="12000" dirty="0">
                <a:solidFill>
                  <a:srgbClr val="1A1C14"/>
                </a:solidFill>
                <a:latin typeface="Barlow Condensed ExtraBold" pitchFamily="34" charset="0"/>
                <a:ea typeface="Barlow Condensed ExtraBold" pitchFamily="34" charset="-122"/>
                <a:cs typeface="Barlow Condensed ExtraBold" pitchFamily="34" charset="-120"/>
              </a:rPr>
              <a:t>TERIMA KASIH</a:t>
            </a:r>
            <a:endParaRPr lang="en-US" sz="12000" dirty="0"/>
          </a:p>
        </p:txBody>
      </p:sp>
    </p:spTree>
  </p:cSld>
  <p:clrMapOvr>
    <a:masterClrMapping/>
  </p:clrMapOvr>
</p:sld>
</file>

<file path=ppt/theme/theme1.xml><?xml version="1.0" encoding="utf-8"?>
<a:theme xmlns:a="http://schemas.openxmlformats.org/drawingml/2006/main" name="Alaska Klyro">
  <a:themeElements>
    <a:clrScheme name="Alaska Klyro">
      <a:dk1>
        <a:srgbClr val="1A1C14"/>
      </a:dk1>
      <a:lt1>
        <a:srgbClr val="FFFFFF"/>
      </a:lt1>
      <a:dk2>
        <a:srgbClr val="6B6B66"/>
      </a:dk2>
      <a:lt2>
        <a:srgbClr val="F4F4F2"/>
      </a:lt2>
      <a:accent1>
        <a:srgbClr val="F1681D"/>
      </a:accent1>
      <a:accent2>
        <a:srgbClr val="9CC506"/>
      </a:accent2>
      <a:accent3>
        <a:srgbClr val="86A90A"/>
      </a:accent3>
      <a:accent4>
        <a:srgbClr val="1A1C14"/>
      </a:accent4>
      <a:accent5>
        <a:srgbClr val="F39D6A"/>
      </a:accent5>
      <a:accent6>
        <a:srgbClr val="C9E36A"/>
      </a:accent6>
      <a:hlink>
        <a:srgbClr val="F1681D"/>
      </a:hlink>
      <a:folHlink>
        <a:srgbClr val="86A90A"/>
      </a:folHlink>
    </a:clrScheme>
    <a:fontScheme name="Alaska Klyro">
      <a:majorFont>
        <a:latin typeface="Barlow Condensed Extra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 and Control di Alaska Airlines — MRP dan ERP, Sequencing and Scheduling</dc:title>
  <dc:subject>PptxGenJS Presentation</dc:subject>
  <dc:creator>PptxGenJS</dc:creator>
  <cp:lastModifiedBy>PptxGenJS</cp:lastModifiedBy>
  <cp:revision>1</cp:revision>
  <dcterms:created xsi:type="dcterms:W3CDTF">2026-10-27T14:06:00Z</dcterms:created>
  <dcterms:modified xsi:type="dcterms:W3CDTF">2026-10-27T14:06:00Z</dcterms:modified>
</cp:coreProperties>
</file>