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05575839-7ff8-9be9-8474-6eedd387eb70}">
          <p14:sldIdLst>
            <p14:sldId id="256"/>
            <p14:sldId id="257"/>
          </p14:sldIdLst>
        </p14:section>
        <p14:section name="Bagian 1 – Landasan" id="{0d27b57e-8df2-910c-c0a5-e9234295cf39}">
          <p14:sldIdLst>
            <p14:sldId id="258"/>
            <p14:sldId id="259"/>
            <p14:sldId id="260"/>
          </p14:sldIdLst>
        </p14:section>
        <p14:section name="Bagian 2 – MRP" id="{cf886fa1-3280-ab95-b505-aeb38a581de2}">
          <p14:sldIdLst>
            <p14:sldId id="261"/>
            <p14:sldId id="262"/>
            <p14:sldId id="263"/>
            <p14:sldId id="264"/>
          </p14:sldIdLst>
        </p14:section>
        <p14:section name="Bagian 2 – ERP" id="{51711955-6038-5f5f-a27f-a7d044eb5221}">
          <p14:sldIdLst>
            <p14:sldId id="265"/>
            <p14:sldId id="266"/>
            <p14:sldId id="267"/>
            <p14:sldId id="268"/>
          </p14:sldIdLst>
        </p14:section>
        <p14:section name="Bagian 3 – Sequencing &amp; Scheduling" id="{39cf5761-4d3d-95e8-4e2f-9c88bd2f7731}">
          <p14:sldIdLst>
            <p14:sldId id="269"/>
            <p14:sldId id="270"/>
            <p14:sldId id="271"/>
            <p14:sldId id="272"/>
            <p14:sldId id="273"/>
            <p14:sldId id="274"/>
          </p14:sldIdLst>
        </p14:section>
        <p14:section name="Bagian 4 – Studi Kasus Alaska Airlines" id="{3ae49c7d-a160-08d5-9176-55acf153654e}">
          <p14:sldIdLst>
            <p14:sldId id="275"/>
            <p14:sldId id="276"/>
            <p14:sldId id="277"/>
            <p14:sldId id="278"/>
            <p14:sldId id="279"/>
            <p14:sldId id="280"/>
            <p14:sldId id="281"/>
            <p14:sldId id="282"/>
            <p14:sldId id="283"/>
          </p14:sldIdLst>
        </p14:section>
        <p14:section name="Penutup" id="{f5eccd6c-18d5-dd01-d41d-95878f47049c}">
          <p14:sldIdLst>
            <p14:sldId id="284"/>
            <p14:sldId id="285"/>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00274A"/>
                </a:solidFill>
                <a:latin typeface="+mn-lt"/>
              </a:defRPr>
            </a:pPr>
            <a:r>
              <a:rPr sz="1100" b="0" i="0" u="none" strike="noStrike">
                <a:solidFill>
                  <a:srgbClr val="00274A"/>
                </a:solidFill>
                <a:latin typeface="+mn-lt"/>
              </a:rPr>
              <a:t>Rata-rata waktu penyelesaian (hari) per aturan</a:t>
            </a:r>
          </a:p>
        </c:rich>
      </c:tx>
      <c:layout/>
      <c:overlay val="0"/>
    </c:title>
    <c:autoTitleDeleted val="0"/>
    <c:plotArea>
      <c:layout/>
      <c:barChart>
        <c:barDir val="col"/>
        <c:grouping val="clustered"/>
        <c:varyColors val="0"/>
        <c:ser>
          <c:idx val="0"/>
          <c:order val="0"/>
          <c:tx>
            <c:strRef>
              <c:f>Sheet1!$B$1</c:f>
              <c:strCache>
                <c:ptCount val="1"/>
                <c:pt idx="0">
                  <c:v>Rata-rata waktu penyelesaian (hari)</c:v>
                </c:pt>
              </c:strCache>
            </c:strRef>
          </c:tx>
          <c:spPr>
            <a:solidFill>
              <a:srgbClr val="C9E0F7"/>
            </a:solidFill>
            <a:effectLst/>
          </c:spPr>
          <c:invertIfNegative val="0"/>
          <c:dLbls>
            <c:numFmt formatCode="0.0" sourceLinked="0"/>
            <c:txPr>
              <a:bodyPr/>
              <a:lstStyle/>
              <a:p>
                <a:pPr>
                  <a:defRPr b="0" i="0" strike="noStrike" sz="1000" u="none">
                    <a:solidFill>
                      <a:srgbClr val="00274A"/>
                    </a:solidFill>
                    <a:latin typeface="+mn-lt"/>
                  </a:defRPr>
                </a:pPr>
              </a:p>
            </c:txPr>
            <c:showLegendKey val="0"/>
            <c:showVal val="1"/>
            <c:showCatName val="0"/>
            <c:showSerName val="0"/>
            <c:showPercent val="0"/>
            <c:showBubbleSize val="0"/>
            <c:showLeaderLines val="0"/>
          </c:dLbls>
          <c:dPt>
            <c:idx val="0"/>
            <c:invertIfNegative val="0"/>
            <c:bubble3D val="0"/>
            <c:spPr>
              <a:solidFill>
                <a:srgbClr val="C9E0F7"/>
              </a:solidFill>
              <a:effectLst/>
            </c:spPr>
          </c:dPt>
          <c:dPt>
            <c:idx val="1"/>
            <c:invertIfNegative val="0"/>
            <c:bubble3D val="0"/>
            <c:spPr>
              <a:solidFill>
                <a:srgbClr val="0074C8"/>
              </a:solidFill>
              <a:effectLst/>
            </c:spPr>
          </c:dPt>
          <c:dPt>
            <c:idx val="2"/>
            <c:invertIfNegative val="0"/>
            <c:bubble3D val="0"/>
            <c:spPr>
              <a:solidFill>
                <a:srgbClr val="51AE8C"/>
              </a:solidFill>
              <a:effectLst/>
            </c:spPr>
          </c:dPt>
          <c:dPt>
            <c:idx val="3"/>
            <c:invertIfNegative val="0"/>
            <c:bubble3D val="0"/>
            <c:spPr>
              <a:solidFill>
                <a:srgbClr val="F26135"/>
              </a:solidFill>
              <a:effectLst/>
            </c:spPr>
          </c:dPt>
          <c:cat>
            <c:multiLvlStrRef>
              <c:f>Sheet1!$A$2:$A$5</c:f>
              <c:multiLvlStrCache>
                <c:ptCount val="4"/>
                <c:lvl>
                  <c:pt idx="0">
                    <c:v>FCFS</c:v>
                  </c:pt>
                  <c:pt idx="1">
                    <c:v>SPT</c:v>
                  </c:pt>
                  <c:pt idx="2">
                    <c:v>EDD</c:v>
                  </c:pt>
                  <c:pt idx="3">
                    <c:v>LPT</c:v>
                  </c:pt>
                </c:lvl>
              </c:multiLvlStrCache>
            </c:multiLvlStrRef>
          </c:cat>
          <c:val>
            <c:numRef>
              <c:f>Sheet1!$B$2:$B$5</c:f>
              <c:numCache>
                <c:formatCode>General</c:formatCode>
                <c:ptCount val="4"/>
                <c:pt idx="0">
                  <c:v>15.4</c:v>
                </c:pt>
                <c:pt idx="1">
                  <c:v>13</c:v>
                </c:pt>
                <c:pt idx="2">
                  <c:v>13.6</c:v>
                </c:pt>
                <c:pt idx="3">
                  <c:v>20.6</c:v>
                </c:pt>
              </c:numCache>
            </c:numRef>
          </c:val>
        </c:ser>
        <c:dLbls>
          <c:numFmt formatCode="0.0" sourceLinked="0"/>
          <c:txPr>
            <a:bodyPr/>
            <a:lstStyle/>
            <a:p>
              <a:pPr>
                <a:defRPr b="0" i="0" strike="noStrike" sz="1000" u="none">
                  <a:solidFill>
                    <a:srgbClr val="00274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0274A"/>
                </a:solidFill>
                <a:latin typeface="+mn-lt"/>
              </a:defRPr>
            </a:pPr>
            <a:endParaRPr lang="en-US"/>
          </a:p>
        </c:txPr>
        <c:crossAx val="2094734552"/>
        <c:crosses val="autoZero"/>
        <c:auto val="1"/>
        <c:lblAlgn val="ctr"/>
        <c:noMultiLvlLbl val="1"/>
      </c:catAx>
      <c:valAx>
        <c:axId val="2094734552"/>
        <c:scaling>
          <c:orientation val="minMax"/>
          <c:max val="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00274A"/>
                </a:solidFill>
                <a:latin typeface="+mn-lt"/>
              </a:defRPr>
            </a:pPr>
            <a:r>
              <a:rPr sz="1100" b="0" i="0" u="none" strike="noStrike">
                <a:solidFill>
                  <a:srgbClr val="00274A"/>
                </a:solidFill>
                <a:latin typeface="+mn-lt"/>
              </a:rPr>
              <a:t>Ketepatan waktu kedatangan 2024 (%), lima besar Amerika Utara</a:t>
            </a:r>
          </a:p>
        </c:rich>
      </c:tx>
      <c:layout/>
      <c:overlay val="0"/>
    </c:title>
    <c:autoTitleDeleted val="0"/>
    <c:plotArea>
      <c:layout/>
      <c:barChart>
        <c:barDir val="bar"/>
        <c:grouping val="clustered"/>
        <c:varyColors val="0"/>
        <c:ser>
          <c:idx val="0"/>
          <c:order val="0"/>
          <c:tx>
            <c:strRef>
              <c:f>Sheet1!$B$1</c:f>
              <c:strCache>
                <c:ptCount val="1"/>
                <c:pt idx="0">
                  <c:v>Ketepatan waktu kedatangan 2024 (%)</c:v>
                </c:pt>
              </c:strCache>
            </c:strRef>
          </c:tx>
          <c:spPr>
            <a:solidFill>
              <a:srgbClr val="C9E0F7"/>
            </a:solidFill>
            <a:effectLst/>
          </c:spPr>
          <c:invertIfNegative val="0"/>
          <c:dLbls>
            <c:numFmt formatCode="0.00" sourceLinked="0"/>
            <c:txPr>
              <a:bodyPr/>
              <a:lstStyle/>
              <a:p>
                <a:pPr>
                  <a:defRPr b="0" i="0" strike="noStrike" sz="1000" u="none">
                    <a:solidFill>
                      <a:srgbClr val="00274A"/>
                    </a:solidFill>
                    <a:latin typeface="+mn-lt"/>
                  </a:defRPr>
                </a:pPr>
              </a:p>
            </c:txPr>
            <c:showLegendKey val="0"/>
            <c:showVal val="1"/>
            <c:showCatName val="0"/>
            <c:showSerName val="0"/>
            <c:showPercent val="0"/>
            <c:showBubbleSize val="0"/>
            <c:showLeaderLines val="0"/>
          </c:dLbls>
          <c:dPt>
            <c:idx val="0"/>
            <c:invertIfNegative val="0"/>
            <c:bubble3D val="0"/>
            <c:spPr>
              <a:solidFill>
                <a:srgbClr val="C9E0F7"/>
              </a:solidFill>
              <a:effectLst/>
            </c:spPr>
          </c:dPt>
          <c:dPt>
            <c:idx val="1"/>
            <c:invertIfNegative val="0"/>
            <c:bubble3D val="0"/>
            <c:spPr>
              <a:solidFill>
                <a:srgbClr val="C9E0F7"/>
              </a:solidFill>
              <a:effectLst/>
            </c:spPr>
          </c:dPt>
          <c:dPt>
            <c:idx val="2"/>
            <c:invertIfNegative val="0"/>
            <c:bubble3D val="0"/>
            <c:spPr>
              <a:solidFill>
                <a:srgbClr val="0074C8"/>
              </a:solidFill>
              <a:effectLst/>
            </c:spPr>
          </c:dPt>
          <c:dPt>
            <c:idx val="3"/>
            <c:invertIfNegative val="0"/>
            <c:bubble3D val="0"/>
            <c:spPr>
              <a:solidFill>
                <a:srgbClr val="C9E0F7"/>
              </a:solidFill>
              <a:effectLst/>
            </c:spPr>
          </c:dPt>
          <c:dPt>
            <c:idx val="4"/>
            <c:invertIfNegative val="0"/>
            <c:bubble3D val="0"/>
            <c:spPr>
              <a:solidFill>
                <a:srgbClr val="C9E0F7"/>
              </a:solidFill>
              <a:effectLst/>
            </c:spPr>
          </c:dPt>
          <c:cat>
            <c:multiLvlStrRef>
              <c:f>Sheet1!$A$2:$A$6</c:f>
              <c:multiLvlStrCache>
                <c:ptCount val="5"/>
                <c:lvl>
                  <c:pt idx="0">
                    <c:v>Delta</c:v>
                  </c:pt>
                  <c:pt idx="1">
                    <c:v>United</c:v>
                  </c:pt>
                  <c:pt idx="2">
                    <c:v>Alaska</c:v>
                  </c:pt>
                  <c:pt idx="3">
                    <c:v>American</c:v>
                  </c:pt>
                  <c:pt idx="4">
                    <c:v>Southwest</c:v>
                  </c:pt>
                </c:lvl>
              </c:multiLvlStrCache>
            </c:multiLvlStrRef>
          </c:cat>
          <c:val>
            <c:numRef>
              <c:f>Sheet1!$B$2:$B$6</c:f>
              <c:numCache>
                <c:formatCode>General</c:formatCode>
                <c:ptCount val="5"/>
                <c:pt idx="0">
                  <c:v>83.46</c:v>
                </c:pt>
                <c:pt idx="1">
                  <c:v>80.93</c:v>
                </c:pt>
                <c:pt idx="2">
                  <c:v>79.25</c:v>
                </c:pt>
                <c:pt idx="3">
                  <c:v>77.78</c:v>
                </c:pt>
                <c:pt idx="4">
                  <c:v>77.77</c:v>
                </c:pt>
              </c:numCache>
            </c:numRef>
          </c:val>
        </c:ser>
        <c:dLbls>
          <c:numFmt formatCode="0.00" sourceLinked="0"/>
          <c:txPr>
            <a:bodyPr/>
            <a:lstStyle/>
            <a:p>
              <a:pPr>
                <a:defRPr b="0" i="0" strike="noStrike" sz="1000" u="none">
                  <a:solidFill>
                    <a:srgbClr val="00274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00274A"/>
                </a:solidFill>
                <a:latin typeface="+mn-lt"/>
              </a:defRPr>
            </a:pPr>
            <a:endParaRPr lang="en-US"/>
          </a:p>
        </c:txPr>
        <c:crossAx val="2094734552"/>
        <c:crosses val="autoZero"/>
        <c:auto val="1"/>
        <c:lblAlgn val="ctr"/>
        <c:noMultiLvlLbl val="1"/>
      </c:catAx>
      <c:valAx>
        <c:axId val="2094734552"/>
        <c:scaling>
          <c:orientation val="minMax"/>
          <c:max val="90"/>
          <c:min val="7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judul. Sesi 7 mata kuliah Operations &amp; Technology Management: topik Planning and Control dengan subtopik MRP dan ERP serta Sequencing and Scheduling, diterapkan pada kasus Alaska Airlines (Case Study 5). Bacaan: Slack, Brandon-Jones &amp; Burgess (2022) Bab 10 dan 14; Heizer, Render &amp; Munson (2017) Bab 14 dan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Peta pembahasan: empat bagian berurutan. Bagian 1 memberi kerangka (empat aktivitas planning and control dan hierarki perencanaan). Bagian 2 membahas sistem MRP dan ERP. Bagian 3 membahas teknik sequencing dan scheduling. Bagian 4 menerapkan seluruh kerangka pada Alaska Airlines. Tekankan bahwa setiap bagian memakai konsep bagian sebelumnya.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Definisi Slack et al.: planning and control merekonsiliasi supply dan demand dalam volume, timing, dan quality. Planning adalah formalisasi atas apa yang dimaksudkan terjadi; control adalah proses mengatasi perubahan. Keseimbangan keduanya bergeser menurut horizon waktu: jangka panjang dominan planning, jangka pendek dominan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Empat aktivitas planning and control menurut Slack et al.: loading, sequencing, scheduling, serta monitoring and control. Keempatnya menjadi kerangka analisis kasus. Dependent demand menjadi jembatan menuju MRP: kebutuhan komponen dihitung dari jadwal item induk, bukan diramalkan.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Hierarki perencanaan menurut Heizer et al. (Gambar 15.1 dan 14.1): capacity planning, aggregate planning, master production schedule, MRP, dan short-term scheduling. Kolom kanan memberikan padanan setiap tingkat pada operasi maskapai. ERP mengintegrasikan basis data di seluruh tingkat.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 Bagian 2A: MRP.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Definisi MRP menurut Heizer et al. dan lima prasyarat model persediaan dependen: master production schedule, bill of material, catatan persediaan, purchase orders outstanding, dan lead time. Empat manfaat MRP juga disebutkan.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Struktur MRP (input, pemrosesan, output) dan ilustrasi net requirements plan untuk suku cadang perawatan: brake assembly, 4 unit per heavy check, lead time 2 minggu, persediaan awal 6, scheduled receipt 4 unit pada minggu 2, kebijakan lot-for-lot. Pesanan harus dirilis pada minggu 5 (2 unit) dan minggu 6 (8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Pengelolaan MRP: lot sizing (lot-for-lot, EOQ, POQ), system nervousness dengan time fences dan pegging, serta validasi kapasitas melalui load report (closed-loop MRP). Perluasan: MRP II, MRP di sektor jasa, DRP, dan akhirnya ERP sebagai jembatan ke Bagian 2B.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 Bagian 2B: ERP.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Definisi ERP menurut Heizer et al. dan Slack et al.; tiga kemampuan ERP; prinsip data dimasukkan satu kali. Enam modul ERP mengikuti pengelompokan SAP pada Gambar 14.11 Heizer et 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Keunggulan dan kelemahan ERP menurut Heizer et al.; pelajaran implementasi menurut Slack et al. Daftar ini menjadi dasar evaluasi kasus Alaska Airlines pada Bagian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ERP di sektor jasa menurut Heizer et al. dan anatomi sistem terintegrasi maskapai: passenger service system, crew management, maintenance and engineering, flight operations, keuangan dan SDM. Nilai: satu kebenaran data; risiko: single point of failure. Jembatan ke Bagian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 Bagian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Arti strategis short-term scheduling (internal dan eksternal) serta tiga isu pokok menurut Heizer et al.: forward versus backward scheduling, finite versus infinite loading, dan empat kriteria penjadwalan. Kutipan Heizer tentang Alaska Airlines menjadi jembatan ke kasus.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Loading: input-output control, Gantt chart (load chart dan schedule chart), dan assignment method. Gantt load chart diilustrasikan untuk tiga bay hangar selama satu minggu.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Empat aturan prioritas dan perbandingan kinerjanya pada data HRM Contoh 15.4 yang diadaptasi sebagai lima paket pekerjaan hangar. SPT unggul pada tiga kriteria; EDD meminimumkan keterlambatan; LPT terburuk. Tidak ada aturan yang unggul pada semua kriteria.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 ratio sebagai aturan dinamis, dan Johnson's rule untuk N pekerjaan pada dua pusat kerja berurutan. Contoh mengikuti HRM Contoh 15.5 dan 15.6, diadaptasi ke alur inspeksi lalu perbaikan. Urutan B–E–D–C–A memberi makespan 35 jam dibanding 45 jam pada urutan A–E.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Keterbatasan sistem penjadwalan berbasis aturan, finite capacity scheduling sebagai jawabannya, dan cyclical scheduling untuk jasa dengan kebutuhan harian yang bervariasi. Contoh petugas gate mengikuti data HRM Contoh 15.8 (kebutuhan 5-5-6-5-4-3-3) dengan hasil tujuh petugas.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 Bagian 4: studi kasus.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 Alaska Airlines: angka dari Alaska Air Group fact sheet, Aviacionline (armada akhir 2024), Heizer et al. (2017), dan Cirium 2024 On-Time Performance Review (dikutip Fox Business, Januari 2025). Merger dengan Hawaiian Airlines selesai 2024; single operating certificate FAA pada 29 Oktober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Lima sumber gangguan terhadap rencana: cuaca di SEA, geografi Alaska, skala dan saling ketergantungan, kegagalan sistem terintegrasi (dua outage pada 2025), serta grounding 737 MAX 9 pada Januari 2024. Setiap masalah dipetakan ke dimensi teori yang relevan.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Analisis 1: satu hari badai Desember di Seattle menurut Heizer et al. (2017, hlm. 600). Lima titik waktu menunjukkan siklus prakiraan (planning) dan tindakan (control). Lampu andon di Flight Operations Department sebagai pengendalian visual.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Analisis 2: pemetaan elemen MRP ke perencanaan perawatan dan suku cadang Alaska Airlines. Bukti: grounding MAX 9 (Januari 2024) sebagai lonjakan gross requirements inspeksi, dan kemitraan Tailsight (16 April 2026) sebagai perwujudan closed-loop MRP II dengan kapasitas berhingga.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Analisis 3: sistem operasi terintegrasi Alaska dibaca dengan keunggulan dan kelemahan ERP. Keunggulan terbukti pada penyesuaian jadwal cepat dan integrasi Hawaiian (SOC 29 Oktober 2025). Kelemahan terbukti pada dua outage 2025 yang menghentikan seluruh operasi walau bukan serangan siber.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Analisis 4: penerapan teknik sequencing and scheduling pada empat arena di Alaska Airlines: kru, hangar, jadwal penerbangan dan irregular operations, serta operasi darat. Pola umumnya mengikuti kerangka loading, sequencing, scheduling, monitoring dari Bagian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Sintesis: satu siklus kendali yang menghubungkan flight timetable (MPS), rencana perawatan dan kru, MRP suku cadang, ERP sebagai basis data bersama, short-term scheduling, dan monitoring and control, kembali ke penjadwalan ulang.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Lima rekomendasi, masing-masing dengan dasar teori, tindakan, dan indikator: ketahanan infrastruktur, perencanaan perawatan closed-loop berkapasitas berhingga, aturan prioritas hibrida, proses dulu sistem kemudian untuk integrasi Hawaiian, serta jadwal siklis dan kapasitas cadangan musim dingin.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Kesimpulan: tiga poin yang menjawab subtopik sesi. MRP dan ERP menjawab apa, berapa, kapan; sequencing and scheduling mengeksekusi; keunggulan kompetitif lahir dari control di atas planning yang baik, dengan catatan risiko integrasi.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Daftar referensi.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dan dua pertanyaan diskusi untuk kelas.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CDE6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rtlCol="0"/>
          <a:lstStyle>
            <a:lvl1pPr algn="l" indent="0" marL="0">
              <a:buNone/>
              <a:defRPr lang="en-US" sz="3000" b="1" dirty="0">
                <a:solidFill>
                  <a:srgbClr val="00274A"/>
                </a:solidFill>
              </a:defRPr>
            </a:lvl1pPr>
          </a:lstStyle>
          <a:p>
            <a:pPr algn="l" indent="0" marL="0">
              <a:buNone/>
            </a:pPr>
            <a:endParaRPr lang="en-US" sz="3000" dirty="0"/>
          </a:p>
        </p:txBody>
      </p:sp>
      <p:sp>
        <p:nvSpPr>
          <p:cNvPr id="3" name="Text 0"/>
          <p:cNvSpPr/>
          <p:nvPr/>
        </p:nvSpPr>
        <p:spPr>
          <a:xfrm>
            <a:off x="548640" y="6428232"/>
            <a:ext cx="8686800" cy="256032"/>
          </a:xfrm>
          <a:prstGeom prst="rect">
            <a:avLst/>
          </a:prstGeom>
          <a:noFill/>
          <a:ln/>
        </p:spPr>
        <p:txBody>
          <a:bodyPr wrap="square" lIns="0" tIns="0" rIns="0" bIns="0" rtlCol="0" anchor="ctr"/>
          <a:lstStyle/>
          <a:p>
            <a:pPr indent="0" marL="0">
              <a:buNone/>
            </a:pPr>
            <a:r>
              <a:rPr lang="en-US" sz="900" dirty="0">
                <a:solidFill>
                  <a:srgbClr val="01426A"/>
                </a:solidFill>
              </a:rPr>
              <a:t>Planning and Control  ·  MRP &amp; ERP  ·  Sequencing and Scheduling  ·  Studi Kasus Alaska Airlines</a:t>
            </a:r>
            <a:endParaRPr lang="en-US" sz="900" dirty="0"/>
          </a:p>
        </p:txBody>
      </p:sp>
      <p:sp>
        <p:nvSpPr>
          <p:cNvPr id="25" name="Slide Number Placeholder 0"/>
          <p:cNvSpPr>
            <a:spLocks noGrp="1"/>
          </p:cNvSpPr>
          <p:nvPr>
            <p:ph type="sldNum" sz="quarter" idx="4294967295"/>
          </p:nvPr>
        </p:nvSpPr>
        <p:spPr>
          <a:xfrm>
            <a:off x="11064240" y="6428232"/>
            <a:ext cx="576072"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01426A"/>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0274A"/>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28232"/>
            <a:ext cx="576072"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01426A"/>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2.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2.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2.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7" Type="http://schemas.openxmlformats.org/officeDocument/2006/relationships/chart" Target="/ppt/charts/chart2.xml"/><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8" Type="http://schemas.openxmlformats.org/officeDocument/2006/relationships/slideLayout" Target="../slideLayouts/slideLayout2.xml"/><Relationship Id="rId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2.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slideLayout" Target="../slideLayouts/slideLayout2.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2.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slideLayout" Target="../slideLayouts/slideLayout2.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slideLayout" Target="../slideLayouts/slideLayout2.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3.xml"/><Relationship Id="rId4"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cover image" descr="/tmp/claude-0/-home-user-Dom-Manipulation/385e5267-c23e-5c04-80f5-d5fb4946a902/scratchpad/build/img/cover_hero.png">    </p:cNvPr>
          <p:cNvPicPr>
            <a:picLocks noChangeAspect="1"/>
          </p:cNvPicPr>
          <p:nvPr/>
        </p:nvPicPr>
        <p:blipFill>
          <a:blip r:embed="rId1"/>
          <a:srcRect l="0" r="0" t="0" b="0"/>
          <a:stretch/>
        </p:blipFill>
        <p:spPr>
          <a:xfrm>
            <a:off x="5852160" y="0"/>
            <a:ext cx="6339535" cy="6858000"/>
          </a:xfrm>
          <a:prstGeom prst="rect">
            <a:avLst/>
          </a:prstGeom>
        </p:spPr>
      </p:pic>
      <p:sp>
        <p:nvSpPr>
          <p:cNvPr id="4" name="pill"/>
          <p:cNvSpPr/>
          <p:nvPr/>
        </p:nvSpPr>
        <p:spPr>
          <a:xfrm>
            <a:off x="640080" y="1051560"/>
            <a:ext cx="4480560" cy="384048"/>
          </a:xfrm>
          <a:prstGeom prst="roundRect">
            <a:avLst>
              <a:gd name="adj" fmla="val 50000"/>
            </a:avLst>
          </a:prstGeom>
          <a:solidFill>
            <a:srgbClr val="00CFF0"/>
          </a:solidFill>
          <a:ln w="3175">
            <a:solidFill>
              <a:srgbClr val="00CFF0"/>
            </a:solidFill>
            <a:prstDash val="solid"/>
          </a:ln>
        </p:spPr>
      </p:sp>
      <p:sp>
        <p:nvSpPr>
          <p:cNvPr id="5" name="pill label"/>
          <p:cNvSpPr txBox="1"/>
          <p:nvPr/>
        </p:nvSpPr>
        <p:spPr>
          <a:xfrm>
            <a:off x="640080" y="1051560"/>
            <a:ext cx="4480560" cy="384048"/>
          </a:xfrm>
          <a:prstGeom prst="rect">
            <a:avLst/>
          </a:prstGeom>
          <a:noFill/>
          <a:ln/>
        </p:spPr>
        <p:txBody>
          <a:bodyPr wrap="square" lIns="0" tIns="0" rIns="0" bIns="0" rtlCol="0" anchor="ctr"/>
          <a:lstStyle/>
          <a:p>
            <a:pPr algn="ctr" indent="0" marL="0">
              <a:buNone/>
            </a:pPr>
            <a:r>
              <a:rPr lang="en-US" sz="1100" b="1" dirty="0">
                <a:solidFill>
                  <a:srgbClr val="00274A"/>
                </a:solidFill>
              </a:rPr>
              <a:t>OPERATIONS &amp; TECHNOLOGY MANAGEMENT  ·  SESI 7</a:t>
            </a:r>
            <a:endParaRPr lang="en-US" sz="1100" dirty="0"/>
          </a:p>
        </p:txBody>
      </p:sp>
      <p:sp>
        <p:nvSpPr>
          <p:cNvPr id="6" name="text"/>
          <p:cNvSpPr txBox="1"/>
          <p:nvPr/>
        </p:nvSpPr>
        <p:spPr>
          <a:xfrm>
            <a:off x="640080" y="1645920"/>
            <a:ext cx="5029200" cy="1188720"/>
          </a:xfrm>
          <a:prstGeom prst="rect">
            <a:avLst/>
          </a:prstGeom>
          <a:noFill/>
          <a:ln/>
        </p:spPr>
        <p:txBody>
          <a:bodyPr wrap="square" lIns="0" tIns="0" rIns="0" bIns="0" rtlCol="0" anchor="t"/>
          <a:lstStyle/>
          <a:p>
            <a:pPr algn="l" indent="0" marL="0">
              <a:buNone/>
            </a:pPr>
            <a:r>
              <a:rPr lang="en-US" sz="4400" b="1" dirty="0">
                <a:solidFill>
                  <a:srgbClr val="FFFFFF"/>
                </a:solidFill>
              </a:rPr>
              <a:t>Planning and Control</a:t>
            </a:r>
            <a:endParaRPr lang="en-US" sz="4400" dirty="0"/>
          </a:p>
        </p:txBody>
      </p:sp>
      <p:sp>
        <p:nvSpPr>
          <p:cNvPr id="7" name="text"/>
          <p:cNvSpPr txBox="1"/>
          <p:nvPr/>
        </p:nvSpPr>
        <p:spPr>
          <a:xfrm>
            <a:off x="640080" y="2852928"/>
            <a:ext cx="5029200" cy="502920"/>
          </a:xfrm>
          <a:prstGeom prst="rect">
            <a:avLst/>
          </a:prstGeom>
          <a:noFill/>
          <a:ln/>
        </p:spPr>
        <p:txBody>
          <a:bodyPr wrap="square" lIns="0" tIns="0" rIns="0" bIns="0" rtlCol="0" anchor="t"/>
          <a:lstStyle/>
          <a:p>
            <a:pPr algn="l" indent="0" marL="0">
              <a:buNone/>
            </a:pPr>
            <a:r>
              <a:rPr lang="en-US" sz="2000" b="1" dirty="0">
                <a:solidFill>
                  <a:srgbClr val="00CFF0"/>
                </a:solidFill>
              </a:rPr>
              <a:t>MRP dan ERP  ·  Sequencing and Scheduling</a:t>
            </a:r>
            <a:endParaRPr lang="en-US" sz="2000" dirty="0"/>
          </a:p>
        </p:txBody>
      </p:sp>
      <p:sp>
        <p:nvSpPr>
          <p:cNvPr id="8" name="text"/>
          <p:cNvSpPr txBox="1"/>
          <p:nvPr/>
        </p:nvSpPr>
        <p:spPr>
          <a:xfrm>
            <a:off x="640080" y="3383280"/>
            <a:ext cx="5029200" cy="457200"/>
          </a:xfrm>
          <a:prstGeom prst="rect">
            <a:avLst/>
          </a:prstGeom>
          <a:noFill/>
          <a:ln/>
        </p:spPr>
        <p:txBody>
          <a:bodyPr wrap="square" lIns="0" tIns="0" rIns="0" bIns="0" rtlCol="0" anchor="t"/>
          <a:lstStyle/>
          <a:p>
            <a:pPr algn="l" indent="0" marL="0">
              <a:buNone/>
            </a:pPr>
            <a:r>
              <a:rPr lang="en-US" sz="1800" dirty="0">
                <a:solidFill>
                  <a:srgbClr val="FFFFFF"/>
                </a:solidFill>
              </a:rPr>
              <a:t>Studi Kasus: Alaska Airlines</a:t>
            </a:r>
            <a:endParaRPr lang="en-US" sz="1800" dirty="0"/>
          </a:p>
        </p:txBody>
      </p:sp>
      <p:sp>
        <p:nvSpPr>
          <p:cNvPr id="9" name="line"/>
          <p:cNvSpPr/>
          <p:nvPr/>
        </p:nvSpPr>
        <p:spPr>
          <a:xfrm>
            <a:off x="640080" y="4160520"/>
            <a:ext cx="1371600" cy="0"/>
          </a:xfrm>
          <a:prstGeom prst="line">
            <a:avLst/>
          </a:prstGeom>
          <a:noFill/>
          <a:ln w="25400">
            <a:solidFill>
              <a:srgbClr val="91BE62"/>
            </a:solidFill>
            <a:prstDash val="solid"/>
          </a:ln>
        </p:spPr>
      </p:sp>
      <p:sp>
        <p:nvSpPr>
          <p:cNvPr id="10" name="text"/>
          <p:cNvSpPr txBox="1"/>
          <p:nvPr/>
        </p:nvSpPr>
        <p:spPr>
          <a:xfrm>
            <a:off x="640080" y="4389120"/>
            <a:ext cx="5029200" cy="731520"/>
          </a:xfrm>
          <a:prstGeom prst="rect">
            <a:avLst/>
          </a:prstGeom>
          <a:noFill/>
          <a:ln/>
        </p:spPr>
        <p:txBody>
          <a:bodyPr wrap="square" lIns="0" tIns="0" rIns="0" bIns="0" rtlCol="0" anchor="t"/>
          <a:lstStyle/>
          <a:p>
            <a:pPr algn="l" indent="0" marL="0">
              <a:buNone/>
            </a:pPr>
            <a:r>
              <a:rPr lang="en-US" sz="1300" dirty="0">
                <a:solidFill>
                  <a:srgbClr val="C1DAF0"/>
                </a:solidFill>
              </a:rPr>
              <a:t>Dosen Pengampu</a:t>
            </a:r>
            <a:endParaRPr lang="en-US" sz="1300" dirty="0"/>
          </a:p>
          <a:p>
            <a:pPr algn="l" indent="0" marL="0">
              <a:buNone/>
            </a:pPr>
            <a:r>
              <a:rPr lang="en-US" sz="1300" dirty="0">
                <a:solidFill>
                  <a:srgbClr val="C1DAF0"/>
                </a:solidFill>
              </a:rPr>
              <a:t>Prof. Nur Aini Masruroh, S.T., M.Sc., Ph.D.</a:t>
            </a:r>
            <a:endParaRPr lang="en-US" sz="1300" dirty="0"/>
          </a:p>
        </p:txBody>
      </p:sp>
      <p:sp>
        <p:nvSpPr>
          <p:cNvPr id="11" name="text"/>
          <p:cNvSpPr txBox="1"/>
          <p:nvPr/>
        </p:nvSpPr>
        <p:spPr>
          <a:xfrm>
            <a:off x="640080" y="5257800"/>
            <a:ext cx="5029200" cy="640080"/>
          </a:xfrm>
          <a:prstGeom prst="rect">
            <a:avLst/>
          </a:prstGeom>
          <a:noFill/>
          <a:ln/>
        </p:spPr>
        <p:txBody>
          <a:bodyPr wrap="square" lIns="0" tIns="0" rIns="0" bIns="0" rtlCol="0" anchor="t"/>
          <a:lstStyle/>
          <a:p>
            <a:pPr algn="l" indent="0" marL="0">
              <a:buNone/>
            </a:pPr>
            <a:r>
              <a:rPr lang="en-US" sz="1100" dirty="0">
                <a:solidFill>
                  <a:srgbClr val="C1DAF0"/>
                </a:solidFill>
              </a:rPr>
              <a:t>Bacaan: Slack, Brandon-Jones &amp; Burgess (2022) Bab 10 &amp; 14  ·  Heizer, Render &amp; Munson (2017) Bab 14 &amp; 15</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000" b="1" dirty="0">
                <a:solidFill>
                  <a:srgbClr val="00274A"/>
                </a:solidFill>
              </a:rPr>
              <a:t>Peta Pembahasan: dari Konsep ke Kasus</a:t>
            </a:r>
            <a:endParaRPr lang="en-US" sz="3000" dirty="0"/>
          </a:p>
        </p:txBody>
      </p:sp>
      <p:sp>
        <p:nvSpPr>
          <p:cNvPr id="4" name="text"/>
          <p:cNvSpPr txBox="1"/>
          <p:nvPr/>
        </p:nvSpPr>
        <p:spPr>
          <a:xfrm>
            <a:off x="548640" y="1298448"/>
            <a:ext cx="8503920" cy="1143000"/>
          </a:xfrm>
          <a:prstGeom prst="rect">
            <a:avLst/>
          </a:prstGeom>
          <a:noFill/>
          <a:ln/>
        </p:spPr>
        <p:txBody>
          <a:bodyPr wrap="square" lIns="0" tIns="0" rIns="0" bIns="0" rtlCol="0" anchor="t"/>
          <a:lstStyle/>
          <a:p>
            <a:pPr algn="l" indent="0" marL="0">
              <a:buNone/>
            </a:pPr>
            <a:r>
              <a:rPr lang="en-US" sz="1400" dirty="0">
                <a:solidFill>
                  <a:srgbClr val="00274A"/>
                </a:solidFill>
              </a:rPr>
              <a:t>Empat bagian disusun berurutan sehingga setiap bagian menjadi prasyarat bagi bagian berikutnya. Kerangka </a:t>
            </a:r>
            <a:r>
              <a:rPr lang="en-US" sz="1400" i="1" dirty="0">
                <a:solidFill>
                  <a:srgbClr val="00274A"/>
                </a:solidFill>
              </a:rPr>
              <a:t>planning and control</a:t>
            </a:r>
            <a:r>
              <a:rPr lang="en-US" sz="1400" dirty="0">
                <a:solidFill>
                  <a:srgbClr val="00274A"/>
                </a:solidFill>
              </a:rPr>
              <a:t> (Bagian 1) menjadi lensa untuk membaca sistem MRP dan ERP (Bagian 2) dan teknik </a:t>
            </a:r>
            <a:r>
              <a:rPr lang="en-US" sz="1400" i="1" dirty="0">
                <a:solidFill>
                  <a:srgbClr val="00274A"/>
                </a:solidFill>
              </a:rPr>
              <a:t>sequencing and scheduling</a:t>
            </a:r>
            <a:r>
              <a:rPr lang="en-US" sz="1400" dirty="0">
                <a:solidFill>
                  <a:srgbClr val="00274A"/>
                </a:solidFill>
              </a:rPr>
              <a:t> (Bagian 3); ketiganya kemudian dipakai utuh untuk menganalisis Alaska Airlines (Bagian 4).</a:t>
            </a:r>
            <a:endParaRPr lang="en-US" sz="1400" dirty="0"/>
          </a:p>
        </p:txBody>
      </p:sp>
      <p:sp>
        <p:nvSpPr>
          <p:cNvPr id="5" name="card"/>
          <p:cNvSpPr/>
          <p:nvPr/>
        </p:nvSpPr>
        <p:spPr>
          <a:xfrm>
            <a:off x="9646920" y="960120"/>
            <a:ext cx="1993392" cy="1783080"/>
          </a:xfrm>
          <a:prstGeom prst="roundRect">
            <a:avLst>
              <a:gd name="adj" fmla="val 7179"/>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pic>
        <p:nvPicPr>
          <p:cNvPr id="6" name="ilustrasi pilot" descr="/tmp/claude-0/-home-user-Dom-Manipulation/385e5267-c23e-5c04-80f5-d5fb4946a902/scratchpad/build/img/sticker_pilot.png">    </p:cNvPr>
          <p:cNvPicPr>
            <a:picLocks noChangeAspect="1"/>
          </p:cNvPicPr>
          <p:nvPr/>
        </p:nvPicPr>
        <p:blipFill>
          <a:blip r:embed="rId1"/>
          <a:srcRect l="0" r="0" t="0" b="0"/>
          <a:stretch/>
        </p:blipFill>
        <p:spPr>
          <a:xfrm>
            <a:off x="9829800" y="1051560"/>
            <a:ext cx="1627632" cy="1600200"/>
          </a:xfrm>
          <a:prstGeom prst="rect">
            <a:avLst/>
          </a:prstGeom>
        </p:spPr>
      </p:pic>
      <p:sp>
        <p:nvSpPr>
          <p:cNvPr id="7" name="card"/>
          <p:cNvSpPr/>
          <p:nvPr/>
        </p:nvSpPr>
        <p:spPr>
          <a:xfrm>
            <a:off x="548640" y="2743200"/>
            <a:ext cx="2602154" cy="2514600"/>
          </a:xfrm>
          <a:prstGeom prst="roundRect">
            <a:avLst>
              <a:gd name="adj" fmla="val 5091"/>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8" name="pill"/>
          <p:cNvSpPr/>
          <p:nvPr/>
        </p:nvSpPr>
        <p:spPr>
          <a:xfrm>
            <a:off x="777240" y="2971800"/>
            <a:ext cx="1005840" cy="292608"/>
          </a:xfrm>
          <a:prstGeom prst="roundRect">
            <a:avLst>
              <a:gd name="adj" fmla="val 50000"/>
            </a:avLst>
          </a:prstGeom>
          <a:solidFill>
            <a:srgbClr val="00CFF0"/>
          </a:solidFill>
          <a:ln w="3175">
            <a:solidFill>
              <a:srgbClr val="00CFF0"/>
            </a:solidFill>
            <a:prstDash val="solid"/>
          </a:ln>
        </p:spPr>
      </p:sp>
      <p:sp>
        <p:nvSpPr>
          <p:cNvPr id="9" name="pill label"/>
          <p:cNvSpPr txBox="1"/>
          <p:nvPr/>
        </p:nvSpPr>
        <p:spPr>
          <a:xfrm>
            <a:off x="777240" y="2971800"/>
            <a:ext cx="1005840" cy="292608"/>
          </a:xfrm>
          <a:prstGeom prst="rect">
            <a:avLst/>
          </a:prstGeom>
          <a:noFill/>
          <a:ln/>
        </p:spPr>
        <p:txBody>
          <a:bodyPr wrap="square" lIns="0" tIns="0" rIns="0" bIns="0" rtlCol="0" anchor="ctr"/>
          <a:lstStyle/>
          <a:p>
            <a:pPr algn="ctr" indent="0" marL="0">
              <a:buNone/>
            </a:pPr>
            <a:r>
              <a:rPr lang="en-US" sz="1000" b="1" dirty="0">
                <a:solidFill>
                  <a:srgbClr val="00274A"/>
                </a:solidFill>
              </a:rPr>
              <a:t>Bagian 1</a:t>
            </a:r>
            <a:endParaRPr lang="en-US" sz="1000" dirty="0"/>
          </a:p>
        </p:txBody>
      </p:sp>
      <p:sp>
        <p:nvSpPr>
          <p:cNvPr id="10" name="icon circle"/>
          <p:cNvSpPr/>
          <p:nvPr/>
        </p:nvSpPr>
        <p:spPr>
          <a:xfrm>
            <a:off x="2282114" y="2926080"/>
            <a:ext cx="640080" cy="640080"/>
          </a:xfrm>
          <a:prstGeom prst="ellipse">
            <a:avLst/>
          </a:prstGeom>
          <a:solidFill>
            <a:srgbClr val="F0F7FD"/>
          </a:solidFill>
          <a:ln w="3175">
            <a:solidFill>
              <a:srgbClr val="F0F7FD"/>
            </a:solidFill>
            <a:prstDash val="solid"/>
          </a:ln>
        </p:spPr>
      </p:sp>
      <p:pic>
        <p:nvPicPr>
          <p:cNvPr id="11" name="icon FaCompass" descr="preencoded.png">    </p:cNvPr>
          <p:cNvPicPr>
            <a:picLocks noChangeAspect="1"/>
          </p:cNvPicPr>
          <p:nvPr/>
        </p:nvPicPr>
        <p:blipFill>
          <a:blip r:embed="rId2"/>
          <a:stretch>
            <a:fillRect/>
          </a:stretch>
        </p:blipFill>
        <p:spPr>
          <a:xfrm>
            <a:off x="2442134" y="3086100"/>
            <a:ext cx="320040" cy="320040"/>
          </a:xfrm>
          <a:prstGeom prst="rect">
            <a:avLst/>
          </a:prstGeom>
        </p:spPr>
      </p:pic>
      <p:sp>
        <p:nvSpPr>
          <p:cNvPr id="12" name="text"/>
          <p:cNvSpPr txBox="1"/>
          <p:nvPr/>
        </p:nvSpPr>
        <p:spPr>
          <a:xfrm>
            <a:off x="777240" y="3456432"/>
            <a:ext cx="2144954" cy="640080"/>
          </a:xfrm>
          <a:prstGeom prst="rect">
            <a:avLst/>
          </a:prstGeom>
          <a:noFill/>
          <a:ln/>
        </p:spPr>
        <p:txBody>
          <a:bodyPr wrap="square" lIns="0" tIns="0" rIns="0" bIns="0" rtlCol="0" anchor="t"/>
          <a:lstStyle/>
          <a:p>
            <a:pPr algn="l" indent="0" marL="0">
              <a:buNone/>
            </a:pPr>
            <a:r>
              <a:rPr lang="en-US" sz="1500" b="1" dirty="0">
                <a:solidFill>
                  <a:srgbClr val="00274A"/>
                </a:solidFill>
              </a:rPr>
              <a:t>Landasan: Planning and Control</a:t>
            </a:r>
            <a:endParaRPr lang="en-US" sz="1500" dirty="0"/>
          </a:p>
        </p:txBody>
      </p:sp>
      <p:sp>
        <p:nvSpPr>
          <p:cNvPr id="13" name="text"/>
          <p:cNvSpPr txBox="1"/>
          <p:nvPr/>
        </p:nvSpPr>
        <p:spPr>
          <a:xfrm>
            <a:off x="777240" y="4096512"/>
            <a:ext cx="2144954" cy="777240"/>
          </a:xfrm>
          <a:prstGeom prst="rect">
            <a:avLst/>
          </a:prstGeom>
          <a:noFill/>
          <a:ln/>
        </p:spPr>
        <p:txBody>
          <a:bodyPr wrap="square" lIns="0" tIns="0" rIns="0" bIns="0" rtlCol="0" anchor="t"/>
          <a:lstStyle/>
          <a:p>
            <a:pPr algn="l" indent="0" marL="0">
              <a:buNone/>
            </a:pPr>
            <a:r>
              <a:rPr lang="en-US" sz="1200" dirty="0">
                <a:solidFill>
                  <a:srgbClr val="00274A"/>
                </a:solidFill>
              </a:rPr>
              <a:t>Hakikat perencanaan dan pengendalian, empat aktivitas inti, dan hierarki perencanaan.</a:t>
            </a:r>
            <a:endParaRPr lang="en-US" sz="1200" dirty="0"/>
          </a:p>
        </p:txBody>
      </p:sp>
      <p:sp>
        <p:nvSpPr>
          <p:cNvPr id="14" name="text"/>
          <p:cNvSpPr txBox="1"/>
          <p:nvPr/>
        </p:nvSpPr>
        <p:spPr>
          <a:xfrm>
            <a:off x="777240" y="4873752"/>
            <a:ext cx="2144954" cy="274320"/>
          </a:xfrm>
          <a:prstGeom prst="rect">
            <a:avLst/>
          </a:prstGeom>
          <a:noFill/>
          <a:ln/>
        </p:spPr>
        <p:txBody>
          <a:bodyPr wrap="square" lIns="0" tIns="0" rIns="0" bIns="0" rtlCol="0" anchor="t"/>
          <a:lstStyle/>
          <a:p>
            <a:pPr algn="l" indent="0" marL="0">
              <a:buNone/>
            </a:pPr>
            <a:r>
              <a:rPr lang="en-US" sz="1000" b="1" dirty="0">
                <a:solidFill>
                  <a:srgbClr val="01426A"/>
                </a:solidFill>
              </a:rPr>
              <a:t>SBB Bab 10  ·  HRM Bab 15 (Gambar 15.1)</a:t>
            </a:r>
            <a:endParaRPr lang="en-US" sz="1000" dirty="0"/>
          </a:p>
        </p:txBody>
      </p:sp>
      <p:sp>
        <p:nvSpPr>
          <p:cNvPr id="15" name="arrow"/>
          <p:cNvSpPr/>
          <p:nvPr/>
        </p:nvSpPr>
        <p:spPr>
          <a:xfrm>
            <a:off x="3187370" y="3840480"/>
            <a:ext cx="155448" cy="292608"/>
          </a:xfrm>
          <a:prstGeom prst="rightArrow">
            <a:avLst/>
          </a:prstGeom>
          <a:solidFill>
            <a:srgbClr val="0074C8"/>
          </a:solidFill>
          <a:ln w="3175">
            <a:solidFill>
              <a:srgbClr val="0074C8"/>
            </a:solidFill>
            <a:prstDash val="solid"/>
          </a:ln>
        </p:spPr>
      </p:sp>
      <p:sp>
        <p:nvSpPr>
          <p:cNvPr id="16" name="card"/>
          <p:cNvSpPr/>
          <p:nvPr/>
        </p:nvSpPr>
        <p:spPr>
          <a:xfrm>
            <a:off x="3379394" y="2743200"/>
            <a:ext cx="2602154" cy="2514600"/>
          </a:xfrm>
          <a:prstGeom prst="roundRect">
            <a:avLst>
              <a:gd name="adj" fmla="val 5091"/>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17" name="pill"/>
          <p:cNvSpPr/>
          <p:nvPr/>
        </p:nvSpPr>
        <p:spPr>
          <a:xfrm>
            <a:off x="3607994" y="2971800"/>
            <a:ext cx="1005840" cy="292608"/>
          </a:xfrm>
          <a:prstGeom prst="roundRect">
            <a:avLst>
              <a:gd name="adj" fmla="val 50000"/>
            </a:avLst>
          </a:prstGeom>
          <a:solidFill>
            <a:srgbClr val="00CFF0"/>
          </a:solidFill>
          <a:ln w="3175">
            <a:solidFill>
              <a:srgbClr val="00CFF0"/>
            </a:solidFill>
            <a:prstDash val="solid"/>
          </a:ln>
        </p:spPr>
      </p:sp>
      <p:sp>
        <p:nvSpPr>
          <p:cNvPr id="18" name="pill label"/>
          <p:cNvSpPr txBox="1"/>
          <p:nvPr/>
        </p:nvSpPr>
        <p:spPr>
          <a:xfrm>
            <a:off x="3607994" y="2971800"/>
            <a:ext cx="1005840" cy="292608"/>
          </a:xfrm>
          <a:prstGeom prst="rect">
            <a:avLst/>
          </a:prstGeom>
          <a:noFill/>
          <a:ln/>
        </p:spPr>
        <p:txBody>
          <a:bodyPr wrap="square" lIns="0" tIns="0" rIns="0" bIns="0" rtlCol="0" anchor="ctr"/>
          <a:lstStyle/>
          <a:p>
            <a:pPr algn="ctr" indent="0" marL="0">
              <a:buNone/>
            </a:pPr>
            <a:r>
              <a:rPr lang="en-US" sz="1000" b="1" dirty="0">
                <a:solidFill>
                  <a:srgbClr val="00274A"/>
                </a:solidFill>
              </a:rPr>
              <a:t>Bagian 2</a:t>
            </a:r>
            <a:endParaRPr lang="en-US" sz="1000" dirty="0"/>
          </a:p>
        </p:txBody>
      </p:sp>
      <p:sp>
        <p:nvSpPr>
          <p:cNvPr id="19" name="icon circle"/>
          <p:cNvSpPr/>
          <p:nvPr/>
        </p:nvSpPr>
        <p:spPr>
          <a:xfrm>
            <a:off x="5112868" y="2926080"/>
            <a:ext cx="640080" cy="640080"/>
          </a:xfrm>
          <a:prstGeom prst="ellipse">
            <a:avLst/>
          </a:prstGeom>
          <a:solidFill>
            <a:srgbClr val="F0F7FD"/>
          </a:solidFill>
          <a:ln w="3175">
            <a:solidFill>
              <a:srgbClr val="F0F7FD"/>
            </a:solidFill>
            <a:prstDash val="solid"/>
          </a:ln>
        </p:spPr>
      </p:sp>
      <p:pic>
        <p:nvPicPr>
          <p:cNvPr id="20" name="icon FaDatabase" descr="preencoded.png">    </p:cNvPr>
          <p:cNvPicPr>
            <a:picLocks noChangeAspect="1"/>
          </p:cNvPicPr>
          <p:nvPr/>
        </p:nvPicPr>
        <p:blipFill>
          <a:blip r:embed="rId3"/>
          <a:stretch>
            <a:fillRect/>
          </a:stretch>
        </p:blipFill>
        <p:spPr>
          <a:xfrm>
            <a:off x="5272888" y="3086100"/>
            <a:ext cx="320040" cy="320040"/>
          </a:xfrm>
          <a:prstGeom prst="rect">
            <a:avLst/>
          </a:prstGeom>
        </p:spPr>
      </p:pic>
      <p:sp>
        <p:nvSpPr>
          <p:cNvPr id="21" name="text"/>
          <p:cNvSpPr txBox="1"/>
          <p:nvPr/>
        </p:nvSpPr>
        <p:spPr>
          <a:xfrm>
            <a:off x="3607994" y="3456432"/>
            <a:ext cx="2144954" cy="640080"/>
          </a:xfrm>
          <a:prstGeom prst="rect">
            <a:avLst/>
          </a:prstGeom>
          <a:noFill/>
          <a:ln/>
        </p:spPr>
        <p:txBody>
          <a:bodyPr wrap="square" lIns="0" tIns="0" rIns="0" bIns="0" rtlCol="0" anchor="t"/>
          <a:lstStyle/>
          <a:p>
            <a:pPr algn="l" indent="0" marL="0">
              <a:buNone/>
            </a:pPr>
            <a:r>
              <a:rPr lang="en-US" sz="1500" b="1" dirty="0">
                <a:solidFill>
                  <a:srgbClr val="00274A"/>
                </a:solidFill>
              </a:rPr>
              <a:t>Sistem: MRP dan ERP</a:t>
            </a:r>
            <a:endParaRPr lang="en-US" sz="1500" dirty="0"/>
          </a:p>
        </p:txBody>
      </p:sp>
      <p:sp>
        <p:nvSpPr>
          <p:cNvPr id="22" name="text"/>
          <p:cNvSpPr txBox="1"/>
          <p:nvPr/>
        </p:nvSpPr>
        <p:spPr>
          <a:xfrm>
            <a:off x="3607994" y="4096512"/>
            <a:ext cx="2144954" cy="777240"/>
          </a:xfrm>
          <a:prstGeom prst="rect">
            <a:avLst/>
          </a:prstGeom>
          <a:noFill/>
          <a:ln/>
        </p:spPr>
        <p:txBody>
          <a:bodyPr wrap="square" lIns="0" tIns="0" rIns="0" bIns="0" rtlCol="0" anchor="t"/>
          <a:lstStyle/>
          <a:p>
            <a:pPr algn="l" indent="0" marL="0">
              <a:buNone/>
            </a:pPr>
            <a:r>
              <a:rPr lang="en-US" sz="1200" dirty="0">
                <a:solidFill>
                  <a:srgbClr val="00274A"/>
                </a:solidFill>
              </a:rPr>
              <a:t>Dari </a:t>
            </a:r>
            <a:r>
              <a:rPr lang="en-US" sz="1200" i="1" dirty="0">
                <a:solidFill>
                  <a:srgbClr val="00274A"/>
                </a:solidFill>
              </a:rPr>
              <a:t>dependent demand</a:t>
            </a:r>
            <a:r>
              <a:rPr lang="en-US" sz="1200" dirty="0">
                <a:solidFill>
                  <a:srgbClr val="00274A"/>
                </a:solidFill>
              </a:rPr>
              <a:t> ke rencana kebutuhan material, lalu integrasi seluruh perusahaan.</a:t>
            </a:r>
            <a:endParaRPr lang="en-US" sz="1200" dirty="0"/>
          </a:p>
        </p:txBody>
      </p:sp>
      <p:sp>
        <p:nvSpPr>
          <p:cNvPr id="23" name="text"/>
          <p:cNvSpPr txBox="1"/>
          <p:nvPr/>
        </p:nvSpPr>
        <p:spPr>
          <a:xfrm>
            <a:off x="3607994" y="4873752"/>
            <a:ext cx="2144954" cy="274320"/>
          </a:xfrm>
          <a:prstGeom prst="rect">
            <a:avLst/>
          </a:prstGeom>
          <a:noFill/>
          <a:ln/>
        </p:spPr>
        <p:txBody>
          <a:bodyPr wrap="square" lIns="0" tIns="0" rIns="0" bIns="0" rtlCol="0" anchor="t"/>
          <a:lstStyle/>
          <a:p>
            <a:pPr algn="l" indent="0" marL="0">
              <a:buNone/>
            </a:pPr>
            <a:r>
              <a:rPr lang="en-US" sz="1000" b="1" dirty="0">
                <a:solidFill>
                  <a:srgbClr val="01426A"/>
                </a:solidFill>
              </a:rPr>
              <a:t>HRM Bab 14  ·  SBB Bab 14</a:t>
            </a:r>
            <a:endParaRPr lang="en-US" sz="1000" dirty="0"/>
          </a:p>
        </p:txBody>
      </p:sp>
      <p:sp>
        <p:nvSpPr>
          <p:cNvPr id="24" name="arrow"/>
          <p:cNvSpPr/>
          <p:nvPr/>
        </p:nvSpPr>
        <p:spPr>
          <a:xfrm>
            <a:off x="6018124" y="3840480"/>
            <a:ext cx="155448" cy="292608"/>
          </a:xfrm>
          <a:prstGeom prst="rightArrow">
            <a:avLst/>
          </a:prstGeom>
          <a:solidFill>
            <a:srgbClr val="0074C8"/>
          </a:solidFill>
          <a:ln w="3175">
            <a:solidFill>
              <a:srgbClr val="0074C8"/>
            </a:solidFill>
            <a:prstDash val="solid"/>
          </a:ln>
        </p:spPr>
      </p:sp>
      <p:sp>
        <p:nvSpPr>
          <p:cNvPr id="25" name="card"/>
          <p:cNvSpPr/>
          <p:nvPr/>
        </p:nvSpPr>
        <p:spPr>
          <a:xfrm>
            <a:off x="6210148" y="2743200"/>
            <a:ext cx="2602154" cy="2514600"/>
          </a:xfrm>
          <a:prstGeom prst="roundRect">
            <a:avLst>
              <a:gd name="adj" fmla="val 5091"/>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26" name="pill"/>
          <p:cNvSpPr/>
          <p:nvPr/>
        </p:nvSpPr>
        <p:spPr>
          <a:xfrm>
            <a:off x="6438748" y="2971800"/>
            <a:ext cx="1005840" cy="292608"/>
          </a:xfrm>
          <a:prstGeom prst="roundRect">
            <a:avLst>
              <a:gd name="adj" fmla="val 50000"/>
            </a:avLst>
          </a:prstGeom>
          <a:solidFill>
            <a:srgbClr val="00CFF0"/>
          </a:solidFill>
          <a:ln w="3175">
            <a:solidFill>
              <a:srgbClr val="00CFF0"/>
            </a:solidFill>
            <a:prstDash val="solid"/>
          </a:ln>
        </p:spPr>
      </p:sp>
      <p:sp>
        <p:nvSpPr>
          <p:cNvPr id="27" name="pill label"/>
          <p:cNvSpPr txBox="1"/>
          <p:nvPr/>
        </p:nvSpPr>
        <p:spPr>
          <a:xfrm>
            <a:off x="6438748" y="2971800"/>
            <a:ext cx="1005840" cy="292608"/>
          </a:xfrm>
          <a:prstGeom prst="rect">
            <a:avLst/>
          </a:prstGeom>
          <a:noFill/>
          <a:ln/>
        </p:spPr>
        <p:txBody>
          <a:bodyPr wrap="square" lIns="0" tIns="0" rIns="0" bIns="0" rtlCol="0" anchor="ctr"/>
          <a:lstStyle/>
          <a:p>
            <a:pPr algn="ctr" indent="0" marL="0">
              <a:buNone/>
            </a:pPr>
            <a:r>
              <a:rPr lang="en-US" sz="1000" b="1" dirty="0">
                <a:solidFill>
                  <a:srgbClr val="00274A"/>
                </a:solidFill>
              </a:rPr>
              <a:t>Bagian 3</a:t>
            </a:r>
            <a:endParaRPr lang="en-US" sz="1000" dirty="0"/>
          </a:p>
        </p:txBody>
      </p:sp>
      <p:sp>
        <p:nvSpPr>
          <p:cNvPr id="28" name="icon circle"/>
          <p:cNvSpPr/>
          <p:nvPr/>
        </p:nvSpPr>
        <p:spPr>
          <a:xfrm>
            <a:off x="7943621" y="2926080"/>
            <a:ext cx="640080" cy="640080"/>
          </a:xfrm>
          <a:prstGeom prst="ellipse">
            <a:avLst/>
          </a:prstGeom>
          <a:solidFill>
            <a:srgbClr val="F0F7FD"/>
          </a:solidFill>
          <a:ln w="3175">
            <a:solidFill>
              <a:srgbClr val="F0F7FD"/>
            </a:solidFill>
            <a:prstDash val="solid"/>
          </a:ln>
        </p:spPr>
      </p:sp>
      <p:pic>
        <p:nvPicPr>
          <p:cNvPr id="29" name="icon FaStopwatch" descr="preencoded.png">    </p:cNvPr>
          <p:cNvPicPr>
            <a:picLocks noChangeAspect="1"/>
          </p:cNvPicPr>
          <p:nvPr/>
        </p:nvPicPr>
        <p:blipFill>
          <a:blip r:embed="rId4"/>
          <a:stretch>
            <a:fillRect/>
          </a:stretch>
        </p:blipFill>
        <p:spPr>
          <a:xfrm>
            <a:off x="8103641" y="3086100"/>
            <a:ext cx="320040" cy="320040"/>
          </a:xfrm>
          <a:prstGeom prst="rect">
            <a:avLst/>
          </a:prstGeom>
        </p:spPr>
      </p:pic>
      <p:sp>
        <p:nvSpPr>
          <p:cNvPr id="30" name="text"/>
          <p:cNvSpPr txBox="1"/>
          <p:nvPr/>
        </p:nvSpPr>
        <p:spPr>
          <a:xfrm>
            <a:off x="6438748" y="3456432"/>
            <a:ext cx="2144954" cy="640080"/>
          </a:xfrm>
          <a:prstGeom prst="rect">
            <a:avLst/>
          </a:prstGeom>
          <a:noFill/>
          <a:ln/>
        </p:spPr>
        <p:txBody>
          <a:bodyPr wrap="square" lIns="0" tIns="0" rIns="0" bIns="0" rtlCol="0" anchor="t"/>
          <a:lstStyle/>
          <a:p>
            <a:pPr algn="l" indent="0" marL="0">
              <a:buNone/>
            </a:pPr>
            <a:r>
              <a:rPr lang="en-US" sz="1500" b="1" dirty="0">
                <a:solidFill>
                  <a:srgbClr val="00274A"/>
                </a:solidFill>
              </a:rPr>
              <a:t>Eksekusi: Sequencing and Scheduling</a:t>
            </a:r>
            <a:endParaRPr lang="en-US" sz="1500" dirty="0"/>
          </a:p>
        </p:txBody>
      </p:sp>
      <p:sp>
        <p:nvSpPr>
          <p:cNvPr id="31" name="text"/>
          <p:cNvSpPr txBox="1"/>
          <p:nvPr/>
        </p:nvSpPr>
        <p:spPr>
          <a:xfrm>
            <a:off x="6438748" y="4096512"/>
            <a:ext cx="2144954" cy="777240"/>
          </a:xfrm>
          <a:prstGeom prst="rect">
            <a:avLst/>
          </a:prstGeom>
          <a:noFill/>
          <a:ln/>
        </p:spPr>
        <p:txBody>
          <a:bodyPr wrap="square" lIns="0" tIns="0" rIns="0" bIns="0" rtlCol="0" anchor="t"/>
          <a:lstStyle/>
          <a:p>
            <a:pPr algn="l" indent="0" marL="0">
              <a:buNone/>
            </a:pPr>
            <a:r>
              <a:rPr lang="en-US" sz="1200" i="1" dirty="0">
                <a:solidFill>
                  <a:srgbClr val="00274A"/>
                </a:solidFill>
              </a:rPr>
              <a:t>Loading</a:t>
            </a:r>
            <a:r>
              <a:rPr lang="en-US" sz="1200" dirty="0">
                <a:solidFill>
                  <a:srgbClr val="00274A"/>
                </a:solidFill>
              </a:rPr>
              <a:t>, aturan prioritas, </a:t>
            </a:r>
            <a:r>
              <a:rPr lang="en-US" sz="1200" i="1" dirty="0">
                <a:solidFill>
                  <a:srgbClr val="00274A"/>
                </a:solidFill>
              </a:rPr>
              <a:t>Johnson's rule</a:t>
            </a:r>
            <a:r>
              <a:rPr lang="en-US" sz="1200" dirty="0">
                <a:solidFill>
                  <a:srgbClr val="00274A"/>
                </a:solidFill>
              </a:rPr>
              <a:t>, </a:t>
            </a:r>
            <a:r>
              <a:rPr lang="en-US" sz="1200" i="1" dirty="0">
                <a:solidFill>
                  <a:srgbClr val="00274A"/>
                </a:solidFill>
              </a:rPr>
              <a:t>finite capacity</a:t>
            </a:r>
            <a:r>
              <a:rPr lang="en-US" sz="1200" dirty="0">
                <a:solidFill>
                  <a:srgbClr val="00274A"/>
                </a:solidFill>
              </a:rPr>
              <a:t>, dan </a:t>
            </a:r>
            <a:r>
              <a:rPr lang="en-US" sz="1200" i="1" dirty="0">
                <a:solidFill>
                  <a:srgbClr val="00274A"/>
                </a:solidFill>
              </a:rPr>
              <a:t>cyclical scheduling</a:t>
            </a:r>
            <a:r>
              <a:rPr lang="en-US" sz="1200" dirty="0">
                <a:solidFill>
                  <a:srgbClr val="00274A"/>
                </a:solidFill>
              </a:rPr>
              <a:t>.</a:t>
            </a:r>
            <a:endParaRPr lang="en-US" sz="1200" dirty="0"/>
          </a:p>
        </p:txBody>
      </p:sp>
      <p:sp>
        <p:nvSpPr>
          <p:cNvPr id="32" name="text"/>
          <p:cNvSpPr txBox="1"/>
          <p:nvPr/>
        </p:nvSpPr>
        <p:spPr>
          <a:xfrm>
            <a:off x="6438748" y="4873752"/>
            <a:ext cx="2144954" cy="274320"/>
          </a:xfrm>
          <a:prstGeom prst="rect">
            <a:avLst/>
          </a:prstGeom>
          <a:noFill/>
          <a:ln/>
        </p:spPr>
        <p:txBody>
          <a:bodyPr wrap="square" lIns="0" tIns="0" rIns="0" bIns="0" rtlCol="0" anchor="t"/>
          <a:lstStyle/>
          <a:p>
            <a:pPr algn="l" indent="0" marL="0">
              <a:buNone/>
            </a:pPr>
            <a:r>
              <a:rPr lang="en-US" sz="1000" b="1" dirty="0">
                <a:solidFill>
                  <a:srgbClr val="01426A"/>
                </a:solidFill>
              </a:rPr>
              <a:t>HRM Bab 15  ·  SBB Bab 10</a:t>
            </a:r>
            <a:endParaRPr lang="en-US" sz="1000" dirty="0"/>
          </a:p>
        </p:txBody>
      </p:sp>
      <p:sp>
        <p:nvSpPr>
          <p:cNvPr id="33" name="arrow"/>
          <p:cNvSpPr/>
          <p:nvPr/>
        </p:nvSpPr>
        <p:spPr>
          <a:xfrm>
            <a:off x="8848877" y="3840480"/>
            <a:ext cx="155448" cy="292608"/>
          </a:xfrm>
          <a:prstGeom prst="rightArrow">
            <a:avLst/>
          </a:prstGeom>
          <a:solidFill>
            <a:srgbClr val="0074C8"/>
          </a:solidFill>
          <a:ln w="3175">
            <a:solidFill>
              <a:srgbClr val="0074C8"/>
            </a:solidFill>
            <a:prstDash val="solid"/>
          </a:ln>
        </p:spPr>
      </p:sp>
      <p:sp>
        <p:nvSpPr>
          <p:cNvPr id="34" name="card"/>
          <p:cNvSpPr/>
          <p:nvPr/>
        </p:nvSpPr>
        <p:spPr>
          <a:xfrm>
            <a:off x="9040901" y="2743200"/>
            <a:ext cx="2602154" cy="2514600"/>
          </a:xfrm>
          <a:prstGeom prst="roundRect">
            <a:avLst>
              <a:gd name="adj" fmla="val 5091"/>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35" name="pill"/>
          <p:cNvSpPr/>
          <p:nvPr/>
        </p:nvSpPr>
        <p:spPr>
          <a:xfrm>
            <a:off x="9269501" y="2971800"/>
            <a:ext cx="1005840" cy="292608"/>
          </a:xfrm>
          <a:prstGeom prst="roundRect">
            <a:avLst>
              <a:gd name="adj" fmla="val 50000"/>
            </a:avLst>
          </a:prstGeom>
          <a:solidFill>
            <a:srgbClr val="91BE62"/>
          </a:solidFill>
          <a:ln w="3175">
            <a:solidFill>
              <a:srgbClr val="91BE62"/>
            </a:solidFill>
            <a:prstDash val="solid"/>
          </a:ln>
        </p:spPr>
      </p:sp>
      <p:sp>
        <p:nvSpPr>
          <p:cNvPr id="36" name="pill label"/>
          <p:cNvSpPr txBox="1"/>
          <p:nvPr/>
        </p:nvSpPr>
        <p:spPr>
          <a:xfrm>
            <a:off x="9269501" y="2971800"/>
            <a:ext cx="1005840" cy="292608"/>
          </a:xfrm>
          <a:prstGeom prst="rect">
            <a:avLst/>
          </a:prstGeom>
          <a:noFill/>
          <a:ln/>
        </p:spPr>
        <p:txBody>
          <a:bodyPr wrap="square" lIns="0" tIns="0" rIns="0" bIns="0" rtlCol="0" anchor="ctr"/>
          <a:lstStyle/>
          <a:p>
            <a:pPr algn="ctr" indent="0" marL="0">
              <a:buNone/>
            </a:pPr>
            <a:r>
              <a:rPr lang="en-US" sz="1000" b="1" dirty="0">
                <a:solidFill>
                  <a:srgbClr val="00274A"/>
                </a:solidFill>
              </a:rPr>
              <a:t>Bagian 4</a:t>
            </a:r>
            <a:endParaRPr lang="en-US" sz="1000" dirty="0"/>
          </a:p>
        </p:txBody>
      </p:sp>
      <p:sp>
        <p:nvSpPr>
          <p:cNvPr id="37" name="icon circle"/>
          <p:cNvSpPr/>
          <p:nvPr/>
        </p:nvSpPr>
        <p:spPr>
          <a:xfrm>
            <a:off x="10774375" y="2926080"/>
            <a:ext cx="640080" cy="640080"/>
          </a:xfrm>
          <a:prstGeom prst="ellipse">
            <a:avLst/>
          </a:prstGeom>
          <a:solidFill>
            <a:srgbClr val="F0F7FD"/>
          </a:solidFill>
          <a:ln w="3175">
            <a:solidFill>
              <a:srgbClr val="F0F7FD"/>
            </a:solidFill>
            <a:prstDash val="solid"/>
          </a:ln>
        </p:spPr>
      </p:sp>
      <p:pic>
        <p:nvPicPr>
          <p:cNvPr id="38" name="icon FaPlane" descr="preencoded.png">    </p:cNvPr>
          <p:cNvPicPr>
            <a:picLocks noChangeAspect="1"/>
          </p:cNvPicPr>
          <p:nvPr/>
        </p:nvPicPr>
        <p:blipFill>
          <a:blip r:embed="rId5"/>
          <a:stretch>
            <a:fillRect/>
          </a:stretch>
        </p:blipFill>
        <p:spPr>
          <a:xfrm>
            <a:off x="10934395" y="3086100"/>
            <a:ext cx="320040" cy="320040"/>
          </a:xfrm>
          <a:prstGeom prst="rect">
            <a:avLst/>
          </a:prstGeom>
        </p:spPr>
      </p:pic>
      <p:sp>
        <p:nvSpPr>
          <p:cNvPr id="39" name="text"/>
          <p:cNvSpPr txBox="1"/>
          <p:nvPr/>
        </p:nvSpPr>
        <p:spPr>
          <a:xfrm>
            <a:off x="9269501" y="3456432"/>
            <a:ext cx="2144954" cy="640080"/>
          </a:xfrm>
          <a:prstGeom prst="rect">
            <a:avLst/>
          </a:prstGeom>
          <a:noFill/>
          <a:ln/>
        </p:spPr>
        <p:txBody>
          <a:bodyPr wrap="square" lIns="0" tIns="0" rIns="0" bIns="0" rtlCol="0" anchor="t"/>
          <a:lstStyle/>
          <a:p>
            <a:pPr algn="l" indent="0" marL="0">
              <a:buNone/>
            </a:pPr>
            <a:r>
              <a:rPr lang="en-US" sz="1500" b="1" dirty="0">
                <a:solidFill>
                  <a:srgbClr val="00274A"/>
                </a:solidFill>
              </a:rPr>
              <a:t>Aplikasi: Alaska Airlines</a:t>
            </a:r>
            <a:endParaRPr lang="en-US" sz="1500" dirty="0"/>
          </a:p>
        </p:txBody>
      </p:sp>
      <p:sp>
        <p:nvSpPr>
          <p:cNvPr id="40" name="text"/>
          <p:cNvSpPr txBox="1"/>
          <p:nvPr/>
        </p:nvSpPr>
        <p:spPr>
          <a:xfrm>
            <a:off x="9269501" y="4096512"/>
            <a:ext cx="2144954" cy="777240"/>
          </a:xfrm>
          <a:prstGeom prst="rect">
            <a:avLst/>
          </a:prstGeom>
          <a:noFill/>
          <a:ln/>
        </p:spPr>
        <p:txBody>
          <a:bodyPr wrap="square" lIns="0" tIns="0" rIns="0" bIns="0" rtlCol="0" anchor="t"/>
          <a:lstStyle/>
          <a:p>
            <a:pPr algn="l" indent="0" marL="0">
              <a:buNone/>
            </a:pPr>
            <a:r>
              <a:rPr lang="en-US" sz="1200" dirty="0">
                <a:solidFill>
                  <a:srgbClr val="00274A"/>
                </a:solidFill>
              </a:rPr>
              <a:t>Profil, permasalahan, analisis dengan kerangka Bagian 1–3, evaluasi, dan rekomendasi.</a:t>
            </a:r>
            <a:endParaRPr lang="en-US" sz="1200" dirty="0"/>
          </a:p>
        </p:txBody>
      </p:sp>
      <p:sp>
        <p:nvSpPr>
          <p:cNvPr id="41" name="text"/>
          <p:cNvSpPr txBox="1"/>
          <p:nvPr/>
        </p:nvSpPr>
        <p:spPr>
          <a:xfrm>
            <a:off x="9269501" y="4873752"/>
            <a:ext cx="2144954" cy="274320"/>
          </a:xfrm>
          <a:prstGeom prst="rect">
            <a:avLst/>
          </a:prstGeom>
          <a:noFill/>
          <a:ln/>
        </p:spPr>
        <p:txBody>
          <a:bodyPr wrap="square" lIns="0" tIns="0" rIns="0" bIns="0" rtlCol="0" anchor="t"/>
          <a:lstStyle/>
          <a:p>
            <a:pPr algn="l" indent="0" marL="0">
              <a:buNone/>
            </a:pPr>
            <a:r>
              <a:rPr lang="en-US" sz="1000" b="1" dirty="0">
                <a:solidFill>
                  <a:srgbClr val="01426A"/>
                </a:solidFill>
              </a:rPr>
              <a:t>Case Study 5</a:t>
            </a:r>
            <a:endParaRPr lang="en-US" sz="1000" dirty="0"/>
          </a:p>
        </p:txBody>
      </p:sp>
      <p:sp>
        <p:nvSpPr>
          <p:cNvPr id="42" name="card"/>
          <p:cNvSpPr/>
          <p:nvPr/>
        </p:nvSpPr>
        <p:spPr>
          <a:xfrm>
            <a:off x="548640" y="5486400"/>
            <a:ext cx="11094415" cy="749808"/>
          </a:xfrm>
          <a:prstGeom prst="roundRect">
            <a:avLst>
              <a:gd name="adj" fmla="val 17073"/>
            </a:avLst>
          </a:prstGeom>
          <a:solidFill>
            <a:srgbClr val="00274A"/>
          </a:solidFill>
          <a:ln w="3175">
            <a:solidFill>
              <a:srgbClr val="00274A"/>
            </a:solidFill>
            <a:prstDash val="solid"/>
          </a:ln>
        </p:spPr>
      </p:sp>
      <p:sp>
        <p:nvSpPr>
          <p:cNvPr id="43" name="text"/>
          <p:cNvSpPr txBox="1"/>
          <p:nvPr/>
        </p:nvSpPr>
        <p:spPr>
          <a:xfrm>
            <a:off x="822960" y="5486400"/>
            <a:ext cx="10545775" cy="749808"/>
          </a:xfrm>
          <a:prstGeom prst="rect">
            <a:avLst/>
          </a:prstGeom>
          <a:noFill/>
          <a:ln/>
        </p:spPr>
        <p:txBody>
          <a:bodyPr wrap="square" lIns="0" tIns="0" rIns="0" bIns="0" rtlCol="0" anchor="ctr"/>
          <a:lstStyle/>
          <a:p>
            <a:pPr algn="l" indent="0" marL="0">
              <a:buNone/>
            </a:pPr>
            <a:r>
              <a:rPr lang="en-US" sz="1300" b="1" dirty="0">
                <a:solidFill>
                  <a:srgbClr val="FFFFFF"/>
                </a:solidFill>
              </a:rPr>
              <a:t>Benang merah:</a:t>
            </a:r>
            <a:r>
              <a:rPr lang="en-US" sz="1300" dirty="0">
                <a:solidFill>
                  <a:srgbClr val="FFFFFF"/>
                </a:solidFill>
              </a:rPr>
              <a:t> </a:t>
            </a:r>
            <a:r>
              <a:rPr lang="en-US" sz="1300" i="1" dirty="0">
                <a:solidFill>
                  <a:srgbClr val="FFFFFF"/>
                </a:solidFill>
              </a:rPr>
              <a:t>planning</a:t>
            </a:r>
            <a:r>
              <a:rPr lang="en-US" sz="1300" dirty="0">
                <a:solidFill>
                  <a:srgbClr val="FFFFFF"/>
                </a:solidFill>
              </a:rPr>
              <a:t> (MRP, ERP) menyediakan rencana yang layak; </a:t>
            </a:r>
            <a:r>
              <a:rPr lang="en-US" sz="1300" i="1" dirty="0">
                <a:solidFill>
                  <a:srgbClr val="FFFFFF"/>
                </a:solidFill>
              </a:rPr>
              <a:t>control</a:t>
            </a:r>
            <a:r>
              <a:rPr lang="en-US" sz="1300" dirty="0">
                <a:solidFill>
                  <a:srgbClr val="FFFFFF"/>
                </a:solidFill>
              </a:rPr>
              <a:t> (</a:t>
            </a:r>
            <a:r>
              <a:rPr lang="en-US" sz="1300" i="1" dirty="0">
                <a:solidFill>
                  <a:srgbClr val="FFFFFF"/>
                </a:solidFill>
              </a:rPr>
              <a:t>sequencing</a:t>
            </a:r>
            <a:r>
              <a:rPr lang="en-US" sz="1300" dirty="0">
                <a:solidFill>
                  <a:srgbClr val="FFFFFF"/>
                </a:solidFill>
              </a:rPr>
              <a:t>, </a:t>
            </a:r>
            <a:r>
              <a:rPr lang="en-US" sz="1300" i="1" dirty="0">
                <a:solidFill>
                  <a:srgbClr val="FFFFFF"/>
                </a:solidFill>
              </a:rPr>
              <a:t>scheduling</a:t>
            </a:r>
            <a:r>
              <a:rPr lang="en-US" sz="1300" dirty="0">
                <a:solidFill>
                  <a:srgbClr val="FFFFFF"/>
                </a:solidFill>
              </a:rPr>
              <a:t>, </a:t>
            </a:r>
            <a:r>
              <a:rPr lang="en-US" sz="1300" i="1" dirty="0">
                <a:solidFill>
                  <a:srgbClr val="FFFFFF"/>
                </a:solidFill>
              </a:rPr>
              <a:t>monitoring</a:t>
            </a:r>
            <a:r>
              <a:rPr lang="en-US" sz="1300" dirty="0">
                <a:solidFill>
                  <a:srgbClr val="FFFFFF"/>
                </a:solidFill>
              </a:rPr>
              <a:t>) mengeksekusi dan menyesuaikannya. Alaska Airlines diuji pada keduanya.</a:t>
            </a:r>
            <a:endParaRPr lang="en-US" sz="1300" dirty="0"/>
          </a:p>
        </p:txBody>
      </p:sp>
      <p:sp>
        <p:nvSpPr>
          <p:cNvPr id="25" name="Slide Number Placeholder 0"/>
          <p:cNvSpPr>
            <a:spLocks noGrp="1"/>
          </p:cNvSpPr>
          <p:nvPr>
            <p:ph type="sldNum" sz="quarter" idx="4294967295"/>
          </p:nvPr>
        </p:nvSpPr>
        <p:spPr>
          <a:xfrm>
            <a:off x="11064240" y="6428232"/>
            <a:ext cx="576072"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01426A"/>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000" b="1" dirty="0">
                <a:solidFill>
                  <a:srgbClr val="00274A"/>
                </a:solidFill>
              </a:rPr>
              <a:t>Hakikat Planning and Control</a:t>
            </a:r>
            <a:endParaRPr lang="en-US" sz="3000" dirty="0"/>
          </a:p>
        </p:txBody>
      </p:sp>
      <p:sp>
        <p:nvSpPr>
          <p:cNvPr id="4" name="card"/>
          <p:cNvSpPr/>
          <p:nvPr/>
        </p:nvSpPr>
        <p:spPr>
          <a:xfrm>
            <a:off x="548640" y="1325880"/>
            <a:ext cx="5440680" cy="4892040"/>
          </a:xfrm>
          <a:prstGeom prst="roundRect">
            <a:avLst>
              <a:gd name="adj" fmla="val 2617"/>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5" name="text"/>
          <p:cNvSpPr txBox="1"/>
          <p:nvPr/>
        </p:nvSpPr>
        <p:spPr>
          <a:xfrm>
            <a:off x="822960" y="1554480"/>
            <a:ext cx="4937760" cy="411480"/>
          </a:xfrm>
          <a:prstGeom prst="rect">
            <a:avLst/>
          </a:prstGeom>
          <a:noFill/>
          <a:ln/>
        </p:spPr>
        <p:txBody>
          <a:bodyPr wrap="square" lIns="0" tIns="0" rIns="0" bIns="0" rtlCol="0" anchor="t"/>
          <a:lstStyle/>
          <a:p>
            <a:pPr algn="l" indent="0" marL="0">
              <a:buNone/>
            </a:pPr>
            <a:r>
              <a:rPr lang="en-US" sz="1700" b="1" dirty="0">
                <a:solidFill>
                  <a:srgbClr val="00274A"/>
                </a:solidFill>
              </a:rPr>
              <a:t>Rekonsiliasi supply dan demand</a:t>
            </a:r>
            <a:endParaRPr lang="en-US" sz="1700" dirty="0"/>
          </a:p>
        </p:txBody>
      </p:sp>
      <p:sp>
        <p:nvSpPr>
          <p:cNvPr id="6" name="text"/>
          <p:cNvSpPr txBox="1"/>
          <p:nvPr/>
        </p:nvSpPr>
        <p:spPr>
          <a:xfrm>
            <a:off x="822960" y="2011680"/>
            <a:ext cx="4937760" cy="1417320"/>
          </a:xfrm>
          <a:prstGeom prst="rect">
            <a:avLst/>
          </a:prstGeom>
          <a:noFill/>
          <a:ln/>
        </p:spPr>
        <p:txBody>
          <a:bodyPr wrap="square" lIns="0" tIns="0" rIns="0" bIns="0" rtlCol="0" anchor="t"/>
          <a:lstStyle/>
          <a:p>
            <a:pPr algn="l" indent="0" marL="0">
              <a:buNone/>
            </a:pPr>
            <a:r>
              <a:rPr lang="en-US" sz="1300" dirty="0">
                <a:solidFill>
                  <a:srgbClr val="00274A"/>
                </a:solidFill>
              </a:rPr>
              <a:t>Menurut Slack, Brandon-Jones &amp; Burgess (2022), </a:t>
            </a:r>
            <a:r>
              <a:rPr lang="en-US" sz="1300" i="1" dirty="0">
                <a:solidFill>
                  <a:srgbClr val="00274A"/>
                </a:solidFill>
              </a:rPr>
              <a:t>planning and control</a:t>
            </a:r>
            <a:r>
              <a:rPr lang="en-US" sz="1300" dirty="0">
                <a:solidFill>
                  <a:srgbClr val="00274A"/>
                </a:solidFill>
              </a:rPr>
              <a:t> adalah aktivitas yang merekonsiliasi kemampuan pasokan suatu operasi dengan permintaan pelanggan dalam tiga dimensi: </a:t>
            </a:r>
            <a:r>
              <a:rPr lang="en-US" sz="1300" i="1" dirty="0">
                <a:solidFill>
                  <a:srgbClr val="00274A"/>
                </a:solidFill>
              </a:rPr>
              <a:t>volume</a:t>
            </a:r>
            <a:r>
              <a:rPr lang="en-US" sz="1300" dirty="0">
                <a:solidFill>
                  <a:srgbClr val="00274A"/>
                </a:solidFill>
              </a:rPr>
              <a:t>, </a:t>
            </a:r>
            <a:r>
              <a:rPr lang="en-US" sz="1300" i="1" dirty="0">
                <a:solidFill>
                  <a:srgbClr val="00274A"/>
                </a:solidFill>
              </a:rPr>
              <a:t>timing</a:t>
            </a:r>
            <a:r>
              <a:rPr lang="en-US" sz="1300" dirty="0">
                <a:solidFill>
                  <a:srgbClr val="00274A"/>
                </a:solidFill>
              </a:rPr>
              <a:t>, dan </a:t>
            </a:r>
            <a:r>
              <a:rPr lang="en-US" sz="1300" i="1" dirty="0">
                <a:solidFill>
                  <a:srgbClr val="00274A"/>
                </a:solidFill>
              </a:rPr>
              <a:t>quality</a:t>
            </a:r>
            <a:r>
              <a:rPr lang="en-US" sz="1300" dirty="0">
                <a:solidFill>
                  <a:srgbClr val="00274A"/>
                </a:solidFill>
              </a:rPr>
              <a:t>. Rencana yang baik tidak menjamin hasil; karena itu perencanaan selalu dipasangkan dengan pengendalian.</a:t>
            </a:r>
            <a:endParaRPr lang="en-US" sz="1300" dirty="0"/>
          </a:p>
        </p:txBody>
      </p:sp>
      <p:sp>
        <p:nvSpPr>
          <p:cNvPr id="7" name="card"/>
          <p:cNvSpPr/>
          <p:nvPr/>
        </p:nvSpPr>
        <p:spPr>
          <a:xfrm>
            <a:off x="822960" y="3520440"/>
            <a:ext cx="4892040" cy="1188720"/>
          </a:xfrm>
          <a:prstGeom prst="roundRect">
            <a:avLst>
              <a:gd name="adj" fmla="val 10769"/>
            </a:avLst>
          </a:prstGeom>
          <a:solidFill>
            <a:srgbClr val="F0F7FD"/>
          </a:solidFill>
          <a:ln w="3175">
            <a:solidFill>
              <a:srgbClr val="F0F7FD"/>
            </a:solidFill>
            <a:prstDash val="solid"/>
          </a:ln>
        </p:spPr>
      </p:sp>
      <p:sp>
        <p:nvSpPr>
          <p:cNvPr id="8" name="text"/>
          <p:cNvSpPr txBox="1"/>
          <p:nvPr/>
        </p:nvSpPr>
        <p:spPr>
          <a:xfrm>
            <a:off x="1005840" y="3611880"/>
            <a:ext cx="4572000" cy="320040"/>
          </a:xfrm>
          <a:prstGeom prst="rect">
            <a:avLst/>
          </a:prstGeom>
          <a:noFill/>
          <a:ln/>
        </p:spPr>
        <p:txBody>
          <a:bodyPr wrap="square" lIns="0" tIns="0" rIns="0" bIns="0" rtlCol="0" anchor="t"/>
          <a:lstStyle/>
          <a:p>
            <a:pPr algn="l" indent="0" marL="0">
              <a:buNone/>
            </a:pPr>
            <a:r>
              <a:rPr lang="en-US" sz="1300" b="1" dirty="0">
                <a:solidFill>
                  <a:srgbClr val="00274A"/>
                </a:solidFill>
              </a:rPr>
              <a:t>Planning</a:t>
            </a:r>
            <a:endParaRPr lang="en-US" sz="1300" dirty="0"/>
          </a:p>
        </p:txBody>
      </p:sp>
      <p:sp>
        <p:nvSpPr>
          <p:cNvPr id="9" name="text"/>
          <p:cNvSpPr txBox="1"/>
          <p:nvPr/>
        </p:nvSpPr>
        <p:spPr>
          <a:xfrm>
            <a:off x="1005840" y="3931920"/>
            <a:ext cx="4572000" cy="731520"/>
          </a:xfrm>
          <a:prstGeom prst="rect">
            <a:avLst/>
          </a:prstGeom>
          <a:noFill/>
          <a:ln/>
        </p:spPr>
        <p:txBody>
          <a:bodyPr wrap="square" lIns="0" tIns="0" rIns="0" bIns="0" rtlCol="0" anchor="t"/>
          <a:lstStyle/>
          <a:p>
            <a:pPr algn="l" indent="0" marL="0">
              <a:buNone/>
            </a:pPr>
            <a:r>
              <a:rPr lang="en-US" sz="1200" dirty="0">
                <a:solidFill>
                  <a:srgbClr val="00274A"/>
                </a:solidFill>
              </a:rPr>
              <a:t>Formalisasi atas apa yang dimaksudkan terjadi pada suatu waktu di masa depan: rencana adalah pernyataan niat, bukan jaminan.</a:t>
            </a:r>
            <a:endParaRPr lang="en-US" sz="1200" dirty="0"/>
          </a:p>
        </p:txBody>
      </p:sp>
      <p:sp>
        <p:nvSpPr>
          <p:cNvPr id="10" name="card"/>
          <p:cNvSpPr/>
          <p:nvPr/>
        </p:nvSpPr>
        <p:spPr>
          <a:xfrm>
            <a:off x="822960" y="4846320"/>
            <a:ext cx="4892040" cy="1188720"/>
          </a:xfrm>
          <a:prstGeom prst="roundRect">
            <a:avLst>
              <a:gd name="adj" fmla="val 10769"/>
            </a:avLst>
          </a:prstGeom>
          <a:solidFill>
            <a:srgbClr val="F0F7FD"/>
          </a:solidFill>
          <a:ln w="3175">
            <a:solidFill>
              <a:srgbClr val="F0F7FD"/>
            </a:solidFill>
            <a:prstDash val="solid"/>
          </a:ln>
        </p:spPr>
      </p:sp>
      <p:sp>
        <p:nvSpPr>
          <p:cNvPr id="11" name="text"/>
          <p:cNvSpPr txBox="1"/>
          <p:nvPr/>
        </p:nvSpPr>
        <p:spPr>
          <a:xfrm>
            <a:off x="1005840" y="4937760"/>
            <a:ext cx="4572000" cy="320040"/>
          </a:xfrm>
          <a:prstGeom prst="rect">
            <a:avLst/>
          </a:prstGeom>
          <a:noFill/>
          <a:ln/>
        </p:spPr>
        <p:txBody>
          <a:bodyPr wrap="square" lIns="0" tIns="0" rIns="0" bIns="0" rtlCol="0" anchor="t"/>
          <a:lstStyle/>
          <a:p>
            <a:pPr algn="l" indent="0" marL="0">
              <a:buNone/>
            </a:pPr>
            <a:r>
              <a:rPr lang="en-US" sz="1300" b="1" dirty="0">
                <a:solidFill>
                  <a:srgbClr val="00274A"/>
                </a:solidFill>
              </a:rPr>
              <a:t>Control</a:t>
            </a:r>
            <a:endParaRPr lang="en-US" sz="1300" dirty="0"/>
          </a:p>
        </p:txBody>
      </p:sp>
      <p:sp>
        <p:nvSpPr>
          <p:cNvPr id="12" name="text"/>
          <p:cNvSpPr txBox="1"/>
          <p:nvPr/>
        </p:nvSpPr>
        <p:spPr>
          <a:xfrm>
            <a:off x="1005840" y="5257800"/>
            <a:ext cx="4572000" cy="731520"/>
          </a:xfrm>
          <a:prstGeom prst="rect">
            <a:avLst/>
          </a:prstGeom>
          <a:noFill/>
          <a:ln/>
        </p:spPr>
        <p:txBody>
          <a:bodyPr wrap="square" lIns="0" tIns="0" rIns="0" bIns="0" rtlCol="0" anchor="t"/>
          <a:lstStyle/>
          <a:p>
            <a:pPr algn="l" indent="0" marL="0">
              <a:buNone/>
            </a:pPr>
            <a:r>
              <a:rPr lang="en-US" sz="1200" dirty="0">
                <a:solidFill>
                  <a:srgbClr val="00274A"/>
                </a:solidFill>
              </a:rPr>
              <a:t>Proses mengatasi perubahan ketika rencana tidak berjalan: intervensi ulang, penjadwalan ulang, dan pengalihan sumber daya.</a:t>
            </a:r>
            <a:endParaRPr lang="en-US" sz="1200" dirty="0"/>
          </a:p>
        </p:txBody>
      </p:sp>
      <p:sp>
        <p:nvSpPr>
          <p:cNvPr id="13" name="card"/>
          <p:cNvSpPr/>
          <p:nvPr/>
        </p:nvSpPr>
        <p:spPr>
          <a:xfrm>
            <a:off x="6217920" y="1325880"/>
            <a:ext cx="5425135" cy="4892040"/>
          </a:xfrm>
          <a:prstGeom prst="roundRect">
            <a:avLst>
              <a:gd name="adj" fmla="val 2617"/>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14" name="text"/>
          <p:cNvSpPr txBox="1"/>
          <p:nvPr/>
        </p:nvSpPr>
        <p:spPr>
          <a:xfrm>
            <a:off x="6492240" y="1554480"/>
            <a:ext cx="4876495" cy="411480"/>
          </a:xfrm>
          <a:prstGeom prst="rect">
            <a:avLst/>
          </a:prstGeom>
          <a:noFill/>
          <a:ln/>
        </p:spPr>
        <p:txBody>
          <a:bodyPr wrap="square" lIns="0" tIns="0" rIns="0" bIns="0" rtlCol="0" anchor="t"/>
          <a:lstStyle/>
          <a:p>
            <a:pPr algn="l" indent="0" marL="0">
              <a:buNone/>
            </a:pPr>
            <a:r>
              <a:rPr lang="en-US" sz="1700" b="1" dirty="0">
                <a:solidFill>
                  <a:srgbClr val="00274A"/>
                </a:solidFill>
              </a:rPr>
              <a:t>Keseimbangan bergeser menurut horizon waktu</a:t>
            </a:r>
            <a:endParaRPr lang="en-US" sz="1700" dirty="0"/>
          </a:p>
        </p:txBody>
      </p:sp>
      <p:sp>
        <p:nvSpPr>
          <p:cNvPr id="15" name="band"/>
          <p:cNvSpPr/>
          <p:nvPr/>
        </p:nvSpPr>
        <p:spPr>
          <a:xfrm>
            <a:off x="6492240" y="2103120"/>
            <a:ext cx="4562582" cy="329184"/>
          </a:xfrm>
          <a:prstGeom prst="roundRect">
            <a:avLst>
              <a:gd name="adj" fmla="val 50000"/>
            </a:avLst>
          </a:prstGeom>
          <a:solidFill>
            <a:srgbClr val="0074C8"/>
          </a:solidFill>
          <a:ln w="3175">
            <a:solidFill>
              <a:srgbClr val="0074C8"/>
            </a:solidFill>
            <a:prstDash val="solid"/>
          </a:ln>
        </p:spPr>
      </p:sp>
      <p:sp>
        <p:nvSpPr>
          <p:cNvPr id="16" name="text"/>
          <p:cNvSpPr txBox="1"/>
          <p:nvPr/>
        </p:nvSpPr>
        <p:spPr>
          <a:xfrm>
            <a:off x="6629400" y="2103120"/>
            <a:ext cx="2743200" cy="329184"/>
          </a:xfrm>
          <a:prstGeom prst="rect">
            <a:avLst/>
          </a:prstGeom>
          <a:noFill/>
          <a:ln/>
        </p:spPr>
        <p:txBody>
          <a:bodyPr wrap="square" lIns="0" tIns="0" rIns="0" bIns="0" rtlCol="0" anchor="ctr"/>
          <a:lstStyle/>
          <a:p>
            <a:pPr algn="l" indent="0" marL="0">
              <a:buNone/>
            </a:pPr>
            <a:r>
              <a:rPr lang="en-US" sz="1200" b="1" dirty="0">
                <a:solidFill>
                  <a:srgbClr val="FFFFFF"/>
                </a:solidFill>
              </a:rPr>
              <a:t>Jangka panjang</a:t>
            </a:r>
            <a:endParaRPr lang="en-US" sz="1200" dirty="0"/>
          </a:p>
        </p:txBody>
      </p:sp>
      <p:sp>
        <p:nvSpPr>
          <p:cNvPr id="17" name="text"/>
          <p:cNvSpPr txBox="1"/>
          <p:nvPr/>
        </p:nvSpPr>
        <p:spPr>
          <a:xfrm>
            <a:off x="6492240" y="2487168"/>
            <a:ext cx="4876495" cy="640080"/>
          </a:xfrm>
          <a:prstGeom prst="rect">
            <a:avLst/>
          </a:prstGeom>
          <a:noFill/>
          <a:ln/>
        </p:spPr>
        <p:txBody>
          <a:bodyPr wrap="square" lIns="0" tIns="0" rIns="0" bIns="0" rtlCol="0" anchor="t"/>
          <a:lstStyle/>
          <a:p>
            <a:pPr algn="l" indent="0" marL="0">
              <a:buNone/>
            </a:pPr>
            <a:r>
              <a:rPr lang="en-US" sz="1200" dirty="0">
                <a:solidFill>
                  <a:srgbClr val="00274A"/>
                </a:solidFill>
              </a:rPr>
              <a:t>Permintaan agregat, kapasitas agregat, tujuan finansial; dominan </a:t>
            </a:r>
            <a:r>
              <a:rPr lang="en-US" sz="1200" i="1" dirty="0">
                <a:solidFill>
                  <a:srgbClr val="00274A"/>
                </a:solidFill>
              </a:rPr>
              <a:t>planning</a:t>
            </a:r>
            <a:r>
              <a:rPr lang="en-US" sz="1200" dirty="0">
                <a:solidFill>
                  <a:srgbClr val="00274A"/>
                </a:solidFill>
              </a:rPr>
              <a:t>.</a:t>
            </a:r>
            <a:endParaRPr lang="en-US" sz="1200" dirty="0"/>
          </a:p>
        </p:txBody>
      </p:sp>
      <p:sp>
        <p:nvSpPr>
          <p:cNvPr id="18" name="band"/>
          <p:cNvSpPr/>
          <p:nvPr/>
        </p:nvSpPr>
        <p:spPr>
          <a:xfrm>
            <a:off x="6492240" y="3200400"/>
            <a:ext cx="3620841" cy="329184"/>
          </a:xfrm>
          <a:prstGeom prst="roundRect">
            <a:avLst>
              <a:gd name="adj" fmla="val 50000"/>
            </a:avLst>
          </a:prstGeom>
          <a:solidFill>
            <a:srgbClr val="0074C8"/>
          </a:solidFill>
          <a:ln w="3175">
            <a:solidFill>
              <a:srgbClr val="0074C8"/>
            </a:solidFill>
            <a:prstDash val="solid"/>
          </a:ln>
        </p:spPr>
      </p:sp>
      <p:sp>
        <p:nvSpPr>
          <p:cNvPr id="19" name="text"/>
          <p:cNvSpPr txBox="1"/>
          <p:nvPr/>
        </p:nvSpPr>
        <p:spPr>
          <a:xfrm>
            <a:off x="6629400" y="3200400"/>
            <a:ext cx="2743200" cy="329184"/>
          </a:xfrm>
          <a:prstGeom prst="rect">
            <a:avLst/>
          </a:prstGeom>
          <a:noFill/>
          <a:ln/>
        </p:spPr>
        <p:txBody>
          <a:bodyPr wrap="square" lIns="0" tIns="0" rIns="0" bIns="0" rtlCol="0" anchor="ctr"/>
          <a:lstStyle/>
          <a:p>
            <a:pPr algn="l" indent="0" marL="0">
              <a:buNone/>
            </a:pPr>
            <a:r>
              <a:rPr lang="en-US" sz="1200" b="1" dirty="0">
                <a:solidFill>
                  <a:srgbClr val="FFFFFF"/>
                </a:solidFill>
              </a:rPr>
              <a:t>Jangka menengah</a:t>
            </a:r>
            <a:endParaRPr lang="en-US" sz="1200" dirty="0"/>
          </a:p>
        </p:txBody>
      </p:sp>
      <p:sp>
        <p:nvSpPr>
          <p:cNvPr id="20" name="text"/>
          <p:cNvSpPr txBox="1"/>
          <p:nvPr/>
        </p:nvSpPr>
        <p:spPr>
          <a:xfrm>
            <a:off x="6492240" y="3584448"/>
            <a:ext cx="4876495" cy="640080"/>
          </a:xfrm>
          <a:prstGeom prst="rect">
            <a:avLst/>
          </a:prstGeom>
          <a:noFill/>
          <a:ln/>
        </p:spPr>
        <p:txBody>
          <a:bodyPr wrap="square" lIns="0" tIns="0" rIns="0" bIns="0" rtlCol="0" anchor="t"/>
          <a:lstStyle/>
          <a:p>
            <a:pPr algn="l" indent="0" marL="0">
              <a:buNone/>
            </a:pPr>
            <a:r>
              <a:rPr lang="en-US" sz="1200" dirty="0">
                <a:solidFill>
                  <a:srgbClr val="00274A"/>
                </a:solidFill>
              </a:rPr>
              <a:t>Permintaan sebagian terdisagregasi; kapasitas dan kontinjensi; MRP dan ERP bekerja di sini.</a:t>
            </a:r>
            <a:endParaRPr lang="en-US" sz="1200" dirty="0"/>
          </a:p>
        </p:txBody>
      </p:sp>
      <p:sp>
        <p:nvSpPr>
          <p:cNvPr id="21" name="band"/>
          <p:cNvSpPr/>
          <p:nvPr/>
        </p:nvSpPr>
        <p:spPr>
          <a:xfrm>
            <a:off x="6492240" y="4297680"/>
            <a:ext cx="2679101" cy="329184"/>
          </a:xfrm>
          <a:prstGeom prst="roundRect">
            <a:avLst>
              <a:gd name="adj" fmla="val 50000"/>
            </a:avLst>
          </a:prstGeom>
          <a:solidFill>
            <a:srgbClr val="0074C8"/>
          </a:solidFill>
          <a:ln w="3175">
            <a:solidFill>
              <a:srgbClr val="0074C8"/>
            </a:solidFill>
            <a:prstDash val="solid"/>
          </a:ln>
        </p:spPr>
      </p:sp>
      <p:sp>
        <p:nvSpPr>
          <p:cNvPr id="22" name="text"/>
          <p:cNvSpPr txBox="1"/>
          <p:nvPr/>
        </p:nvSpPr>
        <p:spPr>
          <a:xfrm>
            <a:off x="6629400" y="4297680"/>
            <a:ext cx="2743200" cy="329184"/>
          </a:xfrm>
          <a:prstGeom prst="rect">
            <a:avLst/>
          </a:prstGeom>
          <a:noFill/>
          <a:ln/>
        </p:spPr>
        <p:txBody>
          <a:bodyPr wrap="square" lIns="0" tIns="0" rIns="0" bIns="0" rtlCol="0" anchor="ctr"/>
          <a:lstStyle/>
          <a:p>
            <a:pPr algn="l" indent="0" marL="0">
              <a:buNone/>
            </a:pPr>
            <a:r>
              <a:rPr lang="en-US" sz="1200" b="1" dirty="0">
                <a:solidFill>
                  <a:srgbClr val="FFFFFF"/>
                </a:solidFill>
              </a:rPr>
              <a:t>Jangka pendek</a:t>
            </a:r>
            <a:endParaRPr lang="en-US" sz="1200" dirty="0"/>
          </a:p>
        </p:txBody>
      </p:sp>
      <p:sp>
        <p:nvSpPr>
          <p:cNvPr id="23" name="text"/>
          <p:cNvSpPr txBox="1"/>
          <p:nvPr/>
        </p:nvSpPr>
        <p:spPr>
          <a:xfrm>
            <a:off x="6492240" y="4681728"/>
            <a:ext cx="4876495" cy="640080"/>
          </a:xfrm>
          <a:prstGeom prst="rect">
            <a:avLst/>
          </a:prstGeom>
          <a:noFill/>
          <a:ln/>
        </p:spPr>
        <p:txBody>
          <a:bodyPr wrap="square" lIns="0" tIns="0" rIns="0" bIns="0" rtlCol="0" anchor="t"/>
          <a:lstStyle/>
          <a:p>
            <a:pPr algn="l" indent="0" marL="0">
              <a:buNone/>
            </a:pPr>
            <a:r>
              <a:rPr lang="en-US" sz="1200" dirty="0">
                <a:solidFill>
                  <a:srgbClr val="00274A"/>
                </a:solidFill>
              </a:rPr>
              <a:t>Permintaan aktual, intervensi harian; dominan </a:t>
            </a:r>
            <a:r>
              <a:rPr lang="en-US" sz="1200" i="1" dirty="0">
                <a:solidFill>
                  <a:srgbClr val="00274A"/>
                </a:solidFill>
              </a:rPr>
              <a:t>control</a:t>
            </a:r>
            <a:r>
              <a:rPr lang="en-US" sz="1200" dirty="0">
                <a:solidFill>
                  <a:srgbClr val="00274A"/>
                </a:solidFill>
              </a:rPr>
              <a:t> (</a:t>
            </a:r>
            <a:r>
              <a:rPr lang="en-US" sz="1200" i="1" dirty="0">
                <a:solidFill>
                  <a:srgbClr val="00274A"/>
                </a:solidFill>
              </a:rPr>
              <a:t>sequencing</a:t>
            </a:r>
            <a:r>
              <a:rPr lang="en-US" sz="1200" dirty="0">
                <a:solidFill>
                  <a:srgbClr val="00274A"/>
                </a:solidFill>
              </a:rPr>
              <a:t>, </a:t>
            </a:r>
            <a:r>
              <a:rPr lang="en-US" sz="1200" i="1" dirty="0">
                <a:solidFill>
                  <a:srgbClr val="00274A"/>
                </a:solidFill>
              </a:rPr>
              <a:t>scheduling</a:t>
            </a:r>
            <a:r>
              <a:rPr lang="en-US" sz="1200" dirty="0">
                <a:solidFill>
                  <a:srgbClr val="00274A"/>
                </a:solidFill>
              </a:rPr>
              <a:t>).</a:t>
            </a:r>
            <a:endParaRPr lang="en-US" sz="1200" dirty="0"/>
          </a:p>
        </p:txBody>
      </p:sp>
      <p:sp>
        <p:nvSpPr>
          <p:cNvPr id="24" name="text"/>
          <p:cNvSpPr txBox="1"/>
          <p:nvPr/>
        </p:nvSpPr>
        <p:spPr>
          <a:xfrm>
            <a:off x="6492240" y="5257800"/>
            <a:ext cx="4876495" cy="274320"/>
          </a:xfrm>
          <a:prstGeom prst="rect">
            <a:avLst/>
          </a:prstGeom>
          <a:noFill/>
          <a:ln/>
        </p:spPr>
        <p:txBody>
          <a:bodyPr wrap="square" lIns="0" tIns="0" rIns="0" bIns="0" rtlCol="0" anchor="t"/>
          <a:lstStyle/>
          <a:p>
            <a:pPr algn="l" indent="0" marL="0">
              <a:buNone/>
            </a:pPr>
            <a:r>
              <a:rPr lang="en-US" sz="1000" i="1" dirty="0">
                <a:solidFill>
                  <a:srgbClr val="585E67"/>
                </a:solidFill>
              </a:rPr>
              <a:t>Panjang batang menggambarkan porsi </a:t>
            </a:r>
            <a:r>
              <a:rPr lang="en-US" sz="1000" i="1" dirty="0">
                <a:solidFill>
                  <a:srgbClr val="585E67"/>
                </a:solidFill>
              </a:rPr>
              <a:t>planning</a:t>
            </a:r>
            <a:r>
              <a:rPr lang="en-US" sz="1000" i="1" dirty="0">
                <a:solidFill>
                  <a:srgbClr val="585E67"/>
                </a:solidFill>
              </a:rPr>
              <a:t> relatif terhadap </a:t>
            </a:r>
            <a:r>
              <a:rPr lang="en-US" sz="1000" i="1" dirty="0">
                <a:solidFill>
                  <a:srgbClr val="585E67"/>
                </a:solidFill>
              </a:rPr>
              <a:t>control</a:t>
            </a:r>
            <a:r>
              <a:rPr lang="en-US" sz="1000" i="1" dirty="0">
                <a:solidFill>
                  <a:srgbClr val="585E67"/>
                </a:solidFill>
              </a:rPr>
              <a:t>.</a:t>
            </a:r>
            <a:endParaRPr lang="en-US" sz="1000" dirty="0"/>
          </a:p>
        </p:txBody>
      </p:sp>
      <p:sp>
        <p:nvSpPr>
          <p:cNvPr id="25" name="card"/>
          <p:cNvSpPr/>
          <p:nvPr/>
        </p:nvSpPr>
        <p:spPr>
          <a:xfrm>
            <a:off x="6492240" y="5559552"/>
            <a:ext cx="4876495" cy="502920"/>
          </a:xfrm>
          <a:prstGeom prst="roundRect">
            <a:avLst>
              <a:gd name="adj" fmla="val 25455"/>
            </a:avLst>
          </a:prstGeom>
          <a:solidFill>
            <a:srgbClr val="00274A"/>
          </a:solidFill>
          <a:ln w="3175">
            <a:solidFill>
              <a:srgbClr val="00274A"/>
            </a:solidFill>
            <a:prstDash val="solid"/>
          </a:ln>
        </p:spPr>
      </p:sp>
      <p:sp>
        <p:nvSpPr>
          <p:cNvPr id="26" name="text"/>
          <p:cNvSpPr txBox="1"/>
          <p:nvPr/>
        </p:nvSpPr>
        <p:spPr>
          <a:xfrm>
            <a:off x="6629400" y="5559552"/>
            <a:ext cx="4602175" cy="502920"/>
          </a:xfrm>
          <a:prstGeom prst="rect">
            <a:avLst/>
          </a:prstGeom>
          <a:noFill/>
          <a:ln/>
        </p:spPr>
        <p:txBody>
          <a:bodyPr wrap="square" lIns="0" tIns="0" rIns="0" bIns="0" rtlCol="0" anchor="ctr"/>
          <a:lstStyle/>
          <a:p>
            <a:pPr algn="l" indent="0" marL="0">
              <a:buNone/>
            </a:pPr>
            <a:r>
              <a:rPr lang="en-US" sz="1100" dirty="0">
                <a:solidFill>
                  <a:srgbClr val="FFFFFF"/>
                </a:solidFill>
              </a:rPr>
              <a:t>Implikasi: MRP/ERP (Bagian 2) adalah perangkat horizon menengah; </a:t>
            </a:r>
            <a:r>
              <a:rPr lang="en-US" sz="1100" i="1" dirty="0">
                <a:solidFill>
                  <a:srgbClr val="FFFFFF"/>
                </a:solidFill>
              </a:rPr>
              <a:t>sequencing and scheduling</a:t>
            </a:r>
            <a:r>
              <a:rPr lang="en-US" sz="1100" dirty="0">
                <a:solidFill>
                  <a:srgbClr val="FFFFFF"/>
                </a:solidFill>
              </a:rPr>
              <a:t> (Bagian 3) perangkat horizon pendek.</a:t>
            </a:r>
            <a:endParaRPr lang="en-US" sz="1100" dirty="0"/>
          </a:p>
        </p:txBody>
      </p:sp>
      <p:sp>
        <p:nvSpPr>
          <p:cNvPr id="25" name="Slide Number Placeholder 0"/>
          <p:cNvSpPr>
            <a:spLocks noGrp="1"/>
          </p:cNvSpPr>
          <p:nvPr>
            <p:ph type="sldNum" sz="quarter" idx="4294967295"/>
          </p:nvPr>
        </p:nvSpPr>
        <p:spPr>
          <a:xfrm>
            <a:off x="11064240" y="6428232"/>
            <a:ext cx="576072"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01426A"/>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000" b="1" dirty="0">
                <a:solidFill>
                  <a:srgbClr val="00274A"/>
                </a:solidFill>
              </a:rPr>
              <a:t>Empat Aktivitas Planning and Control sebagai Kerangka Analisis</a:t>
            </a:r>
            <a:endParaRPr lang="en-US" sz="3000" dirty="0"/>
          </a:p>
        </p:txBody>
      </p:sp>
      <p:sp>
        <p:nvSpPr>
          <p:cNvPr id="4" name="card"/>
          <p:cNvSpPr/>
          <p:nvPr/>
        </p:nvSpPr>
        <p:spPr>
          <a:xfrm>
            <a:off x="548640" y="1325880"/>
            <a:ext cx="2602154" cy="3063240"/>
          </a:xfrm>
          <a:prstGeom prst="roundRect">
            <a:avLst>
              <a:gd name="adj" fmla="val 4920"/>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5" name="icon circle"/>
          <p:cNvSpPr/>
          <p:nvPr/>
        </p:nvSpPr>
        <p:spPr>
          <a:xfrm>
            <a:off x="777240" y="1554480"/>
            <a:ext cx="658368" cy="658368"/>
          </a:xfrm>
          <a:prstGeom prst="ellipse">
            <a:avLst/>
          </a:prstGeom>
          <a:solidFill>
            <a:srgbClr val="91BE62"/>
          </a:solidFill>
          <a:ln w="3175">
            <a:solidFill>
              <a:srgbClr val="91BE62"/>
            </a:solidFill>
            <a:prstDash val="solid"/>
          </a:ln>
        </p:spPr>
      </p:sp>
      <p:pic>
        <p:nvPicPr>
          <p:cNvPr id="6" name="icon FaLayerGroup" descr="preencoded.png">    </p:cNvPr>
          <p:cNvPicPr>
            <a:picLocks noChangeAspect="1"/>
          </p:cNvPicPr>
          <p:nvPr/>
        </p:nvPicPr>
        <p:blipFill>
          <a:blip r:embed="rId1"/>
          <a:stretch>
            <a:fillRect/>
          </a:stretch>
        </p:blipFill>
        <p:spPr>
          <a:xfrm>
            <a:off x="941832" y="1719072"/>
            <a:ext cx="329184" cy="329184"/>
          </a:xfrm>
          <a:prstGeom prst="rect">
            <a:avLst/>
          </a:prstGeom>
        </p:spPr>
      </p:pic>
      <p:sp>
        <p:nvSpPr>
          <p:cNvPr id="7" name="text"/>
          <p:cNvSpPr txBox="1"/>
          <p:nvPr/>
        </p:nvSpPr>
        <p:spPr>
          <a:xfrm>
            <a:off x="777240" y="2331720"/>
            <a:ext cx="2144954" cy="457200"/>
          </a:xfrm>
          <a:prstGeom prst="rect">
            <a:avLst/>
          </a:prstGeom>
          <a:noFill/>
          <a:ln/>
        </p:spPr>
        <p:txBody>
          <a:bodyPr wrap="square" lIns="0" tIns="0" rIns="0" bIns="0" rtlCol="0" anchor="t"/>
          <a:lstStyle/>
          <a:p>
            <a:pPr algn="l" indent="0" marL="0">
              <a:buNone/>
            </a:pPr>
            <a:r>
              <a:rPr lang="en-US" sz="1600" b="1" dirty="0">
                <a:solidFill>
                  <a:srgbClr val="00274A"/>
                </a:solidFill>
              </a:rPr>
              <a:t>Loading</a:t>
            </a:r>
            <a:endParaRPr lang="en-US" sz="1600" dirty="0"/>
          </a:p>
        </p:txBody>
      </p:sp>
      <p:sp>
        <p:nvSpPr>
          <p:cNvPr id="8" name="text"/>
          <p:cNvSpPr txBox="1"/>
          <p:nvPr/>
        </p:nvSpPr>
        <p:spPr>
          <a:xfrm>
            <a:off x="777240" y="2807208"/>
            <a:ext cx="2144954" cy="1463040"/>
          </a:xfrm>
          <a:prstGeom prst="rect">
            <a:avLst/>
          </a:prstGeom>
          <a:noFill/>
          <a:ln/>
        </p:spPr>
        <p:txBody>
          <a:bodyPr wrap="square" lIns="0" tIns="0" rIns="0" bIns="0" rtlCol="0" anchor="t"/>
          <a:lstStyle/>
          <a:p>
            <a:pPr algn="l" indent="0" marL="0">
              <a:buNone/>
            </a:pPr>
            <a:r>
              <a:rPr lang="en-US" sz="1200" dirty="0">
                <a:solidFill>
                  <a:srgbClr val="00274A"/>
                </a:solidFill>
              </a:rPr>
              <a:t>Menentukan volume pekerjaan yang dialokasikan ke setiap pusat kerja. </a:t>
            </a:r>
            <a:r>
              <a:rPr lang="en-US" sz="1200" i="1" dirty="0">
                <a:solidFill>
                  <a:srgbClr val="00274A"/>
                </a:solidFill>
              </a:rPr>
              <a:t>Finite loading</a:t>
            </a:r>
            <a:r>
              <a:rPr lang="en-US" sz="1200" dirty="0">
                <a:solidFill>
                  <a:srgbClr val="00274A"/>
                </a:solidFill>
              </a:rPr>
              <a:t> membatasi beban sesuai kapasitas; </a:t>
            </a:r>
            <a:r>
              <a:rPr lang="en-US" sz="1200" i="1" dirty="0">
                <a:solidFill>
                  <a:srgbClr val="00274A"/>
                </a:solidFill>
              </a:rPr>
              <a:t>infinite loading</a:t>
            </a:r>
            <a:r>
              <a:rPr lang="en-US" sz="1200" dirty="0">
                <a:solidFill>
                  <a:srgbClr val="00274A"/>
                </a:solidFill>
              </a:rPr>
              <a:t> tidak membatasinya.</a:t>
            </a:r>
            <a:endParaRPr lang="en-US" sz="1200" dirty="0"/>
          </a:p>
        </p:txBody>
      </p:sp>
      <p:sp>
        <p:nvSpPr>
          <p:cNvPr id="9" name="card"/>
          <p:cNvSpPr/>
          <p:nvPr/>
        </p:nvSpPr>
        <p:spPr>
          <a:xfrm>
            <a:off x="3379394" y="1325880"/>
            <a:ext cx="2602154" cy="3063240"/>
          </a:xfrm>
          <a:prstGeom prst="roundRect">
            <a:avLst>
              <a:gd name="adj" fmla="val 4920"/>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10" name="icon circle"/>
          <p:cNvSpPr/>
          <p:nvPr/>
        </p:nvSpPr>
        <p:spPr>
          <a:xfrm>
            <a:off x="3607994" y="1554480"/>
            <a:ext cx="658368" cy="658368"/>
          </a:xfrm>
          <a:prstGeom prst="ellipse">
            <a:avLst/>
          </a:prstGeom>
          <a:solidFill>
            <a:srgbClr val="00CFF0"/>
          </a:solidFill>
          <a:ln w="3175">
            <a:solidFill>
              <a:srgbClr val="00CFF0"/>
            </a:solidFill>
            <a:prstDash val="solid"/>
          </a:ln>
        </p:spPr>
      </p:sp>
      <p:pic>
        <p:nvPicPr>
          <p:cNvPr id="11" name="icon FaSortNumericDown" descr="preencoded.png">    </p:cNvPr>
          <p:cNvPicPr>
            <a:picLocks noChangeAspect="1"/>
          </p:cNvPicPr>
          <p:nvPr/>
        </p:nvPicPr>
        <p:blipFill>
          <a:blip r:embed="rId2"/>
          <a:stretch>
            <a:fillRect/>
          </a:stretch>
        </p:blipFill>
        <p:spPr>
          <a:xfrm>
            <a:off x="3772586" y="1719072"/>
            <a:ext cx="329184" cy="329184"/>
          </a:xfrm>
          <a:prstGeom prst="rect">
            <a:avLst/>
          </a:prstGeom>
        </p:spPr>
      </p:pic>
      <p:sp>
        <p:nvSpPr>
          <p:cNvPr id="12" name="text"/>
          <p:cNvSpPr txBox="1"/>
          <p:nvPr/>
        </p:nvSpPr>
        <p:spPr>
          <a:xfrm>
            <a:off x="3607994" y="2331720"/>
            <a:ext cx="2144954" cy="457200"/>
          </a:xfrm>
          <a:prstGeom prst="rect">
            <a:avLst/>
          </a:prstGeom>
          <a:noFill/>
          <a:ln/>
        </p:spPr>
        <p:txBody>
          <a:bodyPr wrap="square" lIns="0" tIns="0" rIns="0" bIns="0" rtlCol="0" anchor="t"/>
          <a:lstStyle/>
          <a:p>
            <a:pPr algn="l" indent="0" marL="0">
              <a:buNone/>
            </a:pPr>
            <a:r>
              <a:rPr lang="en-US" sz="1600" b="1" dirty="0">
                <a:solidFill>
                  <a:srgbClr val="00274A"/>
                </a:solidFill>
              </a:rPr>
              <a:t>Sequencing</a:t>
            </a:r>
            <a:endParaRPr lang="en-US" sz="1600" dirty="0"/>
          </a:p>
        </p:txBody>
      </p:sp>
      <p:sp>
        <p:nvSpPr>
          <p:cNvPr id="13" name="text"/>
          <p:cNvSpPr txBox="1"/>
          <p:nvPr/>
        </p:nvSpPr>
        <p:spPr>
          <a:xfrm>
            <a:off x="3607994" y="2807208"/>
            <a:ext cx="2144954" cy="1463040"/>
          </a:xfrm>
          <a:prstGeom prst="rect">
            <a:avLst/>
          </a:prstGeom>
          <a:noFill/>
          <a:ln/>
        </p:spPr>
        <p:txBody>
          <a:bodyPr wrap="square" lIns="0" tIns="0" rIns="0" bIns="0" rtlCol="0" anchor="t"/>
          <a:lstStyle/>
          <a:p>
            <a:pPr algn="l" indent="0" marL="0">
              <a:buNone/>
            </a:pPr>
            <a:r>
              <a:rPr lang="en-US" sz="1200" dirty="0">
                <a:solidFill>
                  <a:srgbClr val="00274A"/>
                </a:solidFill>
              </a:rPr>
              <a:t>Menentukan urutan pengerjaan berdasarkan prioritas pelanggan, </a:t>
            </a:r>
            <a:r>
              <a:rPr lang="en-US" sz="1200" i="1" dirty="0">
                <a:solidFill>
                  <a:srgbClr val="00274A"/>
                </a:solidFill>
              </a:rPr>
              <a:t>due date</a:t>
            </a:r>
            <a:r>
              <a:rPr lang="en-US" sz="1200" dirty="0">
                <a:solidFill>
                  <a:srgbClr val="00274A"/>
                </a:solidFill>
              </a:rPr>
              <a:t>, FIFO/LIFO, atau </a:t>
            </a:r>
            <a:r>
              <a:rPr lang="en-US" sz="1200" i="1" dirty="0">
                <a:solidFill>
                  <a:srgbClr val="00274A"/>
                </a:solidFill>
              </a:rPr>
              <a:t>longest/shortest operation time</a:t>
            </a:r>
            <a:r>
              <a:rPr lang="en-US" sz="1200" dirty="0">
                <a:solidFill>
                  <a:srgbClr val="00274A"/>
                </a:solidFill>
              </a:rPr>
              <a:t>.</a:t>
            </a:r>
            <a:endParaRPr lang="en-US" sz="1200" dirty="0"/>
          </a:p>
        </p:txBody>
      </p:sp>
      <p:sp>
        <p:nvSpPr>
          <p:cNvPr id="14" name="card"/>
          <p:cNvSpPr/>
          <p:nvPr/>
        </p:nvSpPr>
        <p:spPr>
          <a:xfrm>
            <a:off x="6210148" y="1325880"/>
            <a:ext cx="2602154" cy="3063240"/>
          </a:xfrm>
          <a:prstGeom prst="roundRect">
            <a:avLst>
              <a:gd name="adj" fmla="val 4920"/>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15" name="icon circle"/>
          <p:cNvSpPr/>
          <p:nvPr/>
        </p:nvSpPr>
        <p:spPr>
          <a:xfrm>
            <a:off x="6438748" y="1554480"/>
            <a:ext cx="658368" cy="658368"/>
          </a:xfrm>
          <a:prstGeom prst="ellipse">
            <a:avLst/>
          </a:prstGeom>
          <a:solidFill>
            <a:srgbClr val="91BE62"/>
          </a:solidFill>
          <a:ln w="3175">
            <a:solidFill>
              <a:srgbClr val="91BE62"/>
            </a:solidFill>
            <a:prstDash val="solid"/>
          </a:ln>
        </p:spPr>
      </p:sp>
      <p:pic>
        <p:nvPicPr>
          <p:cNvPr id="16" name="icon FaCalendarAlt" descr="preencoded.png">    </p:cNvPr>
          <p:cNvPicPr>
            <a:picLocks noChangeAspect="1"/>
          </p:cNvPicPr>
          <p:nvPr/>
        </p:nvPicPr>
        <p:blipFill>
          <a:blip r:embed="rId3"/>
          <a:stretch>
            <a:fillRect/>
          </a:stretch>
        </p:blipFill>
        <p:spPr>
          <a:xfrm>
            <a:off x="6603340" y="1719072"/>
            <a:ext cx="329184" cy="329184"/>
          </a:xfrm>
          <a:prstGeom prst="rect">
            <a:avLst/>
          </a:prstGeom>
        </p:spPr>
      </p:pic>
      <p:sp>
        <p:nvSpPr>
          <p:cNvPr id="17" name="text"/>
          <p:cNvSpPr txBox="1"/>
          <p:nvPr/>
        </p:nvSpPr>
        <p:spPr>
          <a:xfrm>
            <a:off x="6438748" y="2331720"/>
            <a:ext cx="2144954" cy="457200"/>
          </a:xfrm>
          <a:prstGeom prst="rect">
            <a:avLst/>
          </a:prstGeom>
          <a:noFill/>
          <a:ln/>
        </p:spPr>
        <p:txBody>
          <a:bodyPr wrap="square" lIns="0" tIns="0" rIns="0" bIns="0" rtlCol="0" anchor="t"/>
          <a:lstStyle/>
          <a:p>
            <a:pPr algn="l" indent="0" marL="0">
              <a:buNone/>
            </a:pPr>
            <a:r>
              <a:rPr lang="en-US" sz="1600" b="1" dirty="0">
                <a:solidFill>
                  <a:srgbClr val="00274A"/>
                </a:solidFill>
              </a:rPr>
              <a:t>Scheduling</a:t>
            </a:r>
            <a:endParaRPr lang="en-US" sz="1600" dirty="0"/>
          </a:p>
        </p:txBody>
      </p:sp>
      <p:sp>
        <p:nvSpPr>
          <p:cNvPr id="18" name="text"/>
          <p:cNvSpPr txBox="1"/>
          <p:nvPr/>
        </p:nvSpPr>
        <p:spPr>
          <a:xfrm>
            <a:off x="6438748" y="2807208"/>
            <a:ext cx="2144954" cy="1463040"/>
          </a:xfrm>
          <a:prstGeom prst="rect">
            <a:avLst/>
          </a:prstGeom>
          <a:noFill/>
          <a:ln/>
        </p:spPr>
        <p:txBody>
          <a:bodyPr wrap="square" lIns="0" tIns="0" rIns="0" bIns="0" rtlCol="0" anchor="t"/>
          <a:lstStyle/>
          <a:p>
            <a:pPr algn="l" indent="0" marL="0">
              <a:buNone/>
            </a:pPr>
            <a:r>
              <a:rPr lang="en-US" sz="1200" dirty="0">
                <a:solidFill>
                  <a:srgbClr val="00274A"/>
                </a:solidFill>
              </a:rPr>
              <a:t>Menyusun jadwal rinci mulai–selesai setiap pekerjaan secara </a:t>
            </a:r>
            <a:r>
              <a:rPr lang="en-US" sz="1200" i="1" dirty="0">
                <a:solidFill>
                  <a:srgbClr val="00274A"/>
                </a:solidFill>
              </a:rPr>
              <a:t>forward</a:t>
            </a:r>
            <a:r>
              <a:rPr lang="en-US" sz="1200" dirty="0">
                <a:solidFill>
                  <a:srgbClr val="00274A"/>
                </a:solidFill>
              </a:rPr>
              <a:t> atau </a:t>
            </a:r>
            <a:r>
              <a:rPr lang="en-US" sz="1200" i="1" dirty="0">
                <a:solidFill>
                  <a:srgbClr val="00274A"/>
                </a:solidFill>
              </a:rPr>
              <a:t>backward</a:t>
            </a:r>
            <a:r>
              <a:rPr lang="en-US" sz="1200" dirty="0">
                <a:solidFill>
                  <a:srgbClr val="00274A"/>
                </a:solidFill>
              </a:rPr>
              <a:t>, divisualkan dengan </a:t>
            </a:r>
            <a:r>
              <a:rPr lang="en-US" sz="1200" i="1" dirty="0">
                <a:solidFill>
                  <a:srgbClr val="00274A"/>
                </a:solidFill>
              </a:rPr>
              <a:t>Gantt chart</a:t>
            </a:r>
            <a:r>
              <a:rPr lang="en-US" sz="1200" dirty="0">
                <a:solidFill>
                  <a:srgbClr val="00274A"/>
                </a:solidFill>
              </a:rPr>
              <a:t>.</a:t>
            </a:r>
            <a:endParaRPr lang="en-US" sz="1200" dirty="0"/>
          </a:p>
        </p:txBody>
      </p:sp>
      <p:sp>
        <p:nvSpPr>
          <p:cNvPr id="19" name="card"/>
          <p:cNvSpPr/>
          <p:nvPr/>
        </p:nvSpPr>
        <p:spPr>
          <a:xfrm>
            <a:off x="9040901" y="1325880"/>
            <a:ext cx="2602154" cy="3063240"/>
          </a:xfrm>
          <a:prstGeom prst="roundRect">
            <a:avLst>
              <a:gd name="adj" fmla="val 4920"/>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20" name="icon circle"/>
          <p:cNvSpPr/>
          <p:nvPr/>
        </p:nvSpPr>
        <p:spPr>
          <a:xfrm>
            <a:off x="9269501" y="1554480"/>
            <a:ext cx="658368" cy="658368"/>
          </a:xfrm>
          <a:prstGeom prst="ellipse">
            <a:avLst/>
          </a:prstGeom>
          <a:solidFill>
            <a:srgbClr val="00CFF0"/>
          </a:solidFill>
          <a:ln w="3175">
            <a:solidFill>
              <a:srgbClr val="00CFF0"/>
            </a:solidFill>
            <a:prstDash val="solid"/>
          </a:ln>
        </p:spPr>
      </p:sp>
      <p:pic>
        <p:nvPicPr>
          <p:cNvPr id="21" name="icon FaEye" descr="preencoded.png">    </p:cNvPr>
          <p:cNvPicPr>
            <a:picLocks noChangeAspect="1"/>
          </p:cNvPicPr>
          <p:nvPr/>
        </p:nvPicPr>
        <p:blipFill>
          <a:blip r:embed="rId4"/>
          <a:stretch>
            <a:fillRect/>
          </a:stretch>
        </p:blipFill>
        <p:spPr>
          <a:xfrm>
            <a:off x="9434093" y="1719072"/>
            <a:ext cx="329184" cy="329184"/>
          </a:xfrm>
          <a:prstGeom prst="rect">
            <a:avLst/>
          </a:prstGeom>
        </p:spPr>
      </p:pic>
      <p:sp>
        <p:nvSpPr>
          <p:cNvPr id="22" name="text"/>
          <p:cNvSpPr txBox="1"/>
          <p:nvPr/>
        </p:nvSpPr>
        <p:spPr>
          <a:xfrm>
            <a:off x="9269501" y="2331720"/>
            <a:ext cx="2144954" cy="457200"/>
          </a:xfrm>
          <a:prstGeom prst="rect">
            <a:avLst/>
          </a:prstGeom>
          <a:noFill/>
          <a:ln/>
        </p:spPr>
        <p:txBody>
          <a:bodyPr wrap="square" lIns="0" tIns="0" rIns="0" bIns="0" rtlCol="0" anchor="t"/>
          <a:lstStyle/>
          <a:p>
            <a:pPr algn="l" indent="0" marL="0">
              <a:buNone/>
            </a:pPr>
            <a:r>
              <a:rPr lang="en-US" sz="1600" b="1" dirty="0">
                <a:solidFill>
                  <a:srgbClr val="00274A"/>
                </a:solidFill>
              </a:rPr>
              <a:t>Monitoring and control</a:t>
            </a:r>
            <a:endParaRPr lang="en-US" sz="1600" dirty="0"/>
          </a:p>
        </p:txBody>
      </p:sp>
      <p:sp>
        <p:nvSpPr>
          <p:cNvPr id="23" name="text"/>
          <p:cNvSpPr txBox="1"/>
          <p:nvPr/>
        </p:nvSpPr>
        <p:spPr>
          <a:xfrm>
            <a:off x="9269501" y="2807208"/>
            <a:ext cx="2144954" cy="1463040"/>
          </a:xfrm>
          <a:prstGeom prst="rect">
            <a:avLst/>
          </a:prstGeom>
          <a:noFill/>
          <a:ln/>
        </p:spPr>
        <p:txBody>
          <a:bodyPr wrap="square" lIns="0" tIns="0" rIns="0" bIns="0" rtlCol="0" anchor="t"/>
          <a:lstStyle/>
          <a:p>
            <a:pPr algn="l" indent="0" marL="0">
              <a:buNone/>
            </a:pPr>
            <a:r>
              <a:rPr lang="en-US" sz="1200" dirty="0">
                <a:solidFill>
                  <a:srgbClr val="00274A"/>
                </a:solidFill>
              </a:rPr>
              <a:t>Memantau realisasi terhadap rencana dan mengintervensi: sistem </a:t>
            </a:r>
            <a:r>
              <a:rPr lang="en-US" sz="1200" i="1" dirty="0">
                <a:solidFill>
                  <a:srgbClr val="00274A"/>
                </a:solidFill>
              </a:rPr>
              <a:t>push</a:t>
            </a:r>
            <a:r>
              <a:rPr lang="en-US" sz="1200" dirty="0">
                <a:solidFill>
                  <a:srgbClr val="00274A"/>
                </a:solidFill>
              </a:rPr>
              <a:t> versus </a:t>
            </a:r>
            <a:r>
              <a:rPr lang="en-US" sz="1200" i="1" dirty="0">
                <a:solidFill>
                  <a:srgbClr val="00274A"/>
                </a:solidFill>
              </a:rPr>
              <a:t>pull</a:t>
            </a:r>
            <a:r>
              <a:rPr lang="en-US" sz="1200" dirty="0">
                <a:solidFill>
                  <a:srgbClr val="00274A"/>
                </a:solidFill>
              </a:rPr>
              <a:t> serta </a:t>
            </a:r>
            <a:r>
              <a:rPr lang="en-US" sz="1200" i="1" dirty="0">
                <a:solidFill>
                  <a:srgbClr val="00274A"/>
                </a:solidFill>
              </a:rPr>
              <a:t>drum, buffer, rope</a:t>
            </a:r>
            <a:r>
              <a:rPr lang="en-US" sz="1200" dirty="0">
                <a:solidFill>
                  <a:srgbClr val="00274A"/>
                </a:solidFill>
              </a:rPr>
              <a:t> pada </a:t>
            </a:r>
            <a:r>
              <a:rPr lang="en-US" sz="1200" i="1" dirty="0">
                <a:solidFill>
                  <a:srgbClr val="00274A"/>
                </a:solidFill>
              </a:rPr>
              <a:t>bottleneck</a:t>
            </a:r>
            <a:r>
              <a:rPr lang="en-US" sz="1200" dirty="0">
                <a:solidFill>
                  <a:srgbClr val="00274A"/>
                </a:solidFill>
              </a:rPr>
              <a:t>.</a:t>
            </a:r>
            <a:endParaRPr lang="en-US" sz="1200" dirty="0"/>
          </a:p>
        </p:txBody>
      </p:sp>
      <p:sp>
        <p:nvSpPr>
          <p:cNvPr id="24" name="card"/>
          <p:cNvSpPr/>
          <p:nvPr/>
        </p:nvSpPr>
        <p:spPr>
          <a:xfrm>
            <a:off x="548640" y="4617720"/>
            <a:ext cx="11094415" cy="1600200"/>
          </a:xfrm>
          <a:prstGeom prst="roundRect">
            <a:avLst>
              <a:gd name="adj" fmla="val 8000"/>
            </a:avLst>
          </a:prstGeom>
          <a:solidFill>
            <a:srgbClr val="00274A"/>
          </a:solidFill>
          <a:ln w="3175">
            <a:solidFill>
              <a:srgbClr val="00274A"/>
            </a:solidFill>
            <a:prstDash val="solid"/>
          </a:ln>
        </p:spPr>
      </p:sp>
      <p:sp>
        <p:nvSpPr>
          <p:cNvPr id="25" name="icon circle"/>
          <p:cNvSpPr/>
          <p:nvPr/>
        </p:nvSpPr>
        <p:spPr>
          <a:xfrm>
            <a:off x="822960" y="4983480"/>
            <a:ext cx="822960" cy="822960"/>
          </a:xfrm>
          <a:prstGeom prst="ellipse">
            <a:avLst/>
          </a:prstGeom>
          <a:solidFill>
            <a:srgbClr val="0074C8"/>
          </a:solidFill>
          <a:ln w="3175">
            <a:solidFill>
              <a:srgbClr val="0074C8"/>
            </a:solidFill>
            <a:prstDash val="solid"/>
          </a:ln>
        </p:spPr>
      </p:sp>
      <p:pic>
        <p:nvPicPr>
          <p:cNvPr id="26" name="icon FaLink" descr="preencoded.png">    </p:cNvPr>
          <p:cNvPicPr>
            <a:picLocks noChangeAspect="1"/>
          </p:cNvPicPr>
          <p:nvPr/>
        </p:nvPicPr>
        <p:blipFill>
          <a:blip r:embed="rId5"/>
          <a:stretch>
            <a:fillRect/>
          </a:stretch>
        </p:blipFill>
        <p:spPr>
          <a:xfrm>
            <a:off x="1028700" y="5189220"/>
            <a:ext cx="411480" cy="411480"/>
          </a:xfrm>
          <a:prstGeom prst="rect">
            <a:avLst/>
          </a:prstGeom>
        </p:spPr>
      </p:pic>
      <p:sp>
        <p:nvSpPr>
          <p:cNvPr id="27" name="text"/>
          <p:cNvSpPr txBox="1"/>
          <p:nvPr/>
        </p:nvSpPr>
        <p:spPr>
          <a:xfrm>
            <a:off x="1874520" y="4754880"/>
            <a:ext cx="9448495" cy="365760"/>
          </a:xfrm>
          <a:prstGeom prst="rect">
            <a:avLst/>
          </a:prstGeom>
          <a:noFill/>
          <a:ln/>
        </p:spPr>
        <p:txBody>
          <a:bodyPr wrap="square" lIns="0" tIns="0" rIns="0" bIns="0" rtlCol="0" anchor="t"/>
          <a:lstStyle/>
          <a:p>
            <a:pPr algn="l" indent="0" marL="0">
              <a:buNone/>
            </a:pPr>
            <a:r>
              <a:rPr lang="en-US" sz="1500" b="1" dirty="0">
                <a:solidFill>
                  <a:srgbClr val="FFFFFF"/>
                </a:solidFill>
              </a:rPr>
              <a:t>Dependent demand: jembatan menuju MRP</a:t>
            </a:r>
            <a:endParaRPr lang="en-US" sz="1500" dirty="0"/>
          </a:p>
        </p:txBody>
      </p:sp>
      <p:sp>
        <p:nvSpPr>
          <p:cNvPr id="28" name="text"/>
          <p:cNvSpPr txBox="1"/>
          <p:nvPr/>
        </p:nvSpPr>
        <p:spPr>
          <a:xfrm>
            <a:off x="1874520" y="5138928"/>
            <a:ext cx="9448495" cy="1005840"/>
          </a:xfrm>
          <a:prstGeom prst="rect">
            <a:avLst/>
          </a:prstGeom>
          <a:noFill/>
          <a:ln/>
        </p:spPr>
        <p:txBody>
          <a:bodyPr wrap="square" lIns="0" tIns="0" rIns="0" bIns="0" rtlCol="0" anchor="t"/>
          <a:lstStyle/>
          <a:p>
            <a:pPr algn="l" indent="0" marL="0">
              <a:buNone/>
            </a:pPr>
            <a:r>
              <a:rPr lang="en-US" sz="1200" dirty="0">
                <a:solidFill>
                  <a:srgbClr val="FFFFFF"/>
                </a:solidFill>
              </a:rPr>
              <a:t>Permintaan atas komponen bersifat </a:t>
            </a:r>
            <a:r>
              <a:rPr lang="en-US" sz="1200" i="1" dirty="0">
                <a:solidFill>
                  <a:srgbClr val="FFFFFF"/>
                </a:solidFill>
              </a:rPr>
              <a:t>dependent</a:t>
            </a:r>
            <a:r>
              <a:rPr lang="en-US" sz="1200" dirty="0">
                <a:solidFill>
                  <a:srgbClr val="FFFFFF"/>
                </a:solidFill>
              </a:rPr>
              <a:t>: dapat diturunkan dari jadwal item induknya, sehingga tidak perlu diramalkan, melainkan dihitung. Pada maskapai, kebutuhan suku cadang bergantung pada jadwal perawatan, dan jadwal perawatan bergantung pada jadwal penerbangan. Inilah logika yang dioperasionalkan oleh MRP (Bagian 2).</a:t>
            </a:r>
            <a:endParaRPr lang="en-US" sz="1200" dirty="0"/>
          </a:p>
        </p:txBody>
      </p:sp>
      <p:sp>
        <p:nvSpPr>
          <p:cNvPr id="25" name="Slide Number Placeholder 0"/>
          <p:cNvSpPr>
            <a:spLocks noGrp="1"/>
          </p:cNvSpPr>
          <p:nvPr>
            <p:ph type="sldNum" sz="quarter" idx="4294967295"/>
          </p:nvPr>
        </p:nvSpPr>
        <p:spPr>
          <a:xfrm>
            <a:off x="11064240" y="6428232"/>
            <a:ext cx="576072"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01426A"/>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000" b="1" dirty="0">
                <a:solidFill>
                  <a:srgbClr val="00274A"/>
                </a:solidFill>
              </a:rPr>
              <a:t>Hierarki Perencanaan: Posisi MRP, ERP, dan Short-Term Scheduling</a:t>
            </a:r>
            <a:endParaRPr lang="en-US" sz="3000" dirty="0"/>
          </a:p>
        </p:txBody>
      </p:sp>
      <p:sp>
        <p:nvSpPr>
          <p:cNvPr id="4" name="text"/>
          <p:cNvSpPr txBox="1"/>
          <p:nvPr/>
        </p:nvSpPr>
        <p:spPr>
          <a:xfrm>
            <a:off x="548640" y="1298448"/>
            <a:ext cx="2514600" cy="274320"/>
          </a:xfrm>
          <a:prstGeom prst="rect">
            <a:avLst/>
          </a:prstGeom>
          <a:noFill/>
          <a:ln/>
        </p:spPr>
        <p:txBody>
          <a:bodyPr wrap="square" lIns="0" tIns="0" rIns="0" bIns="0" rtlCol="0" anchor="t"/>
          <a:lstStyle/>
          <a:p>
            <a:pPr algn="l" indent="0" marL="0">
              <a:buNone/>
            </a:pPr>
            <a:r>
              <a:rPr lang="en-US" sz="1100" b="1" dirty="0">
                <a:solidFill>
                  <a:srgbClr val="01426A"/>
                </a:solidFill>
              </a:rPr>
              <a:t>Tingkat perencanaan</a:t>
            </a:r>
            <a:endParaRPr lang="en-US" sz="1100" dirty="0"/>
          </a:p>
        </p:txBody>
      </p:sp>
      <p:sp>
        <p:nvSpPr>
          <p:cNvPr id="5" name="text"/>
          <p:cNvSpPr txBox="1"/>
          <p:nvPr/>
        </p:nvSpPr>
        <p:spPr>
          <a:xfrm>
            <a:off x="3246120" y="1298448"/>
            <a:ext cx="3840480" cy="274320"/>
          </a:xfrm>
          <a:prstGeom prst="rect">
            <a:avLst/>
          </a:prstGeom>
          <a:noFill/>
          <a:ln/>
        </p:spPr>
        <p:txBody>
          <a:bodyPr wrap="square" lIns="0" tIns="0" rIns="0" bIns="0" rtlCol="0" anchor="t"/>
          <a:lstStyle/>
          <a:p>
            <a:pPr algn="l" indent="0" marL="0">
              <a:buNone/>
            </a:pPr>
            <a:r>
              <a:rPr lang="en-US" sz="1100" b="1" dirty="0">
                <a:solidFill>
                  <a:srgbClr val="01426A"/>
                </a:solidFill>
              </a:rPr>
              <a:t>Keputusan (Heizer et al., 2017)</a:t>
            </a:r>
            <a:endParaRPr lang="en-US" sz="1100" dirty="0"/>
          </a:p>
        </p:txBody>
      </p:sp>
      <p:sp>
        <p:nvSpPr>
          <p:cNvPr id="6" name="text"/>
          <p:cNvSpPr txBox="1"/>
          <p:nvPr/>
        </p:nvSpPr>
        <p:spPr>
          <a:xfrm>
            <a:off x="7269480" y="1298448"/>
            <a:ext cx="3657600" cy="274320"/>
          </a:xfrm>
          <a:prstGeom prst="rect">
            <a:avLst/>
          </a:prstGeom>
          <a:noFill/>
          <a:ln/>
        </p:spPr>
        <p:txBody>
          <a:bodyPr wrap="square" lIns="0" tIns="0" rIns="0" bIns="0" rtlCol="0" anchor="t"/>
          <a:lstStyle/>
          <a:p>
            <a:pPr algn="l" indent="0" marL="0">
              <a:buNone/>
            </a:pPr>
            <a:r>
              <a:rPr lang="en-US" sz="1100" b="1" dirty="0">
                <a:solidFill>
                  <a:srgbClr val="01426A"/>
                </a:solidFill>
              </a:rPr>
              <a:t>Padanan pada maskapai penerbangan</a:t>
            </a:r>
            <a:endParaRPr lang="en-US" sz="1100" dirty="0"/>
          </a:p>
        </p:txBody>
      </p:sp>
      <p:sp>
        <p:nvSpPr>
          <p:cNvPr id="7" name="level"/>
          <p:cNvSpPr/>
          <p:nvPr/>
        </p:nvSpPr>
        <p:spPr>
          <a:xfrm>
            <a:off x="548640" y="1627632"/>
            <a:ext cx="2514600" cy="822960"/>
          </a:xfrm>
          <a:prstGeom prst="roundRect">
            <a:avLst>
              <a:gd name="adj" fmla="val 13333"/>
            </a:avLst>
          </a:prstGeom>
          <a:solidFill>
            <a:srgbClr val="00274A"/>
          </a:solidFill>
          <a:ln w="3175">
            <a:solidFill>
              <a:srgbClr val="00274A"/>
            </a:solidFill>
            <a:prstDash val="solid"/>
          </a:ln>
        </p:spPr>
      </p:sp>
      <p:sp>
        <p:nvSpPr>
          <p:cNvPr id="8" name="text"/>
          <p:cNvSpPr txBox="1"/>
          <p:nvPr/>
        </p:nvSpPr>
        <p:spPr>
          <a:xfrm>
            <a:off x="731520" y="1719072"/>
            <a:ext cx="2194560" cy="384048"/>
          </a:xfrm>
          <a:prstGeom prst="rect">
            <a:avLst/>
          </a:prstGeom>
          <a:noFill/>
          <a:ln/>
        </p:spPr>
        <p:txBody>
          <a:bodyPr wrap="square" lIns="0" tIns="0" rIns="0" bIns="0" rtlCol="0" anchor="ctr"/>
          <a:lstStyle/>
          <a:p>
            <a:pPr algn="l" indent="0" marL="0">
              <a:buNone/>
            </a:pPr>
            <a:r>
              <a:rPr lang="en-US" sz="1300" b="1" dirty="0">
                <a:solidFill>
                  <a:srgbClr val="FFFFFF"/>
                </a:solidFill>
              </a:rPr>
              <a:t>Capacity planning</a:t>
            </a:r>
            <a:endParaRPr lang="en-US" sz="1300" dirty="0"/>
          </a:p>
        </p:txBody>
      </p:sp>
      <p:sp>
        <p:nvSpPr>
          <p:cNvPr id="9" name="text"/>
          <p:cNvSpPr txBox="1"/>
          <p:nvPr/>
        </p:nvSpPr>
        <p:spPr>
          <a:xfrm>
            <a:off x="731520" y="2103120"/>
            <a:ext cx="2194560" cy="274320"/>
          </a:xfrm>
          <a:prstGeom prst="rect">
            <a:avLst/>
          </a:prstGeom>
          <a:noFill/>
          <a:ln/>
        </p:spPr>
        <p:txBody>
          <a:bodyPr wrap="square" lIns="0" tIns="0" rIns="0" bIns="0" rtlCol="0" anchor="t"/>
          <a:lstStyle/>
          <a:p>
            <a:pPr algn="l" indent="0" marL="0">
              <a:buNone/>
            </a:pPr>
            <a:r>
              <a:rPr lang="en-US" sz="1000" dirty="0">
                <a:solidFill>
                  <a:srgbClr val="C1DAF0"/>
                </a:solidFill>
              </a:rPr>
              <a:t>Jangka panjang; tahunan</a:t>
            </a:r>
            <a:endParaRPr lang="en-US" sz="1000" dirty="0"/>
          </a:p>
        </p:txBody>
      </p:sp>
      <p:sp>
        <p:nvSpPr>
          <p:cNvPr id="10" name="card"/>
          <p:cNvSpPr/>
          <p:nvPr/>
        </p:nvSpPr>
        <p:spPr>
          <a:xfrm>
            <a:off x="3246120" y="1627632"/>
            <a:ext cx="3840480" cy="822960"/>
          </a:xfrm>
          <a:prstGeom prst="roundRect">
            <a:avLst>
              <a:gd name="adj" fmla="val 15556"/>
            </a:avLst>
          </a:prstGeom>
          <a:solidFill>
            <a:srgbClr val="FFFFFF"/>
          </a:solidFill>
          <a:ln w="3175">
            <a:solidFill>
              <a:srgbClr val="FFFFFF"/>
            </a:solidFill>
            <a:prstDash val="solid"/>
          </a:ln>
        </p:spPr>
      </p:sp>
      <p:sp>
        <p:nvSpPr>
          <p:cNvPr id="11" name="text"/>
          <p:cNvSpPr txBox="1"/>
          <p:nvPr/>
        </p:nvSpPr>
        <p:spPr>
          <a:xfrm>
            <a:off x="3429000" y="1627632"/>
            <a:ext cx="3474720" cy="822960"/>
          </a:xfrm>
          <a:prstGeom prst="rect">
            <a:avLst/>
          </a:prstGeom>
          <a:noFill/>
          <a:ln/>
        </p:spPr>
        <p:txBody>
          <a:bodyPr wrap="square" lIns="0" tIns="0" rIns="0" bIns="0" rtlCol="0" anchor="ctr"/>
          <a:lstStyle/>
          <a:p>
            <a:pPr algn="l" indent="0" marL="0">
              <a:buNone/>
            </a:pPr>
            <a:r>
              <a:rPr lang="en-US" sz="1200" dirty="0">
                <a:solidFill>
                  <a:srgbClr val="00274A"/>
                </a:solidFill>
              </a:rPr>
              <a:t>Fasilitas, peralatan, dan kapasitas agregat yang tersedia.</a:t>
            </a:r>
            <a:endParaRPr lang="en-US" sz="1200" dirty="0"/>
          </a:p>
        </p:txBody>
      </p:sp>
      <p:sp>
        <p:nvSpPr>
          <p:cNvPr id="12" name="card"/>
          <p:cNvSpPr/>
          <p:nvPr/>
        </p:nvSpPr>
        <p:spPr>
          <a:xfrm>
            <a:off x="7269480" y="1627632"/>
            <a:ext cx="3657600" cy="822960"/>
          </a:xfrm>
          <a:prstGeom prst="roundRect">
            <a:avLst>
              <a:gd name="adj" fmla="val 15556"/>
            </a:avLst>
          </a:prstGeom>
          <a:solidFill>
            <a:srgbClr val="F0F7FD"/>
          </a:solidFill>
          <a:ln w="3175">
            <a:solidFill>
              <a:srgbClr val="F0F7FD"/>
            </a:solidFill>
            <a:prstDash val="solid"/>
          </a:ln>
        </p:spPr>
      </p:sp>
      <p:sp>
        <p:nvSpPr>
          <p:cNvPr id="13" name="text"/>
          <p:cNvSpPr txBox="1"/>
          <p:nvPr/>
        </p:nvSpPr>
        <p:spPr>
          <a:xfrm>
            <a:off x="7452360" y="1627632"/>
            <a:ext cx="3291840" cy="822960"/>
          </a:xfrm>
          <a:prstGeom prst="rect">
            <a:avLst/>
          </a:prstGeom>
          <a:noFill/>
          <a:ln/>
        </p:spPr>
        <p:txBody>
          <a:bodyPr wrap="square" lIns="0" tIns="0" rIns="0" bIns="0" rtlCol="0" anchor="ctr"/>
          <a:lstStyle/>
          <a:p>
            <a:pPr algn="l" indent="0" marL="0">
              <a:buNone/>
            </a:pPr>
            <a:r>
              <a:rPr lang="en-US" sz="1200" dirty="0">
                <a:solidFill>
                  <a:srgbClr val="00274A"/>
                </a:solidFill>
              </a:rPr>
              <a:t>Rencana armada, basis dan hangar, pemesanan pesawat baru.</a:t>
            </a:r>
            <a:endParaRPr lang="en-US" sz="1200" dirty="0"/>
          </a:p>
        </p:txBody>
      </p:sp>
      <p:sp>
        <p:nvSpPr>
          <p:cNvPr id="14" name="down arrow"/>
          <p:cNvSpPr/>
          <p:nvPr/>
        </p:nvSpPr>
        <p:spPr>
          <a:xfrm>
            <a:off x="1691640" y="2432304"/>
            <a:ext cx="228600" cy="128016"/>
          </a:xfrm>
          <a:prstGeom prst="downArrow">
            <a:avLst/>
          </a:prstGeom>
          <a:solidFill>
            <a:srgbClr val="0074C8"/>
          </a:solidFill>
          <a:ln w="3175">
            <a:solidFill>
              <a:srgbClr val="0074C8"/>
            </a:solidFill>
            <a:prstDash val="solid"/>
          </a:ln>
        </p:spPr>
      </p:sp>
      <p:sp>
        <p:nvSpPr>
          <p:cNvPr id="15" name="level"/>
          <p:cNvSpPr/>
          <p:nvPr/>
        </p:nvSpPr>
        <p:spPr>
          <a:xfrm>
            <a:off x="548640" y="2542032"/>
            <a:ext cx="2514600" cy="822960"/>
          </a:xfrm>
          <a:prstGeom prst="roundRect">
            <a:avLst>
              <a:gd name="adj" fmla="val 13333"/>
            </a:avLst>
          </a:prstGeom>
          <a:solidFill>
            <a:srgbClr val="00274A"/>
          </a:solidFill>
          <a:ln w="3175">
            <a:solidFill>
              <a:srgbClr val="00274A"/>
            </a:solidFill>
            <a:prstDash val="solid"/>
          </a:ln>
        </p:spPr>
      </p:sp>
      <p:sp>
        <p:nvSpPr>
          <p:cNvPr id="16" name="text"/>
          <p:cNvSpPr txBox="1"/>
          <p:nvPr/>
        </p:nvSpPr>
        <p:spPr>
          <a:xfrm>
            <a:off x="731520" y="2633472"/>
            <a:ext cx="2194560" cy="384048"/>
          </a:xfrm>
          <a:prstGeom prst="rect">
            <a:avLst/>
          </a:prstGeom>
          <a:noFill/>
          <a:ln/>
        </p:spPr>
        <p:txBody>
          <a:bodyPr wrap="square" lIns="0" tIns="0" rIns="0" bIns="0" rtlCol="0" anchor="ctr"/>
          <a:lstStyle/>
          <a:p>
            <a:pPr algn="l" indent="0" marL="0">
              <a:buNone/>
            </a:pPr>
            <a:r>
              <a:rPr lang="en-US" sz="1300" b="1" dirty="0">
                <a:solidFill>
                  <a:srgbClr val="FFFFFF"/>
                </a:solidFill>
              </a:rPr>
              <a:t>Aggregate planning (S&amp;OP)</a:t>
            </a:r>
            <a:endParaRPr lang="en-US" sz="1300" dirty="0"/>
          </a:p>
        </p:txBody>
      </p:sp>
      <p:sp>
        <p:nvSpPr>
          <p:cNvPr id="17" name="text"/>
          <p:cNvSpPr txBox="1"/>
          <p:nvPr/>
        </p:nvSpPr>
        <p:spPr>
          <a:xfrm>
            <a:off x="731520" y="3017520"/>
            <a:ext cx="2194560" cy="274320"/>
          </a:xfrm>
          <a:prstGeom prst="rect">
            <a:avLst/>
          </a:prstGeom>
          <a:noFill/>
          <a:ln/>
        </p:spPr>
        <p:txBody>
          <a:bodyPr wrap="square" lIns="0" tIns="0" rIns="0" bIns="0" rtlCol="0" anchor="t"/>
          <a:lstStyle/>
          <a:p>
            <a:pPr algn="l" indent="0" marL="0">
              <a:buNone/>
            </a:pPr>
            <a:r>
              <a:rPr lang="en-US" sz="1000" dirty="0">
                <a:solidFill>
                  <a:srgbClr val="C1DAF0"/>
                </a:solidFill>
              </a:rPr>
              <a:t>Jangka menengah; 3–18 bulan</a:t>
            </a:r>
            <a:endParaRPr lang="en-US" sz="1000" dirty="0"/>
          </a:p>
        </p:txBody>
      </p:sp>
      <p:sp>
        <p:nvSpPr>
          <p:cNvPr id="18" name="card"/>
          <p:cNvSpPr/>
          <p:nvPr/>
        </p:nvSpPr>
        <p:spPr>
          <a:xfrm>
            <a:off x="3246120" y="2542032"/>
            <a:ext cx="3840480" cy="822960"/>
          </a:xfrm>
          <a:prstGeom prst="roundRect">
            <a:avLst>
              <a:gd name="adj" fmla="val 15556"/>
            </a:avLst>
          </a:prstGeom>
          <a:solidFill>
            <a:srgbClr val="FFFFFF"/>
          </a:solidFill>
          <a:ln w="3175">
            <a:solidFill>
              <a:srgbClr val="FFFFFF"/>
            </a:solidFill>
            <a:prstDash val="solid"/>
          </a:ln>
        </p:spPr>
      </p:sp>
      <p:sp>
        <p:nvSpPr>
          <p:cNvPr id="19" name="text"/>
          <p:cNvSpPr txBox="1"/>
          <p:nvPr/>
        </p:nvSpPr>
        <p:spPr>
          <a:xfrm>
            <a:off x="3429000" y="2542032"/>
            <a:ext cx="3474720" cy="822960"/>
          </a:xfrm>
          <a:prstGeom prst="rect">
            <a:avLst/>
          </a:prstGeom>
          <a:noFill/>
          <a:ln/>
        </p:spPr>
        <p:txBody>
          <a:bodyPr wrap="square" lIns="0" tIns="0" rIns="0" bIns="0" rtlCol="0" anchor="ctr"/>
          <a:lstStyle/>
          <a:p>
            <a:pPr algn="l" indent="0" marL="0">
              <a:buNone/>
            </a:pPr>
            <a:r>
              <a:rPr lang="en-US" sz="1200" dirty="0">
                <a:solidFill>
                  <a:srgbClr val="00274A"/>
                </a:solidFill>
              </a:rPr>
              <a:t>Tingkat output agregat, tenaga kerja, subkontrak.</a:t>
            </a:r>
            <a:endParaRPr lang="en-US" sz="1200" dirty="0"/>
          </a:p>
        </p:txBody>
      </p:sp>
      <p:sp>
        <p:nvSpPr>
          <p:cNvPr id="20" name="card"/>
          <p:cNvSpPr/>
          <p:nvPr/>
        </p:nvSpPr>
        <p:spPr>
          <a:xfrm>
            <a:off x="7269480" y="2542032"/>
            <a:ext cx="3657600" cy="822960"/>
          </a:xfrm>
          <a:prstGeom prst="roundRect">
            <a:avLst>
              <a:gd name="adj" fmla="val 15556"/>
            </a:avLst>
          </a:prstGeom>
          <a:solidFill>
            <a:srgbClr val="F0F7FD"/>
          </a:solidFill>
          <a:ln w="3175">
            <a:solidFill>
              <a:srgbClr val="F0F7FD"/>
            </a:solidFill>
            <a:prstDash val="solid"/>
          </a:ln>
        </p:spPr>
      </p:sp>
      <p:sp>
        <p:nvSpPr>
          <p:cNvPr id="21" name="text"/>
          <p:cNvSpPr txBox="1"/>
          <p:nvPr/>
        </p:nvSpPr>
        <p:spPr>
          <a:xfrm>
            <a:off x="7452360" y="2542032"/>
            <a:ext cx="3291840" cy="822960"/>
          </a:xfrm>
          <a:prstGeom prst="rect">
            <a:avLst/>
          </a:prstGeom>
          <a:noFill/>
          <a:ln/>
        </p:spPr>
        <p:txBody>
          <a:bodyPr wrap="square" lIns="0" tIns="0" rIns="0" bIns="0" rtlCol="0" anchor="ctr"/>
          <a:lstStyle/>
          <a:p>
            <a:pPr algn="l" indent="0" marL="0">
              <a:buNone/>
            </a:pPr>
            <a:r>
              <a:rPr lang="en-US" sz="1200" dirty="0">
                <a:solidFill>
                  <a:srgbClr val="00274A"/>
                </a:solidFill>
              </a:rPr>
              <a:t>Rencana jaringan dan kapasitas musiman (kursi-km), rekrutmen kru.</a:t>
            </a:r>
            <a:endParaRPr lang="en-US" sz="1200" dirty="0"/>
          </a:p>
        </p:txBody>
      </p:sp>
      <p:sp>
        <p:nvSpPr>
          <p:cNvPr id="22" name="down arrow"/>
          <p:cNvSpPr/>
          <p:nvPr/>
        </p:nvSpPr>
        <p:spPr>
          <a:xfrm>
            <a:off x="1691640" y="3346704"/>
            <a:ext cx="228600" cy="128016"/>
          </a:xfrm>
          <a:prstGeom prst="downArrow">
            <a:avLst/>
          </a:prstGeom>
          <a:solidFill>
            <a:srgbClr val="0074C8"/>
          </a:solidFill>
          <a:ln w="3175">
            <a:solidFill>
              <a:srgbClr val="0074C8"/>
            </a:solidFill>
            <a:prstDash val="solid"/>
          </a:ln>
        </p:spPr>
      </p:sp>
      <p:sp>
        <p:nvSpPr>
          <p:cNvPr id="23" name="level"/>
          <p:cNvSpPr/>
          <p:nvPr/>
        </p:nvSpPr>
        <p:spPr>
          <a:xfrm>
            <a:off x="548640" y="3456432"/>
            <a:ext cx="2514600" cy="822960"/>
          </a:xfrm>
          <a:prstGeom prst="roundRect">
            <a:avLst>
              <a:gd name="adj" fmla="val 13333"/>
            </a:avLst>
          </a:prstGeom>
          <a:solidFill>
            <a:srgbClr val="00274A"/>
          </a:solidFill>
          <a:ln w="3175">
            <a:solidFill>
              <a:srgbClr val="00274A"/>
            </a:solidFill>
            <a:prstDash val="solid"/>
          </a:ln>
        </p:spPr>
      </p:sp>
      <p:sp>
        <p:nvSpPr>
          <p:cNvPr id="24" name="text"/>
          <p:cNvSpPr txBox="1"/>
          <p:nvPr/>
        </p:nvSpPr>
        <p:spPr>
          <a:xfrm>
            <a:off x="731520" y="3547872"/>
            <a:ext cx="2194560" cy="384048"/>
          </a:xfrm>
          <a:prstGeom prst="rect">
            <a:avLst/>
          </a:prstGeom>
          <a:noFill/>
          <a:ln/>
        </p:spPr>
        <p:txBody>
          <a:bodyPr wrap="square" lIns="0" tIns="0" rIns="0" bIns="0" rtlCol="0" anchor="ctr"/>
          <a:lstStyle/>
          <a:p>
            <a:pPr algn="l" indent="0" marL="0">
              <a:buNone/>
            </a:pPr>
            <a:r>
              <a:rPr lang="en-US" sz="1300" b="1" dirty="0">
                <a:solidFill>
                  <a:srgbClr val="FFFFFF"/>
                </a:solidFill>
              </a:rPr>
              <a:t>Master production schedule</a:t>
            </a:r>
            <a:endParaRPr lang="en-US" sz="1300" dirty="0"/>
          </a:p>
        </p:txBody>
      </p:sp>
      <p:sp>
        <p:nvSpPr>
          <p:cNvPr id="25" name="text"/>
          <p:cNvSpPr txBox="1"/>
          <p:nvPr/>
        </p:nvSpPr>
        <p:spPr>
          <a:xfrm>
            <a:off x="731520" y="3931920"/>
            <a:ext cx="2194560" cy="274320"/>
          </a:xfrm>
          <a:prstGeom prst="rect">
            <a:avLst/>
          </a:prstGeom>
          <a:noFill/>
          <a:ln/>
        </p:spPr>
        <p:txBody>
          <a:bodyPr wrap="square" lIns="0" tIns="0" rIns="0" bIns="0" rtlCol="0" anchor="t"/>
          <a:lstStyle/>
          <a:p>
            <a:pPr algn="l" indent="0" marL="0">
              <a:buNone/>
            </a:pPr>
            <a:r>
              <a:rPr lang="en-US" sz="1000" dirty="0">
                <a:solidFill>
                  <a:srgbClr val="C1DAF0"/>
                </a:solidFill>
              </a:rPr>
              <a:t>Mingguan</a:t>
            </a:r>
            <a:endParaRPr lang="en-US" sz="1000" dirty="0"/>
          </a:p>
        </p:txBody>
      </p:sp>
      <p:sp>
        <p:nvSpPr>
          <p:cNvPr id="26" name="card"/>
          <p:cNvSpPr/>
          <p:nvPr/>
        </p:nvSpPr>
        <p:spPr>
          <a:xfrm>
            <a:off x="3246120" y="3456432"/>
            <a:ext cx="3840480" cy="822960"/>
          </a:xfrm>
          <a:prstGeom prst="roundRect">
            <a:avLst>
              <a:gd name="adj" fmla="val 15556"/>
            </a:avLst>
          </a:prstGeom>
          <a:solidFill>
            <a:srgbClr val="FFFFFF"/>
          </a:solidFill>
          <a:ln w="3175">
            <a:solidFill>
              <a:srgbClr val="FFFFFF"/>
            </a:solidFill>
            <a:prstDash val="solid"/>
          </a:ln>
        </p:spPr>
      </p:sp>
      <p:sp>
        <p:nvSpPr>
          <p:cNvPr id="27" name="text"/>
          <p:cNvSpPr txBox="1"/>
          <p:nvPr/>
        </p:nvSpPr>
        <p:spPr>
          <a:xfrm>
            <a:off x="3429000" y="3456432"/>
            <a:ext cx="3474720" cy="822960"/>
          </a:xfrm>
          <a:prstGeom prst="rect">
            <a:avLst/>
          </a:prstGeom>
          <a:noFill/>
          <a:ln/>
        </p:spPr>
        <p:txBody>
          <a:bodyPr wrap="square" lIns="0" tIns="0" rIns="0" bIns="0" rtlCol="0" anchor="ctr"/>
          <a:lstStyle/>
          <a:p>
            <a:pPr algn="l" indent="0" marL="0">
              <a:buNone/>
            </a:pPr>
            <a:r>
              <a:rPr lang="en-US" sz="1200" dirty="0">
                <a:solidFill>
                  <a:srgbClr val="00274A"/>
                </a:solidFill>
              </a:rPr>
              <a:t>Item spesifik dan waktunya; mendisagregasi rencana agregat.</a:t>
            </a:r>
            <a:endParaRPr lang="en-US" sz="1200" dirty="0"/>
          </a:p>
        </p:txBody>
      </p:sp>
      <p:sp>
        <p:nvSpPr>
          <p:cNvPr id="28" name="card"/>
          <p:cNvSpPr/>
          <p:nvPr/>
        </p:nvSpPr>
        <p:spPr>
          <a:xfrm>
            <a:off x="7269480" y="3456432"/>
            <a:ext cx="3657600" cy="822960"/>
          </a:xfrm>
          <a:prstGeom prst="roundRect">
            <a:avLst>
              <a:gd name="adj" fmla="val 15556"/>
            </a:avLst>
          </a:prstGeom>
          <a:solidFill>
            <a:srgbClr val="F0F7FD"/>
          </a:solidFill>
          <a:ln w="3175">
            <a:solidFill>
              <a:srgbClr val="F0F7FD"/>
            </a:solidFill>
            <a:prstDash val="solid"/>
          </a:ln>
        </p:spPr>
      </p:sp>
      <p:sp>
        <p:nvSpPr>
          <p:cNvPr id="29" name="text"/>
          <p:cNvSpPr txBox="1"/>
          <p:nvPr/>
        </p:nvSpPr>
        <p:spPr>
          <a:xfrm>
            <a:off x="7452360" y="3456432"/>
            <a:ext cx="3291840" cy="822960"/>
          </a:xfrm>
          <a:prstGeom prst="rect">
            <a:avLst/>
          </a:prstGeom>
          <a:noFill/>
          <a:ln/>
        </p:spPr>
        <p:txBody>
          <a:bodyPr wrap="square" lIns="0" tIns="0" rIns="0" bIns="0" rtlCol="0" anchor="ctr"/>
          <a:lstStyle/>
          <a:p>
            <a:pPr algn="l" indent="0" marL="0">
              <a:buNone/>
            </a:pPr>
            <a:r>
              <a:rPr lang="en-US" sz="1200" i="1" dirty="0">
                <a:solidFill>
                  <a:srgbClr val="00274A"/>
                </a:solidFill>
              </a:rPr>
              <a:t>Flight timetable</a:t>
            </a:r>
            <a:r>
              <a:rPr lang="en-US" sz="1200" dirty="0">
                <a:solidFill>
                  <a:srgbClr val="00274A"/>
                </a:solidFill>
              </a:rPr>
              <a:t> terpublikasi; rencana </a:t>
            </a:r>
            <a:r>
              <a:rPr lang="en-US" sz="1200" i="1" dirty="0">
                <a:solidFill>
                  <a:srgbClr val="00274A"/>
                </a:solidFill>
              </a:rPr>
              <a:t>heavy maintenance</a:t>
            </a:r>
            <a:r>
              <a:rPr lang="en-US" sz="1200" dirty="0">
                <a:solidFill>
                  <a:srgbClr val="00274A"/>
                </a:solidFill>
              </a:rPr>
              <a:t> per </a:t>
            </a:r>
            <a:r>
              <a:rPr lang="en-US" sz="1200" i="1" dirty="0">
                <a:solidFill>
                  <a:srgbClr val="00274A"/>
                </a:solidFill>
              </a:rPr>
              <a:t>tail number</a:t>
            </a:r>
            <a:r>
              <a:rPr lang="en-US" sz="1200" dirty="0">
                <a:solidFill>
                  <a:srgbClr val="00274A"/>
                </a:solidFill>
              </a:rPr>
              <a:t>.</a:t>
            </a:r>
            <a:endParaRPr lang="en-US" sz="1200" dirty="0"/>
          </a:p>
        </p:txBody>
      </p:sp>
      <p:sp>
        <p:nvSpPr>
          <p:cNvPr id="30" name="down arrow"/>
          <p:cNvSpPr/>
          <p:nvPr/>
        </p:nvSpPr>
        <p:spPr>
          <a:xfrm>
            <a:off x="1691640" y="4261104"/>
            <a:ext cx="228600" cy="128016"/>
          </a:xfrm>
          <a:prstGeom prst="downArrow">
            <a:avLst/>
          </a:prstGeom>
          <a:solidFill>
            <a:srgbClr val="0074C8"/>
          </a:solidFill>
          <a:ln w="3175">
            <a:solidFill>
              <a:srgbClr val="0074C8"/>
            </a:solidFill>
            <a:prstDash val="solid"/>
          </a:ln>
        </p:spPr>
      </p:sp>
      <p:sp>
        <p:nvSpPr>
          <p:cNvPr id="31" name="level"/>
          <p:cNvSpPr/>
          <p:nvPr/>
        </p:nvSpPr>
        <p:spPr>
          <a:xfrm>
            <a:off x="548640" y="4370832"/>
            <a:ext cx="2514600" cy="822960"/>
          </a:xfrm>
          <a:prstGeom prst="roundRect">
            <a:avLst>
              <a:gd name="adj" fmla="val 13333"/>
            </a:avLst>
          </a:prstGeom>
          <a:solidFill>
            <a:srgbClr val="91BE62"/>
          </a:solidFill>
          <a:ln w="3175">
            <a:solidFill>
              <a:srgbClr val="00274A"/>
            </a:solidFill>
            <a:prstDash val="solid"/>
          </a:ln>
        </p:spPr>
      </p:sp>
      <p:sp>
        <p:nvSpPr>
          <p:cNvPr id="32" name="text"/>
          <p:cNvSpPr txBox="1"/>
          <p:nvPr/>
        </p:nvSpPr>
        <p:spPr>
          <a:xfrm>
            <a:off x="731520" y="4462272"/>
            <a:ext cx="2194560" cy="384048"/>
          </a:xfrm>
          <a:prstGeom prst="rect">
            <a:avLst/>
          </a:prstGeom>
          <a:noFill/>
          <a:ln/>
        </p:spPr>
        <p:txBody>
          <a:bodyPr wrap="square" lIns="0" tIns="0" rIns="0" bIns="0" rtlCol="0" anchor="ctr"/>
          <a:lstStyle/>
          <a:p>
            <a:pPr algn="l" indent="0" marL="0">
              <a:buNone/>
            </a:pPr>
            <a:r>
              <a:rPr lang="en-US" sz="1300" b="1" dirty="0">
                <a:solidFill>
                  <a:srgbClr val="00274A"/>
                </a:solidFill>
              </a:rPr>
              <a:t>Material requirements planning</a:t>
            </a:r>
            <a:endParaRPr lang="en-US" sz="1300" dirty="0"/>
          </a:p>
        </p:txBody>
      </p:sp>
      <p:sp>
        <p:nvSpPr>
          <p:cNvPr id="33" name="text"/>
          <p:cNvSpPr txBox="1"/>
          <p:nvPr/>
        </p:nvSpPr>
        <p:spPr>
          <a:xfrm>
            <a:off x="731520" y="4846320"/>
            <a:ext cx="2194560" cy="274320"/>
          </a:xfrm>
          <a:prstGeom prst="rect">
            <a:avLst/>
          </a:prstGeom>
          <a:noFill/>
          <a:ln/>
        </p:spPr>
        <p:txBody>
          <a:bodyPr wrap="square" lIns="0" tIns="0" rIns="0" bIns="0" rtlCol="0" anchor="t"/>
          <a:lstStyle/>
          <a:p>
            <a:pPr algn="l" indent="0" marL="0">
              <a:buNone/>
            </a:pPr>
            <a:r>
              <a:rPr lang="en-US" sz="1000" dirty="0">
                <a:solidFill>
                  <a:srgbClr val="00274A"/>
                </a:solidFill>
              </a:rPr>
              <a:t>Mingguan–harian</a:t>
            </a:r>
            <a:endParaRPr lang="en-US" sz="1000" dirty="0"/>
          </a:p>
        </p:txBody>
      </p:sp>
      <p:sp>
        <p:nvSpPr>
          <p:cNvPr id="34" name="card"/>
          <p:cNvSpPr/>
          <p:nvPr/>
        </p:nvSpPr>
        <p:spPr>
          <a:xfrm>
            <a:off x="3246120" y="4370832"/>
            <a:ext cx="3840480" cy="822960"/>
          </a:xfrm>
          <a:prstGeom prst="roundRect">
            <a:avLst>
              <a:gd name="adj" fmla="val 15556"/>
            </a:avLst>
          </a:prstGeom>
          <a:solidFill>
            <a:srgbClr val="FFFFFF"/>
          </a:solidFill>
          <a:ln w="3175">
            <a:solidFill>
              <a:srgbClr val="FFFFFF"/>
            </a:solidFill>
            <a:prstDash val="solid"/>
          </a:ln>
        </p:spPr>
      </p:sp>
      <p:sp>
        <p:nvSpPr>
          <p:cNvPr id="35" name="text"/>
          <p:cNvSpPr txBox="1"/>
          <p:nvPr/>
        </p:nvSpPr>
        <p:spPr>
          <a:xfrm>
            <a:off x="3429000" y="4370832"/>
            <a:ext cx="3474720" cy="822960"/>
          </a:xfrm>
          <a:prstGeom prst="rect">
            <a:avLst/>
          </a:prstGeom>
          <a:noFill/>
          <a:ln/>
        </p:spPr>
        <p:txBody>
          <a:bodyPr wrap="square" lIns="0" tIns="0" rIns="0" bIns="0" rtlCol="0" anchor="ctr"/>
          <a:lstStyle/>
          <a:p>
            <a:pPr algn="l" indent="0" marL="0">
              <a:buNone/>
            </a:pPr>
            <a:r>
              <a:rPr lang="en-US" sz="1200" dirty="0">
                <a:solidFill>
                  <a:srgbClr val="00274A"/>
                </a:solidFill>
              </a:rPr>
              <a:t>Kebutuhan komponen: apa, berapa, dan kapan dipesan.</a:t>
            </a:r>
            <a:endParaRPr lang="en-US" sz="1200" dirty="0"/>
          </a:p>
        </p:txBody>
      </p:sp>
      <p:sp>
        <p:nvSpPr>
          <p:cNvPr id="36" name="card"/>
          <p:cNvSpPr/>
          <p:nvPr/>
        </p:nvSpPr>
        <p:spPr>
          <a:xfrm>
            <a:off x="7269480" y="4370832"/>
            <a:ext cx="3657600" cy="822960"/>
          </a:xfrm>
          <a:prstGeom prst="roundRect">
            <a:avLst>
              <a:gd name="adj" fmla="val 15556"/>
            </a:avLst>
          </a:prstGeom>
          <a:solidFill>
            <a:srgbClr val="F0F7FD"/>
          </a:solidFill>
          <a:ln w="3175">
            <a:solidFill>
              <a:srgbClr val="F0F7FD"/>
            </a:solidFill>
            <a:prstDash val="solid"/>
          </a:ln>
        </p:spPr>
      </p:sp>
      <p:sp>
        <p:nvSpPr>
          <p:cNvPr id="37" name="text"/>
          <p:cNvSpPr txBox="1"/>
          <p:nvPr/>
        </p:nvSpPr>
        <p:spPr>
          <a:xfrm>
            <a:off x="7452360" y="4370832"/>
            <a:ext cx="3291840" cy="822960"/>
          </a:xfrm>
          <a:prstGeom prst="rect">
            <a:avLst/>
          </a:prstGeom>
          <a:noFill/>
          <a:ln/>
        </p:spPr>
        <p:txBody>
          <a:bodyPr wrap="square" lIns="0" tIns="0" rIns="0" bIns="0" rtlCol="0" anchor="ctr"/>
          <a:lstStyle/>
          <a:p>
            <a:pPr algn="l" indent="0" marL="0">
              <a:buNone/>
            </a:pPr>
            <a:r>
              <a:rPr lang="en-US" sz="1200" dirty="0">
                <a:solidFill>
                  <a:srgbClr val="00274A"/>
                </a:solidFill>
              </a:rPr>
              <a:t>Kebutuhan suku cadang dan </a:t>
            </a:r>
            <a:r>
              <a:rPr lang="en-US" sz="1200" i="1" dirty="0">
                <a:solidFill>
                  <a:srgbClr val="00274A"/>
                </a:solidFill>
              </a:rPr>
              <a:t>tooling</a:t>
            </a:r>
            <a:r>
              <a:rPr lang="en-US" sz="1200" dirty="0">
                <a:solidFill>
                  <a:srgbClr val="00274A"/>
                </a:solidFill>
              </a:rPr>
              <a:t> per paket perawatan.</a:t>
            </a:r>
            <a:endParaRPr lang="en-US" sz="1200" dirty="0"/>
          </a:p>
        </p:txBody>
      </p:sp>
      <p:sp>
        <p:nvSpPr>
          <p:cNvPr id="38" name="down arrow"/>
          <p:cNvSpPr/>
          <p:nvPr/>
        </p:nvSpPr>
        <p:spPr>
          <a:xfrm>
            <a:off x="1691640" y="5175504"/>
            <a:ext cx="228600" cy="128016"/>
          </a:xfrm>
          <a:prstGeom prst="downArrow">
            <a:avLst/>
          </a:prstGeom>
          <a:solidFill>
            <a:srgbClr val="0074C8"/>
          </a:solidFill>
          <a:ln w="3175">
            <a:solidFill>
              <a:srgbClr val="0074C8"/>
            </a:solidFill>
            <a:prstDash val="solid"/>
          </a:ln>
        </p:spPr>
      </p:sp>
      <p:sp>
        <p:nvSpPr>
          <p:cNvPr id="39" name="level"/>
          <p:cNvSpPr/>
          <p:nvPr/>
        </p:nvSpPr>
        <p:spPr>
          <a:xfrm>
            <a:off x="548640" y="5285232"/>
            <a:ext cx="2514600" cy="822960"/>
          </a:xfrm>
          <a:prstGeom prst="roundRect">
            <a:avLst>
              <a:gd name="adj" fmla="val 13333"/>
            </a:avLst>
          </a:prstGeom>
          <a:solidFill>
            <a:srgbClr val="00274A"/>
          </a:solidFill>
          <a:ln w="3175">
            <a:solidFill>
              <a:srgbClr val="00274A"/>
            </a:solidFill>
            <a:prstDash val="solid"/>
          </a:ln>
        </p:spPr>
      </p:sp>
      <p:sp>
        <p:nvSpPr>
          <p:cNvPr id="40" name="text"/>
          <p:cNvSpPr txBox="1"/>
          <p:nvPr/>
        </p:nvSpPr>
        <p:spPr>
          <a:xfrm>
            <a:off x="731520" y="5376672"/>
            <a:ext cx="2194560" cy="384048"/>
          </a:xfrm>
          <a:prstGeom prst="rect">
            <a:avLst/>
          </a:prstGeom>
          <a:noFill/>
          <a:ln/>
        </p:spPr>
        <p:txBody>
          <a:bodyPr wrap="square" lIns="0" tIns="0" rIns="0" bIns="0" rtlCol="0" anchor="ctr"/>
          <a:lstStyle/>
          <a:p>
            <a:pPr algn="l" indent="0" marL="0">
              <a:buNone/>
            </a:pPr>
            <a:r>
              <a:rPr lang="en-US" sz="1300" b="1" dirty="0">
                <a:solidFill>
                  <a:srgbClr val="FFFFFF"/>
                </a:solidFill>
              </a:rPr>
              <a:t>Short-term scheduling</a:t>
            </a:r>
            <a:endParaRPr lang="en-US" sz="1300" dirty="0"/>
          </a:p>
        </p:txBody>
      </p:sp>
      <p:sp>
        <p:nvSpPr>
          <p:cNvPr id="41" name="text"/>
          <p:cNvSpPr txBox="1"/>
          <p:nvPr/>
        </p:nvSpPr>
        <p:spPr>
          <a:xfrm>
            <a:off x="731520" y="5760720"/>
            <a:ext cx="2194560" cy="274320"/>
          </a:xfrm>
          <a:prstGeom prst="rect">
            <a:avLst/>
          </a:prstGeom>
          <a:noFill/>
          <a:ln/>
        </p:spPr>
        <p:txBody>
          <a:bodyPr wrap="square" lIns="0" tIns="0" rIns="0" bIns="0" rtlCol="0" anchor="t"/>
          <a:lstStyle/>
          <a:p>
            <a:pPr algn="l" indent="0" marL="0">
              <a:buNone/>
            </a:pPr>
            <a:r>
              <a:rPr lang="en-US" sz="1000" dirty="0">
                <a:solidFill>
                  <a:srgbClr val="C1DAF0"/>
                </a:solidFill>
              </a:rPr>
              <a:t>Hari, jam, menit</a:t>
            </a:r>
            <a:endParaRPr lang="en-US" sz="1000" dirty="0"/>
          </a:p>
        </p:txBody>
      </p:sp>
      <p:sp>
        <p:nvSpPr>
          <p:cNvPr id="42" name="card"/>
          <p:cNvSpPr/>
          <p:nvPr/>
        </p:nvSpPr>
        <p:spPr>
          <a:xfrm>
            <a:off x="3246120" y="5285232"/>
            <a:ext cx="3840480" cy="822960"/>
          </a:xfrm>
          <a:prstGeom prst="roundRect">
            <a:avLst>
              <a:gd name="adj" fmla="val 15556"/>
            </a:avLst>
          </a:prstGeom>
          <a:solidFill>
            <a:srgbClr val="FFFFFF"/>
          </a:solidFill>
          <a:ln w="3175">
            <a:solidFill>
              <a:srgbClr val="FFFFFF"/>
            </a:solidFill>
            <a:prstDash val="solid"/>
          </a:ln>
        </p:spPr>
      </p:sp>
      <p:sp>
        <p:nvSpPr>
          <p:cNvPr id="43" name="text"/>
          <p:cNvSpPr txBox="1"/>
          <p:nvPr/>
        </p:nvSpPr>
        <p:spPr>
          <a:xfrm>
            <a:off x="3429000" y="5285232"/>
            <a:ext cx="3474720" cy="822960"/>
          </a:xfrm>
          <a:prstGeom prst="rect">
            <a:avLst/>
          </a:prstGeom>
          <a:noFill/>
          <a:ln/>
        </p:spPr>
        <p:txBody>
          <a:bodyPr wrap="square" lIns="0" tIns="0" rIns="0" bIns="0" rtlCol="0" anchor="ctr"/>
          <a:lstStyle/>
          <a:p>
            <a:pPr algn="l" indent="0" marL="0">
              <a:buNone/>
            </a:pPr>
            <a:r>
              <a:rPr lang="en-US" sz="1200" i="1" dirty="0">
                <a:solidFill>
                  <a:srgbClr val="00274A"/>
                </a:solidFill>
              </a:rPr>
              <a:t>Loading</a:t>
            </a:r>
            <a:r>
              <a:rPr lang="en-US" sz="1200" dirty="0">
                <a:solidFill>
                  <a:srgbClr val="00274A"/>
                </a:solidFill>
              </a:rPr>
              <a:t>, </a:t>
            </a:r>
            <a:r>
              <a:rPr lang="en-US" sz="1200" i="1" dirty="0">
                <a:solidFill>
                  <a:srgbClr val="00274A"/>
                </a:solidFill>
              </a:rPr>
              <a:t>sequencing</a:t>
            </a:r>
            <a:r>
              <a:rPr lang="en-US" sz="1200" dirty="0">
                <a:solidFill>
                  <a:srgbClr val="00274A"/>
                </a:solidFill>
              </a:rPr>
              <a:t>, </a:t>
            </a:r>
            <a:r>
              <a:rPr lang="en-US" sz="1200" i="1" dirty="0">
                <a:solidFill>
                  <a:srgbClr val="00274A"/>
                </a:solidFill>
              </a:rPr>
              <a:t>dispatching</a:t>
            </a:r>
            <a:r>
              <a:rPr lang="en-US" sz="1200" dirty="0">
                <a:solidFill>
                  <a:srgbClr val="00274A"/>
                </a:solidFill>
              </a:rPr>
              <a:t> ke orang dan mesin.</a:t>
            </a:r>
            <a:endParaRPr lang="en-US" sz="1200" dirty="0"/>
          </a:p>
        </p:txBody>
      </p:sp>
      <p:sp>
        <p:nvSpPr>
          <p:cNvPr id="44" name="card"/>
          <p:cNvSpPr/>
          <p:nvPr/>
        </p:nvSpPr>
        <p:spPr>
          <a:xfrm>
            <a:off x="7269480" y="5285232"/>
            <a:ext cx="3657600" cy="822960"/>
          </a:xfrm>
          <a:prstGeom prst="roundRect">
            <a:avLst>
              <a:gd name="adj" fmla="val 15556"/>
            </a:avLst>
          </a:prstGeom>
          <a:solidFill>
            <a:srgbClr val="F0F7FD"/>
          </a:solidFill>
          <a:ln w="3175">
            <a:solidFill>
              <a:srgbClr val="F0F7FD"/>
            </a:solidFill>
            <a:prstDash val="solid"/>
          </a:ln>
        </p:spPr>
      </p:sp>
      <p:sp>
        <p:nvSpPr>
          <p:cNvPr id="45" name="text"/>
          <p:cNvSpPr txBox="1"/>
          <p:nvPr/>
        </p:nvSpPr>
        <p:spPr>
          <a:xfrm>
            <a:off x="7452360" y="5285232"/>
            <a:ext cx="3291840" cy="822960"/>
          </a:xfrm>
          <a:prstGeom prst="rect">
            <a:avLst/>
          </a:prstGeom>
          <a:noFill/>
          <a:ln/>
        </p:spPr>
        <p:txBody>
          <a:bodyPr wrap="square" lIns="0" tIns="0" rIns="0" bIns="0" rtlCol="0" anchor="ctr"/>
          <a:lstStyle/>
          <a:p>
            <a:pPr algn="l" indent="0" marL="0">
              <a:buNone/>
            </a:pPr>
            <a:r>
              <a:rPr lang="en-US" sz="1200" dirty="0">
                <a:solidFill>
                  <a:srgbClr val="00274A"/>
                </a:solidFill>
              </a:rPr>
              <a:t>Penugasan kru, </a:t>
            </a:r>
            <a:r>
              <a:rPr lang="en-US" sz="1200" i="1" dirty="0">
                <a:solidFill>
                  <a:srgbClr val="00274A"/>
                </a:solidFill>
              </a:rPr>
              <a:t>gate</a:t>
            </a:r>
            <a:r>
              <a:rPr lang="en-US" sz="1200" dirty="0">
                <a:solidFill>
                  <a:srgbClr val="00274A"/>
                </a:solidFill>
              </a:rPr>
              <a:t>, </a:t>
            </a:r>
            <a:r>
              <a:rPr lang="en-US" sz="1200" i="1" dirty="0">
                <a:solidFill>
                  <a:srgbClr val="00274A"/>
                </a:solidFill>
              </a:rPr>
              <a:t>bay</a:t>
            </a:r>
            <a:r>
              <a:rPr lang="en-US" sz="1200" dirty="0">
                <a:solidFill>
                  <a:srgbClr val="00274A"/>
                </a:solidFill>
              </a:rPr>
              <a:t> hangar; penanganan </a:t>
            </a:r>
            <a:r>
              <a:rPr lang="en-US" sz="1200" i="1" dirty="0">
                <a:solidFill>
                  <a:srgbClr val="00274A"/>
                </a:solidFill>
              </a:rPr>
              <a:t>irregular operations</a:t>
            </a:r>
            <a:r>
              <a:rPr lang="en-US" sz="1200" dirty="0">
                <a:solidFill>
                  <a:srgbClr val="00274A"/>
                </a:solidFill>
              </a:rPr>
              <a:t>.</a:t>
            </a:r>
            <a:endParaRPr lang="en-US" sz="1200" dirty="0"/>
          </a:p>
        </p:txBody>
      </p:sp>
      <p:sp>
        <p:nvSpPr>
          <p:cNvPr id="46" name="ERP bracket"/>
          <p:cNvSpPr/>
          <p:nvPr/>
        </p:nvSpPr>
        <p:spPr>
          <a:xfrm>
            <a:off x="11109960" y="2542032"/>
            <a:ext cx="530352" cy="3566160"/>
          </a:xfrm>
          <a:prstGeom prst="roundRect">
            <a:avLst>
              <a:gd name="adj" fmla="val 20690"/>
            </a:avLst>
          </a:prstGeom>
          <a:solidFill>
            <a:srgbClr val="00CFF0"/>
          </a:solidFill>
          <a:ln w="3175">
            <a:solidFill>
              <a:srgbClr val="00CFF0"/>
            </a:solidFill>
            <a:prstDash val="solid"/>
          </a:ln>
        </p:spPr>
      </p:sp>
      <p:sp>
        <p:nvSpPr>
          <p:cNvPr id="47" name="ERP label"/>
          <p:cNvSpPr txBox="1"/>
          <p:nvPr/>
        </p:nvSpPr>
        <p:spPr>
          <a:xfrm>
            <a:off x="11109960" y="2542032"/>
            <a:ext cx="530352" cy="3566160"/>
          </a:xfrm>
          <a:prstGeom prst="rect">
            <a:avLst/>
          </a:prstGeom>
          <a:noFill/>
          <a:ln/>
        </p:spPr>
        <p:txBody>
          <a:bodyPr wrap="square" lIns="0" tIns="0" rIns="0" bIns="0" rtlCol="0" anchor="ctr" vert="vert270"/>
          <a:lstStyle/>
          <a:p>
            <a:pPr algn="ctr" indent="0" marL="0">
              <a:buNone/>
            </a:pPr>
            <a:r>
              <a:rPr lang="en-US" sz="1000" b="1" dirty="0">
                <a:solidFill>
                  <a:srgbClr val="00274A"/>
                </a:solidFill>
              </a:rPr>
              <a:t>ERP: basis data bersama yang mengintegrasikan seluruh tingkat</a:t>
            </a:r>
            <a:endParaRPr lang="en-US" sz="1000" dirty="0"/>
          </a:p>
        </p:txBody>
      </p:sp>
      <p:sp>
        <p:nvSpPr>
          <p:cNvPr id="25" name="Slide Number Placeholder 0"/>
          <p:cNvSpPr>
            <a:spLocks noGrp="1"/>
          </p:cNvSpPr>
          <p:nvPr>
            <p:ph type="sldNum" sz="quarter" idx="4294967295"/>
          </p:nvPr>
        </p:nvSpPr>
        <p:spPr>
          <a:xfrm>
            <a:off x="11064240" y="6428232"/>
            <a:ext cx="576072"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01426A"/>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3" name="section image" descr="/tmp/claude-0/-home-user-Dom-Manipulation/385e5267-c23e-5c04-80f5-d5fb4946a902/scratchpad/build/img/hangar.png">    </p:cNvPr>
          <p:cNvPicPr>
            <a:picLocks noChangeAspect="1"/>
          </p:cNvPicPr>
          <p:nvPr/>
        </p:nvPicPr>
        <p:blipFill>
          <a:blip r:embed="rId1"/>
          <a:srcRect l="0" r="0" t="0" b="0"/>
          <a:stretch/>
        </p:blipFill>
        <p:spPr>
          <a:xfrm>
            <a:off x="5760720" y="0"/>
            <a:ext cx="6430975" cy="6858000"/>
          </a:xfrm>
          <a:prstGeom prst="rect">
            <a:avLst/>
          </a:prstGeom>
        </p:spPr>
      </p:pic>
      <p:sp>
        <p:nvSpPr>
          <p:cNvPr id="4" name="pill"/>
          <p:cNvSpPr/>
          <p:nvPr/>
        </p:nvSpPr>
        <p:spPr>
          <a:xfrm>
            <a:off x="640080" y="2057400"/>
            <a:ext cx="1554480" cy="365760"/>
          </a:xfrm>
          <a:prstGeom prst="roundRect">
            <a:avLst>
              <a:gd name="adj" fmla="val 50000"/>
            </a:avLst>
          </a:prstGeom>
          <a:solidFill>
            <a:srgbClr val="00CFF0"/>
          </a:solidFill>
          <a:ln w="3175">
            <a:solidFill>
              <a:srgbClr val="00CFF0"/>
            </a:solidFill>
            <a:prstDash val="solid"/>
          </a:ln>
        </p:spPr>
      </p:sp>
      <p:sp>
        <p:nvSpPr>
          <p:cNvPr id="5" name="pill label"/>
          <p:cNvSpPr txBox="1"/>
          <p:nvPr/>
        </p:nvSpPr>
        <p:spPr>
          <a:xfrm>
            <a:off x="640080" y="2057400"/>
            <a:ext cx="1554480" cy="365760"/>
          </a:xfrm>
          <a:prstGeom prst="rect">
            <a:avLst/>
          </a:prstGeom>
          <a:noFill/>
          <a:ln/>
        </p:spPr>
        <p:txBody>
          <a:bodyPr wrap="square" lIns="0" tIns="0" rIns="0" bIns="0" rtlCol="0" anchor="ctr"/>
          <a:lstStyle/>
          <a:p>
            <a:pPr algn="ctr" indent="0" marL="0">
              <a:buNone/>
            </a:pPr>
            <a:r>
              <a:rPr lang="en-US" sz="1100" b="1" dirty="0">
                <a:solidFill>
                  <a:srgbClr val="00274A"/>
                </a:solidFill>
              </a:rPr>
              <a:t>BAGIAN 2A</a:t>
            </a:r>
            <a:endParaRPr lang="en-US" sz="1100" dirty="0"/>
          </a:p>
        </p:txBody>
      </p:sp>
      <p:sp>
        <p:nvSpPr>
          <p:cNvPr id="6" name="text"/>
          <p:cNvSpPr txBox="1"/>
          <p:nvPr/>
        </p:nvSpPr>
        <p:spPr>
          <a:xfrm>
            <a:off x="640080" y="2560320"/>
            <a:ext cx="4754880" cy="1554480"/>
          </a:xfrm>
          <a:prstGeom prst="rect">
            <a:avLst/>
          </a:prstGeom>
          <a:noFill/>
          <a:ln/>
        </p:spPr>
        <p:txBody>
          <a:bodyPr wrap="square" lIns="0" tIns="0" rIns="0" bIns="0" rtlCol="0" anchor="t"/>
          <a:lstStyle/>
          <a:p>
            <a:pPr algn="l" indent="0" marL="0">
              <a:buNone/>
            </a:pPr>
            <a:r>
              <a:rPr lang="en-US" sz="3400" b="1" dirty="0">
                <a:solidFill>
                  <a:srgbClr val="FFFFFF"/>
                </a:solidFill>
              </a:rPr>
              <a:t>Material Requirements Planning (MRP)</a:t>
            </a:r>
            <a:endParaRPr lang="en-US" sz="3400" dirty="0"/>
          </a:p>
        </p:txBody>
      </p:sp>
      <p:sp>
        <p:nvSpPr>
          <p:cNvPr id="7" name="text"/>
          <p:cNvSpPr txBox="1"/>
          <p:nvPr/>
        </p:nvSpPr>
        <p:spPr>
          <a:xfrm>
            <a:off x="640080" y="4160520"/>
            <a:ext cx="4754880" cy="1005840"/>
          </a:xfrm>
          <a:prstGeom prst="rect">
            <a:avLst/>
          </a:prstGeom>
          <a:noFill/>
          <a:ln/>
        </p:spPr>
        <p:txBody>
          <a:bodyPr wrap="square" lIns="0" tIns="0" rIns="0" bIns="0" rtlCol="0" anchor="t"/>
          <a:lstStyle/>
          <a:p>
            <a:pPr algn="l" indent="0" marL="0">
              <a:buNone/>
            </a:pPr>
            <a:r>
              <a:rPr lang="en-US" sz="1500" dirty="0">
                <a:solidFill>
                  <a:srgbClr val="C1DAF0"/>
                </a:solidFill>
              </a:rPr>
              <a:t>Teknik </a:t>
            </a:r>
            <a:r>
              <a:rPr lang="en-US" sz="1500" i="1" dirty="0">
                <a:solidFill>
                  <a:srgbClr val="C1DAF0"/>
                </a:solidFill>
              </a:rPr>
              <a:t>dependent demand</a:t>
            </a:r>
            <a:r>
              <a:rPr lang="en-US" sz="1500" dirty="0">
                <a:solidFill>
                  <a:srgbClr val="C1DAF0"/>
                </a:solidFill>
              </a:rPr>
              <a:t> untuk menentukan apa, berapa, dan kapan material dibutuhkan agar jadwal induk terpenuhi.</a:t>
            </a:r>
            <a:endParaRPr lang="en-US" sz="1500" dirty="0"/>
          </a:p>
        </p:txBody>
      </p:sp>
      <p:sp>
        <p:nvSpPr>
          <p:cNvPr id="8" name="text"/>
          <p:cNvSpPr txBox="1"/>
          <p:nvPr/>
        </p:nvSpPr>
        <p:spPr>
          <a:xfrm>
            <a:off x="640080" y="5257800"/>
            <a:ext cx="4754880" cy="457200"/>
          </a:xfrm>
          <a:prstGeom prst="rect">
            <a:avLst/>
          </a:prstGeom>
          <a:noFill/>
          <a:ln/>
        </p:spPr>
        <p:txBody>
          <a:bodyPr wrap="square" lIns="0" tIns="0" rIns="0" bIns="0" rtlCol="0" anchor="t"/>
          <a:lstStyle/>
          <a:p>
            <a:pPr algn="l" indent="0" marL="0">
              <a:buNone/>
            </a:pPr>
            <a:r>
              <a:rPr lang="en-US" sz="1200" b="1" dirty="0">
                <a:solidFill>
                  <a:srgbClr val="00CFF0"/>
                </a:solidFill>
              </a:rPr>
              <a:t>HRM Bab 14  ·  SBB Bab 14 dan Suplemen MRP</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000" b="1" dirty="0">
                <a:solidFill>
                  <a:srgbClr val="00274A"/>
                </a:solidFill>
              </a:rPr>
              <a:t>MRP: Teknik Dependent Demand dan Lima Prasyaratnya</a:t>
            </a:r>
            <a:endParaRPr lang="en-US" sz="3000" dirty="0"/>
          </a:p>
        </p:txBody>
      </p:sp>
      <p:sp>
        <p:nvSpPr>
          <p:cNvPr id="4" name="card"/>
          <p:cNvSpPr/>
          <p:nvPr/>
        </p:nvSpPr>
        <p:spPr>
          <a:xfrm>
            <a:off x="548640" y="1325880"/>
            <a:ext cx="4160520" cy="4892040"/>
          </a:xfrm>
          <a:prstGeom prst="roundRect">
            <a:avLst>
              <a:gd name="adj" fmla="val 3077"/>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5" name="text"/>
          <p:cNvSpPr txBox="1"/>
          <p:nvPr/>
        </p:nvSpPr>
        <p:spPr>
          <a:xfrm>
            <a:off x="822960" y="1554480"/>
            <a:ext cx="3657600" cy="365760"/>
          </a:xfrm>
          <a:prstGeom prst="rect">
            <a:avLst/>
          </a:prstGeom>
          <a:noFill/>
          <a:ln/>
        </p:spPr>
        <p:txBody>
          <a:bodyPr wrap="square" lIns="0" tIns="0" rIns="0" bIns="0" rtlCol="0" anchor="t"/>
          <a:lstStyle/>
          <a:p>
            <a:pPr algn="l" indent="0" marL="0">
              <a:buNone/>
            </a:pPr>
            <a:r>
              <a:rPr lang="en-US" sz="1600" b="1" dirty="0">
                <a:solidFill>
                  <a:srgbClr val="00274A"/>
                </a:solidFill>
              </a:rPr>
              <a:t>Definisi</a:t>
            </a:r>
            <a:endParaRPr lang="en-US" sz="1600" dirty="0"/>
          </a:p>
        </p:txBody>
      </p:sp>
      <p:sp>
        <p:nvSpPr>
          <p:cNvPr id="6" name="text"/>
          <p:cNvSpPr txBox="1"/>
          <p:nvPr/>
        </p:nvSpPr>
        <p:spPr>
          <a:xfrm>
            <a:off x="822960" y="1938528"/>
            <a:ext cx="3657600" cy="1600200"/>
          </a:xfrm>
          <a:prstGeom prst="rect">
            <a:avLst/>
          </a:prstGeom>
          <a:noFill/>
          <a:ln/>
        </p:spPr>
        <p:txBody>
          <a:bodyPr wrap="square" lIns="0" tIns="0" rIns="0" bIns="0" rtlCol="0" anchor="t"/>
          <a:lstStyle/>
          <a:p>
            <a:pPr algn="l" indent="0" marL="0">
              <a:buNone/>
            </a:pPr>
            <a:r>
              <a:rPr lang="en-US" sz="1250" dirty="0">
                <a:solidFill>
                  <a:srgbClr val="00274A"/>
                </a:solidFill>
              </a:rPr>
              <a:t>Heizer, Render &amp; Munson (2017) mendefinisikan </a:t>
            </a:r>
            <a:r>
              <a:rPr lang="en-US" sz="1250" i="1" dirty="0">
                <a:solidFill>
                  <a:srgbClr val="00274A"/>
                </a:solidFill>
              </a:rPr>
              <a:t>material requirements planning</a:t>
            </a:r>
            <a:r>
              <a:rPr lang="en-US" sz="1250" dirty="0">
                <a:solidFill>
                  <a:srgbClr val="00274A"/>
                </a:solidFill>
              </a:rPr>
              <a:t> (MRP) sebagai teknik permintaan dependen yang memakai </a:t>
            </a:r>
            <a:r>
              <a:rPr lang="en-US" sz="1250" i="1" dirty="0">
                <a:solidFill>
                  <a:srgbClr val="00274A"/>
                </a:solidFill>
              </a:rPr>
              <a:t>bill of material</a:t>
            </a:r>
            <a:r>
              <a:rPr lang="en-US" sz="1250" dirty="0">
                <a:solidFill>
                  <a:srgbClr val="00274A"/>
                </a:solidFill>
              </a:rPr>
              <a:t>, catatan persediaan, penerimaan yang diharapkan, dan </a:t>
            </a:r>
            <a:r>
              <a:rPr lang="en-US" sz="1250" i="1" dirty="0">
                <a:solidFill>
                  <a:srgbClr val="00274A"/>
                </a:solidFill>
              </a:rPr>
              <a:t>master production schedule</a:t>
            </a:r>
            <a:r>
              <a:rPr lang="en-US" sz="1250" dirty="0">
                <a:solidFill>
                  <a:srgbClr val="00274A"/>
                </a:solidFill>
              </a:rPr>
              <a:t> untuk menentukan kebutuhan material.</a:t>
            </a:r>
            <a:endParaRPr lang="en-US" sz="1250" dirty="0"/>
          </a:p>
        </p:txBody>
      </p:sp>
      <p:sp>
        <p:nvSpPr>
          <p:cNvPr id="7" name="text"/>
          <p:cNvSpPr txBox="1"/>
          <p:nvPr/>
        </p:nvSpPr>
        <p:spPr>
          <a:xfrm>
            <a:off x="822960" y="3611880"/>
            <a:ext cx="3657600" cy="365760"/>
          </a:xfrm>
          <a:prstGeom prst="rect">
            <a:avLst/>
          </a:prstGeom>
          <a:noFill/>
          <a:ln/>
        </p:spPr>
        <p:txBody>
          <a:bodyPr wrap="square" lIns="0" tIns="0" rIns="0" bIns="0" rtlCol="0" anchor="t"/>
          <a:lstStyle/>
          <a:p>
            <a:pPr algn="l" indent="0" marL="0">
              <a:buNone/>
            </a:pPr>
            <a:r>
              <a:rPr lang="en-US" sz="1400" b="1" dirty="0">
                <a:solidFill>
                  <a:srgbClr val="00274A"/>
                </a:solidFill>
              </a:rPr>
              <a:t>Manfaat yang dijanjikan</a:t>
            </a:r>
            <a:endParaRPr lang="en-US" sz="1400" dirty="0"/>
          </a:p>
        </p:txBody>
      </p:sp>
      <p:sp>
        <p:nvSpPr>
          <p:cNvPr id="8" name="bullets"/>
          <p:cNvSpPr txBox="1"/>
          <p:nvPr/>
        </p:nvSpPr>
        <p:spPr>
          <a:xfrm>
            <a:off x="822960" y="4023360"/>
            <a:ext cx="3657600" cy="210312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rgbClr val="00274A"/>
                </a:solidFill>
              </a:rPr>
              <a:t>Respons lebih baik terhadap pesanan pelanggan.</a:t>
            </a:r>
            <a:endParaRPr lang="en-US" sz="1250" dirty="0"/>
          </a:p>
          <a:p>
            <a:pPr marL="342900" indent="-342900">
              <a:spcAft>
                <a:spcPts val="400"/>
              </a:spcAft>
              <a:buSzPct val="100000"/>
              <a:buChar char="•"/>
            </a:pPr>
            <a:r>
              <a:rPr lang="en-US" sz="1250" dirty="0">
                <a:solidFill>
                  <a:srgbClr val="00274A"/>
                </a:solidFill>
              </a:rPr>
              <a:t>Respons lebih cepat terhadap perubahan pasar.</a:t>
            </a:r>
            <a:endParaRPr lang="en-US" sz="1250" dirty="0"/>
          </a:p>
          <a:p>
            <a:pPr marL="342900" indent="-342900">
              <a:spcAft>
                <a:spcPts val="400"/>
              </a:spcAft>
              <a:buSzPct val="100000"/>
              <a:buChar char="•"/>
            </a:pPr>
            <a:r>
              <a:rPr lang="en-US" sz="1250" dirty="0">
                <a:solidFill>
                  <a:srgbClr val="00274A"/>
                </a:solidFill>
              </a:rPr>
              <a:t>Utilisasi fasilitas dan tenaga kerja lebih tinggi.</a:t>
            </a:r>
            <a:endParaRPr lang="en-US" sz="1250" dirty="0"/>
          </a:p>
          <a:p>
            <a:pPr marL="342900" indent="-342900">
              <a:spcAft>
                <a:spcPts val="400"/>
              </a:spcAft>
              <a:buSzPct val="100000"/>
              <a:buChar char="•"/>
            </a:pPr>
            <a:r>
              <a:rPr lang="en-US" sz="1250" dirty="0">
                <a:solidFill>
                  <a:srgbClr val="00274A"/>
                </a:solidFill>
              </a:rPr>
              <a:t>Tingkat persediaan lebih rendah.</a:t>
            </a:r>
            <a:endParaRPr lang="en-US" sz="1250" dirty="0"/>
          </a:p>
        </p:txBody>
      </p:sp>
      <p:sp>
        <p:nvSpPr>
          <p:cNvPr id="9" name="card"/>
          <p:cNvSpPr/>
          <p:nvPr/>
        </p:nvSpPr>
        <p:spPr>
          <a:xfrm>
            <a:off x="4937760" y="1325880"/>
            <a:ext cx="2113178" cy="2240280"/>
          </a:xfrm>
          <a:prstGeom prst="roundRect">
            <a:avLst>
              <a:gd name="adj" fmla="val 6058"/>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10" name="pill"/>
          <p:cNvSpPr/>
          <p:nvPr/>
        </p:nvSpPr>
        <p:spPr>
          <a:xfrm>
            <a:off x="5138928" y="1527048"/>
            <a:ext cx="384048" cy="384048"/>
          </a:xfrm>
          <a:prstGeom prst="roundRect">
            <a:avLst>
              <a:gd name="adj" fmla="val 50000"/>
            </a:avLst>
          </a:prstGeom>
          <a:solidFill>
            <a:srgbClr val="91BE62"/>
          </a:solidFill>
          <a:ln w="3175">
            <a:solidFill>
              <a:srgbClr val="91BE62"/>
            </a:solidFill>
            <a:prstDash val="solid"/>
          </a:ln>
        </p:spPr>
      </p:sp>
      <p:sp>
        <p:nvSpPr>
          <p:cNvPr id="11" name="pill label"/>
          <p:cNvSpPr txBox="1"/>
          <p:nvPr/>
        </p:nvSpPr>
        <p:spPr>
          <a:xfrm>
            <a:off x="5138928" y="1527048"/>
            <a:ext cx="384048" cy="384048"/>
          </a:xfrm>
          <a:prstGeom prst="rect">
            <a:avLst/>
          </a:prstGeom>
          <a:noFill/>
          <a:ln/>
        </p:spPr>
        <p:txBody>
          <a:bodyPr wrap="square" lIns="0" tIns="0" rIns="0" bIns="0" rtlCol="0" anchor="ctr"/>
          <a:lstStyle/>
          <a:p>
            <a:pPr algn="ctr" indent="0" marL="0">
              <a:buNone/>
            </a:pPr>
            <a:r>
              <a:rPr lang="en-US" sz="1300" b="1" dirty="0">
                <a:solidFill>
                  <a:srgbClr val="00274A"/>
                </a:solidFill>
              </a:rPr>
              <a:t>1</a:t>
            </a:r>
            <a:endParaRPr lang="en-US" sz="1300" dirty="0"/>
          </a:p>
        </p:txBody>
      </p:sp>
      <p:sp>
        <p:nvSpPr>
          <p:cNvPr id="12" name="icon circle"/>
          <p:cNvSpPr/>
          <p:nvPr/>
        </p:nvSpPr>
        <p:spPr>
          <a:xfrm>
            <a:off x="6273698" y="1508760"/>
            <a:ext cx="566928" cy="566928"/>
          </a:xfrm>
          <a:prstGeom prst="ellipse">
            <a:avLst/>
          </a:prstGeom>
          <a:solidFill>
            <a:srgbClr val="F0F7FD"/>
          </a:solidFill>
          <a:ln w="3175">
            <a:solidFill>
              <a:srgbClr val="F0F7FD"/>
            </a:solidFill>
            <a:prstDash val="solid"/>
          </a:ln>
        </p:spPr>
      </p:sp>
      <p:pic>
        <p:nvPicPr>
          <p:cNvPr id="13" name="icon FaClipboardList" descr="preencoded.png">    </p:cNvPr>
          <p:cNvPicPr>
            <a:picLocks noChangeAspect="1"/>
          </p:cNvPicPr>
          <p:nvPr/>
        </p:nvPicPr>
        <p:blipFill>
          <a:blip r:embed="rId1"/>
          <a:stretch>
            <a:fillRect/>
          </a:stretch>
        </p:blipFill>
        <p:spPr>
          <a:xfrm>
            <a:off x="6415430" y="1650492"/>
            <a:ext cx="283464" cy="283464"/>
          </a:xfrm>
          <a:prstGeom prst="rect">
            <a:avLst/>
          </a:prstGeom>
        </p:spPr>
      </p:pic>
      <p:sp>
        <p:nvSpPr>
          <p:cNvPr id="14" name="text"/>
          <p:cNvSpPr txBox="1"/>
          <p:nvPr/>
        </p:nvSpPr>
        <p:spPr>
          <a:xfrm>
            <a:off x="5138928" y="2075688"/>
            <a:ext cx="1710842" cy="594360"/>
          </a:xfrm>
          <a:prstGeom prst="rect">
            <a:avLst/>
          </a:prstGeom>
          <a:noFill/>
          <a:ln/>
        </p:spPr>
        <p:txBody>
          <a:bodyPr wrap="square" lIns="0" tIns="0" rIns="0" bIns="0" rtlCol="0" anchor="t"/>
          <a:lstStyle/>
          <a:p>
            <a:pPr algn="l" indent="0" marL="0">
              <a:buNone/>
            </a:pPr>
            <a:r>
              <a:rPr lang="en-US" sz="1350" b="1" dirty="0">
                <a:solidFill>
                  <a:srgbClr val="00274A"/>
                </a:solidFill>
              </a:rPr>
              <a:t>Master production schedule</a:t>
            </a:r>
            <a:endParaRPr lang="en-US" sz="1350" dirty="0"/>
          </a:p>
        </p:txBody>
      </p:sp>
      <p:sp>
        <p:nvSpPr>
          <p:cNvPr id="15" name="text"/>
          <p:cNvSpPr txBox="1"/>
          <p:nvPr/>
        </p:nvSpPr>
        <p:spPr>
          <a:xfrm>
            <a:off x="5138928" y="2697480"/>
            <a:ext cx="1710842" cy="822960"/>
          </a:xfrm>
          <a:prstGeom prst="rect">
            <a:avLst/>
          </a:prstGeom>
          <a:noFill/>
          <a:ln/>
        </p:spPr>
        <p:txBody>
          <a:bodyPr wrap="square" lIns="0" tIns="0" rIns="0" bIns="0" rtlCol="0" anchor="t"/>
          <a:lstStyle/>
          <a:p>
            <a:pPr algn="l" indent="0" marL="0">
              <a:buNone/>
            </a:pPr>
            <a:r>
              <a:rPr lang="en-US" sz="1150" dirty="0">
                <a:solidFill>
                  <a:srgbClr val="00274A"/>
                </a:solidFill>
              </a:rPr>
              <a:t>Apa yang dibuat dan kapan; selaras dengan rencana agregat.</a:t>
            </a:r>
            <a:endParaRPr lang="en-US" sz="1150" dirty="0"/>
          </a:p>
        </p:txBody>
      </p:sp>
      <p:sp>
        <p:nvSpPr>
          <p:cNvPr id="16" name="card"/>
          <p:cNvSpPr/>
          <p:nvPr/>
        </p:nvSpPr>
        <p:spPr>
          <a:xfrm>
            <a:off x="7233818" y="1325880"/>
            <a:ext cx="2113178" cy="2240280"/>
          </a:xfrm>
          <a:prstGeom prst="roundRect">
            <a:avLst>
              <a:gd name="adj" fmla="val 6058"/>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17" name="pill"/>
          <p:cNvSpPr/>
          <p:nvPr/>
        </p:nvSpPr>
        <p:spPr>
          <a:xfrm>
            <a:off x="7434986" y="1527048"/>
            <a:ext cx="384048" cy="384048"/>
          </a:xfrm>
          <a:prstGeom prst="roundRect">
            <a:avLst>
              <a:gd name="adj" fmla="val 50000"/>
            </a:avLst>
          </a:prstGeom>
          <a:solidFill>
            <a:srgbClr val="91BE62"/>
          </a:solidFill>
          <a:ln w="3175">
            <a:solidFill>
              <a:srgbClr val="91BE62"/>
            </a:solidFill>
            <a:prstDash val="solid"/>
          </a:ln>
        </p:spPr>
      </p:sp>
      <p:sp>
        <p:nvSpPr>
          <p:cNvPr id="18" name="pill label"/>
          <p:cNvSpPr txBox="1"/>
          <p:nvPr/>
        </p:nvSpPr>
        <p:spPr>
          <a:xfrm>
            <a:off x="7434986" y="1527048"/>
            <a:ext cx="384048" cy="384048"/>
          </a:xfrm>
          <a:prstGeom prst="rect">
            <a:avLst/>
          </a:prstGeom>
          <a:noFill/>
          <a:ln/>
        </p:spPr>
        <p:txBody>
          <a:bodyPr wrap="square" lIns="0" tIns="0" rIns="0" bIns="0" rtlCol="0" anchor="ctr"/>
          <a:lstStyle/>
          <a:p>
            <a:pPr algn="ctr" indent="0" marL="0">
              <a:buNone/>
            </a:pPr>
            <a:r>
              <a:rPr lang="en-US" sz="1300" b="1" dirty="0">
                <a:solidFill>
                  <a:srgbClr val="00274A"/>
                </a:solidFill>
              </a:rPr>
              <a:t>2</a:t>
            </a:r>
            <a:endParaRPr lang="en-US" sz="1300" dirty="0"/>
          </a:p>
        </p:txBody>
      </p:sp>
      <p:sp>
        <p:nvSpPr>
          <p:cNvPr id="19" name="icon circle"/>
          <p:cNvSpPr/>
          <p:nvPr/>
        </p:nvSpPr>
        <p:spPr>
          <a:xfrm>
            <a:off x="8569757" y="1508760"/>
            <a:ext cx="566928" cy="566928"/>
          </a:xfrm>
          <a:prstGeom prst="ellipse">
            <a:avLst/>
          </a:prstGeom>
          <a:solidFill>
            <a:srgbClr val="F0F7FD"/>
          </a:solidFill>
          <a:ln w="3175">
            <a:solidFill>
              <a:srgbClr val="F0F7FD"/>
            </a:solidFill>
            <a:prstDash val="solid"/>
          </a:ln>
        </p:spPr>
      </p:sp>
      <p:pic>
        <p:nvPicPr>
          <p:cNvPr id="20" name="icon FaSitemap" descr="preencoded.png">    </p:cNvPr>
          <p:cNvPicPr>
            <a:picLocks noChangeAspect="1"/>
          </p:cNvPicPr>
          <p:nvPr/>
        </p:nvPicPr>
        <p:blipFill>
          <a:blip r:embed="rId2"/>
          <a:stretch>
            <a:fillRect/>
          </a:stretch>
        </p:blipFill>
        <p:spPr>
          <a:xfrm>
            <a:off x="8711489" y="1650492"/>
            <a:ext cx="283464" cy="283464"/>
          </a:xfrm>
          <a:prstGeom prst="rect">
            <a:avLst/>
          </a:prstGeom>
        </p:spPr>
      </p:pic>
      <p:sp>
        <p:nvSpPr>
          <p:cNvPr id="21" name="text"/>
          <p:cNvSpPr txBox="1"/>
          <p:nvPr/>
        </p:nvSpPr>
        <p:spPr>
          <a:xfrm>
            <a:off x="7434986" y="2075688"/>
            <a:ext cx="1710842" cy="594360"/>
          </a:xfrm>
          <a:prstGeom prst="rect">
            <a:avLst/>
          </a:prstGeom>
          <a:noFill/>
          <a:ln/>
        </p:spPr>
        <p:txBody>
          <a:bodyPr wrap="square" lIns="0" tIns="0" rIns="0" bIns="0" rtlCol="0" anchor="t"/>
          <a:lstStyle/>
          <a:p>
            <a:pPr algn="l" indent="0" marL="0">
              <a:buNone/>
            </a:pPr>
            <a:r>
              <a:rPr lang="en-US" sz="1350" b="1" dirty="0">
                <a:solidFill>
                  <a:srgbClr val="00274A"/>
                </a:solidFill>
              </a:rPr>
              <a:t>Bill of material (spesifikasi)</a:t>
            </a:r>
            <a:endParaRPr lang="en-US" sz="1350" dirty="0"/>
          </a:p>
        </p:txBody>
      </p:sp>
      <p:sp>
        <p:nvSpPr>
          <p:cNvPr id="22" name="text"/>
          <p:cNvSpPr txBox="1"/>
          <p:nvPr/>
        </p:nvSpPr>
        <p:spPr>
          <a:xfrm>
            <a:off x="7434986" y="2697480"/>
            <a:ext cx="1710842" cy="822960"/>
          </a:xfrm>
          <a:prstGeom prst="rect">
            <a:avLst/>
          </a:prstGeom>
          <a:noFill/>
          <a:ln/>
        </p:spPr>
        <p:txBody>
          <a:bodyPr wrap="square" lIns="0" tIns="0" rIns="0" bIns="0" rtlCol="0" anchor="t"/>
          <a:lstStyle/>
          <a:p>
            <a:pPr algn="l" indent="0" marL="0">
              <a:buNone/>
            </a:pPr>
            <a:r>
              <a:rPr lang="en-US" sz="1150" dirty="0">
                <a:solidFill>
                  <a:srgbClr val="00274A"/>
                </a:solidFill>
              </a:rPr>
              <a:t>Struktur produk, komponen, dan kuantitas per induk.</a:t>
            </a:r>
            <a:endParaRPr lang="en-US" sz="1150" dirty="0"/>
          </a:p>
        </p:txBody>
      </p:sp>
      <p:sp>
        <p:nvSpPr>
          <p:cNvPr id="23" name="card"/>
          <p:cNvSpPr/>
          <p:nvPr/>
        </p:nvSpPr>
        <p:spPr>
          <a:xfrm>
            <a:off x="9529877" y="1325880"/>
            <a:ext cx="2113178" cy="2240280"/>
          </a:xfrm>
          <a:prstGeom prst="roundRect">
            <a:avLst>
              <a:gd name="adj" fmla="val 6058"/>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24" name="pill"/>
          <p:cNvSpPr/>
          <p:nvPr/>
        </p:nvSpPr>
        <p:spPr>
          <a:xfrm>
            <a:off x="9731045" y="1527048"/>
            <a:ext cx="384048" cy="384048"/>
          </a:xfrm>
          <a:prstGeom prst="roundRect">
            <a:avLst>
              <a:gd name="adj" fmla="val 50000"/>
            </a:avLst>
          </a:prstGeom>
          <a:solidFill>
            <a:srgbClr val="91BE62"/>
          </a:solidFill>
          <a:ln w="3175">
            <a:solidFill>
              <a:srgbClr val="91BE62"/>
            </a:solidFill>
            <a:prstDash val="solid"/>
          </a:ln>
        </p:spPr>
      </p:sp>
      <p:sp>
        <p:nvSpPr>
          <p:cNvPr id="25" name="pill label"/>
          <p:cNvSpPr txBox="1"/>
          <p:nvPr/>
        </p:nvSpPr>
        <p:spPr>
          <a:xfrm>
            <a:off x="9731045" y="1527048"/>
            <a:ext cx="384048" cy="384048"/>
          </a:xfrm>
          <a:prstGeom prst="rect">
            <a:avLst/>
          </a:prstGeom>
          <a:noFill/>
          <a:ln/>
        </p:spPr>
        <p:txBody>
          <a:bodyPr wrap="square" lIns="0" tIns="0" rIns="0" bIns="0" rtlCol="0" anchor="ctr"/>
          <a:lstStyle/>
          <a:p>
            <a:pPr algn="ctr" indent="0" marL="0">
              <a:buNone/>
            </a:pPr>
            <a:r>
              <a:rPr lang="en-US" sz="1300" b="1" dirty="0">
                <a:solidFill>
                  <a:srgbClr val="00274A"/>
                </a:solidFill>
              </a:rPr>
              <a:t>3</a:t>
            </a:r>
            <a:endParaRPr lang="en-US" sz="1300" dirty="0"/>
          </a:p>
        </p:txBody>
      </p:sp>
      <p:sp>
        <p:nvSpPr>
          <p:cNvPr id="26" name="icon circle"/>
          <p:cNvSpPr/>
          <p:nvPr/>
        </p:nvSpPr>
        <p:spPr>
          <a:xfrm>
            <a:off x="10865815" y="1508760"/>
            <a:ext cx="566928" cy="566928"/>
          </a:xfrm>
          <a:prstGeom prst="ellipse">
            <a:avLst/>
          </a:prstGeom>
          <a:solidFill>
            <a:srgbClr val="F0F7FD"/>
          </a:solidFill>
          <a:ln w="3175">
            <a:solidFill>
              <a:srgbClr val="F0F7FD"/>
            </a:solidFill>
            <a:prstDash val="solid"/>
          </a:ln>
        </p:spPr>
      </p:sp>
      <p:pic>
        <p:nvPicPr>
          <p:cNvPr id="27" name="icon FaBoxes" descr="preencoded.png">    </p:cNvPr>
          <p:cNvPicPr>
            <a:picLocks noChangeAspect="1"/>
          </p:cNvPicPr>
          <p:nvPr/>
        </p:nvPicPr>
        <p:blipFill>
          <a:blip r:embed="rId3"/>
          <a:stretch>
            <a:fillRect/>
          </a:stretch>
        </p:blipFill>
        <p:spPr>
          <a:xfrm>
            <a:off x="11007547" y="1650492"/>
            <a:ext cx="283464" cy="283464"/>
          </a:xfrm>
          <a:prstGeom prst="rect">
            <a:avLst/>
          </a:prstGeom>
        </p:spPr>
      </p:pic>
      <p:sp>
        <p:nvSpPr>
          <p:cNvPr id="28" name="text"/>
          <p:cNvSpPr txBox="1"/>
          <p:nvPr/>
        </p:nvSpPr>
        <p:spPr>
          <a:xfrm>
            <a:off x="9731045" y="2075688"/>
            <a:ext cx="1710842" cy="594360"/>
          </a:xfrm>
          <a:prstGeom prst="rect">
            <a:avLst/>
          </a:prstGeom>
          <a:noFill/>
          <a:ln/>
        </p:spPr>
        <p:txBody>
          <a:bodyPr wrap="square" lIns="0" tIns="0" rIns="0" bIns="0" rtlCol="0" anchor="t"/>
          <a:lstStyle/>
          <a:p>
            <a:pPr algn="l" indent="0" marL="0">
              <a:buNone/>
            </a:pPr>
            <a:r>
              <a:rPr lang="en-US" sz="1350" b="1" dirty="0">
                <a:solidFill>
                  <a:srgbClr val="00274A"/>
                </a:solidFill>
              </a:rPr>
              <a:t>Ketersediaan persediaan</a:t>
            </a:r>
            <a:endParaRPr lang="en-US" sz="1350" dirty="0"/>
          </a:p>
        </p:txBody>
      </p:sp>
      <p:sp>
        <p:nvSpPr>
          <p:cNvPr id="29" name="text"/>
          <p:cNvSpPr txBox="1"/>
          <p:nvPr/>
        </p:nvSpPr>
        <p:spPr>
          <a:xfrm>
            <a:off x="9731045" y="2697480"/>
            <a:ext cx="1710842" cy="822960"/>
          </a:xfrm>
          <a:prstGeom prst="rect">
            <a:avLst/>
          </a:prstGeom>
          <a:noFill/>
          <a:ln/>
        </p:spPr>
        <p:txBody>
          <a:bodyPr wrap="square" lIns="0" tIns="0" rIns="0" bIns="0" rtlCol="0" anchor="t"/>
          <a:lstStyle/>
          <a:p>
            <a:pPr algn="l" indent="0" marL="0">
              <a:buNone/>
            </a:pPr>
            <a:r>
              <a:rPr lang="en-US" sz="1150" dirty="0">
                <a:solidFill>
                  <a:srgbClr val="00274A"/>
                </a:solidFill>
              </a:rPr>
              <a:t>Catatan </a:t>
            </a:r>
            <a:r>
              <a:rPr lang="en-US" sz="1150" i="1" dirty="0">
                <a:solidFill>
                  <a:srgbClr val="00274A"/>
                </a:solidFill>
              </a:rPr>
              <a:t>on-hand</a:t>
            </a:r>
            <a:r>
              <a:rPr lang="en-US" sz="1150" dirty="0">
                <a:solidFill>
                  <a:srgbClr val="00274A"/>
                </a:solidFill>
              </a:rPr>
              <a:t> yang akurat untuk setiap item.</a:t>
            </a:r>
            <a:endParaRPr lang="en-US" sz="1150" dirty="0"/>
          </a:p>
        </p:txBody>
      </p:sp>
      <p:sp>
        <p:nvSpPr>
          <p:cNvPr id="30" name="card"/>
          <p:cNvSpPr/>
          <p:nvPr/>
        </p:nvSpPr>
        <p:spPr>
          <a:xfrm>
            <a:off x="4937760" y="3749040"/>
            <a:ext cx="2113178" cy="2240280"/>
          </a:xfrm>
          <a:prstGeom prst="roundRect">
            <a:avLst>
              <a:gd name="adj" fmla="val 6058"/>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31" name="pill"/>
          <p:cNvSpPr/>
          <p:nvPr/>
        </p:nvSpPr>
        <p:spPr>
          <a:xfrm>
            <a:off x="5138928" y="3950208"/>
            <a:ext cx="384048" cy="384048"/>
          </a:xfrm>
          <a:prstGeom prst="roundRect">
            <a:avLst>
              <a:gd name="adj" fmla="val 50000"/>
            </a:avLst>
          </a:prstGeom>
          <a:solidFill>
            <a:srgbClr val="91BE62"/>
          </a:solidFill>
          <a:ln w="3175">
            <a:solidFill>
              <a:srgbClr val="91BE62"/>
            </a:solidFill>
            <a:prstDash val="solid"/>
          </a:ln>
        </p:spPr>
      </p:sp>
      <p:sp>
        <p:nvSpPr>
          <p:cNvPr id="32" name="pill label"/>
          <p:cNvSpPr txBox="1"/>
          <p:nvPr/>
        </p:nvSpPr>
        <p:spPr>
          <a:xfrm>
            <a:off x="5138928" y="3950208"/>
            <a:ext cx="384048" cy="384048"/>
          </a:xfrm>
          <a:prstGeom prst="rect">
            <a:avLst/>
          </a:prstGeom>
          <a:noFill/>
          <a:ln/>
        </p:spPr>
        <p:txBody>
          <a:bodyPr wrap="square" lIns="0" tIns="0" rIns="0" bIns="0" rtlCol="0" anchor="ctr"/>
          <a:lstStyle/>
          <a:p>
            <a:pPr algn="ctr" indent="0" marL="0">
              <a:buNone/>
            </a:pPr>
            <a:r>
              <a:rPr lang="en-US" sz="1300" b="1" dirty="0">
                <a:solidFill>
                  <a:srgbClr val="00274A"/>
                </a:solidFill>
              </a:rPr>
              <a:t>4</a:t>
            </a:r>
            <a:endParaRPr lang="en-US" sz="1300" dirty="0"/>
          </a:p>
        </p:txBody>
      </p:sp>
      <p:sp>
        <p:nvSpPr>
          <p:cNvPr id="33" name="icon circle"/>
          <p:cNvSpPr/>
          <p:nvPr/>
        </p:nvSpPr>
        <p:spPr>
          <a:xfrm>
            <a:off x="6273698" y="3931920"/>
            <a:ext cx="566928" cy="566928"/>
          </a:xfrm>
          <a:prstGeom prst="ellipse">
            <a:avLst/>
          </a:prstGeom>
          <a:solidFill>
            <a:srgbClr val="F0F7FD"/>
          </a:solidFill>
          <a:ln w="3175">
            <a:solidFill>
              <a:srgbClr val="F0F7FD"/>
            </a:solidFill>
            <a:prstDash val="solid"/>
          </a:ln>
        </p:spPr>
      </p:sp>
      <p:pic>
        <p:nvPicPr>
          <p:cNvPr id="34" name="icon FaFileInvoice" descr="preencoded.png">    </p:cNvPr>
          <p:cNvPicPr>
            <a:picLocks noChangeAspect="1"/>
          </p:cNvPicPr>
          <p:nvPr/>
        </p:nvPicPr>
        <p:blipFill>
          <a:blip r:embed="rId4"/>
          <a:stretch>
            <a:fillRect/>
          </a:stretch>
        </p:blipFill>
        <p:spPr>
          <a:xfrm>
            <a:off x="6415430" y="4073652"/>
            <a:ext cx="283464" cy="283464"/>
          </a:xfrm>
          <a:prstGeom prst="rect">
            <a:avLst/>
          </a:prstGeom>
        </p:spPr>
      </p:pic>
      <p:sp>
        <p:nvSpPr>
          <p:cNvPr id="35" name="text"/>
          <p:cNvSpPr txBox="1"/>
          <p:nvPr/>
        </p:nvSpPr>
        <p:spPr>
          <a:xfrm>
            <a:off x="5138928" y="4498848"/>
            <a:ext cx="1710842" cy="594360"/>
          </a:xfrm>
          <a:prstGeom prst="rect">
            <a:avLst/>
          </a:prstGeom>
          <a:noFill/>
          <a:ln/>
        </p:spPr>
        <p:txBody>
          <a:bodyPr wrap="square" lIns="0" tIns="0" rIns="0" bIns="0" rtlCol="0" anchor="t"/>
          <a:lstStyle/>
          <a:p>
            <a:pPr algn="l" indent="0" marL="0">
              <a:buNone/>
            </a:pPr>
            <a:r>
              <a:rPr lang="en-US" sz="1350" b="1" dirty="0">
                <a:solidFill>
                  <a:srgbClr val="00274A"/>
                </a:solidFill>
              </a:rPr>
              <a:t>Purchase orders outstanding</a:t>
            </a:r>
            <a:endParaRPr lang="en-US" sz="1350" dirty="0"/>
          </a:p>
        </p:txBody>
      </p:sp>
      <p:sp>
        <p:nvSpPr>
          <p:cNvPr id="36" name="text"/>
          <p:cNvSpPr txBox="1"/>
          <p:nvPr/>
        </p:nvSpPr>
        <p:spPr>
          <a:xfrm>
            <a:off x="5138928" y="5120640"/>
            <a:ext cx="1710842" cy="822960"/>
          </a:xfrm>
          <a:prstGeom prst="rect">
            <a:avLst/>
          </a:prstGeom>
          <a:noFill/>
          <a:ln/>
        </p:spPr>
        <p:txBody>
          <a:bodyPr wrap="square" lIns="0" tIns="0" rIns="0" bIns="0" rtlCol="0" anchor="t"/>
          <a:lstStyle/>
          <a:p>
            <a:pPr algn="l" indent="0" marL="0">
              <a:buNone/>
            </a:pPr>
            <a:r>
              <a:rPr lang="en-US" sz="1150" dirty="0">
                <a:solidFill>
                  <a:srgbClr val="00274A"/>
                </a:solidFill>
              </a:rPr>
              <a:t>Penerimaan terjadwal (</a:t>
            </a:r>
            <a:r>
              <a:rPr lang="en-US" sz="1150" i="1" dirty="0">
                <a:solidFill>
                  <a:srgbClr val="00274A"/>
                </a:solidFill>
              </a:rPr>
              <a:t>scheduled receipts</a:t>
            </a:r>
            <a:r>
              <a:rPr lang="en-US" sz="1150" dirty="0">
                <a:solidFill>
                  <a:srgbClr val="00274A"/>
                </a:solidFill>
              </a:rPr>
              <a:t>) yang masih berjalan.</a:t>
            </a:r>
            <a:endParaRPr lang="en-US" sz="1150" dirty="0"/>
          </a:p>
        </p:txBody>
      </p:sp>
      <p:sp>
        <p:nvSpPr>
          <p:cNvPr id="37" name="card"/>
          <p:cNvSpPr/>
          <p:nvPr/>
        </p:nvSpPr>
        <p:spPr>
          <a:xfrm>
            <a:off x="7233818" y="3749040"/>
            <a:ext cx="2113178" cy="2240280"/>
          </a:xfrm>
          <a:prstGeom prst="roundRect">
            <a:avLst>
              <a:gd name="adj" fmla="val 6058"/>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38" name="pill"/>
          <p:cNvSpPr/>
          <p:nvPr/>
        </p:nvSpPr>
        <p:spPr>
          <a:xfrm>
            <a:off x="7434986" y="3950208"/>
            <a:ext cx="384048" cy="384048"/>
          </a:xfrm>
          <a:prstGeom prst="roundRect">
            <a:avLst>
              <a:gd name="adj" fmla="val 50000"/>
            </a:avLst>
          </a:prstGeom>
          <a:solidFill>
            <a:srgbClr val="91BE62"/>
          </a:solidFill>
          <a:ln w="3175">
            <a:solidFill>
              <a:srgbClr val="91BE62"/>
            </a:solidFill>
            <a:prstDash val="solid"/>
          </a:ln>
        </p:spPr>
      </p:sp>
      <p:sp>
        <p:nvSpPr>
          <p:cNvPr id="39" name="pill label"/>
          <p:cNvSpPr txBox="1"/>
          <p:nvPr/>
        </p:nvSpPr>
        <p:spPr>
          <a:xfrm>
            <a:off x="7434986" y="3950208"/>
            <a:ext cx="384048" cy="384048"/>
          </a:xfrm>
          <a:prstGeom prst="rect">
            <a:avLst/>
          </a:prstGeom>
          <a:noFill/>
          <a:ln/>
        </p:spPr>
        <p:txBody>
          <a:bodyPr wrap="square" lIns="0" tIns="0" rIns="0" bIns="0" rtlCol="0" anchor="ctr"/>
          <a:lstStyle/>
          <a:p>
            <a:pPr algn="ctr" indent="0" marL="0">
              <a:buNone/>
            </a:pPr>
            <a:r>
              <a:rPr lang="en-US" sz="1300" b="1" dirty="0">
                <a:solidFill>
                  <a:srgbClr val="00274A"/>
                </a:solidFill>
              </a:rPr>
              <a:t>5</a:t>
            </a:r>
            <a:endParaRPr lang="en-US" sz="1300" dirty="0"/>
          </a:p>
        </p:txBody>
      </p:sp>
      <p:sp>
        <p:nvSpPr>
          <p:cNvPr id="40" name="icon circle"/>
          <p:cNvSpPr/>
          <p:nvPr/>
        </p:nvSpPr>
        <p:spPr>
          <a:xfrm>
            <a:off x="8569757" y="3931920"/>
            <a:ext cx="566928" cy="566928"/>
          </a:xfrm>
          <a:prstGeom prst="ellipse">
            <a:avLst/>
          </a:prstGeom>
          <a:solidFill>
            <a:srgbClr val="F0F7FD"/>
          </a:solidFill>
          <a:ln w="3175">
            <a:solidFill>
              <a:srgbClr val="F0F7FD"/>
            </a:solidFill>
            <a:prstDash val="solid"/>
          </a:ln>
        </p:spPr>
      </p:sp>
      <p:pic>
        <p:nvPicPr>
          <p:cNvPr id="41" name="icon FaHourglassHalf" descr="preencoded.png">    </p:cNvPr>
          <p:cNvPicPr>
            <a:picLocks noChangeAspect="1"/>
          </p:cNvPicPr>
          <p:nvPr/>
        </p:nvPicPr>
        <p:blipFill>
          <a:blip r:embed="rId5"/>
          <a:stretch>
            <a:fillRect/>
          </a:stretch>
        </p:blipFill>
        <p:spPr>
          <a:xfrm>
            <a:off x="8711489" y="4073652"/>
            <a:ext cx="283464" cy="283464"/>
          </a:xfrm>
          <a:prstGeom prst="rect">
            <a:avLst/>
          </a:prstGeom>
        </p:spPr>
      </p:pic>
      <p:sp>
        <p:nvSpPr>
          <p:cNvPr id="42" name="text"/>
          <p:cNvSpPr txBox="1"/>
          <p:nvPr/>
        </p:nvSpPr>
        <p:spPr>
          <a:xfrm>
            <a:off x="7434986" y="4498848"/>
            <a:ext cx="1710842" cy="594360"/>
          </a:xfrm>
          <a:prstGeom prst="rect">
            <a:avLst/>
          </a:prstGeom>
          <a:noFill/>
          <a:ln/>
        </p:spPr>
        <p:txBody>
          <a:bodyPr wrap="square" lIns="0" tIns="0" rIns="0" bIns="0" rtlCol="0" anchor="t"/>
          <a:lstStyle/>
          <a:p>
            <a:pPr algn="l" indent="0" marL="0">
              <a:buNone/>
            </a:pPr>
            <a:r>
              <a:rPr lang="en-US" sz="1350" b="1" dirty="0">
                <a:solidFill>
                  <a:srgbClr val="00274A"/>
                </a:solidFill>
              </a:rPr>
              <a:t>Lead time</a:t>
            </a:r>
            <a:endParaRPr lang="en-US" sz="1350" dirty="0"/>
          </a:p>
        </p:txBody>
      </p:sp>
      <p:sp>
        <p:nvSpPr>
          <p:cNvPr id="43" name="text"/>
          <p:cNvSpPr txBox="1"/>
          <p:nvPr/>
        </p:nvSpPr>
        <p:spPr>
          <a:xfrm>
            <a:off x="7434986" y="5120640"/>
            <a:ext cx="1710842" cy="822960"/>
          </a:xfrm>
          <a:prstGeom prst="rect">
            <a:avLst/>
          </a:prstGeom>
          <a:noFill/>
          <a:ln/>
        </p:spPr>
        <p:txBody>
          <a:bodyPr wrap="square" lIns="0" tIns="0" rIns="0" bIns="0" rtlCol="0" anchor="t"/>
          <a:lstStyle/>
          <a:p>
            <a:pPr algn="l" indent="0" marL="0">
              <a:buNone/>
            </a:pPr>
            <a:r>
              <a:rPr lang="en-US" sz="1150" dirty="0">
                <a:solidFill>
                  <a:srgbClr val="00274A"/>
                </a:solidFill>
              </a:rPr>
              <a:t>Waktu pengadaan atau produksi setiap item untuk </a:t>
            </a:r>
            <a:r>
              <a:rPr lang="en-US" sz="1150" i="1" dirty="0">
                <a:solidFill>
                  <a:srgbClr val="00274A"/>
                </a:solidFill>
              </a:rPr>
              <a:t>offsetting</a:t>
            </a:r>
            <a:r>
              <a:rPr lang="en-US" sz="1150" dirty="0">
                <a:solidFill>
                  <a:srgbClr val="00274A"/>
                </a:solidFill>
              </a:rPr>
              <a:t>.</a:t>
            </a:r>
            <a:endParaRPr lang="en-US" sz="1150" dirty="0"/>
          </a:p>
        </p:txBody>
      </p:sp>
      <p:sp>
        <p:nvSpPr>
          <p:cNvPr id="44" name="card"/>
          <p:cNvSpPr/>
          <p:nvPr/>
        </p:nvSpPr>
        <p:spPr>
          <a:xfrm>
            <a:off x="9529877" y="3749040"/>
            <a:ext cx="2113178" cy="2240280"/>
          </a:xfrm>
          <a:prstGeom prst="roundRect">
            <a:avLst>
              <a:gd name="adj" fmla="val 6058"/>
            </a:avLst>
          </a:prstGeom>
          <a:solidFill>
            <a:srgbClr val="00274A"/>
          </a:solidFill>
          <a:ln w="3175">
            <a:solidFill>
              <a:srgbClr val="00274A"/>
            </a:solidFill>
            <a:prstDash val="solid"/>
          </a:ln>
        </p:spPr>
      </p:sp>
      <p:sp>
        <p:nvSpPr>
          <p:cNvPr id="45" name="text"/>
          <p:cNvSpPr txBox="1"/>
          <p:nvPr/>
        </p:nvSpPr>
        <p:spPr>
          <a:xfrm>
            <a:off x="9731045" y="3977640"/>
            <a:ext cx="1710842" cy="365760"/>
          </a:xfrm>
          <a:prstGeom prst="rect">
            <a:avLst/>
          </a:prstGeom>
          <a:noFill/>
          <a:ln/>
        </p:spPr>
        <p:txBody>
          <a:bodyPr wrap="square" lIns="0" tIns="0" rIns="0" bIns="0" rtlCol="0" anchor="t"/>
          <a:lstStyle/>
          <a:p>
            <a:pPr algn="l" indent="0" marL="0">
              <a:buNone/>
            </a:pPr>
            <a:r>
              <a:rPr lang="en-US" sz="1350" b="1" dirty="0">
                <a:solidFill>
                  <a:srgbClr val="00CFF0"/>
                </a:solidFill>
              </a:rPr>
              <a:t>Keluaran MRP</a:t>
            </a:r>
            <a:endParaRPr lang="en-US" sz="1350" dirty="0"/>
          </a:p>
        </p:txBody>
      </p:sp>
      <p:sp>
        <p:nvSpPr>
          <p:cNvPr id="46" name="text"/>
          <p:cNvSpPr txBox="1"/>
          <p:nvPr/>
        </p:nvSpPr>
        <p:spPr>
          <a:xfrm>
            <a:off x="9731045" y="4389120"/>
            <a:ext cx="1710842" cy="1554480"/>
          </a:xfrm>
          <a:prstGeom prst="rect">
            <a:avLst/>
          </a:prstGeom>
          <a:noFill/>
          <a:ln/>
        </p:spPr>
        <p:txBody>
          <a:bodyPr wrap="square" lIns="0" tIns="0" rIns="0" bIns="0" rtlCol="0" anchor="t"/>
          <a:lstStyle/>
          <a:p>
            <a:pPr algn="l" indent="0" marL="0">
              <a:buNone/>
            </a:pPr>
            <a:r>
              <a:rPr lang="en-US" sz="1150" dirty="0">
                <a:solidFill>
                  <a:srgbClr val="FFFFFF"/>
                </a:solidFill>
              </a:rPr>
              <a:t>Jadwal pesanan terencana (</a:t>
            </a:r>
            <a:r>
              <a:rPr lang="en-US" sz="1150" i="1" dirty="0">
                <a:solidFill>
                  <a:srgbClr val="FFFFFF"/>
                </a:solidFill>
              </a:rPr>
              <a:t>planned order releases</a:t>
            </a:r>
            <a:r>
              <a:rPr lang="en-US" sz="1150" dirty="0">
                <a:solidFill>
                  <a:srgbClr val="FFFFFF"/>
                </a:solidFill>
              </a:rPr>
              <a:t>), perubahan pesanan, laporan pengecualian, dan laporan perencanaan: dasar bagi pembelian dan penjadwalan produksi.</a:t>
            </a:r>
            <a:endParaRPr lang="en-US" sz="1150" dirty="0"/>
          </a:p>
        </p:txBody>
      </p:sp>
      <p:sp>
        <p:nvSpPr>
          <p:cNvPr id="25" name="Slide Number Placeholder 0"/>
          <p:cNvSpPr>
            <a:spLocks noGrp="1"/>
          </p:cNvSpPr>
          <p:nvPr>
            <p:ph type="sldNum" sz="quarter" idx="4294967295"/>
          </p:nvPr>
        </p:nvSpPr>
        <p:spPr>
          <a:xfrm>
            <a:off x="11064240" y="6428232"/>
            <a:ext cx="576072"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01426A"/>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000" b="1" dirty="0">
                <a:solidFill>
                  <a:srgbClr val="00274A"/>
                </a:solidFill>
              </a:rPr>
              <a:t>Struktur MRP dan Logika Gross-to-Net: Ilustrasi Suku Cadang</a:t>
            </a:r>
            <a:endParaRPr lang="en-US" sz="3000" dirty="0"/>
          </a:p>
        </p:txBody>
      </p:sp>
      <p:sp>
        <p:nvSpPr>
          <p:cNvPr id="4" name="card"/>
          <p:cNvSpPr/>
          <p:nvPr/>
        </p:nvSpPr>
        <p:spPr>
          <a:xfrm>
            <a:off x="548640" y="1325880"/>
            <a:ext cx="3423818" cy="960120"/>
          </a:xfrm>
          <a:prstGeom prst="roundRect">
            <a:avLst>
              <a:gd name="adj" fmla="val 13333"/>
            </a:avLst>
          </a:prstGeom>
          <a:solidFill>
            <a:srgbClr val="F0F7FD"/>
          </a:solidFill>
          <a:ln w="3175">
            <a:solidFill>
              <a:srgbClr val="F0F7FD"/>
            </a:solidFill>
            <a:prstDash val="solid"/>
          </a:ln>
        </p:spPr>
      </p:sp>
      <p:sp>
        <p:nvSpPr>
          <p:cNvPr id="5" name="text"/>
          <p:cNvSpPr txBox="1"/>
          <p:nvPr/>
        </p:nvSpPr>
        <p:spPr>
          <a:xfrm>
            <a:off x="777240" y="1389888"/>
            <a:ext cx="2966618" cy="320040"/>
          </a:xfrm>
          <a:prstGeom prst="rect">
            <a:avLst/>
          </a:prstGeom>
          <a:noFill/>
          <a:ln/>
        </p:spPr>
        <p:txBody>
          <a:bodyPr wrap="square" lIns="0" tIns="0" rIns="0" bIns="0" rtlCol="0" anchor="t"/>
          <a:lstStyle/>
          <a:p>
            <a:pPr algn="l" indent="0" marL="0">
              <a:buNone/>
            </a:pPr>
            <a:r>
              <a:rPr lang="en-US" sz="1300" b="1" dirty="0">
                <a:solidFill>
                  <a:srgbClr val="00274A"/>
                </a:solidFill>
              </a:rPr>
              <a:t>Input</a:t>
            </a:r>
            <a:endParaRPr lang="en-US" sz="1300" dirty="0"/>
          </a:p>
        </p:txBody>
      </p:sp>
      <p:sp>
        <p:nvSpPr>
          <p:cNvPr id="6" name="text"/>
          <p:cNvSpPr txBox="1"/>
          <p:nvPr/>
        </p:nvSpPr>
        <p:spPr>
          <a:xfrm>
            <a:off x="777240" y="1709928"/>
            <a:ext cx="2966618" cy="548640"/>
          </a:xfrm>
          <a:prstGeom prst="rect">
            <a:avLst/>
          </a:prstGeom>
          <a:noFill/>
          <a:ln/>
        </p:spPr>
        <p:txBody>
          <a:bodyPr wrap="square" lIns="0" tIns="0" rIns="0" bIns="0" rtlCol="0" anchor="t"/>
          <a:lstStyle/>
          <a:p>
            <a:pPr algn="l" indent="0" marL="0">
              <a:buNone/>
            </a:pPr>
            <a:r>
              <a:rPr lang="en-US" sz="1150" dirty="0">
                <a:solidFill>
                  <a:srgbClr val="00274A"/>
                </a:solidFill>
              </a:rPr>
              <a:t>MPS, </a:t>
            </a:r>
            <a:r>
              <a:rPr lang="en-US" sz="1150" i="1" dirty="0">
                <a:solidFill>
                  <a:srgbClr val="00274A"/>
                </a:solidFill>
              </a:rPr>
              <a:t>bill of material</a:t>
            </a:r>
            <a:r>
              <a:rPr lang="en-US" sz="1150" dirty="0">
                <a:solidFill>
                  <a:srgbClr val="00274A"/>
                </a:solidFill>
              </a:rPr>
              <a:t>, catatan persediaan, </a:t>
            </a:r>
            <a:r>
              <a:rPr lang="en-US" sz="1150" i="1" dirty="0">
                <a:solidFill>
                  <a:srgbClr val="00274A"/>
                </a:solidFill>
              </a:rPr>
              <a:t>lead time</a:t>
            </a:r>
            <a:r>
              <a:rPr lang="en-US" sz="1150" dirty="0">
                <a:solidFill>
                  <a:srgbClr val="00274A"/>
                </a:solidFill>
              </a:rPr>
              <a:t>, </a:t>
            </a:r>
            <a:r>
              <a:rPr lang="en-US" sz="1150" i="1" dirty="0">
                <a:solidFill>
                  <a:srgbClr val="00274A"/>
                </a:solidFill>
              </a:rPr>
              <a:t>purchase orders outstanding</a:t>
            </a:r>
            <a:endParaRPr lang="en-US" sz="1150" dirty="0"/>
          </a:p>
        </p:txBody>
      </p:sp>
      <p:sp>
        <p:nvSpPr>
          <p:cNvPr id="7" name="arrow"/>
          <p:cNvSpPr/>
          <p:nvPr/>
        </p:nvSpPr>
        <p:spPr>
          <a:xfrm>
            <a:off x="4045610" y="1664208"/>
            <a:ext cx="274320" cy="292608"/>
          </a:xfrm>
          <a:prstGeom prst="rightArrow">
            <a:avLst/>
          </a:prstGeom>
          <a:solidFill>
            <a:srgbClr val="0074C8"/>
          </a:solidFill>
          <a:ln w="3175">
            <a:solidFill>
              <a:srgbClr val="0074C8"/>
            </a:solidFill>
            <a:prstDash val="solid"/>
          </a:ln>
        </p:spPr>
      </p:sp>
      <p:sp>
        <p:nvSpPr>
          <p:cNvPr id="8" name="card"/>
          <p:cNvSpPr/>
          <p:nvPr/>
        </p:nvSpPr>
        <p:spPr>
          <a:xfrm>
            <a:off x="4383938" y="1325880"/>
            <a:ext cx="3423818" cy="960120"/>
          </a:xfrm>
          <a:prstGeom prst="roundRect">
            <a:avLst>
              <a:gd name="adj" fmla="val 13333"/>
            </a:avLst>
          </a:prstGeom>
          <a:solidFill>
            <a:srgbClr val="00274A"/>
          </a:solidFill>
          <a:ln w="3175">
            <a:solidFill>
              <a:srgbClr val="00274A"/>
            </a:solidFill>
            <a:prstDash val="solid"/>
          </a:ln>
        </p:spPr>
      </p:sp>
      <p:sp>
        <p:nvSpPr>
          <p:cNvPr id="9" name="text"/>
          <p:cNvSpPr txBox="1"/>
          <p:nvPr/>
        </p:nvSpPr>
        <p:spPr>
          <a:xfrm>
            <a:off x="4612538" y="1389888"/>
            <a:ext cx="2966618" cy="320040"/>
          </a:xfrm>
          <a:prstGeom prst="rect">
            <a:avLst/>
          </a:prstGeom>
          <a:noFill/>
          <a:ln/>
        </p:spPr>
        <p:txBody>
          <a:bodyPr wrap="square" lIns="0" tIns="0" rIns="0" bIns="0" rtlCol="0" anchor="t"/>
          <a:lstStyle/>
          <a:p>
            <a:pPr algn="l" indent="0" marL="0">
              <a:buNone/>
            </a:pPr>
            <a:r>
              <a:rPr lang="en-US" sz="1300" b="1" dirty="0">
                <a:solidFill>
                  <a:srgbClr val="00CFF0"/>
                </a:solidFill>
              </a:rPr>
              <a:t>Pemrosesan MRP</a:t>
            </a:r>
            <a:endParaRPr lang="en-US" sz="1300" dirty="0"/>
          </a:p>
        </p:txBody>
      </p:sp>
      <p:sp>
        <p:nvSpPr>
          <p:cNvPr id="10" name="text"/>
          <p:cNvSpPr txBox="1"/>
          <p:nvPr/>
        </p:nvSpPr>
        <p:spPr>
          <a:xfrm>
            <a:off x="4612538" y="1709928"/>
            <a:ext cx="2966618" cy="548640"/>
          </a:xfrm>
          <a:prstGeom prst="rect">
            <a:avLst/>
          </a:prstGeom>
          <a:noFill/>
          <a:ln/>
        </p:spPr>
        <p:txBody>
          <a:bodyPr wrap="square" lIns="0" tIns="0" rIns="0" bIns="0" rtlCol="0" anchor="t"/>
          <a:lstStyle/>
          <a:p>
            <a:pPr algn="l" indent="0" marL="0">
              <a:buNone/>
            </a:pPr>
            <a:r>
              <a:rPr lang="en-US" sz="1150" i="1" dirty="0">
                <a:solidFill>
                  <a:srgbClr val="FFFFFF"/>
                </a:solidFill>
              </a:rPr>
              <a:t>Explosion</a:t>
            </a:r>
            <a:r>
              <a:rPr lang="en-US" sz="1150" dirty="0">
                <a:solidFill>
                  <a:srgbClr val="FFFFFF"/>
                </a:solidFill>
              </a:rPr>
              <a:t> BOM, </a:t>
            </a:r>
            <a:r>
              <a:rPr lang="en-US" sz="1150" i="1" dirty="0">
                <a:solidFill>
                  <a:srgbClr val="FFFFFF"/>
                </a:solidFill>
              </a:rPr>
              <a:t>netting</a:t>
            </a:r>
            <a:r>
              <a:rPr lang="en-US" sz="1150" dirty="0">
                <a:solidFill>
                  <a:srgbClr val="FFFFFF"/>
                </a:solidFill>
              </a:rPr>
              <a:t> terhadap persediaan, </a:t>
            </a:r>
            <a:r>
              <a:rPr lang="en-US" sz="1150" i="1" dirty="0">
                <a:solidFill>
                  <a:srgbClr val="FFFFFF"/>
                </a:solidFill>
              </a:rPr>
              <a:t>lead-time offsetting</a:t>
            </a:r>
            <a:r>
              <a:rPr lang="en-US" sz="1150" dirty="0">
                <a:solidFill>
                  <a:srgbClr val="FFFFFF"/>
                </a:solidFill>
              </a:rPr>
              <a:t>, </a:t>
            </a:r>
            <a:r>
              <a:rPr lang="en-US" sz="1150" i="1" dirty="0">
                <a:solidFill>
                  <a:srgbClr val="FFFFFF"/>
                </a:solidFill>
              </a:rPr>
              <a:t>lot sizing</a:t>
            </a:r>
            <a:endParaRPr lang="en-US" sz="1150" dirty="0"/>
          </a:p>
        </p:txBody>
      </p:sp>
      <p:sp>
        <p:nvSpPr>
          <p:cNvPr id="11" name="arrow"/>
          <p:cNvSpPr/>
          <p:nvPr/>
        </p:nvSpPr>
        <p:spPr>
          <a:xfrm>
            <a:off x="7880909" y="1664208"/>
            <a:ext cx="274320" cy="292608"/>
          </a:xfrm>
          <a:prstGeom prst="rightArrow">
            <a:avLst/>
          </a:prstGeom>
          <a:solidFill>
            <a:srgbClr val="0074C8"/>
          </a:solidFill>
          <a:ln w="3175">
            <a:solidFill>
              <a:srgbClr val="0074C8"/>
            </a:solidFill>
            <a:prstDash val="solid"/>
          </a:ln>
        </p:spPr>
      </p:sp>
      <p:sp>
        <p:nvSpPr>
          <p:cNvPr id="12" name="card"/>
          <p:cNvSpPr/>
          <p:nvPr/>
        </p:nvSpPr>
        <p:spPr>
          <a:xfrm>
            <a:off x="8219237" y="1325880"/>
            <a:ext cx="3423818" cy="960120"/>
          </a:xfrm>
          <a:prstGeom prst="roundRect">
            <a:avLst>
              <a:gd name="adj" fmla="val 13333"/>
            </a:avLst>
          </a:prstGeom>
          <a:solidFill>
            <a:srgbClr val="F0F7FD"/>
          </a:solidFill>
          <a:ln w="3175">
            <a:solidFill>
              <a:srgbClr val="F0F7FD"/>
            </a:solidFill>
            <a:prstDash val="solid"/>
          </a:ln>
        </p:spPr>
      </p:sp>
      <p:sp>
        <p:nvSpPr>
          <p:cNvPr id="13" name="text"/>
          <p:cNvSpPr txBox="1"/>
          <p:nvPr/>
        </p:nvSpPr>
        <p:spPr>
          <a:xfrm>
            <a:off x="8447837" y="1389888"/>
            <a:ext cx="2966618" cy="320040"/>
          </a:xfrm>
          <a:prstGeom prst="rect">
            <a:avLst/>
          </a:prstGeom>
          <a:noFill/>
          <a:ln/>
        </p:spPr>
        <p:txBody>
          <a:bodyPr wrap="square" lIns="0" tIns="0" rIns="0" bIns="0" rtlCol="0" anchor="t"/>
          <a:lstStyle/>
          <a:p>
            <a:pPr algn="l" indent="0" marL="0">
              <a:buNone/>
            </a:pPr>
            <a:r>
              <a:rPr lang="en-US" sz="1300" b="1" dirty="0">
                <a:solidFill>
                  <a:srgbClr val="00274A"/>
                </a:solidFill>
              </a:rPr>
              <a:t>Output</a:t>
            </a:r>
            <a:endParaRPr lang="en-US" sz="1300" dirty="0"/>
          </a:p>
        </p:txBody>
      </p:sp>
      <p:sp>
        <p:nvSpPr>
          <p:cNvPr id="14" name="text"/>
          <p:cNvSpPr txBox="1"/>
          <p:nvPr/>
        </p:nvSpPr>
        <p:spPr>
          <a:xfrm>
            <a:off x="8447837" y="1709928"/>
            <a:ext cx="2966618" cy="548640"/>
          </a:xfrm>
          <a:prstGeom prst="rect">
            <a:avLst/>
          </a:prstGeom>
          <a:noFill/>
          <a:ln/>
        </p:spPr>
        <p:txBody>
          <a:bodyPr wrap="square" lIns="0" tIns="0" rIns="0" bIns="0" rtlCol="0" anchor="t"/>
          <a:lstStyle/>
          <a:p>
            <a:pPr algn="l" indent="0" marL="0">
              <a:buNone/>
            </a:pPr>
            <a:r>
              <a:rPr lang="en-US" sz="1150" i="1" dirty="0">
                <a:solidFill>
                  <a:srgbClr val="00274A"/>
                </a:solidFill>
              </a:rPr>
              <a:t>Planned order releases</a:t>
            </a:r>
            <a:r>
              <a:rPr lang="en-US" sz="1150" dirty="0">
                <a:solidFill>
                  <a:srgbClr val="00274A"/>
                </a:solidFill>
              </a:rPr>
              <a:t>, perubahan pesanan, </a:t>
            </a:r>
            <a:r>
              <a:rPr lang="en-US" sz="1150" i="1" dirty="0">
                <a:solidFill>
                  <a:srgbClr val="00274A"/>
                </a:solidFill>
              </a:rPr>
              <a:t>exception reports</a:t>
            </a:r>
            <a:r>
              <a:rPr lang="en-US" sz="1150" dirty="0">
                <a:solidFill>
                  <a:srgbClr val="00274A"/>
                </a:solidFill>
              </a:rPr>
              <a:t>, laporan perencanaan</a:t>
            </a:r>
            <a:endParaRPr lang="en-US" sz="1150" dirty="0"/>
          </a:p>
        </p:txBody>
      </p:sp>
      <p:sp>
        <p:nvSpPr>
          <p:cNvPr id="15" name="text"/>
          <p:cNvSpPr txBox="1"/>
          <p:nvPr/>
        </p:nvSpPr>
        <p:spPr>
          <a:xfrm>
            <a:off x="548640" y="2468880"/>
            <a:ext cx="11094415" cy="566928"/>
          </a:xfrm>
          <a:prstGeom prst="rect">
            <a:avLst/>
          </a:prstGeom>
          <a:noFill/>
          <a:ln/>
        </p:spPr>
        <p:txBody>
          <a:bodyPr wrap="square" lIns="0" tIns="0" rIns="0" bIns="0" rtlCol="0" anchor="t"/>
          <a:lstStyle/>
          <a:p>
            <a:pPr algn="l" indent="0" marL="0">
              <a:buNone/>
            </a:pPr>
            <a:r>
              <a:rPr lang="en-US" sz="1200" dirty="0">
                <a:solidFill>
                  <a:srgbClr val="00274A"/>
                </a:solidFill>
              </a:rPr>
              <a:t>Ilustrasi </a:t>
            </a:r>
            <a:r>
              <a:rPr lang="en-US" sz="1200" i="1" dirty="0">
                <a:solidFill>
                  <a:srgbClr val="00274A"/>
                </a:solidFill>
              </a:rPr>
              <a:t>net requirements plan</a:t>
            </a:r>
            <a:r>
              <a:rPr lang="en-US" sz="1200" dirty="0">
                <a:solidFill>
                  <a:srgbClr val="00274A"/>
                </a:solidFill>
              </a:rPr>
              <a:t>: </a:t>
            </a:r>
            <a:r>
              <a:rPr lang="en-US" sz="1200" i="1" dirty="0">
                <a:solidFill>
                  <a:srgbClr val="00274A"/>
                </a:solidFill>
              </a:rPr>
              <a:t>brake assembly</a:t>
            </a:r>
            <a:r>
              <a:rPr lang="en-US" sz="1200" dirty="0">
                <a:solidFill>
                  <a:srgbClr val="00274A"/>
                </a:solidFill>
              </a:rPr>
              <a:t>, 4 unit per paket </a:t>
            </a:r>
            <a:r>
              <a:rPr lang="en-US" sz="1200" i="1" dirty="0">
                <a:solidFill>
                  <a:srgbClr val="00274A"/>
                </a:solidFill>
              </a:rPr>
              <a:t>heavy check</a:t>
            </a:r>
            <a:r>
              <a:rPr lang="en-US" sz="1200" dirty="0">
                <a:solidFill>
                  <a:srgbClr val="00274A"/>
                </a:solidFill>
              </a:rPr>
              <a:t>; </a:t>
            </a:r>
            <a:r>
              <a:rPr lang="en-US" sz="1200" i="1" dirty="0">
                <a:solidFill>
                  <a:srgbClr val="00274A"/>
                </a:solidFill>
              </a:rPr>
              <a:t>lead time</a:t>
            </a:r>
            <a:r>
              <a:rPr lang="en-US" sz="1200" dirty="0">
                <a:solidFill>
                  <a:srgbClr val="00274A"/>
                </a:solidFill>
              </a:rPr>
              <a:t> 2 minggu; persediaan awal 6 unit; </a:t>
            </a:r>
            <a:r>
              <a:rPr lang="en-US" sz="1200" i="1" dirty="0">
                <a:solidFill>
                  <a:srgbClr val="00274A"/>
                </a:solidFill>
              </a:rPr>
              <a:t>scheduled receipt</a:t>
            </a:r>
            <a:r>
              <a:rPr lang="en-US" sz="1200" dirty="0">
                <a:solidFill>
                  <a:srgbClr val="00274A"/>
                </a:solidFill>
              </a:rPr>
              <a:t> 4 unit pada minggu 2; kebijakan </a:t>
            </a:r>
            <a:r>
              <a:rPr lang="en-US" sz="1200" i="1" dirty="0">
                <a:solidFill>
                  <a:srgbClr val="00274A"/>
                </a:solidFill>
              </a:rPr>
              <a:t>lot-for-lot</a:t>
            </a:r>
            <a:r>
              <a:rPr lang="en-US" sz="1200" dirty="0">
                <a:solidFill>
                  <a:srgbClr val="00274A"/>
                </a:solidFill>
              </a:rPr>
              <a:t>. MPS perawatan: 2 paket pada minggu 5, 1 paket pada minggu 7, 2 paket pada minggu 8.</a:t>
            </a:r>
            <a:endParaRPr lang="en-US" sz="12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548640" y="3108960"/>
          <a:ext cx="11094415" cy="914400"/>
        </p:xfrm>
        <a:graphic>
          <a:graphicData uri="http://schemas.openxmlformats.org/drawingml/2006/table">
            <a:tbl>
              <a:tblPr/>
              <a:tblGrid>
                <a:gridCol w="2834640"/>
                <a:gridCol w="1032472"/>
                <a:gridCol w="1032472"/>
                <a:gridCol w="1032472"/>
                <a:gridCol w="1032472"/>
                <a:gridCol w="1032472"/>
                <a:gridCol w="1032472"/>
                <a:gridCol w="1032472"/>
                <a:gridCol w="1032472"/>
              </a:tblGrid>
              <a:tr h="329184">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Minggu</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00274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00274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00274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00274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00274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00274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00274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00274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00274A"/>
                    </a:solidFill>
                  </a:tcPr>
                </a:tc>
              </a:tr>
              <a:tr h="329184">
                <a:tc>
                  <a:txBody>
                    <a:bodyPr/>
                    <a:lstStyle/>
                    <a:p>
                      <a:pPr algn="l" indent="0" marL="0">
                        <a:buNone/>
                      </a:pPr>
                      <a:r>
                        <a:rPr lang="en-US" sz="1200" b="1" dirty="0">
                          <a:solidFill>
                            <a:srgbClr val="00274A"/>
                          </a:solidFill>
                          <a:latin typeface="Calibri" pitchFamily="34" charset="0"/>
                          <a:ea typeface="Calibri" pitchFamily="34" charset="-122"/>
                          <a:cs typeface="Calibri" pitchFamily="34" charset="-120"/>
                        </a:rPr>
                        <a:t>Gross requirements</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274A"/>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274A"/>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274A"/>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274A"/>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274A"/>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274A"/>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274A"/>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274A"/>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r>
              <a:tr h="329184">
                <a:tc>
                  <a:txBody>
                    <a:bodyPr/>
                    <a:lstStyle/>
                    <a:p>
                      <a:pPr algn="l" indent="0" marL="0">
                        <a:buNone/>
                      </a:pPr>
                      <a:r>
                        <a:rPr lang="en-US" sz="1200" b="1" dirty="0">
                          <a:solidFill>
                            <a:srgbClr val="00274A"/>
                          </a:solidFill>
                          <a:latin typeface="Calibri" pitchFamily="34" charset="0"/>
                          <a:ea typeface="Calibri" pitchFamily="34" charset="-122"/>
                          <a:cs typeface="Calibri" pitchFamily="34" charset="-120"/>
                        </a:rPr>
                        <a:t>Scheduled receipts</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c>
                  <a:txBody>
                    <a:bodyPr/>
                    <a:lstStyle/>
                    <a:p>
                      <a:pPr algn="ctr" indent="0" marL="0">
                        <a:buNone/>
                      </a:pPr>
                      <a:r>
                        <a:rPr lang="en-US" sz="1200" dirty="0">
                          <a:solidFill>
                            <a:srgbClr val="00274A"/>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c>
                  <a:txBody>
                    <a:bodyPr/>
                    <a:lstStyle/>
                    <a:p>
                      <a:pPr algn="ctr" indent="0" marL="0">
                        <a:buNone/>
                      </a:pPr>
                      <a:r>
                        <a:rPr lang="en-US" sz="1200" dirty="0">
                          <a:solidFill>
                            <a:srgbClr val="00274A"/>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c>
                  <a:txBody>
                    <a:bodyPr/>
                    <a:lstStyle/>
                    <a:p>
                      <a:pPr algn="ctr" indent="0" marL="0">
                        <a:buNone/>
                      </a:pPr>
                      <a:r>
                        <a:rPr lang="en-US" sz="1200" dirty="0">
                          <a:solidFill>
                            <a:srgbClr val="00274A"/>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c>
                  <a:txBody>
                    <a:bodyPr/>
                    <a:lstStyle/>
                    <a:p>
                      <a:pPr algn="ctr" indent="0" marL="0">
                        <a:buNone/>
                      </a:pPr>
                      <a:r>
                        <a:rPr lang="en-US" sz="1200" dirty="0">
                          <a:solidFill>
                            <a:srgbClr val="00274A"/>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c>
                  <a:txBody>
                    <a:bodyPr/>
                    <a:lstStyle/>
                    <a:p>
                      <a:pPr algn="ctr" indent="0" marL="0">
                        <a:buNone/>
                      </a:pPr>
                      <a:r>
                        <a:rPr lang="en-US" sz="1200" dirty="0">
                          <a:solidFill>
                            <a:srgbClr val="00274A"/>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c>
                  <a:txBody>
                    <a:bodyPr/>
                    <a:lstStyle/>
                    <a:p>
                      <a:pPr algn="ctr" indent="0" marL="0">
                        <a:buNone/>
                      </a:pPr>
                      <a:r>
                        <a:rPr lang="en-US" sz="1200" dirty="0">
                          <a:solidFill>
                            <a:srgbClr val="00274A"/>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c>
                  <a:txBody>
                    <a:bodyPr/>
                    <a:lstStyle/>
                    <a:p>
                      <a:pPr algn="ctr" indent="0" marL="0">
                        <a:buNone/>
                      </a:pPr>
                      <a:r>
                        <a:rPr lang="en-US" sz="1200" dirty="0">
                          <a:solidFill>
                            <a:srgbClr val="00274A"/>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c>
                  <a:txBody>
                    <a:bodyPr/>
                    <a:lstStyle/>
                    <a:p>
                      <a:pPr algn="ctr" indent="0" marL="0">
                        <a:buNone/>
                      </a:pPr>
                      <a:r>
                        <a:rPr lang="en-US" sz="1200" dirty="0">
                          <a:solidFill>
                            <a:srgbClr val="00274A"/>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r>
              <a:tr h="329184">
                <a:tc>
                  <a:txBody>
                    <a:bodyPr/>
                    <a:lstStyle/>
                    <a:p>
                      <a:pPr algn="l" indent="0" marL="0">
                        <a:buNone/>
                      </a:pPr>
                      <a:r>
                        <a:rPr lang="en-US" sz="1200" b="1" dirty="0">
                          <a:solidFill>
                            <a:srgbClr val="00274A"/>
                          </a:solidFill>
                          <a:latin typeface="Calibri" pitchFamily="34" charset="0"/>
                          <a:ea typeface="Calibri" pitchFamily="34" charset="-122"/>
                          <a:cs typeface="Calibri" pitchFamily="34" charset="-120"/>
                        </a:rPr>
                        <a:t>Projected on hand (awal 6)</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274A"/>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274A"/>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274A"/>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274A"/>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274A"/>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274A"/>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274A"/>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274A"/>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r>
              <a:tr h="329184">
                <a:tc>
                  <a:txBody>
                    <a:bodyPr/>
                    <a:lstStyle/>
                    <a:p>
                      <a:pPr algn="l" indent="0" marL="0">
                        <a:buNone/>
                      </a:pPr>
                      <a:r>
                        <a:rPr lang="en-US" sz="1200" b="1" dirty="0">
                          <a:solidFill>
                            <a:srgbClr val="00274A"/>
                          </a:solidFill>
                          <a:latin typeface="Calibri" pitchFamily="34" charset="0"/>
                          <a:ea typeface="Calibri" pitchFamily="34" charset="-122"/>
                          <a:cs typeface="Calibri" pitchFamily="34" charset="-120"/>
                        </a:rPr>
                        <a:t>Net requirements</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c>
                  <a:txBody>
                    <a:bodyPr/>
                    <a:lstStyle/>
                    <a:p>
                      <a:pPr algn="ctr" indent="0" marL="0">
                        <a:buNone/>
                      </a:pPr>
                      <a:r>
                        <a:rPr lang="en-US" sz="1200" dirty="0">
                          <a:solidFill>
                            <a:srgbClr val="00274A"/>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c>
                  <a:txBody>
                    <a:bodyPr/>
                    <a:lstStyle/>
                    <a:p>
                      <a:pPr algn="ctr" indent="0" marL="0">
                        <a:buNone/>
                      </a:pPr>
                      <a:r>
                        <a:rPr lang="en-US" sz="1200" dirty="0">
                          <a:solidFill>
                            <a:srgbClr val="00274A"/>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c>
                  <a:txBody>
                    <a:bodyPr/>
                    <a:lstStyle/>
                    <a:p>
                      <a:pPr algn="ctr" indent="0" marL="0">
                        <a:buNone/>
                      </a:pPr>
                      <a:r>
                        <a:rPr lang="en-US" sz="1200" dirty="0">
                          <a:solidFill>
                            <a:srgbClr val="00274A"/>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c>
                  <a:txBody>
                    <a:bodyPr/>
                    <a:lstStyle/>
                    <a:p>
                      <a:pPr algn="ctr" indent="0" marL="0">
                        <a:buNone/>
                      </a:pPr>
                      <a:r>
                        <a:rPr lang="en-US" sz="1200" dirty="0">
                          <a:solidFill>
                            <a:srgbClr val="00274A"/>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c>
                  <a:txBody>
                    <a:bodyPr/>
                    <a:lstStyle/>
                    <a:p>
                      <a:pPr algn="ctr" indent="0" marL="0">
                        <a:buNone/>
                      </a:pPr>
                      <a:r>
                        <a:rPr lang="en-US" sz="1200" dirty="0">
                          <a:solidFill>
                            <a:srgbClr val="00274A"/>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c>
                  <a:txBody>
                    <a:bodyPr/>
                    <a:lstStyle/>
                    <a:p>
                      <a:pPr algn="ctr" indent="0" marL="0">
                        <a:buNone/>
                      </a:pPr>
                      <a:r>
                        <a:rPr lang="en-US" sz="1200" dirty="0">
                          <a:solidFill>
                            <a:srgbClr val="00274A"/>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c>
                  <a:txBody>
                    <a:bodyPr/>
                    <a:lstStyle/>
                    <a:p>
                      <a:pPr algn="ctr" indent="0" marL="0">
                        <a:buNone/>
                      </a:pPr>
                      <a:r>
                        <a:rPr lang="en-US" sz="1200" dirty="0">
                          <a:solidFill>
                            <a:srgbClr val="00274A"/>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c>
                  <a:txBody>
                    <a:bodyPr/>
                    <a:lstStyle/>
                    <a:p>
                      <a:pPr algn="ctr" indent="0" marL="0">
                        <a:buNone/>
                      </a:pPr>
                      <a:r>
                        <a:rPr lang="en-US" sz="1200" dirty="0">
                          <a:solidFill>
                            <a:srgbClr val="00274A"/>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r>
              <a:tr h="329184">
                <a:tc>
                  <a:txBody>
                    <a:bodyPr/>
                    <a:lstStyle/>
                    <a:p>
                      <a:pPr algn="l" indent="0" marL="0">
                        <a:buNone/>
                      </a:pPr>
                      <a:r>
                        <a:rPr lang="en-US" sz="1200" b="1" dirty="0">
                          <a:solidFill>
                            <a:srgbClr val="00274A"/>
                          </a:solidFill>
                          <a:latin typeface="Calibri" pitchFamily="34" charset="0"/>
                          <a:ea typeface="Calibri" pitchFamily="34" charset="-122"/>
                          <a:cs typeface="Calibri" pitchFamily="34" charset="-120"/>
                        </a:rPr>
                        <a:t>Planned order receipts</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274A"/>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274A"/>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274A"/>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274A"/>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274A"/>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274A"/>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274A"/>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274A"/>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r>
              <a:tr h="329184">
                <a:tc>
                  <a:txBody>
                    <a:bodyPr/>
                    <a:lstStyle/>
                    <a:p>
                      <a:pPr algn="l" indent="0" marL="0">
                        <a:buNone/>
                      </a:pPr>
                      <a:r>
                        <a:rPr lang="en-US" sz="1200" b="1" dirty="0">
                          <a:solidFill>
                            <a:srgbClr val="00274A"/>
                          </a:solidFill>
                          <a:latin typeface="Calibri" pitchFamily="34" charset="0"/>
                          <a:ea typeface="Calibri" pitchFamily="34" charset="-122"/>
                          <a:cs typeface="Calibri" pitchFamily="34" charset="-120"/>
                        </a:rPr>
                        <a:t>Planned order releases</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c>
                  <a:txBody>
                    <a:bodyPr/>
                    <a:lstStyle/>
                    <a:p>
                      <a:pPr algn="ctr" indent="0" marL="0">
                        <a:buNone/>
                      </a:pPr>
                      <a:r>
                        <a:rPr lang="en-US" sz="1200" dirty="0">
                          <a:solidFill>
                            <a:srgbClr val="00274A"/>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c>
                  <a:txBody>
                    <a:bodyPr/>
                    <a:lstStyle/>
                    <a:p>
                      <a:pPr algn="ctr" indent="0" marL="0">
                        <a:buNone/>
                      </a:pPr>
                      <a:r>
                        <a:rPr lang="en-US" sz="1200" dirty="0">
                          <a:solidFill>
                            <a:srgbClr val="00274A"/>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c>
                  <a:txBody>
                    <a:bodyPr/>
                    <a:lstStyle/>
                    <a:p>
                      <a:pPr algn="ctr" indent="0" marL="0">
                        <a:buNone/>
                      </a:pPr>
                      <a:r>
                        <a:rPr lang="en-US" sz="1200" dirty="0">
                          <a:solidFill>
                            <a:srgbClr val="00274A"/>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c>
                  <a:txBody>
                    <a:bodyPr/>
                    <a:lstStyle/>
                    <a:p>
                      <a:pPr algn="ctr" indent="0" marL="0">
                        <a:buNone/>
                      </a:pPr>
                      <a:r>
                        <a:rPr lang="en-US" sz="1200" dirty="0">
                          <a:solidFill>
                            <a:srgbClr val="00274A"/>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c>
                  <a:txBody>
                    <a:bodyPr/>
                    <a:lstStyle/>
                    <a:p>
                      <a:pPr algn="ctr" indent="0" marL="0">
                        <a:buNone/>
                      </a:pPr>
                      <a:r>
                        <a:rPr lang="en-US" sz="1200" b="1" dirty="0">
                          <a:solidFill>
                            <a:srgbClr val="00274A"/>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CDE6FF"/>
                    </a:solidFill>
                  </a:tcPr>
                </a:tc>
                <a:tc>
                  <a:txBody>
                    <a:bodyPr/>
                    <a:lstStyle/>
                    <a:p>
                      <a:pPr algn="ctr" indent="0" marL="0">
                        <a:buNone/>
                      </a:pPr>
                      <a:r>
                        <a:rPr lang="en-US" sz="1200" b="1" dirty="0">
                          <a:solidFill>
                            <a:srgbClr val="00274A"/>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CDE6FF"/>
                    </a:solidFill>
                  </a:tcPr>
                </a:tc>
                <a:tc>
                  <a:txBody>
                    <a:bodyPr/>
                    <a:lstStyle/>
                    <a:p>
                      <a:pPr algn="ctr" indent="0" marL="0">
                        <a:buNone/>
                      </a:pPr>
                      <a:r>
                        <a:rPr lang="en-US" sz="1200" dirty="0">
                          <a:solidFill>
                            <a:srgbClr val="00274A"/>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c>
                  <a:txBody>
                    <a:bodyPr/>
                    <a:lstStyle/>
                    <a:p>
                      <a:pPr algn="ctr" indent="0" marL="0">
                        <a:buNone/>
                      </a:pPr>
                      <a:r>
                        <a:rPr lang="en-US" sz="1200" dirty="0">
                          <a:solidFill>
                            <a:srgbClr val="00274A"/>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r>
            </a:tbl>
          </a:graphicData>
        </a:graphic>
      </p:graphicFrame>
      <p:sp>
        <p:nvSpPr>
          <p:cNvPr id="17" name="card"/>
          <p:cNvSpPr/>
          <p:nvPr/>
        </p:nvSpPr>
        <p:spPr>
          <a:xfrm>
            <a:off x="548640" y="5532120"/>
            <a:ext cx="11094415" cy="713232"/>
          </a:xfrm>
          <a:prstGeom prst="roundRect">
            <a:avLst>
              <a:gd name="adj" fmla="val 17949"/>
            </a:avLst>
          </a:prstGeom>
          <a:solidFill>
            <a:srgbClr val="00274A"/>
          </a:solidFill>
          <a:ln w="3175">
            <a:solidFill>
              <a:srgbClr val="00274A"/>
            </a:solidFill>
            <a:prstDash val="solid"/>
          </a:ln>
        </p:spPr>
      </p:sp>
      <p:sp>
        <p:nvSpPr>
          <p:cNvPr id="18" name="text"/>
          <p:cNvSpPr txBox="1"/>
          <p:nvPr/>
        </p:nvSpPr>
        <p:spPr>
          <a:xfrm>
            <a:off x="822960" y="5532120"/>
            <a:ext cx="10545775" cy="713232"/>
          </a:xfrm>
          <a:prstGeom prst="rect">
            <a:avLst/>
          </a:prstGeom>
          <a:noFill/>
          <a:ln/>
        </p:spPr>
        <p:txBody>
          <a:bodyPr wrap="square" lIns="0" tIns="0" rIns="0" bIns="0" rtlCol="0" anchor="ctr"/>
          <a:lstStyle/>
          <a:p>
            <a:pPr algn="l" indent="0" marL="0">
              <a:buNone/>
            </a:pPr>
            <a:r>
              <a:rPr lang="en-US" sz="1200" b="1" dirty="0">
                <a:solidFill>
                  <a:srgbClr val="FFFFFF"/>
                </a:solidFill>
              </a:rPr>
              <a:t>Pembacaan:</a:t>
            </a:r>
            <a:r>
              <a:rPr lang="en-US" sz="1200" dirty="0">
                <a:solidFill>
                  <a:srgbClr val="FFFFFF"/>
                </a:solidFill>
              </a:rPr>
              <a:t> pesanan 2 unit dirilis pada minggu 5 dan 8 unit pada minggu 6 agar tersedia tepat pada minggu 7 dan 8. MRP mengubah logika "kapan waktunya memesan" (</a:t>
            </a:r>
            <a:r>
              <a:rPr lang="en-US" sz="1200" i="1" dirty="0">
                <a:solidFill>
                  <a:srgbClr val="FFFFFF"/>
                </a:solidFill>
              </a:rPr>
              <a:t>time-to-order</a:t>
            </a:r>
            <a:r>
              <a:rPr lang="en-US" sz="1200" dirty="0">
                <a:solidFill>
                  <a:srgbClr val="FFFFFF"/>
                </a:solidFill>
              </a:rPr>
              <a:t>) menjadi "kapan perlu memesan" (</a:t>
            </a:r>
            <a:r>
              <a:rPr lang="en-US" sz="1200" i="1" dirty="0">
                <a:solidFill>
                  <a:srgbClr val="FFFFFF"/>
                </a:solidFill>
              </a:rPr>
              <a:t>need-to-order</a:t>
            </a:r>
            <a:r>
              <a:rPr lang="en-US" sz="1200" dirty="0">
                <a:solidFill>
                  <a:srgbClr val="FFFFFF"/>
                </a:solidFill>
              </a:rPr>
              <a:t>).</a:t>
            </a:r>
            <a:endParaRPr lang="en-US" sz="1200" dirty="0"/>
          </a:p>
        </p:txBody>
      </p:sp>
      <p:sp>
        <p:nvSpPr>
          <p:cNvPr id="25" name="Slide Number Placeholder 0"/>
          <p:cNvSpPr>
            <a:spLocks noGrp="1"/>
          </p:cNvSpPr>
          <p:nvPr>
            <p:ph type="sldNum" sz="quarter" idx="4294967295"/>
          </p:nvPr>
        </p:nvSpPr>
        <p:spPr>
          <a:xfrm>
            <a:off x="11064240" y="6428232"/>
            <a:ext cx="576072"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01426A"/>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000" b="1" dirty="0">
                <a:solidFill>
                  <a:srgbClr val="00274A"/>
                </a:solidFill>
              </a:rPr>
              <a:t>Pengelolaan MRP dan Perluasannya menuju ERP</a:t>
            </a:r>
            <a:endParaRPr lang="en-US" sz="3000" dirty="0"/>
          </a:p>
        </p:txBody>
      </p:sp>
      <p:sp>
        <p:nvSpPr>
          <p:cNvPr id="4" name="card"/>
          <p:cNvSpPr/>
          <p:nvPr/>
        </p:nvSpPr>
        <p:spPr>
          <a:xfrm>
            <a:off x="548640" y="1325880"/>
            <a:ext cx="5440680" cy="1481328"/>
          </a:xfrm>
          <a:prstGeom prst="roundRect">
            <a:avLst>
              <a:gd name="adj" fmla="val 8642"/>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5" name="icon circle"/>
          <p:cNvSpPr/>
          <p:nvPr/>
        </p:nvSpPr>
        <p:spPr>
          <a:xfrm>
            <a:off x="777240" y="1600200"/>
            <a:ext cx="621792" cy="621792"/>
          </a:xfrm>
          <a:prstGeom prst="ellipse">
            <a:avLst/>
          </a:prstGeom>
          <a:solidFill>
            <a:srgbClr val="00CFF0"/>
          </a:solidFill>
          <a:ln w="3175">
            <a:solidFill>
              <a:srgbClr val="00CFF0"/>
            </a:solidFill>
            <a:prstDash val="solid"/>
          </a:ln>
        </p:spPr>
      </p:sp>
      <p:pic>
        <p:nvPicPr>
          <p:cNvPr id="6" name="icon FaCubes" descr="preencoded.png">    </p:cNvPr>
          <p:cNvPicPr>
            <a:picLocks noChangeAspect="1"/>
          </p:cNvPicPr>
          <p:nvPr/>
        </p:nvPicPr>
        <p:blipFill>
          <a:blip r:embed="rId1"/>
          <a:stretch>
            <a:fillRect/>
          </a:stretch>
        </p:blipFill>
        <p:spPr>
          <a:xfrm>
            <a:off x="932688" y="1755648"/>
            <a:ext cx="310896" cy="310896"/>
          </a:xfrm>
          <a:prstGeom prst="rect">
            <a:avLst/>
          </a:prstGeom>
        </p:spPr>
      </p:pic>
      <p:sp>
        <p:nvSpPr>
          <p:cNvPr id="7" name="text"/>
          <p:cNvSpPr txBox="1"/>
          <p:nvPr/>
        </p:nvSpPr>
        <p:spPr>
          <a:xfrm>
            <a:off x="1600200" y="1527048"/>
            <a:ext cx="4114800" cy="365760"/>
          </a:xfrm>
          <a:prstGeom prst="rect">
            <a:avLst/>
          </a:prstGeom>
          <a:noFill/>
          <a:ln/>
        </p:spPr>
        <p:txBody>
          <a:bodyPr wrap="square" lIns="0" tIns="0" rIns="0" bIns="0" rtlCol="0" anchor="t"/>
          <a:lstStyle/>
          <a:p>
            <a:pPr algn="l" indent="0" marL="0">
              <a:buNone/>
            </a:pPr>
            <a:r>
              <a:rPr lang="en-US" sz="1500" b="1" dirty="0">
                <a:solidFill>
                  <a:srgbClr val="00274A"/>
                </a:solidFill>
              </a:rPr>
              <a:t>Lot sizing</a:t>
            </a:r>
            <a:endParaRPr lang="en-US" sz="1500" dirty="0"/>
          </a:p>
        </p:txBody>
      </p:sp>
      <p:sp>
        <p:nvSpPr>
          <p:cNvPr id="8" name="text"/>
          <p:cNvSpPr txBox="1"/>
          <p:nvPr/>
        </p:nvSpPr>
        <p:spPr>
          <a:xfrm>
            <a:off x="1600200" y="1892808"/>
            <a:ext cx="4160520" cy="868680"/>
          </a:xfrm>
          <a:prstGeom prst="rect">
            <a:avLst/>
          </a:prstGeom>
          <a:noFill/>
          <a:ln/>
        </p:spPr>
        <p:txBody>
          <a:bodyPr wrap="square" lIns="0" tIns="0" rIns="0" bIns="0" rtlCol="0" anchor="t"/>
          <a:lstStyle/>
          <a:p>
            <a:pPr algn="l" indent="0" marL="0">
              <a:buNone/>
            </a:pPr>
            <a:r>
              <a:rPr lang="en-US" sz="1150" dirty="0">
                <a:solidFill>
                  <a:srgbClr val="00274A"/>
                </a:solidFill>
              </a:rPr>
              <a:t>Pilihan </a:t>
            </a:r>
            <a:r>
              <a:rPr lang="en-US" sz="1150" i="1" dirty="0">
                <a:solidFill>
                  <a:srgbClr val="00274A"/>
                </a:solidFill>
              </a:rPr>
              <a:t>lot-for-lot</a:t>
            </a:r>
            <a:r>
              <a:rPr lang="en-US" sz="1150" dirty="0">
                <a:solidFill>
                  <a:srgbClr val="00274A"/>
                </a:solidFill>
              </a:rPr>
              <a:t>, EOQ, atau </a:t>
            </a:r>
            <a:r>
              <a:rPr lang="en-US" sz="1150" i="1" dirty="0">
                <a:solidFill>
                  <a:srgbClr val="00274A"/>
                </a:solidFill>
              </a:rPr>
              <a:t>periodic order quantity</a:t>
            </a:r>
            <a:r>
              <a:rPr lang="en-US" sz="1150" dirty="0">
                <a:solidFill>
                  <a:srgbClr val="00274A"/>
                </a:solidFill>
              </a:rPr>
              <a:t> (POQ). Di bawah MRP, </a:t>
            </a:r>
            <a:r>
              <a:rPr lang="en-US" sz="1150" i="1" dirty="0">
                <a:solidFill>
                  <a:srgbClr val="00274A"/>
                </a:solidFill>
              </a:rPr>
              <a:t>lot-for-lot</a:t>
            </a:r>
            <a:r>
              <a:rPr lang="en-US" sz="1150" dirty="0">
                <a:solidFill>
                  <a:srgbClr val="00274A"/>
                </a:solidFill>
              </a:rPr>
              <a:t> sering menjadi opsi berbiaya terendah karena kebutuhan sudah diketahui.</a:t>
            </a:r>
            <a:endParaRPr lang="en-US" sz="1150" dirty="0"/>
          </a:p>
        </p:txBody>
      </p:sp>
      <p:sp>
        <p:nvSpPr>
          <p:cNvPr id="9" name="card"/>
          <p:cNvSpPr/>
          <p:nvPr/>
        </p:nvSpPr>
        <p:spPr>
          <a:xfrm>
            <a:off x="548640" y="2971800"/>
            <a:ext cx="5440680" cy="1481328"/>
          </a:xfrm>
          <a:prstGeom prst="roundRect">
            <a:avLst>
              <a:gd name="adj" fmla="val 8642"/>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10" name="icon circle"/>
          <p:cNvSpPr/>
          <p:nvPr/>
        </p:nvSpPr>
        <p:spPr>
          <a:xfrm>
            <a:off x="777240" y="3246120"/>
            <a:ext cx="621792" cy="621792"/>
          </a:xfrm>
          <a:prstGeom prst="ellipse">
            <a:avLst/>
          </a:prstGeom>
          <a:solidFill>
            <a:srgbClr val="F9CE06"/>
          </a:solidFill>
          <a:ln w="3175">
            <a:solidFill>
              <a:srgbClr val="F9CE06"/>
            </a:solidFill>
            <a:prstDash val="solid"/>
          </a:ln>
        </p:spPr>
      </p:sp>
      <p:pic>
        <p:nvPicPr>
          <p:cNvPr id="11" name="icon FaExclamationTriangle" descr="preencoded.png">    </p:cNvPr>
          <p:cNvPicPr>
            <a:picLocks noChangeAspect="1"/>
          </p:cNvPicPr>
          <p:nvPr/>
        </p:nvPicPr>
        <p:blipFill>
          <a:blip r:embed="rId2"/>
          <a:stretch>
            <a:fillRect/>
          </a:stretch>
        </p:blipFill>
        <p:spPr>
          <a:xfrm>
            <a:off x="932688" y="3401568"/>
            <a:ext cx="310896" cy="310896"/>
          </a:xfrm>
          <a:prstGeom prst="rect">
            <a:avLst/>
          </a:prstGeom>
        </p:spPr>
      </p:pic>
      <p:sp>
        <p:nvSpPr>
          <p:cNvPr id="12" name="text"/>
          <p:cNvSpPr txBox="1"/>
          <p:nvPr/>
        </p:nvSpPr>
        <p:spPr>
          <a:xfrm>
            <a:off x="1600200" y="3172968"/>
            <a:ext cx="4114800" cy="365760"/>
          </a:xfrm>
          <a:prstGeom prst="rect">
            <a:avLst/>
          </a:prstGeom>
          <a:noFill/>
          <a:ln/>
        </p:spPr>
        <p:txBody>
          <a:bodyPr wrap="square" lIns="0" tIns="0" rIns="0" bIns="0" rtlCol="0" anchor="t"/>
          <a:lstStyle/>
          <a:p>
            <a:pPr algn="l" indent="0" marL="0">
              <a:buNone/>
            </a:pPr>
            <a:r>
              <a:rPr lang="en-US" sz="1500" b="1" dirty="0">
                <a:solidFill>
                  <a:srgbClr val="00274A"/>
                </a:solidFill>
              </a:rPr>
              <a:t>System nervousness</a:t>
            </a:r>
            <a:endParaRPr lang="en-US" sz="1500" dirty="0"/>
          </a:p>
        </p:txBody>
      </p:sp>
      <p:sp>
        <p:nvSpPr>
          <p:cNvPr id="13" name="text"/>
          <p:cNvSpPr txBox="1"/>
          <p:nvPr/>
        </p:nvSpPr>
        <p:spPr>
          <a:xfrm>
            <a:off x="1600200" y="3538728"/>
            <a:ext cx="4160520" cy="868680"/>
          </a:xfrm>
          <a:prstGeom prst="rect">
            <a:avLst/>
          </a:prstGeom>
          <a:noFill/>
          <a:ln/>
        </p:spPr>
        <p:txBody>
          <a:bodyPr wrap="square" lIns="0" tIns="0" rIns="0" bIns="0" rtlCol="0" anchor="t"/>
          <a:lstStyle/>
          <a:p>
            <a:pPr algn="l" indent="0" marL="0">
              <a:buNone/>
            </a:pPr>
            <a:r>
              <a:rPr lang="en-US" sz="1150" dirty="0">
                <a:solidFill>
                  <a:srgbClr val="00274A"/>
                </a:solidFill>
              </a:rPr>
              <a:t>Perubahan kecil pada MPS memicu perubahan besar di hilir. Diredam dengan </a:t>
            </a:r>
            <a:r>
              <a:rPr lang="en-US" sz="1150" i="1" dirty="0">
                <a:solidFill>
                  <a:srgbClr val="00274A"/>
                </a:solidFill>
              </a:rPr>
              <a:t>time fences</a:t>
            </a:r>
            <a:r>
              <a:rPr lang="en-US" sz="1150" dirty="0">
                <a:solidFill>
                  <a:srgbClr val="00274A"/>
                </a:solidFill>
              </a:rPr>
              <a:t> (membekukan jadwal dekat) dan </a:t>
            </a:r>
            <a:r>
              <a:rPr lang="en-US" sz="1150" i="1" dirty="0">
                <a:solidFill>
                  <a:srgbClr val="00274A"/>
                </a:solidFill>
              </a:rPr>
              <a:t>pegging</a:t>
            </a:r>
            <a:r>
              <a:rPr lang="en-US" sz="1150" dirty="0">
                <a:solidFill>
                  <a:srgbClr val="00274A"/>
                </a:solidFill>
              </a:rPr>
              <a:t> (menelusuri sumber kebutuhan).</a:t>
            </a:r>
            <a:endParaRPr lang="en-US" sz="1150" dirty="0"/>
          </a:p>
        </p:txBody>
      </p:sp>
      <p:sp>
        <p:nvSpPr>
          <p:cNvPr id="14" name="card"/>
          <p:cNvSpPr/>
          <p:nvPr/>
        </p:nvSpPr>
        <p:spPr>
          <a:xfrm>
            <a:off x="548640" y="4617720"/>
            <a:ext cx="5440680" cy="1481328"/>
          </a:xfrm>
          <a:prstGeom prst="roundRect">
            <a:avLst>
              <a:gd name="adj" fmla="val 8642"/>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15" name="icon circle"/>
          <p:cNvSpPr/>
          <p:nvPr/>
        </p:nvSpPr>
        <p:spPr>
          <a:xfrm>
            <a:off x="777240" y="4892040"/>
            <a:ext cx="621792" cy="621792"/>
          </a:xfrm>
          <a:prstGeom prst="ellipse">
            <a:avLst/>
          </a:prstGeom>
          <a:solidFill>
            <a:srgbClr val="00CFF0"/>
          </a:solidFill>
          <a:ln w="3175">
            <a:solidFill>
              <a:srgbClr val="00CFF0"/>
            </a:solidFill>
            <a:prstDash val="solid"/>
          </a:ln>
        </p:spPr>
      </p:sp>
      <p:pic>
        <p:nvPicPr>
          <p:cNvPr id="16" name="icon FaTachometerAlt" descr="preencoded.png">    </p:cNvPr>
          <p:cNvPicPr>
            <a:picLocks noChangeAspect="1"/>
          </p:cNvPicPr>
          <p:nvPr/>
        </p:nvPicPr>
        <p:blipFill>
          <a:blip r:embed="rId3"/>
          <a:stretch>
            <a:fillRect/>
          </a:stretch>
        </p:blipFill>
        <p:spPr>
          <a:xfrm>
            <a:off x="932688" y="5047488"/>
            <a:ext cx="310896" cy="310896"/>
          </a:xfrm>
          <a:prstGeom prst="rect">
            <a:avLst/>
          </a:prstGeom>
        </p:spPr>
      </p:pic>
      <p:sp>
        <p:nvSpPr>
          <p:cNvPr id="17" name="text"/>
          <p:cNvSpPr txBox="1"/>
          <p:nvPr/>
        </p:nvSpPr>
        <p:spPr>
          <a:xfrm>
            <a:off x="1600200" y="4818888"/>
            <a:ext cx="4114800" cy="365760"/>
          </a:xfrm>
          <a:prstGeom prst="rect">
            <a:avLst/>
          </a:prstGeom>
          <a:noFill/>
          <a:ln/>
        </p:spPr>
        <p:txBody>
          <a:bodyPr wrap="square" lIns="0" tIns="0" rIns="0" bIns="0" rtlCol="0" anchor="t"/>
          <a:lstStyle/>
          <a:p>
            <a:pPr algn="l" indent="0" marL="0">
              <a:buNone/>
            </a:pPr>
            <a:r>
              <a:rPr lang="en-US" sz="1500" b="1" dirty="0">
                <a:solidFill>
                  <a:srgbClr val="00274A"/>
                </a:solidFill>
              </a:rPr>
              <a:t>Validasi kapasitas</a:t>
            </a:r>
            <a:endParaRPr lang="en-US" sz="1500" dirty="0"/>
          </a:p>
        </p:txBody>
      </p:sp>
      <p:sp>
        <p:nvSpPr>
          <p:cNvPr id="18" name="text"/>
          <p:cNvSpPr txBox="1"/>
          <p:nvPr/>
        </p:nvSpPr>
        <p:spPr>
          <a:xfrm>
            <a:off x="1600200" y="5184648"/>
            <a:ext cx="4160520" cy="868680"/>
          </a:xfrm>
          <a:prstGeom prst="rect">
            <a:avLst/>
          </a:prstGeom>
          <a:noFill/>
          <a:ln/>
        </p:spPr>
        <p:txBody>
          <a:bodyPr wrap="square" lIns="0" tIns="0" rIns="0" bIns="0" rtlCol="0" anchor="t"/>
          <a:lstStyle/>
          <a:p>
            <a:pPr algn="l" indent="0" marL="0">
              <a:buNone/>
            </a:pPr>
            <a:r>
              <a:rPr lang="en-US" sz="1150" dirty="0">
                <a:solidFill>
                  <a:srgbClr val="00274A"/>
                </a:solidFill>
              </a:rPr>
              <a:t>MRP pada dasarnya </a:t>
            </a:r>
            <a:r>
              <a:rPr lang="en-US" sz="1150" i="1" dirty="0">
                <a:solidFill>
                  <a:srgbClr val="00274A"/>
                </a:solidFill>
              </a:rPr>
              <a:t>infinite loading</a:t>
            </a:r>
            <a:r>
              <a:rPr lang="en-US" sz="1150" dirty="0">
                <a:solidFill>
                  <a:srgbClr val="00274A"/>
                </a:solidFill>
              </a:rPr>
              <a:t>; </a:t>
            </a:r>
            <a:r>
              <a:rPr lang="en-US" sz="1150" i="1" dirty="0">
                <a:solidFill>
                  <a:srgbClr val="00274A"/>
                </a:solidFill>
              </a:rPr>
              <a:t>load report</a:t>
            </a:r>
            <a:r>
              <a:rPr lang="en-US" sz="1150" dirty="0">
                <a:solidFill>
                  <a:srgbClr val="00274A"/>
                </a:solidFill>
              </a:rPr>
              <a:t> memeriksa kelayakan dan mengembalikan umpan balik ke MPS (</a:t>
            </a:r>
            <a:r>
              <a:rPr lang="en-US" sz="1150" i="1" dirty="0">
                <a:solidFill>
                  <a:srgbClr val="00274A"/>
                </a:solidFill>
              </a:rPr>
              <a:t>closed-loop MRP</a:t>
            </a:r>
            <a:r>
              <a:rPr lang="en-US" sz="1150" dirty="0">
                <a:solidFill>
                  <a:srgbClr val="00274A"/>
                </a:solidFill>
              </a:rPr>
              <a:t>).</a:t>
            </a:r>
            <a:endParaRPr lang="en-US" sz="1150" dirty="0"/>
          </a:p>
        </p:txBody>
      </p:sp>
      <p:sp>
        <p:nvSpPr>
          <p:cNvPr id="19" name="card"/>
          <p:cNvSpPr/>
          <p:nvPr/>
        </p:nvSpPr>
        <p:spPr>
          <a:xfrm>
            <a:off x="6217920" y="1325880"/>
            <a:ext cx="5425135" cy="4892040"/>
          </a:xfrm>
          <a:prstGeom prst="roundRect">
            <a:avLst>
              <a:gd name="adj" fmla="val 2617"/>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20" name="text"/>
          <p:cNvSpPr txBox="1"/>
          <p:nvPr/>
        </p:nvSpPr>
        <p:spPr>
          <a:xfrm>
            <a:off x="6492240" y="1508760"/>
            <a:ext cx="4876495" cy="365760"/>
          </a:xfrm>
          <a:prstGeom prst="rect">
            <a:avLst/>
          </a:prstGeom>
          <a:noFill/>
          <a:ln/>
        </p:spPr>
        <p:txBody>
          <a:bodyPr wrap="square" lIns="0" tIns="0" rIns="0" bIns="0" rtlCol="0" anchor="t"/>
          <a:lstStyle/>
          <a:p>
            <a:pPr algn="l" indent="0" marL="0">
              <a:buNone/>
            </a:pPr>
            <a:r>
              <a:rPr lang="en-US" sz="1600" b="1" dirty="0">
                <a:solidFill>
                  <a:srgbClr val="00274A"/>
                </a:solidFill>
              </a:rPr>
              <a:t>Evolusi sistem perencanaan</a:t>
            </a:r>
            <a:endParaRPr lang="en-US" sz="1600" dirty="0"/>
          </a:p>
        </p:txBody>
      </p:sp>
      <p:sp>
        <p:nvSpPr>
          <p:cNvPr id="21" name="evo"/>
          <p:cNvSpPr/>
          <p:nvPr/>
        </p:nvSpPr>
        <p:spPr>
          <a:xfrm>
            <a:off x="6492240" y="1965960"/>
            <a:ext cx="1600200" cy="566928"/>
          </a:xfrm>
          <a:prstGeom prst="roundRect">
            <a:avLst>
              <a:gd name="adj" fmla="val 16129"/>
            </a:avLst>
          </a:prstGeom>
          <a:solidFill>
            <a:srgbClr val="00274A"/>
          </a:solidFill>
          <a:ln w="3175">
            <a:solidFill>
              <a:srgbClr val="00274A"/>
            </a:solidFill>
            <a:prstDash val="solid"/>
          </a:ln>
        </p:spPr>
      </p:sp>
      <p:sp>
        <p:nvSpPr>
          <p:cNvPr id="22" name="text"/>
          <p:cNvSpPr txBox="1"/>
          <p:nvPr/>
        </p:nvSpPr>
        <p:spPr>
          <a:xfrm>
            <a:off x="6492240" y="1965960"/>
            <a:ext cx="1600200" cy="566928"/>
          </a:xfrm>
          <a:prstGeom prst="rect">
            <a:avLst/>
          </a:prstGeom>
          <a:noFill/>
          <a:ln/>
        </p:spPr>
        <p:txBody>
          <a:bodyPr wrap="square" lIns="0" tIns="0" rIns="0" bIns="0" rtlCol="0" anchor="ctr"/>
          <a:lstStyle/>
          <a:p>
            <a:pPr algn="ctr" indent="0" marL="0">
              <a:buNone/>
            </a:pPr>
            <a:r>
              <a:rPr lang="en-US" sz="1300" b="1" dirty="0">
                <a:solidFill>
                  <a:srgbClr val="FFFFFF"/>
                </a:solidFill>
              </a:rPr>
              <a:t>MRP</a:t>
            </a:r>
            <a:endParaRPr lang="en-US" sz="1300" dirty="0"/>
          </a:p>
        </p:txBody>
      </p:sp>
      <p:sp>
        <p:nvSpPr>
          <p:cNvPr id="23" name="text"/>
          <p:cNvSpPr txBox="1"/>
          <p:nvPr/>
        </p:nvSpPr>
        <p:spPr>
          <a:xfrm>
            <a:off x="8229600" y="1965960"/>
            <a:ext cx="3047695" cy="566928"/>
          </a:xfrm>
          <a:prstGeom prst="rect">
            <a:avLst/>
          </a:prstGeom>
          <a:noFill/>
          <a:ln/>
        </p:spPr>
        <p:txBody>
          <a:bodyPr wrap="square" lIns="0" tIns="0" rIns="0" bIns="0" rtlCol="0" anchor="ctr"/>
          <a:lstStyle/>
          <a:p>
            <a:pPr algn="l" indent="0" marL="0">
              <a:buNone/>
            </a:pPr>
            <a:r>
              <a:rPr lang="en-US" sz="1200" dirty="0">
                <a:solidFill>
                  <a:srgbClr val="00274A"/>
                </a:solidFill>
              </a:rPr>
              <a:t>Kebutuhan material dari MPS dan BOM.</a:t>
            </a:r>
            <a:endParaRPr lang="en-US" sz="1200" dirty="0"/>
          </a:p>
        </p:txBody>
      </p:sp>
      <p:sp>
        <p:nvSpPr>
          <p:cNvPr id="24" name="down arrow"/>
          <p:cNvSpPr/>
          <p:nvPr/>
        </p:nvSpPr>
        <p:spPr>
          <a:xfrm>
            <a:off x="7196328" y="2542032"/>
            <a:ext cx="201168" cy="182880"/>
          </a:xfrm>
          <a:prstGeom prst="downArrow">
            <a:avLst/>
          </a:prstGeom>
          <a:solidFill>
            <a:srgbClr val="0074C8"/>
          </a:solidFill>
          <a:ln w="3175">
            <a:solidFill>
              <a:srgbClr val="0074C8"/>
            </a:solidFill>
            <a:prstDash val="solid"/>
          </a:ln>
        </p:spPr>
      </p:sp>
      <p:sp>
        <p:nvSpPr>
          <p:cNvPr id="25" name="evo"/>
          <p:cNvSpPr/>
          <p:nvPr/>
        </p:nvSpPr>
        <p:spPr>
          <a:xfrm>
            <a:off x="6492240" y="2752344"/>
            <a:ext cx="1600200" cy="566928"/>
          </a:xfrm>
          <a:prstGeom prst="roundRect">
            <a:avLst>
              <a:gd name="adj" fmla="val 16129"/>
            </a:avLst>
          </a:prstGeom>
          <a:solidFill>
            <a:srgbClr val="00274A"/>
          </a:solidFill>
          <a:ln w="3175">
            <a:solidFill>
              <a:srgbClr val="00274A"/>
            </a:solidFill>
            <a:prstDash val="solid"/>
          </a:ln>
        </p:spPr>
      </p:sp>
      <p:sp>
        <p:nvSpPr>
          <p:cNvPr id="26" name="text"/>
          <p:cNvSpPr txBox="1"/>
          <p:nvPr/>
        </p:nvSpPr>
        <p:spPr>
          <a:xfrm>
            <a:off x="6492240" y="2752344"/>
            <a:ext cx="1600200" cy="566928"/>
          </a:xfrm>
          <a:prstGeom prst="rect">
            <a:avLst/>
          </a:prstGeom>
          <a:noFill/>
          <a:ln/>
        </p:spPr>
        <p:txBody>
          <a:bodyPr wrap="square" lIns="0" tIns="0" rIns="0" bIns="0" rtlCol="0" anchor="ctr"/>
          <a:lstStyle/>
          <a:p>
            <a:pPr algn="ctr" indent="0" marL="0">
              <a:buNone/>
            </a:pPr>
            <a:r>
              <a:rPr lang="en-US" sz="1300" b="1" dirty="0">
                <a:solidFill>
                  <a:srgbClr val="FFFFFF"/>
                </a:solidFill>
              </a:rPr>
              <a:t>Closed-loop MRP</a:t>
            </a:r>
            <a:endParaRPr lang="en-US" sz="1300" dirty="0"/>
          </a:p>
        </p:txBody>
      </p:sp>
      <p:sp>
        <p:nvSpPr>
          <p:cNvPr id="27" name="text"/>
          <p:cNvSpPr txBox="1"/>
          <p:nvPr/>
        </p:nvSpPr>
        <p:spPr>
          <a:xfrm>
            <a:off x="8229600" y="2752344"/>
            <a:ext cx="3047695" cy="566928"/>
          </a:xfrm>
          <a:prstGeom prst="rect">
            <a:avLst/>
          </a:prstGeom>
          <a:noFill/>
          <a:ln/>
        </p:spPr>
        <p:txBody>
          <a:bodyPr wrap="square" lIns="0" tIns="0" rIns="0" bIns="0" rtlCol="0" anchor="ctr"/>
          <a:lstStyle/>
          <a:p>
            <a:pPr algn="l" indent="0" marL="0">
              <a:buNone/>
            </a:pPr>
            <a:r>
              <a:rPr lang="en-US" sz="1200" dirty="0">
                <a:solidFill>
                  <a:srgbClr val="00274A"/>
                </a:solidFill>
              </a:rPr>
              <a:t>Umpan balik kapasitas dan realisasi ke rencana.</a:t>
            </a:r>
            <a:endParaRPr lang="en-US" sz="1200" dirty="0"/>
          </a:p>
        </p:txBody>
      </p:sp>
      <p:sp>
        <p:nvSpPr>
          <p:cNvPr id="28" name="down arrow"/>
          <p:cNvSpPr/>
          <p:nvPr/>
        </p:nvSpPr>
        <p:spPr>
          <a:xfrm>
            <a:off x="7196328" y="3328416"/>
            <a:ext cx="201168" cy="182880"/>
          </a:xfrm>
          <a:prstGeom prst="downArrow">
            <a:avLst/>
          </a:prstGeom>
          <a:solidFill>
            <a:srgbClr val="0074C8"/>
          </a:solidFill>
          <a:ln w="3175">
            <a:solidFill>
              <a:srgbClr val="0074C8"/>
            </a:solidFill>
            <a:prstDash val="solid"/>
          </a:ln>
        </p:spPr>
      </p:sp>
      <p:sp>
        <p:nvSpPr>
          <p:cNvPr id="29" name="evo"/>
          <p:cNvSpPr/>
          <p:nvPr/>
        </p:nvSpPr>
        <p:spPr>
          <a:xfrm>
            <a:off x="6492240" y="3538728"/>
            <a:ext cx="1600200" cy="566928"/>
          </a:xfrm>
          <a:prstGeom prst="roundRect">
            <a:avLst>
              <a:gd name="adj" fmla="val 16129"/>
            </a:avLst>
          </a:prstGeom>
          <a:solidFill>
            <a:srgbClr val="00274A"/>
          </a:solidFill>
          <a:ln w="3175">
            <a:solidFill>
              <a:srgbClr val="00274A"/>
            </a:solidFill>
            <a:prstDash val="solid"/>
          </a:ln>
        </p:spPr>
      </p:sp>
      <p:sp>
        <p:nvSpPr>
          <p:cNvPr id="30" name="text"/>
          <p:cNvSpPr txBox="1"/>
          <p:nvPr/>
        </p:nvSpPr>
        <p:spPr>
          <a:xfrm>
            <a:off x="6492240" y="3538728"/>
            <a:ext cx="1600200" cy="566928"/>
          </a:xfrm>
          <a:prstGeom prst="rect">
            <a:avLst/>
          </a:prstGeom>
          <a:noFill/>
          <a:ln/>
        </p:spPr>
        <p:txBody>
          <a:bodyPr wrap="square" lIns="0" tIns="0" rIns="0" bIns="0" rtlCol="0" anchor="ctr"/>
          <a:lstStyle/>
          <a:p>
            <a:pPr algn="ctr" indent="0" marL="0">
              <a:buNone/>
            </a:pPr>
            <a:r>
              <a:rPr lang="en-US" sz="1300" b="1" dirty="0">
                <a:solidFill>
                  <a:srgbClr val="FFFFFF"/>
                </a:solidFill>
              </a:rPr>
              <a:t>MRP II</a:t>
            </a:r>
            <a:endParaRPr lang="en-US" sz="1300" dirty="0"/>
          </a:p>
        </p:txBody>
      </p:sp>
      <p:sp>
        <p:nvSpPr>
          <p:cNvPr id="31" name="text"/>
          <p:cNvSpPr txBox="1"/>
          <p:nvPr/>
        </p:nvSpPr>
        <p:spPr>
          <a:xfrm>
            <a:off x="8229600" y="3538728"/>
            <a:ext cx="3047695" cy="566928"/>
          </a:xfrm>
          <a:prstGeom prst="rect">
            <a:avLst/>
          </a:prstGeom>
          <a:noFill/>
          <a:ln/>
        </p:spPr>
        <p:txBody>
          <a:bodyPr wrap="square" lIns="0" tIns="0" rIns="0" bIns="0" rtlCol="0" anchor="ctr"/>
          <a:lstStyle/>
          <a:p>
            <a:pPr algn="l" indent="0" marL="0">
              <a:buNone/>
            </a:pPr>
            <a:r>
              <a:rPr lang="en-US" sz="1200" i="1" dirty="0">
                <a:solidFill>
                  <a:srgbClr val="00274A"/>
                </a:solidFill>
              </a:rPr>
              <a:t>Material resource planning</a:t>
            </a:r>
            <a:r>
              <a:rPr lang="en-US" sz="1200" dirty="0">
                <a:solidFill>
                  <a:srgbClr val="00274A"/>
                </a:solidFill>
              </a:rPr>
              <a:t>: jam kerja, jam mesin, dan biaya ikut direncanakan.</a:t>
            </a:r>
            <a:endParaRPr lang="en-US" sz="1200" dirty="0"/>
          </a:p>
        </p:txBody>
      </p:sp>
      <p:sp>
        <p:nvSpPr>
          <p:cNvPr id="32" name="down arrow"/>
          <p:cNvSpPr/>
          <p:nvPr/>
        </p:nvSpPr>
        <p:spPr>
          <a:xfrm>
            <a:off x="7196328" y="4114800"/>
            <a:ext cx="201168" cy="182880"/>
          </a:xfrm>
          <a:prstGeom prst="downArrow">
            <a:avLst/>
          </a:prstGeom>
          <a:solidFill>
            <a:srgbClr val="0074C8"/>
          </a:solidFill>
          <a:ln w="3175">
            <a:solidFill>
              <a:srgbClr val="0074C8"/>
            </a:solidFill>
            <a:prstDash val="solid"/>
          </a:ln>
        </p:spPr>
      </p:sp>
      <p:sp>
        <p:nvSpPr>
          <p:cNvPr id="33" name="evo"/>
          <p:cNvSpPr/>
          <p:nvPr/>
        </p:nvSpPr>
        <p:spPr>
          <a:xfrm>
            <a:off x="6492240" y="4325112"/>
            <a:ext cx="1600200" cy="566928"/>
          </a:xfrm>
          <a:prstGeom prst="roundRect">
            <a:avLst>
              <a:gd name="adj" fmla="val 16129"/>
            </a:avLst>
          </a:prstGeom>
          <a:solidFill>
            <a:srgbClr val="91BE62"/>
          </a:solidFill>
          <a:ln w="3175">
            <a:solidFill>
              <a:srgbClr val="91BE62"/>
            </a:solidFill>
            <a:prstDash val="solid"/>
          </a:ln>
        </p:spPr>
      </p:sp>
      <p:sp>
        <p:nvSpPr>
          <p:cNvPr id="34" name="text"/>
          <p:cNvSpPr txBox="1"/>
          <p:nvPr/>
        </p:nvSpPr>
        <p:spPr>
          <a:xfrm>
            <a:off x="6492240" y="4325112"/>
            <a:ext cx="1600200" cy="566928"/>
          </a:xfrm>
          <a:prstGeom prst="rect">
            <a:avLst/>
          </a:prstGeom>
          <a:noFill/>
          <a:ln/>
        </p:spPr>
        <p:txBody>
          <a:bodyPr wrap="square" lIns="0" tIns="0" rIns="0" bIns="0" rtlCol="0" anchor="ctr"/>
          <a:lstStyle/>
          <a:p>
            <a:pPr algn="ctr" indent="0" marL="0">
              <a:buNone/>
            </a:pPr>
            <a:r>
              <a:rPr lang="en-US" sz="1300" b="1" dirty="0">
                <a:solidFill>
                  <a:srgbClr val="00274A"/>
                </a:solidFill>
              </a:rPr>
              <a:t>ERP</a:t>
            </a:r>
            <a:endParaRPr lang="en-US" sz="1300" dirty="0"/>
          </a:p>
        </p:txBody>
      </p:sp>
      <p:sp>
        <p:nvSpPr>
          <p:cNvPr id="35" name="text"/>
          <p:cNvSpPr txBox="1"/>
          <p:nvPr/>
        </p:nvSpPr>
        <p:spPr>
          <a:xfrm>
            <a:off x="8229600" y="4325112"/>
            <a:ext cx="3047695" cy="566928"/>
          </a:xfrm>
          <a:prstGeom prst="rect">
            <a:avLst/>
          </a:prstGeom>
          <a:noFill/>
          <a:ln/>
        </p:spPr>
        <p:txBody>
          <a:bodyPr wrap="square" lIns="0" tIns="0" rIns="0" bIns="0" rtlCol="0" anchor="ctr"/>
          <a:lstStyle/>
          <a:p>
            <a:pPr algn="l" indent="0" marL="0">
              <a:buNone/>
            </a:pPr>
            <a:r>
              <a:rPr lang="en-US" sz="1200" dirty="0">
                <a:solidFill>
                  <a:srgbClr val="00274A"/>
                </a:solidFill>
              </a:rPr>
              <a:t>Integrasi seluruh perusahaan: keuangan, SDM, SCM, CRM dalam satu basis data.</a:t>
            </a:r>
            <a:endParaRPr lang="en-US" sz="1200" dirty="0"/>
          </a:p>
        </p:txBody>
      </p:sp>
      <p:sp>
        <p:nvSpPr>
          <p:cNvPr id="36" name="card"/>
          <p:cNvSpPr/>
          <p:nvPr/>
        </p:nvSpPr>
        <p:spPr>
          <a:xfrm>
            <a:off x="6492240" y="5166360"/>
            <a:ext cx="4876495" cy="896112"/>
          </a:xfrm>
          <a:prstGeom prst="roundRect">
            <a:avLst>
              <a:gd name="adj" fmla="val 14286"/>
            </a:avLst>
          </a:prstGeom>
          <a:solidFill>
            <a:srgbClr val="F0F7FD"/>
          </a:solidFill>
          <a:ln w="3175">
            <a:solidFill>
              <a:srgbClr val="F0F7FD"/>
            </a:solidFill>
            <a:prstDash val="solid"/>
          </a:ln>
        </p:spPr>
      </p:sp>
      <p:sp>
        <p:nvSpPr>
          <p:cNvPr id="37" name="text"/>
          <p:cNvSpPr txBox="1"/>
          <p:nvPr/>
        </p:nvSpPr>
        <p:spPr>
          <a:xfrm>
            <a:off x="6629400" y="5166360"/>
            <a:ext cx="4602175" cy="896112"/>
          </a:xfrm>
          <a:prstGeom prst="rect">
            <a:avLst/>
          </a:prstGeom>
          <a:noFill/>
          <a:ln/>
        </p:spPr>
        <p:txBody>
          <a:bodyPr wrap="square" lIns="0" tIns="0" rIns="0" bIns="0" rtlCol="0" anchor="ctr"/>
          <a:lstStyle/>
          <a:p>
            <a:pPr algn="l" indent="0" marL="0">
              <a:buNone/>
            </a:pPr>
            <a:r>
              <a:rPr lang="en-US" sz="1150" b="1" dirty="0">
                <a:solidFill>
                  <a:srgbClr val="00274A"/>
                </a:solidFill>
              </a:rPr>
              <a:t>MRP di sektor jasa:</a:t>
            </a:r>
            <a:r>
              <a:rPr lang="en-US" sz="1150" dirty="0">
                <a:solidFill>
                  <a:srgbClr val="00274A"/>
                </a:solidFill>
              </a:rPr>
              <a:t> restoran (resep sebagai BOM), rumah sakit (bedah), hotel (Marriott: </a:t>
            </a:r>
            <a:r>
              <a:rPr lang="en-US" sz="1150" i="1" dirty="0">
                <a:solidFill>
                  <a:srgbClr val="00274A"/>
                </a:solidFill>
              </a:rPr>
              <a:t>bill of material</a:t>
            </a:r>
            <a:r>
              <a:rPr lang="en-US" sz="1150" dirty="0">
                <a:solidFill>
                  <a:srgbClr val="00274A"/>
                </a:solidFill>
              </a:rPr>
              <a:t> dan </a:t>
            </a:r>
            <a:r>
              <a:rPr lang="en-US" sz="1150" i="1" dirty="0">
                <a:solidFill>
                  <a:srgbClr val="00274A"/>
                </a:solidFill>
              </a:rPr>
              <a:t>bill of labor</a:t>
            </a:r>
            <a:r>
              <a:rPr lang="en-US" sz="1150" dirty="0">
                <a:solidFill>
                  <a:srgbClr val="00274A"/>
                </a:solidFill>
              </a:rPr>
              <a:t> renovasi). </a:t>
            </a:r>
            <a:r>
              <a:rPr lang="en-US" sz="1150" b="1" dirty="0">
                <a:solidFill>
                  <a:srgbClr val="00274A"/>
                </a:solidFill>
              </a:rPr>
              <a:t>DRP</a:t>
            </a:r>
            <a:r>
              <a:rPr lang="en-US" sz="1150" dirty="0">
                <a:solidFill>
                  <a:srgbClr val="00274A"/>
                </a:solidFill>
              </a:rPr>
              <a:t> menerapkan logika MRP pada rantai distribusi.</a:t>
            </a:r>
            <a:endParaRPr lang="en-US" sz="1150" dirty="0"/>
          </a:p>
        </p:txBody>
      </p:sp>
      <p:sp>
        <p:nvSpPr>
          <p:cNvPr id="25" name="Slide Number Placeholder 0"/>
          <p:cNvSpPr>
            <a:spLocks noGrp="1"/>
          </p:cNvSpPr>
          <p:nvPr>
            <p:ph type="sldNum" sz="quarter" idx="4294967295"/>
          </p:nvPr>
        </p:nvSpPr>
        <p:spPr>
          <a:xfrm>
            <a:off x="11064240" y="6428232"/>
            <a:ext cx="576072"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01426A"/>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3" name="section image" descr="/tmp/claude-0/-home-user-Dom-Manipulation/385e5267-c23e-5c04-80f5-d5fb4946a902/scratchpad/build/img/crew_gate.png">    </p:cNvPr>
          <p:cNvPicPr>
            <a:picLocks noChangeAspect="1"/>
          </p:cNvPicPr>
          <p:nvPr/>
        </p:nvPicPr>
        <p:blipFill>
          <a:blip r:embed="rId1"/>
          <a:srcRect l="0" r="0" t="0" b="0"/>
          <a:stretch/>
        </p:blipFill>
        <p:spPr>
          <a:xfrm>
            <a:off x="5760720" y="0"/>
            <a:ext cx="6430975" cy="6858000"/>
          </a:xfrm>
          <a:prstGeom prst="rect">
            <a:avLst/>
          </a:prstGeom>
        </p:spPr>
      </p:pic>
      <p:sp>
        <p:nvSpPr>
          <p:cNvPr id="4" name="pill"/>
          <p:cNvSpPr/>
          <p:nvPr/>
        </p:nvSpPr>
        <p:spPr>
          <a:xfrm>
            <a:off x="640080" y="2057400"/>
            <a:ext cx="1554480" cy="365760"/>
          </a:xfrm>
          <a:prstGeom prst="roundRect">
            <a:avLst>
              <a:gd name="adj" fmla="val 50000"/>
            </a:avLst>
          </a:prstGeom>
          <a:solidFill>
            <a:srgbClr val="00CFF0"/>
          </a:solidFill>
          <a:ln w="3175">
            <a:solidFill>
              <a:srgbClr val="00CFF0"/>
            </a:solidFill>
            <a:prstDash val="solid"/>
          </a:ln>
        </p:spPr>
      </p:sp>
      <p:sp>
        <p:nvSpPr>
          <p:cNvPr id="5" name="pill label"/>
          <p:cNvSpPr txBox="1"/>
          <p:nvPr/>
        </p:nvSpPr>
        <p:spPr>
          <a:xfrm>
            <a:off x="640080" y="2057400"/>
            <a:ext cx="1554480" cy="365760"/>
          </a:xfrm>
          <a:prstGeom prst="rect">
            <a:avLst/>
          </a:prstGeom>
          <a:noFill/>
          <a:ln/>
        </p:spPr>
        <p:txBody>
          <a:bodyPr wrap="square" lIns="0" tIns="0" rIns="0" bIns="0" rtlCol="0" anchor="ctr"/>
          <a:lstStyle/>
          <a:p>
            <a:pPr algn="ctr" indent="0" marL="0">
              <a:buNone/>
            </a:pPr>
            <a:r>
              <a:rPr lang="en-US" sz="1100" b="1" dirty="0">
                <a:solidFill>
                  <a:srgbClr val="00274A"/>
                </a:solidFill>
              </a:rPr>
              <a:t>BAGIAN 2B</a:t>
            </a:r>
            <a:endParaRPr lang="en-US" sz="1100" dirty="0"/>
          </a:p>
        </p:txBody>
      </p:sp>
      <p:sp>
        <p:nvSpPr>
          <p:cNvPr id="6" name="text"/>
          <p:cNvSpPr txBox="1"/>
          <p:nvPr/>
        </p:nvSpPr>
        <p:spPr>
          <a:xfrm>
            <a:off x="640080" y="2560320"/>
            <a:ext cx="4754880" cy="1554480"/>
          </a:xfrm>
          <a:prstGeom prst="rect">
            <a:avLst/>
          </a:prstGeom>
          <a:noFill/>
          <a:ln/>
        </p:spPr>
        <p:txBody>
          <a:bodyPr wrap="square" lIns="0" tIns="0" rIns="0" bIns="0" rtlCol="0" anchor="t"/>
          <a:lstStyle/>
          <a:p>
            <a:pPr algn="l" indent="0" marL="0">
              <a:buNone/>
            </a:pPr>
            <a:r>
              <a:rPr lang="en-US" sz="3400" b="1" dirty="0">
                <a:solidFill>
                  <a:srgbClr val="FFFFFF"/>
                </a:solidFill>
              </a:rPr>
              <a:t>Enterprise Resource Planning (ERP)</a:t>
            </a:r>
            <a:endParaRPr lang="en-US" sz="3400" dirty="0"/>
          </a:p>
        </p:txBody>
      </p:sp>
      <p:sp>
        <p:nvSpPr>
          <p:cNvPr id="7" name="text"/>
          <p:cNvSpPr txBox="1"/>
          <p:nvPr/>
        </p:nvSpPr>
        <p:spPr>
          <a:xfrm>
            <a:off x="640080" y="4160520"/>
            <a:ext cx="4754880" cy="1005840"/>
          </a:xfrm>
          <a:prstGeom prst="rect">
            <a:avLst/>
          </a:prstGeom>
          <a:noFill/>
          <a:ln/>
        </p:spPr>
        <p:txBody>
          <a:bodyPr wrap="square" lIns="0" tIns="0" rIns="0" bIns="0" rtlCol="0" anchor="t"/>
          <a:lstStyle/>
          <a:p>
            <a:pPr algn="l" indent="0" marL="0">
              <a:buNone/>
            </a:pPr>
            <a:r>
              <a:rPr lang="en-US" sz="1500" dirty="0">
                <a:solidFill>
                  <a:srgbClr val="C1DAF0"/>
                </a:solidFill>
              </a:rPr>
              <a:t>Sistem informasi terintegrasi untuk mengidentifikasi dan merencanakan sumber daya seluruh perusahaan dalam satu basis data bersama.</a:t>
            </a:r>
            <a:endParaRPr lang="en-US" sz="1500" dirty="0"/>
          </a:p>
        </p:txBody>
      </p:sp>
      <p:sp>
        <p:nvSpPr>
          <p:cNvPr id="8" name="text"/>
          <p:cNvSpPr txBox="1"/>
          <p:nvPr/>
        </p:nvSpPr>
        <p:spPr>
          <a:xfrm>
            <a:off x="640080" y="5257800"/>
            <a:ext cx="4754880" cy="457200"/>
          </a:xfrm>
          <a:prstGeom prst="rect">
            <a:avLst/>
          </a:prstGeom>
          <a:noFill/>
          <a:ln/>
        </p:spPr>
        <p:txBody>
          <a:bodyPr wrap="square" lIns="0" tIns="0" rIns="0" bIns="0" rtlCol="0" anchor="t"/>
          <a:lstStyle/>
          <a:p>
            <a:pPr algn="l" indent="0" marL="0">
              <a:buNone/>
            </a:pPr>
            <a:r>
              <a:rPr lang="en-US" sz="1200" b="1" dirty="0">
                <a:solidFill>
                  <a:srgbClr val="00CFF0"/>
                </a:solidFill>
              </a:rPr>
              <a:t>HRM Bab 14  ·  SBB Bab 14</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000" b="1" dirty="0">
                <a:solidFill>
                  <a:srgbClr val="00274A"/>
                </a:solidFill>
              </a:rPr>
              <a:t>ERP: Satu Basis Data Bersama untuk Seluruh Proses Bisnis</a:t>
            </a:r>
            <a:endParaRPr lang="en-US" sz="3000" dirty="0"/>
          </a:p>
        </p:txBody>
      </p:sp>
      <p:sp>
        <p:nvSpPr>
          <p:cNvPr id="4" name="card"/>
          <p:cNvSpPr/>
          <p:nvPr/>
        </p:nvSpPr>
        <p:spPr>
          <a:xfrm>
            <a:off x="548640" y="1325880"/>
            <a:ext cx="4846320" cy="4892040"/>
          </a:xfrm>
          <a:prstGeom prst="roundRect">
            <a:avLst>
              <a:gd name="adj" fmla="val 2642"/>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5" name="text"/>
          <p:cNvSpPr txBox="1"/>
          <p:nvPr/>
        </p:nvSpPr>
        <p:spPr>
          <a:xfrm>
            <a:off x="822960" y="1554480"/>
            <a:ext cx="4389120" cy="365760"/>
          </a:xfrm>
          <a:prstGeom prst="rect">
            <a:avLst/>
          </a:prstGeom>
          <a:noFill/>
          <a:ln/>
        </p:spPr>
        <p:txBody>
          <a:bodyPr wrap="square" lIns="0" tIns="0" rIns="0" bIns="0" rtlCol="0" anchor="t"/>
          <a:lstStyle/>
          <a:p>
            <a:pPr algn="l" indent="0" marL="0">
              <a:buNone/>
            </a:pPr>
            <a:r>
              <a:rPr lang="en-US" sz="1600" b="1" dirty="0">
                <a:solidFill>
                  <a:srgbClr val="00274A"/>
                </a:solidFill>
              </a:rPr>
              <a:t>Definisi dan kemampuan</a:t>
            </a:r>
            <a:endParaRPr lang="en-US" sz="1600" dirty="0"/>
          </a:p>
        </p:txBody>
      </p:sp>
      <p:sp>
        <p:nvSpPr>
          <p:cNvPr id="6" name="text"/>
          <p:cNvSpPr txBox="1"/>
          <p:nvPr/>
        </p:nvSpPr>
        <p:spPr>
          <a:xfrm>
            <a:off x="822960" y="1938528"/>
            <a:ext cx="4389120" cy="1463040"/>
          </a:xfrm>
          <a:prstGeom prst="rect">
            <a:avLst/>
          </a:prstGeom>
          <a:noFill/>
          <a:ln/>
        </p:spPr>
        <p:txBody>
          <a:bodyPr wrap="square" lIns="0" tIns="0" rIns="0" bIns="0" rtlCol="0" anchor="t"/>
          <a:lstStyle/>
          <a:p>
            <a:pPr algn="l" indent="0" marL="0">
              <a:buNone/>
            </a:pPr>
            <a:r>
              <a:rPr lang="en-US" sz="1200" dirty="0">
                <a:solidFill>
                  <a:srgbClr val="00274A"/>
                </a:solidFill>
              </a:rPr>
              <a:t>Heizer et al. (2017): sistem informasi untuk mengidentifikasi dan merencanakan sumber daya seluruh perusahaan yang dibutuhkan untuk menerima, membuat, mengirim, dan membukukan pesanan pelanggan. Slack et al. (2022): integrasi seluruh sistem perencanaan sumber daya organisasi dalam satu basis data.</a:t>
            </a:r>
            <a:endParaRPr lang="en-US" sz="1200" dirty="0"/>
          </a:p>
        </p:txBody>
      </p:sp>
      <p:sp>
        <p:nvSpPr>
          <p:cNvPr id="7" name="bullets"/>
          <p:cNvSpPr txBox="1"/>
          <p:nvPr/>
        </p:nvSpPr>
        <p:spPr>
          <a:xfrm>
            <a:off x="822960" y="3474720"/>
            <a:ext cx="4389120" cy="1371600"/>
          </a:xfrm>
          <a:prstGeom prst="rect">
            <a:avLst/>
          </a:prstGeom>
          <a:noFill/>
          <a:ln/>
        </p:spPr>
        <p:txBody>
          <a:bodyPr wrap="square" lIns="0" tIns="0" rIns="0" bIns="0" rtlCol="0" anchor="t"/>
          <a:lstStyle/>
          <a:p>
            <a:pPr marL="342900" indent="-342900">
              <a:spcAft>
                <a:spcPts val="400"/>
              </a:spcAft>
              <a:buSzPct val="100000"/>
              <a:buFont typeface="+mj-lt"/>
              <a:buAutoNum type="arabicPeriod" startAt="1"/>
            </a:pPr>
            <a:r>
              <a:rPr lang="en-US" sz="1250" dirty="0">
                <a:solidFill>
                  <a:srgbClr val="00274A"/>
                </a:solidFill>
              </a:rPr>
              <a:t>Mengotomatisasi dan mengintegrasikan banyak proses bisnis.</a:t>
            </a:r>
            <a:endParaRPr lang="en-US" sz="1250" dirty="0"/>
          </a:p>
          <a:p>
            <a:pPr marL="342900" indent="-342900">
              <a:spcAft>
                <a:spcPts val="400"/>
              </a:spcAft>
              <a:buSzPct val="100000"/>
              <a:buFont typeface="+mj-lt"/>
              <a:buAutoNum type="arabicPeriod" startAt="1"/>
            </a:pPr>
            <a:r>
              <a:rPr lang="en-US" sz="1250" dirty="0">
                <a:solidFill>
                  <a:srgbClr val="00274A"/>
                </a:solidFill>
              </a:rPr>
              <a:t>Berbagi basis data dan praktik bisnis yang sama di seluruh perusahaan.</a:t>
            </a:r>
            <a:endParaRPr lang="en-US" sz="1250" dirty="0"/>
          </a:p>
          <a:p>
            <a:pPr marL="342900" indent="-342900">
              <a:spcAft>
                <a:spcPts val="400"/>
              </a:spcAft>
              <a:buSzPct val="100000"/>
              <a:buFont typeface="+mj-lt"/>
              <a:buAutoNum type="arabicPeriod" startAt="1"/>
            </a:pPr>
            <a:r>
              <a:rPr lang="en-US" sz="1250" dirty="0">
                <a:solidFill>
                  <a:srgbClr val="00274A"/>
                </a:solidFill>
              </a:rPr>
              <a:t>Menghasilkan informasi secara </a:t>
            </a:r>
            <a:r>
              <a:rPr lang="en-US" sz="1250" i="1" dirty="0">
                <a:solidFill>
                  <a:srgbClr val="00274A"/>
                </a:solidFill>
              </a:rPr>
              <a:t>real time</a:t>
            </a:r>
            <a:r>
              <a:rPr lang="en-US" sz="1250" dirty="0">
                <a:solidFill>
                  <a:srgbClr val="00274A"/>
                </a:solidFill>
              </a:rPr>
              <a:t>.</a:t>
            </a:r>
            <a:endParaRPr lang="en-US" sz="1250" dirty="0"/>
          </a:p>
        </p:txBody>
      </p:sp>
      <p:sp>
        <p:nvSpPr>
          <p:cNvPr id="8" name="card"/>
          <p:cNvSpPr/>
          <p:nvPr/>
        </p:nvSpPr>
        <p:spPr>
          <a:xfrm>
            <a:off x="822960" y="4983480"/>
            <a:ext cx="4297680" cy="1051560"/>
          </a:xfrm>
          <a:prstGeom prst="roundRect">
            <a:avLst>
              <a:gd name="adj" fmla="val 12174"/>
            </a:avLst>
          </a:prstGeom>
          <a:solidFill>
            <a:srgbClr val="F0F7FD"/>
          </a:solidFill>
          <a:ln w="3175">
            <a:solidFill>
              <a:srgbClr val="F0F7FD"/>
            </a:solidFill>
            <a:prstDash val="solid"/>
          </a:ln>
        </p:spPr>
      </p:sp>
      <p:sp>
        <p:nvSpPr>
          <p:cNvPr id="9" name="text"/>
          <p:cNvSpPr txBox="1"/>
          <p:nvPr/>
        </p:nvSpPr>
        <p:spPr>
          <a:xfrm>
            <a:off x="960120" y="4983480"/>
            <a:ext cx="4023360" cy="1051560"/>
          </a:xfrm>
          <a:prstGeom prst="rect">
            <a:avLst/>
          </a:prstGeom>
          <a:noFill/>
          <a:ln/>
        </p:spPr>
        <p:txBody>
          <a:bodyPr wrap="square" lIns="0" tIns="0" rIns="0" bIns="0" rtlCol="0" anchor="ctr"/>
          <a:lstStyle/>
          <a:p>
            <a:pPr algn="l" indent="0" marL="0">
              <a:buNone/>
            </a:pPr>
            <a:r>
              <a:rPr lang="en-US" sz="1150" b="1" dirty="0">
                <a:solidFill>
                  <a:srgbClr val="00274A"/>
                </a:solidFill>
              </a:rPr>
              <a:t>Prinsip:</a:t>
            </a:r>
            <a:r>
              <a:rPr lang="en-US" sz="1150" dirty="0">
                <a:solidFill>
                  <a:srgbClr val="00274A"/>
                </a:solidFill>
              </a:rPr>
              <a:t> data dimasukkan satu kali. Pesanan 20.000 pasang sepatu yang dientri wiraniaga Nike langsung terlihat di lantai produksi, penagihan, dan pengiriman.</a:t>
            </a:r>
            <a:endParaRPr lang="en-US" sz="1150" dirty="0"/>
          </a:p>
        </p:txBody>
      </p:sp>
      <p:sp>
        <p:nvSpPr>
          <p:cNvPr id="10" name="card"/>
          <p:cNvSpPr/>
          <p:nvPr/>
        </p:nvSpPr>
        <p:spPr>
          <a:xfrm>
            <a:off x="5623560" y="1325880"/>
            <a:ext cx="6019495" cy="4892040"/>
          </a:xfrm>
          <a:prstGeom prst="roundRect">
            <a:avLst>
              <a:gd name="adj" fmla="val 2617"/>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11" name="line"/>
          <p:cNvSpPr/>
          <p:nvPr/>
        </p:nvSpPr>
        <p:spPr>
          <a:xfrm flipH="1">
            <a:off x="8633308" y="2560320"/>
            <a:ext cx="0" cy="1143000"/>
          </a:xfrm>
          <a:prstGeom prst="line">
            <a:avLst/>
          </a:prstGeom>
          <a:noFill/>
          <a:ln w="19050">
            <a:solidFill>
              <a:srgbClr val="C9E0F7"/>
            </a:solidFill>
            <a:prstDash val="solid"/>
          </a:ln>
        </p:spPr>
      </p:sp>
      <p:sp>
        <p:nvSpPr>
          <p:cNvPr id="12" name="line"/>
          <p:cNvSpPr/>
          <p:nvPr/>
        </p:nvSpPr>
        <p:spPr>
          <a:xfrm flipH="1">
            <a:off x="8633308" y="3131820"/>
            <a:ext cx="1187840" cy="571500"/>
          </a:xfrm>
          <a:prstGeom prst="line">
            <a:avLst/>
          </a:prstGeom>
          <a:noFill/>
          <a:ln w="19050">
            <a:solidFill>
              <a:srgbClr val="C9E0F7"/>
            </a:solidFill>
            <a:prstDash val="solid"/>
          </a:ln>
        </p:spPr>
      </p:sp>
      <p:sp>
        <p:nvSpPr>
          <p:cNvPr id="13" name="line"/>
          <p:cNvSpPr/>
          <p:nvPr/>
        </p:nvSpPr>
        <p:spPr>
          <a:xfrm>
            <a:off x="8633308" y="3703320"/>
            <a:ext cx="1187840" cy="571500"/>
          </a:xfrm>
          <a:prstGeom prst="line">
            <a:avLst/>
          </a:prstGeom>
          <a:noFill/>
          <a:ln w="19050">
            <a:solidFill>
              <a:srgbClr val="C9E0F7"/>
            </a:solidFill>
            <a:prstDash val="solid"/>
          </a:ln>
        </p:spPr>
      </p:sp>
      <p:sp>
        <p:nvSpPr>
          <p:cNvPr id="14" name="line"/>
          <p:cNvSpPr/>
          <p:nvPr/>
        </p:nvSpPr>
        <p:spPr>
          <a:xfrm>
            <a:off x="8633308" y="3703320"/>
            <a:ext cx="0" cy="1143000"/>
          </a:xfrm>
          <a:prstGeom prst="line">
            <a:avLst/>
          </a:prstGeom>
          <a:noFill/>
          <a:ln w="19050">
            <a:solidFill>
              <a:srgbClr val="C9E0F7"/>
            </a:solidFill>
            <a:prstDash val="solid"/>
          </a:ln>
        </p:spPr>
      </p:sp>
      <p:sp>
        <p:nvSpPr>
          <p:cNvPr id="15" name="line"/>
          <p:cNvSpPr/>
          <p:nvPr/>
        </p:nvSpPr>
        <p:spPr>
          <a:xfrm flipH="1">
            <a:off x="7445467" y="3703320"/>
            <a:ext cx="1187840" cy="571500"/>
          </a:xfrm>
          <a:prstGeom prst="line">
            <a:avLst/>
          </a:prstGeom>
          <a:noFill/>
          <a:ln w="19050">
            <a:solidFill>
              <a:srgbClr val="C9E0F7"/>
            </a:solidFill>
            <a:prstDash val="solid"/>
          </a:ln>
        </p:spPr>
      </p:sp>
      <p:sp>
        <p:nvSpPr>
          <p:cNvPr id="16" name="line"/>
          <p:cNvSpPr/>
          <p:nvPr/>
        </p:nvSpPr>
        <p:spPr>
          <a:xfrm>
            <a:off x="7445467" y="3131820"/>
            <a:ext cx="1187840" cy="571500"/>
          </a:xfrm>
          <a:prstGeom prst="line">
            <a:avLst/>
          </a:prstGeom>
          <a:noFill/>
          <a:ln w="19050">
            <a:solidFill>
              <a:srgbClr val="C9E0F7"/>
            </a:solidFill>
            <a:prstDash val="solid"/>
          </a:ln>
        </p:spPr>
      </p:sp>
      <p:sp>
        <p:nvSpPr>
          <p:cNvPr id="17" name="icon circle"/>
          <p:cNvSpPr/>
          <p:nvPr/>
        </p:nvSpPr>
        <p:spPr>
          <a:xfrm>
            <a:off x="8358988" y="2286000"/>
            <a:ext cx="548640" cy="548640"/>
          </a:xfrm>
          <a:prstGeom prst="ellipse">
            <a:avLst/>
          </a:prstGeom>
          <a:solidFill>
            <a:srgbClr val="91BE62"/>
          </a:solidFill>
          <a:ln w="3175">
            <a:solidFill>
              <a:srgbClr val="91BE62"/>
            </a:solidFill>
            <a:prstDash val="solid"/>
          </a:ln>
        </p:spPr>
      </p:sp>
      <p:pic>
        <p:nvPicPr>
          <p:cNvPr id="18" name="icon FaMoneyBillWave" descr="preencoded.png">    </p:cNvPr>
          <p:cNvPicPr>
            <a:picLocks noChangeAspect="1"/>
          </p:cNvPicPr>
          <p:nvPr/>
        </p:nvPicPr>
        <p:blipFill>
          <a:blip r:embed="rId1"/>
          <a:stretch>
            <a:fillRect/>
          </a:stretch>
        </p:blipFill>
        <p:spPr>
          <a:xfrm>
            <a:off x="8496148" y="2423160"/>
            <a:ext cx="274320" cy="274320"/>
          </a:xfrm>
          <a:prstGeom prst="rect">
            <a:avLst/>
          </a:prstGeom>
        </p:spPr>
      </p:pic>
      <p:sp>
        <p:nvSpPr>
          <p:cNvPr id="19" name="text"/>
          <p:cNvSpPr txBox="1"/>
          <p:nvPr/>
        </p:nvSpPr>
        <p:spPr>
          <a:xfrm>
            <a:off x="7627468" y="1691640"/>
            <a:ext cx="2011680" cy="274320"/>
          </a:xfrm>
          <a:prstGeom prst="rect">
            <a:avLst/>
          </a:prstGeom>
          <a:noFill/>
          <a:ln/>
        </p:spPr>
        <p:txBody>
          <a:bodyPr wrap="square" lIns="0" tIns="0" rIns="0" bIns="0" rtlCol="0" anchor="t"/>
          <a:lstStyle/>
          <a:p>
            <a:pPr algn="ctr" indent="0" marL="0">
              <a:buNone/>
            </a:pPr>
            <a:r>
              <a:rPr lang="en-US" sz="1100" b="1" dirty="0">
                <a:solidFill>
                  <a:srgbClr val="00274A"/>
                </a:solidFill>
              </a:rPr>
              <a:t>Cash to cash</a:t>
            </a:r>
            <a:endParaRPr lang="en-US" sz="1100" dirty="0"/>
          </a:p>
        </p:txBody>
      </p:sp>
      <p:sp>
        <p:nvSpPr>
          <p:cNvPr id="20" name="text"/>
          <p:cNvSpPr txBox="1"/>
          <p:nvPr/>
        </p:nvSpPr>
        <p:spPr>
          <a:xfrm>
            <a:off x="7627468" y="1947672"/>
            <a:ext cx="2011680" cy="274320"/>
          </a:xfrm>
          <a:prstGeom prst="rect">
            <a:avLst/>
          </a:prstGeom>
          <a:noFill/>
          <a:ln/>
        </p:spPr>
        <p:txBody>
          <a:bodyPr wrap="square" lIns="0" tIns="0" rIns="0" bIns="0" rtlCol="0" anchor="t"/>
          <a:lstStyle/>
          <a:p>
            <a:pPr algn="ctr" indent="0" marL="0">
              <a:buNone/>
            </a:pPr>
            <a:r>
              <a:rPr lang="en-US" sz="950" dirty="0">
                <a:solidFill>
                  <a:srgbClr val="01426A"/>
                </a:solidFill>
              </a:rPr>
              <a:t>Keuangan</a:t>
            </a:r>
            <a:endParaRPr lang="en-US" sz="950" dirty="0"/>
          </a:p>
        </p:txBody>
      </p:sp>
      <p:sp>
        <p:nvSpPr>
          <p:cNvPr id="21" name="icon circle"/>
          <p:cNvSpPr/>
          <p:nvPr/>
        </p:nvSpPr>
        <p:spPr>
          <a:xfrm>
            <a:off x="9546828" y="2857500"/>
            <a:ext cx="548640" cy="548640"/>
          </a:xfrm>
          <a:prstGeom prst="ellipse">
            <a:avLst/>
          </a:prstGeom>
          <a:solidFill>
            <a:srgbClr val="00CFF0"/>
          </a:solidFill>
          <a:ln w="3175">
            <a:solidFill>
              <a:srgbClr val="00CFF0"/>
            </a:solidFill>
            <a:prstDash val="solid"/>
          </a:ln>
        </p:spPr>
      </p:sp>
      <p:pic>
        <p:nvPicPr>
          <p:cNvPr id="22" name="icon FaBullhorn" descr="preencoded.png">    </p:cNvPr>
          <p:cNvPicPr>
            <a:picLocks noChangeAspect="1"/>
          </p:cNvPicPr>
          <p:nvPr/>
        </p:nvPicPr>
        <p:blipFill>
          <a:blip r:embed="rId2"/>
          <a:stretch>
            <a:fillRect/>
          </a:stretch>
        </p:blipFill>
        <p:spPr>
          <a:xfrm>
            <a:off x="9683988" y="2994660"/>
            <a:ext cx="274320" cy="274320"/>
          </a:xfrm>
          <a:prstGeom prst="rect">
            <a:avLst/>
          </a:prstGeom>
        </p:spPr>
      </p:pic>
      <p:sp>
        <p:nvSpPr>
          <p:cNvPr id="23" name="text"/>
          <p:cNvSpPr txBox="1"/>
          <p:nvPr/>
        </p:nvSpPr>
        <p:spPr>
          <a:xfrm>
            <a:off x="10168620" y="2747772"/>
            <a:ext cx="1234440" cy="457200"/>
          </a:xfrm>
          <a:prstGeom prst="rect">
            <a:avLst/>
          </a:prstGeom>
          <a:noFill/>
          <a:ln/>
        </p:spPr>
        <p:txBody>
          <a:bodyPr wrap="square" lIns="0" tIns="0" rIns="0" bIns="0" rtlCol="0" anchor="b"/>
          <a:lstStyle/>
          <a:p>
            <a:pPr algn="l" indent="0" marL="0">
              <a:buNone/>
            </a:pPr>
            <a:r>
              <a:rPr lang="en-US" sz="1050" b="1" dirty="0">
                <a:solidFill>
                  <a:srgbClr val="00274A"/>
                </a:solidFill>
              </a:rPr>
              <a:t>Promote to deliver</a:t>
            </a:r>
            <a:endParaRPr lang="en-US" sz="1050" dirty="0"/>
          </a:p>
        </p:txBody>
      </p:sp>
      <p:sp>
        <p:nvSpPr>
          <p:cNvPr id="24" name="text"/>
          <p:cNvSpPr txBox="1"/>
          <p:nvPr/>
        </p:nvSpPr>
        <p:spPr>
          <a:xfrm>
            <a:off x="10168620" y="3223260"/>
            <a:ext cx="1234440" cy="274320"/>
          </a:xfrm>
          <a:prstGeom prst="rect">
            <a:avLst/>
          </a:prstGeom>
          <a:noFill/>
          <a:ln/>
        </p:spPr>
        <p:txBody>
          <a:bodyPr wrap="square" lIns="0" tIns="0" rIns="0" bIns="0" rtlCol="0" anchor="t"/>
          <a:lstStyle/>
          <a:p>
            <a:pPr algn="l" indent="0" marL="0">
              <a:buNone/>
            </a:pPr>
            <a:r>
              <a:rPr lang="en-US" sz="950" dirty="0">
                <a:solidFill>
                  <a:srgbClr val="01426A"/>
                </a:solidFill>
              </a:rPr>
              <a:t>Penjualan &amp; layanan</a:t>
            </a:r>
            <a:endParaRPr lang="en-US" sz="950" dirty="0"/>
          </a:p>
        </p:txBody>
      </p:sp>
      <p:sp>
        <p:nvSpPr>
          <p:cNvPr id="25" name="icon circle"/>
          <p:cNvSpPr/>
          <p:nvPr/>
        </p:nvSpPr>
        <p:spPr>
          <a:xfrm>
            <a:off x="9546828" y="4000500"/>
            <a:ext cx="548640" cy="548640"/>
          </a:xfrm>
          <a:prstGeom prst="ellipse">
            <a:avLst/>
          </a:prstGeom>
          <a:solidFill>
            <a:srgbClr val="91BE62"/>
          </a:solidFill>
          <a:ln w="3175">
            <a:solidFill>
              <a:srgbClr val="91BE62"/>
            </a:solidFill>
            <a:prstDash val="solid"/>
          </a:ln>
        </p:spPr>
      </p:sp>
      <p:pic>
        <p:nvPicPr>
          <p:cNvPr id="26" name="icon FaIndustry" descr="preencoded.png">    </p:cNvPr>
          <p:cNvPicPr>
            <a:picLocks noChangeAspect="1"/>
          </p:cNvPicPr>
          <p:nvPr/>
        </p:nvPicPr>
        <p:blipFill>
          <a:blip r:embed="rId3"/>
          <a:stretch>
            <a:fillRect/>
          </a:stretch>
        </p:blipFill>
        <p:spPr>
          <a:xfrm>
            <a:off x="9683988" y="4137660"/>
            <a:ext cx="274320" cy="274320"/>
          </a:xfrm>
          <a:prstGeom prst="rect">
            <a:avLst/>
          </a:prstGeom>
        </p:spPr>
      </p:pic>
      <p:sp>
        <p:nvSpPr>
          <p:cNvPr id="27" name="text"/>
          <p:cNvSpPr txBox="1"/>
          <p:nvPr/>
        </p:nvSpPr>
        <p:spPr>
          <a:xfrm>
            <a:off x="10168620" y="3890772"/>
            <a:ext cx="1234440" cy="457200"/>
          </a:xfrm>
          <a:prstGeom prst="rect">
            <a:avLst/>
          </a:prstGeom>
          <a:noFill/>
          <a:ln/>
        </p:spPr>
        <p:txBody>
          <a:bodyPr wrap="square" lIns="0" tIns="0" rIns="0" bIns="0" rtlCol="0" anchor="b"/>
          <a:lstStyle/>
          <a:p>
            <a:pPr algn="l" indent="0" marL="0">
              <a:buNone/>
            </a:pPr>
            <a:r>
              <a:rPr lang="en-US" sz="1050" b="1" dirty="0">
                <a:solidFill>
                  <a:srgbClr val="00274A"/>
                </a:solidFill>
              </a:rPr>
              <a:t>Design to manufacture</a:t>
            </a:r>
            <a:endParaRPr lang="en-US" sz="1050" dirty="0"/>
          </a:p>
        </p:txBody>
      </p:sp>
      <p:sp>
        <p:nvSpPr>
          <p:cNvPr id="28" name="text"/>
          <p:cNvSpPr txBox="1"/>
          <p:nvPr/>
        </p:nvSpPr>
        <p:spPr>
          <a:xfrm>
            <a:off x="10168620" y="4366260"/>
            <a:ext cx="1234440" cy="274320"/>
          </a:xfrm>
          <a:prstGeom prst="rect">
            <a:avLst/>
          </a:prstGeom>
          <a:noFill/>
          <a:ln/>
        </p:spPr>
        <p:txBody>
          <a:bodyPr wrap="square" lIns="0" tIns="0" rIns="0" bIns="0" rtlCol="0" anchor="t"/>
          <a:lstStyle/>
          <a:p>
            <a:pPr algn="l" indent="0" marL="0">
              <a:buNone/>
            </a:pPr>
            <a:r>
              <a:rPr lang="en-US" sz="950" dirty="0">
                <a:solidFill>
                  <a:srgbClr val="01426A"/>
                </a:solidFill>
              </a:rPr>
              <a:t>Produksi, </a:t>
            </a:r>
            <a:r>
              <a:rPr lang="en-US" sz="950" i="1" dirty="0">
                <a:solidFill>
                  <a:srgbClr val="01426A"/>
                </a:solidFill>
              </a:rPr>
              <a:t>plant maintenance</a:t>
            </a:r>
            <a:endParaRPr lang="en-US" sz="950" dirty="0"/>
          </a:p>
        </p:txBody>
      </p:sp>
      <p:sp>
        <p:nvSpPr>
          <p:cNvPr id="29" name="icon circle"/>
          <p:cNvSpPr/>
          <p:nvPr/>
        </p:nvSpPr>
        <p:spPr>
          <a:xfrm>
            <a:off x="8358988" y="4572000"/>
            <a:ext cx="548640" cy="548640"/>
          </a:xfrm>
          <a:prstGeom prst="ellipse">
            <a:avLst/>
          </a:prstGeom>
          <a:solidFill>
            <a:srgbClr val="00CFF0"/>
          </a:solidFill>
          <a:ln w="3175">
            <a:solidFill>
              <a:srgbClr val="00CFF0"/>
            </a:solidFill>
            <a:prstDash val="solid"/>
          </a:ln>
        </p:spPr>
      </p:sp>
      <p:pic>
        <p:nvPicPr>
          <p:cNvPr id="30" name="icon FaShoppingCart" descr="preencoded.png">    </p:cNvPr>
          <p:cNvPicPr>
            <a:picLocks noChangeAspect="1"/>
          </p:cNvPicPr>
          <p:nvPr/>
        </p:nvPicPr>
        <p:blipFill>
          <a:blip r:embed="rId4"/>
          <a:stretch>
            <a:fillRect/>
          </a:stretch>
        </p:blipFill>
        <p:spPr>
          <a:xfrm>
            <a:off x="8496148" y="4709160"/>
            <a:ext cx="274320" cy="274320"/>
          </a:xfrm>
          <a:prstGeom prst="rect">
            <a:avLst/>
          </a:prstGeom>
        </p:spPr>
      </p:pic>
      <p:sp>
        <p:nvSpPr>
          <p:cNvPr id="31" name="text"/>
          <p:cNvSpPr txBox="1"/>
          <p:nvPr/>
        </p:nvSpPr>
        <p:spPr>
          <a:xfrm>
            <a:off x="7627468" y="5166360"/>
            <a:ext cx="2011680" cy="274320"/>
          </a:xfrm>
          <a:prstGeom prst="rect">
            <a:avLst/>
          </a:prstGeom>
          <a:noFill/>
          <a:ln/>
        </p:spPr>
        <p:txBody>
          <a:bodyPr wrap="square" lIns="0" tIns="0" rIns="0" bIns="0" rtlCol="0" anchor="t"/>
          <a:lstStyle/>
          <a:p>
            <a:pPr algn="ctr" indent="0" marL="0">
              <a:buNone/>
            </a:pPr>
            <a:r>
              <a:rPr lang="en-US" sz="1100" b="1" dirty="0">
                <a:solidFill>
                  <a:srgbClr val="00274A"/>
                </a:solidFill>
              </a:rPr>
              <a:t>Procure to pay</a:t>
            </a:r>
            <a:endParaRPr lang="en-US" sz="1100" dirty="0"/>
          </a:p>
        </p:txBody>
      </p:sp>
      <p:sp>
        <p:nvSpPr>
          <p:cNvPr id="32" name="text"/>
          <p:cNvSpPr txBox="1"/>
          <p:nvPr/>
        </p:nvSpPr>
        <p:spPr>
          <a:xfrm>
            <a:off x="7627468" y="5422392"/>
            <a:ext cx="2011680" cy="274320"/>
          </a:xfrm>
          <a:prstGeom prst="rect">
            <a:avLst/>
          </a:prstGeom>
          <a:noFill/>
          <a:ln/>
        </p:spPr>
        <p:txBody>
          <a:bodyPr wrap="square" lIns="0" tIns="0" rIns="0" bIns="0" rtlCol="0" anchor="t"/>
          <a:lstStyle/>
          <a:p>
            <a:pPr algn="ctr" indent="0" marL="0">
              <a:buNone/>
            </a:pPr>
            <a:r>
              <a:rPr lang="en-US" sz="950" dirty="0">
                <a:solidFill>
                  <a:srgbClr val="01426A"/>
                </a:solidFill>
              </a:rPr>
              <a:t>Pengadaan</a:t>
            </a:r>
            <a:endParaRPr lang="en-US" sz="950" dirty="0"/>
          </a:p>
        </p:txBody>
      </p:sp>
      <p:sp>
        <p:nvSpPr>
          <p:cNvPr id="33" name="icon circle"/>
          <p:cNvSpPr/>
          <p:nvPr/>
        </p:nvSpPr>
        <p:spPr>
          <a:xfrm>
            <a:off x="7171147" y="4000500"/>
            <a:ext cx="548640" cy="548640"/>
          </a:xfrm>
          <a:prstGeom prst="ellipse">
            <a:avLst/>
          </a:prstGeom>
          <a:solidFill>
            <a:srgbClr val="91BE62"/>
          </a:solidFill>
          <a:ln w="3175">
            <a:solidFill>
              <a:srgbClr val="91BE62"/>
            </a:solidFill>
            <a:prstDash val="solid"/>
          </a:ln>
        </p:spPr>
      </p:sp>
      <p:pic>
        <p:nvPicPr>
          <p:cNvPr id="34" name="icon FaUsers" descr="preencoded.png">    </p:cNvPr>
          <p:cNvPicPr>
            <a:picLocks noChangeAspect="1"/>
          </p:cNvPicPr>
          <p:nvPr/>
        </p:nvPicPr>
        <p:blipFill>
          <a:blip r:embed="rId5"/>
          <a:stretch>
            <a:fillRect/>
          </a:stretch>
        </p:blipFill>
        <p:spPr>
          <a:xfrm>
            <a:off x="7308307" y="4137660"/>
            <a:ext cx="274320" cy="274320"/>
          </a:xfrm>
          <a:prstGeom prst="rect">
            <a:avLst/>
          </a:prstGeom>
        </p:spPr>
      </p:pic>
      <p:sp>
        <p:nvSpPr>
          <p:cNvPr id="35" name="text"/>
          <p:cNvSpPr txBox="1"/>
          <p:nvPr/>
        </p:nvSpPr>
        <p:spPr>
          <a:xfrm>
            <a:off x="5863555" y="3890772"/>
            <a:ext cx="1234440" cy="457200"/>
          </a:xfrm>
          <a:prstGeom prst="rect">
            <a:avLst/>
          </a:prstGeom>
          <a:noFill/>
          <a:ln/>
        </p:spPr>
        <p:txBody>
          <a:bodyPr wrap="square" lIns="0" tIns="0" rIns="0" bIns="0" rtlCol="0" anchor="b"/>
          <a:lstStyle/>
          <a:p>
            <a:pPr algn="r" indent="0" marL="0">
              <a:buNone/>
            </a:pPr>
            <a:r>
              <a:rPr lang="en-US" sz="1050" b="1" dirty="0">
                <a:solidFill>
                  <a:srgbClr val="00274A"/>
                </a:solidFill>
              </a:rPr>
              <a:t>Recruit to retire</a:t>
            </a:r>
            <a:endParaRPr lang="en-US" sz="1050" dirty="0"/>
          </a:p>
        </p:txBody>
      </p:sp>
      <p:sp>
        <p:nvSpPr>
          <p:cNvPr id="36" name="text"/>
          <p:cNvSpPr txBox="1"/>
          <p:nvPr/>
        </p:nvSpPr>
        <p:spPr>
          <a:xfrm>
            <a:off x="5863555" y="4366260"/>
            <a:ext cx="1234440" cy="274320"/>
          </a:xfrm>
          <a:prstGeom prst="rect">
            <a:avLst/>
          </a:prstGeom>
          <a:noFill/>
          <a:ln/>
        </p:spPr>
        <p:txBody>
          <a:bodyPr wrap="square" lIns="0" tIns="0" rIns="0" bIns="0" rtlCol="0" anchor="t"/>
          <a:lstStyle/>
          <a:p>
            <a:pPr algn="r" indent="0" marL="0">
              <a:buNone/>
            </a:pPr>
            <a:r>
              <a:rPr lang="en-US" sz="950" dirty="0">
                <a:solidFill>
                  <a:srgbClr val="01426A"/>
                </a:solidFill>
              </a:rPr>
              <a:t>SDM &amp; </a:t>
            </a:r>
            <a:r>
              <a:rPr lang="en-US" sz="950" i="1" dirty="0">
                <a:solidFill>
                  <a:srgbClr val="01426A"/>
                </a:solidFill>
              </a:rPr>
              <a:t>payroll</a:t>
            </a:r>
            <a:endParaRPr lang="en-US" sz="950" dirty="0"/>
          </a:p>
        </p:txBody>
      </p:sp>
      <p:sp>
        <p:nvSpPr>
          <p:cNvPr id="37" name="icon circle"/>
          <p:cNvSpPr/>
          <p:nvPr/>
        </p:nvSpPr>
        <p:spPr>
          <a:xfrm>
            <a:off x="7171147" y="2857500"/>
            <a:ext cx="548640" cy="548640"/>
          </a:xfrm>
          <a:prstGeom prst="ellipse">
            <a:avLst/>
          </a:prstGeom>
          <a:solidFill>
            <a:srgbClr val="00CFF0"/>
          </a:solidFill>
          <a:ln w="3175">
            <a:solidFill>
              <a:srgbClr val="00CFF0"/>
            </a:solidFill>
            <a:prstDash val="solid"/>
          </a:ln>
        </p:spPr>
      </p:sp>
      <p:pic>
        <p:nvPicPr>
          <p:cNvPr id="38" name="icon FaWarehouse" descr="preencoded.png">    </p:cNvPr>
          <p:cNvPicPr>
            <a:picLocks noChangeAspect="1"/>
          </p:cNvPicPr>
          <p:nvPr/>
        </p:nvPicPr>
        <p:blipFill>
          <a:blip r:embed="rId6"/>
          <a:stretch>
            <a:fillRect/>
          </a:stretch>
        </p:blipFill>
        <p:spPr>
          <a:xfrm>
            <a:off x="7308307" y="2994660"/>
            <a:ext cx="274320" cy="274320"/>
          </a:xfrm>
          <a:prstGeom prst="rect">
            <a:avLst/>
          </a:prstGeom>
        </p:spPr>
      </p:pic>
      <p:sp>
        <p:nvSpPr>
          <p:cNvPr id="39" name="text"/>
          <p:cNvSpPr txBox="1"/>
          <p:nvPr/>
        </p:nvSpPr>
        <p:spPr>
          <a:xfrm>
            <a:off x="5863555" y="2747772"/>
            <a:ext cx="1234440" cy="457200"/>
          </a:xfrm>
          <a:prstGeom prst="rect">
            <a:avLst/>
          </a:prstGeom>
          <a:noFill/>
          <a:ln/>
        </p:spPr>
        <p:txBody>
          <a:bodyPr wrap="square" lIns="0" tIns="0" rIns="0" bIns="0" rtlCol="0" anchor="b"/>
          <a:lstStyle/>
          <a:p>
            <a:pPr algn="r" indent="0" marL="0">
              <a:buNone/>
            </a:pPr>
            <a:r>
              <a:rPr lang="en-US" sz="1050" b="1" dirty="0">
                <a:solidFill>
                  <a:srgbClr val="00274A"/>
                </a:solidFill>
              </a:rPr>
              <a:t>Dock to dispatch</a:t>
            </a:r>
            <a:endParaRPr lang="en-US" sz="1050" dirty="0"/>
          </a:p>
        </p:txBody>
      </p:sp>
      <p:sp>
        <p:nvSpPr>
          <p:cNvPr id="40" name="text"/>
          <p:cNvSpPr txBox="1"/>
          <p:nvPr/>
        </p:nvSpPr>
        <p:spPr>
          <a:xfrm>
            <a:off x="5863555" y="3223260"/>
            <a:ext cx="1234440" cy="274320"/>
          </a:xfrm>
          <a:prstGeom prst="rect">
            <a:avLst/>
          </a:prstGeom>
          <a:noFill/>
          <a:ln/>
        </p:spPr>
        <p:txBody>
          <a:bodyPr wrap="square" lIns="0" tIns="0" rIns="0" bIns="0" rtlCol="0" anchor="t"/>
          <a:lstStyle/>
          <a:p>
            <a:pPr algn="r" indent="0" marL="0">
              <a:buNone/>
            </a:pPr>
            <a:r>
              <a:rPr lang="en-US" sz="950" dirty="0">
                <a:solidFill>
                  <a:srgbClr val="01426A"/>
                </a:solidFill>
              </a:rPr>
              <a:t>Persediaan &amp; distribusi</a:t>
            </a:r>
            <a:endParaRPr lang="en-US" sz="950" dirty="0"/>
          </a:p>
        </p:txBody>
      </p:sp>
      <p:sp>
        <p:nvSpPr>
          <p:cNvPr id="41" name="hub"/>
          <p:cNvSpPr/>
          <p:nvPr/>
        </p:nvSpPr>
        <p:spPr>
          <a:xfrm>
            <a:off x="7856068" y="2926080"/>
            <a:ext cx="1554480" cy="1554480"/>
          </a:xfrm>
          <a:prstGeom prst="ellipse">
            <a:avLst/>
          </a:prstGeom>
          <a:solidFill>
            <a:srgbClr val="00274A"/>
          </a:solidFill>
          <a:ln w="3175">
            <a:solidFill>
              <a:srgbClr val="00274A"/>
            </a:solidFill>
            <a:prstDash val="solid"/>
          </a:ln>
          <a:effectLst>
            <a:outerShdw sx="100000" sy="100000" kx="0" ky="0" algn="bl" rotWithShape="0" blurRad="76200" dist="25400" dir="5400000">
              <a:srgbClr val="01426A">
                <a:alpha val="13000"/>
              </a:srgbClr>
            </a:outerShdw>
          </a:effectLst>
        </p:spPr>
      </p:sp>
      <p:pic>
        <p:nvPicPr>
          <p:cNvPr id="42" name="icon FaDatabase" descr="preencoded.png">    </p:cNvPr>
          <p:cNvPicPr>
            <a:picLocks noChangeAspect="1"/>
          </p:cNvPicPr>
          <p:nvPr/>
        </p:nvPicPr>
        <p:blipFill>
          <a:blip r:embed="rId7"/>
          <a:stretch>
            <a:fillRect/>
          </a:stretch>
        </p:blipFill>
        <p:spPr>
          <a:xfrm>
            <a:off x="8404708" y="3154680"/>
            <a:ext cx="457200" cy="457200"/>
          </a:xfrm>
          <a:prstGeom prst="rect">
            <a:avLst/>
          </a:prstGeom>
        </p:spPr>
      </p:pic>
      <p:sp>
        <p:nvSpPr>
          <p:cNvPr id="43" name="text"/>
          <p:cNvSpPr txBox="1"/>
          <p:nvPr/>
        </p:nvSpPr>
        <p:spPr>
          <a:xfrm>
            <a:off x="7901788" y="3657600"/>
            <a:ext cx="1463040" cy="548640"/>
          </a:xfrm>
          <a:prstGeom prst="rect">
            <a:avLst/>
          </a:prstGeom>
          <a:noFill/>
          <a:ln/>
        </p:spPr>
        <p:txBody>
          <a:bodyPr wrap="square" lIns="0" tIns="0" rIns="0" bIns="0" rtlCol="0" anchor="ctr"/>
          <a:lstStyle/>
          <a:p>
            <a:pPr algn="ctr" indent="0" marL="0">
              <a:buNone/>
            </a:pPr>
            <a:r>
              <a:rPr lang="en-US" sz="1100" b="1" dirty="0">
                <a:solidFill>
                  <a:srgbClr val="FFFFFF"/>
                </a:solidFill>
              </a:rPr>
              <a:t>Basis data bersama</a:t>
            </a:r>
            <a:endParaRPr lang="en-US" sz="1100" dirty="0"/>
          </a:p>
        </p:txBody>
      </p:sp>
      <p:sp>
        <p:nvSpPr>
          <p:cNvPr id="44" name="text"/>
          <p:cNvSpPr txBox="1"/>
          <p:nvPr/>
        </p:nvSpPr>
        <p:spPr>
          <a:xfrm>
            <a:off x="5897880" y="5806440"/>
            <a:ext cx="5470855" cy="320040"/>
          </a:xfrm>
          <a:prstGeom prst="rect">
            <a:avLst/>
          </a:prstGeom>
          <a:noFill/>
          <a:ln/>
        </p:spPr>
        <p:txBody>
          <a:bodyPr wrap="square" lIns="0" tIns="0" rIns="0" bIns="0" rtlCol="0" anchor="t"/>
          <a:lstStyle/>
          <a:p>
            <a:pPr algn="ctr" indent="0" marL="0">
              <a:buNone/>
            </a:pPr>
            <a:r>
              <a:rPr lang="en-US" sz="1000" i="1" dirty="0">
                <a:solidFill>
                  <a:srgbClr val="585E67"/>
                </a:solidFill>
              </a:rPr>
              <a:t>Modul mengikuti pengelompokan SAP (Heizer et al., 2017, Gambar 14.11); MRP menjadi inti modul produksi.</a:t>
            </a:r>
            <a:endParaRPr lang="en-US" sz="1000" dirty="0"/>
          </a:p>
        </p:txBody>
      </p:sp>
      <p:sp>
        <p:nvSpPr>
          <p:cNvPr id="25" name="Slide Number Placeholder 0"/>
          <p:cNvSpPr>
            <a:spLocks noGrp="1"/>
          </p:cNvSpPr>
          <p:nvPr>
            <p:ph type="sldNum" sz="quarter" idx="4294967295"/>
          </p:nvPr>
        </p:nvSpPr>
        <p:spPr>
          <a:xfrm>
            <a:off x="11064240" y="6428232"/>
            <a:ext cx="576072"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01426A"/>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000" b="1" dirty="0">
                <a:solidFill>
                  <a:srgbClr val="00274A"/>
                </a:solidFill>
              </a:rPr>
              <a:t>Keunggulan dan Kelemahan ERP: Dasar Evaluasi Kasus</a:t>
            </a:r>
            <a:endParaRPr lang="en-US" sz="3000" dirty="0"/>
          </a:p>
        </p:txBody>
      </p:sp>
      <p:sp>
        <p:nvSpPr>
          <p:cNvPr id="4" name="card"/>
          <p:cNvSpPr/>
          <p:nvPr/>
        </p:nvSpPr>
        <p:spPr>
          <a:xfrm>
            <a:off x="548640" y="1325880"/>
            <a:ext cx="5410048" cy="4069080"/>
          </a:xfrm>
          <a:prstGeom prst="roundRect">
            <a:avLst>
              <a:gd name="adj" fmla="val 3146"/>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5" name="icon circle"/>
          <p:cNvSpPr/>
          <p:nvPr/>
        </p:nvSpPr>
        <p:spPr>
          <a:xfrm>
            <a:off x="822960" y="1554480"/>
            <a:ext cx="548640" cy="548640"/>
          </a:xfrm>
          <a:prstGeom prst="ellipse">
            <a:avLst/>
          </a:prstGeom>
          <a:solidFill>
            <a:srgbClr val="51AE8C"/>
          </a:solidFill>
          <a:ln w="3175">
            <a:solidFill>
              <a:srgbClr val="51AE8C"/>
            </a:solidFill>
            <a:prstDash val="solid"/>
          </a:ln>
        </p:spPr>
      </p:sp>
      <p:pic>
        <p:nvPicPr>
          <p:cNvPr id="6" name="icon FaThumbsUp" descr="preencoded.png">    </p:cNvPr>
          <p:cNvPicPr>
            <a:picLocks noChangeAspect="1"/>
          </p:cNvPicPr>
          <p:nvPr/>
        </p:nvPicPr>
        <p:blipFill>
          <a:blip r:embed="rId1"/>
          <a:stretch>
            <a:fillRect/>
          </a:stretch>
        </p:blipFill>
        <p:spPr>
          <a:xfrm>
            <a:off x="960120" y="1691640"/>
            <a:ext cx="274320" cy="274320"/>
          </a:xfrm>
          <a:prstGeom prst="rect">
            <a:avLst/>
          </a:prstGeom>
        </p:spPr>
      </p:pic>
      <p:sp>
        <p:nvSpPr>
          <p:cNvPr id="7" name="text"/>
          <p:cNvSpPr txBox="1"/>
          <p:nvPr/>
        </p:nvSpPr>
        <p:spPr>
          <a:xfrm>
            <a:off x="1508760" y="1554480"/>
            <a:ext cx="2743200" cy="548640"/>
          </a:xfrm>
          <a:prstGeom prst="rect">
            <a:avLst/>
          </a:prstGeom>
          <a:noFill/>
          <a:ln/>
        </p:spPr>
        <p:txBody>
          <a:bodyPr wrap="square" lIns="0" tIns="0" rIns="0" bIns="0" rtlCol="0" anchor="ctr"/>
          <a:lstStyle/>
          <a:p>
            <a:pPr algn="l" indent="0" marL="0">
              <a:buNone/>
            </a:pPr>
            <a:r>
              <a:rPr lang="en-US" sz="1700" b="1" dirty="0">
                <a:solidFill>
                  <a:srgbClr val="00274A"/>
                </a:solidFill>
              </a:rPr>
              <a:t>Keunggulan</a:t>
            </a:r>
            <a:endParaRPr lang="en-US" sz="1700" dirty="0"/>
          </a:p>
        </p:txBody>
      </p:sp>
      <p:sp>
        <p:nvSpPr>
          <p:cNvPr id="8" name="bullets"/>
          <p:cNvSpPr txBox="1"/>
          <p:nvPr/>
        </p:nvSpPr>
        <p:spPr>
          <a:xfrm>
            <a:off x="822960" y="2286000"/>
            <a:ext cx="4861408" cy="3017520"/>
          </a:xfrm>
          <a:prstGeom prst="rect">
            <a:avLst/>
          </a:prstGeom>
          <a:noFill/>
          <a:ln/>
        </p:spPr>
        <p:txBody>
          <a:bodyPr wrap="square" lIns="0" tIns="0" rIns="0" bIns="0" rtlCol="0" anchor="t"/>
          <a:lstStyle/>
          <a:p>
            <a:pPr marL="342900" indent="-342900">
              <a:spcAft>
                <a:spcPts val="900"/>
              </a:spcAft>
              <a:buSzPct val="100000"/>
              <a:buFont typeface="+mj-lt"/>
              <a:buAutoNum type="arabicPeriod" startAt="1"/>
            </a:pPr>
            <a:r>
              <a:rPr lang="en-US" sz="1350" dirty="0">
                <a:solidFill>
                  <a:srgbClr val="00274A"/>
                </a:solidFill>
              </a:rPr>
              <a:t>Mengintegrasikan rantai pasok, produksi, dan administrasi.</a:t>
            </a:r>
            <a:endParaRPr lang="en-US" sz="1350" dirty="0"/>
          </a:p>
          <a:p>
            <a:pPr marL="342900" indent="-342900">
              <a:spcAft>
                <a:spcPts val="900"/>
              </a:spcAft>
              <a:buSzPct val="100000"/>
              <a:buFont typeface="+mj-lt"/>
              <a:buAutoNum type="arabicPeriod" startAt="1"/>
            </a:pPr>
            <a:r>
              <a:rPr lang="en-US" sz="1350" dirty="0">
                <a:solidFill>
                  <a:srgbClr val="00274A"/>
                </a:solidFill>
              </a:rPr>
              <a:t>Menciptakan keseragaman basis data (</a:t>
            </a:r>
            <a:r>
              <a:rPr lang="en-US" sz="1350" i="1" dirty="0">
                <a:solidFill>
                  <a:srgbClr val="00274A"/>
                </a:solidFill>
              </a:rPr>
              <a:t>commonality of databases</a:t>
            </a:r>
            <a:r>
              <a:rPr lang="en-US" sz="1350" dirty="0">
                <a:solidFill>
                  <a:srgbClr val="00274A"/>
                </a:solidFill>
              </a:rPr>
              <a:t>).</a:t>
            </a:r>
            <a:endParaRPr lang="en-US" sz="1350" dirty="0"/>
          </a:p>
          <a:p>
            <a:pPr marL="342900" indent="-342900">
              <a:spcAft>
                <a:spcPts val="900"/>
              </a:spcAft>
              <a:buSzPct val="100000"/>
              <a:buFont typeface="+mj-lt"/>
              <a:buAutoNum type="arabicPeriod" startAt="1"/>
            </a:pPr>
            <a:r>
              <a:rPr lang="en-US" sz="1350" dirty="0">
                <a:solidFill>
                  <a:srgbClr val="00274A"/>
                </a:solidFill>
              </a:rPr>
              <a:t>Memuat proses terbaik hasil </a:t>
            </a:r>
            <a:r>
              <a:rPr lang="en-US" sz="1350" i="1" dirty="0">
                <a:solidFill>
                  <a:srgbClr val="00274A"/>
                </a:solidFill>
              </a:rPr>
              <a:t>reengineering</a:t>
            </a:r>
            <a:r>
              <a:rPr lang="en-US" sz="1350" dirty="0">
                <a:solidFill>
                  <a:srgbClr val="00274A"/>
                </a:solidFill>
              </a:rPr>
              <a:t>.</a:t>
            </a:r>
            <a:endParaRPr lang="en-US" sz="1350" dirty="0"/>
          </a:p>
          <a:p>
            <a:pPr marL="342900" indent="-342900">
              <a:spcAft>
                <a:spcPts val="900"/>
              </a:spcAft>
              <a:buSzPct val="100000"/>
              <a:buFont typeface="+mj-lt"/>
              <a:buAutoNum type="arabicPeriod" startAt="1"/>
            </a:pPr>
            <a:r>
              <a:rPr lang="en-US" sz="1350" dirty="0">
                <a:solidFill>
                  <a:srgbClr val="00274A"/>
                </a:solidFill>
              </a:rPr>
              <a:t>Meningkatkan komunikasi dan kolaborasi antarunit dan antarlokasi.</a:t>
            </a:r>
            <a:endParaRPr lang="en-US" sz="1350" dirty="0"/>
          </a:p>
          <a:p>
            <a:pPr marL="342900" indent="-342900">
              <a:spcAft>
                <a:spcPts val="900"/>
              </a:spcAft>
              <a:buSzPct val="100000"/>
              <a:buFont typeface="+mj-lt"/>
              <a:buAutoNum type="arabicPeriod" startAt="1"/>
            </a:pPr>
            <a:r>
              <a:rPr lang="en-US" sz="1350" dirty="0">
                <a:solidFill>
                  <a:srgbClr val="00274A"/>
                </a:solidFill>
              </a:rPr>
              <a:t>Perangkat lunak standar (</a:t>
            </a:r>
            <a:r>
              <a:rPr lang="en-US" sz="1350" i="1" dirty="0">
                <a:solidFill>
                  <a:srgbClr val="00274A"/>
                </a:solidFill>
              </a:rPr>
              <a:t>off-the-shelf</a:t>
            </a:r>
            <a:r>
              <a:rPr lang="en-US" sz="1350" dirty="0">
                <a:solidFill>
                  <a:srgbClr val="00274A"/>
                </a:solidFill>
              </a:rPr>
              <a:t>), bukan kode khusus.</a:t>
            </a:r>
            <a:endParaRPr lang="en-US" sz="1350" dirty="0"/>
          </a:p>
          <a:p>
            <a:pPr marL="342900" indent="-342900">
              <a:spcAft>
                <a:spcPts val="900"/>
              </a:spcAft>
              <a:buSzPct val="100000"/>
              <a:buFont typeface="+mj-lt"/>
              <a:buAutoNum type="arabicPeriod" startAt="1"/>
            </a:pPr>
            <a:r>
              <a:rPr lang="en-US" sz="1350" dirty="0">
                <a:solidFill>
                  <a:srgbClr val="00274A"/>
                </a:solidFill>
              </a:rPr>
              <a:t>Berpotensi memberi keunggulan strategis atas pesaing.</a:t>
            </a:r>
            <a:endParaRPr lang="en-US" sz="1350" dirty="0"/>
          </a:p>
        </p:txBody>
      </p:sp>
      <p:sp>
        <p:nvSpPr>
          <p:cNvPr id="9" name="card"/>
          <p:cNvSpPr/>
          <p:nvPr/>
        </p:nvSpPr>
        <p:spPr>
          <a:xfrm>
            <a:off x="6233008" y="1325880"/>
            <a:ext cx="5410048" cy="4069080"/>
          </a:xfrm>
          <a:prstGeom prst="roundRect">
            <a:avLst>
              <a:gd name="adj" fmla="val 3146"/>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10" name="icon circle"/>
          <p:cNvSpPr/>
          <p:nvPr/>
        </p:nvSpPr>
        <p:spPr>
          <a:xfrm>
            <a:off x="6507328" y="1554480"/>
            <a:ext cx="548640" cy="548640"/>
          </a:xfrm>
          <a:prstGeom prst="ellipse">
            <a:avLst/>
          </a:prstGeom>
          <a:solidFill>
            <a:srgbClr val="F26135"/>
          </a:solidFill>
          <a:ln w="3175">
            <a:solidFill>
              <a:srgbClr val="F26135"/>
            </a:solidFill>
            <a:prstDash val="solid"/>
          </a:ln>
        </p:spPr>
      </p:sp>
      <p:pic>
        <p:nvPicPr>
          <p:cNvPr id="11" name="icon FaThumbsDown" descr="preencoded.png">    </p:cNvPr>
          <p:cNvPicPr>
            <a:picLocks noChangeAspect="1"/>
          </p:cNvPicPr>
          <p:nvPr/>
        </p:nvPicPr>
        <p:blipFill>
          <a:blip r:embed="rId2"/>
          <a:stretch>
            <a:fillRect/>
          </a:stretch>
        </p:blipFill>
        <p:spPr>
          <a:xfrm>
            <a:off x="6644488" y="1691640"/>
            <a:ext cx="274320" cy="274320"/>
          </a:xfrm>
          <a:prstGeom prst="rect">
            <a:avLst/>
          </a:prstGeom>
        </p:spPr>
      </p:pic>
      <p:sp>
        <p:nvSpPr>
          <p:cNvPr id="12" name="text"/>
          <p:cNvSpPr txBox="1"/>
          <p:nvPr/>
        </p:nvSpPr>
        <p:spPr>
          <a:xfrm>
            <a:off x="7193128" y="1554480"/>
            <a:ext cx="2743200" cy="548640"/>
          </a:xfrm>
          <a:prstGeom prst="rect">
            <a:avLst/>
          </a:prstGeom>
          <a:noFill/>
          <a:ln/>
        </p:spPr>
        <p:txBody>
          <a:bodyPr wrap="square" lIns="0" tIns="0" rIns="0" bIns="0" rtlCol="0" anchor="ctr"/>
          <a:lstStyle/>
          <a:p>
            <a:pPr algn="l" indent="0" marL="0">
              <a:buNone/>
            </a:pPr>
            <a:r>
              <a:rPr lang="en-US" sz="1700" b="1" dirty="0">
                <a:solidFill>
                  <a:srgbClr val="00274A"/>
                </a:solidFill>
              </a:rPr>
              <a:t>Kelemahan</a:t>
            </a:r>
            <a:endParaRPr lang="en-US" sz="1700" dirty="0"/>
          </a:p>
        </p:txBody>
      </p:sp>
      <p:sp>
        <p:nvSpPr>
          <p:cNvPr id="13" name="bullets"/>
          <p:cNvSpPr txBox="1"/>
          <p:nvPr/>
        </p:nvSpPr>
        <p:spPr>
          <a:xfrm>
            <a:off x="6507328" y="2286000"/>
            <a:ext cx="4861408" cy="3017520"/>
          </a:xfrm>
          <a:prstGeom prst="rect">
            <a:avLst/>
          </a:prstGeom>
          <a:noFill/>
          <a:ln/>
        </p:spPr>
        <p:txBody>
          <a:bodyPr wrap="square" lIns="0" tIns="0" rIns="0" bIns="0" rtlCol="0" anchor="t"/>
          <a:lstStyle/>
          <a:p>
            <a:pPr marL="342900" indent="-342900">
              <a:spcAft>
                <a:spcPts val="900"/>
              </a:spcAft>
              <a:buSzPct val="100000"/>
              <a:buFont typeface="+mj-lt"/>
              <a:buAutoNum type="arabicPeriod" startAt="1"/>
            </a:pPr>
            <a:r>
              <a:rPr lang="en-US" sz="1350" dirty="0">
                <a:solidFill>
                  <a:srgbClr val="00274A"/>
                </a:solidFill>
              </a:rPr>
              <a:t>Sangat mahal untuk dibeli dan jauh lebih mahal untuk dikustomisasi (hingga lima kali harga perangkat lunak).</a:t>
            </a:r>
            <a:endParaRPr lang="en-US" sz="1350" dirty="0"/>
          </a:p>
          <a:p>
            <a:pPr marL="342900" indent="-342900">
              <a:spcAft>
                <a:spcPts val="900"/>
              </a:spcAft>
              <a:buSzPct val="100000"/>
              <a:buFont typeface="+mj-lt"/>
              <a:buAutoNum type="arabicPeriod" startAt="1"/>
            </a:pPr>
            <a:r>
              <a:rPr lang="en-US" sz="1350" dirty="0">
                <a:solidFill>
                  <a:srgbClr val="00274A"/>
                </a:solidFill>
              </a:rPr>
              <a:t>Menuntut perubahan besar pada perusahaan dan prosesnya.</a:t>
            </a:r>
            <a:endParaRPr lang="en-US" sz="1350" dirty="0"/>
          </a:p>
          <a:p>
            <a:pPr marL="342900" indent="-342900">
              <a:spcAft>
                <a:spcPts val="900"/>
              </a:spcAft>
              <a:buSzPct val="100000"/>
              <a:buFont typeface="+mj-lt"/>
              <a:buAutoNum type="arabicPeriod" startAt="1"/>
            </a:pPr>
            <a:r>
              <a:rPr lang="en-US" sz="1350" dirty="0">
                <a:solidFill>
                  <a:srgbClr val="00274A"/>
                </a:solidFill>
              </a:rPr>
              <a:t>Begitu kompleks sehingga banyak perusahaan gagal beradaptasi.</a:t>
            </a:r>
            <a:endParaRPr lang="en-US" sz="1350" dirty="0"/>
          </a:p>
          <a:p>
            <a:pPr marL="342900" indent="-342900">
              <a:spcAft>
                <a:spcPts val="900"/>
              </a:spcAft>
              <a:buSzPct val="100000"/>
              <a:buFont typeface="+mj-lt"/>
              <a:buAutoNum type="arabicPeriod" startAt="1"/>
            </a:pPr>
            <a:r>
              <a:rPr lang="en-US" sz="1350" dirty="0">
                <a:solidFill>
                  <a:srgbClr val="00274A"/>
                </a:solidFill>
              </a:rPr>
              <a:t>Implementasi berkelanjutan yang mungkin tidak pernah selesai.</a:t>
            </a:r>
            <a:endParaRPr lang="en-US" sz="1350" dirty="0"/>
          </a:p>
          <a:p>
            <a:pPr marL="342900" indent="-342900">
              <a:spcAft>
                <a:spcPts val="900"/>
              </a:spcAft>
              <a:buSzPct val="100000"/>
              <a:buFont typeface="+mj-lt"/>
              <a:buAutoNum type="arabicPeriod" startAt="1"/>
            </a:pPr>
            <a:r>
              <a:rPr lang="en-US" sz="1350" dirty="0">
                <a:solidFill>
                  <a:srgbClr val="00274A"/>
                </a:solidFill>
              </a:rPr>
              <a:t>Keahlian ERP langka; masalah kepegawaian berkelanjutan.</a:t>
            </a:r>
            <a:endParaRPr lang="en-US" sz="1350" dirty="0"/>
          </a:p>
        </p:txBody>
      </p:sp>
      <p:sp>
        <p:nvSpPr>
          <p:cNvPr id="14" name="card"/>
          <p:cNvSpPr/>
          <p:nvPr/>
        </p:nvSpPr>
        <p:spPr>
          <a:xfrm>
            <a:off x="548640" y="5559552"/>
            <a:ext cx="11094415" cy="685800"/>
          </a:xfrm>
          <a:prstGeom prst="roundRect">
            <a:avLst>
              <a:gd name="adj" fmla="val 18667"/>
            </a:avLst>
          </a:prstGeom>
          <a:solidFill>
            <a:srgbClr val="00274A"/>
          </a:solidFill>
          <a:ln w="3175">
            <a:solidFill>
              <a:srgbClr val="00274A"/>
            </a:solidFill>
            <a:prstDash val="solid"/>
          </a:ln>
        </p:spPr>
      </p:sp>
      <p:sp>
        <p:nvSpPr>
          <p:cNvPr id="15" name="text"/>
          <p:cNvSpPr txBox="1"/>
          <p:nvPr/>
        </p:nvSpPr>
        <p:spPr>
          <a:xfrm>
            <a:off x="822960" y="5559552"/>
            <a:ext cx="10545775" cy="685800"/>
          </a:xfrm>
          <a:prstGeom prst="rect">
            <a:avLst/>
          </a:prstGeom>
          <a:noFill/>
          <a:ln/>
        </p:spPr>
        <p:txBody>
          <a:bodyPr wrap="square" lIns="0" tIns="0" rIns="0" bIns="0" rtlCol="0" anchor="ctr"/>
          <a:lstStyle/>
          <a:p>
            <a:pPr algn="l" indent="0" marL="0">
              <a:buNone/>
            </a:pPr>
            <a:r>
              <a:rPr lang="en-US" sz="1200" b="1" dirty="0">
                <a:solidFill>
                  <a:srgbClr val="FFFFFF"/>
                </a:solidFill>
              </a:rPr>
              <a:t>Pelajaran implementasi (Slack et al., 2022):</a:t>
            </a:r>
            <a:r>
              <a:rPr lang="en-US" sz="1200" dirty="0">
                <a:solidFill>
                  <a:srgbClr val="FFFFFF"/>
                </a:solidFill>
              </a:rPr>
              <a:t> keberhasilan ERP lebih ditentukan oleh disiplin proses dan perubahan organisasi daripada oleh teknologinya; proses harus distandarkan sebelum diintegrasikan.</a:t>
            </a:r>
            <a:endParaRPr lang="en-US" sz="1200" dirty="0"/>
          </a:p>
        </p:txBody>
      </p:sp>
      <p:sp>
        <p:nvSpPr>
          <p:cNvPr id="25" name="Slide Number Placeholder 0"/>
          <p:cNvSpPr>
            <a:spLocks noGrp="1"/>
          </p:cNvSpPr>
          <p:nvPr>
            <p:ph type="sldNum" sz="quarter" idx="4294967295"/>
          </p:nvPr>
        </p:nvSpPr>
        <p:spPr>
          <a:xfrm>
            <a:off x="11064240" y="6428232"/>
            <a:ext cx="576072"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01426A"/>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000" b="1" dirty="0">
                <a:solidFill>
                  <a:srgbClr val="00274A"/>
                </a:solidFill>
              </a:rPr>
              <a:t>ERP di Sektor Jasa dan Anatomi Sistem Terintegrasi Maskapai</a:t>
            </a:r>
            <a:endParaRPr lang="en-US" sz="3000" dirty="0"/>
          </a:p>
        </p:txBody>
      </p:sp>
      <p:sp>
        <p:nvSpPr>
          <p:cNvPr id="4" name="card"/>
          <p:cNvSpPr/>
          <p:nvPr/>
        </p:nvSpPr>
        <p:spPr>
          <a:xfrm>
            <a:off x="548640" y="1325880"/>
            <a:ext cx="3931920" cy="4069080"/>
          </a:xfrm>
          <a:prstGeom prst="roundRect">
            <a:avLst>
              <a:gd name="adj" fmla="val 3256"/>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5" name="text"/>
          <p:cNvSpPr txBox="1"/>
          <p:nvPr/>
        </p:nvSpPr>
        <p:spPr>
          <a:xfrm>
            <a:off x="822960" y="1554480"/>
            <a:ext cx="3474720" cy="365760"/>
          </a:xfrm>
          <a:prstGeom prst="rect">
            <a:avLst/>
          </a:prstGeom>
          <a:noFill/>
          <a:ln/>
        </p:spPr>
        <p:txBody>
          <a:bodyPr wrap="square" lIns="0" tIns="0" rIns="0" bIns="0" rtlCol="0" anchor="t"/>
          <a:lstStyle/>
          <a:p>
            <a:pPr algn="l" indent="0" marL="0">
              <a:buNone/>
            </a:pPr>
            <a:r>
              <a:rPr lang="en-US" sz="1600" b="1" dirty="0">
                <a:solidFill>
                  <a:srgbClr val="00274A"/>
                </a:solidFill>
              </a:rPr>
              <a:t>ERP di sektor jasa</a:t>
            </a:r>
            <a:endParaRPr lang="en-US" sz="1600" dirty="0"/>
          </a:p>
        </p:txBody>
      </p:sp>
      <p:sp>
        <p:nvSpPr>
          <p:cNvPr id="6" name="text"/>
          <p:cNvSpPr txBox="1"/>
          <p:nvPr/>
        </p:nvSpPr>
        <p:spPr>
          <a:xfrm>
            <a:off x="822960" y="1938528"/>
            <a:ext cx="3474720" cy="2103120"/>
          </a:xfrm>
          <a:prstGeom prst="rect">
            <a:avLst/>
          </a:prstGeom>
          <a:noFill/>
          <a:ln/>
        </p:spPr>
        <p:txBody>
          <a:bodyPr wrap="square" lIns="0" tIns="0" rIns="0" bIns="0" rtlCol="0" anchor="t"/>
          <a:lstStyle/>
          <a:p>
            <a:pPr algn="l" indent="0" marL="0">
              <a:buNone/>
            </a:pPr>
            <a:r>
              <a:rPr lang="en-US" sz="1200" dirty="0">
                <a:solidFill>
                  <a:srgbClr val="00274A"/>
                </a:solidFill>
              </a:rPr>
              <a:t>Heizer et al. (2017) mencatat modul ERP untuk layanan kesehatan, pemerintahan, ritel, hotel, dan jasa keuangan. Contoh yang relevan: PeopleSoft/Oracle memadukan ERP dengan </a:t>
            </a:r>
            <a:r>
              <a:rPr lang="en-US" sz="1200" i="1" dirty="0">
                <a:solidFill>
                  <a:srgbClr val="00274A"/>
                </a:solidFill>
              </a:rPr>
              <a:t>supply chain management</a:t>
            </a:r>
            <a:r>
              <a:rPr lang="en-US" sz="1200" dirty="0">
                <a:solidFill>
                  <a:srgbClr val="00274A"/>
                </a:solidFill>
              </a:rPr>
              <a:t> untuk mengoordinasikan penyiapan makanan maskapai; Springer-Miller mengintegrasikan reservasi kamar, restoran, dan multiproperti hotel.</a:t>
            </a:r>
            <a:endParaRPr lang="en-US" sz="1200" dirty="0"/>
          </a:p>
        </p:txBody>
      </p:sp>
      <p:sp>
        <p:nvSpPr>
          <p:cNvPr id="7" name="card"/>
          <p:cNvSpPr/>
          <p:nvPr/>
        </p:nvSpPr>
        <p:spPr>
          <a:xfrm>
            <a:off x="822960" y="4114800"/>
            <a:ext cx="3383280" cy="1097280"/>
          </a:xfrm>
          <a:prstGeom prst="roundRect">
            <a:avLst>
              <a:gd name="adj" fmla="val 11667"/>
            </a:avLst>
          </a:prstGeom>
          <a:solidFill>
            <a:srgbClr val="F0F7FD"/>
          </a:solidFill>
          <a:ln w="3175">
            <a:solidFill>
              <a:srgbClr val="F0F7FD"/>
            </a:solidFill>
            <a:prstDash val="solid"/>
          </a:ln>
        </p:spPr>
      </p:sp>
      <p:sp>
        <p:nvSpPr>
          <p:cNvPr id="8" name="text"/>
          <p:cNvSpPr txBox="1"/>
          <p:nvPr/>
        </p:nvSpPr>
        <p:spPr>
          <a:xfrm>
            <a:off x="960120" y="4114800"/>
            <a:ext cx="3108960" cy="1097280"/>
          </a:xfrm>
          <a:prstGeom prst="rect">
            <a:avLst/>
          </a:prstGeom>
          <a:noFill/>
          <a:ln/>
        </p:spPr>
        <p:txBody>
          <a:bodyPr wrap="square" lIns="0" tIns="0" rIns="0" bIns="0" rtlCol="0" anchor="ctr"/>
          <a:lstStyle/>
          <a:p>
            <a:pPr algn="l" indent="0" marL="0">
              <a:buNone/>
            </a:pPr>
            <a:r>
              <a:rPr lang="en-US" sz="1150" i="1" dirty="0">
                <a:solidFill>
                  <a:srgbClr val="00274A"/>
                </a:solidFill>
              </a:rPr>
              <a:t>Pada jasa, "produk" adalah kapasitas dan jadwal; integrasi data karenanya menyentuh langsung pelayanan pelanggan.</a:t>
            </a:r>
            <a:endParaRPr lang="en-US" sz="1150" dirty="0"/>
          </a:p>
        </p:txBody>
      </p:sp>
      <p:sp>
        <p:nvSpPr>
          <p:cNvPr id="9" name="card"/>
          <p:cNvSpPr/>
          <p:nvPr/>
        </p:nvSpPr>
        <p:spPr>
          <a:xfrm>
            <a:off x="4709160" y="1325880"/>
            <a:ext cx="6933895" cy="4069080"/>
          </a:xfrm>
          <a:prstGeom prst="roundRect">
            <a:avLst>
              <a:gd name="adj" fmla="val 3146"/>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10" name="text"/>
          <p:cNvSpPr txBox="1"/>
          <p:nvPr/>
        </p:nvSpPr>
        <p:spPr>
          <a:xfrm>
            <a:off x="4983480" y="1508760"/>
            <a:ext cx="6385255" cy="365760"/>
          </a:xfrm>
          <a:prstGeom prst="rect">
            <a:avLst/>
          </a:prstGeom>
          <a:noFill/>
          <a:ln/>
        </p:spPr>
        <p:txBody>
          <a:bodyPr wrap="square" lIns="0" tIns="0" rIns="0" bIns="0" rtlCol="0" anchor="t"/>
          <a:lstStyle/>
          <a:p>
            <a:pPr algn="l" indent="0" marL="0">
              <a:buNone/>
            </a:pPr>
            <a:r>
              <a:rPr lang="en-US" sz="1600" b="1" dirty="0">
                <a:solidFill>
                  <a:srgbClr val="00274A"/>
                </a:solidFill>
              </a:rPr>
              <a:t>Sistem operasi terintegrasi maskapai</a:t>
            </a:r>
            <a:endParaRPr lang="en-US" sz="1600" dirty="0"/>
          </a:p>
        </p:txBody>
      </p:sp>
      <p:sp>
        <p:nvSpPr>
          <p:cNvPr id="11" name="line"/>
          <p:cNvSpPr/>
          <p:nvPr/>
        </p:nvSpPr>
        <p:spPr>
          <a:xfrm flipH="1">
            <a:off x="8176108" y="2468880"/>
            <a:ext cx="0" cy="1234440"/>
          </a:xfrm>
          <a:prstGeom prst="line">
            <a:avLst/>
          </a:prstGeom>
          <a:noFill/>
          <a:ln w="19050">
            <a:solidFill>
              <a:srgbClr val="C9E0F7"/>
            </a:solidFill>
            <a:prstDash val="solid"/>
          </a:ln>
        </p:spPr>
      </p:sp>
      <p:sp>
        <p:nvSpPr>
          <p:cNvPr id="12" name="line"/>
          <p:cNvSpPr/>
          <p:nvPr/>
        </p:nvSpPr>
        <p:spPr>
          <a:xfrm flipH="1">
            <a:off x="8176108" y="3321857"/>
            <a:ext cx="2261080" cy="381463"/>
          </a:xfrm>
          <a:prstGeom prst="line">
            <a:avLst/>
          </a:prstGeom>
          <a:noFill/>
          <a:ln w="19050">
            <a:solidFill>
              <a:srgbClr val="C9E0F7"/>
            </a:solidFill>
            <a:prstDash val="solid"/>
          </a:ln>
        </p:spPr>
      </p:sp>
      <p:sp>
        <p:nvSpPr>
          <p:cNvPr id="13" name="line"/>
          <p:cNvSpPr/>
          <p:nvPr/>
        </p:nvSpPr>
        <p:spPr>
          <a:xfrm>
            <a:off x="8176108" y="3703320"/>
            <a:ext cx="1397424" cy="998683"/>
          </a:xfrm>
          <a:prstGeom prst="line">
            <a:avLst/>
          </a:prstGeom>
          <a:noFill/>
          <a:ln w="19050">
            <a:solidFill>
              <a:srgbClr val="C9E0F7"/>
            </a:solidFill>
            <a:prstDash val="solid"/>
          </a:ln>
        </p:spPr>
      </p:sp>
      <p:sp>
        <p:nvSpPr>
          <p:cNvPr id="14" name="line"/>
          <p:cNvSpPr/>
          <p:nvPr/>
        </p:nvSpPr>
        <p:spPr>
          <a:xfrm flipH="1">
            <a:off x="6778683" y="3703320"/>
            <a:ext cx="1397424" cy="998683"/>
          </a:xfrm>
          <a:prstGeom prst="line">
            <a:avLst/>
          </a:prstGeom>
          <a:noFill/>
          <a:ln w="19050">
            <a:solidFill>
              <a:srgbClr val="C9E0F7"/>
            </a:solidFill>
            <a:prstDash val="solid"/>
          </a:ln>
        </p:spPr>
      </p:sp>
      <p:sp>
        <p:nvSpPr>
          <p:cNvPr id="15" name="line"/>
          <p:cNvSpPr/>
          <p:nvPr/>
        </p:nvSpPr>
        <p:spPr>
          <a:xfrm>
            <a:off x="5915028" y="3321857"/>
            <a:ext cx="2261080" cy="381463"/>
          </a:xfrm>
          <a:prstGeom prst="line">
            <a:avLst/>
          </a:prstGeom>
          <a:noFill/>
          <a:ln w="19050">
            <a:solidFill>
              <a:srgbClr val="C9E0F7"/>
            </a:solidFill>
            <a:prstDash val="solid"/>
          </a:ln>
        </p:spPr>
      </p:sp>
      <p:sp>
        <p:nvSpPr>
          <p:cNvPr id="16" name="card"/>
          <p:cNvSpPr/>
          <p:nvPr/>
        </p:nvSpPr>
        <p:spPr>
          <a:xfrm>
            <a:off x="7101688" y="2034540"/>
            <a:ext cx="2148840" cy="868680"/>
          </a:xfrm>
          <a:prstGeom prst="roundRect">
            <a:avLst>
              <a:gd name="adj" fmla="val 14737"/>
            </a:avLst>
          </a:prstGeom>
          <a:solidFill>
            <a:srgbClr val="F0F7FD"/>
          </a:solidFill>
          <a:ln w="3175">
            <a:solidFill>
              <a:srgbClr val="F0F7FD"/>
            </a:solidFill>
            <a:prstDash val="solid"/>
          </a:ln>
        </p:spPr>
      </p:sp>
      <p:sp>
        <p:nvSpPr>
          <p:cNvPr id="17" name="icon circle"/>
          <p:cNvSpPr/>
          <p:nvPr/>
        </p:nvSpPr>
        <p:spPr>
          <a:xfrm>
            <a:off x="7193128" y="2235708"/>
            <a:ext cx="457200" cy="457200"/>
          </a:xfrm>
          <a:prstGeom prst="ellipse">
            <a:avLst/>
          </a:prstGeom>
          <a:solidFill>
            <a:srgbClr val="91BE62"/>
          </a:solidFill>
          <a:ln w="3175">
            <a:solidFill>
              <a:srgbClr val="91BE62"/>
            </a:solidFill>
            <a:prstDash val="solid"/>
          </a:ln>
        </p:spPr>
      </p:sp>
      <p:pic>
        <p:nvPicPr>
          <p:cNvPr id="18" name="icon FaTicketAlt" descr="preencoded.png">    </p:cNvPr>
          <p:cNvPicPr>
            <a:picLocks noChangeAspect="1"/>
          </p:cNvPicPr>
          <p:nvPr/>
        </p:nvPicPr>
        <p:blipFill>
          <a:blip r:embed="rId1"/>
          <a:stretch>
            <a:fillRect/>
          </a:stretch>
        </p:blipFill>
        <p:spPr>
          <a:xfrm>
            <a:off x="7307428" y="2350008"/>
            <a:ext cx="228600" cy="228600"/>
          </a:xfrm>
          <a:prstGeom prst="rect">
            <a:avLst/>
          </a:prstGeom>
        </p:spPr>
      </p:pic>
      <p:sp>
        <p:nvSpPr>
          <p:cNvPr id="19" name="text"/>
          <p:cNvSpPr txBox="1"/>
          <p:nvPr/>
        </p:nvSpPr>
        <p:spPr>
          <a:xfrm>
            <a:off x="7741768" y="2107692"/>
            <a:ext cx="1435608" cy="457200"/>
          </a:xfrm>
          <a:prstGeom prst="rect">
            <a:avLst/>
          </a:prstGeom>
          <a:noFill/>
          <a:ln/>
        </p:spPr>
        <p:txBody>
          <a:bodyPr wrap="square" lIns="0" tIns="0" rIns="0" bIns="0" rtlCol="0" anchor="ctr"/>
          <a:lstStyle/>
          <a:p>
            <a:pPr algn="l" indent="0" marL="0">
              <a:buNone/>
            </a:pPr>
            <a:r>
              <a:rPr lang="en-US" sz="1050" b="1" dirty="0">
                <a:solidFill>
                  <a:srgbClr val="00274A"/>
                </a:solidFill>
              </a:rPr>
              <a:t>Passenger service system</a:t>
            </a:r>
            <a:endParaRPr lang="en-US" sz="1050" dirty="0"/>
          </a:p>
        </p:txBody>
      </p:sp>
      <p:sp>
        <p:nvSpPr>
          <p:cNvPr id="20" name="text"/>
          <p:cNvSpPr txBox="1"/>
          <p:nvPr/>
        </p:nvSpPr>
        <p:spPr>
          <a:xfrm>
            <a:off x="7741768" y="2564892"/>
            <a:ext cx="1435608" cy="310896"/>
          </a:xfrm>
          <a:prstGeom prst="rect">
            <a:avLst/>
          </a:prstGeom>
          <a:noFill/>
          <a:ln/>
        </p:spPr>
        <p:txBody>
          <a:bodyPr wrap="square" lIns="0" tIns="0" rIns="0" bIns="0" rtlCol="0" anchor="t"/>
          <a:lstStyle/>
          <a:p>
            <a:pPr algn="l" indent="0" marL="0">
              <a:buNone/>
            </a:pPr>
            <a:r>
              <a:rPr lang="en-US" sz="950" dirty="0">
                <a:solidFill>
                  <a:srgbClr val="01426A"/>
                </a:solidFill>
              </a:rPr>
              <a:t>Reservasi, </a:t>
            </a:r>
            <a:r>
              <a:rPr lang="en-US" sz="950" i="1" dirty="0">
                <a:solidFill>
                  <a:srgbClr val="01426A"/>
                </a:solidFill>
              </a:rPr>
              <a:t>check-in</a:t>
            </a:r>
            <a:r>
              <a:rPr lang="en-US" sz="950" dirty="0">
                <a:solidFill>
                  <a:srgbClr val="01426A"/>
                </a:solidFill>
              </a:rPr>
              <a:t>, </a:t>
            </a:r>
            <a:r>
              <a:rPr lang="en-US" sz="950" i="1" dirty="0">
                <a:solidFill>
                  <a:srgbClr val="01426A"/>
                </a:solidFill>
              </a:rPr>
              <a:t>rebooking</a:t>
            </a:r>
            <a:endParaRPr lang="en-US" sz="950" dirty="0"/>
          </a:p>
        </p:txBody>
      </p:sp>
      <p:sp>
        <p:nvSpPr>
          <p:cNvPr id="21" name="card"/>
          <p:cNvSpPr/>
          <p:nvPr/>
        </p:nvSpPr>
        <p:spPr>
          <a:xfrm>
            <a:off x="9362767" y="2887517"/>
            <a:ext cx="2148840" cy="868680"/>
          </a:xfrm>
          <a:prstGeom prst="roundRect">
            <a:avLst>
              <a:gd name="adj" fmla="val 14737"/>
            </a:avLst>
          </a:prstGeom>
          <a:solidFill>
            <a:srgbClr val="F0F7FD"/>
          </a:solidFill>
          <a:ln w="3175">
            <a:solidFill>
              <a:srgbClr val="F0F7FD"/>
            </a:solidFill>
            <a:prstDash val="solid"/>
          </a:ln>
        </p:spPr>
      </p:sp>
      <p:sp>
        <p:nvSpPr>
          <p:cNvPr id="22" name="icon circle"/>
          <p:cNvSpPr/>
          <p:nvPr/>
        </p:nvSpPr>
        <p:spPr>
          <a:xfrm>
            <a:off x="9454207" y="3088685"/>
            <a:ext cx="457200" cy="457200"/>
          </a:xfrm>
          <a:prstGeom prst="ellipse">
            <a:avLst/>
          </a:prstGeom>
          <a:solidFill>
            <a:srgbClr val="00CFF0"/>
          </a:solidFill>
          <a:ln w="3175">
            <a:solidFill>
              <a:srgbClr val="00CFF0"/>
            </a:solidFill>
            <a:prstDash val="solid"/>
          </a:ln>
        </p:spPr>
      </p:sp>
      <p:pic>
        <p:nvPicPr>
          <p:cNvPr id="23" name="icon FaUserClock" descr="preencoded.png">    </p:cNvPr>
          <p:cNvPicPr>
            <a:picLocks noChangeAspect="1"/>
          </p:cNvPicPr>
          <p:nvPr/>
        </p:nvPicPr>
        <p:blipFill>
          <a:blip r:embed="rId2"/>
          <a:stretch>
            <a:fillRect/>
          </a:stretch>
        </p:blipFill>
        <p:spPr>
          <a:xfrm>
            <a:off x="9568507" y="3202985"/>
            <a:ext cx="228600" cy="228600"/>
          </a:xfrm>
          <a:prstGeom prst="rect">
            <a:avLst/>
          </a:prstGeom>
        </p:spPr>
      </p:pic>
      <p:sp>
        <p:nvSpPr>
          <p:cNvPr id="24" name="text"/>
          <p:cNvSpPr txBox="1"/>
          <p:nvPr/>
        </p:nvSpPr>
        <p:spPr>
          <a:xfrm>
            <a:off x="10002847" y="2960669"/>
            <a:ext cx="1435608" cy="457200"/>
          </a:xfrm>
          <a:prstGeom prst="rect">
            <a:avLst/>
          </a:prstGeom>
          <a:noFill/>
          <a:ln/>
        </p:spPr>
        <p:txBody>
          <a:bodyPr wrap="square" lIns="0" tIns="0" rIns="0" bIns="0" rtlCol="0" anchor="ctr"/>
          <a:lstStyle/>
          <a:p>
            <a:pPr algn="l" indent="0" marL="0">
              <a:buNone/>
            </a:pPr>
            <a:r>
              <a:rPr lang="en-US" sz="1050" b="1" dirty="0">
                <a:solidFill>
                  <a:srgbClr val="00274A"/>
                </a:solidFill>
              </a:rPr>
              <a:t>Crew management</a:t>
            </a:r>
            <a:endParaRPr lang="en-US" sz="1050" dirty="0"/>
          </a:p>
        </p:txBody>
      </p:sp>
      <p:sp>
        <p:nvSpPr>
          <p:cNvPr id="25" name="text"/>
          <p:cNvSpPr txBox="1"/>
          <p:nvPr/>
        </p:nvSpPr>
        <p:spPr>
          <a:xfrm>
            <a:off x="10002847" y="3417869"/>
            <a:ext cx="1435608" cy="310896"/>
          </a:xfrm>
          <a:prstGeom prst="rect">
            <a:avLst/>
          </a:prstGeom>
          <a:noFill/>
          <a:ln/>
        </p:spPr>
        <p:txBody>
          <a:bodyPr wrap="square" lIns="0" tIns="0" rIns="0" bIns="0" rtlCol="0" anchor="t"/>
          <a:lstStyle/>
          <a:p>
            <a:pPr algn="l" indent="0" marL="0">
              <a:buNone/>
            </a:pPr>
            <a:r>
              <a:rPr lang="en-US" sz="950" i="1" dirty="0">
                <a:solidFill>
                  <a:srgbClr val="01426A"/>
                </a:solidFill>
              </a:rPr>
              <a:t>Bidding</a:t>
            </a:r>
            <a:r>
              <a:rPr lang="en-US" sz="950" dirty="0">
                <a:solidFill>
                  <a:srgbClr val="01426A"/>
                </a:solidFill>
              </a:rPr>
              <a:t>, legalitas FAA, </a:t>
            </a:r>
            <a:r>
              <a:rPr lang="en-US" sz="950" i="1" dirty="0">
                <a:solidFill>
                  <a:srgbClr val="01426A"/>
                </a:solidFill>
              </a:rPr>
              <a:t>pairing</a:t>
            </a:r>
            <a:endParaRPr lang="en-US" sz="950" dirty="0"/>
          </a:p>
        </p:txBody>
      </p:sp>
      <p:sp>
        <p:nvSpPr>
          <p:cNvPr id="26" name="card"/>
          <p:cNvSpPr/>
          <p:nvPr/>
        </p:nvSpPr>
        <p:spPr>
          <a:xfrm>
            <a:off x="8499112" y="4267663"/>
            <a:ext cx="2148840" cy="868680"/>
          </a:xfrm>
          <a:prstGeom prst="roundRect">
            <a:avLst>
              <a:gd name="adj" fmla="val 14737"/>
            </a:avLst>
          </a:prstGeom>
          <a:solidFill>
            <a:srgbClr val="F0F7FD"/>
          </a:solidFill>
          <a:ln w="3175">
            <a:solidFill>
              <a:srgbClr val="F0F7FD"/>
            </a:solidFill>
            <a:prstDash val="solid"/>
          </a:ln>
        </p:spPr>
      </p:sp>
      <p:sp>
        <p:nvSpPr>
          <p:cNvPr id="27" name="icon circle"/>
          <p:cNvSpPr/>
          <p:nvPr/>
        </p:nvSpPr>
        <p:spPr>
          <a:xfrm>
            <a:off x="8590552" y="4468831"/>
            <a:ext cx="457200" cy="457200"/>
          </a:xfrm>
          <a:prstGeom prst="ellipse">
            <a:avLst/>
          </a:prstGeom>
          <a:solidFill>
            <a:srgbClr val="91BE62"/>
          </a:solidFill>
          <a:ln w="3175">
            <a:solidFill>
              <a:srgbClr val="91BE62"/>
            </a:solidFill>
            <a:prstDash val="solid"/>
          </a:ln>
        </p:spPr>
      </p:sp>
      <p:pic>
        <p:nvPicPr>
          <p:cNvPr id="28" name="icon FaTools" descr="preencoded.png">    </p:cNvPr>
          <p:cNvPicPr>
            <a:picLocks noChangeAspect="1"/>
          </p:cNvPicPr>
          <p:nvPr/>
        </p:nvPicPr>
        <p:blipFill>
          <a:blip r:embed="rId3"/>
          <a:stretch>
            <a:fillRect/>
          </a:stretch>
        </p:blipFill>
        <p:spPr>
          <a:xfrm>
            <a:off x="8704852" y="4583131"/>
            <a:ext cx="228600" cy="228600"/>
          </a:xfrm>
          <a:prstGeom prst="rect">
            <a:avLst/>
          </a:prstGeom>
        </p:spPr>
      </p:pic>
      <p:sp>
        <p:nvSpPr>
          <p:cNvPr id="29" name="text"/>
          <p:cNvSpPr txBox="1"/>
          <p:nvPr/>
        </p:nvSpPr>
        <p:spPr>
          <a:xfrm>
            <a:off x="9139192" y="4340815"/>
            <a:ext cx="1435608" cy="457200"/>
          </a:xfrm>
          <a:prstGeom prst="rect">
            <a:avLst/>
          </a:prstGeom>
          <a:noFill/>
          <a:ln/>
        </p:spPr>
        <p:txBody>
          <a:bodyPr wrap="square" lIns="0" tIns="0" rIns="0" bIns="0" rtlCol="0" anchor="ctr"/>
          <a:lstStyle/>
          <a:p>
            <a:pPr algn="l" indent="0" marL="0">
              <a:buNone/>
            </a:pPr>
            <a:r>
              <a:rPr lang="en-US" sz="1050" b="1" dirty="0">
                <a:solidFill>
                  <a:srgbClr val="00274A"/>
                </a:solidFill>
              </a:rPr>
              <a:t>Maintenance &amp; engineering</a:t>
            </a:r>
            <a:endParaRPr lang="en-US" sz="1050" dirty="0"/>
          </a:p>
        </p:txBody>
      </p:sp>
      <p:sp>
        <p:nvSpPr>
          <p:cNvPr id="30" name="text"/>
          <p:cNvSpPr txBox="1"/>
          <p:nvPr/>
        </p:nvSpPr>
        <p:spPr>
          <a:xfrm>
            <a:off x="9139192" y="4798015"/>
            <a:ext cx="1435608" cy="310896"/>
          </a:xfrm>
          <a:prstGeom prst="rect">
            <a:avLst/>
          </a:prstGeom>
          <a:noFill/>
          <a:ln/>
        </p:spPr>
        <p:txBody>
          <a:bodyPr wrap="square" lIns="0" tIns="0" rIns="0" bIns="0" rtlCol="0" anchor="t"/>
          <a:lstStyle/>
          <a:p>
            <a:pPr algn="l" indent="0" marL="0">
              <a:buNone/>
            </a:pPr>
            <a:r>
              <a:rPr lang="en-US" sz="950" i="1" dirty="0">
                <a:solidFill>
                  <a:srgbClr val="01426A"/>
                </a:solidFill>
              </a:rPr>
              <a:t>Work orders</a:t>
            </a:r>
            <a:r>
              <a:rPr lang="en-US" sz="950" dirty="0">
                <a:solidFill>
                  <a:srgbClr val="01426A"/>
                </a:solidFill>
              </a:rPr>
              <a:t>, suku cadang (MRP)</a:t>
            </a:r>
            <a:endParaRPr lang="en-US" sz="950" dirty="0"/>
          </a:p>
        </p:txBody>
      </p:sp>
      <p:sp>
        <p:nvSpPr>
          <p:cNvPr id="31" name="card"/>
          <p:cNvSpPr/>
          <p:nvPr/>
        </p:nvSpPr>
        <p:spPr>
          <a:xfrm>
            <a:off x="5704263" y="4267663"/>
            <a:ext cx="2148840" cy="868680"/>
          </a:xfrm>
          <a:prstGeom prst="roundRect">
            <a:avLst>
              <a:gd name="adj" fmla="val 14737"/>
            </a:avLst>
          </a:prstGeom>
          <a:solidFill>
            <a:srgbClr val="F0F7FD"/>
          </a:solidFill>
          <a:ln w="3175">
            <a:solidFill>
              <a:srgbClr val="F0F7FD"/>
            </a:solidFill>
            <a:prstDash val="solid"/>
          </a:ln>
        </p:spPr>
      </p:sp>
      <p:sp>
        <p:nvSpPr>
          <p:cNvPr id="32" name="icon circle"/>
          <p:cNvSpPr/>
          <p:nvPr/>
        </p:nvSpPr>
        <p:spPr>
          <a:xfrm>
            <a:off x="5795703" y="4468831"/>
            <a:ext cx="457200" cy="457200"/>
          </a:xfrm>
          <a:prstGeom prst="ellipse">
            <a:avLst/>
          </a:prstGeom>
          <a:solidFill>
            <a:srgbClr val="00CFF0"/>
          </a:solidFill>
          <a:ln w="3175">
            <a:solidFill>
              <a:srgbClr val="00CFF0"/>
            </a:solidFill>
            <a:prstDash val="solid"/>
          </a:ln>
        </p:spPr>
      </p:sp>
      <p:pic>
        <p:nvPicPr>
          <p:cNvPr id="33" name="icon FaCloudSun" descr="preencoded.png">    </p:cNvPr>
          <p:cNvPicPr>
            <a:picLocks noChangeAspect="1"/>
          </p:cNvPicPr>
          <p:nvPr/>
        </p:nvPicPr>
        <p:blipFill>
          <a:blip r:embed="rId4"/>
          <a:stretch>
            <a:fillRect/>
          </a:stretch>
        </p:blipFill>
        <p:spPr>
          <a:xfrm>
            <a:off x="5910003" y="4583131"/>
            <a:ext cx="228600" cy="228600"/>
          </a:xfrm>
          <a:prstGeom prst="rect">
            <a:avLst/>
          </a:prstGeom>
        </p:spPr>
      </p:pic>
      <p:sp>
        <p:nvSpPr>
          <p:cNvPr id="34" name="text"/>
          <p:cNvSpPr txBox="1"/>
          <p:nvPr/>
        </p:nvSpPr>
        <p:spPr>
          <a:xfrm>
            <a:off x="6344343" y="4340815"/>
            <a:ext cx="1435608" cy="457200"/>
          </a:xfrm>
          <a:prstGeom prst="rect">
            <a:avLst/>
          </a:prstGeom>
          <a:noFill/>
          <a:ln/>
        </p:spPr>
        <p:txBody>
          <a:bodyPr wrap="square" lIns="0" tIns="0" rIns="0" bIns="0" rtlCol="0" anchor="ctr"/>
          <a:lstStyle/>
          <a:p>
            <a:pPr algn="l" indent="0" marL="0">
              <a:buNone/>
            </a:pPr>
            <a:r>
              <a:rPr lang="en-US" sz="1050" b="1" dirty="0">
                <a:solidFill>
                  <a:srgbClr val="00274A"/>
                </a:solidFill>
              </a:rPr>
              <a:t>Flight operations</a:t>
            </a:r>
            <a:endParaRPr lang="en-US" sz="1050" dirty="0"/>
          </a:p>
        </p:txBody>
      </p:sp>
      <p:sp>
        <p:nvSpPr>
          <p:cNvPr id="35" name="text"/>
          <p:cNvSpPr txBox="1"/>
          <p:nvPr/>
        </p:nvSpPr>
        <p:spPr>
          <a:xfrm>
            <a:off x="6344343" y="4798015"/>
            <a:ext cx="1435608" cy="310896"/>
          </a:xfrm>
          <a:prstGeom prst="rect">
            <a:avLst/>
          </a:prstGeom>
          <a:noFill/>
          <a:ln/>
        </p:spPr>
        <p:txBody>
          <a:bodyPr wrap="square" lIns="0" tIns="0" rIns="0" bIns="0" rtlCol="0" anchor="t"/>
          <a:lstStyle/>
          <a:p>
            <a:pPr algn="l" indent="0" marL="0">
              <a:buNone/>
            </a:pPr>
            <a:r>
              <a:rPr lang="en-US" sz="950" i="1" dirty="0">
                <a:solidFill>
                  <a:srgbClr val="01426A"/>
                </a:solidFill>
              </a:rPr>
              <a:t>Dispatch</a:t>
            </a:r>
            <a:r>
              <a:rPr lang="en-US" sz="950" dirty="0">
                <a:solidFill>
                  <a:srgbClr val="01426A"/>
                </a:solidFill>
              </a:rPr>
              <a:t>, cuaca, </a:t>
            </a:r>
            <a:r>
              <a:rPr lang="en-US" sz="950" i="1" dirty="0">
                <a:solidFill>
                  <a:srgbClr val="01426A"/>
                </a:solidFill>
              </a:rPr>
              <a:t>slot</a:t>
            </a:r>
            <a:endParaRPr lang="en-US" sz="950" dirty="0"/>
          </a:p>
        </p:txBody>
      </p:sp>
      <p:sp>
        <p:nvSpPr>
          <p:cNvPr id="36" name="card"/>
          <p:cNvSpPr/>
          <p:nvPr/>
        </p:nvSpPr>
        <p:spPr>
          <a:xfrm>
            <a:off x="4840608" y="2887517"/>
            <a:ext cx="2148840" cy="868680"/>
          </a:xfrm>
          <a:prstGeom prst="roundRect">
            <a:avLst>
              <a:gd name="adj" fmla="val 14737"/>
            </a:avLst>
          </a:prstGeom>
          <a:solidFill>
            <a:srgbClr val="F0F7FD"/>
          </a:solidFill>
          <a:ln w="3175">
            <a:solidFill>
              <a:srgbClr val="F0F7FD"/>
            </a:solidFill>
            <a:prstDash val="solid"/>
          </a:ln>
        </p:spPr>
      </p:sp>
      <p:sp>
        <p:nvSpPr>
          <p:cNvPr id="37" name="icon circle"/>
          <p:cNvSpPr/>
          <p:nvPr/>
        </p:nvSpPr>
        <p:spPr>
          <a:xfrm>
            <a:off x="4932048" y="3088685"/>
            <a:ext cx="457200" cy="457200"/>
          </a:xfrm>
          <a:prstGeom prst="ellipse">
            <a:avLst/>
          </a:prstGeom>
          <a:solidFill>
            <a:srgbClr val="91BE62"/>
          </a:solidFill>
          <a:ln w="3175">
            <a:solidFill>
              <a:srgbClr val="91BE62"/>
            </a:solidFill>
            <a:prstDash val="solid"/>
          </a:ln>
        </p:spPr>
      </p:sp>
      <p:pic>
        <p:nvPicPr>
          <p:cNvPr id="38" name="icon FaMoneyCheckAlt" descr="preencoded.png">    </p:cNvPr>
          <p:cNvPicPr>
            <a:picLocks noChangeAspect="1"/>
          </p:cNvPicPr>
          <p:nvPr/>
        </p:nvPicPr>
        <p:blipFill>
          <a:blip r:embed="rId5"/>
          <a:stretch>
            <a:fillRect/>
          </a:stretch>
        </p:blipFill>
        <p:spPr>
          <a:xfrm>
            <a:off x="5046348" y="3202985"/>
            <a:ext cx="228600" cy="228600"/>
          </a:xfrm>
          <a:prstGeom prst="rect">
            <a:avLst/>
          </a:prstGeom>
        </p:spPr>
      </p:pic>
      <p:sp>
        <p:nvSpPr>
          <p:cNvPr id="39" name="text"/>
          <p:cNvSpPr txBox="1"/>
          <p:nvPr/>
        </p:nvSpPr>
        <p:spPr>
          <a:xfrm>
            <a:off x="5480688" y="2960669"/>
            <a:ext cx="1435608" cy="457200"/>
          </a:xfrm>
          <a:prstGeom prst="rect">
            <a:avLst/>
          </a:prstGeom>
          <a:noFill/>
          <a:ln/>
        </p:spPr>
        <p:txBody>
          <a:bodyPr wrap="square" lIns="0" tIns="0" rIns="0" bIns="0" rtlCol="0" anchor="ctr"/>
          <a:lstStyle/>
          <a:p>
            <a:pPr algn="l" indent="0" marL="0">
              <a:buNone/>
            </a:pPr>
            <a:r>
              <a:rPr lang="en-US" sz="1050" b="1" dirty="0">
                <a:solidFill>
                  <a:srgbClr val="00274A"/>
                </a:solidFill>
              </a:rPr>
              <a:t>Keuangan &amp; SDM</a:t>
            </a:r>
            <a:endParaRPr lang="en-US" sz="1050" dirty="0"/>
          </a:p>
        </p:txBody>
      </p:sp>
      <p:sp>
        <p:nvSpPr>
          <p:cNvPr id="40" name="text"/>
          <p:cNvSpPr txBox="1"/>
          <p:nvPr/>
        </p:nvSpPr>
        <p:spPr>
          <a:xfrm>
            <a:off x="5480688" y="3417869"/>
            <a:ext cx="1435608" cy="310896"/>
          </a:xfrm>
          <a:prstGeom prst="rect">
            <a:avLst/>
          </a:prstGeom>
          <a:noFill/>
          <a:ln/>
        </p:spPr>
        <p:txBody>
          <a:bodyPr wrap="square" lIns="0" tIns="0" rIns="0" bIns="0" rtlCol="0" anchor="t"/>
          <a:lstStyle/>
          <a:p>
            <a:pPr algn="l" indent="0" marL="0">
              <a:buNone/>
            </a:pPr>
            <a:r>
              <a:rPr lang="en-US" sz="950" dirty="0">
                <a:solidFill>
                  <a:srgbClr val="01426A"/>
                </a:solidFill>
              </a:rPr>
              <a:t>Biaya, </a:t>
            </a:r>
            <a:r>
              <a:rPr lang="en-US" sz="950" i="1" dirty="0">
                <a:solidFill>
                  <a:srgbClr val="01426A"/>
                </a:solidFill>
              </a:rPr>
              <a:t>payroll</a:t>
            </a:r>
            <a:r>
              <a:rPr lang="en-US" sz="950" dirty="0">
                <a:solidFill>
                  <a:srgbClr val="01426A"/>
                </a:solidFill>
              </a:rPr>
              <a:t>, pelaporan</a:t>
            </a:r>
            <a:endParaRPr lang="en-US" sz="950" dirty="0"/>
          </a:p>
        </p:txBody>
      </p:sp>
      <p:sp>
        <p:nvSpPr>
          <p:cNvPr id="41" name="hub"/>
          <p:cNvSpPr/>
          <p:nvPr/>
        </p:nvSpPr>
        <p:spPr>
          <a:xfrm>
            <a:off x="7444588" y="3200400"/>
            <a:ext cx="1463040" cy="1005840"/>
          </a:xfrm>
          <a:prstGeom prst="ellipse">
            <a:avLst/>
          </a:prstGeom>
          <a:solidFill>
            <a:srgbClr val="00274A"/>
          </a:solidFill>
          <a:ln w="3175">
            <a:solidFill>
              <a:srgbClr val="00274A"/>
            </a:solidFill>
            <a:prstDash val="solid"/>
          </a:ln>
          <a:effectLst>
            <a:outerShdw sx="100000" sy="100000" kx="0" ky="0" algn="bl" rotWithShape="0" blurRad="76200" dist="25400" dir="5400000">
              <a:srgbClr val="01426A">
                <a:alpha val="13000"/>
              </a:srgbClr>
            </a:outerShdw>
          </a:effectLst>
        </p:spPr>
      </p:sp>
      <p:sp>
        <p:nvSpPr>
          <p:cNvPr id="42" name="text"/>
          <p:cNvSpPr txBox="1"/>
          <p:nvPr/>
        </p:nvSpPr>
        <p:spPr>
          <a:xfrm>
            <a:off x="7490308" y="3246120"/>
            <a:ext cx="1371600" cy="914400"/>
          </a:xfrm>
          <a:prstGeom prst="rect">
            <a:avLst/>
          </a:prstGeom>
          <a:noFill/>
          <a:ln/>
        </p:spPr>
        <p:txBody>
          <a:bodyPr wrap="square" lIns="0" tIns="0" rIns="0" bIns="0" rtlCol="0" anchor="ctr"/>
          <a:lstStyle/>
          <a:p>
            <a:pPr algn="ctr" indent="0" marL="0">
              <a:buNone/>
            </a:pPr>
            <a:r>
              <a:rPr lang="en-US" sz="1050" b="1" dirty="0">
                <a:solidFill>
                  <a:srgbClr val="FFFFFF"/>
                </a:solidFill>
              </a:rPr>
              <a:t>Basis data operasi bersama</a:t>
            </a:r>
            <a:endParaRPr lang="en-US" sz="1050" dirty="0"/>
          </a:p>
        </p:txBody>
      </p:sp>
      <p:sp>
        <p:nvSpPr>
          <p:cNvPr id="43" name="card"/>
          <p:cNvSpPr/>
          <p:nvPr/>
        </p:nvSpPr>
        <p:spPr>
          <a:xfrm>
            <a:off x="548640" y="5559552"/>
            <a:ext cx="11094415" cy="685800"/>
          </a:xfrm>
          <a:prstGeom prst="roundRect">
            <a:avLst>
              <a:gd name="adj" fmla="val 18667"/>
            </a:avLst>
          </a:prstGeom>
          <a:solidFill>
            <a:srgbClr val="00274A"/>
          </a:solidFill>
          <a:ln w="3175">
            <a:solidFill>
              <a:srgbClr val="00274A"/>
            </a:solidFill>
            <a:prstDash val="solid"/>
          </a:ln>
        </p:spPr>
      </p:sp>
      <p:sp>
        <p:nvSpPr>
          <p:cNvPr id="44" name="text"/>
          <p:cNvSpPr txBox="1"/>
          <p:nvPr/>
        </p:nvSpPr>
        <p:spPr>
          <a:xfrm>
            <a:off x="822960" y="5559552"/>
            <a:ext cx="10545775" cy="685800"/>
          </a:xfrm>
          <a:prstGeom prst="rect">
            <a:avLst/>
          </a:prstGeom>
          <a:noFill/>
          <a:ln/>
        </p:spPr>
        <p:txBody>
          <a:bodyPr wrap="square" lIns="0" tIns="0" rIns="0" bIns="0" rtlCol="0" anchor="ctr"/>
          <a:lstStyle/>
          <a:p>
            <a:pPr algn="l" indent="0" marL="0">
              <a:buNone/>
            </a:pPr>
            <a:r>
              <a:rPr lang="en-US" sz="1200" b="1" dirty="0">
                <a:solidFill>
                  <a:srgbClr val="FFFFFF"/>
                </a:solidFill>
              </a:rPr>
              <a:t>Nilai:</a:t>
            </a:r>
            <a:r>
              <a:rPr lang="en-US" sz="1200" dirty="0">
                <a:solidFill>
                  <a:srgbClr val="FFFFFF"/>
                </a:solidFill>
              </a:rPr>
              <a:t> satu kebenaran data untuk semua fungsi. </a:t>
            </a:r>
            <a:r>
              <a:rPr lang="en-US" sz="1200" b="1" dirty="0">
                <a:solidFill>
                  <a:srgbClr val="FFFFFF"/>
                </a:solidFill>
              </a:rPr>
              <a:t>Risiko:</a:t>
            </a:r>
            <a:r>
              <a:rPr lang="en-US" sz="1200" dirty="0">
                <a:solidFill>
                  <a:srgbClr val="FFFFFF"/>
                </a:solidFill>
              </a:rPr>
              <a:t> </a:t>
            </a:r>
            <a:r>
              <a:rPr lang="en-US" sz="1200" i="1" dirty="0">
                <a:solidFill>
                  <a:srgbClr val="FFFFFF"/>
                </a:solidFill>
              </a:rPr>
              <a:t>single point of failure</a:t>
            </a:r>
            <a:r>
              <a:rPr lang="en-US" sz="1200" dirty="0">
                <a:solidFill>
                  <a:srgbClr val="FFFFFF"/>
                </a:solidFill>
              </a:rPr>
              <a:t>. Sistem terintegrasi menyediakan rencana yang konsisten, tetapi keputusan jam-ke-jam tetap memerlukan teknik </a:t>
            </a:r>
            <a:r>
              <a:rPr lang="en-US" sz="1200" i="1" dirty="0">
                <a:solidFill>
                  <a:srgbClr val="FFFFFF"/>
                </a:solidFill>
              </a:rPr>
              <a:t>sequencing and scheduling</a:t>
            </a:r>
            <a:r>
              <a:rPr lang="en-US" sz="1200" dirty="0">
                <a:solidFill>
                  <a:srgbClr val="FFFFFF"/>
                </a:solidFill>
              </a:rPr>
              <a:t> (Bagian 3).</a:t>
            </a:r>
            <a:endParaRPr lang="en-US" sz="1200" dirty="0"/>
          </a:p>
        </p:txBody>
      </p:sp>
      <p:sp>
        <p:nvSpPr>
          <p:cNvPr id="25" name="Slide Number Placeholder 0"/>
          <p:cNvSpPr>
            <a:spLocks noGrp="1"/>
          </p:cNvSpPr>
          <p:nvPr>
            <p:ph type="sldNum" sz="quarter" idx="4294967295"/>
          </p:nvPr>
        </p:nvSpPr>
        <p:spPr>
          <a:xfrm>
            <a:off x="11064240" y="6428232"/>
            <a:ext cx="576072"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01426A"/>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3" name="section image" descr="/tmp/claude-0/-home-user-Dom-Manipulation/385e5267-c23e-5c04-80f5-d5fb4946a902/scratchpad/build/img/deicing.png">    </p:cNvPr>
          <p:cNvPicPr>
            <a:picLocks noChangeAspect="1"/>
          </p:cNvPicPr>
          <p:nvPr/>
        </p:nvPicPr>
        <p:blipFill>
          <a:blip r:embed="rId1"/>
          <a:srcRect l="0" r="0" t="0" b="0"/>
          <a:stretch/>
        </p:blipFill>
        <p:spPr>
          <a:xfrm>
            <a:off x="5760720" y="0"/>
            <a:ext cx="6430975" cy="6858000"/>
          </a:xfrm>
          <a:prstGeom prst="rect">
            <a:avLst/>
          </a:prstGeom>
        </p:spPr>
      </p:pic>
      <p:sp>
        <p:nvSpPr>
          <p:cNvPr id="4" name="pill"/>
          <p:cNvSpPr/>
          <p:nvPr/>
        </p:nvSpPr>
        <p:spPr>
          <a:xfrm>
            <a:off x="640080" y="2057400"/>
            <a:ext cx="1554480" cy="365760"/>
          </a:xfrm>
          <a:prstGeom prst="roundRect">
            <a:avLst>
              <a:gd name="adj" fmla="val 50000"/>
            </a:avLst>
          </a:prstGeom>
          <a:solidFill>
            <a:srgbClr val="00CFF0"/>
          </a:solidFill>
          <a:ln w="3175">
            <a:solidFill>
              <a:srgbClr val="00CFF0"/>
            </a:solidFill>
            <a:prstDash val="solid"/>
          </a:ln>
        </p:spPr>
      </p:sp>
      <p:sp>
        <p:nvSpPr>
          <p:cNvPr id="5" name="pill label"/>
          <p:cNvSpPr txBox="1"/>
          <p:nvPr/>
        </p:nvSpPr>
        <p:spPr>
          <a:xfrm>
            <a:off x="640080" y="2057400"/>
            <a:ext cx="1554480" cy="365760"/>
          </a:xfrm>
          <a:prstGeom prst="rect">
            <a:avLst/>
          </a:prstGeom>
          <a:noFill/>
          <a:ln/>
        </p:spPr>
        <p:txBody>
          <a:bodyPr wrap="square" lIns="0" tIns="0" rIns="0" bIns="0" rtlCol="0" anchor="ctr"/>
          <a:lstStyle/>
          <a:p>
            <a:pPr algn="ctr" indent="0" marL="0">
              <a:buNone/>
            </a:pPr>
            <a:r>
              <a:rPr lang="en-US" sz="1100" b="1" dirty="0">
                <a:solidFill>
                  <a:srgbClr val="00274A"/>
                </a:solidFill>
              </a:rPr>
              <a:t>BAGIAN 3</a:t>
            </a:r>
            <a:endParaRPr lang="en-US" sz="1100" dirty="0"/>
          </a:p>
        </p:txBody>
      </p:sp>
      <p:sp>
        <p:nvSpPr>
          <p:cNvPr id="6" name="text"/>
          <p:cNvSpPr txBox="1"/>
          <p:nvPr/>
        </p:nvSpPr>
        <p:spPr>
          <a:xfrm>
            <a:off x="640080" y="2560320"/>
            <a:ext cx="4754880" cy="1554480"/>
          </a:xfrm>
          <a:prstGeom prst="rect">
            <a:avLst/>
          </a:prstGeom>
          <a:noFill/>
          <a:ln/>
        </p:spPr>
        <p:txBody>
          <a:bodyPr wrap="square" lIns="0" tIns="0" rIns="0" bIns="0" rtlCol="0" anchor="t"/>
          <a:lstStyle/>
          <a:p>
            <a:pPr algn="l" indent="0" marL="0">
              <a:buNone/>
            </a:pPr>
            <a:r>
              <a:rPr lang="en-US" sz="3400" b="1" dirty="0">
                <a:solidFill>
                  <a:srgbClr val="FFFFFF"/>
                </a:solidFill>
              </a:rPr>
              <a:t>Sequencing and Scheduling</a:t>
            </a:r>
            <a:endParaRPr lang="en-US" sz="3400" dirty="0"/>
          </a:p>
        </p:txBody>
      </p:sp>
      <p:sp>
        <p:nvSpPr>
          <p:cNvPr id="7" name="text"/>
          <p:cNvSpPr txBox="1"/>
          <p:nvPr/>
        </p:nvSpPr>
        <p:spPr>
          <a:xfrm>
            <a:off x="640080" y="4160520"/>
            <a:ext cx="4754880" cy="1005840"/>
          </a:xfrm>
          <a:prstGeom prst="rect">
            <a:avLst/>
          </a:prstGeom>
          <a:noFill/>
          <a:ln/>
        </p:spPr>
        <p:txBody>
          <a:bodyPr wrap="square" lIns="0" tIns="0" rIns="0" bIns="0" rtlCol="0" anchor="t"/>
          <a:lstStyle/>
          <a:p>
            <a:pPr algn="l" indent="0" marL="0">
              <a:buNone/>
            </a:pPr>
            <a:r>
              <a:rPr lang="en-US" sz="1500" dirty="0">
                <a:solidFill>
                  <a:srgbClr val="C1DAF0"/>
                </a:solidFill>
              </a:rPr>
              <a:t>Mengalokasikan dan memprioritaskan permintaan ke fasilitas yang tersedia dalam horizon hari dan jam.</a:t>
            </a:r>
            <a:endParaRPr lang="en-US" sz="1500" dirty="0"/>
          </a:p>
        </p:txBody>
      </p:sp>
      <p:sp>
        <p:nvSpPr>
          <p:cNvPr id="8" name="text"/>
          <p:cNvSpPr txBox="1"/>
          <p:nvPr/>
        </p:nvSpPr>
        <p:spPr>
          <a:xfrm>
            <a:off x="640080" y="5257800"/>
            <a:ext cx="4754880" cy="457200"/>
          </a:xfrm>
          <a:prstGeom prst="rect">
            <a:avLst/>
          </a:prstGeom>
          <a:noFill/>
          <a:ln/>
        </p:spPr>
        <p:txBody>
          <a:bodyPr wrap="square" lIns="0" tIns="0" rIns="0" bIns="0" rtlCol="0" anchor="t"/>
          <a:lstStyle/>
          <a:p>
            <a:pPr algn="l" indent="0" marL="0">
              <a:buNone/>
            </a:pPr>
            <a:r>
              <a:rPr lang="en-US" sz="1200" b="1" dirty="0">
                <a:solidFill>
                  <a:srgbClr val="00CFF0"/>
                </a:solidFill>
              </a:rPr>
              <a:t>HRM Bab 15  ·  SBB Bab 10</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000" b="1" dirty="0">
                <a:solidFill>
                  <a:srgbClr val="00274A"/>
                </a:solidFill>
              </a:rPr>
              <a:t>Short-Term Scheduling: Arti Strategis dan Tiga Isu Pokok</a:t>
            </a:r>
            <a:endParaRPr lang="en-US" sz="3000" dirty="0"/>
          </a:p>
        </p:txBody>
      </p:sp>
      <p:sp>
        <p:nvSpPr>
          <p:cNvPr id="4" name="card"/>
          <p:cNvSpPr/>
          <p:nvPr/>
        </p:nvSpPr>
        <p:spPr>
          <a:xfrm>
            <a:off x="548640" y="1325880"/>
            <a:ext cx="5410048" cy="1097280"/>
          </a:xfrm>
          <a:prstGeom prst="roundRect">
            <a:avLst>
              <a:gd name="adj" fmla="val 11667"/>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5" name="dot"/>
          <p:cNvSpPr/>
          <p:nvPr/>
        </p:nvSpPr>
        <p:spPr>
          <a:xfrm>
            <a:off x="822960" y="1600200"/>
            <a:ext cx="548640" cy="548640"/>
          </a:xfrm>
          <a:prstGeom prst="ellipse">
            <a:avLst/>
          </a:prstGeom>
          <a:solidFill>
            <a:srgbClr val="91BE62"/>
          </a:solidFill>
          <a:ln w="3175">
            <a:solidFill>
              <a:srgbClr val="91BE62"/>
            </a:solidFill>
            <a:prstDash val="solid"/>
          </a:ln>
        </p:spPr>
      </p:sp>
      <p:sp>
        <p:nvSpPr>
          <p:cNvPr id="6" name="text"/>
          <p:cNvSpPr txBox="1"/>
          <p:nvPr/>
        </p:nvSpPr>
        <p:spPr>
          <a:xfrm>
            <a:off x="1554480" y="1417320"/>
            <a:ext cx="4129888" cy="320040"/>
          </a:xfrm>
          <a:prstGeom prst="rect">
            <a:avLst/>
          </a:prstGeom>
          <a:noFill/>
          <a:ln/>
        </p:spPr>
        <p:txBody>
          <a:bodyPr wrap="square" lIns="0" tIns="0" rIns="0" bIns="0" rtlCol="0" anchor="t"/>
          <a:lstStyle/>
          <a:p>
            <a:pPr algn="l" indent="0" marL="0">
              <a:buNone/>
            </a:pPr>
            <a:r>
              <a:rPr lang="en-US" sz="1400" b="1" dirty="0">
                <a:solidFill>
                  <a:srgbClr val="00274A"/>
                </a:solidFill>
              </a:rPr>
              <a:t>Dampak internal</a:t>
            </a:r>
            <a:endParaRPr lang="en-US" sz="1400" dirty="0"/>
          </a:p>
        </p:txBody>
      </p:sp>
      <p:sp>
        <p:nvSpPr>
          <p:cNvPr id="7" name="text"/>
          <p:cNvSpPr txBox="1"/>
          <p:nvPr/>
        </p:nvSpPr>
        <p:spPr>
          <a:xfrm>
            <a:off x="1554480" y="1737360"/>
            <a:ext cx="4129888" cy="640080"/>
          </a:xfrm>
          <a:prstGeom prst="rect">
            <a:avLst/>
          </a:prstGeom>
          <a:noFill/>
          <a:ln/>
        </p:spPr>
        <p:txBody>
          <a:bodyPr wrap="square" lIns="0" tIns="0" rIns="0" bIns="0" rtlCol="0" anchor="t"/>
          <a:lstStyle/>
          <a:p>
            <a:pPr algn="l" indent="0" marL="0">
              <a:buNone/>
            </a:pPr>
            <a:r>
              <a:rPr lang="en-US" sz="1150" dirty="0">
                <a:solidFill>
                  <a:srgbClr val="00274A"/>
                </a:solidFill>
              </a:rPr>
              <a:t>Aliran barang dan jasa lebih cepat serta pemakaian aset lebih besar, sehingga kapasitas per dolar investasi naik dan biaya turun.</a:t>
            </a:r>
            <a:endParaRPr lang="en-US" sz="1150" dirty="0"/>
          </a:p>
        </p:txBody>
      </p:sp>
      <p:sp>
        <p:nvSpPr>
          <p:cNvPr id="8" name="card"/>
          <p:cNvSpPr/>
          <p:nvPr/>
        </p:nvSpPr>
        <p:spPr>
          <a:xfrm>
            <a:off x="6233008" y="1325880"/>
            <a:ext cx="5410048" cy="1097280"/>
          </a:xfrm>
          <a:prstGeom prst="roundRect">
            <a:avLst>
              <a:gd name="adj" fmla="val 11667"/>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9" name="dot"/>
          <p:cNvSpPr/>
          <p:nvPr/>
        </p:nvSpPr>
        <p:spPr>
          <a:xfrm>
            <a:off x="6507328" y="1600200"/>
            <a:ext cx="548640" cy="548640"/>
          </a:xfrm>
          <a:prstGeom prst="ellipse">
            <a:avLst/>
          </a:prstGeom>
          <a:solidFill>
            <a:srgbClr val="00CFF0"/>
          </a:solidFill>
          <a:ln w="3175">
            <a:solidFill>
              <a:srgbClr val="00CFF0"/>
            </a:solidFill>
            <a:prstDash val="solid"/>
          </a:ln>
        </p:spPr>
      </p:sp>
      <p:sp>
        <p:nvSpPr>
          <p:cNvPr id="10" name="text"/>
          <p:cNvSpPr txBox="1"/>
          <p:nvPr/>
        </p:nvSpPr>
        <p:spPr>
          <a:xfrm>
            <a:off x="7238848" y="1417320"/>
            <a:ext cx="4129888" cy="320040"/>
          </a:xfrm>
          <a:prstGeom prst="rect">
            <a:avLst/>
          </a:prstGeom>
          <a:noFill/>
          <a:ln/>
        </p:spPr>
        <p:txBody>
          <a:bodyPr wrap="square" lIns="0" tIns="0" rIns="0" bIns="0" rtlCol="0" anchor="t"/>
          <a:lstStyle/>
          <a:p>
            <a:pPr algn="l" indent="0" marL="0">
              <a:buNone/>
            </a:pPr>
            <a:r>
              <a:rPr lang="en-US" sz="1400" b="1" dirty="0">
                <a:solidFill>
                  <a:srgbClr val="00274A"/>
                </a:solidFill>
              </a:rPr>
              <a:t>Dampak eksternal</a:t>
            </a:r>
            <a:endParaRPr lang="en-US" sz="1400" dirty="0"/>
          </a:p>
        </p:txBody>
      </p:sp>
      <p:sp>
        <p:nvSpPr>
          <p:cNvPr id="11" name="text"/>
          <p:cNvSpPr txBox="1"/>
          <p:nvPr/>
        </p:nvSpPr>
        <p:spPr>
          <a:xfrm>
            <a:off x="7238848" y="1737360"/>
            <a:ext cx="4129888" cy="640080"/>
          </a:xfrm>
          <a:prstGeom prst="rect">
            <a:avLst/>
          </a:prstGeom>
          <a:noFill/>
          <a:ln/>
        </p:spPr>
        <p:txBody>
          <a:bodyPr wrap="square" lIns="0" tIns="0" rIns="0" bIns="0" rtlCol="0" anchor="t"/>
          <a:lstStyle/>
          <a:p>
            <a:pPr algn="l" indent="0" marL="0">
              <a:buNone/>
            </a:pPr>
            <a:r>
              <a:rPr lang="en-US" sz="1150" i="1" dirty="0">
                <a:solidFill>
                  <a:srgbClr val="00274A"/>
                </a:solidFill>
              </a:rPr>
              <a:t>Throughput</a:t>
            </a:r>
            <a:r>
              <a:rPr lang="en-US" sz="1150" dirty="0">
                <a:solidFill>
                  <a:srgbClr val="00274A"/>
                </a:solidFill>
              </a:rPr>
              <a:t> lebih cepat, fleksibilitas lebih tinggi, dan pengiriman lebih andal, sehingga layanan pelanggan membaik.</a:t>
            </a:r>
            <a:endParaRPr lang="en-US" sz="1150" dirty="0"/>
          </a:p>
        </p:txBody>
      </p:sp>
      <p:sp>
        <p:nvSpPr>
          <p:cNvPr id="12" name="card"/>
          <p:cNvSpPr/>
          <p:nvPr/>
        </p:nvSpPr>
        <p:spPr>
          <a:xfrm>
            <a:off x="548640" y="2606040"/>
            <a:ext cx="3545738" cy="2514600"/>
          </a:xfrm>
          <a:prstGeom prst="roundRect">
            <a:avLst>
              <a:gd name="adj" fmla="val 5091"/>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13" name="icon circle"/>
          <p:cNvSpPr/>
          <p:nvPr/>
        </p:nvSpPr>
        <p:spPr>
          <a:xfrm>
            <a:off x="777240" y="2834640"/>
            <a:ext cx="566928" cy="566928"/>
          </a:xfrm>
          <a:prstGeom prst="ellipse">
            <a:avLst/>
          </a:prstGeom>
          <a:solidFill>
            <a:srgbClr val="F0F7FD"/>
          </a:solidFill>
          <a:ln w="3175">
            <a:solidFill>
              <a:srgbClr val="F0F7FD"/>
            </a:solidFill>
            <a:prstDash val="solid"/>
          </a:ln>
        </p:spPr>
      </p:sp>
      <p:pic>
        <p:nvPicPr>
          <p:cNvPr id="14" name="icon FaArrowsAltH" descr="preencoded.png">    </p:cNvPr>
          <p:cNvPicPr>
            <a:picLocks noChangeAspect="1"/>
          </p:cNvPicPr>
          <p:nvPr/>
        </p:nvPicPr>
        <p:blipFill>
          <a:blip r:embed="rId1"/>
          <a:stretch>
            <a:fillRect/>
          </a:stretch>
        </p:blipFill>
        <p:spPr>
          <a:xfrm>
            <a:off x="918972" y="2976372"/>
            <a:ext cx="283464" cy="283464"/>
          </a:xfrm>
          <a:prstGeom prst="rect">
            <a:avLst/>
          </a:prstGeom>
        </p:spPr>
      </p:pic>
      <p:sp>
        <p:nvSpPr>
          <p:cNvPr id="15" name="text"/>
          <p:cNvSpPr txBox="1"/>
          <p:nvPr/>
        </p:nvSpPr>
        <p:spPr>
          <a:xfrm>
            <a:off x="1463040" y="2834640"/>
            <a:ext cx="2448458" cy="566928"/>
          </a:xfrm>
          <a:prstGeom prst="rect">
            <a:avLst/>
          </a:prstGeom>
          <a:noFill/>
          <a:ln/>
        </p:spPr>
        <p:txBody>
          <a:bodyPr wrap="square" lIns="0" tIns="0" rIns="0" bIns="0" rtlCol="0" anchor="ctr"/>
          <a:lstStyle/>
          <a:p>
            <a:pPr algn="l" indent="0" marL="0">
              <a:buNone/>
            </a:pPr>
            <a:r>
              <a:rPr lang="en-US" sz="1350" b="1" dirty="0">
                <a:solidFill>
                  <a:srgbClr val="00274A"/>
                </a:solidFill>
              </a:rPr>
              <a:t>Forward vs backward scheduling</a:t>
            </a:r>
            <a:endParaRPr lang="en-US" sz="1350" dirty="0"/>
          </a:p>
        </p:txBody>
      </p:sp>
      <p:sp>
        <p:nvSpPr>
          <p:cNvPr id="16" name="text"/>
          <p:cNvSpPr txBox="1"/>
          <p:nvPr/>
        </p:nvSpPr>
        <p:spPr>
          <a:xfrm>
            <a:off x="777240" y="3520440"/>
            <a:ext cx="3088538" cy="1554480"/>
          </a:xfrm>
          <a:prstGeom prst="rect">
            <a:avLst/>
          </a:prstGeom>
          <a:noFill/>
          <a:ln/>
        </p:spPr>
        <p:txBody>
          <a:bodyPr wrap="square" lIns="0" tIns="0" rIns="0" bIns="0" rtlCol="0" anchor="t"/>
          <a:lstStyle/>
          <a:p>
            <a:pPr algn="l" indent="0" marL="0">
              <a:buNone/>
            </a:pPr>
            <a:r>
              <a:rPr lang="en-US" sz="1150" i="1" dirty="0">
                <a:solidFill>
                  <a:srgbClr val="00274A"/>
                </a:solidFill>
              </a:rPr>
              <a:t>Forward</a:t>
            </a:r>
            <a:r>
              <a:rPr lang="en-US" sz="1150" dirty="0">
                <a:solidFill>
                  <a:srgbClr val="00274A"/>
                </a:solidFill>
              </a:rPr>
              <a:t>: mulai begitu kebutuhan diketahui (rumah sakit, restoran). </a:t>
            </a:r>
            <a:r>
              <a:rPr lang="en-US" sz="1150" i="1" dirty="0">
                <a:solidFill>
                  <a:srgbClr val="00274A"/>
                </a:solidFill>
              </a:rPr>
              <a:t>Backward</a:t>
            </a:r>
            <a:r>
              <a:rPr lang="en-US" sz="1150" dirty="0">
                <a:solidFill>
                  <a:srgbClr val="00274A"/>
                </a:solidFill>
              </a:rPr>
              <a:t>: mulai dari </a:t>
            </a:r>
            <a:r>
              <a:rPr lang="en-US" sz="1150" i="1" dirty="0">
                <a:solidFill>
                  <a:srgbClr val="00274A"/>
                </a:solidFill>
              </a:rPr>
              <a:t>due date</a:t>
            </a:r>
            <a:r>
              <a:rPr lang="en-US" sz="1150" dirty="0">
                <a:solidFill>
                  <a:srgbClr val="00274A"/>
                </a:solidFill>
              </a:rPr>
              <a:t> mundur (katering, bedah). Praktik biasanya memadukan keduanya.</a:t>
            </a:r>
            <a:endParaRPr lang="en-US" sz="1150" dirty="0"/>
          </a:p>
        </p:txBody>
      </p:sp>
      <p:sp>
        <p:nvSpPr>
          <p:cNvPr id="17" name="card"/>
          <p:cNvSpPr/>
          <p:nvPr/>
        </p:nvSpPr>
        <p:spPr>
          <a:xfrm>
            <a:off x="4322978" y="2606040"/>
            <a:ext cx="3545738" cy="2514600"/>
          </a:xfrm>
          <a:prstGeom prst="roundRect">
            <a:avLst>
              <a:gd name="adj" fmla="val 5091"/>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18" name="icon circle"/>
          <p:cNvSpPr/>
          <p:nvPr/>
        </p:nvSpPr>
        <p:spPr>
          <a:xfrm>
            <a:off x="4551578" y="2834640"/>
            <a:ext cx="566928" cy="566928"/>
          </a:xfrm>
          <a:prstGeom prst="ellipse">
            <a:avLst/>
          </a:prstGeom>
          <a:solidFill>
            <a:srgbClr val="F0F7FD"/>
          </a:solidFill>
          <a:ln w="3175">
            <a:solidFill>
              <a:srgbClr val="F0F7FD"/>
            </a:solidFill>
            <a:prstDash val="solid"/>
          </a:ln>
        </p:spPr>
      </p:sp>
      <p:pic>
        <p:nvPicPr>
          <p:cNvPr id="19" name="icon FaBalanceScale" descr="preencoded.png">    </p:cNvPr>
          <p:cNvPicPr>
            <a:picLocks noChangeAspect="1"/>
          </p:cNvPicPr>
          <p:nvPr/>
        </p:nvPicPr>
        <p:blipFill>
          <a:blip r:embed="rId2"/>
          <a:stretch>
            <a:fillRect/>
          </a:stretch>
        </p:blipFill>
        <p:spPr>
          <a:xfrm>
            <a:off x="4693310" y="2976372"/>
            <a:ext cx="283464" cy="283464"/>
          </a:xfrm>
          <a:prstGeom prst="rect">
            <a:avLst/>
          </a:prstGeom>
        </p:spPr>
      </p:pic>
      <p:sp>
        <p:nvSpPr>
          <p:cNvPr id="20" name="text"/>
          <p:cNvSpPr txBox="1"/>
          <p:nvPr/>
        </p:nvSpPr>
        <p:spPr>
          <a:xfrm>
            <a:off x="5237378" y="2834640"/>
            <a:ext cx="2448458" cy="566928"/>
          </a:xfrm>
          <a:prstGeom prst="rect">
            <a:avLst/>
          </a:prstGeom>
          <a:noFill/>
          <a:ln/>
        </p:spPr>
        <p:txBody>
          <a:bodyPr wrap="square" lIns="0" tIns="0" rIns="0" bIns="0" rtlCol="0" anchor="ctr"/>
          <a:lstStyle/>
          <a:p>
            <a:pPr algn="l" indent="0" marL="0">
              <a:buNone/>
            </a:pPr>
            <a:r>
              <a:rPr lang="en-US" sz="1350" b="1" dirty="0">
                <a:solidFill>
                  <a:srgbClr val="00274A"/>
                </a:solidFill>
              </a:rPr>
              <a:t>Finite vs infinite loading</a:t>
            </a:r>
            <a:endParaRPr lang="en-US" sz="1350" dirty="0"/>
          </a:p>
        </p:txBody>
      </p:sp>
      <p:sp>
        <p:nvSpPr>
          <p:cNvPr id="21" name="text"/>
          <p:cNvSpPr txBox="1"/>
          <p:nvPr/>
        </p:nvSpPr>
        <p:spPr>
          <a:xfrm>
            <a:off x="4551578" y="3520440"/>
            <a:ext cx="3088538" cy="1554480"/>
          </a:xfrm>
          <a:prstGeom prst="rect">
            <a:avLst/>
          </a:prstGeom>
          <a:noFill/>
          <a:ln/>
        </p:spPr>
        <p:txBody>
          <a:bodyPr wrap="square" lIns="0" tIns="0" rIns="0" bIns="0" rtlCol="0" anchor="t"/>
          <a:lstStyle/>
          <a:p>
            <a:pPr algn="l" indent="0" marL="0">
              <a:buNone/>
            </a:pPr>
            <a:r>
              <a:rPr lang="en-US" sz="1150" i="1" dirty="0">
                <a:solidFill>
                  <a:srgbClr val="00274A"/>
                </a:solidFill>
              </a:rPr>
              <a:t>Finite loading</a:t>
            </a:r>
            <a:r>
              <a:rPr lang="en-US" sz="1150" dirty="0">
                <a:solidFill>
                  <a:srgbClr val="00274A"/>
                </a:solidFill>
              </a:rPr>
              <a:t> membebani hanya sampai kapasitas; </a:t>
            </a:r>
            <a:r>
              <a:rPr lang="en-US" sz="1150" i="1" dirty="0">
                <a:solidFill>
                  <a:srgbClr val="00274A"/>
                </a:solidFill>
              </a:rPr>
              <a:t>infinite loading</a:t>
            </a:r>
            <a:r>
              <a:rPr lang="en-US" sz="1150" dirty="0">
                <a:solidFill>
                  <a:srgbClr val="00274A"/>
                </a:solidFill>
              </a:rPr>
              <a:t> mengabaikannya. Kebanyakan sistem MRP bersifat </a:t>
            </a:r>
            <a:r>
              <a:rPr lang="en-US" sz="1150" i="1" dirty="0">
                <a:solidFill>
                  <a:srgbClr val="00274A"/>
                </a:solidFill>
              </a:rPr>
              <a:t>infinite loading</a:t>
            </a:r>
            <a:r>
              <a:rPr lang="en-US" sz="1150" dirty="0">
                <a:solidFill>
                  <a:srgbClr val="00274A"/>
                </a:solidFill>
              </a:rPr>
              <a:t>, sehingga kapasitas harus disesuaikan belakangan.</a:t>
            </a:r>
            <a:endParaRPr lang="en-US" sz="1150" dirty="0"/>
          </a:p>
        </p:txBody>
      </p:sp>
      <p:sp>
        <p:nvSpPr>
          <p:cNvPr id="22" name="card"/>
          <p:cNvSpPr/>
          <p:nvPr/>
        </p:nvSpPr>
        <p:spPr>
          <a:xfrm>
            <a:off x="8097317" y="2606040"/>
            <a:ext cx="3545738" cy="2514600"/>
          </a:xfrm>
          <a:prstGeom prst="roundRect">
            <a:avLst>
              <a:gd name="adj" fmla="val 5091"/>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23" name="icon circle"/>
          <p:cNvSpPr/>
          <p:nvPr/>
        </p:nvSpPr>
        <p:spPr>
          <a:xfrm>
            <a:off x="8325917" y="2834640"/>
            <a:ext cx="566928" cy="566928"/>
          </a:xfrm>
          <a:prstGeom prst="ellipse">
            <a:avLst/>
          </a:prstGeom>
          <a:solidFill>
            <a:srgbClr val="F0F7FD"/>
          </a:solidFill>
          <a:ln w="3175">
            <a:solidFill>
              <a:srgbClr val="F0F7FD"/>
            </a:solidFill>
            <a:prstDash val="solid"/>
          </a:ln>
        </p:spPr>
      </p:sp>
      <p:pic>
        <p:nvPicPr>
          <p:cNvPr id="24" name="icon FaListOl" descr="preencoded.png">    </p:cNvPr>
          <p:cNvPicPr>
            <a:picLocks noChangeAspect="1"/>
          </p:cNvPicPr>
          <p:nvPr/>
        </p:nvPicPr>
        <p:blipFill>
          <a:blip r:embed="rId3"/>
          <a:stretch>
            <a:fillRect/>
          </a:stretch>
        </p:blipFill>
        <p:spPr>
          <a:xfrm>
            <a:off x="8467649" y="2976372"/>
            <a:ext cx="283464" cy="283464"/>
          </a:xfrm>
          <a:prstGeom prst="rect">
            <a:avLst/>
          </a:prstGeom>
        </p:spPr>
      </p:pic>
      <p:sp>
        <p:nvSpPr>
          <p:cNvPr id="25" name="text"/>
          <p:cNvSpPr txBox="1"/>
          <p:nvPr/>
        </p:nvSpPr>
        <p:spPr>
          <a:xfrm>
            <a:off x="9011717" y="2834640"/>
            <a:ext cx="2448458" cy="566928"/>
          </a:xfrm>
          <a:prstGeom prst="rect">
            <a:avLst/>
          </a:prstGeom>
          <a:noFill/>
          <a:ln/>
        </p:spPr>
        <p:txBody>
          <a:bodyPr wrap="square" lIns="0" tIns="0" rIns="0" bIns="0" rtlCol="0" anchor="ctr"/>
          <a:lstStyle/>
          <a:p>
            <a:pPr algn="l" indent="0" marL="0">
              <a:buNone/>
            </a:pPr>
            <a:r>
              <a:rPr lang="en-US" sz="1350" b="1" dirty="0">
                <a:solidFill>
                  <a:srgbClr val="00274A"/>
                </a:solidFill>
              </a:rPr>
              <a:t>Kriteria penjadwalan</a:t>
            </a:r>
            <a:endParaRPr lang="en-US" sz="1350" dirty="0"/>
          </a:p>
        </p:txBody>
      </p:sp>
      <p:sp>
        <p:nvSpPr>
          <p:cNvPr id="26" name="text"/>
          <p:cNvSpPr txBox="1"/>
          <p:nvPr/>
        </p:nvSpPr>
        <p:spPr>
          <a:xfrm>
            <a:off x="8325917" y="3520440"/>
            <a:ext cx="3088538" cy="1554480"/>
          </a:xfrm>
          <a:prstGeom prst="rect">
            <a:avLst/>
          </a:prstGeom>
          <a:noFill/>
          <a:ln/>
        </p:spPr>
        <p:txBody>
          <a:bodyPr wrap="square" lIns="0" tIns="0" rIns="0" bIns="0" rtlCol="0" anchor="t"/>
          <a:lstStyle/>
          <a:p>
            <a:pPr algn="l" indent="0" marL="0">
              <a:buNone/>
            </a:pPr>
            <a:r>
              <a:rPr lang="en-US" sz="1150" dirty="0">
                <a:solidFill>
                  <a:srgbClr val="00274A"/>
                </a:solidFill>
              </a:rPr>
              <a:t>Minimasi waktu penyelesaian, maksimasi utilisasi, minimasi persediaan </a:t>
            </a:r>
            <a:r>
              <a:rPr lang="en-US" sz="1150" i="1" dirty="0">
                <a:solidFill>
                  <a:srgbClr val="00274A"/>
                </a:solidFill>
              </a:rPr>
              <a:t>work-in-process</a:t>
            </a:r>
            <a:r>
              <a:rPr lang="en-US" sz="1150" dirty="0">
                <a:solidFill>
                  <a:srgbClr val="00274A"/>
                </a:solidFill>
              </a:rPr>
              <a:t>, dan minimasi waktu tunggu pelanggan. Teknik dipilih menurut kriteria yang diutamakan.</a:t>
            </a:r>
            <a:endParaRPr lang="en-US" sz="1150" dirty="0"/>
          </a:p>
        </p:txBody>
      </p:sp>
      <p:sp>
        <p:nvSpPr>
          <p:cNvPr id="27" name="card"/>
          <p:cNvSpPr/>
          <p:nvPr/>
        </p:nvSpPr>
        <p:spPr>
          <a:xfrm>
            <a:off x="548640" y="5303520"/>
            <a:ext cx="11094415" cy="914400"/>
          </a:xfrm>
          <a:prstGeom prst="roundRect">
            <a:avLst>
              <a:gd name="adj" fmla="val 14000"/>
            </a:avLst>
          </a:prstGeom>
          <a:solidFill>
            <a:srgbClr val="00274A"/>
          </a:solidFill>
          <a:ln w="3175">
            <a:solidFill>
              <a:srgbClr val="00274A"/>
            </a:solidFill>
            <a:prstDash val="solid"/>
          </a:ln>
        </p:spPr>
      </p:sp>
      <p:sp>
        <p:nvSpPr>
          <p:cNvPr id="28" name="icon circle"/>
          <p:cNvSpPr/>
          <p:nvPr/>
        </p:nvSpPr>
        <p:spPr>
          <a:xfrm>
            <a:off x="822960" y="5486400"/>
            <a:ext cx="548640" cy="548640"/>
          </a:xfrm>
          <a:prstGeom prst="ellipse">
            <a:avLst/>
          </a:prstGeom>
          <a:solidFill>
            <a:srgbClr val="00CFF0"/>
          </a:solidFill>
          <a:ln w="3175">
            <a:solidFill>
              <a:srgbClr val="00CFF0"/>
            </a:solidFill>
            <a:prstDash val="solid"/>
          </a:ln>
        </p:spPr>
      </p:sp>
      <p:pic>
        <p:nvPicPr>
          <p:cNvPr id="29" name="icon FaQuoteLeft" descr="preencoded.png">    </p:cNvPr>
          <p:cNvPicPr>
            <a:picLocks noChangeAspect="1"/>
          </p:cNvPicPr>
          <p:nvPr/>
        </p:nvPicPr>
        <p:blipFill>
          <a:blip r:embed="rId4"/>
          <a:stretch>
            <a:fillRect/>
          </a:stretch>
        </p:blipFill>
        <p:spPr>
          <a:xfrm>
            <a:off x="960120" y="5623560"/>
            <a:ext cx="274320" cy="274320"/>
          </a:xfrm>
          <a:prstGeom prst="rect">
            <a:avLst/>
          </a:prstGeom>
        </p:spPr>
      </p:pic>
      <p:sp>
        <p:nvSpPr>
          <p:cNvPr id="30" name="text"/>
          <p:cNvSpPr txBox="1"/>
          <p:nvPr/>
        </p:nvSpPr>
        <p:spPr>
          <a:xfrm>
            <a:off x="1554480" y="5303520"/>
            <a:ext cx="9814255" cy="914400"/>
          </a:xfrm>
          <a:prstGeom prst="rect">
            <a:avLst/>
          </a:prstGeom>
          <a:noFill/>
          <a:ln/>
        </p:spPr>
        <p:txBody>
          <a:bodyPr wrap="square" lIns="0" tIns="0" rIns="0" bIns="0" rtlCol="0" anchor="ctr"/>
          <a:lstStyle/>
          <a:p>
            <a:pPr algn="l" indent="0" marL="0">
              <a:buNone/>
            </a:pPr>
            <a:r>
              <a:rPr lang="en-US" sz="1150" i="1" dirty="0">
                <a:solidFill>
                  <a:srgbClr val="FFFFFF"/>
                </a:solidFill>
              </a:rPr>
              <a:t>"Alaska Airlines tidak hanya menjadwalkan 150 pesawatnya setiap hari; ia juga menjadwalkan lebih dari 4.500 pilot dan awak kabin... Alaska menemukan keunggulan kompetitif pada kemampuannya melakukan penyesuaian menit terakhir terhadap fluktuasi permintaan dan gangguan cuaca." (Heizer et al., 2017, hlm. 602)</a:t>
            </a:r>
            <a:endParaRPr lang="en-US" sz="1150" dirty="0"/>
          </a:p>
        </p:txBody>
      </p:sp>
      <p:sp>
        <p:nvSpPr>
          <p:cNvPr id="25" name="Slide Number Placeholder 0"/>
          <p:cNvSpPr>
            <a:spLocks noGrp="1"/>
          </p:cNvSpPr>
          <p:nvPr>
            <p:ph type="sldNum" sz="quarter" idx="4294967295"/>
          </p:nvPr>
        </p:nvSpPr>
        <p:spPr>
          <a:xfrm>
            <a:off x="11064240" y="6428232"/>
            <a:ext cx="576072"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01426A"/>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000" b="1" dirty="0">
                <a:solidFill>
                  <a:srgbClr val="00274A"/>
                </a:solidFill>
              </a:rPr>
              <a:t>Loading: Input-Output Control, Gantt Chart, dan Assignment Method</a:t>
            </a:r>
            <a:endParaRPr lang="en-US" sz="3000" dirty="0"/>
          </a:p>
        </p:txBody>
      </p:sp>
      <p:sp>
        <p:nvSpPr>
          <p:cNvPr id="4" name="card"/>
          <p:cNvSpPr/>
          <p:nvPr/>
        </p:nvSpPr>
        <p:spPr>
          <a:xfrm>
            <a:off x="548640" y="1325880"/>
            <a:ext cx="3545738" cy="2377440"/>
          </a:xfrm>
          <a:prstGeom prst="roundRect">
            <a:avLst>
              <a:gd name="adj" fmla="val 5385"/>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5" name="icon circle"/>
          <p:cNvSpPr/>
          <p:nvPr/>
        </p:nvSpPr>
        <p:spPr>
          <a:xfrm>
            <a:off x="777240" y="1554480"/>
            <a:ext cx="566928" cy="566928"/>
          </a:xfrm>
          <a:prstGeom prst="ellipse">
            <a:avLst/>
          </a:prstGeom>
          <a:solidFill>
            <a:srgbClr val="00CFF0"/>
          </a:solidFill>
          <a:ln w="3175">
            <a:solidFill>
              <a:srgbClr val="00CFF0"/>
            </a:solidFill>
            <a:prstDash val="solid"/>
          </a:ln>
        </p:spPr>
      </p:sp>
      <p:pic>
        <p:nvPicPr>
          <p:cNvPr id="6" name="icon FaExchangeAlt" descr="preencoded.png">    </p:cNvPr>
          <p:cNvPicPr>
            <a:picLocks noChangeAspect="1"/>
          </p:cNvPicPr>
          <p:nvPr/>
        </p:nvPicPr>
        <p:blipFill>
          <a:blip r:embed="rId1"/>
          <a:stretch>
            <a:fillRect/>
          </a:stretch>
        </p:blipFill>
        <p:spPr>
          <a:xfrm>
            <a:off x="918972" y="1696212"/>
            <a:ext cx="283464" cy="283464"/>
          </a:xfrm>
          <a:prstGeom prst="rect">
            <a:avLst/>
          </a:prstGeom>
        </p:spPr>
      </p:pic>
      <p:sp>
        <p:nvSpPr>
          <p:cNvPr id="7" name="text"/>
          <p:cNvSpPr txBox="1"/>
          <p:nvPr/>
        </p:nvSpPr>
        <p:spPr>
          <a:xfrm>
            <a:off x="1463040" y="1554480"/>
            <a:ext cx="2448458" cy="566928"/>
          </a:xfrm>
          <a:prstGeom prst="rect">
            <a:avLst/>
          </a:prstGeom>
          <a:noFill/>
          <a:ln/>
        </p:spPr>
        <p:txBody>
          <a:bodyPr wrap="square" lIns="0" tIns="0" rIns="0" bIns="0" rtlCol="0" anchor="ctr"/>
          <a:lstStyle/>
          <a:p>
            <a:pPr algn="l" indent="0" marL="0">
              <a:buNone/>
            </a:pPr>
            <a:r>
              <a:rPr lang="en-US" sz="1400" b="1" dirty="0">
                <a:solidFill>
                  <a:srgbClr val="00274A"/>
                </a:solidFill>
              </a:rPr>
              <a:t>Input-output control</a:t>
            </a:r>
            <a:endParaRPr lang="en-US" sz="1400" dirty="0"/>
          </a:p>
        </p:txBody>
      </p:sp>
      <p:sp>
        <p:nvSpPr>
          <p:cNvPr id="8" name="text"/>
          <p:cNvSpPr txBox="1"/>
          <p:nvPr/>
        </p:nvSpPr>
        <p:spPr>
          <a:xfrm>
            <a:off x="777240" y="2240280"/>
            <a:ext cx="3088538" cy="1417320"/>
          </a:xfrm>
          <a:prstGeom prst="rect">
            <a:avLst/>
          </a:prstGeom>
          <a:noFill/>
          <a:ln/>
        </p:spPr>
        <p:txBody>
          <a:bodyPr wrap="square" lIns="0" tIns="0" rIns="0" bIns="0" rtlCol="0" anchor="t"/>
          <a:lstStyle/>
          <a:p>
            <a:pPr algn="l" indent="0" marL="0">
              <a:buNone/>
            </a:pPr>
            <a:r>
              <a:rPr lang="en-US" sz="1150" dirty="0">
                <a:solidFill>
                  <a:srgbClr val="00274A"/>
                </a:solidFill>
              </a:rPr>
              <a:t>Membandingkan input dan output terencana terhadap aktual per pusat kerja. Bila input melebihi output, antrean dan </a:t>
            </a:r>
            <a:r>
              <a:rPr lang="en-US" sz="1150" i="1" dirty="0">
                <a:solidFill>
                  <a:srgbClr val="00274A"/>
                </a:solidFill>
              </a:rPr>
              <a:t>lead time</a:t>
            </a:r>
            <a:r>
              <a:rPr lang="en-US" sz="1150" dirty="0">
                <a:solidFill>
                  <a:srgbClr val="00274A"/>
                </a:solidFill>
              </a:rPr>
              <a:t> membengkak; dikendalikan dengan menunda rilis pekerjaan, menambah kapasitas, atau mengalihkan beban.</a:t>
            </a:r>
            <a:endParaRPr lang="en-US" sz="1150" dirty="0"/>
          </a:p>
        </p:txBody>
      </p:sp>
      <p:sp>
        <p:nvSpPr>
          <p:cNvPr id="9" name="card"/>
          <p:cNvSpPr/>
          <p:nvPr/>
        </p:nvSpPr>
        <p:spPr>
          <a:xfrm>
            <a:off x="4322978" y="1325880"/>
            <a:ext cx="3545738" cy="2377440"/>
          </a:xfrm>
          <a:prstGeom prst="roundRect">
            <a:avLst>
              <a:gd name="adj" fmla="val 5385"/>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10" name="icon circle"/>
          <p:cNvSpPr/>
          <p:nvPr/>
        </p:nvSpPr>
        <p:spPr>
          <a:xfrm>
            <a:off x="4551578" y="1554480"/>
            <a:ext cx="566928" cy="566928"/>
          </a:xfrm>
          <a:prstGeom prst="ellipse">
            <a:avLst/>
          </a:prstGeom>
          <a:solidFill>
            <a:srgbClr val="91BE62"/>
          </a:solidFill>
          <a:ln w="3175">
            <a:solidFill>
              <a:srgbClr val="91BE62"/>
            </a:solidFill>
            <a:prstDash val="solid"/>
          </a:ln>
        </p:spPr>
      </p:sp>
      <p:pic>
        <p:nvPicPr>
          <p:cNvPr id="11" name="icon FaChartBar" descr="preencoded.png">    </p:cNvPr>
          <p:cNvPicPr>
            <a:picLocks noChangeAspect="1"/>
          </p:cNvPicPr>
          <p:nvPr/>
        </p:nvPicPr>
        <p:blipFill>
          <a:blip r:embed="rId2"/>
          <a:stretch>
            <a:fillRect/>
          </a:stretch>
        </p:blipFill>
        <p:spPr>
          <a:xfrm>
            <a:off x="4693310" y="1696212"/>
            <a:ext cx="283464" cy="283464"/>
          </a:xfrm>
          <a:prstGeom prst="rect">
            <a:avLst/>
          </a:prstGeom>
        </p:spPr>
      </p:pic>
      <p:sp>
        <p:nvSpPr>
          <p:cNvPr id="12" name="text"/>
          <p:cNvSpPr txBox="1"/>
          <p:nvPr/>
        </p:nvSpPr>
        <p:spPr>
          <a:xfrm>
            <a:off x="5237378" y="1554480"/>
            <a:ext cx="2448458" cy="566928"/>
          </a:xfrm>
          <a:prstGeom prst="rect">
            <a:avLst/>
          </a:prstGeom>
          <a:noFill/>
          <a:ln/>
        </p:spPr>
        <p:txBody>
          <a:bodyPr wrap="square" lIns="0" tIns="0" rIns="0" bIns="0" rtlCol="0" anchor="ctr"/>
          <a:lstStyle/>
          <a:p>
            <a:pPr algn="l" indent="0" marL="0">
              <a:buNone/>
            </a:pPr>
            <a:r>
              <a:rPr lang="en-US" sz="1400" b="1" dirty="0">
                <a:solidFill>
                  <a:srgbClr val="00274A"/>
                </a:solidFill>
              </a:rPr>
              <a:t>Gantt chart</a:t>
            </a:r>
            <a:endParaRPr lang="en-US" sz="1400" dirty="0"/>
          </a:p>
        </p:txBody>
      </p:sp>
      <p:sp>
        <p:nvSpPr>
          <p:cNvPr id="13" name="text"/>
          <p:cNvSpPr txBox="1"/>
          <p:nvPr/>
        </p:nvSpPr>
        <p:spPr>
          <a:xfrm>
            <a:off x="4551578" y="2240280"/>
            <a:ext cx="3088538" cy="1417320"/>
          </a:xfrm>
          <a:prstGeom prst="rect">
            <a:avLst/>
          </a:prstGeom>
          <a:noFill/>
          <a:ln/>
        </p:spPr>
        <p:txBody>
          <a:bodyPr wrap="square" lIns="0" tIns="0" rIns="0" bIns="0" rtlCol="0" anchor="t"/>
          <a:lstStyle/>
          <a:p>
            <a:pPr algn="l" indent="0" marL="0">
              <a:buNone/>
            </a:pPr>
            <a:r>
              <a:rPr lang="en-US" sz="1150" i="1" dirty="0">
                <a:solidFill>
                  <a:srgbClr val="00274A"/>
                </a:solidFill>
              </a:rPr>
              <a:t>Load chart</a:t>
            </a:r>
            <a:r>
              <a:rPr lang="en-US" sz="1150" dirty="0">
                <a:solidFill>
                  <a:srgbClr val="00274A"/>
                </a:solidFill>
              </a:rPr>
              <a:t> memperlihatkan beban setiap pusat kerja; </a:t>
            </a:r>
            <a:r>
              <a:rPr lang="en-US" sz="1150" i="1" dirty="0">
                <a:solidFill>
                  <a:srgbClr val="00274A"/>
                </a:solidFill>
              </a:rPr>
              <a:t>schedule chart</a:t>
            </a:r>
            <a:r>
              <a:rPr lang="en-US" sz="1150" dirty="0">
                <a:solidFill>
                  <a:srgbClr val="00274A"/>
                </a:solidFill>
              </a:rPr>
              <a:t> memantau kemajuan pekerjaan terhadap waktu. Keduanya sederhana, tetapi tidak otomatis memperhitungkan variabilitas proses.</a:t>
            </a:r>
            <a:endParaRPr lang="en-US" sz="1150" dirty="0"/>
          </a:p>
        </p:txBody>
      </p:sp>
      <p:sp>
        <p:nvSpPr>
          <p:cNvPr id="14" name="card"/>
          <p:cNvSpPr/>
          <p:nvPr/>
        </p:nvSpPr>
        <p:spPr>
          <a:xfrm>
            <a:off x="8097317" y="1325880"/>
            <a:ext cx="3545738" cy="2377440"/>
          </a:xfrm>
          <a:prstGeom prst="roundRect">
            <a:avLst>
              <a:gd name="adj" fmla="val 5385"/>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15" name="icon circle"/>
          <p:cNvSpPr/>
          <p:nvPr/>
        </p:nvSpPr>
        <p:spPr>
          <a:xfrm>
            <a:off x="8325917" y="1554480"/>
            <a:ext cx="566928" cy="566928"/>
          </a:xfrm>
          <a:prstGeom prst="ellipse">
            <a:avLst/>
          </a:prstGeom>
          <a:solidFill>
            <a:srgbClr val="00CFF0"/>
          </a:solidFill>
          <a:ln w="3175">
            <a:solidFill>
              <a:srgbClr val="00CFF0"/>
            </a:solidFill>
            <a:prstDash val="solid"/>
          </a:ln>
        </p:spPr>
      </p:sp>
      <p:pic>
        <p:nvPicPr>
          <p:cNvPr id="16" name="icon FaProjectDiagram" descr="preencoded.png">    </p:cNvPr>
          <p:cNvPicPr>
            <a:picLocks noChangeAspect="1"/>
          </p:cNvPicPr>
          <p:nvPr/>
        </p:nvPicPr>
        <p:blipFill>
          <a:blip r:embed="rId3"/>
          <a:stretch>
            <a:fillRect/>
          </a:stretch>
        </p:blipFill>
        <p:spPr>
          <a:xfrm>
            <a:off x="8467649" y="1696212"/>
            <a:ext cx="283464" cy="283464"/>
          </a:xfrm>
          <a:prstGeom prst="rect">
            <a:avLst/>
          </a:prstGeom>
        </p:spPr>
      </p:pic>
      <p:sp>
        <p:nvSpPr>
          <p:cNvPr id="17" name="text"/>
          <p:cNvSpPr txBox="1"/>
          <p:nvPr/>
        </p:nvSpPr>
        <p:spPr>
          <a:xfrm>
            <a:off x="9011717" y="1554480"/>
            <a:ext cx="2448458" cy="566928"/>
          </a:xfrm>
          <a:prstGeom prst="rect">
            <a:avLst/>
          </a:prstGeom>
          <a:noFill/>
          <a:ln/>
        </p:spPr>
        <p:txBody>
          <a:bodyPr wrap="square" lIns="0" tIns="0" rIns="0" bIns="0" rtlCol="0" anchor="ctr"/>
          <a:lstStyle/>
          <a:p>
            <a:pPr algn="l" indent="0" marL="0">
              <a:buNone/>
            </a:pPr>
            <a:r>
              <a:rPr lang="en-US" sz="1400" b="1" dirty="0">
                <a:solidFill>
                  <a:srgbClr val="00274A"/>
                </a:solidFill>
              </a:rPr>
              <a:t>Assignment method</a:t>
            </a:r>
            <a:endParaRPr lang="en-US" sz="1400" dirty="0"/>
          </a:p>
        </p:txBody>
      </p:sp>
      <p:sp>
        <p:nvSpPr>
          <p:cNvPr id="18" name="text"/>
          <p:cNvSpPr txBox="1"/>
          <p:nvPr/>
        </p:nvSpPr>
        <p:spPr>
          <a:xfrm>
            <a:off x="8325917" y="2240280"/>
            <a:ext cx="3088538" cy="1417320"/>
          </a:xfrm>
          <a:prstGeom prst="rect">
            <a:avLst/>
          </a:prstGeom>
          <a:noFill/>
          <a:ln/>
        </p:spPr>
        <p:txBody>
          <a:bodyPr wrap="square" lIns="0" tIns="0" rIns="0" bIns="0" rtlCol="0" anchor="t"/>
          <a:lstStyle/>
          <a:p>
            <a:pPr algn="l" indent="0" marL="0">
              <a:buNone/>
            </a:pPr>
            <a:r>
              <a:rPr lang="en-US" sz="1150" dirty="0">
                <a:solidFill>
                  <a:srgbClr val="00274A"/>
                </a:solidFill>
              </a:rPr>
              <a:t>Kasus khusus pemrograman linear: menugaskan satu pekerjaan ke satu sumber daya dengan total biaya atau waktu minimum melalui reduksi baris, reduksi kolom, uji garis minimum, lalu penugasan.</a:t>
            </a:r>
            <a:endParaRPr lang="en-US" sz="1150" dirty="0"/>
          </a:p>
        </p:txBody>
      </p:sp>
      <p:sp>
        <p:nvSpPr>
          <p:cNvPr id="19" name="card"/>
          <p:cNvSpPr/>
          <p:nvPr/>
        </p:nvSpPr>
        <p:spPr>
          <a:xfrm>
            <a:off x="548640" y="3886200"/>
            <a:ext cx="11094415" cy="2359152"/>
          </a:xfrm>
          <a:prstGeom prst="roundRect">
            <a:avLst>
              <a:gd name="adj" fmla="val 5426"/>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20" name="text"/>
          <p:cNvSpPr txBox="1"/>
          <p:nvPr/>
        </p:nvSpPr>
        <p:spPr>
          <a:xfrm>
            <a:off x="822960" y="4005072"/>
            <a:ext cx="10545775" cy="320040"/>
          </a:xfrm>
          <a:prstGeom prst="rect">
            <a:avLst/>
          </a:prstGeom>
          <a:noFill/>
          <a:ln/>
        </p:spPr>
        <p:txBody>
          <a:bodyPr wrap="square" lIns="0" tIns="0" rIns="0" bIns="0" rtlCol="0" anchor="t"/>
          <a:lstStyle/>
          <a:p>
            <a:pPr algn="l" indent="0" marL="0">
              <a:buNone/>
            </a:pPr>
            <a:r>
              <a:rPr lang="en-US" sz="1300" b="1" dirty="0">
                <a:solidFill>
                  <a:srgbClr val="00274A"/>
                </a:solidFill>
              </a:rPr>
              <a:t>Ilustrasi </a:t>
            </a:r>
            <a:r>
              <a:rPr lang="en-US" sz="1300" b="1" i="1" dirty="0">
                <a:solidFill>
                  <a:srgbClr val="00274A"/>
                </a:solidFill>
              </a:rPr>
              <a:t>Gantt load chart</a:t>
            </a:r>
            <a:r>
              <a:rPr lang="en-US" sz="1300" b="1" dirty="0">
                <a:solidFill>
                  <a:srgbClr val="00274A"/>
                </a:solidFill>
              </a:rPr>
              <a:t>: beban tiga </a:t>
            </a:r>
            <a:r>
              <a:rPr lang="en-US" sz="1300" b="1" i="1" dirty="0">
                <a:solidFill>
                  <a:srgbClr val="00274A"/>
                </a:solidFill>
              </a:rPr>
              <a:t>bay</a:t>
            </a:r>
            <a:r>
              <a:rPr lang="en-US" sz="1300" b="1" dirty="0">
                <a:solidFill>
                  <a:srgbClr val="00274A"/>
                </a:solidFill>
              </a:rPr>
              <a:t> hangar dalam satu minggu</a:t>
            </a:r>
            <a:endParaRPr lang="en-US" sz="1300" dirty="0"/>
          </a:p>
        </p:txBody>
      </p:sp>
      <p:sp>
        <p:nvSpPr>
          <p:cNvPr id="21" name="text"/>
          <p:cNvSpPr txBox="1"/>
          <p:nvPr/>
        </p:nvSpPr>
        <p:spPr>
          <a:xfrm>
            <a:off x="2011680" y="4389120"/>
            <a:ext cx="1529029" cy="256032"/>
          </a:xfrm>
          <a:prstGeom prst="rect">
            <a:avLst/>
          </a:prstGeom>
          <a:noFill/>
          <a:ln/>
        </p:spPr>
        <p:txBody>
          <a:bodyPr wrap="square" lIns="0" tIns="0" rIns="0" bIns="0" rtlCol="0" anchor="t"/>
          <a:lstStyle/>
          <a:p>
            <a:pPr algn="ctr" indent="0" marL="0">
              <a:buNone/>
            </a:pPr>
            <a:r>
              <a:rPr lang="en-US" sz="1050" b="1" dirty="0">
                <a:solidFill>
                  <a:srgbClr val="01426A"/>
                </a:solidFill>
              </a:rPr>
              <a:t>Senin</a:t>
            </a:r>
            <a:endParaRPr lang="en-US" sz="1050" dirty="0"/>
          </a:p>
        </p:txBody>
      </p:sp>
      <p:sp>
        <p:nvSpPr>
          <p:cNvPr id="22" name="line"/>
          <p:cNvSpPr/>
          <p:nvPr/>
        </p:nvSpPr>
        <p:spPr>
          <a:xfrm>
            <a:off x="2011680" y="4663440"/>
            <a:ext cx="0" cy="1261872"/>
          </a:xfrm>
          <a:prstGeom prst="line">
            <a:avLst/>
          </a:prstGeom>
          <a:noFill/>
          <a:ln w="9525">
            <a:solidFill>
              <a:srgbClr val="C9E0F7"/>
            </a:solidFill>
            <a:prstDash val="solid"/>
          </a:ln>
        </p:spPr>
      </p:sp>
      <p:sp>
        <p:nvSpPr>
          <p:cNvPr id="23" name="text"/>
          <p:cNvSpPr txBox="1"/>
          <p:nvPr/>
        </p:nvSpPr>
        <p:spPr>
          <a:xfrm>
            <a:off x="3540709" y="4389120"/>
            <a:ext cx="1529029" cy="256032"/>
          </a:xfrm>
          <a:prstGeom prst="rect">
            <a:avLst/>
          </a:prstGeom>
          <a:noFill/>
          <a:ln/>
        </p:spPr>
        <p:txBody>
          <a:bodyPr wrap="square" lIns="0" tIns="0" rIns="0" bIns="0" rtlCol="0" anchor="t"/>
          <a:lstStyle/>
          <a:p>
            <a:pPr algn="ctr" indent="0" marL="0">
              <a:buNone/>
            </a:pPr>
            <a:r>
              <a:rPr lang="en-US" sz="1050" b="1" dirty="0">
                <a:solidFill>
                  <a:srgbClr val="01426A"/>
                </a:solidFill>
              </a:rPr>
              <a:t>Selasa</a:t>
            </a:r>
            <a:endParaRPr lang="en-US" sz="1050" dirty="0"/>
          </a:p>
        </p:txBody>
      </p:sp>
      <p:sp>
        <p:nvSpPr>
          <p:cNvPr id="24" name="line"/>
          <p:cNvSpPr/>
          <p:nvPr/>
        </p:nvSpPr>
        <p:spPr>
          <a:xfrm>
            <a:off x="3540709" y="4663440"/>
            <a:ext cx="0" cy="1261872"/>
          </a:xfrm>
          <a:prstGeom prst="line">
            <a:avLst/>
          </a:prstGeom>
          <a:noFill/>
          <a:ln w="9525">
            <a:solidFill>
              <a:srgbClr val="C9E0F7"/>
            </a:solidFill>
            <a:prstDash val="solid"/>
          </a:ln>
        </p:spPr>
      </p:sp>
      <p:sp>
        <p:nvSpPr>
          <p:cNvPr id="25" name="text"/>
          <p:cNvSpPr txBox="1"/>
          <p:nvPr/>
        </p:nvSpPr>
        <p:spPr>
          <a:xfrm>
            <a:off x="5069738" y="4389120"/>
            <a:ext cx="1529029" cy="256032"/>
          </a:xfrm>
          <a:prstGeom prst="rect">
            <a:avLst/>
          </a:prstGeom>
          <a:noFill/>
          <a:ln/>
        </p:spPr>
        <p:txBody>
          <a:bodyPr wrap="square" lIns="0" tIns="0" rIns="0" bIns="0" rtlCol="0" anchor="t"/>
          <a:lstStyle/>
          <a:p>
            <a:pPr algn="ctr" indent="0" marL="0">
              <a:buNone/>
            </a:pPr>
            <a:r>
              <a:rPr lang="en-US" sz="1050" b="1" dirty="0">
                <a:solidFill>
                  <a:srgbClr val="01426A"/>
                </a:solidFill>
              </a:rPr>
              <a:t>Rabu</a:t>
            </a:r>
            <a:endParaRPr lang="en-US" sz="1050" dirty="0"/>
          </a:p>
        </p:txBody>
      </p:sp>
      <p:sp>
        <p:nvSpPr>
          <p:cNvPr id="26" name="line"/>
          <p:cNvSpPr/>
          <p:nvPr/>
        </p:nvSpPr>
        <p:spPr>
          <a:xfrm>
            <a:off x="5069738" y="4663440"/>
            <a:ext cx="0" cy="1261872"/>
          </a:xfrm>
          <a:prstGeom prst="line">
            <a:avLst/>
          </a:prstGeom>
          <a:noFill/>
          <a:ln w="9525">
            <a:solidFill>
              <a:srgbClr val="C9E0F7"/>
            </a:solidFill>
            <a:prstDash val="solid"/>
          </a:ln>
        </p:spPr>
      </p:sp>
      <p:sp>
        <p:nvSpPr>
          <p:cNvPr id="27" name="text"/>
          <p:cNvSpPr txBox="1"/>
          <p:nvPr/>
        </p:nvSpPr>
        <p:spPr>
          <a:xfrm>
            <a:off x="6598768" y="4389120"/>
            <a:ext cx="1529029" cy="256032"/>
          </a:xfrm>
          <a:prstGeom prst="rect">
            <a:avLst/>
          </a:prstGeom>
          <a:noFill/>
          <a:ln/>
        </p:spPr>
        <p:txBody>
          <a:bodyPr wrap="square" lIns="0" tIns="0" rIns="0" bIns="0" rtlCol="0" anchor="t"/>
          <a:lstStyle/>
          <a:p>
            <a:pPr algn="ctr" indent="0" marL="0">
              <a:buNone/>
            </a:pPr>
            <a:r>
              <a:rPr lang="en-US" sz="1050" b="1" dirty="0">
                <a:solidFill>
                  <a:srgbClr val="01426A"/>
                </a:solidFill>
              </a:rPr>
              <a:t>Kamis</a:t>
            </a:r>
            <a:endParaRPr lang="en-US" sz="1050" dirty="0"/>
          </a:p>
        </p:txBody>
      </p:sp>
      <p:sp>
        <p:nvSpPr>
          <p:cNvPr id="28" name="line"/>
          <p:cNvSpPr/>
          <p:nvPr/>
        </p:nvSpPr>
        <p:spPr>
          <a:xfrm>
            <a:off x="6598768" y="4663440"/>
            <a:ext cx="0" cy="1261872"/>
          </a:xfrm>
          <a:prstGeom prst="line">
            <a:avLst/>
          </a:prstGeom>
          <a:noFill/>
          <a:ln w="9525">
            <a:solidFill>
              <a:srgbClr val="C9E0F7"/>
            </a:solidFill>
            <a:prstDash val="solid"/>
          </a:ln>
        </p:spPr>
      </p:sp>
      <p:sp>
        <p:nvSpPr>
          <p:cNvPr id="29" name="text"/>
          <p:cNvSpPr txBox="1"/>
          <p:nvPr/>
        </p:nvSpPr>
        <p:spPr>
          <a:xfrm>
            <a:off x="8127797" y="4389120"/>
            <a:ext cx="1529029" cy="256032"/>
          </a:xfrm>
          <a:prstGeom prst="rect">
            <a:avLst/>
          </a:prstGeom>
          <a:noFill/>
          <a:ln/>
        </p:spPr>
        <p:txBody>
          <a:bodyPr wrap="square" lIns="0" tIns="0" rIns="0" bIns="0" rtlCol="0" anchor="t"/>
          <a:lstStyle/>
          <a:p>
            <a:pPr algn="ctr" indent="0" marL="0">
              <a:buNone/>
            </a:pPr>
            <a:r>
              <a:rPr lang="en-US" sz="1050" b="1" dirty="0">
                <a:solidFill>
                  <a:srgbClr val="01426A"/>
                </a:solidFill>
              </a:rPr>
              <a:t>Jumat</a:t>
            </a:r>
            <a:endParaRPr lang="en-US" sz="1050" dirty="0"/>
          </a:p>
        </p:txBody>
      </p:sp>
      <p:sp>
        <p:nvSpPr>
          <p:cNvPr id="30" name="line"/>
          <p:cNvSpPr/>
          <p:nvPr/>
        </p:nvSpPr>
        <p:spPr>
          <a:xfrm>
            <a:off x="8127797" y="4663440"/>
            <a:ext cx="0" cy="1261872"/>
          </a:xfrm>
          <a:prstGeom prst="line">
            <a:avLst/>
          </a:prstGeom>
          <a:noFill/>
          <a:ln w="9525">
            <a:solidFill>
              <a:srgbClr val="C9E0F7"/>
            </a:solidFill>
            <a:prstDash val="solid"/>
          </a:ln>
        </p:spPr>
      </p:sp>
      <p:sp>
        <p:nvSpPr>
          <p:cNvPr id="31" name="text"/>
          <p:cNvSpPr txBox="1"/>
          <p:nvPr/>
        </p:nvSpPr>
        <p:spPr>
          <a:xfrm>
            <a:off x="9656826" y="4389120"/>
            <a:ext cx="1529029" cy="256032"/>
          </a:xfrm>
          <a:prstGeom prst="rect">
            <a:avLst/>
          </a:prstGeom>
          <a:noFill/>
          <a:ln/>
        </p:spPr>
        <p:txBody>
          <a:bodyPr wrap="square" lIns="0" tIns="0" rIns="0" bIns="0" rtlCol="0" anchor="t"/>
          <a:lstStyle/>
          <a:p>
            <a:pPr algn="ctr" indent="0" marL="0">
              <a:buNone/>
            </a:pPr>
            <a:r>
              <a:rPr lang="en-US" sz="1050" b="1" dirty="0">
                <a:solidFill>
                  <a:srgbClr val="01426A"/>
                </a:solidFill>
              </a:rPr>
              <a:t>Sabtu</a:t>
            </a:r>
            <a:endParaRPr lang="en-US" sz="1050" dirty="0"/>
          </a:p>
        </p:txBody>
      </p:sp>
      <p:sp>
        <p:nvSpPr>
          <p:cNvPr id="32" name="line"/>
          <p:cNvSpPr/>
          <p:nvPr/>
        </p:nvSpPr>
        <p:spPr>
          <a:xfrm>
            <a:off x="9656826" y="4663440"/>
            <a:ext cx="0" cy="1261872"/>
          </a:xfrm>
          <a:prstGeom prst="line">
            <a:avLst/>
          </a:prstGeom>
          <a:noFill/>
          <a:ln w="9525">
            <a:solidFill>
              <a:srgbClr val="C9E0F7"/>
            </a:solidFill>
            <a:prstDash val="solid"/>
          </a:ln>
        </p:spPr>
      </p:sp>
      <p:sp>
        <p:nvSpPr>
          <p:cNvPr id="33" name="line"/>
          <p:cNvSpPr/>
          <p:nvPr/>
        </p:nvSpPr>
        <p:spPr>
          <a:xfrm>
            <a:off x="11185855" y="4663440"/>
            <a:ext cx="0" cy="1261872"/>
          </a:xfrm>
          <a:prstGeom prst="line">
            <a:avLst/>
          </a:prstGeom>
          <a:noFill/>
          <a:ln w="9525">
            <a:solidFill>
              <a:srgbClr val="C9E0F7"/>
            </a:solidFill>
            <a:prstDash val="solid"/>
          </a:ln>
        </p:spPr>
      </p:sp>
      <p:sp>
        <p:nvSpPr>
          <p:cNvPr id="34" name="text"/>
          <p:cNvSpPr txBox="1"/>
          <p:nvPr/>
        </p:nvSpPr>
        <p:spPr>
          <a:xfrm>
            <a:off x="822960" y="4663440"/>
            <a:ext cx="1097280" cy="420624"/>
          </a:xfrm>
          <a:prstGeom prst="rect">
            <a:avLst/>
          </a:prstGeom>
          <a:noFill/>
          <a:ln/>
        </p:spPr>
        <p:txBody>
          <a:bodyPr wrap="square" lIns="0" tIns="0" rIns="0" bIns="0" rtlCol="0" anchor="ctr"/>
          <a:lstStyle/>
          <a:p>
            <a:pPr algn="l" indent="0" marL="0">
              <a:buNone/>
            </a:pPr>
            <a:r>
              <a:rPr lang="en-US" sz="1150" b="1" dirty="0">
                <a:solidFill>
                  <a:srgbClr val="00274A"/>
                </a:solidFill>
              </a:rPr>
              <a:t>Bay 1</a:t>
            </a:r>
            <a:endParaRPr lang="en-US" sz="1150" dirty="0"/>
          </a:p>
        </p:txBody>
      </p:sp>
      <p:sp>
        <p:nvSpPr>
          <p:cNvPr id="35" name="text"/>
          <p:cNvSpPr txBox="1"/>
          <p:nvPr/>
        </p:nvSpPr>
        <p:spPr>
          <a:xfrm>
            <a:off x="822960" y="5084064"/>
            <a:ext cx="1097280" cy="420624"/>
          </a:xfrm>
          <a:prstGeom prst="rect">
            <a:avLst/>
          </a:prstGeom>
          <a:noFill/>
          <a:ln/>
        </p:spPr>
        <p:txBody>
          <a:bodyPr wrap="square" lIns="0" tIns="0" rIns="0" bIns="0" rtlCol="0" anchor="ctr"/>
          <a:lstStyle/>
          <a:p>
            <a:pPr algn="l" indent="0" marL="0">
              <a:buNone/>
            </a:pPr>
            <a:r>
              <a:rPr lang="en-US" sz="1150" b="1" dirty="0">
                <a:solidFill>
                  <a:srgbClr val="00274A"/>
                </a:solidFill>
              </a:rPr>
              <a:t>Bay 2</a:t>
            </a:r>
            <a:endParaRPr lang="en-US" sz="1150" dirty="0"/>
          </a:p>
        </p:txBody>
      </p:sp>
      <p:sp>
        <p:nvSpPr>
          <p:cNvPr id="36" name="text"/>
          <p:cNvSpPr txBox="1"/>
          <p:nvPr/>
        </p:nvSpPr>
        <p:spPr>
          <a:xfrm>
            <a:off x="822960" y="5504688"/>
            <a:ext cx="1097280" cy="420624"/>
          </a:xfrm>
          <a:prstGeom prst="rect">
            <a:avLst/>
          </a:prstGeom>
          <a:noFill/>
          <a:ln/>
        </p:spPr>
        <p:txBody>
          <a:bodyPr wrap="square" lIns="0" tIns="0" rIns="0" bIns="0" rtlCol="0" anchor="ctr"/>
          <a:lstStyle/>
          <a:p>
            <a:pPr algn="l" indent="0" marL="0">
              <a:buNone/>
            </a:pPr>
            <a:r>
              <a:rPr lang="en-US" sz="1150" b="1" dirty="0">
                <a:solidFill>
                  <a:srgbClr val="00274A"/>
                </a:solidFill>
              </a:rPr>
              <a:t>Bay 3</a:t>
            </a:r>
            <a:endParaRPr lang="en-US" sz="1150" dirty="0"/>
          </a:p>
        </p:txBody>
      </p:sp>
      <p:sp>
        <p:nvSpPr>
          <p:cNvPr id="37" name="gantt bar"/>
          <p:cNvSpPr/>
          <p:nvPr/>
        </p:nvSpPr>
        <p:spPr>
          <a:xfrm>
            <a:off x="2039112" y="4727448"/>
            <a:ext cx="4532224" cy="292608"/>
          </a:xfrm>
          <a:prstGeom prst="roundRect">
            <a:avLst>
              <a:gd name="adj" fmla="val 25000"/>
            </a:avLst>
          </a:prstGeom>
          <a:solidFill>
            <a:srgbClr val="0074C8"/>
          </a:solidFill>
          <a:ln w="3175">
            <a:solidFill>
              <a:srgbClr val="0074C8"/>
            </a:solidFill>
            <a:prstDash val="solid"/>
          </a:ln>
        </p:spPr>
      </p:sp>
      <p:sp>
        <p:nvSpPr>
          <p:cNvPr id="38" name="text"/>
          <p:cNvSpPr txBox="1"/>
          <p:nvPr/>
        </p:nvSpPr>
        <p:spPr>
          <a:xfrm>
            <a:off x="2103120" y="4727448"/>
            <a:ext cx="4404208" cy="292608"/>
          </a:xfrm>
          <a:prstGeom prst="rect">
            <a:avLst/>
          </a:prstGeom>
          <a:noFill/>
          <a:ln/>
        </p:spPr>
        <p:txBody>
          <a:bodyPr wrap="square" lIns="0" tIns="0" rIns="0" bIns="0" rtlCol="0" anchor="ctr"/>
          <a:lstStyle/>
          <a:p>
            <a:pPr algn="l" indent="0" marL="0">
              <a:buNone/>
            </a:pPr>
            <a:r>
              <a:rPr lang="en-US" sz="950" b="1" dirty="0">
                <a:solidFill>
                  <a:srgbClr val="FFFFFF"/>
                </a:solidFill>
              </a:rPr>
              <a:t>Pesawat 1 – C-check</a:t>
            </a:r>
            <a:endParaRPr lang="en-US" sz="950" dirty="0"/>
          </a:p>
        </p:txBody>
      </p:sp>
      <p:sp>
        <p:nvSpPr>
          <p:cNvPr id="39" name="gantt bar"/>
          <p:cNvSpPr/>
          <p:nvPr/>
        </p:nvSpPr>
        <p:spPr>
          <a:xfrm>
            <a:off x="7390714" y="4727448"/>
            <a:ext cx="2238680" cy="292608"/>
          </a:xfrm>
          <a:prstGeom prst="roundRect">
            <a:avLst>
              <a:gd name="adj" fmla="val 25000"/>
            </a:avLst>
          </a:prstGeom>
          <a:solidFill>
            <a:srgbClr val="51AE8C"/>
          </a:solidFill>
          <a:ln w="3175">
            <a:solidFill>
              <a:srgbClr val="51AE8C"/>
            </a:solidFill>
            <a:prstDash val="solid"/>
          </a:ln>
        </p:spPr>
      </p:sp>
      <p:sp>
        <p:nvSpPr>
          <p:cNvPr id="40" name="text"/>
          <p:cNvSpPr txBox="1"/>
          <p:nvPr/>
        </p:nvSpPr>
        <p:spPr>
          <a:xfrm>
            <a:off x="7454722" y="4727448"/>
            <a:ext cx="2110664" cy="292608"/>
          </a:xfrm>
          <a:prstGeom prst="rect">
            <a:avLst/>
          </a:prstGeom>
          <a:noFill/>
          <a:ln/>
        </p:spPr>
        <p:txBody>
          <a:bodyPr wrap="square" lIns="0" tIns="0" rIns="0" bIns="0" rtlCol="0" anchor="ctr"/>
          <a:lstStyle/>
          <a:p>
            <a:pPr algn="l" indent="0" marL="0">
              <a:buNone/>
            </a:pPr>
            <a:r>
              <a:rPr lang="en-US" sz="950" b="1" dirty="0">
                <a:solidFill>
                  <a:srgbClr val="FFFFFF"/>
                </a:solidFill>
              </a:rPr>
              <a:t>Pesawat 4</a:t>
            </a:r>
            <a:endParaRPr lang="en-US" sz="950" dirty="0"/>
          </a:p>
        </p:txBody>
      </p:sp>
      <p:sp>
        <p:nvSpPr>
          <p:cNvPr id="41" name="gantt bar"/>
          <p:cNvSpPr/>
          <p:nvPr/>
        </p:nvSpPr>
        <p:spPr>
          <a:xfrm>
            <a:off x="2039112" y="5148072"/>
            <a:ext cx="3003194" cy="292608"/>
          </a:xfrm>
          <a:prstGeom prst="roundRect">
            <a:avLst>
              <a:gd name="adj" fmla="val 25000"/>
            </a:avLst>
          </a:prstGeom>
          <a:solidFill>
            <a:srgbClr val="51AE8C"/>
          </a:solidFill>
          <a:ln w="3175">
            <a:solidFill>
              <a:srgbClr val="51AE8C"/>
            </a:solidFill>
            <a:prstDash val="solid"/>
          </a:ln>
        </p:spPr>
      </p:sp>
      <p:sp>
        <p:nvSpPr>
          <p:cNvPr id="42" name="text"/>
          <p:cNvSpPr txBox="1"/>
          <p:nvPr/>
        </p:nvSpPr>
        <p:spPr>
          <a:xfrm>
            <a:off x="2103120" y="5148072"/>
            <a:ext cx="2875178" cy="292608"/>
          </a:xfrm>
          <a:prstGeom prst="rect">
            <a:avLst/>
          </a:prstGeom>
          <a:noFill/>
          <a:ln/>
        </p:spPr>
        <p:txBody>
          <a:bodyPr wrap="square" lIns="0" tIns="0" rIns="0" bIns="0" rtlCol="0" anchor="ctr"/>
          <a:lstStyle/>
          <a:p>
            <a:pPr algn="l" indent="0" marL="0">
              <a:buNone/>
            </a:pPr>
            <a:r>
              <a:rPr lang="en-US" sz="950" b="1" dirty="0">
                <a:solidFill>
                  <a:srgbClr val="FFFFFF"/>
                </a:solidFill>
              </a:rPr>
              <a:t>Pesawat 2</a:t>
            </a:r>
            <a:endParaRPr lang="en-US" sz="950" dirty="0"/>
          </a:p>
        </p:txBody>
      </p:sp>
      <p:sp>
        <p:nvSpPr>
          <p:cNvPr id="43" name="gantt bar"/>
          <p:cNvSpPr/>
          <p:nvPr/>
        </p:nvSpPr>
        <p:spPr>
          <a:xfrm>
            <a:off x="5097170" y="5148072"/>
            <a:ext cx="6061253" cy="292608"/>
          </a:xfrm>
          <a:prstGeom prst="roundRect">
            <a:avLst>
              <a:gd name="adj" fmla="val 25000"/>
            </a:avLst>
          </a:prstGeom>
          <a:solidFill>
            <a:srgbClr val="0074C8"/>
          </a:solidFill>
          <a:ln w="3175">
            <a:solidFill>
              <a:srgbClr val="0074C8"/>
            </a:solidFill>
            <a:prstDash val="solid"/>
          </a:ln>
        </p:spPr>
      </p:sp>
      <p:sp>
        <p:nvSpPr>
          <p:cNvPr id="44" name="text"/>
          <p:cNvSpPr txBox="1"/>
          <p:nvPr/>
        </p:nvSpPr>
        <p:spPr>
          <a:xfrm>
            <a:off x="5161178" y="5148072"/>
            <a:ext cx="5933237" cy="292608"/>
          </a:xfrm>
          <a:prstGeom prst="rect">
            <a:avLst/>
          </a:prstGeom>
          <a:noFill/>
          <a:ln/>
        </p:spPr>
        <p:txBody>
          <a:bodyPr wrap="square" lIns="0" tIns="0" rIns="0" bIns="0" rtlCol="0" anchor="ctr"/>
          <a:lstStyle/>
          <a:p>
            <a:pPr algn="l" indent="0" marL="0">
              <a:buNone/>
            </a:pPr>
            <a:r>
              <a:rPr lang="en-US" sz="950" b="1" dirty="0">
                <a:solidFill>
                  <a:srgbClr val="FFFFFF"/>
                </a:solidFill>
              </a:rPr>
              <a:t>Pesawat 5 – mesin</a:t>
            </a:r>
            <a:endParaRPr lang="en-US" sz="950" dirty="0"/>
          </a:p>
        </p:txBody>
      </p:sp>
      <p:sp>
        <p:nvSpPr>
          <p:cNvPr id="45" name="gantt bar"/>
          <p:cNvSpPr/>
          <p:nvPr/>
        </p:nvSpPr>
        <p:spPr>
          <a:xfrm>
            <a:off x="3568141" y="5568696"/>
            <a:ext cx="4532224" cy="292608"/>
          </a:xfrm>
          <a:prstGeom prst="roundRect">
            <a:avLst>
              <a:gd name="adj" fmla="val 25000"/>
            </a:avLst>
          </a:prstGeom>
          <a:solidFill>
            <a:srgbClr val="0074C8"/>
          </a:solidFill>
          <a:ln w="3175">
            <a:solidFill>
              <a:srgbClr val="0074C8"/>
            </a:solidFill>
            <a:prstDash val="solid"/>
          </a:ln>
        </p:spPr>
      </p:sp>
      <p:sp>
        <p:nvSpPr>
          <p:cNvPr id="46" name="text"/>
          <p:cNvSpPr txBox="1"/>
          <p:nvPr/>
        </p:nvSpPr>
        <p:spPr>
          <a:xfrm>
            <a:off x="3632149" y="5568696"/>
            <a:ext cx="4404208" cy="292608"/>
          </a:xfrm>
          <a:prstGeom prst="rect">
            <a:avLst/>
          </a:prstGeom>
          <a:noFill/>
          <a:ln/>
        </p:spPr>
        <p:txBody>
          <a:bodyPr wrap="square" lIns="0" tIns="0" rIns="0" bIns="0" rtlCol="0" anchor="ctr"/>
          <a:lstStyle/>
          <a:p>
            <a:pPr algn="l" indent="0" marL="0">
              <a:buNone/>
            </a:pPr>
            <a:r>
              <a:rPr lang="en-US" sz="950" b="1" dirty="0">
                <a:solidFill>
                  <a:srgbClr val="FFFFFF"/>
                </a:solidFill>
              </a:rPr>
              <a:t>Pesawat 3</a:t>
            </a:r>
            <a:endParaRPr lang="en-US" sz="950" dirty="0"/>
          </a:p>
        </p:txBody>
      </p:sp>
      <p:sp>
        <p:nvSpPr>
          <p:cNvPr id="47" name="gantt bar"/>
          <p:cNvSpPr/>
          <p:nvPr/>
        </p:nvSpPr>
        <p:spPr>
          <a:xfrm>
            <a:off x="8919743" y="5568696"/>
            <a:ext cx="2238680" cy="292608"/>
          </a:xfrm>
          <a:prstGeom prst="roundRect">
            <a:avLst>
              <a:gd name="adj" fmla="val 25000"/>
            </a:avLst>
          </a:prstGeom>
          <a:solidFill>
            <a:srgbClr val="585E67"/>
          </a:solidFill>
          <a:ln w="3175">
            <a:solidFill>
              <a:srgbClr val="585E67"/>
            </a:solidFill>
            <a:prstDash val="solid"/>
          </a:ln>
        </p:spPr>
      </p:sp>
      <p:sp>
        <p:nvSpPr>
          <p:cNvPr id="48" name="text"/>
          <p:cNvSpPr txBox="1"/>
          <p:nvPr/>
        </p:nvSpPr>
        <p:spPr>
          <a:xfrm>
            <a:off x="8983751" y="5568696"/>
            <a:ext cx="2110664" cy="292608"/>
          </a:xfrm>
          <a:prstGeom prst="rect">
            <a:avLst/>
          </a:prstGeom>
          <a:noFill/>
          <a:ln/>
        </p:spPr>
        <p:txBody>
          <a:bodyPr wrap="square" lIns="0" tIns="0" rIns="0" bIns="0" rtlCol="0" anchor="ctr"/>
          <a:lstStyle/>
          <a:p>
            <a:pPr algn="l" indent="0" marL="0">
              <a:buNone/>
            </a:pPr>
            <a:r>
              <a:rPr lang="en-US" sz="950" b="1" dirty="0">
                <a:solidFill>
                  <a:srgbClr val="FFFFFF"/>
                </a:solidFill>
              </a:rPr>
              <a:t>Perawatan terjadwal bay</a:t>
            </a:r>
            <a:endParaRPr lang="en-US" sz="950" dirty="0"/>
          </a:p>
        </p:txBody>
      </p:sp>
      <p:sp>
        <p:nvSpPr>
          <p:cNvPr id="25" name="Slide Number Placeholder 0"/>
          <p:cNvSpPr>
            <a:spLocks noGrp="1"/>
          </p:cNvSpPr>
          <p:nvPr>
            <p:ph type="sldNum" sz="quarter" idx="4294967295"/>
          </p:nvPr>
        </p:nvSpPr>
        <p:spPr>
          <a:xfrm>
            <a:off x="11064240" y="6428232"/>
            <a:ext cx="576072"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01426A"/>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000" b="1" dirty="0">
                <a:solidFill>
                  <a:srgbClr val="00274A"/>
                </a:solidFill>
              </a:rPr>
              <a:t>Sequencing: Aturan Prioritas dan Perbandingan Kinerjanya</a:t>
            </a:r>
            <a:endParaRPr lang="en-US" sz="3000" dirty="0"/>
          </a:p>
        </p:txBody>
      </p:sp>
      <p:sp>
        <p:nvSpPr>
          <p:cNvPr id="4" name="card"/>
          <p:cNvSpPr/>
          <p:nvPr/>
        </p:nvSpPr>
        <p:spPr>
          <a:xfrm>
            <a:off x="548640" y="1325880"/>
            <a:ext cx="4480560" cy="2331720"/>
          </a:xfrm>
          <a:prstGeom prst="roundRect">
            <a:avLst>
              <a:gd name="adj" fmla="val 5490"/>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5" name="text"/>
          <p:cNvSpPr txBox="1"/>
          <p:nvPr/>
        </p:nvSpPr>
        <p:spPr>
          <a:xfrm>
            <a:off x="777240" y="1463040"/>
            <a:ext cx="4023360" cy="320040"/>
          </a:xfrm>
          <a:prstGeom prst="rect">
            <a:avLst/>
          </a:prstGeom>
          <a:noFill/>
          <a:ln/>
        </p:spPr>
        <p:txBody>
          <a:bodyPr wrap="square" lIns="0" tIns="0" rIns="0" bIns="0" rtlCol="0" anchor="t"/>
          <a:lstStyle/>
          <a:p>
            <a:pPr algn="l" indent="0" marL="0">
              <a:buNone/>
            </a:pPr>
            <a:r>
              <a:rPr lang="en-US" sz="1350" b="1" dirty="0">
                <a:solidFill>
                  <a:srgbClr val="00274A"/>
                </a:solidFill>
              </a:rPr>
              <a:t>Aturan prioritas (</a:t>
            </a:r>
            <a:r>
              <a:rPr lang="en-US" sz="1350" b="1" i="1" dirty="0">
                <a:solidFill>
                  <a:srgbClr val="00274A"/>
                </a:solidFill>
              </a:rPr>
              <a:t>dispatching rules</a:t>
            </a:r>
            <a:r>
              <a:rPr lang="en-US" sz="1350" b="1" dirty="0">
                <a:solidFill>
                  <a:srgbClr val="00274A"/>
                </a:solidFill>
              </a:rPr>
              <a:t>)</a:t>
            </a:r>
            <a:endParaRPr lang="en-US" sz="1350" dirty="0"/>
          </a:p>
        </p:txBody>
      </p:sp>
      <p:sp>
        <p:nvSpPr>
          <p:cNvPr id="6" name="bullets"/>
          <p:cNvSpPr txBox="1"/>
          <p:nvPr/>
        </p:nvSpPr>
        <p:spPr>
          <a:xfrm>
            <a:off x="777240" y="1828800"/>
            <a:ext cx="4023360" cy="1783080"/>
          </a:xfrm>
          <a:prstGeom prst="rect">
            <a:avLst/>
          </a:prstGeom>
          <a:noFill/>
          <a:ln/>
        </p:spPr>
        <p:txBody>
          <a:bodyPr wrap="square" lIns="0" tIns="0" rIns="0" bIns="0" rtlCol="0" anchor="t"/>
          <a:lstStyle/>
          <a:p>
            <a:pPr marL="342900" indent="-342900">
              <a:spcAft>
                <a:spcPts val="300"/>
              </a:spcAft>
              <a:buSzPct val="100000"/>
              <a:buChar char="•"/>
            </a:pPr>
            <a:r>
              <a:rPr lang="en-US" sz="1150" b="1" dirty="0">
                <a:solidFill>
                  <a:srgbClr val="00274A"/>
                </a:solidFill>
              </a:rPr>
              <a:t>FCFS</a:t>
            </a:r>
            <a:r>
              <a:rPr lang="en-US" sz="1150" dirty="0">
                <a:solidFill>
                  <a:srgbClr val="00274A"/>
                </a:solidFill>
              </a:rPr>
              <a:t> (</a:t>
            </a:r>
            <a:r>
              <a:rPr lang="en-US" sz="1150" i="1" dirty="0">
                <a:solidFill>
                  <a:srgbClr val="00274A"/>
                </a:solidFill>
              </a:rPr>
              <a:t>first come, first served</a:t>
            </a:r>
            <a:r>
              <a:rPr lang="en-US" sz="1150" dirty="0">
                <a:solidFill>
                  <a:srgbClr val="00274A"/>
                </a:solidFill>
              </a:rPr>
              <a:t>): urutan kedatangan; adil, tetapi tidak optimal.</a:t>
            </a:r>
            <a:endParaRPr lang="en-US" sz="1150" dirty="0"/>
          </a:p>
          <a:p>
            <a:pPr marL="342900" indent="-342900">
              <a:spcAft>
                <a:spcPts val="300"/>
              </a:spcAft>
              <a:buSzPct val="100000"/>
              <a:buChar char="•"/>
            </a:pPr>
            <a:r>
              <a:rPr lang="en-US" sz="1150" b="1" dirty="0">
                <a:solidFill>
                  <a:srgbClr val="00274A"/>
                </a:solidFill>
              </a:rPr>
              <a:t>SPT</a:t>
            </a:r>
            <a:r>
              <a:rPr lang="en-US" sz="1150" dirty="0">
                <a:solidFill>
                  <a:srgbClr val="00274A"/>
                </a:solidFill>
              </a:rPr>
              <a:t> (</a:t>
            </a:r>
            <a:r>
              <a:rPr lang="en-US" sz="1150" i="1" dirty="0">
                <a:solidFill>
                  <a:srgbClr val="00274A"/>
                </a:solidFill>
              </a:rPr>
              <a:t>shortest processing time</a:t>
            </a:r>
            <a:r>
              <a:rPr lang="en-US" sz="1150" dirty="0">
                <a:solidFill>
                  <a:srgbClr val="00274A"/>
                </a:solidFill>
              </a:rPr>
              <a:t>): pekerjaan terpendek lebih dahulu.</a:t>
            </a:r>
            <a:endParaRPr lang="en-US" sz="1150" dirty="0"/>
          </a:p>
          <a:p>
            <a:pPr marL="342900" indent="-342900">
              <a:spcAft>
                <a:spcPts val="300"/>
              </a:spcAft>
              <a:buSzPct val="100000"/>
              <a:buChar char="•"/>
            </a:pPr>
            <a:r>
              <a:rPr lang="en-US" sz="1150" b="1" dirty="0">
                <a:solidFill>
                  <a:srgbClr val="00274A"/>
                </a:solidFill>
              </a:rPr>
              <a:t>EDD</a:t>
            </a:r>
            <a:r>
              <a:rPr lang="en-US" sz="1150" dirty="0">
                <a:solidFill>
                  <a:srgbClr val="00274A"/>
                </a:solidFill>
              </a:rPr>
              <a:t> (</a:t>
            </a:r>
            <a:r>
              <a:rPr lang="en-US" sz="1150" i="1" dirty="0">
                <a:solidFill>
                  <a:srgbClr val="00274A"/>
                </a:solidFill>
              </a:rPr>
              <a:t>earliest due date</a:t>
            </a:r>
            <a:r>
              <a:rPr lang="en-US" sz="1150" dirty="0">
                <a:solidFill>
                  <a:srgbClr val="00274A"/>
                </a:solidFill>
              </a:rPr>
              <a:t>): tenggat terdekat lebih dahulu.</a:t>
            </a:r>
            <a:endParaRPr lang="en-US" sz="1150" dirty="0"/>
          </a:p>
          <a:p>
            <a:pPr marL="342900" indent="-342900">
              <a:spcAft>
                <a:spcPts val="300"/>
              </a:spcAft>
              <a:buSzPct val="100000"/>
              <a:buChar char="•"/>
            </a:pPr>
            <a:r>
              <a:rPr lang="en-US" sz="1150" b="1" dirty="0">
                <a:solidFill>
                  <a:srgbClr val="00274A"/>
                </a:solidFill>
              </a:rPr>
              <a:t>LPT</a:t>
            </a:r>
            <a:r>
              <a:rPr lang="en-US" sz="1150" dirty="0">
                <a:solidFill>
                  <a:srgbClr val="00274A"/>
                </a:solidFill>
              </a:rPr>
              <a:t> (</a:t>
            </a:r>
            <a:r>
              <a:rPr lang="en-US" sz="1150" i="1" dirty="0">
                <a:solidFill>
                  <a:srgbClr val="00274A"/>
                </a:solidFill>
              </a:rPr>
              <a:t>longest processing time</a:t>
            </a:r>
            <a:r>
              <a:rPr lang="en-US" sz="1150" dirty="0">
                <a:solidFill>
                  <a:srgbClr val="00274A"/>
                </a:solidFill>
              </a:rPr>
              <a:t>): pekerjaan terpanjang lebih dahulu.</a:t>
            </a:r>
            <a:endParaRPr lang="en-US" sz="1150" dirty="0"/>
          </a:p>
        </p:txBody>
      </p:sp>
      <p:sp>
        <p:nvSpPr>
          <p:cNvPr id="7" name="card"/>
          <p:cNvSpPr/>
          <p:nvPr/>
        </p:nvSpPr>
        <p:spPr>
          <a:xfrm>
            <a:off x="548640" y="3840480"/>
            <a:ext cx="4480560" cy="2395728"/>
          </a:xfrm>
          <a:prstGeom prst="roundRect">
            <a:avLst>
              <a:gd name="adj" fmla="val 5344"/>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graphicFrame>
        <p:nvGraphicFramePr>
          <p:cNvPr id="8" name="chart waktu penyelesaian" descr=""/>
          <p:cNvGraphicFramePr/>
          <p:nvPr/>
        </p:nvGraphicFramePr>
        <p:xfrm>
          <a:off x="685800" y="3913632"/>
          <a:ext cx="4206240" cy="2267712"/>
        </p:xfrm>
        <a:graphic xmlns:a="http://schemas.openxmlformats.org/drawingml/2006/main">
          <a:graphicData uri="http://schemas.openxmlformats.org/drawingml/2006/chart">
            <c:chart xmlns:c="http://schemas.openxmlformats.org/drawingml/2006/chart" r:id="rId1"/>
          </a:graphicData>
        </a:graphic>
      </p:graphicFrame>
      <p:sp>
        <p:nvSpPr>
          <p:cNvPr id="9" name="card"/>
          <p:cNvSpPr/>
          <p:nvPr/>
        </p:nvSpPr>
        <p:spPr>
          <a:xfrm>
            <a:off x="5257800" y="1325880"/>
            <a:ext cx="6385255" cy="4910328"/>
          </a:xfrm>
          <a:prstGeom prst="roundRect">
            <a:avLst>
              <a:gd name="adj" fmla="val 2607"/>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10" name="text"/>
          <p:cNvSpPr txBox="1"/>
          <p:nvPr/>
        </p:nvSpPr>
        <p:spPr>
          <a:xfrm>
            <a:off x="5486400" y="1444752"/>
            <a:ext cx="5928055" cy="548640"/>
          </a:xfrm>
          <a:prstGeom prst="rect">
            <a:avLst/>
          </a:prstGeom>
          <a:noFill/>
          <a:ln/>
        </p:spPr>
        <p:txBody>
          <a:bodyPr wrap="square" lIns="0" tIns="0" rIns="0" bIns="0" rtlCol="0" anchor="t"/>
          <a:lstStyle/>
          <a:p>
            <a:pPr algn="l" indent="0" marL="0">
              <a:buNone/>
            </a:pPr>
            <a:r>
              <a:rPr lang="en-US" sz="1150" dirty="0">
                <a:solidFill>
                  <a:srgbClr val="00274A"/>
                </a:solidFill>
              </a:rPr>
              <a:t>Data: lima paket pekerjaan hangar A–E dengan waktu proses 6, 2, 8, 3, 9 hari dan </a:t>
            </a:r>
            <a:r>
              <a:rPr lang="en-US" sz="1150" i="1" dirty="0">
                <a:solidFill>
                  <a:srgbClr val="00274A"/>
                </a:solidFill>
              </a:rPr>
              <a:t>due date</a:t>
            </a:r>
            <a:r>
              <a:rPr lang="en-US" sz="1150" dirty="0">
                <a:solidFill>
                  <a:srgbClr val="00274A"/>
                </a:solidFill>
              </a:rPr>
              <a:t> 8, 6, 18, 15, 23 hari (mengikuti HRM Contoh 15.4).</a:t>
            </a:r>
            <a:endParaRPr lang="en-US" sz="115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5486400" y="2011680"/>
          <a:ext cx="5928055" cy="914400"/>
        </p:xfrm>
        <a:graphic>
          <a:graphicData uri="http://schemas.openxmlformats.org/drawingml/2006/table">
            <a:tbl>
              <a:tblPr/>
              <a:tblGrid>
                <a:gridCol w="685800"/>
                <a:gridCol w="1097280"/>
                <a:gridCol w="1097280"/>
                <a:gridCol w="868680"/>
                <a:gridCol w="1051560"/>
                <a:gridCol w="1127455"/>
              </a:tblGrid>
              <a:tr h="347472">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Aturan</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00274A"/>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Urutan</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00274A"/>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Waktu penyelesaian rata-rata (hari)</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00274A"/>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Utilisasi (%)</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00274A"/>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Jumlah pekerjaan rata-rata</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00274A"/>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Keterlambatan rata-rata (hari)</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00274A"/>
                    </a:solidFill>
                  </a:tcPr>
                </a:tc>
              </a:tr>
              <a:tr h="347472">
                <a:tc>
                  <a:txBody>
                    <a:bodyPr/>
                    <a:lstStyle/>
                    <a:p>
                      <a:pPr algn="l" indent="0" marL="0">
                        <a:buNone/>
                      </a:pPr>
                      <a:r>
                        <a:rPr lang="en-US" sz="1050" b="1" dirty="0">
                          <a:solidFill>
                            <a:srgbClr val="00274A"/>
                          </a:solidFill>
                          <a:latin typeface="Calibri" pitchFamily="34" charset="0"/>
                          <a:ea typeface="Calibri" pitchFamily="34" charset="-122"/>
                          <a:cs typeface="Calibri" pitchFamily="34" charset="-120"/>
                        </a:rPr>
                        <a:t>FCFS</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274A"/>
                          </a:solidFill>
                          <a:latin typeface="Calibri" pitchFamily="34" charset="0"/>
                          <a:ea typeface="Calibri" pitchFamily="34" charset="-122"/>
                          <a:cs typeface="Calibri" pitchFamily="34" charset="-120"/>
                        </a:rPr>
                        <a:t>A–B–C–D–E</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274A"/>
                          </a:solidFill>
                          <a:latin typeface="Calibri" pitchFamily="34" charset="0"/>
                          <a:ea typeface="Calibri" pitchFamily="34" charset="-122"/>
                          <a:cs typeface="Calibri" pitchFamily="34" charset="-120"/>
                        </a:rPr>
                        <a:t>15,4</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274A"/>
                          </a:solidFill>
                          <a:latin typeface="Calibri" pitchFamily="34" charset="0"/>
                          <a:ea typeface="Calibri" pitchFamily="34" charset="-122"/>
                          <a:cs typeface="Calibri" pitchFamily="34" charset="-120"/>
                        </a:rPr>
                        <a:t>36,4</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274A"/>
                          </a:solidFill>
                          <a:latin typeface="Calibri" pitchFamily="34" charset="0"/>
                          <a:ea typeface="Calibri" pitchFamily="34" charset="-122"/>
                          <a:cs typeface="Calibri" pitchFamily="34" charset="-120"/>
                        </a:rPr>
                        <a:t>2,75</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274A"/>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r>
              <a:tr h="347472">
                <a:tc>
                  <a:txBody>
                    <a:bodyPr/>
                    <a:lstStyle/>
                    <a:p>
                      <a:pPr algn="l" indent="0" marL="0">
                        <a:buNone/>
                      </a:pPr>
                      <a:r>
                        <a:rPr lang="en-US" sz="1050" b="1" dirty="0">
                          <a:solidFill>
                            <a:srgbClr val="00274A"/>
                          </a:solidFill>
                          <a:latin typeface="Calibri" pitchFamily="34" charset="0"/>
                          <a:ea typeface="Calibri" pitchFamily="34" charset="-122"/>
                          <a:cs typeface="Calibri" pitchFamily="34" charset="-120"/>
                        </a:rPr>
                        <a:t>SPT</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c>
                  <a:txBody>
                    <a:bodyPr/>
                    <a:lstStyle/>
                    <a:p>
                      <a:pPr algn="ctr" indent="0" marL="0">
                        <a:buNone/>
                      </a:pPr>
                      <a:r>
                        <a:rPr lang="en-US" sz="1050" dirty="0">
                          <a:solidFill>
                            <a:srgbClr val="00274A"/>
                          </a:solidFill>
                          <a:latin typeface="Calibri" pitchFamily="34" charset="0"/>
                          <a:ea typeface="Calibri" pitchFamily="34" charset="-122"/>
                          <a:cs typeface="Calibri" pitchFamily="34" charset="-120"/>
                        </a:rPr>
                        <a:t>B–D–A–C–E</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c>
                  <a:txBody>
                    <a:bodyPr/>
                    <a:lstStyle/>
                    <a:p>
                      <a:pPr algn="ctr" indent="0" marL="0">
                        <a:buNone/>
                      </a:pPr>
                      <a:r>
                        <a:rPr lang="en-US" sz="1050" b="1" dirty="0">
                          <a:solidFill>
                            <a:srgbClr val="00274A"/>
                          </a:solidFill>
                          <a:latin typeface="Calibri" pitchFamily="34" charset="0"/>
                          <a:ea typeface="Calibri" pitchFamily="34" charset="-122"/>
                          <a:cs typeface="Calibri" pitchFamily="34" charset="-120"/>
                        </a:rPr>
                        <a:t>13,0</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CDE6FF"/>
                    </a:solidFill>
                  </a:tcPr>
                </a:tc>
                <a:tc>
                  <a:txBody>
                    <a:bodyPr/>
                    <a:lstStyle/>
                    <a:p>
                      <a:pPr algn="ctr" indent="0" marL="0">
                        <a:buNone/>
                      </a:pPr>
                      <a:r>
                        <a:rPr lang="en-US" sz="1050" b="1" dirty="0">
                          <a:solidFill>
                            <a:srgbClr val="00274A"/>
                          </a:solidFill>
                          <a:latin typeface="Calibri" pitchFamily="34" charset="0"/>
                          <a:ea typeface="Calibri" pitchFamily="34" charset="-122"/>
                          <a:cs typeface="Calibri" pitchFamily="34" charset="-120"/>
                        </a:rPr>
                        <a:t>43,1</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CDE6FF"/>
                    </a:solidFill>
                  </a:tcPr>
                </a:tc>
                <a:tc>
                  <a:txBody>
                    <a:bodyPr/>
                    <a:lstStyle/>
                    <a:p>
                      <a:pPr algn="ctr" indent="0" marL="0">
                        <a:buNone/>
                      </a:pPr>
                      <a:r>
                        <a:rPr lang="en-US" sz="1050" b="1" dirty="0">
                          <a:solidFill>
                            <a:srgbClr val="00274A"/>
                          </a:solidFill>
                          <a:latin typeface="Calibri" pitchFamily="34" charset="0"/>
                          <a:ea typeface="Calibri" pitchFamily="34" charset="-122"/>
                          <a:cs typeface="Calibri" pitchFamily="34" charset="-120"/>
                        </a:rPr>
                        <a:t>2,32</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CDE6FF"/>
                    </a:solidFill>
                  </a:tcPr>
                </a:tc>
                <a:tc>
                  <a:txBody>
                    <a:bodyPr/>
                    <a:lstStyle/>
                    <a:p>
                      <a:pPr algn="ctr" indent="0" marL="0">
                        <a:buNone/>
                      </a:pPr>
                      <a:r>
                        <a:rPr lang="en-US" sz="1050" dirty="0">
                          <a:solidFill>
                            <a:srgbClr val="00274A"/>
                          </a:solidFill>
                          <a:latin typeface="Calibri" pitchFamily="34" charset="0"/>
                          <a:ea typeface="Calibri" pitchFamily="34" charset="-122"/>
                          <a:cs typeface="Calibri" pitchFamily="34" charset="-120"/>
                        </a:rPr>
                        <a:t>1,8</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r>
              <a:tr h="347472">
                <a:tc>
                  <a:txBody>
                    <a:bodyPr/>
                    <a:lstStyle/>
                    <a:p>
                      <a:pPr algn="l" indent="0" marL="0">
                        <a:buNone/>
                      </a:pPr>
                      <a:r>
                        <a:rPr lang="en-US" sz="1050" b="1" dirty="0">
                          <a:solidFill>
                            <a:srgbClr val="00274A"/>
                          </a:solidFill>
                          <a:latin typeface="Calibri" pitchFamily="34" charset="0"/>
                          <a:ea typeface="Calibri" pitchFamily="34" charset="-122"/>
                          <a:cs typeface="Calibri" pitchFamily="34" charset="-120"/>
                        </a:rPr>
                        <a:t>EDD</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274A"/>
                          </a:solidFill>
                          <a:latin typeface="Calibri" pitchFamily="34" charset="0"/>
                          <a:ea typeface="Calibri" pitchFamily="34" charset="-122"/>
                          <a:cs typeface="Calibri" pitchFamily="34" charset="-120"/>
                        </a:rPr>
                        <a:t>B–A–D–C–E</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274A"/>
                          </a:solidFill>
                          <a:latin typeface="Calibri" pitchFamily="34" charset="0"/>
                          <a:ea typeface="Calibri" pitchFamily="34" charset="-122"/>
                          <a:cs typeface="Calibri" pitchFamily="34" charset="-120"/>
                        </a:rPr>
                        <a:t>13,6</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274A"/>
                          </a:solidFill>
                          <a:latin typeface="Calibri" pitchFamily="34" charset="0"/>
                          <a:ea typeface="Calibri" pitchFamily="34" charset="-122"/>
                          <a:cs typeface="Calibri" pitchFamily="34" charset="-120"/>
                        </a:rPr>
                        <a:t>41,2</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274A"/>
                          </a:solidFill>
                          <a:latin typeface="Calibri" pitchFamily="34" charset="0"/>
                          <a:ea typeface="Calibri" pitchFamily="34" charset="-122"/>
                          <a:cs typeface="Calibri" pitchFamily="34" charset="-120"/>
                        </a:rPr>
                        <a:t>2,43</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0274A"/>
                          </a:solidFill>
                          <a:latin typeface="Calibri" pitchFamily="34" charset="0"/>
                          <a:ea typeface="Calibri" pitchFamily="34" charset="-122"/>
                          <a:cs typeface="Calibri" pitchFamily="34" charset="-120"/>
                        </a:rPr>
                        <a:t>1,2</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CDE6FF"/>
                    </a:solidFill>
                  </a:tcPr>
                </a:tc>
              </a:tr>
              <a:tr h="347472">
                <a:tc>
                  <a:txBody>
                    <a:bodyPr/>
                    <a:lstStyle/>
                    <a:p>
                      <a:pPr algn="l" indent="0" marL="0">
                        <a:buNone/>
                      </a:pPr>
                      <a:r>
                        <a:rPr lang="en-US" sz="1050" b="1" dirty="0">
                          <a:solidFill>
                            <a:srgbClr val="00274A"/>
                          </a:solidFill>
                          <a:latin typeface="Calibri" pitchFamily="34" charset="0"/>
                          <a:ea typeface="Calibri" pitchFamily="34" charset="-122"/>
                          <a:cs typeface="Calibri" pitchFamily="34" charset="-120"/>
                        </a:rPr>
                        <a:t>LPT</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c>
                  <a:txBody>
                    <a:bodyPr/>
                    <a:lstStyle/>
                    <a:p>
                      <a:pPr algn="ctr" indent="0" marL="0">
                        <a:buNone/>
                      </a:pPr>
                      <a:r>
                        <a:rPr lang="en-US" sz="1050" dirty="0">
                          <a:solidFill>
                            <a:srgbClr val="00274A"/>
                          </a:solidFill>
                          <a:latin typeface="Calibri" pitchFamily="34" charset="0"/>
                          <a:ea typeface="Calibri" pitchFamily="34" charset="-122"/>
                          <a:cs typeface="Calibri" pitchFamily="34" charset="-120"/>
                        </a:rPr>
                        <a:t>E–C–A–D–B</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c>
                  <a:txBody>
                    <a:bodyPr/>
                    <a:lstStyle/>
                    <a:p>
                      <a:pPr algn="ctr" indent="0" marL="0">
                        <a:buNone/>
                      </a:pPr>
                      <a:r>
                        <a:rPr lang="en-US" sz="1050" dirty="0">
                          <a:solidFill>
                            <a:srgbClr val="00274A"/>
                          </a:solidFill>
                          <a:latin typeface="Calibri" pitchFamily="34" charset="0"/>
                          <a:ea typeface="Calibri" pitchFamily="34" charset="-122"/>
                          <a:cs typeface="Calibri" pitchFamily="34" charset="-120"/>
                        </a:rPr>
                        <a:t>20,6</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c>
                  <a:txBody>
                    <a:bodyPr/>
                    <a:lstStyle/>
                    <a:p>
                      <a:pPr algn="ctr" indent="0" marL="0">
                        <a:buNone/>
                      </a:pPr>
                      <a:r>
                        <a:rPr lang="en-US" sz="1050" dirty="0">
                          <a:solidFill>
                            <a:srgbClr val="00274A"/>
                          </a:solidFill>
                          <a:latin typeface="Calibri" pitchFamily="34" charset="0"/>
                          <a:ea typeface="Calibri" pitchFamily="34" charset="-122"/>
                          <a:cs typeface="Calibri" pitchFamily="34" charset="-120"/>
                        </a:rPr>
                        <a:t>27,2</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c>
                  <a:txBody>
                    <a:bodyPr/>
                    <a:lstStyle/>
                    <a:p>
                      <a:pPr algn="ctr" indent="0" marL="0">
                        <a:buNone/>
                      </a:pPr>
                      <a:r>
                        <a:rPr lang="en-US" sz="1050" dirty="0">
                          <a:solidFill>
                            <a:srgbClr val="00274A"/>
                          </a:solidFill>
                          <a:latin typeface="Calibri" pitchFamily="34" charset="0"/>
                          <a:ea typeface="Calibri" pitchFamily="34" charset="-122"/>
                          <a:cs typeface="Calibri" pitchFamily="34" charset="-120"/>
                        </a:rPr>
                        <a:t>3,68</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c>
                  <a:txBody>
                    <a:bodyPr/>
                    <a:lstStyle/>
                    <a:p>
                      <a:pPr algn="ctr" indent="0" marL="0">
                        <a:buNone/>
                      </a:pPr>
                      <a:r>
                        <a:rPr lang="en-US" sz="1050" dirty="0">
                          <a:solidFill>
                            <a:srgbClr val="00274A"/>
                          </a:solidFill>
                          <a:latin typeface="Calibri" pitchFamily="34" charset="0"/>
                          <a:ea typeface="Calibri" pitchFamily="34" charset="-122"/>
                          <a:cs typeface="Calibri" pitchFamily="34" charset="-120"/>
                        </a:rPr>
                        <a:t>9,6</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r>
            </a:tbl>
          </a:graphicData>
        </a:graphic>
      </p:graphicFrame>
      <p:sp>
        <p:nvSpPr>
          <p:cNvPr id="12" name="text"/>
          <p:cNvSpPr txBox="1"/>
          <p:nvPr/>
        </p:nvSpPr>
        <p:spPr>
          <a:xfrm>
            <a:off x="5486400" y="4370832"/>
            <a:ext cx="5928055" cy="274320"/>
          </a:xfrm>
          <a:prstGeom prst="rect">
            <a:avLst/>
          </a:prstGeom>
          <a:noFill/>
          <a:ln/>
        </p:spPr>
        <p:txBody>
          <a:bodyPr wrap="square" lIns="0" tIns="0" rIns="0" bIns="0" rtlCol="0" anchor="t"/>
          <a:lstStyle/>
          <a:p>
            <a:pPr algn="l" indent="0" marL="0">
              <a:buNone/>
            </a:pPr>
            <a:r>
              <a:rPr lang="en-US" sz="1000" i="1" dirty="0">
                <a:solidFill>
                  <a:srgbClr val="585E67"/>
                </a:solidFill>
              </a:rPr>
              <a:t>Utilisasi = Σ waktu proses ÷ Σ waktu alir;  jumlah pekerjaan rata-rata = Σ waktu alir ÷ Σ waktu proses.</a:t>
            </a:r>
            <a:endParaRPr lang="en-US" sz="1000" dirty="0"/>
          </a:p>
        </p:txBody>
      </p:sp>
      <p:sp>
        <p:nvSpPr>
          <p:cNvPr id="13" name="card"/>
          <p:cNvSpPr/>
          <p:nvPr/>
        </p:nvSpPr>
        <p:spPr>
          <a:xfrm>
            <a:off x="5486400" y="4754880"/>
            <a:ext cx="5928055" cy="1325880"/>
          </a:xfrm>
          <a:prstGeom prst="roundRect">
            <a:avLst>
              <a:gd name="adj" fmla="val 9655"/>
            </a:avLst>
          </a:prstGeom>
          <a:solidFill>
            <a:srgbClr val="F0F7FD"/>
          </a:solidFill>
          <a:ln w="3175">
            <a:solidFill>
              <a:srgbClr val="F0F7FD"/>
            </a:solidFill>
            <a:prstDash val="solid"/>
          </a:ln>
        </p:spPr>
      </p:sp>
      <p:sp>
        <p:nvSpPr>
          <p:cNvPr id="14" name="text"/>
          <p:cNvSpPr txBox="1"/>
          <p:nvPr/>
        </p:nvSpPr>
        <p:spPr>
          <a:xfrm>
            <a:off x="5623560" y="4754880"/>
            <a:ext cx="5653735" cy="1325880"/>
          </a:xfrm>
          <a:prstGeom prst="rect">
            <a:avLst/>
          </a:prstGeom>
          <a:noFill/>
          <a:ln/>
        </p:spPr>
        <p:txBody>
          <a:bodyPr wrap="square" lIns="0" tIns="0" rIns="0" bIns="0" rtlCol="0" anchor="ctr"/>
          <a:lstStyle/>
          <a:p>
            <a:pPr algn="l" indent="0" marL="0">
              <a:buNone/>
            </a:pPr>
            <a:r>
              <a:rPr lang="en-US" sz="1150" b="1" dirty="0">
                <a:solidFill>
                  <a:srgbClr val="00274A"/>
                </a:solidFill>
              </a:rPr>
              <a:t>Pembacaan:</a:t>
            </a:r>
            <a:r>
              <a:rPr lang="en-US" sz="1150" dirty="0">
                <a:solidFill>
                  <a:srgbClr val="00274A"/>
                </a:solidFill>
              </a:rPr>
              <a:t> SPT unggul pada tiga kriteria, EDD meminimumkan keterlambatan, LPT terburuk pada semuanya. Tidak ada aturan yang unggul di semua kriteria; SPT juga menunda pekerjaan panjang terus-menerus. Inilah dasar aturan hibrida pada kasus.</a:t>
            </a:r>
            <a:endParaRPr lang="en-US" sz="1150" dirty="0"/>
          </a:p>
        </p:txBody>
      </p:sp>
      <p:sp>
        <p:nvSpPr>
          <p:cNvPr id="25" name="Slide Number Placeholder 0"/>
          <p:cNvSpPr>
            <a:spLocks noGrp="1"/>
          </p:cNvSpPr>
          <p:nvPr>
            <p:ph type="sldNum" sz="quarter" idx="4294967295"/>
          </p:nvPr>
        </p:nvSpPr>
        <p:spPr>
          <a:xfrm>
            <a:off x="11064240" y="6428232"/>
            <a:ext cx="576072"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01426A"/>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000" b="1" dirty="0">
                <a:solidFill>
                  <a:srgbClr val="00274A"/>
                </a:solidFill>
              </a:rPr>
              <a:t>Critical Ratio dan Johnson's Rule untuk Dua Pusat Kerja Berurutan</a:t>
            </a:r>
            <a:endParaRPr lang="en-US" sz="3000" dirty="0"/>
          </a:p>
        </p:txBody>
      </p:sp>
      <p:sp>
        <p:nvSpPr>
          <p:cNvPr id="4" name="card"/>
          <p:cNvSpPr/>
          <p:nvPr/>
        </p:nvSpPr>
        <p:spPr>
          <a:xfrm>
            <a:off x="548640" y="1325880"/>
            <a:ext cx="4206240" cy="4910328"/>
          </a:xfrm>
          <a:prstGeom prst="roundRect">
            <a:avLst>
              <a:gd name="adj" fmla="val 3043"/>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5" name="icon circle"/>
          <p:cNvSpPr/>
          <p:nvPr/>
        </p:nvSpPr>
        <p:spPr>
          <a:xfrm>
            <a:off x="777240" y="1508760"/>
            <a:ext cx="548640" cy="548640"/>
          </a:xfrm>
          <a:prstGeom prst="ellipse">
            <a:avLst/>
          </a:prstGeom>
          <a:solidFill>
            <a:srgbClr val="00CFF0"/>
          </a:solidFill>
          <a:ln w="3175">
            <a:solidFill>
              <a:srgbClr val="00CFF0"/>
            </a:solidFill>
            <a:prstDash val="solid"/>
          </a:ln>
        </p:spPr>
      </p:sp>
      <p:pic>
        <p:nvPicPr>
          <p:cNvPr id="6" name="icon FaStopwatch" descr="preencoded.png">    </p:cNvPr>
          <p:cNvPicPr>
            <a:picLocks noChangeAspect="1"/>
          </p:cNvPicPr>
          <p:nvPr/>
        </p:nvPicPr>
        <p:blipFill>
          <a:blip r:embed="rId1"/>
          <a:stretch>
            <a:fillRect/>
          </a:stretch>
        </p:blipFill>
        <p:spPr>
          <a:xfrm>
            <a:off x="914400" y="1645920"/>
            <a:ext cx="274320" cy="274320"/>
          </a:xfrm>
          <a:prstGeom prst="rect">
            <a:avLst/>
          </a:prstGeom>
        </p:spPr>
      </p:pic>
      <p:sp>
        <p:nvSpPr>
          <p:cNvPr id="7" name="text"/>
          <p:cNvSpPr txBox="1"/>
          <p:nvPr/>
        </p:nvSpPr>
        <p:spPr>
          <a:xfrm>
            <a:off x="1463040" y="1508760"/>
            <a:ext cx="3108960" cy="548640"/>
          </a:xfrm>
          <a:prstGeom prst="rect">
            <a:avLst/>
          </a:prstGeom>
          <a:noFill/>
          <a:ln/>
        </p:spPr>
        <p:txBody>
          <a:bodyPr wrap="square" lIns="0" tIns="0" rIns="0" bIns="0" rtlCol="0" anchor="ctr"/>
          <a:lstStyle/>
          <a:p>
            <a:pPr algn="l" indent="0" marL="0">
              <a:buNone/>
            </a:pPr>
            <a:r>
              <a:rPr lang="en-US" sz="1500" b="1" dirty="0">
                <a:solidFill>
                  <a:srgbClr val="00274A"/>
                </a:solidFill>
              </a:rPr>
              <a:t>Critical ratio (CR)</a:t>
            </a:r>
            <a:endParaRPr lang="en-US" sz="1500" dirty="0"/>
          </a:p>
        </p:txBody>
      </p:sp>
      <p:sp>
        <p:nvSpPr>
          <p:cNvPr id="8" name="card"/>
          <p:cNvSpPr/>
          <p:nvPr/>
        </p:nvSpPr>
        <p:spPr>
          <a:xfrm>
            <a:off x="777240" y="2240280"/>
            <a:ext cx="3749040" cy="685800"/>
          </a:xfrm>
          <a:prstGeom prst="roundRect">
            <a:avLst>
              <a:gd name="adj" fmla="val 18667"/>
            </a:avLst>
          </a:prstGeom>
          <a:solidFill>
            <a:srgbClr val="00274A"/>
          </a:solidFill>
          <a:ln w="3175">
            <a:solidFill>
              <a:srgbClr val="00274A"/>
            </a:solidFill>
            <a:prstDash val="solid"/>
          </a:ln>
        </p:spPr>
      </p:sp>
      <p:sp>
        <p:nvSpPr>
          <p:cNvPr id="9" name="text"/>
          <p:cNvSpPr txBox="1"/>
          <p:nvPr/>
        </p:nvSpPr>
        <p:spPr>
          <a:xfrm>
            <a:off x="914400" y="2240280"/>
            <a:ext cx="3474720" cy="685800"/>
          </a:xfrm>
          <a:prstGeom prst="rect">
            <a:avLst/>
          </a:prstGeom>
          <a:noFill/>
          <a:ln/>
        </p:spPr>
        <p:txBody>
          <a:bodyPr wrap="square" lIns="0" tIns="0" rIns="0" bIns="0" rtlCol="0" anchor="ctr"/>
          <a:lstStyle/>
          <a:p>
            <a:pPr algn="ctr" indent="0" marL="0">
              <a:buNone/>
            </a:pPr>
            <a:r>
              <a:rPr lang="en-US" sz="1200" dirty="0">
                <a:solidFill>
                  <a:srgbClr val="FFFFFF"/>
                </a:solidFill>
              </a:rPr>
              <a:t>CR = (waktu tersisa hingga </a:t>
            </a:r>
            <a:r>
              <a:rPr lang="en-US" sz="1200" i="1" dirty="0">
                <a:solidFill>
                  <a:srgbClr val="FFFFFF"/>
                </a:solidFill>
              </a:rPr>
              <a:t>due date</a:t>
            </a:r>
            <a:r>
              <a:rPr lang="en-US" sz="1200" dirty="0">
                <a:solidFill>
                  <a:srgbClr val="FFFFFF"/>
                </a:solidFill>
              </a:rPr>
              <a:t>) ÷ (hari kerja yang tersisa)</a:t>
            </a:r>
            <a:endParaRPr lang="en-US" sz="1200" dirty="0"/>
          </a:p>
        </p:txBody>
      </p:sp>
      <p:sp>
        <p:nvSpPr>
          <p:cNvPr id="10" name="text"/>
          <p:cNvSpPr txBox="1"/>
          <p:nvPr/>
        </p:nvSpPr>
        <p:spPr>
          <a:xfrm>
            <a:off x="777240" y="3017520"/>
            <a:ext cx="3749040" cy="1234440"/>
          </a:xfrm>
          <a:prstGeom prst="rect">
            <a:avLst/>
          </a:prstGeom>
          <a:noFill/>
          <a:ln/>
        </p:spPr>
        <p:txBody>
          <a:bodyPr wrap="square" lIns="0" tIns="0" rIns="0" bIns="0" rtlCol="0" anchor="t"/>
          <a:lstStyle/>
          <a:p>
            <a:pPr algn="l" indent="0" marL="0">
              <a:buNone/>
            </a:pPr>
            <a:r>
              <a:rPr lang="en-US" sz="1150" dirty="0">
                <a:solidFill>
                  <a:srgbClr val="00274A"/>
                </a:solidFill>
              </a:rPr>
              <a:t>CR &lt; 1 berarti terlambat terhadap jadwal, CR = 1 tepat jadwal, CR &gt; 1 masih longgar. Pekerjaan dengan CR terkecil dikerjakan lebih dahulu; nilainya diperbarui setiap hari, sehingga cocok untuk antrean </a:t>
            </a:r>
            <a:r>
              <a:rPr lang="en-US" sz="1150" i="1" dirty="0">
                <a:solidFill>
                  <a:srgbClr val="00274A"/>
                </a:solidFill>
              </a:rPr>
              <a:t>aircraft-on-ground</a:t>
            </a:r>
            <a:r>
              <a:rPr lang="en-US" sz="1150" dirty="0">
                <a:solidFill>
                  <a:srgbClr val="00274A"/>
                </a:solidFill>
              </a:rPr>
              <a:t> (AOG).</a:t>
            </a:r>
            <a:endParaRPr lang="en-US" sz="115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777240" y="4343400"/>
          <a:ext cx="3749040" cy="914400"/>
        </p:xfrm>
        <a:graphic>
          <a:graphicData uri="http://schemas.openxmlformats.org/drawingml/2006/table">
            <a:tbl>
              <a:tblPr/>
              <a:tblGrid>
                <a:gridCol w="914400"/>
                <a:gridCol w="731520"/>
                <a:gridCol w="822960"/>
                <a:gridCol w="640080"/>
                <a:gridCol w="640080"/>
              </a:tblGrid>
              <a:tr h="329184">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Pekerjaan</a:t>
                      </a:r>
                      <a:endParaRPr lang="en-US" sz="11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00274A"/>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Due date</a:t>
                      </a:r>
                      <a:endParaRPr lang="en-US" sz="11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00274A"/>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Sisa kerja</a:t>
                      </a:r>
                      <a:endParaRPr lang="en-US" sz="11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00274A"/>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CR</a:t>
                      </a:r>
                      <a:endParaRPr lang="en-US" sz="11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00274A"/>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Prioritas</a:t>
                      </a:r>
                      <a:endParaRPr lang="en-US" sz="11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00274A"/>
                    </a:solidFill>
                  </a:tcPr>
                </a:tc>
              </a:tr>
              <a:tr h="329184">
                <a:tc>
                  <a:txBody>
                    <a:bodyPr/>
                    <a:lstStyle/>
                    <a:p>
                      <a:pPr algn="l" indent="0" marL="0">
                        <a:buNone/>
                      </a:pPr>
                      <a:r>
                        <a:rPr lang="en-US" sz="1150" dirty="0">
                          <a:solidFill>
                            <a:srgbClr val="00274A"/>
                          </a:solidFill>
                          <a:latin typeface="Calibri" pitchFamily="34" charset="0"/>
                          <a:ea typeface="Calibri" pitchFamily="34" charset="-122"/>
                          <a:cs typeface="Calibri" pitchFamily="34" charset="-120"/>
                        </a:rPr>
                        <a:t>A</a:t>
                      </a:r>
                      <a:endParaRPr lang="en-US" sz="11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0274A"/>
                          </a:solidFill>
                          <a:latin typeface="Calibri" pitchFamily="34" charset="0"/>
                          <a:ea typeface="Calibri" pitchFamily="34" charset="-122"/>
                          <a:cs typeface="Calibri" pitchFamily="34" charset="-120"/>
                        </a:rPr>
                        <a:t>30</a:t>
                      </a:r>
                      <a:endParaRPr lang="en-US" sz="11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0274A"/>
                          </a:solidFill>
                          <a:latin typeface="Calibri" pitchFamily="34" charset="0"/>
                          <a:ea typeface="Calibri" pitchFamily="34" charset="-122"/>
                          <a:cs typeface="Calibri" pitchFamily="34" charset="-120"/>
                        </a:rPr>
                        <a:t>4 hari</a:t>
                      </a:r>
                      <a:endParaRPr lang="en-US" sz="11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0274A"/>
                          </a:solidFill>
                          <a:latin typeface="Calibri" pitchFamily="34" charset="0"/>
                          <a:ea typeface="Calibri" pitchFamily="34" charset="-122"/>
                          <a:cs typeface="Calibri" pitchFamily="34" charset="-120"/>
                        </a:rPr>
                        <a:t>1,25</a:t>
                      </a:r>
                      <a:endParaRPr lang="en-US" sz="11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0274A"/>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r>
              <a:tr h="329184">
                <a:tc>
                  <a:txBody>
                    <a:bodyPr/>
                    <a:lstStyle/>
                    <a:p>
                      <a:pPr algn="l" indent="0" marL="0">
                        <a:buNone/>
                      </a:pPr>
                      <a:r>
                        <a:rPr lang="en-US" sz="1150" dirty="0">
                          <a:solidFill>
                            <a:srgbClr val="00274A"/>
                          </a:solidFill>
                          <a:latin typeface="Calibri" pitchFamily="34" charset="0"/>
                          <a:ea typeface="Calibri" pitchFamily="34" charset="-122"/>
                          <a:cs typeface="Calibri" pitchFamily="34" charset="-120"/>
                        </a:rPr>
                        <a:t>B</a:t>
                      </a:r>
                      <a:endParaRPr lang="en-US" sz="11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c>
                  <a:txBody>
                    <a:bodyPr/>
                    <a:lstStyle/>
                    <a:p>
                      <a:pPr algn="ctr" indent="0" marL="0">
                        <a:buNone/>
                      </a:pPr>
                      <a:r>
                        <a:rPr lang="en-US" sz="1150" dirty="0">
                          <a:solidFill>
                            <a:srgbClr val="00274A"/>
                          </a:solidFill>
                          <a:latin typeface="Calibri" pitchFamily="34" charset="0"/>
                          <a:ea typeface="Calibri" pitchFamily="34" charset="-122"/>
                          <a:cs typeface="Calibri" pitchFamily="34" charset="-120"/>
                        </a:rPr>
                        <a:t>28</a:t>
                      </a:r>
                      <a:endParaRPr lang="en-US" sz="11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c>
                  <a:txBody>
                    <a:bodyPr/>
                    <a:lstStyle/>
                    <a:p>
                      <a:pPr algn="ctr" indent="0" marL="0">
                        <a:buNone/>
                      </a:pPr>
                      <a:r>
                        <a:rPr lang="en-US" sz="1150" dirty="0">
                          <a:solidFill>
                            <a:srgbClr val="00274A"/>
                          </a:solidFill>
                          <a:latin typeface="Calibri" pitchFamily="34" charset="0"/>
                          <a:ea typeface="Calibri" pitchFamily="34" charset="-122"/>
                          <a:cs typeface="Calibri" pitchFamily="34" charset="-120"/>
                        </a:rPr>
                        <a:t>5 hari</a:t>
                      </a:r>
                      <a:endParaRPr lang="en-US" sz="11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c>
                  <a:txBody>
                    <a:bodyPr/>
                    <a:lstStyle/>
                    <a:p>
                      <a:pPr algn="ctr" indent="0" marL="0">
                        <a:buNone/>
                      </a:pPr>
                      <a:r>
                        <a:rPr lang="en-US" sz="1150" b="1" dirty="0">
                          <a:solidFill>
                            <a:srgbClr val="00274A"/>
                          </a:solidFill>
                          <a:latin typeface="Calibri" pitchFamily="34" charset="0"/>
                          <a:ea typeface="Calibri" pitchFamily="34" charset="-122"/>
                          <a:cs typeface="Calibri" pitchFamily="34" charset="-120"/>
                        </a:rPr>
                        <a:t>0,60</a:t>
                      </a:r>
                      <a:endParaRPr lang="en-US" sz="11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CDE6FF"/>
                    </a:solidFill>
                  </a:tcPr>
                </a:tc>
                <a:tc>
                  <a:txBody>
                    <a:bodyPr/>
                    <a:lstStyle/>
                    <a:p>
                      <a:pPr algn="ctr" indent="0" marL="0">
                        <a:buNone/>
                      </a:pPr>
                      <a:r>
                        <a:rPr lang="en-US" sz="1150" b="1" dirty="0">
                          <a:solidFill>
                            <a:srgbClr val="00274A"/>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r>
              <a:tr h="329184">
                <a:tc>
                  <a:txBody>
                    <a:bodyPr/>
                    <a:lstStyle/>
                    <a:p>
                      <a:pPr algn="l" indent="0" marL="0">
                        <a:buNone/>
                      </a:pPr>
                      <a:r>
                        <a:rPr lang="en-US" sz="1150" dirty="0">
                          <a:solidFill>
                            <a:srgbClr val="00274A"/>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0274A"/>
                          </a:solidFill>
                          <a:latin typeface="Calibri" pitchFamily="34" charset="0"/>
                          <a:ea typeface="Calibri" pitchFamily="34" charset="-122"/>
                          <a:cs typeface="Calibri" pitchFamily="34" charset="-120"/>
                        </a:rPr>
                        <a:t>27</a:t>
                      </a:r>
                      <a:endParaRPr lang="en-US" sz="11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0274A"/>
                          </a:solidFill>
                          <a:latin typeface="Calibri" pitchFamily="34" charset="0"/>
                          <a:ea typeface="Calibri" pitchFamily="34" charset="-122"/>
                          <a:cs typeface="Calibri" pitchFamily="34" charset="-120"/>
                        </a:rPr>
                        <a:t>2 hari</a:t>
                      </a:r>
                      <a:endParaRPr lang="en-US" sz="11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0274A"/>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0274A"/>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r>
            </a:tbl>
          </a:graphicData>
        </a:graphic>
      </p:graphicFrame>
      <p:sp>
        <p:nvSpPr>
          <p:cNvPr id="12" name="text"/>
          <p:cNvSpPr txBox="1"/>
          <p:nvPr/>
        </p:nvSpPr>
        <p:spPr>
          <a:xfrm>
            <a:off x="777240" y="5760720"/>
            <a:ext cx="3749040" cy="274320"/>
          </a:xfrm>
          <a:prstGeom prst="rect">
            <a:avLst/>
          </a:prstGeom>
          <a:noFill/>
          <a:ln/>
        </p:spPr>
        <p:txBody>
          <a:bodyPr wrap="square" lIns="0" tIns="0" rIns="0" bIns="0" rtlCol="0" anchor="t"/>
          <a:lstStyle/>
          <a:p>
            <a:pPr algn="l" indent="0" marL="0">
              <a:buNone/>
            </a:pPr>
            <a:r>
              <a:rPr lang="en-US" sz="1000" i="1" dirty="0">
                <a:solidFill>
                  <a:srgbClr val="585E67"/>
                </a:solidFill>
              </a:rPr>
              <a:t>Hari ini = hari ke-25 (HRM Contoh 15.5).</a:t>
            </a:r>
            <a:endParaRPr lang="en-US" sz="1000" dirty="0"/>
          </a:p>
        </p:txBody>
      </p:sp>
      <p:sp>
        <p:nvSpPr>
          <p:cNvPr id="13" name="card"/>
          <p:cNvSpPr/>
          <p:nvPr/>
        </p:nvSpPr>
        <p:spPr>
          <a:xfrm>
            <a:off x="4983480" y="1325880"/>
            <a:ext cx="6659575" cy="4910328"/>
          </a:xfrm>
          <a:prstGeom prst="roundRect">
            <a:avLst>
              <a:gd name="adj" fmla="val 2607"/>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14" name="icon circle"/>
          <p:cNvSpPr/>
          <p:nvPr/>
        </p:nvSpPr>
        <p:spPr>
          <a:xfrm>
            <a:off x="5212080" y="1508760"/>
            <a:ext cx="548640" cy="548640"/>
          </a:xfrm>
          <a:prstGeom prst="ellipse">
            <a:avLst/>
          </a:prstGeom>
          <a:solidFill>
            <a:srgbClr val="91BE62"/>
          </a:solidFill>
          <a:ln w="3175">
            <a:solidFill>
              <a:srgbClr val="91BE62"/>
            </a:solidFill>
            <a:prstDash val="solid"/>
          </a:ln>
        </p:spPr>
      </p:sp>
      <p:pic>
        <p:nvPicPr>
          <p:cNvPr id="15" name="icon FaRandom" descr="preencoded.png">    </p:cNvPr>
          <p:cNvPicPr>
            <a:picLocks noChangeAspect="1"/>
          </p:cNvPicPr>
          <p:nvPr/>
        </p:nvPicPr>
        <p:blipFill>
          <a:blip r:embed="rId2"/>
          <a:stretch>
            <a:fillRect/>
          </a:stretch>
        </p:blipFill>
        <p:spPr>
          <a:xfrm>
            <a:off x="5349240" y="1645920"/>
            <a:ext cx="274320" cy="274320"/>
          </a:xfrm>
          <a:prstGeom prst="rect">
            <a:avLst/>
          </a:prstGeom>
        </p:spPr>
      </p:pic>
      <p:sp>
        <p:nvSpPr>
          <p:cNvPr id="16" name="text"/>
          <p:cNvSpPr txBox="1"/>
          <p:nvPr/>
        </p:nvSpPr>
        <p:spPr>
          <a:xfrm>
            <a:off x="5897880" y="1508760"/>
            <a:ext cx="5470855" cy="548640"/>
          </a:xfrm>
          <a:prstGeom prst="rect">
            <a:avLst/>
          </a:prstGeom>
          <a:noFill/>
          <a:ln/>
        </p:spPr>
        <p:txBody>
          <a:bodyPr wrap="square" lIns="0" tIns="0" rIns="0" bIns="0" rtlCol="0" anchor="ctr"/>
          <a:lstStyle/>
          <a:p>
            <a:pPr algn="l" indent="0" marL="0">
              <a:buNone/>
            </a:pPr>
            <a:r>
              <a:rPr lang="en-US" sz="1500" b="1" dirty="0">
                <a:solidFill>
                  <a:srgbClr val="00274A"/>
                </a:solidFill>
              </a:rPr>
              <a:t>Johnson's rule: N pekerjaan, dua pusat kerja</a:t>
            </a:r>
            <a:endParaRPr lang="en-US" sz="1500" dirty="0"/>
          </a:p>
        </p:txBody>
      </p:sp>
      <p:sp>
        <p:nvSpPr>
          <p:cNvPr id="17" name="text"/>
          <p:cNvSpPr txBox="1"/>
          <p:nvPr/>
        </p:nvSpPr>
        <p:spPr>
          <a:xfrm>
            <a:off x="5212080" y="2103120"/>
            <a:ext cx="6202375" cy="822960"/>
          </a:xfrm>
          <a:prstGeom prst="rect">
            <a:avLst/>
          </a:prstGeom>
          <a:noFill/>
          <a:ln/>
        </p:spPr>
        <p:txBody>
          <a:bodyPr wrap="square" lIns="0" tIns="0" rIns="0" bIns="0" rtlCol="0" anchor="t"/>
          <a:lstStyle/>
          <a:p>
            <a:pPr algn="l" indent="0" marL="0">
              <a:buNone/>
            </a:pPr>
            <a:r>
              <a:rPr lang="en-US" sz="1150" dirty="0">
                <a:solidFill>
                  <a:srgbClr val="00274A"/>
                </a:solidFill>
              </a:rPr>
              <a:t>Langkah: (1) daftar waktu setiap pekerjaan di kedua pusat kerja; (2) pilih waktu terpendek; (3) bila di pusat kerja pertama, jadwalkan paling awal, bila di pusat kerja kedua, jadwalkan paling akhir; (4) coret dan ulangi.</a:t>
            </a:r>
            <a:endParaRPr lang="en-US" sz="115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5212080" y="2971800"/>
          <a:ext cx="2743200" cy="914400"/>
        </p:xfrm>
        <a:graphic>
          <a:graphicData uri="http://schemas.openxmlformats.org/drawingml/2006/table">
            <a:tbl>
              <a:tblPr/>
              <a:tblGrid>
                <a:gridCol w="822960"/>
                <a:gridCol w="914400"/>
                <a:gridCol w="1005840"/>
              </a:tblGrid>
              <a:tr h="274320">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Pekerjaan</a:t>
                      </a:r>
                      <a:endParaRPr lang="en-US" sz="11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00274A"/>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Inspeksi (jam)</a:t>
                      </a:r>
                      <a:endParaRPr lang="en-US" sz="11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00274A"/>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Perbaikan &amp; uji (jam)</a:t>
                      </a:r>
                      <a:endParaRPr lang="en-US" sz="11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00274A"/>
                    </a:solidFill>
                  </a:tcPr>
                </a:tc>
              </a:tr>
              <a:tr h="274320">
                <a:tc>
                  <a:txBody>
                    <a:bodyPr/>
                    <a:lstStyle/>
                    <a:p>
                      <a:pPr algn="l" indent="0" marL="0">
                        <a:buNone/>
                      </a:pPr>
                      <a:r>
                        <a:rPr lang="en-US" sz="1100" dirty="0">
                          <a:solidFill>
                            <a:srgbClr val="00274A"/>
                          </a:solidFill>
                          <a:latin typeface="Calibri" pitchFamily="34" charset="0"/>
                          <a:ea typeface="Calibri" pitchFamily="34" charset="-122"/>
                          <a:cs typeface="Calibri" pitchFamily="34" charset="-120"/>
                        </a:rPr>
                        <a:t>A</a:t>
                      </a:r>
                      <a:endParaRPr lang="en-US" sz="11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274A"/>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274A"/>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r>
              <a:tr h="274320">
                <a:tc>
                  <a:txBody>
                    <a:bodyPr/>
                    <a:lstStyle/>
                    <a:p>
                      <a:pPr algn="l" indent="0" marL="0">
                        <a:buNone/>
                      </a:pPr>
                      <a:r>
                        <a:rPr lang="en-US" sz="1100" dirty="0">
                          <a:solidFill>
                            <a:srgbClr val="00274A"/>
                          </a:solidFill>
                          <a:latin typeface="Calibri" pitchFamily="34" charset="0"/>
                          <a:ea typeface="Calibri" pitchFamily="34" charset="-122"/>
                          <a:cs typeface="Calibri" pitchFamily="34" charset="-120"/>
                        </a:rPr>
                        <a:t>B</a:t>
                      </a:r>
                      <a:endParaRPr lang="en-US" sz="11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c>
                  <a:txBody>
                    <a:bodyPr/>
                    <a:lstStyle/>
                    <a:p>
                      <a:pPr algn="ctr" indent="0" marL="0">
                        <a:buNone/>
                      </a:pPr>
                      <a:r>
                        <a:rPr lang="en-US" sz="1100" dirty="0">
                          <a:solidFill>
                            <a:srgbClr val="00274A"/>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c>
                  <a:txBody>
                    <a:bodyPr/>
                    <a:lstStyle/>
                    <a:p>
                      <a:pPr algn="ctr" indent="0" marL="0">
                        <a:buNone/>
                      </a:pPr>
                      <a:r>
                        <a:rPr lang="en-US" sz="1100" dirty="0">
                          <a:solidFill>
                            <a:srgbClr val="00274A"/>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r>
              <a:tr h="274320">
                <a:tc>
                  <a:txBody>
                    <a:bodyPr/>
                    <a:lstStyle/>
                    <a:p>
                      <a:pPr algn="l" indent="0" marL="0">
                        <a:buNone/>
                      </a:pPr>
                      <a:r>
                        <a:rPr lang="en-US" sz="1100" dirty="0">
                          <a:solidFill>
                            <a:srgbClr val="00274A"/>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274A"/>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274A"/>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r>
              <a:tr h="274320">
                <a:tc>
                  <a:txBody>
                    <a:bodyPr/>
                    <a:lstStyle/>
                    <a:p>
                      <a:pPr algn="l" indent="0" marL="0">
                        <a:buNone/>
                      </a:pPr>
                      <a:r>
                        <a:rPr lang="en-US" sz="1100" dirty="0">
                          <a:solidFill>
                            <a:srgbClr val="00274A"/>
                          </a:solidFill>
                          <a:latin typeface="Calibri" pitchFamily="34" charset="0"/>
                          <a:ea typeface="Calibri" pitchFamily="34" charset="-122"/>
                          <a:cs typeface="Calibri" pitchFamily="34" charset="-120"/>
                        </a:rPr>
                        <a:t>D</a:t>
                      </a:r>
                      <a:endParaRPr lang="en-US" sz="11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c>
                  <a:txBody>
                    <a:bodyPr/>
                    <a:lstStyle/>
                    <a:p>
                      <a:pPr algn="ctr" indent="0" marL="0">
                        <a:buNone/>
                      </a:pPr>
                      <a:r>
                        <a:rPr lang="en-US" sz="1100" dirty="0">
                          <a:solidFill>
                            <a:srgbClr val="00274A"/>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c>
                  <a:txBody>
                    <a:bodyPr/>
                    <a:lstStyle/>
                    <a:p>
                      <a:pPr algn="ctr" indent="0" marL="0">
                        <a:buNone/>
                      </a:pPr>
                      <a:r>
                        <a:rPr lang="en-US" sz="1100" dirty="0">
                          <a:solidFill>
                            <a:srgbClr val="00274A"/>
                          </a:solidFill>
                          <a:latin typeface="Calibri" pitchFamily="34" charset="0"/>
                          <a:ea typeface="Calibri" pitchFamily="34" charset="-122"/>
                          <a:cs typeface="Calibri" pitchFamily="34" charset="-120"/>
                        </a:rPr>
                        <a:t>7</a:t>
                      </a:r>
                      <a:endParaRPr lang="en-US" sz="11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r>
              <a:tr h="274320">
                <a:tc>
                  <a:txBody>
                    <a:bodyPr/>
                    <a:lstStyle/>
                    <a:p>
                      <a:pPr algn="l" indent="0" marL="0">
                        <a:buNone/>
                      </a:pPr>
                      <a:r>
                        <a:rPr lang="en-US" sz="1100" dirty="0">
                          <a:solidFill>
                            <a:srgbClr val="00274A"/>
                          </a:solidFill>
                          <a:latin typeface="Calibri" pitchFamily="34" charset="0"/>
                          <a:ea typeface="Calibri" pitchFamily="34" charset="-122"/>
                          <a:cs typeface="Calibri" pitchFamily="34" charset="-120"/>
                        </a:rPr>
                        <a:t>E</a:t>
                      </a:r>
                      <a:endParaRPr lang="en-US" sz="11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274A"/>
                          </a:solidFill>
                          <a:latin typeface="Calibri" pitchFamily="34" charset="0"/>
                          <a:ea typeface="Calibri" pitchFamily="34" charset="-122"/>
                          <a:cs typeface="Calibri" pitchFamily="34" charset="-120"/>
                        </a:rPr>
                        <a:t>7</a:t>
                      </a:r>
                      <a:endParaRPr lang="en-US" sz="11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274A"/>
                          </a:solidFill>
                          <a:latin typeface="Calibri" pitchFamily="34" charset="0"/>
                          <a:ea typeface="Calibri" pitchFamily="34" charset="-122"/>
                          <a:cs typeface="Calibri" pitchFamily="34" charset="-120"/>
                        </a:rPr>
                        <a:t>12</a:t>
                      </a:r>
                      <a:endParaRPr lang="en-US" sz="11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r>
            </a:tbl>
          </a:graphicData>
        </a:graphic>
      </p:graphicFrame>
      <p:sp>
        <p:nvSpPr>
          <p:cNvPr id="19" name="card"/>
          <p:cNvSpPr/>
          <p:nvPr/>
        </p:nvSpPr>
        <p:spPr>
          <a:xfrm>
            <a:off x="8183880" y="2971800"/>
            <a:ext cx="3230575" cy="1645920"/>
          </a:xfrm>
          <a:prstGeom prst="roundRect">
            <a:avLst>
              <a:gd name="adj" fmla="val 7778"/>
            </a:avLst>
          </a:prstGeom>
          <a:solidFill>
            <a:srgbClr val="F0F7FD"/>
          </a:solidFill>
          <a:ln w="3175">
            <a:solidFill>
              <a:srgbClr val="F0F7FD"/>
            </a:solidFill>
            <a:prstDash val="solid"/>
          </a:ln>
        </p:spPr>
      </p:sp>
      <p:sp>
        <p:nvSpPr>
          <p:cNvPr id="20" name="text"/>
          <p:cNvSpPr txBox="1"/>
          <p:nvPr/>
        </p:nvSpPr>
        <p:spPr>
          <a:xfrm>
            <a:off x="8321040" y="2971800"/>
            <a:ext cx="2956255" cy="1645920"/>
          </a:xfrm>
          <a:prstGeom prst="rect">
            <a:avLst/>
          </a:prstGeom>
          <a:noFill/>
          <a:ln/>
        </p:spPr>
        <p:txBody>
          <a:bodyPr wrap="square" lIns="0" tIns="0" rIns="0" bIns="0" rtlCol="0" anchor="ctr"/>
          <a:lstStyle/>
          <a:p>
            <a:pPr algn="l" indent="0" marL="0">
              <a:buNone/>
            </a:pPr>
            <a:r>
              <a:rPr lang="en-US" sz="1150" b="1" dirty="0">
                <a:solidFill>
                  <a:srgbClr val="00274A"/>
                </a:solidFill>
              </a:rPr>
              <a:t>Hasil:</a:t>
            </a:r>
            <a:r>
              <a:rPr lang="en-US" sz="1150" dirty="0">
                <a:solidFill>
                  <a:srgbClr val="00274A"/>
                </a:solidFill>
              </a:rPr>
              <a:t> urutan </a:t>
            </a:r>
            <a:r>
              <a:rPr lang="en-US" sz="1150" b="1" dirty="0">
                <a:solidFill>
                  <a:srgbClr val="00274A"/>
                </a:solidFill>
              </a:rPr>
              <a:t>B–E–D–C–A</a:t>
            </a:r>
            <a:r>
              <a:rPr lang="en-US" sz="1150" dirty="0">
                <a:solidFill>
                  <a:srgbClr val="00274A"/>
                </a:solidFill>
              </a:rPr>
              <a:t>, </a:t>
            </a:r>
            <a:r>
              <a:rPr lang="en-US" sz="1150" i="1" dirty="0">
                <a:solidFill>
                  <a:srgbClr val="00274A"/>
                </a:solidFill>
              </a:rPr>
              <a:t>makespan</a:t>
            </a:r>
            <a:r>
              <a:rPr lang="en-US" sz="1150" dirty="0">
                <a:solidFill>
                  <a:srgbClr val="00274A"/>
                </a:solidFill>
              </a:rPr>
              <a:t> </a:t>
            </a:r>
            <a:r>
              <a:rPr lang="en-US" sz="1150" b="1" dirty="0">
                <a:solidFill>
                  <a:srgbClr val="00274A"/>
                </a:solidFill>
              </a:rPr>
              <a:t>35 jam</a:t>
            </a:r>
            <a:r>
              <a:rPr lang="en-US" sz="1150" dirty="0">
                <a:solidFill>
                  <a:srgbClr val="00274A"/>
                </a:solidFill>
              </a:rPr>
              <a:t>; urutan sembarang A–B–C–D–E memerlukan 45 jam. Pusat kerja kedua menganggur hanya saat menunggu pekerjaan pertama.</a:t>
            </a:r>
            <a:endParaRPr lang="en-US" sz="1150" dirty="0"/>
          </a:p>
        </p:txBody>
      </p:sp>
      <p:sp>
        <p:nvSpPr>
          <p:cNvPr id="21" name="text"/>
          <p:cNvSpPr txBox="1"/>
          <p:nvPr/>
        </p:nvSpPr>
        <p:spPr>
          <a:xfrm>
            <a:off x="5212080" y="4846320"/>
            <a:ext cx="960120" cy="384048"/>
          </a:xfrm>
          <a:prstGeom prst="rect">
            <a:avLst/>
          </a:prstGeom>
          <a:noFill/>
          <a:ln/>
        </p:spPr>
        <p:txBody>
          <a:bodyPr wrap="square" lIns="0" tIns="0" rIns="0" bIns="0" rtlCol="0" anchor="ctr"/>
          <a:lstStyle/>
          <a:p>
            <a:pPr algn="l" indent="0" marL="0">
              <a:buNone/>
            </a:pPr>
            <a:r>
              <a:rPr lang="en-US" sz="1050" b="1" dirty="0">
                <a:solidFill>
                  <a:srgbClr val="00274A"/>
                </a:solidFill>
              </a:rPr>
              <a:t>Inspeksi</a:t>
            </a:r>
            <a:endParaRPr lang="en-US" sz="1050" dirty="0"/>
          </a:p>
        </p:txBody>
      </p:sp>
      <p:sp>
        <p:nvSpPr>
          <p:cNvPr id="22" name="text"/>
          <p:cNvSpPr txBox="1"/>
          <p:nvPr/>
        </p:nvSpPr>
        <p:spPr>
          <a:xfrm>
            <a:off x="5212080" y="5285232"/>
            <a:ext cx="960120" cy="384048"/>
          </a:xfrm>
          <a:prstGeom prst="rect">
            <a:avLst/>
          </a:prstGeom>
          <a:noFill/>
          <a:ln/>
        </p:spPr>
        <p:txBody>
          <a:bodyPr wrap="square" lIns="0" tIns="0" rIns="0" bIns="0" rtlCol="0" anchor="ctr"/>
          <a:lstStyle/>
          <a:p>
            <a:pPr algn="l" indent="0" marL="0">
              <a:buNone/>
            </a:pPr>
            <a:r>
              <a:rPr lang="en-US" sz="1050" b="1" dirty="0">
                <a:solidFill>
                  <a:srgbClr val="00274A"/>
                </a:solidFill>
              </a:rPr>
              <a:t>Perbaikan</a:t>
            </a:r>
            <a:endParaRPr lang="en-US" sz="1050" dirty="0"/>
          </a:p>
        </p:txBody>
      </p:sp>
      <p:sp>
        <p:nvSpPr>
          <p:cNvPr id="23" name="gantt bar"/>
          <p:cNvSpPr/>
          <p:nvPr/>
        </p:nvSpPr>
        <p:spPr>
          <a:xfrm>
            <a:off x="6236208" y="4846320"/>
            <a:ext cx="404922" cy="384048"/>
          </a:xfrm>
          <a:prstGeom prst="roundRect">
            <a:avLst>
              <a:gd name="adj" fmla="val 14286"/>
            </a:avLst>
          </a:prstGeom>
          <a:solidFill>
            <a:srgbClr val="0074C8"/>
          </a:solidFill>
          <a:ln w="3175">
            <a:solidFill>
              <a:srgbClr val="0074C8"/>
            </a:solidFill>
            <a:prstDash val="solid"/>
          </a:ln>
        </p:spPr>
      </p:sp>
      <p:sp>
        <p:nvSpPr>
          <p:cNvPr id="24" name="text"/>
          <p:cNvSpPr txBox="1"/>
          <p:nvPr/>
        </p:nvSpPr>
        <p:spPr>
          <a:xfrm>
            <a:off x="6217920" y="4846320"/>
            <a:ext cx="441498" cy="384048"/>
          </a:xfrm>
          <a:prstGeom prst="rect">
            <a:avLst/>
          </a:prstGeom>
          <a:noFill/>
          <a:ln/>
        </p:spPr>
        <p:txBody>
          <a:bodyPr wrap="square" lIns="0" tIns="0" rIns="0" bIns="0" rtlCol="0" anchor="ctr"/>
          <a:lstStyle/>
          <a:p>
            <a:pPr algn="ctr" indent="0" marL="0">
              <a:buNone/>
            </a:pPr>
            <a:r>
              <a:rPr lang="en-US" sz="1000" b="1" dirty="0">
                <a:solidFill>
                  <a:srgbClr val="FFFFFF"/>
                </a:solidFill>
              </a:rPr>
              <a:t>B</a:t>
            </a:r>
            <a:endParaRPr lang="en-US" sz="1000" dirty="0"/>
          </a:p>
        </p:txBody>
      </p:sp>
      <p:sp>
        <p:nvSpPr>
          <p:cNvPr id="25" name="gantt bar"/>
          <p:cNvSpPr/>
          <p:nvPr/>
        </p:nvSpPr>
        <p:spPr>
          <a:xfrm>
            <a:off x="6677706" y="4846320"/>
            <a:ext cx="993587" cy="384048"/>
          </a:xfrm>
          <a:prstGeom prst="roundRect">
            <a:avLst>
              <a:gd name="adj" fmla="val 14286"/>
            </a:avLst>
          </a:prstGeom>
          <a:solidFill>
            <a:srgbClr val="0074C8"/>
          </a:solidFill>
          <a:ln w="3175">
            <a:solidFill>
              <a:srgbClr val="0074C8"/>
            </a:solidFill>
            <a:prstDash val="solid"/>
          </a:ln>
        </p:spPr>
      </p:sp>
      <p:sp>
        <p:nvSpPr>
          <p:cNvPr id="26" name="text"/>
          <p:cNvSpPr txBox="1"/>
          <p:nvPr/>
        </p:nvSpPr>
        <p:spPr>
          <a:xfrm>
            <a:off x="6659418" y="4846320"/>
            <a:ext cx="1030163" cy="384048"/>
          </a:xfrm>
          <a:prstGeom prst="rect">
            <a:avLst/>
          </a:prstGeom>
          <a:noFill/>
          <a:ln/>
        </p:spPr>
        <p:txBody>
          <a:bodyPr wrap="square" lIns="0" tIns="0" rIns="0" bIns="0" rtlCol="0" anchor="ctr"/>
          <a:lstStyle/>
          <a:p>
            <a:pPr algn="ctr" indent="0" marL="0">
              <a:buNone/>
            </a:pPr>
            <a:r>
              <a:rPr lang="en-US" sz="1000" b="1" dirty="0">
                <a:solidFill>
                  <a:srgbClr val="FFFFFF"/>
                </a:solidFill>
              </a:rPr>
              <a:t>E</a:t>
            </a:r>
            <a:endParaRPr lang="en-US" sz="1000" dirty="0"/>
          </a:p>
        </p:txBody>
      </p:sp>
      <p:sp>
        <p:nvSpPr>
          <p:cNvPr id="27" name="gantt bar"/>
          <p:cNvSpPr/>
          <p:nvPr/>
        </p:nvSpPr>
        <p:spPr>
          <a:xfrm>
            <a:off x="7707869" y="4846320"/>
            <a:ext cx="1435085" cy="384048"/>
          </a:xfrm>
          <a:prstGeom prst="roundRect">
            <a:avLst>
              <a:gd name="adj" fmla="val 14286"/>
            </a:avLst>
          </a:prstGeom>
          <a:solidFill>
            <a:srgbClr val="0074C8"/>
          </a:solidFill>
          <a:ln w="3175">
            <a:solidFill>
              <a:srgbClr val="0074C8"/>
            </a:solidFill>
            <a:prstDash val="solid"/>
          </a:ln>
        </p:spPr>
      </p:sp>
      <p:sp>
        <p:nvSpPr>
          <p:cNvPr id="28" name="text"/>
          <p:cNvSpPr txBox="1"/>
          <p:nvPr/>
        </p:nvSpPr>
        <p:spPr>
          <a:xfrm>
            <a:off x="7689581" y="4846320"/>
            <a:ext cx="1471661" cy="384048"/>
          </a:xfrm>
          <a:prstGeom prst="rect">
            <a:avLst/>
          </a:prstGeom>
          <a:noFill/>
          <a:ln/>
        </p:spPr>
        <p:txBody>
          <a:bodyPr wrap="square" lIns="0" tIns="0" rIns="0" bIns="0" rtlCol="0" anchor="ctr"/>
          <a:lstStyle/>
          <a:p>
            <a:pPr algn="ctr" indent="0" marL="0">
              <a:buNone/>
            </a:pPr>
            <a:r>
              <a:rPr lang="en-US" sz="1000" b="1" dirty="0">
                <a:solidFill>
                  <a:srgbClr val="FFFFFF"/>
                </a:solidFill>
              </a:rPr>
              <a:t>D</a:t>
            </a:r>
            <a:endParaRPr lang="en-US" sz="1000" dirty="0"/>
          </a:p>
        </p:txBody>
      </p:sp>
      <p:sp>
        <p:nvSpPr>
          <p:cNvPr id="29" name="gantt bar"/>
          <p:cNvSpPr/>
          <p:nvPr/>
        </p:nvSpPr>
        <p:spPr>
          <a:xfrm>
            <a:off x="9179531" y="4846320"/>
            <a:ext cx="1140753" cy="384048"/>
          </a:xfrm>
          <a:prstGeom prst="roundRect">
            <a:avLst>
              <a:gd name="adj" fmla="val 14286"/>
            </a:avLst>
          </a:prstGeom>
          <a:solidFill>
            <a:srgbClr val="0074C8"/>
          </a:solidFill>
          <a:ln w="3175">
            <a:solidFill>
              <a:srgbClr val="0074C8"/>
            </a:solidFill>
            <a:prstDash val="solid"/>
          </a:ln>
        </p:spPr>
      </p:sp>
      <p:sp>
        <p:nvSpPr>
          <p:cNvPr id="30" name="text"/>
          <p:cNvSpPr txBox="1"/>
          <p:nvPr/>
        </p:nvSpPr>
        <p:spPr>
          <a:xfrm>
            <a:off x="9161243" y="4846320"/>
            <a:ext cx="1177329" cy="384048"/>
          </a:xfrm>
          <a:prstGeom prst="rect">
            <a:avLst/>
          </a:prstGeom>
          <a:noFill/>
          <a:ln/>
        </p:spPr>
        <p:txBody>
          <a:bodyPr wrap="square" lIns="0" tIns="0" rIns="0" bIns="0" rtlCol="0" anchor="ctr"/>
          <a:lstStyle/>
          <a:p>
            <a:pPr algn="ctr" indent="0" marL="0">
              <a:buNone/>
            </a:pPr>
            <a:r>
              <a:rPr lang="en-US" sz="1000" b="1" dirty="0">
                <a:solidFill>
                  <a:srgbClr val="FFFFFF"/>
                </a:solidFill>
              </a:rPr>
              <a:t>C</a:t>
            </a:r>
            <a:endParaRPr lang="en-US" sz="1000" dirty="0"/>
          </a:p>
        </p:txBody>
      </p:sp>
      <p:sp>
        <p:nvSpPr>
          <p:cNvPr id="31" name="gantt bar"/>
          <p:cNvSpPr/>
          <p:nvPr/>
        </p:nvSpPr>
        <p:spPr>
          <a:xfrm>
            <a:off x="10356860" y="4846320"/>
            <a:ext cx="699255" cy="384048"/>
          </a:xfrm>
          <a:prstGeom prst="roundRect">
            <a:avLst>
              <a:gd name="adj" fmla="val 14286"/>
            </a:avLst>
          </a:prstGeom>
          <a:solidFill>
            <a:srgbClr val="0074C8"/>
          </a:solidFill>
          <a:ln w="3175">
            <a:solidFill>
              <a:srgbClr val="0074C8"/>
            </a:solidFill>
            <a:prstDash val="solid"/>
          </a:ln>
        </p:spPr>
      </p:sp>
      <p:sp>
        <p:nvSpPr>
          <p:cNvPr id="32" name="text"/>
          <p:cNvSpPr txBox="1"/>
          <p:nvPr/>
        </p:nvSpPr>
        <p:spPr>
          <a:xfrm>
            <a:off x="10338572" y="4846320"/>
            <a:ext cx="735831" cy="384048"/>
          </a:xfrm>
          <a:prstGeom prst="rect">
            <a:avLst/>
          </a:prstGeom>
          <a:noFill/>
          <a:ln/>
        </p:spPr>
        <p:txBody>
          <a:bodyPr wrap="square" lIns="0" tIns="0" rIns="0" bIns="0" rtlCol="0" anchor="ctr"/>
          <a:lstStyle/>
          <a:p>
            <a:pPr algn="ctr" indent="0" marL="0">
              <a:buNone/>
            </a:pPr>
            <a:r>
              <a:rPr lang="en-US" sz="1000" b="1" dirty="0">
                <a:solidFill>
                  <a:srgbClr val="FFFFFF"/>
                </a:solidFill>
              </a:rPr>
              <a:t>A</a:t>
            </a:r>
            <a:endParaRPr lang="en-US" sz="1000" dirty="0"/>
          </a:p>
        </p:txBody>
      </p:sp>
      <p:sp>
        <p:nvSpPr>
          <p:cNvPr id="33" name="gantt bar"/>
          <p:cNvSpPr/>
          <p:nvPr/>
        </p:nvSpPr>
        <p:spPr>
          <a:xfrm>
            <a:off x="6677706" y="5285232"/>
            <a:ext cx="846421" cy="384048"/>
          </a:xfrm>
          <a:prstGeom prst="roundRect">
            <a:avLst>
              <a:gd name="adj" fmla="val 14286"/>
            </a:avLst>
          </a:prstGeom>
          <a:solidFill>
            <a:srgbClr val="51AE8C"/>
          </a:solidFill>
          <a:ln w="3175">
            <a:solidFill>
              <a:srgbClr val="51AE8C"/>
            </a:solidFill>
            <a:prstDash val="solid"/>
          </a:ln>
        </p:spPr>
      </p:sp>
      <p:sp>
        <p:nvSpPr>
          <p:cNvPr id="34" name="text"/>
          <p:cNvSpPr txBox="1"/>
          <p:nvPr/>
        </p:nvSpPr>
        <p:spPr>
          <a:xfrm>
            <a:off x="6659418" y="5285232"/>
            <a:ext cx="882997" cy="384048"/>
          </a:xfrm>
          <a:prstGeom prst="rect">
            <a:avLst/>
          </a:prstGeom>
          <a:noFill/>
          <a:ln/>
        </p:spPr>
        <p:txBody>
          <a:bodyPr wrap="square" lIns="0" tIns="0" rIns="0" bIns="0" rtlCol="0" anchor="ctr"/>
          <a:lstStyle/>
          <a:p>
            <a:pPr algn="ctr" indent="0" marL="0">
              <a:buNone/>
            </a:pPr>
            <a:r>
              <a:rPr lang="en-US" sz="1000" b="1" dirty="0">
                <a:solidFill>
                  <a:srgbClr val="FFFFFF"/>
                </a:solidFill>
              </a:rPr>
              <a:t>B</a:t>
            </a:r>
            <a:endParaRPr lang="en-US" sz="1000" dirty="0"/>
          </a:p>
        </p:txBody>
      </p:sp>
      <p:sp>
        <p:nvSpPr>
          <p:cNvPr id="35" name="gantt bar"/>
          <p:cNvSpPr/>
          <p:nvPr/>
        </p:nvSpPr>
        <p:spPr>
          <a:xfrm>
            <a:off x="7707869" y="5285232"/>
            <a:ext cx="1729418" cy="384048"/>
          </a:xfrm>
          <a:prstGeom prst="roundRect">
            <a:avLst>
              <a:gd name="adj" fmla="val 14286"/>
            </a:avLst>
          </a:prstGeom>
          <a:solidFill>
            <a:srgbClr val="51AE8C"/>
          </a:solidFill>
          <a:ln w="3175">
            <a:solidFill>
              <a:srgbClr val="51AE8C"/>
            </a:solidFill>
            <a:prstDash val="solid"/>
          </a:ln>
        </p:spPr>
      </p:sp>
      <p:sp>
        <p:nvSpPr>
          <p:cNvPr id="36" name="text"/>
          <p:cNvSpPr txBox="1"/>
          <p:nvPr/>
        </p:nvSpPr>
        <p:spPr>
          <a:xfrm>
            <a:off x="7689581" y="5285232"/>
            <a:ext cx="1765994" cy="384048"/>
          </a:xfrm>
          <a:prstGeom prst="rect">
            <a:avLst/>
          </a:prstGeom>
          <a:noFill/>
          <a:ln/>
        </p:spPr>
        <p:txBody>
          <a:bodyPr wrap="square" lIns="0" tIns="0" rIns="0" bIns="0" rtlCol="0" anchor="ctr"/>
          <a:lstStyle/>
          <a:p>
            <a:pPr algn="ctr" indent="0" marL="0">
              <a:buNone/>
            </a:pPr>
            <a:r>
              <a:rPr lang="en-US" sz="1000" b="1" dirty="0">
                <a:solidFill>
                  <a:srgbClr val="FFFFFF"/>
                </a:solidFill>
              </a:rPr>
              <a:t>E</a:t>
            </a:r>
            <a:endParaRPr lang="en-US" sz="1000" dirty="0"/>
          </a:p>
        </p:txBody>
      </p:sp>
      <p:sp>
        <p:nvSpPr>
          <p:cNvPr id="37" name="gantt bar"/>
          <p:cNvSpPr/>
          <p:nvPr/>
        </p:nvSpPr>
        <p:spPr>
          <a:xfrm>
            <a:off x="9473863" y="5285232"/>
            <a:ext cx="993587" cy="384048"/>
          </a:xfrm>
          <a:prstGeom prst="roundRect">
            <a:avLst>
              <a:gd name="adj" fmla="val 14286"/>
            </a:avLst>
          </a:prstGeom>
          <a:solidFill>
            <a:srgbClr val="51AE8C"/>
          </a:solidFill>
          <a:ln w="3175">
            <a:solidFill>
              <a:srgbClr val="51AE8C"/>
            </a:solidFill>
            <a:prstDash val="solid"/>
          </a:ln>
        </p:spPr>
      </p:sp>
      <p:sp>
        <p:nvSpPr>
          <p:cNvPr id="38" name="text"/>
          <p:cNvSpPr txBox="1"/>
          <p:nvPr/>
        </p:nvSpPr>
        <p:spPr>
          <a:xfrm>
            <a:off x="9455575" y="5285232"/>
            <a:ext cx="1030163" cy="384048"/>
          </a:xfrm>
          <a:prstGeom prst="rect">
            <a:avLst/>
          </a:prstGeom>
          <a:noFill/>
          <a:ln/>
        </p:spPr>
        <p:txBody>
          <a:bodyPr wrap="square" lIns="0" tIns="0" rIns="0" bIns="0" rtlCol="0" anchor="ctr"/>
          <a:lstStyle/>
          <a:p>
            <a:pPr algn="ctr" indent="0" marL="0">
              <a:buNone/>
            </a:pPr>
            <a:r>
              <a:rPr lang="en-US" sz="1000" b="1" dirty="0">
                <a:solidFill>
                  <a:srgbClr val="FFFFFF"/>
                </a:solidFill>
              </a:rPr>
              <a:t>D</a:t>
            </a:r>
            <a:endParaRPr lang="en-US" sz="1000" dirty="0"/>
          </a:p>
        </p:txBody>
      </p:sp>
      <p:sp>
        <p:nvSpPr>
          <p:cNvPr id="39" name="gantt bar"/>
          <p:cNvSpPr/>
          <p:nvPr/>
        </p:nvSpPr>
        <p:spPr>
          <a:xfrm>
            <a:off x="10504026" y="5285232"/>
            <a:ext cx="552089" cy="384048"/>
          </a:xfrm>
          <a:prstGeom prst="roundRect">
            <a:avLst>
              <a:gd name="adj" fmla="val 14286"/>
            </a:avLst>
          </a:prstGeom>
          <a:solidFill>
            <a:srgbClr val="51AE8C"/>
          </a:solidFill>
          <a:ln w="3175">
            <a:solidFill>
              <a:srgbClr val="51AE8C"/>
            </a:solidFill>
            <a:prstDash val="solid"/>
          </a:ln>
        </p:spPr>
      </p:sp>
      <p:sp>
        <p:nvSpPr>
          <p:cNvPr id="40" name="text"/>
          <p:cNvSpPr txBox="1"/>
          <p:nvPr/>
        </p:nvSpPr>
        <p:spPr>
          <a:xfrm>
            <a:off x="10485738" y="5285232"/>
            <a:ext cx="588665" cy="384048"/>
          </a:xfrm>
          <a:prstGeom prst="rect">
            <a:avLst/>
          </a:prstGeom>
          <a:noFill/>
          <a:ln/>
        </p:spPr>
        <p:txBody>
          <a:bodyPr wrap="square" lIns="0" tIns="0" rIns="0" bIns="0" rtlCol="0" anchor="ctr"/>
          <a:lstStyle/>
          <a:p>
            <a:pPr algn="ctr" indent="0" marL="0">
              <a:buNone/>
            </a:pPr>
            <a:r>
              <a:rPr lang="en-US" sz="1000" b="1" dirty="0">
                <a:solidFill>
                  <a:srgbClr val="FFFFFF"/>
                </a:solidFill>
              </a:rPr>
              <a:t>C</a:t>
            </a:r>
            <a:endParaRPr lang="en-US" sz="1000" dirty="0"/>
          </a:p>
        </p:txBody>
      </p:sp>
      <p:sp>
        <p:nvSpPr>
          <p:cNvPr id="41" name="gantt bar"/>
          <p:cNvSpPr/>
          <p:nvPr/>
        </p:nvSpPr>
        <p:spPr>
          <a:xfrm>
            <a:off x="11092691" y="5285232"/>
            <a:ext cx="257756" cy="384048"/>
          </a:xfrm>
          <a:prstGeom prst="roundRect">
            <a:avLst>
              <a:gd name="adj" fmla="val 21285"/>
            </a:avLst>
          </a:prstGeom>
          <a:solidFill>
            <a:srgbClr val="51AE8C"/>
          </a:solidFill>
          <a:ln w="3175">
            <a:solidFill>
              <a:srgbClr val="51AE8C"/>
            </a:solidFill>
            <a:prstDash val="solid"/>
          </a:ln>
        </p:spPr>
      </p:sp>
      <p:sp>
        <p:nvSpPr>
          <p:cNvPr id="42" name="text"/>
          <p:cNvSpPr txBox="1"/>
          <p:nvPr/>
        </p:nvSpPr>
        <p:spPr>
          <a:xfrm>
            <a:off x="11074403" y="5285232"/>
            <a:ext cx="294332" cy="384048"/>
          </a:xfrm>
          <a:prstGeom prst="rect">
            <a:avLst/>
          </a:prstGeom>
          <a:noFill/>
          <a:ln/>
        </p:spPr>
        <p:txBody>
          <a:bodyPr wrap="square" lIns="0" tIns="0" rIns="0" bIns="0" rtlCol="0" anchor="ctr"/>
          <a:lstStyle/>
          <a:p>
            <a:pPr algn="ctr" indent="0" marL="0">
              <a:buNone/>
            </a:pPr>
            <a:r>
              <a:rPr lang="en-US" sz="1000" b="1" dirty="0">
                <a:solidFill>
                  <a:srgbClr val="FFFFFF"/>
                </a:solidFill>
              </a:rPr>
              <a:t>A</a:t>
            </a:r>
            <a:endParaRPr lang="en-US" sz="1000" dirty="0"/>
          </a:p>
        </p:txBody>
      </p:sp>
      <p:sp>
        <p:nvSpPr>
          <p:cNvPr id="43" name="text"/>
          <p:cNvSpPr txBox="1"/>
          <p:nvPr/>
        </p:nvSpPr>
        <p:spPr>
          <a:xfrm>
            <a:off x="5943600" y="5705856"/>
            <a:ext cx="548640" cy="228600"/>
          </a:xfrm>
          <a:prstGeom prst="rect">
            <a:avLst/>
          </a:prstGeom>
          <a:noFill/>
          <a:ln/>
        </p:spPr>
        <p:txBody>
          <a:bodyPr wrap="square" lIns="0" tIns="0" rIns="0" bIns="0" rtlCol="0" anchor="t"/>
          <a:lstStyle/>
          <a:p>
            <a:pPr algn="ctr" indent="0" marL="0">
              <a:buNone/>
            </a:pPr>
            <a:r>
              <a:rPr lang="en-US" sz="900" dirty="0">
                <a:solidFill>
                  <a:srgbClr val="585E67"/>
                </a:solidFill>
              </a:rPr>
              <a:t>0</a:t>
            </a:r>
            <a:endParaRPr lang="en-US" sz="900" dirty="0"/>
          </a:p>
        </p:txBody>
      </p:sp>
      <p:sp>
        <p:nvSpPr>
          <p:cNvPr id="44" name="text"/>
          <p:cNvSpPr txBox="1"/>
          <p:nvPr/>
        </p:nvSpPr>
        <p:spPr>
          <a:xfrm>
            <a:off x="7415261" y="5705856"/>
            <a:ext cx="548640" cy="228600"/>
          </a:xfrm>
          <a:prstGeom prst="rect">
            <a:avLst/>
          </a:prstGeom>
          <a:noFill/>
          <a:ln/>
        </p:spPr>
        <p:txBody>
          <a:bodyPr wrap="square" lIns="0" tIns="0" rIns="0" bIns="0" rtlCol="0" anchor="t"/>
          <a:lstStyle/>
          <a:p>
            <a:pPr algn="ctr" indent="0" marL="0">
              <a:buNone/>
            </a:pPr>
            <a:r>
              <a:rPr lang="en-US" sz="900" dirty="0">
                <a:solidFill>
                  <a:srgbClr val="585E67"/>
                </a:solidFill>
              </a:rPr>
              <a:t>10</a:t>
            </a:r>
            <a:endParaRPr lang="en-US" sz="900" dirty="0"/>
          </a:p>
        </p:txBody>
      </p:sp>
      <p:sp>
        <p:nvSpPr>
          <p:cNvPr id="45" name="text"/>
          <p:cNvSpPr txBox="1"/>
          <p:nvPr/>
        </p:nvSpPr>
        <p:spPr>
          <a:xfrm>
            <a:off x="8886923" y="5705856"/>
            <a:ext cx="548640" cy="228600"/>
          </a:xfrm>
          <a:prstGeom prst="rect">
            <a:avLst/>
          </a:prstGeom>
          <a:noFill/>
          <a:ln/>
        </p:spPr>
        <p:txBody>
          <a:bodyPr wrap="square" lIns="0" tIns="0" rIns="0" bIns="0" rtlCol="0" anchor="t"/>
          <a:lstStyle/>
          <a:p>
            <a:pPr algn="ctr" indent="0" marL="0">
              <a:buNone/>
            </a:pPr>
            <a:r>
              <a:rPr lang="en-US" sz="900" dirty="0">
                <a:solidFill>
                  <a:srgbClr val="585E67"/>
                </a:solidFill>
              </a:rPr>
              <a:t>20</a:t>
            </a:r>
            <a:endParaRPr lang="en-US" sz="900" dirty="0"/>
          </a:p>
        </p:txBody>
      </p:sp>
      <p:sp>
        <p:nvSpPr>
          <p:cNvPr id="46" name="text"/>
          <p:cNvSpPr txBox="1"/>
          <p:nvPr/>
        </p:nvSpPr>
        <p:spPr>
          <a:xfrm>
            <a:off x="10358584" y="5705856"/>
            <a:ext cx="548640" cy="228600"/>
          </a:xfrm>
          <a:prstGeom prst="rect">
            <a:avLst/>
          </a:prstGeom>
          <a:noFill/>
          <a:ln/>
        </p:spPr>
        <p:txBody>
          <a:bodyPr wrap="square" lIns="0" tIns="0" rIns="0" bIns="0" rtlCol="0" anchor="t"/>
          <a:lstStyle/>
          <a:p>
            <a:pPr algn="ctr" indent="0" marL="0">
              <a:buNone/>
            </a:pPr>
            <a:r>
              <a:rPr lang="en-US" sz="900" dirty="0">
                <a:solidFill>
                  <a:srgbClr val="585E67"/>
                </a:solidFill>
              </a:rPr>
              <a:t>30</a:t>
            </a:r>
            <a:endParaRPr lang="en-US" sz="900" dirty="0"/>
          </a:p>
        </p:txBody>
      </p:sp>
      <p:sp>
        <p:nvSpPr>
          <p:cNvPr id="47" name="text"/>
          <p:cNvSpPr txBox="1"/>
          <p:nvPr/>
        </p:nvSpPr>
        <p:spPr>
          <a:xfrm>
            <a:off x="10865815" y="5705856"/>
            <a:ext cx="685800" cy="228600"/>
          </a:xfrm>
          <a:prstGeom prst="rect">
            <a:avLst/>
          </a:prstGeom>
          <a:noFill/>
          <a:ln/>
        </p:spPr>
        <p:txBody>
          <a:bodyPr wrap="square" lIns="0" tIns="0" rIns="0" bIns="0" rtlCol="0" anchor="t"/>
          <a:lstStyle/>
          <a:p>
            <a:pPr algn="r" indent="0" marL="0">
              <a:buNone/>
            </a:pPr>
            <a:r>
              <a:rPr lang="en-US" sz="900" dirty="0">
                <a:solidFill>
                  <a:srgbClr val="585E67"/>
                </a:solidFill>
              </a:rPr>
              <a:t>35 jam</a:t>
            </a:r>
            <a:endParaRPr lang="en-US" sz="900" dirty="0"/>
          </a:p>
        </p:txBody>
      </p:sp>
      <p:sp>
        <p:nvSpPr>
          <p:cNvPr id="25" name="Slide Number Placeholder 0"/>
          <p:cNvSpPr>
            <a:spLocks noGrp="1"/>
          </p:cNvSpPr>
          <p:nvPr>
            <p:ph type="sldNum" sz="quarter" idx="4294967295"/>
          </p:nvPr>
        </p:nvSpPr>
        <p:spPr>
          <a:xfrm>
            <a:off x="11064240" y="6428232"/>
            <a:ext cx="576072"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01426A"/>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000" b="1" dirty="0">
                <a:solidFill>
                  <a:srgbClr val="00274A"/>
                </a:solidFill>
              </a:rPr>
              <a:t>Finite Capacity Scheduling dan Cyclical Scheduling untuk Jasa</a:t>
            </a:r>
            <a:endParaRPr lang="en-US" sz="3000" dirty="0"/>
          </a:p>
        </p:txBody>
      </p:sp>
      <p:sp>
        <p:nvSpPr>
          <p:cNvPr id="4" name="card"/>
          <p:cNvSpPr/>
          <p:nvPr/>
        </p:nvSpPr>
        <p:spPr>
          <a:xfrm>
            <a:off x="548640" y="1325880"/>
            <a:ext cx="5120640" cy="4910328"/>
          </a:xfrm>
          <a:prstGeom prst="roundRect">
            <a:avLst>
              <a:gd name="adj" fmla="val 2607"/>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5" name="icon circle"/>
          <p:cNvSpPr/>
          <p:nvPr/>
        </p:nvSpPr>
        <p:spPr>
          <a:xfrm>
            <a:off x="777240" y="1508760"/>
            <a:ext cx="548640" cy="548640"/>
          </a:xfrm>
          <a:prstGeom prst="ellipse">
            <a:avLst/>
          </a:prstGeom>
          <a:solidFill>
            <a:srgbClr val="00CFF0"/>
          </a:solidFill>
          <a:ln w="3175">
            <a:solidFill>
              <a:srgbClr val="00CFF0"/>
            </a:solidFill>
            <a:prstDash val="solid"/>
          </a:ln>
        </p:spPr>
      </p:sp>
      <p:pic>
        <p:nvPicPr>
          <p:cNvPr id="6" name="icon FaMicrochip" descr="preencoded.png">    </p:cNvPr>
          <p:cNvPicPr>
            <a:picLocks noChangeAspect="1"/>
          </p:cNvPicPr>
          <p:nvPr/>
        </p:nvPicPr>
        <p:blipFill>
          <a:blip r:embed="rId1"/>
          <a:stretch>
            <a:fillRect/>
          </a:stretch>
        </p:blipFill>
        <p:spPr>
          <a:xfrm>
            <a:off x="914400" y="1645920"/>
            <a:ext cx="274320" cy="274320"/>
          </a:xfrm>
          <a:prstGeom prst="rect">
            <a:avLst/>
          </a:prstGeom>
        </p:spPr>
      </p:pic>
      <p:sp>
        <p:nvSpPr>
          <p:cNvPr id="7" name="text"/>
          <p:cNvSpPr txBox="1"/>
          <p:nvPr/>
        </p:nvSpPr>
        <p:spPr>
          <a:xfrm>
            <a:off x="1463040" y="1508760"/>
            <a:ext cx="4023360" cy="548640"/>
          </a:xfrm>
          <a:prstGeom prst="rect">
            <a:avLst/>
          </a:prstGeom>
          <a:noFill/>
          <a:ln/>
        </p:spPr>
        <p:txBody>
          <a:bodyPr wrap="square" lIns="0" tIns="0" rIns="0" bIns="0" rtlCol="0" anchor="ctr"/>
          <a:lstStyle/>
          <a:p>
            <a:pPr algn="l" indent="0" marL="0">
              <a:buNone/>
            </a:pPr>
            <a:r>
              <a:rPr lang="en-US" sz="1450" b="1" dirty="0">
                <a:solidFill>
                  <a:srgbClr val="00274A"/>
                </a:solidFill>
              </a:rPr>
              <a:t>Dari aturan prioritas ke finite capacity scheduling (FCS)</a:t>
            </a:r>
            <a:endParaRPr lang="en-US" sz="1450" dirty="0"/>
          </a:p>
        </p:txBody>
      </p:sp>
      <p:sp>
        <p:nvSpPr>
          <p:cNvPr id="8" name="text"/>
          <p:cNvSpPr txBox="1"/>
          <p:nvPr/>
        </p:nvSpPr>
        <p:spPr>
          <a:xfrm>
            <a:off x="777240" y="2194560"/>
            <a:ext cx="4663440" cy="274320"/>
          </a:xfrm>
          <a:prstGeom prst="rect">
            <a:avLst/>
          </a:prstGeom>
          <a:noFill/>
          <a:ln/>
        </p:spPr>
        <p:txBody>
          <a:bodyPr wrap="square" lIns="0" tIns="0" rIns="0" bIns="0" rtlCol="0" anchor="t"/>
          <a:lstStyle/>
          <a:p>
            <a:pPr algn="l" indent="0" marL="0">
              <a:buNone/>
            </a:pPr>
            <a:r>
              <a:rPr lang="en-US" sz="1200" b="1" dirty="0">
                <a:solidFill>
                  <a:srgbClr val="00274A"/>
                </a:solidFill>
              </a:rPr>
              <a:t>Keterbatasan sistem berbasis aturan (Heizer et al., 2017):</a:t>
            </a:r>
            <a:endParaRPr lang="en-US" sz="1200" dirty="0"/>
          </a:p>
        </p:txBody>
      </p:sp>
      <p:sp>
        <p:nvSpPr>
          <p:cNvPr id="9" name="bullets"/>
          <p:cNvSpPr txBox="1"/>
          <p:nvPr/>
        </p:nvSpPr>
        <p:spPr>
          <a:xfrm>
            <a:off x="777240" y="2514600"/>
            <a:ext cx="4663440" cy="137160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rgbClr val="00274A"/>
                </a:solidFill>
              </a:rPr>
              <a:t>Penjadwalan bersifat dinamis sehingga aturan harus terus direvisi.</a:t>
            </a:r>
            <a:endParaRPr lang="en-US" sz="1150" dirty="0"/>
          </a:p>
          <a:p>
            <a:pPr marL="342900" indent="-342900">
              <a:spcAft>
                <a:spcPts val="300"/>
              </a:spcAft>
              <a:buSzPct val="100000"/>
              <a:buChar char="•"/>
            </a:pPr>
            <a:r>
              <a:rPr lang="en-US" sz="1150" dirty="0">
                <a:solidFill>
                  <a:srgbClr val="00274A"/>
                </a:solidFill>
              </a:rPr>
              <a:t>Aturan tidak melihat ke hulu maupun ke hilir, sehingga </a:t>
            </a:r>
            <a:r>
              <a:rPr lang="en-US" sz="1150" i="1" dirty="0">
                <a:solidFill>
                  <a:srgbClr val="00274A"/>
                </a:solidFill>
              </a:rPr>
              <a:t>bottleneck</a:t>
            </a:r>
            <a:r>
              <a:rPr lang="en-US" sz="1150" dirty="0">
                <a:solidFill>
                  <a:srgbClr val="00274A"/>
                </a:solidFill>
              </a:rPr>
              <a:t> dan sumber daya menganggur luput.</a:t>
            </a:r>
            <a:endParaRPr lang="en-US" sz="1150" dirty="0"/>
          </a:p>
          <a:p>
            <a:pPr marL="342900" indent="-342900">
              <a:spcAft>
                <a:spcPts val="300"/>
              </a:spcAft>
              <a:buSzPct val="100000"/>
              <a:buChar char="•"/>
            </a:pPr>
            <a:r>
              <a:rPr lang="en-US" sz="1150" dirty="0">
                <a:solidFill>
                  <a:srgbClr val="00274A"/>
                </a:solidFill>
              </a:rPr>
              <a:t>Aturan mengabaikan faktor di luar </a:t>
            </a:r>
            <a:r>
              <a:rPr lang="en-US" sz="1150" i="1" dirty="0">
                <a:solidFill>
                  <a:srgbClr val="00274A"/>
                </a:solidFill>
              </a:rPr>
              <a:t>due date</a:t>
            </a:r>
            <a:r>
              <a:rPr lang="en-US" sz="1150" dirty="0">
                <a:solidFill>
                  <a:srgbClr val="00274A"/>
                </a:solidFill>
              </a:rPr>
              <a:t> dan waktu proses.</a:t>
            </a:r>
            <a:endParaRPr lang="en-US" sz="1150" dirty="0"/>
          </a:p>
        </p:txBody>
      </p:sp>
      <p:sp>
        <p:nvSpPr>
          <p:cNvPr id="10" name="card"/>
          <p:cNvSpPr/>
          <p:nvPr/>
        </p:nvSpPr>
        <p:spPr>
          <a:xfrm>
            <a:off x="777240" y="3977640"/>
            <a:ext cx="4663440" cy="2103120"/>
          </a:xfrm>
          <a:prstGeom prst="roundRect">
            <a:avLst>
              <a:gd name="adj" fmla="val 6087"/>
            </a:avLst>
          </a:prstGeom>
          <a:solidFill>
            <a:srgbClr val="F0F7FD"/>
          </a:solidFill>
          <a:ln w="3175">
            <a:solidFill>
              <a:srgbClr val="F0F7FD"/>
            </a:solidFill>
            <a:prstDash val="solid"/>
          </a:ln>
        </p:spPr>
      </p:sp>
      <p:sp>
        <p:nvSpPr>
          <p:cNvPr id="11" name="text"/>
          <p:cNvSpPr txBox="1"/>
          <p:nvPr/>
        </p:nvSpPr>
        <p:spPr>
          <a:xfrm>
            <a:off x="914400" y="3977640"/>
            <a:ext cx="4389120" cy="2103120"/>
          </a:xfrm>
          <a:prstGeom prst="rect">
            <a:avLst/>
          </a:prstGeom>
          <a:noFill/>
          <a:ln/>
        </p:spPr>
        <p:txBody>
          <a:bodyPr wrap="square" lIns="0" tIns="0" rIns="0" bIns="0" rtlCol="0" anchor="ctr"/>
          <a:lstStyle/>
          <a:p>
            <a:pPr algn="l" indent="0" marL="0">
              <a:buNone/>
            </a:pPr>
            <a:r>
              <a:rPr lang="en-US" sz="1150" b="1" dirty="0">
                <a:solidFill>
                  <a:srgbClr val="00274A"/>
                </a:solidFill>
              </a:rPr>
              <a:t>FCS</a:t>
            </a:r>
            <a:r>
              <a:rPr lang="en-US" sz="1150" dirty="0">
                <a:solidFill>
                  <a:srgbClr val="00274A"/>
                </a:solidFill>
              </a:rPr>
              <a:t> adalah penjadwalan interaktif terkomputerisasi dengan kapasitas berhingga: menerima data dari ERP/MRP, memperhitungkan </a:t>
            </a:r>
            <a:r>
              <a:rPr lang="en-US" sz="1150" i="1" dirty="0">
                <a:solidFill>
                  <a:srgbClr val="00274A"/>
                </a:solidFill>
              </a:rPr>
              <a:t>setup</a:t>
            </a:r>
            <a:r>
              <a:rPr lang="en-US" sz="1150" dirty="0">
                <a:solidFill>
                  <a:srgbClr val="00274A"/>
                </a:solidFill>
              </a:rPr>
              <a:t>, perawatan, dan lembur, menyajikan jadwal grafis yang dapat diubah secara </a:t>
            </a:r>
            <a:r>
              <a:rPr lang="en-US" sz="1150" i="1" dirty="0">
                <a:solidFill>
                  <a:srgbClr val="00274A"/>
                </a:solidFill>
              </a:rPr>
              <a:t>what-if</a:t>
            </a:r>
            <a:r>
              <a:rPr lang="en-US" sz="1150" dirty="0">
                <a:solidFill>
                  <a:srgbClr val="00274A"/>
                </a:solidFill>
              </a:rPr>
              <a:t>, serta memadukan </a:t>
            </a:r>
            <a:r>
              <a:rPr lang="en-US" sz="1150" i="1" dirty="0">
                <a:solidFill>
                  <a:srgbClr val="00274A"/>
                </a:solidFill>
              </a:rPr>
              <a:t>expert system</a:t>
            </a:r>
            <a:r>
              <a:rPr lang="en-US" sz="1150" dirty="0">
                <a:solidFill>
                  <a:srgbClr val="00274A"/>
                </a:solidFill>
              </a:rPr>
              <a:t> dan simulasi. Dalam istilah Slack et al. (2022), inilah </a:t>
            </a:r>
            <a:r>
              <a:rPr lang="en-US" sz="1150" i="1" dirty="0">
                <a:solidFill>
                  <a:srgbClr val="00274A"/>
                </a:solidFill>
              </a:rPr>
              <a:t>finite loading</a:t>
            </a:r>
            <a:r>
              <a:rPr lang="en-US" sz="1150" dirty="0">
                <a:solidFill>
                  <a:srgbClr val="00274A"/>
                </a:solidFill>
              </a:rPr>
              <a:t> yang terintegrasi dengan </a:t>
            </a:r>
            <a:r>
              <a:rPr lang="en-US" sz="1150" i="1" dirty="0">
                <a:solidFill>
                  <a:srgbClr val="00274A"/>
                </a:solidFill>
              </a:rPr>
              <a:t>monitoring and control</a:t>
            </a:r>
            <a:r>
              <a:rPr lang="en-US" sz="1150" dirty="0">
                <a:solidFill>
                  <a:srgbClr val="00274A"/>
                </a:solidFill>
              </a:rPr>
              <a:t>.</a:t>
            </a:r>
            <a:endParaRPr lang="en-US" sz="1150" dirty="0"/>
          </a:p>
        </p:txBody>
      </p:sp>
      <p:sp>
        <p:nvSpPr>
          <p:cNvPr id="12" name="card"/>
          <p:cNvSpPr/>
          <p:nvPr/>
        </p:nvSpPr>
        <p:spPr>
          <a:xfrm>
            <a:off x="5897880" y="1325880"/>
            <a:ext cx="5745175" cy="4910328"/>
          </a:xfrm>
          <a:prstGeom prst="roundRect">
            <a:avLst>
              <a:gd name="adj" fmla="val 2607"/>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13" name="icon circle"/>
          <p:cNvSpPr/>
          <p:nvPr/>
        </p:nvSpPr>
        <p:spPr>
          <a:xfrm>
            <a:off x="6126480" y="1508760"/>
            <a:ext cx="548640" cy="548640"/>
          </a:xfrm>
          <a:prstGeom prst="ellipse">
            <a:avLst/>
          </a:prstGeom>
          <a:solidFill>
            <a:srgbClr val="91BE62"/>
          </a:solidFill>
          <a:ln w="3175">
            <a:solidFill>
              <a:srgbClr val="91BE62"/>
            </a:solidFill>
            <a:prstDash val="solid"/>
          </a:ln>
        </p:spPr>
      </p:sp>
      <p:pic>
        <p:nvPicPr>
          <p:cNvPr id="14" name="icon FaSyncAlt" descr="preencoded.png">    </p:cNvPr>
          <p:cNvPicPr>
            <a:picLocks noChangeAspect="1"/>
          </p:cNvPicPr>
          <p:nvPr/>
        </p:nvPicPr>
        <p:blipFill>
          <a:blip r:embed="rId2"/>
          <a:stretch>
            <a:fillRect/>
          </a:stretch>
        </p:blipFill>
        <p:spPr>
          <a:xfrm>
            <a:off x="6263640" y="1645920"/>
            <a:ext cx="274320" cy="274320"/>
          </a:xfrm>
          <a:prstGeom prst="rect">
            <a:avLst/>
          </a:prstGeom>
        </p:spPr>
      </p:pic>
      <p:sp>
        <p:nvSpPr>
          <p:cNvPr id="15" name="text"/>
          <p:cNvSpPr txBox="1"/>
          <p:nvPr/>
        </p:nvSpPr>
        <p:spPr>
          <a:xfrm>
            <a:off x="6812280" y="1508760"/>
            <a:ext cx="4556455" cy="548640"/>
          </a:xfrm>
          <a:prstGeom prst="rect">
            <a:avLst/>
          </a:prstGeom>
          <a:noFill/>
          <a:ln/>
        </p:spPr>
        <p:txBody>
          <a:bodyPr wrap="square" lIns="0" tIns="0" rIns="0" bIns="0" rtlCol="0" anchor="ctr"/>
          <a:lstStyle/>
          <a:p>
            <a:pPr algn="l" indent="0" marL="0">
              <a:buNone/>
            </a:pPr>
            <a:r>
              <a:rPr lang="en-US" sz="1450" b="1" dirty="0">
                <a:solidFill>
                  <a:srgbClr val="00274A"/>
                </a:solidFill>
              </a:rPr>
              <a:t>Cyclical scheduling: petugas </a:t>
            </a:r>
            <a:r>
              <a:rPr lang="en-US" sz="1450" b="1" i="1" dirty="0">
                <a:solidFill>
                  <a:srgbClr val="00274A"/>
                </a:solidFill>
              </a:rPr>
              <a:t>gate</a:t>
            </a:r>
            <a:r>
              <a:rPr lang="en-US" sz="1450" b="1" dirty="0">
                <a:solidFill>
                  <a:srgbClr val="00274A"/>
                </a:solidFill>
              </a:rPr>
              <a:t> dengan dua hari libur berurutan</a:t>
            </a:r>
            <a:endParaRPr lang="en-US" sz="1450" dirty="0"/>
          </a:p>
        </p:txBody>
      </p:sp>
      <p:sp>
        <p:nvSpPr>
          <p:cNvPr id="16" name="text"/>
          <p:cNvSpPr txBox="1"/>
          <p:nvPr/>
        </p:nvSpPr>
        <p:spPr>
          <a:xfrm>
            <a:off x="6126480" y="2103120"/>
            <a:ext cx="5287975" cy="868680"/>
          </a:xfrm>
          <a:prstGeom prst="rect">
            <a:avLst/>
          </a:prstGeom>
          <a:noFill/>
          <a:ln/>
        </p:spPr>
        <p:txBody>
          <a:bodyPr wrap="square" lIns="0" tIns="0" rIns="0" bIns="0" rtlCol="0" anchor="t"/>
          <a:lstStyle/>
          <a:p>
            <a:pPr algn="l" indent="0" marL="0">
              <a:buNone/>
            </a:pPr>
            <a:r>
              <a:rPr lang="en-US" sz="1150" dirty="0">
                <a:solidFill>
                  <a:srgbClr val="00274A"/>
                </a:solidFill>
              </a:rPr>
              <a:t>Lima langkah: tetapkan kebutuhan harian; lingkari dua hari berurutan berkebutuhan terendah sebagai hari libur petugas pertama; kurangi 1 pada hari yang dikerjakan; ulangi hingga seluruh kebutuhan terpenuhi (ikatan: dahulukan Sabtu–Minggu).</a:t>
            </a:r>
            <a:endParaRPr lang="en-US" sz="115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6126480" y="3063240"/>
          <a:ext cx="5287975" cy="914400"/>
        </p:xfrm>
        <a:graphic>
          <a:graphicData uri="http://schemas.openxmlformats.org/drawingml/2006/table">
            <a:tbl>
              <a:tblPr/>
              <a:tblGrid>
                <a:gridCol w="1737360"/>
                <a:gridCol w="507231"/>
                <a:gridCol w="507231"/>
                <a:gridCol w="507231"/>
                <a:gridCol w="507231"/>
                <a:gridCol w="507231"/>
                <a:gridCol w="507231"/>
                <a:gridCol w="507231"/>
              </a:tblGrid>
              <a:tr h="365760">
                <a:tc>
                  <a:txBody>
                    <a:bodyPr/>
                    <a:lstStyle/>
                    <a:p>
                      <a:pPr algn="ctr" indent="0" marL="0">
                        <a:buNone/>
                      </a:pP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00274A"/>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Sen</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00274A"/>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Sel</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00274A"/>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Rab</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00274A"/>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Kam</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00274A"/>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Jum</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00274A"/>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Sab</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00274A"/>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Min</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00274A"/>
                    </a:solidFill>
                  </a:tcPr>
                </a:tc>
              </a:tr>
              <a:tr h="365760">
                <a:tc>
                  <a:txBody>
                    <a:bodyPr/>
                    <a:lstStyle/>
                    <a:p>
                      <a:pPr algn="l" indent="0" marL="0">
                        <a:buNone/>
                      </a:pPr>
                      <a:r>
                        <a:rPr lang="en-US" sz="1050" b="1" dirty="0">
                          <a:solidFill>
                            <a:srgbClr val="00274A"/>
                          </a:solidFill>
                          <a:latin typeface="Calibri" pitchFamily="34" charset="0"/>
                          <a:ea typeface="Calibri" pitchFamily="34" charset="-122"/>
                          <a:cs typeface="Calibri" pitchFamily="34" charset="-120"/>
                        </a:rPr>
                        <a:t>Kebutuhan</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274A"/>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274A"/>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274A"/>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274A"/>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274A"/>
                          </a:solidFill>
                          <a:latin typeface="Calibri" pitchFamily="34" charset="0"/>
                          <a:ea typeface="Calibri" pitchFamily="34" charset="-122"/>
                          <a:cs typeface="Calibri" pitchFamily="34" charset="-120"/>
                        </a:rPr>
                        <a:t>4</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274A"/>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274A"/>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00274A"/>
                          </a:solidFill>
                          <a:latin typeface="Calibri" pitchFamily="34" charset="0"/>
                          <a:ea typeface="Calibri" pitchFamily="34" charset="-122"/>
                          <a:cs typeface="Calibri" pitchFamily="34" charset="-120"/>
                        </a:rPr>
                        <a:t>Petugas 1–7 (hari libur)</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c>
                  <a:txBody>
                    <a:bodyPr/>
                    <a:lstStyle/>
                    <a:p>
                      <a:pPr algn="ctr" indent="0" marL="0">
                        <a:buNone/>
                      </a:pPr>
                      <a:r>
                        <a:rPr lang="en-US" sz="1050" dirty="0">
                          <a:solidFill>
                            <a:srgbClr val="00274A"/>
                          </a:solidFill>
                          <a:latin typeface="Calibri" pitchFamily="34" charset="0"/>
                          <a:ea typeface="Calibri" pitchFamily="34" charset="-122"/>
                          <a:cs typeface="Calibri" pitchFamily="34" charset="-120"/>
                        </a:rPr>
                        <a:t>P5, P7</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c>
                  <a:txBody>
                    <a:bodyPr/>
                    <a:lstStyle/>
                    <a:p>
                      <a:pPr algn="ctr" indent="0" marL="0">
                        <a:buNone/>
                      </a:pPr>
                      <a:r>
                        <a:rPr lang="en-US" sz="1050" dirty="0">
                          <a:solidFill>
                            <a:srgbClr val="00274A"/>
                          </a:solidFill>
                          <a:latin typeface="Calibri" pitchFamily="34" charset="0"/>
                          <a:ea typeface="Calibri" pitchFamily="34" charset="-122"/>
                          <a:cs typeface="Calibri" pitchFamily="34" charset="-120"/>
                        </a:rPr>
                        <a:t>P5, P7</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c>
                  <a:txBody>
                    <a:bodyPr/>
                    <a:lstStyle/>
                    <a:p>
                      <a:pPr algn="ctr" indent="0" marL="0">
                        <a:buNone/>
                      </a:pPr>
                      <a:r>
                        <a:rPr lang="en-US" sz="1050" dirty="0">
                          <a:solidFill>
                            <a:srgbClr val="00274A"/>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c>
                  <a:txBody>
                    <a:bodyPr/>
                    <a:lstStyle/>
                    <a:p>
                      <a:pPr algn="ctr" indent="0" marL="0">
                        <a:buNone/>
                      </a:pPr>
                      <a:r>
                        <a:rPr lang="en-US" sz="1050" dirty="0">
                          <a:solidFill>
                            <a:srgbClr val="00274A"/>
                          </a:solidFill>
                          <a:latin typeface="Calibri" pitchFamily="34" charset="0"/>
                          <a:ea typeface="Calibri" pitchFamily="34" charset="-122"/>
                          <a:cs typeface="Calibri" pitchFamily="34" charset="-120"/>
                        </a:rPr>
                        <a:t>P3, P6</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c>
                  <a:txBody>
                    <a:bodyPr/>
                    <a:lstStyle/>
                    <a:p>
                      <a:pPr algn="ctr" indent="0" marL="0">
                        <a:buNone/>
                      </a:pPr>
                      <a:r>
                        <a:rPr lang="en-US" sz="1050" dirty="0">
                          <a:solidFill>
                            <a:srgbClr val="00274A"/>
                          </a:solidFill>
                          <a:latin typeface="Calibri" pitchFamily="34" charset="0"/>
                          <a:ea typeface="Calibri" pitchFamily="34" charset="-122"/>
                          <a:cs typeface="Calibri" pitchFamily="34" charset="-120"/>
                        </a:rPr>
                        <a:t>P3, P6</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c>
                  <a:txBody>
                    <a:bodyPr/>
                    <a:lstStyle/>
                    <a:p>
                      <a:pPr algn="ctr" indent="0" marL="0">
                        <a:buNone/>
                      </a:pPr>
                      <a:r>
                        <a:rPr lang="en-US" sz="1050" dirty="0">
                          <a:solidFill>
                            <a:srgbClr val="00274A"/>
                          </a:solidFill>
                          <a:latin typeface="Calibri" pitchFamily="34" charset="0"/>
                          <a:ea typeface="Calibri" pitchFamily="34" charset="-122"/>
                          <a:cs typeface="Calibri" pitchFamily="34" charset="-120"/>
                        </a:rPr>
                        <a:t>P1, P2, P4</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c>
                  <a:txBody>
                    <a:bodyPr/>
                    <a:lstStyle/>
                    <a:p>
                      <a:pPr algn="ctr" indent="0" marL="0">
                        <a:buNone/>
                      </a:pPr>
                      <a:r>
                        <a:rPr lang="en-US" sz="1050" dirty="0">
                          <a:solidFill>
                            <a:srgbClr val="00274A"/>
                          </a:solidFill>
                          <a:latin typeface="Calibri" pitchFamily="34" charset="0"/>
                          <a:ea typeface="Calibri" pitchFamily="34" charset="-122"/>
                          <a:cs typeface="Calibri" pitchFamily="34" charset="-120"/>
                        </a:rPr>
                        <a:t>P1, P2, P4</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r>
              <a:tr h="365760">
                <a:tc>
                  <a:txBody>
                    <a:bodyPr/>
                    <a:lstStyle/>
                    <a:p>
                      <a:pPr algn="l" indent="0" marL="0">
                        <a:buNone/>
                      </a:pPr>
                      <a:r>
                        <a:rPr lang="en-US" sz="1050" b="1" dirty="0">
                          <a:solidFill>
                            <a:srgbClr val="00274A"/>
                          </a:solidFill>
                          <a:latin typeface="Calibri" pitchFamily="34" charset="0"/>
                          <a:ea typeface="Calibri" pitchFamily="34" charset="-122"/>
                          <a:cs typeface="Calibri" pitchFamily="34" charset="-120"/>
                        </a:rPr>
                        <a:t>Kapasitas tersedia</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274A"/>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274A"/>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274A"/>
                          </a:solidFill>
                          <a:latin typeface="Calibri" pitchFamily="34" charset="0"/>
                          <a:ea typeface="Calibri" pitchFamily="34" charset="-122"/>
                          <a:cs typeface="Calibri" pitchFamily="34" charset="-120"/>
                        </a:rPr>
                        <a:t>7</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274A"/>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274A"/>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274A"/>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274A"/>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00274A"/>
                          </a:solidFill>
                          <a:latin typeface="Calibri" pitchFamily="34" charset="0"/>
                          <a:ea typeface="Calibri" pitchFamily="34" charset="-122"/>
                          <a:cs typeface="Calibri" pitchFamily="34" charset="-120"/>
                        </a:rPr>
                        <a:t>Kelebihan kapasitas</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c>
                  <a:txBody>
                    <a:bodyPr/>
                    <a:lstStyle/>
                    <a:p>
                      <a:pPr algn="ctr" indent="0" marL="0">
                        <a:buNone/>
                      </a:pPr>
                      <a:r>
                        <a:rPr lang="en-US" sz="1050" dirty="0">
                          <a:solidFill>
                            <a:srgbClr val="0027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c>
                  <a:txBody>
                    <a:bodyPr/>
                    <a:lstStyle/>
                    <a:p>
                      <a:pPr algn="ctr" indent="0" marL="0">
                        <a:buNone/>
                      </a:pPr>
                      <a:r>
                        <a:rPr lang="en-US" sz="1050" dirty="0">
                          <a:solidFill>
                            <a:srgbClr val="0027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c>
                  <a:txBody>
                    <a:bodyPr/>
                    <a:lstStyle/>
                    <a:p>
                      <a:pPr algn="ctr" indent="0" marL="0">
                        <a:buNone/>
                      </a:pPr>
                      <a:r>
                        <a:rPr lang="en-US" sz="1050" dirty="0">
                          <a:solidFill>
                            <a:srgbClr val="0027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c>
                  <a:txBody>
                    <a:bodyPr/>
                    <a:lstStyle/>
                    <a:p>
                      <a:pPr algn="ctr" indent="0" marL="0">
                        <a:buNone/>
                      </a:pPr>
                      <a:r>
                        <a:rPr lang="en-US" sz="1050" dirty="0">
                          <a:solidFill>
                            <a:srgbClr val="0027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c>
                  <a:txBody>
                    <a:bodyPr/>
                    <a:lstStyle/>
                    <a:p>
                      <a:pPr algn="ctr" indent="0" marL="0">
                        <a:buNone/>
                      </a:pPr>
                      <a:r>
                        <a:rPr lang="en-US" sz="1050" dirty="0">
                          <a:solidFill>
                            <a:srgbClr val="0027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c>
                  <a:txBody>
                    <a:bodyPr/>
                    <a:lstStyle/>
                    <a:p>
                      <a:pPr algn="ctr" indent="0" marL="0">
                        <a:buNone/>
                      </a:pPr>
                      <a:r>
                        <a:rPr lang="en-US" sz="1050" dirty="0">
                          <a:solidFill>
                            <a:srgbClr val="0027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c>
                  <a:txBody>
                    <a:bodyPr/>
                    <a:lstStyle/>
                    <a:p>
                      <a:pPr algn="ctr" indent="0" marL="0">
                        <a:buNone/>
                      </a:pPr>
                      <a:r>
                        <a:rPr lang="en-US" sz="1050" dirty="0">
                          <a:solidFill>
                            <a:srgbClr val="0027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r>
            </a:tbl>
          </a:graphicData>
        </a:graphic>
      </p:graphicFrame>
      <p:sp>
        <p:nvSpPr>
          <p:cNvPr id="18" name="card"/>
          <p:cNvSpPr/>
          <p:nvPr/>
        </p:nvSpPr>
        <p:spPr>
          <a:xfrm>
            <a:off x="6126480" y="4983480"/>
            <a:ext cx="5287975" cy="1097280"/>
          </a:xfrm>
          <a:prstGeom prst="roundRect">
            <a:avLst>
              <a:gd name="adj" fmla="val 11667"/>
            </a:avLst>
          </a:prstGeom>
          <a:solidFill>
            <a:srgbClr val="00274A"/>
          </a:solidFill>
          <a:ln w="3175">
            <a:solidFill>
              <a:srgbClr val="00274A"/>
            </a:solidFill>
            <a:prstDash val="solid"/>
          </a:ln>
        </p:spPr>
      </p:sp>
      <p:sp>
        <p:nvSpPr>
          <p:cNvPr id="19" name="text"/>
          <p:cNvSpPr txBox="1"/>
          <p:nvPr/>
        </p:nvSpPr>
        <p:spPr>
          <a:xfrm>
            <a:off x="6263640" y="4983480"/>
            <a:ext cx="5013655" cy="1097280"/>
          </a:xfrm>
          <a:prstGeom prst="rect">
            <a:avLst/>
          </a:prstGeom>
          <a:noFill/>
          <a:ln/>
        </p:spPr>
        <p:txBody>
          <a:bodyPr wrap="square" lIns="0" tIns="0" rIns="0" bIns="0" rtlCol="0" anchor="ctr"/>
          <a:lstStyle/>
          <a:p>
            <a:pPr algn="l" indent="0" marL="0">
              <a:buNone/>
            </a:pPr>
            <a:r>
              <a:rPr lang="en-US" sz="1150" b="1" dirty="0">
                <a:solidFill>
                  <a:srgbClr val="FFFFFF"/>
                </a:solidFill>
              </a:rPr>
              <a:t>Hasil:</a:t>
            </a:r>
            <a:r>
              <a:rPr lang="en-US" sz="1150" dirty="0">
                <a:solidFill>
                  <a:srgbClr val="FFFFFF"/>
                </a:solidFill>
              </a:rPr>
              <a:t> tujuh petugas memenuhi kebutuhan 31 orang-hari dengan total kelebihan 4 orang-hari. Teknik ini dipakai luas untuk perawat, polisi, kasir, dan staf layanan bandara yang kebutuhannya bervariasi antarhari.</a:t>
            </a:r>
            <a:endParaRPr lang="en-US" sz="1150" dirty="0"/>
          </a:p>
        </p:txBody>
      </p:sp>
      <p:sp>
        <p:nvSpPr>
          <p:cNvPr id="25" name="Slide Number Placeholder 0"/>
          <p:cNvSpPr>
            <a:spLocks noGrp="1"/>
          </p:cNvSpPr>
          <p:nvPr>
            <p:ph type="sldNum" sz="quarter" idx="4294967295"/>
          </p:nvPr>
        </p:nvSpPr>
        <p:spPr>
          <a:xfrm>
            <a:off x="11064240" y="6428232"/>
            <a:ext cx="576072"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01426A"/>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3" name="section image" descr="/tmp/claude-0/-home-user-Dom-Manipulation/385e5267-c23e-5c04-80f5-d5fb4946a902/scratchpad/build/img/ops_center.png">    </p:cNvPr>
          <p:cNvPicPr>
            <a:picLocks noChangeAspect="1"/>
          </p:cNvPicPr>
          <p:nvPr/>
        </p:nvPicPr>
        <p:blipFill>
          <a:blip r:embed="rId1"/>
          <a:srcRect l="0" r="0" t="0" b="0"/>
          <a:stretch/>
        </p:blipFill>
        <p:spPr>
          <a:xfrm>
            <a:off x="5760720" y="0"/>
            <a:ext cx="6430975" cy="6858000"/>
          </a:xfrm>
          <a:prstGeom prst="rect">
            <a:avLst/>
          </a:prstGeom>
        </p:spPr>
      </p:pic>
      <p:sp>
        <p:nvSpPr>
          <p:cNvPr id="4" name="pill"/>
          <p:cNvSpPr/>
          <p:nvPr/>
        </p:nvSpPr>
        <p:spPr>
          <a:xfrm>
            <a:off x="640080" y="2057400"/>
            <a:ext cx="1554480" cy="365760"/>
          </a:xfrm>
          <a:prstGeom prst="roundRect">
            <a:avLst>
              <a:gd name="adj" fmla="val 50000"/>
            </a:avLst>
          </a:prstGeom>
          <a:solidFill>
            <a:srgbClr val="00CFF0"/>
          </a:solidFill>
          <a:ln w="3175">
            <a:solidFill>
              <a:srgbClr val="00CFF0"/>
            </a:solidFill>
            <a:prstDash val="solid"/>
          </a:ln>
        </p:spPr>
      </p:sp>
      <p:sp>
        <p:nvSpPr>
          <p:cNvPr id="5" name="pill label"/>
          <p:cNvSpPr txBox="1"/>
          <p:nvPr/>
        </p:nvSpPr>
        <p:spPr>
          <a:xfrm>
            <a:off x="640080" y="2057400"/>
            <a:ext cx="1554480" cy="365760"/>
          </a:xfrm>
          <a:prstGeom prst="rect">
            <a:avLst/>
          </a:prstGeom>
          <a:noFill/>
          <a:ln/>
        </p:spPr>
        <p:txBody>
          <a:bodyPr wrap="square" lIns="0" tIns="0" rIns="0" bIns="0" rtlCol="0" anchor="ctr"/>
          <a:lstStyle/>
          <a:p>
            <a:pPr algn="ctr" indent="0" marL="0">
              <a:buNone/>
            </a:pPr>
            <a:r>
              <a:rPr lang="en-US" sz="1100" b="1" dirty="0">
                <a:solidFill>
                  <a:srgbClr val="00274A"/>
                </a:solidFill>
              </a:rPr>
              <a:t>BAGIAN 4</a:t>
            </a:r>
            <a:endParaRPr lang="en-US" sz="1100" dirty="0"/>
          </a:p>
        </p:txBody>
      </p:sp>
      <p:sp>
        <p:nvSpPr>
          <p:cNvPr id="6" name="text"/>
          <p:cNvSpPr txBox="1"/>
          <p:nvPr/>
        </p:nvSpPr>
        <p:spPr>
          <a:xfrm>
            <a:off x="640080" y="2560320"/>
            <a:ext cx="4754880" cy="1554480"/>
          </a:xfrm>
          <a:prstGeom prst="rect">
            <a:avLst/>
          </a:prstGeom>
          <a:noFill/>
          <a:ln/>
        </p:spPr>
        <p:txBody>
          <a:bodyPr wrap="square" lIns="0" tIns="0" rIns="0" bIns="0" rtlCol="0" anchor="t"/>
          <a:lstStyle/>
          <a:p>
            <a:pPr algn="l" indent="0" marL="0">
              <a:buNone/>
            </a:pPr>
            <a:r>
              <a:rPr lang="en-US" sz="3400" b="1" dirty="0">
                <a:solidFill>
                  <a:srgbClr val="FFFFFF"/>
                </a:solidFill>
              </a:rPr>
              <a:t>Studi Kasus: Alaska Airlines</a:t>
            </a:r>
            <a:endParaRPr lang="en-US" sz="3400" dirty="0"/>
          </a:p>
        </p:txBody>
      </p:sp>
      <p:sp>
        <p:nvSpPr>
          <p:cNvPr id="7" name="text"/>
          <p:cNvSpPr txBox="1"/>
          <p:nvPr/>
        </p:nvSpPr>
        <p:spPr>
          <a:xfrm>
            <a:off x="640080" y="4160520"/>
            <a:ext cx="4754880" cy="1005840"/>
          </a:xfrm>
          <a:prstGeom prst="rect">
            <a:avLst/>
          </a:prstGeom>
          <a:noFill/>
          <a:ln/>
        </p:spPr>
        <p:txBody>
          <a:bodyPr wrap="square" lIns="0" tIns="0" rIns="0" bIns="0" rtlCol="0" anchor="t"/>
          <a:lstStyle/>
          <a:p>
            <a:pPr algn="l" indent="0" marL="0">
              <a:buNone/>
            </a:pPr>
            <a:r>
              <a:rPr lang="en-US" sz="1500" dirty="0">
                <a:solidFill>
                  <a:srgbClr val="C1DAF0"/>
                </a:solidFill>
              </a:rPr>
              <a:t>Menerapkan kerangka Bagian 1–3: profil, permasalahan, analisis, evaluasi, dan rekomendasi.</a:t>
            </a:r>
            <a:endParaRPr lang="en-US" sz="1500" dirty="0"/>
          </a:p>
        </p:txBody>
      </p:sp>
      <p:sp>
        <p:nvSpPr>
          <p:cNvPr id="8" name="text"/>
          <p:cNvSpPr txBox="1"/>
          <p:nvPr/>
        </p:nvSpPr>
        <p:spPr>
          <a:xfrm>
            <a:off x="640080" y="5257800"/>
            <a:ext cx="4754880" cy="457200"/>
          </a:xfrm>
          <a:prstGeom prst="rect">
            <a:avLst/>
          </a:prstGeom>
          <a:noFill/>
          <a:ln/>
        </p:spPr>
        <p:txBody>
          <a:bodyPr wrap="square" lIns="0" tIns="0" rIns="0" bIns="0" rtlCol="0" anchor="t"/>
          <a:lstStyle/>
          <a:p>
            <a:pPr algn="l" indent="0" marL="0">
              <a:buNone/>
            </a:pPr>
            <a:r>
              <a:rPr lang="en-US" sz="1200" b="1" dirty="0">
                <a:solidFill>
                  <a:srgbClr val="00CFF0"/>
                </a:solidFill>
              </a:rPr>
              <a:t>Case Study 5  ·  HRM Bab 15 (Global Company Profile)</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000" b="1" dirty="0">
                <a:solidFill>
                  <a:srgbClr val="00274A"/>
                </a:solidFill>
              </a:rPr>
              <a:t>Profil Alaska Airlines: Skala Operasi yang Dijadwalkan Setiap Hari</a:t>
            </a:r>
            <a:endParaRPr lang="en-US" sz="3000" dirty="0"/>
          </a:p>
        </p:txBody>
      </p:sp>
      <p:sp>
        <p:nvSpPr>
          <p:cNvPr id="4" name="card"/>
          <p:cNvSpPr/>
          <p:nvPr/>
        </p:nvSpPr>
        <p:spPr>
          <a:xfrm>
            <a:off x="548640" y="1325880"/>
            <a:ext cx="2011680" cy="1920240"/>
          </a:xfrm>
          <a:prstGeom prst="roundRect">
            <a:avLst>
              <a:gd name="adj" fmla="val 6667"/>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5" name="icon circle"/>
          <p:cNvSpPr/>
          <p:nvPr/>
        </p:nvSpPr>
        <p:spPr>
          <a:xfrm>
            <a:off x="731520" y="1508760"/>
            <a:ext cx="457200" cy="457200"/>
          </a:xfrm>
          <a:prstGeom prst="ellipse">
            <a:avLst/>
          </a:prstGeom>
          <a:solidFill>
            <a:srgbClr val="00CFF0"/>
          </a:solidFill>
          <a:ln w="3175">
            <a:solidFill>
              <a:srgbClr val="00CFF0"/>
            </a:solidFill>
            <a:prstDash val="solid"/>
          </a:ln>
        </p:spPr>
      </p:sp>
      <p:pic>
        <p:nvPicPr>
          <p:cNvPr id="6" name="icon FaMapMarkedAlt" descr="preencoded.png">    </p:cNvPr>
          <p:cNvPicPr>
            <a:picLocks noChangeAspect="1"/>
          </p:cNvPicPr>
          <p:nvPr/>
        </p:nvPicPr>
        <p:blipFill>
          <a:blip r:embed="rId1"/>
          <a:stretch>
            <a:fillRect/>
          </a:stretch>
        </p:blipFill>
        <p:spPr>
          <a:xfrm>
            <a:off x="845820" y="1623060"/>
            <a:ext cx="228600" cy="228600"/>
          </a:xfrm>
          <a:prstGeom prst="rect">
            <a:avLst/>
          </a:prstGeom>
        </p:spPr>
      </p:pic>
      <p:sp>
        <p:nvSpPr>
          <p:cNvPr id="7" name="text"/>
          <p:cNvSpPr txBox="1"/>
          <p:nvPr/>
        </p:nvSpPr>
        <p:spPr>
          <a:xfrm>
            <a:off x="731520" y="2011680"/>
            <a:ext cx="1645920" cy="457200"/>
          </a:xfrm>
          <a:prstGeom prst="rect">
            <a:avLst/>
          </a:prstGeom>
          <a:noFill/>
          <a:ln/>
        </p:spPr>
        <p:txBody>
          <a:bodyPr wrap="square" lIns="0" tIns="0" rIns="0" bIns="0" rtlCol="0" anchor="t"/>
          <a:lstStyle/>
          <a:p>
            <a:pPr algn="l" indent="0" marL="0">
              <a:buNone/>
            </a:pPr>
            <a:r>
              <a:rPr lang="en-US" sz="2400" b="1" dirty="0">
                <a:solidFill>
                  <a:srgbClr val="0074C8"/>
                </a:solidFill>
              </a:rPr>
              <a:t>140+</a:t>
            </a:r>
            <a:endParaRPr lang="en-US" sz="2400" dirty="0"/>
          </a:p>
        </p:txBody>
      </p:sp>
      <p:sp>
        <p:nvSpPr>
          <p:cNvPr id="8" name="text"/>
          <p:cNvSpPr txBox="1"/>
          <p:nvPr/>
        </p:nvSpPr>
        <p:spPr>
          <a:xfrm>
            <a:off x="731520" y="2468880"/>
            <a:ext cx="1645920" cy="548640"/>
          </a:xfrm>
          <a:prstGeom prst="rect">
            <a:avLst/>
          </a:prstGeom>
          <a:noFill/>
          <a:ln/>
        </p:spPr>
        <p:txBody>
          <a:bodyPr wrap="square" lIns="0" tIns="0" rIns="0" bIns="0" rtlCol="0" anchor="t"/>
          <a:lstStyle/>
          <a:p>
            <a:pPr algn="l" indent="0" marL="0">
              <a:buNone/>
            </a:pPr>
            <a:r>
              <a:rPr lang="en-US" sz="1050" dirty="0">
                <a:solidFill>
                  <a:srgbClr val="00274A"/>
                </a:solidFill>
              </a:rPr>
              <a:t>destinasi di Amerika Utara, Amerika Tengah, Asia, dan Pasifik</a:t>
            </a:r>
            <a:endParaRPr lang="en-US" sz="1050" dirty="0"/>
          </a:p>
        </p:txBody>
      </p:sp>
      <p:sp>
        <p:nvSpPr>
          <p:cNvPr id="9" name="text"/>
          <p:cNvSpPr txBox="1"/>
          <p:nvPr/>
        </p:nvSpPr>
        <p:spPr>
          <a:xfrm>
            <a:off x="731520" y="2990088"/>
            <a:ext cx="1645920" cy="228600"/>
          </a:xfrm>
          <a:prstGeom prst="rect">
            <a:avLst/>
          </a:prstGeom>
          <a:noFill/>
          <a:ln/>
        </p:spPr>
        <p:txBody>
          <a:bodyPr wrap="square" lIns="0" tIns="0" rIns="0" bIns="0" rtlCol="0" anchor="t"/>
          <a:lstStyle/>
          <a:p>
            <a:pPr algn="l" indent="0" marL="0">
              <a:buNone/>
            </a:pPr>
            <a:r>
              <a:rPr lang="en-US" sz="850" i="1" dirty="0">
                <a:solidFill>
                  <a:srgbClr val="585E67"/>
                </a:solidFill>
              </a:rPr>
              <a:t>Alaska Air Group (fact sheet)</a:t>
            </a:r>
            <a:endParaRPr lang="en-US" sz="850" dirty="0"/>
          </a:p>
        </p:txBody>
      </p:sp>
      <p:sp>
        <p:nvSpPr>
          <p:cNvPr id="10" name="card"/>
          <p:cNvSpPr/>
          <p:nvPr/>
        </p:nvSpPr>
        <p:spPr>
          <a:xfrm>
            <a:off x="2743200" y="1325880"/>
            <a:ext cx="2011680" cy="1920240"/>
          </a:xfrm>
          <a:prstGeom prst="roundRect">
            <a:avLst>
              <a:gd name="adj" fmla="val 6667"/>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11" name="icon circle"/>
          <p:cNvSpPr/>
          <p:nvPr/>
        </p:nvSpPr>
        <p:spPr>
          <a:xfrm>
            <a:off x="2926080" y="1508760"/>
            <a:ext cx="457200" cy="457200"/>
          </a:xfrm>
          <a:prstGeom prst="ellipse">
            <a:avLst/>
          </a:prstGeom>
          <a:solidFill>
            <a:srgbClr val="00CFF0"/>
          </a:solidFill>
          <a:ln w="3175">
            <a:solidFill>
              <a:srgbClr val="00CFF0"/>
            </a:solidFill>
            <a:prstDash val="solid"/>
          </a:ln>
        </p:spPr>
      </p:sp>
      <p:pic>
        <p:nvPicPr>
          <p:cNvPr id="12" name="icon FaUsers" descr="preencoded.png">    </p:cNvPr>
          <p:cNvPicPr>
            <a:picLocks noChangeAspect="1"/>
          </p:cNvPicPr>
          <p:nvPr/>
        </p:nvPicPr>
        <p:blipFill>
          <a:blip r:embed="rId2"/>
          <a:stretch>
            <a:fillRect/>
          </a:stretch>
        </p:blipFill>
        <p:spPr>
          <a:xfrm>
            <a:off x="3040380" y="1623060"/>
            <a:ext cx="228600" cy="228600"/>
          </a:xfrm>
          <a:prstGeom prst="rect">
            <a:avLst/>
          </a:prstGeom>
        </p:spPr>
      </p:pic>
      <p:sp>
        <p:nvSpPr>
          <p:cNvPr id="13" name="text"/>
          <p:cNvSpPr txBox="1"/>
          <p:nvPr/>
        </p:nvSpPr>
        <p:spPr>
          <a:xfrm>
            <a:off x="2926080" y="2011680"/>
            <a:ext cx="1645920" cy="457200"/>
          </a:xfrm>
          <a:prstGeom prst="rect">
            <a:avLst/>
          </a:prstGeom>
          <a:noFill/>
          <a:ln/>
        </p:spPr>
        <p:txBody>
          <a:bodyPr wrap="square" lIns="0" tIns="0" rIns="0" bIns="0" rtlCol="0" anchor="t"/>
          <a:lstStyle/>
          <a:p>
            <a:pPr algn="l" indent="0" marL="0">
              <a:buNone/>
            </a:pPr>
            <a:r>
              <a:rPr lang="en-US" sz="2400" b="1" dirty="0">
                <a:solidFill>
                  <a:srgbClr val="0074C8"/>
                </a:solidFill>
              </a:rPr>
              <a:t>30.000+</a:t>
            </a:r>
            <a:endParaRPr lang="en-US" sz="2400" dirty="0"/>
          </a:p>
        </p:txBody>
      </p:sp>
      <p:sp>
        <p:nvSpPr>
          <p:cNvPr id="14" name="text"/>
          <p:cNvSpPr txBox="1"/>
          <p:nvPr/>
        </p:nvSpPr>
        <p:spPr>
          <a:xfrm>
            <a:off x="2926080" y="2468880"/>
            <a:ext cx="1645920" cy="548640"/>
          </a:xfrm>
          <a:prstGeom prst="rect">
            <a:avLst/>
          </a:prstGeom>
          <a:noFill/>
          <a:ln/>
        </p:spPr>
        <p:txBody>
          <a:bodyPr wrap="square" lIns="0" tIns="0" rIns="0" bIns="0" rtlCol="0" anchor="t"/>
          <a:lstStyle/>
          <a:p>
            <a:pPr algn="l" indent="0" marL="0">
              <a:buNone/>
            </a:pPr>
            <a:r>
              <a:rPr lang="en-US" sz="1050" dirty="0">
                <a:solidFill>
                  <a:srgbClr val="00274A"/>
                </a:solidFill>
              </a:rPr>
              <a:t>karyawan Alaska Air Group (Alaska, Horizon, Hawaiian)</a:t>
            </a:r>
            <a:endParaRPr lang="en-US" sz="1050" dirty="0"/>
          </a:p>
        </p:txBody>
      </p:sp>
      <p:sp>
        <p:nvSpPr>
          <p:cNvPr id="15" name="text"/>
          <p:cNvSpPr txBox="1"/>
          <p:nvPr/>
        </p:nvSpPr>
        <p:spPr>
          <a:xfrm>
            <a:off x="2926080" y="2990088"/>
            <a:ext cx="1645920" cy="228600"/>
          </a:xfrm>
          <a:prstGeom prst="rect">
            <a:avLst/>
          </a:prstGeom>
          <a:noFill/>
          <a:ln/>
        </p:spPr>
        <p:txBody>
          <a:bodyPr wrap="square" lIns="0" tIns="0" rIns="0" bIns="0" rtlCol="0" anchor="t"/>
          <a:lstStyle/>
          <a:p>
            <a:pPr algn="l" indent="0" marL="0">
              <a:buNone/>
            </a:pPr>
            <a:r>
              <a:rPr lang="en-US" sz="850" i="1" dirty="0">
                <a:solidFill>
                  <a:srgbClr val="585E67"/>
                </a:solidFill>
              </a:rPr>
              <a:t>Alaska Air Group (fact sheet)</a:t>
            </a:r>
            <a:endParaRPr lang="en-US" sz="850" dirty="0"/>
          </a:p>
        </p:txBody>
      </p:sp>
      <p:sp>
        <p:nvSpPr>
          <p:cNvPr id="16" name="card"/>
          <p:cNvSpPr/>
          <p:nvPr/>
        </p:nvSpPr>
        <p:spPr>
          <a:xfrm>
            <a:off x="4937760" y="1325880"/>
            <a:ext cx="2011680" cy="1920240"/>
          </a:xfrm>
          <a:prstGeom prst="roundRect">
            <a:avLst>
              <a:gd name="adj" fmla="val 6667"/>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17" name="icon circle"/>
          <p:cNvSpPr/>
          <p:nvPr/>
        </p:nvSpPr>
        <p:spPr>
          <a:xfrm>
            <a:off x="5120640" y="1508760"/>
            <a:ext cx="457200" cy="457200"/>
          </a:xfrm>
          <a:prstGeom prst="ellipse">
            <a:avLst/>
          </a:prstGeom>
          <a:solidFill>
            <a:srgbClr val="00CFF0"/>
          </a:solidFill>
          <a:ln w="3175">
            <a:solidFill>
              <a:srgbClr val="00CFF0"/>
            </a:solidFill>
            <a:prstDash val="solid"/>
          </a:ln>
        </p:spPr>
      </p:sp>
      <p:pic>
        <p:nvPicPr>
          <p:cNvPr id="18" name="icon FaPlane" descr="preencoded.png">    </p:cNvPr>
          <p:cNvPicPr>
            <a:picLocks noChangeAspect="1"/>
          </p:cNvPicPr>
          <p:nvPr/>
        </p:nvPicPr>
        <p:blipFill>
          <a:blip r:embed="rId3"/>
          <a:stretch>
            <a:fillRect/>
          </a:stretch>
        </p:blipFill>
        <p:spPr>
          <a:xfrm>
            <a:off x="5234940" y="1623060"/>
            <a:ext cx="228600" cy="228600"/>
          </a:xfrm>
          <a:prstGeom prst="rect">
            <a:avLst/>
          </a:prstGeom>
        </p:spPr>
      </p:pic>
      <p:sp>
        <p:nvSpPr>
          <p:cNvPr id="19" name="text"/>
          <p:cNvSpPr txBox="1"/>
          <p:nvPr/>
        </p:nvSpPr>
        <p:spPr>
          <a:xfrm>
            <a:off x="5120640" y="2011680"/>
            <a:ext cx="1645920" cy="457200"/>
          </a:xfrm>
          <a:prstGeom prst="rect">
            <a:avLst/>
          </a:prstGeom>
          <a:noFill/>
          <a:ln/>
        </p:spPr>
        <p:txBody>
          <a:bodyPr wrap="square" lIns="0" tIns="0" rIns="0" bIns="0" rtlCol="0" anchor="t"/>
          <a:lstStyle/>
          <a:p>
            <a:pPr algn="l" indent="0" marL="0">
              <a:buNone/>
            </a:pPr>
            <a:r>
              <a:rPr lang="en-US" sz="2400" b="1" dirty="0">
                <a:solidFill>
                  <a:srgbClr val="0074C8"/>
                </a:solidFill>
              </a:rPr>
              <a:t>392</a:t>
            </a:r>
            <a:endParaRPr lang="en-US" sz="2400" dirty="0"/>
          </a:p>
        </p:txBody>
      </p:sp>
      <p:sp>
        <p:nvSpPr>
          <p:cNvPr id="20" name="text"/>
          <p:cNvSpPr txBox="1"/>
          <p:nvPr/>
        </p:nvSpPr>
        <p:spPr>
          <a:xfrm>
            <a:off x="5120640" y="2468880"/>
            <a:ext cx="1645920" cy="548640"/>
          </a:xfrm>
          <a:prstGeom prst="rect">
            <a:avLst/>
          </a:prstGeom>
          <a:noFill/>
          <a:ln/>
        </p:spPr>
        <p:txBody>
          <a:bodyPr wrap="square" lIns="0" tIns="0" rIns="0" bIns="0" rtlCol="0" anchor="t"/>
          <a:lstStyle/>
          <a:p>
            <a:pPr algn="l" indent="0" marL="0">
              <a:buNone/>
            </a:pPr>
            <a:r>
              <a:rPr lang="en-US" sz="1050" dirty="0">
                <a:solidFill>
                  <a:srgbClr val="00274A"/>
                </a:solidFill>
              </a:rPr>
              <a:t>pesawat pada akhir 2024: 239 Alaska, 44 Horizon, 71 Hawaiian</a:t>
            </a:r>
            <a:endParaRPr lang="en-US" sz="1050" dirty="0"/>
          </a:p>
        </p:txBody>
      </p:sp>
      <p:sp>
        <p:nvSpPr>
          <p:cNvPr id="21" name="text"/>
          <p:cNvSpPr txBox="1"/>
          <p:nvPr/>
        </p:nvSpPr>
        <p:spPr>
          <a:xfrm>
            <a:off x="5120640" y="2990088"/>
            <a:ext cx="1645920" cy="228600"/>
          </a:xfrm>
          <a:prstGeom prst="rect">
            <a:avLst/>
          </a:prstGeom>
          <a:noFill/>
          <a:ln/>
        </p:spPr>
        <p:txBody>
          <a:bodyPr wrap="square" lIns="0" tIns="0" rIns="0" bIns="0" rtlCol="0" anchor="t"/>
          <a:lstStyle/>
          <a:p>
            <a:pPr algn="l" indent="0" marL="0">
              <a:buNone/>
            </a:pPr>
            <a:r>
              <a:rPr lang="en-US" sz="850" i="1" dirty="0">
                <a:solidFill>
                  <a:srgbClr val="585E67"/>
                </a:solidFill>
              </a:rPr>
              <a:t>Aviacionline (2025)</a:t>
            </a:r>
            <a:endParaRPr lang="en-US" sz="850" dirty="0"/>
          </a:p>
        </p:txBody>
      </p:sp>
      <p:sp>
        <p:nvSpPr>
          <p:cNvPr id="22" name="card"/>
          <p:cNvSpPr/>
          <p:nvPr/>
        </p:nvSpPr>
        <p:spPr>
          <a:xfrm>
            <a:off x="548640" y="3429000"/>
            <a:ext cx="2011680" cy="1920240"/>
          </a:xfrm>
          <a:prstGeom prst="roundRect">
            <a:avLst>
              <a:gd name="adj" fmla="val 6667"/>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23" name="icon circle"/>
          <p:cNvSpPr/>
          <p:nvPr/>
        </p:nvSpPr>
        <p:spPr>
          <a:xfrm>
            <a:off x="731520" y="3611880"/>
            <a:ext cx="457200" cy="457200"/>
          </a:xfrm>
          <a:prstGeom prst="ellipse">
            <a:avLst/>
          </a:prstGeom>
          <a:solidFill>
            <a:srgbClr val="91BE62"/>
          </a:solidFill>
          <a:ln w="3175">
            <a:solidFill>
              <a:srgbClr val="91BE62"/>
            </a:solidFill>
            <a:prstDash val="solid"/>
          </a:ln>
        </p:spPr>
      </p:sp>
      <p:pic>
        <p:nvPicPr>
          <p:cNvPr id="24" name="icon FaPercentage" descr="preencoded.png">    </p:cNvPr>
          <p:cNvPicPr>
            <a:picLocks noChangeAspect="1"/>
          </p:cNvPicPr>
          <p:nvPr/>
        </p:nvPicPr>
        <p:blipFill>
          <a:blip r:embed="rId4"/>
          <a:stretch>
            <a:fillRect/>
          </a:stretch>
        </p:blipFill>
        <p:spPr>
          <a:xfrm>
            <a:off x="845820" y="3726180"/>
            <a:ext cx="228600" cy="228600"/>
          </a:xfrm>
          <a:prstGeom prst="rect">
            <a:avLst/>
          </a:prstGeom>
        </p:spPr>
      </p:pic>
      <p:sp>
        <p:nvSpPr>
          <p:cNvPr id="25" name="text"/>
          <p:cNvSpPr txBox="1"/>
          <p:nvPr/>
        </p:nvSpPr>
        <p:spPr>
          <a:xfrm>
            <a:off x="731520" y="4114800"/>
            <a:ext cx="1645920" cy="457200"/>
          </a:xfrm>
          <a:prstGeom prst="rect">
            <a:avLst/>
          </a:prstGeom>
          <a:noFill/>
          <a:ln/>
        </p:spPr>
        <p:txBody>
          <a:bodyPr wrap="square" lIns="0" tIns="0" rIns="0" bIns="0" rtlCol="0" anchor="t"/>
          <a:lstStyle/>
          <a:p>
            <a:pPr algn="l" indent="0" marL="0">
              <a:buNone/>
            </a:pPr>
            <a:r>
              <a:rPr lang="en-US" sz="2400" b="1" dirty="0">
                <a:solidFill>
                  <a:srgbClr val="0074C8"/>
                </a:solidFill>
              </a:rPr>
              <a:t>&gt;50%</a:t>
            </a:r>
            <a:endParaRPr lang="en-US" sz="2400" dirty="0"/>
          </a:p>
        </p:txBody>
      </p:sp>
      <p:sp>
        <p:nvSpPr>
          <p:cNvPr id="26" name="text"/>
          <p:cNvSpPr txBox="1"/>
          <p:nvPr/>
        </p:nvSpPr>
        <p:spPr>
          <a:xfrm>
            <a:off x="731520" y="4572000"/>
            <a:ext cx="1645920" cy="548640"/>
          </a:xfrm>
          <a:prstGeom prst="rect">
            <a:avLst/>
          </a:prstGeom>
          <a:noFill/>
          <a:ln/>
        </p:spPr>
        <p:txBody>
          <a:bodyPr wrap="square" lIns="0" tIns="0" rIns="0" bIns="0" rtlCol="0" anchor="t"/>
          <a:lstStyle/>
          <a:p>
            <a:pPr algn="l" indent="0" marL="0">
              <a:buNone/>
            </a:pPr>
            <a:r>
              <a:rPr lang="en-US" sz="1050" dirty="0">
                <a:solidFill>
                  <a:srgbClr val="00274A"/>
                </a:solidFill>
              </a:rPr>
              <a:t>penerbangan domestik di Seattle–Tacoma (SEA), hub utama</a:t>
            </a:r>
            <a:endParaRPr lang="en-US" sz="1050" dirty="0"/>
          </a:p>
        </p:txBody>
      </p:sp>
      <p:sp>
        <p:nvSpPr>
          <p:cNvPr id="27" name="text"/>
          <p:cNvSpPr txBox="1"/>
          <p:nvPr/>
        </p:nvSpPr>
        <p:spPr>
          <a:xfrm>
            <a:off x="731520" y="5093208"/>
            <a:ext cx="1645920" cy="228600"/>
          </a:xfrm>
          <a:prstGeom prst="rect">
            <a:avLst/>
          </a:prstGeom>
          <a:noFill/>
          <a:ln/>
        </p:spPr>
        <p:txBody>
          <a:bodyPr wrap="square" lIns="0" tIns="0" rIns="0" bIns="0" rtlCol="0" anchor="t"/>
          <a:lstStyle/>
          <a:p>
            <a:pPr algn="l" indent="0" marL="0">
              <a:buNone/>
            </a:pPr>
            <a:r>
              <a:rPr lang="en-US" sz="850" i="1" dirty="0">
                <a:solidFill>
                  <a:srgbClr val="585E67"/>
                </a:solidFill>
              </a:rPr>
              <a:t>Heizer et al. (2017)</a:t>
            </a:r>
            <a:endParaRPr lang="en-US" sz="850" dirty="0"/>
          </a:p>
        </p:txBody>
      </p:sp>
      <p:sp>
        <p:nvSpPr>
          <p:cNvPr id="28" name="card"/>
          <p:cNvSpPr/>
          <p:nvPr/>
        </p:nvSpPr>
        <p:spPr>
          <a:xfrm>
            <a:off x="2743200" y="3429000"/>
            <a:ext cx="2011680" cy="1920240"/>
          </a:xfrm>
          <a:prstGeom prst="roundRect">
            <a:avLst>
              <a:gd name="adj" fmla="val 6667"/>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29" name="icon circle"/>
          <p:cNvSpPr/>
          <p:nvPr/>
        </p:nvSpPr>
        <p:spPr>
          <a:xfrm>
            <a:off x="2926080" y="3611880"/>
            <a:ext cx="457200" cy="457200"/>
          </a:xfrm>
          <a:prstGeom prst="ellipse">
            <a:avLst/>
          </a:prstGeom>
          <a:solidFill>
            <a:srgbClr val="91BE62"/>
          </a:solidFill>
          <a:ln w="3175">
            <a:solidFill>
              <a:srgbClr val="91BE62"/>
            </a:solidFill>
            <a:prstDash val="solid"/>
          </a:ln>
        </p:spPr>
      </p:sp>
      <p:pic>
        <p:nvPicPr>
          <p:cNvPr id="30" name="icon FaUserTie" descr="preencoded.png">    </p:cNvPr>
          <p:cNvPicPr>
            <a:picLocks noChangeAspect="1"/>
          </p:cNvPicPr>
          <p:nvPr/>
        </p:nvPicPr>
        <p:blipFill>
          <a:blip r:embed="rId5"/>
          <a:stretch>
            <a:fillRect/>
          </a:stretch>
        </p:blipFill>
        <p:spPr>
          <a:xfrm>
            <a:off x="3040380" y="3726180"/>
            <a:ext cx="228600" cy="228600"/>
          </a:xfrm>
          <a:prstGeom prst="rect">
            <a:avLst/>
          </a:prstGeom>
        </p:spPr>
      </p:pic>
      <p:sp>
        <p:nvSpPr>
          <p:cNvPr id="31" name="text"/>
          <p:cNvSpPr txBox="1"/>
          <p:nvPr/>
        </p:nvSpPr>
        <p:spPr>
          <a:xfrm>
            <a:off x="2926080" y="4114800"/>
            <a:ext cx="1645920" cy="457200"/>
          </a:xfrm>
          <a:prstGeom prst="rect">
            <a:avLst/>
          </a:prstGeom>
          <a:noFill/>
          <a:ln/>
        </p:spPr>
        <p:txBody>
          <a:bodyPr wrap="square" lIns="0" tIns="0" rIns="0" bIns="0" rtlCol="0" anchor="t"/>
          <a:lstStyle/>
          <a:p>
            <a:pPr algn="l" indent="0" marL="0">
              <a:buNone/>
            </a:pPr>
            <a:r>
              <a:rPr lang="en-US" sz="2400" b="1" dirty="0">
                <a:solidFill>
                  <a:srgbClr val="0074C8"/>
                </a:solidFill>
              </a:rPr>
              <a:t>4.500+</a:t>
            </a:r>
            <a:endParaRPr lang="en-US" sz="2400" dirty="0"/>
          </a:p>
        </p:txBody>
      </p:sp>
      <p:sp>
        <p:nvSpPr>
          <p:cNvPr id="32" name="text"/>
          <p:cNvSpPr txBox="1"/>
          <p:nvPr/>
        </p:nvSpPr>
        <p:spPr>
          <a:xfrm>
            <a:off x="2926080" y="4572000"/>
            <a:ext cx="1645920" cy="548640"/>
          </a:xfrm>
          <a:prstGeom prst="rect">
            <a:avLst/>
          </a:prstGeom>
          <a:noFill/>
          <a:ln/>
        </p:spPr>
        <p:txBody>
          <a:bodyPr wrap="square" lIns="0" tIns="0" rIns="0" bIns="0" rtlCol="0" anchor="t"/>
          <a:lstStyle/>
          <a:p>
            <a:pPr algn="l" indent="0" marL="0">
              <a:buNone/>
            </a:pPr>
            <a:r>
              <a:rPr lang="en-US" sz="1050" dirty="0">
                <a:solidFill>
                  <a:srgbClr val="00274A"/>
                </a:solidFill>
              </a:rPr>
              <a:t>pilot dan awak kabin dijadwalkan setiap hari</a:t>
            </a:r>
            <a:endParaRPr lang="en-US" sz="1050" dirty="0"/>
          </a:p>
        </p:txBody>
      </p:sp>
      <p:sp>
        <p:nvSpPr>
          <p:cNvPr id="33" name="text"/>
          <p:cNvSpPr txBox="1"/>
          <p:nvPr/>
        </p:nvSpPr>
        <p:spPr>
          <a:xfrm>
            <a:off x="2926080" y="5093208"/>
            <a:ext cx="1645920" cy="228600"/>
          </a:xfrm>
          <a:prstGeom prst="rect">
            <a:avLst/>
          </a:prstGeom>
          <a:noFill/>
          <a:ln/>
        </p:spPr>
        <p:txBody>
          <a:bodyPr wrap="square" lIns="0" tIns="0" rIns="0" bIns="0" rtlCol="0" anchor="t"/>
          <a:lstStyle/>
          <a:p>
            <a:pPr algn="l" indent="0" marL="0">
              <a:buNone/>
            </a:pPr>
            <a:r>
              <a:rPr lang="en-US" sz="850" i="1" dirty="0">
                <a:solidFill>
                  <a:srgbClr val="585E67"/>
                </a:solidFill>
              </a:rPr>
              <a:t>Heizer et al. (2017)</a:t>
            </a:r>
            <a:endParaRPr lang="en-US" sz="850" dirty="0"/>
          </a:p>
        </p:txBody>
      </p:sp>
      <p:sp>
        <p:nvSpPr>
          <p:cNvPr id="34" name="card"/>
          <p:cNvSpPr/>
          <p:nvPr/>
        </p:nvSpPr>
        <p:spPr>
          <a:xfrm>
            <a:off x="4937760" y="3429000"/>
            <a:ext cx="2011680" cy="1920240"/>
          </a:xfrm>
          <a:prstGeom prst="roundRect">
            <a:avLst>
              <a:gd name="adj" fmla="val 6667"/>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35" name="icon circle"/>
          <p:cNvSpPr/>
          <p:nvPr/>
        </p:nvSpPr>
        <p:spPr>
          <a:xfrm>
            <a:off x="5120640" y="3611880"/>
            <a:ext cx="457200" cy="457200"/>
          </a:xfrm>
          <a:prstGeom prst="ellipse">
            <a:avLst/>
          </a:prstGeom>
          <a:solidFill>
            <a:srgbClr val="91BE62"/>
          </a:solidFill>
          <a:ln w="3175">
            <a:solidFill>
              <a:srgbClr val="91BE62"/>
            </a:solidFill>
            <a:prstDash val="solid"/>
          </a:ln>
        </p:spPr>
      </p:sp>
      <p:pic>
        <p:nvPicPr>
          <p:cNvPr id="36" name="icon FaDollarSign" descr="preencoded.png">    </p:cNvPr>
          <p:cNvPicPr>
            <a:picLocks noChangeAspect="1"/>
          </p:cNvPicPr>
          <p:nvPr/>
        </p:nvPicPr>
        <p:blipFill>
          <a:blip r:embed="rId6"/>
          <a:stretch>
            <a:fillRect/>
          </a:stretch>
        </p:blipFill>
        <p:spPr>
          <a:xfrm>
            <a:off x="5234940" y="3726180"/>
            <a:ext cx="228600" cy="228600"/>
          </a:xfrm>
          <a:prstGeom prst="rect">
            <a:avLst/>
          </a:prstGeom>
        </p:spPr>
      </p:pic>
      <p:sp>
        <p:nvSpPr>
          <p:cNvPr id="37" name="text"/>
          <p:cNvSpPr txBox="1"/>
          <p:nvPr/>
        </p:nvSpPr>
        <p:spPr>
          <a:xfrm>
            <a:off x="5120640" y="4114800"/>
            <a:ext cx="1645920" cy="457200"/>
          </a:xfrm>
          <a:prstGeom prst="rect">
            <a:avLst/>
          </a:prstGeom>
          <a:noFill/>
          <a:ln/>
        </p:spPr>
        <p:txBody>
          <a:bodyPr wrap="square" lIns="0" tIns="0" rIns="0" bIns="0" rtlCol="0" anchor="t"/>
          <a:lstStyle/>
          <a:p>
            <a:pPr algn="l" indent="0" marL="0">
              <a:buNone/>
            </a:pPr>
            <a:r>
              <a:rPr lang="en-US" sz="2400" b="1" dirty="0">
                <a:solidFill>
                  <a:srgbClr val="0074C8"/>
                </a:solidFill>
              </a:rPr>
              <a:t>US$18 juta</a:t>
            </a:r>
            <a:endParaRPr lang="en-US" sz="2400" dirty="0"/>
          </a:p>
        </p:txBody>
      </p:sp>
      <p:sp>
        <p:nvSpPr>
          <p:cNvPr id="38" name="text"/>
          <p:cNvSpPr txBox="1"/>
          <p:nvPr/>
        </p:nvSpPr>
        <p:spPr>
          <a:xfrm>
            <a:off x="5120640" y="4572000"/>
            <a:ext cx="1645920" cy="548640"/>
          </a:xfrm>
          <a:prstGeom prst="rect">
            <a:avLst/>
          </a:prstGeom>
          <a:noFill/>
          <a:ln/>
        </p:spPr>
        <p:txBody>
          <a:bodyPr wrap="square" lIns="0" tIns="0" rIns="0" bIns="0" rtlCol="0" anchor="t"/>
          <a:lstStyle/>
          <a:p>
            <a:pPr algn="l" indent="0" marL="0">
              <a:buNone/>
            </a:pPr>
            <a:r>
              <a:rPr lang="en-US" sz="1050" dirty="0">
                <a:solidFill>
                  <a:srgbClr val="00274A"/>
                </a:solidFill>
              </a:rPr>
              <a:t>penghematan per tahun dari teknologi penjadwalan ulang</a:t>
            </a:r>
            <a:endParaRPr lang="en-US" sz="1050" dirty="0"/>
          </a:p>
        </p:txBody>
      </p:sp>
      <p:sp>
        <p:nvSpPr>
          <p:cNvPr id="39" name="text"/>
          <p:cNvSpPr txBox="1"/>
          <p:nvPr/>
        </p:nvSpPr>
        <p:spPr>
          <a:xfrm>
            <a:off x="5120640" y="5093208"/>
            <a:ext cx="1645920" cy="228600"/>
          </a:xfrm>
          <a:prstGeom prst="rect">
            <a:avLst/>
          </a:prstGeom>
          <a:noFill/>
          <a:ln/>
        </p:spPr>
        <p:txBody>
          <a:bodyPr wrap="square" lIns="0" tIns="0" rIns="0" bIns="0" rtlCol="0" anchor="t"/>
          <a:lstStyle/>
          <a:p>
            <a:pPr algn="l" indent="0" marL="0">
              <a:buNone/>
            </a:pPr>
            <a:r>
              <a:rPr lang="en-US" sz="850" i="1" dirty="0">
                <a:solidFill>
                  <a:srgbClr val="585E67"/>
                </a:solidFill>
              </a:rPr>
              <a:t>Heizer et al. (2017)</a:t>
            </a:r>
            <a:endParaRPr lang="en-US" sz="850" dirty="0"/>
          </a:p>
        </p:txBody>
      </p:sp>
      <p:sp>
        <p:nvSpPr>
          <p:cNvPr id="40" name="card"/>
          <p:cNvSpPr/>
          <p:nvPr/>
        </p:nvSpPr>
        <p:spPr>
          <a:xfrm>
            <a:off x="7178040" y="1325880"/>
            <a:ext cx="4465015" cy="4023360"/>
          </a:xfrm>
          <a:prstGeom prst="roundRect">
            <a:avLst>
              <a:gd name="adj" fmla="val 3182"/>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graphicFrame>
        <p:nvGraphicFramePr>
          <p:cNvPr id="41" name="chart ketepatan waktu" descr=""/>
          <p:cNvGraphicFramePr/>
          <p:nvPr/>
        </p:nvGraphicFramePr>
        <p:xfrm>
          <a:off x="7315200" y="1417320"/>
          <a:ext cx="4190695" cy="3520440"/>
        </p:xfrm>
        <a:graphic xmlns:a="http://schemas.openxmlformats.org/drawingml/2006/main">
          <a:graphicData uri="http://schemas.openxmlformats.org/drawingml/2006/chart">
            <c:chart xmlns:c="http://schemas.openxmlformats.org/drawingml/2006/chart" r:id="rId7"/>
          </a:graphicData>
        </a:graphic>
      </p:graphicFrame>
      <p:sp>
        <p:nvSpPr>
          <p:cNvPr id="42" name="text"/>
          <p:cNvSpPr txBox="1"/>
          <p:nvPr/>
        </p:nvSpPr>
        <p:spPr>
          <a:xfrm>
            <a:off x="7452360" y="4983480"/>
            <a:ext cx="3916375" cy="320040"/>
          </a:xfrm>
          <a:prstGeom prst="rect">
            <a:avLst/>
          </a:prstGeom>
          <a:noFill/>
          <a:ln/>
        </p:spPr>
        <p:txBody>
          <a:bodyPr wrap="square" lIns="0" tIns="0" rIns="0" bIns="0" rtlCol="0" anchor="t"/>
          <a:lstStyle/>
          <a:p>
            <a:pPr algn="ctr" indent="0" marL="0">
              <a:buNone/>
            </a:pPr>
            <a:r>
              <a:rPr lang="en-US" sz="900" i="1" dirty="0">
                <a:solidFill>
                  <a:srgbClr val="585E67"/>
                </a:solidFill>
              </a:rPr>
              <a:t>Sumber: Cirium, 2024 On-Time Performance Review (Januari 2025). Alaska peringkat ke-3 Amerika Utara.</a:t>
            </a:r>
            <a:endParaRPr lang="en-US" sz="900" dirty="0"/>
          </a:p>
        </p:txBody>
      </p:sp>
      <p:sp>
        <p:nvSpPr>
          <p:cNvPr id="43" name="card"/>
          <p:cNvSpPr/>
          <p:nvPr/>
        </p:nvSpPr>
        <p:spPr>
          <a:xfrm>
            <a:off x="548640" y="5532120"/>
            <a:ext cx="11094415" cy="713232"/>
          </a:xfrm>
          <a:prstGeom prst="roundRect">
            <a:avLst>
              <a:gd name="adj" fmla="val 17949"/>
            </a:avLst>
          </a:prstGeom>
          <a:solidFill>
            <a:srgbClr val="00274A"/>
          </a:solidFill>
          <a:ln w="3175">
            <a:solidFill>
              <a:srgbClr val="00274A"/>
            </a:solidFill>
            <a:prstDash val="solid"/>
          </a:ln>
        </p:spPr>
      </p:sp>
      <p:sp>
        <p:nvSpPr>
          <p:cNvPr id="44" name="text"/>
          <p:cNvSpPr txBox="1"/>
          <p:nvPr/>
        </p:nvSpPr>
        <p:spPr>
          <a:xfrm>
            <a:off x="822960" y="5532120"/>
            <a:ext cx="10545775" cy="713232"/>
          </a:xfrm>
          <a:prstGeom prst="rect">
            <a:avLst/>
          </a:prstGeom>
          <a:noFill/>
          <a:ln/>
        </p:spPr>
        <p:txBody>
          <a:bodyPr wrap="square" lIns="0" tIns="0" rIns="0" bIns="0" rtlCol="0" anchor="ctr"/>
          <a:lstStyle/>
          <a:p>
            <a:pPr algn="l" indent="0" marL="0">
              <a:buNone/>
            </a:pPr>
            <a:r>
              <a:rPr lang="en-US" sz="1200" b="1" dirty="0">
                <a:solidFill>
                  <a:srgbClr val="FFFFFF"/>
                </a:solidFill>
              </a:rPr>
              <a:t>Konteks 2024–2025:</a:t>
            </a:r>
            <a:r>
              <a:rPr lang="en-US" sz="1200" dirty="0">
                <a:solidFill>
                  <a:srgbClr val="FFFFFF"/>
                </a:solidFill>
              </a:rPr>
              <a:t> merger dengan Hawaiian Airlines rampung September 2024; FAA memberikan </a:t>
            </a:r>
            <a:r>
              <a:rPr lang="en-US" sz="1200" i="1" dirty="0">
                <a:solidFill>
                  <a:srgbClr val="FFFFFF"/>
                </a:solidFill>
              </a:rPr>
              <a:t>single operating certificate</a:t>
            </a:r>
            <a:r>
              <a:rPr lang="en-US" sz="1200" dirty="0">
                <a:solidFill>
                  <a:srgbClr val="FFFFFF"/>
                </a:solidFill>
              </a:rPr>
              <a:t> pada 29 Oktober 2025. Dua merek, satu sistem operasi: tantangan integrasi khas ERP.</a:t>
            </a:r>
            <a:endParaRPr lang="en-US" sz="1200" dirty="0"/>
          </a:p>
        </p:txBody>
      </p:sp>
      <p:sp>
        <p:nvSpPr>
          <p:cNvPr id="25" name="Slide Number Placeholder 0"/>
          <p:cNvSpPr>
            <a:spLocks noGrp="1"/>
          </p:cNvSpPr>
          <p:nvPr>
            <p:ph type="sldNum" sz="quarter" idx="4294967295"/>
          </p:nvPr>
        </p:nvSpPr>
        <p:spPr>
          <a:xfrm>
            <a:off x="11064240" y="6428232"/>
            <a:ext cx="576072"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01426A"/>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000" b="1" dirty="0">
                <a:solidFill>
                  <a:srgbClr val="00274A"/>
                </a:solidFill>
              </a:rPr>
              <a:t>Permasalahan Operasional: Lima Sumber Gangguan Rencana</a:t>
            </a:r>
            <a:endParaRPr lang="en-US" sz="3000" dirty="0"/>
          </a:p>
        </p:txBody>
      </p:sp>
      <p:sp>
        <p:nvSpPr>
          <p:cNvPr id="4" name="card"/>
          <p:cNvSpPr/>
          <p:nvPr/>
        </p:nvSpPr>
        <p:spPr>
          <a:xfrm>
            <a:off x="548640" y="1325880"/>
            <a:ext cx="3545738" cy="2331720"/>
          </a:xfrm>
          <a:prstGeom prst="roundRect">
            <a:avLst>
              <a:gd name="adj" fmla="val 5490"/>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5" name="icon circle"/>
          <p:cNvSpPr/>
          <p:nvPr/>
        </p:nvSpPr>
        <p:spPr>
          <a:xfrm>
            <a:off x="777240" y="1527048"/>
            <a:ext cx="548640" cy="548640"/>
          </a:xfrm>
          <a:prstGeom prst="ellipse">
            <a:avLst/>
          </a:prstGeom>
          <a:solidFill>
            <a:srgbClr val="00CFF0"/>
          </a:solidFill>
          <a:ln w="3175">
            <a:solidFill>
              <a:srgbClr val="00CFF0"/>
            </a:solidFill>
            <a:prstDash val="solid"/>
          </a:ln>
        </p:spPr>
      </p:sp>
      <p:pic>
        <p:nvPicPr>
          <p:cNvPr id="6" name="icon FaCloudRain" descr="preencoded.png">    </p:cNvPr>
          <p:cNvPicPr>
            <a:picLocks noChangeAspect="1"/>
          </p:cNvPicPr>
          <p:nvPr/>
        </p:nvPicPr>
        <p:blipFill>
          <a:blip r:embed="rId1"/>
          <a:stretch>
            <a:fillRect/>
          </a:stretch>
        </p:blipFill>
        <p:spPr>
          <a:xfrm>
            <a:off x="914400" y="1664208"/>
            <a:ext cx="274320" cy="274320"/>
          </a:xfrm>
          <a:prstGeom prst="rect">
            <a:avLst/>
          </a:prstGeom>
        </p:spPr>
      </p:pic>
      <p:sp>
        <p:nvSpPr>
          <p:cNvPr id="7" name="text"/>
          <p:cNvSpPr txBox="1"/>
          <p:nvPr/>
        </p:nvSpPr>
        <p:spPr>
          <a:xfrm>
            <a:off x="1463040" y="1527048"/>
            <a:ext cx="2448458" cy="548640"/>
          </a:xfrm>
          <a:prstGeom prst="rect">
            <a:avLst/>
          </a:prstGeom>
          <a:noFill/>
          <a:ln/>
        </p:spPr>
        <p:txBody>
          <a:bodyPr wrap="square" lIns="0" tIns="0" rIns="0" bIns="0" rtlCol="0" anchor="ctr"/>
          <a:lstStyle/>
          <a:p>
            <a:pPr algn="l" indent="0" marL="0">
              <a:buNone/>
            </a:pPr>
            <a:r>
              <a:rPr lang="en-US" sz="1350" b="1" dirty="0">
                <a:solidFill>
                  <a:srgbClr val="00274A"/>
                </a:solidFill>
              </a:rPr>
              <a:t>Cuaca sebagai "musuh"</a:t>
            </a:r>
            <a:endParaRPr lang="en-US" sz="1350" dirty="0"/>
          </a:p>
        </p:txBody>
      </p:sp>
      <p:sp>
        <p:nvSpPr>
          <p:cNvPr id="8" name="text"/>
          <p:cNvSpPr txBox="1"/>
          <p:nvPr/>
        </p:nvSpPr>
        <p:spPr>
          <a:xfrm>
            <a:off x="777240" y="2194560"/>
            <a:ext cx="3088538" cy="1143000"/>
          </a:xfrm>
          <a:prstGeom prst="rect">
            <a:avLst/>
          </a:prstGeom>
          <a:noFill/>
          <a:ln/>
        </p:spPr>
        <p:txBody>
          <a:bodyPr wrap="square" lIns="0" tIns="0" rIns="0" bIns="0" rtlCol="0" anchor="t"/>
          <a:lstStyle/>
          <a:p>
            <a:pPr algn="l" indent="0" marL="0">
              <a:buNone/>
            </a:pPr>
            <a:r>
              <a:rPr lang="en-US" sz="1100" dirty="0">
                <a:solidFill>
                  <a:srgbClr val="00274A"/>
                </a:solidFill>
              </a:rPr>
              <a:t>SEA menerima hujan sekitar 5 inci per bulan pada musim dingin. Satu badai Desember memaksa rencana pembatalan 50–80% penerbangan setelah pukul 18.00 (Heizer et al., 2017).</a:t>
            </a:r>
            <a:endParaRPr lang="en-US" sz="1100" dirty="0"/>
          </a:p>
        </p:txBody>
      </p:sp>
      <p:sp>
        <p:nvSpPr>
          <p:cNvPr id="9" name="pill"/>
          <p:cNvSpPr/>
          <p:nvPr/>
        </p:nvSpPr>
        <p:spPr>
          <a:xfrm>
            <a:off x="777240" y="3218688"/>
            <a:ext cx="3088538" cy="274320"/>
          </a:xfrm>
          <a:prstGeom prst="roundRect">
            <a:avLst>
              <a:gd name="adj" fmla="val 50000"/>
            </a:avLst>
          </a:prstGeom>
          <a:solidFill>
            <a:srgbClr val="F0F7FD"/>
          </a:solidFill>
          <a:ln w="3175">
            <a:solidFill>
              <a:srgbClr val="F0F7FD"/>
            </a:solidFill>
            <a:prstDash val="solid"/>
          </a:ln>
        </p:spPr>
      </p:sp>
      <p:sp>
        <p:nvSpPr>
          <p:cNvPr id="10" name="pill label"/>
          <p:cNvSpPr txBox="1"/>
          <p:nvPr/>
        </p:nvSpPr>
        <p:spPr>
          <a:xfrm>
            <a:off x="777240" y="3218688"/>
            <a:ext cx="3088538" cy="274320"/>
          </a:xfrm>
          <a:prstGeom prst="rect">
            <a:avLst/>
          </a:prstGeom>
          <a:noFill/>
          <a:ln/>
        </p:spPr>
        <p:txBody>
          <a:bodyPr wrap="square" lIns="0" tIns="0" rIns="0" bIns="0" rtlCol="0" anchor="ctr"/>
          <a:lstStyle/>
          <a:p>
            <a:pPr algn="ctr" indent="0" marL="0">
              <a:buNone/>
            </a:pPr>
            <a:r>
              <a:rPr lang="en-US" sz="950" b="1" dirty="0">
                <a:solidFill>
                  <a:srgbClr val="00274A"/>
                </a:solidFill>
              </a:rPr>
              <a:t>Control jangka pendek</a:t>
            </a:r>
            <a:endParaRPr lang="en-US" sz="950" dirty="0"/>
          </a:p>
        </p:txBody>
      </p:sp>
      <p:sp>
        <p:nvSpPr>
          <p:cNvPr id="11" name="card"/>
          <p:cNvSpPr/>
          <p:nvPr/>
        </p:nvSpPr>
        <p:spPr>
          <a:xfrm>
            <a:off x="4322978" y="1325880"/>
            <a:ext cx="3545738" cy="2331720"/>
          </a:xfrm>
          <a:prstGeom prst="roundRect">
            <a:avLst>
              <a:gd name="adj" fmla="val 5490"/>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12" name="icon circle"/>
          <p:cNvSpPr/>
          <p:nvPr/>
        </p:nvSpPr>
        <p:spPr>
          <a:xfrm>
            <a:off x="4551578" y="1527048"/>
            <a:ext cx="548640" cy="548640"/>
          </a:xfrm>
          <a:prstGeom prst="ellipse">
            <a:avLst/>
          </a:prstGeom>
          <a:solidFill>
            <a:srgbClr val="00CFF0"/>
          </a:solidFill>
          <a:ln w="3175">
            <a:solidFill>
              <a:srgbClr val="00CFF0"/>
            </a:solidFill>
            <a:prstDash val="solid"/>
          </a:ln>
        </p:spPr>
      </p:sp>
      <p:pic>
        <p:nvPicPr>
          <p:cNvPr id="13" name="icon FaMountain" descr="preencoded.png">    </p:cNvPr>
          <p:cNvPicPr>
            <a:picLocks noChangeAspect="1"/>
          </p:cNvPicPr>
          <p:nvPr/>
        </p:nvPicPr>
        <p:blipFill>
          <a:blip r:embed="rId2"/>
          <a:stretch>
            <a:fillRect/>
          </a:stretch>
        </p:blipFill>
        <p:spPr>
          <a:xfrm>
            <a:off x="4688738" y="1664208"/>
            <a:ext cx="274320" cy="274320"/>
          </a:xfrm>
          <a:prstGeom prst="rect">
            <a:avLst/>
          </a:prstGeom>
        </p:spPr>
      </p:pic>
      <p:sp>
        <p:nvSpPr>
          <p:cNvPr id="14" name="text"/>
          <p:cNvSpPr txBox="1"/>
          <p:nvPr/>
        </p:nvSpPr>
        <p:spPr>
          <a:xfrm>
            <a:off x="5237378" y="1527048"/>
            <a:ext cx="2448458" cy="548640"/>
          </a:xfrm>
          <a:prstGeom prst="rect">
            <a:avLst/>
          </a:prstGeom>
          <a:noFill/>
          <a:ln/>
        </p:spPr>
        <p:txBody>
          <a:bodyPr wrap="square" lIns="0" tIns="0" rIns="0" bIns="0" rtlCol="0" anchor="ctr"/>
          <a:lstStyle/>
          <a:p>
            <a:pPr algn="l" indent="0" marL="0">
              <a:buNone/>
            </a:pPr>
            <a:r>
              <a:rPr lang="en-US" sz="1350" b="1" dirty="0">
                <a:solidFill>
                  <a:srgbClr val="00274A"/>
                </a:solidFill>
              </a:rPr>
              <a:t>Geografi Alaska</a:t>
            </a:r>
            <a:endParaRPr lang="en-US" sz="1350" dirty="0"/>
          </a:p>
        </p:txBody>
      </p:sp>
      <p:sp>
        <p:nvSpPr>
          <p:cNvPr id="15" name="text"/>
          <p:cNvSpPr txBox="1"/>
          <p:nvPr/>
        </p:nvSpPr>
        <p:spPr>
          <a:xfrm>
            <a:off x="4551578" y="2194560"/>
            <a:ext cx="3088538" cy="1143000"/>
          </a:xfrm>
          <a:prstGeom prst="rect">
            <a:avLst/>
          </a:prstGeom>
          <a:noFill/>
          <a:ln/>
        </p:spPr>
        <p:txBody>
          <a:bodyPr wrap="square" lIns="0" tIns="0" rIns="0" bIns="0" rtlCol="0" anchor="t"/>
          <a:lstStyle/>
          <a:p>
            <a:pPr algn="l" indent="0" marL="0">
              <a:buNone/>
            </a:pPr>
            <a:r>
              <a:rPr lang="en-US" sz="1100" dirty="0">
                <a:solidFill>
                  <a:srgbClr val="00274A"/>
                </a:solidFill>
              </a:rPr>
              <a:t>Juneau dikepung gunung dengan </a:t>
            </a:r>
            <a:r>
              <a:rPr lang="en-US" sz="1100" i="1" dirty="0">
                <a:solidFill>
                  <a:srgbClr val="00274A"/>
                </a:solidFill>
              </a:rPr>
              <a:t>wind shear</a:t>
            </a:r>
            <a:r>
              <a:rPr lang="en-US" sz="1100" dirty="0">
                <a:solidFill>
                  <a:srgbClr val="00274A"/>
                </a:solidFill>
              </a:rPr>
              <a:t>; Sitka berlandasan tunggal di tanah sempit; di Kodiak landasan berujung di lereng gunung sehingga hanya kapten yang boleh mendarat.</a:t>
            </a:r>
            <a:endParaRPr lang="en-US" sz="1100" dirty="0"/>
          </a:p>
        </p:txBody>
      </p:sp>
      <p:sp>
        <p:nvSpPr>
          <p:cNvPr id="16" name="pill"/>
          <p:cNvSpPr/>
          <p:nvPr/>
        </p:nvSpPr>
        <p:spPr>
          <a:xfrm>
            <a:off x="4551578" y="3218688"/>
            <a:ext cx="3088538" cy="274320"/>
          </a:xfrm>
          <a:prstGeom prst="roundRect">
            <a:avLst>
              <a:gd name="adj" fmla="val 50000"/>
            </a:avLst>
          </a:prstGeom>
          <a:solidFill>
            <a:srgbClr val="F0F7FD"/>
          </a:solidFill>
          <a:ln w="3175">
            <a:solidFill>
              <a:srgbClr val="F0F7FD"/>
            </a:solidFill>
            <a:prstDash val="solid"/>
          </a:ln>
        </p:spPr>
      </p:sp>
      <p:sp>
        <p:nvSpPr>
          <p:cNvPr id="17" name="pill label"/>
          <p:cNvSpPr txBox="1"/>
          <p:nvPr/>
        </p:nvSpPr>
        <p:spPr>
          <a:xfrm>
            <a:off x="4551578" y="3218688"/>
            <a:ext cx="3088538" cy="274320"/>
          </a:xfrm>
          <a:prstGeom prst="rect">
            <a:avLst/>
          </a:prstGeom>
          <a:noFill/>
          <a:ln/>
        </p:spPr>
        <p:txBody>
          <a:bodyPr wrap="square" lIns="0" tIns="0" rIns="0" bIns="0" rtlCol="0" anchor="ctr"/>
          <a:lstStyle/>
          <a:p>
            <a:pPr algn="ctr" indent="0" marL="0">
              <a:buNone/>
            </a:pPr>
            <a:r>
              <a:rPr lang="en-US" sz="950" b="1" dirty="0">
                <a:solidFill>
                  <a:srgbClr val="00274A"/>
                </a:solidFill>
              </a:rPr>
              <a:t>Kendala sequencing kru</a:t>
            </a:r>
            <a:endParaRPr lang="en-US" sz="950" dirty="0"/>
          </a:p>
        </p:txBody>
      </p:sp>
      <p:sp>
        <p:nvSpPr>
          <p:cNvPr id="18" name="card"/>
          <p:cNvSpPr/>
          <p:nvPr/>
        </p:nvSpPr>
        <p:spPr>
          <a:xfrm>
            <a:off x="8097317" y="1325880"/>
            <a:ext cx="3545738" cy="2331720"/>
          </a:xfrm>
          <a:prstGeom prst="roundRect">
            <a:avLst>
              <a:gd name="adj" fmla="val 5490"/>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19" name="icon circle"/>
          <p:cNvSpPr/>
          <p:nvPr/>
        </p:nvSpPr>
        <p:spPr>
          <a:xfrm>
            <a:off x="8325917" y="1527048"/>
            <a:ext cx="548640" cy="548640"/>
          </a:xfrm>
          <a:prstGeom prst="ellipse">
            <a:avLst/>
          </a:prstGeom>
          <a:solidFill>
            <a:srgbClr val="00CFF0"/>
          </a:solidFill>
          <a:ln w="3175">
            <a:solidFill>
              <a:srgbClr val="00CFF0"/>
            </a:solidFill>
            <a:prstDash val="solid"/>
          </a:ln>
        </p:spPr>
      </p:sp>
      <p:pic>
        <p:nvPicPr>
          <p:cNvPr id="20" name="icon FaNetworkWired" descr="preencoded.png">    </p:cNvPr>
          <p:cNvPicPr>
            <a:picLocks noChangeAspect="1"/>
          </p:cNvPicPr>
          <p:nvPr/>
        </p:nvPicPr>
        <p:blipFill>
          <a:blip r:embed="rId3"/>
          <a:stretch>
            <a:fillRect/>
          </a:stretch>
        </p:blipFill>
        <p:spPr>
          <a:xfrm>
            <a:off x="8463077" y="1664208"/>
            <a:ext cx="274320" cy="274320"/>
          </a:xfrm>
          <a:prstGeom prst="rect">
            <a:avLst/>
          </a:prstGeom>
        </p:spPr>
      </p:pic>
      <p:sp>
        <p:nvSpPr>
          <p:cNvPr id="21" name="text"/>
          <p:cNvSpPr txBox="1"/>
          <p:nvPr/>
        </p:nvSpPr>
        <p:spPr>
          <a:xfrm>
            <a:off x="9011717" y="1527048"/>
            <a:ext cx="2448458" cy="548640"/>
          </a:xfrm>
          <a:prstGeom prst="rect">
            <a:avLst/>
          </a:prstGeom>
          <a:noFill/>
          <a:ln/>
        </p:spPr>
        <p:txBody>
          <a:bodyPr wrap="square" lIns="0" tIns="0" rIns="0" bIns="0" rtlCol="0" anchor="ctr"/>
          <a:lstStyle/>
          <a:p>
            <a:pPr algn="l" indent="0" marL="0">
              <a:buNone/>
            </a:pPr>
            <a:r>
              <a:rPr lang="en-US" sz="1350" b="1" dirty="0">
                <a:solidFill>
                  <a:srgbClr val="00274A"/>
                </a:solidFill>
              </a:rPr>
              <a:t>Skala dan saling ketergantungan</a:t>
            </a:r>
            <a:endParaRPr lang="en-US" sz="1350" dirty="0"/>
          </a:p>
        </p:txBody>
      </p:sp>
      <p:sp>
        <p:nvSpPr>
          <p:cNvPr id="22" name="text"/>
          <p:cNvSpPr txBox="1"/>
          <p:nvPr/>
        </p:nvSpPr>
        <p:spPr>
          <a:xfrm>
            <a:off x="8325917" y="2194560"/>
            <a:ext cx="3088538" cy="1143000"/>
          </a:xfrm>
          <a:prstGeom prst="rect">
            <a:avLst/>
          </a:prstGeom>
          <a:noFill/>
          <a:ln/>
        </p:spPr>
        <p:txBody>
          <a:bodyPr wrap="square" lIns="0" tIns="0" rIns="0" bIns="0" rtlCol="0" anchor="t"/>
          <a:lstStyle/>
          <a:p>
            <a:pPr algn="l" indent="0" marL="0">
              <a:buNone/>
            </a:pPr>
            <a:r>
              <a:rPr lang="en-US" sz="1100" dirty="0">
                <a:solidFill>
                  <a:srgbClr val="00274A"/>
                </a:solidFill>
              </a:rPr>
              <a:t>Pesawat, kru, perawatan, </a:t>
            </a:r>
            <a:r>
              <a:rPr lang="en-US" sz="1100" i="1" dirty="0">
                <a:solidFill>
                  <a:srgbClr val="00274A"/>
                </a:solidFill>
              </a:rPr>
              <a:t>gate</a:t>
            </a:r>
            <a:r>
              <a:rPr lang="en-US" sz="1100" dirty="0">
                <a:solidFill>
                  <a:srgbClr val="00274A"/>
                </a:solidFill>
              </a:rPr>
              <a:t>, dan katering harus serempak; satu perubahan jadwal menimbulkan </a:t>
            </a:r>
            <a:r>
              <a:rPr lang="en-US" sz="1100" i="1" dirty="0">
                <a:solidFill>
                  <a:srgbClr val="00274A"/>
                </a:solidFill>
              </a:rPr>
              <a:t>ripple effect</a:t>
            </a:r>
            <a:r>
              <a:rPr lang="en-US" sz="1100" dirty="0">
                <a:solidFill>
                  <a:srgbClr val="00274A"/>
                </a:solidFill>
              </a:rPr>
              <a:t> ke puluhan bandara.</a:t>
            </a:r>
            <a:endParaRPr lang="en-US" sz="1100" dirty="0"/>
          </a:p>
        </p:txBody>
      </p:sp>
      <p:sp>
        <p:nvSpPr>
          <p:cNvPr id="23" name="pill"/>
          <p:cNvSpPr/>
          <p:nvPr/>
        </p:nvSpPr>
        <p:spPr>
          <a:xfrm>
            <a:off x="8325917" y="3218688"/>
            <a:ext cx="3088538" cy="274320"/>
          </a:xfrm>
          <a:prstGeom prst="roundRect">
            <a:avLst>
              <a:gd name="adj" fmla="val 50000"/>
            </a:avLst>
          </a:prstGeom>
          <a:solidFill>
            <a:srgbClr val="F0F7FD"/>
          </a:solidFill>
          <a:ln w="3175">
            <a:solidFill>
              <a:srgbClr val="F0F7FD"/>
            </a:solidFill>
            <a:prstDash val="solid"/>
          </a:ln>
        </p:spPr>
      </p:sp>
      <p:sp>
        <p:nvSpPr>
          <p:cNvPr id="24" name="pill label"/>
          <p:cNvSpPr txBox="1"/>
          <p:nvPr/>
        </p:nvSpPr>
        <p:spPr>
          <a:xfrm>
            <a:off x="8325917" y="3218688"/>
            <a:ext cx="3088538" cy="274320"/>
          </a:xfrm>
          <a:prstGeom prst="rect">
            <a:avLst/>
          </a:prstGeom>
          <a:noFill/>
          <a:ln/>
        </p:spPr>
        <p:txBody>
          <a:bodyPr wrap="square" lIns="0" tIns="0" rIns="0" bIns="0" rtlCol="0" anchor="ctr"/>
          <a:lstStyle/>
          <a:p>
            <a:pPr algn="ctr" indent="0" marL="0">
              <a:buNone/>
            </a:pPr>
            <a:r>
              <a:rPr lang="en-US" sz="950" b="1" dirty="0">
                <a:solidFill>
                  <a:srgbClr val="00274A"/>
                </a:solidFill>
              </a:rPr>
              <a:t>Integrasi (ERP)</a:t>
            </a:r>
            <a:endParaRPr lang="en-US" sz="950" dirty="0"/>
          </a:p>
        </p:txBody>
      </p:sp>
      <p:sp>
        <p:nvSpPr>
          <p:cNvPr id="25" name="card"/>
          <p:cNvSpPr/>
          <p:nvPr/>
        </p:nvSpPr>
        <p:spPr>
          <a:xfrm>
            <a:off x="548640" y="3858768"/>
            <a:ext cx="3545738" cy="2331720"/>
          </a:xfrm>
          <a:prstGeom prst="roundRect">
            <a:avLst>
              <a:gd name="adj" fmla="val 5490"/>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26" name="icon circle"/>
          <p:cNvSpPr/>
          <p:nvPr/>
        </p:nvSpPr>
        <p:spPr>
          <a:xfrm>
            <a:off x="777240" y="4059936"/>
            <a:ext cx="548640" cy="548640"/>
          </a:xfrm>
          <a:prstGeom prst="ellipse">
            <a:avLst/>
          </a:prstGeom>
          <a:solidFill>
            <a:srgbClr val="91BE62"/>
          </a:solidFill>
          <a:ln w="3175">
            <a:solidFill>
              <a:srgbClr val="91BE62"/>
            </a:solidFill>
            <a:prstDash val="solid"/>
          </a:ln>
        </p:spPr>
      </p:sp>
      <p:pic>
        <p:nvPicPr>
          <p:cNvPr id="27" name="icon FaServer" descr="preencoded.png">    </p:cNvPr>
          <p:cNvPicPr>
            <a:picLocks noChangeAspect="1"/>
          </p:cNvPicPr>
          <p:nvPr/>
        </p:nvPicPr>
        <p:blipFill>
          <a:blip r:embed="rId4"/>
          <a:stretch>
            <a:fillRect/>
          </a:stretch>
        </p:blipFill>
        <p:spPr>
          <a:xfrm>
            <a:off x="914400" y="4197096"/>
            <a:ext cx="274320" cy="274320"/>
          </a:xfrm>
          <a:prstGeom prst="rect">
            <a:avLst/>
          </a:prstGeom>
        </p:spPr>
      </p:pic>
      <p:sp>
        <p:nvSpPr>
          <p:cNvPr id="28" name="text"/>
          <p:cNvSpPr txBox="1"/>
          <p:nvPr/>
        </p:nvSpPr>
        <p:spPr>
          <a:xfrm>
            <a:off x="1463040" y="4059936"/>
            <a:ext cx="2448458" cy="548640"/>
          </a:xfrm>
          <a:prstGeom prst="rect">
            <a:avLst/>
          </a:prstGeom>
          <a:noFill/>
          <a:ln/>
        </p:spPr>
        <p:txBody>
          <a:bodyPr wrap="square" lIns="0" tIns="0" rIns="0" bIns="0" rtlCol="0" anchor="ctr"/>
          <a:lstStyle/>
          <a:p>
            <a:pPr algn="l" indent="0" marL="0">
              <a:buNone/>
            </a:pPr>
            <a:r>
              <a:rPr lang="en-US" sz="1350" b="1" dirty="0">
                <a:solidFill>
                  <a:srgbClr val="00274A"/>
                </a:solidFill>
              </a:rPr>
              <a:t>Kegagalan sistem terintegrasi</a:t>
            </a:r>
            <a:endParaRPr lang="en-US" sz="1350" dirty="0"/>
          </a:p>
        </p:txBody>
      </p:sp>
      <p:sp>
        <p:nvSpPr>
          <p:cNvPr id="29" name="text"/>
          <p:cNvSpPr txBox="1"/>
          <p:nvPr/>
        </p:nvSpPr>
        <p:spPr>
          <a:xfrm>
            <a:off x="777240" y="4727448"/>
            <a:ext cx="3088538" cy="1143000"/>
          </a:xfrm>
          <a:prstGeom prst="rect">
            <a:avLst/>
          </a:prstGeom>
          <a:noFill/>
          <a:ln/>
        </p:spPr>
        <p:txBody>
          <a:bodyPr wrap="square" lIns="0" tIns="0" rIns="0" bIns="0" rtlCol="0" anchor="t"/>
          <a:lstStyle/>
          <a:p>
            <a:pPr algn="l" indent="0" marL="0">
              <a:buNone/>
            </a:pPr>
            <a:r>
              <a:rPr lang="en-US" sz="1100" dirty="0">
                <a:solidFill>
                  <a:srgbClr val="00274A"/>
                </a:solidFill>
              </a:rPr>
              <a:t>20 Juli 2025: kegagalan perangkat keras pusat data, </a:t>
            </a:r>
            <a:r>
              <a:rPr lang="en-US" sz="1100" i="1" dirty="0">
                <a:solidFill>
                  <a:srgbClr val="00274A"/>
                </a:solidFill>
              </a:rPr>
              <a:t>ground stop</a:t>
            </a:r>
            <a:r>
              <a:rPr lang="en-US" sz="1100" dirty="0">
                <a:solidFill>
                  <a:srgbClr val="00274A"/>
                </a:solidFill>
              </a:rPr>
              <a:t> ±3 jam, &gt;150 pembatalan. 23 Oktober 2025: kegagalan pusat data utama, ±8 jam, &gt;400 pembatalan, ±49.000 penumpang terdampak.</a:t>
            </a:r>
            <a:endParaRPr lang="en-US" sz="1100" dirty="0"/>
          </a:p>
        </p:txBody>
      </p:sp>
      <p:sp>
        <p:nvSpPr>
          <p:cNvPr id="30" name="pill"/>
          <p:cNvSpPr/>
          <p:nvPr/>
        </p:nvSpPr>
        <p:spPr>
          <a:xfrm>
            <a:off x="777240" y="5751576"/>
            <a:ext cx="3088538" cy="274320"/>
          </a:xfrm>
          <a:prstGeom prst="roundRect">
            <a:avLst>
              <a:gd name="adj" fmla="val 50000"/>
            </a:avLst>
          </a:prstGeom>
          <a:solidFill>
            <a:srgbClr val="F0F7FD"/>
          </a:solidFill>
          <a:ln w="3175">
            <a:solidFill>
              <a:srgbClr val="F0F7FD"/>
            </a:solidFill>
            <a:prstDash val="solid"/>
          </a:ln>
        </p:spPr>
      </p:sp>
      <p:sp>
        <p:nvSpPr>
          <p:cNvPr id="31" name="pill label"/>
          <p:cNvSpPr txBox="1"/>
          <p:nvPr/>
        </p:nvSpPr>
        <p:spPr>
          <a:xfrm>
            <a:off x="777240" y="5751576"/>
            <a:ext cx="3088538" cy="274320"/>
          </a:xfrm>
          <a:prstGeom prst="rect">
            <a:avLst/>
          </a:prstGeom>
          <a:noFill/>
          <a:ln/>
        </p:spPr>
        <p:txBody>
          <a:bodyPr wrap="square" lIns="0" tIns="0" rIns="0" bIns="0" rtlCol="0" anchor="ctr"/>
          <a:lstStyle/>
          <a:p>
            <a:pPr algn="ctr" indent="0" marL="0">
              <a:buNone/>
            </a:pPr>
            <a:r>
              <a:rPr lang="en-US" sz="950" b="1" dirty="0">
                <a:solidFill>
                  <a:srgbClr val="00274A"/>
                </a:solidFill>
              </a:rPr>
              <a:t>Kelemahan ERP</a:t>
            </a:r>
            <a:endParaRPr lang="en-US" sz="950" dirty="0"/>
          </a:p>
        </p:txBody>
      </p:sp>
      <p:sp>
        <p:nvSpPr>
          <p:cNvPr id="32" name="card"/>
          <p:cNvSpPr/>
          <p:nvPr/>
        </p:nvSpPr>
        <p:spPr>
          <a:xfrm>
            <a:off x="4322978" y="3858768"/>
            <a:ext cx="3545738" cy="2331720"/>
          </a:xfrm>
          <a:prstGeom prst="roundRect">
            <a:avLst>
              <a:gd name="adj" fmla="val 5490"/>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33" name="icon circle"/>
          <p:cNvSpPr/>
          <p:nvPr/>
        </p:nvSpPr>
        <p:spPr>
          <a:xfrm>
            <a:off x="4551578" y="4059936"/>
            <a:ext cx="548640" cy="548640"/>
          </a:xfrm>
          <a:prstGeom prst="ellipse">
            <a:avLst/>
          </a:prstGeom>
          <a:solidFill>
            <a:srgbClr val="91BE62"/>
          </a:solidFill>
          <a:ln w="3175">
            <a:solidFill>
              <a:srgbClr val="91BE62"/>
            </a:solidFill>
            <a:prstDash val="solid"/>
          </a:ln>
        </p:spPr>
      </p:sp>
      <p:pic>
        <p:nvPicPr>
          <p:cNvPr id="34" name="icon FaPlaneSlash" descr="preencoded.png">    </p:cNvPr>
          <p:cNvPicPr>
            <a:picLocks noChangeAspect="1"/>
          </p:cNvPicPr>
          <p:nvPr/>
        </p:nvPicPr>
        <p:blipFill>
          <a:blip r:embed="rId5"/>
          <a:stretch>
            <a:fillRect/>
          </a:stretch>
        </p:blipFill>
        <p:spPr>
          <a:xfrm>
            <a:off x="4688738" y="4197096"/>
            <a:ext cx="274320" cy="274320"/>
          </a:xfrm>
          <a:prstGeom prst="rect">
            <a:avLst/>
          </a:prstGeom>
        </p:spPr>
      </p:pic>
      <p:sp>
        <p:nvSpPr>
          <p:cNvPr id="35" name="text"/>
          <p:cNvSpPr txBox="1"/>
          <p:nvPr/>
        </p:nvSpPr>
        <p:spPr>
          <a:xfrm>
            <a:off x="5237378" y="4059936"/>
            <a:ext cx="2448458" cy="548640"/>
          </a:xfrm>
          <a:prstGeom prst="rect">
            <a:avLst/>
          </a:prstGeom>
          <a:noFill/>
          <a:ln/>
        </p:spPr>
        <p:txBody>
          <a:bodyPr wrap="square" lIns="0" tIns="0" rIns="0" bIns="0" rtlCol="0" anchor="ctr"/>
          <a:lstStyle/>
          <a:p>
            <a:pPr algn="l" indent="0" marL="0">
              <a:buNone/>
            </a:pPr>
            <a:r>
              <a:rPr lang="en-US" sz="1350" b="1" dirty="0">
                <a:solidFill>
                  <a:srgbClr val="00274A"/>
                </a:solidFill>
              </a:rPr>
              <a:t>Grounding 737 MAX 9 (Jan 2024)</a:t>
            </a:r>
            <a:endParaRPr lang="en-US" sz="1350" dirty="0"/>
          </a:p>
        </p:txBody>
      </p:sp>
      <p:sp>
        <p:nvSpPr>
          <p:cNvPr id="36" name="text"/>
          <p:cNvSpPr txBox="1"/>
          <p:nvPr/>
        </p:nvSpPr>
        <p:spPr>
          <a:xfrm>
            <a:off x="4551578" y="4727448"/>
            <a:ext cx="3088538" cy="1143000"/>
          </a:xfrm>
          <a:prstGeom prst="rect">
            <a:avLst/>
          </a:prstGeom>
          <a:noFill/>
          <a:ln/>
        </p:spPr>
        <p:txBody>
          <a:bodyPr wrap="square" lIns="0" tIns="0" rIns="0" bIns="0" rtlCol="0" anchor="t"/>
          <a:lstStyle/>
          <a:p>
            <a:pPr algn="l" indent="0" marL="0">
              <a:buNone/>
            </a:pPr>
            <a:r>
              <a:rPr lang="en-US" sz="1100" dirty="0">
                <a:solidFill>
                  <a:srgbClr val="00274A"/>
                </a:solidFill>
              </a:rPr>
              <a:t>65 pesawat dikandangkan untuk inspeksi; sekitar 3.000 pembatalan dalam sebulan; dampak finansial sekitar US$150 juta.</a:t>
            </a:r>
            <a:endParaRPr lang="en-US" sz="1100" dirty="0"/>
          </a:p>
        </p:txBody>
      </p:sp>
      <p:sp>
        <p:nvSpPr>
          <p:cNvPr id="37" name="pill"/>
          <p:cNvSpPr/>
          <p:nvPr/>
        </p:nvSpPr>
        <p:spPr>
          <a:xfrm>
            <a:off x="4551578" y="5751576"/>
            <a:ext cx="3088538" cy="274320"/>
          </a:xfrm>
          <a:prstGeom prst="roundRect">
            <a:avLst>
              <a:gd name="adj" fmla="val 50000"/>
            </a:avLst>
          </a:prstGeom>
          <a:solidFill>
            <a:srgbClr val="F0F7FD"/>
          </a:solidFill>
          <a:ln w="3175">
            <a:solidFill>
              <a:srgbClr val="F0F7FD"/>
            </a:solidFill>
            <a:prstDash val="solid"/>
          </a:ln>
        </p:spPr>
      </p:sp>
      <p:sp>
        <p:nvSpPr>
          <p:cNvPr id="38" name="pill label"/>
          <p:cNvSpPr txBox="1"/>
          <p:nvPr/>
        </p:nvSpPr>
        <p:spPr>
          <a:xfrm>
            <a:off x="4551578" y="5751576"/>
            <a:ext cx="3088538" cy="274320"/>
          </a:xfrm>
          <a:prstGeom prst="rect">
            <a:avLst/>
          </a:prstGeom>
          <a:noFill/>
          <a:ln/>
        </p:spPr>
        <p:txBody>
          <a:bodyPr wrap="square" lIns="0" tIns="0" rIns="0" bIns="0" rtlCol="0" anchor="ctr"/>
          <a:lstStyle/>
          <a:p>
            <a:pPr algn="ctr" indent="0" marL="0">
              <a:buNone/>
            </a:pPr>
            <a:r>
              <a:rPr lang="en-US" sz="950" b="1" dirty="0">
                <a:solidFill>
                  <a:srgbClr val="00274A"/>
                </a:solidFill>
              </a:rPr>
              <a:t>Lonjakan kebutuhan perawatan (MRP)</a:t>
            </a:r>
            <a:endParaRPr lang="en-US" sz="950" dirty="0"/>
          </a:p>
        </p:txBody>
      </p:sp>
      <p:sp>
        <p:nvSpPr>
          <p:cNvPr id="39" name="card"/>
          <p:cNvSpPr/>
          <p:nvPr/>
        </p:nvSpPr>
        <p:spPr>
          <a:xfrm>
            <a:off x="8097317" y="3858768"/>
            <a:ext cx="3545738" cy="2331720"/>
          </a:xfrm>
          <a:prstGeom prst="roundRect">
            <a:avLst>
              <a:gd name="adj" fmla="val 5490"/>
            </a:avLst>
          </a:prstGeom>
          <a:solidFill>
            <a:srgbClr val="00274A"/>
          </a:solidFill>
          <a:ln w="3175">
            <a:solidFill>
              <a:srgbClr val="00274A"/>
            </a:solidFill>
            <a:prstDash val="solid"/>
          </a:ln>
        </p:spPr>
      </p:sp>
      <p:sp>
        <p:nvSpPr>
          <p:cNvPr id="40" name="text"/>
          <p:cNvSpPr txBox="1"/>
          <p:nvPr/>
        </p:nvSpPr>
        <p:spPr>
          <a:xfrm>
            <a:off x="8325917" y="4087368"/>
            <a:ext cx="3088538" cy="365760"/>
          </a:xfrm>
          <a:prstGeom prst="rect">
            <a:avLst/>
          </a:prstGeom>
          <a:noFill/>
          <a:ln/>
        </p:spPr>
        <p:txBody>
          <a:bodyPr wrap="square" lIns="0" tIns="0" rIns="0" bIns="0" rtlCol="0" anchor="t"/>
          <a:lstStyle/>
          <a:p>
            <a:pPr algn="l" indent="0" marL="0">
              <a:buNone/>
            </a:pPr>
            <a:r>
              <a:rPr lang="en-US" sz="1400" b="1" dirty="0">
                <a:solidFill>
                  <a:srgbClr val="00CFF0"/>
                </a:solidFill>
              </a:rPr>
              <a:t>Pertanyaan analisis</a:t>
            </a:r>
            <a:endParaRPr lang="en-US" sz="1400" dirty="0"/>
          </a:p>
        </p:txBody>
      </p:sp>
      <p:sp>
        <p:nvSpPr>
          <p:cNvPr id="41" name="text"/>
          <p:cNvSpPr txBox="1"/>
          <p:nvPr/>
        </p:nvSpPr>
        <p:spPr>
          <a:xfrm>
            <a:off x="8325917" y="4498848"/>
            <a:ext cx="3088538" cy="1554480"/>
          </a:xfrm>
          <a:prstGeom prst="rect">
            <a:avLst/>
          </a:prstGeom>
          <a:noFill/>
          <a:ln/>
        </p:spPr>
        <p:txBody>
          <a:bodyPr wrap="square" lIns="0" tIns="0" rIns="0" bIns="0" rtlCol="0" anchor="t"/>
          <a:lstStyle/>
          <a:p>
            <a:pPr algn="l" indent="0" marL="0">
              <a:buNone/>
            </a:pPr>
            <a:r>
              <a:rPr lang="en-US" sz="1200" dirty="0">
                <a:solidFill>
                  <a:srgbClr val="FFFFFF"/>
                </a:solidFill>
              </a:rPr>
              <a:t>Bagaimana MRP, ERP, serta </a:t>
            </a:r>
            <a:r>
              <a:rPr lang="en-US" sz="1200" i="1" dirty="0">
                <a:solidFill>
                  <a:srgbClr val="FFFFFF"/>
                </a:solidFill>
              </a:rPr>
              <a:t>sequencing and scheduling</a:t>
            </a:r>
            <a:r>
              <a:rPr lang="en-US" sz="1200" dirty="0">
                <a:solidFill>
                  <a:srgbClr val="FFFFFF"/>
                </a:solidFill>
              </a:rPr>
              <a:t> menjelaskan cara Alaska Airlines menjaga ketepatan waktu di tengah lima gangguan ini, dan di mana letak kelemahan yang masih harus dibenahi?</a:t>
            </a:r>
            <a:endParaRPr lang="en-US" sz="1200" dirty="0"/>
          </a:p>
        </p:txBody>
      </p:sp>
      <p:sp>
        <p:nvSpPr>
          <p:cNvPr id="25" name="Slide Number Placeholder 0"/>
          <p:cNvSpPr>
            <a:spLocks noGrp="1"/>
          </p:cNvSpPr>
          <p:nvPr>
            <p:ph type="sldNum" sz="quarter" idx="4294967295"/>
          </p:nvPr>
        </p:nvSpPr>
        <p:spPr>
          <a:xfrm>
            <a:off x="11064240" y="6428232"/>
            <a:ext cx="576072"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01426A"/>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000" b="1" dirty="0">
                <a:solidFill>
                  <a:srgbClr val="00274A"/>
                </a:solidFill>
              </a:rPr>
              <a:t>Analisis 1 — Planning and Control dalam Satu Hari Badai di Seattle</a:t>
            </a:r>
            <a:endParaRPr lang="en-US" sz="3000" dirty="0"/>
          </a:p>
        </p:txBody>
      </p:sp>
      <p:sp>
        <p:nvSpPr>
          <p:cNvPr id="4" name="line"/>
          <p:cNvSpPr/>
          <p:nvPr/>
        </p:nvSpPr>
        <p:spPr>
          <a:xfrm>
            <a:off x="1584930" y="1572768"/>
            <a:ext cx="9021836" cy="0"/>
          </a:xfrm>
          <a:prstGeom prst="line">
            <a:avLst/>
          </a:prstGeom>
          <a:noFill/>
          <a:ln w="25400">
            <a:solidFill>
              <a:srgbClr val="0074C8"/>
            </a:solidFill>
            <a:prstDash val="solid"/>
          </a:ln>
        </p:spPr>
      </p:sp>
      <p:sp>
        <p:nvSpPr>
          <p:cNvPr id="5" name="dot"/>
          <p:cNvSpPr/>
          <p:nvPr/>
        </p:nvSpPr>
        <p:spPr>
          <a:xfrm>
            <a:off x="1502634" y="1490472"/>
            <a:ext cx="164592" cy="164592"/>
          </a:xfrm>
          <a:prstGeom prst="ellipse">
            <a:avLst/>
          </a:prstGeom>
          <a:solidFill>
            <a:srgbClr val="0074C8"/>
          </a:solidFill>
          <a:ln w="3175">
            <a:solidFill>
              <a:srgbClr val="0074C8"/>
            </a:solidFill>
            <a:prstDash val="solid"/>
          </a:ln>
        </p:spPr>
      </p:sp>
      <p:sp>
        <p:nvSpPr>
          <p:cNvPr id="6" name="card"/>
          <p:cNvSpPr/>
          <p:nvPr/>
        </p:nvSpPr>
        <p:spPr>
          <a:xfrm>
            <a:off x="548640" y="1874520"/>
            <a:ext cx="2072579" cy="2743200"/>
          </a:xfrm>
          <a:prstGeom prst="roundRect">
            <a:avLst>
              <a:gd name="adj" fmla="val 6177"/>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7" name="pill"/>
          <p:cNvSpPr/>
          <p:nvPr/>
        </p:nvSpPr>
        <p:spPr>
          <a:xfrm>
            <a:off x="1127730" y="1719072"/>
            <a:ext cx="914400" cy="310896"/>
          </a:xfrm>
          <a:prstGeom prst="roundRect">
            <a:avLst>
              <a:gd name="adj" fmla="val 50000"/>
            </a:avLst>
          </a:prstGeom>
          <a:solidFill>
            <a:srgbClr val="00274A"/>
          </a:solidFill>
          <a:ln w="3175">
            <a:solidFill>
              <a:srgbClr val="00274A"/>
            </a:solidFill>
            <a:prstDash val="solid"/>
          </a:ln>
        </p:spPr>
      </p:sp>
      <p:sp>
        <p:nvSpPr>
          <p:cNvPr id="8" name="pill label"/>
          <p:cNvSpPr txBox="1"/>
          <p:nvPr/>
        </p:nvSpPr>
        <p:spPr>
          <a:xfrm>
            <a:off x="1127730" y="1719072"/>
            <a:ext cx="914400" cy="310896"/>
          </a:xfrm>
          <a:prstGeom prst="rect">
            <a:avLst/>
          </a:prstGeom>
          <a:noFill/>
          <a:ln/>
        </p:spPr>
        <p:txBody>
          <a:bodyPr wrap="square" lIns="0" tIns="0" rIns="0" bIns="0" rtlCol="0" anchor="ctr"/>
          <a:lstStyle/>
          <a:p>
            <a:pPr algn="ctr" indent="0" marL="0">
              <a:buNone/>
            </a:pPr>
            <a:r>
              <a:rPr lang="en-US" sz="1100" b="1" dirty="0">
                <a:solidFill>
                  <a:srgbClr val="FFFFFF"/>
                </a:solidFill>
              </a:rPr>
              <a:t>04.00</a:t>
            </a:r>
            <a:endParaRPr lang="en-US" sz="1100" dirty="0"/>
          </a:p>
        </p:txBody>
      </p:sp>
      <p:sp>
        <p:nvSpPr>
          <p:cNvPr id="9" name="text"/>
          <p:cNvSpPr txBox="1"/>
          <p:nvPr/>
        </p:nvSpPr>
        <p:spPr>
          <a:xfrm>
            <a:off x="731520" y="2194560"/>
            <a:ext cx="1706819" cy="256032"/>
          </a:xfrm>
          <a:prstGeom prst="rect">
            <a:avLst/>
          </a:prstGeom>
          <a:noFill/>
          <a:ln/>
        </p:spPr>
        <p:txBody>
          <a:bodyPr wrap="square" lIns="0" tIns="0" rIns="0" bIns="0" rtlCol="0" anchor="t"/>
          <a:lstStyle/>
          <a:p>
            <a:pPr algn="l" indent="0" marL="0">
              <a:buNone/>
            </a:pPr>
            <a:r>
              <a:rPr lang="en-US" sz="1050" b="1" dirty="0">
                <a:solidFill>
                  <a:srgbClr val="01426A"/>
                </a:solidFill>
              </a:rPr>
              <a:t>Prakiraan</a:t>
            </a:r>
            <a:endParaRPr lang="en-US" sz="1050" dirty="0"/>
          </a:p>
        </p:txBody>
      </p:sp>
      <p:sp>
        <p:nvSpPr>
          <p:cNvPr id="10" name="text"/>
          <p:cNvSpPr txBox="1"/>
          <p:nvPr/>
        </p:nvSpPr>
        <p:spPr>
          <a:xfrm>
            <a:off x="731520" y="2450592"/>
            <a:ext cx="1706819" cy="685800"/>
          </a:xfrm>
          <a:prstGeom prst="rect">
            <a:avLst/>
          </a:prstGeom>
          <a:noFill/>
          <a:ln/>
        </p:spPr>
        <p:txBody>
          <a:bodyPr wrap="square" lIns="0" tIns="0" rIns="0" bIns="0" rtlCol="0" anchor="t"/>
          <a:lstStyle/>
          <a:p>
            <a:pPr algn="l" indent="0" marL="0">
              <a:buNone/>
            </a:pPr>
            <a:r>
              <a:rPr lang="en-US" sz="1100" dirty="0">
                <a:solidFill>
                  <a:srgbClr val="00274A"/>
                </a:solidFill>
              </a:rPr>
              <a:t>Hujan dengan kemungkinan salju ringan.</a:t>
            </a:r>
            <a:endParaRPr lang="en-US" sz="1100" dirty="0"/>
          </a:p>
        </p:txBody>
      </p:sp>
      <p:sp>
        <p:nvSpPr>
          <p:cNvPr id="11" name="text"/>
          <p:cNvSpPr txBox="1"/>
          <p:nvPr/>
        </p:nvSpPr>
        <p:spPr>
          <a:xfrm>
            <a:off x="731520" y="3154680"/>
            <a:ext cx="1706819" cy="256032"/>
          </a:xfrm>
          <a:prstGeom prst="rect">
            <a:avLst/>
          </a:prstGeom>
          <a:noFill/>
          <a:ln/>
        </p:spPr>
        <p:txBody>
          <a:bodyPr wrap="square" lIns="0" tIns="0" rIns="0" bIns="0" rtlCol="0" anchor="t"/>
          <a:lstStyle/>
          <a:p>
            <a:pPr algn="l" indent="0" marL="0">
              <a:buNone/>
            </a:pPr>
            <a:r>
              <a:rPr lang="en-US" sz="1050" b="1" dirty="0">
                <a:solidFill>
                  <a:srgbClr val="51AE8C"/>
                </a:solidFill>
              </a:rPr>
              <a:t>Tindakan</a:t>
            </a:r>
            <a:endParaRPr lang="en-US" sz="1050" dirty="0"/>
          </a:p>
        </p:txBody>
      </p:sp>
      <p:sp>
        <p:nvSpPr>
          <p:cNvPr id="12" name="text"/>
          <p:cNvSpPr txBox="1"/>
          <p:nvPr/>
        </p:nvSpPr>
        <p:spPr>
          <a:xfrm>
            <a:off x="731520" y="3410712"/>
            <a:ext cx="1706819" cy="1143000"/>
          </a:xfrm>
          <a:prstGeom prst="rect">
            <a:avLst/>
          </a:prstGeom>
          <a:noFill/>
          <a:ln/>
        </p:spPr>
        <p:txBody>
          <a:bodyPr wrap="square" lIns="0" tIns="0" rIns="0" bIns="0" rtlCol="0" anchor="t"/>
          <a:lstStyle/>
          <a:p>
            <a:pPr algn="l" indent="0" marL="0">
              <a:buNone/>
            </a:pPr>
            <a:r>
              <a:rPr lang="en-US" sz="1100" dirty="0">
                <a:solidFill>
                  <a:srgbClr val="00274A"/>
                </a:solidFill>
              </a:rPr>
              <a:t>Membahas status pesawat dan kemungkinan kebutuhan pembatalan.</a:t>
            </a:r>
            <a:endParaRPr lang="en-US" sz="1100" dirty="0"/>
          </a:p>
        </p:txBody>
      </p:sp>
      <p:sp>
        <p:nvSpPr>
          <p:cNvPr id="13" name="dot"/>
          <p:cNvSpPr/>
          <p:nvPr/>
        </p:nvSpPr>
        <p:spPr>
          <a:xfrm>
            <a:off x="3758093" y="1490472"/>
            <a:ext cx="164592" cy="164592"/>
          </a:xfrm>
          <a:prstGeom prst="ellipse">
            <a:avLst/>
          </a:prstGeom>
          <a:solidFill>
            <a:srgbClr val="0074C8"/>
          </a:solidFill>
          <a:ln w="3175">
            <a:solidFill>
              <a:srgbClr val="0074C8"/>
            </a:solidFill>
            <a:prstDash val="solid"/>
          </a:ln>
        </p:spPr>
      </p:sp>
      <p:sp>
        <p:nvSpPr>
          <p:cNvPr id="14" name="card"/>
          <p:cNvSpPr/>
          <p:nvPr/>
        </p:nvSpPr>
        <p:spPr>
          <a:xfrm>
            <a:off x="2804099" y="1874520"/>
            <a:ext cx="2072579" cy="2743200"/>
          </a:xfrm>
          <a:prstGeom prst="roundRect">
            <a:avLst>
              <a:gd name="adj" fmla="val 6177"/>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15" name="pill"/>
          <p:cNvSpPr/>
          <p:nvPr/>
        </p:nvSpPr>
        <p:spPr>
          <a:xfrm>
            <a:off x="3383189" y="1719072"/>
            <a:ext cx="914400" cy="310896"/>
          </a:xfrm>
          <a:prstGeom prst="roundRect">
            <a:avLst>
              <a:gd name="adj" fmla="val 50000"/>
            </a:avLst>
          </a:prstGeom>
          <a:solidFill>
            <a:srgbClr val="00274A"/>
          </a:solidFill>
          <a:ln w="3175">
            <a:solidFill>
              <a:srgbClr val="00274A"/>
            </a:solidFill>
            <a:prstDash val="solid"/>
          </a:ln>
        </p:spPr>
      </p:sp>
      <p:sp>
        <p:nvSpPr>
          <p:cNvPr id="16" name="pill label"/>
          <p:cNvSpPr txBox="1"/>
          <p:nvPr/>
        </p:nvSpPr>
        <p:spPr>
          <a:xfrm>
            <a:off x="3383189" y="1719072"/>
            <a:ext cx="914400" cy="310896"/>
          </a:xfrm>
          <a:prstGeom prst="rect">
            <a:avLst/>
          </a:prstGeom>
          <a:noFill/>
          <a:ln/>
        </p:spPr>
        <p:txBody>
          <a:bodyPr wrap="square" lIns="0" tIns="0" rIns="0" bIns="0" rtlCol="0" anchor="ctr"/>
          <a:lstStyle/>
          <a:p>
            <a:pPr algn="ctr" indent="0" marL="0">
              <a:buNone/>
            </a:pPr>
            <a:r>
              <a:rPr lang="en-US" sz="1100" b="1" dirty="0">
                <a:solidFill>
                  <a:srgbClr val="FFFFFF"/>
                </a:solidFill>
              </a:rPr>
              <a:t>10.00</a:t>
            </a:r>
            <a:endParaRPr lang="en-US" sz="1100" dirty="0"/>
          </a:p>
        </p:txBody>
      </p:sp>
      <p:sp>
        <p:nvSpPr>
          <p:cNvPr id="17" name="text"/>
          <p:cNvSpPr txBox="1"/>
          <p:nvPr/>
        </p:nvSpPr>
        <p:spPr>
          <a:xfrm>
            <a:off x="2986979" y="2194560"/>
            <a:ext cx="1706819" cy="256032"/>
          </a:xfrm>
          <a:prstGeom prst="rect">
            <a:avLst/>
          </a:prstGeom>
          <a:noFill/>
          <a:ln/>
        </p:spPr>
        <p:txBody>
          <a:bodyPr wrap="square" lIns="0" tIns="0" rIns="0" bIns="0" rtlCol="0" anchor="t"/>
          <a:lstStyle/>
          <a:p>
            <a:pPr algn="l" indent="0" marL="0">
              <a:buNone/>
            </a:pPr>
            <a:r>
              <a:rPr lang="en-US" sz="1050" b="1" dirty="0">
                <a:solidFill>
                  <a:srgbClr val="01426A"/>
                </a:solidFill>
              </a:rPr>
              <a:t>Prakiraan</a:t>
            </a:r>
            <a:endParaRPr lang="en-US" sz="1050" dirty="0"/>
          </a:p>
        </p:txBody>
      </p:sp>
      <p:sp>
        <p:nvSpPr>
          <p:cNvPr id="18" name="text"/>
          <p:cNvSpPr txBox="1"/>
          <p:nvPr/>
        </p:nvSpPr>
        <p:spPr>
          <a:xfrm>
            <a:off x="2986979" y="2450592"/>
            <a:ext cx="1706819" cy="685800"/>
          </a:xfrm>
          <a:prstGeom prst="rect">
            <a:avLst/>
          </a:prstGeom>
          <a:noFill/>
          <a:ln/>
        </p:spPr>
        <p:txBody>
          <a:bodyPr wrap="square" lIns="0" tIns="0" rIns="0" bIns="0" rtlCol="0" anchor="t"/>
          <a:lstStyle/>
          <a:p>
            <a:pPr algn="l" indent="0" marL="0">
              <a:buNone/>
            </a:pPr>
            <a:r>
              <a:rPr lang="en-US" sz="1100" dirty="0">
                <a:solidFill>
                  <a:srgbClr val="00274A"/>
                </a:solidFill>
              </a:rPr>
              <a:t>Hujan beku setelah pukul 17.00.</a:t>
            </a:r>
            <a:endParaRPr lang="en-US" sz="1100" dirty="0"/>
          </a:p>
        </p:txBody>
      </p:sp>
      <p:sp>
        <p:nvSpPr>
          <p:cNvPr id="19" name="text"/>
          <p:cNvSpPr txBox="1"/>
          <p:nvPr/>
        </p:nvSpPr>
        <p:spPr>
          <a:xfrm>
            <a:off x="2986979" y="3154680"/>
            <a:ext cx="1706819" cy="256032"/>
          </a:xfrm>
          <a:prstGeom prst="rect">
            <a:avLst/>
          </a:prstGeom>
          <a:noFill/>
          <a:ln/>
        </p:spPr>
        <p:txBody>
          <a:bodyPr wrap="square" lIns="0" tIns="0" rIns="0" bIns="0" rtlCol="0" anchor="t"/>
          <a:lstStyle/>
          <a:p>
            <a:pPr algn="l" indent="0" marL="0">
              <a:buNone/>
            </a:pPr>
            <a:r>
              <a:rPr lang="en-US" sz="1050" b="1" dirty="0">
                <a:solidFill>
                  <a:srgbClr val="51AE8C"/>
                </a:solidFill>
              </a:rPr>
              <a:t>Tindakan</a:t>
            </a:r>
            <a:endParaRPr lang="en-US" sz="1050" dirty="0"/>
          </a:p>
        </p:txBody>
      </p:sp>
      <p:sp>
        <p:nvSpPr>
          <p:cNvPr id="20" name="text"/>
          <p:cNvSpPr txBox="1"/>
          <p:nvPr/>
        </p:nvSpPr>
        <p:spPr>
          <a:xfrm>
            <a:off x="2986979" y="3410712"/>
            <a:ext cx="1706819" cy="1143000"/>
          </a:xfrm>
          <a:prstGeom prst="rect">
            <a:avLst/>
          </a:prstGeom>
          <a:noFill/>
          <a:ln/>
        </p:spPr>
        <p:txBody>
          <a:bodyPr wrap="square" lIns="0" tIns="0" rIns="0" bIns="0" rtlCol="0" anchor="t"/>
          <a:lstStyle/>
          <a:p>
            <a:pPr algn="l" indent="0" marL="0">
              <a:buNone/>
            </a:pPr>
            <a:r>
              <a:rPr lang="en-US" sz="1100" dirty="0">
                <a:solidFill>
                  <a:srgbClr val="00274A"/>
                </a:solidFill>
              </a:rPr>
              <a:t>Menyiapkan truk </a:t>
            </a:r>
            <a:r>
              <a:rPr lang="en-US" sz="1100" i="1" dirty="0">
                <a:solidFill>
                  <a:srgbClr val="00274A"/>
                </a:solidFill>
              </a:rPr>
              <a:t>deicing</a:t>
            </a:r>
            <a:r>
              <a:rPr lang="en-US" sz="1100" dirty="0">
                <a:solidFill>
                  <a:srgbClr val="00274A"/>
                </a:solidFill>
              </a:rPr>
              <a:t>; menyusun rencana pembatalan 50–80% penerbangan setelah pukul 18.00.</a:t>
            </a:r>
            <a:endParaRPr lang="en-US" sz="1100" dirty="0"/>
          </a:p>
        </p:txBody>
      </p:sp>
      <p:sp>
        <p:nvSpPr>
          <p:cNvPr id="21" name="dot"/>
          <p:cNvSpPr/>
          <p:nvPr/>
        </p:nvSpPr>
        <p:spPr>
          <a:xfrm>
            <a:off x="6013552" y="1490472"/>
            <a:ext cx="164592" cy="164592"/>
          </a:xfrm>
          <a:prstGeom prst="ellipse">
            <a:avLst/>
          </a:prstGeom>
          <a:solidFill>
            <a:srgbClr val="0074C8"/>
          </a:solidFill>
          <a:ln w="3175">
            <a:solidFill>
              <a:srgbClr val="0074C8"/>
            </a:solidFill>
            <a:prstDash val="solid"/>
          </a:ln>
        </p:spPr>
      </p:sp>
      <p:sp>
        <p:nvSpPr>
          <p:cNvPr id="22" name="card"/>
          <p:cNvSpPr/>
          <p:nvPr/>
        </p:nvSpPr>
        <p:spPr>
          <a:xfrm>
            <a:off x="5059558" y="1874520"/>
            <a:ext cx="2072579" cy="2743200"/>
          </a:xfrm>
          <a:prstGeom prst="roundRect">
            <a:avLst>
              <a:gd name="adj" fmla="val 6177"/>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23" name="pill"/>
          <p:cNvSpPr/>
          <p:nvPr/>
        </p:nvSpPr>
        <p:spPr>
          <a:xfrm>
            <a:off x="5638648" y="1719072"/>
            <a:ext cx="914400" cy="310896"/>
          </a:xfrm>
          <a:prstGeom prst="roundRect">
            <a:avLst>
              <a:gd name="adj" fmla="val 50000"/>
            </a:avLst>
          </a:prstGeom>
          <a:solidFill>
            <a:srgbClr val="00274A"/>
          </a:solidFill>
          <a:ln w="3175">
            <a:solidFill>
              <a:srgbClr val="00274A"/>
            </a:solidFill>
            <a:prstDash val="solid"/>
          </a:ln>
        </p:spPr>
      </p:sp>
      <p:sp>
        <p:nvSpPr>
          <p:cNvPr id="24" name="pill label"/>
          <p:cNvSpPr txBox="1"/>
          <p:nvPr/>
        </p:nvSpPr>
        <p:spPr>
          <a:xfrm>
            <a:off x="5638648" y="1719072"/>
            <a:ext cx="914400" cy="310896"/>
          </a:xfrm>
          <a:prstGeom prst="rect">
            <a:avLst/>
          </a:prstGeom>
          <a:noFill/>
          <a:ln/>
        </p:spPr>
        <p:txBody>
          <a:bodyPr wrap="square" lIns="0" tIns="0" rIns="0" bIns="0" rtlCol="0" anchor="ctr"/>
          <a:lstStyle/>
          <a:p>
            <a:pPr algn="ctr" indent="0" marL="0">
              <a:buNone/>
            </a:pPr>
            <a:r>
              <a:rPr lang="en-US" sz="1100" b="1" dirty="0">
                <a:solidFill>
                  <a:srgbClr val="FFFFFF"/>
                </a:solidFill>
              </a:rPr>
              <a:t>13.30</a:t>
            </a:r>
            <a:endParaRPr lang="en-US" sz="1100" dirty="0"/>
          </a:p>
        </p:txBody>
      </p:sp>
      <p:sp>
        <p:nvSpPr>
          <p:cNvPr id="25" name="text"/>
          <p:cNvSpPr txBox="1"/>
          <p:nvPr/>
        </p:nvSpPr>
        <p:spPr>
          <a:xfrm>
            <a:off x="5242438" y="2194560"/>
            <a:ext cx="1706819" cy="256032"/>
          </a:xfrm>
          <a:prstGeom prst="rect">
            <a:avLst/>
          </a:prstGeom>
          <a:noFill/>
          <a:ln/>
        </p:spPr>
        <p:txBody>
          <a:bodyPr wrap="square" lIns="0" tIns="0" rIns="0" bIns="0" rtlCol="0" anchor="t"/>
          <a:lstStyle/>
          <a:p>
            <a:pPr algn="l" indent="0" marL="0">
              <a:buNone/>
            </a:pPr>
            <a:r>
              <a:rPr lang="en-US" sz="1050" b="1" dirty="0">
                <a:solidFill>
                  <a:srgbClr val="01426A"/>
                </a:solidFill>
              </a:rPr>
              <a:t>Prakiraan</a:t>
            </a:r>
            <a:endParaRPr lang="en-US" sz="1050" dirty="0"/>
          </a:p>
        </p:txBody>
      </p:sp>
      <p:sp>
        <p:nvSpPr>
          <p:cNvPr id="26" name="text"/>
          <p:cNvSpPr txBox="1"/>
          <p:nvPr/>
        </p:nvSpPr>
        <p:spPr>
          <a:xfrm>
            <a:off x="5242438" y="2450592"/>
            <a:ext cx="1706819" cy="685800"/>
          </a:xfrm>
          <a:prstGeom prst="rect">
            <a:avLst/>
          </a:prstGeom>
          <a:noFill/>
          <a:ln/>
        </p:spPr>
        <p:txBody>
          <a:bodyPr wrap="square" lIns="0" tIns="0" rIns="0" bIns="0" rtlCol="0" anchor="t"/>
          <a:lstStyle/>
          <a:p>
            <a:pPr algn="l" indent="0" marL="0">
              <a:buNone/>
            </a:pPr>
            <a:r>
              <a:rPr lang="en-US" sz="1100" dirty="0">
                <a:solidFill>
                  <a:srgbClr val="00274A"/>
                </a:solidFill>
              </a:rPr>
              <a:t>Hujan berubah menjadi salju.</a:t>
            </a:r>
            <a:endParaRPr lang="en-US" sz="1100" dirty="0"/>
          </a:p>
        </p:txBody>
      </p:sp>
      <p:sp>
        <p:nvSpPr>
          <p:cNvPr id="27" name="text"/>
          <p:cNvSpPr txBox="1"/>
          <p:nvPr/>
        </p:nvSpPr>
        <p:spPr>
          <a:xfrm>
            <a:off x="5242438" y="3154680"/>
            <a:ext cx="1706819" cy="256032"/>
          </a:xfrm>
          <a:prstGeom prst="rect">
            <a:avLst/>
          </a:prstGeom>
          <a:noFill/>
          <a:ln/>
        </p:spPr>
        <p:txBody>
          <a:bodyPr wrap="square" lIns="0" tIns="0" rIns="0" bIns="0" rtlCol="0" anchor="t"/>
          <a:lstStyle/>
          <a:p>
            <a:pPr algn="l" indent="0" marL="0">
              <a:buNone/>
            </a:pPr>
            <a:r>
              <a:rPr lang="en-US" sz="1050" b="1" dirty="0">
                <a:solidFill>
                  <a:srgbClr val="51AE8C"/>
                </a:solidFill>
              </a:rPr>
              <a:t>Tindakan</a:t>
            </a:r>
            <a:endParaRPr lang="en-US" sz="1050" dirty="0"/>
          </a:p>
        </p:txBody>
      </p:sp>
      <p:sp>
        <p:nvSpPr>
          <p:cNvPr id="28" name="text"/>
          <p:cNvSpPr txBox="1"/>
          <p:nvPr/>
        </p:nvSpPr>
        <p:spPr>
          <a:xfrm>
            <a:off x="5242438" y="3410712"/>
            <a:ext cx="1706819" cy="1143000"/>
          </a:xfrm>
          <a:prstGeom prst="rect">
            <a:avLst/>
          </a:prstGeom>
          <a:noFill/>
          <a:ln/>
        </p:spPr>
        <p:txBody>
          <a:bodyPr wrap="square" lIns="0" tIns="0" rIns="0" bIns="0" rtlCol="0" anchor="t"/>
          <a:lstStyle/>
          <a:p>
            <a:pPr algn="l" indent="0" marL="0">
              <a:buNone/>
            </a:pPr>
            <a:r>
              <a:rPr lang="en-US" sz="1100" dirty="0">
                <a:solidFill>
                  <a:srgbClr val="00274A"/>
                </a:solidFill>
              </a:rPr>
              <a:t>Membatalkan separuh penerbangan pukul 18.00–10.00; memberi tahu penumpang; mengalihkan rute pesawat.</a:t>
            </a:r>
            <a:endParaRPr lang="en-US" sz="1100" dirty="0"/>
          </a:p>
        </p:txBody>
      </p:sp>
      <p:sp>
        <p:nvSpPr>
          <p:cNvPr id="29" name="dot"/>
          <p:cNvSpPr/>
          <p:nvPr/>
        </p:nvSpPr>
        <p:spPr>
          <a:xfrm>
            <a:off x="8269011" y="1490472"/>
            <a:ext cx="164592" cy="164592"/>
          </a:xfrm>
          <a:prstGeom prst="ellipse">
            <a:avLst/>
          </a:prstGeom>
          <a:solidFill>
            <a:srgbClr val="0074C8"/>
          </a:solidFill>
          <a:ln w="3175">
            <a:solidFill>
              <a:srgbClr val="0074C8"/>
            </a:solidFill>
            <a:prstDash val="solid"/>
          </a:ln>
        </p:spPr>
      </p:sp>
      <p:sp>
        <p:nvSpPr>
          <p:cNvPr id="30" name="card"/>
          <p:cNvSpPr/>
          <p:nvPr/>
        </p:nvSpPr>
        <p:spPr>
          <a:xfrm>
            <a:off x="7315017" y="1874520"/>
            <a:ext cx="2072579" cy="2743200"/>
          </a:xfrm>
          <a:prstGeom prst="roundRect">
            <a:avLst>
              <a:gd name="adj" fmla="val 6177"/>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31" name="pill"/>
          <p:cNvSpPr/>
          <p:nvPr/>
        </p:nvSpPr>
        <p:spPr>
          <a:xfrm>
            <a:off x="7894107" y="1719072"/>
            <a:ext cx="914400" cy="310896"/>
          </a:xfrm>
          <a:prstGeom prst="roundRect">
            <a:avLst>
              <a:gd name="adj" fmla="val 50000"/>
            </a:avLst>
          </a:prstGeom>
          <a:solidFill>
            <a:srgbClr val="00274A"/>
          </a:solidFill>
          <a:ln w="3175">
            <a:solidFill>
              <a:srgbClr val="00274A"/>
            </a:solidFill>
            <a:prstDash val="solid"/>
          </a:ln>
        </p:spPr>
      </p:sp>
      <p:sp>
        <p:nvSpPr>
          <p:cNvPr id="32" name="pill label"/>
          <p:cNvSpPr txBox="1"/>
          <p:nvPr/>
        </p:nvSpPr>
        <p:spPr>
          <a:xfrm>
            <a:off x="7894107" y="1719072"/>
            <a:ext cx="914400" cy="310896"/>
          </a:xfrm>
          <a:prstGeom prst="rect">
            <a:avLst/>
          </a:prstGeom>
          <a:noFill/>
          <a:ln/>
        </p:spPr>
        <p:txBody>
          <a:bodyPr wrap="square" lIns="0" tIns="0" rIns="0" bIns="0" rtlCol="0" anchor="ctr"/>
          <a:lstStyle/>
          <a:p>
            <a:pPr algn="ctr" indent="0" marL="0">
              <a:buNone/>
            </a:pPr>
            <a:r>
              <a:rPr lang="en-US" sz="1100" b="1" dirty="0">
                <a:solidFill>
                  <a:srgbClr val="FFFFFF"/>
                </a:solidFill>
              </a:rPr>
              <a:t>17.00</a:t>
            </a:r>
            <a:endParaRPr lang="en-US" sz="1100" dirty="0"/>
          </a:p>
        </p:txBody>
      </p:sp>
      <p:sp>
        <p:nvSpPr>
          <p:cNvPr id="33" name="text"/>
          <p:cNvSpPr txBox="1"/>
          <p:nvPr/>
        </p:nvSpPr>
        <p:spPr>
          <a:xfrm>
            <a:off x="7497897" y="2194560"/>
            <a:ext cx="1706819" cy="256032"/>
          </a:xfrm>
          <a:prstGeom prst="rect">
            <a:avLst/>
          </a:prstGeom>
          <a:noFill/>
          <a:ln/>
        </p:spPr>
        <p:txBody>
          <a:bodyPr wrap="square" lIns="0" tIns="0" rIns="0" bIns="0" rtlCol="0" anchor="t"/>
          <a:lstStyle/>
          <a:p>
            <a:pPr algn="l" indent="0" marL="0">
              <a:buNone/>
            </a:pPr>
            <a:r>
              <a:rPr lang="en-US" sz="1050" b="1" dirty="0">
                <a:solidFill>
                  <a:srgbClr val="01426A"/>
                </a:solidFill>
              </a:rPr>
              <a:t>Prakiraan</a:t>
            </a:r>
            <a:endParaRPr lang="en-US" sz="1050" dirty="0"/>
          </a:p>
        </p:txBody>
      </p:sp>
      <p:sp>
        <p:nvSpPr>
          <p:cNvPr id="34" name="text"/>
          <p:cNvSpPr txBox="1"/>
          <p:nvPr/>
        </p:nvSpPr>
        <p:spPr>
          <a:xfrm>
            <a:off x="7497897" y="2450592"/>
            <a:ext cx="1706819" cy="685800"/>
          </a:xfrm>
          <a:prstGeom prst="rect">
            <a:avLst/>
          </a:prstGeom>
          <a:noFill/>
          <a:ln/>
        </p:spPr>
        <p:txBody>
          <a:bodyPr wrap="square" lIns="0" tIns="0" rIns="0" bIns="0" rtlCol="0" anchor="t"/>
          <a:lstStyle/>
          <a:p>
            <a:pPr algn="l" indent="0" marL="0">
              <a:buNone/>
            </a:pPr>
            <a:r>
              <a:rPr lang="en-US" sz="1100" dirty="0">
                <a:solidFill>
                  <a:srgbClr val="00274A"/>
                </a:solidFill>
              </a:rPr>
              <a:t>Salju lebih sedikit dari perkiraan.</a:t>
            </a:r>
            <a:endParaRPr lang="en-US" sz="1100" dirty="0"/>
          </a:p>
        </p:txBody>
      </p:sp>
      <p:sp>
        <p:nvSpPr>
          <p:cNvPr id="35" name="text"/>
          <p:cNvSpPr txBox="1"/>
          <p:nvPr/>
        </p:nvSpPr>
        <p:spPr>
          <a:xfrm>
            <a:off x="7497897" y="3154680"/>
            <a:ext cx="1706819" cy="256032"/>
          </a:xfrm>
          <a:prstGeom prst="rect">
            <a:avLst/>
          </a:prstGeom>
          <a:noFill/>
          <a:ln/>
        </p:spPr>
        <p:txBody>
          <a:bodyPr wrap="square" lIns="0" tIns="0" rIns="0" bIns="0" rtlCol="0" anchor="t"/>
          <a:lstStyle/>
          <a:p>
            <a:pPr algn="l" indent="0" marL="0">
              <a:buNone/>
            </a:pPr>
            <a:r>
              <a:rPr lang="en-US" sz="1050" b="1" dirty="0">
                <a:solidFill>
                  <a:srgbClr val="51AE8C"/>
                </a:solidFill>
              </a:rPr>
              <a:t>Tindakan</a:t>
            </a:r>
            <a:endParaRPr lang="en-US" sz="1050" dirty="0"/>
          </a:p>
        </p:txBody>
      </p:sp>
      <p:sp>
        <p:nvSpPr>
          <p:cNvPr id="36" name="text"/>
          <p:cNvSpPr txBox="1"/>
          <p:nvPr/>
        </p:nvSpPr>
        <p:spPr>
          <a:xfrm>
            <a:off x="7497897" y="3410712"/>
            <a:ext cx="1706819" cy="1143000"/>
          </a:xfrm>
          <a:prstGeom prst="rect">
            <a:avLst/>
          </a:prstGeom>
          <a:noFill/>
          <a:ln/>
        </p:spPr>
        <p:txBody>
          <a:bodyPr wrap="square" lIns="0" tIns="0" rIns="0" bIns="0" rtlCol="0" anchor="t"/>
          <a:lstStyle/>
          <a:p>
            <a:pPr algn="l" indent="0" marL="0">
              <a:buNone/>
            </a:pPr>
            <a:r>
              <a:rPr lang="en-US" sz="1100" dirty="0">
                <a:solidFill>
                  <a:srgbClr val="00274A"/>
                </a:solidFill>
              </a:rPr>
              <a:t>Terus menghubungi penumpang dan mengatur penerbangan alternatif.</a:t>
            </a:r>
            <a:endParaRPr lang="en-US" sz="1100" dirty="0"/>
          </a:p>
        </p:txBody>
      </p:sp>
      <p:sp>
        <p:nvSpPr>
          <p:cNvPr id="37" name="dot"/>
          <p:cNvSpPr/>
          <p:nvPr/>
        </p:nvSpPr>
        <p:spPr>
          <a:xfrm>
            <a:off x="10524470" y="1490472"/>
            <a:ext cx="164592" cy="164592"/>
          </a:xfrm>
          <a:prstGeom prst="ellipse">
            <a:avLst/>
          </a:prstGeom>
          <a:solidFill>
            <a:srgbClr val="0074C8"/>
          </a:solidFill>
          <a:ln w="3175">
            <a:solidFill>
              <a:srgbClr val="0074C8"/>
            </a:solidFill>
            <a:prstDash val="solid"/>
          </a:ln>
        </p:spPr>
      </p:sp>
      <p:sp>
        <p:nvSpPr>
          <p:cNvPr id="38" name="card"/>
          <p:cNvSpPr/>
          <p:nvPr/>
        </p:nvSpPr>
        <p:spPr>
          <a:xfrm>
            <a:off x="9570476" y="1874520"/>
            <a:ext cx="2072579" cy="2743200"/>
          </a:xfrm>
          <a:prstGeom prst="roundRect">
            <a:avLst>
              <a:gd name="adj" fmla="val 6177"/>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39" name="pill"/>
          <p:cNvSpPr/>
          <p:nvPr/>
        </p:nvSpPr>
        <p:spPr>
          <a:xfrm>
            <a:off x="10149566" y="1719072"/>
            <a:ext cx="914400" cy="310896"/>
          </a:xfrm>
          <a:prstGeom prst="roundRect">
            <a:avLst>
              <a:gd name="adj" fmla="val 50000"/>
            </a:avLst>
          </a:prstGeom>
          <a:solidFill>
            <a:srgbClr val="00274A"/>
          </a:solidFill>
          <a:ln w="3175">
            <a:solidFill>
              <a:srgbClr val="00274A"/>
            </a:solidFill>
            <a:prstDash val="solid"/>
          </a:ln>
        </p:spPr>
      </p:sp>
      <p:sp>
        <p:nvSpPr>
          <p:cNvPr id="40" name="pill label"/>
          <p:cNvSpPr txBox="1"/>
          <p:nvPr/>
        </p:nvSpPr>
        <p:spPr>
          <a:xfrm>
            <a:off x="10149566" y="1719072"/>
            <a:ext cx="914400" cy="310896"/>
          </a:xfrm>
          <a:prstGeom prst="rect">
            <a:avLst/>
          </a:prstGeom>
          <a:noFill/>
          <a:ln/>
        </p:spPr>
        <p:txBody>
          <a:bodyPr wrap="square" lIns="0" tIns="0" rIns="0" bIns="0" rtlCol="0" anchor="ctr"/>
          <a:lstStyle/>
          <a:p>
            <a:pPr algn="ctr" indent="0" marL="0">
              <a:buNone/>
            </a:pPr>
            <a:r>
              <a:rPr lang="en-US" sz="1100" b="1" dirty="0">
                <a:solidFill>
                  <a:srgbClr val="FFFFFF"/>
                </a:solidFill>
              </a:rPr>
              <a:t>22.00</a:t>
            </a:r>
            <a:endParaRPr lang="en-US" sz="1100" dirty="0"/>
          </a:p>
        </p:txBody>
      </p:sp>
      <p:sp>
        <p:nvSpPr>
          <p:cNvPr id="41" name="text"/>
          <p:cNvSpPr txBox="1"/>
          <p:nvPr/>
        </p:nvSpPr>
        <p:spPr>
          <a:xfrm>
            <a:off x="9753356" y="2194560"/>
            <a:ext cx="1706819" cy="256032"/>
          </a:xfrm>
          <a:prstGeom prst="rect">
            <a:avLst/>
          </a:prstGeom>
          <a:noFill/>
          <a:ln/>
        </p:spPr>
        <p:txBody>
          <a:bodyPr wrap="square" lIns="0" tIns="0" rIns="0" bIns="0" rtlCol="0" anchor="t"/>
          <a:lstStyle/>
          <a:p>
            <a:pPr algn="l" indent="0" marL="0">
              <a:buNone/>
            </a:pPr>
            <a:r>
              <a:rPr lang="en-US" sz="1050" b="1" dirty="0">
                <a:solidFill>
                  <a:srgbClr val="01426A"/>
                </a:solidFill>
              </a:rPr>
              <a:t>Prakiraan</a:t>
            </a:r>
            <a:endParaRPr lang="en-US" sz="1050" dirty="0"/>
          </a:p>
        </p:txBody>
      </p:sp>
      <p:sp>
        <p:nvSpPr>
          <p:cNvPr id="42" name="text"/>
          <p:cNvSpPr txBox="1"/>
          <p:nvPr/>
        </p:nvSpPr>
        <p:spPr>
          <a:xfrm>
            <a:off x="9753356" y="2450592"/>
            <a:ext cx="1706819" cy="685800"/>
          </a:xfrm>
          <a:prstGeom prst="rect">
            <a:avLst/>
          </a:prstGeom>
          <a:noFill/>
          <a:ln/>
        </p:spPr>
        <p:txBody>
          <a:bodyPr wrap="square" lIns="0" tIns="0" rIns="0" bIns="0" rtlCol="0" anchor="t"/>
          <a:lstStyle/>
          <a:p>
            <a:pPr algn="l" indent="0" marL="0">
              <a:buNone/>
            </a:pPr>
            <a:r>
              <a:rPr lang="en-US" sz="1100" dirty="0">
                <a:solidFill>
                  <a:srgbClr val="00274A"/>
                </a:solidFill>
              </a:rPr>
              <a:t>Salju mereda.</a:t>
            </a:r>
            <a:endParaRPr lang="en-US" sz="1100" dirty="0"/>
          </a:p>
        </p:txBody>
      </p:sp>
      <p:sp>
        <p:nvSpPr>
          <p:cNvPr id="43" name="text"/>
          <p:cNvSpPr txBox="1"/>
          <p:nvPr/>
        </p:nvSpPr>
        <p:spPr>
          <a:xfrm>
            <a:off x="9753356" y="3154680"/>
            <a:ext cx="1706819" cy="256032"/>
          </a:xfrm>
          <a:prstGeom prst="rect">
            <a:avLst/>
          </a:prstGeom>
          <a:noFill/>
          <a:ln/>
        </p:spPr>
        <p:txBody>
          <a:bodyPr wrap="square" lIns="0" tIns="0" rIns="0" bIns="0" rtlCol="0" anchor="t"/>
          <a:lstStyle/>
          <a:p>
            <a:pPr algn="l" indent="0" marL="0">
              <a:buNone/>
            </a:pPr>
            <a:r>
              <a:rPr lang="en-US" sz="1050" b="1" dirty="0">
                <a:solidFill>
                  <a:srgbClr val="51AE8C"/>
                </a:solidFill>
              </a:rPr>
              <a:t>Tindakan</a:t>
            </a:r>
            <a:endParaRPr lang="en-US" sz="1050" dirty="0"/>
          </a:p>
        </p:txBody>
      </p:sp>
      <p:sp>
        <p:nvSpPr>
          <p:cNvPr id="44" name="text"/>
          <p:cNvSpPr txBox="1"/>
          <p:nvPr/>
        </p:nvSpPr>
        <p:spPr>
          <a:xfrm>
            <a:off x="9753356" y="3410712"/>
            <a:ext cx="1706819" cy="1143000"/>
          </a:xfrm>
          <a:prstGeom prst="rect">
            <a:avLst/>
          </a:prstGeom>
          <a:noFill/>
          <a:ln/>
        </p:spPr>
        <p:txBody>
          <a:bodyPr wrap="square" lIns="0" tIns="0" rIns="0" bIns="0" rtlCol="0" anchor="t"/>
          <a:lstStyle/>
          <a:p>
            <a:pPr algn="l" indent="0" marL="0">
              <a:buNone/>
            </a:pPr>
            <a:r>
              <a:rPr lang="en-US" sz="1100" dirty="0">
                <a:solidFill>
                  <a:srgbClr val="00274A"/>
                </a:solidFill>
              </a:rPr>
              <a:t>Mencarikan hotel bagi 600 penumpang yang terdampar oleh badai.</a:t>
            </a:r>
            <a:endParaRPr lang="en-US" sz="1100" dirty="0"/>
          </a:p>
        </p:txBody>
      </p:sp>
      <p:sp>
        <p:nvSpPr>
          <p:cNvPr id="45" name="card"/>
          <p:cNvSpPr/>
          <p:nvPr/>
        </p:nvSpPr>
        <p:spPr>
          <a:xfrm>
            <a:off x="548640" y="4846320"/>
            <a:ext cx="5410048" cy="1389888"/>
          </a:xfrm>
          <a:prstGeom prst="roundRect">
            <a:avLst>
              <a:gd name="adj" fmla="val 9211"/>
            </a:avLst>
          </a:prstGeom>
          <a:solidFill>
            <a:srgbClr val="F0F7FD"/>
          </a:solidFill>
          <a:ln w="3175">
            <a:solidFill>
              <a:srgbClr val="F0F7FD"/>
            </a:solidFill>
            <a:prstDash val="solid"/>
          </a:ln>
        </p:spPr>
      </p:sp>
      <p:sp>
        <p:nvSpPr>
          <p:cNvPr id="46" name="text"/>
          <p:cNvSpPr txBox="1"/>
          <p:nvPr/>
        </p:nvSpPr>
        <p:spPr>
          <a:xfrm>
            <a:off x="777240" y="4846320"/>
            <a:ext cx="4952848" cy="1389888"/>
          </a:xfrm>
          <a:prstGeom prst="rect">
            <a:avLst/>
          </a:prstGeom>
          <a:noFill/>
          <a:ln/>
        </p:spPr>
        <p:txBody>
          <a:bodyPr wrap="square" lIns="0" tIns="0" rIns="0" bIns="0" rtlCol="0" anchor="ctr"/>
          <a:lstStyle/>
          <a:p>
            <a:pPr algn="l" indent="0" marL="0">
              <a:buNone/>
            </a:pPr>
            <a:r>
              <a:rPr lang="en-US" sz="1150" b="1" dirty="0">
                <a:solidFill>
                  <a:srgbClr val="00274A"/>
                </a:solidFill>
              </a:rPr>
              <a:t>Pembacaan teori:</a:t>
            </a:r>
            <a:r>
              <a:rPr lang="en-US" sz="1150" dirty="0">
                <a:solidFill>
                  <a:srgbClr val="00274A"/>
                </a:solidFill>
              </a:rPr>
              <a:t> setiap titik waktu adalah satu siklus </a:t>
            </a:r>
            <a:r>
              <a:rPr lang="en-US" sz="1150" i="1" dirty="0">
                <a:solidFill>
                  <a:srgbClr val="00274A"/>
                </a:solidFill>
              </a:rPr>
              <a:t>plan–monitor–replan</a:t>
            </a:r>
            <a:r>
              <a:rPr lang="en-US" sz="1150" dirty="0">
                <a:solidFill>
                  <a:srgbClr val="00274A"/>
                </a:solidFill>
              </a:rPr>
              <a:t>. Semakin pendek horizonnya, semakin dominan </a:t>
            </a:r>
            <a:r>
              <a:rPr lang="en-US" sz="1150" i="1" dirty="0">
                <a:solidFill>
                  <a:srgbClr val="00274A"/>
                </a:solidFill>
              </a:rPr>
              <a:t>control</a:t>
            </a:r>
            <a:r>
              <a:rPr lang="en-US" sz="1150" dirty="0">
                <a:solidFill>
                  <a:srgbClr val="00274A"/>
                </a:solidFill>
              </a:rPr>
              <a:t> atas </a:t>
            </a:r>
            <a:r>
              <a:rPr lang="en-US" sz="1150" i="1" dirty="0">
                <a:solidFill>
                  <a:srgbClr val="00274A"/>
                </a:solidFill>
              </a:rPr>
              <a:t>planning</a:t>
            </a:r>
            <a:r>
              <a:rPr lang="en-US" sz="1150" dirty="0">
                <a:solidFill>
                  <a:srgbClr val="00274A"/>
                </a:solidFill>
              </a:rPr>
              <a:t> (Slack et al., 2022, Bab 10): prakiraan direvisi lima kali dalam 18 jam, dan setiap revisi memicu intervensi baru.</a:t>
            </a:r>
            <a:endParaRPr lang="en-US" sz="1150" dirty="0"/>
          </a:p>
        </p:txBody>
      </p:sp>
      <p:sp>
        <p:nvSpPr>
          <p:cNvPr id="47" name="card"/>
          <p:cNvSpPr/>
          <p:nvPr/>
        </p:nvSpPr>
        <p:spPr>
          <a:xfrm>
            <a:off x="6233008" y="4846320"/>
            <a:ext cx="5410048" cy="1389888"/>
          </a:xfrm>
          <a:prstGeom prst="roundRect">
            <a:avLst>
              <a:gd name="adj" fmla="val 9211"/>
            </a:avLst>
          </a:prstGeom>
          <a:solidFill>
            <a:srgbClr val="00274A"/>
          </a:solidFill>
          <a:ln w="3175">
            <a:solidFill>
              <a:srgbClr val="00274A"/>
            </a:solidFill>
            <a:prstDash val="solid"/>
          </a:ln>
        </p:spPr>
      </p:sp>
      <p:sp>
        <p:nvSpPr>
          <p:cNvPr id="48" name="text"/>
          <p:cNvSpPr txBox="1"/>
          <p:nvPr/>
        </p:nvSpPr>
        <p:spPr>
          <a:xfrm>
            <a:off x="6461608" y="4846320"/>
            <a:ext cx="4952848" cy="1389888"/>
          </a:xfrm>
          <a:prstGeom prst="rect">
            <a:avLst/>
          </a:prstGeom>
          <a:noFill/>
          <a:ln/>
        </p:spPr>
        <p:txBody>
          <a:bodyPr wrap="square" lIns="0" tIns="0" rIns="0" bIns="0" rtlCol="0" anchor="ctr"/>
          <a:lstStyle/>
          <a:p>
            <a:pPr algn="l" indent="0" marL="0">
              <a:buNone/>
            </a:pPr>
            <a:r>
              <a:rPr lang="en-US" sz="1150" b="1" dirty="0">
                <a:solidFill>
                  <a:srgbClr val="FFFFFF"/>
                </a:solidFill>
              </a:rPr>
              <a:t>Pengendalian visual:</a:t>
            </a:r>
            <a:r>
              <a:rPr lang="en-US" sz="1150" dirty="0">
                <a:solidFill>
                  <a:srgbClr val="FFFFFF"/>
                </a:solidFill>
              </a:rPr>
              <a:t> Flight Operations Department di Seattle memantau penerbangan, peta meteorologi, dan pola cuaca pada banyak layar, dengan lampu </a:t>
            </a:r>
            <a:r>
              <a:rPr lang="en-US" sz="1150" i="1" dirty="0">
                <a:solidFill>
                  <a:srgbClr val="FFFFFF"/>
                </a:solidFill>
              </a:rPr>
              <a:t>andon</a:t>
            </a:r>
            <a:r>
              <a:rPr lang="en-US" sz="1150" dirty="0">
                <a:solidFill>
                  <a:srgbClr val="FFFFFF"/>
                </a:solidFill>
              </a:rPr>
              <a:t> hijau (normal), kuning (perlu perhatian), dan merah (darurat). Keunggulan kompetitif Alaska adalah kemampuan penyesuaian menit terakhir (Heizer et al., 2017).</a:t>
            </a:r>
            <a:endParaRPr lang="en-US" sz="1150" dirty="0"/>
          </a:p>
        </p:txBody>
      </p:sp>
      <p:sp>
        <p:nvSpPr>
          <p:cNvPr id="25" name="Slide Number Placeholder 0"/>
          <p:cNvSpPr>
            <a:spLocks noGrp="1"/>
          </p:cNvSpPr>
          <p:nvPr>
            <p:ph type="sldNum" sz="quarter" idx="4294967295"/>
          </p:nvPr>
        </p:nvSpPr>
        <p:spPr>
          <a:xfrm>
            <a:off x="11064240" y="6428232"/>
            <a:ext cx="576072"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01426A"/>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000" b="1" dirty="0">
                <a:solidFill>
                  <a:srgbClr val="00274A"/>
                </a:solidFill>
              </a:rPr>
              <a:t>Analisis 2 — Logika MRP pada Perawatan dan Suku Cadang</a:t>
            </a:r>
            <a:endParaRPr lang="en-US" sz="3000" dirty="0"/>
          </a:p>
        </p:txBody>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548640" y="1325880"/>
          <a:ext cx="6675120" cy="914400"/>
        </p:xfrm>
        <a:graphic>
          <a:graphicData uri="http://schemas.openxmlformats.org/drawingml/2006/table">
            <a:tbl>
              <a:tblPr/>
              <a:tblGrid>
                <a:gridCol w="1828800"/>
                <a:gridCol w="2834640"/>
                <a:gridCol w="2011680"/>
              </a:tblGrid>
              <a:tr h="566928">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Elemen MRP (teori)</a:t>
                      </a:r>
                      <a:endParaRPr lang="en-US" sz="11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00274A"/>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Padanan di Alaska Airlines</a:t>
                      </a:r>
                      <a:endParaRPr lang="en-US" sz="11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00274A"/>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Implikasi</a:t>
                      </a:r>
                      <a:endParaRPr lang="en-US" sz="11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00274A"/>
                    </a:solidFill>
                  </a:tcPr>
                </a:tc>
              </a:tr>
              <a:tr h="566928">
                <a:tc>
                  <a:txBody>
                    <a:bodyPr/>
                    <a:lstStyle/>
                    <a:p>
                      <a:pPr algn="l" indent="0" marL="0">
                        <a:buNone/>
                      </a:pPr>
                      <a:r>
                        <a:rPr lang="en-US" sz="1100" b="1" dirty="0">
                          <a:solidFill>
                            <a:srgbClr val="00274A"/>
                          </a:solidFill>
                          <a:latin typeface="Calibri" pitchFamily="34" charset="0"/>
                          <a:ea typeface="Calibri" pitchFamily="34" charset="-122"/>
                          <a:cs typeface="Calibri" pitchFamily="34" charset="-120"/>
                        </a:rPr>
                        <a:t>Master production schedule</a:t>
                      </a:r>
                      <a:endParaRPr lang="en-US" sz="11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274A"/>
                          </a:solidFill>
                          <a:latin typeface="Calibri" pitchFamily="34" charset="0"/>
                          <a:ea typeface="Calibri" pitchFamily="34" charset="-122"/>
                          <a:cs typeface="Calibri" pitchFamily="34" charset="-120"/>
                        </a:rPr>
                        <a:t>Rencana perawatan per tail number, diturunkan dari flight timetable serta jam terbang dan siklus pesawat</a:t>
                      </a:r>
                      <a:endParaRPr lang="en-US" sz="11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274A"/>
                          </a:solidFill>
                          <a:latin typeface="Calibri" pitchFamily="34" charset="0"/>
                          <a:ea typeface="Calibri" pitchFamily="34" charset="-122"/>
                          <a:cs typeface="Calibri" pitchFamily="34" charset="-120"/>
                        </a:rPr>
                        <a:t>Kebutuhan suku cadang bersifat dependent: dihitung, bukan diramalkan</a:t>
                      </a:r>
                      <a:endParaRPr lang="en-US" sz="11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r>
              <a:tr h="566928">
                <a:tc>
                  <a:txBody>
                    <a:bodyPr/>
                    <a:lstStyle/>
                    <a:p>
                      <a:pPr algn="l" indent="0" marL="0">
                        <a:buNone/>
                      </a:pPr>
                      <a:r>
                        <a:rPr lang="en-US" sz="1100" b="1" dirty="0">
                          <a:solidFill>
                            <a:srgbClr val="00274A"/>
                          </a:solidFill>
                          <a:latin typeface="Calibri" pitchFamily="34" charset="0"/>
                          <a:ea typeface="Calibri" pitchFamily="34" charset="-122"/>
                          <a:cs typeface="Calibri" pitchFamily="34" charset="-120"/>
                        </a:rPr>
                        <a:t>Bill of material</a:t>
                      </a:r>
                      <a:endParaRPr lang="en-US" sz="11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c>
                  <a:txBody>
                    <a:bodyPr/>
                    <a:lstStyle/>
                    <a:p>
                      <a:pPr algn="l" indent="0" marL="0">
                        <a:buNone/>
                      </a:pPr>
                      <a:r>
                        <a:rPr lang="en-US" sz="1100" dirty="0">
                          <a:solidFill>
                            <a:srgbClr val="00274A"/>
                          </a:solidFill>
                          <a:latin typeface="Calibri" pitchFamily="34" charset="0"/>
                          <a:ea typeface="Calibri" pitchFamily="34" charset="-122"/>
                          <a:cs typeface="Calibri" pitchFamily="34" charset="-120"/>
                        </a:rPr>
                        <a:t>Work package dan task card: daftar komponen dan jam kerja (bill of material dan bill of labor)</a:t>
                      </a:r>
                      <a:endParaRPr lang="en-US" sz="11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c>
                  <a:txBody>
                    <a:bodyPr/>
                    <a:lstStyle/>
                    <a:p>
                      <a:pPr algn="l" indent="0" marL="0">
                        <a:buNone/>
                      </a:pPr>
                      <a:r>
                        <a:rPr lang="en-US" sz="1100" dirty="0">
                          <a:solidFill>
                            <a:srgbClr val="00274A"/>
                          </a:solidFill>
                          <a:latin typeface="Calibri" pitchFamily="34" charset="0"/>
                          <a:ea typeface="Calibri" pitchFamily="34" charset="-122"/>
                          <a:cs typeface="Calibri" pitchFamily="34" charset="-120"/>
                        </a:rPr>
                        <a:t>Explosion kebutuhan per paket perawatan</a:t>
                      </a:r>
                      <a:endParaRPr lang="en-US" sz="11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r>
              <a:tr h="566928">
                <a:tc>
                  <a:txBody>
                    <a:bodyPr/>
                    <a:lstStyle/>
                    <a:p>
                      <a:pPr algn="l" indent="0" marL="0">
                        <a:buNone/>
                      </a:pPr>
                      <a:r>
                        <a:rPr lang="en-US" sz="1100" b="1" dirty="0">
                          <a:solidFill>
                            <a:srgbClr val="00274A"/>
                          </a:solidFill>
                          <a:latin typeface="Calibri" pitchFamily="34" charset="0"/>
                          <a:ea typeface="Calibri" pitchFamily="34" charset="-122"/>
                          <a:cs typeface="Calibri" pitchFamily="34" charset="-120"/>
                        </a:rPr>
                        <a:t>Catatan persediaan dan scheduled receipts</a:t>
                      </a:r>
                      <a:endParaRPr lang="en-US" sz="11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274A"/>
                          </a:solidFill>
                          <a:latin typeface="Calibri" pitchFamily="34" charset="0"/>
                          <a:ea typeface="Calibri" pitchFamily="34" charset="-122"/>
                          <a:cs typeface="Calibri" pitchFamily="34" charset="-120"/>
                        </a:rPr>
                        <a:t>Stok suku cadang di SEA dan basis lain; pesanan OEM yang sedang berjalan</a:t>
                      </a:r>
                      <a:endParaRPr lang="en-US" sz="11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274A"/>
                          </a:solidFill>
                          <a:latin typeface="Calibri" pitchFamily="34" charset="0"/>
                          <a:ea typeface="Calibri" pitchFamily="34" charset="-122"/>
                          <a:cs typeface="Calibri" pitchFamily="34" charset="-120"/>
                        </a:rPr>
                        <a:t>Netting: hanya kekurangan bersih yang dipesan</a:t>
                      </a:r>
                      <a:endParaRPr lang="en-US" sz="11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r>
              <a:tr h="566928">
                <a:tc>
                  <a:txBody>
                    <a:bodyPr/>
                    <a:lstStyle/>
                    <a:p>
                      <a:pPr algn="l" indent="0" marL="0">
                        <a:buNone/>
                      </a:pPr>
                      <a:r>
                        <a:rPr lang="en-US" sz="1100" b="1" dirty="0">
                          <a:solidFill>
                            <a:srgbClr val="00274A"/>
                          </a:solidFill>
                          <a:latin typeface="Calibri" pitchFamily="34" charset="0"/>
                          <a:ea typeface="Calibri" pitchFamily="34" charset="-122"/>
                          <a:cs typeface="Calibri" pitchFamily="34" charset="-120"/>
                        </a:rPr>
                        <a:t>Lead time</a:t>
                      </a:r>
                      <a:endParaRPr lang="en-US" sz="11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c>
                  <a:txBody>
                    <a:bodyPr/>
                    <a:lstStyle/>
                    <a:p>
                      <a:pPr algn="l" indent="0" marL="0">
                        <a:buNone/>
                      </a:pPr>
                      <a:r>
                        <a:rPr lang="en-US" sz="1100" dirty="0">
                          <a:solidFill>
                            <a:srgbClr val="00274A"/>
                          </a:solidFill>
                          <a:latin typeface="Calibri" pitchFamily="34" charset="0"/>
                          <a:ea typeface="Calibri" pitchFamily="34" charset="-122"/>
                          <a:cs typeface="Calibri" pitchFamily="34" charset="-120"/>
                        </a:rPr>
                        <a:t>Waktu pengadaan komponen dan waktu perbaikan di shop</a:t>
                      </a:r>
                      <a:endParaRPr lang="en-US" sz="11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c>
                  <a:txBody>
                    <a:bodyPr/>
                    <a:lstStyle/>
                    <a:p>
                      <a:pPr algn="l" indent="0" marL="0">
                        <a:buNone/>
                      </a:pPr>
                      <a:r>
                        <a:rPr lang="en-US" sz="1100" dirty="0">
                          <a:solidFill>
                            <a:srgbClr val="00274A"/>
                          </a:solidFill>
                          <a:latin typeface="Calibri" pitchFamily="34" charset="0"/>
                          <a:ea typeface="Calibri" pitchFamily="34" charset="-122"/>
                          <a:cs typeface="Calibri" pitchFamily="34" charset="-120"/>
                        </a:rPr>
                        <a:t>Offsetting rilis pesanan agar tiba tepat saat check</a:t>
                      </a:r>
                      <a:endParaRPr lang="en-US" sz="11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0F7FD"/>
                    </a:solidFill>
                  </a:tcPr>
                </a:tc>
              </a:tr>
              <a:tr h="566928">
                <a:tc>
                  <a:txBody>
                    <a:bodyPr/>
                    <a:lstStyle/>
                    <a:p>
                      <a:pPr algn="l" indent="0" marL="0">
                        <a:buNone/>
                      </a:pPr>
                      <a:r>
                        <a:rPr lang="en-US" sz="1100" b="1" dirty="0">
                          <a:solidFill>
                            <a:srgbClr val="00274A"/>
                          </a:solidFill>
                          <a:latin typeface="Calibri" pitchFamily="34" charset="0"/>
                          <a:ea typeface="Calibri" pitchFamily="34" charset="-122"/>
                          <a:cs typeface="Calibri" pitchFamily="34" charset="-120"/>
                        </a:rPr>
                        <a:t>Kapasitas (closed-loop MRP II)</a:t>
                      </a:r>
                      <a:endParaRPr lang="en-US" sz="11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274A"/>
                          </a:solidFill>
                          <a:latin typeface="Calibri" pitchFamily="34" charset="0"/>
                          <a:ea typeface="Calibri" pitchFamily="34" charset="-122"/>
                          <a:cs typeface="Calibri" pitchFamily="34" charset="-120"/>
                        </a:rPr>
                        <a:t>Slot hangar, teknisi bersertifikat, station capability rules</a:t>
                      </a:r>
                      <a:endParaRPr lang="en-US" sz="11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274A"/>
                          </a:solidFill>
                          <a:latin typeface="Calibri" pitchFamily="34" charset="0"/>
                          <a:ea typeface="Calibri" pitchFamily="34" charset="-122"/>
                          <a:cs typeface="Calibri" pitchFamily="34" charset="-120"/>
                        </a:rPr>
                        <a:t>Load report mencegah rencana yang tidak layak dan AOG</a:t>
                      </a:r>
                      <a:endParaRPr lang="en-US" sz="1100" dirty="0">
                        <a:latin typeface="Calibri" charset="0"/>
                        <a:ea typeface="Calibri" charset="0"/>
                        <a:cs typeface="Calibri" charset="0"/>
                      </a:endParaRPr>
                    </a:p>
                  </a:txBody>
                  <a:tcPr marL="45720" marR="45720" marT="45720" marB="45720" anchor="ctr">
                    <a:lnL w="9525" cap="flat" cmpd="sng" algn="ctr">
                      <a:solidFill>
                        <a:srgbClr val="C9E0F7"/>
                      </a:solidFill>
                      <a:prstDash val="solid"/>
                      <a:round/>
                      <a:headEnd type="none" w="med" len="med"/>
                      <a:tailEnd type="none" w="med" len="med"/>
                    </a:lnL>
                    <a:lnR w="9525" cap="flat" cmpd="sng" algn="ctr">
                      <a:solidFill>
                        <a:srgbClr val="C9E0F7"/>
                      </a:solidFill>
                      <a:prstDash val="solid"/>
                      <a:round/>
                      <a:headEnd type="none" w="med" len="med"/>
                      <a:tailEnd type="none" w="med" len="med"/>
                    </a:lnR>
                    <a:lnT w="9525" cap="flat" cmpd="sng" algn="ctr">
                      <a:solidFill>
                        <a:srgbClr val="C9E0F7"/>
                      </a:solidFill>
                      <a:prstDash val="solid"/>
                      <a:round/>
                      <a:headEnd type="none" w="med" len="med"/>
                      <a:tailEnd type="none" w="med" len="med"/>
                    </a:lnT>
                    <a:lnB w="9525" cap="flat" cmpd="sng" algn="ctr">
                      <a:solidFill>
                        <a:srgbClr val="C9E0F7"/>
                      </a:solidFill>
                      <a:prstDash val="solid"/>
                      <a:round/>
                      <a:headEnd type="none" w="med" len="med"/>
                      <a:tailEnd type="none" w="med" len="med"/>
                    </a:lnB>
                    <a:solidFill>
                      <a:srgbClr val="FFFFFF"/>
                    </a:solidFill>
                  </a:tcPr>
                </a:tc>
              </a:tr>
            </a:tbl>
          </a:graphicData>
        </a:graphic>
      </p:graphicFrame>
      <p:sp>
        <p:nvSpPr>
          <p:cNvPr id="5" name="card"/>
          <p:cNvSpPr/>
          <p:nvPr/>
        </p:nvSpPr>
        <p:spPr>
          <a:xfrm>
            <a:off x="7452360" y="1325880"/>
            <a:ext cx="4190695" cy="2286000"/>
          </a:xfrm>
          <a:prstGeom prst="roundRect">
            <a:avLst>
              <a:gd name="adj" fmla="val 5600"/>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6" name="icon circle"/>
          <p:cNvSpPr/>
          <p:nvPr/>
        </p:nvSpPr>
        <p:spPr>
          <a:xfrm>
            <a:off x="7680960" y="1508760"/>
            <a:ext cx="502920" cy="502920"/>
          </a:xfrm>
          <a:prstGeom prst="ellipse">
            <a:avLst/>
          </a:prstGeom>
          <a:solidFill>
            <a:srgbClr val="00CFF0"/>
          </a:solidFill>
          <a:ln w="3175">
            <a:solidFill>
              <a:srgbClr val="00CFF0"/>
            </a:solidFill>
            <a:prstDash val="solid"/>
          </a:ln>
        </p:spPr>
      </p:sp>
      <p:pic>
        <p:nvPicPr>
          <p:cNvPr id="7" name="icon FaWrench" descr="preencoded.png">    </p:cNvPr>
          <p:cNvPicPr>
            <a:picLocks noChangeAspect="1"/>
          </p:cNvPicPr>
          <p:nvPr/>
        </p:nvPicPr>
        <p:blipFill>
          <a:blip r:embed="rId1"/>
          <a:stretch>
            <a:fillRect/>
          </a:stretch>
        </p:blipFill>
        <p:spPr>
          <a:xfrm>
            <a:off x="7806690" y="1634490"/>
            <a:ext cx="251460" cy="251460"/>
          </a:xfrm>
          <a:prstGeom prst="rect">
            <a:avLst/>
          </a:prstGeom>
        </p:spPr>
      </p:pic>
      <p:sp>
        <p:nvSpPr>
          <p:cNvPr id="8" name="text"/>
          <p:cNvSpPr txBox="1"/>
          <p:nvPr/>
        </p:nvSpPr>
        <p:spPr>
          <a:xfrm>
            <a:off x="8321040" y="1508760"/>
            <a:ext cx="3093415" cy="502920"/>
          </a:xfrm>
          <a:prstGeom prst="rect">
            <a:avLst/>
          </a:prstGeom>
          <a:noFill/>
          <a:ln/>
        </p:spPr>
        <p:txBody>
          <a:bodyPr wrap="square" lIns="0" tIns="0" rIns="0" bIns="0" rtlCol="0" anchor="ctr"/>
          <a:lstStyle/>
          <a:p>
            <a:pPr algn="l" indent="0" marL="0">
              <a:buNone/>
            </a:pPr>
            <a:r>
              <a:rPr lang="en-US" sz="1300" b="1" dirty="0">
                <a:solidFill>
                  <a:srgbClr val="00274A"/>
                </a:solidFill>
              </a:rPr>
              <a:t>Bukti 2024: lonjakan gross requirements</a:t>
            </a:r>
            <a:endParaRPr lang="en-US" sz="1300" dirty="0"/>
          </a:p>
        </p:txBody>
      </p:sp>
      <p:sp>
        <p:nvSpPr>
          <p:cNvPr id="9" name="text"/>
          <p:cNvSpPr txBox="1"/>
          <p:nvPr/>
        </p:nvSpPr>
        <p:spPr>
          <a:xfrm>
            <a:off x="7680960" y="2103120"/>
            <a:ext cx="3733495" cy="1463040"/>
          </a:xfrm>
          <a:prstGeom prst="rect">
            <a:avLst/>
          </a:prstGeom>
          <a:noFill/>
          <a:ln/>
        </p:spPr>
        <p:txBody>
          <a:bodyPr wrap="square" lIns="0" tIns="0" rIns="0" bIns="0" rtlCol="0" anchor="t"/>
          <a:lstStyle/>
          <a:p>
            <a:pPr algn="l" indent="0" marL="0">
              <a:buNone/>
            </a:pPr>
            <a:r>
              <a:rPr lang="en-US" sz="1100" dirty="0">
                <a:solidFill>
                  <a:srgbClr val="00274A"/>
                </a:solidFill>
              </a:rPr>
              <a:t>Grounding 737 MAX 9 (6–26 Januari 2024) memunculkan kebutuhan inspeksi 65 pesawat sekaligus: dalam istilah MRP, </a:t>
            </a:r>
            <a:r>
              <a:rPr lang="en-US" sz="1100" i="1" dirty="0">
                <a:solidFill>
                  <a:srgbClr val="00274A"/>
                </a:solidFill>
              </a:rPr>
              <a:t>gross requirements</a:t>
            </a:r>
            <a:r>
              <a:rPr lang="en-US" sz="1100" dirty="0">
                <a:solidFill>
                  <a:srgbClr val="00274A"/>
                </a:solidFill>
              </a:rPr>
              <a:t> melonjak pada satu periode sehingga kapasitas hangar dan teknisi harus dijadwalkan ulang, sementara 150 penerbangan per hari dibatalkan.</a:t>
            </a:r>
            <a:endParaRPr lang="en-US" sz="1100" dirty="0"/>
          </a:p>
        </p:txBody>
      </p:sp>
      <p:sp>
        <p:nvSpPr>
          <p:cNvPr id="10" name="card"/>
          <p:cNvSpPr/>
          <p:nvPr/>
        </p:nvSpPr>
        <p:spPr>
          <a:xfrm>
            <a:off x="7452360" y="3794760"/>
            <a:ext cx="4190695" cy="2450592"/>
          </a:xfrm>
          <a:prstGeom prst="roundRect">
            <a:avLst>
              <a:gd name="adj" fmla="val 5224"/>
            </a:avLst>
          </a:prstGeom>
          <a:solidFill>
            <a:srgbClr val="00274A"/>
          </a:solidFill>
          <a:ln w="3175">
            <a:solidFill>
              <a:srgbClr val="00274A"/>
            </a:solidFill>
            <a:prstDash val="solid"/>
          </a:ln>
        </p:spPr>
      </p:sp>
      <p:sp>
        <p:nvSpPr>
          <p:cNvPr id="11" name="icon circle"/>
          <p:cNvSpPr/>
          <p:nvPr/>
        </p:nvSpPr>
        <p:spPr>
          <a:xfrm>
            <a:off x="7680960" y="3977640"/>
            <a:ext cx="502920" cy="502920"/>
          </a:xfrm>
          <a:prstGeom prst="ellipse">
            <a:avLst/>
          </a:prstGeom>
          <a:solidFill>
            <a:srgbClr val="91BE62"/>
          </a:solidFill>
          <a:ln w="3175">
            <a:solidFill>
              <a:srgbClr val="91BE62"/>
            </a:solidFill>
            <a:prstDash val="solid"/>
          </a:ln>
        </p:spPr>
      </p:sp>
      <p:pic>
        <p:nvPicPr>
          <p:cNvPr id="12" name="icon FaLightbulb" descr="preencoded.png">    </p:cNvPr>
          <p:cNvPicPr>
            <a:picLocks noChangeAspect="1"/>
          </p:cNvPicPr>
          <p:nvPr/>
        </p:nvPicPr>
        <p:blipFill>
          <a:blip r:embed="rId2"/>
          <a:stretch>
            <a:fillRect/>
          </a:stretch>
        </p:blipFill>
        <p:spPr>
          <a:xfrm>
            <a:off x="7806690" y="4103370"/>
            <a:ext cx="251460" cy="251460"/>
          </a:xfrm>
          <a:prstGeom prst="rect">
            <a:avLst/>
          </a:prstGeom>
        </p:spPr>
      </p:pic>
      <p:sp>
        <p:nvSpPr>
          <p:cNvPr id="13" name="text"/>
          <p:cNvSpPr txBox="1"/>
          <p:nvPr/>
        </p:nvSpPr>
        <p:spPr>
          <a:xfrm>
            <a:off x="8321040" y="3977640"/>
            <a:ext cx="3093415" cy="502920"/>
          </a:xfrm>
          <a:prstGeom prst="rect">
            <a:avLst/>
          </a:prstGeom>
          <a:noFill/>
          <a:ln/>
        </p:spPr>
        <p:txBody>
          <a:bodyPr wrap="square" lIns="0" tIns="0" rIns="0" bIns="0" rtlCol="0" anchor="ctr"/>
          <a:lstStyle/>
          <a:p>
            <a:pPr algn="l" indent="0" marL="0">
              <a:buNone/>
            </a:pPr>
            <a:r>
              <a:rPr lang="en-US" sz="1300" b="1" dirty="0">
                <a:solidFill>
                  <a:srgbClr val="FFFFFF"/>
                </a:solidFill>
              </a:rPr>
              <a:t>Bukti 2026: Tailsight sebagai closed-loop MRP II</a:t>
            </a:r>
            <a:endParaRPr lang="en-US" sz="1300" dirty="0"/>
          </a:p>
        </p:txBody>
      </p:sp>
      <p:sp>
        <p:nvSpPr>
          <p:cNvPr id="14" name="text"/>
          <p:cNvSpPr txBox="1"/>
          <p:nvPr/>
        </p:nvSpPr>
        <p:spPr>
          <a:xfrm>
            <a:off x="7680960" y="4526280"/>
            <a:ext cx="3733495" cy="1691640"/>
          </a:xfrm>
          <a:prstGeom prst="rect">
            <a:avLst/>
          </a:prstGeom>
          <a:noFill/>
          <a:ln/>
        </p:spPr>
        <p:txBody>
          <a:bodyPr wrap="square" lIns="0" tIns="0" rIns="0" bIns="0" rtlCol="0" anchor="t"/>
          <a:lstStyle/>
          <a:p>
            <a:pPr algn="l" indent="0" marL="0">
              <a:buNone/>
            </a:pPr>
            <a:r>
              <a:rPr lang="en-US" sz="1050" dirty="0">
                <a:solidFill>
                  <a:srgbClr val="FFFFFF"/>
                </a:solidFill>
              </a:rPr>
              <a:t>Pada 16 April 2026 Alaska mengumumkan investasi dan kemitraan multitahun dengan Tailsight, platform optimasi perencanaan perawatan yang menggabungkan data sistem perawatan, jadwal penerbangan, staf, </a:t>
            </a:r>
            <a:r>
              <a:rPr lang="en-US" sz="1050" i="1" dirty="0">
                <a:solidFill>
                  <a:srgbClr val="FFFFFF"/>
                </a:solidFill>
              </a:rPr>
              <a:t>station capability rules</a:t>
            </a:r>
            <a:r>
              <a:rPr lang="en-US" sz="1050" dirty="0">
                <a:solidFill>
                  <a:srgbClr val="FFFFFF"/>
                </a:solidFill>
              </a:rPr>
              <a:t>, dan ketersediaan suku cadang menjadi rencana yang memperhitungkan tenaga kerja, suku cadang, dan kesiapan pesawat. Tujuannya menaikkan utilisasi tenaga kerja dan suku cadang serta menekan waktu </a:t>
            </a:r>
            <a:r>
              <a:rPr lang="en-US" sz="1050" i="1" dirty="0">
                <a:solidFill>
                  <a:srgbClr val="FFFFFF"/>
                </a:solidFill>
              </a:rPr>
              <a:t>aircraft-on-ground</a:t>
            </a:r>
            <a:r>
              <a:rPr lang="en-US" sz="1050" dirty="0">
                <a:solidFill>
                  <a:srgbClr val="FFFFFF"/>
                </a:solidFill>
              </a:rPr>
              <a:t>: persis logika </a:t>
            </a:r>
            <a:r>
              <a:rPr lang="en-US" sz="1050" i="1" dirty="0">
                <a:solidFill>
                  <a:srgbClr val="FFFFFF"/>
                </a:solidFill>
              </a:rPr>
              <a:t>closed-loop MRP II</a:t>
            </a:r>
            <a:r>
              <a:rPr lang="en-US" sz="1050" dirty="0">
                <a:solidFill>
                  <a:srgbClr val="FFFFFF"/>
                </a:solidFill>
              </a:rPr>
              <a:t> dengan kapasitas berhingga.</a:t>
            </a:r>
            <a:endParaRPr lang="en-US" sz="1050" dirty="0"/>
          </a:p>
        </p:txBody>
      </p:sp>
      <p:sp>
        <p:nvSpPr>
          <p:cNvPr id="25" name="Slide Number Placeholder 0"/>
          <p:cNvSpPr>
            <a:spLocks noGrp="1"/>
          </p:cNvSpPr>
          <p:nvPr>
            <p:ph type="sldNum" sz="quarter" idx="4294967295"/>
          </p:nvPr>
        </p:nvSpPr>
        <p:spPr>
          <a:xfrm>
            <a:off x="11064240" y="6428232"/>
            <a:ext cx="576072"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01426A"/>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3"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000" b="1" dirty="0">
                <a:solidFill>
                  <a:srgbClr val="00274A"/>
                </a:solidFill>
              </a:rPr>
              <a:t>Analisis 3 — Integrasi Sistem ala ERP: Nilai dan Risikonya Terbukti</a:t>
            </a:r>
            <a:endParaRPr lang="en-US" sz="3000" dirty="0"/>
          </a:p>
        </p:txBody>
      </p:sp>
      <p:sp>
        <p:nvSpPr>
          <p:cNvPr id="4" name="card"/>
          <p:cNvSpPr/>
          <p:nvPr/>
        </p:nvSpPr>
        <p:spPr>
          <a:xfrm>
            <a:off x="548640" y="1325880"/>
            <a:ext cx="4754880" cy="4910328"/>
          </a:xfrm>
          <a:prstGeom prst="roundRect">
            <a:avLst>
              <a:gd name="adj" fmla="val 2692"/>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5" name="text"/>
          <p:cNvSpPr txBox="1"/>
          <p:nvPr/>
        </p:nvSpPr>
        <p:spPr>
          <a:xfrm>
            <a:off x="822960" y="1508760"/>
            <a:ext cx="4206240" cy="365760"/>
          </a:xfrm>
          <a:prstGeom prst="rect">
            <a:avLst/>
          </a:prstGeom>
          <a:noFill/>
          <a:ln/>
        </p:spPr>
        <p:txBody>
          <a:bodyPr wrap="square" lIns="0" tIns="0" rIns="0" bIns="0" rtlCol="0" anchor="t"/>
          <a:lstStyle/>
          <a:p>
            <a:pPr algn="l" indent="0" marL="0">
              <a:buNone/>
            </a:pPr>
            <a:r>
              <a:rPr lang="en-US" sz="1500" b="1" dirty="0">
                <a:solidFill>
                  <a:srgbClr val="00274A"/>
                </a:solidFill>
              </a:rPr>
              <a:t>Sistem terintegrasi Alaska Airlines</a:t>
            </a:r>
            <a:endParaRPr lang="en-US" sz="1500" dirty="0"/>
          </a:p>
        </p:txBody>
      </p:sp>
      <p:sp>
        <p:nvSpPr>
          <p:cNvPr id="6" name="line"/>
          <p:cNvSpPr/>
          <p:nvPr/>
        </p:nvSpPr>
        <p:spPr>
          <a:xfrm flipH="1">
            <a:off x="2926080" y="2788920"/>
            <a:ext cx="0" cy="1188720"/>
          </a:xfrm>
          <a:prstGeom prst="line">
            <a:avLst/>
          </a:prstGeom>
          <a:noFill/>
          <a:ln w="19050">
            <a:solidFill>
              <a:srgbClr val="C9E0F7"/>
            </a:solidFill>
            <a:prstDash val="solid"/>
          </a:ln>
        </p:spPr>
      </p:sp>
      <p:sp>
        <p:nvSpPr>
          <p:cNvPr id="7" name="line"/>
          <p:cNvSpPr/>
          <p:nvPr/>
        </p:nvSpPr>
        <p:spPr>
          <a:xfrm flipH="1">
            <a:off x="2926080" y="3610305"/>
            <a:ext cx="1521881" cy="367335"/>
          </a:xfrm>
          <a:prstGeom prst="line">
            <a:avLst/>
          </a:prstGeom>
          <a:noFill/>
          <a:ln w="19050">
            <a:solidFill>
              <a:srgbClr val="C9E0F7"/>
            </a:solidFill>
            <a:prstDash val="solid"/>
          </a:ln>
        </p:spPr>
      </p:sp>
      <p:sp>
        <p:nvSpPr>
          <p:cNvPr id="8" name="line"/>
          <p:cNvSpPr/>
          <p:nvPr/>
        </p:nvSpPr>
        <p:spPr>
          <a:xfrm>
            <a:off x="2926080" y="3977640"/>
            <a:ext cx="940574" cy="961695"/>
          </a:xfrm>
          <a:prstGeom prst="line">
            <a:avLst/>
          </a:prstGeom>
          <a:noFill/>
          <a:ln w="19050">
            <a:solidFill>
              <a:srgbClr val="C9E0F7"/>
            </a:solidFill>
            <a:prstDash val="solid"/>
          </a:ln>
        </p:spPr>
      </p:sp>
      <p:sp>
        <p:nvSpPr>
          <p:cNvPr id="9" name="line"/>
          <p:cNvSpPr/>
          <p:nvPr/>
        </p:nvSpPr>
        <p:spPr>
          <a:xfrm flipH="1">
            <a:off x="1985506" y="3977640"/>
            <a:ext cx="940574" cy="961695"/>
          </a:xfrm>
          <a:prstGeom prst="line">
            <a:avLst/>
          </a:prstGeom>
          <a:noFill/>
          <a:ln w="19050">
            <a:solidFill>
              <a:srgbClr val="C9E0F7"/>
            </a:solidFill>
            <a:prstDash val="solid"/>
          </a:ln>
        </p:spPr>
      </p:sp>
      <p:sp>
        <p:nvSpPr>
          <p:cNvPr id="10" name="line"/>
          <p:cNvSpPr/>
          <p:nvPr/>
        </p:nvSpPr>
        <p:spPr>
          <a:xfrm>
            <a:off x="1404199" y="3610305"/>
            <a:ext cx="1521881" cy="367335"/>
          </a:xfrm>
          <a:prstGeom prst="line">
            <a:avLst/>
          </a:prstGeom>
          <a:noFill/>
          <a:ln w="19050">
            <a:solidFill>
              <a:srgbClr val="C9E0F7"/>
            </a:solidFill>
            <a:prstDash val="solid"/>
          </a:ln>
        </p:spPr>
      </p:sp>
      <p:sp>
        <p:nvSpPr>
          <p:cNvPr id="11" name="icon circle"/>
          <p:cNvSpPr/>
          <p:nvPr/>
        </p:nvSpPr>
        <p:spPr>
          <a:xfrm>
            <a:off x="2651760" y="2514600"/>
            <a:ext cx="548640" cy="548640"/>
          </a:xfrm>
          <a:prstGeom prst="ellipse">
            <a:avLst/>
          </a:prstGeom>
          <a:solidFill>
            <a:srgbClr val="91BE62"/>
          </a:solidFill>
          <a:ln w="3175">
            <a:solidFill>
              <a:srgbClr val="91BE62"/>
            </a:solidFill>
            <a:prstDash val="solid"/>
          </a:ln>
        </p:spPr>
      </p:sp>
      <p:pic>
        <p:nvPicPr>
          <p:cNvPr id="12" name="icon FaTicketAlt" descr="preencoded.png">    </p:cNvPr>
          <p:cNvPicPr>
            <a:picLocks noChangeAspect="1"/>
          </p:cNvPicPr>
          <p:nvPr/>
        </p:nvPicPr>
        <p:blipFill>
          <a:blip r:embed="rId1"/>
          <a:stretch>
            <a:fillRect/>
          </a:stretch>
        </p:blipFill>
        <p:spPr>
          <a:xfrm>
            <a:off x="2788920" y="2651760"/>
            <a:ext cx="274320" cy="274320"/>
          </a:xfrm>
          <a:prstGeom prst="rect">
            <a:avLst/>
          </a:prstGeom>
        </p:spPr>
      </p:pic>
      <p:sp>
        <p:nvSpPr>
          <p:cNvPr id="13" name="text"/>
          <p:cNvSpPr txBox="1"/>
          <p:nvPr/>
        </p:nvSpPr>
        <p:spPr>
          <a:xfrm>
            <a:off x="2194560" y="3090672"/>
            <a:ext cx="1463040" cy="310896"/>
          </a:xfrm>
          <a:prstGeom prst="rect">
            <a:avLst/>
          </a:prstGeom>
          <a:noFill/>
          <a:ln/>
        </p:spPr>
        <p:txBody>
          <a:bodyPr wrap="square" lIns="0" tIns="0" rIns="0" bIns="0" rtlCol="0" anchor="t"/>
          <a:lstStyle/>
          <a:p>
            <a:pPr algn="ctr" indent="0" marL="0">
              <a:buNone/>
            </a:pPr>
            <a:r>
              <a:rPr lang="en-US" sz="1050" b="1" dirty="0">
                <a:solidFill>
                  <a:srgbClr val="00274A"/>
                </a:solidFill>
              </a:rPr>
              <a:t>Reservasi &amp; check-in</a:t>
            </a:r>
            <a:endParaRPr lang="en-US" sz="1050" dirty="0"/>
          </a:p>
        </p:txBody>
      </p:sp>
      <p:sp>
        <p:nvSpPr>
          <p:cNvPr id="14" name="icon circle"/>
          <p:cNvSpPr/>
          <p:nvPr/>
        </p:nvSpPr>
        <p:spPr>
          <a:xfrm>
            <a:off x="4173641" y="3335985"/>
            <a:ext cx="548640" cy="548640"/>
          </a:xfrm>
          <a:prstGeom prst="ellipse">
            <a:avLst/>
          </a:prstGeom>
          <a:solidFill>
            <a:srgbClr val="00CFF0"/>
          </a:solidFill>
          <a:ln w="3175">
            <a:solidFill>
              <a:srgbClr val="00CFF0"/>
            </a:solidFill>
            <a:prstDash val="solid"/>
          </a:ln>
        </p:spPr>
      </p:sp>
      <p:pic>
        <p:nvPicPr>
          <p:cNvPr id="15" name="icon FaUserClock" descr="preencoded.png">    </p:cNvPr>
          <p:cNvPicPr>
            <a:picLocks noChangeAspect="1"/>
          </p:cNvPicPr>
          <p:nvPr/>
        </p:nvPicPr>
        <p:blipFill>
          <a:blip r:embed="rId2"/>
          <a:stretch>
            <a:fillRect/>
          </a:stretch>
        </p:blipFill>
        <p:spPr>
          <a:xfrm>
            <a:off x="4310801" y="3473145"/>
            <a:ext cx="274320" cy="274320"/>
          </a:xfrm>
          <a:prstGeom prst="rect">
            <a:avLst/>
          </a:prstGeom>
        </p:spPr>
      </p:pic>
      <p:sp>
        <p:nvSpPr>
          <p:cNvPr id="16" name="text"/>
          <p:cNvSpPr txBox="1"/>
          <p:nvPr/>
        </p:nvSpPr>
        <p:spPr>
          <a:xfrm>
            <a:off x="3716441" y="3912057"/>
            <a:ext cx="1463040" cy="310896"/>
          </a:xfrm>
          <a:prstGeom prst="rect">
            <a:avLst/>
          </a:prstGeom>
          <a:noFill/>
          <a:ln/>
        </p:spPr>
        <p:txBody>
          <a:bodyPr wrap="square" lIns="0" tIns="0" rIns="0" bIns="0" rtlCol="0" anchor="t"/>
          <a:lstStyle/>
          <a:p>
            <a:pPr algn="ctr" indent="0" marL="0">
              <a:buNone/>
            </a:pPr>
            <a:r>
              <a:rPr lang="en-US" sz="1050" b="1" dirty="0">
                <a:solidFill>
                  <a:srgbClr val="00274A"/>
                </a:solidFill>
              </a:rPr>
              <a:t>Penjadwalan kru</a:t>
            </a:r>
            <a:endParaRPr lang="en-US" sz="1050" dirty="0"/>
          </a:p>
        </p:txBody>
      </p:sp>
      <p:sp>
        <p:nvSpPr>
          <p:cNvPr id="17" name="icon circle"/>
          <p:cNvSpPr/>
          <p:nvPr/>
        </p:nvSpPr>
        <p:spPr>
          <a:xfrm>
            <a:off x="3592334" y="4665015"/>
            <a:ext cx="548640" cy="548640"/>
          </a:xfrm>
          <a:prstGeom prst="ellipse">
            <a:avLst/>
          </a:prstGeom>
          <a:solidFill>
            <a:srgbClr val="91BE62"/>
          </a:solidFill>
          <a:ln w="3175">
            <a:solidFill>
              <a:srgbClr val="91BE62"/>
            </a:solidFill>
            <a:prstDash val="solid"/>
          </a:ln>
        </p:spPr>
      </p:sp>
      <p:pic>
        <p:nvPicPr>
          <p:cNvPr id="18" name="icon FaCloudSun" descr="preencoded.png">    </p:cNvPr>
          <p:cNvPicPr>
            <a:picLocks noChangeAspect="1"/>
          </p:cNvPicPr>
          <p:nvPr/>
        </p:nvPicPr>
        <p:blipFill>
          <a:blip r:embed="rId3"/>
          <a:stretch>
            <a:fillRect/>
          </a:stretch>
        </p:blipFill>
        <p:spPr>
          <a:xfrm>
            <a:off x="3729494" y="4802175"/>
            <a:ext cx="274320" cy="274320"/>
          </a:xfrm>
          <a:prstGeom prst="rect">
            <a:avLst/>
          </a:prstGeom>
        </p:spPr>
      </p:pic>
      <p:sp>
        <p:nvSpPr>
          <p:cNvPr id="19" name="text"/>
          <p:cNvSpPr txBox="1"/>
          <p:nvPr/>
        </p:nvSpPr>
        <p:spPr>
          <a:xfrm>
            <a:off x="3135134" y="5241087"/>
            <a:ext cx="1463040" cy="310896"/>
          </a:xfrm>
          <a:prstGeom prst="rect">
            <a:avLst/>
          </a:prstGeom>
          <a:noFill/>
          <a:ln/>
        </p:spPr>
        <p:txBody>
          <a:bodyPr wrap="square" lIns="0" tIns="0" rIns="0" bIns="0" rtlCol="0" anchor="t"/>
          <a:lstStyle/>
          <a:p>
            <a:pPr algn="ctr" indent="0" marL="0">
              <a:buNone/>
            </a:pPr>
            <a:r>
              <a:rPr lang="en-US" sz="1050" b="1" dirty="0">
                <a:solidFill>
                  <a:srgbClr val="00274A"/>
                </a:solidFill>
              </a:rPr>
              <a:t>Flight dispatch &amp; cuaca</a:t>
            </a:r>
            <a:endParaRPr lang="en-US" sz="1050" dirty="0"/>
          </a:p>
        </p:txBody>
      </p:sp>
      <p:sp>
        <p:nvSpPr>
          <p:cNvPr id="20" name="icon circle"/>
          <p:cNvSpPr/>
          <p:nvPr/>
        </p:nvSpPr>
        <p:spPr>
          <a:xfrm>
            <a:off x="1711186" y="4665015"/>
            <a:ext cx="548640" cy="548640"/>
          </a:xfrm>
          <a:prstGeom prst="ellipse">
            <a:avLst/>
          </a:prstGeom>
          <a:solidFill>
            <a:srgbClr val="00CFF0"/>
          </a:solidFill>
          <a:ln w="3175">
            <a:solidFill>
              <a:srgbClr val="00CFF0"/>
            </a:solidFill>
            <a:prstDash val="solid"/>
          </a:ln>
        </p:spPr>
      </p:sp>
      <p:pic>
        <p:nvPicPr>
          <p:cNvPr id="21" name="icon FaTools" descr="preencoded.png">    </p:cNvPr>
          <p:cNvPicPr>
            <a:picLocks noChangeAspect="1"/>
          </p:cNvPicPr>
          <p:nvPr/>
        </p:nvPicPr>
        <p:blipFill>
          <a:blip r:embed="rId4"/>
          <a:stretch>
            <a:fillRect/>
          </a:stretch>
        </p:blipFill>
        <p:spPr>
          <a:xfrm>
            <a:off x="1848346" y="4802175"/>
            <a:ext cx="274320" cy="274320"/>
          </a:xfrm>
          <a:prstGeom prst="rect">
            <a:avLst/>
          </a:prstGeom>
        </p:spPr>
      </p:pic>
      <p:sp>
        <p:nvSpPr>
          <p:cNvPr id="22" name="text"/>
          <p:cNvSpPr txBox="1"/>
          <p:nvPr/>
        </p:nvSpPr>
        <p:spPr>
          <a:xfrm>
            <a:off x="1253986" y="5241087"/>
            <a:ext cx="1463040" cy="310896"/>
          </a:xfrm>
          <a:prstGeom prst="rect">
            <a:avLst/>
          </a:prstGeom>
          <a:noFill/>
          <a:ln/>
        </p:spPr>
        <p:txBody>
          <a:bodyPr wrap="square" lIns="0" tIns="0" rIns="0" bIns="0" rtlCol="0" anchor="t"/>
          <a:lstStyle/>
          <a:p>
            <a:pPr algn="ctr" indent="0" marL="0">
              <a:buNone/>
            </a:pPr>
            <a:r>
              <a:rPr lang="en-US" sz="1050" b="1" dirty="0">
                <a:solidFill>
                  <a:srgbClr val="00274A"/>
                </a:solidFill>
              </a:rPr>
              <a:t>Perawatan &amp; suku cadang</a:t>
            </a:r>
            <a:endParaRPr lang="en-US" sz="1050" dirty="0"/>
          </a:p>
        </p:txBody>
      </p:sp>
      <p:sp>
        <p:nvSpPr>
          <p:cNvPr id="23" name="icon circle"/>
          <p:cNvSpPr/>
          <p:nvPr/>
        </p:nvSpPr>
        <p:spPr>
          <a:xfrm>
            <a:off x="1129879" y="3335985"/>
            <a:ext cx="548640" cy="548640"/>
          </a:xfrm>
          <a:prstGeom prst="ellipse">
            <a:avLst/>
          </a:prstGeom>
          <a:solidFill>
            <a:srgbClr val="91BE62"/>
          </a:solidFill>
          <a:ln w="3175">
            <a:solidFill>
              <a:srgbClr val="91BE62"/>
            </a:solidFill>
            <a:prstDash val="solid"/>
          </a:ln>
        </p:spPr>
      </p:sp>
      <p:pic>
        <p:nvPicPr>
          <p:cNvPr id="24" name="icon FaMoneyCheckAlt" descr="preencoded.png">    </p:cNvPr>
          <p:cNvPicPr>
            <a:picLocks noChangeAspect="1"/>
          </p:cNvPicPr>
          <p:nvPr/>
        </p:nvPicPr>
        <p:blipFill>
          <a:blip r:embed="rId5"/>
          <a:stretch>
            <a:fillRect/>
          </a:stretch>
        </p:blipFill>
        <p:spPr>
          <a:xfrm>
            <a:off x="1267039" y="3473145"/>
            <a:ext cx="274320" cy="274320"/>
          </a:xfrm>
          <a:prstGeom prst="rect">
            <a:avLst/>
          </a:prstGeom>
        </p:spPr>
      </p:pic>
      <p:sp>
        <p:nvSpPr>
          <p:cNvPr id="25" name="text"/>
          <p:cNvSpPr txBox="1"/>
          <p:nvPr/>
        </p:nvSpPr>
        <p:spPr>
          <a:xfrm>
            <a:off x="672679" y="3912057"/>
            <a:ext cx="1463040" cy="310896"/>
          </a:xfrm>
          <a:prstGeom prst="rect">
            <a:avLst/>
          </a:prstGeom>
          <a:noFill/>
          <a:ln/>
        </p:spPr>
        <p:txBody>
          <a:bodyPr wrap="square" lIns="0" tIns="0" rIns="0" bIns="0" rtlCol="0" anchor="t"/>
          <a:lstStyle/>
          <a:p>
            <a:pPr algn="ctr" indent="0" marL="0">
              <a:buNone/>
            </a:pPr>
            <a:r>
              <a:rPr lang="en-US" sz="1050" b="1" dirty="0">
                <a:solidFill>
                  <a:srgbClr val="00274A"/>
                </a:solidFill>
              </a:rPr>
              <a:t>Keuangan &amp; SDM</a:t>
            </a:r>
            <a:endParaRPr lang="en-US" sz="1050" dirty="0"/>
          </a:p>
        </p:txBody>
      </p:sp>
      <p:sp>
        <p:nvSpPr>
          <p:cNvPr id="26" name="hub"/>
          <p:cNvSpPr/>
          <p:nvPr/>
        </p:nvSpPr>
        <p:spPr>
          <a:xfrm>
            <a:off x="2194560" y="3520440"/>
            <a:ext cx="1463040" cy="914400"/>
          </a:xfrm>
          <a:prstGeom prst="ellipse">
            <a:avLst/>
          </a:prstGeom>
          <a:solidFill>
            <a:srgbClr val="00274A"/>
          </a:solidFill>
          <a:ln w="3175">
            <a:solidFill>
              <a:srgbClr val="00274A"/>
            </a:solidFill>
            <a:prstDash val="solid"/>
          </a:ln>
          <a:effectLst>
            <a:outerShdw sx="100000" sy="100000" kx="0" ky="0" algn="bl" rotWithShape="0" blurRad="76200" dist="25400" dir="5400000">
              <a:srgbClr val="01426A">
                <a:alpha val="13000"/>
              </a:srgbClr>
            </a:outerShdw>
          </a:effectLst>
        </p:spPr>
      </p:sp>
      <p:sp>
        <p:nvSpPr>
          <p:cNvPr id="27" name="text"/>
          <p:cNvSpPr txBox="1"/>
          <p:nvPr/>
        </p:nvSpPr>
        <p:spPr>
          <a:xfrm>
            <a:off x="2240280" y="3566160"/>
            <a:ext cx="1371600" cy="822960"/>
          </a:xfrm>
          <a:prstGeom prst="rect">
            <a:avLst/>
          </a:prstGeom>
          <a:noFill/>
          <a:ln/>
        </p:spPr>
        <p:txBody>
          <a:bodyPr wrap="square" lIns="0" tIns="0" rIns="0" bIns="0" rtlCol="0" anchor="ctr"/>
          <a:lstStyle/>
          <a:p>
            <a:pPr algn="ctr" indent="0" marL="0">
              <a:buNone/>
            </a:pPr>
            <a:r>
              <a:rPr lang="en-US" sz="1050" b="1" dirty="0">
                <a:solidFill>
                  <a:srgbClr val="FFFFFF"/>
                </a:solidFill>
              </a:rPr>
              <a:t>Pusat data &amp; basis data operasi</a:t>
            </a:r>
            <a:endParaRPr lang="en-US" sz="1050" dirty="0"/>
          </a:p>
        </p:txBody>
      </p:sp>
      <p:sp>
        <p:nvSpPr>
          <p:cNvPr id="28" name="text"/>
          <p:cNvSpPr txBox="1"/>
          <p:nvPr/>
        </p:nvSpPr>
        <p:spPr>
          <a:xfrm>
            <a:off x="822960" y="5806440"/>
            <a:ext cx="4206240" cy="365760"/>
          </a:xfrm>
          <a:prstGeom prst="rect">
            <a:avLst/>
          </a:prstGeom>
          <a:noFill/>
          <a:ln/>
        </p:spPr>
        <p:txBody>
          <a:bodyPr wrap="square" lIns="0" tIns="0" rIns="0" bIns="0" rtlCol="0" anchor="t"/>
          <a:lstStyle/>
          <a:p>
            <a:pPr algn="l" indent="0" marL="0">
              <a:buNone/>
            </a:pPr>
            <a:r>
              <a:rPr lang="en-US" sz="950" i="1" dirty="0">
                <a:solidFill>
                  <a:srgbClr val="585E67"/>
                </a:solidFill>
              </a:rPr>
              <a:t>Infrastruktur hibrida: pusat data sendiri untuk beban kritis, ditambah layanan cloud (GeekWire, 2025).</a:t>
            </a:r>
            <a:endParaRPr lang="en-US" sz="950" dirty="0"/>
          </a:p>
        </p:txBody>
      </p:sp>
      <p:sp>
        <p:nvSpPr>
          <p:cNvPr id="29" name="card"/>
          <p:cNvSpPr/>
          <p:nvPr/>
        </p:nvSpPr>
        <p:spPr>
          <a:xfrm>
            <a:off x="5532120" y="1325880"/>
            <a:ext cx="6110935" cy="2331720"/>
          </a:xfrm>
          <a:prstGeom prst="roundRect">
            <a:avLst>
              <a:gd name="adj" fmla="val 5490"/>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30" name="icon circle"/>
          <p:cNvSpPr/>
          <p:nvPr/>
        </p:nvSpPr>
        <p:spPr>
          <a:xfrm>
            <a:off x="5760720" y="1508760"/>
            <a:ext cx="502920" cy="502920"/>
          </a:xfrm>
          <a:prstGeom prst="ellipse">
            <a:avLst/>
          </a:prstGeom>
          <a:solidFill>
            <a:srgbClr val="51AE8C"/>
          </a:solidFill>
          <a:ln w="3175">
            <a:solidFill>
              <a:srgbClr val="51AE8C"/>
            </a:solidFill>
            <a:prstDash val="solid"/>
          </a:ln>
        </p:spPr>
      </p:sp>
      <p:pic>
        <p:nvPicPr>
          <p:cNvPr id="31" name="icon FaCheckCircle" descr="preencoded.png">    </p:cNvPr>
          <p:cNvPicPr>
            <a:picLocks noChangeAspect="1"/>
          </p:cNvPicPr>
          <p:nvPr/>
        </p:nvPicPr>
        <p:blipFill>
          <a:blip r:embed="rId6"/>
          <a:stretch>
            <a:fillRect/>
          </a:stretch>
        </p:blipFill>
        <p:spPr>
          <a:xfrm>
            <a:off x="5886450" y="1634490"/>
            <a:ext cx="251460" cy="251460"/>
          </a:xfrm>
          <a:prstGeom prst="rect">
            <a:avLst/>
          </a:prstGeom>
        </p:spPr>
      </p:pic>
      <p:sp>
        <p:nvSpPr>
          <p:cNvPr id="32" name="text"/>
          <p:cNvSpPr txBox="1"/>
          <p:nvPr/>
        </p:nvSpPr>
        <p:spPr>
          <a:xfrm>
            <a:off x="6400800" y="1508760"/>
            <a:ext cx="5013655" cy="502920"/>
          </a:xfrm>
          <a:prstGeom prst="rect">
            <a:avLst/>
          </a:prstGeom>
          <a:noFill/>
          <a:ln/>
        </p:spPr>
        <p:txBody>
          <a:bodyPr wrap="square" lIns="0" tIns="0" rIns="0" bIns="0" rtlCol="0" anchor="ctr"/>
          <a:lstStyle/>
          <a:p>
            <a:pPr algn="l" indent="0" marL="0">
              <a:buNone/>
            </a:pPr>
            <a:r>
              <a:rPr lang="en-US" sz="1400" b="1" dirty="0">
                <a:solidFill>
                  <a:srgbClr val="00274A"/>
                </a:solidFill>
              </a:rPr>
              <a:t>Keunggulan ERP yang terbukti</a:t>
            </a:r>
            <a:endParaRPr lang="en-US" sz="1400" dirty="0"/>
          </a:p>
        </p:txBody>
      </p:sp>
      <p:sp>
        <p:nvSpPr>
          <p:cNvPr id="33" name="bullets"/>
          <p:cNvSpPr txBox="1"/>
          <p:nvPr/>
        </p:nvSpPr>
        <p:spPr>
          <a:xfrm>
            <a:off x="5760720" y="2103120"/>
            <a:ext cx="5653735" cy="150876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rgbClr val="00274A"/>
                </a:solidFill>
              </a:rPr>
              <a:t>Data bersama memungkinkan penjadwalan ulang cepat saat cuaca memburuk; Alaska menaksir penghematan US$18 juta per tahun (Heizer et al., 2017).</a:t>
            </a:r>
            <a:endParaRPr lang="en-US" sz="1100" dirty="0"/>
          </a:p>
          <a:p>
            <a:pPr marL="342900" indent="-342900">
              <a:spcAft>
                <a:spcPts val="300"/>
              </a:spcAft>
              <a:buSzPct val="100000"/>
              <a:buChar char="•"/>
            </a:pPr>
            <a:r>
              <a:rPr lang="en-US" sz="1100" dirty="0">
                <a:solidFill>
                  <a:srgbClr val="00274A"/>
                </a:solidFill>
              </a:rPr>
              <a:t>Integrasi Hawaiian: </a:t>
            </a:r>
            <a:r>
              <a:rPr lang="en-US" sz="1100" i="1" dirty="0">
                <a:solidFill>
                  <a:srgbClr val="00274A"/>
                </a:solidFill>
              </a:rPr>
              <a:t>single operating certificate</a:t>
            </a:r>
            <a:r>
              <a:rPr lang="en-US" sz="1100" dirty="0">
                <a:solidFill>
                  <a:srgbClr val="00274A"/>
                </a:solidFill>
              </a:rPr>
              <a:t> dicapai 29 Oktober 2025 setelah upaya multifase selama setahun di banyak departemen; sistem layanan penumpang tunggal menyusul pada 2026 (</a:t>
            </a:r>
            <a:r>
              <a:rPr lang="en-US" sz="1100" i="1" dirty="0">
                <a:solidFill>
                  <a:srgbClr val="00274A"/>
                </a:solidFill>
              </a:rPr>
              <a:t>commonality of databases</a:t>
            </a:r>
            <a:r>
              <a:rPr lang="en-US" sz="1100" dirty="0">
                <a:solidFill>
                  <a:srgbClr val="00274A"/>
                </a:solidFill>
              </a:rPr>
              <a:t>).</a:t>
            </a:r>
            <a:endParaRPr lang="en-US" sz="1100" dirty="0"/>
          </a:p>
        </p:txBody>
      </p:sp>
      <p:sp>
        <p:nvSpPr>
          <p:cNvPr id="34" name="card"/>
          <p:cNvSpPr/>
          <p:nvPr/>
        </p:nvSpPr>
        <p:spPr>
          <a:xfrm>
            <a:off x="5532120" y="3840480"/>
            <a:ext cx="6110935" cy="2395728"/>
          </a:xfrm>
          <a:prstGeom prst="roundRect">
            <a:avLst>
              <a:gd name="adj" fmla="val 5344"/>
            </a:avLst>
          </a:prstGeom>
          <a:solidFill>
            <a:srgbClr val="00274A"/>
          </a:solidFill>
          <a:ln w="3175">
            <a:solidFill>
              <a:srgbClr val="00274A"/>
            </a:solidFill>
            <a:prstDash val="solid"/>
          </a:ln>
        </p:spPr>
      </p:sp>
      <p:sp>
        <p:nvSpPr>
          <p:cNvPr id="35" name="icon circle"/>
          <p:cNvSpPr/>
          <p:nvPr/>
        </p:nvSpPr>
        <p:spPr>
          <a:xfrm>
            <a:off x="5760720" y="4023360"/>
            <a:ext cx="502920" cy="502920"/>
          </a:xfrm>
          <a:prstGeom prst="ellipse">
            <a:avLst/>
          </a:prstGeom>
          <a:solidFill>
            <a:srgbClr val="F26135"/>
          </a:solidFill>
          <a:ln w="3175">
            <a:solidFill>
              <a:srgbClr val="F26135"/>
            </a:solidFill>
            <a:prstDash val="solid"/>
          </a:ln>
        </p:spPr>
      </p:sp>
      <p:pic>
        <p:nvPicPr>
          <p:cNvPr id="36" name="icon FaExclamationCircle" descr="preencoded.png">    </p:cNvPr>
          <p:cNvPicPr>
            <a:picLocks noChangeAspect="1"/>
          </p:cNvPicPr>
          <p:nvPr/>
        </p:nvPicPr>
        <p:blipFill>
          <a:blip r:embed="rId7"/>
          <a:stretch>
            <a:fillRect/>
          </a:stretch>
        </p:blipFill>
        <p:spPr>
          <a:xfrm>
            <a:off x="5886450" y="4149090"/>
            <a:ext cx="251460" cy="251460"/>
          </a:xfrm>
          <a:prstGeom prst="rect">
            <a:avLst/>
          </a:prstGeom>
        </p:spPr>
      </p:pic>
      <p:sp>
        <p:nvSpPr>
          <p:cNvPr id="37" name="text"/>
          <p:cNvSpPr txBox="1"/>
          <p:nvPr/>
        </p:nvSpPr>
        <p:spPr>
          <a:xfrm>
            <a:off x="6400800" y="4023360"/>
            <a:ext cx="5013655" cy="502920"/>
          </a:xfrm>
          <a:prstGeom prst="rect">
            <a:avLst/>
          </a:prstGeom>
          <a:noFill/>
          <a:ln/>
        </p:spPr>
        <p:txBody>
          <a:bodyPr wrap="square" lIns="0" tIns="0" rIns="0" bIns="0" rtlCol="0" anchor="ctr"/>
          <a:lstStyle/>
          <a:p>
            <a:pPr algn="l" indent="0" marL="0">
              <a:buNone/>
            </a:pPr>
            <a:r>
              <a:rPr lang="en-US" sz="1400" b="1" dirty="0">
                <a:solidFill>
                  <a:srgbClr val="FFFFFF"/>
                </a:solidFill>
              </a:rPr>
              <a:t>Kelemahan ERP yang terbukti</a:t>
            </a:r>
            <a:endParaRPr lang="en-US" sz="1400" dirty="0"/>
          </a:p>
        </p:txBody>
      </p:sp>
      <p:sp>
        <p:nvSpPr>
          <p:cNvPr id="38" name="bullets"/>
          <p:cNvSpPr txBox="1"/>
          <p:nvPr/>
        </p:nvSpPr>
        <p:spPr>
          <a:xfrm>
            <a:off x="5760720" y="4617720"/>
            <a:ext cx="5653735" cy="160020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FFFFFF"/>
                </a:solidFill>
              </a:rPr>
              <a:t>Juli 2025: satu perangkat keras multiredundan buatan pihak ketiga gagal dan melumpuhkan beberapa sistem operasional sekaligus; Oktober 2025: pusat data utama gagal selama ±8 jam. Keduanya bukan serangan siber, tetapi menghentikan seluruh operasi: </a:t>
            </a:r>
            <a:r>
              <a:rPr lang="en-US" sz="1050" i="1" dirty="0">
                <a:solidFill>
                  <a:srgbClr val="FFFFFF"/>
                </a:solidFill>
              </a:rPr>
              <a:t>single point of failure</a:t>
            </a:r>
            <a:r>
              <a:rPr lang="en-US" sz="1050" dirty="0">
                <a:solidFill>
                  <a:srgbClr val="FFFFFF"/>
                </a:solidFill>
              </a:rPr>
              <a:t>.</a:t>
            </a:r>
            <a:endParaRPr lang="en-US" sz="1050" dirty="0"/>
          </a:p>
          <a:p>
            <a:pPr marL="342900" indent="-342900">
              <a:spcAft>
                <a:spcPts val="300"/>
              </a:spcAft>
              <a:buSzPct val="100000"/>
              <a:buChar char="•"/>
            </a:pPr>
            <a:r>
              <a:rPr lang="en-US" sz="1050" dirty="0">
                <a:solidFill>
                  <a:srgbClr val="FFFFFF"/>
                </a:solidFill>
              </a:rPr>
              <a:t>Setelah Juli, Alaska menyatakan telah "mengeraskan" sistemnya, namun kegagalan Oktober memaksa audit menyeluruh oleh pakar eksternal: ilustrasi "implementasi yang tidak pernah selesai" dan kompleksitas ERP.</a:t>
            </a:r>
            <a:endParaRPr lang="en-US" sz="1050" dirty="0"/>
          </a:p>
        </p:txBody>
      </p:sp>
      <p:sp>
        <p:nvSpPr>
          <p:cNvPr id="25" name="Slide Number Placeholder 0"/>
          <p:cNvSpPr>
            <a:spLocks noGrp="1"/>
          </p:cNvSpPr>
          <p:nvPr>
            <p:ph type="sldNum" sz="quarter" idx="4294967295"/>
          </p:nvPr>
        </p:nvSpPr>
        <p:spPr>
          <a:xfrm>
            <a:off x="11064240" y="6428232"/>
            <a:ext cx="576072"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01426A"/>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3"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000" b="1" dirty="0">
                <a:solidFill>
                  <a:srgbClr val="00274A"/>
                </a:solidFill>
              </a:rPr>
              <a:t>Analisis 4 — Scheduling Kru, Hangar, dan Operasi Darat</a:t>
            </a:r>
            <a:endParaRPr lang="en-US" sz="3000" dirty="0"/>
          </a:p>
        </p:txBody>
      </p:sp>
      <p:sp>
        <p:nvSpPr>
          <p:cNvPr id="4" name="card"/>
          <p:cNvSpPr/>
          <p:nvPr/>
        </p:nvSpPr>
        <p:spPr>
          <a:xfrm>
            <a:off x="548640" y="1325880"/>
            <a:ext cx="5432908" cy="2103120"/>
          </a:xfrm>
          <a:prstGeom prst="roundRect">
            <a:avLst>
              <a:gd name="adj" fmla="val 6087"/>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5" name="icon circle"/>
          <p:cNvSpPr/>
          <p:nvPr/>
        </p:nvSpPr>
        <p:spPr>
          <a:xfrm>
            <a:off x="777240" y="1527048"/>
            <a:ext cx="548640" cy="548640"/>
          </a:xfrm>
          <a:prstGeom prst="ellipse">
            <a:avLst/>
          </a:prstGeom>
          <a:solidFill>
            <a:srgbClr val="00CFF0"/>
          </a:solidFill>
          <a:ln w="3175">
            <a:solidFill>
              <a:srgbClr val="00CFF0"/>
            </a:solidFill>
            <a:prstDash val="solid"/>
          </a:ln>
        </p:spPr>
      </p:sp>
      <p:pic>
        <p:nvPicPr>
          <p:cNvPr id="6" name="icon FaUserTie" descr="preencoded.png">    </p:cNvPr>
          <p:cNvPicPr>
            <a:picLocks noChangeAspect="1"/>
          </p:cNvPicPr>
          <p:nvPr/>
        </p:nvPicPr>
        <p:blipFill>
          <a:blip r:embed="rId1"/>
          <a:stretch>
            <a:fillRect/>
          </a:stretch>
        </p:blipFill>
        <p:spPr>
          <a:xfrm>
            <a:off x="914400" y="1664208"/>
            <a:ext cx="274320" cy="274320"/>
          </a:xfrm>
          <a:prstGeom prst="rect">
            <a:avLst/>
          </a:prstGeom>
        </p:spPr>
      </p:pic>
      <p:sp>
        <p:nvSpPr>
          <p:cNvPr id="7" name="text"/>
          <p:cNvSpPr txBox="1"/>
          <p:nvPr/>
        </p:nvSpPr>
        <p:spPr>
          <a:xfrm>
            <a:off x="1463040" y="1527048"/>
            <a:ext cx="4335628" cy="548640"/>
          </a:xfrm>
          <a:prstGeom prst="rect">
            <a:avLst/>
          </a:prstGeom>
          <a:noFill/>
          <a:ln/>
        </p:spPr>
        <p:txBody>
          <a:bodyPr wrap="square" lIns="0" tIns="0" rIns="0" bIns="0" rtlCol="0" anchor="ctr"/>
          <a:lstStyle/>
          <a:p>
            <a:pPr algn="l" indent="0" marL="0">
              <a:buNone/>
            </a:pPr>
            <a:r>
              <a:rPr lang="en-US" sz="1400" b="1" dirty="0">
                <a:solidFill>
                  <a:srgbClr val="00274A"/>
                </a:solidFill>
              </a:rPr>
              <a:t>Kru: 4.500+ pilot dan awak kabin</a:t>
            </a:r>
            <a:endParaRPr lang="en-US" sz="1400" dirty="0"/>
          </a:p>
        </p:txBody>
      </p:sp>
      <p:sp>
        <p:nvSpPr>
          <p:cNvPr id="8" name="text"/>
          <p:cNvSpPr txBox="1"/>
          <p:nvPr/>
        </p:nvSpPr>
        <p:spPr>
          <a:xfrm>
            <a:off x="777240" y="2167128"/>
            <a:ext cx="4975708" cy="1188720"/>
          </a:xfrm>
          <a:prstGeom prst="rect">
            <a:avLst/>
          </a:prstGeom>
          <a:noFill/>
          <a:ln/>
        </p:spPr>
        <p:txBody>
          <a:bodyPr wrap="square" lIns="0" tIns="0" rIns="0" bIns="0" rtlCol="0" anchor="t"/>
          <a:lstStyle/>
          <a:p>
            <a:pPr algn="l" indent="0" marL="0">
              <a:buNone/>
            </a:pPr>
            <a:r>
              <a:rPr lang="en-US" sz="1200" i="1" dirty="0">
                <a:solidFill>
                  <a:srgbClr val="00274A"/>
                </a:solidFill>
              </a:rPr>
              <a:t>Preferential bidding system</a:t>
            </a:r>
            <a:r>
              <a:rPr lang="en-US" sz="1200" dirty="0">
                <a:solidFill>
                  <a:srgbClr val="00274A"/>
                </a:solidFill>
              </a:rPr>
              <a:t>, batas jam tugas FAA, dan kontrak serikat membuat penjadwalan kru menjadi </a:t>
            </a:r>
            <a:r>
              <a:rPr lang="en-US" sz="1200" i="1" dirty="0">
                <a:solidFill>
                  <a:srgbClr val="00274A"/>
                </a:solidFill>
              </a:rPr>
              <a:t>finite capacity scheduling</a:t>
            </a:r>
            <a:r>
              <a:rPr lang="en-US" sz="1200" dirty="0">
                <a:solidFill>
                  <a:srgbClr val="00274A"/>
                </a:solidFill>
              </a:rPr>
              <a:t> dengan kendala legalitas; pola kerja mengikuti </a:t>
            </a:r>
            <a:r>
              <a:rPr lang="en-US" sz="1200" i="1" dirty="0">
                <a:solidFill>
                  <a:srgbClr val="00274A"/>
                </a:solidFill>
              </a:rPr>
              <a:t>cyclical scheduling</a:t>
            </a:r>
            <a:r>
              <a:rPr lang="en-US" sz="1200" dirty="0">
                <a:solidFill>
                  <a:srgbClr val="00274A"/>
                </a:solidFill>
              </a:rPr>
              <a:t>. Di Kodiak, hanya kapten boleh mendarat: kendala </a:t>
            </a:r>
            <a:r>
              <a:rPr lang="en-US" sz="1200" i="1" dirty="0">
                <a:solidFill>
                  <a:srgbClr val="00274A"/>
                </a:solidFill>
              </a:rPr>
              <a:t>sequencing</a:t>
            </a:r>
            <a:r>
              <a:rPr lang="en-US" sz="1200" dirty="0">
                <a:solidFill>
                  <a:srgbClr val="00274A"/>
                </a:solidFill>
              </a:rPr>
              <a:t> tambahan.</a:t>
            </a:r>
            <a:endParaRPr lang="en-US" sz="1200" dirty="0"/>
          </a:p>
        </p:txBody>
      </p:sp>
      <p:sp>
        <p:nvSpPr>
          <p:cNvPr id="9" name="card"/>
          <p:cNvSpPr/>
          <p:nvPr/>
        </p:nvSpPr>
        <p:spPr>
          <a:xfrm>
            <a:off x="6210148" y="1325880"/>
            <a:ext cx="5432908" cy="2103120"/>
          </a:xfrm>
          <a:prstGeom prst="roundRect">
            <a:avLst>
              <a:gd name="adj" fmla="val 6087"/>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10" name="icon circle"/>
          <p:cNvSpPr/>
          <p:nvPr/>
        </p:nvSpPr>
        <p:spPr>
          <a:xfrm>
            <a:off x="6438748" y="1527048"/>
            <a:ext cx="548640" cy="548640"/>
          </a:xfrm>
          <a:prstGeom prst="ellipse">
            <a:avLst/>
          </a:prstGeom>
          <a:solidFill>
            <a:srgbClr val="91BE62"/>
          </a:solidFill>
          <a:ln w="3175">
            <a:solidFill>
              <a:srgbClr val="91BE62"/>
            </a:solidFill>
            <a:prstDash val="solid"/>
          </a:ln>
        </p:spPr>
      </p:sp>
      <p:pic>
        <p:nvPicPr>
          <p:cNvPr id="11" name="icon FaTools" descr="preencoded.png">    </p:cNvPr>
          <p:cNvPicPr>
            <a:picLocks noChangeAspect="1"/>
          </p:cNvPicPr>
          <p:nvPr/>
        </p:nvPicPr>
        <p:blipFill>
          <a:blip r:embed="rId2"/>
          <a:stretch>
            <a:fillRect/>
          </a:stretch>
        </p:blipFill>
        <p:spPr>
          <a:xfrm>
            <a:off x="6575908" y="1664208"/>
            <a:ext cx="274320" cy="274320"/>
          </a:xfrm>
          <a:prstGeom prst="rect">
            <a:avLst/>
          </a:prstGeom>
        </p:spPr>
      </p:pic>
      <p:sp>
        <p:nvSpPr>
          <p:cNvPr id="12" name="text"/>
          <p:cNvSpPr txBox="1"/>
          <p:nvPr/>
        </p:nvSpPr>
        <p:spPr>
          <a:xfrm>
            <a:off x="7124548" y="1527048"/>
            <a:ext cx="4335628" cy="548640"/>
          </a:xfrm>
          <a:prstGeom prst="rect">
            <a:avLst/>
          </a:prstGeom>
          <a:noFill/>
          <a:ln/>
        </p:spPr>
        <p:txBody>
          <a:bodyPr wrap="square" lIns="0" tIns="0" rIns="0" bIns="0" rtlCol="0" anchor="ctr"/>
          <a:lstStyle/>
          <a:p>
            <a:pPr algn="l" indent="0" marL="0">
              <a:buNone/>
            </a:pPr>
            <a:r>
              <a:rPr lang="en-US" sz="1400" b="1" dirty="0">
                <a:solidFill>
                  <a:srgbClr val="00274A"/>
                </a:solidFill>
              </a:rPr>
              <a:t>Hangar dan line maintenance</a:t>
            </a:r>
            <a:endParaRPr lang="en-US" sz="1400" dirty="0"/>
          </a:p>
        </p:txBody>
      </p:sp>
      <p:sp>
        <p:nvSpPr>
          <p:cNvPr id="13" name="text"/>
          <p:cNvSpPr txBox="1"/>
          <p:nvPr/>
        </p:nvSpPr>
        <p:spPr>
          <a:xfrm>
            <a:off x="6438748" y="2167128"/>
            <a:ext cx="4975708" cy="1188720"/>
          </a:xfrm>
          <a:prstGeom prst="rect">
            <a:avLst/>
          </a:prstGeom>
          <a:noFill/>
          <a:ln/>
        </p:spPr>
        <p:txBody>
          <a:bodyPr wrap="square" lIns="0" tIns="0" rIns="0" bIns="0" rtlCol="0" anchor="t"/>
          <a:lstStyle/>
          <a:p>
            <a:pPr algn="l" indent="0" marL="0">
              <a:buNone/>
            </a:pPr>
            <a:r>
              <a:rPr lang="en-US" sz="1200" dirty="0">
                <a:solidFill>
                  <a:srgbClr val="00274A"/>
                </a:solidFill>
              </a:rPr>
              <a:t>Aturan prioritas hibrida: </a:t>
            </a:r>
            <a:r>
              <a:rPr lang="en-US" sz="1200" i="1" dirty="0">
                <a:solidFill>
                  <a:srgbClr val="00274A"/>
                </a:solidFill>
              </a:rPr>
              <a:t>critical ratio</a:t>
            </a:r>
            <a:r>
              <a:rPr lang="en-US" sz="1200" dirty="0">
                <a:solidFill>
                  <a:srgbClr val="00274A"/>
                </a:solidFill>
              </a:rPr>
              <a:t> untuk AOG dan batas </a:t>
            </a:r>
            <a:r>
              <a:rPr lang="en-US" sz="1200" i="1" dirty="0">
                <a:solidFill>
                  <a:srgbClr val="00274A"/>
                </a:solidFill>
              </a:rPr>
              <a:t>airworthiness</a:t>
            </a:r>
            <a:r>
              <a:rPr lang="en-US" sz="1200" dirty="0">
                <a:solidFill>
                  <a:srgbClr val="00274A"/>
                </a:solidFill>
              </a:rPr>
              <a:t>, SPT untuk antrean rutin agar </a:t>
            </a:r>
            <a:r>
              <a:rPr lang="en-US" sz="1200" i="1" dirty="0">
                <a:solidFill>
                  <a:srgbClr val="00274A"/>
                </a:solidFill>
              </a:rPr>
              <a:t>throughput</a:t>
            </a:r>
            <a:r>
              <a:rPr lang="en-US" sz="1200" dirty="0">
                <a:solidFill>
                  <a:srgbClr val="00274A"/>
                </a:solidFill>
              </a:rPr>
              <a:t> tinggi, dan </a:t>
            </a:r>
            <a:r>
              <a:rPr lang="en-US" sz="1200" i="1" dirty="0">
                <a:solidFill>
                  <a:srgbClr val="00274A"/>
                </a:solidFill>
              </a:rPr>
              <a:t>Johnson's rule</a:t>
            </a:r>
            <a:r>
              <a:rPr lang="en-US" sz="1200" dirty="0">
                <a:solidFill>
                  <a:srgbClr val="00274A"/>
                </a:solidFill>
              </a:rPr>
              <a:t> pada alur dua tahap inspeksi lalu perbaikan (ilustrasi: </a:t>
            </a:r>
            <a:r>
              <a:rPr lang="en-US" sz="1200" i="1" dirty="0">
                <a:solidFill>
                  <a:srgbClr val="00274A"/>
                </a:solidFill>
              </a:rPr>
              <a:t>makespan</a:t>
            </a:r>
            <a:r>
              <a:rPr lang="en-US" sz="1200" dirty="0">
                <a:solidFill>
                  <a:srgbClr val="00274A"/>
                </a:solidFill>
              </a:rPr>
              <a:t> turun dari 45 menjadi 35 jam).</a:t>
            </a:r>
            <a:endParaRPr lang="en-US" sz="1200" dirty="0"/>
          </a:p>
        </p:txBody>
      </p:sp>
      <p:sp>
        <p:nvSpPr>
          <p:cNvPr id="14" name="card"/>
          <p:cNvSpPr/>
          <p:nvPr/>
        </p:nvSpPr>
        <p:spPr>
          <a:xfrm>
            <a:off x="548640" y="3611880"/>
            <a:ext cx="5432908" cy="2103120"/>
          </a:xfrm>
          <a:prstGeom prst="roundRect">
            <a:avLst>
              <a:gd name="adj" fmla="val 6087"/>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15" name="icon circle"/>
          <p:cNvSpPr/>
          <p:nvPr/>
        </p:nvSpPr>
        <p:spPr>
          <a:xfrm>
            <a:off x="777240" y="3813048"/>
            <a:ext cx="548640" cy="548640"/>
          </a:xfrm>
          <a:prstGeom prst="ellipse">
            <a:avLst/>
          </a:prstGeom>
          <a:solidFill>
            <a:srgbClr val="91BE62"/>
          </a:solidFill>
          <a:ln w="3175">
            <a:solidFill>
              <a:srgbClr val="91BE62"/>
            </a:solidFill>
            <a:prstDash val="solid"/>
          </a:ln>
        </p:spPr>
      </p:sp>
      <p:pic>
        <p:nvPicPr>
          <p:cNvPr id="16" name="icon FaRoute" descr="preencoded.png">    </p:cNvPr>
          <p:cNvPicPr>
            <a:picLocks noChangeAspect="1"/>
          </p:cNvPicPr>
          <p:nvPr/>
        </p:nvPicPr>
        <p:blipFill>
          <a:blip r:embed="rId3"/>
          <a:stretch>
            <a:fillRect/>
          </a:stretch>
        </p:blipFill>
        <p:spPr>
          <a:xfrm>
            <a:off x="914400" y="3950208"/>
            <a:ext cx="274320" cy="274320"/>
          </a:xfrm>
          <a:prstGeom prst="rect">
            <a:avLst/>
          </a:prstGeom>
        </p:spPr>
      </p:pic>
      <p:sp>
        <p:nvSpPr>
          <p:cNvPr id="17" name="text"/>
          <p:cNvSpPr txBox="1"/>
          <p:nvPr/>
        </p:nvSpPr>
        <p:spPr>
          <a:xfrm>
            <a:off x="1463040" y="3813048"/>
            <a:ext cx="4335628" cy="548640"/>
          </a:xfrm>
          <a:prstGeom prst="rect">
            <a:avLst/>
          </a:prstGeom>
          <a:noFill/>
          <a:ln/>
        </p:spPr>
        <p:txBody>
          <a:bodyPr wrap="square" lIns="0" tIns="0" rIns="0" bIns="0" rtlCol="0" anchor="ctr"/>
          <a:lstStyle/>
          <a:p>
            <a:pPr algn="l" indent="0" marL="0">
              <a:buNone/>
            </a:pPr>
            <a:r>
              <a:rPr lang="en-US" sz="1400" b="1" dirty="0">
                <a:solidFill>
                  <a:srgbClr val="00274A"/>
                </a:solidFill>
              </a:rPr>
              <a:t>Jadwal penerbangan dan irregular operations</a:t>
            </a:r>
            <a:endParaRPr lang="en-US" sz="1400" dirty="0"/>
          </a:p>
        </p:txBody>
      </p:sp>
      <p:sp>
        <p:nvSpPr>
          <p:cNvPr id="18" name="text"/>
          <p:cNvSpPr txBox="1"/>
          <p:nvPr/>
        </p:nvSpPr>
        <p:spPr>
          <a:xfrm>
            <a:off x="777240" y="4453128"/>
            <a:ext cx="4975708" cy="1188720"/>
          </a:xfrm>
          <a:prstGeom prst="rect">
            <a:avLst/>
          </a:prstGeom>
          <a:noFill/>
          <a:ln/>
        </p:spPr>
        <p:txBody>
          <a:bodyPr wrap="square" lIns="0" tIns="0" rIns="0" bIns="0" rtlCol="0" anchor="t"/>
          <a:lstStyle/>
          <a:p>
            <a:pPr algn="l" indent="0" marL="0">
              <a:buNone/>
            </a:pPr>
            <a:r>
              <a:rPr lang="en-US" sz="1200" i="1" dirty="0">
                <a:solidFill>
                  <a:srgbClr val="00274A"/>
                </a:solidFill>
              </a:rPr>
              <a:t>Flight timetable</a:t>
            </a:r>
            <a:r>
              <a:rPr lang="en-US" sz="1200" dirty="0">
                <a:solidFill>
                  <a:srgbClr val="00274A"/>
                </a:solidFill>
              </a:rPr>
              <a:t> berfungsi sebagai </a:t>
            </a:r>
            <a:r>
              <a:rPr lang="en-US" sz="1200" i="1" dirty="0">
                <a:solidFill>
                  <a:srgbClr val="00274A"/>
                </a:solidFill>
              </a:rPr>
              <a:t>master schedule</a:t>
            </a:r>
            <a:r>
              <a:rPr lang="en-US" sz="1200" dirty="0">
                <a:solidFill>
                  <a:srgbClr val="00274A"/>
                </a:solidFill>
              </a:rPr>
              <a:t>. Saat gangguan, keputusan batal–alihkan rute dijadwalkan secara </a:t>
            </a:r>
            <a:r>
              <a:rPr lang="en-US" sz="1200" i="1" dirty="0">
                <a:solidFill>
                  <a:srgbClr val="00274A"/>
                </a:solidFill>
              </a:rPr>
              <a:t>backward</a:t>
            </a:r>
            <a:r>
              <a:rPr lang="en-US" sz="1200" dirty="0">
                <a:solidFill>
                  <a:srgbClr val="00274A"/>
                </a:solidFill>
              </a:rPr>
              <a:t> dari </a:t>
            </a:r>
            <a:r>
              <a:rPr lang="en-US" sz="1200" i="1" dirty="0">
                <a:solidFill>
                  <a:srgbClr val="00274A"/>
                </a:solidFill>
              </a:rPr>
              <a:t>curfew</a:t>
            </a:r>
            <a:r>
              <a:rPr lang="en-US" sz="1200" dirty="0">
                <a:solidFill>
                  <a:srgbClr val="00274A"/>
                </a:solidFill>
              </a:rPr>
              <a:t> dan konektivitas; saat </a:t>
            </a:r>
            <a:r>
              <a:rPr lang="en-US" sz="1200" i="1" dirty="0">
                <a:solidFill>
                  <a:srgbClr val="00274A"/>
                </a:solidFill>
              </a:rPr>
              <a:t>ground stop</a:t>
            </a:r>
            <a:r>
              <a:rPr lang="en-US" sz="1200" dirty="0">
                <a:solidFill>
                  <a:srgbClr val="00274A"/>
                </a:solidFill>
              </a:rPr>
              <a:t> Juli 2025, pesawat dipertahankan "di posisi" agar jadwal pulih cepat.</a:t>
            </a:r>
            <a:endParaRPr lang="en-US" sz="1200" dirty="0"/>
          </a:p>
        </p:txBody>
      </p:sp>
      <p:sp>
        <p:nvSpPr>
          <p:cNvPr id="19" name="card"/>
          <p:cNvSpPr/>
          <p:nvPr/>
        </p:nvSpPr>
        <p:spPr>
          <a:xfrm>
            <a:off x="6210148" y="3611880"/>
            <a:ext cx="5432908" cy="2103120"/>
          </a:xfrm>
          <a:prstGeom prst="roundRect">
            <a:avLst>
              <a:gd name="adj" fmla="val 6087"/>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20" name="icon circle"/>
          <p:cNvSpPr/>
          <p:nvPr/>
        </p:nvSpPr>
        <p:spPr>
          <a:xfrm>
            <a:off x="6438748" y="3813048"/>
            <a:ext cx="548640" cy="548640"/>
          </a:xfrm>
          <a:prstGeom prst="ellipse">
            <a:avLst/>
          </a:prstGeom>
          <a:solidFill>
            <a:srgbClr val="00CFF0"/>
          </a:solidFill>
          <a:ln w="3175">
            <a:solidFill>
              <a:srgbClr val="00CFF0"/>
            </a:solidFill>
            <a:prstDash val="solid"/>
          </a:ln>
        </p:spPr>
      </p:sp>
      <p:pic>
        <p:nvPicPr>
          <p:cNvPr id="21" name="icon FaSnowflake" descr="preencoded.png">    </p:cNvPr>
          <p:cNvPicPr>
            <a:picLocks noChangeAspect="1"/>
          </p:cNvPicPr>
          <p:nvPr/>
        </p:nvPicPr>
        <p:blipFill>
          <a:blip r:embed="rId4"/>
          <a:stretch>
            <a:fillRect/>
          </a:stretch>
        </p:blipFill>
        <p:spPr>
          <a:xfrm>
            <a:off x="6575908" y="3950208"/>
            <a:ext cx="274320" cy="274320"/>
          </a:xfrm>
          <a:prstGeom prst="rect">
            <a:avLst/>
          </a:prstGeom>
        </p:spPr>
      </p:pic>
      <p:sp>
        <p:nvSpPr>
          <p:cNvPr id="22" name="text"/>
          <p:cNvSpPr txBox="1"/>
          <p:nvPr/>
        </p:nvSpPr>
        <p:spPr>
          <a:xfrm>
            <a:off x="7124548" y="3813048"/>
            <a:ext cx="4335628" cy="548640"/>
          </a:xfrm>
          <a:prstGeom prst="rect">
            <a:avLst/>
          </a:prstGeom>
          <a:noFill/>
          <a:ln/>
        </p:spPr>
        <p:txBody>
          <a:bodyPr wrap="square" lIns="0" tIns="0" rIns="0" bIns="0" rtlCol="0" anchor="ctr"/>
          <a:lstStyle/>
          <a:p>
            <a:pPr algn="l" indent="0" marL="0">
              <a:buNone/>
            </a:pPr>
            <a:r>
              <a:rPr lang="en-US" sz="1400" b="1" dirty="0">
                <a:solidFill>
                  <a:srgbClr val="00274A"/>
                </a:solidFill>
              </a:rPr>
              <a:t>Operasi darat: gate, tiket, deicing</a:t>
            </a:r>
            <a:endParaRPr lang="en-US" sz="1400" dirty="0"/>
          </a:p>
        </p:txBody>
      </p:sp>
      <p:sp>
        <p:nvSpPr>
          <p:cNvPr id="23" name="text"/>
          <p:cNvSpPr txBox="1"/>
          <p:nvPr/>
        </p:nvSpPr>
        <p:spPr>
          <a:xfrm>
            <a:off x="6438748" y="4453128"/>
            <a:ext cx="4975708" cy="1188720"/>
          </a:xfrm>
          <a:prstGeom prst="rect">
            <a:avLst/>
          </a:prstGeom>
          <a:noFill/>
          <a:ln/>
        </p:spPr>
        <p:txBody>
          <a:bodyPr wrap="square" lIns="0" tIns="0" rIns="0" bIns="0" rtlCol="0" anchor="t"/>
          <a:lstStyle/>
          <a:p>
            <a:pPr algn="l" indent="0" marL="0">
              <a:buNone/>
            </a:pPr>
            <a:r>
              <a:rPr lang="en-US" sz="1200" dirty="0">
                <a:solidFill>
                  <a:srgbClr val="00274A"/>
                </a:solidFill>
              </a:rPr>
              <a:t>Kebutuhan staf harian yang bervariasi ditangani dengan </a:t>
            </a:r>
            <a:r>
              <a:rPr lang="en-US" sz="1200" i="1" dirty="0">
                <a:solidFill>
                  <a:srgbClr val="00274A"/>
                </a:solidFill>
              </a:rPr>
              <a:t>cyclical scheduling</a:t>
            </a:r>
            <a:r>
              <a:rPr lang="en-US" sz="1200" dirty="0">
                <a:solidFill>
                  <a:srgbClr val="00274A"/>
                </a:solidFill>
              </a:rPr>
              <a:t>; kapasitas </a:t>
            </a:r>
            <a:r>
              <a:rPr lang="en-US" sz="1200" i="1" dirty="0">
                <a:solidFill>
                  <a:srgbClr val="00274A"/>
                </a:solidFill>
              </a:rPr>
              <a:t>deicing</a:t>
            </a:r>
            <a:r>
              <a:rPr lang="en-US" sz="1200" dirty="0">
                <a:solidFill>
                  <a:srgbClr val="00274A"/>
                </a:solidFill>
              </a:rPr>
              <a:t> disiapkan delapan jam sebelum hujan beku tiba (10.00 untuk 18.00), contoh </a:t>
            </a:r>
            <a:r>
              <a:rPr lang="en-US" sz="1200" i="1" dirty="0">
                <a:solidFill>
                  <a:srgbClr val="00274A"/>
                </a:solidFill>
              </a:rPr>
              <a:t>forward scheduling</a:t>
            </a:r>
            <a:r>
              <a:rPr lang="en-US" sz="1200" dirty="0">
                <a:solidFill>
                  <a:srgbClr val="00274A"/>
                </a:solidFill>
              </a:rPr>
              <a:t> berbasis prakiraan.</a:t>
            </a:r>
            <a:endParaRPr lang="en-US" sz="1200" dirty="0"/>
          </a:p>
        </p:txBody>
      </p:sp>
      <p:sp>
        <p:nvSpPr>
          <p:cNvPr id="24" name="card"/>
          <p:cNvSpPr/>
          <p:nvPr/>
        </p:nvSpPr>
        <p:spPr>
          <a:xfrm>
            <a:off x="548640" y="5623560"/>
            <a:ext cx="11094415" cy="621792"/>
          </a:xfrm>
          <a:prstGeom prst="roundRect">
            <a:avLst>
              <a:gd name="adj" fmla="val 20588"/>
            </a:avLst>
          </a:prstGeom>
          <a:solidFill>
            <a:srgbClr val="00274A"/>
          </a:solidFill>
          <a:ln w="3175">
            <a:solidFill>
              <a:srgbClr val="00274A"/>
            </a:solidFill>
            <a:prstDash val="solid"/>
          </a:ln>
        </p:spPr>
      </p:sp>
      <p:sp>
        <p:nvSpPr>
          <p:cNvPr id="25" name="text"/>
          <p:cNvSpPr txBox="1"/>
          <p:nvPr/>
        </p:nvSpPr>
        <p:spPr>
          <a:xfrm>
            <a:off x="822960" y="5623560"/>
            <a:ext cx="10545775" cy="621792"/>
          </a:xfrm>
          <a:prstGeom prst="rect">
            <a:avLst/>
          </a:prstGeom>
          <a:noFill/>
          <a:ln/>
        </p:spPr>
        <p:txBody>
          <a:bodyPr wrap="square" lIns="0" tIns="0" rIns="0" bIns="0" rtlCol="0" anchor="ctr"/>
          <a:lstStyle/>
          <a:p>
            <a:pPr algn="l" indent="0" marL="0">
              <a:buNone/>
            </a:pPr>
            <a:r>
              <a:rPr lang="en-US" sz="1200" b="1" dirty="0">
                <a:solidFill>
                  <a:srgbClr val="FFFFFF"/>
                </a:solidFill>
              </a:rPr>
              <a:t>Pola umum:</a:t>
            </a:r>
            <a:r>
              <a:rPr lang="en-US" sz="1200" dirty="0">
                <a:solidFill>
                  <a:srgbClr val="FFFFFF"/>
                </a:solidFill>
              </a:rPr>
              <a:t> keputusan jangka pendek Alaska mengikuti urutan </a:t>
            </a:r>
            <a:r>
              <a:rPr lang="en-US" sz="1200" i="1" dirty="0">
                <a:solidFill>
                  <a:srgbClr val="FFFFFF"/>
                </a:solidFill>
              </a:rPr>
              <a:t>loading → sequencing → scheduling → monitoring and control</a:t>
            </a:r>
            <a:r>
              <a:rPr lang="en-US" sz="1200" dirty="0">
                <a:solidFill>
                  <a:srgbClr val="FFFFFF"/>
                </a:solidFill>
              </a:rPr>
              <a:t> (Bagian 1), bukan improvisasi; teknologinya hanya mempercepat siklus itu.</a:t>
            </a:r>
            <a:endParaRPr lang="en-US" sz="1200" dirty="0"/>
          </a:p>
        </p:txBody>
      </p:sp>
      <p:sp>
        <p:nvSpPr>
          <p:cNvPr id="25" name="Slide Number Placeholder 0"/>
          <p:cNvSpPr>
            <a:spLocks noGrp="1"/>
          </p:cNvSpPr>
          <p:nvPr>
            <p:ph type="sldNum" sz="quarter" idx="4294967295"/>
          </p:nvPr>
        </p:nvSpPr>
        <p:spPr>
          <a:xfrm>
            <a:off x="11064240" y="6428232"/>
            <a:ext cx="576072"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01426A"/>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3"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000" b="1" dirty="0">
                <a:solidFill>
                  <a:srgbClr val="00274A"/>
                </a:solidFill>
              </a:rPr>
              <a:t>Sintesis: MRP, ERP, dan Scheduling dalam Satu Siklus Kendali</a:t>
            </a:r>
            <a:endParaRPr lang="en-US" sz="3000" dirty="0"/>
          </a:p>
        </p:txBody>
      </p:sp>
      <p:sp>
        <p:nvSpPr>
          <p:cNvPr id="4" name="card"/>
          <p:cNvSpPr/>
          <p:nvPr/>
        </p:nvSpPr>
        <p:spPr>
          <a:xfrm>
            <a:off x="548640" y="1371600"/>
            <a:ext cx="3393338" cy="1417320"/>
          </a:xfrm>
          <a:prstGeom prst="roundRect">
            <a:avLst>
              <a:gd name="adj" fmla="val 9032"/>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5" name="icon circle"/>
          <p:cNvSpPr/>
          <p:nvPr/>
        </p:nvSpPr>
        <p:spPr>
          <a:xfrm>
            <a:off x="749808" y="1572768"/>
            <a:ext cx="502920" cy="502920"/>
          </a:xfrm>
          <a:prstGeom prst="ellipse">
            <a:avLst/>
          </a:prstGeom>
          <a:solidFill>
            <a:srgbClr val="00CFF0"/>
          </a:solidFill>
          <a:ln w="3175">
            <a:solidFill>
              <a:srgbClr val="00CFF0"/>
            </a:solidFill>
            <a:prstDash val="solid"/>
          </a:ln>
        </p:spPr>
      </p:sp>
      <p:pic>
        <p:nvPicPr>
          <p:cNvPr id="6" name="icon FaCalendarAlt" descr="preencoded.png">    </p:cNvPr>
          <p:cNvPicPr>
            <a:picLocks noChangeAspect="1"/>
          </p:cNvPicPr>
          <p:nvPr/>
        </p:nvPicPr>
        <p:blipFill>
          <a:blip r:embed="rId1"/>
          <a:stretch>
            <a:fillRect/>
          </a:stretch>
        </p:blipFill>
        <p:spPr>
          <a:xfrm>
            <a:off x="875538" y="1698498"/>
            <a:ext cx="251460" cy="251460"/>
          </a:xfrm>
          <a:prstGeom prst="rect">
            <a:avLst/>
          </a:prstGeom>
        </p:spPr>
      </p:pic>
      <p:sp>
        <p:nvSpPr>
          <p:cNvPr id="7" name="text"/>
          <p:cNvSpPr txBox="1"/>
          <p:nvPr/>
        </p:nvSpPr>
        <p:spPr>
          <a:xfrm>
            <a:off x="1371600" y="1572768"/>
            <a:ext cx="2387498" cy="502920"/>
          </a:xfrm>
          <a:prstGeom prst="rect">
            <a:avLst/>
          </a:prstGeom>
          <a:noFill/>
          <a:ln/>
        </p:spPr>
        <p:txBody>
          <a:bodyPr wrap="square" lIns="0" tIns="0" rIns="0" bIns="0" rtlCol="0" anchor="ctr"/>
          <a:lstStyle/>
          <a:p>
            <a:pPr algn="l" indent="0" marL="0">
              <a:buNone/>
            </a:pPr>
            <a:r>
              <a:rPr lang="en-US" sz="1350" b="1" dirty="0">
                <a:solidFill>
                  <a:srgbClr val="00274A"/>
                </a:solidFill>
              </a:rPr>
              <a:t>1. Flight timetable</a:t>
            </a:r>
            <a:endParaRPr lang="en-US" sz="1350" dirty="0"/>
          </a:p>
        </p:txBody>
      </p:sp>
      <p:sp>
        <p:nvSpPr>
          <p:cNvPr id="8" name="text"/>
          <p:cNvSpPr txBox="1"/>
          <p:nvPr/>
        </p:nvSpPr>
        <p:spPr>
          <a:xfrm>
            <a:off x="749808" y="2148840"/>
            <a:ext cx="2991002" cy="594360"/>
          </a:xfrm>
          <a:prstGeom prst="rect">
            <a:avLst/>
          </a:prstGeom>
          <a:noFill/>
          <a:ln/>
        </p:spPr>
        <p:txBody>
          <a:bodyPr wrap="square" lIns="0" tIns="0" rIns="0" bIns="0" rtlCol="0" anchor="t"/>
          <a:lstStyle/>
          <a:p>
            <a:pPr algn="l" indent="0" marL="0">
              <a:buNone/>
            </a:pPr>
            <a:r>
              <a:rPr lang="en-US" sz="1100" dirty="0">
                <a:solidFill>
                  <a:srgbClr val="00274A"/>
                </a:solidFill>
              </a:rPr>
              <a:t>Master schedule: apa diterbangkan, kapan, dengan pesawat apa</a:t>
            </a:r>
            <a:endParaRPr lang="en-US" sz="1100" dirty="0"/>
          </a:p>
        </p:txBody>
      </p:sp>
      <p:sp>
        <p:nvSpPr>
          <p:cNvPr id="9" name="card"/>
          <p:cNvSpPr/>
          <p:nvPr/>
        </p:nvSpPr>
        <p:spPr>
          <a:xfrm>
            <a:off x="4399178" y="1371600"/>
            <a:ext cx="3393338" cy="1417320"/>
          </a:xfrm>
          <a:prstGeom prst="roundRect">
            <a:avLst>
              <a:gd name="adj" fmla="val 9032"/>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10" name="icon circle"/>
          <p:cNvSpPr/>
          <p:nvPr/>
        </p:nvSpPr>
        <p:spPr>
          <a:xfrm>
            <a:off x="4600346" y="1572768"/>
            <a:ext cx="502920" cy="502920"/>
          </a:xfrm>
          <a:prstGeom prst="ellipse">
            <a:avLst/>
          </a:prstGeom>
          <a:solidFill>
            <a:srgbClr val="91BE62"/>
          </a:solidFill>
          <a:ln w="3175">
            <a:solidFill>
              <a:srgbClr val="91BE62"/>
            </a:solidFill>
            <a:prstDash val="solid"/>
          </a:ln>
        </p:spPr>
      </p:sp>
      <p:pic>
        <p:nvPicPr>
          <p:cNvPr id="11" name="icon FaWrench" descr="preencoded.png">    </p:cNvPr>
          <p:cNvPicPr>
            <a:picLocks noChangeAspect="1"/>
          </p:cNvPicPr>
          <p:nvPr/>
        </p:nvPicPr>
        <p:blipFill>
          <a:blip r:embed="rId2"/>
          <a:stretch>
            <a:fillRect/>
          </a:stretch>
        </p:blipFill>
        <p:spPr>
          <a:xfrm>
            <a:off x="4726076" y="1698498"/>
            <a:ext cx="251460" cy="251460"/>
          </a:xfrm>
          <a:prstGeom prst="rect">
            <a:avLst/>
          </a:prstGeom>
        </p:spPr>
      </p:pic>
      <p:sp>
        <p:nvSpPr>
          <p:cNvPr id="12" name="text"/>
          <p:cNvSpPr txBox="1"/>
          <p:nvPr/>
        </p:nvSpPr>
        <p:spPr>
          <a:xfrm>
            <a:off x="5222138" y="1572768"/>
            <a:ext cx="2387498" cy="502920"/>
          </a:xfrm>
          <a:prstGeom prst="rect">
            <a:avLst/>
          </a:prstGeom>
          <a:noFill/>
          <a:ln/>
        </p:spPr>
        <p:txBody>
          <a:bodyPr wrap="square" lIns="0" tIns="0" rIns="0" bIns="0" rtlCol="0" anchor="ctr"/>
          <a:lstStyle/>
          <a:p>
            <a:pPr algn="l" indent="0" marL="0">
              <a:buNone/>
            </a:pPr>
            <a:r>
              <a:rPr lang="en-US" sz="1350" b="1" dirty="0">
                <a:solidFill>
                  <a:srgbClr val="00274A"/>
                </a:solidFill>
              </a:rPr>
              <a:t>2. Rencana perawatan &amp; kru</a:t>
            </a:r>
            <a:endParaRPr lang="en-US" sz="1350" dirty="0"/>
          </a:p>
        </p:txBody>
      </p:sp>
      <p:sp>
        <p:nvSpPr>
          <p:cNvPr id="13" name="text"/>
          <p:cNvSpPr txBox="1"/>
          <p:nvPr/>
        </p:nvSpPr>
        <p:spPr>
          <a:xfrm>
            <a:off x="4600346" y="2148840"/>
            <a:ext cx="2991002" cy="594360"/>
          </a:xfrm>
          <a:prstGeom prst="rect">
            <a:avLst/>
          </a:prstGeom>
          <a:noFill/>
          <a:ln/>
        </p:spPr>
        <p:txBody>
          <a:bodyPr wrap="square" lIns="0" tIns="0" rIns="0" bIns="0" rtlCol="0" anchor="t"/>
          <a:lstStyle/>
          <a:p>
            <a:pPr algn="l" indent="0" marL="0">
              <a:buNone/>
            </a:pPr>
            <a:r>
              <a:rPr lang="en-US" sz="1100" dirty="0">
                <a:solidFill>
                  <a:srgbClr val="00274A"/>
                </a:solidFill>
              </a:rPr>
              <a:t>Disagregasi ke tail number dan pairing kru</a:t>
            </a:r>
            <a:endParaRPr lang="en-US" sz="1100" dirty="0"/>
          </a:p>
        </p:txBody>
      </p:sp>
      <p:sp>
        <p:nvSpPr>
          <p:cNvPr id="14" name="card"/>
          <p:cNvSpPr/>
          <p:nvPr/>
        </p:nvSpPr>
        <p:spPr>
          <a:xfrm>
            <a:off x="8249717" y="1371600"/>
            <a:ext cx="3393338" cy="1417320"/>
          </a:xfrm>
          <a:prstGeom prst="roundRect">
            <a:avLst>
              <a:gd name="adj" fmla="val 9032"/>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15" name="icon circle"/>
          <p:cNvSpPr/>
          <p:nvPr/>
        </p:nvSpPr>
        <p:spPr>
          <a:xfrm>
            <a:off x="8450885" y="1572768"/>
            <a:ext cx="502920" cy="502920"/>
          </a:xfrm>
          <a:prstGeom prst="ellipse">
            <a:avLst/>
          </a:prstGeom>
          <a:solidFill>
            <a:srgbClr val="00CFF0"/>
          </a:solidFill>
          <a:ln w="3175">
            <a:solidFill>
              <a:srgbClr val="00CFF0"/>
            </a:solidFill>
            <a:prstDash val="solid"/>
          </a:ln>
        </p:spPr>
      </p:sp>
      <p:pic>
        <p:nvPicPr>
          <p:cNvPr id="16" name="icon FaBoxes" descr="preencoded.png">    </p:cNvPr>
          <p:cNvPicPr>
            <a:picLocks noChangeAspect="1"/>
          </p:cNvPicPr>
          <p:nvPr/>
        </p:nvPicPr>
        <p:blipFill>
          <a:blip r:embed="rId3"/>
          <a:stretch>
            <a:fillRect/>
          </a:stretch>
        </p:blipFill>
        <p:spPr>
          <a:xfrm>
            <a:off x="8576615" y="1698498"/>
            <a:ext cx="251460" cy="251460"/>
          </a:xfrm>
          <a:prstGeom prst="rect">
            <a:avLst/>
          </a:prstGeom>
        </p:spPr>
      </p:pic>
      <p:sp>
        <p:nvSpPr>
          <p:cNvPr id="17" name="text"/>
          <p:cNvSpPr txBox="1"/>
          <p:nvPr/>
        </p:nvSpPr>
        <p:spPr>
          <a:xfrm>
            <a:off x="9072677" y="1572768"/>
            <a:ext cx="2387498" cy="502920"/>
          </a:xfrm>
          <a:prstGeom prst="rect">
            <a:avLst/>
          </a:prstGeom>
          <a:noFill/>
          <a:ln/>
        </p:spPr>
        <p:txBody>
          <a:bodyPr wrap="square" lIns="0" tIns="0" rIns="0" bIns="0" rtlCol="0" anchor="ctr"/>
          <a:lstStyle/>
          <a:p>
            <a:pPr algn="l" indent="0" marL="0">
              <a:buNone/>
            </a:pPr>
            <a:r>
              <a:rPr lang="en-US" sz="1350" b="1" dirty="0">
                <a:solidFill>
                  <a:srgbClr val="00274A"/>
                </a:solidFill>
              </a:rPr>
              <a:t>3. MRP suku cadang</a:t>
            </a:r>
            <a:endParaRPr lang="en-US" sz="1350" dirty="0"/>
          </a:p>
        </p:txBody>
      </p:sp>
      <p:sp>
        <p:nvSpPr>
          <p:cNvPr id="18" name="text"/>
          <p:cNvSpPr txBox="1"/>
          <p:nvPr/>
        </p:nvSpPr>
        <p:spPr>
          <a:xfrm>
            <a:off x="8450885" y="2148840"/>
            <a:ext cx="2991002" cy="594360"/>
          </a:xfrm>
          <a:prstGeom prst="rect">
            <a:avLst/>
          </a:prstGeom>
          <a:noFill/>
          <a:ln/>
        </p:spPr>
        <p:txBody>
          <a:bodyPr wrap="square" lIns="0" tIns="0" rIns="0" bIns="0" rtlCol="0" anchor="t"/>
          <a:lstStyle/>
          <a:p>
            <a:pPr algn="l" indent="0" marL="0">
              <a:buNone/>
            </a:pPr>
            <a:r>
              <a:rPr lang="en-US" sz="1100" dirty="0">
                <a:solidFill>
                  <a:srgbClr val="00274A"/>
                </a:solidFill>
              </a:rPr>
              <a:t>Kebutuhan dependen: apa, berapa, kapan dipesan</a:t>
            </a:r>
            <a:endParaRPr lang="en-US" sz="1100" dirty="0"/>
          </a:p>
        </p:txBody>
      </p:sp>
      <p:sp>
        <p:nvSpPr>
          <p:cNvPr id="19" name="card"/>
          <p:cNvSpPr/>
          <p:nvPr/>
        </p:nvSpPr>
        <p:spPr>
          <a:xfrm>
            <a:off x="8249717" y="3703320"/>
            <a:ext cx="3393338" cy="1417320"/>
          </a:xfrm>
          <a:prstGeom prst="roundRect">
            <a:avLst>
              <a:gd name="adj" fmla="val 9032"/>
            </a:avLst>
          </a:prstGeom>
          <a:solidFill>
            <a:srgbClr val="00274A"/>
          </a:solidFill>
          <a:ln w="3175">
            <a:solidFill>
              <a:srgbClr val="00274A"/>
            </a:solidFill>
            <a:prstDash val="solid"/>
          </a:ln>
        </p:spPr>
      </p:sp>
      <p:sp>
        <p:nvSpPr>
          <p:cNvPr id="20" name="icon circle"/>
          <p:cNvSpPr/>
          <p:nvPr/>
        </p:nvSpPr>
        <p:spPr>
          <a:xfrm>
            <a:off x="8450885" y="3904488"/>
            <a:ext cx="502920" cy="502920"/>
          </a:xfrm>
          <a:prstGeom prst="ellipse">
            <a:avLst/>
          </a:prstGeom>
          <a:solidFill>
            <a:srgbClr val="00CFF0"/>
          </a:solidFill>
          <a:ln w="3175">
            <a:solidFill>
              <a:srgbClr val="00CFF0"/>
            </a:solidFill>
            <a:prstDash val="solid"/>
          </a:ln>
        </p:spPr>
      </p:sp>
      <p:pic>
        <p:nvPicPr>
          <p:cNvPr id="21" name="icon FaDatabase" descr="preencoded.png">    </p:cNvPr>
          <p:cNvPicPr>
            <a:picLocks noChangeAspect="1"/>
          </p:cNvPicPr>
          <p:nvPr/>
        </p:nvPicPr>
        <p:blipFill>
          <a:blip r:embed="rId4"/>
          <a:stretch>
            <a:fillRect/>
          </a:stretch>
        </p:blipFill>
        <p:spPr>
          <a:xfrm>
            <a:off x="8576615" y="4030218"/>
            <a:ext cx="251460" cy="251460"/>
          </a:xfrm>
          <a:prstGeom prst="rect">
            <a:avLst/>
          </a:prstGeom>
        </p:spPr>
      </p:pic>
      <p:sp>
        <p:nvSpPr>
          <p:cNvPr id="22" name="text"/>
          <p:cNvSpPr txBox="1"/>
          <p:nvPr/>
        </p:nvSpPr>
        <p:spPr>
          <a:xfrm>
            <a:off x="9072677" y="3904488"/>
            <a:ext cx="2387498" cy="502920"/>
          </a:xfrm>
          <a:prstGeom prst="rect">
            <a:avLst/>
          </a:prstGeom>
          <a:noFill/>
          <a:ln/>
        </p:spPr>
        <p:txBody>
          <a:bodyPr wrap="square" lIns="0" tIns="0" rIns="0" bIns="0" rtlCol="0" anchor="ctr"/>
          <a:lstStyle/>
          <a:p>
            <a:pPr algn="l" indent="0" marL="0">
              <a:buNone/>
            </a:pPr>
            <a:r>
              <a:rPr lang="en-US" sz="1350" b="1" dirty="0">
                <a:solidFill>
                  <a:srgbClr val="FFFFFF"/>
                </a:solidFill>
              </a:rPr>
              <a:t>4. ERP: basis data bersama</a:t>
            </a:r>
            <a:endParaRPr lang="en-US" sz="1350" dirty="0"/>
          </a:p>
        </p:txBody>
      </p:sp>
      <p:sp>
        <p:nvSpPr>
          <p:cNvPr id="23" name="text"/>
          <p:cNvSpPr txBox="1"/>
          <p:nvPr/>
        </p:nvSpPr>
        <p:spPr>
          <a:xfrm>
            <a:off x="8450885" y="4480560"/>
            <a:ext cx="2991002" cy="594360"/>
          </a:xfrm>
          <a:prstGeom prst="rect">
            <a:avLst/>
          </a:prstGeom>
          <a:noFill/>
          <a:ln/>
        </p:spPr>
        <p:txBody>
          <a:bodyPr wrap="square" lIns="0" tIns="0" rIns="0" bIns="0" rtlCol="0" anchor="t"/>
          <a:lstStyle/>
          <a:p>
            <a:pPr algn="l" indent="0" marL="0">
              <a:buNone/>
            </a:pPr>
            <a:r>
              <a:rPr lang="en-US" sz="1100" dirty="0">
                <a:solidFill>
                  <a:srgbClr val="FFFFFF"/>
                </a:solidFill>
              </a:rPr>
              <a:t>Satu kebenaran data untuk semua fungsi</a:t>
            </a:r>
            <a:endParaRPr lang="en-US" sz="1100" dirty="0"/>
          </a:p>
        </p:txBody>
      </p:sp>
      <p:sp>
        <p:nvSpPr>
          <p:cNvPr id="24" name="card"/>
          <p:cNvSpPr/>
          <p:nvPr/>
        </p:nvSpPr>
        <p:spPr>
          <a:xfrm>
            <a:off x="4399178" y="3703320"/>
            <a:ext cx="3393338" cy="1417320"/>
          </a:xfrm>
          <a:prstGeom prst="roundRect">
            <a:avLst>
              <a:gd name="adj" fmla="val 9032"/>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25" name="icon circle"/>
          <p:cNvSpPr/>
          <p:nvPr/>
        </p:nvSpPr>
        <p:spPr>
          <a:xfrm>
            <a:off x="4600346" y="3904488"/>
            <a:ext cx="502920" cy="502920"/>
          </a:xfrm>
          <a:prstGeom prst="ellipse">
            <a:avLst/>
          </a:prstGeom>
          <a:solidFill>
            <a:srgbClr val="00CFF0"/>
          </a:solidFill>
          <a:ln w="3175">
            <a:solidFill>
              <a:srgbClr val="00CFF0"/>
            </a:solidFill>
            <a:prstDash val="solid"/>
          </a:ln>
        </p:spPr>
      </p:sp>
      <p:pic>
        <p:nvPicPr>
          <p:cNvPr id="26" name="icon FaStopwatch" descr="preencoded.png">    </p:cNvPr>
          <p:cNvPicPr>
            <a:picLocks noChangeAspect="1"/>
          </p:cNvPicPr>
          <p:nvPr/>
        </p:nvPicPr>
        <p:blipFill>
          <a:blip r:embed="rId5"/>
          <a:stretch>
            <a:fillRect/>
          </a:stretch>
        </p:blipFill>
        <p:spPr>
          <a:xfrm>
            <a:off x="4726076" y="4030218"/>
            <a:ext cx="251460" cy="251460"/>
          </a:xfrm>
          <a:prstGeom prst="rect">
            <a:avLst/>
          </a:prstGeom>
        </p:spPr>
      </p:pic>
      <p:sp>
        <p:nvSpPr>
          <p:cNvPr id="27" name="text"/>
          <p:cNvSpPr txBox="1"/>
          <p:nvPr/>
        </p:nvSpPr>
        <p:spPr>
          <a:xfrm>
            <a:off x="5222138" y="3904488"/>
            <a:ext cx="2387498" cy="502920"/>
          </a:xfrm>
          <a:prstGeom prst="rect">
            <a:avLst/>
          </a:prstGeom>
          <a:noFill/>
          <a:ln/>
        </p:spPr>
        <p:txBody>
          <a:bodyPr wrap="square" lIns="0" tIns="0" rIns="0" bIns="0" rtlCol="0" anchor="ctr"/>
          <a:lstStyle/>
          <a:p>
            <a:pPr algn="l" indent="0" marL="0">
              <a:buNone/>
            </a:pPr>
            <a:r>
              <a:rPr lang="en-US" sz="1350" b="1" dirty="0">
                <a:solidFill>
                  <a:srgbClr val="00274A"/>
                </a:solidFill>
              </a:rPr>
              <a:t>5. Short-term scheduling</a:t>
            </a:r>
            <a:endParaRPr lang="en-US" sz="1350" dirty="0"/>
          </a:p>
        </p:txBody>
      </p:sp>
      <p:sp>
        <p:nvSpPr>
          <p:cNvPr id="28" name="text"/>
          <p:cNvSpPr txBox="1"/>
          <p:nvPr/>
        </p:nvSpPr>
        <p:spPr>
          <a:xfrm>
            <a:off x="4600346" y="4480560"/>
            <a:ext cx="2991002" cy="594360"/>
          </a:xfrm>
          <a:prstGeom prst="rect">
            <a:avLst/>
          </a:prstGeom>
          <a:noFill/>
          <a:ln/>
        </p:spPr>
        <p:txBody>
          <a:bodyPr wrap="square" lIns="0" tIns="0" rIns="0" bIns="0" rtlCol="0" anchor="t"/>
          <a:lstStyle/>
          <a:p>
            <a:pPr algn="l" indent="0" marL="0">
              <a:buNone/>
            </a:pPr>
            <a:r>
              <a:rPr lang="en-US" sz="1100" dirty="0">
                <a:solidFill>
                  <a:srgbClr val="00274A"/>
                </a:solidFill>
              </a:rPr>
              <a:t>Kru, gate, bay hangar; aturan prioritas, FCS</a:t>
            </a:r>
            <a:endParaRPr lang="en-US" sz="1100" dirty="0"/>
          </a:p>
        </p:txBody>
      </p:sp>
      <p:sp>
        <p:nvSpPr>
          <p:cNvPr id="29" name="card"/>
          <p:cNvSpPr/>
          <p:nvPr/>
        </p:nvSpPr>
        <p:spPr>
          <a:xfrm>
            <a:off x="548640" y="3703320"/>
            <a:ext cx="3393338" cy="1417320"/>
          </a:xfrm>
          <a:prstGeom prst="roundRect">
            <a:avLst>
              <a:gd name="adj" fmla="val 9032"/>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30" name="icon circle"/>
          <p:cNvSpPr/>
          <p:nvPr/>
        </p:nvSpPr>
        <p:spPr>
          <a:xfrm>
            <a:off x="749808" y="3904488"/>
            <a:ext cx="502920" cy="502920"/>
          </a:xfrm>
          <a:prstGeom prst="ellipse">
            <a:avLst/>
          </a:prstGeom>
          <a:solidFill>
            <a:srgbClr val="91BE62"/>
          </a:solidFill>
          <a:ln w="3175">
            <a:solidFill>
              <a:srgbClr val="91BE62"/>
            </a:solidFill>
            <a:prstDash val="solid"/>
          </a:ln>
        </p:spPr>
      </p:sp>
      <p:pic>
        <p:nvPicPr>
          <p:cNvPr id="31" name="icon FaEye" descr="preencoded.png">    </p:cNvPr>
          <p:cNvPicPr>
            <a:picLocks noChangeAspect="1"/>
          </p:cNvPicPr>
          <p:nvPr/>
        </p:nvPicPr>
        <p:blipFill>
          <a:blip r:embed="rId6"/>
          <a:stretch>
            <a:fillRect/>
          </a:stretch>
        </p:blipFill>
        <p:spPr>
          <a:xfrm>
            <a:off x="875538" y="4030218"/>
            <a:ext cx="251460" cy="251460"/>
          </a:xfrm>
          <a:prstGeom prst="rect">
            <a:avLst/>
          </a:prstGeom>
        </p:spPr>
      </p:pic>
      <p:sp>
        <p:nvSpPr>
          <p:cNvPr id="32" name="text"/>
          <p:cNvSpPr txBox="1"/>
          <p:nvPr/>
        </p:nvSpPr>
        <p:spPr>
          <a:xfrm>
            <a:off x="1371600" y="3904488"/>
            <a:ext cx="2387498" cy="502920"/>
          </a:xfrm>
          <a:prstGeom prst="rect">
            <a:avLst/>
          </a:prstGeom>
          <a:noFill/>
          <a:ln/>
        </p:spPr>
        <p:txBody>
          <a:bodyPr wrap="square" lIns="0" tIns="0" rIns="0" bIns="0" rtlCol="0" anchor="ctr"/>
          <a:lstStyle/>
          <a:p>
            <a:pPr algn="l" indent="0" marL="0">
              <a:buNone/>
            </a:pPr>
            <a:r>
              <a:rPr lang="en-US" sz="1350" b="1" dirty="0">
                <a:solidFill>
                  <a:srgbClr val="00274A"/>
                </a:solidFill>
              </a:rPr>
              <a:t>6. Monitoring &amp; control</a:t>
            </a:r>
            <a:endParaRPr lang="en-US" sz="1350" dirty="0"/>
          </a:p>
        </p:txBody>
      </p:sp>
      <p:sp>
        <p:nvSpPr>
          <p:cNvPr id="33" name="text"/>
          <p:cNvSpPr txBox="1"/>
          <p:nvPr/>
        </p:nvSpPr>
        <p:spPr>
          <a:xfrm>
            <a:off x="749808" y="4480560"/>
            <a:ext cx="2991002" cy="594360"/>
          </a:xfrm>
          <a:prstGeom prst="rect">
            <a:avLst/>
          </a:prstGeom>
          <a:noFill/>
          <a:ln/>
        </p:spPr>
        <p:txBody>
          <a:bodyPr wrap="square" lIns="0" tIns="0" rIns="0" bIns="0" rtlCol="0" anchor="t"/>
          <a:lstStyle/>
          <a:p>
            <a:pPr algn="l" indent="0" marL="0">
              <a:buNone/>
            </a:pPr>
            <a:r>
              <a:rPr lang="en-US" sz="1100" dirty="0">
                <a:solidFill>
                  <a:srgbClr val="00274A"/>
                </a:solidFill>
              </a:rPr>
              <a:t>OCC, lampu andon, prakiraan cuaca; penjadwalan ulang</a:t>
            </a:r>
            <a:endParaRPr lang="en-US" sz="1100" dirty="0"/>
          </a:p>
        </p:txBody>
      </p:sp>
      <p:sp>
        <p:nvSpPr>
          <p:cNvPr id="34" name="arrow"/>
          <p:cNvSpPr/>
          <p:nvPr/>
        </p:nvSpPr>
        <p:spPr>
          <a:xfrm>
            <a:off x="4033418" y="1924812"/>
            <a:ext cx="274320" cy="310896"/>
          </a:xfrm>
          <a:prstGeom prst="rightArrow">
            <a:avLst/>
          </a:prstGeom>
          <a:solidFill>
            <a:srgbClr val="0074C8"/>
          </a:solidFill>
          <a:ln w="3175">
            <a:solidFill>
              <a:srgbClr val="0074C8"/>
            </a:solidFill>
            <a:prstDash val="solid"/>
          </a:ln>
        </p:spPr>
      </p:sp>
      <p:sp>
        <p:nvSpPr>
          <p:cNvPr id="35" name="arrow"/>
          <p:cNvSpPr/>
          <p:nvPr/>
        </p:nvSpPr>
        <p:spPr>
          <a:xfrm>
            <a:off x="7883957" y="1924812"/>
            <a:ext cx="274320" cy="310896"/>
          </a:xfrm>
          <a:prstGeom prst="rightArrow">
            <a:avLst/>
          </a:prstGeom>
          <a:solidFill>
            <a:srgbClr val="0074C8"/>
          </a:solidFill>
          <a:ln w="3175">
            <a:solidFill>
              <a:srgbClr val="0074C8"/>
            </a:solidFill>
            <a:prstDash val="solid"/>
          </a:ln>
        </p:spPr>
      </p:sp>
      <p:sp>
        <p:nvSpPr>
          <p:cNvPr id="36" name="arrow"/>
          <p:cNvSpPr/>
          <p:nvPr/>
        </p:nvSpPr>
        <p:spPr>
          <a:xfrm>
            <a:off x="9790938" y="2898648"/>
            <a:ext cx="310896" cy="694944"/>
          </a:xfrm>
          <a:prstGeom prst="downArrow">
            <a:avLst/>
          </a:prstGeom>
          <a:solidFill>
            <a:srgbClr val="0074C8"/>
          </a:solidFill>
          <a:ln w="3175">
            <a:solidFill>
              <a:srgbClr val="0074C8"/>
            </a:solidFill>
            <a:prstDash val="solid"/>
          </a:ln>
        </p:spPr>
      </p:sp>
      <p:sp>
        <p:nvSpPr>
          <p:cNvPr id="37" name="arrow"/>
          <p:cNvSpPr/>
          <p:nvPr/>
        </p:nvSpPr>
        <p:spPr>
          <a:xfrm>
            <a:off x="7883957" y="4256532"/>
            <a:ext cx="274320" cy="310896"/>
          </a:xfrm>
          <a:prstGeom prst="leftArrow">
            <a:avLst/>
          </a:prstGeom>
          <a:solidFill>
            <a:srgbClr val="0074C8"/>
          </a:solidFill>
          <a:ln w="3175">
            <a:solidFill>
              <a:srgbClr val="0074C8"/>
            </a:solidFill>
            <a:prstDash val="solid"/>
          </a:ln>
        </p:spPr>
      </p:sp>
      <p:sp>
        <p:nvSpPr>
          <p:cNvPr id="38" name="arrow"/>
          <p:cNvSpPr/>
          <p:nvPr/>
        </p:nvSpPr>
        <p:spPr>
          <a:xfrm>
            <a:off x="4033418" y="4256532"/>
            <a:ext cx="274320" cy="310896"/>
          </a:xfrm>
          <a:prstGeom prst="leftArrow">
            <a:avLst/>
          </a:prstGeom>
          <a:solidFill>
            <a:srgbClr val="0074C8"/>
          </a:solidFill>
          <a:ln w="3175">
            <a:solidFill>
              <a:srgbClr val="0074C8"/>
            </a:solidFill>
            <a:prstDash val="solid"/>
          </a:ln>
        </p:spPr>
      </p:sp>
      <p:sp>
        <p:nvSpPr>
          <p:cNvPr id="39" name="arrow"/>
          <p:cNvSpPr/>
          <p:nvPr/>
        </p:nvSpPr>
        <p:spPr>
          <a:xfrm>
            <a:off x="2089861" y="2898648"/>
            <a:ext cx="310896" cy="694944"/>
          </a:xfrm>
          <a:prstGeom prst="upArrow">
            <a:avLst/>
          </a:prstGeom>
          <a:solidFill>
            <a:srgbClr val="51AE8C"/>
          </a:solidFill>
          <a:ln w="3175">
            <a:solidFill>
              <a:srgbClr val="51AE8C"/>
            </a:solidFill>
            <a:prstDash val="solid"/>
          </a:ln>
        </p:spPr>
      </p:sp>
      <p:sp>
        <p:nvSpPr>
          <p:cNvPr id="40" name="text"/>
          <p:cNvSpPr txBox="1"/>
          <p:nvPr/>
        </p:nvSpPr>
        <p:spPr>
          <a:xfrm>
            <a:off x="2473909" y="3063240"/>
            <a:ext cx="2011680" cy="365760"/>
          </a:xfrm>
          <a:prstGeom prst="rect">
            <a:avLst/>
          </a:prstGeom>
          <a:noFill/>
          <a:ln/>
        </p:spPr>
        <p:txBody>
          <a:bodyPr wrap="square" lIns="0" tIns="0" rIns="0" bIns="0" rtlCol="0" anchor="t"/>
          <a:lstStyle/>
          <a:p>
            <a:pPr algn="l" indent="0" marL="0">
              <a:buNone/>
            </a:pPr>
            <a:r>
              <a:rPr lang="en-US" sz="1000" b="1" i="1" dirty="0">
                <a:solidFill>
                  <a:srgbClr val="51AE8C"/>
                </a:solidFill>
              </a:rPr>
              <a:t>umpan balik: penjadwalan ulang</a:t>
            </a:r>
            <a:endParaRPr lang="en-US" sz="1000" dirty="0"/>
          </a:p>
        </p:txBody>
      </p:sp>
      <p:sp>
        <p:nvSpPr>
          <p:cNvPr id="41" name="card"/>
          <p:cNvSpPr/>
          <p:nvPr/>
        </p:nvSpPr>
        <p:spPr>
          <a:xfrm>
            <a:off x="4399178" y="2898648"/>
            <a:ext cx="3393338" cy="694944"/>
          </a:xfrm>
          <a:prstGeom prst="roundRect">
            <a:avLst>
              <a:gd name="adj" fmla="val 18421"/>
            </a:avLst>
          </a:prstGeom>
          <a:solidFill>
            <a:srgbClr val="F0F7FD"/>
          </a:solidFill>
          <a:ln w="3175">
            <a:solidFill>
              <a:srgbClr val="F0F7FD"/>
            </a:solidFill>
            <a:prstDash val="solid"/>
          </a:ln>
        </p:spPr>
      </p:sp>
      <p:sp>
        <p:nvSpPr>
          <p:cNvPr id="42" name="text"/>
          <p:cNvSpPr txBox="1"/>
          <p:nvPr/>
        </p:nvSpPr>
        <p:spPr>
          <a:xfrm>
            <a:off x="4490618" y="2898648"/>
            <a:ext cx="3210458" cy="694944"/>
          </a:xfrm>
          <a:prstGeom prst="rect">
            <a:avLst/>
          </a:prstGeom>
          <a:noFill/>
          <a:ln/>
        </p:spPr>
        <p:txBody>
          <a:bodyPr wrap="square" lIns="0" tIns="0" rIns="0" bIns="0" rtlCol="0" anchor="ctr"/>
          <a:lstStyle/>
          <a:p>
            <a:pPr algn="ctr" indent="0" marL="0">
              <a:buNone/>
            </a:pPr>
            <a:r>
              <a:rPr lang="en-US" sz="1150" b="1" i="1" dirty="0">
                <a:solidFill>
                  <a:srgbClr val="00274A"/>
                </a:solidFill>
              </a:rPr>
              <a:t>Planning</a:t>
            </a:r>
            <a:r>
              <a:rPr lang="en-US" sz="1150" b="1" dirty="0">
                <a:solidFill>
                  <a:srgbClr val="00274A"/>
                </a:solidFill>
              </a:rPr>
              <a:t> menyediakan rencana yang layak; </a:t>
            </a:r>
            <a:r>
              <a:rPr lang="en-US" sz="1150" b="1" i="1" dirty="0">
                <a:solidFill>
                  <a:srgbClr val="00274A"/>
                </a:solidFill>
              </a:rPr>
              <a:t>control</a:t>
            </a:r>
            <a:r>
              <a:rPr lang="en-US" sz="1150" b="1" dirty="0">
                <a:solidFill>
                  <a:srgbClr val="00274A"/>
                </a:solidFill>
              </a:rPr>
              <a:t> menjaganya tetap berjalan.</a:t>
            </a:r>
            <a:endParaRPr lang="en-US" sz="1150" dirty="0"/>
          </a:p>
        </p:txBody>
      </p:sp>
      <p:sp>
        <p:nvSpPr>
          <p:cNvPr id="43" name="card"/>
          <p:cNvSpPr/>
          <p:nvPr/>
        </p:nvSpPr>
        <p:spPr>
          <a:xfrm>
            <a:off x="548640" y="5349240"/>
            <a:ext cx="11094415" cy="896112"/>
          </a:xfrm>
          <a:prstGeom prst="roundRect">
            <a:avLst>
              <a:gd name="adj" fmla="val 14286"/>
            </a:avLst>
          </a:prstGeom>
          <a:solidFill>
            <a:srgbClr val="00274A"/>
          </a:solidFill>
          <a:ln w="3175">
            <a:solidFill>
              <a:srgbClr val="00274A"/>
            </a:solidFill>
            <a:prstDash val="solid"/>
          </a:ln>
        </p:spPr>
      </p:sp>
      <p:sp>
        <p:nvSpPr>
          <p:cNvPr id="44" name="text"/>
          <p:cNvSpPr txBox="1"/>
          <p:nvPr/>
        </p:nvSpPr>
        <p:spPr>
          <a:xfrm>
            <a:off x="822960" y="5349240"/>
            <a:ext cx="10545775" cy="896112"/>
          </a:xfrm>
          <a:prstGeom prst="rect">
            <a:avLst/>
          </a:prstGeom>
          <a:noFill/>
          <a:ln/>
        </p:spPr>
        <p:txBody>
          <a:bodyPr wrap="square" lIns="0" tIns="0" rIns="0" bIns="0" rtlCol="0" anchor="ctr"/>
          <a:lstStyle/>
          <a:p>
            <a:pPr algn="l" indent="0" marL="0">
              <a:buNone/>
            </a:pPr>
            <a:r>
              <a:rPr lang="en-US" sz="1200" b="1" dirty="0">
                <a:solidFill>
                  <a:srgbClr val="FFFFFF"/>
                </a:solidFill>
              </a:rPr>
              <a:t>Tiga keterkaitan kunci:</a:t>
            </a:r>
            <a:r>
              <a:rPr lang="en-US" sz="1200" dirty="0">
                <a:solidFill>
                  <a:srgbClr val="FFFFFF"/>
                </a:solidFill>
              </a:rPr>
              <a:t> (1) MPS maskapai adalah </a:t>
            </a:r>
            <a:r>
              <a:rPr lang="en-US" sz="1200" i="1" dirty="0">
                <a:solidFill>
                  <a:srgbClr val="FFFFFF"/>
                </a:solidFill>
              </a:rPr>
              <a:t>flight timetable</a:t>
            </a:r>
            <a:r>
              <a:rPr lang="en-US" sz="1200" dirty="0">
                <a:solidFill>
                  <a:srgbClr val="FFFFFF"/>
                </a:solidFill>
              </a:rPr>
              <a:t>, sehingga MRP suku cadang dan jadwal kru sama-sama diturunkan darinya; (2) ERP menyatukan data agar penjadwalan ulang konsisten lintas fungsi; (3) </a:t>
            </a:r>
            <a:r>
              <a:rPr lang="en-US" sz="1200" i="1" dirty="0">
                <a:solidFill>
                  <a:srgbClr val="FFFFFF"/>
                </a:solidFill>
              </a:rPr>
              <a:t>monitoring and control</a:t>
            </a:r>
            <a:r>
              <a:rPr lang="en-US" sz="1200" dirty="0">
                <a:solidFill>
                  <a:srgbClr val="FFFFFF"/>
                </a:solidFill>
              </a:rPr>
              <a:t> menutup siklus dengan mengembalikan realisasi ke rencana.</a:t>
            </a:r>
            <a:endParaRPr lang="en-US" sz="1200" dirty="0"/>
          </a:p>
        </p:txBody>
      </p:sp>
      <p:sp>
        <p:nvSpPr>
          <p:cNvPr id="25" name="Slide Number Placeholder 0"/>
          <p:cNvSpPr>
            <a:spLocks noGrp="1"/>
          </p:cNvSpPr>
          <p:nvPr>
            <p:ph type="sldNum" sz="quarter" idx="4294967295"/>
          </p:nvPr>
        </p:nvSpPr>
        <p:spPr>
          <a:xfrm>
            <a:off x="11064240" y="6428232"/>
            <a:ext cx="576072"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01426A"/>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3"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000" b="1" dirty="0">
                <a:solidFill>
                  <a:srgbClr val="00274A"/>
                </a:solidFill>
              </a:rPr>
              <a:t>Evaluasi dan Rekomendasi Berbasis Teori</a:t>
            </a:r>
            <a:endParaRPr lang="en-US" sz="3000" dirty="0"/>
          </a:p>
        </p:txBody>
      </p:sp>
      <p:sp>
        <p:nvSpPr>
          <p:cNvPr id="4" name="card"/>
          <p:cNvSpPr/>
          <p:nvPr/>
        </p:nvSpPr>
        <p:spPr>
          <a:xfrm>
            <a:off x="548640" y="1325880"/>
            <a:ext cx="3545738" cy="2331720"/>
          </a:xfrm>
          <a:prstGeom prst="roundRect">
            <a:avLst>
              <a:gd name="adj" fmla="val 5490"/>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5" name="pill"/>
          <p:cNvSpPr/>
          <p:nvPr/>
        </p:nvSpPr>
        <p:spPr>
          <a:xfrm>
            <a:off x="749808" y="1527048"/>
            <a:ext cx="384048" cy="384048"/>
          </a:xfrm>
          <a:prstGeom prst="roundRect">
            <a:avLst>
              <a:gd name="adj" fmla="val 50000"/>
            </a:avLst>
          </a:prstGeom>
          <a:solidFill>
            <a:srgbClr val="91BE62"/>
          </a:solidFill>
          <a:ln w="3175">
            <a:solidFill>
              <a:srgbClr val="91BE62"/>
            </a:solidFill>
            <a:prstDash val="solid"/>
          </a:ln>
        </p:spPr>
      </p:sp>
      <p:sp>
        <p:nvSpPr>
          <p:cNvPr id="6" name="pill label"/>
          <p:cNvSpPr txBox="1"/>
          <p:nvPr/>
        </p:nvSpPr>
        <p:spPr>
          <a:xfrm>
            <a:off x="749808" y="1527048"/>
            <a:ext cx="384048" cy="384048"/>
          </a:xfrm>
          <a:prstGeom prst="rect">
            <a:avLst/>
          </a:prstGeom>
          <a:noFill/>
          <a:ln/>
        </p:spPr>
        <p:txBody>
          <a:bodyPr wrap="square" lIns="0" tIns="0" rIns="0" bIns="0" rtlCol="0" anchor="ctr"/>
          <a:lstStyle/>
          <a:p>
            <a:pPr algn="ctr" indent="0" marL="0">
              <a:buNone/>
            </a:pPr>
            <a:r>
              <a:rPr lang="en-US" sz="1300" b="1" dirty="0">
                <a:solidFill>
                  <a:srgbClr val="00274A"/>
                </a:solidFill>
              </a:rPr>
              <a:t>1</a:t>
            </a:r>
            <a:endParaRPr lang="en-US" sz="1300" dirty="0"/>
          </a:p>
        </p:txBody>
      </p:sp>
      <p:sp>
        <p:nvSpPr>
          <p:cNvPr id="7" name="icon circle"/>
          <p:cNvSpPr/>
          <p:nvPr/>
        </p:nvSpPr>
        <p:spPr>
          <a:xfrm>
            <a:off x="3362858" y="1490472"/>
            <a:ext cx="502920" cy="502920"/>
          </a:xfrm>
          <a:prstGeom prst="ellipse">
            <a:avLst/>
          </a:prstGeom>
          <a:solidFill>
            <a:srgbClr val="F0F7FD"/>
          </a:solidFill>
          <a:ln w="3175">
            <a:solidFill>
              <a:srgbClr val="F0F7FD"/>
            </a:solidFill>
            <a:prstDash val="solid"/>
          </a:ln>
        </p:spPr>
      </p:sp>
      <p:pic>
        <p:nvPicPr>
          <p:cNvPr id="8" name="icon FaShieldAlt" descr="preencoded.png">    </p:cNvPr>
          <p:cNvPicPr>
            <a:picLocks noChangeAspect="1"/>
          </p:cNvPicPr>
          <p:nvPr/>
        </p:nvPicPr>
        <p:blipFill>
          <a:blip r:embed="rId1"/>
          <a:stretch>
            <a:fillRect/>
          </a:stretch>
        </p:blipFill>
        <p:spPr>
          <a:xfrm>
            <a:off x="3488588" y="1616202"/>
            <a:ext cx="251460" cy="251460"/>
          </a:xfrm>
          <a:prstGeom prst="rect">
            <a:avLst/>
          </a:prstGeom>
        </p:spPr>
      </p:pic>
      <p:sp>
        <p:nvSpPr>
          <p:cNvPr id="9" name="text"/>
          <p:cNvSpPr txBox="1"/>
          <p:nvPr/>
        </p:nvSpPr>
        <p:spPr>
          <a:xfrm>
            <a:off x="1234440" y="1508760"/>
            <a:ext cx="2082698" cy="457200"/>
          </a:xfrm>
          <a:prstGeom prst="rect">
            <a:avLst/>
          </a:prstGeom>
          <a:noFill/>
          <a:ln/>
        </p:spPr>
        <p:txBody>
          <a:bodyPr wrap="square" lIns="0" tIns="0" rIns="0" bIns="0" rtlCol="0" anchor="ctr"/>
          <a:lstStyle/>
          <a:p>
            <a:pPr algn="l" indent="0" marL="0">
              <a:buNone/>
            </a:pPr>
            <a:r>
              <a:rPr lang="en-US" sz="1250" b="1" dirty="0">
                <a:solidFill>
                  <a:srgbClr val="00274A"/>
                </a:solidFill>
              </a:rPr>
              <a:t>Ketahanan infrastruktur terintegrasi</a:t>
            </a:r>
            <a:endParaRPr lang="en-US" sz="1250" dirty="0"/>
          </a:p>
        </p:txBody>
      </p:sp>
      <p:sp>
        <p:nvSpPr>
          <p:cNvPr id="10" name="text"/>
          <p:cNvSpPr txBox="1"/>
          <p:nvPr/>
        </p:nvSpPr>
        <p:spPr>
          <a:xfrm>
            <a:off x="749808" y="2075688"/>
            <a:ext cx="3143402" cy="457200"/>
          </a:xfrm>
          <a:prstGeom prst="rect">
            <a:avLst/>
          </a:prstGeom>
          <a:noFill/>
          <a:ln/>
        </p:spPr>
        <p:txBody>
          <a:bodyPr wrap="square" lIns="0" tIns="0" rIns="0" bIns="0" rtlCol="0" anchor="t"/>
          <a:lstStyle/>
          <a:p>
            <a:pPr algn="l" indent="0" marL="0">
              <a:buNone/>
            </a:pPr>
            <a:r>
              <a:rPr lang="en-US" sz="1050" b="1" dirty="0">
                <a:solidFill>
                  <a:srgbClr val="01426A"/>
                </a:solidFill>
              </a:rPr>
              <a:t>Dasar teori: </a:t>
            </a:r>
            <a:r>
              <a:rPr lang="en-US" sz="1050" dirty="0">
                <a:solidFill>
                  <a:srgbClr val="00274A"/>
                </a:solidFill>
              </a:rPr>
              <a:t>Kelemahan ERP: kompleksitas dan </a:t>
            </a:r>
            <a:r>
              <a:rPr lang="en-US" sz="1050" i="1" dirty="0">
                <a:solidFill>
                  <a:srgbClr val="00274A"/>
                </a:solidFill>
              </a:rPr>
              <a:t>single point of failure</a:t>
            </a:r>
            <a:r>
              <a:rPr lang="en-US" sz="1050" dirty="0">
                <a:solidFill>
                  <a:srgbClr val="00274A"/>
                </a:solidFill>
              </a:rPr>
              <a:t>.</a:t>
            </a:r>
            <a:endParaRPr lang="en-US" sz="1050" dirty="0"/>
          </a:p>
        </p:txBody>
      </p:sp>
      <p:sp>
        <p:nvSpPr>
          <p:cNvPr id="11" name="text"/>
          <p:cNvSpPr txBox="1"/>
          <p:nvPr/>
        </p:nvSpPr>
        <p:spPr>
          <a:xfrm>
            <a:off x="749808" y="2532888"/>
            <a:ext cx="3143402" cy="777240"/>
          </a:xfrm>
          <a:prstGeom prst="rect">
            <a:avLst/>
          </a:prstGeom>
          <a:noFill/>
          <a:ln/>
        </p:spPr>
        <p:txBody>
          <a:bodyPr wrap="square" lIns="0" tIns="0" rIns="0" bIns="0" rtlCol="0" anchor="t"/>
          <a:lstStyle/>
          <a:p>
            <a:pPr algn="l" indent="0" marL="0">
              <a:buNone/>
            </a:pPr>
            <a:r>
              <a:rPr lang="en-US" sz="1050" b="1" dirty="0">
                <a:solidFill>
                  <a:srgbClr val="01426A"/>
                </a:solidFill>
              </a:rPr>
              <a:t>Tindakan: </a:t>
            </a:r>
            <a:r>
              <a:rPr lang="en-US" sz="1050" dirty="0">
                <a:solidFill>
                  <a:srgbClr val="00274A"/>
                </a:solidFill>
              </a:rPr>
              <a:t>Redundansi aktif-aktif antarpusat data dan cloud, uji </a:t>
            </a:r>
            <a:r>
              <a:rPr lang="en-US" sz="1050" i="1" dirty="0">
                <a:solidFill>
                  <a:srgbClr val="00274A"/>
                </a:solidFill>
              </a:rPr>
              <a:t>failover</a:t>
            </a:r>
            <a:r>
              <a:rPr lang="en-US" sz="1050" dirty="0">
                <a:solidFill>
                  <a:srgbClr val="00274A"/>
                </a:solidFill>
              </a:rPr>
              <a:t> berkala, prosedur manual </a:t>
            </a:r>
            <a:r>
              <a:rPr lang="en-US" sz="1050" i="1" dirty="0">
                <a:solidFill>
                  <a:srgbClr val="00274A"/>
                </a:solidFill>
              </a:rPr>
              <a:t>degraded mode</a:t>
            </a:r>
            <a:r>
              <a:rPr lang="en-US" sz="1050" dirty="0">
                <a:solidFill>
                  <a:srgbClr val="00274A"/>
                </a:solidFill>
              </a:rPr>
              <a:t> untuk </a:t>
            </a:r>
            <a:r>
              <a:rPr lang="en-US" sz="1050" i="1" dirty="0">
                <a:solidFill>
                  <a:srgbClr val="00274A"/>
                </a:solidFill>
              </a:rPr>
              <a:t>dispatch</a:t>
            </a:r>
            <a:r>
              <a:rPr lang="en-US" sz="1050" dirty="0">
                <a:solidFill>
                  <a:srgbClr val="00274A"/>
                </a:solidFill>
              </a:rPr>
              <a:t> dan kru.</a:t>
            </a:r>
            <a:endParaRPr lang="en-US" sz="1050" dirty="0"/>
          </a:p>
        </p:txBody>
      </p:sp>
      <p:sp>
        <p:nvSpPr>
          <p:cNvPr id="12" name="text"/>
          <p:cNvSpPr txBox="1"/>
          <p:nvPr/>
        </p:nvSpPr>
        <p:spPr>
          <a:xfrm>
            <a:off x="749808" y="3264408"/>
            <a:ext cx="3143402" cy="365760"/>
          </a:xfrm>
          <a:prstGeom prst="rect">
            <a:avLst/>
          </a:prstGeom>
          <a:noFill/>
          <a:ln/>
        </p:spPr>
        <p:txBody>
          <a:bodyPr wrap="square" lIns="0" tIns="0" rIns="0" bIns="0" rtlCol="0" anchor="t"/>
          <a:lstStyle/>
          <a:p>
            <a:pPr algn="l" indent="0" marL="0">
              <a:buNone/>
            </a:pPr>
            <a:r>
              <a:rPr lang="en-US" sz="1050" b="1" dirty="0">
                <a:solidFill>
                  <a:srgbClr val="01426A"/>
                </a:solidFill>
              </a:rPr>
              <a:t>Indikator: </a:t>
            </a:r>
            <a:r>
              <a:rPr lang="en-US" sz="1050" dirty="0">
                <a:solidFill>
                  <a:srgbClr val="00274A"/>
                </a:solidFill>
              </a:rPr>
              <a:t>Waktu pemulihan; jumlah </a:t>
            </a:r>
            <a:r>
              <a:rPr lang="en-US" sz="1050" i="1" dirty="0">
                <a:solidFill>
                  <a:srgbClr val="00274A"/>
                </a:solidFill>
              </a:rPr>
              <a:t>ground stop</a:t>
            </a:r>
            <a:r>
              <a:rPr lang="en-US" sz="1050" dirty="0">
                <a:solidFill>
                  <a:srgbClr val="00274A"/>
                </a:solidFill>
              </a:rPr>
              <a:t> akibat IT.</a:t>
            </a:r>
            <a:endParaRPr lang="en-US" sz="1050" dirty="0"/>
          </a:p>
        </p:txBody>
      </p:sp>
      <p:sp>
        <p:nvSpPr>
          <p:cNvPr id="13" name="card"/>
          <p:cNvSpPr/>
          <p:nvPr/>
        </p:nvSpPr>
        <p:spPr>
          <a:xfrm>
            <a:off x="4322978" y="1325880"/>
            <a:ext cx="3545738" cy="2331720"/>
          </a:xfrm>
          <a:prstGeom prst="roundRect">
            <a:avLst>
              <a:gd name="adj" fmla="val 5490"/>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14" name="pill"/>
          <p:cNvSpPr/>
          <p:nvPr/>
        </p:nvSpPr>
        <p:spPr>
          <a:xfrm>
            <a:off x="4524146" y="1527048"/>
            <a:ext cx="384048" cy="384048"/>
          </a:xfrm>
          <a:prstGeom prst="roundRect">
            <a:avLst>
              <a:gd name="adj" fmla="val 50000"/>
            </a:avLst>
          </a:prstGeom>
          <a:solidFill>
            <a:srgbClr val="91BE62"/>
          </a:solidFill>
          <a:ln w="3175">
            <a:solidFill>
              <a:srgbClr val="91BE62"/>
            </a:solidFill>
            <a:prstDash val="solid"/>
          </a:ln>
        </p:spPr>
      </p:sp>
      <p:sp>
        <p:nvSpPr>
          <p:cNvPr id="15" name="pill label"/>
          <p:cNvSpPr txBox="1"/>
          <p:nvPr/>
        </p:nvSpPr>
        <p:spPr>
          <a:xfrm>
            <a:off x="4524146" y="1527048"/>
            <a:ext cx="384048" cy="384048"/>
          </a:xfrm>
          <a:prstGeom prst="rect">
            <a:avLst/>
          </a:prstGeom>
          <a:noFill/>
          <a:ln/>
        </p:spPr>
        <p:txBody>
          <a:bodyPr wrap="square" lIns="0" tIns="0" rIns="0" bIns="0" rtlCol="0" anchor="ctr"/>
          <a:lstStyle/>
          <a:p>
            <a:pPr algn="ctr" indent="0" marL="0">
              <a:buNone/>
            </a:pPr>
            <a:r>
              <a:rPr lang="en-US" sz="1300" b="1" dirty="0">
                <a:solidFill>
                  <a:srgbClr val="00274A"/>
                </a:solidFill>
              </a:rPr>
              <a:t>2</a:t>
            </a:r>
            <a:endParaRPr lang="en-US" sz="1300" dirty="0"/>
          </a:p>
        </p:txBody>
      </p:sp>
      <p:sp>
        <p:nvSpPr>
          <p:cNvPr id="16" name="icon circle"/>
          <p:cNvSpPr/>
          <p:nvPr/>
        </p:nvSpPr>
        <p:spPr>
          <a:xfrm>
            <a:off x="7137197" y="1490472"/>
            <a:ext cx="502920" cy="502920"/>
          </a:xfrm>
          <a:prstGeom prst="ellipse">
            <a:avLst/>
          </a:prstGeom>
          <a:solidFill>
            <a:srgbClr val="F0F7FD"/>
          </a:solidFill>
          <a:ln w="3175">
            <a:solidFill>
              <a:srgbClr val="F0F7FD"/>
            </a:solidFill>
            <a:prstDash val="solid"/>
          </a:ln>
        </p:spPr>
      </p:sp>
      <p:pic>
        <p:nvPicPr>
          <p:cNvPr id="17" name="icon FaCogs" descr="preencoded.png">    </p:cNvPr>
          <p:cNvPicPr>
            <a:picLocks noChangeAspect="1"/>
          </p:cNvPicPr>
          <p:nvPr/>
        </p:nvPicPr>
        <p:blipFill>
          <a:blip r:embed="rId2"/>
          <a:stretch>
            <a:fillRect/>
          </a:stretch>
        </p:blipFill>
        <p:spPr>
          <a:xfrm>
            <a:off x="7262927" y="1616202"/>
            <a:ext cx="251460" cy="251460"/>
          </a:xfrm>
          <a:prstGeom prst="rect">
            <a:avLst/>
          </a:prstGeom>
        </p:spPr>
      </p:pic>
      <p:sp>
        <p:nvSpPr>
          <p:cNvPr id="18" name="text"/>
          <p:cNvSpPr txBox="1"/>
          <p:nvPr/>
        </p:nvSpPr>
        <p:spPr>
          <a:xfrm>
            <a:off x="5008778" y="1508760"/>
            <a:ext cx="2082698" cy="457200"/>
          </a:xfrm>
          <a:prstGeom prst="rect">
            <a:avLst/>
          </a:prstGeom>
          <a:noFill/>
          <a:ln/>
        </p:spPr>
        <p:txBody>
          <a:bodyPr wrap="square" lIns="0" tIns="0" rIns="0" bIns="0" rtlCol="0" anchor="ctr"/>
          <a:lstStyle/>
          <a:p>
            <a:pPr algn="l" indent="0" marL="0">
              <a:buNone/>
            </a:pPr>
            <a:r>
              <a:rPr lang="en-US" sz="1250" b="1" dirty="0">
                <a:solidFill>
                  <a:srgbClr val="00274A"/>
                </a:solidFill>
              </a:rPr>
              <a:t>Perawatan closed-loop berkapasitas berhingga</a:t>
            </a:r>
            <a:endParaRPr lang="en-US" sz="1250" dirty="0"/>
          </a:p>
        </p:txBody>
      </p:sp>
      <p:sp>
        <p:nvSpPr>
          <p:cNvPr id="19" name="text"/>
          <p:cNvSpPr txBox="1"/>
          <p:nvPr/>
        </p:nvSpPr>
        <p:spPr>
          <a:xfrm>
            <a:off x="4524146" y="2075688"/>
            <a:ext cx="3143402" cy="457200"/>
          </a:xfrm>
          <a:prstGeom prst="rect">
            <a:avLst/>
          </a:prstGeom>
          <a:noFill/>
          <a:ln/>
        </p:spPr>
        <p:txBody>
          <a:bodyPr wrap="square" lIns="0" tIns="0" rIns="0" bIns="0" rtlCol="0" anchor="t"/>
          <a:lstStyle/>
          <a:p>
            <a:pPr algn="l" indent="0" marL="0">
              <a:buNone/>
            </a:pPr>
            <a:r>
              <a:rPr lang="en-US" sz="1050" b="1" dirty="0">
                <a:solidFill>
                  <a:srgbClr val="01426A"/>
                </a:solidFill>
              </a:rPr>
              <a:t>Dasar teori: </a:t>
            </a:r>
            <a:r>
              <a:rPr lang="en-US" sz="1050" dirty="0">
                <a:solidFill>
                  <a:srgbClr val="00274A"/>
                </a:solidFill>
              </a:rPr>
              <a:t>MRP II dan </a:t>
            </a:r>
            <a:r>
              <a:rPr lang="en-US" sz="1050" i="1" dirty="0">
                <a:solidFill>
                  <a:srgbClr val="00274A"/>
                </a:solidFill>
              </a:rPr>
              <a:t>finite capacity scheduling</a:t>
            </a:r>
            <a:r>
              <a:rPr lang="en-US" sz="1050" dirty="0">
                <a:solidFill>
                  <a:srgbClr val="00274A"/>
                </a:solidFill>
              </a:rPr>
              <a:t>.</a:t>
            </a:r>
            <a:endParaRPr lang="en-US" sz="1050" dirty="0"/>
          </a:p>
        </p:txBody>
      </p:sp>
      <p:sp>
        <p:nvSpPr>
          <p:cNvPr id="20" name="text"/>
          <p:cNvSpPr txBox="1"/>
          <p:nvPr/>
        </p:nvSpPr>
        <p:spPr>
          <a:xfrm>
            <a:off x="4524146" y="2532888"/>
            <a:ext cx="3143402" cy="777240"/>
          </a:xfrm>
          <a:prstGeom prst="rect">
            <a:avLst/>
          </a:prstGeom>
          <a:noFill/>
          <a:ln/>
        </p:spPr>
        <p:txBody>
          <a:bodyPr wrap="square" lIns="0" tIns="0" rIns="0" bIns="0" rtlCol="0" anchor="t"/>
          <a:lstStyle/>
          <a:p>
            <a:pPr algn="l" indent="0" marL="0">
              <a:buNone/>
            </a:pPr>
            <a:r>
              <a:rPr lang="en-US" sz="1050" b="1" dirty="0">
                <a:solidFill>
                  <a:srgbClr val="01426A"/>
                </a:solidFill>
              </a:rPr>
              <a:t>Tindakan: </a:t>
            </a:r>
            <a:r>
              <a:rPr lang="en-US" sz="1050" dirty="0">
                <a:solidFill>
                  <a:srgbClr val="00274A"/>
                </a:solidFill>
              </a:rPr>
              <a:t>Operasionalkan Tailsight dengan </a:t>
            </a:r>
            <a:r>
              <a:rPr lang="en-US" sz="1050" i="1" dirty="0">
                <a:solidFill>
                  <a:srgbClr val="00274A"/>
                </a:solidFill>
              </a:rPr>
              <a:t>load report</a:t>
            </a:r>
            <a:r>
              <a:rPr lang="en-US" sz="1050" dirty="0">
                <a:solidFill>
                  <a:srgbClr val="00274A"/>
                </a:solidFill>
              </a:rPr>
              <a:t> hangar dan suku cadang; masukkan </a:t>
            </a:r>
            <a:r>
              <a:rPr lang="en-US" sz="1050" i="1" dirty="0">
                <a:solidFill>
                  <a:srgbClr val="00274A"/>
                </a:solidFill>
              </a:rPr>
              <a:t>lead time</a:t>
            </a:r>
            <a:r>
              <a:rPr lang="en-US" sz="1050" dirty="0">
                <a:solidFill>
                  <a:srgbClr val="00274A"/>
                </a:solidFill>
              </a:rPr>
              <a:t> OEM dan </a:t>
            </a:r>
            <a:r>
              <a:rPr lang="en-US" sz="1050" i="1" dirty="0">
                <a:solidFill>
                  <a:srgbClr val="00274A"/>
                </a:solidFill>
              </a:rPr>
              <a:t>station capability</a:t>
            </a:r>
            <a:r>
              <a:rPr lang="en-US" sz="1050" dirty="0">
                <a:solidFill>
                  <a:srgbClr val="00274A"/>
                </a:solidFill>
              </a:rPr>
              <a:t> sebagai kendala.</a:t>
            </a:r>
            <a:endParaRPr lang="en-US" sz="1050" dirty="0"/>
          </a:p>
        </p:txBody>
      </p:sp>
      <p:sp>
        <p:nvSpPr>
          <p:cNvPr id="21" name="text"/>
          <p:cNvSpPr txBox="1"/>
          <p:nvPr/>
        </p:nvSpPr>
        <p:spPr>
          <a:xfrm>
            <a:off x="4524146" y="3264408"/>
            <a:ext cx="3143402" cy="365760"/>
          </a:xfrm>
          <a:prstGeom prst="rect">
            <a:avLst/>
          </a:prstGeom>
          <a:noFill/>
          <a:ln/>
        </p:spPr>
        <p:txBody>
          <a:bodyPr wrap="square" lIns="0" tIns="0" rIns="0" bIns="0" rtlCol="0" anchor="t"/>
          <a:lstStyle/>
          <a:p>
            <a:pPr algn="l" indent="0" marL="0">
              <a:buNone/>
            </a:pPr>
            <a:r>
              <a:rPr lang="en-US" sz="1050" b="1" dirty="0">
                <a:solidFill>
                  <a:srgbClr val="01426A"/>
                </a:solidFill>
              </a:rPr>
              <a:t>Indikator: </a:t>
            </a:r>
            <a:r>
              <a:rPr lang="en-US" sz="1050" dirty="0">
                <a:solidFill>
                  <a:srgbClr val="00274A"/>
                </a:solidFill>
              </a:rPr>
              <a:t>Jam AOG; </a:t>
            </a:r>
            <a:r>
              <a:rPr lang="en-US" sz="1050" i="1" dirty="0">
                <a:solidFill>
                  <a:srgbClr val="00274A"/>
                </a:solidFill>
              </a:rPr>
              <a:t>fill rate</a:t>
            </a:r>
            <a:r>
              <a:rPr lang="en-US" sz="1050" dirty="0">
                <a:solidFill>
                  <a:srgbClr val="00274A"/>
                </a:solidFill>
              </a:rPr>
              <a:t> suku cadang; utilisasi teknisi.</a:t>
            </a:r>
            <a:endParaRPr lang="en-US" sz="1050" dirty="0"/>
          </a:p>
        </p:txBody>
      </p:sp>
      <p:sp>
        <p:nvSpPr>
          <p:cNvPr id="22" name="card"/>
          <p:cNvSpPr/>
          <p:nvPr/>
        </p:nvSpPr>
        <p:spPr>
          <a:xfrm>
            <a:off x="8097317" y="1325880"/>
            <a:ext cx="3545738" cy="2331720"/>
          </a:xfrm>
          <a:prstGeom prst="roundRect">
            <a:avLst>
              <a:gd name="adj" fmla="val 5490"/>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23" name="pill"/>
          <p:cNvSpPr/>
          <p:nvPr/>
        </p:nvSpPr>
        <p:spPr>
          <a:xfrm>
            <a:off x="8298485" y="1527048"/>
            <a:ext cx="384048" cy="384048"/>
          </a:xfrm>
          <a:prstGeom prst="roundRect">
            <a:avLst>
              <a:gd name="adj" fmla="val 50000"/>
            </a:avLst>
          </a:prstGeom>
          <a:solidFill>
            <a:srgbClr val="91BE62"/>
          </a:solidFill>
          <a:ln w="3175">
            <a:solidFill>
              <a:srgbClr val="91BE62"/>
            </a:solidFill>
            <a:prstDash val="solid"/>
          </a:ln>
        </p:spPr>
      </p:sp>
      <p:sp>
        <p:nvSpPr>
          <p:cNvPr id="24" name="pill label"/>
          <p:cNvSpPr txBox="1"/>
          <p:nvPr/>
        </p:nvSpPr>
        <p:spPr>
          <a:xfrm>
            <a:off x="8298485" y="1527048"/>
            <a:ext cx="384048" cy="384048"/>
          </a:xfrm>
          <a:prstGeom prst="rect">
            <a:avLst/>
          </a:prstGeom>
          <a:noFill/>
          <a:ln/>
        </p:spPr>
        <p:txBody>
          <a:bodyPr wrap="square" lIns="0" tIns="0" rIns="0" bIns="0" rtlCol="0" anchor="ctr"/>
          <a:lstStyle/>
          <a:p>
            <a:pPr algn="ctr" indent="0" marL="0">
              <a:buNone/>
            </a:pPr>
            <a:r>
              <a:rPr lang="en-US" sz="1300" b="1" dirty="0">
                <a:solidFill>
                  <a:srgbClr val="00274A"/>
                </a:solidFill>
              </a:rPr>
              <a:t>3</a:t>
            </a:r>
            <a:endParaRPr lang="en-US" sz="1300" dirty="0"/>
          </a:p>
        </p:txBody>
      </p:sp>
      <p:sp>
        <p:nvSpPr>
          <p:cNvPr id="25" name="icon circle"/>
          <p:cNvSpPr/>
          <p:nvPr/>
        </p:nvSpPr>
        <p:spPr>
          <a:xfrm>
            <a:off x="10911535" y="1490472"/>
            <a:ext cx="502920" cy="502920"/>
          </a:xfrm>
          <a:prstGeom prst="ellipse">
            <a:avLst/>
          </a:prstGeom>
          <a:solidFill>
            <a:srgbClr val="F0F7FD"/>
          </a:solidFill>
          <a:ln w="3175">
            <a:solidFill>
              <a:srgbClr val="F0F7FD"/>
            </a:solidFill>
            <a:prstDash val="solid"/>
          </a:ln>
        </p:spPr>
      </p:sp>
      <p:pic>
        <p:nvPicPr>
          <p:cNvPr id="26" name="icon FaSortAmountDown" descr="preencoded.png">    </p:cNvPr>
          <p:cNvPicPr>
            <a:picLocks noChangeAspect="1"/>
          </p:cNvPicPr>
          <p:nvPr/>
        </p:nvPicPr>
        <p:blipFill>
          <a:blip r:embed="rId3"/>
          <a:stretch>
            <a:fillRect/>
          </a:stretch>
        </p:blipFill>
        <p:spPr>
          <a:xfrm>
            <a:off x="11037265" y="1616202"/>
            <a:ext cx="251460" cy="251460"/>
          </a:xfrm>
          <a:prstGeom prst="rect">
            <a:avLst/>
          </a:prstGeom>
        </p:spPr>
      </p:pic>
      <p:sp>
        <p:nvSpPr>
          <p:cNvPr id="27" name="text"/>
          <p:cNvSpPr txBox="1"/>
          <p:nvPr/>
        </p:nvSpPr>
        <p:spPr>
          <a:xfrm>
            <a:off x="8783117" y="1508760"/>
            <a:ext cx="2082698" cy="457200"/>
          </a:xfrm>
          <a:prstGeom prst="rect">
            <a:avLst/>
          </a:prstGeom>
          <a:noFill/>
          <a:ln/>
        </p:spPr>
        <p:txBody>
          <a:bodyPr wrap="square" lIns="0" tIns="0" rIns="0" bIns="0" rtlCol="0" anchor="ctr"/>
          <a:lstStyle/>
          <a:p>
            <a:pPr algn="l" indent="0" marL="0">
              <a:buNone/>
            </a:pPr>
            <a:r>
              <a:rPr lang="en-US" sz="1250" b="1" dirty="0">
                <a:solidFill>
                  <a:srgbClr val="00274A"/>
                </a:solidFill>
              </a:rPr>
              <a:t>Aturan prioritas hibrida di hangar</a:t>
            </a:r>
            <a:endParaRPr lang="en-US" sz="1250" dirty="0"/>
          </a:p>
        </p:txBody>
      </p:sp>
      <p:sp>
        <p:nvSpPr>
          <p:cNvPr id="28" name="text"/>
          <p:cNvSpPr txBox="1"/>
          <p:nvPr/>
        </p:nvSpPr>
        <p:spPr>
          <a:xfrm>
            <a:off x="8298485" y="2075688"/>
            <a:ext cx="3143402" cy="457200"/>
          </a:xfrm>
          <a:prstGeom prst="rect">
            <a:avLst/>
          </a:prstGeom>
          <a:noFill/>
          <a:ln/>
        </p:spPr>
        <p:txBody>
          <a:bodyPr wrap="square" lIns="0" tIns="0" rIns="0" bIns="0" rtlCol="0" anchor="t"/>
          <a:lstStyle/>
          <a:p>
            <a:pPr algn="l" indent="0" marL="0">
              <a:buNone/>
            </a:pPr>
            <a:r>
              <a:rPr lang="en-US" sz="1050" b="1" dirty="0">
                <a:solidFill>
                  <a:srgbClr val="01426A"/>
                </a:solidFill>
              </a:rPr>
              <a:t>Dasar teori: </a:t>
            </a:r>
            <a:r>
              <a:rPr lang="en-US" sz="1050" dirty="0">
                <a:solidFill>
                  <a:srgbClr val="00274A"/>
                </a:solidFill>
              </a:rPr>
              <a:t>Tidak ada aturan prioritas yang unggul di semua kriteria.</a:t>
            </a:r>
            <a:endParaRPr lang="en-US" sz="1050" dirty="0"/>
          </a:p>
        </p:txBody>
      </p:sp>
      <p:sp>
        <p:nvSpPr>
          <p:cNvPr id="29" name="text"/>
          <p:cNvSpPr txBox="1"/>
          <p:nvPr/>
        </p:nvSpPr>
        <p:spPr>
          <a:xfrm>
            <a:off x="8298485" y="2532888"/>
            <a:ext cx="3143402" cy="777240"/>
          </a:xfrm>
          <a:prstGeom prst="rect">
            <a:avLst/>
          </a:prstGeom>
          <a:noFill/>
          <a:ln/>
        </p:spPr>
        <p:txBody>
          <a:bodyPr wrap="square" lIns="0" tIns="0" rIns="0" bIns="0" rtlCol="0" anchor="t"/>
          <a:lstStyle/>
          <a:p>
            <a:pPr algn="l" indent="0" marL="0">
              <a:buNone/>
            </a:pPr>
            <a:r>
              <a:rPr lang="en-US" sz="1050" b="1" dirty="0">
                <a:solidFill>
                  <a:srgbClr val="01426A"/>
                </a:solidFill>
              </a:rPr>
              <a:t>Tindakan: </a:t>
            </a:r>
            <a:r>
              <a:rPr lang="en-US" sz="1050" i="1" dirty="0">
                <a:solidFill>
                  <a:srgbClr val="00274A"/>
                </a:solidFill>
              </a:rPr>
              <a:t>Critical ratio</a:t>
            </a:r>
            <a:r>
              <a:rPr lang="en-US" sz="1050" dirty="0">
                <a:solidFill>
                  <a:srgbClr val="00274A"/>
                </a:solidFill>
              </a:rPr>
              <a:t> untuk AOG dan </a:t>
            </a:r>
            <a:r>
              <a:rPr lang="en-US" sz="1050" i="1" dirty="0">
                <a:solidFill>
                  <a:srgbClr val="00274A"/>
                </a:solidFill>
              </a:rPr>
              <a:t>airworthiness directive</a:t>
            </a:r>
            <a:r>
              <a:rPr lang="en-US" sz="1050" dirty="0">
                <a:solidFill>
                  <a:srgbClr val="00274A"/>
                </a:solidFill>
              </a:rPr>
              <a:t>; SPT untuk antrean rutin; </a:t>
            </a:r>
            <a:r>
              <a:rPr lang="en-US" sz="1050" i="1" dirty="0">
                <a:solidFill>
                  <a:srgbClr val="00274A"/>
                </a:solidFill>
              </a:rPr>
              <a:t>Johnson's rule</a:t>
            </a:r>
            <a:r>
              <a:rPr lang="en-US" sz="1050" dirty="0">
                <a:solidFill>
                  <a:srgbClr val="00274A"/>
                </a:solidFill>
              </a:rPr>
              <a:t> untuk alur dua tahap.</a:t>
            </a:r>
            <a:endParaRPr lang="en-US" sz="1050" dirty="0"/>
          </a:p>
        </p:txBody>
      </p:sp>
      <p:sp>
        <p:nvSpPr>
          <p:cNvPr id="30" name="text"/>
          <p:cNvSpPr txBox="1"/>
          <p:nvPr/>
        </p:nvSpPr>
        <p:spPr>
          <a:xfrm>
            <a:off x="8298485" y="3264408"/>
            <a:ext cx="3143402" cy="365760"/>
          </a:xfrm>
          <a:prstGeom prst="rect">
            <a:avLst/>
          </a:prstGeom>
          <a:noFill/>
          <a:ln/>
        </p:spPr>
        <p:txBody>
          <a:bodyPr wrap="square" lIns="0" tIns="0" rIns="0" bIns="0" rtlCol="0" anchor="t"/>
          <a:lstStyle/>
          <a:p>
            <a:pPr algn="l" indent="0" marL="0">
              <a:buNone/>
            </a:pPr>
            <a:r>
              <a:rPr lang="en-US" sz="1050" b="1" dirty="0">
                <a:solidFill>
                  <a:srgbClr val="01426A"/>
                </a:solidFill>
              </a:rPr>
              <a:t>Indikator: </a:t>
            </a:r>
            <a:r>
              <a:rPr lang="en-US" sz="1050" dirty="0">
                <a:solidFill>
                  <a:srgbClr val="00274A"/>
                </a:solidFill>
              </a:rPr>
              <a:t>Rata-rata keterlambatan; </a:t>
            </a:r>
            <a:r>
              <a:rPr lang="en-US" sz="1050" i="1" dirty="0">
                <a:solidFill>
                  <a:srgbClr val="00274A"/>
                </a:solidFill>
              </a:rPr>
              <a:t>makespan</a:t>
            </a:r>
            <a:r>
              <a:rPr lang="en-US" sz="1050" dirty="0">
                <a:solidFill>
                  <a:srgbClr val="00274A"/>
                </a:solidFill>
              </a:rPr>
              <a:t> paket perawatan.</a:t>
            </a:r>
            <a:endParaRPr lang="en-US" sz="1050" dirty="0"/>
          </a:p>
        </p:txBody>
      </p:sp>
      <p:sp>
        <p:nvSpPr>
          <p:cNvPr id="31" name="card"/>
          <p:cNvSpPr/>
          <p:nvPr/>
        </p:nvSpPr>
        <p:spPr>
          <a:xfrm>
            <a:off x="548640" y="3858768"/>
            <a:ext cx="3545738" cy="2331720"/>
          </a:xfrm>
          <a:prstGeom prst="roundRect">
            <a:avLst>
              <a:gd name="adj" fmla="val 5490"/>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32" name="pill"/>
          <p:cNvSpPr/>
          <p:nvPr/>
        </p:nvSpPr>
        <p:spPr>
          <a:xfrm>
            <a:off x="749808" y="4059936"/>
            <a:ext cx="384048" cy="384048"/>
          </a:xfrm>
          <a:prstGeom prst="roundRect">
            <a:avLst>
              <a:gd name="adj" fmla="val 50000"/>
            </a:avLst>
          </a:prstGeom>
          <a:solidFill>
            <a:srgbClr val="91BE62"/>
          </a:solidFill>
          <a:ln w="3175">
            <a:solidFill>
              <a:srgbClr val="91BE62"/>
            </a:solidFill>
            <a:prstDash val="solid"/>
          </a:ln>
        </p:spPr>
      </p:sp>
      <p:sp>
        <p:nvSpPr>
          <p:cNvPr id="33" name="pill label"/>
          <p:cNvSpPr txBox="1"/>
          <p:nvPr/>
        </p:nvSpPr>
        <p:spPr>
          <a:xfrm>
            <a:off x="749808" y="4059936"/>
            <a:ext cx="384048" cy="384048"/>
          </a:xfrm>
          <a:prstGeom prst="rect">
            <a:avLst/>
          </a:prstGeom>
          <a:noFill/>
          <a:ln/>
        </p:spPr>
        <p:txBody>
          <a:bodyPr wrap="square" lIns="0" tIns="0" rIns="0" bIns="0" rtlCol="0" anchor="ctr"/>
          <a:lstStyle/>
          <a:p>
            <a:pPr algn="ctr" indent="0" marL="0">
              <a:buNone/>
            </a:pPr>
            <a:r>
              <a:rPr lang="en-US" sz="1300" b="1" dirty="0">
                <a:solidFill>
                  <a:srgbClr val="00274A"/>
                </a:solidFill>
              </a:rPr>
              <a:t>4</a:t>
            </a:r>
            <a:endParaRPr lang="en-US" sz="1300" dirty="0"/>
          </a:p>
        </p:txBody>
      </p:sp>
      <p:sp>
        <p:nvSpPr>
          <p:cNvPr id="34" name="icon circle"/>
          <p:cNvSpPr/>
          <p:nvPr/>
        </p:nvSpPr>
        <p:spPr>
          <a:xfrm>
            <a:off x="3362858" y="4023360"/>
            <a:ext cx="502920" cy="502920"/>
          </a:xfrm>
          <a:prstGeom prst="ellipse">
            <a:avLst/>
          </a:prstGeom>
          <a:solidFill>
            <a:srgbClr val="F0F7FD"/>
          </a:solidFill>
          <a:ln w="3175">
            <a:solidFill>
              <a:srgbClr val="F0F7FD"/>
            </a:solidFill>
            <a:prstDash val="solid"/>
          </a:ln>
        </p:spPr>
      </p:sp>
      <p:pic>
        <p:nvPicPr>
          <p:cNvPr id="35" name="icon FaHandshake" descr="preencoded.png">    </p:cNvPr>
          <p:cNvPicPr>
            <a:picLocks noChangeAspect="1"/>
          </p:cNvPicPr>
          <p:nvPr/>
        </p:nvPicPr>
        <p:blipFill>
          <a:blip r:embed="rId4"/>
          <a:stretch>
            <a:fillRect/>
          </a:stretch>
        </p:blipFill>
        <p:spPr>
          <a:xfrm>
            <a:off x="3488588" y="4149090"/>
            <a:ext cx="251460" cy="251460"/>
          </a:xfrm>
          <a:prstGeom prst="rect">
            <a:avLst/>
          </a:prstGeom>
        </p:spPr>
      </p:pic>
      <p:sp>
        <p:nvSpPr>
          <p:cNvPr id="36" name="text"/>
          <p:cNvSpPr txBox="1"/>
          <p:nvPr/>
        </p:nvSpPr>
        <p:spPr>
          <a:xfrm>
            <a:off x="1234440" y="4041648"/>
            <a:ext cx="2082698" cy="457200"/>
          </a:xfrm>
          <a:prstGeom prst="rect">
            <a:avLst/>
          </a:prstGeom>
          <a:noFill/>
          <a:ln/>
        </p:spPr>
        <p:txBody>
          <a:bodyPr wrap="square" lIns="0" tIns="0" rIns="0" bIns="0" rtlCol="0" anchor="ctr"/>
          <a:lstStyle/>
          <a:p>
            <a:pPr algn="l" indent="0" marL="0">
              <a:buNone/>
            </a:pPr>
            <a:r>
              <a:rPr lang="en-US" sz="1250" b="1" dirty="0">
                <a:solidFill>
                  <a:srgbClr val="00274A"/>
                </a:solidFill>
              </a:rPr>
              <a:t>Proses dulu, sistem kemudian (integrasi Hawaiian)</a:t>
            </a:r>
            <a:endParaRPr lang="en-US" sz="1250" dirty="0"/>
          </a:p>
        </p:txBody>
      </p:sp>
      <p:sp>
        <p:nvSpPr>
          <p:cNvPr id="37" name="text"/>
          <p:cNvSpPr txBox="1"/>
          <p:nvPr/>
        </p:nvSpPr>
        <p:spPr>
          <a:xfrm>
            <a:off x="749808" y="4608576"/>
            <a:ext cx="3143402" cy="457200"/>
          </a:xfrm>
          <a:prstGeom prst="rect">
            <a:avLst/>
          </a:prstGeom>
          <a:noFill/>
          <a:ln/>
        </p:spPr>
        <p:txBody>
          <a:bodyPr wrap="square" lIns="0" tIns="0" rIns="0" bIns="0" rtlCol="0" anchor="t"/>
          <a:lstStyle/>
          <a:p>
            <a:pPr algn="l" indent="0" marL="0">
              <a:buNone/>
            </a:pPr>
            <a:r>
              <a:rPr lang="en-US" sz="1050" b="1" dirty="0">
                <a:solidFill>
                  <a:srgbClr val="01426A"/>
                </a:solidFill>
              </a:rPr>
              <a:t>Dasar teori: </a:t>
            </a:r>
            <a:r>
              <a:rPr lang="en-US" sz="1050" dirty="0">
                <a:solidFill>
                  <a:srgbClr val="00274A"/>
                </a:solidFill>
              </a:rPr>
              <a:t>Pelajaran implementasi ERP (Slack et al., 2022).</a:t>
            </a:r>
            <a:endParaRPr lang="en-US" sz="1050" dirty="0"/>
          </a:p>
        </p:txBody>
      </p:sp>
      <p:sp>
        <p:nvSpPr>
          <p:cNvPr id="38" name="text"/>
          <p:cNvSpPr txBox="1"/>
          <p:nvPr/>
        </p:nvSpPr>
        <p:spPr>
          <a:xfrm>
            <a:off x="749808" y="5065776"/>
            <a:ext cx="3143402" cy="777240"/>
          </a:xfrm>
          <a:prstGeom prst="rect">
            <a:avLst/>
          </a:prstGeom>
          <a:noFill/>
          <a:ln/>
        </p:spPr>
        <p:txBody>
          <a:bodyPr wrap="square" lIns="0" tIns="0" rIns="0" bIns="0" rtlCol="0" anchor="t"/>
          <a:lstStyle/>
          <a:p>
            <a:pPr algn="l" indent="0" marL="0">
              <a:buNone/>
            </a:pPr>
            <a:r>
              <a:rPr lang="en-US" sz="1050" b="1" dirty="0">
                <a:solidFill>
                  <a:srgbClr val="01426A"/>
                </a:solidFill>
              </a:rPr>
              <a:t>Tindakan: </a:t>
            </a:r>
            <a:r>
              <a:rPr lang="en-US" sz="1050" dirty="0">
                <a:solidFill>
                  <a:srgbClr val="00274A"/>
                </a:solidFill>
              </a:rPr>
              <a:t>Standarkan proses kru, perawatan, dan layanan penumpang sebelum migrasi ke sistem tunggal; batasi kustomisasi.</a:t>
            </a:r>
            <a:endParaRPr lang="en-US" sz="1050" dirty="0"/>
          </a:p>
        </p:txBody>
      </p:sp>
      <p:sp>
        <p:nvSpPr>
          <p:cNvPr id="39" name="text"/>
          <p:cNvSpPr txBox="1"/>
          <p:nvPr/>
        </p:nvSpPr>
        <p:spPr>
          <a:xfrm>
            <a:off x="749808" y="5797296"/>
            <a:ext cx="3143402" cy="365760"/>
          </a:xfrm>
          <a:prstGeom prst="rect">
            <a:avLst/>
          </a:prstGeom>
          <a:noFill/>
          <a:ln/>
        </p:spPr>
        <p:txBody>
          <a:bodyPr wrap="square" lIns="0" tIns="0" rIns="0" bIns="0" rtlCol="0" anchor="t"/>
          <a:lstStyle/>
          <a:p>
            <a:pPr algn="l" indent="0" marL="0">
              <a:buNone/>
            </a:pPr>
            <a:r>
              <a:rPr lang="en-US" sz="1050" b="1" dirty="0">
                <a:solidFill>
                  <a:srgbClr val="01426A"/>
                </a:solidFill>
              </a:rPr>
              <a:t>Indikator: </a:t>
            </a:r>
            <a:r>
              <a:rPr lang="en-US" sz="1050" dirty="0">
                <a:solidFill>
                  <a:srgbClr val="00274A"/>
                </a:solidFill>
              </a:rPr>
              <a:t>Biaya kustomisasi; insiden </a:t>
            </a:r>
            <a:r>
              <a:rPr lang="en-US" sz="1050" i="1" dirty="0">
                <a:solidFill>
                  <a:srgbClr val="00274A"/>
                </a:solidFill>
              </a:rPr>
              <a:t>cut-over</a:t>
            </a:r>
            <a:r>
              <a:rPr lang="en-US" sz="1050" dirty="0">
                <a:solidFill>
                  <a:srgbClr val="00274A"/>
                </a:solidFill>
              </a:rPr>
              <a:t>.</a:t>
            </a:r>
            <a:endParaRPr lang="en-US" sz="1050" dirty="0"/>
          </a:p>
        </p:txBody>
      </p:sp>
      <p:sp>
        <p:nvSpPr>
          <p:cNvPr id="40" name="card"/>
          <p:cNvSpPr/>
          <p:nvPr/>
        </p:nvSpPr>
        <p:spPr>
          <a:xfrm>
            <a:off x="4322978" y="3858768"/>
            <a:ext cx="3545738" cy="2331720"/>
          </a:xfrm>
          <a:prstGeom prst="roundRect">
            <a:avLst>
              <a:gd name="adj" fmla="val 5490"/>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41" name="pill"/>
          <p:cNvSpPr/>
          <p:nvPr/>
        </p:nvSpPr>
        <p:spPr>
          <a:xfrm>
            <a:off x="4524146" y="4059936"/>
            <a:ext cx="384048" cy="384048"/>
          </a:xfrm>
          <a:prstGeom prst="roundRect">
            <a:avLst>
              <a:gd name="adj" fmla="val 50000"/>
            </a:avLst>
          </a:prstGeom>
          <a:solidFill>
            <a:srgbClr val="91BE62"/>
          </a:solidFill>
          <a:ln w="3175">
            <a:solidFill>
              <a:srgbClr val="91BE62"/>
            </a:solidFill>
            <a:prstDash val="solid"/>
          </a:ln>
        </p:spPr>
      </p:sp>
      <p:sp>
        <p:nvSpPr>
          <p:cNvPr id="42" name="pill label"/>
          <p:cNvSpPr txBox="1"/>
          <p:nvPr/>
        </p:nvSpPr>
        <p:spPr>
          <a:xfrm>
            <a:off x="4524146" y="4059936"/>
            <a:ext cx="384048" cy="384048"/>
          </a:xfrm>
          <a:prstGeom prst="rect">
            <a:avLst/>
          </a:prstGeom>
          <a:noFill/>
          <a:ln/>
        </p:spPr>
        <p:txBody>
          <a:bodyPr wrap="square" lIns="0" tIns="0" rIns="0" bIns="0" rtlCol="0" anchor="ctr"/>
          <a:lstStyle/>
          <a:p>
            <a:pPr algn="ctr" indent="0" marL="0">
              <a:buNone/>
            </a:pPr>
            <a:r>
              <a:rPr lang="en-US" sz="1300" b="1" dirty="0">
                <a:solidFill>
                  <a:srgbClr val="00274A"/>
                </a:solidFill>
              </a:rPr>
              <a:t>5</a:t>
            </a:r>
            <a:endParaRPr lang="en-US" sz="1300" dirty="0"/>
          </a:p>
        </p:txBody>
      </p:sp>
      <p:sp>
        <p:nvSpPr>
          <p:cNvPr id="43" name="icon circle"/>
          <p:cNvSpPr/>
          <p:nvPr/>
        </p:nvSpPr>
        <p:spPr>
          <a:xfrm>
            <a:off x="7137197" y="4023360"/>
            <a:ext cx="502920" cy="502920"/>
          </a:xfrm>
          <a:prstGeom prst="ellipse">
            <a:avLst/>
          </a:prstGeom>
          <a:solidFill>
            <a:srgbClr val="F0F7FD"/>
          </a:solidFill>
          <a:ln w="3175">
            <a:solidFill>
              <a:srgbClr val="F0F7FD"/>
            </a:solidFill>
            <a:prstDash val="solid"/>
          </a:ln>
        </p:spPr>
      </p:sp>
      <p:pic>
        <p:nvPicPr>
          <p:cNvPr id="44" name="icon FaSnowflake" descr="preencoded.png">    </p:cNvPr>
          <p:cNvPicPr>
            <a:picLocks noChangeAspect="1"/>
          </p:cNvPicPr>
          <p:nvPr/>
        </p:nvPicPr>
        <p:blipFill>
          <a:blip r:embed="rId5"/>
          <a:stretch>
            <a:fillRect/>
          </a:stretch>
        </p:blipFill>
        <p:spPr>
          <a:xfrm>
            <a:off x="7262927" y="4149090"/>
            <a:ext cx="251460" cy="251460"/>
          </a:xfrm>
          <a:prstGeom prst="rect">
            <a:avLst/>
          </a:prstGeom>
        </p:spPr>
      </p:pic>
      <p:sp>
        <p:nvSpPr>
          <p:cNvPr id="45" name="text"/>
          <p:cNvSpPr txBox="1"/>
          <p:nvPr/>
        </p:nvSpPr>
        <p:spPr>
          <a:xfrm>
            <a:off x="5008778" y="4041648"/>
            <a:ext cx="2082698" cy="457200"/>
          </a:xfrm>
          <a:prstGeom prst="rect">
            <a:avLst/>
          </a:prstGeom>
          <a:noFill/>
          <a:ln/>
        </p:spPr>
        <p:txBody>
          <a:bodyPr wrap="square" lIns="0" tIns="0" rIns="0" bIns="0" rtlCol="0" anchor="ctr"/>
          <a:lstStyle/>
          <a:p>
            <a:pPr algn="l" indent="0" marL="0">
              <a:buNone/>
            </a:pPr>
            <a:r>
              <a:rPr lang="en-US" sz="1250" b="1" dirty="0">
                <a:solidFill>
                  <a:srgbClr val="00274A"/>
                </a:solidFill>
              </a:rPr>
              <a:t>Jadwal siklis dan kapasitas cadangan musim dingin</a:t>
            </a:r>
            <a:endParaRPr lang="en-US" sz="1250" dirty="0"/>
          </a:p>
        </p:txBody>
      </p:sp>
      <p:sp>
        <p:nvSpPr>
          <p:cNvPr id="46" name="text"/>
          <p:cNvSpPr txBox="1"/>
          <p:nvPr/>
        </p:nvSpPr>
        <p:spPr>
          <a:xfrm>
            <a:off x="4524146" y="4608576"/>
            <a:ext cx="3143402" cy="457200"/>
          </a:xfrm>
          <a:prstGeom prst="rect">
            <a:avLst/>
          </a:prstGeom>
          <a:noFill/>
          <a:ln/>
        </p:spPr>
        <p:txBody>
          <a:bodyPr wrap="square" lIns="0" tIns="0" rIns="0" bIns="0" rtlCol="0" anchor="t"/>
          <a:lstStyle/>
          <a:p>
            <a:pPr algn="l" indent="0" marL="0">
              <a:buNone/>
            </a:pPr>
            <a:r>
              <a:rPr lang="en-US" sz="1050" b="1" dirty="0">
                <a:solidFill>
                  <a:srgbClr val="01426A"/>
                </a:solidFill>
              </a:rPr>
              <a:t>Dasar teori: </a:t>
            </a:r>
            <a:r>
              <a:rPr lang="en-US" sz="1050" i="1" dirty="0">
                <a:solidFill>
                  <a:srgbClr val="00274A"/>
                </a:solidFill>
              </a:rPr>
              <a:t>Cyclical scheduling</a:t>
            </a:r>
            <a:r>
              <a:rPr lang="en-US" sz="1050" dirty="0">
                <a:solidFill>
                  <a:srgbClr val="00274A"/>
                </a:solidFill>
              </a:rPr>
              <a:t> dan </a:t>
            </a:r>
            <a:r>
              <a:rPr lang="en-US" sz="1050" i="1" dirty="0">
                <a:solidFill>
                  <a:srgbClr val="00274A"/>
                </a:solidFill>
              </a:rPr>
              <a:t>forward scheduling</a:t>
            </a:r>
            <a:r>
              <a:rPr lang="en-US" sz="1050" dirty="0">
                <a:solidFill>
                  <a:srgbClr val="00274A"/>
                </a:solidFill>
              </a:rPr>
              <a:t> berbasis prakiraan.</a:t>
            </a:r>
            <a:endParaRPr lang="en-US" sz="1050" dirty="0"/>
          </a:p>
        </p:txBody>
      </p:sp>
      <p:sp>
        <p:nvSpPr>
          <p:cNvPr id="47" name="text"/>
          <p:cNvSpPr txBox="1"/>
          <p:nvPr/>
        </p:nvSpPr>
        <p:spPr>
          <a:xfrm>
            <a:off x="4524146" y="5065776"/>
            <a:ext cx="3143402" cy="777240"/>
          </a:xfrm>
          <a:prstGeom prst="rect">
            <a:avLst/>
          </a:prstGeom>
          <a:noFill/>
          <a:ln/>
        </p:spPr>
        <p:txBody>
          <a:bodyPr wrap="square" lIns="0" tIns="0" rIns="0" bIns="0" rtlCol="0" anchor="t"/>
          <a:lstStyle/>
          <a:p>
            <a:pPr algn="l" indent="0" marL="0">
              <a:buNone/>
            </a:pPr>
            <a:r>
              <a:rPr lang="en-US" sz="1050" b="1" dirty="0">
                <a:solidFill>
                  <a:srgbClr val="01426A"/>
                </a:solidFill>
              </a:rPr>
              <a:t>Tindakan: </a:t>
            </a:r>
            <a:r>
              <a:rPr lang="en-US" sz="1050" dirty="0">
                <a:solidFill>
                  <a:srgbClr val="00274A"/>
                </a:solidFill>
              </a:rPr>
              <a:t>Pola libur siklis staf </a:t>
            </a:r>
            <a:r>
              <a:rPr lang="en-US" sz="1050" i="1" dirty="0">
                <a:solidFill>
                  <a:srgbClr val="00274A"/>
                </a:solidFill>
              </a:rPr>
              <a:t>gate</a:t>
            </a:r>
            <a:r>
              <a:rPr lang="en-US" sz="1050" dirty="0">
                <a:solidFill>
                  <a:srgbClr val="00274A"/>
                </a:solidFill>
              </a:rPr>
              <a:t> dan </a:t>
            </a:r>
            <a:r>
              <a:rPr lang="en-US" sz="1050" i="1" dirty="0">
                <a:solidFill>
                  <a:srgbClr val="00274A"/>
                </a:solidFill>
              </a:rPr>
              <a:t>deicing</a:t>
            </a:r>
            <a:r>
              <a:rPr lang="en-US" sz="1050" dirty="0">
                <a:solidFill>
                  <a:srgbClr val="00274A"/>
                </a:solidFill>
              </a:rPr>
              <a:t>; kru siaga (</a:t>
            </a:r>
            <a:r>
              <a:rPr lang="en-US" sz="1050" i="1" dirty="0">
                <a:solidFill>
                  <a:srgbClr val="00274A"/>
                </a:solidFill>
              </a:rPr>
              <a:t>reserve</a:t>
            </a:r>
            <a:r>
              <a:rPr lang="en-US" sz="1050" dirty="0">
                <a:solidFill>
                  <a:srgbClr val="00274A"/>
                </a:solidFill>
              </a:rPr>
              <a:t>) dipicu prakiraan hujan beku; </a:t>
            </a:r>
            <a:r>
              <a:rPr lang="en-US" sz="1050" i="1" dirty="0">
                <a:solidFill>
                  <a:srgbClr val="00274A"/>
                </a:solidFill>
              </a:rPr>
              <a:t>buffer</a:t>
            </a:r>
            <a:r>
              <a:rPr lang="en-US" sz="1050" dirty="0">
                <a:solidFill>
                  <a:srgbClr val="00274A"/>
                </a:solidFill>
              </a:rPr>
              <a:t> pesawat cadangan di SEA.</a:t>
            </a:r>
            <a:endParaRPr lang="en-US" sz="1050" dirty="0"/>
          </a:p>
        </p:txBody>
      </p:sp>
      <p:sp>
        <p:nvSpPr>
          <p:cNvPr id="48" name="text"/>
          <p:cNvSpPr txBox="1"/>
          <p:nvPr/>
        </p:nvSpPr>
        <p:spPr>
          <a:xfrm>
            <a:off x="4524146" y="5797296"/>
            <a:ext cx="3143402" cy="365760"/>
          </a:xfrm>
          <a:prstGeom prst="rect">
            <a:avLst/>
          </a:prstGeom>
          <a:noFill/>
          <a:ln/>
        </p:spPr>
        <p:txBody>
          <a:bodyPr wrap="square" lIns="0" tIns="0" rIns="0" bIns="0" rtlCol="0" anchor="t"/>
          <a:lstStyle/>
          <a:p>
            <a:pPr algn="l" indent="0" marL="0">
              <a:buNone/>
            </a:pPr>
            <a:r>
              <a:rPr lang="en-US" sz="1050" b="1" dirty="0">
                <a:solidFill>
                  <a:srgbClr val="01426A"/>
                </a:solidFill>
              </a:rPr>
              <a:t>Indikator: </a:t>
            </a:r>
            <a:r>
              <a:rPr lang="en-US" sz="1050" i="1" dirty="0">
                <a:solidFill>
                  <a:srgbClr val="00274A"/>
                </a:solidFill>
              </a:rPr>
              <a:t>On-time departure</a:t>
            </a:r>
            <a:r>
              <a:rPr lang="en-US" sz="1050" dirty="0">
                <a:solidFill>
                  <a:srgbClr val="00274A"/>
                </a:solidFill>
              </a:rPr>
              <a:t> SEA pada hari cuaca buruk.</a:t>
            </a:r>
            <a:endParaRPr lang="en-US" sz="1050" dirty="0"/>
          </a:p>
        </p:txBody>
      </p:sp>
      <p:sp>
        <p:nvSpPr>
          <p:cNvPr id="49" name="card"/>
          <p:cNvSpPr/>
          <p:nvPr/>
        </p:nvSpPr>
        <p:spPr>
          <a:xfrm>
            <a:off x="8097317" y="3858768"/>
            <a:ext cx="3545738" cy="2331720"/>
          </a:xfrm>
          <a:prstGeom prst="roundRect">
            <a:avLst>
              <a:gd name="adj" fmla="val 5490"/>
            </a:avLst>
          </a:prstGeom>
          <a:solidFill>
            <a:srgbClr val="00274A"/>
          </a:solidFill>
          <a:ln w="3175">
            <a:solidFill>
              <a:srgbClr val="00274A"/>
            </a:solidFill>
            <a:prstDash val="solid"/>
          </a:ln>
        </p:spPr>
      </p:sp>
      <p:sp>
        <p:nvSpPr>
          <p:cNvPr id="50" name="text"/>
          <p:cNvSpPr txBox="1"/>
          <p:nvPr/>
        </p:nvSpPr>
        <p:spPr>
          <a:xfrm>
            <a:off x="8325917" y="4087368"/>
            <a:ext cx="3088538" cy="365760"/>
          </a:xfrm>
          <a:prstGeom prst="rect">
            <a:avLst/>
          </a:prstGeom>
          <a:noFill/>
          <a:ln/>
        </p:spPr>
        <p:txBody>
          <a:bodyPr wrap="square" lIns="0" tIns="0" rIns="0" bIns="0" rtlCol="0" anchor="t"/>
          <a:lstStyle/>
          <a:p>
            <a:pPr algn="l" indent="0" marL="0">
              <a:buNone/>
            </a:pPr>
            <a:r>
              <a:rPr lang="en-US" sz="1400" b="1" dirty="0">
                <a:solidFill>
                  <a:srgbClr val="00CFF0"/>
                </a:solidFill>
              </a:rPr>
              <a:t>Evaluasi keseluruhan</a:t>
            </a:r>
            <a:endParaRPr lang="en-US" sz="1400" dirty="0"/>
          </a:p>
        </p:txBody>
      </p:sp>
      <p:sp>
        <p:nvSpPr>
          <p:cNvPr id="51" name="text"/>
          <p:cNvSpPr txBox="1"/>
          <p:nvPr/>
        </p:nvSpPr>
        <p:spPr>
          <a:xfrm>
            <a:off x="8325917" y="4498848"/>
            <a:ext cx="3088538" cy="1600200"/>
          </a:xfrm>
          <a:prstGeom prst="rect">
            <a:avLst/>
          </a:prstGeom>
          <a:noFill/>
          <a:ln/>
        </p:spPr>
        <p:txBody>
          <a:bodyPr wrap="square" lIns="0" tIns="0" rIns="0" bIns="0" rtlCol="0" anchor="t"/>
          <a:lstStyle/>
          <a:p>
            <a:pPr algn="l" indent="0" marL="0">
              <a:buNone/>
            </a:pPr>
            <a:r>
              <a:rPr lang="en-US" sz="1150" dirty="0">
                <a:solidFill>
                  <a:srgbClr val="FFFFFF"/>
                </a:solidFill>
              </a:rPr>
              <a:t>Alaska Airlines kuat pada </a:t>
            </a:r>
            <a:r>
              <a:rPr lang="en-US" sz="1150" i="1" dirty="0">
                <a:solidFill>
                  <a:srgbClr val="FFFFFF"/>
                </a:solidFill>
              </a:rPr>
              <a:t>control</a:t>
            </a:r>
            <a:r>
              <a:rPr lang="en-US" sz="1150" dirty="0">
                <a:solidFill>
                  <a:srgbClr val="FFFFFF"/>
                </a:solidFill>
              </a:rPr>
              <a:t> jangka pendek (penjadwalan ulang, pengendalian visual, teknologi) dan sedang memperkuat </a:t>
            </a:r>
            <a:r>
              <a:rPr lang="en-US" sz="1150" i="1" dirty="0">
                <a:solidFill>
                  <a:srgbClr val="FFFFFF"/>
                </a:solidFill>
              </a:rPr>
              <a:t>planning</a:t>
            </a:r>
            <a:r>
              <a:rPr lang="en-US" sz="1150" dirty="0">
                <a:solidFill>
                  <a:srgbClr val="FFFFFF"/>
                </a:solidFill>
              </a:rPr>
              <a:t> perawatan berbasis kapasitas. Titik lemah yang terbukti adalah ketahanan infrastruktur terintegrasi: nilai ERP hanya terwujud bila sistemnya tetap hidup.</a:t>
            </a:r>
            <a:endParaRPr lang="en-US" sz="1150" dirty="0"/>
          </a:p>
        </p:txBody>
      </p:sp>
      <p:sp>
        <p:nvSpPr>
          <p:cNvPr id="25" name="Slide Number Placeholder 0"/>
          <p:cNvSpPr>
            <a:spLocks noGrp="1"/>
          </p:cNvSpPr>
          <p:nvPr>
            <p:ph type="sldNum" sz="quarter" idx="4294967295"/>
          </p:nvPr>
        </p:nvSpPr>
        <p:spPr>
          <a:xfrm>
            <a:off x="11064240" y="6428232"/>
            <a:ext cx="576072"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01426A"/>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3"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000" b="1" dirty="0">
                <a:solidFill>
                  <a:srgbClr val="00274A"/>
                </a:solidFill>
              </a:rPr>
              <a:t>Kesimpulan</a:t>
            </a:r>
            <a:endParaRPr lang="en-US" sz="3000" dirty="0"/>
          </a:p>
        </p:txBody>
      </p:sp>
      <p:sp>
        <p:nvSpPr>
          <p:cNvPr id="4" name="card"/>
          <p:cNvSpPr/>
          <p:nvPr/>
        </p:nvSpPr>
        <p:spPr>
          <a:xfrm>
            <a:off x="548640" y="1325880"/>
            <a:ext cx="8229600" cy="1481328"/>
          </a:xfrm>
          <a:prstGeom prst="roundRect">
            <a:avLst>
              <a:gd name="adj" fmla="val 8642"/>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5" name="pill"/>
          <p:cNvSpPr/>
          <p:nvPr/>
        </p:nvSpPr>
        <p:spPr>
          <a:xfrm>
            <a:off x="777240" y="1600200"/>
            <a:ext cx="457200" cy="457200"/>
          </a:xfrm>
          <a:prstGeom prst="roundRect">
            <a:avLst>
              <a:gd name="adj" fmla="val 50000"/>
            </a:avLst>
          </a:prstGeom>
          <a:solidFill>
            <a:srgbClr val="00CFF0"/>
          </a:solidFill>
          <a:ln w="3175">
            <a:solidFill>
              <a:srgbClr val="00CFF0"/>
            </a:solidFill>
            <a:prstDash val="solid"/>
          </a:ln>
        </p:spPr>
      </p:sp>
      <p:sp>
        <p:nvSpPr>
          <p:cNvPr id="6" name="pill label"/>
          <p:cNvSpPr txBox="1"/>
          <p:nvPr/>
        </p:nvSpPr>
        <p:spPr>
          <a:xfrm>
            <a:off x="777240" y="1600200"/>
            <a:ext cx="457200" cy="457200"/>
          </a:xfrm>
          <a:prstGeom prst="rect">
            <a:avLst/>
          </a:prstGeom>
          <a:noFill/>
          <a:ln/>
        </p:spPr>
        <p:txBody>
          <a:bodyPr wrap="square" lIns="0" tIns="0" rIns="0" bIns="0" rtlCol="0" anchor="ctr"/>
          <a:lstStyle/>
          <a:p>
            <a:pPr algn="ctr" indent="0" marL="0">
              <a:buNone/>
            </a:pPr>
            <a:r>
              <a:rPr lang="en-US" sz="1500" b="1" dirty="0">
                <a:solidFill>
                  <a:srgbClr val="00274A"/>
                </a:solidFill>
              </a:rPr>
              <a:t>1</a:t>
            </a:r>
            <a:endParaRPr lang="en-US" sz="1500" dirty="0"/>
          </a:p>
        </p:txBody>
      </p:sp>
      <p:sp>
        <p:nvSpPr>
          <p:cNvPr id="7" name="text"/>
          <p:cNvSpPr txBox="1"/>
          <p:nvPr/>
        </p:nvSpPr>
        <p:spPr>
          <a:xfrm>
            <a:off x="1463040" y="1508760"/>
            <a:ext cx="7086600" cy="411480"/>
          </a:xfrm>
          <a:prstGeom prst="rect">
            <a:avLst/>
          </a:prstGeom>
          <a:noFill/>
          <a:ln/>
        </p:spPr>
        <p:txBody>
          <a:bodyPr wrap="square" lIns="0" tIns="0" rIns="0" bIns="0" rtlCol="0" anchor="ctr"/>
          <a:lstStyle/>
          <a:p>
            <a:pPr algn="l" indent="0" marL="0">
              <a:buNone/>
            </a:pPr>
            <a:r>
              <a:rPr lang="en-US" sz="1500" b="1" dirty="0">
                <a:solidFill>
                  <a:srgbClr val="00274A"/>
                </a:solidFill>
              </a:rPr>
              <a:t>MRP dan ERP menjawab apa, berapa, dan kapan</a:t>
            </a:r>
            <a:endParaRPr lang="en-US" sz="1500" dirty="0"/>
          </a:p>
        </p:txBody>
      </p:sp>
      <p:sp>
        <p:nvSpPr>
          <p:cNvPr id="8" name="text"/>
          <p:cNvSpPr txBox="1"/>
          <p:nvPr/>
        </p:nvSpPr>
        <p:spPr>
          <a:xfrm>
            <a:off x="1463040" y="1947672"/>
            <a:ext cx="7086600" cy="822960"/>
          </a:xfrm>
          <a:prstGeom prst="rect">
            <a:avLst/>
          </a:prstGeom>
          <a:noFill/>
          <a:ln/>
        </p:spPr>
        <p:txBody>
          <a:bodyPr wrap="square" lIns="0" tIns="0" rIns="0" bIns="0" rtlCol="0" anchor="t"/>
          <a:lstStyle/>
          <a:p>
            <a:pPr algn="l" indent="0" marL="0">
              <a:buNone/>
            </a:pPr>
            <a:r>
              <a:rPr lang="en-US" sz="1200" dirty="0">
                <a:solidFill>
                  <a:srgbClr val="00274A"/>
                </a:solidFill>
              </a:rPr>
              <a:t>Pada Alaska Airlines, kebutuhan suku cadang dan kru diturunkan dari </a:t>
            </a:r>
            <a:r>
              <a:rPr lang="en-US" sz="1200" i="1" dirty="0">
                <a:solidFill>
                  <a:srgbClr val="00274A"/>
                </a:solidFill>
              </a:rPr>
              <a:t>flight timetable</a:t>
            </a:r>
            <a:r>
              <a:rPr lang="en-US" sz="1200" dirty="0">
                <a:solidFill>
                  <a:srgbClr val="00274A"/>
                </a:solidFill>
              </a:rPr>
              <a:t> sebagai </a:t>
            </a:r>
            <a:r>
              <a:rPr lang="en-US" sz="1200" i="1" dirty="0">
                <a:solidFill>
                  <a:srgbClr val="00274A"/>
                </a:solidFill>
              </a:rPr>
              <a:t>master schedule</a:t>
            </a:r>
            <a:r>
              <a:rPr lang="en-US" sz="1200" dirty="0">
                <a:solidFill>
                  <a:srgbClr val="00274A"/>
                </a:solidFill>
              </a:rPr>
              <a:t> melalui logika </a:t>
            </a:r>
            <a:r>
              <a:rPr lang="en-US" sz="1200" i="1" dirty="0">
                <a:solidFill>
                  <a:srgbClr val="00274A"/>
                </a:solidFill>
              </a:rPr>
              <a:t>dependent demand</a:t>
            </a:r>
            <a:r>
              <a:rPr lang="en-US" sz="1200" dirty="0">
                <a:solidFill>
                  <a:srgbClr val="00274A"/>
                </a:solidFill>
              </a:rPr>
              <a:t>; ERP menyatukan datanya sehingga rencana lintas fungsi konsisten.</a:t>
            </a:r>
            <a:endParaRPr lang="en-US" sz="1200" dirty="0"/>
          </a:p>
        </p:txBody>
      </p:sp>
      <p:sp>
        <p:nvSpPr>
          <p:cNvPr id="9" name="card"/>
          <p:cNvSpPr/>
          <p:nvPr/>
        </p:nvSpPr>
        <p:spPr>
          <a:xfrm>
            <a:off x="548640" y="2971800"/>
            <a:ext cx="8229600" cy="1481328"/>
          </a:xfrm>
          <a:prstGeom prst="roundRect">
            <a:avLst>
              <a:gd name="adj" fmla="val 8642"/>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10" name="pill"/>
          <p:cNvSpPr/>
          <p:nvPr/>
        </p:nvSpPr>
        <p:spPr>
          <a:xfrm>
            <a:off x="777240" y="3246120"/>
            <a:ext cx="457200" cy="457200"/>
          </a:xfrm>
          <a:prstGeom prst="roundRect">
            <a:avLst>
              <a:gd name="adj" fmla="val 50000"/>
            </a:avLst>
          </a:prstGeom>
          <a:solidFill>
            <a:srgbClr val="91BE62"/>
          </a:solidFill>
          <a:ln w="3175">
            <a:solidFill>
              <a:srgbClr val="91BE62"/>
            </a:solidFill>
            <a:prstDash val="solid"/>
          </a:ln>
        </p:spPr>
      </p:sp>
      <p:sp>
        <p:nvSpPr>
          <p:cNvPr id="11" name="pill label"/>
          <p:cNvSpPr txBox="1"/>
          <p:nvPr/>
        </p:nvSpPr>
        <p:spPr>
          <a:xfrm>
            <a:off x="777240" y="3246120"/>
            <a:ext cx="457200" cy="457200"/>
          </a:xfrm>
          <a:prstGeom prst="rect">
            <a:avLst/>
          </a:prstGeom>
          <a:noFill/>
          <a:ln/>
        </p:spPr>
        <p:txBody>
          <a:bodyPr wrap="square" lIns="0" tIns="0" rIns="0" bIns="0" rtlCol="0" anchor="ctr"/>
          <a:lstStyle/>
          <a:p>
            <a:pPr algn="ctr" indent="0" marL="0">
              <a:buNone/>
            </a:pPr>
            <a:r>
              <a:rPr lang="en-US" sz="1500" b="1" dirty="0">
                <a:solidFill>
                  <a:srgbClr val="00274A"/>
                </a:solidFill>
              </a:rPr>
              <a:t>2</a:t>
            </a:r>
            <a:endParaRPr lang="en-US" sz="1500" dirty="0"/>
          </a:p>
        </p:txBody>
      </p:sp>
      <p:sp>
        <p:nvSpPr>
          <p:cNvPr id="12" name="text"/>
          <p:cNvSpPr txBox="1"/>
          <p:nvPr/>
        </p:nvSpPr>
        <p:spPr>
          <a:xfrm>
            <a:off x="1463040" y="3154680"/>
            <a:ext cx="7086600" cy="411480"/>
          </a:xfrm>
          <a:prstGeom prst="rect">
            <a:avLst/>
          </a:prstGeom>
          <a:noFill/>
          <a:ln/>
        </p:spPr>
        <p:txBody>
          <a:bodyPr wrap="square" lIns="0" tIns="0" rIns="0" bIns="0" rtlCol="0" anchor="ctr"/>
          <a:lstStyle/>
          <a:p>
            <a:pPr algn="l" indent="0" marL="0">
              <a:buNone/>
            </a:pPr>
            <a:r>
              <a:rPr lang="en-US" sz="1500" b="1" dirty="0">
                <a:solidFill>
                  <a:srgbClr val="00274A"/>
                </a:solidFill>
              </a:rPr>
              <a:t>Sequencing and scheduling mengeksekusi rencana dalam hitungan jam</a:t>
            </a:r>
            <a:endParaRPr lang="en-US" sz="1500" dirty="0"/>
          </a:p>
        </p:txBody>
      </p:sp>
      <p:sp>
        <p:nvSpPr>
          <p:cNvPr id="13" name="text"/>
          <p:cNvSpPr txBox="1"/>
          <p:nvPr/>
        </p:nvSpPr>
        <p:spPr>
          <a:xfrm>
            <a:off x="1463040" y="3593592"/>
            <a:ext cx="7086600" cy="822960"/>
          </a:xfrm>
          <a:prstGeom prst="rect">
            <a:avLst/>
          </a:prstGeom>
          <a:noFill/>
          <a:ln/>
        </p:spPr>
        <p:txBody>
          <a:bodyPr wrap="square" lIns="0" tIns="0" rIns="0" bIns="0" rtlCol="0" anchor="t"/>
          <a:lstStyle/>
          <a:p>
            <a:pPr algn="l" indent="0" marL="0">
              <a:buNone/>
            </a:pPr>
            <a:r>
              <a:rPr lang="en-US" sz="1200" dirty="0">
                <a:solidFill>
                  <a:srgbClr val="00274A"/>
                </a:solidFill>
              </a:rPr>
              <a:t>Aturan prioritas, </a:t>
            </a:r>
            <a:r>
              <a:rPr lang="en-US" sz="1200" i="1" dirty="0">
                <a:solidFill>
                  <a:srgbClr val="00274A"/>
                </a:solidFill>
              </a:rPr>
              <a:t>Johnson's rule</a:t>
            </a:r>
            <a:r>
              <a:rPr lang="en-US" sz="1200" dirty="0">
                <a:solidFill>
                  <a:srgbClr val="00274A"/>
                </a:solidFill>
              </a:rPr>
              <a:t>, </a:t>
            </a:r>
            <a:r>
              <a:rPr lang="en-US" sz="1200" i="1" dirty="0">
                <a:solidFill>
                  <a:srgbClr val="00274A"/>
                </a:solidFill>
              </a:rPr>
              <a:t>finite capacity scheduling</a:t>
            </a:r>
            <a:r>
              <a:rPr lang="en-US" sz="1200" dirty="0">
                <a:solidFill>
                  <a:srgbClr val="00274A"/>
                </a:solidFill>
              </a:rPr>
              <a:t>, dan </a:t>
            </a:r>
            <a:r>
              <a:rPr lang="en-US" sz="1200" i="1" dirty="0">
                <a:solidFill>
                  <a:srgbClr val="00274A"/>
                </a:solidFill>
              </a:rPr>
              <a:t>cyclical scheduling</a:t>
            </a:r>
            <a:r>
              <a:rPr lang="en-US" sz="1200" dirty="0">
                <a:solidFill>
                  <a:srgbClr val="00274A"/>
                </a:solidFill>
              </a:rPr>
              <a:t> menjelaskan bagaimana Alaska mempertahankan ketepatan waktu 79% (Cirium 2024) di tengah cuaca Seattle dan geografi Alaska.</a:t>
            </a:r>
            <a:endParaRPr lang="en-US" sz="1200" dirty="0"/>
          </a:p>
        </p:txBody>
      </p:sp>
      <p:sp>
        <p:nvSpPr>
          <p:cNvPr id="14" name="card"/>
          <p:cNvSpPr/>
          <p:nvPr/>
        </p:nvSpPr>
        <p:spPr>
          <a:xfrm>
            <a:off x="548640" y="4617720"/>
            <a:ext cx="8229600" cy="1481328"/>
          </a:xfrm>
          <a:prstGeom prst="roundRect">
            <a:avLst>
              <a:gd name="adj" fmla="val 8642"/>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15" name="pill"/>
          <p:cNvSpPr/>
          <p:nvPr/>
        </p:nvSpPr>
        <p:spPr>
          <a:xfrm>
            <a:off x="777240" y="4892040"/>
            <a:ext cx="457200" cy="457200"/>
          </a:xfrm>
          <a:prstGeom prst="roundRect">
            <a:avLst>
              <a:gd name="adj" fmla="val 50000"/>
            </a:avLst>
          </a:prstGeom>
          <a:solidFill>
            <a:srgbClr val="00CFF0"/>
          </a:solidFill>
          <a:ln w="3175">
            <a:solidFill>
              <a:srgbClr val="00CFF0"/>
            </a:solidFill>
            <a:prstDash val="solid"/>
          </a:ln>
        </p:spPr>
      </p:sp>
      <p:sp>
        <p:nvSpPr>
          <p:cNvPr id="16" name="pill label"/>
          <p:cNvSpPr txBox="1"/>
          <p:nvPr/>
        </p:nvSpPr>
        <p:spPr>
          <a:xfrm>
            <a:off x="777240" y="4892040"/>
            <a:ext cx="457200" cy="457200"/>
          </a:xfrm>
          <a:prstGeom prst="rect">
            <a:avLst/>
          </a:prstGeom>
          <a:noFill/>
          <a:ln/>
        </p:spPr>
        <p:txBody>
          <a:bodyPr wrap="square" lIns="0" tIns="0" rIns="0" bIns="0" rtlCol="0" anchor="ctr"/>
          <a:lstStyle/>
          <a:p>
            <a:pPr algn="ctr" indent="0" marL="0">
              <a:buNone/>
            </a:pPr>
            <a:r>
              <a:rPr lang="en-US" sz="1500" b="1" dirty="0">
                <a:solidFill>
                  <a:srgbClr val="00274A"/>
                </a:solidFill>
              </a:rPr>
              <a:t>3</a:t>
            </a:r>
            <a:endParaRPr lang="en-US" sz="1500" dirty="0"/>
          </a:p>
        </p:txBody>
      </p:sp>
      <p:sp>
        <p:nvSpPr>
          <p:cNvPr id="17" name="text"/>
          <p:cNvSpPr txBox="1"/>
          <p:nvPr/>
        </p:nvSpPr>
        <p:spPr>
          <a:xfrm>
            <a:off x="1463040" y="4800600"/>
            <a:ext cx="7086600" cy="411480"/>
          </a:xfrm>
          <a:prstGeom prst="rect">
            <a:avLst/>
          </a:prstGeom>
          <a:noFill/>
          <a:ln/>
        </p:spPr>
        <p:txBody>
          <a:bodyPr wrap="square" lIns="0" tIns="0" rIns="0" bIns="0" rtlCol="0" anchor="ctr"/>
          <a:lstStyle/>
          <a:p>
            <a:pPr algn="l" indent="0" marL="0">
              <a:buNone/>
            </a:pPr>
            <a:r>
              <a:rPr lang="en-US" sz="1500" b="1" dirty="0">
                <a:solidFill>
                  <a:srgbClr val="00274A"/>
                </a:solidFill>
              </a:rPr>
              <a:t>Keunggulan kompetitif lahir dari control, bukan planning semata</a:t>
            </a:r>
            <a:endParaRPr lang="en-US" sz="1500" dirty="0"/>
          </a:p>
        </p:txBody>
      </p:sp>
      <p:sp>
        <p:nvSpPr>
          <p:cNvPr id="18" name="text"/>
          <p:cNvSpPr txBox="1"/>
          <p:nvPr/>
        </p:nvSpPr>
        <p:spPr>
          <a:xfrm>
            <a:off x="1463040" y="5239512"/>
            <a:ext cx="7086600" cy="822960"/>
          </a:xfrm>
          <a:prstGeom prst="rect">
            <a:avLst/>
          </a:prstGeom>
          <a:noFill/>
          <a:ln/>
        </p:spPr>
        <p:txBody>
          <a:bodyPr wrap="square" lIns="0" tIns="0" rIns="0" bIns="0" rtlCol="0" anchor="t"/>
          <a:lstStyle/>
          <a:p>
            <a:pPr algn="l" indent="0" marL="0">
              <a:buNone/>
            </a:pPr>
            <a:r>
              <a:rPr lang="en-US" sz="1200" dirty="0">
                <a:solidFill>
                  <a:srgbClr val="00274A"/>
                </a:solidFill>
              </a:rPr>
              <a:t>Kemampuan penyesuaian menit terakhir bernilai US$18 juta per tahun; namun integrasi sistem menuntut ketahanan, dan dua </a:t>
            </a:r>
            <a:r>
              <a:rPr lang="en-US" sz="1200" i="1" dirty="0">
                <a:solidFill>
                  <a:srgbClr val="00274A"/>
                </a:solidFill>
              </a:rPr>
              <a:t>outage</a:t>
            </a:r>
            <a:r>
              <a:rPr lang="en-US" sz="1200" dirty="0">
                <a:solidFill>
                  <a:srgbClr val="00274A"/>
                </a:solidFill>
              </a:rPr>
              <a:t> 2025 adalah peringatan bahwa kelemahan ERP bersifat nyata.</a:t>
            </a:r>
            <a:endParaRPr lang="en-US" sz="1200" dirty="0"/>
          </a:p>
        </p:txBody>
      </p:sp>
      <p:sp>
        <p:nvSpPr>
          <p:cNvPr id="19" name="card"/>
          <p:cNvSpPr/>
          <p:nvPr/>
        </p:nvSpPr>
        <p:spPr>
          <a:xfrm>
            <a:off x="9006840" y="1325880"/>
            <a:ext cx="2636215" cy="4910328"/>
          </a:xfrm>
          <a:prstGeom prst="roundRect">
            <a:avLst>
              <a:gd name="adj" fmla="val 4856"/>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pic>
        <p:nvPicPr>
          <p:cNvPr id="20" name="ilustrasi teknisi" descr="/tmp/claude-0/-home-user-Dom-Manipulation/385e5267-c23e-5c04-80f5-d5fb4946a902/scratchpad/build/img/sticker_mechanic.png">    </p:cNvPr>
          <p:cNvPicPr>
            <a:picLocks noChangeAspect="1"/>
          </p:cNvPicPr>
          <p:nvPr/>
        </p:nvPicPr>
        <p:blipFill>
          <a:blip r:embed="rId1"/>
          <a:srcRect l="0" r="0" t="0" b="0"/>
          <a:stretch/>
        </p:blipFill>
        <p:spPr>
          <a:xfrm>
            <a:off x="9189720" y="1600200"/>
            <a:ext cx="2270455" cy="2270455"/>
          </a:xfrm>
          <a:prstGeom prst="rect">
            <a:avLst/>
          </a:prstGeom>
        </p:spPr>
      </p:pic>
      <p:sp>
        <p:nvSpPr>
          <p:cNvPr id="21" name="text"/>
          <p:cNvSpPr txBox="1"/>
          <p:nvPr/>
        </p:nvSpPr>
        <p:spPr>
          <a:xfrm>
            <a:off x="9189720" y="4434840"/>
            <a:ext cx="2270455" cy="1554480"/>
          </a:xfrm>
          <a:prstGeom prst="rect">
            <a:avLst/>
          </a:prstGeom>
          <a:noFill/>
          <a:ln/>
        </p:spPr>
        <p:txBody>
          <a:bodyPr wrap="square" lIns="0" tIns="0" rIns="0" bIns="0" rtlCol="0" anchor="ctr"/>
          <a:lstStyle/>
          <a:p>
            <a:pPr algn="ctr" indent="0" marL="0">
              <a:buNone/>
            </a:pPr>
            <a:r>
              <a:rPr lang="en-US" sz="1300" b="1" i="1" dirty="0">
                <a:solidFill>
                  <a:srgbClr val="01426A"/>
                </a:solidFill>
              </a:rPr>
              <a:t>Planning menyediakan rencana yang layak; control menjaganya tetap berjalan.</a:t>
            </a:r>
            <a:endParaRPr lang="en-US" sz="1300" dirty="0"/>
          </a:p>
        </p:txBody>
      </p:sp>
      <p:sp>
        <p:nvSpPr>
          <p:cNvPr id="25" name="Slide Number Placeholder 0"/>
          <p:cNvSpPr>
            <a:spLocks noGrp="1"/>
          </p:cNvSpPr>
          <p:nvPr>
            <p:ph type="sldNum" sz="quarter" idx="4294967295"/>
          </p:nvPr>
        </p:nvSpPr>
        <p:spPr>
          <a:xfrm>
            <a:off x="11064240" y="6428232"/>
            <a:ext cx="576072"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01426A"/>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3"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000" b="1" dirty="0">
                <a:solidFill>
                  <a:srgbClr val="00274A"/>
                </a:solidFill>
              </a:rPr>
              <a:t>Referensi</a:t>
            </a:r>
            <a:endParaRPr lang="en-US" sz="3000" dirty="0"/>
          </a:p>
        </p:txBody>
      </p:sp>
      <p:sp>
        <p:nvSpPr>
          <p:cNvPr id="4" name="card"/>
          <p:cNvSpPr/>
          <p:nvPr/>
        </p:nvSpPr>
        <p:spPr>
          <a:xfrm>
            <a:off x="548640" y="1325880"/>
            <a:ext cx="11094415" cy="4910328"/>
          </a:xfrm>
          <a:prstGeom prst="roundRect">
            <a:avLst>
              <a:gd name="adj" fmla="val 2607"/>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sp>
        <p:nvSpPr>
          <p:cNvPr id="5" name="bullets"/>
          <p:cNvSpPr txBox="1"/>
          <p:nvPr/>
        </p:nvSpPr>
        <p:spPr>
          <a:xfrm>
            <a:off x="822960" y="1554480"/>
            <a:ext cx="5135728" cy="4572000"/>
          </a:xfrm>
          <a:prstGeom prst="rect">
            <a:avLst/>
          </a:prstGeom>
          <a:noFill/>
          <a:ln/>
        </p:spPr>
        <p:txBody>
          <a:bodyPr wrap="square" lIns="0" tIns="0" rIns="0" bIns="0" rtlCol="0" anchor="t"/>
          <a:lstStyle/>
          <a:p>
            <a:pPr marL="342900" indent="-342900">
              <a:spcAft>
                <a:spcPts val="800"/>
              </a:spcAft>
              <a:buSzPct val="100000"/>
              <a:buChar char="•"/>
            </a:pPr>
            <a:r>
              <a:rPr lang="en-US" sz="1150" dirty="0">
                <a:solidFill>
                  <a:srgbClr val="00274A"/>
                </a:solidFill>
              </a:rPr>
              <a:t>Slack, N., Brandon-Jones, A., &amp; Burgess, N. (2022). </a:t>
            </a:r>
            <a:r>
              <a:rPr lang="en-US" sz="1150" i="1" dirty="0">
                <a:solidFill>
                  <a:srgbClr val="00274A"/>
                </a:solidFill>
              </a:rPr>
              <a:t>Operations management</a:t>
            </a:r>
            <a:r>
              <a:rPr lang="en-US" sz="1150" dirty="0">
                <a:solidFill>
                  <a:srgbClr val="00274A"/>
                </a:solidFill>
              </a:rPr>
              <a:t> (10th ed.). Pearson Education. (Bab 10 Planning and control; Bab 14 Planning and control systems/ERP; Suplemen MRP.)</a:t>
            </a:r>
            <a:endParaRPr lang="en-US" sz="1150" dirty="0"/>
          </a:p>
          <a:p>
            <a:pPr marL="342900" indent="-342900">
              <a:spcAft>
                <a:spcPts val="800"/>
              </a:spcAft>
              <a:buSzPct val="100000"/>
              <a:buChar char="•"/>
            </a:pPr>
            <a:r>
              <a:rPr lang="en-US" sz="1150" dirty="0">
                <a:solidFill>
                  <a:srgbClr val="00274A"/>
                </a:solidFill>
              </a:rPr>
              <a:t>Heizer, J., Render, B., &amp; Munson, C. (2017). </a:t>
            </a:r>
            <a:r>
              <a:rPr lang="en-US" sz="1150" i="1" dirty="0">
                <a:solidFill>
                  <a:srgbClr val="00274A"/>
                </a:solidFill>
              </a:rPr>
              <a:t>Operations management: Sustainability and supply chain management</a:t>
            </a:r>
            <a:r>
              <a:rPr lang="en-US" sz="1150" dirty="0">
                <a:solidFill>
                  <a:srgbClr val="00274A"/>
                </a:solidFill>
              </a:rPr>
              <a:t> (12th ed.). Pearson Education. (Bab 14 MRP and ERP; Bab 15 Short-term scheduling, Global Company Profile Alaska Airlines, hlm. 600–602.)</a:t>
            </a:r>
            <a:endParaRPr lang="en-US" sz="1150" dirty="0"/>
          </a:p>
          <a:p>
            <a:pPr marL="342900" indent="-342900">
              <a:spcAft>
                <a:spcPts val="800"/>
              </a:spcAft>
              <a:buSzPct val="100000"/>
              <a:buChar char="•"/>
            </a:pPr>
            <a:r>
              <a:rPr lang="en-US" sz="1150" dirty="0">
                <a:solidFill>
                  <a:srgbClr val="00274A"/>
                </a:solidFill>
              </a:rPr>
              <a:t>Turban, E., Pollard, C., &amp; Wood, G. (2025). </a:t>
            </a:r>
            <a:r>
              <a:rPr lang="en-US" sz="1150" i="1" dirty="0">
                <a:solidFill>
                  <a:srgbClr val="00274A"/>
                </a:solidFill>
              </a:rPr>
              <a:t>Information technology for management</a:t>
            </a:r>
            <a:r>
              <a:rPr lang="en-US" sz="1150" dirty="0">
                <a:solidFill>
                  <a:srgbClr val="00274A"/>
                </a:solidFill>
              </a:rPr>
              <a:t> (13th ed.). John Wiley &amp; Sons.</a:t>
            </a:r>
            <a:endParaRPr lang="en-US" sz="1150" dirty="0"/>
          </a:p>
          <a:p>
            <a:pPr marL="342900" indent="-342900">
              <a:spcAft>
                <a:spcPts val="800"/>
              </a:spcAft>
              <a:buSzPct val="100000"/>
              <a:buChar char="•"/>
            </a:pPr>
            <a:r>
              <a:rPr lang="en-US" sz="1150" dirty="0">
                <a:solidFill>
                  <a:srgbClr val="00274A"/>
                </a:solidFill>
              </a:rPr>
              <a:t>Alaska Airlines. (2026, 16 April). </a:t>
            </a:r>
            <a:r>
              <a:rPr lang="en-US" sz="1150" i="1" dirty="0">
                <a:solidFill>
                  <a:srgbClr val="00274A"/>
                </a:solidFill>
              </a:rPr>
              <a:t>Alaska Airlines and Tailsight launch AI-powered maintenance planning solution</a:t>
            </a:r>
            <a:r>
              <a:rPr lang="en-US" sz="1150" dirty="0">
                <a:solidFill>
                  <a:srgbClr val="00274A"/>
                </a:solidFill>
              </a:rPr>
              <a:t>. news.alaskaair.com.</a:t>
            </a:r>
            <a:endParaRPr lang="en-US" sz="1150" dirty="0"/>
          </a:p>
          <a:p>
            <a:pPr marL="342900" indent="-342900">
              <a:spcAft>
                <a:spcPts val="800"/>
              </a:spcAft>
              <a:buSzPct val="100000"/>
              <a:buChar char="•"/>
            </a:pPr>
            <a:r>
              <a:rPr lang="en-US" sz="1150" dirty="0">
                <a:solidFill>
                  <a:srgbClr val="00274A"/>
                </a:solidFill>
              </a:rPr>
              <a:t>Alaska Airlines. (2025, 29 Oktober). </a:t>
            </a:r>
            <a:r>
              <a:rPr lang="en-US" sz="1150" i="1" dirty="0">
                <a:solidFill>
                  <a:srgbClr val="00274A"/>
                </a:solidFill>
              </a:rPr>
              <a:t>Alaska Airlines and Hawaiian Airlines reach major integration milestone: A single operating certificate</a:t>
            </a:r>
            <a:r>
              <a:rPr lang="en-US" sz="1150" dirty="0">
                <a:solidFill>
                  <a:srgbClr val="00274A"/>
                </a:solidFill>
              </a:rPr>
              <a:t>. news.alaskaair.com.</a:t>
            </a:r>
            <a:endParaRPr lang="en-US" sz="1150" dirty="0"/>
          </a:p>
          <a:p>
            <a:pPr marL="342900" indent="-342900">
              <a:spcAft>
                <a:spcPts val="800"/>
              </a:spcAft>
              <a:buSzPct val="100000"/>
              <a:buChar char="•"/>
            </a:pPr>
            <a:r>
              <a:rPr lang="en-US" sz="1150" dirty="0">
                <a:solidFill>
                  <a:srgbClr val="00274A"/>
                </a:solidFill>
              </a:rPr>
              <a:t>Alaska Air Group. (t.t.). </a:t>
            </a:r>
            <a:r>
              <a:rPr lang="en-US" sz="1150" i="1" dirty="0">
                <a:solidFill>
                  <a:srgbClr val="00274A"/>
                </a:solidFill>
              </a:rPr>
              <a:t>Alaska Air Group fact sheet</a:t>
            </a:r>
            <a:r>
              <a:rPr lang="en-US" sz="1150" dirty="0">
                <a:solidFill>
                  <a:srgbClr val="00274A"/>
                </a:solidFill>
              </a:rPr>
              <a:t>. news.alaskaair.com.</a:t>
            </a:r>
            <a:endParaRPr lang="en-US" sz="1150" dirty="0"/>
          </a:p>
          <a:p>
            <a:pPr marL="342900" indent="-342900">
              <a:spcAft>
                <a:spcPts val="800"/>
              </a:spcAft>
              <a:buSzPct val="100000"/>
              <a:buChar char="•"/>
            </a:pPr>
            <a:r>
              <a:rPr lang="en-US" sz="1150" dirty="0">
                <a:solidFill>
                  <a:srgbClr val="00274A"/>
                </a:solidFill>
              </a:rPr>
              <a:t>Cirium. (2025, Januari). </a:t>
            </a:r>
            <a:r>
              <a:rPr lang="en-US" sz="1150" i="1" dirty="0">
                <a:solidFill>
                  <a:srgbClr val="00274A"/>
                </a:solidFill>
              </a:rPr>
              <a:t>2024 On-Time Performance Review</a:t>
            </a:r>
            <a:r>
              <a:rPr lang="en-US" sz="1150" dirty="0">
                <a:solidFill>
                  <a:srgbClr val="00274A"/>
                </a:solidFill>
              </a:rPr>
              <a:t> (dikutip dalam Fox Business, "Delta, United, Alaska tops in North America for on-time performance").</a:t>
            </a:r>
            <a:endParaRPr lang="en-US" sz="1150" dirty="0"/>
          </a:p>
        </p:txBody>
      </p:sp>
      <p:sp>
        <p:nvSpPr>
          <p:cNvPr id="6" name="bullets"/>
          <p:cNvSpPr txBox="1"/>
          <p:nvPr/>
        </p:nvSpPr>
        <p:spPr>
          <a:xfrm>
            <a:off x="6233008" y="1554480"/>
            <a:ext cx="5135728" cy="4572000"/>
          </a:xfrm>
          <a:prstGeom prst="rect">
            <a:avLst/>
          </a:prstGeom>
          <a:noFill/>
          <a:ln/>
        </p:spPr>
        <p:txBody>
          <a:bodyPr wrap="square" lIns="0" tIns="0" rIns="0" bIns="0" rtlCol="0" anchor="t"/>
          <a:lstStyle/>
          <a:p>
            <a:pPr marL="342900" indent="-342900">
              <a:spcAft>
                <a:spcPts val="800"/>
              </a:spcAft>
              <a:buSzPct val="100000"/>
              <a:buChar char="•"/>
            </a:pPr>
            <a:r>
              <a:rPr lang="en-US" sz="1150" dirty="0">
                <a:solidFill>
                  <a:srgbClr val="00274A"/>
                </a:solidFill>
              </a:rPr>
              <a:t>GeekWire. (2025, Oktober). </a:t>
            </a:r>
            <a:r>
              <a:rPr lang="en-US" sz="1150" i="1" dirty="0">
                <a:solidFill>
                  <a:srgbClr val="00274A"/>
                </a:solidFill>
              </a:rPr>
              <a:t>After latest outage disrupts 49,000 passengers, Alaska Airlines vows to diagnose "our entire IT infrastructure."</a:t>
            </a:r>
            <a:endParaRPr lang="en-US" sz="1150" dirty="0"/>
          </a:p>
          <a:p>
            <a:pPr marL="342900" indent="-342900">
              <a:spcAft>
                <a:spcPts val="800"/>
              </a:spcAft>
              <a:buSzPct val="100000"/>
              <a:buChar char="•"/>
            </a:pPr>
            <a:r>
              <a:rPr lang="en-US" sz="1150" dirty="0">
                <a:solidFill>
                  <a:srgbClr val="00274A"/>
                </a:solidFill>
              </a:rPr>
              <a:t>CBS News. (2025, 20 Juli). </a:t>
            </a:r>
            <a:r>
              <a:rPr lang="en-US" sz="1150" i="1" dirty="0">
                <a:solidFill>
                  <a:srgbClr val="00274A"/>
                </a:solidFill>
              </a:rPr>
              <a:t>Alaska Airlines requests system-wide ground stop due to IT outage</a:t>
            </a:r>
            <a:r>
              <a:rPr lang="en-US" sz="1150" dirty="0">
                <a:solidFill>
                  <a:srgbClr val="00274A"/>
                </a:solidFill>
              </a:rPr>
              <a:t>.</a:t>
            </a:r>
            <a:endParaRPr lang="en-US" sz="1150" dirty="0"/>
          </a:p>
          <a:p>
            <a:pPr marL="342900" indent="-342900">
              <a:spcAft>
                <a:spcPts val="800"/>
              </a:spcAft>
              <a:buSzPct val="100000"/>
              <a:buChar char="•"/>
            </a:pPr>
            <a:r>
              <a:rPr lang="en-US" sz="1150" dirty="0">
                <a:solidFill>
                  <a:srgbClr val="00274A"/>
                </a:solidFill>
              </a:rPr>
              <a:t>Aviacionline. (2025). </a:t>
            </a:r>
            <a:r>
              <a:rPr lang="en-US" sz="1150" i="1" dirty="0">
                <a:solidFill>
                  <a:srgbClr val="00274A"/>
                </a:solidFill>
              </a:rPr>
              <a:t>Alaska Airlines ends 2024 with $395 million in profit following the integration of Hawaiian Airlines</a:t>
            </a:r>
            <a:r>
              <a:rPr lang="en-US" sz="1150" dirty="0">
                <a:solidFill>
                  <a:srgbClr val="00274A"/>
                </a:solidFill>
              </a:rPr>
              <a:t>.</a:t>
            </a:r>
            <a:endParaRPr lang="en-US" sz="1150" dirty="0"/>
          </a:p>
          <a:p>
            <a:pPr marL="342900" indent="-342900">
              <a:spcAft>
                <a:spcPts val="800"/>
              </a:spcAft>
              <a:buSzPct val="100000"/>
              <a:buChar char="•"/>
            </a:pPr>
            <a:r>
              <a:rPr lang="en-US" sz="1150" dirty="0">
                <a:solidFill>
                  <a:srgbClr val="00274A"/>
                </a:solidFill>
              </a:rPr>
              <a:t>CNBC. (2024, 25 Januari). </a:t>
            </a:r>
            <a:r>
              <a:rPr lang="en-US" sz="1150" i="1" dirty="0">
                <a:solidFill>
                  <a:srgbClr val="00274A"/>
                </a:solidFill>
              </a:rPr>
              <a:t>Alaska Airlines says Boeing 737 Max 9 grounding will cost it $150 million</a:t>
            </a:r>
            <a:r>
              <a:rPr lang="en-US" sz="1150" dirty="0">
                <a:solidFill>
                  <a:srgbClr val="00274A"/>
                </a:solidFill>
              </a:rPr>
              <a:t>.</a:t>
            </a:r>
            <a:endParaRPr lang="en-US" sz="1150" dirty="0"/>
          </a:p>
          <a:p>
            <a:pPr marL="342900" indent="-342900">
              <a:spcAft>
                <a:spcPts val="800"/>
              </a:spcAft>
              <a:buSzPct val="100000"/>
              <a:buChar char="•"/>
            </a:pPr>
            <a:r>
              <a:rPr lang="en-US" sz="1150" dirty="0">
                <a:solidFill>
                  <a:srgbClr val="00274A"/>
                </a:solidFill>
              </a:rPr>
              <a:t>Anchorage Daily News. (2024, 6 Januari). </a:t>
            </a:r>
            <a:r>
              <a:rPr lang="en-US" sz="1150" i="1" dirty="0">
                <a:solidFill>
                  <a:srgbClr val="00274A"/>
                </a:solidFill>
              </a:rPr>
              <a:t>Alaska Airlines cancels more than 90 flights after grounding Boeing Max 9s</a:t>
            </a:r>
            <a:r>
              <a:rPr lang="en-US" sz="1150" dirty="0">
                <a:solidFill>
                  <a:srgbClr val="00274A"/>
                </a:solidFill>
              </a:rPr>
              <a:t>.</a:t>
            </a:r>
            <a:endParaRPr lang="en-US" sz="1150" dirty="0"/>
          </a:p>
          <a:p>
            <a:pPr marL="342900" indent="-342900">
              <a:spcAft>
                <a:spcPts val="800"/>
              </a:spcAft>
              <a:buSzPct val="100000"/>
              <a:buChar char="•"/>
            </a:pPr>
            <a:r>
              <a:rPr lang="en-US" sz="1150" dirty="0">
                <a:solidFill>
                  <a:srgbClr val="00274A"/>
                </a:solidFill>
              </a:rPr>
              <a:t>Alaska Airlines. (t.t.). </a:t>
            </a:r>
            <a:r>
              <a:rPr lang="en-US" sz="1150" i="1" dirty="0">
                <a:solidFill>
                  <a:srgbClr val="00274A"/>
                </a:solidFill>
              </a:rPr>
              <a:t>Auro Design System: design tokens</a:t>
            </a:r>
            <a:r>
              <a:rPr lang="en-US" sz="1150" dirty="0">
                <a:solidFill>
                  <a:srgbClr val="00274A"/>
                </a:solidFill>
              </a:rPr>
              <a:t> (palet warna identitas merek). auro.alaskaair.com.</a:t>
            </a:r>
            <a:endParaRPr lang="en-US" sz="1150" dirty="0"/>
          </a:p>
        </p:txBody>
      </p:sp>
      <p:sp>
        <p:nvSpPr>
          <p:cNvPr id="25" name="Slide Number Placeholder 0"/>
          <p:cNvSpPr>
            <a:spLocks noGrp="1"/>
          </p:cNvSpPr>
          <p:nvPr>
            <p:ph type="sldNum" sz="quarter" idx="4294967295"/>
          </p:nvPr>
        </p:nvSpPr>
        <p:spPr>
          <a:xfrm>
            <a:off x="11064240" y="6428232"/>
            <a:ext cx="576072"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01426A"/>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3" name="text"/>
          <p:cNvSpPr txBox="1"/>
          <p:nvPr/>
        </p:nvSpPr>
        <p:spPr>
          <a:xfrm>
            <a:off x="640080" y="1005840"/>
            <a:ext cx="5943600" cy="914400"/>
          </a:xfrm>
          <a:prstGeom prst="rect">
            <a:avLst/>
          </a:prstGeom>
          <a:noFill/>
          <a:ln/>
        </p:spPr>
        <p:txBody>
          <a:bodyPr wrap="square" lIns="0" tIns="0" rIns="0" bIns="0" rtlCol="0" anchor="t"/>
          <a:lstStyle/>
          <a:p>
            <a:pPr algn="l" indent="0" marL="0">
              <a:buNone/>
            </a:pPr>
            <a:r>
              <a:rPr lang="en-US" sz="4000" b="1" dirty="0">
                <a:solidFill>
                  <a:srgbClr val="FFFFFF"/>
                </a:solidFill>
              </a:rPr>
              <a:t>Terima kasih</a:t>
            </a:r>
            <a:endParaRPr lang="en-US" sz="4000" dirty="0"/>
          </a:p>
        </p:txBody>
      </p:sp>
      <p:sp>
        <p:nvSpPr>
          <p:cNvPr id="4" name="text"/>
          <p:cNvSpPr txBox="1"/>
          <p:nvPr/>
        </p:nvSpPr>
        <p:spPr>
          <a:xfrm>
            <a:off x="640080" y="1920240"/>
            <a:ext cx="6400800" cy="457200"/>
          </a:xfrm>
          <a:prstGeom prst="rect">
            <a:avLst/>
          </a:prstGeom>
          <a:noFill/>
          <a:ln/>
        </p:spPr>
        <p:txBody>
          <a:bodyPr wrap="square" lIns="0" tIns="0" rIns="0" bIns="0" rtlCol="0" anchor="t"/>
          <a:lstStyle/>
          <a:p>
            <a:pPr algn="l" indent="0" marL="0">
              <a:buNone/>
            </a:pPr>
            <a:r>
              <a:rPr lang="en-US" sz="1400" b="1" dirty="0">
                <a:solidFill>
                  <a:srgbClr val="00CFF0"/>
                </a:solidFill>
              </a:rPr>
              <a:t>Planning and Control  ·  MRP dan ERP  ·  Sequencing and Scheduling  ·  Studi Kasus Alaska Airlines</a:t>
            </a:r>
            <a:endParaRPr lang="en-US" sz="1400" dirty="0"/>
          </a:p>
        </p:txBody>
      </p:sp>
      <p:sp>
        <p:nvSpPr>
          <p:cNvPr id="5" name="card"/>
          <p:cNvSpPr/>
          <p:nvPr/>
        </p:nvSpPr>
        <p:spPr>
          <a:xfrm>
            <a:off x="640080" y="2743200"/>
            <a:ext cx="6949440" cy="3291840"/>
          </a:xfrm>
          <a:prstGeom prst="roundRect">
            <a:avLst>
              <a:gd name="adj" fmla="val 3889"/>
            </a:avLst>
          </a:prstGeom>
          <a:solidFill>
            <a:srgbClr val="01426A"/>
          </a:solidFill>
          <a:ln w="3175">
            <a:solidFill>
              <a:srgbClr val="01426A"/>
            </a:solidFill>
            <a:prstDash val="solid"/>
          </a:ln>
        </p:spPr>
      </p:sp>
      <p:sp>
        <p:nvSpPr>
          <p:cNvPr id="6" name="icon circle"/>
          <p:cNvSpPr/>
          <p:nvPr/>
        </p:nvSpPr>
        <p:spPr>
          <a:xfrm>
            <a:off x="914400" y="3017520"/>
            <a:ext cx="548640" cy="548640"/>
          </a:xfrm>
          <a:prstGeom prst="ellipse">
            <a:avLst/>
          </a:prstGeom>
          <a:solidFill>
            <a:srgbClr val="00CFF0"/>
          </a:solidFill>
          <a:ln w="3175">
            <a:solidFill>
              <a:srgbClr val="00CFF0"/>
            </a:solidFill>
            <a:prstDash val="solid"/>
          </a:ln>
        </p:spPr>
      </p:sp>
      <p:pic>
        <p:nvPicPr>
          <p:cNvPr id="7" name="icon FaQuestionCircle" descr="preencoded.png">    </p:cNvPr>
          <p:cNvPicPr>
            <a:picLocks noChangeAspect="1"/>
          </p:cNvPicPr>
          <p:nvPr/>
        </p:nvPicPr>
        <p:blipFill>
          <a:blip r:embed="rId1"/>
          <a:stretch>
            <a:fillRect/>
          </a:stretch>
        </p:blipFill>
        <p:spPr>
          <a:xfrm>
            <a:off x="1051560" y="3154680"/>
            <a:ext cx="274320" cy="274320"/>
          </a:xfrm>
          <a:prstGeom prst="rect">
            <a:avLst/>
          </a:prstGeom>
        </p:spPr>
      </p:pic>
      <p:sp>
        <p:nvSpPr>
          <p:cNvPr id="8" name="text"/>
          <p:cNvSpPr txBox="1"/>
          <p:nvPr/>
        </p:nvSpPr>
        <p:spPr>
          <a:xfrm>
            <a:off x="1645920" y="3017520"/>
            <a:ext cx="5486400" cy="548640"/>
          </a:xfrm>
          <a:prstGeom prst="rect">
            <a:avLst/>
          </a:prstGeom>
          <a:noFill/>
          <a:ln/>
        </p:spPr>
        <p:txBody>
          <a:bodyPr wrap="square" lIns="0" tIns="0" rIns="0" bIns="0" rtlCol="0" anchor="ctr"/>
          <a:lstStyle/>
          <a:p>
            <a:pPr algn="l" indent="0" marL="0">
              <a:buNone/>
            </a:pPr>
            <a:r>
              <a:rPr lang="en-US" sz="1700" b="1" dirty="0">
                <a:solidFill>
                  <a:srgbClr val="FFFFFF"/>
                </a:solidFill>
              </a:rPr>
              <a:t>Pertanyaan untuk diskusi</a:t>
            </a:r>
            <a:endParaRPr lang="en-US" sz="1700" dirty="0"/>
          </a:p>
        </p:txBody>
      </p:sp>
      <p:sp>
        <p:nvSpPr>
          <p:cNvPr id="9" name="bullets"/>
          <p:cNvSpPr txBox="1"/>
          <p:nvPr/>
        </p:nvSpPr>
        <p:spPr>
          <a:xfrm>
            <a:off x="914400" y="3703320"/>
            <a:ext cx="6400800" cy="2194560"/>
          </a:xfrm>
          <a:prstGeom prst="rect">
            <a:avLst/>
          </a:prstGeom>
          <a:noFill/>
          <a:ln/>
        </p:spPr>
        <p:txBody>
          <a:bodyPr wrap="square" lIns="0" tIns="0" rIns="0" bIns="0" rtlCol="0" anchor="t"/>
          <a:lstStyle/>
          <a:p>
            <a:pPr marL="342900" indent="-342900">
              <a:spcAft>
                <a:spcPts val="800"/>
              </a:spcAft>
              <a:buSzPct val="100000"/>
              <a:buFont typeface="+mj-lt"/>
              <a:buAutoNum type="arabicPeriod" startAt="1"/>
            </a:pPr>
            <a:r>
              <a:rPr lang="en-US" sz="1300" dirty="0">
                <a:solidFill>
                  <a:srgbClr val="FFFFFF"/>
                </a:solidFill>
              </a:rPr>
              <a:t>Sebagai manajer operasi Alaska, aturan prioritas mana yang Anda pilih untuk antrean hangar ketika 65 pesawat harus diinspeksi serentak, dan kriteria apa yang Anda korbankan?</a:t>
            </a:r>
            <a:endParaRPr lang="en-US" sz="1300" dirty="0"/>
          </a:p>
          <a:p>
            <a:pPr marL="342900" indent="-342900">
              <a:spcAft>
                <a:spcPts val="800"/>
              </a:spcAft>
              <a:buSzPct val="100000"/>
              <a:buFont typeface="+mj-lt"/>
              <a:buAutoNum type="arabicPeriod" startAt="1"/>
            </a:pPr>
            <a:r>
              <a:rPr lang="en-US" sz="1300" dirty="0">
                <a:solidFill>
                  <a:srgbClr val="FFFFFF"/>
                </a:solidFill>
              </a:rPr>
              <a:t>Sejauh mana manfaat integrasi data ala ERP masih sepadan dengan risiko kegagalan tunggal yang ditunjukkan oleh dua </a:t>
            </a:r>
            <a:r>
              <a:rPr lang="en-US" sz="1300" i="1" dirty="0">
                <a:solidFill>
                  <a:srgbClr val="FFFFFF"/>
                </a:solidFill>
              </a:rPr>
              <a:t>outage</a:t>
            </a:r>
            <a:r>
              <a:rPr lang="en-US" sz="1300" dirty="0">
                <a:solidFill>
                  <a:srgbClr val="FFFFFF"/>
                </a:solidFill>
              </a:rPr>
              <a:t> pada 2025? Apa batas integrasi yang wajar?</a:t>
            </a:r>
            <a:endParaRPr lang="en-US" sz="1300" dirty="0"/>
          </a:p>
        </p:txBody>
      </p:sp>
      <p:sp>
        <p:nvSpPr>
          <p:cNvPr id="10" name="card"/>
          <p:cNvSpPr/>
          <p:nvPr/>
        </p:nvSpPr>
        <p:spPr>
          <a:xfrm>
            <a:off x="8138160" y="1371600"/>
            <a:ext cx="3657600" cy="3657600"/>
          </a:xfrm>
          <a:prstGeom prst="roundRect">
            <a:avLst>
              <a:gd name="adj" fmla="val 7500"/>
            </a:avLst>
          </a:prstGeom>
          <a:solidFill>
            <a:srgbClr val="FFFFFF"/>
          </a:solidFill>
          <a:ln w="3175">
            <a:solidFill>
              <a:srgbClr val="FFFFFF"/>
            </a:solidFill>
            <a:prstDash val="solid"/>
          </a:ln>
          <a:effectLst>
            <a:outerShdw sx="100000" sy="100000" kx="0" ky="0" algn="bl" rotWithShape="0" blurRad="76200" dist="25400" dir="5400000">
              <a:srgbClr val="01426A">
                <a:alpha val="13000"/>
              </a:srgbClr>
            </a:outerShdw>
          </a:effectLst>
        </p:spPr>
      </p:sp>
      <p:pic>
        <p:nvPicPr>
          <p:cNvPr id="11" name="ilustrasi pilot" descr="/tmp/claude-0/-home-user-Dom-Manipulation/385e5267-c23e-5c04-80f5-d5fb4946a902/scratchpad/build/img/sticker_pilot.png">    </p:cNvPr>
          <p:cNvPicPr>
            <a:picLocks noChangeAspect="1"/>
          </p:cNvPicPr>
          <p:nvPr/>
        </p:nvPicPr>
        <p:blipFill>
          <a:blip r:embed="rId2"/>
          <a:srcRect l="0" r="0" t="0" b="0"/>
          <a:stretch/>
        </p:blipFill>
        <p:spPr>
          <a:xfrm>
            <a:off x="8366760" y="1600200"/>
            <a:ext cx="3200400" cy="3200400"/>
          </a:xfrm>
          <a:prstGeom prst="rect">
            <a:avLst/>
          </a:prstGeom>
        </p:spPr>
      </p:pic>
      <p:sp>
        <p:nvSpPr>
          <p:cNvPr id="12" name="text"/>
          <p:cNvSpPr txBox="1"/>
          <p:nvPr/>
        </p:nvSpPr>
        <p:spPr>
          <a:xfrm>
            <a:off x="640080" y="6263640"/>
            <a:ext cx="7315200" cy="365760"/>
          </a:xfrm>
          <a:prstGeom prst="rect">
            <a:avLst/>
          </a:prstGeom>
          <a:noFill/>
          <a:ln/>
        </p:spPr>
        <p:txBody>
          <a:bodyPr wrap="square" lIns="0" tIns="0" rIns="0" bIns="0" rtlCol="0" anchor="t"/>
          <a:lstStyle/>
          <a:p>
            <a:pPr algn="l" indent="0" marL="0">
              <a:buNone/>
            </a:pPr>
            <a:r>
              <a:rPr lang="en-US" sz="1100" dirty="0">
                <a:solidFill>
                  <a:srgbClr val="C1DAF0"/>
                </a:solidFill>
              </a:rPr>
              <a:t>Dosen Pengampu: Prof. Nur Aini Masruroh, S.T., M.Sc., Ph.D.</a:t>
            </a:r>
            <a:endParaRPr lang="en-US" sz="1100" dirty="0"/>
          </a:p>
        </p:txBody>
      </p:sp>
    </p:spTree>
  </p:cSld>
  <p:clrMapOvr>
    <a:masterClrMapping/>
  </p:clrMapOvr>
</p:sld>
</file>

<file path=ppt/theme/theme1.xml><?xml version="1.0" encoding="utf-8"?>
<a:theme xmlns:a="http://schemas.openxmlformats.org/drawingml/2006/main" name="Alaska Planning Control">
  <a:themeElements>
    <a:clrScheme name="Alaska Planning Control">
      <a:dk1>
        <a:srgbClr val="00274A"/>
      </a:dk1>
      <a:lt1>
        <a:srgbClr val="FFFFFF"/>
      </a:lt1>
      <a:dk2>
        <a:srgbClr val="01426A"/>
      </a:dk2>
      <a:lt2>
        <a:srgbClr val="CDE6FF"/>
      </a:lt2>
      <a:accent1>
        <a:srgbClr val="0074C8"/>
      </a:accent1>
      <a:accent2>
        <a:srgbClr val="00CFF0"/>
      </a:accent2>
      <a:accent3>
        <a:srgbClr val="91BE62"/>
      </a:accent3>
      <a:accent4>
        <a:srgbClr val="51AE8C"/>
      </a:accent4>
      <a:accent5>
        <a:srgbClr val="F26135"/>
      </a:accent5>
      <a:accent6>
        <a:srgbClr val="099DC5"/>
      </a:accent6>
      <a:hlink>
        <a:srgbClr val="0074C8"/>
      </a:hlink>
      <a:folHlink>
        <a:srgbClr val="2C67B5"/>
      </a:folHlink>
    </a:clrScheme>
    <a:fontScheme name="Alaska Planning Control">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Planning and Control: MRP, ERP, Sequencing and Scheduling — Studi Kasus Alaska Airlines</dc:title>
  <dc:subject>PptxGenJS Presentation</dc:subject>
  <dc:creator>Operations &amp; Technology Management</dc:creator>
  <cp:lastModifiedBy>Operations &amp; Technology Management</cp:lastModifiedBy>
  <cp:revision>1</cp:revision>
  <dcterms:created xsi:type="dcterms:W3CDTF">2026-10-26T09:18:04Z</dcterms:created>
  <dcterms:modified xsi:type="dcterms:W3CDTF">2026-10-26T09:18:04Z</dcterms:modified>
</cp:coreProperties>
</file>