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d9d24d63-ed77-92f4-b24b-4fb6be0ebef8}">
          <p14:sldIdLst>
            <p14:sldId id="256"/>
            <p14:sldId id="257"/>
          </p14:sldIdLst>
        </p14:section>
        <p14:section name="Profil" id="{34313629-308b-7f0a-f7fe-50818f7eae24}">
          <p14:sldIdLst>
            <p14:sldId id="258"/>
            <p14:sldId id="259"/>
            <p14:sldId id="260"/>
          </p14:sldIdLst>
        </p14:section>
        <p14:section name="MRP dan ERP" id="{1f796602-bb97-c57a-850c-9751e1b2fba4}">
          <p14:sldIdLst>
            <p14:sldId id="261"/>
            <p14:sldId id="262"/>
            <p14:sldId id="263"/>
            <p14:sldId id="264"/>
            <p14:sldId id="265"/>
            <p14:sldId id="266"/>
          </p14:sldIdLst>
        </p14:section>
        <p14:section name="Sequencing and Scheduling" id="{661cc952-a2f2-4fec-015c-67c5f0f75832}">
          <p14:sldIdLst>
            <p14:sldId id="267"/>
            <p14:sldId id="268"/>
            <p14:sldId id="269"/>
            <p14:sldId id="270"/>
            <p14:sldId id="271"/>
            <p14:sldId id="272"/>
          </p14:sldIdLst>
        </p14:section>
        <p14:section name="Penutup" id="{8ba66c0d-b5f8-88cd-1dee-2857653028e8}">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E1616"/>
                </a:solidFill>
                <a:latin typeface="+mn-lt"/>
              </a:defRPr>
            </a:pPr>
            <a:r>
              <a:rPr sz="1200" b="0" i="0" u="none" strike="noStrike">
                <a:solidFill>
                  <a:srgbClr val="2E1616"/>
                </a:solidFill>
                <a:latin typeface="+mn-lt"/>
              </a:rPr>
              <a:t>Ketepatan waktu kedatangan 2024 (%), lima besar Amerika Utara</a:t>
            </a:r>
          </a:p>
        </c:rich>
      </c:tx>
      <c:layout/>
      <c:overlay val="0"/>
    </c:title>
    <c:autoTitleDeleted val="0"/>
    <c:plotArea>
      <c:layout/>
      <c:barChart>
        <c:barDir val="bar"/>
        <c:grouping val="clustered"/>
        <c:varyColors val="0"/>
        <c:ser>
          <c:idx val="0"/>
          <c:order val="0"/>
          <c:tx>
            <c:strRef>
              <c:f>Sheet1!$B$1</c:f>
              <c:strCache>
                <c:ptCount val="1"/>
                <c:pt idx="0">
                  <c:v>Ketepatan waktu kedatangan 2024 (%)</c:v>
                </c:pt>
              </c:strCache>
            </c:strRef>
          </c:tx>
          <c:spPr>
            <a:solidFill>
              <a:srgbClr val="8FC3F5"/>
            </a:solidFill>
            <a:effectLst/>
          </c:spPr>
          <c:invertIfNegative val="0"/>
          <c:dLbls>
            <c:numFmt formatCode="0.00" sourceLinked="0"/>
            <c:txPr>
              <a:bodyPr/>
              <a:lstStyle/>
              <a:p>
                <a:pPr>
                  <a:defRPr b="0" i="0" strike="noStrike" sz="1100" u="none">
                    <a:solidFill>
                      <a:srgbClr val="2E1616"/>
                    </a:solidFill>
                    <a:latin typeface="+mn-lt"/>
                  </a:defRPr>
                </a:pPr>
              </a:p>
            </c:txPr>
            <c:showLegendKey val="0"/>
            <c:showVal val="1"/>
            <c:showCatName val="0"/>
            <c:showSerName val="0"/>
            <c:showPercent val="0"/>
            <c:showBubbleSize val="0"/>
            <c:showLeaderLines val="0"/>
          </c:dLbls>
          <c:dPt>
            <c:idx val="0"/>
            <c:invertIfNegative val="0"/>
            <c:bubble3D val="0"/>
            <c:spPr>
              <a:solidFill>
                <a:srgbClr val="8FC3F5"/>
              </a:solidFill>
              <a:effectLst/>
            </c:spPr>
          </c:dPt>
          <c:dPt>
            <c:idx val="1"/>
            <c:invertIfNegative val="0"/>
            <c:bubble3D val="0"/>
            <c:spPr>
              <a:solidFill>
                <a:srgbClr val="8FC3F5"/>
              </a:solidFill>
              <a:effectLst/>
            </c:spPr>
          </c:dPt>
          <c:dPt>
            <c:idx val="2"/>
            <c:invertIfNegative val="0"/>
            <c:bubble3D val="0"/>
            <c:spPr>
              <a:solidFill>
                <a:srgbClr val="3B8BE0"/>
              </a:solidFill>
              <a:effectLst/>
            </c:spPr>
          </c:dPt>
          <c:dPt>
            <c:idx val="3"/>
            <c:invertIfNegative val="0"/>
            <c:bubble3D val="0"/>
            <c:spPr>
              <a:solidFill>
                <a:srgbClr val="8FC3F5"/>
              </a:solidFill>
              <a:effectLst/>
            </c:spPr>
          </c:dPt>
          <c:dPt>
            <c:idx val="4"/>
            <c:invertIfNegative val="0"/>
            <c:bubble3D val="0"/>
            <c:spPr>
              <a:solidFill>
                <a:srgbClr val="8FC3F5"/>
              </a:solidFill>
              <a:effectLst/>
            </c:spPr>
          </c:dPt>
          <c:cat>
            <c:multiLvlStrRef>
              <c:f>Sheet1!$A$2:$A$6</c:f>
              <c:multiLvlStrCache>
                <c:ptCount val="5"/>
                <c:lvl>
                  <c:pt idx="0">
                    <c:v>Delta</c:v>
                  </c:pt>
                  <c:pt idx="1">
                    <c:v>United</c:v>
                  </c:pt>
                  <c:pt idx="2">
                    <c:v>Alaska</c:v>
                  </c:pt>
                  <c:pt idx="3">
                    <c:v>American</c:v>
                  </c:pt>
                  <c:pt idx="4">
                    <c:v>Southwest</c:v>
                  </c:pt>
                </c:lvl>
              </c:multiLvlStrCache>
            </c:multiLvlStrRef>
          </c:cat>
          <c:val>
            <c:numRef>
              <c:f>Sheet1!$B$2:$B$6</c:f>
              <c:numCache>
                <c:formatCode>General</c:formatCode>
                <c:ptCount val="5"/>
                <c:pt idx="0">
                  <c:v>83.46</c:v>
                </c:pt>
                <c:pt idx="1">
                  <c:v>80.93</c:v>
                </c:pt>
                <c:pt idx="2">
                  <c:v>79.25</c:v>
                </c:pt>
                <c:pt idx="3">
                  <c:v>77.78</c:v>
                </c:pt>
                <c:pt idx="4">
                  <c:v>77.77</c:v>
                </c:pt>
              </c:numCache>
            </c:numRef>
          </c:val>
        </c:ser>
        <c:dLbls>
          <c:numFmt formatCode="0.00" sourceLinked="0"/>
          <c:txPr>
            <a:bodyPr/>
            <a:lstStyle/>
            <a:p>
              <a:pPr>
                <a:defRPr b="0" i="0" strike="noStrike" sz="1100" u="none">
                  <a:solidFill>
                    <a:srgbClr val="2E1616"/>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2E1616"/>
                </a:solidFill>
                <a:latin typeface="+mn-lt"/>
              </a:defRPr>
            </a:pPr>
            <a:endParaRPr lang="en-US"/>
          </a:p>
        </c:txPr>
        <c:crossAx val="2094734552"/>
        <c:crosses val="autoZero"/>
        <c:auto val="1"/>
        <c:lblAlgn val="ctr"/>
        <c:noMultiLvlLbl val="1"/>
      </c:catAx>
      <c:valAx>
        <c:axId val="2094734552"/>
        <c:scaling>
          <c:orientation val="minMax"/>
          <c:max val="90"/>
          <c:min val="7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E1616"/>
                </a:solidFill>
                <a:latin typeface="+mn-lt"/>
              </a:defRPr>
            </a:pPr>
            <a:r>
              <a:rPr sz="1100" b="0" i="0" u="none" strike="noStrike">
                <a:solidFill>
                  <a:srgbClr val="2E1616"/>
                </a:solidFill>
                <a:latin typeface="+mn-lt"/>
              </a:rPr>
              <a:t>Waktu penyelesaian rata-rata (hari) per aturan</a:t>
            </a:r>
          </a:p>
        </c:rich>
      </c:tx>
      <c:layout/>
      <c:overlay val="0"/>
    </c:title>
    <c:autoTitleDeleted val="0"/>
    <c:plotArea>
      <c:layout/>
      <c:barChart>
        <c:barDir val="col"/>
        <c:grouping val="clustered"/>
        <c:varyColors val="0"/>
        <c:ser>
          <c:idx val="0"/>
          <c:order val="0"/>
          <c:tx>
            <c:strRef>
              <c:f>Sheet1!$B$1</c:f>
              <c:strCache>
                <c:ptCount val="1"/>
                <c:pt idx="0">
                  <c:v>Waktu penyelesaian rata-rata (hari)</c:v>
                </c:pt>
              </c:strCache>
            </c:strRef>
          </c:tx>
          <c:spPr>
            <a:solidFill>
              <a:srgbClr val="8FC3F5"/>
            </a:solidFill>
            <a:effectLst/>
          </c:spPr>
          <c:invertIfNegative val="0"/>
          <c:dLbls>
            <c:numFmt formatCode="0.0" sourceLinked="0"/>
            <c:txPr>
              <a:bodyPr/>
              <a:lstStyle/>
              <a:p>
                <a:pPr>
                  <a:defRPr b="0" i="0" strike="noStrike" sz="1000" u="none">
                    <a:solidFill>
                      <a:srgbClr val="2E1616"/>
                    </a:solidFill>
                    <a:latin typeface="+mn-lt"/>
                  </a:defRPr>
                </a:pPr>
              </a:p>
            </c:txPr>
            <c:showLegendKey val="0"/>
            <c:showVal val="1"/>
            <c:showCatName val="0"/>
            <c:showSerName val="0"/>
            <c:showPercent val="0"/>
            <c:showBubbleSize val="0"/>
            <c:showLeaderLines val="0"/>
          </c:dLbls>
          <c:dPt>
            <c:idx val="0"/>
            <c:invertIfNegative val="0"/>
            <c:bubble3D val="0"/>
            <c:spPr>
              <a:solidFill>
                <a:srgbClr val="8FC3F5"/>
              </a:solidFill>
              <a:effectLst/>
            </c:spPr>
          </c:dPt>
          <c:dPt>
            <c:idx val="1"/>
            <c:invertIfNegative val="0"/>
            <c:bubble3D val="0"/>
            <c:spPr>
              <a:solidFill>
                <a:srgbClr val="3B8BE0"/>
              </a:solidFill>
              <a:effectLst/>
            </c:spPr>
          </c:dPt>
          <c:dPt>
            <c:idx val="2"/>
            <c:invertIfNegative val="0"/>
            <c:bubble3D val="0"/>
            <c:spPr>
              <a:solidFill>
                <a:srgbClr val="8FC3F5"/>
              </a:solidFill>
              <a:effectLst/>
            </c:spPr>
          </c:dPt>
          <c:dPt>
            <c:idx val="3"/>
            <c:invertIfNegative val="0"/>
            <c:bubble3D val="0"/>
            <c:spPr>
              <a:solidFill>
                <a:srgbClr val="E9815E"/>
              </a:solidFill>
              <a:effectLst/>
            </c:spPr>
          </c:dPt>
          <c:cat>
            <c:multiLvlStrRef>
              <c:f>Sheet1!$A$2:$A$5</c:f>
              <c:multiLvlStrCache>
                <c:ptCount val="4"/>
                <c:lvl>
                  <c:pt idx="0">
                    <c:v>FCFS</c:v>
                  </c:pt>
                  <c:pt idx="1">
                    <c:v>SPT</c:v>
                  </c:pt>
                  <c:pt idx="2">
                    <c:v>EDD</c:v>
                  </c:pt>
                  <c:pt idx="3">
                    <c:v>LPT</c:v>
                  </c:pt>
                </c:lvl>
              </c:multiLvlStrCache>
            </c:multiLvlStrRef>
          </c:cat>
          <c:val>
            <c:numRef>
              <c:f>Sheet1!$B$2:$B$5</c:f>
              <c:numCache>
                <c:formatCode>General</c:formatCode>
                <c:ptCount val="4"/>
                <c:pt idx="0">
                  <c:v>15.4</c:v>
                </c:pt>
                <c:pt idx="1">
                  <c:v>13</c:v>
                </c:pt>
                <c:pt idx="2">
                  <c:v>13.6</c:v>
                </c:pt>
                <c:pt idx="3">
                  <c:v>20.6</c:v>
                </c:pt>
              </c:numCache>
            </c:numRef>
          </c:val>
        </c:ser>
        <c:dLbls>
          <c:numFmt formatCode="0.0" sourceLinked="0"/>
          <c:txPr>
            <a:bodyPr/>
            <a:lstStyle/>
            <a:p>
              <a:pPr>
                <a:defRPr b="0" i="0" strike="noStrike" sz="1000" u="none">
                  <a:solidFill>
                    <a:srgbClr val="2E1616"/>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E1616"/>
                </a:solidFill>
                <a:latin typeface="+mn-lt"/>
              </a:defRPr>
            </a:pPr>
            <a:endParaRPr lang="en-US"/>
          </a:p>
        </c:txPr>
        <c:crossAx val="2094734552"/>
        <c:crosses val="autoZero"/>
        <c:auto val="1"/>
        <c:lblAlgn val="ctr"/>
        <c:noMultiLvlLbl val="1"/>
      </c:catAx>
      <c:valAx>
        <c:axId val="2094734552"/>
        <c:scaling>
          <c:orientation val="minMax"/>
          <c:max val="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judul. Studi kasus 5 (Alaska Airlines) untuk Sesi 7: Planning and Control, subtopik MRP dan ERP serta Sequencing and Scheduling.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Alur pembahasan: empat langkah, mengikuti dua subtopik sesi.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 Alaska Airlines dari fact sheet Alaska Air Group, Heizer et al. (2017), dan rilis SOC 29 Oktober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Skala operasi harian dan kinerja ketepatan waktu (Cirium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Empat sumber gangguan: cuaca, geografi, kegagalan IT 2025, grounding MAX 9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subtopik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Rantai turunan: flight timetable → rencana perawatan → work package → kebutuhan bersih suku cadang dan teknisi.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Contoh perhitungan kebutuhan bersih brake assembly untuk heavy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Grounding MAX 9 (Januari 2024) sebagai lonjakan kebutuhan; Tailsight (April 2026) sebagai perencanaan berbasis kapasitas.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Sistem operasi terintegrasi Alaska dan nilai integrasi yang terbukti, termasuk integrasi Hawaiian.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 outage 2025 sebagai bukti risiko integrasi (single point of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subtopik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Tiga objek penjadwalan harian Alaska (Heizer et al., Tabel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Lima titik waktu pada satu hari badai Desember di Seattle (Heizer et al., 2017, hlm. 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Flight Operations Department (andon) dan penjadwalan kru dengan kendala legalitas.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Aturan prioritas pada lima paket pekerjaan hangar (data HRM Contoh 15.4) dan critical ratio untuk AOG.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Johnson's rule pada alur inspeksi lalu perbaikan (data HRM Contoh 15.6) dan jadwal siklis petugas gate (data HRM Contoh 15.8).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Evaluasi dan empat rekomendasi dengan indikator.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Tiga kesimpulan dan angka kunci.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pertanyaan diskusi dan sumber.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REF">
    <p:bg>
      <p:bgPr>
        <a:solidFill>
          <a:srgbClr val="B3D9F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rtlCol="0"/>
          <a:lstStyle>
            <a:lvl1pPr algn="l" indent="0" marL="0">
              <a:buNone/>
              <a:defRPr lang="en-US" sz="2800" b="1" dirty="0">
                <a:solidFill>
                  <a:srgbClr val="2E1616"/>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247120" y="6446520"/>
            <a:ext cx="39319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4F2D2C"/>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39319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4F2D2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slideLayout" Target="../slideLayouts/slideLayout2.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2.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lustrasi pesawat" descr="/tmp/claude-0/-home-user-Dom-Manipulation/385e5267-c23e-5c04-80f5-d5fb4946a902/scratchpad/build/img2/st_plane_snow.png">    </p:cNvPr>
          <p:cNvPicPr>
            <a:picLocks noChangeAspect="1"/>
          </p:cNvPicPr>
          <p:nvPr/>
        </p:nvPicPr>
        <p:blipFill>
          <a:blip r:embed="rId1"/>
          <a:stretch>
            <a:fillRect/>
          </a:stretch>
        </p:blipFill>
        <p:spPr>
          <a:xfrm>
            <a:off x="730948" y="914400"/>
            <a:ext cx="4664583" cy="4846320"/>
          </a:xfrm>
          <a:prstGeom prst="rect">
            <a:avLst/>
          </a:prstGeom>
        </p:spPr>
      </p:pic>
      <p:sp>
        <p:nvSpPr>
          <p:cNvPr id="4" name="pill"/>
          <p:cNvSpPr/>
          <p:nvPr/>
        </p:nvSpPr>
        <p:spPr>
          <a:xfrm>
            <a:off x="5943600" y="1554480"/>
            <a:ext cx="5394960" cy="365760"/>
          </a:xfrm>
          <a:prstGeom prst="roundRect">
            <a:avLst>
              <a:gd name="adj" fmla="val 50000"/>
            </a:avLst>
          </a:prstGeom>
          <a:solidFill>
            <a:srgbClr val="4F2D2C"/>
          </a:solidFill>
          <a:ln w="3175">
            <a:solidFill>
              <a:srgbClr val="4F2D2C"/>
            </a:solidFill>
            <a:prstDash val="solid"/>
          </a:ln>
        </p:spPr>
      </p:sp>
      <p:sp>
        <p:nvSpPr>
          <p:cNvPr id="5" name="pill label"/>
          <p:cNvSpPr txBox="1"/>
          <p:nvPr/>
        </p:nvSpPr>
        <p:spPr>
          <a:xfrm>
            <a:off x="5943600" y="1554480"/>
            <a:ext cx="5394960" cy="365760"/>
          </a:xfrm>
          <a:prstGeom prst="rect">
            <a:avLst/>
          </a:prstGeom>
          <a:noFill/>
          <a:ln/>
        </p:spPr>
        <p:txBody>
          <a:bodyPr wrap="square" lIns="0" tIns="0" rIns="0" bIns="0" rtlCol="0" anchor="ctr"/>
          <a:lstStyle/>
          <a:p>
            <a:pPr algn="ctr" indent="0" marL="0">
              <a:buNone/>
            </a:pPr>
            <a:r>
              <a:rPr lang="en-US" sz="1050" b="1" dirty="0">
                <a:solidFill>
                  <a:srgbClr val="FFFFFF"/>
                </a:solidFill>
              </a:rPr>
              <a:t>STUDI KASUS 5  ·  OPERATIONS &amp; TECHNOLOGY MANAGEMENT  ·  SESI 7</a:t>
            </a:r>
            <a:endParaRPr lang="en-US" sz="1050" dirty="0"/>
          </a:p>
        </p:txBody>
      </p:sp>
      <p:sp>
        <p:nvSpPr>
          <p:cNvPr id="6" name="text"/>
          <p:cNvSpPr txBox="1"/>
          <p:nvPr/>
        </p:nvSpPr>
        <p:spPr>
          <a:xfrm>
            <a:off x="5943600" y="2103120"/>
            <a:ext cx="5669280" cy="1737360"/>
          </a:xfrm>
          <a:prstGeom prst="rect">
            <a:avLst/>
          </a:prstGeom>
          <a:noFill/>
          <a:ln/>
        </p:spPr>
        <p:txBody>
          <a:bodyPr wrap="square" lIns="0" tIns="0" rIns="0" bIns="0" rtlCol="0" anchor="t"/>
          <a:lstStyle/>
          <a:p>
            <a:pPr algn="l" indent="0" marL="0">
              <a:buNone/>
            </a:pPr>
            <a:r>
              <a:rPr lang="en-US" sz="4400" b="1" dirty="0">
                <a:solidFill>
                  <a:srgbClr val="2E1616"/>
                </a:solidFill>
              </a:rPr>
              <a:t>Planning and Control di Alaska Airlines</a:t>
            </a:r>
            <a:endParaRPr lang="en-US" sz="4400" dirty="0"/>
          </a:p>
        </p:txBody>
      </p:sp>
      <p:sp>
        <p:nvSpPr>
          <p:cNvPr id="7" name="text"/>
          <p:cNvSpPr txBox="1"/>
          <p:nvPr/>
        </p:nvSpPr>
        <p:spPr>
          <a:xfrm>
            <a:off x="5943600" y="3931920"/>
            <a:ext cx="5669280" cy="457200"/>
          </a:xfrm>
          <a:prstGeom prst="rect">
            <a:avLst/>
          </a:prstGeom>
          <a:noFill/>
          <a:ln/>
        </p:spPr>
        <p:txBody>
          <a:bodyPr wrap="square" lIns="0" tIns="0" rIns="0" bIns="0" rtlCol="0" anchor="t"/>
          <a:lstStyle/>
          <a:p>
            <a:pPr algn="l" indent="0" marL="0">
              <a:buNone/>
            </a:pPr>
            <a:r>
              <a:rPr lang="en-US" sz="2000" b="1" dirty="0">
                <a:solidFill>
                  <a:srgbClr val="4F2D2C"/>
                </a:solidFill>
              </a:rPr>
              <a:t>MRP dan ERP  ·  Sequencing and Scheduling</a:t>
            </a:r>
            <a:endParaRPr lang="en-US" sz="2000" dirty="0"/>
          </a:p>
        </p:txBody>
      </p:sp>
      <p:sp>
        <p:nvSpPr>
          <p:cNvPr id="8" name="text"/>
          <p:cNvSpPr txBox="1"/>
          <p:nvPr/>
        </p:nvSpPr>
        <p:spPr>
          <a:xfrm>
            <a:off x="5943600" y="4480560"/>
            <a:ext cx="5669280" cy="822960"/>
          </a:xfrm>
          <a:prstGeom prst="rect">
            <a:avLst/>
          </a:prstGeom>
          <a:noFill/>
          <a:ln/>
        </p:spPr>
        <p:txBody>
          <a:bodyPr wrap="square" lIns="0" tIns="0" rIns="0" bIns="0" rtlCol="0" anchor="t"/>
          <a:lstStyle/>
          <a:p>
            <a:pPr algn="l" indent="0" marL="0">
              <a:buNone/>
            </a:pPr>
            <a:r>
              <a:rPr lang="en-US" sz="1300" dirty="0">
                <a:solidFill>
                  <a:srgbClr val="4F2D2C"/>
                </a:solidFill>
              </a:rPr>
              <a:t>Bagaimana maskapai yang menguasai lebih dari separuh penerbangan di Seattle menjaga jadwal pesawat, kru, dan perawatannya di tengah cuaca, geografi, dan kegagalan sistem.</a:t>
            </a:r>
            <a:endParaRPr lang="en-US" sz="1300" dirty="0"/>
          </a:p>
        </p:txBody>
      </p:sp>
      <p:sp>
        <p:nvSpPr>
          <p:cNvPr id="9" name="text"/>
          <p:cNvSpPr txBox="1"/>
          <p:nvPr/>
        </p:nvSpPr>
        <p:spPr>
          <a:xfrm>
            <a:off x="5943600" y="5669280"/>
            <a:ext cx="5669280" cy="365760"/>
          </a:xfrm>
          <a:prstGeom prst="rect">
            <a:avLst/>
          </a:prstGeom>
          <a:noFill/>
          <a:ln/>
        </p:spPr>
        <p:txBody>
          <a:bodyPr wrap="square" lIns="0" tIns="0" rIns="0" bIns="0" rtlCol="0" anchor="t"/>
          <a:lstStyle/>
          <a:p>
            <a:pPr algn="l" indent="0" marL="0">
              <a:buNone/>
            </a:pPr>
            <a:r>
              <a:rPr lang="en-US" sz="1200" b="1" dirty="0">
                <a:solidFill>
                  <a:srgbClr val="4F2D2C"/>
                </a:solidFill>
              </a:rPr>
              <a:t>Dosen Pengampu  |  Prof. Nur Aini Masruroh, S.T., M.Sc., Ph.D.</a:t>
            </a:r>
            <a:endParaRPr lang="en-US" sz="1200" dirty="0"/>
          </a:p>
        </p:txBody>
      </p:sp>
      <p:sp>
        <p:nvSpPr>
          <p:cNvPr id="10"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algn="l" indent="0" marL="0">
              <a:buNone/>
            </a:pPr>
            <a:endParaRPr lang="en-US" sz="2800" dirty="0"/>
          </a:p>
        </p:txBody>
      </p:sp>
      <p:sp>
        <p:nvSpPr>
          <p:cNvPr id="25" name="Slide Number Placeholder 0"/>
          <p:cNvSpPr>
            <a:spLocks noGrp="1"/>
          </p:cNvSpPr>
          <p:nvPr>
            <p:ph type="sldNum" sz="quarter" idx="4294967295"/>
          </p:nvPr>
        </p:nvSpPr>
        <p:spPr>
          <a:xfrm>
            <a:off x="11247120" y="6446520"/>
            <a:ext cx="39319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4F2D2C"/>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algn="l" indent="0" marL="0">
              <a:buNone/>
            </a:pPr>
            <a:r>
              <a:rPr lang="en-US" sz="2800" b="1" dirty="0">
                <a:solidFill>
                  <a:srgbClr val="2E1616"/>
                </a:solidFill>
              </a:rPr>
              <a:t>Alur Pembahasan</a:t>
            </a:r>
            <a:endParaRPr lang="en-US" sz="2800" dirty="0"/>
          </a:p>
        </p:txBody>
      </p:sp>
      <p:sp>
        <p:nvSpPr>
          <p:cNvPr id="4" name="title circle"/>
          <p:cNvSpPr/>
          <p:nvPr/>
        </p:nvSpPr>
        <p:spPr>
          <a:xfrm>
            <a:off x="347472" y="384048"/>
            <a:ext cx="1207008" cy="786384"/>
          </a:xfrm>
          <a:prstGeom prst="ellipse">
            <a:avLst/>
          </a:prstGeom>
          <a:solidFill>
            <a:srgbClr val="B3D9FE">
              <a:alpha val="0"/>
            </a:srgbClr>
          </a:solidFill>
          <a:ln w="28575">
            <a:solidFill>
              <a:srgbClr val="3B8BE0"/>
            </a:solidFill>
            <a:prstDash val="solid"/>
          </a:ln>
        </p:spPr>
      </p:sp>
      <p:sp>
        <p:nvSpPr>
          <p:cNvPr id="5" name="text"/>
          <p:cNvSpPr txBox="1"/>
          <p:nvPr/>
        </p:nvSpPr>
        <p:spPr>
          <a:xfrm>
            <a:off x="548640" y="1280160"/>
            <a:ext cx="8229600" cy="685800"/>
          </a:xfrm>
          <a:prstGeom prst="rect">
            <a:avLst/>
          </a:prstGeom>
          <a:noFill/>
          <a:ln/>
        </p:spPr>
        <p:txBody>
          <a:bodyPr wrap="square" lIns="0" tIns="0" rIns="0" bIns="0" rtlCol="0" anchor="t"/>
          <a:lstStyle/>
          <a:p>
            <a:pPr algn="l" indent="0" marL="0">
              <a:buNone/>
            </a:pPr>
            <a:r>
              <a:rPr lang="en-US" sz="1400" dirty="0">
                <a:solidFill>
                  <a:srgbClr val="2E1616"/>
                </a:solidFill>
              </a:rPr>
              <a:t>Pembahasan langsung pada kasus dan disusun mengikuti dua subtopik sesi: MRP dan ERP, lalu </a:t>
            </a:r>
            <a:r>
              <a:rPr lang="en-US" sz="1400" i="1" dirty="0">
                <a:solidFill>
                  <a:srgbClr val="2E1616"/>
                </a:solidFill>
              </a:rPr>
              <a:t>sequencing and scheduling</a:t>
            </a:r>
            <a:r>
              <a:rPr lang="en-US" sz="1400" dirty="0">
                <a:solidFill>
                  <a:srgbClr val="2E1616"/>
                </a:solidFill>
              </a:rPr>
              <a:t>. Setiap langkah memakai temuan langkah sebelumnya.</a:t>
            </a:r>
            <a:endParaRPr lang="en-US" sz="1400" dirty="0"/>
          </a:p>
        </p:txBody>
      </p:sp>
      <p:sp>
        <p:nvSpPr>
          <p:cNvPr id="6" name="card"/>
          <p:cNvSpPr/>
          <p:nvPr/>
        </p:nvSpPr>
        <p:spPr>
          <a:xfrm>
            <a:off x="548640" y="2194560"/>
            <a:ext cx="2602154" cy="3017520"/>
          </a:xfrm>
          <a:prstGeom prst="roundRect">
            <a:avLst>
              <a:gd name="adj" fmla="val 7028"/>
            </a:avLst>
          </a:prstGeom>
          <a:solidFill>
            <a:srgbClr val="F5F2EB"/>
          </a:solidFill>
          <a:ln w="3175">
            <a:solidFill>
              <a:srgbClr val="F5F2EB"/>
            </a:solidFill>
            <a:prstDash val="solid"/>
          </a:ln>
        </p:spPr>
      </p:sp>
      <p:sp>
        <p:nvSpPr>
          <p:cNvPr id="7" name="pill"/>
          <p:cNvSpPr/>
          <p:nvPr/>
        </p:nvSpPr>
        <p:spPr>
          <a:xfrm>
            <a:off x="777240" y="2423160"/>
            <a:ext cx="960120" cy="292608"/>
          </a:xfrm>
          <a:prstGeom prst="roundRect">
            <a:avLst>
              <a:gd name="adj" fmla="val 50000"/>
            </a:avLst>
          </a:prstGeom>
          <a:solidFill>
            <a:srgbClr val="4F2D2C"/>
          </a:solidFill>
          <a:ln w="3175">
            <a:solidFill>
              <a:srgbClr val="4F2D2C"/>
            </a:solidFill>
            <a:prstDash val="solid"/>
          </a:ln>
        </p:spPr>
      </p:sp>
      <p:sp>
        <p:nvSpPr>
          <p:cNvPr id="8" name="pill label"/>
          <p:cNvSpPr txBox="1"/>
          <p:nvPr/>
        </p:nvSpPr>
        <p:spPr>
          <a:xfrm>
            <a:off x="777240" y="2423160"/>
            <a:ext cx="960120" cy="292608"/>
          </a:xfrm>
          <a:prstGeom prst="rect">
            <a:avLst/>
          </a:prstGeom>
          <a:noFill/>
          <a:ln/>
        </p:spPr>
        <p:txBody>
          <a:bodyPr wrap="square" lIns="0" tIns="0" rIns="0" bIns="0" rtlCol="0" anchor="ctr"/>
          <a:lstStyle/>
          <a:p>
            <a:pPr algn="ctr" indent="0" marL="0">
              <a:buNone/>
            </a:pPr>
            <a:r>
              <a:rPr lang="en-US" sz="1000" b="1" dirty="0">
                <a:solidFill>
                  <a:srgbClr val="FFFFFF"/>
                </a:solidFill>
              </a:rPr>
              <a:t>Langkah 01</a:t>
            </a:r>
            <a:endParaRPr lang="en-US" sz="1000" dirty="0"/>
          </a:p>
        </p:txBody>
      </p:sp>
      <p:sp>
        <p:nvSpPr>
          <p:cNvPr id="9" name="icon circle"/>
          <p:cNvSpPr/>
          <p:nvPr/>
        </p:nvSpPr>
        <p:spPr>
          <a:xfrm>
            <a:off x="2282114" y="2377440"/>
            <a:ext cx="640080" cy="640080"/>
          </a:xfrm>
          <a:prstGeom prst="ellipse">
            <a:avLst/>
          </a:prstGeom>
          <a:solidFill>
            <a:srgbClr val="D7EAFD"/>
          </a:solidFill>
          <a:ln w="3175">
            <a:solidFill>
              <a:srgbClr val="D7EAFD"/>
            </a:solidFill>
            <a:prstDash val="solid"/>
          </a:ln>
        </p:spPr>
      </p:sp>
      <p:pic>
        <p:nvPicPr>
          <p:cNvPr id="10" name="icon FaPlane" descr="preencoded.png">    </p:cNvPr>
          <p:cNvPicPr>
            <a:picLocks noChangeAspect="1"/>
          </p:cNvPicPr>
          <p:nvPr/>
        </p:nvPicPr>
        <p:blipFill>
          <a:blip r:embed="rId1"/>
          <a:stretch>
            <a:fillRect/>
          </a:stretch>
        </p:blipFill>
        <p:spPr>
          <a:xfrm>
            <a:off x="2442134" y="2537460"/>
            <a:ext cx="320040" cy="320040"/>
          </a:xfrm>
          <a:prstGeom prst="rect">
            <a:avLst/>
          </a:prstGeom>
        </p:spPr>
      </p:pic>
      <p:sp>
        <p:nvSpPr>
          <p:cNvPr id="11" name="text"/>
          <p:cNvSpPr txBox="1"/>
          <p:nvPr/>
        </p:nvSpPr>
        <p:spPr>
          <a:xfrm>
            <a:off x="777240" y="2926080"/>
            <a:ext cx="2144954" cy="566928"/>
          </a:xfrm>
          <a:prstGeom prst="rect">
            <a:avLst/>
          </a:prstGeom>
          <a:noFill/>
          <a:ln/>
        </p:spPr>
        <p:txBody>
          <a:bodyPr wrap="square" lIns="0" tIns="0" rIns="0" bIns="0" rtlCol="0" anchor="ctr"/>
          <a:lstStyle/>
          <a:p>
            <a:pPr algn="l" indent="0" marL="0">
              <a:buNone/>
            </a:pPr>
            <a:r>
              <a:rPr lang="en-US" sz="1500" b="1" dirty="0">
                <a:solidFill>
                  <a:srgbClr val="2E1616"/>
                </a:solidFill>
              </a:rPr>
              <a:t>Profil dan permasalahan</a:t>
            </a:r>
            <a:endParaRPr lang="en-US" sz="1500" dirty="0"/>
          </a:p>
        </p:txBody>
      </p:sp>
      <p:sp>
        <p:nvSpPr>
          <p:cNvPr id="12" name="text"/>
          <p:cNvSpPr txBox="1"/>
          <p:nvPr/>
        </p:nvSpPr>
        <p:spPr>
          <a:xfrm>
            <a:off x="777240" y="3566160"/>
            <a:ext cx="2144954" cy="1508760"/>
          </a:xfrm>
          <a:prstGeom prst="rect">
            <a:avLst/>
          </a:prstGeom>
          <a:noFill/>
          <a:ln/>
        </p:spPr>
        <p:txBody>
          <a:bodyPr wrap="square" lIns="0" tIns="0" rIns="0" bIns="0" rtlCol="0" anchor="t"/>
          <a:lstStyle/>
          <a:p>
            <a:pPr algn="l" indent="0" marL="0">
              <a:buNone/>
            </a:pPr>
            <a:r>
              <a:rPr lang="en-US" sz="1200" dirty="0">
                <a:solidFill>
                  <a:srgbClr val="2E1616"/>
                </a:solidFill>
              </a:rPr>
              <a:t>Skala operasi Alaska Airlines dan empat sumber gangguan terhadap rencana.</a:t>
            </a:r>
            <a:endParaRPr lang="en-US" sz="1200" dirty="0"/>
          </a:p>
        </p:txBody>
      </p:sp>
      <p:sp>
        <p:nvSpPr>
          <p:cNvPr id="13" name="arrow"/>
          <p:cNvSpPr/>
          <p:nvPr/>
        </p:nvSpPr>
        <p:spPr>
          <a:xfrm>
            <a:off x="3187370" y="3108960"/>
            <a:ext cx="155448" cy="274320"/>
          </a:xfrm>
          <a:prstGeom prst="rightArrow">
            <a:avLst/>
          </a:prstGeom>
          <a:solidFill>
            <a:srgbClr val="3B8BE0"/>
          </a:solidFill>
          <a:ln w="3175">
            <a:solidFill>
              <a:srgbClr val="3B8BE0"/>
            </a:solidFill>
            <a:prstDash val="solid"/>
          </a:ln>
        </p:spPr>
      </p:sp>
      <p:sp>
        <p:nvSpPr>
          <p:cNvPr id="14" name="card"/>
          <p:cNvSpPr/>
          <p:nvPr/>
        </p:nvSpPr>
        <p:spPr>
          <a:xfrm>
            <a:off x="3379394" y="2194560"/>
            <a:ext cx="2602154" cy="3017520"/>
          </a:xfrm>
          <a:prstGeom prst="roundRect">
            <a:avLst>
              <a:gd name="adj" fmla="val 7028"/>
            </a:avLst>
          </a:prstGeom>
          <a:solidFill>
            <a:srgbClr val="F5F2EB"/>
          </a:solidFill>
          <a:ln w="3175">
            <a:solidFill>
              <a:srgbClr val="F5F2EB"/>
            </a:solidFill>
            <a:prstDash val="solid"/>
          </a:ln>
        </p:spPr>
      </p:sp>
      <p:sp>
        <p:nvSpPr>
          <p:cNvPr id="15" name="pill"/>
          <p:cNvSpPr/>
          <p:nvPr/>
        </p:nvSpPr>
        <p:spPr>
          <a:xfrm>
            <a:off x="3607994" y="2423160"/>
            <a:ext cx="960120" cy="292608"/>
          </a:xfrm>
          <a:prstGeom prst="roundRect">
            <a:avLst>
              <a:gd name="adj" fmla="val 50000"/>
            </a:avLst>
          </a:prstGeom>
          <a:solidFill>
            <a:srgbClr val="4F2D2C"/>
          </a:solidFill>
          <a:ln w="3175">
            <a:solidFill>
              <a:srgbClr val="4F2D2C"/>
            </a:solidFill>
            <a:prstDash val="solid"/>
          </a:ln>
        </p:spPr>
      </p:sp>
      <p:sp>
        <p:nvSpPr>
          <p:cNvPr id="16" name="pill label"/>
          <p:cNvSpPr txBox="1"/>
          <p:nvPr/>
        </p:nvSpPr>
        <p:spPr>
          <a:xfrm>
            <a:off x="3607994" y="2423160"/>
            <a:ext cx="960120" cy="292608"/>
          </a:xfrm>
          <a:prstGeom prst="rect">
            <a:avLst/>
          </a:prstGeom>
          <a:noFill/>
          <a:ln/>
        </p:spPr>
        <p:txBody>
          <a:bodyPr wrap="square" lIns="0" tIns="0" rIns="0" bIns="0" rtlCol="0" anchor="ctr"/>
          <a:lstStyle/>
          <a:p>
            <a:pPr algn="ctr" indent="0" marL="0">
              <a:buNone/>
            </a:pPr>
            <a:r>
              <a:rPr lang="en-US" sz="1000" b="1" dirty="0">
                <a:solidFill>
                  <a:srgbClr val="FFFFFF"/>
                </a:solidFill>
              </a:rPr>
              <a:t>Langkah 02</a:t>
            </a:r>
            <a:endParaRPr lang="en-US" sz="1000" dirty="0"/>
          </a:p>
        </p:txBody>
      </p:sp>
      <p:sp>
        <p:nvSpPr>
          <p:cNvPr id="17" name="icon circle"/>
          <p:cNvSpPr/>
          <p:nvPr/>
        </p:nvSpPr>
        <p:spPr>
          <a:xfrm>
            <a:off x="5112868" y="2377440"/>
            <a:ext cx="640080" cy="640080"/>
          </a:xfrm>
          <a:prstGeom prst="ellipse">
            <a:avLst/>
          </a:prstGeom>
          <a:solidFill>
            <a:srgbClr val="D7EAFD"/>
          </a:solidFill>
          <a:ln w="3175">
            <a:solidFill>
              <a:srgbClr val="D7EAFD"/>
            </a:solidFill>
            <a:prstDash val="solid"/>
          </a:ln>
        </p:spPr>
      </p:sp>
      <p:pic>
        <p:nvPicPr>
          <p:cNvPr id="18" name="icon FaBoxes" descr="preencoded.png">    </p:cNvPr>
          <p:cNvPicPr>
            <a:picLocks noChangeAspect="1"/>
          </p:cNvPicPr>
          <p:nvPr/>
        </p:nvPicPr>
        <p:blipFill>
          <a:blip r:embed="rId2"/>
          <a:stretch>
            <a:fillRect/>
          </a:stretch>
        </p:blipFill>
        <p:spPr>
          <a:xfrm>
            <a:off x="5272888" y="2537460"/>
            <a:ext cx="320040" cy="320040"/>
          </a:xfrm>
          <a:prstGeom prst="rect">
            <a:avLst/>
          </a:prstGeom>
        </p:spPr>
      </p:pic>
      <p:sp>
        <p:nvSpPr>
          <p:cNvPr id="19" name="text"/>
          <p:cNvSpPr txBox="1"/>
          <p:nvPr/>
        </p:nvSpPr>
        <p:spPr>
          <a:xfrm>
            <a:off x="3607994" y="2926080"/>
            <a:ext cx="2144954" cy="566928"/>
          </a:xfrm>
          <a:prstGeom prst="rect">
            <a:avLst/>
          </a:prstGeom>
          <a:noFill/>
          <a:ln/>
        </p:spPr>
        <p:txBody>
          <a:bodyPr wrap="square" lIns="0" tIns="0" rIns="0" bIns="0" rtlCol="0" anchor="ctr"/>
          <a:lstStyle/>
          <a:p>
            <a:pPr algn="l" indent="0" marL="0">
              <a:buNone/>
            </a:pPr>
            <a:r>
              <a:rPr lang="en-US" sz="1500" b="1" dirty="0">
                <a:solidFill>
                  <a:srgbClr val="2E1616"/>
                </a:solidFill>
              </a:rPr>
              <a:t>MRP dan ERP</a:t>
            </a:r>
            <a:endParaRPr lang="en-US" sz="1500" dirty="0"/>
          </a:p>
        </p:txBody>
      </p:sp>
      <p:sp>
        <p:nvSpPr>
          <p:cNvPr id="20" name="text"/>
          <p:cNvSpPr txBox="1"/>
          <p:nvPr/>
        </p:nvSpPr>
        <p:spPr>
          <a:xfrm>
            <a:off x="3607994" y="3566160"/>
            <a:ext cx="2144954" cy="1508760"/>
          </a:xfrm>
          <a:prstGeom prst="rect">
            <a:avLst/>
          </a:prstGeom>
          <a:noFill/>
          <a:ln/>
        </p:spPr>
        <p:txBody>
          <a:bodyPr wrap="square" lIns="0" tIns="0" rIns="0" bIns="0" rtlCol="0" anchor="t"/>
          <a:lstStyle/>
          <a:p>
            <a:pPr algn="l" indent="0" marL="0">
              <a:buNone/>
            </a:pPr>
            <a:r>
              <a:rPr lang="en-US" sz="1200" dirty="0">
                <a:solidFill>
                  <a:srgbClr val="2E1616"/>
                </a:solidFill>
              </a:rPr>
              <a:t>Bagaimana jadwal penerbangan diturunkan menjadi kebutuhan perawatan, suku cadang, dan satu basis data operasi.</a:t>
            </a:r>
            <a:endParaRPr lang="en-US" sz="1200" dirty="0"/>
          </a:p>
        </p:txBody>
      </p:sp>
      <p:sp>
        <p:nvSpPr>
          <p:cNvPr id="21" name="arrow"/>
          <p:cNvSpPr/>
          <p:nvPr/>
        </p:nvSpPr>
        <p:spPr>
          <a:xfrm>
            <a:off x="6018124" y="3108960"/>
            <a:ext cx="155448" cy="274320"/>
          </a:xfrm>
          <a:prstGeom prst="rightArrow">
            <a:avLst/>
          </a:prstGeom>
          <a:solidFill>
            <a:srgbClr val="3B8BE0"/>
          </a:solidFill>
          <a:ln w="3175">
            <a:solidFill>
              <a:srgbClr val="3B8BE0"/>
            </a:solidFill>
            <a:prstDash val="solid"/>
          </a:ln>
        </p:spPr>
      </p:sp>
      <p:sp>
        <p:nvSpPr>
          <p:cNvPr id="22" name="card"/>
          <p:cNvSpPr/>
          <p:nvPr/>
        </p:nvSpPr>
        <p:spPr>
          <a:xfrm>
            <a:off x="6210148" y="2194560"/>
            <a:ext cx="2602154" cy="3017520"/>
          </a:xfrm>
          <a:prstGeom prst="roundRect">
            <a:avLst>
              <a:gd name="adj" fmla="val 7028"/>
            </a:avLst>
          </a:prstGeom>
          <a:solidFill>
            <a:srgbClr val="F5F2EB"/>
          </a:solidFill>
          <a:ln w="3175">
            <a:solidFill>
              <a:srgbClr val="F5F2EB"/>
            </a:solidFill>
            <a:prstDash val="solid"/>
          </a:ln>
        </p:spPr>
      </p:sp>
      <p:sp>
        <p:nvSpPr>
          <p:cNvPr id="23" name="pill"/>
          <p:cNvSpPr/>
          <p:nvPr/>
        </p:nvSpPr>
        <p:spPr>
          <a:xfrm>
            <a:off x="6438748" y="2423160"/>
            <a:ext cx="960120" cy="292608"/>
          </a:xfrm>
          <a:prstGeom prst="roundRect">
            <a:avLst>
              <a:gd name="adj" fmla="val 50000"/>
            </a:avLst>
          </a:prstGeom>
          <a:solidFill>
            <a:srgbClr val="4F2D2C"/>
          </a:solidFill>
          <a:ln w="3175">
            <a:solidFill>
              <a:srgbClr val="4F2D2C"/>
            </a:solidFill>
            <a:prstDash val="solid"/>
          </a:ln>
        </p:spPr>
      </p:sp>
      <p:sp>
        <p:nvSpPr>
          <p:cNvPr id="24" name="pill label"/>
          <p:cNvSpPr txBox="1"/>
          <p:nvPr/>
        </p:nvSpPr>
        <p:spPr>
          <a:xfrm>
            <a:off x="6438748" y="2423160"/>
            <a:ext cx="960120" cy="292608"/>
          </a:xfrm>
          <a:prstGeom prst="rect">
            <a:avLst/>
          </a:prstGeom>
          <a:noFill/>
          <a:ln/>
        </p:spPr>
        <p:txBody>
          <a:bodyPr wrap="square" lIns="0" tIns="0" rIns="0" bIns="0" rtlCol="0" anchor="ctr"/>
          <a:lstStyle/>
          <a:p>
            <a:pPr algn="ctr" indent="0" marL="0">
              <a:buNone/>
            </a:pPr>
            <a:r>
              <a:rPr lang="en-US" sz="1000" b="1" dirty="0">
                <a:solidFill>
                  <a:srgbClr val="FFFFFF"/>
                </a:solidFill>
              </a:rPr>
              <a:t>Langkah 03</a:t>
            </a:r>
            <a:endParaRPr lang="en-US" sz="1000" dirty="0"/>
          </a:p>
        </p:txBody>
      </p:sp>
      <p:sp>
        <p:nvSpPr>
          <p:cNvPr id="25" name="icon circle"/>
          <p:cNvSpPr/>
          <p:nvPr/>
        </p:nvSpPr>
        <p:spPr>
          <a:xfrm>
            <a:off x="7943621" y="2377440"/>
            <a:ext cx="640080" cy="640080"/>
          </a:xfrm>
          <a:prstGeom prst="ellipse">
            <a:avLst/>
          </a:prstGeom>
          <a:solidFill>
            <a:srgbClr val="D7EAFD"/>
          </a:solidFill>
          <a:ln w="3175">
            <a:solidFill>
              <a:srgbClr val="D7EAFD"/>
            </a:solidFill>
            <a:prstDash val="solid"/>
          </a:ln>
        </p:spPr>
      </p:sp>
      <p:pic>
        <p:nvPicPr>
          <p:cNvPr id="26" name="icon FaStopwatch" descr="preencoded.png">    </p:cNvPr>
          <p:cNvPicPr>
            <a:picLocks noChangeAspect="1"/>
          </p:cNvPicPr>
          <p:nvPr/>
        </p:nvPicPr>
        <p:blipFill>
          <a:blip r:embed="rId3"/>
          <a:stretch>
            <a:fillRect/>
          </a:stretch>
        </p:blipFill>
        <p:spPr>
          <a:xfrm>
            <a:off x="8103641" y="2537460"/>
            <a:ext cx="320040" cy="320040"/>
          </a:xfrm>
          <a:prstGeom prst="rect">
            <a:avLst/>
          </a:prstGeom>
        </p:spPr>
      </p:pic>
      <p:sp>
        <p:nvSpPr>
          <p:cNvPr id="27" name="text"/>
          <p:cNvSpPr txBox="1"/>
          <p:nvPr/>
        </p:nvSpPr>
        <p:spPr>
          <a:xfrm>
            <a:off x="6438748" y="2926080"/>
            <a:ext cx="2144954" cy="566928"/>
          </a:xfrm>
          <a:prstGeom prst="rect">
            <a:avLst/>
          </a:prstGeom>
          <a:noFill/>
          <a:ln/>
        </p:spPr>
        <p:txBody>
          <a:bodyPr wrap="square" lIns="0" tIns="0" rIns="0" bIns="0" rtlCol="0" anchor="ctr"/>
          <a:lstStyle/>
          <a:p>
            <a:pPr algn="l" indent="0" marL="0">
              <a:buNone/>
            </a:pPr>
            <a:r>
              <a:rPr lang="en-US" sz="1500" b="1" dirty="0">
                <a:solidFill>
                  <a:srgbClr val="2E1616"/>
                </a:solidFill>
              </a:rPr>
              <a:t>Sequencing and scheduling</a:t>
            </a:r>
            <a:endParaRPr lang="en-US" sz="1500" dirty="0"/>
          </a:p>
        </p:txBody>
      </p:sp>
      <p:sp>
        <p:nvSpPr>
          <p:cNvPr id="28" name="text"/>
          <p:cNvSpPr txBox="1"/>
          <p:nvPr/>
        </p:nvSpPr>
        <p:spPr>
          <a:xfrm>
            <a:off x="6438748" y="3566160"/>
            <a:ext cx="2144954" cy="1508760"/>
          </a:xfrm>
          <a:prstGeom prst="rect">
            <a:avLst/>
          </a:prstGeom>
          <a:noFill/>
          <a:ln/>
        </p:spPr>
        <p:txBody>
          <a:bodyPr wrap="square" lIns="0" tIns="0" rIns="0" bIns="0" rtlCol="0" anchor="t"/>
          <a:lstStyle/>
          <a:p>
            <a:pPr algn="l" indent="0" marL="0">
              <a:buNone/>
            </a:pPr>
            <a:r>
              <a:rPr lang="en-US" sz="1200" dirty="0">
                <a:solidFill>
                  <a:srgbClr val="2E1616"/>
                </a:solidFill>
              </a:rPr>
              <a:t>Bagaimana pesawat, kru, hangar, dan staf darat diurutkan dan dijadwalkan, termasuk saat badai.</a:t>
            </a:r>
            <a:endParaRPr lang="en-US" sz="1200" dirty="0"/>
          </a:p>
        </p:txBody>
      </p:sp>
      <p:sp>
        <p:nvSpPr>
          <p:cNvPr id="29" name="arrow"/>
          <p:cNvSpPr/>
          <p:nvPr/>
        </p:nvSpPr>
        <p:spPr>
          <a:xfrm>
            <a:off x="8848877" y="3108960"/>
            <a:ext cx="155448" cy="274320"/>
          </a:xfrm>
          <a:prstGeom prst="rightArrow">
            <a:avLst/>
          </a:prstGeom>
          <a:solidFill>
            <a:srgbClr val="3B8BE0"/>
          </a:solidFill>
          <a:ln w="3175">
            <a:solidFill>
              <a:srgbClr val="3B8BE0"/>
            </a:solidFill>
            <a:prstDash val="solid"/>
          </a:ln>
        </p:spPr>
      </p:sp>
      <p:sp>
        <p:nvSpPr>
          <p:cNvPr id="30" name="card"/>
          <p:cNvSpPr/>
          <p:nvPr/>
        </p:nvSpPr>
        <p:spPr>
          <a:xfrm>
            <a:off x="9040901" y="2194560"/>
            <a:ext cx="2602154" cy="3017520"/>
          </a:xfrm>
          <a:prstGeom prst="roundRect">
            <a:avLst>
              <a:gd name="adj" fmla="val 7028"/>
            </a:avLst>
          </a:prstGeom>
          <a:solidFill>
            <a:srgbClr val="F5F2EB"/>
          </a:solidFill>
          <a:ln w="3175">
            <a:solidFill>
              <a:srgbClr val="F5F2EB"/>
            </a:solidFill>
            <a:prstDash val="solid"/>
          </a:ln>
        </p:spPr>
      </p:sp>
      <p:sp>
        <p:nvSpPr>
          <p:cNvPr id="31" name="pill"/>
          <p:cNvSpPr/>
          <p:nvPr/>
        </p:nvSpPr>
        <p:spPr>
          <a:xfrm>
            <a:off x="9269501" y="2423160"/>
            <a:ext cx="960120" cy="292608"/>
          </a:xfrm>
          <a:prstGeom prst="roundRect">
            <a:avLst>
              <a:gd name="adj" fmla="val 50000"/>
            </a:avLst>
          </a:prstGeom>
          <a:solidFill>
            <a:srgbClr val="4F2D2C"/>
          </a:solidFill>
          <a:ln w="3175">
            <a:solidFill>
              <a:srgbClr val="4F2D2C"/>
            </a:solidFill>
            <a:prstDash val="solid"/>
          </a:ln>
        </p:spPr>
      </p:sp>
      <p:sp>
        <p:nvSpPr>
          <p:cNvPr id="32" name="pill label"/>
          <p:cNvSpPr txBox="1"/>
          <p:nvPr/>
        </p:nvSpPr>
        <p:spPr>
          <a:xfrm>
            <a:off x="9269501" y="2423160"/>
            <a:ext cx="960120" cy="292608"/>
          </a:xfrm>
          <a:prstGeom prst="rect">
            <a:avLst/>
          </a:prstGeom>
          <a:noFill/>
          <a:ln/>
        </p:spPr>
        <p:txBody>
          <a:bodyPr wrap="square" lIns="0" tIns="0" rIns="0" bIns="0" rtlCol="0" anchor="ctr"/>
          <a:lstStyle/>
          <a:p>
            <a:pPr algn="ctr" indent="0" marL="0">
              <a:buNone/>
            </a:pPr>
            <a:r>
              <a:rPr lang="en-US" sz="1000" b="1" dirty="0">
                <a:solidFill>
                  <a:srgbClr val="FFFFFF"/>
                </a:solidFill>
              </a:rPr>
              <a:t>Langkah 04</a:t>
            </a:r>
            <a:endParaRPr lang="en-US" sz="1000" dirty="0"/>
          </a:p>
        </p:txBody>
      </p:sp>
      <p:sp>
        <p:nvSpPr>
          <p:cNvPr id="33" name="icon circle"/>
          <p:cNvSpPr/>
          <p:nvPr/>
        </p:nvSpPr>
        <p:spPr>
          <a:xfrm>
            <a:off x="10774375" y="2377440"/>
            <a:ext cx="640080" cy="640080"/>
          </a:xfrm>
          <a:prstGeom prst="ellipse">
            <a:avLst/>
          </a:prstGeom>
          <a:solidFill>
            <a:srgbClr val="D7EAFD"/>
          </a:solidFill>
          <a:ln w="3175">
            <a:solidFill>
              <a:srgbClr val="D7EAFD"/>
            </a:solidFill>
            <a:prstDash val="solid"/>
          </a:ln>
        </p:spPr>
      </p:sp>
      <p:pic>
        <p:nvPicPr>
          <p:cNvPr id="34" name="icon FaClipboardCheck" descr="preencoded.png">    </p:cNvPr>
          <p:cNvPicPr>
            <a:picLocks noChangeAspect="1"/>
          </p:cNvPicPr>
          <p:nvPr/>
        </p:nvPicPr>
        <p:blipFill>
          <a:blip r:embed="rId4"/>
          <a:stretch>
            <a:fillRect/>
          </a:stretch>
        </p:blipFill>
        <p:spPr>
          <a:xfrm>
            <a:off x="10934395" y="2537460"/>
            <a:ext cx="320040" cy="320040"/>
          </a:xfrm>
          <a:prstGeom prst="rect">
            <a:avLst/>
          </a:prstGeom>
        </p:spPr>
      </p:pic>
      <p:sp>
        <p:nvSpPr>
          <p:cNvPr id="35" name="text"/>
          <p:cNvSpPr txBox="1"/>
          <p:nvPr/>
        </p:nvSpPr>
        <p:spPr>
          <a:xfrm>
            <a:off x="9269501" y="2926080"/>
            <a:ext cx="2144954" cy="566928"/>
          </a:xfrm>
          <a:prstGeom prst="rect">
            <a:avLst/>
          </a:prstGeom>
          <a:noFill/>
          <a:ln/>
        </p:spPr>
        <p:txBody>
          <a:bodyPr wrap="square" lIns="0" tIns="0" rIns="0" bIns="0" rtlCol="0" anchor="ctr"/>
          <a:lstStyle/>
          <a:p>
            <a:pPr algn="l" indent="0" marL="0">
              <a:buNone/>
            </a:pPr>
            <a:r>
              <a:rPr lang="en-US" sz="1500" b="1" dirty="0">
                <a:solidFill>
                  <a:srgbClr val="2E1616"/>
                </a:solidFill>
              </a:rPr>
              <a:t>Evaluasi dan rekomendasi</a:t>
            </a:r>
            <a:endParaRPr lang="en-US" sz="1500" dirty="0"/>
          </a:p>
        </p:txBody>
      </p:sp>
      <p:sp>
        <p:nvSpPr>
          <p:cNvPr id="36" name="text"/>
          <p:cNvSpPr txBox="1"/>
          <p:nvPr/>
        </p:nvSpPr>
        <p:spPr>
          <a:xfrm>
            <a:off x="9269501" y="3566160"/>
            <a:ext cx="2144954" cy="1508760"/>
          </a:xfrm>
          <a:prstGeom prst="rect">
            <a:avLst/>
          </a:prstGeom>
          <a:noFill/>
          <a:ln/>
        </p:spPr>
        <p:txBody>
          <a:bodyPr wrap="square" lIns="0" tIns="0" rIns="0" bIns="0" rtlCol="0" anchor="t"/>
          <a:lstStyle/>
          <a:p>
            <a:pPr algn="l" indent="0" marL="0">
              <a:buNone/>
            </a:pPr>
            <a:r>
              <a:rPr lang="en-US" sz="1200" dirty="0">
                <a:solidFill>
                  <a:srgbClr val="2E1616"/>
                </a:solidFill>
              </a:rPr>
              <a:t>Apa yang terbukti kuat, apa yang terbukti lemah, dan apa yang perlu dibenahi.</a:t>
            </a:r>
            <a:endParaRPr lang="en-US" sz="1200" dirty="0"/>
          </a:p>
        </p:txBody>
      </p:sp>
      <p:pic>
        <p:nvPicPr>
          <p:cNvPr id="37" name="ilustrasi pilot" descr="/tmp/claude-0/-home-user-Dom-Manipulation/385e5267-c23e-5c04-80f5-d5fb4946a902/scratchpad/build/img2/sticker_pilot.png">    </p:cNvPr>
          <p:cNvPicPr>
            <a:picLocks noChangeAspect="1"/>
          </p:cNvPicPr>
          <p:nvPr/>
        </p:nvPicPr>
        <p:blipFill>
          <a:blip r:embed="rId5"/>
          <a:stretch>
            <a:fillRect/>
          </a:stretch>
        </p:blipFill>
        <p:spPr>
          <a:xfrm>
            <a:off x="9673209" y="868680"/>
            <a:ext cx="1136142" cy="1280160"/>
          </a:xfrm>
          <a:prstGeom prst="rect">
            <a:avLst/>
          </a:prstGeom>
        </p:spPr>
      </p:pic>
      <p:sp>
        <p:nvSpPr>
          <p:cNvPr id="38" name="card"/>
          <p:cNvSpPr/>
          <p:nvPr/>
        </p:nvSpPr>
        <p:spPr>
          <a:xfrm>
            <a:off x="548640" y="5486400"/>
            <a:ext cx="11094415" cy="685800"/>
          </a:xfrm>
          <a:prstGeom prst="roundRect">
            <a:avLst>
              <a:gd name="adj" fmla="val 26667"/>
            </a:avLst>
          </a:prstGeom>
          <a:solidFill>
            <a:srgbClr val="4F2D2C"/>
          </a:solidFill>
          <a:ln w="3175">
            <a:solidFill>
              <a:srgbClr val="4F2D2C"/>
            </a:solidFill>
            <a:prstDash val="solid"/>
          </a:ln>
        </p:spPr>
      </p:sp>
      <p:sp>
        <p:nvSpPr>
          <p:cNvPr id="39" name="text"/>
          <p:cNvSpPr txBox="1"/>
          <p:nvPr/>
        </p:nvSpPr>
        <p:spPr>
          <a:xfrm>
            <a:off x="822960" y="5486400"/>
            <a:ext cx="10545775" cy="685800"/>
          </a:xfrm>
          <a:prstGeom prst="rect">
            <a:avLst/>
          </a:prstGeom>
          <a:noFill/>
          <a:ln/>
        </p:spPr>
        <p:txBody>
          <a:bodyPr wrap="square" lIns="0" tIns="0" rIns="0" bIns="0" rtlCol="0" anchor="ctr"/>
          <a:lstStyle/>
          <a:p>
            <a:pPr algn="l" indent="0" marL="0">
              <a:buNone/>
            </a:pPr>
            <a:r>
              <a:rPr lang="en-US" sz="1200" dirty="0">
                <a:solidFill>
                  <a:srgbClr val="FFFFFF"/>
                </a:solidFill>
              </a:rPr>
              <a:t>Bacaan pendukung: Heizer, Render &amp; Munson (2017) Bab 14–15 (Global Company Profile Alaska Airlines)  ·  Slack, Brandon-Jones &amp; Burgess (2022) Bab 10 dan 14.</a:t>
            </a:r>
            <a:endParaRPr lang="en-US" sz="1200" dirty="0"/>
          </a:p>
        </p:txBody>
      </p:sp>
      <p:sp>
        <p:nvSpPr>
          <p:cNvPr id="25" name="Slide Number Placeholder 0"/>
          <p:cNvSpPr>
            <a:spLocks noGrp="1"/>
          </p:cNvSpPr>
          <p:nvPr>
            <p:ph type="sldNum" sz="quarter" idx="4294967295"/>
          </p:nvPr>
        </p:nvSpPr>
        <p:spPr>
          <a:xfrm>
            <a:off x="11247120" y="6446520"/>
            <a:ext cx="39319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4F2D2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algn="l" indent="0" marL="0">
              <a:buNone/>
            </a:pPr>
            <a:r>
              <a:rPr lang="en-US" sz="2800" b="1" dirty="0">
                <a:solidFill>
                  <a:srgbClr val="2E1616"/>
                </a:solidFill>
              </a:rPr>
              <a:t>Tentang Alaska Airlines</a:t>
            </a:r>
            <a:endParaRPr lang="en-US" sz="2800" dirty="0"/>
          </a:p>
        </p:txBody>
      </p:sp>
      <p:sp>
        <p:nvSpPr>
          <p:cNvPr id="4" name="title circle"/>
          <p:cNvSpPr/>
          <p:nvPr/>
        </p:nvSpPr>
        <p:spPr>
          <a:xfrm>
            <a:off x="347472" y="384048"/>
            <a:ext cx="1769364" cy="786384"/>
          </a:xfrm>
          <a:prstGeom prst="ellipse">
            <a:avLst/>
          </a:prstGeom>
          <a:solidFill>
            <a:srgbClr val="B3D9FE">
              <a:alpha val="0"/>
            </a:srgbClr>
          </a:solidFill>
          <a:ln w="28575">
            <a:solidFill>
              <a:srgbClr val="3B8BE0"/>
            </a:solidFill>
            <a:prstDash val="solid"/>
          </a:ln>
        </p:spPr>
      </p:sp>
      <p:sp>
        <p:nvSpPr>
          <p:cNvPr id="5" name="card"/>
          <p:cNvSpPr/>
          <p:nvPr/>
        </p:nvSpPr>
        <p:spPr>
          <a:xfrm>
            <a:off x="548640" y="1325880"/>
            <a:ext cx="6583680" cy="4892040"/>
          </a:xfrm>
          <a:prstGeom prst="roundRect">
            <a:avLst>
              <a:gd name="adj" fmla="val 3738"/>
            </a:avLst>
          </a:prstGeom>
          <a:solidFill>
            <a:srgbClr val="F5F2EB"/>
          </a:solidFill>
          <a:ln w="3175">
            <a:solidFill>
              <a:srgbClr val="F5F2EB"/>
            </a:solidFill>
            <a:prstDash val="solid"/>
          </a:ln>
        </p:spPr>
      </p:sp>
      <p:sp>
        <p:nvSpPr>
          <p:cNvPr id="6" name="text"/>
          <p:cNvSpPr txBox="1"/>
          <p:nvPr/>
        </p:nvSpPr>
        <p:spPr>
          <a:xfrm>
            <a:off x="822960" y="1554480"/>
            <a:ext cx="6035040" cy="1417320"/>
          </a:xfrm>
          <a:prstGeom prst="rect">
            <a:avLst/>
          </a:prstGeom>
          <a:noFill/>
          <a:ln/>
        </p:spPr>
        <p:txBody>
          <a:bodyPr wrap="square" lIns="0" tIns="0" rIns="0" bIns="0" rtlCol="0" anchor="t"/>
          <a:lstStyle/>
          <a:p>
            <a:pPr algn="l" indent="0" marL="0">
              <a:buNone/>
            </a:pPr>
            <a:r>
              <a:rPr lang="en-US" sz="1300" dirty="0">
                <a:solidFill>
                  <a:srgbClr val="2E1616"/>
                </a:solidFill>
              </a:rPr>
              <a:t>Alaska Airlines adalah maskapai berbasis Seattle–Tacoma (SEA) di bawah Alaska Air Group bersama Horizon Air dan, sejak September 2024, Hawaiian Airlines. Grup ini melayani lebih dari 140 destinasi di Amerika Utara, Amerika Tengah, Asia, dan Pasifik dengan lebih dari 30.000 karyawan dan 392 pesawat pada akhir 2024.</a:t>
            </a:r>
            <a:endParaRPr lang="en-US" sz="1300" dirty="0"/>
          </a:p>
        </p:txBody>
      </p:sp>
      <p:sp>
        <p:nvSpPr>
          <p:cNvPr id="7" name="text"/>
          <p:cNvSpPr txBox="1"/>
          <p:nvPr/>
        </p:nvSpPr>
        <p:spPr>
          <a:xfrm>
            <a:off x="822960" y="3017520"/>
            <a:ext cx="6035040" cy="1417320"/>
          </a:xfrm>
          <a:prstGeom prst="rect">
            <a:avLst/>
          </a:prstGeom>
          <a:noFill/>
          <a:ln/>
        </p:spPr>
        <p:txBody>
          <a:bodyPr wrap="square" lIns="0" tIns="0" rIns="0" bIns="0" rtlCol="0" anchor="t"/>
          <a:lstStyle/>
          <a:p>
            <a:pPr algn="l" indent="0" marL="0">
              <a:buNone/>
            </a:pPr>
            <a:r>
              <a:rPr lang="en-US" sz="1300" dirty="0">
                <a:solidFill>
                  <a:srgbClr val="2E1616"/>
                </a:solidFill>
              </a:rPr>
              <a:t>SEA adalah bandara tersibuk ke-15 di Amerika Serikat dengan curah hujan sekitar 5 inci per bulan pada musim dingin, namun menjadi bandara AS dengan </a:t>
            </a:r>
            <a:r>
              <a:rPr lang="en-US" sz="1300" i="1" dirty="0">
                <a:solidFill>
                  <a:srgbClr val="2E1616"/>
                </a:solidFill>
              </a:rPr>
              <a:t>on-time departures</a:t>
            </a:r>
            <a:r>
              <a:rPr lang="en-US" sz="1300" dirty="0">
                <a:solidFill>
                  <a:srgbClr val="2E1616"/>
                </a:solidFill>
              </a:rPr>
              <a:t> tertinggi (85,8%). Sebagian besar kredit jatuh pada Alaska Airlines, yang menguasai lebih dari separuh penerbangan domestik di sana (Heizer et al., 2017).</a:t>
            </a:r>
            <a:endParaRPr lang="en-US" sz="1300" dirty="0"/>
          </a:p>
        </p:txBody>
      </p:sp>
      <p:sp>
        <p:nvSpPr>
          <p:cNvPr id="8" name="text"/>
          <p:cNvSpPr txBox="1"/>
          <p:nvPr/>
        </p:nvSpPr>
        <p:spPr>
          <a:xfrm>
            <a:off x="822960" y="4480560"/>
            <a:ext cx="6035040" cy="1097280"/>
          </a:xfrm>
          <a:prstGeom prst="rect">
            <a:avLst/>
          </a:prstGeom>
          <a:noFill/>
          <a:ln/>
        </p:spPr>
        <p:txBody>
          <a:bodyPr wrap="square" lIns="0" tIns="0" rIns="0" bIns="0" rtlCol="0" anchor="t"/>
          <a:lstStyle/>
          <a:p>
            <a:pPr algn="l" indent="0" marL="0">
              <a:buNone/>
            </a:pPr>
            <a:r>
              <a:rPr lang="en-US" sz="1300" dirty="0">
                <a:solidFill>
                  <a:srgbClr val="2E1616"/>
                </a:solidFill>
              </a:rPr>
              <a:t>Pada 29 Oktober 2025 FAA memberikan </a:t>
            </a:r>
            <a:r>
              <a:rPr lang="en-US" sz="1300" i="1" dirty="0">
                <a:solidFill>
                  <a:srgbClr val="2E1616"/>
                </a:solidFill>
              </a:rPr>
              <a:t>single operating certificate</a:t>
            </a:r>
            <a:r>
              <a:rPr lang="en-US" sz="1300" dirty="0">
                <a:solidFill>
                  <a:srgbClr val="2E1616"/>
                </a:solidFill>
              </a:rPr>
              <a:t> bagi Alaska dan Hawaiian: dua merek, satu sistem operasi. Basis kru: Seattle, Anchorage, Portland, San Francisco, Los Angeles, San Diego, dan Honolulu.</a:t>
            </a:r>
            <a:endParaRPr lang="en-US" sz="1300" dirty="0"/>
          </a:p>
        </p:txBody>
      </p:sp>
      <p:sp>
        <p:nvSpPr>
          <p:cNvPr id="9" name="pill"/>
          <p:cNvSpPr/>
          <p:nvPr/>
        </p:nvSpPr>
        <p:spPr>
          <a:xfrm>
            <a:off x="822960" y="5623560"/>
            <a:ext cx="1188720" cy="329184"/>
          </a:xfrm>
          <a:prstGeom prst="roundRect">
            <a:avLst>
              <a:gd name="adj" fmla="val 50000"/>
            </a:avLst>
          </a:prstGeom>
          <a:solidFill>
            <a:srgbClr val="B3D9FE"/>
          </a:solidFill>
          <a:ln w="12700">
            <a:solidFill>
              <a:srgbClr val="4F2D2C"/>
            </a:solidFill>
            <a:prstDash val="solid"/>
          </a:ln>
        </p:spPr>
      </p:sp>
      <p:sp>
        <p:nvSpPr>
          <p:cNvPr id="10" name="pill label"/>
          <p:cNvSpPr txBox="1"/>
          <p:nvPr/>
        </p:nvSpPr>
        <p:spPr>
          <a:xfrm>
            <a:off x="822960" y="5623560"/>
            <a:ext cx="1188720" cy="329184"/>
          </a:xfrm>
          <a:prstGeom prst="rect">
            <a:avLst/>
          </a:prstGeom>
          <a:noFill/>
          <a:ln/>
        </p:spPr>
        <p:txBody>
          <a:bodyPr wrap="square" lIns="0" tIns="0" rIns="0" bIns="0" rtlCol="0" anchor="ctr"/>
          <a:lstStyle/>
          <a:p>
            <a:pPr algn="ctr" indent="0" marL="0">
              <a:buNone/>
            </a:pPr>
            <a:r>
              <a:rPr lang="en-US" sz="1000" b="1" dirty="0">
                <a:solidFill>
                  <a:srgbClr val="2E1616"/>
                </a:solidFill>
              </a:rPr>
              <a:t>Hub: SEA</a:t>
            </a:r>
            <a:endParaRPr lang="en-US" sz="1000" dirty="0"/>
          </a:p>
        </p:txBody>
      </p:sp>
      <p:sp>
        <p:nvSpPr>
          <p:cNvPr id="11" name="pill"/>
          <p:cNvSpPr/>
          <p:nvPr/>
        </p:nvSpPr>
        <p:spPr>
          <a:xfrm>
            <a:off x="2148840" y="5623560"/>
            <a:ext cx="2377440" cy="329184"/>
          </a:xfrm>
          <a:prstGeom prst="roundRect">
            <a:avLst>
              <a:gd name="adj" fmla="val 50000"/>
            </a:avLst>
          </a:prstGeom>
          <a:solidFill>
            <a:srgbClr val="B3D9FE"/>
          </a:solidFill>
          <a:ln w="12700">
            <a:solidFill>
              <a:srgbClr val="4F2D2C"/>
            </a:solidFill>
            <a:prstDash val="solid"/>
          </a:ln>
        </p:spPr>
      </p:sp>
      <p:sp>
        <p:nvSpPr>
          <p:cNvPr id="12" name="pill label"/>
          <p:cNvSpPr txBox="1"/>
          <p:nvPr/>
        </p:nvSpPr>
        <p:spPr>
          <a:xfrm>
            <a:off x="2148840" y="5623560"/>
            <a:ext cx="2377440" cy="329184"/>
          </a:xfrm>
          <a:prstGeom prst="rect">
            <a:avLst/>
          </a:prstGeom>
          <a:noFill/>
          <a:ln/>
        </p:spPr>
        <p:txBody>
          <a:bodyPr wrap="square" lIns="0" tIns="0" rIns="0" bIns="0" rtlCol="0" anchor="ctr"/>
          <a:lstStyle/>
          <a:p>
            <a:pPr algn="ctr" indent="0" marL="0">
              <a:buNone/>
            </a:pPr>
            <a:r>
              <a:rPr lang="en-US" sz="1000" b="1" dirty="0">
                <a:solidFill>
                  <a:srgbClr val="2E1616"/>
                </a:solidFill>
              </a:rPr>
              <a:t>Alaska · Horizon · Hawaiian</a:t>
            </a:r>
            <a:endParaRPr lang="en-US" sz="1000" dirty="0"/>
          </a:p>
        </p:txBody>
      </p:sp>
      <p:sp>
        <p:nvSpPr>
          <p:cNvPr id="13" name="pill"/>
          <p:cNvSpPr/>
          <p:nvPr/>
        </p:nvSpPr>
        <p:spPr>
          <a:xfrm>
            <a:off x="4663440" y="5623560"/>
            <a:ext cx="2103120" cy="329184"/>
          </a:xfrm>
          <a:prstGeom prst="roundRect">
            <a:avLst>
              <a:gd name="adj" fmla="val 50000"/>
            </a:avLst>
          </a:prstGeom>
          <a:solidFill>
            <a:srgbClr val="B3D9FE"/>
          </a:solidFill>
          <a:ln w="12700">
            <a:solidFill>
              <a:srgbClr val="4F2D2C"/>
            </a:solidFill>
            <a:prstDash val="solid"/>
          </a:ln>
        </p:spPr>
      </p:sp>
      <p:sp>
        <p:nvSpPr>
          <p:cNvPr id="14" name="pill label"/>
          <p:cNvSpPr txBox="1"/>
          <p:nvPr/>
        </p:nvSpPr>
        <p:spPr>
          <a:xfrm>
            <a:off x="4663440" y="5623560"/>
            <a:ext cx="2103120" cy="329184"/>
          </a:xfrm>
          <a:prstGeom prst="rect">
            <a:avLst/>
          </a:prstGeom>
          <a:noFill/>
          <a:ln/>
        </p:spPr>
        <p:txBody>
          <a:bodyPr wrap="square" lIns="0" tIns="0" rIns="0" bIns="0" rtlCol="0" anchor="ctr"/>
          <a:lstStyle/>
          <a:p>
            <a:pPr algn="ctr" indent="0" marL="0">
              <a:buNone/>
            </a:pPr>
            <a:r>
              <a:rPr lang="en-US" sz="1000" b="1" dirty="0">
                <a:solidFill>
                  <a:srgbClr val="2E1616"/>
                </a:solidFill>
              </a:rPr>
              <a:t>Armada inti: Boeing 737</a:t>
            </a:r>
            <a:endParaRPr lang="en-US" sz="1000" dirty="0"/>
          </a:p>
        </p:txBody>
      </p:sp>
      <p:pic>
        <p:nvPicPr>
          <p:cNvPr id="15" name="foto pesawat Alaska di SEA" descr="/tmp/claude-0/-home-user-Dom-Manipulation/385e5267-c23e-5c04-80f5-d5fb4946a902/scratchpad/build/img2/profil.jpg">    </p:cNvPr>
          <p:cNvPicPr>
            <a:picLocks noChangeAspect="1"/>
          </p:cNvPicPr>
          <p:nvPr/>
        </p:nvPicPr>
        <p:blipFill>
          <a:blip r:embed="rId1"/>
          <a:stretch>
            <a:fillRect/>
          </a:stretch>
        </p:blipFill>
        <p:spPr>
          <a:xfrm>
            <a:off x="7360920" y="1325880"/>
            <a:ext cx="4279392" cy="3749040"/>
          </a:xfrm>
          <a:prstGeom prst="rect">
            <a:avLst/>
          </a:prstGeom>
        </p:spPr>
      </p:pic>
      <p:sp>
        <p:nvSpPr>
          <p:cNvPr id="16" name="card"/>
          <p:cNvSpPr/>
          <p:nvPr/>
        </p:nvSpPr>
        <p:spPr>
          <a:xfrm>
            <a:off x="7360920" y="5257800"/>
            <a:ext cx="4279392" cy="960120"/>
          </a:xfrm>
          <a:prstGeom prst="roundRect">
            <a:avLst>
              <a:gd name="adj" fmla="val 19048"/>
            </a:avLst>
          </a:prstGeom>
          <a:solidFill>
            <a:srgbClr val="F5F2EB"/>
          </a:solidFill>
          <a:ln w="3175">
            <a:solidFill>
              <a:srgbClr val="F5F2EB"/>
            </a:solidFill>
            <a:prstDash val="solid"/>
          </a:ln>
        </p:spPr>
      </p:sp>
      <p:sp>
        <p:nvSpPr>
          <p:cNvPr id="17" name="text"/>
          <p:cNvSpPr txBox="1"/>
          <p:nvPr/>
        </p:nvSpPr>
        <p:spPr>
          <a:xfrm>
            <a:off x="7543800" y="5257800"/>
            <a:ext cx="3913632" cy="960120"/>
          </a:xfrm>
          <a:prstGeom prst="rect">
            <a:avLst/>
          </a:prstGeom>
          <a:noFill/>
          <a:ln/>
        </p:spPr>
        <p:txBody>
          <a:bodyPr wrap="square" lIns="0" tIns="0" rIns="0" bIns="0" rtlCol="0" anchor="ctr"/>
          <a:lstStyle/>
          <a:p>
            <a:pPr algn="l" indent="0" marL="0">
              <a:buNone/>
            </a:pPr>
            <a:r>
              <a:rPr lang="en-US" sz="1150" i="1" dirty="0">
                <a:solidFill>
                  <a:srgbClr val="2E1616"/>
                </a:solidFill>
              </a:rPr>
              <a:t>"Alaska menemukan keunggulan kompetitif pada kemampuannya melakukan penyesuaian menit terakhir." (Heizer et al., 2017)</a:t>
            </a:r>
            <a:endParaRPr lang="en-US" sz="1150" dirty="0"/>
          </a:p>
        </p:txBody>
      </p:sp>
      <p:sp>
        <p:nvSpPr>
          <p:cNvPr id="25" name="Slide Number Placeholder 0"/>
          <p:cNvSpPr>
            <a:spLocks noGrp="1"/>
          </p:cNvSpPr>
          <p:nvPr>
            <p:ph type="sldNum" sz="quarter" idx="4294967295"/>
          </p:nvPr>
        </p:nvSpPr>
        <p:spPr>
          <a:xfrm>
            <a:off x="11247120" y="6446520"/>
            <a:ext cx="39319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4F2D2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algn="l" indent="0" marL="0">
              <a:buNone/>
            </a:pPr>
            <a:r>
              <a:rPr lang="en-US" sz="2800" b="1" dirty="0">
                <a:solidFill>
                  <a:srgbClr val="2E1616"/>
                </a:solidFill>
              </a:rPr>
              <a:t>Skala Operasi dan Kinerja Ketepatan Waktu</a:t>
            </a:r>
            <a:endParaRPr lang="en-US" sz="2800" dirty="0"/>
          </a:p>
        </p:txBody>
      </p:sp>
      <p:sp>
        <p:nvSpPr>
          <p:cNvPr id="4" name="title circle"/>
          <p:cNvSpPr/>
          <p:nvPr/>
        </p:nvSpPr>
        <p:spPr>
          <a:xfrm>
            <a:off x="347472" y="384048"/>
            <a:ext cx="1394460" cy="786384"/>
          </a:xfrm>
          <a:prstGeom prst="ellipse">
            <a:avLst/>
          </a:prstGeom>
          <a:solidFill>
            <a:srgbClr val="B3D9FE">
              <a:alpha val="0"/>
            </a:srgbClr>
          </a:solidFill>
          <a:ln w="28575">
            <a:solidFill>
              <a:srgbClr val="3B8BE0"/>
            </a:solidFill>
            <a:prstDash val="solid"/>
          </a:ln>
        </p:spPr>
      </p:sp>
      <p:sp>
        <p:nvSpPr>
          <p:cNvPr id="5" name="card"/>
          <p:cNvSpPr/>
          <p:nvPr/>
        </p:nvSpPr>
        <p:spPr>
          <a:xfrm>
            <a:off x="548640" y="1325880"/>
            <a:ext cx="5577840" cy="4892040"/>
          </a:xfrm>
          <a:prstGeom prst="roundRect">
            <a:avLst>
              <a:gd name="adj" fmla="val 3738"/>
            </a:avLst>
          </a:prstGeom>
          <a:solidFill>
            <a:srgbClr val="F5F2EB"/>
          </a:solidFill>
          <a:ln w="3175">
            <a:solidFill>
              <a:srgbClr val="F5F2EB"/>
            </a:solidFill>
            <a:prstDash val="solid"/>
          </a:ln>
        </p:spPr>
      </p:sp>
      <p:graphicFrame>
        <p:nvGraphicFramePr>
          <p:cNvPr id="6" name="chart ketepatan waktu" descr=""/>
          <p:cNvGraphicFramePr/>
          <p:nvPr/>
        </p:nvGraphicFramePr>
        <p:xfrm>
          <a:off x="731520" y="1463040"/>
          <a:ext cx="5212080" cy="4160520"/>
        </p:xfrm>
        <a:graphic xmlns:a="http://schemas.openxmlformats.org/drawingml/2006/main">
          <a:graphicData uri="http://schemas.openxmlformats.org/drawingml/2006/chart">
            <c:chart xmlns:c="http://schemas.openxmlformats.org/drawingml/2006/chart" r:id="rId1"/>
          </a:graphicData>
        </a:graphic>
      </p:graphicFrame>
      <p:sp>
        <p:nvSpPr>
          <p:cNvPr id="7" name="text"/>
          <p:cNvSpPr txBox="1"/>
          <p:nvPr/>
        </p:nvSpPr>
        <p:spPr>
          <a:xfrm>
            <a:off x="822960" y="5715000"/>
            <a:ext cx="5029200" cy="365760"/>
          </a:xfrm>
          <a:prstGeom prst="rect">
            <a:avLst/>
          </a:prstGeom>
          <a:noFill/>
          <a:ln/>
        </p:spPr>
        <p:txBody>
          <a:bodyPr wrap="square" lIns="0" tIns="0" rIns="0" bIns="0" rtlCol="0" anchor="t"/>
          <a:lstStyle/>
          <a:p>
            <a:pPr algn="ctr" indent="0" marL="0">
              <a:buNone/>
            </a:pPr>
            <a:r>
              <a:rPr lang="en-US" sz="1000" i="1" dirty="0">
                <a:solidFill>
                  <a:srgbClr val="6E5A5A"/>
                </a:solidFill>
              </a:rPr>
              <a:t>Sumber: Cirium, 2024 On-Time Performance Review (Januari 2025). Alaska peringkat ke-3 Amerika Utara.</a:t>
            </a:r>
            <a:endParaRPr lang="en-US" sz="1000" dirty="0"/>
          </a:p>
        </p:txBody>
      </p:sp>
      <p:sp>
        <p:nvSpPr>
          <p:cNvPr id="8" name="card"/>
          <p:cNvSpPr/>
          <p:nvPr/>
        </p:nvSpPr>
        <p:spPr>
          <a:xfrm>
            <a:off x="6355080" y="1325880"/>
            <a:ext cx="2552548" cy="1508760"/>
          </a:xfrm>
          <a:prstGeom prst="roundRect">
            <a:avLst>
              <a:gd name="adj" fmla="val 12121"/>
            </a:avLst>
          </a:prstGeom>
          <a:solidFill>
            <a:srgbClr val="F5F2EB"/>
          </a:solidFill>
          <a:ln w="3175">
            <a:solidFill>
              <a:srgbClr val="F5F2EB"/>
            </a:solidFill>
            <a:prstDash val="solid"/>
          </a:ln>
        </p:spPr>
      </p:sp>
      <p:sp>
        <p:nvSpPr>
          <p:cNvPr id="9" name="icon circle"/>
          <p:cNvSpPr/>
          <p:nvPr/>
        </p:nvSpPr>
        <p:spPr>
          <a:xfrm>
            <a:off x="6537960" y="1508760"/>
            <a:ext cx="457200" cy="457200"/>
          </a:xfrm>
          <a:prstGeom prst="ellipse">
            <a:avLst/>
          </a:prstGeom>
          <a:solidFill>
            <a:srgbClr val="D7EAFD"/>
          </a:solidFill>
          <a:ln w="3175">
            <a:solidFill>
              <a:srgbClr val="D7EAFD"/>
            </a:solidFill>
            <a:prstDash val="solid"/>
          </a:ln>
        </p:spPr>
      </p:sp>
      <p:pic>
        <p:nvPicPr>
          <p:cNvPr id="10" name="icon FaPlane" descr="preencoded.png">    </p:cNvPr>
          <p:cNvPicPr>
            <a:picLocks noChangeAspect="1"/>
          </p:cNvPicPr>
          <p:nvPr/>
        </p:nvPicPr>
        <p:blipFill>
          <a:blip r:embed="rId2"/>
          <a:stretch>
            <a:fillRect/>
          </a:stretch>
        </p:blipFill>
        <p:spPr>
          <a:xfrm>
            <a:off x="6652260" y="1623060"/>
            <a:ext cx="228600" cy="228600"/>
          </a:xfrm>
          <a:prstGeom prst="rect">
            <a:avLst/>
          </a:prstGeom>
        </p:spPr>
      </p:pic>
      <p:sp>
        <p:nvSpPr>
          <p:cNvPr id="11" name="text"/>
          <p:cNvSpPr txBox="1"/>
          <p:nvPr/>
        </p:nvSpPr>
        <p:spPr>
          <a:xfrm>
            <a:off x="7132320" y="1463040"/>
            <a:ext cx="1638148" cy="548640"/>
          </a:xfrm>
          <a:prstGeom prst="rect">
            <a:avLst/>
          </a:prstGeom>
          <a:noFill/>
          <a:ln/>
        </p:spPr>
        <p:txBody>
          <a:bodyPr wrap="square" lIns="0" tIns="0" rIns="0" bIns="0" rtlCol="0" anchor="ctr"/>
          <a:lstStyle/>
          <a:p>
            <a:pPr algn="l" indent="0" marL="0">
              <a:buNone/>
            </a:pPr>
            <a:r>
              <a:rPr lang="en-US" sz="2200" b="1" dirty="0">
                <a:solidFill>
                  <a:srgbClr val="2E1616"/>
                </a:solidFill>
              </a:rPr>
              <a:t>392</a:t>
            </a:r>
            <a:endParaRPr lang="en-US" sz="2200" dirty="0"/>
          </a:p>
        </p:txBody>
      </p:sp>
      <p:sp>
        <p:nvSpPr>
          <p:cNvPr id="12" name="text"/>
          <p:cNvSpPr txBox="1"/>
          <p:nvPr/>
        </p:nvSpPr>
        <p:spPr>
          <a:xfrm>
            <a:off x="6537960" y="2075688"/>
            <a:ext cx="2186788" cy="685800"/>
          </a:xfrm>
          <a:prstGeom prst="rect">
            <a:avLst/>
          </a:prstGeom>
          <a:noFill/>
          <a:ln/>
        </p:spPr>
        <p:txBody>
          <a:bodyPr wrap="square" lIns="0" tIns="0" rIns="0" bIns="0" rtlCol="0" anchor="t"/>
          <a:lstStyle/>
          <a:p>
            <a:pPr algn="l" indent="0" marL="0">
              <a:buNone/>
            </a:pPr>
            <a:r>
              <a:rPr lang="en-US" sz="1100" dirty="0">
                <a:solidFill>
                  <a:srgbClr val="2E1616"/>
                </a:solidFill>
              </a:rPr>
              <a:t>pesawat pada akhir 2024 (239 Alaska, 44 Horizon, 71 Hawaiian)</a:t>
            </a:r>
            <a:endParaRPr lang="en-US" sz="1100" dirty="0"/>
          </a:p>
        </p:txBody>
      </p:sp>
      <p:sp>
        <p:nvSpPr>
          <p:cNvPr id="13" name="card"/>
          <p:cNvSpPr/>
          <p:nvPr/>
        </p:nvSpPr>
        <p:spPr>
          <a:xfrm>
            <a:off x="9090508" y="1325880"/>
            <a:ext cx="2552548" cy="1508760"/>
          </a:xfrm>
          <a:prstGeom prst="roundRect">
            <a:avLst>
              <a:gd name="adj" fmla="val 12121"/>
            </a:avLst>
          </a:prstGeom>
          <a:solidFill>
            <a:srgbClr val="F5F2EB"/>
          </a:solidFill>
          <a:ln w="3175">
            <a:solidFill>
              <a:srgbClr val="F5F2EB"/>
            </a:solidFill>
            <a:prstDash val="solid"/>
          </a:ln>
        </p:spPr>
      </p:sp>
      <p:sp>
        <p:nvSpPr>
          <p:cNvPr id="14" name="icon circle"/>
          <p:cNvSpPr/>
          <p:nvPr/>
        </p:nvSpPr>
        <p:spPr>
          <a:xfrm>
            <a:off x="9273388" y="1508760"/>
            <a:ext cx="457200" cy="457200"/>
          </a:xfrm>
          <a:prstGeom prst="ellipse">
            <a:avLst/>
          </a:prstGeom>
          <a:solidFill>
            <a:srgbClr val="D7EAFD"/>
          </a:solidFill>
          <a:ln w="3175">
            <a:solidFill>
              <a:srgbClr val="D7EAFD"/>
            </a:solidFill>
            <a:prstDash val="solid"/>
          </a:ln>
        </p:spPr>
      </p:sp>
      <p:pic>
        <p:nvPicPr>
          <p:cNvPr id="15" name="icon FaMapMarkedAlt" descr="preencoded.png">    </p:cNvPr>
          <p:cNvPicPr>
            <a:picLocks noChangeAspect="1"/>
          </p:cNvPicPr>
          <p:nvPr/>
        </p:nvPicPr>
        <p:blipFill>
          <a:blip r:embed="rId3"/>
          <a:stretch>
            <a:fillRect/>
          </a:stretch>
        </p:blipFill>
        <p:spPr>
          <a:xfrm>
            <a:off x="9387688" y="1623060"/>
            <a:ext cx="228600" cy="228600"/>
          </a:xfrm>
          <a:prstGeom prst="rect">
            <a:avLst/>
          </a:prstGeom>
        </p:spPr>
      </p:pic>
      <p:sp>
        <p:nvSpPr>
          <p:cNvPr id="16" name="text"/>
          <p:cNvSpPr txBox="1"/>
          <p:nvPr/>
        </p:nvSpPr>
        <p:spPr>
          <a:xfrm>
            <a:off x="9867748" y="1463040"/>
            <a:ext cx="1638148" cy="548640"/>
          </a:xfrm>
          <a:prstGeom prst="rect">
            <a:avLst/>
          </a:prstGeom>
          <a:noFill/>
          <a:ln/>
        </p:spPr>
        <p:txBody>
          <a:bodyPr wrap="square" lIns="0" tIns="0" rIns="0" bIns="0" rtlCol="0" anchor="ctr"/>
          <a:lstStyle/>
          <a:p>
            <a:pPr algn="l" indent="0" marL="0">
              <a:buNone/>
            </a:pPr>
            <a:r>
              <a:rPr lang="en-US" sz="2200" b="1" dirty="0">
                <a:solidFill>
                  <a:srgbClr val="2E1616"/>
                </a:solidFill>
              </a:rPr>
              <a:t>140+</a:t>
            </a:r>
            <a:endParaRPr lang="en-US" sz="2200" dirty="0"/>
          </a:p>
        </p:txBody>
      </p:sp>
      <p:sp>
        <p:nvSpPr>
          <p:cNvPr id="17" name="text"/>
          <p:cNvSpPr txBox="1"/>
          <p:nvPr/>
        </p:nvSpPr>
        <p:spPr>
          <a:xfrm>
            <a:off x="9273388" y="2075688"/>
            <a:ext cx="2186788" cy="685800"/>
          </a:xfrm>
          <a:prstGeom prst="rect">
            <a:avLst/>
          </a:prstGeom>
          <a:noFill/>
          <a:ln/>
        </p:spPr>
        <p:txBody>
          <a:bodyPr wrap="square" lIns="0" tIns="0" rIns="0" bIns="0" rtlCol="0" anchor="t"/>
          <a:lstStyle/>
          <a:p>
            <a:pPr algn="l" indent="0" marL="0">
              <a:buNone/>
            </a:pPr>
            <a:r>
              <a:rPr lang="en-US" sz="1100" dirty="0">
                <a:solidFill>
                  <a:srgbClr val="2E1616"/>
                </a:solidFill>
              </a:rPr>
              <a:t>destinasi di empat kawasan</a:t>
            </a:r>
            <a:endParaRPr lang="en-US" sz="1100" dirty="0"/>
          </a:p>
        </p:txBody>
      </p:sp>
      <p:sp>
        <p:nvSpPr>
          <p:cNvPr id="18" name="card"/>
          <p:cNvSpPr/>
          <p:nvPr/>
        </p:nvSpPr>
        <p:spPr>
          <a:xfrm>
            <a:off x="6355080" y="3017520"/>
            <a:ext cx="2552548" cy="1508760"/>
          </a:xfrm>
          <a:prstGeom prst="roundRect">
            <a:avLst>
              <a:gd name="adj" fmla="val 12121"/>
            </a:avLst>
          </a:prstGeom>
          <a:solidFill>
            <a:srgbClr val="F5F2EB"/>
          </a:solidFill>
          <a:ln w="3175">
            <a:solidFill>
              <a:srgbClr val="F5F2EB"/>
            </a:solidFill>
            <a:prstDash val="solid"/>
          </a:ln>
        </p:spPr>
      </p:sp>
      <p:sp>
        <p:nvSpPr>
          <p:cNvPr id="19" name="icon circle"/>
          <p:cNvSpPr/>
          <p:nvPr/>
        </p:nvSpPr>
        <p:spPr>
          <a:xfrm>
            <a:off x="6537960" y="3200400"/>
            <a:ext cx="457200" cy="457200"/>
          </a:xfrm>
          <a:prstGeom prst="ellipse">
            <a:avLst/>
          </a:prstGeom>
          <a:solidFill>
            <a:srgbClr val="D7EAFD"/>
          </a:solidFill>
          <a:ln w="3175">
            <a:solidFill>
              <a:srgbClr val="D7EAFD"/>
            </a:solidFill>
            <a:prstDash val="solid"/>
          </a:ln>
        </p:spPr>
      </p:sp>
      <p:pic>
        <p:nvPicPr>
          <p:cNvPr id="20" name="icon FaUsers" descr="preencoded.png">    </p:cNvPr>
          <p:cNvPicPr>
            <a:picLocks noChangeAspect="1"/>
          </p:cNvPicPr>
          <p:nvPr/>
        </p:nvPicPr>
        <p:blipFill>
          <a:blip r:embed="rId4"/>
          <a:stretch>
            <a:fillRect/>
          </a:stretch>
        </p:blipFill>
        <p:spPr>
          <a:xfrm>
            <a:off x="6652260" y="3314700"/>
            <a:ext cx="228600" cy="228600"/>
          </a:xfrm>
          <a:prstGeom prst="rect">
            <a:avLst/>
          </a:prstGeom>
        </p:spPr>
      </p:pic>
      <p:sp>
        <p:nvSpPr>
          <p:cNvPr id="21" name="text"/>
          <p:cNvSpPr txBox="1"/>
          <p:nvPr/>
        </p:nvSpPr>
        <p:spPr>
          <a:xfrm>
            <a:off x="7132320" y="3154680"/>
            <a:ext cx="1638148" cy="548640"/>
          </a:xfrm>
          <a:prstGeom prst="rect">
            <a:avLst/>
          </a:prstGeom>
          <a:noFill/>
          <a:ln/>
        </p:spPr>
        <p:txBody>
          <a:bodyPr wrap="square" lIns="0" tIns="0" rIns="0" bIns="0" rtlCol="0" anchor="ctr"/>
          <a:lstStyle/>
          <a:p>
            <a:pPr algn="l" indent="0" marL="0">
              <a:buNone/>
            </a:pPr>
            <a:r>
              <a:rPr lang="en-US" sz="2200" b="1" dirty="0">
                <a:solidFill>
                  <a:srgbClr val="2E1616"/>
                </a:solidFill>
              </a:rPr>
              <a:t>30.000+</a:t>
            </a:r>
            <a:endParaRPr lang="en-US" sz="2200" dirty="0"/>
          </a:p>
        </p:txBody>
      </p:sp>
      <p:sp>
        <p:nvSpPr>
          <p:cNvPr id="22" name="text"/>
          <p:cNvSpPr txBox="1"/>
          <p:nvPr/>
        </p:nvSpPr>
        <p:spPr>
          <a:xfrm>
            <a:off x="6537960" y="3767328"/>
            <a:ext cx="2186788" cy="685800"/>
          </a:xfrm>
          <a:prstGeom prst="rect">
            <a:avLst/>
          </a:prstGeom>
          <a:noFill/>
          <a:ln/>
        </p:spPr>
        <p:txBody>
          <a:bodyPr wrap="square" lIns="0" tIns="0" rIns="0" bIns="0" rtlCol="0" anchor="t"/>
          <a:lstStyle/>
          <a:p>
            <a:pPr algn="l" indent="0" marL="0">
              <a:buNone/>
            </a:pPr>
            <a:r>
              <a:rPr lang="en-US" sz="1100" dirty="0">
                <a:solidFill>
                  <a:srgbClr val="2E1616"/>
                </a:solidFill>
              </a:rPr>
              <a:t>karyawan Alaska Air Group</a:t>
            </a:r>
            <a:endParaRPr lang="en-US" sz="1100" dirty="0"/>
          </a:p>
        </p:txBody>
      </p:sp>
      <p:sp>
        <p:nvSpPr>
          <p:cNvPr id="23" name="card"/>
          <p:cNvSpPr/>
          <p:nvPr/>
        </p:nvSpPr>
        <p:spPr>
          <a:xfrm>
            <a:off x="9090508" y="3017520"/>
            <a:ext cx="2552548" cy="1508760"/>
          </a:xfrm>
          <a:prstGeom prst="roundRect">
            <a:avLst>
              <a:gd name="adj" fmla="val 12121"/>
            </a:avLst>
          </a:prstGeom>
          <a:solidFill>
            <a:srgbClr val="F5F2EB"/>
          </a:solidFill>
          <a:ln w="3175">
            <a:solidFill>
              <a:srgbClr val="F5F2EB"/>
            </a:solidFill>
            <a:prstDash val="solid"/>
          </a:ln>
        </p:spPr>
      </p:sp>
      <p:sp>
        <p:nvSpPr>
          <p:cNvPr id="24" name="icon circle"/>
          <p:cNvSpPr/>
          <p:nvPr/>
        </p:nvSpPr>
        <p:spPr>
          <a:xfrm>
            <a:off x="9273388" y="3200400"/>
            <a:ext cx="457200" cy="457200"/>
          </a:xfrm>
          <a:prstGeom prst="ellipse">
            <a:avLst/>
          </a:prstGeom>
          <a:solidFill>
            <a:srgbClr val="D7EAFD"/>
          </a:solidFill>
          <a:ln w="3175">
            <a:solidFill>
              <a:srgbClr val="D7EAFD"/>
            </a:solidFill>
            <a:prstDash val="solid"/>
          </a:ln>
        </p:spPr>
      </p:sp>
      <p:pic>
        <p:nvPicPr>
          <p:cNvPr id="25" name="icon FaUserTie" descr="preencoded.png">    </p:cNvPr>
          <p:cNvPicPr>
            <a:picLocks noChangeAspect="1"/>
          </p:cNvPicPr>
          <p:nvPr/>
        </p:nvPicPr>
        <p:blipFill>
          <a:blip r:embed="rId5"/>
          <a:stretch>
            <a:fillRect/>
          </a:stretch>
        </p:blipFill>
        <p:spPr>
          <a:xfrm>
            <a:off x="9387688" y="3314700"/>
            <a:ext cx="228600" cy="228600"/>
          </a:xfrm>
          <a:prstGeom prst="rect">
            <a:avLst/>
          </a:prstGeom>
        </p:spPr>
      </p:pic>
      <p:sp>
        <p:nvSpPr>
          <p:cNvPr id="26" name="text"/>
          <p:cNvSpPr txBox="1"/>
          <p:nvPr/>
        </p:nvSpPr>
        <p:spPr>
          <a:xfrm>
            <a:off x="9867748" y="3154680"/>
            <a:ext cx="1638148" cy="548640"/>
          </a:xfrm>
          <a:prstGeom prst="rect">
            <a:avLst/>
          </a:prstGeom>
          <a:noFill/>
          <a:ln/>
        </p:spPr>
        <p:txBody>
          <a:bodyPr wrap="square" lIns="0" tIns="0" rIns="0" bIns="0" rtlCol="0" anchor="ctr"/>
          <a:lstStyle/>
          <a:p>
            <a:pPr algn="l" indent="0" marL="0">
              <a:buNone/>
            </a:pPr>
            <a:r>
              <a:rPr lang="en-US" sz="2200" b="1" dirty="0">
                <a:solidFill>
                  <a:srgbClr val="2E1616"/>
                </a:solidFill>
              </a:rPr>
              <a:t>4.500+</a:t>
            </a:r>
            <a:endParaRPr lang="en-US" sz="2200" dirty="0"/>
          </a:p>
        </p:txBody>
      </p:sp>
      <p:sp>
        <p:nvSpPr>
          <p:cNvPr id="27" name="text"/>
          <p:cNvSpPr txBox="1"/>
          <p:nvPr/>
        </p:nvSpPr>
        <p:spPr>
          <a:xfrm>
            <a:off x="9273388" y="3767328"/>
            <a:ext cx="2186788" cy="685800"/>
          </a:xfrm>
          <a:prstGeom prst="rect">
            <a:avLst/>
          </a:prstGeom>
          <a:noFill/>
          <a:ln/>
        </p:spPr>
        <p:txBody>
          <a:bodyPr wrap="square" lIns="0" tIns="0" rIns="0" bIns="0" rtlCol="0" anchor="t"/>
          <a:lstStyle/>
          <a:p>
            <a:pPr algn="l" indent="0" marL="0">
              <a:buNone/>
            </a:pPr>
            <a:r>
              <a:rPr lang="en-US" sz="1100" dirty="0">
                <a:solidFill>
                  <a:srgbClr val="2E1616"/>
                </a:solidFill>
              </a:rPr>
              <a:t>pilot dan awak kabin dijadwalkan setiap hari</a:t>
            </a:r>
            <a:endParaRPr lang="en-US" sz="1100" dirty="0"/>
          </a:p>
        </p:txBody>
      </p:sp>
      <p:sp>
        <p:nvSpPr>
          <p:cNvPr id="28" name="card"/>
          <p:cNvSpPr/>
          <p:nvPr/>
        </p:nvSpPr>
        <p:spPr>
          <a:xfrm>
            <a:off x="6355080" y="4709160"/>
            <a:ext cx="2552548" cy="1508760"/>
          </a:xfrm>
          <a:prstGeom prst="roundRect">
            <a:avLst>
              <a:gd name="adj" fmla="val 12121"/>
            </a:avLst>
          </a:prstGeom>
          <a:solidFill>
            <a:srgbClr val="F5F2EB"/>
          </a:solidFill>
          <a:ln w="3175">
            <a:solidFill>
              <a:srgbClr val="F5F2EB"/>
            </a:solidFill>
            <a:prstDash val="solid"/>
          </a:ln>
        </p:spPr>
      </p:sp>
      <p:sp>
        <p:nvSpPr>
          <p:cNvPr id="29" name="icon circle"/>
          <p:cNvSpPr/>
          <p:nvPr/>
        </p:nvSpPr>
        <p:spPr>
          <a:xfrm>
            <a:off x="6537960" y="4892040"/>
            <a:ext cx="457200" cy="457200"/>
          </a:xfrm>
          <a:prstGeom prst="ellipse">
            <a:avLst/>
          </a:prstGeom>
          <a:solidFill>
            <a:srgbClr val="D7EAFD"/>
          </a:solidFill>
          <a:ln w="3175">
            <a:solidFill>
              <a:srgbClr val="D7EAFD"/>
            </a:solidFill>
            <a:prstDash val="solid"/>
          </a:ln>
        </p:spPr>
      </p:sp>
      <p:pic>
        <p:nvPicPr>
          <p:cNvPr id="30" name="icon FaPercentage" descr="preencoded.png">    </p:cNvPr>
          <p:cNvPicPr>
            <a:picLocks noChangeAspect="1"/>
          </p:cNvPicPr>
          <p:nvPr/>
        </p:nvPicPr>
        <p:blipFill>
          <a:blip r:embed="rId6"/>
          <a:stretch>
            <a:fillRect/>
          </a:stretch>
        </p:blipFill>
        <p:spPr>
          <a:xfrm>
            <a:off x="6652260" y="5006340"/>
            <a:ext cx="228600" cy="228600"/>
          </a:xfrm>
          <a:prstGeom prst="rect">
            <a:avLst/>
          </a:prstGeom>
        </p:spPr>
      </p:pic>
      <p:sp>
        <p:nvSpPr>
          <p:cNvPr id="31" name="text"/>
          <p:cNvSpPr txBox="1"/>
          <p:nvPr/>
        </p:nvSpPr>
        <p:spPr>
          <a:xfrm>
            <a:off x="7132320" y="4846320"/>
            <a:ext cx="1638148" cy="548640"/>
          </a:xfrm>
          <a:prstGeom prst="rect">
            <a:avLst/>
          </a:prstGeom>
          <a:noFill/>
          <a:ln/>
        </p:spPr>
        <p:txBody>
          <a:bodyPr wrap="square" lIns="0" tIns="0" rIns="0" bIns="0" rtlCol="0" anchor="ctr"/>
          <a:lstStyle/>
          <a:p>
            <a:pPr algn="l" indent="0" marL="0">
              <a:buNone/>
            </a:pPr>
            <a:r>
              <a:rPr lang="en-US" sz="2200" b="1" dirty="0">
                <a:solidFill>
                  <a:srgbClr val="2E1616"/>
                </a:solidFill>
              </a:rPr>
              <a:t>&gt;50%</a:t>
            </a:r>
            <a:endParaRPr lang="en-US" sz="2200" dirty="0"/>
          </a:p>
        </p:txBody>
      </p:sp>
      <p:sp>
        <p:nvSpPr>
          <p:cNvPr id="32" name="text"/>
          <p:cNvSpPr txBox="1"/>
          <p:nvPr/>
        </p:nvSpPr>
        <p:spPr>
          <a:xfrm>
            <a:off x="6537960" y="5458968"/>
            <a:ext cx="2186788" cy="685800"/>
          </a:xfrm>
          <a:prstGeom prst="rect">
            <a:avLst/>
          </a:prstGeom>
          <a:noFill/>
          <a:ln/>
        </p:spPr>
        <p:txBody>
          <a:bodyPr wrap="square" lIns="0" tIns="0" rIns="0" bIns="0" rtlCol="0" anchor="t"/>
          <a:lstStyle/>
          <a:p>
            <a:pPr algn="l" indent="0" marL="0">
              <a:buNone/>
            </a:pPr>
            <a:r>
              <a:rPr lang="en-US" sz="1100" dirty="0">
                <a:solidFill>
                  <a:srgbClr val="2E1616"/>
                </a:solidFill>
              </a:rPr>
              <a:t>penerbangan domestik di SEA dioperasikan Alaska</a:t>
            </a:r>
            <a:endParaRPr lang="en-US" sz="1100" dirty="0"/>
          </a:p>
        </p:txBody>
      </p:sp>
      <p:sp>
        <p:nvSpPr>
          <p:cNvPr id="33" name="card"/>
          <p:cNvSpPr/>
          <p:nvPr/>
        </p:nvSpPr>
        <p:spPr>
          <a:xfrm>
            <a:off x="9090508" y="4709160"/>
            <a:ext cx="2552548" cy="1508760"/>
          </a:xfrm>
          <a:prstGeom prst="roundRect">
            <a:avLst>
              <a:gd name="adj" fmla="val 12121"/>
            </a:avLst>
          </a:prstGeom>
          <a:solidFill>
            <a:srgbClr val="F5F2EB"/>
          </a:solidFill>
          <a:ln w="3175">
            <a:solidFill>
              <a:srgbClr val="F5F2EB"/>
            </a:solidFill>
            <a:prstDash val="solid"/>
          </a:ln>
        </p:spPr>
      </p:sp>
      <p:sp>
        <p:nvSpPr>
          <p:cNvPr id="34" name="icon circle"/>
          <p:cNvSpPr/>
          <p:nvPr/>
        </p:nvSpPr>
        <p:spPr>
          <a:xfrm>
            <a:off x="9273388" y="4892040"/>
            <a:ext cx="457200" cy="457200"/>
          </a:xfrm>
          <a:prstGeom prst="ellipse">
            <a:avLst/>
          </a:prstGeom>
          <a:solidFill>
            <a:srgbClr val="D7EAFD"/>
          </a:solidFill>
          <a:ln w="3175">
            <a:solidFill>
              <a:srgbClr val="D7EAFD"/>
            </a:solidFill>
            <a:prstDash val="solid"/>
          </a:ln>
        </p:spPr>
      </p:sp>
      <p:pic>
        <p:nvPicPr>
          <p:cNvPr id="35" name="icon FaDollarSign" descr="preencoded.png">    </p:cNvPr>
          <p:cNvPicPr>
            <a:picLocks noChangeAspect="1"/>
          </p:cNvPicPr>
          <p:nvPr/>
        </p:nvPicPr>
        <p:blipFill>
          <a:blip r:embed="rId7"/>
          <a:stretch>
            <a:fillRect/>
          </a:stretch>
        </p:blipFill>
        <p:spPr>
          <a:xfrm>
            <a:off x="9387688" y="5006340"/>
            <a:ext cx="228600" cy="228600"/>
          </a:xfrm>
          <a:prstGeom prst="rect">
            <a:avLst/>
          </a:prstGeom>
        </p:spPr>
      </p:pic>
      <p:sp>
        <p:nvSpPr>
          <p:cNvPr id="36" name="text"/>
          <p:cNvSpPr txBox="1"/>
          <p:nvPr/>
        </p:nvSpPr>
        <p:spPr>
          <a:xfrm>
            <a:off x="9867748" y="4846320"/>
            <a:ext cx="1638148" cy="548640"/>
          </a:xfrm>
          <a:prstGeom prst="rect">
            <a:avLst/>
          </a:prstGeom>
          <a:noFill/>
          <a:ln/>
        </p:spPr>
        <p:txBody>
          <a:bodyPr wrap="square" lIns="0" tIns="0" rIns="0" bIns="0" rtlCol="0" anchor="ctr"/>
          <a:lstStyle/>
          <a:p>
            <a:pPr algn="l" indent="0" marL="0">
              <a:buNone/>
            </a:pPr>
            <a:r>
              <a:rPr lang="en-US" sz="2200" b="1" dirty="0">
                <a:solidFill>
                  <a:srgbClr val="2E1616"/>
                </a:solidFill>
              </a:rPr>
              <a:t>US$18 juta</a:t>
            </a:r>
            <a:endParaRPr lang="en-US" sz="2200" dirty="0"/>
          </a:p>
        </p:txBody>
      </p:sp>
      <p:sp>
        <p:nvSpPr>
          <p:cNvPr id="37" name="text"/>
          <p:cNvSpPr txBox="1"/>
          <p:nvPr/>
        </p:nvSpPr>
        <p:spPr>
          <a:xfrm>
            <a:off x="9273388" y="5458968"/>
            <a:ext cx="2186788" cy="685800"/>
          </a:xfrm>
          <a:prstGeom prst="rect">
            <a:avLst/>
          </a:prstGeom>
          <a:noFill/>
          <a:ln/>
        </p:spPr>
        <p:txBody>
          <a:bodyPr wrap="square" lIns="0" tIns="0" rIns="0" bIns="0" rtlCol="0" anchor="t"/>
          <a:lstStyle/>
          <a:p>
            <a:pPr algn="l" indent="0" marL="0">
              <a:buNone/>
            </a:pPr>
            <a:r>
              <a:rPr lang="en-US" sz="1100" dirty="0">
                <a:solidFill>
                  <a:srgbClr val="2E1616"/>
                </a:solidFill>
              </a:rPr>
              <a:t>penghematan per tahun dari teknologi penjadwalan ulang</a:t>
            </a:r>
            <a:endParaRPr lang="en-US" sz="1100" dirty="0"/>
          </a:p>
        </p:txBody>
      </p:sp>
      <p:sp>
        <p:nvSpPr>
          <p:cNvPr id="38" name="text"/>
          <p:cNvSpPr txBox="1"/>
          <p:nvPr/>
        </p:nvSpPr>
        <p:spPr>
          <a:xfrm>
            <a:off x="6355080" y="5989320"/>
            <a:ext cx="5287975" cy="274320"/>
          </a:xfrm>
          <a:prstGeom prst="rect">
            <a:avLst/>
          </a:prstGeom>
          <a:noFill/>
          <a:ln/>
        </p:spPr>
        <p:txBody>
          <a:bodyPr wrap="square" lIns="0" tIns="0" rIns="0" bIns="0" rtlCol="0" anchor="t"/>
          <a:lstStyle/>
          <a:p>
            <a:pPr algn="l" indent="0" marL="0">
              <a:buNone/>
            </a:pPr>
            <a:r>
              <a:rPr lang="en-US" sz="900" i="1" dirty="0">
                <a:solidFill>
                  <a:srgbClr val="6E5A5A"/>
                </a:solidFill>
              </a:rPr>
              <a:t>Sumber angka: Alaska Air Group fact sheet; Aviacionline (2025); Heizer et al. (2017).</a:t>
            </a:r>
            <a:endParaRPr lang="en-US" sz="900" dirty="0"/>
          </a:p>
        </p:txBody>
      </p:sp>
      <p:sp>
        <p:nvSpPr>
          <p:cNvPr id="25" name="Slide Number Placeholder 0"/>
          <p:cNvSpPr>
            <a:spLocks noGrp="1"/>
          </p:cNvSpPr>
          <p:nvPr>
            <p:ph type="sldNum" sz="quarter" idx="4294967295"/>
          </p:nvPr>
        </p:nvSpPr>
        <p:spPr>
          <a:xfrm>
            <a:off x="11247120" y="6446520"/>
            <a:ext cx="39319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4F2D2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algn="l" indent="0" marL="0">
              <a:buNone/>
            </a:pPr>
            <a:r>
              <a:rPr lang="en-US" sz="2800" b="1" dirty="0">
                <a:solidFill>
                  <a:srgbClr val="2E1616"/>
                </a:solidFill>
              </a:rPr>
              <a:t>Empat Sumber Gangguan terhadap Rencana</a:t>
            </a:r>
            <a:endParaRPr lang="en-US" sz="2800" dirty="0"/>
          </a:p>
        </p:txBody>
      </p:sp>
      <p:sp>
        <p:nvSpPr>
          <p:cNvPr id="4" name="title circle"/>
          <p:cNvSpPr/>
          <p:nvPr/>
        </p:nvSpPr>
        <p:spPr>
          <a:xfrm>
            <a:off x="347472" y="384048"/>
            <a:ext cx="1394460" cy="786384"/>
          </a:xfrm>
          <a:prstGeom prst="ellipse">
            <a:avLst/>
          </a:prstGeom>
          <a:solidFill>
            <a:srgbClr val="B3D9FE">
              <a:alpha val="0"/>
            </a:srgbClr>
          </a:solidFill>
          <a:ln w="28575">
            <a:solidFill>
              <a:srgbClr val="3B8BE0"/>
            </a:solidFill>
            <a:prstDash val="solid"/>
          </a:ln>
        </p:spPr>
      </p:sp>
      <p:sp>
        <p:nvSpPr>
          <p:cNvPr id="5" name="text"/>
          <p:cNvSpPr txBox="1"/>
          <p:nvPr/>
        </p:nvSpPr>
        <p:spPr>
          <a:xfrm>
            <a:off x="548640" y="1280160"/>
            <a:ext cx="8412480" cy="640080"/>
          </a:xfrm>
          <a:prstGeom prst="rect">
            <a:avLst/>
          </a:prstGeom>
          <a:noFill/>
          <a:ln/>
        </p:spPr>
        <p:txBody>
          <a:bodyPr wrap="square" lIns="0" tIns="0" rIns="0" bIns="0" rtlCol="0" anchor="t"/>
          <a:lstStyle/>
          <a:p>
            <a:pPr algn="l" indent="0" marL="0">
              <a:buNone/>
            </a:pPr>
            <a:r>
              <a:rPr lang="en-US" sz="1400" dirty="0">
                <a:solidFill>
                  <a:srgbClr val="2E1616"/>
                </a:solidFill>
              </a:rPr>
              <a:t>Setiap gangguan memukul rencana pada titik yang berbeda: perencanaan material dan perawatan (MRP), integrasi sistem (ERP), atau penjadwalan jangka pendek (</a:t>
            </a:r>
            <a:r>
              <a:rPr lang="en-US" sz="1400" i="1" dirty="0">
                <a:solidFill>
                  <a:srgbClr val="2E1616"/>
                </a:solidFill>
              </a:rPr>
              <a:t>scheduling</a:t>
            </a:r>
            <a:r>
              <a:rPr lang="en-US" sz="1400" dirty="0">
                <a:solidFill>
                  <a:srgbClr val="2E1616"/>
                </a:solidFill>
              </a:rPr>
              <a:t>).</a:t>
            </a:r>
            <a:endParaRPr lang="en-US" sz="1400" dirty="0"/>
          </a:p>
        </p:txBody>
      </p:sp>
      <p:pic>
        <p:nvPicPr>
          <p:cNvPr id="6" name="ilustrasi pesawat salju" descr="/tmp/claude-0/-home-user-Dom-Manipulation/385e5267-c23e-5c04-80f5-d5fb4946a902/scratchpad/build/img2/st_plane_snow.png">    </p:cNvPr>
          <p:cNvPicPr>
            <a:picLocks noChangeAspect="1"/>
          </p:cNvPicPr>
          <p:nvPr/>
        </p:nvPicPr>
        <p:blipFill>
          <a:blip r:embed="rId1"/>
          <a:stretch>
            <a:fillRect/>
          </a:stretch>
        </p:blipFill>
        <p:spPr>
          <a:xfrm>
            <a:off x="9720072" y="822960"/>
            <a:ext cx="1408176" cy="1463040"/>
          </a:xfrm>
          <a:prstGeom prst="rect">
            <a:avLst/>
          </a:prstGeom>
        </p:spPr>
      </p:pic>
      <p:sp>
        <p:nvSpPr>
          <p:cNvPr id="7" name="card"/>
          <p:cNvSpPr/>
          <p:nvPr/>
        </p:nvSpPr>
        <p:spPr>
          <a:xfrm>
            <a:off x="548640" y="2057400"/>
            <a:ext cx="5432908" cy="2011680"/>
          </a:xfrm>
          <a:prstGeom prst="roundRect">
            <a:avLst>
              <a:gd name="adj" fmla="val 9091"/>
            </a:avLst>
          </a:prstGeom>
          <a:solidFill>
            <a:srgbClr val="F5F2EB"/>
          </a:solidFill>
          <a:ln w="3175">
            <a:solidFill>
              <a:srgbClr val="F5F2EB"/>
            </a:solidFill>
            <a:prstDash val="solid"/>
          </a:ln>
        </p:spPr>
      </p:sp>
      <p:sp>
        <p:nvSpPr>
          <p:cNvPr id="8" name="pill"/>
          <p:cNvSpPr/>
          <p:nvPr/>
        </p:nvSpPr>
        <p:spPr>
          <a:xfrm>
            <a:off x="777240" y="2286000"/>
            <a:ext cx="457200" cy="457200"/>
          </a:xfrm>
          <a:prstGeom prst="roundRect">
            <a:avLst>
              <a:gd name="adj" fmla="val 50000"/>
            </a:avLst>
          </a:prstGeom>
          <a:solidFill>
            <a:srgbClr val="4F2D2C"/>
          </a:solidFill>
          <a:ln w="3175">
            <a:solidFill>
              <a:srgbClr val="4F2D2C"/>
            </a:solidFill>
            <a:prstDash val="solid"/>
          </a:ln>
        </p:spPr>
      </p:sp>
      <p:sp>
        <p:nvSpPr>
          <p:cNvPr id="9" name="pill label"/>
          <p:cNvSpPr txBox="1"/>
          <p:nvPr/>
        </p:nvSpPr>
        <p:spPr>
          <a:xfrm>
            <a:off x="777240" y="22860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rPr>
              <a:t>01</a:t>
            </a:r>
            <a:endParaRPr lang="en-US" sz="1300" dirty="0"/>
          </a:p>
        </p:txBody>
      </p:sp>
      <p:sp>
        <p:nvSpPr>
          <p:cNvPr id="10" name="icon circle"/>
          <p:cNvSpPr/>
          <p:nvPr/>
        </p:nvSpPr>
        <p:spPr>
          <a:xfrm>
            <a:off x="5158588" y="2240280"/>
            <a:ext cx="548640" cy="548640"/>
          </a:xfrm>
          <a:prstGeom prst="ellipse">
            <a:avLst/>
          </a:prstGeom>
          <a:solidFill>
            <a:srgbClr val="D7EAFD"/>
          </a:solidFill>
          <a:ln w="3175">
            <a:solidFill>
              <a:srgbClr val="D7EAFD"/>
            </a:solidFill>
            <a:prstDash val="solid"/>
          </a:ln>
        </p:spPr>
      </p:sp>
      <p:pic>
        <p:nvPicPr>
          <p:cNvPr id="11" name="icon FaCloudRain" descr="preencoded.png">    </p:cNvPr>
          <p:cNvPicPr>
            <a:picLocks noChangeAspect="1"/>
          </p:cNvPicPr>
          <p:nvPr/>
        </p:nvPicPr>
        <p:blipFill>
          <a:blip r:embed="rId2"/>
          <a:stretch>
            <a:fillRect/>
          </a:stretch>
        </p:blipFill>
        <p:spPr>
          <a:xfrm>
            <a:off x="5295748" y="2377440"/>
            <a:ext cx="274320" cy="274320"/>
          </a:xfrm>
          <a:prstGeom prst="rect">
            <a:avLst/>
          </a:prstGeom>
        </p:spPr>
      </p:pic>
      <p:sp>
        <p:nvSpPr>
          <p:cNvPr id="12" name="text"/>
          <p:cNvSpPr txBox="1"/>
          <p:nvPr/>
        </p:nvSpPr>
        <p:spPr>
          <a:xfrm>
            <a:off x="1371600" y="2286000"/>
            <a:ext cx="3604108" cy="457200"/>
          </a:xfrm>
          <a:prstGeom prst="rect">
            <a:avLst/>
          </a:prstGeom>
          <a:noFill/>
          <a:ln/>
        </p:spPr>
        <p:txBody>
          <a:bodyPr wrap="square" lIns="0" tIns="0" rIns="0" bIns="0" rtlCol="0" anchor="ctr"/>
          <a:lstStyle/>
          <a:p>
            <a:pPr algn="l" indent="0" marL="0">
              <a:buNone/>
            </a:pPr>
            <a:r>
              <a:rPr lang="en-US" sz="1500" b="1" dirty="0">
                <a:solidFill>
                  <a:srgbClr val="2E1616"/>
                </a:solidFill>
              </a:rPr>
              <a:t>Cuaca Seattle</a:t>
            </a:r>
            <a:endParaRPr lang="en-US" sz="1500" dirty="0"/>
          </a:p>
        </p:txBody>
      </p:sp>
      <p:sp>
        <p:nvSpPr>
          <p:cNvPr id="13" name="text"/>
          <p:cNvSpPr txBox="1"/>
          <p:nvPr/>
        </p:nvSpPr>
        <p:spPr>
          <a:xfrm>
            <a:off x="777240" y="2880360"/>
            <a:ext cx="4975708" cy="914400"/>
          </a:xfrm>
          <a:prstGeom prst="rect">
            <a:avLst/>
          </a:prstGeom>
          <a:noFill/>
          <a:ln/>
        </p:spPr>
        <p:txBody>
          <a:bodyPr wrap="square" lIns="0" tIns="0" rIns="0" bIns="0" rtlCol="0" anchor="t"/>
          <a:lstStyle/>
          <a:p>
            <a:pPr algn="l" indent="0" marL="0">
              <a:buNone/>
            </a:pPr>
            <a:r>
              <a:rPr lang="en-US" sz="1150" dirty="0">
                <a:solidFill>
                  <a:srgbClr val="2E1616"/>
                </a:solidFill>
              </a:rPr>
              <a:t>Hujan beku dan salju memaksa rencana pembatalan 50–80% penerbangan pada satu hari badai Desember; keputusan harus direvisi setiap beberapa jam (Heizer et al., 2017).</a:t>
            </a:r>
            <a:endParaRPr lang="en-US" sz="1150" dirty="0"/>
          </a:p>
        </p:txBody>
      </p:sp>
      <p:sp>
        <p:nvSpPr>
          <p:cNvPr id="14" name="pill"/>
          <p:cNvSpPr/>
          <p:nvPr/>
        </p:nvSpPr>
        <p:spPr>
          <a:xfrm>
            <a:off x="777240" y="3657600"/>
            <a:ext cx="1920240" cy="274320"/>
          </a:xfrm>
          <a:prstGeom prst="roundRect">
            <a:avLst>
              <a:gd name="adj" fmla="val 50000"/>
            </a:avLst>
          </a:prstGeom>
          <a:solidFill>
            <a:srgbClr val="B3D9FE"/>
          </a:solidFill>
          <a:ln w="12700">
            <a:solidFill>
              <a:srgbClr val="4F2D2C"/>
            </a:solidFill>
            <a:prstDash val="solid"/>
          </a:ln>
        </p:spPr>
      </p:sp>
      <p:sp>
        <p:nvSpPr>
          <p:cNvPr id="15" name="pill label"/>
          <p:cNvSpPr txBox="1"/>
          <p:nvPr/>
        </p:nvSpPr>
        <p:spPr>
          <a:xfrm>
            <a:off x="777240" y="3657600"/>
            <a:ext cx="1920240" cy="274320"/>
          </a:xfrm>
          <a:prstGeom prst="rect">
            <a:avLst/>
          </a:prstGeom>
          <a:noFill/>
          <a:ln/>
        </p:spPr>
        <p:txBody>
          <a:bodyPr wrap="square" lIns="0" tIns="0" rIns="0" bIns="0" rtlCol="0" anchor="ctr"/>
          <a:lstStyle/>
          <a:p>
            <a:pPr algn="ctr" indent="0" marL="0">
              <a:buNone/>
            </a:pPr>
            <a:r>
              <a:rPr lang="en-US" sz="950" b="1" dirty="0">
                <a:solidFill>
                  <a:srgbClr val="2E1616"/>
                </a:solidFill>
              </a:rPr>
              <a:t>Dimensi: Scheduling</a:t>
            </a:r>
            <a:endParaRPr lang="en-US" sz="950" dirty="0"/>
          </a:p>
        </p:txBody>
      </p:sp>
      <p:sp>
        <p:nvSpPr>
          <p:cNvPr id="16" name="card"/>
          <p:cNvSpPr/>
          <p:nvPr/>
        </p:nvSpPr>
        <p:spPr>
          <a:xfrm>
            <a:off x="6210148" y="2057400"/>
            <a:ext cx="5432908" cy="2011680"/>
          </a:xfrm>
          <a:prstGeom prst="roundRect">
            <a:avLst>
              <a:gd name="adj" fmla="val 9091"/>
            </a:avLst>
          </a:prstGeom>
          <a:solidFill>
            <a:srgbClr val="F5F2EB"/>
          </a:solidFill>
          <a:ln w="3175">
            <a:solidFill>
              <a:srgbClr val="F5F2EB"/>
            </a:solidFill>
            <a:prstDash val="solid"/>
          </a:ln>
        </p:spPr>
      </p:sp>
      <p:sp>
        <p:nvSpPr>
          <p:cNvPr id="17" name="pill"/>
          <p:cNvSpPr/>
          <p:nvPr/>
        </p:nvSpPr>
        <p:spPr>
          <a:xfrm>
            <a:off x="6438748" y="2286000"/>
            <a:ext cx="457200" cy="457200"/>
          </a:xfrm>
          <a:prstGeom prst="roundRect">
            <a:avLst>
              <a:gd name="adj" fmla="val 50000"/>
            </a:avLst>
          </a:prstGeom>
          <a:solidFill>
            <a:srgbClr val="4F2D2C"/>
          </a:solidFill>
          <a:ln w="3175">
            <a:solidFill>
              <a:srgbClr val="4F2D2C"/>
            </a:solidFill>
            <a:prstDash val="solid"/>
          </a:ln>
        </p:spPr>
      </p:sp>
      <p:sp>
        <p:nvSpPr>
          <p:cNvPr id="18" name="pill label"/>
          <p:cNvSpPr txBox="1"/>
          <p:nvPr/>
        </p:nvSpPr>
        <p:spPr>
          <a:xfrm>
            <a:off x="6438748" y="22860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rPr>
              <a:t>02</a:t>
            </a:r>
            <a:endParaRPr lang="en-US" sz="1300" dirty="0"/>
          </a:p>
        </p:txBody>
      </p:sp>
      <p:sp>
        <p:nvSpPr>
          <p:cNvPr id="19" name="icon circle"/>
          <p:cNvSpPr/>
          <p:nvPr/>
        </p:nvSpPr>
        <p:spPr>
          <a:xfrm>
            <a:off x="10820095" y="2240280"/>
            <a:ext cx="548640" cy="548640"/>
          </a:xfrm>
          <a:prstGeom prst="ellipse">
            <a:avLst/>
          </a:prstGeom>
          <a:solidFill>
            <a:srgbClr val="D7EAFD"/>
          </a:solidFill>
          <a:ln w="3175">
            <a:solidFill>
              <a:srgbClr val="D7EAFD"/>
            </a:solidFill>
            <a:prstDash val="solid"/>
          </a:ln>
        </p:spPr>
      </p:sp>
      <p:pic>
        <p:nvPicPr>
          <p:cNvPr id="20" name="icon FaMountain" descr="preencoded.png">    </p:cNvPr>
          <p:cNvPicPr>
            <a:picLocks noChangeAspect="1"/>
          </p:cNvPicPr>
          <p:nvPr/>
        </p:nvPicPr>
        <p:blipFill>
          <a:blip r:embed="rId3"/>
          <a:stretch>
            <a:fillRect/>
          </a:stretch>
        </p:blipFill>
        <p:spPr>
          <a:xfrm>
            <a:off x="10957255" y="2377440"/>
            <a:ext cx="274320" cy="274320"/>
          </a:xfrm>
          <a:prstGeom prst="rect">
            <a:avLst/>
          </a:prstGeom>
        </p:spPr>
      </p:pic>
      <p:sp>
        <p:nvSpPr>
          <p:cNvPr id="21" name="text"/>
          <p:cNvSpPr txBox="1"/>
          <p:nvPr/>
        </p:nvSpPr>
        <p:spPr>
          <a:xfrm>
            <a:off x="7033108" y="2286000"/>
            <a:ext cx="3604108" cy="457200"/>
          </a:xfrm>
          <a:prstGeom prst="rect">
            <a:avLst/>
          </a:prstGeom>
          <a:noFill/>
          <a:ln/>
        </p:spPr>
        <p:txBody>
          <a:bodyPr wrap="square" lIns="0" tIns="0" rIns="0" bIns="0" rtlCol="0" anchor="ctr"/>
          <a:lstStyle/>
          <a:p>
            <a:pPr algn="l" indent="0" marL="0">
              <a:buNone/>
            </a:pPr>
            <a:r>
              <a:rPr lang="en-US" sz="1500" b="1" dirty="0">
                <a:solidFill>
                  <a:srgbClr val="2E1616"/>
                </a:solidFill>
              </a:rPr>
              <a:t>Geografi Alaska</a:t>
            </a:r>
            <a:endParaRPr lang="en-US" sz="1500" dirty="0"/>
          </a:p>
        </p:txBody>
      </p:sp>
      <p:sp>
        <p:nvSpPr>
          <p:cNvPr id="22" name="text"/>
          <p:cNvSpPr txBox="1"/>
          <p:nvPr/>
        </p:nvSpPr>
        <p:spPr>
          <a:xfrm>
            <a:off x="6438748" y="2880360"/>
            <a:ext cx="4975708" cy="914400"/>
          </a:xfrm>
          <a:prstGeom prst="rect">
            <a:avLst/>
          </a:prstGeom>
          <a:noFill/>
          <a:ln/>
        </p:spPr>
        <p:txBody>
          <a:bodyPr wrap="square" lIns="0" tIns="0" rIns="0" bIns="0" rtlCol="0" anchor="t"/>
          <a:lstStyle/>
          <a:p>
            <a:pPr algn="l" indent="0" marL="0">
              <a:buNone/>
            </a:pPr>
            <a:r>
              <a:rPr lang="en-US" sz="1150" dirty="0">
                <a:solidFill>
                  <a:srgbClr val="2E1616"/>
                </a:solidFill>
              </a:rPr>
              <a:t>Juneau (</a:t>
            </a:r>
            <a:r>
              <a:rPr lang="en-US" sz="1150" i="1" dirty="0">
                <a:solidFill>
                  <a:srgbClr val="2E1616"/>
                </a:solidFill>
              </a:rPr>
              <a:t>wind shear</a:t>
            </a:r>
            <a:r>
              <a:rPr lang="en-US" sz="1150" dirty="0">
                <a:solidFill>
                  <a:srgbClr val="2E1616"/>
                </a:solidFill>
              </a:rPr>
              <a:t>), Sitka (landasan tunggal di tanah sempit), dan Kodiak (landasan berujung gunung; hanya kapten boleh mendarat) membatasi pesawat dan kru yang dapat ditugaskan.</a:t>
            </a:r>
            <a:endParaRPr lang="en-US" sz="1150" dirty="0"/>
          </a:p>
        </p:txBody>
      </p:sp>
      <p:sp>
        <p:nvSpPr>
          <p:cNvPr id="23" name="pill"/>
          <p:cNvSpPr/>
          <p:nvPr/>
        </p:nvSpPr>
        <p:spPr>
          <a:xfrm>
            <a:off x="6438748" y="3657600"/>
            <a:ext cx="1920240" cy="274320"/>
          </a:xfrm>
          <a:prstGeom prst="roundRect">
            <a:avLst>
              <a:gd name="adj" fmla="val 50000"/>
            </a:avLst>
          </a:prstGeom>
          <a:solidFill>
            <a:srgbClr val="B3D9FE"/>
          </a:solidFill>
          <a:ln w="12700">
            <a:solidFill>
              <a:srgbClr val="4F2D2C"/>
            </a:solidFill>
            <a:prstDash val="solid"/>
          </a:ln>
        </p:spPr>
      </p:sp>
      <p:sp>
        <p:nvSpPr>
          <p:cNvPr id="24" name="pill label"/>
          <p:cNvSpPr txBox="1"/>
          <p:nvPr/>
        </p:nvSpPr>
        <p:spPr>
          <a:xfrm>
            <a:off x="6438748" y="3657600"/>
            <a:ext cx="1920240" cy="274320"/>
          </a:xfrm>
          <a:prstGeom prst="rect">
            <a:avLst/>
          </a:prstGeom>
          <a:noFill/>
          <a:ln/>
        </p:spPr>
        <p:txBody>
          <a:bodyPr wrap="square" lIns="0" tIns="0" rIns="0" bIns="0" rtlCol="0" anchor="ctr"/>
          <a:lstStyle/>
          <a:p>
            <a:pPr algn="ctr" indent="0" marL="0">
              <a:buNone/>
            </a:pPr>
            <a:r>
              <a:rPr lang="en-US" sz="950" b="1" dirty="0">
                <a:solidFill>
                  <a:srgbClr val="2E1616"/>
                </a:solidFill>
              </a:rPr>
              <a:t>Dimensi: Scheduling kru</a:t>
            </a:r>
            <a:endParaRPr lang="en-US" sz="950" dirty="0"/>
          </a:p>
        </p:txBody>
      </p:sp>
      <p:sp>
        <p:nvSpPr>
          <p:cNvPr id="25" name="card"/>
          <p:cNvSpPr/>
          <p:nvPr/>
        </p:nvSpPr>
        <p:spPr>
          <a:xfrm>
            <a:off x="548640" y="4251960"/>
            <a:ext cx="5432908" cy="2011680"/>
          </a:xfrm>
          <a:prstGeom prst="roundRect">
            <a:avLst>
              <a:gd name="adj" fmla="val 9091"/>
            </a:avLst>
          </a:prstGeom>
          <a:solidFill>
            <a:srgbClr val="F5F2EB"/>
          </a:solidFill>
          <a:ln w="3175">
            <a:solidFill>
              <a:srgbClr val="F5F2EB"/>
            </a:solidFill>
            <a:prstDash val="solid"/>
          </a:ln>
        </p:spPr>
      </p:sp>
      <p:sp>
        <p:nvSpPr>
          <p:cNvPr id="26" name="pill"/>
          <p:cNvSpPr/>
          <p:nvPr/>
        </p:nvSpPr>
        <p:spPr>
          <a:xfrm>
            <a:off x="777240" y="4480560"/>
            <a:ext cx="457200" cy="457200"/>
          </a:xfrm>
          <a:prstGeom prst="roundRect">
            <a:avLst>
              <a:gd name="adj" fmla="val 50000"/>
            </a:avLst>
          </a:prstGeom>
          <a:solidFill>
            <a:srgbClr val="4F2D2C"/>
          </a:solidFill>
          <a:ln w="3175">
            <a:solidFill>
              <a:srgbClr val="4F2D2C"/>
            </a:solidFill>
            <a:prstDash val="solid"/>
          </a:ln>
        </p:spPr>
      </p:sp>
      <p:sp>
        <p:nvSpPr>
          <p:cNvPr id="27" name="pill label"/>
          <p:cNvSpPr txBox="1"/>
          <p:nvPr/>
        </p:nvSpPr>
        <p:spPr>
          <a:xfrm>
            <a:off x="777240" y="448056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rPr>
              <a:t>03</a:t>
            </a:r>
            <a:endParaRPr lang="en-US" sz="1300" dirty="0"/>
          </a:p>
        </p:txBody>
      </p:sp>
      <p:sp>
        <p:nvSpPr>
          <p:cNvPr id="28" name="icon circle"/>
          <p:cNvSpPr/>
          <p:nvPr/>
        </p:nvSpPr>
        <p:spPr>
          <a:xfrm>
            <a:off x="5158588" y="4434840"/>
            <a:ext cx="548640" cy="548640"/>
          </a:xfrm>
          <a:prstGeom prst="ellipse">
            <a:avLst/>
          </a:prstGeom>
          <a:solidFill>
            <a:srgbClr val="D7EAFD"/>
          </a:solidFill>
          <a:ln w="3175">
            <a:solidFill>
              <a:srgbClr val="D7EAFD"/>
            </a:solidFill>
            <a:prstDash val="solid"/>
          </a:ln>
        </p:spPr>
      </p:sp>
      <p:pic>
        <p:nvPicPr>
          <p:cNvPr id="29" name="icon FaServer" descr="preencoded.png">    </p:cNvPr>
          <p:cNvPicPr>
            <a:picLocks noChangeAspect="1"/>
          </p:cNvPicPr>
          <p:nvPr/>
        </p:nvPicPr>
        <p:blipFill>
          <a:blip r:embed="rId4"/>
          <a:stretch>
            <a:fillRect/>
          </a:stretch>
        </p:blipFill>
        <p:spPr>
          <a:xfrm>
            <a:off x="5295748" y="4572000"/>
            <a:ext cx="274320" cy="274320"/>
          </a:xfrm>
          <a:prstGeom prst="rect">
            <a:avLst/>
          </a:prstGeom>
        </p:spPr>
      </p:pic>
      <p:sp>
        <p:nvSpPr>
          <p:cNvPr id="30" name="text"/>
          <p:cNvSpPr txBox="1"/>
          <p:nvPr/>
        </p:nvSpPr>
        <p:spPr>
          <a:xfrm>
            <a:off x="1371600" y="4480560"/>
            <a:ext cx="3604108" cy="457200"/>
          </a:xfrm>
          <a:prstGeom prst="rect">
            <a:avLst/>
          </a:prstGeom>
          <a:noFill/>
          <a:ln/>
        </p:spPr>
        <p:txBody>
          <a:bodyPr wrap="square" lIns="0" tIns="0" rIns="0" bIns="0" rtlCol="0" anchor="ctr"/>
          <a:lstStyle/>
          <a:p>
            <a:pPr algn="l" indent="0" marL="0">
              <a:buNone/>
            </a:pPr>
            <a:r>
              <a:rPr lang="en-US" sz="1500" b="1" dirty="0">
                <a:solidFill>
                  <a:srgbClr val="2E1616"/>
                </a:solidFill>
              </a:rPr>
              <a:t>Kegagalan sistem terintegrasi</a:t>
            </a:r>
            <a:endParaRPr lang="en-US" sz="1500" dirty="0"/>
          </a:p>
        </p:txBody>
      </p:sp>
      <p:sp>
        <p:nvSpPr>
          <p:cNvPr id="31" name="text"/>
          <p:cNvSpPr txBox="1"/>
          <p:nvPr/>
        </p:nvSpPr>
        <p:spPr>
          <a:xfrm>
            <a:off x="777240" y="5074920"/>
            <a:ext cx="4975708" cy="914400"/>
          </a:xfrm>
          <a:prstGeom prst="rect">
            <a:avLst/>
          </a:prstGeom>
          <a:noFill/>
          <a:ln/>
        </p:spPr>
        <p:txBody>
          <a:bodyPr wrap="square" lIns="0" tIns="0" rIns="0" bIns="0" rtlCol="0" anchor="t"/>
          <a:lstStyle/>
          <a:p>
            <a:pPr algn="l" indent="0" marL="0">
              <a:buNone/>
            </a:pPr>
            <a:r>
              <a:rPr lang="en-US" sz="1150" dirty="0">
                <a:solidFill>
                  <a:srgbClr val="2E1616"/>
                </a:solidFill>
              </a:rPr>
              <a:t>20 Juli 2025: kegagalan perangkat keras pusat data, </a:t>
            </a:r>
            <a:r>
              <a:rPr lang="en-US" sz="1150" i="1" dirty="0">
                <a:solidFill>
                  <a:srgbClr val="2E1616"/>
                </a:solidFill>
              </a:rPr>
              <a:t>ground stop</a:t>
            </a:r>
            <a:r>
              <a:rPr lang="en-US" sz="1150" dirty="0">
                <a:solidFill>
                  <a:srgbClr val="2E1616"/>
                </a:solidFill>
              </a:rPr>
              <a:t> ±3 jam, &gt;150 pembatalan. 23 Oktober 2025: kegagalan pusat data utama, ±8 jam, &gt;400 pembatalan, ±49.000 penumpang.</a:t>
            </a:r>
            <a:endParaRPr lang="en-US" sz="1150" dirty="0"/>
          </a:p>
        </p:txBody>
      </p:sp>
      <p:sp>
        <p:nvSpPr>
          <p:cNvPr id="32" name="pill"/>
          <p:cNvSpPr/>
          <p:nvPr/>
        </p:nvSpPr>
        <p:spPr>
          <a:xfrm>
            <a:off x="777240" y="5852160"/>
            <a:ext cx="1920240" cy="274320"/>
          </a:xfrm>
          <a:prstGeom prst="roundRect">
            <a:avLst>
              <a:gd name="adj" fmla="val 50000"/>
            </a:avLst>
          </a:prstGeom>
          <a:solidFill>
            <a:srgbClr val="B3D9FE"/>
          </a:solidFill>
          <a:ln w="12700">
            <a:solidFill>
              <a:srgbClr val="4F2D2C"/>
            </a:solidFill>
            <a:prstDash val="solid"/>
          </a:ln>
        </p:spPr>
      </p:sp>
      <p:sp>
        <p:nvSpPr>
          <p:cNvPr id="33" name="pill label"/>
          <p:cNvSpPr txBox="1"/>
          <p:nvPr/>
        </p:nvSpPr>
        <p:spPr>
          <a:xfrm>
            <a:off x="777240" y="5852160"/>
            <a:ext cx="1920240" cy="274320"/>
          </a:xfrm>
          <a:prstGeom prst="rect">
            <a:avLst/>
          </a:prstGeom>
          <a:noFill/>
          <a:ln/>
        </p:spPr>
        <p:txBody>
          <a:bodyPr wrap="square" lIns="0" tIns="0" rIns="0" bIns="0" rtlCol="0" anchor="ctr"/>
          <a:lstStyle/>
          <a:p>
            <a:pPr algn="ctr" indent="0" marL="0">
              <a:buNone/>
            </a:pPr>
            <a:r>
              <a:rPr lang="en-US" sz="950" b="1" dirty="0">
                <a:solidFill>
                  <a:srgbClr val="2E1616"/>
                </a:solidFill>
              </a:rPr>
              <a:t>Dimensi: ERP</a:t>
            </a:r>
            <a:endParaRPr lang="en-US" sz="950" dirty="0"/>
          </a:p>
        </p:txBody>
      </p:sp>
      <p:sp>
        <p:nvSpPr>
          <p:cNvPr id="34" name="card"/>
          <p:cNvSpPr/>
          <p:nvPr/>
        </p:nvSpPr>
        <p:spPr>
          <a:xfrm>
            <a:off x="6210148" y="4251960"/>
            <a:ext cx="5432908" cy="2011680"/>
          </a:xfrm>
          <a:prstGeom prst="roundRect">
            <a:avLst>
              <a:gd name="adj" fmla="val 9091"/>
            </a:avLst>
          </a:prstGeom>
          <a:solidFill>
            <a:srgbClr val="F5F2EB"/>
          </a:solidFill>
          <a:ln w="3175">
            <a:solidFill>
              <a:srgbClr val="F5F2EB"/>
            </a:solidFill>
            <a:prstDash val="solid"/>
          </a:ln>
        </p:spPr>
      </p:sp>
      <p:sp>
        <p:nvSpPr>
          <p:cNvPr id="35" name="pill"/>
          <p:cNvSpPr/>
          <p:nvPr/>
        </p:nvSpPr>
        <p:spPr>
          <a:xfrm>
            <a:off x="6438748" y="4480560"/>
            <a:ext cx="457200" cy="457200"/>
          </a:xfrm>
          <a:prstGeom prst="roundRect">
            <a:avLst>
              <a:gd name="adj" fmla="val 50000"/>
            </a:avLst>
          </a:prstGeom>
          <a:solidFill>
            <a:srgbClr val="4F2D2C"/>
          </a:solidFill>
          <a:ln w="3175">
            <a:solidFill>
              <a:srgbClr val="4F2D2C"/>
            </a:solidFill>
            <a:prstDash val="solid"/>
          </a:ln>
        </p:spPr>
      </p:sp>
      <p:sp>
        <p:nvSpPr>
          <p:cNvPr id="36" name="pill label"/>
          <p:cNvSpPr txBox="1"/>
          <p:nvPr/>
        </p:nvSpPr>
        <p:spPr>
          <a:xfrm>
            <a:off x="6438748" y="448056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rPr>
              <a:t>04</a:t>
            </a:r>
            <a:endParaRPr lang="en-US" sz="1300" dirty="0"/>
          </a:p>
        </p:txBody>
      </p:sp>
      <p:sp>
        <p:nvSpPr>
          <p:cNvPr id="37" name="icon circle"/>
          <p:cNvSpPr/>
          <p:nvPr/>
        </p:nvSpPr>
        <p:spPr>
          <a:xfrm>
            <a:off x="10820095" y="4434840"/>
            <a:ext cx="548640" cy="548640"/>
          </a:xfrm>
          <a:prstGeom prst="ellipse">
            <a:avLst/>
          </a:prstGeom>
          <a:solidFill>
            <a:srgbClr val="D7EAFD"/>
          </a:solidFill>
          <a:ln w="3175">
            <a:solidFill>
              <a:srgbClr val="D7EAFD"/>
            </a:solidFill>
            <a:prstDash val="solid"/>
          </a:ln>
        </p:spPr>
      </p:sp>
      <p:pic>
        <p:nvPicPr>
          <p:cNvPr id="38" name="icon FaPlaneSlash" descr="preencoded.png">    </p:cNvPr>
          <p:cNvPicPr>
            <a:picLocks noChangeAspect="1"/>
          </p:cNvPicPr>
          <p:nvPr/>
        </p:nvPicPr>
        <p:blipFill>
          <a:blip r:embed="rId5"/>
          <a:stretch>
            <a:fillRect/>
          </a:stretch>
        </p:blipFill>
        <p:spPr>
          <a:xfrm>
            <a:off x="10957255" y="4572000"/>
            <a:ext cx="274320" cy="274320"/>
          </a:xfrm>
          <a:prstGeom prst="rect">
            <a:avLst/>
          </a:prstGeom>
        </p:spPr>
      </p:pic>
      <p:sp>
        <p:nvSpPr>
          <p:cNvPr id="39" name="text"/>
          <p:cNvSpPr txBox="1"/>
          <p:nvPr/>
        </p:nvSpPr>
        <p:spPr>
          <a:xfrm>
            <a:off x="7033108" y="4480560"/>
            <a:ext cx="3604108" cy="457200"/>
          </a:xfrm>
          <a:prstGeom prst="rect">
            <a:avLst/>
          </a:prstGeom>
          <a:noFill/>
          <a:ln/>
        </p:spPr>
        <p:txBody>
          <a:bodyPr wrap="square" lIns="0" tIns="0" rIns="0" bIns="0" rtlCol="0" anchor="ctr"/>
          <a:lstStyle/>
          <a:p>
            <a:pPr algn="l" indent="0" marL="0">
              <a:buNone/>
            </a:pPr>
            <a:r>
              <a:rPr lang="en-US" sz="1500" b="1" dirty="0">
                <a:solidFill>
                  <a:srgbClr val="2E1616"/>
                </a:solidFill>
              </a:rPr>
              <a:t>Grounding 737 MAX 9</a:t>
            </a:r>
            <a:endParaRPr lang="en-US" sz="1500" dirty="0"/>
          </a:p>
        </p:txBody>
      </p:sp>
      <p:sp>
        <p:nvSpPr>
          <p:cNvPr id="40" name="text"/>
          <p:cNvSpPr txBox="1"/>
          <p:nvPr/>
        </p:nvSpPr>
        <p:spPr>
          <a:xfrm>
            <a:off x="6438748" y="5074920"/>
            <a:ext cx="4975708" cy="914400"/>
          </a:xfrm>
          <a:prstGeom prst="rect">
            <a:avLst/>
          </a:prstGeom>
          <a:noFill/>
          <a:ln/>
        </p:spPr>
        <p:txBody>
          <a:bodyPr wrap="square" lIns="0" tIns="0" rIns="0" bIns="0" rtlCol="0" anchor="t"/>
          <a:lstStyle/>
          <a:p>
            <a:pPr algn="l" indent="0" marL="0">
              <a:buNone/>
            </a:pPr>
            <a:r>
              <a:rPr lang="en-US" sz="1150" dirty="0">
                <a:solidFill>
                  <a:srgbClr val="2E1616"/>
                </a:solidFill>
              </a:rPr>
              <a:t>Januari 2024: 65 pesawat dikandangkan untuk inspeksi serentak; sekitar 3.000 pembatalan dalam sebulan; dampak finansial sekitar US$150 juta.</a:t>
            </a:r>
            <a:endParaRPr lang="en-US" sz="1150" dirty="0"/>
          </a:p>
        </p:txBody>
      </p:sp>
      <p:sp>
        <p:nvSpPr>
          <p:cNvPr id="41" name="pill"/>
          <p:cNvSpPr/>
          <p:nvPr/>
        </p:nvSpPr>
        <p:spPr>
          <a:xfrm>
            <a:off x="6438748" y="5852160"/>
            <a:ext cx="1920240" cy="274320"/>
          </a:xfrm>
          <a:prstGeom prst="roundRect">
            <a:avLst>
              <a:gd name="adj" fmla="val 50000"/>
            </a:avLst>
          </a:prstGeom>
          <a:solidFill>
            <a:srgbClr val="B3D9FE"/>
          </a:solidFill>
          <a:ln w="12700">
            <a:solidFill>
              <a:srgbClr val="4F2D2C"/>
            </a:solidFill>
            <a:prstDash val="solid"/>
          </a:ln>
        </p:spPr>
      </p:sp>
      <p:sp>
        <p:nvSpPr>
          <p:cNvPr id="42" name="pill label"/>
          <p:cNvSpPr txBox="1"/>
          <p:nvPr/>
        </p:nvSpPr>
        <p:spPr>
          <a:xfrm>
            <a:off x="6438748" y="5852160"/>
            <a:ext cx="1920240" cy="274320"/>
          </a:xfrm>
          <a:prstGeom prst="rect">
            <a:avLst/>
          </a:prstGeom>
          <a:noFill/>
          <a:ln/>
        </p:spPr>
        <p:txBody>
          <a:bodyPr wrap="square" lIns="0" tIns="0" rIns="0" bIns="0" rtlCol="0" anchor="ctr"/>
          <a:lstStyle/>
          <a:p>
            <a:pPr algn="ctr" indent="0" marL="0">
              <a:buNone/>
            </a:pPr>
            <a:r>
              <a:rPr lang="en-US" sz="950" b="1" dirty="0">
                <a:solidFill>
                  <a:srgbClr val="2E1616"/>
                </a:solidFill>
              </a:rPr>
              <a:t>Dimensi: MRP perawatan</a:t>
            </a:r>
            <a:endParaRPr lang="en-US" sz="950" dirty="0"/>
          </a:p>
        </p:txBody>
      </p:sp>
      <p:sp>
        <p:nvSpPr>
          <p:cNvPr id="25" name="Slide Number Placeholder 0"/>
          <p:cNvSpPr>
            <a:spLocks noGrp="1"/>
          </p:cNvSpPr>
          <p:nvPr>
            <p:ph type="sldNum" sz="quarter" idx="4294967295"/>
          </p:nvPr>
        </p:nvSpPr>
        <p:spPr>
          <a:xfrm>
            <a:off x="11247120" y="6446520"/>
            <a:ext cx="39319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4F2D2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3" name="foto hangar perawatan" descr="/tmp/claude-0/-home-user-Dom-Manipulation/385e5267-c23e-5c04-80f5-d5fb4946a902/scratchpad/build/img2/divider_mrp.png">    </p:cNvPr>
          <p:cNvPicPr>
            <a:picLocks noChangeAspect="1"/>
          </p:cNvPicPr>
          <p:nvPr/>
        </p:nvPicPr>
        <p:blipFill>
          <a:blip r:embed="rId1"/>
          <a:stretch>
            <a:fillRect/>
          </a:stretch>
        </p:blipFill>
        <p:spPr>
          <a:xfrm>
            <a:off x="548640" y="502920"/>
            <a:ext cx="11094415" cy="3291840"/>
          </a:xfrm>
          <a:prstGeom prst="rect">
            <a:avLst/>
          </a:prstGeom>
        </p:spPr>
      </p:pic>
      <p:sp>
        <p:nvSpPr>
          <p:cNvPr id="4" name="pill"/>
          <p:cNvSpPr/>
          <p:nvPr/>
        </p:nvSpPr>
        <p:spPr>
          <a:xfrm>
            <a:off x="548640" y="4069080"/>
            <a:ext cx="1371600" cy="347472"/>
          </a:xfrm>
          <a:prstGeom prst="roundRect">
            <a:avLst>
              <a:gd name="adj" fmla="val 50000"/>
            </a:avLst>
          </a:prstGeom>
          <a:solidFill>
            <a:srgbClr val="4F2D2C"/>
          </a:solidFill>
          <a:ln w="3175">
            <a:solidFill>
              <a:srgbClr val="4F2D2C"/>
            </a:solidFill>
            <a:prstDash val="solid"/>
          </a:ln>
        </p:spPr>
      </p:sp>
      <p:sp>
        <p:nvSpPr>
          <p:cNvPr id="5" name="pill label"/>
          <p:cNvSpPr txBox="1"/>
          <p:nvPr/>
        </p:nvSpPr>
        <p:spPr>
          <a:xfrm>
            <a:off x="548640" y="4069080"/>
            <a:ext cx="1371600" cy="347472"/>
          </a:xfrm>
          <a:prstGeom prst="rect">
            <a:avLst/>
          </a:prstGeom>
          <a:noFill/>
          <a:ln/>
        </p:spPr>
        <p:txBody>
          <a:bodyPr wrap="square" lIns="0" tIns="0" rIns="0" bIns="0" rtlCol="0" anchor="ctr"/>
          <a:lstStyle/>
          <a:p>
            <a:pPr algn="ctr" indent="0" marL="0">
              <a:buNone/>
            </a:pPr>
            <a:r>
              <a:rPr lang="en-US" sz="1100" b="1" dirty="0">
                <a:solidFill>
                  <a:srgbClr val="FFFFFF"/>
                </a:solidFill>
              </a:rPr>
              <a:t>SUBTOPIK 1</a:t>
            </a:r>
            <a:endParaRPr lang="en-US" sz="1100" dirty="0"/>
          </a:p>
        </p:txBody>
      </p:sp>
      <p:sp>
        <p:nvSpPr>
          <p:cNvPr id="6" name="text"/>
          <p:cNvSpPr txBox="1"/>
          <p:nvPr/>
        </p:nvSpPr>
        <p:spPr>
          <a:xfrm>
            <a:off x="548640" y="4526280"/>
            <a:ext cx="11094415" cy="822960"/>
          </a:xfrm>
          <a:prstGeom prst="rect">
            <a:avLst/>
          </a:prstGeom>
          <a:noFill/>
          <a:ln/>
        </p:spPr>
        <p:txBody>
          <a:bodyPr wrap="square" lIns="0" tIns="0" rIns="0" bIns="0" rtlCol="0" anchor="t"/>
          <a:lstStyle/>
          <a:p>
            <a:pPr algn="l" indent="0" marL="0">
              <a:buNone/>
            </a:pPr>
            <a:r>
              <a:rPr lang="en-US" sz="3600" b="1" dirty="0">
                <a:solidFill>
                  <a:srgbClr val="2E1616"/>
                </a:solidFill>
              </a:rPr>
              <a:t>MRP dan ERP di Alaska Airlines</a:t>
            </a:r>
            <a:endParaRPr lang="en-US" sz="3600" dirty="0"/>
          </a:p>
        </p:txBody>
      </p:sp>
      <p:sp>
        <p:nvSpPr>
          <p:cNvPr id="7" name="text"/>
          <p:cNvSpPr txBox="1"/>
          <p:nvPr/>
        </p:nvSpPr>
        <p:spPr>
          <a:xfrm>
            <a:off x="548640" y="5394960"/>
            <a:ext cx="8686800" cy="822960"/>
          </a:xfrm>
          <a:prstGeom prst="rect">
            <a:avLst/>
          </a:prstGeom>
          <a:noFill/>
          <a:ln/>
        </p:spPr>
        <p:txBody>
          <a:bodyPr wrap="square" lIns="0" tIns="0" rIns="0" bIns="0" rtlCol="0" anchor="t"/>
          <a:lstStyle/>
          <a:p>
            <a:pPr algn="l" indent="0" marL="0">
              <a:buNone/>
            </a:pPr>
            <a:r>
              <a:rPr lang="en-US" sz="1500" dirty="0">
                <a:solidFill>
                  <a:srgbClr val="4F2D2C"/>
                </a:solidFill>
              </a:rPr>
              <a:t>Dari jadwal penerbangan menjadi kebutuhan perawatan dan suku cadang, lalu menjadi satu basis data operasi yang menyatukan semua fungsi.</a:t>
            </a:r>
            <a:endParaRPr lang="en-US" sz="1500" dirty="0"/>
          </a:p>
        </p:txBody>
      </p:sp>
      <p:sp>
        <p:nvSpPr>
          <p:cNvPr id="8"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algn="l" indent="0" marL="0">
              <a:buNone/>
            </a:pPr>
            <a:endParaRPr lang="en-US" sz="2800" dirty="0"/>
          </a:p>
        </p:txBody>
      </p:sp>
      <p:sp>
        <p:nvSpPr>
          <p:cNvPr id="25" name="Slide Number Placeholder 0"/>
          <p:cNvSpPr>
            <a:spLocks noGrp="1"/>
          </p:cNvSpPr>
          <p:nvPr>
            <p:ph type="sldNum" sz="quarter" idx="4294967295"/>
          </p:nvPr>
        </p:nvSpPr>
        <p:spPr>
          <a:xfrm>
            <a:off x="11247120" y="6446520"/>
            <a:ext cx="39319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4F2D2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algn="l" indent="0" marL="0">
              <a:buNone/>
            </a:pPr>
            <a:r>
              <a:rPr lang="en-US" sz="2800" b="1" dirty="0">
                <a:solidFill>
                  <a:srgbClr val="2E1616"/>
                </a:solidFill>
              </a:rPr>
              <a:t>Dari Jadwal Penerbangan ke Kebutuhan Suku Cadang</a:t>
            </a:r>
            <a:endParaRPr lang="en-US" sz="2800" dirty="0"/>
          </a:p>
        </p:txBody>
      </p:sp>
      <p:sp>
        <p:nvSpPr>
          <p:cNvPr id="4" name="title circle"/>
          <p:cNvSpPr/>
          <p:nvPr/>
        </p:nvSpPr>
        <p:spPr>
          <a:xfrm>
            <a:off x="347472" y="384048"/>
            <a:ext cx="1207008" cy="786384"/>
          </a:xfrm>
          <a:prstGeom prst="ellipse">
            <a:avLst/>
          </a:prstGeom>
          <a:solidFill>
            <a:srgbClr val="B3D9FE">
              <a:alpha val="0"/>
            </a:srgbClr>
          </a:solidFill>
          <a:ln w="28575">
            <a:solidFill>
              <a:srgbClr val="3B8BE0"/>
            </a:solidFill>
            <a:prstDash val="solid"/>
          </a:ln>
        </p:spPr>
      </p:sp>
      <p:sp>
        <p:nvSpPr>
          <p:cNvPr id="5" name="text"/>
          <p:cNvSpPr txBox="1"/>
          <p:nvPr/>
        </p:nvSpPr>
        <p:spPr>
          <a:xfrm>
            <a:off x="548640" y="1280160"/>
            <a:ext cx="8686800" cy="594360"/>
          </a:xfrm>
          <a:prstGeom prst="rect">
            <a:avLst/>
          </a:prstGeom>
          <a:noFill/>
          <a:ln/>
        </p:spPr>
        <p:txBody>
          <a:bodyPr wrap="square" lIns="0" tIns="0" rIns="0" bIns="0" rtlCol="0" anchor="t"/>
          <a:lstStyle/>
          <a:p>
            <a:pPr algn="l" indent="0" marL="0">
              <a:buNone/>
            </a:pPr>
            <a:r>
              <a:rPr lang="en-US" sz="1400" dirty="0">
                <a:solidFill>
                  <a:srgbClr val="2E1616"/>
                </a:solidFill>
              </a:rPr>
              <a:t>Permintaan suku cadang di Alaska bersifat </a:t>
            </a:r>
            <a:r>
              <a:rPr lang="en-US" sz="1400" i="1" dirty="0">
                <a:solidFill>
                  <a:srgbClr val="2E1616"/>
                </a:solidFill>
              </a:rPr>
              <a:t>dependent</a:t>
            </a:r>
            <a:r>
              <a:rPr lang="en-US" sz="1400" dirty="0">
                <a:solidFill>
                  <a:srgbClr val="2E1616"/>
                </a:solidFill>
              </a:rPr>
              <a:t>: dihitung dari jadwal, bukan diramalkan. Rantai turunannya berjalan dalam empat langkah.</a:t>
            </a:r>
            <a:endParaRPr lang="en-US" sz="1400" dirty="0"/>
          </a:p>
        </p:txBody>
      </p:sp>
      <p:pic>
        <p:nvPicPr>
          <p:cNvPr id="6" name="ilustrasi suku cadang" descr="/tmp/claude-0/-home-user-Dom-Manipulation/385e5267-c23e-5c04-80f5-d5fb4946a902/scratchpad/build/img2/st_parts.png">    </p:cNvPr>
          <p:cNvPicPr>
            <a:picLocks noChangeAspect="1"/>
          </p:cNvPicPr>
          <p:nvPr/>
        </p:nvPicPr>
        <p:blipFill>
          <a:blip r:embed="rId1"/>
          <a:stretch>
            <a:fillRect/>
          </a:stretch>
        </p:blipFill>
        <p:spPr>
          <a:xfrm>
            <a:off x="9704336" y="777240"/>
            <a:ext cx="1531088" cy="1371600"/>
          </a:xfrm>
          <a:prstGeom prst="rect">
            <a:avLst/>
          </a:prstGeom>
        </p:spPr>
      </p:pic>
      <p:sp>
        <p:nvSpPr>
          <p:cNvPr id="7" name="card"/>
          <p:cNvSpPr/>
          <p:nvPr/>
        </p:nvSpPr>
        <p:spPr>
          <a:xfrm>
            <a:off x="548640" y="2103120"/>
            <a:ext cx="2602154" cy="3154680"/>
          </a:xfrm>
          <a:prstGeom prst="roundRect">
            <a:avLst>
              <a:gd name="adj" fmla="val 7028"/>
            </a:avLst>
          </a:prstGeom>
          <a:solidFill>
            <a:srgbClr val="F5F2EB"/>
          </a:solidFill>
          <a:ln w="3175">
            <a:solidFill>
              <a:srgbClr val="F5F2EB"/>
            </a:solidFill>
            <a:prstDash val="solid"/>
          </a:ln>
        </p:spPr>
      </p:sp>
      <p:sp>
        <p:nvSpPr>
          <p:cNvPr id="8" name="pill"/>
          <p:cNvSpPr/>
          <p:nvPr/>
        </p:nvSpPr>
        <p:spPr>
          <a:xfrm>
            <a:off x="777240" y="2331720"/>
            <a:ext cx="960120" cy="292608"/>
          </a:xfrm>
          <a:prstGeom prst="roundRect">
            <a:avLst>
              <a:gd name="adj" fmla="val 50000"/>
            </a:avLst>
          </a:prstGeom>
          <a:solidFill>
            <a:srgbClr val="4F2D2C"/>
          </a:solidFill>
          <a:ln w="3175">
            <a:solidFill>
              <a:srgbClr val="4F2D2C"/>
            </a:solidFill>
            <a:prstDash val="solid"/>
          </a:ln>
        </p:spPr>
      </p:sp>
      <p:sp>
        <p:nvSpPr>
          <p:cNvPr id="9" name="pill label"/>
          <p:cNvSpPr txBox="1"/>
          <p:nvPr/>
        </p:nvSpPr>
        <p:spPr>
          <a:xfrm>
            <a:off x="777240" y="2331720"/>
            <a:ext cx="960120" cy="292608"/>
          </a:xfrm>
          <a:prstGeom prst="rect">
            <a:avLst/>
          </a:prstGeom>
          <a:noFill/>
          <a:ln/>
        </p:spPr>
        <p:txBody>
          <a:bodyPr wrap="square" lIns="0" tIns="0" rIns="0" bIns="0" rtlCol="0" anchor="ctr"/>
          <a:lstStyle/>
          <a:p>
            <a:pPr algn="ctr" indent="0" marL="0">
              <a:buNone/>
            </a:pPr>
            <a:r>
              <a:rPr lang="en-US" sz="1000" b="1" dirty="0">
                <a:solidFill>
                  <a:srgbClr val="FFFFFF"/>
                </a:solidFill>
              </a:rPr>
              <a:t>Langkah 01</a:t>
            </a:r>
            <a:endParaRPr lang="en-US" sz="1000" dirty="0"/>
          </a:p>
        </p:txBody>
      </p:sp>
      <p:sp>
        <p:nvSpPr>
          <p:cNvPr id="10" name="icon circle"/>
          <p:cNvSpPr/>
          <p:nvPr/>
        </p:nvSpPr>
        <p:spPr>
          <a:xfrm>
            <a:off x="2282114" y="2286000"/>
            <a:ext cx="640080" cy="640080"/>
          </a:xfrm>
          <a:prstGeom prst="ellipse">
            <a:avLst/>
          </a:prstGeom>
          <a:solidFill>
            <a:srgbClr val="D7EAFD"/>
          </a:solidFill>
          <a:ln w="3175">
            <a:solidFill>
              <a:srgbClr val="D7EAFD"/>
            </a:solidFill>
            <a:prstDash val="solid"/>
          </a:ln>
        </p:spPr>
      </p:sp>
      <p:pic>
        <p:nvPicPr>
          <p:cNvPr id="11" name="icon FaCalendarAlt" descr="preencoded.png">    </p:cNvPr>
          <p:cNvPicPr>
            <a:picLocks noChangeAspect="1"/>
          </p:cNvPicPr>
          <p:nvPr/>
        </p:nvPicPr>
        <p:blipFill>
          <a:blip r:embed="rId2"/>
          <a:stretch>
            <a:fillRect/>
          </a:stretch>
        </p:blipFill>
        <p:spPr>
          <a:xfrm>
            <a:off x="2442134" y="2446020"/>
            <a:ext cx="320040" cy="320040"/>
          </a:xfrm>
          <a:prstGeom prst="rect">
            <a:avLst/>
          </a:prstGeom>
        </p:spPr>
      </p:pic>
      <p:sp>
        <p:nvSpPr>
          <p:cNvPr id="12" name="text"/>
          <p:cNvSpPr txBox="1"/>
          <p:nvPr/>
        </p:nvSpPr>
        <p:spPr>
          <a:xfrm>
            <a:off x="777240" y="2834640"/>
            <a:ext cx="2144954" cy="566928"/>
          </a:xfrm>
          <a:prstGeom prst="rect">
            <a:avLst/>
          </a:prstGeom>
          <a:noFill/>
          <a:ln/>
        </p:spPr>
        <p:txBody>
          <a:bodyPr wrap="square" lIns="0" tIns="0" rIns="0" bIns="0" rtlCol="0" anchor="ctr"/>
          <a:lstStyle/>
          <a:p>
            <a:pPr algn="l" indent="0" marL="0">
              <a:buNone/>
            </a:pPr>
            <a:r>
              <a:rPr lang="en-US" sz="1500" b="1" dirty="0">
                <a:solidFill>
                  <a:srgbClr val="2E1616"/>
                </a:solidFill>
              </a:rPr>
              <a:t>Flight timetable</a:t>
            </a:r>
            <a:endParaRPr lang="en-US" sz="1500" dirty="0"/>
          </a:p>
        </p:txBody>
      </p:sp>
      <p:sp>
        <p:nvSpPr>
          <p:cNvPr id="13" name="text"/>
          <p:cNvSpPr txBox="1"/>
          <p:nvPr/>
        </p:nvSpPr>
        <p:spPr>
          <a:xfrm>
            <a:off x="777240" y="3474720"/>
            <a:ext cx="2144954" cy="1645920"/>
          </a:xfrm>
          <a:prstGeom prst="rect">
            <a:avLst/>
          </a:prstGeom>
          <a:noFill/>
          <a:ln/>
        </p:spPr>
        <p:txBody>
          <a:bodyPr wrap="square" lIns="0" tIns="0" rIns="0" bIns="0" rtlCol="0" anchor="t"/>
          <a:lstStyle/>
          <a:p>
            <a:pPr algn="l" indent="0" marL="0">
              <a:buNone/>
            </a:pPr>
            <a:r>
              <a:rPr lang="en-US" sz="1150" dirty="0">
                <a:solidFill>
                  <a:srgbClr val="2E1616"/>
                </a:solidFill>
              </a:rPr>
              <a:t>Jadwal terpublikasi berfungsi sebagai </a:t>
            </a:r>
            <a:r>
              <a:rPr lang="en-US" sz="1150" i="1" dirty="0">
                <a:solidFill>
                  <a:srgbClr val="2E1616"/>
                </a:solidFill>
              </a:rPr>
              <a:t>master schedule</a:t>
            </a:r>
            <a:r>
              <a:rPr lang="en-US" sz="1150" dirty="0">
                <a:solidFill>
                  <a:srgbClr val="2E1616"/>
                </a:solidFill>
              </a:rPr>
              <a:t>: pesawat apa terbang ke mana, kapan, dengan berapa jam dan siklus.</a:t>
            </a:r>
            <a:endParaRPr lang="en-US" sz="1150" dirty="0"/>
          </a:p>
        </p:txBody>
      </p:sp>
      <p:sp>
        <p:nvSpPr>
          <p:cNvPr id="14" name="arrow"/>
          <p:cNvSpPr/>
          <p:nvPr/>
        </p:nvSpPr>
        <p:spPr>
          <a:xfrm>
            <a:off x="3187370" y="3017520"/>
            <a:ext cx="155448" cy="274320"/>
          </a:xfrm>
          <a:prstGeom prst="rightArrow">
            <a:avLst/>
          </a:prstGeom>
          <a:solidFill>
            <a:srgbClr val="3B8BE0"/>
          </a:solidFill>
          <a:ln w="3175">
            <a:solidFill>
              <a:srgbClr val="3B8BE0"/>
            </a:solidFill>
            <a:prstDash val="solid"/>
          </a:ln>
        </p:spPr>
      </p:sp>
      <p:sp>
        <p:nvSpPr>
          <p:cNvPr id="15" name="card"/>
          <p:cNvSpPr/>
          <p:nvPr/>
        </p:nvSpPr>
        <p:spPr>
          <a:xfrm>
            <a:off x="3379394" y="2103120"/>
            <a:ext cx="2602154" cy="3154680"/>
          </a:xfrm>
          <a:prstGeom prst="roundRect">
            <a:avLst>
              <a:gd name="adj" fmla="val 7028"/>
            </a:avLst>
          </a:prstGeom>
          <a:solidFill>
            <a:srgbClr val="F5F2EB"/>
          </a:solidFill>
          <a:ln w="3175">
            <a:solidFill>
              <a:srgbClr val="F5F2EB"/>
            </a:solidFill>
            <a:prstDash val="solid"/>
          </a:ln>
        </p:spPr>
      </p:sp>
      <p:sp>
        <p:nvSpPr>
          <p:cNvPr id="16" name="pill"/>
          <p:cNvSpPr/>
          <p:nvPr/>
        </p:nvSpPr>
        <p:spPr>
          <a:xfrm>
            <a:off x="3607994" y="2331720"/>
            <a:ext cx="960120" cy="292608"/>
          </a:xfrm>
          <a:prstGeom prst="roundRect">
            <a:avLst>
              <a:gd name="adj" fmla="val 50000"/>
            </a:avLst>
          </a:prstGeom>
          <a:solidFill>
            <a:srgbClr val="4F2D2C"/>
          </a:solidFill>
          <a:ln w="3175">
            <a:solidFill>
              <a:srgbClr val="4F2D2C"/>
            </a:solidFill>
            <a:prstDash val="solid"/>
          </a:ln>
        </p:spPr>
      </p:sp>
      <p:sp>
        <p:nvSpPr>
          <p:cNvPr id="17" name="pill label"/>
          <p:cNvSpPr txBox="1"/>
          <p:nvPr/>
        </p:nvSpPr>
        <p:spPr>
          <a:xfrm>
            <a:off x="3607994" y="2331720"/>
            <a:ext cx="960120" cy="292608"/>
          </a:xfrm>
          <a:prstGeom prst="rect">
            <a:avLst/>
          </a:prstGeom>
          <a:noFill/>
          <a:ln/>
        </p:spPr>
        <p:txBody>
          <a:bodyPr wrap="square" lIns="0" tIns="0" rIns="0" bIns="0" rtlCol="0" anchor="ctr"/>
          <a:lstStyle/>
          <a:p>
            <a:pPr algn="ctr" indent="0" marL="0">
              <a:buNone/>
            </a:pPr>
            <a:r>
              <a:rPr lang="en-US" sz="1000" b="1" dirty="0">
                <a:solidFill>
                  <a:srgbClr val="FFFFFF"/>
                </a:solidFill>
              </a:rPr>
              <a:t>Langkah 02</a:t>
            </a:r>
            <a:endParaRPr lang="en-US" sz="1000" dirty="0"/>
          </a:p>
        </p:txBody>
      </p:sp>
      <p:sp>
        <p:nvSpPr>
          <p:cNvPr id="18" name="icon circle"/>
          <p:cNvSpPr/>
          <p:nvPr/>
        </p:nvSpPr>
        <p:spPr>
          <a:xfrm>
            <a:off x="5112868" y="2286000"/>
            <a:ext cx="640080" cy="640080"/>
          </a:xfrm>
          <a:prstGeom prst="ellipse">
            <a:avLst/>
          </a:prstGeom>
          <a:solidFill>
            <a:srgbClr val="D7EAFD"/>
          </a:solidFill>
          <a:ln w="3175">
            <a:solidFill>
              <a:srgbClr val="D7EAFD"/>
            </a:solidFill>
            <a:prstDash val="solid"/>
          </a:ln>
        </p:spPr>
      </p:sp>
      <p:pic>
        <p:nvPicPr>
          <p:cNvPr id="19" name="icon FaWrench" descr="preencoded.png">    </p:cNvPr>
          <p:cNvPicPr>
            <a:picLocks noChangeAspect="1"/>
          </p:cNvPicPr>
          <p:nvPr/>
        </p:nvPicPr>
        <p:blipFill>
          <a:blip r:embed="rId3"/>
          <a:stretch>
            <a:fillRect/>
          </a:stretch>
        </p:blipFill>
        <p:spPr>
          <a:xfrm>
            <a:off x="5272888" y="2446020"/>
            <a:ext cx="320040" cy="320040"/>
          </a:xfrm>
          <a:prstGeom prst="rect">
            <a:avLst/>
          </a:prstGeom>
        </p:spPr>
      </p:pic>
      <p:sp>
        <p:nvSpPr>
          <p:cNvPr id="20" name="text"/>
          <p:cNvSpPr txBox="1"/>
          <p:nvPr/>
        </p:nvSpPr>
        <p:spPr>
          <a:xfrm>
            <a:off x="3607994" y="2834640"/>
            <a:ext cx="2144954" cy="566928"/>
          </a:xfrm>
          <a:prstGeom prst="rect">
            <a:avLst/>
          </a:prstGeom>
          <a:noFill/>
          <a:ln/>
        </p:spPr>
        <p:txBody>
          <a:bodyPr wrap="square" lIns="0" tIns="0" rIns="0" bIns="0" rtlCol="0" anchor="ctr"/>
          <a:lstStyle/>
          <a:p>
            <a:pPr algn="l" indent="0" marL="0">
              <a:buNone/>
            </a:pPr>
            <a:r>
              <a:rPr lang="en-US" sz="1500" b="1" dirty="0">
                <a:solidFill>
                  <a:srgbClr val="2E1616"/>
                </a:solidFill>
              </a:rPr>
              <a:t>Rencana perawatan</a:t>
            </a:r>
            <a:endParaRPr lang="en-US" sz="1500" dirty="0"/>
          </a:p>
        </p:txBody>
      </p:sp>
      <p:sp>
        <p:nvSpPr>
          <p:cNvPr id="21" name="text"/>
          <p:cNvSpPr txBox="1"/>
          <p:nvPr/>
        </p:nvSpPr>
        <p:spPr>
          <a:xfrm>
            <a:off x="3607994" y="3474720"/>
            <a:ext cx="2144954" cy="1645920"/>
          </a:xfrm>
          <a:prstGeom prst="rect">
            <a:avLst/>
          </a:prstGeom>
          <a:noFill/>
          <a:ln/>
        </p:spPr>
        <p:txBody>
          <a:bodyPr wrap="square" lIns="0" tIns="0" rIns="0" bIns="0" rtlCol="0" anchor="t"/>
          <a:lstStyle/>
          <a:p>
            <a:pPr algn="l" indent="0" marL="0">
              <a:buNone/>
            </a:pPr>
            <a:r>
              <a:rPr lang="en-US" sz="1150" dirty="0">
                <a:solidFill>
                  <a:srgbClr val="2E1616"/>
                </a:solidFill>
              </a:rPr>
              <a:t>Jam terbang dan siklus per </a:t>
            </a:r>
            <a:r>
              <a:rPr lang="en-US" sz="1150" i="1" dirty="0">
                <a:solidFill>
                  <a:srgbClr val="2E1616"/>
                </a:solidFill>
              </a:rPr>
              <a:t>tail number</a:t>
            </a:r>
            <a:r>
              <a:rPr lang="en-US" sz="1150" dirty="0">
                <a:solidFill>
                  <a:srgbClr val="2E1616"/>
                </a:solidFill>
              </a:rPr>
              <a:t> menentukan kapan setiap </a:t>
            </a:r>
            <a:r>
              <a:rPr lang="en-US" sz="1150" i="1" dirty="0">
                <a:solidFill>
                  <a:srgbClr val="2E1616"/>
                </a:solidFill>
              </a:rPr>
              <a:t>check</a:t>
            </a:r>
            <a:r>
              <a:rPr lang="en-US" sz="1150" dirty="0">
                <a:solidFill>
                  <a:srgbClr val="2E1616"/>
                </a:solidFill>
              </a:rPr>
              <a:t> jatuh tempo; inilah jadwal induk bagi hangar.</a:t>
            </a:r>
            <a:endParaRPr lang="en-US" sz="1150" dirty="0"/>
          </a:p>
        </p:txBody>
      </p:sp>
      <p:sp>
        <p:nvSpPr>
          <p:cNvPr id="22" name="arrow"/>
          <p:cNvSpPr/>
          <p:nvPr/>
        </p:nvSpPr>
        <p:spPr>
          <a:xfrm>
            <a:off x="6018124" y="3017520"/>
            <a:ext cx="155448" cy="274320"/>
          </a:xfrm>
          <a:prstGeom prst="rightArrow">
            <a:avLst/>
          </a:prstGeom>
          <a:solidFill>
            <a:srgbClr val="3B8BE0"/>
          </a:solidFill>
          <a:ln w="3175">
            <a:solidFill>
              <a:srgbClr val="3B8BE0"/>
            </a:solidFill>
            <a:prstDash val="solid"/>
          </a:ln>
        </p:spPr>
      </p:sp>
      <p:sp>
        <p:nvSpPr>
          <p:cNvPr id="23" name="card"/>
          <p:cNvSpPr/>
          <p:nvPr/>
        </p:nvSpPr>
        <p:spPr>
          <a:xfrm>
            <a:off x="6210148" y="2103120"/>
            <a:ext cx="2602154" cy="3154680"/>
          </a:xfrm>
          <a:prstGeom prst="roundRect">
            <a:avLst>
              <a:gd name="adj" fmla="val 7028"/>
            </a:avLst>
          </a:prstGeom>
          <a:solidFill>
            <a:srgbClr val="F5F2EB"/>
          </a:solidFill>
          <a:ln w="3175">
            <a:solidFill>
              <a:srgbClr val="F5F2EB"/>
            </a:solidFill>
            <a:prstDash val="solid"/>
          </a:ln>
        </p:spPr>
      </p:sp>
      <p:sp>
        <p:nvSpPr>
          <p:cNvPr id="24" name="pill"/>
          <p:cNvSpPr/>
          <p:nvPr/>
        </p:nvSpPr>
        <p:spPr>
          <a:xfrm>
            <a:off x="6438748" y="2331720"/>
            <a:ext cx="960120" cy="292608"/>
          </a:xfrm>
          <a:prstGeom prst="roundRect">
            <a:avLst>
              <a:gd name="adj" fmla="val 50000"/>
            </a:avLst>
          </a:prstGeom>
          <a:solidFill>
            <a:srgbClr val="4F2D2C"/>
          </a:solidFill>
          <a:ln w="3175">
            <a:solidFill>
              <a:srgbClr val="4F2D2C"/>
            </a:solidFill>
            <a:prstDash val="solid"/>
          </a:ln>
        </p:spPr>
      </p:sp>
      <p:sp>
        <p:nvSpPr>
          <p:cNvPr id="25" name="pill label"/>
          <p:cNvSpPr txBox="1"/>
          <p:nvPr/>
        </p:nvSpPr>
        <p:spPr>
          <a:xfrm>
            <a:off x="6438748" y="2331720"/>
            <a:ext cx="960120" cy="292608"/>
          </a:xfrm>
          <a:prstGeom prst="rect">
            <a:avLst/>
          </a:prstGeom>
          <a:noFill/>
          <a:ln/>
        </p:spPr>
        <p:txBody>
          <a:bodyPr wrap="square" lIns="0" tIns="0" rIns="0" bIns="0" rtlCol="0" anchor="ctr"/>
          <a:lstStyle/>
          <a:p>
            <a:pPr algn="ctr" indent="0" marL="0">
              <a:buNone/>
            </a:pPr>
            <a:r>
              <a:rPr lang="en-US" sz="1000" b="1" dirty="0">
                <a:solidFill>
                  <a:srgbClr val="FFFFFF"/>
                </a:solidFill>
              </a:rPr>
              <a:t>Langkah 03</a:t>
            </a:r>
            <a:endParaRPr lang="en-US" sz="1000" dirty="0"/>
          </a:p>
        </p:txBody>
      </p:sp>
      <p:sp>
        <p:nvSpPr>
          <p:cNvPr id="26" name="icon circle"/>
          <p:cNvSpPr/>
          <p:nvPr/>
        </p:nvSpPr>
        <p:spPr>
          <a:xfrm>
            <a:off x="7943621" y="2286000"/>
            <a:ext cx="640080" cy="640080"/>
          </a:xfrm>
          <a:prstGeom prst="ellipse">
            <a:avLst/>
          </a:prstGeom>
          <a:solidFill>
            <a:srgbClr val="D7EAFD"/>
          </a:solidFill>
          <a:ln w="3175">
            <a:solidFill>
              <a:srgbClr val="D7EAFD"/>
            </a:solidFill>
            <a:prstDash val="solid"/>
          </a:ln>
        </p:spPr>
      </p:sp>
      <p:pic>
        <p:nvPicPr>
          <p:cNvPr id="27" name="icon FaSitemap" descr="preencoded.png">    </p:cNvPr>
          <p:cNvPicPr>
            <a:picLocks noChangeAspect="1"/>
          </p:cNvPicPr>
          <p:nvPr/>
        </p:nvPicPr>
        <p:blipFill>
          <a:blip r:embed="rId4"/>
          <a:stretch>
            <a:fillRect/>
          </a:stretch>
        </p:blipFill>
        <p:spPr>
          <a:xfrm>
            <a:off x="8103641" y="2446020"/>
            <a:ext cx="320040" cy="320040"/>
          </a:xfrm>
          <a:prstGeom prst="rect">
            <a:avLst/>
          </a:prstGeom>
        </p:spPr>
      </p:pic>
      <p:sp>
        <p:nvSpPr>
          <p:cNvPr id="28" name="text"/>
          <p:cNvSpPr txBox="1"/>
          <p:nvPr/>
        </p:nvSpPr>
        <p:spPr>
          <a:xfrm>
            <a:off x="6438748" y="2834640"/>
            <a:ext cx="2144954" cy="566928"/>
          </a:xfrm>
          <a:prstGeom prst="rect">
            <a:avLst/>
          </a:prstGeom>
          <a:noFill/>
          <a:ln/>
        </p:spPr>
        <p:txBody>
          <a:bodyPr wrap="square" lIns="0" tIns="0" rIns="0" bIns="0" rtlCol="0" anchor="ctr"/>
          <a:lstStyle/>
          <a:p>
            <a:pPr algn="l" indent="0" marL="0">
              <a:buNone/>
            </a:pPr>
            <a:r>
              <a:rPr lang="en-US" sz="1500" b="1" dirty="0">
                <a:solidFill>
                  <a:srgbClr val="2E1616"/>
                </a:solidFill>
              </a:rPr>
              <a:t>Work package</a:t>
            </a:r>
            <a:endParaRPr lang="en-US" sz="1500" dirty="0"/>
          </a:p>
        </p:txBody>
      </p:sp>
      <p:sp>
        <p:nvSpPr>
          <p:cNvPr id="29" name="text"/>
          <p:cNvSpPr txBox="1"/>
          <p:nvPr/>
        </p:nvSpPr>
        <p:spPr>
          <a:xfrm>
            <a:off x="6438748" y="3474720"/>
            <a:ext cx="2144954" cy="1645920"/>
          </a:xfrm>
          <a:prstGeom prst="rect">
            <a:avLst/>
          </a:prstGeom>
          <a:noFill/>
          <a:ln/>
        </p:spPr>
        <p:txBody>
          <a:bodyPr wrap="square" lIns="0" tIns="0" rIns="0" bIns="0" rtlCol="0" anchor="t"/>
          <a:lstStyle/>
          <a:p>
            <a:pPr algn="l" indent="0" marL="0">
              <a:buNone/>
            </a:pPr>
            <a:r>
              <a:rPr lang="en-US" sz="1150" dirty="0">
                <a:solidFill>
                  <a:srgbClr val="2E1616"/>
                </a:solidFill>
              </a:rPr>
              <a:t>Setiap </a:t>
            </a:r>
            <a:r>
              <a:rPr lang="en-US" sz="1150" i="1" dirty="0">
                <a:solidFill>
                  <a:srgbClr val="2E1616"/>
                </a:solidFill>
              </a:rPr>
              <a:t>check</a:t>
            </a:r>
            <a:r>
              <a:rPr lang="en-US" sz="1150" dirty="0">
                <a:solidFill>
                  <a:srgbClr val="2E1616"/>
                </a:solidFill>
              </a:rPr>
              <a:t> diurai menjadi </a:t>
            </a:r>
            <a:r>
              <a:rPr lang="en-US" sz="1150" i="1" dirty="0">
                <a:solidFill>
                  <a:srgbClr val="2E1616"/>
                </a:solidFill>
              </a:rPr>
              <a:t>task card</a:t>
            </a:r>
            <a:r>
              <a:rPr lang="en-US" sz="1150" dirty="0">
                <a:solidFill>
                  <a:srgbClr val="2E1616"/>
                </a:solidFill>
              </a:rPr>
              <a:t>: daftar komponen dan jam kerja (</a:t>
            </a:r>
            <a:r>
              <a:rPr lang="en-US" sz="1150" i="1" dirty="0">
                <a:solidFill>
                  <a:srgbClr val="2E1616"/>
                </a:solidFill>
              </a:rPr>
              <a:t>bill of material</a:t>
            </a:r>
            <a:r>
              <a:rPr lang="en-US" sz="1150" dirty="0">
                <a:solidFill>
                  <a:srgbClr val="2E1616"/>
                </a:solidFill>
              </a:rPr>
              <a:t> dan </a:t>
            </a:r>
            <a:r>
              <a:rPr lang="en-US" sz="1150" i="1" dirty="0">
                <a:solidFill>
                  <a:srgbClr val="2E1616"/>
                </a:solidFill>
              </a:rPr>
              <a:t>bill of labor</a:t>
            </a:r>
            <a:r>
              <a:rPr lang="en-US" sz="1150" dirty="0">
                <a:solidFill>
                  <a:srgbClr val="2E1616"/>
                </a:solidFill>
              </a:rPr>
              <a:t>).</a:t>
            </a:r>
            <a:endParaRPr lang="en-US" sz="1150" dirty="0"/>
          </a:p>
        </p:txBody>
      </p:sp>
      <p:sp>
        <p:nvSpPr>
          <p:cNvPr id="30" name="arrow"/>
          <p:cNvSpPr/>
          <p:nvPr/>
        </p:nvSpPr>
        <p:spPr>
          <a:xfrm>
            <a:off x="8848877" y="3017520"/>
            <a:ext cx="155448" cy="274320"/>
          </a:xfrm>
          <a:prstGeom prst="rightArrow">
            <a:avLst/>
          </a:prstGeom>
          <a:solidFill>
            <a:srgbClr val="3B8BE0"/>
          </a:solidFill>
          <a:ln w="3175">
            <a:solidFill>
              <a:srgbClr val="3B8BE0"/>
            </a:solidFill>
            <a:prstDash val="solid"/>
          </a:ln>
        </p:spPr>
      </p:sp>
      <p:sp>
        <p:nvSpPr>
          <p:cNvPr id="31" name="card"/>
          <p:cNvSpPr/>
          <p:nvPr/>
        </p:nvSpPr>
        <p:spPr>
          <a:xfrm>
            <a:off x="9040901" y="2103120"/>
            <a:ext cx="2602154" cy="3154680"/>
          </a:xfrm>
          <a:prstGeom prst="roundRect">
            <a:avLst>
              <a:gd name="adj" fmla="val 7028"/>
            </a:avLst>
          </a:prstGeom>
          <a:solidFill>
            <a:srgbClr val="F5F2EB"/>
          </a:solidFill>
          <a:ln w="3175">
            <a:solidFill>
              <a:srgbClr val="F5F2EB"/>
            </a:solidFill>
            <a:prstDash val="solid"/>
          </a:ln>
        </p:spPr>
      </p:sp>
      <p:sp>
        <p:nvSpPr>
          <p:cNvPr id="32" name="pill"/>
          <p:cNvSpPr/>
          <p:nvPr/>
        </p:nvSpPr>
        <p:spPr>
          <a:xfrm>
            <a:off x="9269501" y="2331720"/>
            <a:ext cx="960120" cy="292608"/>
          </a:xfrm>
          <a:prstGeom prst="roundRect">
            <a:avLst>
              <a:gd name="adj" fmla="val 50000"/>
            </a:avLst>
          </a:prstGeom>
          <a:solidFill>
            <a:srgbClr val="4F2D2C"/>
          </a:solidFill>
          <a:ln w="3175">
            <a:solidFill>
              <a:srgbClr val="4F2D2C"/>
            </a:solidFill>
            <a:prstDash val="solid"/>
          </a:ln>
        </p:spPr>
      </p:sp>
      <p:sp>
        <p:nvSpPr>
          <p:cNvPr id="33" name="pill label"/>
          <p:cNvSpPr txBox="1"/>
          <p:nvPr/>
        </p:nvSpPr>
        <p:spPr>
          <a:xfrm>
            <a:off x="9269501" y="2331720"/>
            <a:ext cx="960120" cy="292608"/>
          </a:xfrm>
          <a:prstGeom prst="rect">
            <a:avLst/>
          </a:prstGeom>
          <a:noFill/>
          <a:ln/>
        </p:spPr>
        <p:txBody>
          <a:bodyPr wrap="square" lIns="0" tIns="0" rIns="0" bIns="0" rtlCol="0" anchor="ctr"/>
          <a:lstStyle/>
          <a:p>
            <a:pPr algn="ctr" indent="0" marL="0">
              <a:buNone/>
            </a:pPr>
            <a:r>
              <a:rPr lang="en-US" sz="1000" b="1" dirty="0">
                <a:solidFill>
                  <a:srgbClr val="FFFFFF"/>
                </a:solidFill>
              </a:rPr>
              <a:t>Langkah 04</a:t>
            </a:r>
            <a:endParaRPr lang="en-US" sz="1000" dirty="0"/>
          </a:p>
        </p:txBody>
      </p:sp>
      <p:sp>
        <p:nvSpPr>
          <p:cNvPr id="34" name="icon circle"/>
          <p:cNvSpPr/>
          <p:nvPr/>
        </p:nvSpPr>
        <p:spPr>
          <a:xfrm>
            <a:off x="10774375" y="2286000"/>
            <a:ext cx="640080" cy="640080"/>
          </a:xfrm>
          <a:prstGeom prst="ellipse">
            <a:avLst/>
          </a:prstGeom>
          <a:solidFill>
            <a:srgbClr val="D7EAFD"/>
          </a:solidFill>
          <a:ln w="3175">
            <a:solidFill>
              <a:srgbClr val="D7EAFD"/>
            </a:solidFill>
            <a:prstDash val="solid"/>
          </a:ln>
        </p:spPr>
      </p:sp>
      <p:pic>
        <p:nvPicPr>
          <p:cNvPr id="35" name="icon FaCubes" descr="preencoded.png">    </p:cNvPr>
          <p:cNvPicPr>
            <a:picLocks noChangeAspect="1"/>
          </p:cNvPicPr>
          <p:nvPr/>
        </p:nvPicPr>
        <p:blipFill>
          <a:blip r:embed="rId5"/>
          <a:stretch>
            <a:fillRect/>
          </a:stretch>
        </p:blipFill>
        <p:spPr>
          <a:xfrm>
            <a:off x="10934395" y="2446020"/>
            <a:ext cx="320040" cy="320040"/>
          </a:xfrm>
          <a:prstGeom prst="rect">
            <a:avLst/>
          </a:prstGeom>
        </p:spPr>
      </p:pic>
      <p:sp>
        <p:nvSpPr>
          <p:cNvPr id="36" name="text"/>
          <p:cNvSpPr txBox="1"/>
          <p:nvPr/>
        </p:nvSpPr>
        <p:spPr>
          <a:xfrm>
            <a:off x="9269501" y="2834640"/>
            <a:ext cx="2144954" cy="566928"/>
          </a:xfrm>
          <a:prstGeom prst="rect">
            <a:avLst/>
          </a:prstGeom>
          <a:noFill/>
          <a:ln/>
        </p:spPr>
        <p:txBody>
          <a:bodyPr wrap="square" lIns="0" tIns="0" rIns="0" bIns="0" rtlCol="0" anchor="ctr"/>
          <a:lstStyle/>
          <a:p>
            <a:pPr algn="l" indent="0" marL="0">
              <a:buNone/>
            </a:pPr>
            <a:r>
              <a:rPr lang="en-US" sz="1500" b="1" dirty="0">
                <a:solidFill>
                  <a:srgbClr val="2E1616"/>
                </a:solidFill>
              </a:rPr>
              <a:t>Kebutuhan bersih</a:t>
            </a:r>
            <a:endParaRPr lang="en-US" sz="1500" dirty="0"/>
          </a:p>
        </p:txBody>
      </p:sp>
      <p:sp>
        <p:nvSpPr>
          <p:cNvPr id="37" name="text"/>
          <p:cNvSpPr txBox="1"/>
          <p:nvPr/>
        </p:nvSpPr>
        <p:spPr>
          <a:xfrm>
            <a:off x="9269501" y="3474720"/>
            <a:ext cx="2144954" cy="1645920"/>
          </a:xfrm>
          <a:prstGeom prst="rect">
            <a:avLst/>
          </a:prstGeom>
          <a:noFill/>
          <a:ln/>
        </p:spPr>
        <p:txBody>
          <a:bodyPr wrap="square" lIns="0" tIns="0" rIns="0" bIns="0" rtlCol="0" anchor="t"/>
          <a:lstStyle/>
          <a:p>
            <a:pPr algn="l" indent="0" marL="0">
              <a:buNone/>
            </a:pPr>
            <a:r>
              <a:rPr lang="en-US" sz="1150" dirty="0">
                <a:solidFill>
                  <a:srgbClr val="2E1616"/>
                </a:solidFill>
              </a:rPr>
              <a:t>Kebutuhan dikurangi stok dan pesanan berjalan, lalu digeser mundur sebesar </a:t>
            </a:r>
            <a:r>
              <a:rPr lang="en-US" sz="1150" i="1" dirty="0">
                <a:solidFill>
                  <a:srgbClr val="2E1616"/>
                </a:solidFill>
              </a:rPr>
              <a:t>lead time</a:t>
            </a:r>
            <a:r>
              <a:rPr lang="en-US" sz="1150" dirty="0">
                <a:solidFill>
                  <a:srgbClr val="2E1616"/>
                </a:solidFill>
              </a:rPr>
              <a:t>: pesanan suku cadang dan slot teknisi dirilis tepat waktu.</a:t>
            </a:r>
            <a:endParaRPr lang="en-US" sz="1150" dirty="0"/>
          </a:p>
        </p:txBody>
      </p:sp>
      <p:sp>
        <p:nvSpPr>
          <p:cNvPr id="38" name="card"/>
          <p:cNvSpPr/>
          <p:nvPr/>
        </p:nvSpPr>
        <p:spPr>
          <a:xfrm>
            <a:off x="548640" y="5486400"/>
            <a:ext cx="11094415" cy="713232"/>
          </a:xfrm>
          <a:prstGeom prst="roundRect">
            <a:avLst>
              <a:gd name="adj" fmla="val 25641"/>
            </a:avLst>
          </a:prstGeom>
          <a:solidFill>
            <a:srgbClr val="4F2D2C"/>
          </a:solidFill>
          <a:ln w="3175">
            <a:solidFill>
              <a:srgbClr val="4F2D2C"/>
            </a:solidFill>
            <a:prstDash val="solid"/>
          </a:ln>
        </p:spPr>
      </p:sp>
      <p:sp>
        <p:nvSpPr>
          <p:cNvPr id="39" name="text"/>
          <p:cNvSpPr txBox="1"/>
          <p:nvPr/>
        </p:nvSpPr>
        <p:spPr>
          <a:xfrm>
            <a:off x="822960" y="5486400"/>
            <a:ext cx="10545775" cy="713232"/>
          </a:xfrm>
          <a:prstGeom prst="rect">
            <a:avLst/>
          </a:prstGeom>
          <a:noFill/>
          <a:ln/>
        </p:spPr>
        <p:txBody>
          <a:bodyPr wrap="square" lIns="0" tIns="0" rIns="0" bIns="0" rtlCol="0" anchor="ctr"/>
          <a:lstStyle/>
          <a:p>
            <a:pPr algn="l" indent="0" marL="0">
              <a:buNone/>
            </a:pPr>
            <a:r>
              <a:rPr lang="en-US" sz="1250" dirty="0">
                <a:solidFill>
                  <a:srgbClr val="FFFFFF"/>
                </a:solidFill>
              </a:rPr>
              <a:t>Akibatnya, kesalahan pada satu langkah merambat ke hilir: jadwal penerbangan yang berubah mengubah jatuh tempo perawatan, dan jatuh tempo yang bergeser mengubah kapan suku cadang harus dipesan.</a:t>
            </a:r>
            <a:endParaRPr lang="en-US" sz="1250" dirty="0"/>
          </a:p>
        </p:txBody>
      </p:sp>
      <p:sp>
        <p:nvSpPr>
          <p:cNvPr id="25" name="Slide Number Placeholder 0"/>
          <p:cNvSpPr>
            <a:spLocks noGrp="1"/>
          </p:cNvSpPr>
          <p:nvPr>
            <p:ph type="sldNum" sz="quarter" idx="4294967295"/>
          </p:nvPr>
        </p:nvSpPr>
        <p:spPr>
          <a:xfrm>
            <a:off x="11247120" y="6446520"/>
            <a:ext cx="39319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4F2D2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algn="l" indent="0" marL="0">
              <a:buNone/>
            </a:pPr>
            <a:r>
              <a:rPr lang="en-US" sz="2800" b="1" dirty="0">
                <a:solidFill>
                  <a:srgbClr val="2E1616"/>
                </a:solidFill>
              </a:rPr>
              <a:t>Contoh Perhitungan: Brake Assembly untuk Heavy Check</a:t>
            </a:r>
            <a:endParaRPr lang="en-US" sz="2800" dirty="0"/>
          </a:p>
        </p:txBody>
      </p:sp>
      <p:sp>
        <p:nvSpPr>
          <p:cNvPr id="4" name="title circle"/>
          <p:cNvSpPr/>
          <p:nvPr/>
        </p:nvSpPr>
        <p:spPr>
          <a:xfrm>
            <a:off x="347472" y="384048"/>
            <a:ext cx="1581912" cy="786384"/>
          </a:xfrm>
          <a:prstGeom prst="ellipse">
            <a:avLst/>
          </a:prstGeom>
          <a:solidFill>
            <a:srgbClr val="B3D9FE">
              <a:alpha val="0"/>
            </a:srgbClr>
          </a:solidFill>
          <a:ln w="28575">
            <a:solidFill>
              <a:srgbClr val="3B8BE0"/>
            </a:solidFill>
            <a:prstDash val="solid"/>
          </a:ln>
        </p:spPr>
      </p:sp>
      <p:sp>
        <p:nvSpPr>
          <p:cNvPr id="5" name="card"/>
          <p:cNvSpPr/>
          <p:nvPr/>
        </p:nvSpPr>
        <p:spPr>
          <a:xfrm>
            <a:off x="548640" y="1325880"/>
            <a:ext cx="11094415" cy="1005840"/>
          </a:xfrm>
          <a:prstGeom prst="roundRect">
            <a:avLst>
              <a:gd name="adj" fmla="val 18182"/>
            </a:avLst>
          </a:prstGeom>
          <a:solidFill>
            <a:srgbClr val="F5F2EB"/>
          </a:solidFill>
          <a:ln w="3175">
            <a:solidFill>
              <a:srgbClr val="F5F2EB"/>
            </a:solidFill>
            <a:prstDash val="solid"/>
          </a:ln>
        </p:spPr>
      </p:sp>
      <p:sp>
        <p:nvSpPr>
          <p:cNvPr id="6" name="text"/>
          <p:cNvSpPr txBox="1"/>
          <p:nvPr/>
        </p:nvSpPr>
        <p:spPr>
          <a:xfrm>
            <a:off x="822960" y="1325880"/>
            <a:ext cx="10545775" cy="1005840"/>
          </a:xfrm>
          <a:prstGeom prst="rect">
            <a:avLst/>
          </a:prstGeom>
          <a:noFill/>
          <a:ln/>
        </p:spPr>
        <p:txBody>
          <a:bodyPr wrap="square" lIns="0" tIns="0" rIns="0" bIns="0" rtlCol="0" anchor="ctr"/>
          <a:lstStyle/>
          <a:p>
            <a:pPr algn="l" indent="0" marL="0">
              <a:buNone/>
            </a:pPr>
            <a:r>
              <a:rPr lang="en-US" sz="1300" dirty="0">
                <a:solidFill>
                  <a:srgbClr val="2E1616"/>
                </a:solidFill>
              </a:rPr>
              <a:t>Ilustrasi dengan data sederhana: 4 unit </a:t>
            </a:r>
            <a:r>
              <a:rPr lang="en-US" sz="1300" i="1" dirty="0">
                <a:solidFill>
                  <a:srgbClr val="2E1616"/>
                </a:solidFill>
              </a:rPr>
              <a:t>brake assembly</a:t>
            </a:r>
            <a:r>
              <a:rPr lang="en-US" sz="1300" dirty="0">
                <a:solidFill>
                  <a:srgbClr val="2E1616"/>
                </a:solidFill>
              </a:rPr>
              <a:t> per paket </a:t>
            </a:r>
            <a:r>
              <a:rPr lang="en-US" sz="1300" i="1" dirty="0">
                <a:solidFill>
                  <a:srgbClr val="2E1616"/>
                </a:solidFill>
              </a:rPr>
              <a:t>heavy check</a:t>
            </a:r>
            <a:r>
              <a:rPr lang="en-US" sz="1300" dirty="0">
                <a:solidFill>
                  <a:srgbClr val="2E1616"/>
                </a:solidFill>
              </a:rPr>
              <a:t>; </a:t>
            </a:r>
            <a:r>
              <a:rPr lang="en-US" sz="1300" i="1" dirty="0">
                <a:solidFill>
                  <a:srgbClr val="2E1616"/>
                </a:solidFill>
              </a:rPr>
              <a:t>lead time</a:t>
            </a:r>
            <a:r>
              <a:rPr lang="en-US" sz="1300" dirty="0">
                <a:solidFill>
                  <a:srgbClr val="2E1616"/>
                </a:solidFill>
              </a:rPr>
              <a:t> pemasok 2 minggu; stok awal 6 unit; pesanan 4 unit tiba pada minggu 2; kebijakan </a:t>
            </a:r>
            <a:r>
              <a:rPr lang="en-US" sz="1300" i="1" dirty="0">
                <a:solidFill>
                  <a:srgbClr val="2E1616"/>
                </a:solidFill>
              </a:rPr>
              <a:t>lot-for-lot</a:t>
            </a:r>
            <a:r>
              <a:rPr lang="en-US" sz="1300" dirty="0">
                <a:solidFill>
                  <a:srgbClr val="2E1616"/>
                </a:solidFill>
              </a:rPr>
              <a:t>. Rencana perawatan: 2 paket pada minggu 5, 1 paket pada minggu 7, dan 2 paket pada minggu 8.</a:t>
            </a:r>
            <a:endParaRPr lang="en-US" sz="13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548640" y="2560320"/>
          <a:ext cx="11094415" cy="914400"/>
        </p:xfrm>
        <a:graphic>
          <a:graphicData uri="http://schemas.openxmlformats.org/drawingml/2006/table">
            <a:tbl>
              <a:tblPr/>
              <a:tblGrid>
                <a:gridCol w="3017520"/>
                <a:gridCol w="1009612"/>
                <a:gridCol w="1009612"/>
                <a:gridCol w="1009612"/>
                <a:gridCol w="1009612"/>
                <a:gridCol w="1009612"/>
                <a:gridCol w="1009612"/>
                <a:gridCol w="1009612"/>
                <a:gridCol w="1009612"/>
              </a:tblGrid>
              <a:tr h="33832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Minggu</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4F2D2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4F2D2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4F2D2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4F2D2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4F2D2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4F2D2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4F2D2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4F2D2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4F2D2C"/>
                    </a:solidFill>
                  </a:tcPr>
                </a:tc>
              </a:tr>
              <a:tr h="338328">
                <a:tc>
                  <a:txBody>
                    <a:bodyPr/>
                    <a:lstStyle/>
                    <a:p>
                      <a:pPr algn="l" indent="0" marL="0">
                        <a:buNone/>
                      </a:pPr>
                      <a:r>
                        <a:rPr lang="en-US" sz="1200" b="1" dirty="0">
                          <a:solidFill>
                            <a:srgbClr val="2E1616"/>
                          </a:solidFill>
                          <a:latin typeface="Calibri" pitchFamily="34" charset="0"/>
                          <a:ea typeface="Calibri" pitchFamily="34" charset="-122"/>
                          <a:cs typeface="Calibri" pitchFamily="34" charset="-120"/>
                        </a:rPr>
                        <a:t>Gross requirements (4 × paket)</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r>
              <a:tr h="338328">
                <a:tc>
                  <a:txBody>
                    <a:bodyPr/>
                    <a:lstStyle/>
                    <a:p>
                      <a:pPr algn="l" indent="0" marL="0">
                        <a:buNone/>
                      </a:pPr>
                      <a:r>
                        <a:rPr lang="en-US" sz="1200" b="1" dirty="0">
                          <a:solidFill>
                            <a:srgbClr val="2E1616"/>
                          </a:solidFill>
                          <a:latin typeface="Calibri" pitchFamily="34" charset="0"/>
                          <a:ea typeface="Calibri" pitchFamily="34" charset="-122"/>
                          <a:cs typeface="Calibri" pitchFamily="34" charset="-120"/>
                        </a:rPr>
                        <a:t>Scheduled receipts</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r>
              <a:tr h="338328">
                <a:tc>
                  <a:txBody>
                    <a:bodyPr/>
                    <a:lstStyle/>
                    <a:p>
                      <a:pPr algn="l" indent="0" marL="0">
                        <a:buNone/>
                      </a:pPr>
                      <a:r>
                        <a:rPr lang="en-US" sz="1200" b="1" dirty="0">
                          <a:solidFill>
                            <a:srgbClr val="2E1616"/>
                          </a:solidFill>
                          <a:latin typeface="Calibri" pitchFamily="34" charset="0"/>
                          <a:ea typeface="Calibri" pitchFamily="34" charset="-122"/>
                          <a:cs typeface="Calibri" pitchFamily="34" charset="-120"/>
                        </a:rPr>
                        <a:t>Projected on hand (awal 6)</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r>
              <a:tr h="338328">
                <a:tc>
                  <a:txBody>
                    <a:bodyPr/>
                    <a:lstStyle/>
                    <a:p>
                      <a:pPr algn="l" indent="0" marL="0">
                        <a:buNone/>
                      </a:pPr>
                      <a:r>
                        <a:rPr lang="en-US" sz="1200" b="1" dirty="0">
                          <a:solidFill>
                            <a:srgbClr val="2E1616"/>
                          </a:solidFill>
                          <a:latin typeface="Calibri" pitchFamily="34" charset="0"/>
                          <a:ea typeface="Calibri" pitchFamily="34" charset="-122"/>
                          <a:cs typeface="Calibri" pitchFamily="34" charset="-120"/>
                        </a:rPr>
                        <a:t>Net requirements</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r>
              <a:tr h="338328">
                <a:tc>
                  <a:txBody>
                    <a:bodyPr/>
                    <a:lstStyle/>
                    <a:p>
                      <a:pPr algn="l" indent="0" marL="0">
                        <a:buNone/>
                      </a:pPr>
                      <a:r>
                        <a:rPr lang="en-US" sz="1200" b="1" dirty="0">
                          <a:solidFill>
                            <a:srgbClr val="2E1616"/>
                          </a:solidFill>
                          <a:latin typeface="Calibri" pitchFamily="34" charset="0"/>
                          <a:ea typeface="Calibri" pitchFamily="34" charset="-122"/>
                          <a:cs typeface="Calibri" pitchFamily="34" charset="-120"/>
                        </a:rPr>
                        <a:t>Planned order receipts</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r>
              <a:tr h="338328">
                <a:tc>
                  <a:txBody>
                    <a:bodyPr/>
                    <a:lstStyle/>
                    <a:p>
                      <a:pPr algn="l" indent="0" marL="0">
                        <a:buNone/>
                      </a:pPr>
                      <a:r>
                        <a:rPr lang="en-US" sz="1200" b="1" dirty="0">
                          <a:solidFill>
                            <a:srgbClr val="2E1616"/>
                          </a:solidFill>
                          <a:latin typeface="Calibri" pitchFamily="34" charset="0"/>
                          <a:ea typeface="Calibri" pitchFamily="34" charset="-122"/>
                          <a:cs typeface="Calibri" pitchFamily="34" charset="-120"/>
                        </a:rPr>
                        <a:t>Planned order releases</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c>
                  <a:txBody>
                    <a:bodyPr/>
                    <a:lstStyle/>
                    <a:p>
                      <a:pPr algn="ctr" indent="0" marL="0">
                        <a:buNone/>
                      </a:pPr>
                      <a:r>
                        <a:rPr lang="en-US" sz="1200" b="1" dirty="0">
                          <a:solidFill>
                            <a:srgbClr val="2E1616"/>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D7EAFD"/>
                    </a:solidFill>
                  </a:tcPr>
                </a:tc>
                <a:tc>
                  <a:txBody>
                    <a:bodyPr/>
                    <a:lstStyle/>
                    <a:p>
                      <a:pPr algn="ctr" indent="0" marL="0">
                        <a:buNone/>
                      </a:pPr>
                      <a:r>
                        <a:rPr lang="en-US" sz="1200" b="1" dirty="0">
                          <a:solidFill>
                            <a:srgbClr val="2E1616"/>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D7EAFD"/>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c>
                  <a:txBody>
                    <a:bodyPr/>
                    <a:lstStyle/>
                    <a:p>
                      <a:pPr algn="ctr" indent="0" marL="0">
                        <a:buNone/>
                      </a:pPr>
                      <a:r>
                        <a:rPr lang="en-US" sz="1200" dirty="0">
                          <a:solidFill>
                            <a:srgbClr val="2E1616"/>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r>
            </a:tbl>
          </a:graphicData>
        </a:graphic>
      </p:graphicFrame>
      <p:sp>
        <p:nvSpPr>
          <p:cNvPr id="8" name="card"/>
          <p:cNvSpPr/>
          <p:nvPr/>
        </p:nvSpPr>
        <p:spPr>
          <a:xfrm>
            <a:off x="548640" y="5074920"/>
            <a:ext cx="11094415" cy="1143000"/>
          </a:xfrm>
          <a:prstGeom prst="roundRect">
            <a:avLst>
              <a:gd name="adj" fmla="val 16000"/>
            </a:avLst>
          </a:prstGeom>
          <a:solidFill>
            <a:srgbClr val="4F2D2C"/>
          </a:solidFill>
          <a:ln w="3175">
            <a:solidFill>
              <a:srgbClr val="4F2D2C"/>
            </a:solidFill>
            <a:prstDash val="solid"/>
          </a:ln>
        </p:spPr>
      </p:sp>
      <p:sp>
        <p:nvSpPr>
          <p:cNvPr id="9" name="text"/>
          <p:cNvSpPr txBox="1"/>
          <p:nvPr/>
        </p:nvSpPr>
        <p:spPr>
          <a:xfrm>
            <a:off x="822960" y="5074920"/>
            <a:ext cx="10545775" cy="1143000"/>
          </a:xfrm>
          <a:prstGeom prst="rect">
            <a:avLst/>
          </a:prstGeom>
          <a:noFill/>
          <a:ln/>
        </p:spPr>
        <p:txBody>
          <a:bodyPr wrap="square" lIns="0" tIns="0" rIns="0" bIns="0" rtlCol="0" anchor="ctr"/>
          <a:lstStyle/>
          <a:p>
            <a:pPr algn="l" indent="0" marL="0">
              <a:buNone/>
            </a:pPr>
            <a:r>
              <a:rPr lang="en-US" sz="1200" b="1" dirty="0">
                <a:solidFill>
                  <a:srgbClr val="FFFFFF"/>
                </a:solidFill>
              </a:rPr>
              <a:t>Pembacaan:</a:t>
            </a:r>
            <a:r>
              <a:rPr lang="en-US" sz="1200" dirty="0">
                <a:solidFill>
                  <a:srgbClr val="FFFFFF"/>
                </a:solidFill>
              </a:rPr>
              <a:t> pesanan 2 unit dirilis pada minggu 5 dan 8 unit pada minggu 6 agar tiba tepat pada minggu 7 dan 8. Tanpa perhitungan ini, suku cadang datang terlambat sehingga pesawat menganggur (</a:t>
            </a:r>
            <a:r>
              <a:rPr lang="en-US" sz="1200" i="1" dirty="0">
                <a:solidFill>
                  <a:srgbClr val="FFFFFF"/>
                </a:solidFill>
              </a:rPr>
              <a:t>aircraft-on-ground</a:t>
            </a:r>
            <a:r>
              <a:rPr lang="en-US" sz="1200" dirty="0">
                <a:solidFill>
                  <a:srgbClr val="FFFFFF"/>
                </a:solidFill>
              </a:rPr>
              <a:t>) atau datang terlalu awal sehingga menumpuk di gudang. Pada skala 392 pesawat, logika yang sama dijalankan oleh sistem perawatan untuk ribuan komponen.</a:t>
            </a:r>
            <a:endParaRPr lang="en-US" sz="1200" dirty="0"/>
          </a:p>
        </p:txBody>
      </p:sp>
      <p:sp>
        <p:nvSpPr>
          <p:cNvPr id="25" name="Slide Number Placeholder 0"/>
          <p:cNvSpPr>
            <a:spLocks noGrp="1"/>
          </p:cNvSpPr>
          <p:nvPr>
            <p:ph type="sldNum" sz="quarter" idx="4294967295"/>
          </p:nvPr>
        </p:nvSpPr>
        <p:spPr>
          <a:xfrm>
            <a:off x="11247120" y="6446520"/>
            <a:ext cx="39319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4F2D2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algn="l" indent="0" marL="0">
              <a:buNone/>
            </a:pPr>
            <a:r>
              <a:rPr lang="en-US" sz="2800" b="1" dirty="0">
                <a:solidFill>
                  <a:srgbClr val="2E1616"/>
                </a:solidFill>
              </a:rPr>
              <a:t>Perencanaan Perawatan: Januari 2024 versus April 2026</a:t>
            </a:r>
            <a:endParaRPr lang="en-US" sz="2800" dirty="0"/>
          </a:p>
        </p:txBody>
      </p:sp>
      <p:sp>
        <p:nvSpPr>
          <p:cNvPr id="4" name="title circle"/>
          <p:cNvSpPr/>
          <p:nvPr/>
        </p:nvSpPr>
        <p:spPr>
          <a:xfrm>
            <a:off x="347472" y="384048"/>
            <a:ext cx="2519172" cy="786384"/>
          </a:xfrm>
          <a:prstGeom prst="ellipse">
            <a:avLst/>
          </a:prstGeom>
          <a:solidFill>
            <a:srgbClr val="B3D9FE">
              <a:alpha val="0"/>
            </a:srgbClr>
          </a:solidFill>
          <a:ln w="28575">
            <a:solidFill>
              <a:srgbClr val="3B8BE0"/>
            </a:solidFill>
            <a:prstDash val="solid"/>
          </a:ln>
        </p:spPr>
      </p:sp>
      <p:sp>
        <p:nvSpPr>
          <p:cNvPr id="5" name="card"/>
          <p:cNvSpPr/>
          <p:nvPr/>
        </p:nvSpPr>
        <p:spPr>
          <a:xfrm>
            <a:off x="548640" y="1325880"/>
            <a:ext cx="5410048" cy="3931920"/>
          </a:xfrm>
          <a:prstGeom prst="roundRect">
            <a:avLst>
              <a:gd name="adj" fmla="val 4651"/>
            </a:avLst>
          </a:prstGeom>
          <a:solidFill>
            <a:srgbClr val="F5F2EB"/>
          </a:solidFill>
          <a:ln w="3175">
            <a:solidFill>
              <a:srgbClr val="F5F2EB"/>
            </a:solidFill>
            <a:prstDash val="solid"/>
          </a:ln>
        </p:spPr>
      </p:sp>
      <p:sp>
        <p:nvSpPr>
          <p:cNvPr id="6" name="pill"/>
          <p:cNvSpPr/>
          <p:nvPr/>
        </p:nvSpPr>
        <p:spPr>
          <a:xfrm>
            <a:off x="822960" y="1554480"/>
            <a:ext cx="1371600" cy="310896"/>
          </a:xfrm>
          <a:prstGeom prst="roundRect">
            <a:avLst>
              <a:gd name="adj" fmla="val 50000"/>
            </a:avLst>
          </a:prstGeom>
          <a:solidFill>
            <a:srgbClr val="4F2D2C"/>
          </a:solidFill>
          <a:ln w="3175">
            <a:solidFill>
              <a:srgbClr val="4F2D2C"/>
            </a:solidFill>
            <a:prstDash val="solid"/>
          </a:ln>
        </p:spPr>
      </p:sp>
      <p:sp>
        <p:nvSpPr>
          <p:cNvPr id="7" name="pill label"/>
          <p:cNvSpPr txBox="1"/>
          <p:nvPr/>
        </p:nvSpPr>
        <p:spPr>
          <a:xfrm>
            <a:off x="822960" y="1554480"/>
            <a:ext cx="1371600" cy="310896"/>
          </a:xfrm>
          <a:prstGeom prst="rect">
            <a:avLst/>
          </a:prstGeom>
          <a:noFill/>
          <a:ln/>
        </p:spPr>
        <p:txBody>
          <a:bodyPr wrap="square" lIns="0" tIns="0" rIns="0" bIns="0" rtlCol="0" anchor="ctr"/>
          <a:lstStyle/>
          <a:p>
            <a:pPr algn="ctr" indent="0" marL="0">
              <a:buNone/>
            </a:pPr>
            <a:r>
              <a:rPr lang="en-US" sz="1050" b="1" dirty="0">
                <a:solidFill>
                  <a:srgbClr val="FFFFFF"/>
                </a:solidFill>
              </a:rPr>
              <a:t>Januari 2024</a:t>
            </a:r>
            <a:endParaRPr lang="en-US" sz="1050" dirty="0"/>
          </a:p>
        </p:txBody>
      </p:sp>
      <p:sp>
        <p:nvSpPr>
          <p:cNvPr id="8" name="icon circle"/>
          <p:cNvSpPr/>
          <p:nvPr/>
        </p:nvSpPr>
        <p:spPr>
          <a:xfrm>
            <a:off x="5090008" y="1508760"/>
            <a:ext cx="594360" cy="594360"/>
          </a:xfrm>
          <a:prstGeom prst="ellipse">
            <a:avLst/>
          </a:prstGeom>
          <a:solidFill>
            <a:srgbClr val="D7EAFD"/>
          </a:solidFill>
          <a:ln w="3175">
            <a:solidFill>
              <a:srgbClr val="D7EAFD"/>
            </a:solidFill>
            <a:prstDash val="solid"/>
          </a:ln>
        </p:spPr>
      </p:sp>
      <p:pic>
        <p:nvPicPr>
          <p:cNvPr id="9" name="icon FaPlaneSlash" descr="preencoded.png">    </p:cNvPr>
          <p:cNvPicPr>
            <a:picLocks noChangeAspect="1"/>
          </p:cNvPicPr>
          <p:nvPr/>
        </p:nvPicPr>
        <p:blipFill>
          <a:blip r:embed="rId1"/>
          <a:stretch>
            <a:fillRect/>
          </a:stretch>
        </p:blipFill>
        <p:spPr>
          <a:xfrm>
            <a:off x="5238598" y="1657350"/>
            <a:ext cx="297180" cy="297180"/>
          </a:xfrm>
          <a:prstGeom prst="rect">
            <a:avLst/>
          </a:prstGeom>
        </p:spPr>
      </p:pic>
      <p:sp>
        <p:nvSpPr>
          <p:cNvPr id="10" name="text"/>
          <p:cNvSpPr txBox="1"/>
          <p:nvPr/>
        </p:nvSpPr>
        <p:spPr>
          <a:xfrm>
            <a:off x="822960" y="1965960"/>
            <a:ext cx="4129888" cy="457200"/>
          </a:xfrm>
          <a:prstGeom prst="rect">
            <a:avLst/>
          </a:prstGeom>
          <a:noFill/>
          <a:ln/>
        </p:spPr>
        <p:txBody>
          <a:bodyPr wrap="square" lIns="0" tIns="0" rIns="0" bIns="0" rtlCol="0" anchor="ctr"/>
          <a:lstStyle/>
          <a:p>
            <a:pPr algn="l" indent="0" marL="0">
              <a:buNone/>
            </a:pPr>
            <a:r>
              <a:rPr lang="en-US" sz="1700" b="1" dirty="0">
                <a:solidFill>
                  <a:srgbClr val="2E1616"/>
                </a:solidFill>
              </a:rPr>
              <a:t>Grounding 737 MAX 9</a:t>
            </a:r>
            <a:endParaRPr lang="en-US" sz="1700" dirty="0"/>
          </a:p>
        </p:txBody>
      </p:sp>
      <p:sp>
        <p:nvSpPr>
          <p:cNvPr id="11" name="text"/>
          <p:cNvSpPr txBox="1"/>
          <p:nvPr/>
        </p:nvSpPr>
        <p:spPr>
          <a:xfrm>
            <a:off x="822960" y="2514600"/>
            <a:ext cx="4861408" cy="2651760"/>
          </a:xfrm>
          <a:prstGeom prst="rect">
            <a:avLst/>
          </a:prstGeom>
          <a:noFill/>
          <a:ln/>
        </p:spPr>
        <p:txBody>
          <a:bodyPr wrap="square" lIns="0" tIns="0" rIns="0" bIns="0" rtlCol="0" anchor="t"/>
          <a:lstStyle/>
          <a:p>
            <a:pPr algn="l" indent="0" marL="0">
              <a:buNone/>
            </a:pPr>
            <a:r>
              <a:rPr lang="en-US" sz="1350" dirty="0">
                <a:solidFill>
                  <a:srgbClr val="2E1616"/>
                </a:solidFill>
              </a:rPr>
              <a:t>Setelah insiden pintu </a:t>
            </a:r>
            <a:r>
              <a:rPr lang="en-US" sz="1350" i="1" dirty="0">
                <a:solidFill>
                  <a:srgbClr val="2E1616"/>
                </a:solidFill>
              </a:rPr>
              <a:t>plug</a:t>
            </a:r>
            <a:r>
              <a:rPr lang="en-US" sz="1350" dirty="0">
                <a:solidFill>
                  <a:srgbClr val="2E1616"/>
                </a:solidFill>
              </a:rPr>
              <a:t> pada 5 Januari 2024, FAA mengandangkan 737 MAX 9. Alaska harus menginspeksi 65 pesawat sekaligus: kebutuhan kotor melonjak pada satu periode, kapasitas hangar dan teknisi dijadwalkan ulang, hingga 150 penerbangan per hari dibatalkan selama tiga minggu (sekitar 3.000 dalam sebulan), dan dampak finansial mencapai sekitar US$150 juta. Pesawat pertama kembali terbang 26 Januari 2024.</a:t>
            </a:r>
            <a:endParaRPr lang="en-US" sz="1350" dirty="0"/>
          </a:p>
        </p:txBody>
      </p:sp>
      <p:sp>
        <p:nvSpPr>
          <p:cNvPr id="12" name="card"/>
          <p:cNvSpPr/>
          <p:nvPr/>
        </p:nvSpPr>
        <p:spPr>
          <a:xfrm>
            <a:off x="6233008" y="1325880"/>
            <a:ext cx="5410048" cy="3931920"/>
          </a:xfrm>
          <a:prstGeom prst="roundRect">
            <a:avLst>
              <a:gd name="adj" fmla="val 4651"/>
            </a:avLst>
          </a:prstGeom>
          <a:solidFill>
            <a:srgbClr val="F5F2EB"/>
          </a:solidFill>
          <a:ln w="3175">
            <a:solidFill>
              <a:srgbClr val="F5F2EB"/>
            </a:solidFill>
            <a:prstDash val="solid"/>
          </a:ln>
        </p:spPr>
      </p:sp>
      <p:sp>
        <p:nvSpPr>
          <p:cNvPr id="13" name="pill"/>
          <p:cNvSpPr/>
          <p:nvPr/>
        </p:nvSpPr>
        <p:spPr>
          <a:xfrm>
            <a:off x="6507328" y="1554480"/>
            <a:ext cx="1371600" cy="310896"/>
          </a:xfrm>
          <a:prstGeom prst="roundRect">
            <a:avLst>
              <a:gd name="adj" fmla="val 50000"/>
            </a:avLst>
          </a:prstGeom>
          <a:solidFill>
            <a:srgbClr val="4F2D2C"/>
          </a:solidFill>
          <a:ln w="3175">
            <a:solidFill>
              <a:srgbClr val="4F2D2C"/>
            </a:solidFill>
            <a:prstDash val="solid"/>
          </a:ln>
        </p:spPr>
      </p:sp>
      <p:sp>
        <p:nvSpPr>
          <p:cNvPr id="14" name="pill label"/>
          <p:cNvSpPr txBox="1"/>
          <p:nvPr/>
        </p:nvSpPr>
        <p:spPr>
          <a:xfrm>
            <a:off x="6507328" y="1554480"/>
            <a:ext cx="1371600" cy="310896"/>
          </a:xfrm>
          <a:prstGeom prst="rect">
            <a:avLst/>
          </a:prstGeom>
          <a:noFill/>
          <a:ln/>
        </p:spPr>
        <p:txBody>
          <a:bodyPr wrap="square" lIns="0" tIns="0" rIns="0" bIns="0" rtlCol="0" anchor="ctr"/>
          <a:lstStyle/>
          <a:p>
            <a:pPr algn="ctr" indent="0" marL="0">
              <a:buNone/>
            </a:pPr>
            <a:r>
              <a:rPr lang="en-US" sz="1050" b="1" dirty="0">
                <a:solidFill>
                  <a:srgbClr val="FFFFFF"/>
                </a:solidFill>
              </a:rPr>
              <a:t>April 2026</a:t>
            </a:r>
            <a:endParaRPr lang="en-US" sz="1050" dirty="0"/>
          </a:p>
        </p:txBody>
      </p:sp>
      <p:sp>
        <p:nvSpPr>
          <p:cNvPr id="15" name="icon circle"/>
          <p:cNvSpPr/>
          <p:nvPr/>
        </p:nvSpPr>
        <p:spPr>
          <a:xfrm>
            <a:off x="10774375" y="1508760"/>
            <a:ext cx="594360" cy="594360"/>
          </a:xfrm>
          <a:prstGeom prst="ellipse">
            <a:avLst/>
          </a:prstGeom>
          <a:solidFill>
            <a:srgbClr val="D7EAFD"/>
          </a:solidFill>
          <a:ln w="3175">
            <a:solidFill>
              <a:srgbClr val="D7EAFD"/>
            </a:solidFill>
            <a:prstDash val="solid"/>
          </a:ln>
        </p:spPr>
      </p:sp>
      <p:pic>
        <p:nvPicPr>
          <p:cNvPr id="16" name="icon FaLightbulb" descr="preencoded.png">    </p:cNvPr>
          <p:cNvPicPr>
            <a:picLocks noChangeAspect="1"/>
          </p:cNvPicPr>
          <p:nvPr/>
        </p:nvPicPr>
        <p:blipFill>
          <a:blip r:embed="rId2"/>
          <a:stretch>
            <a:fillRect/>
          </a:stretch>
        </p:blipFill>
        <p:spPr>
          <a:xfrm>
            <a:off x="10922965" y="1657350"/>
            <a:ext cx="297180" cy="297180"/>
          </a:xfrm>
          <a:prstGeom prst="rect">
            <a:avLst/>
          </a:prstGeom>
        </p:spPr>
      </p:pic>
      <p:sp>
        <p:nvSpPr>
          <p:cNvPr id="17" name="text"/>
          <p:cNvSpPr txBox="1"/>
          <p:nvPr/>
        </p:nvSpPr>
        <p:spPr>
          <a:xfrm>
            <a:off x="6507328" y="1965960"/>
            <a:ext cx="4129888" cy="457200"/>
          </a:xfrm>
          <a:prstGeom prst="rect">
            <a:avLst/>
          </a:prstGeom>
          <a:noFill/>
          <a:ln/>
        </p:spPr>
        <p:txBody>
          <a:bodyPr wrap="square" lIns="0" tIns="0" rIns="0" bIns="0" rtlCol="0" anchor="ctr"/>
          <a:lstStyle/>
          <a:p>
            <a:pPr algn="l" indent="0" marL="0">
              <a:buNone/>
            </a:pPr>
            <a:r>
              <a:rPr lang="en-US" sz="1700" b="1" dirty="0">
                <a:solidFill>
                  <a:srgbClr val="2E1616"/>
                </a:solidFill>
              </a:rPr>
              <a:t>Kemitraan dengan Tailsight</a:t>
            </a:r>
            <a:endParaRPr lang="en-US" sz="1700" dirty="0"/>
          </a:p>
        </p:txBody>
      </p:sp>
      <p:sp>
        <p:nvSpPr>
          <p:cNvPr id="18" name="text"/>
          <p:cNvSpPr txBox="1"/>
          <p:nvPr/>
        </p:nvSpPr>
        <p:spPr>
          <a:xfrm>
            <a:off x="6507328" y="2514600"/>
            <a:ext cx="4861408" cy="2651760"/>
          </a:xfrm>
          <a:prstGeom prst="rect">
            <a:avLst/>
          </a:prstGeom>
          <a:noFill/>
          <a:ln/>
        </p:spPr>
        <p:txBody>
          <a:bodyPr wrap="square" lIns="0" tIns="0" rIns="0" bIns="0" rtlCol="0" anchor="t"/>
          <a:lstStyle/>
          <a:p>
            <a:pPr algn="l" indent="0" marL="0">
              <a:buNone/>
            </a:pPr>
            <a:r>
              <a:rPr lang="en-US" sz="1350" dirty="0">
                <a:solidFill>
                  <a:srgbClr val="2E1616"/>
                </a:solidFill>
              </a:rPr>
              <a:t>Alaska mengumumkan investasi dan kemitraan multitahun dengan Tailsight, platform optimasi perencanaan perawatan. Platform ini menggabungkan data sistem perawatan, jadwal penerbangan, staf, </a:t>
            </a:r>
            <a:r>
              <a:rPr lang="en-US" sz="1350" i="1" dirty="0">
                <a:solidFill>
                  <a:srgbClr val="2E1616"/>
                </a:solidFill>
              </a:rPr>
              <a:t>station capability rules</a:t>
            </a:r>
            <a:r>
              <a:rPr lang="en-US" sz="1350" dirty="0">
                <a:solidFill>
                  <a:srgbClr val="2E1616"/>
                </a:solidFill>
              </a:rPr>
              <a:t>, dan ketersediaan suku cadang menjadi rencana yang memperhitungkan tenaga kerja, suku cadang, dan kesiapan pesawat. Tujuannya: utilisasi tenaga kerja dan suku cadang naik, waktu </a:t>
            </a:r>
            <a:r>
              <a:rPr lang="en-US" sz="1350" i="1" dirty="0">
                <a:solidFill>
                  <a:srgbClr val="2E1616"/>
                </a:solidFill>
              </a:rPr>
              <a:t>aircraft-on-ground</a:t>
            </a:r>
            <a:r>
              <a:rPr lang="en-US" sz="1350" dirty="0">
                <a:solidFill>
                  <a:srgbClr val="2E1616"/>
                </a:solidFill>
              </a:rPr>
              <a:t> turun. Tim perawatan Alaska ikut merumuskan spesifikasinya selama dua tahun.</a:t>
            </a:r>
            <a:endParaRPr lang="en-US" sz="1350" dirty="0"/>
          </a:p>
        </p:txBody>
      </p:sp>
      <p:sp>
        <p:nvSpPr>
          <p:cNvPr id="19" name="card"/>
          <p:cNvSpPr/>
          <p:nvPr/>
        </p:nvSpPr>
        <p:spPr>
          <a:xfrm>
            <a:off x="548640" y="5440680"/>
            <a:ext cx="11094415" cy="777240"/>
          </a:xfrm>
          <a:prstGeom prst="roundRect">
            <a:avLst>
              <a:gd name="adj" fmla="val 23529"/>
            </a:avLst>
          </a:prstGeom>
          <a:solidFill>
            <a:srgbClr val="4F2D2C"/>
          </a:solidFill>
          <a:ln w="3175">
            <a:solidFill>
              <a:srgbClr val="4F2D2C"/>
            </a:solidFill>
            <a:prstDash val="solid"/>
          </a:ln>
        </p:spPr>
      </p:sp>
      <p:sp>
        <p:nvSpPr>
          <p:cNvPr id="20" name="text"/>
          <p:cNvSpPr txBox="1"/>
          <p:nvPr/>
        </p:nvSpPr>
        <p:spPr>
          <a:xfrm>
            <a:off x="822960" y="5440680"/>
            <a:ext cx="10545775" cy="777240"/>
          </a:xfrm>
          <a:prstGeom prst="rect">
            <a:avLst/>
          </a:prstGeom>
          <a:noFill/>
          <a:ln/>
        </p:spPr>
        <p:txBody>
          <a:bodyPr wrap="square" lIns="0" tIns="0" rIns="0" bIns="0" rtlCol="0" anchor="ctr"/>
          <a:lstStyle/>
          <a:p>
            <a:pPr algn="l" indent="0" marL="0">
              <a:buNone/>
            </a:pPr>
            <a:r>
              <a:rPr lang="en-US" sz="1250" b="1" dirty="0">
                <a:solidFill>
                  <a:srgbClr val="FFFFFF"/>
                </a:solidFill>
              </a:rPr>
              <a:t>Pergeseran yang terjadi:</a:t>
            </a:r>
            <a:r>
              <a:rPr lang="en-US" sz="1250" dirty="0">
                <a:solidFill>
                  <a:srgbClr val="FFFFFF"/>
                </a:solidFill>
              </a:rPr>
              <a:t> dari perencanaan kebutuhan yang mengabaikan kapasitas (</a:t>
            </a:r>
            <a:r>
              <a:rPr lang="en-US" sz="1250" i="1" dirty="0">
                <a:solidFill>
                  <a:srgbClr val="FFFFFF"/>
                </a:solidFill>
              </a:rPr>
              <a:t>infinite loading</a:t>
            </a:r>
            <a:r>
              <a:rPr lang="en-US" sz="1250" dirty="0">
                <a:solidFill>
                  <a:srgbClr val="FFFFFF"/>
                </a:solidFill>
              </a:rPr>
              <a:t>) menuju perencanaan tertutup yang memasukkan slot hangar, teknisi, dan suku cadang sebagai kendala (</a:t>
            </a:r>
            <a:r>
              <a:rPr lang="en-US" sz="1250" i="1" dirty="0">
                <a:solidFill>
                  <a:srgbClr val="FFFFFF"/>
                </a:solidFill>
              </a:rPr>
              <a:t>closed-loop</a:t>
            </a:r>
            <a:r>
              <a:rPr lang="en-US" sz="1250" dirty="0">
                <a:solidFill>
                  <a:srgbClr val="FFFFFF"/>
                </a:solidFill>
              </a:rPr>
              <a:t>, kapasitas berhingga).</a:t>
            </a:r>
            <a:endParaRPr lang="en-US" sz="1250" dirty="0"/>
          </a:p>
        </p:txBody>
      </p:sp>
      <p:sp>
        <p:nvSpPr>
          <p:cNvPr id="25" name="Slide Number Placeholder 0"/>
          <p:cNvSpPr>
            <a:spLocks noGrp="1"/>
          </p:cNvSpPr>
          <p:nvPr>
            <p:ph type="sldNum" sz="quarter" idx="4294967295"/>
          </p:nvPr>
        </p:nvSpPr>
        <p:spPr>
          <a:xfrm>
            <a:off x="11247120" y="6446520"/>
            <a:ext cx="39319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4F2D2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algn="l" indent="0" marL="0">
              <a:buNone/>
            </a:pPr>
            <a:r>
              <a:rPr lang="en-US" sz="2800" b="1" dirty="0">
                <a:solidFill>
                  <a:srgbClr val="2E1616"/>
                </a:solidFill>
              </a:rPr>
              <a:t>Integrasi Sistem ala ERP: Satu Basis Data Operasi</a:t>
            </a:r>
            <a:endParaRPr lang="en-US" sz="2800" dirty="0"/>
          </a:p>
        </p:txBody>
      </p:sp>
      <p:sp>
        <p:nvSpPr>
          <p:cNvPr id="4" name="title circle"/>
          <p:cNvSpPr/>
          <p:nvPr/>
        </p:nvSpPr>
        <p:spPr>
          <a:xfrm>
            <a:off x="347472" y="384048"/>
            <a:ext cx="2144268" cy="786384"/>
          </a:xfrm>
          <a:prstGeom prst="ellipse">
            <a:avLst/>
          </a:prstGeom>
          <a:solidFill>
            <a:srgbClr val="B3D9FE">
              <a:alpha val="0"/>
            </a:srgbClr>
          </a:solidFill>
          <a:ln w="28575">
            <a:solidFill>
              <a:srgbClr val="3B8BE0"/>
            </a:solidFill>
            <a:prstDash val="solid"/>
          </a:ln>
        </p:spPr>
      </p:sp>
      <p:sp>
        <p:nvSpPr>
          <p:cNvPr id="5" name="card"/>
          <p:cNvSpPr/>
          <p:nvPr/>
        </p:nvSpPr>
        <p:spPr>
          <a:xfrm>
            <a:off x="548640" y="1325880"/>
            <a:ext cx="5120640" cy="4892040"/>
          </a:xfrm>
          <a:prstGeom prst="roundRect">
            <a:avLst>
              <a:gd name="adj" fmla="val 3738"/>
            </a:avLst>
          </a:prstGeom>
          <a:solidFill>
            <a:srgbClr val="F5F2EB"/>
          </a:solidFill>
          <a:ln w="3175">
            <a:solidFill>
              <a:srgbClr val="F5F2EB"/>
            </a:solidFill>
            <a:prstDash val="solid"/>
          </a:ln>
        </p:spPr>
      </p:sp>
      <p:sp>
        <p:nvSpPr>
          <p:cNvPr id="6" name="line"/>
          <p:cNvSpPr/>
          <p:nvPr/>
        </p:nvSpPr>
        <p:spPr>
          <a:xfrm flipH="1">
            <a:off x="3108960" y="2514600"/>
            <a:ext cx="0" cy="1325880"/>
          </a:xfrm>
          <a:prstGeom prst="line">
            <a:avLst/>
          </a:prstGeom>
          <a:noFill/>
          <a:ln w="19050">
            <a:solidFill>
              <a:srgbClr val="8FC3F5"/>
            </a:solidFill>
            <a:prstDash val="solid"/>
          </a:ln>
        </p:spPr>
      </p:sp>
      <p:sp>
        <p:nvSpPr>
          <p:cNvPr id="7" name="line"/>
          <p:cNvSpPr/>
          <p:nvPr/>
        </p:nvSpPr>
        <p:spPr>
          <a:xfrm flipH="1">
            <a:off x="3108960" y="3430761"/>
            <a:ext cx="1608845" cy="409719"/>
          </a:xfrm>
          <a:prstGeom prst="line">
            <a:avLst/>
          </a:prstGeom>
          <a:noFill/>
          <a:ln w="19050">
            <a:solidFill>
              <a:srgbClr val="8FC3F5"/>
            </a:solidFill>
            <a:prstDash val="solid"/>
          </a:ln>
        </p:spPr>
      </p:sp>
      <p:sp>
        <p:nvSpPr>
          <p:cNvPr id="8" name="line"/>
          <p:cNvSpPr/>
          <p:nvPr/>
        </p:nvSpPr>
        <p:spPr>
          <a:xfrm>
            <a:off x="3108960" y="3840480"/>
            <a:ext cx="994321" cy="1072659"/>
          </a:xfrm>
          <a:prstGeom prst="line">
            <a:avLst/>
          </a:prstGeom>
          <a:noFill/>
          <a:ln w="19050">
            <a:solidFill>
              <a:srgbClr val="8FC3F5"/>
            </a:solidFill>
            <a:prstDash val="solid"/>
          </a:ln>
        </p:spPr>
      </p:sp>
      <p:sp>
        <p:nvSpPr>
          <p:cNvPr id="9" name="line"/>
          <p:cNvSpPr/>
          <p:nvPr/>
        </p:nvSpPr>
        <p:spPr>
          <a:xfrm flipH="1">
            <a:off x="2114639" y="3840480"/>
            <a:ext cx="994321" cy="1072659"/>
          </a:xfrm>
          <a:prstGeom prst="line">
            <a:avLst/>
          </a:prstGeom>
          <a:noFill/>
          <a:ln w="19050">
            <a:solidFill>
              <a:srgbClr val="8FC3F5"/>
            </a:solidFill>
            <a:prstDash val="solid"/>
          </a:ln>
        </p:spPr>
      </p:sp>
      <p:sp>
        <p:nvSpPr>
          <p:cNvPr id="10" name="line"/>
          <p:cNvSpPr/>
          <p:nvPr/>
        </p:nvSpPr>
        <p:spPr>
          <a:xfrm>
            <a:off x="1500115" y="3430761"/>
            <a:ext cx="1608845" cy="409719"/>
          </a:xfrm>
          <a:prstGeom prst="line">
            <a:avLst/>
          </a:prstGeom>
          <a:noFill/>
          <a:ln w="19050">
            <a:solidFill>
              <a:srgbClr val="8FC3F5"/>
            </a:solidFill>
            <a:prstDash val="solid"/>
          </a:ln>
        </p:spPr>
      </p:sp>
      <p:sp>
        <p:nvSpPr>
          <p:cNvPr id="11" name="icon circle"/>
          <p:cNvSpPr/>
          <p:nvPr/>
        </p:nvSpPr>
        <p:spPr>
          <a:xfrm>
            <a:off x="2816352" y="2221992"/>
            <a:ext cx="585216" cy="585216"/>
          </a:xfrm>
          <a:prstGeom prst="ellipse">
            <a:avLst/>
          </a:prstGeom>
          <a:solidFill>
            <a:srgbClr val="D7EAFD"/>
          </a:solidFill>
          <a:ln w="3175">
            <a:solidFill>
              <a:srgbClr val="D7EAFD"/>
            </a:solidFill>
            <a:prstDash val="solid"/>
          </a:ln>
        </p:spPr>
      </p:sp>
      <p:pic>
        <p:nvPicPr>
          <p:cNvPr id="12" name="icon FaTicketAlt" descr="preencoded.png">    </p:cNvPr>
          <p:cNvPicPr>
            <a:picLocks noChangeAspect="1"/>
          </p:cNvPicPr>
          <p:nvPr/>
        </p:nvPicPr>
        <p:blipFill>
          <a:blip r:embed="rId1"/>
          <a:stretch>
            <a:fillRect/>
          </a:stretch>
        </p:blipFill>
        <p:spPr>
          <a:xfrm>
            <a:off x="2962656" y="2368296"/>
            <a:ext cx="292608" cy="292608"/>
          </a:xfrm>
          <a:prstGeom prst="rect">
            <a:avLst/>
          </a:prstGeom>
        </p:spPr>
      </p:pic>
      <p:sp>
        <p:nvSpPr>
          <p:cNvPr id="13" name="text"/>
          <p:cNvSpPr txBox="1"/>
          <p:nvPr/>
        </p:nvSpPr>
        <p:spPr>
          <a:xfrm>
            <a:off x="2331720" y="2843784"/>
            <a:ext cx="1554480" cy="310896"/>
          </a:xfrm>
          <a:prstGeom prst="rect">
            <a:avLst/>
          </a:prstGeom>
          <a:noFill/>
          <a:ln/>
        </p:spPr>
        <p:txBody>
          <a:bodyPr wrap="square" lIns="0" tIns="0" rIns="0" bIns="0" rtlCol="0" anchor="t"/>
          <a:lstStyle/>
          <a:p>
            <a:pPr algn="ctr" indent="0" marL="0">
              <a:buNone/>
            </a:pPr>
            <a:r>
              <a:rPr lang="en-US" sz="1050" b="1" dirty="0">
                <a:solidFill>
                  <a:srgbClr val="2E1616"/>
                </a:solidFill>
              </a:rPr>
              <a:t>Reservasi &amp; check-in</a:t>
            </a:r>
            <a:endParaRPr lang="en-US" sz="1050" dirty="0"/>
          </a:p>
        </p:txBody>
      </p:sp>
      <p:sp>
        <p:nvSpPr>
          <p:cNvPr id="14" name="icon circle"/>
          <p:cNvSpPr/>
          <p:nvPr/>
        </p:nvSpPr>
        <p:spPr>
          <a:xfrm>
            <a:off x="4425197" y="3138153"/>
            <a:ext cx="585216" cy="585216"/>
          </a:xfrm>
          <a:prstGeom prst="ellipse">
            <a:avLst/>
          </a:prstGeom>
          <a:solidFill>
            <a:srgbClr val="D7EAFD"/>
          </a:solidFill>
          <a:ln w="3175">
            <a:solidFill>
              <a:srgbClr val="D7EAFD"/>
            </a:solidFill>
            <a:prstDash val="solid"/>
          </a:ln>
        </p:spPr>
      </p:sp>
      <p:pic>
        <p:nvPicPr>
          <p:cNvPr id="15" name="icon FaUserClock" descr="preencoded.png">    </p:cNvPr>
          <p:cNvPicPr>
            <a:picLocks noChangeAspect="1"/>
          </p:cNvPicPr>
          <p:nvPr/>
        </p:nvPicPr>
        <p:blipFill>
          <a:blip r:embed="rId2"/>
          <a:stretch>
            <a:fillRect/>
          </a:stretch>
        </p:blipFill>
        <p:spPr>
          <a:xfrm>
            <a:off x="4571501" y="3284457"/>
            <a:ext cx="292608" cy="292608"/>
          </a:xfrm>
          <a:prstGeom prst="rect">
            <a:avLst/>
          </a:prstGeom>
        </p:spPr>
      </p:pic>
      <p:sp>
        <p:nvSpPr>
          <p:cNvPr id="16" name="text"/>
          <p:cNvSpPr txBox="1"/>
          <p:nvPr/>
        </p:nvSpPr>
        <p:spPr>
          <a:xfrm>
            <a:off x="3940565" y="3759945"/>
            <a:ext cx="1554480" cy="310896"/>
          </a:xfrm>
          <a:prstGeom prst="rect">
            <a:avLst/>
          </a:prstGeom>
          <a:noFill/>
          <a:ln/>
        </p:spPr>
        <p:txBody>
          <a:bodyPr wrap="square" lIns="0" tIns="0" rIns="0" bIns="0" rtlCol="0" anchor="t"/>
          <a:lstStyle/>
          <a:p>
            <a:pPr algn="ctr" indent="0" marL="0">
              <a:buNone/>
            </a:pPr>
            <a:r>
              <a:rPr lang="en-US" sz="1050" b="1" dirty="0">
                <a:solidFill>
                  <a:srgbClr val="2E1616"/>
                </a:solidFill>
              </a:rPr>
              <a:t>Penjadwalan kru</a:t>
            </a:r>
            <a:endParaRPr lang="en-US" sz="1050" dirty="0"/>
          </a:p>
        </p:txBody>
      </p:sp>
      <p:sp>
        <p:nvSpPr>
          <p:cNvPr id="17" name="icon circle"/>
          <p:cNvSpPr/>
          <p:nvPr/>
        </p:nvSpPr>
        <p:spPr>
          <a:xfrm>
            <a:off x="3810673" y="4620531"/>
            <a:ext cx="585216" cy="585216"/>
          </a:xfrm>
          <a:prstGeom prst="ellipse">
            <a:avLst/>
          </a:prstGeom>
          <a:solidFill>
            <a:srgbClr val="D7EAFD"/>
          </a:solidFill>
          <a:ln w="3175">
            <a:solidFill>
              <a:srgbClr val="D7EAFD"/>
            </a:solidFill>
            <a:prstDash val="solid"/>
          </a:ln>
        </p:spPr>
      </p:sp>
      <p:pic>
        <p:nvPicPr>
          <p:cNvPr id="18" name="icon FaCloudSun" descr="preencoded.png">    </p:cNvPr>
          <p:cNvPicPr>
            <a:picLocks noChangeAspect="1"/>
          </p:cNvPicPr>
          <p:nvPr/>
        </p:nvPicPr>
        <p:blipFill>
          <a:blip r:embed="rId3"/>
          <a:stretch>
            <a:fillRect/>
          </a:stretch>
        </p:blipFill>
        <p:spPr>
          <a:xfrm>
            <a:off x="3956977" y="4766835"/>
            <a:ext cx="292608" cy="292608"/>
          </a:xfrm>
          <a:prstGeom prst="rect">
            <a:avLst/>
          </a:prstGeom>
        </p:spPr>
      </p:pic>
      <p:sp>
        <p:nvSpPr>
          <p:cNvPr id="19" name="text"/>
          <p:cNvSpPr txBox="1"/>
          <p:nvPr/>
        </p:nvSpPr>
        <p:spPr>
          <a:xfrm>
            <a:off x="3326041" y="5242323"/>
            <a:ext cx="1554480" cy="310896"/>
          </a:xfrm>
          <a:prstGeom prst="rect">
            <a:avLst/>
          </a:prstGeom>
          <a:noFill/>
          <a:ln/>
        </p:spPr>
        <p:txBody>
          <a:bodyPr wrap="square" lIns="0" tIns="0" rIns="0" bIns="0" rtlCol="0" anchor="t"/>
          <a:lstStyle/>
          <a:p>
            <a:pPr algn="ctr" indent="0" marL="0">
              <a:buNone/>
            </a:pPr>
            <a:r>
              <a:rPr lang="en-US" sz="1050" b="1" dirty="0">
                <a:solidFill>
                  <a:srgbClr val="2E1616"/>
                </a:solidFill>
              </a:rPr>
              <a:t>Flight dispatch &amp; cuaca</a:t>
            </a:r>
            <a:endParaRPr lang="en-US" sz="1050" dirty="0"/>
          </a:p>
        </p:txBody>
      </p:sp>
      <p:sp>
        <p:nvSpPr>
          <p:cNvPr id="20" name="icon circle"/>
          <p:cNvSpPr/>
          <p:nvPr/>
        </p:nvSpPr>
        <p:spPr>
          <a:xfrm>
            <a:off x="1822031" y="4620531"/>
            <a:ext cx="585216" cy="585216"/>
          </a:xfrm>
          <a:prstGeom prst="ellipse">
            <a:avLst/>
          </a:prstGeom>
          <a:solidFill>
            <a:srgbClr val="D7EAFD"/>
          </a:solidFill>
          <a:ln w="3175">
            <a:solidFill>
              <a:srgbClr val="D7EAFD"/>
            </a:solidFill>
            <a:prstDash val="solid"/>
          </a:ln>
        </p:spPr>
      </p:sp>
      <p:pic>
        <p:nvPicPr>
          <p:cNvPr id="21" name="icon FaTools" descr="preencoded.png">    </p:cNvPr>
          <p:cNvPicPr>
            <a:picLocks noChangeAspect="1"/>
          </p:cNvPicPr>
          <p:nvPr/>
        </p:nvPicPr>
        <p:blipFill>
          <a:blip r:embed="rId4"/>
          <a:stretch>
            <a:fillRect/>
          </a:stretch>
        </p:blipFill>
        <p:spPr>
          <a:xfrm>
            <a:off x="1968335" y="4766835"/>
            <a:ext cx="292608" cy="292608"/>
          </a:xfrm>
          <a:prstGeom prst="rect">
            <a:avLst/>
          </a:prstGeom>
        </p:spPr>
      </p:pic>
      <p:sp>
        <p:nvSpPr>
          <p:cNvPr id="22" name="text"/>
          <p:cNvSpPr txBox="1"/>
          <p:nvPr/>
        </p:nvSpPr>
        <p:spPr>
          <a:xfrm>
            <a:off x="1337399" y="5242323"/>
            <a:ext cx="1554480" cy="310896"/>
          </a:xfrm>
          <a:prstGeom prst="rect">
            <a:avLst/>
          </a:prstGeom>
          <a:noFill/>
          <a:ln/>
        </p:spPr>
        <p:txBody>
          <a:bodyPr wrap="square" lIns="0" tIns="0" rIns="0" bIns="0" rtlCol="0" anchor="t"/>
          <a:lstStyle/>
          <a:p>
            <a:pPr algn="ctr" indent="0" marL="0">
              <a:buNone/>
            </a:pPr>
            <a:r>
              <a:rPr lang="en-US" sz="1050" b="1" dirty="0">
                <a:solidFill>
                  <a:srgbClr val="2E1616"/>
                </a:solidFill>
              </a:rPr>
              <a:t>Perawatan &amp; suku cadang</a:t>
            </a:r>
            <a:endParaRPr lang="en-US" sz="1050" dirty="0"/>
          </a:p>
        </p:txBody>
      </p:sp>
      <p:sp>
        <p:nvSpPr>
          <p:cNvPr id="23" name="icon circle"/>
          <p:cNvSpPr/>
          <p:nvPr/>
        </p:nvSpPr>
        <p:spPr>
          <a:xfrm>
            <a:off x="1207507" y="3138153"/>
            <a:ext cx="585216" cy="585216"/>
          </a:xfrm>
          <a:prstGeom prst="ellipse">
            <a:avLst/>
          </a:prstGeom>
          <a:solidFill>
            <a:srgbClr val="D7EAFD"/>
          </a:solidFill>
          <a:ln w="3175">
            <a:solidFill>
              <a:srgbClr val="D7EAFD"/>
            </a:solidFill>
            <a:prstDash val="solid"/>
          </a:ln>
        </p:spPr>
      </p:sp>
      <p:pic>
        <p:nvPicPr>
          <p:cNvPr id="24" name="icon FaMoneyCheckAlt" descr="preencoded.png">    </p:cNvPr>
          <p:cNvPicPr>
            <a:picLocks noChangeAspect="1"/>
          </p:cNvPicPr>
          <p:nvPr/>
        </p:nvPicPr>
        <p:blipFill>
          <a:blip r:embed="rId5"/>
          <a:stretch>
            <a:fillRect/>
          </a:stretch>
        </p:blipFill>
        <p:spPr>
          <a:xfrm>
            <a:off x="1353811" y="3284457"/>
            <a:ext cx="292608" cy="292608"/>
          </a:xfrm>
          <a:prstGeom prst="rect">
            <a:avLst/>
          </a:prstGeom>
        </p:spPr>
      </p:pic>
      <p:sp>
        <p:nvSpPr>
          <p:cNvPr id="25" name="text"/>
          <p:cNvSpPr txBox="1"/>
          <p:nvPr/>
        </p:nvSpPr>
        <p:spPr>
          <a:xfrm>
            <a:off x="722875" y="3759945"/>
            <a:ext cx="1554480" cy="310896"/>
          </a:xfrm>
          <a:prstGeom prst="rect">
            <a:avLst/>
          </a:prstGeom>
          <a:noFill/>
          <a:ln/>
        </p:spPr>
        <p:txBody>
          <a:bodyPr wrap="square" lIns="0" tIns="0" rIns="0" bIns="0" rtlCol="0" anchor="t"/>
          <a:lstStyle/>
          <a:p>
            <a:pPr algn="ctr" indent="0" marL="0">
              <a:buNone/>
            </a:pPr>
            <a:r>
              <a:rPr lang="en-US" sz="1050" b="1" dirty="0">
                <a:solidFill>
                  <a:srgbClr val="2E1616"/>
                </a:solidFill>
              </a:rPr>
              <a:t>Keuangan &amp; SDM</a:t>
            </a:r>
            <a:endParaRPr lang="en-US" sz="1050" dirty="0"/>
          </a:p>
        </p:txBody>
      </p:sp>
      <p:sp>
        <p:nvSpPr>
          <p:cNvPr id="26" name="hub"/>
          <p:cNvSpPr/>
          <p:nvPr/>
        </p:nvSpPr>
        <p:spPr>
          <a:xfrm>
            <a:off x="2148840" y="3291840"/>
            <a:ext cx="1920240" cy="1097280"/>
          </a:xfrm>
          <a:prstGeom prst="ellipse">
            <a:avLst/>
          </a:prstGeom>
          <a:solidFill>
            <a:srgbClr val="4F2D2C"/>
          </a:solidFill>
          <a:ln w="3175">
            <a:solidFill>
              <a:srgbClr val="4F2D2C"/>
            </a:solidFill>
            <a:prstDash val="solid"/>
          </a:ln>
        </p:spPr>
      </p:sp>
      <p:pic>
        <p:nvPicPr>
          <p:cNvPr id="27" name="icon FaDatabase" descr="preencoded.png">    </p:cNvPr>
          <p:cNvPicPr>
            <a:picLocks noChangeAspect="1"/>
          </p:cNvPicPr>
          <p:nvPr/>
        </p:nvPicPr>
        <p:blipFill>
          <a:blip r:embed="rId6"/>
          <a:stretch>
            <a:fillRect/>
          </a:stretch>
        </p:blipFill>
        <p:spPr>
          <a:xfrm>
            <a:off x="2953512" y="3401568"/>
            <a:ext cx="310896" cy="310896"/>
          </a:xfrm>
          <a:prstGeom prst="rect">
            <a:avLst/>
          </a:prstGeom>
        </p:spPr>
      </p:pic>
      <p:sp>
        <p:nvSpPr>
          <p:cNvPr id="28" name="text"/>
          <p:cNvSpPr txBox="1"/>
          <p:nvPr/>
        </p:nvSpPr>
        <p:spPr>
          <a:xfrm>
            <a:off x="2240280" y="3749040"/>
            <a:ext cx="1737360" cy="548640"/>
          </a:xfrm>
          <a:prstGeom prst="rect">
            <a:avLst/>
          </a:prstGeom>
          <a:noFill/>
          <a:ln/>
        </p:spPr>
        <p:txBody>
          <a:bodyPr wrap="square" lIns="0" tIns="0" rIns="0" bIns="0" rtlCol="0" anchor="ctr"/>
          <a:lstStyle/>
          <a:p>
            <a:pPr algn="ctr" indent="0" marL="0">
              <a:buNone/>
            </a:pPr>
            <a:r>
              <a:rPr lang="en-US" sz="1000" b="1" dirty="0">
                <a:solidFill>
                  <a:srgbClr val="FFFFFF"/>
                </a:solidFill>
              </a:rPr>
              <a:t>Basis data operasi bersama</a:t>
            </a:r>
            <a:endParaRPr lang="en-US" sz="1000" dirty="0"/>
          </a:p>
        </p:txBody>
      </p:sp>
      <p:sp>
        <p:nvSpPr>
          <p:cNvPr id="29" name="text"/>
          <p:cNvSpPr txBox="1"/>
          <p:nvPr/>
        </p:nvSpPr>
        <p:spPr>
          <a:xfrm>
            <a:off x="822960" y="5760720"/>
            <a:ext cx="4572000" cy="411480"/>
          </a:xfrm>
          <a:prstGeom prst="rect">
            <a:avLst/>
          </a:prstGeom>
          <a:noFill/>
          <a:ln/>
        </p:spPr>
        <p:txBody>
          <a:bodyPr wrap="square" lIns="0" tIns="0" rIns="0" bIns="0" rtlCol="0" anchor="t"/>
          <a:lstStyle/>
          <a:p>
            <a:pPr algn="l" indent="0" marL="0">
              <a:buNone/>
            </a:pPr>
            <a:r>
              <a:rPr lang="en-US" sz="950" i="1" dirty="0">
                <a:solidFill>
                  <a:srgbClr val="6E5A5A"/>
                </a:solidFill>
              </a:rPr>
              <a:t>Infrastruktur hibrida: pusat data sendiri untuk beban kritis ditambah layanan cloud (GeekWire, 2025).</a:t>
            </a:r>
            <a:endParaRPr lang="en-US" sz="950" dirty="0"/>
          </a:p>
        </p:txBody>
      </p:sp>
      <p:sp>
        <p:nvSpPr>
          <p:cNvPr id="30" name="card"/>
          <p:cNvSpPr/>
          <p:nvPr/>
        </p:nvSpPr>
        <p:spPr>
          <a:xfrm>
            <a:off x="5897880" y="1325880"/>
            <a:ext cx="5745175" cy="4892040"/>
          </a:xfrm>
          <a:prstGeom prst="roundRect">
            <a:avLst>
              <a:gd name="adj" fmla="val 3738"/>
            </a:avLst>
          </a:prstGeom>
          <a:solidFill>
            <a:srgbClr val="F5F2EB"/>
          </a:solidFill>
          <a:ln w="3175">
            <a:solidFill>
              <a:srgbClr val="F5F2EB"/>
            </a:solidFill>
            <a:prstDash val="solid"/>
          </a:ln>
        </p:spPr>
      </p:sp>
      <p:sp>
        <p:nvSpPr>
          <p:cNvPr id="31" name="icon circle"/>
          <p:cNvSpPr/>
          <p:nvPr/>
        </p:nvSpPr>
        <p:spPr>
          <a:xfrm>
            <a:off x="6172200" y="1554480"/>
            <a:ext cx="548640" cy="548640"/>
          </a:xfrm>
          <a:prstGeom prst="ellipse">
            <a:avLst/>
          </a:prstGeom>
          <a:solidFill>
            <a:srgbClr val="D7EAFD"/>
          </a:solidFill>
          <a:ln w="3175">
            <a:solidFill>
              <a:srgbClr val="D7EAFD"/>
            </a:solidFill>
            <a:prstDash val="solid"/>
          </a:ln>
        </p:spPr>
      </p:sp>
      <p:pic>
        <p:nvPicPr>
          <p:cNvPr id="32" name="icon FaCheckCircle" descr="preencoded.png">    </p:cNvPr>
          <p:cNvPicPr>
            <a:picLocks noChangeAspect="1"/>
          </p:cNvPicPr>
          <p:nvPr/>
        </p:nvPicPr>
        <p:blipFill>
          <a:blip r:embed="rId7"/>
          <a:stretch>
            <a:fillRect/>
          </a:stretch>
        </p:blipFill>
        <p:spPr>
          <a:xfrm>
            <a:off x="6309360" y="1691640"/>
            <a:ext cx="274320" cy="274320"/>
          </a:xfrm>
          <a:prstGeom prst="rect">
            <a:avLst/>
          </a:prstGeom>
        </p:spPr>
      </p:pic>
      <p:sp>
        <p:nvSpPr>
          <p:cNvPr id="33" name="text"/>
          <p:cNvSpPr txBox="1"/>
          <p:nvPr/>
        </p:nvSpPr>
        <p:spPr>
          <a:xfrm>
            <a:off x="6858000" y="1554480"/>
            <a:ext cx="4556455" cy="548640"/>
          </a:xfrm>
          <a:prstGeom prst="rect">
            <a:avLst/>
          </a:prstGeom>
          <a:noFill/>
          <a:ln/>
        </p:spPr>
        <p:txBody>
          <a:bodyPr wrap="square" lIns="0" tIns="0" rIns="0" bIns="0" rtlCol="0" anchor="ctr"/>
          <a:lstStyle/>
          <a:p>
            <a:pPr algn="l" indent="0" marL="0">
              <a:buNone/>
            </a:pPr>
            <a:r>
              <a:rPr lang="en-US" sz="1700" b="1" dirty="0">
                <a:solidFill>
                  <a:srgbClr val="2E1616"/>
                </a:solidFill>
              </a:rPr>
              <a:t>Nilai integrasi yang terbukti</a:t>
            </a:r>
            <a:endParaRPr lang="en-US" sz="1700" dirty="0"/>
          </a:p>
        </p:txBody>
      </p:sp>
      <p:sp>
        <p:nvSpPr>
          <p:cNvPr id="34" name="bullets"/>
          <p:cNvSpPr txBox="1"/>
          <p:nvPr/>
        </p:nvSpPr>
        <p:spPr>
          <a:xfrm>
            <a:off x="6172200" y="2286000"/>
            <a:ext cx="5196535" cy="3840480"/>
          </a:xfrm>
          <a:prstGeom prst="rect">
            <a:avLst/>
          </a:prstGeom>
          <a:noFill/>
          <a:ln/>
        </p:spPr>
        <p:txBody>
          <a:bodyPr wrap="square" lIns="0" tIns="0" rIns="0" bIns="0" rtlCol="0" anchor="t"/>
          <a:lstStyle/>
          <a:p>
            <a:pPr marL="342900" indent="-342900">
              <a:spcAft>
                <a:spcPts val="800"/>
              </a:spcAft>
              <a:buSzPct val="100000"/>
              <a:buChar char="•"/>
            </a:pPr>
            <a:r>
              <a:rPr lang="en-US" sz="1200" b="1" dirty="0">
                <a:solidFill>
                  <a:srgbClr val="2E1616"/>
                </a:solidFill>
              </a:rPr>
              <a:t>Penjadwalan ulang lintas fungsi dalam hitungan jam.</a:t>
            </a:r>
            <a:r>
              <a:rPr lang="en-US" sz="1200" dirty="0">
                <a:solidFill>
                  <a:srgbClr val="2E1616"/>
                </a:solidFill>
              </a:rPr>
              <a:t> Saat cuaca memburuk, data pesawat, kru, dan penumpang yang sama dipakai untuk menyusun jadwal alternatif dan memberi tahu penumpang; Alaska menaksir penghematan US$18 juta per tahun (Heizer et al., 2017).</a:t>
            </a:r>
            <a:endParaRPr lang="en-US" sz="1200" dirty="0"/>
          </a:p>
          <a:p>
            <a:pPr marL="342900" indent="-342900">
              <a:spcAft>
                <a:spcPts val="800"/>
              </a:spcAft>
              <a:buSzPct val="100000"/>
              <a:buChar char="•"/>
            </a:pPr>
            <a:r>
              <a:rPr lang="en-US" sz="1200" b="1" dirty="0">
                <a:solidFill>
                  <a:srgbClr val="2E1616"/>
                </a:solidFill>
              </a:rPr>
              <a:t>Integrasi Hawaiian Airlines.</a:t>
            </a:r>
            <a:r>
              <a:rPr lang="en-US" sz="1200" dirty="0">
                <a:solidFill>
                  <a:srgbClr val="2E1616"/>
                </a:solidFill>
              </a:rPr>
              <a:t> </a:t>
            </a:r>
            <a:r>
              <a:rPr lang="en-US" sz="1200" i="1" dirty="0">
                <a:solidFill>
                  <a:srgbClr val="2E1616"/>
                </a:solidFill>
              </a:rPr>
              <a:t>Single operating certificate</a:t>
            </a:r>
            <a:r>
              <a:rPr lang="en-US" sz="1200" dirty="0">
                <a:solidFill>
                  <a:srgbClr val="2E1616"/>
                </a:solidFill>
              </a:rPr>
              <a:t> dicapai 29 Oktober 2025 setelah upaya multifase selama setahun di banyak departemen; sistem layanan penumpang tunggal menyusul pada 2026. Dua merek kini berbagi satu set proses dan data operasi.</a:t>
            </a:r>
            <a:endParaRPr lang="en-US" sz="1200" dirty="0"/>
          </a:p>
          <a:p>
            <a:pPr marL="342900" indent="-342900">
              <a:spcAft>
                <a:spcPts val="800"/>
              </a:spcAft>
              <a:buSzPct val="100000"/>
              <a:buChar char="•"/>
            </a:pPr>
            <a:r>
              <a:rPr lang="en-US" sz="1200" b="1" dirty="0">
                <a:solidFill>
                  <a:srgbClr val="2E1616"/>
                </a:solidFill>
              </a:rPr>
              <a:t>Perencanaan perawatan berbasis data bersama.</a:t>
            </a:r>
            <a:r>
              <a:rPr lang="en-US" sz="1200" dirty="0">
                <a:solidFill>
                  <a:srgbClr val="2E1616"/>
                </a:solidFill>
              </a:rPr>
              <a:t> Tailsight menarik data dari sistem perawatan, jadwal penerbangan, staf, dan suku cadang sekaligus; nilainya bergantung pada konsistensi data di seluruh sistem.</a:t>
            </a:r>
            <a:endParaRPr lang="en-US" sz="1200" dirty="0"/>
          </a:p>
        </p:txBody>
      </p:sp>
      <p:sp>
        <p:nvSpPr>
          <p:cNvPr id="25" name="Slide Number Placeholder 0"/>
          <p:cNvSpPr>
            <a:spLocks noGrp="1"/>
          </p:cNvSpPr>
          <p:nvPr>
            <p:ph type="sldNum" sz="quarter" idx="4294967295"/>
          </p:nvPr>
        </p:nvSpPr>
        <p:spPr>
          <a:xfrm>
            <a:off x="11247120" y="6446520"/>
            <a:ext cx="39319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4F2D2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algn="l" indent="0" marL="0">
              <a:buNone/>
            </a:pPr>
            <a:r>
              <a:rPr lang="en-US" sz="2800" b="1" dirty="0">
                <a:solidFill>
                  <a:srgbClr val="2E1616"/>
                </a:solidFill>
              </a:rPr>
              <a:t>Risiko Integrasi: Dua Outage pada 2025</a:t>
            </a:r>
            <a:endParaRPr lang="en-US" sz="2800" dirty="0"/>
          </a:p>
        </p:txBody>
      </p:sp>
      <p:sp>
        <p:nvSpPr>
          <p:cNvPr id="4" name="title circle"/>
          <p:cNvSpPr/>
          <p:nvPr/>
        </p:nvSpPr>
        <p:spPr>
          <a:xfrm>
            <a:off x="347472" y="384048"/>
            <a:ext cx="1581912" cy="786384"/>
          </a:xfrm>
          <a:prstGeom prst="ellipse">
            <a:avLst/>
          </a:prstGeom>
          <a:solidFill>
            <a:srgbClr val="B3D9FE">
              <a:alpha val="0"/>
            </a:srgbClr>
          </a:solidFill>
          <a:ln w="28575">
            <a:solidFill>
              <a:srgbClr val="3B8BE0"/>
            </a:solidFill>
            <a:prstDash val="solid"/>
          </a:ln>
        </p:spPr>
      </p:sp>
      <p:sp>
        <p:nvSpPr>
          <p:cNvPr id="5" name="card"/>
          <p:cNvSpPr/>
          <p:nvPr/>
        </p:nvSpPr>
        <p:spPr>
          <a:xfrm>
            <a:off x="548640" y="1325880"/>
            <a:ext cx="3947008" cy="3977640"/>
          </a:xfrm>
          <a:prstGeom prst="roundRect">
            <a:avLst>
              <a:gd name="adj" fmla="val 4633"/>
            </a:avLst>
          </a:prstGeom>
          <a:solidFill>
            <a:srgbClr val="F5F2EB"/>
          </a:solidFill>
          <a:ln w="3175">
            <a:solidFill>
              <a:srgbClr val="F5F2EB"/>
            </a:solidFill>
            <a:prstDash val="solid"/>
          </a:ln>
        </p:spPr>
      </p:sp>
      <p:sp>
        <p:nvSpPr>
          <p:cNvPr id="6" name="pill"/>
          <p:cNvSpPr/>
          <p:nvPr/>
        </p:nvSpPr>
        <p:spPr>
          <a:xfrm>
            <a:off x="822960" y="1554480"/>
            <a:ext cx="1463040" cy="310896"/>
          </a:xfrm>
          <a:prstGeom prst="roundRect">
            <a:avLst>
              <a:gd name="adj" fmla="val 50000"/>
            </a:avLst>
          </a:prstGeom>
          <a:solidFill>
            <a:srgbClr val="4F2D2C"/>
          </a:solidFill>
          <a:ln w="3175">
            <a:solidFill>
              <a:srgbClr val="4F2D2C"/>
            </a:solidFill>
            <a:prstDash val="solid"/>
          </a:ln>
        </p:spPr>
      </p:sp>
      <p:sp>
        <p:nvSpPr>
          <p:cNvPr id="7" name="pill label"/>
          <p:cNvSpPr txBox="1"/>
          <p:nvPr/>
        </p:nvSpPr>
        <p:spPr>
          <a:xfrm>
            <a:off x="822960" y="1554480"/>
            <a:ext cx="1463040" cy="310896"/>
          </a:xfrm>
          <a:prstGeom prst="rect">
            <a:avLst/>
          </a:prstGeom>
          <a:noFill/>
          <a:ln/>
        </p:spPr>
        <p:txBody>
          <a:bodyPr wrap="square" lIns="0" tIns="0" rIns="0" bIns="0" rtlCol="0" anchor="ctr"/>
          <a:lstStyle/>
          <a:p>
            <a:pPr algn="ctr" indent="0" marL="0">
              <a:buNone/>
            </a:pPr>
            <a:r>
              <a:rPr lang="en-US" sz="1050" b="1" dirty="0">
                <a:solidFill>
                  <a:srgbClr val="FFFFFF"/>
                </a:solidFill>
              </a:rPr>
              <a:t>20 Juli 2025</a:t>
            </a:r>
            <a:endParaRPr lang="en-US" sz="1050" dirty="0"/>
          </a:p>
        </p:txBody>
      </p:sp>
      <p:sp>
        <p:nvSpPr>
          <p:cNvPr id="8" name="icon circle"/>
          <p:cNvSpPr/>
          <p:nvPr/>
        </p:nvSpPr>
        <p:spPr>
          <a:xfrm>
            <a:off x="3626968" y="1508760"/>
            <a:ext cx="594360" cy="594360"/>
          </a:xfrm>
          <a:prstGeom prst="ellipse">
            <a:avLst/>
          </a:prstGeom>
          <a:solidFill>
            <a:srgbClr val="D7EAFD"/>
          </a:solidFill>
          <a:ln w="3175">
            <a:solidFill>
              <a:srgbClr val="D7EAFD"/>
            </a:solidFill>
            <a:prstDash val="solid"/>
          </a:ln>
        </p:spPr>
      </p:sp>
      <p:pic>
        <p:nvPicPr>
          <p:cNvPr id="9" name="icon FaServer" descr="preencoded.png">    </p:cNvPr>
          <p:cNvPicPr>
            <a:picLocks noChangeAspect="1"/>
          </p:cNvPicPr>
          <p:nvPr/>
        </p:nvPicPr>
        <p:blipFill>
          <a:blip r:embed="rId1"/>
          <a:stretch>
            <a:fillRect/>
          </a:stretch>
        </p:blipFill>
        <p:spPr>
          <a:xfrm>
            <a:off x="3775558" y="1657350"/>
            <a:ext cx="297180" cy="297180"/>
          </a:xfrm>
          <a:prstGeom prst="rect">
            <a:avLst/>
          </a:prstGeom>
        </p:spPr>
      </p:pic>
      <p:sp>
        <p:nvSpPr>
          <p:cNvPr id="10" name="text"/>
          <p:cNvSpPr txBox="1"/>
          <p:nvPr/>
        </p:nvSpPr>
        <p:spPr>
          <a:xfrm>
            <a:off x="822960" y="1965960"/>
            <a:ext cx="2666848" cy="502920"/>
          </a:xfrm>
          <a:prstGeom prst="rect">
            <a:avLst/>
          </a:prstGeom>
          <a:noFill/>
          <a:ln/>
        </p:spPr>
        <p:txBody>
          <a:bodyPr wrap="square" lIns="0" tIns="0" rIns="0" bIns="0" rtlCol="0" anchor="ctr"/>
          <a:lstStyle/>
          <a:p>
            <a:pPr algn="l" indent="0" marL="0">
              <a:buNone/>
            </a:pPr>
            <a:r>
              <a:rPr lang="en-US" sz="1600" b="1" dirty="0">
                <a:solidFill>
                  <a:srgbClr val="2E1616"/>
                </a:solidFill>
              </a:rPr>
              <a:t>Kegagalan perangkat keras pusat data</a:t>
            </a:r>
            <a:endParaRPr lang="en-US" sz="1600" dirty="0"/>
          </a:p>
        </p:txBody>
      </p:sp>
      <p:sp>
        <p:nvSpPr>
          <p:cNvPr id="11" name="text"/>
          <p:cNvSpPr txBox="1"/>
          <p:nvPr/>
        </p:nvSpPr>
        <p:spPr>
          <a:xfrm>
            <a:off x="822960" y="2560320"/>
            <a:ext cx="3398368" cy="2651760"/>
          </a:xfrm>
          <a:prstGeom prst="rect">
            <a:avLst/>
          </a:prstGeom>
          <a:noFill/>
          <a:ln/>
        </p:spPr>
        <p:txBody>
          <a:bodyPr wrap="square" lIns="0" tIns="0" rIns="0" bIns="0" rtlCol="0" anchor="t"/>
          <a:lstStyle/>
          <a:p>
            <a:pPr algn="l" indent="0" marL="0">
              <a:buNone/>
            </a:pPr>
            <a:r>
              <a:rPr lang="en-US" sz="1200" dirty="0">
                <a:solidFill>
                  <a:srgbClr val="2E1616"/>
                </a:solidFill>
              </a:rPr>
              <a:t>Satu perangkat keras multiredundan buatan pihak ketiga gagal secara tak terduga di pusat data dan melumpuhkan beberapa sistem operasional sekaligus. Alaska meminta </a:t>
            </a:r>
            <a:r>
              <a:rPr lang="en-US" sz="1200" i="1" dirty="0">
                <a:solidFill>
                  <a:srgbClr val="2E1616"/>
                </a:solidFill>
              </a:rPr>
              <a:t>ground stop</a:t>
            </a:r>
            <a:r>
              <a:rPr lang="en-US" sz="1200" dirty="0">
                <a:solidFill>
                  <a:srgbClr val="2E1616"/>
                </a:solidFill>
              </a:rPr>
              <a:t> sekitar tiga jam agar pesawat tetap berada di posisi, lalu membatalkan lebih dari 150 penerbangan pada hari-hari berikutnya. Alaska menyatakan telah "mengeraskan" sistemnya setelah kejadian ini.</a:t>
            </a:r>
            <a:endParaRPr lang="en-US" sz="1200" dirty="0"/>
          </a:p>
        </p:txBody>
      </p:sp>
      <p:sp>
        <p:nvSpPr>
          <p:cNvPr id="12" name="card"/>
          <p:cNvSpPr/>
          <p:nvPr/>
        </p:nvSpPr>
        <p:spPr>
          <a:xfrm>
            <a:off x="4769968" y="1325880"/>
            <a:ext cx="3947008" cy="3977640"/>
          </a:xfrm>
          <a:prstGeom prst="roundRect">
            <a:avLst>
              <a:gd name="adj" fmla="val 4633"/>
            </a:avLst>
          </a:prstGeom>
          <a:solidFill>
            <a:srgbClr val="F5F2EB"/>
          </a:solidFill>
          <a:ln w="3175">
            <a:solidFill>
              <a:srgbClr val="F5F2EB"/>
            </a:solidFill>
            <a:prstDash val="solid"/>
          </a:ln>
        </p:spPr>
      </p:sp>
      <p:sp>
        <p:nvSpPr>
          <p:cNvPr id="13" name="pill"/>
          <p:cNvSpPr/>
          <p:nvPr/>
        </p:nvSpPr>
        <p:spPr>
          <a:xfrm>
            <a:off x="5044288" y="1554480"/>
            <a:ext cx="1463040" cy="310896"/>
          </a:xfrm>
          <a:prstGeom prst="roundRect">
            <a:avLst>
              <a:gd name="adj" fmla="val 50000"/>
            </a:avLst>
          </a:prstGeom>
          <a:solidFill>
            <a:srgbClr val="4F2D2C"/>
          </a:solidFill>
          <a:ln w="3175">
            <a:solidFill>
              <a:srgbClr val="4F2D2C"/>
            </a:solidFill>
            <a:prstDash val="solid"/>
          </a:ln>
        </p:spPr>
      </p:sp>
      <p:sp>
        <p:nvSpPr>
          <p:cNvPr id="14" name="pill label"/>
          <p:cNvSpPr txBox="1"/>
          <p:nvPr/>
        </p:nvSpPr>
        <p:spPr>
          <a:xfrm>
            <a:off x="5044288" y="1554480"/>
            <a:ext cx="1463040" cy="310896"/>
          </a:xfrm>
          <a:prstGeom prst="rect">
            <a:avLst/>
          </a:prstGeom>
          <a:noFill/>
          <a:ln/>
        </p:spPr>
        <p:txBody>
          <a:bodyPr wrap="square" lIns="0" tIns="0" rIns="0" bIns="0" rtlCol="0" anchor="ctr"/>
          <a:lstStyle/>
          <a:p>
            <a:pPr algn="ctr" indent="0" marL="0">
              <a:buNone/>
            </a:pPr>
            <a:r>
              <a:rPr lang="en-US" sz="1050" b="1" dirty="0">
                <a:solidFill>
                  <a:srgbClr val="FFFFFF"/>
                </a:solidFill>
              </a:rPr>
              <a:t>23 Oktober 2025</a:t>
            </a:r>
            <a:endParaRPr lang="en-US" sz="1050" dirty="0"/>
          </a:p>
        </p:txBody>
      </p:sp>
      <p:sp>
        <p:nvSpPr>
          <p:cNvPr id="15" name="icon circle"/>
          <p:cNvSpPr/>
          <p:nvPr/>
        </p:nvSpPr>
        <p:spPr>
          <a:xfrm>
            <a:off x="7848295" y="1508760"/>
            <a:ext cx="594360" cy="594360"/>
          </a:xfrm>
          <a:prstGeom prst="ellipse">
            <a:avLst/>
          </a:prstGeom>
          <a:solidFill>
            <a:srgbClr val="D7EAFD"/>
          </a:solidFill>
          <a:ln w="3175">
            <a:solidFill>
              <a:srgbClr val="D7EAFD"/>
            </a:solidFill>
            <a:prstDash val="solid"/>
          </a:ln>
        </p:spPr>
      </p:sp>
      <p:pic>
        <p:nvPicPr>
          <p:cNvPr id="16" name="icon FaServer" descr="preencoded.png">    </p:cNvPr>
          <p:cNvPicPr>
            <a:picLocks noChangeAspect="1"/>
          </p:cNvPicPr>
          <p:nvPr/>
        </p:nvPicPr>
        <p:blipFill>
          <a:blip r:embed="rId2"/>
          <a:stretch>
            <a:fillRect/>
          </a:stretch>
        </p:blipFill>
        <p:spPr>
          <a:xfrm>
            <a:off x="7996885" y="1657350"/>
            <a:ext cx="297180" cy="297180"/>
          </a:xfrm>
          <a:prstGeom prst="rect">
            <a:avLst/>
          </a:prstGeom>
        </p:spPr>
      </p:pic>
      <p:sp>
        <p:nvSpPr>
          <p:cNvPr id="17" name="text"/>
          <p:cNvSpPr txBox="1"/>
          <p:nvPr/>
        </p:nvSpPr>
        <p:spPr>
          <a:xfrm>
            <a:off x="5044288" y="1965960"/>
            <a:ext cx="2666848" cy="502920"/>
          </a:xfrm>
          <a:prstGeom prst="rect">
            <a:avLst/>
          </a:prstGeom>
          <a:noFill/>
          <a:ln/>
        </p:spPr>
        <p:txBody>
          <a:bodyPr wrap="square" lIns="0" tIns="0" rIns="0" bIns="0" rtlCol="0" anchor="ctr"/>
          <a:lstStyle/>
          <a:p>
            <a:pPr algn="l" indent="0" marL="0">
              <a:buNone/>
            </a:pPr>
            <a:r>
              <a:rPr lang="en-US" sz="1600" b="1" dirty="0">
                <a:solidFill>
                  <a:srgbClr val="2E1616"/>
                </a:solidFill>
              </a:rPr>
              <a:t>Kegagalan pusat data utama</a:t>
            </a:r>
            <a:endParaRPr lang="en-US" sz="1600" dirty="0"/>
          </a:p>
        </p:txBody>
      </p:sp>
      <p:sp>
        <p:nvSpPr>
          <p:cNvPr id="18" name="text"/>
          <p:cNvSpPr txBox="1"/>
          <p:nvPr/>
        </p:nvSpPr>
        <p:spPr>
          <a:xfrm>
            <a:off x="5044288" y="2560320"/>
            <a:ext cx="3398368" cy="2651760"/>
          </a:xfrm>
          <a:prstGeom prst="rect">
            <a:avLst/>
          </a:prstGeom>
          <a:noFill/>
          <a:ln/>
        </p:spPr>
        <p:txBody>
          <a:bodyPr wrap="square" lIns="0" tIns="0" rIns="0" bIns="0" rtlCol="0" anchor="t"/>
          <a:lstStyle/>
          <a:p>
            <a:pPr algn="l" indent="0" marL="0">
              <a:buNone/>
            </a:pPr>
            <a:r>
              <a:rPr lang="en-US" sz="1200" dirty="0">
                <a:solidFill>
                  <a:srgbClr val="2E1616"/>
                </a:solidFill>
              </a:rPr>
              <a:t>Pusat data utama gagal; </a:t>
            </a:r>
            <a:r>
              <a:rPr lang="en-US" sz="1200" i="1" dirty="0">
                <a:solidFill>
                  <a:srgbClr val="2E1616"/>
                </a:solidFill>
              </a:rPr>
              <a:t>ground stop</a:t>
            </a:r>
            <a:r>
              <a:rPr lang="en-US" sz="1200" dirty="0">
                <a:solidFill>
                  <a:srgbClr val="2E1616"/>
                </a:solidFill>
              </a:rPr>
              <a:t> berlangsung sekitar delapan jam, lebih dari 400 penerbangan Alaska dan Horizon dibatalkan, dan sekitar 49.000 penumpang terdampak. Alaska menegaskan ini bukan serangan siber, mendatangkan pakar eksternal untuk mendiagnosis seluruh infrastruktur IT, dan mengganti perangkat keras pusat data bersama vendornya.</a:t>
            </a:r>
            <a:endParaRPr lang="en-US" sz="1200" dirty="0"/>
          </a:p>
        </p:txBody>
      </p:sp>
      <p:sp>
        <p:nvSpPr>
          <p:cNvPr id="19" name="card"/>
          <p:cNvSpPr/>
          <p:nvPr/>
        </p:nvSpPr>
        <p:spPr>
          <a:xfrm>
            <a:off x="8991295" y="1325880"/>
            <a:ext cx="2651760" cy="3977640"/>
          </a:xfrm>
          <a:prstGeom prst="roundRect">
            <a:avLst>
              <a:gd name="adj" fmla="val 6897"/>
            </a:avLst>
          </a:prstGeom>
          <a:solidFill>
            <a:srgbClr val="F5F2EB"/>
          </a:solidFill>
          <a:ln w="3175">
            <a:solidFill>
              <a:srgbClr val="F5F2EB"/>
            </a:solidFill>
            <a:prstDash val="solid"/>
          </a:ln>
        </p:spPr>
      </p:sp>
      <p:pic>
        <p:nvPicPr>
          <p:cNvPr id="20" name="ilustrasi dispatcher" descr="/tmp/claude-0/-home-user-Dom-Manipulation/385e5267-c23e-5c04-80f5-d5fb4946a902/scratchpad/build/img2/st_dispatcher.png">    </p:cNvPr>
          <p:cNvPicPr>
            <a:picLocks noChangeAspect="1"/>
          </p:cNvPicPr>
          <p:nvPr/>
        </p:nvPicPr>
        <p:blipFill>
          <a:blip r:embed="rId3"/>
          <a:stretch>
            <a:fillRect/>
          </a:stretch>
        </p:blipFill>
        <p:spPr>
          <a:xfrm>
            <a:off x="9174175" y="1630998"/>
            <a:ext cx="2286000" cy="2041525"/>
          </a:xfrm>
          <a:prstGeom prst="rect">
            <a:avLst/>
          </a:prstGeom>
        </p:spPr>
      </p:pic>
      <p:sp>
        <p:nvSpPr>
          <p:cNvPr id="21" name="text"/>
          <p:cNvSpPr txBox="1"/>
          <p:nvPr/>
        </p:nvSpPr>
        <p:spPr>
          <a:xfrm>
            <a:off x="9174175" y="3977640"/>
            <a:ext cx="2286000" cy="1188720"/>
          </a:xfrm>
          <a:prstGeom prst="rect">
            <a:avLst/>
          </a:prstGeom>
          <a:noFill/>
          <a:ln/>
        </p:spPr>
        <p:txBody>
          <a:bodyPr wrap="square" lIns="0" tIns="0" rIns="0" bIns="0" rtlCol="0" anchor="ctr"/>
          <a:lstStyle/>
          <a:p>
            <a:pPr algn="ctr" indent="0" marL="0">
              <a:buNone/>
            </a:pPr>
            <a:r>
              <a:rPr lang="en-US" sz="1000" i="1" dirty="0">
                <a:solidFill>
                  <a:srgbClr val="6E5A5A"/>
                </a:solidFill>
              </a:rPr>
              <a:t>Sumber: CBS News (Juli 2025); GeekWire (Oktober 2025); pernyataan Alaska Airlines.</a:t>
            </a:r>
            <a:endParaRPr lang="en-US" sz="1000" dirty="0"/>
          </a:p>
        </p:txBody>
      </p:sp>
      <p:sp>
        <p:nvSpPr>
          <p:cNvPr id="22" name="card"/>
          <p:cNvSpPr/>
          <p:nvPr/>
        </p:nvSpPr>
        <p:spPr>
          <a:xfrm>
            <a:off x="548640" y="5440680"/>
            <a:ext cx="11094415" cy="777240"/>
          </a:xfrm>
          <a:prstGeom prst="roundRect">
            <a:avLst>
              <a:gd name="adj" fmla="val 23529"/>
            </a:avLst>
          </a:prstGeom>
          <a:solidFill>
            <a:srgbClr val="4F2D2C"/>
          </a:solidFill>
          <a:ln w="3175">
            <a:solidFill>
              <a:srgbClr val="4F2D2C"/>
            </a:solidFill>
            <a:prstDash val="solid"/>
          </a:ln>
        </p:spPr>
      </p:sp>
      <p:sp>
        <p:nvSpPr>
          <p:cNvPr id="23" name="text"/>
          <p:cNvSpPr txBox="1"/>
          <p:nvPr/>
        </p:nvSpPr>
        <p:spPr>
          <a:xfrm>
            <a:off x="822960" y="5440680"/>
            <a:ext cx="10545775" cy="777240"/>
          </a:xfrm>
          <a:prstGeom prst="rect">
            <a:avLst/>
          </a:prstGeom>
          <a:noFill/>
          <a:ln/>
        </p:spPr>
        <p:txBody>
          <a:bodyPr wrap="square" lIns="0" tIns="0" rIns="0" bIns="0" rtlCol="0" anchor="ctr"/>
          <a:lstStyle/>
          <a:p>
            <a:pPr algn="l" indent="0" marL="0">
              <a:buNone/>
            </a:pPr>
            <a:r>
              <a:rPr lang="en-US" sz="1250" b="1" dirty="0">
                <a:solidFill>
                  <a:srgbClr val="FFFFFF"/>
                </a:solidFill>
              </a:rPr>
              <a:t>Pelajaran:</a:t>
            </a:r>
            <a:r>
              <a:rPr lang="en-US" sz="1250" dirty="0">
                <a:solidFill>
                  <a:srgbClr val="FFFFFF"/>
                </a:solidFill>
              </a:rPr>
              <a:t> semakin terintegrasi sistem, semakin besar dampak satu titik kegagalan (</a:t>
            </a:r>
            <a:r>
              <a:rPr lang="en-US" sz="1250" i="1" dirty="0">
                <a:solidFill>
                  <a:srgbClr val="FFFFFF"/>
                </a:solidFill>
              </a:rPr>
              <a:t>single point of failure</a:t>
            </a:r>
            <a:r>
              <a:rPr lang="en-US" sz="1250" dirty="0">
                <a:solidFill>
                  <a:srgbClr val="FFFFFF"/>
                </a:solidFill>
              </a:rPr>
              <a:t>). Nilai integrasi hanya terwujud bila sistemnya tetap hidup; ketahanan infrastruktur harus direncanakan sekeras jadwalnya.</a:t>
            </a:r>
            <a:endParaRPr lang="en-US" sz="1250" dirty="0"/>
          </a:p>
        </p:txBody>
      </p:sp>
      <p:sp>
        <p:nvSpPr>
          <p:cNvPr id="25" name="Slide Number Placeholder 0"/>
          <p:cNvSpPr>
            <a:spLocks noGrp="1"/>
          </p:cNvSpPr>
          <p:nvPr>
            <p:ph type="sldNum" sz="quarter" idx="4294967295"/>
          </p:nvPr>
        </p:nvSpPr>
        <p:spPr>
          <a:xfrm>
            <a:off x="11247120" y="6446520"/>
            <a:ext cx="39319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4F2D2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3" name="foto deicing" descr="/tmp/claude-0/-home-user-Dom-Manipulation/385e5267-c23e-5c04-80f5-d5fb4946a902/scratchpad/build/img2/divider_sched.png">    </p:cNvPr>
          <p:cNvPicPr>
            <a:picLocks noChangeAspect="1"/>
          </p:cNvPicPr>
          <p:nvPr/>
        </p:nvPicPr>
        <p:blipFill>
          <a:blip r:embed="rId1"/>
          <a:stretch>
            <a:fillRect/>
          </a:stretch>
        </p:blipFill>
        <p:spPr>
          <a:xfrm>
            <a:off x="548640" y="502920"/>
            <a:ext cx="11094415" cy="3291840"/>
          </a:xfrm>
          <a:prstGeom prst="rect">
            <a:avLst/>
          </a:prstGeom>
        </p:spPr>
      </p:pic>
      <p:sp>
        <p:nvSpPr>
          <p:cNvPr id="4" name="pill"/>
          <p:cNvSpPr/>
          <p:nvPr/>
        </p:nvSpPr>
        <p:spPr>
          <a:xfrm>
            <a:off x="548640" y="4069080"/>
            <a:ext cx="1371600" cy="347472"/>
          </a:xfrm>
          <a:prstGeom prst="roundRect">
            <a:avLst>
              <a:gd name="adj" fmla="val 50000"/>
            </a:avLst>
          </a:prstGeom>
          <a:solidFill>
            <a:srgbClr val="4F2D2C"/>
          </a:solidFill>
          <a:ln w="3175">
            <a:solidFill>
              <a:srgbClr val="4F2D2C"/>
            </a:solidFill>
            <a:prstDash val="solid"/>
          </a:ln>
        </p:spPr>
      </p:sp>
      <p:sp>
        <p:nvSpPr>
          <p:cNvPr id="5" name="pill label"/>
          <p:cNvSpPr txBox="1"/>
          <p:nvPr/>
        </p:nvSpPr>
        <p:spPr>
          <a:xfrm>
            <a:off x="548640" y="4069080"/>
            <a:ext cx="1371600" cy="347472"/>
          </a:xfrm>
          <a:prstGeom prst="rect">
            <a:avLst/>
          </a:prstGeom>
          <a:noFill/>
          <a:ln/>
        </p:spPr>
        <p:txBody>
          <a:bodyPr wrap="square" lIns="0" tIns="0" rIns="0" bIns="0" rtlCol="0" anchor="ctr"/>
          <a:lstStyle/>
          <a:p>
            <a:pPr algn="ctr" indent="0" marL="0">
              <a:buNone/>
            </a:pPr>
            <a:r>
              <a:rPr lang="en-US" sz="1100" b="1" dirty="0">
                <a:solidFill>
                  <a:srgbClr val="FFFFFF"/>
                </a:solidFill>
              </a:rPr>
              <a:t>SUBTOPIK 2</a:t>
            </a:r>
            <a:endParaRPr lang="en-US" sz="1100" dirty="0"/>
          </a:p>
        </p:txBody>
      </p:sp>
      <p:sp>
        <p:nvSpPr>
          <p:cNvPr id="6" name="text"/>
          <p:cNvSpPr txBox="1"/>
          <p:nvPr/>
        </p:nvSpPr>
        <p:spPr>
          <a:xfrm>
            <a:off x="548640" y="4526280"/>
            <a:ext cx="11094415" cy="822960"/>
          </a:xfrm>
          <a:prstGeom prst="rect">
            <a:avLst/>
          </a:prstGeom>
          <a:noFill/>
          <a:ln/>
        </p:spPr>
        <p:txBody>
          <a:bodyPr wrap="square" lIns="0" tIns="0" rIns="0" bIns="0" rtlCol="0" anchor="t"/>
          <a:lstStyle/>
          <a:p>
            <a:pPr algn="l" indent="0" marL="0">
              <a:buNone/>
            </a:pPr>
            <a:r>
              <a:rPr lang="en-US" sz="3600" b="1" dirty="0">
                <a:solidFill>
                  <a:srgbClr val="2E1616"/>
                </a:solidFill>
              </a:rPr>
              <a:t>Sequencing and Scheduling di Alaska Airlines</a:t>
            </a:r>
            <a:endParaRPr lang="en-US" sz="3600" dirty="0"/>
          </a:p>
        </p:txBody>
      </p:sp>
      <p:sp>
        <p:nvSpPr>
          <p:cNvPr id="7" name="text"/>
          <p:cNvSpPr txBox="1"/>
          <p:nvPr/>
        </p:nvSpPr>
        <p:spPr>
          <a:xfrm>
            <a:off x="548640" y="5394960"/>
            <a:ext cx="8686800" cy="822960"/>
          </a:xfrm>
          <a:prstGeom prst="rect">
            <a:avLst/>
          </a:prstGeom>
          <a:noFill/>
          <a:ln/>
        </p:spPr>
        <p:txBody>
          <a:bodyPr wrap="square" lIns="0" tIns="0" rIns="0" bIns="0" rtlCol="0" anchor="t"/>
          <a:lstStyle/>
          <a:p>
            <a:pPr algn="l" indent="0" marL="0">
              <a:buNone/>
            </a:pPr>
            <a:r>
              <a:rPr lang="en-US" sz="1500" dirty="0">
                <a:solidFill>
                  <a:srgbClr val="4F2D2C"/>
                </a:solidFill>
              </a:rPr>
              <a:t>Mengurutkan dan menjadwalkan pesawat, kru, hangar, dan staf darat dalam horizon hari dan jam, termasuk ketika cuaca menjadi musuh.</a:t>
            </a:r>
            <a:endParaRPr lang="en-US" sz="1500" dirty="0"/>
          </a:p>
        </p:txBody>
      </p:sp>
      <p:sp>
        <p:nvSpPr>
          <p:cNvPr id="8"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algn="l" indent="0" marL="0">
              <a:buNone/>
            </a:pPr>
            <a:endParaRPr lang="en-US" sz="2800" dirty="0"/>
          </a:p>
        </p:txBody>
      </p:sp>
      <p:sp>
        <p:nvSpPr>
          <p:cNvPr id="25" name="Slide Number Placeholder 0"/>
          <p:cNvSpPr>
            <a:spLocks noGrp="1"/>
          </p:cNvSpPr>
          <p:nvPr>
            <p:ph type="sldNum" sz="quarter" idx="4294967295"/>
          </p:nvPr>
        </p:nvSpPr>
        <p:spPr>
          <a:xfrm>
            <a:off x="11247120" y="6446520"/>
            <a:ext cx="39319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4F2D2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algn="l" indent="0" marL="0">
              <a:buNone/>
            </a:pPr>
            <a:r>
              <a:rPr lang="en-US" sz="2800" b="1" dirty="0">
                <a:solidFill>
                  <a:srgbClr val="2E1616"/>
                </a:solidFill>
              </a:rPr>
              <a:t>Apa yang Dijadwalkan Alaska Setiap Hari</a:t>
            </a:r>
            <a:endParaRPr lang="en-US" sz="2800" dirty="0"/>
          </a:p>
        </p:txBody>
      </p:sp>
      <p:sp>
        <p:nvSpPr>
          <p:cNvPr id="4" name="title circle"/>
          <p:cNvSpPr/>
          <p:nvPr/>
        </p:nvSpPr>
        <p:spPr>
          <a:xfrm>
            <a:off x="347472" y="384048"/>
            <a:ext cx="1019556" cy="786384"/>
          </a:xfrm>
          <a:prstGeom prst="ellipse">
            <a:avLst/>
          </a:prstGeom>
          <a:solidFill>
            <a:srgbClr val="B3D9FE">
              <a:alpha val="0"/>
            </a:srgbClr>
          </a:solidFill>
          <a:ln w="28575">
            <a:solidFill>
              <a:srgbClr val="3B8BE0"/>
            </a:solidFill>
            <a:prstDash val="solid"/>
          </a:ln>
        </p:spPr>
      </p:sp>
      <p:sp>
        <p:nvSpPr>
          <p:cNvPr id="5" name="card"/>
          <p:cNvSpPr/>
          <p:nvPr/>
        </p:nvSpPr>
        <p:spPr>
          <a:xfrm>
            <a:off x="548640" y="1325880"/>
            <a:ext cx="11094415" cy="4892040"/>
          </a:xfrm>
          <a:prstGeom prst="roundRect">
            <a:avLst>
              <a:gd name="adj" fmla="val 3738"/>
            </a:avLst>
          </a:prstGeom>
          <a:solidFill>
            <a:srgbClr val="F5F2EB"/>
          </a:solidFill>
          <a:ln w="3175">
            <a:solidFill>
              <a:srgbClr val="F5F2EB"/>
            </a:solidFill>
            <a:prstDash val="solid"/>
          </a:ln>
        </p:spPr>
      </p:sp>
      <p:pic>
        <p:nvPicPr>
          <p:cNvPr id="6" name="Pesawat dan perawatan" descr="/tmp/claude-0/-home-user-Dom-Manipulation/385e5267-c23e-5c04-80f5-d5fb4946a902/scratchpad/build/img2/c_hangar.png">    </p:cNvPr>
          <p:cNvPicPr>
            <a:picLocks noChangeAspect="1"/>
          </p:cNvPicPr>
          <p:nvPr/>
        </p:nvPicPr>
        <p:blipFill>
          <a:blip r:embed="rId1"/>
          <a:stretch>
            <a:fillRect/>
          </a:stretch>
        </p:blipFill>
        <p:spPr>
          <a:xfrm>
            <a:off x="1574749" y="1554480"/>
            <a:ext cx="1828800" cy="1828800"/>
          </a:xfrm>
          <a:prstGeom prst="rect">
            <a:avLst/>
          </a:prstGeom>
        </p:spPr>
      </p:pic>
      <p:sp>
        <p:nvSpPr>
          <p:cNvPr id="7" name="pill"/>
          <p:cNvSpPr/>
          <p:nvPr/>
        </p:nvSpPr>
        <p:spPr>
          <a:xfrm>
            <a:off x="1940509" y="3520440"/>
            <a:ext cx="1097280" cy="292608"/>
          </a:xfrm>
          <a:prstGeom prst="roundRect">
            <a:avLst>
              <a:gd name="adj" fmla="val 50000"/>
            </a:avLst>
          </a:prstGeom>
          <a:solidFill>
            <a:srgbClr val="4F2D2C"/>
          </a:solidFill>
          <a:ln w="3175">
            <a:solidFill>
              <a:srgbClr val="4F2D2C"/>
            </a:solidFill>
            <a:prstDash val="solid"/>
          </a:ln>
        </p:spPr>
      </p:sp>
      <p:sp>
        <p:nvSpPr>
          <p:cNvPr id="8" name="pill label"/>
          <p:cNvSpPr txBox="1"/>
          <p:nvPr/>
        </p:nvSpPr>
        <p:spPr>
          <a:xfrm>
            <a:off x="1940509" y="3520440"/>
            <a:ext cx="1097280" cy="292608"/>
          </a:xfrm>
          <a:prstGeom prst="rect">
            <a:avLst/>
          </a:prstGeom>
          <a:noFill/>
          <a:ln/>
        </p:spPr>
        <p:txBody>
          <a:bodyPr wrap="square" lIns="0" tIns="0" rIns="0" bIns="0" rtlCol="0" anchor="ctr"/>
          <a:lstStyle/>
          <a:p>
            <a:pPr algn="ctr" indent="0" marL="0">
              <a:buNone/>
            </a:pPr>
            <a:r>
              <a:rPr lang="en-US" sz="1000" b="1" dirty="0">
                <a:solidFill>
                  <a:srgbClr val="FFFFFF"/>
                </a:solidFill>
              </a:rPr>
              <a:t>Objek 01</a:t>
            </a:r>
            <a:endParaRPr lang="en-US" sz="1000" dirty="0"/>
          </a:p>
        </p:txBody>
      </p:sp>
      <p:sp>
        <p:nvSpPr>
          <p:cNvPr id="9" name="text"/>
          <p:cNvSpPr txBox="1"/>
          <p:nvPr/>
        </p:nvSpPr>
        <p:spPr>
          <a:xfrm>
            <a:off x="822960" y="3931920"/>
            <a:ext cx="3332378" cy="411480"/>
          </a:xfrm>
          <a:prstGeom prst="rect">
            <a:avLst/>
          </a:prstGeom>
          <a:noFill/>
          <a:ln/>
        </p:spPr>
        <p:txBody>
          <a:bodyPr wrap="square" lIns="0" tIns="0" rIns="0" bIns="0" rtlCol="0" anchor="ctr"/>
          <a:lstStyle/>
          <a:p>
            <a:pPr algn="ctr" indent="0" marL="0">
              <a:buNone/>
            </a:pPr>
            <a:r>
              <a:rPr lang="en-US" sz="1500" b="1" dirty="0">
                <a:solidFill>
                  <a:srgbClr val="2E1616"/>
                </a:solidFill>
              </a:rPr>
              <a:t>Pesawat dan perawatan</a:t>
            </a:r>
            <a:endParaRPr lang="en-US" sz="1500" dirty="0"/>
          </a:p>
        </p:txBody>
      </p:sp>
      <p:sp>
        <p:nvSpPr>
          <p:cNvPr id="10" name="text"/>
          <p:cNvSpPr txBox="1"/>
          <p:nvPr/>
        </p:nvSpPr>
        <p:spPr>
          <a:xfrm>
            <a:off x="914400" y="4389120"/>
            <a:ext cx="3149498" cy="1280160"/>
          </a:xfrm>
          <a:prstGeom prst="rect">
            <a:avLst/>
          </a:prstGeom>
          <a:noFill/>
          <a:ln/>
        </p:spPr>
        <p:txBody>
          <a:bodyPr wrap="square" lIns="0" tIns="0" rIns="0" bIns="0" rtlCol="0" anchor="t"/>
          <a:lstStyle/>
          <a:p>
            <a:pPr algn="ctr" indent="0" marL="0">
              <a:buNone/>
            </a:pPr>
            <a:r>
              <a:rPr lang="en-US" sz="1150" dirty="0">
                <a:solidFill>
                  <a:srgbClr val="2E1616"/>
                </a:solidFill>
              </a:rPr>
              <a:t>Sekitar 150 pesawat per hari pada masa penulisan Heizer et al. (2017), kini 392 pesawat grup; slot hangar dan </a:t>
            </a:r>
            <a:r>
              <a:rPr lang="en-US" sz="1150" i="1" dirty="0">
                <a:solidFill>
                  <a:srgbClr val="2E1616"/>
                </a:solidFill>
              </a:rPr>
              <a:t>line maintenance</a:t>
            </a:r>
            <a:r>
              <a:rPr lang="en-US" sz="1150" dirty="0">
                <a:solidFill>
                  <a:srgbClr val="2E1616"/>
                </a:solidFill>
              </a:rPr>
              <a:t> di setiap basis harus dijadwalkan di sela rotasi pesawat.</a:t>
            </a:r>
            <a:endParaRPr lang="en-US" sz="1150" dirty="0"/>
          </a:p>
        </p:txBody>
      </p:sp>
      <p:pic>
        <p:nvPicPr>
          <p:cNvPr id="11" name="Jadwal keberangkatan dan kru" descr="/tmp/claude-0/-home-user-Dom-Manipulation/385e5267-c23e-5c04-80f5-d5fb4946a902/scratchpad/build/img2/c_ops.png">    </p:cNvPr>
          <p:cNvPicPr>
            <a:picLocks noChangeAspect="1"/>
          </p:cNvPicPr>
          <p:nvPr/>
        </p:nvPicPr>
        <p:blipFill>
          <a:blip r:embed="rId2"/>
          <a:stretch>
            <a:fillRect/>
          </a:stretch>
        </p:blipFill>
        <p:spPr>
          <a:xfrm>
            <a:off x="5181448" y="1554480"/>
            <a:ext cx="1828800" cy="1828800"/>
          </a:xfrm>
          <a:prstGeom prst="rect">
            <a:avLst/>
          </a:prstGeom>
        </p:spPr>
      </p:pic>
      <p:sp>
        <p:nvSpPr>
          <p:cNvPr id="12" name="pill"/>
          <p:cNvSpPr/>
          <p:nvPr/>
        </p:nvSpPr>
        <p:spPr>
          <a:xfrm>
            <a:off x="5547208" y="3520440"/>
            <a:ext cx="1097280" cy="292608"/>
          </a:xfrm>
          <a:prstGeom prst="roundRect">
            <a:avLst>
              <a:gd name="adj" fmla="val 50000"/>
            </a:avLst>
          </a:prstGeom>
          <a:solidFill>
            <a:srgbClr val="4F2D2C"/>
          </a:solidFill>
          <a:ln w="3175">
            <a:solidFill>
              <a:srgbClr val="4F2D2C"/>
            </a:solidFill>
            <a:prstDash val="solid"/>
          </a:ln>
        </p:spPr>
      </p:sp>
      <p:sp>
        <p:nvSpPr>
          <p:cNvPr id="13" name="pill label"/>
          <p:cNvSpPr txBox="1"/>
          <p:nvPr/>
        </p:nvSpPr>
        <p:spPr>
          <a:xfrm>
            <a:off x="5547208" y="3520440"/>
            <a:ext cx="1097280" cy="292608"/>
          </a:xfrm>
          <a:prstGeom prst="rect">
            <a:avLst/>
          </a:prstGeom>
          <a:noFill/>
          <a:ln/>
        </p:spPr>
        <p:txBody>
          <a:bodyPr wrap="square" lIns="0" tIns="0" rIns="0" bIns="0" rtlCol="0" anchor="ctr"/>
          <a:lstStyle/>
          <a:p>
            <a:pPr algn="ctr" indent="0" marL="0">
              <a:buNone/>
            </a:pPr>
            <a:r>
              <a:rPr lang="en-US" sz="1000" b="1" dirty="0">
                <a:solidFill>
                  <a:srgbClr val="FFFFFF"/>
                </a:solidFill>
              </a:rPr>
              <a:t>Objek 02</a:t>
            </a:r>
            <a:endParaRPr lang="en-US" sz="1000" dirty="0"/>
          </a:p>
        </p:txBody>
      </p:sp>
      <p:sp>
        <p:nvSpPr>
          <p:cNvPr id="14" name="text"/>
          <p:cNvSpPr txBox="1"/>
          <p:nvPr/>
        </p:nvSpPr>
        <p:spPr>
          <a:xfrm>
            <a:off x="4429658" y="3931920"/>
            <a:ext cx="3332378" cy="411480"/>
          </a:xfrm>
          <a:prstGeom prst="rect">
            <a:avLst/>
          </a:prstGeom>
          <a:noFill/>
          <a:ln/>
        </p:spPr>
        <p:txBody>
          <a:bodyPr wrap="square" lIns="0" tIns="0" rIns="0" bIns="0" rtlCol="0" anchor="ctr"/>
          <a:lstStyle/>
          <a:p>
            <a:pPr algn="ctr" indent="0" marL="0">
              <a:buNone/>
            </a:pPr>
            <a:r>
              <a:rPr lang="en-US" sz="1500" b="1" dirty="0">
                <a:solidFill>
                  <a:srgbClr val="2E1616"/>
                </a:solidFill>
              </a:rPr>
              <a:t>Jadwal keberangkatan dan kru</a:t>
            </a:r>
            <a:endParaRPr lang="en-US" sz="1500" dirty="0"/>
          </a:p>
        </p:txBody>
      </p:sp>
      <p:sp>
        <p:nvSpPr>
          <p:cNvPr id="15" name="text"/>
          <p:cNvSpPr txBox="1"/>
          <p:nvPr/>
        </p:nvSpPr>
        <p:spPr>
          <a:xfrm>
            <a:off x="4521098" y="4389120"/>
            <a:ext cx="3149498" cy="1280160"/>
          </a:xfrm>
          <a:prstGeom prst="rect">
            <a:avLst/>
          </a:prstGeom>
          <a:noFill/>
          <a:ln/>
        </p:spPr>
        <p:txBody>
          <a:bodyPr wrap="square" lIns="0" tIns="0" rIns="0" bIns="0" rtlCol="0" anchor="t"/>
          <a:lstStyle/>
          <a:p>
            <a:pPr algn="ctr" indent="0" marL="0">
              <a:buNone/>
            </a:pPr>
            <a:r>
              <a:rPr lang="en-US" sz="1150" dirty="0">
                <a:solidFill>
                  <a:srgbClr val="2E1616"/>
                </a:solidFill>
              </a:rPr>
              <a:t>Lebih dari 4.500 pilot dan awak kabin dijadwalkan dengan program komputer besar, tunduk pada batas jam tugas FAA, kontrak serikat, dan </a:t>
            </a:r>
            <a:r>
              <a:rPr lang="en-US" sz="1150" i="1" dirty="0">
                <a:solidFill>
                  <a:srgbClr val="2E1616"/>
                </a:solidFill>
              </a:rPr>
              <a:t>preferential bidding system</a:t>
            </a:r>
            <a:r>
              <a:rPr lang="en-US" sz="1150" dirty="0">
                <a:solidFill>
                  <a:srgbClr val="2E1616"/>
                </a:solidFill>
              </a:rPr>
              <a:t>.</a:t>
            </a:r>
            <a:endParaRPr lang="en-US" sz="1150" dirty="0"/>
          </a:p>
        </p:txBody>
      </p:sp>
      <p:pic>
        <p:nvPicPr>
          <p:cNvPr id="16" name="Gate, tiket, dan katering" descr="/tmp/claude-0/-home-user-Dom-Manipulation/385e5267-c23e-5c04-80f5-d5fb4946a902/scratchpad/build/img2/c_crew.png">    </p:cNvPr>
          <p:cNvPicPr>
            <a:picLocks noChangeAspect="1"/>
          </p:cNvPicPr>
          <p:nvPr/>
        </p:nvPicPr>
        <p:blipFill>
          <a:blip r:embed="rId3"/>
          <a:stretch>
            <a:fillRect/>
          </a:stretch>
        </p:blipFill>
        <p:spPr>
          <a:xfrm>
            <a:off x="8788146" y="1554480"/>
            <a:ext cx="1828800" cy="1828800"/>
          </a:xfrm>
          <a:prstGeom prst="rect">
            <a:avLst/>
          </a:prstGeom>
        </p:spPr>
      </p:pic>
      <p:sp>
        <p:nvSpPr>
          <p:cNvPr id="17" name="pill"/>
          <p:cNvSpPr/>
          <p:nvPr/>
        </p:nvSpPr>
        <p:spPr>
          <a:xfrm>
            <a:off x="9153906" y="3520440"/>
            <a:ext cx="1097280" cy="292608"/>
          </a:xfrm>
          <a:prstGeom prst="roundRect">
            <a:avLst>
              <a:gd name="adj" fmla="val 50000"/>
            </a:avLst>
          </a:prstGeom>
          <a:solidFill>
            <a:srgbClr val="4F2D2C"/>
          </a:solidFill>
          <a:ln w="3175">
            <a:solidFill>
              <a:srgbClr val="4F2D2C"/>
            </a:solidFill>
            <a:prstDash val="solid"/>
          </a:ln>
        </p:spPr>
      </p:sp>
      <p:sp>
        <p:nvSpPr>
          <p:cNvPr id="18" name="pill label"/>
          <p:cNvSpPr txBox="1"/>
          <p:nvPr/>
        </p:nvSpPr>
        <p:spPr>
          <a:xfrm>
            <a:off x="9153906" y="3520440"/>
            <a:ext cx="1097280" cy="292608"/>
          </a:xfrm>
          <a:prstGeom prst="rect">
            <a:avLst/>
          </a:prstGeom>
          <a:noFill/>
          <a:ln/>
        </p:spPr>
        <p:txBody>
          <a:bodyPr wrap="square" lIns="0" tIns="0" rIns="0" bIns="0" rtlCol="0" anchor="ctr"/>
          <a:lstStyle/>
          <a:p>
            <a:pPr algn="ctr" indent="0" marL="0">
              <a:buNone/>
            </a:pPr>
            <a:r>
              <a:rPr lang="en-US" sz="1000" b="1" dirty="0">
                <a:solidFill>
                  <a:srgbClr val="FFFFFF"/>
                </a:solidFill>
              </a:rPr>
              <a:t>Objek 03</a:t>
            </a:r>
            <a:endParaRPr lang="en-US" sz="1000" dirty="0"/>
          </a:p>
        </p:txBody>
      </p:sp>
      <p:sp>
        <p:nvSpPr>
          <p:cNvPr id="19" name="text"/>
          <p:cNvSpPr txBox="1"/>
          <p:nvPr/>
        </p:nvSpPr>
        <p:spPr>
          <a:xfrm>
            <a:off x="8036357" y="3931920"/>
            <a:ext cx="3332378" cy="411480"/>
          </a:xfrm>
          <a:prstGeom prst="rect">
            <a:avLst/>
          </a:prstGeom>
          <a:noFill/>
          <a:ln/>
        </p:spPr>
        <p:txBody>
          <a:bodyPr wrap="square" lIns="0" tIns="0" rIns="0" bIns="0" rtlCol="0" anchor="ctr"/>
          <a:lstStyle/>
          <a:p>
            <a:pPr algn="ctr" indent="0" marL="0">
              <a:buNone/>
            </a:pPr>
            <a:r>
              <a:rPr lang="en-US" sz="1500" b="1" dirty="0">
                <a:solidFill>
                  <a:srgbClr val="2E1616"/>
                </a:solidFill>
              </a:rPr>
              <a:t>Gate, tiket, dan katering</a:t>
            </a:r>
            <a:endParaRPr lang="en-US" sz="1500" dirty="0"/>
          </a:p>
        </p:txBody>
      </p:sp>
      <p:sp>
        <p:nvSpPr>
          <p:cNvPr id="20" name="text"/>
          <p:cNvSpPr txBox="1"/>
          <p:nvPr/>
        </p:nvSpPr>
        <p:spPr>
          <a:xfrm>
            <a:off x="8127797" y="4389120"/>
            <a:ext cx="3149498" cy="1280160"/>
          </a:xfrm>
          <a:prstGeom prst="rect">
            <a:avLst/>
          </a:prstGeom>
          <a:noFill/>
          <a:ln/>
        </p:spPr>
        <p:txBody>
          <a:bodyPr wrap="square" lIns="0" tIns="0" rIns="0" bIns="0" rtlCol="0" anchor="t"/>
          <a:lstStyle/>
          <a:p>
            <a:pPr algn="ctr" indent="0" marL="0">
              <a:buNone/>
            </a:pPr>
            <a:r>
              <a:rPr lang="en-US" sz="1150" dirty="0">
                <a:solidFill>
                  <a:srgbClr val="2E1616"/>
                </a:solidFill>
              </a:rPr>
              <a:t>Personel </a:t>
            </a:r>
            <a:r>
              <a:rPr lang="en-US" sz="1150" i="1" dirty="0">
                <a:solidFill>
                  <a:srgbClr val="2E1616"/>
                </a:solidFill>
              </a:rPr>
              <a:t>gate</a:t>
            </a:r>
            <a:r>
              <a:rPr lang="en-US" sz="1150" dirty="0">
                <a:solidFill>
                  <a:srgbClr val="2E1616"/>
                </a:solidFill>
              </a:rPr>
              <a:t> dan tiket, katering, serta </a:t>
            </a:r>
            <a:r>
              <a:rPr lang="en-US" sz="1150" i="1" dirty="0">
                <a:solidFill>
                  <a:srgbClr val="2E1616"/>
                </a:solidFill>
              </a:rPr>
              <a:t>deicing</a:t>
            </a:r>
            <a:r>
              <a:rPr lang="en-US" sz="1150" dirty="0">
                <a:solidFill>
                  <a:srgbClr val="2E1616"/>
                </a:solidFill>
              </a:rPr>
              <a:t> yang kebutuhannya berubah menurut hari, jam, dan cuaca; dijadwalkan dengan pola siklis.</a:t>
            </a:r>
            <a:endParaRPr lang="en-US" sz="1150" dirty="0"/>
          </a:p>
        </p:txBody>
      </p:sp>
      <p:sp>
        <p:nvSpPr>
          <p:cNvPr id="21" name="text"/>
          <p:cNvSpPr txBox="1"/>
          <p:nvPr/>
        </p:nvSpPr>
        <p:spPr>
          <a:xfrm>
            <a:off x="822960" y="5715000"/>
            <a:ext cx="10545775" cy="411480"/>
          </a:xfrm>
          <a:prstGeom prst="rect">
            <a:avLst/>
          </a:prstGeom>
          <a:noFill/>
          <a:ln/>
        </p:spPr>
        <p:txBody>
          <a:bodyPr wrap="square" lIns="0" tIns="0" rIns="0" bIns="0" rtlCol="0" anchor="t"/>
          <a:lstStyle/>
          <a:p>
            <a:pPr algn="ctr" indent="0" marL="0">
              <a:buNone/>
            </a:pPr>
            <a:r>
              <a:rPr lang="en-US" sz="1100" i="1" dirty="0">
                <a:solidFill>
                  <a:srgbClr val="6E5A5A"/>
                </a:solidFill>
              </a:rPr>
              <a:t>Ketiganya saling terkait: perubahan satu jadwal merambat ke dua lainnya dan ke puluhan bandara (</a:t>
            </a:r>
            <a:r>
              <a:rPr lang="en-US" sz="1100" i="1" dirty="0">
                <a:solidFill>
                  <a:srgbClr val="6E5A5A"/>
                </a:solidFill>
              </a:rPr>
              <a:t>ripple effect</a:t>
            </a:r>
            <a:r>
              <a:rPr lang="en-US" sz="1100" i="1" dirty="0">
                <a:solidFill>
                  <a:srgbClr val="6E5A5A"/>
                </a:solidFill>
              </a:rPr>
              <a:t>). Sumber: Heizer et al. (2017), Tabel 15.1.</a:t>
            </a:r>
            <a:endParaRPr lang="en-US" sz="1100" dirty="0"/>
          </a:p>
        </p:txBody>
      </p:sp>
      <p:sp>
        <p:nvSpPr>
          <p:cNvPr id="25" name="Slide Number Placeholder 0"/>
          <p:cNvSpPr>
            <a:spLocks noGrp="1"/>
          </p:cNvSpPr>
          <p:nvPr>
            <p:ph type="sldNum" sz="quarter" idx="4294967295"/>
          </p:nvPr>
        </p:nvSpPr>
        <p:spPr>
          <a:xfrm>
            <a:off x="11247120" y="6446520"/>
            <a:ext cx="39319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4F2D2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algn="l" indent="0" marL="0">
              <a:buNone/>
            </a:pPr>
            <a:r>
              <a:rPr lang="en-US" sz="2800" b="1" dirty="0">
                <a:solidFill>
                  <a:srgbClr val="2E1616"/>
                </a:solidFill>
              </a:rPr>
              <a:t>Satu Hari Badai di Seattle: Jadwal Direvisi Lima Kali</a:t>
            </a:r>
            <a:endParaRPr lang="en-US" sz="2800" dirty="0"/>
          </a:p>
        </p:txBody>
      </p:sp>
      <p:sp>
        <p:nvSpPr>
          <p:cNvPr id="4" name="title circle"/>
          <p:cNvSpPr/>
          <p:nvPr/>
        </p:nvSpPr>
        <p:spPr>
          <a:xfrm>
            <a:off x="347472" y="384048"/>
            <a:ext cx="1207008" cy="786384"/>
          </a:xfrm>
          <a:prstGeom prst="ellipse">
            <a:avLst/>
          </a:prstGeom>
          <a:solidFill>
            <a:srgbClr val="B3D9FE">
              <a:alpha val="0"/>
            </a:srgbClr>
          </a:solidFill>
          <a:ln w="28575">
            <a:solidFill>
              <a:srgbClr val="3B8BE0"/>
            </a:solidFill>
            <a:prstDash val="solid"/>
          </a:ln>
        </p:spPr>
      </p:sp>
      <p:sp>
        <p:nvSpPr>
          <p:cNvPr id="5" name="line"/>
          <p:cNvSpPr/>
          <p:nvPr/>
        </p:nvSpPr>
        <p:spPr>
          <a:xfrm>
            <a:off x="1584930" y="1572768"/>
            <a:ext cx="9021836" cy="0"/>
          </a:xfrm>
          <a:prstGeom prst="line">
            <a:avLst/>
          </a:prstGeom>
          <a:noFill/>
          <a:ln w="25400">
            <a:solidFill>
              <a:srgbClr val="3B8BE0"/>
            </a:solidFill>
            <a:prstDash val="solid"/>
          </a:ln>
        </p:spPr>
      </p:sp>
      <p:sp>
        <p:nvSpPr>
          <p:cNvPr id="6" name="dot"/>
          <p:cNvSpPr/>
          <p:nvPr/>
        </p:nvSpPr>
        <p:spPr>
          <a:xfrm>
            <a:off x="1493490" y="1481328"/>
            <a:ext cx="182880" cy="182880"/>
          </a:xfrm>
          <a:prstGeom prst="ellipse">
            <a:avLst/>
          </a:prstGeom>
          <a:solidFill>
            <a:srgbClr val="3B8BE0"/>
          </a:solidFill>
          <a:ln w="3175">
            <a:solidFill>
              <a:srgbClr val="3B8BE0"/>
            </a:solidFill>
            <a:prstDash val="solid"/>
          </a:ln>
        </p:spPr>
      </p:sp>
      <p:sp>
        <p:nvSpPr>
          <p:cNvPr id="7" name="card"/>
          <p:cNvSpPr/>
          <p:nvPr/>
        </p:nvSpPr>
        <p:spPr>
          <a:xfrm>
            <a:off x="548640" y="1874520"/>
            <a:ext cx="2072579" cy="2743200"/>
          </a:xfrm>
          <a:prstGeom prst="roundRect">
            <a:avLst>
              <a:gd name="adj" fmla="val 8824"/>
            </a:avLst>
          </a:prstGeom>
          <a:solidFill>
            <a:srgbClr val="F5F2EB"/>
          </a:solidFill>
          <a:ln w="3175">
            <a:solidFill>
              <a:srgbClr val="F5F2EB"/>
            </a:solidFill>
            <a:prstDash val="solid"/>
          </a:ln>
        </p:spPr>
      </p:sp>
      <p:sp>
        <p:nvSpPr>
          <p:cNvPr id="8" name="pill"/>
          <p:cNvSpPr/>
          <p:nvPr/>
        </p:nvSpPr>
        <p:spPr>
          <a:xfrm>
            <a:off x="1127730" y="1719072"/>
            <a:ext cx="914400" cy="310896"/>
          </a:xfrm>
          <a:prstGeom prst="roundRect">
            <a:avLst>
              <a:gd name="adj" fmla="val 50000"/>
            </a:avLst>
          </a:prstGeom>
          <a:solidFill>
            <a:srgbClr val="4F2D2C"/>
          </a:solidFill>
          <a:ln w="3175">
            <a:solidFill>
              <a:srgbClr val="4F2D2C"/>
            </a:solidFill>
            <a:prstDash val="solid"/>
          </a:ln>
        </p:spPr>
      </p:sp>
      <p:sp>
        <p:nvSpPr>
          <p:cNvPr id="9" name="pill label"/>
          <p:cNvSpPr txBox="1"/>
          <p:nvPr/>
        </p:nvSpPr>
        <p:spPr>
          <a:xfrm>
            <a:off x="1127730" y="1719072"/>
            <a:ext cx="914400" cy="310896"/>
          </a:xfrm>
          <a:prstGeom prst="rect">
            <a:avLst/>
          </a:prstGeom>
          <a:noFill/>
          <a:ln/>
        </p:spPr>
        <p:txBody>
          <a:bodyPr wrap="square" lIns="0" tIns="0" rIns="0" bIns="0" rtlCol="0" anchor="ctr"/>
          <a:lstStyle/>
          <a:p>
            <a:pPr algn="ctr" indent="0" marL="0">
              <a:buNone/>
            </a:pPr>
            <a:r>
              <a:rPr lang="en-US" sz="1100" b="1" dirty="0">
                <a:solidFill>
                  <a:srgbClr val="FFFFFF"/>
                </a:solidFill>
              </a:rPr>
              <a:t>04.00</a:t>
            </a:r>
            <a:endParaRPr lang="en-US" sz="1100" dirty="0"/>
          </a:p>
        </p:txBody>
      </p:sp>
      <p:sp>
        <p:nvSpPr>
          <p:cNvPr id="10" name="text"/>
          <p:cNvSpPr txBox="1"/>
          <p:nvPr/>
        </p:nvSpPr>
        <p:spPr>
          <a:xfrm>
            <a:off x="731520" y="2194560"/>
            <a:ext cx="1706819" cy="256032"/>
          </a:xfrm>
          <a:prstGeom prst="rect">
            <a:avLst/>
          </a:prstGeom>
          <a:noFill/>
          <a:ln/>
        </p:spPr>
        <p:txBody>
          <a:bodyPr wrap="square" lIns="0" tIns="0" rIns="0" bIns="0" rtlCol="0" anchor="t"/>
          <a:lstStyle/>
          <a:p>
            <a:pPr algn="l" indent="0" marL="0">
              <a:buNone/>
            </a:pPr>
            <a:r>
              <a:rPr lang="en-US" sz="1050" b="1" dirty="0">
                <a:solidFill>
                  <a:srgbClr val="3B8BE0"/>
                </a:solidFill>
              </a:rPr>
              <a:t>Prakiraan</a:t>
            </a:r>
            <a:endParaRPr lang="en-US" sz="1050" dirty="0"/>
          </a:p>
        </p:txBody>
      </p:sp>
      <p:sp>
        <p:nvSpPr>
          <p:cNvPr id="11" name="text"/>
          <p:cNvSpPr txBox="1"/>
          <p:nvPr/>
        </p:nvSpPr>
        <p:spPr>
          <a:xfrm>
            <a:off x="731520" y="2450592"/>
            <a:ext cx="1706819" cy="685800"/>
          </a:xfrm>
          <a:prstGeom prst="rect">
            <a:avLst/>
          </a:prstGeom>
          <a:noFill/>
          <a:ln/>
        </p:spPr>
        <p:txBody>
          <a:bodyPr wrap="square" lIns="0" tIns="0" rIns="0" bIns="0" rtlCol="0" anchor="t"/>
          <a:lstStyle/>
          <a:p>
            <a:pPr algn="l" indent="0" marL="0">
              <a:buNone/>
            </a:pPr>
            <a:r>
              <a:rPr lang="en-US" sz="1100" dirty="0">
                <a:solidFill>
                  <a:srgbClr val="2E1616"/>
                </a:solidFill>
              </a:rPr>
              <a:t>Hujan dengan kemungkinan salju ringan.</a:t>
            </a:r>
            <a:endParaRPr lang="en-US" sz="1100" dirty="0"/>
          </a:p>
        </p:txBody>
      </p:sp>
      <p:sp>
        <p:nvSpPr>
          <p:cNvPr id="12" name="text"/>
          <p:cNvSpPr txBox="1"/>
          <p:nvPr/>
        </p:nvSpPr>
        <p:spPr>
          <a:xfrm>
            <a:off x="731520" y="3154680"/>
            <a:ext cx="1706819" cy="256032"/>
          </a:xfrm>
          <a:prstGeom prst="rect">
            <a:avLst/>
          </a:prstGeom>
          <a:noFill/>
          <a:ln/>
        </p:spPr>
        <p:txBody>
          <a:bodyPr wrap="square" lIns="0" tIns="0" rIns="0" bIns="0" rtlCol="0" anchor="t"/>
          <a:lstStyle/>
          <a:p>
            <a:pPr algn="l" indent="0" marL="0">
              <a:buNone/>
            </a:pPr>
            <a:r>
              <a:rPr lang="en-US" sz="1050" b="1" dirty="0">
                <a:solidFill>
                  <a:srgbClr val="E9815E"/>
                </a:solidFill>
              </a:rPr>
              <a:t>Tindakan</a:t>
            </a:r>
            <a:endParaRPr lang="en-US" sz="1050" dirty="0"/>
          </a:p>
        </p:txBody>
      </p:sp>
      <p:sp>
        <p:nvSpPr>
          <p:cNvPr id="13" name="text"/>
          <p:cNvSpPr txBox="1"/>
          <p:nvPr/>
        </p:nvSpPr>
        <p:spPr>
          <a:xfrm>
            <a:off x="731520" y="3410712"/>
            <a:ext cx="1706819" cy="1143000"/>
          </a:xfrm>
          <a:prstGeom prst="rect">
            <a:avLst/>
          </a:prstGeom>
          <a:noFill/>
          <a:ln/>
        </p:spPr>
        <p:txBody>
          <a:bodyPr wrap="square" lIns="0" tIns="0" rIns="0" bIns="0" rtlCol="0" anchor="t"/>
          <a:lstStyle/>
          <a:p>
            <a:pPr algn="l" indent="0" marL="0">
              <a:buNone/>
            </a:pPr>
            <a:r>
              <a:rPr lang="en-US" sz="1100" dirty="0">
                <a:solidFill>
                  <a:srgbClr val="2E1616"/>
                </a:solidFill>
              </a:rPr>
              <a:t>Membahas status pesawat dan kemungkinan kebutuhan pembatalan.</a:t>
            </a:r>
            <a:endParaRPr lang="en-US" sz="1100" dirty="0"/>
          </a:p>
        </p:txBody>
      </p:sp>
      <p:sp>
        <p:nvSpPr>
          <p:cNvPr id="14" name="dot"/>
          <p:cNvSpPr/>
          <p:nvPr/>
        </p:nvSpPr>
        <p:spPr>
          <a:xfrm>
            <a:off x="3748949" y="1481328"/>
            <a:ext cx="182880" cy="182880"/>
          </a:xfrm>
          <a:prstGeom prst="ellipse">
            <a:avLst/>
          </a:prstGeom>
          <a:solidFill>
            <a:srgbClr val="3B8BE0"/>
          </a:solidFill>
          <a:ln w="3175">
            <a:solidFill>
              <a:srgbClr val="3B8BE0"/>
            </a:solidFill>
            <a:prstDash val="solid"/>
          </a:ln>
        </p:spPr>
      </p:sp>
      <p:sp>
        <p:nvSpPr>
          <p:cNvPr id="15" name="card"/>
          <p:cNvSpPr/>
          <p:nvPr/>
        </p:nvSpPr>
        <p:spPr>
          <a:xfrm>
            <a:off x="2804099" y="1874520"/>
            <a:ext cx="2072579" cy="2743200"/>
          </a:xfrm>
          <a:prstGeom prst="roundRect">
            <a:avLst>
              <a:gd name="adj" fmla="val 8824"/>
            </a:avLst>
          </a:prstGeom>
          <a:solidFill>
            <a:srgbClr val="F5F2EB"/>
          </a:solidFill>
          <a:ln w="3175">
            <a:solidFill>
              <a:srgbClr val="F5F2EB"/>
            </a:solidFill>
            <a:prstDash val="solid"/>
          </a:ln>
        </p:spPr>
      </p:sp>
      <p:sp>
        <p:nvSpPr>
          <p:cNvPr id="16" name="pill"/>
          <p:cNvSpPr/>
          <p:nvPr/>
        </p:nvSpPr>
        <p:spPr>
          <a:xfrm>
            <a:off x="3383189" y="1719072"/>
            <a:ext cx="914400" cy="310896"/>
          </a:xfrm>
          <a:prstGeom prst="roundRect">
            <a:avLst>
              <a:gd name="adj" fmla="val 50000"/>
            </a:avLst>
          </a:prstGeom>
          <a:solidFill>
            <a:srgbClr val="4F2D2C"/>
          </a:solidFill>
          <a:ln w="3175">
            <a:solidFill>
              <a:srgbClr val="4F2D2C"/>
            </a:solidFill>
            <a:prstDash val="solid"/>
          </a:ln>
        </p:spPr>
      </p:sp>
      <p:sp>
        <p:nvSpPr>
          <p:cNvPr id="17" name="pill label"/>
          <p:cNvSpPr txBox="1"/>
          <p:nvPr/>
        </p:nvSpPr>
        <p:spPr>
          <a:xfrm>
            <a:off x="3383189" y="1719072"/>
            <a:ext cx="914400" cy="310896"/>
          </a:xfrm>
          <a:prstGeom prst="rect">
            <a:avLst/>
          </a:prstGeom>
          <a:noFill/>
          <a:ln/>
        </p:spPr>
        <p:txBody>
          <a:bodyPr wrap="square" lIns="0" tIns="0" rIns="0" bIns="0" rtlCol="0" anchor="ctr"/>
          <a:lstStyle/>
          <a:p>
            <a:pPr algn="ctr" indent="0" marL="0">
              <a:buNone/>
            </a:pPr>
            <a:r>
              <a:rPr lang="en-US" sz="1100" b="1" dirty="0">
                <a:solidFill>
                  <a:srgbClr val="FFFFFF"/>
                </a:solidFill>
              </a:rPr>
              <a:t>10.00</a:t>
            </a:r>
            <a:endParaRPr lang="en-US" sz="1100" dirty="0"/>
          </a:p>
        </p:txBody>
      </p:sp>
      <p:sp>
        <p:nvSpPr>
          <p:cNvPr id="18" name="text"/>
          <p:cNvSpPr txBox="1"/>
          <p:nvPr/>
        </p:nvSpPr>
        <p:spPr>
          <a:xfrm>
            <a:off x="2986979" y="2194560"/>
            <a:ext cx="1706819" cy="256032"/>
          </a:xfrm>
          <a:prstGeom prst="rect">
            <a:avLst/>
          </a:prstGeom>
          <a:noFill/>
          <a:ln/>
        </p:spPr>
        <p:txBody>
          <a:bodyPr wrap="square" lIns="0" tIns="0" rIns="0" bIns="0" rtlCol="0" anchor="t"/>
          <a:lstStyle/>
          <a:p>
            <a:pPr algn="l" indent="0" marL="0">
              <a:buNone/>
            </a:pPr>
            <a:r>
              <a:rPr lang="en-US" sz="1050" b="1" dirty="0">
                <a:solidFill>
                  <a:srgbClr val="3B8BE0"/>
                </a:solidFill>
              </a:rPr>
              <a:t>Prakiraan</a:t>
            </a:r>
            <a:endParaRPr lang="en-US" sz="1050" dirty="0"/>
          </a:p>
        </p:txBody>
      </p:sp>
      <p:sp>
        <p:nvSpPr>
          <p:cNvPr id="19" name="text"/>
          <p:cNvSpPr txBox="1"/>
          <p:nvPr/>
        </p:nvSpPr>
        <p:spPr>
          <a:xfrm>
            <a:off x="2986979" y="2450592"/>
            <a:ext cx="1706819" cy="685800"/>
          </a:xfrm>
          <a:prstGeom prst="rect">
            <a:avLst/>
          </a:prstGeom>
          <a:noFill/>
          <a:ln/>
        </p:spPr>
        <p:txBody>
          <a:bodyPr wrap="square" lIns="0" tIns="0" rIns="0" bIns="0" rtlCol="0" anchor="t"/>
          <a:lstStyle/>
          <a:p>
            <a:pPr algn="l" indent="0" marL="0">
              <a:buNone/>
            </a:pPr>
            <a:r>
              <a:rPr lang="en-US" sz="1100" dirty="0">
                <a:solidFill>
                  <a:srgbClr val="2E1616"/>
                </a:solidFill>
              </a:rPr>
              <a:t>Hujan beku setelah pukul 17.00.</a:t>
            </a:r>
            <a:endParaRPr lang="en-US" sz="1100" dirty="0"/>
          </a:p>
        </p:txBody>
      </p:sp>
      <p:sp>
        <p:nvSpPr>
          <p:cNvPr id="20" name="text"/>
          <p:cNvSpPr txBox="1"/>
          <p:nvPr/>
        </p:nvSpPr>
        <p:spPr>
          <a:xfrm>
            <a:off x="2986979" y="3154680"/>
            <a:ext cx="1706819" cy="256032"/>
          </a:xfrm>
          <a:prstGeom prst="rect">
            <a:avLst/>
          </a:prstGeom>
          <a:noFill/>
          <a:ln/>
        </p:spPr>
        <p:txBody>
          <a:bodyPr wrap="square" lIns="0" tIns="0" rIns="0" bIns="0" rtlCol="0" anchor="t"/>
          <a:lstStyle/>
          <a:p>
            <a:pPr algn="l" indent="0" marL="0">
              <a:buNone/>
            </a:pPr>
            <a:r>
              <a:rPr lang="en-US" sz="1050" b="1" dirty="0">
                <a:solidFill>
                  <a:srgbClr val="E9815E"/>
                </a:solidFill>
              </a:rPr>
              <a:t>Tindakan</a:t>
            </a:r>
            <a:endParaRPr lang="en-US" sz="1050" dirty="0"/>
          </a:p>
        </p:txBody>
      </p:sp>
      <p:sp>
        <p:nvSpPr>
          <p:cNvPr id="21" name="text"/>
          <p:cNvSpPr txBox="1"/>
          <p:nvPr/>
        </p:nvSpPr>
        <p:spPr>
          <a:xfrm>
            <a:off x="2986979" y="3410712"/>
            <a:ext cx="1706819" cy="1143000"/>
          </a:xfrm>
          <a:prstGeom prst="rect">
            <a:avLst/>
          </a:prstGeom>
          <a:noFill/>
          <a:ln/>
        </p:spPr>
        <p:txBody>
          <a:bodyPr wrap="square" lIns="0" tIns="0" rIns="0" bIns="0" rtlCol="0" anchor="t"/>
          <a:lstStyle/>
          <a:p>
            <a:pPr algn="l" indent="0" marL="0">
              <a:buNone/>
            </a:pPr>
            <a:r>
              <a:rPr lang="en-US" sz="1100" dirty="0">
                <a:solidFill>
                  <a:srgbClr val="2E1616"/>
                </a:solidFill>
              </a:rPr>
              <a:t>Menyiapkan truk </a:t>
            </a:r>
            <a:r>
              <a:rPr lang="en-US" sz="1100" i="1" dirty="0">
                <a:solidFill>
                  <a:srgbClr val="2E1616"/>
                </a:solidFill>
              </a:rPr>
              <a:t>deicing</a:t>
            </a:r>
            <a:r>
              <a:rPr lang="en-US" sz="1100" dirty="0">
                <a:solidFill>
                  <a:srgbClr val="2E1616"/>
                </a:solidFill>
              </a:rPr>
              <a:t>; menyusun rencana pembatalan 50–80% penerbangan setelah pukul 18.00.</a:t>
            </a:r>
            <a:endParaRPr lang="en-US" sz="1100" dirty="0"/>
          </a:p>
        </p:txBody>
      </p:sp>
      <p:sp>
        <p:nvSpPr>
          <p:cNvPr id="22" name="dot"/>
          <p:cNvSpPr/>
          <p:nvPr/>
        </p:nvSpPr>
        <p:spPr>
          <a:xfrm>
            <a:off x="6004408" y="1481328"/>
            <a:ext cx="182880" cy="182880"/>
          </a:xfrm>
          <a:prstGeom prst="ellipse">
            <a:avLst/>
          </a:prstGeom>
          <a:solidFill>
            <a:srgbClr val="3B8BE0"/>
          </a:solidFill>
          <a:ln w="3175">
            <a:solidFill>
              <a:srgbClr val="3B8BE0"/>
            </a:solidFill>
            <a:prstDash val="solid"/>
          </a:ln>
        </p:spPr>
      </p:sp>
      <p:sp>
        <p:nvSpPr>
          <p:cNvPr id="23" name="card"/>
          <p:cNvSpPr/>
          <p:nvPr/>
        </p:nvSpPr>
        <p:spPr>
          <a:xfrm>
            <a:off x="5059558" y="1874520"/>
            <a:ext cx="2072579" cy="2743200"/>
          </a:xfrm>
          <a:prstGeom prst="roundRect">
            <a:avLst>
              <a:gd name="adj" fmla="val 8824"/>
            </a:avLst>
          </a:prstGeom>
          <a:solidFill>
            <a:srgbClr val="F5F2EB"/>
          </a:solidFill>
          <a:ln w="3175">
            <a:solidFill>
              <a:srgbClr val="F5F2EB"/>
            </a:solidFill>
            <a:prstDash val="solid"/>
          </a:ln>
        </p:spPr>
      </p:sp>
      <p:sp>
        <p:nvSpPr>
          <p:cNvPr id="24" name="pill"/>
          <p:cNvSpPr/>
          <p:nvPr/>
        </p:nvSpPr>
        <p:spPr>
          <a:xfrm>
            <a:off x="5638648" y="1719072"/>
            <a:ext cx="914400" cy="310896"/>
          </a:xfrm>
          <a:prstGeom prst="roundRect">
            <a:avLst>
              <a:gd name="adj" fmla="val 50000"/>
            </a:avLst>
          </a:prstGeom>
          <a:solidFill>
            <a:srgbClr val="4F2D2C"/>
          </a:solidFill>
          <a:ln w="3175">
            <a:solidFill>
              <a:srgbClr val="4F2D2C"/>
            </a:solidFill>
            <a:prstDash val="solid"/>
          </a:ln>
        </p:spPr>
      </p:sp>
      <p:sp>
        <p:nvSpPr>
          <p:cNvPr id="25" name="pill label"/>
          <p:cNvSpPr txBox="1"/>
          <p:nvPr/>
        </p:nvSpPr>
        <p:spPr>
          <a:xfrm>
            <a:off x="5638648" y="1719072"/>
            <a:ext cx="914400" cy="310896"/>
          </a:xfrm>
          <a:prstGeom prst="rect">
            <a:avLst/>
          </a:prstGeom>
          <a:noFill/>
          <a:ln/>
        </p:spPr>
        <p:txBody>
          <a:bodyPr wrap="square" lIns="0" tIns="0" rIns="0" bIns="0" rtlCol="0" anchor="ctr"/>
          <a:lstStyle/>
          <a:p>
            <a:pPr algn="ctr" indent="0" marL="0">
              <a:buNone/>
            </a:pPr>
            <a:r>
              <a:rPr lang="en-US" sz="1100" b="1" dirty="0">
                <a:solidFill>
                  <a:srgbClr val="FFFFFF"/>
                </a:solidFill>
              </a:rPr>
              <a:t>13.30</a:t>
            </a:r>
            <a:endParaRPr lang="en-US" sz="1100" dirty="0"/>
          </a:p>
        </p:txBody>
      </p:sp>
      <p:sp>
        <p:nvSpPr>
          <p:cNvPr id="26" name="text"/>
          <p:cNvSpPr txBox="1"/>
          <p:nvPr/>
        </p:nvSpPr>
        <p:spPr>
          <a:xfrm>
            <a:off x="5242438" y="2194560"/>
            <a:ext cx="1706819" cy="256032"/>
          </a:xfrm>
          <a:prstGeom prst="rect">
            <a:avLst/>
          </a:prstGeom>
          <a:noFill/>
          <a:ln/>
        </p:spPr>
        <p:txBody>
          <a:bodyPr wrap="square" lIns="0" tIns="0" rIns="0" bIns="0" rtlCol="0" anchor="t"/>
          <a:lstStyle/>
          <a:p>
            <a:pPr algn="l" indent="0" marL="0">
              <a:buNone/>
            </a:pPr>
            <a:r>
              <a:rPr lang="en-US" sz="1050" b="1" dirty="0">
                <a:solidFill>
                  <a:srgbClr val="3B8BE0"/>
                </a:solidFill>
              </a:rPr>
              <a:t>Prakiraan</a:t>
            </a:r>
            <a:endParaRPr lang="en-US" sz="1050" dirty="0"/>
          </a:p>
        </p:txBody>
      </p:sp>
      <p:sp>
        <p:nvSpPr>
          <p:cNvPr id="27" name="text"/>
          <p:cNvSpPr txBox="1"/>
          <p:nvPr/>
        </p:nvSpPr>
        <p:spPr>
          <a:xfrm>
            <a:off x="5242438" y="2450592"/>
            <a:ext cx="1706819" cy="685800"/>
          </a:xfrm>
          <a:prstGeom prst="rect">
            <a:avLst/>
          </a:prstGeom>
          <a:noFill/>
          <a:ln/>
        </p:spPr>
        <p:txBody>
          <a:bodyPr wrap="square" lIns="0" tIns="0" rIns="0" bIns="0" rtlCol="0" anchor="t"/>
          <a:lstStyle/>
          <a:p>
            <a:pPr algn="l" indent="0" marL="0">
              <a:buNone/>
            </a:pPr>
            <a:r>
              <a:rPr lang="en-US" sz="1100" dirty="0">
                <a:solidFill>
                  <a:srgbClr val="2E1616"/>
                </a:solidFill>
              </a:rPr>
              <a:t>Hujan berubah menjadi salju.</a:t>
            </a:r>
            <a:endParaRPr lang="en-US" sz="1100" dirty="0"/>
          </a:p>
        </p:txBody>
      </p:sp>
      <p:sp>
        <p:nvSpPr>
          <p:cNvPr id="28" name="text"/>
          <p:cNvSpPr txBox="1"/>
          <p:nvPr/>
        </p:nvSpPr>
        <p:spPr>
          <a:xfrm>
            <a:off x="5242438" y="3154680"/>
            <a:ext cx="1706819" cy="256032"/>
          </a:xfrm>
          <a:prstGeom prst="rect">
            <a:avLst/>
          </a:prstGeom>
          <a:noFill/>
          <a:ln/>
        </p:spPr>
        <p:txBody>
          <a:bodyPr wrap="square" lIns="0" tIns="0" rIns="0" bIns="0" rtlCol="0" anchor="t"/>
          <a:lstStyle/>
          <a:p>
            <a:pPr algn="l" indent="0" marL="0">
              <a:buNone/>
            </a:pPr>
            <a:r>
              <a:rPr lang="en-US" sz="1050" b="1" dirty="0">
                <a:solidFill>
                  <a:srgbClr val="E9815E"/>
                </a:solidFill>
              </a:rPr>
              <a:t>Tindakan</a:t>
            </a:r>
            <a:endParaRPr lang="en-US" sz="1050" dirty="0"/>
          </a:p>
        </p:txBody>
      </p:sp>
      <p:sp>
        <p:nvSpPr>
          <p:cNvPr id="29" name="text"/>
          <p:cNvSpPr txBox="1"/>
          <p:nvPr/>
        </p:nvSpPr>
        <p:spPr>
          <a:xfrm>
            <a:off x="5242438" y="3410712"/>
            <a:ext cx="1706819" cy="1143000"/>
          </a:xfrm>
          <a:prstGeom prst="rect">
            <a:avLst/>
          </a:prstGeom>
          <a:noFill/>
          <a:ln/>
        </p:spPr>
        <p:txBody>
          <a:bodyPr wrap="square" lIns="0" tIns="0" rIns="0" bIns="0" rtlCol="0" anchor="t"/>
          <a:lstStyle/>
          <a:p>
            <a:pPr algn="l" indent="0" marL="0">
              <a:buNone/>
            </a:pPr>
            <a:r>
              <a:rPr lang="en-US" sz="1100" dirty="0">
                <a:solidFill>
                  <a:srgbClr val="2E1616"/>
                </a:solidFill>
              </a:rPr>
              <a:t>Membatalkan separuh penerbangan pukul 18.00–10.00; memberi tahu penumpang; mengalihkan rute pesawat.</a:t>
            </a:r>
            <a:endParaRPr lang="en-US" sz="1100" dirty="0"/>
          </a:p>
        </p:txBody>
      </p:sp>
      <p:sp>
        <p:nvSpPr>
          <p:cNvPr id="30" name="dot"/>
          <p:cNvSpPr/>
          <p:nvPr/>
        </p:nvSpPr>
        <p:spPr>
          <a:xfrm>
            <a:off x="8259867" y="1481328"/>
            <a:ext cx="182880" cy="182880"/>
          </a:xfrm>
          <a:prstGeom prst="ellipse">
            <a:avLst/>
          </a:prstGeom>
          <a:solidFill>
            <a:srgbClr val="3B8BE0"/>
          </a:solidFill>
          <a:ln w="3175">
            <a:solidFill>
              <a:srgbClr val="3B8BE0"/>
            </a:solidFill>
            <a:prstDash val="solid"/>
          </a:ln>
        </p:spPr>
      </p:sp>
      <p:sp>
        <p:nvSpPr>
          <p:cNvPr id="31" name="card"/>
          <p:cNvSpPr/>
          <p:nvPr/>
        </p:nvSpPr>
        <p:spPr>
          <a:xfrm>
            <a:off x="7315017" y="1874520"/>
            <a:ext cx="2072579" cy="2743200"/>
          </a:xfrm>
          <a:prstGeom prst="roundRect">
            <a:avLst>
              <a:gd name="adj" fmla="val 8824"/>
            </a:avLst>
          </a:prstGeom>
          <a:solidFill>
            <a:srgbClr val="F5F2EB"/>
          </a:solidFill>
          <a:ln w="3175">
            <a:solidFill>
              <a:srgbClr val="F5F2EB"/>
            </a:solidFill>
            <a:prstDash val="solid"/>
          </a:ln>
        </p:spPr>
      </p:sp>
      <p:sp>
        <p:nvSpPr>
          <p:cNvPr id="32" name="pill"/>
          <p:cNvSpPr/>
          <p:nvPr/>
        </p:nvSpPr>
        <p:spPr>
          <a:xfrm>
            <a:off x="7894107" y="1719072"/>
            <a:ext cx="914400" cy="310896"/>
          </a:xfrm>
          <a:prstGeom prst="roundRect">
            <a:avLst>
              <a:gd name="adj" fmla="val 50000"/>
            </a:avLst>
          </a:prstGeom>
          <a:solidFill>
            <a:srgbClr val="4F2D2C"/>
          </a:solidFill>
          <a:ln w="3175">
            <a:solidFill>
              <a:srgbClr val="4F2D2C"/>
            </a:solidFill>
            <a:prstDash val="solid"/>
          </a:ln>
        </p:spPr>
      </p:sp>
      <p:sp>
        <p:nvSpPr>
          <p:cNvPr id="33" name="pill label"/>
          <p:cNvSpPr txBox="1"/>
          <p:nvPr/>
        </p:nvSpPr>
        <p:spPr>
          <a:xfrm>
            <a:off x="7894107" y="1719072"/>
            <a:ext cx="914400" cy="310896"/>
          </a:xfrm>
          <a:prstGeom prst="rect">
            <a:avLst/>
          </a:prstGeom>
          <a:noFill/>
          <a:ln/>
        </p:spPr>
        <p:txBody>
          <a:bodyPr wrap="square" lIns="0" tIns="0" rIns="0" bIns="0" rtlCol="0" anchor="ctr"/>
          <a:lstStyle/>
          <a:p>
            <a:pPr algn="ctr" indent="0" marL="0">
              <a:buNone/>
            </a:pPr>
            <a:r>
              <a:rPr lang="en-US" sz="1100" b="1" dirty="0">
                <a:solidFill>
                  <a:srgbClr val="FFFFFF"/>
                </a:solidFill>
              </a:rPr>
              <a:t>17.00</a:t>
            </a:r>
            <a:endParaRPr lang="en-US" sz="1100" dirty="0"/>
          </a:p>
        </p:txBody>
      </p:sp>
      <p:sp>
        <p:nvSpPr>
          <p:cNvPr id="34" name="text"/>
          <p:cNvSpPr txBox="1"/>
          <p:nvPr/>
        </p:nvSpPr>
        <p:spPr>
          <a:xfrm>
            <a:off x="7497897" y="2194560"/>
            <a:ext cx="1706819" cy="256032"/>
          </a:xfrm>
          <a:prstGeom prst="rect">
            <a:avLst/>
          </a:prstGeom>
          <a:noFill/>
          <a:ln/>
        </p:spPr>
        <p:txBody>
          <a:bodyPr wrap="square" lIns="0" tIns="0" rIns="0" bIns="0" rtlCol="0" anchor="t"/>
          <a:lstStyle/>
          <a:p>
            <a:pPr algn="l" indent="0" marL="0">
              <a:buNone/>
            </a:pPr>
            <a:r>
              <a:rPr lang="en-US" sz="1050" b="1" dirty="0">
                <a:solidFill>
                  <a:srgbClr val="3B8BE0"/>
                </a:solidFill>
              </a:rPr>
              <a:t>Prakiraan</a:t>
            </a:r>
            <a:endParaRPr lang="en-US" sz="1050" dirty="0"/>
          </a:p>
        </p:txBody>
      </p:sp>
      <p:sp>
        <p:nvSpPr>
          <p:cNvPr id="35" name="text"/>
          <p:cNvSpPr txBox="1"/>
          <p:nvPr/>
        </p:nvSpPr>
        <p:spPr>
          <a:xfrm>
            <a:off x="7497897" y="2450592"/>
            <a:ext cx="1706819" cy="685800"/>
          </a:xfrm>
          <a:prstGeom prst="rect">
            <a:avLst/>
          </a:prstGeom>
          <a:noFill/>
          <a:ln/>
        </p:spPr>
        <p:txBody>
          <a:bodyPr wrap="square" lIns="0" tIns="0" rIns="0" bIns="0" rtlCol="0" anchor="t"/>
          <a:lstStyle/>
          <a:p>
            <a:pPr algn="l" indent="0" marL="0">
              <a:buNone/>
            </a:pPr>
            <a:r>
              <a:rPr lang="en-US" sz="1100" dirty="0">
                <a:solidFill>
                  <a:srgbClr val="2E1616"/>
                </a:solidFill>
              </a:rPr>
              <a:t>Salju lebih sedikit dari perkiraan.</a:t>
            </a:r>
            <a:endParaRPr lang="en-US" sz="1100" dirty="0"/>
          </a:p>
        </p:txBody>
      </p:sp>
      <p:sp>
        <p:nvSpPr>
          <p:cNvPr id="36" name="text"/>
          <p:cNvSpPr txBox="1"/>
          <p:nvPr/>
        </p:nvSpPr>
        <p:spPr>
          <a:xfrm>
            <a:off x="7497897" y="3154680"/>
            <a:ext cx="1706819" cy="256032"/>
          </a:xfrm>
          <a:prstGeom prst="rect">
            <a:avLst/>
          </a:prstGeom>
          <a:noFill/>
          <a:ln/>
        </p:spPr>
        <p:txBody>
          <a:bodyPr wrap="square" lIns="0" tIns="0" rIns="0" bIns="0" rtlCol="0" anchor="t"/>
          <a:lstStyle/>
          <a:p>
            <a:pPr algn="l" indent="0" marL="0">
              <a:buNone/>
            </a:pPr>
            <a:r>
              <a:rPr lang="en-US" sz="1050" b="1" dirty="0">
                <a:solidFill>
                  <a:srgbClr val="E9815E"/>
                </a:solidFill>
              </a:rPr>
              <a:t>Tindakan</a:t>
            </a:r>
            <a:endParaRPr lang="en-US" sz="1050" dirty="0"/>
          </a:p>
        </p:txBody>
      </p:sp>
      <p:sp>
        <p:nvSpPr>
          <p:cNvPr id="37" name="text"/>
          <p:cNvSpPr txBox="1"/>
          <p:nvPr/>
        </p:nvSpPr>
        <p:spPr>
          <a:xfrm>
            <a:off x="7497897" y="3410712"/>
            <a:ext cx="1706819" cy="1143000"/>
          </a:xfrm>
          <a:prstGeom prst="rect">
            <a:avLst/>
          </a:prstGeom>
          <a:noFill/>
          <a:ln/>
        </p:spPr>
        <p:txBody>
          <a:bodyPr wrap="square" lIns="0" tIns="0" rIns="0" bIns="0" rtlCol="0" anchor="t"/>
          <a:lstStyle/>
          <a:p>
            <a:pPr algn="l" indent="0" marL="0">
              <a:buNone/>
            </a:pPr>
            <a:r>
              <a:rPr lang="en-US" sz="1100" dirty="0">
                <a:solidFill>
                  <a:srgbClr val="2E1616"/>
                </a:solidFill>
              </a:rPr>
              <a:t>Terus menghubungi penumpang dan mengatur penerbangan alternatif.</a:t>
            </a:r>
            <a:endParaRPr lang="en-US" sz="1100" dirty="0"/>
          </a:p>
        </p:txBody>
      </p:sp>
      <p:sp>
        <p:nvSpPr>
          <p:cNvPr id="38" name="dot"/>
          <p:cNvSpPr/>
          <p:nvPr/>
        </p:nvSpPr>
        <p:spPr>
          <a:xfrm>
            <a:off x="10515326" y="1481328"/>
            <a:ext cx="182880" cy="182880"/>
          </a:xfrm>
          <a:prstGeom prst="ellipse">
            <a:avLst/>
          </a:prstGeom>
          <a:solidFill>
            <a:srgbClr val="3B8BE0"/>
          </a:solidFill>
          <a:ln w="3175">
            <a:solidFill>
              <a:srgbClr val="3B8BE0"/>
            </a:solidFill>
            <a:prstDash val="solid"/>
          </a:ln>
        </p:spPr>
      </p:sp>
      <p:sp>
        <p:nvSpPr>
          <p:cNvPr id="39" name="card"/>
          <p:cNvSpPr/>
          <p:nvPr/>
        </p:nvSpPr>
        <p:spPr>
          <a:xfrm>
            <a:off x="9570476" y="1874520"/>
            <a:ext cx="2072579" cy="2743200"/>
          </a:xfrm>
          <a:prstGeom prst="roundRect">
            <a:avLst>
              <a:gd name="adj" fmla="val 8824"/>
            </a:avLst>
          </a:prstGeom>
          <a:solidFill>
            <a:srgbClr val="F5F2EB"/>
          </a:solidFill>
          <a:ln w="3175">
            <a:solidFill>
              <a:srgbClr val="F5F2EB"/>
            </a:solidFill>
            <a:prstDash val="solid"/>
          </a:ln>
        </p:spPr>
      </p:sp>
      <p:sp>
        <p:nvSpPr>
          <p:cNvPr id="40" name="pill"/>
          <p:cNvSpPr/>
          <p:nvPr/>
        </p:nvSpPr>
        <p:spPr>
          <a:xfrm>
            <a:off x="10149566" y="1719072"/>
            <a:ext cx="914400" cy="310896"/>
          </a:xfrm>
          <a:prstGeom prst="roundRect">
            <a:avLst>
              <a:gd name="adj" fmla="val 50000"/>
            </a:avLst>
          </a:prstGeom>
          <a:solidFill>
            <a:srgbClr val="4F2D2C"/>
          </a:solidFill>
          <a:ln w="3175">
            <a:solidFill>
              <a:srgbClr val="4F2D2C"/>
            </a:solidFill>
            <a:prstDash val="solid"/>
          </a:ln>
        </p:spPr>
      </p:sp>
      <p:sp>
        <p:nvSpPr>
          <p:cNvPr id="41" name="pill label"/>
          <p:cNvSpPr txBox="1"/>
          <p:nvPr/>
        </p:nvSpPr>
        <p:spPr>
          <a:xfrm>
            <a:off x="10149566" y="1719072"/>
            <a:ext cx="914400" cy="310896"/>
          </a:xfrm>
          <a:prstGeom prst="rect">
            <a:avLst/>
          </a:prstGeom>
          <a:noFill/>
          <a:ln/>
        </p:spPr>
        <p:txBody>
          <a:bodyPr wrap="square" lIns="0" tIns="0" rIns="0" bIns="0" rtlCol="0" anchor="ctr"/>
          <a:lstStyle/>
          <a:p>
            <a:pPr algn="ctr" indent="0" marL="0">
              <a:buNone/>
            </a:pPr>
            <a:r>
              <a:rPr lang="en-US" sz="1100" b="1" dirty="0">
                <a:solidFill>
                  <a:srgbClr val="FFFFFF"/>
                </a:solidFill>
              </a:rPr>
              <a:t>22.00</a:t>
            </a:r>
            <a:endParaRPr lang="en-US" sz="1100" dirty="0"/>
          </a:p>
        </p:txBody>
      </p:sp>
      <p:sp>
        <p:nvSpPr>
          <p:cNvPr id="42" name="text"/>
          <p:cNvSpPr txBox="1"/>
          <p:nvPr/>
        </p:nvSpPr>
        <p:spPr>
          <a:xfrm>
            <a:off x="9753356" y="2194560"/>
            <a:ext cx="1706819" cy="256032"/>
          </a:xfrm>
          <a:prstGeom prst="rect">
            <a:avLst/>
          </a:prstGeom>
          <a:noFill/>
          <a:ln/>
        </p:spPr>
        <p:txBody>
          <a:bodyPr wrap="square" lIns="0" tIns="0" rIns="0" bIns="0" rtlCol="0" anchor="t"/>
          <a:lstStyle/>
          <a:p>
            <a:pPr algn="l" indent="0" marL="0">
              <a:buNone/>
            </a:pPr>
            <a:r>
              <a:rPr lang="en-US" sz="1050" b="1" dirty="0">
                <a:solidFill>
                  <a:srgbClr val="3B8BE0"/>
                </a:solidFill>
              </a:rPr>
              <a:t>Prakiraan</a:t>
            </a:r>
            <a:endParaRPr lang="en-US" sz="1050" dirty="0"/>
          </a:p>
        </p:txBody>
      </p:sp>
      <p:sp>
        <p:nvSpPr>
          <p:cNvPr id="43" name="text"/>
          <p:cNvSpPr txBox="1"/>
          <p:nvPr/>
        </p:nvSpPr>
        <p:spPr>
          <a:xfrm>
            <a:off x="9753356" y="2450592"/>
            <a:ext cx="1706819" cy="685800"/>
          </a:xfrm>
          <a:prstGeom prst="rect">
            <a:avLst/>
          </a:prstGeom>
          <a:noFill/>
          <a:ln/>
        </p:spPr>
        <p:txBody>
          <a:bodyPr wrap="square" lIns="0" tIns="0" rIns="0" bIns="0" rtlCol="0" anchor="t"/>
          <a:lstStyle/>
          <a:p>
            <a:pPr algn="l" indent="0" marL="0">
              <a:buNone/>
            </a:pPr>
            <a:r>
              <a:rPr lang="en-US" sz="1100" dirty="0">
                <a:solidFill>
                  <a:srgbClr val="2E1616"/>
                </a:solidFill>
              </a:rPr>
              <a:t>Salju mereda.</a:t>
            </a:r>
            <a:endParaRPr lang="en-US" sz="1100" dirty="0"/>
          </a:p>
        </p:txBody>
      </p:sp>
      <p:sp>
        <p:nvSpPr>
          <p:cNvPr id="44" name="text"/>
          <p:cNvSpPr txBox="1"/>
          <p:nvPr/>
        </p:nvSpPr>
        <p:spPr>
          <a:xfrm>
            <a:off x="9753356" y="3154680"/>
            <a:ext cx="1706819" cy="256032"/>
          </a:xfrm>
          <a:prstGeom prst="rect">
            <a:avLst/>
          </a:prstGeom>
          <a:noFill/>
          <a:ln/>
        </p:spPr>
        <p:txBody>
          <a:bodyPr wrap="square" lIns="0" tIns="0" rIns="0" bIns="0" rtlCol="0" anchor="t"/>
          <a:lstStyle/>
          <a:p>
            <a:pPr algn="l" indent="0" marL="0">
              <a:buNone/>
            </a:pPr>
            <a:r>
              <a:rPr lang="en-US" sz="1050" b="1" dirty="0">
                <a:solidFill>
                  <a:srgbClr val="E9815E"/>
                </a:solidFill>
              </a:rPr>
              <a:t>Tindakan</a:t>
            </a:r>
            <a:endParaRPr lang="en-US" sz="1050" dirty="0"/>
          </a:p>
        </p:txBody>
      </p:sp>
      <p:sp>
        <p:nvSpPr>
          <p:cNvPr id="45" name="text"/>
          <p:cNvSpPr txBox="1"/>
          <p:nvPr/>
        </p:nvSpPr>
        <p:spPr>
          <a:xfrm>
            <a:off x="9753356" y="3410712"/>
            <a:ext cx="1706819" cy="1143000"/>
          </a:xfrm>
          <a:prstGeom prst="rect">
            <a:avLst/>
          </a:prstGeom>
          <a:noFill/>
          <a:ln/>
        </p:spPr>
        <p:txBody>
          <a:bodyPr wrap="square" lIns="0" tIns="0" rIns="0" bIns="0" rtlCol="0" anchor="t"/>
          <a:lstStyle/>
          <a:p>
            <a:pPr algn="l" indent="0" marL="0">
              <a:buNone/>
            </a:pPr>
            <a:r>
              <a:rPr lang="en-US" sz="1100" dirty="0">
                <a:solidFill>
                  <a:srgbClr val="2E1616"/>
                </a:solidFill>
              </a:rPr>
              <a:t>Mencarikan hotel bagi 600 penumpang yang terdampar oleh badai.</a:t>
            </a:r>
            <a:endParaRPr lang="en-US" sz="1100" dirty="0"/>
          </a:p>
        </p:txBody>
      </p:sp>
      <p:sp>
        <p:nvSpPr>
          <p:cNvPr id="46" name="card"/>
          <p:cNvSpPr/>
          <p:nvPr/>
        </p:nvSpPr>
        <p:spPr>
          <a:xfrm>
            <a:off x="548640" y="4846320"/>
            <a:ext cx="11094415" cy="1371600"/>
          </a:xfrm>
          <a:prstGeom prst="roundRect">
            <a:avLst>
              <a:gd name="adj" fmla="val 13333"/>
            </a:avLst>
          </a:prstGeom>
          <a:solidFill>
            <a:srgbClr val="4F2D2C"/>
          </a:solidFill>
          <a:ln w="3175">
            <a:solidFill>
              <a:srgbClr val="4F2D2C"/>
            </a:solidFill>
            <a:prstDash val="solid"/>
          </a:ln>
        </p:spPr>
      </p:sp>
      <p:sp>
        <p:nvSpPr>
          <p:cNvPr id="47" name="text"/>
          <p:cNvSpPr txBox="1"/>
          <p:nvPr/>
        </p:nvSpPr>
        <p:spPr>
          <a:xfrm>
            <a:off x="822960" y="4846320"/>
            <a:ext cx="10545775" cy="1371600"/>
          </a:xfrm>
          <a:prstGeom prst="rect">
            <a:avLst/>
          </a:prstGeom>
          <a:noFill/>
          <a:ln/>
        </p:spPr>
        <p:txBody>
          <a:bodyPr wrap="square" lIns="0" tIns="0" rIns="0" bIns="0" rtlCol="0" anchor="ctr"/>
          <a:lstStyle/>
          <a:p>
            <a:pPr algn="l" indent="0" marL="0">
              <a:buNone/>
            </a:pPr>
            <a:r>
              <a:rPr lang="en-US" sz="1250" b="1" dirty="0">
                <a:solidFill>
                  <a:srgbClr val="FFFFFF"/>
                </a:solidFill>
              </a:rPr>
              <a:t>Pola:</a:t>
            </a:r>
            <a:r>
              <a:rPr lang="en-US" sz="1250" dirty="0">
                <a:solidFill>
                  <a:srgbClr val="FFFFFF"/>
                </a:solidFill>
              </a:rPr>
              <a:t> prakiraan direvisi lima kali dalam 18 jam, dan setiap revisi memicu tindakan baru: menyiapkan kapasitas </a:t>
            </a:r>
            <a:r>
              <a:rPr lang="en-US" sz="1250" i="1" dirty="0">
                <a:solidFill>
                  <a:srgbClr val="FFFFFF"/>
                </a:solidFill>
              </a:rPr>
              <a:t>deicing</a:t>
            </a:r>
            <a:r>
              <a:rPr lang="en-US" sz="1250" dirty="0">
                <a:solidFill>
                  <a:srgbClr val="FFFFFF"/>
                </a:solidFill>
              </a:rPr>
              <a:t>, memangkas jadwal, mengalihkan rute pesawat, lalu mengurus penumpang. Alaska menaksir teknologi penjadwalan ulangnya menghemat US$18 juta per tahun dengan menekan pembatalan dan keterlambatan (Heizer et al., 2017).</a:t>
            </a:r>
            <a:endParaRPr lang="en-US" sz="1250" dirty="0"/>
          </a:p>
        </p:txBody>
      </p:sp>
      <p:sp>
        <p:nvSpPr>
          <p:cNvPr id="25" name="Slide Number Placeholder 0"/>
          <p:cNvSpPr>
            <a:spLocks noGrp="1"/>
          </p:cNvSpPr>
          <p:nvPr>
            <p:ph type="sldNum" sz="quarter" idx="4294967295"/>
          </p:nvPr>
        </p:nvSpPr>
        <p:spPr>
          <a:xfrm>
            <a:off x="11247120" y="6446520"/>
            <a:ext cx="39319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4F2D2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algn="l" indent="0" marL="0">
              <a:buNone/>
            </a:pPr>
            <a:r>
              <a:rPr lang="en-US" sz="2800" b="1" dirty="0">
                <a:solidFill>
                  <a:srgbClr val="2E1616"/>
                </a:solidFill>
              </a:rPr>
              <a:t>Pusat Operasi Penerbangan dan Penjadwalan Kru</a:t>
            </a:r>
            <a:endParaRPr lang="en-US" sz="2800" dirty="0"/>
          </a:p>
        </p:txBody>
      </p:sp>
      <p:sp>
        <p:nvSpPr>
          <p:cNvPr id="4" name="title circle"/>
          <p:cNvSpPr/>
          <p:nvPr/>
        </p:nvSpPr>
        <p:spPr>
          <a:xfrm>
            <a:off x="347472" y="384048"/>
            <a:ext cx="1394460" cy="786384"/>
          </a:xfrm>
          <a:prstGeom prst="ellipse">
            <a:avLst/>
          </a:prstGeom>
          <a:solidFill>
            <a:srgbClr val="B3D9FE">
              <a:alpha val="0"/>
            </a:srgbClr>
          </a:solidFill>
          <a:ln w="28575">
            <a:solidFill>
              <a:srgbClr val="3B8BE0"/>
            </a:solidFill>
            <a:prstDash val="solid"/>
          </a:ln>
        </p:spPr>
      </p:sp>
      <p:pic>
        <p:nvPicPr>
          <p:cNvPr id="5" name="foto pusat operasi" descr="/tmp/claude-0/-home-user-Dom-Manipulation/385e5267-c23e-5c04-80f5-d5fb4946a902/scratchpad/build/img2/ops.png">    </p:cNvPr>
          <p:cNvPicPr>
            <a:picLocks noChangeAspect="1"/>
          </p:cNvPicPr>
          <p:nvPr/>
        </p:nvPicPr>
        <p:blipFill>
          <a:blip r:embed="rId1"/>
          <a:stretch>
            <a:fillRect/>
          </a:stretch>
        </p:blipFill>
        <p:spPr>
          <a:xfrm>
            <a:off x="548640" y="1325880"/>
            <a:ext cx="4023360" cy="2999232"/>
          </a:xfrm>
          <a:prstGeom prst="rect">
            <a:avLst/>
          </a:prstGeom>
        </p:spPr>
      </p:pic>
      <p:sp>
        <p:nvSpPr>
          <p:cNvPr id="6" name="card"/>
          <p:cNvSpPr/>
          <p:nvPr/>
        </p:nvSpPr>
        <p:spPr>
          <a:xfrm>
            <a:off x="548640" y="4526280"/>
            <a:ext cx="4023360" cy="1691640"/>
          </a:xfrm>
          <a:prstGeom prst="roundRect">
            <a:avLst>
              <a:gd name="adj" fmla="val 10811"/>
            </a:avLst>
          </a:prstGeom>
          <a:solidFill>
            <a:srgbClr val="F5F2EB"/>
          </a:solidFill>
          <a:ln w="3175">
            <a:solidFill>
              <a:srgbClr val="F5F2EB"/>
            </a:solidFill>
            <a:prstDash val="solid"/>
          </a:ln>
        </p:spPr>
      </p:sp>
      <p:sp>
        <p:nvSpPr>
          <p:cNvPr id="7" name="text"/>
          <p:cNvSpPr txBox="1"/>
          <p:nvPr/>
        </p:nvSpPr>
        <p:spPr>
          <a:xfrm>
            <a:off x="822960" y="4617720"/>
            <a:ext cx="3474720" cy="548640"/>
          </a:xfrm>
          <a:prstGeom prst="rect">
            <a:avLst/>
          </a:prstGeom>
          <a:noFill/>
          <a:ln/>
        </p:spPr>
        <p:txBody>
          <a:bodyPr wrap="square" lIns="0" tIns="0" rIns="0" bIns="0" rtlCol="0" anchor="ctr"/>
          <a:lstStyle/>
          <a:p>
            <a:pPr algn="l" indent="0" marL="0">
              <a:buNone/>
            </a:pPr>
            <a:r>
              <a:rPr lang="en-US" sz="2400" b="1" dirty="0">
                <a:solidFill>
                  <a:srgbClr val="2E1616"/>
                </a:solidFill>
              </a:rPr>
              <a:t>US$18 juta</a:t>
            </a:r>
            <a:endParaRPr lang="en-US" sz="2400" dirty="0"/>
          </a:p>
        </p:txBody>
      </p:sp>
      <p:sp>
        <p:nvSpPr>
          <p:cNvPr id="8" name="text"/>
          <p:cNvSpPr txBox="1"/>
          <p:nvPr/>
        </p:nvSpPr>
        <p:spPr>
          <a:xfrm>
            <a:off x="822960" y="5212080"/>
            <a:ext cx="3474720" cy="914400"/>
          </a:xfrm>
          <a:prstGeom prst="rect">
            <a:avLst/>
          </a:prstGeom>
          <a:noFill/>
          <a:ln/>
        </p:spPr>
        <p:txBody>
          <a:bodyPr wrap="square" lIns="0" tIns="0" rIns="0" bIns="0" rtlCol="0" anchor="t"/>
          <a:lstStyle/>
          <a:p>
            <a:pPr algn="l" indent="0" marL="0">
              <a:buNone/>
            </a:pPr>
            <a:r>
              <a:rPr lang="en-US" sz="1150" dirty="0">
                <a:solidFill>
                  <a:srgbClr val="2E1616"/>
                </a:solidFill>
              </a:rPr>
              <a:t>penghematan per tahun dari teknologi yang menekan pembatalan dan keterlambatan (Heizer et al., 2017).</a:t>
            </a:r>
            <a:endParaRPr lang="en-US" sz="1150" dirty="0"/>
          </a:p>
        </p:txBody>
      </p:sp>
      <p:sp>
        <p:nvSpPr>
          <p:cNvPr id="9" name="card"/>
          <p:cNvSpPr/>
          <p:nvPr/>
        </p:nvSpPr>
        <p:spPr>
          <a:xfrm>
            <a:off x="4800600" y="1325880"/>
            <a:ext cx="6842455" cy="2377440"/>
          </a:xfrm>
          <a:prstGeom prst="roundRect">
            <a:avLst>
              <a:gd name="adj" fmla="val 7692"/>
            </a:avLst>
          </a:prstGeom>
          <a:solidFill>
            <a:srgbClr val="F5F2EB"/>
          </a:solidFill>
          <a:ln w="3175">
            <a:solidFill>
              <a:srgbClr val="F5F2EB"/>
            </a:solidFill>
            <a:prstDash val="solid"/>
          </a:ln>
        </p:spPr>
      </p:sp>
      <p:sp>
        <p:nvSpPr>
          <p:cNvPr id="10" name="icon circle"/>
          <p:cNvSpPr/>
          <p:nvPr/>
        </p:nvSpPr>
        <p:spPr>
          <a:xfrm>
            <a:off x="5074920" y="1508760"/>
            <a:ext cx="548640" cy="548640"/>
          </a:xfrm>
          <a:prstGeom prst="ellipse">
            <a:avLst/>
          </a:prstGeom>
          <a:solidFill>
            <a:srgbClr val="D7EAFD"/>
          </a:solidFill>
          <a:ln w="3175">
            <a:solidFill>
              <a:srgbClr val="D7EAFD"/>
            </a:solidFill>
            <a:prstDash val="solid"/>
          </a:ln>
        </p:spPr>
      </p:sp>
      <p:pic>
        <p:nvPicPr>
          <p:cNvPr id="11" name="icon FaBroadcastTower" descr="preencoded.png">    </p:cNvPr>
          <p:cNvPicPr>
            <a:picLocks noChangeAspect="1"/>
          </p:cNvPicPr>
          <p:nvPr/>
        </p:nvPicPr>
        <p:blipFill>
          <a:blip r:embed="rId2"/>
          <a:stretch>
            <a:fillRect/>
          </a:stretch>
        </p:blipFill>
        <p:spPr>
          <a:xfrm>
            <a:off x="5212080" y="1645920"/>
            <a:ext cx="274320" cy="274320"/>
          </a:xfrm>
          <a:prstGeom prst="rect">
            <a:avLst/>
          </a:prstGeom>
        </p:spPr>
      </p:pic>
      <p:sp>
        <p:nvSpPr>
          <p:cNvPr id="12" name="text"/>
          <p:cNvSpPr txBox="1"/>
          <p:nvPr/>
        </p:nvSpPr>
        <p:spPr>
          <a:xfrm>
            <a:off x="5760720" y="1508760"/>
            <a:ext cx="5653735" cy="548640"/>
          </a:xfrm>
          <a:prstGeom prst="rect">
            <a:avLst/>
          </a:prstGeom>
          <a:noFill/>
          <a:ln/>
        </p:spPr>
        <p:txBody>
          <a:bodyPr wrap="square" lIns="0" tIns="0" rIns="0" bIns="0" rtlCol="0" anchor="ctr"/>
          <a:lstStyle/>
          <a:p>
            <a:pPr algn="l" indent="0" marL="0">
              <a:buNone/>
            </a:pPr>
            <a:r>
              <a:rPr lang="en-US" sz="1600" b="1" dirty="0">
                <a:solidFill>
                  <a:srgbClr val="2E1616"/>
                </a:solidFill>
              </a:rPr>
              <a:t>Flight Operations Department, Seattle</a:t>
            </a:r>
            <a:endParaRPr lang="en-US" sz="1600" dirty="0"/>
          </a:p>
        </p:txBody>
      </p:sp>
      <p:sp>
        <p:nvSpPr>
          <p:cNvPr id="13" name="text"/>
          <p:cNvSpPr txBox="1"/>
          <p:nvPr/>
        </p:nvSpPr>
        <p:spPr>
          <a:xfrm>
            <a:off x="5074920" y="2103120"/>
            <a:ext cx="6293815" cy="1554480"/>
          </a:xfrm>
          <a:prstGeom prst="rect">
            <a:avLst/>
          </a:prstGeom>
          <a:noFill/>
          <a:ln/>
        </p:spPr>
        <p:txBody>
          <a:bodyPr wrap="square" lIns="0" tIns="0" rIns="0" bIns="0" rtlCol="0" anchor="t"/>
          <a:lstStyle/>
          <a:p>
            <a:pPr algn="l" indent="0" marL="0">
              <a:buNone/>
            </a:pPr>
            <a:r>
              <a:rPr lang="en-US" sz="1200" dirty="0">
                <a:solidFill>
                  <a:srgbClr val="2E1616"/>
                </a:solidFill>
              </a:rPr>
              <a:t>Puluhan layar memantau penerbangan yang sedang berlangsung, peta meteorologi, dan pola cuaca. Lampu </a:t>
            </a:r>
            <a:r>
              <a:rPr lang="en-US" sz="1200" i="1" dirty="0">
                <a:solidFill>
                  <a:srgbClr val="2E1616"/>
                </a:solidFill>
              </a:rPr>
              <a:t>andon</a:t>
            </a:r>
            <a:r>
              <a:rPr lang="en-US" sz="1200" dirty="0">
                <a:solidFill>
                  <a:srgbClr val="2E1616"/>
                </a:solidFill>
              </a:rPr>
              <a:t> menandai status: hijau normal, kuning perlu perhatian, merah darurat. Dengan model penjadwalan matematis, departemen ini menyusun jadwal alternatif, mengalihkan rute, memastikan kru tersedia, dan memberi tahu penumpang secepat mungkin.</a:t>
            </a:r>
            <a:endParaRPr lang="en-US" sz="1200" dirty="0"/>
          </a:p>
        </p:txBody>
      </p:sp>
      <p:sp>
        <p:nvSpPr>
          <p:cNvPr id="14" name="card"/>
          <p:cNvSpPr/>
          <p:nvPr/>
        </p:nvSpPr>
        <p:spPr>
          <a:xfrm>
            <a:off x="4800600" y="3886200"/>
            <a:ext cx="6842455" cy="2331720"/>
          </a:xfrm>
          <a:prstGeom prst="roundRect">
            <a:avLst>
              <a:gd name="adj" fmla="val 7843"/>
            </a:avLst>
          </a:prstGeom>
          <a:solidFill>
            <a:srgbClr val="F5F2EB"/>
          </a:solidFill>
          <a:ln w="3175">
            <a:solidFill>
              <a:srgbClr val="F5F2EB"/>
            </a:solidFill>
            <a:prstDash val="solid"/>
          </a:ln>
        </p:spPr>
      </p:sp>
      <p:sp>
        <p:nvSpPr>
          <p:cNvPr id="15" name="icon circle"/>
          <p:cNvSpPr/>
          <p:nvPr/>
        </p:nvSpPr>
        <p:spPr>
          <a:xfrm>
            <a:off x="5074920" y="4069080"/>
            <a:ext cx="548640" cy="548640"/>
          </a:xfrm>
          <a:prstGeom prst="ellipse">
            <a:avLst/>
          </a:prstGeom>
          <a:solidFill>
            <a:srgbClr val="D7EAFD"/>
          </a:solidFill>
          <a:ln w="3175">
            <a:solidFill>
              <a:srgbClr val="D7EAFD"/>
            </a:solidFill>
            <a:prstDash val="solid"/>
          </a:ln>
        </p:spPr>
      </p:sp>
      <p:pic>
        <p:nvPicPr>
          <p:cNvPr id="16" name="icon FaUserTie" descr="preencoded.png">    </p:cNvPr>
          <p:cNvPicPr>
            <a:picLocks noChangeAspect="1"/>
          </p:cNvPicPr>
          <p:nvPr/>
        </p:nvPicPr>
        <p:blipFill>
          <a:blip r:embed="rId3"/>
          <a:stretch>
            <a:fillRect/>
          </a:stretch>
        </p:blipFill>
        <p:spPr>
          <a:xfrm>
            <a:off x="5212080" y="4206240"/>
            <a:ext cx="274320" cy="274320"/>
          </a:xfrm>
          <a:prstGeom prst="rect">
            <a:avLst/>
          </a:prstGeom>
        </p:spPr>
      </p:pic>
      <p:sp>
        <p:nvSpPr>
          <p:cNvPr id="17" name="text"/>
          <p:cNvSpPr txBox="1"/>
          <p:nvPr/>
        </p:nvSpPr>
        <p:spPr>
          <a:xfrm>
            <a:off x="5760720" y="4069080"/>
            <a:ext cx="5653735" cy="548640"/>
          </a:xfrm>
          <a:prstGeom prst="rect">
            <a:avLst/>
          </a:prstGeom>
          <a:noFill/>
          <a:ln/>
        </p:spPr>
        <p:txBody>
          <a:bodyPr wrap="square" lIns="0" tIns="0" rIns="0" bIns="0" rtlCol="0" anchor="ctr"/>
          <a:lstStyle/>
          <a:p>
            <a:pPr algn="l" indent="0" marL="0">
              <a:buNone/>
            </a:pPr>
            <a:r>
              <a:rPr lang="en-US" sz="1600" b="1" dirty="0">
                <a:solidFill>
                  <a:srgbClr val="2E1616"/>
                </a:solidFill>
              </a:rPr>
              <a:t>Penjadwalan 4.500+ pilot dan awak kabin</a:t>
            </a:r>
            <a:endParaRPr lang="en-US" sz="1600" dirty="0"/>
          </a:p>
        </p:txBody>
      </p:sp>
      <p:sp>
        <p:nvSpPr>
          <p:cNvPr id="18" name="text"/>
          <p:cNvSpPr txBox="1"/>
          <p:nvPr/>
        </p:nvSpPr>
        <p:spPr>
          <a:xfrm>
            <a:off x="5074920" y="4663440"/>
            <a:ext cx="6293815" cy="1508760"/>
          </a:xfrm>
          <a:prstGeom prst="rect">
            <a:avLst/>
          </a:prstGeom>
          <a:noFill/>
          <a:ln/>
        </p:spPr>
        <p:txBody>
          <a:bodyPr wrap="square" lIns="0" tIns="0" rIns="0" bIns="0" rtlCol="0" anchor="t"/>
          <a:lstStyle/>
          <a:p>
            <a:pPr algn="l" indent="0" marL="0">
              <a:buNone/>
            </a:pPr>
            <a:r>
              <a:rPr lang="en-US" sz="1200" dirty="0">
                <a:solidFill>
                  <a:srgbClr val="2E1616"/>
                </a:solidFill>
              </a:rPr>
              <a:t>Kru ditugaskan melalui </a:t>
            </a:r>
            <a:r>
              <a:rPr lang="en-US" sz="1200" i="1" dirty="0">
                <a:solidFill>
                  <a:srgbClr val="2E1616"/>
                </a:solidFill>
              </a:rPr>
              <a:t>preferential bidding system</a:t>
            </a:r>
            <a:r>
              <a:rPr lang="en-US" sz="1200" dirty="0">
                <a:solidFill>
                  <a:srgbClr val="2E1616"/>
                </a:solidFill>
              </a:rPr>
              <a:t> di bawah batas jam tugas FAA dan kontrak serikat: kapasitas berhingga dengan kendala legalitas yang diperiksa secara </a:t>
            </a:r>
            <a:r>
              <a:rPr lang="en-US" sz="1200" i="1" dirty="0">
                <a:solidFill>
                  <a:srgbClr val="2E1616"/>
                </a:solidFill>
              </a:rPr>
              <a:t>real time</a:t>
            </a:r>
            <a:r>
              <a:rPr lang="en-US" sz="1200" dirty="0">
                <a:solidFill>
                  <a:srgbClr val="2E1616"/>
                </a:solidFill>
              </a:rPr>
              <a:t>. Kodiak menambah kendala khusus karena hanya kapten yang boleh mendarat, sehingga </a:t>
            </a:r>
            <a:r>
              <a:rPr lang="en-US" sz="1200" i="1" dirty="0">
                <a:solidFill>
                  <a:srgbClr val="2E1616"/>
                </a:solidFill>
              </a:rPr>
              <a:t>pairing</a:t>
            </a:r>
            <a:r>
              <a:rPr lang="en-US" sz="1200" dirty="0">
                <a:solidFill>
                  <a:srgbClr val="2E1616"/>
                </a:solidFill>
              </a:rPr>
              <a:t> kru untuk rute Alaska tidak bebas. Sistem pelatihan dan kualifikasi kru (Fox TMS, 2024) menjaga data kualifikasi tetap selaras dengan jadwal.</a:t>
            </a:r>
            <a:endParaRPr lang="en-US" sz="1200" dirty="0"/>
          </a:p>
        </p:txBody>
      </p:sp>
      <p:sp>
        <p:nvSpPr>
          <p:cNvPr id="25" name="Slide Number Placeholder 0"/>
          <p:cNvSpPr>
            <a:spLocks noGrp="1"/>
          </p:cNvSpPr>
          <p:nvPr>
            <p:ph type="sldNum" sz="quarter" idx="4294967295"/>
          </p:nvPr>
        </p:nvSpPr>
        <p:spPr>
          <a:xfrm>
            <a:off x="11247120" y="6446520"/>
            <a:ext cx="39319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4F2D2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algn="l" indent="0" marL="0">
              <a:buNone/>
            </a:pPr>
            <a:r>
              <a:rPr lang="en-US" sz="2800" b="1" dirty="0">
                <a:solidFill>
                  <a:srgbClr val="2E1616"/>
                </a:solidFill>
              </a:rPr>
              <a:t>Mengurutkan Pekerjaan di Hangar</a:t>
            </a:r>
            <a:endParaRPr lang="en-US" sz="2800" dirty="0"/>
          </a:p>
        </p:txBody>
      </p:sp>
      <p:sp>
        <p:nvSpPr>
          <p:cNvPr id="4" name="title circle"/>
          <p:cNvSpPr/>
          <p:nvPr/>
        </p:nvSpPr>
        <p:spPr>
          <a:xfrm>
            <a:off x="347472" y="384048"/>
            <a:ext cx="2519172" cy="786384"/>
          </a:xfrm>
          <a:prstGeom prst="ellipse">
            <a:avLst/>
          </a:prstGeom>
          <a:solidFill>
            <a:srgbClr val="B3D9FE">
              <a:alpha val="0"/>
            </a:srgbClr>
          </a:solidFill>
          <a:ln w="28575">
            <a:solidFill>
              <a:srgbClr val="3B8BE0"/>
            </a:solidFill>
            <a:prstDash val="solid"/>
          </a:ln>
        </p:spPr>
      </p:sp>
      <p:sp>
        <p:nvSpPr>
          <p:cNvPr id="5" name="card"/>
          <p:cNvSpPr/>
          <p:nvPr/>
        </p:nvSpPr>
        <p:spPr>
          <a:xfrm>
            <a:off x="548640" y="1325880"/>
            <a:ext cx="4480560" cy="4892040"/>
          </a:xfrm>
          <a:prstGeom prst="roundRect">
            <a:avLst>
              <a:gd name="adj" fmla="val 4082"/>
            </a:avLst>
          </a:prstGeom>
          <a:solidFill>
            <a:srgbClr val="F5F2EB"/>
          </a:solidFill>
          <a:ln w="3175">
            <a:solidFill>
              <a:srgbClr val="F5F2EB"/>
            </a:solidFill>
            <a:prstDash val="solid"/>
          </a:ln>
        </p:spPr>
      </p:sp>
      <p:sp>
        <p:nvSpPr>
          <p:cNvPr id="6" name="text"/>
          <p:cNvSpPr txBox="1"/>
          <p:nvPr/>
        </p:nvSpPr>
        <p:spPr>
          <a:xfrm>
            <a:off x="777240" y="1463040"/>
            <a:ext cx="4023360" cy="914400"/>
          </a:xfrm>
          <a:prstGeom prst="rect">
            <a:avLst/>
          </a:prstGeom>
          <a:noFill/>
          <a:ln/>
        </p:spPr>
        <p:txBody>
          <a:bodyPr wrap="square" lIns="0" tIns="0" rIns="0" bIns="0" rtlCol="0" anchor="t"/>
          <a:lstStyle/>
          <a:p>
            <a:pPr algn="l" indent="0" marL="0">
              <a:buNone/>
            </a:pPr>
            <a:r>
              <a:rPr lang="en-US" sz="1200" dirty="0">
                <a:solidFill>
                  <a:srgbClr val="2E1616"/>
                </a:solidFill>
              </a:rPr>
              <a:t>Ilustrasi: lima paket pekerjaan perawatan A–E dengan waktu proses 6, 2, 8, 3, 9 hari dan </a:t>
            </a:r>
            <a:r>
              <a:rPr lang="en-US" sz="1200" i="1" dirty="0">
                <a:solidFill>
                  <a:srgbClr val="2E1616"/>
                </a:solidFill>
              </a:rPr>
              <a:t>due date</a:t>
            </a:r>
            <a:r>
              <a:rPr lang="en-US" sz="1200" dirty="0">
                <a:solidFill>
                  <a:srgbClr val="2E1616"/>
                </a:solidFill>
              </a:rPr>
              <a:t> 8, 6, 18, 15, 23 hari (data HRM Contoh 15.4), diurutkan dengan empat aturan prioritas.</a:t>
            </a:r>
            <a:endParaRPr lang="en-US" sz="1200" dirty="0"/>
          </a:p>
        </p:txBody>
      </p:sp>
      <p:graphicFrame>
        <p:nvGraphicFramePr>
          <p:cNvPr id="7" name="chart aturan prioritas" descr=""/>
          <p:cNvGraphicFramePr/>
          <p:nvPr/>
        </p:nvGraphicFramePr>
        <p:xfrm>
          <a:off x="685800" y="2423160"/>
          <a:ext cx="4206240" cy="2468880"/>
        </p:xfrm>
        <a:graphic xmlns:a="http://schemas.openxmlformats.org/drawingml/2006/main">
          <a:graphicData uri="http://schemas.openxmlformats.org/drawingml/2006/chart">
            <c:chart xmlns:c="http://schemas.openxmlformats.org/drawingml/2006/chart" r:id="rId1"/>
          </a:graphicData>
        </a:graphic>
      </p:graphicFrame>
      <p:sp>
        <p:nvSpPr>
          <p:cNvPr id="8" name="text"/>
          <p:cNvSpPr txBox="1"/>
          <p:nvPr/>
        </p:nvSpPr>
        <p:spPr>
          <a:xfrm>
            <a:off x="777240" y="4983480"/>
            <a:ext cx="4023360" cy="1097280"/>
          </a:xfrm>
          <a:prstGeom prst="rect">
            <a:avLst/>
          </a:prstGeom>
          <a:noFill/>
          <a:ln/>
        </p:spPr>
        <p:txBody>
          <a:bodyPr wrap="square" lIns="0" tIns="0" rIns="0" bIns="0" rtlCol="0" anchor="t"/>
          <a:lstStyle/>
          <a:p>
            <a:pPr algn="l" indent="0" marL="0">
              <a:buNone/>
            </a:pPr>
            <a:r>
              <a:rPr lang="en-US" sz="1050" i="1" dirty="0">
                <a:solidFill>
                  <a:srgbClr val="6E5A5A"/>
                </a:solidFill>
              </a:rPr>
              <a:t>FCFS = urutan kedatangan; SPT = waktu proses terpendek dahulu; EDD = tenggat terdekat dahulu; LPT = waktu proses terpanjang dahulu.</a:t>
            </a:r>
            <a:endParaRPr lang="en-US" sz="1050" dirty="0"/>
          </a:p>
        </p:txBody>
      </p:sp>
      <p:sp>
        <p:nvSpPr>
          <p:cNvPr id="9" name="card"/>
          <p:cNvSpPr/>
          <p:nvPr/>
        </p:nvSpPr>
        <p:spPr>
          <a:xfrm>
            <a:off x="5257800" y="1325880"/>
            <a:ext cx="6385255" cy="4892040"/>
          </a:xfrm>
          <a:prstGeom prst="roundRect">
            <a:avLst>
              <a:gd name="adj" fmla="val 3738"/>
            </a:avLst>
          </a:prstGeom>
          <a:solidFill>
            <a:srgbClr val="F5F2EB"/>
          </a:solidFill>
          <a:ln w="3175">
            <a:solidFill>
              <a:srgbClr val="F5F2EB"/>
            </a:solidFill>
            <a:prstDash val="solid"/>
          </a:ln>
        </p:spPr>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5486400" y="1508760"/>
          <a:ext cx="5928055" cy="914400"/>
        </p:xfrm>
        <a:graphic>
          <a:graphicData uri="http://schemas.openxmlformats.org/drawingml/2006/table">
            <a:tbl>
              <a:tblPr/>
              <a:tblGrid>
                <a:gridCol w="685800"/>
                <a:gridCol w="1097280"/>
                <a:gridCol w="1097280"/>
                <a:gridCol w="868680"/>
                <a:gridCol w="1051560"/>
                <a:gridCol w="1127455"/>
              </a:tblGrid>
              <a:tr h="347472">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Aturan</a:t>
                      </a:r>
                      <a:endParaRPr lang="en-US" sz="10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4F2D2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Urutan</a:t>
                      </a:r>
                      <a:endParaRPr lang="en-US" sz="10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4F2D2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Waktu penyelesaian rata-rata (hari)</a:t>
                      </a:r>
                      <a:endParaRPr lang="en-US" sz="10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4F2D2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Utilisasi (%)</a:t>
                      </a:r>
                      <a:endParaRPr lang="en-US" sz="10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4F2D2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Jumlah pekerjaan rata-rata</a:t>
                      </a:r>
                      <a:endParaRPr lang="en-US" sz="10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4F2D2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Keterlambatan rata-rata (hari)</a:t>
                      </a:r>
                      <a:endParaRPr lang="en-US" sz="10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4F2D2C"/>
                    </a:solidFill>
                  </a:tcPr>
                </a:tc>
              </a:tr>
              <a:tr h="347472">
                <a:tc>
                  <a:txBody>
                    <a:bodyPr/>
                    <a:lstStyle/>
                    <a:p>
                      <a:pPr algn="l" indent="0" marL="0">
                        <a:buNone/>
                      </a:pPr>
                      <a:r>
                        <a:rPr lang="en-US" sz="1050" b="1" dirty="0">
                          <a:solidFill>
                            <a:srgbClr val="2E1616"/>
                          </a:solidFill>
                          <a:latin typeface="Calibri" pitchFamily="34" charset="0"/>
                          <a:ea typeface="Calibri" pitchFamily="34" charset="-122"/>
                          <a:cs typeface="Calibri" pitchFamily="34" charset="-120"/>
                        </a:rPr>
                        <a:t>FCFS</a:t>
                      </a:r>
                      <a:endParaRPr lang="en-US" sz="10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E1616"/>
                          </a:solidFill>
                          <a:latin typeface="Calibri" pitchFamily="34" charset="0"/>
                          <a:ea typeface="Calibri" pitchFamily="34" charset="-122"/>
                          <a:cs typeface="Calibri" pitchFamily="34" charset="-120"/>
                        </a:rPr>
                        <a:t>A–B–C–D–E</a:t>
                      </a:r>
                      <a:endParaRPr lang="en-US" sz="10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E1616"/>
                          </a:solidFill>
                          <a:latin typeface="Calibri" pitchFamily="34" charset="0"/>
                          <a:ea typeface="Calibri" pitchFamily="34" charset="-122"/>
                          <a:cs typeface="Calibri" pitchFamily="34" charset="-120"/>
                        </a:rPr>
                        <a:t>15,4</a:t>
                      </a:r>
                      <a:endParaRPr lang="en-US" sz="10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E1616"/>
                          </a:solidFill>
                          <a:latin typeface="Calibri" pitchFamily="34" charset="0"/>
                          <a:ea typeface="Calibri" pitchFamily="34" charset="-122"/>
                          <a:cs typeface="Calibri" pitchFamily="34" charset="-120"/>
                        </a:rPr>
                        <a:t>36,4</a:t>
                      </a:r>
                      <a:endParaRPr lang="en-US" sz="10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E1616"/>
                          </a:solidFill>
                          <a:latin typeface="Calibri" pitchFamily="34" charset="0"/>
                          <a:ea typeface="Calibri" pitchFamily="34" charset="-122"/>
                          <a:cs typeface="Calibri" pitchFamily="34" charset="-120"/>
                        </a:rPr>
                        <a:t>2,75</a:t>
                      </a:r>
                      <a:endParaRPr lang="en-US" sz="10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E1616"/>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r>
              <a:tr h="347472">
                <a:tc>
                  <a:txBody>
                    <a:bodyPr/>
                    <a:lstStyle/>
                    <a:p>
                      <a:pPr algn="l" indent="0" marL="0">
                        <a:buNone/>
                      </a:pPr>
                      <a:r>
                        <a:rPr lang="en-US" sz="1050" b="1" dirty="0">
                          <a:solidFill>
                            <a:srgbClr val="2E1616"/>
                          </a:solidFill>
                          <a:latin typeface="Calibri" pitchFamily="34" charset="0"/>
                          <a:ea typeface="Calibri" pitchFamily="34" charset="-122"/>
                          <a:cs typeface="Calibri" pitchFamily="34" charset="-120"/>
                        </a:rPr>
                        <a:t>SPT</a:t>
                      </a:r>
                      <a:endParaRPr lang="en-US" sz="10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c>
                  <a:txBody>
                    <a:bodyPr/>
                    <a:lstStyle/>
                    <a:p>
                      <a:pPr algn="ctr" indent="0" marL="0">
                        <a:buNone/>
                      </a:pPr>
                      <a:r>
                        <a:rPr lang="en-US" sz="1050" dirty="0">
                          <a:solidFill>
                            <a:srgbClr val="2E1616"/>
                          </a:solidFill>
                          <a:latin typeface="Calibri" pitchFamily="34" charset="0"/>
                          <a:ea typeface="Calibri" pitchFamily="34" charset="-122"/>
                          <a:cs typeface="Calibri" pitchFamily="34" charset="-120"/>
                        </a:rPr>
                        <a:t>B–D–A–C–E</a:t>
                      </a:r>
                      <a:endParaRPr lang="en-US" sz="10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c>
                  <a:txBody>
                    <a:bodyPr/>
                    <a:lstStyle/>
                    <a:p>
                      <a:pPr algn="ctr" indent="0" marL="0">
                        <a:buNone/>
                      </a:pPr>
                      <a:r>
                        <a:rPr lang="en-US" sz="1050" b="1" dirty="0">
                          <a:solidFill>
                            <a:srgbClr val="2E1616"/>
                          </a:solidFill>
                          <a:latin typeface="Calibri" pitchFamily="34" charset="0"/>
                          <a:ea typeface="Calibri" pitchFamily="34" charset="-122"/>
                          <a:cs typeface="Calibri" pitchFamily="34" charset="-120"/>
                        </a:rPr>
                        <a:t>13,0</a:t>
                      </a:r>
                      <a:endParaRPr lang="en-US" sz="10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D7EAFD"/>
                    </a:solidFill>
                  </a:tcPr>
                </a:tc>
                <a:tc>
                  <a:txBody>
                    <a:bodyPr/>
                    <a:lstStyle/>
                    <a:p>
                      <a:pPr algn="ctr" indent="0" marL="0">
                        <a:buNone/>
                      </a:pPr>
                      <a:r>
                        <a:rPr lang="en-US" sz="1050" b="1" dirty="0">
                          <a:solidFill>
                            <a:srgbClr val="2E1616"/>
                          </a:solidFill>
                          <a:latin typeface="Calibri" pitchFamily="34" charset="0"/>
                          <a:ea typeface="Calibri" pitchFamily="34" charset="-122"/>
                          <a:cs typeface="Calibri" pitchFamily="34" charset="-120"/>
                        </a:rPr>
                        <a:t>43,1</a:t>
                      </a:r>
                      <a:endParaRPr lang="en-US" sz="10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D7EAFD"/>
                    </a:solidFill>
                  </a:tcPr>
                </a:tc>
                <a:tc>
                  <a:txBody>
                    <a:bodyPr/>
                    <a:lstStyle/>
                    <a:p>
                      <a:pPr algn="ctr" indent="0" marL="0">
                        <a:buNone/>
                      </a:pPr>
                      <a:r>
                        <a:rPr lang="en-US" sz="1050" b="1" dirty="0">
                          <a:solidFill>
                            <a:srgbClr val="2E1616"/>
                          </a:solidFill>
                          <a:latin typeface="Calibri" pitchFamily="34" charset="0"/>
                          <a:ea typeface="Calibri" pitchFamily="34" charset="-122"/>
                          <a:cs typeface="Calibri" pitchFamily="34" charset="-120"/>
                        </a:rPr>
                        <a:t>2,32</a:t>
                      </a:r>
                      <a:endParaRPr lang="en-US" sz="10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D7EAFD"/>
                    </a:solidFill>
                  </a:tcPr>
                </a:tc>
                <a:tc>
                  <a:txBody>
                    <a:bodyPr/>
                    <a:lstStyle/>
                    <a:p>
                      <a:pPr algn="ctr" indent="0" marL="0">
                        <a:buNone/>
                      </a:pPr>
                      <a:r>
                        <a:rPr lang="en-US" sz="1050" dirty="0">
                          <a:solidFill>
                            <a:srgbClr val="2E1616"/>
                          </a:solidFill>
                          <a:latin typeface="Calibri" pitchFamily="34" charset="0"/>
                          <a:ea typeface="Calibri" pitchFamily="34" charset="-122"/>
                          <a:cs typeface="Calibri" pitchFamily="34" charset="-120"/>
                        </a:rPr>
                        <a:t>1,8</a:t>
                      </a:r>
                      <a:endParaRPr lang="en-US" sz="10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r>
              <a:tr h="347472">
                <a:tc>
                  <a:txBody>
                    <a:bodyPr/>
                    <a:lstStyle/>
                    <a:p>
                      <a:pPr algn="l" indent="0" marL="0">
                        <a:buNone/>
                      </a:pPr>
                      <a:r>
                        <a:rPr lang="en-US" sz="1050" b="1" dirty="0">
                          <a:solidFill>
                            <a:srgbClr val="2E1616"/>
                          </a:solidFill>
                          <a:latin typeface="Calibri" pitchFamily="34" charset="0"/>
                          <a:ea typeface="Calibri" pitchFamily="34" charset="-122"/>
                          <a:cs typeface="Calibri" pitchFamily="34" charset="-120"/>
                        </a:rPr>
                        <a:t>EDD</a:t>
                      </a:r>
                      <a:endParaRPr lang="en-US" sz="10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E1616"/>
                          </a:solidFill>
                          <a:latin typeface="Calibri" pitchFamily="34" charset="0"/>
                          <a:ea typeface="Calibri" pitchFamily="34" charset="-122"/>
                          <a:cs typeface="Calibri" pitchFamily="34" charset="-120"/>
                        </a:rPr>
                        <a:t>B–A–D–C–E</a:t>
                      </a:r>
                      <a:endParaRPr lang="en-US" sz="10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E1616"/>
                          </a:solidFill>
                          <a:latin typeface="Calibri" pitchFamily="34" charset="0"/>
                          <a:ea typeface="Calibri" pitchFamily="34" charset="-122"/>
                          <a:cs typeface="Calibri" pitchFamily="34" charset="-120"/>
                        </a:rPr>
                        <a:t>13,6</a:t>
                      </a:r>
                      <a:endParaRPr lang="en-US" sz="10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E1616"/>
                          </a:solidFill>
                          <a:latin typeface="Calibri" pitchFamily="34" charset="0"/>
                          <a:ea typeface="Calibri" pitchFamily="34" charset="-122"/>
                          <a:cs typeface="Calibri" pitchFamily="34" charset="-120"/>
                        </a:rPr>
                        <a:t>41,2</a:t>
                      </a:r>
                      <a:endParaRPr lang="en-US" sz="10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E1616"/>
                          </a:solidFill>
                          <a:latin typeface="Calibri" pitchFamily="34" charset="0"/>
                          <a:ea typeface="Calibri" pitchFamily="34" charset="-122"/>
                          <a:cs typeface="Calibri" pitchFamily="34" charset="-120"/>
                        </a:rPr>
                        <a:t>2,43</a:t>
                      </a:r>
                      <a:endParaRPr lang="en-US" sz="10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E1616"/>
                          </a:solidFill>
                          <a:latin typeface="Calibri" pitchFamily="34" charset="0"/>
                          <a:ea typeface="Calibri" pitchFamily="34" charset="-122"/>
                          <a:cs typeface="Calibri" pitchFamily="34" charset="-120"/>
                        </a:rPr>
                        <a:t>1,2</a:t>
                      </a:r>
                      <a:endParaRPr lang="en-US" sz="10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D7EAFD"/>
                    </a:solidFill>
                  </a:tcPr>
                </a:tc>
              </a:tr>
              <a:tr h="347472">
                <a:tc>
                  <a:txBody>
                    <a:bodyPr/>
                    <a:lstStyle/>
                    <a:p>
                      <a:pPr algn="l" indent="0" marL="0">
                        <a:buNone/>
                      </a:pPr>
                      <a:r>
                        <a:rPr lang="en-US" sz="1050" b="1" dirty="0">
                          <a:solidFill>
                            <a:srgbClr val="2E1616"/>
                          </a:solidFill>
                          <a:latin typeface="Calibri" pitchFamily="34" charset="0"/>
                          <a:ea typeface="Calibri" pitchFamily="34" charset="-122"/>
                          <a:cs typeface="Calibri" pitchFamily="34" charset="-120"/>
                        </a:rPr>
                        <a:t>LPT</a:t>
                      </a:r>
                      <a:endParaRPr lang="en-US" sz="10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c>
                  <a:txBody>
                    <a:bodyPr/>
                    <a:lstStyle/>
                    <a:p>
                      <a:pPr algn="ctr" indent="0" marL="0">
                        <a:buNone/>
                      </a:pPr>
                      <a:r>
                        <a:rPr lang="en-US" sz="1050" dirty="0">
                          <a:solidFill>
                            <a:srgbClr val="2E1616"/>
                          </a:solidFill>
                          <a:latin typeface="Calibri" pitchFamily="34" charset="0"/>
                          <a:ea typeface="Calibri" pitchFamily="34" charset="-122"/>
                          <a:cs typeface="Calibri" pitchFamily="34" charset="-120"/>
                        </a:rPr>
                        <a:t>E–C–A–D–B</a:t>
                      </a:r>
                      <a:endParaRPr lang="en-US" sz="10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c>
                  <a:txBody>
                    <a:bodyPr/>
                    <a:lstStyle/>
                    <a:p>
                      <a:pPr algn="ctr" indent="0" marL="0">
                        <a:buNone/>
                      </a:pPr>
                      <a:r>
                        <a:rPr lang="en-US" sz="1050" dirty="0">
                          <a:solidFill>
                            <a:srgbClr val="2E1616"/>
                          </a:solidFill>
                          <a:latin typeface="Calibri" pitchFamily="34" charset="0"/>
                          <a:ea typeface="Calibri" pitchFamily="34" charset="-122"/>
                          <a:cs typeface="Calibri" pitchFamily="34" charset="-120"/>
                        </a:rPr>
                        <a:t>20,6</a:t>
                      </a:r>
                      <a:endParaRPr lang="en-US" sz="10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c>
                  <a:txBody>
                    <a:bodyPr/>
                    <a:lstStyle/>
                    <a:p>
                      <a:pPr algn="ctr" indent="0" marL="0">
                        <a:buNone/>
                      </a:pPr>
                      <a:r>
                        <a:rPr lang="en-US" sz="1050" dirty="0">
                          <a:solidFill>
                            <a:srgbClr val="2E1616"/>
                          </a:solidFill>
                          <a:latin typeface="Calibri" pitchFamily="34" charset="0"/>
                          <a:ea typeface="Calibri" pitchFamily="34" charset="-122"/>
                          <a:cs typeface="Calibri" pitchFamily="34" charset="-120"/>
                        </a:rPr>
                        <a:t>27,2</a:t>
                      </a:r>
                      <a:endParaRPr lang="en-US" sz="10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c>
                  <a:txBody>
                    <a:bodyPr/>
                    <a:lstStyle/>
                    <a:p>
                      <a:pPr algn="ctr" indent="0" marL="0">
                        <a:buNone/>
                      </a:pPr>
                      <a:r>
                        <a:rPr lang="en-US" sz="1050" dirty="0">
                          <a:solidFill>
                            <a:srgbClr val="2E1616"/>
                          </a:solidFill>
                          <a:latin typeface="Calibri" pitchFamily="34" charset="0"/>
                          <a:ea typeface="Calibri" pitchFamily="34" charset="-122"/>
                          <a:cs typeface="Calibri" pitchFamily="34" charset="-120"/>
                        </a:rPr>
                        <a:t>3,68</a:t>
                      </a:r>
                      <a:endParaRPr lang="en-US" sz="10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c>
                  <a:txBody>
                    <a:bodyPr/>
                    <a:lstStyle/>
                    <a:p>
                      <a:pPr algn="ctr" indent="0" marL="0">
                        <a:buNone/>
                      </a:pPr>
                      <a:r>
                        <a:rPr lang="en-US" sz="1050" dirty="0">
                          <a:solidFill>
                            <a:srgbClr val="2E1616"/>
                          </a:solidFill>
                          <a:latin typeface="Calibri" pitchFamily="34" charset="0"/>
                          <a:ea typeface="Calibri" pitchFamily="34" charset="-122"/>
                          <a:cs typeface="Calibri" pitchFamily="34" charset="-120"/>
                        </a:rPr>
                        <a:t>9,6</a:t>
                      </a:r>
                      <a:endParaRPr lang="en-US" sz="10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r>
            </a:tbl>
          </a:graphicData>
        </a:graphic>
      </p:graphicFrame>
      <p:sp>
        <p:nvSpPr>
          <p:cNvPr id="11" name="card"/>
          <p:cNvSpPr/>
          <p:nvPr/>
        </p:nvSpPr>
        <p:spPr>
          <a:xfrm>
            <a:off x="5486400" y="3931920"/>
            <a:ext cx="5928055" cy="2103120"/>
          </a:xfrm>
          <a:prstGeom prst="roundRect">
            <a:avLst>
              <a:gd name="adj" fmla="val 8696"/>
            </a:avLst>
          </a:prstGeom>
          <a:solidFill>
            <a:srgbClr val="FFFFFF"/>
          </a:solidFill>
          <a:ln w="3175">
            <a:solidFill>
              <a:srgbClr val="FFFFFF"/>
            </a:solidFill>
            <a:prstDash val="solid"/>
          </a:ln>
        </p:spPr>
      </p:sp>
      <p:sp>
        <p:nvSpPr>
          <p:cNvPr id="12" name="text"/>
          <p:cNvSpPr txBox="1"/>
          <p:nvPr/>
        </p:nvSpPr>
        <p:spPr>
          <a:xfrm>
            <a:off x="5623560" y="3931920"/>
            <a:ext cx="5653735" cy="2103120"/>
          </a:xfrm>
          <a:prstGeom prst="rect">
            <a:avLst/>
          </a:prstGeom>
          <a:noFill/>
          <a:ln/>
        </p:spPr>
        <p:txBody>
          <a:bodyPr wrap="square" lIns="0" tIns="0" rIns="0" bIns="0" rtlCol="0" anchor="ctr"/>
          <a:lstStyle/>
          <a:p>
            <a:pPr algn="l" indent="0" marL="0">
              <a:buNone/>
            </a:pPr>
            <a:r>
              <a:rPr lang="en-US" sz="1150" b="1" dirty="0">
                <a:solidFill>
                  <a:srgbClr val="2E1616"/>
                </a:solidFill>
              </a:rPr>
              <a:t>Pembacaan untuk Alaska:</a:t>
            </a:r>
            <a:r>
              <a:rPr lang="en-US" sz="1150" dirty="0">
                <a:solidFill>
                  <a:srgbClr val="2E1616"/>
                </a:solidFill>
              </a:rPr>
              <a:t> SPT memaksimalkan </a:t>
            </a:r>
            <a:r>
              <a:rPr lang="en-US" sz="1150" i="1" dirty="0">
                <a:solidFill>
                  <a:srgbClr val="2E1616"/>
                </a:solidFill>
              </a:rPr>
              <a:t>throughput</a:t>
            </a:r>
            <a:r>
              <a:rPr lang="en-US" sz="1150" dirty="0">
                <a:solidFill>
                  <a:srgbClr val="2E1616"/>
                </a:solidFill>
              </a:rPr>
              <a:t> hangar (tiga kriteria terbaik), EDD meminimalkan keterlambatan terhadap tenggat kelaikan udara, LPT terburuk di semua kriteria. Untuk pesawat AOG dipakai </a:t>
            </a:r>
            <a:r>
              <a:rPr lang="en-US" sz="1150" i="1" dirty="0">
                <a:solidFill>
                  <a:srgbClr val="2E1616"/>
                </a:solidFill>
              </a:rPr>
              <a:t>critical ratio</a:t>
            </a:r>
            <a:r>
              <a:rPr lang="en-US" sz="1150" dirty="0">
                <a:solidFill>
                  <a:srgbClr val="2E1616"/>
                </a:solidFill>
              </a:rPr>
              <a:t> (sisa waktu ÷ sisa pekerjaan) yang diperbarui setiap hari: nilai di bawah 1 berarti sudah tertinggal dan didahulukan. Tidak ada satu aturan yang unggul di semua kriteria, sehingga aturan dipilih per situasi.</a:t>
            </a:r>
            <a:endParaRPr lang="en-US" sz="1150" dirty="0"/>
          </a:p>
        </p:txBody>
      </p:sp>
      <p:sp>
        <p:nvSpPr>
          <p:cNvPr id="25" name="Slide Number Placeholder 0"/>
          <p:cNvSpPr>
            <a:spLocks noGrp="1"/>
          </p:cNvSpPr>
          <p:nvPr>
            <p:ph type="sldNum" sz="quarter" idx="4294967295"/>
          </p:nvPr>
        </p:nvSpPr>
        <p:spPr>
          <a:xfrm>
            <a:off x="11247120" y="6446520"/>
            <a:ext cx="39319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4F2D2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algn="l" indent="0" marL="0">
              <a:buNone/>
            </a:pPr>
            <a:r>
              <a:rPr lang="en-US" sz="2800" b="1" dirty="0">
                <a:solidFill>
                  <a:srgbClr val="2E1616"/>
                </a:solidFill>
              </a:rPr>
              <a:t>Alur Dua Tahap di Hangar dan Staf Darat Musim Dingin</a:t>
            </a:r>
            <a:endParaRPr lang="en-US" sz="2800" dirty="0"/>
          </a:p>
        </p:txBody>
      </p:sp>
      <p:sp>
        <p:nvSpPr>
          <p:cNvPr id="4" name="title circle"/>
          <p:cNvSpPr/>
          <p:nvPr/>
        </p:nvSpPr>
        <p:spPr>
          <a:xfrm>
            <a:off x="347472" y="384048"/>
            <a:ext cx="1207008" cy="786384"/>
          </a:xfrm>
          <a:prstGeom prst="ellipse">
            <a:avLst/>
          </a:prstGeom>
          <a:solidFill>
            <a:srgbClr val="B3D9FE">
              <a:alpha val="0"/>
            </a:srgbClr>
          </a:solidFill>
          <a:ln w="28575">
            <a:solidFill>
              <a:srgbClr val="3B8BE0"/>
            </a:solidFill>
            <a:prstDash val="solid"/>
          </a:ln>
        </p:spPr>
      </p:sp>
      <p:sp>
        <p:nvSpPr>
          <p:cNvPr id="5" name="card"/>
          <p:cNvSpPr/>
          <p:nvPr/>
        </p:nvSpPr>
        <p:spPr>
          <a:xfrm>
            <a:off x="548640" y="1325880"/>
            <a:ext cx="5760720" cy="4892040"/>
          </a:xfrm>
          <a:prstGeom prst="roundRect">
            <a:avLst>
              <a:gd name="adj" fmla="val 3738"/>
            </a:avLst>
          </a:prstGeom>
          <a:solidFill>
            <a:srgbClr val="F5F2EB"/>
          </a:solidFill>
          <a:ln w="3175">
            <a:solidFill>
              <a:srgbClr val="F5F2EB"/>
            </a:solidFill>
            <a:prstDash val="solid"/>
          </a:ln>
        </p:spPr>
      </p:sp>
      <p:sp>
        <p:nvSpPr>
          <p:cNvPr id="6" name="text"/>
          <p:cNvSpPr txBox="1"/>
          <p:nvPr/>
        </p:nvSpPr>
        <p:spPr>
          <a:xfrm>
            <a:off x="822960" y="1508760"/>
            <a:ext cx="5212080" cy="365760"/>
          </a:xfrm>
          <a:prstGeom prst="rect">
            <a:avLst/>
          </a:prstGeom>
          <a:noFill/>
          <a:ln/>
        </p:spPr>
        <p:txBody>
          <a:bodyPr wrap="square" lIns="0" tIns="0" rIns="0" bIns="0" rtlCol="0" anchor="t"/>
          <a:lstStyle/>
          <a:p>
            <a:pPr algn="l" indent="0" marL="0">
              <a:buNone/>
            </a:pPr>
            <a:r>
              <a:rPr lang="en-US" sz="1600" b="1" dirty="0">
                <a:solidFill>
                  <a:srgbClr val="2E1616"/>
                </a:solidFill>
              </a:rPr>
              <a:t>Alur inspeksi lalu perbaikan</a:t>
            </a:r>
            <a:endParaRPr lang="en-US" sz="1600" dirty="0"/>
          </a:p>
        </p:txBody>
      </p:sp>
      <p:sp>
        <p:nvSpPr>
          <p:cNvPr id="7" name="text"/>
          <p:cNvSpPr txBox="1"/>
          <p:nvPr/>
        </p:nvSpPr>
        <p:spPr>
          <a:xfrm>
            <a:off x="822960" y="1920240"/>
            <a:ext cx="5212080" cy="1600200"/>
          </a:xfrm>
          <a:prstGeom prst="rect">
            <a:avLst/>
          </a:prstGeom>
          <a:noFill/>
          <a:ln/>
        </p:spPr>
        <p:txBody>
          <a:bodyPr wrap="square" lIns="0" tIns="0" rIns="0" bIns="0" rtlCol="0" anchor="t"/>
          <a:lstStyle/>
          <a:p>
            <a:pPr algn="l" indent="0" marL="0">
              <a:buNone/>
            </a:pPr>
            <a:r>
              <a:rPr lang="en-US" sz="1200" dirty="0">
                <a:solidFill>
                  <a:srgbClr val="2E1616"/>
                </a:solidFill>
              </a:rPr>
              <a:t>Lima komponen melewati dua pusat kerja berurutan: inspeksi, lalu perbaikan dan uji (jam): A 5/2, B 3/6, C 8/4, D 10/7, E 7/12. Dengan </a:t>
            </a:r>
            <a:r>
              <a:rPr lang="en-US" sz="1200" i="1" dirty="0">
                <a:solidFill>
                  <a:srgbClr val="2E1616"/>
                </a:solidFill>
              </a:rPr>
              <a:t>Johnson's rule</a:t>
            </a:r>
            <a:r>
              <a:rPr lang="en-US" sz="1200" dirty="0">
                <a:solidFill>
                  <a:srgbClr val="2E1616"/>
                </a:solidFill>
              </a:rPr>
              <a:t> (waktu terpendek di tahap pertama dijadwalkan paling awal, di tahap kedua paling akhir), urutan </a:t>
            </a:r>
            <a:r>
              <a:rPr lang="en-US" sz="1200" b="1" dirty="0">
                <a:solidFill>
                  <a:srgbClr val="2E1616"/>
                </a:solidFill>
              </a:rPr>
              <a:t>B–E–D–C–A</a:t>
            </a:r>
            <a:r>
              <a:rPr lang="en-US" sz="1200" dirty="0">
                <a:solidFill>
                  <a:srgbClr val="2E1616"/>
                </a:solidFill>
              </a:rPr>
              <a:t> menyelesaikan semuanya dalam </a:t>
            </a:r>
            <a:r>
              <a:rPr lang="en-US" sz="1200" b="1" dirty="0">
                <a:solidFill>
                  <a:srgbClr val="2E1616"/>
                </a:solidFill>
              </a:rPr>
              <a:t>35 jam</a:t>
            </a:r>
            <a:r>
              <a:rPr lang="en-US" sz="1200" dirty="0">
                <a:solidFill>
                  <a:srgbClr val="2E1616"/>
                </a:solidFill>
              </a:rPr>
              <a:t>; urutan sembarang A–B–C–D–E memerlukan 45 jam.</a:t>
            </a:r>
            <a:endParaRPr lang="en-US" sz="1200" dirty="0"/>
          </a:p>
        </p:txBody>
      </p:sp>
      <p:sp>
        <p:nvSpPr>
          <p:cNvPr id="8" name="text"/>
          <p:cNvSpPr txBox="1"/>
          <p:nvPr/>
        </p:nvSpPr>
        <p:spPr>
          <a:xfrm>
            <a:off x="822960" y="3749040"/>
            <a:ext cx="960120" cy="420624"/>
          </a:xfrm>
          <a:prstGeom prst="rect">
            <a:avLst/>
          </a:prstGeom>
          <a:noFill/>
          <a:ln/>
        </p:spPr>
        <p:txBody>
          <a:bodyPr wrap="square" lIns="0" tIns="0" rIns="0" bIns="0" rtlCol="0" anchor="ctr"/>
          <a:lstStyle/>
          <a:p>
            <a:pPr algn="l" indent="0" marL="0">
              <a:buNone/>
            </a:pPr>
            <a:r>
              <a:rPr lang="en-US" sz="1100" b="1" dirty="0">
                <a:solidFill>
                  <a:srgbClr val="2E1616"/>
                </a:solidFill>
              </a:rPr>
              <a:t>Inspeksi</a:t>
            </a:r>
            <a:endParaRPr lang="en-US" sz="1100" dirty="0"/>
          </a:p>
        </p:txBody>
      </p:sp>
      <p:sp>
        <p:nvSpPr>
          <p:cNvPr id="9" name="text"/>
          <p:cNvSpPr txBox="1"/>
          <p:nvPr/>
        </p:nvSpPr>
        <p:spPr>
          <a:xfrm>
            <a:off x="822960" y="4242816"/>
            <a:ext cx="960120" cy="420624"/>
          </a:xfrm>
          <a:prstGeom prst="rect">
            <a:avLst/>
          </a:prstGeom>
          <a:noFill/>
          <a:ln/>
        </p:spPr>
        <p:txBody>
          <a:bodyPr wrap="square" lIns="0" tIns="0" rIns="0" bIns="0" rtlCol="0" anchor="ctr"/>
          <a:lstStyle/>
          <a:p>
            <a:pPr algn="l" indent="0" marL="0">
              <a:buNone/>
            </a:pPr>
            <a:r>
              <a:rPr lang="en-US" sz="1100" b="1" dirty="0">
                <a:solidFill>
                  <a:srgbClr val="2E1616"/>
                </a:solidFill>
              </a:rPr>
              <a:t>Perbaikan</a:t>
            </a:r>
            <a:endParaRPr lang="en-US" sz="1100" dirty="0"/>
          </a:p>
        </p:txBody>
      </p:sp>
      <p:sp>
        <p:nvSpPr>
          <p:cNvPr id="10" name="gantt bar"/>
          <p:cNvSpPr/>
          <p:nvPr/>
        </p:nvSpPr>
        <p:spPr>
          <a:xfrm>
            <a:off x="1847088" y="3749040"/>
            <a:ext cx="316121" cy="420624"/>
          </a:xfrm>
          <a:prstGeom prst="roundRect">
            <a:avLst>
              <a:gd name="adj" fmla="val 20248"/>
            </a:avLst>
          </a:prstGeom>
          <a:solidFill>
            <a:srgbClr val="3B8BE0"/>
          </a:solidFill>
          <a:ln w="3175">
            <a:solidFill>
              <a:srgbClr val="3B8BE0"/>
            </a:solidFill>
            <a:prstDash val="solid"/>
          </a:ln>
        </p:spPr>
      </p:sp>
      <p:sp>
        <p:nvSpPr>
          <p:cNvPr id="11" name="text"/>
          <p:cNvSpPr txBox="1"/>
          <p:nvPr/>
        </p:nvSpPr>
        <p:spPr>
          <a:xfrm>
            <a:off x="1828800" y="3749040"/>
            <a:ext cx="352697" cy="420624"/>
          </a:xfrm>
          <a:prstGeom prst="rect">
            <a:avLst/>
          </a:prstGeom>
          <a:noFill/>
          <a:ln/>
        </p:spPr>
        <p:txBody>
          <a:bodyPr wrap="square" lIns="0" tIns="0" rIns="0" bIns="0" rtlCol="0" anchor="ctr"/>
          <a:lstStyle/>
          <a:p>
            <a:pPr algn="ctr" indent="0" marL="0">
              <a:buNone/>
            </a:pPr>
            <a:r>
              <a:rPr lang="en-US" sz="1050" b="1" dirty="0">
                <a:solidFill>
                  <a:srgbClr val="FFFFFF"/>
                </a:solidFill>
              </a:rPr>
              <a:t>B</a:t>
            </a:r>
            <a:endParaRPr lang="en-US" sz="1050" dirty="0"/>
          </a:p>
        </p:txBody>
      </p:sp>
      <p:sp>
        <p:nvSpPr>
          <p:cNvPr id="12" name="gantt bar"/>
          <p:cNvSpPr/>
          <p:nvPr/>
        </p:nvSpPr>
        <p:spPr>
          <a:xfrm>
            <a:off x="2199785" y="3749040"/>
            <a:ext cx="786384" cy="420624"/>
          </a:xfrm>
          <a:prstGeom prst="roundRect">
            <a:avLst>
              <a:gd name="adj" fmla="val 15217"/>
            </a:avLst>
          </a:prstGeom>
          <a:solidFill>
            <a:srgbClr val="3B8BE0"/>
          </a:solidFill>
          <a:ln w="3175">
            <a:solidFill>
              <a:srgbClr val="3B8BE0"/>
            </a:solidFill>
            <a:prstDash val="solid"/>
          </a:ln>
        </p:spPr>
      </p:sp>
      <p:sp>
        <p:nvSpPr>
          <p:cNvPr id="13" name="text"/>
          <p:cNvSpPr txBox="1"/>
          <p:nvPr/>
        </p:nvSpPr>
        <p:spPr>
          <a:xfrm>
            <a:off x="2181497" y="3749040"/>
            <a:ext cx="822960" cy="420624"/>
          </a:xfrm>
          <a:prstGeom prst="rect">
            <a:avLst/>
          </a:prstGeom>
          <a:noFill/>
          <a:ln/>
        </p:spPr>
        <p:txBody>
          <a:bodyPr wrap="square" lIns="0" tIns="0" rIns="0" bIns="0" rtlCol="0" anchor="ctr"/>
          <a:lstStyle/>
          <a:p>
            <a:pPr algn="ctr" indent="0" marL="0">
              <a:buNone/>
            </a:pPr>
            <a:r>
              <a:rPr lang="en-US" sz="1050" b="1" dirty="0">
                <a:solidFill>
                  <a:srgbClr val="FFFFFF"/>
                </a:solidFill>
              </a:rPr>
              <a:t>E</a:t>
            </a:r>
            <a:endParaRPr lang="en-US" sz="1050" dirty="0"/>
          </a:p>
        </p:txBody>
      </p:sp>
      <p:sp>
        <p:nvSpPr>
          <p:cNvPr id="14" name="gantt bar"/>
          <p:cNvSpPr/>
          <p:nvPr/>
        </p:nvSpPr>
        <p:spPr>
          <a:xfrm>
            <a:off x="3022745" y="3749040"/>
            <a:ext cx="1139081" cy="420624"/>
          </a:xfrm>
          <a:prstGeom prst="roundRect">
            <a:avLst>
              <a:gd name="adj" fmla="val 15217"/>
            </a:avLst>
          </a:prstGeom>
          <a:solidFill>
            <a:srgbClr val="3B8BE0"/>
          </a:solidFill>
          <a:ln w="3175">
            <a:solidFill>
              <a:srgbClr val="3B8BE0"/>
            </a:solidFill>
            <a:prstDash val="solid"/>
          </a:ln>
        </p:spPr>
      </p:sp>
      <p:sp>
        <p:nvSpPr>
          <p:cNvPr id="15" name="text"/>
          <p:cNvSpPr txBox="1"/>
          <p:nvPr/>
        </p:nvSpPr>
        <p:spPr>
          <a:xfrm>
            <a:off x="3004457" y="3749040"/>
            <a:ext cx="1175657" cy="420624"/>
          </a:xfrm>
          <a:prstGeom prst="rect">
            <a:avLst/>
          </a:prstGeom>
          <a:noFill/>
          <a:ln/>
        </p:spPr>
        <p:txBody>
          <a:bodyPr wrap="square" lIns="0" tIns="0" rIns="0" bIns="0" rtlCol="0" anchor="ctr"/>
          <a:lstStyle/>
          <a:p>
            <a:pPr algn="ctr" indent="0" marL="0">
              <a:buNone/>
            </a:pPr>
            <a:r>
              <a:rPr lang="en-US" sz="1050" b="1" dirty="0">
                <a:solidFill>
                  <a:srgbClr val="FFFFFF"/>
                </a:solidFill>
              </a:rPr>
              <a:t>D</a:t>
            </a:r>
            <a:endParaRPr lang="en-US" sz="1050" dirty="0"/>
          </a:p>
        </p:txBody>
      </p:sp>
      <p:sp>
        <p:nvSpPr>
          <p:cNvPr id="16" name="gantt bar"/>
          <p:cNvSpPr/>
          <p:nvPr/>
        </p:nvSpPr>
        <p:spPr>
          <a:xfrm>
            <a:off x="4198402" y="3749040"/>
            <a:ext cx="903950" cy="420624"/>
          </a:xfrm>
          <a:prstGeom prst="roundRect">
            <a:avLst>
              <a:gd name="adj" fmla="val 15217"/>
            </a:avLst>
          </a:prstGeom>
          <a:solidFill>
            <a:srgbClr val="3B8BE0"/>
          </a:solidFill>
          <a:ln w="3175">
            <a:solidFill>
              <a:srgbClr val="3B8BE0"/>
            </a:solidFill>
            <a:prstDash val="solid"/>
          </a:ln>
        </p:spPr>
      </p:sp>
      <p:sp>
        <p:nvSpPr>
          <p:cNvPr id="17" name="text"/>
          <p:cNvSpPr txBox="1"/>
          <p:nvPr/>
        </p:nvSpPr>
        <p:spPr>
          <a:xfrm>
            <a:off x="4180114" y="3749040"/>
            <a:ext cx="940526" cy="420624"/>
          </a:xfrm>
          <a:prstGeom prst="rect">
            <a:avLst/>
          </a:prstGeom>
          <a:noFill/>
          <a:ln/>
        </p:spPr>
        <p:txBody>
          <a:bodyPr wrap="square" lIns="0" tIns="0" rIns="0" bIns="0" rtlCol="0" anchor="ctr"/>
          <a:lstStyle/>
          <a:p>
            <a:pPr algn="ctr" indent="0" marL="0">
              <a:buNone/>
            </a:pPr>
            <a:r>
              <a:rPr lang="en-US" sz="1050" b="1" dirty="0">
                <a:solidFill>
                  <a:srgbClr val="FFFFFF"/>
                </a:solidFill>
              </a:rPr>
              <a:t>C</a:t>
            </a:r>
            <a:endParaRPr lang="en-US" sz="1050" dirty="0"/>
          </a:p>
        </p:txBody>
      </p:sp>
      <p:sp>
        <p:nvSpPr>
          <p:cNvPr id="18" name="gantt bar"/>
          <p:cNvSpPr/>
          <p:nvPr/>
        </p:nvSpPr>
        <p:spPr>
          <a:xfrm>
            <a:off x="5138928" y="3749040"/>
            <a:ext cx="551253" cy="420624"/>
          </a:xfrm>
          <a:prstGeom prst="roundRect">
            <a:avLst>
              <a:gd name="adj" fmla="val 15217"/>
            </a:avLst>
          </a:prstGeom>
          <a:solidFill>
            <a:srgbClr val="3B8BE0"/>
          </a:solidFill>
          <a:ln w="3175">
            <a:solidFill>
              <a:srgbClr val="3B8BE0"/>
            </a:solidFill>
            <a:prstDash val="solid"/>
          </a:ln>
        </p:spPr>
      </p:sp>
      <p:sp>
        <p:nvSpPr>
          <p:cNvPr id="19" name="text"/>
          <p:cNvSpPr txBox="1"/>
          <p:nvPr/>
        </p:nvSpPr>
        <p:spPr>
          <a:xfrm>
            <a:off x="5120640" y="3749040"/>
            <a:ext cx="587829" cy="420624"/>
          </a:xfrm>
          <a:prstGeom prst="rect">
            <a:avLst/>
          </a:prstGeom>
          <a:noFill/>
          <a:ln/>
        </p:spPr>
        <p:txBody>
          <a:bodyPr wrap="square" lIns="0" tIns="0" rIns="0" bIns="0" rtlCol="0" anchor="ctr"/>
          <a:lstStyle/>
          <a:p>
            <a:pPr algn="ctr" indent="0" marL="0">
              <a:buNone/>
            </a:pPr>
            <a:r>
              <a:rPr lang="en-US" sz="1050" b="1" dirty="0">
                <a:solidFill>
                  <a:srgbClr val="FFFFFF"/>
                </a:solidFill>
              </a:rPr>
              <a:t>A</a:t>
            </a:r>
            <a:endParaRPr lang="en-US" sz="1050" dirty="0"/>
          </a:p>
        </p:txBody>
      </p:sp>
      <p:sp>
        <p:nvSpPr>
          <p:cNvPr id="20" name="gantt bar"/>
          <p:cNvSpPr/>
          <p:nvPr/>
        </p:nvSpPr>
        <p:spPr>
          <a:xfrm>
            <a:off x="2199785" y="4242816"/>
            <a:ext cx="668818" cy="420624"/>
          </a:xfrm>
          <a:prstGeom prst="roundRect">
            <a:avLst>
              <a:gd name="adj" fmla="val 15217"/>
            </a:avLst>
          </a:prstGeom>
          <a:solidFill>
            <a:srgbClr val="8FC3F5"/>
          </a:solidFill>
          <a:ln w="3175">
            <a:solidFill>
              <a:srgbClr val="8FC3F5"/>
            </a:solidFill>
            <a:prstDash val="solid"/>
          </a:ln>
        </p:spPr>
      </p:sp>
      <p:sp>
        <p:nvSpPr>
          <p:cNvPr id="21" name="text"/>
          <p:cNvSpPr txBox="1"/>
          <p:nvPr/>
        </p:nvSpPr>
        <p:spPr>
          <a:xfrm>
            <a:off x="2181497" y="4242816"/>
            <a:ext cx="705394" cy="420624"/>
          </a:xfrm>
          <a:prstGeom prst="rect">
            <a:avLst/>
          </a:prstGeom>
          <a:noFill/>
          <a:ln/>
        </p:spPr>
        <p:txBody>
          <a:bodyPr wrap="square" lIns="0" tIns="0" rIns="0" bIns="0" rtlCol="0" anchor="ctr"/>
          <a:lstStyle/>
          <a:p>
            <a:pPr algn="ctr" indent="0" marL="0">
              <a:buNone/>
            </a:pPr>
            <a:r>
              <a:rPr lang="en-US" sz="1050" b="1" dirty="0">
                <a:solidFill>
                  <a:srgbClr val="2E1616"/>
                </a:solidFill>
              </a:rPr>
              <a:t>B</a:t>
            </a:r>
            <a:endParaRPr lang="en-US" sz="1050" dirty="0"/>
          </a:p>
        </p:txBody>
      </p:sp>
      <p:sp>
        <p:nvSpPr>
          <p:cNvPr id="22" name="gantt bar"/>
          <p:cNvSpPr/>
          <p:nvPr/>
        </p:nvSpPr>
        <p:spPr>
          <a:xfrm>
            <a:off x="3022745" y="4242816"/>
            <a:ext cx="1374213" cy="420624"/>
          </a:xfrm>
          <a:prstGeom prst="roundRect">
            <a:avLst>
              <a:gd name="adj" fmla="val 15217"/>
            </a:avLst>
          </a:prstGeom>
          <a:solidFill>
            <a:srgbClr val="8FC3F5"/>
          </a:solidFill>
          <a:ln w="3175">
            <a:solidFill>
              <a:srgbClr val="8FC3F5"/>
            </a:solidFill>
            <a:prstDash val="solid"/>
          </a:ln>
        </p:spPr>
      </p:sp>
      <p:sp>
        <p:nvSpPr>
          <p:cNvPr id="23" name="text"/>
          <p:cNvSpPr txBox="1"/>
          <p:nvPr/>
        </p:nvSpPr>
        <p:spPr>
          <a:xfrm>
            <a:off x="3004457" y="4242816"/>
            <a:ext cx="1410789" cy="420624"/>
          </a:xfrm>
          <a:prstGeom prst="rect">
            <a:avLst/>
          </a:prstGeom>
          <a:noFill/>
          <a:ln/>
        </p:spPr>
        <p:txBody>
          <a:bodyPr wrap="square" lIns="0" tIns="0" rIns="0" bIns="0" rtlCol="0" anchor="ctr"/>
          <a:lstStyle/>
          <a:p>
            <a:pPr algn="ctr" indent="0" marL="0">
              <a:buNone/>
            </a:pPr>
            <a:r>
              <a:rPr lang="en-US" sz="1050" b="1" dirty="0">
                <a:solidFill>
                  <a:srgbClr val="2E1616"/>
                </a:solidFill>
              </a:rPr>
              <a:t>E</a:t>
            </a:r>
            <a:endParaRPr lang="en-US" sz="1050" dirty="0"/>
          </a:p>
        </p:txBody>
      </p:sp>
      <p:sp>
        <p:nvSpPr>
          <p:cNvPr id="24" name="gantt bar"/>
          <p:cNvSpPr/>
          <p:nvPr/>
        </p:nvSpPr>
        <p:spPr>
          <a:xfrm>
            <a:off x="4433534" y="4242816"/>
            <a:ext cx="786384" cy="420624"/>
          </a:xfrm>
          <a:prstGeom prst="roundRect">
            <a:avLst>
              <a:gd name="adj" fmla="val 15217"/>
            </a:avLst>
          </a:prstGeom>
          <a:solidFill>
            <a:srgbClr val="8FC3F5"/>
          </a:solidFill>
          <a:ln w="3175">
            <a:solidFill>
              <a:srgbClr val="8FC3F5"/>
            </a:solidFill>
            <a:prstDash val="solid"/>
          </a:ln>
        </p:spPr>
      </p:sp>
      <p:sp>
        <p:nvSpPr>
          <p:cNvPr id="25" name="text"/>
          <p:cNvSpPr txBox="1"/>
          <p:nvPr/>
        </p:nvSpPr>
        <p:spPr>
          <a:xfrm>
            <a:off x="4415246" y="4242816"/>
            <a:ext cx="822960" cy="420624"/>
          </a:xfrm>
          <a:prstGeom prst="rect">
            <a:avLst/>
          </a:prstGeom>
          <a:noFill/>
          <a:ln/>
        </p:spPr>
        <p:txBody>
          <a:bodyPr wrap="square" lIns="0" tIns="0" rIns="0" bIns="0" rtlCol="0" anchor="ctr"/>
          <a:lstStyle/>
          <a:p>
            <a:pPr algn="ctr" indent="0" marL="0">
              <a:buNone/>
            </a:pPr>
            <a:r>
              <a:rPr lang="en-US" sz="1050" b="1" dirty="0">
                <a:solidFill>
                  <a:srgbClr val="2E1616"/>
                </a:solidFill>
              </a:rPr>
              <a:t>D</a:t>
            </a:r>
            <a:endParaRPr lang="en-US" sz="1050" dirty="0"/>
          </a:p>
        </p:txBody>
      </p:sp>
      <p:sp>
        <p:nvSpPr>
          <p:cNvPr id="26" name="gantt bar"/>
          <p:cNvSpPr/>
          <p:nvPr/>
        </p:nvSpPr>
        <p:spPr>
          <a:xfrm>
            <a:off x="5256494" y="4242816"/>
            <a:ext cx="433687" cy="420624"/>
          </a:xfrm>
          <a:prstGeom prst="roundRect">
            <a:avLst>
              <a:gd name="adj" fmla="val 15217"/>
            </a:avLst>
          </a:prstGeom>
          <a:solidFill>
            <a:srgbClr val="8FC3F5"/>
          </a:solidFill>
          <a:ln w="3175">
            <a:solidFill>
              <a:srgbClr val="8FC3F5"/>
            </a:solidFill>
            <a:prstDash val="solid"/>
          </a:ln>
        </p:spPr>
      </p:sp>
      <p:sp>
        <p:nvSpPr>
          <p:cNvPr id="27" name="text"/>
          <p:cNvSpPr txBox="1"/>
          <p:nvPr/>
        </p:nvSpPr>
        <p:spPr>
          <a:xfrm>
            <a:off x="5238206" y="4242816"/>
            <a:ext cx="470263" cy="420624"/>
          </a:xfrm>
          <a:prstGeom prst="rect">
            <a:avLst/>
          </a:prstGeom>
          <a:noFill/>
          <a:ln/>
        </p:spPr>
        <p:txBody>
          <a:bodyPr wrap="square" lIns="0" tIns="0" rIns="0" bIns="0" rtlCol="0" anchor="ctr"/>
          <a:lstStyle/>
          <a:p>
            <a:pPr algn="ctr" indent="0" marL="0">
              <a:buNone/>
            </a:pPr>
            <a:r>
              <a:rPr lang="en-US" sz="1050" b="1" dirty="0">
                <a:solidFill>
                  <a:srgbClr val="2E1616"/>
                </a:solidFill>
              </a:rPr>
              <a:t>C</a:t>
            </a:r>
            <a:endParaRPr lang="en-US" sz="1050" dirty="0"/>
          </a:p>
        </p:txBody>
      </p:sp>
      <p:sp>
        <p:nvSpPr>
          <p:cNvPr id="28" name="gantt bar"/>
          <p:cNvSpPr/>
          <p:nvPr/>
        </p:nvSpPr>
        <p:spPr>
          <a:xfrm>
            <a:off x="5726757" y="4242816"/>
            <a:ext cx="198555" cy="420624"/>
          </a:xfrm>
          <a:prstGeom prst="roundRect">
            <a:avLst>
              <a:gd name="adj" fmla="val 32237"/>
            </a:avLst>
          </a:prstGeom>
          <a:solidFill>
            <a:srgbClr val="8FC3F5"/>
          </a:solidFill>
          <a:ln w="3175">
            <a:solidFill>
              <a:srgbClr val="8FC3F5"/>
            </a:solidFill>
            <a:prstDash val="solid"/>
          </a:ln>
        </p:spPr>
      </p:sp>
      <p:sp>
        <p:nvSpPr>
          <p:cNvPr id="29" name="text"/>
          <p:cNvSpPr txBox="1"/>
          <p:nvPr/>
        </p:nvSpPr>
        <p:spPr>
          <a:xfrm>
            <a:off x="5708469" y="4242816"/>
            <a:ext cx="235131" cy="420624"/>
          </a:xfrm>
          <a:prstGeom prst="rect">
            <a:avLst/>
          </a:prstGeom>
          <a:noFill/>
          <a:ln/>
        </p:spPr>
        <p:txBody>
          <a:bodyPr wrap="square" lIns="0" tIns="0" rIns="0" bIns="0" rtlCol="0" anchor="ctr"/>
          <a:lstStyle/>
          <a:p>
            <a:pPr algn="ctr" indent="0" marL="0">
              <a:buNone/>
            </a:pPr>
            <a:r>
              <a:rPr lang="en-US" sz="1050" b="1" dirty="0">
                <a:solidFill>
                  <a:srgbClr val="2E1616"/>
                </a:solidFill>
              </a:rPr>
              <a:t>A</a:t>
            </a:r>
            <a:endParaRPr lang="en-US" sz="1050" dirty="0"/>
          </a:p>
        </p:txBody>
      </p:sp>
      <p:sp>
        <p:nvSpPr>
          <p:cNvPr id="30" name="text"/>
          <p:cNvSpPr txBox="1"/>
          <p:nvPr/>
        </p:nvSpPr>
        <p:spPr>
          <a:xfrm>
            <a:off x="1554480" y="4718304"/>
            <a:ext cx="548640" cy="228600"/>
          </a:xfrm>
          <a:prstGeom prst="rect">
            <a:avLst/>
          </a:prstGeom>
          <a:noFill/>
          <a:ln/>
        </p:spPr>
        <p:txBody>
          <a:bodyPr wrap="square" lIns="0" tIns="0" rIns="0" bIns="0" rtlCol="0" anchor="t"/>
          <a:lstStyle/>
          <a:p>
            <a:pPr algn="ctr" indent="0" marL="0">
              <a:buNone/>
            </a:pPr>
            <a:r>
              <a:rPr lang="en-US" sz="950" dirty="0">
                <a:solidFill>
                  <a:srgbClr val="6E5A5A"/>
                </a:solidFill>
              </a:rPr>
              <a:t>0</a:t>
            </a:r>
            <a:endParaRPr lang="en-US" sz="950" dirty="0"/>
          </a:p>
        </p:txBody>
      </p:sp>
      <p:sp>
        <p:nvSpPr>
          <p:cNvPr id="31" name="text"/>
          <p:cNvSpPr txBox="1"/>
          <p:nvPr/>
        </p:nvSpPr>
        <p:spPr>
          <a:xfrm>
            <a:off x="2730137" y="4718304"/>
            <a:ext cx="548640" cy="228600"/>
          </a:xfrm>
          <a:prstGeom prst="rect">
            <a:avLst/>
          </a:prstGeom>
          <a:noFill/>
          <a:ln/>
        </p:spPr>
        <p:txBody>
          <a:bodyPr wrap="square" lIns="0" tIns="0" rIns="0" bIns="0" rtlCol="0" anchor="t"/>
          <a:lstStyle/>
          <a:p>
            <a:pPr algn="ctr" indent="0" marL="0">
              <a:buNone/>
            </a:pPr>
            <a:r>
              <a:rPr lang="en-US" sz="950" dirty="0">
                <a:solidFill>
                  <a:srgbClr val="6E5A5A"/>
                </a:solidFill>
              </a:rPr>
              <a:t>10</a:t>
            </a:r>
            <a:endParaRPr lang="en-US" sz="950" dirty="0"/>
          </a:p>
        </p:txBody>
      </p:sp>
      <p:sp>
        <p:nvSpPr>
          <p:cNvPr id="32" name="text"/>
          <p:cNvSpPr txBox="1"/>
          <p:nvPr/>
        </p:nvSpPr>
        <p:spPr>
          <a:xfrm>
            <a:off x="3905794" y="4718304"/>
            <a:ext cx="548640" cy="228600"/>
          </a:xfrm>
          <a:prstGeom prst="rect">
            <a:avLst/>
          </a:prstGeom>
          <a:noFill/>
          <a:ln/>
        </p:spPr>
        <p:txBody>
          <a:bodyPr wrap="square" lIns="0" tIns="0" rIns="0" bIns="0" rtlCol="0" anchor="t"/>
          <a:lstStyle/>
          <a:p>
            <a:pPr algn="ctr" indent="0" marL="0">
              <a:buNone/>
            </a:pPr>
            <a:r>
              <a:rPr lang="en-US" sz="950" dirty="0">
                <a:solidFill>
                  <a:srgbClr val="6E5A5A"/>
                </a:solidFill>
              </a:rPr>
              <a:t>20</a:t>
            </a:r>
            <a:endParaRPr lang="en-US" sz="950" dirty="0"/>
          </a:p>
        </p:txBody>
      </p:sp>
      <p:sp>
        <p:nvSpPr>
          <p:cNvPr id="33" name="text"/>
          <p:cNvSpPr txBox="1"/>
          <p:nvPr/>
        </p:nvSpPr>
        <p:spPr>
          <a:xfrm>
            <a:off x="5081451" y="4718304"/>
            <a:ext cx="548640" cy="228600"/>
          </a:xfrm>
          <a:prstGeom prst="rect">
            <a:avLst/>
          </a:prstGeom>
          <a:noFill/>
          <a:ln/>
        </p:spPr>
        <p:txBody>
          <a:bodyPr wrap="square" lIns="0" tIns="0" rIns="0" bIns="0" rtlCol="0" anchor="t"/>
          <a:lstStyle/>
          <a:p>
            <a:pPr algn="ctr" indent="0" marL="0">
              <a:buNone/>
            </a:pPr>
            <a:r>
              <a:rPr lang="en-US" sz="950" dirty="0">
                <a:solidFill>
                  <a:srgbClr val="6E5A5A"/>
                </a:solidFill>
              </a:rPr>
              <a:t>30</a:t>
            </a:r>
            <a:endParaRPr lang="en-US" sz="950" dirty="0"/>
          </a:p>
        </p:txBody>
      </p:sp>
      <p:sp>
        <p:nvSpPr>
          <p:cNvPr id="34" name="text"/>
          <p:cNvSpPr txBox="1"/>
          <p:nvPr/>
        </p:nvSpPr>
        <p:spPr>
          <a:xfrm>
            <a:off x="5440680" y="4718304"/>
            <a:ext cx="685800" cy="228600"/>
          </a:xfrm>
          <a:prstGeom prst="rect">
            <a:avLst/>
          </a:prstGeom>
          <a:noFill/>
          <a:ln/>
        </p:spPr>
        <p:txBody>
          <a:bodyPr wrap="square" lIns="0" tIns="0" rIns="0" bIns="0" rtlCol="0" anchor="t"/>
          <a:lstStyle/>
          <a:p>
            <a:pPr algn="r" indent="0" marL="0">
              <a:buNone/>
            </a:pPr>
            <a:r>
              <a:rPr lang="en-US" sz="950" dirty="0">
                <a:solidFill>
                  <a:srgbClr val="6E5A5A"/>
                </a:solidFill>
              </a:rPr>
              <a:t>35 jam</a:t>
            </a:r>
            <a:endParaRPr lang="en-US" sz="950" dirty="0"/>
          </a:p>
        </p:txBody>
      </p:sp>
      <p:sp>
        <p:nvSpPr>
          <p:cNvPr id="35" name="text"/>
          <p:cNvSpPr txBox="1"/>
          <p:nvPr/>
        </p:nvSpPr>
        <p:spPr>
          <a:xfrm>
            <a:off x="822960" y="5074920"/>
            <a:ext cx="5212080" cy="1005840"/>
          </a:xfrm>
          <a:prstGeom prst="rect">
            <a:avLst/>
          </a:prstGeom>
          <a:noFill/>
          <a:ln/>
        </p:spPr>
        <p:txBody>
          <a:bodyPr wrap="square" lIns="0" tIns="0" rIns="0" bIns="0" rtlCol="0" anchor="t"/>
          <a:lstStyle/>
          <a:p>
            <a:pPr algn="l" indent="0" marL="0">
              <a:buNone/>
            </a:pPr>
            <a:r>
              <a:rPr lang="en-US" sz="1100" i="1" dirty="0">
                <a:solidFill>
                  <a:srgbClr val="6E5A5A"/>
                </a:solidFill>
              </a:rPr>
              <a:t>Pusat kerja kedua menganggur hanya saat menunggu pekerjaan pertama; pola ini dipakai untuk </a:t>
            </a:r>
            <a:r>
              <a:rPr lang="en-US" sz="1100" i="1" dirty="0">
                <a:solidFill>
                  <a:srgbClr val="6E5A5A"/>
                </a:solidFill>
              </a:rPr>
              <a:t>shop</a:t>
            </a:r>
            <a:r>
              <a:rPr lang="en-US" sz="1100" i="1" dirty="0">
                <a:solidFill>
                  <a:srgbClr val="6E5A5A"/>
                </a:solidFill>
              </a:rPr>
              <a:t> komponen dua tahap.</a:t>
            </a:r>
            <a:endParaRPr lang="en-US" sz="1100" dirty="0"/>
          </a:p>
        </p:txBody>
      </p:sp>
      <p:sp>
        <p:nvSpPr>
          <p:cNvPr id="36" name="card"/>
          <p:cNvSpPr/>
          <p:nvPr/>
        </p:nvSpPr>
        <p:spPr>
          <a:xfrm>
            <a:off x="6583680" y="1325880"/>
            <a:ext cx="5059375" cy="4892040"/>
          </a:xfrm>
          <a:prstGeom prst="roundRect">
            <a:avLst>
              <a:gd name="adj" fmla="val 3738"/>
            </a:avLst>
          </a:prstGeom>
          <a:solidFill>
            <a:srgbClr val="F5F2EB"/>
          </a:solidFill>
          <a:ln w="3175">
            <a:solidFill>
              <a:srgbClr val="F5F2EB"/>
            </a:solidFill>
            <a:prstDash val="solid"/>
          </a:ln>
        </p:spPr>
      </p:sp>
      <p:sp>
        <p:nvSpPr>
          <p:cNvPr id="37" name="text"/>
          <p:cNvSpPr txBox="1"/>
          <p:nvPr/>
        </p:nvSpPr>
        <p:spPr>
          <a:xfrm>
            <a:off x="6858000" y="1508760"/>
            <a:ext cx="4510735" cy="365760"/>
          </a:xfrm>
          <a:prstGeom prst="rect">
            <a:avLst/>
          </a:prstGeom>
          <a:noFill/>
          <a:ln/>
        </p:spPr>
        <p:txBody>
          <a:bodyPr wrap="square" lIns="0" tIns="0" rIns="0" bIns="0" rtlCol="0" anchor="t"/>
          <a:lstStyle/>
          <a:p>
            <a:pPr algn="l" indent="0" marL="0">
              <a:buNone/>
            </a:pPr>
            <a:r>
              <a:rPr lang="en-US" sz="1600" b="1" dirty="0">
                <a:solidFill>
                  <a:srgbClr val="2E1616"/>
                </a:solidFill>
              </a:rPr>
              <a:t>Staf gate dengan jadwal siklis</a:t>
            </a:r>
            <a:endParaRPr lang="en-US" sz="1600" dirty="0"/>
          </a:p>
        </p:txBody>
      </p:sp>
      <p:sp>
        <p:nvSpPr>
          <p:cNvPr id="38" name="text"/>
          <p:cNvSpPr txBox="1"/>
          <p:nvPr/>
        </p:nvSpPr>
        <p:spPr>
          <a:xfrm>
            <a:off x="6858000" y="1920240"/>
            <a:ext cx="4510735" cy="868680"/>
          </a:xfrm>
          <a:prstGeom prst="rect">
            <a:avLst/>
          </a:prstGeom>
          <a:noFill/>
          <a:ln/>
        </p:spPr>
        <p:txBody>
          <a:bodyPr wrap="square" lIns="0" tIns="0" rIns="0" bIns="0" rtlCol="0" anchor="t"/>
          <a:lstStyle/>
          <a:p>
            <a:pPr algn="l" indent="0" marL="0">
              <a:buNone/>
            </a:pPr>
            <a:r>
              <a:rPr lang="en-US" sz="1200" dirty="0">
                <a:solidFill>
                  <a:srgbClr val="2E1616"/>
                </a:solidFill>
              </a:rPr>
              <a:t>Kebutuhan petugas </a:t>
            </a:r>
            <a:r>
              <a:rPr lang="en-US" sz="1200" i="1" dirty="0">
                <a:solidFill>
                  <a:srgbClr val="2E1616"/>
                </a:solidFill>
              </a:rPr>
              <a:t>gate</a:t>
            </a:r>
            <a:r>
              <a:rPr lang="en-US" sz="1200" dirty="0">
                <a:solidFill>
                  <a:srgbClr val="2E1616"/>
                </a:solidFill>
              </a:rPr>
              <a:t> per hari (Senin–Minggu): 5, 5, 6, 5, 4, 3, 3. Dengan pola lima hari kerja dan dua hari libur berurutan, tujuh petugas mencukupi:</a:t>
            </a:r>
            <a:endParaRPr lang="en-US" sz="12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6858000" y="2834640"/>
          <a:ext cx="4510735" cy="914400"/>
        </p:xfrm>
        <a:graphic>
          <a:graphicData uri="http://schemas.openxmlformats.org/drawingml/2006/table">
            <a:tbl>
              <a:tblPr/>
              <a:tblGrid>
                <a:gridCol w="1005840"/>
                <a:gridCol w="500699"/>
                <a:gridCol w="500699"/>
                <a:gridCol w="500699"/>
                <a:gridCol w="500699"/>
                <a:gridCol w="500699"/>
                <a:gridCol w="500699"/>
                <a:gridCol w="500699"/>
              </a:tblGrid>
              <a:tr h="365760">
                <a:tc>
                  <a:txBody>
                    <a:bodyPr/>
                    <a:lstStyle/>
                    <a:p>
                      <a:pPr algn="ctr" indent="0" marL="0">
                        <a:buNone/>
                      </a:pPr>
                      <a:endParaRPr lang="en-US" sz="9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4F2D2C"/>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Sen</a:t>
                      </a:r>
                      <a:endParaRPr lang="en-US" sz="9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4F2D2C"/>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Sel</a:t>
                      </a:r>
                      <a:endParaRPr lang="en-US" sz="9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4F2D2C"/>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Rab</a:t>
                      </a:r>
                      <a:endParaRPr lang="en-US" sz="9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4F2D2C"/>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Kam</a:t>
                      </a:r>
                      <a:endParaRPr lang="en-US" sz="9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4F2D2C"/>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Jum</a:t>
                      </a:r>
                      <a:endParaRPr lang="en-US" sz="9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4F2D2C"/>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Sab</a:t>
                      </a:r>
                      <a:endParaRPr lang="en-US" sz="9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4F2D2C"/>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Min</a:t>
                      </a:r>
                      <a:endParaRPr lang="en-US" sz="9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4F2D2C"/>
                    </a:solidFill>
                  </a:tcPr>
                </a:tc>
              </a:tr>
              <a:tr h="365760">
                <a:tc>
                  <a:txBody>
                    <a:bodyPr/>
                    <a:lstStyle/>
                    <a:p>
                      <a:pPr algn="l" indent="0" marL="0">
                        <a:buNone/>
                      </a:pPr>
                      <a:r>
                        <a:rPr lang="en-US" sz="950" b="1" dirty="0">
                          <a:solidFill>
                            <a:srgbClr val="2E1616"/>
                          </a:solidFill>
                          <a:latin typeface="Calibri" pitchFamily="34" charset="0"/>
                          <a:ea typeface="Calibri" pitchFamily="34" charset="-122"/>
                          <a:cs typeface="Calibri" pitchFamily="34" charset="-120"/>
                        </a:rPr>
                        <a:t>Kebutuhan</a:t>
                      </a:r>
                      <a:endParaRPr lang="en-US" sz="9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E1616"/>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E1616"/>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E1616"/>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E1616"/>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E1616"/>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E1616"/>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E1616"/>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2E1616"/>
                          </a:solidFill>
                          <a:latin typeface="Calibri" pitchFamily="34" charset="0"/>
                          <a:ea typeface="Calibri" pitchFamily="34" charset="-122"/>
                          <a:cs typeface="Calibri" pitchFamily="34" charset="-120"/>
                        </a:rPr>
                        <a:t>Hari libur</a:t>
                      </a:r>
                      <a:endParaRPr lang="en-US" sz="9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c>
                  <a:txBody>
                    <a:bodyPr/>
                    <a:lstStyle/>
                    <a:p>
                      <a:pPr algn="ctr" indent="0" marL="0">
                        <a:buNone/>
                      </a:pPr>
                      <a:r>
                        <a:rPr lang="en-US" sz="950" dirty="0">
                          <a:solidFill>
                            <a:srgbClr val="2E1616"/>
                          </a:solidFill>
                          <a:latin typeface="Calibri" pitchFamily="34" charset="0"/>
                          <a:ea typeface="Calibri" pitchFamily="34" charset="-122"/>
                          <a:cs typeface="Calibri" pitchFamily="34" charset="-120"/>
                        </a:rPr>
                        <a:t>P5, P7</a:t>
                      </a:r>
                      <a:endParaRPr lang="en-US" sz="9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D7EAFD"/>
                    </a:solidFill>
                  </a:tcPr>
                </a:tc>
                <a:tc>
                  <a:txBody>
                    <a:bodyPr/>
                    <a:lstStyle/>
                    <a:p>
                      <a:pPr algn="ctr" indent="0" marL="0">
                        <a:buNone/>
                      </a:pPr>
                      <a:r>
                        <a:rPr lang="en-US" sz="950" dirty="0">
                          <a:solidFill>
                            <a:srgbClr val="2E1616"/>
                          </a:solidFill>
                          <a:latin typeface="Calibri" pitchFamily="34" charset="0"/>
                          <a:ea typeface="Calibri" pitchFamily="34" charset="-122"/>
                          <a:cs typeface="Calibri" pitchFamily="34" charset="-120"/>
                        </a:rPr>
                        <a:t>P5, P7</a:t>
                      </a:r>
                      <a:endParaRPr lang="en-US" sz="9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D7EAFD"/>
                    </a:solidFill>
                  </a:tcPr>
                </a:tc>
                <a:tc>
                  <a:txBody>
                    <a:bodyPr/>
                    <a:lstStyle/>
                    <a:p>
                      <a:pPr algn="ctr" indent="0" marL="0">
                        <a:buNone/>
                      </a:pPr>
                      <a:r>
                        <a:rPr lang="en-US" sz="950" dirty="0">
                          <a:solidFill>
                            <a:srgbClr val="2E1616"/>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D7EAFD"/>
                    </a:solidFill>
                  </a:tcPr>
                </a:tc>
                <a:tc>
                  <a:txBody>
                    <a:bodyPr/>
                    <a:lstStyle/>
                    <a:p>
                      <a:pPr algn="ctr" indent="0" marL="0">
                        <a:buNone/>
                      </a:pPr>
                      <a:r>
                        <a:rPr lang="en-US" sz="950" dirty="0">
                          <a:solidFill>
                            <a:srgbClr val="2E1616"/>
                          </a:solidFill>
                          <a:latin typeface="Calibri" pitchFamily="34" charset="0"/>
                          <a:ea typeface="Calibri" pitchFamily="34" charset="-122"/>
                          <a:cs typeface="Calibri" pitchFamily="34" charset="-120"/>
                        </a:rPr>
                        <a:t>P3, P6</a:t>
                      </a:r>
                      <a:endParaRPr lang="en-US" sz="9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D7EAFD"/>
                    </a:solidFill>
                  </a:tcPr>
                </a:tc>
                <a:tc>
                  <a:txBody>
                    <a:bodyPr/>
                    <a:lstStyle/>
                    <a:p>
                      <a:pPr algn="ctr" indent="0" marL="0">
                        <a:buNone/>
                      </a:pPr>
                      <a:r>
                        <a:rPr lang="en-US" sz="950" dirty="0">
                          <a:solidFill>
                            <a:srgbClr val="2E1616"/>
                          </a:solidFill>
                          <a:latin typeface="Calibri" pitchFamily="34" charset="0"/>
                          <a:ea typeface="Calibri" pitchFamily="34" charset="-122"/>
                          <a:cs typeface="Calibri" pitchFamily="34" charset="-120"/>
                        </a:rPr>
                        <a:t>P3, P6</a:t>
                      </a:r>
                      <a:endParaRPr lang="en-US" sz="9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D7EAFD"/>
                    </a:solidFill>
                  </a:tcPr>
                </a:tc>
                <a:tc>
                  <a:txBody>
                    <a:bodyPr/>
                    <a:lstStyle/>
                    <a:p>
                      <a:pPr algn="ctr" indent="0" marL="0">
                        <a:buNone/>
                      </a:pPr>
                      <a:r>
                        <a:rPr lang="en-US" sz="950" dirty="0">
                          <a:solidFill>
                            <a:srgbClr val="2E1616"/>
                          </a:solidFill>
                          <a:latin typeface="Calibri" pitchFamily="34" charset="0"/>
                          <a:ea typeface="Calibri" pitchFamily="34" charset="-122"/>
                          <a:cs typeface="Calibri" pitchFamily="34" charset="-120"/>
                        </a:rPr>
                        <a:t>P1, P2, P4</a:t>
                      </a:r>
                      <a:endParaRPr lang="en-US" sz="9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D7EAFD"/>
                    </a:solidFill>
                  </a:tcPr>
                </a:tc>
                <a:tc>
                  <a:txBody>
                    <a:bodyPr/>
                    <a:lstStyle/>
                    <a:p>
                      <a:pPr algn="ctr" indent="0" marL="0">
                        <a:buNone/>
                      </a:pPr>
                      <a:r>
                        <a:rPr lang="en-US" sz="950" dirty="0">
                          <a:solidFill>
                            <a:srgbClr val="2E1616"/>
                          </a:solidFill>
                          <a:latin typeface="Calibri" pitchFamily="34" charset="0"/>
                          <a:ea typeface="Calibri" pitchFamily="34" charset="-122"/>
                          <a:cs typeface="Calibri" pitchFamily="34" charset="-120"/>
                        </a:rPr>
                        <a:t>P1, P2, P4</a:t>
                      </a:r>
                      <a:endParaRPr lang="en-US" sz="9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D7EAFD"/>
                    </a:solidFill>
                  </a:tcPr>
                </a:tc>
              </a:tr>
              <a:tr h="365760">
                <a:tc>
                  <a:txBody>
                    <a:bodyPr/>
                    <a:lstStyle/>
                    <a:p>
                      <a:pPr algn="l" indent="0" marL="0">
                        <a:buNone/>
                      </a:pPr>
                      <a:r>
                        <a:rPr lang="en-US" sz="950" b="1" dirty="0">
                          <a:solidFill>
                            <a:srgbClr val="2E1616"/>
                          </a:solidFill>
                          <a:latin typeface="Calibri" pitchFamily="34" charset="0"/>
                          <a:ea typeface="Calibri" pitchFamily="34" charset="-122"/>
                          <a:cs typeface="Calibri" pitchFamily="34" charset="-120"/>
                        </a:rPr>
                        <a:t>Kapasitas</a:t>
                      </a:r>
                      <a:endParaRPr lang="en-US" sz="9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E1616"/>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E1616"/>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E1616"/>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E1616"/>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E1616"/>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E1616"/>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E1616"/>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2E1616"/>
                          </a:solidFill>
                          <a:latin typeface="Calibri" pitchFamily="34" charset="0"/>
                          <a:ea typeface="Calibri" pitchFamily="34" charset="-122"/>
                          <a:cs typeface="Calibri" pitchFamily="34" charset="-120"/>
                        </a:rPr>
                        <a:t>Kelebihan</a:t>
                      </a:r>
                      <a:endParaRPr lang="en-US" sz="9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c>
                  <a:txBody>
                    <a:bodyPr/>
                    <a:lstStyle/>
                    <a:p>
                      <a:pPr algn="ctr" indent="0" marL="0">
                        <a:buNone/>
                      </a:pPr>
                      <a:r>
                        <a:rPr lang="en-US" sz="950" dirty="0">
                          <a:solidFill>
                            <a:srgbClr val="2E1616"/>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c>
                  <a:txBody>
                    <a:bodyPr/>
                    <a:lstStyle/>
                    <a:p>
                      <a:pPr algn="ctr" indent="0" marL="0">
                        <a:buNone/>
                      </a:pPr>
                      <a:r>
                        <a:rPr lang="en-US" sz="950" dirty="0">
                          <a:solidFill>
                            <a:srgbClr val="2E1616"/>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c>
                  <a:txBody>
                    <a:bodyPr/>
                    <a:lstStyle/>
                    <a:p>
                      <a:pPr algn="ctr" indent="0" marL="0">
                        <a:buNone/>
                      </a:pPr>
                      <a:r>
                        <a:rPr lang="en-US" sz="950" dirty="0">
                          <a:solidFill>
                            <a:srgbClr val="2E1616"/>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c>
                  <a:txBody>
                    <a:bodyPr/>
                    <a:lstStyle/>
                    <a:p>
                      <a:pPr algn="ctr" indent="0" marL="0">
                        <a:buNone/>
                      </a:pPr>
                      <a:r>
                        <a:rPr lang="en-US" sz="950" dirty="0">
                          <a:solidFill>
                            <a:srgbClr val="2E1616"/>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c>
                  <a:txBody>
                    <a:bodyPr/>
                    <a:lstStyle/>
                    <a:p>
                      <a:pPr algn="ctr" indent="0" marL="0">
                        <a:buNone/>
                      </a:pPr>
                      <a:r>
                        <a:rPr lang="en-US" sz="950" dirty="0">
                          <a:solidFill>
                            <a:srgbClr val="2E1616"/>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c>
                  <a:txBody>
                    <a:bodyPr/>
                    <a:lstStyle/>
                    <a:p>
                      <a:pPr algn="ctr" indent="0" marL="0">
                        <a:buNone/>
                      </a:pPr>
                      <a:r>
                        <a:rPr lang="en-US" sz="950" dirty="0">
                          <a:solidFill>
                            <a:srgbClr val="2E1616"/>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c>
                  <a:txBody>
                    <a:bodyPr/>
                    <a:lstStyle/>
                    <a:p>
                      <a:pPr algn="ctr" indent="0" marL="0">
                        <a:buNone/>
                      </a:pPr>
                      <a:r>
                        <a:rPr lang="en-US" sz="950" dirty="0">
                          <a:solidFill>
                            <a:srgbClr val="2E1616"/>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45720" marR="45720" marT="45720" marB="45720" anchor="ctr">
                    <a:lnL w="9525" cap="flat" cmpd="sng" algn="ctr">
                      <a:solidFill>
                        <a:srgbClr val="E3DCD0"/>
                      </a:solidFill>
                      <a:prstDash val="solid"/>
                      <a:round/>
                      <a:headEnd type="none" w="med" len="med"/>
                      <a:tailEnd type="none" w="med" len="med"/>
                    </a:lnL>
                    <a:lnR w="9525" cap="flat" cmpd="sng" algn="ctr">
                      <a:solidFill>
                        <a:srgbClr val="E3DCD0"/>
                      </a:solidFill>
                      <a:prstDash val="solid"/>
                      <a:round/>
                      <a:headEnd type="none" w="med" len="med"/>
                      <a:tailEnd type="none" w="med" len="med"/>
                    </a:lnR>
                    <a:lnT w="9525" cap="flat" cmpd="sng" algn="ctr">
                      <a:solidFill>
                        <a:srgbClr val="E3DCD0"/>
                      </a:solidFill>
                      <a:prstDash val="solid"/>
                      <a:round/>
                      <a:headEnd type="none" w="med" len="med"/>
                      <a:tailEnd type="none" w="med" len="med"/>
                    </a:lnT>
                    <a:lnB w="9525" cap="flat" cmpd="sng" algn="ctr">
                      <a:solidFill>
                        <a:srgbClr val="E3DCD0"/>
                      </a:solidFill>
                      <a:prstDash val="solid"/>
                      <a:round/>
                      <a:headEnd type="none" w="med" len="med"/>
                      <a:tailEnd type="none" w="med" len="med"/>
                    </a:lnB>
                    <a:solidFill>
                      <a:srgbClr val="F5F2EB"/>
                    </a:solidFill>
                  </a:tcPr>
                </a:tc>
              </a:tr>
            </a:tbl>
          </a:graphicData>
        </a:graphic>
      </p:graphicFrame>
      <p:sp>
        <p:nvSpPr>
          <p:cNvPr id="40" name="text"/>
          <p:cNvSpPr txBox="1"/>
          <p:nvPr/>
        </p:nvSpPr>
        <p:spPr>
          <a:xfrm>
            <a:off x="6858000" y="4846320"/>
            <a:ext cx="4510735" cy="1280160"/>
          </a:xfrm>
          <a:prstGeom prst="rect">
            <a:avLst/>
          </a:prstGeom>
          <a:noFill/>
          <a:ln/>
        </p:spPr>
        <p:txBody>
          <a:bodyPr wrap="square" lIns="0" tIns="0" rIns="0" bIns="0" rtlCol="0" anchor="t"/>
          <a:lstStyle/>
          <a:p>
            <a:pPr algn="l" indent="0" marL="0">
              <a:buNone/>
            </a:pPr>
            <a:r>
              <a:rPr lang="en-US" sz="1100" i="1" dirty="0">
                <a:solidFill>
                  <a:srgbClr val="6E5A5A"/>
                </a:solidFill>
              </a:rPr>
              <a:t>P1–P7 = petugas 1–7. Kapasitas </a:t>
            </a:r>
            <a:r>
              <a:rPr lang="en-US" sz="1100" i="1" dirty="0">
                <a:solidFill>
                  <a:srgbClr val="6E5A5A"/>
                </a:solidFill>
              </a:rPr>
              <a:t>deicing</a:t>
            </a:r>
            <a:r>
              <a:rPr lang="en-US" sz="1100" i="1" dirty="0">
                <a:solidFill>
                  <a:srgbClr val="6E5A5A"/>
                </a:solidFill>
              </a:rPr>
              <a:t> disiapkan delapan jam sebelum hujan beku tiba (10.00 untuk 18.00), sehingga staf darat musim dingin dijadwalkan dari prakiraan, bukan dari kejadian.</a:t>
            </a:r>
            <a:endParaRPr lang="en-US" sz="1100" dirty="0"/>
          </a:p>
        </p:txBody>
      </p:sp>
      <p:sp>
        <p:nvSpPr>
          <p:cNvPr id="25" name="Slide Number Placeholder 0"/>
          <p:cNvSpPr>
            <a:spLocks noGrp="1"/>
          </p:cNvSpPr>
          <p:nvPr>
            <p:ph type="sldNum" sz="quarter" idx="4294967295"/>
          </p:nvPr>
        </p:nvSpPr>
        <p:spPr>
          <a:xfrm>
            <a:off x="11247120" y="6446520"/>
            <a:ext cx="39319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4F2D2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algn="l" indent="0" marL="0">
              <a:buNone/>
            </a:pPr>
            <a:r>
              <a:rPr lang="en-US" sz="2800" b="1" dirty="0">
                <a:solidFill>
                  <a:srgbClr val="2E1616"/>
                </a:solidFill>
              </a:rPr>
              <a:t>Evaluasi dan Rekomendasi</a:t>
            </a:r>
            <a:endParaRPr lang="en-US" sz="2800" dirty="0"/>
          </a:p>
        </p:txBody>
      </p:sp>
      <p:sp>
        <p:nvSpPr>
          <p:cNvPr id="4" name="title circle"/>
          <p:cNvSpPr/>
          <p:nvPr/>
        </p:nvSpPr>
        <p:spPr>
          <a:xfrm>
            <a:off x="347472" y="384048"/>
            <a:ext cx="1956816" cy="786384"/>
          </a:xfrm>
          <a:prstGeom prst="ellipse">
            <a:avLst/>
          </a:prstGeom>
          <a:solidFill>
            <a:srgbClr val="B3D9FE">
              <a:alpha val="0"/>
            </a:srgbClr>
          </a:solidFill>
          <a:ln w="28575">
            <a:solidFill>
              <a:srgbClr val="3B8BE0"/>
            </a:solidFill>
            <a:prstDash val="solid"/>
          </a:ln>
        </p:spPr>
      </p:sp>
      <p:sp>
        <p:nvSpPr>
          <p:cNvPr id="5" name="text"/>
          <p:cNvSpPr txBox="1"/>
          <p:nvPr/>
        </p:nvSpPr>
        <p:spPr>
          <a:xfrm>
            <a:off x="548640" y="1280160"/>
            <a:ext cx="8595360" cy="640080"/>
          </a:xfrm>
          <a:prstGeom prst="rect">
            <a:avLst/>
          </a:prstGeom>
          <a:noFill/>
          <a:ln/>
        </p:spPr>
        <p:txBody>
          <a:bodyPr wrap="square" lIns="0" tIns="0" rIns="0" bIns="0" rtlCol="0" anchor="t"/>
          <a:lstStyle/>
          <a:p>
            <a:pPr algn="l" indent="0" marL="0">
              <a:buNone/>
            </a:pPr>
            <a:r>
              <a:rPr lang="en-US" sz="1400" dirty="0">
                <a:solidFill>
                  <a:srgbClr val="2E1616"/>
                </a:solidFill>
              </a:rPr>
              <a:t>Alaska Airlines kuat pada penjadwalan ulang jangka pendek dan sedang memperkuat perencanaan perawatan berbasis kapasitas; titik lemah yang terbukti adalah ketahanan infrastruktur terintegrasi.</a:t>
            </a:r>
            <a:endParaRPr lang="en-US" sz="1400" dirty="0"/>
          </a:p>
        </p:txBody>
      </p:sp>
      <p:pic>
        <p:nvPicPr>
          <p:cNvPr id="6" name="ilustrasi teknisi" descr="/tmp/claude-0/-home-user-Dom-Manipulation/385e5267-c23e-5c04-80f5-d5fb4946a902/scratchpad/build/img2/sticker_mechanic.png">    </p:cNvPr>
          <p:cNvPicPr>
            <a:picLocks noChangeAspect="1"/>
          </p:cNvPicPr>
          <p:nvPr/>
        </p:nvPicPr>
        <p:blipFill>
          <a:blip r:embed="rId1"/>
          <a:stretch>
            <a:fillRect/>
          </a:stretch>
        </p:blipFill>
        <p:spPr>
          <a:xfrm>
            <a:off x="9666992" y="777240"/>
            <a:ext cx="1605776" cy="1371600"/>
          </a:xfrm>
          <a:prstGeom prst="rect">
            <a:avLst/>
          </a:prstGeom>
        </p:spPr>
      </p:pic>
      <p:sp>
        <p:nvSpPr>
          <p:cNvPr id="7" name="card"/>
          <p:cNvSpPr/>
          <p:nvPr/>
        </p:nvSpPr>
        <p:spPr>
          <a:xfrm>
            <a:off x="548640" y="2057400"/>
            <a:ext cx="5432908" cy="2011680"/>
          </a:xfrm>
          <a:prstGeom prst="roundRect">
            <a:avLst>
              <a:gd name="adj" fmla="val 9091"/>
            </a:avLst>
          </a:prstGeom>
          <a:solidFill>
            <a:srgbClr val="F5F2EB"/>
          </a:solidFill>
          <a:ln w="3175">
            <a:solidFill>
              <a:srgbClr val="F5F2EB"/>
            </a:solidFill>
            <a:prstDash val="solid"/>
          </a:ln>
        </p:spPr>
      </p:sp>
      <p:sp>
        <p:nvSpPr>
          <p:cNvPr id="8" name="pill"/>
          <p:cNvSpPr/>
          <p:nvPr/>
        </p:nvSpPr>
        <p:spPr>
          <a:xfrm>
            <a:off x="777240" y="2286000"/>
            <a:ext cx="457200" cy="457200"/>
          </a:xfrm>
          <a:prstGeom prst="roundRect">
            <a:avLst>
              <a:gd name="adj" fmla="val 50000"/>
            </a:avLst>
          </a:prstGeom>
          <a:solidFill>
            <a:srgbClr val="4F2D2C"/>
          </a:solidFill>
          <a:ln w="3175">
            <a:solidFill>
              <a:srgbClr val="4F2D2C"/>
            </a:solidFill>
            <a:prstDash val="solid"/>
          </a:ln>
        </p:spPr>
      </p:sp>
      <p:sp>
        <p:nvSpPr>
          <p:cNvPr id="9" name="pill label"/>
          <p:cNvSpPr txBox="1"/>
          <p:nvPr/>
        </p:nvSpPr>
        <p:spPr>
          <a:xfrm>
            <a:off x="777240" y="22860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rPr>
              <a:t>01</a:t>
            </a:r>
            <a:endParaRPr lang="en-US" sz="1300" dirty="0"/>
          </a:p>
        </p:txBody>
      </p:sp>
      <p:sp>
        <p:nvSpPr>
          <p:cNvPr id="10" name="icon circle"/>
          <p:cNvSpPr/>
          <p:nvPr/>
        </p:nvSpPr>
        <p:spPr>
          <a:xfrm>
            <a:off x="5158588" y="2240280"/>
            <a:ext cx="548640" cy="548640"/>
          </a:xfrm>
          <a:prstGeom prst="ellipse">
            <a:avLst/>
          </a:prstGeom>
          <a:solidFill>
            <a:srgbClr val="D7EAFD"/>
          </a:solidFill>
          <a:ln w="3175">
            <a:solidFill>
              <a:srgbClr val="D7EAFD"/>
            </a:solidFill>
            <a:prstDash val="solid"/>
          </a:ln>
        </p:spPr>
      </p:sp>
      <p:pic>
        <p:nvPicPr>
          <p:cNvPr id="11" name="icon FaShieldAlt" descr="preencoded.png">    </p:cNvPr>
          <p:cNvPicPr>
            <a:picLocks noChangeAspect="1"/>
          </p:cNvPicPr>
          <p:nvPr/>
        </p:nvPicPr>
        <p:blipFill>
          <a:blip r:embed="rId2"/>
          <a:stretch>
            <a:fillRect/>
          </a:stretch>
        </p:blipFill>
        <p:spPr>
          <a:xfrm>
            <a:off x="5295748" y="2377440"/>
            <a:ext cx="274320" cy="274320"/>
          </a:xfrm>
          <a:prstGeom prst="rect">
            <a:avLst/>
          </a:prstGeom>
        </p:spPr>
      </p:pic>
      <p:sp>
        <p:nvSpPr>
          <p:cNvPr id="12" name="text"/>
          <p:cNvSpPr txBox="1"/>
          <p:nvPr/>
        </p:nvSpPr>
        <p:spPr>
          <a:xfrm>
            <a:off x="1371600" y="2286000"/>
            <a:ext cx="3604108" cy="457200"/>
          </a:xfrm>
          <a:prstGeom prst="rect">
            <a:avLst/>
          </a:prstGeom>
          <a:noFill/>
          <a:ln/>
        </p:spPr>
        <p:txBody>
          <a:bodyPr wrap="square" lIns="0" tIns="0" rIns="0" bIns="0" rtlCol="0" anchor="ctr"/>
          <a:lstStyle/>
          <a:p>
            <a:pPr algn="l" indent="0" marL="0">
              <a:buNone/>
            </a:pPr>
            <a:r>
              <a:rPr lang="en-US" sz="1450" b="1" dirty="0">
                <a:solidFill>
                  <a:srgbClr val="2E1616"/>
                </a:solidFill>
              </a:rPr>
              <a:t>Ketahanan infrastruktur terintegrasi</a:t>
            </a:r>
            <a:endParaRPr lang="en-US" sz="1450" dirty="0"/>
          </a:p>
        </p:txBody>
      </p:sp>
      <p:sp>
        <p:nvSpPr>
          <p:cNvPr id="13" name="text"/>
          <p:cNvSpPr txBox="1"/>
          <p:nvPr/>
        </p:nvSpPr>
        <p:spPr>
          <a:xfrm>
            <a:off x="777240" y="2862072"/>
            <a:ext cx="4975708" cy="777240"/>
          </a:xfrm>
          <a:prstGeom prst="rect">
            <a:avLst/>
          </a:prstGeom>
          <a:noFill/>
          <a:ln/>
        </p:spPr>
        <p:txBody>
          <a:bodyPr wrap="square" lIns="0" tIns="0" rIns="0" bIns="0" rtlCol="0" anchor="t"/>
          <a:lstStyle/>
          <a:p>
            <a:pPr algn="l" indent="0" marL="0">
              <a:buNone/>
            </a:pPr>
            <a:r>
              <a:rPr lang="en-US" sz="1150" dirty="0">
                <a:solidFill>
                  <a:srgbClr val="2E1616"/>
                </a:solidFill>
              </a:rPr>
              <a:t>Redundansi aktif-aktif antarpusat data dan cloud, uji </a:t>
            </a:r>
            <a:r>
              <a:rPr lang="en-US" sz="1150" i="1" dirty="0">
                <a:solidFill>
                  <a:srgbClr val="2E1616"/>
                </a:solidFill>
              </a:rPr>
              <a:t>failover</a:t>
            </a:r>
            <a:r>
              <a:rPr lang="en-US" sz="1150" dirty="0">
                <a:solidFill>
                  <a:srgbClr val="2E1616"/>
                </a:solidFill>
              </a:rPr>
              <a:t> berkala, dan prosedur manual </a:t>
            </a:r>
            <a:r>
              <a:rPr lang="en-US" sz="1150" i="1" dirty="0">
                <a:solidFill>
                  <a:srgbClr val="2E1616"/>
                </a:solidFill>
              </a:rPr>
              <a:t>degraded mode</a:t>
            </a:r>
            <a:r>
              <a:rPr lang="en-US" sz="1150" dirty="0">
                <a:solidFill>
                  <a:srgbClr val="2E1616"/>
                </a:solidFill>
              </a:rPr>
              <a:t> untuk </a:t>
            </a:r>
            <a:r>
              <a:rPr lang="en-US" sz="1150" i="1" dirty="0">
                <a:solidFill>
                  <a:srgbClr val="2E1616"/>
                </a:solidFill>
              </a:rPr>
              <a:t>dispatch</a:t>
            </a:r>
            <a:r>
              <a:rPr lang="en-US" sz="1150" dirty="0">
                <a:solidFill>
                  <a:srgbClr val="2E1616"/>
                </a:solidFill>
              </a:rPr>
              <a:t> dan kru.</a:t>
            </a:r>
            <a:endParaRPr lang="en-US" sz="1150" dirty="0"/>
          </a:p>
        </p:txBody>
      </p:sp>
      <p:sp>
        <p:nvSpPr>
          <p:cNvPr id="14" name="text"/>
          <p:cNvSpPr txBox="1"/>
          <p:nvPr/>
        </p:nvSpPr>
        <p:spPr>
          <a:xfrm>
            <a:off x="777240" y="3630168"/>
            <a:ext cx="4975708" cy="365760"/>
          </a:xfrm>
          <a:prstGeom prst="rect">
            <a:avLst/>
          </a:prstGeom>
          <a:noFill/>
          <a:ln/>
        </p:spPr>
        <p:txBody>
          <a:bodyPr wrap="square" lIns="0" tIns="0" rIns="0" bIns="0" rtlCol="0" anchor="t"/>
          <a:lstStyle/>
          <a:p>
            <a:pPr algn="l" indent="0" marL="0">
              <a:buNone/>
            </a:pPr>
            <a:r>
              <a:rPr lang="en-US" sz="1100" b="1" dirty="0">
                <a:solidFill>
                  <a:srgbClr val="3B8BE0"/>
                </a:solidFill>
              </a:rPr>
              <a:t>Indikator: </a:t>
            </a:r>
            <a:r>
              <a:rPr lang="en-US" sz="1100" dirty="0">
                <a:solidFill>
                  <a:srgbClr val="2E1616"/>
                </a:solidFill>
              </a:rPr>
              <a:t>Waktu pemulihan; jumlah </a:t>
            </a:r>
            <a:r>
              <a:rPr lang="en-US" sz="1100" i="1" dirty="0">
                <a:solidFill>
                  <a:srgbClr val="2E1616"/>
                </a:solidFill>
              </a:rPr>
              <a:t>ground stop</a:t>
            </a:r>
            <a:r>
              <a:rPr lang="en-US" sz="1100" dirty="0">
                <a:solidFill>
                  <a:srgbClr val="2E1616"/>
                </a:solidFill>
              </a:rPr>
              <a:t> akibat IT.</a:t>
            </a:r>
            <a:endParaRPr lang="en-US" sz="1100" dirty="0"/>
          </a:p>
        </p:txBody>
      </p:sp>
      <p:sp>
        <p:nvSpPr>
          <p:cNvPr id="15" name="card"/>
          <p:cNvSpPr/>
          <p:nvPr/>
        </p:nvSpPr>
        <p:spPr>
          <a:xfrm>
            <a:off x="6210148" y="2057400"/>
            <a:ext cx="5432908" cy="2011680"/>
          </a:xfrm>
          <a:prstGeom prst="roundRect">
            <a:avLst>
              <a:gd name="adj" fmla="val 9091"/>
            </a:avLst>
          </a:prstGeom>
          <a:solidFill>
            <a:srgbClr val="F5F2EB"/>
          </a:solidFill>
          <a:ln w="3175">
            <a:solidFill>
              <a:srgbClr val="F5F2EB"/>
            </a:solidFill>
            <a:prstDash val="solid"/>
          </a:ln>
        </p:spPr>
      </p:sp>
      <p:sp>
        <p:nvSpPr>
          <p:cNvPr id="16" name="pill"/>
          <p:cNvSpPr/>
          <p:nvPr/>
        </p:nvSpPr>
        <p:spPr>
          <a:xfrm>
            <a:off x="6438748" y="2286000"/>
            <a:ext cx="457200" cy="457200"/>
          </a:xfrm>
          <a:prstGeom prst="roundRect">
            <a:avLst>
              <a:gd name="adj" fmla="val 50000"/>
            </a:avLst>
          </a:prstGeom>
          <a:solidFill>
            <a:srgbClr val="4F2D2C"/>
          </a:solidFill>
          <a:ln w="3175">
            <a:solidFill>
              <a:srgbClr val="4F2D2C"/>
            </a:solidFill>
            <a:prstDash val="solid"/>
          </a:ln>
        </p:spPr>
      </p:sp>
      <p:sp>
        <p:nvSpPr>
          <p:cNvPr id="17" name="pill label"/>
          <p:cNvSpPr txBox="1"/>
          <p:nvPr/>
        </p:nvSpPr>
        <p:spPr>
          <a:xfrm>
            <a:off x="6438748" y="22860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rPr>
              <a:t>02</a:t>
            </a:r>
            <a:endParaRPr lang="en-US" sz="1300" dirty="0"/>
          </a:p>
        </p:txBody>
      </p:sp>
      <p:sp>
        <p:nvSpPr>
          <p:cNvPr id="18" name="icon circle"/>
          <p:cNvSpPr/>
          <p:nvPr/>
        </p:nvSpPr>
        <p:spPr>
          <a:xfrm>
            <a:off x="10820095" y="2240280"/>
            <a:ext cx="548640" cy="548640"/>
          </a:xfrm>
          <a:prstGeom prst="ellipse">
            <a:avLst/>
          </a:prstGeom>
          <a:solidFill>
            <a:srgbClr val="D7EAFD"/>
          </a:solidFill>
          <a:ln w="3175">
            <a:solidFill>
              <a:srgbClr val="D7EAFD"/>
            </a:solidFill>
            <a:prstDash val="solid"/>
          </a:ln>
        </p:spPr>
      </p:sp>
      <p:pic>
        <p:nvPicPr>
          <p:cNvPr id="19" name="icon FaCogs" descr="preencoded.png">    </p:cNvPr>
          <p:cNvPicPr>
            <a:picLocks noChangeAspect="1"/>
          </p:cNvPicPr>
          <p:nvPr/>
        </p:nvPicPr>
        <p:blipFill>
          <a:blip r:embed="rId3"/>
          <a:stretch>
            <a:fillRect/>
          </a:stretch>
        </p:blipFill>
        <p:spPr>
          <a:xfrm>
            <a:off x="10957255" y="2377440"/>
            <a:ext cx="274320" cy="274320"/>
          </a:xfrm>
          <a:prstGeom prst="rect">
            <a:avLst/>
          </a:prstGeom>
        </p:spPr>
      </p:pic>
      <p:sp>
        <p:nvSpPr>
          <p:cNvPr id="20" name="text"/>
          <p:cNvSpPr txBox="1"/>
          <p:nvPr/>
        </p:nvSpPr>
        <p:spPr>
          <a:xfrm>
            <a:off x="7033108" y="2286000"/>
            <a:ext cx="3604108" cy="457200"/>
          </a:xfrm>
          <a:prstGeom prst="rect">
            <a:avLst/>
          </a:prstGeom>
          <a:noFill/>
          <a:ln/>
        </p:spPr>
        <p:txBody>
          <a:bodyPr wrap="square" lIns="0" tIns="0" rIns="0" bIns="0" rtlCol="0" anchor="ctr"/>
          <a:lstStyle/>
          <a:p>
            <a:pPr algn="l" indent="0" marL="0">
              <a:buNone/>
            </a:pPr>
            <a:r>
              <a:rPr lang="en-US" sz="1450" b="1" dirty="0">
                <a:solidFill>
                  <a:srgbClr val="2E1616"/>
                </a:solidFill>
              </a:rPr>
              <a:t>Perencanaan perawatan berkapasitas berhingga</a:t>
            </a:r>
            <a:endParaRPr lang="en-US" sz="1450" dirty="0"/>
          </a:p>
        </p:txBody>
      </p:sp>
      <p:sp>
        <p:nvSpPr>
          <p:cNvPr id="21" name="text"/>
          <p:cNvSpPr txBox="1"/>
          <p:nvPr/>
        </p:nvSpPr>
        <p:spPr>
          <a:xfrm>
            <a:off x="6438748" y="2862072"/>
            <a:ext cx="4975708" cy="777240"/>
          </a:xfrm>
          <a:prstGeom prst="rect">
            <a:avLst/>
          </a:prstGeom>
          <a:noFill/>
          <a:ln/>
        </p:spPr>
        <p:txBody>
          <a:bodyPr wrap="square" lIns="0" tIns="0" rIns="0" bIns="0" rtlCol="0" anchor="t"/>
          <a:lstStyle/>
          <a:p>
            <a:pPr algn="l" indent="0" marL="0">
              <a:buNone/>
            </a:pPr>
            <a:r>
              <a:rPr lang="en-US" sz="1150" dirty="0">
                <a:solidFill>
                  <a:srgbClr val="2E1616"/>
                </a:solidFill>
              </a:rPr>
              <a:t>Operasionalkan Tailsight dengan </a:t>
            </a:r>
            <a:r>
              <a:rPr lang="en-US" sz="1150" i="1" dirty="0">
                <a:solidFill>
                  <a:srgbClr val="2E1616"/>
                </a:solidFill>
              </a:rPr>
              <a:t>load report</a:t>
            </a:r>
            <a:r>
              <a:rPr lang="en-US" sz="1150" dirty="0">
                <a:solidFill>
                  <a:srgbClr val="2E1616"/>
                </a:solidFill>
              </a:rPr>
              <a:t> hangar dan suku cadang; masukkan </a:t>
            </a:r>
            <a:r>
              <a:rPr lang="en-US" sz="1150" i="1" dirty="0">
                <a:solidFill>
                  <a:srgbClr val="2E1616"/>
                </a:solidFill>
              </a:rPr>
              <a:t>lead time</a:t>
            </a:r>
            <a:r>
              <a:rPr lang="en-US" sz="1150" dirty="0">
                <a:solidFill>
                  <a:srgbClr val="2E1616"/>
                </a:solidFill>
              </a:rPr>
              <a:t> OEM dan </a:t>
            </a:r>
            <a:r>
              <a:rPr lang="en-US" sz="1150" i="1" dirty="0">
                <a:solidFill>
                  <a:srgbClr val="2E1616"/>
                </a:solidFill>
              </a:rPr>
              <a:t>station capability</a:t>
            </a:r>
            <a:r>
              <a:rPr lang="en-US" sz="1150" dirty="0">
                <a:solidFill>
                  <a:srgbClr val="2E1616"/>
                </a:solidFill>
              </a:rPr>
              <a:t> sebagai kendala.</a:t>
            </a:r>
            <a:endParaRPr lang="en-US" sz="1150" dirty="0"/>
          </a:p>
        </p:txBody>
      </p:sp>
      <p:sp>
        <p:nvSpPr>
          <p:cNvPr id="22" name="text"/>
          <p:cNvSpPr txBox="1"/>
          <p:nvPr/>
        </p:nvSpPr>
        <p:spPr>
          <a:xfrm>
            <a:off x="6438748" y="3630168"/>
            <a:ext cx="4975708" cy="365760"/>
          </a:xfrm>
          <a:prstGeom prst="rect">
            <a:avLst/>
          </a:prstGeom>
          <a:noFill/>
          <a:ln/>
        </p:spPr>
        <p:txBody>
          <a:bodyPr wrap="square" lIns="0" tIns="0" rIns="0" bIns="0" rtlCol="0" anchor="t"/>
          <a:lstStyle/>
          <a:p>
            <a:pPr algn="l" indent="0" marL="0">
              <a:buNone/>
            </a:pPr>
            <a:r>
              <a:rPr lang="en-US" sz="1100" b="1" dirty="0">
                <a:solidFill>
                  <a:srgbClr val="3B8BE0"/>
                </a:solidFill>
              </a:rPr>
              <a:t>Indikator: </a:t>
            </a:r>
            <a:r>
              <a:rPr lang="en-US" sz="1100" dirty="0">
                <a:solidFill>
                  <a:srgbClr val="2E1616"/>
                </a:solidFill>
              </a:rPr>
              <a:t>Jam AOG; </a:t>
            </a:r>
            <a:r>
              <a:rPr lang="en-US" sz="1100" i="1" dirty="0">
                <a:solidFill>
                  <a:srgbClr val="2E1616"/>
                </a:solidFill>
              </a:rPr>
              <a:t>fill rate</a:t>
            </a:r>
            <a:r>
              <a:rPr lang="en-US" sz="1100" dirty="0">
                <a:solidFill>
                  <a:srgbClr val="2E1616"/>
                </a:solidFill>
              </a:rPr>
              <a:t> suku cadang; utilisasi teknisi.</a:t>
            </a:r>
            <a:endParaRPr lang="en-US" sz="1100" dirty="0"/>
          </a:p>
        </p:txBody>
      </p:sp>
      <p:sp>
        <p:nvSpPr>
          <p:cNvPr id="23" name="card"/>
          <p:cNvSpPr/>
          <p:nvPr/>
        </p:nvSpPr>
        <p:spPr>
          <a:xfrm>
            <a:off x="548640" y="4251960"/>
            <a:ext cx="5432908" cy="2011680"/>
          </a:xfrm>
          <a:prstGeom prst="roundRect">
            <a:avLst>
              <a:gd name="adj" fmla="val 9091"/>
            </a:avLst>
          </a:prstGeom>
          <a:solidFill>
            <a:srgbClr val="F5F2EB"/>
          </a:solidFill>
          <a:ln w="3175">
            <a:solidFill>
              <a:srgbClr val="F5F2EB"/>
            </a:solidFill>
            <a:prstDash val="solid"/>
          </a:ln>
        </p:spPr>
      </p:sp>
      <p:sp>
        <p:nvSpPr>
          <p:cNvPr id="24" name="pill"/>
          <p:cNvSpPr/>
          <p:nvPr/>
        </p:nvSpPr>
        <p:spPr>
          <a:xfrm>
            <a:off x="777240" y="4480560"/>
            <a:ext cx="457200" cy="457200"/>
          </a:xfrm>
          <a:prstGeom prst="roundRect">
            <a:avLst>
              <a:gd name="adj" fmla="val 50000"/>
            </a:avLst>
          </a:prstGeom>
          <a:solidFill>
            <a:srgbClr val="4F2D2C"/>
          </a:solidFill>
          <a:ln w="3175">
            <a:solidFill>
              <a:srgbClr val="4F2D2C"/>
            </a:solidFill>
            <a:prstDash val="solid"/>
          </a:ln>
        </p:spPr>
      </p:sp>
      <p:sp>
        <p:nvSpPr>
          <p:cNvPr id="25" name="pill label"/>
          <p:cNvSpPr txBox="1"/>
          <p:nvPr/>
        </p:nvSpPr>
        <p:spPr>
          <a:xfrm>
            <a:off x="777240" y="448056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rPr>
              <a:t>03</a:t>
            </a:r>
            <a:endParaRPr lang="en-US" sz="1300" dirty="0"/>
          </a:p>
        </p:txBody>
      </p:sp>
      <p:sp>
        <p:nvSpPr>
          <p:cNvPr id="26" name="icon circle"/>
          <p:cNvSpPr/>
          <p:nvPr/>
        </p:nvSpPr>
        <p:spPr>
          <a:xfrm>
            <a:off x="5158588" y="4434840"/>
            <a:ext cx="548640" cy="548640"/>
          </a:xfrm>
          <a:prstGeom prst="ellipse">
            <a:avLst/>
          </a:prstGeom>
          <a:solidFill>
            <a:srgbClr val="D7EAFD"/>
          </a:solidFill>
          <a:ln w="3175">
            <a:solidFill>
              <a:srgbClr val="D7EAFD"/>
            </a:solidFill>
            <a:prstDash val="solid"/>
          </a:ln>
        </p:spPr>
      </p:sp>
      <p:pic>
        <p:nvPicPr>
          <p:cNvPr id="27" name="icon FaSortAmountDown" descr="preencoded.png">    </p:cNvPr>
          <p:cNvPicPr>
            <a:picLocks noChangeAspect="1"/>
          </p:cNvPicPr>
          <p:nvPr/>
        </p:nvPicPr>
        <p:blipFill>
          <a:blip r:embed="rId4"/>
          <a:stretch>
            <a:fillRect/>
          </a:stretch>
        </p:blipFill>
        <p:spPr>
          <a:xfrm>
            <a:off x="5295748" y="4572000"/>
            <a:ext cx="274320" cy="274320"/>
          </a:xfrm>
          <a:prstGeom prst="rect">
            <a:avLst/>
          </a:prstGeom>
        </p:spPr>
      </p:pic>
      <p:sp>
        <p:nvSpPr>
          <p:cNvPr id="28" name="text"/>
          <p:cNvSpPr txBox="1"/>
          <p:nvPr/>
        </p:nvSpPr>
        <p:spPr>
          <a:xfrm>
            <a:off x="1371600" y="4480560"/>
            <a:ext cx="3604108" cy="457200"/>
          </a:xfrm>
          <a:prstGeom prst="rect">
            <a:avLst/>
          </a:prstGeom>
          <a:noFill/>
          <a:ln/>
        </p:spPr>
        <p:txBody>
          <a:bodyPr wrap="square" lIns="0" tIns="0" rIns="0" bIns="0" rtlCol="0" anchor="ctr"/>
          <a:lstStyle/>
          <a:p>
            <a:pPr algn="l" indent="0" marL="0">
              <a:buNone/>
            </a:pPr>
            <a:r>
              <a:rPr lang="en-US" sz="1450" b="1" dirty="0">
                <a:solidFill>
                  <a:srgbClr val="2E1616"/>
                </a:solidFill>
              </a:rPr>
              <a:t>Aturan prioritas hibrida di hangar</a:t>
            </a:r>
            <a:endParaRPr lang="en-US" sz="1450" dirty="0"/>
          </a:p>
        </p:txBody>
      </p:sp>
      <p:sp>
        <p:nvSpPr>
          <p:cNvPr id="29" name="text"/>
          <p:cNvSpPr txBox="1"/>
          <p:nvPr/>
        </p:nvSpPr>
        <p:spPr>
          <a:xfrm>
            <a:off x="777240" y="5056632"/>
            <a:ext cx="4975708" cy="777240"/>
          </a:xfrm>
          <a:prstGeom prst="rect">
            <a:avLst/>
          </a:prstGeom>
          <a:noFill/>
          <a:ln/>
        </p:spPr>
        <p:txBody>
          <a:bodyPr wrap="square" lIns="0" tIns="0" rIns="0" bIns="0" rtlCol="0" anchor="t"/>
          <a:lstStyle/>
          <a:p>
            <a:pPr algn="l" indent="0" marL="0">
              <a:buNone/>
            </a:pPr>
            <a:r>
              <a:rPr lang="en-US" sz="1150" i="1" dirty="0">
                <a:solidFill>
                  <a:srgbClr val="2E1616"/>
                </a:solidFill>
              </a:rPr>
              <a:t>Critical ratio</a:t>
            </a:r>
            <a:r>
              <a:rPr lang="en-US" sz="1150" dirty="0">
                <a:solidFill>
                  <a:srgbClr val="2E1616"/>
                </a:solidFill>
              </a:rPr>
              <a:t> untuk AOG dan </a:t>
            </a:r>
            <a:r>
              <a:rPr lang="en-US" sz="1150" i="1" dirty="0">
                <a:solidFill>
                  <a:srgbClr val="2E1616"/>
                </a:solidFill>
              </a:rPr>
              <a:t>airworthiness directive</a:t>
            </a:r>
            <a:r>
              <a:rPr lang="en-US" sz="1150" dirty="0">
                <a:solidFill>
                  <a:srgbClr val="2E1616"/>
                </a:solidFill>
              </a:rPr>
              <a:t>, SPT untuk antrean rutin, </a:t>
            </a:r>
            <a:r>
              <a:rPr lang="en-US" sz="1150" i="1" dirty="0">
                <a:solidFill>
                  <a:srgbClr val="2E1616"/>
                </a:solidFill>
              </a:rPr>
              <a:t>Johnson's rule</a:t>
            </a:r>
            <a:r>
              <a:rPr lang="en-US" sz="1150" dirty="0">
                <a:solidFill>
                  <a:srgbClr val="2E1616"/>
                </a:solidFill>
              </a:rPr>
              <a:t> untuk alur dua tahap.</a:t>
            </a:r>
            <a:endParaRPr lang="en-US" sz="1150" dirty="0"/>
          </a:p>
        </p:txBody>
      </p:sp>
      <p:sp>
        <p:nvSpPr>
          <p:cNvPr id="30" name="text"/>
          <p:cNvSpPr txBox="1"/>
          <p:nvPr/>
        </p:nvSpPr>
        <p:spPr>
          <a:xfrm>
            <a:off x="777240" y="5824728"/>
            <a:ext cx="4975708" cy="365760"/>
          </a:xfrm>
          <a:prstGeom prst="rect">
            <a:avLst/>
          </a:prstGeom>
          <a:noFill/>
          <a:ln/>
        </p:spPr>
        <p:txBody>
          <a:bodyPr wrap="square" lIns="0" tIns="0" rIns="0" bIns="0" rtlCol="0" anchor="t"/>
          <a:lstStyle/>
          <a:p>
            <a:pPr algn="l" indent="0" marL="0">
              <a:buNone/>
            </a:pPr>
            <a:r>
              <a:rPr lang="en-US" sz="1100" b="1" dirty="0">
                <a:solidFill>
                  <a:srgbClr val="3B8BE0"/>
                </a:solidFill>
              </a:rPr>
              <a:t>Indikator: </a:t>
            </a:r>
            <a:r>
              <a:rPr lang="en-US" sz="1100" dirty="0">
                <a:solidFill>
                  <a:srgbClr val="2E1616"/>
                </a:solidFill>
              </a:rPr>
              <a:t>Keterlambatan rata-rata; </a:t>
            </a:r>
            <a:r>
              <a:rPr lang="en-US" sz="1100" i="1" dirty="0">
                <a:solidFill>
                  <a:srgbClr val="2E1616"/>
                </a:solidFill>
              </a:rPr>
              <a:t>makespan</a:t>
            </a:r>
            <a:r>
              <a:rPr lang="en-US" sz="1100" dirty="0">
                <a:solidFill>
                  <a:srgbClr val="2E1616"/>
                </a:solidFill>
              </a:rPr>
              <a:t> paket perawatan.</a:t>
            </a:r>
            <a:endParaRPr lang="en-US" sz="1100" dirty="0"/>
          </a:p>
        </p:txBody>
      </p:sp>
      <p:sp>
        <p:nvSpPr>
          <p:cNvPr id="31" name="card"/>
          <p:cNvSpPr/>
          <p:nvPr/>
        </p:nvSpPr>
        <p:spPr>
          <a:xfrm>
            <a:off x="6210148" y="4251960"/>
            <a:ext cx="5432908" cy="2011680"/>
          </a:xfrm>
          <a:prstGeom prst="roundRect">
            <a:avLst>
              <a:gd name="adj" fmla="val 9091"/>
            </a:avLst>
          </a:prstGeom>
          <a:solidFill>
            <a:srgbClr val="F5F2EB"/>
          </a:solidFill>
          <a:ln w="3175">
            <a:solidFill>
              <a:srgbClr val="F5F2EB"/>
            </a:solidFill>
            <a:prstDash val="solid"/>
          </a:ln>
        </p:spPr>
      </p:sp>
      <p:sp>
        <p:nvSpPr>
          <p:cNvPr id="32" name="pill"/>
          <p:cNvSpPr/>
          <p:nvPr/>
        </p:nvSpPr>
        <p:spPr>
          <a:xfrm>
            <a:off x="6438748" y="4480560"/>
            <a:ext cx="457200" cy="457200"/>
          </a:xfrm>
          <a:prstGeom prst="roundRect">
            <a:avLst>
              <a:gd name="adj" fmla="val 50000"/>
            </a:avLst>
          </a:prstGeom>
          <a:solidFill>
            <a:srgbClr val="4F2D2C"/>
          </a:solidFill>
          <a:ln w="3175">
            <a:solidFill>
              <a:srgbClr val="4F2D2C"/>
            </a:solidFill>
            <a:prstDash val="solid"/>
          </a:ln>
        </p:spPr>
      </p:sp>
      <p:sp>
        <p:nvSpPr>
          <p:cNvPr id="33" name="pill label"/>
          <p:cNvSpPr txBox="1"/>
          <p:nvPr/>
        </p:nvSpPr>
        <p:spPr>
          <a:xfrm>
            <a:off x="6438748" y="448056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rPr>
              <a:t>04</a:t>
            </a:r>
            <a:endParaRPr lang="en-US" sz="1300" dirty="0"/>
          </a:p>
        </p:txBody>
      </p:sp>
      <p:sp>
        <p:nvSpPr>
          <p:cNvPr id="34" name="icon circle"/>
          <p:cNvSpPr/>
          <p:nvPr/>
        </p:nvSpPr>
        <p:spPr>
          <a:xfrm>
            <a:off x="10820095" y="4434840"/>
            <a:ext cx="548640" cy="548640"/>
          </a:xfrm>
          <a:prstGeom prst="ellipse">
            <a:avLst/>
          </a:prstGeom>
          <a:solidFill>
            <a:srgbClr val="D7EAFD"/>
          </a:solidFill>
          <a:ln w="3175">
            <a:solidFill>
              <a:srgbClr val="D7EAFD"/>
            </a:solidFill>
            <a:prstDash val="solid"/>
          </a:ln>
        </p:spPr>
      </p:sp>
      <p:pic>
        <p:nvPicPr>
          <p:cNvPr id="35" name="icon FaHandshake" descr="preencoded.png">    </p:cNvPr>
          <p:cNvPicPr>
            <a:picLocks noChangeAspect="1"/>
          </p:cNvPicPr>
          <p:nvPr/>
        </p:nvPicPr>
        <p:blipFill>
          <a:blip r:embed="rId5"/>
          <a:stretch>
            <a:fillRect/>
          </a:stretch>
        </p:blipFill>
        <p:spPr>
          <a:xfrm>
            <a:off x="10957255" y="4572000"/>
            <a:ext cx="274320" cy="274320"/>
          </a:xfrm>
          <a:prstGeom prst="rect">
            <a:avLst/>
          </a:prstGeom>
        </p:spPr>
      </p:pic>
      <p:sp>
        <p:nvSpPr>
          <p:cNvPr id="36" name="text"/>
          <p:cNvSpPr txBox="1"/>
          <p:nvPr/>
        </p:nvSpPr>
        <p:spPr>
          <a:xfrm>
            <a:off x="7033108" y="4480560"/>
            <a:ext cx="3604108" cy="457200"/>
          </a:xfrm>
          <a:prstGeom prst="rect">
            <a:avLst/>
          </a:prstGeom>
          <a:noFill/>
          <a:ln/>
        </p:spPr>
        <p:txBody>
          <a:bodyPr wrap="square" lIns="0" tIns="0" rIns="0" bIns="0" rtlCol="0" anchor="ctr"/>
          <a:lstStyle/>
          <a:p>
            <a:pPr algn="l" indent="0" marL="0">
              <a:buNone/>
            </a:pPr>
            <a:r>
              <a:rPr lang="en-US" sz="1450" b="1" dirty="0">
                <a:solidFill>
                  <a:srgbClr val="2E1616"/>
                </a:solidFill>
              </a:rPr>
              <a:t>Proses dulu, sistem kemudian</a:t>
            </a:r>
            <a:endParaRPr lang="en-US" sz="1450" dirty="0"/>
          </a:p>
        </p:txBody>
      </p:sp>
      <p:sp>
        <p:nvSpPr>
          <p:cNvPr id="37" name="text"/>
          <p:cNvSpPr txBox="1"/>
          <p:nvPr/>
        </p:nvSpPr>
        <p:spPr>
          <a:xfrm>
            <a:off x="6438748" y="5056632"/>
            <a:ext cx="4975708" cy="777240"/>
          </a:xfrm>
          <a:prstGeom prst="rect">
            <a:avLst/>
          </a:prstGeom>
          <a:noFill/>
          <a:ln/>
        </p:spPr>
        <p:txBody>
          <a:bodyPr wrap="square" lIns="0" tIns="0" rIns="0" bIns="0" rtlCol="0" anchor="t"/>
          <a:lstStyle/>
          <a:p>
            <a:pPr algn="l" indent="0" marL="0">
              <a:buNone/>
            </a:pPr>
            <a:r>
              <a:rPr lang="en-US" sz="1150" dirty="0">
                <a:solidFill>
                  <a:srgbClr val="2E1616"/>
                </a:solidFill>
              </a:rPr>
              <a:t>Standarkan proses kru, perawatan, dan layanan penumpang sebelum migrasi Hawaiian ke sistem tunggal; batasi kustomisasi.</a:t>
            </a:r>
            <a:endParaRPr lang="en-US" sz="1150" dirty="0"/>
          </a:p>
        </p:txBody>
      </p:sp>
      <p:sp>
        <p:nvSpPr>
          <p:cNvPr id="38" name="text"/>
          <p:cNvSpPr txBox="1"/>
          <p:nvPr/>
        </p:nvSpPr>
        <p:spPr>
          <a:xfrm>
            <a:off x="6438748" y="5824728"/>
            <a:ext cx="4975708" cy="365760"/>
          </a:xfrm>
          <a:prstGeom prst="rect">
            <a:avLst/>
          </a:prstGeom>
          <a:noFill/>
          <a:ln/>
        </p:spPr>
        <p:txBody>
          <a:bodyPr wrap="square" lIns="0" tIns="0" rIns="0" bIns="0" rtlCol="0" anchor="t"/>
          <a:lstStyle/>
          <a:p>
            <a:pPr algn="l" indent="0" marL="0">
              <a:buNone/>
            </a:pPr>
            <a:r>
              <a:rPr lang="en-US" sz="1100" b="1" dirty="0">
                <a:solidFill>
                  <a:srgbClr val="3B8BE0"/>
                </a:solidFill>
              </a:rPr>
              <a:t>Indikator: </a:t>
            </a:r>
            <a:r>
              <a:rPr lang="en-US" sz="1100" dirty="0">
                <a:solidFill>
                  <a:srgbClr val="2E1616"/>
                </a:solidFill>
              </a:rPr>
              <a:t>Biaya kustomisasi; insiden </a:t>
            </a:r>
            <a:r>
              <a:rPr lang="en-US" sz="1100" i="1" dirty="0">
                <a:solidFill>
                  <a:srgbClr val="2E1616"/>
                </a:solidFill>
              </a:rPr>
              <a:t>cut-over</a:t>
            </a:r>
            <a:r>
              <a:rPr lang="en-US" sz="1100" dirty="0">
                <a:solidFill>
                  <a:srgbClr val="2E1616"/>
                </a:solidFill>
              </a:rPr>
              <a:t>.</a:t>
            </a:r>
            <a:endParaRPr lang="en-US" sz="1100" dirty="0"/>
          </a:p>
        </p:txBody>
      </p:sp>
      <p:sp>
        <p:nvSpPr>
          <p:cNvPr id="25" name="Slide Number Placeholder 0"/>
          <p:cNvSpPr>
            <a:spLocks noGrp="1"/>
          </p:cNvSpPr>
          <p:nvPr>
            <p:ph type="sldNum" sz="quarter" idx="4294967295"/>
          </p:nvPr>
        </p:nvSpPr>
        <p:spPr>
          <a:xfrm>
            <a:off x="11247120" y="6446520"/>
            <a:ext cx="39319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4F2D2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algn="l" indent="0" marL="0">
              <a:buNone/>
            </a:pPr>
            <a:r>
              <a:rPr lang="en-US" sz="2800" b="1" dirty="0">
                <a:solidFill>
                  <a:srgbClr val="2E1616"/>
                </a:solidFill>
              </a:rPr>
              <a:t>Kesimpulan</a:t>
            </a:r>
            <a:endParaRPr lang="en-US" sz="2800" dirty="0"/>
          </a:p>
        </p:txBody>
      </p:sp>
      <p:sp>
        <p:nvSpPr>
          <p:cNvPr id="4" name="title circle"/>
          <p:cNvSpPr/>
          <p:nvPr/>
        </p:nvSpPr>
        <p:spPr>
          <a:xfrm>
            <a:off x="347472" y="384048"/>
            <a:ext cx="2331720" cy="786384"/>
          </a:xfrm>
          <a:prstGeom prst="ellipse">
            <a:avLst/>
          </a:prstGeom>
          <a:solidFill>
            <a:srgbClr val="B3D9FE">
              <a:alpha val="0"/>
            </a:srgbClr>
          </a:solidFill>
          <a:ln w="28575">
            <a:solidFill>
              <a:srgbClr val="3B8BE0"/>
            </a:solidFill>
            <a:prstDash val="solid"/>
          </a:ln>
        </p:spPr>
      </p:sp>
      <p:sp>
        <p:nvSpPr>
          <p:cNvPr id="5" name="card"/>
          <p:cNvSpPr/>
          <p:nvPr/>
        </p:nvSpPr>
        <p:spPr>
          <a:xfrm>
            <a:off x="548640" y="1325880"/>
            <a:ext cx="7863840" cy="1481328"/>
          </a:xfrm>
          <a:prstGeom prst="roundRect">
            <a:avLst>
              <a:gd name="adj" fmla="val 12346"/>
            </a:avLst>
          </a:prstGeom>
          <a:solidFill>
            <a:srgbClr val="F5F2EB"/>
          </a:solidFill>
          <a:ln w="3175">
            <a:solidFill>
              <a:srgbClr val="F5F2EB"/>
            </a:solidFill>
            <a:prstDash val="solid"/>
          </a:ln>
        </p:spPr>
      </p:sp>
      <p:sp>
        <p:nvSpPr>
          <p:cNvPr id="6" name="pill"/>
          <p:cNvSpPr/>
          <p:nvPr/>
        </p:nvSpPr>
        <p:spPr>
          <a:xfrm>
            <a:off x="777240" y="1600200"/>
            <a:ext cx="457200" cy="457200"/>
          </a:xfrm>
          <a:prstGeom prst="roundRect">
            <a:avLst>
              <a:gd name="adj" fmla="val 50000"/>
            </a:avLst>
          </a:prstGeom>
          <a:solidFill>
            <a:srgbClr val="4F2D2C"/>
          </a:solidFill>
          <a:ln w="3175">
            <a:solidFill>
              <a:srgbClr val="4F2D2C"/>
            </a:solidFill>
            <a:prstDash val="solid"/>
          </a:ln>
        </p:spPr>
      </p:sp>
      <p:sp>
        <p:nvSpPr>
          <p:cNvPr id="7" name="pill label"/>
          <p:cNvSpPr txBox="1"/>
          <p:nvPr/>
        </p:nvSpPr>
        <p:spPr>
          <a:xfrm>
            <a:off x="777240" y="16002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8" name="text"/>
          <p:cNvSpPr txBox="1"/>
          <p:nvPr/>
        </p:nvSpPr>
        <p:spPr>
          <a:xfrm>
            <a:off x="1463040" y="1508760"/>
            <a:ext cx="6720840" cy="411480"/>
          </a:xfrm>
          <a:prstGeom prst="rect">
            <a:avLst/>
          </a:prstGeom>
          <a:noFill/>
          <a:ln/>
        </p:spPr>
        <p:txBody>
          <a:bodyPr wrap="square" lIns="0" tIns="0" rIns="0" bIns="0" rtlCol="0" anchor="ctr"/>
          <a:lstStyle/>
          <a:p>
            <a:pPr algn="l" indent="0" marL="0">
              <a:buNone/>
            </a:pPr>
            <a:r>
              <a:rPr lang="en-US" sz="1550" b="1" dirty="0">
                <a:solidFill>
                  <a:srgbClr val="2E1616"/>
                </a:solidFill>
              </a:rPr>
              <a:t>Jadwal penerbangan adalah master schedule</a:t>
            </a:r>
            <a:endParaRPr lang="en-US" sz="1550" dirty="0"/>
          </a:p>
        </p:txBody>
      </p:sp>
      <p:sp>
        <p:nvSpPr>
          <p:cNvPr id="9" name="text"/>
          <p:cNvSpPr txBox="1"/>
          <p:nvPr/>
        </p:nvSpPr>
        <p:spPr>
          <a:xfrm>
            <a:off x="1463040" y="1947672"/>
            <a:ext cx="6720840" cy="822960"/>
          </a:xfrm>
          <a:prstGeom prst="rect">
            <a:avLst/>
          </a:prstGeom>
          <a:noFill/>
          <a:ln/>
        </p:spPr>
        <p:txBody>
          <a:bodyPr wrap="square" lIns="0" tIns="0" rIns="0" bIns="0" rtlCol="0" anchor="t"/>
          <a:lstStyle/>
          <a:p>
            <a:pPr algn="l" indent="0" marL="0">
              <a:buNone/>
            </a:pPr>
            <a:r>
              <a:rPr lang="en-US" sz="1200" dirty="0">
                <a:solidFill>
                  <a:srgbClr val="2E1616"/>
                </a:solidFill>
              </a:rPr>
              <a:t>Kebutuhan perawatan, suku cadang, dan kru diturunkan dari </a:t>
            </a:r>
            <a:r>
              <a:rPr lang="en-US" sz="1200" i="1" dirty="0">
                <a:solidFill>
                  <a:srgbClr val="2E1616"/>
                </a:solidFill>
              </a:rPr>
              <a:t>flight timetable</a:t>
            </a:r>
            <a:r>
              <a:rPr lang="en-US" sz="1200" dirty="0">
                <a:solidFill>
                  <a:srgbClr val="2E1616"/>
                </a:solidFill>
              </a:rPr>
              <a:t> (logika MRP), dan satu basis data operasi menyatukan semuanya (logika ERP). Tailsight adalah langkah berikutnya: perencanaan yang memperhitungkan kapasitas.</a:t>
            </a:r>
            <a:endParaRPr lang="en-US" sz="1200" dirty="0"/>
          </a:p>
        </p:txBody>
      </p:sp>
      <p:sp>
        <p:nvSpPr>
          <p:cNvPr id="10" name="card"/>
          <p:cNvSpPr/>
          <p:nvPr/>
        </p:nvSpPr>
        <p:spPr>
          <a:xfrm>
            <a:off x="548640" y="2971800"/>
            <a:ext cx="7863840" cy="1481328"/>
          </a:xfrm>
          <a:prstGeom prst="roundRect">
            <a:avLst>
              <a:gd name="adj" fmla="val 12346"/>
            </a:avLst>
          </a:prstGeom>
          <a:solidFill>
            <a:srgbClr val="F5F2EB"/>
          </a:solidFill>
          <a:ln w="3175">
            <a:solidFill>
              <a:srgbClr val="F5F2EB"/>
            </a:solidFill>
            <a:prstDash val="solid"/>
          </a:ln>
        </p:spPr>
      </p:sp>
      <p:sp>
        <p:nvSpPr>
          <p:cNvPr id="11" name="pill"/>
          <p:cNvSpPr/>
          <p:nvPr/>
        </p:nvSpPr>
        <p:spPr>
          <a:xfrm>
            <a:off x="777240" y="3246120"/>
            <a:ext cx="457200" cy="457200"/>
          </a:xfrm>
          <a:prstGeom prst="roundRect">
            <a:avLst>
              <a:gd name="adj" fmla="val 50000"/>
            </a:avLst>
          </a:prstGeom>
          <a:solidFill>
            <a:srgbClr val="4F2D2C"/>
          </a:solidFill>
          <a:ln w="3175">
            <a:solidFill>
              <a:srgbClr val="4F2D2C"/>
            </a:solidFill>
            <a:prstDash val="solid"/>
          </a:ln>
        </p:spPr>
      </p:sp>
      <p:sp>
        <p:nvSpPr>
          <p:cNvPr id="12" name="pill label"/>
          <p:cNvSpPr txBox="1"/>
          <p:nvPr/>
        </p:nvSpPr>
        <p:spPr>
          <a:xfrm>
            <a:off x="777240" y="3246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3" name="text"/>
          <p:cNvSpPr txBox="1"/>
          <p:nvPr/>
        </p:nvSpPr>
        <p:spPr>
          <a:xfrm>
            <a:off x="1463040" y="3154680"/>
            <a:ext cx="6720840" cy="411480"/>
          </a:xfrm>
          <a:prstGeom prst="rect">
            <a:avLst/>
          </a:prstGeom>
          <a:noFill/>
          <a:ln/>
        </p:spPr>
        <p:txBody>
          <a:bodyPr wrap="square" lIns="0" tIns="0" rIns="0" bIns="0" rtlCol="0" anchor="ctr"/>
          <a:lstStyle/>
          <a:p>
            <a:pPr algn="l" indent="0" marL="0">
              <a:buNone/>
            </a:pPr>
            <a:r>
              <a:rPr lang="en-US" sz="1550" b="1" dirty="0">
                <a:solidFill>
                  <a:srgbClr val="2E1616"/>
                </a:solidFill>
              </a:rPr>
              <a:t>Ketepatan waktu dijaga jam demi jam</a:t>
            </a:r>
            <a:endParaRPr lang="en-US" sz="1550" dirty="0"/>
          </a:p>
        </p:txBody>
      </p:sp>
      <p:sp>
        <p:nvSpPr>
          <p:cNvPr id="14" name="text"/>
          <p:cNvSpPr txBox="1"/>
          <p:nvPr/>
        </p:nvSpPr>
        <p:spPr>
          <a:xfrm>
            <a:off x="1463040" y="3593592"/>
            <a:ext cx="6720840" cy="822960"/>
          </a:xfrm>
          <a:prstGeom prst="rect">
            <a:avLst/>
          </a:prstGeom>
          <a:noFill/>
          <a:ln/>
        </p:spPr>
        <p:txBody>
          <a:bodyPr wrap="square" lIns="0" tIns="0" rIns="0" bIns="0" rtlCol="0" anchor="t"/>
          <a:lstStyle/>
          <a:p>
            <a:pPr algn="l" indent="0" marL="0">
              <a:buNone/>
            </a:pPr>
            <a:r>
              <a:rPr lang="en-US" sz="1200" dirty="0">
                <a:solidFill>
                  <a:srgbClr val="2E1616"/>
                </a:solidFill>
              </a:rPr>
              <a:t>Aturan prioritas di hangar, penjadwalan kru berkapasitas berhingga, jadwal siklis staf darat, dan penjadwalan ulang saat badai adalah </a:t>
            </a:r>
            <a:r>
              <a:rPr lang="en-US" sz="1200" i="1" dirty="0">
                <a:solidFill>
                  <a:srgbClr val="2E1616"/>
                </a:solidFill>
              </a:rPr>
              <a:t>sequencing and scheduling</a:t>
            </a:r>
            <a:r>
              <a:rPr lang="en-US" sz="1200" dirty="0">
                <a:solidFill>
                  <a:srgbClr val="2E1616"/>
                </a:solidFill>
              </a:rPr>
              <a:t> yang menjelaskan 79% ketepatan kedatangan di tengah cuaca Seattle.</a:t>
            </a:r>
            <a:endParaRPr lang="en-US" sz="1200" dirty="0"/>
          </a:p>
        </p:txBody>
      </p:sp>
      <p:sp>
        <p:nvSpPr>
          <p:cNvPr id="15" name="card"/>
          <p:cNvSpPr/>
          <p:nvPr/>
        </p:nvSpPr>
        <p:spPr>
          <a:xfrm>
            <a:off x="548640" y="4617720"/>
            <a:ext cx="7863840" cy="1481328"/>
          </a:xfrm>
          <a:prstGeom prst="roundRect">
            <a:avLst>
              <a:gd name="adj" fmla="val 12346"/>
            </a:avLst>
          </a:prstGeom>
          <a:solidFill>
            <a:srgbClr val="F5F2EB"/>
          </a:solidFill>
          <a:ln w="3175">
            <a:solidFill>
              <a:srgbClr val="F5F2EB"/>
            </a:solidFill>
            <a:prstDash val="solid"/>
          </a:ln>
        </p:spPr>
      </p:sp>
      <p:sp>
        <p:nvSpPr>
          <p:cNvPr id="16" name="pill"/>
          <p:cNvSpPr/>
          <p:nvPr/>
        </p:nvSpPr>
        <p:spPr>
          <a:xfrm>
            <a:off x="777240" y="4892040"/>
            <a:ext cx="457200" cy="457200"/>
          </a:xfrm>
          <a:prstGeom prst="roundRect">
            <a:avLst>
              <a:gd name="adj" fmla="val 50000"/>
            </a:avLst>
          </a:prstGeom>
          <a:solidFill>
            <a:srgbClr val="4F2D2C"/>
          </a:solidFill>
          <a:ln w="3175">
            <a:solidFill>
              <a:srgbClr val="4F2D2C"/>
            </a:solidFill>
            <a:prstDash val="solid"/>
          </a:ln>
        </p:spPr>
      </p:sp>
      <p:sp>
        <p:nvSpPr>
          <p:cNvPr id="17" name="pill label"/>
          <p:cNvSpPr txBox="1"/>
          <p:nvPr/>
        </p:nvSpPr>
        <p:spPr>
          <a:xfrm>
            <a:off x="777240" y="48920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8" name="text"/>
          <p:cNvSpPr txBox="1"/>
          <p:nvPr/>
        </p:nvSpPr>
        <p:spPr>
          <a:xfrm>
            <a:off x="1463040" y="4800600"/>
            <a:ext cx="6720840" cy="411480"/>
          </a:xfrm>
          <a:prstGeom prst="rect">
            <a:avLst/>
          </a:prstGeom>
          <a:noFill/>
          <a:ln/>
        </p:spPr>
        <p:txBody>
          <a:bodyPr wrap="square" lIns="0" tIns="0" rIns="0" bIns="0" rtlCol="0" anchor="ctr"/>
          <a:lstStyle/>
          <a:p>
            <a:pPr algn="l" indent="0" marL="0">
              <a:buNone/>
            </a:pPr>
            <a:r>
              <a:rPr lang="en-US" sz="1550" b="1" dirty="0">
                <a:solidFill>
                  <a:srgbClr val="2E1616"/>
                </a:solidFill>
              </a:rPr>
              <a:t>Integrasi adalah keunggulan sekaligus risiko</a:t>
            </a:r>
            <a:endParaRPr lang="en-US" sz="1550" dirty="0"/>
          </a:p>
        </p:txBody>
      </p:sp>
      <p:sp>
        <p:nvSpPr>
          <p:cNvPr id="19" name="text"/>
          <p:cNvSpPr txBox="1"/>
          <p:nvPr/>
        </p:nvSpPr>
        <p:spPr>
          <a:xfrm>
            <a:off x="1463040" y="5239512"/>
            <a:ext cx="6720840" cy="822960"/>
          </a:xfrm>
          <a:prstGeom prst="rect">
            <a:avLst/>
          </a:prstGeom>
          <a:noFill/>
          <a:ln/>
        </p:spPr>
        <p:txBody>
          <a:bodyPr wrap="square" lIns="0" tIns="0" rIns="0" bIns="0" rtlCol="0" anchor="t"/>
          <a:lstStyle/>
          <a:p>
            <a:pPr algn="l" indent="0" marL="0">
              <a:buNone/>
            </a:pPr>
            <a:r>
              <a:rPr lang="en-US" sz="1200" dirty="0">
                <a:solidFill>
                  <a:srgbClr val="2E1616"/>
                </a:solidFill>
              </a:rPr>
              <a:t>Data bersama menghemat US$18 juta per tahun, tetapi dua </a:t>
            </a:r>
            <a:r>
              <a:rPr lang="en-US" sz="1200" i="1" dirty="0">
                <a:solidFill>
                  <a:srgbClr val="2E1616"/>
                </a:solidFill>
              </a:rPr>
              <a:t>outage</a:t>
            </a:r>
            <a:r>
              <a:rPr lang="en-US" sz="1200" dirty="0">
                <a:solidFill>
                  <a:srgbClr val="2E1616"/>
                </a:solidFill>
              </a:rPr>
              <a:t> 2025 menghentikan seluruh operasi. Ketahanan infrastruktur harus direncanakan sekeras jadwalnya.</a:t>
            </a:r>
            <a:endParaRPr lang="en-US" sz="1200" dirty="0"/>
          </a:p>
        </p:txBody>
      </p:sp>
      <p:sp>
        <p:nvSpPr>
          <p:cNvPr id="20" name="card"/>
          <p:cNvSpPr/>
          <p:nvPr/>
        </p:nvSpPr>
        <p:spPr>
          <a:xfrm>
            <a:off x="8641080" y="1325880"/>
            <a:ext cx="3001975" cy="4910328"/>
          </a:xfrm>
          <a:prstGeom prst="roundRect">
            <a:avLst>
              <a:gd name="adj" fmla="val 6092"/>
            </a:avLst>
          </a:prstGeom>
          <a:solidFill>
            <a:srgbClr val="F5F2EB"/>
          </a:solidFill>
          <a:ln w="3175">
            <a:solidFill>
              <a:srgbClr val="F5F2EB"/>
            </a:solidFill>
            <a:prstDash val="solid"/>
          </a:ln>
        </p:spPr>
      </p:sp>
      <p:sp>
        <p:nvSpPr>
          <p:cNvPr id="21" name="text"/>
          <p:cNvSpPr txBox="1"/>
          <p:nvPr/>
        </p:nvSpPr>
        <p:spPr>
          <a:xfrm>
            <a:off x="8915400" y="1508760"/>
            <a:ext cx="2453335" cy="365760"/>
          </a:xfrm>
          <a:prstGeom prst="rect">
            <a:avLst/>
          </a:prstGeom>
          <a:noFill/>
          <a:ln/>
        </p:spPr>
        <p:txBody>
          <a:bodyPr wrap="square" lIns="0" tIns="0" rIns="0" bIns="0" rtlCol="0" anchor="t"/>
          <a:lstStyle/>
          <a:p>
            <a:pPr algn="l" indent="0" marL="0">
              <a:buNone/>
            </a:pPr>
            <a:r>
              <a:rPr lang="en-US" sz="1500" b="1" dirty="0">
                <a:solidFill>
                  <a:srgbClr val="2E1616"/>
                </a:solidFill>
              </a:rPr>
              <a:t>Angka kunci</a:t>
            </a:r>
            <a:endParaRPr lang="en-US" sz="1500" dirty="0"/>
          </a:p>
        </p:txBody>
      </p:sp>
      <p:sp>
        <p:nvSpPr>
          <p:cNvPr id="22" name="text"/>
          <p:cNvSpPr txBox="1"/>
          <p:nvPr/>
        </p:nvSpPr>
        <p:spPr>
          <a:xfrm>
            <a:off x="8915400" y="1965960"/>
            <a:ext cx="2453335" cy="502920"/>
          </a:xfrm>
          <a:prstGeom prst="rect">
            <a:avLst/>
          </a:prstGeom>
          <a:noFill/>
          <a:ln/>
        </p:spPr>
        <p:txBody>
          <a:bodyPr wrap="square" lIns="0" tIns="0" rIns="0" bIns="0" rtlCol="0" anchor="ctr"/>
          <a:lstStyle/>
          <a:p>
            <a:pPr algn="l" indent="0" marL="0">
              <a:buNone/>
            </a:pPr>
            <a:r>
              <a:rPr lang="en-US" sz="2400" b="1" dirty="0">
                <a:solidFill>
                  <a:srgbClr val="3B8BE0"/>
                </a:solidFill>
              </a:rPr>
              <a:t>US$18 juta</a:t>
            </a:r>
            <a:endParaRPr lang="en-US" sz="2400" dirty="0"/>
          </a:p>
        </p:txBody>
      </p:sp>
      <p:sp>
        <p:nvSpPr>
          <p:cNvPr id="23" name="text"/>
          <p:cNvSpPr txBox="1"/>
          <p:nvPr/>
        </p:nvSpPr>
        <p:spPr>
          <a:xfrm>
            <a:off x="8915400" y="2487168"/>
            <a:ext cx="2453335" cy="731520"/>
          </a:xfrm>
          <a:prstGeom prst="rect">
            <a:avLst/>
          </a:prstGeom>
          <a:noFill/>
          <a:ln/>
        </p:spPr>
        <p:txBody>
          <a:bodyPr wrap="square" lIns="0" tIns="0" rIns="0" bIns="0" rtlCol="0" anchor="t"/>
          <a:lstStyle/>
          <a:p>
            <a:pPr algn="l" indent="0" marL="0">
              <a:buNone/>
            </a:pPr>
            <a:r>
              <a:rPr lang="en-US" sz="1100" dirty="0">
                <a:solidFill>
                  <a:srgbClr val="2E1616"/>
                </a:solidFill>
              </a:rPr>
              <a:t>per tahun, penghematan dari teknologi penjadwalan ulang</a:t>
            </a:r>
            <a:endParaRPr lang="en-US" sz="1100" dirty="0"/>
          </a:p>
        </p:txBody>
      </p:sp>
      <p:sp>
        <p:nvSpPr>
          <p:cNvPr id="24" name="text"/>
          <p:cNvSpPr txBox="1"/>
          <p:nvPr/>
        </p:nvSpPr>
        <p:spPr>
          <a:xfrm>
            <a:off x="8915400" y="3337560"/>
            <a:ext cx="2453335" cy="502920"/>
          </a:xfrm>
          <a:prstGeom prst="rect">
            <a:avLst/>
          </a:prstGeom>
          <a:noFill/>
          <a:ln/>
        </p:spPr>
        <p:txBody>
          <a:bodyPr wrap="square" lIns="0" tIns="0" rIns="0" bIns="0" rtlCol="0" anchor="ctr"/>
          <a:lstStyle/>
          <a:p>
            <a:pPr algn="l" indent="0" marL="0">
              <a:buNone/>
            </a:pPr>
            <a:r>
              <a:rPr lang="en-US" sz="2400" b="1" dirty="0">
                <a:solidFill>
                  <a:srgbClr val="3B8BE0"/>
                </a:solidFill>
              </a:rPr>
              <a:t>85,8%</a:t>
            </a:r>
            <a:endParaRPr lang="en-US" sz="2400" dirty="0"/>
          </a:p>
        </p:txBody>
      </p:sp>
      <p:sp>
        <p:nvSpPr>
          <p:cNvPr id="25" name="text"/>
          <p:cNvSpPr txBox="1"/>
          <p:nvPr/>
        </p:nvSpPr>
        <p:spPr>
          <a:xfrm>
            <a:off x="8915400" y="3858768"/>
            <a:ext cx="2453335" cy="731520"/>
          </a:xfrm>
          <a:prstGeom prst="rect">
            <a:avLst/>
          </a:prstGeom>
          <a:noFill/>
          <a:ln/>
        </p:spPr>
        <p:txBody>
          <a:bodyPr wrap="square" lIns="0" tIns="0" rIns="0" bIns="0" rtlCol="0" anchor="t"/>
          <a:lstStyle/>
          <a:p>
            <a:pPr algn="l" indent="0" marL="0">
              <a:buNone/>
            </a:pPr>
            <a:r>
              <a:rPr lang="en-US" sz="1100" dirty="0">
                <a:solidFill>
                  <a:srgbClr val="2E1616"/>
                </a:solidFill>
              </a:rPr>
              <a:t>on-time departures di SEA, tertinggi di Amerika Serikat (Heizer et al., 2017)</a:t>
            </a:r>
            <a:endParaRPr lang="en-US" sz="1100" dirty="0"/>
          </a:p>
        </p:txBody>
      </p:sp>
      <p:sp>
        <p:nvSpPr>
          <p:cNvPr id="26" name="text"/>
          <p:cNvSpPr txBox="1"/>
          <p:nvPr/>
        </p:nvSpPr>
        <p:spPr>
          <a:xfrm>
            <a:off x="8915400" y="4709160"/>
            <a:ext cx="2453335" cy="502920"/>
          </a:xfrm>
          <a:prstGeom prst="rect">
            <a:avLst/>
          </a:prstGeom>
          <a:noFill/>
          <a:ln/>
        </p:spPr>
        <p:txBody>
          <a:bodyPr wrap="square" lIns="0" tIns="0" rIns="0" bIns="0" rtlCol="0" anchor="ctr"/>
          <a:lstStyle/>
          <a:p>
            <a:pPr algn="l" indent="0" marL="0">
              <a:buNone/>
            </a:pPr>
            <a:r>
              <a:rPr lang="en-US" sz="2400" b="1" dirty="0">
                <a:solidFill>
                  <a:srgbClr val="3B8BE0"/>
                </a:solidFill>
              </a:rPr>
              <a:t>79,25%</a:t>
            </a:r>
            <a:endParaRPr lang="en-US" sz="2400" dirty="0"/>
          </a:p>
        </p:txBody>
      </p:sp>
      <p:sp>
        <p:nvSpPr>
          <p:cNvPr id="27" name="text"/>
          <p:cNvSpPr txBox="1"/>
          <p:nvPr/>
        </p:nvSpPr>
        <p:spPr>
          <a:xfrm>
            <a:off x="8915400" y="5230368"/>
            <a:ext cx="2453335" cy="731520"/>
          </a:xfrm>
          <a:prstGeom prst="rect">
            <a:avLst/>
          </a:prstGeom>
          <a:noFill/>
          <a:ln/>
        </p:spPr>
        <p:txBody>
          <a:bodyPr wrap="square" lIns="0" tIns="0" rIns="0" bIns="0" rtlCol="0" anchor="t"/>
          <a:lstStyle/>
          <a:p>
            <a:pPr algn="l" indent="0" marL="0">
              <a:buNone/>
            </a:pPr>
            <a:r>
              <a:rPr lang="en-US" sz="1100" dirty="0">
                <a:solidFill>
                  <a:srgbClr val="2E1616"/>
                </a:solidFill>
              </a:rPr>
              <a:t>ketepatan kedatangan 2024, peringkat ke-3 Amerika Utara (Cirium)</a:t>
            </a:r>
            <a:endParaRPr lang="en-US" sz="1100" dirty="0"/>
          </a:p>
        </p:txBody>
      </p:sp>
      <p:sp>
        <p:nvSpPr>
          <p:cNvPr id="25" name="Slide Number Placeholder 0"/>
          <p:cNvSpPr>
            <a:spLocks noGrp="1"/>
          </p:cNvSpPr>
          <p:nvPr>
            <p:ph type="sldNum" sz="quarter" idx="4294967295"/>
          </p:nvPr>
        </p:nvSpPr>
        <p:spPr>
          <a:xfrm>
            <a:off x="11247120" y="6446520"/>
            <a:ext cx="39319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4F2D2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p:cNvSpPr txBox="1"/>
          <p:nvPr/>
        </p:nvSpPr>
        <p:spPr>
          <a:xfrm>
            <a:off x="548640" y="822960"/>
            <a:ext cx="6858000" cy="1005840"/>
          </a:xfrm>
          <a:prstGeom prst="rect">
            <a:avLst/>
          </a:prstGeom>
          <a:noFill/>
          <a:ln/>
        </p:spPr>
        <p:txBody>
          <a:bodyPr wrap="square" lIns="0" tIns="0" rIns="0" bIns="0" rtlCol="0" anchor="t"/>
          <a:lstStyle/>
          <a:p>
            <a:pPr algn="l" indent="0" marL="0">
              <a:buNone/>
            </a:pPr>
            <a:r>
              <a:rPr lang="en-US" sz="4400" b="1" dirty="0">
                <a:solidFill>
                  <a:srgbClr val="2E1616"/>
                </a:solidFill>
              </a:rPr>
              <a:t>Terima Kasih</a:t>
            </a:r>
            <a:endParaRPr lang="en-US" sz="4400" dirty="0"/>
          </a:p>
        </p:txBody>
      </p:sp>
      <p:sp>
        <p:nvSpPr>
          <p:cNvPr id="4" name="text"/>
          <p:cNvSpPr txBox="1"/>
          <p:nvPr/>
        </p:nvSpPr>
        <p:spPr>
          <a:xfrm>
            <a:off x="548640" y="1828800"/>
            <a:ext cx="7132320" cy="457200"/>
          </a:xfrm>
          <a:prstGeom prst="rect">
            <a:avLst/>
          </a:prstGeom>
          <a:noFill/>
          <a:ln/>
        </p:spPr>
        <p:txBody>
          <a:bodyPr wrap="square" lIns="0" tIns="0" rIns="0" bIns="0" rtlCol="0" anchor="t"/>
          <a:lstStyle/>
          <a:p>
            <a:pPr algn="l" indent="0" marL="0">
              <a:buNone/>
            </a:pPr>
            <a:r>
              <a:rPr lang="en-US" sz="1300" b="1" dirty="0">
                <a:solidFill>
                  <a:srgbClr val="4F2D2C"/>
                </a:solidFill>
              </a:rPr>
              <a:t>Planning and Control di Alaska Airlines  ·  MRP dan ERP  ·  Sequencing and Scheduling</a:t>
            </a:r>
            <a:endParaRPr lang="en-US" sz="1300" dirty="0"/>
          </a:p>
        </p:txBody>
      </p:sp>
      <p:sp>
        <p:nvSpPr>
          <p:cNvPr id="5" name="card"/>
          <p:cNvSpPr/>
          <p:nvPr/>
        </p:nvSpPr>
        <p:spPr>
          <a:xfrm>
            <a:off x="548640" y="2468880"/>
            <a:ext cx="7132320" cy="2240280"/>
          </a:xfrm>
          <a:prstGeom prst="roundRect">
            <a:avLst>
              <a:gd name="adj" fmla="val 8163"/>
            </a:avLst>
          </a:prstGeom>
          <a:solidFill>
            <a:srgbClr val="F5F2EB"/>
          </a:solidFill>
          <a:ln w="3175">
            <a:solidFill>
              <a:srgbClr val="F5F2EB"/>
            </a:solidFill>
            <a:prstDash val="solid"/>
          </a:ln>
        </p:spPr>
      </p:sp>
      <p:sp>
        <p:nvSpPr>
          <p:cNvPr id="6" name="icon circle"/>
          <p:cNvSpPr/>
          <p:nvPr/>
        </p:nvSpPr>
        <p:spPr>
          <a:xfrm>
            <a:off x="822960" y="2651760"/>
            <a:ext cx="502920" cy="502920"/>
          </a:xfrm>
          <a:prstGeom prst="ellipse">
            <a:avLst/>
          </a:prstGeom>
          <a:solidFill>
            <a:srgbClr val="D7EAFD"/>
          </a:solidFill>
          <a:ln w="3175">
            <a:solidFill>
              <a:srgbClr val="D7EAFD"/>
            </a:solidFill>
            <a:prstDash val="solid"/>
          </a:ln>
        </p:spPr>
      </p:sp>
      <p:pic>
        <p:nvPicPr>
          <p:cNvPr id="7" name="icon FaQuestionCircle" descr="preencoded.png">    </p:cNvPr>
          <p:cNvPicPr>
            <a:picLocks noChangeAspect="1"/>
          </p:cNvPicPr>
          <p:nvPr/>
        </p:nvPicPr>
        <p:blipFill>
          <a:blip r:embed="rId1"/>
          <a:stretch>
            <a:fillRect/>
          </a:stretch>
        </p:blipFill>
        <p:spPr>
          <a:xfrm>
            <a:off x="948690" y="2777490"/>
            <a:ext cx="251460" cy="251460"/>
          </a:xfrm>
          <a:prstGeom prst="rect">
            <a:avLst/>
          </a:prstGeom>
        </p:spPr>
      </p:pic>
      <p:sp>
        <p:nvSpPr>
          <p:cNvPr id="8" name="text"/>
          <p:cNvSpPr txBox="1"/>
          <p:nvPr/>
        </p:nvSpPr>
        <p:spPr>
          <a:xfrm>
            <a:off x="1463040" y="2651760"/>
            <a:ext cx="5943600" cy="502920"/>
          </a:xfrm>
          <a:prstGeom prst="rect">
            <a:avLst/>
          </a:prstGeom>
          <a:noFill/>
          <a:ln/>
        </p:spPr>
        <p:txBody>
          <a:bodyPr wrap="square" lIns="0" tIns="0" rIns="0" bIns="0" rtlCol="0" anchor="ctr"/>
          <a:lstStyle/>
          <a:p>
            <a:pPr algn="l" indent="0" marL="0">
              <a:buNone/>
            </a:pPr>
            <a:r>
              <a:rPr lang="en-US" sz="1600" b="1" dirty="0">
                <a:solidFill>
                  <a:srgbClr val="2E1616"/>
                </a:solidFill>
              </a:rPr>
              <a:t>Pertanyaan untuk diskusi</a:t>
            </a:r>
            <a:endParaRPr lang="en-US" sz="1600" dirty="0"/>
          </a:p>
        </p:txBody>
      </p:sp>
      <p:sp>
        <p:nvSpPr>
          <p:cNvPr id="9" name="bullets"/>
          <p:cNvSpPr txBox="1"/>
          <p:nvPr/>
        </p:nvSpPr>
        <p:spPr>
          <a:xfrm>
            <a:off x="822960" y="3246120"/>
            <a:ext cx="6583680" cy="141732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200" dirty="0">
                <a:solidFill>
                  <a:srgbClr val="2E1616"/>
                </a:solidFill>
              </a:rPr>
              <a:t>Ketika 65 pesawat harus diinspeksi serentak, aturan prioritas mana yang Anda pilih untuk antrean hangar, dan kriteria apa yang Anda korbankan?</a:t>
            </a:r>
            <a:endParaRPr lang="en-US" sz="1200" dirty="0"/>
          </a:p>
          <a:p>
            <a:pPr marL="342900" indent="-342900">
              <a:spcAft>
                <a:spcPts val="600"/>
              </a:spcAft>
              <a:buSzPct val="100000"/>
              <a:buFont typeface="+mj-lt"/>
              <a:buAutoNum type="arabicPeriod" startAt="1"/>
            </a:pPr>
            <a:r>
              <a:rPr lang="en-US" sz="1200" dirty="0">
                <a:solidFill>
                  <a:srgbClr val="2E1616"/>
                </a:solidFill>
              </a:rPr>
              <a:t>Sejauh mana manfaat integrasi data masih sepadan dengan risiko kegagalan tunggal yang ditunjukkan dua </a:t>
            </a:r>
            <a:r>
              <a:rPr lang="en-US" sz="1200" i="1" dirty="0">
                <a:solidFill>
                  <a:srgbClr val="2E1616"/>
                </a:solidFill>
              </a:rPr>
              <a:t>outage</a:t>
            </a:r>
            <a:r>
              <a:rPr lang="en-US" sz="1200" dirty="0">
                <a:solidFill>
                  <a:srgbClr val="2E1616"/>
                </a:solidFill>
              </a:rPr>
              <a:t> 2025? Di mana batas integrasi yang wajar?</a:t>
            </a:r>
            <a:endParaRPr lang="en-US" sz="1200" dirty="0"/>
          </a:p>
        </p:txBody>
      </p:sp>
      <p:pic>
        <p:nvPicPr>
          <p:cNvPr id="10" name="ilustrasi petugas gate" descr="/tmp/claude-0/-home-user-Dom-Manipulation/385e5267-c23e-5c04-80f5-d5fb4946a902/scratchpad/build/img2/st_gate.png">    </p:cNvPr>
          <p:cNvPicPr>
            <a:picLocks noChangeAspect="1"/>
          </p:cNvPicPr>
          <p:nvPr/>
        </p:nvPicPr>
        <p:blipFill>
          <a:blip r:embed="rId2"/>
          <a:stretch>
            <a:fillRect/>
          </a:stretch>
        </p:blipFill>
        <p:spPr>
          <a:xfrm>
            <a:off x="8138160" y="1051751"/>
            <a:ext cx="3566160" cy="3382899"/>
          </a:xfrm>
          <a:prstGeom prst="rect">
            <a:avLst/>
          </a:prstGeom>
        </p:spPr>
      </p:pic>
      <p:sp>
        <p:nvSpPr>
          <p:cNvPr id="11" name="card"/>
          <p:cNvSpPr/>
          <p:nvPr/>
        </p:nvSpPr>
        <p:spPr>
          <a:xfrm>
            <a:off x="548640" y="4892040"/>
            <a:ext cx="11094415" cy="1371600"/>
          </a:xfrm>
          <a:prstGeom prst="roundRect">
            <a:avLst>
              <a:gd name="adj" fmla="val 13333"/>
            </a:avLst>
          </a:prstGeom>
          <a:solidFill>
            <a:srgbClr val="F5F2EB"/>
          </a:solidFill>
          <a:ln w="3175">
            <a:solidFill>
              <a:srgbClr val="F5F2EB"/>
            </a:solidFill>
            <a:prstDash val="solid"/>
          </a:ln>
        </p:spPr>
      </p:sp>
      <p:sp>
        <p:nvSpPr>
          <p:cNvPr id="12" name="text"/>
          <p:cNvSpPr txBox="1"/>
          <p:nvPr/>
        </p:nvSpPr>
        <p:spPr>
          <a:xfrm>
            <a:off x="822960" y="4956048"/>
            <a:ext cx="1828800" cy="274320"/>
          </a:xfrm>
          <a:prstGeom prst="rect">
            <a:avLst/>
          </a:prstGeom>
          <a:noFill/>
          <a:ln/>
        </p:spPr>
        <p:txBody>
          <a:bodyPr wrap="square" lIns="0" tIns="0" rIns="0" bIns="0" rtlCol="0" anchor="t"/>
          <a:lstStyle/>
          <a:p>
            <a:pPr algn="l" indent="0" marL="0">
              <a:buNone/>
            </a:pPr>
            <a:r>
              <a:rPr lang="en-US" sz="1100" b="1" dirty="0">
                <a:solidFill>
                  <a:srgbClr val="2E1616"/>
                </a:solidFill>
              </a:rPr>
              <a:t>Sumber</a:t>
            </a:r>
            <a:endParaRPr lang="en-US" sz="1100" dirty="0"/>
          </a:p>
        </p:txBody>
      </p:sp>
      <p:sp>
        <p:nvSpPr>
          <p:cNvPr id="13" name="text"/>
          <p:cNvSpPr txBox="1"/>
          <p:nvPr/>
        </p:nvSpPr>
        <p:spPr>
          <a:xfrm>
            <a:off x="822960" y="5230368"/>
            <a:ext cx="10545775" cy="1005840"/>
          </a:xfrm>
          <a:prstGeom prst="rect">
            <a:avLst/>
          </a:prstGeom>
          <a:noFill/>
          <a:ln/>
        </p:spPr>
        <p:txBody>
          <a:bodyPr wrap="square" lIns="0" tIns="0" rIns="0" bIns="0" rtlCol="0" anchor="t"/>
          <a:lstStyle/>
          <a:p>
            <a:pPr algn="l" indent="0" marL="0">
              <a:buNone/>
            </a:pPr>
            <a:r>
              <a:rPr lang="en-US" sz="900" dirty="0">
                <a:solidFill>
                  <a:srgbClr val="4F2D2C"/>
                </a:solidFill>
              </a:rPr>
              <a:t>Heizer, J., Render, B., &amp; Munson, C. (2017). Operations Management (12th ed.), Bab 14–15, Global Company Profile Alaska Airlines, hlm. 600–602. Pearson  ·  Slack, N., Brandon-Jones, A., &amp; Burgess, N. (2022). Operations Management (10th ed.), Bab 10 dan 14. Pearson  ·  Alaska Airlines (2026, 16 April), Alaska Airlines and Tailsight launch AI-powered maintenance planning solution  ·  Alaska Airlines (2025, 29 Oktober), single operating certificate  ·  Alaska Air Group fact sheet  ·  Cirium (2025), 2024 On-Time Performance Review via Fox Business  ·  GeekWire (Okt 2025) dan CBS News (Jul 2025) tentang outage  ·  CNBC (25 Jan 2024) dan Anchorage Daily News (6 Jan 2024) tentang grounding 737 MAX 9  ·  Aviacionline (2025), armada akhir 2024  ·  Halldale (2024), Fox TMS  ·  Alaska Airlines Auro Design System (palet warna).</a:t>
            </a:r>
            <a:endParaRPr lang="en-US" sz="900" dirty="0"/>
          </a:p>
        </p:txBody>
      </p:sp>
      <p:sp>
        <p:nvSpPr>
          <p:cNvPr id="14" name="text"/>
          <p:cNvSpPr txBox="1"/>
          <p:nvPr/>
        </p:nvSpPr>
        <p:spPr>
          <a:xfrm>
            <a:off x="548640" y="6355080"/>
            <a:ext cx="7315200" cy="320040"/>
          </a:xfrm>
          <a:prstGeom prst="rect">
            <a:avLst/>
          </a:prstGeom>
          <a:noFill/>
          <a:ln/>
        </p:spPr>
        <p:txBody>
          <a:bodyPr wrap="square" lIns="0" tIns="0" rIns="0" bIns="0" rtlCol="0" anchor="t"/>
          <a:lstStyle/>
          <a:p>
            <a:pPr algn="l" indent="0" marL="0">
              <a:buNone/>
            </a:pPr>
            <a:r>
              <a:rPr lang="en-US" sz="1000" dirty="0">
                <a:solidFill>
                  <a:srgbClr val="4F2D2C"/>
                </a:solidFill>
              </a:rPr>
              <a:t>Dosen Pengampu: Prof. Nur Aini Masruroh, S.T., M.Sc., Ph.D.</a:t>
            </a:r>
            <a:endParaRPr lang="en-US" sz="1000" dirty="0"/>
          </a:p>
        </p:txBody>
      </p:sp>
      <p:sp>
        <p:nvSpPr>
          <p:cNvPr id="15"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algn="l" indent="0" marL="0">
              <a:buNone/>
            </a:pPr>
            <a:endParaRPr lang="en-US" sz="2800" dirty="0"/>
          </a:p>
        </p:txBody>
      </p:sp>
      <p:sp>
        <p:nvSpPr>
          <p:cNvPr id="25" name="Slide Number Placeholder 0"/>
          <p:cNvSpPr>
            <a:spLocks noGrp="1"/>
          </p:cNvSpPr>
          <p:nvPr>
            <p:ph type="sldNum" sz="quarter" idx="4294967295"/>
          </p:nvPr>
        </p:nvSpPr>
        <p:spPr>
          <a:xfrm>
            <a:off x="11247120" y="6446520"/>
            <a:ext cx="39319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4F2D2C"/>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laska Case Reference">
  <a:themeElements>
    <a:clrScheme name="Alaska Case Reference">
      <a:dk1>
        <a:srgbClr val="2E1616"/>
      </a:dk1>
      <a:lt1>
        <a:srgbClr val="FFFFFF"/>
      </a:lt1>
      <a:dk2>
        <a:srgbClr val="4F2D2C"/>
      </a:dk2>
      <a:lt2>
        <a:srgbClr val="B3D9FE"/>
      </a:lt2>
      <a:accent1>
        <a:srgbClr val="3B8BE0"/>
      </a:accent1>
      <a:accent2>
        <a:srgbClr val="8FC3F5"/>
      </a:accent2>
      <a:accent3>
        <a:srgbClr val="F5F2EB"/>
      </a:accent3>
      <a:accent4>
        <a:srgbClr val="E9815E"/>
      </a:accent4>
      <a:accent5>
        <a:srgbClr val="91BE62"/>
      </a:accent5>
      <a:accent6>
        <a:srgbClr val="0074C8"/>
      </a:accent6>
      <a:hlink>
        <a:srgbClr val="3B8BE0"/>
      </a:hlink>
      <a:folHlink>
        <a:srgbClr val="4F2D2C"/>
      </a:folHlink>
    </a:clrScheme>
    <a:fontScheme name="Alaska Case Referen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Planning and Control di Alaska Airlines — MRP dan ERP, Sequencing and Scheduling</dc:title>
  <dc:subject>PptxGenJS Presentation</dc:subject>
  <dc:creator>PptxGenJS</dc:creator>
  <cp:lastModifiedBy>PptxGenJS</cp:lastModifiedBy>
  <cp:revision>1</cp:revision>
  <dcterms:created xsi:type="dcterms:W3CDTF">2026-10-26T10:09:40Z</dcterms:created>
  <dcterms:modified xsi:type="dcterms:W3CDTF">2026-10-26T10:09:40Z</dcterms:modified>
</cp:coreProperties>
</file>