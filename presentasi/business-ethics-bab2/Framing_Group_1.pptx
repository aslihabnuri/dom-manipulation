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3" r:id="rId2"/>
  </p:sldMasterIdLst>
  <p:notesMasterIdLst>
    <p:notesMasterId r:id="rId39"/>
  </p:notesMasterIdLst>
  <p:sldIdLst>
    <p:sldId id="256" r:id="rId3"/>
    <p:sldId id="257" r:id="rId4"/>
    <p:sldId id="258" r:id="rId5"/>
    <p:sldId id="261" r:id="rId7"/>
    <p:sldId id="263" r:id="rId8"/>
    <p:sldId id="4479" r:id="rId9"/>
    <p:sldId id="262" r:id="rId10"/>
    <p:sldId id="4485" r:id="rId12"/>
    <p:sldId id="4486" r:id="rId13"/>
    <p:sldId id="4487" r:id="rId14"/>
    <p:sldId id="4482" r:id="rId16"/>
    <p:sldId id="4490" r:id="rId18"/>
    <p:sldId id="4491" r:id="rId19"/>
    <p:sldId id="272" r:id="rId21"/>
    <p:sldId id="4493" r:id="rId22"/>
    <p:sldId id="4494" r:id="rId23"/>
    <p:sldId id="4495" r:id="rId24"/>
    <p:sldId id="4496" r:id="rId25"/>
    <p:sldId id="4497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4" r:id="rId37"/>
    <p:sldId id="27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1A28"/>
    <a:srgbClr val="F3F6FC"/>
    <a:srgbClr val="F72D2D"/>
    <a:srgbClr val="B97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11" autoAdjust="0"/>
  </p:normalViewPr>
  <p:slideViewPr>
    <p:cSldViewPr snapToGrid="0">
      <p:cViewPr varScale="1">
        <p:scale>
          <a:sx n="84" d="100"/>
          <a:sy n="84" d="100"/>
        </p:scale>
        <p:origin x="4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ADC47-3A7E-4D3F-8D0A-C36187A17835}" type="datetimeFigureOut">
              <a:rPr lang="en-ID" smtClean="0"/>
              <a:t>27/08/2026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F709-BE21-4C7E-A3AB-A091232E74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6947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EF709-BE21-4C7E-A3AB-A091232E7402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6597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kunci: karena korporasi punya agency dan budaya organisasi sendiri, ia bisa dimintai tanggung jawab sebagai entitas — bukan hanya orang-orang di dalamnya. Ini dasar untuk menuntut PT Djarum sebagai perusahaan, bukan hanya manajernya.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id-ID" dirty="0"/>
              <a:t>Materi slide "Tiga Argumen Moral" dilebur ke sini. Detail: (1) Externalities - perusahaan menciptakan dampak yang ditanggung pihak di luar transaksi (polusi, pengurasan sumber daya, masalah komunitas); ada kewajiban moral menanganinya sejauh negara belum. (2) Power - sebagian korporasi berpendapatan melebihi PDB banyak negara; "with great power comes great responsibility". (3) Dependency - perusahaan bergantung pada konsumen, pemasok, dan komunitas, bukan hanya pemegang saham.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5B537-5B44-6590-8716-9BAD10D5D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A4C62-878C-3A2E-DE13-43E2B8D55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07BB4-6AE6-DA18-1F12-6AA66CCCC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64079-D3C8-795D-6615-4A7C903EFB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37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B6F39-FD6A-290F-F8B2-B12DF3018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28AF4-56C8-654E-D1F8-686AEE359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63FBF-A7EA-B9D0-E557-EBCC13D71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D659C-817E-42D8-88CD-E31980AAE8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21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6E406-FCE5-533D-E23B-A8F1FF24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D1DDC-9B95-AE0E-7C26-9287EB2D5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A0FB27-926F-A335-5AB7-DC7E02250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id-ID" dirty="0"/>
              <a:t>Materi slide "Corporate Social Performance" dilebur ke sini. Tiga bentuk hasil (outcome) CSR: (1) Social policies - nilai dan tujuan sosial dalam kebijakan perusahaan, contoh komitmen IKEA 100% energi terbarukan; (2) Social programmes - aktivitas dan instrumen untuk mewujudkannya, contoh ISO 14000/EMAS dan ISO 26000; (3) Social impacts - perubahan nyata di masyarakat dan lingkungan; bagian paling sulit diukur, tetapi paling menentukan apakah CSR bermakna.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278D4-FD3B-7109-E46F-B9E13B638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04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B1069-E26B-7154-F80E-E7EDB5F0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E254E-EB15-A26C-4A83-9FAD62D00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9A3A1-BB22-E32D-D4ED-0A9A9D330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id-ID" dirty="0"/>
              <a:t>Materi slide "Siapa yang Disebut Stakeholder" dilebur ke sini. Perkembangan definisi: Stanford memo (1963) "kelompok yang tanpa dukungannya organisasi berhenti eksis"; Hill &amp; Jones (1992) "konstituen dengan klaim sah lewat hubungan pertukaran"; Clarkson (1995) "memiliki atau mengklaim kepemilikan, hak, atau kepentingan atas korporasi". Catatan: cakupan stakeholder berbeda antarperusahaan, bahkan antarsituasi pada perusahaan yang sama.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EFEF2-035F-9F65-FF2C-5DAA9B7E3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588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D2805-900E-C430-F283-177180C10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14A37-521D-72C9-CFA3-CE686B7B2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4E7F98-E140-D83B-51AE-A0E271818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id-ID" dirty="0"/>
              <a:t>Materi slide "Peran Baru Manajemen &amp; Tiga Bentuk Teori" dilebur ke sini. Manajer tetap memikul fiduciary responsibility kepada pemegang saham, tetapi memadukannya dengan kepentingan stakeholder lain demi kelangsungan jangka panjang - termasuk pihak tanpa suara seperti lingkungan hidup. Dari sini muncul stakeholder democracy (stakeholder ikut memengaruhi keputusan) dan corporate governance yang mengodifikasi hak tiap kelompok. Kutipan Jack Welch (2009): maksimalisasi shareholder value sebagai strategi adalah "a dumb idea" - konstituen utama adalah karyawan, konsumen, dan produk.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0B037-53E4-2554-80E6-32F89B33A5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675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AC1F-0494-D2F0-7CB3-568F713FC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D4EFC4-49A2-19A4-B465-A7569D77C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D0776-EE60-C10D-FC5F-435A60016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29F68-F56B-B752-C928-930B5953F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247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3F12F-9E94-D61B-28C1-456E95B6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C406D-2963-B952-AED6-57F225A1A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0779A-6BAB-2AF4-2440-41076E97F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F84E3-AC5B-E54F-7D57-C980DF924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369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DC918-89E5-4559-5DCB-E548502FF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DD2A2-0C27-5CB4-85D2-D0696EAFA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12997-68C2-A4C1-BA56-D4E7B8EFE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A6950-EEEC-2854-4A13-9719845692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745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A5B35-2492-574E-FD18-224D5166A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2AD0B-06FD-2DAB-0884-CFAC40C35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2ED7B-86E8-74B9-32B1-CDE5FDB3B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7D3DB-920E-F4B0-5905-FDB6DA2C9B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483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914F8-CFFA-1426-6818-94E4A73F4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57225-A016-DA45-EC0B-2CDEE7870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9EE77-21D5-8722-2B38-BC693CDE5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83B64-CC0B-4CF8-981F-87A04B54DE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926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mengisi lapis filantropis dengan sangat baik tidak menutup kekosongan di lapis etis. Carroll menyebut keempatnya harus dipenuhi berurutan.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kronologi: KPAI (2019); CNN Indonesia (12/9/2019); Kompas; Tempo; Tirto; ANTARA (2025); PB Djarum 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id-ID" dirty="0"/>
              <a:t>Slide "Kesimpulan" dilebur ke sini. Lima poin lengkapnya: (1) korporasi punya tanggung jawab moral melampaui individu di dalamnya (legal identity, agency, budaya, identitas fungsional); (2) CSR Djarum kuat di lapis required &amp; desired, rapuh di lapis expected - keterbatasan piramida Carroll saat dua lapis berbenturan; (3) mayoritas program masih bolt-on, bergeser ke built-in butuh integrasi dengan rantai nilai; (4) anak-anak peserta audisi adalah stakeholder sah lewat principle of corporate effect; (5) sebagai aktor politik de facto, tuntutan akuntabilitas &amp; transparansi kepada Djarum wajar. Nilai tambah konsep CC menurut buku: memperjelas peran politik korporasi, mempertajam akuntabilitas, membantu memahami globalisasi, membuka perspektif kritis.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7848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9DEBB3B-F146-C5C2-E686-3FF9CC2BC8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72950" y="2104570"/>
            <a:ext cx="1525320" cy="2784767"/>
          </a:xfrm>
          <a:custGeom>
            <a:avLst/>
            <a:gdLst>
              <a:gd name="connsiteX0" fmla="*/ 762660 w 1525320"/>
              <a:gd name="connsiteY0" fmla="*/ 0 h 2784767"/>
              <a:gd name="connsiteX1" fmla="*/ 1525320 w 1525320"/>
              <a:gd name="connsiteY1" fmla="*/ 762660 h 2784767"/>
              <a:gd name="connsiteX2" fmla="*/ 1525319 w 1525320"/>
              <a:gd name="connsiteY2" fmla="*/ 2022107 h 2784767"/>
              <a:gd name="connsiteX3" fmla="*/ 762659 w 1525320"/>
              <a:gd name="connsiteY3" fmla="*/ 2784767 h 2784767"/>
              <a:gd name="connsiteX4" fmla="*/ 762660 w 1525320"/>
              <a:gd name="connsiteY4" fmla="*/ 2784766 h 2784767"/>
              <a:gd name="connsiteX5" fmla="*/ 0 w 1525320"/>
              <a:gd name="connsiteY5" fmla="*/ 2022106 h 2784767"/>
              <a:gd name="connsiteX6" fmla="*/ 0 w 1525320"/>
              <a:gd name="connsiteY6" fmla="*/ 762660 h 2784767"/>
              <a:gd name="connsiteX7" fmla="*/ 762660 w 1525320"/>
              <a:gd name="connsiteY7" fmla="*/ 0 h 2784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5320" h="2784767">
                <a:moveTo>
                  <a:pt x="762660" y="0"/>
                </a:moveTo>
                <a:cubicBezTo>
                  <a:pt x="1183865" y="0"/>
                  <a:pt x="1525320" y="341455"/>
                  <a:pt x="1525320" y="762660"/>
                </a:cubicBezTo>
                <a:cubicBezTo>
                  <a:pt x="1525320" y="1182476"/>
                  <a:pt x="1525319" y="1602291"/>
                  <a:pt x="1525319" y="2022107"/>
                </a:cubicBezTo>
                <a:cubicBezTo>
                  <a:pt x="1525319" y="2443312"/>
                  <a:pt x="1183864" y="2784767"/>
                  <a:pt x="762659" y="2784767"/>
                </a:cubicBezTo>
                <a:lnTo>
                  <a:pt x="762660" y="2784766"/>
                </a:lnTo>
                <a:cubicBezTo>
                  <a:pt x="341455" y="2784766"/>
                  <a:pt x="0" y="2443311"/>
                  <a:pt x="0" y="2022106"/>
                </a:cubicBezTo>
                <a:lnTo>
                  <a:pt x="0" y="762660"/>
                </a:lnTo>
                <a:cubicBezTo>
                  <a:pt x="0" y="341455"/>
                  <a:pt x="341455" y="0"/>
                  <a:pt x="762660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BDD8A20-0586-99D0-F371-C3C1DF219D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72949" y="5036458"/>
            <a:ext cx="1525320" cy="1821543"/>
          </a:xfrm>
          <a:custGeom>
            <a:avLst/>
            <a:gdLst>
              <a:gd name="connsiteX0" fmla="*/ 762660 w 1525320"/>
              <a:gd name="connsiteY0" fmla="*/ 0 h 1821543"/>
              <a:gd name="connsiteX1" fmla="*/ 1525320 w 1525320"/>
              <a:gd name="connsiteY1" fmla="*/ 762660 h 1821543"/>
              <a:gd name="connsiteX2" fmla="*/ 1525320 w 1525320"/>
              <a:gd name="connsiteY2" fmla="*/ 1821543 h 1821543"/>
              <a:gd name="connsiteX3" fmla="*/ 0 w 1525320"/>
              <a:gd name="connsiteY3" fmla="*/ 1821543 h 1821543"/>
              <a:gd name="connsiteX4" fmla="*/ 0 w 1525320"/>
              <a:gd name="connsiteY4" fmla="*/ 762660 h 1821543"/>
              <a:gd name="connsiteX5" fmla="*/ 762660 w 1525320"/>
              <a:gd name="connsiteY5" fmla="*/ 0 h 182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5320" h="1821543">
                <a:moveTo>
                  <a:pt x="762660" y="0"/>
                </a:moveTo>
                <a:cubicBezTo>
                  <a:pt x="1183865" y="0"/>
                  <a:pt x="1525320" y="341455"/>
                  <a:pt x="1525320" y="762660"/>
                </a:cubicBezTo>
                <a:lnTo>
                  <a:pt x="1525320" y="1821543"/>
                </a:lnTo>
                <a:lnTo>
                  <a:pt x="0" y="1821543"/>
                </a:lnTo>
                <a:lnTo>
                  <a:pt x="0" y="762660"/>
                </a:lnTo>
                <a:cubicBezTo>
                  <a:pt x="0" y="341455"/>
                  <a:pt x="341455" y="0"/>
                  <a:pt x="762660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25C4DD-098E-82F4-F88F-15E01098E7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685633" y="-1"/>
            <a:ext cx="1525320" cy="1968666"/>
          </a:xfrm>
          <a:custGeom>
            <a:avLst/>
            <a:gdLst>
              <a:gd name="connsiteX0" fmla="*/ 0 w 1525320"/>
              <a:gd name="connsiteY0" fmla="*/ 0 h 1968666"/>
              <a:gd name="connsiteX1" fmla="*/ 1525320 w 1525320"/>
              <a:gd name="connsiteY1" fmla="*/ 0 h 1968666"/>
              <a:gd name="connsiteX2" fmla="*/ 1525319 w 1525320"/>
              <a:gd name="connsiteY2" fmla="*/ 1206006 h 1968666"/>
              <a:gd name="connsiteX3" fmla="*/ 762659 w 1525320"/>
              <a:gd name="connsiteY3" fmla="*/ 1968666 h 1968666"/>
              <a:gd name="connsiteX4" fmla="*/ 762660 w 1525320"/>
              <a:gd name="connsiteY4" fmla="*/ 1968665 h 1968666"/>
              <a:gd name="connsiteX5" fmla="*/ 0 w 1525320"/>
              <a:gd name="connsiteY5" fmla="*/ 1206005 h 19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5320" h="1968666">
                <a:moveTo>
                  <a:pt x="0" y="0"/>
                </a:moveTo>
                <a:lnTo>
                  <a:pt x="1525320" y="0"/>
                </a:lnTo>
                <a:lnTo>
                  <a:pt x="1525319" y="1206006"/>
                </a:lnTo>
                <a:cubicBezTo>
                  <a:pt x="1525319" y="1627211"/>
                  <a:pt x="1183864" y="1968666"/>
                  <a:pt x="762659" y="1968666"/>
                </a:cubicBezTo>
                <a:lnTo>
                  <a:pt x="762660" y="1968665"/>
                </a:lnTo>
                <a:cubicBezTo>
                  <a:pt x="341455" y="1968665"/>
                  <a:pt x="0" y="1627210"/>
                  <a:pt x="0" y="1206005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A29C15E-CBEE-B3DA-CC97-593E15ECB0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85633" y="3765793"/>
            <a:ext cx="1525320" cy="3092206"/>
          </a:xfrm>
          <a:custGeom>
            <a:avLst/>
            <a:gdLst>
              <a:gd name="connsiteX0" fmla="*/ 762660 w 1525320"/>
              <a:gd name="connsiteY0" fmla="*/ 0 h 3092206"/>
              <a:gd name="connsiteX1" fmla="*/ 1525320 w 1525320"/>
              <a:gd name="connsiteY1" fmla="*/ 762660 h 3092206"/>
              <a:gd name="connsiteX2" fmla="*/ 1525319 w 1525320"/>
              <a:gd name="connsiteY2" fmla="*/ 3092206 h 3092206"/>
              <a:gd name="connsiteX3" fmla="*/ 0 w 1525320"/>
              <a:gd name="connsiteY3" fmla="*/ 3092206 h 3092206"/>
              <a:gd name="connsiteX4" fmla="*/ 0 w 1525320"/>
              <a:gd name="connsiteY4" fmla="*/ 762660 h 3092206"/>
              <a:gd name="connsiteX5" fmla="*/ 762660 w 1525320"/>
              <a:gd name="connsiteY5" fmla="*/ 0 h 3092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5320" h="3092206">
                <a:moveTo>
                  <a:pt x="762660" y="0"/>
                </a:moveTo>
                <a:cubicBezTo>
                  <a:pt x="1183865" y="0"/>
                  <a:pt x="1525320" y="341455"/>
                  <a:pt x="1525320" y="762660"/>
                </a:cubicBezTo>
                <a:lnTo>
                  <a:pt x="1525319" y="3092206"/>
                </a:lnTo>
                <a:lnTo>
                  <a:pt x="0" y="3092206"/>
                </a:lnTo>
                <a:lnTo>
                  <a:pt x="0" y="762660"/>
                </a:lnTo>
                <a:cubicBezTo>
                  <a:pt x="0" y="341455"/>
                  <a:pt x="341455" y="0"/>
                  <a:pt x="762660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513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9575708-7477-7E0E-97D0-876E84B283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1457039"/>
            <a:ext cx="4177138" cy="1721592"/>
          </a:xfrm>
          <a:custGeom>
            <a:avLst/>
            <a:gdLst>
              <a:gd name="connsiteX0" fmla="*/ 860796 w 4177138"/>
              <a:gd name="connsiteY0" fmla="*/ 0 h 1721592"/>
              <a:gd name="connsiteX1" fmla="*/ 3316342 w 4177138"/>
              <a:gd name="connsiteY1" fmla="*/ 0 h 1721592"/>
              <a:gd name="connsiteX2" fmla="*/ 4177138 w 4177138"/>
              <a:gd name="connsiteY2" fmla="*/ 860796 h 1721592"/>
              <a:gd name="connsiteX3" fmla="*/ 3316342 w 4177138"/>
              <a:gd name="connsiteY3" fmla="*/ 1721592 h 1721592"/>
              <a:gd name="connsiteX4" fmla="*/ 860796 w 4177138"/>
              <a:gd name="connsiteY4" fmla="*/ 1721592 h 1721592"/>
              <a:gd name="connsiteX5" fmla="*/ 0 w 4177138"/>
              <a:gd name="connsiteY5" fmla="*/ 860796 h 1721592"/>
              <a:gd name="connsiteX6" fmla="*/ 860796 w 4177138"/>
              <a:gd name="connsiteY6" fmla="*/ 0 h 1721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77138" h="1721592">
                <a:moveTo>
                  <a:pt x="860796" y="0"/>
                </a:moveTo>
                <a:lnTo>
                  <a:pt x="3316342" y="0"/>
                </a:lnTo>
                <a:cubicBezTo>
                  <a:pt x="3791747" y="0"/>
                  <a:pt x="4177138" y="385391"/>
                  <a:pt x="4177138" y="860796"/>
                </a:cubicBezTo>
                <a:cubicBezTo>
                  <a:pt x="4177138" y="1336201"/>
                  <a:pt x="3791747" y="1721592"/>
                  <a:pt x="3316342" y="1721592"/>
                </a:cubicBezTo>
                <a:lnTo>
                  <a:pt x="860796" y="1721592"/>
                </a:lnTo>
                <a:cubicBezTo>
                  <a:pt x="385391" y="1721592"/>
                  <a:pt x="0" y="1336201"/>
                  <a:pt x="0" y="860796"/>
                </a:cubicBezTo>
                <a:cubicBezTo>
                  <a:pt x="0" y="385391"/>
                  <a:pt x="385391" y="0"/>
                  <a:pt x="860796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8796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E73E81D-335C-BE6F-E05C-DC9649E79F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860" y="3428999"/>
            <a:ext cx="5048140" cy="2114196"/>
          </a:xfrm>
          <a:custGeom>
            <a:avLst/>
            <a:gdLst>
              <a:gd name="connsiteX0" fmla="*/ 1057098 w 5048140"/>
              <a:gd name="connsiteY0" fmla="*/ 0 h 2114196"/>
              <a:gd name="connsiteX1" fmla="*/ 5048140 w 5048140"/>
              <a:gd name="connsiteY1" fmla="*/ 0 h 2114196"/>
              <a:gd name="connsiteX2" fmla="*/ 5048140 w 5048140"/>
              <a:gd name="connsiteY2" fmla="*/ 2114196 h 2114196"/>
              <a:gd name="connsiteX3" fmla="*/ 1057098 w 5048140"/>
              <a:gd name="connsiteY3" fmla="*/ 2114196 h 2114196"/>
              <a:gd name="connsiteX4" fmla="*/ 0 w 5048140"/>
              <a:gd name="connsiteY4" fmla="*/ 1057098 h 2114196"/>
              <a:gd name="connsiteX5" fmla="*/ 1057098 w 5048140"/>
              <a:gd name="connsiteY5" fmla="*/ 0 h 211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8140" h="2114196">
                <a:moveTo>
                  <a:pt x="1057098" y="0"/>
                </a:moveTo>
                <a:lnTo>
                  <a:pt x="5048140" y="0"/>
                </a:lnTo>
                <a:lnTo>
                  <a:pt x="5048140" y="2114196"/>
                </a:lnTo>
                <a:lnTo>
                  <a:pt x="1057098" y="2114196"/>
                </a:lnTo>
                <a:cubicBezTo>
                  <a:pt x="473279" y="2114196"/>
                  <a:pt x="0" y="1640917"/>
                  <a:pt x="0" y="1057098"/>
                </a:cubicBezTo>
                <a:cubicBezTo>
                  <a:pt x="0" y="473279"/>
                  <a:pt x="473279" y="0"/>
                  <a:pt x="1057098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4136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0811706-354A-E693-A3B3-DAE77DF1E7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9086" y="1340430"/>
            <a:ext cx="2125028" cy="3057398"/>
          </a:xfrm>
          <a:custGeom>
            <a:avLst/>
            <a:gdLst>
              <a:gd name="connsiteX0" fmla="*/ 1062514 w 2125028"/>
              <a:gd name="connsiteY0" fmla="*/ 0 h 3057398"/>
              <a:gd name="connsiteX1" fmla="*/ 2125028 w 2125028"/>
              <a:gd name="connsiteY1" fmla="*/ 1062514 h 3057398"/>
              <a:gd name="connsiteX2" fmla="*/ 2125028 w 2125028"/>
              <a:gd name="connsiteY2" fmla="*/ 1994884 h 3057398"/>
              <a:gd name="connsiteX3" fmla="*/ 1062514 w 2125028"/>
              <a:gd name="connsiteY3" fmla="*/ 3057398 h 3057398"/>
              <a:gd name="connsiteX4" fmla="*/ 0 w 2125028"/>
              <a:gd name="connsiteY4" fmla="*/ 1994884 h 3057398"/>
              <a:gd name="connsiteX5" fmla="*/ 0 w 2125028"/>
              <a:gd name="connsiteY5" fmla="*/ 1062514 h 3057398"/>
              <a:gd name="connsiteX6" fmla="*/ 1062514 w 2125028"/>
              <a:gd name="connsiteY6" fmla="*/ 0 h 3057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25028" h="3057398">
                <a:moveTo>
                  <a:pt x="1062514" y="0"/>
                </a:moveTo>
                <a:cubicBezTo>
                  <a:pt x="1649324" y="0"/>
                  <a:pt x="2125028" y="475704"/>
                  <a:pt x="2125028" y="1062514"/>
                </a:cubicBezTo>
                <a:lnTo>
                  <a:pt x="2125028" y="1994884"/>
                </a:lnTo>
                <a:cubicBezTo>
                  <a:pt x="2125028" y="2581694"/>
                  <a:pt x="1649324" y="3057398"/>
                  <a:pt x="1062514" y="3057398"/>
                </a:cubicBezTo>
                <a:cubicBezTo>
                  <a:pt x="475704" y="3057398"/>
                  <a:pt x="0" y="2581694"/>
                  <a:pt x="0" y="1994884"/>
                </a:cubicBezTo>
                <a:lnTo>
                  <a:pt x="0" y="1062514"/>
                </a:lnTo>
                <a:cubicBezTo>
                  <a:pt x="0" y="475704"/>
                  <a:pt x="475704" y="0"/>
                  <a:pt x="1062514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8ED9AC3-345B-5C92-AB04-CCABFC1B40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61371" y="2617687"/>
            <a:ext cx="2125028" cy="3057398"/>
          </a:xfrm>
          <a:custGeom>
            <a:avLst/>
            <a:gdLst>
              <a:gd name="connsiteX0" fmla="*/ 1062514 w 2125028"/>
              <a:gd name="connsiteY0" fmla="*/ 0 h 3057398"/>
              <a:gd name="connsiteX1" fmla="*/ 2125028 w 2125028"/>
              <a:gd name="connsiteY1" fmla="*/ 1062514 h 3057398"/>
              <a:gd name="connsiteX2" fmla="*/ 2125028 w 2125028"/>
              <a:gd name="connsiteY2" fmla="*/ 1994884 h 3057398"/>
              <a:gd name="connsiteX3" fmla="*/ 1062514 w 2125028"/>
              <a:gd name="connsiteY3" fmla="*/ 3057398 h 3057398"/>
              <a:gd name="connsiteX4" fmla="*/ 0 w 2125028"/>
              <a:gd name="connsiteY4" fmla="*/ 1994884 h 3057398"/>
              <a:gd name="connsiteX5" fmla="*/ 0 w 2125028"/>
              <a:gd name="connsiteY5" fmla="*/ 1062514 h 3057398"/>
              <a:gd name="connsiteX6" fmla="*/ 1062514 w 2125028"/>
              <a:gd name="connsiteY6" fmla="*/ 0 h 3057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25028" h="3057398">
                <a:moveTo>
                  <a:pt x="1062514" y="0"/>
                </a:moveTo>
                <a:cubicBezTo>
                  <a:pt x="1649324" y="0"/>
                  <a:pt x="2125028" y="475704"/>
                  <a:pt x="2125028" y="1062514"/>
                </a:cubicBezTo>
                <a:lnTo>
                  <a:pt x="2125028" y="1994884"/>
                </a:lnTo>
                <a:cubicBezTo>
                  <a:pt x="2125028" y="2581694"/>
                  <a:pt x="1649324" y="3057398"/>
                  <a:pt x="1062514" y="3057398"/>
                </a:cubicBezTo>
                <a:cubicBezTo>
                  <a:pt x="475704" y="3057398"/>
                  <a:pt x="0" y="2581694"/>
                  <a:pt x="0" y="1994884"/>
                </a:cubicBezTo>
                <a:lnTo>
                  <a:pt x="0" y="1062514"/>
                </a:lnTo>
                <a:cubicBezTo>
                  <a:pt x="0" y="475704"/>
                  <a:pt x="475704" y="0"/>
                  <a:pt x="1062514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4204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F301D31-580B-77D7-2263-C37B572B1C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28328" y="1428065"/>
            <a:ext cx="2125028" cy="4001870"/>
          </a:xfrm>
          <a:custGeom>
            <a:avLst/>
            <a:gdLst>
              <a:gd name="connsiteX0" fmla="*/ 1062514 w 2125028"/>
              <a:gd name="connsiteY0" fmla="*/ 0 h 4001870"/>
              <a:gd name="connsiteX1" fmla="*/ 2125028 w 2125028"/>
              <a:gd name="connsiteY1" fmla="*/ 1062514 h 4001870"/>
              <a:gd name="connsiteX2" fmla="*/ 2125028 w 2125028"/>
              <a:gd name="connsiteY2" fmla="*/ 2939356 h 4001870"/>
              <a:gd name="connsiteX3" fmla="*/ 1062514 w 2125028"/>
              <a:gd name="connsiteY3" fmla="*/ 4001870 h 4001870"/>
              <a:gd name="connsiteX4" fmla="*/ 0 w 2125028"/>
              <a:gd name="connsiteY4" fmla="*/ 2939356 h 4001870"/>
              <a:gd name="connsiteX5" fmla="*/ 0 w 2125028"/>
              <a:gd name="connsiteY5" fmla="*/ 1062514 h 4001870"/>
              <a:gd name="connsiteX6" fmla="*/ 1062514 w 2125028"/>
              <a:gd name="connsiteY6" fmla="*/ 0 h 4001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25028" h="4001870">
                <a:moveTo>
                  <a:pt x="1062514" y="0"/>
                </a:moveTo>
                <a:cubicBezTo>
                  <a:pt x="1649324" y="0"/>
                  <a:pt x="2125028" y="475704"/>
                  <a:pt x="2125028" y="1062514"/>
                </a:cubicBezTo>
                <a:lnTo>
                  <a:pt x="2125028" y="2939356"/>
                </a:lnTo>
                <a:cubicBezTo>
                  <a:pt x="2125028" y="3526166"/>
                  <a:pt x="1649324" y="4001870"/>
                  <a:pt x="1062514" y="4001870"/>
                </a:cubicBezTo>
                <a:cubicBezTo>
                  <a:pt x="475704" y="4001870"/>
                  <a:pt x="0" y="3526166"/>
                  <a:pt x="0" y="2939356"/>
                </a:cubicBezTo>
                <a:lnTo>
                  <a:pt x="0" y="1062514"/>
                </a:lnTo>
                <a:cubicBezTo>
                  <a:pt x="0" y="475704"/>
                  <a:pt x="475704" y="0"/>
                  <a:pt x="1062514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440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AEFA61-9080-2136-0E9F-DD2F94E9EB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41715" y="2456542"/>
            <a:ext cx="1944914" cy="1944914"/>
          </a:xfrm>
          <a:custGeom>
            <a:avLst/>
            <a:gdLst>
              <a:gd name="connsiteX0" fmla="*/ 972457 w 1944914"/>
              <a:gd name="connsiteY0" fmla="*/ 0 h 1944914"/>
              <a:gd name="connsiteX1" fmla="*/ 1944914 w 1944914"/>
              <a:gd name="connsiteY1" fmla="*/ 972457 h 1944914"/>
              <a:gd name="connsiteX2" fmla="*/ 972457 w 1944914"/>
              <a:gd name="connsiteY2" fmla="*/ 1944914 h 1944914"/>
              <a:gd name="connsiteX3" fmla="*/ 0 w 1944914"/>
              <a:gd name="connsiteY3" fmla="*/ 972457 h 1944914"/>
              <a:gd name="connsiteX4" fmla="*/ 972457 w 1944914"/>
              <a:gd name="connsiteY4" fmla="*/ 0 h 1944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4914" h="1944914">
                <a:moveTo>
                  <a:pt x="972457" y="0"/>
                </a:moveTo>
                <a:cubicBezTo>
                  <a:pt x="1509530" y="0"/>
                  <a:pt x="1944914" y="435384"/>
                  <a:pt x="1944914" y="972457"/>
                </a:cubicBezTo>
                <a:cubicBezTo>
                  <a:pt x="1944914" y="1509530"/>
                  <a:pt x="1509530" y="1944914"/>
                  <a:pt x="972457" y="1944914"/>
                </a:cubicBezTo>
                <a:cubicBezTo>
                  <a:pt x="435384" y="1944914"/>
                  <a:pt x="0" y="1509530"/>
                  <a:pt x="0" y="972457"/>
                </a:cubicBezTo>
                <a:cubicBezTo>
                  <a:pt x="0" y="435384"/>
                  <a:pt x="435384" y="0"/>
                  <a:pt x="972457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FF6F49-74F0-CFF2-D531-59E6285D37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23543" y="2456543"/>
            <a:ext cx="1944914" cy="1944914"/>
          </a:xfrm>
          <a:custGeom>
            <a:avLst/>
            <a:gdLst>
              <a:gd name="connsiteX0" fmla="*/ 972457 w 1944914"/>
              <a:gd name="connsiteY0" fmla="*/ 0 h 1944914"/>
              <a:gd name="connsiteX1" fmla="*/ 1944914 w 1944914"/>
              <a:gd name="connsiteY1" fmla="*/ 972457 h 1944914"/>
              <a:gd name="connsiteX2" fmla="*/ 972457 w 1944914"/>
              <a:gd name="connsiteY2" fmla="*/ 1944914 h 1944914"/>
              <a:gd name="connsiteX3" fmla="*/ 0 w 1944914"/>
              <a:gd name="connsiteY3" fmla="*/ 972457 h 1944914"/>
              <a:gd name="connsiteX4" fmla="*/ 972457 w 1944914"/>
              <a:gd name="connsiteY4" fmla="*/ 0 h 1944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4914" h="1944914">
                <a:moveTo>
                  <a:pt x="972457" y="0"/>
                </a:moveTo>
                <a:cubicBezTo>
                  <a:pt x="1509530" y="0"/>
                  <a:pt x="1944914" y="435384"/>
                  <a:pt x="1944914" y="972457"/>
                </a:cubicBezTo>
                <a:cubicBezTo>
                  <a:pt x="1944914" y="1509530"/>
                  <a:pt x="1509530" y="1944914"/>
                  <a:pt x="972457" y="1944914"/>
                </a:cubicBezTo>
                <a:cubicBezTo>
                  <a:pt x="435384" y="1944914"/>
                  <a:pt x="0" y="1509530"/>
                  <a:pt x="0" y="972457"/>
                </a:cubicBezTo>
                <a:cubicBezTo>
                  <a:pt x="0" y="435384"/>
                  <a:pt x="435384" y="0"/>
                  <a:pt x="972457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E664964-9180-1B2A-ECF2-AE1D19D1A7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05370" y="2456542"/>
            <a:ext cx="1944914" cy="1944914"/>
          </a:xfrm>
          <a:custGeom>
            <a:avLst/>
            <a:gdLst>
              <a:gd name="connsiteX0" fmla="*/ 972457 w 1944914"/>
              <a:gd name="connsiteY0" fmla="*/ 0 h 1944914"/>
              <a:gd name="connsiteX1" fmla="*/ 1944914 w 1944914"/>
              <a:gd name="connsiteY1" fmla="*/ 972457 h 1944914"/>
              <a:gd name="connsiteX2" fmla="*/ 972457 w 1944914"/>
              <a:gd name="connsiteY2" fmla="*/ 1944914 h 1944914"/>
              <a:gd name="connsiteX3" fmla="*/ 0 w 1944914"/>
              <a:gd name="connsiteY3" fmla="*/ 972457 h 1944914"/>
              <a:gd name="connsiteX4" fmla="*/ 972457 w 1944914"/>
              <a:gd name="connsiteY4" fmla="*/ 0 h 1944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4914" h="1944914">
                <a:moveTo>
                  <a:pt x="972457" y="0"/>
                </a:moveTo>
                <a:cubicBezTo>
                  <a:pt x="1509530" y="0"/>
                  <a:pt x="1944914" y="435384"/>
                  <a:pt x="1944914" y="972457"/>
                </a:cubicBezTo>
                <a:cubicBezTo>
                  <a:pt x="1944914" y="1509530"/>
                  <a:pt x="1509530" y="1944914"/>
                  <a:pt x="972457" y="1944914"/>
                </a:cubicBezTo>
                <a:cubicBezTo>
                  <a:pt x="435384" y="1944914"/>
                  <a:pt x="0" y="1509530"/>
                  <a:pt x="0" y="972457"/>
                </a:cubicBezTo>
                <a:cubicBezTo>
                  <a:pt x="0" y="435384"/>
                  <a:pt x="435384" y="0"/>
                  <a:pt x="972457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452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4E54E2-B015-7FEF-5170-A8187E058B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50029" y="1488044"/>
            <a:ext cx="6339684" cy="1854711"/>
          </a:xfrm>
          <a:custGeom>
            <a:avLst/>
            <a:gdLst>
              <a:gd name="connsiteX0" fmla="*/ 927355 w 6339684"/>
              <a:gd name="connsiteY0" fmla="*/ 0 h 1854711"/>
              <a:gd name="connsiteX1" fmla="*/ 5412328 w 6339684"/>
              <a:gd name="connsiteY1" fmla="*/ 0 h 1854711"/>
              <a:gd name="connsiteX2" fmla="*/ 6339684 w 6339684"/>
              <a:gd name="connsiteY2" fmla="*/ 927356 h 1854711"/>
              <a:gd name="connsiteX3" fmla="*/ 5412328 w 6339684"/>
              <a:gd name="connsiteY3" fmla="*/ 1854711 h 1854711"/>
              <a:gd name="connsiteX4" fmla="*/ 927355 w 6339684"/>
              <a:gd name="connsiteY4" fmla="*/ 1854711 h 1854711"/>
              <a:gd name="connsiteX5" fmla="*/ 0 w 6339684"/>
              <a:gd name="connsiteY5" fmla="*/ 927356 h 1854711"/>
              <a:gd name="connsiteX6" fmla="*/ 927355 w 6339684"/>
              <a:gd name="connsiteY6" fmla="*/ 0 h 1854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39684" h="1854711">
                <a:moveTo>
                  <a:pt x="927355" y="0"/>
                </a:moveTo>
                <a:lnTo>
                  <a:pt x="5412328" y="0"/>
                </a:lnTo>
                <a:cubicBezTo>
                  <a:pt x="5924492" y="0"/>
                  <a:pt x="6339684" y="415191"/>
                  <a:pt x="6339684" y="927356"/>
                </a:cubicBezTo>
                <a:cubicBezTo>
                  <a:pt x="6339684" y="1439520"/>
                  <a:pt x="5924492" y="1854711"/>
                  <a:pt x="5412328" y="1854711"/>
                </a:cubicBezTo>
                <a:lnTo>
                  <a:pt x="927355" y="1854711"/>
                </a:lnTo>
                <a:cubicBezTo>
                  <a:pt x="415191" y="1854711"/>
                  <a:pt x="0" y="1439520"/>
                  <a:pt x="0" y="927356"/>
                </a:cubicBezTo>
                <a:cubicBezTo>
                  <a:pt x="0" y="415191"/>
                  <a:pt x="415191" y="0"/>
                  <a:pt x="927355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48364AA-BD2B-65ED-6A7C-B41CB3E2EF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0897" y="3515247"/>
            <a:ext cx="6211103" cy="1854711"/>
          </a:xfrm>
          <a:custGeom>
            <a:avLst/>
            <a:gdLst>
              <a:gd name="connsiteX0" fmla="*/ 927355 w 6211103"/>
              <a:gd name="connsiteY0" fmla="*/ 0 h 1854711"/>
              <a:gd name="connsiteX1" fmla="*/ 5283748 w 6211103"/>
              <a:gd name="connsiteY1" fmla="*/ 0 h 1854711"/>
              <a:gd name="connsiteX2" fmla="*/ 6211103 w 6211103"/>
              <a:gd name="connsiteY2" fmla="*/ 927356 h 1854711"/>
              <a:gd name="connsiteX3" fmla="*/ 5283748 w 6211103"/>
              <a:gd name="connsiteY3" fmla="*/ 1854711 h 1854711"/>
              <a:gd name="connsiteX4" fmla="*/ 927355 w 6211103"/>
              <a:gd name="connsiteY4" fmla="*/ 1854711 h 1854711"/>
              <a:gd name="connsiteX5" fmla="*/ 0 w 6211103"/>
              <a:gd name="connsiteY5" fmla="*/ 927356 h 1854711"/>
              <a:gd name="connsiteX6" fmla="*/ 927355 w 6211103"/>
              <a:gd name="connsiteY6" fmla="*/ 0 h 1854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11103" h="1854711">
                <a:moveTo>
                  <a:pt x="927355" y="0"/>
                </a:moveTo>
                <a:lnTo>
                  <a:pt x="5283748" y="0"/>
                </a:lnTo>
                <a:cubicBezTo>
                  <a:pt x="5795912" y="0"/>
                  <a:pt x="6211103" y="415191"/>
                  <a:pt x="6211103" y="927356"/>
                </a:cubicBezTo>
                <a:cubicBezTo>
                  <a:pt x="6211103" y="1439520"/>
                  <a:pt x="5795912" y="1854711"/>
                  <a:pt x="5283748" y="1854711"/>
                </a:cubicBezTo>
                <a:lnTo>
                  <a:pt x="927355" y="1854711"/>
                </a:lnTo>
                <a:cubicBezTo>
                  <a:pt x="415191" y="1854711"/>
                  <a:pt x="0" y="1439520"/>
                  <a:pt x="0" y="927356"/>
                </a:cubicBezTo>
                <a:cubicBezTo>
                  <a:pt x="0" y="415191"/>
                  <a:pt x="415191" y="0"/>
                  <a:pt x="927355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1C8729-63D5-5462-5179-C95FF8DD6E6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89233" y="3515247"/>
            <a:ext cx="4001870" cy="1854710"/>
          </a:xfrm>
          <a:custGeom>
            <a:avLst/>
            <a:gdLst>
              <a:gd name="connsiteX0" fmla="*/ 927355 w 4001870"/>
              <a:gd name="connsiteY0" fmla="*/ 0 h 1854710"/>
              <a:gd name="connsiteX1" fmla="*/ 3074515 w 4001870"/>
              <a:gd name="connsiteY1" fmla="*/ 0 h 1854710"/>
              <a:gd name="connsiteX2" fmla="*/ 4001870 w 4001870"/>
              <a:gd name="connsiteY2" fmla="*/ 927355 h 1854710"/>
              <a:gd name="connsiteX3" fmla="*/ 3074515 w 4001870"/>
              <a:gd name="connsiteY3" fmla="*/ 1854710 h 1854710"/>
              <a:gd name="connsiteX4" fmla="*/ 927355 w 4001870"/>
              <a:gd name="connsiteY4" fmla="*/ 1854710 h 1854710"/>
              <a:gd name="connsiteX5" fmla="*/ 0 w 4001870"/>
              <a:gd name="connsiteY5" fmla="*/ 927355 h 1854710"/>
              <a:gd name="connsiteX6" fmla="*/ 927355 w 4001870"/>
              <a:gd name="connsiteY6" fmla="*/ 0 h 1854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01870" h="1854710">
                <a:moveTo>
                  <a:pt x="927355" y="0"/>
                </a:moveTo>
                <a:lnTo>
                  <a:pt x="3074515" y="0"/>
                </a:lnTo>
                <a:cubicBezTo>
                  <a:pt x="3586679" y="0"/>
                  <a:pt x="4001870" y="415191"/>
                  <a:pt x="4001870" y="927355"/>
                </a:cubicBezTo>
                <a:cubicBezTo>
                  <a:pt x="4001870" y="1439519"/>
                  <a:pt x="3586679" y="1854710"/>
                  <a:pt x="3074515" y="1854710"/>
                </a:cubicBezTo>
                <a:lnTo>
                  <a:pt x="927355" y="1854710"/>
                </a:lnTo>
                <a:cubicBezTo>
                  <a:pt x="415191" y="1854710"/>
                  <a:pt x="0" y="1439519"/>
                  <a:pt x="0" y="927355"/>
                </a:cubicBezTo>
                <a:cubicBezTo>
                  <a:pt x="0" y="415191"/>
                  <a:pt x="415191" y="0"/>
                  <a:pt x="927355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58718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E83846-03A4-82B8-5CCC-7D96E7EA8B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22886" y="1254431"/>
            <a:ext cx="2150981" cy="4610007"/>
          </a:xfrm>
          <a:custGeom>
            <a:avLst/>
            <a:gdLst>
              <a:gd name="connsiteX0" fmla="*/ 0 w 2150981"/>
              <a:gd name="connsiteY0" fmla="*/ 0 h 4610007"/>
              <a:gd name="connsiteX1" fmla="*/ 2150981 w 2150981"/>
              <a:gd name="connsiteY1" fmla="*/ 0 h 4610007"/>
              <a:gd name="connsiteX2" fmla="*/ 2150981 w 2150981"/>
              <a:gd name="connsiteY2" fmla="*/ 4610007 h 4610007"/>
              <a:gd name="connsiteX3" fmla="*/ 0 w 2150981"/>
              <a:gd name="connsiteY3" fmla="*/ 4610007 h 461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0981" h="4610007">
                <a:moveTo>
                  <a:pt x="0" y="0"/>
                </a:moveTo>
                <a:lnTo>
                  <a:pt x="2150981" y="0"/>
                </a:lnTo>
                <a:lnTo>
                  <a:pt x="2150981" y="4610007"/>
                </a:lnTo>
                <a:lnTo>
                  <a:pt x="0" y="461000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105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E631030-B4B0-914D-9B06-029D30B49D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24725" y="2075542"/>
            <a:ext cx="2456602" cy="3080657"/>
          </a:xfrm>
          <a:custGeom>
            <a:avLst/>
            <a:gdLst>
              <a:gd name="connsiteX0" fmla="*/ 558800 w 2456602"/>
              <a:gd name="connsiteY0" fmla="*/ 0 h 3080657"/>
              <a:gd name="connsiteX1" fmla="*/ 2456602 w 2456602"/>
              <a:gd name="connsiteY1" fmla="*/ 457200 h 3080657"/>
              <a:gd name="connsiteX2" fmla="*/ 1796202 w 2456602"/>
              <a:gd name="connsiteY2" fmla="*/ 3080657 h 3080657"/>
              <a:gd name="connsiteX3" fmla="*/ 0 w 2456602"/>
              <a:gd name="connsiteY3" fmla="*/ 2452007 h 308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6602" h="3080657">
                <a:moveTo>
                  <a:pt x="558800" y="0"/>
                </a:moveTo>
                <a:lnTo>
                  <a:pt x="2456602" y="457200"/>
                </a:lnTo>
                <a:lnTo>
                  <a:pt x="1796202" y="3080657"/>
                </a:lnTo>
                <a:lnTo>
                  <a:pt x="0" y="245200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65666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D5984A-F4DD-A0DC-961C-3A7FE7CF0B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19589" y="1144668"/>
            <a:ext cx="1308710" cy="1322570"/>
          </a:xfrm>
          <a:custGeom>
            <a:avLst/>
            <a:gdLst>
              <a:gd name="connsiteX0" fmla="*/ 654355 w 1308710"/>
              <a:gd name="connsiteY0" fmla="*/ 0 h 1322570"/>
              <a:gd name="connsiteX1" fmla="*/ 1308710 w 1308710"/>
              <a:gd name="connsiteY1" fmla="*/ 661285 h 1322570"/>
              <a:gd name="connsiteX2" fmla="*/ 654355 w 1308710"/>
              <a:gd name="connsiteY2" fmla="*/ 1322570 h 1322570"/>
              <a:gd name="connsiteX3" fmla="*/ 0 w 1308710"/>
              <a:gd name="connsiteY3" fmla="*/ 661285 h 1322570"/>
              <a:gd name="connsiteX4" fmla="*/ 654355 w 1308710"/>
              <a:gd name="connsiteY4" fmla="*/ 0 h 132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8710" h="1322570">
                <a:moveTo>
                  <a:pt x="654355" y="0"/>
                </a:moveTo>
                <a:cubicBezTo>
                  <a:pt x="1015745" y="0"/>
                  <a:pt x="1308710" y="296067"/>
                  <a:pt x="1308710" y="661285"/>
                </a:cubicBezTo>
                <a:cubicBezTo>
                  <a:pt x="1308710" y="1026503"/>
                  <a:pt x="1015745" y="1322570"/>
                  <a:pt x="654355" y="1322570"/>
                </a:cubicBezTo>
                <a:cubicBezTo>
                  <a:pt x="292965" y="1322570"/>
                  <a:pt x="0" y="1026503"/>
                  <a:pt x="0" y="661285"/>
                </a:cubicBezTo>
                <a:cubicBezTo>
                  <a:pt x="0" y="296067"/>
                  <a:pt x="292965" y="0"/>
                  <a:pt x="654355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1607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5040B16-8DE3-5705-E9D1-A85DA20C90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385" y="1375065"/>
            <a:ext cx="3075714" cy="4107870"/>
          </a:xfrm>
          <a:custGeom>
            <a:avLst/>
            <a:gdLst>
              <a:gd name="connsiteX0" fmla="*/ 1537857 w 3075714"/>
              <a:gd name="connsiteY0" fmla="*/ 0 h 4107870"/>
              <a:gd name="connsiteX1" fmla="*/ 3075714 w 3075714"/>
              <a:gd name="connsiteY1" fmla="*/ 1537857 h 4107870"/>
              <a:gd name="connsiteX2" fmla="*/ 3075713 w 3075714"/>
              <a:gd name="connsiteY2" fmla="*/ 2570013 h 4107870"/>
              <a:gd name="connsiteX3" fmla="*/ 1537856 w 3075714"/>
              <a:gd name="connsiteY3" fmla="*/ 4107870 h 4107870"/>
              <a:gd name="connsiteX4" fmla="*/ 1537857 w 3075714"/>
              <a:gd name="connsiteY4" fmla="*/ 4107869 h 4107870"/>
              <a:gd name="connsiteX5" fmla="*/ 0 w 3075714"/>
              <a:gd name="connsiteY5" fmla="*/ 2570012 h 4107870"/>
              <a:gd name="connsiteX6" fmla="*/ 0 w 3075714"/>
              <a:gd name="connsiteY6" fmla="*/ 1537857 h 4107870"/>
              <a:gd name="connsiteX7" fmla="*/ 1537857 w 3075714"/>
              <a:gd name="connsiteY7" fmla="*/ 0 h 410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75714" h="4107870">
                <a:moveTo>
                  <a:pt x="1537857" y="0"/>
                </a:moveTo>
                <a:cubicBezTo>
                  <a:pt x="2387192" y="0"/>
                  <a:pt x="3075714" y="688522"/>
                  <a:pt x="3075714" y="1537857"/>
                </a:cubicBezTo>
                <a:cubicBezTo>
                  <a:pt x="3075714" y="1881909"/>
                  <a:pt x="3075713" y="2225961"/>
                  <a:pt x="3075713" y="2570013"/>
                </a:cubicBezTo>
                <a:cubicBezTo>
                  <a:pt x="3075713" y="3419348"/>
                  <a:pt x="2387191" y="4107870"/>
                  <a:pt x="1537856" y="4107870"/>
                </a:cubicBezTo>
                <a:lnTo>
                  <a:pt x="1537857" y="4107869"/>
                </a:lnTo>
                <a:cubicBezTo>
                  <a:pt x="688522" y="4107869"/>
                  <a:pt x="0" y="3419347"/>
                  <a:pt x="0" y="2570012"/>
                </a:cubicBezTo>
                <a:lnTo>
                  <a:pt x="0" y="1537857"/>
                </a:lnTo>
                <a:cubicBezTo>
                  <a:pt x="0" y="688522"/>
                  <a:pt x="688522" y="0"/>
                  <a:pt x="1537857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8083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A57B90C-8E48-85D5-6267-626346DF6C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72950" y="2104570"/>
            <a:ext cx="1525320" cy="2784767"/>
          </a:xfrm>
          <a:custGeom>
            <a:avLst/>
            <a:gdLst>
              <a:gd name="connsiteX0" fmla="*/ 762660 w 1525320"/>
              <a:gd name="connsiteY0" fmla="*/ 0 h 2784767"/>
              <a:gd name="connsiteX1" fmla="*/ 1525320 w 1525320"/>
              <a:gd name="connsiteY1" fmla="*/ 762660 h 2784767"/>
              <a:gd name="connsiteX2" fmla="*/ 1525319 w 1525320"/>
              <a:gd name="connsiteY2" fmla="*/ 2022107 h 2784767"/>
              <a:gd name="connsiteX3" fmla="*/ 762659 w 1525320"/>
              <a:gd name="connsiteY3" fmla="*/ 2784767 h 2784767"/>
              <a:gd name="connsiteX4" fmla="*/ 762660 w 1525320"/>
              <a:gd name="connsiteY4" fmla="*/ 2784766 h 2784767"/>
              <a:gd name="connsiteX5" fmla="*/ 0 w 1525320"/>
              <a:gd name="connsiteY5" fmla="*/ 2022106 h 2784767"/>
              <a:gd name="connsiteX6" fmla="*/ 0 w 1525320"/>
              <a:gd name="connsiteY6" fmla="*/ 762660 h 2784767"/>
              <a:gd name="connsiteX7" fmla="*/ 762660 w 1525320"/>
              <a:gd name="connsiteY7" fmla="*/ 0 h 2784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5320" h="2784767">
                <a:moveTo>
                  <a:pt x="762660" y="0"/>
                </a:moveTo>
                <a:cubicBezTo>
                  <a:pt x="1183865" y="0"/>
                  <a:pt x="1525320" y="341455"/>
                  <a:pt x="1525320" y="762660"/>
                </a:cubicBezTo>
                <a:cubicBezTo>
                  <a:pt x="1525320" y="1182476"/>
                  <a:pt x="1525319" y="1602291"/>
                  <a:pt x="1525319" y="2022107"/>
                </a:cubicBezTo>
                <a:cubicBezTo>
                  <a:pt x="1525319" y="2443312"/>
                  <a:pt x="1183864" y="2784767"/>
                  <a:pt x="762659" y="2784767"/>
                </a:cubicBezTo>
                <a:lnTo>
                  <a:pt x="762660" y="2784766"/>
                </a:lnTo>
                <a:cubicBezTo>
                  <a:pt x="341455" y="2784766"/>
                  <a:pt x="0" y="2443311"/>
                  <a:pt x="0" y="2022106"/>
                </a:cubicBezTo>
                <a:lnTo>
                  <a:pt x="0" y="762660"/>
                </a:lnTo>
                <a:cubicBezTo>
                  <a:pt x="0" y="341455"/>
                  <a:pt x="341455" y="0"/>
                  <a:pt x="762660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E59425B-0EF5-F829-EE9A-B0A4D12A3D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72948" y="5036458"/>
            <a:ext cx="1525320" cy="1821543"/>
          </a:xfrm>
          <a:custGeom>
            <a:avLst/>
            <a:gdLst>
              <a:gd name="connsiteX0" fmla="*/ 762660 w 1525320"/>
              <a:gd name="connsiteY0" fmla="*/ 0 h 1821543"/>
              <a:gd name="connsiteX1" fmla="*/ 1525320 w 1525320"/>
              <a:gd name="connsiteY1" fmla="*/ 762660 h 1821543"/>
              <a:gd name="connsiteX2" fmla="*/ 1525320 w 1525320"/>
              <a:gd name="connsiteY2" fmla="*/ 1821543 h 1821543"/>
              <a:gd name="connsiteX3" fmla="*/ 0 w 1525320"/>
              <a:gd name="connsiteY3" fmla="*/ 1821543 h 1821543"/>
              <a:gd name="connsiteX4" fmla="*/ 0 w 1525320"/>
              <a:gd name="connsiteY4" fmla="*/ 762660 h 1821543"/>
              <a:gd name="connsiteX5" fmla="*/ 762660 w 1525320"/>
              <a:gd name="connsiteY5" fmla="*/ 0 h 182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5320" h="1821543">
                <a:moveTo>
                  <a:pt x="762660" y="0"/>
                </a:moveTo>
                <a:cubicBezTo>
                  <a:pt x="1183865" y="0"/>
                  <a:pt x="1525320" y="341455"/>
                  <a:pt x="1525320" y="762660"/>
                </a:cubicBezTo>
                <a:lnTo>
                  <a:pt x="1525320" y="1821543"/>
                </a:lnTo>
                <a:lnTo>
                  <a:pt x="0" y="1821543"/>
                </a:lnTo>
                <a:lnTo>
                  <a:pt x="0" y="762660"/>
                </a:lnTo>
                <a:cubicBezTo>
                  <a:pt x="0" y="341455"/>
                  <a:pt x="341455" y="0"/>
                  <a:pt x="762660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4F7D69F-6E37-6F19-5088-38814C2D967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685634" y="0"/>
            <a:ext cx="1525320" cy="1968666"/>
          </a:xfrm>
          <a:custGeom>
            <a:avLst/>
            <a:gdLst>
              <a:gd name="connsiteX0" fmla="*/ 0 w 1525320"/>
              <a:gd name="connsiteY0" fmla="*/ 0 h 1968666"/>
              <a:gd name="connsiteX1" fmla="*/ 1525320 w 1525320"/>
              <a:gd name="connsiteY1" fmla="*/ 0 h 1968666"/>
              <a:gd name="connsiteX2" fmla="*/ 1525319 w 1525320"/>
              <a:gd name="connsiteY2" fmla="*/ 1206006 h 1968666"/>
              <a:gd name="connsiteX3" fmla="*/ 762659 w 1525320"/>
              <a:gd name="connsiteY3" fmla="*/ 1968666 h 1968666"/>
              <a:gd name="connsiteX4" fmla="*/ 762660 w 1525320"/>
              <a:gd name="connsiteY4" fmla="*/ 1968665 h 1968666"/>
              <a:gd name="connsiteX5" fmla="*/ 0 w 1525320"/>
              <a:gd name="connsiteY5" fmla="*/ 1206005 h 19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5320" h="1968666">
                <a:moveTo>
                  <a:pt x="0" y="0"/>
                </a:moveTo>
                <a:lnTo>
                  <a:pt x="1525320" y="0"/>
                </a:lnTo>
                <a:lnTo>
                  <a:pt x="1525319" y="1206006"/>
                </a:lnTo>
                <a:cubicBezTo>
                  <a:pt x="1525319" y="1627211"/>
                  <a:pt x="1183864" y="1968666"/>
                  <a:pt x="762659" y="1968666"/>
                </a:cubicBezTo>
                <a:lnTo>
                  <a:pt x="762660" y="1968665"/>
                </a:lnTo>
                <a:cubicBezTo>
                  <a:pt x="341455" y="1968665"/>
                  <a:pt x="0" y="1627210"/>
                  <a:pt x="0" y="1206005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BB62E6A-CC4E-5698-DD4E-8CB73E52CE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85634" y="3765794"/>
            <a:ext cx="1525320" cy="3092206"/>
          </a:xfrm>
          <a:custGeom>
            <a:avLst/>
            <a:gdLst>
              <a:gd name="connsiteX0" fmla="*/ 762660 w 1525320"/>
              <a:gd name="connsiteY0" fmla="*/ 0 h 3092206"/>
              <a:gd name="connsiteX1" fmla="*/ 1525320 w 1525320"/>
              <a:gd name="connsiteY1" fmla="*/ 762660 h 3092206"/>
              <a:gd name="connsiteX2" fmla="*/ 1525319 w 1525320"/>
              <a:gd name="connsiteY2" fmla="*/ 3092206 h 3092206"/>
              <a:gd name="connsiteX3" fmla="*/ 0 w 1525320"/>
              <a:gd name="connsiteY3" fmla="*/ 3092206 h 3092206"/>
              <a:gd name="connsiteX4" fmla="*/ 0 w 1525320"/>
              <a:gd name="connsiteY4" fmla="*/ 762660 h 3092206"/>
              <a:gd name="connsiteX5" fmla="*/ 762660 w 1525320"/>
              <a:gd name="connsiteY5" fmla="*/ 0 h 3092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5320" h="3092206">
                <a:moveTo>
                  <a:pt x="762660" y="0"/>
                </a:moveTo>
                <a:cubicBezTo>
                  <a:pt x="1183865" y="0"/>
                  <a:pt x="1525320" y="341455"/>
                  <a:pt x="1525320" y="762660"/>
                </a:cubicBezTo>
                <a:lnTo>
                  <a:pt x="1525319" y="3092206"/>
                </a:lnTo>
                <a:lnTo>
                  <a:pt x="0" y="3092206"/>
                </a:lnTo>
                <a:lnTo>
                  <a:pt x="0" y="762660"/>
                </a:lnTo>
                <a:cubicBezTo>
                  <a:pt x="0" y="341455"/>
                  <a:pt x="341455" y="0"/>
                  <a:pt x="762660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5439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843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06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268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76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sv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7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6.jp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jp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64A5FF7-6915-58D2-01BC-3936C50789DB}"/>
              </a:ext>
            </a:extLst>
          </p:cNvPr>
          <p:cNvSpPr/>
          <p:nvPr/>
        </p:nvSpPr>
        <p:spPr>
          <a:xfrm>
            <a:off x="0" y="0"/>
            <a:ext cx="7340600" cy="6858000"/>
          </a:xfrm>
          <a:prstGeom prst="rect">
            <a:avLst/>
          </a:prstGeom>
          <a:solidFill>
            <a:schemeClr val="bg1">
              <a:lumMod val="9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614E278-6AD9-000B-86E7-DB12E66F0D14}"/>
              </a:ext>
            </a:extLst>
          </p:cNvPr>
          <p:cNvSpPr/>
          <p:nvPr/>
        </p:nvSpPr>
        <p:spPr>
          <a:xfrm>
            <a:off x="9685635" y="2104570"/>
            <a:ext cx="1525319" cy="152531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37B8878-919E-6BEB-DB76-CA112DEDD6C8}"/>
              </a:ext>
            </a:extLst>
          </p:cNvPr>
          <p:cNvSpPr/>
          <p:nvPr/>
        </p:nvSpPr>
        <p:spPr>
          <a:xfrm>
            <a:off x="7972949" y="443346"/>
            <a:ext cx="1525319" cy="152531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656218-EEEB-B73D-D3E1-A04714FBF34B}"/>
              </a:ext>
            </a:extLst>
          </p:cNvPr>
          <p:cNvSpPr txBox="1"/>
          <p:nvPr/>
        </p:nvSpPr>
        <p:spPr>
          <a:xfrm>
            <a:off x="778536" y="2039626"/>
            <a:ext cx="68137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/>
              <a:t>Framing</a:t>
            </a:r>
            <a:endParaRPr lang="en-US" sz="4800" dirty="0"/>
          </a:p>
          <a:p>
            <a:r>
              <a:rPr lang="en-US" sz="3600" b="1">
                <a:solidFill>
                  <a:schemeClr val="accent1"/>
                </a:solidFill>
              </a:rPr>
              <a:t>Business Ethics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D7C542-357D-DF9D-B83A-5466D7EF09CA}"/>
              </a:ext>
            </a:extLst>
          </p:cNvPr>
          <p:cNvSpPr txBox="1"/>
          <p:nvPr/>
        </p:nvSpPr>
        <p:spPr>
          <a:xfrm>
            <a:off x="778538" y="1658682"/>
            <a:ext cx="44730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/>
              <a:t>Business Ethics Sustainability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ABC522-9042-32BE-8A60-F625ACF33942}"/>
              </a:ext>
            </a:extLst>
          </p:cNvPr>
          <p:cNvSpPr txBox="1"/>
          <p:nvPr/>
        </p:nvSpPr>
        <p:spPr>
          <a:xfrm>
            <a:off x="778536" y="3516943"/>
            <a:ext cx="6086721" cy="38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/>
              <a:t>Chapter 2</a:t>
            </a:r>
            <a:endParaRPr lang="en-US" sz="14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7B45191-6C4F-7F0B-8FB0-51A03C207C45}"/>
              </a:ext>
            </a:extLst>
          </p:cNvPr>
          <p:cNvSpPr/>
          <p:nvPr/>
        </p:nvSpPr>
        <p:spPr>
          <a:xfrm>
            <a:off x="778536" y="4169074"/>
            <a:ext cx="2036532" cy="4267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254000" dist="190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ADB1DB-F2C2-389F-58FF-F4732B171DFC}"/>
              </a:ext>
            </a:extLst>
          </p:cNvPr>
          <p:cNvSpPr txBox="1"/>
          <p:nvPr/>
        </p:nvSpPr>
        <p:spPr>
          <a:xfrm>
            <a:off x="846435" y="4243944"/>
            <a:ext cx="15819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err="1">
                <a:solidFill>
                  <a:schemeClr val="bg1"/>
                </a:solidFill>
              </a:rPr>
              <a:t>Grup</a:t>
            </a:r>
            <a:r>
              <a:rPr lang="en-US" sz="1200" b="1">
                <a:solidFill>
                  <a:schemeClr val="bg1"/>
                </a:solidFill>
              </a:rPr>
              <a:t> 1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5706E48-89D4-E80A-B285-C26A9A65EACC}"/>
              </a:ext>
            </a:extLst>
          </p:cNvPr>
          <p:cNvSpPr/>
          <p:nvPr/>
        </p:nvSpPr>
        <p:spPr>
          <a:xfrm>
            <a:off x="2420730" y="4222906"/>
            <a:ext cx="319074" cy="319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Graphic 29" descr="Send with solid fill">
            <a:extLst>
              <a:ext uri="{FF2B5EF4-FFF2-40B4-BE49-F238E27FC236}">
                <a16:creationId xmlns:a16="http://schemas.microsoft.com/office/drawing/2014/main" id="{6516FA6E-3BCC-0533-AA80-3E261DC0F7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3160" y="4292025"/>
            <a:ext cx="178522" cy="178522"/>
          </a:xfrm>
          <a:prstGeom prst="rect">
            <a:avLst/>
          </a:prstGeom>
        </p:spPr>
      </p:pic>
      <p:sp>
        <p:nvSpPr>
          <p:cNvPr id="32" name="Freeform 146">
            <a:extLst>
              <a:ext uri="{FF2B5EF4-FFF2-40B4-BE49-F238E27FC236}">
                <a16:creationId xmlns:a16="http://schemas.microsoft.com/office/drawing/2014/main" id="{AA1CB200-6F9B-1896-9EB6-0164A5D57BC2}"/>
              </a:ext>
            </a:extLst>
          </p:cNvPr>
          <p:cNvSpPr>
            <a:spLocks noEditPoints="1"/>
          </p:cNvSpPr>
          <p:nvPr/>
        </p:nvSpPr>
        <p:spPr bwMode="auto">
          <a:xfrm>
            <a:off x="10107868" y="2523700"/>
            <a:ext cx="680852" cy="687060"/>
          </a:xfrm>
          <a:custGeom>
            <a:avLst/>
            <a:gdLst>
              <a:gd name="T0" fmla="*/ 113 w 153"/>
              <a:gd name="T1" fmla="*/ 42 h 153"/>
              <a:gd name="T2" fmla="*/ 145 w 153"/>
              <a:gd name="T3" fmla="*/ 50 h 153"/>
              <a:gd name="T4" fmla="*/ 153 w 153"/>
              <a:gd name="T5" fmla="*/ 18 h 153"/>
              <a:gd name="T6" fmla="*/ 147 w 153"/>
              <a:gd name="T7" fmla="*/ 16 h 153"/>
              <a:gd name="T8" fmla="*/ 142 w 153"/>
              <a:gd name="T9" fmla="*/ 36 h 153"/>
              <a:gd name="T10" fmla="*/ 77 w 153"/>
              <a:gd name="T11" fmla="*/ 0 h 153"/>
              <a:gd name="T12" fmla="*/ 0 w 153"/>
              <a:gd name="T13" fmla="*/ 77 h 153"/>
              <a:gd name="T14" fmla="*/ 77 w 153"/>
              <a:gd name="T15" fmla="*/ 153 h 153"/>
              <a:gd name="T16" fmla="*/ 143 w 153"/>
              <a:gd name="T17" fmla="*/ 115 h 153"/>
              <a:gd name="T18" fmla="*/ 137 w 153"/>
              <a:gd name="T19" fmla="*/ 112 h 153"/>
              <a:gd name="T20" fmla="*/ 77 w 153"/>
              <a:gd name="T21" fmla="*/ 147 h 153"/>
              <a:gd name="T22" fmla="*/ 6 w 153"/>
              <a:gd name="T23" fmla="*/ 77 h 153"/>
              <a:gd name="T24" fmla="*/ 77 w 153"/>
              <a:gd name="T25" fmla="*/ 6 h 153"/>
              <a:gd name="T26" fmla="*/ 137 w 153"/>
              <a:gd name="T27" fmla="*/ 42 h 153"/>
              <a:gd name="T28" fmla="*/ 114 w 153"/>
              <a:gd name="T29" fmla="*/ 35 h 153"/>
              <a:gd name="T30" fmla="*/ 113 w 153"/>
              <a:gd name="T31" fmla="*/ 42 h 153"/>
              <a:gd name="T32" fmla="*/ 80 w 153"/>
              <a:gd name="T33" fmla="*/ 111 h 153"/>
              <a:gd name="T34" fmla="*/ 80 w 153"/>
              <a:gd name="T35" fmla="*/ 105 h 153"/>
              <a:gd name="T36" fmla="*/ 93 w 153"/>
              <a:gd name="T37" fmla="*/ 100 h 153"/>
              <a:gd name="T38" fmla="*/ 98 w 153"/>
              <a:gd name="T39" fmla="*/ 88 h 153"/>
              <a:gd name="T40" fmla="*/ 94 w 153"/>
              <a:gd name="T41" fmla="*/ 78 h 153"/>
              <a:gd name="T42" fmla="*/ 80 w 153"/>
              <a:gd name="T43" fmla="*/ 72 h 153"/>
              <a:gd name="T44" fmla="*/ 80 w 153"/>
              <a:gd name="T45" fmla="*/ 72 h 153"/>
              <a:gd name="T46" fmla="*/ 80 w 153"/>
              <a:gd name="T47" fmla="*/ 57 h 153"/>
              <a:gd name="T48" fmla="*/ 91 w 153"/>
              <a:gd name="T49" fmla="*/ 61 h 153"/>
              <a:gd name="T50" fmla="*/ 97 w 153"/>
              <a:gd name="T51" fmla="*/ 54 h 153"/>
              <a:gd name="T52" fmla="*/ 80 w 153"/>
              <a:gd name="T53" fmla="*/ 48 h 153"/>
              <a:gd name="T54" fmla="*/ 80 w 153"/>
              <a:gd name="T55" fmla="*/ 45 h 153"/>
              <a:gd name="T56" fmla="*/ 75 w 153"/>
              <a:gd name="T57" fmla="*/ 45 h 153"/>
              <a:gd name="T58" fmla="*/ 75 w 153"/>
              <a:gd name="T59" fmla="*/ 48 h 153"/>
              <a:gd name="T60" fmla="*/ 63 w 153"/>
              <a:gd name="T61" fmla="*/ 53 h 153"/>
              <a:gd name="T62" fmla="*/ 58 w 153"/>
              <a:gd name="T63" fmla="*/ 65 h 153"/>
              <a:gd name="T64" fmla="*/ 62 w 153"/>
              <a:gd name="T65" fmla="*/ 75 h 153"/>
              <a:gd name="T66" fmla="*/ 75 w 153"/>
              <a:gd name="T67" fmla="*/ 81 h 153"/>
              <a:gd name="T68" fmla="*/ 75 w 153"/>
              <a:gd name="T69" fmla="*/ 96 h 153"/>
              <a:gd name="T70" fmla="*/ 61 w 153"/>
              <a:gd name="T71" fmla="*/ 89 h 153"/>
              <a:gd name="T72" fmla="*/ 56 w 153"/>
              <a:gd name="T73" fmla="*/ 96 h 153"/>
              <a:gd name="T74" fmla="*/ 75 w 153"/>
              <a:gd name="T75" fmla="*/ 105 h 153"/>
              <a:gd name="T76" fmla="*/ 75 w 153"/>
              <a:gd name="T77" fmla="*/ 111 h 153"/>
              <a:gd name="T78" fmla="*/ 80 w 153"/>
              <a:gd name="T79" fmla="*/ 111 h 153"/>
              <a:gd name="T80" fmla="*/ 80 w 153"/>
              <a:gd name="T81" fmla="*/ 82 h 153"/>
              <a:gd name="T82" fmla="*/ 87 w 153"/>
              <a:gd name="T83" fmla="*/ 85 h 153"/>
              <a:gd name="T84" fmla="*/ 88 w 153"/>
              <a:gd name="T85" fmla="*/ 90 h 153"/>
              <a:gd name="T86" fmla="*/ 86 w 153"/>
              <a:gd name="T87" fmla="*/ 94 h 153"/>
              <a:gd name="T88" fmla="*/ 80 w 153"/>
              <a:gd name="T89" fmla="*/ 97 h 153"/>
              <a:gd name="T90" fmla="*/ 80 w 153"/>
              <a:gd name="T91" fmla="*/ 82 h 153"/>
              <a:gd name="T92" fmla="*/ 69 w 153"/>
              <a:gd name="T93" fmla="*/ 68 h 153"/>
              <a:gd name="T94" fmla="*/ 67 w 153"/>
              <a:gd name="T95" fmla="*/ 64 h 153"/>
              <a:gd name="T96" fmla="*/ 69 w 153"/>
              <a:gd name="T97" fmla="*/ 59 h 153"/>
              <a:gd name="T98" fmla="*/ 75 w 153"/>
              <a:gd name="T99" fmla="*/ 57 h 153"/>
              <a:gd name="T100" fmla="*/ 75 w 153"/>
              <a:gd name="T101" fmla="*/ 71 h 153"/>
              <a:gd name="T102" fmla="*/ 69 w 153"/>
              <a:gd name="T103" fmla="*/ 68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53" h="153">
                <a:moveTo>
                  <a:pt x="113" y="42"/>
                </a:moveTo>
                <a:cubicBezTo>
                  <a:pt x="145" y="50"/>
                  <a:pt x="145" y="50"/>
                  <a:pt x="145" y="50"/>
                </a:cubicBezTo>
                <a:cubicBezTo>
                  <a:pt x="153" y="18"/>
                  <a:pt x="153" y="18"/>
                  <a:pt x="153" y="18"/>
                </a:cubicBezTo>
                <a:cubicBezTo>
                  <a:pt x="147" y="16"/>
                  <a:pt x="147" y="16"/>
                  <a:pt x="147" y="16"/>
                </a:cubicBezTo>
                <a:cubicBezTo>
                  <a:pt x="142" y="36"/>
                  <a:pt x="142" y="36"/>
                  <a:pt x="142" y="36"/>
                </a:cubicBezTo>
                <a:cubicBezTo>
                  <a:pt x="128" y="15"/>
                  <a:pt x="104" y="0"/>
                  <a:pt x="77" y="0"/>
                </a:cubicBezTo>
                <a:cubicBezTo>
                  <a:pt x="34" y="0"/>
                  <a:pt x="0" y="34"/>
                  <a:pt x="0" y="77"/>
                </a:cubicBezTo>
                <a:cubicBezTo>
                  <a:pt x="0" y="119"/>
                  <a:pt x="34" y="153"/>
                  <a:pt x="77" y="153"/>
                </a:cubicBezTo>
                <a:cubicBezTo>
                  <a:pt x="105" y="153"/>
                  <a:pt x="129" y="138"/>
                  <a:pt x="143" y="115"/>
                </a:cubicBezTo>
                <a:cubicBezTo>
                  <a:pt x="137" y="112"/>
                  <a:pt x="137" y="112"/>
                  <a:pt x="137" y="112"/>
                </a:cubicBezTo>
                <a:cubicBezTo>
                  <a:pt x="125" y="133"/>
                  <a:pt x="102" y="147"/>
                  <a:pt x="77" y="147"/>
                </a:cubicBezTo>
                <a:cubicBezTo>
                  <a:pt x="38" y="147"/>
                  <a:pt x="6" y="115"/>
                  <a:pt x="6" y="77"/>
                </a:cubicBezTo>
                <a:cubicBezTo>
                  <a:pt x="6" y="38"/>
                  <a:pt x="38" y="6"/>
                  <a:pt x="77" y="6"/>
                </a:cubicBezTo>
                <a:cubicBezTo>
                  <a:pt x="103" y="6"/>
                  <a:pt x="125" y="20"/>
                  <a:pt x="137" y="42"/>
                </a:cubicBezTo>
                <a:cubicBezTo>
                  <a:pt x="114" y="35"/>
                  <a:pt x="114" y="35"/>
                  <a:pt x="114" y="35"/>
                </a:cubicBezTo>
                <a:lnTo>
                  <a:pt x="113" y="42"/>
                </a:lnTo>
                <a:close/>
                <a:moveTo>
                  <a:pt x="80" y="111"/>
                </a:moveTo>
                <a:cubicBezTo>
                  <a:pt x="80" y="105"/>
                  <a:pt x="80" y="105"/>
                  <a:pt x="80" y="105"/>
                </a:cubicBezTo>
                <a:cubicBezTo>
                  <a:pt x="85" y="104"/>
                  <a:pt x="90" y="103"/>
                  <a:pt x="93" y="100"/>
                </a:cubicBezTo>
                <a:cubicBezTo>
                  <a:pt x="96" y="97"/>
                  <a:pt x="98" y="93"/>
                  <a:pt x="98" y="88"/>
                </a:cubicBezTo>
                <a:cubicBezTo>
                  <a:pt x="98" y="84"/>
                  <a:pt x="97" y="80"/>
                  <a:pt x="94" y="78"/>
                </a:cubicBezTo>
                <a:cubicBezTo>
                  <a:pt x="91" y="75"/>
                  <a:pt x="86" y="73"/>
                  <a:pt x="80" y="72"/>
                </a:cubicBezTo>
                <a:cubicBezTo>
                  <a:pt x="80" y="72"/>
                  <a:pt x="80" y="72"/>
                  <a:pt x="80" y="72"/>
                </a:cubicBezTo>
                <a:cubicBezTo>
                  <a:pt x="80" y="57"/>
                  <a:pt x="80" y="57"/>
                  <a:pt x="80" y="57"/>
                </a:cubicBezTo>
                <a:cubicBezTo>
                  <a:pt x="84" y="58"/>
                  <a:pt x="88" y="59"/>
                  <a:pt x="91" y="61"/>
                </a:cubicBezTo>
                <a:cubicBezTo>
                  <a:pt x="97" y="54"/>
                  <a:pt x="97" y="54"/>
                  <a:pt x="97" y="54"/>
                </a:cubicBezTo>
                <a:cubicBezTo>
                  <a:pt x="91" y="51"/>
                  <a:pt x="86" y="49"/>
                  <a:pt x="80" y="48"/>
                </a:cubicBezTo>
                <a:cubicBezTo>
                  <a:pt x="80" y="45"/>
                  <a:pt x="80" y="45"/>
                  <a:pt x="80" y="45"/>
                </a:cubicBezTo>
                <a:cubicBezTo>
                  <a:pt x="75" y="45"/>
                  <a:pt x="75" y="45"/>
                  <a:pt x="75" y="45"/>
                </a:cubicBezTo>
                <a:cubicBezTo>
                  <a:pt x="75" y="48"/>
                  <a:pt x="75" y="48"/>
                  <a:pt x="75" y="48"/>
                </a:cubicBezTo>
                <a:cubicBezTo>
                  <a:pt x="70" y="49"/>
                  <a:pt x="66" y="50"/>
                  <a:pt x="63" y="53"/>
                </a:cubicBezTo>
                <a:cubicBezTo>
                  <a:pt x="59" y="56"/>
                  <a:pt x="58" y="60"/>
                  <a:pt x="58" y="65"/>
                </a:cubicBezTo>
                <a:cubicBezTo>
                  <a:pt x="58" y="69"/>
                  <a:pt x="59" y="73"/>
                  <a:pt x="62" y="75"/>
                </a:cubicBezTo>
                <a:cubicBezTo>
                  <a:pt x="65" y="77"/>
                  <a:pt x="69" y="79"/>
                  <a:pt x="75" y="81"/>
                </a:cubicBezTo>
                <a:cubicBezTo>
                  <a:pt x="75" y="96"/>
                  <a:pt x="75" y="96"/>
                  <a:pt x="75" y="96"/>
                </a:cubicBezTo>
                <a:cubicBezTo>
                  <a:pt x="70" y="95"/>
                  <a:pt x="66" y="93"/>
                  <a:pt x="61" y="89"/>
                </a:cubicBezTo>
                <a:cubicBezTo>
                  <a:pt x="56" y="96"/>
                  <a:pt x="56" y="96"/>
                  <a:pt x="56" y="96"/>
                </a:cubicBezTo>
                <a:cubicBezTo>
                  <a:pt x="61" y="101"/>
                  <a:pt x="68" y="104"/>
                  <a:pt x="75" y="105"/>
                </a:cubicBezTo>
                <a:cubicBezTo>
                  <a:pt x="75" y="111"/>
                  <a:pt x="75" y="111"/>
                  <a:pt x="75" y="111"/>
                </a:cubicBezTo>
                <a:lnTo>
                  <a:pt x="80" y="111"/>
                </a:lnTo>
                <a:close/>
                <a:moveTo>
                  <a:pt x="80" y="82"/>
                </a:moveTo>
                <a:cubicBezTo>
                  <a:pt x="84" y="83"/>
                  <a:pt x="85" y="84"/>
                  <a:pt x="87" y="85"/>
                </a:cubicBezTo>
                <a:cubicBezTo>
                  <a:pt x="88" y="86"/>
                  <a:pt x="88" y="88"/>
                  <a:pt x="88" y="90"/>
                </a:cubicBezTo>
                <a:cubicBezTo>
                  <a:pt x="88" y="92"/>
                  <a:pt x="88" y="93"/>
                  <a:pt x="86" y="94"/>
                </a:cubicBezTo>
                <a:cubicBezTo>
                  <a:pt x="84" y="96"/>
                  <a:pt x="83" y="96"/>
                  <a:pt x="80" y="97"/>
                </a:cubicBezTo>
                <a:lnTo>
                  <a:pt x="80" y="82"/>
                </a:lnTo>
                <a:close/>
                <a:moveTo>
                  <a:pt x="69" y="68"/>
                </a:moveTo>
                <a:cubicBezTo>
                  <a:pt x="68" y="67"/>
                  <a:pt x="67" y="66"/>
                  <a:pt x="67" y="64"/>
                </a:cubicBezTo>
                <a:cubicBezTo>
                  <a:pt x="67" y="62"/>
                  <a:pt x="68" y="61"/>
                  <a:pt x="69" y="59"/>
                </a:cubicBezTo>
                <a:cubicBezTo>
                  <a:pt x="71" y="58"/>
                  <a:pt x="72" y="58"/>
                  <a:pt x="75" y="57"/>
                </a:cubicBezTo>
                <a:cubicBezTo>
                  <a:pt x="75" y="71"/>
                  <a:pt x="75" y="71"/>
                  <a:pt x="75" y="71"/>
                </a:cubicBezTo>
                <a:cubicBezTo>
                  <a:pt x="72" y="70"/>
                  <a:pt x="70" y="69"/>
                  <a:pt x="69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204">
            <a:extLst>
              <a:ext uri="{FF2B5EF4-FFF2-40B4-BE49-F238E27FC236}">
                <a16:creationId xmlns:a16="http://schemas.microsoft.com/office/drawing/2014/main" id="{370086AC-E25A-FC9E-8C4F-B1782D608BA0}"/>
              </a:ext>
            </a:extLst>
          </p:cNvPr>
          <p:cNvSpPr>
            <a:spLocks noEditPoints="1"/>
          </p:cNvSpPr>
          <p:nvPr/>
        </p:nvSpPr>
        <p:spPr bwMode="auto">
          <a:xfrm>
            <a:off x="8496782" y="838921"/>
            <a:ext cx="477652" cy="734168"/>
          </a:xfrm>
          <a:custGeom>
            <a:avLst/>
            <a:gdLst>
              <a:gd name="T0" fmla="*/ 74 w 100"/>
              <a:gd name="T1" fmla="*/ 6 h 153"/>
              <a:gd name="T2" fmla="*/ 53 w 100"/>
              <a:gd name="T3" fmla="*/ 9 h 153"/>
              <a:gd name="T4" fmla="*/ 36 w 100"/>
              <a:gd name="T5" fmla="*/ 8 h 153"/>
              <a:gd name="T6" fmla="*/ 19 w 100"/>
              <a:gd name="T7" fmla="*/ 20 h 153"/>
              <a:gd name="T8" fmla="*/ 35 w 100"/>
              <a:gd name="T9" fmla="*/ 38 h 153"/>
              <a:gd name="T10" fmla="*/ 50 w 100"/>
              <a:gd name="T11" fmla="*/ 153 h 153"/>
              <a:gd name="T12" fmla="*/ 62 w 100"/>
              <a:gd name="T13" fmla="*/ 37 h 153"/>
              <a:gd name="T14" fmla="*/ 26 w 100"/>
              <a:gd name="T15" fmla="*/ 21 h 153"/>
              <a:gd name="T16" fmla="*/ 39 w 100"/>
              <a:gd name="T17" fmla="*/ 14 h 153"/>
              <a:gd name="T18" fmla="*/ 56 w 100"/>
              <a:gd name="T19" fmla="*/ 15 h 153"/>
              <a:gd name="T20" fmla="*/ 56 w 100"/>
              <a:gd name="T21" fmla="*/ 34 h 153"/>
              <a:gd name="T22" fmla="*/ 50 w 100"/>
              <a:gd name="T23" fmla="*/ 34 h 153"/>
              <a:gd name="T24" fmla="*/ 26 w 100"/>
              <a:gd name="T25" fmla="*/ 24 h 153"/>
              <a:gd name="T26" fmla="*/ 6 w 100"/>
              <a:gd name="T27" fmla="*/ 103 h 153"/>
              <a:gd name="T28" fmla="*/ 94 w 100"/>
              <a:gd name="T29" fmla="*/ 103 h 153"/>
              <a:gd name="T30" fmla="*/ 64 w 100"/>
              <a:gd name="T31" fmla="*/ 94 h 153"/>
              <a:gd name="T32" fmla="*/ 53 w 100"/>
              <a:gd name="T33" fmla="*/ 90 h 153"/>
              <a:gd name="T34" fmla="*/ 62 w 100"/>
              <a:gd name="T35" fmla="*/ 81 h 153"/>
              <a:gd name="T36" fmla="*/ 53 w 100"/>
              <a:gd name="T37" fmla="*/ 71 h 153"/>
              <a:gd name="T38" fmla="*/ 49 w 100"/>
              <a:gd name="T39" fmla="*/ 67 h 153"/>
              <a:gd name="T40" fmla="*/ 39 w 100"/>
              <a:gd name="T41" fmla="*/ 75 h 153"/>
              <a:gd name="T42" fmla="*/ 38 w 100"/>
              <a:gd name="T43" fmla="*/ 92 h 153"/>
              <a:gd name="T44" fmla="*/ 49 w 100"/>
              <a:gd name="T45" fmla="*/ 108 h 153"/>
              <a:gd name="T46" fmla="*/ 33 w 100"/>
              <a:gd name="T47" fmla="*/ 108 h 153"/>
              <a:gd name="T48" fmla="*/ 49 w 100"/>
              <a:gd name="T49" fmla="*/ 120 h 153"/>
              <a:gd name="T50" fmla="*/ 53 w 100"/>
              <a:gd name="T51" fmla="*/ 115 h 153"/>
              <a:gd name="T52" fmla="*/ 67 w 100"/>
              <a:gd name="T53" fmla="*/ 103 h 153"/>
              <a:gd name="T54" fmla="*/ 49 w 100"/>
              <a:gd name="T55" fmla="*/ 89 h 153"/>
              <a:gd name="T56" fmla="*/ 43 w 100"/>
              <a:gd name="T57" fmla="*/ 83 h 153"/>
              <a:gd name="T58" fmla="*/ 49 w 100"/>
              <a:gd name="T59" fmla="*/ 78 h 153"/>
              <a:gd name="T60" fmla="*/ 58 w 100"/>
              <a:gd name="T61" fmla="*/ 107 h 153"/>
              <a:gd name="T62" fmla="*/ 53 w 100"/>
              <a:gd name="T63" fmla="*/ 97 h 153"/>
              <a:gd name="T64" fmla="*/ 59 w 100"/>
              <a:gd name="T65" fmla="*/ 103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00" h="153">
                <a:moveTo>
                  <a:pt x="62" y="37"/>
                </a:moveTo>
                <a:cubicBezTo>
                  <a:pt x="68" y="30"/>
                  <a:pt x="72" y="14"/>
                  <a:pt x="74" y="6"/>
                </a:cubicBezTo>
                <a:cubicBezTo>
                  <a:pt x="75" y="0"/>
                  <a:pt x="75" y="0"/>
                  <a:pt x="75" y="0"/>
                </a:cubicBezTo>
                <a:cubicBezTo>
                  <a:pt x="53" y="9"/>
                  <a:pt x="53" y="9"/>
                  <a:pt x="53" y="9"/>
                </a:cubicBezTo>
                <a:cubicBezTo>
                  <a:pt x="51" y="10"/>
                  <a:pt x="49" y="10"/>
                  <a:pt x="48" y="9"/>
                </a:cubicBezTo>
                <a:cubicBezTo>
                  <a:pt x="44" y="6"/>
                  <a:pt x="40" y="6"/>
                  <a:pt x="36" y="8"/>
                </a:cubicBezTo>
                <a:cubicBezTo>
                  <a:pt x="24" y="13"/>
                  <a:pt x="24" y="13"/>
                  <a:pt x="24" y="13"/>
                </a:cubicBezTo>
                <a:cubicBezTo>
                  <a:pt x="22" y="14"/>
                  <a:pt x="20" y="17"/>
                  <a:pt x="19" y="20"/>
                </a:cubicBezTo>
                <a:cubicBezTo>
                  <a:pt x="19" y="22"/>
                  <a:pt x="19" y="25"/>
                  <a:pt x="21" y="28"/>
                </a:cubicBezTo>
                <a:cubicBezTo>
                  <a:pt x="25" y="32"/>
                  <a:pt x="31" y="36"/>
                  <a:pt x="35" y="38"/>
                </a:cubicBezTo>
                <a:cubicBezTo>
                  <a:pt x="14" y="49"/>
                  <a:pt x="0" y="81"/>
                  <a:pt x="0" y="103"/>
                </a:cubicBezTo>
                <a:cubicBezTo>
                  <a:pt x="0" y="131"/>
                  <a:pt x="23" y="153"/>
                  <a:pt x="50" y="153"/>
                </a:cubicBezTo>
                <a:cubicBezTo>
                  <a:pt x="78" y="153"/>
                  <a:pt x="100" y="131"/>
                  <a:pt x="100" y="103"/>
                </a:cubicBezTo>
                <a:cubicBezTo>
                  <a:pt x="100" y="80"/>
                  <a:pt x="84" y="47"/>
                  <a:pt x="62" y="37"/>
                </a:cubicBezTo>
                <a:close/>
                <a:moveTo>
                  <a:pt x="26" y="24"/>
                </a:moveTo>
                <a:cubicBezTo>
                  <a:pt x="26" y="23"/>
                  <a:pt x="25" y="22"/>
                  <a:pt x="26" y="21"/>
                </a:cubicBezTo>
                <a:cubicBezTo>
                  <a:pt x="26" y="21"/>
                  <a:pt x="26" y="20"/>
                  <a:pt x="27" y="19"/>
                </a:cubicBezTo>
                <a:cubicBezTo>
                  <a:pt x="39" y="14"/>
                  <a:pt x="39" y="14"/>
                  <a:pt x="39" y="14"/>
                </a:cubicBezTo>
                <a:cubicBezTo>
                  <a:pt x="41" y="13"/>
                  <a:pt x="43" y="13"/>
                  <a:pt x="44" y="14"/>
                </a:cubicBezTo>
                <a:cubicBezTo>
                  <a:pt x="48" y="17"/>
                  <a:pt x="52" y="17"/>
                  <a:pt x="56" y="15"/>
                </a:cubicBezTo>
                <a:cubicBezTo>
                  <a:pt x="66" y="11"/>
                  <a:pt x="66" y="11"/>
                  <a:pt x="66" y="11"/>
                </a:cubicBezTo>
                <a:cubicBezTo>
                  <a:pt x="63" y="23"/>
                  <a:pt x="59" y="34"/>
                  <a:pt x="56" y="34"/>
                </a:cubicBezTo>
                <a:cubicBezTo>
                  <a:pt x="56" y="35"/>
                  <a:pt x="56" y="35"/>
                  <a:pt x="56" y="35"/>
                </a:cubicBezTo>
                <a:cubicBezTo>
                  <a:pt x="54" y="35"/>
                  <a:pt x="52" y="34"/>
                  <a:pt x="50" y="34"/>
                </a:cubicBezTo>
                <a:cubicBezTo>
                  <a:pt x="47" y="34"/>
                  <a:pt x="45" y="35"/>
                  <a:pt x="42" y="36"/>
                </a:cubicBezTo>
                <a:cubicBezTo>
                  <a:pt x="39" y="34"/>
                  <a:pt x="30" y="29"/>
                  <a:pt x="26" y="24"/>
                </a:cubicBezTo>
                <a:close/>
                <a:moveTo>
                  <a:pt x="50" y="147"/>
                </a:moveTo>
                <a:cubicBezTo>
                  <a:pt x="26" y="147"/>
                  <a:pt x="6" y="127"/>
                  <a:pt x="6" y="103"/>
                </a:cubicBezTo>
                <a:cubicBezTo>
                  <a:pt x="6" y="79"/>
                  <a:pt x="26" y="41"/>
                  <a:pt x="50" y="41"/>
                </a:cubicBezTo>
                <a:cubicBezTo>
                  <a:pt x="74" y="41"/>
                  <a:pt x="94" y="79"/>
                  <a:pt x="94" y="103"/>
                </a:cubicBezTo>
                <a:cubicBezTo>
                  <a:pt x="94" y="127"/>
                  <a:pt x="74" y="147"/>
                  <a:pt x="50" y="147"/>
                </a:cubicBezTo>
                <a:close/>
                <a:moveTo>
                  <a:pt x="64" y="94"/>
                </a:moveTo>
                <a:cubicBezTo>
                  <a:pt x="62" y="92"/>
                  <a:pt x="58" y="91"/>
                  <a:pt x="53" y="90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78"/>
                  <a:pt x="53" y="78"/>
                  <a:pt x="53" y="78"/>
                </a:cubicBezTo>
                <a:cubicBezTo>
                  <a:pt x="56" y="78"/>
                  <a:pt x="59" y="79"/>
                  <a:pt x="62" y="81"/>
                </a:cubicBezTo>
                <a:cubicBezTo>
                  <a:pt x="66" y="75"/>
                  <a:pt x="66" y="75"/>
                  <a:pt x="66" y="75"/>
                </a:cubicBezTo>
                <a:cubicBezTo>
                  <a:pt x="61" y="73"/>
                  <a:pt x="57" y="71"/>
                  <a:pt x="53" y="71"/>
                </a:cubicBezTo>
                <a:cubicBezTo>
                  <a:pt x="53" y="67"/>
                  <a:pt x="53" y="67"/>
                  <a:pt x="53" y="67"/>
                </a:cubicBezTo>
                <a:cubicBezTo>
                  <a:pt x="49" y="67"/>
                  <a:pt x="49" y="67"/>
                  <a:pt x="49" y="67"/>
                </a:cubicBezTo>
                <a:cubicBezTo>
                  <a:pt x="49" y="71"/>
                  <a:pt x="49" y="71"/>
                  <a:pt x="49" y="71"/>
                </a:cubicBezTo>
                <a:cubicBezTo>
                  <a:pt x="45" y="71"/>
                  <a:pt x="42" y="72"/>
                  <a:pt x="39" y="75"/>
                </a:cubicBezTo>
                <a:cubicBezTo>
                  <a:pt x="36" y="77"/>
                  <a:pt x="35" y="80"/>
                  <a:pt x="35" y="83"/>
                </a:cubicBezTo>
                <a:cubicBezTo>
                  <a:pt x="35" y="87"/>
                  <a:pt x="36" y="90"/>
                  <a:pt x="38" y="92"/>
                </a:cubicBezTo>
                <a:cubicBezTo>
                  <a:pt x="41" y="93"/>
                  <a:pt x="44" y="95"/>
                  <a:pt x="49" y="96"/>
                </a:cubicBezTo>
                <a:cubicBezTo>
                  <a:pt x="49" y="108"/>
                  <a:pt x="49" y="108"/>
                  <a:pt x="49" y="108"/>
                </a:cubicBezTo>
                <a:cubicBezTo>
                  <a:pt x="45" y="108"/>
                  <a:pt x="42" y="106"/>
                  <a:pt x="38" y="103"/>
                </a:cubicBezTo>
                <a:cubicBezTo>
                  <a:pt x="33" y="108"/>
                  <a:pt x="33" y="108"/>
                  <a:pt x="33" y="108"/>
                </a:cubicBezTo>
                <a:cubicBezTo>
                  <a:pt x="38" y="112"/>
                  <a:pt x="43" y="115"/>
                  <a:pt x="49" y="115"/>
                </a:cubicBezTo>
                <a:cubicBezTo>
                  <a:pt x="49" y="120"/>
                  <a:pt x="49" y="120"/>
                  <a:pt x="49" y="120"/>
                </a:cubicBezTo>
                <a:cubicBezTo>
                  <a:pt x="53" y="120"/>
                  <a:pt x="53" y="120"/>
                  <a:pt x="53" y="120"/>
                </a:cubicBezTo>
                <a:cubicBezTo>
                  <a:pt x="53" y="115"/>
                  <a:pt x="53" y="115"/>
                  <a:pt x="53" y="115"/>
                </a:cubicBezTo>
                <a:cubicBezTo>
                  <a:pt x="57" y="115"/>
                  <a:pt x="61" y="114"/>
                  <a:pt x="63" y="111"/>
                </a:cubicBezTo>
                <a:cubicBezTo>
                  <a:pt x="66" y="109"/>
                  <a:pt x="67" y="106"/>
                  <a:pt x="67" y="103"/>
                </a:cubicBezTo>
                <a:cubicBezTo>
                  <a:pt x="67" y="99"/>
                  <a:pt x="66" y="96"/>
                  <a:pt x="64" y="94"/>
                </a:cubicBezTo>
                <a:close/>
                <a:moveTo>
                  <a:pt x="49" y="89"/>
                </a:moveTo>
                <a:cubicBezTo>
                  <a:pt x="46" y="88"/>
                  <a:pt x="45" y="87"/>
                  <a:pt x="44" y="86"/>
                </a:cubicBezTo>
                <a:cubicBezTo>
                  <a:pt x="43" y="86"/>
                  <a:pt x="43" y="84"/>
                  <a:pt x="43" y="83"/>
                </a:cubicBezTo>
                <a:cubicBezTo>
                  <a:pt x="43" y="81"/>
                  <a:pt x="43" y="80"/>
                  <a:pt x="44" y="79"/>
                </a:cubicBezTo>
                <a:cubicBezTo>
                  <a:pt x="45" y="79"/>
                  <a:pt x="47" y="78"/>
                  <a:pt x="49" y="78"/>
                </a:cubicBezTo>
                <a:cubicBezTo>
                  <a:pt x="49" y="89"/>
                  <a:pt x="49" y="89"/>
                  <a:pt x="49" y="89"/>
                </a:cubicBezTo>
                <a:close/>
                <a:moveTo>
                  <a:pt x="58" y="107"/>
                </a:moveTo>
                <a:cubicBezTo>
                  <a:pt x="56" y="108"/>
                  <a:pt x="55" y="108"/>
                  <a:pt x="53" y="109"/>
                </a:cubicBezTo>
                <a:cubicBezTo>
                  <a:pt x="53" y="97"/>
                  <a:pt x="53" y="97"/>
                  <a:pt x="53" y="97"/>
                </a:cubicBezTo>
                <a:cubicBezTo>
                  <a:pt x="55" y="98"/>
                  <a:pt x="57" y="99"/>
                  <a:pt x="58" y="100"/>
                </a:cubicBezTo>
                <a:cubicBezTo>
                  <a:pt x="59" y="101"/>
                  <a:pt x="59" y="102"/>
                  <a:pt x="59" y="103"/>
                </a:cubicBezTo>
                <a:cubicBezTo>
                  <a:pt x="59" y="105"/>
                  <a:pt x="59" y="106"/>
                  <a:pt x="58" y="1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C12DEAB7-DBF6-3BB8-97B1-3F6180D7272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8" r="20938"/>
          <a:stretch>
            <a:fillRect/>
          </a:stretch>
        </p:blipFill>
        <p:spPr/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D7FED26C-41B0-3958-4480-7F4AA2CE53E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8" r="8908"/>
          <a:stretch>
            <a:fillRect/>
          </a:stretch>
        </p:blipFill>
        <p:spPr/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12C2CFEA-55DF-8887-1EAF-8EDF0EC3D5D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05" r="22805"/>
          <a:stretch>
            <a:fillRect/>
          </a:stretch>
        </p:blipFill>
        <p:spPr/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1DD9BC-97F6-F344-9ED6-6CDE8CD71589}"/>
              </a:ext>
            </a:extLst>
          </p:cNvPr>
          <p:cNvSpPr txBox="1"/>
          <p:nvPr/>
        </p:nvSpPr>
        <p:spPr>
          <a:xfrm>
            <a:off x="639778" y="4776125"/>
            <a:ext cx="560906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Lazuardi Arsy                             </a:t>
            </a:r>
            <a:r>
              <a:rPr lang="en-US" sz="1400"/>
              <a:t>(25/575066/PEK/32005</a:t>
            </a:r>
            <a:r>
              <a:rPr lang="en-ID" sz="1400"/>
              <a:t>)</a:t>
            </a:r>
            <a:endParaRPr lang="en-US" sz="140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Aulia Sisca Rahmadiyanti </a:t>
            </a:r>
            <a:r>
              <a:rPr lang="en-US" sz="1400"/>
              <a:t>(</a:t>
            </a:r>
            <a:r>
              <a:rPr lang="en-ID" sz="1400"/>
              <a:t>25/574305/PEK/31789)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Tegar Awanto                            </a:t>
            </a:r>
            <a:r>
              <a:rPr lang="en-US" sz="1400"/>
              <a:t>(</a:t>
            </a:r>
            <a:r>
              <a:rPr lang="en-ID" sz="1400"/>
              <a:t>25/574246/PEK/31765)</a:t>
            </a:r>
            <a:endParaRPr lang="en-US" sz="1400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5ED88A7-B214-596A-330F-78982F8E513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01" r="26401"/>
          <a:stretch>
            <a:fillRect/>
          </a:stretch>
        </p:blipFill>
        <p:spPr/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590601-31E9-1742-8349-D8934D19F9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895" y="-4379"/>
            <a:ext cx="8610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374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D64B5-11CF-8D3C-F0AC-54EFFE7D1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45A9F39-865F-C4D1-2697-3E99771A14C5}"/>
              </a:ext>
            </a:extLst>
          </p:cNvPr>
          <p:cNvSpPr/>
          <p:nvPr/>
        </p:nvSpPr>
        <p:spPr>
          <a:xfrm>
            <a:off x="0" y="0"/>
            <a:ext cx="5618482" cy="6858000"/>
          </a:xfrm>
          <a:prstGeom prst="rect">
            <a:avLst/>
          </a:prstGeom>
          <a:solidFill>
            <a:schemeClr val="bg1">
              <a:lumMod val="9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D8388C1-B3C2-6F78-93AE-9EA024DF326D}"/>
              </a:ext>
            </a:extLst>
          </p:cNvPr>
          <p:cNvSpPr txBox="1">
            <a:spLocks/>
          </p:cNvSpPr>
          <p:nvPr/>
        </p:nvSpPr>
        <p:spPr>
          <a:xfrm>
            <a:off x="10793499" y="6417654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100" dirty="0">
                <a:solidFill>
                  <a:schemeClr val="tx1"/>
                </a:solidFill>
              </a:rPr>
              <a:t>Page  |  </a:t>
            </a:r>
            <a:fld id="{28718D47-A015-4C76-8C97-DE3515A3C496}" type="slidenum">
              <a:rPr lang="en-US" sz="1000" b="1" smtClean="0">
                <a:solidFill>
                  <a:schemeClr val="tx1"/>
                </a:solidFill>
              </a:rPr>
              <a:pPr/>
              <a:t>2</a:t>
            </a:fld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2B04E-E2DB-2D6D-3C06-60821111EA97}"/>
              </a:ext>
            </a:extLst>
          </p:cNvPr>
          <p:cNvSpPr txBox="1"/>
          <p:nvPr/>
        </p:nvSpPr>
        <p:spPr>
          <a:xfrm>
            <a:off x="838202" y="2150000"/>
            <a:ext cx="4364581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latin typeface="+mj-lt"/>
              </a:rPr>
              <a:t>Apa yang</a:t>
            </a:r>
            <a:endParaRPr lang="en-US" sz="4000" b="1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B6C03-EC4A-4FE3-77CB-D47F811477B9}"/>
              </a:ext>
            </a:extLst>
          </p:cNvPr>
          <p:cNvSpPr txBox="1"/>
          <p:nvPr/>
        </p:nvSpPr>
        <p:spPr>
          <a:xfrm>
            <a:off x="838201" y="2700000"/>
            <a:ext cx="4364581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solidFill>
                  <a:schemeClr val="accent1"/>
                </a:solidFill>
                <a:latin typeface="+mj-lt"/>
              </a:rPr>
              <a:t>Akan Kita Pelajari</a:t>
            </a:r>
            <a:endParaRPr lang="en-US" sz="5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5E9918-9FF4-141B-E03F-EEA8DDB67859}"/>
              </a:ext>
            </a:extLst>
          </p:cNvPr>
          <p:cNvSpPr txBox="1"/>
          <p:nvPr/>
        </p:nvSpPr>
        <p:spPr>
          <a:xfrm>
            <a:off x="7378662" y="1253840"/>
            <a:ext cx="287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What is a Corporation?</a:t>
            </a:r>
            <a:endParaRPr lang="en-US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A6DE03-2B01-E0BC-7376-344C0C7E57F2}"/>
              </a:ext>
            </a:extLst>
          </p:cNvPr>
          <p:cNvSpPr txBox="1"/>
          <p:nvPr/>
        </p:nvSpPr>
        <p:spPr>
          <a:xfrm>
            <a:off x="6456683" y="1069174"/>
            <a:ext cx="8309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>
                <a:solidFill>
                  <a:schemeClr val="bg1">
                    <a:lumMod val="90000"/>
                  </a:schemeClr>
                </a:solidFill>
                <a:latin typeface="+mj-lt"/>
              </a:rPr>
              <a:t>1</a:t>
            </a:r>
            <a:endParaRPr lang="en-US" sz="4000" b="1" dirty="0">
              <a:solidFill>
                <a:schemeClr val="bg1">
                  <a:lumMod val="90000"/>
                </a:schemeClr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488D4D-83B7-3B55-BEA6-BD82988516A3}"/>
              </a:ext>
            </a:extLst>
          </p:cNvPr>
          <p:cNvSpPr txBox="1"/>
          <p:nvPr/>
        </p:nvSpPr>
        <p:spPr>
          <a:xfrm>
            <a:off x="7378661" y="2089674"/>
            <a:ext cx="38087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Corporate Social Responsibility</a:t>
            </a:r>
            <a:endParaRPr lang="en-US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289D18-5B99-9472-E375-EC56E78A5C16}"/>
              </a:ext>
            </a:extLst>
          </p:cNvPr>
          <p:cNvSpPr txBox="1"/>
          <p:nvPr/>
        </p:nvSpPr>
        <p:spPr>
          <a:xfrm>
            <a:off x="6456683" y="1905008"/>
            <a:ext cx="10572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>
                <a:solidFill>
                  <a:schemeClr val="bg1">
                    <a:lumMod val="90000"/>
                  </a:schemeClr>
                </a:solidFill>
                <a:latin typeface="+mj-lt"/>
              </a:rPr>
              <a:t>2</a:t>
            </a:r>
            <a:endParaRPr lang="en-US" sz="4000" b="1" dirty="0">
              <a:solidFill>
                <a:schemeClr val="bg1">
                  <a:lumMod val="90000"/>
                </a:schemeClr>
              </a:solidFill>
              <a:latin typeface="+mj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5288D5-2AF9-7B49-3C70-0152B3D4E8A5}"/>
              </a:ext>
            </a:extLst>
          </p:cNvPr>
          <p:cNvCxnSpPr>
            <a:cxnSpLocks/>
          </p:cNvCxnSpPr>
          <p:nvPr/>
        </p:nvCxnSpPr>
        <p:spPr>
          <a:xfrm>
            <a:off x="6571985" y="1864498"/>
            <a:ext cx="5145814" cy="0"/>
          </a:xfrm>
          <a:prstGeom prst="line">
            <a:avLst/>
          </a:prstGeom>
          <a:ln>
            <a:solidFill>
              <a:schemeClr val="bg1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126C93-DE0A-7F63-7FD6-BB4401C0F7BD}"/>
              </a:ext>
            </a:extLst>
          </p:cNvPr>
          <p:cNvSpPr txBox="1"/>
          <p:nvPr/>
        </p:nvSpPr>
        <p:spPr>
          <a:xfrm>
            <a:off x="7378661" y="2954672"/>
            <a:ext cx="4839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Stakeholder Theory</a:t>
            </a:r>
            <a:endParaRPr lang="en-US" sz="1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AD67A8-9F24-111D-3ECA-F6786F89316B}"/>
              </a:ext>
            </a:extLst>
          </p:cNvPr>
          <p:cNvSpPr txBox="1"/>
          <p:nvPr/>
        </p:nvSpPr>
        <p:spPr>
          <a:xfrm>
            <a:off x="6456683" y="2770006"/>
            <a:ext cx="9897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>
                <a:solidFill>
                  <a:schemeClr val="bg1">
                    <a:lumMod val="90000"/>
                  </a:schemeClr>
                </a:solidFill>
                <a:latin typeface="+mj-lt"/>
              </a:rPr>
              <a:t>3</a:t>
            </a:r>
            <a:endParaRPr lang="en-US" sz="4000" b="1" dirty="0">
              <a:solidFill>
                <a:schemeClr val="bg1">
                  <a:lumMod val="90000"/>
                </a:schemeClr>
              </a:solidFill>
              <a:latin typeface="+mj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0598CA1-CE64-8F98-C84B-4E9597256CEA}"/>
              </a:ext>
            </a:extLst>
          </p:cNvPr>
          <p:cNvCxnSpPr>
            <a:cxnSpLocks/>
          </p:cNvCxnSpPr>
          <p:nvPr/>
        </p:nvCxnSpPr>
        <p:spPr>
          <a:xfrm>
            <a:off x="6555908" y="2690105"/>
            <a:ext cx="5153852" cy="0"/>
          </a:xfrm>
          <a:prstGeom prst="line">
            <a:avLst/>
          </a:prstGeom>
          <a:ln>
            <a:solidFill>
              <a:schemeClr val="bg1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B224E6E-8910-08DB-1FD7-A697FC893E57}"/>
              </a:ext>
            </a:extLst>
          </p:cNvPr>
          <p:cNvSpPr txBox="1"/>
          <p:nvPr/>
        </p:nvSpPr>
        <p:spPr>
          <a:xfrm>
            <a:off x="7386700" y="3891030"/>
            <a:ext cx="43310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Corporate Citizenship</a:t>
            </a:r>
            <a:endParaRPr lang="en-US" sz="14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1AB80A-3017-D17E-64D1-F3BB4A2EA098}"/>
              </a:ext>
            </a:extLst>
          </p:cNvPr>
          <p:cNvSpPr txBox="1"/>
          <p:nvPr/>
        </p:nvSpPr>
        <p:spPr>
          <a:xfrm>
            <a:off x="6477860" y="3668137"/>
            <a:ext cx="9219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>
                <a:solidFill>
                  <a:schemeClr val="bg1">
                    <a:lumMod val="90000"/>
                  </a:schemeClr>
                </a:solidFill>
                <a:latin typeface="+mj-lt"/>
              </a:rPr>
              <a:t>4</a:t>
            </a:r>
            <a:endParaRPr lang="en-US" sz="4000" b="1" dirty="0">
              <a:solidFill>
                <a:schemeClr val="bg1">
                  <a:lumMod val="90000"/>
                </a:schemeClr>
              </a:solidFill>
              <a:latin typeface="+mj-lt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05E5D73-05BD-C8F0-6022-13BD69E61A83}"/>
              </a:ext>
            </a:extLst>
          </p:cNvPr>
          <p:cNvCxnSpPr>
            <a:cxnSpLocks/>
          </p:cNvCxnSpPr>
          <p:nvPr/>
        </p:nvCxnSpPr>
        <p:spPr>
          <a:xfrm>
            <a:off x="6555908" y="3618024"/>
            <a:ext cx="5145814" cy="0"/>
          </a:xfrm>
          <a:prstGeom prst="line">
            <a:avLst/>
          </a:prstGeom>
          <a:ln>
            <a:solidFill>
              <a:schemeClr val="bg1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64F3F55-56E0-02E0-6F63-F836617A0532}"/>
              </a:ext>
            </a:extLst>
          </p:cNvPr>
          <p:cNvGrpSpPr/>
          <p:nvPr/>
        </p:nvGrpSpPr>
        <p:grpSpPr>
          <a:xfrm>
            <a:off x="5052333" y="2801355"/>
            <a:ext cx="1150779" cy="1150779"/>
            <a:chOff x="5927011" y="2853611"/>
            <a:chExt cx="1150779" cy="1150779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B82FEA3-5688-2528-4077-23DDDE09C060}"/>
                </a:ext>
              </a:extLst>
            </p:cNvPr>
            <p:cNvSpPr/>
            <p:nvPr/>
          </p:nvSpPr>
          <p:spPr>
            <a:xfrm>
              <a:off x="5927011" y="2853611"/>
              <a:ext cx="1150779" cy="115077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EFC4BF0-A61D-3027-D234-F5C39FDF8331}"/>
                </a:ext>
              </a:extLst>
            </p:cNvPr>
            <p:cNvSpPr/>
            <p:nvPr/>
          </p:nvSpPr>
          <p:spPr>
            <a:xfrm>
              <a:off x="6054551" y="2987042"/>
              <a:ext cx="883918" cy="88391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>
              <a:outerShdw blurRad="254000" dist="190500" dir="2700000" algn="tl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04343C4-6F45-BD5F-CD4E-A8E07ABEA726}"/>
                </a:ext>
              </a:extLst>
            </p:cNvPr>
            <p:cNvGrpSpPr/>
            <p:nvPr/>
          </p:nvGrpSpPr>
          <p:grpSpPr>
            <a:xfrm>
              <a:off x="6353584" y="3290822"/>
              <a:ext cx="276356" cy="276356"/>
              <a:chOff x="6662738" y="825500"/>
              <a:chExt cx="415052" cy="415052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3534912-BE61-EEC3-F605-9BDD00913631}"/>
                  </a:ext>
                </a:extLst>
              </p:cNvPr>
              <p:cNvCxnSpPr/>
              <p:nvPr/>
            </p:nvCxnSpPr>
            <p:spPr>
              <a:xfrm>
                <a:off x="6692900" y="825500"/>
                <a:ext cx="38489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930FD71B-5220-8B99-C4B7-2607FF057B0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885345" y="1017945"/>
                <a:ext cx="38489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7BD611B-99DC-9AFC-0FEB-346183ABC3CF}"/>
                  </a:ext>
                </a:extLst>
              </p:cNvPr>
              <p:cNvCxnSpPr/>
              <p:nvPr/>
            </p:nvCxnSpPr>
            <p:spPr>
              <a:xfrm flipH="1">
                <a:off x="6662738" y="825500"/>
                <a:ext cx="415052" cy="41505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46FEC9F7-130A-CC43-B04E-F78BD012E564}"/>
              </a:ext>
            </a:extLst>
          </p:cNvPr>
          <p:cNvSpPr txBox="1">
            <a:spLocks/>
          </p:cNvSpPr>
          <p:nvPr/>
        </p:nvSpPr>
        <p:spPr>
          <a:xfrm>
            <a:off x="209045" y="6417653"/>
            <a:ext cx="4843288" cy="3358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/>
              <a:t>Crane, A., Matten, D., Glozer, S., &amp; Spence, L. (2019). </a:t>
            </a:r>
            <a:r>
              <a:rPr lang="en-ID" sz="700" i="1"/>
              <a:t>Business Ethics: Managing Corporate Citizenship and Sustainability in the Age of Globalization</a:t>
            </a:r>
            <a:r>
              <a:rPr lang="en-ID" sz="700"/>
              <a:t> (5th ed.). Oxford University Press.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F63DA1-2E55-9920-5F85-9969D7DFDC65}"/>
              </a:ext>
            </a:extLst>
          </p:cNvPr>
          <p:cNvCxnSpPr>
            <a:cxnSpLocks/>
          </p:cNvCxnSpPr>
          <p:nvPr/>
        </p:nvCxnSpPr>
        <p:spPr>
          <a:xfrm>
            <a:off x="6597994" y="4525142"/>
            <a:ext cx="5145814" cy="0"/>
          </a:xfrm>
          <a:prstGeom prst="line">
            <a:avLst/>
          </a:prstGeom>
          <a:ln>
            <a:solidFill>
              <a:schemeClr val="bg1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9B8C1F3-367A-C2EF-73A9-E5DB5137A57A}"/>
              </a:ext>
            </a:extLst>
          </p:cNvPr>
          <p:cNvSpPr txBox="1"/>
          <p:nvPr/>
        </p:nvSpPr>
        <p:spPr>
          <a:xfrm>
            <a:off x="7417766" y="4884933"/>
            <a:ext cx="42919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Implementasi: Kasus PT Djarum</a:t>
            </a:r>
            <a:endParaRPr lang="en-US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696469-F3B2-5290-1D3B-AF0EB84AA6E7}"/>
              </a:ext>
            </a:extLst>
          </p:cNvPr>
          <p:cNvSpPr txBox="1"/>
          <p:nvPr/>
        </p:nvSpPr>
        <p:spPr>
          <a:xfrm>
            <a:off x="6495787" y="4700267"/>
            <a:ext cx="9219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>
                <a:solidFill>
                  <a:schemeClr val="bg1">
                    <a:lumMod val="90000"/>
                  </a:schemeClr>
                </a:solidFill>
                <a:latin typeface="+mj-lt"/>
              </a:rPr>
              <a:t>5</a:t>
            </a:r>
            <a:endParaRPr lang="en-US" sz="4000" b="1" dirty="0">
              <a:solidFill>
                <a:schemeClr val="bg1">
                  <a:lumMod val="90000"/>
                </a:schemeClr>
              </a:solidFill>
              <a:latin typeface="+mj-lt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DB0E29E-813B-4833-2D3E-943A801297DD}"/>
              </a:ext>
            </a:extLst>
          </p:cNvPr>
          <p:cNvCxnSpPr>
            <a:cxnSpLocks/>
          </p:cNvCxnSpPr>
          <p:nvPr/>
        </p:nvCxnSpPr>
        <p:spPr>
          <a:xfrm>
            <a:off x="6571985" y="5537078"/>
            <a:ext cx="5145814" cy="0"/>
          </a:xfrm>
          <a:prstGeom prst="line">
            <a:avLst/>
          </a:prstGeom>
          <a:ln>
            <a:solidFill>
              <a:schemeClr val="bg1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" name="SubQ1"/>
          <p:cNvSpPr txBox="1"/>
          <p:nvPr/>
        </p:nvSpPr>
        <p:spPr>
          <a:xfrm>
            <a:off x="7378662" y="1583840"/>
            <a:ext cx="4700000" cy="24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id-ID" sz="1000" dirty="0">
                <a:solidFill>
                  <a:srgbClr val="6B6B6B"/>
                </a:solidFill>
              </a:rPr>
              <a:t>Apa itu korporasi — dan bisakah ia dimintai tanggung jawab moral?</a:t>
            </a:r>
          </a:p>
        </p:txBody>
      </p:sp>
      <p:sp>
        <p:nvSpPr>
          <p:cNvPr id="902" name="SubQ2"/>
          <p:cNvSpPr txBox="1"/>
          <p:nvPr/>
        </p:nvSpPr>
        <p:spPr>
          <a:xfrm>
            <a:off x="7378661" y="2419674"/>
            <a:ext cx="4700000" cy="24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id-ID" sz="1000" dirty="0">
                <a:solidFill>
                  <a:srgbClr val="6B6B6B"/>
                </a:solidFill>
              </a:rPr>
              <a:t>APA saja isi tanggung jawab sosial perusahaan?</a:t>
            </a:r>
          </a:p>
        </p:txBody>
      </p:sp>
      <p:sp>
        <p:nvSpPr>
          <p:cNvPr id="903" name="SubQ3"/>
          <p:cNvSpPr txBox="1"/>
          <p:nvPr/>
        </p:nvSpPr>
        <p:spPr>
          <a:xfrm>
            <a:off x="7378661" y="3284672"/>
            <a:ext cx="4700000" cy="24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id-ID" sz="1000" dirty="0">
                <a:solidFill>
                  <a:srgbClr val="6B6B6B"/>
                </a:solidFill>
              </a:rPr>
              <a:t>KEPADA SIAPA perusahaan bertanggung jawab?</a:t>
            </a:r>
          </a:p>
        </p:txBody>
      </p:sp>
      <p:sp>
        <p:nvSpPr>
          <p:cNvPr id="904" name="SubQ4"/>
          <p:cNvSpPr txBox="1"/>
          <p:nvPr/>
        </p:nvSpPr>
        <p:spPr>
          <a:xfrm>
            <a:off x="7386700" y="4221030"/>
            <a:ext cx="4700000" cy="24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id-ID" sz="1000" dirty="0">
                <a:solidFill>
                  <a:srgbClr val="6B6B6B"/>
                </a:solidFill>
              </a:rPr>
              <a:t>DENGAN KUASA APA perusahaan mengambil peran publik?</a:t>
            </a:r>
          </a:p>
        </p:txBody>
      </p:sp>
      <p:sp>
        <p:nvSpPr>
          <p:cNvPr id="905" name="SubQ5"/>
          <p:cNvSpPr txBox="1"/>
          <p:nvPr/>
        </p:nvSpPr>
        <p:spPr>
          <a:xfrm>
            <a:off x="7417766" y="5214933"/>
            <a:ext cx="4700000" cy="24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id-ID" sz="1000" dirty="0">
                <a:solidFill>
                  <a:srgbClr val="6B6B6B"/>
                </a:solidFill>
              </a:rPr>
              <a:t>Tiga teori di atas diuji pada satu kasus nyata di Indonesia</a:t>
            </a:r>
          </a:p>
        </p:txBody>
      </p:sp>
      <p:sp>
        <p:nvSpPr>
          <p:cNvPr id="910" name="FlowNote"/>
          <p:cNvSpPr txBox="1"/>
          <p:nvPr/>
        </p:nvSpPr>
        <p:spPr>
          <a:xfrm>
            <a:off x="838201" y="4560000"/>
            <a:ext cx="4200000" cy="24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id-ID" sz="1200" dirty="0">
                <a:solidFill>
                  <a:srgbClr val="6B6B6B"/>
                </a:solidFill>
              </a:rPr>
              <a:t>Lima bagian - 30 menit - teori dulu, lalu kasus PT Djarum</a:t>
            </a:r>
          </a:p>
        </p:txBody>
      </p:sp>
    </p:spTree>
    <p:extLst>
      <p:ext uri="{BB962C8B-B14F-4D97-AF65-F5344CB8AC3E}">
        <p14:creationId xmlns:p14="http://schemas.microsoft.com/office/powerpoint/2010/main" val="378651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931920"/>
            <a:ext cx="4937760" cy="4937760"/>
          </a:xfrm>
          <a:prstGeom prst="ellipse">
            <a:avLst/>
          </a:prstGeom>
          <a:ln w="16510">
            <a:solidFill>
              <a:srgbClr val="3A5A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1615" y="2114724"/>
            <a:ext cx="5434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Korporasi sebagai Entitas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Hukum dan Moral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1614" y="3392415"/>
            <a:ext cx="47722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Sebelum bertanya apa tanggung jawab sosial korporasi, kita harus lebih dulu memahami apa </a:t>
            </a:r>
            <a:r>
              <a:rPr lang="en-US" sz="1200" i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itu korporasi, dan </a:t>
            </a:r>
            <a:r>
              <a:rPr lang="en-US" sz="1200" i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apakah ia bisa bertanggung jawab secara moral.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9402775" y="2468880"/>
            <a:ext cx="1920240" cy="1920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/home/claude/icons/landmar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406" y="2718511"/>
            <a:ext cx="1420978" cy="142097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2F9D04-5925-0B08-64D5-DD2FA36FD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5895" y="0"/>
            <a:ext cx="7903140" cy="6858000"/>
          </a:xfrm>
          <a:prstGeom prst="rect">
            <a:avLst/>
          </a:prstGeom>
        </p:spPr>
      </p:pic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5AA2181A-658D-A156-EBF7-2494399A01E7}"/>
              </a:ext>
            </a:extLst>
          </p:cNvPr>
          <p:cNvSpPr txBox="1">
            <a:spLocks/>
          </p:cNvSpPr>
          <p:nvPr/>
        </p:nvSpPr>
        <p:spPr>
          <a:xfrm>
            <a:off x="209045" y="6417653"/>
            <a:ext cx="4843288" cy="3358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solidFill>
                  <a:schemeClr val="bg1"/>
                </a:solidFill>
              </a:rPr>
              <a:t>Crane, A., Matten, D., Glozer, S., &amp; Spence, L. (2019). </a:t>
            </a:r>
            <a:r>
              <a:rPr lang="en-ID" sz="700" i="1">
                <a:solidFill>
                  <a:schemeClr val="bg1"/>
                </a:solidFill>
              </a:rPr>
              <a:t>Business Ethics: Managing Corporate Citizenship and Sustainability in the Age of Globalization</a:t>
            </a:r>
            <a:r>
              <a:rPr lang="en-ID" sz="700">
                <a:solidFill>
                  <a:schemeClr val="bg1"/>
                </a:solidFill>
              </a:rPr>
              <a:t> (5th ed.). Oxford University Press.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36E3BAD-4690-853A-4A15-F68481FC9FE1}"/>
              </a:ext>
            </a:extLst>
          </p:cNvPr>
          <p:cNvSpPr/>
          <p:nvPr/>
        </p:nvSpPr>
        <p:spPr>
          <a:xfrm>
            <a:off x="548640" y="2073851"/>
            <a:ext cx="5257800" cy="2139696"/>
          </a:xfrm>
          <a:prstGeom prst="roundRect">
            <a:avLst>
              <a:gd name="adj" fmla="val 5695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254000" dist="190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1790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Identifikasi hukum sebuah korporasi menentukan tanggung jawab apa yang bisa dibebankan kepadanya.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29883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>
                <a:solidFill>
                  <a:srgbClr val="E4BE6B"/>
                </a:solidFill>
                <a:ea typeface="Calibri" pitchFamily="34" charset="-122"/>
                <a:cs typeface="Calibri" pitchFamily="34" charset="-120"/>
              </a:rPr>
              <a:t>Definisi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44768" y="1828800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Implikasi mengenai tanggung jawab perusahaan</a:t>
            </a:r>
            <a:endParaRPr lang="en-US" sz="1200" b="1" dirty="0"/>
          </a:p>
        </p:txBody>
      </p:sp>
      <p:sp>
        <p:nvSpPr>
          <p:cNvPr id="10" name="Shape 8"/>
          <p:cNvSpPr/>
          <p:nvPr/>
        </p:nvSpPr>
        <p:spPr>
          <a:xfrm>
            <a:off x="6144768" y="2249424"/>
            <a:ext cx="365760" cy="36576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44768" y="2249424"/>
            <a:ext cx="365760" cy="365760"/>
          </a:xfrm>
          <a:prstGeom prst="flowChartConnector">
            <a:avLst/>
          </a:pr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56832" y="221284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A1E"/>
                </a:solidFill>
                <a:ea typeface="Calibri" pitchFamily="34" charset="-122"/>
                <a:cs typeface="Calibri" pitchFamily="34" charset="-120"/>
              </a:rPr>
              <a:t>"Artificial person" di mata hukum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56832" y="2487168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Punya hak dan kewajiban layaknya warga negara.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44768" y="2898648"/>
            <a:ext cx="365760" cy="36576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44768" y="2898648"/>
            <a:ext cx="365760" cy="365760"/>
          </a:xfrm>
          <a:prstGeom prst="flowChartConnector">
            <a:avLst/>
          </a:pr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56832" y="286207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A1E"/>
                </a:solidFill>
                <a:ea typeface="Calibri" pitchFamily="34" charset="-122"/>
                <a:cs typeface="Calibri" pitchFamily="34" charset="-120"/>
              </a:rPr>
              <a:t>Milik pemegang saham</a:t>
            </a:r>
            <a:r>
              <a:rPr lang="en-US" sz="1200" b="1">
                <a:solidFill>
                  <a:srgbClr val="241A1E"/>
                </a:solidFill>
                <a:ea typeface="Calibri" pitchFamily="34" charset="-122"/>
                <a:cs typeface="Calibri" pitchFamily="34" charset="-120"/>
              </a:rPr>
              <a:t>, tapi </a:t>
            </a:r>
            <a:r>
              <a:rPr lang="en-US" sz="1200" b="1" dirty="0">
                <a:solidFill>
                  <a:srgbClr val="241A1E"/>
                </a:solidFill>
                <a:ea typeface="Calibri" pitchFamily="34" charset="-122"/>
                <a:cs typeface="Calibri" pitchFamily="34" charset="-120"/>
              </a:rPr>
              <a:t>berdiri sendiri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56832" y="3136392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Perusahaan memiliki asetnya sendiri, dan pemegang </a:t>
            </a:r>
            <a:r>
              <a:rPr lang="en-US" sz="12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saham tidak menanggung utang atau </a:t>
            </a:r>
            <a:r>
              <a:rPr lang="en-US" sz="120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kerugian Perusahaan.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44768" y="3703320"/>
            <a:ext cx="365760" cy="36576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44768" y="3703320"/>
            <a:ext cx="365760" cy="365760"/>
          </a:xfrm>
          <a:prstGeom prst="flowChartConnector">
            <a:avLst/>
          </a:pr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56832" y="366674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41A1E"/>
                </a:solidFill>
                <a:ea typeface="Calibri" pitchFamily="34" charset="-122"/>
                <a:cs typeface="Calibri" pitchFamily="34" charset="-120"/>
              </a:rPr>
              <a:t>Pengurus memikul tanggung jawab fiduciary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56832" y="3941064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Wajib menjaga dan bertindak demi kepentingan investasi pemegang saham.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645152"/>
            <a:ext cx="11064240" cy="1170432"/>
          </a:xfrm>
          <a:prstGeom prst="roundRect">
            <a:avLst>
              <a:gd name="adj" fmla="val 4688"/>
            </a:avLst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1248" y="4828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2F39"/>
                </a:solidFill>
                <a:ea typeface="Cambria" pitchFamily="34" charset="-122"/>
                <a:cs typeface="Cambria" pitchFamily="34" charset="-120"/>
              </a:rPr>
              <a:t>Tetapi tanggung jawab hukum belum sama dengan tanggung jawab moral.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51389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Seseorang bisa merasa bangga atau malu atas perbuatannya. Kita tidak bisa mengatakan hal yang sama tentang entitas tak bernyawa. Karena itu pertanyaannya harus dipertajam: bisakah korporasi bertanggung jawab secara moral?</a:t>
            </a:r>
            <a:endParaRPr lang="en-US" sz="1200" dirty="0"/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5313C055-4E21-C0E0-6D47-5B7FC1A5B777}"/>
              </a:ext>
            </a:extLst>
          </p:cNvPr>
          <p:cNvSpPr txBox="1">
            <a:spLocks/>
          </p:cNvSpPr>
          <p:nvPr/>
        </p:nvSpPr>
        <p:spPr>
          <a:xfrm>
            <a:off x="209044" y="6545656"/>
            <a:ext cx="10405537" cy="312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/>
              <a:t>Crane, A., Matten, D., Glozer, S., &amp; Spence, L. (2019). </a:t>
            </a:r>
            <a:r>
              <a:rPr lang="en-ID" sz="700" i="1"/>
              <a:t>Business Ethics: Managing Corporate Citizenship and Sustainability in the Age of Globalization</a:t>
            </a:r>
            <a:r>
              <a:rPr lang="en-ID" sz="700"/>
              <a:t> (5th ed.). Oxford University Press.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3CFD09-E396-50B4-015F-31D9EBF7F4CE}"/>
              </a:ext>
            </a:extLst>
          </p:cNvPr>
          <p:cNvSpPr txBox="1"/>
          <p:nvPr/>
        </p:nvSpPr>
        <p:spPr>
          <a:xfrm>
            <a:off x="240009" y="192827"/>
            <a:ext cx="4928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</a:rPr>
              <a:t>What is </a:t>
            </a:r>
            <a:r>
              <a:rPr lang="en-US" sz="2000" b="1">
                <a:solidFill>
                  <a:schemeClr val="accent1"/>
                </a:solidFill>
                <a:latin typeface="+mj-lt"/>
              </a:rPr>
              <a:t>a Corporation?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4EF7E2DC-9A03-4D0A-2167-D0638CF813D8}"/>
              </a:ext>
            </a:extLst>
          </p:cNvPr>
          <p:cNvSpPr txBox="1"/>
          <p:nvPr/>
        </p:nvSpPr>
        <p:spPr>
          <a:xfrm>
            <a:off x="548640" y="942221"/>
            <a:ext cx="11064240" cy="40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400" b="1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korporasi?</a:t>
            </a:r>
            <a:endParaRPr lang="en-US" sz="2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273B6B-AA1D-2983-734C-7DF3A0F2F96F}"/>
              </a:ext>
            </a:extLst>
          </p:cNvPr>
          <p:cNvSpPr txBox="1"/>
          <p:nvPr/>
        </p:nvSpPr>
        <p:spPr>
          <a:xfrm>
            <a:off x="715518" y="2646314"/>
            <a:ext cx="49240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>
                <a:solidFill>
                  <a:schemeClr val="bg1"/>
                </a:solidFill>
              </a:rPr>
              <a:t>"Korporasi adalah badan hukum yang berdiri sendiri: punya identitas, aset, dan budaya sendiri, bisa mengambil keputusan melalui organisasinya - sehingga bisa dimintai tanggung jawab atas dampak tindakannya."</a:t>
            </a:r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7AC6C8EA-0178-9BA5-897C-0041D922EA46}"/>
              </a:ext>
            </a:extLst>
          </p:cNvPr>
          <p:cNvSpPr txBox="1">
            <a:spLocks/>
          </p:cNvSpPr>
          <p:nvPr/>
        </p:nvSpPr>
        <p:spPr>
          <a:xfrm>
            <a:off x="10793500" y="6417654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100" dirty="0">
                <a:solidFill>
                  <a:schemeClr val="tx1"/>
                </a:solidFill>
              </a:rPr>
              <a:t>Page  |  </a:t>
            </a:r>
            <a:fld id="{28718D47-A015-4C76-8C97-DE3515A3C496}" type="slidenum">
              <a:rPr lang="en-US" sz="1000" b="1" smtClean="0">
                <a:solidFill>
                  <a:schemeClr val="tx1"/>
                </a:solidFill>
              </a:rPr>
              <a:pPr/>
              <a:t>5</a:t>
            </a:fld>
            <a:endParaRPr lang="en-US" sz="1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90728" y="74615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900"/>
              </a:lnSpc>
            </a:pPr>
            <a:r>
              <a:rPr lang="en-US" sz="2400" b="1"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Empat Alasan Korporasi Bisa Memikul Tanggung Jawab Moral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8160" y="2048256"/>
            <a:ext cx="5440680" cy="1682496"/>
          </a:xfrm>
          <a:prstGeom prst="roundRect">
            <a:avLst>
              <a:gd name="adj" fmla="val 3261"/>
            </a:avLst>
          </a:prstGeom>
          <a:solidFill>
            <a:srgbClr val="F3F0F1"/>
          </a:solidFill>
          <a:ln/>
        </p:spPr>
      </p:sp>
      <p:sp>
        <p:nvSpPr>
          <p:cNvPr id="5" name="Shape 3"/>
          <p:cNvSpPr/>
          <p:nvPr/>
        </p:nvSpPr>
        <p:spPr>
          <a:xfrm>
            <a:off x="774192" y="2267712"/>
            <a:ext cx="420624" cy="420624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4192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41120" y="2267712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Legal Identity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4192" y="2816352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Korporasi membuat kontrak, membayar pajak, menjamin keamanan produk, menuntut dan dituntut, serta mengklaim sejumlah hak.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41720" y="2048256"/>
            <a:ext cx="5440680" cy="1682496"/>
          </a:xfrm>
          <a:prstGeom prst="roundRect">
            <a:avLst>
              <a:gd name="adj" fmla="val 3261"/>
            </a:avLst>
          </a:prstGeom>
          <a:solidFill>
            <a:srgbClr val="F3F0F1"/>
          </a:solidFill>
          <a:ln/>
        </p:spPr>
      </p:sp>
      <p:sp>
        <p:nvSpPr>
          <p:cNvPr id="10" name="Shape 8"/>
          <p:cNvSpPr/>
          <p:nvPr/>
        </p:nvSpPr>
        <p:spPr>
          <a:xfrm>
            <a:off x="6397752" y="2267712"/>
            <a:ext cx="420624" cy="420624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97752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64680" y="2267712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Agency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97752" y="2816352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Perusahaan bisa memutuskan dan bertindak lepas dari individu di dalamnya - melalui kebijakan dan prosedur internalnya (French 1979; Moore 1999).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8160" y="3895344"/>
            <a:ext cx="5440680" cy="1682496"/>
          </a:xfrm>
          <a:prstGeom prst="roundRect">
            <a:avLst>
              <a:gd name="adj" fmla="val 3261"/>
            </a:avLst>
          </a:prstGeom>
          <a:solidFill>
            <a:srgbClr val="F3F0F1"/>
          </a:solidFill>
          <a:ln/>
        </p:spPr>
      </p:sp>
      <p:sp>
        <p:nvSpPr>
          <p:cNvPr id="15" name="Shape 13"/>
          <p:cNvSpPr/>
          <p:nvPr/>
        </p:nvSpPr>
        <p:spPr>
          <a:xfrm>
            <a:off x="774192" y="4114800"/>
            <a:ext cx="420624" cy="420624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4192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41120" y="411480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Organizational Culture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4192" y="4663440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Korporasi memiliki seperangkat nilai dan keyakinan tentang apa yang benar dan salah, yang memengaruhi pengambilan keputusan etis individu di dalamnya.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41720" y="3895344"/>
            <a:ext cx="5440680" cy="1682496"/>
          </a:xfrm>
          <a:prstGeom prst="roundRect">
            <a:avLst>
              <a:gd name="adj" fmla="val 3261"/>
            </a:avLst>
          </a:prstGeom>
          <a:solidFill>
            <a:srgbClr val="F3F0F1"/>
          </a:solidFill>
          <a:ln/>
        </p:spPr>
      </p:sp>
      <p:sp>
        <p:nvSpPr>
          <p:cNvPr id="20" name="Shape 18"/>
          <p:cNvSpPr/>
          <p:nvPr/>
        </p:nvSpPr>
        <p:spPr>
          <a:xfrm>
            <a:off x="6397752" y="4114800"/>
            <a:ext cx="420624" cy="420624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97752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64680" y="411480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Functional Identity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97752" y="4663440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Korporasi tampil dan berinteraksi dengan konsumen serta stakeholder seolah-olah ia pribadi tersendiri, bahkan membangun identitas sebagai "warga" yang baik.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8160" y="576986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00206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0768" y="5769864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Korporasi </a:t>
            </a: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memang memiliki tanggung jawab moral, dan tanggung jawab itu lebih dari sekadar penjumlahan tanggung jawab individu di dalamnya.</a:t>
            </a:r>
            <a:endParaRPr lang="en-US" sz="1200" dirty="0"/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45DF4A8-BBDC-81CB-B253-5BE1181D8F44}"/>
              </a:ext>
            </a:extLst>
          </p:cNvPr>
          <p:cNvSpPr txBox="1">
            <a:spLocks/>
          </p:cNvSpPr>
          <p:nvPr/>
        </p:nvSpPr>
        <p:spPr>
          <a:xfrm>
            <a:off x="209044" y="6545656"/>
            <a:ext cx="10405537" cy="312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latin typeface="+mn-lt"/>
              </a:rPr>
              <a:t>Crane, A., Matten, D., Glozer, S., &amp; Spence, L. (2019). </a:t>
            </a:r>
            <a:r>
              <a:rPr lang="en-ID" sz="700" i="1">
                <a:latin typeface="+mn-lt"/>
              </a:rPr>
              <a:t>Business Ethics: Managing Corporate Citizenship and Sustainability in the Age of Globalization</a:t>
            </a:r>
            <a:r>
              <a:rPr lang="en-ID" sz="700">
                <a:latin typeface="+mn-lt"/>
              </a:rPr>
              <a:t> (5th ed.). Oxford University Press.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D22C41-A68D-01F6-235A-CC7D5F7D68B2}"/>
              </a:ext>
            </a:extLst>
          </p:cNvPr>
          <p:cNvSpPr txBox="1"/>
          <p:nvPr/>
        </p:nvSpPr>
        <p:spPr>
          <a:xfrm>
            <a:off x="240009" y="192827"/>
            <a:ext cx="4928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</a:rPr>
              <a:t>What is </a:t>
            </a:r>
            <a:r>
              <a:rPr lang="en-US" sz="2000" b="1">
                <a:solidFill>
                  <a:schemeClr val="accent1"/>
                </a:solidFill>
                <a:latin typeface="+mj-lt"/>
              </a:rPr>
              <a:t>a Corporation?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545E7E2D-F411-8D4C-B547-0CD490F30FA0}"/>
              </a:ext>
            </a:extLst>
          </p:cNvPr>
          <p:cNvSpPr txBox="1">
            <a:spLocks/>
          </p:cNvSpPr>
          <p:nvPr/>
        </p:nvSpPr>
        <p:spPr>
          <a:xfrm>
            <a:off x="10793500" y="6417654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100" dirty="0">
                <a:solidFill>
                  <a:schemeClr val="tx1"/>
                </a:solidFill>
              </a:rPr>
              <a:t>Page  |  </a:t>
            </a:r>
            <a:fld id="{28718D47-A015-4C76-8C97-DE3515A3C496}" type="slidenum">
              <a:rPr lang="en-US" sz="1000" b="1" smtClean="0">
                <a:solidFill>
                  <a:schemeClr val="tx1"/>
                </a:solidFill>
              </a:rPr>
              <a:pPr/>
              <a:t>6</a:t>
            </a:fld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31EBF6-5508-817F-BE2E-8CB1FF883C34}"/>
              </a:ext>
            </a:extLst>
          </p:cNvPr>
          <p:cNvSpPr txBox="1"/>
          <p:nvPr/>
        </p:nvSpPr>
        <p:spPr>
          <a:xfrm>
            <a:off x="452372" y="1433376"/>
            <a:ext cx="111300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/>
              <a:t>Apakah perusahaan hanya kumpulan individu di bawah satu atap, atau entitas tersendiri yang bisa memikul tanggung jawab moral? Empat ciri berikut menunjukkan: ia entitas tersendiri.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931920"/>
            <a:ext cx="4937760" cy="4937760"/>
          </a:xfrm>
          <a:prstGeom prst="ellipse">
            <a:avLst/>
          </a:prstGeom>
          <a:ln w="16510">
            <a:solidFill>
              <a:srgbClr val="3A5A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1615" y="2114724"/>
            <a:ext cx="522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Corporate Social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Responsibility (CSR)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1615" y="3382988"/>
            <a:ext cx="45248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15000"/>
              </a:lnSpc>
              <a:defRPr/>
            </a:pPr>
            <a:r>
              <a:rPr lang="en-US" sz="1200" i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Dua pertanyaan yang memandu seluruh literatur CSR:</a:t>
            </a:r>
            <a:endParaRPr lang="en-US" sz="1200" i="1">
              <a:solidFill>
                <a:schemeClr val="bg1"/>
              </a:solidFill>
            </a:endParaRPr>
          </a:p>
          <a:p>
            <a:pPr lvl="0">
              <a:lnSpc>
                <a:spcPct val="115000"/>
              </a:lnSpc>
              <a:defRPr/>
            </a:pPr>
            <a:r>
              <a:rPr lang="en-US" sz="1200" i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Mengapa perusahaan punya tanggung jawab sosial ? dan apa sebenarnya isi tanggung jawab itu?</a:t>
            </a:r>
            <a:endParaRPr lang="en-US" sz="1200" i="1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9402775" y="2468880"/>
            <a:ext cx="1920240" cy="1920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/home/claude/icons/handHoldingHear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406" y="2718511"/>
            <a:ext cx="1420978" cy="142097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245865-45FB-6496-6C57-ED362CA266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5895" y="0"/>
            <a:ext cx="10287000" cy="6858000"/>
          </a:xfrm>
          <a:prstGeom prst="rect">
            <a:avLst/>
          </a:prstGeom>
        </p:spPr>
      </p:pic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9498F40C-2C73-4E13-A2E5-019CD31B69FF}"/>
              </a:ext>
            </a:extLst>
          </p:cNvPr>
          <p:cNvSpPr txBox="1">
            <a:spLocks/>
          </p:cNvSpPr>
          <p:nvPr/>
        </p:nvSpPr>
        <p:spPr>
          <a:xfrm>
            <a:off x="209045" y="6417653"/>
            <a:ext cx="4843288" cy="3358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solidFill>
                  <a:schemeClr val="bg1"/>
                </a:solidFill>
              </a:rPr>
              <a:t>Crane, A., Matten, D., Glozer, S., &amp; Spence, L. (2019). </a:t>
            </a:r>
            <a:r>
              <a:rPr lang="en-ID" sz="700" i="1">
                <a:solidFill>
                  <a:schemeClr val="bg1"/>
                </a:solidFill>
              </a:rPr>
              <a:t>Business Ethics: Managing Corporate Citizenship and Sustainability in the Age of Globalization</a:t>
            </a:r>
            <a:r>
              <a:rPr lang="en-ID" sz="700">
                <a:solidFill>
                  <a:schemeClr val="bg1"/>
                </a:solidFill>
              </a:rPr>
              <a:t> (5th ed.). Oxford University Press.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B2B1DED-F6D0-0DAF-A54C-8975D858FF76}"/>
              </a:ext>
            </a:extLst>
          </p:cNvPr>
          <p:cNvSpPr/>
          <p:nvPr/>
        </p:nvSpPr>
        <p:spPr>
          <a:xfrm>
            <a:off x="448304" y="1523536"/>
            <a:ext cx="5072690" cy="927404"/>
          </a:xfrm>
          <a:prstGeom prst="roundRect">
            <a:avLst>
              <a:gd name="adj" fmla="val 5695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254000" dist="190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6E73223A-4ED1-E74F-5068-2F4FC2B8CE0C}"/>
              </a:ext>
            </a:extLst>
          </p:cNvPr>
          <p:cNvSpPr/>
          <p:nvPr/>
        </p:nvSpPr>
        <p:spPr>
          <a:xfrm>
            <a:off x="8620810" y="4932161"/>
            <a:ext cx="2840698" cy="1327933"/>
          </a:xfrm>
          <a:prstGeom prst="roundRect">
            <a:avLst>
              <a:gd name="adj" fmla="val 3200"/>
            </a:avLst>
          </a:prstGeom>
          <a:solidFill>
            <a:srgbClr val="F5F7FC"/>
          </a:solidFill>
          <a:ln/>
          <a:effectLst>
            <a:outerShdw blurRad="63500" dist="25400" dir="5400000" algn="bl" rotWithShape="0">
              <a:srgbClr val="9AA5C4">
                <a:alpha val="30000"/>
              </a:srgbClr>
            </a:outerShdw>
          </a:effectLst>
        </p:spPr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D648115C-60BB-71AB-2B61-83AC962291A9}"/>
              </a:ext>
            </a:extLst>
          </p:cNvPr>
          <p:cNvSpPr/>
          <p:nvPr/>
        </p:nvSpPr>
        <p:spPr>
          <a:xfrm>
            <a:off x="8620810" y="3180524"/>
            <a:ext cx="2881046" cy="1327933"/>
          </a:xfrm>
          <a:prstGeom prst="roundRect">
            <a:avLst>
              <a:gd name="adj" fmla="val 3200"/>
            </a:avLst>
          </a:prstGeom>
          <a:solidFill>
            <a:srgbClr val="F5F7FC"/>
          </a:solidFill>
          <a:ln/>
          <a:effectLst>
            <a:outerShdw blurRad="63500" dist="25400" dir="5400000" algn="bl" rotWithShape="0">
              <a:srgbClr val="9AA5C4">
                <a:alpha val="3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330129" y="1022634"/>
            <a:ext cx="10881360" cy="40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000" b="1">
                <a:latin typeface="Cambria" pitchFamily="34" charset="0"/>
                <a:ea typeface="Cambria" pitchFamily="34" charset="-122"/>
                <a:cs typeface="Cambria" pitchFamily="34" charset="-120"/>
              </a:rPr>
              <a:t>CSR </a:t>
            </a: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yang Baik untuk Masyarakat, Baik untuk Bisnis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90144" y="1612327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9A227"/>
                </a:solidFill>
                <a:ea typeface="Calibri" pitchFamily="34" charset="-122"/>
                <a:cs typeface="Calibri" pitchFamily="34" charset="-120"/>
              </a:rPr>
              <a:t>DEFINISI CSR</a:t>
            </a:r>
            <a:endParaRPr lang="en-US" sz="1000" b="1" dirty="0"/>
          </a:p>
        </p:txBody>
      </p:sp>
      <p:sp>
        <p:nvSpPr>
          <p:cNvPr id="6" name="Text 4"/>
          <p:cNvSpPr txBox="1"/>
          <p:nvPr/>
        </p:nvSpPr>
        <p:spPr>
          <a:xfrm>
            <a:off x="674674" y="192100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Upaya perusahaan memenuhi tuntutan ekonomi, hukum, etis, dan filantropis dari masyarakat pada suatu waktu tertentu.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03874" y="1527814"/>
            <a:ext cx="5833872" cy="927404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78194" y="1655830"/>
            <a:ext cx="5349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Sebagian besar argumen CSR bertumpu pada enlightened self-interest: CSR dijalankan karena sejalan dengan kepentingan perusahaan sendiri. Di baliknya ada tiga argumen moral - externalities: menanggung dampak yang jatuh ke pihak luar; power: kuasa besar menuntut tanggung jawab besar; dependency: perusahaan dan masyarakat saling bergantung.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458191" y="2678726"/>
            <a:ext cx="6566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  <a:ea typeface="Calibri" pitchFamily="34" charset="-122"/>
                <a:cs typeface="Calibri" pitchFamily="34" charset="-120"/>
              </a:rPr>
              <a:t>THE BUSINESS CASE FOR CSR — EMPAT PENDORONG UTAMA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5" y="3180525"/>
            <a:ext cx="2581580" cy="1327933"/>
          </a:xfrm>
          <a:prstGeom prst="roundRect">
            <a:avLst>
              <a:gd name="adj" fmla="val 3200"/>
            </a:avLst>
          </a:prstGeom>
          <a:solidFill>
            <a:srgbClr val="F5F7FC"/>
          </a:solidFill>
          <a:ln/>
          <a:effectLst>
            <a:outerShdw blurRad="63500" dist="25400" dir="5400000" algn="bl" rotWithShape="0">
              <a:srgbClr val="9AA5C4">
                <a:alpha val="30000"/>
              </a:srgbClr>
            </a:outerShdw>
          </a:effectLst>
        </p:spPr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5C761FD-A86A-E7FD-BDA8-611BB62C9AA9}"/>
              </a:ext>
            </a:extLst>
          </p:cNvPr>
          <p:cNvGrpSpPr/>
          <p:nvPr/>
        </p:nvGrpSpPr>
        <p:grpSpPr>
          <a:xfrm>
            <a:off x="690144" y="3371517"/>
            <a:ext cx="377989" cy="377989"/>
            <a:chOff x="1459955" y="2944368"/>
            <a:chExt cx="685800" cy="685800"/>
          </a:xfrm>
        </p:grpSpPr>
        <p:sp>
          <p:nvSpPr>
            <p:cNvPr id="11" name="Shape 9"/>
            <p:cNvSpPr/>
            <p:nvPr/>
          </p:nvSpPr>
          <p:spPr>
            <a:xfrm>
              <a:off x="1459955" y="2944368"/>
              <a:ext cx="685800" cy="685800"/>
            </a:xfrm>
            <a:prstGeom prst="ellipse">
              <a:avLst/>
            </a:prstGeom>
            <a:solidFill>
              <a:srgbClr val="1E2761"/>
            </a:solidFill>
            <a:ln/>
          </p:spPr>
        </p:sp>
        <p:pic>
          <p:nvPicPr>
            <p:cNvPr id="12" name="Image 0" descr="/home/claude/icons/chartLine_whit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9109" y="3033522"/>
              <a:ext cx="507492" cy="507492"/>
            </a:xfrm>
            <a:prstGeom prst="rect">
              <a:avLst/>
            </a:prstGeom>
          </p:spPr>
        </p:pic>
      </p:grpSp>
      <p:sp>
        <p:nvSpPr>
          <p:cNvPr id="13" name="Text 10"/>
          <p:cNvSpPr txBox="1"/>
          <p:nvPr/>
        </p:nvSpPr>
        <p:spPr>
          <a:xfrm>
            <a:off x="944176" y="3454845"/>
            <a:ext cx="18470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ea typeface="Cambria" pitchFamily="34" charset="-122"/>
                <a:cs typeface="Cambria" pitchFamily="34" charset="-120"/>
              </a:rPr>
              <a:t>Enhance Revenue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15849" y="3842017"/>
            <a:ext cx="2174010" cy="543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Pelanggan &amp; karyawan lebih puas dan loyal terhadap perusahaan yang bertanggung jawab sosial.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512065" y="4969634"/>
            <a:ext cx="2581580" cy="1327933"/>
          </a:xfrm>
          <a:prstGeom prst="roundRect">
            <a:avLst>
              <a:gd name="adj" fmla="val 3200"/>
            </a:avLst>
          </a:prstGeom>
          <a:solidFill>
            <a:srgbClr val="F5F7FC"/>
          </a:solidFill>
          <a:ln/>
          <a:effectLst>
            <a:outerShdw blurRad="63500" dist="25400" dir="5400000" algn="bl" rotWithShape="0">
              <a:srgbClr val="9AA5C4">
                <a:alpha val="30000"/>
              </a:srgbClr>
            </a:outerShdw>
          </a:effectLst>
        </p:spPr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29E07E4-5C78-2FD2-3D22-558F1362420B}"/>
              </a:ext>
            </a:extLst>
          </p:cNvPr>
          <p:cNvGrpSpPr/>
          <p:nvPr/>
        </p:nvGrpSpPr>
        <p:grpSpPr>
          <a:xfrm>
            <a:off x="730493" y="5152340"/>
            <a:ext cx="399991" cy="399991"/>
            <a:chOff x="1404401" y="5559552"/>
            <a:chExt cx="685800" cy="685800"/>
          </a:xfrm>
        </p:grpSpPr>
        <p:sp>
          <p:nvSpPr>
            <p:cNvPr id="16" name="Shape 13"/>
            <p:cNvSpPr/>
            <p:nvPr/>
          </p:nvSpPr>
          <p:spPr>
            <a:xfrm>
              <a:off x="1404401" y="5559552"/>
              <a:ext cx="685800" cy="685800"/>
            </a:xfrm>
            <a:prstGeom prst="ellipse">
              <a:avLst/>
            </a:prstGeom>
            <a:solidFill>
              <a:srgbClr val="1E2761"/>
            </a:solidFill>
            <a:ln/>
          </p:spPr>
        </p:sp>
        <p:pic>
          <p:nvPicPr>
            <p:cNvPr id="17" name="Image 1" descr="/home/claude/icons/coins_whit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93555" y="5648706"/>
              <a:ext cx="507492" cy="507492"/>
            </a:xfrm>
            <a:prstGeom prst="rect">
              <a:avLst/>
            </a:prstGeom>
          </p:spPr>
        </p:pic>
      </p:grpSp>
      <p:sp>
        <p:nvSpPr>
          <p:cNvPr id="18" name="Text 14"/>
          <p:cNvSpPr txBox="1"/>
          <p:nvPr/>
        </p:nvSpPr>
        <p:spPr>
          <a:xfrm>
            <a:off x="989610" y="5254508"/>
            <a:ext cx="1619629" cy="25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ea typeface="Cambria" pitchFamily="34" charset="-122"/>
                <a:cs typeface="Cambria" pitchFamily="34" charset="-120"/>
              </a:rPr>
              <a:t>Reduce Costs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58233" y="5735037"/>
            <a:ext cx="2418971" cy="39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Efisiensi energi &amp; limbah menekan biaya — Walmart diperkirakan hemat US$1 miliar.</a:t>
            </a:r>
            <a:endParaRPr lang="en-US" sz="93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6771BE-4570-14E4-B3F1-0A46E478BE5F}"/>
              </a:ext>
            </a:extLst>
          </p:cNvPr>
          <p:cNvGrpSpPr/>
          <p:nvPr/>
        </p:nvGrpSpPr>
        <p:grpSpPr>
          <a:xfrm>
            <a:off x="8893683" y="3345117"/>
            <a:ext cx="377989" cy="377989"/>
            <a:chOff x="10198418" y="2537460"/>
            <a:chExt cx="685800" cy="685800"/>
          </a:xfrm>
        </p:grpSpPr>
        <p:sp>
          <p:nvSpPr>
            <p:cNvPr id="21" name="Shape 17"/>
            <p:cNvSpPr/>
            <p:nvPr/>
          </p:nvSpPr>
          <p:spPr>
            <a:xfrm>
              <a:off x="10198418" y="2537460"/>
              <a:ext cx="685800" cy="685800"/>
            </a:xfrm>
            <a:prstGeom prst="ellipse">
              <a:avLst/>
            </a:prstGeom>
            <a:solidFill>
              <a:srgbClr val="1E2761"/>
            </a:solidFill>
            <a:ln/>
          </p:spPr>
        </p:sp>
        <p:pic>
          <p:nvPicPr>
            <p:cNvPr id="22" name="Image 2" descr="/home/claude/icons/exclamationTriangle_whit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87572" y="2626614"/>
              <a:ext cx="507492" cy="507492"/>
            </a:xfrm>
            <a:prstGeom prst="rect">
              <a:avLst/>
            </a:prstGeom>
          </p:spPr>
        </p:pic>
      </p:grpSp>
      <p:sp>
        <p:nvSpPr>
          <p:cNvPr id="23" name="Text 18"/>
          <p:cNvSpPr txBox="1"/>
          <p:nvPr/>
        </p:nvSpPr>
        <p:spPr>
          <a:xfrm>
            <a:off x="8801423" y="3346939"/>
            <a:ext cx="2307260" cy="3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ea typeface="Cambria" pitchFamily="34" charset="-122"/>
                <a:cs typeface="Cambria" pitchFamily="34" charset="-120"/>
              </a:rPr>
              <a:t>Manage Risk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959093" y="3753051"/>
            <a:ext cx="22523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Komitmen sukarela mencegah regulasi ketat — respons pasca insiden Rana Plaza (2013).</a:t>
            </a:r>
            <a:endParaRPr lang="en-US" sz="93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16CF8F9-CAFB-AC1D-56BD-099F146BBB93}"/>
              </a:ext>
            </a:extLst>
          </p:cNvPr>
          <p:cNvGrpSpPr/>
          <p:nvPr/>
        </p:nvGrpSpPr>
        <p:grpSpPr>
          <a:xfrm>
            <a:off x="8801423" y="5066297"/>
            <a:ext cx="377989" cy="377989"/>
            <a:chOff x="12660342" y="4679442"/>
            <a:chExt cx="685800" cy="685800"/>
          </a:xfrm>
        </p:grpSpPr>
        <p:sp>
          <p:nvSpPr>
            <p:cNvPr id="26" name="Shape 21"/>
            <p:cNvSpPr/>
            <p:nvPr/>
          </p:nvSpPr>
          <p:spPr>
            <a:xfrm>
              <a:off x="12660342" y="4679442"/>
              <a:ext cx="685800" cy="685800"/>
            </a:xfrm>
            <a:prstGeom prst="ellipse">
              <a:avLst/>
            </a:prstGeom>
            <a:solidFill>
              <a:srgbClr val="1E2761"/>
            </a:solidFill>
            <a:ln/>
          </p:spPr>
        </p:sp>
        <p:pic>
          <p:nvPicPr>
            <p:cNvPr id="27" name="Image 3" descr="/home/claude/icons/handshake_whit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749496" y="4768596"/>
              <a:ext cx="507492" cy="507492"/>
            </a:xfrm>
            <a:prstGeom prst="rect">
              <a:avLst/>
            </a:prstGeom>
          </p:spPr>
        </p:pic>
      </p:grpSp>
      <p:sp>
        <p:nvSpPr>
          <p:cNvPr id="28" name="Text 22"/>
          <p:cNvSpPr txBox="1"/>
          <p:nvPr/>
        </p:nvSpPr>
        <p:spPr>
          <a:xfrm>
            <a:off x="9075743" y="4973461"/>
            <a:ext cx="230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ea typeface="Cambria" pitchFamily="34" charset="-122"/>
                <a:cs typeface="Cambria" pitchFamily="34" charset="-120"/>
              </a:rPr>
              <a:t>Social Licence to Operate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959093" y="5456471"/>
            <a:ext cx="22523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Menjaga persetujuan komunitas lokal, karyawan, dan pemerintah untuk terus beroperasi.</a:t>
            </a:r>
            <a:endParaRPr lang="en-US" sz="930" dirty="0"/>
          </a:p>
        </p:txBody>
      </p:sp>
      <p:sp>
        <p:nvSpPr>
          <p:cNvPr id="31" name="Text 25"/>
          <p:cNvSpPr txBox="1"/>
          <p:nvPr/>
        </p:nvSpPr>
        <p:spPr>
          <a:xfrm>
            <a:off x="13195038" y="60670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16B7DC-3054-E784-93EE-E3A6B7990716}"/>
              </a:ext>
            </a:extLst>
          </p:cNvPr>
          <p:cNvSpPr txBox="1"/>
          <p:nvPr/>
        </p:nvSpPr>
        <p:spPr>
          <a:xfrm>
            <a:off x="240009" y="192827"/>
            <a:ext cx="4928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</a:rPr>
              <a:t>Corporate Social </a:t>
            </a:r>
            <a:r>
              <a:rPr lang="en-US" sz="2000" b="1">
                <a:solidFill>
                  <a:schemeClr val="accent1"/>
                </a:solidFill>
                <a:latin typeface="+mj-lt"/>
              </a:rPr>
              <a:t>Responsibility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173E768-514C-1AEB-6B17-F092BEEAE6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7678" y="3097997"/>
            <a:ext cx="4311972" cy="310462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9A1CD9B-7CD1-21B7-117C-6AEEE0FB191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80653" y="5202170"/>
            <a:ext cx="409154" cy="40915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9FF58A1-E32A-75DA-65D0-6FC2DF22C4D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70813" y="3719113"/>
            <a:ext cx="409154" cy="40915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A1CD20E-1E98-9B59-E09A-0492262E1D48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3303402" y="3700368"/>
            <a:ext cx="381552" cy="40915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05F10D0-4521-8416-1893-C1221E53A304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3318826" y="5245673"/>
            <a:ext cx="381552" cy="409154"/>
          </a:xfrm>
          <a:prstGeom prst="rect">
            <a:avLst/>
          </a:prstGeom>
        </p:spPr>
      </p:pic>
      <p:sp>
        <p:nvSpPr>
          <p:cNvPr id="55" name="Text Placeholder 1">
            <a:extLst>
              <a:ext uri="{FF2B5EF4-FFF2-40B4-BE49-F238E27FC236}">
                <a16:creationId xmlns:a16="http://schemas.microsoft.com/office/drawing/2014/main" id="{E4B18130-9E1E-ED97-2590-D77CBC2CEFFC}"/>
              </a:ext>
            </a:extLst>
          </p:cNvPr>
          <p:cNvSpPr txBox="1">
            <a:spLocks/>
          </p:cNvSpPr>
          <p:nvPr/>
        </p:nvSpPr>
        <p:spPr>
          <a:xfrm>
            <a:off x="209044" y="6545656"/>
            <a:ext cx="10405537" cy="312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latin typeface="+mn-lt"/>
              </a:rPr>
              <a:t>Crane, A., Matten, D., Glozer, S., &amp; Spence, L. (2019). </a:t>
            </a:r>
            <a:r>
              <a:rPr lang="en-ID" sz="700" i="1">
                <a:latin typeface="+mn-lt"/>
              </a:rPr>
              <a:t>Business Ethics: Managing Corporate Citizenship and Sustainability in the Age of Globalization</a:t>
            </a:r>
            <a:r>
              <a:rPr lang="en-ID" sz="700">
                <a:latin typeface="+mn-lt"/>
              </a:rPr>
              <a:t> (5th ed.). Oxford University Press.</a:t>
            </a:r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66BD8626-8B09-3923-0052-710EBB9DDE20}"/>
              </a:ext>
            </a:extLst>
          </p:cNvPr>
          <p:cNvSpPr txBox="1">
            <a:spLocks/>
          </p:cNvSpPr>
          <p:nvPr/>
        </p:nvSpPr>
        <p:spPr>
          <a:xfrm>
            <a:off x="10793500" y="6417654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100" dirty="0">
                <a:solidFill>
                  <a:schemeClr val="tx1"/>
                </a:solidFill>
              </a:rPr>
              <a:t>Page  |  </a:t>
            </a:r>
            <a:fld id="{28718D47-A015-4C76-8C97-DE3515A3C496}" type="slidenum">
              <a:rPr lang="en-US" sz="1000" b="1" smtClean="0">
                <a:solidFill>
                  <a:schemeClr val="tx1"/>
                </a:solidFill>
              </a:rPr>
              <a:pPr/>
              <a:t>8</a:t>
            </a:fld>
            <a:endParaRPr lang="en-US" sz="1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CEC5C-F98C-1B28-0309-7B9FB5DBA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5">
            <a:extLst>
              <a:ext uri="{FF2B5EF4-FFF2-40B4-BE49-F238E27FC236}">
                <a16:creationId xmlns:a16="http://schemas.microsoft.com/office/drawing/2014/main" id="{48ECA926-ABB9-8E7E-01CF-CD8D95ED640D}"/>
              </a:ext>
            </a:extLst>
          </p:cNvPr>
          <p:cNvSpPr txBox="1"/>
          <p:nvPr/>
        </p:nvSpPr>
        <p:spPr>
          <a:xfrm>
            <a:off x="13195038" y="60670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92EAAC-B27B-8549-E019-6FFB8AADA361}"/>
              </a:ext>
            </a:extLst>
          </p:cNvPr>
          <p:cNvSpPr txBox="1"/>
          <p:nvPr/>
        </p:nvSpPr>
        <p:spPr>
          <a:xfrm>
            <a:off x="240009" y="192827"/>
            <a:ext cx="4928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</a:rPr>
              <a:t>Corporate Social </a:t>
            </a:r>
            <a:r>
              <a:rPr lang="en-US" sz="2000" b="1">
                <a:solidFill>
                  <a:schemeClr val="accent1"/>
                </a:solidFill>
                <a:latin typeface="+mj-lt"/>
              </a:rPr>
              <a:t>Responsibility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5" name="Text Placeholder 1">
            <a:extLst>
              <a:ext uri="{FF2B5EF4-FFF2-40B4-BE49-F238E27FC236}">
                <a16:creationId xmlns:a16="http://schemas.microsoft.com/office/drawing/2014/main" id="{8AA6DD79-420F-56C7-8378-A2F0DCD025C4}"/>
              </a:ext>
            </a:extLst>
          </p:cNvPr>
          <p:cNvSpPr txBox="1">
            <a:spLocks/>
          </p:cNvSpPr>
          <p:nvPr/>
        </p:nvSpPr>
        <p:spPr>
          <a:xfrm>
            <a:off x="209044" y="6545656"/>
            <a:ext cx="10405537" cy="312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latin typeface="+mn-lt"/>
              </a:rPr>
              <a:t>Crane, A., Matten, D., Glozer, S., &amp; Spence, L. (2019). </a:t>
            </a:r>
            <a:r>
              <a:rPr lang="en-ID" sz="700" i="1">
                <a:latin typeface="+mn-lt"/>
              </a:rPr>
              <a:t>Business Ethics: Managing Corporate Citizenship and Sustainability in the Age of Globalization</a:t>
            </a:r>
            <a:r>
              <a:rPr lang="en-ID" sz="700">
                <a:latin typeface="+mn-lt"/>
              </a:rPr>
              <a:t> (5th ed.). Oxford University Press.</a:t>
            </a:r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C0721DA9-E46E-9B65-9D82-1192BFF5F293}"/>
              </a:ext>
            </a:extLst>
          </p:cNvPr>
          <p:cNvSpPr txBox="1">
            <a:spLocks/>
          </p:cNvSpPr>
          <p:nvPr/>
        </p:nvSpPr>
        <p:spPr>
          <a:xfrm>
            <a:off x="10793500" y="6417654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100" dirty="0">
                <a:solidFill>
                  <a:schemeClr val="tx1"/>
                </a:solidFill>
              </a:rPr>
              <a:t>Page  |  </a:t>
            </a:r>
            <a:fld id="{28718D47-A015-4C76-8C97-DE3515A3C496}" type="slidenum">
              <a:rPr lang="en-US" sz="1000" b="1" smtClean="0">
                <a:solidFill>
                  <a:schemeClr val="tx1"/>
                </a:solidFill>
              </a:rPr>
              <a:pPr/>
              <a:t>10</a:t>
            </a:fld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18437C-6F72-CF01-B5B2-C43D758C938A}"/>
              </a:ext>
            </a:extLst>
          </p:cNvPr>
          <p:cNvSpPr txBox="1"/>
          <p:nvPr/>
        </p:nvSpPr>
        <p:spPr>
          <a:xfrm>
            <a:off x="446696" y="88312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Piramida Carroll: Empat Lapis Tanggung Jawab</a:t>
            </a:r>
            <a:endParaRPr lang="en-US" sz="2000" dirty="0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CB23BE46-81D8-1D8F-343B-9047B87069AC}"/>
              </a:ext>
            </a:extLst>
          </p:cNvPr>
          <p:cNvSpPr txBox="1"/>
          <p:nvPr/>
        </p:nvSpPr>
        <p:spPr>
          <a:xfrm>
            <a:off x="630936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Filantropis</a:t>
            </a:r>
            <a:endParaRPr lang="en-US" sz="1400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3DB50B6E-F275-2C18-E695-CDCED2AD58D6}"/>
              </a:ext>
            </a:extLst>
          </p:cNvPr>
          <p:cNvSpPr txBox="1"/>
          <p:nvPr/>
        </p:nvSpPr>
        <p:spPr>
          <a:xfrm>
            <a:off x="8275320" y="19019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8952B"/>
                </a:solidFill>
                <a:ea typeface="Calibri" pitchFamily="34" charset="-122"/>
                <a:cs typeface="Calibri" pitchFamily="34" charset="-120"/>
              </a:rPr>
              <a:t>DESIRED by society</a:t>
            </a:r>
            <a:endParaRPr lang="en-US" sz="10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D367D439-E24E-6DF6-3500-0895757E89FA}"/>
              </a:ext>
            </a:extLst>
          </p:cNvPr>
          <p:cNvSpPr txBox="1"/>
          <p:nvPr/>
        </p:nvSpPr>
        <p:spPr>
          <a:xfrm>
            <a:off x="6309360" y="216712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Kegiatan sukarela untuk ikut memperbaiki kualitas hidup: donasi, fasilitas rekreasi karyawan, dukungan sekolah, sponsor seni dan olahraga.</a:t>
            </a:r>
            <a:endParaRPr lang="en-US" sz="110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C1A84930-68CE-60CD-F7A6-1F15DD0E6FD8}"/>
              </a:ext>
            </a:extLst>
          </p:cNvPr>
          <p:cNvSpPr txBox="1"/>
          <p:nvPr/>
        </p:nvSpPr>
        <p:spPr>
          <a:xfrm>
            <a:off x="6309360" y="2807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Etis</a:t>
            </a:r>
            <a:endParaRPr lang="en-US" sz="1400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2EA873BD-764B-CB64-E83D-66F53E89F266}"/>
              </a:ext>
            </a:extLst>
          </p:cNvPr>
          <p:cNvSpPr txBox="1"/>
          <p:nvPr/>
        </p:nvSpPr>
        <p:spPr>
          <a:xfrm>
            <a:off x="8275320" y="2834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A85541"/>
                </a:solidFill>
                <a:ea typeface="Calibri" pitchFamily="34" charset="-122"/>
                <a:cs typeface="Calibri" pitchFamily="34" charset="-120"/>
              </a:rPr>
              <a:t>EXPECTED by society</a:t>
            </a:r>
            <a:endParaRPr lang="en-US" sz="10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FE29A93E-8FD6-05F9-472B-CC9589D6F16C}"/>
              </a:ext>
            </a:extLst>
          </p:cNvPr>
          <p:cNvSpPr txBox="1"/>
          <p:nvPr/>
        </p:nvSpPr>
        <p:spPr>
          <a:xfrm>
            <a:off x="6309360" y="309981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Melakukan yang benar, adil, dan wajar bahkan ketika hukum tidak mewajibkannya. Contoh: kemarahan publik atas praktik penghindaran pajak yang legal.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8303D81-C4BB-9C66-30F9-AD81DEF692D8}"/>
              </a:ext>
            </a:extLst>
          </p:cNvPr>
          <p:cNvSpPr txBox="1"/>
          <p:nvPr/>
        </p:nvSpPr>
        <p:spPr>
          <a:xfrm>
            <a:off x="6309360" y="3739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Hukum</a:t>
            </a:r>
            <a:endParaRPr lang="en-US" sz="14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3CC68C0-50E2-DF02-7841-EE225D52D8BE}"/>
              </a:ext>
            </a:extLst>
          </p:cNvPr>
          <p:cNvSpPr txBox="1"/>
          <p:nvPr/>
        </p:nvSpPr>
        <p:spPr>
          <a:xfrm>
            <a:off x="8275320" y="37673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7A2B36"/>
                </a:solidFill>
                <a:ea typeface="Calibri" pitchFamily="34" charset="-122"/>
                <a:cs typeface="Calibri" pitchFamily="34" charset="-120"/>
              </a:rPr>
              <a:t>REQUIRED by society</a:t>
            </a:r>
            <a:endParaRPr lang="en-US" sz="10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673802BA-197F-1D28-66A5-CDFC74C03925}"/>
              </a:ext>
            </a:extLst>
          </p:cNvPr>
          <p:cNvSpPr txBox="1"/>
          <p:nvPr/>
        </p:nvSpPr>
        <p:spPr>
          <a:xfrm>
            <a:off x="6309360" y="403250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Mematuhi hukum, "play by the rules of the game". Hukum adalah nilai moral masyarakat yang dibakukan menjadi aturan.</a:t>
            </a:r>
            <a:endParaRPr lang="en-US" sz="11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99F2518D-4F8C-081C-A32C-1AE6ED6841D2}"/>
              </a:ext>
            </a:extLst>
          </p:cNvPr>
          <p:cNvSpPr txBox="1"/>
          <p:nvPr/>
        </p:nvSpPr>
        <p:spPr>
          <a:xfrm>
            <a:off x="6309360" y="4672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Ekonomi</a:t>
            </a:r>
            <a:endParaRPr lang="en-US" sz="14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C019457D-E155-EEE6-B5B1-A341AC919026}"/>
              </a:ext>
            </a:extLst>
          </p:cNvPr>
          <p:cNvSpPr txBox="1"/>
          <p:nvPr/>
        </p:nvSpPr>
        <p:spPr>
          <a:xfrm>
            <a:off x="8275320" y="47000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451A28"/>
                </a:solidFill>
                <a:ea typeface="Calibri" pitchFamily="34" charset="-122"/>
                <a:cs typeface="Calibri" pitchFamily="34" charset="-120"/>
              </a:rPr>
              <a:t>REQUIRED by society</a:t>
            </a:r>
            <a:endParaRPr lang="en-US" sz="100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8FB24E6F-2AFB-E403-4D5F-2BFD722F3BDF}"/>
              </a:ext>
            </a:extLst>
          </p:cNvPr>
          <p:cNvSpPr txBox="1"/>
          <p:nvPr/>
        </p:nvSpPr>
        <p:spPr>
          <a:xfrm>
            <a:off x="6309360" y="496519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Menjadi unit ekonomi yang berfungsi baik dan tetap bertahan: imbal hasil bagi investor, pekerjaan yang layak, produk yang memuaskan konsumen.</a:t>
            </a:r>
            <a:endParaRPr lang="en-US" sz="1100" dirty="0"/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6ADA0BA3-B953-DA82-E341-FE8431836720}"/>
              </a:ext>
            </a:extLst>
          </p:cNvPr>
          <p:cNvSpPr/>
          <p:nvPr/>
        </p:nvSpPr>
        <p:spPr>
          <a:xfrm>
            <a:off x="548640" y="562356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E9E2E5"/>
          </a:solidFill>
          <a:ln/>
        </p:spPr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91AF0B6C-CFBB-5494-E286-222AF1718F14}"/>
              </a:ext>
            </a:extLst>
          </p:cNvPr>
          <p:cNvSpPr txBox="1"/>
          <p:nvPr/>
        </p:nvSpPr>
        <p:spPr>
          <a:xfrm>
            <a:off x="841248" y="562356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2F39"/>
                </a:solidFill>
                <a:ea typeface="Calibri" pitchFamily="34" charset="-122"/>
                <a:cs typeface="Calibri" pitchFamily="34" charset="-120"/>
              </a:rPr>
              <a:t>Keterbatasan utama:  </a:t>
            </a:r>
            <a:r>
              <a:rPr lang="en-US" sz="1200" dirty="0">
                <a:solidFill>
                  <a:srgbClr val="241A1E"/>
                </a:solidFill>
                <a:ea typeface="Calibri" pitchFamily="34" charset="-122"/>
                <a:cs typeface="Calibri" pitchFamily="34" charset="-120"/>
              </a:rPr>
              <a:t>model ini tidak menjelaskan apa yang harus terjadi ketika dua tanggung jawab saling bertentangan — dan ia menonjolkan sudut pandang manajerial.</a:t>
            </a:r>
            <a:endParaRPr lang="en-US" sz="12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0CCD593-105C-9B5E-345D-876BADA66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96" y="1618488"/>
            <a:ext cx="5747465" cy="36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511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7AE85-E28B-81B4-B3A7-830003FE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5">
            <a:extLst>
              <a:ext uri="{FF2B5EF4-FFF2-40B4-BE49-F238E27FC236}">
                <a16:creationId xmlns:a16="http://schemas.microsoft.com/office/drawing/2014/main" id="{763DAC36-7CC1-C791-2A08-633A13EB4090}"/>
              </a:ext>
            </a:extLst>
          </p:cNvPr>
          <p:cNvSpPr txBox="1"/>
          <p:nvPr/>
        </p:nvSpPr>
        <p:spPr>
          <a:xfrm>
            <a:off x="13195038" y="60670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8AFB69-1924-E230-0F81-BBA8B0D457D5}"/>
              </a:ext>
            </a:extLst>
          </p:cNvPr>
          <p:cNvSpPr txBox="1"/>
          <p:nvPr/>
        </p:nvSpPr>
        <p:spPr>
          <a:xfrm>
            <a:off x="240009" y="192827"/>
            <a:ext cx="4928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</a:rPr>
              <a:t>Corporate Social </a:t>
            </a:r>
            <a:r>
              <a:rPr lang="en-US" sz="2000" b="1">
                <a:solidFill>
                  <a:schemeClr val="accent1"/>
                </a:solidFill>
                <a:latin typeface="+mj-lt"/>
              </a:rPr>
              <a:t>Responsibility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5" name="Text Placeholder 1">
            <a:extLst>
              <a:ext uri="{FF2B5EF4-FFF2-40B4-BE49-F238E27FC236}">
                <a16:creationId xmlns:a16="http://schemas.microsoft.com/office/drawing/2014/main" id="{6548D839-83E6-04B6-3C08-66DD47F5C971}"/>
              </a:ext>
            </a:extLst>
          </p:cNvPr>
          <p:cNvSpPr txBox="1">
            <a:spLocks/>
          </p:cNvSpPr>
          <p:nvPr/>
        </p:nvSpPr>
        <p:spPr>
          <a:xfrm>
            <a:off x="209044" y="6545656"/>
            <a:ext cx="10405537" cy="312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latin typeface="+mn-lt"/>
              </a:rPr>
              <a:t>Crane, A., Matten, D., Glozer, S., &amp; Spence, L. (2019). </a:t>
            </a:r>
            <a:r>
              <a:rPr lang="en-ID" sz="700" i="1">
                <a:latin typeface="+mn-lt"/>
              </a:rPr>
              <a:t>Business Ethics: Managing Corporate Citizenship and Sustainability in the Age of Globalization</a:t>
            </a:r>
            <a:r>
              <a:rPr lang="en-ID" sz="700">
                <a:latin typeface="+mn-lt"/>
              </a:rPr>
              <a:t> (5th ed.). Oxford University Press.</a:t>
            </a:r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F999DAF0-2D38-B3E2-52CC-C60FE5621B58}"/>
              </a:ext>
            </a:extLst>
          </p:cNvPr>
          <p:cNvSpPr txBox="1">
            <a:spLocks/>
          </p:cNvSpPr>
          <p:nvPr/>
        </p:nvSpPr>
        <p:spPr>
          <a:xfrm>
            <a:off x="10793500" y="6417654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100" dirty="0">
                <a:solidFill>
                  <a:schemeClr val="tx1"/>
                </a:solidFill>
              </a:rPr>
              <a:t>Page  |  </a:t>
            </a:r>
            <a:fld id="{28718D47-A015-4C76-8C97-DE3515A3C496}" type="slidenum">
              <a:rPr lang="en-US" sz="1000" b="1" smtClean="0">
                <a:solidFill>
                  <a:schemeClr val="tx1"/>
                </a:solidFill>
              </a:rPr>
              <a:pPr/>
              <a:t>11</a:t>
            </a:fld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64D36B7-8488-B59A-1A60-180B823F471A}"/>
              </a:ext>
            </a:extLst>
          </p:cNvPr>
          <p:cNvSpPr txBox="1"/>
          <p:nvPr/>
        </p:nvSpPr>
        <p:spPr>
          <a:xfrm>
            <a:off x="342290" y="678077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latin typeface="Cambria" pitchFamily="34" charset="0"/>
                <a:ea typeface="Cambria" pitchFamily="34" charset="-122"/>
                <a:cs typeface="Cambria" pitchFamily="34" charset="-120"/>
              </a:rPr>
              <a:t>CSR Berbeda-beda </a:t>
            </a: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di Setiap Belahan Dunia</a:t>
            </a:r>
            <a:endParaRPr lang="en-US" sz="2000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71A608C-20C0-6288-B458-8ABD4B634F06}"/>
              </a:ext>
            </a:extLst>
          </p:cNvPr>
          <p:cNvGrpSpPr/>
          <p:nvPr/>
        </p:nvGrpSpPr>
        <p:grpSpPr>
          <a:xfrm>
            <a:off x="349908" y="1363877"/>
            <a:ext cx="5440680" cy="972738"/>
            <a:chOff x="548640" y="2048256"/>
            <a:chExt cx="5440680" cy="1371600"/>
          </a:xfrm>
        </p:grpSpPr>
        <p:sp>
          <p:nvSpPr>
            <p:cNvPr id="56" name="Shape 3">
              <a:extLst>
                <a:ext uri="{FF2B5EF4-FFF2-40B4-BE49-F238E27FC236}">
                  <a16:creationId xmlns:a16="http://schemas.microsoft.com/office/drawing/2014/main" id="{7A0C1C2F-697D-D9CD-D68A-CB11C9D91448}"/>
                </a:ext>
              </a:extLst>
            </p:cNvPr>
            <p:cNvSpPr/>
            <p:nvPr/>
          </p:nvSpPr>
          <p:spPr>
            <a:xfrm>
              <a:off x="548640" y="2048256"/>
              <a:ext cx="5440680" cy="1371600"/>
            </a:xfrm>
            <a:prstGeom prst="roundRect">
              <a:avLst>
                <a:gd name="adj" fmla="val 4000"/>
              </a:avLst>
            </a:prstGeom>
            <a:solidFill>
              <a:srgbClr val="F3F0F1"/>
            </a:solidFill>
            <a:ln/>
          </p:spPr>
        </p:sp>
        <p:sp>
          <p:nvSpPr>
            <p:cNvPr id="58" name="Text 4">
              <a:extLst>
                <a:ext uri="{FF2B5EF4-FFF2-40B4-BE49-F238E27FC236}">
                  <a16:creationId xmlns:a16="http://schemas.microsoft.com/office/drawing/2014/main" id="{FB1236C0-4453-F937-D6B5-A8CAF05819C0}"/>
                </a:ext>
              </a:extLst>
            </p:cNvPr>
            <p:cNvSpPr txBox="1"/>
            <p:nvPr/>
          </p:nvSpPr>
          <p:spPr>
            <a:xfrm>
              <a:off x="822960" y="2190449"/>
              <a:ext cx="4892040" cy="2743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120" dirty="0">
                  <a:solidFill>
                    <a:srgbClr val="8C2F39"/>
                  </a:solidFill>
                  <a:ea typeface="Calibri" pitchFamily="34" charset="-122"/>
                  <a:cs typeface="Calibri" pitchFamily="34" charset="-120"/>
                </a:rPr>
                <a:t>EXPLICIT CSR</a:t>
              </a:r>
              <a:endParaRPr lang="en-US" sz="1100" dirty="0"/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113691C4-E22A-52F8-53A8-9E9ADDEFA5C2}"/>
                </a:ext>
              </a:extLst>
            </p:cNvPr>
            <p:cNvSpPr txBox="1"/>
            <p:nvPr/>
          </p:nvSpPr>
          <p:spPr>
            <a:xfrm>
              <a:off x="822960" y="2523744"/>
              <a:ext cx="4892040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100" dirty="0">
                  <a:solidFill>
                    <a:srgbClr val="7A6E72"/>
                  </a:solidFill>
                  <a:ea typeface="Calibri" pitchFamily="34" charset="-122"/>
                  <a:cs typeface="Calibri" pitchFamily="34" charset="-120"/>
                </a:rPr>
                <a:t>CSR sebagai kegiatan yang berdiri sendiri dan diberi nama secara eksplisit. Khas Amerika Serikat.</a:t>
              </a:r>
              <a:endParaRPr lang="en-US" sz="110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7889670-769F-5A9B-D2FA-F3B75023E290}"/>
              </a:ext>
            </a:extLst>
          </p:cNvPr>
          <p:cNvGrpSpPr/>
          <p:nvPr/>
        </p:nvGrpSpPr>
        <p:grpSpPr>
          <a:xfrm>
            <a:off x="5973468" y="1363877"/>
            <a:ext cx="5440680" cy="972738"/>
            <a:chOff x="6172200" y="2048256"/>
            <a:chExt cx="5440680" cy="1371600"/>
          </a:xfrm>
        </p:grpSpPr>
        <p:sp>
          <p:nvSpPr>
            <p:cNvPr id="62" name="Shape 6">
              <a:extLst>
                <a:ext uri="{FF2B5EF4-FFF2-40B4-BE49-F238E27FC236}">
                  <a16:creationId xmlns:a16="http://schemas.microsoft.com/office/drawing/2014/main" id="{205C5DC3-0E9B-5893-DDF8-040BCC073005}"/>
                </a:ext>
              </a:extLst>
            </p:cNvPr>
            <p:cNvSpPr/>
            <p:nvPr/>
          </p:nvSpPr>
          <p:spPr>
            <a:xfrm>
              <a:off x="6172200" y="2048256"/>
              <a:ext cx="5440680" cy="1371600"/>
            </a:xfrm>
            <a:prstGeom prst="roundRect">
              <a:avLst>
                <a:gd name="adj" fmla="val 4000"/>
              </a:avLst>
            </a:prstGeom>
            <a:solidFill>
              <a:srgbClr val="F3F0F1"/>
            </a:solidFill>
            <a:ln/>
          </p:spPr>
        </p:sp>
        <p:sp>
          <p:nvSpPr>
            <p:cNvPr id="64" name="Text 7">
              <a:extLst>
                <a:ext uri="{FF2B5EF4-FFF2-40B4-BE49-F238E27FC236}">
                  <a16:creationId xmlns:a16="http://schemas.microsoft.com/office/drawing/2014/main" id="{847202E3-5458-A9AD-DBFF-174A699BB314}"/>
                </a:ext>
              </a:extLst>
            </p:cNvPr>
            <p:cNvSpPr txBox="1"/>
            <p:nvPr/>
          </p:nvSpPr>
          <p:spPr>
            <a:xfrm>
              <a:off x="6446520" y="2190449"/>
              <a:ext cx="4892040" cy="2743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120" dirty="0">
                  <a:solidFill>
                    <a:srgbClr val="5C7A6B"/>
                  </a:solidFill>
                  <a:ea typeface="Calibri" pitchFamily="34" charset="-122"/>
                  <a:cs typeface="Calibri" pitchFamily="34" charset="-120"/>
                </a:rPr>
                <a:t>IMPLICIT CSR</a:t>
              </a:r>
              <a:endParaRPr lang="en-US" sz="1100" dirty="0"/>
            </a:p>
          </p:txBody>
        </p:sp>
        <p:sp>
          <p:nvSpPr>
            <p:cNvPr id="66" name="Text 8">
              <a:extLst>
                <a:ext uri="{FF2B5EF4-FFF2-40B4-BE49-F238E27FC236}">
                  <a16:creationId xmlns:a16="http://schemas.microsoft.com/office/drawing/2014/main" id="{A2F7D67C-AE6D-6E59-F3D5-A4F0453D6031}"/>
                </a:ext>
              </a:extLst>
            </p:cNvPr>
            <p:cNvSpPr txBox="1"/>
            <p:nvPr/>
          </p:nvSpPr>
          <p:spPr>
            <a:xfrm>
              <a:off x="6446520" y="2523744"/>
              <a:ext cx="4892040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100" dirty="0">
                  <a:solidFill>
                    <a:srgbClr val="7A6E72"/>
                  </a:solidFill>
                  <a:ea typeface="Calibri" pitchFamily="34" charset="-122"/>
                  <a:cs typeface="Calibri" pitchFamily="34" charset="-120"/>
                </a:rPr>
                <a:t>Tanggung jawab sosial tertanam dalam hukum, regulasi, dan tradisi masyarakat. Khas Eropa, Asia, dan Afrika.</a:t>
              </a:r>
              <a:endParaRPr lang="en-US" sz="1100" dirty="0"/>
            </a:p>
          </p:txBody>
        </p:sp>
      </p:grpSp>
      <p:sp>
        <p:nvSpPr>
          <p:cNvPr id="7" name="Text 2">
            <a:extLst>
              <a:ext uri="{FF2B5EF4-FFF2-40B4-BE49-F238E27FC236}">
                <a16:creationId xmlns:a16="http://schemas.microsoft.com/office/drawing/2014/main" id="{F0BECFBF-4DA1-B252-CFF3-725F8B8F3CF6}"/>
              </a:ext>
            </a:extLst>
          </p:cNvPr>
          <p:cNvSpPr txBox="1"/>
          <p:nvPr/>
        </p:nvSpPr>
        <p:spPr>
          <a:xfrm>
            <a:off x="505356" y="2408331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menganut CSR eksplisit (aktivitas bernama &amp; sukarela); Eropa dan Asia lebih implisit — tertanam dalam regulasi, tradisi keagamaan, dan norma budaya (Matten &amp; Moon, 2008).</a:t>
            </a:r>
            <a:endParaRPr lang="en-US" sz="1200" dirty="0"/>
          </a:p>
        </p:txBody>
      </p:sp>
      <p:graphicFrame>
        <p:nvGraphicFramePr>
          <p:cNvPr id="130" name="Table 129">
            <a:extLst>
              <a:ext uri="{FF2B5EF4-FFF2-40B4-BE49-F238E27FC236}">
                <a16:creationId xmlns:a16="http://schemas.microsoft.com/office/drawing/2014/main" id="{9A52BF78-78DB-0BA9-A9B9-2B750CCBA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428498"/>
              </p:ext>
            </p:extLst>
          </p:nvPr>
        </p:nvGraphicFramePr>
        <p:xfrm>
          <a:off x="505356" y="3035809"/>
          <a:ext cx="10919664" cy="315457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729916">
                  <a:extLst>
                    <a:ext uri="{9D8B030D-6E8A-4147-A177-3AD203B41FA5}">
                      <a16:colId xmlns:a16="http://schemas.microsoft.com/office/drawing/2014/main" val="347659711"/>
                    </a:ext>
                  </a:extLst>
                </a:gridCol>
                <a:gridCol w="2729916">
                  <a:extLst>
                    <a:ext uri="{9D8B030D-6E8A-4147-A177-3AD203B41FA5}">
                      <a16:colId xmlns:a16="http://schemas.microsoft.com/office/drawing/2014/main" val="2795659213"/>
                    </a:ext>
                  </a:extLst>
                </a:gridCol>
                <a:gridCol w="2729916">
                  <a:extLst>
                    <a:ext uri="{9D8B030D-6E8A-4147-A177-3AD203B41FA5}">
                      <a16:colId xmlns:a16="http://schemas.microsoft.com/office/drawing/2014/main" val="2715599874"/>
                    </a:ext>
                  </a:extLst>
                </a:gridCol>
                <a:gridCol w="2729916">
                  <a:extLst>
                    <a:ext uri="{9D8B030D-6E8A-4147-A177-3AD203B41FA5}">
                      <a16:colId xmlns:a16="http://schemas.microsoft.com/office/drawing/2014/main" val="2692834833"/>
                    </a:ext>
                  </a:extLst>
                </a:gridCol>
              </a:tblGrid>
              <a:tr h="5538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C9A227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DIMENSI CSR</a:t>
                      </a:r>
                      <a:endParaRPr lang="en-US" sz="1200">
                        <a:latin typeface="+mn-lt"/>
                      </a:endParaRPr>
                    </a:p>
                  </a:txBody>
                  <a:tcPr marL="122846" marR="122846" marT="61423" marB="61423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+mn-lt"/>
                          <a:ea typeface="Cambria" pitchFamily="34" charset="-122"/>
                          <a:cs typeface="Cambria" pitchFamily="34" charset="-120"/>
                        </a:rPr>
                        <a:t>Anglo-American</a:t>
                      </a:r>
                      <a:endParaRPr lang="en-US" sz="1200">
                        <a:latin typeface="+mn-lt"/>
                      </a:endParaRPr>
                    </a:p>
                  </a:txBody>
                  <a:tcPr marL="122846" marR="122846" marT="61423" marB="61423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+mn-lt"/>
                          <a:ea typeface="Cambria" pitchFamily="34" charset="-122"/>
                          <a:cs typeface="Cambria" pitchFamily="34" charset="-120"/>
                        </a:rPr>
                        <a:t>Eropa</a:t>
                      </a:r>
                      <a:endParaRPr lang="en-US" sz="1200">
                        <a:latin typeface="+mn-lt"/>
                      </a:endParaRPr>
                    </a:p>
                  </a:txBody>
                  <a:tcPr marL="122846" marR="122846" marT="61423" marB="61423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+mn-lt"/>
                          <a:ea typeface="Cambria" pitchFamily="34" charset="-122"/>
                          <a:cs typeface="Cambria" pitchFamily="34" charset="-120"/>
                        </a:rPr>
                        <a:t>Negara Berkembang</a:t>
                      </a:r>
                      <a:endParaRPr lang="en-US" sz="1200">
                        <a:latin typeface="+mn-lt"/>
                      </a:endParaRPr>
                    </a:p>
                  </a:txBody>
                  <a:tcPr marL="122846" marR="122846" marT="61423" marB="61423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501517"/>
                  </a:ext>
                </a:extLst>
              </a:tr>
              <a:tr h="5538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Philanthropic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Donasi ke seni, pendidikan tinggi, layanan komunitas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Pendanaan diarahkan lewat pemerintah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Berbagi kekayaan dengan komunitas lokal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extLst>
                  <a:ext uri="{0D108BD9-81ED-4DB2-BD59-A6C34878D82A}">
                    <a16:rowId xmlns:a16="http://schemas.microsoft.com/office/drawing/2014/main" val="2533796256"/>
                  </a:ext>
                </a:extLst>
              </a:tr>
              <a:tr h="5538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Ethical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Kepercayaan tinggi pada bisnis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Skeptisisme tinggi, nilai etis ditekankan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Ekonomi &amp; filantropi diutamakan daripada etika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extLst>
                  <a:ext uri="{0D108BD9-81ED-4DB2-BD59-A6C34878D82A}">
                    <a16:rowId xmlns:a16="http://schemas.microsoft.com/office/drawing/2014/main" val="556877850"/>
                  </a:ext>
                </a:extLst>
              </a:tr>
              <a:tr h="7464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Legal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Aturan pemerintah dipandang mengganggu kebebasan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negara sangat menonjol dalam regulasi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Kepatuhan hukum bukan standar yang andal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extLst>
                  <a:ext uri="{0D108BD9-81ED-4DB2-BD59-A6C34878D82A}">
                    <a16:rowId xmlns:a16="http://schemas.microsoft.com/office/drawing/2014/main" val="341552328"/>
                  </a:ext>
                </a:extLst>
              </a:tr>
              <a:tr h="7464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Economic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Fokus kuat pada profitabilitas &amp; shareholder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Menekankan tanggung jawab ke karyawan &amp; komunitas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Serupa Eropa — karyawan &amp; komunitas lokal</a:t>
                      </a:r>
                      <a:endParaRPr lang="en-US" sz="1200"/>
                    </a:p>
                  </a:txBody>
                  <a:tcPr marL="122846" marR="122846" marT="61423" marB="61423" anchor="ctr"/>
                </a:tc>
                <a:extLst>
                  <a:ext uri="{0D108BD9-81ED-4DB2-BD59-A6C34878D82A}">
                    <a16:rowId xmlns:a16="http://schemas.microsoft.com/office/drawing/2014/main" val="3910993250"/>
                  </a:ext>
                </a:extLst>
              </a:tr>
            </a:tbl>
          </a:graphicData>
        </a:graphic>
      </p:graphicFrame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586EF95-22ED-7BD8-D997-71474C576513}"/>
              </a:ext>
            </a:extLst>
          </p:cNvPr>
          <p:cNvGrpSpPr/>
          <p:nvPr/>
        </p:nvGrpSpPr>
        <p:grpSpPr>
          <a:xfrm>
            <a:off x="624228" y="3672241"/>
            <a:ext cx="329184" cy="329184"/>
            <a:chOff x="658368" y="3209544"/>
            <a:chExt cx="438912" cy="438912"/>
          </a:xfrm>
        </p:grpSpPr>
        <p:sp>
          <p:nvSpPr>
            <p:cNvPr id="132" name="Shape 12">
              <a:extLst>
                <a:ext uri="{FF2B5EF4-FFF2-40B4-BE49-F238E27FC236}">
                  <a16:creationId xmlns:a16="http://schemas.microsoft.com/office/drawing/2014/main" id="{16D13126-DE36-1F32-A438-55FABC30C03E}"/>
                </a:ext>
              </a:extLst>
            </p:cNvPr>
            <p:cNvSpPr/>
            <p:nvPr/>
          </p:nvSpPr>
          <p:spPr>
            <a:xfrm>
              <a:off x="658368" y="3209544"/>
              <a:ext cx="438912" cy="438912"/>
            </a:xfrm>
            <a:prstGeom prst="ellipse">
              <a:avLst/>
            </a:prstGeom>
            <a:solidFill>
              <a:srgbClr val="1E2761"/>
            </a:solidFill>
            <a:ln/>
          </p:spPr>
        </p:sp>
        <p:pic>
          <p:nvPicPr>
            <p:cNvPr id="134" name="Image 0" descr="/home/claude/icons/handHoldingHeart_white.png">
              <a:extLst>
                <a:ext uri="{FF2B5EF4-FFF2-40B4-BE49-F238E27FC236}">
                  <a16:creationId xmlns:a16="http://schemas.microsoft.com/office/drawing/2014/main" id="{9E71C688-0B15-AF5C-35E8-D88107B7E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5427" y="3266603"/>
              <a:ext cx="324795" cy="324795"/>
            </a:xfrm>
            <a:prstGeom prst="rect">
              <a:avLst/>
            </a:prstGeom>
          </p:spPr>
        </p:pic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B4D54BA-C2C5-6B85-3BE2-C1816847AA89}"/>
              </a:ext>
            </a:extLst>
          </p:cNvPr>
          <p:cNvGrpSpPr/>
          <p:nvPr/>
        </p:nvGrpSpPr>
        <p:grpSpPr>
          <a:xfrm>
            <a:off x="624228" y="4257538"/>
            <a:ext cx="329184" cy="329184"/>
            <a:chOff x="658368" y="4050792"/>
            <a:chExt cx="438912" cy="438912"/>
          </a:xfrm>
        </p:grpSpPr>
        <p:sp>
          <p:nvSpPr>
            <p:cNvPr id="137" name="Shape 21">
              <a:extLst>
                <a:ext uri="{FF2B5EF4-FFF2-40B4-BE49-F238E27FC236}">
                  <a16:creationId xmlns:a16="http://schemas.microsoft.com/office/drawing/2014/main" id="{5B8DA7F5-CE54-C103-3F40-52E2D10CDE7E}"/>
                </a:ext>
              </a:extLst>
            </p:cNvPr>
            <p:cNvSpPr/>
            <p:nvPr/>
          </p:nvSpPr>
          <p:spPr>
            <a:xfrm>
              <a:off x="658368" y="4050792"/>
              <a:ext cx="438912" cy="438912"/>
            </a:xfrm>
            <a:prstGeom prst="ellipse">
              <a:avLst/>
            </a:prstGeom>
            <a:solidFill>
              <a:srgbClr val="1E2761"/>
            </a:solidFill>
            <a:ln/>
          </p:spPr>
        </p:sp>
        <p:pic>
          <p:nvPicPr>
            <p:cNvPr id="139" name="Image 1" descr="/home/claude/icons/scale_white.png">
              <a:extLst>
                <a:ext uri="{FF2B5EF4-FFF2-40B4-BE49-F238E27FC236}">
                  <a16:creationId xmlns:a16="http://schemas.microsoft.com/office/drawing/2014/main" id="{38B0A5DD-0543-0047-F621-F9E76548D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5427" y="4107851"/>
              <a:ext cx="324795" cy="324795"/>
            </a:xfrm>
            <a:prstGeom prst="rect">
              <a:avLst/>
            </a:prstGeom>
          </p:spPr>
        </p:pic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49316E9-A50A-F33D-73D3-E69CD3F6931B}"/>
              </a:ext>
            </a:extLst>
          </p:cNvPr>
          <p:cNvGrpSpPr/>
          <p:nvPr/>
        </p:nvGrpSpPr>
        <p:grpSpPr>
          <a:xfrm>
            <a:off x="624228" y="4941997"/>
            <a:ext cx="329184" cy="329184"/>
            <a:chOff x="658368" y="4892040"/>
            <a:chExt cx="438912" cy="438912"/>
          </a:xfrm>
        </p:grpSpPr>
        <p:sp>
          <p:nvSpPr>
            <p:cNvPr id="142" name="Shape 30">
              <a:extLst>
                <a:ext uri="{FF2B5EF4-FFF2-40B4-BE49-F238E27FC236}">
                  <a16:creationId xmlns:a16="http://schemas.microsoft.com/office/drawing/2014/main" id="{B851F3DB-FBAE-8099-6AC7-68B18223392D}"/>
                </a:ext>
              </a:extLst>
            </p:cNvPr>
            <p:cNvSpPr/>
            <p:nvPr/>
          </p:nvSpPr>
          <p:spPr>
            <a:xfrm>
              <a:off x="658368" y="4892040"/>
              <a:ext cx="438912" cy="438912"/>
            </a:xfrm>
            <a:prstGeom prst="ellipse">
              <a:avLst/>
            </a:prstGeom>
            <a:solidFill>
              <a:srgbClr val="1E2761"/>
            </a:solidFill>
            <a:ln/>
          </p:spPr>
        </p:sp>
        <p:pic>
          <p:nvPicPr>
            <p:cNvPr id="144" name="Image 2" descr="/home/claude/icons/gavel_white.png">
              <a:extLst>
                <a:ext uri="{FF2B5EF4-FFF2-40B4-BE49-F238E27FC236}">
                  <a16:creationId xmlns:a16="http://schemas.microsoft.com/office/drawing/2014/main" id="{6DF55115-8A6A-4AD2-A02D-558277B4B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5427" y="4949099"/>
              <a:ext cx="324795" cy="324795"/>
            </a:xfrm>
            <a:prstGeom prst="rect">
              <a:avLst/>
            </a:prstGeom>
          </p:spPr>
        </p:pic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0761F97F-2803-026D-C5E2-4EC5717220A6}"/>
              </a:ext>
            </a:extLst>
          </p:cNvPr>
          <p:cNvGrpSpPr/>
          <p:nvPr/>
        </p:nvGrpSpPr>
        <p:grpSpPr>
          <a:xfrm>
            <a:off x="623372" y="5641191"/>
            <a:ext cx="329184" cy="329184"/>
            <a:chOff x="658368" y="5733288"/>
            <a:chExt cx="438912" cy="438912"/>
          </a:xfrm>
        </p:grpSpPr>
        <p:sp>
          <p:nvSpPr>
            <p:cNvPr id="147" name="Shape 39">
              <a:extLst>
                <a:ext uri="{FF2B5EF4-FFF2-40B4-BE49-F238E27FC236}">
                  <a16:creationId xmlns:a16="http://schemas.microsoft.com/office/drawing/2014/main" id="{A320507B-45B0-9178-CE97-23D709A3DCE7}"/>
                </a:ext>
              </a:extLst>
            </p:cNvPr>
            <p:cNvSpPr/>
            <p:nvPr/>
          </p:nvSpPr>
          <p:spPr>
            <a:xfrm>
              <a:off x="658368" y="5733288"/>
              <a:ext cx="438912" cy="438912"/>
            </a:xfrm>
            <a:prstGeom prst="ellipse">
              <a:avLst/>
            </a:prstGeom>
            <a:solidFill>
              <a:srgbClr val="1E2761"/>
            </a:solidFill>
            <a:ln/>
          </p:spPr>
        </p:sp>
        <p:pic>
          <p:nvPicPr>
            <p:cNvPr id="149" name="Image 3" descr="/home/claude/icons/coins_white.png">
              <a:extLst>
                <a:ext uri="{FF2B5EF4-FFF2-40B4-BE49-F238E27FC236}">
                  <a16:creationId xmlns:a16="http://schemas.microsoft.com/office/drawing/2014/main" id="{3E18929E-D216-5B7D-3295-7EA222524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5427" y="5790347"/>
              <a:ext cx="324795" cy="3247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6827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AA10F-F666-1596-C3A8-214636212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5">
            <a:extLst>
              <a:ext uri="{FF2B5EF4-FFF2-40B4-BE49-F238E27FC236}">
                <a16:creationId xmlns:a16="http://schemas.microsoft.com/office/drawing/2014/main" id="{A10E820E-3207-28F0-8664-FE2F2DFE233E}"/>
              </a:ext>
            </a:extLst>
          </p:cNvPr>
          <p:cNvSpPr txBox="1"/>
          <p:nvPr/>
        </p:nvSpPr>
        <p:spPr>
          <a:xfrm>
            <a:off x="13195038" y="60670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EFB876-815A-5F9D-3251-F29AB708F661}"/>
              </a:ext>
            </a:extLst>
          </p:cNvPr>
          <p:cNvSpPr txBox="1"/>
          <p:nvPr/>
        </p:nvSpPr>
        <p:spPr>
          <a:xfrm>
            <a:off x="240009" y="192827"/>
            <a:ext cx="4928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</a:rPr>
              <a:t>Corporate Social </a:t>
            </a:r>
            <a:r>
              <a:rPr lang="en-US" sz="2000" b="1">
                <a:solidFill>
                  <a:schemeClr val="accent1"/>
                </a:solidFill>
                <a:latin typeface="+mj-lt"/>
              </a:rPr>
              <a:t>Responsibility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5" name="Text Placeholder 1">
            <a:extLst>
              <a:ext uri="{FF2B5EF4-FFF2-40B4-BE49-F238E27FC236}">
                <a16:creationId xmlns:a16="http://schemas.microsoft.com/office/drawing/2014/main" id="{D298914A-6217-53D7-1652-EC205AA07078}"/>
              </a:ext>
            </a:extLst>
          </p:cNvPr>
          <p:cNvSpPr txBox="1">
            <a:spLocks/>
          </p:cNvSpPr>
          <p:nvPr/>
        </p:nvSpPr>
        <p:spPr>
          <a:xfrm>
            <a:off x="209044" y="6545656"/>
            <a:ext cx="10405537" cy="312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latin typeface="+mn-lt"/>
              </a:rPr>
              <a:t>Crane, A., Matten, D., Glozer, S., &amp; Spence, L. (2019). </a:t>
            </a:r>
            <a:r>
              <a:rPr lang="en-ID" sz="700" i="1">
                <a:latin typeface="+mn-lt"/>
              </a:rPr>
              <a:t>Business Ethics: Managing Corporate Citizenship and Sustainability in the Age of Globalization</a:t>
            </a:r>
            <a:r>
              <a:rPr lang="en-ID" sz="700">
                <a:latin typeface="+mn-lt"/>
              </a:rPr>
              <a:t> (5th ed.). Oxford University Press.</a:t>
            </a:r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398A7D9E-BC3B-B12F-7E63-005C1F6E98D4}"/>
              </a:ext>
            </a:extLst>
          </p:cNvPr>
          <p:cNvSpPr txBox="1">
            <a:spLocks/>
          </p:cNvSpPr>
          <p:nvPr/>
        </p:nvSpPr>
        <p:spPr>
          <a:xfrm>
            <a:off x="10793500" y="6417654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100" dirty="0">
                <a:solidFill>
                  <a:schemeClr val="tx1"/>
                </a:solidFill>
              </a:rPr>
              <a:t>Page  |  </a:t>
            </a:r>
            <a:fld id="{28718D47-A015-4C76-8C97-DE3515A3C496}" type="slidenum">
              <a:rPr lang="en-US" sz="1000" b="1" smtClean="0">
                <a:solidFill>
                  <a:schemeClr val="tx1"/>
                </a:solidFill>
              </a:rPr>
              <a:pPr/>
              <a:t>12</a:t>
            </a:fld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699322-9FE8-2016-7620-B8C967AF72B2}"/>
              </a:ext>
            </a:extLst>
          </p:cNvPr>
          <p:cNvSpPr txBox="1"/>
          <p:nvPr/>
        </p:nvSpPr>
        <p:spPr>
          <a:xfrm>
            <a:off x="579120" y="8412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Strategi: "Bolt-on" vs "Built-in"</a:t>
            </a:r>
            <a:endParaRPr lang="en-US" sz="2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99E2DE34-DFF2-6265-104F-945A8EEA9D18}"/>
              </a:ext>
            </a:extLst>
          </p:cNvPr>
          <p:cNvSpPr txBox="1"/>
          <p:nvPr/>
        </p:nvSpPr>
        <p:spPr>
          <a:xfrm>
            <a:off x="579120" y="1555903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A6E7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Cara perusahaan memprioritaskan tiap lapis CSR bergantung pada strategi besarnya.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B259A57B-43A3-B36B-8F5E-8D4279175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323726"/>
              </p:ext>
            </p:extLst>
          </p:nvPr>
        </p:nvGraphicFramePr>
        <p:xfrm>
          <a:off x="563880" y="2020824"/>
          <a:ext cx="11064240" cy="2816352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CSR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CONTEMPORARY CSR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Fokus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Risiko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Pendorong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Citra, merek, penerimaan publik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Kinerja, pasar, produk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Hubungan dengan bottom 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berkontribusi langsung: CSR adalah distribusi nilai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Tujuan integral: CSR adalah penciptaan nilai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Reaksi, defensif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Akomodasi, proaktif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i="1" dirty="0">
                          <a:solidFill>
                            <a:srgbClr val="8C2F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"CSR is bolt-on"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i="1" dirty="0">
                          <a:solidFill>
                            <a:srgbClr val="5C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"CSR is built-in"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3">
            <a:extLst>
              <a:ext uri="{FF2B5EF4-FFF2-40B4-BE49-F238E27FC236}">
                <a16:creationId xmlns:a16="http://schemas.microsoft.com/office/drawing/2014/main" id="{6AD2892B-6F2E-EEB7-523D-35B321F3952B}"/>
              </a:ext>
            </a:extLst>
          </p:cNvPr>
          <p:cNvSpPr/>
          <p:nvPr/>
        </p:nvSpPr>
        <p:spPr>
          <a:xfrm>
            <a:off x="563880" y="5138928"/>
            <a:ext cx="11064240" cy="859536"/>
          </a:xfrm>
          <a:prstGeom prst="roundRect">
            <a:avLst>
              <a:gd name="adj" fmla="val 6383"/>
            </a:avLst>
          </a:prstGeom>
          <a:solidFill>
            <a:srgbClr val="F3F0F1"/>
          </a:solidFill>
          <a:ln/>
        </p:spPr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CE72A447-D1A6-E434-35E9-B2F0E98865A2}"/>
              </a:ext>
            </a:extLst>
          </p:cNvPr>
          <p:cNvSpPr txBox="1"/>
          <p:nvPr/>
        </p:nvSpPr>
        <p:spPr>
          <a:xfrm>
            <a:off x="856488" y="5138928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1A1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Strategi tradisional: laba dikejar dulu, lalu sebagian hasilnya dibagikan untuk citra - CSR "ditempelkan" (bolt-on). Strategi kontemporer: harapan masyarakat dibangun ke dalam bisnis inti sehingga CSR ikut menciptakan nilai (built-in). Hasil CSR diukur sebagai Corporate Social Performance (Wood 1991): prinsip -&gt; proses -&gt; hasil nyata berupa kebijakan, program, dan dampak sosial.</a:t>
            </a:r>
          </a:p>
        </p:txBody>
      </p:sp>
    </p:spTree>
    <p:extLst>
      <p:ext uri="{BB962C8B-B14F-4D97-AF65-F5344CB8AC3E}">
        <p14:creationId xmlns:p14="http://schemas.microsoft.com/office/powerpoint/2010/main" val="4025115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931920"/>
            <a:ext cx="4937760" cy="4937760"/>
          </a:xfrm>
          <a:prstGeom prst="ellipse">
            <a:avLst/>
          </a:prstGeom>
          <a:ln w="16510">
            <a:solidFill>
              <a:srgbClr val="3A5A9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1310" y="3429000"/>
            <a:ext cx="43461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200" i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Berbeda dari CSR yang berangkat dari perusahaan dan tanggung jawabnya, pendekatan stakeholder berangkat dari kelompok-kelompok kepada siapa perusahaan bertanggung jawab.</a:t>
            </a:r>
            <a:endParaRPr lang="en-US" sz="1200" i="1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02775" y="2468880"/>
            <a:ext cx="1920240" cy="1920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/home/claude/icons/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406" y="2718511"/>
            <a:ext cx="1420978" cy="142097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DC106F-1FD6-D667-AD20-ADC9FE3B7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31702" y="-1737362"/>
            <a:ext cx="6160298" cy="9230415"/>
          </a:xfrm>
          <a:prstGeom prst="rect">
            <a:avLst/>
          </a:prstGeom>
        </p:spPr>
      </p:pic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35103E42-96B0-2AEB-BA46-764ED46ED390}"/>
              </a:ext>
            </a:extLst>
          </p:cNvPr>
          <p:cNvSpPr txBox="1">
            <a:spLocks/>
          </p:cNvSpPr>
          <p:nvPr/>
        </p:nvSpPr>
        <p:spPr>
          <a:xfrm>
            <a:off x="209045" y="6417653"/>
            <a:ext cx="4843288" cy="3358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solidFill>
                  <a:schemeClr val="bg1"/>
                </a:solidFill>
              </a:rPr>
              <a:t>Crane, A., Matten, D., Glozer, S., &amp; Spence, L. (2019). </a:t>
            </a:r>
            <a:r>
              <a:rPr lang="en-ID" sz="700" i="1">
                <a:solidFill>
                  <a:schemeClr val="bg1"/>
                </a:solidFill>
              </a:rPr>
              <a:t>Business Ethics: Managing Corporate Citizenship and Sustainability in the Age of Globalization</a:t>
            </a:r>
            <a:r>
              <a:rPr lang="en-ID" sz="700">
                <a:solidFill>
                  <a:schemeClr val="bg1"/>
                </a:solidFill>
              </a:rPr>
              <a:t> (5th ed.). Oxford University Press.</a:t>
            </a: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8F43E417-8663-07BB-B9EB-81BC5741D273}"/>
              </a:ext>
            </a:extLst>
          </p:cNvPr>
          <p:cNvSpPr txBox="1"/>
          <p:nvPr/>
        </p:nvSpPr>
        <p:spPr>
          <a:xfrm>
            <a:off x="591615" y="2114724"/>
            <a:ext cx="522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Stakeholder Theory of The Firm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2EB95-D36A-FB75-B0A0-3DFF4B774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5">
            <a:extLst>
              <a:ext uri="{FF2B5EF4-FFF2-40B4-BE49-F238E27FC236}">
                <a16:creationId xmlns:a16="http://schemas.microsoft.com/office/drawing/2014/main" id="{8D69877C-B42E-8BBD-5401-77646C31542C}"/>
              </a:ext>
            </a:extLst>
          </p:cNvPr>
          <p:cNvSpPr txBox="1"/>
          <p:nvPr/>
        </p:nvSpPr>
        <p:spPr>
          <a:xfrm>
            <a:off x="13195038" y="60670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21F116-28B5-3D8E-036D-C8BB38D83152}"/>
              </a:ext>
            </a:extLst>
          </p:cNvPr>
          <p:cNvSpPr txBox="1"/>
          <p:nvPr/>
        </p:nvSpPr>
        <p:spPr>
          <a:xfrm>
            <a:off x="240009" y="192827"/>
            <a:ext cx="4928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</a:rPr>
              <a:t>Stakeholder </a:t>
            </a:r>
            <a:r>
              <a:rPr lang="en-US" sz="2000" b="1">
                <a:solidFill>
                  <a:schemeClr val="accent1"/>
                </a:solidFill>
                <a:latin typeface="+mj-lt"/>
              </a:rPr>
              <a:t>Theory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5" name="Text Placeholder 1">
            <a:extLst>
              <a:ext uri="{FF2B5EF4-FFF2-40B4-BE49-F238E27FC236}">
                <a16:creationId xmlns:a16="http://schemas.microsoft.com/office/drawing/2014/main" id="{E01DE622-716F-669E-053A-2BCA5BB1405E}"/>
              </a:ext>
            </a:extLst>
          </p:cNvPr>
          <p:cNvSpPr txBox="1">
            <a:spLocks/>
          </p:cNvSpPr>
          <p:nvPr/>
        </p:nvSpPr>
        <p:spPr>
          <a:xfrm>
            <a:off x="209044" y="6545656"/>
            <a:ext cx="10405537" cy="312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latin typeface="+mn-lt"/>
              </a:rPr>
              <a:t>Crane, A., Matten, D., Glozer, S., &amp; Spence, L. (2019). </a:t>
            </a:r>
            <a:r>
              <a:rPr lang="en-ID" sz="700" i="1">
                <a:latin typeface="+mn-lt"/>
              </a:rPr>
              <a:t>Business Ethics: Managing Corporate Citizenship and Sustainability in the Age of Globalization</a:t>
            </a:r>
            <a:r>
              <a:rPr lang="en-ID" sz="700">
                <a:latin typeface="+mn-lt"/>
              </a:rPr>
              <a:t> (5th ed.). Oxford University Press.</a:t>
            </a:r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11D8E08F-A84B-C7F8-CCD0-1EF57946FFE2}"/>
              </a:ext>
            </a:extLst>
          </p:cNvPr>
          <p:cNvSpPr txBox="1">
            <a:spLocks/>
          </p:cNvSpPr>
          <p:nvPr/>
        </p:nvSpPr>
        <p:spPr>
          <a:xfrm>
            <a:off x="10793500" y="6417654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100" dirty="0">
                <a:solidFill>
                  <a:schemeClr val="tx1"/>
                </a:solidFill>
              </a:rPr>
              <a:t>Page  |  </a:t>
            </a:r>
            <a:fld id="{28718D47-A015-4C76-8C97-DE3515A3C496}" type="slidenum">
              <a:rPr lang="en-US" sz="1000" b="1" smtClean="0">
                <a:solidFill>
                  <a:schemeClr val="tx1"/>
                </a:solidFill>
              </a:rPr>
              <a:pPr/>
              <a:t>16</a:t>
            </a:fld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C5EC6B-B21F-1BD7-FFC7-A8A05832E036}"/>
              </a:ext>
            </a:extLst>
          </p:cNvPr>
          <p:cNvSpPr txBox="1"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Shareholder Tunggal Menuju Jaringan Stakeholder</a:t>
            </a: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88799CB-F805-0CD1-2647-FA8A0717105A}"/>
              </a:ext>
            </a:extLst>
          </p:cNvPr>
          <p:cNvSpPr txBox="1"/>
          <p:nvPr/>
        </p:nvSpPr>
        <p:spPr>
          <a:xfrm>
            <a:off x="548639" y="13090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Stakeholder (Freeman 1984): siapa pun yang dirugikan atau diuntungkan oleh tindakan perusahaan, atau yang haknya wajib dihormati. Dua prinsip penentunya (Evan &amp; Freeman 1993): corporate rights - perusahaan tidak boleh melanggar hak pihak lain; corporate effect - perusahaan bertanggung jawab atas dampak tindakannya.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53383250-66A6-5224-FBAC-9AC7F6C0101F}"/>
              </a:ext>
            </a:extLst>
          </p:cNvPr>
          <p:cNvSpPr/>
          <p:nvPr/>
        </p:nvSpPr>
        <p:spPr>
          <a:xfrm>
            <a:off x="548640" y="2121408"/>
            <a:ext cx="3503066" cy="4114800"/>
          </a:xfrm>
          <a:prstGeom prst="roundRect">
            <a:avLst>
              <a:gd name="adj" fmla="val 2088"/>
            </a:avLst>
          </a:prstGeom>
          <a:solidFill>
            <a:srgbClr val="F5F7FC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C050A048-52D6-6CB3-CA7A-9F4C8984FFB5}"/>
              </a:ext>
            </a:extLst>
          </p:cNvPr>
          <p:cNvSpPr txBox="1"/>
          <p:nvPr/>
        </p:nvSpPr>
        <p:spPr>
          <a:xfrm>
            <a:off x="731520" y="2304288"/>
            <a:ext cx="31373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ea typeface="Cambria" pitchFamily="34" charset="-122"/>
                <a:cs typeface="Cambria" pitchFamily="34" charset="-120"/>
              </a:rPr>
              <a:t>Traditional Model</a:t>
            </a:r>
            <a:endParaRPr lang="en-US" sz="1200" dirty="0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3DD164C7-0C77-BB59-74AA-9AED16237F27}"/>
              </a:ext>
            </a:extLst>
          </p:cNvPr>
          <p:cNvSpPr txBox="1"/>
          <p:nvPr/>
        </p:nvSpPr>
        <p:spPr>
          <a:xfrm>
            <a:off x="777240" y="5184648"/>
            <a:ext cx="30458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Hanya 4 kelompok inti. Shareholder = pemilik &amp; prioritas utama.</a:t>
            </a:r>
            <a:endParaRPr lang="en-US" sz="1100" dirty="0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391768C9-424D-FD83-6AED-B12D8AF76AF3}"/>
              </a:ext>
            </a:extLst>
          </p:cNvPr>
          <p:cNvSpPr/>
          <p:nvPr/>
        </p:nvSpPr>
        <p:spPr>
          <a:xfrm>
            <a:off x="4344314" y="2121408"/>
            <a:ext cx="3503066" cy="4114800"/>
          </a:xfrm>
          <a:prstGeom prst="roundRect">
            <a:avLst>
              <a:gd name="adj" fmla="val 2088"/>
            </a:avLst>
          </a:prstGeom>
          <a:solidFill>
            <a:srgbClr val="EEF2FB"/>
          </a:solidFill>
          <a:ln/>
        </p:spPr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6200E2A3-C5ED-02F6-E035-9F6AAF2B933F}"/>
              </a:ext>
            </a:extLst>
          </p:cNvPr>
          <p:cNvSpPr txBox="1"/>
          <p:nvPr/>
        </p:nvSpPr>
        <p:spPr>
          <a:xfrm>
            <a:off x="4527194" y="2304288"/>
            <a:ext cx="31373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ea typeface="Cambria" pitchFamily="34" charset="-122"/>
                <a:cs typeface="Cambria" pitchFamily="34" charset="-120"/>
              </a:rPr>
              <a:t>Stakeholder Model</a:t>
            </a:r>
            <a:endParaRPr lang="en-US" sz="1200" dirty="0"/>
          </a:p>
        </p:txBody>
      </p:sp>
      <p:sp>
        <p:nvSpPr>
          <p:cNvPr id="22" name="Text 42">
            <a:extLst>
              <a:ext uri="{FF2B5EF4-FFF2-40B4-BE49-F238E27FC236}">
                <a16:creationId xmlns:a16="http://schemas.microsoft.com/office/drawing/2014/main" id="{9D4557C1-A089-6A19-D05E-C393402368DB}"/>
              </a:ext>
            </a:extLst>
          </p:cNvPr>
          <p:cNvSpPr txBox="1"/>
          <p:nvPr/>
        </p:nvSpPr>
        <p:spPr>
          <a:xfrm>
            <a:off x="4572914" y="5184648"/>
            <a:ext cx="30458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Freeman (1984): shareholder hanya satu dari banyak kelompok yang harus dipertimbangkan (Figure 2.3b).</a:t>
            </a:r>
            <a:endParaRPr lang="en-US" sz="1100" dirty="0"/>
          </a:p>
        </p:txBody>
      </p:sp>
      <p:sp>
        <p:nvSpPr>
          <p:cNvPr id="25" name="Shape 43">
            <a:extLst>
              <a:ext uri="{FF2B5EF4-FFF2-40B4-BE49-F238E27FC236}">
                <a16:creationId xmlns:a16="http://schemas.microsoft.com/office/drawing/2014/main" id="{514EEEBD-EA52-7F1B-0A04-33EF17EAA79A}"/>
              </a:ext>
            </a:extLst>
          </p:cNvPr>
          <p:cNvSpPr/>
          <p:nvPr/>
        </p:nvSpPr>
        <p:spPr>
          <a:xfrm>
            <a:off x="8139989" y="2121408"/>
            <a:ext cx="3503066" cy="4114800"/>
          </a:xfrm>
          <a:prstGeom prst="roundRect">
            <a:avLst>
              <a:gd name="adj" fmla="val 2088"/>
            </a:avLst>
          </a:prstGeom>
          <a:solidFill>
            <a:srgbClr val="1E2761"/>
          </a:solidFill>
          <a:ln/>
        </p:spPr>
      </p:sp>
      <p:sp>
        <p:nvSpPr>
          <p:cNvPr id="28" name="Text 44">
            <a:extLst>
              <a:ext uri="{FF2B5EF4-FFF2-40B4-BE49-F238E27FC236}">
                <a16:creationId xmlns:a16="http://schemas.microsoft.com/office/drawing/2014/main" id="{74B81CCD-3BF8-E458-246D-D3FF0AB59D3E}"/>
              </a:ext>
            </a:extLst>
          </p:cNvPr>
          <p:cNvSpPr txBox="1"/>
          <p:nvPr/>
        </p:nvSpPr>
        <p:spPr>
          <a:xfrm>
            <a:off x="8322869" y="2304288"/>
            <a:ext cx="31373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Network Model</a:t>
            </a:r>
            <a:endParaRPr lang="en-US" sz="1200" dirty="0"/>
          </a:p>
        </p:txBody>
      </p:sp>
      <p:sp>
        <p:nvSpPr>
          <p:cNvPr id="30" name="Text 65">
            <a:extLst>
              <a:ext uri="{FF2B5EF4-FFF2-40B4-BE49-F238E27FC236}">
                <a16:creationId xmlns:a16="http://schemas.microsoft.com/office/drawing/2014/main" id="{5AA4D11D-823E-EB97-7F88-7FE707AEC4FB}"/>
              </a:ext>
            </a:extLst>
          </p:cNvPr>
          <p:cNvSpPr txBox="1"/>
          <p:nvPr/>
        </p:nvSpPr>
        <p:spPr>
          <a:xfrm>
            <a:off x="8368589" y="5184648"/>
            <a:ext cx="30458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Rowley (1997): setiap stakeholder juga punya stakeholder-nya sendiri — membentuk jaringan relasi yang kompleks.</a:t>
            </a:r>
            <a:endParaRPr lang="en-US" sz="11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8F0A01C-B72B-C39D-0FB8-72F9CB6BE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24" y="2857340"/>
            <a:ext cx="2568163" cy="18518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AB90C22-6212-6D63-9BF9-01BF71D93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794" y="2822911"/>
            <a:ext cx="2702967" cy="19558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B3F33F5-1BA3-7CE4-9120-A2247AAA8D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375" y="2807208"/>
            <a:ext cx="3248293" cy="20572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143598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98BF1-8763-316C-D6A9-A10F97ED5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5">
            <a:extLst>
              <a:ext uri="{FF2B5EF4-FFF2-40B4-BE49-F238E27FC236}">
                <a16:creationId xmlns:a16="http://schemas.microsoft.com/office/drawing/2014/main" id="{727D425D-1BC3-E4D7-2BF8-CD4CD292494A}"/>
              </a:ext>
            </a:extLst>
          </p:cNvPr>
          <p:cNvSpPr txBox="1"/>
          <p:nvPr/>
        </p:nvSpPr>
        <p:spPr>
          <a:xfrm>
            <a:off x="13195038" y="60670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2CEDF5-51B8-7E26-B823-C2BB80710A77}"/>
              </a:ext>
            </a:extLst>
          </p:cNvPr>
          <p:cNvSpPr txBox="1"/>
          <p:nvPr/>
        </p:nvSpPr>
        <p:spPr>
          <a:xfrm>
            <a:off x="240009" y="192827"/>
            <a:ext cx="4928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</a:rPr>
              <a:t>Stakeholder </a:t>
            </a:r>
            <a:r>
              <a:rPr lang="en-US" sz="2000" b="1">
                <a:solidFill>
                  <a:schemeClr val="accent1"/>
                </a:solidFill>
                <a:latin typeface="+mj-lt"/>
              </a:rPr>
              <a:t>Theory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5" name="Text Placeholder 1">
            <a:extLst>
              <a:ext uri="{FF2B5EF4-FFF2-40B4-BE49-F238E27FC236}">
                <a16:creationId xmlns:a16="http://schemas.microsoft.com/office/drawing/2014/main" id="{2332D60B-BE60-8B87-0BC8-DF4FFE406548}"/>
              </a:ext>
            </a:extLst>
          </p:cNvPr>
          <p:cNvSpPr txBox="1">
            <a:spLocks/>
          </p:cNvSpPr>
          <p:nvPr/>
        </p:nvSpPr>
        <p:spPr>
          <a:xfrm>
            <a:off x="209044" y="6545656"/>
            <a:ext cx="10405537" cy="312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latin typeface="+mn-lt"/>
              </a:rPr>
              <a:t>Crane, A., Matten, D., Glozer, S., &amp; Spence, L. (2019). </a:t>
            </a:r>
            <a:r>
              <a:rPr lang="en-ID" sz="700" i="1">
                <a:latin typeface="+mn-lt"/>
              </a:rPr>
              <a:t>Business Ethics: Managing Corporate Citizenship and Sustainability in the Age of Globalization</a:t>
            </a:r>
            <a:r>
              <a:rPr lang="en-ID" sz="700">
                <a:latin typeface="+mn-lt"/>
              </a:rPr>
              <a:t> (5th ed.). Oxford University Press.</a:t>
            </a:r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50A04765-7137-286B-264F-62549B56D80B}"/>
              </a:ext>
            </a:extLst>
          </p:cNvPr>
          <p:cNvSpPr txBox="1">
            <a:spLocks/>
          </p:cNvSpPr>
          <p:nvPr/>
        </p:nvSpPr>
        <p:spPr>
          <a:xfrm>
            <a:off x="10793500" y="6417654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100" dirty="0">
                <a:solidFill>
                  <a:schemeClr val="tx1"/>
                </a:solidFill>
              </a:rPr>
              <a:t>Page  |  </a:t>
            </a:r>
            <a:fld id="{28718D47-A015-4C76-8C97-DE3515A3C496}" type="slidenum">
              <a:rPr lang="en-US" sz="1000" b="1" smtClean="0">
                <a:solidFill>
                  <a:schemeClr val="tx1"/>
                </a:solidFill>
              </a:rPr>
              <a:pPr/>
              <a:t>17</a:t>
            </a:fld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DC85523-34AE-4A16-C2CE-7C53632D5C4E}"/>
              </a:ext>
            </a:extLst>
          </p:cNvPr>
          <p:cNvSpPr txBox="1"/>
          <p:nvPr/>
        </p:nvSpPr>
        <p:spPr>
          <a:xfrm>
            <a:off x="548640" y="79552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Alasan Kelompok Lain Punya Klaim Sah</a:t>
            </a:r>
            <a:endParaRPr lang="en-US" sz="20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6C4C048-B7EE-D5F1-72D6-4123A3BC360C}"/>
              </a:ext>
            </a:extLst>
          </p:cNvPr>
          <p:cNvSpPr txBox="1"/>
          <p:nvPr/>
        </p:nvSpPr>
        <p:spPr>
          <a:xfrm>
            <a:off x="548640" y="1490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Teori stakeholder harus menjawab keberatan Friedman: mengapa kelompok selain pemegang saham berhak menuntut perusahaan?</a:t>
            </a:r>
            <a:endParaRPr lang="en-US" sz="11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E89520BF-BBE4-8254-D0AC-5DE3E2FEE458}"/>
              </a:ext>
            </a:extLst>
          </p:cNvPr>
          <p:cNvSpPr/>
          <p:nvPr/>
        </p:nvSpPr>
        <p:spPr>
          <a:xfrm>
            <a:off x="548640" y="1998681"/>
            <a:ext cx="5440680" cy="2139696"/>
          </a:xfrm>
          <a:prstGeom prst="roundRect">
            <a:avLst>
              <a:gd name="adj" fmla="val 2564"/>
            </a:avLst>
          </a:prstGeom>
          <a:solidFill>
            <a:srgbClr val="F3F0F1"/>
          </a:solidFill>
          <a:ln/>
        </p:spPr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5A0283F3-412D-B71A-5235-0CE1BFD81548}"/>
              </a:ext>
            </a:extLst>
          </p:cNvPr>
          <p:cNvSpPr txBox="1"/>
          <p:nvPr/>
        </p:nvSpPr>
        <p:spPr>
          <a:xfrm>
            <a:off x="822960" y="2199849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8C2F39"/>
                </a:solidFill>
                <a:ea typeface="Calibri" pitchFamily="34" charset="-122"/>
                <a:cs typeface="Calibri" pitchFamily="34" charset="-120"/>
              </a:rPr>
              <a:t>PERSPEKTIF HUKUM</a:t>
            </a:r>
            <a:endParaRPr lang="en-US" sz="11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74D5703-B47D-BFE2-1116-3C6CC25F07CC}"/>
              </a:ext>
            </a:extLst>
          </p:cNvPr>
          <p:cNvSpPr txBox="1"/>
          <p:nvPr/>
        </p:nvSpPr>
        <p:spPr>
          <a:xfrm>
            <a:off x="822960" y="2492457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Klaim mereka sudah terlindungi</a:t>
            </a:r>
            <a:endParaRPr lang="en-US" sz="11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AAB426BC-CB08-8D25-D2EC-24FBF3CEC908}"/>
              </a:ext>
            </a:extLst>
          </p:cNvPr>
          <p:cNvSpPr txBox="1"/>
          <p:nvPr/>
        </p:nvSpPr>
        <p:spPr>
          <a:xfrm>
            <a:off x="822960" y="2858217"/>
            <a:ext cx="4892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Secara faktual tidak benar bahwa hanya pemegang saham yang punya kepentingan sah. Ada kontrak yang mengikat, ditambah jaringan hukum dan regulasi yang makin rapat — misalnya perlindungan hak pekerja atas kondisi kerja dan upah. Dari sudut pandang etis, sudah disepakati bahwa korporasi memikul kewajiban terhadap mereka.</a:t>
            </a:r>
            <a:endParaRPr lang="en-US" sz="11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BCDB4936-EBA5-AB53-8B23-3ADE8DD3F04C}"/>
              </a:ext>
            </a:extLst>
          </p:cNvPr>
          <p:cNvSpPr/>
          <p:nvPr/>
        </p:nvSpPr>
        <p:spPr>
          <a:xfrm>
            <a:off x="6172200" y="1998681"/>
            <a:ext cx="5440680" cy="2139696"/>
          </a:xfrm>
          <a:prstGeom prst="roundRect">
            <a:avLst>
              <a:gd name="adj" fmla="val 2564"/>
            </a:avLst>
          </a:prstGeom>
          <a:solidFill>
            <a:srgbClr val="F3F0F1"/>
          </a:solidFill>
          <a:ln/>
        </p:spPr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3777570-F8F6-A258-E817-31051315128D}"/>
              </a:ext>
            </a:extLst>
          </p:cNvPr>
          <p:cNvSpPr txBox="1"/>
          <p:nvPr/>
        </p:nvSpPr>
        <p:spPr>
          <a:xfrm>
            <a:off x="6446520" y="2199849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A85541"/>
                </a:solidFill>
                <a:ea typeface="Calibri" pitchFamily="34" charset="-122"/>
                <a:cs typeface="Calibri" pitchFamily="34" charset="-120"/>
              </a:rPr>
              <a:t>PERSPEKTIF EKONOMI</a:t>
            </a:r>
            <a:endParaRPr lang="en-US" sz="11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BDDFB686-43A9-1A24-B166-8A85221DADB3}"/>
              </a:ext>
            </a:extLst>
          </p:cNvPr>
          <p:cNvSpPr txBox="1"/>
          <p:nvPr/>
        </p:nvSpPr>
        <p:spPr>
          <a:xfrm>
            <a:off x="6446520" y="2492457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Masalah keagenan (agency problem)</a:t>
            </a:r>
            <a:endParaRPr lang="en-US" sz="11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D3467032-8FFF-6B5A-6B43-315570C59221}"/>
              </a:ext>
            </a:extLst>
          </p:cNvPr>
          <p:cNvSpPr txBox="1"/>
          <p:nvPr/>
        </p:nvSpPr>
        <p:spPr>
          <a:xfrm>
            <a:off x="6446520" y="2858217"/>
            <a:ext cx="4892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Mayoritas pemegang saham tidak membeli saham untuk "memiliki" perusahaan. Banyak yang membeli untuk alasan spekulatif — yang mereka pedulikan adalah pergerakan harga saham. Maka tidak jelas mengapa kepentingan jangka pendek itu harus mengungguli kepentingan jangka panjang konsumen, karyawan, dan pemasok.</a:t>
            </a:r>
            <a:endParaRPr lang="en-US" sz="1100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97A71D52-293F-6427-976A-DA8B3B63FA4E}"/>
              </a:ext>
            </a:extLst>
          </p:cNvPr>
          <p:cNvSpPr/>
          <p:nvPr/>
        </p:nvSpPr>
        <p:spPr>
          <a:xfrm>
            <a:off x="548640" y="4443984"/>
            <a:ext cx="5440680" cy="1316736"/>
          </a:xfrm>
          <a:prstGeom prst="roundRect">
            <a:avLst>
              <a:gd name="adj" fmla="val 4167"/>
            </a:avLst>
          </a:prstGeom>
          <a:solidFill>
            <a:srgbClr val="002060"/>
          </a:solidFill>
          <a:ln/>
        </p:spPr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FE3630EC-4A64-9DCF-D77D-A9503BE7DD8A}"/>
              </a:ext>
            </a:extLst>
          </p:cNvPr>
          <p:cNvSpPr txBox="1"/>
          <p:nvPr/>
        </p:nvSpPr>
        <p:spPr>
          <a:xfrm>
            <a:off x="822960" y="462686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"Most shareholders can sell their stocks far more easily than most employees can find another job."</a:t>
            </a:r>
            <a:endParaRPr lang="en-US" sz="110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9F411577-126C-2D72-CC78-B7D03D645C60}"/>
              </a:ext>
            </a:extLst>
          </p:cNvPr>
          <p:cNvSpPr txBox="1"/>
          <p:nvPr/>
        </p:nvSpPr>
        <p:spPr>
          <a:xfrm>
            <a:off x="853440" y="517550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BE6B"/>
                </a:solidFill>
                <a:ea typeface="Calibri" pitchFamily="34" charset="-122"/>
                <a:cs typeface="Calibri" pitchFamily="34" charset="-120"/>
              </a:rPr>
              <a:t>Sumantra Ghoshal (2005: 80)</a:t>
            </a:r>
            <a:endParaRPr lang="en-US" sz="1100" dirty="0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58FFEDD9-E17F-393A-0BE4-38839B8A5E9A}"/>
              </a:ext>
            </a:extLst>
          </p:cNvPr>
          <p:cNvSpPr/>
          <p:nvPr/>
        </p:nvSpPr>
        <p:spPr>
          <a:xfrm>
            <a:off x="6172200" y="4443984"/>
            <a:ext cx="5440680" cy="1316736"/>
          </a:xfrm>
          <a:prstGeom prst="roundRect">
            <a:avLst>
              <a:gd name="adj" fmla="val 4167"/>
            </a:avLst>
          </a:prstGeom>
          <a:solidFill>
            <a:srgbClr val="002060"/>
          </a:solidFill>
          <a:ln/>
        </p:spPr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792AF60F-9AF2-91D8-FE74-5F965E2A6606}"/>
              </a:ext>
            </a:extLst>
          </p:cNvPr>
          <p:cNvSpPr txBox="1"/>
          <p:nvPr/>
        </p:nvSpPr>
        <p:spPr>
          <a:xfrm>
            <a:off x="6446520" y="462686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Konsekuensinya: manajer wajib menyeimbangkan semua stakeholder yang sah - bukan memaksimalkan satu kelompok saja. Tiga bentuk teori: normatif, deskriptif, instrumental.</a:t>
            </a:r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733B64E1-A90C-1FBA-158E-63520581BA9E}"/>
              </a:ext>
            </a:extLst>
          </p:cNvPr>
          <p:cNvSpPr txBox="1"/>
          <p:nvPr/>
        </p:nvSpPr>
        <p:spPr>
          <a:xfrm>
            <a:off x="6446520" y="517550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BE6B"/>
                </a:solidFill>
                <a:ea typeface="Calibri" pitchFamily="34" charset="-122"/>
                <a:cs typeface="Calibri" pitchFamily="34" charset="-120"/>
              </a:rPr>
              <a:t>Freeman (1984); Donaldson &amp; Preston (1995)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57959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931920"/>
            <a:ext cx="4937760" cy="4937760"/>
          </a:xfrm>
          <a:prstGeom prst="ellipse">
            <a:avLst/>
          </a:prstGeom>
          <a:ln w="16510">
            <a:solidFill>
              <a:srgbClr val="3A5A9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1310" y="3120564"/>
            <a:ext cx="41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3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negara mundur atau gagal menjalankan fungsinya</a:t>
            </a:r>
            <a:r>
              <a:rPr lang="en-US" sz="135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jika perusahaan sudah terlanjur mengambil peran yang dulu dipegang negara?</a:t>
            </a:r>
            <a:r>
              <a:rPr lang="en-US" sz="135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50" i="1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9402775" y="2468880"/>
            <a:ext cx="1920240" cy="1920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/home/claude/icons/voteYea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406" y="2718511"/>
            <a:ext cx="1420978" cy="142097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DA2040-6A08-819F-C24E-8BCAABB6D7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31700" y="1"/>
            <a:ext cx="10287001" cy="6858000"/>
          </a:xfrm>
          <a:prstGeom prst="rect">
            <a:avLst/>
          </a:prstGeom>
        </p:spPr>
      </p:pic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3AE2D669-96D0-26AD-3DF6-E3B0DE6FE916}"/>
              </a:ext>
            </a:extLst>
          </p:cNvPr>
          <p:cNvSpPr txBox="1">
            <a:spLocks/>
          </p:cNvSpPr>
          <p:nvPr/>
        </p:nvSpPr>
        <p:spPr>
          <a:xfrm>
            <a:off x="209045" y="6417653"/>
            <a:ext cx="4843288" cy="3358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solidFill>
                  <a:schemeClr val="bg1"/>
                </a:solidFill>
              </a:rPr>
              <a:t>Crane, A., Matten, D., Glozer, S., &amp; Spence, L. (2019). </a:t>
            </a:r>
            <a:r>
              <a:rPr lang="en-ID" sz="700" i="1">
                <a:solidFill>
                  <a:schemeClr val="bg1"/>
                </a:solidFill>
              </a:rPr>
              <a:t>Business Ethics: Managing Corporate Citizenship and Sustainability in the Age of Globalization</a:t>
            </a:r>
            <a:r>
              <a:rPr lang="en-ID" sz="700">
                <a:solidFill>
                  <a:schemeClr val="bg1"/>
                </a:solidFill>
              </a:rPr>
              <a:t> (5th ed.). Oxford University Press.</a:t>
            </a: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0D6DFB0F-6DED-2FA4-4A94-FD6FD62EE768}"/>
              </a:ext>
            </a:extLst>
          </p:cNvPr>
          <p:cNvSpPr txBox="1"/>
          <p:nvPr/>
        </p:nvSpPr>
        <p:spPr>
          <a:xfrm>
            <a:off x="591615" y="2114724"/>
            <a:ext cx="522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Corporate Citizenship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22CB9-0CAB-9D96-89E1-B93CE32DC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5">
            <a:extLst>
              <a:ext uri="{FF2B5EF4-FFF2-40B4-BE49-F238E27FC236}">
                <a16:creationId xmlns:a16="http://schemas.microsoft.com/office/drawing/2014/main" id="{19B1182A-30A2-378E-536A-013193700B20}"/>
              </a:ext>
            </a:extLst>
          </p:cNvPr>
          <p:cNvSpPr txBox="1"/>
          <p:nvPr/>
        </p:nvSpPr>
        <p:spPr>
          <a:xfrm>
            <a:off x="13195038" y="60670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F11BDD-7585-CB72-0157-6E8133A3CCA2}"/>
              </a:ext>
            </a:extLst>
          </p:cNvPr>
          <p:cNvSpPr txBox="1"/>
          <p:nvPr/>
        </p:nvSpPr>
        <p:spPr>
          <a:xfrm>
            <a:off x="240009" y="192827"/>
            <a:ext cx="4928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</a:rPr>
              <a:t>Corporate </a:t>
            </a:r>
            <a:r>
              <a:rPr lang="en-US" sz="2000" b="1">
                <a:solidFill>
                  <a:schemeClr val="accent1"/>
                </a:solidFill>
                <a:latin typeface="+mj-lt"/>
              </a:rPr>
              <a:t>Citizenship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5" name="Text Placeholder 1">
            <a:extLst>
              <a:ext uri="{FF2B5EF4-FFF2-40B4-BE49-F238E27FC236}">
                <a16:creationId xmlns:a16="http://schemas.microsoft.com/office/drawing/2014/main" id="{8068DE76-8E3A-E0FF-ED67-6A7C86247BAE}"/>
              </a:ext>
            </a:extLst>
          </p:cNvPr>
          <p:cNvSpPr txBox="1">
            <a:spLocks/>
          </p:cNvSpPr>
          <p:nvPr/>
        </p:nvSpPr>
        <p:spPr>
          <a:xfrm>
            <a:off x="209044" y="6545656"/>
            <a:ext cx="10405537" cy="312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latin typeface="+mn-lt"/>
              </a:rPr>
              <a:t>Crane, A., Matten, D., Glozer, S., &amp; Spence, L. (2019). </a:t>
            </a:r>
            <a:r>
              <a:rPr lang="en-ID" sz="700" i="1">
                <a:latin typeface="+mn-lt"/>
              </a:rPr>
              <a:t>Business Ethics: Managing Corporate Citizenship and Sustainability in the Age of Globalization</a:t>
            </a:r>
            <a:r>
              <a:rPr lang="en-ID" sz="700">
                <a:latin typeface="+mn-lt"/>
              </a:rPr>
              <a:t> (5th ed.). Oxford University Press.</a:t>
            </a:r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28D8F186-01A9-1662-96B2-9255F580179F}"/>
              </a:ext>
            </a:extLst>
          </p:cNvPr>
          <p:cNvSpPr txBox="1">
            <a:spLocks/>
          </p:cNvSpPr>
          <p:nvPr/>
        </p:nvSpPr>
        <p:spPr>
          <a:xfrm>
            <a:off x="10793500" y="6417654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100" dirty="0">
                <a:solidFill>
                  <a:schemeClr val="tx1"/>
                </a:solidFill>
              </a:rPr>
              <a:t>Page  |  </a:t>
            </a:r>
            <a:fld id="{28718D47-A015-4C76-8C97-DE3515A3C496}" type="slidenum">
              <a:rPr lang="en-US" sz="1000" b="1" smtClean="0">
                <a:solidFill>
                  <a:schemeClr val="tx1"/>
                </a:solidFill>
              </a:rPr>
              <a:pPr/>
              <a:t>20</a:t>
            </a:fld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B618437-75FC-1B66-20EB-A52C160CCEC9}"/>
              </a:ext>
            </a:extLst>
          </p:cNvPr>
          <p:cNvSpPr/>
          <p:nvPr/>
        </p:nvSpPr>
        <p:spPr>
          <a:xfrm>
            <a:off x="548640" y="1847088"/>
            <a:ext cx="3502152" cy="3346704"/>
          </a:xfrm>
          <a:prstGeom prst="roundRect">
            <a:avLst>
              <a:gd name="adj" fmla="val 1639"/>
            </a:avLst>
          </a:prstGeom>
          <a:solidFill>
            <a:srgbClr val="F3F0F1"/>
          </a:solidFill>
          <a:ln/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594CFED2-5A40-BF25-AC97-EDA0EF01C817}"/>
              </a:ext>
            </a:extLst>
          </p:cNvPr>
          <p:cNvSpPr/>
          <p:nvPr/>
        </p:nvSpPr>
        <p:spPr>
          <a:xfrm>
            <a:off x="804672" y="2066544"/>
            <a:ext cx="493776" cy="493776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5EE9051-C766-C025-3A76-C1C1D8C5CA2D}"/>
              </a:ext>
            </a:extLst>
          </p:cNvPr>
          <p:cNvSpPr txBox="1"/>
          <p:nvPr/>
        </p:nvSpPr>
        <p:spPr>
          <a:xfrm>
            <a:off x="804672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F6020D8-2132-2B63-542B-39DC11315474}"/>
              </a:ext>
            </a:extLst>
          </p:cNvPr>
          <p:cNvSpPr txBox="1"/>
          <p:nvPr/>
        </p:nvSpPr>
        <p:spPr>
          <a:xfrm>
            <a:off x="1408176" y="206654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8C2F39"/>
                </a:solidFill>
                <a:ea typeface="Calibri" pitchFamily="34" charset="-122"/>
                <a:cs typeface="Calibri" pitchFamily="34" charset="-120"/>
              </a:rPr>
              <a:t>PRIVATISASI</a:t>
            </a:r>
            <a:endParaRPr lang="en-US" sz="11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60564CF-74F5-35B9-DA5D-3F16C2CE5775}"/>
              </a:ext>
            </a:extLst>
          </p:cNvPr>
          <p:cNvSpPr txBox="1"/>
          <p:nvPr/>
        </p:nvSpPr>
        <p:spPr>
          <a:xfrm>
            <a:off x="804672" y="2688336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Pemerintah mundur dari pemenuhan kebutuhan sosial</a:t>
            </a:r>
            <a:endParaRPr lang="en-US" sz="12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681BBABE-C02D-77ED-2222-39EB3DB008A0}"/>
              </a:ext>
            </a:extLst>
          </p:cNvPr>
          <p:cNvSpPr txBox="1"/>
          <p:nvPr/>
        </p:nvSpPr>
        <p:spPr>
          <a:xfrm>
            <a:off x="804672" y="3438144"/>
            <a:ext cx="30175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Dulu air, listrik, pendidikan, kesehatan, dan transportasi disediakan negara. Kini banyak yang diprivatisasi - layanan publik berpindah ke tangan perusahaan.</a:t>
            </a:r>
            <a:endParaRPr lang="en-US" sz="12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8C1EC4B9-50FE-2A71-EAFB-A7A9B8DFFC5A}"/>
              </a:ext>
            </a:extLst>
          </p:cNvPr>
          <p:cNvSpPr/>
          <p:nvPr/>
        </p:nvSpPr>
        <p:spPr>
          <a:xfrm>
            <a:off x="4329684" y="1847088"/>
            <a:ext cx="3502152" cy="3346704"/>
          </a:xfrm>
          <a:prstGeom prst="roundRect">
            <a:avLst>
              <a:gd name="adj" fmla="val 1639"/>
            </a:avLst>
          </a:prstGeom>
          <a:solidFill>
            <a:srgbClr val="F3F0F1"/>
          </a:solidFill>
          <a:ln/>
        </p:spPr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5F18649E-72B2-FCA0-2B76-D70B41436001}"/>
              </a:ext>
            </a:extLst>
          </p:cNvPr>
          <p:cNvSpPr/>
          <p:nvPr/>
        </p:nvSpPr>
        <p:spPr>
          <a:xfrm>
            <a:off x="4585716" y="2066544"/>
            <a:ext cx="493776" cy="493776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D1AB6F2A-42A6-89FE-A10C-D3DE14E4AA98}"/>
              </a:ext>
            </a:extLst>
          </p:cNvPr>
          <p:cNvSpPr txBox="1"/>
          <p:nvPr/>
        </p:nvSpPr>
        <p:spPr>
          <a:xfrm>
            <a:off x="4585716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C970D881-FF20-235F-1D6C-CF01D41F08A3}"/>
              </a:ext>
            </a:extLst>
          </p:cNvPr>
          <p:cNvSpPr txBox="1"/>
          <p:nvPr/>
        </p:nvSpPr>
        <p:spPr>
          <a:xfrm>
            <a:off x="5189220" y="206654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A85541"/>
                </a:solidFill>
                <a:ea typeface="Calibri" pitchFamily="34" charset="-122"/>
                <a:cs typeface="Calibri" pitchFamily="34" charset="-120"/>
              </a:rPr>
              <a:t>KEKOSONGAN NEGARA</a:t>
            </a:r>
            <a:endParaRPr lang="en-US" sz="11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E59FDF1C-F323-4B1D-8219-CC39A55914FA}"/>
              </a:ext>
            </a:extLst>
          </p:cNvPr>
          <p:cNvSpPr txBox="1"/>
          <p:nvPr/>
        </p:nvSpPr>
        <p:spPr>
          <a:xfrm>
            <a:off x="4585716" y="2688336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Pemerintah tidak mampu atau tidak mau memenuhinya</a:t>
            </a:r>
            <a:endParaRPr lang="en-US" sz="120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A463B551-9EB3-73B0-CEB1-1D7BA25CCF7C}"/>
              </a:ext>
            </a:extLst>
          </p:cNvPr>
          <p:cNvSpPr txBox="1"/>
          <p:nvPr/>
        </p:nvSpPr>
        <p:spPr>
          <a:xfrm>
            <a:off x="4585716" y="3438144"/>
            <a:ext cx="30175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Di negara berkembang, pemerintah sering kekurangan sumber daya. Perusahaan tambang membangun jalan, sekolah, dan rumah sakit bagi komunitas di sekitarnya — perusahaan pun "bermain sebagai pemerintah".</a:t>
            </a:r>
            <a:endParaRPr lang="en-US" sz="1200" dirty="0"/>
          </a:p>
        </p:txBody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485F2370-403D-80AC-7547-0478F1494EFB}"/>
              </a:ext>
            </a:extLst>
          </p:cNvPr>
          <p:cNvSpPr/>
          <p:nvPr/>
        </p:nvSpPr>
        <p:spPr>
          <a:xfrm>
            <a:off x="8110728" y="1847088"/>
            <a:ext cx="3502152" cy="3346704"/>
          </a:xfrm>
          <a:prstGeom prst="roundRect">
            <a:avLst>
              <a:gd name="adj" fmla="val 1639"/>
            </a:avLst>
          </a:prstGeom>
          <a:solidFill>
            <a:srgbClr val="F3F0F1"/>
          </a:solidFill>
          <a:ln/>
        </p:spPr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E7743958-05F4-D0BB-101C-7A8C5927CF08}"/>
              </a:ext>
            </a:extLst>
          </p:cNvPr>
          <p:cNvSpPr/>
          <p:nvPr/>
        </p:nvSpPr>
        <p:spPr>
          <a:xfrm>
            <a:off x="8366760" y="2066544"/>
            <a:ext cx="493776" cy="493776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C1E352D6-CAA5-04D8-9CB4-CF904389030F}"/>
              </a:ext>
            </a:extLst>
          </p:cNvPr>
          <p:cNvSpPr txBox="1"/>
          <p:nvPr/>
        </p:nvSpPr>
        <p:spPr>
          <a:xfrm>
            <a:off x="8366760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446450F6-8320-C53A-1762-FF59B357CAC6}"/>
              </a:ext>
            </a:extLst>
          </p:cNvPr>
          <p:cNvSpPr txBox="1"/>
          <p:nvPr/>
        </p:nvSpPr>
        <p:spPr>
          <a:xfrm>
            <a:off x="8970264" y="206654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5C7A6B"/>
                </a:solidFill>
                <a:ea typeface="Calibri" pitchFamily="34" charset="-122"/>
                <a:cs typeface="Calibri" pitchFamily="34" charset="-120"/>
              </a:rPr>
              <a:t>BATAS YURISDIKSI</a:t>
            </a:r>
            <a:endParaRPr lang="en-US" sz="1100" dirty="0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F787D0B5-D2C3-6D6F-98D2-566D3C709F4C}"/>
              </a:ext>
            </a:extLst>
          </p:cNvPr>
          <p:cNvSpPr txBox="1"/>
          <p:nvPr/>
        </p:nvSpPr>
        <p:spPr>
          <a:xfrm>
            <a:off x="8366760" y="2688336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Pemerintah hanya menjangkau yang ada dalam kuasanya</a:t>
            </a:r>
            <a:endParaRPr lang="en-US" sz="1200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2AF31DDE-0AE7-A13E-E30A-00AC6B7155A4}"/>
              </a:ext>
            </a:extLst>
          </p:cNvPr>
          <p:cNvSpPr txBox="1"/>
          <p:nvPr/>
        </p:nvSpPr>
        <p:spPr>
          <a:xfrm>
            <a:off x="8366760" y="3438144"/>
            <a:ext cx="30175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Pasar keuangan global, iklim, dan internet melampaui kendali satu negara mana pun. Wilayah itu dijalankan oleh bisnis — maka harapan publik pun beralih ke bisnis.</a:t>
            </a:r>
            <a:endParaRPr lang="en-US" sz="1200" dirty="0"/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B3407554-A4B9-6B2E-03C1-245FA22481BB}"/>
              </a:ext>
            </a:extLst>
          </p:cNvPr>
          <p:cNvSpPr/>
          <p:nvPr/>
        </p:nvSpPr>
        <p:spPr>
          <a:xfrm>
            <a:off x="548640" y="537667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0070C0"/>
          </a:solidFill>
          <a:ln/>
        </p:spPr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FF904855-58E3-9DAC-4FA3-020831A5F0F9}"/>
              </a:ext>
            </a:extLst>
          </p:cNvPr>
          <p:cNvSpPr txBox="1"/>
          <p:nvPr/>
        </p:nvSpPr>
        <p:spPr>
          <a:xfrm>
            <a:off x="841248" y="5376672"/>
            <a:ext cx="10424160" cy="749808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Akibatnya, bisnis kini menghadapi banyak ekspektasi sosial yang biasanya hanya dialamatkan kepada otoritas politik. Konsep kunci untuk membaca pergeseran ini adalah corporate citizenship.</a:t>
            </a:r>
            <a:endParaRPr lang="en-US" sz="1100" dirty="0"/>
          </a:p>
        </p:txBody>
      </p:sp>
      <p:sp>
        <p:nvSpPr>
          <p:cNvPr id="64" name="Text 1">
            <a:extLst>
              <a:ext uri="{FF2B5EF4-FFF2-40B4-BE49-F238E27FC236}">
                <a16:creationId xmlns:a16="http://schemas.microsoft.com/office/drawing/2014/main" id="{04816B9E-7718-D64B-E32E-E97D49E1E1E2}"/>
              </a:ext>
            </a:extLst>
          </p:cNvPr>
          <p:cNvSpPr txBox="1"/>
          <p:nvPr/>
        </p:nvSpPr>
        <p:spPr>
          <a:xfrm>
            <a:off x="548640" y="1057754"/>
            <a:ext cx="11064240" cy="51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Perkembangan yang Menggeser Pembagian Kerja Politik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65028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E80ED-CA82-E8FE-E24F-A0E62A67B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5">
            <a:extLst>
              <a:ext uri="{FF2B5EF4-FFF2-40B4-BE49-F238E27FC236}">
                <a16:creationId xmlns:a16="http://schemas.microsoft.com/office/drawing/2014/main" id="{BABE2643-FC32-889B-161C-0DA5C88F2B70}"/>
              </a:ext>
            </a:extLst>
          </p:cNvPr>
          <p:cNvSpPr txBox="1"/>
          <p:nvPr/>
        </p:nvSpPr>
        <p:spPr>
          <a:xfrm>
            <a:off x="13195038" y="60670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BFC861-5D68-6CA1-D4FF-6A6F86390672}"/>
              </a:ext>
            </a:extLst>
          </p:cNvPr>
          <p:cNvSpPr txBox="1"/>
          <p:nvPr/>
        </p:nvSpPr>
        <p:spPr>
          <a:xfrm>
            <a:off x="240009" y="192827"/>
            <a:ext cx="4928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</a:rPr>
              <a:t>Corporate </a:t>
            </a:r>
            <a:r>
              <a:rPr lang="en-US" sz="2000" b="1">
                <a:solidFill>
                  <a:schemeClr val="accent1"/>
                </a:solidFill>
                <a:latin typeface="+mj-lt"/>
              </a:rPr>
              <a:t>Citizenship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5" name="Text Placeholder 1">
            <a:extLst>
              <a:ext uri="{FF2B5EF4-FFF2-40B4-BE49-F238E27FC236}">
                <a16:creationId xmlns:a16="http://schemas.microsoft.com/office/drawing/2014/main" id="{CCB51B14-E8A9-11DD-18A7-08DF43984DFA}"/>
              </a:ext>
            </a:extLst>
          </p:cNvPr>
          <p:cNvSpPr txBox="1">
            <a:spLocks/>
          </p:cNvSpPr>
          <p:nvPr/>
        </p:nvSpPr>
        <p:spPr>
          <a:xfrm>
            <a:off x="209044" y="6545656"/>
            <a:ext cx="10405537" cy="312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latin typeface="+mn-lt"/>
              </a:rPr>
              <a:t>Crane, A., Matten, D., Glozer, S., &amp; Spence, L. (2019). </a:t>
            </a:r>
            <a:r>
              <a:rPr lang="en-ID" sz="700" i="1">
                <a:latin typeface="+mn-lt"/>
              </a:rPr>
              <a:t>Business Ethics: Managing Corporate Citizenship and Sustainability in the Age of Globalization</a:t>
            </a:r>
            <a:r>
              <a:rPr lang="en-ID" sz="700">
                <a:latin typeface="+mn-lt"/>
              </a:rPr>
              <a:t> (5th ed.). Oxford University Press.</a:t>
            </a:r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E0EF7080-DF03-3BB1-8974-36DCA2A4C638}"/>
              </a:ext>
            </a:extLst>
          </p:cNvPr>
          <p:cNvSpPr txBox="1">
            <a:spLocks/>
          </p:cNvSpPr>
          <p:nvPr/>
        </p:nvSpPr>
        <p:spPr>
          <a:xfrm>
            <a:off x="10793500" y="6417654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100" dirty="0">
                <a:solidFill>
                  <a:schemeClr val="tx1"/>
                </a:solidFill>
              </a:rPr>
              <a:t>Page  |  </a:t>
            </a:r>
            <a:fld id="{28718D47-A015-4C76-8C97-DE3515A3C496}" type="slidenum">
              <a:rPr lang="en-US" sz="1000" b="1" smtClean="0">
                <a:solidFill>
                  <a:schemeClr val="tx1"/>
                </a:solidFill>
              </a:rPr>
              <a:pPr/>
              <a:t>21</a:t>
            </a:fld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53F4F5-164F-6EEC-2C90-58942B90FC13}"/>
              </a:ext>
            </a:extLst>
          </p:cNvPr>
          <p:cNvSpPr txBox="1"/>
          <p:nvPr/>
        </p:nvSpPr>
        <p:spPr>
          <a:xfrm>
            <a:off x="548640" y="9784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Cara Orang Memakai Istilah "Corporate Citizenship"</a:t>
            </a:r>
            <a:endParaRPr lang="en-US" sz="20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EDD516F-D3A4-86C2-1510-242B42C65C3B}"/>
              </a:ext>
            </a:extLst>
          </p:cNvPr>
          <p:cNvSpPr/>
          <p:nvPr/>
        </p:nvSpPr>
        <p:spPr>
          <a:xfrm>
            <a:off x="548640" y="1828800"/>
            <a:ext cx="3502152" cy="2304288"/>
          </a:xfrm>
          <a:prstGeom prst="roundRect">
            <a:avLst>
              <a:gd name="adj" fmla="val 2381"/>
            </a:avLst>
          </a:prstGeom>
          <a:solidFill>
            <a:srgbClr val="F3F0F1"/>
          </a:solidFill>
          <a:ln/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DD06B76-044A-DC1D-3724-8A0C3413F855}"/>
              </a:ext>
            </a:extLst>
          </p:cNvPr>
          <p:cNvSpPr txBox="1"/>
          <p:nvPr/>
        </p:nvSpPr>
        <p:spPr>
          <a:xfrm>
            <a:off x="804672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≈ FILANTROPI</a:t>
            </a:r>
            <a:endParaRPr lang="en-US" sz="10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19A7446A-4EC7-6779-DC54-BAEE1EF4B03A}"/>
              </a:ext>
            </a:extLst>
          </p:cNvPr>
          <p:cNvSpPr txBox="1"/>
          <p:nvPr/>
        </p:nvSpPr>
        <p:spPr>
          <a:xfrm>
            <a:off x="804672" y="23042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Limited view</a:t>
            </a:r>
            <a:endParaRPr lang="en-US" sz="16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112583D-823D-05E3-1E17-43189DCE657E}"/>
              </a:ext>
            </a:extLst>
          </p:cNvPr>
          <p:cNvSpPr txBox="1"/>
          <p:nvPr/>
        </p:nvSpPr>
        <p:spPr>
          <a:xfrm>
            <a:off x="804672" y="2779776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CC dipahami terutama sebagai filantropi: perusahaan yang berbudi luhur berbagi kekayaannya dengan "sesama warga".</a:t>
            </a:r>
            <a:endParaRPr lang="en-US" sz="12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5A86DDA8-F504-DB2D-DE70-42157CC90878}"/>
              </a:ext>
            </a:extLst>
          </p:cNvPr>
          <p:cNvSpPr/>
          <p:nvPr/>
        </p:nvSpPr>
        <p:spPr>
          <a:xfrm>
            <a:off x="4329684" y="1828800"/>
            <a:ext cx="3502152" cy="2304288"/>
          </a:xfrm>
          <a:prstGeom prst="roundRect">
            <a:avLst>
              <a:gd name="adj" fmla="val 2381"/>
            </a:avLst>
          </a:prstGeom>
          <a:solidFill>
            <a:srgbClr val="F3F0F1"/>
          </a:solidFill>
          <a:ln/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45DC5D17-6B05-98F0-59BF-C2245AC7406A}"/>
              </a:ext>
            </a:extLst>
          </p:cNvPr>
          <p:cNvSpPr txBox="1"/>
          <p:nvPr/>
        </p:nvSpPr>
        <p:spPr>
          <a:xfrm>
            <a:off x="4585716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A8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≈ CSR</a:t>
            </a:r>
            <a:endParaRPr lang="en-US" sz="10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53DD049A-E8EF-5D87-E1D0-AEA97765CDA3}"/>
              </a:ext>
            </a:extLst>
          </p:cNvPr>
          <p:cNvSpPr txBox="1"/>
          <p:nvPr/>
        </p:nvSpPr>
        <p:spPr>
          <a:xfrm>
            <a:off x="4585716" y="23042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Equivalent view</a:t>
            </a:r>
            <a:endParaRPr lang="en-US" sz="16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CD53C3B0-9049-FFAB-8121-EF7CAE94ED40}"/>
              </a:ext>
            </a:extLst>
          </p:cNvPr>
          <p:cNvSpPr txBox="1"/>
          <p:nvPr/>
        </p:nvSpPr>
        <p:spPr>
          <a:xfrm>
            <a:off x="4585716" y="2779776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CC dipakai nyaris sinonim dengan CSR — menyamakan perilaku bertetangga yang baik dengan peran bisnis yang bertanggung jawab.</a:t>
            </a:r>
            <a:endParaRPr lang="en-US" sz="1200" dirty="0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C0034CFF-EBBA-A2F7-F9E4-E051B3E5E834}"/>
              </a:ext>
            </a:extLst>
          </p:cNvPr>
          <p:cNvSpPr/>
          <p:nvPr/>
        </p:nvSpPr>
        <p:spPr>
          <a:xfrm>
            <a:off x="8110728" y="1828800"/>
            <a:ext cx="3502152" cy="2304288"/>
          </a:xfrm>
          <a:prstGeom prst="roundRect">
            <a:avLst>
              <a:gd name="adj" fmla="val 2381"/>
            </a:avLst>
          </a:prstGeom>
          <a:solidFill>
            <a:srgbClr val="451A28"/>
          </a:solidFill>
          <a:ln/>
        </p:spPr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8E503B05-07C2-A77B-E291-0879EEE31849}"/>
              </a:ext>
            </a:extLst>
          </p:cNvPr>
          <p:cNvSpPr txBox="1"/>
          <p:nvPr/>
        </p:nvSpPr>
        <p:spPr>
          <a:xfrm>
            <a:off x="8366760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= PERAN POLITIK</a:t>
            </a:r>
            <a:endParaRPr lang="en-US" sz="100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0E3758D8-D55F-FA6B-EAEC-CF7DDBAA6AC9}"/>
              </a:ext>
            </a:extLst>
          </p:cNvPr>
          <p:cNvSpPr txBox="1"/>
          <p:nvPr/>
        </p:nvSpPr>
        <p:spPr>
          <a:xfrm>
            <a:off x="8366760" y="23042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Extended view</a:t>
            </a:r>
            <a:endParaRPr lang="en-US" sz="16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3DA27F4C-25FF-EE5F-D8ED-996A60F39C45}"/>
              </a:ext>
            </a:extLst>
          </p:cNvPr>
          <p:cNvSpPr txBox="1"/>
          <p:nvPr/>
        </p:nvSpPr>
        <p:spPr>
          <a:xfrm>
            <a:off x="8366760" y="2779776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7AAB6"/>
                </a:solidFill>
                <a:ea typeface="Cambria" panose="02040503050406030204" pitchFamily="18" charset="0"/>
                <a:cs typeface="Calibri" pitchFamily="34" charset="-120"/>
              </a:rPr>
              <a:t>CC dibaca sebagai peran perusahaan dalam mengelola hak-hak warga. Pandangan inilah yang dipakai buku, karena paling jujur menangkap sisi politik dari etika bisnis.</a:t>
            </a:r>
            <a:endParaRPr lang="en-US" sz="1200" dirty="0">
              <a:ea typeface="Cambria" panose="02040503050406030204" pitchFamily="18" charset="0"/>
            </a:endParaRPr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45E22266-BC3E-0280-CD37-5530660F7E53}"/>
              </a:ext>
            </a:extLst>
          </p:cNvPr>
          <p:cNvSpPr/>
          <p:nvPr/>
        </p:nvSpPr>
        <p:spPr>
          <a:xfrm>
            <a:off x="548640" y="4352544"/>
            <a:ext cx="6949440" cy="1755648"/>
          </a:xfrm>
          <a:prstGeom prst="roundRect">
            <a:avLst>
              <a:gd name="adj" fmla="val 3125"/>
            </a:avLst>
          </a:prstGeom>
          <a:solidFill>
            <a:srgbClr val="E9E2E5"/>
          </a:solidFill>
          <a:ln/>
        </p:spPr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4648058B-C3F2-80FD-510D-4BF98637D521}"/>
              </a:ext>
            </a:extLst>
          </p:cNvPr>
          <p:cNvSpPr txBox="1"/>
          <p:nvPr/>
        </p:nvSpPr>
        <p:spPr>
          <a:xfrm>
            <a:off x="822960" y="453542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Titik berangkat extended view</a:t>
            </a:r>
            <a:endParaRPr lang="en-US" sz="1400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B7E9687F-4095-9622-0316-4DAF590DC374}"/>
              </a:ext>
            </a:extLst>
          </p:cNvPr>
          <p:cNvSpPr txBox="1"/>
          <p:nvPr/>
        </p:nvSpPr>
        <p:spPr>
          <a:xfrm>
            <a:off x="822960" y="4864608"/>
            <a:ext cx="6400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Perusahaan masuk arena kewarganegaraan bukan karena ia "warga sungguhan", melainkan karena ia aktor publik berkuasa yang — untuk baik atau buruk — sangat memengaruhi hak warga sungguhan. Ketika pemerintah gagal menjalankan sebagian fungsinya, perusahaan ikut mengambil alih peran melindungi dan memenuhi hak-hak itu.</a:t>
            </a:r>
            <a:endParaRPr lang="en-US" sz="1150" dirty="0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DEDDF059-541F-19D8-E471-08BFD061B378}"/>
              </a:ext>
            </a:extLst>
          </p:cNvPr>
          <p:cNvSpPr/>
          <p:nvPr/>
        </p:nvSpPr>
        <p:spPr>
          <a:xfrm>
            <a:off x="7699248" y="4352544"/>
            <a:ext cx="3913632" cy="1755648"/>
          </a:xfrm>
          <a:prstGeom prst="roundRect">
            <a:avLst>
              <a:gd name="adj" fmla="val 3125"/>
            </a:avLst>
          </a:prstGeom>
          <a:solidFill>
            <a:srgbClr val="C8952B"/>
          </a:solidFill>
          <a:ln/>
        </p:spPr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12715DE0-521D-D254-4623-BA00BB26DAE0}"/>
              </a:ext>
            </a:extLst>
          </p:cNvPr>
          <p:cNvSpPr txBox="1"/>
          <p:nvPr/>
        </p:nvSpPr>
        <p:spPr>
          <a:xfrm>
            <a:off x="7955280" y="453542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241A1E"/>
                </a:solidFill>
                <a:ea typeface="Calibri" pitchFamily="34" charset="-122"/>
                <a:cs typeface="Calibri" pitchFamily="34" charset="-120"/>
              </a:rPr>
              <a:t>CC bersifat DESKRIPTIF</a:t>
            </a:r>
            <a:endParaRPr lang="en-US" sz="1200" dirty="0"/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1C62F542-5490-316A-D1AF-A650C5BCB90E}"/>
              </a:ext>
            </a:extLst>
          </p:cNvPr>
          <p:cNvSpPr txBox="1"/>
          <p:nvPr/>
        </p:nvSpPr>
        <p:spPr>
          <a:xfrm>
            <a:off x="7955280" y="4864608"/>
            <a:ext cx="3401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A2A10"/>
                </a:solidFill>
                <a:ea typeface="Calibri" pitchFamily="34" charset="-122"/>
                <a:cs typeface="Calibri" pitchFamily="34" charset="-120"/>
              </a:rPr>
              <a:t>Kita tidak perlu tahu motifnya untuk menyebut sesuatu sebagai tindakan CC. Konsep ini menggambarkan apa yang memang terjadi, bukan apa yang seharusnya terjadi.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701255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A8F11-7783-5990-4871-4251E069B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5">
            <a:extLst>
              <a:ext uri="{FF2B5EF4-FFF2-40B4-BE49-F238E27FC236}">
                <a16:creationId xmlns:a16="http://schemas.microsoft.com/office/drawing/2014/main" id="{D545B787-36FD-CC4D-E881-A1953456BA2F}"/>
              </a:ext>
            </a:extLst>
          </p:cNvPr>
          <p:cNvSpPr txBox="1"/>
          <p:nvPr/>
        </p:nvSpPr>
        <p:spPr>
          <a:xfrm>
            <a:off x="13195038" y="60670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124983-2F07-87AC-FD3C-4BEED94E11A4}"/>
              </a:ext>
            </a:extLst>
          </p:cNvPr>
          <p:cNvSpPr txBox="1"/>
          <p:nvPr/>
        </p:nvSpPr>
        <p:spPr>
          <a:xfrm>
            <a:off x="240009" y="192827"/>
            <a:ext cx="4928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</a:rPr>
              <a:t>Corporate </a:t>
            </a:r>
            <a:r>
              <a:rPr lang="en-US" sz="2000" b="1">
                <a:solidFill>
                  <a:schemeClr val="accent1"/>
                </a:solidFill>
                <a:latin typeface="+mj-lt"/>
              </a:rPr>
              <a:t>Citizenship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5" name="Text Placeholder 1">
            <a:extLst>
              <a:ext uri="{FF2B5EF4-FFF2-40B4-BE49-F238E27FC236}">
                <a16:creationId xmlns:a16="http://schemas.microsoft.com/office/drawing/2014/main" id="{B3C6C1AD-E840-A950-52E9-BC5E3798D2CE}"/>
              </a:ext>
            </a:extLst>
          </p:cNvPr>
          <p:cNvSpPr txBox="1">
            <a:spLocks/>
          </p:cNvSpPr>
          <p:nvPr/>
        </p:nvSpPr>
        <p:spPr>
          <a:xfrm>
            <a:off x="209044" y="6545656"/>
            <a:ext cx="10405537" cy="312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latin typeface="+mn-lt"/>
              </a:rPr>
              <a:t>Crane, A., Matten, D., Glozer, S., &amp; Spence, L. (2019). </a:t>
            </a:r>
            <a:r>
              <a:rPr lang="en-ID" sz="700" i="1">
                <a:latin typeface="+mn-lt"/>
              </a:rPr>
              <a:t>Business Ethics: Managing Corporate Citizenship and Sustainability in the Age of Globalization</a:t>
            </a:r>
            <a:r>
              <a:rPr lang="en-ID" sz="700">
                <a:latin typeface="+mn-lt"/>
              </a:rPr>
              <a:t> (5th ed.). Oxford University Press.</a:t>
            </a:r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4614E739-C9E3-CB27-27EA-F353DD93B66C}"/>
              </a:ext>
            </a:extLst>
          </p:cNvPr>
          <p:cNvSpPr txBox="1">
            <a:spLocks/>
          </p:cNvSpPr>
          <p:nvPr/>
        </p:nvSpPr>
        <p:spPr>
          <a:xfrm>
            <a:off x="10793500" y="6417654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100" dirty="0">
                <a:solidFill>
                  <a:schemeClr val="tx1"/>
                </a:solidFill>
              </a:rPr>
              <a:t>Page  |  </a:t>
            </a:r>
            <a:fld id="{28718D47-A015-4C76-8C97-DE3515A3C496}" type="slidenum">
              <a:rPr lang="en-US" sz="1000" b="1" smtClean="0">
                <a:solidFill>
                  <a:schemeClr val="tx1"/>
                </a:solidFill>
              </a:rPr>
              <a:pPr/>
              <a:t>22</a:t>
            </a:fld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2FA7538-C3A9-9A0B-878E-A36091E3F9BF}"/>
              </a:ext>
            </a:extLst>
          </p:cNvPr>
          <p:cNvSpPr txBox="1"/>
          <p:nvPr/>
        </p:nvSpPr>
        <p:spPr>
          <a:xfrm>
            <a:off x="548640" y="1057561"/>
            <a:ext cx="11064240" cy="46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Hak Warga dan Peran Korporasi atasnya</a:t>
            </a:r>
            <a:endParaRPr lang="en-US" sz="20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288BE19-15F5-0CFD-D012-C89E7C72100E}"/>
              </a:ext>
            </a:extLst>
          </p:cNvPr>
          <p:cNvSpPr/>
          <p:nvPr/>
        </p:nvSpPr>
        <p:spPr>
          <a:xfrm>
            <a:off x="548640" y="1773936"/>
            <a:ext cx="3502152" cy="3310128"/>
          </a:xfrm>
          <a:prstGeom prst="roundRect">
            <a:avLst>
              <a:gd name="adj" fmla="val 1657"/>
            </a:avLst>
          </a:prstGeom>
          <a:solidFill>
            <a:srgbClr val="F3F0F1"/>
          </a:solidFill>
          <a:ln/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4F7F4B0-68AF-ACE2-4525-F4DE96AF5297}"/>
              </a:ext>
            </a:extLst>
          </p:cNvPr>
          <p:cNvSpPr txBox="1"/>
          <p:nvPr/>
        </p:nvSpPr>
        <p:spPr>
          <a:xfrm>
            <a:off x="804672" y="19568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C2F39"/>
                </a:solidFill>
                <a:ea typeface="Cambria" pitchFamily="34" charset="-122"/>
                <a:cs typeface="Cambria" pitchFamily="34" charset="-120"/>
              </a:rPr>
              <a:t>Hak sosial</a:t>
            </a:r>
            <a:endParaRPr lang="en-US" sz="19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5F4740B-659E-CD9A-3D21-802A3D566A5D}"/>
              </a:ext>
            </a:extLst>
          </p:cNvPr>
          <p:cNvSpPr txBox="1"/>
          <p:nvPr/>
        </p:nvSpPr>
        <p:spPr>
          <a:xfrm>
            <a:off x="804672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freedom to · hak "positif"</a:t>
            </a:r>
            <a:endParaRPr lang="en-US" sz="105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6712189A-B825-7EB0-DECE-FF421ACFB8F1}"/>
              </a:ext>
            </a:extLst>
          </p:cNvPr>
          <p:cNvSpPr txBox="1"/>
          <p:nvPr/>
        </p:nvSpPr>
        <p:spPr>
          <a:xfrm>
            <a:off x="804672" y="2633472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1A1E"/>
                </a:solidFill>
                <a:ea typeface="Calibri" pitchFamily="34" charset="-122"/>
                <a:cs typeface="Calibri" pitchFamily="34" charset="-120"/>
              </a:rPr>
              <a:t>Kebebasan untuk berpartisipasi dalam masyarakat: hak atas pendidikan, layanan kesehatan, dan berbagai aspek kesejahteraan.</a:t>
            </a:r>
            <a:endParaRPr lang="en-US" sz="115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484349AB-4C09-CD19-17BB-F37EA35FD31D}"/>
              </a:ext>
            </a:extLst>
          </p:cNvPr>
          <p:cNvSpPr/>
          <p:nvPr/>
        </p:nvSpPr>
        <p:spPr>
          <a:xfrm>
            <a:off x="804672" y="3529584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8C2F39"/>
          </a:solidFill>
          <a:ln/>
        </p:spPr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A3AB3B2-6C90-1E96-F87A-68AD0D73A419}"/>
              </a:ext>
            </a:extLst>
          </p:cNvPr>
          <p:cNvSpPr txBox="1"/>
          <p:nvPr/>
        </p:nvSpPr>
        <p:spPr>
          <a:xfrm>
            <a:off x="804672" y="35295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PROVIDER  atau  IGNORER</a:t>
            </a:r>
            <a:endParaRPr lang="en-US" sz="10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AA3563CC-3BBA-745E-312E-59AD2C385A6D}"/>
              </a:ext>
            </a:extLst>
          </p:cNvPr>
          <p:cNvSpPr txBox="1"/>
          <p:nvPr/>
        </p:nvSpPr>
        <p:spPr>
          <a:xfrm>
            <a:off x="804672" y="4023360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Perusahaan memberi makan tunawisma, meningkatkan keterampilan kerja penganggur, membangun sekolah dan pusat kesehatan.</a:t>
            </a:r>
            <a:endParaRPr lang="en-US" sz="1100" dirty="0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93637F7C-AF63-6C5D-3DFE-F56E75780C1F}"/>
              </a:ext>
            </a:extLst>
          </p:cNvPr>
          <p:cNvSpPr/>
          <p:nvPr/>
        </p:nvSpPr>
        <p:spPr>
          <a:xfrm>
            <a:off x="4329684" y="1773936"/>
            <a:ext cx="3502152" cy="3310128"/>
          </a:xfrm>
          <a:prstGeom prst="roundRect">
            <a:avLst>
              <a:gd name="adj" fmla="val 1657"/>
            </a:avLst>
          </a:prstGeom>
          <a:solidFill>
            <a:srgbClr val="F3F0F1"/>
          </a:solidFill>
          <a:ln/>
        </p:spPr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F28ED7E7-FB8E-7492-FBF8-5B1A4952F565}"/>
              </a:ext>
            </a:extLst>
          </p:cNvPr>
          <p:cNvSpPr txBox="1"/>
          <p:nvPr/>
        </p:nvSpPr>
        <p:spPr>
          <a:xfrm>
            <a:off x="4585716" y="19568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85541"/>
                </a:solidFill>
                <a:ea typeface="Cambria" pitchFamily="34" charset="-122"/>
                <a:cs typeface="Cambria" pitchFamily="34" charset="-120"/>
              </a:rPr>
              <a:t>Hak sipil</a:t>
            </a:r>
            <a:endParaRPr lang="en-US" sz="1900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647429DF-C80A-6697-D7D5-456FF05F10E1}"/>
              </a:ext>
            </a:extLst>
          </p:cNvPr>
          <p:cNvSpPr txBox="1"/>
          <p:nvPr/>
        </p:nvSpPr>
        <p:spPr>
          <a:xfrm>
            <a:off x="4585716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freedom from · hak "negatif"</a:t>
            </a:r>
            <a:endParaRPr lang="en-US" sz="105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E9E7DBBF-751C-3701-9C31-89DA83AC3994}"/>
              </a:ext>
            </a:extLst>
          </p:cNvPr>
          <p:cNvSpPr txBox="1"/>
          <p:nvPr/>
        </p:nvSpPr>
        <p:spPr>
          <a:xfrm>
            <a:off x="4585716" y="2633472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1A1E"/>
                </a:solidFill>
                <a:ea typeface="Calibri" pitchFamily="34" charset="-122"/>
                <a:cs typeface="Calibri" pitchFamily="34" charset="-120"/>
              </a:rPr>
              <a:t>Kebebasan dari penyalahgunaan dan campur tangan pihak ketiga: hak milik, hak berdagang di pasar bebas, kebebasan berbicara.</a:t>
            </a:r>
            <a:endParaRPr lang="en-US" sz="1150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E4A69687-ACA7-8509-3943-18E2E4E4D605}"/>
              </a:ext>
            </a:extLst>
          </p:cNvPr>
          <p:cNvSpPr/>
          <p:nvPr/>
        </p:nvSpPr>
        <p:spPr>
          <a:xfrm>
            <a:off x="4585716" y="3529584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A85541"/>
          </a:solidFill>
          <a:ln/>
        </p:spPr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67B6F456-08D8-D15A-66A4-EA2B8504E2CD}"/>
              </a:ext>
            </a:extLst>
          </p:cNvPr>
          <p:cNvSpPr txBox="1"/>
          <p:nvPr/>
        </p:nvSpPr>
        <p:spPr>
          <a:xfrm>
            <a:off x="4585716" y="35295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ENABLER  atau  DISABLER</a:t>
            </a:r>
            <a:endParaRPr lang="en-US" sz="100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57DE5C33-BA59-F39A-4FDD-0A3823B2C6A4}"/>
              </a:ext>
            </a:extLst>
          </p:cNvPr>
          <p:cNvSpPr txBox="1"/>
          <p:nvPr/>
        </p:nvSpPr>
        <p:spPr>
          <a:xfrm>
            <a:off x="4585716" y="4023360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Perusahaan internet dapat melindungi atau justru melanggar privasi dan kebebasan berekspresi penggunanya.</a:t>
            </a:r>
            <a:endParaRPr lang="en-US" sz="1100" dirty="0"/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2FED6FB2-EF51-74EB-64B9-80DFF95EB32E}"/>
              </a:ext>
            </a:extLst>
          </p:cNvPr>
          <p:cNvSpPr/>
          <p:nvPr/>
        </p:nvSpPr>
        <p:spPr>
          <a:xfrm>
            <a:off x="8110728" y="1773936"/>
            <a:ext cx="3502152" cy="3310128"/>
          </a:xfrm>
          <a:prstGeom prst="roundRect">
            <a:avLst>
              <a:gd name="adj" fmla="val 1657"/>
            </a:avLst>
          </a:prstGeom>
          <a:solidFill>
            <a:srgbClr val="F3F0F1"/>
          </a:solidFill>
          <a:ln/>
        </p:spPr>
      </p:sp>
      <p:sp>
        <p:nvSpPr>
          <p:cNvPr id="54" name="Text 17">
            <a:extLst>
              <a:ext uri="{FF2B5EF4-FFF2-40B4-BE49-F238E27FC236}">
                <a16:creationId xmlns:a16="http://schemas.microsoft.com/office/drawing/2014/main" id="{D8C2F16C-89B8-E96B-D9A3-99D28FE1779D}"/>
              </a:ext>
            </a:extLst>
          </p:cNvPr>
          <p:cNvSpPr txBox="1"/>
          <p:nvPr/>
        </p:nvSpPr>
        <p:spPr>
          <a:xfrm>
            <a:off x="8366760" y="19568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C7A6B"/>
                </a:solidFill>
                <a:ea typeface="Cambria" pitchFamily="34" charset="-122"/>
                <a:cs typeface="Cambria" pitchFamily="34" charset="-120"/>
              </a:rPr>
              <a:t>Hak politik</a:t>
            </a:r>
            <a:endParaRPr lang="en-US" sz="1900" dirty="0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A89A998C-0135-B8D3-CE1C-DD85C9FC4924}"/>
              </a:ext>
            </a:extLst>
          </p:cNvPr>
          <p:cNvSpPr txBox="1"/>
          <p:nvPr/>
        </p:nvSpPr>
        <p:spPr>
          <a:xfrm>
            <a:off x="8366760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partisipasi dalam tata kelola</a:t>
            </a:r>
            <a:endParaRPr lang="en-US" sz="1050" dirty="0"/>
          </a:p>
        </p:txBody>
      </p:sp>
      <p:sp>
        <p:nvSpPr>
          <p:cNvPr id="61" name="Text 19">
            <a:extLst>
              <a:ext uri="{FF2B5EF4-FFF2-40B4-BE49-F238E27FC236}">
                <a16:creationId xmlns:a16="http://schemas.microsoft.com/office/drawing/2014/main" id="{0BB79EAD-B3CE-2CF3-B1F7-1039BCDB1EE6}"/>
              </a:ext>
            </a:extLst>
          </p:cNvPr>
          <p:cNvSpPr txBox="1"/>
          <p:nvPr/>
        </p:nvSpPr>
        <p:spPr>
          <a:xfrm>
            <a:off x="8366760" y="2633472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1A1E"/>
                </a:solidFill>
                <a:ea typeface="Calibri" pitchFamily="34" charset="-122"/>
                <a:cs typeface="Calibri" pitchFamily="34" charset="-120"/>
              </a:rPr>
              <a:t>Hak memilih, hak memegang jabatan, dan secara umum hak ikut serta dalam proses pemerintahan.</a:t>
            </a:r>
            <a:endParaRPr lang="en-US" sz="1150" dirty="0"/>
          </a:p>
        </p:txBody>
      </p:sp>
      <p:sp>
        <p:nvSpPr>
          <p:cNvPr id="64" name="Shape 20">
            <a:extLst>
              <a:ext uri="{FF2B5EF4-FFF2-40B4-BE49-F238E27FC236}">
                <a16:creationId xmlns:a16="http://schemas.microsoft.com/office/drawing/2014/main" id="{8FCAD4E3-6780-9296-1282-E3119AD346C0}"/>
              </a:ext>
            </a:extLst>
          </p:cNvPr>
          <p:cNvSpPr/>
          <p:nvPr/>
        </p:nvSpPr>
        <p:spPr>
          <a:xfrm>
            <a:off x="8366760" y="3529584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C7A6B"/>
          </a:solidFill>
          <a:ln/>
        </p:spPr>
      </p:sp>
      <p:sp>
        <p:nvSpPr>
          <p:cNvPr id="66" name="Text 21">
            <a:extLst>
              <a:ext uri="{FF2B5EF4-FFF2-40B4-BE49-F238E27FC236}">
                <a16:creationId xmlns:a16="http://schemas.microsoft.com/office/drawing/2014/main" id="{659155C4-A847-2F5F-C6C6-E822CC4A5715}"/>
              </a:ext>
            </a:extLst>
          </p:cNvPr>
          <p:cNvSpPr txBox="1"/>
          <p:nvPr/>
        </p:nvSpPr>
        <p:spPr>
          <a:xfrm>
            <a:off x="8366760" y="35295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CHANNEL  atau  BLOCKAGE</a:t>
            </a:r>
            <a:endParaRPr lang="en-US" sz="1000" dirty="0"/>
          </a:p>
        </p:txBody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D449592A-6BA8-F7CC-5D52-9A9713741CF9}"/>
              </a:ext>
            </a:extLst>
          </p:cNvPr>
          <p:cNvSpPr txBox="1"/>
          <p:nvPr/>
        </p:nvSpPr>
        <p:spPr>
          <a:xfrm>
            <a:off x="8366760" y="4023360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Warga makin mengarahkan aksi politiknya kepada korporasi, bukan kepada pemerintah — lewat kampanye isu, protes, dan boikot.</a:t>
            </a:r>
            <a:endParaRPr lang="en-US" sz="1100" dirty="0"/>
          </a:p>
        </p:txBody>
      </p:sp>
      <p:sp>
        <p:nvSpPr>
          <p:cNvPr id="70" name="Shape 23">
            <a:extLst>
              <a:ext uri="{FF2B5EF4-FFF2-40B4-BE49-F238E27FC236}">
                <a16:creationId xmlns:a16="http://schemas.microsoft.com/office/drawing/2014/main" id="{F6119BF1-05F7-E40D-F358-9F69334513E0}"/>
              </a:ext>
            </a:extLst>
          </p:cNvPr>
          <p:cNvSpPr/>
          <p:nvPr/>
        </p:nvSpPr>
        <p:spPr>
          <a:xfrm>
            <a:off x="548640" y="528523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451A28"/>
          </a:solidFill>
          <a:ln/>
        </p:spPr>
      </p:sp>
      <p:sp>
        <p:nvSpPr>
          <p:cNvPr id="72" name="Text 24">
            <a:extLst>
              <a:ext uri="{FF2B5EF4-FFF2-40B4-BE49-F238E27FC236}">
                <a16:creationId xmlns:a16="http://schemas.microsoft.com/office/drawing/2014/main" id="{56C97BA4-36FF-DDB0-1542-95178DDF71F7}"/>
              </a:ext>
            </a:extLst>
          </p:cNvPr>
          <p:cNvSpPr txBox="1"/>
          <p:nvPr/>
        </p:nvSpPr>
        <p:spPr>
          <a:xfrm>
            <a:off x="841248" y="5394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E4BE6B"/>
                </a:solidFill>
                <a:ea typeface="Calibri" pitchFamily="34" charset="-122"/>
                <a:cs typeface="Calibri" pitchFamily="34" charset="-120"/>
              </a:rPr>
              <a:t>DEFINISI DALAM BUKU</a:t>
            </a:r>
            <a:endParaRPr lang="en-US" sz="1000" dirty="0"/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C2C832C3-D275-5467-B813-F40E7FDF8C15}"/>
              </a:ext>
            </a:extLst>
          </p:cNvPr>
          <p:cNvSpPr txBox="1"/>
          <p:nvPr/>
        </p:nvSpPr>
        <p:spPr>
          <a:xfrm>
            <a:off x="841248" y="56327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Corporate citizenship — peran korporasi dalam mengelola hak-hak kewarganegaraan individu.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86378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334E2-4E24-4899-C368-36022417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5">
            <a:extLst>
              <a:ext uri="{FF2B5EF4-FFF2-40B4-BE49-F238E27FC236}">
                <a16:creationId xmlns:a16="http://schemas.microsoft.com/office/drawing/2014/main" id="{E635CC46-3A65-A1FE-0ECD-6D10DDF57C69}"/>
              </a:ext>
            </a:extLst>
          </p:cNvPr>
          <p:cNvSpPr txBox="1"/>
          <p:nvPr/>
        </p:nvSpPr>
        <p:spPr>
          <a:xfrm>
            <a:off x="13195038" y="60670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903702-487E-7E16-8599-0F579333EE89}"/>
              </a:ext>
            </a:extLst>
          </p:cNvPr>
          <p:cNvSpPr txBox="1"/>
          <p:nvPr/>
        </p:nvSpPr>
        <p:spPr>
          <a:xfrm>
            <a:off x="240009" y="192827"/>
            <a:ext cx="4928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</a:rPr>
              <a:t>Corporate </a:t>
            </a:r>
            <a:r>
              <a:rPr lang="en-US" sz="2000" b="1">
                <a:solidFill>
                  <a:schemeClr val="accent1"/>
                </a:solidFill>
                <a:latin typeface="+mj-lt"/>
              </a:rPr>
              <a:t>Citizenship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5" name="Text Placeholder 1">
            <a:extLst>
              <a:ext uri="{FF2B5EF4-FFF2-40B4-BE49-F238E27FC236}">
                <a16:creationId xmlns:a16="http://schemas.microsoft.com/office/drawing/2014/main" id="{5A0B9947-B511-0054-4777-FFCBFD5BBDB5}"/>
              </a:ext>
            </a:extLst>
          </p:cNvPr>
          <p:cNvSpPr txBox="1">
            <a:spLocks/>
          </p:cNvSpPr>
          <p:nvPr/>
        </p:nvSpPr>
        <p:spPr>
          <a:xfrm>
            <a:off x="209044" y="6545656"/>
            <a:ext cx="10405537" cy="312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latin typeface="+mn-lt"/>
              </a:rPr>
              <a:t>Crane, A., Matten, D., Glozer, S., &amp; Spence, L. (2019). </a:t>
            </a:r>
            <a:r>
              <a:rPr lang="en-ID" sz="700" i="1">
                <a:latin typeface="+mn-lt"/>
              </a:rPr>
              <a:t>Business Ethics: Managing Corporate Citizenship and Sustainability in the Age of Globalization</a:t>
            </a:r>
            <a:r>
              <a:rPr lang="en-ID" sz="700">
                <a:latin typeface="+mn-lt"/>
              </a:rPr>
              <a:t> (5th ed.). Oxford University Press.</a:t>
            </a:r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6E3A4CE6-E853-CC05-E729-46248B0AB13D}"/>
              </a:ext>
            </a:extLst>
          </p:cNvPr>
          <p:cNvSpPr txBox="1">
            <a:spLocks/>
          </p:cNvSpPr>
          <p:nvPr/>
        </p:nvSpPr>
        <p:spPr>
          <a:xfrm>
            <a:off x="10793500" y="6417654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100" dirty="0">
                <a:solidFill>
                  <a:schemeClr val="tx1"/>
                </a:solidFill>
              </a:rPr>
              <a:t>Page  |  </a:t>
            </a:r>
            <a:fld id="{28718D47-A015-4C76-8C97-DE3515A3C496}" type="slidenum">
              <a:rPr lang="en-US" sz="1000" b="1" smtClean="0">
                <a:solidFill>
                  <a:schemeClr val="tx1"/>
                </a:solidFill>
              </a:rPr>
              <a:pPr/>
              <a:t>23</a:t>
            </a:fld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721A19-00FF-FF64-61D4-B363A6E60EBE}"/>
              </a:ext>
            </a:extLst>
          </p:cNvPr>
          <p:cNvSpPr txBox="1"/>
          <p:nvPr/>
        </p:nvSpPr>
        <p:spPr>
          <a:xfrm>
            <a:off x="548640" y="823684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Akuntabilitas dan Transparansi Korporasi</a:t>
            </a:r>
            <a:endParaRPr lang="en-US" sz="2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69828D9-341A-65C5-07A3-C095BE961350}"/>
              </a:ext>
            </a:extLst>
          </p:cNvPr>
          <p:cNvSpPr txBox="1"/>
          <p:nvPr/>
        </p:nvSpPr>
        <p:spPr>
          <a:xfrm>
            <a:off x="548640" y="1426464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Pertanyaan pokoknya: apakah keterlibatan politik perusahaan merupakan ancaman bagi demokrasi?</a:t>
            </a:r>
            <a:endParaRPr lang="en-US" sz="12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3521747-9F43-0572-8E43-85E465F0D146}"/>
              </a:ext>
            </a:extLst>
          </p:cNvPr>
          <p:cNvSpPr/>
          <p:nvPr/>
        </p:nvSpPr>
        <p:spPr>
          <a:xfrm>
            <a:off x="516636" y="1811598"/>
            <a:ext cx="5440680" cy="2522658"/>
          </a:xfrm>
          <a:prstGeom prst="roundRect">
            <a:avLst>
              <a:gd name="adj" fmla="val 2500"/>
            </a:avLst>
          </a:prstGeom>
          <a:solidFill>
            <a:srgbClr val="F3F0F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612127B-E332-CF9D-5846-4B4C9AE158BC}"/>
              </a:ext>
            </a:extLst>
          </p:cNvPr>
          <p:cNvSpPr txBox="1"/>
          <p:nvPr/>
        </p:nvSpPr>
        <p:spPr>
          <a:xfrm>
            <a:off x="790956" y="199447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8C2F39"/>
                </a:solidFill>
                <a:ea typeface="Calibri" pitchFamily="34" charset="-122"/>
                <a:cs typeface="Calibri" pitchFamily="34" charset="-120"/>
              </a:rPr>
              <a:t>CORPORATE ACCOUNTABILITY</a:t>
            </a:r>
            <a:endParaRPr lang="en-US" sz="11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23BF02BC-1A24-5E14-812B-BF329C32ACCE}"/>
              </a:ext>
            </a:extLst>
          </p:cNvPr>
          <p:cNvSpPr txBox="1"/>
          <p:nvPr/>
        </p:nvSpPr>
        <p:spPr>
          <a:xfrm>
            <a:off x="790956" y="228708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Siapa mengendalikan korporasi, dan kepada siapa korporasi akuntabel?</a:t>
            </a:r>
            <a:endParaRPr lang="en-US" sz="14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66ADC563-5280-C2F7-6836-3AC5ACAB707C}"/>
              </a:ext>
            </a:extLst>
          </p:cNvPr>
          <p:cNvSpPr txBox="1"/>
          <p:nvPr/>
        </p:nvSpPr>
        <p:spPr>
          <a:xfrm>
            <a:off x="790956" y="3182836"/>
            <a:ext cx="4892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Banyak keputusan penting kini tidak lagi diambil pemerintah — dan karenanya tidak lagi oleh pemilih — melainkan oleh korporasi yang tidak melalui pemungutan suara. Karena korporasi membentuk begitu banyak kehidupan publik dan privat, mereka sudah menjadi aktor politik de facto.</a:t>
            </a:r>
            <a:endParaRPr lang="en-US" sz="110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CEF3B4F5-0406-052F-660A-1E01AC7ADA6E}"/>
              </a:ext>
            </a:extLst>
          </p:cNvPr>
          <p:cNvSpPr/>
          <p:nvPr/>
        </p:nvSpPr>
        <p:spPr>
          <a:xfrm>
            <a:off x="6140196" y="1811598"/>
            <a:ext cx="5440680" cy="2522658"/>
          </a:xfrm>
          <a:prstGeom prst="roundRect">
            <a:avLst>
              <a:gd name="adj" fmla="val 2500"/>
            </a:avLst>
          </a:prstGeom>
          <a:solidFill>
            <a:srgbClr val="F3F0F1"/>
          </a:solidFill>
          <a:ln/>
        </p:spPr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14D0C117-E4F6-21E2-7663-6CECB41E058B}"/>
              </a:ext>
            </a:extLst>
          </p:cNvPr>
          <p:cNvSpPr txBox="1"/>
          <p:nvPr/>
        </p:nvSpPr>
        <p:spPr>
          <a:xfrm>
            <a:off x="6414516" y="199447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5C7A6B"/>
                </a:solidFill>
                <a:ea typeface="Calibri" pitchFamily="34" charset="-122"/>
                <a:cs typeface="Calibri" pitchFamily="34" charset="-120"/>
              </a:rPr>
              <a:t>CORPORATE TRANSPARENCY</a:t>
            </a:r>
            <a:endParaRPr lang="en-US" sz="11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2FED5098-1F17-1EA3-6159-BDD616D6DB0E}"/>
              </a:ext>
            </a:extLst>
          </p:cNvPr>
          <p:cNvSpPr txBox="1"/>
          <p:nvPr/>
        </p:nvSpPr>
        <p:spPr>
          <a:xfrm>
            <a:off x="6414516" y="2287086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Sejauh mana keputusan, kebijakan, aktivitas, dan dampak korporasi diakui dan dibuat terlihat oleh stakeholder yang relevan.</a:t>
            </a:r>
            <a:endParaRPr lang="en-US" sz="14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E2B33753-409C-BBBE-7FCE-4FD5230C3903}"/>
              </a:ext>
            </a:extLst>
          </p:cNvPr>
          <p:cNvSpPr txBox="1"/>
          <p:nvPr/>
        </p:nvSpPr>
        <p:spPr>
          <a:xfrm>
            <a:off x="6414516" y="3182836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Hanya jika stakeholder tahu apa yang dilakukan perusahaan, mereka dapat berupaya mengubah perilakunya — atau berhenti mendukungnya. Transparansi bukan obat mujarab, tetapi kini menjadi keharusan.</a:t>
            </a:r>
            <a:endParaRPr lang="en-US" sz="11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BD36B765-1195-7444-9A69-1CA246A09297}"/>
              </a:ext>
            </a:extLst>
          </p:cNvPr>
          <p:cNvSpPr txBox="1"/>
          <p:nvPr/>
        </p:nvSpPr>
        <p:spPr>
          <a:xfrm>
            <a:off x="516636" y="456394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Tiga elemen kualitas transparansi (Schnackenberg &amp; Tomlinson 2014)</a:t>
            </a:r>
            <a:endParaRPr lang="en-US" sz="1200" dirty="0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5377A91C-68DB-330D-B816-C0DBA2151962}"/>
              </a:ext>
            </a:extLst>
          </p:cNvPr>
          <p:cNvSpPr/>
          <p:nvPr/>
        </p:nvSpPr>
        <p:spPr>
          <a:xfrm>
            <a:off x="516636" y="4947990"/>
            <a:ext cx="3502152" cy="1196778"/>
          </a:xfrm>
          <a:prstGeom prst="roundRect">
            <a:avLst>
              <a:gd name="adj" fmla="val 5263"/>
            </a:avLst>
          </a:prstGeom>
          <a:solidFill>
            <a:srgbClr val="E9E2E5"/>
          </a:solidFill>
          <a:ln/>
        </p:spPr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8DEDD015-E6AC-FDC3-96A4-08BDB5AADEC8}"/>
              </a:ext>
            </a:extLst>
          </p:cNvPr>
          <p:cNvSpPr/>
          <p:nvPr/>
        </p:nvSpPr>
        <p:spPr>
          <a:xfrm>
            <a:off x="772668" y="5130870"/>
            <a:ext cx="365760" cy="36576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CEA8B854-5B9B-36A0-0256-E7CACBB1D356}"/>
              </a:ext>
            </a:extLst>
          </p:cNvPr>
          <p:cNvSpPr txBox="1"/>
          <p:nvPr/>
        </p:nvSpPr>
        <p:spPr>
          <a:xfrm>
            <a:off x="772668" y="51308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B2D62493-152D-C136-3D00-E4A0A039C92D}"/>
              </a:ext>
            </a:extLst>
          </p:cNvPr>
          <p:cNvSpPr txBox="1"/>
          <p:nvPr/>
        </p:nvSpPr>
        <p:spPr>
          <a:xfrm>
            <a:off x="1266444" y="513087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Disclosure</a:t>
            </a:r>
            <a:endParaRPr lang="en-US" sz="1400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8B11E361-463B-B738-1845-855218FF77DD}"/>
              </a:ext>
            </a:extLst>
          </p:cNvPr>
          <p:cNvSpPr txBox="1"/>
          <p:nvPr/>
        </p:nvSpPr>
        <p:spPr>
          <a:xfrm>
            <a:off x="772668" y="555149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Apakah informasi yang relevan tersedia secara tepat waktu dan mudah diakses.</a:t>
            </a:r>
            <a:endParaRPr lang="en-US" sz="1100" dirty="0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93AEFE85-7B44-B6AA-898F-3236891A48C2}"/>
              </a:ext>
            </a:extLst>
          </p:cNvPr>
          <p:cNvSpPr/>
          <p:nvPr/>
        </p:nvSpPr>
        <p:spPr>
          <a:xfrm>
            <a:off x="4297680" y="4947990"/>
            <a:ext cx="3502152" cy="1196778"/>
          </a:xfrm>
          <a:prstGeom prst="roundRect">
            <a:avLst>
              <a:gd name="adj" fmla="val 5263"/>
            </a:avLst>
          </a:prstGeom>
          <a:solidFill>
            <a:srgbClr val="E9E2E5"/>
          </a:solidFill>
          <a:ln/>
        </p:spPr>
      </p:sp>
      <p:sp>
        <p:nvSpPr>
          <p:cNvPr id="59" name="Shape 18">
            <a:extLst>
              <a:ext uri="{FF2B5EF4-FFF2-40B4-BE49-F238E27FC236}">
                <a16:creationId xmlns:a16="http://schemas.microsoft.com/office/drawing/2014/main" id="{086F246B-4A6D-7929-5867-27B2B47F5817}"/>
              </a:ext>
            </a:extLst>
          </p:cNvPr>
          <p:cNvSpPr/>
          <p:nvPr/>
        </p:nvSpPr>
        <p:spPr>
          <a:xfrm>
            <a:off x="4553712" y="5130870"/>
            <a:ext cx="365760" cy="365760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CB1B998D-0086-0D9E-7872-109C604122EB}"/>
              </a:ext>
            </a:extLst>
          </p:cNvPr>
          <p:cNvSpPr txBox="1"/>
          <p:nvPr/>
        </p:nvSpPr>
        <p:spPr>
          <a:xfrm>
            <a:off x="4553712" y="51308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65" name="Text 20">
            <a:extLst>
              <a:ext uri="{FF2B5EF4-FFF2-40B4-BE49-F238E27FC236}">
                <a16:creationId xmlns:a16="http://schemas.microsoft.com/office/drawing/2014/main" id="{402ECABD-EAA5-E19B-AC93-80F690883F15}"/>
              </a:ext>
            </a:extLst>
          </p:cNvPr>
          <p:cNvSpPr txBox="1"/>
          <p:nvPr/>
        </p:nvSpPr>
        <p:spPr>
          <a:xfrm>
            <a:off x="5047488" y="513087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Clarity</a:t>
            </a:r>
            <a:endParaRPr lang="en-US" sz="1400" dirty="0"/>
          </a:p>
        </p:txBody>
      </p:sp>
      <p:sp>
        <p:nvSpPr>
          <p:cNvPr id="69" name="Text 21">
            <a:extLst>
              <a:ext uri="{FF2B5EF4-FFF2-40B4-BE49-F238E27FC236}">
                <a16:creationId xmlns:a16="http://schemas.microsoft.com/office/drawing/2014/main" id="{A5F2EFAD-65A8-321C-98E8-4BC18005C706}"/>
              </a:ext>
            </a:extLst>
          </p:cNvPr>
          <p:cNvSpPr txBox="1"/>
          <p:nvPr/>
        </p:nvSpPr>
        <p:spPr>
          <a:xfrm>
            <a:off x="4553712" y="555149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Sejauh mana informasi itu dapat dipahami oleh stakeholder yang relevan.</a:t>
            </a:r>
            <a:endParaRPr lang="en-US" sz="1100" dirty="0"/>
          </a:p>
        </p:txBody>
      </p:sp>
      <p:sp>
        <p:nvSpPr>
          <p:cNvPr id="73" name="Shape 22">
            <a:extLst>
              <a:ext uri="{FF2B5EF4-FFF2-40B4-BE49-F238E27FC236}">
                <a16:creationId xmlns:a16="http://schemas.microsoft.com/office/drawing/2014/main" id="{9D054611-EF79-4AA4-54CD-C34EFCD525A0}"/>
              </a:ext>
            </a:extLst>
          </p:cNvPr>
          <p:cNvSpPr/>
          <p:nvPr/>
        </p:nvSpPr>
        <p:spPr>
          <a:xfrm>
            <a:off x="8078724" y="4947990"/>
            <a:ext cx="3502152" cy="1196778"/>
          </a:xfrm>
          <a:prstGeom prst="roundRect">
            <a:avLst>
              <a:gd name="adj" fmla="val 5263"/>
            </a:avLst>
          </a:prstGeom>
          <a:solidFill>
            <a:srgbClr val="E9E2E5"/>
          </a:solidFill>
          <a:ln/>
        </p:spPr>
      </p:sp>
      <p:sp>
        <p:nvSpPr>
          <p:cNvPr id="76" name="Shape 23">
            <a:extLst>
              <a:ext uri="{FF2B5EF4-FFF2-40B4-BE49-F238E27FC236}">
                <a16:creationId xmlns:a16="http://schemas.microsoft.com/office/drawing/2014/main" id="{641FEEC4-7740-F91D-3A5C-E31ADE7105B7}"/>
              </a:ext>
            </a:extLst>
          </p:cNvPr>
          <p:cNvSpPr/>
          <p:nvPr/>
        </p:nvSpPr>
        <p:spPr>
          <a:xfrm>
            <a:off x="8334756" y="5130870"/>
            <a:ext cx="365760" cy="365760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78" name="Text 24">
            <a:extLst>
              <a:ext uri="{FF2B5EF4-FFF2-40B4-BE49-F238E27FC236}">
                <a16:creationId xmlns:a16="http://schemas.microsoft.com/office/drawing/2014/main" id="{6D0952D2-840D-0338-6C53-D9A976DEA4EC}"/>
              </a:ext>
            </a:extLst>
          </p:cNvPr>
          <p:cNvSpPr txBox="1"/>
          <p:nvPr/>
        </p:nvSpPr>
        <p:spPr>
          <a:xfrm>
            <a:off x="8334756" y="51308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80" name="Text 25">
            <a:extLst>
              <a:ext uri="{FF2B5EF4-FFF2-40B4-BE49-F238E27FC236}">
                <a16:creationId xmlns:a16="http://schemas.microsoft.com/office/drawing/2014/main" id="{E38F9818-37CE-3BF2-59BC-E0AFA33DC315}"/>
              </a:ext>
            </a:extLst>
          </p:cNvPr>
          <p:cNvSpPr txBox="1"/>
          <p:nvPr/>
        </p:nvSpPr>
        <p:spPr>
          <a:xfrm>
            <a:off x="8828532" y="513087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ea typeface="Cambria" pitchFamily="34" charset="-122"/>
                <a:cs typeface="Cambria" pitchFamily="34" charset="-120"/>
              </a:rPr>
              <a:t>Accuracy</a:t>
            </a:r>
            <a:endParaRPr lang="en-US" sz="1400" dirty="0"/>
          </a:p>
        </p:txBody>
      </p:sp>
      <p:sp>
        <p:nvSpPr>
          <p:cNvPr id="82" name="Text 26">
            <a:extLst>
              <a:ext uri="{FF2B5EF4-FFF2-40B4-BE49-F238E27FC236}">
                <a16:creationId xmlns:a16="http://schemas.microsoft.com/office/drawing/2014/main" id="{E83F6974-A1DD-4113-2D8C-1421BC06E199}"/>
              </a:ext>
            </a:extLst>
          </p:cNvPr>
          <p:cNvSpPr txBox="1"/>
          <p:nvPr/>
        </p:nvSpPr>
        <p:spPr>
          <a:xfrm>
            <a:off x="8334756" y="555149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7A6E72"/>
                </a:solidFill>
                <a:ea typeface="Calibri" pitchFamily="34" charset="-122"/>
                <a:cs typeface="Calibri" pitchFamily="34" charset="-120"/>
              </a:rPr>
              <a:t>Apakah informasi yang diungkapkan benar dan dapat diandalkan.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123685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40E99-DB28-3A4A-4949-877724ECE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6DC8E4-84F9-F576-8CD2-00267BAB19B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51A28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FC76B2E-9E9D-C8B0-E117-5FC43A8CF0E5}"/>
              </a:ext>
            </a:extLst>
          </p:cNvPr>
          <p:cNvSpPr/>
          <p:nvPr/>
        </p:nvSpPr>
        <p:spPr>
          <a:xfrm>
            <a:off x="-2011680" y="3931920"/>
            <a:ext cx="4937760" cy="4937760"/>
          </a:xfrm>
          <a:prstGeom prst="ellipse">
            <a:avLst/>
          </a:prstGeom>
          <a:ln w="16510">
            <a:solidFill>
              <a:schemeClr val="tx1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5609383-2C7A-8377-2F54-BEC72B1F61A7}"/>
              </a:ext>
            </a:extLst>
          </p:cNvPr>
          <p:cNvSpPr txBox="1"/>
          <p:nvPr/>
        </p:nvSpPr>
        <p:spPr>
          <a:xfrm>
            <a:off x="591615" y="3251922"/>
            <a:ext cx="41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i="1">
                <a:solidFill>
                  <a:srgbClr val="C7AAB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Satu kasus riil Indonesia, dibaca berturut-turut dengan tiga kerangka yang sama: CSR — apa tanggung jawabnya · Stakeholder — kepada siapa · Corporate Citizenship — dengan kuasa apa.</a:t>
            </a:r>
            <a:endParaRPr lang="en-US" sz="1400" i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6894DA4-8982-C0C5-EBC8-78C5CB86B9E4}"/>
              </a:ext>
            </a:extLst>
          </p:cNvPr>
          <p:cNvSpPr/>
          <p:nvPr/>
        </p:nvSpPr>
        <p:spPr>
          <a:xfrm>
            <a:off x="9402775" y="2468880"/>
            <a:ext cx="1920240" cy="1920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/home/claude/icons/voteYea_navy.png">
            <a:extLst>
              <a:ext uri="{FF2B5EF4-FFF2-40B4-BE49-F238E27FC236}">
                <a16:creationId xmlns:a16="http://schemas.microsoft.com/office/drawing/2014/main" id="{3694F3B7-A871-84F2-CB90-54982296C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406" y="2718511"/>
            <a:ext cx="1420978" cy="1420978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5FCC0CA3-2214-54DE-7629-D27168EE027C}"/>
              </a:ext>
            </a:extLst>
          </p:cNvPr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1629DF-3A3C-5FE9-6D72-83688A2F31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19395" y="0"/>
            <a:ext cx="10287000" cy="6858000"/>
          </a:xfrm>
          <a:prstGeom prst="rect">
            <a:avLst/>
          </a:prstGeom>
        </p:spPr>
      </p:pic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82397A7D-C4A0-C689-DE3E-F24A541402C6}"/>
              </a:ext>
            </a:extLst>
          </p:cNvPr>
          <p:cNvSpPr txBox="1">
            <a:spLocks/>
          </p:cNvSpPr>
          <p:nvPr/>
        </p:nvSpPr>
        <p:spPr>
          <a:xfrm>
            <a:off x="209045" y="6417653"/>
            <a:ext cx="4843288" cy="3358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00" b="0" i="0" u="none" strike="noStrike" cap="none">
                <a:solidFill>
                  <a:srgbClr val="00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700">
                <a:solidFill>
                  <a:schemeClr val="bg1"/>
                </a:solidFill>
              </a:rPr>
              <a:t>Crane, A., Matten, D., Glozer, S., &amp; Spence, L. (2019). </a:t>
            </a:r>
            <a:r>
              <a:rPr lang="en-ID" sz="700" i="1">
                <a:solidFill>
                  <a:schemeClr val="bg1"/>
                </a:solidFill>
              </a:rPr>
              <a:t>Business Ethics: Managing Corporate Citizenship and Sustainability in the Age of Globalization</a:t>
            </a:r>
            <a:r>
              <a:rPr lang="en-ID" sz="700">
                <a:solidFill>
                  <a:schemeClr val="bg1"/>
                </a:solidFill>
              </a:rPr>
              <a:t> (5th ed.). Oxford University Press.</a:t>
            </a: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420A6632-56F9-4325-1A5B-70E2979523E0}"/>
              </a:ext>
            </a:extLst>
          </p:cNvPr>
          <p:cNvSpPr txBox="1"/>
          <p:nvPr/>
        </p:nvSpPr>
        <p:spPr>
          <a:xfrm>
            <a:off x="591615" y="2114724"/>
            <a:ext cx="522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2800" b="1">
                <a:solidFill>
                  <a:srgbClr val="FFFFFF"/>
                </a:solidFill>
                <a:ea typeface="Cambria" pitchFamily="34" charset="-122"/>
              </a:rPr>
              <a:t>Studi Kasus PT Djarum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813513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PERUSAHAAN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 Djarum: Raksasa Kretek dari Kudus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Berdiri 1951 di Kudus, Jawa Tengah. Salah satu dari tiga besar industri rokok Indonesia. Djarum Foundation didirikan 30 April 1986.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2628900" cy="1572768"/>
          </a:xfrm>
          <a:prstGeom prst="roundRect">
            <a:avLst>
              <a:gd name="adj" fmla="val 3488"/>
            </a:avLst>
          </a:prstGeom>
          <a:solidFill>
            <a:srgbClr val="F3F0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22631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980944"/>
            <a:ext cx="22997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berdiri di Kudus,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 Tengah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0420" y="2066544"/>
            <a:ext cx="2628900" cy="1572768"/>
          </a:xfrm>
          <a:prstGeom prst="roundRect">
            <a:avLst>
              <a:gd name="adj" fmla="val 3488"/>
            </a:avLst>
          </a:prstGeom>
          <a:solidFill>
            <a:srgbClr val="F3F0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43300" y="2286000"/>
            <a:ext cx="22631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85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56.000+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25012" y="2980944"/>
            <a:ext cx="22997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Tenaga kerja yang diserap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066544"/>
            <a:ext cx="2628900" cy="1572768"/>
          </a:xfrm>
          <a:prstGeom prst="roundRect">
            <a:avLst>
              <a:gd name="adj" fmla="val 3488"/>
            </a:avLst>
          </a:prstGeom>
          <a:solidFill>
            <a:srgbClr val="F3F0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286000"/>
            <a:ext cx="22631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C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Rp35 T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2980944"/>
            <a:ext cx="22997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Setoran cukai dan pajak ke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negara (2017)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83980" y="2066544"/>
            <a:ext cx="2628900" cy="1572768"/>
          </a:xfrm>
          <a:prstGeom prst="roundRect">
            <a:avLst>
              <a:gd name="adj" fmla="val 3488"/>
            </a:avLst>
          </a:prstGeom>
          <a:solidFill>
            <a:srgbClr val="F3F0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66860" y="2286000"/>
            <a:ext cx="22631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9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Bakti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148572" y="2980944"/>
            <a:ext cx="22997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program Djarum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sejak 1986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856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Paradoks yang membuat kasus ini layak dibedah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51376"/>
            <a:ext cx="3502152" cy="1719072"/>
          </a:xfrm>
          <a:prstGeom prst="roundRect">
            <a:avLst>
              <a:gd name="adj" fmla="val 3191"/>
            </a:avLst>
          </a:prstGeom>
          <a:solidFill>
            <a:srgbClr val="F3F0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Legal, tetapi produknya berisiko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809744"/>
            <a:ext cx="3017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Rokok adalah produk yang sah diproduksi dan dijual, sekaligus produk yang diatur ketat karena dampak kesehatannya. Kepatuhan hukum di sini tidak otomatis berarti diterima secara etis.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29684" y="4151376"/>
            <a:ext cx="3502152" cy="1719072"/>
          </a:xfrm>
          <a:prstGeom prst="roundRect">
            <a:avLst>
              <a:gd name="adj" fmla="val 3191"/>
            </a:avLst>
          </a:prstGeom>
          <a:solidFill>
            <a:srgbClr val="F3F0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85716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Kontributor ekonomi yang sangat besar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85716" y="4809744"/>
            <a:ext cx="3017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Puluhan ribu pekerja, rantai petani tembakau dan cengkeh, serta penerimaan negara dari cukai. Kudus adalah penyumbang Cukai Hasil Tembakau terbesar secara nasional.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10728" y="4151376"/>
            <a:ext cx="3502152" cy="1719072"/>
          </a:xfrm>
          <a:prstGeom prst="roundRect">
            <a:avLst>
              <a:gd name="adj" fmla="val 3191"/>
            </a:avLst>
          </a:prstGeom>
          <a:solidFill>
            <a:srgbClr val="E9E2E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66760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 intensif, tetapi dipersoalkan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809744"/>
            <a:ext cx="3017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sosialnya luas dan berumur puluhan tahun, namun justru program itulah yang menjadi titik sengketa publik pada 2019 — bukan produknya.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618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Medcom (2017); Liputan6 (2017); Djarum Foundation; DJPb Kemenkeu (2023).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8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1 · CSR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Piramida Carroll Diterapkan pada PT Djarum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/>
        </p:nvGraphicFramePr>
        <p:xfrm>
          <a:off x="548640" y="1737360"/>
          <a:ext cx="11064240" cy="37063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1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TUNTUTAN MASYARAKAT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1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BUKTI PADA PT DJARUM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1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PENILAIAN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89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Filantropis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7A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Djarum Foundation dan lima pilar Bakti sejak 1986: pendidikan, olahraga, lingkungan, budaya, dan sosial.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C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85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7A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Titik paling dipersoalkan: produk berdampak kesehatan, dan paparan merek kepada anak melalui kegiatan sosial — meski semuanya legal.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8C2F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RAPUH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Hukum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7A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Tunduk pada ketentuan cukai dan PP No. 109/2012: peringatan kesehatan, pembatasan iklan, larangan penjualan kepada anak.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C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PATUH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51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Ekonomi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7A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Lebih dari 56.000 pekerja, setoran cukai dan pajak sekitar Rp35 triliun (2017), serta rantai pasok petani tembakau dan cengkeh.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C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9496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E9E2E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" y="5394960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analisis:  </a:t>
            </a: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Djarum kokoh di lapis yang </a:t>
            </a:r>
            <a:r>
              <a:rPr lang="en-US" sz="1200" i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di lapis yang </a:t>
            </a:r>
            <a:r>
              <a:rPr lang="en-US" sz="1200" i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</a:t>
            </a: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tetapi paling lemah justru di lapis </a:t>
            </a:r>
            <a:r>
              <a:rPr lang="en-US" sz="1200" i="1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Inilah persis keterbatasan model Carroll yang disebut buku: ia tidak menjelaskan apa yang harus terjadi ketika dua lapis tanggung jawab saling bertentangan.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8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1 · CSR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Bakti Djarum Foundation: Bolt-on atau Built-in?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6903720" cy="786384"/>
          </a:xfrm>
          <a:prstGeom prst="roundRect">
            <a:avLst>
              <a:gd name="adj" fmla="val 6977"/>
            </a:avLst>
          </a:prstGeom>
          <a:solidFill>
            <a:srgbClr val="F3F0F1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901952"/>
            <a:ext cx="402336" cy="402336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79222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Bakti Pendidikan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675888" y="177393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Djarum Beasiswa Plus untuk mahasiswa S1/D4 dengan pelatihan character building, leadership development, dan nation building; peningkatan mutu pendidikan dasar, menengah, dan vokasi di Kudus (2018-2030).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6903720" cy="786384"/>
          </a:xfrm>
          <a:prstGeom prst="roundRect">
            <a:avLst>
              <a:gd name="adj" fmla="val 6977"/>
            </a:avLst>
          </a:prstGeom>
          <a:solidFill>
            <a:srgbClr val="F3F0F1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" y="2761488"/>
            <a:ext cx="402336" cy="402336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265176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Bakti Olahraga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6334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Djarum sejak 1974; telah membina 11 atlet peraih medali Olimpiade, di antaranya Liem Swie King, Alan Budikusuma, Tontowi Ahmad/Liliyana Natsir, dan Kevin Sanjaya.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6903720" cy="786384"/>
          </a:xfrm>
          <a:prstGeom prst="roundRect">
            <a:avLst>
              <a:gd name="adj" fmla="val 6977"/>
            </a:avLst>
          </a:prstGeom>
          <a:solidFill>
            <a:srgbClr val="F3F0F1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" y="3621024"/>
            <a:ext cx="402336" cy="402336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" y="3621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51129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Bakti Lingkungan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675888" y="349300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Djarum Trees for Life: sekitar 2,3 juta pohon trembesi di jalur Pantura dan Tol Trans-Jawa, 1,1 juta mangrove, serta Pusat Pembibitan Tanaman di Kudus dan gerakan Siap Darling.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279392"/>
            <a:ext cx="6903720" cy="786384"/>
          </a:xfrm>
          <a:prstGeom prst="roundRect">
            <a:avLst>
              <a:gd name="adj" fmla="val 6977"/>
            </a:avLst>
          </a:prstGeom>
          <a:solidFill>
            <a:srgbClr val="F3F0F1"/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" y="4480560"/>
            <a:ext cx="402336" cy="402336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8096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37083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Bakti Budaya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675888" y="435254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 dan pengembangan seni budaya Indonesia, dengan sasaran utama generasi muda.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138928"/>
            <a:ext cx="6903720" cy="786384"/>
          </a:xfrm>
          <a:prstGeom prst="roundRect">
            <a:avLst>
              <a:gd name="adj" fmla="val 6977"/>
            </a:avLst>
          </a:prstGeom>
          <a:solidFill>
            <a:srgbClr val="F3F0F1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5340096"/>
            <a:ext cx="402336" cy="402336"/>
          </a:xfrm>
          <a:prstGeom prst="ellipse">
            <a:avLst/>
          </a:prstGeom>
          <a:solidFill>
            <a:srgbClr val="451A2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8096" y="5340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98448" y="523036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Bakti Sosial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3675888" y="52120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darah, penanggulangan bencana, operasi katarak gratis, peningkatan mutu layanan kesehatan, dan perbaikan kondisi panti asuhan.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99248" y="1700784"/>
            <a:ext cx="3913632" cy="2066544"/>
          </a:xfrm>
          <a:prstGeom prst="roundRect">
            <a:avLst>
              <a:gd name="adj" fmla="val 2655"/>
            </a:avLst>
          </a:prstGeom>
          <a:solidFill>
            <a:srgbClr val="E9E2E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55280" y="188366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DIBACA SEBAGAI TRADITIONAL CSR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215798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"CSR is bolt-on"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2523744"/>
            <a:ext cx="3401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program adalah distribusi nilai setelah laba dihasilkan, tidak terhubung dengan inti bisnis. Pendorongnya citra, merek, dan penerimaan publik — persis kolom "Traditional CSR" pada Tabel 2.2.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99248" y="3877056"/>
            <a:ext cx="3913632" cy="2066544"/>
          </a:xfrm>
          <a:prstGeom prst="roundRect">
            <a:avLst>
              <a:gd name="adj" fmla="val 2655"/>
            </a:avLst>
          </a:prstGeom>
          <a:solidFill>
            <a:srgbClr val="451A2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955280" y="405993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 CONTEMPORARY CSR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433425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"CSR is built-in"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7955280" y="4700016"/>
            <a:ext cx="3401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program mendekati kategori ini: pendidikan vokasi di Kudus memperkuat basis tenaga kerja daerah operasi, dan penghijauan menjaga social licence to operate. Keduanya menciptakan nilai, bukan sekadar membagikannya.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Djarum Foundation; PB Djarum; Kompas Lestari (2024); ANTARA (2024).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8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1 · CSR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Kritik: CSR sebagai Alat Legitimasi?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ini menerapkan kritik CSR dari buku (Friedman, Banerjee, Fleming &amp; Jones) langsung pada kasus.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5669280" cy="3054096"/>
          </a:xfrm>
          <a:prstGeom prst="roundRect">
            <a:avLst>
              <a:gd name="adj" fmla="val 1796"/>
            </a:avLst>
          </a:prstGeom>
          <a:solidFill>
            <a:srgbClr val="F3F0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267712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 YANG DIPERSOALKAN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706624"/>
            <a:ext cx="118872" cy="118872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8992" y="2578608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No. 109/2012 dinilai longgar dalam membatasi promosi dan sponsor yang dijalankan atas nama CSR perusahaan tembakau — sebuah celah regulasi.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346704"/>
            <a:ext cx="118872" cy="118872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8992" y="3218688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Yayasan Lentera Anak mencatat bahwa pada 2015-2018 peserta audisi diwajibkan mengenakan kaos ber-brand "Djarum", yang merupakan brand image produk tembakau.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986784"/>
            <a:ext cx="118872" cy="118872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78992" y="3858768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 yang dirujuk KPAI menemukan 4 dari 5 anak mengasosiasikan "Djarum" dengan rokok.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626864"/>
            <a:ext cx="118872" cy="118872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8992" y="4498848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sosial menjangkau anak-anak — kelompok yang secara hukum justru dilindungi dari paparan promosi produk tembakau.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0848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Dibaca lewat teori Bab 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29400" y="2468880"/>
            <a:ext cx="4983480" cy="859536"/>
          </a:xfrm>
          <a:prstGeom prst="roundRect">
            <a:avLst>
              <a:gd name="adj" fmla="val 6383"/>
            </a:avLst>
          </a:prstGeom>
          <a:solidFill>
            <a:srgbClr val="E9E2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67144" y="25786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(1970)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67144" y="281635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motif utamanya promosi, ini bukan CSR melainkan maksimalisasi laba "under the cloak of social responsibility".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0" y="3401568"/>
            <a:ext cx="4983480" cy="859536"/>
          </a:xfrm>
          <a:prstGeom prst="roundRect">
            <a:avLst>
              <a:gd name="adj" fmla="val 6383"/>
            </a:avLst>
          </a:prstGeom>
          <a:solidFill>
            <a:srgbClr val="E9E2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67144" y="351129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Banerjee (2007)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67144" y="3749040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di sini berfungsi melegitimasi aktivitas korporasi dan mengonsolidasi kekuasaannya — bukan mengoreksinya.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29400" y="4334256"/>
            <a:ext cx="4983480" cy="859536"/>
          </a:xfrm>
          <a:prstGeom prst="roundRect">
            <a:avLst>
              <a:gd name="adj" fmla="val 6383"/>
            </a:avLst>
          </a:prstGeom>
          <a:solidFill>
            <a:srgbClr val="E9E2E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67144" y="444398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Fleming &amp; Jones (2012)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67144" y="468172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menopang, bukan menantang, model bisnis yang ada. Tidak ada transformasi nyata dalam peran bisnis di masyarakat.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29400" y="5266944"/>
            <a:ext cx="4983480" cy="859536"/>
          </a:xfrm>
          <a:prstGeom prst="roundRect">
            <a:avLst>
              <a:gd name="adj" fmla="val 6383"/>
            </a:avLst>
          </a:prstGeom>
          <a:solidFill>
            <a:srgbClr val="451A2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67144" y="537667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 tandingan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67144" y="5614416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bagi penerima — beasiswa, pembinaan atlet, penghijauan — tetap nyata dan terukur. Inilah dilema klasik buku: menilai motif, atau menilai dampak?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852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KPAI (2019); Yayasan Lentera Anak; PSHK/Jentera; PP No. 109 Tahun 2012.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8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2 · STAKEHOLDER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 Stakeholder PT Djarum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dengan dua prinsip Evan &amp; Freeman: siapa yang haknya dapat dilanggar, dan siapa yang terkena dampak tindakan perusahaan.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5440680" cy="1353312"/>
          </a:xfrm>
          <a:prstGeom prst="roundRect">
            <a:avLst>
              <a:gd name="adj" fmla="val 4054"/>
            </a:avLst>
          </a:prstGeom>
          <a:solidFill>
            <a:srgbClr val="F3F0F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40864"/>
            <a:ext cx="146304" cy="146304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8992" y="22311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primer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9689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 (56.000+) · Petani tembakau dan cengkeh · Konsumen dewasa · Pemasok dan distributor · Pemilik dan pemegang saham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084832"/>
            <a:ext cx="5440680" cy="1353312"/>
          </a:xfrm>
          <a:prstGeom prst="roundRect">
            <a:avLst>
              <a:gd name="adj" fmla="val 4054"/>
            </a:avLst>
          </a:prstGeom>
          <a:solidFill>
            <a:srgbClr val="F3F0F1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340864"/>
            <a:ext cx="146304" cy="146304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02552" y="22311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Pemerintah dan regulator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9689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Kemenkeu dan Bea Cukai (penerimaan cukai) · Kemenkes (pengendalian tembakau) · Kemenpora dan PBSI (olahraga) · Pemkab Kudus dan Pemprov Jawa Tengah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5440680" cy="1353312"/>
          </a:xfrm>
          <a:prstGeom prst="roundRect">
            <a:avLst>
              <a:gd name="adj" fmla="val 4054"/>
            </a:avLst>
          </a:prstGeom>
          <a:solidFill>
            <a:srgbClr val="F3F0F1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858768"/>
            <a:ext cx="146304" cy="146304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78992" y="3749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Masyarakat sipil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1148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KPAI · Yayasan Lentera Anak · Komnas Pengendalian Tembakau dan LSM kesehatan · Media massa · Akademisi dan peneliti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602736"/>
            <a:ext cx="5440680" cy="1353312"/>
          </a:xfrm>
          <a:prstGeom prst="roundRect">
            <a:avLst>
              <a:gd name="adj" fmla="val 4054"/>
            </a:avLst>
          </a:prstGeom>
          <a:solidFill>
            <a:srgbClr val="F3F0F1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3858768"/>
            <a:ext cx="146304" cy="146304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02552" y="3749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Penerima manfaat dan komunitas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1148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Beswan Djarum · Atlet binaan dan peserta audisi (anak-anak) · Orang tua peserta · Masyarakat Kudus · Pengguna jalan Pantura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451A2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515721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B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anak-anak peserta audisi adalah stakeholder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5431536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7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Mereka tidak punya hubungan kontraktual dengan PT Djarum. Namun lewat principle of corporate effect, perusahaan bertanggung jawab atas dampak tindakannya terhadap pihak lain — dan lewat principle of corporate rights, ia wajib tidak melanggar hak anak. Model jejaring Rowley (1997) menjelaskan jalurnya: Djarum terhubung ke anak-anak itu melalui klub, federasi, dan orang tua mereka.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8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2 · STAKEHOLDER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Klaim yang Tidak Bisa Dipuaskan Sekaligus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Freeman menyebut penyeimbangan ekspektasi stakeholder sebagai tantangan besar manajemen. Kasus ini memperlihatkan alasannya.</a:t>
            </a:r>
            <a:endParaRPr lang="en-US" sz="13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/>
        </p:nvGraphicFramePr>
        <p:xfrm>
          <a:off x="548640" y="2231136"/>
          <a:ext cx="11064240" cy="321868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1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KLAIM YANG DIAJUKAN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1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BERBENTURAN DENGAN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Karyawan dan petani tembakau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Penghidupan dan kelangsungan pekerjaan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pengendalian tembakau dan penurunan prevalensi merokok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Kemenkeu dan Bea Cukai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Penerimaan cukai yang stabil dan besar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Kemenkes: target kesehatan publik — dua organ negara, dua kepentingan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Konsumen dewasa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Kebebasan memilih produk yang legal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Hak anak dan remaja atas perlindungan dari paparan merek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Atlet binaan dan beswan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Akses pembinaan dan beasiswa yang sulit didapat di tempat lain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Masyarakat sipil: penolakan normalisasi merek rokok di ruang anak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Pemilik dan pemegang saham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Laba dan keberlanjutan bisnis jangka panjang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Tuntutan etis publik yang menekan legitimasi industri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41264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E9E2E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" y="554126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Konsekuensinya:  </a:t>
            </a:r>
            <a:r>
              <a:rPr lang="en-US" sz="120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keputusan yang memuaskan semua pihak. Karena itu pendekatan Carroll saja tidak cukup — dibutuhkan stakeholder democracy dan dialog terlembaga untuk memutuskan klaim mana yang didahulukan, dan dengan alasan apa.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8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3 · CORPORATE CITIZENSHIP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Djarum dan Tiga Hak Kewarganegaraan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02152" cy="3566160"/>
          </a:xfrm>
          <a:prstGeom prst="roundRect">
            <a:avLst>
              <a:gd name="adj" fmla="val 1567"/>
            </a:avLst>
          </a:prstGeom>
          <a:solidFill>
            <a:srgbClr val="F3F0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920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 sosial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04672" y="2322576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5C7A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3225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16352"/>
            <a:ext cx="30175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Beasiswa pendidikan tinggi, peningkatan mutu SMK dan pendidikan dasar di Kudus, operasi katarak gratis dan layanan kesehatan, penghijauan, serta infrastruktur olahraga.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187952"/>
            <a:ext cx="3017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 skenario "pemerintah tidak mampu atau tidak sepenuhnya menjangkau" dalam Bab 2 — perusahaan mengisi ruang layanan publik.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9684" y="1737360"/>
            <a:ext cx="3502152" cy="3566160"/>
          </a:xfrm>
          <a:prstGeom prst="roundRect">
            <a:avLst>
              <a:gd name="adj" fmla="val 1567"/>
            </a:avLst>
          </a:prstGeom>
          <a:solidFill>
            <a:srgbClr val="F3F0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5716" y="1920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 sipil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85716" y="2322576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A85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85716" y="23225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  &amp;  DISABLER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85716" y="2816352"/>
            <a:ext cx="30175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akses ekonomi dan mobilitas sosial bagi puluhan ribu pekerja dan penerima program. Pada saat yang sama dipersoalkan karena paparan merek produk tembakau kepada anak.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85716" y="4187952"/>
            <a:ext cx="3017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ganda inilah yang membuat penilaiannya tidak bisa hitam-putih: memampukan sebagian hak, membatasi hak lain.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10728" y="1737360"/>
            <a:ext cx="3502152" cy="3566160"/>
          </a:xfrm>
          <a:prstGeom prst="roundRect">
            <a:avLst>
              <a:gd name="adj" fmla="val 1567"/>
            </a:avLst>
          </a:prstGeom>
          <a:solidFill>
            <a:srgbClr val="F3F0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1920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 politik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366760" y="2322576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8C2F3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23225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 &amp;  BLOCKAGE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816352"/>
            <a:ext cx="30175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 tembakau adalah aktor berpengaruh dalam perdebatan regulasi, termasuk revisi PP No. 109/2012. Sebaliknya, publik dan LSM menyalurkan tekanan politik lewat korporasi, bukan hanya lewat negara.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4187952"/>
            <a:ext cx="3017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 pengamatan Hertz (2001): warga makin mengarahkan aksi politik kepada perusahaan, bukan kepada pemerintah.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468112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451A2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1248" y="5468112"/>
            <a:ext cx="10424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extended view, PT Djarum adalah aktor politik de facto — terlepas dari motifnya, karena konsep ini bersifat deskriptif, bukan normatif. Konsekuensinya: tuntutan akuntabilitas dan transparansi setara aktor publik menjadi wajar, bukan berlebihan.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8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3 · AKUNTABILITAS DIUJI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Kronologi Polemik Audisi Bulu Tangkis, 2019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472184" y="1847088"/>
            <a:ext cx="20117" cy="3145536"/>
          </a:xfrm>
          <a:prstGeom prst="rect">
            <a:avLst/>
          </a:prstGeom>
          <a:solidFill>
            <a:srgbClr val="DED7D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5564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2006– 18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380744" y="1792224"/>
            <a:ext cx="201168" cy="201168"/>
          </a:xfrm>
          <a:prstGeom prst="ellipse">
            <a:avLst/>
          </a:prstGeom>
          <a:solidFill>
            <a:srgbClr val="7A6E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37360" y="17373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Audisi Umum PB Djarum berjalan terbuka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02996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Yayasan Lentera Anak mencatat peserta diwajibkan mengenakan kaos ber-brand "Djarum" sepanjang 2015-2018.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0545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2019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380744" y="2542032"/>
            <a:ext cx="201168" cy="201168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737360" y="24871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Audisi di GOR KONI Bandung memicu polemik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779776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KPAI menilai terdapat unsur eksploitasi terselubung oleh industri tembakau: tubuh anak dipakai sebagai media promosi gratis.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55264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2019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380744" y="3291840"/>
            <a:ext cx="201168" cy="201168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737360" y="323697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 Djarum menyatakan menghentikan audisi mulai 2020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5295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Polemik meluas ke ruang publik; dukungan dan kritik datang dari berbagai pihak, termasuk terhadap sikap KPAI sendiri.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507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Sep 2019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380744" y="4041648"/>
            <a:ext cx="201168" cy="201168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737360" y="39867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Mediasi di Kemenpora menghasilkan tiga kesepakatan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279392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KPAI mencabut surat permintaan penghentian; (2) nama diubah menjadi "Audisi Umum Beasiswa Bulutangkis" tanpa logo, merek, dan brand image Djarum; (3) audisi dilanjutkan setelah konsolidasi internal.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5488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 25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380744" y="4791456"/>
            <a:ext cx="201168" cy="201168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737360" y="47365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Audisi berlanjut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5029200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2024, 11 dari 1.966 peserta memperoleh beasiswa; pada 2025, 9 atlet terpilih dari 1.729 peserta di GOR Djarum, Kudus.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541264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E9E2E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5541264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Dibaca lewat teori:  </a:t>
            </a:r>
            <a:r>
              <a:rPr lang="en-US" sz="11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inilah corporate accountability yang bekerja — tekanan masyarakat sipil memaksa korporasi merespons, tanpa melewati satu pun kotak suara. Isi kesepakatannya sendiri adalah soal transparansi: memisahkan secara terlihat mana pembinaan dan mana promosi.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8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SINTESIS &amp; KESIMPULAN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Kerangka, Satu Kasus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Ketiganya tidak saling menggantikan. Masing-masing menjawab pertanyaan yang berbeda, dan baru bersama-sama membentuk gambar utuh.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1133856"/>
          </a:xfrm>
          <a:prstGeom prst="roundRect">
            <a:avLst>
              <a:gd name="adj" fmla="val 4839"/>
            </a:avLst>
          </a:prstGeom>
          <a:solidFill>
            <a:srgbClr val="F3F0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945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tanggung jawabnya?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2194560"/>
            <a:ext cx="7461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Djarum memenuhi lapis ekonomi, hukum, dan filantropis dengan kuat; lapis etis adalah titik paling rapuh. Program yang ada sebagian besar bolt-on, belum built-in.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36976"/>
            <a:ext cx="11064240" cy="1133856"/>
          </a:xfrm>
          <a:prstGeom prst="roundRect">
            <a:avLst>
              <a:gd name="adj" fmla="val 4839"/>
            </a:avLst>
          </a:prstGeom>
          <a:solidFill>
            <a:srgbClr val="F3F0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34198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5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KEPADA SIAPA?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58768" y="3419856"/>
            <a:ext cx="7461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 antar-stakeholder saling bertentangan dan tidak dapat dipuaskan sekaligus. Anak-anak peserta audisi adalah stakeholder sah berdasarkan principle of corporate effect, meski tanpa hubungan kontraktual.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62272"/>
            <a:ext cx="11064240" cy="1133856"/>
          </a:xfrm>
          <a:prstGeom prst="roundRect">
            <a:avLst>
              <a:gd name="adj" fmla="val 4839"/>
            </a:avLst>
          </a:prstGeom>
          <a:solidFill>
            <a:srgbClr val="F3F0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46451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CITIZENSHIP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992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KUASA APA?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858768" y="4645152"/>
            <a:ext cx="7461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4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Djarum mengambil peran kuasi-pemerintah di bidang pendidikan, kesehatan, olahraga, dan lingkungan. Karena itu tuntutan akuntabilitas dan transparansi setara aktor publik menjadi konsekuensi logis.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724144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451A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572414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Kesimpulan: korporasi dapat dituntut bertanggung jawab sebagai entitas, bukan hanya orang-orangnya. CSR Djarum kuat di lapis required dan desired tetapi rapuh di lapis etis - sebagian besar masih bolt-on. Dan sebagai aktor politik de facto, wajar bila Djarum dituntut akuntabel dan transparan layaknya aktor publik.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8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Studi Kasus PT Djarum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Rekomendasi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untuk perusahaan, satu untuk pembuat kebijakan — semuanya diturunkan langsung dari kerangka Bab 2.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56816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F3F0F1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76272"/>
            <a:ext cx="402336" cy="402336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35024" y="21762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KRITIK CSR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335024" y="23591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Pisahkan identitas program dari merek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06624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Lanjutkan dan perluas prinsip kesepakatan 2019: kegiatan sosial dijalankan tanpa logo, merek, dan brand image yang beririsan dengan produk tembakau — terutama pada kegiatan yang melibatkan anak.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956816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F3F0F1"/>
          </a:solidFill>
          <a:ln/>
        </p:spPr>
      </p:sp>
      <p:sp>
        <p:nvSpPr>
          <p:cNvPr id="12" name="Shape 10"/>
          <p:cNvSpPr/>
          <p:nvPr/>
        </p:nvSpPr>
        <p:spPr>
          <a:xfrm>
            <a:off x="6428232" y="2176272"/>
            <a:ext cx="402336" cy="402336"/>
          </a:xfrm>
          <a:prstGeom prst="ellipse">
            <a:avLst/>
          </a:prstGeom>
          <a:solidFill>
            <a:srgbClr val="A85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2823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58584" y="21762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A8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TABEL 2.2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958584" y="23591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Geser CSR dari bolt-on menjadi built-in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706624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program yang terhubung dengan rantai nilai: kesejahteraan dan produktivitas petani tembakau dan cengkeh, keselamatan kerja, serta penyiapan transisi ekonomi Kudus.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F3F0F1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3968496"/>
            <a:ext cx="402336" cy="402336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35024" y="39684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TRANSPARANSI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335024" y="41513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Perkuat transparansi pelaporan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498848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laporan keberlanjutan yang memenuhi disclosure, clarity, dan accuracy — termasuk mengungkapkan belanja program sosial dan belanja pemasaran secara terpisah, agar batas keduanya dapat dinilai publik.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3749040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F3F0F1"/>
          </a:solidFill>
          <a:ln/>
        </p:spPr>
      </p:sp>
      <p:sp>
        <p:nvSpPr>
          <p:cNvPr id="24" name="Shape 22"/>
          <p:cNvSpPr/>
          <p:nvPr/>
        </p:nvSpPr>
        <p:spPr>
          <a:xfrm>
            <a:off x="6428232" y="3968496"/>
            <a:ext cx="402336" cy="402336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28232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58584" y="39684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8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STAKEHOLDER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958584" y="41513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Lembagakan dialog stakeholder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4498848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forum reguler dengan regulator, masyarakat sipil, dan komunitas terdampak — bukan hanya mediasi ketika krisis sudah terjadi. Ini wujud praktis stakeholder democracy.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541264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451A2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1248" y="5541264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4B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pembuat kebijakan: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tutup celah CSR dalam revisi PP No. 109/2012, sehingga batas antara filantropi dan promosi produk tembakau menjadi tegas dan dapat ditegakkan — bukan diserahkan pada mediasi kasus per kasus.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373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80" dirty="0">
                <a:solidFill>
                  <a:srgbClr val="7A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060704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F6A9C-26A8-A561-6C0F-6200B4101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7E29D10-CDA9-FABF-7FAE-A21C5D95A941}"/>
              </a:ext>
            </a:extLst>
          </p:cNvPr>
          <p:cNvSpPr/>
          <p:nvPr/>
        </p:nvSpPr>
        <p:spPr>
          <a:xfrm>
            <a:off x="0" y="0"/>
            <a:ext cx="7340600" cy="6858000"/>
          </a:xfrm>
          <a:prstGeom prst="rect">
            <a:avLst/>
          </a:prstGeom>
          <a:solidFill>
            <a:schemeClr val="bg1">
              <a:lumMod val="9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85B0645-25A6-6364-64BF-071DFD09D243}"/>
              </a:ext>
            </a:extLst>
          </p:cNvPr>
          <p:cNvSpPr/>
          <p:nvPr/>
        </p:nvSpPr>
        <p:spPr>
          <a:xfrm>
            <a:off x="9685635" y="2104570"/>
            <a:ext cx="1525319" cy="152531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632A7D9-89C5-5305-FE41-094250B607A2}"/>
              </a:ext>
            </a:extLst>
          </p:cNvPr>
          <p:cNvSpPr/>
          <p:nvPr/>
        </p:nvSpPr>
        <p:spPr>
          <a:xfrm>
            <a:off x="7972949" y="443346"/>
            <a:ext cx="1525319" cy="152531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CBE209-3A3C-E7B2-9677-BCF3EC88D6DF}"/>
              </a:ext>
            </a:extLst>
          </p:cNvPr>
          <p:cNvSpPr txBox="1"/>
          <p:nvPr/>
        </p:nvSpPr>
        <p:spPr>
          <a:xfrm>
            <a:off x="778536" y="2039626"/>
            <a:ext cx="44730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accent1"/>
                </a:solidFill>
                <a:latin typeface="+mj-lt"/>
              </a:rPr>
              <a:t>Thanks for Your </a:t>
            </a:r>
            <a:r>
              <a:rPr lang="en-US" sz="4800" dirty="0">
                <a:latin typeface="+mj-lt"/>
              </a:rPr>
              <a:t>Attention</a:t>
            </a:r>
            <a:endParaRPr lang="en-US" sz="4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A5F0B4B-7D7E-3295-2367-E7782F9D1018}"/>
              </a:ext>
            </a:extLst>
          </p:cNvPr>
          <p:cNvSpPr/>
          <p:nvPr/>
        </p:nvSpPr>
        <p:spPr>
          <a:xfrm>
            <a:off x="864172" y="4772578"/>
            <a:ext cx="2036532" cy="4267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254000" dist="190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7B9E6C-2841-FCD7-BD68-C359157C1E23}"/>
              </a:ext>
            </a:extLst>
          </p:cNvPr>
          <p:cNvSpPr txBox="1"/>
          <p:nvPr/>
        </p:nvSpPr>
        <p:spPr>
          <a:xfrm>
            <a:off x="932071" y="4847448"/>
            <a:ext cx="15819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</a:rPr>
              <a:t>End Presentation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5C96B92-0633-CDE4-3DDB-480E00A72AC1}"/>
              </a:ext>
            </a:extLst>
          </p:cNvPr>
          <p:cNvSpPr/>
          <p:nvPr/>
        </p:nvSpPr>
        <p:spPr>
          <a:xfrm>
            <a:off x="2506366" y="4826410"/>
            <a:ext cx="319074" cy="319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 descr="Send with solid fill">
            <a:extLst>
              <a:ext uri="{FF2B5EF4-FFF2-40B4-BE49-F238E27FC236}">
                <a16:creationId xmlns:a16="http://schemas.microsoft.com/office/drawing/2014/main" id="{D1B75B80-394C-3B5A-8558-3154F36D19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8796" y="4895529"/>
            <a:ext cx="178522" cy="178522"/>
          </a:xfrm>
          <a:prstGeom prst="rect">
            <a:avLst/>
          </a:prstGeom>
        </p:spPr>
      </p:pic>
      <p:sp>
        <p:nvSpPr>
          <p:cNvPr id="40" name="Freeform 146">
            <a:extLst>
              <a:ext uri="{FF2B5EF4-FFF2-40B4-BE49-F238E27FC236}">
                <a16:creationId xmlns:a16="http://schemas.microsoft.com/office/drawing/2014/main" id="{B5C2ACF0-0760-F740-E3E1-E55315DAD5BB}"/>
              </a:ext>
            </a:extLst>
          </p:cNvPr>
          <p:cNvSpPr>
            <a:spLocks noEditPoints="1"/>
          </p:cNvSpPr>
          <p:nvPr/>
        </p:nvSpPr>
        <p:spPr bwMode="auto">
          <a:xfrm>
            <a:off x="10107868" y="2523700"/>
            <a:ext cx="680852" cy="687060"/>
          </a:xfrm>
          <a:custGeom>
            <a:avLst/>
            <a:gdLst>
              <a:gd name="T0" fmla="*/ 113 w 153"/>
              <a:gd name="T1" fmla="*/ 42 h 153"/>
              <a:gd name="T2" fmla="*/ 145 w 153"/>
              <a:gd name="T3" fmla="*/ 50 h 153"/>
              <a:gd name="T4" fmla="*/ 153 w 153"/>
              <a:gd name="T5" fmla="*/ 18 h 153"/>
              <a:gd name="T6" fmla="*/ 147 w 153"/>
              <a:gd name="T7" fmla="*/ 16 h 153"/>
              <a:gd name="T8" fmla="*/ 142 w 153"/>
              <a:gd name="T9" fmla="*/ 36 h 153"/>
              <a:gd name="T10" fmla="*/ 77 w 153"/>
              <a:gd name="T11" fmla="*/ 0 h 153"/>
              <a:gd name="T12" fmla="*/ 0 w 153"/>
              <a:gd name="T13" fmla="*/ 77 h 153"/>
              <a:gd name="T14" fmla="*/ 77 w 153"/>
              <a:gd name="T15" fmla="*/ 153 h 153"/>
              <a:gd name="T16" fmla="*/ 143 w 153"/>
              <a:gd name="T17" fmla="*/ 115 h 153"/>
              <a:gd name="T18" fmla="*/ 137 w 153"/>
              <a:gd name="T19" fmla="*/ 112 h 153"/>
              <a:gd name="T20" fmla="*/ 77 w 153"/>
              <a:gd name="T21" fmla="*/ 147 h 153"/>
              <a:gd name="T22" fmla="*/ 6 w 153"/>
              <a:gd name="T23" fmla="*/ 77 h 153"/>
              <a:gd name="T24" fmla="*/ 77 w 153"/>
              <a:gd name="T25" fmla="*/ 6 h 153"/>
              <a:gd name="T26" fmla="*/ 137 w 153"/>
              <a:gd name="T27" fmla="*/ 42 h 153"/>
              <a:gd name="T28" fmla="*/ 114 w 153"/>
              <a:gd name="T29" fmla="*/ 35 h 153"/>
              <a:gd name="T30" fmla="*/ 113 w 153"/>
              <a:gd name="T31" fmla="*/ 42 h 153"/>
              <a:gd name="T32" fmla="*/ 80 w 153"/>
              <a:gd name="T33" fmla="*/ 111 h 153"/>
              <a:gd name="T34" fmla="*/ 80 w 153"/>
              <a:gd name="T35" fmla="*/ 105 h 153"/>
              <a:gd name="T36" fmla="*/ 93 w 153"/>
              <a:gd name="T37" fmla="*/ 100 h 153"/>
              <a:gd name="T38" fmla="*/ 98 w 153"/>
              <a:gd name="T39" fmla="*/ 88 h 153"/>
              <a:gd name="T40" fmla="*/ 94 w 153"/>
              <a:gd name="T41" fmla="*/ 78 h 153"/>
              <a:gd name="T42" fmla="*/ 80 w 153"/>
              <a:gd name="T43" fmla="*/ 72 h 153"/>
              <a:gd name="T44" fmla="*/ 80 w 153"/>
              <a:gd name="T45" fmla="*/ 72 h 153"/>
              <a:gd name="T46" fmla="*/ 80 w 153"/>
              <a:gd name="T47" fmla="*/ 57 h 153"/>
              <a:gd name="T48" fmla="*/ 91 w 153"/>
              <a:gd name="T49" fmla="*/ 61 h 153"/>
              <a:gd name="T50" fmla="*/ 97 w 153"/>
              <a:gd name="T51" fmla="*/ 54 h 153"/>
              <a:gd name="T52" fmla="*/ 80 w 153"/>
              <a:gd name="T53" fmla="*/ 48 h 153"/>
              <a:gd name="T54" fmla="*/ 80 w 153"/>
              <a:gd name="T55" fmla="*/ 45 h 153"/>
              <a:gd name="T56" fmla="*/ 75 w 153"/>
              <a:gd name="T57" fmla="*/ 45 h 153"/>
              <a:gd name="T58" fmla="*/ 75 w 153"/>
              <a:gd name="T59" fmla="*/ 48 h 153"/>
              <a:gd name="T60" fmla="*/ 63 w 153"/>
              <a:gd name="T61" fmla="*/ 53 h 153"/>
              <a:gd name="T62" fmla="*/ 58 w 153"/>
              <a:gd name="T63" fmla="*/ 65 h 153"/>
              <a:gd name="T64" fmla="*/ 62 w 153"/>
              <a:gd name="T65" fmla="*/ 75 h 153"/>
              <a:gd name="T66" fmla="*/ 75 w 153"/>
              <a:gd name="T67" fmla="*/ 81 h 153"/>
              <a:gd name="T68" fmla="*/ 75 w 153"/>
              <a:gd name="T69" fmla="*/ 96 h 153"/>
              <a:gd name="T70" fmla="*/ 61 w 153"/>
              <a:gd name="T71" fmla="*/ 89 h 153"/>
              <a:gd name="T72" fmla="*/ 56 w 153"/>
              <a:gd name="T73" fmla="*/ 96 h 153"/>
              <a:gd name="T74" fmla="*/ 75 w 153"/>
              <a:gd name="T75" fmla="*/ 105 h 153"/>
              <a:gd name="T76" fmla="*/ 75 w 153"/>
              <a:gd name="T77" fmla="*/ 111 h 153"/>
              <a:gd name="T78" fmla="*/ 80 w 153"/>
              <a:gd name="T79" fmla="*/ 111 h 153"/>
              <a:gd name="T80" fmla="*/ 80 w 153"/>
              <a:gd name="T81" fmla="*/ 82 h 153"/>
              <a:gd name="T82" fmla="*/ 87 w 153"/>
              <a:gd name="T83" fmla="*/ 85 h 153"/>
              <a:gd name="T84" fmla="*/ 88 w 153"/>
              <a:gd name="T85" fmla="*/ 90 h 153"/>
              <a:gd name="T86" fmla="*/ 86 w 153"/>
              <a:gd name="T87" fmla="*/ 94 h 153"/>
              <a:gd name="T88" fmla="*/ 80 w 153"/>
              <a:gd name="T89" fmla="*/ 97 h 153"/>
              <a:gd name="T90" fmla="*/ 80 w 153"/>
              <a:gd name="T91" fmla="*/ 82 h 153"/>
              <a:gd name="T92" fmla="*/ 69 w 153"/>
              <a:gd name="T93" fmla="*/ 68 h 153"/>
              <a:gd name="T94" fmla="*/ 67 w 153"/>
              <a:gd name="T95" fmla="*/ 64 h 153"/>
              <a:gd name="T96" fmla="*/ 69 w 153"/>
              <a:gd name="T97" fmla="*/ 59 h 153"/>
              <a:gd name="T98" fmla="*/ 75 w 153"/>
              <a:gd name="T99" fmla="*/ 57 h 153"/>
              <a:gd name="T100" fmla="*/ 75 w 153"/>
              <a:gd name="T101" fmla="*/ 71 h 153"/>
              <a:gd name="T102" fmla="*/ 69 w 153"/>
              <a:gd name="T103" fmla="*/ 68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53" h="153">
                <a:moveTo>
                  <a:pt x="113" y="42"/>
                </a:moveTo>
                <a:cubicBezTo>
                  <a:pt x="145" y="50"/>
                  <a:pt x="145" y="50"/>
                  <a:pt x="145" y="50"/>
                </a:cubicBezTo>
                <a:cubicBezTo>
                  <a:pt x="153" y="18"/>
                  <a:pt x="153" y="18"/>
                  <a:pt x="153" y="18"/>
                </a:cubicBezTo>
                <a:cubicBezTo>
                  <a:pt x="147" y="16"/>
                  <a:pt x="147" y="16"/>
                  <a:pt x="147" y="16"/>
                </a:cubicBezTo>
                <a:cubicBezTo>
                  <a:pt x="142" y="36"/>
                  <a:pt x="142" y="36"/>
                  <a:pt x="142" y="36"/>
                </a:cubicBezTo>
                <a:cubicBezTo>
                  <a:pt x="128" y="15"/>
                  <a:pt x="104" y="0"/>
                  <a:pt x="77" y="0"/>
                </a:cubicBezTo>
                <a:cubicBezTo>
                  <a:pt x="34" y="0"/>
                  <a:pt x="0" y="34"/>
                  <a:pt x="0" y="77"/>
                </a:cubicBezTo>
                <a:cubicBezTo>
                  <a:pt x="0" y="119"/>
                  <a:pt x="34" y="153"/>
                  <a:pt x="77" y="153"/>
                </a:cubicBezTo>
                <a:cubicBezTo>
                  <a:pt x="105" y="153"/>
                  <a:pt x="129" y="138"/>
                  <a:pt x="143" y="115"/>
                </a:cubicBezTo>
                <a:cubicBezTo>
                  <a:pt x="137" y="112"/>
                  <a:pt x="137" y="112"/>
                  <a:pt x="137" y="112"/>
                </a:cubicBezTo>
                <a:cubicBezTo>
                  <a:pt x="125" y="133"/>
                  <a:pt x="102" y="147"/>
                  <a:pt x="77" y="147"/>
                </a:cubicBezTo>
                <a:cubicBezTo>
                  <a:pt x="38" y="147"/>
                  <a:pt x="6" y="115"/>
                  <a:pt x="6" y="77"/>
                </a:cubicBezTo>
                <a:cubicBezTo>
                  <a:pt x="6" y="38"/>
                  <a:pt x="38" y="6"/>
                  <a:pt x="77" y="6"/>
                </a:cubicBezTo>
                <a:cubicBezTo>
                  <a:pt x="103" y="6"/>
                  <a:pt x="125" y="20"/>
                  <a:pt x="137" y="42"/>
                </a:cubicBezTo>
                <a:cubicBezTo>
                  <a:pt x="114" y="35"/>
                  <a:pt x="114" y="35"/>
                  <a:pt x="114" y="35"/>
                </a:cubicBezTo>
                <a:lnTo>
                  <a:pt x="113" y="42"/>
                </a:lnTo>
                <a:close/>
                <a:moveTo>
                  <a:pt x="80" y="111"/>
                </a:moveTo>
                <a:cubicBezTo>
                  <a:pt x="80" y="105"/>
                  <a:pt x="80" y="105"/>
                  <a:pt x="80" y="105"/>
                </a:cubicBezTo>
                <a:cubicBezTo>
                  <a:pt x="85" y="104"/>
                  <a:pt x="90" y="103"/>
                  <a:pt x="93" y="100"/>
                </a:cubicBezTo>
                <a:cubicBezTo>
                  <a:pt x="96" y="97"/>
                  <a:pt x="98" y="93"/>
                  <a:pt x="98" y="88"/>
                </a:cubicBezTo>
                <a:cubicBezTo>
                  <a:pt x="98" y="84"/>
                  <a:pt x="97" y="80"/>
                  <a:pt x="94" y="78"/>
                </a:cubicBezTo>
                <a:cubicBezTo>
                  <a:pt x="91" y="75"/>
                  <a:pt x="86" y="73"/>
                  <a:pt x="80" y="72"/>
                </a:cubicBezTo>
                <a:cubicBezTo>
                  <a:pt x="80" y="72"/>
                  <a:pt x="80" y="72"/>
                  <a:pt x="80" y="72"/>
                </a:cubicBezTo>
                <a:cubicBezTo>
                  <a:pt x="80" y="57"/>
                  <a:pt x="80" y="57"/>
                  <a:pt x="80" y="57"/>
                </a:cubicBezTo>
                <a:cubicBezTo>
                  <a:pt x="84" y="58"/>
                  <a:pt x="88" y="59"/>
                  <a:pt x="91" y="61"/>
                </a:cubicBezTo>
                <a:cubicBezTo>
                  <a:pt x="97" y="54"/>
                  <a:pt x="97" y="54"/>
                  <a:pt x="97" y="54"/>
                </a:cubicBezTo>
                <a:cubicBezTo>
                  <a:pt x="91" y="51"/>
                  <a:pt x="86" y="49"/>
                  <a:pt x="80" y="48"/>
                </a:cubicBezTo>
                <a:cubicBezTo>
                  <a:pt x="80" y="45"/>
                  <a:pt x="80" y="45"/>
                  <a:pt x="80" y="45"/>
                </a:cubicBezTo>
                <a:cubicBezTo>
                  <a:pt x="75" y="45"/>
                  <a:pt x="75" y="45"/>
                  <a:pt x="75" y="45"/>
                </a:cubicBezTo>
                <a:cubicBezTo>
                  <a:pt x="75" y="48"/>
                  <a:pt x="75" y="48"/>
                  <a:pt x="75" y="48"/>
                </a:cubicBezTo>
                <a:cubicBezTo>
                  <a:pt x="70" y="49"/>
                  <a:pt x="66" y="50"/>
                  <a:pt x="63" y="53"/>
                </a:cubicBezTo>
                <a:cubicBezTo>
                  <a:pt x="59" y="56"/>
                  <a:pt x="58" y="60"/>
                  <a:pt x="58" y="65"/>
                </a:cubicBezTo>
                <a:cubicBezTo>
                  <a:pt x="58" y="69"/>
                  <a:pt x="59" y="73"/>
                  <a:pt x="62" y="75"/>
                </a:cubicBezTo>
                <a:cubicBezTo>
                  <a:pt x="65" y="77"/>
                  <a:pt x="69" y="79"/>
                  <a:pt x="75" y="81"/>
                </a:cubicBezTo>
                <a:cubicBezTo>
                  <a:pt x="75" y="96"/>
                  <a:pt x="75" y="96"/>
                  <a:pt x="75" y="96"/>
                </a:cubicBezTo>
                <a:cubicBezTo>
                  <a:pt x="70" y="95"/>
                  <a:pt x="66" y="93"/>
                  <a:pt x="61" y="89"/>
                </a:cubicBezTo>
                <a:cubicBezTo>
                  <a:pt x="56" y="96"/>
                  <a:pt x="56" y="96"/>
                  <a:pt x="56" y="96"/>
                </a:cubicBezTo>
                <a:cubicBezTo>
                  <a:pt x="61" y="101"/>
                  <a:pt x="68" y="104"/>
                  <a:pt x="75" y="105"/>
                </a:cubicBezTo>
                <a:cubicBezTo>
                  <a:pt x="75" y="111"/>
                  <a:pt x="75" y="111"/>
                  <a:pt x="75" y="111"/>
                </a:cubicBezTo>
                <a:lnTo>
                  <a:pt x="80" y="111"/>
                </a:lnTo>
                <a:close/>
                <a:moveTo>
                  <a:pt x="80" y="82"/>
                </a:moveTo>
                <a:cubicBezTo>
                  <a:pt x="84" y="83"/>
                  <a:pt x="85" y="84"/>
                  <a:pt x="87" y="85"/>
                </a:cubicBezTo>
                <a:cubicBezTo>
                  <a:pt x="88" y="86"/>
                  <a:pt x="88" y="88"/>
                  <a:pt x="88" y="90"/>
                </a:cubicBezTo>
                <a:cubicBezTo>
                  <a:pt x="88" y="92"/>
                  <a:pt x="88" y="93"/>
                  <a:pt x="86" y="94"/>
                </a:cubicBezTo>
                <a:cubicBezTo>
                  <a:pt x="84" y="96"/>
                  <a:pt x="83" y="96"/>
                  <a:pt x="80" y="97"/>
                </a:cubicBezTo>
                <a:lnTo>
                  <a:pt x="80" y="82"/>
                </a:lnTo>
                <a:close/>
                <a:moveTo>
                  <a:pt x="69" y="68"/>
                </a:moveTo>
                <a:cubicBezTo>
                  <a:pt x="68" y="67"/>
                  <a:pt x="67" y="66"/>
                  <a:pt x="67" y="64"/>
                </a:cubicBezTo>
                <a:cubicBezTo>
                  <a:pt x="67" y="62"/>
                  <a:pt x="68" y="61"/>
                  <a:pt x="69" y="59"/>
                </a:cubicBezTo>
                <a:cubicBezTo>
                  <a:pt x="71" y="58"/>
                  <a:pt x="72" y="58"/>
                  <a:pt x="75" y="57"/>
                </a:cubicBezTo>
                <a:cubicBezTo>
                  <a:pt x="75" y="71"/>
                  <a:pt x="75" y="71"/>
                  <a:pt x="75" y="71"/>
                </a:cubicBezTo>
                <a:cubicBezTo>
                  <a:pt x="72" y="70"/>
                  <a:pt x="70" y="69"/>
                  <a:pt x="69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204">
            <a:extLst>
              <a:ext uri="{FF2B5EF4-FFF2-40B4-BE49-F238E27FC236}">
                <a16:creationId xmlns:a16="http://schemas.microsoft.com/office/drawing/2014/main" id="{EA4DD6EE-3014-2C33-95F9-C4AFB202B8A0}"/>
              </a:ext>
            </a:extLst>
          </p:cNvPr>
          <p:cNvSpPr>
            <a:spLocks noEditPoints="1"/>
          </p:cNvSpPr>
          <p:nvPr/>
        </p:nvSpPr>
        <p:spPr bwMode="auto">
          <a:xfrm>
            <a:off x="8496782" y="838921"/>
            <a:ext cx="477652" cy="734168"/>
          </a:xfrm>
          <a:custGeom>
            <a:avLst/>
            <a:gdLst>
              <a:gd name="T0" fmla="*/ 74 w 100"/>
              <a:gd name="T1" fmla="*/ 6 h 153"/>
              <a:gd name="T2" fmla="*/ 53 w 100"/>
              <a:gd name="T3" fmla="*/ 9 h 153"/>
              <a:gd name="T4" fmla="*/ 36 w 100"/>
              <a:gd name="T5" fmla="*/ 8 h 153"/>
              <a:gd name="T6" fmla="*/ 19 w 100"/>
              <a:gd name="T7" fmla="*/ 20 h 153"/>
              <a:gd name="T8" fmla="*/ 35 w 100"/>
              <a:gd name="T9" fmla="*/ 38 h 153"/>
              <a:gd name="T10" fmla="*/ 50 w 100"/>
              <a:gd name="T11" fmla="*/ 153 h 153"/>
              <a:gd name="T12" fmla="*/ 62 w 100"/>
              <a:gd name="T13" fmla="*/ 37 h 153"/>
              <a:gd name="T14" fmla="*/ 26 w 100"/>
              <a:gd name="T15" fmla="*/ 21 h 153"/>
              <a:gd name="T16" fmla="*/ 39 w 100"/>
              <a:gd name="T17" fmla="*/ 14 h 153"/>
              <a:gd name="T18" fmla="*/ 56 w 100"/>
              <a:gd name="T19" fmla="*/ 15 h 153"/>
              <a:gd name="T20" fmla="*/ 56 w 100"/>
              <a:gd name="T21" fmla="*/ 34 h 153"/>
              <a:gd name="T22" fmla="*/ 50 w 100"/>
              <a:gd name="T23" fmla="*/ 34 h 153"/>
              <a:gd name="T24" fmla="*/ 26 w 100"/>
              <a:gd name="T25" fmla="*/ 24 h 153"/>
              <a:gd name="T26" fmla="*/ 6 w 100"/>
              <a:gd name="T27" fmla="*/ 103 h 153"/>
              <a:gd name="T28" fmla="*/ 94 w 100"/>
              <a:gd name="T29" fmla="*/ 103 h 153"/>
              <a:gd name="T30" fmla="*/ 64 w 100"/>
              <a:gd name="T31" fmla="*/ 94 h 153"/>
              <a:gd name="T32" fmla="*/ 53 w 100"/>
              <a:gd name="T33" fmla="*/ 90 h 153"/>
              <a:gd name="T34" fmla="*/ 62 w 100"/>
              <a:gd name="T35" fmla="*/ 81 h 153"/>
              <a:gd name="T36" fmla="*/ 53 w 100"/>
              <a:gd name="T37" fmla="*/ 71 h 153"/>
              <a:gd name="T38" fmla="*/ 49 w 100"/>
              <a:gd name="T39" fmla="*/ 67 h 153"/>
              <a:gd name="T40" fmla="*/ 39 w 100"/>
              <a:gd name="T41" fmla="*/ 75 h 153"/>
              <a:gd name="T42" fmla="*/ 38 w 100"/>
              <a:gd name="T43" fmla="*/ 92 h 153"/>
              <a:gd name="T44" fmla="*/ 49 w 100"/>
              <a:gd name="T45" fmla="*/ 108 h 153"/>
              <a:gd name="T46" fmla="*/ 33 w 100"/>
              <a:gd name="T47" fmla="*/ 108 h 153"/>
              <a:gd name="T48" fmla="*/ 49 w 100"/>
              <a:gd name="T49" fmla="*/ 120 h 153"/>
              <a:gd name="T50" fmla="*/ 53 w 100"/>
              <a:gd name="T51" fmla="*/ 115 h 153"/>
              <a:gd name="T52" fmla="*/ 67 w 100"/>
              <a:gd name="T53" fmla="*/ 103 h 153"/>
              <a:gd name="T54" fmla="*/ 49 w 100"/>
              <a:gd name="T55" fmla="*/ 89 h 153"/>
              <a:gd name="T56" fmla="*/ 43 w 100"/>
              <a:gd name="T57" fmla="*/ 83 h 153"/>
              <a:gd name="T58" fmla="*/ 49 w 100"/>
              <a:gd name="T59" fmla="*/ 78 h 153"/>
              <a:gd name="T60" fmla="*/ 58 w 100"/>
              <a:gd name="T61" fmla="*/ 107 h 153"/>
              <a:gd name="T62" fmla="*/ 53 w 100"/>
              <a:gd name="T63" fmla="*/ 97 h 153"/>
              <a:gd name="T64" fmla="*/ 59 w 100"/>
              <a:gd name="T65" fmla="*/ 103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00" h="153">
                <a:moveTo>
                  <a:pt x="62" y="37"/>
                </a:moveTo>
                <a:cubicBezTo>
                  <a:pt x="68" y="30"/>
                  <a:pt x="72" y="14"/>
                  <a:pt x="74" y="6"/>
                </a:cubicBezTo>
                <a:cubicBezTo>
                  <a:pt x="75" y="0"/>
                  <a:pt x="75" y="0"/>
                  <a:pt x="75" y="0"/>
                </a:cubicBezTo>
                <a:cubicBezTo>
                  <a:pt x="53" y="9"/>
                  <a:pt x="53" y="9"/>
                  <a:pt x="53" y="9"/>
                </a:cubicBezTo>
                <a:cubicBezTo>
                  <a:pt x="51" y="10"/>
                  <a:pt x="49" y="10"/>
                  <a:pt x="48" y="9"/>
                </a:cubicBezTo>
                <a:cubicBezTo>
                  <a:pt x="44" y="6"/>
                  <a:pt x="40" y="6"/>
                  <a:pt x="36" y="8"/>
                </a:cubicBezTo>
                <a:cubicBezTo>
                  <a:pt x="24" y="13"/>
                  <a:pt x="24" y="13"/>
                  <a:pt x="24" y="13"/>
                </a:cubicBezTo>
                <a:cubicBezTo>
                  <a:pt x="22" y="14"/>
                  <a:pt x="20" y="17"/>
                  <a:pt x="19" y="20"/>
                </a:cubicBezTo>
                <a:cubicBezTo>
                  <a:pt x="19" y="22"/>
                  <a:pt x="19" y="25"/>
                  <a:pt x="21" y="28"/>
                </a:cubicBezTo>
                <a:cubicBezTo>
                  <a:pt x="25" y="32"/>
                  <a:pt x="31" y="36"/>
                  <a:pt x="35" y="38"/>
                </a:cubicBezTo>
                <a:cubicBezTo>
                  <a:pt x="14" y="49"/>
                  <a:pt x="0" y="81"/>
                  <a:pt x="0" y="103"/>
                </a:cubicBezTo>
                <a:cubicBezTo>
                  <a:pt x="0" y="131"/>
                  <a:pt x="23" y="153"/>
                  <a:pt x="50" y="153"/>
                </a:cubicBezTo>
                <a:cubicBezTo>
                  <a:pt x="78" y="153"/>
                  <a:pt x="100" y="131"/>
                  <a:pt x="100" y="103"/>
                </a:cubicBezTo>
                <a:cubicBezTo>
                  <a:pt x="100" y="80"/>
                  <a:pt x="84" y="47"/>
                  <a:pt x="62" y="37"/>
                </a:cubicBezTo>
                <a:close/>
                <a:moveTo>
                  <a:pt x="26" y="24"/>
                </a:moveTo>
                <a:cubicBezTo>
                  <a:pt x="26" y="23"/>
                  <a:pt x="25" y="22"/>
                  <a:pt x="26" y="21"/>
                </a:cubicBezTo>
                <a:cubicBezTo>
                  <a:pt x="26" y="21"/>
                  <a:pt x="26" y="20"/>
                  <a:pt x="27" y="19"/>
                </a:cubicBezTo>
                <a:cubicBezTo>
                  <a:pt x="39" y="14"/>
                  <a:pt x="39" y="14"/>
                  <a:pt x="39" y="14"/>
                </a:cubicBezTo>
                <a:cubicBezTo>
                  <a:pt x="41" y="13"/>
                  <a:pt x="43" y="13"/>
                  <a:pt x="44" y="14"/>
                </a:cubicBezTo>
                <a:cubicBezTo>
                  <a:pt x="48" y="17"/>
                  <a:pt x="52" y="17"/>
                  <a:pt x="56" y="15"/>
                </a:cubicBezTo>
                <a:cubicBezTo>
                  <a:pt x="66" y="11"/>
                  <a:pt x="66" y="11"/>
                  <a:pt x="66" y="11"/>
                </a:cubicBezTo>
                <a:cubicBezTo>
                  <a:pt x="63" y="23"/>
                  <a:pt x="59" y="34"/>
                  <a:pt x="56" y="34"/>
                </a:cubicBezTo>
                <a:cubicBezTo>
                  <a:pt x="56" y="35"/>
                  <a:pt x="56" y="35"/>
                  <a:pt x="56" y="35"/>
                </a:cubicBezTo>
                <a:cubicBezTo>
                  <a:pt x="54" y="35"/>
                  <a:pt x="52" y="34"/>
                  <a:pt x="50" y="34"/>
                </a:cubicBezTo>
                <a:cubicBezTo>
                  <a:pt x="47" y="34"/>
                  <a:pt x="45" y="35"/>
                  <a:pt x="42" y="36"/>
                </a:cubicBezTo>
                <a:cubicBezTo>
                  <a:pt x="39" y="34"/>
                  <a:pt x="30" y="29"/>
                  <a:pt x="26" y="24"/>
                </a:cubicBezTo>
                <a:close/>
                <a:moveTo>
                  <a:pt x="50" y="147"/>
                </a:moveTo>
                <a:cubicBezTo>
                  <a:pt x="26" y="147"/>
                  <a:pt x="6" y="127"/>
                  <a:pt x="6" y="103"/>
                </a:cubicBezTo>
                <a:cubicBezTo>
                  <a:pt x="6" y="79"/>
                  <a:pt x="26" y="41"/>
                  <a:pt x="50" y="41"/>
                </a:cubicBezTo>
                <a:cubicBezTo>
                  <a:pt x="74" y="41"/>
                  <a:pt x="94" y="79"/>
                  <a:pt x="94" y="103"/>
                </a:cubicBezTo>
                <a:cubicBezTo>
                  <a:pt x="94" y="127"/>
                  <a:pt x="74" y="147"/>
                  <a:pt x="50" y="147"/>
                </a:cubicBezTo>
                <a:close/>
                <a:moveTo>
                  <a:pt x="64" y="94"/>
                </a:moveTo>
                <a:cubicBezTo>
                  <a:pt x="62" y="92"/>
                  <a:pt x="58" y="91"/>
                  <a:pt x="53" y="90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78"/>
                  <a:pt x="53" y="78"/>
                  <a:pt x="53" y="78"/>
                </a:cubicBezTo>
                <a:cubicBezTo>
                  <a:pt x="56" y="78"/>
                  <a:pt x="59" y="79"/>
                  <a:pt x="62" y="81"/>
                </a:cubicBezTo>
                <a:cubicBezTo>
                  <a:pt x="66" y="75"/>
                  <a:pt x="66" y="75"/>
                  <a:pt x="66" y="75"/>
                </a:cubicBezTo>
                <a:cubicBezTo>
                  <a:pt x="61" y="73"/>
                  <a:pt x="57" y="71"/>
                  <a:pt x="53" y="71"/>
                </a:cubicBezTo>
                <a:cubicBezTo>
                  <a:pt x="53" y="67"/>
                  <a:pt x="53" y="67"/>
                  <a:pt x="53" y="67"/>
                </a:cubicBezTo>
                <a:cubicBezTo>
                  <a:pt x="49" y="67"/>
                  <a:pt x="49" y="67"/>
                  <a:pt x="49" y="67"/>
                </a:cubicBezTo>
                <a:cubicBezTo>
                  <a:pt x="49" y="71"/>
                  <a:pt x="49" y="71"/>
                  <a:pt x="49" y="71"/>
                </a:cubicBezTo>
                <a:cubicBezTo>
                  <a:pt x="45" y="71"/>
                  <a:pt x="42" y="72"/>
                  <a:pt x="39" y="75"/>
                </a:cubicBezTo>
                <a:cubicBezTo>
                  <a:pt x="36" y="77"/>
                  <a:pt x="35" y="80"/>
                  <a:pt x="35" y="83"/>
                </a:cubicBezTo>
                <a:cubicBezTo>
                  <a:pt x="35" y="87"/>
                  <a:pt x="36" y="90"/>
                  <a:pt x="38" y="92"/>
                </a:cubicBezTo>
                <a:cubicBezTo>
                  <a:pt x="41" y="93"/>
                  <a:pt x="44" y="95"/>
                  <a:pt x="49" y="96"/>
                </a:cubicBezTo>
                <a:cubicBezTo>
                  <a:pt x="49" y="108"/>
                  <a:pt x="49" y="108"/>
                  <a:pt x="49" y="108"/>
                </a:cubicBezTo>
                <a:cubicBezTo>
                  <a:pt x="45" y="108"/>
                  <a:pt x="42" y="106"/>
                  <a:pt x="38" y="103"/>
                </a:cubicBezTo>
                <a:cubicBezTo>
                  <a:pt x="33" y="108"/>
                  <a:pt x="33" y="108"/>
                  <a:pt x="33" y="108"/>
                </a:cubicBezTo>
                <a:cubicBezTo>
                  <a:pt x="38" y="112"/>
                  <a:pt x="43" y="115"/>
                  <a:pt x="49" y="115"/>
                </a:cubicBezTo>
                <a:cubicBezTo>
                  <a:pt x="49" y="120"/>
                  <a:pt x="49" y="120"/>
                  <a:pt x="49" y="120"/>
                </a:cubicBezTo>
                <a:cubicBezTo>
                  <a:pt x="53" y="120"/>
                  <a:pt x="53" y="120"/>
                  <a:pt x="53" y="120"/>
                </a:cubicBezTo>
                <a:cubicBezTo>
                  <a:pt x="53" y="115"/>
                  <a:pt x="53" y="115"/>
                  <a:pt x="53" y="115"/>
                </a:cubicBezTo>
                <a:cubicBezTo>
                  <a:pt x="57" y="115"/>
                  <a:pt x="61" y="114"/>
                  <a:pt x="63" y="111"/>
                </a:cubicBezTo>
                <a:cubicBezTo>
                  <a:pt x="66" y="109"/>
                  <a:pt x="67" y="106"/>
                  <a:pt x="67" y="103"/>
                </a:cubicBezTo>
                <a:cubicBezTo>
                  <a:pt x="67" y="99"/>
                  <a:pt x="66" y="96"/>
                  <a:pt x="64" y="94"/>
                </a:cubicBezTo>
                <a:close/>
                <a:moveTo>
                  <a:pt x="49" y="89"/>
                </a:moveTo>
                <a:cubicBezTo>
                  <a:pt x="46" y="88"/>
                  <a:pt x="45" y="87"/>
                  <a:pt x="44" y="86"/>
                </a:cubicBezTo>
                <a:cubicBezTo>
                  <a:pt x="43" y="86"/>
                  <a:pt x="43" y="84"/>
                  <a:pt x="43" y="83"/>
                </a:cubicBezTo>
                <a:cubicBezTo>
                  <a:pt x="43" y="81"/>
                  <a:pt x="43" y="80"/>
                  <a:pt x="44" y="79"/>
                </a:cubicBezTo>
                <a:cubicBezTo>
                  <a:pt x="45" y="79"/>
                  <a:pt x="47" y="78"/>
                  <a:pt x="49" y="78"/>
                </a:cubicBezTo>
                <a:cubicBezTo>
                  <a:pt x="49" y="89"/>
                  <a:pt x="49" y="89"/>
                  <a:pt x="49" y="89"/>
                </a:cubicBezTo>
                <a:close/>
                <a:moveTo>
                  <a:pt x="58" y="107"/>
                </a:moveTo>
                <a:cubicBezTo>
                  <a:pt x="56" y="108"/>
                  <a:pt x="55" y="108"/>
                  <a:pt x="53" y="109"/>
                </a:cubicBezTo>
                <a:cubicBezTo>
                  <a:pt x="53" y="97"/>
                  <a:pt x="53" y="97"/>
                  <a:pt x="53" y="97"/>
                </a:cubicBezTo>
                <a:cubicBezTo>
                  <a:pt x="55" y="98"/>
                  <a:pt x="57" y="99"/>
                  <a:pt x="58" y="100"/>
                </a:cubicBezTo>
                <a:cubicBezTo>
                  <a:pt x="59" y="101"/>
                  <a:pt x="59" y="102"/>
                  <a:pt x="59" y="103"/>
                </a:cubicBezTo>
                <a:cubicBezTo>
                  <a:pt x="59" y="105"/>
                  <a:pt x="59" y="106"/>
                  <a:pt x="58" y="1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889D08DF-BEC4-7199-3B08-A645955976C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7" r="7277"/>
          <a:stretch>
            <a:fillRect/>
          </a:stretch>
        </p:blipFill>
        <p:spPr/>
      </p:pic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3DA207B6-1EEC-2B3E-B10B-1CBEEF9822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r="1306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4E389DFB-2D55-85E5-5D8A-A4AC1BF6C77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00" r="31500"/>
          <a:stretch>
            <a:fillRect/>
          </a:stretch>
        </p:blipFill>
        <p:spPr/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C90917F2-75BC-B069-8656-CE76241A158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81" r="18581"/>
          <a:stretch>
            <a:fillRect/>
          </a:stretch>
        </p:blipFill>
        <p:spPr/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86B17A-B198-FFC1-E284-5B294E8ED2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895" y="-4379"/>
            <a:ext cx="86106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2D6C5B-4078-7C88-F3D4-ACD2DD0DABCE}"/>
              </a:ext>
            </a:extLst>
          </p:cNvPr>
          <p:cNvSpPr txBox="1"/>
          <p:nvPr/>
        </p:nvSpPr>
        <p:spPr>
          <a:xfrm>
            <a:off x="778538" y="1658682"/>
            <a:ext cx="44730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/>
              <a:t>Business Ethics Sustainability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20266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">
      <a:dk1>
        <a:sysClr val="windowText" lastClr="000000"/>
      </a:dk1>
      <a:lt1>
        <a:sysClr val="window" lastClr="FFFFFF"/>
      </a:lt1>
      <a:dk2>
        <a:srgbClr val="3F3F3F"/>
      </a:dk2>
      <a:lt2>
        <a:srgbClr val="E7E6E6"/>
      </a:lt2>
      <a:accent1>
        <a:srgbClr val="322B93"/>
      </a:accent1>
      <a:accent2>
        <a:srgbClr val="6E96F8"/>
      </a:accent2>
      <a:accent3>
        <a:srgbClr val="D2F961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Red Hat Display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</TotalTime>
  <Words>6195</Words>
  <Application>Microsoft Office PowerPoint</Application>
  <PresentationFormat>Widescreen</PresentationFormat>
  <Paragraphs>641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Cambria</vt:lpstr>
      <vt:lpstr>Open Sans</vt:lpstr>
      <vt:lpstr>Red Hat Display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nabila-pc</dc:creator>
  <cp:lastModifiedBy>Lazuardi Arsy</cp:lastModifiedBy>
  <cp:revision>180</cp:revision>
  <dcterms:created xsi:type="dcterms:W3CDTF">2025-01-13T07:58:36Z</dcterms:created>
  <dcterms:modified xsi:type="dcterms:W3CDTF">2026-08-27T10:26:08Z</dcterms:modified>
</cp:coreProperties>
</file>