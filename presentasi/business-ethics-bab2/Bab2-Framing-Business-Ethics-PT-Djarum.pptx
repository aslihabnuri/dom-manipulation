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</p:sldIdLst>
  <p:notesMasterIdLst>
    <p:notesMasterId r:id="rId4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notesMaster" Target="notesMasters/notesMaster1.xml"/><Relationship Id="rId44" Type="http://schemas.openxmlformats.org/officeDocument/2006/relationships/presProps" Target="presProps.xml"/><Relationship Id="rId45" Type="http://schemas.openxmlformats.org/officeDocument/2006/relationships/viewProps" Target="viewProps.xml"/><Relationship Id="rId46" Type="http://schemas.openxmlformats.org/officeDocument/2006/relationships/theme" Target="theme/theme1.xml"/><Relationship Id="rId4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pembuka. Ganti "Nama Anggota Kelompok" dengan nama-nama anggota kelompok Anda.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Jelaskan bahwa tiga kerangka teori ini dipakai ulang sebagai tiga lensa analisis kasus Djarum di bagian kedua.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 kunci: karena korporasi punya agency dan budaya organisasi sendiri, ia bisa dimintai tanggung jawab sebagai entitas — bukan hanya orang-orang di dalamnya. Ini dasar untuk menuntut PT Djarum sebagai perusahaan, bukan hanya manajernya.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Ingatkan keterbatasan ini — nanti persis inilah yang muncul di kasus Djarum: level ekonomi dan filantropis kuat, level etis bermasalah, dan Carroll tidak memberi jalan keluar.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Kritik ini akan dipakai langsung di slide analisis kasus Djarum — apakah CSR Djarum mengubah peran bisnis, atau justru melegitimasi produknya?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jejaring inilah yang nanti menjelaskan mengapa anak-anak peserta audisi bulu tangkis bisa disebut stakeholder PT Djarum, meski tanpa hubungan kontraktual apa pun.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 penting untuk kasus Djarum: karena extended view bersifat deskriptif, perdebatan "apakah Djarum tulus atau sekadar promosi" tidak menghalangi kita menyebutnya corporate citizen.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Tekankan: mengisi lapis filantropis dengan sangat baik tidak menutup kekosongan di lapis etis. Carroll menyebut keempatnya harus dipenuhi berurutan.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Sumber kronologi: KPAI (2019); CNN Indonesia (12/9/2019); Kompas; Tempo; Tirto; ANTARA (2025); PB Djarum (2024).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E10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8096" cy="6858000"/>
          </a:xfrm>
          <a:prstGeom prst="rect">
            <a:avLst/>
          </a:prstGeom>
          <a:solidFill>
            <a:srgbClr val="451A28"/>
          </a:solidFill>
          <a:ln/>
        </p:spPr>
      </p:sp>
      <p:sp>
        <p:nvSpPr>
          <p:cNvPr id="3" name="Shape 1"/>
          <p:cNvSpPr/>
          <p:nvPr/>
        </p:nvSpPr>
        <p:spPr>
          <a:xfrm>
            <a:off x="8595360" y="-1463040"/>
            <a:ext cx="5669280" cy="5669280"/>
          </a:xfrm>
          <a:prstGeom prst="ellipse">
            <a:avLst/>
          </a:prstGeom>
          <a:solidFill>
            <a:srgbClr val="8C2F39"/>
          </a:solidFill>
          <a:ln/>
        </p:spPr>
      </p:sp>
      <p:sp>
        <p:nvSpPr>
          <p:cNvPr id="4" name="Shape 2"/>
          <p:cNvSpPr/>
          <p:nvPr/>
        </p:nvSpPr>
        <p:spPr>
          <a:xfrm>
            <a:off x="9966960" y="3931920"/>
            <a:ext cx="3108960" cy="3108960"/>
          </a:xfrm>
          <a:prstGeom prst="ellipse">
            <a:avLst/>
          </a:prstGeom>
          <a:solidFill>
            <a:srgbClr val="C8952B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0"/>
            <a:ext cx="7863840" cy="6858000"/>
          </a:xfrm>
          <a:prstGeom prst="rect">
            <a:avLst/>
          </a:prstGeom>
          <a:solidFill>
            <a:srgbClr val="451A28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48640" y="118872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E4B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ETHICS FOR BUSINESS SUSTAINABILITY  ·  BAB 2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572768"/>
            <a:ext cx="71323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20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Framing</a:t>
            </a:r>
            <a:endParaRPr lang="en-US" sz="5000" dirty="0"/>
          </a:p>
          <a:p>
            <a:pPr indent="0" marL="0">
              <a:lnSpc>
                <a:spcPct val="920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Ethics</a:t>
            </a:r>
            <a:endParaRPr lang="en-US" sz="50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310128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C7AA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Corporate Responsibility, Stakeholders, and Citizenship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548640" y="3913632"/>
            <a:ext cx="1371600" cy="32004"/>
          </a:xfrm>
          <a:prstGeom prst="rect">
            <a:avLst/>
          </a:prstGeom>
          <a:solidFill>
            <a:srgbClr val="C8952B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48640" y="4133088"/>
            <a:ext cx="6949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E4BE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Studi Kasus: PT DJARUM</a:t>
            </a:r>
            <a:endParaRPr lang="en-US" sz="21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4535424"/>
            <a:ext cx="6949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7AA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CSR  ·  Stakeholder  ·  Corporate Citizenship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5257800"/>
            <a:ext cx="6949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spc="120" kern="0" dirty="0">
                <a:solidFill>
                  <a:srgbClr val="C7AA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Disusun oleh</a:t>
            </a:r>
            <a:endParaRPr lang="en-US" sz="1050" dirty="0"/>
          </a:p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Nama Anggota Kelompok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6144768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C7AA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Sumber teori: Crane, Matten, Glozer &amp; Spence (2019), Business Ethics, 5th ed., Bab 2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8C2F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PETA JALAN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100" b="1" dirty="0">
                <a:solidFill>
                  <a:srgbClr val="241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Alur Presentasi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26464"/>
            <a:ext cx="10058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i="1" dirty="0">
                <a:solidFill>
                  <a:srgbClr val="7A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Kami membaca teori Bab 2 lebih dulu, lalu menurunkannya ke kasus PT Djarum melalui tiga kerangka yang sama.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11064240" cy="786384"/>
          </a:xfrm>
          <a:prstGeom prst="roundRect">
            <a:avLst>
              <a:gd name="adj" fmla="val 6977"/>
            </a:avLst>
          </a:prstGeom>
          <a:solidFill>
            <a:srgbClr val="F3F0F1"/>
          </a:solidFill>
          <a:ln/>
        </p:spPr>
      </p:sp>
      <p:sp>
        <p:nvSpPr>
          <p:cNvPr id="6" name="Shape 4"/>
          <p:cNvSpPr/>
          <p:nvPr/>
        </p:nvSpPr>
        <p:spPr>
          <a:xfrm>
            <a:off x="841248" y="2048256"/>
            <a:ext cx="438912" cy="438912"/>
          </a:xfrm>
          <a:prstGeom prst="ellipse">
            <a:avLst/>
          </a:prstGeom>
          <a:solidFill>
            <a:srgbClr val="241A1E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41248" y="204825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481328" y="2002536"/>
            <a:ext cx="3566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41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Landasan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5166360" y="2002536"/>
            <a:ext cx="6172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 itu korporasi, dan bisakah ia memikul tanggung jawab moral?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2770632"/>
            <a:ext cx="11064240" cy="786384"/>
          </a:xfrm>
          <a:prstGeom prst="roundRect">
            <a:avLst>
              <a:gd name="adj" fmla="val 6977"/>
            </a:avLst>
          </a:prstGeom>
          <a:solidFill>
            <a:srgbClr val="F3F0F1"/>
          </a:solidFill>
          <a:ln/>
        </p:spPr>
      </p:sp>
      <p:sp>
        <p:nvSpPr>
          <p:cNvPr id="11" name="Shape 9"/>
          <p:cNvSpPr/>
          <p:nvPr/>
        </p:nvSpPr>
        <p:spPr>
          <a:xfrm>
            <a:off x="841248" y="2944368"/>
            <a:ext cx="438912" cy="438912"/>
          </a:xfrm>
          <a:prstGeom prst="ellipse">
            <a:avLst/>
          </a:prstGeom>
          <a:solidFill>
            <a:srgbClr val="8C2F39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41248" y="29443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1481328" y="2898648"/>
            <a:ext cx="3566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41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Kerangka 1 — CSR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5166360" y="2898648"/>
            <a:ext cx="6172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 isi tanggung jawab perusahaan? Piramida Carroll, strategi, dan kritiknya.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3666744"/>
            <a:ext cx="11064240" cy="786384"/>
          </a:xfrm>
          <a:prstGeom prst="roundRect">
            <a:avLst>
              <a:gd name="adj" fmla="val 6977"/>
            </a:avLst>
          </a:prstGeom>
          <a:solidFill>
            <a:srgbClr val="F3F0F1"/>
          </a:solidFill>
          <a:ln/>
        </p:spPr>
      </p:sp>
      <p:sp>
        <p:nvSpPr>
          <p:cNvPr id="16" name="Shape 14"/>
          <p:cNvSpPr/>
          <p:nvPr/>
        </p:nvSpPr>
        <p:spPr>
          <a:xfrm>
            <a:off x="841248" y="3840480"/>
            <a:ext cx="438912" cy="438912"/>
          </a:xfrm>
          <a:prstGeom prst="ellipse">
            <a:avLst/>
          </a:prstGeom>
          <a:solidFill>
            <a:srgbClr val="A85541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41248" y="384048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1481328" y="3794760"/>
            <a:ext cx="3566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41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Kerangka 2 — Stakeholder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5166360" y="3794760"/>
            <a:ext cx="6172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Kepada siapa perusahaan bertanggung jawab? Teori Freeman dan turunannya.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4562856"/>
            <a:ext cx="11064240" cy="786384"/>
          </a:xfrm>
          <a:prstGeom prst="roundRect">
            <a:avLst>
              <a:gd name="adj" fmla="val 6977"/>
            </a:avLst>
          </a:prstGeom>
          <a:solidFill>
            <a:srgbClr val="F3F0F1"/>
          </a:solidFill>
          <a:ln/>
        </p:spPr>
      </p:sp>
      <p:sp>
        <p:nvSpPr>
          <p:cNvPr id="21" name="Shape 19"/>
          <p:cNvSpPr/>
          <p:nvPr/>
        </p:nvSpPr>
        <p:spPr>
          <a:xfrm>
            <a:off x="841248" y="4736592"/>
            <a:ext cx="438912" cy="438912"/>
          </a:xfrm>
          <a:prstGeom prst="ellipse">
            <a:avLst/>
          </a:prstGeom>
          <a:solidFill>
            <a:srgbClr val="C8952B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841248" y="473659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41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1481328" y="4690872"/>
            <a:ext cx="3566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41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Kerangka 3 — Corporate Citizenship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5166360" y="4690872"/>
            <a:ext cx="6172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Dengan kuasa apa? Perusahaan sebagai aktor politik, akuntabilitas, transparansi.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48640" y="5458968"/>
            <a:ext cx="11064240" cy="786384"/>
          </a:xfrm>
          <a:prstGeom prst="roundRect">
            <a:avLst>
              <a:gd name="adj" fmla="val 6977"/>
            </a:avLst>
          </a:prstGeom>
          <a:solidFill>
            <a:srgbClr val="E9E2E5"/>
          </a:solidFill>
          <a:ln/>
        </p:spPr>
      </p:sp>
      <p:sp>
        <p:nvSpPr>
          <p:cNvPr id="26" name="Shape 24"/>
          <p:cNvSpPr/>
          <p:nvPr/>
        </p:nvSpPr>
        <p:spPr>
          <a:xfrm>
            <a:off x="841248" y="5632704"/>
            <a:ext cx="438912" cy="438912"/>
          </a:xfrm>
          <a:prstGeom prst="ellipse">
            <a:avLst/>
          </a:prstGeom>
          <a:solidFill>
            <a:srgbClr val="5C7A6B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841248" y="563270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1481328" y="5586984"/>
            <a:ext cx="3566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41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Implementasi — PT Djarum</a:t>
            </a:r>
            <a:endParaRPr lang="en-US" sz="1500" dirty="0"/>
          </a:p>
        </p:txBody>
      </p:sp>
      <p:sp>
        <p:nvSpPr>
          <p:cNvPr id="29" name="Text 27"/>
          <p:cNvSpPr txBox="1"/>
          <p:nvPr/>
        </p:nvSpPr>
        <p:spPr>
          <a:xfrm>
            <a:off x="5166360" y="5586984"/>
            <a:ext cx="6172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Kasus riil Indonesia dibedah dengan ketiga kerangka di atas, lalu disintesis.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548640" y="637336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80" kern="0" dirty="0">
                <a:solidFill>
                  <a:srgbClr val="7A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Framing Business Ethics · Bab 2</a:t>
            </a:r>
            <a:endParaRPr lang="en-US" sz="950" dirty="0"/>
          </a:p>
        </p:txBody>
      </p:sp>
      <p:sp>
        <p:nvSpPr>
          <p:cNvPr id="31" name="Text 29"/>
          <p:cNvSpPr txBox="1"/>
          <p:nvPr/>
        </p:nvSpPr>
        <p:spPr>
          <a:xfrm>
            <a:off x="10607040" y="637336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8C2F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8C2F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OBJECTIVES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100" b="1" dirty="0">
                <a:solidFill>
                  <a:srgbClr val="241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Tujuan Pembelajaran Bab 2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26464"/>
            <a:ext cx="11064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i="1" dirty="0">
                <a:solidFill>
                  <a:srgbClr val="7A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Lima kemampuan yang ditargetkan buku setelah menyelesaikan bab ini.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892808"/>
            <a:ext cx="457200" cy="457200"/>
          </a:xfrm>
          <a:prstGeom prst="ellipse">
            <a:avLst/>
          </a:prstGeom>
          <a:solidFill>
            <a:srgbClr val="8C2F39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48640" y="18928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261872" y="1847088"/>
            <a:ext cx="5989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4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Menjelaskan mengapa korporasi memiliki tanggung jawab sosial.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48640" y="2569464"/>
            <a:ext cx="457200" cy="457200"/>
          </a:xfrm>
          <a:prstGeom prst="ellipse">
            <a:avLst/>
          </a:prstGeom>
          <a:solidFill>
            <a:srgbClr val="8C2F39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48640" y="25694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261872" y="2523744"/>
            <a:ext cx="5989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4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Menjelaskan CSR dari sisi level, strategi, dan outcome-nya.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48640" y="3246120"/>
            <a:ext cx="457200" cy="457200"/>
          </a:xfrm>
          <a:prstGeom prst="ellipse">
            <a:avLst/>
          </a:prstGeom>
          <a:solidFill>
            <a:srgbClr val="8C2F39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48640" y="3246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1261872" y="3200400"/>
            <a:ext cx="5989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4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Menjelaskan stakeholder theory of the firm.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548640" y="3922776"/>
            <a:ext cx="457200" cy="457200"/>
          </a:xfrm>
          <a:prstGeom prst="ellipse">
            <a:avLst/>
          </a:prstGeom>
          <a:solidFill>
            <a:srgbClr val="8C2F39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48640" y="39227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1261872" y="3877056"/>
            <a:ext cx="5989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4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Menerapkan konsep corporate citizenship, akuntabilitas, shared value, dan transparansi pada peran politik korporasi.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548640" y="4599432"/>
            <a:ext cx="457200" cy="457200"/>
          </a:xfrm>
          <a:prstGeom prst="ellipse">
            <a:avLst/>
          </a:prstGeom>
          <a:solidFill>
            <a:srgbClr val="8C2F39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548640" y="45994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1261872" y="4553712"/>
            <a:ext cx="5989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4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Mengevaluasi secara kritis penerapan teori-teori ini di berbagai konteks internasional.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7635240" y="1810512"/>
            <a:ext cx="3977640" cy="3566160"/>
          </a:xfrm>
          <a:prstGeom prst="roundRect">
            <a:avLst>
              <a:gd name="adj" fmla="val 1538"/>
            </a:avLst>
          </a:prstGeom>
          <a:solidFill>
            <a:srgbClr val="451A28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909560" y="2029968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E4B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CONCEPTS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7936992" y="2578608"/>
            <a:ext cx="118872" cy="118872"/>
          </a:xfrm>
          <a:prstGeom prst="ellipse">
            <a:avLst/>
          </a:prstGeom>
          <a:solidFill>
            <a:srgbClr val="C8952B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8211312" y="2432304"/>
            <a:ext cx="3200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Corporate social responsibility (CSR)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7936992" y="3127248"/>
            <a:ext cx="118872" cy="118872"/>
          </a:xfrm>
          <a:prstGeom prst="ellipse">
            <a:avLst/>
          </a:prstGeom>
          <a:solidFill>
            <a:srgbClr val="C8952B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8211312" y="2980944"/>
            <a:ext cx="3200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Stakeholders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7936992" y="3675888"/>
            <a:ext cx="118872" cy="118872"/>
          </a:xfrm>
          <a:prstGeom prst="ellipse">
            <a:avLst/>
          </a:prstGeom>
          <a:solidFill>
            <a:srgbClr val="C8952B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8211312" y="3529584"/>
            <a:ext cx="3200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Corporate citizenship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7936992" y="4224528"/>
            <a:ext cx="118872" cy="118872"/>
          </a:xfrm>
          <a:prstGeom prst="ellipse">
            <a:avLst/>
          </a:prstGeom>
          <a:solidFill>
            <a:srgbClr val="C8952B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8211312" y="4078224"/>
            <a:ext cx="3200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Corporate accountability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7936992" y="4773168"/>
            <a:ext cx="118872" cy="118872"/>
          </a:xfrm>
          <a:prstGeom prst="ellipse">
            <a:avLst/>
          </a:prstGeom>
          <a:solidFill>
            <a:srgbClr val="C8952B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8211312" y="4626864"/>
            <a:ext cx="3200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Corporate transparency</a:t>
            </a:r>
            <a:endParaRPr lang="en-US" sz="1250" dirty="0"/>
          </a:p>
        </p:txBody>
      </p:sp>
      <p:sp>
        <p:nvSpPr>
          <p:cNvPr id="32" name="Text 30"/>
          <p:cNvSpPr txBox="1"/>
          <p:nvPr/>
        </p:nvSpPr>
        <p:spPr>
          <a:xfrm>
            <a:off x="548640" y="5596128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7A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Crane, Matten, Glozer &amp; Spence (2019), Business Ethics, 5th ed., Bab 2, hlm. 44.</a:t>
            </a:r>
            <a:endParaRPr lang="en-US" sz="950" dirty="0"/>
          </a:p>
        </p:txBody>
      </p:sp>
      <p:sp>
        <p:nvSpPr>
          <p:cNvPr id="33" name="Text 31"/>
          <p:cNvSpPr txBox="1"/>
          <p:nvPr/>
        </p:nvSpPr>
        <p:spPr>
          <a:xfrm>
            <a:off x="548640" y="637336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80" kern="0" dirty="0">
                <a:solidFill>
                  <a:srgbClr val="7A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Framing Business Ethics · Bab 2</a:t>
            </a:r>
            <a:endParaRPr lang="en-US" sz="950" dirty="0"/>
          </a:p>
        </p:txBody>
      </p:sp>
      <p:sp>
        <p:nvSpPr>
          <p:cNvPr id="34" name="Text 32"/>
          <p:cNvSpPr txBox="1"/>
          <p:nvPr/>
        </p:nvSpPr>
        <p:spPr>
          <a:xfrm>
            <a:off x="10607040" y="637336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8C2F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51A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-1097280"/>
            <a:ext cx="4206240" cy="4206240"/>
          </a:xfrm>
          <a:prstGeom prst="ellipse">
            <a:avLst/>
          </a:prstGeom>
          <a:solidFill>
            <a:srgbClr val="8C2F39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2084832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20" kern="0" dirty="0">
                <a:solidFill>
                  <a:srgbClr val="E4B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BAGIAN 1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450592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Landasan Teori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47472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C7AA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Sebelum bertanya apa tanggung jawab perusahaan, kita harus lebih dulu bertanya: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C7AA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entitas macam apa perusahaan itu, dan bisakah ia dimintai pertanggungjawaban moral?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37336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80" kern="0" dirty="0">
                <a:solidFill>
                  <a:srgbClr val="C7AA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Framing Business Ethics · Bab 2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10607040" y="637336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E4B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8C2F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TOWARDS A FRAMEWORK FOR BUSINESS ETHICS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241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Mengapa Business Ethics Perlu "Di-frame"?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72768"/>
            <a:ext cx="5257800" cy="1481328"/>
          </a:xfrm>
          <a:prstGeom prst="roundRect">
            <a:avLst>
              <a:gd name="adj" fmla="val 3704"/>
            </a:avLst>
          </a:prstGeom>
          <a:solidFill>
            <a:srgbClr val="E9E2E5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04672" y="1755648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C2F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Definisi business ethics (Bab 1)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804672" y="2048256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i="1" dirty="0">
                <a:solidFill>
                  <a:srgbClr val="241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"Studi tentang situasi, aktivitas, dan keputusan bisnis di mana persoalan benar dan salah dibahas."</a:t>
            </a:r>
            <a:endParaRPr lang="en-US" sz="1450" dirty="0"/>
          </a:p>
        </p:txBody>
      </p:sp>
      <p:sp>
        <p:nvSpPr>
          <p:cNvPr id="7" name="Text 5"/>
          <p:cNvSpPr txBox="1"/>
          <p:nvPr/>
        </p:nvSpPr>
        <p:spPr>
          <a:xfrm>
            <a:off x="6144768" y="1645920"/>
            <a:ext cx="5468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Titik awalnya adalah satu pertanyaan: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6144768" y="1938528"/>
            <a:ext cx="546811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241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Apakah perusahaan adalah aktor yang harus mengambil keputusan melampaui sekadar memproduksi barang dan jasa secara menguntungkan?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3310128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A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 2 menjawabnya lewat tiga kerangka yang saling melengkapi: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3675888"/>
            <a:ext cx="3502152" cy="2121408"/>
          </a:xfrm>
          <a:prstGeom prst="roundRect">
            <a:avLst>
              <a:gd name="adj" fmla="val 2586"/>
            </a:avLst>
          </a:prstGeom>
          <a:solidFill>
            <a:srgbClr val="F3F0F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04672" y="3877056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8C2F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APA?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804672" y="4151376"/>
            <a:ext cx="3017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2000" b="1" dirty="0">
                <a:solidFill>
                  <a:srgbClr val="241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CSR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804672" y="4882896"/>
            <a:ext cx="30175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7A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 isi tanggung jawab perusahaan di luar mencari laba — dan sampai lapisan mana?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329684" y="3675888"/>
            <a:ext cx="3502152" cy="2121408"/>
          </a:xfrm>
          <a:prstGeom prst="roundRect">
            <a:avLst>
              <a:gd name="adj" fmla="val 2586"/>
            </a:avLst>
          </a:prstGeom>
          <a:solidFill>
            <a:srgbClr val="F3F0F1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4585716" y="3877056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A85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KEPADA SIAPA?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4585716" y="4151376"/>
            <a:ext cx="3017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2000" b="1" dirty="0">
                <a:solidFill>
                  <a:srgbClr val="241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Stakeholder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4585716" y="4882896"/>
            <a:ext cx="30175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7A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Kepada kelompok mana perusahaan berutang tanggung jawab, dan atas dasar apa?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110728" y="3675888"/>
            <a:ext cx="3502152" cy="2121408"/>
          </a:xfrm>
          <a:prstGeom prst="roundRect">
            <a:avLst>
              <a:gd name="adj" fmla="val 2586"/>
            </a:avLst>
          </a:prstGeom>
          <a:solidFill>
            <a:srgbClr val="F3F0F1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8366760" y="3877056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C89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DENGAN KUASA APA?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8366760" y="4151376"/>
            <a:ext cx="3017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2000" b="1" dirty="0">
                <a:solidFill>
                  <a:srgbClr val="241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Corporate Citizenship</a:t>
            </a:r>
            <a:endParaRPr lang="en-US" sz="2000" dirty="0"/>
          </a:p>
        </p:txBody>
      </p:sp>
      <p:sp>
        <p:nvSpPr>
          <p:cNvPr id="21" name="Text 19"/>
          <p:cNvSpPr txBox="1"/>
          <p:nvPr/>
        </p:nvSpPr>
        <p:spPr>
          <a:xfrm>
            <a:off x="8366760" y="4882896"/>
            <a:ext cx="30175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7A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 jadinya ketika perusahaan mengambil peran yang biasanya dipegang negara?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637336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80" kern="0" dirty="0">
                <a:solidFill>
                  <a:srgbClr val="7A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Bagian 1 · Landasan Teori</a:t>
            </a:r>
            <a:endParaRPr lang="en-US" sz="950" dirty="0"/>
          </a:p>
        </p:txBody>
      </p:sp>
      <p:sp>
        <p:nvSpPr>
          <p:cNvPr id="23" name="Text 21"/>
          <p:cNvSpPr txBox="1"/>
          <p:nvPr/>
        </p:nvSpPr>
        <p:spPr>
          <a:xfrm>
            <a:off x="10607040" y="637336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8C2F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8C2F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 CORPORATION?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100" b="1" dirty="0">
                <a:solidFill>
                  <a:srgbClr val="241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Apa Itu Korporasi?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26464"/>
            <a:ext cx="11064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i="1" dirty="0">
                <a:solidFill>
                  <a:srgbClr val="7A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Identifikasi hukum sebuah korporasi menentukan tanggung jawab apa yang bisa dibebankan kepadanya.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810512"/>
            <a:ext cx="5257800" cy="2139696"/>
          </a:xfrm>
          <a:prstGeom prst="roundRect">
            <a:avLst>
              <a:gd name="adj" fmla="val 2564"/>
            </a:avLst>
          </a:prstGeom>
          <a:solidFill>
            <a:srgbClr val="451A28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1993392"/>
            <a:ext cx="4709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E4B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 CIRI PENDEFINISI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286000"/>
            <a:ext cx="4709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hukum terpisah — 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C7AA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korporasi independen dari pemilik, pengelola, dan pekerjanya, sehingga memiliki perpetual succession.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980944"/>
            <a:ext cx="4709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Korporasi memiliki asetnya sendiri — 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C7AA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pabrik dan kantor adalah milik perusahaan, bukan milik pemegang saham.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6144768" y="1810512"/>
            <a:ext cx="54681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41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Tiga implikasi bagi tanggung jawab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144768" y="2249424"/>
            <a:ext cx="365760" cy="365760"/>
          </a:xfrm>
          <a:prstGeom prst="ellipse">
            <a:avLst/>
          </a:prstGeom>
          <a:solidFill>
            <a:srgbClr val="8C2F39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144768" y="224942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6656832" y="2212848"/>
            <a:ext cx="4956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4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"Artificial person" di mata hukum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6656832" y="2487168"/>
            <a:ext cx="4956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7A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Punya hak dan kewajiban layaknya warga negara.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144768" y="3054096"/>
            <a:ext cx="365760" cy="365760"/>
          </a:xfrm>
          <a:prstGeom prst="ellipse">
            <a:avLst/>
          </a:prstGeom>
          <a:solidFill>
            <a:srgbClr val="8C2F39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144768" y="30540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6656832" y="3017520"/>
            <a:ext cx="4956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4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Dimiliki pemegang saham, tapi eksis independen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6656832" y="3291840"/>
            <a:ext cx="4956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7A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Pemegang saham tidak menanggung utang atau kerugian perusahaan — limited liability.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144768" y="3858768"/>
            <a:ext cx="365760" cy="365760"/>
          </a:xfrm>
          <a:prstGeom prst="ellipse">
            <a:avLst/>
          </a:prstGeom>
          <a:solidFill>
            <a:srgbClr val="8C2F39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144768" y="38587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6656832" y="3822192"/>
            <a:ext cx="4956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4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Manajer punya fiduciary responsibility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6656832" y="4096512"/>
            <a:ext cx="4956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7A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Wajib menjaga dan bertindak demi kepentingan investasi pemegang saham.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548640" y="4645152"/>
            <a:ext cx="11064240" cy="1170432"/>
          </a:xfrm>
          <a:prstGeom prst="roundRect">
            <a:avLst>
              <a:gd name="adj" fmla="val 4688"/>
            </a:avLst>
          </a:prstGeom>
          <a:solidFill>
            <a:srgbClr val="E9E2E5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841248" y="4828032"/>
            <a:ext cx="10424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C2F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Tetapi tanggung jawab hukum belum sama dengan tanggung jawab moral.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841248" y="5138928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7A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Seseorang bisa merasa bangga atau malu atas perbuatannya. Kita tidak bisa mengatakan hal yang sama tentang entitas tak bernyawa. Karena itu pertanyaannya harus dipertajam: bisakah korporasi bertanggung jawab secara moral?</a:t>
            </a:r>
            <a:endParaRPr lang="en-US" sz="1250" dirty="0"/>
          </a:p>
        </p:txBody>
      </p:sp>
      <p:sp>
        <p:nvSpPr>
          <p:cNvPr id="25" name="Text 23"/>
          <p:cNvSpPr txBox="1"/>
          <p:nvPr/>
        </p:nvSpPr>
        <p:spPr>
          <a:xfrm>
            <a:off x="548640" y="5925312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7A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Crane et al. (2019), Bab 2, hlm. 45-46.</a:t>
            </a:r>
            <a:endParaRPr lang="en-US" sz="950" dirty="0"/>
          </a:p>
        </p:txBody>
      </p:sp>
      <p:sp>
        <p:nvSpPr>
          <p:cNvPr id="26" name="Text 24"/>
          <p:cNvSpPr txBox="1"/>
          <p:nvPr/>
        </p:nvSpPr>
        <p:spPr>
          <a:xfrm>
            <a:off x="548640" y="637336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80" kern="0" dirty="0">
                <a:solidFill>
                  <a:srgbClr val="7A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Bagian 1 · Landasan Teori</a:t>
            </a:r>
            <a:endParaRPr lang="en-US" sz="950" dirty="0"/>
          </a:p>
        </p:txBody>
      </p:sp>
      <p:sp>
        <p:nvSpPr>
          <p:cNvPr id="27" name="Text 25"/>
          <p:cNvSpPr txBox="1"/>
          <p:nvPr/>
        </p:nvSpPr>
        <p:spPr>
          <a:xfrm>
            <a:off x="10607040" y="637336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8C2F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8C2F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MILTON FRIEDMAN (1970)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100" b="1" dirty="0">
                <a:solidFill>
                  <a:srgbClr val="241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Tiga Keberatan Klasik terhadap CSR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26464"/>
            <a:ext cx="10424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i="1" dirty="0">
                <a:solidFill>
                  <a:srgbClr val="7A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 social responsibility of business is to increase its profits" — argumen yang masih terus diulang.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3502152" cy="3401568"/>
          </a:xfrm>
          <a:prstGeom prst="roundRect">
            <a:avLst>
              <a:gd name="adj" fmla="val 1613"/>
            </a:avLst>
          </a:prstGeom>
          <a:solidFill>
            <a:srgbClr val="F3F0F1"/>
          </a:solidFill>
          <a:ln/>
        </p:spPr>
      </p:sp>
      <p:sp>
        <p:nvSpPr>
          <p:cNvPr id="6" name="Shape 4"/>
          <p:cNvSpPr/>
          <p:nvPr/>
        </p:nvSpPr>
        <p:spPr>
          <a:xfrm>
            <a:off x="804672" y="2157984"/>
            <a:ext cx="512064" cy="512064"/>
          </a:xfrm>
          <a:prstGeom prst="ellipse">
            <a:avLst/>
          </a:prstGeom>
          <a:solidFill>
            <a:srgbClr val="8C2F39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04672" y="215798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804672" y="2798064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550" b="1" dirty="0">
                <a:solidFill>
                  <a:srgbClr val="241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Hanya manusia yang punya tanggung jawab moral</a:t>
            </a:r>
            <a:endParaRPr lang="en-US" sz="1550" dirty="0"/>
          </a:p>
        </p:txBody>
      </p:sp>
      <p:sp>
        <p:nvSpPr>
          <p:cNvPr id="9" name="Text 7"/>
          <p:cNvSpPr txBox="1"/>
          <p:nvPr/>
        </p:nvSpPr>
        <p:spPr>
          <a:xfrm>
            <a:off x="804672" y="3712464"/>
            <a:ext cx="3017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7A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Korporasi bukan manusia, sehingga tidak dapat memikul tanggung jawab moral yang sesungguhnya. Yang bertanggung jawab adalah individu-individu yang mendirikannya.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804672" y="4956048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80" kern="0" dirty="0">
                <a:solidFill>
                  <a:srgbClr val="A85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DIJAWAB DI SLIDE BERIKUTNYA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329684" y="1920240"/>
            <a:ext cx="3502152" cy="3401568"/>
          </a:xfrm>
          <a:prstGeom prst="roundRect">
            <a:avLst>
              <a:gd name="adj" fmla="val 1613"/>
            </a:avLst>
          </a:prstGeom>
          <a:solidFill>
            <a:srgbClr val="F3F0F1"/>
          </a:solidFill>
          <a:ln/>
        </p:spPr>
      </p:sp>
      <p:sp>
        <p:nvSpPr>
          <p:cNvPr id="12" name="Shape 10"/>
          <p:cNvSpPr/>
          <p:nvPr/>
        </p:nvSpPr>
        <p:spPr>
          <a:xfrm>
            <a:off x="4585716" y="2157984"/>
            <a:ext cx="512064" cy="512064"/>
          </a:xfrm>
          <a:prstGeom prst="ellipse">
            <a:avLst/>
          </a:prstGeom>
          <a:solidFill>
            <a:srgbClr val="8C2F39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585716" y="215798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4585716" y="2798064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550" b="1" dirty="0">
                <a:solidFill>
                  <a:srgbClr val="241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Manajer wajib bertindak semata demi pemegang saham</a:t>
            </a:r>
            <a:endParaRPr lang="en-US" sz="1550" dirty="0"/>
          </a:p>
        </p:txBody>
      </p:sp>
      <p:sp>
        <p:nvSpPr>
          <p:cNvPr id="15" name="Text 13"/>
          <p:cNvSpPr txBox="1"/>
          <p:nvPr/>
        </p:nvSpPr>
        <p:spPr>
          <a:xfrm>
            <a:off x="4585716" y="3712464"/>
            <a:ext cx="3017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7A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Selama perusahaan patuh hukum, satu-satunya tanggung jawab manajer adalah mencari laba. Bertindak untuk tujuan lain adalah pengkhianatan — dan pada dasarnya "pencurian" dari kantong pemegang saham.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4585716" y="4956048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80" kern="0" dirty="0">
                <a:solidFill>
                  <a:srgbClr val="A85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DIJAWAB OLEH CSR &amp; STAKEHOLDER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8110728" y="1920240"/>
            <a:ext cx="3502152" cy="3401568"/>
          </a:xfrm>
          <a:prstGeom prst="roundRect">
            <a:avLst>
              <a:gd name="adj" fmla="val 1613"/>
            </a:avLst>
          </a:prstGeom>
          <a:solidFill>
            <a:srgbClr val="F3F0F1"/>
          </a:solidFill>
          <a:ln/>
        </p:spPr>
      </p:sp>
      <p:sp>
        <p:nvSpPr>
          <p:cNvPr id="18" name="Shape 16"/>
          <p:cNvSpPr/>
          <p:nvPr/>
        </p:nvSpPr>
        <p:spPr>
          <a:xfrm>
            <a:off x="8366760" y="2157984"/>
            <a:ext cx="512064" cy="512064"/>
          </a:xfrm>
          <a:prstGeom prst="ellipse">
            <a:avLst/>
          </a:prstGeom>
          <a:solidFill>
            <a:srgbClr val="8C2F39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8366760" y="215798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700" dirty="0"/>
          </a:p>
        </p:txBody>
      </p:sp>
      <p:sp>
        <p:nvSpPr>
          <p:cNvPr id="20" name="Text 18"/>
          <p:cNvSpPr txBox="1"/>
          <p:nvPr/>
        </p:nvSpPr>
        <p:spPr>
          <a:xfrm>
            <a:off x="8366760" y="2798064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550" b="1" dirty="0">
                <a:solidFill>
                  <a:srgbClr val="241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Masalah sosial adalah wilayah negara, bukan manajer</a:t>
            </a:r>
            <a:endParaRPr lang="en-US" sz="1550" dirty="0"/>
          </a:p>
        </p:txBody>
      </p:sp>
      <p:sp>
        <p:nvSpPr>
          <p:cNvPr id="21" name="Text 19"/>
          <p:cNvSpPr txBox="1"/>
          <p:nvPr/>
        </p:nvSpPr>
        <p:spPr>
          <a:xfrm>
            <a:off x="8366760" y="3712464"/>
            <a:ext cx="3017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7A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Manajer tidak dilatih untuk menetapkan tujuan sosial dan tidak dipilih secara demokratis untuk melakukannya. Itu tugas pemerintah.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8366760" y="4956048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80" kern="0" dirty="0">
                <a:solidFill>
                  <a:srgbClr val="A85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DIJAWAB OLEH CORPORATE CITIZENSHIP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48640" y="5504688"/>
            <a:ext cx="11064240" cy="603504"/>
          </a:xfrm>
          <a:prstGeom prst="roundRect">
            <a:avLst>
              <a:gd name="adj" fmla="val 9091"/>
            </a:avLst>
          </a:prstGeom>
          <a:solidFill>
            <a:srgbClr val="E9E2E5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841248" y="5504688"/>
            <a:ext cx="10424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4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Seluruh Bab 2 pada dasarnya adalah jawaban berurutan atas ketiga keberatan ini.</a:t>
            </a:r>
            <a:endParaRPr lang="en-US" sz="1350" dirty="0"/>
          </a:p>
        </p:txBody>
      </p:sp>
      <p:sp>
        <p:nvSpPr>
          <p:cNvPr id="25" name="Text 23"/>
          <p:cNvSpPr txBox="1"/>
          <p:nvPr/>
        </p:nvSpPr>
        <p:spPr>
          <a:xfrm>
            <a:off x="548640" y="637336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80" kern="0" dirty="0">
                <a:solidFill>
                  <a:srgbClr val="7A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Bagian 1 · Landasan Teori</a:t>
            </a:r>
            <a:endParaRPr lang="en-US" sz="950" dirty="0"/>
          </a:p>
        </p:txBody>
      </p:sp>
      <p:sp>
        <p:nvSpPr>
          <p:cNvPr id="26" name="Text 24"/>
          <p:cNvSpPr txBox="1"/>
          <p:nvPr/>
        </p:nvSpPr>
        <p:spPr>
          <a:xfrm>
            <a:off x="10607040" y="637336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8C2F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8C2F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TABEL 2.1 · MENJAWAB KEBERATAN PERTAMA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241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Bisakah Korporasi Bertanggung Jawab Moral?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440680" cy="1682496"/>
          </a:xfrm>
          <a:prstGeom prst="roundRect">
            <a:avLst>
              <a:gd name="adj" fmla="val 3261"/>
            </a:avLst>
          </a:prstGeom>
          <a:solidFill>
            <a:srgbClr val="F3F0F1"/>
          </a:solidFill>
          <a:ln/>
        </p:spPr>
      </p:sp>
      <p:sp>
        <p:nvSpPr>
          <p:cNvPr id="5" name="Shape 3"/>
          <p:cNvSpPr/>
          <p:nvPr/>
        </p:nvSpPr>
        <p:spPr>
          <a:xfrm>
            <a:off x="804672" y="2002536"/>
            <a:ext cx="420624" cy="420624"/>
          </a:xfrm>
          <a:prstGeom prst="ellipse">
            <a:avLst/>
          </a:prstGeom>
          <a:solidFill>
            <a:srgbClr val="8C2F39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04672" y="200253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371600" y="2002536"/>
            <a:ext cx="43616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41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Legal Identity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804672" y="2551176"/>
            <a:ext cx="492861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7A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Korporasi membuat kontrak, membayar pajak, menjamin keamanan produk, menuntut dan dituntut, serta mengklaim sejumlah hak.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172200" y="1783080"/>
            <a:ext cx="5440680" cy="1682496"/>
          </a:xfrm>
          <a:prstGeom prst="roundRect">
            <a:avLst>
              <a:gd name="adj" fmla="val 3261"/>
            </a:avLst>
          </a:prstGeom>
          <a:solidFill>
            <a:srgbClr val="F3F0F1"/>
          </a:solidFill>
          <a:ln/>
        </p:spPr>
      </p:sp>
      <p:sp>
        <p:nvSpPr>
          <p:cNvPr id="10" name="Shape 8"/>
          <p:cNvSpPr/>
          <p:nvPr/>
        </p:nvSpPr>
        <p:spPr>
          <a:xfrm>
            <a:off x="6428232" y="2002536"/>
            <a:ext cx="420624" cy="420624"/>
          </a:xfrm>
          <a:prstGeom prst="ellipse">
            <a:avLst/>
          </a:prstGeom>
          <a:solidFill>
            <a:srgbClr val="A8554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28232" y="200253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6995160" y="2002536"/>
            <a:ext cx="43616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41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Agency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6428232" y="2551176"/>
            <a:ext cx="492861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7A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Korporasi dapat memutuskan dan bertindak lepas dari anggotanya, melalui struktur pengambilan keputusan internal berupa kebijakan dan prosedur (French 1979; Moore 1999).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3630168"/>
            <a:ext cx="5440680" cy="1682496"/>
          </a:xfrm>
          <a:prstGeom prst="roundRect">
            <a:avLst>
              <a:gd name="adj" fmla="val 3261"/>
            </a:avLst>
          </a:prstGeom>
          <a:solidFill>
            <a:srgbClr val="F3F0F1"/>
          </a:solidFill>
          <a:ln/>
        </p:spPr>
      </p:sp>
      <p:sp>
        <p:nvSpPr>
          <p:cNvPr id="15" name="Shape 13"/>
          <p:cNvSpPr/>
          <p:nvPr/>
        </p:nvSpPr>
        <p:spPr>
          <a:xfrm>
            <a:off x="804672" y="3849624"/>
            <a:ext cx="420624" cy="420624"/>
          </a:xfrm>
          <a:prstGeom prst="ellipse">
            <a:avLst/>
          </a:prstGeom>
          <a:solidFill>
            <a:srgbClr val="5C7A6B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04672" y="384962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1371600" y="3849624"/>
            <a:ext cx="43616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41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Organizational Culture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804672" y="4398264"/>
            <a:ext cx="492861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7A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Korporasi memiliki seperangkat nilai dan keyakinan tentang apa yang benar dan salah, yang memengaruhi pengambilan keputusan etis individu di dalamnya.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172200" y="3630168"/>
            <a:ext cx="5440680" cy="1682496"/>
          </a:xfrm>
          <a:prstGeom prst="roundRect">
            <a:avLst>
              <a:gd name="adj" fmla="val 3261"/>
            </a:avLst>
          </a:prstGeom>
          <a:solidFill>
            <a:srgbClr val="F3F0F1"/>
          </a:solidFill>
          <a:ln/>
        </p:spPr>
      </p:sp>
      <p:sp>
        <p:nvSpPr>
          <p:cNvPr id="20" name="Shape 18"/>
          <p:cNvSpPr/>
          <p:nvPr/>
        </p:nvSpPr>
        <p:spPr>
          <a:xfrm>
            <a:off x="6428232" y="3849624"/>
            <a:ext cx="420624" cy="420624"/>
          </a:xfrm>
          <a:prstGeom prst="ellipse">
            <a:avLst/>
          </a:prstGeom>
          <a:solidFill>
            <a:srgbClr val="C8952B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428232" y="384962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6995160" y="3849624"/>
            <a:ext cx="43616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41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Functional Identity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6428232" y="4398264"/>
            <a:ext cx="492861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7A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Korporasi tampil dan berinteraksi dengan konsumen serta stakeholder seolah-olah ia pribadi tersendiri, bahkan membangun identitas sebagai "warga" yang baik.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48640" y="5504688"/>
            <a:ext cx="11064240" cy="658368"/>
          </a:xfrm>
          <a:prstGeom prst="roundRect">
            <a:avLst>
              <a:gd name="adj" fmla="val 8333"/>
            </a:avLst>
          </a:prstGeom>
          <a:solidFill>
            <a:srgbClr val="451A28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841248" y="5504688"/>
            <a:ext cx="10424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Kesimpulan buku: korporasi memang memiliki tanggung jawab moral, dan tanggung jawab itu lebih dari sekadar penjumlahan tanggung jawab individu di dalamnya.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548640" y="637336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80" kern="0" dirty="0">
                <a:solidFill>
                  <a:srgbClr val="7A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Bagian 1 · Landasan Teori</a:t>
            </a:r>
            <a:endParaRPr lang="en-US" sz="950" dirty="0"/>
          </a:p>
        </p:txBody>
      </p:sp>
      <p:sp>
        <p:nvSpPr>
          <p:cNvPr id="27" name="Text 25"/>
          <p:cNvSpPr txBox="1"/>
          <p:nvPr/>
        </p:nvSpPr>
        <p:spPr>
          <a:xfrm>
            <a:off x="10607040" y="637336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8C2F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451A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2194560"/>
            <a:ext cx="3657600" cy="3657600"/>
          </a:xfrm>
          <a:prstGeom prst="ellipse">
            <a:avLst/>
          </a:prstGeom>
          <a:solidFill>
            <a:srgbClr val="8C2F39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2084832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20" kern="0" dirty="0">
                <a:solidFill>
                  <a:srgbClr val="E4B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KERANGKA 1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450592"/>
            <a:ext cx="8412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4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Corporate Social</a:t>
            </a:r>
            <a:endParaRPr lang="en-US" sz="4200" dirty="0"/>
          </a:p>
          <a:p>
            <a:pPr indent="0" marL="0">
              <a:lnSpc>
                <a:spcPct val="94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Responsibility</a:t>
            </a:r>
            <a:endParaRPr lang="en-US" sz="4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133088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C7AA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 pertanyaan yang memandu seluruh literatur CSR: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C7AA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Mengapa perusahaan punya tanggung jawab sosial — dan apa sebenarnya isi tanggung jawab itu?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37336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80" kern="0" dirty="0">
                <a:solidFill>
                  <a:srgbClr val="C7AA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Framing Business Ethics · Bab 2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10607040" y="637336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E4B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8C2F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CORPORATE SOCIAL RESPONSIBILITY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100" b="1" dirty="0">
                <a:solidFill>
                  <a:srgbClr val="241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Definisi dan Dua Pertanyaan Kunci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48640" y="1755648"/>
            <a:ext cx="11064240" cy="1417320"/>
          </a:xfrm>
          <a:prstGeom prst="roundRect">
            <a:avLst>
              <a:gd name="adj" fmla="val 3871"/>
            </a:avLst>
          </a:prstGeom>
          <a:solidFill>
            <a:srgbClr val="451A2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77824" y="193852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E4B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DEFINISI DALAM BUKU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877824" y="2231136"/>
            <a:ext cx="103327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8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"Upaya perusahaan untuk memenuhi tuntutan ekonomi, hukum, etis, dan filantropis dari suatu masyarakat pada suatu titik waktu tertentu."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48640" y="3401568"/>
            <a:ext cx="5440680" cy="2212848"/>
          </a:xfrm>
          <a:prstGeom prst="roundRect">
            <a:avLst>
              <a:gd name="adj" fmla="val 2479"/>
            </a:avLst>
          </a:prstGeom>
          <a:solidFill>
            <a:srgbClr val="F3F0F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41248" y="3602736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8C2F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3200" dirty="0"/>
          </a:p>
        </p:txBody>
      </p:sp>
      <p:sp>
        <p:nvSpPr>
          <p:cNvPr id="9" name="Text 7"/>
          <p:cNvSpPr txBox="1"/>
          <p:nvPr/>
        </p:nvSpPr>
        <p:spPr>
          <a:xfrm>
            <a:off x="841248" y="4224528"/>
            <a:ext cx="48463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241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Mengapa perusahaan punya tanggung jawab sosial, bukan hanya finansial?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841248" y="502920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7A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Dijawab lewat argumen bisnis (enlightened self-interest) dan argumen moral.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172200" y="3401568"/>
            <a:ext cx="5440680" cy="2212848"/>
          </a:xfrm>
          <a:prstGeom prst="roundRect">
            <a:avLst>
              <a:gd name="adj" fmla="val 2479"/>
            </a:avLst>
          </a:prstGeom>
          <a:solidFill>
            <a:srgbClr val="F3F0F1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64808" y="3602736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A85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3200" dirty="0"/>
          </a:p>
        </p:txBody>
      </p:sp>
      <p:sp>
        <p:nvSpPr>
          <p:cNvPr id="13" name="Text 11"/>
          <p:cNvSpPr txBox="1"/>
          <p:nvPr/>
        </p:nvSpPr>
        <p:spPr>
          <a:xfrm>
            <a:off x="6464808" y="4224528"/>
            <a:ext cx="48463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241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Apa sifat dan bentuk tanggung jawab sosial itu?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6464808" y="502920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7A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Dijawab lewat model empat lapis Carroll, strategi CSR, dan pengukuran outcome.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5797296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7A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Carroll (1979, 1991); Crane et al. (2019), Bab 2, hlm. 48-51.</a:t>
            </a:r>
            <a:endParaRPr lang="en-US" sz="95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637336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80" kern="0" dirty="0">
                <a:solidFill>
                  <a:srgbClr val="7A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Kerangka 1 · CSR</a:t>
            </a:r>
            <a:endParaRPr lang="en-US" sz="950" dirty="0"/>
          </a:p>
        </p:txBody>
      </p:sp>
      <p:sp>
        <p:nvSpPr>
          <p:cNvPr id="17" name="Text 15"/>
          <p:cNvSpPr txBox="1"/>
          <p:nvPr/>
        </p:nvSpPr>
        <p:spPr>
          <a:xfrm>
            <a:off x="10607040" y="637336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8C2F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8C2F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2.1 · ARGUMEN BISNIS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100" b="1" dirty="0">
                <a:solidFill>
                  <a:srgbClr val="241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Business Case for CSR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26464"/>
            <a:ext cx="10607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i="1" dirty="0">
                <a:solidFill>
                  <a:srgbClr val="7A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Sebagian besar argumen dibingkai sebagai enlightened self-interest: perusahaan memikul tanggung jawab sosial sejauh hal itu memajukan kepentingannya sendiri.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084832"/>
            <a:ext cx="5440680" cy="1719072"/>
          </a:xfrm>
          <a:prstGeom prst="roundRect">
            <a:avLst>
              <a:gd name="adj" fmla="val 3191"/>
            </a:avLst>
          </a:prstGeom>
          <a:solidFill>
            <a:srgbClr val="F3F0F1"/>
          </a:solidFill>
          <a:ln/>
        </p:spPr>
      </p:sp>
      <p:sp>
        <p:nvSpPr>
          <p:cNvPr id="6" name="Shape 4"/>
          <p:cNvSpPr/>
          <p:nvPr/>
        </p:nvSpPr>
        <p:spPr>
          <a:xfrm>
            <a:off x="804672" y="2304288"/>
            <a:ext cx="420624" cy="420624"/>
          </a:xfrm>
          <a:prstGeom prst="ellipse">
            <a:avLst/>
          </a:prstGeom>
          <a:solidFill>
            <a:srgbClr val="8C2F39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04672" y="230428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371600" y="2304288"/>
            <a:ext cx="43616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41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Meningkatkan pendapatan jangka panjang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804672" y="2852928"/>
            <a:ext cx="492861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7A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Pelanggan lebih puas, karyawan lebih tertarik dan berkomitmen. CSR jadi motivator utama generasi milenial dalam memilih tempat kerja.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172200" y="2084832"/>
            <a:ext cx="5440680" cy="1719072"/>
          </a:xfrm>
          <a:prstGeom prst="roundRect">
            <a:avLst>
              <a:gd name="adj" fmla="val 3191"/>
            </a:avLst>
          </a:prstGeom>
          <a:solidFill>
            <a:srgbClr val="F3F0F1"/>
          </a:solidFill>
          <a:ln/>
        </p:spPr>
      </p:sp>
      <p:sp>
        <p:nvSpPr>
          <p:cNvPr id="11" name="Shape 9"/>
          <p:cNvSpPr/>
          <p:nvPr/>
        </p:nvSpPr>
        <p:spPr>
          <a:xfrm>
            <a:off x="6428232" y="2304288"/>
            <a:ext cx="420624" cy="420624"/>
          </a:xfrm>
          <a:prstGeom prst="ellipse">
            <a:avLst/>
          </a:prstGeom>
          <a:solidFill>
            <a:srgbClr val="A85541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28232" y="230428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6995160" y="2304288"/>
            <a:ext cx="43616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41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Mengelola risiko dan ketidakpastian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6428232" y="2852928"/>
            <a:ext cx="492861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7A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Komitmen sosial sukarela dapat mendahului regulasi dan menjaga independensi dari pemerintah. Contoh: desakan pengaturan keselamatan pekerja setelah runtuhnya Rana Plaza (2013).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48640" y="3968496"/>
            <a:ext cx="5440680" cy="1719072"/>
          </a:xfrm>
          <a:prstGeom prst="roundRect">
            <a:avLst>
              <a:gd name="adj" fmla="val 3191"/>
            </a:avLst>
          </a:prstGeom>
          <a:solidFill>
            <a:srgbClr val="F3F0F1"/>
          </a:solidFill>
          <a:ln/>
        </p:spPr>
      </p:sp>
      <p:sp>
        <p:nvSpPr>
          <p:cNvPr id="16" name="Shape 14"/>
          <p:cNvSpPr/>
          <p:nvPr/>
        </p:nvSpPr>
        <p:spPr>
          <a:xfrm>
            <a:off x="804672" y="4187952"/>
            <a:ext cx="420624" cy="420624"/>
          </a:xfrm>
          <a:prstGeom prst="ellipse">
            <a:avLst/>
          </a:prstGeom>
          <a:solidFill>
            <a:srgbClr val="5C7A6B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04672" y="418795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371600" y="4187952"/>
            <a:ext cx="43616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41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Menekan biaya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804672" y="4736592"/>
            <a:ext cx="492861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7A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Dampak lingkungan dan sosial yang positif berarti energi terhemat, limbah berkurang, inefisiensi ditekan. Walmart diperkirakan menghemat US$1 miliar hingga 2020.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172200" y="3968496"/>
            <a:ext cx="5440680" cy="1719072"/>
          </a:xfrm>
          <a:prstGeom prst="roundRect">
            <a:avLst>
              <a:gd name="adj" fmla="val 3191"/>
            </a:avLst>
          </a:prstGeom>
          <a:solidFill>
            <a:srgbClr val="F3F0F1"/>
          </a:solidFill>
          <a:ln/>
        </p:spPr>
      </p:sp>
      <p:sp>
        <p:nvSpPr>
          <p:cNvPr id="21" name="Shape 19"/>
          <p:cNvSpPr/>
          <p:nvPr/>
        </p:nvSpPr>
        <p:spPr>
          <a:xfrm>
            <a:off x="6428232" y="4187952"/>
            <a:ext cx="420624" cy="420624"/>
          </a:xfrm>
          <a:prstGeom prst="ellipse">
            <a:avLst/>
          </a:prstGeom>
          <a:solidFill>
            <a:srgbClr val="C8952B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428232" y="418795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6995160" y="4187952"/>
            <a:ext cx="43616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41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Menjaga social licence to operate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6428232" y="4736592"/>
            <a:ext cx="492861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7A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Perusahaan perlu memperoleh dan mempertahankan persetujuan komunitas lokal, karyawan, dan pemerintah — pihak-pihak yang dapat memberi maupun mencabut izin sosial itu.</a:t>
            </a:r>
            <a:endParaRPr lang="en-US" sz="1150" dirty="0"/>
          </a:p>
        </p:txBody>
      </p:sp>
      <p:sp>
        <p:nvSpPr>
          <p:cNvPr id="25" name="Text 23"/>
          <p:cNvSpPr txBox="1"/>
          <p:nvPr/>
        </p:nvSpPr>
        <p:spPr>
          <a:xfrm>
            <a:off x="548640" y="5907024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7A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Diadaptasi dari Davis (1973); Mintzberg (1983); Smith (2003); Kurucz et al. (2008), dalam Crane et al. (2019), Fig. 2.1.</a:t>
            </a:r>
            <a:endParaRPr lang="en-US" sz="950" dirty="0"/>
          </a:p>
        </p:txBody>
      </p:sp>
      <p:sp>
        <p:nvSpPr>
          <p:cNvPr id="26" name="Text 24"/>
          <p:cNvSpPr txBox="1"/>
          <p:nvPr/>
        </p:nvSpPr>
        <p:spPr>
          <a:xfrm>
            <a:off x="548640" y="637336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80" kern="0" dirty="0">
                <a:solidFill>
                  <a:srgbClr val="7A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Kerangka 1 · CSR</a:t>
            </a:r>
            <a:endParaRPr lang="en-US" sz="950" dirty="0"/>
          </a:p>
        </p:txBody>
      </p:sp>
      <p:sp>
        <p:nvSpPr>
          <p:cNvPr id="27" name="Text 25"/>
          <p:cNvSpPr txBox="1"/>
          <p:nvPr/>
        </p:nvSpPr>
        <p:spPr>
          <a:xfrm>
            <a:off x="10607040" y="637336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8C2F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8C2F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 LUAR ARGUMEN BISNIS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100" b="1" dirty="0">
                <a:solidFill>
                  <a:srgbClr val="241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Tiga Argumen Moral untuk CSR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26464"/>
            <a:ext cx="10607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i="1" dirty="0">
                <a:solidFill>
                  <a:srgbClr val="7A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Hubungan langsung antara tanggung jawab sosial dan profitabilitas nyaris mustahil dibuktikan. Karena itu argumen moral tetap dibutuhkan.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139696"/>
            <a:ext cx="3502152" cy="3145536"/>
          </a:xfrm>
          <a:prstGeom prst="roundRect">
            <a:avLst>
              <a:gd name="adj" fmla="val 1744"/>
            </a:avLst>
          </a:prstGeom>
          <a:solidFill>
            <a:srgbClr val="F3F0F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2359152"/>
            <a:ext cx="29809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8C2F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Externalities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761488"/>
            <a:ext cx="29809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A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Argumen eksternalitas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145536"/>
            <a:ext cx="2980944" cy="1883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24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Perusahaan menghasilkan eksternalitas — dampak yang ditanggung pihak di luar transaksi. Ada tanggung jawab moral untuk menangani eksternalitas negatif seperti polusi, deplesi sumber daya, dan masalah komunitas, sejauh negara belum menanganinya.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29684" y="2139696"/>
            <a:ext cx="3502152" cy="3145536"/>
          </a:xfrm>
          <a:prstGeom prst="roundRect">
            <a:avLst>
              <a:gd name="adj" fmla="val 1744"/>
            </a:avLst>
          </a:prstGeom>
          <a:solidFill>
            <a:srgbClr val="F3F0F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604004" y="2359152"/>
            <a:ext cx="29809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A85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Power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4604004" y="2761488"/>
            <a:ext cx="29809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A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Argumen kekuasaan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604004" y="3145536"/>
            <a:ext cx="2980944" cy="1883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24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Sebagai aktor sosial yang berkuasa dengan sumber daya besar, perusahaan wajib memakai kuasanya secara bertanggung jawab. Sebagian korporasi terbesar dunia berpendapatan melebihi PDB banyak negara.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110728" y="2139696"/>
            <a:ext cx="3502152" cy="3145536"/>
          </a:xfrm>
          <a:prstGeom prst="roundRect">
            <a:avLst>
              <a:gd name="adj" fmla="val 1744"/>
            </a:avLst>
          </a:prstGeom>
          <a:solidFill>
            <a:srgbClr val="F3F0F1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385048" y="2359152"/>
            <a:ext cx="29809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5C7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Dependency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8385048" y="2761488"/>
            <a:ext cx="29809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A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Argumen kesalingtergantungan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8385048" y="3145536"/>
            <a:ext cx="2980944" cy="1883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24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Perusahaan dan masyarakat saling bergantung. Perusahaan menyandarkan diri pada konstituen yang jauh lebih luas daripada pemegang saham — konsumen, pemasok, komunitas lokal.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5468112"/>
            <a:ext cx="11064240" cy="658368"/>
          </a:xfrm>
          <a:prstGeom prst="roundRect">
            <a:avLst>
              <a:gd name="adj" fmla="val 8333"/>
            </a:avLst>
          </a:prstGeom>
          <a:solidFill>
            <a:srgbClr val="E9E2E5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41248" y="5468112"/>
            <a:ext cx="10424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C2F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Spiderman maxim:  </a:t>
            </a:r>
            <a:pPr indent="0" marL="0">
              <a:buNone/>
            </a:pPr>
            <a:r>
              <a:rPr lang="en-US" sz="1400" i="1" dirty="0">
                <a:solidFill>
                  <a:srgbClr val="241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"with great power comes great responsibility."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637336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80" kern="0" dirty="0">
                <a:solidFill>
                  <a:srgbClr val="7A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Kerangka 1 · CSR</a:t>
            </a:r>
            <a:endParaRPr lang="en-US" sz="950" dirty="0"/>
          </a:p>
        </p:txBody>
      </p:sp>
      <p:sp>
        <p:nvSpPr>
          <p:cNvPr id="20" name="Text 18"/>
          <p:cNvSpPr txBox="1"/>
          <p:nvPr/>
        </p:nvSpPr>
        <p:spPr>
          <a:xfrm>
            <a:off x="10607040" y="637336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8C2F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8C2F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2.2 · FOUR-PART MODEL OF CSR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241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Piramida Carroll: Empat Lapis Tanggung Jawab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011680" y="1874520"/>
            <a:ext cx="2286000" cy="859536"/>
          </a:xfrm>
          <a:prstGeom prst="rect">
            <a:avLst/>
          </a:prstGeom>
          <a:solidFill>
            <a:srgbClr val="C8952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2011680" y="1874520"/>
            <a:ext cx="228600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20" kern="0" dirty="0">
                <a:solidFill>
                  <a:srgbClr val="24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FILANTROPIS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554480" y="2807208"/>
            <a:ext cx="3200400" cy="859536"/>
          </a:xfrm>
          <a:prstGeom prst="rect">
            <a:avLst/>
          </a:prstGeom>
          <a:solidFill>
            <a:srgbClr val="A8554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554480" y="2807208"/>
            <a:ext cx="320040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ETIS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097280" y="3739896"/>
            <a:ext cx="4114800" cy="859536"/>
          </a:xfrm>
          <a:prstGeom prst="rect">
            <a:avLst/>
          </a:prstGeom>
          <a:solidFill>
            <a:srgbClr val="7A2B36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097280" y="3739896"/>
            <a:ext cx="411480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HUKUM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4672584"/>
            <a:ext cx="5029200" cy="859536"/>
          </a:xfrm>
          <a:prstGeom prst="rect">
            <a:avLst/>
          </a:prstGeom>
          <a:solidFill>
            <a:srgbClr val="451A28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672584"/>
            <a:ext cx="502920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EKONOMI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6309360" y="18745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41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Filantropis</a:t>
            </a:r>
            <a:endParaRPr lang="en-US" sz="1550" dirty="0"/>
          </a:p>
        </p:txBody>
      </p:sp>
      <p:sp>
        <p:nvSpPr>
          <p:cNvPr id="13" name="Text 11"/>
          <p:cNvSpPr txBox="1"/>
          <p:nvPr/>
        </p:nvSpPr>
        <p:spPr>
          <a:xfrm>
            <a:off x="8275320" y="1901952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80" kern="0" dirty="0">
                <a:solidFill>
                  <a:srgbClr val="C89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DESIRED by society</a:t>
            </a:r>
            <a:endParaRPr lang="en-US" sz="950" dirty="0"/>
          </a:p>
        </p:txBody>
      </p:sp>
      <p:sp>
        <p:nvSpPr>
          <p:cNvPr id="14" name="Text 12"/>
          <p:cNvSpPr txBox="1"/>
          <p:nvPr/>
        </p:nvSpPr>
        <p:spPr>
          <a:xfrm>
            <a:off x="6309360" y="2167128"/>
            <a:ext cx="5303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7A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Kegiatan diskresioner untuk memperbaiki kualitas hidup: donasi, fasilitas rekreasi karyawan, dukungan sekolah, sponsor seni dan olahraga.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6309360" y="280720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41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Etis</a:t>
            </a:r>
            <a:endParaRPr lang="en-US" sz="1550" dirty="0"/>
          </a:p>
        </p:txBody>
      </p:sp>
      <p:sp>
        <p:nvSpPr>
          <p:cNvPr id="16" name="Text 14"/>
          <p:cNvSpPr txBox="1"/>
          <p:nvPr/>
        </p:nvSpPr>
        <p:spPr>
          <a:xfrm>
            <a:off x="8275320" y="2834640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80" kern="0" dirty="0">
                <a:solidFill>
                  <a:srgbClr val="A85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by society</a:t>
            </a:r>
            <a:endParaRPr lang="en-US" sz="950" dirty="0"/>
          </a:p>
        </p:txBody>
      </p:sp>
      <p:sp>
        <p:nvSpPr>
          <p:cNvPr id="17" name="Text 15"/>
          <p:cNvSpPr txBox="1"/>
          <p:nvPr/>
        </p:nvSpPr>
        <p:spPr>
          <a:xfrm>
            <a:off x="6309360" y="3099816"/>
            <a:ext cx="5303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7A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Melakukan yang benar, adil, dan wajar bahkan ketika hukum tidak mewajibkannya. Contoh: kemarahan publik atas praktik penghindaran pajak yang legal.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6309360" y="373989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41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Hukum</a:t>
            </a:r>
            <a:endParaRPr lang="en-US" sz="1550" dirty="0"/>
          </a:p>
        </p:txBody>
      </p:sp>
      <p:sp>
        <p:nvSpPr>
          <p:cNvPr id="19" name="Text 17"/>
          <p:cNvSpPr txBox="1"/>
          <p:nvPr/>
        </p:nvSpPr>
        <p:spPr>
          <a:xfrm>
            <a:off x="8275320" y="3767328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80" kern="0" dirty="0">
                <a:solidFill>
                  <a:srgbClr val="7A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by society</a:t>
            </a:r>
            <a:endParaRPr lang="en-US" sz="950" dirty="0"/>
          </a:p>
        </p:txBody>
      </p:sp>
      <p:sp>
        <p:nvSpPr>
          <p:cNvPr id="20" name="Text 18"/>
          <p:cNvSpPr txBox="1"/>
          <p:nvPr/>
        </p:nvSpPr>
        <p:spPr>
          <a:xfrm>
            <a:off x="6309360" y="4032504"/>
            <a:ext cx="5303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7A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Mematuhi hukum, "play by the rules of the game". Hukum adalah kodifikasi pandangan moral masyarakat.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6309360" y="467258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41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Ekonomi</a:t>
            </a:r>
            <a:endParaRPr lang="en-US" sz="1550" dirty="0"/>
          </a:p>
        </p:txBody>
      </p:sp>
      <p:sp>
        <p:nvSpPr>
          <p:cNvPr id="22" name="Text 20"/>
          <p:cNvSpPr txBox="1"/>
          <p:nvPr/>
        </p:nvSpPr>
        <p:spPr>
          <a:xfrm>
            <a:off x="8275320" y="4700016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80" kern="0" dirty="0">
                <a:solidFill>
                  <a:srgbClr val="451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by society</a:t>
            </a:r>
            <a:endParaRPr lang="en-US" sz="950" dirty="0"/>
          </a:p>
        </p:txBody>
      </p:sp>
      <p:sp>
        <p:nvSpPr>
          <p:cNvPr id="23" name="Text 21"/>
          <p:cNvSpPr txBox="1"/>
          <p:nvPr/>
        </p:nvSpPr>
        <p:spPr>
          <a:xfrm>
            <a:off x="6309360" y="4965192"/>
            <a:ext cx="5303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7A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Menjadi unit ekonomi yang berfungsi baik dan tetap bertahan: imbal hasil bagi investor, pekerjaan yang layak, produk yang memuaskan konsumen.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48640" y="5623560"/>
            <a:ext cx="11064240" cy="621792"/>
          </a:xfrm>
          <a:prstGeom prst="roundRect">
            <a:avLst>
              <a:gd name="adj" fmla="val 8824"/>
            </a:avLst>
          </a:prstGeom>
          <a:solidFill>
            <a:srgbClr val="E9E2E5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841248" y="5623560"/>
            <a:ext cx="10424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C2F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Keterbatasan utama:  </a:t>
            </a:r>
            <a:pPr indent="0" marL="0">
              <a:buNone/>
            </a:pPr>
            <a:r>
              <a:rPr lang="en-US" sz="1200" dirty="0">
                <a:solidFill>
                  <a:srgbClr val="24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ini tidak menjelaskan apa yang harus terjadi ketika dua tanggung jawab saling bertentangan — dan ia menonjolkan sudut pandang manajerial.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548640" y="637336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80" kern="0" dirty="0">
                <a:solidFill>
                  <a:srgbClr val="7A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Kerangka 1 · CSR</a:t>
            </a:r>
            <a:endParaRPr lang="en-US" sz="950" dirty="0"/>
          </a:p>
        </p:txBody>
      </p:sp>
      <p:sp>
        <p:nvSpPr>
          <p:cNvPr id="27" name="Text 25"/>
          <p:cNvSpPr txBox="1"/>
          <p:nvPr/>
        </p:nvSpPr>
        <p:spPr>
          <a:xfrm>
            <a:off x="10607040" y="637336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8C2F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8C2F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TABEL 2.2 · STRATEGIES OF CSR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100" b="1" dirty="0">
                <a:solidFill>
                  <a:srgbClr val="241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Dua Strategi: "Bolt-on" vs "Built-in"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26464"/>
            <a:ext cx="11064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i="1" dirty="0">
                <a:solidFill>
                  <a:srgbClr val="7A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Cara perusahaan memprioritaskan tiap lapis CSR bergantung pada strategi besarnya.</a:t>
            </a:r>
            <a:endParaRPr lang="en-US" sz="135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39696"/>
          <a:ext cx="1106424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4114800"/>
                <a:gridCol w="411480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76200" marB="76200" anchor="ctr">
                    <a:lnL w="12700" cap="flat" cmpd="sng" algn="ctr">
                      <a:solidFill>
                        <a:srgbClr val="DE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spc="100" kern="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TRADITIONAL CSR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76200" marB="76200" anchor="ctr">
                    <a:lnL w="12700" cap="flat" cmpd="sng" algn="ctr">
                      <a:solidFill>
                        <a:srgbClr val="DE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2B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spc="100" kern="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CONTEMPORARY CSR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76200" marB="76200" anchor="ctr">
                    <a:lnL w="12700" cap="flat" cmpd="sng" algn="ctr">
                      <a:solidFill>
                        <a:srgbClr val="DE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7A6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241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Fokus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76200" marB="76200" anchor="ctr">
                    <a:lnL w="12700" cap="flat" cmpd="sng" algn="ctr">
                      <a:solidFill>
                        <a:srgbClr val="DE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41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Risiko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76200" marB="76200" anchor="ctr">
                    <a:lnL w="12700" cap="flat" cmpd="sng" algn="ctr">
                      <a:solidFill>
                        <a:srgbClr val="DE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41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Imbalan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76200" marB="76200" anchor="ctr">
                    <a:lnL w="12700" cap="flat" cmpd="sng" algn="ctr">
                      <a:solidFill>
                        <a:srgbClr val="DE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241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Pendorong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76200" marB="76200" anchor="ctr">
                    <a:lnL w="12700" cap="flat" cmpd="sng" algn="ctr">
                      <a:solidFill>
                        <a:srgbClr val="DE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41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Citra, merek, penerimaan publik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76200" marB="76200" anchor="ctr">
                    <a:lnL w="12700" cap="flat" cmpd="sng" algn="ctr">
                      <a:solidFill>
                        <a:srgbClr val="DE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41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Kinerja, pasar, produk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76200" marB="76200" anchor="ctr">
                    <a:lnL w="12700" cap="flat" cmpd="sng" algn="ctr">
                      <a:solidFill>
                        <a:srgbClr val="DE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241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Hubungan dengan bottom line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76200" marB="76200" anchor="ctr">
                    <a:lnL w="12700" cap="flat" cmpd="sng" algn="ctr">
                      <a:solidFill>
                        <a:srgbClr val="DE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41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Tidak berkontribusi langsung: CSR adalah distribusi nilai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76200" marB="76200" anchor="ctr">
                    <a:lnL w="12700" cap="flat" cmpd="sng" algn="ctr">
                      <a:solidFill>
                        <a:srgbClr val="DE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41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Tujuan integral: CSR adalah penciptaan nilai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76200" marB="76200" anchor="ctr">
                    <a:lnL w="12700" cap="flat" cmpd="sng" algn="ctr">
                      <a:solidFill>
                        <a:srgbClr val="DE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241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Responsiveness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76200" marB="76200" anchor="ctr">
                    <a:lnL w="12700" cap="flat" cmpd="sng" algn="ctr">
                      <a:solidFill>
                        <a:srgbClr val="DE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41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Reaksi, defensif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76200" marB="76200" anchor="ctr">
                    <a:lnL w="12700" cap="flat" cmpd="sng" algn="ctr">
                      <a:solidFill>
                        <a:srgbClr val="DE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41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Akomodasi, proaktif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76200" marB="76200" anchor="ctr">
                    <a:lnL w="12700" cap="flat" cmpd="sng" algn="ctr">
                      <a:solidFill>
                        <a:srgbClr val="DE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241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Motto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76200" marB="76200" anchor="ctr">
                    <a:lnL w="12700" cap="flat" cmpd="sng" algn="ctr">
                      <a:solidFill>
                        <a:srgbClr val="DE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i="1" dirty="0">
                          <a:solidFill>
                            <a:srgbClr val="8C2F3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"CSR is bolt-on"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76200" marB="76200" anchor="ctr">
                    <a:lnL w="12700" cap="flat" cmpd="sng" algn="ctr">
                      <a:solidFill>
                        <a:srgbClr val="DE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i="1" dirty="0">
                          <a:solidFill>
                            <a:srgbClr val="5C7A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"CSR is built-in"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76200" marB="76200" anchor="ctr">
                    <a:lnL w="12700" cap="flat" cmpd="sng" algn="ctr">
                      <a:solidFill>
                        <a:srgbClr val="DE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5257800"/>
            <a:ext cx="11064240" cy="859536"/>
          </a:xfrm>
          <a:prstGeom prst="roundRect">
            <a:avLst>
              <a:gd name="adj" fmla="val 6383"/>
            </a:avLst>
          </a:prstGeom>
          <a:solidFill>
            <a:srgbClr val="F3F0F1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841248" y="5257800"/>
            <a:ext cx="1042416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24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Pada strategi tradisional, laba dikejar lebih dulu tanpa banyak memperhatikan ekspektasi masyarakat; sebagian nilai lalu dibagikan ke berbagai kegiatan sosial demi citra. Pada strategi kontemporer, perusahaan bekerja bersama stakeholder dan mengintegrasikan ekspektasi sosial langsung ke dalam operasi intinya.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37336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80" kern="0" dirty="0">
                <a:solidFill>
                  <a:srgbClr val="7A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Kerangka 1 · CSR</a:t>
            </a:r>
            <a:endParaRPr lang="en-US" sz="95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637336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8C2F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8C2F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CSR IN AN INTERNATIONAL CONTEXT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241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CSR Tidak Berbunyi Sama di Semua Tempat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26464"/>
            <a:ext cx="11064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i="1" dirty="0">
                <a:solidFill>
                  <a:srgbClr val="7A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Penting untuk kasus Indonesia: piramida Carroll lahir dari konteks Amerika Serikat.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048256"/>
            <a:ext cx="5440680" cy="1371600"/>
          </a:xfrm>
          <a:prstGeom prst="roundRect">
            <a:avLst>
              <a:gd name="adj" fmla="val 4000"/>
            </a:avLst>
          </a:prstGeom>
          <a:solidFill>
            <a:srgbClr val="F3F0F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2231136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8C2F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 CSR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523744"/>
            <a:ext cx="48920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7A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CSR sebagai aktivitas perusahaan swasta yang berdiri sendiri dan diberi nama secara eksplisit. Khas Amerika Serikat, yang memberi banyak keleluasaan pada perusahaan.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172200" y="2048256"/>
            <a:ext cx="5440680" cy="1371600"/>
          </a:xfrm>
          <a:prstGeom prst="roundRect">
            <a:avLst>
              <a:gd name="adj" fmla="val 4000"/>
            </a:avLst>
          </a:prstGeom>
          <a:solidFill>
            <a:srgbClr val="F3F0F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46520" y="2231136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5C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IMPLICIT CSR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446520" y="2523744"/>
            <a:ext cx="48920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7A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Tanggung jawab sosial tertanam erat dalam kerangka hukum dan institusi masyarakat — lewat regulasi di Eropa, dan lewat institusi lunak seperti tradisi keagamaan, adat, atau kesukuan di Asia dan Afrika.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3675888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41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Yang berubah di konteks negara berkembang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48640" y="4059936"/>
            <a:ext cx="2628900" cy="1572768"/>
          </a:xfrm>
          <a:prstGeom prst="roundRect">
            <a:avLst>
              <a:gd name="adj" fmla="val 3488"/>
            </a:avLst>
          </a:prstGeom>
          <a:solidFill>
            <a:srgbClr val="E9E2E5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68096" y="422452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895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Filantropis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768096" y="4517136"/>
            <a:ext cx="219456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24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 tengah kemiskinan yang meluas, perusahaan makin diharapkan "berbagi" kekayaan dengan komunitas lokal.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360420" y="4059936"/>
            <a:ext cx="2628900" cy="1572768"/>
          </a:xfrm>
          <a:prstGeom prst="roundRect">
            <a:avLst>
              <a:gd name="adj" fmla="val 3488"/>
            </a:avLst>
          </a:prstGeom>
          <a:solidFill>
            <a:srgbClr val="E9E2E5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3579876" y="422452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A85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Etis</a:t>
            </a:r>
            <a:endParaRPr lang="en-US" sz="1350" dirty="0"/>
          </a:p>
        </p:txBody>
      </p:sp>
      <p:sp>
        <p:nvSpPr>
          <p:cNvPr id="17" name="Text 15"/>
          <p:cNvSpPr txBox="1"/>
          <p:nvPr/>
        </p:nvSpPr>
        <p:spPr>
          <a:xfrm>
            <a:off x="3579876" y="4517136"/>
            <a:ext cx="219456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24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Kepercayaan pada bisnis justru lebih tinggi, namun tanggung jawab ekonomi dan filantropis didahulukan atas ekspektasi etis (Visser 2008).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172200" y="4059936"/>
            <a:ext cx="2628900" cy="1572768"/>
          </a:xfrm>
          <a:prstGeom prst="roundRect">
            <a:avLst>
              <a:gd name="adj" fmla="val 3488"/>
            </a:avLst>
          </a:prstGeom>
          <a:solidFill>
            <a:srgbClr val="E9E2E5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391656" y="422452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7A2B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Hukum</a:t>
            </a:r>
            <a:endParaRPr lang="en-US" sz="1350" dirty="0"/>
          </a:p>
        </p:txBody>
      </p:sp>
      <p:sp>
        <p:nvSpPr>
          <p:cNvPr id="20" name="Text 18"/>
          <p:cNvSpPr txBox="1"/>
          <p:nvPr/>
        </p:nvSpPr>
        <p:spPr>
          <a:xfrm>
            <a:off x="6391656" y="4517136"/>
            <a:ext cx="219456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24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Kepatuhan hukum sering bukan ukuran perilaku bertanggung jawab yang andal, karena pemerintahan lemah atau korup.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8983980" y="4059936"/>
            <a:ext cx="2628900" cy="1572768"/>
          </a:xfrm>
          <a:prstGeom prst="roundRect">
            <a:avLst>
              <a:gd name="adj" fmla="val 3488"/>
            </a:avLst>
          </a:prstGeom>
          <a:solidFill>
            <a:srgbClr val="E9E2E5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9203436" y="422452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451A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Ekonomi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9203436" y="4517136"/>
            <a:ext cx="219456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24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Pendekatan Eropa dan Asia menekankan tanggung jawab ekonomi terhadap karyawan dan komunitas, bukan hanya pemegang saham.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5742432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00" b="1" dirty="0">
                <a:solidFill>
                  <a:srgbClr val="8C2F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Jamali et al. (2017): </a:t>
            </a:r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24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pemahaman CSR arus utama harus di-translate agar bisa diterapkan di negara berkembang, lalu di-adapt dan dilokalkan agar bermakna — CSR sebagai alat pembangunan berkelanjutan selalu tertanam secara kultural.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548640" y="637336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80" kern="0" dirty="0">
                <a:solidFill>
                  <a:srgbClr val="7A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Kerangka 1 · CSR</a:t>
            </a:r>
            <a:endParaRPr lang="en-US" sz="950" dirty="0"/>
          </a:p>
        </p:txBody>
      </p:sp>
      <p:sp>
        <p:nvSpPr>
          <p:cNvPr id="26" name="Text 24"/>
          <p:cNvSpPr txBox="1"/>
          <p:nvPr/>
        </p:nvSpPr>
        <p:spPr>
          <a:xfrm>
            <a:off x="10607040" y="637336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8C2F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8C2F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OUTCOMES OF CSR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100" b="1" dirty="0">
                <a:solidFill>
                  <a:srgbClr val="241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Corporate Social Performance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26464"/>
            <a:ext cx="10607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i="1" dirty="0">
                <a:solidFill>
                  <a:srgbClr val="7A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Jika kinerja ekonomi bisa diukur dan diperingkat, mengapa kinerja sosial tidak? Model Donna Wood (1991) memecahnya menjadi tiga tahap.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157984"/>
            <a:ext cx="3291840" cy="1097280"/>
          </a:xfrm>
          <a:prstGeom prst="roundRect">
            <a:avLst>
              <a:gd name="adj" fmla="val 5000"/>
            </a:avLst>
          </a:prstGeom>
          <a:solidFill>
            <a:srgbClr val="F3F0F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86384" y="2322576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C2F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Principles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786384" y="2633472"/>
            <a:ext cx="2834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7A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Prinsip-prinsip CSR yang dianut perusahaan.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3840480" y="2157984"/>
            <a:ext cx="594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ED7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4434840" y="2157984"/>
            <a:ext cx="3291840" cy="1097280"/>
          </a:xfrm>
          <a:prstGeom prst="roundRect">
            <a:avLst>
              <a:gd name="adj" fmla="val 5000"/>
            </a:avLst>
          </a:prstGeom>
          <a:solidFill>
            <a:srgbClr val="F3F0F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672584" y="2322576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85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Processes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4672584" y="2633472"/>
            <a:ext cx="2834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7A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Proses social responsiveness — yaitu strategi CSR yang dipilih.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7726680" y="2157984"/>
            <a:ext cx="594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ED7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8321040" y="2157984"/>
            <a:ext cx="3291840" cy="1097280"/>
          </a:xfrm>
          <a:prstGeom prst="roundRect">
            <a:avLst>
              <a:gd name="adj" fmla="val 5000"/>
            </a:avLst>
          </a:prstGeom>
          <a:solidFill>
            <a:srgbClr val="F3F0F1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558784" y="2322576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C7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Outcomes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8558784" y="2633472"/>
            <a:ext cx="2834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7A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Hasil nyata dari perilaku korporasi, yang dipecah menjadi tiga bentuk di bawah.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3529584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41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Tiga bentuk outcome (Tabel 2.3)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548640" y="3913632"/>
            <a:ext cx="3502152" cy="1920240"/>
          </a:xfrm>
          <a:prstGeom prst="roundRect">
            <a:avLst>
              <a:gd name="adj" fmla="val 2857"/>
            </a:avLst>
          </a:prstGeom>
          <a:solidFill>
            <a:srgbClr val="F3F0F1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04672" y="4078224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41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Social Policies</a:t>
            </a:r>
            <a:endParaRPr lang="en-US" sz="1450" dirty="0"/>
          </a:p>
        </p:txBody>
      </p:sp>
      <p:sp>
        <p:nvSpPr>
          <p:cNvPr id="19" name="Text 17"/>
          <p:cNvSpPr txBox="1"/>
          <p:nvPr/>
        </p:nvSpPr>
        <p:spPr>
          <a:xfrm>
            <a:off x="804672" y="438912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7A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Pernyataan nilai, keyakinan, dan tujuan perusahaan terhadap lingkungan sosialnya, biasanya termuat dalam pernyataan misi dan kebijakan korporat.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804672" y="5340096"/>
            <a:ext cx="3017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i="1" dirty="0">
                <a:solidFill>
                  <a:srgbClr val="8C2F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Contoh: komitmen IKEA memakai 100% energi terbarukan dan kayu dari sumber lestari, dilaporkan tiap tahun.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329684" y="3913632"/>
            <a:ext cx="3502152" cy="1920240"/>
          </a:xfrm>
          <a:prstGeom prst="roundRect">
            <a:avLst>
              <a:gd name="adj" fmla="val 2857"/>
            </a:avLst>
          </a:prstGeom>
          <a:solidFill>
            <a:srgbClr val="F3F0F1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4585716" y="4078224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41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Social Programmes</a:t>
            </a:r>
            <a:endParaRPr lang="en-US" sz="1450" dirty="0"/>
          </a:p>
        </p:txBody>
      </p:sp>
      <p:sp>
        <p:nvSpPr>
          <p:cNvPr id="23" name="Text 21"/>
          <p:cNvSpPr txBox="1"/>
          <p:nvPr/>
        </p:nvSpPr>
        <p:spPr>
          <a:xfrm>
            <a:off x="4585716" y="438912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7A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Aktivitas, langkah, dan instrumen yang dijalankan untuk mewujudkan kebijakan sosial tersebut.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4585716" y="5340096"/>
            <a:ext cx="3017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i="1" dirty="0">
                <a:solidFill>
                  <a:srgbClr val="8C2F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Contoh: sistem manajemen lingkungan ISO 14000 dan EMAS, atau standar CSR internasional ISO 26000.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8110728" y="3913632"/>
            <a:ext cx="3502152" cy="1920240"/>
          </a:xfrm>
          <a:prstGeom prst="roundRect">
            <a:avLst>
              <a:gd name="adj" fmla="val 2857"/>
            </a:avLst>
          </a:prstGeom>
          <a:solidFill>
            <a:srgbClr val="E9E2E5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8366760" y="4078224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41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Social Impacts</a:t>
            </a:r>
            <a:endParaRPr lang="en-US" sz="1450" dirty="0"/>
          </a:p>
        </p:txBody>
      </p:sp>
      <p:sp>
        <p:nvSpPr>
          <p:cNvPr id="27" name="Text 25"/>
          <p:cNvSpPr txBox="1"/>
          <p:nvPr/>
        </p:nvSpPr>
        <p:spPr>
          <a:xfrm>
            <a:off x="8366760" y="438912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7A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Perubahan nyata yang benar-benar terjadi pada masyarakat dan lingkungan sebagai akibat tindakan perusahaan.</a:t>
            </a:r>
            <a:endParaRPr lang="en-US" sz="1150" dirty="0"/>
          </a:p>
        </p:txBody>
      </p:sp>
      <p:sp>
        <p:nvSpPr>
          <p:cNvPr id="28" name="Text 26"/>
          <p:cNvSpPr txBox="1"/>
          <p:nvPr/>
        </p:nvSpPr>
        <p:spPr>
          <a:xfrm>
            <a:off x="8366760" y="5340096"/>
            <a:ext cx="3017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i="1" dirty="0">
                <a:solidFill>
                  <a:srgbClr val="8C2F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 bagian tersulit diukur — dan justru yang paling menentukan apakah CSR bermakna.</a:t>
            </a:r>
            <a:endParaRPr lang="en-US" sz="1050" dirty="0"/>
          </a:p>
        </p:txBody>
      </p:sp>
      <p:sp>
        <p:nvSpPr>
          <p:cNvPr id="29" name="Text 27"/>
          <p:cNvSpPr txBox="1"/>
          <p:nvPr/>
        </p:nvSpPr>
        <p:spPr>
          <a:xfrm>
            <a:off x="548640" y="5925312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7A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Wood (1991); Gond &amp; Crane (2010), dalam Crane et al. (2019), Bab 2, hlm. 55-57.</a:t>
            </a:r>
            <a:endParaRPr lang="en-US" sz="950" dirty="0"/>
          </a:p>
        </p:txBody>
      </p:sp>
      <p:sp>
        <p:nvSpPr>
          <p:cNvPr id="30" name="Text 28"/>
          <p:cNvSpPr txBox="1"/>
          <p:nvPr/>
        </p:nvSpPr>
        <p:spPr>
          <a:xfrm>
            <a:off x="548640" y="637336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80" kern="0" dirty="0">
                <a:solidFill>
                  <a:srgbClr val="7A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Kerangka 1 · CSR</a:t>
            </a:r>
            <a:endParaRPr lang="en-US" sz="950" dirty="0"/>
          </a:p>
        </p:txBody>
      </p:sp>
      <p:sp>
        <p:nvSpPr>
          <p:cNvPr id="31" name="Text 29"/>
          <p:cNvSpPr txBox="1"/>
          <p:nvPr/>
        </p:nvSpPr>
        <p:spPr>
          <a:xfrm>
            <a:off x="10607040" y="637336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8C2F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8C2F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SISI GELAP CSR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2900" b="1" dirty="0">
                <a:solidFill>
                  <a:srgbClr val="241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Kritik terhadap CSR — dan Satu Jawaban atasnya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72768"/>
            <a:ext cx="5669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41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Empat suara kritis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956816"/>
            <a:ext cx="5669280" cy="969264"/>
          </a:xfrm>
          <a:prstGeom prst="roundRect">
            <a:avLst>
              <a:gd name="adj" fmla="val 5660"/>
            </a:avLst>
          </a:prstGeom>
          <a:solidFill>
            <a:srgbClr val="F3F0F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86384" y="2084832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8C2F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Friedman (1970)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786384" y="2340864"/>
            <a:ext cx="52120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7A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Ketika CSR dijalankan demi kepentingan diri sendiri, itu bukan CSR sama sekali, melainkan maksimalisasi laba "under the cloak of social responsibility".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3017520"/>
            <a:ext cx="5669280" cy="969264"/>
          </a:xfrm>
          <a:prstGeom prst="roundRect">
            <a:avLst>
              <a:gd name="adj" fmla="val 5660"/>
            </a:avLst>
          </a:prstGeom>
          <a:solidFill>
            <a:srgbClr val="F3F0F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86384" y="3145536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8C2F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Banerjee (2007)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786384" y="3401568"/>
            <a:ext cx="52120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7A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CSR hanya membantu melegitimasi aktivitas korporasi dan mengonsolidasikan kekuasaan perusahaan besar.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4078224"/>
            <a:ext cx="5669280" cy="969264"/>
          </a:xfrm>
          <a:prstGeom prst="roundRect">
            <a:avLst>
              <a:gd name="adj" fmla="val 5660"/>
            </a:avLst>
          </a:prstGeom>
          <a:solidFill>
            <a:srgbClr val="F3F0F1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86384" y="4206240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8C2F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Fleming &amp; Jones (2012)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786384" y="4462272"/>
            <a:ext cx="52120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7A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Gagasan bahwa perusahaan bisa mengejar laba sekaligus bertanggung jawab sosial hanyalah mitos — CSR menopang, bukan menantang, sistem kapitalis yang ada. Mereka menyebutnya "the end of CSR".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5138928"/>
            <a:ext cx="5669280" cy="969264"/>
          </a:xfrm>
          <a:prstGeom prst="roundRect">
            <a:avLst>
              <a:gd name="adj" fmla="val 5660"/>
            </a:avLst>
          </a:prstGeom>
          <a:solidFill>
            <a:srgbClr val="F3F0F1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86384" y="5266944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8C2F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Costas &amp; Kärreman (2013)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786384" y="5522976"/>
            <a:ext cx="52120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7A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Pada level mikro, CSR dipakai sebagai mekanisme mengendalikan karyawan dengan mengikat nurani etis mereka pada aktivitas organisasi.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629400" y="1572768"/>
            <a:ext cx="4983480" cy="4224528"/>
          </a:xfrm>
          <a:prstGeom prst="roundRect">
            <a:avLst>
              <a:gd name="adj" fmla="val 1299"/>
            </a:avLst>
          </a:prstGeom>
          <a:solidFill>
            <a:srgbClr val="451A28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903720" y="1773936"/>
            <a:ext cx="4434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E4B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SATU RESPONS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6903720" y="2048256"/>
            <a:ext cx="4434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Creating Shared Value</a:t>
            </a:r>
            <a:endParaRPr lang="en-US" sz="2200" dirty="0"/>
          </a:p>
        </p:txBody>
      </p:sp>
      <p:sp>
        <p:nvSpPr>
          <p:cNvPr id="20" name="Text 18"/>
          <p:cNvSpPr txBox="1"/>
          <p:nvPr/>
        </p:nvSpPr>
        <p:spPr>
          <a:xfrm>
            <a:off x="6903720" y="2487168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7AA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Porter &amp; Kramer (2006) menawarkan tiga jalan: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903720" y="2852928"/>
            <a:ext cx="329184" cy="329184"/>
          </a:xfrm>
          <a:prstGeom prst="ellipse">
            <a:avLst/>
          </a:prstGeom>
          <a:solidFill>
            <a:srgbClr val="C8952B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903720" y="28529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41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7360920" y="2834640"/>
            <a:ext cx="3977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Menata ulang produk dan pasar — melayani konsumen sekaligus berkontribusi pada kebaikan bersama.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903720" y="3639312"/>
            <a:ext cx="329184" cy="329184"/>
          </a:xfrm>
          <a:prstGeom prst="ellipse">
            <a:avLst/>
          </a:prstGeom>
          <a:solidFill>
            <a:srgbClr val="C8952B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6903720" y="363931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41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7360920" y="3621024"/>
            <a:ext cx="3977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Mendefinisikan ulang produktivitas rantai nilai — memperkuat kapabilitas sosial, lingkungan, dan ekonomi para pemasok.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6903720" y="4425696"/>
            <a:ext cx="329184" cy="329184"/>
          </a:xfrm>
          <a:prstGeom prst="ellipse">
            <a:avLst/>
          </a:prstGeom>
          <a:solidFill>
            <a:srgbClr val="C8952B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6903720" y="442569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41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7360920" y="4407408"/>
            <a:ext cx="3977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Memungkinkan pengembangan klaster lokal, sehingga berbagai tujuan pembangunan tercapai lewat kolaborasi setempat.</a:t>
            </a:r>
            <a:endParaRPr lang="en-US" sz="1150" dirty="0"/>
          </a:p>
        </p:txBody>
      </p:sp>
      <p:sp>
        <p:nvSpPr>
          <p:cNvPr id="30" name="Text 28"/>
          <p:cNvSpPr txBox="1"/>
          <p:nvPr/>
        </p:nvSpPr>
        <p:spPr>
          <a:xfrm>
            <a:off x="6903720" y="5230368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050" b="1" dirty="0">
                <a:solidFill>
                  <a:srgbClr val="E4B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Kritik balik — Crane et al. (2014): </a:t>
            </a:r>
            <a:pPr indent="0" marL="0">
              <a:lnSpc>
                <a:spcPct val="102000"/>
              </a:lnSpc>
              <a:buNone/>
            </a:pPr>
            <a:r>
              <a:rPr lang="en-US" sz="1050" i="1" dirty="0">
                <a:solidFill>
                  <a:srgbClr val="C7AA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"CSV dan kekurangannya adalah pengingat keras bahwa tugas memahami perusahaan sebagai usaha bermaksud jamak masih belum terselesaikan."</a:t>
            </a:r>
            <a:endParaRPr lang="en-US" sz="1050" dirty="0"/>
          </a:p>
        </p:txBody>
      </p:sp>
      <p:sp>
        <p:nvSpPr>
          <p:cNvPr id="31" name="Text 29"/>
          <p:cNvSpPr txBox="1"/>
          <p:nvPr/>
        </p:nvSpPr>
        <p:spPr>
          <a:xfrm>
            <a:off x="548640" y="637336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80" kern="0" dirty="0">
                <a:solidFill>
                  <a:srgbClr val="7A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Kerangka 1 · CSR</a:t>
            </a:r>
            <a:endParaRPr lang="en-US" sz="950" dirty="0"/>
          </a:p>
        </p:txBody>
      </p:sp>
      <p:sp>
        <p:nvSpPr>
          <p:cNvPr id="32" name="Text 30"/>
          <p:cNvSpPr txBox="1"/>
          <p:nvPr/>
        </p:nvSpPr>
        <p:spPr>
          <a:xfrm>
            <a:off x="10607040" y="637336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8C2F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451A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280160"/>
            <a:ext cx="4023360" cy="4023360"/>
          </a:xfrm>
          <a:prstGeom prst="ellipse">
            <a:avLst/>
          </a:prstGeom>
          <a:solidFill>
            <a:srgbClr val="A85541"/>
          </a:solidFill>
          <a:ln/>
        </p:spPr>
      </p:sp>
      <p:sp>
        <p:nvSpPr>
          <p:cNvPr id="3" name="Shape 1"/>
          <p:cNvSpPr/>
          <p:nvPr/>
        </p:nvSpPr>
        <p:spPr>
          <a:xfrm>
            <a:off x="9052560" y="3566160"/>
            <a:ext cx="2194560" cy="2194560"/>
          </a:xfrm>
          <a:prstGeom prst="ellipse">
            <a:avLst/>
          </a:prstGeom>
          <a:solidFill>
            <a:srgbClr val="8C2F39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2084832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20" kern="0" dirty="0">
                <a:solidFill>
                  <a:srgbClr val="E4B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KERANGKA 2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450592"/>
            <a:ext cx="8229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4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Stakeholder Theory</a:t>
            </a:r>
            <a:endParaRPr lang="en-US" sz="4200" dirty="0"/>
          </a:p>
          <a:p>
            <a:pPr indent="0" marL="0">
              <a:lnSpc>
                <a:spcPct val="94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 the Firm</a:t>
            </a:r>
            <a:endParaRPr lang="en-US" sz="4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4133088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C7AA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Berbeda dari CSR yang berangkat dari perusahaan dan tanggung jawabnya,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C7AA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pendekatan stakeholder berangkat dari kelompok-kelompok kepada siapa perusahaan bertanggung jawab.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37336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80" kern="0" dirty="0">
                <a:solidFill>
                  <a:srgbClr val="C7AA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Framing Business Ethics · Bab 2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10607040" y="637336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E4B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8C2F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EDWARD FREEMAN (1984)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100" b="1" dirty="0">
                <a:solidFill>
                  <a:srgbClr val="241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Siapa yang Disebut Stakeholder?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11064240" cy="1298448"/>
          </a:xfrm>
          <a:prstGeom prst="roundRect">
            <a:avLst>
              <a:gd name="adj" fmla="val 4225"/>
            </a:avLst>
          </a:prstGeom>
          <a:solidFill>
            <a:srgbClr val="451A2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77824" y="190195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E4B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DEFINISI DALAM BUKU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877824" y="2176272"/>
            <a:ext cx="10332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65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"Individu atau kelompok yang, dalam konteks situasi tertentu, dirugikan oleh atau memperoleh manfaat dari korporasi, atau yang haknya harus dihormati oleh korporasi."</a:t>
            </a:r>
            <a:endParaRPr lang="en-US" sz="16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218688"/>
            <a:ext cx="5669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41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Dua prinsip penentu (Evan &amp; Freeman 1993)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3602736"/>
            <a:ext cx="5669280" cy="914400"/>
          </a:xfrm>
          <a:prstGeom prst="roundRect">
            <a:avLst>
              <a:gd name="adj" fmla="val 6000"/>
            </a:avLst>
          </a:prstGeom>
          <a:solidFill>
            <a:srgbClr val="F3F0F1"/>
          </a:solidFill>
          <a:ln/>
        </p:spPr>
      </p:sp>
      <p:sp>
        <p:nvSpPr>
          <p:cNvPr id="9" name="Shape 7"/>
          <p:cNvSpPr/>
          <p:nvPr/>
        </p:nvSpPr>
        <p:spPr>
          <a:xfrm>
            <a:off x="786384" y="3858768"/>
            <a:ext cx="402336" cy="402336"/>
          </a:xfrm>
          <a:prstGeom prst="ellipse">
            <a:avLst/>
          </a:prstGeom>
          <a:solidFill>
            <a:srgbClr val="8C2F39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86384" y="385876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335024" y="3749040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4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Principle of corporate rights</a:t>
            </a:r>
            <a:endParaRPr lang="en-U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1335024" y="4041648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7A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Korporasi berkewajiban untuk tidak melanggar hak pihak lain.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4608576"/>
            <a:ext cx="5669280" cy="914400"/>
          </a:xfrm>
          <a:prstGeom prst="roundRect">
            <a:avLst>
              <a:gd name="adj" fmla="val 6000"/>
            </a:avLst>
          </a:prstGeom>
          <a:solidFill>
            <a:srgbClr val="F3F0F1"/>
          </a:solidFill>
          <a:ln/>
        </p:spPr>
      </p:sp>
      <p:sp>
        <p:nvSpPr>
          <p:cNvPr id="14" name="Shape 12"/>
          <p:cNvSpPr/>
          <p:nvPr/>
        </p:nvSpPr>
        <p:spPr>
          <a:xfrm>
            <a:off x="786384" y="4864608"/>
            <a:ext cx="402336" cy="402336"/>
          </a:xfrm>
          <a:prstGeom prst="ellipse">
            <a:avLst/>
          </a:prstGeom>
          <a:solidFill>
            <a:srgbClr val="A85541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86384" y="486460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1335024" y="4754880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4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Principle of corporate effect</a:t>
            </a:r>
            <a:endParaRPr lang="en-US" sz="1350" dirty="0"/>
          </a:p>
        </p:txBody>
      </p:sp>
      <p:sp>
        <p:nvSpPr>
          <p:cNvPr id="17" name="Text 15"/>
          <p:cNvSpPr txBox="1"/>
          <p:nvPr/>
        </p:nvSpPr>
        <p:spPr>
          <a:xfrm>
            <a:off x="1335024" y="5047488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7A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Korporasi bertanggung jawab atas dampak tindakannya terhadap pihak lain.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5632704"/>
            <a:ext cx="5669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150" i="1" dirty="0">
                <a:solidFill>
                  <a:srgbClr val="8C2F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Karena itu, cakupan stakeholder berbeda dari satu perusahaan ke perusahaan lain — bahkan berbeda bagi perusahaan yang sama dalam situasi, tugas, atau proyek yang berbeda.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6629400" y="3218688"/>
            <a:ext cx="4983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41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Perkembangan definisi (Tabel 2.4)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6629400" y="3602736"/>
            <a:ext cx="4983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8C2F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Stanford memo (1963)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6629400" y="3840480"/>
            <a:ext cx="4983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i="1" dirty="0">
                <a:solidFill>
                  <a:srgbClr val="7A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"kelompok yang tanpa dukungannya organisasi akan berhenti eksis"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6629400" y="4297680"/>
            <a:ext cx="4983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8C2F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Freeman (1984)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6629400" y="4535424"/>
            <a:ext cx="4983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i="1" dirty="0">
                <a:solidFill>
                  <a:srgbClr val="7A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"dapat memengaruhi atau dipengaruhi oleh pencapaian tujuan organisasi"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6629400" y="4992624"/>
            <a:ext cx="4983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8C2F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Hill &amp; Jones (1992)</a:t>
            </a:r>
            <a:endParaRPr lang="en-US" sz="1150" dirty="0"/>
          </a:p>
        </p:txBody>
      </p:sp>
      <p:sp>
        <p:nvSpPr>
          <p:cNvPr id="25" name="Text 23"/>
          <p:cNvSpPr txBox="1"/>
          <p:nvPr/>
        </p:nvSpPr>
        <p:spPr>
          <a:xfrm>
            <a:off x="6629400" y="5230368"/>
            <a:ext cx="4983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i="1" dirty="0">
                <a:solidFill>
                  <a:srgbClr val="7A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"konstituen dengan klaim sah atas perusahaan melalui hubungan pertukaran"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6629400" y="5687568"/>
            <a:ext cx="4983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8C2F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Clarkson (1995)</a:t>
            </a:r>
            <a:endParaRPr lang="en-US" sz="1150" dirty="0"/>
          </a:p>
        </p:txBody>
      </p:sp>
      <p:sp>
        <p:nvSpPr>
          <p:cNvPr id="27" name="Text 25"/>
          <p:cNvSpPr txBox="1"/>
          <p:nvPr/>
        </p:nvSpPr>
        <p:spPr>
          <a:xfrm>
            <a:off x="6629400" y="5925312"/>
            <a:ext cx="4983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i="1" dirty="0">
                <a:solidFill>
                  <a:srgbClr val="7A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"memiliki, atau mengklaim, kepemilikan, hak, atau kepentingan atas korporasi dan aktivitasnya"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548640" y="637336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80" kern="0" dirty="0">
                <a:solidFill>
                  <a:srgbClr val="7A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Kerangka 2 · Stakeholder</a:t>
            </a:r>
            <a:endParaRPr lang="en-US" sz="950" dirty="0"/>
          </a:p>
        </p:txBody>
      </p:sp>
      <p:sp>
        <p:nvSpPr>
          <p:cNvPr id="29" name="Text 27"/>
          <p:cNvSpPr txBox="1"/>
          <p:nvPr/>
        </p:nvSpPr>
        <p:spPr>
          <a:xfrm>
            <a:off x="10607040" y="637336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8C2F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8C2F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2.3 · STAKEHOLDER THEORIES OF THE FIRM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2800" b="1" dirty="0">
                <a:solidFill>
                  <a:srgbClr val="241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Dari Perusahaan Milik Pemegang Saham ke Jejaring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474720" y="2564892"/>
            <a:ext cx="0" cy="1412748"/>
          </a:xfrm>
          <a:prstGeom prst="line">
            <a:avLst/>
          </a:prstGeom>
          <a:noFill/>
          <a:ln w="19050">
            <a:solidFill>
              <a:srgbClr val="DED7D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flipV="1">
            <a:off x="3474720" y="3314700"/>
            <a:ext cx="1805940" cy="662940"/>
          </a:xfrm>
          <a:prstGeom prst="line">
            <a:avLst/>
          </a:prstGeom>
          <a:noFill/>
          <a:ln w="19050">
            <a:solidFill>
              <a:srgbClr val="DED7D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474720" y="3977640"/>
            <a:ext cx="1805940" cy="672084"/>
          </a:xfrm>
          <a:prstGeom prst="line">
            <a:avLst/>
          </a:prstGeom>
          <a:noFill/>
          <a:ln w="19050">
            <a:solidFill>
              <a:srgbClr val="DED7D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474720" y="3977640"/>
            <a:ext cx="0" cy="1403604"/>
          </a:xfrm>
          <a:prstGeom prst="line">
            <a:avLst/>
          </a:prstGeom>
          <a:noFill/>
          <a:ln w="19050">
            <a:solidFill>
              <a:srgbClr val="DED7D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flipV="1">
            <a:off x="1714500" y="3977640"/>
            <a:ext cx="1760220" cy="672084"/>
          </a:xfrm>
          <a:prstGeom prst="line">
            <a:avLst/>
          </a:prstGeom>
          <a:noFill/>
          <a:ln w="19050">
            <a:solidFill>
              <a:srgbClr val="DED7D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714500" y="3314700"/>
            <a:ext cx="1760220" cy="662940"/>
          </a:xfrm>
          <a:prstGeom prst="line">
            <a:avLst/>
          </a:prstGeom>
          <a:noFill/>
          <a:ln w="19050">
            <a:solidFill>
              <a:srgbClr val="DED7D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674620" y="2359152"/>
            <a:ext cx="1600200" cy="411480"/>
          </a:xfrm>
          <a:prstGeom prst="roundRect">
            <a:avLst>
              <a:gd name="adj" fmla="val 44444"/>
            </a:avLst>
          </a:prstGeom>
          <a:solidFill>
            <a:srgbClr val="E9E2E5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2674620" y="2359152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4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Pemegang saham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480560" y="3108960"/>
            <a:ext cx="1600200" cy="411480"/>
          </a:xfrm>
          <a:prstGeom prst="roundRect">
            <a:avLst>
              <a:gd name="adj" fmla="val 44444"/>
            </a:avLst>
          </a:prstGeom>
          <a:solidFill>
            <a:srgbClr val="E9E2E5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480560" y="310896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4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Karyawan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480560" y="4443984"/>
            <a:ext cx="1600200" cy="411480"/>
          </a:xfrm>
          <a:prstGeom prst="roundRect">
            <a:avLst>
              <a:gd name="adj" fmla="val 44444"/>
            </a:avLst>
          </a:prstGeom>
          <a:solidFill>
            <a:srgbClr val="E9E2E5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4480560" y="4443984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4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Konsumen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674620" y="5175504"/>
            <a:ext cx="1600200" cy="411480"/>
          </a:xfrm>
          <a:prstGeom prst="roundRect">
            <a:avLst>
              <a:gd name="adj" fmla="val 44444"/>
            </a:avLst>
          </a:prstGeom>
          <a:solidFill>
            <a:srgbClr val="E9E2E5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2674620" y="5175504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4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Pemasok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914400" y="4443984"/>
            <a:ext cx="1600200" cy="411480"/>
          </a:xfrm>
          <a:prstGeom prst="roundRect">
            <a:avLst>
              <a:gd name="adj" fmla="val 44444"/>
            </a:avLst>
          </a:prstGeom>
          <a:solidFill>
            <a:srgbClr val="E9E2E5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914400" y="4443984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4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Masyarakat sipil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914400" y="3108960"/>
            <a:ext cx="1600200" cy="411480"/>
          </a:xfrm>
          <a:prstGeom prst="roundRect">
            <a:avLst>
              <a:gd name="adj" fmla="val 44444"/>
            </a:avLst>
          </a:prstGeom>
          <a:solidFill>
            <a:srgbClr val="E9E2E5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914400" y="310896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4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Pemerintah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2761488" y="3264408"/>
            <a:ext cx="1426464" cy="1426464"/>
          </a:xfrm>
          <a:prstGeom prst="ellipse">
            <a:avLst/>
          </a:prstGeom>
          <a:solidFill>
            <a:srgbClr val="8C2F39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2761488" y="3264408"/>
            <a:ext cx="1426464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PERUSAHAAN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640080" y="5705856"/>
            <a:ext cx="5760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3000"/>
              </a:lnSpc>
              <a:buNone/>
            </a:pPr>
            <a:r>
              <a:rPr lang="en-US" sz="1100" i="1" dirty="0">
                <a:solidFill>
                  <a:srgbClr val="7A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stakeholder (Freeman 1984): perusahaan berada di pusat serangkaian hubungan dua arah yang saling bergantung.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629400" y="1645920"/>
            <a:ext cx="4983480" cy="1408176"/>
          </a:xfrm>
          <a:prstGeom prst="roundRect">
            <a:avLst>
              <a:gd name="adj" fmla="val 3896"/>
            </a:avLst>
          </a:prstGeom>
          <a:solidFill>
            <a:srgbClr val="F3F0F1"/>
          </a:solidFill>
          <a:ln/>
        </p:spPr>
      </p:sp>
      <p:sp>
        <p:nvSpPr>
          <p:cNvPr id="26" name="Shape 24"/>
          <p:cNvSpPr/>
          <p:nvPr/>
        </p:nvSpPr>
        <p:spPr>
          <a:xfrm>
            <a:off x="6867144" y="1847088"/>
            <a:ext cx="402336" cy="402336"/>
          </a:xfrm>
          <a:prstGeom prst="ellipse">
            <a:avLst/>
          </a:prstGeom>
          <a:solidFill>
            <a:srgbClr val="7A6E72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6867144" y="184708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7415784" y="1847088"/>
            <a:ext cx="3977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41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manajerial tradisional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6867144" y="2322576"/>
            <a:ext cx="4526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7A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Pemasok, karyawan, dan pemegang saham memasok sumber daya; perusahaan mengubahnya menjadi produk bagi konsumen. Pemegang saham adalah "pemilik", sehingga kepentingan merekalah yang diutamakan.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629400" y="3108960"/>
            <a:ext cx="4983480" cy="1408176"/>
          </a:xfrm>
          <a:prstGeom prst="roundRect">
            <a:avLst>
              <a:gd name="adj" fmla="val 3896"/>
            </a:avLst>
          </a:prstGeom>
          <a:solidFill>
            <a:srgbClr val="E9E2E5"/>
          </a:solidFill>
          <a:ln/>
        </p:spPr>
      </p:sp>
      <p:sp>
        <p:nvSpPr>
          <p:cNvPr id="31" name="Shape 29"/>
          <p:cNvSpPr/>
          <p:nvPr/>
        </p:nvSpPr>
        <p:spPr>
          <a:xfrm>
            <a:off x="6867144" y="3310128"/>
            <a:ext cx="402336" cy="402336"/>
          </a:xfrm>
          <a:prstGeom prst="ellipse">
            <a:avLst/>
          </a:prstGeom>
          <a:solidFill>
            <a:srgbClr val="8C2F39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6867144" y="331012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7415784" y="3310128"/>
            <a:ext cx="3977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41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stakeholder</a:t>
            </a:r>
            <a:endParaRPr lang="en-US" sz="1400" dirty="0"/>
          </a:p>
        </p:txBody>
      </p:sp>
      <p:sp>
        <p:nvSpPr>
          <p:cNvPr id="34" name="Text 32"/>
          <p:cNvSpPr txBox="1"/>
          <p:nvPr/>
        </p:nvSpPr>
        <p:spPr>
          <a:xfrm>
            <a:off x="6867144" y="3785616"/>
            <a:ext cx="4526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7A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Pemegang saham hanyalah satu kelompok di antara banyak kelompok lain. Perusahaan berkewajiban kepada seluruh konstituen yang terpengaruh aktivitasnya. Inilah dasar pemahaman kita tentang CSR.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629400" y="4572000"/>
            <a:ext cx="4983480" cy="1408176"/>
          </a:xfrm>
          <a:prstGeom prst="roundRect">
            <a:avLst>
              <a:gd name="adj" fmla="val 3896"/>
            </a:avLst>
          </a:prstGeom>
          <a:solidFill>
            <a:srgbClr val="F3F0F1"/>
          </a:solidFill>
          <a:ln/>
        </p:spPr>
      </p:sp>
      <p:sp>
        <p:nvSpPr>
          <p:cNvPr id="36" name="Shape 34"/>
          <p:cNvSpPr/>
          <p:nvPr/>
        </p:nvSpPr>
        <p:spPr>
          <a:xfrm>
            <a:off x="6867144" y="4773168"/>
            <a:ext cx="402336" cy="402336"/>
          </a:xfrm>
          <a:prstGeom prst="ellipse">
            <a:avLst/>
          </a:prstGeom>
          <a:solidFill>
            <a:srgbClr val="A85541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6867144" y="477316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1400" dirty="0"/>
          </a:p>
        </p:txBody>
      </p:sp>
      <p:sp>
        <p:nvSpPr>
          <p:cNvPr id="38" name="Text 36"/>
          <p:cNvSpPr txBox="1"/>
          <p:nvPr/>
        </p:nvSpPr>
        <p:spPr>
          <a:xfrm>
            <a:off x="7415784" y="4773168"/>
            <a:ext cx="3977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41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jejaring (Rowley 1997)</a:t>
            </a:r>
            <a:endParaRPr lang="en-US" sz="1400" dirty="0"/>
          </a:p>
        </p:txBody>
      </p:sp>
      <p:sp>
        <p:nvSpPr>
          <p:cNvPr id="39" name="Text 37"/>
          <p:cNvSpPr txBox="1"/>
          <p:nvPr/>
        </p:nvSpPr>
        <p:spPr>
          <a:xfrm>
            <a:off x="6867144" y="5248656"/>
            <a:ext cx="4526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7A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Setiap stakeholder juga punya stakeholder-nya sendiri, dan punya kewajiban terhadap stakeholder lain dari perusahaan yang sama. Hubungan menjadi berlapis dan tidak langsung.</a:t>
            </a:r>
            <a:endParaRPr lang="en-US" sz="1100" dirty="0"/>
          </a:p>
        </p:txBody>
      </p:sp>
      <p:sp>
        <p:nvSpPr>
          <p:cNvPr id="40" name="Text 38"/>
          <p:cNvSpPr txBox="1"/>
          <p:nvPr/>
        </p:nvSpPr>
        <p:spPr>
          <a:xfrm>
            <a:off x="548640" y="637336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80" kern="0" dirty="0">
                <a:solidFill>
                  <a:srgbClr val="7A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Kerangka 2 · Stakeholder</a:t>
            </a:r>
            <a:endParaRPr lang="en-US" sz="950" dirty="0"/>
          </a:p>
        </p:txBody>
      </p:sp>
      <p:sp>
        <p:nvSpPr>
          <p:cNvPr id="41" name="Text 39"/>
          <p:cNvSpPr txBox="1"/>
          <p:nvPr/>
        </p:nvSpPr>
        <p:spPr>
          <a:xfrm>
            <a:off x="10607040" y="637336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8C2F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8C2F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STAKEHOLDERS MATTER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100" b="1" dirty="0">
                <a:solidFill>
                  <a:srgbClr val="241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Dua Alasan Kelompok Lain Punya Klaim Sah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26464"/>
            <a:ext cx="10607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i="1" dirty="0">
                <a:solidFill>
                  <a:srgbClr val="7A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Teori stakeholder harus menjawab keberatan Friedman: mengapa kelompok selain pemegang saham berhak menuntut perusahaan?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121408"/>
            <a:ext cx="5440680" cy="2139696"/>
          </a:xfrm>
          <a:prstGeom prst="roundRect">
            <a:avLst>
              <a:gd name="adj" fmla="val 2564"/>
            </a:avLst>
          </a:prstGeom>
          <a:solidFill>
            <a:srgbClr val="F3F0F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2322576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8C2F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PERSPEKTIF HUKUM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615184"/>
            <a:ext cx="4892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41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Klaim mereka sudah terlindungi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980944"/>
            <a:ext cx="489204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7A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Secara faktual tidak benar bahwa hanya pemegang saham yang punya kepentingan sah. Ada kontrak yang mengikat, ditambah jaringan hukum dan regulasi yang makin rapat — misalnya perlindungan hak pekerja atas kondisi kerja dan upah. Dari sudut pandang etis, sudah disepakati bahwa korporasi memikul kewajiban terhadap mereka.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172200" y="2121408"/>
            <a:ext cx="5440680" cy="2139696"/>
          </a:xfrm>
          <a:prstGeom prst="roundRect">
            <a:avLst>
              <a:gd name="adj" fmla="val 2564"/>
            </a:avLst>
          </a:prstGeom>
          <a:solidFill>
            <a:srgbClr val="F3F0F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446520" y="2322576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A85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PERSPEKTIF EKONOMI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6446520" y="2615184"/>
            <a:ext cx="4892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41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Masalah keagenan (agency problem)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6446520" y="2980944"/>
            <a:ext cx="489204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7A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Mayoritas pemegang saham tidak membeli saham untuk "memiliki" perusahaan. Banyak yang membeli untuk alasan spekulatif — yang mereka pedulikan adalah pergerakan harga saham. Maka tidak jelas mengapa kepentingan jangka pendek itu harus mengungguli kepentingan jangka panjang konsumen, karyawan, dan pemasok.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4443984"/>
            <a:ext cx="5440680" cy="1316736"/>
          </a:xfrm>
          <a:prstGeom prst="roundRect">
            <a:avLst>
              <a:gd name="adj" fmla="val 4167"/>
            </a:avLst>
          </a:prstGeom>
          <a:solidFill>
            <a:srgbClr val="451A28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22960" y="4626864"/>
            <a:ext cx="4892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"Most shareholders can sell their stocks far more easily than most employees can find another job."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822960" y="5376672"/>
            <a:ext cx="4892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4B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Sumantra Ghoshal (2005: 80)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172200" y="4443984"/>
            <a:ext cx="5440680" cy="1316736"/>
          </a:xfrm>
          <a:prstGeom prst="roundRect">
            <a:avLst>
              <a:gd name="adj" fmla="val 4167"/>
            </a:avLst>
          </a:prstGeom>
          <a:solidFill>
            <a:srgbClr val="451A28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446520" y="4626864"/>
            <a:ext cx="4892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Maksimalisasi shareholder value sebagai strategi adalah "a dumb idea"; konstituen utama Anda adalah karyawan, konsumen, dan produk Anda.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6446520" y="5504688"/>
            <a:ext cx="4892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4B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Jack Welch, eks-CEO General Electric (2009)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637336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80" kern="0" dirty="0">
                <a:solidFill>
                  <a:srgbClr val="7A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Kerangka 2 · Stakeholder</a:t>
            </a:r>
            <a:endParaRPr lang="en-US" sz="950" dirty="0"/>
          </a:p>
        </p:txBody>
      </p:sp>
      <p:sp>
        <p:nvSpPr>
          <p:cNvPr id="20" name="Text 18"/>
          <p:cNvSpPr txBox="1"/>
          <p:nvPr/>
        </p:nvSpPr>
        <p:spPr>
          <a:xfrm>
            <a:off x="10607040" y="637336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8C2F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8C2F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NEW ROLE FOR MANAGEMENT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241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Peran Baru Manajemen &amp; Tiga Bentuk Teori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64208"/>
            <a:ext cx="11064240" cy="1645920"/>
          </a:xfrm>
          <a:prstGeom prst="roundRect">
            <a:avLst>
              <a:gd name="adj" fmla="val 3333"/>
            </a:avLst>
          </a:prstGeom>
          <a:solidFill>
            <a:srgbClr val="E9E2E5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41248" y="1847088"/>
            <a:ext cx="10424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41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Manajemen bukan lagi sekadar agen pemegang saham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841248" y="2194560"/>
            <a:ext cx="1042416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7A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Manajer tetap memikul fiduciary responsibility terhadap pemegang saham, tetapi harus memadukannya dengan kepentingan seluruh stakeholder yang sah demi kelangsungan jangka panjang perusahaan — termasuk pihak yang tidak punya suara untuk membela dirinya sendiri, seperti lingkungan hidup. Dari sinilah muncul gagasan stakeholder democracy: memberi stakeholder kesempatan memengaruhi dan mengendalikan keputusan korporasi, serta corporate governance yang mengodifikasi hak-hak tiap kelompok.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511296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41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Tiga bentuk stakeholder theory (Donaldson &amp; Preston 1995)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3895344"/>
            <a:ext cx="3502152" cy="1828800"/>
          </a:xfrm>
          <a:prstGeom prst="roundRect">
            <a:avLst>
              <a:gd name="adj" fmla="val 3000"/>
            </a:avLst>
          </a:prstGeom>
          <a:solidFill>
            <a:srgbClr val="F3F0F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04672" y="4059936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8C2F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SEHARUSNYA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804672" y="4334256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41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Normatif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804672" y="4773168"/>
            <a:ext cx="301752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7A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Teori yang berusaha memberi alasan mengapa korporasi seharusnya memperhitungkan kepentingan stakeholder.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329684" y="3895344"/>
            <a:ext cx="3502152" cy="1828800"/>
          </a:xfrm>
          <a:prstGeom prst="roundRect">
            <a:avLst>
              <a:gd name="adj" fmla="val 3000"/>
            </a:avLst>
          </a:prstGeom>
          <a:solidFill>
            <a:srgbClr val="F3F0F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585716" y="4059936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A85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SESUNGGUHNYA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4585716" y="4334256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41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Deskriptif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4585716" y="4773168"/>
            <a:ext cx="301752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7A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Teori yang berusaha memastikan apakah — dan bagaimana — korporasi sesungguhnya memperhitungkan kepentingan stakeholder.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110728" y="3895344"/>
            <a:ext cx="3502152" cy="1828800"/>
          </a:xfrm>
          <a:prstGeom prst="roundRect">
            <a:avLst>
              <a:gd name="adj" fmla="val 3000"/>
            </a:avLst>
          </a:prstGeom>
          <a:solidFill>
            <a:srgbClr val="F3F0F1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366760" y="4059936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5C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MENGUNTUNGKAN?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8366760" y="4334256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41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Instrumental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8366760" y="4773168"/>
            <a:ext cx="301752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7A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Teori yang menjawab apakah memperhitungkan kepentingan stakeholder memang menguntungkan bagi korporasi. Serumpun dengan argumen enlightened self-interest.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5870448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7A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Freeman (1984); Matten &amp; Crane (2005); Donaldson &amp; Preston (1995), dalam Crane et al. (2019), Bab 2, hlm. 63-65.</a:t>
            </a:r>
            <a:endParaRPr lang="en-US" sz="95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637336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80" kern="0" dirty="0">
                <a:solidFill>
                  <a:srgbClr val="7A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Kerangka 2 · Stakeholder</a:t>
            </a:r>
            <a:endParaRPr lang="en-US" sz="950" dirty="0"/>
          </a:p>
        </p:txBody>
      </p:sp>
      <p:sp>
        <p:nvSpPr>
          <p:cNvPr id="22" name="Text 20"/>
          <p:cNvSpPr txBox="1"/>
          <p:nvPr/>
        </p:nvSpPr>
        <p:spPr>
          <a:xfrm>
            <a:off x="10607040" y="637336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8C2F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451A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01200" y="1920240"/>
            <a:ext cx="4023360" cy="4023360"/>
          </a:xfrm>
          <a:prstGeom prst="ellipse">
            <a:avLst/>
          </a:prstGeom>
          <a:solidFill>
            <a:srgbClr val="C8952B"/>
          </a:solidFill>
          <a:ln/>
        </p:spPr>
      </p:sp>
      <p:sp>
        <p:nvSpPr>
          <p:cNvPr id="3" name="Shape 1"/>
          <p:cNvSpPr/>
          <p:nvPr/>
        </p:nvSpPr>
        <p:spPr>
          <a:xfrm>
            <a:off x="8412480" y="-1371600"/>
            <a:ext cx="3108960" cy="3108960"/>
          </a:xfrm>
          <a:prstGeom prst="ellipse">
            <a:avLst/>
          </a:prstGeom>
          <a:solidFill>
            <a:srgbClr val="8C2F39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2084832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20" kern="0" dirty="0">
                <a:solidFill>
                  <a:srgbClr val="E4B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KERANGKA 3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450592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Corporate Citizenship</a:t>
            </a:r>
            <a:endParaRPr lang="en-US" sz="4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401568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E4B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firm as a political actor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986784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C7AA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Keberatan ketiga Friedman: urusan sosial adalah tugas negara, bukan manajer.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C7AA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Tetapi bagaimana jika perusahaan sudah terlanjur mengambil peran yang dulu dipegang negara?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637336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80" kern="0" dirty="0">
                <a:solidFill>
                  <a:srgbClr val="C7AA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Framing Business Ethics · Bab 2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10607040" y="637336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E4B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8C2F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MENGAPA BATAS BISNIS DAN NEGARA MENGABUR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2700" b="1" dirty="0">
                <a:solidFill>
                  <a:srgbClr val="241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Tiga Perkembangan yang Menggeser Pembagian Kerja Politik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847088"/>
            <a:ext cx="3502152" cy="3346704"/>
          </a:xfrm>
          <a:prstGeom prst="roundRect">
            <a:avLst>
              <a:gd name="adj" fmla="val 1639"/>
            </a:avLst>
          </a:prstGeom>
          <a:solidFill>
            <a:srgbClr val="F3F0F1"/>
          </a:solidFill>
          <a:ln/>
        </p:spPr>
      </p:sp>
      <p:sp>
        <p:nvSpPr>
          <p:cNvPr id="5" name="Shape 3"/>
          <p:cNvSpPr/>
          <p:nvPr/>
        </p:nvSpPr>
        <p:spPr>
          <a:xfrm>
            <a:off x="804672" y="2066544"/>
            <a:ext cx="493776" cy="493776"/>
          </a:xfrm>
          <a:prstGeom prst="ellipse">
            <a:avLst/>
          </a:prstGeom>
          <a:solidFill>
            <a:srgbClr val="8C2F39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04672" y="2066544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408176" y="2066544"/>
            <a:ext cx="241401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10" kern="0" dirty="0">
                <a:solidFill>
                  <a:srgbClr val="8C2F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PRIVATISASI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804672" y="2688336"/>
            <a:ext cx="301752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241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Pemerintah mundur dari pemenuhan kebutuhan sosial</a:t>
            </a:r>
            <a:endParaRPr lang="en-US" sz="1450" dirty="0"/>
          </a:p>
        </p:txBody>
      </p:sp>
      <p:sp>
        <p:nvSpPr>
          <p:cNvPr id="9" name="Text 7"/>
          <p:cNvSpPr txBox="1"/>
          <p:nvPr/>
        </p:nvSpPr>
        <p:spPr>
          <a:xfrm>
            <a:off x="804672" y="3602736"/>
            <a:ext cx="3017520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7A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Sepanjang abad ke-20 air, listrik, pendidikan, layanan kesehatan, transportasi dasar, keamanan publik, dan telekomunikasi dipandang sebagai yang disediakan negara bagi warganya. Di banyak negara layanan itu kini diprivatisasi dan berada di tangan perusahaan.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329684" y="1847088"/>
            <a:ext cx="3502152" cy="3346704"/>
          </a:xfrm>
          <a:prstGeom prst="roundRect">
            <a:avLst>
              <a:gd name="adj" fmla="val 1639"/>
            </a:avLst>
          </a:prstGeom>
          <a:solidFill>
            <a:srgbClr val="F3F0F1"/>
          </a:solidFill>
          <a:ln/>
        </p:spPr>
      </p:sp>
      <p:sp>
        <p:nvSpPr>
          <p:cNvPr id="11" name="Shape 9"/>
          <p:cNvSpPr/>
          <p:nvPr/>
        </p:nvSpPr>
        <p:spPr>
          <a:xfrm>
            <a:off x="4585716" y="2066544"/>
            <a:ext cx="493776" cy="493776"/>
          </a:xfrm>
          <a:prstGeom prst="ellipse">
            <a:avLst/>
          </a:prstGeom>
          <a:solidFill>
            <a:srgbClr val="A85541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585716" y="2066544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5189220" y="2066544"/>
            <a:ext cx="241401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10" kern="0" dirty="0">
                <a:solidFill>
                  <a:srgbClr val="A85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KEKOSONGAN NEGARA</a:t>
            </a:r>
            <a:endParaRPr lang="en-US" sz="950" dirty="0"/>
          </a:p>
        </p:txBody>
      </p:sp>
      <p:sp>
        <p:nvSpPr>
          <p:cNvPr id="14" name="Text 12"/>
          <p:cNvSpPr txBox="1"/>
          <p:nvPr/>
        </p:nvSpPr>
        <p:spPr>
          <a:xfrm>
            <a:off x="4585716" y="2688336"/>
            <a:ext cx="301752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241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Pemerintah tidak mampu atau tidak mau memenuhinya</a:t>
            </a:r>
            <a:endParaRPr lang="en-US" sz="1450" dirty="0"/>
          </a:p>
        </p:txBody>
      </p:sp>
      <p:sp>
        <p:nvSpPr>
          <p:cNvPr id="15" name="Text 13"/>
          <p:cNvSpPr txBox="1"/>
          <p:nvPr/>
        </p:nvSpPr>
        <p:spPr>
          <a:xfrm>
            <a:off x="4585716" y="3602736"/>
            <a:ext cx="3017520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7A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Terutama di negara berkembang, bisnis berhadapan dengan pemerintah yang kekurangan sumber daya. Perusahaan tambang membangun jalan, perumahan, sekolah, dan rumah sakit bagi komunitas tempatnya beroperasi — perusahaan pun "bermain sebagai pemerintah".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110728" y="1847088"/>
            <a:ext cx="3502152" cy="3346704"/>
          </a:xfrm>
          <a:prstGeom prst="roundRect">
            <a:avLst>
              <a:gd name="adj" fmla="val 1639"/>
            </a:avLst>
          </a:prstGeom>
          <a:solidFill>
            <a:srgbClr val="F3F0F1"/>
          </a:solidFill>
          <a:ln/>
        </p:spPr>
      </p:sp>
      <p:sp>
        <p:nvSpPr>
          <p:cNvPr id="17" name="Shape 15"/>
          <p:cNvSpPr/>
          <p:nvPr/>
        </p:nvSpPr>
        <p:spPr>
          <a:xfrm>
            <a:off x="8366760" y="2066544"/>
            <a:ext cx="493776" cy="493776"/>
          </a:xfrm>
          <a:prstGeom prst="ellipse">
            <a:avLst/>
          </a:prstGeom>
          <a:solidFill>
            <a:srgbClr val="5C7A6B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366760" y="2066544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8970264" y="2066544"/>
            <a:ext cx="241401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10" kern="0" dirty="0">
                <a:solidFill>
                  <a:srgbClr val="5C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BATAS YURISDIKSI</a:t>
            </a:r>
            <a:endParaRPr lang="en-US" sz="950" dirty="0"/>
          </a:p>
        </p:txBody>
      </p:sp>
      <p:sp>
        <p:nvSpPr>
          <p:cNvPr id="20" name="Text 18"/>
          <p:cNvSpPr txBox="1"/>
          <p:nvPr/>
        </p:nvSpPr>
        <p:spPr>
          <a:xfrm>
            <a:off x="8366760" y="2688336"/>
            <a:ext cx="301752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241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Pemerintah hanya menjangkau yang ada dalam kuasanya</a:t>
            </a:r>
            <a:endParaRPr lang="en-US" sz="1450" dirty="0"/>
          </a:p>
        </p:txBody>
      </p:sp>
      <p:sp>
        <p:nvSpPr>
          <p:cNvPr id="21" name="Text 19"/>
          <p:cNvSpPr txBox="1"/>
          <p:nvPr/>
        </p:nvSpPr>
        <p:spPr>
          <a:xfrm>
            <a:off x="8366760" y="3602736"/>
            <a:ext cx="3017520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7A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Pasar keuangan global, iklim planet, dan internet terlalu besar untuk dikendalikan satu pemerintah mana pun. Wilayah-wilayah itu dijalankan oleh bisnis — maka harapan publik pun beralih ke bisnis.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548640" y="5376672"/>
            <a:ext cx="11064240" cy="749808"/>
          </a:xfrm>
          <a:prstGeom prst="roundRect">
            <a:avLst>
              <a:gd name="adj" fmla="val 7317"/>
            </a:avLst>
          </a:prstGeom>
          <a:solidFill>
            <a:srgbClr val="451A28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841248" y="5376672"/>
            <a:ext cx="10424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Akibatnya, bisnis kini menghadapi banyak ekspektasi sosial yang biasanya hanya dialamatkan kepada otoritas politik. Konsep kunci untuk membaca pergeseran ini adalah corporate citizenship.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637336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80" kern="0" dirty="0">
                <a:solidFill>
                  <a:srgbClr val="7A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Kerangka 3 · Corporate Citizenship</a:t>
            </a:r>
            <a:endParaRPr lang="en-US" sz="950" dirty="0"/>
          </a:p>
        </p:txBody>
      </p:sp>
      <p:sp>
        <p:nvSpPr>
          <p:cNvPr id="25" name="Text 23"/>
          <p:cNvSpPr txBox="1"/>
          <p:nvPr/>
        </p:nvSpPr>
        <p:spPr>
          <a:xfrm>
            <a:off x="10607040" y="637336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8C2F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8C2F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CONCEPT OF CORPORATE CITIZENSHIP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2700" b="1" dirty="0">
                <a:solidFill>
                  <a:srgbClr val="241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Tiga Cara Orang Memakai Istilah "Corporate Citizenship"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502152" cy="2304288"/>
          </a:xfrm>
          <a:prstGeom prst="roundRect">
            <a:avLst>
              <a:gd name="adj" fmla="val 2381"/>
            </a:avLst>
          </a:prstGeom>
          <a:solidFill>
            <a:srgbClr val="F3F0F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04672" y="2029968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7A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 ≈ FILANTROPI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804672" y="2304288"/>
            <a:ext cx="3017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41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Limited view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804672" y="2779776"/>
            <a:ext cx="3017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7A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 dipahami terutama sebagai filantropi: perusahaan yang berbudi luhur berbagi kekayaannya dengan "sesama warga".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329684" y="1828800"/>
            <a:ext cx="3502152" cy="2304288"/>
          </a:xfrm>
          <a:prstGeom prst="roundRect">
            <a:avLst>
              <a:gd name="adj" fmla="val 2381"/>
            </a:avLst>
          </a:prstGeom>
          <a:solidFill>
            <a:srgbClr val="F3F0F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585716" y="2029968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A85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 ≈ CSR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4585716" y="2304288"/>
            <a:ext cx="3017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41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Equivalent view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4585716" y="2779776"/>
            <a:ext cx="3017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7A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 dipakai nyaris sinonim dengan CSR — menyamakan perilaku bertetangga yang baik dengan peran bisnis yang bertanggung jawab.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110728" y="1828800"/>
            <a:ext cx="3502152" cy="2304288"/>
          </a:xfrm>
          <a:prstGeom prst="roundRect">
            <a:avLst>
              <a:gd name="adj" fmla="val 2381"/>
            </a:avLst>
          </a:prstGeom>
          <a:solidFill>
            <a:srgbClr val="451A28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366760" y="2029968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E4B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 = PERAN POLITIK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8366760" y="2304288"/>
            <a:ext cx="3017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Extended view</a:t>
            </a:r>
            <a:endParaRPr lang="en-US" sz="1900" dirty="0"/>
          </a:p>
        </p:txBody>
      </p:sp>
      <p:sp>
        <p:nvSpPr>
          <p:cNvPr id="15" name="Text 13"/>
          <p:cNvSpPr txBox="1"/>
          <p:nvPr/>
        </p:nvSpPr>
        <p:spPr>
          <a:xfrm>
            <a:off x="8366760" y="2779776"/>
            <a:ext cx="3017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C7AA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 dibaca sebagai peran korporasi dalam mengelola hak-hak kewarganegaraan individu. Pandangan inilah yang dipakai buku, karena secara sengaja merangkul unsur politik dalam etika bisnis.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4352544"/>
            <a:ext cx="6949440" cy="1755648"/>
          </a:xfrm>
          <a:prstGeom prst="roundRect">
            <a:avLst>
              <a:gd name="adj" fmla="val 3125"/>
            </a:avLst>
          </a:prstGeom>
          <a:solidFill>
            <a:srgbClr val="E9E2E5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22960" y="4535424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41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Titik berangkat extended view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822960" y="4864608"/>
            <a:ext cx="6400800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7A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Korporasi masuk ke arena kewarganegaraan bukan karena berhak atas hak-hak itu selayaknya warga "sungguhan", melainkan sebagai aktor publik berkuasa yang — untuk baik atau buruk — sangat memengaruhi hak warga yang sungguhan. Ketika pemerintah gagal menjalankan sebagian fungsinya, korporasi sebagian mengambil alih fungsi perlindungan, fasilitasi, dan pemungkinan hak-hak warga.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7699248" y="4352544"/>
            <a:ext cx="3913632" cy="1755648"/>
          </a:xfrm>
          <a:prstGeom prst="roundRect">
            <a:avLst>
              <a:gd name="adj" fmla="val 3125"/>
            </a:avLst>
          </a:prstGeom>
          <a:solidFill>
            <a:srgbClr val="C8952B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955280" y="4535424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80" kern="0" dirty="0">
                <a:solidFill>
                  <a:srgbClr val="24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 bersifat DESKRIPTIF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7955280" y="4864608"/>
            <a:ext cx="3401568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3A2A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Kita tidak perlu tahu motifnya untuk menyebut sesuatu sebagai tindakan CC. Konsep ini menggambarkan apa yang memang terjadi, bukan apa yang seharusnya terjadi.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637336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80" kern="0" dirty="0">
                <a:solidFill>
                  <a:srgbClr val="7A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Kerangka 3 · Corporate Citizenship</a:t>
            </a:r>
            <a:endParaRPr lang="en-US" sz="950" dirty="0"/>
          </a:p>
        </p:txBody>
      </p:sp>
      <p:sp>
        <p:nvSpPr>
          <p:cNvPr id="23" name="Text 21"/>
          <p:cNvSpPr txBox="1"/>
          <p:nvPr/>
        </p:nvSpPr>
        <p:spPr>
          <a:xfrm>
            <a:off x="10607040" y="637336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8C2F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8C2F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2.4 · T.H. MARSHALL (1965), MATTEN &amp; CRANE (2005)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2900" b="1" dirty="0">
                <a:solidFill>
                  <a:srgbClr val="241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Tiga Hak Warga dan Peran Korporasi atasnya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773936"/>
            <a:ext cx="3502152" cy="3310128"/>
          </a:xfrm>
          <a:prstGeom prst="roundRect">
            <a:avLst>
              <a:gd name="adj" fmla="val 1657"/>
            </a:avLst>
          </a:prstGeom>
          <a:solidFill>
            <a:srgbClr val="F3F0F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04672" y="1956816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8C2F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Hak sosial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804672" y="2304288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7A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freedom to · hak "positif"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804672" y="2633472"/>
            <a:ext cx="301752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24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Kebebasan untuk berpartisipasi dalam masyarakat: hak atas pendidikan, layanan kesehatan, dan berbagai aspek kesejahteraan.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804672" y="3529584"/>
            <a:ext cx="3017520" cy="402336"/>
          </a:xfrm>
          <a:prstGeom prst="roundRect">
            <a:avLst>
              <a:gd name="adj" fmla="val 18182"/>
            </a:avLst>
          </a:prstGeom>
          <a:solidFill>
            <a:srgbClr val="8C2F39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04672" y="3529584"/>
            <a:ext cx="3017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6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  atau  IGNORER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804672" y="4023360"/>
            <a:ext cx="301752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7A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Perusahaan memberi makan tunawisma, meningkatkan keterampilan kerja penganggur, membangun sekolah dan pusat kesehatan.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329684" y="1773936"/>
            <a:ext cx="3502152" cy="3310128"/>
          </a:xfrm>
          <a:prstGeom prst="roundRect">
            <a:avLst>
              <a:gd name="adj" fmla="val 1657"/>
            </a:avLst>
          </a:prstGeom>
          <a:solidFill>
            <a:srgbClr val="F3F0F1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585716" y="1956816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A85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Hak sipil</a:t>
            </a:r>
            <a:endParaRPr lang="en-US" sz="1900" dirty="0"/>
          </a:p>
        </p:txBody>
      </p:sp>
      <p:sp>
        <p:nvSpPr>
          <p:cNvPr id="13" name="Text 11"/>
          <p:cNvSpPr txBox="1"/>
          <p:nvPr/>
        </p:nvSpPr>
        <p:spPr>
          <a:xfrm>
            <a:off x="4585716" y="2304288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7A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freedom from · hak "negatif"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4585716" y="2633472"/>
            <a:ext cx="301752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24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Kebebasan dari penyalahgunaan dan campur tangan pihak ketiga: hak milik, hak berdagang di pasar bebas, kebebasan berbicara.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585716" y="3529584"/>
            <a:ext cx="3017520" cy="402336"/>
          </a:xfrm>
          <a:prstGeom prst="roundRect">
            <a:avLst>
              <a:gd name="adj" fmla="val 18182"/>
            </a:avLst>
          </a:prstGeom>
          <a:solidFill>
            <a:srgbClr val="A85541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4585716" y="3529584"/>
            <a:ext cx="3017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6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ENABLER  atau  DISABLER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4585716" y="4023360"/>
            <a:ext cx="301752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7A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Perusahaan internet dapat melindungi atau justru melanggar privasi dan kebebasan berekspresi penggunanya.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110728" y="1773936"/>
            <a:ext cx="3502152" cy="3310128"/>
          </a:xfrm>
          <a:prstGeom prst="roundRect">
            <a:avLst>
              <a:gd name="adj" fmla="val 1657"/>
            </a:avLst>
          </a:prstGeom>
          <a:solidFill>
            <a:srgbClr val="F3F0F1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8366760" y="1956816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5C7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Hak politik</a:t>
            </a:r>
            <a:endParaRPr lang="en-US" sz="1900" dirty="0"/>
          </a:p>
        </p:txBody>
      </p:sp>
      <p:sp>
        <p:nvSpPr>
          <p:cNvPr id="20" name="Text 18"/>
          <p:cNvSpPr txBox="1"/>
          <p:nvPr/>
        </p:nvSpPr>
        <p:spPr>
          <a:xfrm>
            <a:off x="8366760" y="2304288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7A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partisipasi dalam tata kelola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8366760" y="2633472"/>
            <a:ext cx="301752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24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Hak memilih, hak memegang jabatan, dan secara umum hak ikut serta dalam proses pemerintahan.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8366760" y="3529584"/>
            <a:ext cx="3017520" cy="402336"/>
          </a:xfrm>
          <a:prstGeom prst="roundRect">
            <a:avLst>
              <a:gd name="adj" fmla="val 18182"/>
            </a:avLst>
          </a:prstGeom>
          <a:solidFill>
            <a:srgbClr val="5C7A6B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8366760" y="3529584"/>
            <a:ext cx="3017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6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  atau  BLOCKAGE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8366760" y="4023360"/>
            <a:ext cx="301752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7A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Warga makin mengarahkan aksi politiknya kepada korporasi, bukan kepada pemerintah — lewat kampanye isu, protes, dan boikot.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48640" y="5285232"/>
            <a:ext cx="11064240" cy="841248"/>
          </a:xfrm>
          <a:prstGeom prst="roundRect">
            <a:avLst>
              <a:gd name="adj" fmla="val 6522"/>
            </a:avLst>
          </a:prstGeom>
          <a:solidFill>
            <a:srgbClr val="451A28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841248" y="539496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E4B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DEFINISI DALAM BUKU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841248" y="5632704"/>
            <a:ext cx="10424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Corporate citizenship — peran korporasi dalam mengelola hak-hak kewarganegaraan individu.</a:t>
            </a:r>
            <a:endParaRPr lang="en-US" sz="1600" dirty="0"/>
          </a:p>
        </p:txBody>
      </p:sp>
      <p:sp>
        <p:nvSpPr>
          <p:cNvPr id="28" name="Text 26"/>
          <p:cNvSpPr txBox="1"/>
          <p:nvPr/>
        </p:nvSpPr>
        <p:spPr>
          <a:xfrm>
            <a:off x="548640" y="637336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80" kern="0" dirty="0">
                <a:solidFill>
                  <a:srgbClr val="7A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Kerangka 3 · Corporate Citizenship</a:t>
            </a:r>
            <a:endParaRPr lang="en-US" sz="950" dirty="0"/>
          </a:p>
        </p:txBody>
      </p:sp>
      <p:sp>
        <p:nvSpPr>
          <p:cNvPr id="29" name="Text 27"/>
          <p:cNvSpPr txBox="1"/>
          <p:nvPr/>
        </p:nvSpPr>
        <p:spPr>
          <a:xfrm>
            <a:off x="10607040" y="637336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8C2F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8C2F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IMPLICATIONS OF CORPORATE CITIZENSHIP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100" b="1" dirty="0">
                <a:solidFill>
                  <a:srgbClr val="241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Akuntabilitas dan Transparansi Korporasi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26464"/>
            <a:ext cx="11064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i="1" dirty="0">
                <a:solidFill>
                  <a:srgbClr val="7A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Pertanyaan pokoknya: apakah keterlibatan politik perusahaan merupakan ancaman bagi demokrasi?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029968"/>
            <a:ext cx="5440680" cy="2194560"/>
          </a:xfrm>
          <a:prstGeom prst="roundRect">
            <a:avLst>
              <a:gd name="adj" fmla="val 2500"/>
            </a:avLst>
          </a:prstGeom>
          <a:solidFill>
            <a:srgbClr val="F3F0F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2212848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30" kern="0" dirty="0">
                <a:solidFill>
                  <a:srgbClr val="8C2F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CORPORATE ACCOUNTABILITY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505456"/>
            <a:ext cx="4892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241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Siapa mengendalikan korporasi, dan kepada siapa korporasi akuntabel?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108960"/>
            <a:ext cx="489204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7A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Banyak keputusan penting kini tidak lagi diambil pemerintah — dan karenanya tidak lagi oleh pemilih — melainkan oleh korporasi yang tidak melalui pemungutan suara. Karena korporasi membentuk begitu banyak kehidupan publik dan privat, mereka sudah menjadi aktor politik de facto.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172200" y="2029968"/>
            <a:ext cx="5440680" cy="2194560"/>
          </a:xfrm>
          <a:prstGeom prst="roundRect">
            <a:avLst>
              <a:gd name="adj" fmla="val 2500"/>
            </a:avLst>
          </a:prstGeom>
          <a:solidFill>
            <a:srgbClr val="F3F0F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446520" y="2212848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30" kern="0" dirty="0">
                <a:solidFill>
                  <a:srgbClr val="5C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CORPORATE TRANSPARENCY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6446520" y="2505456"/>
            <a:ext cx="48920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241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Sejauh mana keputusan, kebijakan, aktivitas, dan dampak korporasi diakui dan dibuat terlihat oleh stakeholder yang relevan.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6446520" y="3346704"/>
            <a:ext cx="4892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7A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Hanya jika stakeholder tahu apa yang dilakukan perusahaan, mereka dapat berupaya mengubah perilakunya — atau berhenti mendukungnya. Transparansi bukan obat mujarab, tetapi kini menjadi keharusan.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4407408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41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Tiga elemen kualitas transparansi (Schnackenberg &amp; Tomlinson 2014)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548640" y="4791456"/>
            <a:ext cx="3502152" cy="1042416"/>
          </a:xfrm>
          <a:prstGeom prst="roundRect">
            <a:avLst>
              <a:gd name="adj" fmla="val 5263"/>
            </a:avLst>
          </a:prstGeom>
          <a:solidFill>
            <a:srgbClr val="E9E2E5"/>
          </a:solidFill>
          <a:ln/>
        </p:spPr>
      </p:sp>
      <p:sp>
        <p:nvSpPr>
          <p:cNvPr id="15" name="Shape 13"/>
          <p:cNvSpPr/>
          <p:nvPr/>
        </p:nvSpPr>
        <p:spPr>
          <a:xfrm>
            <a:off x="804672" y="4974336"/>
            <a:ext cx="365760" cy="365760"/>
          </a:xfrm>
          <a:prstGeom prst="ellipse">
            <a:avLst/>
          </a:prstGeom>
          <a:solidFill>
            <a:srgbClr val="8C2F39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04672" y="49743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1298448" y="4974336"/>
            <a:ext cx="2523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41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Disclosure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804672" y="539496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7A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Apakah informasi yang relevan tersedia secara tepat waktu dan mudah diakses.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329684" y="4791456"/>
            <a:ext cx="3502152" cy="1042416"/>
          </a:xfrm>
          <a:prstGeom prst="roundRect">
            <a:avLst>
              <a:gd name="adj" fmla="val 5263"/>
            </a:avLst>
          </a:prstGeom>
          <a:solidFill>
            <a:srgbClr val="E9E2E5"/>
          </a:solidFill>
          <a:ln/>
        </p:spPr>
      </p:sp>
      <p:sp>
        <p:nvSpPr>
          <p:cNvPr id="20" name="Shape 18"/>
          <p:cNvSpPr/>
          <p:nvPr/>
        </p:nvSpPr>
        <p:spPr>
          <a:xfrm>
            <a:off x="4585716" y="4974336"/>
            <a:ext cx="365760" cy="365760"/>
          </a:xfrm>
          <a:prstGeom prst="ellipse">
            <a:avLst/>
          </a:prstGeom>
          <a:solidFill>
            <a:srgbClr val="A85541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4585716" y="49743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5079492" y="4974336"/>
            <a:ext cx="2523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41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Clarity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4585716" y="539496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7A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Sejauh mana informasi itu dapat dipahami oleh stakeholder yang relevan.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8110728" y="4791456"/>
            <a:ext cx="3502152" cy="1042416"/>
          </a:xfrm>
          <a:prstGeom prst="roundRect">
            <a:avLst>
              <a:gd name="adj" fmla="val 5263"/>
            </a:avLst>
          </a:prstGeom>
          <a:solidFill>
            <a:srgbClr val="E9E2E5"/>
          </a:solidFill>
          <a:ln/>
        </p:spPr>
      </p:sp>
      <p:sp>
        <p:nvSpPr>
          <p:cNvPr id="25" name="Shape 23"/>
          <p:cNvSpPr/>
          <p:nvPr/>
        </p:nvSpPr>
        <p:spPr>
          <a:xfrm>
            <a:off x="8366760" y="4974336"/>
            <a:ext cx="365760" cy="365760"/>
          </a:xfrm>
          <a:prstGeom prst="ellipse">
            <a:avLst/>
          </a:prstGeom>
          <a:solidFill>
            <a:srgbClr val="5C7A6B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8366760" y="49743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8860536" y="4974336"/>
            <a:ext cx="2523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41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Accuracy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8366760" y="539496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7A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Apakah informasi yang diungkapkan benar dan dapat diandalkan.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548640" y="5961888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7A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Crane et al. (2019), Bab 2, hlm. 71-76.</a:t>
            </a:r>
            <a:endParaRPr lang="en-US" sz="950" dirty="0"/>
          </a:p>
        </p:txBody>
      </p:sp>
      <p:sp>
        <p:nvSpPr>
          <p:cNvPr id="30" name="Text 28"/>
          <p:cNvSpPr txBox="1"/>
          <p:nvPr/>
        </p:nvSpPr>
        <p:spPr>
          <a:xfrm>
            <a:off x="548640" y="637336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80" kern="0" dirty="0">
                <a:solidFill>
                  <a:srgbClr val="7A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Kerangka 3 · Corporate Citizenship</a:t>
            </a:r>
            <a:endParaRPr lang="en-US" sz="950" dirty="0"/>
          </a:p>
        </p:txBody>
      </p:sp>
      <p:sp>
        <p:nvSpPr>
          <p:cNvPr id="31" name="Text 29"/>
          <p:cNvSpPr txBox="1"/>
          <p:nvPr/>
        </p:nvSpPr>
        <p:spPr>
          <a:xfrm>
            <a:off x="10607040" y="637336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8C2F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1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2E10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8096" cy="6858000"/>
          </a:xfrm>
          <a:prstGeom prst="rect">
            <a:avLst/>
          </a:prstGeom>
          <a:solidFill>
            <a:srgbClr val="451A28"/>
          </a:solidFill>
          <a:ln/>
        </p:spPr>
      </p:sp>
      <p:sp>
        <p:nvSpPr>
          <p:cNvPr id="3" name="Shape 1"/>
          <p:cNvSpPr/>
          <p:nvPr/>
        </p:nvSpPr>
        <p:spPr>
          <a:xfrm>
            <a:off x="8869680" y="1005840"/>
            <a:ext cx="5120640" cy="5120640"/>
          </a:xfrm>
          <a:prstGeom prst="ellipse">
            <a:avLst/>
          </a:prstGeom>
          <a:solidFill>
            <a:srgbClr val="8C2F39"/>
          </a:solidFill>
          <a:ln/>
        </p:spPr>
      </p:sp>
      <p:sp>
        <p:nvSpPr>
          <p:cNvPr id="4" name="Shape 2"/>
          <p:cNvSpPr/>
          <p:nvPr/>
        </p:nvSpPr>
        <p:spPr>
          <a:xfrm>
            <a:off x="7772400" y="-1645920"/>
            <a:ext cx="2743200" cy="2743200"/>
          </a:xfrm>
          <a:prstGeom prst="ellipse">
            <a:avLst/>
          </a:prstGeom>
          <a:solidFill>
            <a:srgbClr val="C8952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883664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20" kern="0" dirty="0">
                <a:solidFill>
                  <a:srgbClr val="E4B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BAGIAN 2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249424"/>
            <a:ext cx="7863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4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Implementasi:</a:t>
            </a:r>
            <a:endParaRPr lang="en-US" sz="4000" dirty="0"/>
          </a:p>
          <a:p>
            <a:pPr indent="0" marL="0">
              <a:lnSpc>
                <a:spcPct val="94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Studi Kasus PT Djarum</a:t>
            </a:r>
            <a:endParaRPr lang="en-US" sz="40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931920"/>
            <a:ext cx="7680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C7AA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Satu kasus riil Indonesia, dibaca berturut-turut dengan tiga kerangka yang sama: CSR — apa tanggung jawabnya · Stakeholder — kepada siapa · Corporate Citizenship — dengan kuasa apa.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5102352"/>
            <a:ext cx="1371600" cy="32004"/>
          </a:xfrm>
          <a:prstGeom prst="rect">
            <a:avLst/>
          </a:prstGeom>
          <a:solidFill>
            <a:srgbClr val="C8952B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48640" y="5321808"/>
            <a:ext cx="7680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E4B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Mengapa Djarum? Karena kasus ini menempatkan setiap lapis teori Bab 2 dalam kondisi tertekan.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637336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80" kern="0" dirty="0">
                <a:solidFill>
                  <a:srgbClr val="C7AA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Framing Business Ethics · Bab 2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10607040" y="637336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E4B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1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8C2F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 PERUSAHAAN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100" b="1" dirty="0">
                <a:solidFill>
                  <a:srgbClr val="241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PT Djarum: Raksasa Kretek dari Kudus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26464"/>
            <a:ext cx="10607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i="1" dirty="0">
                <a:solidFill>
                  <a:srgbClr val="7A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Berdiri 1951 di Kudus, Jawa Tengah. Salah satu dari tiga besar industri rokok Indonesia. Djarum Foundation didirikan 30 April 1986.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066544"/>
            <a:ext cx="2628900" cy="1572768"/>
          </a:xfrm>
          <a:prstGeom prst="roundRect">
            <a:avLst>
              <a:gd name="adj" fmla="val 3488"/>
            </a:avLst>
          </a:prstGeom>
          <a:solidFill>
            <a:srgbClr val="F3F0F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2286000"/>
            <a:ext cx="22631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8C2F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1951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713232" y="2980944"/>
            <a:ext cx="229971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7A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Tahun berdiri di Kudus,</a:t>
            </a:r>
            <a:endParaRPr lang="en-US" sz="11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7A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Jawa Tengah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360420" y="2066544"/>
            <a:ext cx="2628900" cy="1572768"/>
          </a:xfrm>
          <a:prstGeom prst="roundRect">
            <a:avLst>
              <a:gd name="adj" fmla="val 3488"/>
            </a:avLst>
          </a:prstGeom>
          <a:solidFill>
            <a:srgbClr val="F3F0F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543300" y="2286000"/>
            <a:ext cx="22631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A85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56.000+</a:t>
            </a:r>
            <a:endParaRPr lang="en-US" sz="3000" dirty="0"/>
          </a:p>
        </p:txBody>
      </p:sp>
      <p:sp>
        <p:nvSpPr>
          <p:cNvPr id="10" name="Text 8"/>
          <p:cNvSpPr txBox="1"/>
          <p:nvPr/>
        </p:nvSpPr>
        <p:spPr>
          <a:xfrm>
            <a:off x="3525012" y="2980944"/>
            <a:ext cx="229971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7A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Tenaga kerja yang diserap</a:t>
            </a:r>
            <a:endParaRPr lang="en-US" sz="11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7A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langsung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172200" y="2066544"/>
            <a:ext cx="2628900" cy="1572768"/>
          </a:xfrm>
          <a:prstGeom prst="roundRect">
            <a:avLst>
              <a:gd name="adj" fmla="val 3488"/>
            </a:avLst>
          </a:prstGeom>
          <a:solidFill>
            <a:srgbClr val="F3F0F1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355080" y="2286000"/>
            <a:ext cx="22631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5C7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Rp35 T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6336792" y="2980944"/>
            <a:ext cx="229971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7A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Setoran cukai dan pajak ke</a:t>
            </a:r>
            <a:endParaRPr lang="en-US" sz="11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7A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negara (2017)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983980" y="2066544"/>
            <a:ext cx="2628900" cy="1572768"/>
          </a:xfrm>
          <a:prstGeom prst="roundRect">
            <a:avLst>
              <a:gd name="adj" fmla="val 3488"/>
            </a:avLst>
          </a:prstGeom>
          <a:solidFill>
            <a:srgbClr val="F3F0F1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9166860" y="2286000"/>
            <a:ext cx="22631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895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Bakti</a:t>
            </a:r>
            <a:endParaRPr lang="en-US" sz="3000" dirty="0"/>
          </a:p>
        </p:txBody>
      </p:sp>
      <p:sp>
        <p:nvSpPr>
          <p:cNvPr id="16" name="Text 14"/>
          <p:cNvSpPr txBox="1"/>
          <p:nvPr/>
        </p:nvSpPr>
        <p:spPr>
          <a:xfrm>
            <a:off x="9148572" y="2980944"/>
            <a:ext cx="229971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7A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Pilar program Djarum</a:t>
            </a:r>
            <a:endParaRPr lang="en-US" sz="11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7A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 sejak 1986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3785616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41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Paradoks yang membuat kasus ini layak dibedah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48640" y="4151376"/>
            <a:ext cx="3502152" cy="1719072"/>
          </a:xfrm>
          <a:prstGeom prst="roundRect">
            <a:avLst>
              <a:gd name="adj" fmla="val 3191"/>
            </a:avLst>
          </a:prstGeom>
          <a:solidFill>
            <a:srgbClr val="F3F0F1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804672" y="431596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241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Legal, tetapi produknya berisiko</a:t>
            </a:r>
            <a:endParaRPr lang="en-US" sz="1350" dirty="0"/>
          </a:p>
        </p:txBody>
      </p:sp>
      <p:sp>
        <p:nvSpPr>
          <p:cNvPr id="20" name="Text 18"/>
          <p:cNvSpPr txBox="1"/>
          <p:nvPr/>
        </p:nvSpPr>
        <p:spPr>
          <a:xfrm>
            <a:off x="804672" y="4809744"/>
            <a:ext cx="301752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7A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Rokok adalah produk yang sah diproduksi dan dijual, sekaligus produk yang diatur ketat karena dampak kesehatannya. Kepatuhan hukum di sini tidak otomatis berarti diterima secara etis.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329684" y="4151376"/>
            <a:ext cx="3502152" cy="1719072"/>
          </a:xfrm>
          <a:prstGeom prst="roundRect">
            <a:avLst>
              <a:gd name="adj" fmla="val 3191"/>
            </a:avLst>
          </a:prstGeom>
          <a:solidFill>
            <a:srgbClr val="F3F0F1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4585716" y="431596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241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Kontributor ekonomi yang sangat besar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4585716" y="4809744"/>
            <a:ext cx="301752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7A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Puluhan ribu pekerja, rantai petani tembakau dan cengkeh, serta penerimaan negara dari cukai. Kudus adalah penyumbang Cukai Hasil Tembakau terbesar secara nasional.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8110728" y="4151376"/>
            <a:ext cx="3502152" cy="1719072"/>
          </a:xfrm>
          <a:prstGeom prst="roundRect">
            <a:avLst>
              <a:gd name="adj" fmla="val 3191"/>
            </a:avLst>
          </a:prstGeom>
          <a:solidFill>
            <a:srgbClr val="E9E2E5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8366760" y="431596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241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CSR intensif, tetapi dipersoalkan</a:t>
            </a:r>
            <a:endParaRPr lang="en-US" sz="1350" dirty="0"/>
          </a:p>
        </p:txBody>
      </p:sp>
      <p:sp>
        <p:nvSpPr>
          <p:cNvPr id="26" name="Text 24"/>
          <p:cNvSpPr txBox="1"/>
          <p:nvPr/>
        </p:nvSpPr>
        <p:spPr>
          <a:xfrm>
            <a:off x="8366760" y="4809744"/>
            <a:ext cx="301752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7A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sosialnya luas dan berumur puluhan tahun, namun justru program itulah yang menjadi titik sengketa publik pada 2019 — bukan produknya.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548640" y="5961888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7A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Sumber: Medcom (2017); Liputan6 (2017); Djarum Foundation; DJPb Kemenkeu (2023).</a:t>
            </a:r>
            <a:endParaRPr lang="en-US" sz="950" dirty="0"/>
          </a:p>
        </p:txBody>
      </p:sp>
      <p:sp>
        <p:nvSpPr>
          <p:cNvPr id="28" name="Text 26"/>
          <p:cNvSpPr txBox="1"/>
          <p:nvPr/>
        </p:nvSpPr>
        <p:spPr>
          <a:xfrm>
            <a:off x="548640" y="637336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80" kern="0" dirty="0">
                <a:solidFill>
                  <a:srgbClr val="7A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Bagian 2 · Studi Kasus PT Djarum</a:t>
            </a:r>
            <a:endParaRPr lang="en-US" sz="950" dirty="0"/>
          </a:p>
        </p:txBody>
      </p:sp>
      <p:sp>
        <p:nvSpPr>
          <p:cNvPr id="29" name="Text 27"/>
          <p:cNvSpPr txBox="1"/>
          <p:nvPr/>
        </p:nvSpPr>
        <p:spPr>
          <a:xfrm>
            <a:off x="10607040" y="637336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8C2F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1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8C2F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LENSA 1 · CSR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241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Piramida Carroll Diterapkan pada PT Djarum</a:t>
            </a:r>
            <a:endParaRPr lang="en-US" sz="3000" dirty="0"/>
          </a:p>
        </p:txBody>
      </p:sp>
      <p:graphicFrame>
        <p:nvGraphicFramePr>
          <p:cNvPr id="3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37360"/>
          <a:ext cx="1106424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508760"/>
                <a:gridCol w="6629400"/>
                <a:gridCol w="1554480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spc="100" kern="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LAPIS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E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51A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spc="100" kern="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TUNTUTAN MASYARAKAT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E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51A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spc="100" kern="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BUKTI PADA PT DJARUM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E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51A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spc="100" kern="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PENILAIAN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E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51A28"/>
                    </a:solidFill>
                  </a:tcPr>
                </a:tc>
              </a:tr>
              <a:tr h="7498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C895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Filantropis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E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i="1" dirty="0">
                          <a:solidFill>
                            <a:srgbClr val="7A6E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Desired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E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41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Djarum Foundation dan lima pilar Bakti sejak 1986: pendidikan, olahraga, lingkungan, budaya, dan sosial.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E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5C7A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KUAT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E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A855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Etis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E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i="1" dirty="0">
                          <a:solidFill>
                            <a:srgbClr val="7A6E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Expected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E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41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Titik paling dipersoalkan: produk berdampak kesehatan, dan paparan merek kepada anak melalui kegiatan sosial — meski semuanya legal.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E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8C2F3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RAPUH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E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7A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Hukum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E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i="1" dirty="0">
                          <a:solidFill>
                            <a:srgbClr val="7A6E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Required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E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41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Tunduk pada ketentuan cukai dan PP No. 109/2012: peringatan kesehatan, pembatasan iklan, larangan penjualan kepada anak.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E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5C7A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PATUH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E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451A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Ekonomi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E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i="1" dirty="0">
                          <a:solidFill>
                            <a:srgbClr val="7A6E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Required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E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41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Lebih dari 56.000 pekerja, setoran cukai dan pajak sekitar Rp35 triliun (2017), serta rantai pasok petani tembakau dan cengkeh.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E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5C7A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KUAT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E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5394960"/>
            <a:ext cx="11064240" cy="786384"/>
          </a:xfrm>
          <a:prstGeom prst="roundRect">
            <a:avLst>
              <a:gd name="adj" fmla="val 6977"/>
            </a:avLst>
          </a:prstGeom>
          <a:solidFill>
            <a:srgbClr val="E9E2E5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841248" y="5394960"/>
            <a:ext cx="104241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8C2F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Temuan analisis:  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24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Djarum kokoh di lapis yang </a:t>
            </a:r>
            <a:pPr indent="0" marL="0">
              <a:lnSpc>
                <a:spcPct val="105000"/>
              </a:lnSpc>
              <a:buNone/>
            </a:pPr>
            <a:r>
              <a:rPr lang="en-US" sz="1200" i="1" dirty="0">
                <a:solidFill>
                  <a:srgbClr val="24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24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dan di lapis yang </a:t>
            </a:r>
            <a:pPr indent="0" marL="0">
              <a:lnSpc>
                <a:spcPct val="105000"/>
              </a:lnSpc>
              <a:buNone/>
            </a:pPr>
            <a:r>
              <a:rPr lang="en-US" sz="1200" i="1" dirty="0">
                <a:solidFill>
                  <a:srgbClr val="24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desired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24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tetapi paling lemah justru di lapis </a:t>
            </a:r>
            <a:pPr indent="0" marL="0">
              <a:lnSpc>
                <a:spcPct val="105000"/>
              </a:lnSpc>
              <a:buNone/>
            </a:pPr>
            <a:r>
              <a:rPr lang="en-US" sz="1200" i="1" dirty="0">
                <a:solidFill>
                  <a:srgbClr val="24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24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Inilah persis keterbatasan model Carroll yang disebut buku: ia tidak menjelaskan apa yang harus terjadi ketika dua lapis tanggung jawab saling bertentangan.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637336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80" kern="0" dirty="0">
                <a:solidFill>
                  <a:srgbClr val="7A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Bagian 2 · Studi Kasus PT Djarum</a:t>
            </a:r>
            <a:endParaRPr lang="en-US" sz="950" dirty="0"/>
          </a:p>
        </p:txBody>
      </p:sp>
      <p:sp>
        <p:nvSpPr>
          <p:cNvPr id="8" name="Text 5"/>
          <p:cNvSpPr txBox="1"/>
          <p:nvPr/>
        </p:nvSpPr>
        <p:spPr>
          <a:xfrm>
            <a:off x="10607040" y="637336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8C2F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1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8C2F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LENSA 1 · CSR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2800" b="1" dirty="0">
                <a:solidFill>
                  <a:srgbClr val="241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Lima Bakti Djarum Foundation: Bolt-on atau Built-in?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700784"/>
            <a:ext cx="6903720" cy="786384"/>
          </a:xfrm>
          <a:prstGeom prst="roundRect">
            <a:avLst>
              <a:gd name="adj" fmla="val 6977"/>
            </a:avLst>
          </a:prstGeom>
          <a:solidFill>
            <a:srgbClr val="F3F0F1"/>
          </a:solidFill>
          <a:ln/>
        </p:spPr>
      </p:sp>
      <p:sp>
        <p:nvSpPr>
          <p:cNvPr id="5" name="Shape 3"/>
          <p:cNvSpPr/>
          <p:nvPr/>
        </p:nvSpPr>
        <p:spPr>
          <a:xfrm>
            <a:off x="768096" y="1901952"/>
            <a:ext cx="402336" cy="402336"/>
          </a:xfrm>
          <a:prstGeom prst="ellipse">
            <a:avLst/>
          </a:prstGeom>
          <a:solidFill>
            <a:srgbClr val="8C2F39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68096" y="19019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298448" y="1792224"/>
            <a:ext cx="2331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41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Bakti Pendidikan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3675888" y="1773936"/>
            <a:ext cx="3703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7A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Djarum Beasiswa Plus untuk mahasiswa S1/D4 dengan pelatihan character building, leadership development, dan nation building; peningkatan mutu pendidikan dasar, menengah, dan vokasi di Kudus (2018-2030).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48640" y="2560320"/>
            <a:ext cx="6903720" cy="786384"/>
          </a:xfrm>
          <a:prstGeom prst="roundRect">
            <a:avLst>
              <a:gd name="adj" fmla="val 6977"/>
            </a:avLst>
          </a:prstGeom>
          <a:solidFill>
            <a:srgbClr val="F3F0F1"/>
          </a:solidFill>
          <a:ln/>
        </p:spPr>
      </p:sp>
      <p:sp>
        <p:nvSpPr>
          <p:cNvPr id="10" name="Shape 8"/>
          <p:cNvSpPr/>
          <p:nvPr/>
        </p:nvSpPr>
        <p:spPr>
          <a:xfrm>
            <a:off x="768096" y="2761488"/>
            <a:ext cx="402336" cy="402336"/>
          </a:xfrm>
          <a:prstGeom prst="ellipse">
            <a:avLst/>
          </a:prstGeom>
          <a:solidFill>
            <a:srgbClr val="A8554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68096" y="276148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298448" y="2651760"/>
            <a:ext cx="2331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41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Bakti Olahraga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3675888" y="2633472"/>
            <a:ext cx="3703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7A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PB Djarum sejak 1974; telah membina 11 atlet peraih medali Olimpiade, di antaranya Liem Swie King, Alan Budikusuma, Tontowi Ahmad/Liliyana Natsir, dan Kevin Sanjaya.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48640" y="3419856"/>
            <a:ext cx="6903720" cy="786384"/>
          </a:xfrm>
          <a:prstGeom prst="roundRect">
            <a:avLst>
              <a:gd name="adj" fmla="val 6977"/>
            </a:avLst>
          </a:prstGeom>
          <a:solidFill>
            <a:srgbClr val="F3F0F1"/>
          </a:solidFill>
          <a:ln/>
        </p:spPr>
      </p:sp>
      <p:sp>
        <p:nvSpPr>
          <p:cNvPr id="15" name="Shape 13"/>
          <p:cNvSpPr/>
          <p:nvPr/>
        </p:nvSpPr>
        <p:spPr>
          <a:xfrm>
            <a:off x="768096" y="3621024"/>
            <a:ext cx="402336" cy="402336"/>
          </a:xfrm>
          <a:prstGeom prst="ellipse">
            <a:avLst/>
          </a:prstGeom>
          <a:solidFill>
            <a:srgbClr val="5C7A6B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68096" y="362102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298448" y="3511296"/>
            <a:ext cx="2331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41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Bakti Lingkungan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3675888" y="3493008"/>
            <a:ext cx="3703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7A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Djarum Trees for Life: sekitar 2,3 juta pohon trembesi di jalur Pantura dan Tol Trans-Jawa, 1,1 juta mangrove, serta Pusat Pembibitan Tanaman di Kudus dan gerakan Siap Darling.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48640" y="4279392"/>
            <a:ext cx="6903720" cy="786384"/>
          </a:xfrm>
          <a:prstGeom prst="roundRect">
            <a:avLst>
              <a:gd name="adj" fmla="val 6977"/>
            </a:avLst>
          </a:prstGeom>
          <a:solidFill>
            <a:srgbClr val="F3F0F1"/>
          </a:solidFill>
          <a:ln/>
        </p:spPr>
      </p:sp>
      <p:sp>
        <p:nvSpPr>
          <p:cNvPr id="20" name="Shape 18"/>
          <p:cNvSpPr/>
          <p:nvPr/>
        </p:nvSpPr>
        <p:spPr>
          <a:xfrm>
            <a:off x="768096" y="4480560"/>
            <a:ext cx="402336" cy="402336"/>
          </a:xfrm>
          <a:prstGeom prst="ellipse">
            <a:avLst/>
          </a:prstGeom>
          <a:solidFill>
            <a:srgbClr val="C8952B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68096" y="44805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41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1298448" y="4370832"/>
            <a:ext cx="2331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41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Bakti Budaya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3675888" y="4352544"/>
            <a:ext cx="3703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7A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Apresiasi dan pengembangan seni budaya Indonesia, dengan sasaran utama generasi muda.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48640" y="5138928"/>
            <a:ext cx="6903720" cy="786384"/>
          </a:xfrm>
          <a:prstGeom prst="roundRect">
            <a:avLst>
              <a:gd name="adj" fmla="val 6977"/>
            </a:avLst>
          </a:prstGeom>
          <a:solidFill>
            <a:srgbClr val="F3F0F1"/>
          </a:solidFill>
          <a:ln/>
        </p:spPr>
      </p:sp>
      <p:sp>
        <p:nvSpPr>
          <p:cNvPr id="25" name="Shape 23"/>
          <p:cNvSpPr/>
          <p:nvPr/>
        </p:nvSpPr>
        <p:spPr>
          <a:xfrm>
            <a:off x="768096" y="5340096"/>
            <a:ext cx="402336" cy="402336"/>
          </a:xfrm>
          <a:prstGeom prst="ellipse">
            <a:avLst/>
          </a:prstGeom>
          <a:solidFill>
            <a:srgbClr val="451A28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768096" y="534009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1298448" y="5230368"/>
            <a:ext cx="2331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41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Bakti Sosial</a:t>
            </a:r>
            <a:endParaRPr lang="en-US" sz="1350" dirty="0"/>
          </a:p>
        </p:txBody>
      </p:sp>
      <p:sp>
        <p:nvSpPr>
          <p:cNvPr id="28" name="Text 26"/>
          <p:cNvSpPr txBox="1"/>
          <p:nvPr/>
        </p:nvSpPr>
        <p:spPr>
          <a:xfrm>
            <a:off x="3675888" y="5212080"/>
            <a:ext cx="3703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7A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Donor darah, penanggulangan bencana, operasi katarak gratis, peningkatan mutu layanan kesehatan, dan perbaikan kondisi panti asuhan.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7699248" y="1700784"/>
            <a:ext cx="3913632" cy="2066544"/>
          </a:xfrm>
          <a:prstGeom prst="roundRect">
            <a:avLst>
              <a:gd name="adj" fmla="val 2655"/>
            </a:avLst>
          </a:prstGeom>
          <a:solidFill>
            <a:srgbClr val="E9E2E5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7955280" y="1883664"/>
            <a:ext cx="3401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8C2F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DIBACA SEBAGAI TRADITIONAL CSR</a:t>
            </a:r>
            <a:endParaRPr lang="en-US" sz="1000" dirty="0"/>
          </a:p>
        </p:txBody>
      </p:sp>
      <p:sp>
        <p:nvSpPr>
          <p:cNvPr id="31" name="Text 29"/>
          <p:cNvSpPr txBox="1"/>
          <p:nvPr/>
        </p:nvSpPr>
        <p:spPr>
          <a:xfrm>
            <a:off x="7955280" y="2157984"/>
            <a:ext cx="34015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i="1" dirty="0">
                <a:solidFill>
                  <a:srgbClr val="241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"CSR is bolt-on"</a:t>
            </a:r>
            <a:endParaRPr lang="en-US" sz="1700" dirty="0"/>
          </a:p>
        </p:txBody>
      </p:sp>
      <p:sp>
        <p:nvSpPr>
          <p:cNvPr id="32" name="Text 30"/>
          <p:cNvSpPr txBox="1"/>
          <p:nvPr/>
        </p:nvSpPr>
        <p:spPr>
          <a:xfrm>
            <a:off x="7955280" y="2523744"/>
            <a:ext cx="340156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7A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Sebagian besar program adalah distribusi nilai setelah laba dihasilkan, tidak terhubung dengan inti bisnis. Pendorongnya citra, merek, dan penerimaan publik — persis kolom "Traditional CSR" pada Tabel 2.2.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7699248" y="3877056"/>
            <a:ext cx="3913632" cy="2066544"/>
          </a:xfrm>
          <a:prstGeom prst="roundRect">
            <a:avLst>
              <a:gd name="adj" fmla="val 2655"/>
            </a:avLst>
          </a:prstGeom>
          <a:solidFill>
            <a:srgbClr val="451A28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7955280" y="4059936"/>
            <a:ext cx="3401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E4B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UNSUR CONTEMPORARY CSR</a:t>
            </a:r>
            <a:endParaRPr lang="en-US" sz="1000" dirty="0"/>
          </a:p>
        </p:txBody>
      </p:sp>
      <p:sp>
        <p:nvSpPr>
          <p:cNvPr id="35" name="Text 33"/>
          <p:cNvSpPr txBox="1"/>
          <p:nvPr/>
        </p:nvSpPr>
        <p:spPr>
          <a:xfrm>
            <a:off x="7955280" y="4334256"/>
            <a:ext cx="34015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"CSR is built-in"</a:t>
            </a:r>
            <a:endParaRPr lang="en-US" sz="1700" dirty="0"/>
          </a:p>
        </p:txBody>
      </p:sp>
      <p:sp>
        <p:nvSpPr>
          <p:cNvPr id="36" name="Text 34"/>
          <p:cNvSpPr txBox="1"/>
          <p:nvPr/>
        </p:nvSpPr>
        <p:spPr>
          <a:xfrm>
            <a:off x="7955280" y="4700016"/>
            <a:ext cx="340156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C7AA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Sebagian program mendekati kategori ini: pendidikan vokasi di Kudus memperkuat basis tenaga kerja daerah operasi, dan penghijauan menjaga social licence to operate. Keduanya menciptakan nilai, bukan sekadar membagikannya.</a:t>
            </a:r>
            <a:endParaRPr lang="en-US" sz="1150" dirty="0"/>
          </a:p>
        </p:txBody>
      </p:sp>
      <p:sp>
        <p:nvSpPr>
          <p:cNvPr id="37" name="Text 35"/>
          <p:cNvSpPr txBox="1"/>
          <p:nvPr/>
        </p:nvSpPr>
        <p:spPr>
          <a:xfrm>
            <a:off x="548640" y="6035040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7A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Sumber: Djarum Foundation; PB Djarum; Kompas Lestari (2024); ANTARA (2024).</a:t>
            </a:r>
            <a:endParaRPr lang="en-US" sz="950" dirty="0"/>
          </a:p>
        </p:txBody>
      </p:sp>
      <p:sp>
        <p:nvSpPr>
          <p:cNvPr id="38" name="Text 36"/>
          <p:cNvSpPr txBox="1"/>
          <p:nvPr/>
        </p:nvSpPr>
        <p:spPr>
          <a:xfrm>
            <a:off x="548640" y="637336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80" kern="0" dirty="0">
                <a:solidFill>
                  <a:srgbClr val="7A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Bagian 2 · Studi Kasus PT Djarum</a:t>
            </a:r>
            <a:endParaRPr lang="en-US" sz="950" dirty="0"/>
          </a:p>
        </p:txBody>
      </p:sp>
      <p:sp>
        <p:nvSpPr>
          <p:cNvPr id="39" name="Text 37"/>
          <p:cNvSpPr txBox="1"/>
          <p:nvPr/>
        </p:nvSpPr>
        <p:spPr>
          <a:xfrm>
            <a:off x="10607040" y="637336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8C2F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0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8C2F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LENSA 1 · CSR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100" b="1" dirty="0">
                <a:solidFill>
                  <a:srgbClr val="241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Kritik: CSR sebagai Alat Legitimasi?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26464"/>
            <a:ext cx="10607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i="1" dirty="0">
                <a:solidFill>
                  <a:srgbClr val="7A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Bagian ini menerapkan kritik CSR dari buku (Friedman, Banerjee, Fleming &amp; Jones) langsung pada kasus.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084832"/>
            <a:ext cx="5669280" cy="3054096"/>
          </a:xfrm>
          <a:prstGeom prst="roundRect">
            <a:avLst>
              <a:gd name="adj" fmla="val 1796"/>
            </a:avLst>
          </a:prstGeom>
          <a:solidFill>
            <a:srgbClr val="F3F0F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04672" y="2267712"/>
            <a:ext cx="5157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30" kern="0" dirty="0">
                <a:solidFill>
                  <a:srgbClr val="8C2F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FAKTA YANG DIPERSOALKAN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822960" y="2706624"/>
            <a:ext cx="118872" cy="118872"/>
          </a:xfrm>
          <a:prstGeom prst="ellipse">
            <a:avLst/>
          </a:prstGeom>
          <a:solidFill>
            <a:srgbClr val="8C2F39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078992" y="2578608"/>
            <a:ext cx="48828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24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 No. 109/2012 dinilai longgar dalam membatasi promosi dan sponsor yang dijalankan atas nama CSR perusahaan tembakau — sebuah celah regulasi.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822960" y="3346704"/>
            <a:ext cx="118872" cy="118872"/>
          </a:xfrm>
          <a:prstGeom prst="ellipse">
            <a:avLst/>
          </a:prstGeom>
          <a:solidFill>
            <a:srgbClr val="8C2F39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078992" y="3218688"/>
            <a:ext cx="48828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24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Yayasan Lentera Anak mencatat bahwa pada 2015-2018 peserta audisi diwajibkan mengenakan kaos ber-brand "Djarum", yang merupakan brand image produk tembakau.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822960" y="3986784"/>
            <a:ext cx="118872" cy="118872"/>
          </a:xfrm>
          <a:prstGeom prst="ellipse">
            <a:avLst/>
          </a:prstGeom>
          <a:solidFill>
            <a:srgbClr val="8C2F39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1078992" y="3858768"/>
            <a:ext cx="48828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24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Survei yang dirujuk KPAI menemukan 4 dari 5 anak mengasosiasikan "Djarum" dengan rokok.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22960" y="4626864"/>
            <a:ext cx="118872" cy="118872"/>
          </a:xfrm>
          <a:prstGeom prst="ellipse">
            <a:avLst/>
          </a:prstGeom>
          <a:solidFill>
            <a:srgbClr val="8C2F39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1078992" y="4498848"/>
            <a:ext cx="48828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24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Kegiatan sosial menjangkau anak-anak — kelompok yang secara hukum justru dilindungi dari paparan promosi produk tembakau.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6629400" y="2084832"/>
            <a:ext cx="4983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41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Dibaca lewat teori Bab 2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629400" y="2468880"/>
            <a:ext cx="4983480" cy="859536"/>
          </a:xfrm>
          <a:prstGeom prst="roundRect">
            <a:avLst>
              <a:gd name="adj" fmla="val 6383"/>
            </a:avLst>
          </a:prstGeom>
          <a:solidFill>
            <a:srgbClr val="E9E2E5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867144" y="2578608"/>
            <a:ext cx="4526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C2F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Friedman (1970)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6867144" y="2816352"/>
            <a:ext cx="4526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7A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Bila motif utamanya promosi, ini bukan CSR melainkan maksimalisasi laba "under the cloak of social responsibility".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629400" y="3401568"/>
            <a:ext cx="4983480" cy="859536"/>
          </a:xfrm>
          <a:prstGeom prst="roundRect">
            <a:avLst>
              <a:gd name="adj" fmla="val 6383"/>
            </a:avLst>
          </a:prstGeom>
          <a:solidFill>
            <a:srgbClr val="E9E2E5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867144" y="3511296"/>
            <a:ext cx="4526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C2F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Banerjee (2007)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6867144" y="3749040"/>
            <a:ext cx="4526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7A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CSR di sini berfungsi melegitimasi aktivitas korporasi dan mengonsolidasi kekuasaannya — bukan mengoreksinya.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629400" y="4334256"/>
            <a:ext cx="4983480" cy="859536"/>
          </a:xfrm>
          <a:prstGeom prst="roundRect">
            <a:avLst>
              <a:gd name="adj" fmla="val 6383"/>
            </a:avLst>
          </a:prstGeom>
          <a:solidFill>
            <a:srgbClr val="E9E2E5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867144" y="4443984"/>
            <a:ext cx="4526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C2F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Fleming &amp; Jones (2012)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6867144" y="4681728"/>
            <a:ext cx="4526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7A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CSR menopang, bukan menantang, model bisnis yang ada. Tidak ada transformasi nyata dalam peran bisnis di masyarakat.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629400" y="5266944"/>
            <a:ext cx="4983480" cy="859536"/>
          </a:xfrm>
          <a:prstGeom prst="roundRect">
            <a:avLst>
              <a:gd name="adj" fmla="val 6383"/>
            </a:avLst>
          </a:prstGeom>
          <a:solidFill>
            <a:srgbClr val="451A28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867144" y="5376672"/>
            <a:ext cx="4526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4B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Argumen tandingan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6867144" y="5614416"/>
            <a:ext cx="4526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C7AA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Manfaat bagi penerima — beasiswa, pembinaan atlet, penghijauan — tetap nyata dan terukur. Inilah dilema klasik buku: menilai motif, atau menilai dampak?</a:t>
            </a:r>
            <a:endParaRPr lang="en-US" sz="1050" dirty="0"/>
          </a:p>
        </p:txBody>
      </p:sp>
      <p:sp>
        <p:nvSpPr>
          <p:cNvPr id="28" name="Text 26"/>
          <p:cNvSpPr txBox="1"/>
          <p:nvPr/>
        </p:nvSpPr>
        <p:spPr>
          <a:xfrm>
            <a:off x="548640" y="5285232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7A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Sumber: KPAI (2019); Yayasan Lentera Anak; PSHK/Jentera; PP No. 109 Tahun 2012.</a:t>
            </a:r>
            <a:endParaRPr lang="en-US" sz="950" dirty="0"/>
          </a:p>
        </p:txBody>
      </p:sp>
      <p:sp>
        <p:nvSpPr>
          <p:cNvPr id="29" name="Text 27"/>
          <p:cNvSpPr txBox="1"/>
          <p:nvPr/>
        </p:nvSpPr>
        <p:spPr>
          <a:xfrm>
            <a:off x="548640" y="637336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80" kern="0" dirty="0">
                <a:solidFill>
                  <a:srgbClr val="7A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Bagian 2 · Studi Kasus PT Djarum</a:t>
            </a:r>
            <a:endParaRPr lang="en-US" sz="950" dirty="0"/>
          </a:p>
        </p:txBody>
      </p:sp>
      <p:sp>
        <p:nvSpPr>
          <p:cNvPr id="30" name="Text 28"/>
          <p:cNvSpPr txBox="1"/>
          <p:nvPr/>
        </p:nvSpPr>
        <p:spPr>
          <a:xfrm>
            <a:off x="10607040" y="637336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8C2F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10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8C2F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LENSA 2 · STAKEHOLDER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100" b="1" dirty="0">
                <a:solidFill>
                  <a:srgbClr val="241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Peta Stakeholder PT Djarum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26464"/>
            <a:ext cx="10607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i="1" dirty="0">
                <a:solidFill>
                  <a:srgbClr val="7A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Disusun dengan dua prinsip Evan &amp; Freeman: siapa yang haknya dapat dilanggar, dan siapa yang terkena dampak tindakan perusahaan.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084832"/>
            <a:ext cx="5440680" cy="1353312"/>
          </a:xfrm>
          <a:prstGeom prst="roundRect">
            <a:avLst>
              <a:gd name="adj" fmla="val 4054"/>
            </a:avLst>
          </a:prstGeom>
          <a:solidFill>
            <a:srgbClr val="F3F0F1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2340864"/>
            <a:ext cx="146304" cy="146304"/>
          </a:xfrm>
          <a:prstGeom prst="ellipse">
            <a:avLst/>
          </a:prstGeom>
          <a:solidFill>
            <a:srgbClr val="8C2F39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078992" y="2231136"/>
            <a:ext cx="4663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41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Stakeholder primer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596896"/>
            <a:ext cx="4892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7A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Karyawan (56.000+) · Petani tembakau dan cengkeh · Konsumen dewasa · Pemasok dan distributor · Pemilik dan pemegang saham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172200" y="2084832"/>
            <a:ext cx="5440680" cy="1353312"/>
          </a:xfrm>
          <a:prstGeom prst="roundRect">
            <a:avLst>
              <a:gd name="adj" fmla="val 4054"/>
            </a:avLst>
          </a:prstGeom>
          <a:solidFill>
            <a:srgbClr val="F3F0F1"/>
          </a:solidFill>
          <a:ln/>
        </p:spPr>
      </p:sp>
      <p:sp>
        <p:nvSpPr>
          <p:cNvPr id="10" name="Shape 8"/>
          <p:cNvSpPr/>
          <p:nvPr/>
        </p:nvSpPr>
        <p:spPr>
          <a:xfrm>
            <a:off x="6446520" y="2340864"/>
            <a:ext cx="146304" cy="146304"/>
          </a:xfrm>
          <a:prstGeom prst="ellipse">
            <a:avLst/>
          </a:prstGeom>
          <a:solidFill>
            <a:srgbClr val="A8554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702552" y="2231136"/>
            <a:ext cx="4663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41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Pemerintah dan regulator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6446520" y="2596896"/>
            <a:ext cx="4892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7A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Kemenkeu dan Bea Cukai (penerimaan cukai) · Kemenkes (pengendalian tembakau) · Kemenpora dan PBSI (olahraga) · Pemkab Kudus dan Pemprov Jawa Tengah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3602736"/>
            <a:ext cx="5440680" cy="1353312"/>
          </a:xfrm>
          <a:prstGeom prst="roundRect">
            <a:avLst>
              <a:gd name="adj" fmla="val 4054"/>
            </a:avLst>
          </a:prstGeom>
          <a:solidFill>
            <a:srgbClr val="F3F0F1"/>
          </a:solidFill>
          <a:ln/>
        </p:spPr>
      </p:sp>
      <p:sp>
        <p:nvSpPr>
          <p:cNvPr id="14" name="Shape 12"/>
          <p:cNvSpPr/>
          <p:nvPr/>
        </p:nvSpPr>
        <p:spPr>
          <a:xfrm>
            <a:off x="822960" y="3858768"/>
            <a:ext cx="146304" cy="146304"/>
          </a:xfrm>
          <a:prstGeom prst="ellipse">
            <a:avLst/>
          </a:prstGeom>
          <a:solidFill>
            <a:srgbClr val="5C7A6B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1078992" y="3749040"/>
            <a:ext cx="4663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41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Masyarakat sipil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822960" y="4114800"/>
            <a:ext cx="4892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7A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KPAI · Yayasan Lentera Anak · Komnas Pengendalian Tembakau dan LSM kesehatan · Media massa · Akademisi dan peneliti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172200" y="3602736"/>
            <a:ext cx="5440680" cy="1353312"/>
          </a:xfrm>
          <a:prstGeom prst="roundRect">
            <a:avLst>
              <a:gd name="adj" fmla="val 4054"/>
            </a:avLst>
          </a:prstGeom>
          <a:solidFill>
            <a:srgbClr val="F3F0F1"/>
          </a:solidFill>
          <a:ln/>
        </p:spPr>
      </p:sp>
      <p:sp>
        <p:nvSpPr>
          <p:cNvPr id="18" name="Shape 16"/>
          <p:cNvSpPr/>
          <p:nvPr/>
        </p:nvSpPr>
        <p:spPr>
          <a:xfrm>
            <a:off x="6446520" y="3858768"/>
            <a:ext cx="146304" cy="146304"/>
          </a:xfrm>
          <a:prstGeom prst="ellipse">
            <a:avLst/>
          </a:prstGeom>
          <a:solidFill>
            <a:srgbClr val="C8952B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702552" y="3749040"/>
            <a:ext cx="4663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41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Penerima manfaat dan komunitas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6446520" y="4114800"/>
            <a:ext cx="4892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7A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Beswan Djarum · Atlet binaan dan peserta audisi (anak-anak) · Orang tua peserta · Masyarakat Kudus · Pengguna jalan Pantura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48640" y="5029200"/>
            <a:ext cx="11064240" cy="1188720"/>
          </a:xfrm>
          <a:prstGeom prst="roundRect">
            <a:avLst>
              <a:gd name="adj" fmla="val 4615"/>
            </a:avLst>
          </a:prstGeom>
          <a:solidFill>
            <a:srgbClr val="451A28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841248" y="5157216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4BE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Mengapa anak-anak peserta audisi adalah stakeholder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841248" y="5431536"/>
            <a:ext cx="10424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C7AA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Mereka tidak punya hubungan kontraktual dengan PT Djarum. Namun lewat principle of corporate effect, perusahaan bertanggung jawab atas dampak tindakannya terhadap pihak lain — dan lewat principle of corporate rights, ia wajib tidak melanggar hak anak. Model jejaring Rowley (1997) menjelaskan jalurnya: Djarum terhubung ke anak-anak itu melalui klub, federasi, dan orang tua mereka.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637336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80" kern="0" dirty="0">
                <a:solidFill>
                  <a:srgbClr val="7A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Bagian 2 · Studi Kasus PT Djarum</a:t>
            </a:r>
            <a:endParaRPr lang="en-US" sz="950" dirty="0"/>
          </a:p>
        </p:txBody>
      </p:sp>
      <p:sp>
        <p:nvSpPr>
          <p:cNvPr id="25" name="Text 23"/>
          <p:cNvSpPr txBox="1"/>
          <p:nvPr/>
        </p:nvSpPr>
        <p:spPr>
          <a:xfrm>
            <a:off x="10607040" y="637336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8C2F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10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8C2F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LENSA 2 · STAKEHOLDER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241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Klaim yang Tidak Bisa Dipuaskan Sekaligus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26464"/>
            <a:ext cx="11064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i="1" dirty="0">
                <a:solidFill>
                  <a:srgbClr val="7A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Freeman menyebut penyeimbangan ekspektasi stakeholder sebagai tantangan besar manajemen. Kasus ini memperlihatkan alasannya.</a:t>
            </a:r>
            <a:endParaRPr lang="en-US" sz="1350" dirty="0"/>
          </a:p>
        </p:txBody>
      </p:sp>
      <p:graphicFrame>
        <p:nvGraphicFramePr>
          <p:cNvPr id="3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231136"/>
          <a:ext cx="1106424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4114800"/>
                <a:gridCol w="4114800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spc="100" kern="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STAKEHOLDER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E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51A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spc="100" kern="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KLAIM YANG DIAJUKAN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E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51A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spc="100" kern="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BERBENTURAN DENGAN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E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51A28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41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Karyawan dan petani tembakau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E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41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Penghidupan dan kelangsungan pekerjaan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E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41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Agenda pengendalian tembakau dan penurunan prevalensi merokok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E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41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Kemenkeu dan Bea Cukai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E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41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Penerimaan cukai yang stabil dan besar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E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41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Kemenkes: target kesehatan publik — dua organ negara, dua kepentingan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E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41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Konsumen dewasa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E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41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Kebebasan memilih produk yang legal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E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41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Hak anak dan remaja atas perlindungan dari paparan merek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E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41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Atlet binaan dan beswan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E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41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Akses pembinaan dan beasiswa yang sulit didapat di tempat lain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E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41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Masyarakat sipil: penolakan normalisasi merek rokok di ruang anak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E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41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Pemilik dan pemegang saham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E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41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Laba dan keberlanjutan bisnis jangka panjang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E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41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Tuntutan etis publik yang menekan legitimasi industri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E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5541264"/>
            <a:ext cx="11064240" cy="640080"/>
          </a:xfrm>
          <a:prstGeom prst="roundRect">
            <a:avLst>
              <a:gd name="adj" fmla="val 8571"/>
            </a:avLst>
          </a:prstGeom>
          <a:solidFill>
            <a:srgbClr val="E9E2E5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841248" y="5541264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8C2F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Konsekuensi teoretis:  </a:t>
            </a:r>
            <a:pPr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24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tidak ada keputusan yang memuaskan semua pihak. Karena itu pendekatan Carroll saja tidak cukup — dibutuhkan stakeholder democracy dan dialog terlembaga untuk memutuskan klaim mana yang didahulukan, dan dengan alasan apa.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37336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80" kern="0" dirty="0">
                <a:solidFill>
                  <a:srgbClr val="7A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Bagian 2 · Studi Kasus PT Djarum</a:t>
            </a:r>
            <a:endParaRPr lang="en-US" sz="95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637336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8C2F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10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8C2F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LENSA 3 · CORPORATE CITIZENSHIP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241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Djarum dan Tiga Hak Kewarganegaraan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502152" cy="3566160"/>
          </a:xfrm>
          <a:prstGeom prst="roundRect">
            <a:avLst>
              <a:gd name="adj" fmla="val 1567"/>
            </a:avLst>
          </a:prstGeom>
          <a:solidFill>
            <a:srgbClr val="F3F0F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04672" y="1920240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41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Hak sosial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804672" y="2322576"/>
            <a:ext cx="3017520" cy="384048"/>
          </a:xfrm>
          <a:prstGeom prst="roundRect">
            <a:avLst>
              <a:gd name="adj" fmla="val 19048"/>
            </a:avLst>
          </a:prstGeom>
          <a:solidFill>
            <a:srgbClr val="5C7A6B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04672" y="2322576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6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804672" y="2816352"/>
            <a:ext cx="3017520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24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Beasiswa pendidikan tinggi, peningkatan mutu SMK dan pendidikan dasar di Kudus, operasi katarak gratis dan layanan kesehatan, penghijauan, serta infrastruktur olahraga.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804672" y="4187952"/>
            <a:ext cx="301752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i="1" dirty="0">
                <a:solidFill>
                  <a:srgbClr val="7A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 skenario "pemerintah tidak mampu atau tidak sepenuhnya menjangkau" dalam Bab 2 — perusahaan mengisi ruang layanan publik.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329684" y="1737360"/>
            <a:ext cx="3502152" cy="3566160"/>
          </a:xfrm>
          <a:prstGeom prst="roundRect">
            <a:avLst>
              <a:gd name="adj" fmla="val 1567"/>
            </a:avLst>
          </a:prstGeom>
          <a:solidFill>
            <a:srgbClr val="F3F0F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585716" y="1920240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41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Hak sipil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4585716" y="2322576"/>
            <a:ext cx="3017520" cy="384048"/>
          </a:xfrm>
          <a:prstGeom prst="roundRect">
            <a:avLst>
              <a:gd name="adj" fmla="val 19048"/>
            </a:avLst>
          </a:prstGeom>
          <a:solidFill>
            <a:srgbClr val="A8554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585716" y="2322576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6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ENABLER  &amp;  DISABLER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4585716" y="2816352"/>
            <a:ext cx="3017520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24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Membuka akses ekonomi dan mobilitas sosial bagi puluhan ribu pekerja dan penerima program. Pada saat yang sama dipersoalkan karena paparan merek produk tembakau kepada anak.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4585716" y="4187952"/>
            <a:ext cx="301752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i="1" dirty="0">
                <a:solidFill>
                  <a:srgbClr val="7A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Peran ganda inilah yang membuat penilaiannya tidak bisa hitam-putih: memampukan sebagian hak, membatasi hak lain.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8110728" y="1737360"/>
            <a:ext cx="3502152" cy="3566160"/>
          </a:xfrm>
          <a:prstGeom prst="roundRect">
            <a:avLst>
              <a:gd name="adj" fmla="val 1567"/>
            </a:avLst>
          </a:prstGeom>
          <a:solidFill>
            <a:srgbClr val="F3F0F1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366760" y="1920240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41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Hak politik</a:t>
            </a:r>
            <a:endParaRPr lang="en-US" sz="1900" dirty="0"/>
          </a:p>
        </p:txBody>
      </p:sp>
      <p:sp>
        <p:nvSpPr>
          <p:cNvPr id="18" name="Shape 16"/>
          <p:cNvSpPr/>
          <p:nvPr/>
        </p:nvSpPr>
        <p:spPr>
          <a:xfrm>
            <a:off x="8366760" y="2322576"/>
            <a:ext cx="3017520" cy="384048"/>
          </a:xfrm>
          <a:prstGeom prst="roundRect">
            <a:avLst>
              <a:gd name="adj" fmla="val 19048"/>
            </a:avLst>
          </a:prstGeom>
          <a:solidFill>
            <a:srgbClr val="8C2F39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8366760" y="2322576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6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  &amp;  BLOCKAGE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8366760" y="2816352"/>
            <a:ext cx="3017520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24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Industri tembakau adalah aktor berpengaruh dalam perdebatan regulasi, termasuk revisi PP No. 109/2012. Sebaliknya, publik dan LSM menyalurkan tekanan politik lewat korporasi, bukan hanya lewat negara.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8366760" y="4187952"/>
            <a:ext cx="301752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i="1" dirty="0">
                <a:solidFill>
                  <a:srgbClr val="7A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Sesuai pengamatan Hertz (2001): warga makin mengarahkan aksi politik kepada perusahaan, bukan kepada pemerintah.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48640" y="5468112"/>
            <a:ext cx="11064240" cy="768096"/>
          </a:xfrm>
          <a:prstGeom prst="roundRect">
            <a:avLst>
              <a:gd name="adj" fmla="val 7143"/>
            </a:avLst>
          </a:prstGeom>
          <a:solidFill>
            <a:srgbClr val="451A28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841248" y="5468112"/>
            <a:ext cx="104241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Dalam extended view, PT Djarum adalah aktor politik de facto — terlepas dari motifnya, karena konsep ini bersifat deskriptif, bukan normatif. Konsekuensinya: tuntutan akuntabilitas dan transparansi setara aktor publik menjadi wajar, bukan berlebihan.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637336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80" kern="0" dirty="0">
                <a:solidFill>
                  <a:srgbClr val="7A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Bagian 2 · Studi Kasus PT Djarum</a:t>
            </a:r>
            <a:endParaRPr lang="en-US" sz="950" dirty="0"/>
          </a:p>
        </p:txBody>
      </p:sp>
      <p:sp>
        <p:nvSpPr>
          <p:cNvPr id="25" name="Text 23"/>
          <p:cNvSpPr txBox="1"/>
          <p:nvPr/>
        </p:nvSpPr>
        <p:spPr>
          <a:xfrm>
            <a:off x="10607040" y="637336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8C2F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10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8C2F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LENSA 3 · AKUNTABILITAS DIUJI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2900" b="1" dirty="0">
                <a:solidFill>
                  <a:srgbClr val="241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Kronologi Polemik Audisi Bulu Tangkis, 2019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1472184" y="1847088"/>
            <a:ext cx="20117" cy="3145536"/>
          </a:xfrm>
          <a:prstGeom prst="rect">
            <a:avLst/>
          </a:prstGeom>
          <a:solidFill>
            <a:srgbClr val="DED7D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755648"/>
            <a:ext cx="768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7A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2006– 18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1380744" y="1792224"/>
            <a:ext cx="201168" cy="201168"/>
          </a:xfrm>
          <a:prstGeom prst="ellipse">
            <a:avLst/>
          </a:prstGeom>
          <a:solidFill>
            <a:srgbClr val="7A6E7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737360" y="1737360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41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Audisi Umum PB Djarum berjalan terbuka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737360" y="2029968"/>
            <a:ext cx="9875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7A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Yayasan Lentera Anak mencatat peserta diwajibkan mengenakan kaos ber-brand "Djarum" sepanjang 2015-2018.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2505456"/>
            <a:ext cx="768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8C2F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 2019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380744" y="2542032"/>
            <a:ext cx="201168" cy="201168"/>
          </a:xfrm>
          <a:prstGeom prst="ellipse">
            <a:avLst/>
          </a:prstGeom>
          <a:solidFill>
            <a:srgbClr val="8C2F39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737360" y="2487168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41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Audisi di GOR KONI Bandung memicu polemik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737360" y="2779776"/>
            <a:ext cx="9875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7A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KPAI menilai terdapat unsur eksploitasi terselubung oleh industri tembakau: tubuh anak dipakai sebagai media promosi gratis.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3255264"/>
            <a:ext cx="768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8C2F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 2019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1380744" y="3291840"/>
            <a:ext cx="201168" cy="201168"/>
          </a:xfrm>
          <a:prstGeom prst="ellipse">
            <a:avLst/>
          </a:prstGeom>
          <a:solidFill>
            <a:srgbClr val="8C2F39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1737360" y="3236976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41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PB Djarum menyatakan menghentikan audisi mulai 2020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737360" y="3529584"/>
            <a:ext cx="9875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7A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Polemik meluas ke ruang publik; dukungan dan kritik datang dari berbagai pihak, termasuk terhadap sikap KPAI sendiri.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4005072"/>
            <a:ext cx="768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5C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Sep 2019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1380744" y="4041648"/>
            <a:ext cx="201168" cy="201168"/>
          </a:xfrm>
          <a:prstGeom prst="ellipse">
            <a:avLst/>
          </a:prstGeom>
          <a:solidFill>
            <a:srgbClr val="5C7A6B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1737360" y="3986784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41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Mediasi di Kemenpora menghasilkan tiga kesepakatan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1737360" y="4279392"/>
            <a:ext cx="9875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7A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(1) KPAI mencabut surat permintaan penghentian; (2) nama diubah menjadi "Audisi Umum Beasiswa Bulutangkis" tanpa logo, merek, dan brand image Djarum; (3) audisi dilanjutkan setelah konsolidasi internal.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4754880"/>
            <a:ext cx="768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C89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2020– 25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1380744" y="4791456"/>
            <a:ext cx="201168" cy="201168"/>
          </a:xfrm>
          <a:prstGeom prst="ellipse">
            <a:avLst/>
          </a:prstGeom>
          <a:solidFill>
            <a:srgbClr val="C8952B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1737360" y="4736592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41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Audisi berlanjut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1737360" y="5029200"/>
            <a:ext cx="9875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7A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Pada 2024, 11 dari 1.966 peserta memperoleh beasiswa; pada 2025, 9 atlet terpilih dari 1.729 peserta di GOR Djarum, Kudus.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548640" y="5541264"/>
            <a:ext cx="11064240" cy="676656"/>
          </a:xfrm>
          <a:prstGeom prst="roundRect">
            <a:avLst>
              <a:gd name="adj" fmla="val 8108"/>
            </a:avLst>
          </a:prstGeom>
          <a:solidFill>
            <a:srgbClr val="E9E2E5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841248" y="5541264"/>
            <a:ext cx="104241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50" b="1" dirty="0">
                <a:solidFill>
                  <a:srgbClr val="8C2F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Dibaca lewat teori:  </a:t>
            </a:r>
            <a:pPr indent="0" marL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24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inilah corporate accountability yang bekerja — tekanan masyarakat sipil memaksa korporasi merespons, tanpa melewati satu pun kotak suara. Isi kesepakatannya sendiri adalah soal transparansi: memisahkan secara terlihat mana pembinaan dan mana promosi.</a:t>
            </a:r>
            <a:endParaRPr lang="en-US" sz="1150" dirty="0"/>
          </a:p>
        </p:txBody>
      </p:sp>
      <p:sp>
        <p:nvSpPr>
          <p:cNvPr id="27" name="Text 25"/>
          <p:cNvSpPr txBox="1"/>
          <p:nvPr/>
        </p:nvSpPr>
        <p:spPr>
          <a:xfrm>
            <a:off x="548640" y="637336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80" kern="0" dirty="0">
                <a:solidFill>
                  <a:srgbClr val="7A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Bagian 2 · Studi Kasus PT Djarum</a:t>
            </a:r>
            <a:endParaRPr lang="en-US" sz="950" dirty="0"/>
          </a:p>
        </p:txBody>
      </p:sp>
      <p:sp>
        <p:nvSpPr>
          <p:cNvPr id="28" name="Text 26"/>
          <p:cNvSpPr txBox="1"/>
          <p:nvPr/>
        </p:nvSpPr>
        <p:spPr>
          <a:xfrm>
            <a:off x="10607040" y="637336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8C2F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endParaRPr lang="en-US" sz="10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8C2F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SINTESIS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100" b="1" dirty="0">
                <a:solidFill>
                  <a:srgbClr val="241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Tiga Kerangka, Satu Kasus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26464"/>
            <a:ext cx="10607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i="1" dirty="0">
                <a:solidFill>
                  <a:srgbClr val="7A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Ketiganya tidak saling menggantikan. Masing-masing menjawab pertanyaan yang berbeda, dan baru bersama-sama membentuk gambar utuh.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11064240" cy="1133856"/>
          </a:xfrm>
          <a:prstGeom prst="roundRect">
            <a:avLst>
              <a:gd name="adj" fmla="val 4839"/>
            </a:avLst>
          </a:prstGeom>
          <a:solidFill>
            <a:srgbClr val="F3F0F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41248" y="2194560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C2F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CSR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841248" y="254203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A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 tanggung jawabnya?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3858768" y="2194560"/>
            <a:ext cx="746150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24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Djarum memenuhi lapis ekonomi, hukum, dan filantropis dengan kuat; lapis etis adalah titik paling rapuh. Program yang ada sebagian besar bolt-on, belum built-in.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3236976"/>
            <a:ext cx="11064240" cy="1133856"/>
          </a:xfrm>
          <a:prstGeom prst="roundRect">
            <a:avLst>
              <a:gd name="adj" fmla="val 4839"/>
            </a:avLst>
          </a:prstGeom>
          <a:solidFill>
            <a:srgbClr val="F3F0F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41248" y="3419856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85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STAKEHOLDER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841248" y="37673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A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KEPADA SIAPA?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3858768" y="3419856"/>
            <a:ext cx="746150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24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Klaim antar-stakeholder saling bertentangan dan tidak dapat dipuaskan sekaligus. Anak-anak peserta audisi adalah stakeholder sah berdasarkan principle of corporate effect, meski tanpa hubungan kontraktual.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4462272"/>
            <a:ext cx="11064240" cy="1133856"/>
          </a:xfrm>
          <a:prstGeom prst="roundRect">
            <a:avLst>
              <a:gd name="adj" fmla="val 4839"/>
            </a:avLst>
          </a:prstGeom>
          <a:solidFill>
            <a:srgbClr val="F3F0F1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41248" y="4645152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C7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CORPORATE CITIZENSHIP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841248" y="499262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A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DENGAN KUASA APA?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3858768" y="4645152"/>
            <a:ext cx="746150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24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Djarum mengambil peran kuasi-pemerintah di bidang pendidikan, kesehatan, olahraga, dan lingkungan. Karena itu tuntutan akuntabilitas dan transparansi setara aktor publik menjadi konsekuensi logis.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48640" y="5724144"/>
            <a:ext cx="11064240" cy="640080"/>
          </a:xfrm>
          <a:prstGeom prst="roundRect">
            <a:avLst>
              <a:gd name="adj" fmla="val 8571"/>
            </a:avLst>
          </a:prstGeom>
          <a:solidFill>
            <a:srgbClr val="451A28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41248" y="5724144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Nilai tambah corporate citizenship menurut buku: memperjelas peran politik korporasi, mempertajam tuntutan akuntabilitas, membantu memahami tantangan globalisasi, dan membuka perspektif yang lebih kritis atas peran sosial bisnis.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637336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80" kern="0" dirty="0">
                <a:solidFill>
                  <a:srgbClr val="7A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Bagian 2 · Studi Kasus PT Djarum</a:t>
            </a:r>
            <a:endParaRPr lang="en-US" sz="950" dirty="0"/>
          </a:p>
        </p:txBody>
      </p:sp>
      <p:sp>
        <p:nvSpPr>
          <p:cNvPr id="20" name="Text 18"/>
          <p:cNvSpPr txBox="1"/>
          <p:nvPr/>
        </p:nvSpPr>
        <p:spPr>
          <a:xfrm>
            <a:off x="10607040" y="637336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8C2F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</a:t>
            </a:r>
            <a:endParaRPr lang="en-US" sz="10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8C2F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PENUTUP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100" b="1" dirty="0">
                <a:solidFill>
                  <a:srgbClr val="241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Kesimpulan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48640" y="1664208"/>
            <a:ext cx="11064240" cy="859536"/>
          </a:xfrm>
          <a:prstGeom prst="roundRect">
            <a:avLst>
              <a:gd name="adj" fmla="val 6383"/>
            </a:avLst>
          </a:prstGeom>
          <a:solidFill>
            <a:srgbClr val="F3F0F1"/>
          </a:solidFill>
          <a:ln/>
        </p:spPr>
      </p:sp>
      <p:sp>
        <p:nvSpPr>
          <p:cNvPr id="5" name="Shape 3"/>
          <p:cNvSpPr/>
          <p:nvPr/>
        </p:nvSpPr>
        <p:spPr>
          <a:xfrm>
            <a:off x="804672" y="1892808"/>
            <a:ext cx="402336" cy="402336"/>
          </a:xfrm>
          <a:prstGeom prst="ellipse">
            <a:avLst/>
          </a:prstGeom>
          <a:solidFill>
            <a:srgbClr val="451A28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04672" y="189280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353312" y="1755648"/>
            <a:ext cx="99669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24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Korporasi memiliki tanggung jawab moral yang melampaui tanggung jawab individu di dalamnya — melalui legal identity, agency, budaya organisasi, dan identitas fungsionalnya. Inilah dasar untuk menuntut PT Djarum sebagai entitas, bukan hanya manajernya.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2596896"/>
            <a:ext cx="11064240" cy="859536"/>
          </a:xfrm>
          <a:prstGeom prst="roundRect">
            <a:avLst>
              <a:gd name="adj" fmla="val 6383"/>
            </a:avLst>
          </a:prstGeom>
          <a:solidFill>
            <a:srgbClr val="E9E2E5"/>
          </a:solidFill>
          <a:ln/>
        </p:spPr>
      </p:sp>
      <p:sp>
        <p:nvSpPr>
          <p:cNvPr id="9" name="Shape 7"/>
          <p:cNvSpPr/>
          <p:nvPr/>
        </p:nvSpPr>
        <p:spPr>
          <a:xfrm>
            <a:off x="804672" y="2825496"/>
            <a:ext cx="402336" cy="402336"/>
          </a:xfrm>
          <a:prstGeom prst="ellipse">
            <a:avLst/>
          </a:prstGeom>
          <a:solidFill>
            <a:srgbClr val="8C2F39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04672" y="282549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353312" y="2688336"/>
            <a:ext cx="99669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24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CSR Djarum kuat di lapis yang required dan desired, tetapi rapuh di lapis yang expected. Kasus ini memperlihatkan keterbatasan piramida Carroll: model itu diam ketika dua lapis tanggung jawab berbenturan.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3529584"/>
            <a:ext cx="11064240" cy="859536"/>
          </a:xfrm>
          <a:prstGeom prst="roundRect">
            <a:avLst>
              <a:gd name="adj" fmla="val 6383"/>
            </a:avLst>
          </a:prstGeom>
          <a:solidFill>
            <a:srgbClr val="F3F0F1"/>
          </a:solidFill>
          <a:ln/>
        </p:spPr>
      </p:sp>
      <p:sp>
        <p:nvSpPr>
          <p:cNvPr id="13" name="Shape 11"/>
          <p:cNvSpPr/>
          <p:nvPr/>
        </p:nvSpPr>
        <p:spPr>
          <a:xfrm>
            <a:off x="804672" y="3758184"/>
            <a:ext cx="402336" cy="402336"/>
          </a:xfrm>
          <a:prstGeom prst="ellipse">
            <a:avLst/>
          </a:prstGeom>
          <a:solidFill>
            <a:srgbClr val="7A2B36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04672" y="375818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1353312" y="3621024"/>
            <a:ext cx="99669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24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Sebagian besar program masih berkarakter bolt-on. Bergeser ke built-in menuntut integrasi dengan inti bisnis dan rantai nilai, bukan sekadar mendistribusikan sebagian laba.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4462272"/>
            <a:ext cx="11064240" cy="859536"/>
          </a:xfrm>
          <a:prstGeom prst="roundRect">
            <a:avLst>
              <a:gd name="adj" fmla="val 6383"/>
            </a:avLst>
          </a:prstGeom>
          <a:solidFill>
            <a:srgbClr val="E9E2E5"/>
          </a:solidFill>
          <a:ln/>
        </p:spPr>
      </p:sp>
      <p:sp>
        <p:nvSpPr>
          <p:cNvPr id="17" name="Shape 15"/>
          <p:cNvSpPr/>
          <p:nvPr/>
        </p:nvSpPr>
        <p:spPr>
          <a:xfrm>
            <a:off x="804672" y="4690872"/>
            <a:ext cx="402336" cy="402336"/>
          </a:xfrm>
          <a:prstGeom prst="ellipse">
            <a:avLst/>
          </a:prstGeom>
          <a:solidFill>
            <a:srgbClr val="A85541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04672" y="46908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1353312" y="4553712"/>
            <a:ext cx="99669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24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Melalui principle of corporate effect, anak-anak peserta audisi adalah stakeholder yang sah meski tidak terikat kontrak apa pun dengan perusahaan.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5394960"/>
            <a:ext cx="11064240" cy="859536"/>
          </a:xfrm>
          <a:prstGeom prst="roundRect">
            <a:avLst>
              <a:gd name="adj" fmla="val 6383"/>
            </a:avLst>
          </a:prstGeom>
          <a:solidFill>
            <a:srgbClr val="F3F0F1"/>
          </a:solidFill>
          <a:ln/>
        </p:spPr>
      </p:sp>
      <p:sp>
        <p:nvSpPr>
          <p:cNvPr id="21" name="Shape 19"/>
          <p:cNvSpPr/>
          <p:nvPr/>
        </p:nvSpPr>
        <p:spPr>
          <a:xfrm>
            <a:off x="804672" y="5623560"/>
            <a:ext cx="402336" cy="402336"/>
          </a:xfrm>
          <a:prstGeom prst="ellipse">
            <a:avLst/>
          </a:prstGeom>
          <a:solidFill>
            <a:srgbClr val="5C7A6B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804672" y="56235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1353312" y="5486400"/>
            <a:ext cx="99669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24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Dalam extended view of corporate citizenship, Djarum adalah aktor politik de facto. Karena itu tuntutan akuntabilitas dan transparansi bukan tuntutan yang berlebihan, melainkan konsekuensi logis dari peran yang sudah diambilnya.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637336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80" kern="0" dirty="0">
                <a:solidFill>
                  <a:srgbClr val="7A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Penutup</a:t>
            </a:r>
            <a:endParaRPr lang="en-US" sz="950" dirty="0"/>
          </a:p>
        </p:txBody>
      </p:sp>
      <p:sp>
        <p:nvSpPr>
          <p:cNvPr id="25" name="Text 23"/>
          <p:cNvSpPr txBox="1"/>
          <p:nvPr/>
        </p:nvSpPr>
        <p:spPr>
          <a:xfrm>
            <a:off x="10607040" y="637336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8C2F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</a:t>
            </a:r>
            <a:endParaRPr lang="en-US" sz="10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8C2F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PENUTUP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100" b="1" dirty="0">
                <a:solidFill>
                  <a:srgbClr val="241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Rekomendasi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26464"/>
            <a:ext cx="11064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i="1" dirty="0">
                <a:solidFill>
                  <a:srgbClr val="7A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Empat untuk perusahaan, satu untuk pembuat kebijakan — semuanya diturunkan langsung dari kerangka Bab 2.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956816"/>
            <a:ext cx="5440680" cy="1645920"/>
          </a:xfrm>
          <a:prstGeom prst="roundRect">
            <a:avLst>
              <a:gd name="adj" fmla="val 3333"/>
            </a:avLst>
          </a:prstGeom>
          <a:solidFill>
            <a:srgbClr val="F3F0F1"/>
          </a:solidFill>
          <a:ln/>
        </p:spPr>
      </p:sp>
      <p:sp>
        <p:nvSpPr>
          <p:cNvPr id="6" name="Shape 4"/>
          <p:cNvSpPr/>
          <p:nvPr/>
        </p:nvSpPr>
        <p:spPr>
          <a:xfrm>
            <a:off x="804672" y="2176272"/>
            <a:ext cx="402336" cy="402336"/>
          </a:xfrm>
          <a:prstGeom prst="ellipse">
            <a:avLst/>
          </a:prstGeom>
          <a:solidFill>
            <a:srgbClr val="8C2F39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04672" y="21762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335024" y="2176272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8C2F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DARI KRITIK CSR</a:t>
            </a:r>
            <a:endParaRPr lang="en-US" sz="850" dirty="0"/>
          </a:p>
        </p:txBody>
      </p:sp>
      <p:sp>
        <p:nvSpPr>
          <p:cNvPr id="9" name="Text 7"/>
          <p:cNvSpPr txBox="1"/>
          <p:nvPr/>
        </p:nvSpPr>
        <p:spPr>
          <a:xfrm>
            <a:off x="1335024" y="2359152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41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Pisahkan identitas program dari merek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2706624"/>
            <a:ext cx="48920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7A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Lanjutkan dan perluas prinsip kesepakatan 2019: kegiatan sosial dijalankan tanpa logo, merek, dan brand image yang beririsan dengan produk tembakau — terutama pada kegiatan yang melibatkan anak.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172200" y="1956816"/>
            <a:ext cx="5440680" cy="1645920"/>
          </a:xfrm>
          <a:prstGeom prst="roundRect">
            <a:avLst>
              <a:gd name="adj" fmla="val 3333"/>
            </a:avLst>
          </a:prstGeom>
          <a:solidFill>
            <a:srgbClr val="F3F0F1"/>
          </a:solidFill>
          <a:ln/>
        </p:spPr>
      </p:sp>
      <p:sp>
        <p:nvSpPr>
          <p:cNvPr id="12" name="Shape 10"/>
          <p:cNvSpPr/>
          <p:nvPr/>
        </p:nvSpPr>
        <p:spPr>
          <a:xfrm>
            <a:off x="6428232" y="2176272"/>
            <a:ext cx="402336" cy="402336"/>
          </a:xfrm>
          <a:prstGeom prst="ellipse">
            <a:avLst/>
          </a:prstGeom>
          <a:solidFill>
            <a:srgbClr val="A8554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428232" y="21762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6958584" y="2176272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A85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DARI TABEL 2.2</a:t>
            </a:r>
            <a:endParaRPr lang="en-US" sz="850" dirty="0"/>
          </a:p>
        </p:txBody>
      </p:sp>
      <p:sp>
        <p:nvSpPr>
          <p:cNvPr id="15" name="Text 13"/>
          <p:cNvSpPr txBox="1"/>
          <p:nvPr/>
        </p:nvSpPr>
        <p:spPr>
          <a:xfrm>
            <a:off x="6958584" y="2359152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41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Geser CSR dari bolt-on menjadi built-in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6446520" y="2706624"/>
            <a:ext cx="48920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7A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Prioritaskan program yang terhubung dengan rantai nilai: kesejahteraan dan produktivitas petani tembakau dan cengkeh, keselamatan kerja, serta penyiapan transisi ekonomi Kudus.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48640" y="3749040"/>
            <a:ext cx="5440680" cy="1645920"/>
          </a:xfrm>
          <a:prstGeom prst="roundRect">
            <a:avLst>
              <a:gd name="adj" fmla="val 3333"/>
            </a:avLst>
          </a:prstGeom>
          <a:solidFill>
            <a:srgbClr val="F3F0F1"/>
          </a:solidFill>
          <a:ln/>
        </p:spPr>
      </p:sp>
      <p:sp>
        <p:nvSpPr>
          <p:cNvPr id="18" name="Shape 16"/>
          <p:cNvSpPr/>
          <p:nvPr/>
        </p:nvSpPr>
        <p:spPr>
          <a:xfrm>
            <a:off x="804672" y="3968496"/>
            <a:ext cx="402336" cy="402336"/>
          </a:xfrm>
          <a:prstGeom prst="ellipse">
            <a:avLst/>
          </a:prstGeom>
          <a:solidFill>
            <a:srgbClr val="5C7A6B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804672" y="396849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1335024" y="3968496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5C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DARI TRANSPARANSI</a:t>
            </a:r>
            <a:endParaRPr lang="en-US" sz="850" dirty="0"/>
          </a:p>
        </p:txBody>
      </p:sp>
      <p:sp>
        <p:nvSpPr>
          <p:cNvPr id="21" name="Text 19"/>
          <p:cNvSpPr txBox="1"/>
          <p:nvPr/>
        </p:nvSpPr>
        <p:spPr>
          <a:xfrm>
            <a:off x="1335024" y="4151376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41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Perkuat transparansi pelaporan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822960" y="4498848"/>
            <a:ext cx="48920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7A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Susun laporan keberlanjutan yang memenuhi disclosure, clarity, dan accuracy — termasuk mengungkapkan belanja program sosial dan belanja pemasaran secara terpisah, agar batas keduanya dapat dinilai publik.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172200" y="3749040"/>
            <a:ext cx="5440680" cy="1645920"/>
          </a:xfrm>
          <a:prstGeom prst="roundRect">
            <a:avLst>
              <a:gd name="adj" fmla="val 3333"/>
            </a:avLst>
          </a:prstGeom>
          <a:solidFill>
            <a:srgbClr val="F3F0F1"/>
          </a:solidFill>
          <a:ln/>
        </p:spPr>
      </p:sp>
      <p:sp>
        <p:nvSpPr>
          <p:cNvPr id="24" name="Shape 22"/>
          <p:cNvSpPr/>
          <p:nvPr/>
        </p:nvSpPr>
        <p:spPr>
          <a:xfrm>
            <a:off x="6428232" y="3968496"/>
            <a:ext cx="402336" cy="402336"/>
          </a:xfrm>
          <a:prstGeom prst="ellipse">
            <a:avLst/>
          </a:prstGeom>
          <a:solidFill>
            <a:srgbClr val="C8952B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6428232" y="396849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41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6958584" y="3968496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C89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DARI STAKEHOLDER</a:t>
            </a:r>
            <a:endParaRPr lang="en-US" sz="850" dirty="0"/>
          </a:p>
        </p:txBody>
      </p:sp>
      <p:sp>
        <p:nvSpPr>
          <p:cNvPr id="27" name="Text 25"/>
          <p:cNvSpPr txBox="1"/>
          <p:nvPr/>
        </p:nvSpPr>
        <p:spPr>
          <a:xfrm>
            <a:off x="6958584" y="4151376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41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Lembagakan dialog stakeholder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6446520" y="4498848"/>
            <a:ext cx="48920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7A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Bangun forum reguler dengan regulator, masyarakat sipil, dan komunitas terdampak — bukan hanya mediasi ketika krisis sudah terjadi. Ini wujud praktis stakeholder democracy.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548640" y="5541264"/>
            <a:ext cx="11064240" cy="713232"/>
          </a:xfrm>
          <a:prstGeom prst="roundRect">
            <a:avLst>
              <a:gd name="adj" fmla="val 7692"/>
            </a:avLst>
          </a:prstGeom>
          <a:solidFill>
            <a:srgbClr val="451A28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841248" y="5541264"/>
            <a:ext cx="10424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E4B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Bagi pembuat kebijakan:  </a:t>
            </a:r>
            <a:pPr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tutup celah CSR dalam revisi PP No. 109/2012, sehingga batas antara filantropi dan promosi produk tembakau menjadi tegas dan dapat ditegakkan — bukan diserahkan pada mediasi kasus per kasus.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548640" y="637336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80" kern="0" dirty="0">
                <a:solidFill>
                  <a:srgbClr val="7A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Penutup</a:t>
            </a:r>
            <a:endParaRPr lang="en-US" sz="950" dirty="0"/>
          </a:p>
        </p:txBody>
      </p:sp>
      <p:sp>
        <p:nvSpPr>
          <p:cNvPr id="32" name="Text 30"/>
          <p:cNvSpPr txBox="1"/>
          <p:nvPr/>
        </p:nvSpPr>
        <p:spPr>
          <a:xfrm>
            <a:off x="10607040" y="637336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8C2F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</a:t>
            </a:r>
            <a:endParaRPr lang="en-US" sz="10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8C2F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PENUTUP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100" b="1" dirty="0">
                <a:solidFill>
                  <a:srgbClr val="241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Referensi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11064240" cy="932688"/>
          </a:xfrm>
          <a:prstGeom prst="roundRect">
            <a:avLst>
              <a:gd name="adj" fmla="val 5882"/>
            </a:avLst>
          </a:prstGeom>
          <a:solidFill>
            <a:srgbClr val="451A2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41248" y="1773936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E4B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SUMBER UTAMA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841248" y="2011680"/>
            <a:ext cx="10424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Crane, A., Matten, D., Glozer, S., &amp; Spence, L. (2019). Business Ethics: Managing Corporate Citizenship and Sustainability in the Age of Globalization (5th ed.). Oxford University Press — Bab 2: Framing Business Ethics, hlm. 44-78.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743200"/>
            <a:ext cx="5440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41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Rujukan teori di dalam bab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66928" y="3172968"/>
            <a:ext cx="91440" cy="91440"/>
          </a:xfrm>
          <a:prstGeom prst="ellipse">
            <a:avLst/>
          </a:prstGeom>
          <a:solidFill>
            <a:srgbClr val="8C2F39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86384" y="3072384"/>
            <a:ext cx="52029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4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Friedman, M. (1970). The social responsibility of business is to increase its profits.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66928" y="3557016"/>
            <a:ext cx="91440" cy="91440"/>
          </a:xfrm>
          <a:prstGeom prst="ellipse">
            <a:avLst/>
          </a:prstGeom>
          <a:solidFill>
            <a:srgbClr val="8C2F39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86384" y="3456432"/>
            <a:ext cx="52029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4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Carroll, A. B. (1991). The pyramid of corporate social responsibility. Business Horizons.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66928" y="3941064"/>
            <a:ext cx="91440" cy="91440"/>
          </a:xfrm>
          <a:prstGeom prst="ellipse">
            <a:avLst/>
          </a:prstGeom>
          <a:solidFill>
            <a:srgbClr val="8C2F39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86384" y="3840480"/>
            <a:ext cx="52029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4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Freeman, R. E. (1984). Strategic Management: A Stakeholder Approach.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66928" y="4325112"/>
            <a:ext cx="91440" cy="91440"/>
          </a:xfrm>
          <a:prstGeom prst="ellipse">
            <a:avLst/>
          </a:prstGeom>
          <a:solidFill>
            <a:srgbClr val="8C2F39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86384" y="4224528"/>
            <a:ext cx="52029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4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Evan, W. &amp; Freeman, R. E. (1993); Donaldson, T. &amp; Preston, L. (1995).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66928" y="4709160"/>
            <a:ext cx="91440" cy="91440"/>
          </a:xfrm>
          <a:prstGeom prst="ellipse">
            <a:avLst/>
          </a:prstGeom>
          <a:solidFill>
            <a:srgbClr val="8C2F39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86384" y="4608576"/>
            <a:ext cx="52029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4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Matten, D. &amp; Crane, A. (2005); Matten, D. &amp; Moon, J. (2008).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66928" y="5093208"/>
            <a:ext cx="91440" cy="91440"/>
          </a:xfrm>
          <a:prstGeom prst="ellipse">
            <a:avLst/>
          </a:prstGeom>
          <a:solidFill>
            <a:srgbClr val="8C2F39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786384" y="4992624"/>
            <a:ext cx="52029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4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Wood, D. (1991); Rowley, T. (1997); Marshall, T. H. (1965).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66928" y="5477256"/>
            <a:ext cx="91440" cy="91440"/>
          </a:xfrm>
          <a:prstGeom prst="ellipse">
            <a:avLst/>
          </a:prstGeom>
          <a:solidFill>
            <a:srgbClr val="8C2F39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86384" y="5376672"/>
            <a:ext cx="52029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4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Porter, M. &amp; Kramer, M. (2006); Crane et al. (2014).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66928" y="5861304"/>
            <a:ext cx="91440" cy="91440"/>
          </a:xfrm>
          <a:prstGeom prst="ellipse">
            <a:avLst/>
          </a:prstGeom>
          <a:solidFill>
            <a:srgbClr val="8C2F39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786384" y="5760720"/>
            <a:ext cx="52029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4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Schnackenberg, A. &amp; Tomlinson, E. (2014); Fleming, P. &amp; Jones, M. (2012).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6172200" y="2743200"/>
            <a:ext cx="5440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41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Sumber data kasus PT Djarum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6190488" y="3172968"/>
            <a:ext cx="91440" cy="91440"/>
          </a:xfrm>
          <a:prstGeom prst="ellipse">
            <a:avLst/>
          </a:prstGeom>
          <a:solidFill>
            <a:srgbClr val="5C7A6B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409944" y="3072384"/>
            <a:ext cx="52029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4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Peraturan Pemerintah No. 109 Tahun 2012 tentang Pengamanan Bahan yang Mengandung Zat Adiktif berupa Produk Tembakau bagi Kesehatan.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190488" y="3557016"/>
            <a:ext cx="91440" cy="91440"/>
          </a:xfrm>
          <a:prstGeom prst="ellipse">
            <a:avLst/>
          </a:prstGeom>
          <a:solidFill>
            <a:srgbClr val="5C7A6B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6409944" y="3456432"/>
            <a:ext cx="52029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4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KPAI (2019), "Audisi Djarum Beasiswa Bulutangkis: Hentikan Penggunaan Anak untuk Promosi".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190488" y="3941064"/>
            <a:ext cx="91440" cy="91440"/>
          </a:xfrm>
          <a:prstGeom prst="ellipse">
            <a:avLst/>
          </a:prstGeom>
          <a:solidFill>
            <a:srgbClr val="5C7A6B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6409944" y="3840480"/>
            <a:ext cx="52029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4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 Indonesia (12 September 2019), "3 Kesepakatan Hasil Mediasi PB Djarum dan KPAI".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6190488" y="4325112"/>
            <a:ext cx="91440" cy="91440"/>
          </a:xfrm>
          <a:prstGeom prst="ellipse">
            <a:avLst/>
          </a:prstGeom>
          <a:solidFill>
            <a:srgbClr val="5C7A6B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6409944" y="4224528"/>
            <a:ext cx="52029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4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Tempo, Kompas, Tirto (2019) — liputan polemik audisi PB Djarum.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6190488" y="4709160"/>
            <a:ext cx="91440" cy="91440"/>
          </a:xfrm>
          <a:prstGeom prst="ellipse">
            <a:avLst/>
          </a:prstGeom>
          <a:solidFill>
            <a:srgbClr val="5C7A6B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6409944" y="4608576"/>
            <a:ext cx="52029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4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Medcom (2017); Liputan6 (2017) — setoran cukai dan pajak PT Djarum.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6190488" y="5093208"/>
            <a:ext cx="91440" cy="91440"/>
          </a:xfrm>
          <a:prstGeom prst="ellipse">
            <a:avLst/>
          </a:prstGeom>
          <a:solidFill>
            <a:srgbClr val="5C7A6B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6409944" y="4992624"/>
            <a:ext cx="52029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4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Kompas Lestari (2024); ANTARA (2024) — Bakti Lingkungan Djarum Foundation.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6190488" y="5477256"/>
            <a:ext cx="91440" cy="91440"/>
          </a:xfrm>
          <a:prstGeom prst="ellipse">
            <a:avLst/>
          </a:prstGeom>
          <a:solidFill>
            <a:srgbClr val="5C7A6B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6409944" y="5376672"/>
            <a:ext cx="52029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4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ANTARA (2025); PB Djarum (2024) — hasil Audisi Umum Beasiswa Bulutangkis.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6190488" y="5861304"/>
            <a:ext cx="91440" cy="91440"/>
          </a:xfrm>
          <a:prstGeom prst="ellipse">
            <a:avLst/>
          </a:prstGeom>
          <a:solidFill>
            <a:srgbClr val="5C7A6B"/>
          </a:solidFill>
          <a:ln/>
        </p:spPr>
      </p:sp>
      <p:sp>
        <p:nvSpPr>
          <p:cNvPr id="40" name="Text 38"/>
          <p:cNvSpPr txBox="1"/>
          <p:nvPr/>
        </p:nvSpPr>
        <p:spPr>
          <a:xfrm>
            <a:off x="6409944" y="5760720"/>
            <a:ext cx="52029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4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djarumfoundation.org; pbdjarum.org; djarumbeasiswaplus.org.</a:t>
            </a:r>
            <a:endParaRPr lang="en-US" sz="1050" dirty="0"/>
          </a:p>
        </p:txBody>
      </p:sp>
      <p:sp>
        <p:nvSpPr>
          <p:cNvPr id="41" name="Text 39"/>
          <p:cNvSpPr txBox="1"/>
          <p:nvPr/>
        </p:nvSpPr>
        <p:spPr>
          <a:xfrm>
            <a:off x="548640" y="637336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80" kern="0" dirty="0">
                <a:solidFill>
                  <a:srgbClr val="7A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Penutup</a:t>
            </a:r>
            <a:endParaRPr lang="en-US" sz="950" dirty="0"/>
          </a:p>
        </p:txBody>
      </p:sp>
      <p:sp>
        <p:nvSpPr>
          <p:cNvPr id="42" name="Text 40"/>
          <p:cNvSpPr txBox="1"/>
          <p:nvPr/>
        </p:nvSpPr>
        <p:spPr>
          <a:xfrm>
            <a:off x="10607040" y="637336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8C2F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</a:t>
            </a:r>
            <a:endParaRPr lang="en-US" sz="10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451A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52560" y="1463040"/>
            <a:ext cx="4754880" cy="4754880"/>
          </a:xfrm>
          <a:prstGeom prst="ellipse">
            <a:avLst/>
          </a:prstGeom>
          <a:solidFill>
            <a:srgbClr val="8C2F39"/>
          </a:solidFill>
          <a:ln/>
        </p:spPr>
      </p:sp>
      <p:sp>
        <p:nvSpPr>
          <p:cNvPr id="3" name="Shape 1"/>
          <p:cNvSpPr/>
          <p:nvPr/>
        </p:nvSpPr>
        <p:spPr>
          <a:xfrm>
            <a:off x="10424160" y="-914400"/>
            <a:ext cx="2377440" cy="2377440"/>
          </a:xfrm>
          <a:prstGeom prst="ellipse">
            <a:avLst/>
          </a:prstGeom>
          <a:solidFill>
            <a:srgbClr val="C8952B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2212848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20" kern="0" dirty="0">
                <a:solidFill>
                  <a:srgbClr val="E4B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 DISKUSI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578608"/>
            <a:ext cx="7680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Terima kasih</a:t>
            </a:r>
            <a:endParaRPr lang="en-US" sz="4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712464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7AA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Pertanyaan pemantik untuk diskusi kelas: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4078224"/>
            <a:ext cx="365760" cy="365760"/>
          </a:xfrm>
          <a:prstGeom prst="ellipse">
            <a:avLst/>
          </a:prstGeom>
          <a:solidFill>
            <a:srgbClr val="C8952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407822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41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1060704" y="4059936"/>
            <a:ext cx="7223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Jika manfaat programnya nyata, apakah motif di baliknya masih relevan untuk dinilai?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4645152"/>
            <a:ext cx="365760" cy="365760"/>
          </a:xfrm>
          <a:prstGeom prst="ellipse">
            <a:avLst/>
          </a:prstGeom>
          <a:solidFill>
            <a:srgbClr val="C8952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48640" y="46451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41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1060704" y="4626864"/>
            <a:ext cx="7223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Bolehkah perusahaan dengan produk berisiko mengambil peran kuasi-pemerintah di ruang anak?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5212080"/>
            <a:ext cx="365760" cy="365760"/>
          </a:xfrm>
          <a:prstGeom prst="ellipse">
            <a:avLst/>
          </a:prstGeom>
          <a:solidFill>
            <a:srgbClr val="C8952B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48640" y="52120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41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1060704" y="5193792"/>
            <a:ext cx="7223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Siapa yang seharusnya mengisi kekosongan itu jika program semacam ini dihentikan?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637336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80" kern="0" dirty="0">
                <a:solidFill>
                  <a:srgbClr val="C7AA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Framing Business Ethics · Bab 2 · Studi Kasus PT Djarum</a:t>
            </a:r>
            <a:endParaRPr lang="en-US" sz="950" dirty="0"/>
          </a:p>
        </p:txBody>
      </p:sp>
      <p:sp>
        <p:nvSpPr>
          <p:cNvPr id="17" name="Text 15"/>
          <p:cNvSpPr txBox="1"/>
          <p:nvPr/>
        </p:nvSpPr>
        <p:spPr>
          <a:xfrm>
            <a:off x="10607040" y="637336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E4B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41</Slides>
  <Notes>41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4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Framing Business Ethics - Studi Kasus PT Djarum</dc:title>
  <dc:subject>PptxGenJS Presentation</dc:subject>
  <dc:creator>Kelompok Business Ethics</dc:creator>
  <cp:lastModifiedBy>Kelompok Business Ethics</cp:lastModifiedBy>
  <cp:revision>1</cp:revision>
  <dcterms:created xsi:type="dcterms:W3CDTF">2026-08-26T14:21:30Z</dcterms:created>
  <dcterms:modified xsi:type="dcterms:W3CDTF">2026-08-26T14:21:30Z</dcterms:modified>
</cp:coreProperties>
</file>