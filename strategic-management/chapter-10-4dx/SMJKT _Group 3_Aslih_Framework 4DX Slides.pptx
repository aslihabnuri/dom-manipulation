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Actual (lag)</c:v>
                </c:pt>
              </c:strCache>
            </c:strRef>
          </c:tx>
          <c:spPr>
            <a:solidFill>
              <a:srgbClr val="14213D"/>
            </a:solidFill>
            <a:ln w="25400" cap="flat">
              <a:solidFill>
                <a:srgbClr val="14213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4213D"/>
              </a:solidFill>
              <a:ln w="9525" cap="flat">
                <a:solidFill>
                  <a:srgbClr val="14213D"/>
                </a:solidFill>
                <a:prstDash val="solid"/>
                <a:round/>
              </a:ln>
              <a:effectLst/>
            </c:spPr>
          </c:marker>
          <c:cat>
            <c:multiLvlStrRef>
              <c:f>Sheet1!$A$2:$A$9</c:f>
              <c:multiLvlStrCache>
                <c:ptCount val="8"/>
                <c:lvl>
                  <c:pt idx="0">
                    <c:v>W1</c:v>
                  </c:pt>
                  <c:pt idx="1">
                    <c:v>W2</c:v>
                  </c:pt>
                  <c:pt idx="2">
                    <c:v>W3</c:v>
                  </c:pt>
                  <c:pt idx="3">
                    <c:v>W4</c:v>
                  </c:pt>
                  <c:pt idx="4">
                    <c:v>W5</c:v>
                  </c:pt>
                  <c:pt idx="5">
                    <c:v>W6</c:v>
                  </c:pt>
                  <c:pt idx="6">
                    <c:v>W7</c:v>
                  </c:pt>
                  <c:pt idx="7">
                    <c:v>W8</c:v>
                  </c:pt>
                </c:lvl>
              </c:multiLvlStrCache>
            </c:multiLvlStrRef>
          </c:cat>
          <c:val>
            <c:numRef>
              <c:f>Sheet1!$B$2:$B$9</c:f>
              <c:numCache>
                <c:formatCode>General</c:formatCode>
                <c:ptCount val="8"/>
                <c:pt idx="0">
                  <c:v>82</c:v>
                </c:pt>
                <c:pt idx="1">
                  <c:v>83</c:v>
                </c:pt>
                <c:pt idx="2">
                  <c:v>83</c:v>
                </c:pt>
                <c:pt idx="3">
                  <c:v>85</c:v>
                </c:pt>
                <c:pt idx="4">
                  <c:v>87</c:v>
                </c:pt>
                <c:pt idx="5">
                  <c:v>88</c:v>
                </c:pt>
                <c:pt idx="6">
                  <c:v>90</c:v>
                </c:pt>
                <c:pt idx="7">
                  <c:v>91</c:v>
                </c:pt>
              </c:numCache>
            </c:numRef>
          </c:val>
          <c:smooth val="0"/>
        </c:ser>
        <c:ser>
          <c:idx val="1"/>
          <c:order val="1"/>
          <c:tx>
            <c:strRef>
              <c:f>Sheet1!$C$1</c:f>
              <c:strCache>
                <c:ptCount val="1"/>
                <c:pt idx="0">
                  <c:v>Target path</c:v>
                </c:pt>
              </c:strCache>
            </c:strRef>
          </c:tx>
          <c:spPr>
            <a:solidFill>
              <a:srgbClr val="FCA311"/>
            </a:solidFill>
            <a:ln w="25400" cap="flat">
              <a:solidFill>
                <a:srgbClr val="FCA3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CA311"/>
              </a:solidFill>
              <a:ln w="9525" cap="flat">
                <a:solidFill>
                  <a:srgbClr val="FCA311"/>
                </a:solidFill>
                <a:prstDash val="solid"/>
                <a:round/>
              </a:ln>
              <a:effectLst/>
            </c:spPr>
          </c:marker>
          <c:cat>
            <c:multiLvlStrRef>
              <c:f>Sheet1!$A$2:$A$9</c:f>
              <c:multiLvlStrCache>
                <c:ptCount val="8"/>
                <c:lvl>
                  <c:pt idx="0">
                    <c:v>W1</c:v>
                  </c:pt>
                  <c:pt idx="1">
                    <c:v>W2</c:v>
                  </c:pt>
                  <c:pt idx="2">
                    <c:v>W3</c:v>
                  </c:pt>
                  <c:pt idx="3">
                    <c:v>W4</c:v>
                  </c:pt>
                  <c:pt idx="4">
                    <c:v>W5</c:v>
                  </c:pt>
                  <c:pt idx="5">
                    <c:v>W6</c:v>
                  </c:pt>
                  <c:pt idx="6">
                    <c:v>W7</c:v>
                  </c:pt>
                  <c:pt idx="7">
                    <c:v>W8</c:v>
                  </c:pt>
                </c:lvl>
              </c:multiLvlStrCache>
            </c:multiLvlStrRef>
          </c:cat>
          <c:val>
            <c:numRef>
              <c:f>Sheet1!$C$2:$C$9</c:f>
              <c:numCache>
                <c:formatCode>General</c:formatCode>
                <c:ptCount val="8"/>
                <c:pt idx="0">
                  <c:v>82</c:v>
                </c:pt>
                <c:pt idx="1">
                  <c:v>83.5</c:v>
                </c:pt>
                <c:pt idx="2">
                  <c:v>85</c:v>
                </c:pt>
                <c:pt idx="3">
                  <c:v>86.5</c:v>
                </c:pt>
                <c:pt idx="4">
                  <c:v>88</c:v>
                </c:pt>
                <c:pt idx="5">
                  <c:v>89.5</c:v>
                </c:pt>
                <c:pt idx="6">
                  <c:v>91</c:v>
                </c:pt>
                <c:pt idx="7">
                  <c:v>92.5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A5568"/>
                </a:solidFill>
                <a:latin typeface="Arial"/>
              </a:defRPr>
            </a:pPr>
            <a:endParaRPr lang="en-US"/>
          </a:p>
        </c:txPr>
        <c:crossAx val="2094734552"/>
        <c:crosses val="autoZero"/>
        <c:auto val="1"/>
        <c:lblAlgn val="ctr"/>
        <c:noMultiLvlLbl val="1"/>
      </c:catAx>
      <c:valAx>
        <c:axId val="2094734552"/>
        <c:scaling>
          <c:orientation val="minMax"/>
          <c:max val="96"/>
          <c:min val="80"/>
        </c:scaling>
        <c:delete val="0"/>
        <c:axPos val="l"/>
        <c:majorGridlines>
          <c:spPr>
            <a:ln w="6350" cap="flat">
              <a:solidFill>
                <a:srgbClr val="D5DA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A556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4A5568"/>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(1 min). Introduce the group and the framework. Frame the talk: Chapter 10 tells us WHAT an organization needs to execute strategy (people, capabilities, structure); 4DX tells us HOW teams behave week by week to make execution happen. Agenda: why execution fails, Chapter 10 recap, the four disciplines, dimensions and measures, link to Chapter 10, international business benefits, critique.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Set up the problem. Thompson et al. open Chapter 10 with the finding that execution, not strategy, is the number-one challenge for CEOs. FranklinCovey's own diagnosis is the same: most strategies die in execution. Transition: Chapter 10 gives us a map of what must be in place; 4DX gives the weekly operating rhythm.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Quick recap so the audience sees where 4DX plugs in. Chapter 10 covers tasks 1-3 of the ten: staffing, capabilities, structure. Emphasize the Core Concept on p. 296: good strategy execution requires a team effort; all managers and employees are participants. 4DX is precisely a team-level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Introduce the central diagnosis in McChesney, Covey and Huling (2012): the whirlwind. Ask the audience: how many of your own strategic initiatives from January are still alive in November? The whirlwind is why capabilities described in Chapter 10 often exist on paper but are not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Give the whole model in one view before going deep. Note the sequence matters: 1 and 2 are about choosing what to do; 3 and 4 are about sustaining behaviour. Definitions in italics are FranklinCovey's own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 first dimension is focus. The measure is deceptively simple: how many goals does the team carry? More than two means none gets executed. Explain the formula 'from X to Y by when' with the illustrative example (a hypothetical Indonesian manufacturer expanding to Vietnam). Link to Chapter 10: this is where leadership's decision on which value chain activities are strategy-critical (p. 313) becomes a concrete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This is the operational heart of 4DX. Most organizations manage by lag measures (revenue, share, satisfaction), which cannot be acted on directly. The discipline is to find the 20% of activities that produce 80% of the result and manage those. Link to Chapter 10's capability-building logic: 'the first step is to develop the ability to do something, however imperfectly' and then improve through repetition (p. 305). A lead measure is that repetition made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 measure for this dimension is the quality of the scoreboard against four criteria. Show the mock scoreboard: actual versus target path plus this week's lead measure. Point: engagement rises when people keep their own score. Chapter 10 link: this is the team-level equivalent of the two 'best signs' of good execution on p. 297, meeting performance targets and proficiency in strategy-critical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Discipline 4 is where execution actually happens. The WIG session is deliberately short and ritualised so that it survives the whirlwind. Commitments are personal and public. Chapter 10 discusses decentralised decision making and cross-unit coordination; the WIG session is a lightweight structural device that achieves both without adding hierarchy.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This slide answers the first two questions in Appendix 1 of the course outline: what are the most important dimensions and measures, and how are they defined. Keep it as a reference slide; do not read it aloud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Walk the three rows. The strongest link is row 2: Chapter 10 says superior strategy execution capabilities are 'the only source of sustainable competitive advantage when strategies are easy for rivals to copy' (p. 308). 4DX is a method for building exactly that kind of socially complex, hard-to-copy execution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This answers the third Appendix 1 question. Connect to Chapter 10's point that the multidivisional structure is common in international firms (p. 315) and that it inhibits cross-business coordination; cascading WIGs are one answer. Be honest that the results quoted are FranklinCovey's own case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Make it concrete with a hypothetical case (state clearly it is illustrative). Show the cascade: corporate WIG, country WIG, weekly lead measures, scoreboard and cadence. Point out how each Chapter 10 action appears: staffing (who sits in the Monday call), capabilities (customs documentation proficiency built by repetition), structure (country team owns its lead measures; headquarters owns the 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 rubric rewards critical evaluation, so be explicit. Position 4DX downstream of the analysis in Chapters 3-8: it is an execution engine, not a strategy engine. Raise the cultural point for Indonesian firms and invite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Close with the four takeaways and open the floor for questions from the non-presenting groups (their questions count toward participation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6675120" y="-1097280"/>
            <a:ext cx="3840480" cy="3840480"/>
          </a:xfrm>
          <a:prstGeom prst="ellipse">
            <a:avLst/>
          </a:prstGeom>
          <a:solidFill>
            <a:srgbClr val="1F2F57"/>
          </a:solidFill>
          <a:ln w="12700">
            <a:solidFill>
              <a:srgbClr val="1F2F57"/>
            </a:solidFill>
            <a:prstDash val="solid"/>
          </a:ln>
        </p:spPr>
      </p:sp>
      <p:sp>
        <p:nvSpPr>
          <p:cNvPr id="3" name="Text 1"/>
          <p:cNvSpPr txBox="1"/>
          <p:nvPr/>
        </p:nvSpPr>
        <p:spPr>
          <a:xfrm>
            <a:off x="548640" y="548640"/>
            <a:ext cx="7772400" cy="365760"/>
          </a:xfrm>
          <a:prstGeom prst="rect">
            <a:avLst/>
          </a:prstGeom>
          <a:noFill/>
          <a:ln/>
        </p:spPr>
        <p:txBody>
          <a:bodyPr wrap="square" lIns="0" tIns="0" rIns="0" bIns="0" rtlCol="0" anchor="ctr"/>
          <a:lstStyle/>
          <a:p>
            <a:pPr indent="0" marL="0">
              <a:buNone/>
            </a:pPr>
            <a:r>
              <a:rPr lang="en-US" sz="1400" dirty="0">
                <a:solidFill>
                  <a:srgbClr val="FCA311"/>
                </a:solidFill>
                <a:latin typeface="Calibri" pitchFamily="34" charset="0"/>
                <a:ea typeface="Calibri" pitchFamily="34" charset="-122"/>
                <a:cs typeface="Calibri" pitchFamily="34" charset="-120"/>
              </a:rPr>
              <a:t>Group 3  |  Strategic Framework Presentation  |  Session 9</a:t>
            </a:r>
            <a:endParaRPr lang="en-US" sz="1400" dirty="0"/>
          </a:p>
        </p:txBody>
      </p:sp>
      <p:sp>
        <p:nvSpPr>
          <p:cNvPr id="4" name="Text 2"/>
          <p:cNvSpPr txBox="1"/>
          <p:nvPr/>
        </p:nvSpPr>
        <p:spPr>
          <a:xfrm>
            <a:off x="548640" y="1143000"/>
            <a:ext cx="7315200" cy="173736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The 4 Disciplines</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of Execution (4DX)</a:t>
            </a:r>
            <a:endParaRPr lang="en-US" sz="4600" dirty="0"/>
          </a:p>
        </p:txBody>
      </p:sp>
      <p:sp>
        <p:nvSpPr>
          <p:cNvPr id="5" name="Text 3"/>
          <p:cNvSpPr txBox="1"/>
          <p:nvPr/>
        </p:nvSpPr>
        <p:spPr>
          <a:xfrm>
            <a:off x="548640" y="2926080"/>
            <a:ext cx="6949440" cy="731520"/>
          </a:xfrm>
          <a:prstGeom prst="rect">
            <a:avLst/>
          </a:prstGeom>
          <a:noFill/>
          <a:ln/>
        </p:spPr>
        <p:txBody>
          <a:bodyPr wrap="square" lIns="0" tIns="0" rIns="0" bIns="0" rtlCol="0" anchor="ctr"/>
          <a:lstStyle/>
          <a:p>
            <a:pPr indent="0" marL="0">
              <a:buNone/>
            </a:pPr>
            <a:r>
              <a:rPr lang="en-US" sz="1400" dirty="0">
                <a:solidFill>
                  <a:srgbClr val="CBD3E3"/>
                </a:solidFill>
                <a:latin typeface="Calibri" pitchFamily="34" charset="0"/>
                <a:ea typeface="Calibri" pitchFamily="34" charset="-122"/>
                <a:cs typeface="Calibri" pitchFamily="34" charset="-120"/>
              </a:rPr>
              <a:t>A framework for turning strategy into results, in correlation with Chapter 10: Building an Organization Capable of Good Strategy Execution (Thompson, Peteraf, Gamble &amp; Strickland, 2024)</a:t>
            </a:r>
            <a:endParaRPr lang="en-US" sz="1400" dirty="0"/>
          </a:p>
        </p:txBody>
      </p:sp>
      <p:sp>
        <p:nvSpPr>
          <p:cNvPr id="6" name="Text 4"/>
          <p:cNvSpPr txBox="1"/>
          <p:nvPr/>
        </p:nvSpPr>
        <p:spPr>
          <a:xfrm>
            <a:off x="548640" y="3886200"/>
            <a:ext cx="804672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Tifani Puspita  •  Dara Astrini Rahayu K.  •  Richy Fatma Salsabila  •  Happy Dinithasari  •  Aslih Abnuri</a:t>
            </a:r>
            <a:endParaRPr lang="en-US" sz="1200" dirty="0"/>
          </a:p>
        </p:txBody>
      </p:sp>
      <p:sp>
        <p:nvSpPr>
          <p:cNvPr id="7" name="Text 5"/>
          <p:cNvSpPr txBox="1"/>
          <p:nvPr/>
        </p:nvSpPr>
        <p:spPr>
          <a:xfrm>
            <a:off x="548640" y="4206240"/>
            <a:ext cx="8046720" cy="320040"/>
          </a:xfrm>
          <a:prstGeom prst="rect">
            <a:avLst/>
          </a:prstGeom>
          <a:noFill/>
          <a:ln/>
        </p:spPr>
        <p:txBody>
          <a:bodyPr wrap="square" lIns="0" tIns="0" rIns="0" bIns="0" rtlCol="0" anchor="ctr"/>
          <a:lstStyle/>
          <a:p>
            <a:pPr indent="0" marL="0">
              <a:buNone/>
            </a:pPr>
            <a:r>
              <a:rPr lang="en-US" sz="1100" dirty="0">
                <a:solidFill>
                  <a:srgbClr val="AEB7C9"/>
                </a:solidFill>
                <a:latin typeface="Calibri" pitchFamily="34" charset="0"/>
                <a:ea typeface="Calibri" pitchFamily="34" charset="-122"/>
                <a:cs typeface="Calibri" pitchFamily="34" charset="-120"/>
              </a:rPr>
              <a:t>MAN 5422 Strategic Management  |  MM UGM Jakarta (SEMBA)  |  Lecturer: Dr. Rangga Almahendra, S.T., M.M.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Strategy is the easy half. Execution is the hard half.</a:t>
            </a:r>
            <a:endParaRPr lang="en-US" sz="2600" dirty="0"/>
          </a:p>
        </p:txBody>
      </p:sp>
      <p:sp>
        <p:nvSpPr>
          <p:cNvPr id="3" name="Shape 1"/>
          <p:cNvSpPr/>
          <p:nvPr/>
        </p:nvSpPr>
        <p:spPr>
          <a:xfrm>
            <a:off x="457200" y="1234440"/>
            <a:ext cx="2651760" cy="2011680"/>
          </a:xfrm>
          <a:prstGeom prst="roundRect">
            <a:avLst>
              <a:gd name="adj" fmla="val 3636"/>
            </a:avLst>
          </a:prstGeom>
          <a:solidFill>
            <a:srgbClr val="14213D"/>
          </a:solidFill>
          <a:ln w="12700">
            <a:solidFill>
              <a:srgbClr val="14213D"/>
            </a:solidFill>
            <a:prstDash val="solid"/>
          </a:ln>
        </p:spPr>
      </p:sp>
      <p:sp>
        <p:nvSpPr>
          <p:cNvPr id="4" name="Text 2"/>
          <p:cNvSpPr txBox="1"/>
          <p:nvPr/>
        </p:nvSpPr>
        <p:spPr>
          <a:xfrm>
            <a:off x="457200" y="1325880"/>
            <a:ext cx="2651760" cy="914400"/>
          </a:xfrm>
          <a:prstGeom prst="rect">
            <a:avLst/>
          </a:prstGeom>
          <a:noFill/>
          <a:ln/>
        </p:spPr>
        <p:txBody>
          <a:bodyPr wrap="square" lIns="0" tIns="0" rIns="0" bIns="0" rtlCol="0" anchor="ctr"/>
          <a:lstStyle/>
          <a:p>
            <a:pPr algn="ctr" indent="0" marL="0">
              <a:buNone/>
            </a:pPr>
            <a:r>
              <a:rPr lang="en-US" sz="6000" b="1" dirty="0">
                <a:solidFill>
                  <a:srgbClr val="FCA311"/>
                </a:solidFill>
                <a:latin typeface="Cambria" pitchFamily="34" charset="0"/>
                <a:ea typeface="Cambria" pitchFamily="34" charset="-122"/>
                <a:cs typeface="Cambria" pitchFamily="34" charset="-120"/>
              </a:rPr>
              <a:t>80%</a:t>
            </a:r>
            <a:endParaRPr lang="en-US" sz="6000" dirty="0"/>
          </a:p>
        </p:txBody>
      </p:sp>
      <p:sp>
        <p:nvSpPr>
          <p:cNvPr id="5" name="Text 3"/>
          <p:cNvSpPr txBox="1"/>
          <p:nvPr/>
        </p:nvSpPr>
        <p:spPr>
          <a:xfrm>
            <a:off x="640080" y="2286000"/>
            <a:ext cx="2286000" cy="86868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of strategies fail in execution, despite USD 30 bn+ spent yearly on strategy creation (FranklinCovey, 2024)</a:t>
            </a:r>
            <a:endParaRPr lang="en-US" sz="1200" dirty="0"/>
          </a:p>
        </p:txBody>
      </p:sp>
      <p:sp>
        <p:nvSpPr>
          <p:cNvPr id="6" name="Shape 4"/>
          <p:cNvSpPr/>
          <p:nvPr/>
        </p:nvSpPr>
        <p:spPr>
          <a:xfrm>
            <a:off x="3246120" y="1234440"/>
            <a:ext cx="2651760" cy="2011680"/>
          </a:xfrm>
          <a:prstGeom prst="roundRect">
            <a:avLst>
              <a:gd name="adj" fmla="val 3636"/>
            </a:avLst>
          </a:prstGeom>
          <a:solidFill>
            <a:srgbClr val="14213D"/>
          </a:solidFill>
          <a:ln w="12700">
            <a:solidFill>
              <a:srgbClr val="14213D"/>
            </a:solidFill>
            <a:prstDash val="solid"/>
          </a:ln>
        </p:spPr>
      </p:sp>
      <p:sp>
        <p:nvSpPr>
          <p:cNvPr id="7" name="Text 5"/>
          <p:cNvSpPr txBox="1"/>
          <p:nvPr/>
        </p:nvSpPr>
        <p:spPr>
          <a:xfrm>
            <a:off x="3246120" y="1325880"/>
            <a:ext cx="2651760" cy="914400"/>
          </a:xfrm>
          <a:prstGeom prst="rect">
            <a:avLst/>
          </a:prstGeom>
          <a:noFill/>
          <a:ln/>
        </p:spPr>
        <p:txBody>
          <a:bodyPr wrap="square" lIns="0" tIns="0" rIns="0" bIns="0" rtlCol="0" anchor="ctr"/>
          <a:lstStyle/>
          <a:p>
            <a:pPr algn="ctr" indent="0" marL="0">
              <a:buNone/>
            </a:pPr>
            <a:r>
              <a:rPr lang="en-US" sz="6000" b="1" dirty="0">
                <a:solidFill>
                  <a:srgbClr val="FCA311"/>
                </a:solidFill>
                <a:latin typeface="Cambria" pitchFamily="34" charset="0"/>
                <a:ea typeface="Cambria" pitchFamily="34" charset="-122"/>
                <a:cs typeface="Cambria" pitchFamily="34" charset="-120"/>
              </a:rPr>
              <a:t>#1</a:t>
            </a:r>
            <a:endParaRPr lang="en-US" sz="6000" dirty="0"/>
          </a:p>
        </p:txBody>
      </p:sp>
      <p:sp>
        <p:nvSpPr>
          <p:cNvPr id="8" name="Text 6"/>
          <p:cNvSpPr txBox="1"/>
          <p:nvPr/>
        </p:nvSpPr>
        <p:spPr>
          <a:xfrm>
            <a:off x="3429000" y="2286000"/>
            <a:ext cx="2286000" cy="86868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challenge named by 400 CEOs in the US, Europe and Asia: executional excellence (Thompson et al., 2024, p. 295)</a:t>
            </a:r>
            <a:endParaRPr lang="en-US" sz="1200" dirty="0"/>
          </a:p>
        </p:txBody>
      </p:sp>
      <p:sp>
        <p:nvSpPr>
          <p:cNvPr id="9" name="Shape 7"/>
          <p:cNvSpPr/>
          <p:nvPr/>
        </p:nvSpPr>
        <p:spPr>
          <a:xfrm>
            <a:off x="6035040" y="1234440"/>
            <a:ext cx="2651760" cy="2011680"/>
          </a:xfrm>
          <a:prstGeom prst="roundRect">
            <a:avLst>
              <a:gd name="adj" fmla="val 3636"/>
            </a:avLst>
          </a:prstGeom>
          <a:solidFill>
            <a:srgbClr val="EEF1F6"/>
          </a:solidFill>
          <a:ln w="12700">
            <a:solidFill>
              <a:srgbClr val="EEF1F6"/>
            </a:solidFill>
            <a:prstDash val="solid"/>
          </a:ln>
        </p:spPr>
      </p:sp>
      <p:sp>
        <p:nvSpPr>
          <p:cNvPr id="10" name="Text 8"/>
          <p:cNvSpPr txBox="1"/>
          <p:nvPr/>
        </p:nvSpPr>
        <p:spPr>
          <a:xfrm>
            <a:off x="6217920" y="1371600"/>
            <a:ext cx="2286000" cy="1463040"/>
          </a:xfrm>
          <a:prstGeom prst="rect">
            <a:avLst/>
          </a:prstGeom>
          <a:noFill/>
          <a:ln/>
        </p:spPr>
        <p:txBody>
          <a:bodyPr wrap="square" lIns="0" tIns="0" rIns="0" bIns="0" rtlCol="0" anchor="ctr"/>
          <a:lstStyle/>
          <a:p>
            <a:pPr indent="0" marL="0">
              <a:buNone/>
            </a:pPr>
            <a:r>
              <a:rPr lang="en-US" sz="1300" i="1" dirty="0">
                <a:solidFill>
                  <a:srgbClr val="14213D"/>
                </a:solidFill>
                <a:latin typeface="Cambria" pitchFamily="34" charset="0"/>
                <a:ea typeface="Cambria" pitchFamily="34" charset="-122"/>
                <a:cs typeface="Cambria" pitchFamily="34" charset="-120"/>
              </a:rPr>
              <a:t>“It’s been rather easy for us to decide where we wanted to go. The hard part is to get the organization to act on the new priorities.”</a:t>
            </a:r>
            <a:endParaRPr lang="en-US" sz="1300" dirty="0"/>
          </a:p>
        </p:txBody>
      </p:sp>
      <p:sp>
        <p:nvSpPr>
          <p:cNvPr id="11" name="Text 9"/>
          <p:cNvSpPr txBox="1"/>
          <p:nvPr/>
        </p:nvSpPr>
        <p:spPr>
          <a:xfrm>
            <a:off x="6217920" y="2834640"/>
            <a:ext cx="2286000" cy="320040"/>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 Executive quoted in Thompson et al. (2024, p. 295)</a:t>
            </a:r>
            <a:endParaRPr lang="en-US" sz="1000" dirty="0"/>
          </a:p>
        </p:txBody>
      </p:sp>
      <p:sp>
        <p:nvSpPr>
          <p:cNvPr id="12" name="Text 10"/>
          <p:cNvSpPr txBox="1"/>
          <p:nvPr/>
        </p:nvSpPr>
        <p:spPr>
          <a:xfrm>
            <a:off x="457200" y="3474720"/>
            <a:ext cx="8229600" cy="82296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Chapter 10: </a:t>
            </a:r>
            <a:pPr indent="0" marL="0">
              <a:buNone/>
            </a:pPr>
            <a:r>
              <a:rPr lang="en-US" sz="1400" dirty="0">
                <a:solidFill>
                  <a:srgbClr val="4A5568"/>
                </a:solidFill>
                <a:latin typeface="Calibri" pitchFamily="34" charset="0"/>
                <a:ea typeface="Calibri" pitchFamily="34" charset="-122"/>
                <a:cs typeface="Calibri" pitchFamily="34" charset="-120"/>
              </a:rPr>
              <a:t>“Whereas crafting strategy is largely an analysis-driven activity … executing strategy is primarily operations-driven, revolving around the management of people, resources, business processes, and organizational structure.” (p. 295)</a:t>
            </a:r>
            <a:endParaRPr lang="en-US" sz="1400" dirty="0"/>
          </a:p>
        </p:txBody>
      </p:sp>
      <p:sp>
        <p:nvSpPr>
          <p:cNvPr id="13" name="Text 11"/>
          <p:cNvSpPr txBox="1"/>
          <p:nvPr/>
        </p:nvSpPr>
        <p:spPr>
          <a:xfrm>
            <a:off x="457200" y="4251960"/>
            <a:ext cx="8229600" cy="365760"/>
          </a:xfrm>
          <a:prstGeom prst="rect">
            <a:avLst/>
          </a:prstGeom>
          <a:noFill/>
          <a:ln/>
        </p:spPr>
        <p:txBody>
          <a:bodyPr wrap="square" lIns="0" tIns="0" rIns="0" bIns="0" rtlCol="0" anchor="ctr"/>
          <a:lstStyle/>
          <a:p>
            <a:pPr indent="0" marL="0">
              <a:buNone/>
            </a:pPr>
            <a:r>
              <a:rPr lang="en-US" sz="1300" i="1" dirty="0">
                <a:solidFill>
                  <a:srgbClr val="14213D"/>
                </a:solidFill>
                <a:latin typeface="Calibri" pitchFamily="34" charset="0"/>
                <a:ea typeface="Calibri" pitchFamily="34" charset="-122"/>
                <a:cs typeface="Calibri" pitchFamily="34" charset="-120"/>
              </a:rPr>
              <a:t>The question for today: what keeps operations-driven execution alive when daily work takes over?</a:t>
            </a:r>
            <a:endParaRPr lang="en-US" sz="1300" dirty="0"/>
          </a:p>
        </p:txBody>
      </p:sp>
      <p:sp>
        <p:nvSpPr>
          <p:cNvPr id="14" name="Text 12"/>
          <p:cNvSpPr txBox="1"/>
          <p:nvPr/>
        </p:nvSpPr>
        <p:spPr>
          <a:xfrm>
            <a:off x="457200" y="4754880"/>
            <a:ext cx="7680960" cy="274320"/>
          </a:xfrm>
          <a:prstGeom prst="rect">
            <a:avLst/>
          </a:prstGeom>
          <a:noFill/>
          <a:ln/>
        </p:spPr>
        <p:txBody>
          <a:bodyPr wrap="square" lIns="0" tIns="0" rIns="0" bIns="0" rtlCol="0" anchor="ctr"/>
          <a:lstStyle/>
          <a:p>
            <a:pPr indent="0" marL="0">
              <a:buNone/>
            </a:pPr>
            <a:r>
              <a:rPr lang="en-US" sz="900" dirty="0">
                <a:solidFill>
                  <a:srgbClr val="8A94A6"/>
                </a:solidFill>
                <a:latin typeface="Calibri" pitchFamily="34" charset="0"/>
                <a:ea typeface="Calibri" pitchFamily="34" charset="-122"/>
                <a:cs typeface="Calibri" pitchFamily="34" charset="-120"/>
              </a:rPr>
              <a:t>Group 3  |  4 Disciplines of Execution  |  Ch. 10 Building an Organization Capable of Good Strategy Execution</a:t>
            </a:r>
            <a:endParaRPr lang="en-US" sz="900" dirty="0"/>
          </a:p>
        </p:txBody>
      </p:sp>
      <p:sp>
        <p:nvSpPr>
          <p:cNvPr id="15" name="Text 13"/>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2400" b="1" dirty="0">
                <a:solidFill>
                  <a:srgbClr val="14213D"/>
                </a:solidFill>
                <a:latin typeface="Cambria" pitchFamily="34" charset="0"/>
                <a:ea typeface="Cambria" pitchFamily="34" charset="-122"/>
                <a:cs typeface="Cambria" pitchFamily="34" charset="-120"/>
              </a:rPr>
              <a:t>Chapter 10 recap: organization-building tasks</a:t>
            </a:r>
            <a:endParaRPr lang="en-US" sz="2400" dirty="0"/>
          </a:p>
        </p:txBody>
      </p:sp>
      <p:sp>
        <p:nvSpPr>
          <p:cNvPr id="3" name="Text 1"/>
          <p:cNvSpPr txBox="1"/>
          <p:nvPr/>
        </p:nvSpPr>
        <p:spPr>
          <a:xfrm>
            <a:off x="457200" y="1051560"/>
            <a:ext cx="4937760" cy="274320"/>
          </a:xfrm>
          <a:prstGeom prst="rect">
            <a:avLst/>
          </a:prstGeom>
          <a:noFill/>
          <a:ln/>
        </p:spPr>
        <p:txBody>
          <a:bodyPr wrap="square" lIns="0" tIns="0" rIns="0" bIns="0" rtlCol="0" anchor="ctr"/>
          <a:lstStyle/>
          <a:p>
            <a:pPr indent="0" marL="0">
              <a:buNone/>
            </a:pPr>
            <a:r>
              <a:rPr lang="en-US" sz="1100" b="1" dirty="0">
                <a:solidFill>
                  <a:srgbClr val="4A5568"/>
                </a:solidFill>
                <a:latin typeface="Calibri" pitchFamily="34" charset="0"/>
                <a:ea typeface="Calibri" pitchFamily="34" charset="-122"/>
                <a:cs typeface="Calibri" pitchFamily="34" charset="-120"/>
              </a:rPr>
              <a:t>Fig. 10.1 – Ten basic tasks of strategy execution (p. 298)</a:t>
            </a:r>
            <a:endParaRPr lang="en-US" sz="1100" dirty="0"/>
          </a:p>
        </p:txBody>
      </p:sp>
      <p:sp>
        <p:nvSpPr>
          <p:cNvPr id="4" name="Shape 2"/>
          <p:cNvSpPr/>
          <p:nvPr/>
        </p:nvSpPr>
        <p:spPr>
          <a:xfrm>
            <a:off x="457200" y="1371600"/>
            <a:ext cx="4937760" cy="292608"/>
          </a:xfrm>
          <a:prstGeom prst="rect">
            <a:avLst/>
          </a:prstGeom>
          <a:solidFill>
            <a:srgbClr val="14213D"/>
          </a:solidFill>
          <a:ln w="12700">
            <a:solidFill>
              <a:srgbClr val="FFFFFF"/>
            </a:solidFill>
            <a:prstDash val="solid"/>
          </a:ln>
        </p:spPr>
      </p:sp>
      <p:sp>
        <p:nvSpPr>
          <p:cNvPr id="5" name="Text 3"/>
          <p:cNvSpPr txBox="1"/>
          <p:nvPr/>
        </p:nvSpPr>
        <p:spPr>
          <a:xfrm>
            <a:off x="548640" y="1371600"/>
            <a:ext cx="420624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1. Staffing the organization</a:t>
            </a:r>
            <a:endParaRPr lang="en-US" sz="1100" dirty="0"/>
          </a:p>
        </p:txBody>
      </p:sp>
      <p:sp>
        <p:nvSpPr>
          <p:cNvPr id="6" name="Text 4"/>
          <p:cNvSpPr txBox="1"/>
          <p:nvPr/>
        </p:nvSpPr>
        <p:spPr>
          <a:xfrm>
            <a:off x="4663440" y="1371600"/>
            <a:ext cx="685800" cy="292608"/>
          </a:xfrm>
          <a:prstGeom prst="rect">
            <a:avLst/>
          </a:prstGeom>
          <a:noFill/>
          <a:ln/>
        </p:spPr>
        <p:txBody>
          <a:bodyPr wrap="square" lIns="0" tIns="0" rIns="0" bIns="0" rtlCol="0" anchor="ctr"/>
          <a:lstStyle/>
          <a:p>
            <a:pPr algn="r" indent="0" marL="0">
              <a:buNone/>
            </a:pPr>
            <a:r>
              <a:rPr lang="en-US" sz="900" dirty="0">
                <a:solidFill>
                  <a:srgbClr val="FCA311"/>
                </a:solidFill>
                <a:latin typeface="Calibri" pitchFamily="34" charset="0"/>
                <a:ea typeface="Calibri" pitchFamily="34" charset="-122"/>
                <a:cs typeface="Calibri" pitchFamily="34" charset="-120"/>
              </a:rPr>
              <a:t>Ch. 10</a:t>
            </a:r>
            <a:endParaRPr lang="en-US" sz="900" dirty="0"/>
          </a:p>
        </p:txBody>
      </p:sp>
      <p:sp>
        <p:nvSpPr>
          <p:cNvPr id="7" name="Shape 5"/>
          <p:cNvSpPr/>
          <p:nvPr/>
        </p:nvSpPr>
        <p:spPr>
          <a:xfrm>
            <a:off x="457200" y="1700784"/>
            <a:ext cx="4937760" cy="292608"/>
          </a:xfrm>
          <a:prstGeom prst="rect">
            <a:avLst/>
          </a:prstGeom>
          <a:solidFill>
            <a:srgbClr val="14213D"/>
          </a:solidFill>
          <a:ln w="12700">
            <a:solidFill>
              <a:srgbClr val="FFFFFF"/>
            </a:solidFill>
            <a:prstDash val="solid"/>
          </a:ln>
        </p:spPr>
      </p:sp>
      <p:sp>
        <p:nvSpPr>
          <p:cNvPr id="8" name="Text 6"/>
          <p:cNvSpPr txBox="1"/>
          <p:nvPr/>
        </p:nvSpPr>
        <p:spPr>
          <a:xfrm>
            <a:off x="548640" y="1700784"/>
            <a:ext cx="420624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2. Developing resources &amp; capabilities</a:t>
            </a:r>
            <a:endParaRPr lang="en-US" sz="1100" dirty="0"/>
          </a:p>
        </p:txBody>
      </p:sp>
      <p:sp>
        <p:nvSpPr>
          <p:cNvPr id="9" name="Text 7"/>
          <p:cNvSpPr txBox="1"/>
          <p:nvPr/>
        </p:nvSpPr>
        <p:spPr>
          <a:xfrm>
            <a:off x="4663440" y="1700784"/>
            <a:ext cx="685800" cy="292608"/>
          </a:xfrm>
          <a:prstGeom prst="rect">
            <a:avLst/>
          </a:prstGeom>
          <a:noFill/>
          <a:ln/>
        </p:spPr>
        <p:txBody>
          <a:bodyPr wrap="square" lIns="0" tIns="0" rIns="0" bIns="0" rtlCol="0" anchor="ctr"/>
          <a:lstStyle/>
          <a:p>
            <a:pPr algn="r" indent="0" marL="0">
              <a:buNone/>
            </a:pPr>
            <a:r>
              <a:rPr lang="en-US" sz="900" dirty="0">
                <a:solidFill>
                  <a:srgbClr val="FCA311"/>
                </a:solidFill>
                <a:latin typeface="Calibri" pitchFamily="34" charset="0"/>
                <a:ea typeface="Calibri" pitchFamily="34" charset="-122"/>
                <a:cs typeface="Calibri" pitchFamily="34" charset="-120"/>
              </a:rPr>
              <a:t>Ch. 10</a:t>
            </a:r>
            <a:endParaRPr lang="en-US" sz="900" dirty="0"/>
          </a:p>
        </p:txBody>
      </p:sp>
      <p:sp>
        <p:nvSpPr>
          <p:cNvPr id="10" name="Shape 8"/>
          <p:cNvSpPr/>
          <p:nvPr/>
        </p:nvSpPr>
        <p:spPr>
          <a:xfrm>
            <a:off x="457200" y="2029968"/>
            <a:ext cx="4937760" cy="292608"/>
          </a:xfrm>
          <a:prstGeom prst="rect">
            <a:avLst/>
          </a:prstGeom>
          <a:solidFill>
            <a:srgbClr val="14213D"/>
          </a:solidFill>
          <a:ln w="12700">
            <a:solidFill>
              <a:srgbClr val="FFFFFF"/>
            </a:solidFill>
            <a:prstDash val="solid"/>
          </a:ln>
        </p:spPr>
      </p:sp>
      <p:sp>
        <p:nvSpPr>
          <p:cNvPr id="11" name="Text 9"/>
          <p:cNvSpPr txBox="1"/>
          <p:nvPr/>
        </p:nvSpPr>
        <p:spPr>
          <a:xfrm>
            <a:off x="548640" y="2029968"/>
            <a:ext cx="420624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3. Creating a strategy-supportive structure</a:t>
            </a:r>
            <a:endParaRPr lang="en-US" sz="1100" dirty="0"/>
          </a:p>
        </p:txBody>
      </p:sp>
      <p:sp>
        <p:nvSpPr>
          <p:cNvPr id="12" name="Text 10"/>
          <p:cNvSpPr txBox="1"/>
          <p:nvPr/>
        </p:nvSpPr>
        <p:spPr>
          <a:xfrm>
            <a:off x="4663440" y="2029968"/>
            <a:ext cx="685800" cy="292608"/>
          </a:xfrm>
          <a:prstGeom prst="rect">
            <a:avLst/>
          </a:prstGeom>
          <a:noFill/>
          <a:ln/>
        </p:spPr>
        <p:txBody>
          <a:bodyPr wrap="square" lIns="0" tIns="0" rIns="0" bIns="0" rtlCol="0" anchor="ctr"/>
          <a:lstStyle/>
          <a:p>
            <a:pPr algn="r" indent="0" marL="0">
              <a:buNone/>
            </a:pPr>
            <a:r>
              <a:rPr lang="en-US" sz="900" dirty="0">
                <a:solidFill>
                  <a:srgbClr val="FCA311"/>
                </a:solidFill>
                <a:latin typeface="Calibri" pitchFamily="34" charset="0"/>
                <a:ea typeface="Calibri" pitchFamily="34" charset="-122"/>
                <a:cs typeface="Calibri" pitchFamily="34" charset="-120"/>
              </a:rPr>
              <a:t>Ch. 10</a:t>
            </a:r>
            <a:endParaRPr lang="en-US" sz="900" dirty="0"/>
          </a:p>
        </p:txBody>
      </p:sp>
      <p:sp>
        <p:nvSpPr>
          <p:cNvPr id="13" name="Shape 11"/>
          <p:cNvSpPr/>
          <p:nvPr/>
        </p:nvSpPr>
        <p:spPr>
          <a:xfrm>
            <a:off x="457200" y="2359152"/>
            <a:ext cx="4937760" cy="292608"/>
          </a:xfrm>
          <a:prstGeom prst="rect">
            <a:avLst/>
          </a:prstGeom>
          <a:solidFill>
            <a:srgbClr val="EEF1F6"/>
          </a:solidFill>
          <a:ln w="12700">
            <a:solidFill>
              <a:srgbClr val="FFFFFF"/>
            </a:solidFill>
            <a:prstDash val="solid"/>
          </a:ln>
        </p:spPr>
      </p:sp>
      <p:sp>
        <p:nvSpPr>
          <p:cNvPr id="14" name="Text 12"/>
          <p:cNvSpPr txBox="1"/>
          <p:nvPr/>
        </p:nvSpPr>
        <p:spPr>
          <a:xfrm>
            <a:off x="548640" y="2359152"/>
            <a:ext cx="4206240" cy="292608"/>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4. Allocating sufficient resources</a:t>
            </a:r>
            <a:endParaRPr lang="en-US" sz="1100" dirty="0"/>
          </a:p>
        </p:txBody>
      </p:sp>
      <p:sp>
        <p:nvSpPr>
          <p:cNvPr id="15" name="Text 13"/>
          <p:cNvSpPr txBox="1"/>
          <p:nvPr/>
        </p:nvSpPr>
        <p:spPr>
          <a:xfrm>
            <a:off x="4663440" y="2359152"/>
            <a:ext cx="685800" cy="292608"/>
          </a:xfrm>
          <a:prstGeom prst="rect">
            <a:avLst/>
          </a:prstGeom>
          <a:noFill/>
          <a:ln/>
        </p:spPr>
        <p:txBody>
          <a:bodyPr wrap="square" lIns="0" tIns="0" rIns="0" bIns="0"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Ch. 11</a:t>
            </a:r>
            <a:endParaRPr lang="en-US" sz="900" dirty="0"/>
          </a:p>
        </p:txBody>
      </p:sp>
      <p:sp>
        <p:nvSpPr>
          <p:cNvPr id="16" name="Shape 14"/>
          <p:cNvSpPr/>
          <p:nvPr/>
        </p:nvSpPr>
        <p:spPr>
          <a:xfrm>
            <a:off x="457200" y="2688336"/>
            <a:ext cx="4937760" cy="292608"/>
          </a:xfrm>
          <a:prstGeom prst="rect">
            <a:avLst/>
          </a:prstGeom>
          <a:solidFill>
            <a:srgbClr val="EEF1F6"/>
          </a:solidFill>
          <a:ln w="12700">
            <a:solidFill>
              <a:srgbClr val="FFFFFF"/>
            </a:solidFill>
            <a:prstDash val="solid"/>
          </a:ln>
        </p:spPr>
      </p:sp>
      <p:sp>
        <p:nvSpPr>
          <p:cNvPr id="17" name="Text 15"/>
          <p:cNvSpPr txBox="1"/>
          <p:nvPr/>
        </p:nvSpPr>
        <p:spPr>
          <a:xfrm>
            <a:off x="548640" y="2688336"/>
            <a:ext cx="4206240" cy="292608"/>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5. Instituting policies &amp; procedures</a:t>
            </a:r>
            <a:endParaRPr lang="en-US" sz="1100" dirty="0"/>
          </a:p>
        </p:txBody>
      </p:sp>
      <p:sp>
        <p:nvSpPr>
          <p:cNvPr id="18" name="Text 16"/>
          <p:cNvSpPr txBox="1"/>
          <p:nvPr/>
        </p:nvSpPr>
        <p:spPr>
          <a:xfrm>
            <a:off x="4663440" y="2688336"/>
            <a:ext cx="685800" cy="292608"/>
          </a:xfrm>
          <a:prstGeom prst="rect">
            <a:avLst/>
          </a:prstGeom>
          <a:noFill/>
          <a:ln/>
        </p:spPr>
        <p:txBody>
          <a:bodyPr wrap="square" lIns="0" tIns="0" rIns="0" bIns="0"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Ch. 11</a:t>
            </a:r>
            <a:endParaRPr lang="en-US" sz="900" dirty="0"/>
          </a:p>
        </p:txBody>
      </p:sp>
      <p:sp>
        <p:nvSpPr>
          <p:cNvPr id="19" name="Shape 17"/>
          <p:cNvSpPr/>
          <p:nvPr/>
        </p:nvSpPr>
        <p:spPr>
          <a:xfrm>
            <a:off x="457200" y="3017520"/>
            <a:ext cx="4937760" cy="292608"/>
          </a:xfrm>
          <a:prstGeom prst="rect">
            <a:avLst/>
          </a:prstGeom>
          <a:solidFill>
            <a:srgbClr val="EEF1F6"/>
          </a:solidFill>
          <a:ln w="12700">
            <a:solidFill>
              <a:srgbClr val="FFFFFF"/>
            </a:solidFill>
            <a:prstDash val="solid"/>
          </a:ln>
        </p:spPr>
      </p:sp>
      <p:sp>
        <p:nvSpPr>
          <p:cNvPr id="20" name="Text 18"/>
          <p:cNvSpPr txBox="1"/>
          <p:nvPr/>
        </p:nvSpPr>
        <p:spPr>
          <a:xfrm>
            <a:off x="548640" y="3017520"/>
            <a:ext cx="4206240" cy="292608"/>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6. Adopting continuous-improvement processes</a:t>
            </a:r>
            <a:endParaRPr lang="en-US" sz="1100" dirty="0"/>
          </a:p>
        </p:txBody>
      </p:sp>
      <p:sp>
        <p:nvSpPr>
          <p:cNvPr id="21" name="Text 19"/>
          <p:cNvSpPr txBox="1"/>
          <p:nvPr/>
        </p:nvSpPr>
        <p:spPr>
          <a:xfrm>
            <a:off x="4663440" y="3017520"/>
            <a:ext cx="685800" cy="292608"/>
          </a:xfrm>
          <a:prstGeom prst="rect">
            <a:avLst/>
          </a:prstGeom>
          <a:noFill/>
          <a:ln/>
        </p:spPr>
        <p:txBody>
          <a:bodyPr wrap="square" lIns="0" tIns="0" rIns="0" bIns="0"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Ch. 11</a:t>
            </a:r>
            <a:endParaRPr lang="en-US" sz="900" dirty="0"/>
          </a:p>
        </p:txBody>
      </p:sp>
      <p:sp>
        <p:nvSpPr>
          <p:cNvPr id="22" name="Shape 20"/>
          <p:cNvSpPr/>
          <p:nvPr/>
        </p:nvSpPr>
        <p:spPr>
          <a:xfrm>
            <a:off x="457200" y="3346704"/>
            <a:ext cx="4937760" cy="292608"/>
          </a:xfrm>
          <a:prstGeom prst="rect">
            <a:avLst/>
          </a:prstGeom>
          <a:solidFill>
            <a:srgbClr val="EEF1F6"/>
          </a:solidFill>
          <a:ln w="12700">
            <a:solidFill>
              <a:srgbClr val="FFFFFF"/>
            </a:solidFill>
            <a:prstDash val="solid"/>
          </a:ln>
        </p:spPr>
      </p:sp>
      <p:sp>
        <p:nvSpPr>
          <p:cNvPr id="23" name="Text 21"/>
          <p:cNvSpPr txBox="1"/>
          <p:nvPr/>
        </p:nvSpPr>
        <p:spPr>
          <a:xfrm>
            <a:off x="548640" y="3346704"/>
            <a:ext cx="4206240" cy="292608"/>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7. Installing information &amp; operating systems</a:t>
            </a:r>
            <a:endParaRPr lang="en-US" sz="1100" dirty="0"/>
          </a:p>
        </p:txBody>
      </p:sp>
      <p:sp>
        <p:nvSpPr>
          <p:cNvPr id="24" name="Text 22"/>
          <p:cNvSpPr txBox="1"/>
          <p:nvPr/>
        </p:nvSpPr>
        <p:spPr>
          <a:xfrm>
            <a:off x="4663440" y="3346704"/>
            <a:ext cx="685800" cy="292608"/>
          </a:xfrm>
          <a:prstGeom prst="rect">
            <a:avLst/>
          </a:prstGeom>
          <a:noFill/>
          <a:ln/>
        </p:spPr>
        <p:txBody>
          <a:bodyPr wrap="square" lIns="0" tIns="0" rIns="0" bIns="0"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Ch. 11</a:t>
            </a:r>
            <a:endParaRPr lang="en-US" sz="900" dirty="0"/>
          </a:p>
        </p:txBody>
      </p:sp>
      <p:sp>
        <p:nvSpPr>
          <p:cNvPr id="25" name="Shape 23"/>
          <p:cNvSpPr/>
          <p:nvPr/>
        </p:nvSpPr>
        <p:spPr>
          <a:xfrm>
            <a:off x="457200" y="3675888"/>
            <a:ext cx="4937760" cy="292608"/>
          </a:xfrm>
          <a:prstGeom prst="rect">
            <a:avLst/>
          </a:prstGeom>
          <a:solidFill>
            <a:srgbClr val="EEF1F6"/>
          </a:solidFill>
          <a:ln w="12700">
            <a:solidFill>
              <a:srgbClr val="FFFFFF"/>
            </a:solidFill>
            <a:prstDash val="solid"/>
          </a:ln>
        </p:spPr>
      </p:sp>
      <p:sp>
        <p:nvSpPr>
          <p:cNvPr id="26" name="Text 24"/>
          <p:cNvSpPr txBox="1"/>
          <p:nvPr/>
        </p:nvSpPr>
        <p:spPr>
          <a:xfrm>
            <a:off x="548640" y="3675888"/>
            <a:ext cx="4206240" cy="292608"/>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8. Tying rewards to performance</a:t>
            </a:r>
            <a:endParaRPr lang="en-US" sz="1100" dirty="0"/>
          </a:p>
        </p:txBody>
      </p:sp>
      <p:sp>
        <p:nvSpPr>
          <p:cNvPr id="27" name="Text 25"/>
          <p:cNvSpPr txBox="1"/>
          <p:nvPr/>
        </p:nvSpPr>
        <p:spPr>
          <a:xfrm>
            <a:off x="4663440" y="3675888"/>
            <a:ext cx="685800" cy="292608"/>
          </a:xfrm>
          <a:prstGeom prst="rect">
            <a:avLst/>
          </a:prstGeom>
          <a:noFill/>
          <a:ln/>
        </p:spPr>
        <p:txBody>
          <a:bodyPr wrap="square" lIns="0" tIns="0" rIns="0" bIns="0"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Ch. 11</a:t>
            </a:r>
            <a:endParaRPr lang="en-US" sz="900" dirty="0"/>
          </a:p>
        </p:txBody>
      </p:sp>
      <p:sp>
        <p:nvSpPr>
          <p:cNvPr id="28" name="Shape 26"/>
          <p:cNvSpPr/>
          <p:nvPr/>
        </p:nvSpPr>
        <p:spPr>
          <a:xfrm>
            <a:off x="457200" y="4005072"/>
            <a:ext cx="4937760" cy="292608"/>
          </a:xfrm>
          <a:prstGeom prst="rect">
            <a:avLst/>
          </a:prstGeom>
          <a:solidFill>
            <a:srgbClr val="EEF1F6"/>
          </a:solidFill>
          <a:ln w="12700">
            <a:solidFill>
              <a:srgbClr val="FFFFFF"/>
            </a:solidFill>
            <a:prstDash val="solid"/>
          </a:ln>
        </p:spPr>
      </p:sp>
      <p:sp>
        <p:nvSpPr>
          <p:cNvPr id="29" name="Text 27"/>
          <p:cNvSpPr txBox="1"/>
          <p:nvPr/>
        </p:nvSpPr>
        <p:spPr>
          <a:xfrm>
            <a:off x="548640" y="4005072"/>
            <a:ext cx="4206240" cy="292608"/>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9. Fostering a supportive culture</a:t>
            </a:r>
            <a:endParaRPr lang="en-US" sz="1100" dirty="0"/>
          </a:p>
        </p:txBody>
      </p:sp>
      <p:sp>
        <p:nvSpPr>
          <p:cNvPr id="30" name="Text 28"/>
          <p:cNvSpPr txBox="1"/>
          <p:nvPr/>
        </p:nvSpPr>
        <p:spPr>
          <a:xfrm>
            <a:off x="4663440" y="4005072"/>
            <a:ext cx="685800" cy="292608"/>
          </a:xfrm>
          <a:prstGeom prst="rect">
            <a:avLst/>
          </a:prstGeom>
          <a:noFill/>
          <a:ln/>
        </p:spPr>
        <p:txBody>
          <a:bodyPr wrap="square" lIns="0" tIns="0" rIns="0" bIns="0"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Ch. 12</a:t>
            </a:r>
            <a:endParaRPr lang="en-US" sz="900" dirty="0"/>
          </a:p>
        </p:txBody>
      </p:sp>
      <p:sp>
        <p:nvSpPr>
          <p:cNvPr id="31" name="Shape 29"/>
          <p:cNvSpPr/>
          <p:nvPr/>
        </p:nvSpPr>
        <p:spPr>
          <a:xfrm>
            <a:off x="457200" y="4334256"/>
            <a:ext cx="4937760" cy="292608"/>
          </a:xfrm>
          <a:prstGeom prst="rect">
            <a:avLst/>
          </a:prstGeom>
          <a:solidFill>
            <a:srgbClr val="EEF1F6"/>
          </a:solidFill>
          <a:ln w="12700">
            <a:solidFill>
              <a:srgbClr val="FFFFFF"/>
            </a:solidFill>
            <a:prstDash val="solid"/>
          </a:ln>
        </p:spPr>
      </p:sp>
      <p:sp>
        <p:nvSpPr>
          <p:cNvPr id="32" name="Text 30"/>
          <p:cNvSpPr txBox="1"/>
          <p:nvPr/>
        </p:nvSpPr>
        <p:spPr>
          <a:xfrm>
            <a:off x="548640" y="4334256"/>
            <a:ext cx="4206240" cy="292608"/>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10. Exerting strategic leadership</a:t>
            </a:r>
            <a:endParaRPr lang="en-US" sz="1100" dirty="0"/>
          </a:p>
        </p:txBody>
      </p:sp>
      <p:sp>
        <p:nvSpPr>
          <p:cNvPr id="33" name="Text 31"/>
          <p:cNvSpPr txBox="1"/>
          <p:nvPr/>
        </p:nvSpPr>
        <p:spPr>
          <a:xfrm>
            <a:off x="4663440" y="4334256"/>
            <a:ext cx="685800" cy="292608"/>
          </a:xfrm>
          <a:prstGeom prst="rect">
            <a:avLst/>
          </a:prstGeom>
          <a:noFill/>
          <a:ln/>
        </p:spPr>
        <p:txBody>
          <a:bodyPr wrap="square" lIns="0" tIns="0" rIns="0" bIns="0"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Ch. 12</a:t>
            </a:r>
            <a:endParaRPr lang="en-US" sz="900" dirty="0"/>
          </a:p>
        </p:txBody>
      </p:sp>
      <p:sp>
        <p:nvSpPr>
          <p:cNvPr id="34" name="Text 32"/>
          <p:cNvSpPr txBox="1"/>
          <p:nvPr/>
        </p:nvSpPr>
        <p:spPr>
          <a:xfrm>
            <a:off x="5760720" y="1051560"/>
            <a:ext cx="2926080" cy="274320"/>
          </a:xfrm>
          <a:prstGeom prst="rect">
            <a:avLst/>
          </a:prstGeom>
          <a:noFill/>
          <a:ln/>
        </p:spPr>
        <p:txBody>
          <a:bodyPr wrap="square" lIns="0" tIns="0" rIns="0" bIns="0" rtlCol="0" anchor="ctr"/>
          <a:lstStyle/>
          <a:p>
            <a:pPr indent="0" marL="0">
              <a:buNone/>
            </a:pPr>
            <a:r>
              <a:rPr lang="en-US" sz="1000" b="1" dirty="0">
                <a:solidFill>
                  <a:srgbClr val="4A5568"/>
                </a:solidFill>
                <a:latin typeface="Calibri" pitchFamily="34" charset="0"/>
                <a:ea typeface="Calibri" pitchFamily="34" charset="-122"/>
                <a:cs typeface="Calibri" pitchFamily="34" charset="-120"/>
              </a:rPr>
              <a:t>Fig. 10.2 – Three key actions (p. 299)</a:t>
            </a:r>
            <a:endParaRPr lang="en-US" sz="1000" dirty="0"/>
          </a:p>
        </p:txBody>
      </p:sp>
      <p:sp>
        <p:nvSpPr>
          <p:cNvPr id="35" name="Shape 33"/>
          <p:cNvSpPr/>
          <p:nvPr/>
        </p:nvSpPr>
        <p:spPr>
          <a:xfrm>
            <a:off x="5760720" y="1371600"/>
            <a:ext cx="2926080" cy="1005840"/>
          </a:xfrm>
          <a:prstGeom prst="roundRect">
            <a:avLst>
              <a:gd name="adj" fmla="val 7273"/>
            </a:avLst>
          </a:prstGeom>
          <a:solidFill>
            <a:srgbClr val="EEF1F6"/>
          </a:solidFill>
          <a:ln w="12700">
            <a:solidFill>
              <a:srgbClr val="EEF1F6"/>
            </a:solidFill>
            <a:prstDash val="solid"/>
          </a:ln>
        </p:spPr>
      </p:sp>
      <p:sp>
        <p:nvSpPr>
          <p:cNvPr id="36" name="Shape 34"/>
          <p:cNvSpPr/>
          <p:nvPr/>
        </p:nvSpPr>
        <p:spPr>
          <a:xfrm>
            <a:off x="5870448" y="1481328"/>
            <a:ext cx="384048" cy="384048"/>
          </a:xfrm>
          <a:prstGeom prst="ellipse">
            <a:avLst/>
          </a:prstGeom>
          <a:solidFill>
            <a:srgbClr val="FCA311"/>
          </a:solidFill>
          <a:ln w="12700">
            <a:solidFill>
              <a:srgbClr val="FCA311"/>
            </a:solidFill>
            <a:prstDash val="solid"/>
          </a:ln>
        </p:spPr>
      </p:sp>
      <p:sp>
        <p:nvSpPr>
          <p:cNvPr id="37" name="Text 35"/>
          <p:cNvSpPr txBox="1"/>
          <p:nvPr/>
        </p:nvSpPr>
        <p:spPr>
          <a:xfrm>
            <a:off x="5870448" y="1481328"/>
            <a:ext cx="384048" cy="384048"/>
          </a:xfrm>
          <a:prstGeom prst="rect">
            <a:avLst/>
          </a:prstGeom>
          <a:noFill/>
          <a:ln/>
        </p:spPr>
        <p:txBody>
          <a:bodyPr wrap="square" lIns="0" tIns="0" rIns="0" bIns="0" rtlCol="0" anchor="ctr"/>
          <a:lstStyle/>
          <a:p>
            <a:pPr algn="ctr" indent="0" marL="0">
              <a:buNone/>
            </a:pPr>
            <a:r>
              <a:rPr lang="en-US" sz="1344" b="1" dirty="0">
                <a:solidFill>
                  <a:srgbClr val="14213D"/>
                </a:solidFill>
                <a:latin typeface="Cambria" pitchFamily="34" charset="0"/>
                <a:ea typeface="Cambria" pitchFamily="34" charset="-122"/>
                <a:cs typeface="Cambria" pitchFamily="34" charset="-120"/>
              </a:rPr>
              <a:t>1</a:t>
            </a:r>
            <a:endParaRPr lang="en-US" sz="1344" dirty="0"/>
          </a:p>
        </p:txBody>
      </p:sp>
      <p:sp>
        <p:nvSpPr>
          <p:cNvPr id="38" name="Text 36"/>
          <p:cNvSpPr txBox="1"/>
          <p:nvPr/>
        </p:nvSpPr>
        <p:spPr>
          <a:xfrm>
            <a:off x="6355080" y="1444752"/>
            <a:ext cx="2286000" cy="36576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Staffing</a:t>
            </a:r>
            <a:endParaRPr lang="en-US" sz="1500" dirty="0"/>
          </a:p>
        </p:txBody>
      </p:sp>
      <p:sp>
        <p:nvSpPr>
          <p:cNvPr id="39" name="Text 37"/>
          <p:cNvSpPr txBox="1"/>
          <p:nvPr/>
        </p:nvSpPr>
        <p:spPr>
          <a:xfrm>
            <a:off x="5897880" y="1828800"/>
            <a:ext cx="2697480" cy="530352"/>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Strong management team; recruit, train and retain talent (pp. 300–304)</a:t>
            </a:r>
            <a:endParaRPr lang="en-US" sz="1050" dirty="0"/>
          </a:p>
        </p:txBody>
      </p:sp>
      <p:sp>
        <p:nvSpPr>
          <p:cNvPr id="40" name="Shape 38"/>
          <p:cNvSpPr/>
          <p:nvPr/>
        </p:nvSpPr>
        <p:spPr>
          <a:xfrm>
            <a:off x="5760720" y="2468880"/>
            <a:ext cx="2926080" cy="1005840"/>
          </a:xfrm>
          <a:prstGeom prst="roundRect">
            <a:avLst>
              <a:gd name="adj" fmla="val 7273"/>
            </a:avLst>
          </a:prstGeom>
          <a:solidFill>
            <a:srgbClr val="EEF1F6"/>
          </a:solidFill>
          <a:ln w="12700">
            <a:solidFill>
              <a:srgbClr val="EEF1F6"/>
            </a:solidFill>
            <a:prstDash val="solid"/>
          </a:ln>
        </p:spPr>
      </p:sp>
      <p:sp>
        <p:nvSpPr>
          <p:cNvPr id="41" name="Shape 39"/>
          <p:cNvSpPr/>
          <p:nvPr/>
        </p:nvSpPr>
        <p:spPr>
          <a:xfrm>
            <a:off x="5870448" y="2578608"/>
            <a:ext cx="384048" cy="384048"/>
          </a:xfrm>
          <a:prstGeom prst="ellipse">
            <a:avLst/>
          </a:prstGeom>
          <a:solidFill>
            <a:srgbClr val="FCA311"/>
          </a:solidFill>
          <a:ln w="12700">
            <a:solidFill>
              <a:srgbClr val="FCA311"/>
            </a:solidFill>
            <a:prstDash val="solid"/>
          </a:ln>
        </p:spPr>
      </p:sp>
      <p:sp>
        <p:nvSpPr>
          <p:cNvPr id="42" name="Text 40"/>
          <p:cNvSpPr txBox="1"/>
          <p:nvPr/>
        </p:nvSpPr>
        <p:spPr>
          <a:xfrm>
            <a:off x="5870448" y="2578608"/>
            <a:ext cx="384048" cy="384048"/>
          </a:xfrm>
          <a:prstGeom prst="rect">
            <a:avLst/>
          </a:prstGeom>
          <a:noFill/>
          <a:ln/>
        </p:spPr>
        <p:txBody>
          <a:bodyPr wrap="square" lIns="0" tIns="0" rIns="0" bIns="0" rtlCol="0" anchor="ctr"/>
          <a:lstStyle/>
          <a:p>
            <a:pPr algn="ctr" indent="0" marL="0">
              <a:buNone/>
            </a:pPr>
            <a:r>
              <a:rPr lang="en-US" sz="1344" b="1" dirty="0">
                <a:solidFill>
                  <a:srgbClr val="14213D"/>
                </a:solidFill>
                <a:latin typeface="Cambria" pitchFamily="34" charset="0"/>
                <a:ea typeface="Cambria" pitchFamily="34" charset="-122"/>
                <a:cs typeface="Cambria" pitchFamily="34" charset="-120"/>
              </a:rPr>
              <a:t>2</a:t>
            </a:r>
            <a:endParaRPr lang="en-US" sz="1344" dirty="0"/>
          </a:p>
        </p:txBody>
      </p:sp>
      <p:sp>
        <p:nvSpPr>
          <p:cNvPr id="43" name="Text 41"/>
          <p:cNvSpPr txBox="1"/>
          <p:nvPr/>
        </p:nvSpPr>
        <p:spPr>
          <a:xfrm>
            <a:off x="6355080" y="2542032"/>
            <a:ext cx="2286000" cy="36576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Capabilities</a:t>
            </a:r>
            <a:endParaRPr lang="en-US" sz="1500" dirty="0"/>
          </a:p>
        </p:txBody>
      </p:sp>
      <p:sp>
        <p:nvSpPr>
          <p:cNvPr id="44" name="Text 42"/>
          <p:cNvSpPr txBox="1"/>
          <p:nvPr/>
        </p:nvSpPr>
        <p:spPr>
          <a:xfrm>
            <a:off x="5897880" y="2926080"/>
            <a:ext cx="2697480" cy="530352"/>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Build via internal development, M&amp;A or partnerships; “a multistage process” (p. 305)</a:t>
            </a:r>
            <a:endParaRPr lang="en-US" sz="1050" dirty="0"/>
          </a:p>
        </p:txBody>
      </p:sp>
      <p:sp>
        <p:nvSpPr>
          <p:cNvPr id="45" name="Shape 43"/>
          <p:cNvSpPr/>
          <p:nvPr/>
        </p:nvSpPr>
        <p:spPr>
          <a:xfrm>
            <a:off x="5760720" y="3566160"/>
            <a:ext cx="2926080" cy="1005840"/>
          </a:xfrm>
          <a:prstGeom prst="roundRect">
            <a:avLst>
              <a:gd name="adj" fmla="val 7273"/>
            </a:avLst>
          </a:prstGeom>
          <a:solidFill>
            <a:srgbClr val="EEF1F6"/>
          </a:solidFill>
          <a:ln w="12700">
            <a:solidFill>
              <a:srgbClr val="EEF1F6"/>
            </a:solidFill>
            <a:prstDash val="solid"/>
          </a:ln>
        </p:spPr>
      </p:sp>
      <p:sp>
        <p:nvSpPr>
          <p:cNvPr id="46" name="Shape 44"/>
          <p:cNvSpPr/>
          <p:nvPr/>
        </p:nvSpPr>
        <p:spPr>
          <a:xfrm>
            <a:off x="5870448" y="3675888"/>
            <a:ext cx="384048" cy="384048"/>
          </a:xfrm>
          <a:prstGeom prst="ellipse">
            <a:avLst/>
          </a:prstGeom>
          <a:solidFill>
            <a:srgbClr val="FCA311"/>
          </a:solidFill>
          <a:ln w="12700">
            <a:solidFill>
              <a:srgbClr val="FCA311"/>
            </a:solidFill>
            <a:prstDash val="solid"/>
          </a:ln>
        </p:spPr>
      </p:sp>
      <p:sp>
        <p:nvSpPr>
          <p:cNvPr id="47" name="Text 45"/>
          <p:cNvSpPr txBox="1"/>
          <p:nvPr/>
        </p:nvSpPr>
        <p:spPr>
          <a:xfrm>
            <a:off x="5870448" y="3675888"/>
            <a:ext cx="384048" cy="384048"/>
          </a:xfrm>
          <a:prstGeom prst="rect">
            <a:avLst/>
          </a:prstGeom>
          <a:noFill/>
          <a:ln/>
        </p:spPr>
        <p:txBody>
          <a:bodyPr wrap="square" lIns="0" tIns="0" rIns="0" bIns="0" rtlCol="0" anchor="ctr"/>
          <a:lstStyle/>
          <a:p>
            <a:pPr algn="ctr" indent="0" marL="0">
              <a:buNone/>
            </a:pPr>
            <a:r>
              <a:rPr lang="en-US" sz="1344" b="1" dirty="0">
                <a:solidFill>
                  <a:srgbClr val="14213D"/>
                </a:solidFill>
                <a:latin typeface="Cambria" pitchFamily="34" charset="0"/>
                <a:ea typeface="Cambria" pitchFamily="34" charset="-122"/>
                <a:cs typeface="Cambria" pitchFamily="34" charset="-120"/>
              </a:rPr>
              <a:t>3</a:t>
            </a:r>
            <a:endParaRPr lang="en-US" sz="1344" dirty="0"/>
          </a:p>
        </p:txBody>
      </p:sp>
      <p:sp>
        <p:nvSpPr>
          <p:cNvPr id="48" name="Text 46"/>
          <p:cNvSpPr txBox="1"/>
          <p:nvPr/>
        </p:nvSpPr>
        <p:spPr>
          <a:xfrm>
            <a:off x="6355080" y="3639312"/>
            <a:ext cx="2286000" cy="36576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Structure</a:t>
            </a:r>
            <a:endParaRPr lang="en-US" sz="1500" dirty="0"/>
          </a:p>
        </p:txBody>
      </p:sp>
      <p:sp>
        <p:nvSpPr>
          <p:cNvPr id="49" name="Text 47"/>
          <p:cNvSpPr txBox="1"/>
          <p:nvPr/>
        </p:nvSpPr>
        <p:spPr>
          <a:xfrm>
            <a:off x="5897880" y="4023360"/>
            <a:ext cx="2697480" cy="530352"/>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Outsource vs. in-house, structure type, centralize vs. delegate, cross-unit coordination (pp. 309–321)</a:t>
            </a:r>
            <a:endParaRPr lang="en-US" sz="1050" dirty="0"/>
          </a:p>
        </p:txBody>
      </p:sp>
      <p:sp>
        <p:nvSpPr>
          <p:cNvPr id="50" name="Text 48"/>
          <p:cNvSpPr txBox="1"/>
          <p:nvPr/>
        </p:nvSpPr>
        <p:spPr>
          <a:xfrm>
            <a:off x="457200" y="4754880"/>
            <a:ext cx="7680960" cy="274320"/>
          </a:xfrm>
          <a:prstGeom prst="rect">
            <a:avLst/>
          </a:prstGeom>
          <a:noFill/>
          <a:ln/>
        </p:spPr>
        <p:txBody>
          <a:bodyPr wrap="square" lIns="0" tIns="0" rIns="0" bIns="0" rtlCol="0" anchor="ctr"/>
          <a:lstStyle/>
          <a:p>
            <a:pPr indent="0" marL="0">
              <a:buNone/>
            </a:pPr>
            <a:r>
              <a:rPr lang="en-US" sz="900" dirty="0">
                <a:solidFill>
                  <a:srgbClr val="8A94A6"/>
                </a:solidFill>
                <a:latin typeface="Calibri" pitchFamily="34" charset="0"/>
                <a:ea typeface="Calibri" pitchFamily="34" charset="-122"/>
                <a:cs typeface="Calibri" pitchFamily="34" charset="-120"/>
              </a:rPr>
              <a:t>Group 3  |  4 Disciplines of Execution  |  Ch. 10 Building an Organization Capable of Good Strategy Execution</a:t>
            </a:r>
            <a:endParaRPr lang="en-US" sz="900" dirty="0"/>
          </a:p>
        </p:txBody>
      </p:sp>
      <p:sp>
        <p:nvSpPr>
          <p:cNvPr id="51" name="Text 49"/>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real enemy of execution: the whirlwind</a:t>
            </a:r>
            <a:endParaRPr lang="en-US" sz="2600" dirty="0"/>
          </a:p>
        </p:txBody>
      </p:sp>
      <p:sp>
        <p:nvSpPr>
          <p:cNvPr id="3" name="Shape 1"/>
          <p:cNvSpPr/>
          <p:nvPr/>
        </p:nvSpPr>
        <p:spPr>
          <a:xfrm>
            <a:off x="457200" y="1234440"/>
            <a:ext cx="3931920" cy="3017520"/>
          </a:xfrm>
          <a:prstGeom prst="roundRect">
            <a:avLst>
              <a:gd name="adj" fmla="val 2424"/>
            </a:avLst>
          </a:prstGeom>
          <a:solidFill>
            <a:srgbClr val="1F2F57"/>
          </a:solidFill>
          <a:ln w="12700">
            <a:solidFill>
              <a:srgbClr val="1F2F57"/>
            </a:solidFill>
            <a:prstDash val="solid"/>
          </a:ln>
        </p:spPr>
      </p:sp>
      <p:sp>
        <p:nvSpPr>
          <p:cNvPr id="4" name="Text 2"/>
          <p:cNvSpPr txBox="1"/>
          <p:nvPr/>
        </p:nvSpPr>
        <p:spPr>
          <a:xfrm>
            <a:off x="685800" y="1371600"/>
            <a:ext cx="3474720" cy="411480"/>
          </a:xfrm>
          <a:prstGeom prst="rect">
            <a:avLst/>
          </a:prstGeom>
          <a:noFill/>
          <a:ln/>
        </p:spPr>
        <p:txBody>
          <a:bodyPr wrap="square" lIns="0" tIns="0" rIns="0" bIns="0" rtlCol="0" anchor="ctr"/>
          <a:lstStyle/>
          <a:p>
            <a:pPr indent="0" marL="0">
              <a:buNone/>
            </a:pPr>
            <a:r>
              <a:rPr lang="en-US" sz="2200" b="1" dirty="0">
                <a:solidFill>
                  <a:srgbClr val="FCA311"/>
                </a:solidFill>
                <a:latin typeface="Cambria" pitchFamily="34" charset="0"/>
                <a:ea typeface="Cambria" pitchFamily="34" charset="-122"/>
                <a:cs typeface="Cambria" pitchFamily="34" charset="-120"/>
              </a:rPr>
              <a:t>The Whirlwind</a:t>
            </a:r>
            <a:endParaRPr lang="en-US" sz="2200" dirty="0"/>
          </a:p>
        </p:txBody>
      </p:sp>
      <p:sp>
        <p:nvSpPr>
          <p:cNvPr id="5" name="Text 3"/>
          <p:cNvSpPr txBox="1"/>
          <p:nvPr/>
        </p:nvSpPr>
        <p:spPr>
          <a:xfrm>
            <a:off x="685800" y="1874520"/>
            <a:ext cx="3474720" cy="21945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DCE2EE"/>
                </a:solidFill>
                <a:latin typeface="Calibri" pitchFamily="34" charset="0"/>
                <a:ea typeface="Calibri" pitchFamily="34" charset="-122"/>
                <a:cs typeface="Calibri" pitchFamily="34" charset="-120"/>
              </a:rPr>
              <a:t>The massive energy needed just to keep the operation running day to day</a:t>
            </a:r>
            <a:endParaRPr lang="en-US" sz="1400" dirty="0"/>
          </a:p>
          <a:p>
            <a:pPr marL="177800" indent="-177800">
              <a:spcAft>
                <a:spcPts val="600"/>
              </a:spcAft>
              <a:buSzPct val="100000"/>
              <a:buChar char="•"/>
            </a:pPr>
            <a:r>
              <a:rPr lang="en-US" sz="1400" dirty="0">
                <a:solidFill>
                  <a:srgbClr val="DCE2EE"/>
                </a:solidFill>
                <a:latin typeface="Calibri" pitchFamily="34" charset="0"/>
                <a:ea typeface="Calibri" pitchFamily="34" charset="-122"/>
                <a:cs typeface="Calibri" pitchFamily="34" charset="-120"/>
              </a:rPr>
              <a:t>Urgent, unavoidable, and it always wins the fight for attention</a:t>
            </a:r>
            <a:endParaRPr lang="en-US" sz="1400" dirty="0"/>
          </a:p>
          <a:p>
            <a:pPr marL="177800" indent="-177800">
              <a:spcAft>
                <a:spcPts val="600"/>
              </a:spcAft>
              <a:buSzPct val="100000"/>
              <a:buChar char="•"/>
            </a:pPr>
            <a:r>
              <a:rPr lang="en-US" sz="1400" dirty="0">
                <a:solidFill>
                  <a:srgbClr val="DCE2EE"/>
                </a:solidFill>
                <a:latin typeface="Calibri" pitchFamily="34" charset="0"/>
                <a:ea typeface="Calibri" pitchFamily="34" charset="-122"/>
                <a:cs typeface="Calibri" pitchFamily="34" charset="-120"/>
              </a:rPr>
              <a:t>Not the villain: it keeps the company alive today</a:t>
            </a:r>
            <a:endParaRPr lang="en-US" sz="1400" dirty="0"/>
          </a:p>
        </p:txBody>
      </p:sp>
      <p:sp>
        <p:nvSpPr>
          <p:cNvPr id="6" name="Shape 4"/>
          <p:cNvSpPr/>
          <p:nvPr/>
        </p:nvSpPr>
        <p:spPr>
          <a:xfrm>
            <a:off x="4754880" y="1234440"/>
            <a:ext cx="3931920" cy="3017520"/>
          </a:xfrm>
          <a:prstGeom prst="roundRect">
            <a:avLst>
              <a:gd name="adj" fmla="val 2424"/>
            </a:avLst>
          </a:prstGeom>
          <a:solidFill>
            <a:srgbClr val="1F2F57"/>
          </a:solidFill>
          <a:ln w="12700">
            <a:solidFill>
              <a:srgbClr val="1F2F57"/>
            </a:solidFill>
            <a:prstDash val="solid"/>
          </a:ln>
        </p:spPr>
      </p:sp>
      <p:sp>
        <p:nvSpPr>
          <p:cNvPr id="7" name="Text 5"/>
          <p:cNvSpPr txBox="1"/>
          <p:nvPr/>
        </p:nvSpPr>
        <p:spPr>
          <a:xfrm>
            <a:off x="4983480" y="1371600"/>
            <a:ext cx="3474720" cy="411480"/>
          </a:xfrm>
          <a:prstGeom prst="rect">
            <a:avLst/>
          </a:prstGeom>
          <a:noFill/>
          <a:ln/>
        </p:spPr>
        <p:txBody>
          <a:bodyPr wrap="square" lIns="0" tIns="0" rIns="0" bIns="0" rtlCol="0" anchor="ctr"/>
          <a:lstStyle/>
          <a:p>
            <a:pPr indent="0" marL="0">
              <a:buNone/>
            </a:pPr>
            <a:r>
              <a:rPr lang="en-US" sz="2200" b="1" dirty="0">
                <a:solidFill>
                  <a:srgbClr val="FCA311"/>
                </a:solidFill>
                <a:latin typeface="Cambria" pitchFamily="34" charset="0"/>
                <a:ea typeface="Cambria" pitchFamily="34" charset="-122"/>
                <a:cs typeface="Cambria" pitchFamily="34" charset="-120"/>
              </a:rPr>
              <a:t>The Strategic Goals</a:t>
            </a:r>
            <a:endParaRPr lang="en-US" sz="2200" dirty="0"/>
          </a:p>
        </p:txBody>
      </p:sp>
      <p:sp>
        <p:nvSpPr>
          <p:cNvPr id="8" name="Text 6"/>
          <p:cNvSpPr txBox="1"/>
          <p:nvPr/>
        </p:nvSpPr>
        <p:spPr>
          <a:xfrm>
            <a:off x="4983480" y="1874520"/>
            <a:ext cx="3474720" cy="21945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DCE2EE"/>
                </a:solidFill>
                <a:latin typeface="Calibri" pitchFamily="34" charset="0"/>
                <a:ea typeface="Calibri" pitchFamily="34" charset="-122"/>
                <a:cs typeface="Calibri" pitchFamily="34" charset="-120"/>
              </a:rPr>
              <a:t>New initiatives that require behaviour change</a:t>
            </a:r>
            <a:endParaRPr lang="en-US" sz="1400" dirty="0"/>
          </a:p>
          <a:p>
            <a:pPr marL="177800" indent="-177800">
              <a:spcAft>
                <a:spcPts val="600"/>
              </a:spcAft>
              <a:buSzPct val="100000"/>
              <a:buChar char="•"/>
            </a:pPr>
            <a:r>
              <a:rPr lang="en-US" sz="1400" dirty="0">
                <a:solidFill>
                  <a:srgbClr val="DCE2EE"/>
                </a:solidFill>
                <a:latin typeface="Calibri" pitchFamily="34" charset="0"/>
                <a:ea typeface="Calibri" pitchFamily="34" charset="-122"/>
                <a:cs typeface="Calibri" pitchFamily="34" charset="-120"/>
              </a:rPr>
              <a:t>Important but not urgent, so they are postponed week after week</a:t>
            </a:r>
            <a:endParaRPr lang="en-US" sz="1400" dirty="0"/>
          </a:p>
          <a:p>
            <a:pPr marL="177800" indent="-177800">
              <a:spcAft>
                <a:spcPts val="600"/>
              </a:spcAft>
              <a:buSzPct val="100000"/>
              <a:buChar char="•"/>
            </a:pPr>
            <a:r>
              <a:rPr lang="en-US" sz="1400" dirty="0">
                <a:solidFill>
                  <a:srgbClr val="DCE2EE"/>
                </a:solidFill>
                <a:latin typeface="Calibri" pitchFamily="34" charset="0"/>
                <a:ea typeface="Calibri" pitchFamily="34" charset="-122"/>
                <a:cs typeface="Calibri" pitchFamily="34" charset="-120"/>
              </a:rPr>
              <a:t>Chapter 10: “when strategies fail, it is often because of poor execution” (p. 297)</a:t>
            </a:r>
            <a:endParaRPr lang="en-US" sz="1400" dirty="0"/>
          </a:p>
        </p:txBody>
      </p:sp>
      <p:sp>
        <p:nvSpPr>
          <p:cNvPr id="9" name="Text 7"/>
          <p:cNvSpPr txBox="1"/>
          <p:nvPr/>
        </p:nvSpPr>
        <p:spPr>
          <a:xfrm>
            <a:off x="457200" y="4343400"/>
            <a:ext cx="8229600" cy="365760"/>
          </a:xfrm>
          <a:prstGeom prst="rect">
            <a:avLst/>
          </a:prstGeom>
          <a:noFill/>
          <a:ln/>
        </p:spPr>
        <p:txBody>
          <a:bodyPr wrap="square" lIns="0" tIns="0" rIns="0" bIns="0"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4DX is designed to execute strategic goals in the midst of the whirlwind, not instead of it.</a:t>
            </a:r>
            <a:endParaRPr lang="en-US" sz="1400" dirty="0"/>
          </a:p>
        </p:txBody>
      </p:sp>
      <p:sp>
        <p:nvSpPr>
          <p:cNvPr id="10" name="Text 8"/>
          <p:cNvSpPr txBox="1"/>
          <p:nvPr/>
        </p:nvSpPr>
        <p:spPr>
          <a:xfrm>
            <a:off x="457200" y="4754880"/>
            <a:ext cx="7680960" cy="274320"/>
          </a:xfrm>
          <a:prstGeom prst="rect">
            <a:avLst/>
          </a:prstGeom>
          <a:noFill/>
          <a:ln/>
        </p:spPr>
        <p:txBody>
          <a:bodyPr wrap="square" lIns="0" tIns="0" rIns="0" bIns="0" rtlCol="0" anchor="ctr"/>
          <a:lstStyle/>
          <a:p>
            <a:pPr indent="0" marL="0">
              <a:buNone/>
            </a:pPr>
            <a:r>
              <a:rPr lang="en-US" sz="900" dirty="0">
                <a:solidFill>
                  <a:srgbClr val="AEB7C9"/>
                </a:solidFill>
                <a:latin typeface="Calibri" pitchFamily="34" charset="0"/>
                <a:ea typeface="Calibri" pitchFamily="34" charset="-122"/>
                <a:cs typeface="Calibri" pitchFamily="34" charset="-120"/>
              </a:rPr>
              <a:t>Group 3  |  4 Disciplines of Execution  |  Ch. 10 Building an Organization Capable of Good Strategy Execution</a:t>
            </a:r>
            <a:endParaRPr lang="en-US" sz="900" dirty="0"/>
          </a:p>
        </p:txBody>
      </p:sp>
      <p:sp>
        <p:nvSpPr>
          <p:cNvPr id="11" name="Text 9"/>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AEB7C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The 4 Disciplines at a glance</a:t>
            </a:r>
            <a:endParaRPr lang="en-US" sz="3000" dirty="0"/>
          </a:p>
        </p:txBody>
      </p:sp>
      <p:sp>
        <p:nvSpPr>
          <p:cNvPr id="3" name="Text 1"/>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McChesney, Covey &amp; Huling (2012), FranklinCovey. Applied with 140,000+ teams in 4,000+ implementations worldwide.</a:t>
            </a:r>
            <a:endParaRPr lang="en-US" sz="1100" dirty="0"/>
          </a:p>
        </p:txBody>
      </p:sp>
      <p:sp>
        <p:nvSpPr>
          <p:cNvPr id="4" name="Shape 2"/>
          <p:cNvSpPr/>
          <p:nvPr/>
        </p:nvSpPr>
        <p:spPr>
          <a:xfrm>
            <a:off x="457200" y="1417320"/>
            <a:ext cx="1965960" cy="3063240"/>
          </a:xfrm>
          <a:prstGeom prst="roundRect">
            <a:avLst>
              <a:gd name="adj" fmla="val 3721"/>
            </a:avLst>
          </a:prstGeom>
          <a:solidFill>
            <a:srgbClr val="EEF1F6"/>
          </a:solidFill>
          <a:ln w="12700">
            <a:solidFill>
              <a:srgbClr val="EEF1F6"/>
            </a:solidFill>
            <a:prstDash val="solid"/>
          </a:ln>
        </p:spPr>
      </p:sp>
      <p:sp>
        <p:nvSpPr>
          <p:cNvPr id="5" name="Shape 3"/>
          <p:cNvSpPr/>
          <p:nvPr/>
        </p:nvSpPr>
        <p:spPr>
          <a:xfrm>
            <a:off x="594360" y="1554480"/>
            <a:ext cx="548640" cy="548640"/>
          </a:xfrm>
          <a:prstGeom prst="ellipse">
            <a:avLst/>
          </a:prstGeom>
          <a:solidFill>
            <a:srgbClr val="FCA311"/>
          </a:solidFill>
          <a:ln w="12700">
            <a:solidFill>
              <a:srgbClr val="FCA311"/>
            </a:solidFill>
            <a:prstDash val="solid"/>
          </a:ln>
        </p:spPr>
      </p:sp>
      <p:sp>
        <p:nvSpPr>
          <p:cNvPr id="6" name="Text 4"/>
          <p:cNvSpPr txBox="1"/>
          <p:nvPr/>
        </p:nvSpPr>
        <p:spPr>
          <a:xfrm>
            <a:off x="594360" y="1554480"/>
            <a:ext cx="548640" cy="548640"/>
          </a:xfrm>
          <a:prstGeom prst="rect">
            <a:avLst/>
          </a:prstGeom>
          <a:noFill/>
          <a:ln/>
        </p:spPr>
        <p:txBody>
          <a:bodyPr wrap="square" lIns="0" tIns="0" rIns="0" bIns="0" rtlCol="0" anchor="ctr"/>
          <a:lstStyle/>
          <a:p>
            <a:pPr algn="ctr" indent="0" marL="0">
              <a:buNone/>
            </a:pPr>
            <a:r>
              <a:rPr lang="en-US" sz="1920" b="1" dirty="0">
                <a:solidFill>
                  <a:srgbClr val="14213D"/>
                </a:solidFill>
                <a:latin typeface="Cambria" pitchFamily="34" charset="0"/>
                <a:ea typeface="Cambria" pitchFamily="34" charset="-122"/>
                <a:cs typeface="Cambria" pitchFamily="34" charset="-120"/>
              </a:rPr>
              <a:t>1</a:t>
            </a:r>
            <a:endParaRPr lang="en-US" sz="1920" dirty="0"/>
          </a:p>
        </p:txBody>
      </p:sp>
      <p:sp>
        <p:nvSpPr>
          <p:cNvPr id="7" name="Text 5"/>
          <p:cNvSpPr txBox="1"/>
          <p:nvPr/>
        </p:nvSpPr>
        <p:spPr>
          <a:xfrm>
            <a:off x="594360" y="2194560"/>
            <a:ext cx="1691640" cy="731520"/>
          </a:xfrm>
          <a:prstGeom prst="rect">
            <a:avLst/>
          </a:prstGeom>
          <a:noFill/>
          <a:ln/>
        </p:spPr>
        <p:txBody>
          <a:bodyPr wrap="square" lIns="0" tIns="0" rIns="0" bIns="0" rtlCol="0" anchor="t"/>
          <a:lstStyle/>
          <a:p>
            <a:pPr indent="0" marL="0">
              <a:buNone/>
            </a:pPr>
            <a:r>
              <a:rPr lang="en-US" sz="1500" b="1" dirty="0">
                <a:solidFill>
                  <a:srgbClr val="14213D"/>
                </a:solidFill>
                <a:latin typeface="Cambria" pitchFamily="34" charset="0"/>
                <a:ea typeface="Cambria" pitchFamily="34" charset="-122"/>
                <a:cs typeface="Cambria" pitchFamily="34" charset="-120"/>
              </a:rPr>
              <a:t>Focus on the Wildly Important</a:t>
            </a:r>
            <a:endParaRPr lang="en-US" sz="1500" dirty="0"/>
          </a:p>
        </p:txBody>
      </p:sp>
      <p:sp>
        <p:nvSpPr>
          <p:cNvPr id="8" name="Text 6"/>
          <p:cNvSpPr txBox="1"/>
          <p:nvPr/>
        </p:nvSpPr>
        <p:spPr>
          <a:xfrm>
            <a:off x="594360" y="2926080"/>
            <a:ext cx="1691640" cy="320040"/>
          </a:xfrm>
          <a:prstGeom prst="rect">
            <a:avLst/>
          </a:prstGeom>
          <a:noFill/>
          <a:ln/>
        </p:spPr>
        <p:txBody>
          <a:bodyPr wrap="square" lIns="0" tIns="0" rIns="0" bIns="0" rtlCol="0" anchor="ctr"/>
          <a:lstStyle/>
          <a:p>
            <a:pPr indent="0" marL="0">
              <a:buNone/>
            </a:pPr>
            <a:r>
              <a:rPr lang="en-US" sz="1100" i="1" dirty="0">
                <a:solidFill>
                  <a:srgbClr val="4A5568"/>
                </a:solidFill>
                <a:latin typeface="Calibri" pitchFamily="34" charset="0"/>
                <a:ea typeface="Calibri" pitchFamily="34" charset="-122"/>
                <a:cs typeface="Calibri" pitchFamily="34" charset="-120"/>
              </a:rPr>
              <a:t>The discipline of focus</a:t>
            </a:r>
            <a:endParaRPr lang="en-US" sz="1100" dirty="0"/>
          </a:p>
        </p:txBody>
      </p:sp>
      <p:sp>
        <p:nvSpPr>
          <p:cNvPr id="9" name="Text 7"/>
          <p:cNvSpPr txBox="1"/>
          <p:nvPr/>
        </p:nvSpPr>
        <p:spPr>
          <a:xfrm>
            <a:off x="594360" y="3291840"/>
            <a:ext cx="1691640" cy="109728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Narrow to 1–2 Wildly Important Goals (WIGs) per team</a:t>
            </a:r>
            <a:endParaRPr lang="en-US" sz="1200" dirty="0"/>
          </a:p>
        </p:txBody>
      </p:sp>
      <p:sp>
        <p:nvSpPr>
          <p:cNvPr id="10" name="Shape 8"/>
          <p:cNvSpPr/>
          <p:nvPr/>
        </p:nvSpPr>
        <p:spPr>
          <a:xfrm>
            <a:off x="2560320" y="1417320"/>
            <a:ext cx="1965960" cy="3063240"/>
          </a:xfrm>
          <a:prstGeom prst="roundRect">
            <a:avLst>
              <a:gd name="adj" fmla="val 3721"/>
            </a:avLst>
          </a:prstGeom>
          <a:solidFill>
            <a:srgbClr val="14213D"/>
          </a:solidFill>
          <a:ln w="12700">
            <a:solidFill>
              <a:srgbClr val="14213D"/>
            </a:solidFill>
            <a:prstDash val="solid"/>
          </a:ln>
        </p:spPr>
      </p:sp>
      <p:sp>
        <p:nvSpPr>
          <p:cNvPr id="11" name="Shape 9"/>
          <p:cNvSpPr/>
          <p:nvPr/>
        </p:nvSpPr>
        <p:spPr>
          <a:xfrm>
            <a:off x="2697480" y="1554480"/>
            <a:ext cx="548640" cy="548640"/>
          </a:xfrm>
          <a:prstGeom prst="ellipse">
            <a:avLst/>
          </a:prstGeom>
          <a:solidFill>
            <a:srgbClr val="FCA311"/>
          </a:solidFill>
          <a:ln w="12700">
            <a:solidFill>
              <a:srgbClr val="FCA311"/>
            </a:solidFill>
            <a:prstDash val="solid"/>
          </a:ln>
        </p:spPr>
      </p:sp>
      <p:sp>
        <p:nvSpPr>
          <p:cNvPr id="12" name="Text 10"/>
          <p:cNvSpPr txBox="1"/>
          <p:nvPr/>
        </p:nvSpPr>
        <p:spPr>
          <a:xfrm>
            <a:off x="2697480" y="1554480"/>
            <a:ext cx="548640" cy="548640"/>
          </a:xfrm>
          <a:prstGeom prst="rect">
            <a:avLst/>
          </a:prstGeom>
          <a:noFill/>
          <a:ln/>
        </p:spPr>
        <p:txBody>
          <a:bodyPr wrap="square" lIns="0" tIns="0" rIns="0" bIns="0" rtlCol="0" anchor="ctr"/>
          <a:lstStyle/>
          <a:p>
            <a:pPr algn="ctr" indent="0" marL="0">
              <a:buNone/>
            </a:pPr>
            <a:r>
              <a:rPr lang="en-US" sz="1920" b="1" dirty="0">
                <a:solidFill>
                  <a:srgbClr val="14213D"/>
                </a:solidFill>
                <a:latin typeface="Cambria" pitchFamily="34" charset="0"/>
                <a:ea typeface="Cambria" pitchFamily="34" charset="-122"/>
                <a:cs typeface="Cambria" pitchFamily="34" charset="-120"/>
              </a:rPr>
              <a:t>2</a:t>
            </a:r>
            <a:endParaRPr lang="en-US" sz="1920" dirty="0"/>
          </a:p>
        </p:txBody>
      </p:sp>
      <p:sp>
        <p:nvSpPr>
          <p:cNvPr id="13" name="Text 11"/>
          <p:cNvSpPr txBox="1"/>
          <p:nvPr/>
        </p:nvSpPr>
        <p:spPr>
          <a:xfrm>
            <a:off x="2697480" y="2194560"/>
            <a:ext cx="1691640" cy="73152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Act on the Lead Measures</a:t>
            </a:r>
            <a:endParaRPr lang="en-US" sz="1500" dirty="0"/>
          </a:p>
        </p:txBody>
      </p:sp>
      <p:sp>
        <p:nvSpPr>
          <p:cNvPr id="14" name="Text 12"/>
          <p:cNvSpPr txBox="1"/>
          <p:nvPr/>
        </p:nvSpPr>
        <p:spPr>
          <a:xfrm>
            <a:off x="2697480" y="2926080"/>
            <a:ext cx="1691640" cy="320040"/>
          </a:xfrm>
          <a:prstGeom prst="rect">
            <a:avLst/>
          </a:prstGeom>
          <a:noFill/>
          <a:ln/>
        </p:spPr>
        <p:txBody>
          <a:bodyPr wrap="square" lIns="0" tIns="0" rIns="0" bIns="0" rtlCol="0" anchor="ctr"/>
          <a:lstStyle/>
          <a:p>
            <a:pPr indent="0" marL="0">
              <a:buNone/>
            </a:pPr>
            <a:r>
              <a:rPr lang="en-US" sz="1100" i="1" dirty="0">
                <a:solidFill>
                  <a:srgbClr val="FCA311"/>
                </a:solidFill>
                <a:latin typeface="Calibri" pitchFamily="34" charset="0"/>
                <a:ea typeface="Calibri" pitchFamily="34" charset="-122"/>
                <a:cs typeface="Calibri" pitchFamily="34" charset="-120"/>
              </a:rPr>
              <a:t>The discipline of leverage</a:t>
            </a:r>
            <a:endParaRPr lang="en-US" sz="1100" dirty="0"/>
          </a:p>
        </p:txBody>
      </p:sp>
      <p:sp>
        <p:nvSpPr>
          <p:cNvPr id="15" name="Text 13"/>
          <p:cNvSpPr txBox="1"/>
          <p:nvPr/>
        </p:nvSpPr>
        <p:spPr>
          <a:xfrm>
            <a:off x="2697480" y="3291840"/>
            <a:ext cx="1691640" cy="1097280"/>
          </a:xfrm>
          <a:prstGeom prst="rect">
            <a:avLst/>
          </a:prstGeom>
          <a:noFill/>
          <a:ln/>
        </p:spPr>
        <p:txBody>
          <a:bodyPr wrap="square" lIns="0" tIns="0" rIns="0" bIns="0" rtlCol="0" anchor="t"/>
          <a:lstStyle/>
          <a:p>
            <a:pPr indent="0" marL="0">
              <a:buNone/>
            </a:pPr>
            <a:r>
              <a:rPr lang="en-US" sz="1200" dirty="0">
                <a:solidFill>
                  <a:srgbClr val="DCE2EE"/>
                </a:solidFill>
                <a:latin typeface="Calibri" pitchFamily="34" charset="0"/>
                <a:ea typeface="Calibri" pitchFamily="34" charset="-122"/>
                <a:cs typeface="Calibri" pitchFamily="34" charset="-120"/>
              </a:rPr>
              <a:t>Work the few predictive, influenceable activities</a:t>
            </a:r>
            <a:endParaRPr lang="en-US" sz="1200" dirty="0"/>
          </a:p>
        </p:txBody>
      </p:sp>
      <p:sp>
        <p:nvSpPr>
          <p:cNvPr id="16" name="Shape 14"/>
          <p:cNvSpPr/>
          <p:nvPr/>
        </p:nvSpPr>
        <p:spPr>
          <a:xfrm>
            <a:off x="4663440" y="1417320"/>
            <a:ext cx="1965960" cy="3063240"/>
          </a:xfrm>
          <a:prstGeom prst="roundRect">
            <a:avLst>
              <a:gd name="adj" fmla="val 3721"/>
            </a:avLst>
          </a:prstGeom>
          <a:solidFill>
            <a:srgbClr val="EEF1F6"/>
          </a:solidFill>
          <a:ln w="12700">
            <a:solidFill>
              <a:srgbClr val="EEF1F6"/>
            </a:solidFill>
            <a:prstDash val="solid"/>
          </a:ln>
        </p:spPr>
      </p:sp>
      <p:sp>
        <p:nvSpPr>
          <p:cNvPr id="17" name="Shape 15"/>
          <p:cNvSpPr/>
          <p:nvPr/>
        </p:nvSpPr>
        <p:spPr>
          <a:xfrm>
            <a:off x="4800600" y="1554480"/>
            <a:ext cx="548640" cy="548640"/>
          </a:xfrm>
          <a:prstGeom prst="ellipse">
            <a:avLst/>
          </a:prstGeom>
          <a:solidFill>
            <a:srgbClr val="FCA311"/>
          </a:solidFill>
          <a:ln w="12700">
            <a:solidFill>
              <a:srgbClr val="FCA311"/>
            </a:solidFill>
            <a:prstDash val="solid"/>
          </a:ln>
        </p:spPr>
      </p:sp>
      <p:sp>
        <p:nvSpPr>
          <p:cNvPr id="18" name="Text 16"/>
          <p:cNvSpPr txBox="1"/>
          <p:nvPr/>
        </p:nvSpPr>
        <p:spPr>
          <a:xfrm>
            <a:off x="4800600" y="1554480"/>
            <a:ext cx="548640" cy="548640"/>
          </a:xfrm>
          <a:prstGeom prst="rect">
            <a:avLst/>
          </a:prstGeom>
          <a:noFill/>
          <a:ln/>
        </p:spPr>
        <p:txBody>
          <a:bodyPr wrap="square" lIns="0" tIns="0" rIns="0" bIns="0" rtlCol="0" anchor="ctr"/>
          <a:lstStyle/>
          <a:p>
            <a:pPr algn="ctr" indent="0" marL="0">
              <a:buNone/>
            </a:pPr>
            <a:r>
              <a:rPr lang="en-US" sz="1920" b="1" dirty="0">
                <a:solidFill>
                  <a:srgbClr val="14213D"/>
                </a:solidFill>
                <a:latin typeface="Cambria" pitchFamily="34" charset="0"/>
                <a:ea typeface="Cambria" pitchFamily="34" charset="-122"/>
                <a:cs typeface="Cambria" pitchFamily="34" charset="-120"/>
              </a:rPr>
              <a:t>3</a:t>
            </a:r>
            <a:endParaRPr lang="en-US" sz="1920" dirty="0"/>
          </a:p>
        </p:txBody>
      </p:sp>
      <p:sp>
        <p:nvSpPr>
          <p:cNvPr id="19" name="Text 17"/>
          <p:cNvSpPr txBox="1"/>
          <p:nvPr/>
        </p:nvSpPr>
        <p:spPr>
          <a:xfrm>
            <a:off x="4800600" y="2194560"/>
            <a:ext cx="1691640" cy="731520"/>
          </a:xfrm>
          <a:prstGeom prst="rect">
            <a:avLst/>
          </a:prstGeom>
          <a:noFill/>
          <a:ln/>
        </p:spPr>
        <p:txBody>
          <a:bodyPr wrap="square" lIns="0" tIns="0" rIns="0" bIns="0" rtlCol="0" anchor="t"/>
          <a:lstStyle/>
          <a:p>
            <a:pPr indent="0" marL="0">
              <a:buNone/>
            </a:pPr>
            <a:r>
              <a:rPr lang="en-US" sz="1500" b="1" dirty="0">
                <a:solidFill>
                  <a:srgbClr val="14213D"/>
                </a:solidFill>
                <a:latin typeface="Cambria" pitchFamily="34" charset="0"/>
                <a:ea typeface="Cambria" pitchFamily="34" charset="-122"/>
                <a:cs typeface="Cambria" pitchFamily="34" charset="-120"/>
              </a:rPr>
              <a:t>Keep a Compelling Scoreboard</a:t>
            </a:r>
            <a:endParaRPr lang="en-US" sz="1500" dirty="0"/>
          </a:p>
        </p:txBody>
      </p:sp>
      <p:sp>
        <p:nvSpPr>
          <p:cNvPr id="20" name="Text 18"/>
          <p:cNvSpPr txBox="1"/>
          <p:nvPr/>
        </p:nvSpPr>
        <p:spPr>
          <a:xfrm>
            <a:off x="4800600" y="2926080"/>
            <a:ext cx="1691640" cy="320040"/>
          </a:xfrm>
          <a:prstGeom prst="rect">
            <a:avLst/>
          </a:prstGeom>
          <a:noFill/>
          <a:ln/>
        </p:spPr>
        <p:txBody>
          <a:bodyPr wrap="square" lIns="0" tIns="0" rIns="0" bIns="0" rtlCol="0" anchor="ctr"/>
          <a:lstStyle/>
          <a:p>
            <a:pPr indent="0" marL="0">
              <a:buNone/>
            </a:pPr>
            <a:r>
              <a:rPr lang="en-US" sz="1100" i="1" dirty="0">
                <a:solidFill>
                  <a:srgbClr val="4A5568"/>
                </a:solidFill>
                <a:latin typeface="Calibri" pitchFamily="34" charset="0"/>
                <a:ea typeface="Calibri" pitchFamily="34" charset="-122"/>
                <a:cs typeface="Calibri" pitchFamily="34" charset="-120"/>
              </a:rPr>
              <a:t>The discipline of engagement</a:t>
            </a:r>
            <a:endParaRPr lang="en-US" sz="1100" dirty="0"/>
          </a:p>
        </p:txBody>
      </p:sp>
      <p:sp>
        <p:nvSpPr>
          <p:cNvPr id="21" name="Text 19"/>
          <p:cNvSpPr txBox="1"/>
          <p:nvPr/>
        </p:nvSpPr>
        <p:spPr>
          <a:xfrm>
            <a:off x="4800600" y="3291840"/>
            <a:ext cx="1691640" cy="109728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People play differently when they keep score</a:t>
            </a:r>
            <a:endParaRPr lang="en-US" sz="1200" dirty="0"/>
          </a:p>
        </p:txBody>
      </p:sp>
      <p:sp>
        <p:nvSpPr>
          <p:cNvPr id="22" name="Shape 20"/>
          <p:cNvSpPr/>
          <p:nvPr/>
        </p:nvSpPr>
        <p:spPr>
          <a:xfrm>
            <a:off x="6766560" y="1417320"/>
            <a:ext cx="1965960" cy="3063240"/>
          </a:xfrm>
          <a:prstGeom prst="roundRect">
            <a:avLst>
              <a:gd name="adj" fmla="val 3721"/>
            </a:avLst>
          </a:prstGeom>
          <a:solidFill>
            <a:srgbClr val="14213D"/>
          </a:solidFill>
          <a:ln w="12700">
            <a:solidFill>
              <a:srgbClr val="14213D"/>
            </a:solidFill>
            <a:prstDash val="solid"/>
          </a:ln>
        </p:spPr>
      </p:sp>
      <p:sp>
        <p:nvSpPr>
          <p:cNvPr id="23" name="Shape 21"/>
          <p:cNvSpPr/>
          <p:nvPr/>
        </p:nvSpPr>
        <p:spPr>
          <a:xfrm>
            <a:off x="6903720" y="1554480"/>
            <a:ext cx="548640" cy="548640"/>
          </a:xfrm>
          <a:prstGeom prst="ellipse">
            <a:avLst/>
          </a:prstGeom>
          <a:solidFill>
            <a:srgbClr val="FCA311"/>
          </a:solidFill>
          <a:ln w="12700">
            <a:solidFill>
              <a:srgbClr val="FCA311"/>
            </a:solidFill>
            <a:prstDash val="solid"/>
          </a:ln>
        </p:spPr>
      </p:sp>
      <p:sp>
        <p:nvSpPr>
          <p:cNvPr id="24" name="Text 22"/>
          <p:cNvSpPr txBox="1"/>
          <p:nvPr/>
        </p:nvSpPr>
        <p:spPr>
          <a:xfrm>
            <a:off x="6903720" y="1554480"/>
            <a:ext cx="548640" cy="548640"/>
          </a:xfrm>
          <a:prstGeom prst="rect">
            <a:avLst/>
          </a:prstGeom>
          <a:noFill/>
          <a:ln/>
        </p:spPr>
        <p:txBody>
          <a:bodyPr wrap="square" lIns="0" tIns="0" rIns="0" bIns="0" rtlCol="0" anchor="ctr"/>
          <a:lstStyle/>
          <a:p>
            <a:pPr algn="ctr" indent="0" marL="0">
              <a:buNone/>
            </a:pPr>
            <a:r>
              <a:rPr lang="en-US" sz="1920" b="1" dirty="0">
                <a:solidFill>
                  <a:srgbClr val="14213D"/>
                </a:solidFill>
                <a:latin typeface="Cambria" pitchFamily="34" charset="0"/>
                <a:ea typeface="Cambria" pitchFamily="34" charset="-122"/>
                <a:cs typeface="Cambria" pitchFamily="34" charset="-120"/>
              </a:rPr>
              <a:t>4</a:t>
            </a:r>
            <a:endParaRPr lang="en-US" sz="1920" dirty="0"/>
          </a:p>
        </p:txBody>
      </p:sp>
      <p:sp>
        <p:nvSpPr>
          <p:cNvPr id="25" name="Text 23"/>
          <p:cNvSpPr txBox="1"/>
          <p:nvPr/>
        </p:nvSpPr>
        <p:spPr>
          <a:xfrm>
            <a:off x="6903720" y="2194560"/>
            <a:ext cx="1691640" cy="73152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Create a Cadence of Accountability</a:t>
            </a:r>
            <a:endParaRPr lang="en-US" sz="1500" dirty="0"/>
          </a:p>
        </p:txBody>
      </p:sp>
      <p:sp>
        <p:nvSpPr>
          <p:cNvPr id="26" name="Text 24"/>
          <p:cNvSpPr txBox="1"/>
          <p:nvPr/>
        </p:nvSpPr>
        <p:spPr>
          <a:xfrm>
            <a:off x="6903720" y="2926080"/>
            <a:ext cx="1691640" cy="320040"/>
          </a:xfrm>
          <a:prstGeom prst="rect">
            <a:avLst/>
          </a:prstGeom>
          <a:noFill/>
          <a:ln/>
        </p:spPr>
        <p:txBody>
          <a:bodyPr wrap="square" lIns="0" tIns="0" rIns="0" bIns="0" rtlCol="0" anchor="ctr"/>
          <a:lstStyle/>
          <a:p>
            <a:pPr indent="0" marL="0">
              <a:buNone/>
            </a:pPr>
            <a:r>
              <a:rPr lang="en-US" sz="1100" i="1" dirty="0">
                <a:solidFill>
                  <a:srgbClr val="FCA311"/>
                </a:solidFill>
                <a:latin typeface="Calibri" pitchFamily="34" charset="0"/>
                <a:ea typeface="Calibri" pitchFamily="34" charset="-122"/>
                <a:cs typeface="Calibri" pitchFamily="34" charset="-120"/>
              </a:rPr>
              <a:t>The discipline of accountability</a:t>
            </a:r>
            <a:endParaRPr lang="en-US" sz="1100" dirty="0"/>
          </a:p>
        </p:txBody>
      </p:sp>
      <p:sp>
        <p:nvSpPr>
          <p:cNvPr id="27" name="Text 25"/>
          <p:cNvSpPr txBox="1"/>
          <p:nvPr/>
        </p:nvSpPr>
        <p:spPr>
          <a:xfrm>
            <a:off x="6903720" y="3291840"/>
            <a:ext cx="1691640" cy="1097280"/>
          </a:xfrm>
          <a:prstGeom prst="rect">
            <a:avLst/>
          </a:prstGeom>
          <a:noFill/>
          <a:ln/>
        </p:spPr>
        <p:txBody>
          <a:bodyPr wrap="square" lIns="0" tIns="0" rIns="0" bIns="0" rtlCol="0" anchor="t"/>
          <a:lstStyle/>
          <a:p>
            <a:pPr indent="0" marL="0">
              <a:buNone/>
            </a:pPr>
            <a:r>
              <a:rPr lang="en-US" sz="1200" dirty="0">
                <a:solidFill>
                  <a:srgbClr val="DCE2EE"/>
                </a:solidFill>
                <a:latin typeface="Calibri" pitchFamily="34" charset="0"/>
                <a:ea typeface="Calibri" pitchFamily="34" charset="-122"/>
                <a:cs typeface="Calibri" pitchFamily="34" charset="-120"/>
              </a:rPr>
              <a:t>A short weekly session of commitments and follow-through</a:t>
            </a:r>
            <a:endParaRPr lang="en-US" sz="1200" dirty="0"/>
          </a:p>
        </p:txBody>
      </p:sp>
      <p:sp>
        <p:nvSpPr>
          <p:cNvPr id="28" name="Text 26"/>
          <p:cNvSpPr txBox="1"/>
          <p:nvPr/>
        </p:nvSpPr>
        <p:spPr>
          <a:xfrm>
            <a:off x="457200" y="4754880"/>
            <a:ext cx="7680960" cy="274320"/>
          </a:xfrm>
          <a:prstGeom prst="rect">
            <a:avLst/>
          </a:prstGeom>
          <a:noFill/>
          <a:ln/>
        </p:spPr>
        <p:txBody>
          <a:bodyPr wrap="square" lIns="0" tIns="0" rIns="0" bIns="0" rtlCol="0" anchor="ctr"/>
          <a:lstStyle/>
          <a:p>
            <a:pPr indent="0" marL="0">
              <a:buNone/>
            </a:pPr>
            <a:r>
              <a:rPr lang="en-US" sz="900" dirty="0">
                <a:solidFill>
                  <a:srgbClr val="8A94A6"/>
                </a:solidFill>
                <a:latin typeface="Calibri" pitchFamily="34" charset="0"/>
                <a:ea typeface="Calibri" pitchFamily="34" charset="-122"/>
                <a:cs typeface="Calibri" pitchFamily="34" charset="-120"/>
              </a:rPr>
              <a:t>Group 3  |  4 Disciplines of Execution  |  Ch. 10 Building an Organization Capable of Good Strategy Execution</a:t>
            </a:r>
            <a:endParaRPr lang="en-US" sz="900" dirty="0"/>
          </a:p>
        </p:txBody>
      </p:sp>
      <p:sp>
        <p:nvSpPr>
          <p:cNvPr id="29" name="Text 27"/>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84048"/>
            <a:ext cx="594360" cy="594360"/>
          </a:xfrm>
          <a:prstGeom prst="ellipse">
            <a:avLst/>
          </a:prstGeom>
          <a:solidFill>
            <a:srgbClr val="FCA311"/>
          </a:solidFill>
          <a:ln w="12700">
            <a:solidFill>
              <a:srgbClr val="FCA311"/>
            </a:solidFill>
            <a:prstDash val="solid"/>
          </a:ln>
        </p:spPr>
      </p:sp>
      <p:sp>
        <p:nvSpPr>
          <p:cNvPr id="3" name="Text 1"/>
          <p:cNvSpPr txBox="1"/>
          <p:nvPr/>
        </p:nvSpPr>
        <p:spPr>
          <a:xfrm>
            <a:off x="457200" y="384048"/>
            <a:ext cx="594360" cy="594360"/>
          </a:xfrm>
          <a:prstGeom prst="rect">
            <a:avLst/>
          </a:prstGeom>
          <a:noFill/>
          <a:ln/>
        </p:spPr>
        <p:txBody>
          <a:bodyPr wrap="square" lIns="0" tIns="0" rIns="0" bIns="0" rtlCol="0" anchor="ctr"/>
          <a:lstStyle/>
          <a:p>
            <a:pPr algn="ctr" indent="0" marL="0">
              <a:buNone/>
            </a:pPr>
            <a:r>
              <a:rPr lang="en-US" sz="2080" b="1" dirty="0">
                <a:solidFill>
                  <a:srgbClr val="14213D"/>
                </a:solidFill>
                <a:latin typeface="Cambria" pitchFamily="34" charset="0"/>
                <a:ea typeface="Cambria" pitchFamily="34" charset="-122"/>
                <a:cs typeface="Cambria" pitchFamily="34" charset="-120"/>
              </a:rPr>
              <a:t>1</a:t>
            </a:r>
            <a:endParaRPr lang="en-US" sz="2080" dirty="0"/>
          </a:p>
        </p:txBody>
      </p:sp>
      <p:sp>
        <p:nvSpPr>
          <p:cNvPr id="4" name="Text 2"/>
          <p:cNvSpPr txBox="1"/>
          <p:nvPr/>
        </p:nvSpPr>
        <p:spPr>
          <a:xfrm>
            <a:off x="1188720" y="320040"/>
            <a:ext cx="7498080" cy="73152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Focus on the Wildly Important</a:t>
            </a:r>
            <a:endParaRPr lang="en-US" sz="3000" dirty="0"/>
          </a:p>
        </p:txBody>
      </p:sp>
      <p:sp>
        <p:nvSpPr>
          <p:cNvPr id="5" name="Text 3"/>
          <p:cNvSpPr txBox="1"/>
          <p:nvPr/>
        </p:nvSpPr>
        <p:spPr>
          <a:xfrm>
            <a:off x="457200" y="1188720"/>
            <a:ext cx="3931920" cy="32004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Definition</a:t>
            </a:r>
            <a:endParaRPr lang="en-US" sz="1600" dirty="0"/>
          </a:p>
        </p:txBody>
      </p:sp>
      <p:sp>
        <p:nvSpPr>
          <p:cNvPr id="6" name="Text 4"/>
          <p:cNvSpPr txBox="1"/>
          <p:nvPr/>
        </p:nvSpPr>
        <p:spPr>
          <a:xfrm>
            <a:off x="457200" y="1554480"/>
            <a:ext cx="3931920" cy="30175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4A5568"/>
                </a:solidFill>
                <a:latin typeface="Calibri" pitchFamily="34" charset="0"/>
                <a:ea typeface="Calibri" pitchFamily="34" charset="-122"/>
                <a:cs typeface="Calibri" pitchFamily="34" charset="-120"/>
              </a:rPr>
              <a:t>Select the one or two goals that would make the biggest difference if achieved; everything else stays in the whirlwind</a:t>
            </a:r>
            <a:endParaRPr lang="en-US" sz="1300" dirty="0"/>
          </a:p>
          <a:p>
            <a:pPr marL="177800" indent="-177800">
              <a:spcAft>
                <a:spcPts val="600"/>
              </a:spcAft>
              <a:buSzPct val="100000"/>
              <a:buChar char="•"/>
            </a:pPr>
            <a:r>
              <a:rPr lang="en-US" sz="1300" dirty="0">
                <a:solidFill>
                  <a:srgbClr val="4A5568"/>
                </a:solidFill>
                <a:latin typeface="Calibri" pitchFamily="34" charset="0"/>
                <a:ea typeface="Calibri" pitchFamily="34" charset="-122"/>
                <a:cs typeface="Calibri" pitchFamily="34" charset="-120"/>
              </a:rPr>
              <a:t>Rule: no team holds more than two WIGs at a time</a:t>
            </a:r>
            <a:endParaRPr lang="en-US" sz="1300" dirty="0"/>
          </a:p>
          <a:p>
            <a:pPr marL="177800" indent="-177800">
              <a:spcAft>
                <a:spcPts val="600"/>
              </a:spcAft>
              <a:buSzPct val="100000"/>
              <a:buChar char="•"/>
            </a:pPr>
            <a:r>
              <a:rPr lang="en-US" sz="1300" dirty="0">
                <a:solidFill>
                  <a:srgbClr val="4A5568"/>
                </a:solidFill>
                <a:latin typeface="Calibri" pitchFamily="34" charset="0"/>
                <a:ea typeface="Calibri" pitchFamily="34" charset="-122"/>
                <a:cs typeface="Calibri" pitchFamily="34" charset="-120"/>
              </a:rPr>
              <a:t>Every team WIG must translate into the WIG of the level above (line of sight from board to frontline)</a:t>
            </a:r>
            <a:endParaRPr lang="en-US" sz="1300" dirty="0"/>
          </a:p>
          <a:p>
            <a:pPr marL="177800" indent="-177800">
              <a:spcAft>
                <a:spcPts val="600"/>
              </a:spcAft>
              <a:buSzPct val="100000"/>
              <a:buChar char="•"/>
            </a:pPr>
            <a:r>
              <a:rPr lang="en-US" sz="1300" dirty="0">
                <a:solidFill>
                  <a:srgbClr val="4A5568"/>
                </a:solidFill>
                <a:latin typeface="Calibri" pitchFamily="34" charset="0"/>
                <a:ea typeface="Calibri" pitchFamily="34" charset="-122"/>
                <a:cs typeface="Calibri" pitchFamily="34" charset="-120"/>
              </a:rPr>
              <a:t>Leaders may veto, but teams choose their own WIG, which creates ownership</a:t>
            </a:r>
            <a:endParaRPr lang="en-US" sz="1300" dirty="0"/>
          </a:p>
        </p:txBody>
      </p:sp>
      <p:sp>
        <p:nvSpPr>
          <p:cNvPr id="7" name="Shape 5"/>
          <p:cNvSpPr/>
          <p:nvPr/>
        </p:nvSpPr>
        <p:spPr>
          <a:xfrm>
            <a:off x="4754880" y="1188720"/>
            <a:ext cx="3931920" cy="1463040"/>
          </a:xfrm>
          <a:prstGeom prst="roundRect">
            <a:avLst>
              <a:gd name="adj" fmla="val 5000"/>
            </a:avLst>
          </a:prstGeom>
          <a:solidFill>
            <a:srgbClr val="14213D"/>
          </a:solidFill>
          <a:ln w="12700">
            <a:solidFill>
              <a:srgbClr val="14213D"/>
            </a:solidFill>
            <a:prstDash val="solid"/>
          </a:ln>
        </p:spPr>
      </p:sp>
      <p:sp>
        <p:nvSpPr>
          <p:cNvPr id="8" name="Text 6"/>
          <p:cNvSpPr txBox="1"/>
          <p:nvPr/>
        </p:nvSpPr>
        <p:spPr>
          <a:xfrm>
            <a:off x="4983480" y="1280160"/>
            <a:ext cx="3474720" cy="320040"/>
          </a:xfrm>
          <a:prstGeom prst="rect">
            <a:avLst/>
          </a:prstGeom>
          <a:noFill/>
          <a:ln/>
        </p:spPr>
        <p:txBody>
          <a:bodyPr wrap="square" lIns="0" tIns="0" rIns="0" bIns="0" rtlCol="0" anchor="ctr"/>
          <a:lstStyle/>
          <a:p>
            <a:pPr indent="0" marL="0">
              <a:buNone/>
            </a:pPr>
            <a:r>
              <a:rPr lang="en-US" sz="1100" dirty="0">
                <a:solidFill>
                  <a:srgbClr val="FCA311"/>
                </a:solidFill>
                <a:latin typeface="Calibri" pitchFamily="34" charset="0"/>
                <a:ea typeface="Calibri" pitchFamily="34" charset="-122"/>
                <a:cs typeface="Calibri" pitchFamily="34" charset="-120"/>
              </a:rPr>
              <a:t>The WIG formula</a:t>
            </a:r>
            <a:endParaRPr lang="en-US" sz="1100" dirty="0"/>
          </a:p>
        </p:txBody>
      </p:sp>
      <p:sp>
        <p:nvSpPr>
          <p:cNvPr id="9" name="Text 7"/>
          <p:cNvSpPr txBox="1"/>
          <p:nvPr/>
        </p:nvSpPr>
        <p:spPr>
          <a:xfrm>
            <a:off x="4983480" y="1600200"/>
            <a:ext cx="3474720"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From X  →  to Y  by WHEN</a:t>
            </a:r>
            <a:endParaRPr lang="en-US" sz="1800" dirty="0"/>
          </a:p>
        </p:txBody>
      </p:sp>
      <p:sp>
        <p:nvSpPr>
          <p:cNvPr id="10" name="Text 8"/>
          <p:cNvSpPr txBox="1"/>
          <p:nvPr/>
        </p:nvSpPr>
        <p:spPr>
          <a:xfrm>
            <a:off x="4983480" y="2148840"/>
            <a:ext cx="3474720" cy="411480"/>
          </a:xfrm>
          <a:prstGeom prst="rect">
            <a:avLst/>
          </a:prstGeom>
          <a:noFill/>
          <a:ln/>
        </p:spPr>
        <p:txBody>
          <a:bodyPr wrap="square" lIns="0" tIns="0" rIns="0" bIns="0" rtlCol="0" anchor="ctr"/>
          <a:lstStyle/>
          <a:p>
            <a:pPr indent="0" marL="0">
              <a:buNone/>
            </a:pPr>
            <a:r>
              <a:rPr lang="en-US" sz="1200" dirty="0">
                <a:solidFill>
                  <a:srgbClr val="DCE2EE"/>
                </a:solidFill>
                <a:latin typeface="Calibri" pitchFamily="34" charset="0"/>
                <a:ea typeface="Calibri" pitchFamily="34" charset="-122"/>
                <a:cs typeface="Calibri" pitchFamily="34" charset="-120"/>
              </a:rPr>
              <a:t>A lag measure with a baseline, a target and a deadline</a:t>
            </a:r>
            <a:endParaRPr lang="en-US" sz="1200" dirty="0"/>
          </a:p>
        </p:txBody>
      </p:sp>
      <p:sp>
        <p:nvSpPr>
          <p:cNvPr id="11" name="Shape 9"/>
          <p:cNvSpPr/>
          <p:nvPr/>
        </p:nvSpPr>
        <p:spPr>
          <a:xfrm>
            <a:off x="4754880" y="2788920"/>
            <a:ext cx="3931920" cy="1783080"/>
          </a:xfrm>
          <a:prstGeom prst="roundRect">
            <a:avLst>
              <a:gd name="adj" fmla="val 4103"/>
            </a:avLst>
          </a:prstGeom>
          <a:solidFill>
            <a:srgbClr val="EEF1F6"/>
          </a:solidFill>
          <a:ln w="12700">
            <a:solidFill>
              <a:srgbClr val="EEF1F6"/>
            </a:solidFill>
            <a:prstDash val="solid"/>
          </a:ln>
        </p:spPr>
      </p:sp>
      <p:sp>
        <p:nvSpPr>
          <p:cNvPr id="12" name="Text 10"/>
          <p:cNvSpPr txBox="1"/>
          <p:nvPr/>
        </p:nvSpPr>
        <p:spPr>
          <a:xfrm>
            <a:off x="4983480" y="2880360"/>
            <a:ext cx="3474720" cy="320040"/>
          </a:xfrm>
          <a:prstGeom prst="rect">
            <a:avLst/>
          </a:prstGeom>
          <a:noFill/>
          <a:ln/>
        </p:spPr>
        <p:txBody>
          <a:bodyPr wrap="square" lIns="0" tIns="0" rIns="0" bIns="0" rtlCol="0" anchor="ctr"/>
          <a:lstStyle/>
          <a:p>
            <a:pPr indent="0" marL="0">
              <a:buNone/>
            </a:pPr>
            <a:r>
              <a:rPr lang="en-US" sz="1100" b="1" dirty="0">
                <a:solidFill>
                  <a:srgbClr val="4A5568"/>
                </a:solidFill>
                <a:latin typeface="Calibri" pitchFamily="34" charset="0"/>
                <a:ea typeface="Calibri" pitchFamily="34" charset="-122"/>
                <a:cs typeface="Calibri" pitchFamily="34" charset="-120"/>
              </a:rPr>
              <a:t>Example (regional expansion)</a:t>
            </a:r>
            <a:endParaRPr lang="en-US" sz="1100" dirty="0"/>
          </a:p>
        </p:txBody>
      </p:sp>
      <p:sp>
        <p:nvSpPr>
          <p:cNvPr id="13" name="Text 11"/>
          <p:cNvSpPr txBox="1"/>
          <p:nvPr/>
        </p:nvSpPr>
        <p:spPr>
          <a:xfrm>
            <a:off x="4983480" y="3200400"/>
            <a:ext cx="3474720" cy="777240"/>
          </a:xfrm>
          <a:prstGeom prst="rect">
            <a:avLst/>
          </a:prstGeom>
          <a:noFill/>
          <a:ln/>
        </p:spPr>
        <p:txBody>
          <a:bodyPr wrap="square" lIns="0" tIns="0" rIns="0" bIns="0" rtlCol="0" anchor="t"/>
          <a:lstStyle/>
          <a:p>
            <a:pPr indent="0" marL="0">
              <a:buNone/>
            </a:pPr>
            <a:r>
              <a:rPr lang="en-US" sz="1400" i="1" dirty="0">
                <a:solidFill>
                  <a:srgbClr val="14213D"/>
                </a:solidFill>
                <a:latin typeface="Cambria" pitchFamily="34" charset="0"/>
                <a:ea typeface="Cambria" pitchFamily="34" charset="-122"/>
                <a:cs typeface="Cambria" pitchFamily="34" charset="-120"/>
              </a:rPr>
              <a:t>“Increase on-time delivery to Vietnam distributors from 82% to 95% by 31 December 2027.”</a:t>
            </a:r>
            <a:endParaRPr lang="en-US" sz="1400" dirty="0"/>
          </a:p>
        </p:txBody>
      </p:sp>
      <p:sp>
        <p:nvSpPr>
          <p:cNvPr id="14" name="Text 12"/>
          <p:cNvSpPr txBox="1"/>
          <p:nvPr/>
        </p:nvSpPr>
        <p:spPr>
          <a:xfrm>
            <a:off x="4983480" y="4023360"/>
            <a:ext cx="3474720" cy="45720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Measure: number of WIGs per team (max 2); WIG statement complete (X, Y, when)</a:t>
            </a:r>
            <a:endParaRPr lang="en-US" sz="1100" dirty="0"/>
          </a:p>
        </p:txBody>
      </p:sp>
      <p:sp>
        <p:nvSpPr>
          <p:cNvPr id="15" name="Text 13"/>
          <p:cNvSpPr txBox="1"/>
          <p:nvPr/>
        </p:nvSpPr>
        <p:spPr>
          <a:xfrm>
            <a:off x="457200" y="4754880"/>
            <a:ext cx="7680960" cy="274320"/>
          </a:xfrm>
          <a:prstGeom prst="rect">
            <a:avLst/>
          </a:prstGeom>
          <a:noFill/>
          <a:ln/>
        </p:spPr>
        <p:txBody>
          <a:bodyPr wrap="square" lIns="0" tIns="0" rIns="0" bIns="0" rtlCol="0" anchor="ctr"/>
          <a:lstStyle/>
          <a:p>
            <a:pPr indent="0" marL="0">
              <a:buNone/>
            </a:pPr>
            <a:r>
              <a:rPr lang="en-US" sz="900" dirty="0">
                <a:solidFill>
                  <a:srgbClr val="8A94A6"/>
                </a:solidFill>
                <a:latin typeface="Calibri" pitchFamily="34" charset="0"/>
                <a:ea typeface="Calibri" pitchFamily="34" charset="-122"/>
                <a:cs typeface="Calibri" pitchFamily="34" charset="-120"/>
              </a:rPr>
              <a:t>Group 3  |  4 Disciplines of Execution  |  Ch. 10 Building an Organization Capable of Good Strategy Execution</a:t>
            </a:r>
            <a:endParaRPr lang="en-US" sz="900" dirty="0"/>
          </a:p>
        </p:txBody>
      </p:sp>
      <p:sp>
        <p:nvSpPr>
          <p:cNvPr id="16" name="Text 14"/>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84048"/>
            <a:ext cx="594360" cy="594360"/>
          </a:xfrm>
          <a:prstGeom prst="ellipse">
            <a:avLst/>
          </a:prstGeom>
          <a:solidFill>
            <a:srgbClr val="FCA311"/>
          </a:solidFill>
          <a:ln w="12700">
            <a:solidFill>
              <a:srgbClr val="FCA311"/>
            </a:solidFill>
            <a:prstDash val="solid"/>
          </a:ln>
        </p:spPr>
      </p:sp>
      <p:sp>
        <p:nvSpPr>
          <p:cNvPr id="3" name="Text 1"/>
          <p:cNvSpPr txBox="1"/>
          <p:nvPr/>
        </p:nvSpPr>
        <p:spPr>
          <a:xfrm>
            <a:off x="457200" y="384048"/>
            <a:ext cx="594360" cy="594360"/>
          </a:xfrm>
          <a:prstGeom prst="rect">
            <a:avLst/>
          </a:prstGeom>
          <a:noFill/>
          <a:ln/>
        </p:spPr>
        <p:txBody>
          <a:bodyPr wrap="square" lIns="0" tIns="0" rIns="0" bIns="0" rtlCol="0" anchor="ctr"/>
          <a:lstStyle/>
          <a:p>
            <a:pPr algn="ctr" indent="0" marL="0">
              <a:buNone/>
            </a:pPr>
            <a:r>
              <a:rPr lang="en-US" sz="2080" b="1" dirty="0">
                <a:solidFill>
                  <a:srgbClr val="14213D"/>
                </a:solidFill>
                <a:latin typeface="Cambria" pitchFamily="34" charset="0"/>
                <a:ea typeface="Cambria" pitchFamily="34" charset="-122"/>
                <a:cs typeface="Cambria" pitchFamily="34" charset="-120"/>
              </a:rPr>
              <a:t>2</a:t>
            </a:r>
            <a:endParaRPr lang="en-US" sz="2080" dirty="0"/>
          </a:p>
        </p:txBody>
      </p:sp>
      <p:sp>
        <p:nvSpPr>
          <p:cNvPr id="4" name="Text 2"/>
          <p:cNvSpPr txBox="1"/>
          <p:nvPr/>
        </p:nvSpPr>
        <p:spPr>
          <a:xfrm>
            <a:off x="1188720" y="320040"/>
            <a:ext cx="7498080" cy="73152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Act on the Lead Measures</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5486400" cy="914400"/>
        </p:xfrm>
        <a:graphic>
          <a:graphicData uri="http://schemas.openxmlformats.org/drawingml/2006/table">
            <a:tbl>
              <a:tblPr/>
              <a:tblGrid>
                <a:gridCol w="1554480"/>
                <a:gridCol w="1828800"/>
                <a:gridCol w="2103120"/>
              </a:tblGrid>
              <a:tr h="457200">
                <a:tc>
                  <a:txBody>
                    <a:bodyPr/>
                    <a:lstStyle/>
                    <a:p>
                      <a:pPr indent="0" marL="0">
                        <a:buNone/>
                      </a:pPr>
                      <a:endParaRPr lang="en-US" sz="12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Lag measure</a:t>
                      </a:r>
                      <a:endParaRPr lang="en-US" sz="12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4A5568"/>
                    </a:solidFill>
                  </a:tcPr>
                </a:tc>
                <a:tc>
                  <a:txBody>
                    <a:bodyPr/>
                    <a:lstStyle/>
                    <a:p>
                      <a:pPr algn="ctr" indent="0" marL="0">
                        <a:buNone/>
                      </a:pPr>
                      <a:r>
                        <a:rPr lang="en-US" sz="1200" b="1" dirty="0">
                          <a:solidFill>
                            <a:srgbClr val="14213D"/>
                          </a:solidFill>
                          <a:latin typeface="Calibri" pitchFamily="34" charset="0"/>
                          <a:ea typeface="Calibri" pitchFamily="34" charset="-122"/>
                          <a:cs typeface="Calibri" pitchFamily="34" charset="-120"/>
                        </a:rPr>
                        <a:t>Lead measure</a:t>
                      </a:r>
                      <a:endParaRPr lang="en-US" sz="12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CA311"/>
                    </a:solidFill>
                  </a:tcPr>
                </a:tc>
              </a:tr>
              <a:tr h="457200">
                <a:tc>
                  <a:txBody>
                    <a:bodyPr/>
                    <a:lstStyle/>
                    <a:p>
                      <a:pPr indent="0" marL="0">
                        <a:buNone/>
                      </a:pPr>
                      <a:r>
                        <a:rPr lang="en-US" sz="1200" b="1" dirty="0">
                          <a:solidFill>
                            <a:srgbClr val="14213D"/>
                          </a:solidFill>
                          <a:latin typeface="Calibri" pitchFamily="34" charset="0"/>
                          <a:ea typeface="Calibri" pitchFamily="34" charset="-122"/>
                          <a:cs typeface="Calibri" pitchFamily="34" charset="-120"/>
                        </a:rPr>
                        <a:t>What it measures</a:t>
                      </a:r>
                      <a:endParaRPr lang="en-US" sz="12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200" dirty="0">
                          <a:solidFill>
                            <a:srgbClr val="4A5568"/>
                          </a:solidFill>
                          <a:latin typeface="Calibri" pitchFamily="34" charset="0"/>
                          <a:ea typeface="Calibri" pitchFamily="34" charset="-122"/>
                          <a:cs typeface="Calibri" pitchFamily="34" charset="-120"/>
                        </a:rPr>
                        <a:t>The result you want (the WIG itself)</a:t>
                      </a:r>
                      <a:endParaRPr lang="en-US" sz="12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200" dirty="0">
                          <a:solidFill>
                            <a:srgbClr val="4A5568"/>
                          </a:solidFill>
                          <a:latin typeface="Calibri" pitchFamily="34" charset="0"/>
                          <a:ea typeface="Calibri" pitchFamily="34" charset="-122"/>
                          <a:cs typeface="Calibri" pitchFamily="34" charset="-120"/>
                        </a:rPr>
                        <a:t>The activity that drives the result</a:t>
                      </a:r>
                      <a:endParaRPr lang="en-US" sz="12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r>
              <a:tr h="457200">
                <a:tc>
                  <a:txBody>
                    <a:bodyPr/>
                    <a:lstStyle/>
                    <a:p>
                      <a:pPr indent="0" marL="0">
                        <a:buNone/>
                      </a:pPr>
                      <a:r>
                        <a:rPr lang="en-US" sz="1200" b="1" dirty="0">
                          <a:solidFill>
                            <a:srgbClr val="14213D"/>
                          </a:solidFill>
                          <a:latin typeface="Calibri" pitchFamily="34" charset="0"/>
                          <a:ea typeface="Calibri" pitchFamily="34" charset="-122"/>
                          <a:cs typeface="Calibri" pitchFamily="34" charset="-120"/>
                        </a:rPr>
                        <a:t>Timing</a:t>
                      </a:r>
                      <a:endParaRPr lang="en-US" sz="12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200" dirty="0">
                          <a:solidFill>
                            <a:srgbClr val="4A5568"/>
                          </a:solidFill>
                          <a:latin typeface="Calibri" pitchFamily="34" charset="0"/>
                          <a:ea typeface="Calibri" pitchFamily="34" charset="-122"/>
                          <a:cs typeface="Calibri" pitchFamily="34" charset="-120"/>
                        </a:rPr>
                        <a:t>Known only after the fact; history</a:t>
                      </a:r>
                      <a:endParaRPr lang="en-US" sz="12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200" dirty="0">
                          <a:solidFill>
                            <a:srgbClr val="4A5568"/>
                          </a:solidFill>
                          <a:latin typeface="Calibri" pitchFamily="34" charset="0"/>
                          <a:ea typeface="Calibri" pitchFamily="34" charset="-122"/>
                          <a:cs typeface="Calibri" pitchFamily="34" charset="-120"/>
                        </a:rPr>
                        <a:t>Known now, weekly</a:t>
                      </a:r>
                      <a:endParaRPr lang="en-US" sz="12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EF1F6"/>
                    </a:solidFill>
                  </a:tcPr>
                </a:tc>
              </a:tr>
              <a:tr h="457200">
                <a:tc>
                  <a:txBody>
                    <a:bodyPr/>
                    <a:lstStyle/>
                    <a:p>
                      <a:pPr indent="0" marL="0">
                        <a:buNone/>
                      </a:pPr>
                      <a:r>
                        <a:rPr lang="en-US" sz="1200" b="1" dirty="0">
                          <a:solidFill>
                            <a:srgbClr val="14213D"/>
                          </a:solidFill>
                          <a:latin typeface="Calibri" pitchFamily="34" charset="0"/>
                          <a:ea typeface="Calibri" pitchFamily="34" charset="-122"/>
                          <a:cs typeface="Calibri" pitchFamily="34" charset="-120"/>
                        </a:rPr>
                        <a:t>Can the team move it directly?</a:t>
                      </a:r>
                      <a:endParaRPr lang="en-US" sz="12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200" dirty="0">
                          <a:solidFill>
                            <a:srgbClr val="4A5568"/>
                          </a:solidFill>
                          <a:latin typeface="Calibri" pitchFamily="34" charset="0"/>
                          <a:ea typeface="Calibri" pitchFamily="34" charset="-122"/>
                          <a:cs typeface="Calibri" pitchFamily="34" charset="-120"/>
                        </a:rPr>
                        <a:t>No – it is an outcome</a:t>
                      </a:r>
                      <a:endParaRPr lang="en-US" sz="12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200" dirty="0">
                          <a:solidFill>
                            <a:srgbClr val="4A5568"/>
                          </a:solidFill>
                          <a:latin typeface="Calibri" pitchFamily="34" charset="0"/>
                          <a:ea typeface="Calibri" pitchFamily="34" charset="-122"/>
                          <a:cs typeface="Calibri" pitchFamily="34" charset="-120"/>
                        </a:rPr>
                        <a:t>Yes – it must be influenceable</a:t>
                      </a:r>
                      <a:endParaRPr lang="en-US" sz="12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r>
              <a:tr h="457200">
                <a:tc>
                  <a:txBody>
                    <a:bodyPr/>
                    <a:lstStyle/>
                    <a:p>
                      <a:pPr indent="0" marL="0">
                        <a:buNone/>
                      </a:pPr>
                      <a:r>
                        <a:rPr lang="en-US" sz="1200" b="1" dirty="0">
                          <a:solidFill>
                            <a:srgbClr val="14213D"/>
                          </a:solidFill>
                          <a:latin typeface="Calibri" pitchFamily="34" charset="0"/>
                          <a:ea typeface="Calibri" pitchFamily="34" charset="-122"/>
                          <a:cs typeface="Calibri" pitchFamily="34" charset="-120"/>
                        </a:rPr>
                        <a:t>Predictive?</a:t>
                      </a:r>
                      <a:endParaRPr lang="en-US" sz="12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200" dirty="0">
                          <a:solidFill>
                            <a:srgbClr val="4A5568"/>
                          </a:solidFill>
                          <a:latin typeface="Calibri" pitchFamily="34" charset="0"/>
                          <a:ea typeface="Calibri" pitchFamily="34" charset="-122"/>
                          <a:cs typeface="Calibri" pitchFamily="34" charset="-120"/>
                        </a:rPr>
                        <a:t>No – it is the goal</a:t>
                      </a:r>
                      <a:endParaRPr lang="en-US" sz="12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200" dirty="0">
                          <a:solidFill>
                            <a:srgbClr val="4A5568"/>
                          </a:solidFill>
                          <a:latin typeface="Calibri" pitchFamily="34" charset="0"/>
                          <a:ea typeface="Calibri" pitchFamily="34" charset="-122"/>
                          <a:cs typeface="Calibri" pitchFamily="34" charset="-120"/>
                        </a:rPr>
                        <a:t>Yes – it must be predictive of the lag</a:t>
                      </a:r>
                      <a:endParaRPr lang="en-US" sz="12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EF1F6"/>
                    </a:solidFill>
                  </a:tcPr>
                </a:tc>
              </a:tr>
              <a:tr h="457200">
                <a:tc>
                  <a:txBody>
                    <a:bodyPr/>
                    <a:lstStyle/>
                    <a:p>
                      <a:pPr indent="0" marL="0">
                        <a:buNone/>
                      </a:pPr>
                      <a:r>
                        <a:rPr lang="en-US" sz="1200" b="1" dirty="0">
                          <a:solidFill>
                            <a:srgbClr val="14213D"/>
                          </a:solidFill>
                          <a:latin typeface="Calibri" pitchFamily="34" charset="0"/>
                          <a:ea typeface="Calibri" pitchFamily="34" charset="-122"/>
                          <a:cs typeface="Calibri" pitchFamily="34" charset="-120"/>
                        </a:rPr>
                        <a:t>Example</a:t>
                      </a:r>
                      <a:endParaRPr lang="en-US" sz="12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200" dirty="0">
                          <a:solidFill>
                            <a:srgbClr val="4A5568"/>
                          </a:solidFill>
                          <a:latin typeface="Calibri" pitchFamily="34" charset="0"/>
                          <a:ea typeface="Calibri" pitchFamily="34" charset="-122"/>
                          <a:cs typeface="Calibri" pitchFamily="34" charset="-120"/>
                        </a:rPr>
                        <a:t>On-time delivery 82% → 95%</a:t>
                      </a:r>
                      <a:endParaRPr lang="en-US" sz="12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200" dirty="0">
                          <a:solidFill>
                            <a:srgbClr val="4A5568"/>
                          </a:solidFill>
                          <a:latin typeface="Calibri" pitchFamily="34" charset="0"/>
                          <a:ea typeface="Calibri" pitchFamily="34" charset="-122"/>
                          <a:cs typeface="Calibri" pitchFamily="34" charset="-120"/>
                        </a:rPr>
                        <a:t>% of orders confirmed to forwarder within 24 h; weekly quality audits completed</a:t>
                      </a:r>
                      <a:endParaRPr lang="en-US" sz="12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r>
            </a:tbl>
          </a:graphicData>
        </a:graphic>
      </p:graphicFrame>
      <p:sp>
        <p:nvSpPr>
          <p:cNvPr id="6" name="Shape 3"/>
          <p:cNvSpPr/>
          <p:nvPr/>
        </p:nvSpPr>
        <p:spPr>
          <a:xfrm>
            <a:off x="6217920" y="1188720"/>
            <a:ext cx="2468880" cy="3291840"/>
          </a:xfrm>
          <a:prstGeom prst="roundRect">
            <a:avLst>
              <a:gd name="adj" fmla="val 2963"/>
            </a:avLst>
          </a:prstGeom>
          <a:solidFill>
            <a:srgbClr val="14213D"/>
          </a:solidFill>
          <a:ln w="12700">
            <a:solidFill>
              <a:srgbClr val="14213D"/>
            </a:solidFill>
            <a:prstDash val="solid"/>
          </a:ln>
        </p:spPr>
      </p:sp>
      <p:sp>
        <p:nvSpPr>
          <p:cNvPr id="7" name="Text 4"/>
          <p:cNvSpPr txBox="1"/>
          <p:nvPr/>
        </p:nvSpPr>
        <p:spPr>
          <a:xfrm>
            <a:off x="6400800" y="1325880"/>
            <a:ext cx="2103120" cy="548640"/>
          </a:xfrm>
          <a:prstGeom prst="rect">
            <a:avLst/>
          </a:prstGeom>
          <a:noFill/>
          <a:ln/>
        </p:spPr>
        <p:txBody>
          <a:bodyPr wrap="square" lIns="0" tIns="0" rIns="0" bIns="0" rtlCol="0" anchor="ctr"/>
          <a:lstStyle/>
          <a:p>
            <a:pPr indent="0" marL="0">
              <a:buNone/>
            </a:pPr>
            <a:r>
              <a:rPr lang="en-US" sz="1500" b="1" dirty="0">
                <a:solidFill>
                  <a:srgbClr val="FCA311"/>
                </a:solidFill>
                <a:latin typeface="Cambria" pitchFamily="34" charset="0"/>
                <a:ea typeface="Cambria" pitchFamily="34" charset="-122"/>
                <a:cs typeface="Cambria" pitchFamily="34" charset="-120"/>
              </a:rPr>
              <a:t>The two tests of a good lead measure</a:t>
            </a:r>
            <a:endParaRPr lang="en-US" sz="1500" dirty="0"/>
          </a:p>
        </p:txBody>
      </p:sp>
      <p:sp>
        <p:nvSpPr>
          <p:cNvPr id="8" name="Text 5"/>
          <p:cNvSpPr txBox="1"/>
          <p:nvPr/>
        </p:nvSpPr>
        <p:spPr>
          <a:xfrm>
            <a:off x="6400800" y="1920240"/>
            <a:ext cx="2103120" cy="246888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Predictive</a:t>
            </a:r>
            <a:endParaRPr lang="en-US" sz="1200" dirty="0"/>
          </a:p>
          <a:p>
            <a:pPr indent="0" marL="0">
              <a:spcAft>
                <a:spcPts val="1000"/>
              </a:spcAft>
              <a:buNone/>
            </a:pPr>
            <a:r>
              <a:rPr lang="en-US" sz="1200" dirty="0">
                <a:solidFill>
                  <a:srgbClr val="DCE2EE"/>
                </a:solidFill>
                <a:latin typeface="Calibri" pitchFamily="34" charset="0"/>
                <a:ea typeface="Calibri" pitchFamily="34" charset="-122"/>
                <a:cs typeface="Calibri" pitchFamily="34" charset="-120"/>
              </a:rPr>
              <a:t>If it moves, the WIG moves.</a:t>
            </a:r>
            <a:endParaRPr lang="en-US" sz="1200" dirty="0"/>
          </a:p>
          <a:p>
            <a:pPr indent="0" marL="0">
              <a:buNone/>
            </a:pPr>
            <a:r>
              <a:rPr lang="en-US" sz="1200" b="1" dirty="0">
                <a:solidFill>
                  <a:srgbClr val="FFFFFF"/>
                </a:solidFill>
                <a:latin typeface="Calibri" pitchFamily="34" charset="0"/>
                <a:ea typeface="Calibri" pitchFamily="34" charset="-122"/>
                <a:cs typeface="Calibri" pitchFamily="34" charset="-120"/>
              </a:rPr>
              <a:t>Influenceable</a:t>
            </a:r>
            <a:endParaRPr lang="en-US" sz="1200" dirty="0"/>
          </a:p>
          <a:p>
            <a:pPr indent="0" marL="0">
              <a:spcAft>
                <a:spcPts val="1000"/>
              </a:spcAft>
              <a:buNone/>
            </a:pPr>
            <a:r>
              <a:rPr lang="en-US" sz="1200" dirty="0">
                <a:solidFill>
                  <a:srgbClr val="DCE2EE"/>
                </a:solidFill>
                <a:latin typeface="Calibri" pitchFamily="34" charset="0"/>
                <a:ea typeface="Calibri" pitchFamily="34" charset="-122"/>
                <a:cs typeface="Calibri" pitchFamily="34" charset="-120"/>
              </a:rPr>
              <a:t>The team can move it this week without waiting for anyone else.</a:t>
            </a:r>
            <a:endParaRPr lang="en-US" sz="1200" dirty="0"/>
          </a:p>
          <a:p>
            <a:pPr indent="0" marL="0">
              <a:buNone/>
            </a:pPr>
            <a:r>
              <a:rPr lang="en-US" sz="1200" b="1" dirty="0">
                <a:solidFill>
                  <a:srgbClr val="FCA311"/>
                </a:solidFill>
                <a:latin typeface="Calibri" pitchFamily="34" charset="0"/>
                <a:ea typeface="Calibri" pitchFamily="34" charset="-122"/>
                <a:cs typeface="Calibri" pitchFamily="34" charset="-120"/>
              </a:rPr>
              <a:t>Chapter 10 link</a:t>
            </a:r>
            <a:endParaRPr lang="en-US" sz="1200" dirty="0"/>
          </a:p>
          <a:p>
            <a:pPr indent="0" marL="0">
              <a:buNone/>
            </a:pPr>
            <a:r>
              <a:rPr lang="en-US" sz="1200" dirty="0">
                <a:solidFill>
                  <a:srgbClr val="DCE2EE"/>
                </a:solidFill>
                <a:latin typeface="Calibri" pitchFamily="34" charset="0"/>
                <a:ea typeface="Calibri" pitchFamily="34" charset="-122"/>
                <a:cs typeface="Calibri" pitchFamily="34" charset="-120"/>
              </a:rPr>
              <a:t>Lead measures are the routines that, repeated, become an organizational capability (p. 305).</a:t>
            </a:r>
            <a:endParaRPr lang="en-US" sz="1200" dirty="0"/>
          </a:p>
        </p:txBody>
      </p:sp>
      <p:sp>
        <p:nvSpPr>
          <p:cNvPr id="9" name="Text 6"/>
          <p:cNvSpPr txBox="1"/>
          <p:nvPr/>
        </p:nvSpPr>
        <p:spPr>
          <a:xfrm>
            <a:off x="457200" y="4754880"/>
            <a:ext cx="7680960" cy="274320"/>
          </a:xfrm>
          <a:prstGeom prst="rect">
            <a:avLst/>
          </a:prstGeom>
          <a:noFill/>
          <a:ln/>
        </p:spPr>
        <p:txBody>
          <a:bodyPr wrap="square" lIns="0" tIns="0" rIns="0" bIns="0" rtlCol="0" anchor="ctr"/>
          <a:lstStyle/>
          <a:p>
            <a:pPr indent="0" marL="0">
              <a:buNone/>
            </a:pPr>
            <a:r>
              <a:rPr lang="en-US" sz="900" dirty="0">
                <a:solidFill>
                  <a:srgbClr val="8A94A6"/>
                </a:solidFill>
                <a:latin typeface="Calibri" pitchFamily="34" charset="0"/>
                <a:ea typeface="Calibri" pitchFamily="34" charset="-122"/>
                <a:cs typeface="Calibri" pitchFamily="34" charset="-120"/>
              </a:rPr>
              <a:t>Group 3  |  4 Disciplines of Execution  |  Ch. 10 Building an Organization Capable of Good Strategy Execution</a:t>
            </a:r>
            <a:endParaRPr lang="en-US" sz="900" dirty="0"/>
          </a:p>
        </p:txBody>
      </p:sp>
      <p:sp>
        <p:nvSpPr>
          <p:cNvPr id="10" name="Text 7"/>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384048"/>
            <a:ext cx="594360" cy="594360"/>
          </a:xfrm>
          <a:prstGeom prst="ellipse">
            <a:avLst/>
          </a:prstGeom>
          <a:solidFill>
            <a:srgbClr val="FCA311"/>
          </a:solidFill>
          <a:ln w="12700">
            <a:solidFill>
              <a:srgbClr val="FCA311"/>
            </a:solidFill>
            <a:prstDash val="solid"/>
          </a:ln>
        </p:spPr>
      </p:sp>
      <p:sp>
        <p:nvSpPr>
          <p:cNvPr id="3" name="Text 1"/>
          <p:cNvSpPr txBox="1"/>
          <p:nvPr/>
        </p:nvSpPr>
        <p:spPr>
          <a:xfrm>
            <a:off x="457200" y="384048"/>
            <a:ext cx="594360" cy="594360"/>
          </a:xfrm>
          <a:prstGeom prst="rect">
            <a:avLst/>
          </a:prstGeom>
          <a:noFill/>
          <a:ln/>
        </p:spPr>
        <p:txBody>
          <a:bodyPr wrap="square" lIns="0" tIns="0" rIns="0" bIns="0" rtlCol="0" anchor="ctr"/>
          <a:lstStyle/>
          <a:p>
            <a:pPr algn="ctr" indent="0" marL="0">
              <a:buNone/>
            </a:pPr>
            <a:r>
              <a:rPr lang="en-US" sz="2080" b="1" dirty="0">
                <a:solidFill>
                  <a:srgbClr val="14213D"/>
                </a:solidFill>
                <a:latin typeface="Cambria" pitchFamily="34" charset="0"/>
                <a:ea typeface="Cambria" pitchFamily="34" charset="-122"/>
                <a:cs typeface="Cambria" pitchFamily="34" charset="-120"/>
              </a:rPr>
              <a:t>3</a:t>
            </a:r>
            <a:endParaRPr lang="en-US" sz="2080" dirty="0"/>
          </a:p>
        </p:txBody>
      </p:sp>
      <p:sp>
        <p:nvSpPr>
          <p:cNvPr id="4" name="Text 2"/>
          <p:cNvSpPr txBox="1"/>
          <p:nvPr/>
        </p:nvSpPr>
        <p:spPr>
          <a:xfrm>
            <a:off x="1188720" y="320040"/>
            <a:ext cx="7498080" cy="73152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Keep a Compelling Scoreboard</a:t>
            </a:r>
            <a:endParaRPr lang="en-US" sz="3000" dirty="0"/>
          </a:p>
        </p:txBody>
      </p:sp>
      <p:sp>
        <p:nvSpPr>
          <p:cNvPr id="5" name="Text 3"/>
          <p:cNvSpPr txBox="1"/>
          <p:nvPr/>
        </p:nvSpPr>
        <p:spPr>
          <a:xfrm>
            <a:off x="457200" y="1143000"/>
            <a:ext cx="4023360" cy="36576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A players’ scoreboard, not a coach’s dashboard</a:t>
            </a:r>
            <a:endParaRPr lang="en-US" sz="1600" dirty="0"/>
          </a:p>
        </p:txBody>
      </p:sp>
      <p:sp>
        <p:nvSpPr>
          <p:cNvPr id="6" name="Shape 4"/>
          <p:cNvSpPr/>
          <p:nvPr/>
        </p:nvSpPr>
        <p:spPr>
          <a:xfrm>
            <a:off x="457200" y="1673352"/>
            <a:ext cx="457200" cy="457200"/>
          </a:xfrm>
          <a:prstGeom prst="ellipse">
            <a:avLst/>
          </a:prstGeom>
          <a:solidFill>
            <a:srgbClr val="FCA311"/>
          </a:solidFill>
          <a:ln w="12700">
            <a:solidFill>
              <a:srgbClr val="FCA311"/>
            </a:solidFill>
            <a:prstDash val="solid"/>
          </a:ln>
        </p:spPr>
      </p:sp>
      <p:sp>
        <p:nvSpPr>
          <p:cNvPr id="7" name="Text 5"/>
          <p:cNvSpPr txBox="1"/>
          <p:nvPr/>
        </p:nvSpPr>
        <p:spPr>
          <a:xfrm>
            <a:off x="457200" y="1673352"/>
            <a:ext cx="45720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051560" y="1600200"/>
            <a:ext cx="3383280" cy="32004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Simple</a:t>
            </a:r>
            <a:endParaRPr lang="en-US" sz="1400" dirty="0"/>
          </a:p>
        </p:txBody>
      </p:sp>
      <p:sp>
        <p:nvSpPr>
          <p:cNvPr id="9" name="Text 7"/>
          <p:cNvSpPr txBox="1"/>
          <p:nvPr/>
        </p:nvSpPr>
        <p:spPr>
          <a:xfrm>
            <a:off x="1051560" y="1901952"/>
            <a:ext cx="3383280" cy="36576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A handful of numbers, not a 20-page report</a:t>
            </a:r>
            <a:endParaRPr lang="en-US" sz="1200" dirty="0"/>
          </a:p>
        </p:txBody>
      </p:sp>
      <p:sp>
        <p:nvSpPr>
          <p:cNvPr id="10" name="Shape 8"/>
          <p:cNvSpPr/>
          <p:nvPr/>
        </p:nvSpPr>
        <p:spPr>
          <a:xfrm>
            <a:off x="457200" y="2404872"/>
            <a:ext cx="457200" cy="457200"/>
          </a:xfrm>
          <a:prstGeom prst="ellipse">
            <a:avLst/>
          </a:prstGeom>
          <a:solidFill>
            <a:srgbClr val="FCA311"/>
          </a:solidFill>
          <a:ln w="12700">
            <a:solidFill>
              <a:srgbClr val="FCA311"/>
            </a:solidFill>
            <a:prstDash val="solid"/>
          </a:ln>
        </p:spPr>
      </p:sp>
      <p:sp>
        <p:nvSpPr>
          <p:cNvPr id="11" name="Text 9"/>
          <p:cNvSpPr txBox="1"/>
          <p:nvPr/>
        </p:nvSpPr>
        <p:spPr>
          <a:xfrm>
            <a:off x="457200" y="2404872"/>
            <a:ext cx="45720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1051560" y="2331720"/>
            <a:ext cx="3383280" cy="32004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Visible</a:t>
            </a:r>
            <a:endParaRPr lang="en-US" sz="1400" dirty="0"/>
          </a:p>
        </p:txBody>
      </p:sp>
      <p:sp>
        <p:nvSpPr>
          <p:cNvPr id="13" name="Text 11"/>
          <p:cNvSpPr txBox="1"/>
          <p:nvPr/>
        </p:nvSpPr>
        <p:spPr>
          <a:xfrm>
            <a:off x="1051560" y="2633472"/>
            <a:ext cx="3383280" cy="36576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Where the team works, updated by the team</a:t>
            </a:r>
            <a:endParaRPr lang="en-US" sz="1200" dirty="0"/>
          </a:p>
        </p:txBody>
      </p:sp>
      <p:sp>
        <p:nvSpPr>
          <p:cNvPr id="14" name="Shape 12"/>
          <p:cNvSpPr/>
          <p:nvPr/>
        </p:nvSpPr>
        <p:spPr>
          <a:xfrm>
            <a:off x="457200" y="3136392"/>
            <a:ext cx="457200" cy="457200"/>
          </a:xfrm>
          <a:prstGeom prst="ellipse">
            <a:avLst/>
          </a:prstGeom>
          <a:solidFill>
            <a:srgbClr val="FCA311"/>
          </a:solidFill>
          <a:ln w="12700">
            <a:solidFill>
              <a:srgbClr val="FCA311"/>
            </a:solidFill>
            <a:prstDash val="solid"/>
          </a:ln>
        </p:spPr>
      </p:sp>
      <p:sp>
        <p:nvSpPr>
          <p:cNvPr id="15" name="Text 13"/>
          <p:cNvSpPr txBox="1"/>
          <p:nvPr/>
        </p:nvSpPr>
        <p:spPr>
          <a:xfrm>
            <a:off x="457200" y="3136392"/>
            <a:ext cx="45720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alibri" pitchFamily="34" charset="0"/>
                <a:ea typeface="Calibri" pitchFamily="34" charset="-122"/>
                <a:cs typeface="Calibri" pitchFamily="34" charset="-120"/>
              </a:rPr>
              <a:t>✓</a:t>
            </a:r>
            <a:endParaRPr lang="en-US" sz="1600" dirty="0"/>
          </a:p>
        </p:txBody>
      </p:sp>
      <p:sp>
        <p:nvSpPr>
          <p:cNvPr id="16" name="Text 14"/>
          <p:cNvSpPr txBox="1"/>
          <p:nvPr/>
        </p:nvSpPr>
        <p:spPr>
          <a:xfrm>
            <a:off x="1051560" y="3063240"/>
            <a:ext cx="3383280" cy="32004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Shows lead AND lag</a:t>
            </a:r>
            <a:endParaRPr lang="en-US" sz="1400" dirty="0"/>
          </a:p>
        </p:txBody>
      </p:sp>
      <p:sp>
        <p:nvSpPr>
          <p:cNvPr id="17" name="Text 15"/>
          <p:cNvSpPr txBox="1"/>
          <p:nvPr/>
        </p:nvSpPr>
        <p:spPr>
          <a:xfrm>
            <a:off x="1051560" y="3364992"/>
            <a:ext cx="3383280" cy="36576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The activity and the result, side by side</a:t>
            </a:r>
            <a:endParaRPr lang="en-US" sz="1200" dirty="0"/>
          </a:p>
        </p:txBody>
      </p:sp>
      <p:sp>
        <p:nvSpPr>
          <p:cNvPr id="18" name="Shape 16"/>
          <p:cNvSpPr/>
          <p:nvPr/>
        </p:nvSpPr>
        <p:spPr>
          <a:xfrm>
            <a:off x="457200" y="3867912"/>
            <a:ext cx="457200" cy="457200"/>
          </a:xfrm>
          <a:prstGeom prst="ellipse">
            <a:avLst/>
          </a:prstGeom>
          <a:solidFill>
            <a:srgbClr val="FCA311"/>
          </a:solidFill>
          <a:ln w="12700">
            <a:solidFill>
              <a:srgbClr val="FCA311"/>
            </a:solidFill>
            <a:prstDash val="solid"/>
          </a:ln>
        </p:spPr>
      </p:sp>
      <p:sp>
        <p:nvSpPr>
          <p:cNvPr id="19" name="Text 17"/>
          <p:cNvSpPr txBox="1"/>
          <p:nvPr/>
        </p:nvSpPr>
        <p:spPr>
          <a:xfrm>
            <a:off x="457200" y="3867912"/>
            <a:ext cx="45720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alibri" pitchFamily="34" charset="0"/>
                <a:ea typeface="Calibri" pitchFamily="34" charset="-122"/>
                <a:cs typeface="Calibri" pitchFamily="34" charset="-120"/>
              </a:rPr>
              <a:t>✓</a:t>
            </a:r>
            <a:endParaRPr lang="en-US" sz="1600" dirty="0"/>
          </a:p>
        </p:txBody>
      </p:sp>
      <p:sp>
        <p:nvSpPr>
          <p:cNvPr id="20" name="Text 18"/>
          <p:cNvSpPr txBox="1"/>
          <p:nvPr/>
        </p:nvSpPr>
        <p:spPr>
          <a:xfrm>
            <a:off x="1051560" y="3794760"/>
            <a:ext cx="3383280" cy="32004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Tells you at a glance</a:t>
            </a:r>
            <a:endParaRPr lang="en-US" sz="1400" dirty="0"/>
          </a:p>
        </p:txBody>
      </p:sp>
      <p:sp>
        <p:nvSpPr>
          <p:cNvPr id="21" name="Text 19"/>
          <p:cNvSpPr txBox="1"/>
          <p:nvPr/>
        </p:nvSpPr>
        <p:spPr>
          <a:xfrm>
            <a:off x="1051560" y="4096512"/>
            <a:ext cx="3383280" cy="36576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Are we winning or losing? Answer in 5 seconds</a:t>
            </a:r>
            <a:endParaRPr lang="en-US" sz="1200" dirty="0"/>
          </a:p>
        </p:txBody>
      </p:sp>
      <p:sp>
        <p:nvSpPr>
          <p:cNvPr id="22" name="Shape 20"/>
          <p:cNvSpPr/>
          <p:nvPr/>
        </p:nvSpPr>
        <p:spPr>
          <a:xfrm>
            <a:off x="4754880" y="1143000"/>
            <a:ext cx="3931920" cy="3383280"/>
          </a:xfrm>
          <a:prstGeom prst="roundRect">
            <a:avLst>
              <a:gd name="adj" fmla="val 2162"/>
            </a:avLst>
          </a:prstGeom>
          <a:solidFill>
            <a:srgbClr val="EEF1F6"/>
          </a:solidFill>
          <a:ln w="12700">
            <a:solidFill>
              <a:srgbClr val="EEF1F6"/>
            </a:solidFill>
            <a:prstDash val="solid"/>
          </a:ln>
        </p:spPr>
      </p:sp>
      <p:sp>
        <p:nvSpPr>
          <p:cNvPr id="23" name="Text 21"/>
          <p:cNvSpPr txBox="1"/>
          <p:nvPr/>
        </p:nvSpPr>
        <p:spPr>
          <a:xfrm>
            <a:off x="4937760" y="1234440"/>
            <a:ext cx="3566160" cy="32004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Team scoreboard – WIG: on-time delivery 82% → 95%</a:t>
            </a:r>
            <a:endParaRPr lang="en-US" sz="1100" dirty="0"/>
          </a:p>
        </p:txBody>
      </p:sp>
      <p:graphicFrame>
        <p:nvGraphicFramePr>
          <p:cNvPr id="24" name="Chart 0" descr=""/>
          <p:cNvGraphicFramePr/>
          <p:nvPr/>
        </p:nvGraphicFramePr>
        <p:xfrm>
          <a:off x="4846320" y="1554480"/>
          <a:ext cx="3749040" cy="2194560"/>
        </p:xfrm>
        <a:graphic xmlns:a="http://schemas.openxmlformats.org/drawingml/2006/main">
          <a:graphicData uri="http://schemas.openxmlformats.org/drawingml/2006/chart">
            <c:chart xmlns:c="http://schemas.openxmlformats.org/drawingml/2006/chart" r:id="rId1"/>
          </a:graphicData>
        </a:graphic>
      </p:graphicFrame>
      <p:sp>
        <p:nvSpPr>
          <p:cNvPr id="25" name="Text 22"/>
          <p:cNvSpPr txBox="1"/>
          <p:nvPr/>
        </p:nvSpPr>
        <p:spPr>
          <a:xfrm>
            <a:off x="4937760" y="3840480"/>
            <a:ext cx="3566160" cy="548640"/>
          </a:xfrm>
          <a:prstGeom prst="rect">
            <a:avLst/>
          </a:prstGeom>
          <a:noFill/>
          <a:ln/>
        </p:spPr>
        <p:txBody>
          <a:bodyPr wrap="square" lIns="0" tIns="0" rIns="0" bIns="0" rtlCol="0" anchor="t"/>
          <a:lstStyle/>
          <a:p>
            <a:pPr indent="0" marL="0">
              <a:buNone/>
            </a:pPr>
            <a:r>
              <a:rPr lang="en-US" sz="1100" b="1" dirty="0">
                <a:solidFill>
                  <a:srgbClr val="14213D"/>
                </a:solidFill>
                <a:latin typeface="Calibri" pitchFamily="34" charset="0"/>
                <a:ea typeface="Calibri" pitchFamily="34" charset="-122"/>
                <a:cs typeface="Calibri" pitchFamily="34" charset="-120"/>
              </a:rPr>
              <a:t>Lead this week: </a:t>
            </a:r>
            <a:pPr indent="0" marL="0">
              <a:buNone/>
            </a:pPr>
            <a:r>
              <a:rPr lang="en-US" sz="1100" b="1" dirty="0">
                <a:solidFill>
                  <a:srgbClr val="2E7D32"/>
                </a:solidFill>
                <a:latin typeface="Calibri" pitchFamily="34" charset="0"/>
                <a:ea typeface="Calibri" pitchFamily="34" charset="-122"/>
                <a:cs typeface="Calibri" pitchFamily="34" charset="-120"/>
              </a:rPr>
              <a:t>orders confirmed &lt;24 h: 46/50 (92%)  </a:t>
            </a:r>
            <a:pPr indent="0" marL="0">
              <a:buNone/>
            </a:pPr>
            <a:r>
              <a:rPr lang="en-US" sz="1100" b="1" dirty="0">
                <a:solidFill>
                  <a:srgbClr val="14213D"/>
                </a:solidFill>
                <a:latin typeface="Calibri" pitchFamily="34" charset="0"/>
                <a:ea typeface="Calibri" pitchFamily="34" charset="-122"/>
                <a:cs typeface="Calibri" pitchFamily="34" charset="-120"/>
              </a:rPr>
              <a:t>|  Status: </a:t>
            </a:r>
            <a:pPr indent="0" marL="0">
              <a:buNone/>
            </a:pPr>
            <a:r>
              <a:rPr lang="en-US" sz="1100" b="1" dirty="0">
                <a:solidFill>
                  <a:srgbClr val="2E7D32"/>
                </a:solidFill>
                <a:latin typeface="Calibri" pitchFamily="34" charset="0"/>
                <a:ea typeface="Calibri" pitchFamily="34" charset="-122"/>
                <a:cs typeface="Calibri" pitchFamily="34" charset="-120"/>
              </a:rPr>
              <a:t>winning</a:t>
            </a:r>
            <a:endParaRPr lang="en-US" sz="1100" dirty="0"/>
          </a:p>
        </p:txBody>
      </p:sp>
      <p:sp>
        <p:nvSpPr>
          <p:cNvPr id="26" name="Text 23"/>
          <p:cNvSpPr txBox="1"/>
          <p:nvPr/>
        </p:nvSpPr>
        <p:spPr>
          <a:xfrm>
            <a:off x="457200" y="4754880"/>
            <a:ext cx="7680960" cy="274320"/>
          </a:xfrm>
          <a:prstGeom prst="rect">
            <a:avLst/>
          </a:prstGeom>
          <a:noFill/>
          <a:ln/>
        </p:spPr>
        <p:txBody>
          <a:bodyPr wrap="square" lIns="0" tIns="0" rIns="0" bIns="0" rtlCol="0" anchor="ctr"/>
          <a:lstStyle/>
          <a:p>
            <a:pPr indent="0" marL="0">
              <a:buNone/>
            </a:pPr>
            <a:r>
              <a:rPr lang="en-US" sz="900" dirty="0">
                <a:solidFill>
                  <a:srgbClr val="8A94A6"/>
                </a:solidFill>
                <a:latin typeface="Calibri" pitchFamily="34" charset="0"/>
                <a:ea typeface="Calibri" pitchFamily="34" charset="-122"/>
                <a:cs typeface="Calibri" pitchFamily="34" charset="-120"/>
              </a:rPr>
              <a:t>Group 3  |  4 Disciplines of Execution  |  Ch. 10 Building an Organization Capable of Good Strategy Execution</a:t>
            </a:r>
            <a:endParaRPr lang="en-US" sz="900" dirty="0"/>
          </a:p>
        </p:txBody>
      </p:sp>
      <p:sp>
        <p:nvSpPr>
          <p:cNvPr id="27" name="Text 24"/>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84048"/>
            <a:ext cx="594360" cy="594360"/>
          </a:xfrm>
          <a:prstGeom prst="ellipse">
            <a:avLst/>
          </a:prstGeom>
          <a:solidFill>
            <a:srgbClr val="FCA311"/>
          </a:solidFill>
          <a:ln w="12700">
            <a:solidFill>
              <a:srgbClr val="FCA311"/>
            </a:solidFill>
            <a:prstDash val="solid"/>
          </a:ln>
        </p:spPr>
      </p:sp>
      <p:sp>
        <p:nvSpPr>
          <p:cNvPr id="3" name="Text 1"/>
          <p:cNvSpPr txBox="1"/>
          <p:nvPr/>
        </p:nvSpPr>
        <p:spPr>
          <a:xfrm>
            <a:off x="457200" y="384048"/>
            <a:ext cx="594360" cy="594360"/>
          </a:xfrm>
          <a:prstGeom prst="rect">
            <a:avLst/>
          </a:prstGeom>
          <a:noFill/>
          <a:ln/>
        </p:spPr>
        <p:txBody>
          <a:bodyPr wrap="square" lIns="0" tIns="0" rIns="0" bIns="0" rtlCol="0" anchor="ctr"/>
          <a:lstStyle/>
          <a:p>
            <a:pPr algn="ctr" indent="0" marL="0">
              <a:buNone/>
            </a:pPr>
            <a:r>
              <a:rPr lang="en-US" sz="2080" b="1" dirty="0">
                <a:solidFill>
                  <a:srgbClr val="14213D"/>
                </a:solidFill>
                <a:latin typeface="Cambria" pitchFamily="34" charset="0"/>
                <a:ea typeface="Cambria" pitchFamily="34" charset="-122"/>
                <a:cs typeface="Cambria" pitchFamily="34" charset="-120"/>
              </a:rPr>
              <a:t>4</a:t>
            </a:r>
            <a:endParaRPr lang="en-US" sz="2080" dirty="0"/>
          </a:p>
        </p:txBody>
      </p:sp>
      <p:sp>
        <p:nvSpPr>
          <p:cNvPr id="4" name="Text 2"/>
          <p:cNvSpPr txBox="1"/>
          <p:nvPr/>
        </p:nvSpPr>
        <p:spPr>
          <a:xfrm>
            <a:off x="1188720" y="320040"/>
            <a:ext cx="7498080" cy="73152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Create a Cadence of Accountability</a:t>
            </a:r>
            <a:endParaRPr lang="en-US" sz="2600" dirty="0"/>
          </a:p>
        </p:txBody>
      </p:sp>
      <p:sp>
        <p:nvSpPr>
          <p:cNvPr id="5" name="Text 3"/>
          <p:cNvSpPr txBox="1"/>
          <p:nvPr/>
        </p:nvSpPr>
        <p:spPr>
          <a:xfrm>
            <a:off x="457200" y="1143000"/>
            <a:ext cx="8229600" cy="36576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The weekly WIG session: 20–30 minutes, same day, same time, never cancelled</a:t>
            </a:r>
            <a:endParaRPr lang="en-US" sz="1400" dirty="0"/>
          </a:p>
        </p:txBody>
      </p:sp>
      <p:sp>
        <p:nvSpPr>
          <p:cNvPr id="6" name="Shape 4"/>
          <p:cNvSpPr/>
          <p:nvPr/>
        </p:nvSpPr>
        <p:spPr>
          <a:xfrm>
            <a:off x="457200" y="1600200"/>
            <a:ext cx="2651760" cy="1691640"/>
          </a:xfrm>
          <a:prstGeom prst="roundRect">
            <a:avLst>
              <a:gd name="adj" fmla="val 4324"/>
            </a:avLst>
          </a:prstGeom>
          <a:solidFill>
            <a:srgbClr val="EEF1F6"/>
          </a:solidFill>
          <a:ln w="12700">
            <a:solidFill>
              <a:srgbClr val="EEF1F6"/>
            </a:solidFill>
            <a:prstDash val="solid"/>
          </a:ln>
        </p:spPr>
      </p:sp>
      <p:sp>
        <p:nvSpPr>
          <p:cNvPr id="7" name="Shape 5"/>
          <p:cNvSpPr/>
          <p:nvPr/>
        </p:nvSpPr>
        <p:spPr>
          <a:xfrm>
            <a:off x="640080" y="1737360"/>
            <a:ext cx="457200" cy="457200"/>
          </a:xfrm>
          <a:prstGeom prst="ellipse">
            <a:avLst/>
          </a:prstGeom>
          <a:solidFill>
            <a:srgbClr val="FCA311"/>
          </a:solidFill>
          <a:ln w="12700">
            <a:solidFill>
              <a:srgbClr val="FCA311"/>
            </a:solidFill>
            <a:prstDash val="solid"/>
          </a:ln>
        </p:spPr>
      </p:sp>
      <p:sp>
        <p:nvSpPr>
          <p:cNvPr id="8" name="Text 6"/>
          <p:cNvSpPr txBox="1"/>
          <p:nvPr/>
        </p:nvSpPr>
        <p:spPr>
          <a:xfrm>
            <a:off x="640080" y="1737360"/>
            <a:ext cx="45720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1234440" y="1737360"/>
            <a:ext cx="1783080" cy="45720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Account</a:t>
            </a:r>
            <a:endParaRPr lang="en-US" sz="1400" dirty="0"/>
          </a:p>
        </p:txBody>
      </p:sp>
      <p:sp>
        <p:nvSpPr>
          <p:cNvPr id="10" name="Text 8"/>
          <p:cNvSpPr txBox="1"/>
          <p:nvPr/>
        </p:nvSpPr>
        <p:spPr>
          <a:xfrm>
            <a:off x="640080" y="2286000"/>
            <a:ext cx="2286000" cy="914400"/>
          </a:xfrm>
          <a:prstGeom prst="rect">
            <a:avLst/>
          </a:prstGeom>
          <a:noFill/>
          <a:ln/>
        </p:spPr>
        <p:txBody>
          <a:bodyPr wrap="square" lIns="0" tIns="0" rIns="0" bIns="0" rtlCol="0" anchor="t"/>
          <a:lstStyle/>
          <a:p>
            <a:pPr indent="0" marL="0">
              <a:buNone/>
            </a:pPr>
            <a:r>
              <a:rPr lang="en-US" sz="1150" dirty="0">
                <a:solidFill>
                  <a:srgbClr val="4A5568"/>
                </a:solidFill>
                <a:latin typeface="Calibri" pitchFamily="34" charset="0"/>
                <a:ea typeface="Calibri" pitchFamily="34" charset="-122"/>
                <a:cs typeface="Calibri" pitchFamily="34" charset="-120"/>
              </a:rPr>
              <a:t>Each member reports on last week’s commitments: done or not done, no excuses</a:t>
            </a:r>
            <a:endParaRPr lang="en-US" sz="1150" dirty="0"/>
          </a:p>
        </p:txBody>
      </p:sp>
      <p:sp>
        <p:nvSpPr>
          <p:cNvPr id="11" name="Text 9"/>
          <p:cNvSpPr txBox="1"/>
          <p:nvPr/>
        </p:nvSpPr>
        <p:spPr>
          <a:xfrm>
            <a:off x="3063240" y="2148840"/>
            <a:ext cx="274320" cy="548640"/>
          </a:xfrm>
          <a:prstGeom prst="rect">
            <a:avLst/>
          </a:prstGeom>
          <a:noFill/>
          <a:ln/>
        </p:spPr>
        <p:txBody>
          <a:bodyPr wrap="square" lIns="0" tIns="0" rIns="0" bIns="0" rtlCol="0" anchor="ctr"/>
          <a:lstStyle/>
          <a:p>
            <a:pPr algn="ctr" indent="0" marL="0">
              <a:buNone/>
            </a:pPr>
            <a:r>
              <a:rPr lang="en-US" sz="2800" b="1" dirty="0">
                <a:solidFill>
                  <a:srgbClr val="FCA311"/>
                </a:solidFill>
                <a:latin typeface="Cambria" pitchFamily="34" charset="0"/>
                <a:ea typeface="Cambria" pitchFamily="34" charset="-122"/>
                <a:cs typeface="Cambria" pitchFamily="34" charset="-120"/>
              </a:rPr>
              <a:t>›</a:t>
            </a:r>
            <a:endParaRPr lang="en-US" sz="2800" dirty="0"/>
          </a:p>
        </p:txBody>
      </p:sp>
      <p:sp>
        <p:nvSpPr>
          <p:cNvPr id="12" name="Shape 10"/>
          <p:cNvSpPr/>
          <p:nvPr/>
        </p:nvSpPr>
        <p:spPr>
          <a:xfrm>
            <a:off x="3246120" y="1600200"/>
            <a:ext cx="2651760" cy="1691640"/>
          </a:xfrm>
          <a:prstGeom prst="roundRect">
            <a:avLst>
              <a:gd name="adj" fmla="val 4324"/>
            </a:avLst>
          </a:prstGeom>
          <a:solidFill>
            <a:srgbClr val="14213D"/>
          </a:solidFill>
          <a:ln w="12700">
            <a:solidFill>
              <a:srgbClr val="14213D"/>
            </a:solidFill>
            <a:prstDash val="solid"/>
          </a:ln>
        </p:spPr>
      </p:sp>
      <p:sp>
        <p:nvSpPr>
          <p:cNvPr id="13" name="Shape 11"/>
          <p:cNvSpPr/>
          <p:nvPr/>
        </p:nvSpPr>
        <p:spPr>
          <a:xfrm>
            <a:off x="3429000" y="1737360"/>
            <a:ext cx="457200" cy="457200"/>
          </a:xfrm>
          <a:prstGeom prst="ellipse">
            <a:avLst/>
          </a:prstGeom>
          <a:solidFill>
            <a:srgbClr val="FCA311"/>
          </a:solidFill>
          <a:ln w="12700">
            <a:solidFill>
              <a:srgbClr val="FCA311"/>
            </a:solidFill>
            <a:prstDash val="solid"/>
          </a:ln>
        </p:spPr>
      </p:sp>
      <p:sp>
        <p:nvSpPr>
          <p:cNvPr id="14" name="Text 12"/>
          <p:cNvSpPr txBox="1"/>
          <p:nvPr/>
        </p:nvSpPr>
        <p:spPr>
          <a:xfrm>
            <a:off x="3429000" y="1737360"/>
            <a:ext cx="45720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ambria" pitchFamily="34" charset="0"/>
                <a:ea typeface="Cambria" pitchFamily="34" charset="-122"/>
                <a:cs typeface="Cambria" pitchFamily="34" charset="-120"/>
              </a:rPr>
              <a:t>2</a:t>
            </a:r>
            <a:endParaRPr lang="en-US" sz="1600" dirty="0"/>
          </a:p>
        </p:txBody>
      </p:sp>
      <p:sp>
        <p:nvSpPr>
          <p:cNvPr id="15" name="Text 13"/>
          <p:cNvSpPr txBox="1"/>
          <p:nvPr/>
        </p:nvSpPr>
        <p:spPr>
          <a:xfrm>
            <a:off x="4023360" y="1737360"/>
            <a:ext cx="1783080" cy="45720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Review the scoreboard</a:t>
            </a:r>
            <a:endParaRPr lang="en-US" sz="1400" dirty="0"/>
          </a:p>
        </p:txBody>
      </p:sp>
      <p:sp>
        <p:nvSpPr>
          <p:cNvPr id="16" name="Text 14"/>
          <p:cNvSpPr txBox="1"/>
          <p:nvPr/>
        </p:nvSpPr>
        <p:spPr>
          <a:xfrm>
            <a:off x="3429000" y="2286000"/>
            <a:ext cx="2286000" cy="914400"/>
          </a:xfrm>
          <a:prstGeom prst="rect">
            <a:avLst/>
          </a:prstGeom>
          <a:noFill/>
          <a:ln/>
        </p:spPr>
        <p:txBody>
          <a:bodyPr wrap="square" lIns="0" tIns="0" rIns="0" bIns="0" rtlCol="0" anchor="t"/>
          <a:lstStyle/>
          <a:p>
            <a:pPr indent="0" marL="0">
              <a:buNone/>
            </a:pPr>
            <a:r>
              <a:rPr lang="en-US" sz="1150" dirty="0">
                <a:solidFill>
                  <a:srgbClr val="DCE2EE"/>
                </a:solidFill>
                <a:latin typeface="Calibri" pitchFamily="34" charset="0"/>
                <a:ea typeface="Calibri" pitchFamily="34" charset="-122"/>
                <a:cs typeface="Calibri" pitchFamily="34" charset="-120"/>
              </a:rPr>
              <a:t>Learn from successes and failures; what moved the lead measure?</a:t>
            </a:r>
            <a:endParaRPr lang="en-US" sz="1150" dirty="0"/>
          </a:p>
        </p:txBody>
      </p:sp>
      <p:sp>
        <p:nvSpPr>
          <p:cNvPr id="17" name="Text 15"/>
          <p:cNvSpPr txBox="1"/>
          <p:nvPr/>
        </p:nvSpPr>
        <p:spPr>
          <a:xfrm>
            <a:off x="5852160" y="2148840"/>
            <a:ext cx="274320" cy="548640"/>
          </a:xfrm>
          <a:prstGeom prst="rect">
            <a:avLst/>
          </a:prstGeom>
          <a:noFill/>
          <a:ln/>
        </p:spPr>
        <p:txBody>
          <a:bodyPr wrap="square" lIns="0" tIns="0" rIns="0" bIns="0" rtlCol="0" anchor="ctr"/>
          <a:lstStyle/>
          <a:p>
            <a:pPr algn="ctr" indent="0" marL="0">
              <a:buNone/>
            </a:pPr>
            <a:r>
              <a:rPr lang="en-US" sz="2800" b="1" dirty="0">
                <a:solidFill>
                  <a:srgbClr val="FCA311"/>
                </a:solidFill>
                <a:latin typeface="Cambria" pitchFamily="34" charset="0"/>
                <a:ea typeface="Cambria" pitchFamily="34" charset="-122"/>
                <a:cs typeface="Cambria" pitchFamily="34" charset="-120"/>
              </a:rPr>
              <a:t>›</a:t>
            </a:r>
            <a:endParaRPr lang="en-US" sz="2800" dirty="0"/>
          </a:p>
        </p:txBody>
      </p:sp>
      <p:sp>
        <p:nvSpPr>
          <p:cNvPr id="18" name="Shape 16"/>
          <p:cNvSpPr/>
          <p:nvPr/>
        </p:nvSpPr>
        <p:spPr>
          <a:xfrm>
            <a:off x="6035040" y="1600200"/>
            <a:ext cx="2651760" cy="1691640"/>
          </a:xfrm>
          <a:prstGeom prst="roundRect">
            <a:avLst>
              <a:gd name="adj" fmla="val 4324"/>
            </a:avLst>
          </a:prstGeom>
          <a:solidFill>
            <a:srgbClr val="EEF1F6"/>
          </a:solidFill>
          <a:ln w="12700">
            <a:solidFill>
              <a:srgbClr val="EEF1F6"/>
            </a:solidFill>
            <a:prstDash val="solid"/>
          </a:ln>
        </p:spPr>
      </p:sp>
      <p:sp>
        <p:nvSpPr>
          <p:cNvPr id="19" name="Shape 17"/>
          <p:cNvSpPr/>
          <p:nvPr/>
        </p:nvSpPr>
        <p:spPr>
          <a:xfrm>
            <a:off x="6217920" y="1737360"/>
            <a:ext cx="457200" cy="457200"/>
          </a:xfrm>
          <a:prstGeom prst="ellipse">
            <a:avLst/>
          </a:prstGeom>
          <a:solidFill>
            <a:srgbClr val="FCA311"/>
          </a:solidFill>
          <a:ln w="12700">
            <a:solidFill>
              <a:srgbClr val="FCA311"/>
            </a:solidFill>
            <a:prstDash val="solid"/>
          </a:ln>
        </p:spPr>
      </p:sp>
      <p:sp>
        <p:nvSpPr>
          <p:cNvPr id="20" name="Text 18"/>
          <p:cNvSpPr txBox="1"/>
          <p:nvPr/>
        </p:nvSpPr>
        <p:spPr>
          <a:xfrm>
            <a:off x="6217920" y="1737360"/>
            <a:ext cx="45720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ambria" pitchFamily="34" charset="0"/>
                <a:ea typeface="Cambria" pitchFamily="34" charset="-122"/>
                <a:cs typeface="Cambria" pitchFamily="34" charset="-120"/>
              </a:rPr>
              <a:t>3</a:t>
            </a:r>
            <a:endParaRPr lang="en-US" sz="1600" dirty="0"/>
          </a:p>
        </p:txBody>
      </p:sp>
      <p:sp>
        <p:nvSpPr>
          <p:cNvPr id="21" name="Text 19"/>
          <p:cNvSpPr txBox="1"/>
          <p:nvPr/>
        </p:nvSpPr>
        <p:spPr>
          <a:xfrm>
            <a:off x="6812280" y="1737360"/>
            <a:ext cx="1783080" cy="45720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Plan</a:t>
            </a:r>
            <a:endParaRPr lang="en-US" sz="1400" dirty="0"/>
          </a:p>
        </p:txBody>
      </p:sp>
      <p:sp>
        <p:nvSpPr>
          <p:cNvPr id="22" name="Text 20"/>
          <p:cNvSpPr txBox="1"/>
          <p:nvPr/>
        </p:nvSpPr>
        <p:spPr>
          <a:xfrm>
            <a:off x="6217920" y="2286000"/>
            <a:ext cx="2286000" cy="914400"/>
          </a:xfrm>
          <a:prstGeom prst="rect">
            <a:avLst/>
          </a:prstGeom>
          <a:noFill/>
          <a:ln/>
        </p:spPr>
        <p:txBody>
          <a:bodyPr wrap="square" lIns="0" tIns="0" rIns="0" bIns="0" rtlCol="0" anchor="t"/>
          <a:lstStyle/>
          <a:p>
            <a:pPr indent="0" marL="0">
              <a:buNone/>
            </a:pPr>
            <a:r>
              <a:rPr lang="en-US" sz="1150" dirty="0">
                <a:solidFill>
                  <a:srgbClr val="4A5568"/>
                </a:solidFill>
                <a:latin typeface="Calibri" pitchFamily="34" charset="0"/>
                <a:ea typeface="Calibri" pitchFamily="34" charset="-122"/>
                <a:cs typeface="Calibri" pitchFamily="34" charset="-120"/>
              </a:rPr>
              <a:t>Each member makes 1–2 new commitments that will move the lead measure this week</a:t>
            </a:r>
            <a:endParaRPr lang="en-US" sz="1150" dirty="0"/>
          </a:p>
        </p:txBody>
      </p:sp>
      <p:sp>
        <p:nvSpPr>
          <p:cNvPr id="23" name="Text 21"/>
          <p:cNvSpPr txBox="1"/>
          <p:nvPr/>
        </p:nvSpPr>
        <p:spPr>
          <a:xfrm>
            <a:off x="457200" y="3401568"/>
            <a:ext cx="8229600" cy="457200"/>
          </a:xfrm>
          <a:prstGeom prst="rect">
            <a:avLst/>
          </a:prstGeom>
          <a:noFill/>
          <a:ln/>
        </p:spPr>
        <p:txBody>
          <a:bodyPr wrap="square" lIns="0" tIns="0" rIns="0" bIns="0" rtlCol="0" anchor="ctr"/>
          <a:lstStyle/>
          <a:p>
            <a:pPr indent="0" marL="0">
              <a:buNone/>
            </a:pPr>
            <a:r>
              <a:rPr lang="en-US" sz="1150" b="1" dirty="0">
                <a:solidFill>
                  <a:srgbClr val="14213D"/>
                </a:solidFill>
                <a:latin typeface="Calibri" pitchFamily="34" charset="0"/>
                <a:ea typeface="Calibri" pitchFamily="34" charset="-122"/>
                <a:cs typeface="Calibri" pitchFamily="34" charset="-120"/>
              </a:rPr>
              <a:t>Measures: session held every week (yes/no); % of commitments kept; week-on-week movement of the lead measure</a:t>
            </a:r>
            <a:endParaRPr lang="en-US" sz="1150" dirty="0"/>
          </a:p>
        </p:txBody>
      </p:sp>
      <p:sp>
        <p:nvSpPr>
          <p:cNvPr id="24" name="Text 22"/>
          <p:cNvSpPr txBox="1"/>
          <p:nvPr/>
        </p:nvSpPr>
        <p:spPr>
          <a:xfrm>
            <a:off x="457200" y="3904488"/>
            <a:ext cx="8229600" cy="731520"/>
          </a:xfrm>
          <a:prstGeom prst="rect">
            <a:avLst/>
          </a:prstGeom>
          <a:noFill/>
          <a:ln/>
        </p:spPr>
        <p:txBody>
          <a:bodyPr wrap="square" lIns="0" tIns="0" rIns="0" bIns="0" rtlCol="0" anchor="t"/>
          <a:lstStyle/>
          <a:p>
            <a:pPr indent="0" marL="0">
              <a:buNone/>
            </a:pPr>
            <a:r>
              <a:rPr lang="en-US" sz="1150" dirty="0">
                <a:solidFill>
                  <a:srgbClr val="4A5568"/>
                </a:solidFill>
                <a:latin typeface="Calibri" pitchFamily="34" charset="0"/>
                <a:ea typeface="Calibri" pitchFamily="34" charset="-122"/>
                <a:cs typeface="Calibri" pitchFamily="34" charset="-120"/>
              </a:rPr>
              <a:t>Chapter 10 link: accountability is pushed to “the lowest organizational level capable of making timely, informed, competent decisions” (p. 318), and cross-unit coordination is achieved through a shared rhythm rather than more hierarchy (pp. 319–321).</a:t>
            </a:r>
            <a:endParaRPr lang="en-US" sz="1150" dirty="0"/>
          </a:p>
        </p:txBody>
      </p:sp>
      <p:sp>
        <p:nvSpPr>
          <p:cNvPr id="25" name="Text 23"/>
          <p:cNvSpPr txBox="1"/>
          <p:nvPr/>
        </p:nvSpPr>
        <p:spPr>
          <a:xfrm>
            <a:off x="457200" y="4754880"/>
            <a:ext cx="7680960" cy="274320"/>
          </a:xfrm>
          <a:prstGeom prst="rect">
            <a:avLst/>
          </a:prstGeom>
          <a:noFill/>
          <a:ln/>
        </p:spPr>
        <p:txBody>
          <a:bodyPr wrap="square" lIns="0" tIns="0" rIns="0" bIns="0" rtlCol="0" anchor="ctr"/>
          <a:lstStyle/>
          <a:p>
            <a:pPr indent="0" marL="0">
              <a:buNone/>
            </a:pPr>
            <a:r>
              <a:rPr lang="en-US" sz="900" dirty="0">
                <a:solidFill>
                  <a:srgbClr val="8A94A6"/>
                </a:solidFill>
                <a:latin typeface="Calibri" pitchFamily="34" charset="0"/>
                <a:ea typeface="Calibri" pitchFamily="34" charset="-122"/>
                <a:cs typeface="Calibri" pitchFamily="34" charset="-120"/>
              </a:rPr>
              <a:t>Group 3  |  4 Disciplines of Execution  |  Ch. 10 Building an Organization Capable of Good Strategy Execution</a:t>
            </a:r>
            <a:endParaRPr lang="en-US" sz="900" dirty="0"/>
          </a:p>
        </p:txBody>
      </p:sp>
      <p:sp>
        <p:nvSpPr>
          <p:cNvPr id="26" name="Text 24"/>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Dimensions and measures of the model (summary)</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828800"/>
                <a:gridCol w="2743200"/>
                <a:gridCol w="2103120"/>
                <a:gridCol w="1554480"/>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Dimension</a:t>
                      </a:r>
                      <a:endParaRPr lang="en-US" sz="12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How it is defined</a:t>
                      </a:r>
                      <a:endParaRPr lang="en-US" sz="12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Key measure</a:t>
                      </a:r>
                      <a:endParaRPr lang="en-US" sz="12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Question it answers</a:t>
                      </a:r>
                      <a:endParaRPr lang="en-US" sz="12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640080">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1. Wildly Important Goal</a:t>
                      </a:r>
                      <a:endParaRPr lang="en-US" sz="11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1–2 goals per team, “from X to Y by when”, cascading to the organization’s WIG</a:t>
                      </a:r>
                      <a:endParaRPr lang="en-US" sz="11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Number of WIGs; lag measure with baseline, target, deadline</a:t>
                      </a:r>
                      <a:endParaRPr lang="en-US" sz="11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What matters most?</a:t>
                      </a:r>
                      <a:endParaRPr lang="en-US" sz="11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640080">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2. Lead measures</a:t>
                      </a:r>
                      <a:endParaRPr lang="en-US" sz="11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Activities that are predictive of the WIG and influenceable by the team</a:t>
                      </a:r>
                      <a:endParaRPr lang="en-US" sz="11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Weekly count or % of the lead activity</a:t>
                      </a:r>
                      <a:endParaRPr lang="en-US" sz="11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What must we do this week?</a:t>
                      </a:r>
                      <a:endParaRPr lang="en-US" sz="11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EF1F6"/>
                    </a:solidFill>
                  </a:tcPr>
                </a:tc>
              </a:tr>
              <a:tr h="640080">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3. Compelling scoreboard</a:t>
                      </a:r>
                      <a:endParaRPr lang="en-US" sz="11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Simple, visible, shows lead and lag, tells at a glance if winning</a:t>
                      </a:r>
                      <a:endParaRPr lang="en-US" sz="11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Scoreboard meets 4 criteria; updated weekly</a:t>
                      </a:r>
                      <a:endParaRPr lang="en-US" sz="11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Are we winning?</a:t>
                      </a:r>
                      <a:endParaRPr lang="en-US" sz="11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640080">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4. Cadence of accountability</a:t>
                      </a:r>
                      <a:endParaRPr lang="en-US" sz="11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Weekly WIG session: account, review, commit</a:t>
                      </a:r>
                      <a:endParaRPr lang="en-US" sz="11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Session held; % commitments kept</a:t>
                      </a:r>
                      <a:endParaRPr lang="en-US" sz="11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Who does what by next week?</a:t>
                      </a:r>
                      <a:endParaRPr lang="en-US" sz="1100" dirty="0">
                        <a:latin typeface="Calibri" charset="0"/>
                        <a:ea typeface="Calibri" charset="0"/>
                        <a:cs typeface="Calibri"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EF1F6"/>
                    </a:solidFill>
                  </a:tcPr>
                </a:tc>
              </a:tr>
            </a:tbl>
          </a:graphicData>
        </a:graphic>
      </p:graphicFrame>
      <p:sp>
        <p:nvSpPr>
          <p:cNvPr id="4" name="Text 1"/>
          <p:cNvSpPr txBox="1"/>
          <p:nvPr/>
        </p:nvSpPr>
        <p:spPr>
          <a:xfrm>
            <a:off x="457200" y="4343400"/>
            <a:ext cx="8229600" cy="274320"/>
          </a:xfrm>
          <a:prstGeom prst="rect">
            <a:avLst/>
          </a:prstGeom>
          <a:noFill/>
          <a:ln/>
        </p:spPr>
        <p:txBody>
          <a:bodyPr wrap="square" lIns="0" tIns="0" rIns="0" bIns="0" rtlCol="0" anchor="ctr"/>
          <a:lstStyle/>
          <a:p>
            <a:pPr indent="0" marL="0">
              <a:buNone/>
            </a:pPr>
            <a:r>
              <a:rPr lang="en-US" sz="1000" i="1" dirty="0">
                <a:solidFill>
                  <a:srgbClr val="4A5568"/>
                </a:solidFill>
                <a:latin typeface="Calibri" pitchFamily="34" charset="0"/>
                <a:ea typeface="Calibri" pitchFamily="34" charset="-122"/>
                <a:cs typeface="Calibri" pitchFamily="34" charset="-120"/>
              </a:rPr>
              <a:t>Source: McChesney, Covey &amp; Huling (2012); FranklinCovey (2024).</a:t>
            </a:r>
            <a:endParaRPr lang="en-US" sz="1000" dirty="0"/>
          </a:p>
        </p:txBody>
      </p:sp>
      <p:sp>
        <p:nvSpPr>
          <p:cNvPr id="5" name="Text 2"/>
          <p:cNvSpPr txBox="1"/>
          <p:nvPr/>
        </p:nvSpPr>
        <p:spPr>
          <a:xfrm>
            <a:off x="457200" y="4754880"/>
            <a:ext cx="7680960" cy="274320"/>
          </a:xfrm>
          <a:prstGeom prst="rect">
            <a:avLst/>
          </a:prstGeom>
          <a:noFill/>
          <a:ln/>
        </p:spPr>
        <p:txBody>
          <a:bodyPr wrap="square" lIns="0" tIns="0" rIns="0" bIns="0" rtlCol="0" anchor="ctr"/>
          <a:lstStyle/>
          <a:p>
            <a:pPr indent="0" marL="0">
              <a:buNone/>
            </a:pPr>
            <a:r>
              <a:rPr lang="en-US" sz="900" dirty="0">
                <a:solidFill>
                  <a:srgbClr val="8A94A6"/>
                </a:solidFill>
                <a:latin typeface="Calibri" pitchFamily="34" charset="0"/>
                <a:ea typeface="Calibri" pitchFamily="34" charset="-122"/>
                <a:cs typeface="Calibri" pitchFamily="34" charset="-120"/>
              </a:rPr>
              <a:t>Group 3  |  4 Disciplines of Execution  |  Ch. 10 Building an Organization Capable of Good Strategy Execution</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How 4DX operationalizes Chapter 10</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011680"/>
                <a:gridCol w="3108960"/>
                <a:gridCol w="3108960"/>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Chapter 10 action (Fig. 10.2, p. 299)</a:t>
                      </a:r>
                      <a:endParaRPr lang="en-US" sz="1200" dirty="0">
                        <a:latin typeface="Calibri" charset="0"/>
                        <a:ea typeface="Calibri" charset="0"/>
                        <a:cs typeface="Calibri" charset="0"/>
                      </a:endParaRPr>
                    </a:p>
                  </a:txBody>
                  <a:tcPr marL="64008" marR="64008" marT="64008" marB="64008"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the chapter says</a:t>
                      </a:r>
                      <a:endParaRPr lang="en-US" sz="1200" dirty="0">
                        <a:latin typeface="Calibri" charset="0"/>
                        <a:ea typeface="Calibri" charset="0"/>
                        <a:cs typeface="Calibri" charset="0"/>
                      </a:endParaRPr>
                    </a:p>
                  </a:txBody>
                  <a:tcPr marL="64008" marR="64008" marT="64008" marB="64008"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4DX adds</a:t>
                      </a:r>
                      <a:endParaRPr lang="en-US" sz="1200" dirty="0">
                        <a:latin typeface="Calibri" charset="0"/>
                        <a:ea typeface="Calibri" charset="0"/>
                        <a:cs typeface="Calibri" charset="0"/>
                      </a:endParaRPr>
                    </a:p>
                  </a:txBody>
                  <a:tcPr marL="64008" marR="64008" marT="64008" marB="64008"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822960">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1. Staffing the organization</a:t>
                      </a:r>
                      <a:endParaRPr lang="en-US" sz="1100" dirty="0">
                        <a:latin typeface="Calibri" charset="0"/>
                        <a:ea typeface="Calibri" charset="0"/>
                        <a:cs typeface="Calibri" charset="0"/>
                      </a:endParaRPr>
                    </a:p>
                  </a:txBody>
                  <a:tcPr marL="64008" marR="64008" marT="64008" marB="64008"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Assemble “a critical mass of talented managers who can function as agents of change” (p. 301); recruit, train, retain</a:t>
                      </a:r>
                      <a:endParaRPr lang="en-US" sz="1100" dirty="0">
                        <a:latin typeface="Calibri" charset="0"/>
                        <a:ea typeface="Calibri" charset="0"/>
                        <a:cs typeface="Calibri" charset="0"/>
                      </a:endParaRPr>
                    </a:p>
                  </a:txBody>
                  <a:tcPr marL="64008" marR="64008" marT="64008" marB="64008"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Weekly WIG sessions make performance visible: leaders see who delivers commitments and who needs coaching or reassignment</a:t>
                      </a:r>
                      <a:endParaRPr lang="en-US" sz="1100" dirty="0">
                        <a:latin typeface="Calibri" charset="0"/>
                        <a:ea typeface="Calibri" charset="0"/>
                        <a:cs typeface="Calibri" charset="0"/>
                      </a:endParaRPr>
                    </a:p>
                  </a:txBody>
                  <a:tcPr marL="64008" marR="64008" marT="64008" marB="64008"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4E0"/>
                    </a:solidFill>
                  </a:tcPr>
                </a:tc>
              </a:tr>
              <a:tr h="822960">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2. Building resources &amp; capabilities</a:t>
                      </a:r>
                      <a:endParaRPr lang="en-US" sz="1100" dirty="0">
                        <a:latin typeface="Calibri" charset="0"/>
                        <a:ea typeface="Calibri" charset="0"/>
                        <a:cs typeface="Calibri" charset="0"/>
                      </a:endParaRPr>
                    </a:p>
                  </a:txBody>
                  <a:tcPr marL="64008" marR="64008" marT="64008" marB="64008"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Capabilities grow through learning by doing, “a multistage process … over months and years” (p. 305); execution capabilities are hard to imitate (p. 308)</a:t>
                      </a:r>
                      <a:endParaRPr lang="en-US" sz="1100" dirty="0">
                        <a:latin typeface="Calibri" charset="0"/>
                        <a:ea typeface="Calibri" charset="0"/>
                        <a:cs typeface="Calibri" charset="0"/>
                      </a:endParaRPr>
                    </a:p>
                  </a:txBody>
                  <a:tcPr marL="64008" marR="64008" marT="64008" marB="64008"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Lead measures are the routines that become capabilities; repeating them weekly institutionalizes the competence</a:t>
                      </a:r>
                      <a:endParaRPr lang="en-US" sz="1100" dirty="0">
                        <a:latin typeface="Calibri" charset="0"/>
                        <a:ea typeface="Calibri" charset="0"/>
                        <a:cs typeface="Calibri" charset="0"/>
                      </a:endParaRPr>
                    </a:p>
                  </a:txBody>
                  <a:tcPr marL="64008" marR="64008" marT="64008" marB="64008"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4E0"/>
                    </a:solidFill>
                  </a:tcPr>
                </a:tc>
              </a:tr>
              <a:tr h="822960">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3. Structuring the organization &amp; work effort</a:t>
                      </a:r>
                      <a:endParaRPr lang="en-US" sz="1100" dirty="0">
                        <a:latin typeface="Calibri" charset="0"/>
                        <a:ea typeface="Calibri" charset="0"/>
                        <a:cs typeface="Calibri" charset="0"/>
                      </a:endParaRPr>
                    </a:p>
                  </a:txBody>
                  <a:tcPr marL="64008" marR="64008" marT="64008" marB="64008"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Match structure to strategy; delegate to the lowest competent level (p. 318); coordinate across units (pp. 319–321)</a:t>
                      </a:r>
                      <a:endParaRPr lang="en-US" sz="1100" dirty="0">
                        <a:latin typeface="Calibri" charset="0"/>
                        <a:ea typeface="Calibri" charset="0"/>
                        <a:cs typeface="Calibri" charset="0"/>
                      </a:endParaRPr>
                    </a:p>
                  </a:txBody>
                  <a:tcPr marL="64008" marR="64008" marT="64008" marB="64008"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Teams own their WIG and lead measures; cascading WIGs create cross-unit alignment without new hierarchy</a:t>
                      </a:r>
                      <a:endParaRPr lang="en-US" sz="1100" dirty="0">
                        <a:latin typeface="Calibri" charset="0"/>
                        <a:ea typeface="Calibri" charset="0"/>
                        <a:cs typeface="Calibri" charset="0"/>
                      </a:endParaRPr>
                    </a:p>
                  </a:txBody>
                  <a:tcPr marL="64008" marR="64008" marT="64008" marB="64008"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4E0"/>
                    </a:solidFill>
                  </a:tcPr>
                </a:tc>
              </a:tr>
            </a:tbl>
          </a:graphicData>
        </a:graphic>
      </p:graphicFrame>
      <p:sp>
        <p:nvSpPr>
          <p:cNvPr id="4" name="Text 1"/>
          <p:cNvSpPr txBox="1"/>
          <p:nvPr/>
        </p:nvSpPr>
        <p:spPr>
          <a:xfrm>
            <a:off x="457200" y="4315968"/>
            <a:ext cx="8229600" cy="365760"/>
          </a:xfrm>
          <a:prstGeom prst="rect">
            <a:avLst/>
          </a:prstGeom>
          <a:noFill/>
          <a:ln/>
        </p:spPr>
        <p:txBody>
          <a:bodyPr wrap="square" lIns="0" tIns="0" rIns="0" bIns="0" rtlCol="0" anchor="ctr"/>
          <a:lstStyle/>
          <a:p>
            <a:pPr indent="0" marL="0">
              <a:buNone/>
            </a:pPr>
            <a:r>
              <a:rPr lang="en-US" sz="1200" i="1" dirty="0">
                <a:solidFill>
                  <a:srgbClr val="14213D"/>
                </a:solidFill>
                <a:latin typeface="Calibri" pitchFamily="34" charset="0"/>
                <a:ea typeface="Calibri" pitchFamily="34" charset="-122"/>
                <a:cs typeface="Calibri" pitchFamily="34" charset="-120"/>
              </a:rPr>
              <a:t>Chapter 10 defines the organizational conditions for execution; 4DX supplies the weekly behaviour that uses them.</a:t>
            </a:r>
            <a:endParaRPr lang="en-US" sz="1200" dirty="0"/>
          </a:p>
        </p:txBody>
      </p:sp>
      <p:sp>
        <p:nvSpPr>
          <p:cNvPr id="5" name="Text 2"/>
          <p:cNvSpPr txBox="1"/>
          <p:nvPr/>
        </p:nvSpPr>
        <p:spPr>
          <a:xfrm>
            <a:off x="457200" y="4754880"/>
            <a:ext cx="7680960" cy="274320"/>
          </a:xfrm>
          <a:prstGeom prst="rect">
            <a:avLst/>
          </a:prstGeom>
          <a:noFill/>
          <a:ln/>
        </p:spPr>
        <p:txBody>
          <a:bodyPr wrap="square" lIns="0" tIns="0" rIns="0" bIns="0" rtlCol="0" anchor="ctr"/>
          <a:lstStyle/>
          <a:p>
            <a:pPr indent="0" marL="0">
              <a:buNone/>
            </a:pPr>
            <a:r>
              <a:rPr lang="en-US" sz="900" dirty="0">
                <a:solidFill>
                  <a:srgbClr val="8A94A6"/>
                </a:solidFill>
                <a:latin typeface="Calibri" pitchFamily="34" charset="0"/>
                <a:ea typeface="Calibri" pitchFamily="34" charset="-122"/>
                <a:cs typeface="Calibri" pitchFamily="34" charset="-120"/>
              </a:rPr>
              <a:t>Group 3  |  4 Disciplines of Execution  |  Ch. 10 Building an Organization Capable of Good Strategy Execution</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Benefits in the context of international business</a:t>
            </a:r>
            <a:endParaRPr lang="en-US" sz="2600" dirty="0"/>
          </a:p>
        </p:txBody>
      </p:sp>
      <p:sp>
        <p:nvSpPr>
          <p:cNvPr id="3" name="Shape 1"/>
          <p:cNvSpPr/>
          <p:nvPr/>
        </p:nvSpPr>
        <p:spPr>
          <a:xfrm>
            <a:off x="457200" y="1188720"/>
            <a:ext cx="4023360" cy="1280160"/>
          </a:xfrm>
          <a:prstGeom prst="roundRect">
            <a:avLst>
              <a:gd name="adj" fmla="val 5714"/>
            </a:avLst>
          </a:prstGeom>
          <a:solidFill>
            <a:srgbClr val="EEF1F6"/>
          </a:solidFill>
          <a:ln w="12700">
            <a:solidFill>
              <a:srgbClr val="EEF1F6"/>
            </a:solidFill>
            <a:prstDash val="solid"/>
          </a:ln>
        </p:spPr>
      </p:sp>
      <p:sp>
        <p:nvSpPr>
          <p:cNvPr id="4" name="Shape 2"/>
          <p:cNvSpPr/>
          <p:nvPr/>
        </p:nvSpPr>
        <p:spPr>
          <a:xfrm>
            <a:off x="594360" y="1325880"/>
            <a:ext cx="411480" cy="411480"/>
          </a:xfrm>
          <a:prstGeom prst="ellipse">
            <a:avLst/>
          </a:prstGeom>
          <a:solidFill>
            <a:srgbClr val="FCA311"/>
          </a:solidFill>
          <a:ln w="12700">
            <a:solidFill>
              <a:srgbClr val="FCA311"/>
            </a:solidFill>
            <a:prstDash val="solid"/>
          </a:ln>
        </p:spPr>
      </p:sp>
      <p:sp>
        <p:nvSpPr>
          <p:cNvPr id="5" name="Text 3"/>
          <p:cNvSpPr txBox="1"/>
          <p:nvPr/>
        </p:nvSpPr>
        <p:spPr>
          <a:xfrm>
            <a:off x="594360" y="1325880"/>
            <a:ext cx="411480" cy="411480"/>
          </a:xfrm>
          <a:prstGeom prst="rect">
            <a:avLst/>
          </a:prstGeom>
          <a:noFill/>
          <a:ln/>
        </p:spPr>
        <p:txBody>
          <a:bodyPr wrap="square" lIns="0" tIns="0" rIns="0" bIns="0" rtlCol="0" anchor="ctr"/>
          <a:lstStyle/>
          <a:p>
            <a:pPr algn="ctr" indent="0" marL="0">
              <a:buNone/>
            </a:pPr>
            <a:r>
              <a:rPr lang="en-US" sz="1440" b="1" dirty="0">
                <a:solidFill>
                  <a:srgbClr val="14213D"/>
                </a:solidFill>
                <a:latin typeface="Cambria" pitchFamily="34" charset="0"/>
                <a:ea typeface="Cambria" pitchFamily="34" charset="-122"/>
                <a:cs typeface="Cambria" pitchFamily="34" charset="-120"/>
              </a:rPr>
              <a:t>1</a:t>
            </a:r>
            <a:endParaRPr lang="en-US" sz="1440" dirty="0"/>
          </a:p>
        </p:txBody>
      </p:sp>
      <p:sp>
        <p:nvSpPr>
          <p:cNvPr id="6" name="Text 4"/>
          <p:cNvSpPr txBox="1"/>
          <p:nvPr/>
        </p:nvSpPr>
        <p:spPr>
          <a:xfrm>
            <a:off x="1143000" y="1298448"/>
            <a:ext cx="3200400" cy="41148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Focus across borders</a:t>
            </a:r>
            <a:endParaRPr lang="en-US" sz="1400" dirty="0"/>
          </a:p>
        </p:txBody>
      </p:sp>
      <p:sp>
        <p:nvSpPr>
          <p:cNvPr id="7" name="Text 5"/>
          <p:cNvSpPr txBox="1"/>
          <p:nvPr/>
        </p:nvSpPr>
        <p:spPr>
          <a:xfrm>
            <a:off x="640080" y="1737360"/>
            <a:ext cx="3703320" cy="685800"/>
          </a:xfrm>
          <a:prstGeom prst="rect">
            <a:avLst/>
          </a:prstGeom>
          <a:noFill/>
          <a:ln/>
        </p:spPr>
        <p:txBody>
          <a:bodyPr wrap="square" lIns="0" tIns="0" rIns="0" bIns="0" rtlCol="0" anchor="t"/>
          <a:lstStyle/>
          <a:p>
            <a:pPr indent="0" marL="0">
              <a:buNone/>
            </a:pPr>
            <a:r>
              <a:rPr lang="en-US" sz="1150" dirty="0">
                <a:solidFill>
                  <a:srgbClr val="4A5568"/>
                </a:solidFill>
                <a:latin typeface="Calibri" pitchFamily="34" charset="0"/>
                <a:ea typeface="Calibri" pitchFamily="34" charset="-122"/>
                <a:cs typeface="Calibri" pitchFamily="34" charset="-120"/>
              </a:rPr>
              <a:t>The two-WIG rule stops initiative overload in matrix and multi-country organizations; every subsidiary aligns on the few goals that matter globally.</a:t>
            </a:r>
            <a:endParaRPr lang="en-US" sz="1150" dirty="0"/>
          </a:p>
        </p:txBody>
      </p:sp>
      <p:sp>
        <p:nvSpPr>
          <p:cNvPr id="8" name="Shape 6"/>
          <p:cNvSpPr/>
          <p:nvPr/>
        </p:nvSpPr>
        <p:spPr>
          <a:xfrm>
            <a:off x="4663440" y="1188720"/>
            <a:ext cx="4023360" cy="1280160"/>
          </a:xfrm>
          <a:prstGeom prst="roundRect">
            <a:avLst>
              <a:gd name="adj" fmla="val 5714"/>
            </a:avLst>
          </a:prstGeom>
          <a:solidFill>
            <a:srgbClr val="EEF1F6"/>
          </a:solidFill>
          <a:ln w="12700">
            <a:solidFill>
              <a:srgbClr val="EEF1F6"/>
            </a:solidFill>
            <a:prstDash val="solid"/>
          </a:ln>
        </p:spPr>
      </p:sp>
      <p:sp>
        <p:nvSpPr>
          <p:cNvPr id="9" name="Shape 7"/>
          <p:cNvSpPr/>
          <p:nvPr/>
        </p:nvSpPr>
        <p:spPr>
          <a:xfrm>
            <a:off x="4800600" y="1325880"/>
            <a:ext cx="411480" cy="411480"/>
          </a:xfrm>
          <a:prstGeom prst="ellipse">
            <a:avLst/>
          </a:prstGeom>
          <a:solidFill>
            <a:srgbClr val="FCA311"/>
          </a:solidFill>
          <a:ln w="12700">
            <a:solidFill>
              <a:srgbClr val="FCA311"/>
            </a:solidFill>
            <a:prstDash val="solid"/>
          </a:ln>
        </p:spPr>
      </p:sp>
      <p:sp>
        <p:nvSpPr>
          <p:cNvPr id="10" name="Text 8"/>
          <p:cNvSpPr txBox="1"/>
          <p:nvPr/>
        </p:nvSpPr>
        <p:spPr>
          <a:xfrm>
            <a:off x="4800600" y="1325880"/>
            <a:ext cx="411480" cy="411480"/>
          </a:xfrm>
          <a:prstGeom prst="rect">
            <a:avLst/>
          </a:prstGeom>
          <a:noFill/>
          <a:ln/>
        </p:spPr>
        <p:txBody>
          <a:bodyPr wrap="square" lIns="0" tIns="0" rIns="0" bIns="0" rtlCol="0" anchor="ctr"/>
          <a:lstStyle/>
          <a:p>
            <a:pPr algn="ctr" indent="0" marL="0">
              <a:buNone/>
            </a:pPr>
            <a:r>
              <a:rPr lang="en-US" sz="1440" b="1" dirty="0">
                <a:solidFill>
                  <a:srgbClr val="14213D"/>
                </a:solidFill>
                <a:latin typeface="Cambria" pitchFamily="34" charset="0"/>
                <a:ea typeface="Cambria" pitchFamily="34" charset="-122"/>
                <a:cs typeface="Cambria" pitchFamily="34" charset="-120"/>
              </a:rPr>
              <a:t>2</a:t>
            </a:r>
            <a:endParaRPr lang="en-US" sz="1440" dirty="0"/>
          </a:p>
        </p:txBody>
      </p:sp>
      <p:sp>
        <p:nvSpPr>
          <p:cNvPr id="11" name="Text 9"/>
          <p:cNvSpPr txBox="1"/>
          <p:nvPr/>
        </p:nvSpPr>
        <p:spPr>
          <a:xfrm>
            <a:off x="5349240" y="1298448"/>
            <a:ext cx="3200400" cy="41148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Common execution language</a:t>
            </a:r>
            <a:endParaRPr lang="en-US" sz="1400" dirty="0"/>
          </a:p>
        </p:txBody>
      </p:sp>
      <p:sp>
        <p:nvSpPr>
          <p:cNvPr id="12" name="Text 10"/>
          <p:cNvSpPr txBox="1"/>
          <p:nvPr/>
        </p:nvSpPr>
        <p:spPr>
          <a:xfrm>
            <a:off x="4846320" y="1737360"/>
            <a:ext cx="3703320" cy="685800"/>
          </a:xfrm>
          <a:prstGeom prst="rect">
            <a:avLst/>
          </a:prstGeom>
          <a:noFill/>
          <a:ln/>
        </p:spPr>
        <p:txBody>
          <a:bodyPr wrap="square" lIns="0" tIns="0" rIns="0" bIns="0" rtlCol="0" anchor="t"/>
          <a:lstStyle/>
          <a:p>
            <a:pPr indent="0" marL="0">
              <a:buNone/>
            </a:pPr>
            <a:r>
              <a:rPr lang="en-US" sz="1150" dirty="0">
                <a:solidFill>
                  <a:srgbClr val="4A5568"/>
                </a:solidFill>
                <a:latin typeface="Calibri" pitchFamily="34" charset="0"/>
                <a:ea typeface="Calibri" pitchFamily="34" charset="-122"/>
                <a:cs typeface="Calibri" pitchFamily="34" charset="-120"/>
              </a:rPr>
              <a:t>Lead measures and scoreboards translate across cultures; Jakarta and Dubai can be compared on the same behaviours.</a:t>
            </a:r>
            <a:endParaRPr lang="en-US" sz="1150" dirty="0"/>
          </a:p>
        </p:txBody>
      </p:sp>
      <p:sp>
        <p:nvSpPr>
          <p:cNvPr id="13" name="Shape 11"/>
          <p:cNvSpPr/>
          <p:nvPr/>
        </p:nvSpPr>
        <p:spPr>
          <a:xfrm>
            <a:off x="457200" y="2606040"/>
            <a:ext cx="4023360" cy="1280160"/>
          </a:xfrm>
          <a:prstGeom prst="roundRect">
            <a:avLst>
              <a:gd name="adj" fmla="val 5714"/>
            </a:avLst>
          </a:prstGeom>
          <a:solidFill>
            <a:srgbClr val="EEF1F6"/>
          </a:solidFill>
          <a:ln w="12700">
            <a:solidFill>
              <a:srgbClr val="EEF1F6"/>
            </a:solidFill>
            <a:prstDash val="solid"/>
          </a:ln>
        </p:spPr>
      </p:sp>
      <p:sp>
        <p:nvSpPr>
          <p:cNvPr id="14" name="Shape 12"/>
          <p:cNvSpPr/>
          <p:nvPr/>
        </p:nvSpPr>
        <p:spPr>
          <a:xfrm>
            <a:off x="594360" y="2743200"/>
            <a:ext cx="411480" cy="411480"/>
          </a:xfrm>
          <a:prstGeom prst="ellipse">
            <a:avLst/>
          </a:prstGeom>
          <a:solidFill>
            <a:srgbClr val="FCA311"/>
          </a:solidFill>
          <a:ln w="12700">
            <a:solidFill>
              <a:srgbClr val="FCA311"/>
            </a:solidFill>
            <a:prstDash val="solid"/>
          </a:ln>
        </p:spPr>
      </p:sp>
      <p:sp>
        <p:nvSpPr>
          <p:cNvPr id="15" name="Text 13"/>
          <p:cNvSpPr txBox="1"/>
          <p:nvPr/>
        </p:nvSpPr>
        <p:spPr>
          <a:xfrm>
            <a:off x="594360" y="2743200"/>
            <a:ext cx="411480" cy="411480"/>
          </a:xfrm>
          <a:prstGeom prst="rect">
            <a:avLst/>
          </a:prstGeom>
          <a:noFill/>
          <a:ln/>
        </p:spPr>
        <p:txBody>
          <a:bodyPr wrap="square" lIns="0" tIns="0" rIns="0" bIns="0" rtlCol="0" anchor="ctr"/>
          <a:lstStyle/>
          <a:p>
            <a:pPr algn="ctr" indent="0" marL="0">
              <a:buNone/>
            </a:pPr>
            <a:r>
              <a:rPr lang="en-US" sz="1440" b="1" dirty="0">
                <a:solidFill>
                  <a:srgbClr val="14213D"/>
                </a:solidFill>
                <a:latin typeface="Cambria" pitchFamily="34" charset="0"/>
                <a:ea typeface="Cambria" pitchFamily="34" charset="-122"/>
                <a:cs typeface="Cambria" pitchFamily="34" charset="-120"/>
              </a:rPr>
              <a:t>3</a:t>
            </a:r>
            <a:endParaRPr lang="en-US" sz="1440" dirty="0"/>
          </a:p>
        </p:txBody>
      </p:sp>
      <p:sp>
        <p:nvSpPr>
          <p:cNvPr id="16" name="Text 14"/>
          <p:cNvSpPr txBox="1"/>
          <p:nvPr/>
        </p:nvSpPr>
        <p:spPr>
          <a:xfrm>
            <a:off x="1143000" y="2715768"/>
            <a:ext cx="3200400" cy="41148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Accountability at a distance</a:t>
            </a:r>
            <a:endParaRPr lang="en-US" sz="1400" dirty="0"/>
          </a:p>
        </p:txBody>
      </p:sp>
      <p:sp>
        <p:nvSpPr>
          <p:cNvPr id="17" name="Text 15"/>
          <p:cNvSpPr txBox="1"/>
          <p:nvPr/>
        </p:nvSpPr>
        <p:spPr>
          <a:xfrm>
            <a:off x="640080" y="3154680"/>
            <a:ext cx="3703320" cy="685800"/>
          </a:xfrm>
          <a:prstGeom prst="rect">
            <a:avLst/>
          </a:prstGeom>
          <a:noFill/>
          <a:ln/>
        </p:spPr>
        <p:txBody>
          <a:bodyPr wrap="square" lIns="0" tIns="0" rIns="0" bIns="0" rtlCol="0" anchor="t"/>
          <a:lstStyle/>
          <a:p>
            <a:pPr indent="0" marL="0">
              <a:buNone/>
            </a:pPr>
            <a:r>
              <a:rPr lang="en-US" sz="1150" dirty="0">
                <a:solidFill>
                  <a:srgbClr val="4A5568"/>
                </a:solidFill>
                <a:latin typeface="Calibri" pitchFamily="34" charset="0"/>
                <a:ea typeface="Calibri" pitchFamily="34" charset="-122"/>
                <a:cs typeface="Calibri" pitchFamily="34" charset="-120"/>
              </a:rPr>
              <a:t>A 20-minute weekly WIG session works virtually and across time zones, a light governance rhythm for dispersed teams.</a:t>
            </a:r>
            <a:endParaRPr lang="en-US" sz="1150" dirty="0"/>
          </a:p>
        </p:txBody>
      </p:sp>
      <p:sp>
        <p:nvSpPr>
          <p:cNvPr id="18" name="Shape 16"/>
          <p:cNvSpPr/>
          <p:nvPr/>
        </p:nvSpPr>
        <p:spPr>
          <a:xfrm>
            <a:off x="4663440" y="2606040"/>
            <a:ext cx="4023360" cy="1280160"/>
          </a:xfrm>
          <a:prstGeom prst="roundRect">
            <a:avLst>
              <a:gd name="adj" fmla="val 5714"/>
            </a:avLst>
          </a:prstGeom>
          <a:solidFill>
            <a:srgbClr val="EEF1F6"/>
          </a:solidFill>
          <a:ln w="12700">
            <a:solidFill>
              <a:srgbClr val="EEF1F6"/>
            </a:solidFill>
            <a:prstDash val="solid"/>
          </a:ln>
        </p:spPr>
      </p:sp>
      <p:sp>
        <p:nvSpPr>
          <p:cNvPr id="19" name="Shape 17"/>
          <p:cNvSpPr/>
          <p:nvPr/>
        </p:nvSpPr>
        <p:spPr>
          <a:xfrm>
            <a:off x="4800600" y="2743200"/>
            <a:ext cx="411480" cy="411480"/>
          </a:xfrm>
          <a:prstGeom prst="ellipse">
            <a:avLst/>
          </a:prstGeom>
          <a:solidFill>
            <a:srgbClr val="FCA311"/>
          </a:solidFill>
          <a:ln w="12700">
            <a:solidFill>
              <a:srgbClr val="FCA311"/>
            </a:solidFill>
            <a:prstDash val="solid"/>
          </a:ln>
        </p:spPr>
      </p:sp>
      <p:sp>
        <p:nvSpPr>
          <p:cNvPr id="20" name="Text 18"/>
          <p:cNvSpPr txBox="1"/>
          <p:nvPr/>
        </p:nvSpPr>
        <p:spPr>
          <a:xfrm>
            <a:off x="4800600" y="2743200"/>
            <a:ext cx="411480" cy="411480"/>
          </a:xfrm>
          <a:prstGeom prst="rect">
            <a:avLst/>
          </a:prstGeom>
          <a:noFill/>
          <a:ln/>
        </p:spPr>
        <p:txBody>
          <a:bodyPr wrap="square" lIns="0" tIns="0" rIns="0" bIns="0" rtlCol="0" anchor="ctr"/>
          <a:lstStyle/>
          <a:p>
            <a:pPr algn="ctr" indent="0" marL="0">
              <a:buNone/>
            </a:pPr>
            <a:r>
              <a:rPr lang="en-US" sz="1440" b="1" dirty="0">
                <a:solidFill>
                  <a:srgbClr val="14213D"/>
                </a:solidFill>
                <a:latin typeface="Cambria" pitchFamily="34" charset="0"/>
                <a:ea typeface="Cambria" pitchFamily="34" charset="-122"/>
                <a:cs typeface="Cambria" pitchFamily="34" charset="-120"/>
              </a:rPr>
              <a:t>4</a:t>
            </a:r>
            <a:endParaRPr lang="en-US" sz="1440" dirty="0"/>
          </a:p>
        </p:txBody>
      </p:sp>
      <p:sp>
        <p:nvSpPr>
          <p:cNvPr id="21" name="Text 19"/>
          <p:cNvSpPr txBox="1"/>
          <p:nvPr/>
        </p:nvSpPr>
        <p:spPr>
          <a:xfrm>
            <a:off x="5349240" y="2715768"/>
            <a:ext cx="3200400" cy="41148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Global alignment, local fit</a:t>
            </a:r>
            <a:endParaRPr lang="en-US" sz="1400" dirty="0"/>
          </a:p>
        </p:txBody>
      </p:sp>
      <p:sp>
        <p:nvSpPr>
          <p:cNvPr id="22" name="Text 20"/>
          <p:cNvSpPr txBox="1"/>
          <p:nvPr/>
        </p:nvSpPr>
        <p:spPr>
          <a:xfrm>
            <a:off x="4846320" y="3154680"/>
            <a:ext cx="3703320" cy="685800"/>
          </a:xfrm>
          <a:prstGeom prst="rect">
            <a:avLst/>
          </a:prstGeom>
          <a:noFill/>
          <a:ln/>
        </p:spPr>
        <p:txBody>
          <a:bodyPr wrap="square" lIns="0" tIns="0" rIns="0" bIns="0" rtlCol="0" anchor="t"/>
          <a:lstStyle/>
          <a:p>
            <a:pPr indent="0" marL="0">
              <a:buNone/>
            </a:pPr>
            <a:r>
              <a:rPr lang="en-US" sz="1150" dirty="0">
                <a:solidFill>
                  <a:srgbClr val="4A5568"/>
                </a:solidFill>
                <a:latin typeface="Calibri" pitchFamily="34" charset="0"/>
                <a:ea typeface="Calibri" pitchFamily="34" charset="-122"/>
                <a:cs typeface="Calibri" pitchFamily="34" charset="-120"/>
              </a:rPr>
              <a:t>Headquarters sets the lag measure; each country team chooses its own lead measures using local market knowledge.</a:t>
            </a:r>
            <a:endParaRPr lang="en-US" sz="1150" dirty="0"/>
          </a:p>
        </p:txBody>
      </p:sp>
      <p:sp>
        <p:nvSpPr>
          <p:cNvPr id="23" name="Shape 21"/>
          <p:cNvSpPr/>
          <p:nvPr/>
        </p:nvSpPr>
        <p:spPr>
          <a:xfrm>
            <a:off x="457200" y="4023360"/>
            <a:ext cx="8229600" cy="594360"/>
          </a:xfrm>
          <a:prstGeom prst="roundRect">
            <a:avLst>
              <a:gd name="adj" fmla="val 12308"/>
            </a:avLst>
          </a:prstGeom>
          <a:solidFill>
            <a:srgbClr val="14213D"/>
          </a:solidFill>
          <a:ln w="12700">
            <a:solidFill>
              <a:srgbClr val="14213D"/>
            </a:solidFill>
            <a:prstDash val="solid"/>
          </a:ln>
        </p:spPr>
      </p:sp>
      <p:sp>
        <p:nvSpPr>
          <p:cNvPr id="24" name="Text 22"/>
          <p:cNvSpPr txBox="1"/>
          <p:nvPr/>
        </p:nvSpPr>
        <p:spPr>
          <a:xfrm>
            <a:off x="640080" y="4023360"/>
            <a:ext cx="7863840" cy="594360"/>
          </a:xfrm>
          <a:prstGeom prst="rect">
            <a:avLst/>
          </a:prstGeom>
          <a:noFill/>
          <a:ln/>
        </p:spPr>
        <p:txBody>
          <a:bodyPr wrap="square" lIns="0" tIns="0" rIns="0" bIns="0" rtlCol="0" anchor="ctr"/>
          <a:lstStyle/>
          <a:p>
            <a:pPr indent="0" marL="0">
              <a:buNone/>
            </a:pPr>
            <a:r>
              <a:rPr lang="en-US" sz="1150" b="1" dirty="0">
                <a:solidFill>
                  <a:srgbClr val="FCA311"/>
                </a:solidFill>
                <a:latin typeface="Calibri" pitchFamily="34" charset="0"/>
                <a:ea typeface="Calibri" pitchFamily="34" charset="-122"/>
                <a:cs typeface="Calibri" pitchFamily="34" charset="-120"/>
              </a:rPr>
              <a:t>Reported results: </a:t>
            </a:r>
            <a:pPr indent="0" marL="0">
              <a:buNone/>
            </a:pPr>
            <a:r>
              <a:rPr lang="en-US" sz="1150" dirty="0">
                <a:solidFill>
                  <a:srgbClr val="FFFFFF"/>
                </a:solidFill>
                <a:latin typeface="Calibri" pitchFamily="34" charset="0"/>
                <a:ea typeface="Calibri" pitchFamily="34" charset="-122"/>
                <a:cs typeface="Calibri" pitchFamily="34" charset="-120"/>
              </a:rPr>
              <a:t>Whirlpool +USD 5.7 m incremental in the first 90 days; DeKalb Medical patient satisfaction from the 3rd to the 99th percentile (FranklinCovey, 2024). Note: vendor-reported, not independently audited.</a:t>
            </a:r>
            <a:endParaRPr lang="en-US" sz="1150" dirty="0"/>
          </a:p>
        </p:txBody>
      </p:sp>
      <p:sp>
        <p:nvSpPr>
          <p:cNvPr id="25" name="Text 23"/>
          <p:cNvSpPr txBox="1"/>
          <p:nvPr/>
        </p:nvSpPr>
        <p:spPr>
          <a:xfrm>
            <a:off x="457200" y="4754880"/>
            <a:ext cx="7680960" cy="274320"/>
          </a:xfrm>
          <a:prstGeom prst="rect">
            <a:avLst/>
          </a:prstGeom>
          <a:noFill/>
          <a:ln/>
        </p:spPr>
        <p:txBody>
          <a:bodyPr wrap="square" lIns="0" tIns="0" rIns="0" bIns="0" rtlCol="0" anchor="ctr"/>
          <a:lstStyle/>
          <a:p>
            <a:pPr indent="0" marL="0">
              <a:buNone/>
            </a:pPr>
            <a:r>
              <a:rPr lang="en-US" sz="900" dirty="0">
                <a:solidFill>
                  <a:srgbClr val="8A94A6"/>
                </a:solidFill>
                <a:latin typeface="Calibri" pitchFamily="34" charset="0"/>
                <a:ea typeface="Calibri" pitchFamily="34" charset="-122"/>
                <a:cs typeface="Calibri" pitchFamily="34" charset="-120"/>
              </a:rPr>
              <a:t>Group 3  |  4 Disciplines of Execution  |  Ch. 10 Building an Organization Capable of Good Strategy Execution</a:t>
            </a:r>
            <a:endParaRPr lang="en-US" sz="900" dirty="0"/>
          </a:p>
        </p:txBody>
      </p:sp>
      <p:sp>
        <p:nvSpPr>
          <p:cNvPr id="26" name="Text 24"/>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2200" b="1" dirty="0">
                <a:solidFill>
                  <a:srgbClr val="14213D"/>
                </a:solidFill>
                <a:latin typeface="Cambria" pitchFamily="34" charset="0"/>
                <a:ea typeface="Cambria" pitchFamily="34" charset="-122"/>
                <a:cs typeface="Cambria" pitchFamily="34" charset="-120"/>
              </a:rPr>
              <a:t>Illustration: Indonesian firm expanding to ASEAN</a:t>
            </a:r>
            <a:endParaRPr lang="en-US" sz="2200" dirty="0"/>
          </a:p>
        </p:txBody>
      </p:sp>
      <p:sp>
        <p:nvSpPr>
          <p:cNvPr id="3" name="Text 1"/>
          <p:cNvSpPr txBox="1"/>
          <p:nvPr/>
        </p:nvSpPr>
        <p:spPr>
          <a:xfrm>
            <a:off x="457200" y="1097280"/>
            <a:ext cx="8229600" cy="45720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Hypothetical example: a Jakarta-based FMCG producer entering Vietnam and the Philippines. Strategy chosen (Ch. 7); Chapter 10 asks whether the organization can execute it.</a:t>
            </a:r>
            <a:endParaRPr lang="en-US" sz="1150" dirty="0"/>
          </a:p>
        </p:txBody>
      </p:sp>
      <p:sp>
        <p:nvSpPr>
          <p:cNvPr id="4" name="Shape 2"/>
          <p:cNvSpPr/>
          <p:nvPr/>
        </p:nvSpPr>
        <p:spPr>
          <a:xfrm>
            <a:off x="457200" y="1600200"/>
            <a:ext cx="8229600" cy="658368"/>
          </a:xfrm>
          <a:prstGeom prst="roundRect">
            <a:avLst>
              <a:gd name="adj" fmla="val 8333"/>
            </a:avLst>
          </a:prstGeom>
          <a:solidFill>
            <a:srgbClr val="14213D"/>
          </a:solidFill>
          <a:ln w="12700">
            <a:solidFill>
              <a:srgbClr val="14213D"/>
            </a:solidFill>
            <a:prstDash val="solid"/>
          </a:ln>
        </p:spPr>
      </p:sp>
      <p:sp>
        <p:nvSpPr>
          <p:cNvPr id="5" name="Text 3"/>
          <p:cNvSpPr txBox="1"/>
          <p:nvPr/>
        </p:nvSpPr>
        <p:spPr>
          <a:xfrm>
            <a:off x="640080" y="1600200"/>
            <a:ext cx="2286000" cy="65836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Corporate WIG</a:t>
            </a:r>
            <a:endParaRPr lang="en-US" sz="1300" dirty="0"/>
          </a:p>
        </p:txBody>
      </p:sp>
      <p:sp>
        <p:nvSpPr>
          <p:cNvPr id="6" name="Text 4"/>
          <p:cNvSpPr txBox="1"/>
          <p:nvPr/>
        </p:nvSpPr>
        <p:spPr>
          <a:xfrm>
            <a:off x="2926080" y="1600200"/>
            <a:ext cx="5577840" cy="65836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Grow ASEAN export revenue from USD 12 m to USD 30 m by Dec 2028</a:t>
            </a:r>
            <a:endParaRPr lang="en-US" sz="1150" dirty="0"/>
          </a:p>
        </p:txBody>
      </p:sp>
      <p:sp>
        <p:nvSpPr>
          <p:cNvPr id="7" name="Shape 5"/>
          <p:cNvSpPr/>
          <p:nvPr/>
        </p:nvSpPr>
        <p:spPr>
          <a:xfrm>
            <a:off x="457200" y="2350008"/>
            <a:ext cx="8229600" cy="658368"/>
          </a:xfrm>
          <a:prstGeom prst="roundRect">
            <a:avLst>
              <a:gd name="adj" fmla="val 8333"/>
            </a:avLst>
          </a:prstGeom>
          <a:solidFill>
            <a:srgbClr val="1F2F57"/>
          </a:solidFill>
          <a:ln w="12700">
            <a:solidFill>
              <a:srgbClr val="1F2F57"/>
            </a:solidFill>
            <a:prstDash val="solid"/>
          </a:ln>
        </p:spPr>
      </p:sp>
      <p:sp>
        <p:nvSpPr>
          <p:cNvPr id="8" name="Text 6"/>
          <p:cNvSpPr txBox="1"/>
          <p:nvPr/>
        </p:nvSpPr>
        <p:spPr>
          <a:xfrm>
            <a:off x="640080" y="2350008"/>
            <a:ext cx="2286000" cy="65836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Country team WIG (Vietnam)</a:t>
            </a:r>
            <a:endParaRPr lang="en-US" sz="1300" dirty="0"/>
          </a:p>
        </p:txBody>
      </p:sp>
      <p:sp>
        <p:nvSpPr>
          <p:cNvPr id="9" name="Text 7"/>
          <p:cNvSpPr txBox="1"/>
          <p:nvPr/>
        </p:nvSpPr>
        <p:spPr>
          <a:xfrm>
            <a:off x="2926080" y="2350008"/>
            <a:ext cx="5577840" cy="65836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Lift distributor on-time delivery from 82% to 95% by Dec 2027</a:t>
            </a:r>
            <a:endParaRPr lang="en-US" sz="1150" dirty="0"/>
          </a:p>
        </p:txBody>
      </p:sp>
      <p:sp>
        <p:nvSpPr>
          <p:cNvPr id="10" name="Shape 8"/>
          <p:cNvSpPr/>
          <p:nvPr/>
        </p:nvSpPr>
        <p:spPr>
          <a:xfrm>
            <a:off x="457200" y="3099816"/>
            <a:ext cx="8229600" cy="658368"/>
          </a:xfrm>
          <a:prstGeom prst="roundRect">
            <a:avLst>
              <a:gd name="adj" fmla="val 8333"/>
            </a:avLst>
          </a:prstGeom>
          <a:solidFill>
            <a:srgbClr val="FCA311"/>
          </a:solidFill>
          <a:ln w="12700">
            <a:solidFill>
              <a:srgbClr val="FCA311"/>
            </a:solidFill>
            <a:prstDash val="solid"/>
          </a:ln>
        </p:spPr>
      </p:sp>
      <p:sp>
        <p:nvSpPr>
          <p:cNvPr id="11" name="Text 9"/>
          <p:cNvSpPr txBox="1"/>
          <p:nvPr/>
        </p:nvSpPr>
        <p:spPr>
          <a:xfrm>
            <a:off x="640080" y="3099816"/>
            <a:ext cx="2286000" cy="658368"/>
          </a:xfrm>
          <a:prstGeom prst="rect">
            <a:avLst/>
          </a:prstGeom>
          <a:noFill/>
          <a:ln/>
        </p:spPr>
        <p:txBody>
          <a:bodyPr wrap="square" lIns="0" tIns="0" rIns="0" bIns="0" rtlCol="0" anchor="ctr"/>
          <a:lstStyle/>
          <a:p>
            <a:pPr indent="0" marL="0">
              <a:buNone/>
            </a:pPr>
            <a:r>
              <a:rPr lang="en-US" sz="1300" b="1" dirty="0">
                <a:solidFill>
                  <a:srgbClr val="14213D"/>
                </a:solidFill>
                <a:latin typeface="Cambria" pitchFamily="34" charset="0"/>
                <a:ea typeface="Cambria" pitchFamily="34" charset="-122"/>
                <a:cs typeface="Cambria" pitchFamily="34" charset="-120"/>
              </a:rPr>
              <a:t>Lead measures (weekly)</a:t>
            </a:r>
            <a:endParaRPr lang="en-US" sz="1300" dirty="0"/>
          </a:p>
        </p:txBody>
      </p:sp>
      <p:sp>
        <p:nvSpPr>
          <p:cNvPr id="12" name="Text 10"/>
          <p:cNvSpPr txBox="1"/>
          <p:nvPr/>
        </p:nvSpPr>
        <p:spPr>
          <a:xfrm>
            <a:off x="2926080" y="3099816"/>
            <a:ext cx="5577840" cy="658368"/>
          </a:xfrm>
          <a:prstGeom prst="rect">
            <a:avLst/>
          </a:prstGeom>
          <a:noFill/>
          <a:ln/>
        </p:spPr>
        <p:txBody>
          <a:bodyPr wrap="square" lIns="0" tIns="0" rIns="0" bIns="0" rtlCol="0" anchor="ctr"/>
          <a:lstStyle/>
          <a:p>
            <a:pPr indent="0" marL="0">
              <a:buNone/>
            </a:pPr>
            <a:r>
              <a:rPr lang="en-US" sz="1150" dirty="0">
                <a:solidFill>
                  <a:srgbClr val="14213D"/>
                </a:solidFill>
                <a:latin typeface="Calibri" pitchFamily="34" charset="0"/>
                <a:ea typeface="Calibri" pitchFamily="34" charset="-122"/>
                <a:cs typeface="Calibri" pitchFamily="34" charset="-120"/>
              </a:rPr>
              <a:t>% of orders confirmed to forwarder within 24 h  •  Number of distributor visits by sales reps  •  Customs documents error-free on first submission</a:t>
            </a:r>
            <a:endParaRPr lang="en-US" sz="1150" dirty="0"/>
          </a:p>
        </p:txBody>
      </p:sp>
      <p:sp>
        <p:nvSpPr>
          <p:cNvPr id="13" name="Shape 11"/>
          <p:cNvSpPr/>
          <p:nvPr/>
        </p:nvSpPr>
        <p:spPr>
          <a:xfrm>
            <a:off x="457200" y="3849624"/>
            <a:ext cx="8229600" cy="658368"/>
          </a:xfrm>
          <a:prstGeom prst="roundRect">
            <a:avLst>
              <a:gd name="adj" fmla="val 8333"/>
            </a:avLst>
          </a:prstGeom>
          <a:solidFill>
            <a:srgbClr val="EEF1F6"/>
          </a:solidFill>
          <a:ln w="12700">
            <a:solidFill>
              <a:srgbClr val="EEF1F6"/>
            </a:solidFill>
            <a:prstDash val="solid"/>
          </a:ln>
        </p:spPr>
      </p:sp>
      <p:sp>
        <p:nvSpPr>
          <p:cNvPr id="14" name="Text 12"/>
          <p:cNvSpPr txBox="1"/>
          <p:nvPr/>
        </p:nvSpPr>
        <p:spPr>
          <a:xfrm>
            <a:off x="640080" y="3849624"/>
            <a:ext cx="2286000" cy="658368"/>
          </a:xfrm>
          <a:prstGeom prst="rect">
            <a:avLst/>
          </a:prstGeom>
          <a:noFill/>
          <a:ln/>
        </p:spPr>
        <p:txBody>
          <a:bodyPr wrap="square" lIns="0" tIns="0" rIns="0" bIns="0" rtlCol="0" anchor="ctr"/>
          <a:lstStyle/>
          <a:p>
            <a:pPr indent="0" marL="0">
              <a:buNone/>
            </a:pPr>
            <a:r>
              <a:rPr lang="en-US" sz="1300" b="1" dirty="0">
                <a:solidFill>
                  <a:srgbClr val="14213D"/>
                </a:solidFill>
                <a:latin typeface="Cambria" pitchFamily="34" charset="0"/>
                <a:ea typeface="Cambria" pitchFamily="34" charset="-122"/>
                <a:cs typeface="Cambria" pitchFamily="34" charset="-120"/>
              </a:rPr>
              <a:t>Scoreboard + WIG session</a:t>
            </a:r>
            <a:endParaRPr lang="en-US" sz="1300" dirty="0"/>
          </a:p>
        </p:txBody>
      </p:sp>
      <p:sp>
        <p:nvSpPr>
          <p:cNvPr id="15" name="Text 13"/>
          <p:cNvSpPr txBox="1"/>
          <p:nvPr/>
        </p:nvSpPr>
        <p:spPr>
          <a:xfrm>
            <a:off x="2926080" y="3849624"/>
            <a:ext cx="5577840" cy="658368"/>
          </a:xfrm>
          <a:prstGeom prst="rect">
            <a:avLst/>
          </a:prstGeom>
          <a:noFill/>
          <a:ln/>
        </p:spPr>
        <p:txBody>
          <a:bodyPr wrap="square" lIns="0" tIns="0" rIns="0" bIns="0" rtlCol="0" anchor="ctr"/>
          <a:lstStyle/>
          <a:p>
            <a:pPr indent="0" marL="0">
              <a:buNone/>
            </a:pPr>
            <a:r>
              <a:rPr lang="en-US" sz="1150" dirty="0">
                <a:solidFill>
                  <a:srgbClr val="14213D"/>
                </a:solidFill>
                <a:latin typeface="Calibri" pitchFamily="34" charset="0"/>
                <a:ea typeface="Calibri" pitchFamily="34" charset="-122"/>
                <a:cs typeface="Calibri" pitchFamily="34" charset="-120"/>
              </a:rPr>
              <a:t>One shared board per country team; 20-minute Monday call across Jakarta, Ho Chi Minh City and Manila</a:t>
            </a:r>
            <a:endParaRPr lang="en-US" sz="1150" dirty="0"/>
          </a:p>
        </p:txBody>
      </p:sp>
      <p:sp>
        <p:nvSpPr>
          <p:cNvPr id="16" name="Text 14"/>
          <p:cNvSpPr txBox="1"/>
          <p:nvPr/>
        </p:nvSpPr>
        <p:spPr>
          <a:xfrm>
            <a:off x="457200" y="4754880"/>
            <a:ext cx="7680960" cy="274320"/>
          </a:xfrm>
          <a:prstGeom prst="rect">
            <a:avLst/>
          </a:prstGeom>
          <a:noFill/>
          <a:ln/>
        </p:spPr>
        <p:txBody>
          <a:bodyPr wrap="square" lIns="0" tIns="0" rIns="0" bIns="0" rtlCol="0" anchor="ctr"/>
          <a:lstStyle/>
          <a:p>
            <a:pPr indent="0" marL="0">
              <a:buNone/>
            </a:pPr>
            <a:r>
              <a:rPr lang="en-US" sz="900" dirty="0">
                <a:solidFill>
                  <a:srgbClr val="8A94A6"/>
                </a:solidFill>
                <a:latin typeface="Calibri" pitchFamily="34" charset="0"/>
                <a:ea typeface="Calibri" pitchFamily="34" charset="-122"/>
                <a:cs typeface="Calibri" pitchFamily="34" charset="-120"/>
              </a:rPr>
              <a:t>Group 3  |  4 Disciplines of Execution  |  Ch. 10 Building an Organization Capable of Good Strategy Execution</a:t>
            </a:r>
            <a:endParaRPr lang="en-US" sz="900" dirty="0"/>
          </a:p>
        </p:txBody>
      </p:sp>
      <p:sp>
        <p:nvSpPr>
          <p:cNvPr id="17" name="Text 15"/>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Critical assessment of 4DX</a:t>
            </a:r>
            <a:endParaRPr lang="en-US" sz="3000" dirty="0"/>
          </a:p>
        </p:txBody>
      </p:sp>
      <p:sp>
        <p:nvSpPr>
          <p:cNvPr id="3" name="Shape 1"/>
          <p:cNvSpPr/>
          <p:nvPr/>
        </p:nvSpPr>
        <p:spPr>
          <a:xfrm>
            <a:off x="457200" y="1188720"/>
            <a:ext cx="4023360" cy="3429000"/>
          </a:xfrm>
          <a:prstGeom prst="roundRect">
            <a:avLst>
              <a:gd name="adj" fmla="val 2133"/>
            </a:avLst>
          </a:prstGeom>
          <a:solidFill>
            <a:srgbClr val="EEF1F6"/>
          </a:solidFill>
          <a:ln w="12700">
            <a:solidFill>
              <a:srgbClr val="EEF1F6"/>
            </a:solidFill>
            <a:prstDash val="solid"/>
          </a:ln>
        </p:spPr>
      </p:sp>
      <p:sp>
        <p:nvSpPr>
          <p:cNvPr id="4" name="Text 2"/>
          <p:cNvSpPr txBox="1"/>
          <p:nvPr/>
        </p:nvSpPr>
        <p:spPr>
          <a:xfrm>
            <a:off x="685800" y="1280160"/>
            <a:ext cx="3566160" cy="411480"/>
          </a:xfrm>
          <a:prstGeom prst="rect">
            <a:avLst/>
          </a:prstGeom>
          <a:noFill/>
          <a:ln/>
        </p:spPr>
        <p:txBody>
          <a:bodyPr wrap="square" lIns="0" tIns="0" rIns="0" bIns="0" rtlCol="0" anchor="ctr"/>
          <a:lstStyle/>
          <a:p>
            <a:pPr indent="0" marL="0">
              <a:buNone/>
            </a:pPr>
            <a:r>
              <a:rPr lang="en-US" sz="1800" b="1" dirty="0">
                <a:solidFill>
                  <a:srgbClr val="2E7D32"/>
                </a:solidFill>
                <a:latin typeface="Cambria" pitchFamily="34" charset="0"/>
                <a:ea typeface="Cambria" pitchFamily="34" charset="-122"/>
                <a:cs typeface="Cambria" pitchFamily="34" charset="-120"/>
              </a:rPr>
              <a:t>Strengths</a:t>
            </a:r>
            <a:endParaRPr lang="en-US" sz="1800" dirty="0"/>
          </a:p>
        </p:txBody>
      </p:sp>
      <p:sp>
        <p:nvSpPr>
          <p:cNvPr id="5" name="Text 3"/>
          <p:cNvSpPr txBox="1"/>
          <p:nvPr/>
        </p:nvSpPr>
        <p:spPr>
          <a:xfrm>
            <a:off x="685800" y="1783080"/>
            <a:ext cx="3566160" cy="274320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4A5568"/>
                </a:solidFill>
                <a:latin typeface="Calibri" pitchFamily="34" charset="0"/>
                <a:ea typeface="Calibri" pitchFamily="34" charset="-122"/>
                <a:cs typeface="Calibri" pitchFamily="34" charset="-120"/>
              </a:rPr>
              <a:t>Simple, teachable, works at frontline level</a:t>
            </a:r>
            <a:endParaRPr lang="en-US" sz="1250" dirty="0"/>
          </a:p>
          <a:p>
            <a:pPr marL="177800" indent="-177800">
              <a:spcAft>
                <a:spcPts val="600"/>
              </a:spcAft>
              <a:buSzPct val="100000"/>
              <a:buChar char="•"/>
            </a:pPr>
            <a:r>
              <a:rPr lang="en-US" sz="1250" dirty="0">
                <a:solidFill>
                  <a:srgbClr val="4A5568"/>
                </a:solidFill>
                <a:latin typeface="Calibri" pitchFamily="34" charset="0"/>
                <a:ea typeface="Calibri" pitchFamily="34" charset="-122"/>
                <a:cs typeface="Calibri" pitchFamily="34" charset="-120"/>
              </a:rPr>
              <a:t>Solves the ‘whirlwind’ problem that most planning tools ignore</a:t>
            </a:r>
            <a:endParaRPr lang="en-US" sz="1250" dirty="0"/>
          </a:p>
          <a:p>
            <a:pPr marL="177800" indent="-177800">
              <a:spcAft>
                <a:spcPts val="600"/>
              </a:spcAft>
              <a:buSzPct val="100000"/>
              <a:buChar char="•"/>
            </a:pPr>
            <a:r>
              <a:rPr lang="en-US" sz="1250" dirty="0">
                <a:solidFill>
                  <a:srgbClr val="4A5568"/>
                </a:solidFill>
                <a:latin typeface="Calibri" pitchFamily="34" charset="0"/>
                <a:ea typeface="Calibri" pitchFamily="34" charset="-122"/>
                <a:cs typeface="Calibri" pitchFamily="34" charset="-120"/>
              </a:rPr>
              <a:t>Builds execution capability, the hardest-to-copy advantage (Ch. 10, p. 308)</a:t>
            </a:r>
            <a:endParaRPr lang="en-US" sz="1250" dirty="0"/>
          </a:p>
          <a:p>
            <a:pPr marL="177800" indent="-177800">
              <a:spcAft>
                <a:spcPts val="600"/>
              </a:spcAft>
              <a:buSzPct val="100000"/>
              <a:buChar char="•"/>
            </a:pPr>
            <a:r>
              <a:rPr lang="en-US" sz="1250" dirty="0">
                <a:solidFill>
                  <a:srgbClr val="4A5568"/>
                </a:solidFill>
                <a:latin typeface="Calibri" pitchFamily="34" charset="0"/>
                <a:ea typeface="Calibri" pitchFamily="34" charset="-122"/>
                <a:cs typeface="Calibri" pitchFamily="34" charset="-120"/>
              </a:rPr>
              <a:t>Compatible with OKR, Balanced Scorecard and Hoshin Kanri as the weekly engine</a:t>
            </a:r>
            <a:endParaRPr lang="en-US" sz="1250" dirty="0"/>
          </a:p>
        </p:txBody>
      </p:sp>
      <p:sp>
        <p:nvSpPr>
          <p:cNvPr id="6" name="Shape 4"/>
          <p:cNvSpPr/>
          <p:nvPr/>
        </p:nvSpPr>
        <p:spPr>
          <a:xfrm>
            <a:off x="4663440" y="1188720"/>
            <a:ext cx="4023360" cy="3429000"/>
          </a:xfrm>
          <a:prstGeom prst="roundRect">
            <a:avLst>
              <a:gd name="adj" fmla="val 2133"/>
            </a:avLst>
          </a:prstGeom>
          <a:solidFill>
            <a:srgbClr val="14213D"/>
          </a:solidFill>
          <a:ln w="12700">
            <a:solidFill>
              <a:srgbClr val="14213D"/>
            </a:solidFill>
            <a:prstDash val="solid"/>
          </a:ln>
        </p:spPr>
      </p:sp>
      <p:sp>
        <p:nvSpPr>
          <p:cNvPr id="7" name="Text 5"/>
          <p:cNvSpPr txBox="1"/>
          <p:nvPr/>
        </p:nvSpPr>
        <p:spPr>
          <a:xfrm>
            <a:off x="4892040" y="1280160"/>
            <a:ext cx="3566160" cy="411480"/>
          </a:xfrm>
          <a:prstGeom prst="rect">
            <a:avLst/>
          </a:prstGeom>
          <a:noFill/>
          <a:ln/>
        </p:spPr>
        <p:txBody>
          <a:bodyPr wrap="square" lIns="0" tIns="0" rIns="0" bIns="0" rtlCol="0" anchor="ctr"/>
          <a:lstStyle/>
          <a:p>
            <a:pPr indent="0" marL="0">
              <a:buNone/>
            </a:pPr>
            <a:r>
              <a:rPr lang="en-US" sz="1800" b="1" dirty="0">
                <a:solidFill>
                  <a:srgbClr val="FCA311"/>
                </a:solidFill>
                <a:latin typeface="Cambria" pitchFamily="34" charset="0"/>
                <a:ea typeface="Cambria" pitchFamily="34" charset="-122"/>
                <a:cs typeface="Cambria" pitchFamily="34" charset="-120"/>
              </a:rPr>
              <a:t>Limitations</a:t>
            </a:r>
            <a:endParaRPr lang="en-US" sz="1800" dirty="0"/>
          </a:p>
        </p:txBody>
      </p:sp>
      <p:sp>
        <p:nvSpPr>
          <p:cNvPr id="8" name="Text 6"/>
          <p:cNvSpPr txBox="1"/>
          <p:nvPr/>
        </p:nvSpPr>
        <p:spPr>
          <a:xfrm>
            <a:off x="4892040" y="1783080"/>
            <a:ext cx="3566160" cy="278892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DCE2EE"/>
                </a:solidFill>
                <a:latin typeface="Calibri" pitchFamily="34" charset="0"/>
                <a:ea typeface="Calibri" pitchFamily="34" charset="-122"/>
                <a:cs typeface="Calibri" pitchFamily="34" charset="-120"/>
              </a:rPr>
              <a:t>Silent on strategy content: it executes a poor strategy just as faithfully</a:t>
            </a:r>
            <a:endParaRPr lang="en-US" sz="1200" dirty="0"/>
          </a:p>
          <a:p>
            <a:pPr marL="177800" indent="-177800">
              <a:spcAft>
                <a:spcPts val="500"/>
              </a:spcAft>
              <a:buSzPct val="100000"/>
              <a:buChar char="•"/>
            </a:pPr>
            <a:r>
              <a:rPr lang="en-US" sz="1200" dirty="0">
                <a:solidFill>
                  <a:srgbClr val="DCE2EE"/>
                </a:solidFill>
                <a:latin typeface="Calibri" pitchFamily="34" charset="0"/>
                <a:ea typeface="Calibri" pitchFamily="34" charset="-122"/>
                <a:cs typeface="Calibri" pitchFamily="34" charset="-120"/>
              </a:rPr>
              <a:t>Evidence base is mostly vendor case studies, not independent research</a:t>
            </a:r>
            <a:endParaRPr lang="en-US" sz="1200" dirty="0"/>
          </a:p>
          <a:p>
            <a:pPr marL="177800" indent="-177800">
              <a:spcAft>
                <a:spcPts val="500"/>
              </a:spcAft>
              <a:buSzPct val="100000"/>
              <a:buChar char="•"/>
            </a:pPr>
            <a:r>
              <a:rPr lang="en-US" sz="1200" dirty="0">
                <a:solidFill>
                  <a:srgbClr val="DCE2EE"/>
                </a:solidFill>
                <a:latin typeface="Calibri" pitchFamily="34" charset="0"/>
                <a:ea typeface="Calibri" pitchFamily="34" charset="-122"/>
                <a:cs typeface="Calibri" pitchFamily="34" charset="-120"/>
              </a:rPr>
              <a:t>Weekly cadence can decay into ritual reporting</a:t>
            </a:r>
            <a:endParaRPr lang="en-US" sz="1200" dirty="0"/>
          </a:p>
          <a:p>
            <a:pPr marL="177800" indent="-177800">
              <a:spcAft>
                <a:spcPts val="500"/>
              </a:spcAft>
              <a:buSzPct val="100000"/>
              <a:buChar char="•"/>
            </a:pPr>
            <a:r>
              <a:rPr lang="en-US" sz="1200" dirty="0">
                <a:solidFill>
                  <a:srgbClr val="DCE2EE"/>
                </a:solidFill>
                <a:latin typeface="Calibri" pitchFamily="34" charset="0"/>
                <a:ea typeface="Calibri" pitchFamily="34" charset="-122"/>
                <a:cs typeface="Calibri" pitchFamily="34" charset="-120"/>
              </a:rPr>
              <a:t>In high power-distance cultures (incl. Indonesia), admitting missed commitments in public needs psychological safety</a:t>
            </a:r>
            <a:endParaRPr lang="en-US" sz="1200" dirty="0"/>
          </a:p>
          <a:p>
            <a:pPr marL="177800" indent="-177800">
              <a:spcAft>
                <a:spcPts val="500"/>
              </a:spcAft>
              <a:buSzPct val="100000"/>
              <a:buChar char="•"/>
            </a:pPr>
            <a:r>
              <a:rPr lang="en-US" sz="1200" dirty="0">
                <a:solidFill>
                  <a:srgbClr val="DCE2EE"/>
                </a:solidFill>
                <a:latin typeface="Calibri" pitchFamily="34" charset="0"/>
                <a:ea typeface="Calibri" pitchFamily="34" charset="-122"/>
                <a:cs typeface="Calibri" pitchFamily="34" charset="-120"/>
              </a:rPr>
              <a:t>WIGs must be re-set when the environment shifts (Ch. 3), or discipline serves an outdated goal</a:t>
            </a:r>
            <a:endParaRPr lang="en-US" sz="1200" dirty="0"/>
          </a:p>
        </p:txBody>
      </p:sp>
      <p:sp>
        <p:nvSpPr>
          <p:cNvPr id="9" name="Text 7"/>
          <p:cNvSpPr txBox="1"/>
          <p:nvPr/>
        </p:nvSpPr>
        <p:spPr>
          <a:xfrm>
            <a:off x="457200" y="4754880"/>
            <a:ext cx="7680960" cy="274320"/>
          </a:xfrm>
          <a:prstGeom prst="rect">
            <a:avLst/>
          </a:prstGeom>
          <a:noFill/>
          <a:ln/>
        </p:spPr>
        <p:txBody>
          <a:bodyPr wrap="square" lIns="0" tIns="0" rIns="0" bIns="0" rtlCol="0" anchor="ctr"/>
          <a:lstStyle/>
          <a:p>
            <a:pPr indent="0" marL="0">
              <a:buNone/>
            </a:pPr>
            <a:r>
              <a:rPr lang="en-US" sz="900" dirty="0">
                <a:solidFill>
                  <a:srgbClr val="8A94A6"/>
                </a:solidFill>
                <a:latin typeface="Calibri" pitchFamily="34" charset="0"/>
                <a:ea typeface="Calibri" pitchFamily="34" charset="-122"/>
                <a:cs typeface="Calibri" pitchFamily="34" charset="-120"/>
              </a:rPr>
              <a:t>Group 3  |  4 Disciplines of Execution  |  Ch. 10 Building an Organization Capable of Good Strategy Execution</a:t>
            </a:r>
            <a:endParaRPr lang="en-US" sz="900" dirty="0"/>
          </a:p>
        </p:txBody>
      </p:sp>
      <p:sp>
        <p:nvSpPr>
          <p:cNvPr id="10" name="Text 8"/>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Key takeaways</a:t>
            </a:r>
            <a:endParaRPr lang="en-US" sz="3000" dirty="0"/>
          </a:p>
        </p:txBody>
      </p:sp>
      <p:sp>
        <p:nvSpPr>
          <p:cNvPr id="3" name="Shape 1"/>
          <p:cNvSpPr/>
          <p:nvPr/>
        </p:nvSpPr>
        <p:spPr>
          <a:xfrm>
            <a:off x="457200" y="1188720"/>
            <a:ext cx="457200" cy="457200"/>
          </a:xfrm>
          <a:prstGeom prst="ellipse">
            <a:avLst/>
          </a:prstGeom>
          <a:solidFill>
            <a:srgbClr val="FCA311"/>
          </a:solidFill>
          <a:ln w="12700">
            <a:solidFill>
              <a:srgbClr val="FCA311"/>
            </a:solidFill>
            <a:prstDash val="solid"/>
          </a:ln>
        </p:spPr>
      </p:sp>
      <p:sp>
        <p:nvSpPr>
          <p:cNvPr id="4" name="Text 2"/>
          <p:cNvSpPr txBox="1"/>
          <p:nvPr/>
        </p:nvSpPr>
        <p:spPr>
          <a:xfrm>
            <a:off x="457200" y="1188720"/>
            <a:ext cx="45720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097280" y="1188720"/>
            <a:ext cx="758952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Execution, not strategy, is the number-one management challenge (Ch. 10, p. 295).</a:t>
            </a:r>
            <a:endParaRPr lang="en-US" sz="1400" dirty="0"/>
          </a:p>
        </p:txBody>
      </p:sp>
      <p:sp>
        <p:nvSpPr>
          <p:cNvPr id="6" name="Shape 4"/>
          <p:cNvSpPr/>
          <p:nvPr/>
        </p:nvSpPr>
        <p:spPr>
          <a:xfrm>
            <a:off x="457200" y="1847088"/>
            <a:ext cx="457200" cy="457200"/>
          </a:xfrm>
          <a:prstGeom prst="ellipse">
            <a:avLst/>
          </a:prstGeom>
          <a:solidFill>
            <a:srgbClr val="FCA311"/>
          </a:solidFill>
          <a:ln w="12700">
            <a:solidFill>
              <a:srgbClr val="FCA311"/>
            </a:solidFill>
            <a:prstDash val="solid"/>
          </a:ln>
        </p:spPr>
      </p:sp>
      <p:sp>
        <p:nvSpPr>
          <p:cNvPr id="7" name="Text 5"/>
          <p:cNvSpPr txBox="1"/>
          <p:nvPr/>
        </p:nvSpPr>
        <p:spPr>
          <a:xfrm>
            <a:off x="457200" y="1847088"/>
            <a:ext cx="45720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ambria" pitchFamily="34" charset="0"/>
                <a:ea typeface="Cambria" pitchFamily="34" charset="-122"/>
                <a:cs typeface="Cambria" pitchFamily="34" charset="-120"/>
              </a:rPr>
              <a:t>2</a:t>
            </a:r>
            <a:endParaRPr lang="en-US" sz="1600" dirty="0"/>
          </a:p>
        </p:txBody>
      </p:sp>
      <p:sp>
        <p:nvSpPr>
          <p:cNvPr id="8" name="Text 6"/>
          <p:cNvSpPr txBox="1"/>
          <p:nvPr/>
        </p:nvSpPr>
        <p:spPr>
          <a:xfrm>
            <a:off x="1097280" y="1847088"/>
            <a:ext cx="758952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Chapter 10 builds the organization: people, capabilities, structure. 4DX makes that organization act, week by week.</a:t>
            </a:r>
            <a:endParaRPr lang="en-US" sz="1400" dirty="0"/>
          </a:p>
        </p:txBody>
      </p:sp>
      <p:sp>
        <p:nvSpPr>
          <p:cNvPr id="9" name="Shape 7"/>
          <p:cNvSpPr/>
          <p:nvPr/>
        </p:nvSpPr>
        <p:spPr>
          <a:xfrm>
            <a:off x="457200" y="2505456"/>
            <a:ext cx="457200" cy="457200"/>
          </a:xfrm>
          <a:prstGeom prst="ellipse">
            <a:avLst/>
          </a:prstGeom>
          <a:solidFill>
            <a:srgbClr val="FCA311"/>
          </a:solidFill>
          <a:ln w="12700">
            <a:solidFill>
              <a:srgbClr val="FCA311"/>
            </a:solidFill>
            <a:prstDash val="solid"/>
          </a:ln>
        </p:spPr>
      </p:sp>
      <p:sp>
        <p:nvSpPr>
          <p:cNvPr id="10" name="Text 8"/>
          <p:cNvSpPr txBox="1"/>
          <p:nvPr/>
        </p:nvSpPr>
        <p:spPr>
          <a:xfrm>
            <a:off x="457200" y="2505456"/>
            <a:ext cx="45720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ambria" pitchFamily="34" charset="0"/>
                <a:ea typeface="Cambria" pitchFamily="34" charset="-122"/>
                <a:cs typeface="Cambria" pitchFamily="34" charset="-120"/>
              </a:rPr>
              <a:t>3</a:t>
            </a:r>
            <a:endParaRPr lang="en-US" sz="1600" dirty="0"/>
          </a:p>
        </p:txBody>
      </p:sp>
      <p:sp>
        <p:nvSpPr>
          <p:cNvPr id="11" name="Text 9"/>
          <p:cNvSpPr txBox="1"/>
          <p:nvPr/>
        </p:nvSpPr>
        <p:spPr>
          <a:xfrm>
            <a:off x="1097280" y="2505456"/>
            <a:ext cx="758952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Four dimensions, each with a measurable discipline: WIG, lead measures, scoreboard, cadence.</a:t>
            </a:r>
            <a:endParaRPr lang="en-US" sz="1400" dirty="0"/>
          </a:p>
        </p:txBody>
      </p:sp>
      <p:sp>
        <p:nvSpPr>
          <p:cNvPr id="12" name="Shape 10"/>
          <p:cNvSpPr/>
          <p:nvPr/>
        </p:nvSpPr>
        <p:spPr>
          <a:xfrm>
            <a:off x="457200" y="3163824"/>
            <a:ext cx="457200" cy="457200"/>
          </a:xfrm>
          <a:prstGeom prst="ellipse">
            <a:avLst/>
          </a:prstGeom>
          <a:solidFill>
            <a:srgbClr val="FCA311"/>
          </a:solidFill>
          <a:ln w="12700">
            <a:solidFill>
              <a:srgbClr val="FCA311"/>
            </a:solidFill>
            <a:prstDash val="solid"/>
          </a:ln>
        </p:spPr>
      </p:sp>
      <p:sp>
        <p:nvSpPr>
          <p:cNvPr id="13" name="Text 11"/>
          <p:cNvSpPr txBox="1"/>
          <p:nvPr/>
        </p:nvSpPr>
        <p:spPr>
          <a:xfrm>
            <a:off x="457200" y="3163824"/>
            <a:ext cx="45720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097280" y="3163824"/>
            <a:ext cx="758952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For international firms: focus, a common language, remote accountability, and local adaptation within global alignment.</a:t>
            </a:r>
            <a:endParaRPr lang="en-US" sz="1400" dirty="0"/>
          </a:p>
        </p:txBody>
      </p:sp>
      <p:sp>
        <p:nvSpPr>
          <p:cNvPr id="15" name="Text 13"/>
          <p:cNvSpPr txBox="1"/>
          <p:nvPr/>
        </p:nvSpPr>
        <p:spPr>
          <a:xfrm>
            <a:off x="457200" y="3840480"/>
            <a:ext cx="8229600" cy="274320"/>
          </a:xfrm>
          <a:prstGeom prst="rect">
            <a:avLst/>
          </a:prstGeom>
          <a:noFill/>
          <a:ln/>
        </p:spPr>
        <p:txBody>
          <a:bodyPr wrap="square" lIns="0" tIns="0" rIns="0" bIns="0" rtlCol="0" anchor="ctr"/>
          <a:lstStyle/>
          <a:p>
            <a:pPr indent="0" marL="0">
              <a:buNone/>
            </a:pPr>
            <a:r>
              <a:rPr lang="en-US" sz="1100" b="1" dirty="0">
                <a:solidFill>
                  <a:srgbClr val="FCA311"/>
                </a:solidFill>
                <a:latin typeface="Calibri" pitchFamily="34" charset="0"/>
                <a:ea typeface="Calibri" pitchFamily="34" charset="-122"/>
                <a:cs typeface="Calibri" pitchFamily="34" charset="-120"/>
              </a:rPr>
              <a:t>References</a:t>
            </a:r>
            <a:endParaRPr lang="en-US" sz="1100" dirty="0"/>
          </a:p>
        </p:txBody>
      </p:sp>
      <p:sp>
        <p:nvSpPr>
          <p:cNvPr id="16" name="Text 14"/>
          <p:cNvSpPr txBox="1"/>
          <p:nvPr/>
        </p:nvSpPr>
        <p:spPr>
          <a:xfrm>
            <a:off x="457200" y="4069080"/>
            <a:ext cx="8229600" cy="685800"/>
          </a:xfrm>
          <a:prstGeom prst="rect">
            <a:avLst/>
          </a:prstGeom>
          <a:noFill/>
          <a:ln/>
        </p:spPr>
        <p:txBody>
          <a:bodyPr wrap="square" lIns="0" tIns="0" rIns="0" bIns="0" rtlCol="0" anchor="t"/>
          <a:lstStyle/>
          <a:p>
            <a:pPr indent="0" marL="0">
              <a:buNone/>
            </a:pPr>
            <a:r>
              <a:rPr lang="en-US" sz="950" dirty="0">
                <a:solidFill>
                  <a:srgbClr val="CBD3E3"/>
                </a:solidFill>
                <a:latin typeface="Calibri" pitchFamily="34" charset="0"/>
                <a:ea typeface="Calibri" pitchFamily="34" charset="-122"/>
                <a:cs typeface="Calibri" pitchFamily="34" charset="-120"/>
              </a:rPr>
              <a:t>FranklinCovey. (2024). The 4 Disciplines of Execution®. https://www.franklincovey.com/the-4-disciplines/</a:t>
            </a:r>
            <a:endParaRPr lang="en-US" sz="950" dirty="0"/>
          </a:p>
          <a:p>
            <a:pPr indent="0" marL="0">
              <a:buNone/>
            </a:pPr>
            <a:r>
              <a:rPr lang="en-US" sz="950" dirty="0">
                <a:solidFill>
                  <a:srgbClr val="CBD3E3"/>
                </a:solidFill>
                <a:latin typeface="Calibri" pitchFamily="34" charset="0"/>
                <a:ea typeface="Calibri" pitchFamily="34" charset="-122"/>
                <a:cs typeface="Calibri" pitchFamily="34" charset="-120"/>
              </a:rPr>
              <a:t>McChesney, C., Covey, S., &amp; Huling, J. (2012). The 4 Disciplines of Execution: Achieving Your Wildly Important Goals. New York: Free Press.</a:t>
            </a:r>
            <a:endParaRPr lang="en-US" sz="950" dirty="0"/>
          </a:p>
          <a:p>
            <a:pPr indent="0" marL="0">
              <a:buNone/>
            </a:pPr>
            <a:r>
              <a:rPr lang="en-US" sz="950" dirty="0">
                <a:solidFill>
                  <a:srgbClr val="CBD3E3"/>
                </a:solidFill>
                <a:latin typeface="Calibri" pitchFamily="34" charset="0"/>
                <a:ea typeface="Calibri" pitchFamily="34" charset="-122"/>
                <a:cs typeface="Calibri" pitchFamily="34" charset="-120"/>
              </a:rPr>
              <a:t>Thompson, A. A., Peteraf, M. A., Gamble, J. E., &amp; Strickland, A. J. (2024). Crafting &amp; Executing Strategy: The Quest for Competitive Advantage (2024 Release), Ch. 10, pp. 294–325. McGraw Hill.</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SMJKT_Group 3_Framework Presentation: 4DX</dc:title>
  <dc:subject>PptxGenJS Presentation</dc:subject>
  <dc:creator>Group 3</dc:creator>
  <cp:lastModifiedBy>Group 3</cp:lastModifiedBy>
  <cp:revision>1</cp:revision>
  <dcterms:created xsi:type="dcterms:W3CDTF">2026-09-12T10:20:58Z</dcterms:created>
  <dcterms:modified xsi:type="dcterms:W3CDTF">2026-09-12T10:20:58Z</dcterms:modified>
</cp:coreProperties>
</file>