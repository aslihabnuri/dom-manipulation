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1B1B1B"/>
                </a:solidFill>
                <a:latin typeface="Manrope"/>
              </a:defRPr>
            </a:pPr>
            <a:r>
              <a:rPr sz="1800" b="0" i="0" u="none" strike="noStrike">
                <a:solidFill>
                  <a:srgbClr val="1B1B1B"/>
                </a:solidFill>
                <a:latin typeface="Manrope"/>
              </a:rPr>
              <a:t>Sen ringgit per available seat kilometer, 2008</a:t>
            </a:r>
          </a:p>
        </c:rich>
      </c:tx>
      <c:layout/>
      <c:overlay val="0"/>
    </c:title>
    <c:autoTitleDeleted val="0"/>
    <c:plotArea>
      <c:layout/>
      <c:barChart>
        <c:barDir val="col"/>
        <c:grouping val="clustered"/>
        <c:varyColors val="0"/>
        <c:ser>
          <c:idx val="0"/>
          <c:order val="0"/>
          <c:tx>
            <c:strRef>
              <c:f>Sheet1!$B$1</c:f>
              <c:strCache>
                <c:ptCount val="1"/>
                <c:pt idx="0">
                  <c:v>AirAsia</c:v>
                </c:pt>
              </c:strCache>
            </c:strRef>
          </c:tx>
          <c:spPr>
            <a:solidFill>
              <a:srgbClr val="E63E2C"/>
            </a:solidFill>
            <a:effectLst/>
          </c:spPr>
          <c:invertIfNegative val="0"/>
          <c:dLbls>
            <c:numFmt formatCode="0.00" sourceLinked="0"/>
            <c:txPr>
              <a:bodyPr/>
              <a:lstStyle/>
              <a:p>
                <a:pPr>
                  <a:defRPr b="0" i="0" strike="noStrike" sz="1600" u="none">
                    <a:solidFill>
                      <a:srgbClr val="1B1B1B"/>
                    </a:solidFill>
                    <a:latin typeface="Manrope"/>
                  </a:defRPr>
                </a:pPr>
              </a:p>
            </c:txPr>
            <c:showLegendKey val="0"/>
            <c:showVal val="1"/>
            <c:showCatName val="0"/>
            <c:showSerName val="0"/>
            <c:showPercent val="0"/>
            <c:showBubbleSize val="0"/>
            <c:showLeaderLines val="0"/>
          </c:dLbls>
          <c:cat>
            <c:multiLvlStrRef>
              <c:f>Sheet1!$A$2:$A$3</c:f>
              <c:multiLvlStrCache>
                <c:ptCount val="2"/>
                <c:lvl>
                  <c:pt idx="0">
                    <c:v>Biaya per ASK</c:v>
                  </c:pt>
                  <c:pt idx="1">
                    <c:v>Pendapatan per ASK</c:v>
                  </c:pt>
                </c:lvl>
              </c:multiLvlStrCache>
            </c:multiLvlStrRef>
          </c:cat>
          <c:val>
            <c:numRef>
              <c:f>Sheet1!$B$2:$B$3</c:f>
              <c:numCache>
                <c:formatCode>General</c:formatCode>
                <c:ptCount val="2"/>
                <c:pt idx="0">
                  <c:v>11.66</c:v>
                </c:pt>
                <c:pt idx="1">
                  <c:v>14.11</c:v>
                </c:pt>
              </c:numCache>
            </c:numRef>
          </c:val>
        </c:ser>
        <c:ser>
          <c:idx val="1"/>
          <c:order val="1"/>
          <c:tx>
            <c:strRef>
              <c:f>Sheet1!$C$1</c:f>
              <c:strCache>
                <c:ptCount val="1"/>
                <c:pt idx="0">
                  <c:v>Malaysia Airlines</c:v>
                </c:pt>
              </c:strCache>
            </c:strRef>
          </c:tx>
          <c:spPr>
            <a:solidFill>
              <a:srgbClr val="2C7BB8"/>
            </a:solidFill>
            <a:effectLst/>
          </c:spPr>
          <c:invertIfNegative val="0"/>
          <c:dLbls>
            <c:numFmt formatCode="0.00" sourceLinked="0"/>
            <c:txPr>
              <a:bodyPr/>
              <a:lstStyle/>
              <a:p>
                <a:pPr>
                  <a:defRPr b="0" i="0" strike="noStrike" sz="1600" u="none">
                    <a:solidFill>
                      <a:srgbClr val="1B1B1B"/>
                    </a:solidFill>
                    <a:latin typeface="Manrope"/>
                  </a:defRPr>
                </a:pPr>
              </a:p>
            </c:txPr>
            <c:showLegendKey val="0"/>
            <c:showVal val="1"/>
            <c:showCatName val="0"/>
            <c:showSerName val="0"/>
            <c:showPercent val="0"/>
            <c:showBubbleSize val="0"/>
            <c:showLeaderLines val="0"/>
          </c:dLbls>
          <c:cat>
            <c:multiLvlStrRef>
              <c:f>Sheet1!$A$2:$A$3</c:f>
              <c:multiLvlStrCache>
                <c:ptCount val="2"/>
                <c:lvl>
                  <c:pt idx="0">
                    <c:v>Biaya per ASK</c:v>
                  </c:pt>
                  <c:pt idx="1">
                    <c:v>Pendapatan per ASK</c:v>
                  </c:pt>
                </c:lvl>
              </c:multiLvlStrCache>
            </c:multiLvlStrRef>
          </c:cat>
          <c:val>
            <c:numRef>
              <c:f>Sheet1!$C$2:$C$3</c:f>
              <c:numCache>
                <c:formatCode>General</c:formatCode>
                <c:ptCount val="2"/>
                <c:pt idx="0">
                  <c:v>22.8</c:v>
                </c:pt>
                <c:pt idx="1">
                  <c:v>20.6</c:v>
                </c:pt>
              </c:numCache>
            </c:numRef>
          </c:val>
        </c:ser>
        <c:dLbls>
          <c:numFmt formatCode="0.00" sourceLinked="0"/>
          <c:txPr>
            <a:bodyPr/>
            <a:lstStyle/>
            <a:p>
              <a:pPr>
                <a:defRPr b="0" i="0" strike="noStrike" sz="1600" u="none">
                  <a:solidFill>
                    <a:srgbClr val="1B1B1B"/>
                  </a:solidFill>
                  <a:latin typeface="Manrope"/>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B1B1B"/>
                </a:solidFill>
                <a:latin typeface="Manrope"/>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5DED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600">
              <a:solidFill>
                <a:srgbClr val="1B1B1B"/>
              </a:solidFill>
              <a:latin typeface="Manrope"/>
              <a:cs typeface="Manrope"/>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1B1B1B"/>
                </a:solidFill>
                <a:latin typeface="Manrope"/>
              </a:defRPr>
            </a:pPr>
            <a:r>
              <a:rPr sz="1800" b="0" i="0" u="none" strike="noStrike">
                <a:solidFill>
                  <a:srgbClr val="1B1B1B"/>
                </a:solidFill>
                <a:latin typeface="Manrope"/>
              </a:rPr>
              <a:t>Biaya per penumpang (US$), Tabel 9.4</a:t>
            </a:r>
          </a:p>
        </c:rich>
      </c:tx>
      <c:layout/>
      <c:overlay val="0"/>
    </c:title>
    <c:autoTitleDeleted val="0"/>
    <c:plotArea>
      <c:layout/>
      <c:barChart>
        <c:barDir val="bar"/>
        <c:grouping val="clustered"/>
        <c:varyColors val="0"/>
        <c:ser>
          <c:idx val="0"/>
          <c:order val="0"/>
          <c:tx>
            <c:strRef>
              <c:f>Sheet1!$B$1</c:f>
              <c:strCache>
                <c:ptCount val="1"/>
                <c:pt idx="0">
                  <c:v>Biaya per penumpang (US$)</c:v>
                </c:pt>
              </c:strCache>
            </c:strRef>
          </c:tx>
          <c:spPr>
            <a:solidFill>
              <a:srgbClr val="E63E2C"/>
            </a:solidFill>
            <a:effectLst/>
          </c:spPr>
          <c:invertIfNegative val="0"/>
          <c:dLbls>
            <c:numFmt formatCode="#,##0" sourceLinked="0"/>
            <c:txPr>
              <a:bodyPr/>
              <a:lstStyle/>
              <a:p>
                <a:pPr>
                  <a:defRPr b="0" i="0" strike="noStrike" sz="1600" u="none">
                    <a:solidFill>
                      <a:srgbClr val="1B1B1B"/>
                    </a:solidFill>
                    <a:latin typeface="Manrope"/>
                  </a:defRPr>
                </a:pPr>
              </a:p>
            </c:txPr>
            <c:showLegendKey val="0"/>
            <c:showVal val="1"/>
            <c:showCatName val="0"/>
            <c:showSerName val="0"/>
            <c:showPercent val="0"/>
            <c:showBubbleSize val="0"/>
            <c:showLeaderLines val="0"/>
          </c:dLbls>
          <c:cat>
            <c:multiLvlStrRef>
              <c:f>Sheet1!$A$2:$A$5</c:f>
              <c:multiLvlStrCache>
                <c:ptCount val="4"/>
                <c:lvl>
                  <c:pt idx="0">
                    <c:v>AirAsia X</c:v>
                  </c:pt>
                  <c:pt idx="1">
                    <c:v>BA</c:v>
                  </c:pt>
                  <c:pt idx="2">
                    <c:v>MAS</c:v>
                  </c:pt>
                  <c:pt idx="3">
                    <c:v>Emirates</c:v>
                  </c:pt>
                </c:lvl>
              </c:multiLvlStrCache>
            </c:multiLvlStrRef>
          </c:cat>
          <c:val>
            <c:numRef>
              <c:f>Sheet1!$B$2:$B$5</c:f>
              <c:numCache>
                <c:formatCode>General</c:formatCode>
                <c:ptCount val="4"/>
                <c:pt idx="0">
                  <c:v>373.14</c:v>
                </c:pt>
                <c:pt idx="1">
                  <c:v>553.37</c:v>
                </c:pt>
                <c:pt idx="2">
                  <c:v>589.5</c:v>
                </c:pt>
                <c:pt idx="3">
                  <c:v>609.56</c:v>
                </c:pt>
              </c:numCache>
            </c:numRef>
          </c:val>
        </c:ser>
        <c:dLbls>
          <c:numFmt formatCode="#,##0" sourceLinked="0"/>
          <c:txPr>
            <a:bodyPr/>
            <a:lstStyle/>
            <a:p>
              <a:pPr>
                <a:defRPr b="0" i="0" strike="noStrike" sz="1600" u="none">
                  <a:solidFill>
                    <a:srgbClr val="1B1B1B"/>
                  </a:solidFill>
                  <a:latin typeface="Manrope"/>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600" b="0" i="0" u="none" strike="noStrike">
                <a:solidFill>
                  <a:srgbClr val="1B1B1B"/>
                </a:solidFill>
                <a:latin typeface="Manrope"/>
              </a:defRPr>
            </a:pPr>
            <a:endParaRPr lang="en-US"/>
          </a:p>
        </c:txPr>
        <c:crossAx val="2094734552"/>
        <c:crosses val="autoZero"/>
        <c:auto val="1"/>
        <c:lblAlgn val="ctr"/>
        <c:noMultiLvlLbl val="1"/>
      </c:catAx>
      <c:valAx>
        <c:axId val="2094734552"/>
        <c:scaling>
          <c:orientation val="minMax"/>
          <c:max val="700"/>
          <c:min val="0"/>
        </c:scaling>
        <c:delete val="0"/>
        <c:axPos val="b"/>
        <c:majorGridlines>
          <c:spPr>
            <a:ln w="6350" cap="flat">
              <a:solidFill>
                <a:srgbClr val="E5DED4"/>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Satu pertanyaan strategis: apakah keunggulan biaya AirAsia yang dibangun di rute pendek dapat dipindahkan ke rute jarak jauh melalui AirAsia X. Kasus Robert M. Grant (2010), data 2008 sampai pertengahan 2009.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analisis mengikuti logika Structure Conduct Performance: struktur industri dibaca lebih dulu, baru posisi perusahaan, baru pilihan strategi. Kerangka dari Thompson dan Strickland Bab 3 serta panduan analisis kasus RPKPS. Seluruh angka bersumber dari tabel dalam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Dari 2 pesawat dan 200 ribu penumpang (Januari 2002) menjadi 79 pesawat dan 11,8 juta penumpang (Maret 2009). Hub di KL, Bangkok, dan Jakarta. Akuisisi 2001 seharga RM 1 dengan warisan utang RM 40 juta. Riset UBS 2007: biaya per ASK terendah di dunia. ROA 2008 sebesar 4 persen ketika hampir semua maskapai dunia merugi.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Mengikuti panduan RPKPS: masalah adalah tujuan yang terhalang. Angka neraca dari Tabel 9.1: rugi bersih RM 496,6 juta, utang RM 6,69 miliar berbanding ekuitas RM 1,61 miliar, kas RM 153,8 juta. Azran Osman-Rani (CEO AirAsia X): rute gemuk jarak jauh adalah sumber lalu lintas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Istilah exploration dan exploitation mengacu pada March (1991): perusahaan perlu menyeimbangkan pendalaman kompetensi yang ada dengan pencarian peluang baru.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Angka 47 persen dihitung dari Tabel 9.1: bahan bakar RM 1.389,8 juta dari biaya operasi RM 2.966 juta. Simpulan PESTEL: faktor politik dan legal adalah pembentuk struktur paling kuat. Joint venture Thai AirAsia dan Indonesia AirAsia mengontrakkan operasinya kembali ke AirAsia dengan imbalan fee bulanan. Distribusi langsung memangkas komisi agen dan sulit ditiru maskapai 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Rivalitas: banyak peniru model Southwest, MAS menekan di rute domestik. Pemasok: duopoli Airbus dan Boeing, bahan bakar mengikuti harga minyak, tarif bandara tanpa negosiasi. Pembeli: sangat peka harga, biaya berpindah nol. Pendatang baru: deregulasi dan pesawat sewaan menurunkan hambatan; penahan slot, merek, skala. Substitusi: bus, kereta, feri di rute pendek; tidak ada pengganti setara di rute antarbenua. Tahun 2008 hampir seluruh maskapai dunia merugi.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Driving forces: deregulasi memungkinkan hub di Bangkok dan Jakarta lewat usaha patungan; internet dan ponsel menghapus komisi agen; kenaikan lalu penurunan tajam harga minyak 2008 merugikan maskapai yang salah posisi lindung nilai, termasuk AirAsia; kelas menengah Asia tumbuh sehingga pasar membesar; AirAsia X dan Jetstar menguji batas model di rute jauh. KSF diturunkan dari struktur industri: kalau pembeli peka harga dan pemasok kuat, penentu kemenangan adalah biaya, utilisasi, dan load factor. Merek yang dipercaya: murah, bukan murahan.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Hambatan mobilitas antar kelompok bukan hanya modal; yang sulit ditiru adalah budaya biaya rendah dan sistem operasi sederhana. Ruang LCC jarak jauh nyaris kosong karena rute jauh butuh pesawat berbadan lebar, kru bermalam, dan penumpang transit dari jaringan pengumpan. AirAsia X masuk membawa merek, sistem reservasi, SDM, dan disiplin biaya dari kelompok asal.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Tabel 9.1. Utilisasi 11,8 vs 11,1 jam per hari; turnaround 25 menit. Karyawan per pesawat: 3.799/78 vs 19.094/109. Catatan: rugi 2008 (RM 496,6 juta) bukan karena operasi, melainkan keputusan melepas kontrak berjangka bahan bakar (rugi RM 830,2 juta). Tanpa pos itu operasi tetap laba, tetapi neraca yang sarat utang pesawat membuat ruang untuk kesalahan berikutnya sempit.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Formula Conor McCarthy: strategi operasi ala Ryanair, strategi SDM ala Southwest, strategi merek ala easyJet. Satu kelas: 148 kursi di 737 vs 132 pada dua kelas. ESOS untuk semua karyawan. Iklan ditingkatkan saat SARS dan bom Bali. Sponsorship Williams F1, Manchester United, wasit Premier League. CRS Navitaire terhubung ke yield management. Karena saling menopang, sistem ini sulit ditiru pesaing tetapi juga tidak mudah dipindahkan sebagian.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Tabel 9.2 dan 9.4. Merek memberi kredibilitas langsung; situs web, call center, dan CRS dipakai bersama; Stansted jauh lebih murah dari Heathrow; kontrak perawatan lelang kompetitif tetap berlaku; A330 efisien tetapi A340 untuk London boros. Tidak terbawa: A320 tak mampu terbang jauh dan armada kedua menambah kompleksitas; penerbangan 12 jam dibatasi jam kerja kru dan slot; rute jauh butuh kursi premium dan makanan; rute jauh bergantung pada penumpang transit dan feeder. Maka AirAsia X harus membangun sumber biaya rendah baru, tidak cukup mewarisi.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9.4 tidak termasuk perawatan, depresiasi, katering, dan gaji kru; pos itu justru membesar di rute jauh. AirAsia X membawa 286 penumpang per penerbangan, pesaing 337 sampai 360. Bahan bakar per penerbangan US$79.299 vs US$159.522 untuk B747. Tarif pulang pergi KL London AirAsia X US$433,96 vs rata-rata tarif terendah pesaing US$683,68 (Tabel 9.3). Load factor jaringan lima periode (Tabel 9.5): AirAsia 77, 75, 78, 80, 75,5; Emirates 73,4 sampai 79,8; BA 67,6 sampai 71,2; MAS 69 sampai 67,8.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Isu 1: di rute regional AirAsia menciptakan pasar baru; di KL London ia merebut penumpang dari enam maskapai mapan; elastisitas permintaan belum terbukti. Isu 2: Emirates, BA, dan MAS memperoleh laba dari kelas premium dan mampu menurunkan tarif ekonomi tanpa mengorbankan laba total. Isu 3: utang RM 6,69 miliar, ekuitas RM 1,61 miliar, kas RM 153,8 juta, pesanan 10 A350. Isu 4: literatur ambidexterity (O'Reilly dan Tushman) menyebut dua jalan, pemisahan struktural atau paduan kontekstual. Isu 5: AirAsia 16 persen (opsi 30 persen), Aero Ventures 48 persen, Virgin 16 persen, Manara dan Orix 20 persen; tata kelola hibrida khas portofolio aliansi. Azran membantah kritik dengan laba bersih RM 18 juta pada kuartal pertama 2009.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Sesuai panduan RPKPS, alternatif dideskripsikan tanpa argumen pro dan kontra. A: AirAsia hanya penyedia jasa berbayar; modal ke Indonesia, Thailand, Vietnam, Filipina; opsi 30 persen tidak dieksekusi. B: satu perusahaan, satu neraca, satu jaringan; tiket terusan dan transfer bagasi; ekspansi Abu Dhabi, India, Seoul, Sydney. C: eksekusi opsi 30 persen dan tempatkan kendali operasional; rute 4 sampai 8 jam dengan A330, Eropa menunggu A350; merger hanya setelah empat kuartal laba dan load factor sesuai target. Sudut pandang: March (1991); O'Reilly dan Tushman (2004); Williamson (1991).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Penilaian kualitatif dari data kasus. A: aman tetapi melepas sumber pertumbuhan dan tidak pernah membangun kompetensi rute jauh. B: menangkap seluruh peluang tetapi berhadapan langsung dengan pesaing yang bersubsidi silang dan menggabungkan armada lebar ke neraca yang sarat utang. C: menangkap rute 4 sampai 8 jam, neraca terpisah, unit eksplorasi terpisah dengan kendali dan pembelajaran mengalir ke induk, kendali sepadan dengan kepemilikan.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Merger penuh ditetapkan sebagai keputusan berbasis bukti kinerja (evidence based), bukan sekadar keyakinan manajemen.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Risiko dan mitigasi. 1: konflik kepentingan Aero Ventures, mitigasi komite independen untuk transaksi afiliasi. 2: balasan harga Emirates dan MAS, mitigasi bandara sekunder dan rute yang belum padat pesaing premium; target biaya per ASK AirAsia X di bawah 60 persen pesaing per rute. 3: kompleksitas operasi, mitigasi uji coba di tiga rute sebelum diperluas. 4: terulangnya kerugian 2008, mitigasi mandat tertulis yang disetujui dewan dan batas rugi derivatif. 5: ketergantungan sewa pesawat, mitigasi sale and leaseback dan penerbitan saham bila valuasi mendukung; kas minimal tiga bulan biaya operasi. 6: tekanan untuk mempercepat, mitigasi kriteria yang dipublikasikan ke pemegang saham. Angka target adalah usulan kelompok, bukan angka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Kaitkan kembali ke Bab 3. Five Forces menunjukkan industri tidak atraktif; laba AirAsia lahir dari posisi biaya relatif. Operasi, SDM, dan merek bekerja bersama. Di rute jauh lawan AirAsia X mampu mensubsidi harga ekonomi. Lingkungan yang berubah cepat dan neraca yang lemah membuat integrasi bertahap lebih aman daripada merger penuh. Minta kelompok lain merespons pertanyaan diskusi dengan argumen berbasis data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Referensi: Grant (2010) Contemporary Strategy Analysis, Case 9, Tabel 9.1 sampai 9.5. Thompson dan Strickland (2019) Bab 3. Porter (1980). March (1991) Organization Science 2(1). O'Reilly dan Tushman (2004) Harvard Business Review 82(4). Williamson (1991) Administrative Science Quarterly 36(2). Handoko, Indarti, dan Almahendra (2014) Manajemen dalam Berbagai Perspektif. RPKPS MAN 5422 FEB UGM (2026), Lampiran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E2CF"/>
        </a:solidFill>
      </p:bgPr>
    </p:bg>
    <p:spTree>
      <p:nvGrpSpPr>
        <p:cNvPr id="1" name=""/>
        <p:cNvGrpSpPr/>
        <p:nvPr/>
      </p:nvGrpSpPr>
      <p:grpSpPr>
        <a:xfrm>
          <a:off x="0" y="0"/>
          <a:ext cx="0" cy="0"/>
          <a:chOff x="0" y="0"/>
          <a:chExt cx="0" cy="0"/>
        </a:xfrm>
      </p:grpSpPr>
      <p:sp>
        <p:nvSpPr>
          <p:cNvPr id="2" name="Shape 0"/>
          <p:cNvSpPr/>
          <p:nvPr/>
        </p:nvSpPr>
        <p:spPr>
          <a:xfrm>
            <a:off x="6675120" y="548640"/>
            <a:ext cx="4754880" cy="4754880"/>
          </a:xfrm>
          <a:prstGeom prst="ellipse">
            <a:avLst/>
          </a:prstGeom>
          <a:solidFill>
            <a:srgbClr val="F4C430"/>
          </a:solidFill>
          <a:ln w="12700">
            <a:solidFill>
              <a:srgbClr val="F4C430"/>
            </a:solidFill>
            <a:prstDash val="solid"/>
          </a:ln>
        </p:spPr>
      </p:sp>
      <p:sp>
        <p:nvSpPr>
          <p:cNvPr id="3" name="Shape 1"/>
          <p:cNvSpPr/>
          <p:nvPr/>
        </p:nvSpPr>
        <p:spPr>
          <a:xfrm>
            <a:off x="9052560" y="3017520"/>
            <a:ext cx="3840480" cy="3840480"/>
          </a:xfrm>
          <a:prstGeom prst="ellipse">
            <a:avLst/>
          </a:prstGeom>
          <a:solidFill>
            <a:srgbClr val="E63E2C"/>
          </a:solidFill>
          <a:ln w="12700">
            <a:solidFill>
              <a:srgbClr val="E63E2C"/>
            </a:solidFill>
            <a:prstDash val="solid"/>
          </a:ln>
        </p:spPr>
      </p:sp>
      <p:sp>
        <p:nvSpPr>
          <p:cNvPr id="4" name="Shape 2"/>
          <p:cNvSpPr/>
          <p:nvPr/>
        </p:nvSpPr>
        <p:spPr>
          <a:xfrm>
            <a:off x="10972800" y="2999232"/>
            <a:ext cx="1965960" cy="3877056"/>
          </a:xfrm>
          <a:prstGeom prst="rect">
            <a:avLst/>
          </a:prstGeom>
          <a:solidFill>
            <a:srgbClr val="F3E2CF"/>
          </a:solidFill>
          <a:ln w="12700">
            <a:solidFill>
              <a:srgbClr val="F3E2CF"/>
            </a:solidFill>
            <a:prstDash val="solid"/>
          </a:ln>
        </p:spPr>
      </p:sp>
      <p:sp>
        <p:nvSpPr>
          <p:cNvPr id="5" name="Shape 3"/>
          <p:cNvSpPr/>
          <p:nvPr/>
        </p:nvSpPr>
        <p:spPr>
          <a:xfrm>
            <a:off x="6035040" y="4206240"/>
            <a:ext cx="2926080" cy="2926080"/>
          </a:xfrm>
          <a:prstGeom prst="ellipse">
            <a:avLst/>
          </a:prstGeom>
          <a:ln w="19050">
            <a:solidFill>
              <a:srgbClr val="1B1B1B"/>
            </a:solidFill>
            <a:prstDash val="sysDot"/>
          </a:ln>
        </p:spPr>
      </p:sp>
      <p:sp>
        <p:nvSpPr>
          <p:cNvPr id="6" name="Shape 4"/>
          <p:cNvSpPr/>
          <p:nvPr/>
        </p:nvSpPr>
        <p:spPr>
          <a:xfrm>
            <a:off x="11521440" y="0"/>
            <a:ext cx="667512" cy="6858000"/>
          </a:xfrm>
          <a:prstGeom prst="rect">
            <a:avLst/>
          </a:prstGeom>
          <a:solidFill>
            <a:srgbClr val="2C7BB8"/>
          </a:solidFill>
          <a:ln w="12700">
            <a:solidFill>
              <a:srgbClr val="2C7BB8"/>
            </a:solidFill>
            <a:prstDash val="solid"/>
          </a:ln>
        </p:spPr>
      </p:sp>
      <p:pic>
        <p:nvPicPr>
          <p:cNvPr id="7" name="Image 0" descr="/tmp/claude-0/-home-user-Dom-Manipulation/a70c4110-05d8-512e-ae11-d08dee025a7a/scratchpad/img/bw_a320.png">    </p:cNvPr>
          <p:cNvPicPr>
            <a:picLocks noChangeAspect="1"/>
          </p:cNvPicPr>
          <p:nvPr/>
        </p:nvPicPr>
        <p:blipFill>
          <a:blip r:embed="rId1"/>
          <a:stretch>
            <a:fillRect/>
          </a:stretch>
        </p:blipFill>
        <p:spPr>
          <a:xfrm>
            <a:off x="5760720" y="2011680"/>
            <a:ext cx="5852160" cy="2468880"/>
          </a:xfrm>
          <a:prstGeom prst="rect">
            <a:avLst/>
          </a:prstGeom>
        </p:spPr>
      </p:pic>
      <p:sp>
        <p:nvSpPr>
          <p:cNvPr id="8" name="Text 5"/>
          <p:cNvSpPr txBox="1"/>
          <p:nvPr/>
        </p:nvSpPr>
        <p:spPr>
          <a:xfrm>
            <a:off x="548640" y="731520"/>
            <a:ext cx="5943600" cy="1737360"/>
          </a:xfrm>
          <a:prstGeom prst="rect">
            <a:avLst/>
          </a:prstGeom>
          <a:noFill/>
          <a:ln/>
        </p:spPr>
        <p:txBody>
          <a:bodyPr wrap="square" lIns="0" tIns="0" rIns="0" bIns="0" rtlCol="0" anchor="ctr"/>
          <a:lstStyle/>
          <a:p>
            <a:pPr indent="0" marL="0">
              <a:buNone/>
            </a:pPr>
            <a:r>
              <a:rPr lang="en-US" sz="12000" dirty="0">
                <a:solidFill>
                  <a:srgbClr val="1B1B1B"/>
                </a:solidFill>
                <a:latin typeface="Bebas Neue" pitchFamily="34" charset="0"/>
                <a:ea typeface="Bebas Neue" pitchFamily="34" charset="-122"/>
                <a:cs typeface="Bebas Neue" pitchFamily="34" charset="-120"/>
              </a:rPr>
              <a:t>AIRASIA</a:t>
            </a:r>
            <a:endParaRPr lang="en-US" sz="12000" dirty="0"/>
          </a:p>
        </p:txBody>
      </p:sp>
      <p:sp>
        <p:nvSpPr>
          <p:cNvPr id="9" name="Text 6"/>
          <p:cNvSpPr txBox="1"/>
          <p:nvPr/>
        </p:nvSpPr>
        <p:spPr>
          <a:xfrm>
            <a:off x="548640" y="2423160"/>
            <a:ext cx="5943600" cy="731520"/>
          </a:xfrm>
          <a:prstGeom prst="rect">
            <a:avLst/>
          </a:prstGeom>
          <a:noFill/>
          <a:ln/>
        </p:spPr>
        <p:txBody>
          <a:bodyPr wrap="square" lIns="0" tIns="0" rIns="0" bIns="0" rtlCol="0" anchor="ctr"/>
          <a:lstStyle/>
          <a:p>
            <a:pPr indent="0" marL="0">
              <a:buNone/>
            </a:pPr>
            <a:r>
              <a:rPr lang="en-US" sz="4000" dirty="0">
                <a:solidFill>
                  <a:srgbClr val="E63E2C"/>
                </a:solidFill>
                <a:latin typeface="Bebas Neue" pitchFamily="34" charset="0"/>
                <a:ea typeface="Bebas Neue" pitchFamily="34" charset="-122"/>
                <a:cs typeface="Bebas Neue" pitchFamily="34" charset="-120"/>
              </a:rPr>
              <a:t>THE WORLD'S LOWEST COST AIRLINE</a:t>
            </a:r>
            <a:endParaRPr lang="en-US" sz="4000" dirty="0"/>
          </a:p>
        </p:txBody>
      </p:sp>
      <p:sp>
        <p:nvSpPr>
          <p:cNvPr id="10" name="Text 7"/>
          <p:cNvSpPr txBox="1"/>
          <p:nvPr/>
        </p:nvSpPr>
        <p:spPr>
          <a:xfrm>
            <a:off x="548640" y="3383280"/>
            <a:ext cx="5394960" cy="1463040"/>
          </a:xfrm>
          <a:prstGeom prst="rect">
            <a:avLst/>
          </a:prstGeom>
          <a:noFill/>
          <a:ln/>
        </p:spPr>
        <p:txBody>
          <a:bodyPr wrap="square" lIns="0" tIns="0" rIns="0" bIns="0" rtlCol="0" anchor="t"/>
          <a:lstStyle/>
          <a:p>
            <a:pPr indent="0" marL="0">
              <a:buNone/>
            </a:pPr>
            <a:r>
              <a:rPr lang="en-US" sz="2400" dirty="0">
                <a:solidFill>
                  <a:srgbClr val="1B1B1B"/>
                </a:solidFill>
                <a:latin typeface="Manrope" pitchFamily="34" charset="0"/>
                <a:ea typeface="Manrope" pitchFamily="34" charset="-122"/>
                <a:cs typeface="Manrope" pitchFamily="34" charset="-120"/>
              </a:rPr>
              <a:t>Sejauh mana keunggulan biaya yang dibangun di rute pendek dapat dibawa ke pasar penerbangan jarak jauh?</a:t>
            </a:r>
            <a:endParaRPr lang="en-US" sz="2400" dirty="0"/>
          </a:p>
        </p:txBody>
      </p:sp>
      <p:sp>
        <p:nvSpPr>
          <p:cNvPr id="11" name="Shape 8"/>
          <p:cNvSpPr/>
          <p:nvPr/>
        </p:nvSpPr>
        <p:spPr>
          <a:xfrm>
            <a:off x="548640" y="5074920"/>
            <a:ext cx="822960" cy="73152"/>
          </a:xfrm>
          <a:prstGeom prst="rect">
            <a:avLst/>
          </a:prstGeom>
          <a:solidFill>
            <a:srgbClr val="1B1B1B"/>
          </a:solidFill>
          <a:ln w="12700">
            <a:solidFill>
              <a:srgbClr val="1B1B1B"/>
            </a:solidFill>
            <a:prstDash val="solid"/>
          </a:ln>
        </p:spPr>
      </p:sp>
      <p:sp>
        <p:nvSpPr>
          <p:cNvPr id="12" name="Text 9"/>
          <p:cNvSpPr txBox="1"/>
          <p:nvPr/>
        </p:nvSpPr>
        <p:spPr>
          <a:xfrm>
            <a:off x="548640" y="5257800"/>
            <a:ext cx="7772400" cy="1097280"/>
          </a:xfrm>
          <a:prstGeom prst="rect">
            <a:avLst/>
          </a:prstGeom>
          <a:noFill/>
          <a:ln/>
        </p:spPr>
        <p:txBody>
          <a:bodyPr wrap="square" lIns="0" tIns="0" rIns="0" bIns="0" rtlCol="0" anchor="t"/>
          <a:lstStyle/>
          <a:p>
            <a:pPr indent="0" marL="0">
              <a:buNone/>
            </a:pPr>
            <a:r>
              <a:rPr lang="en-US" sz="2000" b="1" dirty="0">
                <a:solidFill>
                  <a:srgbClr val="1B1B1B"/>
                </a:solidFill>
                <a:latin typeface="Manrope" pitchFamily="34" charset="0"/>
                <a:ea typeface="Manrope" pitchFamily="34" charset="-122"/>
                <a:cs typeface="Manrope" pitchFamily="34" charset="-120"/>
              </a:rPr>
              <a:t>KELOMPOK 3</a:t>
            </a:r>
            <a:endParaRPr lang="en-US" sz="2400" dirty="0"/>
          </a:p>
          <a:p>
            <a:pPr indent="0" marL="0">
              <a:buNone/>
            </a:pPr>
            <a:r>
              <a:rPr lang="en-US" sz="1800" dirty="0">
                <a:solidFill>
                  <a:srgbClr val="4A4A4A"/>
                </a:solidFill>
                <a:latin typeface="Manrope" pitchFamily="34" charset="0"/>
                <a:ea typeface="Manrope" pitchFamily="34" charset="-122"/>
                <a:cs typeface="Manrope" pitchFamily="34" charset="-120"/>
              </a:rPr>
              <a:t>Tifani Puspita  |  Dara Astrini Rahayu K  |  Happy Dinithasari  |  Aslih Abnuri</a:t>
            </a:r>
            <a:endParaRPr lang="en-US" sz="2400" dirty="0"/>
          </a:p>
        </p:txBody>
      </p:sp>
      <p:sp>
        <p:nvSpPr>
          <p:cNvPr id="13" name="Text 10"/>
          <p:cNvSpPr txBox="1"/>
          <p:nvPr/>
        </p:nvSpPr>
        <p:spPr>
          <a:xfrm>
            <a:off x="11247120" y="6355080"/>
            <a:ext cx="548640" cy="320040"/>
          </a:xfrm>
          <a:prstGeom prst="rect">
            <a:avLst/>
          </a:prstGeom>
          <a:noFill/>
          <a:ln/>
        </p:spPr>
        <p:txBody>
          <a:bodyPr wrap="square" lIns="0" tIns="0" rIns="0" bIns="0" rtlCol="0" anchor="ctr"/>
          <a:lstStyle/>
          <a:p>
            <a:pPr algn="r" indent="0" marL="0">
              <a:buNone/>
            </a:pPr>
            <a:r>
              <a:rPr lang="en-US" sz="1200" b="1" dirty="0">
                <a:solidFill>
                  <a:srgbClr val="1B1B1B"/>
                </a:solidFill>
                <a:latin typeface="Manrope" pitchFamily="34" charset="0"/>
                <a:ea typeface="Manrope" pitchFamily="34" charset="-122"/>
                <a:cs typeface="Manrope"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2CF"/>
        </a:solidFill>
      </p:bgPr>
    </p:bg>
    <p:spTree>
      <p:nvGrpSpPr>
        <p:cNvPr id="1" name=""/>
        <p:cNvGrpSpPr/>
        <p:nvPr/>
      </p:nvGrpSpPr>
      <p:grpSpPr>
        <a:xfrm>
          <a:off x="0" y="0"/>
          <a:ext cx="0" cy="0"/>
          <a:chOff x="0" y="0"/>
          <a:chExt cx="0" cy="0"/>
        </a:xfrm>
      </p:grpSpPr>
      <p:sp>
        <p:nvSpPr>
          <p:cNvPr id="2" name="Text 0"/>
          <p:cNvSpPr txBox="1"/>
          <p:nvPr/>
        </p:nvSpPr>
        <p:spPr>
          <a:xfrm>
            <a:off x="548640" y="411480"/>
            <a:ext cx="10515600" cy="868680"/>
          </a:xfrm>
          <a:prstGeom prst="rect">
            <a:avLst/>
          </a:prstGeom>
          <a:noFill/>
          <a:ln/>
        </p:spPr>
        <p:txBody>
          <a:bodyPr wrap="square" lIns="0" tIns="0" rIns="0" bIns="0" rtlCol="0" anchor="ctr"/>
          <a:lstStyle/>
          <a:p>
            <a:pPr indent="0" marL="0">
              <a:buNone/>
            </a:pPr>
            <a:r>
              <a:rPr lang="en-US" sz="5400" dirty="0">
                <a:solidFill>
                  <a:srgbClr val="1B1B1B"/>
                </a:solidFill>
                <a:latin typeface="Bebas Neue" pitchFamily="34" charset="0"/>
                <a:ea typeface="Bebas Neue" pitchFamily="34" charset="-122"/>
                <a:cs typeface="Bebas Neue" pitchFamily="34" charset="-120"/>
              </a:rPr>
              <a:t>HOW WE READ THE CASE</a:t>
            </a:r>
            <a:endParaRPr lang="en-US" sz="5400" dirty="0"/>
          </a:p>
        </p:txBody>
      </p:sp>
      <p:sp>
        <p:nvSpPr>
          <p:cNvPr id="3" name="Text 1"/>
          <p:cNvSpPr txBox="1"/>
          <p:nvPr/>
        </p:nvSpPr>
        <p:spPr>
          <a:xfrm>
            <a:off x="548640" y="1463040"/>
            <a:ext cx="7863840" cy="1737360"/>
          </a:xfrm>
          <a:prstGeom prst="rect">
            <a:avLst/>
          </a:prstGeom>
          <a:noFill/>
          <a:ln/>
        </p:spPr>
        <p:txBody>
          <a:bodyPr wrap="square" lIns="0" tIns="0" rIns="0" bIns="0" rtlCol="0" anchor="t"/>
          <a:lstStyle/>
          <a:p>
            <a:pPr indent="0" marL="0">
              <a:buNone/>
            </a:pPr>
            <a:r>
              <a:rPr lang="en-US" sz="2400" dirty="0">
                <a:solidFill>
                  <a:srgbClr val="1B1B1B"/>
                </a:solidFill>
                <a:latin typeface="Manrope" pitchFamily="34" charset="0"/>
                <a:ea typeface="Manrope" pitchFamily="34" charset="-122"/>
                <a:cs typeface="Manrope" pitchFamily="34" charset="-120"/>
              </a:rPr>
              <a:t>Lowest cost sering dibaca sebagai kelemahan. Dibaca dengan tepat, murah adalah hasil disiplin biaya (cost discipline) yang sistematis. Apakah sistem itu dapat dipindahkan (transferable) ke rute jauh?</a:t>
            </a:r>
            <a:endParaRPr lang="en-US" sz="2400" dirty="0"/>
          </a:p>
        </p:txBody>
      </p:sp>
      <p:sp>
        <p:nvSpPr>
          <p:cNvPr id="4" name="Shape 2"/>
          <p:cNvSpPr/>
          <p:nvPr/>
        </p:nvSpPr>
        <p:spPr>
          <a:xfrm>
            <a:off x="9326880" y="822960"/>
            <a:ext cx="2377440" cy="2377440"/>
          </a:xfrm>
          <a:prstGeom prst="ellipse">
            <a:avLst/>
          </a:prstGeom>
          <a:ln w="19050">
            <a:solidFill>
              <a:srgbClr val="1B1B1B"/>
            </a:solidFill>
            <a:prstDash val="sysDot"/>
          </a:ln>
        </p:spPr>
      </p:sp>
      <p:sp>
        <p:nvSpPr>
          <p:cNvPr id="5" name="Shape 3"/>
          <p:cNvSpPr/>
          <p:nvPr/>
        </p:nvSpPr>
        <p:spPr>
          <a:xfrm>
            <a:off x="548640" y="3291840"/>
            <a:ext cx="1097280" cy="1097280"/>
          </a:xfrm>
          <a:prstGeom prst="ellipse">
            <a:avLst/>
          </a:prstGeom>
          <a:solidFill>
            <a:srgbClr val="E63E2C"/>
          </a:solidFill>
          <a:ln w="12700">
            <a:solidFill>
              <a:srgbClr val="E63E2C"/>
            </a:solidFill>
            <a:prstDash val="solid"/>
          </a:ln>
        </p:spPr>
      </p:sp>
      <p:sp>
        <p:nvSpPr>
          <p:cNvPr id="6" name="Text 4"/>
          <p:cNvSpPr txBox="1"/>
          <p:nvPr/>
        </p:nvSpPr>
        <p:spPr>
          <a:xfrm>
            <a:off x="548640" y="3291840"/>
            <a:ext cx="1097280" cy="1097280"/>
          </a:xfrm>
          <a:prstGeom prst="rect">
            <a:avLst/>
          </a:prstGeom>
          <a:noFill/>
          <a:ln/>
        </p:spPr>
        <p:txBody>
          <a:bodyPr wrap="square" lIns="0" tIns="0" rIns="0" bIns="0" rtlCol="0" anchor="ctr"/>
          <a:lstStyle/>
          <a:p>
            <a:pPr algn="ctr" indent="0" marL="0">
              <a:buNone/>
            </a:pPr>
            <a:r>
              <a:rPr lang="en-US" sz="5280" dirty="0">
                <a:solidFill>
                  <a:srgbClr val="FFFFFF"/>
                </a:solidFill>
                <a:latin typeface="Bebas Neue" pitchFamily="34" charset="0"/>
                <a:ea typeface="Bebas Neue" pitchFamily="34" charset="-122"/>
                <a:cs typeface="Bebas Neue" pitchFamily="34" charset="-120"/>
              </a:rPr>
              <a:t>1</a:t>
            </a:r>
            <a:endParaRPr lang="en-US" sz="5280" dirty="0"/>
          </a:p>
        </p:txBody>
      </p:sp>
      <p:sp>
        <p:nvSpPr>
          <p:cNvPr id="7" name="Text 5"/>
          <p:cNvSpPr txBox="1"/>
          <p:nvPr/>
        </p:nvSpPr>
        <p:spPr>
          <a:xfrm>
            <a:off x="548640" y="4480560"/>
            <a:ext cx="2651760" cy="548640"/>
          </a:xfrm>
          <a:prstGeom prst="rect">
            <a:avLst/>
          </a:prstGeom>
          <a:noFill/>
          <a:ln/>
        </p:spPr>
        <p:txBody>
          <a:bodyPr wrap="square" lIns="0" tIns="0" rIns="0" bIns="0" rtlCol="0" anchor="ctr"/>
          <a:lstStyle/>
          <a:p>
            <a:pPr indent="0" marL="0">
              <a:buNone/>
            </a:pPr>
            <a:r>
              <a:rPr lang="en-US" sz="2600" dirty="0">
                <a:solidFill>
                  <a:srgbClr val="1B1B1B"/>
                </a:solidFill>
                <a:latin typeface="Bebas Neue" pitchFamily="34" charset="0"/>
                <a:ea typeface="Bebas Neue" pitchFamily="34" charset="-122"/>
                <a:cs typeface="Bebas Neue" pitchFamily="34" charset="-120"/>
              </a:rPr>
              <a:t>PROBLEM</a:t>
            </a:r>
            <a:endParaRPr lang="en-US" sz="2600" dirty="0"/>
          </a:p>
        </p:txBody>
      </p:sp>
      <p:sp>
        <p:nvSpPr>
          <p:cNvPr id="8" name="Text 6"/>
          <p:cNvSpPr txBox="1"/>
          <p:nvPr/>
        </p:nvSpPr>
        <p:spPr>
          <a:xfrm>
            <a:off x="548640" y="5029200"/>
            <a:ext cx="2651760" cy="1005840"/>
          </a:xfrm>
          <a:prstGeom prst="rect">
            <a:avLst/>
          </a:prstGeom>
          <a:noFill/>
          <a:ln/>
        </p:spPr>
        <p:txBody>
          <a:bodyPr wrap="square" lIns="0" tIns="0" rIns="0" bIns="0" rtlCol="0" anchor="t"/>
          <a:lstStyle/>
          <a:p>
            <a:pPr indent="0" marL="0">
              <a:buNone/>
            </a:pPr>
            <a:r>
              <a:rPr lang="en-US" sz="2400" dirty="0">
                <a:solidFill>
                  <a:srgbClr val="4A4A4A"/>
                </a:solidFill>
                <a:latin typeface="Manrope" pitchFamily="34" charset="0"/>
                <a:ea typeface="Manrope" pitchFamily="34" charset="-122"/>
                <a:cs typeface="Manrope" pitchFamily="34" charset="-120"/>
              </a:rPr>
              <a:t>tujuan dan hambatan</a:t>
            </a:r>
            <a:endParaRPr lang="en-US" sz="2400" dirty="0"/>
          </a:p>
        </p:txBody>
      </p:sp>
      <p:sp>
        <p:nvSpPr>
          <p:cNvPr id="9" name="Shape 7"/>
          <p:cNvSpPr/>
          <p:nvPr/>
        </p:nvSpPr>
        <p:spPr>
          <a:xfrm>
            <a:off x="3383280" y="3291840"/>
            <a:ext cx="1097280" cy="1097280"/>
          </a:xfrm>
          <a:prstGeom prst="ellipse">
            <a:avLst/>
          </a:prstGeom>
          <a:solidFill>
            <a:srgbClr val="2C7BB8"/>
          </a:solidFill>
          <a:ln w="12700">
            <a:solidFill>
              <a:srgbClr val="2C7BB8"/>
            </a:solidFill>
            <a:prstDash val="solid"/>
          </a:ln>
        </p:spPr>
      </p:sp>
      <p:sp>
        <p:nvSpPr>
          <p:cNvPr id="10" name="Text 8"/>
          <p:cNvSpPr txBox="1"/>
          <p:nvPr/>
        </p:nvSpPr>
        <p:spPr>
          <a:xfrm>
            <a:off x="3383280" y="3291840"/>
            <a:ext cx="1097280" cy="1097280"/>
          </a:xfrm>
          <a:prstGeom prst="rect">
            <a:avLst/>
          </a:prstGeom>
          <a:noFill/>
          <a:ln/>
        </p:spPr>
        <p:txBody>
          <a:bodyPr wrap="square" lIns="0" tIns="0" rIns="0" bIns="0" rtlCol="0" anchor="ctr"/>
          <a:lstStyle/>
          <a:p>
            <a:pPr algn="ctr" indent="0" marL="0">
              <a:buNone/>
            </a:pPr>
            <a:r>
              <a:rPr lang="en-US" sz="5280" dirty="0">
                <a:solidFill>
                  <a:srgbClr val="FFFFFF"/>
                </a:solidFill>
                <a:latin typeface="Bebas Neue" pitchFamily="34" charset="0"/>
                <a:ea typeface="Bebas Neue" pitchFamily="34" charset="-122"/>
                <a:cs typeface="Bebas Neue" pitchFamily="34" charset="-120"/>
              </a:rPr>
              <a:t>2</a:t>
            </a:r>
            <a:endParaRPr lang="en-US" sz="5280" dirty="0"/>
          </a:p>
        </p:txBody>
      </p:sp>
      <p:sp>
        <p:nvSpPr>
          <p:cNvPr id="11" name="Text 9"/>
          <p:cNvSpPr txBox="1"/>
          <p:nvPr/>
        </p:nvSpPr>
        <p:spPr>
          <a:xfrm>
            <a:off x="3383280" y="4480560"/>
            <a:ext cx="2651760" cy="548640"/>
          </a:xfrm>
          <a:prstGeom prst="rect">
            <a:avLst/>
          </a:prstGeom>
          <a:noFill/>
          <a:ln/>
        </p:spPr>
        <p:txBody>
          <a:bodyPr wrap="square" lIns="0" tIns="0" rIns="0" bIns="0" rtlCol="0" anchor="ctr"/>
          <a:lstStyle/>
          <a:p>
            <a:pPr indent="0" marL="0">
              <a:buNone/>
            </a:pPr>
            <a:r>
              <a:rPr lang="en-US" sz="2600" dirty="0">
                <a:solidFill>
                  <a:srgbClr val="1B1B1B"/>
                </a:solidFill>
                <a:latin typeface="Bebas Neue" pitchFamily="34" charset="0"/>
                <a:ea typeface="Bebas Neue" pitchFamily="34" charset="-122"/>
                <a:cs typeface="Bebas Neue" pitchFamily="34" charset="-120"/>
              </a:rPr>
              <a:t>EXTERNAL ENVIRONMENT</a:t>
            </a:r>
            <a:endParaRPr lang="en-US" sz="2600" dirty="0"/>
          </a:p>
        </p:txBody>
      </p:sp>
      <p:sp>
        <p:nvSpPr>
          <p:cNvPr id="12" name="Text 10"/>
          <p:cNvSpPr txBox="1"/>
          <p:nvPr/>
        </p:nvSpPr>
        <p:spPr>
          <a:xfrm>
            <a:off x="3383280" y="5029200"/>
            <a:ext cx="2651760" cy="1005840"/>
          </a:xfrm>
          <a:prstGeom prst="rect">
            <a:avLst/>
          </a:prstGeom>
          <a:noFill/>
          <a:ln/>
        </p:spPr>
        <p:txBody>
          <a:bodyPr wrap="square" lIns="0" tIns="0" rIns="0" bIns="0" rtlCol="0" anchor="t"/>
          <a:lstStyle/>
          <a:p>
            <a:pPr indent="0" marL="0">
              <a:buNone/>
            </a:pPr>
            <a:r>
              <a:rPr lang="en-US" sz="2400" dirty="0">
                <a:solidFill>
                  <a:srgbClr val="4A4A4A"/>
                </a:solidFill>
                <a:latin typeface="Manrope" pitchFamily="34" charset="0"/>
                <a:ea typeface="Manrope" pitchFamily="34" charset="-122"/>
                <a:cs typeface="Manrope" pitchFamily="34" charset="-120"/>
              </a:rPr>
              <a:t>PESTEL, Five Forces, peta</a:t>
            </a:r>
            <a:endParaRPr lang="en-US" sz="2400" dirty="0"/>
          </a:p>
        </p:txBody>
      </p:sp>
      <p:sp>
        <p:nvSpPr>
          <p:cNvPr id="13" name="Shape 11"/>
          <p:cNvSpPr/>
          <p:nvPr/>
        </p:nvSpPr>
        <p:spPr>
          <a:xfrm>
            <a:off x="6217920" y="3291840"/>
            <a:ext cx="1097280" cy="1097280"/>
          </a:xfrm>
          <a:prstGeom prst="ellipse">
            <a:avLst/>
          </a:prstGeom>
          <a:solidFill>
            <a:srgbClr val="F4C430"/>
          </a:solidFill>
          <a:ln w="12700">
            <a:solidFill>
              <a:srgbClr val="F4C430"/>
            </a:solidFill>
            <a:prstDash val="solid"/>
          </a:ln>
        </p:spPr>
      </p:sp>
      <p:sp>
        <p:nvSpPr>
          <p:cNvPr id="14" name="Text 12"/>
          <p:cNvSpPr txBox="1"/>
          <p:nvPr/>
        </p:nvSpPr>
        <p:spPr>
          <a:xfrm>
            <a:off x="6217920" y="3291840"/>
            <a:ext cx="1097280" cy="1097280"/>
          </a:xfrm>
          <a:prstGeom prst="rect">
            <a:avLst/>
          </a:prstGeom>
          <a:noFill/>
          <a:ln/>
        </p:spPr>
        <p:txBody>
          <a:bodyPr wrap="square" lIns="0" tIns="0" rIns="0" bIns="0" rtlCol="0" anchor="ctr"/>
          <a:lstStyle/>
          <a:p>
            <a:pPr algn="ctr" indent="0" marL="0">
              <a:buNone/>
            </a:pPr>
            <a:r>
              <a:rPr lang="en-US" sz="5280" dirty="0">
                <a:solidFill>
                  <a:srgbClr val="1B1B1B"/>
                </a:solidFill>
                <a:latin typeface="Bebas Neue" pitchFamily="34" charset="0"/>
                <a:ea typeface="Bebas Neue" pitchFamily="34" charset="-122"/>
                <a:cs typeface="Bebas Neue" pitchFamily="34" charset="-120"/>
              </a:rPr>
              <a:t>3</a:t>
            </a:r>
            <a:endParaRPr lang="en-US" sz="5280" dirty="0"/>
          </a:p>
        </p:txBody>
      </p:sp>
      <p:sp>
        <p:nvSpPr>
          <p:cNvPr id="15" name="Text 13"/>
          <p:cNvSpPr txBox="1"/>
          <p:nvPr/>
        </p:nvSpPr>
        <p:spPr>
          <a:xfrm>
            <a:off x="6217920" y="4480560"/>
            <a:ext cx="2651760" cy="548640"/>
          </a:xfrm>
          <a:prstGeom prst="rect">
            <a:avLst/>
          </a:prstGeom>
          <a:noFill/>
          <a:ln/>
        </p:spPr>
        <p:txBody>
          <a:bodyPr wrap="square" lIns="0" tIns="0" rIns="0" bIns="0" rtlCol="0" anchor="ctr"/>
          <a:lstStyle/>
          <a:p>
            <a:pPr indent="0" marL="0">
              <a:buNone/>
            </a:pPr>
            <a:r>
              <a:rPr lang="en-US" sz="2600" dirty="0">
                <a:solidFill>
                  <a:srgbClr val="1B1B1B"/>
                </a:solidFill>
                <a:latin typeface="Bebas Neue" pitchFamily="34" charset="0"/>
                <a:ea typeface="Bebas Neue" pitchFamily="34" charset="-122"/>
                <a:cs typeface="Bebas Neue" pitchFamily="34" charset="-120"/>
              </a:rPr>
              <a:t>COST POSITION</a:t>
            </a:r>
            <a:endParaRPr lang="en-US" sz="2600" dirty="0"/>
          </a:p>
        </p:txBody>
      </p:sp>
      <p:sp>
        <p:nvSpPr>
          <p:cNvPr id="16" name="Text 14"/>
          <p:cNvSpPr txBox="1"/>
          <p:nvPr/>
        </p:nvSpPr>
        <p:spPr>
          <a:xfrm>
            <a:off x="6217920" y="5029200"/>
            <a:ext cx="2651760" cy="1005840"/>
          </a:xfrm>
          <a:prstGeom prst="rect">
            <a:avLst/>
          </a:prstGeom>
          <a:noFill/>
          <a:ln/>
        </p:spPr>
        <p:txBody>
          <a:bodyPr wrap="square" lIns="0" tIns="0" rIns="0" bIns="0" rtlCol="0" anchor="t"/>
          <a:lstStyle/>
          <a:p>
            <a:pPr indent="0" marL="0">
              <a:buNone/>
            </a:pPr>
            <a:r>
              <a:rPr lang="en-US" sz="2400" dirty="0">
                <a:solidFill>
                  <a:srgbClr val="4A4A4A"/>
                </a:solidFill>
                <a:latin typeface="Manrope" pitchFamily="34" charset="0"/>
                <a:ea typeface="Manrope" pitchFamily="34" charset="-122"/>
                <a:cs typeface="Manrope" pitchFamily="34" charset="-120"/>
              </a:rPr>
              <a:t>benchmarking, transfer</a:t>
            </a:r>
            <a:endParaRPr lang="en-US" sz="2400" dirty="0"/>
          </a:p>
        </p:txBody>
      </p:sp>
      <p:sp>
        <p:nvSpPr>
          <p:cNvPr id="17" name="Shape 15"/>
          <p:cNvSpPr/>
          <p:nvPr/>
        </p:nvSpPr>
        <p:spPr>
          <a:xfrm>
            <a:off x="9052560" y="3291840"/>
            <a:ext cx="1097280" cy="1097280"/>
          </a:xfrm>
          <a:prstGeom prst="ellipse">
            <a:avLst/>
          </a:prstGeom>
          <a:solidFill>
            <a:srgbClr val="1B1B1B"/>
          </a:solidFill>
          <a:ln w="12700">
            <a:solidFill>
              <a:srgbClr val="1B1B1B"/>
            </a:solidFill>
            <a:prstDash val="solid"/>
          </a:ln>
        </p:spPr>
      </p:sp>
      <p:sp>
        <p:nvSpPr>
          <p:cNvPr id="18" name="Text 16"/>
          <p:cNvSpPr txBox="1"/>
          <p:nvPr/>
        </p:nvSpPr>
        <p:spPr>
          <a:xfrm>
            <a:off x="9052560" y="3291840"/>
            <a:ext cx="1097280" cy="1097280"/>
          </a:xfrm>
          <a:prstGeom prst="rect">
            <a:avLst/>
          </a:prstGeom>
          <a:noFill/>
          <a:ln/>
        </p:spPr>
        <p:txBody>
          <a:bodyPr wrap="square" lIns="0" tIns="0" rIns="0" bIns="0" rtlCol="0" anchor="ctr"/>
          <a:lstStyle/>
          <a:p>
            <a:pPr algn="ctr" indent="0" marL="0">
              <a:buNone/>
            </a:pPr>
            <a:r>
              <a:rPr lang="en-US" sz="5280" dirty="0">
                <a:solidFill>
                  <a:srgbClr val="FFFFFF"/>
                </a:solidFill>
                <a:latin typeface="Bebas Neue" pitchFamily="34" charset="0"/>
                <a:ea typeface="Bebas Neue" pitchFamily="34" charset="-122"/>
                <a:cs typeface="Bebas Neue" pitchFamily="34" charset="-120"/>
              </a:rPr>
              <a:t>4</a:t>
            </a:r>
            <a:endParaRPr lang="en-US" sz="5280" dirty="0"/>
          </a:p>
        </p:txBody>
      </p:sp>
      <p:sp>
        <p:nvSpPr>
          <p:cNvPr id="19" name="Text 17"/>
          <p:cNvSpPr txBox="1"/>
          <p:nvPr/>
        </p:nvSpPr>
        <p:spPr>
          <a:xfrm>
            <a:off x="9052560" y="4480560"/>
            <a:ext cx="2651760" cy="548640"/>
          </a:xfrm>
          <a:prstGeom prst="rect">
            <a:avLst/>
          </a:prstGeom>
          <a:noFill/>
          <a:ln/>
        </p:spPr>
        <p:txBody>
          <a:bodyPr wrap="square" lIns="0" tIns="0" rIns="0" bIns="0" rtlCol="0" anchor="ctr"/>
          <a:lstStyle/>
          <a:p>
            <a:pPr indent="0" marL="0">
              <a:buNone/>
            </a:pPr>
            <a:r>
              <a:rPr lang="en-US" sz="2600" dirty="0">
                <a:solidFill>
                  <a:srgbClr val="1B1B1B"/>
                </a:solidFill>
                <a:latin typeface="Bebas Neue" pitchFamily="34" charset="0"/>
                <a:ea typeface="Bebas Neue" pitchFamily="34" charset="-122"/>
                <a:cs typeface="Bebas Neue" pitchFamily="34" charset="-120"/>
              </a:rPr>
              <a:t>CHOICE</a:t>
            </a:r>
            <a:endParaRPr lang="en-US" sz="2600" dirty="0"/>
          </a:p>
        </p:txBody>
      </p:sp>
      <p:sp>
        <p:nvSpPr>
          <p:cNvPr id="20" name="Text 18"/>
          <p:cNvSpPr txBox="1"/>
          <p:nvPr/>
        </p:nvSpPr>
        <p:spPr>
          <a:xfrm>
            <a:off x="9052560" y="5029200"/>
            <a:ext cx="2651760" cy="1005840"/>
          </a:xfrm>
          <a:prstGeom prst="rect">
            <a:avLst/>
          </a:prstGeom>
          <a:noFill/>
          <a:ln/>
        </p:spPr>
        <p:txBody>
          <a:bodyPr wrap="square" lIns="0" tIns="0" rIns="0" bIns="0" rtlCol="0" anchor="t"/>
          <a:lstStyle/>
          <a:p>
            <a:pPr indent="0" marL="0">
              <a:buNone/>
            </a:pPr>
            <a:r>
              <a:rPr lang="en-US" sz="2400" dirty="0">
                <a:solidFill>
                  <a:srgbClr val="4A4A4A"/>
                </a:solidFill>
                <a:latin typeface="Manrope" pitchFamily="34" charset="0"/>
                <a:ea typeface="Manrope" pitchFamily="34" charset="-122"/>
                <a:cs typeface="Manrope" pitchFamily="34" charset="-120"/>
              </a:rPr>
              <a:t>isu, alternatif, rekomendasi</a:t>
            </a:r>
            <a:endParaRPr lang="en-US" sz="2400" dirty="0"/>
          </a:p>
        </p:txBody>
      </p:sp>
      <p:sp>
        <p:nvSpPr>
          <p:cNvPr id="21" name="Text 19"/>
          <p:cNvSpPr txBox="1"/>
          <p:nvPr/>
        </p:nvSpPr>
        <p:spPr>
          <a:xfrm>
            <a:off x="548640" y="6172200"/>
            <a:ext cx="10424160" cy="457200"/>
          </a:xfrm>
          <a:prstGeom prst="rect">
            <a:avLst/>
          </a:prstGeom>
          <a:noFill/>
          <a:ln/>
        </p:spPr>
        <p:txBody>
          <a:bodyPr wrap="square" lIns="0" tIns="0" rIns="0" bIns="0" rtlCol="0" anchor="ctr"/>
          <a:lstStyle/>
          <a:p>
            <a:pPr indent="0" marL="0">
              <a:buNone/>
            </a:pPr>
            <a:r>
              <a:rPr lang="en-US" sz="1200" dirty="0">
                <a:solidFill>
                  <a:srgbClr val="E63E2C"/>
                </a:solidFill>
                <a:latin typeface="Manrope" pitchFamily="34" charset="0"/>
                <a:ea typeface="Manrope" pitchFamily="34" charset="-122"/>
                <a:cs typeface="Manrope" pitchFamily="34" charset="-120"/>
              </a:rPr>
              <a:t>■  </a:t>
            </a:r>
            <a:pPr indent="0" marL="0">
              <a:buNone/>
            </a:pPr>
            <a:r>
              <a:rPr lang="en-US" sz="1800" b="1" dirty="0">
                <a:solidFill>
                  <a:srgbClr val="1B1B1B"/>
                </a:solidFill>
                <a:latin typeface="Manrope" pitchFamily="34" charset="0"/>
                <a:ea typeface="Manrope" pitchFamily="34" charset="-122"/>
                <a:cs typeface="Manrope" pitchFamily="34" charset="-120"/>
              </a:rPr>
              <a:t>Selanjutnya  </a:t>
            </a:r>
            <a:pPr indent="0" marL="0">
              <a:buNone/>
            </a:pPr>
            <a:r>
              <a:rPr lang="en-US" sz="1800" dirty="0">
                <a:solidFill>
                  <a:srgbClr val="4A4A4A"/>
                </a:solidFill>
                <a:latin typeface="Manrope" pitchFamily="34" charset="0"/>
                <a:ea typeface="Manrope" pitchFamily="34" charset="-122"/>
                <a:cs typeface="Manrope" pitchFamily="34" charset="-120"/>
              </a:rPr>
              <a:t>Tahap 1 dimulai dengan mengenal AirAsia lebih dulu.</a:t>
            </a:r>
            <a:endParaRPr lang="en-US" sz="1800" dirty="0"/>
          </a:p>
        </p:txBody>
      </p:sp>
      <p:sp>
        <p:nvSpPr>
          <p:cNvPr id="22" name="Text 20"/>
          <p:cNvSpPr txBox="1"/>
          <p:nvPr/>
        </p:nvSpPr>
        <p:spPr>
          <a:xfrm>
            <a:off x="11247120" y="6355080"/>
            <a:ext cx="548640" cy="320040"/>
          </a:xfrm>
          <a:prstGeom prst="rect">
            <a:avLst/>
          </a:prstGeom>
          <a:noFill/>
          <a:ln/>
        </p:spPr>
        <p:txBody>
          <a:bodyPr wrap="square" lIns="0" tIns="0" rIns="0" bIns="0" rtlCol="0" anchor="ctr"/>
          <a:lstStyle/>
          <a:p>
            <a:pPr algn="r" indent="0" marL="0">
              <a:buNone/>
            </a:pPr>
            <a:r>
              <a:rPr lang="en-US" sz="1200" b="1" dirty="0">
                <a:solidFill>
                  <a:srgbClr val="1B1B1B"/>
                </a:solidFill>
                <a:latin typeface="Manrope" pitchFamily="34" charset="0"/>
                <a:ea typeface="Manrope" pitchFamily="34" charset="-122"/>
                <a:cs typeface="Manrope"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E2CF"/>
        </a:solidFill>
      </p:bgPr>
    </p:bg>
    <p:spTree>
      <p:nvGrpSpPr>
        <p:cNvPr id="1" name=""/>
        <p:cNvGrpSpPr/>
        <p:nvPr/>
      </p:nvGrpSpPr>
      <p:grpSpPr>
        <a:xfrm>
          <a:off x="0" y="0"/>
          <a:ext cx="0" cy="0"/>
          <a:chOff x="0" y="0"/>
          <a:chExt cx="0" cy="0"/>
        </a:xfrm>
      </p:grpSpPr>
      <p:sp>
        <p:nvSpPr>
          <p:cNvPr id="2" name="Shape 0"/>
          <p:cNvSpPr/>
          <p:nvPr/>
        </p:nvSpPr>
        <p:spPr>
          <a:xfrm>
            <a:off x="548640" y="411480"/>
            <a:ext cx="6556248" cy="868680"/>
          </a:xfrm>
          <a:prstGeom prst="rect">
            <a:avLst/>
          </a:prstGeom>
          <a:solidFill>
            <a:srgbClr val="E63E2C"/>
          </a:solidFill>
          <a:ln w="12700">
            <a:solidFill>
              <a:srgbClr val="E63E2C"/>
            </a:solidFill>
            <a:prstDash val="solid"/>
          </a:ln>
        </p:spPr>
      </p:sp>
      <p:sp>
        <p:nvSpPr>
          <p:cNvPr id="3" name="Text 1"/>
          <p:cNvSpPr txBox="1"/>
          <p:nvPr/>
        </p:nvSpPr>
        <p:spPr>
          <a:xfrm>
            <a:off x="548640" y="411480"/>
            <a:ext cx="6556248" cy="868680"/>
          </a:xfrm>
          <a:prstGeom prst="rect">
            <a:avLst/>
          </a:prstGeom>
          <a:noFill/>
          <a:ln/>
        </p:spPr>
        <p:txBody>
          <a:bodyPr wrap="square" lIns="0" tIns="3810" rIns="3810" bIns="0" rtlCol="0" anchor="ctr"/>
          <a:lstStyle/>
          <a:p>
            <a:pPr indent="0" marL="0">
              <a:buNone/>
            </a:pPr>
            <a:r>
              <a:rPr lang="en-US" sz="4400" dirty="0">
                <a:solidFill>
                  <a:srgbClr val="FFFFFF"/>
                </a:solidFill>
                <a:latin typeface="Bebas Neue" pitchFamily="34" charset="0"/>
                <a:ea typeface="Bebas Neue" pitchFamily="34" charset="-122"/>
                <a:cs typeface="Bebas Neue" pitchFamily="34" charset="-120"/>
              </a:rPr>
              <a:t>AIRASIA AT A GLANCE</a:t>
            </a:r>
            <a:endParaRPr lang="en-US" sz="4400" dirty="0"/>
          </a:p>
        </p:txBody>
      </p:sp>
      <p:sp>
        <p:nvSpPr>
          <p:cNvPr id="4" name="Text 2"/>
          <p:cNvSpPr txBox="1"/>
          <p:nvPr/>
        </p:nvSpPr>
        <p:spPr>
          <a:xfrm>
            <a:off x="548640" y="1298448"/>
            <a:ext cx="10058400" cy="320040"/>
          </a:xfrm>
          <a:prstGeom prst="rect">
            <a:avLst/>
          </a:prstGeom>
          <a:noFill/>
          <a:ln/>
        </p:spPr>
        <p:txBody>
          <a:bodyPr wrap="square" lIns="0" tIns="0" rIns="0" bIns="0" rtlCol="0" anchor="ctr"/>
          <a:lstStyle/>
          <a:p>
            <a:pPr indent="0" marL="0">
              <a:buNone/>
            </a:pPr>
            <a:r>
              <a:rPr lang="en-US" sz="1200" spc="150" kern="0" dirty="0">
                <a:solidFill>
                  <a:srgbClr val="E63E2C"/>
                </a:solidFill>
                <a:latin typeface="Manrope" pitchFamily="34" charset="0"/>
                <a:ea typeface="Manrope" pitchFamily="34" charset="-122"/>
                <a:cs typeface="Manrope" pitchFamily="34" charset="-120"/>
              </a:rPr>
              <a:t>■ </a:t>
            </a:r>
            <a:pPr indent="0" marL="0">
              <a:buNone/>
            </a:pPr>
            <a:r>
              <a:rPr lang="en-US" sz="1300" b="1" spc="150" kern="0" dirty="0">
                <a:solidFill>
                  <a:srgbClr val="1B1B1B"/>
                </a:solidFill>
                <a:latin typeface="Manrope" pitchFamily="34" charset="0"/>
                <a:ea typeface="Manrope" pitchFamily="34" charset="-122"/>
                <a:cs typeface="Manrope" pitchFamily="34" charset="-120"/>
              </a:rPr>
              <a:t>PROBLEM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EXTERNAL ENVIRONMENT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COST POSITION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CHOICE     </a:t>
            </a:r>
            <a:endParaRPr lang="en-US" sz="1300" dirty="0"/>
          </a:p>
        </p:txBody>
      </p:sp>
      <p:sp>
        <p:nvSpPr>
          <p:cNvPr id="5" name="Text 3"/>
          <p:cNvSpPr txBox="1"/>
          <p:nvPr/>
        </p:nvSpPr>
        <p:spPr>
          <a:xfrm>
            <a:off x="548640" y="1783080"/>
            <a:ext cx="2103120" cy="914400"/>
          </a:xfrm>
          <a:prstGeom prst="rect">
            <a:avLst/>
          </a:prstGeom>
          <a:noFill/>
          <a:ln/>
        </p:spPr>
        <p:txBody>
          <a:bodyPr wrap="square" lIns="0" tIns="0" rIns="0" bIns="0" rtlCol="0" anchor="ctr"/>
          <a:lstStyle/>
          <a:p>
            <a:pPr indent="0" marL="0">
              <a:buNone/>
            </a:pPr>
            <a:r>
              <a:rPr lang="en-US" sz="6000" dirty="0">
                <a:solidFill>
                  <a:srgbClr val="1B1B1B"/>
                </a:solidFill>
                <a:latin typeface="Bebas Neue" pitchFamily="34" charset="0"/>
                <a:ea typeface="Bebas Neue" pitchFamily="34" charset="-122"/>
                <a:cs typeface="Bebas Neue" pitchFamily="34" charset="-120"/>
              </a:rPr>
              <a:t>79</a:t>
            </a:r>
            <a:endParaRPr lang="en-US" sz="6000" dirty="0"/>
          </a:p>
        </p:txBody>
      </p:sp>
      <p:sp>
        <p:nvSpPr>
          <p:cNvPr id="6" name="Text 4"/>
          <p:cNvSpPr txBox="1"/>
          <p:nvPr/>
        </p:nvSpPr>
        <p:spPr>
          <a:xfrm>
            <a:off x="548640" y="2697480"/>
            <a:ext cx="2103120" cy="457200"/>
          </a:xfrm>
          <a:prstGeom prst="rect">
            <a:avLst/>
          </a:prstGeom>
          <a:noFill/>
          <a:ln/>
        </p:spPr>
        <p:txBody>
          <a:bodyPr wrap="square" lIns="0" tIns="0" rIns="0" bIns="0" rtlCol="0" anchor="t"/>
          <a:lstStyle/>
          <a:p>
            <a:pPr indent="0" marL="0">
              <a:buNone/>
            </a:pPr>
            <a:r>
              <a:rPr lang="en-US" sz="2400" dirty="0">
                <a:solidFill>
                  <a:srgbClr val="4A4A4A"/>
                </a:solidFill>
                <a:latin typeface="Manrope" pitchFamily="34" charset="0"/>
                <a:ea typeface="Manrope" pitchFamily="34" charset="-122"/>
                <a:cs typeface="Manrope" pitchFamily="34" charset="-120"/>
              </a:rPr>
              <a:t>pesawat 2009</a:t>
            </a:r>
            <a:endParaRPr lang="en-US" sz="2400" dirty="0"/>
          </a:p>
        </p:txBody>
      </p:sp>
      <p:sp>
        <p:nvSpPr>
          <p:cNvPr id="7" name="Text 5"/>
          <p:cNvSpPr txBox="1"/>
          <p:nvPr/>
        </p:nvSpPr>
        <p:spPr>
          <a:xfrm>
            <a:off x="2743200" y="1783080"/>
            <a:ext cx="2103120" cy="914400"/>
          </a:xfrm>
          <a:prstGeom prst="rect">
            <a:avLst/>
          </a:prstGeom>
          <a:noFill/>
          <a:ln/>
        </p:spPr>
        <p:txBody>
          <a:bodyPr wrap="square" lIns="0" tIns="0" rIns="0" bIns="0" rtlCol="0" anchor="ctr"/>
          <a:lstStyle/>
          <a:p>
            <a:pPr indent="0" marL="0">
              <a:buNone/>
            </a:pPr>
            <a:r>
              <a:rPr lang="en-US" sz="6000" dirty="0">
                <a:solidFill>
                  <a:srgbClr val="E63E2C"/>
                </a:solidFill>
                <a:latin typeface="Bebas Neue" pitchFamily="34" charset="0"/>
                <a:ea typeface="Bebas Neue" pitchFamily="34" charset="-122"/>
                <a:cs typeface="Bebas Neue" pitchFamily="34" charset="-120"/>
              </a:rPr>
              <a:t>11,8 JT</a:t>
            </a:r>
            <a:endParaRPr lang="en-US" sz="6000" dirty="0"/>
          </a:p>
        </p:txBody>
      </p:sp>
      <p:sp>
        <p:nvSpPr>
          <p:cNvPr id="8" name="Text 6"/>
          <p:cNvSpPr txBox="1"/>
          <p:nvPr/>
        </p:nvSpPr>
        <p:spPr>
          <a:xfrm>
            <a:off x="2743200" y="2697480"/>
            <a:ext cx="2103120" cy="457200"/>
          </a:xfrm>
          <a:prstGeom prst="rect">
            <a:avLst/>
          </a:prstGeom>
          <a:noFill/>
          <a:ln/>
        </p:spPr>
        <p:txBody>
          <a:bodyPr wrap="square" lIns="0" tIns="0" rIns="0" bIns="0" rtlCol="0" anchor="t"/>
          <a:lstStyle/>
          <a:p>
            <a:pPr indent="0" marL="0">
              <a:buNone/>
            </a:pPr>
            <a:r>
              <a:rPr lang="en-US" sz="2400" dirty="0">
                <a:solidFill>
                  <a:srgbClr val="4A4A4A"/>
                </a:solidFill>
                <a:latin typeface="Manrope" pitchFamily="34" charset="0"/>
                <a:ea typeface="Manrope" pitchFamily="34" charset="-122"/>
                <a:cs typeface="Manrope" pitchFamily="34" charset="-120"/>
              </a:rPr>
              <a:t>penumpang</a:t>
            </a:r>
            <a:endParaRPr lang="en-US" sz="2400" dirty="0"/>
          </a:p>
        </p:txBody>
      </p:sp>
      <p:sp>
        <p:nvSpPr>
          <p:cNvPr id="9" name="Text 7"/>
          <p:cNvSpPr txBox="1"/>
          <p:nvPr/>
        </p:nvSpPr>
        <p:spPr>
          <a:xfrm>
            <a:off x="4937760" y="1783080"/>
            <a:ext cx="2103120" cy="914400"/>
          </a:xfrm>
          <a:prstGeom prst="rect">
            <a:avLst/>
          </a:prstGeom>
          <a:noFill/>
          <a:ln/>
        </p:spPr>
        <p:txBody>
          <a:bodyPr wrap="square" lIns="0" tIns="0" rIns="0" bIns="0" rtlCol="0" anchor="ctr"/>
          <a:lstStyle/>
          <a:p>
            <a:pPr indent="0" marL="0">
              <a:buNone/>
            </a:pPr>
            <a:r>
              <a:rPr lang="en-US" sz="6000" dirty="0">
                <a:solidFill>
                  <a:srgbClr val="2C7BB8"/>
                </a:solidFill>
                <a:latin typeface="Bebas Neue" pitchFamily="34" charset="0"/>
                <a:ea typeface="Bebas Neue" pitchFamily="34" charset="-122"/>
                <a:cs typeface="Bebas Neue" pitchFamily="34" charset="-120"/>
              </a:rPr>
              <a:t>10</a:t>
            </a:r>
            <a:endParaRPr lang="en-US" sz="6000" dirty="0"/>
          </a:p>
        </p:txBody>
      </p:sp>
      <p:sp>
        <p:nvSpPr>
          <p:cNvPr id="10" name="Text 8"/>
          <p:cNvSpPr txBox="1"/>
          <p:nvPr/>
        </p:nvSpPr>
        <p:spPr>
          <a:xfrm>
            <a:off x="4937760" y="2697480"/>
            <a:ext cx="2103120" cy="457200"/>
          </a:xfrm>
          <a:prstGeom prst="rect">
            <a:avLst/>
          </a:prstGeom>
          <a:noFill/>
          <a:ln/>
        </p:spPr>
        <p:txBody>
          <a:bodyPr wrap="square" lIns="0" tIns="0" rIns="0" bIns="0" rtlCol="0" anchor="t"/>
          <a:lstStyle/>
          <a:p>
            <a:pPr indent="0" marL="0">
              <a:buNone/>
            </a:pPr>
            <a:r>
              <a:rPr lang="en-US" sz="2400" dirty="0">
                <a:solidFill>
                  <a:srgbClr val="4A4A4A"/>
                </a:solidFill>
                <a:latin typeface="Manrope" pitchFamily="34" charset="0"/>
                <a:ea typeface="Manrope" pitchFamily="34" charset="-122"/>
                <a:cs typeface="Manrope" pitchFamily="34" charset="-120"/>
              </a:rPr>
              <a:t>negara</a:t>
            </a:r>
            <a:endParaRPr lang="en-US" sz="2400" dirty="0"/>
          </a:p>
        </p:txBody>
      </p:sp>
      <p:sp>
        <p:nvSpPr>
          <p:cNvPr id="11" name="Text 9"/>
          <p:cNvSpPr txBox="1"/>
          <p:nvPr/>
        </p:nvSpPr>
        <p:spPr>
          <a:xfrm>
            <a:off x="7132320" y="1783080"/>
            <a:ext cx="2103120" cy="914400"/>
          </a:xfrm>
          <a:prstGeom prst="rect">
            <a:avLst/>
          </a:prstGeom>
          <a:noFill/>
          <a:ln/>
        </p:spPr>
        <p:txBody>
          <a:bodyPr wrap="square" lIns="0" tIns="0" rIns="0" bIns="0" rtlCol="0" anchor="ctr"/>
          <a:lstStyle/>
          <a:p>
            <a:pPr indent="0" marL="0">
              <a:buNone/>
            </a:pPr>
            <a:r>
              <a:rPr lang="en-US" sz="6000" dirty="0">
                <a:solidFill>
                  <a:srgbClr val="1B1B1B"/>
                </a:solidFill>
                <a:latin typeface="Bebas Neue" pitchFamily="34" charset="0"/>
                <a:ea typeface="Bebas Neue" pitchFamily="34" charset="-122"/>
                <a:cs typeface="Bebas Neue" pitchFamily="34" charset="-120"/>
              </a:rPr>
              <a:t>RM 1</a:t>
            </a:r>
            <a:endParaRPr lang="en-US" sz="6000" dirty="0"/>
          </a:p>
        </p:txBody>
      </p:sp>
      <p:sp>
        <p:nvSpPr>
          <p:cNvPr id="12" name="Text 10"/>
          <p:cNvSpPr txBox="1"/>
          <p:nvPr/>
        </p:nvSpPr>
        <p:spPr>
          <a:xfrm>
            <a:off x="7132320" y="2697480"/>
            <a:ext cx="2103120" cy="457200"/>
          </a:xfrm>
          <a:prstGeom prst="rect">
            <a:avLst/>
          </a:prstGeom>
          <a:noFill/>
          <a:ln/>
        </p:spPr>
        <p:txBody>
          <a:bodyPr wrap="square" lIns="0" tIns="0" rIns="0" bIns="0" rtlCol="0" anchor="t"/>
          <a:lstStyle/>
          <a:p>
            <a:pPr indent="0" marL="0">
              <a:buNone/>
            </a:pPr>
            <a:r>
              <a:rPr lang="en-US" sz="2400" dirty="0">
                <a:solidFill>
                  <a:srgbClr val="4A4A4A"/>
                </a:solidFill>
                <a:latin typeface="Manrope" pitchFamily="34" charset="0"/>
                <a:ea typeface="Manrope" pitchFamily="34" charset="-122"/>
                <a:cs typeface="Manrope" pitchFamily="34" charset="-120"/>
              </a:rPr>
              <a:t>harga beli</a:t>
            </a:r>
            <a:endParaRPr lang="en-US" sz="2400" dirty="0"/>
          </a:p>
        </p:txBody>
      </p:sp>
      <p:sp>
        <p:nvSpPr>
          <p:cNvPr id="13" name="Text 11"/>
          <p:cNvSpPr txBox="1"/>
          <p:nvPr/>
        </p:nvSpPr>
        <p:spPr>
          <a:xfrm>
            <a:off x="548640" y="3291840"/>
            <a:ext cx="4572000" cy="548640"/>
          </a:xfrm>
          <a:prstGeom prst="rect">
            <a:avLst/>
          </a:prstGeom>
          <a:noFill/>
          <a:ln/>
        </p:spPr>
        <p:txBody>
          <a:bodyPr wrap="square" lIns="0" tIns="0" rIns="0" bIns="0" rtlCol="0" anchor="ctr"/>
          <a:lstStyle/>
          <a:p>
            <a:pPr indent="0" marL="0">
              <a:buNone/>
            </a:pPr>
            <a:r>
              <a:rPr lang="en-US" sz="3400" dirty="0">
                <a:solidFill>
                  <a:srgbClr val="1B1B1B"/>
                </a:solidFill>
                <a:latin typeface="Bebas Neue" pitchFamily="34" charset="0"/>
                <a:ea typeface="Bebas Neue" pitchFamily="34" charset="-122"/>
                <a:cs typeface="Bebas Neue" pitchFamily="34" charset="-120"/>
              </a:rPr>
              <a:t>MILESTONES</a:t>
            </a:r>
            <a:endParaRPr lang="en-US" sz="3400" dirty="0"/>
          </a:p>
        </p:txBody>
      </p:sp>
      <p:sp>
        <p:nvSpPr>
          <p:cNvPr id="14" name="Text 12"/>
          <p:cNvSpPr txBox="1"/>
          <p:nvPr/>
        </p:nvSpPr>
        <p:spPr>
          <a:xfrm>
            <a:off x="548640" y="3840480"/>
            <a:ext cx="8595360" cy="2286000"/>
          </a:xfrm>
          <a:prstGeom prst="rect">
            <a:avLst/>
          </a:prstGeom>
          <a:noFill/>
          <a:ln/>
        </p:spPr>
        <p:txBody>
          <a:bodyPr wrap="square" lIns="0" tIns="0" rIns="0" bIns="0" rtlCol="0" anchor="t"/>
          <a:lstStyle/>
          <a:p>
            <a:pPr indent="0" marL="0">
              <a:spcAft>
                <a:spcPts val="300"/>
              </a:spcAft>
              <a:buNone/>
            </a:pPr>
            <a:r>
              <a:rPr lang="en-US" sz="2400" b="1" dirty="0">
                <a:solidFill>
                  <a:srgbClr val="E63E2C"/>
                </a:solidFill>
                <a:latin typeface="Manrope" pitchFamily="34" charset="0"/>
                <a:ea typeface="Manrope" pitchFamily="34" charset="-122"/>
                <a:cs typeface="Manrope" pitchFamily="34" charset="-120"/>
              </a:rPr>
              <a:t>2001   </a:t>
            </a:r>
            <a:pPr indent="0" marL="0">
              <a:spcAft>
                <a:spcPts val="300"/>
              </a:spcAft>
              <a:buNone/>
            </a:pPr>
            <a:r>
              <a:rPr lang="en-US" sz="2400" dirty="0">
                <a:solidFill>
                  <a:srgbClr val="1B1B1B"/>
                </a:solidFill>
                <a:latin typeface="Manrope" pitchFamily="34" charset="0"/>
                <a:ea typeface="Manrope" pitchFamily="34" charset="-122"/>
                <a:cs typeface="Manrope" pitchFamily="34" charset="-120"/>
              </a:rPr>
              <a:t>Diambil alih Fernandes dan McCarthy seharga RM 1</a:t>
            </a:r>
            <a:endParaRPr lang="en-US" sz="2400" dirty="0"/>
          </a:p>
          <a:p>
            <a:pPr indent="0" marL="0">
              <a:spcAft>
                <a:spcPts val="300"/>
              </a:spcAft>
              <a:buNone/>
            </a:pPr>
            <a:r>
              <a:rPr lang="en-US" sz="2400" b="1" dirty="0">
                <a:solidFill>
                  <a:srgbClr val="E63E2C"/>
                </a:solidFill>
                <a:latin typeface="Manrope" pitchFamily="34" charset="0"/>
                <a:ea typeface="Manrope" pitchFamily="34" charset="-122"/>
                <a:cs typeface="Manrope" pitchFamily="34" charset="-120"/>
              </a:rPr>
              <a:t>2002   </a:t>
            </a:r>
            <a:pPr indent="0" marL="0">
              <a:spcAft>
                <a:spcPts val="300"/>
              </a:spcAft>
              <a:buNone/>
            </a:pPr>
            <a:r>
              <a:rPr lang="en-US" sz="2400" dirty="0">
                <a:solidFill>
                  <a:srgbClr val="1B1B1B"/>
                </a:solidFill>
                <a:latin typeface="Manrope" pitchFamily="34" charset="0"/>
                <a:ea typeface="Manrope" pitchFamily="34" charset="-122"/>
                <a:cs typeface="Manrope" pitchFamily="34" charset="-120"/>
              </a:rPr>
              <a:t>Relaunch: model Ryanair, Southwest, easyJet</a:t>
            </a:r>
            <a:endParaRPr lang="en-US" sz="2400" dirty="0"/>
          </a:p>
          <a:p>
            <a:pPr indent="0" marL="0">
              <a:spcAft>
                <a:spcPts val="300"/>
              </a:spcAft>
              <a:buNone/>
            </a:pPr>
            <a:r>
              <a:rPr lang="en-US" sz="2400" b="1" dirty="0">
                <a:solidFill>
                  <a:srgbClr val="E63E2C"/>
                </a:solidFill>
                <a:latin typeface="Manrope" pitchFamily="34" charset="0"/>
                <a:ea typeface="Manrope" pitchFamily="34" charset="-122"/>
                <a:cs typeface="Manrope" pitchFamily="34" charset="-120"/>
              </a:rPr>
              <a:t>2004   </a:t>
            </a:r>
            <a:pPr indent="0" marL="0">
              <a:spcAft>
                <a:spcPts val="300"/>
              </a:spcAft>
              <a:buNone/>
            </a:pPr>
            <a:r>
              <a:rPr lang="en-US" sz="2400" dirty="0">
                <a:solidFill>
                  <a:srgbClr val="1B1B1B"/>
                </a:solidFill>
                <a:latin typeface="Manrope" pitchFamily="34" charset="0"/>
                <a:ea typeface="Manrope" pitchFamily="34" charset="-122"/>
                <a:cs typeface="Manrope" pitchFamily="34" charset="-120"/>
              </a:rPr>
              <a:t>Rute internasional pertama; IPO RM 717 juta</a:t>
            </a:r>
            <a:endParaRPr lang="en-US" sz="2400" dirty="0"/>
          </a:p>
          <a:p>
            <a:pPr indent="0" marL="0">
              <a:spcAft>
                <a:spcPts val="300"/>
              </a:spcAft>
              <a:buNone/>
            </a:pPr>
            <a:r>
              <a:rPr lang="en-US" sz="2400" b="1" dirty="0">
                <a:solidFill>
                  <a:srgbClr val="E63E2C"/>
                </a:solidFill>
                <a:latin typeface="Manrope" pitchFamily="34" charset="0"/>
                <a:ea typeface="Manrope" pitchFamily="34" charset="-122"/>
                <a:cs typeface="Manrope" pitchFamily="34" charset="-120"/>
              </a:rPr>
              <a:t>2007   </a:t>
            </a:r>
            <a:pPr indent="0" marL="0">
              <a:spcAft>
                <a:spcPts val="300"/>
              </a:spcAft>
              <a:buNone/>
            </a:pPr>
            <a:r>
              <a:rPr lang="en-US" sz="2400" dirty="0">
                <a:solidFill>
                  <a:srgbClr val="1B1B1B"/>
                </a:solidFill>
                <a:latin typeface="Manrope" pitchFamily="34" charset="0"/>
                <a:ea typeface="Manrope" pitchFamily="34" charset="-122"/>
                <a:cs typeface="Manrope" pitchFamily="34" charset="-120"/>
              </a:rPr>
              <a:t>AirAsia X mulai terbang jarak jauh</a:t>
            </a:r>
            <a:endParaRPr lang="en-US" sz="2400" dirty="0"/>
          </a:p>
          <a:p>
            <a:pPr indent="0" marL="0">
              <a:spcAft>
                <a:spcPts val="300"/>
              </a:spcAft>
              <a:buNone/>
            </a:pPr>
            <a:r>
              <a:rPr lang="en-US" sz="2400" b="1" dirty="0">
                <a:solidFill>
                  <a:srgbClr val="E63E2C"/>
                </a:solidFill>
                <a:latin typeface="Manrope" pitchFamily="34" charset="0"/>
                <a:ea typeface="Manrope" pitchFamily="34" charset="-122"/>
                <a:cs typeface="Manrope" pitchFamily="34" charset="-120"/>
              </a:rPr>
              <a:t>2009   </a:t>
            </a:r>
            <a:pPr indent="0" marL="0">
              <a:spcAft>
                <a:spcPts val="300"/>
              </a:spcAft>
              <a:buNone/>
            </a:pPr>
            <a:r>
              <a:rPr lang="en-US" sz="2400" dirty="0">
                <a:solidFill>
                  <a:srgbClr val="1B1B1B"/>
                </a:solidFill>
                <a:latin typeface="Manrope" pitchFamily="34" charset="0"/>
                <a:ea typeface="Manrope" pitchFamily="34" charset="-122"/>
                <a:cs typeface="Manrope" pitchFamily="34" charset="-120"/>
              </a:rPr>
              <a:t>Skytrax: World's Best Low Cost Airline</a:t>
            </a:r>
            <a:endParaRPr lang="en-US" sz="2400" dirty="0"/>
          </a:p>
        </p:txBody>
      </p:sp>
      <p:sp>
        <p:nvSpPr>
          <p:cNvPr id="15" name="Shape 13"/>
          <p:cNvSpPr/>
          <p:nvPr/>
        </p:nvSpPr>
        <p:spPr>
          <a:xfrm>
            <a:off x="9966960" y="1737360"/>
            <a:ext cx="1645920" cy="4389120"/>
          </a:xfrm>
          <a:prstGeom prst="rect">
            <a:avLst/>
          </a:prstGeom>
          <a:solidFill>
            <a:srgbClr val="2C7BB8"/>
          </a:solidFill>
          <a:ln w="12700">
            <a:solidFill>
              <a:srgbClr val="2C7BB8"/>
            </a:solidFill>
            <a:prstDash val="solid"/>
          </a:ln>
        </p:spPr>
      </p:sp>
      <p:sp>
        <p:nvSpPr>
          <p:cNvPr id="16" name="Shape 14"/>
          <p:cNvSpPr/>
          <p:nvPr/>
        </p:nvSpPr>
        <p:spPr>
          <a:xfrm>
            <a:off x="9052560" y="4480560"/>
            <a:ext cx="1463040" cy="1463040"/>
          </a:xfrm>
          <a:prstGeom prst="ellipse">
            <a:avLst/>
          </a:prstGeom>
          <a:solidFill>
            <a:srgbClr val="F4C430"/>
          </a:solidFill>
          <a:ln w="12700">
            <a:solidFill>
              <a:srgbClr val="F4C430"/>
            </a:solidFill>
            <a:prstDash val="solid"/>
          </a:ln>
        </p:spPr>
      </p:sp>
      <p:pic>
        <p:nvPicPr>
          <p:cNvPr id="17" name="Image 0" descr="/tmp/claude-0/-home-user-Dom-Manipulation/a70c4110-05d8-512e-ae11-d08dee025a7a/scratchpad/img/bw_petronas.png">    </p:cNvPr>
          <p:cNvPicPr>
            <a:picLocks noChangeAspect="1"/>
          </p:cNvPicPr>
          <p:nvPr/>
        </p:nvPicPr>
        <p:blipFill>
          <a:blip r:embed="rId1"/>
          <a:stretch>
            <a:fillRect/>
          </a:stretch>
        </p:blipFill>
        <p:spPr>
          <a:xfrm>
            <a:off x="9464040" y="1920240"/>
            <a:ext cx="2286000" cy="4160520"/>
          </a:xfrm>
          <a:prstGeom prst="rect">
            <a:avLst/>
          </a:prstGeom>
        </p:spPr>
      </p:pic>
      <p:sp>
        <p:nvSpPr>
          <p:cNvPr id="18" name="Text 15"/>
          <p:cNvSpPr txBox="1"/>
          <p:nvPr/>
        </p:nvSpPr>
        <p:spPr>
          <a:xfrm>
            <a:off x="548640" y="6172200"/>
            <a:ext cx="10424160" cy="457200"/>
          </a:xfrm>
          <a:prstGeom prst="rect">
            <a:avLst/>
          </a:prstGeom>
          <a:noFill/>
          <a:ln/>
        </p:spPr>
        <p:txBody>
          <a:bodyPr wrap="square" lIns="0" tIns="0" rIns="0" bIns="0" rtlCol="0" anchor="ctr"/>
          <a:lstStyle/>
          <a:p>
            <a:pPr indent="0" marL="0">
              <a:buNone/>
            </a:pPr>
            <a:r>
              <a:rPr lang="en-US" sz="1200" dirty="0">
                <a:solidFill>
                  <a:srgbClr val="E63E2C"/>
                </a:solidFill>
                <a:latin typeface="Manrope" pitchFamily="34" charset="0"/>
                <a:ea typeface="Manrope" pitchFamily="34" charset="-122"/>
                <a:cs typeface="Manrope" pitchFamily="34" charset="-120"/>
              </a:rPr>
              <a:t>■  </a:t>
            </a:r>
            <a:pPr indent="0" marL="0">
              <a:buNone/>
            </a:pPr>
            <a:r>
              <a:rPr lang="en-US" sz="1800" b="1" dirty="0">
                <a:solidFill>
                  <a:srgbClr val="1B1B1B"/>
                </a:solidFill>
                <a:latin typeface="Manrope" pitchFamily="34" charset="0"/>
                <a:ea typeface="Manrope" pitchFamily="34" charset="-122"/>
                <a:cs typeface="Manrope" pitchFamily="34" charset="-120"/>
              </a:rPr>
              <a:t>Selanjutnya  </a:t>
            </a:r>
            <a:pPr indent="0" marL="0">
              <a:buNone/>
            </a:pPr>
            <a:r>
              <a:rPr lang="en-US" sz="1800" dirty="0">
                <a:solidFill>
                  <a:srgbClr val="4A4A4A"/>
                </a:solidFill>
                <a:latin typeface="Manrope" pitchFamily="34" charset="0"/>
                <a:ea typeface="Manrope" pitchFamily="34" charset="-122"/>
                <a:cs typeface="Manrope" pitchFamily="34" charset="-120"/>
              </a:rPr>
              <a:t>Dibangun di rute pendek. Rute jauh memunculkan masalah baru.</a:t>
            </a:r>
            <a:endParaRPr lang="en-US" sz="1800" dirty="0"/>
          </a:p>
        </p:txBody>
      </p:sp>
      <p:sp>
        <p:nvSpPr>
          <p:cNvPr id="19" name="Text 16"/>
          <p:cNvSpPr txBox="1"/>
          <p:nvPr/>
        </p:nvSpPr>
        <p:spPr>
          <a:xfrm>
            <a:off x="11247120" y="6355080"/>
            <a:ext cx="548640" cy="320040"/>
          </a:xfrm>
          <a:prstGeom prst="rect">
            <a:avLst/>
          </a:prstGeom>
          <a:noFill/>
          <a:ln/>
        </p:spPr>
        <p:txBody>
          <a:bodyPr wrap="square" lIns="0" tIns="0" rIns="0" bIns="0" rtlCol="0" anchor="ctr"/>
          <a:lstStyle/>
          <a:p>
            <a:pPr algn="r" indent="0" marL="0">
              <a:buNone/>
            </a:pPr>
            <a:r>
              <a:rPr lang="en-US" sz="1200" b="1" dirty="0">
                <a:solidFill>
                  <a:srgbClr val="1B1B1B"/>
                </a:solidFill>
                <a:latin typeface="Manrope" pitchFamily="34" charset="0"/>
                <a:ea typeface="Manrope" pitchFamily="34" charset="-122"/>
                <a:cs typeface="Manrope"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2CF"/>
        </a:solidFill>
      </p:bgPr>
    </p:bg>
    <p:spTree>
      <p:nvGrpSpPr>
        <p:cNvPr id="1" name=""/>
        <p:cNvGrpSpPr/>
        <p:nvPr/>
      </p:nvGrpSpPr>
      <p:grpSpPr>
        <a:xfrm>
          <a:off x="0" y="0"/>
          <a:ext cx="0" cy="0"/>
          <a:chOff x="0" y="0"/>
          <a:chExt cx="0" cy="0"/>
        </a:xfrm>
      </p:grpSpPr>
      <p:sp>
        <p:nvSpPr>
          <p:cNvPr id="2" name="Text 0"/>
          <p:cNvSpPr txBox="1"/>
          <p:nvPr/>
        </p:nvSpPr>
        <p:spPr>
          <a:xfrm>
            <a:off x="548640" y="411480"/>
            <a:ext cx="10515600" cy="868680"/>
          </a:xfrm>
          <a:prstGeom prst="rect">
            <a:avLst/>
          </a:prstGeom>
          <a:noFill/>
          <a:ln/>
        </p:spPr>
        <p:txBody>
          <a:bodyPr wrap="square" lIns="0" tIns="0" rIns="0" bIns="0" rtlCol="0" anchor="ctr"/>
          <a:lstStyle/>
          <a:p>
            <a:pPr indent="0" marL="0">
              <a:buNone/>
            </a:pPr>
            <a:r>
              <a:rPr lang="en-US" sz="5400" dirty="0">
                <a:solidFill>
                  <a:srgbClr val="1B1B1B"/>
                </a:solidFill>
                <a:latin typeface="Bebas Neue" pitchFamily="34" charset="0"/>
                <a:ea typeface="Bebas Neue" pitchFamily="34" charset="-122"/>
                <a:cs typeface="Bebas Neue" pitchFamily="34" charset="-120"/>
              </a:rPr>
              <a:t>THE STRATEGIC PROBLEM</a:t>
            </a:r>
            <a:endParaRPr lang="en-US" sz="5400" dirty="0"/>
          </a:p>
        </p:txBody>
      </p:sp>
      <p:sp>
        <p:nvSpPr>
          <p:cNvPr id="3" name="Text 1"/>
          <p:cNvSpPr txBox="1"/>
          <p:nvPr/>
        </p:nvSpPr>
        <p:spPr>
          <a:xfrm>
            <a:off x="548640" y="1298448"/>
            <a:ext cx="10058400" cy="320040"/>
          </a:xfrm>
          <a:prstGeom prst="rect">
            <a:avLst/>
          </a:prstGeom>
          <a:noFill/>
          <a:ln/>
        </p:spPr>
        <p:txBody>
          <a:bodyPr wrap="square" lIns="0" tIns="0" rIns="0" bIns="0" rtlCol="0" anchor="ctr"/>
          <a:lstStyle/>
          <a:p>
            <a:pPr indent="0" marL="0">
              <a:buNone/>
            </a:pPr>
            <a:r>
              <a:rPr lang="en-US" sz="1200" spc="150" kern="0" dirty="0">
                <a:solidFill>
                  <a:srgbClr val="E63E2C"/>
                </a:solidFill>
                <a:latin typeface="Manrope" pitchFamily="34" charset="0"/>
                <a:ea typeface="Manrope" pitchFamily="34" charset="-122"/>
                <a:cs typeface="Manrope" pitchFamily="34" charset="-120"/>
              </a:rPr>
              <a:t>■ </a:t>
            </a:r>
            <a:pPr indent="0" marL="0">
              <a:buNone/>
            </a:pPr>
            <a:r>
              <a:rPr lang="en-US" sz="1300" b="1" spc="150" kern="0" dirty="0">
                <a:solidFill>
                  <a:srgbClr val="1B1B1B"/>
                </a:solidFill>
                <a:latin typeface="Manrope" pitchFamily="34" charset="0"/>
                <a:ea typeface="Manrope" pitchFamily="34" charset="-122"/>
                <a:cs typeface="Manrope" pitchFamily="34" charset="-120"/>
              </a:rPr>
              <a:t>PROBLEM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EXTERNAL ENVIRONMENT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COST POSITION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CHOICE     </a:t>
            </a:r>
            <a:endParaRPr lang="en-US" sz="1300" dirty="0"/>
          </a:p>
        </p:txBody>
      </p:sp>
      <p:sp>
        <p:nvSpPr>
          <p:cNvPr id="4" name="Shape 2"/>
          <p:cNvSpPr/>
          <p:nvPr/>
        </p:nvSpPr>
        <p:spPr>
          <a:xfrm>
            <a:off x="10332720" y="-182880"/>
            <a:ext cx="2743200" cy="2743200"/>
          </a:xfrm>
          <a:prstGeom prst="ellipse">
            <a:avLst/>
          </a:prstGeom>
          <a:solidFill>
            <a:srgbClr val="F4C430"/>
          </a:solidFill>
          <a:ln w="12700">
            <a:solidFill>
              <a:srgbClr val="F4C430"/>
            </a:solidFill>
            <a:prstDash val="solid"/>
          </a:ln>
        </p:spPr>
      </p:sp>
      <p:sp>
        <p:nvSpPr>
          <p:cNvPr id="5" name="Shape 3"/>
          <p:cNvSpPr/>
          <p:nvPr/>
        </p:nvSpPr>
        <p:spPr>
          <a:xfrm>
            <a:off x="10314432" y="-228600"/>
            <a:ext cx="2779776" cy="1417320"/>
          </a:xfrm>
          <a:prstGeom prst="rect">
            <a:avLst/>
          </a:prstGeom>
          <a:solidFill>
            <a:srgbClr val="F3E2CF"/>
          </a:solidFill>
          <a:ln w="12700">
            <a:solidFill>
              <a:srgbClr val="F3E2CF"/>
            </a:solidFill>
            <a:prstDash val="solid"/>
          </a:ln>
        </p:spPr>
      </p:sp>
      <p:sp>
        <p:nvSpPr>
          <p:cNvPr id="6" name="Text 4"/>
          <p:cNvSpPr txBox="1"/>
          <p:nvPr/>
        </p:nvSpPr>
        <p:spPr>
          <a:xfrm>
            <a:off x="548640" y="1783080"/>
            <a:ext cx="5120640" cy="548640"/>
          </a:xfrm>
          <a:prstGeom prst="rect">
            <a:avLst/>
          </a:prstGeom>
          <a:noFill/>
          <a:ln/>
        </p:spPr>
        <p:txBody>
          <a:bodyPr wrap="square" lIns="0" tIns="0" rIns="0" bIns="0" rtlCol="0" anchor="ctr"/>
          <a:lstStyle/>
          <a:p>
            <a:pPr indent="0" marL="0">
              <a:buNone/>
            </a:pPr>
            <a:r>
              <a:rPr lang="en-US" sz="3400" dirty="0">
                <a:solidFill>
                  <a:srgbClr val="E63E2C"/>
                </a:solidFill>
                <a:latin typeface="Bebas Neue" pitchFamily="34" charset="0"/>
                <a:ea typeface="Bebas Neue" pitchFamily="34" charset="-122"/>
                <a:cs typeface="Bebas Neue" pitchFamily="34" charset="-120"/>
              </a:rPr>
              <a:t>TUJUAN (GOALS)</a:t>
            </a:r>
            <a:endParaRPr lang="en-US" sz="3400" dirty="0"/>
          </a:p>
        </p:txBody>
      </p:sp>
      <p:sp>
        <p:nvSpPr>
          <p:cNvPr id="7" name="Text 5"/>
          <p:cNvSpPr txBox="1"/>
          <p:nvPr/>
        </p:nvSpPr>
        <p:spPr>
          <a:xfrm>
            <a:off x="548640" y="2377440"/>
            <a:ext cx="5120640" cy="356616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Menjadi maskapai internasional, bukan hanya regional</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Tetap berbiaya terendah di setiap rute</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Tumbuh lewat rute gemuk (trunk routes) jarak jauh</a:t>
            </a:r>
            <a:endParaRPr lang="en-US" sz="2400" dirty="0"/>
          </a:p>
        </p:txBody>
      </p:sp>
      <p:sp>
        <p:nvSpPr>
          <p:cNvPr id="8" name="Shape 6"/>
          <p:cNvSpPr/>
          <p:nvPr/>
        </p:nvSpPr>
        <p:spPr>
          <a:xfrm>
            <a:off x="5989320" y="1783080"/>
            <a:ext cx="91440" cy="4160520"/>
          </a:xfrm>
          <a:prstGeom prst="rect">
            <a:avLst/>
          </a:prstGeom>
          <a:solidFill>
            <a:srgbClr val="1B1B1B"/>
          </a:solidFill>
          <a:ln w="12700">
            <a:solidFill>
              <a:srgbClr val="1B1B1B"/>
            </a:solidFill>
            <a:prstDash val="solid"/>
          </a:ln>
        </p:spPr>
      </p:sp>
      <p:sp>
        <p:nvSpPr>
          <p:cNvPr id="9" name="Text 7"/>
          <p:cNvSpPr txBox="1"/>
          <p:nvPr/>
        </p:nvSpPr>
        <p:spPr>
          <a:xfrm>
            <a:off x="6400800" y="1783080"/>
            <a:ext cx="5303520" cy="548640"/>
          </a:xfrm>
          <a:prstGeom prst="rect">
            <a:avLst/>
          </a:prstGeom>
          <a:noFill/>
          <a:ln/>
        </p:spPr>
        <p:txBody>
          <a:bodyPr wrap="square" lIns="0" tIns="0" rIns="0" bIns="0" rtlCol="0" anchor="ctr"/>
          <a:lstStyle/>
          <a:p>
            <a:pPr indent="0" marL="0">
              <a:buNone/>
            </a:pPr>
            <a:r>
              <a:rPr lang="en-US" sz="3400" dirty="0">
                <a:solidFill>
                  <a:srgbClr val="2C7BB8"/>
                </a:solidFill>
                <a:latin typeface="Bebas Neue" pitchFamily="34" charset="0"/>
                <a:ea typeface="Bebas Neue" pitchFamily="34" charset="-122"/>
                <a:cs typeface="Bebas Neue" pitchFamily="34" charset="-120"/>
              </a:rPr>
              <a:t>HAMBATAN (BARRIERS)</a:t>
            </a:r>
            <a:endParaRPr lang="en-US" sz="3400" dirty="0"/>
          </a:p>
        </p:txBody>
      </p:sp>
      <p:sp>
        <p:nvSpPr>
          <p:cNvPr id="10" name="Text 8"/>
          <p:cNvSpPr txBox="1"/>
          <p:nvPr/>
        </p:nvSpPr>
        <p:spPr>
          <a:xfrm>
            <a:off x="6400800" y="2377440"/>
            <a:ext cx="5303520" cy="356616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Model LCC bertumpu pada rute pendek, satu tipe pesawat, layanan minimal</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Pesaing jarak jauh punya feeder, tiket terusan, subsidi silang</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Neraca 2008 lemah: utang RM 6,69 miliar, kas RM 153,8 juta</a:t>
            </a:r>
            <a:endParaRPr lang="en-US" sz="2400" dirty="0"/>
          </a:p>
        </p:txBody>
      </p:sp>
      <p:sp>
        <p:nvSpPr>
          <p:cNvPr id="11" name="Text 9"/>
          <p:cNvSpPr txBox="1"/>
          <p:nvPr/>
        </p:nvSpPr>
        <p:spPr>
          <a:xfrm>
            <a:off x="548640" y="6172200"/>
            <a:ext cx="10424160" cy="457200"/>
          </a:xfrm>
          <a:prstGeom prst="rect">
            <a:avLst/>
          </a:prstGeom>
          <a:noFill/>
          <a:ln/>
        </p:spPr>
        <p:txBody>
          <a:bodyPr wrap="square" lIns="0" tIns="0" rIns="0" bIns="0" rtlCol="0" anchor="ctr"/>
          <a:lstStyle/>
          <a:p>
            <a:pPr indent="0" marL="0">
              <a:buNone/>
            </a:pPr>
            <a:r>
              <a:rPr lang="en-US" sz="1200" dirty="0">
                <a:solidFill>
                  <a:srgbClr val="E63E2C"/>
                </a:solidFill>
                <a:latin typeface="Manrope" pitchFamily="34" charset="0"/>
                <a:ea typeface="Manrope" pitchFamily="34" charset="-122"/>
                <a:cs typeface="Manrope" pitchFamily="34" charset="-120"/>
              </a:rPr>
              <a:t>■  </a:t>
            </a:r>
            <a:pPr indent="0" marL="0">
              <a:buNone/>
            </a:pPr>
            <a:r>
              <a:rPr lang="en-US" sz="1800" b="1" dirty="0">
                <a:solidFill>
                  <a:srgbClr val="1B1B1B"/>
                </a:solidFill>
                <a:latin typeface="Manrope" pitchFamily="34" charset="0"/>
                <a:ea typeface="Manrope" pitchFamily="34" charset="-122"/>
                <a:cs typeface="Manrope" pitchFamily="34" charset="-120"/>
              </a:rPr>
              <a:t>Selanjutnya  </a:t>
            </a:r>
            <a:pPr indent="0" marL="0">
              <a:buNone/>
            </a:pPr>
            <a:r>
              <a:rPr lang="en-US" sz="1800" dirty="0">
                <a:solidFill>
                  <a:srgbClr val="4A4A4A"/>
                </a:solidFill>
                <a:latin typeface="Manrope" pitchFamily="34" charset="0"/>
                <a:ea typeface="Manrope" pitchFamily="34" charset="-122"/>
                <a:cs typeface="Manrope" pitchFamily="34" charset="-120"/>
              </a:rPr>
              <a:t>Tujuan yang terhalang. Pertanyaannya dirumuskan di slide berikutnya.</a:t>
            </a:r>
            <a:endParaRPr lang="en-US" sz="1800" dirty="0"/>
          </a:p>
        </p:txBody>
      </p:sp>
      <p:sp>
        <p:nvSpPr>
          <p:cNvPr id="12" name="Text 10"/>
          <p:cNvSpPr txBox="1"/>
          <p:nvPr/>
        </p:nvSpPr>
        <p:spPr>
          <a:xfrm>
            <a:off x="11247120" y="6355080"/>
            <a:ext cx="548640" cy="320040"/>
          </a:xfrm>
          <a:prstGeom prst="rect">
            <a:avLst/>
          </a:prstGeom>
          <a:noFill/>
          <a:ln/>
        </p:spPr>
        <p:txBody>
          <a:bodyPr wrap="square" lIns="0" tIns="0" rIns="0" bIns="0" rtlCol="0" anchor="ctr"/>
          <a:lstStyle/>
          <a:p>
            <a:pPr algn="r" indent="0" marL="0">
              <a:buNone/>
            </a:pPr>
            <a:r>
              <a:rPr lang="en-US" sz="1200" b="1" dirty="0">
                <a:solidFill>
                  <a:srgbClr val="1B1B1B"/>
                </a:solidFill>
                <a:latin typeface="Manrope" pitchFamily="34" charset="0"/>
                <a:ea typeface="Manrope" pitchFamily="34" charset="-122"/>
                <a:cs typeface="Manrope"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2CF"/>
        </a:solidFill>
      </p:bgPr>
    </p:bg>
    <p:spTree>
      <p:nvGrpSpPr>
        <p:cNvPr id="1" name=""/>
        <p:cNvGrpSpPr/>
        <p:nvPr/>
      </p:nvGrpSpPr>
      <p:grpSpPr>
        <a:xfrm>
          <a:off x="0" y="0"/>
          <a:ext cx="0" cy="0"/>
          <a:chOff x="0" y="0"/>
          <a:chExt cx="0" cy="0"/>
        </a:xfrm>
      </p:grpSpPr>
      <p:sp>
        <p:nvSpPr>
          <p:cNvPr id="2" name="Text 0"/>
          <p:cNvSpPr txBox="1"/>
          <p:nvPr/>
        </p:nvSpPr>
        <p:spPr>
          <a:xfrm>
            <a:off x="548640" y="411480"/>
            <a:ext cx="10515600" cy="868680"/>
          </a:xfrm>
          <a:prstGeom prst="rect">
            <a:avLst/>
          </a:prstGeom>
          <a:noFill/>
          <a:ln/>
        </p:spPr>
        <p:txBody>
          <a:bodyPr wrap="square" lIns="0" tIns="0" rIns="0" bIns="0" rtlCol="0" anchor="ctr"/>
          <a:lstStyle/>
          <a:p>
            <a:pPr indent="0" marL="0">
              <a:buNone/>
            </a:pPr>
            <a:r>
              <a:rPr lang="en-US" sz="5400" dirty="0">
                <a:solidFill>
                  <a:srgbClr val="1B1B1B"/>
                </a:solidFill>
                <a:latin typeface="Bebas Neue" pitchFamily="34" charset="0"/>
                <a:ea typeface="Bebas Neue" pitchFamily="34" charset="-122"/>
                <a:cs typeface="Bebas Neue" pitchFamily="34" charset="-120"/>
              </a:rPr>
              <a:t>THE STRATEGIC QUESTION</a:t>
            </a:r>
            <a:endParaRPr lang="en-US" sz="5400" dirty="0"/>
          </a:p>
        </p:txBody>
      </p:sp>
      <p:sp>
        <p:nvSpPr>
          <p:cNvPr id="3" name="Text 1"/>
          <p:cNvSpPr txBox="1"/>
          <p:nvPr/>
        </p:nvSpPr>
        <p:spPr>
          <a:xfrm>
            <a:off x="548640" y="1298448"/>
            <a:ext cx="10058400" cy="320040"/>
          </a:xfrm>
          <a:prstGeom prst="rect">
            <a:avLst/>
          </a:prstGeom>
          <a:noFill/>
          <a:ln/>
        </p:spPr>
        <p:txBody>
          <a:bodyPr wrap="square" lIns="0" tIns="0" rIns="0" bIns="0" rtlCol="0" anchor="ctr"/>
          <a:lstStyle/>
          <a:p>
            <a:pPr indent="0" marL="0">
              <a:buNone/>
            </a:pPr>
            <a:r>
              <a:rPr lang="en-US" sz="1200" spc="150" kern="0" dirty="0">
                <a:solidFill>
                  <a:srgbClr val="E63E2C"/>
                </a:solidFill>
                <a:latin typeface="Manrope" pitchFamily="34" charset="0"/>
                <a:ea typeface="Manrope" pitchFamily="34" charset="-122"/>
                <a:cs typeface="Manrope" pitchFamily="34" charset="-120"/>
              </a:rPr>
              <a:t>■ </a:t>
            </a:r>
            <a:pPr indent="0" marL="0">
              <a:buNone/>
            </a:pPr>
            <a:r>
              <a:rPr lang="en-US" sz="1300" b="1" spc="150" kern="0" dirty="0">
                <a:solidFill>
                  <a:srgbClr val="1B1B1B"/>
                </a:solidFill>
                <a:latin typeface="Manrope" pitchFamily="34" charset="0"/>
                <a:ea typeface="Manrope" pitchFamily="34" charset="-122"/>
                <a:cs typeface="Manrope" pitchFamily="34" charset="-120"/>
              </a:rPr>
              <a:t>PROBLEM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EXTERNAL ENVIRONMENT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COST POSITION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CHOICE     </a:t>
            </a:r>
            <a:endParaRPr lang="en-US" sz="1300" dirty="0"/>
          </a:p>
        </p:txBody>
      </p:sp>
      <p:sp>
        <p:nvSpPr>
          <p:cNvPr id="4" name="Shape 2"/>
          <p:cNvSpPr/>
          <p:nvPr/>
        </p:nvSpPr>
        <p:spPr>
          <a:xfrm>
            <a:off x="7589520" y="1554480"/>
            <a:ext cx="4206240" cy="4206240"/>
          </a:xfrm>
          <a:prstGeom prst="ellipse">
            <a:avLst/>
          </a:prstGeom>
          <a:solidFill>
            <a:srgbClr val="2C7BB8"/>
          </a:solidFill>
          <a:ln w="12700">
            <a:solidFill>
              <a:srgbClr val="2C7BB8"/>
            </a:solidFill>
            <a:prstDash val="solid"/>
          </a:ln>
        </p:spPr>
      </p:sp>
      <p:sp>
        <p:nvSpPr>
          <p:cNvPr id="5" name="Shape 3"/>
          <p:cNvSpPr/>
          <p:nvPr/>
        </p:nvSpPr>
        <p:spPr>
          <a:xfrm>
            <a:off x="6766560" y="4480560"/>
            <a:ext cx="2194560" cy="2194560"/>
          </a:xfrm>
          <a:prstGeom prst="ellipse">
            <a:avLst/>
          </a:prstGeom>
          <a:ln w="19050">
            <a:solidFill>
              <a:srgbClr val="1B1B1B"/>
            </a:solidFill>
            <a:prstDash val="sysDot"/>
          </a:ln>
        </p:spPr>
      </p:sp>
      <p:pic>
        <p:nvPicPr>
          <p:cNvPr id="6" name="Image 0" descr="/tmp/claude-0/-home-user-Dom-Manipulation/a70c4110-05d8-512e-ae11-d08dee025a7a/scratchpad/img/bw_widebody.png">    </p:cNvPr>
          <p:cNvPicPr>
            <a:picLocks noChangeAspect="1"/>
          </p:cNvPicPr>
          <p:nvPr/>
        </p:nvPicPr>
        <p:blipFill>
          <a:blip r:embed="rId1"/>
          <a:stretch>
            <a:fillRect/>
          </a:stretch>
        </p:blipFill>
        <p:spPr>
          <a:xfrm>
            <a:off x="6583680" y="3108960"/>
            <a:ext cx="5486400" cy="2194560"/>
          </a:xfrm>
          <a:prstGeom prst="rect">
            <a:avLst/>
          </a:prstGeom>
        </p:spPr>
      </p:pic>
      <p:sp>
        <p:nvSpPr>
          <p:cNvPr id="7" name="Text 4"/>
          <p:cNvSpPr txBox="1"/>
          <p:nvPr/>
        </p:nvSpPr>
        <p:spPr>
          <a:xfrm>
            <a:off x="548640" y="1737360"/>
            <a:ext cx="5852160" cy="2377440"/>
          </a:xfrm>
          <a:prstGeom prst="rect">
            <a:avLst/>
          </a:prstGeom>
          <a:noFill/>
          <a:ln/>
        </p:spPr>
        <p:txBody>
          <a:bodyPr wrap="square" lIns="0" tIns="0" rIns="0" bIns="0" rtlCol="0" anchor="t"/>
          <a:lstStyle/>
          <a:p>
            <a:pPr indent="0" marL="0">
              <a:buNone/>
            </a:pPr>
            <a:r>
              <a:rPr lang="en-US" sz="2400" b="1" dirty="0">
                <a:solidFill>
                  <a:srgbClr val="1B1B1B"/>
                </a:solidFill>
                <a:latin typeface="Manrope" pitchFamily="34" charset="0"/>
                <a:ea typeface="Manrope" pitchFamily="34" charset="-122"/>
                <a:cs typeface="Manrope" pitchFamily="34" charset="-120"/>
              </a:rPr>
              <a:t>Apakah keunggulan biaya AirAsia dapat ditransfer ke rute jauh, dan bagaimana menata hubungan dengan AirAsia X agar eksplorasi (exploration) tidak mengganggu eksploitasi (exploitation)?</a:t>
            </a:r>
            <a:endParaRPr lang="en-US" sz="2400" dirty="0"/>
          </a:p>
        </p:txBody>
      </p:sp>
      <p:sp>
        <p:nvSpPr>
          <p:cNvPr id="8" name="Text 5"/>
          <p:cNvSpPr txBox="1"/>
          <p:nvPr/>
        </p:nvSpPr>
        <p:spPr>
          <a:xfrm>
            <a:off x="548640" y="4251960"/>
            <a:ext cx="5852160" cy="1783080"/>
          </a:xfrm>
          <a:prstGeom prst="rect">
            <a:avLst/>
          </a:prstGeom>
          <a:noFill/>
          <a:ln/>
        </p:spPr>
        <p:txBody>
          <a:bodyPr wrap="square" lIns="0" tIns="0" rIns="0" bIns="0" rtlCol="0" anchor="t"/>
          <a:lstStyle/>
          <a:p>
            <a:pPr indent="0" marL="0">
              <a:spcAft>
                <a:spcPts val="200"/>
              </a:spcAft>
              <a:buNone/>
            </a:pPr>
            <a:r>
              <a:rPr lang="en-US" sz="2400" b="1" dirty="0">
                <a:solidFill>
                  <a:srgbClr val="E63E2C"/>
                </a:solidFill>
                <a:latin typeface="Manrope" pitchFamily="34" charset="0"/>
                <a:ea typeface="Manrope" pitchFamily="34" charset="-122"/>
                <a:cs typeface="Manrope" pitchFamily="34" charset="-120"/>
              </a:rPr>
              <a:t>Tiga pilihan manajemen (2009):</a:t>
            </a:r>
            <a:endParaRPr lang="en-US" sz="2400" dirty="0"/>
          </a:p>
          <a:p>
            <a:pPr marL="342900" indent="-342900">
              <a:spcAft>
                <a:spcPts val="200"/>
              </a:spcAft>
              <a:buSzPct val="100000"/>
              <a:buChar char="■"/>
            </a:pPr>
            <a:r>
              <a:rPr lang="en-US" sz="2400" dirty="0">
                <a:solidFill>
                  <a:srgbClr val="1B1B1B"/>
                </a:solidFill>
                <a:latin typeface="Manrope" pitchFamily="34" charset="0"/>
                <a:ea typeface="Manrope" pitchFamily="34" charset="-122"/>
                <a:cs typeface="Manrope" pitchFamily="34" charset="-120"/>
              </a:rPr>
              <a:t>Merger AirAsia X ke dalam AirAsia</a:t>
            </a:r>
            <a:endParaRPr lang="en-US" sz="2400" dirty="0"/>
          </a:p>
          <a:p>
            <a:pPr marL="342900" indent="-342900">
              <a:spcAft>
                <a:spcPts val="200"/>
              </a:spcAft>
              <a:buSzPct val="100000"/>
              <a:buChar char="■"/>
            </a:pPr>
            <a:r>
              <a:rPr lang="en-US" sz="2400" dirty="0">
                <a:solidFill>
                  <a:srgbClr val="1B1B1B"/>
                </a:solidFill>
                <a:latin typeface="Manrope" pitchFamily="34" charset="0"/>
                <a:ea typeface="Manrope" pitchFamily="34" charset="-122"/>
                <a:cs typeface="Manrope" pitchFamily="34" charset="-120"/>
              </a:rPr>
              <a:t>Tetap terpisah dengan kontrak layanan</a:t>
            </a:r>
            <a:endParaRPr lang="en-US" sz="2400" dirty="0"/>
          </a:p>
          <a:p>
            <a:pPr marL="342900" indent="-342900">
              <a:spcAft>
                <a:spcPts val="200"/>
              </a:spcAft>
              <a:buSzPct val="100000"/>
              <a:buChar char="■"/>
            </a:pPr>
            <a:r>
              <a:rPr lang="en-US" sz="2400" dirty="0">
                <a:solidFill>
                  <a:srgbClr val="1B1B1B"/>
                </a:solidFill>
                <a:latin typeface="Manrope" pitchFamily="34" charset="0"/>
                <a:ea typeface="Manrope" pitchFamily="34" charset="-122"/>
                <a:cs typeface="Manrope" pitchFamily="34" charset="-120"/>
              </a:rPr>
              <a:t>Kembali fokus ke pasar regional</a:t>
            </a:r>
            <a:endParaRPr lang="en-US" sz="2400" dirty="0"/>
          </a:p>
        </p:txBody>
      </p:sp>
      <p:sp>
        <p:nvSpPr>
          <p:cNvPr id="9" name="Text 6"/>
          <p:cNvSpPr txBox="1"/>
          <p:nvPr/>
        </p:nvSpPr>
        <p:spPr>
          <a:xfrm>
            <a:off x="548640" y="6172200"/>
            <a:ext cx="10424160" cy="457200"/>
          </a:xfrm>
          <a:prstGeom prst="rect">
            <a:avLst/>
          </a:prstGeom>
          <a:noFill/>
          <a:ln/>
        </p:spPr>
        <p:txBody>
          <a:bodyPr wrap="square" lIns="0" tIns="0" rIns="0" bIns="0" rtlCol="0" anchor="ctr"/>
          <a:lstStyle/>
          <a:p>
            <a:pPr indent="0" marL="0">
              <a:buNone/>
            </a:pPr>
            <a:r>
              <a:rPr lang="en-US" sz="1200" dirty="0">
                <a:solidFill>
                  <a:srgbClr val="E63E2C"/>
                </a:solidFill>
                <a:latin typeface="Manrope" pitchFamily="34" charset="0"/>
                <a:ea typeface="Manrope" pitchFamily="34" charset="-122"/>
                <a:cs typeface="Manrope" pitchFamily="34" charset="-120"/>
              </a:rPr>
              <a:t>■  </a:t>
            </a:r>
            <a:pPr indent="0" marL="0">
              <a:buNone/>
            </a:pPr>
            <a:r>
              <a:rPr lang="en-US" sz="1800" b="1" dirty="0">
                <a:solidFill>
                  <a:srgbClr val="1B1B1B"/>
                </a:solidFill>
                <a:latin typeface="Manrope" pitchFamily="34" charset="0"/>
                <a:ea typeface="Manrope" pitchFamily="34" charset="-122"/>
                <a:cs typeface="Manrope" pitchFamily="34" charset="-120"/>
              </a:rPr>
              <a:t>Selanjutnya  </a:t>
            </a:r>
            <a:pPr indent="0" marL="0">
              <a:buNone/>
            </a:pPr>
            <a:r>
              <a:rPr lang="en-US" sz="1800" dirty="0">
                <a:solidFill>
                  <a:srgbClr val="4A4A4A"/>
                </a:solidFill>
                <a:latin typeface="Manrope" pitchFamily="34" charset="0"/>
                <a:ea typeface="Manrope" pitchFamily="34" charset="-122"/>
                <a:cs typeface="Manrope" pitchFamily="34" charset="-120"/>
              </a:rPr>
              <a:t>Tahap 2: membaca lingkungan eksternal lebih dulu.</a:t>
            </a:r>
            <a:endParaRPr lang="en-US" sz="1800" dirty="0"/>
          </a:p>
        </p:txBody>
      </p:sp>
      <p:sp>
        <p:nvSpPr>
          <p:cNvPr id="10" name="Text 7"/>
          <p:cNvSpPr txBox="1"/>
          <p:nvPr/>
        </p:nvSpPr>
        <p:spPr>
          <a:xfrm>
            <a:off x="11247120" y="6355080"/>
            <a:ext cx="548640" cy="320040"/>
          </a:xfrm>
          <a:prstGeom prst="rect">
            <a:avLst/>
          </a:prstGeom>
          <a:noFill/>
          <a:ln/>
        </p:spPr>
        <p:txBody>
          <a:bodyPr wrap="square" lIns="0" tIns="0" rIns="0" bIns="0" rtlCol="0" anchor="ctr"/>
          <a:lstStyle/>
          <a:p>
            <a:pPr algn="r" indent="0" marL="0">
              <a:buNone/>
            </a:pPr>
            <a:r>
              <a:rPr lang="en-US" sz="1200" b="1" dirty="0">
                <a:solidFill>
                  <a:srgbClr val="1B1B1B"/>
                </a:solidFill>
                <a:latin typeface="Manrope" pitchFamily="34" charset="0"/>
                <a:ea typeface="Manrope" pitchFamily="34" charset="-122"/>
                <a:cs typeface="Manrope"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2CF"/>
        </a:solidFill>
      </p:bgPr>
    </p:bg>
    <p:spTree>
      <p:nvGrpSpPr>
        <p:cNvPr id="1" name=""/>
        <p:cNvGrpSpPr/>
        <p:nvPr/>
      </p:nvGrpSpPr>
      <p:grpSpPr>
        <a:xfrm>
          <a:off x="0" y="0"/>
          <a:ext cx="0" cy="0"/>
          <a:chOff x="0" y="0"/>
          <a:chExt cx="0" cy="0"/>
        </a:xfrm>
      </p:grpSpPr>
      <p:sp>
        <p:nvSpPr>
          <p:cNvPr id="2" name="Shape 0"/>
          <p:cNvSpPr/>
          <p:nvPr/>
        </p:nvSpPr>
        <p:spPr>
          <a:xfrm>
            <a:off x="548640" y="411480"/>
            <a:ext cx="5349240" cy="868680"/>
          </a:xfrm>
          <a:prstGeom prst="rect">
            <a:avLst/>
          </a:prstGeom>
          <a:solidFill>
            <a:srgbClr val="2C7BB8"/>
          </a:solidFill>
          <a:ln w="12700">
            <a:solidFill>
              <a:srgbClr val="2C7BB8"/>
            </a:solidFill>
            <a:prstDash val="solid"/>
          </a:ln>
        </p:spPr>
      </p:sp>
      <p:sp>
        <p:nvSpPr>
          <p:cNvPr id="3" name="Text 1"/>
          <p:cNvSpPr txBox="1"/>
          <p:nvPr/>
        </p:nvSpPr>
        <p:spPr>
          <a:xfrm>
            <a:off x="548640" y="411480"/>
            <a:ext cx="5349240" cy="868680"/>
          </a:xfrm>
          <a:prstGeom prst="rect">
            <a:avLst/>
          </a:prstGeom>
          <a:noFill/>
          <a:ln/>
        </p:spPr>
        <p:txBody>
          <a:bodyPr wrap="square" lIns="0" tIns="3810" rIns="3810" bIns="0" rtlCol="0" anchor="ctr"/>
          <a:lstStyle/>
          <a:p>
            <a:pPr indent="0" marL="0">
              <a:buNone/>
            </a:pPr>
            <a:r>
              <a:rPr lang="en-US" sz="4400" dirty="0">
                <a:solidFill>
                  <a:srgbClr val="FFFFFF"/>
                </a:solidFill>
                <a:latin typeface="Bebas Neue" pitchFamily="34" charset="0"/>
                <a:ea typeface="Bebas Neue" pitchFamily="34" charset="-122"/>
                <a:cs typeface="Bebas Neue" pitchFamily="34" charset="-120"/>
              </a:rPr>
              <a:t>PESTEL ANALYSIS</a:t>
            </a:r>
            <a:endParaRPr lang="en-US" sz="4400" dirty="0"/>
          </a:p>
        </p:txBody>
      </p:sp>
      <p:sp>
        <p:nvSpPr>
          <p:cNvPr id="4" name="Text 2"/>
          <p:cNvSpPr txBox="1"/>
          <p:nvPr/>
        </p:nvSpPr>
        <p:spPr>
          <a:xfrm>
            <a:off x="548640" y="1298448"/>
            <a:ext cx="10058400" cy="320040"/>
          </a:xfrm>
          <a:prstGeom prst="rect">
            <a:avLst/>
          </a:prstGeom>
          <a:noFill/>
          <a:ln/>
        </p:spPr>
        <p:txBody>
          <a:bodyPr wrap="square" lIns="0" tIns="0" rIns="0" bIns="0" rtlCol="0" anchor="ctr"/>
          <a:lstStyle/>
          <a:p>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PROBLEM     </a:t>
            </a:r>
            <a:pPr indent="0" marL="0">
              <a:buNone/>
            </a:pPr>
            <a:r>
              <a:rPr lang="en-US" sz="1200" spc="150" kern="0" dirty="0">
                <a:solidFill>
                  <a:srgbClr val="2C7BB8"/>
                </a:solidFill>
                <a:latin typeface="Manrope" pitchFamily="34" charset="0"/>
                <a:ea typeface="Manrope" pitchFamily="34" charset="-122"/>
                <a:cs typeface="Manrope" pitchFamily="34" charset="-120"/>
              </a:rPr>
              <a:t>■ </a:t>
            </a:r>
            <a:pPr indent="0" marL="0">
              <a:buNone/>
            </a:pPr>
            <a:r>
              <a:rPr lang="en-US" sz="1300" b="1" spc="150" kern="0" dirty="0">
                <a:solidFill>
                  <a:srgbClr val="1B1B1B"/>
                </a:solidFill>
                <a:latin typeface="Manrope" pitchFamily="34" charset="0"/>
                <a:ea typeface="Manrope" pitchFamily="34" charset="-122"/>
                <a:cs typeface="Manrope" pitchFamily="34" charset="-120"/>
              </a:rPr>
              <a:t>EXTERNAL ENVIRONMENT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COST POSITION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CHOICE     </a:t>
            </a:r>
            <a:endParaRPr lang="en-US" sz="1300" dirty="0"/>
          </a:p>
        </p:txBody>
      </p:sp>
      <p:sp>
        <p:nvSpPr>
          <p:cNvPr id="5" name="Shape 3"/>
          <p:cNvSpPr/>
          <p:nvPr/>
        </p:nvSpPr>
        <p:spPr>
          <a:xfrm>
            <a:off x="548640" y="1783080"/>
            <a:ext cx="685800" cy="685800"/>
          </a:xfrm>
          <a:prstGeom prst="ellipse">
            <a:avLst/>
          </a:prstGeom>
          <a:solidFill>
            <a:srgbClr val="E63E2C"/>
          </a:solidFill>
          <a:ln w="12700">
            <a:solidFill>
              <a:srgbClr val="E63E2C"/>
            </a:solidFill>
            <a:prstDash val="solid"/>
          </a:ln>
        </p:spPr>
      </p:sp>
      <p:sp>
        <p:nvSpPr>
          <p:cNvPr id="6" name="Shape 4"/>
          <p:cNvSpPr/>
          <p:nvPr/>
        </p:nvSpPr>
        <p:spPr>
          <a:xfrm>
            <a:off x="1051560" y="2194560"/>
            <a:ext cx="320040" cy="320040"/>
          </a:xfrm>
          <a:prstGeom prst="rect">
            <a:avLst/>
          </a:prstGeom>
          <a:solidFill>
            <a:srgbClr val="1B1B1B"/>
          </a:solidFill>
          <a:ln w="12700">
            <a:solidFill>
              <a:srgbClr val="1B1B1B"/>
            </a:solidFill>
            <a:prstDash val="solid"/>
          </a:ln>
        </p:spPr>
      </p:sp>
      <p:sp>
        <p:nvSpPr>
          <p:cNvPr id="7" name="Text 5"/>
          <p:cNvSpPr txBox="1"/>
          <p:nvPr/>
        </p:nvSpPr>
        <p:spPr>
          <a:xfrm>
            <a:off x="548640" y="1783080"/>
            <a:ext cx="685800" cy="685800"/>
          </a:xfrm>
          <a:prstGeom prst="rect">
            <a:avLst/>
          </a:prstGeom>
          <a:noFill/>
          <a:ln/>
        </p:spPr>
        <p:txBody>
          <a:bodyPr wrap="square" lIns="0" tIns="0" rIns="0" bIns="0" rtlCol="0" anchor="ctr"/>
          <a:lstStyle/>
          <a:p>
            <a:pPr algn="ctr" indent="0" marL="0">
              <a:buNone/>
            </a:pPr>
            <a:r>
              <a:rPr lang="en-US" sz="3000" dirty="0">
                <a:solidFill>
                  <a:srgbClr val="FFFFFF"/>
                </a:solidFill>
                <a:latin typeface="Bebas Neue" pitchFamily="34" charset="0"/>
                <a:ea typeface="Bebas Neue" pitchFamily="34" charset="-122"/>
                <a:cs typeface="Bebas Neue" pitchFamily="34" charset="-120"/>
              </a:rPr>
              <a:t>P</a:t>
            </a:r>
            <a:endParaRPr lang="en-US" sz="3000" dirty="0"/>
          </a:p>
        </p:txBody>
      </p:sp>
      <p:sp>
        <p:nvSpPr>
          <p:cNvPr id="8" name="Text 6"/>
          <p:cNvSpPr txBox="1"/>
          <p:nvPr/>
        </p:nvSpPr>
        <p:spPr>
          <a:xfrm>
            <a:off x="1554480" y="1828800"/>
            <a:ext cx="2560320" cy="548640"/>
          </a:xfrm>
          <a:prstGeom prst="rect">
            <a:avLst/>
          </a:prstGeom>
          <a:noFill/>
          <a:ln/>
        </p:spPr>
        <p:txBody>
          <a:bodyPr wrap="square" lIns="0" tIns="0" rIns="0" bIns="0" rtlCol="0" anchor="ctr"/>
          <a:lstStyle/>
          <a:p>
            <a:pPr indent="0" marL="0">
              <a:buNone/>
            </a:pPr>
            <a:r>
              <a:rPr lang="en-US" sz="3000" dirty="0">
                <a:solidFill>
                  <a:srgbClr val="1B1B1B"/>
                </a:solidFill>
                <a:latin typeface="Bebas Neue" pitchFamily="34" charset="0"/>
                <a:ea typeface="Bebas Neue" pitchFamily="34" charset="-122"/>
                <a:cs typeface="Bebas Neue" pitchFamily="34" charset="-120"/>
              </a:rPr>
              <a:t>POLITIK</a:t>
            </a:r>
            <a:endParaRPr lang="en-US" sz="3000" dirty="0"/>
          </a:p>
        </p:txBody>
      </p:sp>
      <p:sp>
        <p:nvSpPr>
          <p:cNvPr id="9" name="Text 7"/>
          <p:cNvSpPr txBox="1"/>
          <p:nvPr/>
        </p:nvSpPr>
        <p:spPr>
          <a:xfrm>
            <a:off x="548640" y="2651760"/>
            <a:ext cx="3474720" cy="1234440"/>
          </a:xfrm>
          <a:prstGeom prst="rect">
            <a:avLst/>
          </a:prstGeom>
          <a:noFill/>
          <a:ln/>
        </p:spPr>
        <p:txBody>
          <a:bodyPr wrap="square" lIns="0" tIns="0" rIns="0" bIns="0" rtlCol="0" anchor="t"/>
          <a:lstStyle/>
          <a:p>
            <a:pPr indent="0" marL="0">
              <a:buNone/>
            </a:pPr>
            <a:r>
              <a:rPr lang="en-US" sz="2400" dirty="0">
                <a:solidFill>
                  <a:srgbClr val="1B1B1B"/>
                </a:solidFill>
                <a:latin typeface="Manrope" pitchFamily="34" charset="0"/>
                <a:ea typeface="Manrope" pitchFamily="34" charset="-122"/>
                <a:cs typeface="Manrope" pitchFamily="34" charset="-120"/>
              </a:rPr>
              <a:t>Dukungan pemerintah; rute jauh berhadapan dengan MAS</a:t>
            </a:r>
            <a:endParaRPr lang="en-US" sz="2400" dirty="0"/>
          </a:p>
        </p:txBody>
      </p:sp>
      <p:sp>
        <p:nvSpPr>
          <p:cNvPr id="10" name="Shape 8"/>
          <p:cNvSpPr/>
          <p:nvPr/>
        </p:nvSpPr>
        <p:spPr>
          <a:xfrm>
            <a:off x="4297680" y="1783080"/>
            <a:ext cx="685800" cy="685800"/>
          </a:xfrm>
          <a:prstGeom prst="ellipse">
            <a:avLst/>
          </a:prstGeom>
          <a:solidFill>
            <a:srgbClr val="2C7BB8"/>
          </a:solidFill>
          <a:ln w="12700">
            <a:solidFill>
              <a:srgbClr val="2C7BB8"/>
            </a:solidFill>
            <a:prstDash val="solid"/>
          </a:ln>
        </p:spPr>
      </p:sp>
      <p:sp>
        <p:nvSpPr>
          <p:cNvPr id="11" name="Shape 9"/>
          <p:cNvSpPr/>
          <p:nvPr/>
        </p:nvSpPr>
        <p:spPr>
          <a:xfrm>
            <a:off x="4800600" y="2194560"/>
            <a:ext cx="320040" cy="320040"/>
          </a:xfrm>
          <a:prstGeom prst="rect">
            <a:avLst/>
          </a:prstGeom>
          <a:solidFill>
            <a:srgbClr val="1B1B1B"/>
          </a:solidFill>
          <a:ln w="12700">
            <a:solidFill>
              <a:srgbClr val="1B1B1B"/>
            </a:solidFill>
            <a:prstDash val="solid"/>
          </a:ln>
        </p:spPr>
      </p:sp>
      <p:sp>
        <p:nvSpPr>
          <p:cNvPr id="12" name="Text 10"/>
          <p:cNvSpPr txBox="1"/>
          <p:nvPr/>
        </p:nvSpPr>
        <p:spPr>
          <a:xfrm>
            <a:off x="4297680" y="1783080"/>
            <a:ext cx="685800" cy="685800"/>
          </a:xfrm>
          <a:prstGeom prst="rect">
            <a:avLst/>
          </a:prstGeom>
          <a:noFill/>
          <a:ln/>
        </p:spPr>
        <p:txBody>
          <a:bodyPr wrap="square" lIns="0" tIns="0" rIns="0" bIns="0" rtlCol="0" anchor="ctr"/>
          <a:lstStyle/>
          <a:p>
            <a:pPr algn="ctr" indent="0" marL="0">
              <a:buNone/>
            </a:pPr>
            <a:r>
              <a:rPr lang="en-US" sz="3000" dirty="0">
                <a:solidFill>
                  <a:srgbClr val="FFFFFF"/>
                </a:solidFill>
                <a:latin typeface="Bebas Neue" pitchFamily="34" charset="0"/>
                <a:ea typeface="Bebas Neue" pitchFamily="34" charset="-122"/>
                <a:cs typeface="Bebas Neue" pitchFamily="34" charset="-120"/>
              </a:rPr>
              <a:t>E</a:t>
            </a:r>
            <a:endParaRPr lang="en-US" sz="3000" dirty="0"/>
          </a:p>
        </p:txBody>
      </p:sp>
      <p:sp>
        <p:nvSpPr>
          <p:cNvPr id="13" name="Text 11"/>
          <p:cNvSpPr txBox="1"/>
          <p:nvPr/>
        </p:nvSpPr>
        <p:spPr>
          <a:xfrm>
            <a:off x="5303520" y="1828800"/>
            <a:ext cx="2560320" cy="548640"/>
          </a:xfrm>
          <a:prstGeom prst="rect">
            <a:avLst/>
          </a:prstGeom>
          <a:noFill/>
          <a:ln/>
        </p:spPr>
        <p:txBody>
          <a:bodyPr wrap="square" lIns="0" tIns="0" rIns="0" bIns="0" rtlCol="0" anchor="ctr"/>
          <a:lstStyle/>
          <a:p>
            <a:pPr indent="0" marL="0">
              <a:buNone/>
            </a:pPr>
            <a:r>
              <a:rPr lang="en-US" sz="3000" dirty="0">
                <a:solidFill>
                  <a:srgbClr val="1B1B1B"/>
                </a:solidFill>
                <a:latin typeface="Bebas Neue" pitchFamily="34" charset="0"/>
                <a:ea typeface="Bebas Neue" pitchFamily="34" charset="-122"/>
                <a:cs typeface="Bebas Neue" pitchFamily="34" charset="-120"/>
              </a:rPr>
              <a:t>EKONOMI</a:t>
            </a:r>
            <a:endParaRPr lang="en-US" sz="3000" dirty="0"/>
          </a:p>
        </p:txBody>
      </p:sp>
      <p:sp>
        <p:nvSpPr>
          <p:cNvPr id="14" name="Text 12"/>
          <p:cNvSpPr txBox="1"/>
          <p:nvPr/>
        </p:nvSpPr>
        <p:spPr>
          <a:xfrm>
            <a:off x="4297680" y="2651760"/>
            <a:ext cx="3474720" cy="1234440"/>
          </a:xfrm>
          <a:prstGeom prst="rect">
            <a:avLst/>
          </a:prstGeom>
          <a:noFill/>
          <a:ln/>
        </p:spPr>
        <p:txBody>
          <a:bodyPr wrap="square" lIns="0" tIns="0" rIns="0" bIns="0" rtlCol="0" anchor="t"/>
          <a:lstStyle/>
          <a:p>
            <a:pPr indent="0" marL="0">
              <a:buNone/>
            </a:pPr>
            <a:r>
              <a:rPr lang="en-US" sz="2400" dirty="0">
                <a:solidFill>
                  <a:srgbClr val="1B1B1B"/>
                </a:solidFill>
                <a:latin typeface="Manrope" pitchFamily="34" charset="0"/>
                <a:ea typeface="Manrope" pitchFamily="34" charset="-122"/>
                <a:cs typeface="Manrope" pitchFamily="34" charset="-120"/>
              </a:rPr>
              <a:t>500 juta penduduk dalam 3,5 jam terbang; BBM 47% biaya</a:t>
            </a:r>
            <a:endParaRPr lang="en-US" sz="2400" dirty="0"/>
          </a:p>
        </p:txBody>
      </p:sp>
      <p:sp>
        <p:nvSpPr>
          <p:cNvPr id="15" name="Shape 13"/>
          <p:cNvSpPr/>
          <p:nvPr/>
        </p:nvSpPr>
        <p:spPr>
          <a:xfrm>
            <a:off x="8046720" y="1783080"/>
            <a:ext cx="685800" cy="685800"/>
          </a:xfrm>
          <a:prstGeom prst="ellipse">
            <a:avLst/>
          </a:prstGeom>
          <a:solidFill>
            <a:srgbClr val="F4C430"/>
          </a:solidFill>
          <a:ln w="12700">
            <a:solidFill>
              <a:srgbClr val="F4C430"/>
            </a:solidFill>
            <a:prstDash val="solid"/>
          </a:ln>
        </p:spPr>
      </p:sp>
      <p:sp>
        <p:nvSpPr>
          <p:cNvPr id="16" name="Shape 14"/>
          <p:cNvSpPr/>
          <p:nvPr/>
        </p:nvSpPr>
        <p:spPr>
          <a:xfrm>
            <a:off x="8549640" y="2194560"/>
            <a:ext cx="320040" cy="320040"/>
          </a:xfrm>
          <a:prstGeom prst="rect">
            <a:avLst/>
          </a:prstGeom>
          <a:solidFill>
            <a:srgbClr val="1B1B1B"/>
          </a:solidFill>
          <a:ln w="12700">
            <a:solidFill>
              <a:srgbClr val="1B1B1B"/>
            </a:solidFill>
            <a:prstDash val="solid"/>
          </a:ln>
        </p:spPr>
      </p:sp>
      <p:sp>
        <p:nvSpPr>
          <p:cNvPr id="17" name="Text 15"/>
          <p:cNvSpPr txBox="1"/>
          <p:nvPr/>
        </p:nvSpPr>
        <p:spPr>
          <a:xfrm>
            <a:off x="8046720" y="1783080"/>
            <a:ext cx="685800" cy="685800"/>
          </a:xfrm>
          <a:prstGeom prst="rect">
            <a:avLst/>
          </a:prstGeom>
          <a:noFill/>
          <a:ln/>
        </p:spPr>
        <p:txBody>
          <a:bodyPr wrap="square" lIns="0" tIns="0" rIns="0" bIns="0" rtlCol="0" anchor="ctr"/>
          <a:lstStyle/>
          <a:p>
            <a:pPr algn="ctr" indent="0" marL="0">
              <a:buNone/>
            </a:pPr>
            <a:r>
              <a:rPr lang="en-US" sz="3000" dirty="0">
                <a:solidFill>
                  <a:srgbClr val="1B1B1B"/>
                </a:solidFill>
                <a:latin typeface="Bebas Neue" pitchFamily="34" charset="0"/>
                <a:ea typeface="Bebas Neue" pitchFamily="34" charset="-122"/>
                <a:cs typeface="Bebas Neue" pitchFamily="34" charset="-120"/>
              </a:rPr>
              <a:t>S</a:t>
            </a:r>
            <a:endParaRPr lang="en-US" sz="3000" dirty="0"/>
          </a:p>
        </p:txBody>
      </p:sp>
      <p:sp>
        <p:nvSpPr>
          <p:cNvPr id="18" name="Text 16"/>
          <p:cNvSpPr txBox="1"/>
          <p:nvPr/>
        </p:nvSpPr>
        <p:spPr>
          <a:xfrm>
            <a:off x="9052560" y="1828800"/>
            <a:ext cx="2560320" cy="548640"/>
          </a:xfrm>
          <a:prstGeom prst="rect">
            <a:avLst/>
          </a:prstGeom>
          <a:noFill/>
          <a:ln/>
        </p:spPr>
        <p:txBody>
          <a:bodyPr wrap="square" lIns="0" tIns="0" rIns="0" bIns="0" rtlCol="0" anchor="ctr"/>
          <a:lstStyle/>
          <a:p>
            <a:pPr indent="0" marL="0">
              <a:buNone/>
            </a:pPr>
            <a:r>
              <a:rPr lang="en-US" sz="3000" dirty="0">
                <a:solidFill>
                  <a:srgbClr val="1B1B1B"/>
                </a:solidFill>
                <a:latin typeface="Bebas Neue" pitchFamily="34" charset="0"/>
                <a:ea typeface="Bebas Neue" pitchFamily="34" charset="-122"/>
                <a:cs typeface="Bebas Neue" pitchFamily="34" charset="-120"/>
              </a:rPr>
              <a:t>SOSIAL</a:t>
            </a:r>
            <a:endParaRPr lang="en-US" sz="3000" dirty="0"/>
          </a:p>
        </p:txBody>
      </p:sp>
      <p:sp>
        <p:nvSpPr>
          <p:cNvPr id="19" name="Text 17"/>
          <p:cNvSpPr txBox="1"/>
          <p:nvPr/>
        </p:nvSpPr>
        <p:spPr>
          <a:xfrm>
            <a:off x="8046720" y="2651760"/>
            <a:ext cx="3474720" cy="1234440"/>
          </a:xfrm>
          <a:prstGeom prst="rect">
            <a:avLst/>
          </a:prstGeom>
          <a:noFill/>
          <a:ln/>
        </p:spPr>
        <p:txBody>
          <a:bodyPr wrap="square" lIns="0" tIns="0" rIns="0" bIns="0" rtlCol="0" anchor="t"/>
          <a:lstStyle/>
          <a:p>
            <a:pPr indent="0" marL="0">
              <a:buNone/>
            </a:pPr>
            <a:r>
              <a:rPr lang="en-US" sz="2400" dirty="0">
                <a:solidFill>
                  <a:srgbClr val="1B1B1B"/>
                </a:solidFill>
                <a:latin typeface="Manrope" pitchFamily="34" charset="0"/>
                <a:ea typeface="Manrope" pitchFamily="34" charset="-122"/>
                <a:cs typeface="Manrope" pitchFamily="34" charset="-120"/>
              </a:rPr>
              <a:t>Segmen menengah kurang terlayani; pasar diperluas</a:t>
            </a:r>
            <a:endParaRPr lang="en-US" sz="2400" dirty="0"/>
          </a:p>
        </p:txBody>
      </p:sp>
      <p:sp>
        <p:nvSpPr>
          <p:cNvPr id="20" name="Shape 18"/>
          <p:cNvSpPr/>
          <p:nvPr/>
        </p:nvSpPr>
        <p:spPr>
          <a:xfrm>
            <a:off x="548640" y="3977640"/>
            <a:ext cx="685800" cy="685800"/>
          </a:xfrm>
          <a:prstGeom prst="ellipse">
            <a:avLst/>
          </a:prstGeom>
          <a:solidFill>
            <a:srgbClr val="1B1B1B"/>
          </a:solidFill>
          <a:ln w="12700">
            <a:solidFill>
              <a:srgbClr val="1B1B1B"/>
            </a:solidFill>
            <a:prstDash val="solid"/>
          </a:ln>
        </p:spPr>
      </p:sp>
      <p:sp>
        <p:nvSpPr>
          <p:cNvPr id="21" name="Shape 19"/>
          <p:cNvSpPr/>
          <p:nvPr/>
        </p:nvSpPr>
        <p:spPr>
          <a:xfrm>
            <a:off x="1051560" y="4389120"/>
            <a:ext cx="320040" cy="320040"/>
          </a:xfrm>
          <a:prstGeom prst="rect">
            <a:avLst/>
          </a:prstGeom>
          <a:solidFill>
            <a:srgbClr val="F4C430"/>
          </a:solidFill>
          <a:ln w="12700">
            <a:solidFill>
              <a:srgbClr val="F4C430"/>
            </a:solidFill>
            <a:prstDash val="solid"/>
          </a:ln>
        </p:spPr>
      </p:sp>
      <p:sp>
        <p:nvSpPr>
          <p:cNvPr id="22" name="Text 20"/>
          <p:cNvSpPr txBox="1"/>
          <p:nvPr/>
        </p:nvSpPr>
        <p:spPr>
          <a:xfrm>
            <a:off x="548640" y="3977640"/>
            <a:ext cx="685800" cy="685800"/>
          </a:xfrm>
          <a:prstGeom prst="rect">
            <a:avLst/>
          </a:prstGeom>
          <a:noFill/>
          <a:ln/>
        </p:spPr>
        <p:txBody>
          <a:bodyPr wrap="square" lIns="0" tIns="0" rIns="0" bIns="0" rtlCol="0" anchor="ctr"/>
          <a:lstStyle/>
          <a:p>
            <a:pPr algn="ctr" indent="0" marL="0">
              <a:buNone/>
            </a:pPr>
            <a:r>
              <a:rPr lang="en-US" sz="3000" dirty="0">
                <a:solidFill>
                  <a:srgbClr val="FFFFFF"/>
                </a:solidFill>
                <a:latin typeface="Bebas Neue" pitchFamily="34" charset="0"/>
                <a:ea typeface="Bebas Neue" pitchFamily="34" charset="-122"/>
                <a:cs typeface="Bebas Neue" pitchFamily="34" charset="-120"/>
              </a:rPr>
              <a:t>T</a:t>
            </a:r>
            <a:endParaRPr lang="en-US" sz="3000" dirty="0"/>
          </a:p>
        </p:txBody>
      </p:sp>
      <p:sp>
        <p:nvSpPr>
          <p:cNvPr id="23" name="Text 21"/>
          <p:cNvSpPr txBox="1"/>
          <p:nvPr/>
        </p:nvSpPr>
        <p:spPr>
          <a:xfrm>
            <a:off x="1554480" y="4023360"/>
            <a:ext cx="2560320" cy="548640"/>
          </a:xfrm>
          <a:prstGeom prst="rect">
            <a:avLst/>
          </a:prstGeom>
          <a:noFill/>
          <a:ln/>
        </p:spPr>
        <p:txBody>
          <a:bodyPr wrap="square" lIns="0" tIns="0" rIns="0" bIns="0" rtlCol="0" anchor="ctr"/>
          <a:lstStyle/>
          <a:p>
            <a:pPr indent="0" marL="0">
              <a:buNone/>
            </a:pPr>
            <a:r>
              <a:rPr lang="en-US" sz="3000" dirty="0">
                <a:solidFill>
                  <a:srgbClr val="1B1B1B"/>
                </a:solidFill>
                <a:latin typeface="Bebas Neue" pitchFamily="34" charset="0"/>
                <a:ea typeface="Bebas Neue" pitchFamily="34" charset="-122"/>
                <a:cs typeface="Bebas Neue" pitchFamily="34" charset="-120"/>
              </a:rPr>
              <a:t>TEKNOLOGI</a:t>
            </a:r>
            <a:endParaRPr lang="en-US" sz="3000" dirty="0"/>
          </a:p>
        </p:txBody>
      </p:sp>
      <p:sp>
        <p:nvSpPr>
          <p:cNvPr id="24" name="Text 22"/>
          <p:cNvSpPr txBox="1"/>
          <p:nvPr/>
        </p:nvSpPr>
        <p:spPr>
          <a:xfrm>
            <a:off x="548640" y="4846320"/>
            <a:ext cx="3474720" cy="1234440"/>
          </a:xfrm>
          <a:prstGeom prst="rect">
            <a:avLst/>
          </a:prstGeom>
          <a:noFill/>
          <a:ln/>
        </p:spPr>
        <p:txBody>
          <a:bodyPr wrap="square" lIns="0" tIns="0" rIns="0" bIns="0" rtlCol="0" anchor="t"/>
          <a:lstStyle/>
          <a:p>
            <a:pPr indent="0" marL="0">
              <a:buNone/>
            </a:pPr>
            <a:r>
              <a:rPr lang="en-US" sz="2400" dirty="0">
                <a:solidFill>
                  <a:srgbClr val="1B1B1B"/>
                </a:solidFill>
                <a:latin typeface="Manrope" pitchFamily="34" charset="0"/>
                <a:ea typeface="Manrope" pitchFamily="34" charset="-122"/>
                <a:cs typeface="Manrope" pitchFamily="34" charset="-120"/>
              </a:rPr>
              <a:t>Navitaire, yield management, ponsel; tanpa agen</a:t>
            </a:r>
            <a:endParaRPr lang="en-US" sz="2400" dirty="0"/>
          </a:p>
        </p:txBody>
      </p:sp>
      <p:sp>
        <p:nvSpPr>
          <p:cNvPr id="25" name="Shape 23"/>
          <p:cNvSpPr/>
          <p:nvPr/>
        </p:nvSpPr>
        <p:spPr>
          <a:xfrm>
            <a:off x="4297680" y="3977640"/>
            <a:ext cx="685800" cy="685800"/>
          </a:xfrm>
          <a:prstGeom prst="ellipse">
            <a:avLst/>
          </a:prstGeom>
          <a:solidFill>
            <a:srgbClr val="E63E2C"/>
          </a:solidFill>
          <a:ln w="12700">
            <a:solidFill>
              <a:srgbClr val="E63E2C"/>
            </a:solidFill>
            <a:prstDash val="solid"/>
          </a:ln>
        </p:spPr>
      </p:sp>
      <p:sp>
        <p:nvSpPr>
          <p:cNvPr id="26" name="Shape 24"/>
          <p:cNvSpPr/>
          <p:nvPr/>
        </p:nvSpPr>
        <p:spPr>
          <a:xfrm>
            <a:off x="4800600" y="4389120"/>
            <a:ext cx="320040" cy="320040"/>
          </a:xfrm>
          <a:prstGeom prst="rect">
            <a:avLst/>
          </a:prstGeom>
          <a:solidFill>
            <a:srgbClr val="1B1B1B"/>
          </a:solidFill>
          <a:ln w="12700">
            <a:solidFill>
              <a:srgbClr val="1B1B1B"/>
            </a:solidFill>
            <a:prstDash val="solid"/>
          </a:ln>
        </p:spPr>
      </p:sp>
      <p:sp>
        <p:nvSpPr>
          <p:cNvPr id="27" name="Text 25"/>
          <p:cNvSpPr txBox="1"/>
          <p:nvPr/>
        </p:nvSpPr>
        <p:spPr>
          <a:xfrm>
            <a:off x="4297680" y="3977640"/>
            <a:ext cx="685800" cy="685800"/>
          </a:xfrm>
          <a:prstGeom prst="rect">
            <a:avLst/>
          </a:prstGeom>
          <a:noFill/>
          <a:ln/>
        </p:spPr>
        <p:txBody>
          <a:bodyPr wrap="square" lIns="0" tIns="0" rIns="0" bIns="0" rtlCol="0" anchor="ctr"/>
          <a:lstStyle/>
          <a:p>
            <a:pPr algn="ctr" indent="0" marL="0">
              <a:buNone/>
            </a:pPr>
            <a:r>
              <a:rPr lang="en-US" sz="3000" dirty="0">
                <a:solidFill>
                  <a:srgbClr val="FFFFFF"/>
                </a:solidFill>
                <a:latin typeface="Bebas Neue" pitchFamily="34" charset="0"/>
                <a:ea typeface="Bebas Neue" pitchFamily="34" charset="-122"/>
                <a:cs typeface="Bebas Neue" pitchFamily="34" charset="-120"/>
              </a:rPr>
              <a:t>E</a:t>
            </a:r>
            <a:endParaRPr lang="en-US" sz="3000" dirty="0"/>
          </a:p>
        </p:txBody>
      </p:sp>
      <p:sp>
        <p:nvSpPr>
          <p:cNvPr id="28" name="Text 26"/>
          <p:cNvSpPr txBox="1"/>
          <p:nvPr/>
        </p:nvSpPr>
        <p:spPr>
          <a:xfrm>
            <a:off x="5303520" y="4023360"/>
            <a:ext cx="2560320" cy="548640"/>
          </a:xfrm>
          <a:prstGeom prst="rect">
            <a:avLst/>
          </a:prstGeom>
          <a:noFill/>
          <a:ln/>
        </p:spPr>
        <p:txBody>
          <a:bodyPr wrap="square" lIns="0" tIns="0" rIns="0" bIns="0" rtlCol="0" anchor="ctr"/>
          <a:lstStyle/>
          <a:p>
            <a:pPr indent="0" marL="0">
              <a:buNone/>
            </a:pPr>
            <a:r>
              <a:rPr lang="en-US" sz="3000" dirty="0">
                <a:solidFill>
                  <a:srgbClr val="1B1B1B"/>
                </a:solidFill>
                <a:latin typeface="Bebas Neue" pitchFamily="34" charset="0"/>
                <a:ea typeface="Bebas Neue" pitchFamily="34" charset="-122"/>
                <a:cs typeface="Bebas Neue" pitchFamily="34" charset="-120"/>
              </a:rPr>
              <a:t>LINGKUNGAN</a:t>
            </a:r>
            <a:endParaRPr lang="en-US" sz="3000" dirty="0"/>
          </a:p>
        </p:txBody>
      </p:sp>
      <p:sp>
        <p:nvSpPr>
          <p:cNvPr id="29" name="Text 27"/>
          <p:cNvSpPr txBox="1"/>
          <p:nvPr/>
        </p:nvSpPr>
        <p:spPr>
          <a:xfrm>
            <a:off x="4297680" y="4846320"/>
            <a:ext cx="3474720" cy="1234440"/>
          </a:xfrm>
          <a:prstGeom prst="rect">
            <a:avLst/>
          </a:prstGeom>
          <a:noFill/>
          <a:ln/>
        </p:spPr>
        <p:txBody>
          <a:bodyPr wrap="square" lIns="0" tIns="0" rIns="0" bIns="0" rtlCol="0" anchor="t"/>
          <a:lstStyle/>
          <a:p>
            <a:pPr indent="0" marL="0">
              <a:buNone/>
            </a:pPr>
            <a:r>
              <a:rPr lang="en-US" sz="2400" dirty="0">
                <a:solidFill>
                  <a:srgbClr val="1B1B1B"/>
                </a:solidFill>
                <a:latin typeface="Manrope" pitchFamily="34" charset="0"/>
                <a:ea typeface="Manrope" pitchFamily="34" charset="-122"/>
                <a:cs typeface="Manrope" pitchFamily="34" charset="-120"/>
              </a:rPr>
              <a:t>A320 baru hemat BBM; A340 boros di rute jauh</a:t>
            </a:r>
            <a:endParaRPr lang="en-US" sz="2400" dirty="0"/>
          </a:p>
        </p:txBody>
      </p:sp>
      <p:sp>
        <p:nvSpPr>
          <p:cNvPr id="30" name="Shape 28"/>
          <p:cNvSpPr/>
          <p:nvPr/>
        </p:nvSpPr>
        <p:spPr>
          <a:xfrm>
            <a:off x="8046720" y="3977640"/>
            <a:ext cx="685800" cy="685800"/>
          </a:xfrm>
          <a:prstGeom prst="ellipse">
            <a:avLst/>
          </a:prstGeom>
          <a:solidFill>
            <a:srgbClr val="2C7BB8"/>
          </a:solidFill>
          <a:ln w="12700">
            <a:solidFill>
              <a:srgbClr val="2C7BB8"/>
            </a:solidFill>
            <a:prstDash val="solid"/>
          </a:ln>
        </p:spPr>
      </p:sp>
      <p:sp>
        <p:nvSpPr>
          <p:cNvPr id="31" name="Shape 29"/>
          <p:cNvSpPr/>
          <p:nvPr/>
        </p:nvSpPr>
        <p:spPr>
          <a:xfrm>
            <a:off x="8549640" y="4389120"/>
            <a:ext cx="320040" cy="320040"/>
          </a:xfrm>
          <a:prstGeom prst="rect">
            <a:avLst/>
          </a:prstGeom>
          <a:solidFill>
            <a:srgbClr val="1B1B1B"/>
          </a:solidFill>
          <a:ln w="12700">
            <a:solidFill>
              <a:srgbClr val="1B1B1B"/>
            </a:solidFill>
            <a:prstDash val="solid"/>
          </a:ln>
        </p:spPr>
      </p:sp>
      <p:sp>
        <p:nvSpPr>
          <p:cNvPr id="32" name="Text 30"/>
          <p:cNvSpPr txBox="1"/>
          <p:nvPr/>
        </p:nvSpPr>
        <p:spPr>
          <a:xfrm>
            <a:off x="8046720" y="3977640"/>
            <a:ext cx="685800" cy="685800"/>
          </a:xfrm>
          <a:prstGeom prst="rect">
            <a:avLst/>
          </a:prstGeom>
          <a:noFill/>
          <a:ln/>
        </p:spPr>
        <p:txBody>
          <a:bodyPr wrap="square" lIns="0" tIns="0" rIns="0" bIns="0" rtlCol="0" anchor="ctr"/>
          <a:lstStyle/>
          <a:p>
            <a:pPr algn="ctr" indent="0" marL="0">
              <a:buNone/>
            </a:pPr>
            <a:r>
              <a:rPr lang="en-US" sz="3000" dirty="0">
                <a:solidFill>
                  <a:srgbClr val="FFFFFF"/>
                </a:solidFill>
                <a:latin typeface="Bebas Neue" pitchFamily="34" charset="0"/>
                <a:ea typeface="Bebas Neue" pitchFamily="34" charset="-122"/>
                <a:cs typeface="Bebas Neue" pitchFamily="34" charset="-120"/>
              </a:rPr>
              <a:t>L</a:t>
            </a:r>
            <a:endParaRPr lang="en-US" sz="3000" dirty="0"/>
          </a:p>
        </p:txBody>
      </p:sp>
      <p:sp>
        <p:nvSpPr>
          <p:cNvPr id="33" name="Text 31"/>
          <p:cNvSpPr txBox="1"/>
          <p:nvPr/>
        </p:nvSpPr>
        <p:spPr>
          <a:xfrm>
            <a:off x="9052560" y="4023360"/>
            <a:ext cx="2560320" cy="548640"/>
          </a:xfrm>
          <a:prstGeom prst="rect">
            <a:avLst/>
          </a:prstGeom>
          <a:noFill/>
          <a:ln/>
        </p:spPr>
        <p:txBody>
          <a:bodyPr wrap="square" lIns="0" tIns="0" rIns="0" bIns="0" rtlCol="0" anchor="ctr"/>
          <a:lstStyle/>
          <a:p>
            <a:pPr indent="0" marL="0">
              <a:buNone/>
            </a:pPr>
            <a:r>
              <a:rPr lang="en-US" sz="3000" dirty="0">
                <a:solidFill>
                  <a:srgbClr val="1B1B1B"/>
                </a:solidFill>
                <a:latin typeface="Bebas Neue" pitchFamily="34" charset="0"/>
                <a:ea typeface="Bebas Neue" pitchFamily="34" charset="-122"/>
                <a:cs typeface="Bebas Neue" pitchFamily="34" charset="-120"/>
              </a:rPr>
              <a:t>LEGAL</a:t>
            </a:r>
            <a:endParaRPr lang="en-US" sz="3000" dirty="0"/>
          </a:p>
        </p:txBody>
      </p:sp>
      <p:sp>
        <p:nvSpPr>
          <p:cNvPr id="34" name="Text 32"/>
          <p:cNvSpPr txBox="1"/>
          <p:nvPr/>
        </p:nvSpPr>
        <p:spPr>
          <a:xfrm>
            <a:off x="8046720" y="4846320"/>
            <a:ext cx="3474720" cy="1234440"/>
          </a:xfrm>
          <a:prstGeom prst="rect">
            <a:avLst/>
          </a:prstGeom>
          <a:noFill/>
          <a:ln/>
        </p:spPr>
        <p:txBody>
          <a:bodyPr wrap="square" lIns="0" tIns="0" rIns="0" bIns="0" rtlCol="0" anchor="t"/>
          <a:lstStyle/>
          <a:p>
            <a:pPr indent="0" marL="0">
              <a:buNone/>
            </a:pPr>
            <a:r>
              <a:rPr lang="en-US" sz="2400" dirty="0">
                <a:solidFill>
                  <a:srgbClr val="1B1B1B"/>
                </a:solidFill>
                <a:latin typeface="Manrope" pitchFamily="34" charset="0"/>
                <a:ea typeface="Manrope" pitchFamily="34" charset="-122"/>
                <a:cs typeface="Manrope" pitchFamily="34" charset="-120"/>
              </a:rPr>
              <a:t>Deregulasi rute lintas negara; kepemilikan asing dibatasi</a:t>
            </a:r>
            <a:endParaRPr lang="en-US" sz="2400" dirty="0"/>
          </a:p>
        </p:txBody>
      </p:sp>
      <p:sp>
        <p:nvSpPr>
          <p:cNvPr id="35" name="Text 33"/>
          <p:cNvSpPr txBox="1"/>
          <p:nvPr/>
        </p:nvSpPr>
        <p:spPr>
          <a:xfrm>
            <a:off x="548640" y="6172200"/>
            <a:ext cx="10424160" cy="457200"/>
          </a:xfrm>
          <a:prstGeom prst="rect">
            <a:avLst/>
          </a:prstGeom>
          <a:noFill/>
          <a:ln/>
        </p:spPr>
        <p:txBody>
          <a:bodyPr wrap="square" lIns="0" tIns="0" rIns="0" bIns="0" rtlCol="0" anchor="ctr"/>
          <a:lstStyle/>
          <a:p>
            <a:pPr indent="0" marL="0">
              <a:buNone/>
            </a:pPr>
            <a:r>
              <a:rPr lang="en-US" sz="1200" dirty="0">
                <a:solidFill>
                  <a:srgbClr val="E63E2C"/>
                </a:solidFill>
                <a:latin typeface="Manrope" pitchFamily="34" charset="0"/>
                <a:ea typeface="Manrope" pitchFamily="34" charset="-122"/>
                <a:cs typeface="Manrope" pitchFamily="34" charset="-120"/>
              </a:rPr>
              <a:t>■  </a:t>
            </a:r>
            <a:pPr indent="0" marL="0">
              <a:buNone/>
            </a:pPr>
            <a:r>
              <a:rPr lang="en-US" sz="1800" b="1" dirty="0">
                <a:solidFill>
                  <a:srgbClr val="1B1B1B"/>
                </a:solidFill>
                <a:latin typeface="Manrope" pitchFamily="34" charset="0"/>
                <a:ea typeface="Manrope" pitchFamily="34" charset="-122"/>
                <a:cs typeface="Manrope" pitchFamily="34" charset="-120"/>
              </a:rPr>
              <a:t>Selanjutnya  </a:t>
            </a:r>
            <a:pPr indent="0" marL="0">
              <a:buNone/>
            </a:pPr>
            <a:r>
              <a:rPr lang="en-US" sz="1800" dirty="0">
                <a:solidFill>
                  <a:srgbClr val="4A4A4A"/>
                </a:solidFill>
                <a:latin typeface="Manrope" pitchFamily="34" charset="0"/>
                <a:ea typeface="Manrope" pitchFamily="34" charset="-122"/>
                <a:cs typeface="Manrope" pitchFamily="34" charset="-120"/>
              </a:rPr>
              <a:t>Peluang makro terbuka. Bisakah menjadi laba? Lihat struktur industrinya.</a:t>
            </a:r>
            <a:endParaRPr lang="en-US" sz="1800" dirty="0"/>
          </a:p>
        </p:txBody>
      </p:sp>
      <p:sp>
        <p:nvSpPr>
          <p:cNvPr id="36" name="Text 34"/>
          <p:cNvSpPr txBox="1"/>
          <p:nvPr/>
        </p:nvSpPr>
        <p:spPr>
          <a:xfrm>
            <a:off x="11247120" y="6355080"/>
            <a:ext cx="548640" cy="320040"/>
          </a:xfrm>
          <a:prstGeom prst="rect">
            <a:avLst/>
          </a:prstGeom>
          <a:noFill/>
          <a:ln/>
        </p:spPr>
        <p:txBody>
          <a:bodyPr wrap="square" lIns="0" tIns="0" rIns="0" bIns="0" rtlCol="0" anchor="ctr"/>
          <a:lstStyle/>
          <a:p>
            <a:pPr algn="r" indent="0" marL="0">
              <a:buNone/>
            </a:pPr>
            <a:r>
              <a:rPr lang="en-US" sz="1200" b="1" dirty="0">
                <a:solidFill>
                  <a:srgbClr val="1B1B1B"/>
                </a:solidFill>
                <a:latin typeface="Manrope" pitchFamily="34" charset="0"/>
                <a:ea typeface="Manrope" pitchFamily="34" charset="-122"/>
                <a:cs typeface="Manrope"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2CF"/>
        </a:solidFill>
      </p:bgPr>
    </p:bg>
    <p:spTree>
      <p:nvGrpSpPr>
        <p:cNvPr id="1" name=""/>
        <p:cNvGrpSpPr/>
        <p:nvPr/>
      </p:nvGrpSpPr>
      <p:grpSpPr>
        <a:xfrm>
          <a:off x="0" y="0"/>
          <a:ext cx="0" cy="0"/>
          <a:chOff x="0" y="0"/>
          <a:chExt cx="0" cy="0"/>
        </a:xfrm>
      </p:grpSpPr>
      <p:sp>
        <p:nvSpPr>
          <p:cNvPr id="2" name="Text 0"/>
          <p:cNvSpPr txBox="1"/>
          <p:nvPr/>
        </p:nvSpPr>
        <p:spPr>
          <a:xfrm>
            <a:off x="548640" y="411480"/>
            <a:ext cx="10515600" cy="868680"/>
          </a:xfrm>
          <a:prstGeom prst="rect">
            <a:avLst/>
          </a:prstGeom>
          <a:noFill/>
          <a:ln/>
        </p:spPr>
        <p:txBody>
          <a:bodyPr wrap="square" lIns="0" tIns="0" rIns="0" bIns="0" rtlCol="0" anchor="ctr"/>
          <a:lstStyle/>
          <a:p>
            <a:pPr indent="0" marL="0">
              <a:buNone/>
            </a:pPr>
            <a:r>
              <a:rPr lang="en-US" sz="5400" dirty="0">
                <a:solidFill>
                  <a:srgbClr val="1B1B1B"/>
                </a:solidFill>
                <a:latin typeface="Bebas Neue" pitchFamily="34" charset="0"/>
                <a:ea typeface="Bebas Neue" pitchFamily="34" charset="-122"/>
                <a:cs typeface="Bebas Neue" pitchFamily="34" charset="-120"/>
              </a:rPr>
              <a:t>FIVE FORCES ANALYSIS</a:t>
            </a:r>
            <a:endParaRPr lang="en-US" sz="5400" dirty="0"/>
          </a:p>
        </p:txBody>
      </p:sp>
      <p:sp>
        <p:nvSpPr>
          <p:cNvPr id="3" name="Text 1"/>
          <p:cNvSpPr txBox="1"/>
          <p:nvPr/>
        </p:nvSpPr>
        <p:spPr>
          <a:xfrm>
            <a:off x="548640" y="1298448"/>
            <a:ext cx="10058400" cy="320040"/>
          </a:xfrm>
          <a:prstGeom prst="rect">
            <a:avLst/>
          </a:prstGeom>
          <a:noFill/>
          <a:ln/>
        </p:spPr>
        <p:txBody>
          <a:bodyPr wrap="square" lIns="0" tIns="0" rIns="0" bIns="0" rtlCol="0" anchor="ctr"/>
          <a:lstStyle/>
          <a:p>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PROBLEM     </a:t>
            </a:r>
            <a:pPr indent="0" marL="0">
              <a:buNone/>
            </a:pPr>
            <a:r>
              <a:rPr lang="en-US" sz="1200" spc="150" kern="0" dirty="0">
                <a:solidFill>
                  <a:srgbClr val="2C7BB8"/>
                </a:solidFill>
                <a:latin typeface="Manrope" pitchFamily="34" charset="0"/>
                <a:ea typeface="Manrope" pitchFamily="34" charset="-122"/>
                <a:cs typeface="Manrope" pitchFamily="34" charset="-120"/>
              </a:rPr>
              <a:t>■ </a:t>
            </a:r>
            <a:pPr indent="0" marL="0">
              <a:buNone/>
            </a:pPr>
            <a:r>
              <a:rPr lang="en-US" sz="1300" b="1" spc="150" kern="0" dirty="0">
                <a:solidFill>
                  <a:srgbClr val="1B1B1B"/>
                </a:solidFill>
                <a:latin typeface="Manrope" pitchFamily="34" charset="0"/>
                <a:ea typeface="Manrope" pitchFamily="34" charset="-122"/>
                <a:cs typeface="Manrope" pitchFamily="34" charset="-120"/>
              </a:rPr>
              <a:t>EXTERNAL ENVIRONMENT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COST POSITION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CHOICE     </a:t>
            </a:r>
            <a:endParaRPr lang="en-US" sz="1300" dirty="0"/>
          </a:p>
        </p:txBody>
      </p:sp>
      <p:sp>
        <p:nvSpPr>
          <p:cNvPr id="4" name="Shape 2"/>
          <p:cNvSpPr/>
          <p:nvPr/>
        </p:nvSpPr>
        <p:spPr>
          <a:xfrm>
            <a:off x="2286000" y="2926080"/>
            <a:ext cx="1920240" cy="1920240"/>
          </a:xfrm>
          <a:prstGeom prst="ellipse">
            <a:avLst/>
          </a:prstGeom>
          <a:solidFill>
            <a:srgbClr val="1B1B1B"/>
          </a:solidFill>
          <a:ln w="12700">
            <a:solidFill>
              <a:srgbClr val="1B1B1B"/>
            </a:solidFill>
            <a:prstDash val="solid"/>
          </a:ln>
        </p:spPr>
      </p:sp>
      <p:sp>
        <p:nvSpPr>
          <p:cNvPr id="5" name="Text 3"/>
          <p:cNvSpPr txBox="1"/>
          <p:nvPr/>
        </p:nvSpPr>
        <p:spPr>
          <a:xfrm>
            <a:off x="2377440" y="3017520"/>
            <a:ext cx="1737360" cy="1737360"/>
          </a:xfrm>
          <a:prstGeom prst="rect">
            <a:avLst/>
          </a:prstGeom>
          <a:noFill/>
          <a:ln/>
        </p:spPr>
        <p:txBody>
          <a:bodyPr wrap="square" lIns="0" tIns="0" rIns="0" bIns="0" rtlCol="0" anchor="ctr"/>
          <a:lstStyle/>
          <a:p>
            <a:pPr algn="ctr" indent="0" marL="0">
              <a:buNone/>
            </a:pPr>
            <a:r>
              <a:rPr lang="en-US" sz="2800" dirty="0">
                <a:solidFill>
                  <a:srgbClr val="FFFFFF"/>
                </a:solidFill>
                <a:latin typeface="Bebas Neue" pitchFamily="34" charset="0"/>
                <a:ea typeface="Bebas Neue" pitchFamily="34" charset="-122"/>
                <a:cs typeface="Bebas Neue" pitchFamily="34" charset="-120"/>
              </a:rPr>
              <a:t>RIVALITAS</a:t>
            </a:r>
            <a:endParaRPr lang="en-US" sz="2800" dirty="0"/>
          </a:p>
          <a:p>
            <a:pPr algn="ctr" indent="0" marL="0">
              <a:buNone/>
            </a:pPr>
            <a:r>
              <a:rPr lang="en-US" sz="2000" b="1" dirty="0">
                <a:solidFill>
                  <a:srgbClr val="FFFFFF"/>
                </a:solidFill>
                <a:latin typeface="Manrope" pitchFamily="34" charset="0"/>
                <a:ea typeface="Manrope" pitchFamily="34" charset="-122"/>
                <a:cs typeface="Manrope" pitchFamily="34" charset="-120"/>
              </a:rPr>
              <a:t>TINGGI</a:t>
            </a:r>
            <a:endParaRPr lang="en-US" sz="2800" dirty="0"/>
          </a:p>
        </p:txBody>
      </p:sp>
      <p:sp>
        <p:nvSpPr>
          <p:cNvPr id="6" name="Shape 4"/>
          <p:cNvSpPr/>
          <p:nvPr/>
        </p:nvSpPr>
        <p:spPr>
          <a:xfrm>
            <a:off x="548640" y="1783080"/>
            <a:ext cx="1645920" cy="1645920"/>
          </a:xfrm>
          <a:prstGeom prst="ellipse">
            <a:avLst/>
          </a:prstGeom>
          <a:solidFill>
            <a:srgbClr val="E63E2C"/>
          </a:solidFill>
          <a:ln w="12700">
            <a:solidFill>
              <a:srgbClr val="E63E2C"/>
            </a:solidFill>
            <a:prstDash val="solid"/>
          </a:ln>
        </p:spPr>
      </p:sp>
      <p:sp>
        <p:nvSpPr>
          <p:cNvPr id="7" name="Text 5"/>
          <p:cNvSpPr txBox="1"/>
          <p:nvPr/>
        </p:nvSpPr>
        <p:spPr>
          <a:xfrm>
            <a:off x="640080" y="1874520"/>
            <a:ext cx="1463040" cy="1463040"/>
          </a:xfrm>
          <a:prstGeom prst="rect">
            <a:avLst/>
          </a:prstGeom>
          <a:noFill/>
          <a:ln/>
        </p:spPr>
        <p:txBody>
          <a:bodyPr wrap="square" lIns="0" tIns="0" rIns="0" bIns="0" rtlCol="0" anchor="ctr"/>
          <a:lstStyle/>
          <a:p>
            <a:pPr algn="ctr" indent="0" marL="0">
              <a:buNone/>
            </a:pPr>
            <a:r>
              <a:rPr lang="en-US" sz="2600" dirty="0">
                <a:solidFill>
                  <a:srgbClr val="FFFFFF"/>
                </a:solidFill>
                <a:latin typeface="Bebas Neue" pitchFamily="34" charset="0"/>
                <a:ea typeface="Bebas Neue" pitchFamily="34" charset="-122"/>
                <a:cs typeface="Bebas Neue" pitchFamily="34" charset="-120"/>
              </a:rPr>
              <a:t>PEMASOK</a:t>
            </a:r>
            <a:endParaRPr lang="en-US" sz="2600" dirty="0"/>
          </a:p>
          <a:p>
            <a:pPr algn="ctr" indent="0" marL="0">
              <a:buNone/>
            </a:pPr>
            <a:r>
              <a:rPr lang="en-US" sz="1800" b="1" dirty="0">
                <a:solidFill>
                  <a:srgbClr val="FFFFFF"/>
                </a:solidFill>
                <a:latin typeface="Manrope" pitchFamily="34" charset="0"/>
                <a:ea typeface="Manrope" pitchFamily="34" charset="-122"/>
                <a:cs typeface="Manrope" pitchFamily="34" charset="-120"/>
              </a:rPr>
              <a:t>TINGGI</a:t>
            </a:r>
            <a:endParaRPr lang="en-US" sz="2600" dirty="0"/>
          </a:p>
        </p:txBody>
      </p:sp>
      <p:sp>
        <p:nvSpPr>
          <p:cNvPr id="8" name="Shape 6"/>
          <p:cNvSpPr/>
          <p:nvPr/>
        </p:nvSpPr>
        <p:spPr>
          <a:xfrm>
            <a:off x="4297680" y="1783080"/>
            <a:ext cx="1645920" cy="1645920"/>
          </a:xfrm>
          <a:prstGeom prst="ellipse">
            <a:avLst/>
          </a:prstGeom>
          <a:solidFill>
            <a:srgbClr val="2C7BB8"/>
          </a:solidFill>
          <a:ln w="12700">
            <a:solidFill>
              <a:srgbClr val="2C7BB8"/>
            </a:solidFill>
            <a:prstDash val="solid"/>
          </a:ln>
        </p:spPr>
      </p:sp>
      <p:sp>
        <p:nvSpPr>
          <p:cNvPr id="9" name="Text 7"/>
          <p:cNvSpPr txBox="1"/>
          <p:nvPr/>
        </p:nvSpPr>
        <p:spPr>
          <a:xfrm>
            <a:off x="4389120" y="1874520"/>
            <a:ext cx="1463040" cy="1463040"/>
          </a:xfrm>
          <a:prstGeom prst="rect">
            <a:avLst/>
          </a:prstGeom>
          <a:noFill/>
          <a:ln/>
        </p:spPr>
        <p:txBody>
          <a:bodyPr wrap="square" lIns="0" tIns="0" rIns="0" bIns="0" rtlCol="0" anchor="ctr"/>
          <a:lstStyle/>
          <a:p>
            <a:pPr algn="ctr" indent="0" marL="0">
              <a:buNone/>
            </a:pPr>
            <a:r>
              <a:rPr lang="en-US" sz="2600" dirty="0">
                <a:solidFill>
                  <a:srgbClr val="FFFFFF"/>
                </a:solidFill>
                <a:latin typeface="Bebas Neue" pitchFamily="34" charset="0"/>
                <a:ea typeface="Bebas Neue" pitchFamily="34" charset="-122"/>
                <a:cs typeface="Bebas Neue" pitchFamily="34" charset="-120"/>
              </a:rPr>
              <a:t>PEMBELI</a:t>
            </a:r>
            <a:endParaRPr lang="en-US" sz="2600" dirty="0"/>
          </a:p>
          <a:p>
            <a:pPr algn="ctr" indent="0" marL="0">
              <a:buNone/>
            </a:pPr>
            <a:r>
              <a:rPr lang="en-US" sz="1800" b="1" dirty="0">
                <a:solidFill>
                  <a:srgbClr val="FFFFFF"/>
                </a:solidFill>
                <a:latin typeface="Manrope" pitchFamily="34" charset="0"/>
                <a:ea typeface="Manrope" pitchFamily="34" charset="-122"/>
                <a:cs typeface="Manrope" pitchFamily="34" charset="-120"/>
              </a:rPr>
              <a:t>TINGGI</a:t>
            </a:r>
            <a:endParaRPr lang="en-US" sz="2600" dirty="0"/>
          </a:p>
        </p:txBody>
      </p:sp>
      <p:sp>
        <p:nvSpPr>
          <p:cNvPr id="10" name="Shape 8"/>
          <p:cNvSpPr/>
          <p:nvPr/>
        </p:nvSpPr>
        <p:spPr>
          <a:xfrm>
            <a:off x="548640" y="4251960"/>
            <a:ext cx="1645920" cy="1645920"/>
          </a:xfrm>
          <a:prstGeom prst="ellipse">
            <a:avLst/>
          </a:prstGeom>
          <a:solidFill>
            <a:srgbClr val="F4C430"/>
          </a:solidFill>
          <a:ln w="12700">
            <a:solidFill>
              <a:srgbClr val="F4C430"/>
            </a:solidFill>
            <a:prstDash val="solid"/>
          </a:ln>
        </p:spPr>
      </p:sp>
      <p:sp>
        <p:nvSpPr>
          <p:cNvPr id="11" name="Text 9"/>
          <p:cNvSpPr txBox="1"/>
          <p:nvPr/>
        </p:nvSpPr>
        <p:spPr>
          <a:xfrm>
            <a:off x="640080" y="4343400"/>
            <a:ext cx="1463040" cy="1463040"/>
          </a:xfrm>
          <a:prstGeom prst="rect">
            <a:avLst/>
          </a:prstGeom>
          <a:noFill/>
          <a:ln/>
        </p:spPr>
        <p:txBody>
          <a:bodyPr wrap="square" lIns="0" tIns="0" rIns="0" bIns="0" rtlCol="0" anchor="ctr"/>
          <a:lstStyle/>
          <a:p>
            <a:pPr algn="ctr" indent="0" marL="0">
              <a:buNone/>
            </a:pPr>
            <a:r>
              <a:rPr lang="en-US" sz="2600" dirty="0">
                <a:solidFill>
                  <a:srgbClr val="1B1B1B"/>
                </a:solidFill>
                <a:latin typeface="Bebas Neue" pitchFamily="34" charset="0"/>
                <a:ea typeface="Bebas Neue" pitchFamily="34" charset="-122"/>
                <a:cs typeface="Bebas Neue" pitchFamily="34" charset="-120"/>
              </a:rPr>
              <a:t>PENDATANG</a:t>
            </a:r>
            <a:endParaRPr lang="en-US" sz="2600" dirty="0"/>
          </a:p>
          <a:p>
            <a:pPr algn="ctr" indent="0" marL="0">
              <a:buNone/>
            </a:pPr>
            <a:r>
              <a:rPr lang="en-US" sz="1800" b="1" dirty="0">
                <a:solidFill>
                  <a:srgbClr val="1B1B1B"/>
                </a:solidFill>
                <a:latin typeface="Manrope" pitchFamily="34" charset="0"/>
                <a:ea typeface="Manrope" pitchFamily="34" charset="-122"/>
                <a:cs typeface="Manrope" pitchFamily="34" charset="-120"/>
              </a:rPr>
              <a:t>SEDANG</a:t>
            </a:r>
            <a:endParaRPr lang="en-US" sz="2600" dirty="0"/>
          </a:p>
        </p:txBody>
      </p:sp>
      <p:sp>
        <p:nvSpPr>
          <p:cNvPr id="12" name="Shape 10"/>
          <p:cNvSpPr/>
          <p:nvPr/>
        </p:nvSpPr>
        <p:spPr>
          <a:xfrm>
            <a:off x="4297680" y="4251960"/>
            <a:ext cx="1645920" cy="1645920"/>
          </a:xfrm>
          <a:prstGeom prst="ellipse">
            <a:avLst/>
          </a:prstGeom>
          <a:solidFill>
            <a:srgbClr val="6B6B6B"/>
          </a:solidFill>
          <a:ln w="12700">
            <a:solidFill>
              <a:srgbClr val="6B6B6B"/>
            </a:solidFill>
            <a:prstDash val="solid"/>
          </a:ln>
        </p:spPr>
      </p:sp>
      <p:sp>
        <p:nvSpPr>
          <p:cNvPr id="13" name="Text 11"/>
          <p:cNvSpPr txBox="1"/>
          <p:nvPr/>
        </p:nvSpPr>
        <p:spPr>
          <a:xfrm>
            <a:off x="4389120" y="4343400"/>
            <a:ext cx="1463040" cy="1463040"/>
          </a:xfrm>
          <a:prstGeom prst="rect">
            <a:avLst/>
          </a:prstGeom>
          <a:noFill/>
          <a:ln/>
        </p:spPr>
        <p:txBody>
          <a:bodyPr wrap="square" lIns="0" tIns="0" rIns="0" bIns="0" rtlCol="0" anchor="ctr"/>
          <a:lstStyle/>
          <a:p>
            <a:pPr algn="ctr" indent="0" marL="0">
              <a:buNone/>
            </a:pPr>
            <a:r>
              <a:rPr lang="en-US" sz="2600" dirty="0">
                <a:solidFill>
                  <a:srgbClr val="FFFFFF"/>
                </a:solidFill>
                <a:latin typeface="Bebas Neue" pitchFamily="34" charset="0"/>
                <a:ea typeface="Bebas Neue" pitchFamily="34" charset="-122"/>
                <a:cs typeface="Bebas Neue" pitchFamily="34" charset="-120"/>
              </a:rPr>
              <a:t>SUBSTITUSI</a:t>
            </a:r>
            <a:endParaRPr lang="en-US" sz="2600" dirty="0"/>
          </a:p>
          <a:p>
            <a:pPr algn="ctr" indent="0" marL="0">
              <a:buNone/>
            </a:pPr>
            <a:r>
              <a:rPr lang="en-US" sz="1500" b="1" dirty="0">
                <a:solidFill>
                  <a:srgbClr val="FFFFFF"/>
                </a:solidFill>
                <a:latin typeface="Manrope" pitchFamily="34" charset="0"/>
                <a:ea typeface="Manrope" pitchFamily="34" charset="-122"/>
                <a:cs typeface="Manrope" pitchFamily="34" charset="-120"/>
              </a:rPr>
              <a:t>SEDANG / RENDAH</a:t>
            </a:r>
            <a:endParaRPr lang="en-US" sz="2600" dirty="0"/>
          </a:p>
        </p:txBody>
      </p:sp>
      <p:sp>
        <p:nvSpPr>
          <p:cNvPr id="14" name="Text 12"/>
          <p:cNvSpPr txBox="1"/>
          <p:nvPr/>
        </p:nvSpPr>
        <p:spPr>
          <a:xfrm>
            <a:off x="6949440" y="2011680"/>
            <a:ext cx="4754880" cy="2011680"/>
          </a:xfrm>
          <a:prstGeom prst="rect">
            <a:avLst/>
          </a:prstGeom>
          <a:noFill/>
          <a:ln/>
        </p:spPr>
        <p:txBody>
          <a:bodyPr wrap="square" lIns="0" tIns="0" rIns="0" bIns="0" rtlCol="0" anchor="t"/>
          <a:lstStyle/>
          <a:p>
            <a:pPr indent="0" marL="0">
              <a:buNone/>
            </a:pPr>
            <a:r>
              <a:rPr lang="en-US" sz="2400" b="1" dirty="0">
                <a:solidFill>
                  <a:srgbClr val="1B1B1B"/>
                </a:solidFill>
                <a:latin typeface="Manrope" pitchFamily="34" charset="0"/>
                <a:ea typeface="Manrope" pitchFamily="34" charset="-122"/>
                <a:cs typeface="Manrope" pitchFamily="34" charset="-120"/>
              </a:rPr>
              <a:t>Industri kurang atraktif. </a:t>
            </a:r>
            <a:pPr indent="0" marL="0">
              <a:buNone/>
            </a:pPr>
            <a:r>
              <a:rPr lang="en-US" sz="2400" dirty="0">
                <a:solidFill>
                  <a:srgbClr val="1B1B1B"/>
                </a:solidFill>
                <a:latin typeface="Manrope" pitchFamily="34" charset="0"/>
                <a:ea typeface="Manrope" pitchFamily="34" charset="-122"/>
                <a:cs typeface="Manrope" pitchFamily="34" charset="-120"/>
              </a:rPr>
              <a:t>Laba lahir dari posisi biaya perusahaan, sesuai logika Structure Conduct Performance.</a:t>
            </a:r>
            <a:endParaRPr lang="en-US" sz="2400" dirty="0"/>
          </a:p>
        </p:txBody>
      </p:sp>
      <p:sp>
        <p:nvSpPr>
          <p:cNvPr id="15" name="Text 13"/>
          <p:cNvSpPr txBox="1"/>
          <p:nvPr/>
        </p:nvSpPr>
        <p:spPr>
          <a:xfrm>
            <a:off x="6949440" y="4114800"/>
            <a:ext cx="4754880" cy="1463040"/>
          </a:xfrm>
          <a:prstGeom prst="rect">
            <a:avLst/>
          </a:prstGeom>
          <a:noFill/>
          <a:ln/>
        </p:spPr>
        <p:txBody>
          <a:bodyPr wrap="square" lIns="0" tIns="0" rIns="0" bIns="0" rtlCol="0" anchor="t"/>
          <a:lstStyle/>
          <a:p>
            <a:pPr indent="0" marL="0">
              <a:buNone/>
            </a:pPr>
            <a:r>
              <a:rPr lang="en-US" sz="2400" dirty="0">
                <a:solidFill>
                  <a:srgbClr val="4A4A4A"/>
                </a:solidFill>
                <a:latin typeface="Manrope" pitchFamily="34" charset="0"/>
                <a:ea typeface="Manrope" pitchFamily="34" charset="-122"/>
                <a:cs typeface="Manrope" pitchFamily="34" charset="-120"/>
              </a:rPr>
              <a:t>Yang tidak bisa dikendalikan: pemasok dan pembeli. Yang bisa dikendalikan: struktur biaya sendiri.</a:t>
            </a:r>
            <a:endParaRPr lang="en-US" sz="2400" dirty="0"/>
          </a:p>
        </p:txBody>
      </p:sp>
      <p:sp>
        <p:nvSpPr>
          <p:cNvPr id="16" name="Shape 14"/>
          <p:cNvSpPr/>
          <p:nvPr/>
        </p:nvSpPr>
        <p:spPr>
          <a:xfrm>
            <a:off x="10241280" y="4937760"/>
            <a:ext cx="1828800" cy="1828800"/>
          </a:xfrm>
          <a:prstGeom prst="ellipse">
            <a:avLst/>
          </a:prstGeom>
          <a:ln w="19050">
            <a:solidFill>
              <a:srgbClr val="1B1B1B"/>
            </a:solidFill>
            <a:prstDash val="sysDot"/>
          </a:ln>
        </p:spPr>
      </p:sp>
      <p:sp>
        <p:nvSpPr>
          <p:cNvPr id="17" name="Text 15"/>
          <p:cNvSpPr txBox="1"/>
          <p:nvPr/>
        </p:nvSpPr>
        <p:spPr>
          <a:xfrm>
            <a:off x="548640" y="6172200"/>
            <a:ext cx="10424160" cy="457200"/>
          </a:xfrm>
          <a:prstGeom prst="rect">
            <a:avLst/>
          </a:prstGeom>
          <a:noFill/>
          <a:ln/>
        </p:spPr>
        <p:txBody>
          <a:bodyPr wrap="square" lIns="0" tIns="0" rIns="0" bIns="0" rtlCol="0" anchor="ctr"/>
          <a:lstStyle/>
          <a:p>
            <a:pPr indent="0" marL="0">
              <a:buNone/>
            </a:pPr>
            <a:r>
              <a:rPr lang="en-US" sz="1200" dirty="0">
                <a:solidFill>
                  <a:srgbClr val="E63E2C"/>
                </a:solidFill>
                <a:latin typeface="Manrope" pitchFamily="34" charset="0"/>
                <a:ea typeface="Manrope" pitchFamily="34" charset="-122"/>
                <a:cs typeface="Manrope" pitchFamily="34" charset="-120"/>
              </a:rPr>
              <a:t>■  </a:t>
            </a:r>
            <a:pPr indent="0" marL="0">
              <a:buNone/>
            </a:pPr>
            <a:r>
              <a:rPr lang="en-US" sz="1800" b="1" dirty="0">
                <a:solidFill>
                  <a:srgbClr val="1B1B1B"/>
                </a:solidFill>
                <a:latin typeface="Manrope" pitchFamily="34" charset="0"/>
                <a:ea typeface="Manrope" pitchFamily="34" charset="-122"/>
                <a:cs typeface="Manrope" pitchFamily="34" charset="-120"/>
              </a:rPr>
              <a:t>Selanjutnya  </a:t>
            </a:r>
            <a:pPr indent="0" marL="0">
              <a:buNone/>
            </a:pPr>
            <a:r>
              <a:rPr lang="en-US" sz="1800" dirty="0">
                <a:solidFill>
                  <a:srgbClr val="4A4A4A"/>
                </a:solidFill>
                <a:latin typeface="Manrope" pitchFamily="34" charset="0"/>
                <a:ea typeface="Manrope" pitchFamily="34" charset="-122"/>
                <a:cs typeface="Manrope" pitchFamily="34" charset="-120"/>
              </a:rPr>
              <a:t>Laba langka. Apa yang mengubah struktur ini, dan siapa yang menang?</a:t>
            </a:r>
            <a:endParaRPr lang="en-US" sz="1800" dirty="0"/>
          </a:p>
        </p:txBody>
      </p:sp>
      <p:sp>
        <p:nvSpPr>
          <p:cNvPr id="18" name="Text 16"/>
          <p:cNvSpPr txBox="1"/>
          <p:nvPr/>
        </p:nvSpPr>
        <p:spPr>
          <a:xfrm>
            <a:off x="11247120" y="6355080"/>
            <a:ext cx="548640" cy="320040"/>
          </a:xfrm>
          <a:prstGeom prst="rect">
            <a:avLst/>
          </a:prstGeom>
          <a:noFill/>
          <a:ln/>
        </p:spPr>
        <p:txBody>
          <a:bodyPr wrap="square" lIns="0" tIns="0" rIns="0" bIns="0" rtlCol="0" anchor="ctr"/>
          <a:lstStyle/>
          <a:p>
            <a:pPr algn="r" indent="0" marL="0">
              <a:buNone/>
            </a:pPr>
            <a:r>
              <a:rPr lang="en-US" sz="1200" b="1" dirty="0">
                <a:solidFill>
                  <a:srgbClr val="1B1B1B"/>
                </a:solidFill>
                <a:latin typeface="Manrope" pitchFamily="34" charset="0"/>
                <a:ea typeface="Manrope" pitchFamily="34" charset="-122"/>
                <a:cs typeface="Manrope"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2CF"/>
        </a:solidFill>
      </p:bgPr>
    </p:bg>
    <p:spTree>
      <p:nvGrpSpPr>
        <p:cNvPr id="1" name=""/>
        <p:cNvGrpSpPr/>
        <p:nvPr/>
      </p:nvGrpSpPr>
      <p:grpSpPr>
        <a:xfrm>
          <a:off x="0" y="0"/>
          <a:ext cx="0" cy="0"/>
          <a:chOff x="0" y="0"/>
          <a:chExt cx="0" cy="0"/>
        </a:xfrm>
      </p:grpSpPr>
      <p:sp>
        <p:nvSpPr>
          <p:cNvPr id="2" name="Text 0"/>
          <p:cNvSpPr txBox="1"/>
          <p:nvPr/>
        </p:nvSpPr>
        <p:spPr>
          <a:xfrm>
            <a:off x="548640" y="411480"/>
            <a:ext cx="10515600" cy="868680"/>
          </a:xfrm>
          <a:prstGeom prst="rect">
            <a:avLst/>
          </a:prstGeom>
          <a:noFill/>
          <a:ln/>
        </p:spPr>
        <p:txBody>
          <a:bodyPr wrap="square" lIns="0" tIns="0" rIns="0" bIns="0" rtlCol="0" anchor="ctr"/>
          <a:lstStyle/>
          <a:p>
            <a:pPr indent="0" marL="0">
              <a:buNone/>
            </a:pPr>
            <a:r>
              <a:rPr lang="en-US" sz="5400" dirty="0">
                <a:solidFill>
                  <a:srgbClr val="1B1B1B"/>
                </a:solidFill>
                <a:latin typeface="Bebas Neue" pitchFamily="34" charset="0"/>
                <a:ea typeface="Bebas Neue" pitchFamily="34" charset="-122"/>
                <a:cs typeface="Bebas Neue" pitchFamily="34" charset="-120"/>
              </a:rPr>
              <a:t>DRIVING FORCES AND KEY SUCCESS FACTORS</a:t>
            </a:r>
            <a:endParaRPr lang="en-US" sz="5400" dirty="0"/>
          </a:p>
        </p:txBody>
      </p:sp>
      <p:sp>
        <p:nvSpPr>
          <p:cNvPr id="3" name="Text 1"/>
          <p:cNvSpPr txBox="1"/>
          <p:nvPr/>
        </p:nvSpPr>
        <p:spPr>
          <a:xfrm>
            <a:off x="548640" y="1298448"/>
            <a:ext cx="10058400" cy="320040"/>
          </a:xfrm>
          <a:prstGeom prst="rect">
            <a:avLst/>
          </a:prstGeom>
          <a:noFill/>
          <a:ln/>
        </p:spPr>
        <p:txBody>
          <a:bodyPr wrap="square" lIns="0" tIns="0" rIns="0" bIns="0" rtlCol="0" anchor="ctr"/>
          <a:lstStyle/>
          <a:p>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PROBLEM     </a:t>
            </a:r>
            <a:pPr indent="0" marL="0">
              <a:buNone/>
            </a:pPr>
            <a:r>
              <a:rPr lang="en-US" sz="1200" spc="150" kern="0" dirty="0">
                <a:solidFill>
                  <a:srgbClr val="2C7BB8"/>
                </a:solidFill>
                <a:latin typeface="Manrope" pitchFamily="34" charset="0"/>
                <a:ea typeface="Manrope" pitchFamily="34" charset="-122"/>
                <a:cs typeface="Manrope" pitchFamily="34" charset="-120"/>
              </a:rPr>
              <a:t>■ </a:t>
            </a:r>
            <a:pPr indent="0" marL="0">
              <a:buNone/>
            </a:pPr>
            <a:r>
              <a:rPr lang="en-US" sz="1300" b="1" spc="150" kern="0" dirty="0">
                <a:solidFill>
                  <a:srgbClr val="1B1B1B"/>
                </a:solidFill>
                <a:latin typeface="Manrope" pitchFamily="34" charset="0"/>
                <a:ea typeface="Manrope" pitchFamily="34" charset="-122"/>
                <a:cs typeface="Manrope" pitchFamily="34" charset="-120"/>
              </a:rPr>
              <a:t>EXTERNAL ENVIRONMENT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COST POSITION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CHOICE     </a:t>
            </a:r>
            <a:endParaRPr lang="en-US" sz="1300" dirty="0"/>
          </a:p>
        </p:txBody>
      </p:sp>
      <p:sp>
        <p:nvSpPr>
          <p:cNvPr id="4" name="Text 2"/>
          <p:cNvSpPr txBox="1"/>
          <p:nvPr/>
        </p:nvSpPr>
        <p:spPr>
          <a:xfrm>
            <a:off x="548640" y="1783080"/>
            <a:ext cx="3840480" cy="548640"/>
          </a:xfrm>
          <a:prstGeom prst="rect">
            <a:avLst/>
          </a:prstGeom>
          <a:noFill/>
          <a:ln/>
        </p:spPr>
        <p:txBody>
          <a:bodyPr wrap="square" lIns="0" tIns="0" rIns="0" bIns="0" rtlCol="0" anchor="ctr"/>
          <a:lstStyle/>
          <a:p>
            <a:pPr indent="0" marL="0">
              <a:buNone/>
            </a:pPr>
            <a:r>
              <a:rPr lang="en-US" sz="3400" dirty="0">
                <a:solidFill>
                  <a:srgbClr val="E63E2C"/>
                </a:solidFill>
                <a:latin typeface="Bebas Neue" pitchFamily="34" charset="0"/>
                <a:ea typeface="Bebas Neue" pitchFamily="34" charset="-122"/>
                <a:cs typeface="Bebas Neue" pitchFamily="34" charset="-120"/>
              </a:rPr>
              <a:t>KEKUATAN PENDORONG</a:t>
            </a:r>
            <a:endParaRPr lang="en-US" sz="3400" dirty="0"/>
          </a:p>
        </p:txBody>
      </p:sp>
      <p:sp>
        <p:nvSpPr>
          <p:cNvPr id="5" name="Text 3"/>
          <p:cNvSpPr txBox="1"/>
          <p:nvPr/>
        </p:nvSpPr>
        <p:spPr>
          <a:xfrm>
            <a:off x="548640" y="2377440"/>
            <a:ext cx="3657600" cy="356616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Deregulasi regional</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Distribusi langsung</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Harga bahan bakar</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Kelas menengah Asia</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LCC ke rute jauh</a:t>
            </a:r>
            <a:endParaRPr lang="en-US" sz="2400" dirty="0"/>
          </a:p>
        </p:txBody>
      </p:sp>
      <p:sp>
        <p:nvSpPr>
          <p:cNvPr id="6" name="Text 4"/>
          <p:cNvSpPr txBox="1"/>
          <p:nvPr/>
        </p:nvSpPr>
        <p:spPr>
          <a:xfrm>
            <a:off x="4480560" y="1783080"/>
            <a:ext cx="3657600" cy="548640"/>
          </a:xfrm>
          <a:prstGeom prst="rect">
            <a:avLst/>
          </a:prstGeom>
          <a:noFill/>
          <a:ln/>
        </p:spPr>
        <p:txBody>
          <a:bodyPr wrap="square" lIns="0" tIns="0" rIns="0" bIns="0" rtlCol="0" anchor="ctr"/>
          <a:lstStyle/>
          <a:p>
            <a:pPr indent="0" marL="0">
              <a:buNone/>
            </a:pPr>
            <a:r>
              <a:rPr lang="en-US" sz="3400" dirty="0">
                <a:solidFill>
                  <a:srgbClr val="2C7BB8"/>
                </a:solidFill>
                <a:latin typeface="Bebas Neue" pitchFamily="34" charset="0"/>
                <a:ea typeface="Bebas Neue" pitchFamily="34" charset="-122"/>
                <a:cs typeface="Bebas Neue" pitchFamily="34" charset="-120"/>
              </a:rPr>
              <a:t>FAKTOR KUNCI</a:t>
            </a:r>
            <a:endParaRPr lang="en-US" sz="3400" dirty="0"/>
          </a:p>
        </p:txBody>
      </p:sp>
      <p:sp>
        <p:nvSpPr>
          <p:cNvPr id="7" name="Text 5"/>
          <p:cNvSpPr txBox="1"/>
          <p:nvPr/>
        </p:nvSpPr>
        <p:spPr>
          <a:xfrm>
            <a:off x="4480560" y="2377440"/>
            <a:ext cx="3657600" cy="356616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Biaya per ASK terendah</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Utilisasi tinggi</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Load factor tinggi</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Operasi sederhana</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Merek dipercaya</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SDM produktif</a:t>
            </a:r>
            <a:endParaRPr lang="en-US" sz="2400" dirty="0"/>
          </a:p>
        </p:txBody>
      </p:sp>
      <p:sp>
        <p:nvSpPr>
          <p:cNvPr id="8" name="Shape 6"/>
          <p:cNvSpPr/>
          <p:nvPr/>
        </p:nvSpPr>
        <p:spPr>
          <a:xfrm>
            <a:off x="8503920" y="1737360"/>
            <a:ext cx="4206240" cy="4206240"/>
          </a:xfrm>
          <a:prstGeom prst="ellipse">
            <a:avLst/>
          </a:prstGeom>
          <a:solidFill>
            <a:srgbClr val="F4C430"/>
          </a:solidFill>
          <a:ln w="12700">
            <a:solidFill>
              <a:srgbClr val="F4C430"/>
            </a:solidFill>
            <a:prstDash val="solid"/>
          </a:ln>
        </p:spPr>
      </p:sp>
      <p:sp>
        <p:nvSpPr>
          <p:cNvPr id="9" name="Shape 7"/>
          <p:cNvSpPr/>
          <p:nvPr/>
        </p:nvSpPr>
        <p:spPr>
          <a:xfrm>
            <a:off x="10607040" y="1719072"/>
            <a:ext cx="2148840" cy="4242816"/>
          </a:xfrm>
          <a:prstGeom prst="rect">
            <a:avLst/>
          </a:prstGeom>
          <a:solidFill>
            <a:srgbClr val="F3E2CF"/>
          </a:solidFill>
          <a:ln w="12700">
            <a:solidFill>
              <a:srgbClr val="F3E2CF"/>
            </a:solidFill>
            <a:prstDash val="solid"/>
          </a:ln>
        </p:spPr>
      </p:sp>
      <p:pic>
        <p:nvPicPr>
          <p:cNvPr id="10" name="Image 0" descr="/tmp/claude-0/-home-user-Dom-Manipulation/a70c4110-05d8-512e-ae11-d08dee025a7a/scratchpad/img/bw_engine.png">    </p:cNvPr>
          <p:cNvPicPr>
            <a:picLocks noChangeAspect="1"/>
          </p:cNvPicPr>
          <p:nvPr/>
        </p:nvPicPr>
        <p:blipFill>
          <a:blip r:embed="rId1"/>
          <a:stretch>
            <a:fillRect/>
          </a:stretch>
        </p:blipFill>
        <p:spPr>
          <a:xfrm>
            <a:off x="8595360" y="2103120"/>
            <a:ext cx="3200400" cy="3200400"/>
          </a:xfrm>
          <a:prstGeom prst="rect">
            <a:avLst/>
          </a:prstGeom>
        </p:spPr>
      </p:pic>
      <p:sp>
        <p:nvSpPr>
          <p:cNvPr id="11" name="Text 8"/>
          <p:cNvSpPr txBox="1"/>
          <p:nvPr/>
        </p:nvSpPr>
        <p:spPr>
          <a:xfrm>
            <a:off x="548640" y="6172200"/>
            <a:ext cx="10424160" cy="457200"/>
          </a:xfrm>
          <a:prstGeom prst="rect">
            <a:avLst/>
          </a:prstGeom>
          <a:noFill/>
          <a:ln/>
        </p:spPr>
        <p:txBody>
          <a:bodyPr wrap="square" lIns="0" tIns="0" rIns="0" bIns="0" rtlCol="0" anchor="ctr"/>
          <a:lstStyle/>
          <a:p>
            <a:pPr indent="0" marL="0">
              <a:buNone/>
            </a:pPr>
            <a:r>
              <a:rPr lang="en-US" sz="1200" dirty="0">
                <a:solidFill>
                  <a:srgbClr val="E63E2C"/>
                </a:solidFill>
                <a:latin typeface="Manrope" pitchFamily="34" charset="0"/>
                <a:ea typeface="Manrope" pitchFamily="34" charset="-122"/>
                <a:cs typeface="Manrope" pitchFamily="34" charset="-120"/>
              </a:rPr>
              <a:t>■  </a:t>
            </a:r>
            <a:pPr indent="0" marL="0">
              <a:buNone/>
            </a:pPr>
            <a:r>
              <a:rPr lang="en-US" sz="1800" b="1" dirty="0">
                <a:solidFill>
                  <a:srgbClr val="1B1B1B"/>
                </a:solidFill>
                <a:latin typeface="Manrope" pitchFamily="34" charset="0"/>
                <a:ea typeface="Manrope" pitchFamily="34" charset="-122"/>
                <a:cs typeface="Manrope" pitchFamily="34" charset="-120"/>
              </a:rPr>
              <a:t>Selanjutnya  </a:t>
            </a:r>
            <a:pPr indent="0" marL="0">
              <a:buNone/>
            </a:pPr>
            <a:r>
              <a:rPr lang="en-US" sz="1800" dirty="0">
                <a:solidFill>
                  <a:srgbClr val="4A4A4A"/>
                </a:solidFill>
                <a:latin typeface="Manrope" pitchFamily="34" charset="0"/>
                <a:ea typeface="Manrope" pitchFamily="34" charset="-122"/>
                <a:cs typeface="Manrope" pitchFamily="34" charset="-120"/>
              </a:rPr>
              <a:t>Tolok ukur siap. Di kelompok pesaing mana AirAsia dan AirAsia X berada?</a:t>
            </a:r>
            <a:endParaRPr lang="en-US" sz="1800" dirty="0"/>
          </a:p>
        </p:txBody>
      </p:sp>
      <p:sp>
        <p:nvSpPr>
          <p:cNvPr id="12" name="Text 9"/>
          <p:cNvSpPr txBox="1"/>
          <p:nvPr/>
        </p:nvSpPr>
        <p:spPr>
          <a:xfrm>
            <a:off x="11247120" y="6355080"/>
            <a:ext cx="548640" cy="320040"/>
          </a:xfrm>
          <a:prstGeom prst="rect">
            <a:avLst/>
          </a:prstGeom>
          <a:noFill/>
          <a:ln/>
        </p:spPr>
        <p:txBody>
          <a:bodyPr wrap="square" lIns="0" tIns="0" rIns="0" bIns="0" rtlCol="0" anchor="ctr"/>
          <a:lstStyle/>
          <a:p>
            <a:pPr algn="r" indent="0" marL="0">
              <a:buNone/>
            </a:pPr>
            <a:r>
              <a:rPr lang="en-US" sz="1200" b="1" dirty="0">
                <a:solidFill>
                  <a:srgbClr val="1B1B1B"/>
                </a:solidFill>
                <a:latin typeface="Manrope" pitchFamily="34" charset="0"/>
                <a:ea typeface="Manrope" pitchFamily="34" charset="-122"/>
                <a:cs typeface="Manrope"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2CF"/>
        </a:solidFill>
      </p:bgPr>
    </p:bg>
    <p:spTree>
      <p:nvGrpSpPr>
        <p:cNvPr id="1" name=""/>
        <p:cNvGrpSpPr/>
        <p:nvPr/>
      </p:nvGrpSpPr>
      <p:grpSpPr>
        <a:xfrm>
          <a:off x="0" y="0"/>
          <a:ext cx="0" cy="0"/>
          <a:chOff x="0" y="0"/>
          <a:chExt cx="0" cy="0"/>
        </a:xfrm>
      </p:grpSpPr>
      <p:sp>
        <p:nvSpPr>
          <p:cNvPr id="2" name="Text 0"/>
          <p:cNvSpPr txBox="1"/>
          <p:nvPr/>
        </p:nvSpPr>
        <p:spPr>
          <a:xfrm>
            <a:off x="548640" y="411480"/>
            <a:ext cx="10515600" cy="868680"/>
          </a:xfrm>
          <a:prstGeom prst="rect">
            <a:avLst/>
          </a:prstGeom>
          <a:noFill/>
          <a:ln/>
        </p:spPr>
        <p:txBody>
          <a:bodyPr wrap="square" lIns="0" tIns="0" rIns="0" bIns="0" rtlCol="0" anchor="ctr"/>
          <a:lstStyle/>
          <a:p>
            <a:pPr indent="0" marL="0">
              <a:buNone/>
            </a:pPr>
            <a:r>
              <a:rPr lang="en-US" sz="5400" dirty="0">
                <a:solidFill>
                  <a:srgbClr val="1B1B1B"/>
                </a:solidFill>
                <a:latin typeface="Bebas Neue" pitchFamily="34" charset="0"/>
                <a:ea typeface="Bebas Neue" pitchFamily="34" charset="-122"/>
                <a:cs typeface="Bebas Neue" pitchFamily="34" charset="-120"/>
              </a:rPr>
              <a:t>STRATEGIC GROUP MAP</a:t>
            </a:r>
            <a:endParaRPr lang="en-US" sz="5400" dirty="0"/>
          </a:p>
        </p:txBody>
      </p:sp>
      <p:sp>
        <p:nvSpPr>
          <p:cNvPr id="3" name="Text 1"/>
          <p:cNvSpPr txBox="1"/>
          <p:nvPr/>
        </p:nvSpPr>
        <p:spPr>
          <a:xfrm>
            <a:off x="548640" y="1298448"/>
            <a:ext cx="10058400" cy="320040"/>
          </a:xfrm>
          <a:prstGeom prst="rect">
            <a:avLst/>
          </a:prstGeom>
          <a:noFill/>
          <a:ln/>
        </p:spPr>
        <p:txBody>
          <a:bodyPr wrap="square" lIns="0" tIns="0" rIns="0" bIns="0" rtlCol="0" anchor="ctr"/>
          <a:lstStyle/>
          <a:p>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PROBLEM     </a:t>
            </a:r>
            <a:pPr indent="0" marL="0">
              <a:buNone/>
            </a:pPr>
            <a:r>
              <a:rPr lang="en-US" sz="1200" spc="150" kern="0" dirty="0">
                <a:solidFill>
                  <a:srgbClr val="2C7BB8"/>
                </a:solidFill>
                <a:latin typeface="Manrope" pitchFamily="34" charset="0"/>
                <a:ea typeface="Manrope" pitchFamily="34" charset="-122"/>
                <a:cs typeface="Manrope" pitchFamily="34" charset="-120"/>
              </a:rPr>
              <a:t>■ </a:t>
            </a:r>
            <a:pPr indent="0" marL="0">
              <a:buNone/>
            </a:pPr>
            <a:r>
              <a:rPr lang="en-US" sz="1300" b="1" spc="150" kern="0" dirty="0">
                <a:solidFill>
                  <a:srgbClr val="1B1B1B"/>
                </a:solidFill>
                <a:latin typeface="Manrope" pitchFamily="34" charset="0"/>
                <a:ea typeface="Manrope" pitchFamily="34" charset="-122"/>
                <a:cs typeface="Manrope" pitchFamily="34" charset="-120"/>
              </a:rPr>
              <a:t>EXTERNAL ENVIRONMENT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COST POSITION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CHOICE     </a:t>
            </a:r>
            <a:endParaRPr lang="en-US" sz="1300" dirty="0"/>
          </a:p>
        </p:txBody>
      </p:sp>
      <p:sp>
        <p:nvSpPr>
          <p:cNvPr id="4" name="Shape 2"/>
          <p:cNvSpPr/>
          <p:nvPr/>
        </p:nvSpPr>
        <p:spPr>
          <a:xfrm>
            <a:off x="548640" y="3977640"/>
            <a:ext cx="6766560" cy="45720"/>
          </a:xfrm>
          <a:prstGeom prst="rect">
            <a:avLst/>
          </a:prstGeom>
          <a:solidFill>
            <a:srgbClr val="1B1B1B"/>
          </a:solidFill>
          <a:ln w="12700">
            <a:solidFill>
              <a:srgbClr val="1B1B1B"/>
            </a:solidFill>
            <a:prstDash val="solid"/>
          </a:ln>
        </p:spPr>
      </p:sp>
      <p:sp>
        <p:nvSpPr>
          <p:cNvPr id="5" name="Shape 3"/>
          <p:cNvSpPr/>
          <p:nvPr/>
        </p:nvSpPr>
        <p:spPr>
          <a:xfrm>
            <a:off x="3931920" y="2057400"/>
            <a:ext cx="45720" cy="3840480"/>
          </a:xfrm>
          <a:prstGeom prst="rect">
            <a:avLst/>
          </a:prstGeom>
          <a:solidFill>
            <a:srgbClr val="1B1B1B"/>
          </a:solidFill>
          <a:ln w="12700">
            <a:solidFill>
              <a:srgbClr val="1B1B1B"/>
            </a:solidFill>
            <a:prstDash val="solid"/>
          </a:ln>
        </p:spPr>
      </p:sp>
      <p:sp>
        <p:nvSpPr>
          <p:cNvPr id="6" name="Text 4"/>
          <p:cNvSpPr txBox="1"/>
          <p:nvPr/>
        </p:nvSpPr>
        <p:spPr>
          <a:xfrm>
            <a:off x="548640" y="5943600"/>
            <a:ext cx="2743200" cy="320040"/>
          </a:xfrm>
          <a:prstGeom prst="rect">
            <a:avLst/>
          </a:prstGeom>
          <a:noFill/>
          <a:ln/>
        </p:spPr>
        <p:txBody>
          <a:bodyPr wrap="square" lIns="0" tIns="0" rIns="0" bIns="0" rtlCol="0" anchor="ctr"/>
          <a:lstStyle/>
          <a:p>
            <a:pPr algn="l" indent="0" marL="0">
              <a:buNone/>
            </a:pPr>
            <a:r>
              <a:rPr lang="en-US" sz="1400" b="1" spc="100" kern="0" dirty="0">
                <a:solidFill>
                  <a:srgbClr val="1B1B1B"/>
                </a:solidFill>
                <a:latin typeface="Manrope" pitchFamily="34" charset="0"/>
                <a:ea typeface="Manrope" pitchFamily="34" charset="-122"/>
                <a:cs typeface="Manrope" pitchFamily="34" charset="-120"/>
              </a:rPr>
              <a:t>REGIONAL</a:t>
            </a:r>
            <a:endParaRPr lang="en-US" sz="1400" dirty="0"/>
          </a:p>
        </p:txBody>
      </p:sp>
      <p:sp>
        <p:nvSpPr>
          <p:cNvPr id="7" name="Text 5"/>
          <p:cNvSpPr txBox="1"/>
          <p:nvPr/>
        </p:nvSpPr>
        <p:spPr>
          <a:xfrm>
            <a:off x="4572000" y="5943600"/>
            <a:ext cx="2743200" cy="320040"/>
          </a:xfrm>
          <a:prstGeom prst="rect">
            <a:avLst/>
          </a:prstGeom>
          <a:noFill/>
          <a:ln/>
        </p:spPr>
        <p:txBody>
          <a:bodyPr wrap="square" lIns="0" tIns="0" rIns="0" bIns="0" rtlCol="0" anchor="ctr"/>
          <a:lstStyle/>
          <a:p>
            <a:pPr algn="r" indent="0" marL="0">
              <a:buNone/>
            </a:pPr>
            <a:r>
              <a:rPr lang="en-US" sz="1400" b="1" spc="100" kern="0" dirty="0">
                <a:solidFill>
                  <a:srgbClr val="1B1B1B"/>
                </a:solidFill>
                <a:latin typeface="Manrope" pitchFamily="34" charset="0"/>
                <a:ea typeface="Manrope" pitchFamily="34" charset="-122"/>
                <a:cs typeface="Manrope" pitchFamily="34" charset="-120"/>
              </a:rPr>
              <a:t>JARAK JAUH</a:t>
            </a:r>
            <a:endParaRPr lang="en-US" sz="1400" dirty="0"/>
          </a:p>
        </p:txBody>
      </p:sp>
      <p:sp>
        <p:nvSpPr>
          <p:cNvPr id="8" name="Text 6"/>
          <p:cNvSpPr txBox="1"/>
          <p:nvPr/>
        </p:nvSpPr>
        <p:spPr>
          <a:xfrm>
            <a:off x="548640" y="1709928"/>
            <a:ext cx="4572000" cy="320040"/>
          </a:xfrm>
          <a:prstGeom prst="rect">
            <a:avLst/>
          </a:prstGeom>
          <a:noFill/>
          <a:ln/>
        </p:spPr>
        <p:txBody>
          <a:bodyPr wrap="square" lIns="0" tIns="0" rIns="0" bIns="0" rtlCol="0" anchor="ctr"/>
          <a:lstStyle/>
          <a:p>
            <a:pPr algn="l" indent="0" marL="0">
              <a:buNone/>
            </a:pPr>
            <a:r>
              <a:rPr lang="en-US" sz="1400" b="1" spc="100" kern="0" dirty="0">
                <a:solidFill>
                  <a:srgbClr val="1B1B1B"/>
                </a:solidFill>
                <a:latin typeface="Manrope" pitchFamily="34" charset="0"/>
                <a:ea typeface="Manrope" pitchFamily="34" charset="-122"/>
                <a:cs typeface="Manrope" pitchFamily="34" charset="-120"/>
              </a:rPr>
              <a:t>LAYANAN DAN BIAYA TINGGI</a:t>
            </a:r>
            <a:endParaRPr lang="en-US" sz="1400" dirty="0"/>
          </a:p>
        </p:txBody>
      </p:sp>
      <p:sp>
        <p:nvSpPr>
          <p:cNvPr id="9" name="Shape 7"/>
          <p:cNvSpPr/>
          <p:nvPr/>
        </p:nvSpPr>
        <p:spPr>
          <a:xfrm>
            <a:off x="4206240" y="2194560"/>
            <a:ext cx="1645920" cy="1645920"/>
          </a:xfrm>
          <a:prstGeom prst="ellipse">
            <a:avLst/>
          </a:prstGeom>
          <a:solidFill>
            <a:srgbClr val="1B1B1B"/>
          </a:solidFill>
          <a:ln w="12700">
            <a:solidFill>
              <a:srgbClr val="1B1B1B"/>
            </a:solidFill>
            <a:prstDash val="solid"/>
          </a:ln>
        </p:spPr>
      </p:sp>
      <p:sp>
        <p:nvSpPr>
          <p:cNvPr id="10" name="Text 8"/>
          <p:cNvSpPr txBox="1"/>
          <p:nvPr/>
        </p:nvSpPr>
        <p:spPr>
          <a:xfrm>
            <a:off x="4206240" y="2194560"/>
            <a:ext cx="1645920" cy="1645920"/>
          </a:xfrm>
          <a:prstGeom prst="rect">
            <a:avLst/>
          </a:prstGeom>
          <a:noFill/>
          <a:ln/>
        </p:spPr>
        <p:txBody>
          <a:bodyPr wrap="square" lIns="0" tIns="1270" rIns="1270" bIns="0" rtlCol="0" anchor="ctr"/>
          <a:lstStyle/>
          <a:p>
            <a:pPr algn="ctr" indent="0" marL="0">
              <a:buNone/>
            </a:pPr>
            <a:r>
              <a:rPr lang="en-US" sz="2200" dirty="0">
                <a:solidFill>
                  <a:srgbClr val="FFFFFF"/>
                </a:solidFill>
                <a:latin typeface="Bebas Neue" pitchFamily="34" charset="0"/>
                <a:ea typeface="Bebas Neue" pitchFamily="34" charset="-122"/>
                <a:cs typeface="Bebas Neue" pitchFamily="34" charset="-120"/>
              </a:rPr>
              <a:t>NETWORK CARRIERS</a:t>
            </a:r>
            <a:endParaRPr lang="en-US" sz="2200" dirty="0"/>
          </a:p>
          <a:p>
            <a:pPr algn="ctr" indent="0" marL="0">
              <a:buNone/>
            </a:pPr>
            <a:r>
              <a:rPr lang="en-US" sz="1500" b="1" dirty="0">
                <a:solidFill>
                  <a:srgbClr val="FFFFFF"/>
                </a:solidFill>
                <a:latin typeface="Manrope" pitchFamily="34" charset="0"/>
                <a:ea typeface="Manrope" pitchFamily="34" charset="-122"/>
                <a:cs typeface="Manrope" pitchFamily="34" charset="-120"/>
              </a:rPr>
              <a:t>Emirates, BA, MAS</a:t>
            </a:r>
            <a:endParaRPr lang="en-US" sz="2200" dirty="0"/>
          </a:p>
        </p:txBody>
      </p:sp>
      <p:sp>
        <p:nvSpPr>
          <p:cNvPr id="11" name="Shape 9"/>
          <p:cNvSpPr/>
          <p:nvPr/>
        </p:nvSpPr>
        <p:spPr>
          <a:xfrm>
            <a:off x="1097280" y="2240280"/>
            <a:ext cx="1554480" cy="1554480"/>
          </a:xfrm>
          <a:prstGeom prst="ellipse">
            <a:avLst/>
          </a:prstGeom>
          <a:solidFill>
            <a:srgbClr val="2C7BB8"/>
          </a:solidFill>
          <a:ln w="12700">
            <a:solidFill>
              <a:srgbClr val="2C7BB8"/>
            </a:solidFill>
            <a:prstDash val="solid"/>
          </a:ln>
        </p:spPr>
      </p:sp>
      <p:sp>
        <p:nvSpPr>
          <p:cNvPr id="12" name="Text 10"/>
          <p:cNvSpPr txBox="1"/>
          <p:nvPr/>
        </p:nvSpPr>
        <p:spPr>
          <a:xfrm>
            <a:off x="1097280" y="2240280"/>
            <a:ext cx="1554480" cy="1554480"/>
          </a:xfrm>
          <a:prstGeom prst="rect">
            <a:avLst/>
          </a:prstGeom>
          <a:noFill/>
          <a:ln/>
        </p:spPr>
        <p:txBody>
          <a:bodyPr wrap="square" lIns="0" tIns="1270" rIns="1270" bIns="0" rtlCol="0" anchor="ctr"/>
          <a:lstStyle/>
          <a:p>
            <a:pPr algn="ctr" indent="0" marL="0">
              <a:buNone/>
            </a:pPr>
            <a:r>
              <a:rPr lang="en-US" sz="2200" dirty="0">
                <a:solidFill>
                  <a:srgbClr val="FFFFFF"/>
                </a:solidFill>
                <a:latin typeface="Bebas Neue" pitchFamily="34" charset="0"/>
                <a:ea typeface="Bebas Neue" pitchFamily="34" charset="-122"/>
                <a:cs typeface="Bebas Neue" pitchFamily="34" charset="-120"/>
              </a:rPr>
              <a:t>FULL SERVICE</a:t>
            </a:r>
            <a:endParaRPr lang="en-US" sz="2200" dirty="0"/>
          </a:p>
          <a:p>
            <a:pPr algn="ctr" indent="0" marL="0">
              <a:buNone/>
            </a:pPr>
            <a:r>
              <a:rPr lang="en-US" sz="1500" b="1" dirty="0">
                <a:solidFill>
                  <a:srgbClr val="FFFFFF"/>
                </a:solidFill>
                <a:latin typeface="Manrope" pitchFamily="34" charset="0"/>
                <a:ea typeface="Manrope" pitchFamily="34" charset="-122"/>
                <a:cs typeface="Manrope" pitchFamily="34" charset="-120"/>
              </a:rPr>
              <a:t>MAS domestik, SIA</a:t>
            </a:r>
            <a:endParaRPr lang="en-US" sz="2200" dirty="0"/>
          </a:p>
        </p:txBody>
      </p:sp>
      <p:sp>
        <p:nvSpPr>
          <p:cNvPr id="13" name="Shape 11"/>
          <p:cNvSpPr/>
          <p:nvPr/>
        </p:nvSpPr>
        <p:spPr>
          <a:xfrm>
            <a:off x="1097280" y="4114800"/>
            <a:ext cx="1645920" cy="1645920"/>
          </a:xfrm>
          <a:prstGeom prst="ellipse">
            <a:avLst/>
          </a:prstGeom>
          <a:solidFill>
            <a:srgbClr val="E63E2C"/>
          </a:solidFill>
          <a:ln w="12700">
            <a:solidFill>
              <a:srgbClr val="E63E2C"/>
            </a:solidFill>
            <a:prstDash val="solid"/>
          </a:ln>
        </p:spPr>
      </p:sp>
      <p:sp>
        <p:nvSpPr>
          <p:cNvPr id="14" name="Text 12"/>
          <p:cNvSpPr txBox="1"/>
          <p:nvPr/>
        </p:nvSpPr>
        <p:spPr>
          <a:xfrm>
            <a:off x="1097280" y="4114800"/>
            <a:ext cx="1645920" cy="1645920"/>
          </a:xfrm>
          <a:prstGeom prst="rect">
            <a:avLst/>
          </a:prstGeom>
          <a:noFill/>
          <a:ln/>
        </p:spPr>
        <p:txBody>
          <a:bodyPr wrap="square" lIns="0" tIns="1270" rIns="1270" bIns="0" rtlCol="0" anchor="ctr"/>
          <a:lstStyle/>
          <a:p>
            <a:pPr algn="ctr" indent="0" marL="0">
              <a:buNone/>
            </a:pPr>
            <a:r>
              <a:rPr lang="en-US" sz="2200" dirty="0">
                <a:solidFill>
                  <a:srgbClr val="FFFFFF"/>
                </a:solidFill>
                <a:latin typeface="Bebas Neue" pitchFamily="34" charset="0"/>
                <a:ea typeface="Bebas Neue" pitchFamily="34" charset="-122"/>
                <a:cs typeface="Bebas Neue" pitchFamily="34" charset="-120"/>
              </a:rPr>
              <a:t>LCC REGIONAL</a:t>
            </a:r>
            <a:endParaRPr lang="en-US" sz="2200" dirty="0"/>
          </a:p>
          <a:p>
            <a:pPr algn="ctr" indent="0" marL="0">
              <a:buNone/>
            </a:pPr>
            <a:r>
              <a:rPr lang="en-US" sz="1500" b="1" dirty="0">
                <a:solidFill>
                  <a:srgbClr val="FFFFFF"/>
                </a:solidFill>
                <a:latin typeface="Manrope" pitchFamily="34" charset="0"/>
                <a:ea typeface="Manrope" pitchFamily="34" charset="-122"/>
                <a:cs typeface="Manrope" pitchFamily="34" charset="-120"/>
              </a:rPr>
              <a:t>AirAsia, Tiger, Cebu</a:t>
            </a:r>
            <a:endParaRPr lang="en-US" sz="2200" dirty="0"/>
          </a:p>
        </p:txBody>
      </p:sp>
      <p:sp>
        <p:nvSpPr>
          <p:cNvPr id="15" name="Shape 13"/>
          <p:cNvSpPr/>
          <p:nvPr/>
        </p:nvSpPr>
        <p:spPr>
          <a:xfrm>
            <a:off x="4297680" y="4160520"/>
            <a:ext cx="1554480" cy="1554480"/>
          </a:xfrm>
          <a:prstGeom prst="ellipse">
            <a:avLst/>
          </a:prstGeom>
          <a:solidFill>
            <a:srgbClr val="F4C430"/>
          </a:solidFill>
          <a:ln w="12700">
            <a:solidFill>
              <a:srgbClr val="F4C430"/>
            </a:solidFill>
            <a:prstDash val="solid"/>
          </a:ln>
        </p:spPr>
      </p:sp>
      <p:sp>
        <p:nvSpPr>
          <p:cNvPr id="16" name="Text 14"/>
          <p:cNvSpPr txBox="1"/>
          <p:nvPr/>
        </p:nvSpPr>
        <p:spPr>
          <a:xfrm>
            <a:off x="4297680" y="4160520"/>
            <a:ext cx="1554480" cy="1554480"/>
          </a:xfrm>
          <a:prstGeom prst="rect">
            <a:avLst/>
          </a:prstGeom>
          <a:noFill/>
          <a:ln/>
        </p:spPr>
        <p:txBody>
          <a:bodyPr wrap="square" lIns="0" tIns="1270" rIns="1270" bIns="0" rtlCol="0" anchor="ctr"/>
          <a:lstStyle/>
          <a:p>
            <a:pPr algn="ctr" indent="0" marL="0">
              <a:buNone/>
            </a:pPr>
            <a:r>
              <a:rPr lang="en-US" sz="2200" dirty="0">
                <a:solidFill>
                  <a:srgbClr val="1B1B1B"/>
                </a:solidFill>
                <a:latin typeface="Bebas Neue" pitchFamily="34" charset="0"/>
                <a:ea typeface="Bebas Neue" pitchFamily="34" charset="-122"/>
                <a:cs typeface="Bebas Neue" pitchFamily="34" charset="-120"/>
              </a:rPr>
              <a:t>LCC JARAK JAUH</a:t>
            </a:r>
            <a:endParaRPr lang="en-US" sz="2200" dirty="0"/>
          </a:p>
          <a:p>
            <a:pPr algn="ctr" indent="0" marL="0">
              <a:buNone/>
            </a:pPr>
            <a:r>
              <a:rPr lang="en-US" sz="1500" b="1" dirty="0">
                <a:solidFill>
                  <a:srgbClr val="1B1B1B"/>
                </a:solidFill>
                <a:latin typeface="Manrope" pitchFamily="34" charset="0"/>
                <a:ea typeface="Manrope" pitchFamily="34" charset="-122"/>
                <a:cs typeface="Manrope" pitchFamily="34" charset="-120"/>
              </a:rPr>
              <a:t>AirAsia X</a:t>
            </a:r>
            <a:endParaRPr lang="en-US" sz="2200" dirty="0"/>
          </a:p>
        </p:txBody>
      </p:sp>
      <p:sp>
        <p:nvSpPr>
          <p:cNvPr id="17" name="Shape 15"/>
          <p:cNvSpPr/>
          <p:nvPr/>
        </p:nvSpPr>
        <p:spPr>
          <a:xfrm>
            <a:off x="2926080" y="4709160"/>
            <a:ext cx="1280160" cy="365760"/>
          </a:xfrm>
          <a:prstGeom prst="rightArrow">
            <a:avLst/>
          </a:prstGeom>
          <a:solidFill>
            <a:srgbClr val="1B1B1B"/>
          </a:solidFill>
          <a:ln w="12700">
            <a:solidFill>
              <a:srgbClr val="1B1B1B"/>
            </a:solidFill>
            <a:prstDash val="solid"/>
          </a:ln>
        </p:spPr>
      </p:sp>
      <p:sp>
        <p:nvSpPr>
          <p:cNvPr id="18" name="Text 16"/>
          <p:cNvSpPr txBox="1"/>
          <p:nvPr/>
        </p:nvSpPr>
        <p:spPr>
          <a:xfrm>
            <a:off x="7772400" y="1828800"/>
            <a:ext cx="3931920" cy="2926080"/>
          </a:xfrm>
          <a:prstGeom prst="rect">
            <a:avLst/>
          </a:prstGeom>
          <a:noFill/>
          <a:ln/>
        </p:spPr>
        <p:txBody>
          <a:bodyPr wrap="square" lIns="0" tIns="0" rIns="0" bIns="0" rtlCol="0" anchor="t"/>
          <a:lstStyle/>
          <a:p>
            <a:pPr indent="0" marL="0">
              <a:buNone/>
            </a:pPr>
            <a:r>
              <a:rPr lang="en-US" sz="2400" b="1" dirty="0">
                <a:solidFill>
                  <a:srgbClr val="1B1B1B"/>
                </a:solidFill>
                <a:latin typeface="Manrope" pitchFamily="34" charset="0"/>
                <a:ea typeface="Manrope" pitchFamily="34" charset="-122"/>
                <a:cs typeface="Manrope" pitchFamily="34" charset="-120"/>
              </a:rPr>
              <a:t>AirAsia X pindah kelompok. </a:t>
            </a:r>
            <a:pPr indent="0" marL="0">
              <a:buNone/>
            </a:pPr>
            <a:r>
              <a:rPr lang="en-US" sz="2400" dirty="0">
                <a:solidFill>
                  <a:srgbClr val="1B1B1B"/>
                </a:solidFill>
                <a:latin typeface="Manrope" pitchFamily="34" charset="0"/>
                <a:ea typeface="Manrope" pitchFamily="34" charset="-122"/>
                <a:cs typeface="Manrope" pitchFamily="34" charset="-120"/>
              </a:rPr>
              <a:t>Lawannya bukan LCC lain, melainkan network carriers yang mampu mensubsidi harga ekonomi dari kelas premium.</a:t>
            </a:r>
            <a:endParaRPr lang="en-US" sz="2400" dirty="0"/>
          </a:p>
        </p:txBody>
      </p:sp>
      <p:sp>
        <p:nvSpPr>
          <p:cNvPr id="19" name="Shape 17"/>
          <p:cNvSpPr/>
          <p:nvPr/>
        </p:nvSpPr>
        <p:spPr>
          <a:xfrm>
            <a:off x="9692640" y="4480560"/>
            <a:ext cx="1828800" cy="1828800"/>
          </a:xfrm>
          <a:prstGeom prst="ellipse">
            <a:avLst/>
          </a:prstGeom>
          <a:ln w="19050">
            <a:solidFill>
              <a:srgbClr val="1B1B1B"/>
            </a:solidFill>
            <a:prstDash val="sysDot"/>
          </a:ln>
        </p:spPr>
      </p:sp>
      <p:sp>
        <p:nvSpPr>
          <p:cNvPr id="20" name="Text 18"/>
          <p:cNvSpPr txBox="1"/>
          <p:nvPr/>
        </p:nvSpPr>
        <p:spPr>
          <a:xfrm>
            <a:off x="548640" y="6172200"/>
            <a:ext cx="10424160" cy="457200"/>
          </a:xfrm>
          <a:prstGeom prst="rect">
            <a:avLst/>
          </a:prstGeom>
          <a:noFill/>
          <a:ln/>
        </p:spPr>
        <p:txBody>
          <a:bodyPr wrap="square" lIns="0" tIns="0" rIns="0" bIns="0" rtlCol="0" anchor="ctr"/>
          <a:lstStyle/>
          <a:p>
            <a:pPr indent="0" marL="0">
              <a:buNone/>
            </a:pPr>
            <a:r>
              <a:rPr lang="en-US" sz="1200" dirty="0">
                <a:solidFill>
                  <a:srgbClr val="E63E2C"/>
                </a:solidFill>
                <a:latin typeface="Manrope" pitchFamily="34" charset="0"/>
                <a:ea typeface="Manrope" pitchFamily="34" charset="-122"/>
                <a:cs typeface="Manrope" pitchFamily="34" charset="-120"/>
              </a:rPr>
              <a:t>■  </a:t>
            </a:r>
            <a:pPr indent="0" marL="0">
              <a:buNone/>
            </a:pPr>
            <a:r>
              <a:rPr lang="en-US" sz="1800" b="1" dirty="0">
                <a:solidFill>
                  <a:srgbClr val="1B1B1B"/>
                </a:solidFill>
                <a:latin typeface="Manrope" pitchFamily="34" charset="0"/>
                <a:ea typeface="Manrope" pitchFamily="34" charset="-122"/>
                <a:cs typeface="Manrope" pitchFamily="34" charset="-120"/>
              </a:rPr>
              <a:t>Selanjutnya  </a:t>
            </a:r>
            <a:pPr indent="0" marL="0">
              <a:buNone/>
            </a:pPr>
            <a:r>
              <a:rPr lang="en-US" sz="1800" dirty="0">
                <a:solidFill>
                  <a:srgbClr val="4A4A4A"/>
                </a:solidFill>
                <a:latin typeface="Manrope" pitchFamily="34" charset="0"/>
                <a:ea typeface="Manrope" pitchFamily="34" charset="-122"/>
                <a:cs typeface="Manrope" pitchFamily="34" charset="-120"/>
              </a:rPr>
              <a:t>Tahap 2 selesai. Tahap 3: seberapa kuat posisi biaya AirAsia sendiri?</a:t>
            </a:r>
            <a:endParaRPr lang="en-US" sz="1800" dirty="0"/>
          </a:p>
        </p:txBody>
      </p:sp>
      <p:sp>
        <p:nvSpPr>
          <p:cNvPr id="21" name="Text 19"/>
          <p:cNvSpPr txBox="1"/>
          <p:nvPr/>
        </p:nvSpPr>
        <p:spPr>
          <a:xfrm>
            <a:off x="11247120" y="6355080"/>
            <a:ext cx="548640" cy="320040"/>
          </a:xfrm>
          <a:prstGeom prst="rect">
            <a:avLst/>
          </a:prstGeom>
          <a:noFill/>
          <a:ln/>
        </p:spPr>
        <p:txBody>
          <a:bodyPr wrap="square" lIns="0" tIns="0" rIns="0" bIns="0" rtlCol="0" anchor="ctr"/>
          <a:lstStyle/>
          <a:p>
            <a:pPr algn="r" indent="0" marL="0">
              <a:buNone/>
            </a:pPr>
            <a:r>
              <a:rPr lang="en-US" sz="1200" b="1" dirty="0">
                <a:solidFill>
                  <a:srgbClr val="1B1B1B"/>
                </a:solidFill>
                <a:latin typeface="Manrope" pitchFamily="34" charset="0"/>
                <a:ea typeface="Manrope" pitchFamily="34" charset="-122"/>
                <a:cs typeface="Manrope"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2CF"/>
        </a:solidFill>
      </p:bgPr>
    </p:bg>
    <p:spTree>
      <p:nvGrpSpPr>
        <p:cNvPr id="1" name=""/>
        <p:cNvGrpSpPr/>
        <p:nvPr/>
      </p:nvGrpSpPr>
      <p:grpSpPr>
        <a:xfrm>
          <a:off x="0" y="0"/>
          <a:ext cx="0" cy="0"/>
          <a:chOff x="0" y="0"/>
          <a:chExt cx="0" cy="0"/>
        </a:xfrm>
      </p:grpSpPr>
      <p:sp>
        <p:nvSpPr>
          <p:cNvPr id="2" name="Shape 0"/>
          <p:cNvSpPr/>
          <p:nvPr/>
        </p:nvSpPr>
        <p:spPr>
          <a:xfrm>
            <a:off x="548640" y="411480"/>
            <a:ext cx="5952744" cy="868680"/>
          </a:xfrm>
          <a:prstGeom prst="rect">
            <a:avLst/>
          </a:prstGeom>
          <a:solidFill>
            <a:srgbClr val="F4C430"/>
          </a:solidFill>
          <a:ln w="12700">
            <a:solidFill>
              <a:srgbClr val="F4C430"/>
            </a:solidFill>
            <a:prstDash val="solid"/>
          </a:ln>
        </p:spPr>
      </p:sp>
      <p:sp>
        <p:nvSpPr>
          <p:cNvPr id="3" name="Text 1"/>
          <p:cNvSpPr txBox="1"/>
          <p:nvPr/>
        </p:nvSpPr>
        <p:spPr>
          <a:xfrm>
            <a:off x="548640" y="411480"/>
            <a:ext cx="5952744" cy="868680"/>
          </a:xfrm>
          <a:prstGeom prst="rect">
            <a:avLst/>
          </a:prstGeom>
          <a:noFill/>
          <a:ln/>
        </p:spPr>
        <p:txBody>
          <a:bodyPr wrap="square" lIns="0" tIns="3810" rIns="3810" bIns="0" rtlCol="0" anchor="ctr"/>
          <a:lstStyle/>
          <a:p>
            <a:pPr indent="0" marL="0">
              <a:buNone/>
            </a:pPr>
            <a:r>
              <a:rPr lang="en-US" sz="4400" dirty="0">
                <a:solidFill>
                  <a:srgbClr val="1B1B1B"/>
                </a:solidFill>
                <a:latin typeface="Bebas Neue" pitchFamily="34" charset="0"/>
                <a:ea typeface="Bebas Neue" pitchFamily="34" charset="-122"/>
                <a:cs typeface="Bebas Neue" pitchFamily="34" charset="-120"/>
              </a:rPr>
              <a:t>COST BENCHMARKING</a:t>
            </a:r>
            <a:endParaRPr lang="en-US" sz="4400" dirty="0"/>
          </a:p>
        </p:txBody>
      </p:sp>
      <p:sp>
        <p:nvSpPr>
          <p:cNvPr id="4" name="Text 2"/>
          <p:cNvSpPr txBox="1"/>
          <p:nvPr/>
        </p:nvSpPr>
        <p:spPr>
          <a:xfrm>
            <a:off x="548640" y="1298448"/>
            <a:ext cx="10058400" cy="320040"/>
          </a:xfrm>
          <a:prstGeom prst="rect">
            <a:avLst/>
          </a:prstGeom>
          <a:noFill/>
          <a:ln/>
        </p:spPr>
        <p:txBody>
          <a:bodyPr wrap="square" lIns="0" tIns="0" rIns="0" bIns="0" rtlCol="0" anchor="ctr"/>
          <a:lstStyle/>
          <a:p>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PROBLEM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EXTERNAL ENVIRONMENT     </a:t>
            </a:r>
            <a:pPr indent="0" marL="0">
              <a:buNone/>
            </a:pPr>
            <a:r>
              <a:rPr lang="en-US" sz="1200" spc="150" kern="0" dirty="0">
                <a:solidFill>
                  <a:srgbClr val="F4C430"/>
                </a:solidFill>
                <a:latin typeface="Manrope" pitchFamily="34" charset="0"/>
                <a:ea typeface="Manrope" pitchFamily="34" charset="-122"/>
                <a:cs typeface="Manrope" pitchFamily="34" charset="-120"/>
              </a:rPr>
              <a:t>■ </a:t>
            </a:r>
            <a:pPr indent="0" marL="0">
              <a:buNone/>
            </a:pPr>
            <a:r>
              <a:rPr lang="en-US" sz="1300" b="1" spc="150" kern="0" dirty="0">
                <a:solidFill>
                  <a:srgbClr val="1B1B1B"/>
                </a:solidFill>
                <a:latin typeface="Manrope" pitchFamily="34" charset="0"/>
                <a:ea typeface="Manrope" pitchFamily="34" charset="-122"/>
                <a:cs typeface="Manrope" pitchFamily="34" charset="-120"/>
              </a:rPr>
              <a:t>COST POSITION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CHOICE     </a:t>
            </a:r>
            <a:endParaRPr lang="en-US" sz="1300" dirty="0"/>
          </a:p>
        </p:txBody>
      </p:sp>
      <p:sp>
        <p:nvSpPr>
          <p:cNvPr id="5" name="Shape 3"/>
          <p:cNvSpPr/>
          <p:nvPr/>
        </p:nvSpPr>
        <p:spPr>
          <a:xfrm>
            <a:off x="548640" y="1783080"/>
            <a:ext cx="6583680" cy="4160520"/>
          </a:xfrm>
          <a:prstGeom prst="rect">
            <a:avLst/>
          </a:prstGeom>
          <a:solidFill>
            <a:srgbClr val="FFFFFF"/>
          </a:solidFill>
          <a:ln w="12700">
            <a:solidFill>
              <a:srgbClr val="FFFFFF"/>
            </a:solidFill>
            <a:prstDash val="solid"/>
          </a:ln>
        </p:spPr>
      </p:sp>
      <p:graphicFrame>
        <p:nvGraphicFramePr>
          <p:cNvPr id="6" name="Chart 0" descr=""/>
          <p:cNvGraphicFramePr/>
          <p:nvPr/>
        </p:nvGraphicFramePr>
        <p:xfrm>
          <a:off x="731520" y="1874520"/>
          <a:ext cx="6217920" cy="39776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589520" y="1920240"/>
            <a:ext cx="4206240" cy="914400"/>
          </a:xfrm>
          <a:prstGeom prst="rect">
            <a:avLst/>
          </a:prstGeom>
          <a:noFill/>
          <a:ln/>
        </p:spPr>
        <p:txBody>
          <a:bodyPr wrap="square" lIns="0" tIns="0" rIns="0" bIns="0" rtlCol="0" anchor="ctr"/>
          <a:lstStyle/>
          <a:p>
            <a:pPr indent="0" marL="0">
              <a:buNone/>
            </a:pPr>
            <a:r>
              <a:rPr lang="en-US" sz="5600" dirty="0">
                <a:solidFill>
                  <a:srgbClr val="E63E2C"/>
                </a:solidFill>
                <a:latin typeface="Bebas Neue" pitchFamily="34" charset="0"/>
                <a:ea typeface="Bebas Neue" pitchFamily="34" charset="-122"/>
                <a:cs typeface="Bebas Neue" pitchFamily="34" charset="-120"/>
              </a:rPr>
              <a:t>49 VS 175</a:t>
            </a:r>
            <a:endParaRPr lang="en-US" sz="5600" dirty="0"/>
          </a:p>
        </p:txBody>
      </p:sp>
      <p:sp>
        <p:nvSpPr>
          <p:cNvPr id="8" name="Text 5"/>
          <p:cNvSpPr txBox="1"/>
          <p:nvPr/>
        </p:nvSpPr>
        <p:spPr>
          <a:xfrm>
            <a:off x="7589520" y="2834640"/>
            <a:ext cx="4206240" cy="548640"/>
          </a:xfrm>
          <a:prstGeom prst="rect">
            <a:avLst/>
          </a:prstGeom>
          <a:noFill/>
          <a:ln/>
        </p:spPr>
        <p:txBody>
          <a:bodyPr wrap="square" lIns="0" tIns="0" rIns="0" bIns="0" rtlCol="0" anchor="t"/>
          <a:lstStyle/>
          <a:p>
            <a:pPr indent="0" marL="0">
              <a:buNone/>
            </a:pPr>
            <a:r>
              <a:rPr lang="en-US" sz="2400" dirty="0">
                <a:solidFill>
                  <a:srgbClr val="4A4A4A"/>
                </a:solidFill>
                <a:latin typeface="Manrope" pitchFamily="34" charset="0"/>
                <a:ea typeface="Manrope" pitchFamily="34" charset="-122"/>
                <a:cs typeface="Manrope" pitchFamily="34" charset="-120"/>
              </a:rPr>
              <a:t>karyawan per pesawat</a:t>
            </a:r>
            <a:endParaRPr lang="en-US" sz="2400" dirty="0"/>
          </a:p>
        </p:txBody>
      </p:sp>
      <p:sp>
        <p:nvSpPr>
          <p:cNvPr id="9" name="Text 6"/>
          <p:cNvSpPr txBox="1"/>
          <p:nvPr/>
        </p:nvSpPr>
        <p:spPr>
          <a:xfrm>
            <a:off x="7589520" y="3931920"/>
            <a:ext cx="4206240" cy="914400"/>
          </a:xfrm>
          <a:prstGeom prst="rect">
            <a:avLst/>
          </a:prstGeom>
          <a:noFill/>
          <a:ln/>
        </p:spPr>
        <p:txBody>
          <a:bodyPr wrap="square" lIns="0" tIns="0" rIns="0" bIns="0" rtlCol="0" anchor="ctr"/>
          <a:lstStyle/>
          <a:p>
            <a:pPr indent="0" marL="0">
              <a:buNone/>
            </a:pPr>
            <a:r>
              <a:rPr lang="en-US" sz="5600" dirty="0">
                <a:solidFill>
                  <a:srgbClr val="2C7BB8"/>
                </a:solidFill>
                <a:latin typeface="Bebas Neue" pitchFamily="34" charset="0"/>
                <a:ea typeface="Bebas Neue" pitchFamily="34" charset="-122"/>
                <a:cs typeface="Bebas Neue" pitchFamily="34" charset="-120"/>
              </a:rPr>
              <a:t>75% VS 67,8%</a:t>
            </a:r>
            <a:endParaRPr lang="en-US" sz="5600" dirty="0"/>
          </a:p>
        </p:txBody>
      </p:sp>
      <p:sp>
        <p:nvSpPr>
          <p:cNvPr id="10" name="Text 7"/>
          <p:cNvSpPr txBox="1"/>
          <p:nvPr/>
        </p:nvSpPr>
        <p:spPr>
          <a:xfrm>
            <a:off x="7589520" y="4846320"/>
            <a:ext cx="4206240" cy="548640"/>
          </a:xfrm>
          <a:prstGeom prst="rect">
            <a:avLst/>
          </a:prstGeom>
          <a:noFill/>
          <a:ln/>
        </p:spPr>
        <p:txBody>
          <a:bodyPr wrap="square" lIns="0" tIns="0" rIns="0" bIns="0" rtlCol="0" anchor="t"/>
          <a:lstStyle/>
          <a:p>
            <a:pPr indent="0" marL="0">
              <a:buNone/>
            </a:pPr>
            <a:r>
              <a:rPr lang="en-US" sz="2400" dirty="0">
                <a:solidFill>
                  <a:srgbClr val="4A4A4A"/>
                </a:solidFill>
                <a:latin typeface="Manrope" pitchFamily="34" charset="0"/>
                <a:ea typeface="Manrope" pitchFamily="34" charset="-122"/>
                <a:cs typeface="Manrope" pitchFamily="34" charset="-120"/>
              </a:rPr>
              <a:t>load factor 2008</a:t>
            </a:r>
            <a:endParaRPr lang="en-US" sz="2400" dirty="0"/>
          </a:p>
        </p:txBody>
      </p:sp>
      <p:sp>
        <p:nvSpPr>
          <p:cNvPr id="11" name="Shape 8"/>
          <p:cNvSpPr/>
          <p:nvPr/>
        </p:nvSpPr>
        <p:spPr>
          <a:xfrm>
            <a:off x="10058400" y="5120640"/>
            <a:ext cx="2011680" cy="2011680"/>
          </a:xfrm>
          <a:prstGeom prst="ellipse">
            <a:avLst/>
          </a:prstGeom>
          <a:solidFill>
            <a:srgbClr val="F4C430"/>
          </a:solidFill>
          <a:ln w="12700">
            <a:solidFill>
              <a:srgbClr val="F4C430"/>
            </a:solidFill>
            <a:prstDash val="solid"/>
          </a:ln>
        </p:spPr>
      </p:sp>
      <p:sp>
        <p:nvSpPr>
          <p:cNvPr id="12" name="Shape 9"/>
          <p:cNvSpPr/>
          <p:nvPr/>
        </p:nvSpPr>
        <p:spPr>
          <a:xfrm>
            <a:off x="10040112" y="6126480"/>
            <a:ext cx="2048256" cy="1051560"/>
          </a:xfrm>
          <a:prstGeom prst="rect">
            <a:avLst/>
          </a:prstGeom>
          <a:solidFill>
            <a:srgbClr val="F3E2CF"/>
          </a:solidFill>
          <a:ln w="12700">
            <a:solidFill>
              <a:srgbClr val="F3E2CF"/>
            </a:solidFill>
            <a:prstDash val="solid"/>
          </a:ln>
        </p:spPr>
      </p:sp>
      <p:sp>
        <p:nvSpPr>
          <p:cNvPr id="13" name="Text 10"/>
          <p:cNvSpPr txBox="1"/>
          <p:nvPr/>
        </p:nvSpPr>
        <p:spPr>
          <a:xfrm>
            <a:off x="548640" y="6172200"/>
            <a:ext cx="10424160" cy="457200"/>
          </a:xfrm>
          <a:prstGeom prst="rect">
            <a:avLst/>
          </a:prstGeom>
          <a:noFill/>
          <a:ln/>
        </p:spPr>
        <p:txBody>
          <a:bodyPr wrap="square" lIns="0" tIns="0" rIns="0" bIns="0" rtlCol="0" anchor="ctr"/>
          <a:lstStyle/>
          <a:p>
            <a:pPr indent="0" marL="0">
              <a:buNone/>
            </a:pPr>
            <a:r>
              <a:rPr lang="en-US" sz="1200" dirty="0">
                <a:solidFill>
                  <a:srgbClr val="E63E2C"/>
                </a:solidFill>
                <a:latin typeface="Manrope" pitchFamily="34" charset="0"/>
                <a:ea typeface="Manrope" pitchFamily="34" charset="-122"/>
                <a:cs typeface="Manrope" pitchFamily="34" charset="-120"/>
              </a:rPr>
              <a:t>■  </a:t>
            </a:r>
            <a:pPr indent="0" marL="0">
              <a:buNone/>
            </a:pPr>
            <a:r>
              <a:rPr lang="en-US" sz="1800" b="1" dirty="0">
                <a:solidFill>
                  <a:srgbClr val="1B1B1B"/>
                </a:solidFill>
                <a:latin typeface="Manrope" pitchFamily="34" charset="0"/>
                <a:ea typeface="Manrope" pitchFamily="34" charset="-122"/>
                <a:cs typeface="Manrope" pitchFamily="34" charset="-120"/>
              </a:rPr>
              <a:t>Selanjutnya  </a:t>
            </a:r>
            <a:pPr indent="0" marL="0">
              <a:buNone/>
            </a:pPr>
            <a:r>
              <a:rPr lang="en-US" sz="1800" dirty="0">
                <a:solidFill>
                  <a:srgbClr val="4A4A4A"/>
                </a:solidFill>
                <a:latin typeface="Manrope" pitchFamily="34" charset="0"/>
                <a:ea typeface="Manrope" pitchFamily="34" charset="-122"/>
                <a:cs typeface="Manrope" pitchFamily="34" charset="-120"/>
              </a:rPr>
              <a:t>Separuh biaya MAS. Dari mana keunggulan itu berasal?</a:t>
            </a:r>
            <a:endParaRPr lang="en-US" sz="1800" dirty="0"/>
          </a:p>
        </p:txBody>
      </p:sp>
      <p:sp>
        <p:nvSpPr>
          <p:cNvPr id="14" name="Text 11"/>
          <p:cNvSpPr txBox="1"/>
          <p:nvPr/>
        </p:nvSpPr>
        <p:spPr>
          <a:xfrm>
            <a:off x="11247120" y="6355080"/>
            <a:ext cx="548640" cy="320040"/>
          </a:xfrm>
          <a:prstGeom prst="rect">
            <a:avLst/>
          </a:prstGeom>
          <a:noFill/>
          <a:ln/>
        </p:spPr>
        <p:txBody>
          <a:bodyPr wrap="square" lIns="0" tIns="0" rIns="0" bIns="0" rtlCol="0" anchor="ctr"/>
          <a:lstStyle/>
          <a:p>
            <a:pPr algn="r" indent="0" marL="0">
              <a:buNone/>
            </a:pPr>
            <a:r>
              <a:rPr lang="en-US" sz="1200" b="1" dirty="0">
                <a:solidFill>
                  <a:srgbClr val="1B1B1B"/>
                </a:solidFill>
                <a:latin typeface="Manrope" pitchFamily="34" charset="0"/>
                <a:ea typeface="Manrope" pitchFamily="34" charset="-122"/>
                <a:cs typeface="Manrope"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2CF"/>
        </a:solidFill>
      </p:bgPr>
    </p:bg>
    <p:spTree>
      <p:nvGrpSpPr>
        <p:cNvPr id="1" name=""/>
        <p:cNvGrpSpPr/>
        <p:nvPr/>
      </p:nvGrpSpPr>
      <p:grpSpPr>
        <a:xfrm>
          <a:off x="0" y="0"/>
          <a:ext cx="0" cy="0"/>
          <a:chOff x="0" y="0"/>
          <a:chExt cx="0" cy="0"/>
        </a:xfrm>
      </p:grpSpPr>
      <p:sp>
        <p:nvSpPr>
          <p:cNvPr id="2" name="Text 0"/>
          <p:cNvSpPr txBox="1"/>
          <p:nvPr/>
        </p:nvSpPr>
        <p:spPr>
          <a:xfrm>
            <a:off x="548640" y="411480"/>
            <a:ext cx="10515600" cy="868680"/>
          </a:xfrm>
          <a:prstGeom prst="rect">
            <a:avLst/>
          </a:prstGeom>
          <a:noFill/>
          <a:ln/>
        </p:spPr>
        <p:txBody>
          <a:bodyPr wrap="square" lIns="0" tIns="0" rIns="0" bIns="0" rtlCol="0" anchor="ctr"/>
          <a:lstStyle/>
          <a:p>
            <a:pPr indent="0" marL="0">
              <a:buNone/>
            </a:pPr>
            <a:r>
              <a:rPr lang="en-US" sz="5400" dirty="0">
                <a:solidFill>
                  <a:srgbClr val="1B1B1B"/>
                </a:solidFill>
                <a:latin typeface="Bebas Neue" pitchFamily="34" charset="0"/>
                <a:ea typeface="Bebas Neue" pitchFamily="34" charset="-122"/>
                <a:cs typeface="Bebas Neue" pitchFamily="34" charset="-120"/>
              </a:rPr>
              <a:t>SOURCES OF COST ADVANTAGE</a:t>
            </a:r>
            <a:endParaRPr lang="en-US" sz="5400" dirty="0"/>
          </a:p>
        </p:txBody>
      </p:sp>
      <p:sp>
        <p:nvSpPr>
          <p:cNvPr id="3" name="Text 1"/>
          <p:cNvSpPr txBox="1"/>
          <p:nvPr/>
        </p:nvSpPr>
        <p:spPr>
          <a:xfrm>
            <a:off x="548640" y="1298448"/>
            <a:ext cx="10058400" cy="320040"/>
          </a:xfrm>
          <a:prstGeom prst="rect">
            <a:avLst/>
          </a:prstGeom>
          <a:noFill/>
          <a:ln/>
        </p:spPr>
        <p:txBody>
          <a:bodyPr wrap="square" lIns="0" tIns="0" rIns="0" bIns="0" rtlCol="0" anchor="ctr"/>
          <a:lstStyle/>
          <a:p>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PROBLEM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EXTERNAL ENVIRONMENT     </a:t>
            </a:r>
            <a:pPr indent="0" marL="0">
              <a:buNone/>
            </a:pPr>
            <a:r>
              <a:rPr lang="en-US" sz="1200" spc="150" kern="0" dirty="0">
                <a:solidFill>
                  <a:srgbClr val="F4C430"/>
                </a:solidFill>
                <a:latin typeface="Manrope" pitchFamily="34" charset="0"/>
                <a:ea typeface="Manrope" pitchFamily="34" charset="-122"/>
                <a:cs typeface="Manrope" pitchFamily="34" charset="-120"/>
              </a:rPr>
              <a:t>■ </a:t>
            </a:r>
            <a:pPr indent="0" marL="0">
              <a:buNone/>
            </a:pPr>
            <a:r>
              <a:rPr lang="en-US" sz="1300" b="1" spc="150" kern="0" dirty="0">
                <a:solidFill>
                  <a:srgbClr val="1B1B1B"/>
                </a:solidFill>
                <a:latin typeface="Manrope" pitchFamily="34" charset="0"/>
                <a:ea typeface="Manrope" pitchFamily="34" charset="-122"/>
                <a:cs typeface="Manrope" pitchFamily="34" charset="-120"/>
              </a:rPr>
              <a:t>COST POSITION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CHOICE     </a:t>
            </a:r>
            <a:endParaRPr lang="en-US" sz="1300" dirty="0"/>
          </a:p>
        </p:txBody>
      </p:sp>
      <p:sp>
        <p:nvSpPr>
          <p:cNvPr id="4" name="Shape 2"/>
          <p:cNvSpPr/>
          <p:nvPr/>
        </p:nvSpPr>
        <p:spPr>
          <a:xfrm>
            <a:off x="548640" y="1783080"/>
            <a:ext cx="3566160" cy="640080"/>
          </a:xfrm>
          <a:prstGeom prst="rect">
            <a:avLst/>
          </a:prstGeom>
          <a:solidFill>
            <a:srgbClr val="E63E2C"/>
          </a:solidFill>
          <a:ln w="12700">
            <a:solidFill>
              <a:srgbClr val="E63E2C"/>
            </a:solidFill>
            <a:prstDash val="solid"/>
          </a:ln>
        </p:spPr>
      </p:sp>
      <p:sp>
        <p:nvSpPr>
          <p:cNvPr id="5" name="Text 3"/>
          <p:cNvSpPr txBox="1"/>
          <p:nvPr/>
        </p:nvSpPr>
        <p:spPr>
          <a:xfrm>
            <a:off x="548640" y="1783080"/>
            <a:ext cx="3566160" cy="640080"/>
          </a:xfrm>
          <a:prstGeom prst="rect">
            <a:avLst/>
          </a:prstGeom>
          <a:noFill/>
          <a:ln/>
        </p:spPr>
        <p:txBody>
          <a:bodyPr wrap="square" lIns="0" tIns="2540" rIns="2540" bIns="0" rtlCol="0" anchor="ctr"/>
          <a:lstStyle/>
          <a:p>
            <a:pPr indent="0" marL="0">
              <a:buNone/>
            </a:pPr>
            <a:r>
              <a:rPr lang="en-US" sz="2800" dirty="0">
                <a:solidFill>
                  <a:srgbClr val="FFFFFF"/>
                </a:solidFill>
                <a:latin typeface="Bebas Neue" pitchFamily="34" charset="0"/>
                <a:ea typeface="Bebas Neue" pitchFamily="34" charset="-122"/>
                <a:cs typeface="Bebas Neue" pitchFamily="34" charset="-120"/>
              </a:rPr>
              <a:t>OPERASI ALA RYANAIR</a:t>
            </a:r>
            <a:endParaRPr lang="en-US" sz="2800" dirty="0"/>
          </a:p>
        </p:txBody>
      </p:sp>
      <p:sp>
        <p:nvSpPr>
          <p:cNvPr id="6" name="Text 4"/>
          <p:cNvSpPr txBox="1"/>
          <p:nvPr/>
        </p:nvSpPr>
        <p:spPr>
          <a:xfrm>
            <a:off x="548640" y="2560320"/>
            <a:ext cx="3566160" cy="164592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Satu tipe pesawat</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Satu kelas, no frills</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Titik ke titik, 25 menit</a:t>
            </a:r>
            <a:endParaRPr lang="en-US" sz="2400" dirty="0"/>
          </a:p>
        </p:txBody>
      </p:sp>
      <p:sp>
        <p:nvSpPr>
          <p:cNvPr id="7" name="Shape 5"/>
          <p:cNvSpPr/>
          <p:nvPr/>
        </p:nvSpPr>
        <p:spPr>
          <a:xfrm>
            <a:off x="4297680" y="1783080"/>
            <a:ext cx="3566160" cy="640080"/>
          </a:xfrm>
          <a:prstGeom prst="rect">
            <a:avLst/>
          </a:prstGeom>
          <a:solidFill>
            <a:srgbClr val="2C7BB8"/>
          </a:solidFill>
          <a:ln w="12700">
            <a:solidFill>
              <a:srgbClr val="2C7BB8"/>
            </a:solidFill>
            <a:prstDash val="solid"/>
          </a:ln>
        </p:spPr>
      </p:sp>
      <p:sp>
        <p:nvSpPr>
          <p:cNvPr id="8" name="Text 6"/>
          <p:cNvSpPr txBox="1"/>
          <p:nvPr/>
        </p:nvSpPr>
        <p:spPr>
          <a:xfrm>
            <a:off x="4297680" y="1783080"/>
            <a:ext cx="3566160" cy="640080"/>
          </a:xfrm>
          <a:prstGeom prst="rect">
            <a:avLst/>
          </a:prstGeom>
          <a:noFill/>
          <a:ln/>
        </p:spPr>
        <p:txBody>
          <a:bodyPr wrap="square" lIns="0" tIns="2540" rIns="2540" bIns="0" rtlCol="0" anchor="ctr"/>
          <a:lstStyle/>
          <a:p>
            <a:pPr indent="0" marL="0">
              <a:buNone/>
            </a:pPr>
            <a:r>
              <a:rPr lang="en-US" sz="2800" dirty="0">
                <a:solidFill>
                  <a:srgbClr val="FFFFFF"/>
                </a:solidFill>
                <a:latin typeface="Bebas Neue" pitchFamily="34" charset="0"/>
                <a:ea typeface="Bebas Neue" pitchFamily="34" charset="-122"/>
                <a:cs typeface="Bebas Neue" pitchFamily="34" charset="-120"/>
              </a:rPr>
              <a:t>SDM ALA SOUTHWEST</a:t>
            </a:r>
            <a:endParaRPr lang="en-US" sz="2800" dirty="0"/>
          </a:p>
        </p:txBody>
      </p:sp>
      <p:sp>
        <p:nvSpPr>
          <p:cNvPr id="9" name="Text 7"/>
          <p:cNvSpPr txBox="1"/>
          <p:nvPr/>
        </p:nvSpPr>
        <p:spPr>
          <a:xfrm>
            <a:off x="4297680" y="2560320"/>
            <a:ext cx="3566160" cy="164592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Karyawan multi-skill</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Insentif produktivitas</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Budaya tanpa hierarki</a:t>
            </a:r>
            <a:endParaRPr lang="en-US" sz="2400" dirty="0"/>
          </a:p>
        </p:txBody>
      </p:sp>
      <p:sp>
        <p:nvSpPr>
          <p:cNvPr id="10" name="Shape 8"/>
          <p:cNvSpPr/>
          <p:nvPr/>
        </p:nvSpPr>
        <p:spPr>
          <a:xfrm>
            <a:off x="8046720" y="1783080"/>
            <a:ext cx="3566160" cy="640080"/>
          </a:xfrm>
          <a:prstGeom prst="rect">
            <a:avLst/>
          </a:prstGeom>
          <a:solidFill>
            <a:srgbClr val="F4C430"/>
          </a:solidFill>
          <a:ln w="12700">
            <a:solidFill>
              <a:srgbClr val="F4C430"/>
            </a:solidFill>
            <a:prstDash val="solid"/>
          </a:ln>
        </p:spPr>
      </p:sp>
      <p:sp>
        <p:nvSpPr>
          <p:cNvPr id="11" name="Text 9"/>
          <p:cNvSpPr txBox="1"/>
          <p:nvPr/>
        </p:nvSpPr>
        <p:spPr>
          <a:xfrm>
            <a:off x="8046720" y="1783080"/>
            <a:ext cx="3566160" cy="640080"/>
          </a:xfrm>
          <a:prstGeom prst="rect">
            <a:avLst/>
          </a:prstGeom>
          <a:noFill/>
          <a:ln/>
        </p:spPr>
        <p:txBody>
          <a:bodyPr wrap="square" lIns="0" tIns="2540" rIns="2540" bIns="0" rtlCol="0" anchor="ctr"/>
          <a:lstStyle/>
          <a:p>
            <a:pPr indent="0" marL="0">
              <a:buNone/>
            </a:pPr>
            <a:r>
              <a:rPr lang="en-US" sz="2800" dirty="0">
                <a:solidFill>
                  <a:srgbClr val="1B1B1B"/>
                </a:solidFill>
                <a:latin typeface="Bebas Neue" pitchFamily="34" charset="0"/>
                <a:ea typeface="Bebas Neue" pitchFamily="34" charset="-122"/>
                <a:cs typeface="Bebas Neue" pitchFamily="34" charset="-120"/>
              </a:rPr>
              <a:t>MEREK ALA EASYJET</a:t>
            </a:r>
            <a:endParaRPr lang="en-US" sz="2800" dirty="0"/>
          </a:p>
        </p:txBody>
      </p:sp>
      <p:sp>
        <p:nvSpPr>
          <p:cNvPr id="12" name="Text 10"/>
          <p:cNvSpPr txBox="1"/>
          <p:nvPr/>
        </p:nvSpPr>
        <p:spPr>
          <a:xfrm>
            <a:off x="8046720" y="2560320"/>
            <a:ext cx="3566160" cy="164592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Iklan kontra-siklus</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Co-branding, sponsor</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Distribusi langsung, IT</a:t>
            </a:r>
            <a:endParaRPr lang="en-US" sz="2400" dirty="0"/>
          </a:p>
        </p:txBody>
      </p:sp>
      <p:pic>
        <p:nvPicPr>
          <p:cNvPr id="13" name="Image 0" descr="/tmp/claude-0/-home-user-Dom-Manipulation/a70c4110-05d8-512e-ae11-d08dee025a7a/scratchpad/img/bw_hangar.png">    </p:cNvPr>
          <p:cNvPicPr>
            <a:picLocks noChangeAspect="1"/>
          </p:cNvPicPr>
          <p:nvPr/>
        </p:nvPicPr>
        <p:blipFill>
          <a:blip r:embed="rId1"/>
          <a:srcRect l="0" r="0" t="0" b="0"/>
          <a:stretch/>
        </p:blipFill>
        <p:spPr>
          <a:xfrm>
            <a:off x="548640" y="4434840"/>
            <a:ext cx="7498080" cy="1554480"/>
          </a:xfrm>
          <a:prstGeom prst="rect">
            <a:avLst/>
          </a:prstGeom>
        </p:spPr>
      </p:pic>
      <p:sp>
        <p:nvSpPr>
          <p:cNvPr id="14" name="Text 11"/>
          <p:cNvSpPr txBox="1"/>
          <p:nvPr/>
        </p:nvSpPr>
        <p:spPr>
          <a:xfrm>
            <a:off x="8321040" y="4343400"/>
            <a:ext cx="3383280" cy="1691640"/>
          </a:xfrm>
          <a:prstGeom prst="rect">
            <a:avLst/>
          </a:prstGeom>
          <a:noFill/>
          <a:ln/>
        </p:spPr>
        <p:txBody>
          <a:bodyPr wrap="square" lIns="0" tIns="0" rIns="0" bIns="0" rtlCol="0" anchor="ctr"/>
          <a:lstStyle/>
          <a:p>
            <a:pPr indent="0" marL="0">
              <a:buNone/>
            </a:pPr>
            <a:r>
              <a:rPr lang="en-US" sz="2400" b="1" dirty="0">
                <a:solidFill>
                  <a:srgbClr val="1B1B1B"/>
                </a:solidFill>
                <a:latin typeface="Manrope" pitchFamily="34" charset="0"/>
                <a:ea typeface="Manrope" pitchFamily="34" charset="-122"/>
                <a:cs typeface="Manrope" pitchFamily="34" charset="-120"/>
              </a:rPr>
              <a:t>Ketiganya saling menopang: sebuah sistem, bukan satu kebijakan tunggal.</a:t>
            </a:r>
            <a:endParaRPr lang="en-US" sz="2400" dirty="0"/>
          </a:p>
        </p:txBody>
      </p:sp>
      <p:sp>
        <p:nvSpPr>
          <p:cNvPr id="15" name="Text 12"/>
          <p:cNvSpPr txBox="1"/>
          <p:nvPr/>
        </p:nvSpPr>
        <p:spPr>
          <a:xfrm>
            <a:off x="548640" y="6172200"/>
            <a:ext cx="10424160" cy="457200"/>
          </a:xfrm>
          <a:prstGeom prst="rect">
            <a:avLst/>
          </a:prstGeom>
          <a:noFill/>
          <a:ln/>
        </p:spPr>
        <p:txBody>
          <a:bodyPr wrap="square" lIns="0" tIns="0" rIns="0" bIns="0" rtlCol="0" anchor="ctr"/>
          <a:lstStyle/>
          <a:p>
            <a:pPr indent="0" marL="0">
              <a:buNone/>
            </a:pPr>
            <a:r>
              <a:rPr lang="en-US" sz="1200" dirty="0">
                <a:solidFill>
                  <a:srgbClr val="E63E2C"/>
                </a:solidFill>
                <a:latin typeface="Manrope" pitchFamily="34" charset="0"/>
                <a:ea typeface="Manrope" pitchFamily="34" charset="-122"/>
                <a:cs typeface="Manrope" pitchFamily="34" charset="-120"/>
              </a:rPr>
              <a:t>■  </a:t>
            </a:r>
            <a:pPr indent="0" marL="0">
              <a:buNone/>
            </a:pPr>
            <a:r>
              <a:rPr lang="en-US" sz="1800" b="1" dirty="0">
                <a:solidFill>
                  <a:srgbClr val="1B1B1B"/>
                </a:solidFill>
                <a:latin typeface="Manrope" pitchFamily="34" charset="0"/>
                <a:ea typeface="Manrope" pitchFamily="34" charset="-122"/>
                <a:cs typeface="Manrope" pitchFamily="34" charset="-120"/>
              </a:rPr>
              <a:t>Selanjutnya  </a:t>
            </a:r>
            <a:pPr indent="0" marL="0">
              <a:buNone/>
            </a:pPr>
            <a:r>
              <a:rPr lang="en-US" sz="1800" dirty="0">
                <a:solidFill>
                  <a:srgbClr val="4A4A4A"/>
                </a:solidFill>
                <a:latin typeface="Manrope" pitchFamily="34" charset="0"/>
                <a:ea typeface="Manrope" pitchFamily="34" charset="-122"/>
                <a:cs typeface="Manrope" pitchFamily="34" charset="-120"/>
              </a:rPr>
              <a:t>Mana yang ikut ke rute jauh, mana yang tertinggal?</a:t>
            </a:r>
            <a:endParaRPr lang="en-US" sz="1800" dirty="0"/>
          </a:p>
        </p:txBody>
      </p:sp>
      <p:sp>
        <p:nvSpPr>
          <p:cNvPr id="16" name="Text 13"/>
          <p:cNvSpPr txBox="1"/>
          <p:nvPr/>
        </p:nvSpPr>
        <p:spPr>
          <a:xfrm>
            <a:off x="11247120" y="6355080"/>
            <a:ext cx="548640" cy="320040"/>
          </a:xfrm>
          <a:prstGeom prst="rect">
            <a:avLst/>
          </a:prstGeom>
          <a:noFill/>
          <a:ln/>
        </p:spPr>
        <p:txBody>
          <a:bodyPr wrap="square" lIns="0" tIns="0" rIns="0" bIns="0" rtlCol="0" anchor="ctr"/>
          <a:lstStyle/>
          <a:p>
            <a:pPr algn="r" indent="0" marL="0">
              <a:buNone/>
            </a:pPr>
            <a:r>
              <a:rPr lang="en-US" sz="1200" b="1" dirty="0">
                <a:solidFill>
                  <a:srgbClr val="1B1B1B"/>
                </a:solidFill>
                <a:latin typeface="Manrope" pitchFamily="34" charset="0"/>
                <a:ea typeface="Manrope" pitchFamily="34" charset="-122"/>
                <a:cs typeface="Manrope"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2CF"/>
        </a:solidFill>
      </p:bgPr>
    </p:bg>
    <p:spTree>
      <p:nvGrpSpPr>
        <p:cNvPr id="1" name=""/>
        <p:cNvGrpSpPr/>
        <p:nvPr/>
      </p:nvGrpSpPr>
      <p:grpSpPr>
        <a:xfrm>
          <a:off x="0" y="0"/>
          <a:ext cx="0" cy="0"/>
          <a:chOff x="0" y="0"/>
          <a:chExt cx="0" cy="0"/>
        </a:xfrm>
      </p:grpSpPr>
      <p:sp>
        <p:nvSpPr>
          <p:cNvPr id="2" name="Text 0"/>
          <p:cNvSpPr txBox="1"/>
          <p:nvPr/>
        </p:nvSpPr>
        <p:spPr>
          <a:xfrm>
            <a:off x="548640" y="411480"/>
            <a:ext cx="10515600" cy="868680"/>
          </a:xfrm>
          <a:prstGeom prst="rect">
            <a:avLst/>
          </a:prstGeom>
          <a:noFill/>
          <a:ln/>
        </p:spPr>
        <p:txBody>
          <a:bodyPr wrap="square" lIns="0" tIns="0" rIns="0" bIns="0" rtlCol="0" anchor="ctr"/>
          <a:lstStyle/>
          <a:p>
            <a:pPr indent="0" marL="0">
              <a:buNone/>
            </a:pPr>
            <a:r>
              <a:rPr lang="en-US" sz="5400" dirty="0">
                <a:solidFill>
                  <a:srgbClr val="1B1B1B"/>
                </a:solidFill>
                <a:latin typeface="Bebas Neue" pitchFamily="34" charset="0"/>
                <a:ea typeface="Bebas Neue" pitchFamily="34" charset="-122"/>
                <a:cs typeface="Bebas Neue" pitchFamily="34" charset="-120"/>
              </a:rPr>
              <a:t>TRANSFERABILITY TEST</a:t>
            </a:r>
            <a:endParaRPr lang="en-US" sz="5400" dirty="0"/>
          </a:p>
        </p:txBody>
      </p:sp>
      <p:sp>
        <p:nvSpPr>
          <p:cNvPr id="3" name="Text 1"/>
          <p:cNvSpPr txBox="1"/>
          <p:nvPr/>
        </p:nvSpPr>
        <p:spPr>
          <a:xfrm>
            <a:off x="548640" y="1298448"/>
            <a:ext cx="10058400" cy="320040"/>
          </a:xfrm>
          <a:prstGeom prst="rect">
            <a:avLst/>
          </a:prstGeom>
          <a:noFill/>
          <a:ln/>
        </p:spPr>
        <p:txBody>
          <a:bodyPr wrap="square" lIns="0" tIns="0" rIns="0" bIns="0" rtlCol="0" anchor="ctr"/>
          <a:lstStyle/>
          <a:p>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PROBLEM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EXTERNAL ENVIRONMENT     </a:t>
            </a:r>
            <a:pPr indent="0" marL="0">
              <a:buNone/>
            </a:pPr>
            <a:r>
              <a:rPr lang="en-US" sz="1200" spc="150" kern="0" dirty="0">
                <a:solidFill>
                  <a:srgbClr val="F4C430"/>
                </a:solidFill>
                <a:latin typeface="Manrope" pitchFamily="34" charset="0"/>
                <a:ea typeface="Manrope" pitchFamily="34" charset="-122"/>
                <a:cs typeface="Manrope" pitchFamily="34" charset="-120"/>
              </a:rPr>
              <a:t>■ </a:t>
            </a:r>
            <a:pPr indent="0" marL="0">
              <a:buNone/>
            </a:pPr>
            <a:r>
              <a:rPr lang="en-US" sz="1300" b="1" spc="150" kern="0" dirty="0">
                <a:solidFill>
                  <a:srgbClr val="1B1B1B"/>
                </a:solidFill>
                <a:latin typeface="Manrope" pitchFamily="34" charset="0"/>
                <a:ea typeface="Manrope" pitchFamily="34" charset="-122"/>
                <a:cs typeface="Manrope" pitchFamily="34" charset="-120"/>
              </a:rPr>
              <a:t>COST POSITION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CHOICE     </a:t>
            </a:r>
            <a:endParaRPr lang="en-US" sz="1300" dirty="0"/>
          </a:p>
        </p:txBody>
      </p:sp>
      <p:sp>
        <p:nvSpPr>
          <p:cNvPr id="4" name="Text 2"/>
          <p:cNvSpPr txBox="1"/>
          <p:nvPr/>
        </p:nvSpPr>
        <p:spPr>
          <a:xfrm>
            <a:off x="548640" y="1783080"/>
            <a:ext cx="5120640" cy="548640"/>
          </a:xfrm>
          <a:prstGeom prst="rect">
            <a:avLst/>
          </a:prstGeom>
          <a:noFill/>
          <a:ln/>
        </p:spPr>
        <p:txBody>
          <a:bodyPr wrap="square" lIns="0" tIns="0" rIns="0" bIns="0" rtlCol="0" anchor="ctr"/>
          <a:lstStyle/>
          <a:p>
            <a:pPr indent="0" marL="0">
              <a:buNone/>
            </a:pPr>
            <a:r>
              <a:rPr lang="en-US" sz="3400" dirty="0">
                <a:solidFill>
                  <a:srgbClr val="2C7BB8"/>
                </a:solidFill>
                <a:latin typeface="Bebas Neue" pitchFamily="34" charset="0"/>
                <a:ea typeface="Bebas Neue" pitchFamily="34" charset="-122"/>
                <a:cs typeface="Bebas Neue" pitchFamily="34" charset="-120"/>
              </a:rPr>
              <a:t>IKUT TERBAWA</a:t>
            </a:r>
            <a:endParaRPr lang="en-US" sz="3400" dirty="0"/>
          </a:p>
        </p:txBody>
      </p:sp>
      <p:sp>
        <p:nvSpPr>
          <p:cNvPr id="5" name="Shape 3"/>
          <p:cNvSpPr/>
          <p:nvPr/>
        </p:nvSpPr>
        <p:spPr>
          <a:xfrm>
            <a:off x="548640" y="2487168"/>
            <a:ext cx="1371600" cy="402336"/>
          </a:xfrm>
          <a:prstGeom prst="rect">
            <a:avLst/>
          </a:prstGeom>
          <a:solidFill>
            <a:srgbClr val="2C7BB8"/>
          </a:solidFill>
          <a:ln w="12700">
            <a:solidFill>
              <a:srgbClr val="2C7BB8"/>
            </a:solidFill>
            <a:prstDash val="solid"/>
          </a:ln>
        </p:spPr>
      </p:sp>
      <p:sp>
        <p:nvSpPr>
          <p:cNvPr id="6" name="Text 4"/>
          <p:cNvSpPr txBox="1"/>
          <p:nvPr/>
        </p:nvSpPr>
        <p:spPr>
          <a:xfrm>
            <a:off x="548640" y="2487168"/>
            <a:ext cx="1371600" cy="402336"/>
          </a:xfrm>
          <a:prstGeom prst="rect">
            <a:avLst/>
          </a:prstGeom>
          <a:noFill/>
          <a:ln/>
        </p:spPr>
        <p:txBody>
          <a:bodyPr wrap="square" lIns="0" tIns="0" rIns="0" bIns="0" rtlCol="0" anchor="ctr"/>
          <a:lstStyle/>
          <a:p>
            <a:pPr algn="ctr" indent="0" marL="0">
              <a:buNone/>
            </a:pPr>
            <a:r>
              <a:rPr lang="en-US" sz="1600" b="1" spc="100" kern="0" dirty="0">
                <a:solidFill>
                  <a:srgbClr val="FFFFFF"/>
                </a:solidFill>
                <a:latin typeface="Manrope" pitchFamily="34" charset="0"/>
                <a:ea typeface="Manrope" pitchFamily="34" charset="-122"/>
                <a:cs typeface="Manrope" pitchFamily="34" charset="-120"/>
              </a:rPr>
              <a:t>PENUH</a:t>
            </a:r>
            <a:endParaRPr lang="en-US" sz="1600" dirty="0"/>
          </a:p>
        </p:txBody>
      </p:sp>
      <p:sp>
        <p:nvSpPr>
          <p:cNvPr id="7" name="Text 5"/>
          <p:cNvSpPr txBox="1"/>
          <p:nvPr/>
        </p:nvSpPr>
        <p:spPr>
          <a:xfrm>
            <a:off x="2103120" y="2423160"/>
            <a:ext cx="3657600" cy="530352"/>
          </a:xfrm>
          <a:prstGeom prst="rect">
            <a:avLst/>
          </a:prstGeom>
          <a:noFill/>
          <a:ln/>
        </p:spPr>
        <p:txBody>
          <a:bodyPr wrap="square" lIns="0" tIns="0" rIns="0" bIns="0" rtlCol="0" anchor="ctr"/>
          <a:lstStyle/>
          <a:p>
            <a:pPr indent="0" marL="0">
              <a:buNone/>
            </a:pPr>
            <a:r>
              <a:rPr lang="en-US" sz="2400" dirty="0">
                <a:solidFill>
                  <a:srgbClr val="1B1B1B"/>
                </a:solidFill>
                <a:latin typeface="Manrope" pitchFamily="34" charset="0"/>
                <a:ea typeface="Manrope" pitchFamily="34" charset="-122"/>
                <a:cs typeface="Manrope" pitchFamily="34" charset="-120"/>
              </a:rPr>
              <a:t>Merek dan reputasi</a:t>
            </a:r>
            <a:endParaRPr lang="en-US" sz="2400" dirty="0"/>
          </a:p>
        </p:txBody>
      </p:sp>
      <p:sp>
        <p:nvSpPr>
          <p:cNvPr id="8" name="Shape 6"/>
          <p:cNvSpPr/>
          <p:nvPr/>
        </p:nvSpPr>
        <p:spPr>
          <a:xfrm>
            <a:off x="548640" y="3035808"/>
            <a:ext cx="1371600" cy="402336"/>
          </a:xfrm>
          <a:prstGeom prst="rect">
            <a:avLst/>
          </a:prstGeom>
          <a:solidFill>
            <a:srgbClr val="2C7BB8"/>
          </a:solidFill>
          <a:ln w="12700">
            <a:solidFill>
              <a:srgbClr val="2C7BB8"/>
            </a:solidFill>
            <a:prstDash val="solid"/>
          </a:ln>
        </p:spPr>
      </p:sp>
      <p:sp>
        <p:nvSpPr>
          <p:cNvPr id="9" name="Text 7"/>
          <p:cNvSpPr txBox="1"/>
          <p:nvPr/>
        </p:nvSpPr>
        <p:spPr>
          <a:xfrm>
            <a:off x="548640" y="3035808"/>
            <a:ext cx="1371600" cy="402336"/>
          </a:xfrm>
          <a:prstGeom prst="rect">
            <a:avLst/>
          </a:prstGeom>
          <a:noFill/>
          <a:ln/>
        </p:spPr>
        <p:txBody>
          <a:bodyPr wrap="square" lIns="0" tIns="0" rIns="0" bIns="0" rtlCol="0" anchor="ctr"/>
          <a:lstStyle/>
          <a:p>
            <a:pPr algn="ctr" indent="0" marL="0">
              <a:buNone/>
            </a:pPr>
            <a:r>
              <a:rPr lang="en-US" sz="1600" b="1" spc="100" kern="0" dirty="0">
                <a:solidFill>
                  <a:srgbClr val="FFFFFF"/>
                </a:solidFill>
                <a:latin typeface="Manrope" pitchFamily="34" charset="0"/>
                <a:ea typeface="Manrope" pitchFamily="34" charset="-122"/>
                <a:cs typeface="Manrope" pitchFamily="34" charset="-120"/>
              </a:rPr>
              <a:t>PENUH</a:t>
            </a:r>
            <a:endParaRPr lang="en-US" sz="1600" dirty="0"/>
          </a:p>
        </p:txBody>
      </p:sp>
      <p:sp>
        <p:nvSpPr>
          <p:cNvPr id="10" name="Text 8"/>
          <p:cNvSpPr txBox="1"/>
          <p:nvPr/>
        </p:nvSpPr>
        <p:spPr>
          <a:xfrm>
            <a:off x="2103120" y="2971800"/>
            <a:ext cx="3657600" cy="530352"/>
          </a:xfrm>
          <a:prstGeom prst="rect">
            <a:avLst/>
          </a:prstGeom>
          <a:noFill/>
          <a:ln/>
        </p:spPr>
        <p:txBody>
          <a:bodyPr wrap="square" lIns="0" tIns="0" rIns="0" bIns="0" rtlCol="0" anchor="ctr"/>
          <a:lstStyle/>
          <a:p>
            <a:pPr indent="0" marL="0">
              <a:buNone/>
            </a:pPr>
            <a:r>
              <a:rPr lang="en-US" sz="2400" dirty="0">
                <a:solidFill>
                  <a:srgbClr val="1B1B1B"/>
                </a:solidFill>
                <a:latin typeface="Manrope" pitchFamily="34" charset="0"/>
                <a:ea typeface="Manrope" pitchFamily="34" charset="-122"/>
                <a:cs typeface="Manrope" pitchFamily="34" charset="-120"/>
              </a:rPr>
              <a:t>Distribusi langsung dan IT</a:t>
            </a:r>
            <a:endParaRPr lang="en-US" sz="2400" dirty="0"/>
          </a:p>
        </p:txBody>
      </p:sp>
      <p:sp>
        <p:nvSpPr>
          <p:cNvPr id="11" name="Shape 9"/>
          <p:cNvSpPr/>
          <p:nvPr/>
        </p:nvSpPr>
        <p:spPr>
          <a:xfrm>
            <a:off x="548640" y="3584448"/>
            <a:ext cx="1371600" cy="402336"/>
          </a:xfrm>
          <a:prstGeom prst="rect">
            <a:avLst/>
          </a:prstGeom>
          <a:solidFill>
            <a:srgbClr val="2C7BB8"/>
          </a:solidFill>
          <a:ln w="12700">
            <a:solidFill>
              <a:srgbClr val="2C7BB8"/>
            </a:solidFill>
            <a:prstDash val="solid"/>
          </a:ln>
        </p:spPr>
      </p:sp>
      <p:sp>
        <p:nvSpPr>
          <p:cNvPr id="12" name="Text 10"/>
          <p:cNvSpPr txBox="1"/>
          <p:nvPr/>
        </p:nvSpPr>
        <p:spPr>
          <a:xfrm>
            <a:off x="548640" y="3584448"/>
            <a:ext cx="1371600" cy="402336"/>
          </a:xfrm>
          <a:prstGeom prst="rect">
            <a:avLst/>
          </a:prstGeom>
          <a:noFill/>
          <a:ln/>
        </p:spPr>
        <p:txBody>
          <a:bodyPr wrap="square" lIns="0" tIns="0" rIns="0" bIns="0" rtlCol="0" anchor="ctr"/>
          <a:lstStyle/>
          <a:p>
            <a:pPr algn="ctr" indent="0" marL="0">
              <a:buNone/>
            </a:pPr>
            <a:r>
              <a:rPr lang="en-US" sz="1600" b="1" spc="100" kern="0" dirty="0">
                <a:solidFill>
                  <a:srgbClr val="FFFFFF"/>
                </a:solidFill>
                <a:latin typeface="Manrope" pitchFamily="34" charset="0"/>
                <a:ea typeface="Manrope" pitchFamily="34" charset="-122"/>
                <a:cs typeface="Manrope" pitchFamily="34" charset="-120"/>
              </a:rPr>
              <a:t>PENUH</a:t>
            </a:r>
            <a:endParaRPr lang="en-US" sz="1600" dirty="0"/>
          </a:p>
        </p:txBody>
      </p:sp>
      <p:sp>
        <p:nvSpPr>
          <p:cNvPr id="13" name="Text 11"/>
          <p:cNvSpPr txBox="1"/>
          <p:nvPr/>
        </p:nvSpPr>
        <p:spPr>
          <a:xfrm>
            <a:off x="2103120" y="3520440"/>
            <a:ext cx="3657600" cy="530352"/>
          </a:xfrm>
          <a:prstGeom prst="rect">
            <a:avLst/>
          </a:prstGeom>
          <a:noFill/>
          <a:ln/>
        </p:spPr>
        <p:txBody>
          <a:bodyPr wrap="square" lIns="0" tIns="0" rIns="0" bIns="0" rtlCol="0" anchor="ctr"/>
          <a:lstStyle/>
          <a:p>
            <a:pPr indent="0" marL="0">
              <a:buNone/>
            </a:pPr>
            <a:r>
              <a:rPr lang="en-US" sz="2400" dirty="0">
                <a:solidFill>
                  <a:srgbClr val="1B1B1B"/>
                </a:solidFill>
                <a:latin typeface="Manrope" pitchFamily="34" charset="0"/>
                <a:ea typeface="Manrope" pitchFamily="34" charset="-122"/>
                <a:cs typeface="Manrope" pitchFamily="34" charset="-120"/>
              </a:rPr>
              <a:t>SDM dan budaya biaya</a:t>
            </a:r>
            <a:endParaRPr lang="en-US" sz="2400" dirty="0"/>
          </a:p>
        </p:txBody>
      </p:sp>
      <p:sp>
        <p:nvSpPr>
          <p:cNvPr id="14" name="Shape 12"/>
          <p:cNvSpPr/>
          <p:nvPr/>
        </p:nvSpPr>
        <p:spPr>
          <a:xfrm>
            <a:off x="548640" y="4133088"/>
            <a:ext cx="1371600" cy="402336"/>
          </a:xfrm>
          <a:prstGeom prst="rect">
            <a:avLst/>
          </a:prstGeom>
          <a:solidFill>
            <a:srgbClr val="2C7BB8"/>
          </a:solidFill>
          <a:ln w="12700">
            <a:solidFill>
              <a:srgbClr val="2C7BB8"/>
            </a:solidFill>
            <a:prstDash val="solid"/>
          </a:ln>
        </p:spPr>
      </p:sp>
      <p:sp>
        <p:nvSpPr>
          <p:cNvPr id="15" name="Text 13"/>
          <p:cNvSpPr txBox="1"/>
          <p:nvPr/>
        </p:nvSpPr>
        <p:spPr>
          <a:xfrm>
            <a:off x="548640" y="4133088"/>
            <a:ext cx="1371600" cy="402336"/>
          </a:xfrm>
          <a:prstGeom prst="rect">
            <a:avLst/>
          </a:prstGeom>
          <a:noFill/>
          <a:ln/>
        </p:spPr>
        <p:txBody>
          <a:bodyPr wrap="square" lIns="0" tIns="0" rIns="0" bIns="0" rtlCol="0" anchor="ctr"/>
          <a:lstStyle/>
          <a:p>
            <a:pPr algn="ctr" indent="0" marL="0">
              <a:buNone/>
            </a:pPr>
            <a:r>
              <a:rPr lang="en-US" sz="1600" b="1" spc="100" kern="0" dirty="0">
                <a:solidFill>
                  <a:srgbClr val="FFFFFF"/>
                </a:solidFill>
                <a:latin typeface="Manrope" pitchFamily="34" charset="0"/>
                <a:ea typeface="Manrope" pitchFamily="34" charset="-122"/>
                <a:cs typeface="Manrope" pitchFamily="34" charset="-120"/>
              </a:rPr>
              <a:t>PENUH</a:t>
            </a:r>
            <a:endParaRPr lang="en-US" sz="1600" dirty="0"/>
          </a:p>
        </p:txBody>
      </p:sp>
      <p:sp>
        <p:nvSpPr>
          <p:cNvPr id="16" name="Text 14"/>
          <p:cNvSpPr txBox="1"/>
          <p:nvPr/>
        </p:nvSpPr>
        <p:spPr>
          <a:xfrm>
            <a:off x="2103120" y="4069080"/>
            <a:ext cx="3657600" cy="530352"/>
          </a:xfrm>
          <a:prstGeom prst="rect">
            <a:avLst/>
          </a:prstGeom>
          <a:noFill/>
          <a:ln/>
        </p:spPr>
        <p:txBody>
          <a:bodyPr wrap="square" lIns="0" tIns="0" rIns="0" bIns="0" rtlCol="0" anchor="ctr"/>
          <a:lstStyle/>
          <a:p>
            <a:pPr indent="0" marL="0">
              <a:buNone/>
            </a:pPr>
            <a:r>
              <a:rPr lang="en-US" sz="2400" dirty="0">
                <a:solidFill>
                  <a:srgbClr val="1B1B1B"/>
                </a:solidFill>
                <a:latin typeface="Manrope" pitchFamily="34" charset="0"/>
                <a:ea typeface="Manrope" pitchFamily="34" charset="-122"/>
                <a:cs typeface="Manrope" pitchFamily="34" charset="-120"/>
              </a:rPr>
              <a:t>Bandara sekunder</a:t>
            </a:r>
            <a:endParaRPr lang="en-US" sz="2400" dirty="0"/>
          </a:p>
        </p:txBody>
      </p:sp>
      <p:sp>
        <p:nvSpPr>
          <p:cNvPr id="17" name="Shape 15"/>
          <p:cNvSpPr/>
          <p:nvPr/>
        </p:nvSpPr>
        <p:spPr>
          <a:xfrm>
            <a:off x="548640" y="4681728"/>
            <a:ext cx="1371600" cy="402336"/>
          </a:xfrm>
          <a:prstGeom prst="rect">
            <a:avLst/>
          </a:prstGeom>
          <a:solidFill>
            <a:srgbClr val="2C7BB8"/>
          </a:solidFill>
          <a:ln w="12700">
            <a:solidFill>
              <a:srgbClr val="2C7BB8"/>
            </a:solidFill>
            <a:prstDash val="solid"/>
          </a:ln>
        </p:spPr>
      </p:sp>
      <p:sp>
        <p:nvSpPr>
          <p:cNvPr id="18" name="Text 16"/>
          <p:cNvSpPr txBox="1"/>
          <p:nvPr/>
        </p:nvSpPr>
        <p:spPr>
          <a:xfrm>
            <a:off x="548640" y="4681728"/>
            <a:ext cx="1371600" cy="402336"/>
          </a:xfrm>
          <a:prstGeom prst="rect">
            <a:avLst/>
          </a:prstGeom>
          <a:noFill/>
          <a:ln/>
        </p:spPr>
        <p:txBody>
          <a:bodyPr wrap="square" lIns="0" tIns="0" rIns="0" bIns="0" rtlCol="0" anchor="ctr"/>
          <a:lstStyle/>
          <a:p>
            <a:pPr algn="ctr" indent="0" marL="0">
              <a:buNone/>
            </a:pPr>
            <a:r>
              <a:rPr lang="en-US" sz="1600" b="1" spc="100" kern="0" dirty="0">
                <a:solidFill>
                  <a:srgbClr val="FFFFFF"/>
                </a:solidFill>
                <a:latin typeface="Manrope" pitchFamily="34" charset="0"/>
                <a:ea typeface="Manrope" pitchFamily="34" charset="-122"/>
                <a:cs typeface="Manrope" pitchFamily="34" charset="-120"/>
              </a:rPr>
              <a:t>PENUH</a:t>
            </a:r>
            <a:endParaRPr lang="en-US" sz="1600" dirty="0"/>
          </a:p>
        </p:txBody>
      </p:sp>
      <p:sp>
        <p:nvSpPr>
          <p:cNvPr id="19" name="Text 17"/>
          <p:cNvSpPr txBox="1"/>
          <p:nvPr/>
        </p:nvSpPr>
        <p:spPr>
          <a:xfrm>
            <a:off x="2103120" y="4617720"/>
            <a:ext cx="3657600" cy="530352"/>
          </a:xfrm>
          <a:prstGeom prst="rect">
            <a:avLst/>
          </a:prstGeom>
          <a:noFill/>
          <a:ln/>
        </p:spPr>
        <p:txBody>
          <a:bodyPr wrap="square" lIns="0" tIns="0" rIns="0" bIns="0" rtlCol="0" anchor="ctr"/>
          <a:lstStyle/>
          <a:p>
            <a:pPr indent="0" marL="0">
              <a:buNone/>
            </a:pPr>
            <a:r>
              <a:rPr lang="en-US" sz="2400" dirty="0">
                <a:solidFill>
                  <a:srgbClr val="1B1B1B"/>
                </a:solidFill>
                <a:latin typeface="Manrope" pitchFamily="34" charset="0"/>
                <a:ea typeface="Manrope" pitchFamily="34" charset="-122"/>
                <a:cs typeface="Manrope" pitchFamily="34" charset="-120"/>
              </a:rPr>
              <a:t>Outsourcing perawatan</a:t>
            </a:r>
            <a:endParaRPr lang="en-US" sz="2400" dirty="0"/>
          </a:p>
        </p:txBody>
      </p:sp>
      <p:sp>
        <p:nvSpPr>
          <p:cNvPr id="20" name="Shape 18"/>
          <p:cNvSpPr/>
          <p:nvPr/>
        </p:nvSpPr>
        <p:spPr>
          <a:xfrm>
            <a:off x="548640" y="5230368"/>
            <a:ext cx="1371600" cy="402336"/>
          </a:xfrm>
          <a:prstGeom prst="rect">
            <a:avLst/>
          </a:prstGeom>
          <a:solidFill>
            <a:srgbClr val="F4C430"/>
          </a:solidFill>
          <a:ln w="12700">
            <a:solidFill>
              <a:srgbClr val="F4C430"/>
            </a:solidFill>
            <a:prstDash val="solid"/>
          </a:ln>
        </p:spPr>
      </p:sp>
      <p:sp>
        <p:nvSpPr>
          <p:cNvPr id="21" name="Text 19"/>
          <p:cNvSpPr txBox="1"/>
          <p:nvPr/>
        </p:nvSpPr>
        <p:spPr>
          <a:xfrm>
            <a:off x="548640" y="5230368"/>
            <a:ext cx="1371600" cy="402336"/>
          </a:xfrm>
          <a:prstGeom prst="rect">
            <a:avLst/>
          </a:prstGeom>
          <a:noFill/>
          <a:ln/>
        </p:spPr>
        <p:txBody>
          <a:bodyPr wrap="square" lIns="0" tIns="0" rIns="0" bIns="0" rtlCol="0" anchor="ctr"/>
          <a:lstStyle/>
          <a:p>
            <a:pPr algn="ctr" indent="0" marL="0">
              <a:buNone/>
            </a:pPr>
            <a:r>
              <a:rPr lang="en-US" sz="1600" b="1" spc="100" kern="0" dirty="0">
                <a:solidFill>
                  <a:srgbClr val="1B1B1B"/>
                </a:solidFill>
                <a:latin typeface="Manrope" pitchFamily="34" charset="0"/>
                <a:ea typeface="Manrope" pitchFamily="34" charset="-122"/>
                <a:cs typeface="Manrope" pitchFamily="34" charset="-120"/>
              </a:rPr>
              <a:t>SEBAGIAN</a:t>
            </a:r>
            <a:endParaRPr lang="en-US" sz="1600" dirty="0"/>
          </a:p>
        </p:txBody>
      </p:sp>
      <p:sp>
        <p:nvSpPr>
          <p:cNvPr id="22" name="Text 20"/>
          <p:cNvSpPr txBox="1"/>
          <p:nvPr/>
        </p:nvSpPr>
        <p:spPr>
          <a:xfrm>
            <a:off x="2103120" y="5166360"/>
            <a:ext cx="3657600" cy="530352"/>
          </a:xfrm>
          <a:prstGeom prst="rect">
            <a:avLst/>
          </a:prstGeom>
          <a:noFill/>
          <a:ln/>
        </p:spPr>
        <p:txBody>
          <a:bodyPr wrap="square" lIns="0" tIns="0" rIns="0" bIns="0" rtlCol="0" anchor="ctr"/>
          <a:lstStyle/>
          <a:p>
            <a:pPr indent="0" marL="0">
              <a:buNone/>
            </a:pPr>
            <a:r>
              <a:rPr lang="en-US" sz="2400" dirty="0">
                <a:solidFill>
                  <a:srgbClr val="1B1B1B"/>
                </a:solidFill>
                <a:latin typeface="Manrope" pitchFamily="34" charset="0"/>
                <a:ea typeface="Manrope" pitchFamily="34" charset="-122"/>
                <a:cs typeface="Manrope" pitchFamily="34" charset="-120"/>
              </a:rPr>
              <a:t>Pesawat hemat BBM</a:t>
            </a:r>
            <a:endParaRPr lang="en-US" sz="2400" dirty="0"/>
          </a:p>
        </p:txBody>
      </p:sp>
      <p:sp>
        <p:nvSpPr>
          <p:cNvPr id="23" name="Text 21"/>
          <p:cNvSpPr txBox="1"/>
          <p:nvPr/>
        </p:nvSpPr>
        <p:spPr>
          <a:xfrm>
            <a:off x="6309360" y="1783080"/>
            <a:ext cx="5120640" cy="548640"/>
          </a:xfrm>
          <a:prstGeom prst="rect">
            <a:avLst/>
          </a:prstGeom>
          <a:noFill/>
          <a:ln/>
        </p:spPr>
        <p:txBody>
          <a:bodyPr wrap="square" lIns="0" tIns="0" rIns="0" bIns="0" rtlCol="0" anchor="ctr"/>
          <a:lstStyle/>
          <a:p>
            <a:pPr indent="0" marL="0">
              <a:buNone/>
            </a:pPr>
            <a:r>
              <a:rPr lang="en-US" sz="3400" dirty="0">
                <a:solidFill>
                  <a:srgbClr val="E63E2C"/>
                </a:solidFill>
                <a:latin typeface="Bebas Neue" pitchFamily="34" charset="0"/>
                <a:ea typeface="Bebas Neue" pitchFamily="34" charset="-122"/>
                <a:cs typeface="Bebas Neue" pitchFamily="34" charset="-120"/>
              </a:rPr>
              <a:t>TIDAK TERBAWA</a:t>
            </a:r>
            <a:endParaRPr lang="en-US" sz="3400" dirty="0"/>
          </a:p>
        </p:txBody>
      </p:sp>
      <p:sp>
        <p:nvSpPr>
          <p:cNvPr id="24" name="Shape 22"/>
          <p:cNvSpPr/>
          <p:nvPr/>
        </p:nvSpPr>
        <p:spPr>
          <a:xfrm>
            <a:off x="6309360" y="2487168"/>
            <a:ext cx="1371600" cy="402336"/>
          </a:xfrm>
          <a:prstGeom prst="rect">
            <a:avLst/>
          </a:prstGeom>
          <a:solidFill>
            <a:srgbClr val="E63E2C"/>
          </a:solidFill>
          <a:ln w="12700">
            <a:solidFill>
              <a:srgbClr val="E63E2C"/>
            </a:solidFill>
            <a:prstDash val="solid"/>
          </a:ln>
        </p:spPr>
      </p:sp>
      <p:sp>
        <p:nvSpPr>
          <p:cNvPr id="25" name="Text 23"/>
          <p:cNvSpPr txBox="1"/>
          <p:nvPr/>
        </p:nvSpPr>
        <p:spPr>
          <a:xfrm>
            <a:off x="6309360" y="2487168"/>
            <a:ext cx="1371600" cy="402336"/>
          </a:xfrm>
          <a:prstGeom prst="rect">
            <a:avLst/>
          </a:prstGeom>
          <a:noFill/>
          <a:ln/>
        </p:spPr>
        <p:txBody>
          <a:bodyPr wrap="square" lIns="0" tIns="0" rIns="0" bIns="0" rtlCol="0" anchor="ctr"/>
          <a:lstStyle/>
          <a:p>
            <a:pPr algn="ctr" indent="0" marL="0">
              <a:buNone/>
            </a:pPr>
            <a:r>
              <a:rPr lang="en-US" sz="1600" b="1" spc="100" kern="0" dirty="0">
                <a:solidFill>
                  <a:srgbClr val="FFFFFF"/>
                </a:solidFill>
                <a:latin typeface="Manrope" pitchFamily="34" charset="0"/>
                <a:ea typeface="Manrope" pitchFamily="34" charset="-122"/>
                <a:cs typeface="Manrope" pitchFamily="34" charset="-120"/>
              </a:rPr>
              <a:t>TIDAK</a:t>
            </a:r>
            <a:endParaRPr lang="en-US" sz="1600" dirty="0"/>
          </a:p>
        </p:txBody>
      </p:sp>
      <p:sp>
        <p:nvSpPr>
          <p:cNvPr id="26" name="Text 24"/>
          <p:cNvSpPr txBox="1"/>
          <p:nvPr/>
        </p:nvSpPr>
        <p:spPr>
          <a:xfrm>
            <a:off x="7863840" y="2423160"/>
            <a:ext cx="3840480" cy="530352"/>
          </a:xfrm>
          <a:prstGeom prst="rect">
            <a:avLst/>
          </a:prstGeom>
          <a:noFill/>
          <a:ln/>
        </p:spPr>
        <p:txBody>
          <a:bodyPr wrap="square" lIns="0" tIns="0" rIns="0" bIns="0" rtlCol="0" anchor="ctr"/>
          <a:lstStyle/>
          <a:p>
            <a:pPr indent="0" marL="0">
              <a:buNone/>
            </a:pPr>
            <a:r>
              <a:rPr lang="en-US" sz="2400" dirty="0">
                <a:solidFill>
                  <a:srgbClr val="1B1B1B"/>
                </a:solidFill>
                <a:latin typeface="Manrope" pitchFamily="34" charset="0"/>
                <a:ea typeface="Manrope" pitchFamily="34" charset="-122"/>
                <a:cs typeface="Manrope" pitchFamily="34" charset="-120"/>
              </a:rPr>
              <a:t>Satu tipe pesawat</a:t>
            </a:r>
            <a:endParaRPr lang="en-US" sz="2400" dirty="0"/>
          </a:p>
        </p:txBody>
      </p:sp>
      <p:sp>
        <p:nvSpPr>
          <p:cNvPr id="27" name="Shape 25"/>
          <p:cNvSpPr/>
          <p:nvPr/>
        </p:nvSpPr>
        <p:spPr>
          <a:xfrm>
            <a:off x="6309360" y="3035808"/>
            <a:ext cx="1371600" cy="402336"/>
          </a:xfrm>
          <a:prstGeom prst="rect">
            <a:avLst/>
          </a:prstGeom>
          <a:solidFill>
            <a:srgbClr val="E63E2C"/>
          </a:solidFill>
          <a:ln w="12700">
            <a:solidFill>
              <a:srgbClr val="E63E2C"/>
            </a:solidFill>
            <a:prstDash val="solid"/>
          </a:ln>
        </p:spPr>
      </p:sp>
      <p:sp>
        <p:nvSpPr>
          <p:cNvPr id="28" name="Text 26"/>
          <p:cNvSpPr txBox="1"/>
          <p:nvPr/>
        </p:nvSpPr>
        <p:spPr>
          <a:xfrm>
            <a:off x="6309360" y="3035808"/>
            <a:ext cx="1371600" cy="402336"/>
          </a:xfrm>
          <a:prstGeom prst="rect">
            <a:avLst/>
          </a:prstGeom>
          <a:noFill/>
          <a:ln/>
        </p:spPr>
        <p:txBody>
          <a:bodyPr wrap="square" lIns="0" tIns="0" rIns="0" bIns="0" rtlCol="0" anchor="ctr"/>
          <a:lstStyle/>
          <a:p>
            <a:pPr algn="ctr" indent="0" marL="0">
              <a:buNone/>
            </a:pPr>
            <a:r>
              <a:rPr lang="en-US" sz="1600" b="1" spc="100" kern="0" dirty="0">
                <a:solidFill>
                  <a:srgbClr val="FFFFFF"/>
                </a:solidFill>
                <a:latin typeface="Manrope" pitchFamily="34" charset="0"/>
                <a:ea typeface="Manrope" pitchFamily="34" charset="-122"/>
                <a:cs typeface="Manrope" pitchFamily="34" charset="-120"/>
              </a:rPr>
              <a:t>TIDAK</a:t>
            </a:r>
            <a:endParaRPr lang="en-US" sz="1600" dirty="0"/>
          </a:p>
        </p:txBody>
      </p:sp>
      <p:sp>
        <p:nvSpPr>
          <p:cNvPr id="29" name="Text 27"/>
          <p:cNvSpPr txBox="1"/>
          <p:nvPr/>
        </p:nvSpPr>
        <p:spPr>
          <a:xfrm>
            <a:off x="7863840" y="2971800"/>
            <a:ext cx="3840480" cy="530352"/>
          </a:xfrm>
          <a:prstGeom prst="rect">
            <a:avLst/>
          </a:prstGeom>
          <a:noFill/>
          <a:ln/>
        </p:spPr>
        <p:txBody>
          <a:bodyPr wrap="square" lIns="0" tIns="0" rIns="0" bIns="0" rtlCol="0" anchor="ctr"/>
          <a:lstStyle/>
          <a:p>
            <a:pPr indent="0" marL="0">
              <a:buNone/>
            </a:pPr>
            <a:r>
              <a:rPr lang="en-US" sz="2400" dirty="0">
                <a:solidFill>
                  <a:srgbClr val="1B1B1B"/>
                </a:solidFill>
                <a:latin typeface="Manrope" pitchFamily="34" charset="0"/>
                <a:ea typeface="Manrope" pitchFamily="34" charset="-122"/>
                <a:cs typeface="Manrope" pitchFamily="34" charset="-120"/>
              </a:rPr>
              <a:t>Turnaround 25 menit</a:t>
            </a:r>
            <a:endParaRPr lang="en-US" sz="2400" dirty="0"/>
          </a:p>
        </p:txBody>
      </p:sp>
      <p:sp>
        <p:nvSpPr>
          <p:cNvPr id="30" name="Shape 28"/>
          <p:cNvSpPr/>
          <p:nvPr/>
        </p:nvSpPr>
        <p:spPr>
          <a:xfrm>
            <a:off x="6309360" y="3584448"/>
            <a:ext cx="1371600" cy="402336"/>
          </a:xfrm>
          <a:prstGeom prst="rect">
            <a:avLst/>
          </a:prstGeom>
          <a:solidFill>
            <a:srgbClr val="E63E2C"/>
          </a:solidFill>
          <a:ln w="12700">
            <a:solidFill>
              <a:srgbClr val="E63E2C"/>
            </a:solidFill>
            <a:prstDash val="solid"/>
          </a:ln>
        </p:spPr>
      </p:sp>
      <p:sp>
        <p:nvSpPr>
          <p:cNvPr id="31" name="Text 29"/>
          <p:cNvSpPr txBox="1"/>
          <p:nvPr/>
        </p:nvSpPr>
        <p:spPr>
          <a:xfrm>
            <a:off x="6309360" y="3584448"/>
            <a:ext cx="1371600" cy="402336"/>
          </a:xfrm>
          <a:prstGeom prst="rect">
            <a:avLst/>
          </a:prstGeom>
          <a:noFill/>
          <a:ln/>
        </p:spPr>
        <p:txBody>
          <a:bodyPr wrap="square" lIns="0" tIns="0" rIns="0" bIns="0" rtlCol="0" anchor="ctr"/>
          <a:lstStyle/>
          <a:p>
            <a:pPr algn="ctr" indent="0" marL="0">
              <a:buNone/>
            </a:pPr>
            <a:r>
              <a:rPr lang="en-US" sz="1600" b="1" spc="100" kern="0" dirty="0">
                <a:solidFill>
                  <a:srgbClr val="FFFFFF"/>
                </a:solidFill>
                <a:latin typeface="Manrope" pitchFamily="34" charset="0"/>
                <a:ea typeface="Manrope" pitchFamily="34" charset="-122"/>
                <a:cs typeface="Manrope" pitchFamily="34" charset="-120"/>
              </a:rPr>
              <a:t>TIDAK</a:t>
            </a:r>
            <a:endParaRPr lang="en-US" sz="1600" dirty="0"/>
          </a:p>
        </p:txBody>
      </p:sp>
      <p:sp>
        <p:nvSpPr>
          <p:cNvPr id="32" name="Text 30"/>
          <p:cNvSpPr txBox="1"/>
          <p:nvPr/>
        </p:nvSpPr>
        <p:spPr>
          <a:xfrm>
            <a:off x="7863840" y="3520440"/>
            <a:ext cx="3840480" cy="530352"/>
          </a:xfrm>
          <a:prstGeom prst="rect">
            <a:avLst/>
          </a:prstGeom>
          <a:noFill/>
          <a:ln/>
        </p:spPr>
        <p:txBody>
          <a:bodyPr wrap="square" lIns="0" tIns="0" rIns="0" bIns="0" rtlCol="0" anchor="ctr"/>
          <a:lstStyle/>
          <a:p>
            <a:pPr indent="0" marL="0">
              <a:buNone/>
            </a:pPr>
            <a:r>
              <a:rPr lang="en-US" sz="2400" dirty="0">
                <a:solidFill>
                  <a:srgbClr val="1B1B1B"/>
                </a:solidFill>
                <a:latin typeface="Manrope" pitchFamily="34" charset="0"/>
                <a:ea typeface="Manrope" pitchFamily="34" charset="-122"/>
                <a:cs typeface="Manrope" pitchFamily="34" charset="-120"/>
              </a:rPr>
              <a:t>Satu kelas tanpa layanan</a:t>
            </a:r>
            <a:endParaRPr lang="en-US" sz="2400" dirty="0"/>
          </a:p>
        </p:txBody>
      </p:sp>
      <p:sp>
        <p:nvSpPr>
          <p:cNvPr id="33" name="Shape 31"/>
          <p:cNvSpPr/>
          <p:nvPr/>
        </p:nvSpPr>
        <p:spPr>
          <a:xfrm>
            <a:off x="6309360" y="4133088"/>
            <a:ext cx="1371600" cy="402336"/>
          </a:xfrm>
          <a:prstGeom prst="rect">
            <a:avLst/>
          </a:prstGeom>
          <a:solidFill>
            <a:srgbClr val="E63E2C"/>
          </a:solidFill>
          <a:ln w="12700">
            <a:solidFill>
              <a:srgbClr val="E63E2C"/>
            </a:solidFill>
            <a:prstDash val="solid"/>
          </a:ln>
        </p:spPr>
      </p:sp>
      <p:sp>
        <p:nvSpPr>
          <p:cNvPr id="34" name="Text 32"/>
          <p:cNvSpPr txBox="1"/>
          <p:nvPr/>
        </p:nvSpPr>
        <p:spPr>
          <a:xfrm>
            <a:off x="6309360" y="4133088"/>
            <a:ext cx="1371600" cy="402336"/>
          </a:xfrm>
          <a:prstGeom prst="rect">
            <a:avLst/>
          </a:prstGeom>
          <a:noFill/>
          <a:ln/>
        </p:spPr>
        <p:txBody>
          <a:bodyPr wrap="square" lIns="0" tIns="0" rIns="0" bIns="0" rtlCol="0" anchor="ctr"/>
          <a:lstStyle/>
          <a:p>
            <a:pPr algn="ctr" indent="0" marL="0">
              <a:buNone/>
            </a:pPr>
            <a:r>
              <a:rPr lang="en-US" sz="1600" b="1" spc="100" kern="0" dirty="0">
                <a:solidFill>
                  <a:srgbClr val="FFFFFF"/>
                </a:solidFill>
                <a:latin typeface="Manrope" pitchFamily="34" charset="0"/>
                <a:ea typeface="Manrope" pitchFamily="34" charset="-122"/>
                <a:cs typeface="Manrope" pitchFamily="34" charset="-120"/>
              </a:rPr>
              <a:t>TIDAK</a:t>
            </a:r>
            <a:endParaRPr lang="en-US" sz="1600" dirty="0"/>
          </a:p>
        </p:txBody>
      </p:sp>
      <p:sp>
        <p:nvSpPr>
          <p:cNvPr id="35" name="Text 33"/>
          <p:cNvSpPr txBox="1"/>
          <p:nvPr/>
        </p:nvSpPr>
        <p:spPr>
          <a:xfrm>
            <a:off x="7863840" y="4069080"/>
            <a:ext cx="3840480" cy="530352"/>
          </a:xfrm>
          <a:prstGeom prst="rect">
            <a:avLst/>
          </a:prstGeom>
          <a:noFill/>
          <a:ln/>
        </p:spPr>
        <p:txBody>
          <a:bodyPr wrap="square" lIns="0" tIns="0" rIns="0" bIns="0" rtlCol="0" anchor="ctr"/>
          <a:lstStyle/>
          <a:p>
            <a:pPr indent="0" marL="0">
              <a:buNone/>
            </a:pPr>
            <a:r>
              <a:rPr lang="en-US" sz="2400" dirty="0">
                <a:solidFill>
                  <a:srgbClr val="1B1B1B"/>
                </a:solidFill>
                <a:latin typeface="Manrope" pitchFamily="34" charset="0"/>
                <a:ea typeface="Manrope" pitchFamily="34" charset="-122"/>
                <a:cs typeface="Manrope" pitchFamily="34" charset="-120"/>
              </a:rPr>
              <a:t>Jaringan titik ke titik</a:t>
            </a:r>
            <a:endParaRPr lang="en-US" sz="2400" dirty="0"/>
          </a:p>
        </p:txBody>
      </p:sp>
      <p:sp>
        <p:nvSpPr>
          <p:cNvPr id="36" name="Text 34"/>
          <p:cNvSpPr txBox="1"/>
          <p:nvPr/>
        </p:nvSpPr>
        <p:spPr>
          <a:xfrm>
            <a:off x="6309360" y="4709160"/>
            <a:ext cx="3291840" cy="1097280"/>
          </a:xfrm>
          <a:prstGeom prst="rect">
            <a:avLst/>
          </a:prstGeom>
          <a:noFill/>
          <a:ln/>
        </p:spPr>
        <p:txBody>
          <a:bodyPr wrap="square" lIns="0" tIns="0" rIns="0" bIns="0" rtlCol="0" anchor="t"/>
          <a:lstStyle/>
          <a:p>
            <a:pPr indent="0" marL="0">
              <a:buNone/>
            </a:pPr>
            <a:r>
              <a:rPr lang="en-US" sz="2400" b="1" dirty="0">
                <a:solidFill>
                  <a:srgbClr val="1B1B1B"/>
                </a:solidFill>
                <a:latin typeface="Manrope" pitchFamily="34" charset="0"/>
                <a:ea typeface="Manrope" pitchFamily="34" charset="-122"/>
                <a:cs typeface="Manrope" pitchFamily="34" charset="-120"/>
              </a:rPr>
              <a:t>Yang hilang justru inti model LCC klasik.</a:t>
            </a:r>
            <a:endParaRPr lang="en-US" sz="2400" dirty="0"/>
          </a:p>
        </p:txBody>
      </p:sp>
      <p:pic>
        <p:nvPicPr>
          <p:cNvPr id="37" name="Image 0" descr="/tmp/claude-0/-home-user-Dom-Manipulation/a70c4110-05d8-512e-ae11-d08dee025a7a/scratchpad/img/bw_groundcrew.png">    </p:cNvPr>
          <p:cNvPicPr>
            <a:picLocks noChangeAspect="1"/>
          </p:cNvPicPr>
          <p:nvPr/>
        </p:nvPicPr>
        <p:blipFill>
          <a:blip r:embed="rId1"/>
          <a:stretch>
            <a:fillRect/>
          </a:stretch>
        </p:blipFill>
        <p:spPr>
          <a:xfrm>
            <a:off x="9326880" y="4297680"/>
            <a:ext cx="2468880" cy="1691640"/>
          </a:xfrm>
          <a:prstGeom prst="rect">
            <a:avLst/>
          </a:prstGeom>
        </p:spPr>
      </p:pic>
      <p:sp>
        <p:nvSpPr>
          <p:cNvPr id="38" name="Text 35"/>
          <p:cNvSpPr txBox="1"/>
          <p:nvPr/>
        </p:nvSpPr>
        <p:spPr>
          <a:xfrm>
            <a:off x="548640" y="6172200"/>
            <a:ext cx="10424160" cy="457200"/>
          </a:xfrm>
          <a:prstGeom prst="rect">
            <a:avLst/>
          </a:prstGeom>
          <a:noFill/>
          <a:ln/>
        </p:spPr>
        <p:txBody>
          <a:bodyPr wrap="square" lIns="0" tIns="0" rIns="0" bIns="0" rtlCol="0" anchor="ctr"/>
          <a:lstStyle/>
          <a:p>
            <a:pPr indent="0" marL="0">
              <a:buNone/>
            </a:pPr>
            <a:r>
              <a:rPr lang="en-US" sz="1200" dirty="0">
                <a:solidFill>
                  <a:srgbClr val="E63E2C"/>
                </a:solidFill>
                <a:latin typeface="Manrope" pitchFamily="34" charset="0"/>
                <a:ea typeface="Manrope" pitchFamily="34" charset="-122"/>
                <a:cs typeface="Manrope" pitchFamily="34" charset="-120"/>
              </a:rPr>
              <a:t>■  </a:t>
            </a:r>
            <a:pPr indent="0" marL="0">
              <a:buNone/>
            </a:pPr>
            <a:r>
              <a:rPr lang="en-US" sz="1800" b="1" dirty="0">
                <a:solidFill>
                  <a:srgbClr val="1B1B1B"/>
                </a:solidFill>
                <a:latin typeface="Manrope" pitchFamily="34" charset="0"/>
                <a:ea typeface="Manrope" pitchFamily="34" charset="-122"/>
                <a:cs typeface="Manrope" pitchFamily="34" charset="-120"/>
              </a:rPr>
              <a:t>Selanjutnya  </a:t>
            </a:r>
            <a:pPr indent="0" marL="0">
              <a:buNone/>
            </a:pPr>
            <a:r>
              <a:rPr lang="en-US" sz="1800" dirty="0">
                <a:solidFill>
                  <a:srgbClr val="4A4A4A"/>
                </a:solidFill>
                <a:latin typeface="Manrope" pitchFamily="34" charset="0"/>
                <a:ea typeface="Manrope" pitchFamily="34" charset="-122"/>
                <a:cs typeface="Manrope" pitchFamily="34" charset="-120"/>
              </a:rPr>
              <a:t>Yang terbawa bersifat organisasional. Apa kata angka di rute KL London?</a:t>
            </a:r>
            <a:endParaRPr lang="en-US" sz="1800" dirty="0"/>
          </a:p>
        </p:txBody>
      </p:sp>
      <p:sp>
        <p:nvSpPr>
          <p:cNvPr id="39" name="Text 36"/>
          <p:cNvSpPr txBox="1"/>
          <p:nvPr/>
        </p:nvSpPr>
        <p:spPr>
          <a:xfrm>
            <a:off x="11247120" y="6355080"/>
            <a:ext cx="548640" cy="320040"/>
          </a:xfrm>
          <a:prstGeom prst="rect">
            <a:avLst/>
          </a:prstGeom>
          <a:noFill/>
          <a:ln/>
        </p:spPr>
        <p:txBody>
          <a:bodyPr wrap="square" lIns="0" tIns="0" rIns="0" bIns="0" rtlCol="0" anchor="ctr"/>
          <a:lstStyle/>
          <a:p>
            <a:pPr algn="r" indent="0" marL="0">
              <a:buNone/>
            </a:pPr>
            <a:r>
              <a:rPr lang="en-US" sz="1200" b="1" dirty="0">
                <a:solidFill>
                  <a:srgbClr val="1B1B1B"/>
                </a:solidFill>
                <a:latin typeface="Manrope" pitchFamily="34" charset="0"/>
                <a:ea typeface="Manrope" pitchFamily="34" charset="-122"/>
                <a:cs typeface="Manrope"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2CF"/>
        </a:solidFill>
      </p:bgPr>
    </p:bg>
    <p:spTree>
      <p:nvGrpSpPr>
        <p:cNvPr id="1" name=""/>
        <p:cNvGrpSpPr/>
        <p:nvPr/>
      </p:nvGrpSpPr>
      <p:grpSpPr>
        <a:xfrm>
          <a:off x="0" y="0"/>
          <a:ext cx="0" cy="0"/>
          <a:chOff x="0" y="0"/>
          <a:chExt cx="0" cy="0"/>
        </a:xfrm>
      </p:grpSpPr>
      <p:sp>
        <p:nvSpPr>
          <p:cNvPr id="2" name="Text 0"/>
          <p:cNvSpPr txBox="1"/>
          <p:nvPr/>
        </p:nvSpPr>
        <p:spPr>
          <a:xfrm>
            <a:off x="548640" y="411480"/>
            <a:ext cx="10515600" cy="868680"/>
          </a:xfrm>
          <a:prstGeom prst="rect">
            <a:avLst/>
          </a:prstGeom>
          <a:noFill/>
          <a:ln/>
        </p:spPr>
        <p:txBody>
          <a:bodyPr wrap="square" lIns="0" tIns="0" rIns="0" bIns="0" rtlCol="0" anchor="ctr"/>
          <a:lstStyle/>
          <a:p>
            <a:pPr indent="0" marL="0">
              <a:buNone/>
            </a:pPr>
            <a:r>
              <a:rPr lang="en-US" sz="5400" dirty="0">
                <a:solidFill>
                  <a:srgbClr val="1B1B1B"/>
                </a:solidFill>
                <a:latin typeface="Bebas Neue" pitchFamily="34" charset="0"/>
                <a:ea typeface="Bebas Neue" pitchFamily="34" charset="-122"/>
                <a:cs typeface="Bebas Neue" pitchFamily="34" charset="-120"/>
              </a:rPr>
              <a:t>EVIDENCE FROM KL TO LONDON</a:t>
            </a:r>
            <a:endParaRPr lang="en-US" sz="5400" dirty="0"/>
          </a:p>
        </p:txBody>
      </p:sp>
      <p:sp>
        <p:nvSpPr>
          <p:cNvPr id="3" name="Text 1"/>
          <p:cNvSpPr txBox="1"/>
          <p:nvPr/>
        </p:nvSpPr>
        <p:spPr>
          <a:xfrm>
            <a:off x="548640" y="1298448"/>
            <a:ext cx="10058400" cy="320040"/>
          </a:xfrm>
          <a:prstGeom prst="rect">
            <a:avLst/>
          </a:prstGeom>
          <a:noFill/>
          <a:ln/>
        </p:spPr>
        <p:txBody>
          <a:bodyPr wrap="square" lIns="0" tIns="0" rIns="0" bIns="0" rtlCol="0" anchor="ctr"/>
          <a:lstStyle/>
          <a:p>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PROBLEM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EXTERNAL ENVIRONMENT     </a:t>
            </a:r>
            <a:pPr indent="0" marL="0">
              <a:buNone/>
            </a:pPr>
            <a:r>
              <a:rPr lang="en-US" sz="1200" spc="150" kern="0" dirty="0">
                <a:solidFill>
                  <a:srgbClr val="F4C430"/>
                </a:solidFill>
                <a:latin typeface="Manrope" pitchFamily="34" charset="0"/>
                <a:ea typeface="Manrope" pitchFamily="34" charset="-122"/>
                <a:cs typeface="Manrope" pitchFamily="34" charset="-120"/>
              </a:rPr>
              <a:t>■ </a:t>
            </a:r>
            <a:pPr indent="0" marL="0">
              <a:buNone/>
            </a:pPr>
            <a:r>
              <a:rPr lang="en-US" sz="1300" b="1" spc="150" kern="0" dirty="0">
                <a:solidFill>
                  <a:srgbClr val="1B1B1B"/>
                </a:solidFill>
                <a:latin typeface="Manrope" pitchFamily="34" charset="0"/>
                <a:ea typeface="Manrope" pitchFamily="34" charset="-122"/>
                <a:cs typeface="Manrope" pitchFamily="34" charset="-120"/>
              </a:rPr>
              <a:t>COST POSITION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CHOICE     </a:t>
            </a:r>
            <a:endParaRPr lang="en-US" sz="1300" dirty="0"/>
          </a:p>
        </p:txBody>
      </p:sp>
      <p:sp>
        <p:nvSpPr>
          <p:cNvPr id="4" name="Shape 2"/>
          <p:cNvSpPr/>
          <p:nvPr/>
        </p:nvSpPr>
        <p:spPr>
          <a:xfrm>
            <a:off x="548640" y="1783080"/>
            <a:ext cx="6583680" cy="4160520"/>
          </a:xfrm>
          <a:prstGeom prst="rect">
            <a:avLst/>
          </a:prstGeom>
          <a:solidFill>
            <a:srgbClr val="FFFFFF"/>
          </a:solidFill>
          <a:ln w="12700">
            <a:solidFill>
              <a:srgbClr val="FFFFFF"/>
            </a:solidFill>
            <a:prstDash val="solid"/>
          </a:ln>
        </p:spPr>
      </p:sp>
      <p:graphicFrame>
        <p:nvGraphicFramePr>
          <p:cNvPr id="5" name="Chart 0" descr=""/>
          <p:cNvGraphicFramePr/>
          <p:nvPr/>
        </p:nvGraphicFramePr>
        <p:xfrm>
          <a:off x="731520" y="1874520"/>
          <a:ext cx="6217920" cy="39776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9692640" y="1463040"/>
            <a:ext cx="2103120" cy="2103120"/>
          </a:xfrm>
          <a:prstGeom prst="ellipse">
            <a:avLst/>
          </a:prstGeom>
          <a:solidFill>
            <a:srgbClr val="E63E2C"/>
          </a:solidFill>
          <a:ln w="12700">
            <a:solidFill>
              <a:srgbClr val="E63E2C"/>
            </a:solidFill>
            <a:prstDash val="solid"/>
          </a:ln>
        </p:spPr>
      </p:sp>
      <p:pic>
        <p:nvPicPr>
          <p:cNvPr id="7" name="Image 0" descr="/tmp/claude-0/-home-user-Dom-Manipulation/a70c4110-05d8-512e-ae11-d08dee025a7a/scratchpad/img/bw_bigben.png">    </p:cNvPr>
          <p:cNvPicPr>
            <a:picLocks noChangeAspect="1"/>
          </p:cNvPicPr>
          <p:nvPr/>
        </p:nvPicPr>
        <p:blipFill>
          <a:blip r:embed="rId2"/>
          <a:stretch>
            <a:fillRect/>
          </a:stretch>
        </p:blipFill>
        <p:spPr>
          <a:xfrm>
            <a:off x="10104120" y="1783080"/>
            <a:ext cx="1600200" cy="4160520"/>
          </a:xfrm>
          <a:prstGeom prst="rect">
            <a:avLst/>
          </a:prstGeom>
        </p:spPr>
      </p:pic>
      <p:sp>
        <p:nvSpPr>
          <p:cNvPr id="8" name="Text 4"/>
          <p:cNvSpPr txBox="1"/>
          <p:nvPr/>
        </p:nvSpPr>
        <p:spPr>
          <a:xfrm>
            <a:off x="7498080" y="2926080"/>
            <a:ext cx="2560320" cy="822960"/>
          </a:xfrm>
          <a:prstGeom prst="rect">
            <a:avLst/>
          </a:prstGeom>
          <a:noFill/>
          <a:ln/>
        </p:spPr>
        <p:txBody>
          <a:bodyPr wrap="square" lIns="0" tIns="0" rIns="0" bIns="0" rtlCol="0" anchor="ctr"/>
          <a:lstStyle/>
          <a:p>
            <a:pPr indent="0" marL="0">
              <a:buNone/>
            </a:pPr>
            <a:r>
              <a:rPr lang="en-US" sz="5600" dirty="0">
                <a:solidFill>
                  <a:srgbClr val="2C7BB8"/>
                </a:solidFill>
                <a:latin typeface="Bebas Neue" pitchFamily="34" charset="0"/>
                <a:ea typeface="Bebas Neue" pitchFamily="34" charset="-122"/>
                <a:cs typeface="Bebas Neue" pitchFamily="34" charset="-120"/>
              </a:rPr>
              <a:t>36,5%</a:t>
            </a:r>
            <a:endParaRPr lang="en-US" sz="5600" dirty="0"/>
          </a:p>
        </p:txBody>
      </p:sp>
      <p:sp>
        <p:nvSpPr>
          <p:cNvPr id="9" name="Text 5"/>
          <p:cNvSpPr txBox="1"/>
          <p:nvPr/>
        </p:nvSpPr>
        <p:spPr>
          <a:xfrm>
            <a:off x="7498080" y="3749040"/>
            <a:ext cx="2651760" cy="640080"/>
          </a:xfrm>
          <a:prstGeom prst="rect">
            <a:avLst/>
          </a:prstGeom>
          <a:noFill/>
          <a:ln/>
        </p:spPr>
        <p:txBody>
          <a:bodyPr wrap="square" lIns="0" tIns="0" rIns="0" bIns="0" rtlCol="0" anchor="t"/>
          <a:lstStyle/>
          <a:p>
            <a:pPr indent="0" marL="0">
              <a:buNone/>
            </a:pPr>
            <a:r>
              <a:rPr lang="en-US" sz="2000" dirty="0">
                <a:solidFill>
                  <a:srgbClr val="4A4A4A"/>
                </a:solidFill>
                <a:latin typeface="Manrope" pitchFamily="34" charset="0"/>
                <a:ea typeface="Manrope" pitchFamily="34" charset="-122"/>
                <a:cs typeface="Manrope" pitchFamily="34" charset="-120"/>
              </a:rPr>
              <a:t>lebih murah dari pesaing</a:t>
            </a:r>
            <a:endParaRPr lang="en-US" sz="2000" dirty="0"/>
          </a:p>
        </p:txBody>
      </p:sp>
      <p:sp>
        <p:nvSpPr>
          <p:cNvPr id="10" name="Text 6"/>
          <p:cNvSpPr txBox="1"/>
          <p:nvPr/>
        </p:nvSpPr>
        <p:spPr>
          <a:xfrm>
            <a:off x="7498080" y="4434840"/>
            <a:ext cx="2560320" cy="822960"/>
          </a:xfrm>
          <a:prstGeom prst="rect">
            <a:avLst/>
          </a:prstGeom>
          <a:noFill/>
          <a:ln/>
        </p:spPr>
        <p:txBody>
          <a:bodyPr wrap="square" lIns="0" tIns="0" rIns="0" bIns="0" rtlCol="0" anchor="ctr"/>
          <a:lstStyle/>
          <a:p>
            <a:pPr indent="0" marL="0">
              <a:buNone/>
            </a:pPr>
            <a:r>
              <a:rPr lang="en-US" sz="5600" dirty="0">
                <a:solidFill>
                  <a:srgbClr val="1B1B1B"/>
                </a:solidFill>
                <a:latin typeface="Bebas Neue" pitchFamily="34" charset="0"/>
                <a:ea typeface="Bebas Neue" pitchFamily="34" charset="-122"/>
                <a:cs typeface="Bebas Neue" pitchFamily="34" charset="-120"/>
              </a:rPr>
              <a:t>&gt; 90%</a:t>
            </a:r>
            <a:endParaRPr lang="en-US" sz="5600" dirty="0"/>
          </a:p>
        </p:txBody>
      </p:sp>
      <p:sp>
        <p:nvSpPr>
          <p:cNvPr id="11" name="Text 7"/>
          <p:cNvSpPr txBox="1"/>
          <p:nvPr/>
        </p:nvSpPr>
        <p:spPr>
          <a:xfrm>
            <a:off x="7498080" y="5257800"/>
            <a:ext cx="2651760" cy="640080"/>
          </a:xfrm>
          <a:prstGeom prst="rect">
            <a:avLst/>
          </a:prstGeom>
          <a:noFill/>
          <a:ln/>
        </p:spPr>
        <p:txBody>
          <a:bodyPr wrap="square" lIns="0" tIns="0" rIns="0" bIns="0" rtlCol="0" anchor="t"/>
          <a:lstStyle/>
          <a:p>
            <a:pPr indent="0" marL="0">
              <a:buNone/>
            </a:pPr>
            <a:r>
              <a:rPr lang="en-US" sz="2000" dirty="0">
                <a:solidFill>
                  <a:srgbClr val="4A4A4A"/>
                </a:solidFill>
                <a:latin typeface="Manrope" pitchFamily="34" charset="0"/>
                <a:ea typeface="Manrope" pitchFamily="34" charset="-122"/>
                <a:cs typeface="Manrope" pitchFamily="34" charset="-120"/>
              </a:rPr>
              <a:t>load factor AirAsia X</a:t>
            </a:r>
            <a:endParaRPr lang="en-US" sz="2000" dirty="0"/>
          </a:p>
        </p:txBody>
      </p:sp>
      <p:sp>
        <p:nvSpPr>
          <p:cNvPr id="12" name="Text 8"/>
          <p:cNvSpPr txBox="1"/>
          <p:nvPr/>
        </p:nvSpPr>
        <p:spPr>
          <a:xfrm>
            <a:off x="548640" y="6172200"/>
            <a:ext cx="10424160" cy="457200"/>
          </a:xfrm>
          <a:prstGeom prst="rect">
            <a:avLst/>
          </a:prstGeom>
          <a:noFill/>
          <a:ln/>
        </p:spPr>
        <p:txBody>
          <a:bodyPr wrap="square" lIns="0" tIns="0" rIns="0" bIns="0" rtlCol="0" anchor="ctr"/>
          <a:lstStyle/>
          <a:p>
            <a:pPr indent="0" marL="0">
              <a:buNone/>
            </a:pPr>
            <a:r>
              <a:rPr lang="en-US" sz="1200" dirty="0">
                <a:solidFill>
                  <a:srgbClr val="E63E2C"/>
                </a:solidFill>
                <a:latin typeface="Manrope" pitchFamily="34" charset="0"/>
                <a:ea typeface="Manrope" pitchFamily="34" charset="-122"/>
                <a:cs typeface="Manrope" pitchFamily="34" charset="-120"/>
              </a:rPr>
              <a:t>■  </a:t>
            </a:r>
            <a:pPr indent="0" marL="0">
              <a:buNone/>
            </a:pPr>
            <a:r>
              <a:rPr lang="en-US" sz="1800" b="1" dirty="0">
                <a:solidFill>
                  <a:srgbClr val="1B1B1B"/>
                </a:solidFill>
                <a:latin typeface="Manrope" pitchFamily="34" charset="0"/>
                <a:ea typeface="Manrope" pitchFamily="34" charset="-122"/>
                <a:cs typeface="Manrope" pitchFamily="34" charset="-120"/>
              </a:rPr>
              <a:t>Selanjutnya  </a:t>
            </a:r>
            <a:pPr indent="0" marL="0">
              <a:buNone/>
            </a:pPr>
            <a:r>
              <a:rPr lang="en-US" sz="1800" dirty="0">
                <a:solidFill>
                  <a:srgbClr val="4A4A4A"/>
                </a:solidFill>
                <a:latin typeface="Manrope" pitchFamily="34" charset="0"/>
                <a:ea typeface="Manrope" pitchFamily="34" charset="-122"/>
                <a:cs typeface="Manrope" pitchFamily="34" charset="-120"/>
              </a:rPr>
              <a:t>Selisih nyata, tetapi lebih tipis: tabel belum memuat kru, perawatan, katering.</a:t>
            </a:r>
            <a:endParaRPr lang="en-US" sz="1800" dirty="0"/>
          </a:p>
        </p:txBody>
      </p:sp>
      <p:sp>
        <p:nvSpPr>
          <p:cNvPr id="13" name="Text 9"/>
          <p:cNvSpPr txBox="1"/>
          <p:nvPr/>
        </p:nvSpPr>
        <p:spPr>
          <a:xfrm>
            <a:off x="11247120" y="6355080"/>
            <a:ext cx="548640" cy="320040"/>
          </a:xfrm>
          <a:prstGeom prst="rect">
            <a:avLst/>
          </a:prstGeom>
          <a:noFill/>
          <a:ln/>
        </p:spPr>
        <p:txBody>
          <a:bodyPr wrap="square" lIns="0" tIns="0" rIns="0" bIns="0" rtlCol="0" anchor="ctr"/>
          <a:lstStyle/>
          <a:p>
            <a:pPr algn="r" indent="0" marL="0">
              <a:buNone/>
            </a:pPr>
            <a:r>
              <a:rPr lang="en-US" sz="1200" b="1" dirty="0">
                <a:solidFill>
                  <a:srgbClr val="1B1B1B"/>
                </a:solidFill>
                <a:latin typeface="Manrope" pitchFamily="34" charset="0"/>
                <a:ea typeface="Manrope" pitchFamily="34" charset="-122"/>
                <a:cs typeface="Manrope"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2CF"/>
        </a:solidFill>
      </p:bgPr>
    </p:bg>
    <p:spTree>
      <p:nvGrpSpPr>
        <p:cNvPr id="1" name=""/>
        <p:cNvGrpSpPr/>
        <p:nvPr/>
      </p:nvGrpSpPr>
      <p:grpSpPr>
        <a:xfrm>
          <a:off x="0" y="0"/>
          <a:ext cx="0" cy="0"/>
          <a:chOff x="0" y="0"/>
          <a:chExt cx="0" cy="0"/>
        </a:xfrm>
      </p:grpSpPr>
      <p:sp>
        <p:nvSpPr>
          <p:cNvPr id="2" name="Shape 0"/>
          <p:cNvSpPr/>
          <p:nvPr/>
        </p:nvSpPr>
        <p:spPr>
          <a:xfrm>
            <a:off x="548640" y="411480"/>
            <a:ext cx="3840480" cy="868680"/>
          </a:xfrm>
          <a:prstGeom prst="rect">
            <a:avLst/>
          </a:prstGeom>
          <a:solidFill>
            <a:srgbClr val="1B1B1B"/>
          </a:solidFill>
          <a:ln w="12700">
            <a:solidFill>
              <a:srgbClr val="1B1B1B"/>
            </a:solidFill>
            <a:prstDash val="solid"/>
          </a:ln>
        </p:spPr>
      </p:sp>
      <p:sp>
        <p:nvSpPr>
          <p:cNvPr id="3" name="Text 1"/>
          <p:cNvSpPr txBox="1"/>
          <p:nvPr/>
        </p:nvSpPr>
        <p:spPr>
          <a:xfrm>
            <a:off x="548640" y="411480"/>
            <a:ext cx="3840480" cy="868680"/>
          </a:xfrm>
          <a:prstGeom prst="rect">
            <a:avLst/>
          </a:prstGeom>
          <a:noFill/>
          <a:ln/>
        </p:spPr>
        <p:txBody>
          <a:bodyPr wrap="square" lIns="0" tIns="3810" rIns="3810" bIns="0" rtlCol="0" anchor="ctr"/>
          <a:lstStyle/>
          <a:p>
            <a:pPr indent="0" marL="0">
              <a:buNone/>
            </a:pPr>
            <a:r>
              <a:rPr lang="en-US" sz="4400" dirty="0">
                <a:solidFill>
                  <a:srgbClr val="FFFFFF"/>
                </a:solidFill>
                <a:latin typeface="Bebas Neue" pitchFamily="34" charset="0"/>
                <a:ea typeface="Bebas Neue" pitchFamily="34" charset="-122"/>
                <a:cs typeface="Bebas Neue" pitchFamily="34" charset="-120"/>
              </a:rPr>
              <a:t>KEY ISSUES</a:t>
            </a:r>
            <a:endParaRPr lang="en-US" sz="4400" dirty="0"/>
          </a:p>
        </p:txBody>
      </p:sp>
      <p:sp>
        <p:nvSpPr>
          <p:cNvPr id="4" name="Text 2"/>
          <p:cNvSpPr txBox="1"/>
          <p:nvPr/>
        </p:nvSpPr>
        <p:spPr>
          <a:xfrm>
            <a:off x="548640" y="1298448"/>
            <a:ext cx="10058400" cy="320040"/>
          </a:xfrm>
          <a:prstGeom prst="rect">
            <a:avLst/>
          </a:prstGeom>
          <a:noFill/>
          <a:ln/>
        </p:spPr>
        <p:txBody>
          <a:bodyPr wrap="square" lIns="0" tIns="0" rIns="0" bIns="0" rtlCol="0" anchor="ctr"/>
          <a:lstStyle/>
          <a:p>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PROBLEM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EXTERNAL ENVIRONMENT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COST POSITION     </a:t>
            </a:r>
            <a:pPr indent="0" marL="0">
              <a:buNone/>
            </a:pPr>
            <a:r>
              <a:rPr lang="en-US" sz="1200" spc="150" kern="0" dirty="0">
                <a:solidFill>
                  <a:srgbClr val="1B1B1B"/>
                </a:solidFill>
                <a:latin typeface="Manrope" pitchFamily="34" charset="0"/>
                <a:ea typeface="Manrope" pitchFamily="34" charset="-122"/>
                <a:cs typeface="Manrope" pitchFamily="34" charset="-120"/>
              </a:rPr>
              <a:t>■ </a:t>
            </a:r>
            <a:pPr indent="0" marL="0">
              <a:buNone/>
            </a:pPr>
            <a:r>
              <a:rPr lang="en-US" sz="1300" b="1" spc="150" kern="0" dirty="0">
                <a:solidFill>
                  <a:srgbClr val="1B1B1B"/>
                </a:solidFill>
                <a:latin typeface="Manrope" pitchFamily="34" charset="0"/>
                <a:ea typeface="Manrope" pitchFamily="34" charset="-122"/>
                <a:cs typeface="Manrope" pitchFamily="34" charset="-120"/>
              </a:rPr>
              <a:t>CHOICE     </a:t>
            </a:r>
            <a:endParaRPr lang="en-US" sz="1300" dirty="0"/>
          </a:p>
        </p:txBody>
      </p:sp>
      <p:sp>
        <p:nvSpPr>
          <p:cNvPr id="5" name="Shape 3"/>
          <p:cNvSpPr/>
          <p:nvPr/>
        </p:nvSpPr>
        <p:spPr>
          <a:xfrm>
            <a:off x="548640" y="1828800"/>
            <a:ext cx="548640" cy="548640"/>
          </a:xfrm>
          <a:prstGeom prst="ellipse">
            <a:avLst/>
          </a:prstGeom>
          <a:solidFill>
            <a:srgbClr val="E63E2C"/>
          </a:solidFill>
          <a:ln w="12700">
            <a:solidFill>
              <a:srgbClr val="E63E2C"/>
            </a:solidFill>
            <a:prstDash val="solid"/>
          </a:ln>
        </p:spPr>
      </p:sp>
      <p:sp>
        <p:nvSpPr>
          <p:cNvPr id="6" name="Text 4"/>
          <p:cNvSpPr txBox="1"/>
          <p:nvPr/>
        </p:nvSpPr>
        <p:spPr>
          <a:xfrm>
            <a:off x="548640" y="1828800"/>
            <a:ext cx="548640" cy="548640"/>
          </a:xfrm>
          <a:prstGeom prst="rect">
            <a:avLst/>
          </a:prstGeom>
          <a:noFill/>
          <a:ln/>
        </p:spPr>
        <p:txBody>
          <a:bodyPr wrap="square" lIns="0" tIns="0" rIns="0" bIns="0" rtlCol="0" anchor="ctr"/>
          <a:lstStyle/>
          <a:p>
            <a:pPr algn="ctr" indent="0" marL="0">
              <a:buNone/>
            </a:pPr>
            <a:r>
              <a:rPr lang="en-US" sz="2640" dirty="0">
                <a:solidFill>
                  <a:srgbClr val="FFFFFF"/>
                </a:solidFill>
                <a:latin typeface="Bebas Neue" pitchFamily="34" charset="0"/>
                <a:ea typeface="Bebas Neue" pitchFamily="34" charset="-122"/>
                <a:cs typeface="Bebas Neue" pitchFamily="34" charset="-120"/>
              </a:rPr>
              <a:t>1</a:t>
            </a:r>
            <a:endParaRPr lang="en-US" sz="2640" dirty="0"/>
          </a:p>
        </p:txBody>
      </p:sp>
      <p:sp>
        <p:nvSpPr>
          <p:cNvPr id="7" name="Text 5"/>
          <p:cNvSpPr txBox="1"/>
          <p:nvPr/>
        </p:nvSpPr>
        <p:spPr>
          <a:xfrm>
            <a:off x="1280160" y="1783080"/>
            <a:ext cx="10424160" cy="685800"/>
          </a:xfrm>
          <a:prstGeom prst="rect">
            <a:avLst/>
          </a:prstGeom>
          <a:noFill/>
          <a:ln/>
        </p:spPr>
        <p:txBody>
          <a:bodyPr wrap="square" lIns="0" tIns="0" rIns="0" bIns="0" rtlCol="0" anchor="ctr"/>
          <a:lstStyle/>
          <a:p>
            <a:pPr indent="0" marL="0">
              <a:buNone/>
            </a:pPr>
            <a:r>
              <a:rPr lang="en-US" sz="2400" dirty="0">
                <a:solidFill>
                  <a:srgbClr val="1B1B1B"/>
                </a:solidFill>
                <a:latin typeface="Manrope" pitchFamily="34" charset="0"/>
                <a:ea typeface="Manrope" pitchFamily="34" charset="-122"/>
                <a:cs typeface="Manrope" pitchFamily="34" charset="-120"/>
              </a:rPr>
              <a:t>Apakah pasar LCC jarak jauh cukup besar dan benar-benar kurang terlayani?</a:t>
            </a:r>
            <a:endParaRPr lang="en-US" sz="2400" dirty="0"/>
          </a:p>
        </p:txBody>
      </p:sp>
      <p:sp>
        <p:nvSpPr>
          <p:cNvPr id="8" name="Shape 6"/>
          <p:cNvSpPr/>
          <p:nvPr/>
        </p:nvSpPr>
        <p:spPr>
          <a:xfrm>
            <a:off x="548640" y="2542032"/>
            <a:ext cx="548640" cy="548640"/>
          </a:xfrm>
          <a:prstGeom prst="ellipse">
            <a:avLst/>
          </a:prstGeom>
          <a:solidFill>
            <a:srgbClr val="2C7BB8"/>
          </a:solidFill>
          <a:ln w="12700">
            <a:solidFill>
              <a:srgbClr val="2C7BB8"/>
            </a:solidFill>
            <a:prstDash val="solid"/>
          </a:ln>
        </p:spPr>
      </p:sp>
      <p:sp>
        <p:nvSpPr>
          <p:cNvPr id="9" name="Text 7"/>
          <p:cNvSpPr txBox="1"/>
          <p:nvPr/>
        </p:nvSpPr>
        <p:spPr>
          <a:xfrm>
            <a:off x="548640" y="2542032"/>
            <a:ext cx="548640" cy="548640"/>
          </a:xfrm>
          <a:prstGeom prst="rect">
            <a:avLst/>
          </a:prstGeom>
          <a:noFill/>
          <a:ln/>
        </p:spPr>
        <p:txBody>
          <a:bodyPr wrap="square" lIns="0" tIns="0" rIns="0" bIns="0" rtlCol="0" anchor="ctr"/>
          <a:lstStyle/>
          <a:p>
            <a:pPr algn="ctr" indent="0" marL="0">
              <a:buNone/>
            </a:pPr>
            <a:r>
              <a:rPr lang="en-US" sz="2640" dirty="0">
                <a:solidFill>
                  <a:srgbClr val="FFFFFF"/>
                </a:solidFill>
                <a:latin typeface="Bebas Neue" pitchFamily="34" charset="0"/>
                <a:ea typeface="Bebas Neue" pitchFamily="34" charset="-122"/>
                <a:cs typeface="Bebas Neue" pitchFamily="34" charset="-120"/>
              </a:rPr>
              <a:t>2</a:t>
            </a:r>
            <a:endParaRPr lang="en-US" sz="2640" dirty="0"/>
          </a:p>
        </p:txBody>
      </p:sp>
      <p:sp>
        <p:nvSpPr>
          <p:cNvPr id="10" name="Text 8"/>
          <p:cNvSpPr txBox="1"/>
          <p:nvPr/>
        </p:nvSpPr>
        <p:spPr>
          <a:xfrm>
            <a:off x="1280160" y="2496312"/>
            <a:ext cx="10424160" cy="685800"/>
          </a:xfrm>
          <a:prstGeom prst="rect">
            <a:avLst/>
          </a:prstGeom>
          <a:noFill/>
          <a:ln/>
        </p:spPr>
        <p:txBody>
          <a:bodyPr wrap="square" lIns="0" tIns="0" rIns="0" bIns="0" rtlCol="0" anchor="ctr"/>
          <a:lstStyle/>
          <a:p>
            <a:pPr indent="0" marL="0">
              <a:buNone/>
            </a:pPr>
            <a:r>
              <a:rPr lang="en-US" sz="2400" dirty="0">
                <a:solidFill>
                  <a:srgbClr val="1B1B1B"/>
                </a:solidFill>
                <a:latin typeface="Manrope" pitchFamily="34" charset="0"/>
                <a:ea typeface="Manrope" pitchFamily="34" charset="-122"/>
                <a:cs typeface="Manrope" pitchFamily="34" charset="-120"/>
              </a:rPr>
              <a:t>Bagaimana network carriers akan membalas?</a:t>
            </a:r>
            <a:endParaRPr lang="en-US" sz="2400" dirty="0"/>
          </a:p>
        </p:txBody>
      </p:sp>
      <p:sp>
        <p:nvSpPr>
          <p:cNvPr id="11" name="Shape 9"/>
          <p:cNvSpPr/>
          <p:nvPr/>
        </p:nvSpPr>
        <p:spPr>
          <a:xfrm>
            <a:off x="548640" y="3255264"/>
            <a:ext cx="548640" cy="548640"/>
          </a:xfrm>
          <a:prstGeom prst="ellipse">
            <a:avLst/>
          </a:prstGeom>
          <a:solidFill>
            <a:srgbClr val="F4C430"/>
          </a:solidFill>
          <a:ln w="12700">
            <a:solidFill>
              <a:srgbClr val="F4C430"/>
            </a:solidFill>
            <a:prstDash val="solid"/>
          </a:ln>
        </p:spPr>
      </p:sp>
      <p:sp>
        <p:nvSpPr>
          <p:cNvPr id="12" name="Text 10"/>
          <p:cNvSpPr txBox="1"/>
          <p:nvPr/>
        </p:nvSpPr>
        <p:spPr>
          <a:xfrm>
            <a:off x="548640" y="3255264"/>
            <a:ext cx="548640" cy="548640"/>
          </a:xfrm>
          <a:prstGeom prst="rect">
            <a:avLst/>
          </a:prstGeom>
          <a:noFill/>
          <a:ln/>
        </p:spPr>
        <p:txBody>
          <a:bodyPr wrap="square" lIns="0" tIns="0" rIns="0" bIns="0" rtlCol="0" anchor="ctr"/>
          <a:lstStyle/>
          <a:p>
            <a:pPr algn="ctr" indent="0" marL="0">
              <a:buNone/>
            </a:pPr>
            <a:r>
              <a:rPr lang="en-US" sz="2640" dirty="0">
                <a:solidFill>
                  <a:srgbClr val="1B1B1B"/>
                </a:solidFill>
                <a:latin typeface="Bebas Neue" pitchFamily="34" charset="0"/>
                <a:ea typeface="Bebas Neue" pitchFamily="34" charset="-122"/>
                <a:cs typeface="Bebas Neue" pitchFamily="34" charset="-120"/>
              </a:rPr>
              <a:t>3</a:t>
            </a:r>
            <a:endParaRPr lang="en-US" sz="2640" dirty="0"/>
          </a:p>
        </p:txBody>
      </p:sp>
      <p:sp>
        <p:nvSpPr>
          <p:cNvPr id="13" name="Text 11"/>
          <p:cNvSpPr txBox="1"/>
          <p:nvPr/>
        </p:nvSpPr>
        <p:spPr>
          <a:xfrm>
            <a:off x="1280160" y="3209544"/>
            <a:ext cx="10424160" cy="685800"/>
          </a:xfrm>
          <a:prstGeom prst="rect">
            <a:avLst/>
          </a:prstGeom>
          <a:noFill/>
          <a:ln/>
        </p:spPr>
        <p:txBody>
          <a:bodyPr wrap="square" lIns="0" tIns="0" rIns="0" bIns="0" rtlCol="0" anchor="ctr"/>
          <a:lstStyle/>
          <a:p>
            <a:pPr indent="0" marL="0">
              <a:buNone/>
            </a:pPr>
            <a:r>
              <a:rPr lang="en-US" sz="2400" dirty="0">
                <a:solidFill>
                  <a:srgbClr val="1B1B1B"/>
                </a:solidFill>
                <a:latin typeface="Manrope" pitchFamily="34" charset="0"/>
                <a:ea typeface="Manrope" pitchFamily="34" charset="-122"/>
                <a:cs typeface="Manrope" pitchFamily="34" charset="-120"/>
              </a:rPr>
              <a:t>Seberapa besar toleransi finansial AirAsia terhadap kegagalan?</a:t>
            </a:r>
            <a:endParaRPr lang="en-US" sz="2400" dirty="0"/>
          </a:p>
        </p:txBody>
      </p:sp>
      <p:sp>
        <p:nvSpPr>
          <p:cNvPr id="14" name="Shape 12"/>
          <p:cNvSpPr/>
          <p:nvPr/>
        </p:nvSpPr>
        <p:spPr>
          <a:xfrm>
            <a:off x="548640" y="3968496"/>
            <a:ext cx="548640" cy="548640"/>
          </a:xfrm>
          <a:prstGeom prst="ellipse">
            <a:avLst/>
          </a:prstGeom>
          <a:solidFill>
            <a:srgbClr val="1B1B1B"/>
          </a:solidFill>
          <a:ln w="12700">
            <a:solidFill>
              <a:srgbClr val="1B1B1B"/>
            </a:solidFill>
            <a:prstDash val="solid"/>
          </a:ln>
        </p:spPr>
      </p:sp>
      <p:sp>
        <p:nvSpPr>
          <p:cNvPr id="15" name="Text 13"/>
          <p:cNvSpPr txBox="1"/>
          <p:nvPr/>
        </p:nvSpPr>
        <p:spPr>
          <a:xfrm>
            <a:off x="548640" y="3968496"/>
            <a:ext cx="548640" cy="548640"/>
          </a:xfrm>
          <a:prstGeom prst="rect">
            <a:avLst/>
          </a:prstGeom>
          <a:noFill/>
          <a:ln/>
        </p:spPr>
        <p:txBody>
          <a:bodyPr wrap="square" lIns="0" tIns="0" rIns="0" bIns="0" rtlCol="0" anchor="ctr"/>
          <a:lstStyle/>
          <a:p>
            <a:pPr algn="ctr" indent="0" marL="0">
              <a:buNone/>
            </a:pPr>
            <a:r>
              <a:rPr lang="en-US" sz="2640" dirty="0">
                <a:solidFill>
                  <a:srgbClr val="FFFFFF"/>
                </a:solidFill>
                <a:latin typeface="Bebas Neue" pitchFamily="34" charset="0"/>
                <a:ea typeface="Bebas Neue" pitchFamily="34" charset="-122"/>
                <a:cs typeface="Bebas Neue" pitchFamily="34" charset="-120"/>
              </a:rPr>
              <a:t>4</a:t>
            </a:r>
            <a:endParaRPr lang="en-US" sz="2640" dirty="0"/>
          </a:p>
        </p:txBody>
      </p:sp>
      <p:sp>
        <p:nvSpPr>
          <p:cNvPr id="16" name="Text 14"/>
          <p:cNvSpPr txBox="1"/>
          <p:nvPr/>
        </p:nvSpPr>
        <p:spPr>
          <a:xfrm>
            <a:off x="1280160" y="3922776"/>
            <a:ext cx="10424160" cy="685800"/>
          </a:xfrm>
          <a:prstGeom prst="rect">
            <a:avLst/>
          </a:prstGeom>
          <a:noFill/>
          <a:ln/>
        </p:spPr>
        <p:txBody>
          <a:bodyPr wrap="square" lIns="0" tIns="0" rIns="0" bIns="0" rtlCol="0" anchor="ctr"/>
          <a:lstStyle/>
          <a:p>
            <a:pPr indent="0" marL="0">
              <a:buNone/>
            </a:pPr>
            <a:r>
              <a:rPr lang="en-US" sz="2400" dirty="0">
                <a:solidFill>
                  <a:srgbClr val="1B1B1B"/>
                </a:solidFill>
                <a:latin typeface="Manrope" pitchFamily="34" charset="0"/>
                <a:ea typeface="Manrope" pitchFamily="34" charset="-122"/>
                <a:cs typeface="Manrope" pitchFamily="34" charset="-120"/>
              </a:rPr>
              <a:t>Bisakah eksploitasi dan eksplorasi berjalan dalam satu organisasi?</a:t>
            </a:r>
            <a:endParaRPr lang="en-US" sz="2400" dirty="0"/>
          </a:p>
        </p:txBody>
      </p:sp>
      <p:sp>
        <p:nvSpPr>
          <p:cNvPr id="17" name="Shape 15"/>
          <p:cNvSpPr/>
          <p:nvPr/>
        </p:nvSpPr>
        <p:spPr>
          <a:xfrm>
            <a:off x="548640" y="4681728"/>
            <a:ext cx="548640" cy="548640"/>
          </a:xfrm>
          <a:prstGeom prst="ellipse">
            <a:avLst/>
          </a:prstGeom>
          <a:solidFill>
            <a:srgbClr val="E63E2C"/>
          </a:solidFill>
          <a:ln w="12700">
            <a:solidFill>
              <a:srgbClr val="E63E2C"/>
            </a:solidFill>
            <a:prstDash val="solid"/>
          </a:ln>
        </p:spPr>
      </p:sp>
      <p:sp>
        <p:nvSpPr>
          <p:cNvPr id="18" name="Text 16"/>
          <p:cNvSpPr txBox="1"/>
          <p:nvPr/>
        </p:nvSpPr>
        <p:spPr>
          <a:xfrm>
            <a:off x="548640" y="4681728"/>
            <a:ext cx="548640" cy="548640"/>
          </a:xfrm>
          <a:prstGeom prst="rect">
            <a:avLst/>
          </a:prstGeom>
          <a:noFill/>
          <a:ln/>
        </p:spPr>
        <p:txBody>
          <a:bodyPr wrap="square" lIns="0" tIns="0" rIns="0" bIns="0" rtlCol="0" anchor="ctr"/>
          <a:lstStyle/>
          <a:p>
            <a:pPr algn="ctr" indent="0" marL="0">
              <a:buNone/>
            </a:pPr>
            <a:r>
              <a:rPr lang="en-US" sz="2640" dirty="0">
                <a:solidFill>
                  <a:srgbClr val="FFFFFF"/>
                </a:solidFill>
                <a:latin typeface="Bebas Neue" pitchFamily="34" charset="0"/>
                <a:ea typeface="Bebas Neue" pitchFamily="34" charset="-122"/>
                <a:cs typeface="Bebas Neue" pitchFamily="34" charset="-120"/>
              </a:rPr>
              <a:t>5</a:t>
            </a:r>
            <a:endParaRPr lang="en-US" sz="2640" dirty="0"/>
          </a:p>
        </p:txBody>
      </p:sp>
      <p:sp>
        <p:nvSpPr>
          <p:cNvPr id="19" name="Text 17"/>
          <p:cNvSpPr txBox="1"/>
          <p:nvPr/>
        </p:nvSpPr>
        <p:spPr>
          <a:xfrm>
            <a:off x="1280160" y="4636008"/>
            <a:ext cx="10424160" cy="685800"/>
          </a:xfrm>
          <a:prstGeom prst="rect">
            <a:avLst/>
          </a:prstGeom>
          <a:noFill/>
          <a:ln/>
        </p:spPr>
        <p:txBody>
          <a:bodyPr wrap="square" lIns="0" tIns="0" rIns="0" bIns="0" rtlCol="0" anchor="ctr"/>
          <a:lstStyle/>
          <a:p>
            <a:pPr indent="0" marL="0">
              <a:buNone/>
            </a:pPr>
            <a:r>
              <a:rPr lang="en-US" sz="2400" dirty="0">
                <a:solidFill>
                  <a:srgbClr val="1B1B1B"/>
                </a:solidFill>
                <a:latin typeface="Manrope" pitchFamily="34" charset="0"/>
                <a:ea typeface="Manrope" pitchFamily="34" charset="-122"/>
                <a:cs typeface="Manrope" pitchFamily="34" charset="-120"/>
              </a:rPr>
              <a:t>Apakah tata kelola AirAsia X selaras dengan kepentingan AirAsia?</a:t>
            </a:r>
            <a:endParaRPr lang="en-US" sz="2400" dirty="0"/>
          </a:p>
        </p:txBody>
      </p:sp>
      <p:sp>
        <p:nvSpPr>
          <p:cNvPr id="20" name="Text 18"/>
          <p:cNvSpPr txBox="1"/>
          <p:nvPr/>
        </p:nvSpPr>
        <p:spPr>
          <a:xfrm>
            <a:off x="548640" y="5440680"/>
            <a:ext cx="11155680" cy="640080"/>
          </a:xfrm>
          <a:prstGeom prst="rect">
            <a:avLst/>
          </a:prstGeom>
          <a:noFill/>
          <a:ln/>
        </p:spPr>
        <p:txBody>
          <a:bodyPr wrap="square" lIns="0" tIns="0" rIns="0" bIns="0" rtlCol="0" anchor="t"/>
          <a:lstStyle/>
          <a:p>
            <a:pPr indent="0" marL="0">
              <a:buNone/>
            </a:pPr>
            <a:r>
              <a:rPr lang="en-US" sz="2000" b="1" dirty="0">
                <a:solidFill>
                  <a:srgbClr val="E63E2C"/>
                </a:solidFill>
                <a:latin typeface="Manrope" pitchFamily="34" charset="0"/>
                <a:ea typeface="Manrope" pitchFamily="34" charset="-122"/>
                <a:cs typeface="Manrope" pitchFamily="34" charset="-120"/>
              </a:rPr>
              <a:t>Intisari.  </a:t>
            </a:r>
            <a:pPr indent="0" marL="0">
              <a:buNone/>
            </a:pPr>
            <a:r>
              <a:rPr lang="en-US" sz="2000" dirty="0">
                <a:solidFill>
                  <a:srgbClr val="4A4A4A"/>
                </a:solidFill>
                <a:latin typeface="Manrope" pitchFamily="34" charset="0"/>
                <a:ea typeface="Manrope" pitchFamily="34" charset="-122"/>
                <a:cs typeface="Manrope" pitchFamily="34" charset="-120"/>
              </a:rPr>
              <a:t>Isu 1 dan 2 dari lingkungan eksternal, isu 3 dari posisi biaya, isu 4 dan 5 soal organisasi dan tata kelola.</a:t>
            </a:r>
            <a:endParaRPr lang="en-US" sz="2000" dirty="0"/>
          </a:p>
        </p:txBody>
      </p:sp>
      <p:sp>
        <p:nvSpPr>
          <p:cNvPr id="21" name="Shape 19"/>
          <p:cNvSpPr/>
          <p:nvPr/>
        </p:nvSpPr>
        <p:spPr>
          <a:xfrm>
            <a:off x="10607040" y="-914400"/>
            <a:ext cx="2194560" cy="2194560"/>
          </a:xfrm>
          <a:prstGeom prst="ellipse">
            <a:avLst/>
          </a:prstGeom>
          <a:solidFill>
            <a:srgbClr val="F4C430"/>
          </a:solidFill>
          <a:ln w="12700">
            <a:solidFill>
              <a:srgbClr val="F4C430"/>
            </a:solidFill>
            <a:prstDash val="solid"/>
          </a:ln>
        </p:spPr>
      </p:sp>
      <p:sp>
        <p:nvSpPr>
          <p:cNvPr id="22" name="Shape 20"/>
          <p:cNvSpPr/>
          <p:nvPr/>
        </p:nvSpPr>
        <p:spPr>
          <a:xfrm>
            <a:off x="10588752" y="-960120"/>
            <a:ext cx="2231136" cy="1143000"/>
          </a:xfrm>
          <a:prstGeom prst="rect">
            <a:avLst/>
          </a:prstGeom>
          <a:solidFill>
            <a:srgbClr val="F3E2CF"/>
          </a:solidFill>
          <a:ln w="12700">
            <a:solidFill>
              <a:srgbClr val="F3E2CF"/>
            </a:solidFill>
            <a:prstDash val="solid"/>
          </a:ln>
        </p:spPr>
      </p:sp>
      <p:sp>
        <p:nvSpPr>
          <p:cNvPr id="23" name="Text 21"/>
          <p:cNvSpPr txBox="1"/>
          <p:nvPr/>
        </p:nvSpPr>
        <p:spPr>
          <a:xfrm>
            <a:off x="548640" y="6172200"/>
            <a:ext cx="10424160" cy="457200"/>
          </a:xfrm>
          <a:prstGeom prst="rect">
            <a:avLst/>
          </a:prstGeom>
          <a:noFill/>
          <a:ln/>
        </p:spPr>
        <p:txBody>
          <a:bodyPr wrap="square" lIns="0" tIns="0" rIns="0" bIns="0" rtlCol="0" anchor="ctr"/>
          <a:lstStyle/>
          <a:p>
            <a:pPr indent="0" marL="0">
              <a:buNone/>
            </a:pPr>
            <a:r>
              <a:rPr lang="en-US" sz="1200" dirty="0">
                <a:solidFill>
                  <a:srgbClr val="E63E2C"/>
                </a:solidFill>
                <a:latin typeface="Manrope" pitchFamily="34" charset="0"/>
                <a:ea typeface="Manrope" pitchFamily="34" charset="-122"/>
                <a:cs typeface="Manrope" pitchFamily="34" charset="-120"/>
              </a:rPr>
              <a:t>■  </a:t>
            </a:r>
            <a:pPr indent="0" marL="0">
              <a:buNone/>
            </a:pPr>
            <a:r>
              <a:rPr lang="en-US" sz="1800" b="1" dirty="0">
                <a:solidFill>
                  <a:srgbClr val="1B1B1B"/>
                </a:solidFill>
                <a:latin typeface="Manrope" pitchFamily="34" charset="0"/>
                <a:ea typeface="Manrope" pitchFamily="34" charset="-122"/>
                <a:cs typeface="Manrope" pitchFamily="34" charset="-120"/>
              </a:rPr>
              <a:t>Selanjutnya  </a:t>
            </a:r>
            <a:pPr indent="0" marL="0">
              <a:buNone/>
            </a:pPr>
            <a:r>
              <a:rPr lang="en-US" sz="1800" dirty="0">
                <a:solidFill>
                  <a:srgbClr val="4A4A4A"/>
                </a:solidFill>
                <a:latin typeface="Manrope" pitchFamily="34" charset="0"/>
                <a:ea typeface="Manrope" pitchFamily="34" charset="-122"/>
                <a:cs typeface="Manrope" pitchFamily="34" charset="-120"/>
              </a:rPr>
              <a:t>Lima pertanyaan ini menjadi kriteria untuk menilai tiga alternatif.</a:t>
            </a:r>
            <a:endParaRPr lang="en-US" sz="1800" dirty="0"/>
          </a:p>
        </p:txBody>
      </p:sp>
      <p:sp>
        <p:nvSpPr>
          <p:cNvPr id="24" name="Text 22"/>
          <p:cNvSpPr txBox="1"/>
          <p:nvPr/>
        </p:nvSpPr>
        <p:spPr>
          <a:xfrm>
            <a:off x="11247120" y="6355080"/>
            <a:ext cx="548640" cy="320040"/>
          </a:xfrm>
          <a:prstGeom prst="rect">
            <a:avLst/>
          </a:prstGeom>
          <a:noFill/>
          <a:ln/>
        </p:spPr>
        <p:txBody>
          <a:bodyPr wrap="square" lIns="0" tIns="0" rIns="0" bIns="0" rtlCol="0" anchor="ctr"/>
          <a:lstStyle/>
          <a:p>
            <a:pPr algn="r" indent="0" marL="0">
              <a:buNone/>
            </a:pPr>
            <a:r>
              <a:rPr lang="en-US" sz="1200" b="1" dirty="0">
                <a:solidFill>
                  <a:srgbClr val="1B1B1B"/>
                </a:solidFill>
                <a:latin typeface="Manrope" pitchFamily="34" charset="0"/>
                <a:ea typeface="Manrope" pitchFamily="34" charset="-122"/>
                <a:cs typeface="Manrope"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2CF"/>
        </a:solidFill>
      </p:bgPr>
    </p:bg>
    <p:spTree>
      <p:nvGrpSpPr>
        <p:cNvPr id="1" name=""/>
        <p:cNvGrpSpPr/>
        <p:nvPr/>
      </p:nvGrpSpPr>
      <p:grpSpPr>
        <a:xfrm>
          <a:off x="0" y="0"/>
          <a:ext cx="0" cy="0"/>
          <a:chOff x="0" y="0"/>
          <a:chExt cx="0" cy="0"/>
        </a:xfrm>
      </p:grpSpPr>
      <p:sp>
        <p:nvSpPr>
          <p:cNvPr id="2" name="Text 0"/>
          <p:cNvSpPr txBox="1"/>
          <p:nvPr/>
        </p:nvSpPr>
        <p:spPr>
          <a:xfrm>
            <a:off x="548640" y="411480"/>
            <a:ext cx="10515600" cy="868680"/>
          </a:xfrm>
          <a:prstGeom prst="rect">
            <a:avLst/>
          </a:prstGeom>
          <a:noFill/>
          <a:ln/>
        </p:spPr>
        <p:txBody>
          <a:bodyPr wrap="square" lIns="0" tIns="0" rIns="0" bIns="0" rtlCol="0" anchor="ctr"/>
          <a:lstStyle/>
          <a:p>
            <a:pPr indent="0" marL="0">
              <a:buNone/>
            </a:pPr>
            <a:r>
              <a:rPr lang="en-US" sz="5400" dirty="0">
                <a:solidFill>
                  <a:srgbClr val="1B1B1B"/>
                </a:solidFill>
                <a:latin typeface="Bebas Neue" pitchFamily="34" charset="0"/>
                <a:ea typeface="Bebas Neue" pitchFamily="34" charset="-122"/>
                <a:cs typeface="Bebas Neue" pitchFamily="34" charset="-120"/>
              </a:rPr>
              <a:t>STRATEGIC ALTERNATIVES</a:t>
            </a:r>
            <a:endParaRPr lang="en-US" sz="5400" dirty="0"/>
          </a:p>
        </p:txBody>
      </p:sp>
      <p:sp>
        <p:nvSpPr>
          <p:cNvPr id="3" name="Text 1"/>
          <p:cNvSpPr txBox="1"/>
          <p:nvPr/>
        </p:nvSpPr>
        <p:spPr>
          <a:xfrm>
            <a:off x="548640" y="1298448"/>
            <a:ext cx="10058400" cy="320040"/>
          </a:xfrm>
          <a:prstGeom prst="rect">
            <a:avLst/>
          </a:prstGeom>
          <a:noFill/>
          <a:ln/>
        </p:spPr>
        <p:txBody>
          <a:bodyPr wrap="square" lIns="0" tIns="0" rIns="0" bIns="0" rtlCol="0" anchor="ctr"/>
          <a:lstStyle/>
          <a:p>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PROBLEM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EXTERNAL ENVIRONMENT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COST POSITION     </a:t>
            </a:r>
            <a:pPr indent="0" marL="0">
              <a:buNone/>
            </a:pPr>
            <a:r>
              <a:rPr lang="en-US" sz="1200" spc="150" kern="0" dirty="0">
                <a:solidFill>
                  <a:srgbClr val="1B1B1B"/>
                </a:solidFill>
                <a:latin typeface="Manrope" pitchFamily="34" charset="0"/>
                <a:ea typeface="Manrope" pitchFamily="34" charset="-122"/>
                <a:cs typeface="Manrope" pitchFamily="34" charset="-120"/>
              </a:rPr>
              <a:t>■ </a:t>
            </a:r>
            <a:pPr indent="0" marL="0">
              <a:buNone/>
            </a:pPr>
            <a:r>
              <a:rPr lang="en-US" sz="1300" b="1" spc="150" kern="0" dirty="0">
                <a:solidFill>
                  <a:srgbClr val="1B1B1B"/>
                </a:solidFill>
                <a:latin typeface="Manrope" pitchFamily="34" charset="0"/>
                <a:ea typeface="Manrope" pitchFamily="34" charset="-122"/>
                <a:cs typeface="Manrope" pitchFamily="34" charset="-120"/>
              </a:rPr>
              <a:t>CHOICE     </a:t>
            </a:r>
            <a:endParaRPr lang="en-US" sz="1300" dirty="0"/>
          </a:p>
        </p:txBody>
      </p:sp>
      <p:sp>
        <p:nvSpPr>
          <p:cNvPr id="4" name="Shape 2"/>
          <p:cNvSpPr/>
          <p:nvPr/>
        </p:nvSpPr>
        <p:spPr>
          <a:xfrm>
            <a:off x="548640" y="1783080"/>
            <a:ext cx="3611880" cy="4160520"/>
          </a:xfrm>
          <a:prstGeom prst="rect">
            <a:avLst/>
          </a:prstGeom>
          <a:solidFill>
            <a:srgbClr val="FFFFFF"/>
          </a:solidFill>
          <a:ln w="12700">
            <a:solidFill>
              <a:srgbClr val="FFFFFF"/>
            </a:solidFill>
            <a:prstDash val="solid"/>
          </a:ln>
        </p:spPr>
      </p:sp>
      <p:sp>
        <p:nvSpPr>
          <p:cNvPr id="5" name="Shape 3"/>
          <p:cNvSpPr/>
          <p:nvPr/>
        </p:nvSpPr>
        <p:spPr>
          <a:xfrm>
            <a:off x="777240" y="2011680"/>
            <a:ext cx="685800" cy="685800"/>
          </a:xfrm>
          <a:prstGeom prst="ellipse">
            <a:avLst/>
          </a:prstGeom>
          <a:solidFill>
            <a:srgbClr val="E63E2C"/>
          </a:solidFill>
          <a:ln w="12700">
            <a:solidFill>
              <a:srgbClr val="E63E2C"/>
            </a:solidFill>
            <a:prstDash val="solid"/>
          </a:ln>
        </p:spPr>
      </p:sp>
      <p:sp>
        <p:nvSpPr>
          <p:cNvPr id="6" name="Text 4"/>
          <p:cNvSpPr txBox="1"/>
          <p:nvPr/>
        </p:nvSpPr>
        <p:spPr>
          <a:xfrm>
            <a:off x="777240" y="2011680"/>
            <a:ext cx="685800" cy="685800"/>
          </a:xfrm>
          <a:prstGeom prst="rect">
            <a:avLst/>
          </a:prstGeom>
          <a:noFill/>
          <a:ln/>
        </p:spPr>
        <p:txBody>
          <a:bodyPr wrap="square" lIns="0" tIns="0" rIns="0" bIns="0" rtlCol="0" anchor="ctr"/>
          <a:lstStyle/>
          <a:p>
            <a:pPr algn="ctr" indent="0" marL="0">
              <a:buNone/>
            </a:pPr>
            <a:r>
              <a:rPr lang="en-US" sz="3200" dirty="0">
                <a:solidFill>
                  <a:srgbClr val="FFFFFF"/>
                </a:solidFill>
                <a:latin typeface="Bebas Neue" pitchFamily="34" charset="0"/>
                <a:ea typeface="Bebas Neue" pitchFamily="34" charset="-122"/>
                <a:cs typeface="Bebas Neue" pitchFamily="34" charset="-120"/>
              </a:rPr>
              <a:t>A</a:t>
            </a:r>
            <a:endParaRPr lang="en-US" sz="3200" dirty="0"/>
          </a:p>
        </p:txBody>
      </p:sp>
      <p:sp>
        <p:nvSpPr>
          <p:cNvPr id="7" name="Text 5"/>
          <p:cNvSpPr txBox="1"/>
          <p:nvPr/>
        </p:nvSpPr>
        <p:spPr>
          <a:xfrm>
            <a:off x="1600200" y="2084832"/>
            <a:ext cx="2468880" cy="548640"/>
          </a:xfrm>
          <a:prstGeom prst="rect">
            <a:avLst/>
          </a:prstGeom>
          <a:noFill/>
          <a:ln/>
        </p:spPr>
        <p:txBody>
          <a:bodyPr wrap="square" lIns="0" tIns="0" rIns="0" bIns="0" rtlCol="0" anchor="ctr"/>
          <a:lstStyle/>
          <a:p>
            <a:pPr indent="0" marL="0">
              <a:buNone/>
            </a:pPr>
            <a:r>
              <a:rPr lang="en-US" sz="2800" dirty="0">
                <a:solidFill>
                  <a:srgbClr val="1B1B1B"/>
                </a:solidFill>
                <a:latin typeface="Bebas Neue" pitchFamily="34" charset="0"/>
                <a:ea typeface="Bebas Neue" pitchFamily="34" charset="-122"/>
                <a:cs typeface="Bebas Neue" pitchFamily="34" charset="-120"/>
              </a:rPr>
              <a:t>FOKUS REGIONAL</a:t>
            </a:r>
            <a:endParaRPr lang="en-US" sz="2800" dirty="0"/>
          </a:p>
        </p:txBody>
      </p:sp>
      <p:sp>
        <p:nvSpPr>
          <p:cNvPr id="8" name="Text 6"/>
          <p:cNvSpPr txBox="1"/>
          <p:nvPr/>
        </p:nvSpPr>
        <p:spPr>
          <a:xfrm>
            <a:off x="777240" y="2926080"/>
            <a:ext cx="3200400" cy="182880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AirAsia X tetap terpisah</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Fokus pasar 3,5 jam</a:t>
            </a:r>
            <a:endParaRPr lang="en-US" sz="2400" dirty="0"/>
          </a:p>
        </p:txBody>
      </p:sp>
      <p:sp>
        <p:nvSpPr>
          <p:cNvPr id="9" name="Text 7"/>
          <p:cNvSpPr txBox="1"/>
          <p:nvPr/>
        </p:nvSpPr>
        <p:spPr>
          <a:xfrm>
            <a:off x="777240" y="4800600"/>
            <a:ext cx="3200400" cy="1051560"/>
          </a:xfrm>
          <a:prstGeom prst="rect">
            <a:avLst/>
          </a:prstGeom>
          <a:noFill/>
          <a:ln/>
        </p:spPr>
        <p:txBody>
          <a:bodyPr wrap="square" lIns="0" tIns="0" rIns="0" bIns="0" rtlCol="0" anchor="b"/>
          <a:lstStyle/>
          <a:p>
            <a:pPr indent="0" marL="0">
              <a:buNone/>
            </a:pPr>
            <a:r>
              <a:rPr lang="en-US" sz="2000" b="1" dirty="0">
                <a:solidFill>
                  <a:srgbClr val="E63E2C"/>
                </a:solidFill>
                <a:latin typeface="Manrope" pitchFamily="34" charset="0"/>
                <a:ea typeface="Manrope" pitchFamily="34" charset="-122"/>
                <a:cs typeface="Manrope" pitchFamily="34" charset="-120"/>
              </a:rPr>
              <a:t>Sudut pandang. </a:t>
            </a:r>
            <a:pPr indent="0" marL="0">
              <a:buNone/>
            </a:pPr>
            <a:r>
              <a:rPr lang="en-US" sz="2000" dirty="0">
                <a:solidFill>
                  <a:srgbClr val="1B1B1B"/>
                </a:solidFill>
                <a:latin typeface="Manrope" pitchFamily="34" charset="0"/>
                <a:ea typeface="Manrope" pitchFamily="34" charset="-122"/>
                <a:cs typeface="Manrope" pitchFamily="34" charset="-120"/>
              </a:rPr>
              <a:t>eksploitasi murni</a:t>
            </a:r>
            <a:endParaRPr lang="en-US" sz="2000" dirty="0"/>
          </a:p>
        </p:txBody>
      </p:sp>
      <p:sp>
        <p:nvSpPr>
          <p:cNvPr id="10" name="Shape 8"/>
          <p:cNvSpPr/>
          <p:nvPr/>
        </p:nvSpPr>
        <p:spPr>
          <a:xfrm>
            <a:off x="4343400" y="1783080"/>
            <a:ext cx="3611880" cy="4160520"/>
          </a:xfrm>
          <a:prstGeom prst="rect">
            <a:avLst/>
          </a:prstGeom>
          <a:solidFill>
            <a:srgbClr val="FFFFFF"/>
          </a:solidFill>
          <a:ln w="12700">
            <a:solidFill>
              <a:srgbClr val="FFFFFF"/>
            </a:solidFill>
            <a:prstDash val="solid"/>
          </a:ln>
        </p:spPr>
      </p:sp>
      <p:sp>
        <p:nvSpPr>
          <p:cNvPr id="11" name="Shape 9"/>
          <p:cNvSpPr/>
          <p:nvPr/>
        </p:nvSpPr>
        <p:spPr>
          <a:xfrm>
            <a:off x="4572000" y="2011680"/>
            <a:ext cx="685800" cy="685800"/>
          </a:xfrm>
          <a:prstGeom prst="ellipse">
            <a:avLst/>
          </a:prstGeom>
          <a:solidFill>
            <a:srgbClr val="2C7BB8"/>
          </a:solidFill>
          <a:ln w="12700">
            <a:solidFill>
              <a:srgbClr val="2C7BB8"/>
            </a:solidFill>
            <a:prstDash val="solid"/>
          </a:ln>
        </p:spPr>
      </p:sp>
      <p:sp>
        <p:nvSpPr>
          <p:cNvPr id="12" name="Text 10"/>
          <p:cNvSpPr txBox="1"/>
          <p:nvPr/>
        </p:nvSpPr>
        <p:spPr>
          <a:xfrm>
            <a:off x="4572000" y="2011680"/>
            <a:ext cx="685800" cy="685800"/>
          </a:xfrm>
          <a:prstGeom prst="rect">
            <a:avLst/>
          </a:prstGeom>
          <a:noFill/>
          <a:ln/>
        </p:spPr>
        <p:txBody>
          <a:bodyPr wrap="square" lIns="0" tIns="0" rIns="0" bIns="0" rtlCol="0" anchor="ctr"/>
          <a:lstStyle/>
          <a:p>
            <a:pPr algn="ctr" indent="0" marL="0">
              <a:buNone/>
            </a:pPr>
            <a:r>
              <a:rPr lang="en-US" sz="3200" dirty="0">
                <a:solidFill>
                  <a:srgbClr val="FFFFFF"/>
                </a:solidFill>
                <a:latin typeface="Bebas Neue" pitchFamily="34" charset="0"/>
                <a:ea typeface="Bebas Neue" pitchFamily="34" charset="-122"/>
                <a:cs typeface="Bebas Neue" pitchFamily="34" charset="-120"/>
              </a:rPr>
              <a:t>B</a:t>
            </a:r>
            <a:endParaRPr lang="en-US" sz="3200" dirty="0"/>
          </a:p>
        </p:txBody>
      </p:sp>
      <p:sp>
        <p:nvSpPr>
          <p:cNvPr id="13" name="Text 11"/>
          <p:cNvSpPr txBox="1"/>
          <p:nvPr/>
        </p:nvSpPr>
        <p:spPr>
          <a:xfrm>
            <a:off x="5394960" y="2084832"/>
            <a:ext cx="2468880" cy="548640"/>
          </a:xfrm>
          <a:prstGeom prst="rect">
            <a:avLst/>
          </a:prstGeom>
          <a:noFill/>
          <a:ln/>
        </p:spPr>
        <p:txBody>
          <a:bodyPr wrap="square" lIns="0" tIns="0" rIns="0" bIns="0" rtlCol="0" anchor="ctr"/>
          <a:lstStyle/>
          <a:p>
            <a:pPr indent="0" marL="0">
              <a:buNone/>
            </a:pPr>
            <a:r>
              <a:rPr lang="en-US" sz="2800" dirty="0">
                <a:solidFill>
                  <a:srgbClr val="1B1B1B"/>
                </a:solidFill>
                <a:latin typeface="Bebas Neue" pitchFamily="34" charset="0"/>
                <a:ea typeface="Bebas Neue" pitchFamily="34" charset="-122"/>
                <a:cs typeface="Bebas Neue" pitchFamily="34" charset="-120"/>
              </a:rPr>
              <a:t>INTEGRASI PENUH</a:t>
            </a:r>
            <a:endParaRPr lang="en-US" sz="2800" dirty="0"/>
          </a:p>
        </p:txBody>
      </p:sp>
      <p:sp>
        <p:nvSpPr>
          <p:cNvPr id="14" name="Text 12"/>
          <p:cNvSpPr txBox="1"/>
          <p:nvPr/>
        </p:nvSpPr>
        <p:spPr>
          <a:xfrm>
            <a:off x="4572000" y="2926080"/>
            <a:ext cx="3200400" cy="182880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Merger AirAsia X ke AirAsia</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Feeder KL, ekspansi</a:t>
            </a:r>
            <a:endParaRPr lang="en-US" sz="2400" dirty="0"/>
          </a:p>
        </p:txBody>
      </p:sp>
      <p:sp>
        <p:nvSpPr>
          <p:cNvPr id="15" name="Text 13"/>
          <p:cNvSpPr txBox="1"/>
          <p:nvPr/>
        </p:nvSpPr>
        <p:spPr>
          <a:xfrm>
            <a:off x="4572000" y="4800600"/>
            <a:ext cx="3200400" cy="1051560"/>
          </a:xfrm>
          <a:prstGeom prst="rect">
            <a:avLst/>
          </a:prstGeom>
          <a:noFill/>
          <a:ln/>
        </p:spPr>
        <p:txBody>
          <a:bodyPr wrap="square" lIns="0" tIns="0" rIns="0" bIns="0" rtlCol="0" anchor="b"/>
          <a:lstStyle/>
          <a:p>
            <a:pPr indent="0" marL="0">
              <a:buNone/>
            </a:pPr>
            <a:r>
              <a:rPr lang="en-US" sz="2000" b="1" dirty="0">
                <a:solidFill>
                  <a:srgbClr val="2C7BB8"/>
                </a:solidFill>
                <a:latin typeface="Manrope" pitchFamily="34" charset="0"/>
                <a:ea typeface="Manrope" pitchFamily="34" charset="-122"/>
                <a:cs typeface="Manrope" pitchFamily="34" charset="-120"/>
              </a:rPr>
              <a:t>Sudut pandang. </a:t>
            </a:r>
            <a:pPr indent="0" marL="0">
              <a:buNone/>
            </a:pPr>
            <a:r>
              <a:rPr lang="en-US" sz="2000" dirty="0">
                <a:solidFill>
                  <a:srgbClr val="1B1B1B"/>
                </a:solidFill>
                <a:latin typeface="Manrope" pitchFamily="34" charset="0"/>
                <a:ea typeface="Manrope" pitchFamily="34" charset="-122"/>
                <a:cs typeface="Manrope" pitchFamily="34" charset="-120"/>
              </a:rPr>
              <a:t>ambidexterity kontekstual</a:t>
            </a:r>
            <a:endParaRPr lang="en-US" sz="2000" dirty="0"/>
          </a:p>
        </p:txBody>
      </p:sp>
      <p:sp>
        <p:nvSpPr>
          <p:cNvPr id="16" name="Shape 14"/>
          <p:cNvSpPr/>
          <p:nvPr/>
        </p:nvSpPr>
        <p:spPr>
          <a:xfrm>
            <a:off x="8138160" y="1783080"/>
            <a:ext cx="3611880" cy="4160520"/>
          </a:xfrm>
          <a:prstGeom prst="rect">
            <a:avLst/>
          </a:prstGeom>
          <a:solidFill>
            <a:srgbClr val="FFFFFF"/>
          </a:solidFill>
          <a:ln w="12700">
            <a:solidFill>
              <a:srgbClr val="FFFFFF"/>
            </a:solidFill>
            <a:prstDash val="solid"/>
          </a:ln>
        </p:spPr>
      </p:sp>
      <p:sp>
        <p:nvSpPr>
          <p:cNvPr id="17" name="Shape 15"/>
          <p:cNvSpPr/>
          <p:nvPr/>
        </p:nvSpPr>
        <p:spPr>
          <a:xfrm>
            <a:off x="8366760" y="2011680"/>
            <a:ext cx="685800" cy="685800"/>
          </a:xfrm>
          <a:prstGeom prst="ellipse">
            <a:avLst/>
          </a:prstGeom>
          <a:solidFill>
            <a:srgbClr val="F4C430"/>
          </a:solidFill>
          <a:ln w="12700">
            <a:solidFill>
              <a:srgbClr val="F4C430"/>
            </a:solidFill>
            <a:prstDash val="solid"/>
          </a:ln>
        </p:spPr>
      </p:sp>
      <p:sp>
        <p:nvSpPr>
          <p:cNvPr id="18" name="Text 16"/>
          <p:cNvSpPr txBox="1"/>
          <p:nvPr/>
        </p:nvSpPr>
        <p:spPr>
          <a:xfrm>
            <a:off x="8366760" y="2011680"/>
            <a:ext cx="685800" cy="685800"/>
          </a:xfrm>
          <a:prstGeom prst="rect">
            <a:avLst/>
          </a:prstGeom>
          <a:noFill/>
          <a:ln/>
        </p:spPr>
        <p:txBody>
          <a:bodyPr wrap="square" lIns="0" tIns="0" rIns="0" bIns="0" rtlCol="0" anchor="ctr"/>
          <a:lstStyle/>
          <a:p>
            <a:pPr algn="ctr" indent="0" marL="0">
              <a:buNone/>
            </a:pPr>
            <a:r>
              <a:rPr lang="en-US" sz="3200" dirty="0">
                <a:solidFill>
                  <a:srgbClr val="1B1B1B"/>
                </a:solidFill>
                <a:latin typeface="Bebas Neue" pitchFamily="34" charset="0"/>
                <a:ea typeface="Bebas Neue" pitchFamily="34" charset="-122"/>
                <a:cs typeface="Bebas Neue" pitchFamily="34" charset="-120"/>
              </a:rPr>
              <a:t>C</a:t>
            </a:r>
            <a:endParaRPr lang="en-US" sz="3200" dirty="0"/>
          </a:p>
        </p:txBody>
      </p:sp>
      <p:sp>
        <p:nvSpPr>
          <p:cNvPr id="19" name="Text 17"/>
          <p:cNvSpPr txBox="1"/>
          <p:nvPr/>
        </p:nvSpPr>
        <p:spPr>
          <a:xfrm>
            <a:off x="9189720" y="2084832"/>
            <a:ext cx="2468880" cy="548640"/>
          </a:xfrm>
          <a:prstGeom prst="rect">
            <a:avLst/>
          </a:prstGeom>
          <a:noFill/>
          <a:ln/>
        </p:spPr>
        <p:txBody>
          <a:bodyPr wrap="square" lIns="0" tIns="0" rIns="0" bIns="0" rtlCol="0" anchor="ctr"/>
          <a:lstStyle/>
          <a:p>
            <a:pPr indent="0" marL="0">
              <a:buNone/>
            </a:pPr>
            <a:r>
              <a:rPr lang="en-US" sz="2800" dirty="0">
                <a:solidFill>
                  <a:srgbClr val="1B1B1B"/>
                </a:solidFill>
                <a:latin typeface="Bebas Neue" pitchFamily="34" charset="0"/>
                <a:ea typeface="Bebas Neue" pitchFamily="34" charset="-122"/>
                <a:cs typeface="Bebas Neue" pitchFamily="34" charset="-120"/>
              </a:rPr>
              <a:t>INTEGRASI BERTAHAP</a:t>
            </a:r>
            <a:endParaRPr lang="en-US" sz="2800" dirty="0"/>
          </a:p>
        </p:txBody>
      </p:sp>
      <p:sp>
        <p:nvSpPr>
          <p:cNvPr id="20" name="Text 18"/>
          <p:cNvSpPr txBox="1"/>
          <p:nvPr/>
        </p:nvSpPr>
        <p:spPr>
          <a:xfrm>
            <a:off x="8366760" y="2926080"/>
            <a:ext cx="3200400" cy="182880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Kendali 30 persen</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Rute 4 sampai 8 jam</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Merger menunggu bukti</a:t>
            </a:r>
            <a:endParaRPr lang="en-US" sz="2400" dirty="0"/>
          </a:p>
        </p:txBody>
      </p:sp>
      <p:sp>
        <p:nvSpPr>
          <p:cNvPr id="21" name="Text 19"/>
          <p:cNvSpPr txBox="1"/>
          <p:nvPr/>
        </p:nvSpPr>
        <p:spPr>
          <a:xfrm>
            <a:off x="8366760" y="4800600"/>
            <a:ext cx="3200400" cy="1051560"/>
          </a:xfrm>
          <a:prstGeom prst="rect">
            <a:avLst/>
          </a:prstGeom>
          <a:noFill/>
          <a:ln/>
        </p:spPr>
        <p:txBody>
          <a:bodyPr wrap="square" lIns="0" tIns="0" rIns="0" bIns="0" rtlCol="0" anchor="b"/>
          <a:lstStyle/>
          <a:p>
            <a:pPr indent="0" marL="0">
              <a:buNone/>
            </a:pPr>
            <a:r>
              <a:rPr lang="en-US" sz="2000" b="1" dirty="0">
                <a:solidFill>
                  <a:srgbClr val="C98A00"/>
                </a:solidFill>
                <a:latin typeface="Manrope" pitchFamily="34" charset="0"/>
                <a:ea typeface="Manrope" pitchFamily="34" charset="-122"/>
                <a:cs typeface="Manrope" pitchFamily="34" charset="-120"/>
              </a:rPr>
              <a:t>Sudut pandang. </a:t>
            </a:r>
            <a:pPr indent="0" marL="0">
              <a:buNone/>
            </a:pPr>
            <a:r>
              <a:rPr lang="en-US" sz="2000" dirty="0">
                <a:solidFill>
                  <a:srgbClr val="1B1B1B"/>
                </a:solidFill>
                <a:latin typeface="Manrope" pitchFamily="34" charset="0"/>
                <a:ea typeface="Manrope" pitchFamily="34" charset="-122"/>
                <a:cs typeface="Manrope" pitchFamily="34" charset="-120"/>
              </a:rPr>
              <a:t>ambidexterity struktural, tata kelola hibrida</a:t>
            </a:r>
            <a:endParaRPr lang="en-US" sz="2000" dirty="0"/>
          </a:p>
        </p:txBody>
      </p:sp>
      <p:sp>
        <p:nvSpPr>
          <p:cNvPr id="22" name="Text 20"/>
          <p:cNvSpPr txBox="1"/>
          <p:nvPr/>
        </p:nvSpPr>
        <p:spPr>
          <a:xfrm>
            <a:off x="548640" y="6172200"/>
            <a:ext cx="10424160" cy="457200"/>
          </a:xfrm>
          <a:prstGeom prst="rect">
            <a:avLst/>
          </a:prstGeom>
          <a:noFill/>
          <a:ln/>
        </p:spPr>
        <p:txBody>
          <a:bodyPr wrap="square" lIns="0" tIns="0" rIns="0" bIns="0" rtlCol="0" anchor="ctr"/>
          <a:lstStyle/>
          <a:p>
            <a:pPr indent="0" marL="0">
              <a:buNone/>
            </a:pPr>
            <a:r>
              <a:rPr lang="en-US" sz="1200" dirty="0">
                <a:solidFill>
                  <a:srgbClr val="E63E2C"/>
                </a:solidFill>
                <a:latin typeface="Manrope" pitchFamily="34" charset="0"/>
                <a:ea typeface="Manrope" pitchFamily="34" charset="-122"/>
                <a:cs typeface="Manrope" pitchFamily="34" charset="-120"/>
              </a:rPr>
              <a:t>■  </a:t>
            </a:r>
            <a:pPr indent="0" marL="0">
              <a:buNone/>
            </a:pPr>
            <a:r>
              <a:rPr lang="en-US" sz="1800" b="1" dirty="0">
                <a:solidFill>
                  <a:srgbClr val="1B1B1B"/>
                </a:solidFill>
                <a:latin typeface="Manrope" pitchFamily="34" charset="0"/>
                <a:ea typeface="Manrope" pitchFamily="34" charset="-122"/>
                <a:cs typeface="Manrope" pitchFamily="34" charset="-120"/>
              </a:rPr>
              <a:t>Selanjutnya  </a:t>
            </a:r>
            <a:pPr indent="0" marL="0">
              <a:buNone/>
            </a:pPr>
            <a:r>
              <a:rPr lang="en-US" sz="1800" dirty="0">
                <a:solidFill>
                  <a:srgbClr val="4A4A4A"/>
                </a:solidFill>
                <a:latin typeface="Manrope" pitchFamily="34" charset="0"/>
                <a:ea typeface="Manrope" pitchFamily="34" charset="-122"/>
                <a:cs typeface="Manrope" pitchFamily="34" charset="-120"/>
              </a:rPr>
              <a:t>Ketiganya diuji dengan lima kriteria dari isu kunci.</a:t>
            </a:r>
            <a:endParaRPr lang="en-US" sz="1800" dirty="0"/>
          </a:p>
        </p:txBody>
      </p:sp>
      <p:sp>
        <p:nvSpPr>
          <p:cNvPr id="23" name="Text 21"/>
          <p:cNvSpPr txBox="1"/>
          <p:nvPr/>
        </p:nvSpPr>
        <p:spPr>
          <a:xfrm>
            <a:off x="11247120" y="6355080"/>
            <a:ext cx="548640" cy="320040"/>
          </a:xfrm>
          <a:prstGeom prst="rect">
            <a:avLst/>
          </a:prstGeom>
          <a:noFill/>
          <a:ln/>
        </p:spPr>
        <p:txBody>
          <a:bodyPr wrap="square" lIns="0" tIns="0" rIns="0" bIns="0" rtlCol="0" anchor="ctr"/>
          <a:lstStyle/>
          <a:p>
            <a:pPr algn="r" indent="0" marL="0">
              <a:buNone/>
            </a:pPr>
            <a:r>
              <a:rPr lang="en-US" sz="1200" b="1" dirty="0">
                <a:solidFill>
                  <a:srgbClr val="1B1B1B"/>
                </a:solidFill>
                <a:latin typeface="Manrope" pitchFamily="34" charset="0"/>
                <a:ea typeface="Manrope" pitchFamily="34" charset="-122"/>
                <a:cs typeface="Manrope"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2CF"/>
        </a:solidFill>
      </p:bgPr>
    </p:bg>
    <p:spTree>
      <p:nvGrpSpPr>
        <p:cNvPr id="1" name=""/>
        <p:cNvGrpSpPr/>
        <p:nvPr/>
      </p:nvGrpSpPr>
      <p:grpSpPr>
        <a:xfrm>
          <a:off x="0" y="0"/>
          <a:ext cx="0" cy="0"/>
          <a:chOff x="0" y="0"/>
          <a:chExt cx="0" cy="0"/>
        </a:xfrm>
      </p:grpSpPr>
      <p:sp>
        <p:nvSpPr>
          <p:cNvPr id="2" name="Text 0"/>
          <p:cNvSpPr txBox="1"/>
          <p:nvPr/>
        </p:nvSpPr>
        <p:spPr>
          <a:xfrm>
            <a:off x="548640" y="411480"/>
            <a:ext cx="10515600" cy="868680"/>
          </a:xfrm>
          <a:prstGeom prst="rect">
            <a:avLst/>
          </a:prstGeom>
          <a:noFill/>
          <a:ln/>
        </p:spPr>
        <p:txBody>
          <a:bodyPr wrap="square" lIns="0" tIns="0" rIns="0" bIns="0" rtlCol="0" anchor="ctr"/>
          <a:lstStyle/>
          <a:p>
            <a:pPr indent="0" marL="0">
              <a:buNone/>
            </a:pPr>
            <a:r>
              <a:rPr lang="en-US" sz="5400" dirty="0">
                <a:solidFill>
                  <a:srgbClr val="1B1B1B"/>
                </a:solidFill>
                <a:latin typeface="Bebas Neue" pitchFamily="34" charset="0"/>
                <a:ea typeface="Bebas Neue" pitchFamily="34" charset="-122"/>
                <a:cs typeface="Bebas Neue" pitchFamily="34" charset="-120"/>
              </a:rPr>
              <a:t>SCORECARD</a:t>
            </a:r>
            <a:endParaRPr lang="en-US" sz="5400" dirty="0"/>
          </a:p>
        </p:txBody>
      </p:sp>
      <p:sp>
        <p:nvSpPr>
          <p:cNvPr id="3" name="Text 1"/>
          <p:cNvSpPr txBox="1"/>
          <p:nvPr/>
        </p:nvSpPr>
        <p:spPr>
          <a:xfrm>
            <a:off x="548640" y="1298448"/>
            <a:ext cx="10058400" cy="320040"/>
          </a:xfrm>
          <a:prstGeom prst="rect">
            <a:avLst/>
          </a:prstGeom>
          <a:noFill/>
          <a:ln/>
        </p:spPr>
        <p:txBody>
          <a:bodyPr wrap="square" lIns="0" tIns="0" rIns="0" bIns="0" rtlCol="0" anchor="ctr"/>
          <a:lstStyle/>
          <a:p>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PROBLEM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EXTERNAL ENVIRONMENT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COST POSITION     </a:t>
            </a:r>
            <a:pPr indent="0" marL="0">
              <a:buNone/>
            </a:pPr>
            <a:r>
              <a:rPr lang="en-US" sz="1200" spc="150" kern="0" dirty="0">
                <a:solidFill>
                  <a:srgbClr val="1B1B1B"/>
                </a:solidFill>
                <a:latin typeface="Manrope" pitchFamily="34" charset="0"/>
                <a:ea typeface="Manrope" pitchFamily="34" charset="-122"/>
                <a:cs typeface="Manrope" pitchFamily="34" charset="-120"/>
              </a:rPr>
              <a:t>■ </a:t>
            </a:r>
            <a:pPr indent="0" marL="0">
              <a:buNone/>
            </a:pPr>
            <a:r>
              <a:rPr lang="en-US" sz="1300" b="1" spc="150" kern="0" dirty="0">
                <a:solidFill>
                  <a:srgbClr val="1B1B1B"/>
                </a:solidFill>
                <a:latin typeface="Manrope" pitchFamily="34" charset="0"/>
                <a:ea typeface="Manrope" pitchFamily="34" charset="-122"/>
                <a:cs typeface="Manrope" pitchFamily="34" charset="-120"/>
              </a:rPr>
              <a:t>CHOICE     </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572000"/>
                <a:gridCol w="2194560"/>
                <a:gridCol w="2103120"/>
                <a:gridCol w="2194560"/>
              </a:tblGrid>
              <a:tr h="566928">
                <a:tc>
                  <a:txBody>
                    <a:bodyPr/>
                    <a:lstStyle/>
                    <a:p>
                      <a:pPr algn="l" indent="0" marL="0">
                        <a:buNone/>
                      </a:pPr>
                      <a:r>
                        <a:rPr lang="en-US" sz="2200" b="1" dirty="0">
                          <a:solidFill>
                            <a:srgbClr val="FFFFFF"/>
                          </a:solidFill>
                          <a:latin typeface="Manrope" pitchFamily="34" charset="0"/>
                          <a:ea typeface="Manrope" pitchFamily="34" charset="-122"/>
                          <a:cs typeface="Manrope" pitchFamily="34" charset="-120"/>
                        </a:rPr>
                        <a:t>Kriteria</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1B1B1B"/>
                    </a:solidFill>
                  </a:tcPr>
                </a:tc>
                <a:tc>
                  <a:txBody>
                    <a:bodyPr/>
                    <a:lstStyle/>
                    <a:p>
                      <a:pPr algn="ctr" indent="0" marL="0">
                        <a:buNone/>
                      </a:pPr>
                      <a:r>
                        <a:rPr lang="en-US" sz="2200" b="1" dirty="0">
                          <a:solidFill>
                            <a:srgbClr val="FFFFFF"/>
                          </a:solidFill>
                          <a:latin typeface="Manrope" pitchFamily="34" charset="0"/>
                          <a:ea typeface="Manrope" pitchFamily="34" charset="-122"/>
                          <a:cs typeface="Manrope" pitchFamily="34" charset="-120"/>
                        </a:rPr>
                        <a:t>A. Regional</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1B1B1B"/>
                    </a:solidFill>
                  </a:tcPr>
                </a:tc>
                <a:tc>
                  <a:txBody>
                    <a:bodyPr/>
                    <a:lstStyle/>
                    <a:p>
                      <a:pPr algn="ctr" indent="0" marL="0">
                        <a:buNone/>
                      </a:pPr>
                      <a:r>
                        <a:rPr lang="en-US" sz="2200" b="1" dirty="0">
                          <a:solidFill>
                            <a:srgbClr val="FFFFFF"/>
                          </a:solidFill>
                          <a:latin typeface="Manrope" pitchFamily="34" charset="0"/>
                          <a:ea typeface="Manrope" pitchFamily="34" charset="-122"/>
                          <a:cs typeface="Manrope" pitchFamily="34" charset="-120"/>
                        </a:rPr>
                        <a:t>B. Penuh</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1B1B1B"/>
                    </a:solidFill>
                  </a:tcPr>
                </a:tc>
                <a:tc>
                  <a:txBody>
                    <a:bodyPr/>
                    <a:lstStyle/>
                    <a:p>
                      <a:pPr algn="ctr" indent="0" marL="0">
                        <a:buNone/>
                      </a:pPr>
                      <a:r>
                        <a:rPr lang="en-US" sz="2200" b="1" dirty="0">
                          <a:solidFill>
                            <a:srgbClr val="FFFFFF"/>
                          </a:solidFill>
                          <a:latin typeface="Manrope" pitchFamily="34" charset="0"/>
                          <a:ea typeface="Manrope" pitchFamily="34" charset="-122"/>
                          <a:cs typeface="Manrope" pitchFamily="34" charset="-120"/>
                        </a:rPr>
                        <a:t>C. Bertahap</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2C7BB8"/>
                    </a:solidFill>
                  </a:tcPr>
                </a:tc>
              </a:tr>
              <a:tr h="566928">
                <a:tc>
                  <a:txBody>
                    <a:bodyPr/>
                    <a:lstStyle/>
                    <a:p>
                      <a:pPr indent="0" marL="0">
                        <a:buNone/>
                      </a:pPr>
                      <a:r>
                        <a:rPr lang="en-US" sz="2200" b="1" dirty="0">
                          <a:solidFill>
                            <a:srgbClr val="1B1B1B"/>
                          </a:solidFill>
                          <a:latin typeface="Manrope" pitchFamily="34" charset="0"/>
                          <a:ea typeface="Manrope" pitchFamily="34" charset="-122"/>
                          <a:cs typeface="Manrope" pitchFamily="34" charset="-120"/>
                        </a:rPr>
                        <a:t>Peluang pasar jarak jauh</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E63E2C"/>
                          </a:solidFill>
                          <a:latin typeface="Manrope" pitchFamily="34" charset="0"/>
                          <a:ea typeface="Manrope" pitchFamily="34" charset="-122"/>
                          <a:cs typeface="Manrope" pitchFamily="34" charset="-120"/>
                        </a:rPr>
                        <a:t>Lemah</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C7BB8"/>
                          </a:solidFill>
                          <a:latin typeface="Manrope" pitchFamily="34" charset="0"/>
                          <a:ea typeface="Manrope" pitchFamily="34" charset="-122"/>
                          <a:cs typeface="Manrope" pitchFamily="34" charset="-120"/>
                        </a:rPr>
                        <a:t>Kuat</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C98A00"/>
                          </a:solidFill>
                          <a:latin typeface="Manrope" pitchFamily="34" charset="0"/>
                          <a:ea typeface="Manrope" pitchFamily="34" charset="-122"/>
                          <a:cs typeface="Manrope" pitchFamily="34" charset="-120"/>
                        </a:rPr>
                        <a:t>Cukup</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E4EEF7"/>
                    </a:solidFill>
                  </a:tcPr>
                </a:tc>
              </a:tr>
              <a:tr h="566928">
                <a:tc>
                  <a:txBody>
                    <a:bodyPr/>
                    <a:lstStyle/>
                    <a:p>
                      <a:pPr indent="0" marL="0">
                        <a:buNone/>
                      </a:pPr>
                      <a:r>
                        <a:rPr lang="en-US" sz="2200" b="1" dirty="0">
                          <a:solidFill>
                            <a:srgbClr val="1B1B1B"/>
                          </a:solidFill>
                          <a:latin typeface="Manrope" pitchFamily="34" charset="0"/>
                          <a:ea typeface="Manrope" pitchFamily="34" charset="-122"/>
                          <a:cs typeface="Manrope" pitchFamily="34" charset="-120"/>
                        </a:rPr>
                        <a:t>Daya tahan vs network carriers</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C7BB8"/>
                          </a:solidFill>
                          <a:latin typeface="Manrope" pitchFamily="34" charset="0"/>
                          <a:ea typeface="Manrope" pitchFamily="34" charset="-122"/>
                          <a:cs typeface="Manrope" pitchFamily="34" charset="-120"/>
                        </a:rPr>
                        <a:t>Kuat</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E63E2C"/>
                          </a:solidFill>
                          <a:latin typeface="Manrope" pitchFamily="34" charset="0"/>
                          <a:ea typeface="Manrope" pitchFamily="34" charset="-122"/>
                          <a:cs typeface="Manrope" pitchFamily="34" charset="-120"/>
                        </a:rPr>
                        <a:t>Lemah</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C98A00"/>
                          </a:solidFill>
                          <a:latin typeface="Manrope" pitchFamily="34" charset="0"/>
                          <a:ea typeface="Manrope" pitchFamily="34" charset="-122"/>
                          <a:cs typeface="Manrope" pitchFamily="34" charset="-120"/>
                        </a:rPr>
                        <a:t>Cukup</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E4EEF7"/>
                    </a:solidFill>
                  </a:tcPr>
                </a:tc>
              </a:tr>
              <a:tr h="566928">
                <a:tc>
                  <a:txBody>
                    <a:bodyPr/>
                    <a:lstStyle/>
                    <a:p>
                      <a:pPr indent="0" marL="0">
                        <a:buNone/>
                      </a:pPr>
                      <a:r>
                        <a:rPr lang="en-US" sz="2200" b="1" dirty="0">
                          <a:solidFill>
                            <a:srgbClr val="1B1B1B"/>
                          </a:solidFill>
                          <a:latin typeface="Manrope" pitchFamily="34" charset="0"/>
                          <a:ea typeface="Manrope" pitchFamily="34" charset="-122"/>
                          <a:cs typeface="Manrope" pitchFamily="34" charset="-120"/>
                        </a:rPr>
                        <a:t>Keamanan finansial</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C7BB8"/>
                          </a:solidFill>
                          <a:latin typeface="Manrope" pitchFamily="34" charset="0"/>
                          <a:ea typeface="Manrope" pitchFamily="34" charset="-122"/>
                          <a:cs typeface="Manrope" pitchFamily="34" charset="-120"/>
                        </a:rPr>
                        <a:t>Kuat</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E63E2C"/>
                          </a:solidFill>
                          <a:latin typeface="Manrope" pitchFamily="34" charset="0"/>
                          <a:ea typeface="Manrope" pitchFamily="34" charset="-122"/>
                          <a:cs typeface="Manrope" pitchFamily="34" charset="-120"/>
                        </a:rPr>
                        <a:t>Lemah</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C98A00"/>
                          </a:solidFill>
                          <a:latin typeface="Manrope" pitchFamily="34" charset="0"/>
                          <a:ea typeface="Manrope" pitchFamily="34" charset="-122"/>
                          <a:cs typeface="Manrope" pitchFamily="34" charset="-120"/>
                        </a:rPr>
                        <a:t>Cukup</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E4EEF7"/>
                    </a:solidFill>
                  </a:tcPr>
                </a:tc>
              </a:tr>
              <a:tr h="566928">
                <a:tc>
                  <a:txBody>
                    <a:bodyPr/>
                    <a:lstStyle/>
                    <a:p>
                      <a:pPr indent="0" marL="0">
                        <a:buNone/>
                      </a:pPr>
                      <a:r>
                        <a:rPr lang="en-US" sz="2200" b="1" dirty="0">
                          <a:solidFill>
                            <a:srgbClr val="1B1B1B"/>
                          </a:solidFill>
                          <a:latin typeface="Manrope" pitchFamily="34" charset="0"/>
                          <a:ea typeface="Manrope" pitchFamily="34" charset="-122"/>
                          <a:cs typeface="Manrope" pitchFamily="34" charset="-120"/>
                        </a:rPr>
                        <a:t>Eksploitasi dan eksplorasi</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E63E2C"/>
                          </a:solidFill>
                          <a:latin typeface="Manrope" pitchFamily="34" charset="0"/>
                          <a:ea typeface="Manrope" pitchFamily="34" charset="-122"/>
                          <a:cs typeface="Manrope" pitchFamily="34" charset="-120"/>
                        </a:rPr>
                        <a:t>Lemah</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C98A00"/>
                          </a:solidFill>
                          <a:latin typeface="Manrope" pitchFamily="34" charset="0"/>
                          <a:ea typeface="Manrope" pitchFamily="34" charset="-122"/>
                          <a:cs typeface="Manrope" pitchFamily="34" charset="-120"/>
                        </a:rPr>
                        <a:t>Cukup</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C7BB8"/>
                          </a:solidFill>
                          <a:latin typeface="Manrope" pitchFamily="34" charset="0"/>
                          <a:ea typeface="Manrope" pitchFamily="34" charset="-122"/>
                          <a:cs typeface="Manrope" pitchFamily="34" charset="-120"/>
                        </a:rPr>
                        <a:t>Kuat</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E4EEF7"/>
                    </a:solidFill>
                  </a:tcPr>
                </a:tc>
              </a:tr>
              <a:tr h="566928">
                <a:tc>
                  <a:txBody>
                    <a:bodyPr/>
                    <a:lstStyle/>
                    <a:p>
                      <a:pPr indent="0" marL="0">
                        <a:buNone/>
                      </a:pPr>
                      <a:r>
                        <a:rPr lang="en-US" sz="2200" b="1" dirty="0">
                          <a:solidFill>
                            <a:srgbClr val="1B1B1B"/>
                          </a:solidFill>
                          <a:latin typeface="Manrope" pitchFamily="34" charset="0"/>
                          <a:ea typeface="Manrope" pitchFamily="34" charset="-122"/>
                          <a:cs typeface="Manrope" pitchFamily="34" charset="-120"/>
                        </a:rPr>
                        <a:t>Tata kelola dan pemegang saham</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C98A00"/>
                          </a:solidFill>
                          <a:latin typeface="Manrope" pitchFamily="34" charset="0"/>
                          <a:ea typeface="Manrope" pitchFamily="34" charset="-122"/>
                          <a:cs typeface="Manrope" pitchFamily="34" charset="-120"/>
                        </a:rPr>
                        <a:t>Cukup</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C98A00"/>
                          </a:solidFill>
                          <a:latin typeface="Manrope" pitchFamily="34" charset="0"/>
                          <a:ea typeface="Manrope" pitchFamily="34" charset="-122"/>
                          <a:cs typeface="Manrope" pitchFamily="34" charset="-120"/>
                        </a:rPr>
                        <a:t>Cukup</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C7BB8"/>
                          </a:solidFill>
                          <a:latin typeface="Manrope" pitchFamily="34" charset="0"/>
                          <a:ea typeface="Manrope" pitchFamily="34" charset="-122"/>
                          <a:cs typeface="Manrope" pitchFamily="34" charset="-120"/>
                        </a:rPr>
                        <a:t>Kuat</a:t>
                      </a:r>
                      <a:endParaRPr lang="en-US" sz="2200" dirty="0">
                        <a:latin typeface="Manrope" charset="0"/>
                        <a:ea typeface="Manrope" charset="0"/>
                        <a:cs typeface="Manrope" charset="0"/>
                      </a:endParaRPr>
                    </a:p>
                  </a:txBody>
                  <a:tcPr marL="137160" marR="137160" marT="36576" marB="36576" anchor="ctr">
                    <a:lnL w="25400" cap="flat" cmpd="sng" algn="ctr">
                      <a:solidFill>
                        <a:srgbClr val="F3E2CF"/>
                      </a:solidFill>
                      <a:prstDash val="solid"/>
                      <a:round/>
                      <a:headEnd type="none" w="med" len="med"/>
                      <a:tailEnd type="none" w="med" len="med"/>
                    </a:lnL>
                    <a:lnR w="25400" cap="flat" cmpd="sng" algn="ctr">
                      <a:solidFill>
                        <a:srgbClr val="F3E2CF"/>
                      </a:solidFill>
                      <a:prstDash val="solid"/>
                      <a:round/>
                      <a:headEnd type="none" w="med" len="med"/>
                      <a:tailEnd type="none" w="med" len="med"/>
                    </a:lnR>
                    <a:lnT w="25400" cap="flat" cmpd="sng" algn="ctr">
                      <a:solidFill>
                        <a:srgbClr val="F3E2CF"/>
                      </a:solidFill>
                      <a:prstDash val="solid"/>
                      <a:round/>
                      <a:headEnd type="none" w="med" len="med"/>
                      <a:tailEnd type="none" w="med" len="med"/>
                    </a:lnT>
                    <a:lnB w="25400" cap="flat" cmpd="sng" algn="ctr">
                      <a:solidFill>
                        <a:srgbClr val="F3E2CF"/>
                      </a:solidFill>
                      <a:prstDash val="solid"/>
                      <a:round/>
                      <a:headEnd type="none" w="med" len="med"/>
                      <a:tailEnd type="none" w="med" len="med"/>
                    </a:lnB>
                    <a:solidFill>
                      <a:srgbClr val="E4EEF7"/>
                    </a:solidFill>
                  </a:tcPr>
                </a:tc>
              </a:tr>
            </a:tbl>
          </a:graphicData>
        </a:graphic>
      </p:graphicFrame>
      <p:sp>
        <p:nvSpPr>
          <p:cNvPr id="5" name="Shape 2"/>
          <p:cNvSpPr/>
          <p:nvPr/>
        </p:nvSpPr>
        <p:spPr>
          <a:xfrm>
            <a:off x="10789920" y="502920"/>
            <a:ext cx="777240" cy="777240"/>
          </a:xfrm>
          <a:prstGeom prst="ellipse">
            <a:avLst/>
          </a:prstGeom>
          <a:solidFill>
            <a:srgbClr val="E63E2C"/>
          </a:solidFill>
          <a:ln w="12700">
            <a:solidFill>
              <a:srgbClr val="E63E2C"/>
            </a:solidFill>
            <a:prstDash val="solid"/>
          </a:ln>
        </p:spPr>
      </p:sp>
      <p:sp>
        <p:nvSpPr>
          <p:cNvPr id="6" name="Shape 3"/>
          <p:cNvSpPr/>
          <p:nvPr/>
        </p:nvSpPr>
        <p:spPr>
          <a:xfrm>
            <a:off x="9829800" y="502920"/>
            <a:ext cx="777240" cy="777240"/>
          </a:xfrm>
          <a:prstGeom prst="ellipse">
            <a:avLst/>
          </a:prstGeom>
          <a:solidFill>
            <a:srgbClr val="F4C430"/>
          </a:solidFill>
          <a:ln w="12700">
            <a:solidFill>
              <a:srgbClr val="F4C430"/>
            </a:solidFill>
            <a:prstDash val="solid"/>
          </a:ln>
        </p:spPr>
      </p:sp>
      <p:sp>
        <p:nvSpPr>
          <p:cNvPr id="7" name="Shape 4"/>
          <p:cNvSpPr/>
          <p:nvPr/>
        </p:nvSpPr>
        <p:spPr>
          <a:xfrm>
            <a:off x="8869680" y="502920"/>
            <a:ext cx="777240" cy="777240"/>
          </a:xfrm>
          <a:prstGeom prst="ellipse">
            <a:avLst/>
          </a:prstGeom>
          <a:solidFill>
            <a:srgbClr val="2C7BB8"/>
          </a:solidFill>
          <a:ln w="12700">
            <a:solidFill>
              <a:srgbClr val="2C7BB8"/>
            </a:solidFill>
            <a:prstDash val="solid"/>
          </a:ln>
        </p:spPr>
      </p:sp>
      <p:sp>
        <p:nvSpPr>
          <p:cNvPr id="8" name="Text 5"/>
          <p:cNvSpPr txBox="1"/>
          <p:nvPr/>
        </p:nvSpPr>
        <p:spPr>
          <a:xfrm>
            <a:off x="548640" y="6172200"/>
            <a:ext cx="10424160" cy="457200"/>
          </a:xfrm>
          <a:prstGeom prst="rect">
            <a:avLst/>
          </a:prstGeom>
          <a:noFill/>
          <a:ln/>
        </p:spPr>
        <p:txBody>
          <a:bodyPr wrap="square" lIns="0" tIns="0" rIns="0" bIns="0" rtlCol="0" anchor="ctr"/>
          <a:lstStyle/>
          <a:p>
            <a:pPr indent="0" marL="0">
              <a:buNone/>
            </a:pPr>
            <a:r>
              <a:rPr lang="en-US" sz="1200" dirty="0">
                <a:solidFill>
                  <a:srgbClr val="E63E2C"/>
                </a:solidFill>
                <a:latin typeface="Manrope" pitchFamily="34" charset="0"/>
                <a:ea typeface="Manrope" pitchFamily="34" charset="-122"/>
                <a:cs typeface="Manrope" pitchFamily="34" charset="-120"/>
              </a:rPr>
              <a:t>■  </a:t>
            </a:r>
            <a:pPr indent="0" marL="0">
              <a:buNone/>
            </a:pPr>
            <a:r>
              <a:rPr lang="en-US" sz="1800" b="1" dirty="0">
                <a:solidFill>
                  <a:srgbClr val="1B1B1B"/>
                </a:solidFill>
                <a:latin typeface="Manrope" pitchFamily="34" charset="0"/>
                <a:ea typeface="Manrope" pitchFamily="34" charset="-122"/>
                <a:cs typeface="Manrope" pitchFamily="34" charset="-120"/>
              </a:rPr>
              <a:t>Selanjutnya  </a:t>
            </a:r>
            <a:pPr indent="0" marL="0">
              <a:buNone/>
            </a:pPr>
            <a:r>
              <a:rPr lang="en-US" sz="1800" dirty="0">
                <a:solidFill>
                  <a:srgbClr val="4A4A4A"/>
                </a:solidFill>
                <a:latin typeface="Manrope" pitchFamily="34" charset="0"/>
                <a:ea typeface="Manrope" pitchFamily="34" charset="-122"/>
                <a:cs typeface="Manrope" pitchFamily="34" charset="-120"/>
              </a:rPr>
              <a:t>Alternatif C tanpa satu pun kriteria lemah. Itulah rekomendasi kami.</a:t>
            </a:r>
            <a:endParaRPr lang="en-US" sz="1800" dirty="0"/>
          </a:p>
        </p:txBody>
      </p:sp>
      <p:sp>
        <p:nvSpPr>
          <p:cNvPr id="9" name="Text 6"/>
          <p:cNvSpPr txBox="1"/>
          <p:nvPr/>
        </p:nvSpPr>
        <p:spPr>
          <a:xfrm>
            <a:off x="11247120" y="6355080"/>
            <a:ext cx="548640" cy="320040"/>
          </a:xfrm>
          <a:prstGeom prst="rect">
            <a:avLst/>
          </a:prstGeom>
          <a:noFill/>
          <a:ln/>
        </p:spPr>
        <p:txBody>
          <a:bodyPr wrap="square" lIns="0" tIns="0" rIns="0" bIns="0" rtlCol="0" anchor="ctr"/>
          <a:lstStyle/>
          <a:p>
            <a:pPr algn="r" indent="0" marL="0">
              <a:buNone/>
            </a:pPr>
            <a:r>
              <a:rPr lang="en-US" sz="1200" b="1" dirty="0">
                <a:solidFill>
                  <a:srgbClr val="1B1B1B"/>
                </a:solidFill>
                <a:latin typeface="Manrope" pitchFamily="34" charset="0"/>
                <a:ea typeface="Manrope" pitchFamily="34" charset="-122"/>
                <a:cs typeface="Manrope"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2CF"/>
        </a:solidFill>
      </p:bgPr>
    </p:bg>
    <p:spTree>
      <p:nvGrpSpPr>
        <p:cNvPr id="1" name=""/>
        <p:cNvGrpSpPr/>
        <p:nvPr/>
      </p:nvGrpSpPr>
      <p:grpSpPr>
        <a:xfrm>
          <a:off x="0" y="0"/>
          <a:ext cx="0" cy="0"/>
          <a:chOff x="0" y="0"/>
          <a:chExt cx="0" cy="0"/>
        </a:xfrm>
      </p:grpSpPr>
      <p:sp>
        <p:nvSpPr>
          <p:cNvPr id="2" name="Shape 0"/>
          <p:cNvSpPr/>
          <p:nvPr/>
        </p:nvSpPr>
        <p:spPr>
          <a:xfrm>
            <a:off x="548640" y="411480"/>
            <a:ext cx="5047488" cy="868680"/>
          </a:xfrm>
          <a:prstGeom prst="rect">
            <a:avLst/>
          </a:prstGeom>
          <a:solidFill>
            <a:srgbClr val="E63E2C"/>
          </a:solidFill>
          <a:ln w="12700">
            <a:solidFill>
              <a:srgbClr val="E63E2C"/>
            </a:solidFill>
            <a:prstDash val="solid"/>
          </a:ln>
        </p:spPr>
      </p:sp>
      <p:sp>
        <p:nvSpPr>
          <p:cNvPr id="3" name="Text 1"/>
          <p:cNvSpPr txBox="1"/>
          <p:nvPr/>
        </p:nvSpPr>
        <p:spPr>
          <a:xfrm>
            <a:off x="548640" y="411480"/>
            <a:ext cx="5047488" cy="868680"/>
          </a:xfrm>
          <a:prstGeom prst="rect">
            <a:avLst/>
          </a:prstGeom>
          <a:noFill/>
          <a:ln/>
        </p:spPr>
        <p:txBody>
          <a:bodyPr wrap="square" lIns="0" tIns="3810" rIns="3810" bIns="0" rtlCol="0" anchor="ctr"/>
          <a:lstStyle/>
          <a:p>
            <a:pPr indent="0" marL="0">
              <a:buNone/>
            </a:pPr>
            <a:r>
              <a:rPr lang="en-US" sz="4400" dirty="0">
                <a:solidFill>
                  <a:srgbClr val="FFFFFF"/>
                </a:solidFill>
                <a:latin typeface="Bebas Neue" pitchFamily="34" charset="0"/>
                <a:ea typeface="Bebas Neue" pitchFamily="34" charset="-122"/>
                <a:cs typeface="Bebas Neue" pitchFamily="34" charset="-120"/>
              </a:rPr>
              <a:t>RECOMMENDATION</a:t>
            </a:r>
            <a:endParaRPr lang="en-US" sz="4400" dirty="0"/>
          </a:p>
        </p:txBody>
      </p:sp>
      <p:sp>
        <p:nvSpPr>
          <p:cNvPr id="4" name="Text 2"/>
          <p:cNvSpPr txBox="1"/>
          <p:nvPr/>
        </p:nvSpPr>
        <p:spPr>
          <a:xfrm>
            <a:off x="548640" y="1298448"/>
            <a:ext cx="10058400" cy="320040"/>
          </a:xfrm>
          <a:prstGeom prst="rect">
            <a:avLst/>
          </a:prstGeom>
          <a:noFill/>
          <a:ln/>
        </p:spPr>
        <p:txBody>
          <a:bodyPr wrap="square" lIns="0" tIns="0" rIns="0" bIns="0" rtlCol="0" anchor="ctr"/>
          <a:lstStyle/>
          <a:p>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PROBLEM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EXTERNAL ENVIRONMENT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COST POSITION     </a:t>
            </a:r>
            <a:pPr indent="0" marL="0">
              <a:buNone/>
            </a:pPr>
            <a:r>
              <a:rPr lang="en-US" sz="1200" spc="150" kern="0" dirty="0">
                <a:solidFill>
                  <a:srgbClr val="1B1B1B"/>
                </a:solidFill>
                <a:latin typeface="Manrope" pitchFamily="34" charset="0"/>
                <a:ea typeface="Manrope" pitchFamily="34" charset="-122"/>
                <a:cs typeface="Manrope" pitchFamily="34" charset="-120"/>
              </a:rPr>
              <a:t>■ </a:t>
            </a:r>
            <a:pPr indent="0" marL="0">
              <a:buNone/>
            </a:pPr>
            <a:r>
              <a:rPr lang="en-US" sz="1300" b="1" spc="150" kern="0" dirty="0">
                <a:solidFill>
                  <a:srgbClr val="1B1B1B"/>
                </a:solidFill>
                <a:latin typeface="Manrope" pitchFamily="34" charset="0"/>
                <a:ea typeface="Manrope" pitchFamily="34" charset="-122"/>
                <a:cs typeface="Manrope" pitchFamily="34" charset="-120"/>
              </a:rPr>
              <a:t>CHOICE     </a:t>
            </a:r>
            <a:endParaRPr lang="en-US" sz="1300" dirty="0"/>
          </a:p>
        </p:txBody>
      </p:sp>
      <p:sp>
        <p:nvSpPr>
          <p:cNvPr id="5" name="Shape 3"/>
          <p:cNvSpPr/>
          <p:nvPr/>
        </p:nvSpPr>
        <p:spPr>
          <a:xfrm>
            <a:off x="274320" y="2103120"/>
            <a:ext cx="3108960" cy="3108960"/>
          </a:xfrm>
          <a:prstGeom prst="ellipse">
            <a:avLst/>
          </a:prstGeom>
          <a:solidFill>
            <a:srgbClr val="2C7BB8"/>
          </a:solidFill>
          <a:ln w="12700">
            <a:solidFill>
              <a:srgbClr val="2C7BB8"/>
            </a:solidFill>
            <a:prstDash val="solid"/>
          </a:ln>
        </p:spPr>
      </p:sp>
      <p:pic>
        <p:nvPicPr>
          <p:cNvPr id="6" name="Image 0" descr="/tmp/claude-0/-home-user-Dom-Manipulation/a70c4110-05d8-512e-ae11-d08dee025a7a/scratchpad/img/bw_pilot.png">    </p:cNvPr>
          <p:cNvPicPr>
            <a:picLocks noChangeAspect="1"/>
          </p:cNvPicPr>
          <p:nvPr/>
        </p:nvPicPr>
        <p:blipFill>
          <a:blip r:embed="rId1"/>
          <a:stretch>
            <a:fillRect/>
          </a:stretch>
        </p:blipFill>
        <p:spPr>
          <a:xfrm>
            <a:off x="640080" y="1737360"/>
            <a:ext cx="3291840" cy="4206240"/>
          </a:xfrm>
          <a:prstGeom prst="rect">
            <a:avLst/>
          </a:prstGeom>
        </p:spPr>
      </p:pic>
      <p:sp>
        <p:nvSpPr>
          <p:cNvPr id="7" name="Shape 4"/>
          <p:cNvSpPr/>
          <p:nvPr/>
        </p:nvSpPr>
        <p:spPr>
          <a:xfrm>
            <a:off x="548640" y="5760720"/>
            <a:ext cx="3840480" cy="109728"/>
          </a:xfrm>
          <a:prstGeom prst="rect">
            <a:avLst/>
          </a:prstGeom>
          <a:solidFill>
            <a:srgbClr val="1B1B1B"/>
          </a:solidFill>
          <a:ln w="12700">
            <a:solidFill>
              <a:srgbClr val="1B1B1B"/>
            </a:solidFill>
            <a:prstDash val="solid"/>
          </a:ln>
        </p:spPr>
      </p:sp>
      <p:sp>
        <p:nvSpPr>
          <p:cNvPr id="8" name="Text 5"/>
          <p:cNvSpPr txBox="1"/>
          <p:nvPr/>
        </p:nvSpPr>
        <p:spPr>
          <a:xfrm>
            <a:off x="4754880" y="1783080"/>
            <a:ext cx="6949440" cy="1554480"/>
          </a:xfrm>
          <a:prstGeom prst="rect">
            <a:avLst/>
          </a:prstGeom>
          <a:noFill/>
          <a:ln/>
        </p:spPr>
        <p:txBody>
          <a:bodyPr wrap="square" lIns="0" tIns="0" rIns="0" bIns="0" rtlCol="0" anchor="t"/>
          <a:lstStyle/>
          <a:p>
            <a:pPr indent="0" marL="0">
              <a:buNone/>
            </a:pPr>
            <a:r>
              <a:rPr lang="en-US" sz="3400" dirty="0">
                <a:solidFill>
                  <a:srgbClr val="1B1B1B"/>
                </a:solidFill>
                <a:latin typeface="Bebas Neue" pitchFamily="34" charset="0"/>
                <a:ea typeface="Bebas Neue" pitchFamily="34" charset="-122"/>
                <a:cs typeface="Bebas Neue" pitchFamily="34" charset="-120"/>
              </a:rPr>
              <a:t>INTEGRASI BERTAHAP: KENDALIKAN AIRASIA X, BATASI RUTE, BUKTIKAN DULU, BARU MERGER.</a:t>
            </a:r>
            <a:endParaRPr lang="en-US" sz="3400" dirty="0"/>
          </a:p>
        </p:txBody>
      </p:sp>
      <p:sp>
        <p:nvSpPr>
          <p:cNvPr id="9" name="Text 6"/>
          <p:cNvSpPr txBox="1"/>
          <p:nvPr/>
        </p:nvSpPr>
        <p:spPr>
          <a:xfrm>
            <a:off x="4754880" y="3566160"/>
            <a:ext cx="6949440" cy="246888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Eksekusi opsi 30 persen dan tempatkan manajemen AirAsia</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Rute 4 sampai 8 jam dengan A330 sampai A350 tiba</a:t>
            </a:r>
            <a:endParaRPr lang="en-US" sz="2400" dirty="0"/>
          </a:p>
          <a:p>
            <a:pPr marL="342900" indent="-342900">
              <a:spcAft>
                <a:spcPts val="800"/>
              </a:spcAft>
              <a:buSzPct val="100000"/>
              <a:buChar char="■"/>
            </a:pPr>
            <a:r>
              <a:rPr lang="en-US" sz="2400" dirty="0">
                <a:solidFill>
                  <a:srgbClr val="1B1B1B"/>
                </a:solidFill>
                <a:latin typeface="Manrope" pitchFamily="34" charset="0"/>
                <a:ea typeface="Manrope" pitchFamily="34" charset="-122"/>
                <a:cs typeface="Manrope" pitchFamily="34" charset="-120"/>
              </a:rPr>
              <a:t>Merger hanya setelah empat kuartal laba dan arus kas positif</a:t>
            </a:r>
            <a:endParaRPr lang="en-US" sz="2400" dirty="0"/>
          </a:p>
        </p:txBody>
      </p:sp>
      <p:sp>
        <p:nvSpPr>
          <p:cNvPr id="10" name="Text 7"/>
          <p:cNvSpPr txBox="1"/>
          <p:nvPr/>
        </p:nvSpPr>
        <p:spPr>
          <a:xfrm>
            <a:off x="548640" y="6172200"/>
            <a:ext cx="10424160" cy="457200"/>
          </a:xfrm>
          <a:prstGeom prst="rect">
            <a:avLst/>
          </a:prstGeom>
          <a:noFill/>
          <a:ln/>
        </p:spPr>
        <p:txBody>
          <a:bodyPr wrap="square" lIns="0" tIns="0" rIns="0" bIns="0" rtlCol="0" anchor="ctr"/>
          <a:lstStyle/>
          <a:p>
            <a:pPr indent="0" marL="0">
              <a:buNone/>
            </a:pPr>
            <a:r>
              <a:rPr lang="en-US" sz="1200" dirty="0">
                <a:solidFill>
                  <a:srgbClr val="E63E2C"/>
                </a:solidFill>
                <a:latin typeface="Manrope" pitchFamily="34" charset="0"/>
                <a:ea typeface="Manrope" pitchFamily="34" charset="-122"/>
                <a:cs typeface="Manrope" pitchFamily="34" charset="-120"/>
              </a:rPr>
              <a:t>■  </a:t>
            </a:r>
            <a:pPr indent="0" marL="0">
              <a:buNone/>
            </a:pPr>
            <a:r>
              <a:rPr lang="en-US" sz="1800" b="1" dirty="0">
                <a:solidFill>
                  <a:srgbClr val="1B1B1B"/>
                </a:solidFill>
                <a:latin typeface="Manrope" pitchFamily="34" charset="0"/>
                <a:ea typeface="Manrope" pitchFamily="34" charset="-122"/>
                <a:cs typeface="Manrope" pitchFamily="34" charset="-120"/>
              </a:rPr>
              <a:t>Selanjutnya  </a:t>
            </a:r>
            <a:pPr indent="0" marL="0">
              <a:buNone/>
            </a:pPr>
            <a:r>
              <a:rPr lang="en-US" sz="1800" dirty="0">
                <a:solidFill>
                  <a:srgbClr val="4A4A4A"/>
                </a:solidFill>
                <a:latin typeface="Manrope" pitchFamily="34" charset="0"/>
                <a:ea typeface="Manrope" pitchFamily="34" charset="-122"/>
                <a:cs typeface="Manrope" pitchFamily="34" charset="-120"/>
              </a:rPr>
              <a:t>Rencana implementasinya: KPI, waktu, penanggung jawab.</a:t>
            </a:r>
            <a:endParaRPr lang="en-US" sz="1800" dirty="0"/>
          </a:p>
        </p:txBody>
      </p:sp>
      <p:sp>
        <p:nvSpPr>
          <p:cNvPr id="11" name="Text 8"/>
          <p:cNvSpPr txBox="1"/>
          <p:nvPr/>
        </p:nvSpPr>
        <p:spPr>
          <a:xfrm>
            <a:off x="11247120" y="6355080"/>
            <a:ext cx="548640" cy="320040"/>
          </a:xfrm>
          <a:prstGeom prst="rect">
            <a:avLst/>
          </a:prstGeom>
          <a:noFill/>
          <a:ln/>
        </p:spPr>
        <p:txBody>
          <a:bodyPr wrap="square" lIns="0" tIns="0" rIns="0" bIns="0" rtlCol="0" anchor="ctr"/>
          <a:lstStyle/>
          <a:p>
            <a:pPr algn="r" indent="0" marL="0">
              <a:buNone/>
            </a:pPr>
            <a:r>
              <a:rPr lang="en-US" sz="1200" b="1" dirty="0">
                <a:solidFill>
                  <a:srgbClr val="1B1B1B"/>
                </a:solidFill>
                <a:latin typeface="Manrope" pitchFamily="34" charset="0"/>
                <a:ea typeface="Manrope" pitchFamily="34" charset="-122"/>
                <a:cs typeface="Manrope"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2CF"/>
        </a:solidFill>
      </p:bgPr>
    </p:bg>
    <p:spTree>
      <p:nvGrpSpPr>
        <p:cNvPr id="1" name=""/>
        <p:cNvGrpSpPr/>
        <p:nvPr/>
      </p:nvGrpSpPr>
      <p:grpSpPr>
        <a:xfrm>
          <a:off x="0" y="0"/>
          <a:ext cx="0" cy="0"/>
          <a:chOff x="0" y="0"/>
          <a:chExt cx="0" cy="0"/>
        </a:xfrm>
      </p:grpSpPr>
      <p:sp>
        <p:nvSpPr>
          <p:cNvPr id="2" name="Text 0"/>
          <p:cNvSpPr txBox="1"/>
          <p:nvPr/>
        </p:nvSpPr>
        <p:spPr>
          <a:xfrm>
            <a:off x="548640" y="411480"/>
            <a:ext cx="10515600" cy="868680"/>
          </a:xfrm>
          <a:prstGeom prst="rect">
            <a:avLst/>
          </a:prstGeom>
          <a:noFill/>
          <a:ln/>
        </p:spPr>
        <p:txBody>
          <a:bodyPr wrap="square" lIns="0" tIns="0" rIns="0" bIns="0" rtlCol="0" anchor="ctr"/>
          <a:lstStyle/>
          <a:p>
            <a:pPr indent="0" marL="0">
              <a:buNone/>
            </a:pPr>
            <a:r>
              <a:rPr lang="en-US" sz="5400" dirty="0">
                <a:solidFill>
                  <a:srgbClr val="1B1B1B"/>
                </a:solidFill>
                <a:latin typeface="Bebas Neue" pitchFamily="34" charset="0"/>
                <a:ea typeface="Bebas Neue" pitchFamily="34" charset="-122"/>
                <a:cs typeface="Bebas Neue" pitchFamily="34" charset="-120"/>
              </a:rPr>
              <a:t>IMPLEMENTATION PLAN</a:t>
            </a:r>
            <a:endParaRPr lang="en-US" sz="5400" dirty="0"/>
          </a:p>
        </p:txBody>
      </p:sp>
      <p:sp>
        <p:nvSpPr>
          <p:cNvPr id="3" name="Text 1"/>
          <p:cNvSpPr txBox="1"/>
          <p:nvPr/>
        </p:nvSpPr>
        <p:spPr>
          <a:xfrm>
            <a:off x="548640" y="1298448"/>
            <a:ext cx="10058400" cy="320040"/>
          </a:xfrm>
          <a:prstGeom prst="rect">
            <a:avLst/>
          </a:prstGeom>
          <a:noFill/>
          <a:ln/>
        </p:spPr>
        <p:txBody>
          <a:bodyPr wrap="square" lIns="0" tIns="0" rIns="0" bIns="0" rtlCol="0" anchor="ctr"/>
          <a:lstStyle/>
          <a:p>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PROBLEM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EXTERNAL ENVIRONMENT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COST POSITION     </a:t>
            </a:r>
            <a:pPr indent="0" marL="0">
              <a:buNone/>
            </a:pPr>
            <a:r>
              <a:rPr lang="en-US" sz="1200" spc="150" kern="0" dirty="0">
                <a:solidFill>
                  <a:srgbClr val="1B1B1B"/>
                </a:solidFill>
                <a:latin typeface="Manrope" pitchFamily="34" charset="0"/>
                <a:ea typeface="Manrope" pitchFamily="34" charset="-122"/>
                <a:cs typeface="Manrope" pitchFamily="34" charset="-120"/>
              </a:rPr>
              <a:t>■ </a:t>
            </a:r>
            <a:pPr indent="0" marL="0">
              <a:buNone/>
            </a:pPr>
            <a:r>
              <a:rPr lang="en-US" sz="1300" b="1" spc="150" kern="0" dirty="0">
                <a:solidFill>
                  <a:srgbClr val="1B1B1B"/>
                </a:solidFill>
                <a:latin typeface="Manrope" pitchFamily="34" charset="0"/>
                <a:ea typeface="Manrope" pitchFamily="34" charset="-122"/>
                <a:cs typeface="Manrope" pitchFamily="34" charset="-120"/>
              </a:rPr>
              <a:t>CHOICE     </a:t>
            </a:r>
            <a:endParaRPr lang="en-US" sz="1300" dirty="0"/>
          </a:p>
        </p:txBody>
      </p:sp>
      <p:sp>
        <p:nvSpPr>
          <p:cNvPr id="4" name="Text 2"/>
          <p:cNvSpPr txBox="1"/>
          <p:nvPr/>
        </p:nvSpPr>
        <p:spPr>
          <a:xfrm>
            <a:off x="1188720" y="1783080"/>
            <a:ext cx="5669280" cy="365760"/>
          </a:xfrm>
          <a:prstGeom prst="rect">
            <a:avLst/>
          </a:prstGeom>
          <a:noFill/>
          <a:ln/>
        </p:spPr>
        <p:txBody>
          <a:bodyPr wrap="square" lIns="0" tIns="0" rIns="0" bIns="0" rtlCol="0" anchor="ctr"/>
          <a:lstStyle/>
          <a:p>
            <a:pPr indent="0" marL="0">
              <a:buNone/>
            </a:pPr>
            <a:r>
              <a:rPr lang="en-US" sz="1400" b="1" spc="150" kern="0" dirty="0">
                <a:solidFill>
                  <a:srgbClr val="8E7F6E"/>
                </a:solidFill>
                <a:latin typeface="Manrope" pitchFamily="34" charset="0"/>
                <a:ea typeface="Manrope" pitchFamily="34" charset="-122"/>
                <a:cs typeface="Manrope" pitchFamily="34" charset="-120"/>
              </a:rPr>
              <a:t>INISIATIF DAN KPI</a:t>
            </a:r>
            <a:endParaRPr lang="en-US" sz="1400" dirty="0"/>
          </a:p>
        </p:txBody>
      </p:sp>
      <p:sp>
        <p:nvSpPr>
          <p:cNvPr id="5" name="Text 3"/>
          <p:cNvSpPr txBox="1"/>
          <p:nvPr/>
        </p:nvSpPr>
        <p:spPr>
          <a:xfrm>
            <a:off x="6949440" y="1783080"/>
            <a:ext cx="2194560" cy="365760"/>
          </a:xfrm>
          <a:prstGeom prst="rect">
            <a:avLst/>
          </a:prstGeom>
          <a:noFill/>
          <a:ln/>
        </p:spPr>
        <p:txBody>
          <a:bodyPr wrap="square" lIns="0" tIns="0" rIns="0" bIns="0" rtlCol="0" anchor="ctr"/>
          <a:lstStyle/>
          <a:p>
            <a:pPr indent="0" marL="0">
              <a:buNone/>
            </a:pPr>
            <a:r>
              <a:rPr lang="en-US" sz="1400" b="1" spc="150" kern="0" dirty="0">
                <a:solidFill>
                  <a:srgbClr val="8E7F6E"/>
                </a:solidFill>
                <a:latin typeface="Manrope" pitchFamily="34" charset="0"/>
                <a:ea typeface="Manrope" pitchFamily="34" charset="-122"/>
                <a:cs typeface="Manrope" pitchFamily="34" charset="-120"/>
              </a:rPr>
              <a:t>WAKTU</a:t>
            </a:r>
            <a:endParaRPr lang="en-US" sz="1400" dirty="0"/>
          </a:p>
        </p:txBody>
      </p:sp>
      <p:sp>
        <p:nvSpPr>
          <p:cNvPr id="6" name="Text 4"/>
          <p:cNvSpPr txBox="1"/>
          <p:nvPr/>
        </p:nvSpPr>
        <p:spPr>
          <a:xfrm>
            <a:off x="9235440" y="1783080"/>
            <a:ext cx="2468880" cy="365760"/>
          </a:xfrm>
          <a:prstGeom prst="rect">
            <a:avLst/>
          </a:prstGeom>
          <a:noFill/>
          <a:ln/>
        </p:spPr>
        <p:txBody>
          <a:bodyPr wrap="square" lIns="0" tIns="0" rIns="0" bIns="0" rtlCol="0" anchor="ctr"/>
          <a:lstStyle/>
          <a:p>
            <a:pPr indent="0" marL="0">
              <a:buNone/>
            </a:pPr>
            <a:r>
              <a:rPr lang="en-US" sz="1400" b="1" spc="150" kern="0" dirty="0">
                <a:solidFill>
                  <a:srgbClr val="8E7F6E"/>
                </a:solidFill>
                <a:latin typeface="Manrope" pitchFamily="34" charset="0"/>
                <a:ea typeface="Manrope" pitchFamily="34" charset="-122"/>
                <a:cs typeface="Manrope" pitchFamily="34" charset="-120"/>
              </a:rPr>
              <a:t>PENANGGUNG JAWAB</a:t>
            </a:r>
            <a:endParaRPr lang="en-US" sz="1400" dirty="0"/>
          </a:p>
        </p:txBody>
      </p:sp>
      <p:sp>
        <p:nvSpPr>
          <p:cNvPr id="7" name="Shape 5"/>
          <p:cNvSpPr/>
          <p:nvPr/>
        </p:nvSpPr>
        <p:spPr>
          <a:xfrm>
            <a:off x="548640" y="2368296"/>
            <a:ext cx="384048" cy="384048"/>
          </a:xfrm>
          <a:prstGeom prst="rect">
            <a:avLst/>
          </a:prstGeom>
          <a:solidFill>
            <a:srgbClr val="E63E2C"/>
          </a:solidFill>
          <a:ln w="12700">
            <a:solidFill>
              <a:srgbClr val="E63E2C"/>
            </a:solidFill>
            <a:prstDash val="solid"/>
          </a:ln>
        </p:spPr>
      </p:sp>
      <p:sp>
        <p:nvSpPr>
          <p:cNvPr id="8" name="Text 6"/>
          <p:cNvSpPr txBox="1"/>
          <p:nvPr/>
        </p:nvSpPr>
        <p:spPr>
          <a:xfrm>
            <a:off x="548640" y="2368296"/>
            <a:ext cx="384048" cy="384048"/>
          </a:xfrm>
          <a:prstGeom prst="rect">
            <a:avLst/>
          </a:prstGeom>
          <a:noFill/>
          <a:ln/>
        </p:spPr>
        <p:txBody>
          <a:bodyPr wrap="square" lIns="0" tIns="0" rIns="0" bIns="0" rtlCol="0" anchor="ctr"/>
          <a:lstStyle/>
          <a:p>
            <a:pPr algn="ctr" indent="0" marL="0">
              <a:buNone/>
            </a:pPr>
            <a:r>
              <a:rPr lang="en-US" sz="2000" dirty="0">
                <a:solidFill>
                  <a:srgbClr val="FFFFFF"/>
                </a:solidFill>
                <a:latin typeface="Bebas Neue" pitchFamily="34" charset="0"/>
                <a:ea typeface="Bebas Neue" pitchFamily="34" charset="-122"/>
                <a:cs typeface="Bebas Neue" pitchFamily="34" charset="-120"/>
              </a:rPr>
              <a:t>1</a:t>
            </a:r>
            <a:endParaRPr lang="en-US" sz="2000" dirty="0"/>
          </a:p>
        </p:txBody>
      </p:sp>
      <p:sp>
        <p:nvSpPr>
          <p:cNvPr id="9" name="Text 7"/>
          <p:cNvSpPr txBox="1"/>
          <p:nvPr/>
        </p:nvSpPr>
        <p:spPr>
          <a:xfrm>
            <a:off x="1188720" y="2240280"/>
            <a:ext cx="5669280" cy="621792"/>
          </a:xfrm>
          <a:prstGeom prst="rect">
            <a:avLst/>
          </a:prstGeom>
          <a:noFill/>
          <a:ln/>
        </p:spPr>
        <p:txBody>
          <a:bodyPr wrap="square" lIns="0" tIns="0" rIns="0" bIns="0" rtlCol="0" anchor="ctr"/>
          <a:lstStyle/>
          <a:p>
            <a:pPr indent="0" marL="0">
              <a:buNone/>
            </a:pPr>
            <a:r>
              <a:rPr lang="en-US" sz="2200" dirty="0">
                <a:solidFill>
                  <a:srgbClr val="1B1B1B"/>
                </a:solidFill>
                <a:latin typeface="Manrope" pitchFamily="34" charset="0"/>
                <a:ea typeface="Manrope" pitchFamily="34" charset="-122"/>
                <a:cs typeface="Manrope" pitchFamily="34" charset="-120"/>
              </a:rPr>
              <a:t>Opsi 30 persen dan tim gabungan</a:t>
            </a:r>
            <a:endParaRPr lang="en-US" sz="2200" dirty="0"/>
          </a:p>
        </p:txBody>
      </p:sp>
      <p:sp>
        <p:nvSpPr>
          <p:cNvPr id="10" name="Text 8"/>
          <p:cNvSpPr txBox="1"/>
          <p:nvPr/>
        </p:nvSpPr>
        <p:spPr>
          <a:xfrm>
            <a:off x="6949440" y="2240280"/>
            <a:ext cx="2194560" cy="621792"/>
          </a:xfrm>
          <a:prstGeom prst="rect">
            <a:avLst/>
          </a:prstGeom>
          <a:noFill/>
          <a:ln/>
        </p:spPr>
        <p:txBody>
          <a:bodyPr wrap="square" lIns="0" tIns="0" rIns="0" bIns="0" rtlCol="0" anchor="ctr"/>
          <a:lstStyle/>
          <a:p>
            <a:pPr indent="0" marL="0">
              <a:buNone/>
            </a:pPr>
            <a:r>
              <a:rPr lang="en-US" sz="2200" dirty="0">
                <a:solidFill>
                  <a:srgbClr val="1B1B1B"/>
                </a:solidFill>
                <a:latin typeface="Manrope" pitchFamily="34" charset="0"/>
                <a:ea typeface="Manrope" pitchFamily="34" charset="-122"/>
                <a:cs typeface="Manrope" pitchFamily="34" charset="-120"/>
              </a:rPr>
              <a:t>Q4 2009</a:t>
            </a:r>
            <a:endParaRPr lang="en-US" sz="2200" dirty="0"/>
          </a:p>
        </p:txBody>
      </p:sp>
      <p:sp>
        <p:nvSpPr>
          <p:cNvPr id="11" name="Text 9"/>
          <p:cNvSpPr txBox="1"/>
          <p:nvPr/>
        </p:nvSpPr>
        <p:spPr>
          <a:xfrm>
            <a:off x="9235440" y="2240280"/>
            <a:ext cx="2468880" cy="621792"/>
          </a:xfrm>
          <a:prstGeom prst="rect">
            <a:avLst/>
          </a:prstGeom>
          <a:noFill/>
          <a:ln/>
        </p:spPr>
        <p:txBody>
          <a:bodyPr wrap="square" lIns="0" tIns="0" rIns="0" bIns="0" rtlCol="0" anchor="ctr"/>
          <a:lstStyle/>
          <a:p>
            <a:pPr indent="0" marL="0">
              <a:buNone/>
            </a:pPr>
            <a:r>
              <a:rPr lang="en-US" sz="2200" dirty="0">
                <a:solidFill>
                  <a:srgbClr val="1B1B1B"/>
                </a:solidFill>
                <a:latin typeface="Manrope" pitchFamily="34" charset="0"/>
                <a:ea typeface="Manrope" pitchFamily="34" charset="-122"/>
                <a:cs typeface="Manrope" pitchFamily="34" charset="-120"/>
              </a:rPr>
              <a:t>CEO dan Dewan</a:t>
            </a:r>
            <a:endParaRPr lang="en-US" sz="2200" dirty="0"/>
          </a:p>
        </p:txBody>
      </p:sp>
      <p:sp>
        <p:nvSpPr>
          <p:cNvPr id="12" name="Shape 10"/>
          <p:cNvSpPr/>
          <p:nvPr/>
        </p:nvSpPr>
        <p:spPr>
          <a:xfrm>
            <a:off x="548640" y="2862072"/>
            <a:ext cx="11064240" cy="18288"/>
          </a:xfrm>
          <a:prstGeom prst="rect">
            <a:avLst/>
          </a:prstGeom>
          <a:solidFill>
            <a:srgbClr val="D9CBB8"/>
          </a:solidFill>
          <a:ln w="12700">
            <a:solidFill>
              <a:srgbClr val="D9CBB8"/>
            </a:solidFill>
            <a:prstDash val="solid"/>
          </a:ln>
        </p:spPr>
      </p:sp>
      <p:sp>
        <p:nvSpPr>
          <p:cNvPr id="13" name="Shape 11"/>
          <p:cNvSpPr/>
          <p:nvPr/>
        </p:nvSpPr>
        <p:spPr>
          <a:xfrm>
            <a:off x="548640" y="2990088"/>
            <a:ext cx="384048" cy="384048"/>
          </a:xfrm>
          <a:prstGeom prst="rect">
            <a:avLst/>
          </a:prstGeom>
          <a:solidFill>
            <a:srgbClr val="2C7BB8"/>
          </a:solidFill>
          <a:ln w="12700">
            <a:solidFill>
              <a:srgbClr val="2C7BB8"/>
            </a:solidFill>
            <a:prstDash val="solid"/>
          </a:ln>
        </p:spPr>
      </p:sp>
      <p:sp>
        <p:nvSpPr>
          <p:cNvPr id="14" name="Text 12"/>
          <p:cNvSpPr txBox="1"/>
          <p:nvPr/>
        </p:nvSpPr>
        <p:spPr>
          <a:xfrm>
            <a:off x="548640" y="2990088"/>
            <a:ext cx="384048" cy="384048"/>
          </a:xfrm>
          <a:prstGeom prst="rect">
            <a:avLst/>
          </a:prstGeom>
          <a:noFill/>
          <a:ln/>
        </p:spPr>
        <p:txBody>
          <a:bodyPr wrap="square" lIns="0" tIns="0" rIns="0" bIns="0" rtlCol="0" anchor="ctr"/>
          <a:lstStyle/>
          <a:p>
            <a:pPr algn="ctr" indent="0" marL="0">
              <a:buNone/>
            </a:pPr>
            <a:r>
              <a:rPr lang="en-US" sz="2000" dirty="0">
                <a:solidFill>
                  <a:srgbClr val="FFFFFF"/>
                </a:solidFill>
                <a:latin typeface="Bebas Neue" pitchFamily="34" charset="0"/>
                <a:ea typeface="Bebas Neue" pitchFamily="34" charset="-122"/>
                <a:cs typeface="Bebas Neue" pitchFamily="34" charset="-120"/>
              </a:rPr>
              <a:t>2</a:t>
            </a:r>
            <a:endParaRPr lang="en-US" sz="2000" dirty="0"/>
          </a:p>
        </p:txBody>
      </p:sp>
      <p:sp>
        <p:nvSpPr>
          <p:cNvPr id="15" name="Text 13"/>
          <p:cNvSpPr txBox="1"/>
          <p:nvPr/>
        </p:nvSpPr>
        <p:spPr>
          <a:xfrm>
            <a:off x="1188720" y="2862072"/>
            <a:ext cx="5669280" cy="621792"/>
          </a:xfrm>
          <a:prstGeom prst="rect">
            <a:avLst/>
          </a:prstGeom>
          <a:noFill/>
          <a:ln/>
        </p:spPr>
        <p:txBody>
          <a:bodyPr wrap="square" lIns="0" tIns="0" rIns="0" bIns="0" rtlCol="0" anchor="ctr"/>
          <a:lstStyle/>
          <a:p>
            <a:pPr indent="0" marL="0">
              <a:buNone/>
            </a:pPr>
            <a:r>
              <a:rPr lang="en-US" sz="2200" dirty="0">
                <a:solidFill>
                  <a:srgbClr val="1B1B1B"/>
                </a:solidFill>
                <a:latin typeface="Manrope" pitchFamily="34" charset="0"/>
                <a:ea typeface="Manrope" pitchFamily="34" charset="-122"/>
                <a:cs typeface="Manrope" pitchFamily="34" charset="-120"/>
              </a:rPr>
              <a:t>Rute 4 sampai 8 jam; load factor &gt; 85%</a:t>
            </a:r>
            <a:endParaRPr lang="en-US" sz="2200" dirty="0"/>
          </a:p>
        </p:txBody>
      </p:sp>
      <p:sp>
        <p:nvSpPr>
          <p:cNvPr id="16" name="Text 14"/>
          <p:cNvSpPr txBox="1"/>
          <p:nvPr/>
        </p:nvSpPr>
        <p:spPr>
          <a:xfrm>
            <a:off x="6949440" y="2862072"/>
            <a:ext cx="2194560" cy="621792"/>
          </a:xfrm>
          <a:prstGeom prst="rect">
            <a:avLst/>
          </a:prstGeom>
          <a:noFill/>
          <a:ln/>
        </p:spPr>
        <p:txBody>
          <a:bodyPr wrap="square" lIns="0" tIns="0" rIns="0" bIns="0" rtlCol="0" anchor="ctr"/>
          <a:lstStyle/>
          <a:p>
            <a:pPr indent="0" marL="0">
              <a:buNone/>
            </a:pPr>
            <a:r>
              <a:rPr lang="en-US" sz="2200" dirty="0">
                <a:solidFill>
                  <a:srgbClr val="1B1B1B"/>
                </a:solidFill>
                <a:latin typeface="Manrope" pitchFamily="34" charset="0"/>
                <a:ea typeface="Manrope" pitchFamily="34" charset="-122"/>
                <a:cs typeface="Manrope" pitchFamily="34" charset="-120"/>
              </a:rPr>
              <a:t>2010 s.d. 2011</a:t>
            </a:r>
            <a:endParaRPr lang="en-US" sz="2200" dirty="0"/>
          </a:p>
        </p:txBody>
      </p:sp>
      <p:sp>
        <p:nvSpPr>
          <p:cNvPr id="17" name="Text 15"/>
          <p:cNvSpPr txBox="1"/>
          <p:nvPr/>
        </p:nvSpPr>
        <p:spPr>
          <a:xfrm>
            <a:off x="9235440" y="2862072"/>
            <a:ext cx="2468880" cy="621792"/>
          </a:xfrm>
          <a:prstGeom prst="rect">
            <a:avLst/>
          </a:prstGeom>
          <a:noFill/>
          <a:ln/>
        </p:spPr>
        <p:txBody>
          <a:bodyPr wrap="square" lIns="0" tIns="0" rIns="0" bIns="0" rtlCol="0" anchor="ctr"/>
          <a:lstStyle/>
          <a:p>
            <a:pPr indent="0" marL="0">
              <a:buNone/>
            </a:pPr>
            <a:r>
              <a:rPr lang="en-US" sz="2200" dirty="0">
                <a:solidFill>
                  <a:srgbClr val="1B1B1B"/>
                </a:solidFill>
                <a:latin typeface="Manrope" pitchFamily="34" charset="0"/>
                <a:ea typeface="Manrope" pitchFamily="34" charset="-122"/>
                <a:cs typeface="Manrope" pitchFamily="34" charset="-120"/>
              </a:rPr>
              <a:t>CEO AirAsia X</a:t>
            </a:r>
            <a:endParaRPr lang="en-US" sz="2200" dirty="0"/>
          </a:p>
        </p:txBody>
      </p:sp>
      <p:sp>
        <p:nvSpPr>
          <p:cNvPr id="18" name="Shape 16"/>
          <p:cNvSpPr/>
          <p:nvPr/>
        </p:nvSpPr>
        <p:spPr>
          <a:xfrm>
            <a:off x="548640" y="3483864"/>
            <a:ext cx="11064240" cy="18288"/>
          </a:xfrm>
          <a:prstGeom prst="rect">
            <a:avLst/>
          </a:prstGeom>
          <a:solidFill>
            <a:srgbClr val="D9CBB8"/>
          </a:solidFill>
          <a:ln w="12700">
            <a:solidFill>
              <a:srgbClr val="D9CBB8"/>
            </a:solidFill>
            <a:prstDash val="solid"/>
          </a:ln>
        </p:spPr>
      </p:sp>
      <p:sp>
        <p:nvSpPr>
          <p:cNvPr id="19" name="Shape 17"/>
          <p:cNvSpPr/>
          <p:nvPr/>
        </p:nvSpPr>
        <p:spPr>
          <a:xfrm>
            <a:off x="548640" y="3611880"/>
            <a:ext cx="384048" cy="384048"/>
          </a:xfrm>
          <a:prstGeom prst="rect">
            <a:avLst/>
          </a:prstGeom>
          <a:solidFill>
            <a:srgbClr val="F4C430"/>
          </a:solidFill>
          <a:ln w="12700">
            <a:solidFill>
              <a:srgbClr val="F4C430"/>
            </a:solidFill>
            <a:prstDash val="solid"/>
          </a:ln>
        </p:spPr>
      </p:sp>
      <p:sp>
        <p:nvSpPr>
          <p:cNvPr id="20" name="Text 18"/>
          <p:cNvSpPr txBox="1"/>
          <p:nvPr/>
        </p:nvSpPr>
        <p:spPr>
          <a:xfrm>
            <a:off x="548640" y="3611880"/>
            <a:ext cx="384048" cy="384048"/>
          </a:xfrm>
          <a:prstGeom prst="rect">
            <a:avLst/>
          </a:prstGeom>
          <a:noFill/>
          <a:ln/>
        </p:spPr>
        <p:txBody>
          <a:bodyPr wrap="square" lIns="0" tIns="0" rIns="0" bIns="0" rtlCol="0" anchor="ctr"/>
          <a:lstStyle/>
          <a:p>
            <a:pPr algn="ctr" indent="0" marL="0">
              <a:buNone/>
            </a:pPr>
            <a:r>
              <a:rPr lang="en-US" sz="2000" dirty="0">
                <a:solidFill>
                  <a:srgbClr val="1B1B1B"/>
                </a:solidFill>
                <a:latin typeface="Bebas Neue" pitchFamily="34" charset="0"/>
                <a:ea typeface="Bebas Neue" pitchFamily="34" charset="-122"/>
                <a:cs typeface="Bebas Neue" pitchFamily="34" charset="-120"/>
              </a:rPr>
              <a:t>3</a:t>
            </a:r>
            <a:endParaRPr lang="en-US" sz="2000" dirty="0"/>
          </a:p>
        </p:txBody>
      </p:sp>
      <p:sp>
        <p:nvSpPr>
          <p:cNvPr id="21" name="Text 19"/>
          <p:cNvSpPr txBox="1"/>
          <p:nvPr/>
        </p:nvSpPr>
        <p:spPr>
          <a:xfrm>
            <a:off x="1188720" y="3483864"/>
            <a:ext cx="5669280" cy="621792"/>
          </a:xfrm>
          <a:prstGeom prst="rect">
            <a:avLst/>
          </a:prstGeom>
          <a:noFill/>
          <a:ln/>
        </p:spPr>
        <p:txBody>
          <a:bodyPr wrap="square" lIns="0" tIns="0" rIns="0" bIns="0" rtlCol="0" anchor="ctr"/>
          <a:lstStyle/>
          <a:p>
            <a:pPr indent="0" marL="0">
              <a:buNone/>
            </a:pPr>
            <a:r>
              <a:rPr lang="en-US" sz="2200" dirty="0">
                <a:solidFill>
                  <a:srgbClr val="1B1B1B"/>
                </a:solidFill>
                <a:latin typeface="Manrope" pitchFamily="34" charset="0"/>
                <a:ea typeface="Manrope" pitchFamily="34" charset="-122"/>
                <a:cs typeface="Manrope" pitchFamily="34" charset="-120"/>
              </a:rPr>
              <a:t>Feeder KL; penumpang transit &gt; 25%</a:t>
            </a:r>
            <a:endParaRPr lang="en-US" sz="2200" dirty="0"/>
          </a:p>
        </p:txBody>
      </p:sp>
      <p:sp>
        <p:nvSpPr>
          <p:cNvPr id="22" name="Text 20"/>
          <p:cNvSpPr txBox="1"/>
          <p:nvPr/>
        </p:nvSpPr>
        <p:spPr>
          <a:xfrm>
            <a:off x="6949440" y="3483864"/>
            <a:ext cx="2194560" cy="621792"/>
          </a:xfrm>
          <a:prstGeom prst="rect">
            <a:avLst/>
          </a:prstGeom>
          <a:noFill/>
          <a:ln/>
        </p:spPr>
        <p:txBody>
          <a:bodyPr wrap="square" lIns="0" tIns="0" rIns="0" bIns="0" rtlCol="0" anchor="ctr"/>
          <a:lstStyle/>
          <a:p>
            <a:pPr indent="0" marL="0">
              <a:buNone/>
            </a:pPr>
            <a:r>
              <a:rPr lang="en-US" sz="2200" dirty="0">
                <a:solidFill>
                  <a:srgbClr val="1B1B1B"/>
                </a:solidFill>
                <a:latin typeface="Manrope" pitchFamily="34" charset="0"/>
                <a:ea typeface="Manrope" pitchFamily="34" charset="-122"/>
                <a:cs typeface="Manrope" pitchFamily="34" charset="-120"/>
              </a:rPr>
              <a:t>2010</a:t>
            </a:r>
            <a:endParaRPr lang="en-US" sz="2200" dirty="0"/>
          </a:p>
        </p:txBody>
      </p:sp>
      <p:sp>
        <p:nvSpPr>
          <p:cNvPr id="23" name="Text 21"/>
          <p:cNvSpPr txBox="1"/>
          <p:nvPr/>
        </p:nvSpPr>
        <p:spPr>
          <a:xfrm>
            <a:off x="9235440" y="3483864"/>
            <a:ext cx="2468880" cy="621792"/>
          </a:xfrm>
          <a:prstGeom prst="rect">
            <a:avLst/>
          </a:prstGeom>
          <a:noFill/>
          <a:ln/>
        </p:spPr>
        <p:txBody>
          <a:bodyPr wrap="square" lIns="0" tIns="0" rIns="0" bIns="0" rtlCol="0" anchor="ctr"/>
          <a:lstStyle/>
          <a:p>
            <a:pPr indent="0" marL="0">
              <a:buNone/>
            </a:pPr>
            <a:r>
              <a:rPr lang="en-US" sz="2200" dirty="0">
                <a:solidFill>
                  <a:srgbClr val="1B1B1B"/>
                </a:solidFill>
                <a:latin typeface="Manrope" pitchFamily="34" charset="0"/>
                <a:ea typeface="Manrope" pitchFamily="34" charset="-122"/>
                <a:cs typeface="Manrope" pitchFamily="34" charset="-120"/>
              </a:rPr>
              <a:t>Direktur Komersial</a:t>
            </a:r>
            <a:endParaRPr lang="en-US" sz="2200" dirty="0"/>
          </a:p>
        </p:txBody>
      </p:sp>
      <p:sp>
        <p:nvSpPr>
          <p:cNvPr id="24" name="Shape 22"/>
          <p:cNvSpPr/>
          <p:nvPr/>
        </p:nvSpPr>
        <p:spPr>
          <a:xfrm>
            <a:off x="548640" y="4105656"/>
            <a:ext cx="11064240" cy="18288"/>
          </a:xfrm>
          <a:prstGeom prst="rect">
            <a:avLst/>
          </a:prstGeom>
          <a:solidFill>
            <a:srgbClr val="D9CBB8"/>
          </a:solidFill>
          <a:ln w="12700">
            <a:solidFill>
              <a:srgbClr val="D9CBB8"/>
            </a:solidFill>
            <a:prstDash val="solid"/>
          </a:ln>
        </p:spPr>
      </p:sp>
      <p:sp>
        <p:nvSpPr>
          <p:cNvPr id="25" name="Shape 23"/>
          <p:cNvSpPr/>
          <p:nvPr/>
        </p:nvSpPr>
        <p:spPr>
          <a:xfrm>
            <a:off x="548640" y="4233672"/>
            <a:ext cx="384048" cy="384048"/>
          </a:xfrm>
          <a:prstGeom prst="rect">
            <a:avLst/>
          </a:prstGeom>
          <a:solidFill>
            <a:srgbClr val="1B1B1B"/>
          </a:solidFill>
          <a:ln w="12700">
            <a:solidFill>
              <a:srgbClr val="1B1B1B"/>
            </a:solidFill>
            <a:prstDash val="solid"/>
          </a:ln>
        </p:spPr>
      </p:sp>
      <p:sp>
        <p:nvSpPr>
          <p:cNvPr id="26" name="Text 24"/>
          <p:cNvSpPr txBox="1"/>
          <p:nvPr/>
        </p:nvSpPr>
        <p:spPr>
          <a:xfrm>
            <a:off x="548640" y="4233672"/>
            <a:ext cx="384048" cy="384048"/>
          </a:xfrm>
          <a:prstGeom prst="rect">
            <a:avLst/>
          </a:prstGeom>
          <a:noFill/>
          <a:ln/>
        </p:spPr>
        <p:txBody>
          <a:bodyPr wrap="square" lIns="0" tIns="0" rIns="0" bIns="0" rtlCol="0" anchor="ctr"/>
          <a:lstStyle/>
          <a:p>
            <a:pPr algn="ctr" indent="0" marL="0">
              <a:buNone/>
            </a:pPr>
            <a:r>
              <a:rPr lang="en-US" sz="2000" dirty="0">
                <a:solidFill>
                  <a:srgbClr val="FFFFFF"/>
                </a:solidFill>
                <a:latin typeface="Bebas Neue" pitchFamily="34" charset="0"/>
                <a:ea typeface="Bebas Neue" pitchFamily="34" charset="-122"/>
                <a:cs typeface="Bebas Neue" pitchFamily="34" charset="-120"/>
              </a:rPr>
              <a:t>4</a:t>
            </a:r>
            <a:endParaRPr lang="en-US" sz="2000" dirty="0"/>
          </a:p>
        </p:txBody>
      </p:sp>
      <p:sp>
        <p:nvSpPr>
          <p:cNvPr id="27" name="Text 25"/>
          <p:cNvSpPr txBox="1"/>
          <p:nvPr/>
        </p:nvSpPr>
        <p:spPr>
          <a:xfrm>
            <a:off x="1188720" y="4105656"/>
            <a:ext cx="5669280" cy="621792"/>
          </a:xfrm>
          <a:prstGeom prst="rect">
            <a:avLst/>
          </a:prstGeom>
          <a:noFill/>
          <a:ln/>
        </p:spPr>
        <p:txBody>
          <a:bodyPr wrap="square" lIns="0" tIns="0" rIns="0" bIns="0" rtlCol="0" anchor="ctr"/>
          <a:lstStyle/>
          <a:p>
            <a:pPr indent="0" marL="0">
              <a:buNone/>
            </a:pPr>
            <a:r>
              <a:rPr lang="en-US" sz="2200" dirty="0">
                <a:solidFill>
                  <a:srgbClr val="1B1B1B"/>
                </a:solidFill>
                <a:latin typeface="Manrope" pitchFamily="34" charset="0"/>
                <a:ea typeface="Manrope" pitchFamily="34" charset="-122"/>
                <a:cs typeface="Manrope" pitchFamily="34" charset="-120"/>
              </a:rPr>
              <a:t>Hedging BBM 30 sampai 50 persen</a:t>
            </a:r>
            <a:endParaRPr lang="en-US" sz="2200" dirty="0"/>
          </a:p>
        </p:txBody>
      </p:sp>
      <p:sp>
        <p:nvSpPr>
          <p:cNvPr id="28" name="Text 26"/>
          <p:cNvSpPr txBox="1"/>
          <p:nvPr/>
        </p:nvSpPr>
        <p:spPr>
          <a:xfrm>
            <a:off x="6949440" y="4105656"/>
            <a:ext cx="2194560" cy="621792"/>
          </a:xfrm>
          <a:prstGeom prst="rect">
            <a:avLst/>
          </a:prstGeom>
          <a:noFill/>
          <a:ln/>
        </p:spPr>
        <p:txBody>
          <a:bodyPr wrap="square" lIns="0" tIns="0" rIns="0" bIns="0" rtlCol="0" anchor="ctr"/>
          <a:lstStyle/>
          <a:p>
            <a:pPr indent="0" marL="0">
              <a:buNone/>
            </a:pPr>
            <a:r>
              <a:rPr lang="en-US" sz="2200" dirty="0">
                <a:solidFill>
                  <a:srgbClr val="1B1B1B"/>
                </a:solidFill>
                <a:latin typeface="Manrope" pitchFamily="34" charset="0"/>
                <a:ea typeface="Manrope" pitchFamily="34" charset="-122"/>
                <a:cs typeface="Manrope" pitchFamily="34" charset="-120"/>
              </a:rPr>
              <a:t>Segera</a:t>
            </a:r>
            <a:endParaRPr lang="en-US" sz="2200" dirty="0"/>
          </a:p>
        </p:txBody>
      </p:sp>
      <p:sp>
        <p:nvSpPr>
          <p:cNvPr id="29" name="Text 27"/>
          <p:cNvSpPr txBox="1"/>
          <p:nvPr/>
        </p:nvSpPr>
        <p:spPr>
          <a:xfrm>
            <a:off x="9235440" y="4105656"/>
            <a:ext cx="2468880" cy="621792"/>
          </a:xfrm>
          <a:prstGeom prst="rect">
            <a:avLst/>
          </a:prstGeom>
          <a:noFill/>
          <a:ln/>
        </p:spPr>
        <p:txBody>
          <a:bodyPr wrap="square" lIns="0" tIns="0" rIns="0" bIns="0" rtlCol="0" anchor="ctr"/>
          <a:lstStyle/>
          <a:p>
            <a:pPr indent="0" marL="0">
              <a:buNone/>
            </a:pPr>
            <a:r>
              <a:rPr lang="en-US" sz="2200" dirty="0">
                <a:solidFill>
                  <a:srgbClr val="1B1B1B"/>
                </a:solidFill>
                <a:latin typeface="Manrope" pitchFamily="34" charset="0"/>
                <a:ea typeface="Manrope" pitchFamily="34" charset="-122"/>
                <a:cs typeface="Manrope" pitchFamily="34" charset="-120"/>
              </a:rPr>
              <a:t>CFO, Komite Risiko</a:t>
            </a:r>
            <a:endParaRPr lang="en-US" sz="2200" dirty="0"/>
          </a:p>
        </p:txBody>
      </p:sp>
      <p:sp>
        <p:nvSpPr>
          <p:cNvPr id="30" name="Shape 28"/>
          <p:cNvSpPr/>
          <p:nvPr/>
        </p:nvSpPr>
        <p:spPr>
          <a:xfrm>
            <a:off x="548640" y="4727448"/>
            <a:ext cx="11064240" cy="18288"/>
          </a:xfrm>
          <a:prstGeom prst="rect">
            <a:avLst/>
          </a:prstGeom>
          <a:solidFill>
            <a:srgbClr val="D9CBB8"/>
          </a:solidFill>
          <a:ln w="12700">
            <a:solidFill>
              <a:srgbClr val="D9CBB8"/>
            </a:solidFill>
            <a:prstDash val="solid"/>
          </a:ln>
        </p:spPr>
      </p:sp>
      <p:sp>
        <p:nvSpPr>
          <p:cNvPr id="31" name="Shape 29"/>
          <p:cNvSpPr/>
          <p:nvPr/>
        </p:nvSpPr>
        <p:spPr>
          <a:xfrm>
            <a:off x="548640" y="4855464"/>
            <a:ext cx="384048" cy="384048"/>
          </a:xfrm>
          <a:prstGeom prst="rect">
            <a:avLst/>
          </a:prstGeom>
          <a:solidFill>
            <a:srgbClr val="E63E2C"/>
          </a:solidFill>
          <a:ln w="12700">
            <a:solidFill>
              <a:srgbClr val="E63E2C"/>
            </a:solidFill>
            <a:prstDash val="solid"/>
          </a:ln>
        </p:spPr>
      </p:sp>
      <p:sp>
        <p:nvSpPr>
          <p:cNvPr id="32" name="Text 30"/>
          <p:cNvSpPr txBox="1"/>
          <p:nvPr/>
        </p:nvSpPr>
        <p:spPr>
          <a:xfrm>
            <a:off x="548640" y="4855464"/>
            <a:ext cx="384048" cy="384048"/>
          </a:xfrm>
          <a:prstGeom prst="rect">
            <a:avLst/>
          </a:prstGeom>
          <a:noFill/>
          <a:ln/>
        </p:spPr>
        <p:txBody>
          <a:bodyPr wrap="square" lIns="0" tIns="0" rIns="0" bIns="0" rtlCol="0" anchor="ctr"/>
          <a:lstStyle/>
          <a:p>
            <a:pPr algn="ctr" indent="0" marL="0">
              <a:buNone/>
            </a:pPr>
            <a:r>
              <a:rPr lang="en-US" sz="2000" dirty="0">
                <a:solidFill>
                  <a:srgbClr val="FFFFFF"/>
                </a:solidFill>
                <a:latin typeface="Bebas Neue" pitchFamily="34" charset="0"/>
                <a:ea typeface="Bebas Neue" pitchFamily="34" charset="-122"/>
                <a:cs typeface="Bebas Neue" pitchFamily="34" charset="-120"/>
              </a:rPr>
              <a:t>5</a:t>
            </a:r>
            <a:endParaRPr lang="en-US" sz="2000" dirty="0"/>
          </a:p>
        </p:txBody>
      </p:sp>
      <p:sp>
        <p:nvSpPr>
          <p:cNvPr id="33" name="Text 31"/>
          <p:cNvSpPr txBox="1"/>
          <p:nvPr/>
        </p:nvSpPr>
        <p:spPr>
          <a:xfrm>
            <a:off x="1188720" y="4727448"/>
            <a:ext cx="5669280" cy="621792"/>
          </a:xfrm>
          <a:prstGeom prst="rect">
            <a:avLst/>
          </a:prstGeom>
          <a:noFill/>
          <a:ln/>
        </p:spPr>
        <p:txBody>
          <a:bodyPr wrap="square" lIns="0" tIns="0" rIns="0" bIns="0" rtlCol="0" anchor="ctr"/>
          <a:lstStyle/>
          <a:p>
            <a:pPr indent="0" marL="0">
              <a:buNone/>
            </a:pPr>
            <a:r>
              <a:rPr lang="en-US" sz="2200" dirty="0">
                <a:solidFill>
                  <a:srgbClr val="1B1B1B"/>
                </a:solidFill>
                <a:latin typeface="Manrope" pitchFamily="34" charset="0"/>
                <a:ea typeface="Manrope" pitchFamily="34" charset="-122"/>
                <a:cs typeface="Manrope" pitchFamily="34" charset="-120"/>
              </a:rPr>
              <a:t>Utang/ekuitas &lt; 3 kali sebelum A350</a:t>
            </a:r>
            <a:endParaRPr lang="en-US" sz="2200" dirty="0"/>
          </a:p>
        </p:txBody>
      </p:sp>
      <p:sp>
        <p:nvSpPr>
          <p:cNvPr id="34" name="Text 32"/>
          <p:cNvSpPr txBox="1"/>
          <p:nvPr/>
        </p:nvSpPr>
        <p:spPr>
          <a:xfrm>
            <a:off x="6949440" y="4727448"/>
            <a:ext cx="2194560" cy="621792"/>
          </a:xfrm>
          <a:prstGeom prst="rect">
            <a:avLst/>
          </a:prstGeom>
          <a:noFill/>
          <a:ln/>
        </p:spPr>
        <p:txBody>
          <a:bodyPr wrap="square" lIns="0" tIns="0" rIns="0" bIns="0" rtlCol="0" anchor="ctr"/>
          <a:lstStyle/>
          <a:p>
            <a:pPr indent="0" marL="0">
              <a:buNone/>
            </a:pPr>
            <a:r>
              <a:rPr lang="en-US" sz="2200" dirty="0">
                <a:solidFill>
                  <a:srgbClr val="1B1B1B"/>
                </a:solidFill>
                <a:latin typeface="Manrope" pitchFamily="34" charset="0"/>
                <a:ea typeface="Manrope" pitchFamily="34" charset="-122"/>
                <a:cs typeface="Manrope" pitchFamily="34" charset="-120"/>
              </a:rPr>
              <a:t>2010 s.d. 2015</a:t>
            </a:r>
            <a:endParaRPr lang="en-US" sz="2200" dirty="0"/>
          </a:p>
        </p:txBody>
      </p:sp>
      <p:sp>
        <p:nvSpPr>
          <p:cNvPr id="35" name="Text 33"/>
          <p:cNvSpPr txBox="1"/>
          <p:nvPr/>
        </p:nvSpPr>
        <p:spPr>
          <a:xfrm>
            <a:off x="9235440" y="4727448"/>
            <a:ext cx="2468880" cy="621792"/>
          </a:xfrm>
          <a:prstGeom prst="rect">
            <a:avLst/>
          </a:prstGeom>
          <a:noFill/>
          <a:ln/>
        </p:spPr>
        <p:txBody>
          <a:bodyPr wrap="square" lIns="0" tIns="0" rIns="0" bIns="0" rtlCol="0" anchor="ctr"/>
          <a:lstStyle/>
          <a:p>
            <a:pPr indent="0" marL="0">
              <a:buNone/>
            </a:pPr>
            <a:r>
              <a:rPr lang="en-US" sz="2200" dirty="0">
                <a:solidFill>
                  <a:srgbClr val="1B1B1B"/>
                </a:solidFill>
                <a:latin typeface="Manrope" pitchFamily="34" charset="0"/>
                <a:ea typeface="Manrope" pitchFamily="34" charset="-122"/>
                <a:cs typeface="Manrope" pitchFamily="34" charset="-120"/>
              </a:rPr>
              <a:t>CFO</a:t>
            </a:r>
            <a:endParaRPr lang="en-US" sz="2200" dirty="0"/>
          </a:p>
        </p:txBody>
      </p:sp>
      <p:sp>
        <p:nvSpPr>
          <p:cNvPr id="36" name="Shape 34"/>
          <p:cNvSpPr/>
          <p:nvPr/>
        </p:nvSpPr>
        <p:spPr>
          <a:xfrm>
            <a:off x="548640" y="5349240"/>
            <a:ext cx="11064240" cy="18288"/>
          </a:xfrm>
          <a:prstGeom prst="rect">
            <a:avLst/>
          </a:prstGeom>
          <a:solidFill>
            <a:srgbClr val="D9CBB8"/>
          </a:solidFill>
          <a:ln w="12700">
            <a:solidFill>
              <a:srgbClr val="D9CBB8"/>
            </a:solidFill>
            <a:prstDash val="solid"/>
          </a:ln>
        </p:spPr>
      </p:sp>
      <p:sp>
        <p:nvSpPr>
          <p:cNvPr id="37" name="Shape 35"/>
          <p:cNvSpPr/>
          <p:nvPr/>
        </p:nvSpPr>
        <p:spPr>
          <a:xfrm>
            <a:off x="548640" y="5477256"/>
            <a:ext cx="384048" cy="384048"/>
          </a:xfrm>
          <a:prstGeom prst="rect">
            <a:avLst/>
          </a:prstGeom>
          <a:solidFill>
            <a:srgbClr val="2C7BB8"/>
          </a:solidFill>
          <a:ln w="12700">
            <a:solidFill>
              <a:srgbClr val="2C7BB8"/>
            </a:solidFill>
            <a:prstDash val="solid"/>
          </a:ln>
        </p:spPr>
      </p:sp>
      <p:sp>
        <p:nvSpPr>
          <p:cNvPr id="38" name="Text 36"/>
          <p:cNvSpPr txBox="1"/>
          <p:nvPr/>
        </p:nvSpPr>
        <p:spPr>
          <a:xfrm>
            <a:off x="548640" y="5477256"/>
            <a:ext cx="384048" cy="384048"/>
          </a:xfrm>
          <a:prstGeom prst="rect">
            <a:avLst/>
          </a:prstGeom>
          <a:noFill/>
          <a:ln/>
        </p:spPr>
        <p:txBody>
          <a:bodyPr wrap="square" lIns="0" tIns="0" rIns="0" bIns="0" rtlCol="0" anchor="ctr"/>
          <a:lstStyle/>
          <a:p>
            <a:pPr algn="ctr" indent="0" marL="0">
              <a:buNone/>
            </a:pPr>
            <a:r>
              <a:rPr lang="en-US" sz="2000" dirty="0">
                <a:solidFill>
                  <a:srgbClr val="FFFFFF"/>
                </a:solidFill>
                <a:latin typeface="Bebas Neue" pitchFamily="34" charset="0"/>
                <a:ea typeface="Bebas Neue" pitchFamily="34" charset="-122"/>
                <a:cs typeface="Bebas Neue" pitchFamily="34" charset="-120"/>
              </a:rPr>
              <a:t>6</a:t>
            </a:r>
            <a:endParaRPr lang="en-US" sz="2000" dirty="0"/>
          </a:p>
        </p:txBody>
      </p:sp>
      <p:sp>
        <p:nvSpPr>
          <p:cNvPr id="39" name="Text 37"/>
          <p:cNvSpPr txBox="1"/>
          <p:nvPr/>
        </p:nvSpPr>
        <p:spPr>
          <a:xfrm>
            <a:off x="1188720" y="5349240"/>
            <a:ext cx="5669280" cy="621792"/>
          </a:xfrm>
          <a:prstGeom prst="rect">
            <a:avLst/>
          </a:prstGeom>
          <a:noFill/>
          <a:ln/>
        </p:spPr>
        <p:txBody>
          <a:bodyPr wrap="square" lIns="0" tIns="0" rIns="0" bIns="0" rtlCol="0" anchor="ctr"/>
          <a:lstStyle/>
          <a:p>
            <a:pPr indent="0" marL="0">
              <a:buNone/>
            </a:pPr>
            <a:r>
              <a:rPr lang="en-US" sz="2200" dirty="0">
                <a:solidFill>
                  <a:srgbClr val="1B1B1B"/>
                </a:solidFill>
                <a:latin typeface="Manrope" pitchFamily="34" charset="0"/>
                <a:ea typeface="Manrope" pitchFamily="34" charset="-122"/>
                <a:cs typeface="Manrope" pitchFamily="34" charset="-120"/>
              </a:rPr>
              <a:t>Gerbang merger: 4 kuartal laba positif</a:t>
            </a:r>
            <a:endParaRPr lang="en-US" sz="2200" dirty="0"/>
          </a:p>
        </p:txBody>
      </p:sp>
      <p:sp>
        <p:nvSpPr>
          <p:cNvPr id="40" name="Text 38"/>
          <p:cNvSpPr txBox="1"/>
          <p:nvPr/>
        </p:nvSpPr>
        <p:spPr>
          <a:xfrm>
            <a:off x="6949440" y="5349240"/>
            <a:ext cx="2194560" cy="621792"/>
          </a:xfrm>
          <a:prstGeom prst="rect">
            <a:avLst/>
          </a:prstGeom>
          <a:noFill/>
          <a:ln/>
        </p:spPr>
        <p:txBody>
          <a:bodyPr wrap="square" lIns="0" tIns="0" rIns="0" bIns="0" rtlCol="0" anchor="ctr"/>
          <a:lstStyle/>
          <a:p>
            <a:pPr indent="0" marL="0">
              <a:buNone/>
            </a:pPr>
            <a:r>
              <a:rPr lang="en-US" sz="2200" dirty="0">
                <a:solidFill>
                  <a:srgbClr val="1B1B1B"/>
                </a:solidFill>
                <a:latin typeface="Manrope" pitchFamily="34" charset="0"/>
                <a:ea typeface="Manrope" pitchFamily="34" charset="-122"/>
                <a:cs typeface="Manrope" pitchFamily="34" charset="-120"/>
              </a:rPr>
              <a:t>Evaluasi 2011</a:t>
            </a:r>
            <a:endParaRPr lang="en-US" sz="2200" dirty="0"/>
          </a:p>
        </p:txBody>
      </p:sp>
      <p:sp>
        <p:nvSpPr>
          <p:cNvPr id="41" name="Text 39"/>
          <p:cNvSpPr txBox="1"/>
          <p:nvPr/>
        </p:nvSpPr>
        <p:spPr>
          <a:xfrm>
            <a:off x="9235440" y="5349240"/>
            <a:ext cx="2468880" cy="621792"/>
          </a:xfrm>
          <a:prstGeom prst="rect">
            <a:avLst/>
          </a:prstGeom>
          <a:noFill/>
          <a:ln/>
        </p:spPr>
        <p:txBody>
          <a:bodyPr wrap="square" lIns="0" tIns="0" rIns="0" bIns="0" rtlCol="0" anchor="ctr"/>
          <a:lstStyle/>
          <a:p>
            <a:pPr indent="0" marL="0">
              <a:buNone/>
            </a:pPr>
            <a:r>
              <a:rPr lang="en-US" sz="2200" dirty="0">
                <a:solidFill>
                  <a:srgbClr val="1B1B1B"/>
                </a:solidFill>
                <a:latin typeface="Manrope" pitchFamily="34" charset="0"/>
                <a:ea typeface="Manrope" pitchFamily="34" charset="-122"/>
                <a:cs typeface="Manrope" pitchFamily="34" charset="-120"/>
              </a:rPr>
              <a:t>Dewan Komisaris</a:t>
            </a:r>
            <a:endParaRPr lang="en-US" sz="2200" dirty="0"/>
          </a:p>
        </p:txBody>
      </p:sp>
      <p:sp>
        <p:nvSpPr>
          <p:cNvPr id="42" name="Shape 40"/>
          <p:cNvSpPr/>
          <p:nvPr/>
        </p:nvSpPr>
        <p:spPr>
          <a:xfrm>
            <a:off x="548640" y="5971032"/>
            <a:ext cx="11064240" cy="18288"/>
          </a:xfrm>
          <a:prstGeom prst="rect">
            <a:avLst/>
          </a:prstGeom>
          <a:solidFill>
            <a:srgbClr val="D9CBB8"/>
          </a:solidFill>
          <a:ln w="12700">
            <a:solidFill>
              <a:srgbClr val="D9CBB8"/>
            </a:solidFill>
            <a:prstDash val="solid"/>
          </a:ln>
        </p:spPr>
      </p:sp>
      <p:sp>
        <p:nvSpPr>
          <p:cNvPr id="43" name="Text 41"/>
          <p:cNvSpPr txBox="1"/>
          <p:nvPr/>
        </p:nvSpPr>
        <p:spPr>
          <a:xfrm>
            <a:off x="548640" y="6172200"/>
            <a:ext cx="10424160" cy="457200"/>
          </a:xfrm>
          <a:prstGeom prst="rect">
            <a:avLst/>
          </a:prstGeom>
          <a:noFill/>
          <a:ln/>
        </p:spPr>
        <p:txBody>
          <a:bodyPr wrap="square" lIns="0" tIns="0" rIns="0" bIns="0" rtlCol="0" anchor="ctr"/>
          <a:lstStyle/>
          <a:p>
            <a:pPr indent="0" marL="0">
              <a:buNone/>
            </a:pPr>
            <a:r>
              <a:rPr lang="en-US" sz="1200" dirty="0">
                <a:solidFill>
                  <a:srgbClr val="E63E2C"/>
                </a:solidFill>
                <a:latin typeface="Manrope" pitchFamily="34" charset="0"/>
                <a:ea typeface="Manrope" pitchFamily="34" charset="-122"/>
                <a:cs typeface="Manrope" pitchFamily="34" charset="-120"/>
              </a:rPr>
              <a:t>■  </a:t>
            </a:r>
            <a:pPr indent="0" marL="0">
              <a:buNone/>
            </a:pPr>
            <a:r>
              <a:rPr lang="en-US" sz="1800" b="1" dirty="0">
                <a:solidFill>
                  <a:srgbClr val="1B1B1B"/>
                </a:solidFill>
                <a:latin typeface="Manrope" pitchFamily="34" charset="0"/>
                <a:ea typeface="Manrope" pitchFamily="34" charset="-122"/>
                <a:cs typeface="Manrope" pitchFamily="34" charset="-120"/>
              </a:rPr>
              <a:t>Selanjutnya  </a:t>
            </a:r>
            <a:pPr indent="0" marL="0">
              <a:buNone/>
            </a:pPr>
            <a:r>
              <a:rPr lang="en-US" sz="1800" dirty="0">
                <a:solidFill>
                  <a:srgbClr val="4A4A4A"/>
                </a:solidFill>
                <a:latin typeface="Manrope" pitchFamily="34" charset="0"/>
                <a:ea typeface="Manrope" pitchFamily="34" charset="-122"/>
                <a:cs typeface="Manrope" pitchFamily="34" charset="-120"/>
              </a:rPr>
              <a:t>Rekomendasi ini menjawab pertanyaan di slide 5. Apa pelajarannya?</a:t>
            </a:r>
            <a:endParaRPr lang="en-US" sz="1800" dirty="0"/>
          </a:p>
        </p:txBody>
      </p:sp>
      <p:sp>
        <p:nvSpPr>
          <p:cNvPr id="44" name="Text 42"/>
          <p:cNvSpPr txBox="1"/>
          <p:nvPr/>
        </p:nvSpPr>
        <p:spPr>
          <a:xfrm>
            <a:off x="11247120" y="6355080"/>
            <a:ext cx="548640" cy="320040"/>
          </a:xfrm>
          <a:prstGeom prst="rect">
            <a:avLst/>
          </a:prstGeom>
          <a:noFill/>
          <a:ln/>
        </p:spPr>
        <p:txBody>
          <a:bodyPr wrap="square" lIns="0" tIns="0" rIns="0" bIns="0" rtlCol="0" anchor="ctr"/>
          <a:lstStyle/>
          <a:p>
            <a:pPr algn="r" indent="0" marL="0">
              <a:buNone/>
            </a:pPr>
            <a:r>
              <a:rPr lang="en-US" sz="1200" b="1" dirty="0">
                <a:solidFill>
                  <a:srgbClr val="1B1B1B"/>
                </a:solidFill>
                <a:latin typeface="Manrope" pitchFamily="34" charset="0"/>
                <a:ea typeface="Manrope" pitchFamily="34" charset="-122"/>
                <a:cs typeface="Manrope"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2CF"/>
        </a:solidFill>
      </p:bgPr>
    </p:bg>
    <p:spTree>
      <p:nvGrpSpPr>
        <p:cNvPr id="1" name=""/>
        <p:cNvGrpSpPr/>
        <p:nvPr/>
      </p:nvGrpSpPr>
      <p:grpSpPr>
        <a:xfrm>
          <a:off x="0" y="0"/>
          <a:ext cx="0" cy="0"/>
          <a:chOff x="0" y="0"/>
          <a:chExt cx="0" cy="0"/>
        </a:xfrm>
      </p:grpSpPr>
      <p:sp>
        <p:nvSpPr>
          <p:cNvPr id="2" name="Text 0"/>
          <p:cNvSpPr txBox="1"/>
          <p:nvPr/>
        </p:nvSpPr>
        <p:spPr>
          <a:xfrm>
            <a:off x="548640" y="411480"/>
            <a:ext cx="10515600" cy="868680"/>
          </a:xfrm>
          <a:prstGeom prst="rect">
            <a:avLst/>
          </a:prstGeom>
          <a:noFill/>
          <a:ln/>
        </p:spPr>
        <p:txBody>
          <a:bodyPr wrap="square" lIns="0" tIns="0" rIns="0" bIns="0" rtlCol="0" anchor="ctr"/>
          <a:lstStyle/>
          <a:p>
            <a:pPr indent="0" marL="0">
              <a:buNone/>
            </a:pPr>
            <a:r>
              <a:rPr lang="en-US" sz="5400" dirty="0">
                <a:solidFill>
                  <a:srgbClr val="1B1B1B"/>
                </a:solidFill>
                <a:latin typeface="Bebas Neue" pitchFamily="34" charset="0"/>
                <a:ea typeface="Bebas Neue" pitchFamily="34" charset="-122"/>
                <a:cs typeface="Bebas Neue" pitchFamily="34" charset="-120"/>
              </a:rPr>
              <a:t>LESSONS FOR CHAPTER 3</a:t>
            </a:r>
            <a:endParaRPr lang="en-US" sz="5400" dirty="0"/>
          </a:p>
        </p:txBody>
      </p:sp>
      <p:sp>
        <p:nvSpPr>
          <p:cNvPr id="3" name="Text 1"/>
          <p:cNvSpPr txBox="1"/>
          <p:nvPr/>
        </p:nvSpPr>
        <p:spPr>
          <a:xfrm>
            <a:off x="548640" y="1298448"/>
            <a:ext cx="10058400" cy="320040"/>
          </a:xfrm>
          <a:prstGeom prst="rect">
            <a:avLst/>
          </a:prstGeom>
          <a:noFill/>
          <a:ln/>
        </p:spPr>
        <p:txBody>
          <a:bodyPr wrap="square" lIns="0" tIns="0" rIns="0" bIns="0" rtlCol="0" anchor="ctr"/>
          <a:lstStyle/>
          <a:p>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PROBLEM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EXTERNAL ENVIRONMENT     </a:t>
            </a:r>
            <a:pPr indent="0" marL="0">
              <a:buNone/>
            </a:pPr>
            <a:r>
              <a:rPr lang="en-US" sz="1200" spc="150" kern="0" dirty="0">
                <a:solidFill>
                  <a:srgbClr val="C9B9A6"/>
                </a:solidFill>
                <a:latin typeface="Manrope" pitchFamily="34" charset="0"/>
                <a:ea typeface="Manrope" pitchFamily="34" charset="-122"/>
                <a:cs typeface="Manrope" pitchFamily="34" charset="-120"/>
              </a:rPr>
              <a:t>■ </a:t>
            </a:r>
            <a:pPr indent="0" marL="0">
              <a:buNone/>
            </a:pPr>
            <a:r>
              <a:rPr lang="en-US" sz="1300" spc="150" kern="0" dirty="0">
                <a:solidFill>
                  <a:srgbClr val="8E7F6E"/>
                </a:solidFill>
                <a:latin typeface="Manrope" pitchFamily="34" charset="0"/>
                <a:ea typeface="Manrope" pitchFamily="34" charset="-122"/>
                <a:cs typeface="Manrope" pitchFamily="34" charset="-120"/>
              </a:rPr>
              <a:t>COST POSITION     </a:t>
            </a:r>
            <a:pPr indent="0" marL="0">
              <a:buNone/>
            </a:pPr>
            <a:r>
              <a:rPr lang="en-US" sz="1200" spc="150" kern="0" dirty="0">
                <a:solidFill>
                  <a:srgbClr val="1B1B1B"/>
                </a:solidFill>
                <a:latin typeface="Manrope" pitchFamily="34" charset="0"/>
                <a:ea typeface="Manrope" pitchFamily="34" charset="-122"/>
                <a:cs typeface="Manrope" pitchFamily="34" charset="-120"/>
              </a:rPr>
              <a:t>■ </a:t>
            </a:r>
            <a:pPr indent="0" marL="0">
              <a:buNone/>
            </a:pPr>
            <a:r>
              <a:rPr lang="en-US" sz="1300" b="1" spc="150" kern="0" dirty="0">
                <a:solidFill>
                  <a:srgbClr val="1B1B1B"/>
                </a:solidFill>
                <a:latin typeface="Manrope" pitchFamily="34" charset="0"/>
                <a:ea typeface="Manrope" pitchFamily="34" charset="-122"/>
                <a:cs typeface="Manrope" pitchFamily="34" charset="-120"/>
              </a:rPr>
              <a:t>CHOICE     </a:t>
            </a:r>
            <a:endParaRPr lang="en-US" sz="1300" dirty="0"/>
          </a:p>
        </p:txBody>
      </p:sp>
      <p:sp>
        <p:nvSpPr>
          <p:cNvPr id="4" name="Shape 2"/>
          <p:cNvSpPr/>
          <p:nvPr/>
        </p:nvSpPr>
        <p:spPr>
          <a:xfrm>
            <a:off x="548640" y="1874520"/>
            <a:ext cx="548640" cy="548640"/>
          </a:xfrm>
          <a:prstGeom prst="ellipse">
            <a:avLst/>
          </a:prstGeom>
          <a:solidFill>
            <a:srgbClr val="E63E2C"/>
          </a:solidFill>
          <a:ln w="12700">
            <a:solidFill>
              <a:srgbClr val="E63E2C"/>
            </a:solidFill>
            <a:prstDash val="solid"/>
          </a:ln>
        </p:spPr>
      </p:sp>
      <p:sp>
        <p:nvSpPr>
          <p:cNvPr id="5" name="Text 3"/>
          <p:cNvSpPr txBox="1"/>
          <p:nvPr/>
        </p:nvSpPr>
        <p:spPr>
          <a:xfrm>
            <a:off x="548640" y="1874520"/>
            <a:ext cx="548640" cy="548640"/>
          </a:xfrm>
          <a:prstGeom prst="rect">
            <a:avLst/>
          </a:prstGeom>
          <a:noFill/>
          <a:ln/>
        </p:spPr>
        <p:txBody>
          <a:bodyPr wrap="square" lIns="0" tIns="0" rIns="0" bIns="0" rtlCol="0" anchor="ctr"/>
          <a:lstStyle/>
          <a:p>
            <a:pPr algn="ctr" indent="0" marL="0">
              <a:buNone/>
            </a:pPr>
            <a:r>
              <a:rPr lang="en-US" sz="2640" dirty="0">
                <a:solidFill>
                  <a:srgbClr val="FFFFFF"/>
                </a:solidFill>
                <a:latin typeface="Bebas Neue" pitchFamily="34" charset="0"/>
                <a:ea typeface="Bebas Neue" pitchFamily="34" charset="-122"/>
                <a:cs typeface="Bebas Neue" pitchFamily="34" charset="-120"/>
              </a:rPr>
              <a:t>1</a:t>
            </a:r>
            <a:endParaRPr lang="en-US" sz="2640" dirty="0"/>
          </a:p>
        </p:txBody>
      </p:sp>
      <p:sp>
        <p:nvSpPr>
          <p:cNvPr id="6" name="Text 4"/>
          <p:cNvSpPr txBox="1"/>
          <p:nvPr/>
        </p:nvSpPr>
        <p:spPr>
          <a:xfrm>
            <a:off x="1280160" y="1783080"/>
            <a:ext cx="5852160" cy="868680"/>
          </a:xfrm>
          <a:prstGeom prst="rect">
            <a:avLst/>
          </a:prstGeom>
          <a:noFill/>
          <a:ln/>
        </p:spPr>
        <p:txBody>
          <a:bodyPr wrap="square" lIns="0" tIns="0" rIns="0" bIns="0" rtlCol="0" anchor="ctr"/>
          <a:lstStyle/>
          <a:p>
            <a:pPr indent="0" marL="0">
              <a:buNone/>
            </a:pPr>
            <a:r>
              <a:rPr lang="en-US" sz="2400" dirty="0">
                <a:solidFill>
                  <a:srgbClr val="1B1B1B"/>
                </a:solidFill>
                <a:latin typeface="Manrope" pitchFamily="34" charset="0"/>
                <a:ea typeface="Manrope" pitchFamily="34" charset="-122"/>
                <a:cs typeface="Manrope" pitchFamily="34" charset="-120"/>
              </a:rPr>
              <a:t>Struktur industri menjelaskan mengapa laba langka, bukan siapa yang meraihnya.</a:t>
            </a:r>
            <a:endParaRPr lang="en-US" sz="2400" dirty="0"/>
          </a:p>
        </p:txBody>
      </p:sp>
      <p:sp>
        <p:nvSpPr>
          <p:cNvPr id="7" name="Shape 5"/>
          <p:cNvSpPr/>
          <p:nvPr/>
        </p:nvSpPr>
        <p:spPr>
          <a:xfrm>
            <a:off x="548640" y="2743200"/>
            <a:ext cx="548640" cy="548640"/>
          </a:xfrm>
          <a:prstGeom prst="ellipse">
            <a:avLst/>
          </a:prstGeom>
          <a:solidFill>
            <a:srgbClr val="2C7BB8"/>
          </a:solidFill>
          <a:ln w="12700">
            <a:solidFill>
              <a:srgbClr val="2C7BB8"/>
            </a:solidFill>
            <a:prstDash val="solid"/>
          </a:ln>
        </p:spPr>
      </p:sp>
      <p:sp>
        <p:nvSpPr>
          <p:cNvPr id="8" name="Text 6"/>
          <p:cNvSpPr txBox="1"/>
          <p:nvPr/>
        </p:nvSpPr>
        <p:spPr>
          <a:xfrm>
            <a:off x="548640" y="2743200"/>
            <a:ext cx="548640" cy="548640"/>
          </a:xfrm>
          <a:prstGeom prst="rect">
            <a:avLst/>
          </a:prstGeom>
          <a:noFill/>
          <a:ln/>
        </p:spPr>
        <p:txBody>
          <a:bodyPr wrap="square" lIns="0" tIns="0" rIns="0" bIns="0" rtlCol="0" anchor="ctr"/>
          <a:lstStyle/>
          <a:p>
            <a:pPr algn="ctr" indent="0" marL="0">
              <a:buNone/>
            </a:pPr>
            <a:r>
              <a:rPr lang="en-US" sz="2640" dirty="0">
                <a:solidFill>
                  <a:srgbClr val="FFFFFF"/>
                </a:solidFill>
                <a:latin typeface="Bebas Neue" pitchFamily="34" charset="0"/>
                <a:ea typeface="Bebas Neue" pitchFamily="34" charset="-122"/>
                <a:cs typeface="Bebas Neue" pitchFamily="34" charset="-120"/>
              </a:rPr>
              <a:t>2</a:t>
            </a:r>
            <a:endParaRPr lang="en-US" sz="2640" dirty="0"/>
          </a:p>
        </p:txBody>
      </p:sp>
      <p:sp>
        <p:nvSpPr>
          <p:cNvPr id="9" name="Text 7"/>
          <p:cNvSpPr txBox="1"/>
          <p:nvPr/>
        </p:nvSpPr>
        <p:spPr>
          <a:xfrm>
            <a:off x="1280160" y="2651760"/>
            <a:ext cx="5852160" cy="868680"/>
          </a:xfrm>
          <a:prstGeom prst="rect">
            <a:avLst/>
          </a:prstGeom>
          <a:noFill/>
          <a:ln/>
        </p:spPr>
        <p:txBody>
          <a:bodyPr wrap="square" lIns="0" tIns="0" rIns="0" bIns="0" rtlCol="0" anchor="ctr"/>
          <a:lstStyle/>
          <a:p>
            <a:pPr indent="0" marL="0">
              <a:buNone/>
            </a:pPr>
            <a:r>
              <a:rPr lang="en-US" sz="2400" dirty="0">
                <a:solidFill>
                  <a:srgbClr val="1B1B1B"/>
                </a:solidFill>
                <a:latin typeface="Manrope" pitchFamily="34" charset="0"/>
                <a:ea typeface="Manrope" pitchFamily="34" charset="-122"/>
                <a:cs typeface="Manrope" pitchFamily="34" charset="-120"/>
              </a:rPr>
              <a:t>Keunggulan biaya adalah sistem yang saling menopang.</a:t>
            </a:r>
            <a:endParaRPr lang="en-US" sz="2400" dirty="0"/>
          </a:p>
        </p:txBody>
      </p:sp>
      <p:sp>
        <p:nvSpPr>
          <p:cNvPr id="10" name="Shape 8"/>
          <p:cNvSpPr/>
          <p:nvPr/>
        </p:nvSpPr>
        <p:spPr>
          <a:xfrm>
            <a:off x="548640" y="3611880"/>
            <a:ext cx="548640" cy="548640"/>
          </a:xfrm>
          <a:prstGeom prst="ellipse">
            <a:avLst/>
          </a:prstGeom>
          <a:solidFill>
            <a:srgbClr val="F4C430"/>
          </a:solidFill>
          <a:ln w="12700">
            <a:solidFill>
              <a:srgbClr val="F4C430"/>
            </a:solidFill>
            <a:prstDash val="solid"/>
          </a:ln>
        </p:spPr>
      </p:sp>
      <p:sp>
        <p:nvSpPr>
          <p:cNvPr id="11" name="Text 9"/>
          <p:cNvSpPr txBox="1"/>
          <p:nvPr/>
        </p:nvSpPr>
        <p:spPr>
          <a:xfrm>
            <a:off x="548640" y="3611880"/>
            <a:ext cx="548640" cy="548640"/>
          </a:xfrm>
          <a:prstGeom prst="rect">
            <a:avLst/>
          </a:prstGeom>
          <a:noFill/>
          <a:ln/>
        </p:spPr>
        <p:txBody>
          <a:bodyPr wrap="square" lIns="0" tIns="0" rIns="0" bIns="0" rtlCol="0" anchor="ctr"/>
          <a:lstStyle/>
          <a:p>
            <a:pPr algn="ctr" indent="0" marL="0">
              <a:buNone/>
            </a:pPr>
            <a:r>
              <a:rPr lang="en-US" sz="2640" dirty="0">
                <a:solidFill>
                  <a:srgbClr val="1B1B1B"/>
                </a:solidFill>
                <a:latin typeface="Bebas Neue" pitchFamily="34" charset="0"/>
                <a:ea typeface="Bebas Neue" pitchFamily="34" charset="-122"/>
                <a:cs typeface="Bebas Neue" pitchFamily="34" charset="-120"/>
              </a:rPr>
              <a:t>3</a:t>
            </a:r>
            <a:endParaRPr lang="en-US" sz="2640" dirty="0"/>
          </a:p>
        </p:txBody>
      </p:sp>
      <p:sp>
        <p:nvSpPr>
          <p:cNvPr id="12" name="Text 10"/>
          <p:cNvSpPr txBox="1"/>
          <p:nvPr/>
        </p:nvSpPr>
        <p:spPr>
          <a:xfrm>
            <a:off x="1280160" y="3520440"/>
            <a:ext cx="5852160" cy="868680"/>
          </a:xfrm>
          <a:prstGeom prst="rect">
            <a:avLst/>
          </a:prstGeom>
          <a:noFill/>
          <a:ln/>
        </p:spPr>
        <p:txBody>
          <a:bodyPr wrap="square" lIns="0" tIns="0" rIns="0" bIns="0" rtlCol="0" anchor="ctr"/>
          <a:lstStyle/>
          <a:p>
            <a:pPr indent="0" marL="0">
              <a:buNone/>
            </a:pPr>
            <a:r>
              <a:rPr lang="en-US" sz="2400" dirty="0">
                <a:solidFill>
                  <a:srgbClr val="1B1B1B"/>
                </a:solidFill>
                <a:latin typeface="Manrope" pitchFamily="34" charset="0"/>
                <a:ea typeface="Manrope" pitchFamily="34" charset="-122"/>
                <a:cs typeface="Manrope" pitchFamily="34" charset="-120"/>
              </a:rPr>
              <a:t>Pindah kelompok strategis berarti melawan model laba yang berbeda.</a:t>
            </a:r>
            <a:endParaRPr lang="en-US" sz="2400" dirty="0"/>
          </a:p>
        </p:txBody>
      </p:sp>
      <p:sp>
        <p:nvSpPr>
          <p:cNvPr id="13" name="Shape 11"/>
          <p:cNvSpPr/>
          <p:nvPr/>
        </p:nvSpPr>
        <p:spPr>
          <a:xfrm>
            <a:off x="548640" y="4480560"/>
            <a:ext cx="548640" cy="548640"/>
          </a:xfrm>
          <a:prstGeom prst="ellipse">
            <a:avLst/>
          </a:prstGeom>
          <a:solidFill>
            <a:srgbClr val="1B1B1B"/>
          </a:solidFill>
          <a:ln w="12700">
            <a:solidFill>
              <a:srgbClr val="1B1B1B"/>
            </a:solidFill>
            <a:prstDash val="solid"/>
          </a:ln>
        </p:spPr>
      </p:sp>
      <p:sp>
        <p:nvSpPr>
          <p:cNvPr id="14" name="Text 12"/>
          <p:cNvSpPr txBox="1"/>
          <p:nvPr/>
        </p:nvSpPr>
        <p:spPr>
          <a:xfrm>
            <a:off x="548640" y="4480560"/>
            <a:ext cx="548640" cy="548640"/>
          </a:xfrm>
          <a:prstGeom prst="rect">
            <a:avLst/>
          </a:prstGeom>
          <a:noFill/>
          <a:ln/>
        </p:spPr>
        <p:txBody>
          <a:bodyPr wrap="square" lIns="0" tIns="0" rIns="0" bIns="0" rtlCol="0" anchor="ctr"/>
          <a:lstStyle/>
          <a:p>
            <a:pPr algn="ctr" indent="0" marL="0">
              <a:buNone/>
            </a:pPr>
            <a:r>
              <a:rPr lang="en-US" sz="2640" dirty="0">
                <a:solidFill>
                  <a:srgbClr val="FFFFFF"/>
                </a:solidFill>
                <a:latin typeface="Bebas Neue" pitchFamily="34" charset="0"/>
                <a:ea typeface="Bebas Neue" pitchFamily="34" charset="-122"/>
                <a:cs typeface="Bebas Neue" pitchFamily="34" charset="-120"/>
              </a:rPr>
              <a:t>4</a:t>
            </a:r>
            <a:endParaRPr lang="en-US" sz="2640" dirty="0"/>
          </a:p>
        </p:txBody>
      </p:sp>
      <p:sp>
        <p:nvSpPr>
          <p:cNvPr id="15" name="Text 13"/>
          <p:cNvSpPr txBox="1"/>
          <p:nvPr/>
        </p:nvSpPr>
        <p:spPr>
          <a:xfrm>
            <a:off x="1280160" y="4389120"/>
            <a:ext cx="5852160" cy="868680"/>
          </a:xfrm>
          <a:prstGeom prst="rect">
            <a:avLst/>
          </a:prstGeom>
          <a:noFill/>
          <a:ln/>
        </p:spPr>
        <p:txBody>
          <a:bodyPr wrap="square" lIns="0" tIns="0" rIns="0" bIns="0" rtlCol="0" anchor="ctr"/>
          <a:lstStyle/>
          <a:p>
            <a:pPr indent="0" marL="0">
              <a:buNone/>
            </a:pPr>
            <a:r>
              <a:rPr lang="en-US" sz="2400" dirty="0">
                <a:solidFill>
                  <a:srgbClr val="1B1B1B"/>
                </a:solidFill>
                <a:latin typeface="Manrope" pitchFamily="34" charset="0"/>
                <a:ea typeface="Manrope" pitchFamily="34" charset="-122"/>
                <a:cs typeface="Manrope" pitchFamily="34" charset="-120"/>
              </a:rPr>
              <a:t>Eksplorasi butuh unit terpisah yang tetap dikendalikan induk.</a:t>
            </a:r>
            <a:endParaRPr lang="en-US" sz="2400" dirty="0"/>
          </a:p>
        </p:txBody>
      </p:sp>
      <p:sp>
        <p:nvSpPr>
          <p:cNvPr id="16" name="Text 14"/>
          <p:cNvSpPr txBox="1"/>
          <p:nvPr/>
        </p:nvSpPr>
        <p:spPr>
          <a:xfrm>
            <a:off x="548640" y="5349240"/>
            <a:ext cx="6583680" cy="640080"/>
          </a:xfrm>
          <a:prstGeom prst="rect">
            <a:avLst/>
          </a:prstGeom>
          <a:noFill/>
          <a:ln/>
        </p:spPr>
        <p:txBody>
          <a:bodyPr wrap="square" lIns="0" tIns="0" rIns="0" bIns="0" rtlCol="0" anchor="ctr"/>
          <a:lstStyle/>
          <a:p>
            <a:pPr indent="0" marL="0">
              <a:buNone/>
            </a:pPr>
            <a:r>
              <a:rPr lang="en-US" sz="3200" dirty="0">
                <a:solidFill>
                  <a:srgbClr val="E63E2C"/>
                </a:solidFill>
                <a:latin typeface="Bebas Neue" pitchFamily="34" charset="0"/>
                <a:ea typeface="Bebas Neue" pitchFamily="34" charset="-122"/>
                <a:cs typeface="Bebas Neue" pitchFamily="34" charset="-120"/>
              </a:rPr>
              <a:t>DALAM SATU KATA: TRANSFERABILITAS.</a:t>
            </a:r>
            <a:endParaRPr lang="en-US" sz="3200" dirty="0"/>
          </a:p>
        </p:txBody>
      </p:sp>
      <p:sp>
        <p:nvSpPr>
          <p:cNvPr id="17" name="Shape 15"/>
          <p:cNvSpPr/>
          <p:nvPr/>
        </p:nvSpPr>
        <p:spPr>
          <a:xfrm>
            <a:off x="7680960" y="1783080"/>
            <a:ext cx="4023360" cy="4206240"/>
          </a:xfrm>
          <a:prstGeom prst="rect">
            <a:avLst/>
          </a:prstGeom>
          <a:solidFill>
            <a:srgbClr val="1B1B1B"/>
          </a:solidFill>
          <a:ln w="12700">
            <a:solidFill>
              <a:srgbClr val="1B1B1B"/>
            </a:solidFill>
            <a:prstDash val="solid"/>
          </a:ln>
        </p:spPr>
      </p:sp>
      <p:pic>
        <p:nvPicPr>
          <p:cNvPr id="18" name="Image 0" descr="/tmp/claude-0/-home-user-Dom-Manipulation/a70c4110-05d8-512e-ae11-d08dee025a7a/scratchpad/img/bw_meeting.png">    </p:cNvPr>
          <p:cNvPicPr>
            <a:picLocks noChangeAspect="1"/>
          </p:cNvPicPr>
          <p:nvPr/>
        </p:nvPicPr>
        <p:blipFill>
          <a:blip r:embed="rId1"/>
          <a:stretch>
            <a:fillRect/>
          </a:stretch>
        </p:blipFill>
        <p:spPr>
          <a:xfrm>
            <a:off x="9052560" y="457200"/>
            <a:ext cx="2377440" cy="1783080"/>
          </a:xfrm>
          <a:prstGeom prst="rect">
            <a:avLst/>
          </a:prstGeom>
        </p:spPr>
      </p:pic>
      <p:sp>
        <p:nvSpPr>
          <p:cNvPr id="19" name="Text 16"/>
          <p:cNvSpPr txBox="1"/>
          <p:nvPr/>
        </p:nvSpPr>
        <p:spPr>
          <a:xfrm>
            <a:off x="7955280" y="2011680"/>
            <a:ext cx="3474720" cy="3749040"/>
          </a:xfrm>
          <a:prstGeom prst="rect">
            <a:avLst/>
          </a:prstGeom>
          <a:noFill/>
          <a:ln/>
        </p:spPr>
        <p:txBody>
          <a:bodyPr wrap="square" lIns="0" tIns="0" rIns="0" bIns="0" rtlCol="0" anchor="ctr"/>
          <a:lstStyle/>
          <a:p>
            <a:pPr indent="0" marL="0">
              <a:buNone/>
            </a:pPr>
            <a:r>
              <a:rPr lang="en-US" sz="2800" dirty="0">
                <a:solidFill>
                  <a:srgbClr val="F4C430"/>
                </a:solidFill>
                <a:latin typeface="Bebas Neue" pitchFamily="34" charset="0"/>
                <a:ea typeface="Bebas Neue" pitchFamily="34" charset="-122"/>
                <a:cs typeface="Bebas Neue" pitchFamily="34" charset="-120"/>
              </a:rPr>
              <a:t>UNTUK DIDISKUSIKAN</a:t>
            </a:r>
            <a:endParaRPr lang="en-US" sz="2400" dirty="0"/>
          </a:p>
          <a:p>
            <a:pPr indent="0" marL="0">
              <a:buNone/>
            </a:pPr>
            <a:r>
              <a:rPr lang="en-US" sz="2200" dirty="0">
                <a:solidFill>
                  <a:srgbClr val="FFFFFF"/>
                </a:solidFill>
                <a:latin typeface="Manrope" pitchFamily="34" charset="0"/>
                <a:ea typeface="Manrope" pitchFamily="34" charset="-122"/>
                <a:cs typeface="Manrope" pitchFamily="34" charset="-120"/>
              </a:rPr>
              <a:t>Jika Anda Tony Fernandes pada Juli 2009 dengan kas RM 153,8 juta, setujui merger sekarang, atau tunggu bukti empat kuartal? Apa yang hilang jika menunggu?</a:t>
            </a:r>
            <a:endParaRPr lang="en-US" sz="2400" dirty="0"/>
          </a:p>
        </p:txBody>
      </p:sp>
      <p:sp>
        <p:nvSpPr>
          <p:cNvPr id="20" name="Text 17"/>
          <p:cNvSpPr txBox="1"/>
          <p:nvPr/>
        </p:nvSpPr>
        <p:spPr>
          <a:xfrm>
            <a:off x="11247120" y="6355080"/>
            <a:ext cx="548640" cy="320040"/>
          </a:xfrm>
          <a:prstGeom prst="rect">
            <a:avLst/>
          </a:prstGeom>
          <a:noFill/>
          <a:ln/>
        </p:spPr>
        <p:txBody>
          <a:bodyPr wrap="square" lIns="0" tIns="0" rIns="0" bIns="0" rtlCol="0" anchor="ctr"/>
          <a:lstStyle/>
          <a:p>
            <a:pPr algn="r" indent="0" marL="0">
              <a:buNone/>
            </a:pPr>
            <a:r>
              <a:rPr lang="en-US" sz="1200" b="1" dirty="0">
                <a:solidFill>
                  <a:srgbClr val="1B1B1B"/>
                </a:solidFill>
                <a:latin typeface="Manrope" pitchFamily="34" charset="0"/>
                <a:ea typeface="Manrope" pitchFamily="34" charset="-122"/>
                <a:cs typeface="Manrope"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2CF"/>
        </a:solidFill>
      </p:bgPr>
    </p:bg>
    <p:spTree>
      <p:nvGrpSpPr>
        <p:cNvPr id="1" name=""/>
        <p:cNvGrpSpPr/>
        <p:nvPr/>
      </p:nvGrpSpPr>
      <p:grpSpPr>
        <a:xfrm>
          <a:off x="0" y="0"/>
          <a:ext cx="0" cy="0"/>
          <a:chOff x="0" y="0"/>
          <a:chExt cx="0" cy="0"/>
        </a:xfrm>
      </p:grpSpPr>
      <p:sp>
        <p:nvSpPr>
          <p:cNvPr id="2" name="Shape 0"/>
          <p:cNvSpPr/>
          <p:nvPr/>
        </p:nvSpPr>
        <p:spPr>
          <a:xfrm>
            <a:off x="-1463040" y="1097280"/>
            <a:ext cx="3840480" cy="3840480"/>
          </a:xfrm>
          <a:prstGeom prst="ellipse">
            <a:avLst/>
          </a:prstGeom>
          <a:solidFill>
            <a:srgbClr val="E63E2C"/>
          </a:solidFill>
          <a:ln w="12700">
            <a:solidFill>
              <a:srgbClr val="E63E2C"/>
            </a:solidFill>
            <a:prstDash val="solid"/>
          </a:ln>
        </p:spPr>
      </p:sp>
      <p:sp>
        <p:nvSpPr>
          <p:cNvPr id="3" name="Shape 1"/>
          <p:cNvSpPr/>
          <p:nvPr/>
        </p:nvSpPr>
        <p:spPr>
          <a:xfrm>
            <a:off x="-1508760" y="1078992"/>
            <a:ext cx="1965960" cy="3877056"/>
          </a:xfrm>
          <a:prstGeom prst="rect">
            <a:avLst/>
          </a:prstGeom>
          <a:solidFill>
            <a:srgbClr val="F3E2CF"/>
          </a:solidFill>
          <a:ln w="12700">
            <a:solidFill>
              <a:srgbClr val="F3E2CF"/>
            </a:solidFill>
            <a:prstDash val="solid"/>
          </a:ln>
        </p:spPr>
      </p:sp>
      <p:sp>
        <p:nvSpPr>
          <p:cNvPr id="4" name="Shape 2"/>
          <p:cNvSpPr/>
          <p:nvPr/>
        </p:nvSpPr>
        <p:spPr>
          <a:xfrm>
            <a:off x="7863840" y="457200"/>
            <a:ext cx="3291840" cy="3291840"/>
          </a:xfrm>
          <a:prstGeom prst="ellipse">
            <a:avLst/>
          </a:prstGeom>
          <a:solidFill>
            <a:srgbClr val="F4C430"/>
          </a:solidFill>
          <a:ln w="12700">
            <a:solidFill>
              <a:srgbClr val="F4C430"/>
            </a:solidFill>
            <a:prstDash val="solid"/>
          </a:ln>
        </p:spPr>
      </p:sp>
      <p:sp>
        <p:nvSpPr>
          <p:cNvPr id="5" name="Shape 3"/>
          <p:cNvSpPr/>
          <p:nvPr/>
        </p:nvSpPr>
        <p:spPr>
          <a:xfrm>
            <a:off x="10881360" y="3108960"/>
            <a:ext cx="1307592" cy="3749040"/>
          </a:xfrm>
          <a:prstGeom prst="rect">
            <a:avLst/>
          </a:prstGeom>
          <a:solidFill>
            <a:srgbClr val="2C7BB8"/>
          </a:solidFill>
          <a:ln w="12700">
            <a:solidFill>
              <a:srgbClr val="2C7BB8"/>
            </a:solidFill>
            <a:prstDash val="solid"/>
          </a:ln>
        </p:spPr>
      </p:sp>
      <p:sp>
        <p:nvSpPr>
          <p:cNvPr id="6" name="Shape 4"/>
          <p:cNvSpPr/>
          <p:nvPr/>
        </p:nvSpPr>
        <p:spPr>
          <a:xfrm>
            <a:off x="9052560" y="4114800"/>
            <a:ext cx="2011680" cy="2011680"/>
          </a:xfrm>
          <a:prstGeom prst="ellipse">
            <a:avLst/>
          </a:prstGeom>
          <a:ln w="19050">
            <a:solidFill>
              <a:srgbClr val="1B1B1B"/>
            </a:solidFill>
            <a:prstDash val="sysDot"/>
          </a:ln>
        </p:spPr>
      </p:sp>
      <p:pic>
        <p:nvPicPr>
          <p:cNvPr id="7" name="Image 0" descr="/tmp/claude-0/-home-user-Dom-Manipulation/a70c4110-05d8-512e-ae11-d08dee025a7a/scratchpad/img/bw_a320.png">    </p:cNvPr>
          <p:cNvPicPr>
            <a:picLocks noChangeAspect="1"/>
          </p:cNvPicPr>
          <p:nvPr/>
        </p:nvPicPr>
        <p:blipFill>
          <a:blip r:embed="rId1"/>
          <a:stretch>
            <a:fillRect/>
          </a:stretch>
        </p:blipFill>
        <p:spPr>
          <a:xfrm>
            <a:off x="5852160" y="2377440"/>
            <a:ext cx="5852160" cy="2468880"/>
          </a:xfrm>
          <a:prstGeom prst="rect">
            <a:avLst/>
          </a:prstGeom>
        </p:spPr>
      </p:pic>
      <p:sp>
        <p:nvSpPr>
          <p:cNvPr id="8" name="Text 5"/>
          <p:cNvSpPr txBox="1"/>
          <p:nvPr/>
        </p:nvSpPr>
        <p:spPr>
          <a:xfrm>
            <a:off x="2743200" y="1188720"/>
            <a:ext cx="8229600" cy="1463040"/>
          </a:xfrm>
          <a:prstGeom prst="rect">
            <a:avLst/>
          </a:prstGeom>
          <a:noFill/>
          <a:ln/>
        </p:spPr>
        <p:txBody>
          <a:bodyPr wrap="square" lIns="0" tIns="0" rIns="0" bIns="0" rtlCol="0" anchor="ctr"/>
          <a:lstStyle/>
          <a:p>
            <a:pPr indent="0" marL="0">
              <a:buNone/>
            </a:pPr>
            <a:r>
              <a:rPr lang="en-US" sz="10000" dirty="0">
                <a:solidFill>
                  <a:srgbClr val="1B1B1B"/>
                </a:solidFill>
                <a:latin typeface="Bebas Neue" pitchFamily="34" charset="0"/>
                <a:ea typeface="Bebas Neue" pitchFamily="34" charset="-122"/>
                <a:cs typeface="Bebas Neue" pitchFamily="34" charset="-120"/>
              </a:rPr>
              <a:t>TERIMA KASIH</a:t>
            </a:r>
            <a:endParaRPr lang="en-US" sz="10000" dirty="0"/>
          </a:p>
        </p:txBody>
      </p:sp>
      <p:sp>
        <p:nvSpPr>
          <p:cNvPr id="9" name="Text 6"/>
          <p:cNvSpPr txBox="1"/>
          <p:nvPr/>
        </p:nvSpPr>
        <p:spPr>
          <a:xfrm>
            <a:off x="2743200" y="2743200"/>
            <a:ext cx="5029200" cy="914400"/>
          </a:xfrm>
          <a:prstGeom prst="rect">
            <a:avLst/>
          </a:prstGeom>
          <a:noFill/>
          <a:ln/>
        </p:spPr>
        <p:txBody>
          <a:bodyPr wrap="square" lIns="0" tIns="0" rIns="0" bIns="0" rtlCol="0" anchor="t"/>
          <a:lstStyle/>
          <a:p>
            <a:pPr indent="0" marL="0">
              <a:buNone/>
            </a:pPr>
            <a:r>
              <a:rPr lang="en-US" sz="2400" dirty="0">
                <a:solidFill>
                  <a:srgbClr val="4A4A4A"/>
                </a:solidFill>
                <a:latin typeface="Manrope" pitchFamily="34" charset="0"/>
                <a:ea typeface="Manrope" pitchFamily="34" charset="-122"/>
                <a:cs typeface="Manrope" pitchFamily="34" charset="-120"/>
              </a:rPr>
              <a:t>thanks for watching. Kami terbuka untuk pertanyaan dan diskusi.</a:t>
            </a:r>
            <a:endParaRPr lang="en-US" sz="2400" dirty="0"/>
          </a:p>
        </p:txBody>
      </p:sp>
      <p:sp>
        <p:nvSpPr>
          <p:cNvPr id="10" name="Shape 7"/>
          <p:cNvSpPr/>
          <p:nvPr/>
        </p:nvSpPr>
        <p:spPr>
          <a:xfrm>
            <a:off x="2743200" y="4892040"/>
            <a:ext cx="822960" cy="73152"/>
          </a:xfrm>
          <a:prstGeom prst="rect">
            <a:avLst/>
          </a:prstGeom>
          <a:solidFill>
            <a:srgbClr val="1B1B1B"/>
          </a:solidFill>
          <a:ln w="12700">
            <a:solidFill>
              <a:srgbClr val="1B1B1B"/>
            </a:solidFill>
            <a:prstDash val="solid"/>
          </a:ln>
        </p:spPr>
      </p:sp>
      <p:sp>
        <p:nvSpPr>
          <p:cNvPr id="11" name="Text 8"/>
          <p:cNvSpPr txBox="1"/>
          <p:nvPr/>
        </p:nvSpPr>
        <p:spPr>
          <a:xfrm>
            <a:off x="2743200" y="5074920"/>
            <a:ext cx="8046720" cy="1097280"/>
          </a:xfrm>
          <a:prstGeom prst="rect">
            <a:avLst/>
          </a:prstGeom>
          <a:noFill/>
          <a:ln/>
        </p:spPr>
        <p:txBody>
          <a:bodyPr wrap="square" lIns="0" tIns="0" rIns="0" bIns="0" rtlCol="0" anchor="t"/>
          <a:lstStyle/>
          <a:p>
            <a:pPr indent="0" marL="0">
              <a:buNone/>
            </a:pPr>
            <a:r>
              <a:rPr lang="en-US" sz="2000" b="1" dirty="0">
                <a:solidFill>
                  <a:srgbClr val="1B1B1B"/>
                </a:solidFill>
                <a:latin typeface="Manrope" pitchFamily="34" charset="0"/>
                <a:ea typeface="Manrope" pitchFamily="34" charset="-122"/>
                <a:cs typeface="Manrope" pitchFamily="34" charset="-120"/>
              </a:rPr>
              <a:t>KELOMPOK 3</a:t>
            </a:r>
            <a:endParaRPr lang="en-US" sz="2400" dirty="0"/>
          </a:p>
          <a:p>
            <a:pPr indent="0" marL="0">
              <a:buNone/>
            </a:pPr>
            <a:r>
              <a:rPr lang="en-US" sz="1800" dirty="0">
                <a:solidFill>
                  <a:srgbClr val="4A4A4A"/>
                </a:solidFill>
                <a:latin typeface="Manrope" pitchFamily="34" charset="0"/>
                <a:ea typeface="Manrope" pitchFamily="34" charset="-122"/>
                <a:cs typeface="Manrope" pitchFamily="34" charset="-120"/>
              </a:rPr>
              <a:t>Tifani Puspita  |  Dara Astrini Rahayu K  |  Happy Dinithasari  |  Aslih Abnuri</a:t>
            </a:r>
            <a:endParaRPr lang="en-US" sz="2400" dirty="0"/>
          </a:p>
        </p:txBody>
      </p:sp>
      <p:sp>
        <p:nvSpPr>
          <p:cNvPr id="12" name="Text 9"/>
          <p:cNvSpPr txBox="1"/>
          <p:nvPr/>
        </p:nvSpPr>
        <p:spPr>
          <a:xfrm>
            <a:off x="11247120" y="6355080"/>
            <a:ext cx="548640" cy="320040"/>
          </a:xfrm>
          <a:prstGeom prst="rect">
            <a:avLst/>
          </a:prstGeom>
          <a:noFill/>
          <a:ln/>
        </p:spPr>
        <p:txBody>
          <a:bodyPr wrap="square" lIns="0" tIns="0" rIns="0" bIns="0" rtlCol="0" anchor="ctr"/>
          <a:lstStyle/>
          <a:p>
            <a:pPr algn="r" indent="0" marL="0">
              <a:buNone/>
            </a:pPr>
            <a:r>
              <a:rPr lang="en-US" sz="1200" b="1" dirty="0">
                <a:solidFill>
                  <a:srgbClr val="1B1B1B"/>
                </a:solidFill>
                <a:latin typeface="Manrope" pitchFamily="34" charset="0"/>
                <a:ea typeface="Manrope" pitchFamily="34" charset="-122"/>
                <a:cs typeface="Manrope" pitchFamily="34" charset="-120"/>
              </a:rPr>
              <a:t>20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AirAsia: The World's Lowest Cost Airline</dc:title>
  <dc:subject>PptxGenJS Presentation</dc:subject>
  <dc:creator>Kelompok 3</dc:creator>
  <cp:lastModifiedBy>Kelompok 3</cp:lastModifiedBy>
  <cp:revision>1</cp:revision>
  <dcterms:created xsi:type="dcterms:W3CDTF">2026-09-07T10:41:12Z</dcterms:created>
  <dcterms:modified xsi:type="dcterms:W3CDTF">2026-09-07T10:41:12Z</dcterms:modified>
</cp:coreProperties>
</file>