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2.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1B1B1B"/>
                </a:solidFill>
                <a:latin typeface="Manrope"/>
              </a:defRPr>
            </a:pPr>
            <a:r>
              <a:rPr sz="1500" b="0" i="0" u="none" strike="noStrike">
                <a:solidFill>
                  <a:srgbClr val="1B1B1B"/>
                </a:solidFill>
                <a:latin typeface="Manrope"/>
              </a:rPr>
              <a:t>Sen ringgit per available seat kilometer, 2008</a:t>
            </a:r>
          </a:p>
        </c:rich>
      </c:tx>
      <c:layout/>
      <c:overlay val="0"/>
    </c:title>
    <c:autoTitleDeleted val="0"/>
    <c:plotArea>
      <c:layout/>
      <c:barChart>
        <c:barDir val="col"/>
        <c:grouping val="clustered"/>
        <c:varyColors val="0"/>
        <c:ser>
          <c:idx val="0"/>
          <c:order val="0"/>
          <c:tx>
            <c:strRef>
              <c:f>Sheet1!$B$1</c:f>
              <c:strCache>
                <c:ptCount val="1"/>
                <c:pt idx="0">
                  <c:v>AirAsia</c:v>
                </c:pt>
              </c:strCache>
            </c:strRef>
          </c:tx>
          <c:spPr>
            <a:solidFill>
              <a:srgbClr val="E63E2C"/>
            </a:solidFill>
            <a:effectLst/>
          </c:spPr>
          <c:invertIfNegative val="0"/>
          <c:dLbls>
            <c:numFmt formatCode="0.00" sourceLinked="0"/>
            <c:txPr>
              <a:bodyPr/>
              <a:lstStyle/>
              <a:p>
                <a:pPr>
                  <a:defRPr b="0" i="0" strike="noStrike" sz="1400" u="none">
                    <a:solidFill>
                      <a:srgbClr val="1B1B1B"/>
                    </a:solidFill>
                    <a:latin typeface="Manrope"/>
                  </a:defRPr>
                </a:pPr>
              </a:p>
            </c:txPr>
            <c:showLegendKey val="0"/>
            <c:showVal val="1"/>
            <c:showCatName val="0"/>
            <c:showSerName val="0"/>
            <c:showPercent val="0"/>
            <c:showBubbleSize val="0"/>
            <c:showLeaderLines val="0"/>
          </c:dLbls>
          <c:cat>
            <c:multiLvlStrRef>
              <c:f>Sheet1!$A$2:$A$3</c:f>
              <c:multiLvlStrCache>
                <c:ptCount val="2"/>
                <c:lvl>
                  <c:pt idx="0">
                    <c:v>Biaya per ASK</c:v>
                  </c:pt>
                  <c:pt idx="1">
                    <c:v>Pendapatan per ASK</c:v>
                  </c:pt>
                </c:lvl>
              </c:multiLvlStrCache>
            </c:multiLvlStrRef>
          </c:cat>
          <c:val>
            <c:numRef>
              <c:f>Sheet1!$B$2:$B$3</c:f>
              <c:numCache>
                <c:formatCode>General</c:formatCode>
                <c:ptCount val="2"/>
                <c:pt idx="0">
                  <c:v>11.66</c:v>
                </c:pt>
                <c:pt idx="1">
                  <c:v>14.11</c:v>
                </c:pt>
              </c:numCache>
            </c:numRef>
          </c:val>
        </c:ser>
        <c:ser>
          <c:idx val="1"/>
          <c:order val="1"/>
          <c:tx>
            <c:strRef>
              <c:f>Sheet1!$C$1</c:f>
              <c:strCache>
                <c:ptCount val="1"/>
                <c:pt idx="0">
                  <c:v>Malaysia Airlines</c:v>
                </c:pt>
              </c:strCache>
            </c:strRef>
          </c:tx>
          <c:spPr>
            <a:solidFill>
              <a:srgbClr val="2C7BB8"/>
            </a:solidFill>
            <a:effectLst/>
          </c:spPr>
          <c:invertIfNegative val="0"/>
          <c:dLbls>
            <c:numFmt formatCode="0.00" sourceLinked="0"/>
            <c:txPr>
              <a:bodyPr/>
              <a:lstStyle/>
              <a:p>
                <a:pPr>
                  <a:defRPr b="0" i="0" strike="noStrike" sz="1400" u="none">
                    <a:solidFill>
                      <a:srgbClr val="1B1B1B"/>
                    </a:solidFill>
                    <a:latin typeface="Manrope"/>
                  </a:defRPr>
                </a:pPr>
              </a:p>
            </c:txPr>
            <c:showLegendKey val="0"/>
            <c:showVal val="1"/>
            <c:showCatName val="0"/>
            <c:showSerName val="0"/>
            <c:showPercent val="0"/>
            <c:showBubbleSize val="0"/>
            <c:showLeaderLines val="0"/>
          </c:dLbls>
          <c:cat>
            <c:multiLvlStrRef>
              <c:f>Sheet1!$A$2:$A$3</c:f>
              <c:multiLvlStrCache>
                <c:ptCount val="2"/>
                <c:lvl>
                  <c:pt idx="0">
                    <c:v>Biaya per ASK</c:v>
                  </c:pt>
                  <c:pt idx="1">
                    <c:v>Pendapatan per ASK</c:v>
                  </c:pt>
                </c:lvl>
              </c:multiLvlStrCache>
            </c:multiLvlStrRef>
          </c:cat>
          <c:val>
            <c:numRef>
              <c:f>Sheet1!$C$2:$C$3</c:f>
              <c:numCache>
                <c:formatCode>General</c:formatCode>
                <c:ptCount val="2"/>
                <c:pt idx="0">
                  <c:v>22.8</c:v>
                </c:pt>
                <c:pt idx="1">
                  <c:v>20.6</c:v>
                </c:pt>
              </c:numCache>
            </c:numRef>
          </c:val>
        </c:ser>
        <c:dLbls>
          <c:numFmt formatCode="0.00" sourceLinked="0"/>
          <c:txPr>
            <a:bodyPr/>
            <a:lstStyle/>
            <a:p>
              <a:pPr>
                <a:defRPr b="0" i="0" strike="noStrike" sz="1400" u="none">
                  <a:solidFill>
                    <a:srgbClr val="1B1B1B"/>
                  </a:solidFill>
                  <a:latin typeface="Manrope"/>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B1B1B"/>
                </a:solidFill>
                <a:latin typeface="Manrope"/>
              </a:defRPr>
            </a:pPr>
            <a:endParaRPr lang="en-US"/>
          </a:p>
        </c:txPr>
        <c:crossAx val="2094734552"/>
        <c:crosses val="autoZero"/>
        <c:auto val="1"/>
        <c:lblAlgn val="ctr"/>
        <c:noMultiLvlLbl val="1"/>
      </c:catAx>
      <c:valAx>
        <c:axId val="2094734552"/>
        <c:scaling>
          <c:orientation val="minMax"/>
          <c:max val="25"/>
          <c:min val="0"/>
        </c:scaling>
        <c:delete val="0"/>
        <c:axPos val="l"/>
        <c:majorGridlines>
          <c:spPr>
            <a:ln w="6350" cap="flat">
              <a:solidFill>
                <a:srgbClr val="E5DED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6B6B"/>
                </a:solidFill>
                <a:latin typeface="Arial"/>
              </a:defRPr>
            </a:pPr>
            <a:endParaRPr lang="en-US"/>
          </a:p>
        </c:txPr>
        <c:crossAx val="2094734554"/>
        <c:crosses val="autoZero"/>
        <c:crossBetween val="between"/>
        <c:majorUnit val="5"/>
      </c:valAx>
      <c:spPr>
        <a:noFill/>
        <a:ln>
          <a:noFill/>
        </a:ln>
        <a:effectLst/>
      </c:spPr>
    </c:plotArea>
    <c:legend>
      <c:legendPos val="b"/>
      <c:overlay val="0"/>
      <c:txPr>
        <a:bodyPr/>
        <a:lstStyle/>
        <a:p>
          <a:pPr>
            <a:defRPr sz="1400">
              <a:solidFill>
                <a:srgbClr val="1B1B1B"/>
              </a:solidFill>
              <a:latin typeface="Manrope"/>
              <a:cs typeface="Manrope"/>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1B1B1B"/>
                </a:solidFill>
                <a:latin typeface="Manrope"/>
              </a:defRPr>
            </a:pPr>
            <a:r>
              <a:rPr sz="1500" b="0" i="0" u="none" strike="noStrike">
                <a:solidFill>
                  <a:srgbClr val="1B1B1B"/>
                </a:solidFill>
                <a:latin typeface="Manrope"/>
              </a:rPr>
              <a:t>Biaya per penumpang satu arah (US$), Tabel 9.4</a:t>
            </a:r>
          </a:p>
        </c:rich>
      </c:tx>
      <c:layout/>
      <c:overlay val="0"/>
    </c:title>
    <c:autoTitleDeleted val="0"/>
    <c:plotArea>
      <c:layout/>
      <c:barChart>
        <c:barDir val="bar"/>
        <c:grouping val="clustered"/>
        <c:varyColors val="0"/>
        <c:ser>
          <c:idx val="0"/>
          <c:order val="0"/>
          <c:tx>
            <c:strRef>
              <c:f>Sheet1!$B$1</c:f>
              <c:strCache>
                <c:ptCount val="1"/>
                <c:pt idx="0">
                  <c:v>Biaya per penumpang (US$)</c:v>
                </c:pt>
              </c:strCache>
            </c:strRef>
          </c:tx>
          <c:spPr>
            <a:solidFill>
              <a:srgbClr val="E63E2C"/>
            </a:solidFill>
            <a:effectLst/>
          </c:spPr>
          <c:invertIfNegative val="0"/>
          <c:dLbls>
            <c:numFmt formatCode="#,##0" sourceLinked="0"/>
            <c:txPr>
              <a:bodyPr/>
              <a:lstStyle/>
              <a:p>
                <a:pPr>
                  <a:defRPr b="0" i="0" strike="noStrike" sz="1400" u="none">
                    <a:solidFill>
                      <a:srgbClr val="1B1B1B"/>
                    </a:solidFill>
                    <a:latin typeface="Manrope"/>
                  </a:defRPr>
                </a:pPr>
              </a:p>
            </c:txPr>
            <c:showLegendKey val="0"/>
            <c:showVal val="1"/>
            <c:showCatName val="0"/>
            <c:showSerName val="0"/>
            <c:showPercent val="0"/>
            <c:showBubbleSize val="0"/>
            <c:showLeaderLines val="0"/>
          </c:dLbls>
          <c:cat>
            <c:multiLvlStrRef>
              <c:f>Sheet1!$A$2:$A$5</c:f>
              <c:multiLvlStrCache>
                <c:ptCount val="4"/>
                <c:lvl>
                  <c:pt idx="0">
                    <c:v>AirAsia X</c:v>
                  </c:pt>
                  <c:pt idx="1">
                    <c:v>BA</c:v>
                  </c:pt>
                  <c:pt idx="2">
                    <c:v>MAS</c:v>
                  </c:pt>
                  <c:pt idx="3">
                    <c:v>Emirates</c:v>
                  </c:pt>
                </c:lvl>
              </c:multiLvlStrCache>
            </c:multiLvlStrRef>
          </c:cat>
          <c:val>
            <c:numRef>
              <c:f>Sheet1!$B$2:$B$5</c:f>
              <c:numCache>
                <c:formatCode>General</c:formatCode>
                <c:ptCount val="4"/>
                <c:pt idx="0">
                  <c:v>373.14</c:v>
                </c:pt>
                <c:pt idx="1">
                  <c:v>553.37</c:v>
                </c:pt>
                <c:pt idx="2">
                  <c:v>589.5</c:v>
                </c:pt>
                <c:pt idx="3">
                  <c:v>609.56</c:v>
                </c:pt>
              </c:numCache>
            </c:numRef>
          </c:val>
        </c:ser>
        <c:dLbls>
          <c:numFmt formatCode="#,##0" sourceLinked="0"/>
          <c:txPr>
            <a:bodyPr/>
            <a:lstStyle/>
            <a:p>
              <a:pPr>
                <a:defRPr b="0" i="0" strike="noStrike" sz="1400" u="none">
                  <a:solidFill>
                    <a:srgbClr val="1B1B1B"/>
                  </a:solidFill>
                  <a:latin typeface="Manrope"/>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1B1B1B"/>
                </a:solidFill>
                <a:latin typeface="Manrope"/>
              </a:defRPr>
            </a:pPr>
            <a:endParaRPr lang="en-US"/>
          </a:p>
        </c:txPr>
        <c:crossAx val="2094734552"/>
        <c:crosses val="autoZero"/>
        <c:auto val="1"/>
        <c:lblAlgn val="ctr"/>
        <c:noMultiLvlLbl val="1"/>
      </c:catAx>
      <c:valAx>
        <c:axId val="2094734552"/>
        <c:scaling>
          <c:orientation val="minMax"/>
          <c:max val="700"/>
          <c:min val="0"/>
        </c:scaling>
        <c:delete val="0"/>
        <c:axPos val="b"/>
        <c:majorGridlines>
          <c:spPr>
            <a:ln w="6350" cap="flat">
              <a:solidFill>
                <a:srgbClr val="E5DED4"/>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B6B6B"/>
                </a:solidFill>
                <a:latin typeface="Arial"/>
              </a:defRPr>
            </a:pPr>
            <a:endParaRPr lang="en-US"/>
          </a:p>
        </c:txPr>
        <c:crossAx val="2094734554"/>
        <c:crosses val="autoZero"/>
        <c:crossBetween val="between"/>
        <c:majorUnit val="10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Pembuka. Satu pertanyaan strategis: apakah keunggulan biaya AirAsia yang dibangun di rute pendek dapat dipindahkan ke rute jarak jauh melalui AirAsia X. Kasus Robert M. Grant (2010), data 2008 sampai pertengahan 2009.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Urutan analisis mengikuti logika Structure Conduct Performance: struktur industri dibaca lebih dulu, baru posisi perusahaan, baru pilihan strategi. Kerangka dari Thompson dan Strickland Bab 3 serta panduan analisis kasus RPKPS. Seluruh angka bersumber dari tabel dalam kasus.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Dari 2 pesawat dan 200 ribu penumpang (Januari 2002) menjadi 79 pesawat dan 11,8 juta penumpang (Maret 2009). Hub di KL, Bangkok, dan Jakarta. Akuisisi 2001 seharga RM 1 dengan warisan utang RM 40 juta. Riset UBS 2007: biaya per ASK terendah di dunia. ROA 2008 sebesar 4 persen ketika hampir semua maskapai dunia merugi. Foto: deretan armada AirAsia di terminal LCC.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Mengikuti panduan RPKPS: masalah adalah tujuan yang terhalang. Angka neraca dari Tabel 9.1: rugi bersih RM 496,6 juta, utang RM 6,69 miliar berbanding ekuitas RM 1,61 miliar, kas RM 153,8 juta. Azran Osman-Rani (CEO AirAsia X): rute gemuk jarak jauh adalah sumber lalu lintas berikutnya.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Istilah exploration dan exploitation mengacu pada March (1991): perusahaan perlu menyeimbangkan pendalaman kompetensi yang ada dengan pencarian peluang baru. Foto: AirAsia X A330, pesawat berbadan lebar untuk rute jauh.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Angka 47 persen dihitung dari Tabel 9.1: bahan bakar RM 1.389,8 juta dari biaya operasi RM 2.966 juta. Simpulan PESTEL: faktor politik dan legal adalah pembentuk struktur paling kuat. Joint venture Thai AirAsia dan Indonesia AirAsia mengontrakkan operasinya kembali ke AirAsia dengan imbalan fee bulanan. Distribusi langsung memangkas komisi agen dan sulit ditiru maskapai lama.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Rivalitas: banyak peniru model Southwest, MAS menekan di rute domestik. Pemasok: duopoli Airbus dan Boeing, bahan bakar mengikuti harga minyak, tarif bandara tanpa negosiasi. Pembeli: sangat peka harga, biaya berpindah nol. Pendatang baru: deregulasi dan pesawat sewaan menurunkan hambatan; penahan slot, merek, skala. Substitusi: bus, kereta, feri di rute pendek; tidak ada pengganti setara di rute antarbenua. Tahun 2008 hampir seluruh maskapai dunia merugi. Foto: pengisian bahan bakar, pos biaya terbesar dan daya tawar pemasok.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Driving forces: deregulasi memungkinkan hub di Bangkok dan Jakarta lewat usaha patungan; internet dan ponsel menghapus komisi agen; kenaikan lalu penurunan tajam harga minyak 2008 merugikan maskapai yang salah posisi lindung nilai, termasuk AirAsia; kelas menengah Asia tumbuh sehingga pasar membesar; AirAsia X dan Jetstar menguji batas model di rute jauh. KSF diturunkan dari struktur industri: kalau pembeli peka harga dan pemasok kuat, penentu kemenangan adalah biaya, utilisasi, dan load factor.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Hambatan mobilitas antar kelompok bukan hanya modal; yang sulit ditiru adalah budaya biaya rendah dan sistem operasi sederhana. Ruang LCC jarak jauh nyaris kosong karena rute jauh butuh pesawat berbadan lebar, kru bermalam, dan penumpang transit dari jaringan pengumpan. AirAsia X masuk membawa merek, sistem reservasi, SDM, dan disiplin biaya dari kelompok asal.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Sumber Tabel 9.1. Utilisasi 11,8 vs 11,1 jam per hari; turnaround 25 menit. Karyawan per pesawat: 3.799/78 vs 19.094/109. Catatan: rugi 2008 (RM 496,6 juta) bukan karena operasi, melainkan keputusan melepas kontrak berjangka bahan bakar (rugi RM 830,2 juta). Tanpa pos itu operasi tetap laba, tetapi neraca yang sarat utang pesawat membuat ruang untuk kesalahan berikutnya sempit.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Formula Conor McCarthy: strategi operasi ala Ryanair, strategi SDM ala Southwest, strategi merek ala easyJet. Satu kelas: 148 kursi di 737 vs 132 pada dua kelas. ESOS untuk semua karyawan. Iklan ditingkatkan saat SARS dan bom Bali. Sponsorship Williams F1, Manchester United, wasit Premier League. CRS Navitaire terhubung ke yield management.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Sumber Tabel 9.2 dan 9.4. Merek memberi kredibilitas langsung; situs web, call center, dan CRS dipakai bersama; Stansted jauh lebih murah dari Heathrow; kontrak perawatan lelang kompetitif tetap berlaku; A330 efisien tetapi A340 untuk London boros. Tidak terbawa: A320 tak mampu terbang jauh dan armada kedua menambah kompleksitas; penerbangan 12 jam dibatasi jam kerja kru dan slot; rute jauh butuh kursi premium dan makanan; rute jauh bergantung pada penumpang transit dan feeder. Foto: kru memindahkan bagasi dari A320 ke A330.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Tabel 9.4 tidak termasuk perawatan, depresiasi, katering, dan gaji kru; pos itu justru membesar di rute jauh. AirAsia X membawa 286 penumpang per penerbangan, pesaing 337 sampai 360. Bahan bakar per penerbangan US$79.299 vs US$159.522 untuk B747. Tarif pulang pergi KL London AirAsia X US$433,96 vs rata-rata tarif terendah pesaing US$683,68 (Tabel 9.3). Load factor jaringan lima periode (Tabel 9.5): AirAsia 77, 75, 78, 80, 75,5; Emirates 73,4 sampai 79,8; BA 67,6 sampai 71,2; MAS 69 sampai 67,8.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Isu 1: di rute regional AirAsia menciptakan pasar baru; di KL London ia merebut penumpang dari enam maskapai mapan; elastisitas permintaan belum terbukti. Isu 2: Emirates, BA, dan MAS memperoleh laba dari kelas premium dan mampu menurunkan tarif ekonomi tanpa mengorbankan laba total. Isu 3: utang RM 6,69 miliar, ekuitas RM 1,61 miliar, kas RM 153,8 juta, pesanan 10 A350. Isu 4: literatur ambidexterity (O'Reilly dan Tushman) menyebut dua jalan, pemisahan struktural atau paduan kontekstual. Isu 5: AirAsia 16 persen (opsi 30 persen), Aero Ventures 48 persen, Virgin 16 persen, Manara dan Orix 20 persen; tata kelola hibrida khas portofolio aliansi.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Sesuai panduan RPKPS, alternatif dideskripsikan tanpa argumen pro dan kontra. A: AirAsia hanya penyedia jasa berbayar; modal ke Indonesia, Thailand, Vietnam, Filipina; opsi 30 persen tidak dieksekusi. B: satu perusahaan, satu neraca, satu jaringan; tiket terusan dan transfer bagasi; ekspansi Abu Dhabi, India, Seoul, Sydney. C: eksekusi opsi 30 persen dan tempatkan kendali operasional; rute 4 sampai 8 jam dengan A330, Eropa menunggu A350; merger hanya setelah empat kuartal laba dan load factor sesuai target. Sudut pandang: March (1991); O'Reilly dan Tushman (2004); Williamson (1991).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Penilaian kualitatif dari data kasus. A: aman tetapi melepas sumber pertumbuhan dan tidak pernah membangun kompetensi rute jauh. B: menangkap seluruh peluang tetapi berhadapan langsung dengan pesaing yang bersubsidi silang dan menggabungkan armada lebar ke neraca yang sarat utang. C: menangkap rute 4 sampai 8 jam, neraca terpisah, unit eksplorasi terpisah dengan kendali dan pembelajaran mengalir ke induk, kendali sepadan dengan kepemilikan.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Merger penuh ditetapkan sebagai keputusan berbasis bukti kinerja (evidence based), bukan sekadar keyakinan manajemen.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Risiko dan mitigasi. 1: konflik kepentingan Aero Ventures, mitigasi komite independen untuk transaksi afiliasi. 2: balasan harga Emirates dan MAS, mitigasi bandara sekunder dan rute yang belum padat pesaing premium; target biaya per ASK AirAsia X di bawah 60 persen pesaing per rute. 3: kompleksitas operasi, mitigasi uji coba di tiga rute sebelum diperluas. 4: terulangnya kerugian 2008, mitigasi mandat tertulis yang disetujui dewan dan batas rugi derivatif. 5: ketergantungan sewa pesawat, mitigasi sale and leaseback dan penerbitan saham bila valuasi mendukung; kas minimal tiga bulan biaya operasi. 6: tekanan untuk mempercepat, mitigasi kriteria yang dipublikasikan ke pemegang saham. Angka target adalah usulan kelompok, bukan angka kasus.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Kaitkan kembali ke Bab 3. Five Forces menunjukkan industri tidak atraktif; laba AirAsia lahir dari posisi biaya relatif. Operasi, SDM, dan merek bekerja bersama. Di rute jauh lawan AirAsia X mampu mensubsidi harga ekonomi. Lingkungan yang berubah cepat dan neraca yang lemah membuat integrasi bertahap lebih aman daripada merger penuh.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Referensi: Grant (2010) Contemporary Strategy Analysis, Case 9, Tabel 9.1 sampai 9.5. Thompson dan Strickland (2019) Bab 3. Porter (1980). March (1991) Organization Science 2(1). O'Reilly dan Tushman (2004) Harvard Business Review 82(4). Williamson (1991) Administrative Science Quarterly 36(2). Handoko, Indarti, dan Almahendra (2014) Manajemen dalam Berbagai Perspektif. RPKPS MAN 5422 FEB UGM (2026), Lampiran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10-1.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13-1.jp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3E2CF"/>
        </a:solidFill>
      </p:bgPr>
    </p:bg>
    <p:spTree>
      <p:nvGrpSpPr>
        <p:cNvPr id="1" name=""/>
        <p:cNvGrpSpPr/>
        <p:nvPr/>
      </p:nvGrpSpPr>
      <p:grpSpPr>
        <a:xfrm>
          <a:off x="0" y="0"/>
          <a:ext cx="0" cy="0"/>
          <a:chOff x="0" y="0"/>
          <a:chExt cx="0" cy="0"/>
        </a:xfrm>
      </p:grpSpPr>
      <p:sp>
        <p:nvSpPr>
          <p:cNvPr id="2" name="Shape 0"/>
          <p:cNvSpPr/>
          <p:nvPr/>
        </p:nvSpPr>
        <p:spPr>
          <a:xfrm>
            <a:off x="6675120" y="457200"/>
            <a:ext cx="4846320" cy="4846320"/>
          </a:xfrm>
          <a:prstGeom prst="ellipse">
            <a:avLst/>
          </a:prstGeom>
          <a:solidFill>
            <a:srgbClr val="F4C430"/>
          </a:solidFill>
          <a:ln w="12700">
            <a:solidFill>
              <a:srgbClr val="F4C430"/>
            </a:solidFill>
            <a:prstDash val="solid"/>
          </a:ln>
        </p:spPr>
      </p:sp>
      <p:sp>
        <p:nvSpPr>
          <p:cNvPr id="3" name="Shape 1"/>
          <p:cNvSpPr/>
          <p:nvPr/>
        </p:nvSpPr>
        <p:spPr>
          <a:xfrm>
            <a:off x="9052560" y="3017520"/>
            <a:ext cx="3840480" cy="3840480"/>
          </a:xfrm>
          <a:prstGeom prst="ellipse">
            <a:avLst/>
          </a:prstGeom>
          <a:solidFill>
            <a:srgbClr val="2C7BB8"/>
          </a:solidFill>
          <a:ln w="12700">
            <a:solidFill>
              <a:srgbClr val="2C7BB8"/>
            </a:solidFill>
            <a:prstDash val="solid"/>
          </a:ln>
        </p:spPr>
      </p:sp>
      <p:sp>
        <p:nvSpPr>
          <p:cNvPr id="4" name="Shape 2"/>
          <p:cNvSpPr/>
          <p:nvPr/>
        </p:nvSpPr>
        <p:spPr>
          <a:xfrm>
            <a:off x="10972800" y="2999232"/>
            <a:ext cx="1965960" cy="3877056"/>
          </a:xfrm>
          <a:prstGeom prst="rect">
            <a:avLst/>
          </a:prstGeom>
          <a:solidFill>
            <a:srgbClr val="F3E2CF"/>
          </a:solidFill>
          <a:ln w="12700">
            <a:solidFill>
              <a:srgbClr val="F3E2CF"/>
            </a:solidFill>
            <a:prstDash val="solid"/>
          </a:ln>
        </p:spPr>
      </p:sp>
      <p:sp>
        <p:nvSpPr>
          <p:cNvPr id="5" name="Shape 3"/>
          <p:cNvSpPr/>
          <p:nvPr/>
        </p:nvSpPr>
        <p:spPr>
          <a:xfrm>
            <a:off x="5943600" y="4114800"/>
            <a:ext cx="2926080" cy="2926080"/>
          </a:xfrm>
          <a:prstGeom prst="ellipse">
            <a:avLst/>
          </a:prstGeom>
          <a:ln w="19050">
            <a:solidFill>
              <a:srgbClr val="1B1B1B"/>
            </a:solidFill>
            <a:prstDash val="sysDot"/>
          </a:ln>
        </p:spPr>
      </p:sp>
      <p:sp>
        <p:nvSpPr>
          <p:cNvPr id="6" name="Shape 4"/>
          <p:cNvSpPr/>
          <p:nvPr/>
        </p:nvSpPr>
        <p:spPr>
          <a:xfrm>
            <a:off x="11521440" y="0"/>
            <a:ext cx="667512" cy="6858000"/>
          </a:xfrm>
          <a:prstGeom prst="rect">
            <a:avLst/>
          </a:prstGeom>
          <a:solidFill>
            <a:srgbClr val="E63E2C"/>
          </a:solidFill>
          <a:ln w="12700">
            <a:solidFill>
              <a:srgbClr val="E63E2C"/>
            </a:solidFill>
            <a:prstDash val="solid"/>
          </a:ln>
        </p:spPr>
      </p:sp>
      <p:pic>
        <p:nvPicPr>
          <p:cNvPr id="7" name="Image 0" descr="/tmp/claude-0/-home-user-Dom-Manipulation/a70c4110-05d8-512e-ae11-d08dee025a7a/scratchpad/img/aa_a320.png">    </p:cNvPr>
          <p:cNvPicPr>
            <a:picLocks noChangeAspect="1"/>
          </p:cNvPicPr>
          <p:nvPr/>
        </p:nvPicPr>
        <p:blipFill>
          <a:blip r:embed="rId1"/>
          <a:stretch>
            <a:fillRect/>
          </a:stretch>
        </p:blipFill>
        <p:spPr>
          <a:xfrm>
            <a:off x="5669280" y="2103120"/>
            <a:ext cx="5943600" cy="2377440"/>
          </a:xfrm>
          <a:prstGeom prst="rect">
            <a:avLst/>
          </a:prstGeom>
        </p:spPr>
      </p:pic>
      <p:sp>
        <p:nvSpPr>
          <p:cNvPr id="8" name="Text 5"/>
          <p:cNvSpPr txBox="1"/>
          <p:nvPr/>
        </p:nvSpPr>
        <p:spPr>
          <a:xfrm>
            <a:off x="548640" y="640080"/>
            <a:ext cx="5943600" cy="1828800"/>
          </a:xfrm>
          <a:prstGeom prst="rect">
            <a:avLst/>
          </a:prstGeom>
          <a:noFill/>
          <a:ln/>
        </p:spPr>
        <p:txBody>
          <a:bodyPr wrap="square" lIns="0" tIns="0" rIns="0" bIns="0" rtlCol="0" anchor="ctr"/>
          <a:lstStyle/>
          <a:p>
            <a:pPr indent="0" marL="0">
              <a:buNone/>
            </a:pPr>
            <a:r>
              <a:rPr lang="en-US" sz="12400" dirty="0">
                <a:solidFill>
                  <a:srgbClr val="1B1B1B"/>
                </a:solidFill>
                <a:latin typeface="Bebas Neue" pitchFamily="34" charset="0"/>
                <a:ea typeface="Bebas Neue" pitchFamily="34" charset="-122"/>
                <a:cs typeface="Bebas Neue" pitchFamily="34" charset="-120"/>
              </a:rPr>
              <a:t>AIRASIA</a:t>
            </a:r>
            <a:endParaRPr lang="en-US" sz="12400" dirty="0"/>
          </a:p>
        </p:txBody>
      </p:sp>
      <p:sp>
        <p:nvSpPr>
          <p:cNvPr id="9" name="Text 6"/>
          <p:cNvSpPr txBox="1"/>
          <p:nvPr/>
        </p:nvSpPr>
        <p:spPr>
          <a:xfrm>
            <a:off x="548640" y="2377440"/>
            <a:ext cx="5943600" cy="731520"/>
          </a:xfrm>
          <a:prstGeom prst="rect">
            <a:avLst/>
          </a:prstGeom>
          <a:noFill/>
          <a:ln/>
        </p:spPr>
        <p:txBody>
          <a:bodyPr wrap="square" lIns="0" tIns="0" rIns="0" bIns="0" rtlCol="0" anchor="ctr"/>
          <a:lstStyle/>
          <a:p>
            <a:pPr indent="0" marL="0">
              <a:buNone/>
            </a:pPr>
            <a:r>
              <a:rPr lang="en-US" sz="4000" dirty="0">
                <a:solidFill>
                  <a:srgbClr val="E63E2C"/>
                </a:solidFill>
                <a:latin typeface="Bebas Neue" pitchFamily="34" charset="0"/>
                <a:ea typeface="Bebas Neue" pitchFamily="34" charset="-122"/>
                <a:cs typeface="Bebas Neue" pitchFamily="34" charset="-120"/>
              </a:rPr>
              <a:t>THE WORLD'S LOWEST COST AIRLINE</a:t>
            </a:r>
            <a:endParaRPr lang="en-US" sz="4000" dirty="0"/>
          </a:p>
        </p:txBody>
      </p:sp>
      <p:sp>
        <p:nvSpPr>
          <p:cNvPr id="10" name="Text 7"/>
          <p:cNvSpPr txBox="1"/>
          <p:nvPr/>
        </p:nvSpPr>
        <p:spPr>
          <a:xfrm>
            <a:off x="548640" y="3383280"/>
            <a:ext cx="5394960" cy="1371600"/>
          </a:xfrm>
          <a:prstGeom prst="rect">
            <a:avLst/>
          </a:prstGeom>
          <a:noFill/>
          <a:ln/>
        </p:spPr>
        <p:txBody>
          <a:bodyPr wrap="square" lIns="0" tIns="0" rIns="0" bIns="0" rtlCol="0" anchor="t"/>
          <a:lstStyle/>
          <a:p>
            <a:pPr indent="0" marL="0">
              <a:buNone/>
            </a:pPr>
            <a:r>
              <a:rPr lang="en-US" sz="2100" dirty="0">
                <a:solidFill>
                  <a:srgbClr val="1B1B1B"/>
                </a:solidFill>
                <a:latin typeface="Manrope" pitchFamily="34" charset="0"/>
                <a:ea typeface="Manrope" pitchFamily="34" charset="-122"/>
                <a:cs typeface="Manrope" pitchFamily="34" charset="-120"/>
              </a:rPr>
              <a:t>Sejauh mana </a:t>
            </a:r>
            <a:r>
              <a:rPr lang="en-US" sz="2100" b="1" dirty="0">
                <a:solidFill>
                  <a:srgbClr val="1B1B1B"/>
                </a:solidFill>
                <a:highlight>
                  <a:srgbClr val="FFE066"/>
                </a:highlight>
                <a:latin typeface="Manrope" pitchFamily="34" charset="0"/>
                <a:ea typeface="Manrope" pitchFamily="34" charset="-122"/>
                <a:cs typeface="Manrope" pitchFamily="34" charset="-120"/>
              </a:rPr>
              <a:t>keunggulan biaya</a:t>
            </a:r>
            <a:r>
              <a:rPr lang="en-US" sz="2100" dirty="0">
                <a:solidFill>
                  <a:srgbClr val="1B1B1B"/>
                </a:solidFill>
                <a:latin typeface="Manrope" pitchFamily="34" charset="0"/>
                <a:ea typeface="Manrope" pitchFamily="34" charset="-122"/>
                <a:cs typeface="Manrope" pitchFamily="34" charset="-120"/>
              </a:rPr>
              <a:t> yang dibangun di rute pendek dapat dibawa ke pasar penerbangan </a:t>
            </a:r>
            <a:r>
              <a:rPr lang="en-US" sz="2100" b="1" dirty="0">
                <a:solidFill>
                  <a:srgbClr val="1B1B1B"/>
                </a:solidFill>
                <a:highlight>
                  <a:srgbClr val="FFE066"/>
                </a:highlight>
                <a:latin typeface="Manrope" pitchFamily="34" charset="0"/>
                <a:ea typeface="Manrope" pitchFamily="34" charset="-122"/>
                <a:cs typeface="Manrope" pitchFamily="34" charset="-120"/>
              </a:rPr>
              <a:t>jarak jauh</a:t>
            </a:r>
            <a:r>
              <a:rPr lang="en-US" sz="2100" dirty="0">
                <a:solidFill>
                  <a:srgbClr val="1B1B1B"/>
                </a:solidFill>
                <a:latin typeface="Manrope" pitchFamily="34" charset="0"/>
                <a:ea typeface="Manrope" pitchFamily="34" charset="-122"/>
                <a:cs typeface="Manrope" pitchFamily="34" charset="-120"/>
              </a:rPr>
              <a:t>?</a:t>
            </a:r>
            <a:endParaRPr lang="en-US" sz="2100" dirty="0"/>
          </a:p>
        </p:txBody>
      </p:sp>
      <p:sp>
        <p:nvSpPr>
          <p:cNvPr id="11" name="Shape 8"/>
          <p:cNvSpPr/>
          <p:nvPr/>
        </p:nvSpPr>
        <p:spPr>
          <a:xfrm>
            <a:off x="548640" y="5029200"/>
            <a:ext cx="822960" cy="73152"/>
          </a:xfrm>
          <a:prstGeom prst="rect">
            <a:avLst/>
          </a:prstGeom>
          <a:solidFill>
            <a:srgbClr val="1B1B1B"/>
          </a:solidFill>
          <a:ln w="12700">
            <a:solidFill>
              <a:srgbClr val="1B1B1B"/>
            </a:solidFill>
            <a:prstDash val="solid"/>
          </a:ln>
        </p:spPr>
      </p:sp>
      <p:sp>
        <p:nvSpPr>
          <p:cNvPr id="12" name="Text 9"/>
          <p:cNvSpPr txBox="1"/>
          <p:nvPr/>
        </p:nvSpPr>
        <p:spPr>
          <a:xfrm>
            <a:off x="548640" y="5212080"/>
            <a:ext cx="7772400" cy="1005840"/>
          </a:xfrm>
          <a:prstGeom prst="rect">
            <a:avLst/>
          </a:prstGeom>
          <a:noFill/>
          <a:ln/>
        </p:spPr>
        <p:txBody>
          <a:bodyPr wrap="square" lIns="0" tIns="0" rIns="0" bIns="0" rtlCol="0" anchor="t"/>
          <a:lstStyle/>
          <a:p>
            <a:pPr indent="0" marL="0">
              <a:buNone/>
            </a:pPr>
            <a:r>
              <a:rPr lang="en-US" sz="1800" b="1" dirty="0">
                <a:solidFill>
                  <a:srgbClr val="1B1B1B"/>
                </a:solidFill>
                <a:latin typeface="Manrope" pitchFamily="34" charset="0"/>
                <a:ea typeface="Manrope" pitchFamily="34" charset="-122"/>
                <a:cs typeface="Manrope" pitchFamily="34" charset="-120"/>
              </a:rPr>
              <a:t>KELOMPOK 3</a:t>
            </a:r>
            <a:endParaRPr lang="en-US" sz="2100" dirty="0"/>
          </a:p>
          <a:p>
            <a:pPr indent="0" marL="0">
              <a:buNone/>
            </a:pPr>
            <a:r>
              <a:rPr lang="en-US" sz="1600" dirty="0">
                <a:solidFill>
                  <a:srgbClr val="4A4A4A"/>
                </a:solidFill>
                <a:latin typeface="Manrope" pitchFamily="34" charset="0"/>
                <a:ea typeface="Manrope" pitchFamily="34" charset="-122"/>
                <a:cs typeface="Manrope" pitchFamily="34" charset="-120"/>
              </a:rPr>
              <a:t>Tifani Puspita  |  Dara Astrini Rahayu K  |  Happy Dinithasari  |  Aslih Abnuri</a:t>
            </a:r>
            <a:endParaRPr lang="en-US" sz="2100" dirty="0"/>
          </a:p>
        </p:txBody>
      </p:sp>
      <p:sp>
        <p:nvSpPr>
          <p:cNvPr id="13" name="Text 10"/>
          <p:cNvSpPr txBox="1"/>
          <p:nvPr/>
        </p:nvSpPr>
        <p:spPr>
          <a:xfrm>
            <a:off x="11247120" y="6355080"/>
            <a:ext cx="548640" cy="320040"/>
          </a:xfrm>
          <a:prstGeom prst="rect">
            <a:avLst/>
          </a:prstGeom>
          <a:noFill/>
          <a:ln/>
        </p:spPr>
        <p:txBody>
          <a:bodyPr wrap="square" lIns="0" tIns="0" rIns="0" bIns="0" rtlCol="0" anchor="ctr"/>
          <a:lstStyle/>
          <a:p>
            <a:pPr algn="r" indent="0" marL="0">
              <a:buNone/>
            </a:pPr>
            <a:r>
              <a:rPr lang="en-US" sz="1200" b="1" dirty="0">
                <a:solidFill>
                  <a:srgbClr val="1B1B1B"/>
                </a:solidFill>
                <a:latin typeface="Manrope" pitchFamily="34" charset="0"/>
                <a:ea typeface="Manrope" pitchFamily="34" charset="-122"/>
                <a:cs typeface="Manrope" pitchFamily="34" charset="-120"/>
              </a:rPr>
              <a:t>1</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E2CF"/>
        </a:solidFill>
      </p:bgPr>
    </p:bg>
    <p:spTree>
      <p:nvGrpSpPr>
        <p:cNvPr id="1" name=""/>
        <p:cNvGrpSpPr/>
        <p:nvPr/>
      </p:nvGrpSpPr>
      <p:grpSpPr>
        <a:xfrm>
          <a:off x="0" y="0"/>
          <a:ext cx="0" cy="0"/>
          <a:chOff x="0" y="0"/>
          <a:chExt cx="0" cy="0"/>
        </a:xfrm>
      </p:grpSpPr>
      <p:sp>
        <p:nvSpPr>
          <p:cNvPr id="2" name="Text 0"/>
          <p:cNvSpPr txBox="1"/>
          <p:nvPr/>
        </p:nvSpPr>
        <p:spPr>
          <a:xfrm>
            <a:off x="548640" y="457200"/>
            <a:ext cx="10515600" cy="914400"/>
          </a:xfrm>
          <a:prstGeom prst="rect">
            <a:avLst/>
          </a:prstGeom>
          <a:noFill/>
          <a:ln/>
        </p:spPr>
        <p:txBody>
          <a:bodyPr wrap="square" lIns="0" tIns="0" rIns="0" bIns="0" rtlCol="0" anchor="ctr"/>
          <a:lstStyle/>
          <a:p>
            <a:pPr indent="0" marL="0">
              <a:buNone/>
            </a:pPr>
            <a:r>
              <a:rPr lang="en-US" sz="5800" dirty="0">
                <a:solidFill>
                  <a:srgbClr val="1B1B1B"/>
                </a:solidFill>
                <a:latin typeface="Bebas Neue" pitchFamily="34" charset="0"/>
                <a:ea typeface="Bebas Neue" pitchFamily="34" charset="-122"/>
                <a:cs typeface="Bebas Neue" pitchFamily="34" charset="-120"/>
              </a:rPr>
              <a:t>HOW WE READ THE CASE</a:t>
            </a:r>
            <a:endParaRPr lang="en-US" sz="5800" dirty="0"/>
          </a:p>
        </p:txBody>
      </p:sp>
      <p:sp>
        <p:nvSpPr>
          <p:cNvPr id="3" name="Text 1"/>
          <p:cNvSpPr txBox="1"/>
          <p:nvPr/>
        </p:nvSpPr>
        <p:spPr>
          <a:xfrm>
            <a:off x="548640" y="1554480"/>
            <a:ext cx="6766560" cy="1828800"/>
          </a:xfrm>
          <a:prstGeom prst="rect">
            <a:avLst/>
          </a:prstGeom>
          <a:noFill/>
          <a:ln/>
        </p:spPr>
        <p:txBody>
          <a:bodyPr wrap="square" lIns="0" tIns="0" rIns="0" bIns="0" rtlCol="0" anchor="t"/>
          <a:lstStyle/>
          <a:p>
            <a:pPr indent="0" marL="0">
              <a:buNone/>
            </a:pPr>
            <a:r>
              <a:rPr lang="en-US" sz="2100" dirty="0">
                <a:solidFill>
                  <a:srgbClr val="1B1B1B"/>
                </a:solidFill>
                <a:latin typeface="Manrope" pitchFamily="34" charset="0"/>
                <a:ea typeface="Manrope" pitchFamily="34" charset="-122"/>
                <a:cs typeface="Manrope" pitchFamily="34" charset="-120"/>
              </a:rPr>
              <a:t>Lowest cost sering dibaca sebagai kelemahan. Dibaca dengan tepat, murah adalah hasil </a:t>
            </a:r>
            <a:r>
              <a:rPr lang="en-US" sz="2100" b="1" dirty="0">
                <a:solidFill>
                  <a:srgbClr val="1B1B1B"/>
                </a:solidFill>
                <a:highlight>
                  <a:srgbClr val="FFE066"/>
                </a:highlight>
                <a:latin typeface="Manrope" pitchFamily="34" charset="0"/>
                <a:ea typeface="Manrope" pitchFamily="34" charset="-122"/>
                <a:cs typeface="Manrope" pitchFamily="34" charset="-120"/>
              </a:rPr>
              <a:t>disiplin biaya (cost discipline)</a:t>
            </a:r>
            <a:r>
              <a:rPr lang="en-US" sz="2100" dirty="0">
                <a:solidFill>
                  <a:srgbClr val="1B1B1B"/>
                </a:solidFill>
                <a:latin typeface="Manrope" pitchFamily="34" charset="0"/>
                <a:ea typeface="Manrope" pitchFamily="34" charset="-122"/>
                <a:cs typeface="Manrope" pitchFamily="34" charset="-120"/>
              </a:rPr>
              <a:t> yang sistematis. Pertanyaannya: apakah sistem itu </a:t>
            </a:r>
            <a:r>
              <a:rPr lang="en-US" sz="2100" b="1" dirty="0">
                <a:solidFill>
                  <a:srgbClr val="1B1B1B"/>
                </a:solidFill>
                <a:highlight>
                  <a:srgbClr val="FFE066"/>
                </a:highlight>
                <a:latin typeface="Manrope" pitchFamily="34" charset="0"/>
                <a:ea typeface="Manrope" pitchFamily="34" charset="-122"/>
                <a:cs typeface="Manrope" pitchFamily="34" charset="-120"/>
              </a:rPr>
              <a:t>dapat dipindahkan (transferable)</a:t>
            </a:r>
            <a:r>
              <a:rPr lang="en-US" sz="2100" dirty="0">
                <a:solidFill>
                  <a:srgbClr val="1B1B1B"/>
                </a:solidFill>
                <a:latin typeface="Manrope" pitchFamily="34" charset="0"/>
                <a:ea typeface="Manrope" pitchFamily="34" charset="-122"/>
                <a:cs typeface="Manrope" pitchFamily="34" charset="-120"/>
              </a:rPr>
              <a:t> ke rute jauh?</a:t>
            </a:r>
            <a:endParaRPr lang="en-US" sz="2100" dirty="0"/>
          </a:p>
        </p:txBody>
      </p:sp>
      <p:sp>
        <p:nvSpPr>
          <p:cNvPr id="4" name="Shape 2"/>
          <p:cNvSpPr/>
          <p:nvPr/>
        </p:nvSpPr>
        <p:spPr>
          <a:xfrm>
            <a:off x="7936992" y="1673352"/>
            <a:ext cx="3749040" cy="2240280"/>
          </a:xfrm>
          <a:prstGeom prst="rect">
            <a:avLst/>
          </a:prstGeom>
          <a:solidFill>
            <a:srgbClr val="F4C430"/>
          </a:solidFill>
          <a:ln w="12700">
            <a:solidFill>
              <a:srgbClr val="F4C430"/>
            </a:solidFill>
            <a:prstDash val="solid"/>
          </a:ln>
        </p:spPr>
      </p:sp>
      <p:pic>
        <p:nvPicPr>
          <p:cNvPr id="5" name="Image 0" descr="/tmp/claude-0/-home-user-Dom-Manipulation/a70c4110-05d8-512e-ae11-d08dee025a7a/scratchpad/img/aa_board.jpg">    </p:cNvPr>
          <p:cNvPicPr>
            <a:picLocks noChangeAspect="1"/>
          </p:cNvPicPr>
          <p:nvPr/>
        </p:nvPicPr>
        <p:blipFill>
          <a:blip r:embed="rId1"/>
          <a:srcRect l="0" r="0" t="0" b="0"/>
          <a:stretch/>
        </p:blipFill>
        <p:spPr>
          <a:xfrm>
            <a:off x="7772400" y="1508760"/>
            <a:ext cx="3749040" cy="2240280"/>
          </a:xfrm>
          <a:prstGeom prst="rect">
            <a:avLst/>
          </a:prstGeom>
        </p:spPr>
      </p:pic>
      <p:sp>
        <p:nvSpPr>
          <p:cNvPr id="6" name="Shape 3"/>
          <p:cNvSpPr/>
          <p:nvPr/>
        </p:nvSpPr>
        <p:spPr>
          <a:xfrm>
            <a:off x="548640" y="3794760"/>
            <a:ext cx="960120" cy="960120"/>
          </a:xfrm>
          <a:prstGeom prst="ellipse">
            <a:avLst/>
          </a:prstGeom>
          <a:solidFill>
            <a:srgbClr val="E63E2C"/>
          </a:solidFill>
          <a:ln w="12700">
            <a:solidFill>
              <a:srgbClr val="E63E2C"/>
            </a:solidFill>
            <a:prstDash val="solid"/>
          </a:ln>
        </p:spPr>
      </p:sp>
      <p:sp>
        <p:nvSpPr>
          <p:cNvPr id="7" name="Text 4"/>
          <p:cNvSpPr txBox="1"/>
          <p:nvPr/>
        </p:nvSpPr>
        <p:spPr>
          <a:xfrm>
            <a:off x="548640" y="3794760"/>
            <a:ext cx="960120" cy="960120"/>
          </a:xfrm>
          <a:prstGeom prst="rect">
            <a:avLst/>
          </a:prstGeom>
          <a:noFill/>
          <a:ln/>
        </p:spPr>
        <p:txBody>
          <a:bodyPr wrap="square" lIns="0" tIns="0" rIns="0" bIns="0" rtlCol="0" anchor="ctr"/>
          <a:lstStyle/>
          <a:p>
            <a:pPr algn="ctr" indent="0" marL="0">
              <a:buNone/>
            </a:pPr>
            <a:r>
              <a:rPr lang="en-US" sz="4620" dirty="0">
                <a:solidFill>
                  <a:srgbClr val="FFFFFF"/>
                </a:solidFill>
                <a:latin typeface="Bebas Neue" pitchFamily="34" charset="0"/>
                <a:ea typeface="Bebas Neue" pitchFamily="34" charset="-122"/>
                <a:cs typeface="Bebas Neue" pitchFamily="34" charset="-120"/>
              </a:rPr>
              <a:t>1</a:t>
            </a:r>
            <a:endParaRPr lang="en-US" sz="4620" dirty="0"/>
          </a:p>
        </p:txBody>
      </p:sp>
      <p:sp>
        <p:nvSpPr>
          <p:cNvPr id="8" name="Text 5"/>
          <p:cNvSpPr txBox="1"/>
          <p:nvPr/>
        </p:nvSpPr>
        <p:spPr>
          <a:xfrm>
            <a:off x="548640" y="4846320"/>
            <a:ext cx="2651760" cy="548640"/>
          </a:xfrm>
          <a:prstGeom prst="rect">
            <a:avLst/>
          </a:prstGeom>
          <a:noFill/>
          <a:ln/>
        </p:spPr>
        <p:txBody>
          <a:bodyPr wrap="square" lIns="0" tIns="0" rIns="0" bIns="0" rtlCol="0" anchor="ctr"/>
          <a:lstStyle/>
          <a:p>
            <a:pPr indent="0" marL="0">
              <a:buNone/>
            </a:pPr>
            <a:r>
              <a:rPr lang="en-US" sz="2800" dirty="0">
                <a:solidFill>
                  <a:srgbClr val="1B1B1B"/>
                </a:solidFill>
                <a:latin typeface="Bebas Neue" pitchFamily="34" charset="0"/>
                <a:ea typeface="Bebas Neue" pitchFamily="34" charset="-122"/>
                <a:cs typeface="Bebas Neue" pitchFamily="34" charset="-120"/>
              </a:rPr>
              <a:t>MASALAH</a:t>
            </a:r>
            <a:endParaRPr lang="en-US" sz="2800" dirty="0"/>
          </a:p>
        </p:txBody>
      </p:sp>
      <p:sp>
        <p:nvSpPr>
          <p:cNvPr id="9" name="Text 6"/>
          <p:cNvSpPr txBox="1"/>
          <p:nvPr/>
        </p:nvSpPr>
        <p:spPr>
          <a:xfrm>
            <a:off x="548640" y="5349240"/>
            <a:ext cx="2651760" cy="822960"/>
          </a:xfrm>
          <a:prstGeom prst="rect">
            <a:avLst/>
          </a:prstGeom>
          <a:noFill/>
          <a:ln/>
        </p:spPr>
        <p:txBody>
          <a:bodyPr wrap="square" lIns="0" tIns="0" rIns="0" bIns="0" rtlCol="0" anchor="t"/>
          <a:lstStyle/>
          <a:p>
            <a:pPr indent="0" marL="0">
              <a:buNone/>
            </a:pPr>
            <a:r>
              <a:rPr lang="en-US" sz="1800" dirty="0">
                <a:solidFill>
                  <a:srgbClr val="4A4A4A"/>
                </a:solidFill>
                <a:latin typeface="Manrope" pitchFamily="34" charset="0"/>
                <a:ea typeface="Manrope" pitchFamily="34" charset="-122"/>
                <a:cs typeface="Manrope" pitchFamily="34" charset="-120"/>
              </a:rPr>
              <a:t>tujuan dan hambatan</a:t>
            </a:r>
            <a:endParaRPr lang="en-US" sz="1800" dirty="0"/>
          </a:p>
        </p:txBody>
      </p:sp>
      <p:sp>
        <p:nvSpPr>
          <p:cNvPr id="10" name="Shape 7"/>
          <p:cNvSpPr/>
          <p:nvPr/>
        </p:nvSpPr>
        <p:spPr>
          <a:xfrm>
            <a:off x="3383280" y="3794760"/>
            <a:ext cx="960120" cy="960120"/>
          </a:xfrm>
          <a:prstGeom prst="ellipse">
            <a:avLst/>
          </a:prstGeom>
          <a:solidFill>
            <a:srgbClr val="2C7BB8"/>
          </a:solidFill>
          <a:ln w="12700">
            <a:solidFill>
              <a:srgbClr val="2C7BB8"/>
            </a:solidFill>
            <a:prstDash val="solid"/>
          </a:ln>
        </p:spPr>
      </p:sp>
      <p:sp>
        <p:nvSpPr>
          <p:cNvPr id="11" name="Text 8"/>
          <p:cNvSpPr txBox="1"/>
          <p:nvPr/>
        </p:nvSpPr>
        <p:spPr>
          <a:xfrm>
            <a:off x="3383280" y="3794760"/>
            <a:ext cx="960120" cy="960120"/>
          </a:xfrm>
          <a:prstGeom prst="rect">
            <a:avLst/>
          </a:prstGeom>
          <a:noFill/>
          <a:ln/>
        </p:spPr>
        <p:txBody>
          <a:bodyPr wrap="square" lIns="0" tIns="0" rIns="0" bIns="0" rtlCol="0" anchor="ctr"/>
          <a:lstStyle/>
          <a:p>
            <a:pPr algn="ctr" indent="0" marL="0">
              <a:buNone/>
            </a:pPr>
            <a:r>
              <a:rPr lang="en-US" sz="4620" dirty="0">
                <a:solidFill>
                  <a:srgbClr val="FFFFFF"/>
                </a:solidFill>
                <a:latin typeface="Bebas Neue" pitchFamily="34" charset="0"/>
                <a:ea typeface="Bebas Neue" pitchFamily="34" charset="-122"/>
                <a:cs typeface="Bebas Neue" pitchFamily="34" charset="-120"/>
              </a:rPr>
              <a:t>2</a:t>
            </a:r>
            <a:endParaRPr lang="en-US" sz="4620" dirty="0"/>
          </a:p>
        </p:txBody>
      </p:sp>
      <p:sp>
        <p:nvSpPr>
          <p:cNvPr id="12" name="Text 9"/>
          <p:cNvSpPr txBox="1"/>
          <p:nvPr/>
        </p:nvSpPr>
        <p:spPr>
          <a:xfrm>
            <a:off x="3383280" y="4846320"/>
            <a:ext cx="2651760" cy="548640"/>
          </a:xfrm>
          <a:prstGeom prst="rect">
            <a:avLst/>
          </a:prstGeom>
          <a:noFill/>
          <a:ln/>
        </p:spPr>
        <p:txBody>
          <a:bodyPr wrap="square" lIns="0" tIns="0" rIns="0" bIns="0" rtlCol="0" anchor="ctr"/>
          <a:lstStyle/>
          <a:p>
            <a:pPr indent="0" marL="0">
              <a:buNone/>
            </a:pPr>
            <a:r>
              <a:rPr lang="en-US" sz="2800" dirty="0">
                <a:solidFill>
                  <a:srgbClr val="1B1B1B"/>
                </a:solidFill>
                <a:latin typeface="Bebas Neue" pitchFamily="34" charset="0"/>
                <a:ea typeface="Bebas Neue" pitchFamily="34" charset="-122"/>
                <a:cs typeface="Bebas Neue" pitchFamily="34" charset="-120"/>
              </a:rPr>
              <a:t>LINGKUNGAN</a:t>
            </a:r>
            <a:endParaRPr lang="en-US" sz="2800" dirty="0"/>
          </a:p>
        </p:txBody>
      </p:sp>
      <p:sp>
        <p:nvSpPr>
          <p:cNvPr id="13" name="Text 10"/>
          <p:cNvSpPr txBox="1"/>
          <p:nvPr/>
        </p:nvSpPr>
        <p:spPr>
          <a:xfrm>
            <a:off x="3383280" y="5349240"/>
            <a:ext cx="2651760" cy="822960"/>
          </a:xfrm>
          <a:prstGeom prst="rect">
            <a:avLst/>
          </a:prstGeom>
          <a:noFill/>
          <a:ln/>
        </p:spPr>
        <p:txBody>
          <a:bodyPr wrap="square" lIns="0" tIns="0" rIns="0" bIns="0" rtlCol="0" anchor="t"/>
          <a:lstStyle/>
          <a:p>
            <a:pPr indent="0" marL="0">
              <a:buNone/>
            </a:pPr>
            <a:r>
              <a:rPr lang="en-US" sz="1800" dirty="0">
                <a:solidFill>
                  <a:srgbClr val="4A4A4A"/>
                </a:solidFill>
                <a:latin typeface="Manrope" pitchFamily="34" charset="0"/>
                <a:ea typeface="Manrope" pitchFamily="34" charset="-122"/>
                <a:cs typeface="Manrope" pitchFamily="34" charset="-120"/>
              </a:rPr>
              <a:t>PESTEL, Five Forces, peta pesaing</a:t>
            </a:r>
            <a:endParaRPr lang="en-US" sz="1800" dirty="0"/>
          </a:p>
        </p:txBody>
      </p:sp>
      <p:sp>
        <p:nvSpPr>
          <p:cNvPr id="14" name="Shape 11"/>
          <p:cNvSpPr/>
          <p:nvPr/>
        </p:nvSpPr>
        <p:spPr>
          <a:xfrm>
            <a:off x="6217920" y="3794760"/>
            <a:ext cx="960120" cy="960120"/>
          </a:xfrm>
          <a:prstGeom prst="ellipse">
            <a:avLst/>
          </a:prstGeom>
          <a:solidFill>
            <a:srgbClr val="F4C430"/>
          </a:solidFill>
          <a:ln w="12700">
            <a:solidFill>
              <a:srgbClr val="F4C430"/>
            </a:solidFill>
            <a:prstDash val="solid"/>
          </a:ln>
        </p:spPr>
      </p:sp>
      <p:sp>
        <p:nvSpPr>
          <p:cNvPr id="15" name="Text 12"/>
          <p:cNvSpPr txBox="1"/>
          <p:nvPr/>
        </p:nvSpPr>
        <p:spPr>
          <a:xfrm>
            <a:off x="6217920" y="3794760"/>
            <a:ext cx="960120" cy="960120"/>
          </a:xfrm>
          <a:prstGeom prst="rect">
            <a:avLst/>
          </a:prstGeom>
          <a:noFill/>
          <a:ln/>
        </p:spPr>
        <p:txBody>
          <a:bodyPr wrap="square" lIns="0" tIns="0" rIns="0" bIns="0" rtlCol="0" anchor="ctr"/>
          <a:lstStyle/>
          <a:p>
            <a:pPr algn="ctr" indent="0" marL="0">
              <a:buNone/>
            </a:pPr>
            <a:r>
              <a:rPr lang="en-US" sz="4620" dirty="0">
                <a:solidFill>
                  <a:srgbClr val="1B1B1B"/>
                </a:solidFill>
                <a:latin typeface="Bebas Neue" pitchFamily="34" charset="0"/>
                <a:ea typeface="Bebas Neue" pitchFamily="34" charset="-122"/>
                <a:cs typeface="Bebas Neue" pitchFamily="34" charset="-120"/>
              </a:rPr>
              <a:t>3</a:t>
            </a:r>
            <a:endParaRPr lang="en-US" sz="4620" dirty="0"/>
          </a:p>
        </p:txBody>
      </p:sp>
      <p:sp>
        <p:nvSpPr>
          <p:cNvPr id="16" name="Text 13"/>
          <p:cNvSpPr txBox="1"/>
          <p:nvPr/>
        </p:nvSpPr>
        <p:spPr>
          <a:xfrm>
            <a:off x="6217920" y="4846320"/>
            <a:ext cx="2651760" cy="548640"/>
          </a:xfrm>
          <a:prstGeom prst="rect">
            <a:avLst/>
          </a:prstGeom>
          <a:noFill/>
          <a:ln/>
        </p:spPr>
        <p:txBody>
          <a:bodyPr wrap="square" lIns="0" tIns="0" rIns="0" bIns="0" rtlCol="0" anchor="ctr"/>
          <a:lstStyle/>
          <a:p>
            <a:pPr indent="0" marL="0">
              <a:buNone/>
            </a:pPr>
            <a:r>
              <a:rPr lang="en-US" sz="2800" dirty="0">
                <a:solidFill>
                  <a:srgbClr val="1B1B1B"/>
                </a:solidFill>
                <a:latin typeface="Bebas Neue" pitchFamily="34" charset="0"/>
                <a:ea typeface="Bebas Neue" pitchFamily="34" charset="-122"/>
                <a:cs typeface="Bebas Neue" pitchFamily="34" charset="-120"/>
              </a:rPr>
              <a:t>POSISI BIAYA</a:t>
            </a:r>
            <a:endParaRPr lang="en-US" sz="2800" dirty="0"/>
          </a:p>
        </p:txBody>
      </p:sp>
      <p:sp>
        <p:nvSpPr>
          <p:cNvPr id="17" name="Text 14"/>
          <p:cNvSpPr txBox="1"/>
          <p:nvPr/>
        </p:nvSpPr>
        <p:spPr>
          <a:xfrm>
            <a:off x="6217920" y="5349240"/>
            <a:ext cx="2651760" cy="822960"/>
          </a:xfrm>
          <a:prstGeom prst="rect">
            <a:avLst/>
          </a:prstGeom>
          <a:noFill/>
          <a:ln/>
        </p:spPr>
        <p:txBody>
          <a:bodyPr wrap="square" lIns="0" tIns="0" rIns="0" bIns="0" rtlCol="0" anchor="t"/>
          <a:lstStyle/>
          <a:p>
            <a:pPr indent="0" marL="0">
              <a:buNone/>
            </a:pPr>
            <a:r>
              <a:rPr lang="en-US" sz="1800" dirty="0">
                <a:solidFill>
                  <a:srgbClr val="4A4A4A"/>
                </a:solidFill>
                <a:latin typeface="Manrope" pitchFamily="34" charset="0"/>
                <a:ea typeface="Manrope" pitchFamily="34" charset="-122"/>
                <a:cs typeface="Manrope" pitchFamily="34" charset="-120"/>
              </a:rPr>
              <a:t>benchmarking, transferabilitas</a:t>
            </a:r>
            <a:endParaRPr lang="en-US" sz="1800" dirty="0"/>
          </a:p>
        </p:txBody>
      </p:sp>
      <p:sp>
        <p:nvSpPr>
          <p:cNvPr id="18" name="Shape 15"/>
          <p:cNvSpPr/>
          <p:nvPr/>
        </p:nvSpPr>
        <p:spPr>
          <a:xfrm>
            <a:off x="9052560" y="3794760"/>
            <a:ext cx="960120" cy="960120"/>
          </a:xfrm>
          <a:prstGeom prst="ellipse">
            <a:avLst/>
          </a:prstGeom>
          <a:solidFill>
            <a:srgbClr val="1B1B1B"/>
          </a:solidFill>
          <a:ln w="12700">
            <a:solidFill>
              <a:srgbClr val="1B1B1B"/>
            </a:solidFill>
            <a:prstDash val="solid"/>
          </a:ln>
        </p:spPr>
      </p:sp>
      <p:sp>
        <p:nvSpPr>
          <p:cNvPr id="19" name="Text 16"/>
          <p:cNvSpPr txBox="1"/>
          <p:nvPr/>
        </p:nvSpPr>
        <p:spPr>
          <a:xfrm>
            <a:off x="9052560" y="3794760"/>
            <a:ext cx="960120" cy="960120"/>
          </a:xfrm>
          <a:prstGeom prst="rect">
            <a:avLst/>
          </a:prstGeom>
          <a:noFill/>
          <a:ln/>
        </p:spPr>
        <p:txBody>
          <a:bodyPr wrap="square" lIns="0" tIns="0" rIns="0" bIns="0" rtlCol="0" anchor="ctr"/>
          <a:lstStyle/>
          <a:p>
            <a:pPr algn="ctr" indent="0" marL="0">
              <a:buNone/>
            </a:pPr>
            <a:r>
              <a:rPr lang="en-US" sz="4620" dirty="0">
                <a:solidFill>
                  <a:srgbClr val="FFFFFF"/>
                </a:solidFill>
                <a:latin typeface="Bebas Neue" pitchFamily="34" charset="0"/>
                <a:ea typeface="Bebas Neue" pitchFamily="34" charset="-122"/>
                <a:cs typeface="Bebas Neue" pitchFamily="34" charset="-120"/>
              </a:rPr>
              <a:t>4</a:t>
            </a:r>
            <a:endParaRPr lang="en-US" sz="4620" dirty="0"/>
          </a:p>
        </p:txBody>
      </p:sp>
      <p:sp>
        <p:nvSpPr>
          <p:cNvPr id="20" name="Text 17"/>
          <p:cNvSpPr txBox="1"/>
          <p:nvPr/>
        </p:nvSpPr>
        <p:spPr>
          <a:xfrm>
            <a:off x="9052560" y="4846320"/>
            <a:ext cx="2651760" cy="548640"/>
          </a:xfrm>
          <a:prstGeom prst="rect">
            <a:avLst/>
          </a:prstGeom>
          <a:noFill/>
          <a:ln/>
        </p:spPr>
        <p:txBody>
          <a:bodyPr wrap="square" lIns="0" tIns="0" rIns="0" bIns="0" rtlCol="0" anchor="ctr"/>
          <a:lstStyle/>
          <a:p>
            <a:pPr indent="0" marL="0">
              <a:buNone/>
            </a:pPr>
            <a:r>
              <a:rPr lang="en-US" sz="2800" dirty="0">
                <a:solidFill>
                  <a:srgbClr val="1B1B1B"/>
                </a:solidFill>
                <a:latin typeface="Bebas Neue" pitchFamily="34" charset="0"/>
                <a:ea typeface="Bebas Neue" pitchFamily="34" charset="-122"/>
                <a:cs typeface="Bebas Neue" pitchFamily="34" charset="-120"/>
              </a:rPr>
              <a:t>PILIHAN</a:t>
            </a:r>
            <a:endParaRPr lang="en-US" sz="2800" dirty="0"/>
          </a:p>
        </p:txBody>
      </p:sp>
      <p:sp>
        <p:nvSpPr>
          <p:cNvPr id="21" name="Text 18"/>
          <p:cNvSpPr txBox="1"/>
          <p:nvPr/>
        </p:nvSpPr>
        <p:spPr>
          <a:xfrm>
            <a:off x="9052560" y="5349240"/>
            <a:ext cx="2651760" cy="822960"/>
          </a:xfrm>
          <a:prstGeom prst="rect">
            <a:avLst/>
          </a:prstGeom>
          <a:noFill/>
          <a:ln/>
        </p:spPr>
        <p:txBody>
          <a:bodyPr wrap="square" lIns="0" tIns="0" rIns="0" bIns="0" rtlCol="0" anchor="t"/>
          <a:lstStyle/>
          <a:p>
            <a:pPr indent="0" marL="0">
              <a:buNone/>
            </a:pPr>
            <a:r>
              <a:rPr lang="en-US" sz="1800" dirty="0">
                <a:solidFill>
                  <a:srgbClr val="4A4A4A"/>
                </a:solidFill>
                <a:latin typeface="Manrope" pitchFamily="34" charset="0"/>
                <a:ea typeface="Manrope" pitchFamily="34" charset="-122"/>
                <a:cs typeface="Manrope" pitchFamily="34" charset="-120"/>
              </a:rPr>
              <a:t>isu, alternatif, rekomendasi</a:t>
            </a:r>
            <a:endParaRPr lang="en-US" sz="1800" dirty="0"/>
          </a:p>
        </p:txBody>
      </p:sp>
      <p:sp>
        <p:nvSpPr>
          <p:cNvPr id="22" name="Text 19"/>
          <p:cNvSpPr txBox="1"/>
          <p:nvPr/>
        </p:nvSpPr>
        <p:spPr>
          <a:xfrm>
            <a:off x="548640" y="6217920"/>
            <a:ext cx="10424160" cy="411480"/>
          </a:xfrm>
          <a:prstGeom prst="rect">
            <a:avLst/>
          </a:prstGeom>
          <a:noFill/>
          <a:ln/>
        </p:spPr>
        <p:txBody>
          <a:bodyPr wrap="square" lIns="0" tIns="0" rIns="0" bIns="0" rtlCol="0" anchor="ctr"/>
          <a:lstStyle/>
          <a:p>
            <a:pPr indent="0" marL="0">
              <a:buNone/>
            </a:pPr>
            <a:r>
              <a:rPr lang="en-US" sz="1100" dirty="0">
                <a:solidFill>
                  <a:srgbClr val="E63E2C"/>
                </a:solidFill>
                <a:latin typeface="Manrope" pitchFamily="34" charset="0"/>
                <a:ea typeface="Manrope" pitchFamily="34" charset="-122"/>
                <a:cs typeface="Manrope" pitchFamily="34" charset="-120"/>
              </a:rPr>
              <a:t>■  </a:t>
            </a:r>
            <a:r>
              <a:rPr lang="en-US" sz="1600" b="1" dirty="0">
                <a:solidFill>
                  <a:srgbClr val="1B1B1B"/>
                </a:solidFill>
                <a:latin typeface="Manrope" pitchFamily="34" charset="0"/>
                <a:ea typeface="Manrope" pitchFamily="34" charset="-122"/>
                <a:cs typeface="Manrope" pitchFamily="34" charset="-120"/>
              </a:rPr>
              <a:t>Selanjutnya  </a:t>
            </a:r>
            <a:r>
              <a:rPr lang="en-US" sz="1600" dirty="0">
                <a:solidFill>
                  <a:srgbClr val="4A4A4A"/>
                </a:solidFill>
                <a:latin typeface="Manrope" pitchFamily="34" charset="0"/>
                <a:ea typeface="Manrope" pitchFamily="34" charset="-122"/>
                <a:cs typeface="Manrope" pitchFamily="34" charset="-120"/>
              </a:rPr>
              <a:t>Tahap 1 dimulai dengan mengenal AirAsia lebih dulu.</a:t>
            </a:r>
            <a:endParaRPr lang="en-US" sz="1600" dirty="0"/>
          </a:p>
        </p:txBody>
      </p:sp>
      <p:sp>
        <p:nvSpPr>
          <p:cNvPr id="23" name="Text 20"/>
          <p:cNvSpPr txBox="1"/>
          <p:nvPr/>
        </p:nvSpPr>
        <p:spPr>
          <a:xfrm>
            <a:off x="11247120" y="6355080"/>
            <a:ext cx="548640" cy="320040"/>
          </a:xfrm>
          <a:prstGeom prst="rect">
            <a:avLst/>
          </a:prstGeom>
          <a:noFill/>
          <a:ln/>
        </p:spPr>
        <p:txBody>
          <a:bodyPr wrap="square" lIns="0" tIns="0" rIns="0" bIns="0" rtlCol="0" anchor="ctr"/>
          <a:lstStyle/>
          <a:p>
            <a:pPr algn="r" indent="0" marL="0">
              <a:buNone/>
            </a:pPr>
            <a:r>
              <a:rPr lang="en-US" sz="1200" b="1" dirty="0">
                <a:solidFill>
                  <a:srgbClr val="1B1B1B"/>
                </a:solidFill>
                <a:latin typeface="Manrope" pitchFamily="34" charset="0"/>
                <a:ea typeface="Manrope" pitchFamily="34" charset="-122"/>
                <a:cs typeface="Manrope"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E2CF"/>
        </a:solidFill>
      </p:bgPr>
    </p:bg>
    <p:spTree>
      <p:nvGrpSpPr>
        <p:cNvPr id="1" name=""/>
        <p:cNvGrpSpPr/>
        <p:nvPr/>
      </p:nvGrpSpPr>
      <p:grpSpPr>
        <a:xfrm>
          <a:off x="0" y="0"/>
          <a:ext cx="0" cy="0"/>
          <a:chOff x="0" y="0"/>
          <a:chExt cx="0" cy="0"/>
        </a:xfrm>
      </p:grpSpPr>
      <p:sp>
        <p:nvSpPr>
          <p:cNvPr id="2" name="Shape 0"/>
          <p:cNvSpPr/>
          <p:nvPr/>
        </p:nvSpPr>
        <p:spPr>
          <a:xfrm>
            <a:off x="548640" y="457200"/>
            <a:ext cx="6729984" cy="914400"/>
          </a:xfrm>
          <a:prstGeom prst="rect">
            <a:avLst/>
          </a:prstGeom>
          <a:solidFill>
            <a:srgbClr val="E63E2C"/>
          </a:solidFill>
          <a:ln w="12700">
            <a:solidFill>
              <a:srgbClr val="E63E2C"/>
            </a:solidFill>
            <a:prstDash val="solid"/>
          </a:ln>
        </p:spPr>
      </p:sp>
      <p:sp>
        <p:nvSpPr>
          <p:cNvPr id="3" name="Text 1"/>
          <p:cNvSpPr txBox="1"/>
          <p:nvPr/>
        </p:nvSpPr>
        <p:spPr>
          <a:xfrm>
            <a:off x="548640" y="457200"/>
            <a:ext cx="6729984" cy="914400"/>
          </a:xfrm>
          <a:prstGeom prst="rect">
            <a:avLst/>
          </a:prstGeom>
          <a:noFill/>
          <a:ln/>
        </p:spPr>
        <p:txBody>
          <a:bodyPr wrap="square" lIns="0" tIns="3810" rIns="3810" bIns="0" rtlCol="0" anchor="ctr"/>
          <a:lstStyle/>
          <a:p>
            <a:pPr indent="0" marL="0">
              <a:buNone/>
            </a:pPr>
            <a:r>
              <a:rPr lang="en-US" sz="4600" dirty="0">
                <a:solidFill>
                  <a:srgbClr val="FFFFFF"/>
                </a:solidFill>
                <a:latin typeface="Bebas Neue" pitchFamily="34" charset="0"/>
                <a:ea typeface="Bebas Neue" pitchFamily="34" charset="-122"/>
                <a:cs typeface="Bebas Neue" pitchFamily="34" charset="-120"/>
              </a:rPr>
              <a:t>AIRASIA AT A GLANCE</a:t>
            </a:r>
            <a:endParaRPr lang="en-US" sz="4600" dirty="0"/>
          </a:p>
        </p:txBody>
      </p:sp>
      <p:sp>
        <p:nvSpPr>
          <p:cNvPr id="4" name="Text 2"/>
          <p:cNvSpPr txBox="1"/>
          <p:nvPr/>
        </p:nvSpPr>
        <p:spPr>
          <a:xfrm>
            <a:off x="548640" y="1645920"/>
            <a:ext cx="1737360" cy="822960"/>
          </a:xfrm>
          <a:prstGeom prst="rect">
            <a:avLst/>
          </a:prstGeom>
          <a:noFill/>
          <a:ln/>
        </p:spPr>
        <p:txBody>
          <a:bodyPr wrap="square" lIns="0" tIns="0" rIns="0" bIns="0" rtlCol="0" anchor="ctr"/>
          <a:lstStyle/>
          <a:p>
            <a:pPr indent="0" marL="0">
              <a:buNone/>
            </a:pPr>
            <a:r>
              <a:rPr lang="en-US" sz="5400" dirty="0">
                <a:solidFill>
                  <a:srgbClr val="1B1B1B"/>
                </a:solidFill>
                <a:latin typeface="Bebas Neue" pitchFamily="34" charset="0"/>
                <a:ea typeface="Bebas Neue" pitchFamily="34" charset="-122"/>
                <a:cs typeface="Bebas Neue" pitchFamily="34" charset="-120"/>
              </a:rPr>
              <a:t>79</a:t>
            </a:r>
            <a:endParaRPr lang="en-US" sz="5400" dirty="0"/>
          </a:p>
        </p:txBody>
      </p:sp>
      <p:sp>
        <p:nvSpPr>
          <p:cNvPr id="5" name="Text 3"/>
          <p:cNvSpPr txBox="1"/>
          <p:nvPr/>
        </p:nvSpPr>
        <p:spPr>
          <a:xfrm>
            <a:off x="548640" y="2468880"/>
            <a:ext cx="1737360" cy="457200"/>
          </a:xfrm>
          <a:prstGeom prst="rect">
            <a:avLst/>
          </a:prstGeom>
          <a:noFill/>
          <a:ln/>
        </p:spPr>
        <p:txBody>
          <a:bodyPr wrap="square" lIns="0" tIns="0" rIns="0" bIns="0" rtlCol="0" anchor="t"/>
          <a:lstStyle/>
          <a:p>
            <a:pPr indent="0" marL="0">
              <a:buNone/>
            </a:pPr>
            <a:r>
              <a:rPr lang="en-US" sz="1600" dirty="0">
                <a:solidFill>
                  <a:srgbClr val="4A4A4A"/>
                </a:solidFill>
                <a:latin typeface="Manrope" pitchFamily="34" charset="0"/>
                <a:ea typeface="Manrope" pitchFamily="34" charset="-122"/>
                <a:cs typeface="Manrope" pitchFamily="34" charset="-120"/>
              </a:rPr>
              <a:t>pesawat (2009)</a:t>
            </a:r>
            <a:endParaRPr lang="en-US" sz="1600" dirty="0"/>
          </a:p>
        </p:txBody>
      </p:sp>
      <p:sp>
        <p:nvSpPr>
          <p:cNvPr id="6" name="Text 4"/>
          <p:cNvSpPr txBox="1"/>
          <p:nvPr/>
        </p:nvSpPr>
        <p:spPr>
          <a:xfrm>
            <a:off x="2331720" y="1645920"/>
            <a:ext cx="1737360" cy="822960"/>
          </a:xfrm>
          <a:prstGeom prst="rect">
            <a:avLst/>
          </a:prstGeom>
          <a:noFill/>
          <a:ln/>
        </p:spPr>
        <p:txBody>
          <a:bodyPr wrap="square" lIns="0" tIns="0" rIns="0" bIns="0" rtlCol="0" anchor="ctr"/>
          <a:lstStyle/>
          <a:p>
            <a:pPr indent="0" marL="0">
              <a:buNone/>
            </a:pPr>
            <a:r>
              <a:rPr lang="en-US" sz="5400" dirty="0">
                <a:solidFill>
                  <a:srgbClr val="E63E2C"/>
                </a:solidFill>
                <a:latin typeface="Bebas Neue" pitchFamily="34" charset="0"/>
                <a:ea typeface="Bebas Neue" pitchFamily="34" charset="-122"/>
                <a:cs typeface="Bebas Neue" pitchFamily="34" charset="-120"/>
              </a:rPr>
              <a:t>11,8 JT</a:t>
            </a:r>
            <a:endParaRPr lang="en-US" sz="5400" dirty="0"/>
          </a:p>
        </p:txBody>
      </p:sp>
      <p:sp>
        <p:nvSpPr>
          <p:cNvPr id="7" name="Text 5"/>
          <p:cNvSpPr txBox="1"/>
          <p:nvPr/>
        </p:nvSpPr>
        <p:spPr>
          <a:xfrm>
            <a:off x="2331720" y="2468880"/>
            <a:ext cx="1737360" cy="457200"/>
          </a:xfrm>
          <a:prstGeom prst="rect">
            <a:avLst/>
          </a:prstGeom>
          <a:noFill/>
          <a:ln/>
        </p:spPr>
        <p:txBody>
          <a:bodyPr wrap="square" lIns="0" tIns="0" rIns="0" bIns="0" rtlCol="0" anchor="t"/>
          <a:lstStyle/>
          <a:p>
            <a:pPr indent="0" marL="0">
              <a:buNone/>
            </a:pPr>
            <a:r>
              <a:rPr lang="en-US" sz="1600" dirty="0">
                <a:solidFill>
                  <a:srgbClr val="4A4A4A"/>
                </a:solidFill>
                <a:latin typeface="Manrope" pitchFamily="34" charset="0"/>
                <a:ea typeface="Manrope" pitchFamily="34" charset="-122"/>
                <a:cs typeface="Manrope" pitchFamily="34" charset="-120"/>
              </a:rPr>
              <a:t>penumpang</a:t>
            </a:r>
            <a:endParaRPr lang="en-US" sz="1600" dirty="0"/>
          </a:p>
        </p:txBody>
      </p:sp>
      <p:sp>
        <p:nvSpPr>
          <p:cNvPr id="8" name="Text 6"/>
          <p:cNvSpPr txBox="1"/>
          <p:nvPr/>
        </p:nvSpPr>
        <p:spPr>
          <a:xfrm>
            <a:off x="4114800" y="1645920"/>
            <a:ext cx="1737360" cy="822960"/>
          </a:xfrm>
          <a:prstGeom prst="rect">
            <a:avLst/>
          </a:prstGeom>
          <a:noFill/>
          <a:ln/>
        </p:spPr>
        <p:txBody>
          <a:bodyPr wrap="square" lIns="0" tIns="0" rIns="0" bIns="0" rtlCol="0" anchor="ctr"/>
          <a:lstStyle/>
          <a:p>
            <a:pPr indent="0" marL="0">
              <a:buNone/>
            </a:pPr>
            <a:r>
              <a:rPr lang="en-US" sz="5400" dirty="0">
                <a:solidFill>
                  <a:srgbClr val="2C7BB8"/>
                </a:solidFill>
                <a:latin typeface="Bebas Neue" pitchFamily="34" charset="0"/>
                <a:ea typeface="Bebas Neue" pitchFamily="34" charset="-122"/>
                <a:cs typeface="Bebas Neue" pitchFamily="34" charset="-120"/>
              </a:rPr>
              <a:t>10</a:t>
            </a:r>
            <a:endParaRPr lang="en-US" sz="5400" dirty="0"/>
          </a:p>
        </p:txBody>
      </p:sp>
      <p:sp>
        <p:nvSpPr>
          <p:cNvPr id="9" name="Text 7"/>
          <p:cNvSpPr txBox="1"/>
          <p:nvPr/>
        </p:nvSpPr>
        <p:spPr>
          <a:xfrm>
            <a:off x="4114800" y="2468880"/>
            <a:ext cx="1737360" cy="457200"/>
          </a:xfrm>
          <a:prstGeom prst="rect">
            <a:avLst/>
          </a:prstGeom>
          <a:noFill/>
          <a:ln/>
        </p:spPr>
        <p:txBody>
          <a:bodyPr wrap="square" lIns="0" tIns="0" rIns="0" bIns="0" rtlCol="0" anchor="t"/>
          <a:lstStyle/>
          <a:p>
            <a:pPr indent="0" marL="0">
              <a:buNone/>
            </a:pPr>
            <a:r>
              <a:rPr lang="en-US" sz="1600" dirty="0">
                <a:solidFill>
                  <a:srgbClr val="4A4A4A"/>
                </a:solidFill>
                <a:latin typeface="Manrope" pitchFamily="34" charset="0"/>
                <a:ea typeface="Manrope" pitchFamily="34" charset="-122"/>
                <a:cs typeface="Manrope" pitchFamily="34" charset="-120"/>
              </a:rPr>
              <a:t>negara dilayani</a:t>
            </a:r>
            <a:endParaRPr lang="en-US" sz="1600" dirty="0"/>
          </a:p>
        </p:txBody>
      </p:sp>
      <p:sp>
        <p:nvSpPr>
          <p:cNvPr id="10" name="Text 8"/>
          <p:cNvSpPr txBox="1"/>
          <p:nvPr/>
        </p:nvSpPr>
        <p:spPr>
          <a:xfrm>
            <a:off x="5897880" y="1645920"/>
            <a:ext cx="1737360" cy="822960"/>
          </a:xfrm>
          <a:prstGeom prst="rect">
            <a:avLst/>
          </a:prstGeom>
          <a:noFill/>
          <a:ln/>
        </p:spPr>
        <p:txBody>
          <a:bodyPr wrap="square" lIns="0" tIns="0" rIns="0" bIns="0" rtlCol="0" anchor="ctr"/>
          <a:lstStyle/>
          <a:p>
            <a:pPr indent="0" marL="0">
              <a:buNone/>
            </a:pPr>
            <a:r>
              <a:rPr lang="en-US" sz="5400" dirty="0">
                <a:solidFill>
                  <a:srgbClr val="1B1B1B"/>
                </a:solidFill>
                <a:latin typeface="Bebas Neue" pitchFamily="34" charset="0"/>
                <a:ea typeface="Bebas Neue" pitchFamily="34" charset="-122"/>
                <a:cs typeface="Bebas Neue" pitchFamily="34" charset="-120"/>
              </a:rPr>
              <a:t>RM 1</a:t>
            </a:r>
            <a:endParaRPr lang="en-US" sz="5400" dirty="0"/>
          </a:p>
        </p:txBody>
      </p:sp>
      <p:sp>
        <p:nvSpPr>
          <p:cNvPr id="11" name="Text 9"/>
          <p:cNvSpPr txBox="1"/>
          <p:nvPr/>
        </p:nvSpPr>
        <p:spPr>
          <a:xfrm>
            <a:off x="5897880" y="2468880"/>
            <a:ext cx="1737360" cy="457200"/>
          </a:xfrm>
          <a:prstGeom prst="rect">
            <a:avLst/>
          </a:prstGeom>
          <a:noFill/>
          <a:ln/>
        </p:spPr>
        <p:txBody>
          <a:bodyPr wrap="square" lIns="0" tIns="0" rIns="0" bIns="0" rtlCol="0" anchor="t"/>
          <a:lstStyle/>
          <a:p>
            <a:pPr indent="0" marL="0">
              <a:buNone/>
            </a:pPr>
            <a:r>
              <a:rPr lang="en-US" sz="1600" dirty="0">
                <a:solidFill>
                  <a:srgbClr val="4A4A4A"/>
                </a:solidFill>
                <a:latin typeface="Manrope" pitchFamily="34" charset="0"/>
                <a:ea typeface="Manrope" pitchFamily="34" charset="-122"/>
                <a:cs typeface="Manrope" pitchFamily="34" charset="-120"/>
              </a:rPr>
              <a:t>harga akuisisi</a:t>
            </a:r>
            <a:endParaRPr lang="en-US" sz="1600" dirty="0"/>
          </a:p>
        </p:txBody>
      </p:sp>
      <p:sp>
        <p:nvSpPr>
          <p:cNvPr id="12" name="Text 10"/>
          <p:cNvSpPr txBox="1"/>
          <p:nvPr/>
        </p:nvSpPr>
        <p:spPr>
          <a:xfrm>
            <a:off x="548640" y="3108960"/>
            <a:ext cx="4572000" cy="548640"/>
          </a:xfrm>
          <a:prstGeom prst="rect">
            <a:avLst/>
          </a:prstGeom>
          <a:noFill/>
          <a:ln/>
        </p:spPr>
        <p:txBody>
          <a:bodyPr wrap="square" lIns="0" tIns="0" rIns="0" bIns="0" rtlCol="0" anchor="ctr"/>
          <a:lstStyle/>
          <a:p>
            <a:pPr indent="0" marL="0">
              <a:buNone/>
            </a:pPr>
            <a:r>
              <a:rPr lang="en-US" sz="3200" dirty="0">
                <a:solidFill>
                  <a:srgbClr val="1B1B1B"/>
                </a:solidFill>
                <a:latin typeface="Bebas Neue" pitchFamily="34" charset="0"/>
                <a:ea typeface="Bebas Neue" pitchFamily="34" charset="-122"/>
                <a:cs typeface="Bebas Neue" pitchFamily="34" charset="-120"/>
              </a:rPr>
              <a:t>MILESTONES</a:t>
            </a:r>
            <a:endParaRPr lang="en-US" sz="3200" dirty="0"/>
          </a:p>
        </p:txBody>
      </p:sp>
      <p:sp>
        <p:nvSpPr>
          <p:cNvPr id="13" name="Text 11"/>
          <p:cNvSpPr txBox="1"/>
          <p:nvPr/>
        </p:nvSpPr>
        <p:spPr>
          <a:xfrm>
            <a:off x="548640" y="3657600"/>
            <a:ext cx="7040880" cy="2468880"/>
          </a:xfrm>
          <a:prstGeom prst="rect">
            <a:avLst/>
          </a:prstGeom>
          <a:noFill/>
          <a:ln/>
        </p:spPr>
        <p:txBody>
          <a:bodyPr wrap="square" lIns="0" tIns="0" rIns="0" bIns="0" rtlCol="0" anchor="t"/>
          <a:lstStyle/>
          <a:p>
            <a:pPr indent="0" marL="0">
              <a:spcAft>
                <a:spcPts val="400"/>
              </a:spcAft>
              <a:buNone/>
            </a:pPr>
            <a:r>
              <a:rPr lang="en-US" sz="2100" b="1" dirty="0">
                <a:solidFill>
                  <a:srgbClr val="1B1B1B"/>
                </a:solidFill>
                <a:highlight>
                  <a:srgbClr val="FFE066"/>
                </a:highlight>
                <a:latin typeface="Manrope" pitchFamily="34" charset="0"/>
                <a:ea typeface="Manrope" pitchFamily="34" charset="-122"/>
                <a:cs typeface="Manrope" pitchFamily="34" charset="-120"/>
              </a:rPr>
              <a:t>2001</a:t>
            </a:r>
            <a:pPr indent="0" marL="0">
              <a:spcAft>
                <a:spcPts val="400"/>
              </a:spcAft>
              <a:buNone/>
            </a:pPr>
            <a:r>
              <a:rPr lang="en-US" sz="2100" dirty="0">
                <a:solidFill>
                  <a:srgbClr val="1B1B1B"/>
                </a:solidFill>
                <a:latin typeface="Manrope" pitchFamily="34" charset="0"/>
                <a:ea typeface="Manrope" pitchFamily="34" charset="-122"/>
                <a:cs typeface="Manrope" pitchFamily="34" charset="-120"/>
              </a:rPr>
              <a:t>   Diambil alih Fernandes dan McCarthy: </a:t>
            </a:r>
            <a:pPr indent="0" marL="0">
              <a:spcAft>
                <a:spcPts val="400"/>
              </a:spcAft>
              <a:buNone/>
            </a:pPr>
            <a:r>
              <a:rPr lang="en-US" sz="2100" b="1" dirty="0">
                <a:solidFill>
                  <a:srgbClr val="1B1B1B"/>
                </a:solidFill>
                <a:highlight>
                  <a:srgbClr val="FFE066"/>
                </a:highlight>
                <a:latin typeface="Manrope" pitchFamily="34" charset="0"/>
                <a:ea typeface="Manrope" pitchFamily="34" charset="-122"/>
                <a:cs typeface="Manrope" pitchFamily="34" charset="-120"/>
              </a:rPr>
              <a:t>RM 1</a:t>
            </a:r>
            <a:pPr indent="0" marL="0">
              <a:spcAft>
                <a:spcPts val="400"/>
              </a:spcAft>
              <a:buNone/>
            </a:pPr>
            <a:endParaRPr lang="en-US" sz="2100" dirty="0"/>
          </a:p>
          <a:p>
            <a:pPr indent="0" marL="0">
              <a:spcAft>
                <a:spcPts val="400"/>
              </a:spcAft>
              <a:buNone/>
            </a:pPr>
            <a:r>
              <a:rPr lang="en-US" sz="2100" b="1" dirty="0">
                <a:solidFill>
                  <a:srgbClr val="1B1B1B"/>
                </a:solidFill>
                <a:highlight>
                  <a:srgbClr val="FFE066"/>
                </a:highlight>
                <a:latin typeface="Manrope" pitchFamily="34" charset="0"/>
                <a:ea typeface="Manrope" pitchFamily="34" charset="-122"/>
                <a:cs typeface="Manrope" pitchFamily="34" charset="-120"/>
              </a:rPr>
              <a:t>2002</a:t>
            </a:r>
            <a:pPr indent="0" marL="0">
              <a:spcAft>
                <a:spcPts val="400"/>
              </a:spcAft>
              <a:buNone/>
            </a:pPr>
            <a:r>
              <a:rPr lang="en-US" sz="2100" dirty="0">
                <a:solidFill>
                  <a:srgbClr val="1B1B1B"/>
                </a:solidFill>
                <a:latin typeface="Manrope" pitchFamily="34" charset="0"/>
                <a:ea typeface="Manrope" pitchFamily="34" charset="-122"/>
                <a:cs typeface="Manrope" pitchFamily="34" charset="-120"/>
              </a:rPr>
              <a:t>   Relaunch: model </a:t>
            </a:r>
            <a:pPr indent="0" marL="0">
              <a:spcAft>
                <a:spcPts val="400"/>
              </a:spcAft>
              <a:buNone/>
            </a:pPr>
            <a:r>
              <a:rPr lang="en-US" sz="2100" b="1" dirty="0">
                <a:solidFill>
                  <a:srgbClr val="1B1B1B"/>
                </a:solidFill>
                <a:highlight>
                  <a:srgbClr val="FFE066"/>
                </a:highlight>
                <a:latin typeface="Manrope" pitchFamily="34" charset="0"/>
                <a:ea typeface="Manrope" pitchFamily="34" charset="-122"/>
                <a:cs typeface="Manrope" pitchFamily="34" charset="-120"/>
              </a:rPr>
              <a:t>Ryanair, Southwest, easyJet</a:t>
            </a:r>
            <a:pPr indent="0" marL="0">
              <a:spcAft>
                <a:spcPts val="400"/>
              </a:spcAft>
              <a:buNone/>
            </a:pPr>
            <a:endParaRPr lang="en-US" sz="2100" dirty="0"/>
          </a:p>
          <a:p>
            <a:pPr indent="0" marL="0">
              <a:spcAft>
                <a:spcPts val="400"/>
              </a:spcAft>
              <a:buNone/>
            </a:pPr>
            <a:r>
              <a:rPr lang="en-US" sz="2100" b="1" dirty="0">
                <a:solidFill>
                  <a:srgbClr val="1B1B1B"/>
                </a:solidFill>
                <a:highlight>
                  <a:srgbClr val="FFE066"/>
                </a:highlight>
                <a:latin typeface="Manrope" pitchFamily="34" charset="0"/>
                <a:ea typeface="Manrope" pitchFamily="34" charset="-122"/>
                <a:cs typeface="Manrope" pitchFamily="34" charset="-120"/>
              </a:rPr>
              <a:t>2004</a:t>
            </a:r>
            <a:pPr indent="0" marL="0">
              <a:spcAft>
                <a:spcPts val="400"/>
              </a:spcAft>
              <a:buNone/>
            </a:pPr>
            <a:r>
              <a:rPr lang="en-US" sz="2100" dirty="0">
                <a:solidFill>
                  <a:srgbClr val="1B1B1B"/>
                </a:solidFill>
                <a:latin typeface="Manrope" pitchFamily="34" charset="0"/>
                <a:ea typeface="Manrope" pitchFamily="34" charset="-122"/>
                <a:cs typeface="Manrope" pitchFamily="34" charset="-120"/>
              </a:rPr>
              <a:t>   Rute internasional pertama; IPO RM 717 juta</a:t>
            </a:r>
            <a:pPr indent="0" marL="0">
              <a:spcAft>
                <a:spcPts val="400"/>
              </a:spcAft>
              <a:buNone/>
            </a:pPr>
            <a:endParaRPr lang="en-US" sz="2100" dirty="0"/>
          </a:p>
          <a:p>
            <a:pPr indent="0" marL="0">
              <a:spcAft>
                <a:spcPts val="400"/>
              </a:spcAft>
              <a:buNone/>
            </a:pPr>
            <a:r>
              <a:rPr lang="en-US" sz="2100" b="1" dirty="0">
                <a:solidFill>
                  <a:srgbClr val="1B1B1B"/>
                </a:solidFill>
                <a:highlight>
                  <a:srgbClr val="FFE066"/>
                </a:highlight>
                <a:latin typeface="Manrope" pitchFamily="34" charset="0"/>
                <a:ea typeface="Manrope" pitchFamily="34" charset="-122"/>
                <a:cs typeface="Manrope" pitchFamily="34" charset="-120"/>
              </a:rPr>
              <a:t>2007</a:t>
            </a:r>
            <a:pPr indent="0" marL="0">
              <a:spcAft>
                <a:spcPts val="400"/>
              </a:spcAft>
              <a:buNone/>
            </a:pPr>
            <a:r>
              <a:rPr lang="en-US" sz="2100" dirty="0">
                <a:solidFill>
                  <a:srgbClr val="1B1B1B"/>
                </a:solidFill>
                <a:latin typeface="Manrope" pitchFamily="34" charset="0"/>
                <a:ea typeface="Manrope" pitchFamily="34" charset="-122"/>
                <a:cs typeface="Manrope" pitchFamily="34" charset="-120"/>
              </a:rPr>
              <a:t>   AirAsia X mulai terbang </a:t>
            </a:r>
            <a:pPr indent="0" marL="0">
              <a:spcAft>
                <a:spcPts val="400"/>
              </a:spcAft>
              <a:buNone/>
            </a:pPr>
            <a:r>
              <a:rPr lang="en-US" sz="2100" b="1" dirty="0">
                <a:solidFill>
                  <a:srgbClr val="1B1B1B"/>
                </a:solidFill>
                <a:highlight>
                  <a:srgbClr val="FFE066"/>
                </a:highlight>
                <a:latin typeface="Manrope" pitchFamily="34" charset="0"/>
                <a:ea typeface="Manrope" pitchFamily="34" charset="-122"/>
                <a:cs typeface="Manrope" pitchFamily="34" charset="-120"/>
              </a:rPr>
              <a:t>jarak jauh</a:t>
            </a:r>
            <a:pPr indent="0" marL="0">
              <a:spcAft>
                <a:spcPts val="400"/>
              </a:spcAft>
              <a:buNone/>
            </a:pPr>
            <a:endParaRPr lang="en-US" sz="2100" dirty="0"/>
          </a:p>
          <a:p>
            <a:pPr indent="0" marL="0">
              <a:spcAft>
                <a:spcPts val="400"/>
              </a:spcAft>
              <a:buNone/>
            </a:pPr>
            <a:r>
              <a:rPr lang="en-US" sz="2100" b="1" dirty="0">
                <a:solidFill>
                  <a:srgbClr val="1B1B1B"/>
                </a:solidFill>
                <a:highlight>
                  <a:srgbClr val="FFE066"/>
                </a:highlight>
                <a:latin typeface="Manrope" pitchFamily="34" charset="0"/>
                <a:ea typeface="Manrope" pitchFamily="34" charset="-122"/>
                <a:cs typeface="Manrope" pitchFamily="34" charset="-120"/>
              </a:rPr>
              <a:t>2009</a:t>
            </a:r>
            <a:pPr indent="0" marL="0">
              <a:spcAft>
                <a:spcPts val="400"/>
              </a:spcAft>
              <a:buNone/>
            </a:pPr>
            <a:r>
              <a:rPr lang="en-US" sz="2100" dirty="0">
                <a:solidFill>
                  <a:srgbClr val="1B1B1B"/>
                </a:solidFill>
                <a:latin typeface="Manrope" pitchFamily="34" charset="0"/>
                <a:ea typeface="Manrope" pitchFamily="34" charset="-122"/>
                <a:cs typeface="Manrope" pitchFamily="34" charset="-120"/>
              </a:rPr>
              <a:t>   Skytrax: </a:t>
            </a:r>
            <a:pPr indent="0" marL="0">
              <a:spcAft>
                <a:spcPts val="400"/>
              </a:spcAft>
              <a:buNone/>
            </a:pPr>
            <a:r>
              <a:rPr lang="en-US" sz="2100" b="1" dirty="0">
                <a:solidFill>
                  <a:srgbClr val="1B1B1B"/>
                </a:solidFill>
                <a:highlight>
                  <a:srgbClr val="FFE066"/>
                </a:highlight>
                <a:latin typeface="Manrope" pitchFamily="34" charset="0"/>
                <a:ea typeface="Manrope" pitchFamily="34" charset="-122"/>
                <a:cs typeface="Manrope" pitchFamily="34" charset="-120"/>
              </a:rPr>
              <a:t>World's Best Low Cost Airline</a:t>
            </a:r>
            <a:endParaRPr lang="en-US" sz="2100" dirty="0"/>
          </a:p>
        </p:txBody>
      </p:sp>
      <p:sp>
        <p:nvSpPr>
          <p:cNvPr id="14" name="Shape 12"/>
          <p:cNvSpPr/>
          <p:nvPr/>
        </p:nvSpPr>
        <p:spPr>
          <a:xfrm>
            <a:off x="7936992" y="1719072"/>
            <a:ext cx="3749040" cy="4206240"/>
          </a:xfrm>
          <a:prstGeom prst="rect">
            <a:avLst/>
          </a:prstGeom>
          <a:solidFill>
            <a:srgbClr val="2C7BB8"/>
          </a:solidFill>
          <a:ln w="12700">
            <a:solidFill>
              <a:srgbClr val="2C7BB8"/>
            </a:solidFill>
            <a:prstDash val="solid"/>
          </a:ln>
        </p:spPr>
      </p:sp>
      <p:pic>
        <p:nvPicPr>
          <p:cNvPr id="15" name="Image 0" descr="/tmp/claude-0/-home-user-Dom-Manipulation/a70c4110-05d8-512e-ae11-d08dee025a7a/scratchpad/img/aa_fleet.jpg">    </p:cNvPr>
          <p:cNvPicPr>
            <a:picLocks noChangeAspect="1"/>
          </p:cNvPicPr>
          <p:nvPr/>
        </p:nvPicPr>
        <p:blipFill>
          <a:blip r:embed="rId1"/>
          <a:srcRect l="0" r="0" t="0" b="0"/>
          <a:stretch/>
        </p:blipFill>
        <p:spPr>
          <a:xfrm>
            <a:off x="7772400" y="1554480"/>
            <a:ext cx="3749040" cy="4206240"/>
          </a:xfrm>
          <a:prstGeom prst="rect">
            <a:avLst/>
          </a:prstGeom>
        </p:spPr>
      </p:pic>
      <p:sp>
        <p:nvSpPr>
          <p:cNvPr id="16" name="Text 13"/>
          <p:cNvSpPr txBox="1"/>
          <p:nvPr/>
        </p:nvSpPr>
        <p:spPr>
          <a:xfrm>
            <a:off x="548640" y="6217920"/>
            <a:ext cx="10424160" cy="411480"/>
          </a:xfrm>
          <a:prstGeom prst="rect">
            <a:avLst/>
          </a:prstGeom>
          <a:noFill/>
          <a:ln/>
        </p:spPr>
        <p:txBody>
          <a:bodyPr wrap="square" lIns="0" tIns="0" rIns="0" bIns="0" rtlCol="0" anchor="ctr"/>
          <a:lstStyle/>
          <a:p>
            <a:pPr indent="0" marL="0">
              <a:buNone/>
            </a:pPr>
            <a:r>
              <a:rPr lang="en-US" sz="1100" dirty="0">
                <a:solidFill>
                  <a:srgbClr val="E63E2C"/>
                </a:solidFill>
                <a:latin typeface="Manrope" pitchFamily="34" charset="0"/>
                <a:ea typeface="Manrope" pitchFamily="34" charset="-122"/>
                <a:cs typeface="Manrope" pitchFamily="34" charset="-120"/>
              </a:rPr>
              <a:t>■  </a:t>
            </a:r>
            <a:r>
              <a:rPr lang="en-US" sz="1600" b="1" dirty="0">
                <a:solidFill>
                  <a:srgbClr val="1B1B1B"/>
                </a:solidFill>
                <a:latin typeface="Manrope" pitchFamily="34" charset="0"/>
                <a:ea typeface="Manrope" pitchFamily="34" charset="-122"/>
                <a:cs typeface="Manrope" pitchFamily="34" charset="-120"/>
              </a:rPr>
              <a:t>Selanjutnya  </a:t>
            </a:r>
            <a:r>
              <a:rPr lang="en-US" sz="1600" dirty="0">
                <a:solidFill>
                  <a:srgbClr val="4A4A4A"/>
                </a:solidFill>
                <a:latin typeface="Manrope" pitchFamily="34" charset="0"/>
                <a:ea typeface="Manrope" pitchFamily="34" charset="-122"/>
                <a:cs typeface="Manrope" pitchFamily="34" charset="-120"/>
              </a:rPr>
              <a:t>Dibangun di rute pendek. Rute jauh memunculkan masalah baru.</a:t>
            </a:r>
            <a:endParaRPr lang="en-US" sz="1600" dirty="0"/>
          </a:p>
        </p:txBody>
      </p:sp>
      <p:sp>
        <p:nvSpPr>
          <p:cNvPr id="17" name="Text 14"/>
          <p:cNvSpPr txBox="1"/>
          <p:nvPr/>
        </p:nvSpPr>
        <p:spPr>
          <a:xfrm>
            <a:off x="11247120" y="6355080"/>
            <a:ext cx="548640" cy="320040"/>
          </a:xfrm>
          <a:prstGeom prst="rect">
            <a:avLst/>
          </a:prstGeom>
          <a:noFill/>
          <a:ln/>
        </p:spPr>
        <p:txBody>
          <a:bodyPr wrap="square" lIns="0" tIns="0" rIns="0" bIns="0" rtlCol="0" anchor="ctr"/>
          <a:lstStyle/>
          <a:p>
            <a:pPr algn="r" indent="0" marL="0">
              <a:buNone/>
            </a:pPr>
            <a:r>
              <a:rPr lang="en-US" sz="1200" b="1" dirty="0">
                <a:solidFill>
                  <a:srgbClr val="1B1B1B"/>
                </a:solidFill>
                <a:latin typeface="Manrope" pitchFamily="34" charset="0"/>
                <a:ea typeface="Manrope" pitchFamily="34" charset="-122"/>
                <a:cs typeface="Manrope"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E2CF"/>
        </a:solidFill>
      </p:bgPr>
    </p:bg>
    <p:spTree>
      <p:nvGrpSpPr>
        <p:cNvPr id="1" name=""/>
        <p:cNvGrpSpPr/>
        <p:nvPr/>
      </p:nvGrpSpPr>
      <p:grpSpPr>
        <a:xfrm>
          <a:off x="0" y="0"/>
          <a:ext cx="0" cy="0"/>
          <a:chOff x="0" y="0"/>
          <a:chExt cx="0" cy="0"/>
        </a:xfrm>
      </p:grpSpPr>
      <p:sp>
        <p:nvSpPr>
          <p:cNvPr id="2" name="Text 0"/>
          <p:cNvSpPr txBox="1"/>
          <p:nvPr/>
        </p:nvSpPr>
        <p:spPr>
          <a:xfrm>
            <a:off x="548640" y="457200"/>
            <a:ext cx="10515600" cy="914400"/>
          </a:xfrm>
          <a:prstGeom prst="rect">
            <a:avLst/>
          </a:prstGeom>
          <a:noFill/>
          <a:ln/>
        </p:spPr>
        <p:txBody>
          <a:bodyPr wrap="square" lIns="0" tIns="0" rIns="0" bIns="0" rtlCol="0" anchor="ctr"/>
          <a:lstStyle/>
          <a:p>
            <a:pPr indent="0" marL="0">
              <a:buNone/>
            </a:pPr>
            <a:r>
              <a:rPr lang="en-US" sz="5800" dirty="0">
                <a:solidFill>
                  <a:srgbClr val="1B1B1B"/>
                </a:solidFill>
                <a:latin typeface="Bebas Neue" pitchFamily="34" charset="0"/>
                <a:ea typeface="Bebas Neue" pitchFamily="34" charset="-122"/>
                <a:cs typeface="Bebas Neue" pitchFamily="34" charset="-120"/>
              </a:rPr>
              <a:t>THE STRATEGIC PROBLEM</a:t>
            </a:r>
            <a:endParaRPr lang="en-US" sz="5800" dirty="0"/>
          </a:p>
        </p:txBody>
      </p:sp>
      <p:sp>
        <p:nvSpPr>
          <p:cNvPr id="3" name="Text 1"/>
          <p:cNvSpPr txBox="1"/>
          <p:nvPr/>
        </p:nvSpPr>
        <p:spPr>
          <a:xfrm>
            <a:off x="548640" y="1600200"/>
            <a:ext cx="3566160" cy="548640"/>
          </a:xfrm>
          <a:prstGeom prst="rect">
            <a:avLst/>
          </a:prstGeom>
          <a:noFill/>
          <a:ln/>
        </p:spPr>
        <p:txBody>
          <a:bodyPr wrap="square" lIns="0" tIns="0" rIns="0" bIns="0" rtlCol="0" anchor="ctr"/>
          <a:lstStyle/>
          <a:p>
            <a:pPr indent="0" marL="0">
              <a:buNone/>
            </a:pPr>
            <a:r>
              <a:rPr lang="en-US" sz="3000" dirty="0">
                <a:solidFill>
                  <a:srgbClr val="E63E2C"/>
                </a:solidFill>
                <a:latin typeface="Bebas Neue" pitchFamily="34" charset="0"/>
                <a:ea typeface="Bebas Neue" pitchFamily="34" charset="-122"/>
                <a:cs typeface="Bebas Neue" pitchFamily="34" charset="-120"/>
              </a:rPr>
              <a:t>TUJUAN (GOALS)</a:t>
            </a:r>
            <a:endParaRPr lang="en-US" sz="3000" dirty="0"/>
          </a:p>
        </p:txBody>
      </p:sp>
      <p:sp>
        <p:nvSpPr>
          <p:cNvPr id="4" name="Text 2"/>
          <p:cNvSpPr txBox="1"/>
          <p:nvPr/>
        </p:nvSpPr>
        <p:spPr>
          <a:xfrm>
            <a:off x="548640" y="2194560"/>
            <a:ext cx="3566160" cy="3657600"/>
          </a:xfrm>
          <a:prstGeom prst="rect">
            <a:avLst/>
          </a:prstGeom>
          <a:noFill/>
          <a:ln/>
        </p:spPr>
        <p:txBody>
          <a:bodyPr wrap="square" lIns="0" tIns="0" rIns="0" bIns="0" rtlCol="0" anchor="t"/>
          <a:lstStyle/>
          <a:p>
            <a:pPr marL="342900" indent="-342900">
              <a:spcAft>
                <a:spcPts val="700"/>
              </a:spcAft>
              <a:buSzPct val="100000"/>
              <a:buChar char="■"/>
            </a:pPr>
            <a:r>
              <a:rPr lang="en-US" sz="2100" dirty="0">
                <a:solidFill>
                  <a:srgbClr val="1B1B1B"/>
                </a:solidFill>
                <a:latin typeface="Manrope" pitchFamily="34" charset="0"/>
                <a:ea typeface="Manrope" pitchFamily="34" charset="-122"/>
                <a:cs typeface="Manrope" pitchFamily="34" charset="-120"/>
              </a:rPr>
              <a:t>Menjadi maskapai </a:t>
            </a:r>
            <a:r>
              <a:rPr lang="en-US" sz="2100" b="1" dirty="0">
                <a:solidFill>
                  <a:srgbClr val="1B1B1B"/>
                </a:solidFill>
                <a:highlight>
                  <a:srgbClr val="FFE066"/>
                </a:highlight>
                <a:latin typeface="Manrope" pitchFamily="34" charset="0"/>
                <a:ea typeface="Manrope" pitchFamily="34" charset="-122"/>
                <a:cs typeface="Manrope" pitchFamily="34" charset="-120"/>
              </a:rPr>
              <a:t>internasional</a:t>
            </a:r>
            <a:r>
              <a:rPr lang="en-US" sz="2100" dirty="0">
                <a:solidFill>
                  <a:srgbClr val="1B1B1B"/>
                </a:solidFill>
                <a:latin typeface="Manrope" pitchFamily="34" charset="0"/>
                <a:ea typeface="Manrope" pitchFamily="34" charset="-122"/>
                <a:cs typeface="Manrope" pitchFamily="34" charset="-120"/>
              </a:rPr>
              <a:t>, bukan hanya regional</a:t>
            </a:r>
            <a:endParaRPr lang="en-US" sz="2100" dirty="0"/>
          </a:p>
          <a:p>
            <a:pPr marL="342900" indent="-342900">
              <a:spcAft>
                <a:spcPts val="700"/>
              </a:spcAft>
              <a:buSzPct val="100000"/>
              <a:buChar char="■"/>
            </a:pPr>
            <a:r>
              <a:rPr lang="en-US" sz="2100" dirty="0">
                <a:solidFill>
                  <a:srgbClr val="1B1B1B"/>
                </a:solidFill>
                <a:latin typeface="Manrope" pitchFamily="34" charset="0"/>
                <a:ea typeface="Manrope" pitchFamily="34" charset="-122"/>
                <a:cs typeface="Manrope" pitchFamily="34" charset="-120"/>
              </a:rPr>
              <a:t>Tetap </a:t>
            </a:r>
            <a:r>
              <a:rPr lang="en-US" sz="2100" b="1" dirty="0">
                <a:solidFill>
                  <a:srgbClr val="1B1B1B"/>
                </a:solidFill>
                <a:highlight>
                  <a:srgbClr val="FFE066"/>
                </a:highlight>
                <a:latin typeface="Manrope" pitchFamily="34" charset="0"/>
                <a:ea typeface="Manrope" pitchFamily="34" charset="-122"/>
                <a:cs typeface="Manrope" pitchFamily="34" charset="-120"/>
              </a:rPr>
              <a:t>berbiaya terendah</a:t>
            </a:r>
            <a:r>
              <a:rPr lang="en-US" sz="2100" dirty="0">
                <a:solidFill>
                  <a:srgbClr val="1B1B1B"/>
                </a:solidFill>
                <a:latin typeface="Manrope" pitchFamily="34" charset="0"/>
                <a:ea typeface="Manrope" pitchFamily="34" charset="-122"/>
                <a:cs typeface="Manrope" pitchFamily="34" charset="-120"/>
              </a:rPr>
              <a:t> di setiap rute</a:t>
            </a:r>
            <a:endParaRPr lang="en-US" sz="2100" dirty="0"/>
          </a:p>
          <a:p>
            <a:pPr marL="342900" indent="-342900">
              <a:spcAft>
                <a:spcPts val="700"/>
              </a:spcAft>
              <a:buSzPct val="100000"/>
              <a:buChar char="■"/>
            </a:pPr>
            <a:r>
              <a:rPr lang="en-US" sz="2100" dirty="0">
                <a:solidFill>
                  <a:srgbClr val="1B1B1B"/>
                </a:solidFill>
                <a:latin typeface="Manrope" pitchFamily="34" charset="0"/>
                <a:ea typeface="Manrope" pitchFamily="34" charset="-122"/>
                <a:cs typeface="Manrope" pitchFamily="34" charset="-120"/>
              </a:rPr>
              <a:t>Tumbuh lewat </a:t>
            </a:r>
            <a:r>
              <a:rPr lang="en-US" sz="2100" b="1" dirty="0">
                <a:solidFill>
                  <a:srgbClr val="1B1B1B"/>
                </a:solidFill>
                <a:highlight>
                  <a:srgbClr val="FFE066"/>
                </a:highlight>
                <a:latin typeface="Manrope" pitchFamily="34" charset="0"/>
                <a:ea typeface="Manrope" pitchFamily="34" charset="-122"/>
                <a:cs typeface="Manrope" pitchFamily="34" charset="-120"/>
              </a:rPr>
              <a:t>rute gemuk (trunk routes)</a:t>
            </a:r>
            <a:r>
              <a:rPr lang="en-US" sz="2100" dirty="0">
                <a:solidFill>
                  <a:srgbClr val="1B1B1B"/>
                </a:solidFill>
                <a:latin typeface="Manrope" pitchFamily="34" charset="0"/>
                <a:ea typeface="Manrope" pitchFamily="34" charset="-122"/>
                <a:cs typeface="Manrope" pitchFamily="34" charset="-120"/>
              </a:rPr>
              <a:t> jarak jauh</a:t>
            </a:r>
            <a:endParaRPr lang="en-US" sz="2100" dirty="0"/>
          </a:p>
        </p:txBody>
      </p:sp>
      <p:sp>
        <p:nvSpPr>
          <p:cNvPr id="5" name="Shape 3"/>
          <p:cNvSpPr/>
          <p:nvPr/>
        </p:nvSpPr>
        <p:spPr>
          <a:xfrm>
            <a:off x="4343400" y="1645920"/>
            <a:ext cx="73152" cy="4114800"/>
          </a:xfrm>
          <a:prstGeom prst="rect">
            <a:avLst/>
          </a:prstGeom>
          <a:solidFill>
            <a:srgbClr val="1B1B1B"/>
          </a:solidFill>
          <a:ln w="12700">
            <a:solidFill>
              <a:srgbClr val="1B1B1B"/>
            </a:solidFill>
            <a:prstDash val="solid"/>
          </a:ln>
        </p:spPr>
      </p:sp>
      <p:sp>
        <p:nvSpPr>
          <p:cNvPr id="6" name="Text 4"/>
          <p:cNvSpPr txBox="1"/>
          <p:nvPr/>
        </p:nvSpPr>
        <p:spPr>
          <a:xfrm>
            <a:off x="4663440" y="1600200"/>
            <a:ext cx="3566160" cy="548640"/>
          </a:xfrm>
          <a:prstGeom prst="rect">
            <a:avLst/>
          </a:prstGeom>
          <a:noFill/>
          <a:ln/>
        </p:spPr>
        <p:txBody>
          <a:bodyPr wrap="square" lIns="0" tIns="0" rIns="0" bIns="0" rtlCol="0" anchor="ctr"/>
          <a:lstStyle/>
          <a:p>
            <a:pPr indent="0" marL="0">
              <a:buNone/>
            </a:pPr>
            <a:r>
              <a:rPr lang="en-US" sz="3000" dirty="0">
                <a:solidFill>
                  <a:srgbClr val="2C7BB8"/>
                </a:solidFill>
                <a:latin typeface="Bebas Neue" pitchFamily="34" charset="0"/>
                <a:ea typeface="Bebas Neue" pitchFamily="34" charset="-122"/>
                <a:cs typeface="Bebas Neue" pitchFamily="34" charset="-120"/>
              </a:rPr>
              <a:t>HAMBATAN (BARRIERS)</a:t>
            </a:r>
            <a:endParaRPr lang="en-US" sz="3000" dirty="0"/>
          </a:p>
        </p:txBody>
      </p:sp>
      <p:sp>
        <p:nvSpPr>
          <p:cNvPr id="7" name="Text 5"/>
          <p:cNvSpPr txBox="1"/>
          <p:nvPr/>
        </p:nvSpPr>
        <p:spPr>
          <a:xfrm>
            <a:off x="4663440" y="2194560"/>
            <a:ext cx="3566160" cy="3657600"/>
          </a:xfrm>
          <a:prstGeom prst="rect">
            <a:avLst/>
          </a:prstGeom>
          <a:noFill/>
          <a:ln/>
        </p:spPr>
        <p:txBody>
          <a:bodyPr wrap="square" lIns="0" tIns="0" rIns="0" bIns="0" rtlCol="0" anchor="t"/>
          <a:lstStyle/>
          <a:p>
            <a:pPr marL="342900" indent="-342900">
              <a:spcAft>
                <a:spcPts val="700"/>
              </a:spcAft>
              <a:buSzPct val="100000"/>
              <a:buChar char="■"/>
            </a:pPr>
            <a:r>
              <a:rPr lang="en-US" sz="2100" dirty="0">
                <a:solidFill>
                  <a:srgbClr val="1B1B1B"/>
                </a:solidFill>
                <a:latin typeface="Manrope" pitchFamily="34" charset="0"/>
                <a:ea typeface="Manrope" pitchFamily="34" charset="-122"/>
                <a:cs typeface="Manrope" pitchFamily="34" charset="-120"/>
              </a:rPr>
              <a:t>Model LCC bertumpu pada </a:t>
            </a:r>
            <a:r>
              <a:rPr lang="en-US" sz="2100" b="1" dirty="0">
                <a:solidFill>
                  <a:srgbClr val="1B1B1B"/>
                </a:solidFill>
                <a:highlight>
                  <a:srgbClr val="FFE066"/>
                </a:highlight>
                <a:latin typeface="Manrope" pitchFamily="34" charset="0"/>
                <a:ea typeface="Manrope" pitchFamily="34" charset="-122"/>
                <a:cs typeface="Manrope" pitchFamily="34" charset="-120"/>
              </a:rPr>
              <a:t>rute pendek, satu tipe pesawat, layanan minimal</a:t>
            </a:r>
            <a:endParaRPr lang="en-US" sz="2100" dirty="0"/>
          </a:p>
          <a:p>
            <a:pPr marL="342900" indent="-342900">
              <a:spcAft>
                <a:spcPts val="700"/>
              </a:spcAft>
              <a:buSzPct val="100000"/>
              <a:buChar char="■"/>
            </a:pPr>
            <a:r>
              <a:rPr lang="en-US" sz="2100" dirty="0">
                <a:solidFill>
                  <a:srgbClr val="1B1B1B"/>
                </a:solidFill>
                <a:latin typeface="Manrope" pitchFamily="34" charset="0"/>
                <a:ea typeface="Manrope" pitchFamily="34" charset="-122"/>
                <a:cs typeface="Manrope" pitchFamily="34" charset="-120"/>
              </a:rPr>
              <a:t>Pesaing jarak jauh punya feeder, tiket terusan, </a:t>
            </a:r>
            <a:r>
              <a:rPr lang="en-US" sz="2100" b="1" dirty="0">
                <a:solidFill>
                  <a:srgbClr val="1B1B1B"/>
                </a:solidFill>
                <a:highlight>
                  <a:srgbClr val="FFE066"/>
                </a:highlight>
                <a:latin typeface="Manrope" pitchFamily="34" charset="0"/>
                <a:ea typeface="Manrope" pitchFamily="34" charset="-122"/>
                <a:cs typeface="Manrope" pitchFamily="34" charset="-120"/>
              </a:rPr>
              <a:t>subsidi silang</a:t>
            </a:r>
            <a:endParaRPr lang="en-US" sz="2100" dirty="0"/>
          </a:p>
          <a:p>
            <a:pPr marL="342900" indent="-342900">
              <a:spcAft>
                <a:spcPts val="700"/>
              </a:spcAft>
              <a:buSzPct val="100000"/>
              <a:buChar char="■"/>
            </a:pPr>
            <a:r>
              <a:rPr lang="en-US" sz="2100" dirty="0">
                <a:solidFill>
                  <a:srgbClr val="1B1B1B"/>
                </a:solidFill>
                <a:latin typeface="Manrope" pitchFamily="34" charset="0"/>
                <a:ea typeface="Manrope" pitchFamily="34" charset="-122"/>
                <a:cs typeface="Manrope" pitchFamily="34" charset="-120"/>
              </a:rPr>
              <a:t>Neraca 2008 lemah: utang </a:t>
            </a:r>
            <a:r>
              <a:rPr lang="en-US" sz="2100" b="1" dirty="0">
                <a:solidFill>
                  <a:srgbClr val="1B1B1B"/>
                </a:solidFill>
                <a:highlight>
                  <a:srgbClr val="FFE066"/>
                </a:highlight>
                <a:latin typeface="Manrope" pitchFamily="34" charset="0"/>
                <a:ea typeface="Manrope" pitchFamily="34" charset="-122"/>
                <a:cs typeface="Manrope" pitchFamily="34" charset="-120"/>
              </a:rPr>
              <a:t>RM 6,69 miliar</a:t>
            </a:r>
            <a:r>
              <a:rPr lang="en-US" sz="2100" dirty="0">
                <a:solidFill>
                  <a:srgbClr val="1B1B1B"/>
                </a:solidFill>
                <a:latin typeface="Manrope" pitchFamily="34" charset="0"/>
                <a:ea typeface="Manrope" pitchFamily="34" charset="-122"/>
                <a:cs typeface="Manrope" pitchFamily="34" charset="-120"/>
              </a:rPr>
              <a:t>, kas </a:t>
            </a:r>
            <a:r>
              <a:rPr lang="en-US" sz="2100" b="1" dirty="0">
                <a:solidFill>
                  <a:srgbClr val="1B1B1B"/>
                </a:solidFill>
                <a:highlight>
                  <a:srgbClr val="FFE066"/>
                </a:highlight>
                <a:latin typeface="Manrope" pitchFamily="34" charset="0"/>
                <a:ea typeface="Manrope" pitchFamily="34" charset="-122"/>
                <a:cs typeface="Manrope" pitchFamily="34" charset="-120"/>
              </a:rPr>
              <a:t>RM 153,8 juta</a:t>
            </a:r>
            <a:endParaRPr lang="en-US" sz="2100" dirty="0"/>
          </a:p>
        </p:txBody>
      </p:sp>
      <p:sp>
        <p:nvSpPr>
          <p:cNvPr id="8" name="Shape 6"/>
          <p:cNvSpPr/>
          <p:nvPr/>
        </p:nvSpPr>
        <p:spPr>
          <a:xfrm>
            <a:off x="8503920" y="1737360"/>
            <a:ext cx="3108960" cy="2103120"/>
          </a:xfrm>
          <a:prstGeom prst="rect">
            <a:avLst/>
          </a:prstGeom>
          <a:solidFill>
            <a:srgbClr val="F4C430"/>
          </a:solidFill>
          <a:ln w="12700">
            <a:solidFill>
              <a:srgbClr val="F4C430"/>
            </a:solidFill>
            <a:prstDash val="solid"/>
          </a:ln>
        </p:spPr>
      </p:sp>
      <p:pic>
        <p:nvPicPr>
          <p:cNvPr id="9" name="Image 0" descr="/tmp/claude-0/-home-user-Dom-Manipulation/a70c4110-05d8-512e-ae11-d08dee025a7a/scratchpad/img/aa_pair.png">    </p:cNvPr>
          <p:cNvPicPr>
            <a:picLocks noChangeAspect="1"/>
          </p:cNvPicPr>
          <p:nvPr/>
        </p:nvPicPr>
        <p:blipFill>
          <a:blip r:embed="rId1"/>
          <a:srcRect l="0" r="0" t="0" b="0"/>
          <a:stretch/>
        </p:blipFill>
        <p:spPr>
          <a:xfrm>
            <a:off x="8503920" y="1645920"/>
            <a:ext cx="3108960" cy="2286000"/>
          </a:xfrm>
          <a:prstGeom prst="rect">
            <a:avLst/>
          </a:prstGeom>
        </p:spPr>
      </p:pic>
      <p:sp>
        <p:nvSpPr>
          <p:cNvPr id="10" name="Text 7"/>
          <p:cNvSpPr txBox="1"/>
          <p:nvPr/>
        </p:nvSpPr>
        <p:spPr>
          <a:xfrm>
            <a:off x="8503920" y="4160520"/>
            <a:ext cx="3108960" cy="1188720"/>
          </a:xfrm>
          <a:prstGeom prst="rect">
            <a:avLst/>
          </a:prstGeom>
          <a:noFill/>
          <a:ln/>
        </p:spPr>
        <p:txBody>
          <a:bodyPr wrap="square" lIns="0" tIns="0" rIns="0" bIns="0" rtlCol="0" anchor="t"/>
          <a:lstStyle/>
          <a:p>
            <a:pPr indent="0" marL="0">
              <a:buNone/>
            </a:pPr>
            <a:r>
              <a:rPr lang="en-US" sz="1600" i="1" dirty="0">
                <a:solidFill>
                  <a:srgbClr val="4A4A4A"/>
                </a:solidFill>
                <a:latin typeface="Manrope" pitchFamily="34" charset="0"/>
                <a:ea typeface="Manrope" pitchFamily="34" charset="-122"/>
                <a:cs typeface="Manrope" pitchFamily="34" charset="-120"/>
              </a:rPr>
              <a:t>A320 rute pendek dan A330 rute jauh: dua pesawat, dua model bisnis.</a:t>
            </a:r>
            <a:endParaRPr lang="en-US" sz="1600" dirty="0"/>
          </a:p>
        </p:txBody>
      </p:sp>
      <p:sp>
        <p:nvSpPr>
          <p:cNvPr id="11" name="Text 8"/>
          <p:cNvSpPr txBox="1"/>
          <p:nvPr/>
        </p:nvSpPr>
        <p:spPr>
          <a:xfrm>
            <a:off x="548640" y="6217920"/>
            <a:ext cx="10424160" cy="411480"/>
          </a:xfrm>
          <a:prstGeom prst="rect">
            <a:avLst/>
          </a:prstGeom>
          <a:noFill/>
          <a:ln/>
        </p:spPr>
        <p:txBody>
          <a:bodyPr wrap="square" lIns="0" tIns="0" rIns="0" bIns="0" rtlCol="0" anchor="ctr"/>
          <a:lstStyle/>
          <a:p>
            <a:pPr indent="0" marL="0">
              <a:buNone/>
            </a:pPr>
            <a:r>
              <a:rPr lang="en-US" sz="1100" dirty="0">
                <a:solidFill>
                  <a:srgbClr val="E63E2C"/>
                </a:solidFill>
                <a:latin typeface="Manrope" pitchFamily="34" charset="0"/>
                <a:ea typeface="Manrope" pitchFamily="34" charset="-122"/>
                <a:cs typeface="Manrope" pitchFamily="34" charset="-120"/>
              </a:rPr>
              <a:t>■  </a:t>
            </a:r>
            <a:r>
              <a:rPr lang="en-US" sz="1600" b="1" dirty="0">
                <a:solidFill>
                  <a:srgbClr val="1B1B1B"/>
                </a:solidFill>
                <a:latin typeface="Manrope" pitchFamily="34" charset="0"/>
                <a:ea typeface="Manrope" pitchFamily="34" charset="-122"/>
                <a:cs typeface="Manrope" pitchFamily="34" charset="-120"/>
              </a:rPr>
              <a:t>Selanjutnya  </a:t>
            </a:r>
            <a:r>
              <a:rPr lang="en-US" sz="1600" dirty="0">
                <a:solidFill>
                  <a:srgbClr val="4A4A4A"/>
                </a:solidFill>
                <a:latin typeface="Manrope" pitchFamily="34" charset="0"/>
                <a:ea typeface="Manrope" pitchFamily="34" charset="-122"/>
                <a:cs typeface="Manrope" pitchFamily="34" charset="-120"/>
              </a:rPr>
              <a:t>Tujuan yang terhalang. Pertanyaannya dirumuskan di slide berikutnya.</a:t>
            </a:r>
            <a:endParaRPr lang="en-US" sz="1600" dirty="0"/>
          </a:p>
        </p:txBody>
      </p:sp>
      <p:sp>
        <p:nvSpPr>
          <p:cNvPr id="12" name="Text 9"/>
          <p:cNvSpPr txBox="1"/>
          <p:nvPr/>
        </p:nvSpPr>
        <p:spPr>
          <a:xfrm>
            <a:off x="11247120" y="6355080"/>
            <a:ext cx="548640" cy="320040"/>
          </a:xfrm>
          <a:prstGeom prst="rect">
            <a:avLst/>
          </a:prstGeom>
          <a:noFill/>
          <a:ln/>
        </p:spPr>
        <p:txBody>
          <a:bodyPr wrap="square" lIns="0" tIns="0" rIns="0" bIns="0" rtlCol="0" anchor="ctr"/>
          <a:lstStyle/>
          <a:p>
            <a:pPr algn="r" indent="0" marL="0">
              <a:buNone/>
            </a:pPr>
            <a:r>
              <a:rPr lang="en-US" sz="1200" b="1" dirty="0">
                <a:solidFill>
                  <a:srgbClr val="1B1B1B"/>
                </a:solidFill>
                <a:latin typeface="Manrope" pitchFamily="34" charset="0"/>
                <a:ea typeface="Manrope" pitchFamily="34" charset="-122"/>
                <a:cs typeface="Manrope"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E2CF"/>
        </a:solidFill>
      </p:bgPr>
    </p:bg>
    <p:spTree>
      <p:nvGrpSpPr>
        <p:cNvPr id="1" name=""/>
        <p:cNvGrpSpPr/>
        <p:nvPr/>
      </p:nvGrpSpPr>
      <p:grpSpPr>
        <a:xfrm>
          <a:off x="0" y="0"/>
          <a:ext cx="0" cy="0"/>
          <a:chOff x="0" y="0"/>
          <a:chExt cx="0" cy="0"/>
        </a:xfrm>
      </p:grpSpPr>
      <p:sp>
        <p:nvSpPr>
          <p:cNvPr id="2" name="Text 0"/>
          <p:cNvSpPr txBox="1"/>
          <p:nvPr/>
        </p:nvSpPr>
        <p:spPr>
          <a:xfrm>
            <a:off x="548640" y="457200"/>
            <a:ext cx="10515600" cy="914400"/>
          </a:xfrm>
          <a:prstGeom prst="rect">
            <a:avLst/>
          </a:prstGeom>
          <a:noFill/>
          <a:ln/>
        </p:spPr>
        <p:txBody>
          <a:bodyPr wrap="square" lIns="0" tIns="0" rIns="0" bIns="0" rtlCol="0" anchor="ctr"/>
          <a:lstStyle/>
          <a:p>
            <a:pPr indent="0" marL="0">
              <a:buNone/>
            </a:pPr>
            <a:r>
              <a:rPr lang="en-US" sz="5800" dirty="0">
                <a:solidFill>
                  <a:srgbClr val="1B1B1B"/>
                </a:solidFill>
                <a:latin typeface="Bebas Neue" pitchFamily="34" charset="0"/>
                <a:ea typeface="Bebas Neue" pitchFamily="34" charset="-122"/>
                <a:cs typeface="Bebas Neue" pitchFamily="34" charset="-120"/>
              </a:rPr>
              <a:t>THE STRATEGIC QUESTION</a:t>
            </a:r>
            <a:endParaRPr lang="en-US" sz="5800" dirty="0"/>
          </a:p>
        </p:txBody>
      </p:sp>
      <p:sp>
        <p:nvSpPr>
          <p:cNvPr id="3" name="Text 1"/>
          <p:cNvSpPr txBox="1"/>
          <p:nvPr/>
        </p:nvSpPr>
        <p:spPr>
          <a:xfrm>
            <a:off x="548640" y="1600200"/>
            <a:ext cx="5852160" cy="2377440"/>
          </a:xfrm>
          <a:prstGeom prst="rect">
            <a:avLst/>
          </a:prstGeom>
          <a:noFill/>
          <a:ln/>
        </p:spPr>
        <p:txBody>
          <a:bodyPr wrap="square" lIns="0" tIns="0" rIns="0" bIns="0" rtlCol="0" anchor="t"/>
          <a:lstStyle/>
          <a:p>
            <a:pPr indent="0" marL="0">
              <a:buNone/>
            </a:pPr>
            <a:r>
              <a:rPr lang="en-US" sz="2300" dirty="0">
                <a:solidFill>
                  <a:srgbClr val="1B1B1B"/>
                </a:solidFill>
                <a:latin typeface="Manrope" pitchFamily="34" charset="0"/>
                <a:ea typeface="Manrope" pitchFamily="34" charset="-122"/>
                <a:cs typeface="Manrope" pitchFamily="34" charset="-120"/>
              </a:rPr>
              <a:t>Apakah </a:t>
            </a:r>
            <a:r>
              <a:rPr lang="en-US" sz="2300" b="1" dirty="0">
                <a:solidFill>
                  <a:srgbClr val="1B1B1B"/>
                </a:solidFill>
                <a:highlight>
                  <a:srgbClr val="FFE066"/>
                </a:highlight>
                <a:latin typeface="Manrope" pitchFamily="34" charset="0"/>
                <a:ea typeface="Manrope" pitchFamily="34" charset="-122"/>
                <a:cs typeface="Manrope" pitchFamily="34" charset="-120"/>
              </a:rPr>
              <a:t>keunggulan biaya AirAsia dapat ditransfer</a:t>
            </a:r>
            <a:r>
              <a:rPr lang="en-US" sz="2300" dirty="0">
                <a:solidFill>
                  <a:srgbClr val="1B1B1B"/>
                </a:solidFill>
                <a:latin typeface="Manrope" pitchFamily="34" charset="0"/>
                <a:ea typeface="Manrope" pitchFamily="34" charset="-122"/>
                <a:cs typeface="Manrope" pitchFamily="34" charset="-120"/>
              </a:rPr>
              <a:t> ke rute jauh, dan bagaimana menata hubungan dengan AirAsia X agar </a:t>
            </a:r>
            <a:r>
              <a:rPr lang="en-US" sz="2300" b="1" dirty="0">
                <a:solidFill>
                  <a:srgbClr val="1B1B1B"/>
                </a:solidFill>
                <a:highlight>
                  <a:srgbClr val="FFE066"/>
                </a:highlight>
                <a:latin typeface="Manrope" pitchFamily="34" charset="0"/>
                <a:ea typeface="Manrope" pitchFamily="34" charset="-122"/>
                <a:cs typeface="Manrope" pitchFamily="34" charset="-120"/>
              </a:rPr>
              <a:t>eksplorasi (exploration)</a:t>
            </a:r>
            <a:r>
              <a:rPr lang="en-US" sz="2300" dirty="0">
                <a:solidFill>
                  <a:srgbClr val="1B1B1B"/>
                </a:solidFill>
                <a:latin typeface="Manrope" pitchFamily="34" charset="0"/>
                <a:ea typeface="Manrope" pitchFamily="34" charset="-122"/>
                <a:cs typeface="Manrope" pitchFamily="34" charset="-120"/>
              </a:rPr>
              <a:t> tidak mengganggu </a:t>
            </a:r>
            <a:r>
              <a:rPr lang="en-US" sz="2300" b="1" dirty="0">
                <a:solidFill>
                  <a:srgbClr val="1B1B1B"/>
                </a:solidFill>
                <a:highlight>
                  <a:srgbClr val="FFE066"/>
                </a:highlight>
                <a:latin typeface="Manrope" pitchFamily="34" charset="0"/>
                <a:ea typeface="Manrope" pitchFamily="34" charset="-122"/>
                <a:cs typeface="Manrope" pitchFamily="34" charset="-120"/>
              </a:rPr>
              <a:t>eksploitasi (exploitation)</a:t>
            </a:r>
            <a:r>
              <a:rPr lang="en-US" sz="2300" dirty="0">
                <a:solidFill>
                  <a:srgbClr val="1B1B1B"/>
                </a:solidFill>
                <a:latin typeface="Manrope" pitchFamily="34" charset="0"/>
                <a:ea typeface="Manrope" pitchFamily="34" charset="-122"/>
                <a:cs typeface="Manrope" pitchFamily="34" charset="-120"/>
              </a:rPr>
              <a:t>?</a:t>
            </a:r>
            <a:endParaRPr lang="en-US" sz="2300" dirty="0"/>
          </a:p>
        </p:txBody>
      </p:sp>
      <p:sp>
        <p:nvSpPr>
          <p:cNvPr id="4" name="Text 2"/>
          <p:cNvSpPr txBox="1"/>
          <p:nvPr/>
        </p:nvSpPr>
        <p:spPr>
          <a:xfrm>
            <a:off x="548640" y="4069080"/>
            <a:ext cx="5852160" cy="2011680"/>
          </a:xfrm>
          <a:prstGeom prst="rect">
            <a:avLst/>
          </a:prstGeom>
          <a:noFill/>
          <a:ln/>
        </p:spPr>
        <p:txBody>
          <a:bodyPr wrap="square" lIns="0" tIns="0" rIns="0" bIns="0" rtlCol="0" anchor="t"/>
          <a:lstStyle/>
          <a:p>
            <a:pPr indent="0" marL="0">
              <a:spcAft>
                <a:spcPts val="200"/>
              </a:spcAft>
              <a:buNone/>
            </a:pPr>
            <a:r>
              <a:rPr lang="en-US" sz="2100" b="1" dirty="0">
                <a:solidFill>
                  <a:srgbClr val="E63E2C"/>
                </a:solidFill>
                <a:latin typeface="Manrope" pitchFamily="34" charset="0"/>
                <a:ea typeface="Manrope" pitchFamily="34" charset="-122"/>
                <a:cs typeface="Manrope" pitchFamily="34" charset="-120"/>
              </a:rPr>
              <a:t>Tiga pilihan manajemen, pertengahan 2009:</a:t>
            </a:r>
            <a:endParaRPr lang="en-US" sz="2100" dirty="0"/>
          </a:p>
          <a:p>
            <a:pPr marL="342900" indent="-342900">
              <a:spcAft>
                <a:spcPts val="700"/>
              </a:spcAft>
              <a:buSzPct val="100000"/>
              <a:buChar char="■"/>
            </a:pPr>
            <a:r>
              <a:rPr lang="en-US" sz="2100" dirty="0">
                <a:solidFill>
                  <a:srgbClr val="1B1B1B"/>
                </a:solidFill>
                <a:latin typeface="Manrope" pitchFamily="34" charset="0"/>
                <a:ea typeface="Manrope" pitchFamily="34" charset="-122"/>
                <a:cs typeface="Manrope" pitchFamily="34" charset="-120"/>
              </a:rPr>
              <a:t>Merger AirAsia X ke dalam AirAsia</a:t>
            </a:r>
            <a:endParaRPr lang="en-US" sz="2100" dirty="0"/>
          </a:p>
          <a:p>
            <a:pPr marL="342900" indent="-342900">
              <a:spcAft>
                <a:spcPts val="700"/>
              </a:spcAft>
              <a:buSzPct val="100000"/>
              <a:buChar char="■"/>
            </a:pPr>
            <a:r>
              <a:rPr lang="en-US" sz="2100" dirty="0">
                <a:solidFill>
                  <a:srgbClr val="1B1B1B"/>
                </a:solidFill>
                <a:latin typeface="Manrope" pitchFamily="34" charset="0"/>
                <a:ea typeface="Manrope" pitchFamily="34" charset="-122"/>
                <a:cs typeface="Manrope" pitchFamily="34" charset="-120"/>
              </a:rPr>
              <a:t>Tetap terpisah dengan kontrak layanan</a:t>
            </a:r>
            <a:endParaRPr lang="en-US" sz="2100" dirty="0"/>
          </a:p>
          <a:p>
            <a:pPr marL="342900" indent="-342900">
              <a:spcAft>
                <a:spcPts val="700"/>
              </a:spcAft>
              <a:buSzPct val="100000"/>
              <a:buChar char="■"/>
            </a:pPr>
            <a:r>
              <a:rPr lang="en-US" sz="2100" dirty="0">
                <a:solidFill>
                  <a:srgbClr val="1B1B1B"/>
                </a:solidFill>
                <a:latin typeface="Manrope" pitchFamily="34" charset="0"/>
                <a:ea typeface="Manrope" pitchFamily="34" charset="-122"/>
                <a:cs typeface="Manrope" pitchFamily="34" charset="-120"/>
              </a:rPr>
              <a:t>Kembali fokus ke pasar regional</a:t>
            </a:r>
            <a:endParaRPr lang="en-US" sz="2100" dirty="0"/>
          </a:p>
        </p:txBody>
      </p:sp>
      <p:sp>
        <p:nvSpPr>
          <p:cNvPr id="5" name="Shape 3"/>
          <p:cNvSpPr/>
          <p:nvPr/>
        </p:nvSpPr>
        <p:spPr>
          <a:xfrm>
            <a:off x="7315200" y="1371600"/>
            <a:ext cx="2011680" cy="2011680"/>
          </a:xfrm>
          <a:prstGeom prst="ellipse">
            <a:avLst/>
          </a:prstGeom>
          <a:solidFill>
            <a:srgbClr val="2C7BB8"/>
          </a:solidFill>
          <a:ln w="12700">
            <a:solidFill>
              <a:srgbClr val="2C7BB8"/>
            </a:solidFill>
            <a:prstDash val="solid"/>
          </a:ln>
        </p:spPr>
      </p:sp>
      <p:sp>
        <p:nvSpPr>
          <p:cNvPr id="6" name="Shape 4"/>
          <p:cNvSpPr/>
          <p:nvPr/>
        </p:nvSpPr>
        <p:spPr>
          <a:xfrm>
            <a:off x="6949440" y="2377440"/>
            <a:ext cx="4846320" cy="3108960"/>
          </a:xfrm>
          <a:prstGeom prst="rect">
            <a:avLst/>
          </a:prstGeom>
          <a:solidFill>
            <a:srgbClr val="E63E2C"/>
          </a:solidFill>
          <a:ln w="12700">
            <a:solidFill>
              <a:srgbClr val="E63E2C"/>
            </a:solidFill>
            <a:prstDash val="solid"/>
          </a:ln>
        </p:spPr>
      </p:sp>
      <p:pic>
        <p:nvPicPr>
          <p:cNvPr id="7" name="Image 0" descr="/tmp/claude-0/-home-user-Dom-Manipulation/a70c4110-05d8-512e-ae11-d08dee025a7a/scratchpad/img/aa_a330.png">    </p:cNvPr>
          <p:cNvPicPr>
            <a:picLocks noChangeAspect="1"/>
          </p:cNvPicPr>
          <p:nvPr/>
        </p:nvPicPr>
        <p:blipFill>
          <a:blip r:embed="rId1"/>
          <a:srcRect l="0" r="0" t="0" b="0"/>
          <a:stretch/>
        </p:blipFill>
        <p:spPr>
          <a:xfrm>
            <a:off x="6766560" y="2194560"/>
            <a:ext cx="4846320" cy="3108960"/>
          </a:xfrm>
          <a:prstGeom prst="rect">
            <a:avLst/>
          </a:prstGeom>
        </p:spPr>
      </p:pic>
      <p:sp>
        <p:nvSpPr>
          <p:cNvPr id="8" name="Shape 5"/>
          <p:cNvSpPr/>
          <p:nvPr/>
        </p:nvSpPr>
        <p:spPr>
          <a:xfrm>
            <a:off x="10332720" y="5120640"/>
            <a:ext cx="1463040" cy="1463040"/>
          </a:xfrm>
          <a:prstGeom prst="ellipse">
            <a:avLst/>
          </a:prstGeom>
          <a:ln w="19050">
            <a:solidFill>
              <a:srgbClr val="1B1B1B"/>
            </a:solidFill>
            <a:prstDash val="sysDot"/>
          </a:ln>
        </p:spPr>
      </p:sp>
      <p:sp>
        <p:nvSpPr>
          <p:cNvPr id="9" name="Text 6"/>
          <p:cNvSpPr txBox="1"/>
          <p:nvPr/>
        </p:nvSpPr>
        <p:spPr>
          <a:xfrm>
            <a:off x="548640" y="6217920"/>
            <a:ext cx="10424160" cy="411480"/>
          </a:xfrm>
          <a:prstGeom prst="rect">
            <a:avLst/>
          </a:prstGeom>
          <a:noFill/>
          <a:ln/>
        </p:spPr>
        <p:txBody>
          <a:bodyPr wrap="square" lIns="0" tIns="0" rIns="0" bIns="0" rtlCol="0" anchor="ctr"/>
          <a:lstStyle/>
          <a:p>
            <a:pPr indent="0" marL="0">
              <a:buNone/>
            </a:pPr>
            <a:r>
              <a:rPr lang="en-US" sz="1100" dirty="0">
                <a:solidFill>
                  <a:srgbClr val="E63E2C"/>
                </a:solidFill>
                <a:latin typeface="Manrope" pitchFamily="34" charset="0"/>
                <a:ea typeface="Manrope" pitchFamily="34" charset="-122"/>
                <a:cs typeface="Manrope" pitchFamily="34" charset="-120"/>
              </a:rPr>
              <a:t>■  </a:t>
            </a:r>
            <a:r>
              <a:rPr lang="en-US" sz="1600" b="1" dirty="0">
                <a:solidFill>
                  <a:srgbClr val="1B1B1B"/>
                </a:solidFill>
                <a:latin typeface="Manrope" pitchFamily="34" charset="0"/>
                <a:ea typeface="Manrope" pitchFamily="34" charset="-122"/>
                <a:cs typeface="Manrope" pitchFamily="34" charset="-120"/>
              </a:rPr>
              <a:t>Selanjutnya  </a:t>
            </a:r>
            <a:r>
              <a:rPr lang="en-US" sz="1600" dirty="0">
                <a:solidFill>
                  <a:srgbClr val="4A4A4A"/>
                </a:solidFill>
                <a:latin typeface="Manrope" pitchFamily="34" charset="0"/>
                <a:ea typeface="Manrope" pitchFamily="34" charset="-122"/>
                <a:cs typeface="Manrope" pitchFamily="34" charset="-120"/>
              </a:rPr>
              <a:t>Tahap 2: membaca lingkungan eksternal lebih dulu.</a:t>
            </a:r>
            <a:endParaRPr lang="en-US" sz="1600" dirty="0"/>
          </a:p>
        </p:txBody>
      </p:sp>
      <p:sp>
        <p:nvSpPr>
          <p:cNvPr id="10" name="Text 7"/>
          <p:cNvSpPr txBox="1"/>
          <p:nvPr/>
        </p:nvSpPr>
        <p:spPr>
          <a:xfrm>
            <a:off x="11247120" y="6355080"/>
            <a:ext cx="548640" cy="320040"/>
          </a:xfrm>
          <a:prstGeom prst="rect">
            <a:avLst/>
          </a:prstGeom>
          <a:noFill/>
          <a:ln/>
        </p:spPr>
        <p:txBody>
          <a:bodyPr wrap="square" lIns="0" tIns="0" rIns="0" bIns="0" rtlCol="0" anchor="ctr"/>
          <a:lstStyle/>
          <a:p>
            <a:pPr algn="r" indent="0" marL="0">
              <a:buNone/>
            </a:pPr>
            <a:r>
              <a:rPr lang="en-US" sz="1200" b="1" dirty="0">
                <a:solidFill>
                  <a:srgbClr val="1B1B1B"/>
                </a:solidFill>
                <a:latin typeface="Manrope" pitchFamily="34" charset="0"/>
                <a:ea typeface="Manrope" pitchFamily="34" charset="-122"/>
                <a:cs typeface="Manrope"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E2CF"/>
        </a:solidFill>
      </p:bgPr>
    </p:bg>
    <p:spTree>
      <p:nvGrpSpPr>
        <p:cNvPr id="1" name=""/>
        <p:cNvGrpSpPr/>
        <p:nvPr/>
      </p:nvGrpSpPr>
      <p:grpSpPr>
        <a:xfrm>
          <a:off x="0" y="0"/>
          <a:ext cx="0" cy="0"/>
          <a:chOff x="0" y="0"/>
          <a:chExt cx="0" cy="0"/>
        </a:xfrm>
      </p:grpSpPr>
      <p:sp>
        <p:nvSpPr>
          <p:cNvPr id="2" name="Shape 0"/>
          <p:cNvSpPr/>
          <p:nvPr/>
        </p:nvSpPr>
        <p:spPr>
          <a:xfrm>
            <a:off x="548640" y="457200"/>
            <a:ext cx="5486400" cy="914400"/>
          </a:xfrm>
          <a:prstGeom prst="rect">
            <a:avLst/>
          </a:prstGeom>
          <a:solidFill>
            <a:srgbClr val="2C7BB8"/>
          </a:solidFill>
          <a:ln w="12700">
            <a:solidFill>
              <a:srgbClr val="2C7BB8"/>
            </a:solidFill>
            <a:prstDash val="solid"/>
          </a:ln>
        </p:spPr>
      </p:sp>
      <p:sp>
        <p:nvSpPr>
          <p:cNvPr id="3" name="Text 1"/>
          <p:cNvSpPr txBox="1"/>
          <p:nvPr/>
        </p:nvSpPr>
        <p:spPr>
          <a:xfrm>
            <a:off x="548640" y="457200"/>
            <a:ext cx="5486400" cy="914400"/>
          </a:xfrm>
          <a:prstGeom prst="rect">
            <a:avLst/>
          </a:prstGeom>
          <a:noFill/>
          <a:ln/>
        </p:spPr>
        <p:txBody>
          <a:bodyPr wrap="square" lIns="0" tIns="3810" rIns="3810" bIns="0" rtlCol="0" anchor="ctr"/>
          <a:lstStyle/>
          <a:p>
            <a:pPr indent="0" marL="0">
              <a:buNone/>
            </a:pPr>
            <a:r>
              <a:rPr lang="en-US" sz="4600" dirty="0">
                <a:solidFill>
                  <a:srgbClr val="FFFFFF"/>
                </a:solidFill>
                <a:latin typeface="Bebas Neue" pitchFamily="34" charset="0"/>
                <a:ea typeface="Bebas Neue" pitchFamily="34" charset="-122"/>
                <a:cs typeface="Bebas Neue" pitchFamily="34" charset="-120"/>
              </a:rPr>
              <a:t>PESTEL ANALYSIS</a:t>
            </a:r>
            <a:endParaRPr lang="en-US" sz="4600" dirty="0"/>
          </a:p>
        </p:txBody>
      </p:sp>
      <p:sp>
        <p:nvSpPr>
          <p:cNvPr id="4" name="Shape 2"/>
          <p:cNvSpPr/>
          <p:nvPr/>
        </p:nvSpPr>
        <p:spPr>
          <a:xfrm>
            <a:off x="548640" y="1691640"/>
            <a:ext cx="658368" cy="658368"/>
          </a:xfrm>
          <a:prstGeom prst="ellipse">
            <a:avLst/>
          </a:prstGeom>
          <a:solidFill>
            <a:srgbClr val="E63E2C"/>
          </a:solidFill>
          <a:ln w="12700">
            <a:solidFill>
              <a:srgbClr val="E63E2C"/>
            </a:solidFill>
            <a:prstDash val="solid"/>
          </a:ln>
        </p:spPr>
      </p:sp>
      <p:sp>
        <p:nvSpPr>
          <p:cNvPr id="5" name="Shape 3"/>
          <p:cNvSpPr/>
          <p:nvPr/>
        </p:nvSpPr>
        <p:spPr>
          <a:xfrm>
            <a:off x="1024128" y="2075688"/>
            <a:ext cx="292608" cy="292608"/>
          </a:xfrm>
          <a:prstGeom prst="rect">
            <a:avLst/>
          </a:prstGeom>
          <a:solidFill>
            <a:srgbClr val="1B1B1B"/>
          </a:solidFill>
          <a:ln w="12700">
            <a:solidFill>
              <a:srgbClr val="1B1B1B"/>
            </a:solidFill>
            <a:prstDash val="solid"/>
          </a:ln>
        </p:spPr>
      </p:sp>
      <p:sp>
        <p:nvSpPr>
          <p:cNvPr id="6" name="Text 4"/>
          <p:cNvSpPr txBox="1"/>
          <p:nvPr/>
        </p:nvSpPr>
        <p:spPr>
          <a:xfrm>
            <a:off x="548640" y="1691640"/>
            <a:ext cx="658368" cy="658368"/>
          </a:xfrm>
          <a:prstGeom prst="rect">
            <a:avLst/>
          </a:prstGeom>
          <a:noFill/>
          <a:ln/>
        </p:spPr>
        <p:txBody>
          <a:bodyPr wrap="square" lIns="0" tIns="0" rIns="0" bIns="0" rtlCol="0" anchor="ctr"/>
          <a:lstStyle/>
          <a:p>
            <a:pPr algn="ctr" indent="0" marL="0">
              <a:buNone/>
            </a:pPr>
            <a:r>
              <a:rPr lang="en-US" sz="2800" dirty="0">
                <a:solidFill>
                  <a:srgbClr val="FFFFFF"/>
                </a:solidFill>
                <a:latin typeface="Bebas Neue" pitchFamily="34" charset="0"/>
                <a:ea typeface="Bebas Neue" pitchFamily="34" charset="-122"/>
                <a:cs typeface="Bebas Neue" pitchFamily="34" charset="-120"/>
              </a:rPr>
              <a:t>P</a:t>
            </a:r>
            <a:endParaRPr lang="en-US" sz="2800" dirty="0"/>
          </a:p>
        </p:txBody>
      </p:sp>
      <p:sp>
        <p:nvSpPr>
          <p:cNvPr id="7" name="Text 5"/>
          <p:cNvSpPr txBox="1"/>
          <p:nvPr/>
        </p:nvSpPr>
        <p:spPr>
          <a:xfrm>
            <a:off x="1508760" y="1737360"/>
            <a:ext cx="2651760" cy="548640"/>
          </a:xfrm>
          <a:prstGeom prst="rect">
            <a:avLst/>
          </a:prstGeom>
          <a:noFill/>
          <a:ln/>
        </p:spPr>
        <p:txBody>
          <a:bodyPr wrap="square" lIns="0" tIns="0" rIns="0" bIns="0" rtlCol="0" anchor="ctr"/>
          <a:lstStyle/>
          <a:p>
            <a:pPr indent="0" marL="0">
              <a:buNone/>
            </a:pPr>
            <a:r>
              <a:rPr lang="en-US" sz="2800" dirty="0">
                <a:solidFill>
                  <a:srgbClr val="1B1B1B"/>
                </a:solidFill>
                <a:latin typeface="Bebas Neue" pitchFamily="34" charset="0"/>
                <a:ea typeface="Bebas Neue" pitchFamily="34" charset="-122"/>
                <a:cs typeface="Bebas Neue" pitchFamily="34" charset="-120"/>
              </a:rPr>
              <a:t>POLITIK</a:t>
            </a:r>
            <a:endParaRPr lang="en-US" sz="2800" dirty="0"/>
          </a:p>
        </p:txBody>
      </p:sp>
      <p:sp>
        <p:nvSpPr>
          <p:cNvPr id="8" name="Text 6"/>
          <p:cNvSpPr txBox="1"/>
          <p:nvPr/>
        </p:nvSpPr>
        <p:spPr>
          <a:xfrm>
            <a:off x="548640" y="2560320"/>
            <a:ext cx="3474720" cy="1188720"/>
          </a:xfrm>
          <a:prstGeom prst="rect">
            <a:avLst/>
          </a:prstGeom>
          <a:noFill/>
          <a:ln/>
        </p:spPr>
        <p:txBody>
          <a:bodyPr wrap="square" lIns="0" tIns="0" rIns="0" bIns="0" rtlCol="0" anchor="t"/>
          <a:lstStyle/>
          <a:p>
            <a:pPr indent="0" marL="0">
              <a:buNone/>
            </a:pPr>
            <a:r>
              <a:rPr lang="en-US" sz="2100" dirty="0">
                <a:solidFill>
                  <a:srgbClr val="1B1B1B"/>
                </a:solidFill>
                <a:latin typeface="Manrope" pitchFamily="34" charset="0"/>
                <a:ea typeface="Manrope" pitchFamily="34" charset="-122"/>
                <a:cs typeface="Manrope" pitchFamily="34" charset="-120"/>
              </a:rPr>
              <a:t>Dukungan pemerintah; rute jauh </a:t>
            </a:r>
            <a:r>
              <a:rPr lang="en-US" sz="2100" b="1" dirty="0">
                <a:solidFill>
                  <a:srgbClr val="1B1B1B"/>
                </a:solidFill>
                <a:highlight>
                  <a:srgbClr val="FFE066"/>
                </a:highlight>
                <a:latin typeface="Manrope" pitchFamily="34" charset="0"/>
                <a:ea typeface="Manrope" pitchFamily="34" charset="-122"/>
                <a:cs typeface="Manrope" pitchFamily="34" charset="-120"/>
              </a:rPr>
              <a:t>berhadapan dengan MAS</a:t>
            </a:r>
            <a:endParaRPr lang="en-US" sz="2100" dirty="0"/>
          </a:p>
        </p:txBody>
      </p:sp>
      <p:sp>
        <p:nvSpPr>
          <p:cNvPr id="9" name="Shape 7"/>
          <p:cNvSpPr/>
          <p:nvPr/>
        </p:nvSpPr>
        <p:spPr>
          <a:xfrm>
            <a:off x="4297680" y="1691640"/>
            <a:ext cx="658368" cy="658368"/>
          </a:xfrm>
          <a:prstGeom prst="ellipse">
            <a:avLst/>
          </a:prstGeom>
          <a:solidFill>
            <a:srgbClr val="2C7BB8"/>
          </a:solidFill>
          <a:ln w="12700">
            <a:solidFill>
              <a:srgbClr val="2C7BB8"/>
            </a:solidFill>
            <a:prstDash val="solid"/>
          </a:ln>
        </p:spPr>
      </p:sp>
      <p:sp>
        <p:nvSpPr>
          <p:cNvPr id="10" name="Shape 8"/>
          <p:cNvSpPr/>
          <p:nvPr/>
        </p:nvSpPr>
        <p:spPr>
          <a:xfrm>
            <a:off x="4773168" y="2075688"/>
            <a:ext cx="292608" cy="292608"/>
          </a:xfrm>
          <a:prstGeom prst="rect">
            <a:avLst/>
          </a:prstGeom>
          <a:solidFill>
            <a:srgbClr val="1B1B1B"/>
          </a:solidFill>
          <a:ln w="12700">
            <a:solidFill>
              <a:srgbClr val="1B1B1B"/>
            </a:solidFill>
            <a:prstDash val="solid"/>
          </a:ln>
        </p:spPr>
      </p:sp>
      <p:sp>
        <p:nvSpPr>
          <p:cNvPr id="11" name="Text 9"/>
          <p:cNvSpPr txBox="1"/>
          <p:nvPr/>
        </p:nvSpPr>
        <p:spPr>
          <a:xfrm>
            <a:off x="4297680" y="1691640"/>
            <a:ext cx="658368" cy="658368"/>
          </a:xfrm>
          <a:prstGeom prst="rect">
            <a:avLst/>
          </a:prstGeom>
          <a:noFill/>
          <a:ln/>
        </p:spPr>
        <p:txBody>
          <a:bodyPr wrap="square" lIns="0" tIns="0" rIns="0" bIns="0" rtlCol="0" anchor="ctr"/>
          <a:lstStyle/>
          <a:p>
            <a:pPr algn="ctr" indent="0" marL="0">
              <a:buNone/>
            </a:pPr>
            <a:r>
              <a:rPr lang="en-US" sz="2800" dirty="0">
                <a:solidFill>
                  <a:srgbClr val="FFFFFF"/>
                </a:solidFill>
                <a:latin typeface="Bebas Neue" pitchFamily="34" charset="0"/>
                <a:ea typeface="Bebas Neue" pitchFamily="34" charset="-122"/>
                <a:cs typeface="Bebas Neue" pitchFamily="34" charset="-120"/>
              </a:rPr>
              <a:t>E</a:t>
            </a:r>
            <a:endParaRPr lang="en-US" sz="2800" dirty="0"/>
          </a:p>
        </p:txBody>
      </p:sp>
      <p:sp>
        <p:nvSpPr>
          <p:cNvPr id="12" name="Text 10"/>
          <p:cNvSpPr txBox="1"/>
          <p:nvPr/>
        </p:nvSpPr>
        <p:spPr>
          <a:xfrm>
            <a:off x="5257800" y="1737360"/>
            <a:ext cx="2651760" cy="548640"/>
          </a:xfrm>
          <a:prstGeom prst="rect">
            <a:avLst/>
          </a:prstGeom>
          <a:noFill/>
          <a:ln/>
        </p:spPr>
        <p:txBody>
          <a:bodyPr wrap="square" lIns="0" tIns="0" rIns="0" bIns="0" rtlCol="0" anchor="ctr"/>
          <a:lstStyle/>
          <a:p>
            <a:pPr indent="0" marL="0">
              <a:buNone/>
            </a:pPr>
            <a:r>
              <a:rPr lang="en-US" sz="2800" dirty="0">
                <a:solidFill>
                  <a:srgbClr val="1B1B1B"/>
                </a:solidFill>
                <a:latin typeface="Bebas Neue" pitchFamily="34" charset="0"/>
                <a:ea typeface="Bebas Neue" pitchFamily="34" charset="-122"/>
                <a:cs typeface="Bebas Neue" pitchFamily="34" charset="-120"/>
              </a:rPr>
              <a:t>EKONOMI</a:t>
            </a:r>
            <a:endParaRPr lang="en-US" sz="2800" dirty="0"/>
          </a:p>
        </p:txBody>
      </p:sp>
      <p:sp>
        <p:nvSpPr>
          <p:cNvPr id="13" name="Text 11"/>
          <p:cNvSpPr txBox="1"/>
          <p:nvPr/>
        </p:nvSpPr>
        <p:spPr>
          <a:xfrm>
            <a:off x="4297680" y="2560320"/>
            <a:ext cx="3474720" cy="1188720"/>
          </a:xfrm>
          <a:prstGeom prst="rect">
            <a:avLst/>
          </a:prstGeom>
          <a:noFill/>
          <a:ln/>
        </p:spPr>
        <p:txBody>
          <a:bodyPr wrap="square" lIns="0" tIns="0" rIns="0" bIns="0" rtlCol="0" anchor="t"/>
          <a:lstStyle/>
          <a:p>
            <a:pPr indent="0" marL="0">
              <a:buNone/>
            </a:pPr>
            <a:r>
              <a:rPr lang="en-US" sz="2100" dirty="0">
                <a:solidFill>
                  <a:srgbClr val="1B1B1B"/>
                </a:solidFill>
                <a:latin typeface="Manrope" pitchFamily="34" charset="0"/>
                <a:ea typeface="Manrope" pitchFamily="34" charset="-122"/>
                <a:cs typeface="Manrope" pitchFamily="34" charset="-120"/>
              </a:rPr>
              <a:t>500 juta penduduk dalam 3,5 jam terbang; </a:t>
            </a:r>
            <a:r>
              <a:rPr lang="en-US" sz="2100" b="1" dirty="0">
                <a:solidFill>
                  <a:srgbClr val="1B1B1B"/>
                </a:solidFill>
                <a:highlight>
                  <a:srgbClr val="FFE066"/>
                </a:highlight>
                <a:latin typeface="Manrope" pitchFamily="34" charset="0"/>
                <a:ea typeface="Manrope" pitchFamily="34" charset="-122"/>
                <a:cs typeface="Manrope" pitchFamily="34" charset="-120"/>
              </a:rPr>
              <a:t>BBM 47% biaya</a:t>
            </a:r>
            <a:endParaRPr lang="en-US" sz="2100" dirty="0"/>
          </a:p>
        </p:txBody>
      </p:sp>
      <p:sp>
        <p:nvSpPr>
          <p:cNvPr id="14" name="Shape 12"/>
          <p:cNvSpPr/>
          <p:nvPr/>
        </p:nvSpPr>
        <p:spPr>
          <a:xfrm>
            <a:off x="8046720" y="1691640"/>
            <a:ext cx="658368" cy="658368"/>
          </a:xfrm>
          <a:prstGeom prst="ellipse">
            <a:avLst/>
          </a:prstGeom>
          <a:solidFill>
            <a:srgbClr val="F4C430"/>
          </a:solidFill>
          <a:ln w="12700">
            <a:solidFill>
              <a:srgbClr val="F4C430"/>
            </a:solidFill>
            <a:prstDash val="solid"/>
          </a:ln>
        </p:spPr>
      </p:sp>
      <p:sp>
        <p:nvSpPr>
          <p:cNvPr id="15" name="Shape 13"/>
          <p:cNvSpPr/>
          <p:nvPr/>
        </p:nvSpPr>
        <p:spPr>
          <a:xfrm>
            <a:off x="8522208" y="2075688"/>
            <a:ext cx="292608" cy="292608"/>
          </a:xfrm>
          <a:prstGeom prst="rect">
            <a:avLst/>
          </a:prstGeom>
          <a:solidFill>
            <a:srgbClr val="1B1B1B"/>
          </a:solidFill>
          <a:ln w="12700">
            <a:solidFill>
              <a:srgbClr val="1B1B1B"/>
            </a:solidFill>
            <a:prstDash val="solid"/>
          </a:ln>
        </p:spPr>
      </p:sp>
      <p:sp>
        <p:nvSpPr>
          <p:cNvPr id="16" name="Text 14"/>
          <p:cNvSpPr txBox="1"/>
          <p:nvPr/>
        </p:nvSpPr>
        <p:spPr>
          <a:xfrm>
            <a:off x="8046720" y="1691640"/>
            <a:ext cx="658368" cy="658368"/>
          </a:xfrm>
          <a:prstGeom prst="rect">
            <a:avLst/>
          </a:prstGeom>
          <a:noFill/>
          <a:ln/>
        </p:spPr>
        <p:txBody>
          <a:bodyPr wrap="square" lIns="0" tIns="0" rIns="0" bIns="0" rtlCol="0" anchor="ctr"/>
          <a:lstStyle/>
          <a:p>
            <a:pPr algn="ctr" indent="0" marL="0">
              <a:buNone/>
            </a:pPr>
            <a:r>
              <a:rPr lang="en-US" sz="2800" dirty="0">
                <a:solidFill>
                  <a:srgbClr val="1B1B1B"/>
                </a:solidFill>
                <a:latin typeface="Bebas Neue" pitchFamily="34" charset="0"/>
                <a:ea typeface="Bebas Neue" pitchFamily="34" charset="-122"/>
                <a:cs typeface="Bebas Neue" pitchFamily="34" charset="-120"/>
              </a:rPr>
              <a:t>S</a:t>
            </a:r>
            <a:endParaRPr lang="en-US" sz="2800" dirty="0"/>
          </a:p>
        </p:txBody>
      </p:sp>
      <p:sp>
        <p:nvSpPr>
          <p:cNvPr id="17" name="Text 15"/>
          <p:cNvSpPr txBox="1"/>
          <p:nvPr/>
        </p:nvSpPr>
        <p:spPr>
          <a:xfrm>
            <a:off x="9006840" y="1737360"/>
            <a:ext cx="2651760" cy="548640"/>
          </a:xfrm>
          <a:prstGeom prst="rect">
            <a:avLst/>
          </a:prstGeom>
          <a:noFill/>
          <a:ln/>
        </p:spPr>
        <p:txBody>
          <a:bodyPr wrap="square" lIns="0" tIns="0" rIns="0" bIns="0" rtlCol="0" anchor="ctr"/>
          <a:lstStyle/>
          <a:p>
            <a:pPr indent="0" marL="0">
              <a:buNone/>
            </a:pPr>
            <a:r>
              <a:rPr lang="en-US" sz="2800" dirty="0">
                <a:solidFill>
                  <a:srgbClr val="1B1B1B"/>
                </a:solidFill>
                <a:latin typeface="Bebas Neue" pitchFamily="34" charset="0"/>
                <a:ea typeface="Bebas Neue" pitchFamily="34" charset="-122"/>
                <a:cs typeface="Bebas Neue" pitchFamily="34" charset="-120"/>
              </a:rPr>
              <a:t>SOSIAL</a:t>
            </a:r>
            <a:endParaRPr lang="en-US" sz="2800" dirty="0"/>
          </a:p>
        </p:txBody>
      </p:sp>
      <p:sp>
        <p:nvSpPr>
          <p:cNvPr id="18" name="Text 16"/>
          <p:cNvSpPr txBox="1"/>
          <p:nvPr/>
        </p:nvSpPr>
        <p:spPr>
          <a:xfrm>
            <a:off x="8046720" y="2560320"/>
            <a:ext cx="3474720" cy="1188720"/>
          </a:xfrm>
          <a:prstGeom prst="rect">
            <a:avLst/>
          </a:prstGeom>
          <a:noFill/>
          <a:ln/>
        </p:spPr>
        <p:txBody>
          <a:bodyPr wrap="square" lIns="0" tIns="0" rIns="0" bIns="0" rtlCol="0" anchor="t"/>
          <a:lstStyle/>
          <a:p>
            <a:pPr indent="0" marL="0">
              <a:buNone/>
            </a:pPr>
            <a:r>
              <a:rPr lang="en-US" sz="2100" dirty="0">
                <a:solidFill>
                  <a:srgbClr val="1B1B1B"/>
                </a:solidFill>
                <a:latin typeface="Manrope" pitchFamily="34" charset="0"/>
                <a:ea typeface="Manrope" pitchFamily="34" charset="-122"/>
                <a:cs typeface="Manrope" pitchFamily="34" charset="-120"/>
              </a:rPr>
              <a:t>Segmen menengah </a:t>
            </a:r>
            <a:r>
              <a:rPr lang="en-US" sz="2100" b="1" dirty="0">
                <a:solidFill>
                  <a:srgbClr val="1B1B1B"/>
                </a:solidFill>
                <a:highlight>
                  <a:srgbClr val="FFE066"/>
                </a:highlight>
                <a:latin typeface="Manrope" pitchFamily="34" charset="0"/>
                <a:ea typeface="Manrope" pitchFamily="34" charset="-122"/>
                <a:cs typeface="Manrope" pitchFamily="34" charset="-120"/>
              </a:rPr>
              <a:t>kurang terlayani</a:t>
            </a:r>
            <a:r>
              <a:rPr lang="en-US" sz="2100" dirty="0">
                <a:solidFill>
                  <a:srgbClr val="1B1B1B"/>
                </a:solidFill>
                <a:latin typeface="Manrope" pitchFamily="34" charset="0"/>
                <a:ea typeface="Manrope" pitchFamily="34" charset="-122"/>
                <a:cs typeface="Manrope" pitchFamily="34" charset="-120"/>
              </a:rPr>
              <a:t>; pasar diperluas</a:t>
            </a:r>
            <a:endParaRPr lang="en-US" sz="2100" dirty="0"/>
          </a:p>
        </p:txBody>
      </p:sp>
      <p:sp>
        <p:nvSpPr>
          <p:cNvPr id="19" name="Shape 17"/>
          <p:cNvSpPr/>
          <p:nvPr/>
        </p:nvSpPr>
        <p:spPr>
          <a:xfrm>
            <a:off x="548640" y="3886200"/>
            <a:ext cx="658368" cy="658368"/>
          </a:xfrm>
          <a:prstGeom prst="ellipse">
            <a:avLst/>
          </a:prstGeom>
          <a:solidFill>
            <a:srgbClr val="1B1B1B"/>
          </a:solidFill>
          <a:ln w="12700">
            <a:solidFill>
              <a:srgbClr val="1B1B1B"/>
            </a:solidFill>
            <a:prstDash val="solid"/>
          </a:ln>
        </p:spPr>
      </p:sp>
      <p:sp>
        <p:nvSpPr>
          <p:cNvPr id="20" name="Shape 18"/>
          <p:cNvSpPr/>
          <p:nvPr/>
        </p:nvSpPr>
        <p:spPr>
          <a:xfrm>
            <a:off x="1024128" y="4270248"/>
            <a:ext cx="292608" cy="292608"/>
          </a:xfrm>
          <a:prstGeom prst="rect">
            <a:avLst/>
          </a:prstGeom>
          <a:solidFill>
            <a:srgbClr val="F4C430"/>
          </a:solidFill>
          <a:ln w="12700">
            <a:solidFill>
              <a:srgbClr val="F4C430"/>
            </a:solidFill>
            <a:prstDash val="solid"/>
          </a:ln>
        </p:spPr>
      </p:sp>
      <p:sp>
        <p:nvSpPr>
          <p:cNvPr id="21" name="Text 19"/>
          <p:cNvSpPr txBox="1"/>
          <p:nvPr/>
        </p:nvSpPr>
        <p:spPr>
          <a:xfrm>
            <a:off x="548640" y="3886200"/>
            <a:ext cx="658368" cy="658368"/>
          </a:xfrm>
          <a:prstGeom prst="rect">
            <a:avLst/>
          </a:prstGeom>
          <a:noFill/>
          <a:ln/>
        </p:spPr>
        <p:txBody>
          <a:bodyPr wrap="square" lIns="0" tIns="0" rIns="0" bIns="0" rtlCol="0" anchor="ctr"/>
          <a:lstStyle/>
          <a:p>
            <a:pPr algn="ctr" indent="0" marL="0">
              <a:buNone/>
            </a:pPr>
            <a:r>
              <a:rPr lang="en-US" sz="2800" dirty="0">
                <a:solidFill>
                  <a:srgbClr val="FFFFFF"/>
                </a:solidFill>
                <a:latin typeface="Bebas Neue" pitchFamily="34" charset="0"/>
                <a:ea typeface="Bebas Neue" pitchFamily="34" charset="-122"/>
                <a:cs typeface="Bebas Neue" pitchFamily="34" charset="-120"/>
              </a:rPr>
              <a:t>T</a:t>
            </a:r>
            <a:endParaRPr lang="en-US" sz="2800" dirty="0"/>
          </a:p>
        </p:txBody>
      </p:sp>
      <p:sp>
        <p:nvSpPr>
          <p:cNvPr id="22" name="Text 20"/>
          <p:cNvSpPr txBox="1"/>
          <p:nvPr/>
        </p:nvSpPr>
        <p:spPr>
          <a:xfrm>
            <a:off x="1508760" y="3931920"/>
            <a:ext cx="2651760" cy="548640"/>
          </a:xfrm>
          <a:prstGeom prst="rect">
            <a:avLst/>
          </a:prstGeom>
          <a:noFill/>
          <a:ln/>
        </p:spPr>
        <p:txBody>
          <a:bodyPr wrap="square" lIns="0" tIns="0" rIns="0" bIns="0" rtlCol="0" anchor="ctr"/>
          <a:lstStyle/>
          <a:p>
            <a:pPr indent="0" marL="0">
              <a:buNone/>
            </a:pPr>
            <a:r>
              <a:rPr lang="en-US" sz="2800" dirty="0">
                <a:solidFill>
                  <a:srgbClr val="1B1B1B"/>
                </a:solidFill>
                <a:latin typeface="Bebas Neue" pitchFamily="34" charset="0"/>
                <a:ea typeface="Bebas Neue" pitchFamily="34" charset="-122"/>
                <a:cs typeface="Bebas Neue" pitchFamily="34" charset="-120"/>
              </a:rPr>
              <a:t>TEKNOLOGI</a:t>
            </a:r>
            <a:endParaRPr lang="en-US" sz="2800" dirty="0"/>
          </a:p>
        </p:txBody>
      </p:sp>
      <p:sp>
        <p:nvSpPr>
          <p:cNvPr id="23" name="Text 21"/>
          <p:cNvSpPr txBox="1"/>
          <p:nvPr/>
        </p:nvSpPr>
        <p:spPr>
          <a:xfrm>
            <a:off x="548640" y="4754880"/>
            <a:ext cx="3474720" cy="1188720"/>
          </a:xfrm>
          <a:prstGeom prst="rect">
            <a:avLst/>
          </a:prstGeom>
          <a:noFill/>
          <a:ln/>
        </p:spPr>
        <p:txBody>
          <a:bodyPr wrap="square" lIns="0" tIns="0" rIns="0" bIns="0" rtlCol="0" anchor="t"/>
          <a:lstStyle/>
          <a:p>
            <a:pPr indent="0" marL="0">
              <a:buNone/>
            </a:pPr>
            <a:r>
              <a:rPr lang="en-US" sz="2100" dirty="0">
                <a:solidFill>
                  <a:srgbClr val="1B1B1B"/>
                </a:solidFill>
                <a:latin typeface="Manrope" pitchFamily="34" charset="0"/>
                <a:ea typeface="Manrope" pitchFamily="34" charset="-122"/>
                <a:cs typeface="Manrope" pitchFamily="34" charset="-120"/>
              </a:rPr>
              <a:t>Navitaire, yield management, ponsel; </a:t>
            </a:r>
            <a:r>
              <a:rPr lang="en-US" sz="2100" b="1" dirty="0">
                <a:solidFill>
                  <a:srgbClr val="1B1B1B"/>
                </a:solidFill>
                <a:highlight>
                  <a:srgbClr val="FFE066"/>
                </a:highlight>
                <a:latin typeface="Manrope" pitchFamily="34" charset="0"/>
                <a:ea typeface="Manrope" pitchFamily="34" charset="-122"/>
                <a:cs typeface="Manrope" pitchFamily="34" charset="-120"/>
              </a:rPr>
              <a:t>tanpa komisi agen</a:t>
            </a:r>
            <a:endParaRPr lang="en-US" sz="2100" dirty="0"/>
          </a:p>
        </p:txBody>
      </p:sp>
      <p:sp>
        <p:nvSpPr>
          <p:cNvPr id="24" name="Shape 22"/>
          <p:cNvSpPr/>
          <p:nvPr/>
        </p:nvSpPr>
        <p:spPr>
          <a:xfrm>
            <a:off x="4297680" y="3886200"/>
            <a:ext cx="658368" cy="658368"/>
          </a:xfrm>
          <a:prstGeom prst="ellipse">
            <a:avLst/>
          </a:prstGeom>
          <a:solidFill>
            <a:srgbClr val="E63E2C"/>
          </a:solidFill>
          <a:ln w="12700">
            <a:solidFill>
              <a:srgbClr val="E63E2C"/>
            </a:solidFill>
            <a:prstDash val="solid"/>
          </a:ln>
        </p:spPr>
      </p:sp>
      <p:sp>
        <p:nvSpPr>
          <p:cNvPr id="25" name="Shape 23"/>
          <p:cNvSpPr/>
          <p:nvPr/>
        </p:nvSpPr>
        <p:spPr>
          <a:xfrm>
            <a:off x="4773168" y="4270248"/>
            <a:ext cx="292608" cy="292608"/>
          </a:xfrm>
          <a:prstGeom prst="rect">
            <a:avLst/>
          </a:prstGeom>
          <a:solidFill>
            <a:srgbClr val="1B1B1B"/>
          </a:solidFill>
          <a:ln w="12700">
            <a:solidFill>
              <a:srgbClr val="1B1B1B"/>
            </a:solidFill>
            <a:prstDash val="solid"/>
          </a:ln>
        </p:spPr>
      </p:sp>
      <p:sp>
        <p:nvSpPr>
          <p:cNvPr id="26" name="Text 24"/>
          <p:cNvSpPr txBox="1"/>
          <p:nvPr/>
        </p:nvSpPr>
        <p:spPr>
          <a:xfrm>
            <a:off x="4297680" y="3886200"/>
            <a:ext cx="658368" cy="658368"/>
          </a:xfrm>
          <a:prstGeom prst="rect">
            <a:avLst/>
          </a:prstGeom>
          <a:noFill/>
          <a:ln/>
        </p:spPr>
        <p:txBody>
          <a:bodyPr wrap="square" lIns="0" tIns="0" rIns="0" bIns="0" rtlCol="0" anchor="ctr"/>
          <a:lstStyle/>
          <a:p>
            <a:pPr algn="ctr" indent="0" marL="0">
              <a:buNone/>
            </a:pPr>
            <a:r>
              <a:rPr lang="en-US" sz="2800" dirty="0">
                <a:solidFill>
                  <a:srgbClr val="FFFFFF"/>
                </a:solidFill>
                <a:latin typeface="Bebas Neue" pitchFamily="34" charset="0"/>
                <a:ea typeface="Bebas Neue" pitchFamily="34" charset="-122"/>
                <a:cs typeface="Bebas Neue" pitchFamily="34" charset="-120"/>
              </a:rPr>
              <a:t>E</a:t>
            </a:r>
            <a:endParaRPr lang="en-US" sz="2800" dirty="0"/>
          </a:p>
        </p:txBody>
      </p:sp>
      <p:sp>
        <p:nvSpPr>
          <p:cNvPr id="27" name="Text 25"/>
          <p:cNvSpPr txBox="1"/>
          <p:nvPr/>
        </p:nvSpPr>
        <p:spPr>
          <a:xfrm>
            <a:off x="5257800" y="3931920"/>
            <a:ext cx="2651760" cy="548640"/>
          </a:xfrm>
          <a:prstGeom prst="rect">
            <a:avLst/>
          </a:prstGeom>
          <a:noFill/>
          <a:ln/>
        </p:spPr>
        <p:txBody>
          <a:bodyPr wrap="square" lIns="0" tIns="0" rIns="0" bIns="0" rtlCol="0" anchor="ctr"/>
          <a:lstStyle/>
          <a:p>
            <a:pPr indent="0" marL="0">
              <a:buNone/>
            </a:pPr>
            <a:r>
              <a:rPr lang="en-US" sz="2800" dirty="0">
                <a:solidFill>
                  <a:srgbClr val="1B1B1B"/>
                </a:solidFill>
                <a:latin typeface="Bebas Neue" pitchFamily="34" charset="0"/>
                <a:ea typeface="Bebas Neue" pitchFamily="34" charset="-122"/>
                <a:cs typeface="Bebas Neue" pitchFamily="34" charset="-120"/>
              </a:rPr>
              <a:t>LINGKUNGAN</a:t>
            </a:r>
            <a:endParaRPr lang="en-US" sz="2800" dirty="0"/>
          </a:p>
        </p:txBody>
      </p:sp>
      <p:sp>
        <p:nvSpPr>
          <p:cNvPr id="28" name="Text 26"/>
          <p:cNvSpPr txBox="1"/>
          <p:nvPr/>
        </p:nvSpPr>
        <p:spPr>
          <a:xfrm>
            <a:off x="4297680" y="4754880"/>
            <a:ext cx="3474720" cy="1188720"/>
          </a:xfrm>
          <a:prstGeom prst="rect">
            <a:avLst/>
          </a:prstGeom>
          <a:noFill/>
          <a:ln/>
        </p:spPr>
        <p:txBody>
          <a:bodyPr wrap="square" lIns="0" tIns="0" rIns="0" bIns="0" rtlCol="0" anchor="t"/>
          <a:lstStyle/>
          <a:p>
            <a:pPr indent="0" marL="0">
              <a:buNone/>
            </a:pPr>
            <a:r>
              <a:rPr lang="en-US" sz="2100" dirty="0">
                <a:solidFill>
                  <a:srgbClr val="1B1B1B"/>
                </a:solidFill>
                <a:latin typeface="Manrope" pitchFamily="34" charset="0"/>
                <a:ea typeface="Manrope" pitchFamily="34" charset="-122"/>
                <a:cs typeface="Manrope" pitchFamily="34" charset="-120"/>
              </a:rPr>
              <a:t>A320 baru hemat BBM; </a:t>
            </a:r>
            <a:r>
              <a:rPr lang="en-US" sz="2100" b="1" dirty="0">
                <a:solidFill>
                  <a:srgbClr val="1B1B1B"/>
                </a:solidFill>
                <a:highlight>
                  <a:srgbClr val="FFE066"/>
                </a:highlight>
                <a:latin typeface="Manrope" pitchFamily="34" charset="0"/>
                <a:ea typeface="Manrope" pitchFamily="34" charset="-122"/>
                <a:cs typeface="Manrope" pitchFamily="34" charset="-120"/>
              </a:rPr>
              <a:t>A340 boros</a:t>
            </a:r>
            <a:r>
              <a:rPr lang="en-US" sz="2100" dirty="0">
                <a:solidFill>
                  <a:srgbClr val="1B1B1B"/>
                </a:solidFill>
                <a:latin typeface="Manrope" pitchFamily="34" charset="0"/>
                <a:ea typeface="Manrope" pitchFamily="34" charset="-122"/>
                <a:cs typeface="Manrope" pitchFamily="34" charset="-120"/>
              </a:rPr>
              <a:t> di rute jauh</a:t>
            </a:r>
            <a:endParaRPr lang="en-US" sz="2100" dirty="0"/>
          </a:p>
        </p:txBody>
      </p:sp>
      <p:sp>
        <p:nvSpPr>
          <p:cNvPr id="29" name="Shape 27"/>
          <p:cNvSpPr/>
          <p:nvPr/>
        </p:nvSpPr>
        <p:spPr>
          <a:xfrm>
            <a:off x="8046720" y="3886200"/>
            <a:ext cx="658368" cy="658368"/>
          </a:xfrm>
          <a:prstGeom prst="ellipse">
            <a:avLst/>
          </a:prstGeom>
          <a:solidFill>
            <a:srgbClr val="2C7BB8"/>
          </a:solidFill>
          <a:ln w="12700">
            <a:solidFill>
              <a:srgbClr val="2C7BB8"/>
            </a:solidFill>
            <a:prstDash val="solid"/>
          </a:ln>
        </p:spPr>
      </p:sp>
      <p:sp>
        <p:nvSpPr>
          <p:cNvPr id="30" name="Shape 28"/>
          <p:cNvSpPr/>
          <p:nvPr/>
        </p:nvSpPr>
        <p:spPr>
          <a:xfrm>
            <a:off x="8522208" y="4270248"/>
            <a:ext cx="292608" cy="292608"/>
          </a:xfrm>
          <a:prstGeom prst="rect">
            <a:avLst/>
          </a:prstGeom>
          <a:solidFill>
            <a:srgbClr val="1B1B1B"/>
          </a:solidFill>
          <a:ln w="12700">
            <a:solidFill>
              <a:srgbClr val="1B1B1B"/>
            </a:solidFill>
            <a:prstDash val="solid"/>
          </a:ln>
        </p:spPr>
      </p:sp>
      <p:sp>
        <p:nvSpPr>
          <p:cNvPr id="31" name="Text 29"/>
          <p:cNvSpPr txBox="1"/>
          <p:nvPr/>
        </p:nvSpPr>
        <p:spPr>
          <a:xfrm>
            <a:off x="8046720" y="3886200"/>
            <a:ext cx="658368" cy="658368"/>
          </a:xfrm>
          <a:prstGeom prst="rect">
            <a:avLst/>
          </a:prstGeom>
          <a:noFill/>
          <a:ln/>
        </p:spPr>
        <p:txBody>
          <a:bodyPr wrap="square" lIns="0" tIns="0" rIns="0" bIns="0" rtlCol="0" anchor="ctr"/>
          <a:lstStyle/>
          <a:p>
            <a:pPr algn="ctr" indent="0" marL="0">
              <a:buNone/>
            </a:pPr>
            <a:r>
              <a:rPr lang="en-US" sz="2800" dirty="0">
                <a:solidFill>
                  <a:srgbClr val="FFFFFF"/>
                </a:solidFill>
                <a:latin typeface="Bebas Neue" pitchFamily="34" charset="0"/>
                <a:ea typeface="Bebas Neue" pitchFamily="34" charset="-122"/>
                <a:cs typeface="Bebas Neue" pitchFamily="34" charset="-120"/>
              </a:rPr>
              <a:t>L</a:t>
            </a:r>
            <a:endParaRPr lang="en-US" sz="2800" dirty="0"/>
          </a:p>
        </p:txBody>
      </p:sp>
      <p:sp>
        <p:nvSpPr>
          <p:cNvPr id="32" name="Text 30"/>
          <p:cNvSpPr txBox="1"/>
          <p:nvPr/>
        </p:nvSpPr>
        <p:spPr>
          <a:xfrm>
            <a:off x="9006840" y="3931920"/>
            <a:ext cx="2651760" cy="548640"/>
          </a:xfrm>
          <a:prstGeom prst="rect">
            <a:avLst/>
          </a:prstGeom>
          <a:noFill/>
          <a:ln/>
        </p:spPr>
        <p:txBody>
          <a:bodyPr wrap="square" lIns="0" tIns="0" rIns="0" bIns="0" rtlCol="0" anchor="ctr"/>
          <a:lstStyle/>
          <a:p>
            <a:pPr indent="0" marL="0">
              <a:buNone/>
            </a:pPr>
            <a:r>
              <a:rPr lang="en-US" sz="2800" dirty="0">
                <a:solidFill>
                  <a:srgbClr val="1B1B1B"/>
                </a:solidFill>
                <a:latin typeface="Bebas Neue" pitchFamily="34" charset="0"/>
                <a:ea typeface="Bebas Neue" pitchFamily="34" charset="-122"/>
                <a:cs typeface="Bebas Neue" pitchFamily="34" charset="-120"/>
              </a:rPr>
              <a:t>LEGAL</a:t>
            </a:r>
            <a:endParaRPr lang="en-US" sz="2800" dirty="0"/>
          </a:p>
        </p:txBody>
      </p:sp>
      <p:sp>
        <p:nvSpPr>
          <p:cNvPr id="33" name="Text 31"/>
          <p:cNvSpPr txBox="1"/>
          <p:nvPr/>
        </p:nvSpPr>
        <p:spPr>
          <a:xfrm>
            <a:off x="8046720" y="4754880"/>
            <a:ext cx="3474720" cy="1188720"/>
          </a:xfrm>
          <a:prstGeom prst="rect">
            <a:avLst/>
          </a:prstGeom>
          <a:noFill/>
          <a:ln/>
        </p:spPr>
        <p:txBody>
          <a:bodyPr wrap="square" lIns="0" tIns="0" rIns="0" bIns="0" rtlCol="0" anchor="t"/>
          <a:lstStyle/>
          <a:p>
            <a:pPr indent="0" marL="0">
              <a:buNone/>
            </a:pPr>
            <a:r>
              <a:rPr lang="en-US" sz="2100" dirty="0">
                <a:solidFill>
                  <a:srgbClr val="1B1B1B"/>
                </a:solidFill>
                <a:latin typeface="Manrope" pitchFamily="34" charset="0"/>
                <a:ea typeface="Manrope" pitchFamily="34" charset="-122"/>
                <a:cs typeface="Manrope" pitchFamily="34" charset="-120"/>
              </a:rPr>
              <a:t>Deregulasi rute lintas negara; </a:t>
            </a:r>
            <a:r>
              <a:rPr lang="en-US" sz="2100" b="1" dirty="0">
                <a:solidFill>
                  <a:srgbClr val="1B1B1B"/>
                </a:solidFill>
                <a:highlight>
                  <a:srgbClr val="FFE066"/>
                </a:highlight>
                <a:latin typeface="Manrope" pitchFamily="34" charset="0"/>
                <a:ea typeface="Manrope" pitchFamily="34" charset="-122"/>
                <a:cs typeface="Manrope" pitchFamily="34" charset="-120"/>
              </a:rPr>
              <a:t>kepemilikan asing dibatasi</a:t>
            </a:r>
            <a:endParaRPr lang="en-US" sz="2100" dirty="0"/>
          </a:p>
        </p:txBody>
      </p:sp>
      <p:sp>
        <p:nvSpPr>
          <p:cNvPr id="34" name="Text 32"/>
          <p:cNvSpPr txBox="1"/>
          <p:nvPr/>
        </p:nvSpPr>
        <p:spPr>
          <a:xfrm>
            <a:off x="548640" y="6217920"/>
            <a:ext cx="10424160" cy="411480"/>
          </a:xfrm>
          <a:prstGeom prst="rect">
            <a:avLst/>
          </a:prstGeom>
          <a:noFill/>
          <a:ln/>
        </p:spPr>
        <p:txBody>
          <a:bodyPr wrap="square" lIns="0" tIns="0" rIns="0" bIns="0" rtlCol="0" anchor="ctr"/>
          <a:lstStyle/>
          <a:p>
            <a:pPr indent="0" marL="0">
              <a:buNone/>
            </a:pPr>
            <a:r>
              <a:rPr lang="en-US" sz="1100" dirty="0">
                <a:solidFill>
                  <a:srgbClr val="E63E2C"/>
                </a:solidFill>
                <a:latin typeface="Manrope" pitchFamily="34" charset="0"/>
                <a:ea typeface="Manrope" pitchFamily="34" charset="-122"/>
                <a:cs typeface="Manrope" pitchFamily="34" charset="-120"/>
              </a:rPr>
              <a:t>■  </a:t>
            </a:r>
            <a:r>
              <a:rPr lang="en-US" sz="1600" b="1" dirty="0">
                <a:solidFill>
                  <a:srgbClr val="1B1B1B"/>
                </a:solidFill>
                <a:latin typeface="Manrope" pitchFamily="34" charset="0"/>
                <a:ea typeface="Manrope" pitchFamily="34" charset="-122"/>
                <a:cs typeface="Manrope" pitchFamily="34" charset="-120"/>
              </a:rPr>
              <a:t>Selanjutnya  </a:t>
            </a:r>
            <a:r>
              <a:rPr lang="en-US" sz="1600" dirty="0">
                <a:solidFill>
                  <a:srgbClr val="4A4A4A"/>
                </a:solidFill>
                <a:latin typeface="Manrope" pitchFamily="34" charset="0"/>
                <a:ea typeface="Manrope" pitchFamily="34" charset="-122"/>
                <a:cs typeface="Manrope" pitchFamily="34" charset="-120"/>
              </a:rPr>
              <a:t>Peluang makro terbuka. Bisakah menjadi laba? Lihat struktur industrinya.</a:t>
            </a:r>
            <a:endParaRPr lang="en-US" sz="1600" dirty="0"/>
          </a:p>
        </p:txBody>
      </p:sp>
      <p:sp>
        <p:nvSpPr>
          <p:cNvPr id="35" name="Text 33"/>
          <p:cNvSpPr txBox="1"/>
          <p:nvPr/>
        </p:nvSpPr>
        <p:spPr>
          <a:xfrm>
            <a:off x="11247120" y="6355080"/>
            <a:ext cx="548640" cy="320040"/>
          </a:xfrm>
          <a:prstGeom prst="rect">
            <a:avLst/>
          </a:prstGeom>
          <a:noFill/>
          <a:ln/>
        </p:spPr>
        <p:txBody>
          <a:bodyPr wrap="square" lIns="0" tIns="0" rIns="0" bIns="0" rtlCol="0" anchor="ctr"/>
          <a:lstStyle/>
          <a:p>
            <a:pPr algn="r" indent="0" marL="0">
              <a:buNone/>
            </a:pPr>
            <a:r>
              <a:rPr lang="en-US" sz="1200" b="1" dirty="0">
                <a:solidFill>
                  <a:srgbClr val="1B1B1B"/>
                </a:solidFill>
                <a:latin typeface="Manrope" pitchFamily="34" charset="0"/>
                <a:ea typeface="Manrope" pitchFamily="34" charset="-122"/>
                <a:cs typeface="Manrope"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E2CF"/>
        </a:solidFill>
      </p:bgPr>
    </p:bg>
    <p:spTree>
      <p:nvGrpSpPr>
        <p:cNvPr id="1" name=""/>
        <p:cNvGrpSpPr/>
        <p:nvPr/>
      </p:nvGrpSpPr>
      <p:grpSpPr>
        <a:xfrm>
          <a:off x="0" y="0"/>
          <a:ext cx="0" cy="0"/>
          <a:chOff x="0" y="0"/>
          <a:chExt cx="0" cy="0"/>
        </a:xfrm>
      </p:grpSpPr>
      <p:sp>
        <p:nvSpPr>
          <p:cNvPr id="2" name="Text 0"/>
          <p:cNvSpPr txBox="1"/>
          <p:nvPr/>
        </p:nvSpPr>
        <p:spPr>
          <a:xfrm>
            <a:off x="548640" y="457200"/>
            <a:ext cx="10515600" cy="914400"/>
          </a:xfrm>
          <a:prstGeom prst="rect">
            <a:avLst/>
          </a:prstGeom>
          <a:noFill/>
          <a:ln/>
        </p:spPr>
        <p:txBody>
          <a:bodyPr wrap="square" lIns="0" tIns="0" rIns="0" bIns="0" rtlCol="0" anchor="ctr"/>
          <a:lstStyle/>
          <a:p>
            <a:pPr indent="0" marL="0">
              <a:buNone/>
            </a:pPr>
            <a:r>
              <a:rPr lang="en-US" sz="5800" dirty="0">
                <a:solidFill>
                  <a:srgbClr val="1B1B1B"/>
                </a:solidFill>
                <a:latin typeface="Bebas Neue" pitchFamily="34" charset="0"/>
                <a:ea typeface="Bebas Neue" pitchFamily="34" charset="-122"/>
                <a:cs typeface="Bebas Neue" pitchFamily="34" charset="-120"/>
              </a:rPr>
              <a:t>FIVE FORCES ANALYSIS</a:t>
            </a:r>
            <a:endParaRPr lang="en-US" sz="5800" dirty="0"/>
          </a:p>
        </p:txBody>
      </p:sp>
      <p:sp>
        <p:nvSpPr>
          <p:cNvPr id="3" name="Shape 1"/>
          <p:cNvSpPr/>
          <p:nvPr/>
        </p:nvSpPr>
        <p:spPr>
          <a:xfrm>
            <a:off x="2331720" y="2880360"/>
            <a:ext cx="1828800" cy="1828800"/>
          </a:xfrm>
          <a:prstGeom prst="ellipse">
            <a:avLst/>
          </a:prstGeom>
          <a:solidFill>
            <a:srgbClr val="1B1B1B"/>
          </a:solidFill>
          <a:ln w="12700">
            <a:solidFill>
              <a:srgbClr val="1B1B1B"/>
            </a:solidFill>
            <a:prstDash val="solid"/>
          </a:ln>
        </p:spPr>
      </p:sp>
      <p:sp>
        <p:nvSpPr>
          <p:cNvPr id="4" name="Text 2"/>
          <p:cNvSpPr txBox="1"/>
          <p:nvPr/>
        </p:nvSpPr>
        <p:spPr>
          <a:xfrm>
            <a:off x="2423160" y="2971800"/>
            <a:ext cx="1645920" cy="1645920"/>
          </a:xfrm>
          <a:prstGeom prst="rect">
            <a:avLst/>
          </a:prstGeom>
          <a:noFill/>
          <a:ln/>
        </p:spPr>
        <p:txBody>
          <a:bodyPr wrap="square" lIns="0" tIns="0" rIns="0" bIns="0" rtlCol="0" anchor="ctr"/>
          <a:lstStyle/>
          <a:p>
            <a:pPr algn="ctr" indent="0" marL="0">
              <a:buNone/>
            </a:pPr>
            <a:r>
              <a:rPr lang="en-US" sz="2800" dirty="0">
                <a:solidFill>
                  <a:srgbClr val="FFFFFF"/>
                </a:solidFill>
                <a:latin typeface="Bebas Neue" pitchFamily="34" charset="0"/>
                <a:ea typeface="Bebas Neue" pitchFamily="34" charset="-122"/>
                <a:cs typeface="Bebas Neue" pitchFamily="34" charset="-120"/>
              </a:rPr>
              <a:t>RIVALITAS</a:t>
            </a:r>
            <a:endParaRPr lang="en-US" sz="2800" dirty="0"/>
          </a:p>
          <a:p>
            <a:pPr algn="ctr" indent="0" marL="0">
              <a:buNone/>
            </a:pPr>
            <a:r>
              <a:rPr lang="en-US" sz="1500" b="1" dirty="0">
                <a:solidFill>
                  <a:srgbClr val="FFFFFF"/>
                </a:solidFill>
                <a:latin typeface="Manrope" pitchFamily="34" charset="0"/>
                <a:ea typeface="Manrope" pitchFamily="34" charset="-122"/>
                <a:cs typeface="Manrope" pitchFamily="34" charset="-120"/>
              </a:rPr>
              <a:t>TINGGI</a:t>
            </a:r>
            <a:endParaRPr lang="en-US" sz="2800" dirty="0"/>
          </a:p>
        </p:txBody>
      </p:sp>
      <p:sp>
        <p:nvSpPr>
          <p:cNvPr id="5" name="Shape 3"/>
          <p:cNvSpPr/>
          <p:nvPr/>
        </p:nvSpPr>
        <p:spPr>
          <a:xfrm>
            <a:off x="548640" y="1600200"/>
            <a:ext cx="1600200" cy="1600200"/>
          </a:xfrm>
          <a:prstGeom prst="ellipse">
            <a:avLst/>
          </a:prstGeom>
          <a:solidFill>
            <a:srgbClr val="E63E2C"/>
          </a:solidFill>
          <a:ln w="12700">
            <a:solidFill>
              <a:srgbClr val="E63E2C"/>
            </a:solidFill>
            <a:prstDash val="solid"/>
          </a:ln>
        </p:spPr>
      </p:sp>
      <p:sp>
        <p:nvSpPr>
          <p:cNvPr id="6" name="Text 4"/>
          <p:cNvSpPr txBox="1"/>
          <p:nvPr/>
        </p:nvSpPr>
        <p:spPr>
          <a:xfrm>
            <a:off x="640080" y="1691640"/>
            <a:ext cx="1417320" cy="1417320"/>
          </a:xfrm>
          <a:prstGeom prst="rect">
            <a:avLst/>
          </a:prstGeom>
          <a:noFill/>
          <a:ln/>
        </p:spPr>
        <p:txBody>
          <a:bodyPr wrap="square" lIns="0" tIns="0" rIns="0" bIns="0" rtlCol="0" anchor="ctr"/>
          <a:lstStyle/>
          <a:p>
            <a:pPr algn="ctr" indent="0" marL="0">
              <a:buNone/>
            </a:pPr>
            <a:r>
              <a:rPr lang="en-US" sz="2400" dirty="0">
                <a:solidFill>
                  <a:srgbClr val="FFFFFF"/>
                </a:solidFill>
                <a:latin typeface="Bebas Neue" pitchFamily="34" charset="0"/>
                <a:ea typeface="Bebas Neue" pitchFamily="34" charset="-122"/>
                <a:cs typeface="Bebas Neue" pitchFamily="34" charset="-120"/>
              </a:rPr>
              <a:t>PEMASOK</a:t>
            </a:r>
            <a:endParaRPr lang="en-US" sz="2400" dirty="0"/>
          </a:p>
          <a:p>
            <a:pPr algn="ctr" indent="0" marL="0">
              <a:buNone/>
            </a:pPr>
            <a:r>
              <a:rPr lang="en-US" sz="1500" b="1" dirty="0">
                <a:solidFill>
                  <a:srgbClr val="FFFFFF"/>
                </a:solidFill>
                <a:latin typeface="Manrope" pitchFamily="34" charset="0"/>
                <a:ea typeface="Manrope" pitchFamily="34" charset="-122"/>
                <a:cs typeface="Manrope" pitchFamily="34" charset="-120"/>
              </a:rPr>
              <a:t>TINGGI</a:t>
            </a:r>
            <a:endParaRPr lang="en-US" sz="2400" dirty="0"/>
          </a:p>
        </p:txBody>
      </p:sp>
      <p:sp>
        <p:nvSpPr>
          <p:cNvPr id="7" name="Shape 5"/>
          <p:cNvSpPr/>
          <p:nvPr/>
        </p:nvSpPr>
        <p:spPr>
          <a:xfrm>
            <a:off x="4343400" y="1600200"/>
            <a:ext cx="1600200" cy="1600200"/>
          </a:xfrm>
          <a:prstGeom prst="ellipse">
            <a:avLst/>
          </a:prstGeom>
          <a:solidFill>
            <a:srgbClr val="2C7BB8"/>
          </a:solidFill>
          <a:ln w="12700">
            <a:solidFill>
              <a:srgbClr val="2C7BB8"/>
            </a:solidFill>
            <a:prstDash val="solid"/>
          </a:ln>
        </p:spPr>
      </p:sp>
      <p:sp>
        <p:nvSpPr>
          <p:cNvPr id="8" name="Text 6"/>
          <p:cNvSpPr txBox="1"/>
          <p:nvPr/>
        </p:nvSpPr>
        <p:spPr>
          <a:xfrm>
            <a:off x="4434840" y="1691640"/>
            <a:ext cx="1417320" cy="1417320"/>
          </a:xfrm>
          <a:prstGeom prst="rect">
            <a:avLst/>
          </a:prstGeom>
          <a:noFill/>
          <a:ln/>
        </p:spPr>
        <p:txBody>
          <a:bodyPr wrap="square" lIns="0" tIns="0" rIns="0" bIns="0" rtlCol="0" anchor="ctr"/>
          <a:lstStyle/>
          <a:p>
            <a:pPr algn="ctr" indent="0" marL="0">
              <a:buNone/>
            </a:pPr>
            <a:r>
              <a:rPr lang="en-US" sz="2400" dirty="0">
                <a:solidFill>
                  <a:srgbClr val="FFFFFF"/>
                </a:solidFill>
                <a:latin typeface="Bebas Neue" pitchFamily="34" charset="0"/>
                <a:ea typeface="Bebas Neue" pitchFamily="34" charset="-122"/>
                <a:cs typeface="Bebas Neue" pitchFamily="34" charset="-120"/>
              </a:rPr>
              <a:t>PEMBELI</a:t>
            </a:r>
            <a:endParaRPr lang="en-US" sz="2400" dirty="0"/>
          </a:p>
          <a:p>
            <a:pPr algn="ctr" indent="0" marL="0">
              <a:buNone/>
            </a:pPr>
            <a:r>
              <a:rPr lang="en-US" sz="1500" b="1" dirty="0">
                <a:solidFill>
                  <a:srgbClr val="FFFFFF"/>
                </a:solidFill>
                <a:latin typeface="Manrope" pitchFamily="34" charset="0"/>
                <a:ea typeface="Manrope" pitchFamily="34" charset="-122"/>
                <a:cs typeface="Manrope" pitchFamily="34" charset="-120"/>
              </a:rPr>
              <a:t>TINGGI</a:t>
            </a:r>
            <a:endParaRPr lang="en-US" sz="2400" dirty="0"/>
          </a:p>
        </p:txBody>
      </p:sp>
      <p:sp>
        <p:nvSpPr>
          <p:cNvPr id="9" name="Shape 7"/>
          <p:cNvSpPr/>
          <p:nvPr/>
        </p:nvSpPr>
        <p:spPr>
          <a:xfrm>
            <a:off x="548640" y="4206240"/>
            <a:ext cx="1600200" cy="1600200"/>
          </a:xfrm>
          <a:prstGeom prst="ellipse">
            <a:avLst/>
          </a:prstGeom>
          <a:solidFill>
            <a:srgbClr val="F4C430"/>
          </a:solidFill>
          <a:ln w="12700">
            <a:solidFill>
              <a:srgbClr val="F4C430"/>
            </a:solidFill>
            <a:prstDash val="solid"/>
          </a:ln>
        </p:spPr>
      </p:sp>
      <p:sp>
        <p:nvSpPr>
          <p:cNvPr id="10" name="Text 8"/>
          <p:cNvSpPr txBox="1"/>
          <p:nvPr/>
        </p:nvSpPr>
        <p:spPr>
          <a:xfrm>
            <a:off x="640080" y="4297680"/>
            <a:ext cx="1417320" cy="1417320"/>
          </a:xfrm>
          <a:prstGeom prst="rect">
            <a:avLst/>
          </a:prstGeom>
          <a:noFill/>
          <a:ln/>
        </p:spPr>
        <p:txBody>
          <a:bodyPr wrap="square" lIns="0" tIns="0" rIns="0" bIns="0" rtlCol="0" anchor="ctr"/>
          <a:lstStyle/>
          <a:p>
            <a:pPr algn="ctr" indent="0" marL="0">
              <a:buNone/>
            </a:pPr>
            <a:r>
              <a:rPr lang="en-US" sz="2400" dirty="0">
                <a:solidFill>
                  <a:srgbClr val="1B1B1B"/>
                </a:solidFill>
                <a:latin typeface="Bebas Neue" pitchFamily="34" charset="0"/>
                <a:ea typeface="Bebas Neue" pitchFamily="34" charset="-122"/>
                <a:cs typeface="Bebas Neue" pitchFamily="34" charset="-120"/>
              </a:rPr>
              <a:t>PENDATANG</a:t>
            </a:r>
            <a:endParaRPr lang="en-US" sz="2400" dirty="0"/>
          </a:p>
          <a:p>
            <a:pPr algn="ctr" indent="0" marL="0">
              <a:buNone/>
            </a:pPr>
            <a:r>
              <a:rPr lang="en-US" sz="1500" b="1" dirty="0">
                <a:solidFill>
                  <a:srgbClr val="1B1B1B"/>
                </a:solidFill>
                <a:latin typeface="Manrope" pitchFamily="34" charset="0"/>
                <a:ea typeface="Manrope" pitchFamily="34" charset="-122"/>
                <a:cs typeface="Manrope" pitchFamily="34" charset="-120"/>
              </a:rPr>
              <a:t>SEDANG</a:t>
            </a:r>
            <a:endParaRPr lang="en-US" sz="2400" dirty="0"/>
          </a:p>
        </p:txBody>
      </p:sp>
      <p:sp>
        <p:nvSpPr>
          <p:cNvPr id="11" name="Shape 9"/>
          <p:cNvSpPr/>
          <p:nvPr/>
        </p:nvSpPr>
        <p:spPr>
          <a:xfrm>
            <a:off x="4343400" y="4206240"/>
            <a:ext cx="1600200" cy="1600200"/>
          </a:xfrm>
          <a:prstGeom prst="ellipse">
            <a:avLst/>
          </a:prstGeom>
          <a:solidFill>
            <a:srgbClr val="6B6B6B"/>
          </a:solidFill>
          <a:ln w="12700">
            <a:solidFill>
              <a:srgbClr val="6B6B6B"/>
            </a:solidFill>
            <a:prstDash val="solid"/>
          </a:ln>
        </p:spPr>
      </p:sp>
      <p:sp>
        <p:nvSpPr>
          <p:cNvPr id="12" name="Text 10"/>
          <p:cNvSpPr txBox="1"/>
          <p:nvPr/>
        </p:nvSpPr>
        <p:spPr>
          <a:xfrm>
            <a:off x="4434840" y="4297680"/>
            <a:ext cx="1417320" cy="1417320"/>
          </a:xfrm>
          <a:prstGeom prst="rect">
            <a:avLst/>
          </a:prstGeom>
          <a:noFill/>
          <a:ln/>
        </p:spPr>
        <p:txBody>
          <a:bodyPr wrap="square" lIns="0" tIns="0" rIns="0" bIns="0" rtlCol="0" anchor="ctr"/>
          <a:lstStyle/>
          <a:p>
            <a:pPr algn="ctr" indent="0" marL="0">
              <a:buNone/>
            </a:pPr>
            <a:r>
              <a:rPr lang="en-US" sz="2200" dirty="0">
                <a:solidFill>
                  <a:srgbClr val="FFFFFF"/>
                </a:solidFill>
                <a:latin typeface="Bebas Neue" pitchFamily="34" charset="0"/>
                <a:ea typeface="Bebas Neue" pitchFamily="34" charset="-122"/>
                <a:cs typeface="Bebas Neue" pitchFamily="34" charset="-120"/>
              </a:rPr>
              <a:t>SUBSTITUSI</a:t>
            </a:r>
            <a:endParaRPr lang="en-US" sz="2200" dirty="0"/>
          </a:p>
          <a:p>
            <a:pPr algn="ctr" indent="0" marL="0">
              <a:buNone/>
            </a:pPr>
            <a:r>
              <a:rPr lang="en-US" sz="1500" b="1" dirty="0">
                <a:solidFill>
                  <a:srgbClr val="FFFFFF"/>
                </a:solidFill>
                <a:latin typeface="Manrope" pitchFamily="34" charset="0"/>
                <a:ea typeface="Manrope" pitchFamily="34" charset="-122"/>
                <a:cs typeface="Manrope" pitchFamily="34" charset="-120"/>
              </a:rPr>
              <a:t>SEDANG / RENDAH</a:t>
            </a:r>
            <a:endParaRPr lang="en-US" sz="2200" dirty="0"/>
          </a:p>
        </p:txBody>
      </p:sp>
      <p:sp>
        <p:nvSpPr>
          <p:cNvPr id="13" name="Shape 11"/>
          <p:cNvSpPr/>
          <p:nvPr/>
        </p:nvSpPr>
        <p:spPr>
          <a:xfrm>
            <a:off x="6931152" y="1719072"/>
            <a:ext cx="4846320" cy="2377440"/>
          </a:xfrm>
          <a:prstGeom prst="rect">
            <a:avLst/>
          </a:prstGeom>
          <a:solidFill>
            <a:srgbClr val="E63E2C"/>
          </a:solidFill>
          <a:ln w="12700">
            <a:solidFill>
              <a:srgbClr val="E63E2C"/>
            </a:solidFill>
            <a:prstDash val="solid"/>
          </a:ln>
        </p:spPr>
      </p:sp>
      <p:pic>
        <p:nvPicPr>
          <p:cNvPr id="14" name="Image 0" descr="/tmp/claude-0/-home-user-Dom-Manipulation/a70c4110-05d8-512e-ae11-d08dee025a7a/scratchpad/img/aa_fuel.jpg">    </p:cNvPr>
          <p:cNvPicPr>
            <a:picLocks noChangeAspect="1"/>
          </p:cNvPicPr>
          <p:nvPr/>
        </p:nvPicPr>
        <p:blipFill>
          <a:blip r:embed="rId1"/>
          <a:srcRect l="0" r="0" t="0" b="0"/>
          <a:stretch/>
        </p:blipFill>
        <p:spPr>
          <a:xfrm>
            <a:off x="6766560" y="1554480"/>
            <a:ext cx="4846320" cy="2377440"/>
          </a:xfrm>
          <a:prstGeom prst="rect">
            <a:avLst/>
          </a:prstGeom>
        </p:spPr>
      </p:pic>
      <p:sp>
        <p:nvSpPr>
          <p:cNvPr id="15" name="Text 12"/>
          <p:cNvSpPr txBox="1"/>
          <p:nvPr/>
        </p:nvSpPr>
        <p:spPr>
          <a:xfrm>
            <a:off x="6766560" y="4206240"/>
            <a:ext cx="4846320" cy="1920240"/>
          </a:xfrm>
          <a:prstGeom prst="rect">
            <a:avLst/>
          </a:prstGeom>
          <a:noFill/>
          <a:ln/>
        </p:spPr>
        <p:txBody>
          <a:bodyPr wrap="square" lIns="0" tIns="0" rIns="0" bIns="0" rtlCol="0" anchor="t"/>
          <a:lstStyle/>
          <a:p>
            <a:pPr indent="0" marL="0">
              <a:buNone/>
            </a:pPr>
            <a:r>
              <a:rPr lang="en-US" sz="2100" b="1" dirty="0">
                <a:solidFill>
                  <a:srgbClr val="1B1B1B"/>
                </a:solidFill>
                <a:highlight>
                  <a:srgbClr val="FFE066"/>
                </a:highlight>
                <a:latin typeface="Manrope" pitchFamily="34" charset="0"/>
                <a:ea typeface="Manrope" pitchFamily="34" charset="-122"/>
                <a:cs typeface="Manrope" pitchFamily="34" charset="-120"/>
              </a:rPr>
              <a:t>Industri kurang atraktif.</a:t>
            </a:r>
            <a:r>
              <a:rPr lang="en-US" sz="2100" dirty="0">
                <a:solidFill>
                  <a:srgbClr val="1B1B1B"/>
                </a:solidFill>
                <a:latin typeface="Manrope" pitchFamily="34" charset="0"/>
                <a:ea typeface="Manrope" pitchFamily="34" charset="-122"/>
                <a:cs typeface="Manrope" pitchFamily="34" charset="-120"/>
              </a:rPr>
              <a:t> Laba lahir dari </a:t>
            </a:r>
            <a:r>
              <a:rPr lang="en-US" sz="2100" b="1" dirty="0">
                <a:solidFill>
                  <a:srgbClr val="1B1B1B"/>
                </a:solidFill>
                <a:highlight>
                  <a:srgbClr val="FFE066"/>
                </a:highlight>
                <a:latin typeface="Manrope" pitchFamily="34" charset="0"/>
                <a:ea typeface="Manrope" pitchFamily="34" charset="-122"/>
                <a:cs typeface="Manrope" pitchFamily="34" charset="-120"/>
              </a:rPr>
              <a:t>posisi biaya perusahaan</a:t>
            </a:r>
            <a:r>
              <a:rPr lang="en-US" sz="2100" dirty="0">
                <a:solidFill>
                  <a:srgbClr val="1B1B1B"/>
                </a:solidFill>
                <a:latin typeface="Manrope" pitchFamily="34" charset="0"/>
                <a:ea typeface="Manrope" pitchFamily="34" charset="-122"/>
                <a:cs typeface="Manrope" pitchFamily="34" charset="-120"/>
              </a:rPr>
              <a:t>, sesuai logika Structure Conduct Performance. Bahan bakar dan pesawat tidak bisa dikendalikan; yang bisa dikendalikan hanya </a:t>
            </a:r>
            <a:r>
              <a:rPr lang="en-US" sz="2100" b="1" dirty="0">
                <a:solidFill>
                  <a:srgbClr val="1B1B1B"/>
                </a:solidFill>
                <a:highlight>
                  <a:srgbClr val="FFE066"/>
                </a:highlight>
                <a:latin typeface="Manrope" pitchFamily="34" charset="0"/>
                <a:ea typeface="Manrope" pitchFamily="34" charset="-122"/>
                <a:cs typeface="Manrope" pitchFamily="34" charset="-120"/>
              </a:rPr>
              <a:t>struktur biaya sendiri</a:t>
            </a:r>
            <a:r>
              <a:rPr lang="en-US" sz="2100" dirty="0">
                <a:solidFill>
                  <a:srgbClr val="1B1B1B"/>
                </a:solidFill>
                <a:latin typeface="Manrope" pitchFamily="34" charset="0"/>
                <a:ea typeface="Manrope" pitchFamily="34" charset="-122"/>
                <a:cs typeface="Manrope" pitchFamily="34" charset="-120"/>
              </a:rPr>
              <a:t>.</a:t>
            </a:r>
            <a:endParaRPr lang="en-US" sz="2100" dirty="0"/>
          </a:p>
        </p:txBody>
      </p:sp>
      <p:sp>
        <p:nvSpPr>
          <p:cNvPr id="16" name="Text 13"/>
          <p:cNvSpPr txBox="1"/>
          <p:nvPr/>
        </p:nvSpPr>
        <p:spPr>
          <a:xfrm>
            <a:off x="548640" y="6217920"/>
            <a:ext cx="10424160" cy="411480"/>
          </a:xfrm>
          <a:prstGeom prst="rect">
            <a:avLst/>
          </a:prstGeom>
          <a:noFill/>
          <a:ln/>
        </p:spPr>
        <p:txBody>
          <a:bodyPr wrap="square" lIns="0" tIns="0" rIns="0" bIns="0" rtlCol="0" anchor="ctr"/>
          <a:lstStyle/>
          <a:p>
            <a:pPr indent="0" marL="0">
              <a:buNone/>
            </a:pPr>
            <a:r>
              <a:rPr lang="en-US" sz="1100" dirty="0">
                <a:solidFill>
                  <a:srgbClr val="E63E2C"/>
                </a:solidFill>
                <a:latin typeface="Manrope" pitchFamily="34" charset="0"/>
                <a:ea typeface="Manrope" pitchFamily="34" charset="-122"/>
                <a:cs typeface="Manrope" pitchFamily="34" charset="-120"/>
              </a:rPr>
              <a:t>■  </a:t>
            </a:r>
            <a:r>
              <a:rPr lang="en-US" sz="1600" b="1" dirty="0">
                <a:solidFill>
                  <a:srgbClr val="1B1B1B"/>
                </a:solidFill>
                <a:latin typeface="Manrope" pitchFamily="34" charset="0"/>
                <a:ea typeface="Manrope" pitchFamily="34" charset="-122"/>
                <a:cs typeface="Manrope" pitchFamily="34" charset="-120"/>
              </a:rPr>
              <a:t>Selanjutnya  </a:t>
            </a:r>
            <a:r>
              <a:rPr lang="en-US" sz="1600" dirty="0">
                <a:solidFill>
                  <a:srgbClr val="4A4A4A"/>
                </a:solidFill>
                <a:latin typeface="Manrope" pitchFamily="34" charset="0"/>
                <a:ea typeface="Manrope" pitchFamily="34" charset="-122"/>
                <a:cs typeface="Manrope" pitchFamily="34" charset="-120"/>
              </a:rPr>
              <a:t>Laba langka. Apa yang mengubah struktur ini, dan siapa yang menang?</a:t>
            </a:r>
            <a:endParaRPr lang="en-US" sz="1600" dirty="0"/>
          </a:p>
        </p:txBody>
      </p:sp>
      <p:sp>
        <p:nvSpPr>
          <p:cNvPr id="17" name="Text 14"/>
          <p:cNvSpPr txBox="1"/>
          <p:nvPr/>
        </p:nvSpPr>
        <p:spPr>
          <a:xfrm>
            <a:off x="11247120" y="6355080"/>
            <a:ext cx="548640" cy="320040"/>
          </a:xfrm>
          <a:prstGeom prst="rect">
            <a:avLst/>
          </a:prstGeom>
          <a:noFill/>
          <a:ln/>
        </p:spPr>
        <p:txBody>
          <a:bodyPr wrap="square" lIns="0" tIns="0" rIns="0" bIns="0" rtlCol="0" anchor="ctr"/>
          <a:lstStyle/>
          <a:p>
            <a:pPr algn="r" indent="0" marL="0">
              <a:buNone/>
            </a:pPr>
            <a:r>
              <a:rPr lang="en-US" sz="1200" b="1" dirty="0">
                <a:solidFill>
                  <a:srgbClr val="1B1B1B"/>
                </a:solidFill>
                <a:latin typeface="Manrope" pitchFamily="34" charset="0"/>
                <a:ea typeface="Manrope" pitchFamily="34" charset="-122"/>
                <a:cs typeface="Manrope"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E2CF"/>
        </a:solidFill>
      </p:bgPr>
    </p:bg>
    <p:spTree>
      <p:nvGrpSpPr>
        <p:cNvPr id="1" name=""/>
        <p:cNvGrpSpPr/>
        <p:nvPr/>
      </p:nvGrpSpPr>
      <p:grpSpPr>
        <a:xfrm>
          <a:off x="0" y="0"/>
          <a:ext cx="0" cy="0"/>
          <a:chOff x="0" y="0"/>
          <a:chExt cx="0" cy="0"/>
        </a:xfrm>
      </p:grpSpPr>
      <p:sp>
        <p:nvSpPr>
          <p:cNvPr id="2" name="Text 0"/>
          <p:cNvSpPr txBox="1"/>
          <p:nvPr/>
        </p:nvSpPr>
        <p:spPr>
          <a:xfrm>
            <a:off x="548640" y="457200"/>
            <a:ext cx="10515600" cy="914400"/>
          </a:xfrm>
          <a:prstGeom prst="rect">
            <a:avLst/>
          </a:prstGeom>
          <a:noFill/>
          <a:ln/>
        </p:spPr>
        <p:txBody>
          <a:bodyPr wrap="square" lIns="0" tIns="0" rIns="0" bIns="0" rtlCol="0" anchor="ctr"/>
          <a:lstStyle/>
          <a:p>
            <a:pPr indent="0" marL="0">
              <a:buNone/>
            </a:pPr>
            <a:r>
              <a:rPr lang="en-US" sz="5800" dirty="0">
                <a:solidFill>
                  <a:srgbClr val="1B1B1B"/>
                </a:solidFill>
                <a:latin typeface="Bebas Neue" pitchFamily="34" charset="0"/>
                <a:ea typeface="Bebas Neue" pitchFamily="34" charset="-122"/>
                <a:cs typeface="Bebas Neue" pitchFamily="34" charset="-120"/>
              </a:rPr>
              <a:t>DRIVING FORCES AND KEY SUCCESS FACTORS</a:t>
            </a:r>
            <a:endParaRPr lang="en-US" sz="5800" dirty="0"/>
          </a:p>
        </p:txBody>
      </p:sp>
      <p:sp>
        <p:nvSpPr>
          <p:cNvPr id="3" name="Text 1"/>
          <p:cNvSpPr txBox="1"/>
          <p:nvPr/>
        </p:nvSpPr>
        <p:spPr>
          <a:xfrm>
            <a:off x="548640" y="1600200"/>
            <a:ext cx="3566160" cy="548640"/>
          </a:xfrm>
          <a:prstGeom prst="rect">
            <a:avLst/>
          </a:prstGeom>
          <a:noFill/>
          <a:ln/>
        </p:spPr>
        <p:txBody>
          <a:bodyPr wrap="square" lIns="0" tIns="0" rIns="0" bIns="0" rtlCol="0" anchor="ctr"/>
          <a:lstStyle/>
          <a:p>
            <a:pPr indent="0" marL="0">
              <a:buNone/>
            </a:pPr>
            <a:r>
              <a:rPr lang="en-US" sz="3000" dirty="0">
                <a:solidFill>
                  <a:srgbClr val="E63E2C"/>
                </a:solidFill>
                <a:latin typeface="Bebas Neue" pitchFamily="34" charset="0"/>
                <a:ea typeface="Bebas Neue" pitchFamily="34" charset="-122"/>
                <a:cs typeface="Bebas Neue" pitchFamily="34" charset="-120"/>
              </a:rPr>
              <a:t>KEKUATAN PENDORONG</a:t>
            </a:r>
            <a:endParaRPr lang="en-US" sz="3000" dirty="0"/>
          </a:p>
        </p:txBody>
      </p:sp>
      <p:sp>
        <p:nvSpPr>
          <p:cNvPr id="4" name="Text 2"/>
          <p:cNvSpPr txBox="1"/>
          <p:nvPr/>
        </p:nvSpPr>
        <p:spPr>
          <a:xfrm>
            <a:off x="548640" y="2194560"/>
            <a:ext cx="3291840" cy="3566160"/>
          </a:xfrm>
          <a:prstGeom prst="rect">
            <a:avLst/>
          </a:prstGeom>
          <a:noFill/>
          <a:ln/>
        </p:spPr>
        <p:txBody>
          <a:bodyPr wrap="square" lIns="0" tIns="0" rIns="0" bIns="0" rtlCol="0" anchor="t"/>
          <a:lstStyle/>
          <a:p>
            <a:pPr marL="342900" indent="-342900">
              <a:spcAft>
                <a:spcPts val="700"/>
              </a:spcAft>
              <a:buSzPct val="100000"/>
              <a:buChar char="●"/>
            </a:pPr>
            <a:r>
              <a:rPr lang="en-US" sz="2100" b="1" dirty="0">
                <a:solidFill>
                  <a:srgbClr val="1B1B1B"/>
                </a:solidFill>
                <a:highlight>
                  <a:srgbClr val="FFE066"/>
                </a:highlight>
                <a:latin typeface="Manrope" pitchFamily="34" charset="0"/>
                <a:ea typeface="Manrope" pitchFamily="34" charset="-122"/>
                <a:cs typeface="Manrope" pitchFamily="34" charset="-120"/>
              </a:rPr>
              <a:t>Deregulasi</a:t>
            </a:r>
            <a:r>
              <a:rPr lang="en-US" sz="2100" dirty="0">
                <a:solidFill>
                  <a:srgbClr val="1B1B1B"/>
                </a:solidFill>
                <a:latin typeface="Manrope" pitchFamily="34" charset="0"/>
                <a:ea typeface="Manrope" pitchFamily="34" charset="-122"/>
                <a:cs typeface="Manrope" pitchFamily="34" charset="-120"/>
              </a:rPr>
              <a:t> regional</a:t>
            </a:r>
            <a:endParaRPr lang="en-US" sz="2100" dirty="0"/>
          </a:p>
          <a:p>
            <a:pPr marL="342900" indent="-342900">
              <a:spcAft>
                <a:spcPts val="700"/>
              </a:spcAft>
              <a:buSzPct val="100000"/>
              <a:buChar char="●"/>
            </a:pPr>
            <a:r>
              <a:rPr lang="en-US" sz="2100" b="1" dirty="0">
                <a:solidFill>
                  <a:srgbClr val="1B1B1B"/>
                </a:solidFill>
                <a:highlight>
                  <a:srgbClr val="FFE066"/>
                </a:highlight>
                <a:latin typeface="Manrope" pitchFamily="34" charset="0"/>
                <a:ea typeface="Manrope" pitchFamily="34" charset="-122"/>
                <a:cs typeface="Manrope" pitchFamily="34" charset="-120"/>
              </a:rPr>
              <a:t>Distribusi langsung</a:t>
            </a:r>
            <a:endParaRPr lang="en-US" sz="2100" dirty="0"/>
          </a:p>
          <a:p>
            <a:pPr marL="342900" indent="-342900">
              <a:spcAft>
                <a:spcPts val="700"/>
              </a:spcAft>
              <a:buSzPct val="100000"/>
              <a:buChar char="●"/>
            </a:pPr>
            <a:r>
              <a:rPr lang="en-US" sz="2100" dirty="0">
                <a:solidFill>
                  <a:srgbClr val="1B1B1B"/>
                </a:solidFill>
                <a:latin typeface="Manrope" pitchFamily="34" charset="0"/>
                <a:ea typeface="Manrope" pitchFamily="34" charset="-122"/>
                <a:cs typeface="Manrope" pitchFamily="34" charset="-120"/>
              </a:rPr>
              <a:t>Harga </a:t>
            </a:r>
            <a:r>
              <a:rPr lang="en-US" sz="2100" b="1" dirty="0">
                <a:solidFill>
                  <a:srgbClr val="1B1B1B"/>
                </a:solidFill>
                <a:highlight>
                  <a:srgbClr val="FFE066"/>
                </a:highlight>
                <a:latin typeface="Manrope" pitchFamily="34" charset="0"/>
                <a:ea typeface="Manrope" pitchFamily="34" charset="-122"/>
                <a:cs typeface="Manrope" pitchFamily="34" charset="-120"/>
              </a:rPr>
              <a:t>bahan bakar</a:t>
            </a:r>
            <a:endParaRPr lang="en-US" sz="2100" dirty="0"/>
          </a:p>
          <a:p>
            <a:pPr marL="342900" indent="-342900">
              <a:spcAft>
                <a:spcPts val="700"/>
              </a:spcAft>
              <a:buSzPct val="100000"/>
              <a:buChar char="●"/>
            </a:pPr>
            <a:r>
              <a:rPr lang="en-US" sz="2100" dirty="0">
                <a:solidFill>
                  <a:srgbClr val="1B1B1B"/>
                </a:solidFill>
                <a:latin typeface="Manrope" pitchFamily="34" charset="0"/>
                <a:ea typeface="Manrope" pitchFamily="34" charset="-122"/>
                <a:cs typeface="Manrope" pitchFamily="34" charset="-120"/>
              </a:rPr>
              <a:t>Kelas menengah Asia</a:t>
            </a:r>
            <a:endParaRPr lang="en-US" sz="2100" dirty="0"/>
          </a:p>
          <a:p>
            <a:pPr marL="342900" indent="-342900">
              <a:spcAft>
                <a:spcPts val="700"/>
              </a:spcAft>
              <a:buSzPct val="100000"/>
              <a:buChar char="●"/>
            </a:pPr>
            <a:r>
              <a:rPr lang="en-US" sz="2100" dirty="0">
                <a:solidFill>
                  <a:srgbClr val="1B1B1B"/>
                </a:solidFill>
                <a:latin typeface="Manrope" pitchFamily="34" charset="0"/>
                <a:ea typeface="Manrope" pitchFamily="34" charset="-122"/>
                <a:cs typeface="Manrope" pitchFamily="34" charset="-120"/>
              </a:rPr>
              <a:t>LCC ke rute jauh</a:t>
            </a:r>
            <a:endParaRPr lang="en-US" sz="2100" dirty="0"/>
          </a:p>
        </p:txBody>
      </p:sp>
      <p:sp>
        <p:nvSpPr>
          <p:cNvPr id="5" name="Text 3"/>
          <p:cNvSpPr txBox="1"/>
          <p:nvPr/>
        </p:nvSpPr>
        <p:spPr>
          <a:xfrm>
            <a:off x="4114800" y="1600200"/>
            <a:ext cx="3291840" cy="548640"/>
          </a:xfrm>
          <a:prstGeom prst="rect">
            <a:avLst/>
          </a:prstGeom>
          <a:noFill/>
          <a:ln/>
        </p:spPr>
        <p:txBody>
          <a:bodyPr wrap="square" lIns="0" tIns="0" rIns="0" bIns="0" rtlCol="0" anchor="ctr"/>
          <a:lstStyle/>
          <a:p>
            <a:pPr indent="0" marL="0">
              <a:buNone/>
            </a:pPr>
            <a:r>
              <a:rPr lang="en-US" sz="3000" dirty="0">
                <a:solidFill>
                  <a:srgbClr val="2C7BB8"/>
                </a:solidFill>
                <a:latin typeface="Bebas Neue" pitchFamily="34" charset="0"/>
                <a:ea typeface="Bebas Neue" pitchFamily="34" charset="-122"/>
                <a:cs typeface="Bebas Neue" pitchFamily="34" charset="-120"/>
              </a:rPr>
              <a:t>FAKTOR KUNCI</a:t>
            </a:r>
            <a:endParaRPr lang="en-US" sz="3000" dirty="0"/>
          </a:p>
        </p:txBody>
      </p:sp>
      <p:sp>
        <p:nvSpPr>
          <p:cNvPr id="6" name="Text 4"/>
          <p:cNvSpPr txBox="1"/>
          <p:nvPr/>
        </p:nvSpPr>
        <p:spPr>
          <a:xfrm>
            <a:off x="4114800" y="2194560"/>
            <a:ext cx="3291840" cy="3566160"/>
          </a:xfrm>
          <a:prstGeom prst="rect">
            <a:avLst/>
          </a:prstGeom>
          <a:noFill/>
          <a:ln/>
        </p:spPr>
        <p:txBody>
          <a:bodyPr wrap="square" lIns="0" tIns="0" rIns="0" bIns="0" rtlCol="0" anchor="t"/>
          <a:lstStyle/>
          <a:p>
            <a:pPr marL="342900" indent="-342900">
              <a:spcAft>
                <a:spcPts val="700"/>
              </a:spcAft>
              <a:buSzPct val="100000"/>
              <a:buChar char="●"/>
            </a:pPr>
            <a:r>
              <a:rPr lang="en-US" sz="2100" b="1" dirty="0">
                <a:solidFill>
                  <a:srgbClr val="1B1B1B"/>
                </a:solidFill>
                <a:highlight>
                  <a:srgbClr val="FFE066"/>
                </a:highlight>
                <a:latin typeface="Manrope" pitchFamily="34" charset="0"/>
                <a:ea typeface="Manrope" pitchFamily="34" charset="-122"/>
                <a:cs typeface="Manrope" pitchFamily="34" charset="-120"/>
              </a:rPr>
              <a:t>Biaya per ASK</a:t>
            </a:r>
            <a:r>
              <a:rPr lang="en-US" sz="2100" dirty="0">
                <a:solidFill>
                  <a:srgbClr val="1B1B1B"/>
                </a:solidFill>
                <a:latin typeface="Manrope" pitchFamily="34" charset="0"/>
                <a:ea typeface="Manrope" pitchFamily="34" charset="-122"/>
                <a:cs typeface="Manrope" pitchFamily="34" charset="-120"/>
              </a:rPr>
              <a:t> terendah</a:t>
            </a:r>
            <a:endParaRPr lang="en-US" sz="2100" dirty="0"/>
          </a:p>
          <a:p>
            <a:pPr marL="342900" indent="-342900">
              <a:spcAft>
                <a:spcPts val="700"/>
              </a:spcAft>
              <a:buSzPct val="100000"/>
              <a:buChar char="●"/>
            </a:pPr>
            <a:r>
              <a:rPr lang="en-US" sz="2100" b="1" dirty="0">
                <a:solidFill>
                  <a:srgbClr val="1B1B1B"/>
                </a:solidFill>
                <a:highlight>
                  <a:srgbClr val="FFE066"/>
                </a:highlight>
                <a:latin typeface="Manrope" pitchFamily="34" charset="0"/>
                <a:ea typeface="Manrope" pitchFamily="34" charset="-122"/>
                <a:cs typeface="Manrope" pitchFamily="34" charset="-120"/>
              </a:rPr>
              <a:t>Utilisasi</a:t>
            </a:r>
            <a:r>
              <a:rPr lang="en-US" sz="2100" dirty="0">
                <a:solidFill>
                  <a:srgbClr val="1B1B1B"/>
                </a:solidFill>
                <a:latin typeface="Manrope" pitchFamily="34" charset="0"/>
                <a:ea typeface="Manrope" pitchFamily="34" charset="-122"/>
                <a:cs typeface="Manrope" pitchFamily="34" charset="-120"/>
              </a:rPr>
              <a:t> tinggi</a:t>
            </a:r>
            <a:endParaRPr lang="en-US" sz="2100" dirty="0"/>
          </a:p>
          <a:p>
            <a:pPr marL="342900" indent="-342900">
              <a:spcAft>
                <a:spcPts val="700"/>
              </a:spcAft>
              <a:buSzPct val="100000"/>
              <a:buChar char="●"/>
            </a:pPr>
            <a:r>
              <a:rPr lang="en-US" sz="2100" b="1" dirty="0">
                <a:solidFill>
                  <a:srgbClr val="1B1B1B"/>
                </a:solidFill>
                <a:highlight>
                  <a:srgbClr val="FFE066"/>
                </a:highlight>
                <a:latin typeface="Manrope" pitchFamily="34" charset="0"/>
                <a:ea typeface="Manrope" pitchFamily="34" charset="-122"/>
                <a:cs typeface="Manrope" pitchFamily="34" charset="-120"/>
              </a:rPr>
              <a:t>Load factor</a:t>
            </a:r>
            <a:r>
              <a:rPr lang="en-US" sz="2100" dirty="0">
                <a:solidFill>
                  <a:srgbClr val="1B1B1B"/>
                </a:solidFill>
                <a:latin typeface="Manrope" pitchFamily="34" charset="0"/>
                <a:ea typeface="Manrope" pitchFamily="34" charset="-122"/>
                <a:cs typeface="Manrope" pitchFamily="34" charset="-120"/>
              </a:rPr>
              <a:t> tinggi</a:t>
            </a:r>
            <a:endParaRPr lang="en-US" sz="2100" dirty="0"/>
          </a:p>
          <a:p>
            <a:pPr marL="342900" indent="-342900">
              <a:spcAft>
                <a:spcPts val="700"/>
              </a:spcAft>
              <a:buSzPct val="100000"/>
              <a:buChar char="●"/>
            </a:pPr>
            <a:r>
              <a:rPr lang="en-US" sz="2100" dirty="0">
                <a:solidFill>
                  <a:srgbClr val="1B1B1B"/>
                </a:solidFill>
                <a:latin typeface="Manrope" pitchFamily="34" charset="0"/>
                <a:ea typeface="Manrope" pitchFamily="34" charset="-122"/>
                <a:cs typeface="Manrope" pitchFamily="34" charset="-120"/>
              </a:rPr>
              <a:t>Operasi sederhana</a:t>
            </a:r>
            <a:endParaRPr lang="en-US" sz="2100" dirty="0"/>
          </a:p>
          <a:p>
            <a:pPr marL="342900" indent="-342900">
              <a:spcAft>
                <a:spcPts val="700"/>
              </a:spcAft>
              <a:buSzPct val="100000"/>
              <a:buChar char="●"/>
            </a:pPr>
            <a:r>
              <a:rPr lang="en-US" sz="2100" dirty="0">
                <a:solidFill>
                  <a:srgbClr val="1B1B1B"/>
                </a:solidFill>
                <a:latin typeface="Manrope" pitchFamily="34" charset="0"/>
                <a:ea typeface="Manrope" pitchFamily="34" charset="-122"/>
                <a:cs typeface="Manrope" pitchFamily="34" charset="-120"/>
              </a:rPr>
              <a:t>Merek dipercaya</a:t>
            </a:r>
            <a:endParaRPr lang="en-US" sz="2100" dirty="0"/>
          </a:p>
          <a:p>
            <a:pPr marL="342900" indent="-342900">
              <a:spcAft>
                <a:spcPts val="700"/>
              </a:spcAft>
              <a:buSzPct val="100000"/>
              <a:buChar char="●"/>
            </a:pPr>
            <a:r>
              <a:rPr lang="en-US" sz="2100" dirty="0">
                <a:solidFill>
                  <a:srgbClr val="1B1B1B"/>
                </a:solidFill>
                <a:latin typeface="Manrope" pitchFamily="34" charset="0"/>
                <a:ea typeface="Manrope" pitchFamily="34" charset="-122"/>
                <a:cs typeface="Manrope" pitchFamily="34" charset="-120"/>
              </a:rPr>
              <a:t>SDM produktif</a:t>
            </a:r>
            <a:endParaRPr lang="en-US" sz="2100" dirty="0"/>
          </a:p>
        </p:txBody>
      </p:sp>
      <p:sp>
        <p:nvSpPr>
          <p:cNvPr id="7" name="Shape 5"/>
          <p:cNvSpPr/>
          <p:nvPr/>
        </p:nvSpPr>
        <p:spPr>
          <a:xfrm>
            <a:off x="7936992" y="1764792"/>
            <a:ext cx="3840480" cy="2926080"/>
          </a:xfrm>
          <a:prstGeom prst="rect">
            <a:avLst/>
          </a:prstGeom>
          <a:solidFill>
            <a:srgbClr val="F4C430"/>
          </a:solidFill>
          <a:ln w="12700">
            <a:solidFill>
              <a:srgbClr val="F4C430"/>
            </a:solidFill>
            <a:prstDash val="solid"/>
          </a:ln>
        </p:spPr>
      </p:sp>
      <p:pic>
        <p:nvPicPr>
          <p:cNvPr id="8" name="Image 0" descr="/tmp/claude-0/-home-user-Dom-Manipulation/a70c4110-05d8-512e-ae11-d08dee025a7a/scratchpad/img/aa_turnaround.jpg">    </p:cNvPr>
          <p:cNvPicPr>
            <a:picLocks noChangeAspect="1"/>
          </p:cNvPicPr>
          <p:nvPr/>
        </p:nvPicPr>
        <p:blipFill>
          <a:blip r:embed="rId1"/>
          <a:srcRect l="0" r="0" t="0" b="0"/>
          <a:stretch/>
        </p:blipFill>
        <p:spPr>
          <a:xfrm>
            <a:off x="7772400" y="1600200"/>
            <a:ext cx="3840480" cy="2926080"/>
          </a:xfrm>
          <a:prstGeom prst="rect">
            <a:avLst/>
          </a:prstGeom>
        </p:spPr>
      </p:pic>
      <p:sp>
        <p:nvSpPr>
          <p:cNvPr id="9" name="Text 6"/>
          <p:cNvSpPr txBox="1"/>
          <p:nvPr/>
        </p:nvSpPr>
        <p:spPr>
          <a:xfrm>
            <a:off x="7772400" y="4754880"/>
            <a:ext cx="3840480" cy="1097280"/>
          </a:xfrm>
          <a:prstGeom prst="rect">
            <a:avLst/>
          </a:prstGeom>
          <a:noFill/>
          <a:ln/>
        </p:spPr>
        <p:txBody>
          <a:bodyPr wrap="square" lIns="0" tIns="0" rIns="0" bIns="0" rtlCol="0" anchor="t"/>
          <a:lstStyle/>
          <a:p>
            <a:pPr indent="0" marL="0">
              <a:buNone/>
            </a:pPr>
            <a:r>
              <a:rPr lang="en-US" sz="1600" i="1" dirty="0">
                <a:solidFill>
                  <a:srgbClr val="4A4A4A"/>
                </a:solidFill>
                <a:latin typeface="Manrope" pitchFamily="34" charset="0"/>
                <a:ea typeface="Manrope" pitchFamily="34" charset="-122"/>
                <a:cs typeface="Manrope" pitchFamily="34" charset="-120"/>
              </a:rPr>
              <a:t>Turnaround 25 menit: utilisasi tinggi dimulai dari kesibukan di gate.</a:t>
            </a:r>
            <a:endParaRPr lang="en-US" sz="1600" dirty="0"/>
          </a:p>
        </p:txBody>
      </p:sp>
      <p:sp>
        <p:nvSpPr>
          <p:cNvPr id="10" name="Text 7"/>
          <p:cNvSpPr txBox="1"/>
          <p:nvPr/>
        </p:nvSpPr>
        <p:spPr>
          <a:xfrm>
            <a:off x="548640" y="6217920"/>
            <a:ext cx="10424160" cy="411480"/>
          </a:xfrm>
          <a:prstGeom prst="rect">
            <a:avLst/>
          </a:prstGeom>
          <a:noFill/>
          <a:ln/>
        </p:spPr>
        <p:txBody>
          <a:bodyPr wrap="square" lIns="0" tIns="0" rIns="0" bIns="0" rtlCol="0" anchor="ctr"/>
          <a:lstStyle/>
          <a:p>
            <a:pPr indent="0" marL="0">
              <a:buNone/>
            </a:pPr>
            <a:r>
              <a:rPr lang="en-US" sz="1100" dirty="0">
                <a:solidFill>
                  <a:srgbClr val="E63E2C"/>
                </a:solidFill>
                <a:latin typeface="Manrope" pitchFamily="34" charset="0"/>
                <a:ea typeface="Manrope" pitchFamily="34" charset="-122"/>
                <a:cs typeface="Manrope" pitchFamily="34" charset="-120"/>
              </a:rPr>
              <a:t>■  </a:t>
            </a:r>
            <a:r>
              <a:rPr lang="en-US" sz="1600" b="1" dirty="0">
                <a:solidFill>
                  <a:srgbClr val="1B1B1B"/>
                </a:solidFill>
                <a:latin typeface="Manrope" pitchFamily="34" charset="0"/>
                <a:ea typeface="Manrope" pitchFamily="34" charset="-122"/>
                <a:cs typeface="Manrope" pitchFamily="34" charset="-120"/>
              </a:rPr>
              <a:t>Selanjutnya  </a:t>
            </a:r>
            <a:r>
              <a:rPr lang="en-US" sz="1600" dirty="0">
                <a:solidFill>
                  <a:srgbClr val="4A4A4A"/>
                </a:solidFill>
                <a:latin typeface="Manrope" pitchFamily="34" charset="0"/>
                <a:ea typeface="Manrope" pitchFamily="34" charset="-122"/>
                <a:cs typeface="Manrope" pitchFamily="34" charset="-120"/>
              </a:rPr>
              <a:t>Tolok ukur siap. Di kelompok pesaing mana AirAsia dan AirAsia X berada?</a:t>
            </a:r>
            <a:endParaRPr lang="en-US" sz="1600" dirty="0"/>
          </a:p>
        </p:txBody>
      </p:sp>
      <p:sp>
        <p:nvSpPr>
          <p:cNvPr id="11" name="Text 8"/>
          <p:cNvSpPr txBox="1"/>
          <p:nvPr/>
        </p:nvSpPr>
        <p:spPr>
          <a:xfrm>
            <a:off x="11247120" y="6355080"/>
            <a:ext cx="548640" cy="320040"/>
          </a:xfrm>
          <a:prstGeom prst="rect">
            <a:avLst/>
          </a:prstGeom>
          <a:noFill/>
          <a:ln/>
        </p:spPr>
        <p:txBody>
          <a:bodyPr wrap="square" lIns="0" tIns="0" rIns="0" bIns="0" rtlCol="0" anchor="ctr"/>
          <a:lstStyle/>
          <a:p>
            <a:pPr algn="r" indent="0" marL="0">
              <a:buNone/>
            </a:pPr>
            <a:r>
              <a:rPr lang="en-US" sz="1200" b="1" dirty="0">
                <a:solidFill>
                  <a:srgbClr val="1B1B1B"/>
                </a:solidFill>
                <a:latin typeface="Manrope" pitchFamily="34" charset="0"/>
                <a:ea typeface="Manrope" pitchFamily="34" charset="-122"/>
                <a:cs typeface="Manrope"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E2CF"/>
        </a:solidFill>
      </p:bgPr>
    </p:bg>
    <p:spTree>
      <p:nvGrpSpPr>
        <p:cNvPr id="1" name=""/>
        <p:cNvGrpSpPr/>
        <p:nvPr/>
      </p:nvGrpSpPr>
      <p:grpSpPr>
        <a:xfrm>
          <a:off x="0" y="0"/>
          <a:ext cx="0" cy="0"/>
          <a:chOff x="0" y="0"/>
          <a:chExt cx="0" cy="0"/>
        </a:xfrm>
      </p:grpSpPr>
      <p:sp>
        <p:nvSpPr>
          <p:cNvPr id="2" name="Text 0"/>
          <p:cNvSpPr txBox="1"/>
          <p:nvPr/>
        </p:nvSpPr>
        <p:spPr>
          <a:xfrm>
            <a:off x="548640" y="457200"/>
            <a:ext cx="10515600" cy="914400"/>
          </a:xfrm>
          <a:prstGeom prst="rect">
            <a:avLst/>
          </a:prstGeom>
          <a:noFill/>
          <a:ln/>
        </p:spPr>
        <p:txBody>
          <a:bodyPr wrap="square" lIns="0" tIns="0" rIns="0" bIns="0" rtlCol="0" anchor="ctr"/>
          <a:lstStyle/>
          <a:p>
            <a:pPr indent="0" marL="0">
              <a:buNone/>
            </a:pPr>
            <a:r>
              <a:rPr lang="en-US" sz="5800" dirty="0">
                <a:solidFill>
                  <a:srgbClr val="1B1B1B"/>
                </a:solidFill>
                <a:latin typeface="Bebas Neue" pitchFamily="34" charset="0"/>
                <a:ea typeface="Bebas Neue" pitchFamily="34" charset="-122"/>
                <a:cs typeface="Bebas Neue" pitchFamily="34" charset="-120"/>
              </a:rPr>
              <a:t>STRATEGIC GROUP MAP</a:t>
            </a:r>
            <a:endParaRPr lang="en-US" sz="5800" dirty="0"/>
          </a:p>
        </p:txBody>
      </p:sp>
      <p:sp>
        <p:nvSpPr>
          <p:cNvPr id="3" name="Shape 1"/>
          <p:cNvSpPr/>
          <p:nvPr/>
        </p:nvSpPr>
        <p:spPr>
          <a:xfrm>
            <a:off x="548640" y="3886200"/>
            <a:ext cx="6766560" cy="45720"/>
          </a:xfrm>
          <a:prstGeom prst="rect">
            <a:avLst/>
          </a:prstGeom>
          <a:solidFill>
            <a:srgbClr val="1B1B1B"/>
          </a:solidFill>
          <a:ln w="12700">
            <a:solidFill>
              <a:srgbClr val="1B1B1B"/>
            </a:solidFill>
            <a:prstDash val="solid"/>
          </a:ln>
        </p:spPr>
      </p:sp>
      <p:sp>
        <p:nvSpPr>
          <p:cNvPr id="4" name="Shape 2"/>
          <p:cNvSpPr/>
          <p:nvPr/>
        </p:nvSpPr>
        <p:spPr>
          <a:xfrm>
            <a:off x="3931920" y="1920240"/>
            <a:ext cx="45720" cy="3931920"/>
          </a:xfrm>
          <a:prstGeom prst="rect">
            <a:avLst/>
          </a:prstGeom>
          <a:solidFill>
            <a:srgbClr val="1B1B1B"/>
          </a:solidFill>
          <a:ln w="12700">
            <a:solidFill>
              <a:srgbClr val="1B1B1B"/>
            </a:solidFill>
            <a:prstDash val="solid"/>
          </a:ln>
        </p:spPr>
      </p:sp>
      <p:sp>
        <p:nvSpPr>
          <p:cNvPr id="5" name="Text 3"/>
          <p:cNvSpPr txBox="1"/>
          <p:nvPr/>
        </p:nvSpPr>
        <p:spPr>
          <a:xfrm>
            <a:off x="548640" y="5897880"/>
            <a:ext cx="2743200" cy="320040"/>
          </a:xfrm>
          <a:prstGeom prst="rect">
            <a:avLst/>
          </a:prstGeom>
          <a:noFill/>
          <a:ln/>
        </p:spPr>
        <p:txBody>
          <a:bodyPr wrap="square" lIns="0" tIns="0" rIns="0" bIns="0" rtlCol="0" anchor="ctr"/>
          <a:lstStyle/>
          <a:p>
            <a:pPr algn="l" indent="0" marL="0">
              <a:buNone/>
            </a:pPr>
            <a:r>
              <a:rPr lang="en-US" sz="1300" b="1" spc="100" kern="0" dirty="0">
                <a:solidFill>
                  <a:srgbClr val="1B1B1B"/>
                </a:solidFill>
                <a:latin typeface="Manrope" pitchFamily="34" charset="0"/>
                <a:ea typeface="Manrope" pitchFamily="34" charset="-122"/>
                <a:cs typeface="Manrope" pitchFamily="34" charset="-120"/>
              </a:rPr>
              <a:t>REGIONAL</a:t>
            </a:r>
            <a:endParaRPr lang="en-US" sz="1300" dirty="0"/>
          </a:p>
        </p:txBody>
      </p:sp>
      <p:sp>
        <p:nvSpPr>
          <p:cNvPr id="6" name="Text 4"/>
          <p:cNvSpPr txBox="1"/>
          <p:nvPr/>
        </p:nvSpPr>
        <p:spPr>
          <a:xfrm>
            <a:off x="4572000" y="5897880"/>
            <a:ext cx="2743200" cy="320040"/>
          </a:xfrm>
          <a:prstGeom prst="rect">
            <a:avLst/>
          </a:prstGeom>
          <a:noFill/>
          <a:ln/>
        </p:spPr>
        <p:txBody>
          <a:bodyPr wrap="square" lIns="0" tIns="0" rIns="0" bIns="0" rtlCol="0" anchor="ctr"/>
          <a:lstStyle/>
          <a:p>
            <a:pPr algn="r" indent="0" marL="0">
              <a:buNone/>
            </a:pPr>
            <a:r>
              <a:rPr lang="en-US" sz="1300" b="1" spc="100" kern="0" dirty="0">
                <a:solidFill>
                  <a:srgbClr val="1B1B1B"/>
                </a:solidFill>
                <a:latin typeface="Manrope" pitchFamily="34" charset="0"/>
                <a:ea typeface="Manrope" pitchFamily="34" charset="-122"/>
                <a:cs typeface="Manrope" pitchFamily="34" charset="-120"/>
              </a:rPr>
              <a:t>JARAK JAUH</a:t>
            </a:r>
            <a:endParaRPr lang="en-US" sz="1300" dirty="0"/>
          </a:p>
        </p:txBody>
      </p:sp>
      <p:sp>
        <p:nvSpPr>
          <p:cNvPr id="7" name="Text 5"/>
          <p:cNvSpPr txBox="1"/>
          <p:nvPr/>
        </p:nvSpPr>
        <p:spPr>
          <a:xfrm>
            <a:off x="548640" y="1554480"/>
            <a:ext cx="4572000" cy="320040"/>
          </a:xfrm>
          <a:prstGeom prst="rect">
            <a:avLst/>
          </a:prstGeom>
          <a:noFill/>
          <a:ln/>
        </p:spPr>
        <p:txBody>
          <a:bodyPr wrap="square" lIns="0" tIns="0" rIns="0" bIns="0" rtlCol="0" anchor="ctr"/>
          <a:lstStyle/>
          <a:p>
            <a:pPr algn="l" indent="0" marL="0">
              <a:buNone/>
            </a:pPr>
            <a:r>
              <a:rPr lang="en-US" sz="1300" b="1" spc="100" kern="0" dirty="0">
                <a:solidFill>
                  <a:srgbClr val="1B1B1B"/>
                </a:solidFill>
                <a:latin typeface="Manrope" pitchFamily="34" charset="0"/>
                <a:ea typeface="Manrope" pitchFamily="34" charset="-122"/>
                <a:cs typeface="Manrope" pitchFamily="34" charset="-120"/>
              </a:rPr>
              <a:t>LAYANAN DAN BIAYA TINGGI</a:t>
            </a:r>
            <a:endParaRPr lang="en-US" sz="1300" dirty="0"/>
          </a:p>
        </p:txBody>
      </p:sp>
      <p:sp>
        <p:nvSpPr>
          <p:cNvPr id="8" name="Shape 6"/>
          <p:cNvSpPr/>
          <p:nvPr/>
        </p:nvSpPr>
        <p:spPr>
          <a:xfrm>
            <a:off x="4206240" y="2103120"/>
            <a:ext cx="1691640" cy="1691640"/>
          </a:xfrm>
          <a:prstGeom prst="ellipse">
            <a:avLst/>
          </a:prstGeom>
          <a:solidFill>
            <a:srgbClr val="1B1B1B"/>
          </a:solidFill>
          <a:ln w="12700">
            <a:solidFill>
              <a:srgbClr val="1B1B1B"/>
            </a:solidFill>
            <a:prstDash val="solid"/>
          </a:ln>
        </p:spPr>
      </p:sp>
      <p:sp>
        <p:nvSpPr>
          <p:cNvPr id="9" name="Text 7"/>
          <p:cNvSpPr txBox="1"/>
          <p:nvPr/>
        </p:nvSpPr>
        <p:spPr>
          <a:xfrm>
            <a:off x="4206240" y="2103120"/>
            <a:ext cx="1691640" cy="1691640"/>
          </a:xfrm>
          <a:prstGeom prst="rect">
            <a:avLst/>
          </a:prstGeom>
          <a:noFill/>
          <a:ln/>
        </p:spPr>
        <p:txBody>
          <a:bodyPr wrap="square" lIns="0" tIns="1270" rIns="1270" bIns="0" rtlCol="0" anchor="ctr"/>
          <a:lstStyle/>
          <a:p>
            <a:pPr algn="ctr" indent="0" marL="0">
              <a:buNone/>
            </a:pPr>
            <a:r>
              <a:rPr lang="en-US" sz="2100" dirty="0">
                <a:solidFill>
                  <a:srgbClr val="FFFFFF"/>
                </a:solidFill>
                <a:latin typeface="Bebas Neue" pitchFamily="34" charset="0"/>
                <a:ea typeface="Bebas Neue" pitchFamily="34" charset="-122"/>
                <a:cs typeface="Bebas Neue" pitchFamily="34" charset="-120"/>
              </a:rPr>
              <a:t>NETWORK CARRIERS</a:t>
            </a:r>
            <a:endParaRPr lang="en-US" sz="2100" dirty="0"/>
          </a:p>
          <a:p>
            <a:pPr algn="ctr" indent="0" marL="0">
              <a:buNone/>
            </a:pPr>
            <a:r>
              <a:rPr lang="en-US" sz="1300" b="1" dirty="0">
                <a:solidFill>
                  <a:srgbClr val="FFFFFF"/>
                </a:solidFill>
                <a:latin typeface="Manrope" pitchFamily="34" charset="0"/>
                <a:ea typeface="Manrope" pitchFamily="34" charset="-122"/>
                <a:cs typeface="Manrope" pitchFamily="34" charset="-120"/>
              </a:rPr>
              <a:t>Emirates, BA, MAS</a:t>
            </a:r>
            <a:endParaRPr lang="en-US" sz="2100" dirty="0"/>
          </a:p>
        </p:txBody>
      </p:sp>
      <p:sp>
        <p:nvSpPr>
          <p:cNvPr id="10" name="Shape 8"/>
          <p:cNvSpPr/>
          <p:nvPr/>
        </p:nvSpPr>
        <p:spPr>
          <a:xfrm>
            <a:off x="1097280" y="2194560"/>
            <a:ext cx="1508760" cy="1508760"/>
          </a:xfrm>
          <a:prstGeom prst="ellipse">
            <a:avLst/>
          </a:prstGeom>
          <a:solidFill>
            <a:srgbClr val="2C7BB8"/>
          </a:solidFill>
          <a:ln w="12700">
            <a:solidFill>
              <a:srgbClr val="2C7BB8"/>
            </a:solidFill>
            <a:prstDash val="solid"/>
          </a:ln>
        </p:spPr>
      </p:sp>
      <p:sp>
        <p:nvSpPr>
          <p:cNvPr id="11" name="Text 9"/>
          <p:cNvSpPr txBox="1"/>
          <p:nvPr/>
        </p:nvSpPr>
        <p:spPr>
          <a:xfrm>
            <a:off x="1097280" y="2194560"/>
            <a:ext cx="1508760" cy="1508760"/>
          </a:xfrm>
          <a:prstGeom prst="rect">
            <a:avLst/>
          </a:prstGeom>
          <a:noFill/>
          <a:ln/>
        </p:spPr>
        <p:txBody>
          <a:bodyPr wrap="square" lIns="0" tIns="1270" rIns="1270" bIns="0" rtlCol="0" anchor="ctr"/>
          <a:lstStyle/>
          <a:p>
            <a:pPr algn="ctr" indent="0" marL="0">
              <a:buNone/>
            </a:pPr>
            <a:r>
              <a:rPr lang="en-US" sz="2100" dirty="0">
                <a:solidFill>
                  <a:srgbClr val="FFFFFF"/>
                </a:solidFill>
                <a:latin typeface="Bebas Neue" pitchFamily="34" charset="0"/>
                <a:ea typeface="Bebas Neue" pitchFamily="34" charset="-122"/>
                <a:cs typeface="Bebas Neue" pitchFamily="34" charset="-120"/>
              </a:rPr>
              <a:t>FULL SERVICE</a:t>
            </a:r>
            <a:endParaRPr lang="en-US" sz="2100" dirty="0"/>
          </a:p>
          <a:p>
            <a:pPr algn="ctr" indent="0" marL="0">
              <a:buNone/>
            </a:pPr>
            <a:r>
              <a:rPr lang="en-US" sz="1300" b="1" dirty="0">
                <a:solidFill>
                  <a:srgbClr val="FFFFFF"/>
                </a:solidFill>
                <a:latin typeface="Manrope" pitchFamily="34" charset="0"/>
                <a:ea typeface="Manrope" pitchFamily="34" charset="-122"/>
                <a:cs typeface="Manrope" pitchFamily="34" charset="-120"/>
              </a:rPr>
              <a:t>MAS domestik, SIA</a:t>
            </a:r>
            <a:endParaRPr lang="en-US" sz="2100" dirty="0"/>
          </a:p>
        </p:txBody>
      </p:sp>
      <p:sp>
        <p:nvSpPr>
          <p:cNvPr id="12" name="Shape 10"/>
          <p:cNvSpPr/>
          <p:nvPr/>
        </p:nvSpPr>
        <p:spPr>
          <a:xfrm>
            <a:off x="1097280" y="4114800"/>
            <a:ext cx="1645920" cy="1645920"/>
          </a:xfrm>
          <a:prstGeom prst="ellipse">
            <a:avLst/>
          </a:prstGeom>
          <a:solidFill>
            <a:srgbClr val="E63E2C"/>
          </a:solidFill>
          <a:ln w="12700">
            <a:solidFill>
              <a:srgbClr val="E63E2C"/>
            </a:solidFill>
            <a:prstDash val="solid"/>
          </a:ln>
        </p:spPr>
      </p:sp>
      <p:sp>
        <p:nvSpPr>
          <p:cNvPr id="13" name="Text 11"/>
          <p:cNvSpPr txBox="1"/>
          <p:nvPr/>
        </p:nvSpPr>
        <p:spPr>
          <a:xfrm>
            <a:off x="1097280" y="4114800"/>
            <a:ext cx="1645920" cy="1645920"/>
          </a:xfrm>
          <a:prstGeom prst="rect">
            <a:avLst/>
          </a:prstGeom>
          <a:noFill/>
          <a:ln/>
        </p:spPr>
        <p:txBody>
          <a:bodyPr wrap="square" lIns="0" tIns="1270" rIns="1270" bIns="0" rtlCol="0" anchor="ctr"/>
          <a:lstStyle/>
          <a:p>
            <a:pPr algn="ctr" indent="0" marL="0">
              <a:buNone/>
            </a:pPr>
            <a:r>
              <a:rPr lang="en-US" sz="2100" dirty="0">
                <a:solidFill>
                  <a:srgbClr val="FFFFFF"/>
                </a:solidFill>
                <a:latin typeface="Bebas Neue" pitchFamily="34" charset="0"/>
                <a:ea typeface="Bebas Neue" pitchFamily="34" charset="-122"/>
                <a:cs typeface="Bebas Neue" pitchFamily="34" charset="-120"/>
              </a:rPr>
              <a:t>LCC REGIONAL</a:t>
            </a:r>
            <a:endParaRPr lang="en-US" sz="2100" dirty="0"/>
          </a:p>
          <a:p>
            <a:pPr algn="ctr" indent="0" marL="0">
              <a:buNone/>
            </a:pPr>
            <a:r>
              <a:rPr lang="en-US" sz="1300" b="1" dirty="0">
                <a:solidFill>
                  <a:srgbClr val="FFFFFF"/>
                </a:solidFill>
                <a:latin typeface="Manrope" pitchFamily="34" charset="0"/>
                <a:ea typeface="Manrope" pitchFamily="34" charset="-122"/>
                <a:cs typeface="Manrope" pitchFamily="34" charset="-120"/>
              </a:rPr>
              <a:t>AirAsia, Tiger, Cebu</a:t>
            </a:r>
            <a:endParaRPr lang="en-US" sz="2100" dirty="0"/>
          </a:p>
        </p:txBody>
      </p:sp>
      <p:sp>
        <p:nvSpPr>
          <p:cNvPr id="14" name="Shape 12"/>
          <p:cNvSpPr/>
          <p:nvPr/>
        </p:nvSpPr>
        <p:spPr>
          <a:xfrm>
            <a:off x="4297680" y="4114800"/>
            <a:ext cx="1600200" cy="1600200"/>
          </a:xfrm>
          <a:prstGeom prst="ellipse">
            <a:avLst/>
          </a:prstGeom>
          <a:solidFill>
            <a:srgbClr val="F4C430"/>
          </a:solidFill>
          <a:ln w="12700">
            <a:solidFill>
              <a:srgbClr val="F4C430"/>
            </a:solidFill>
            <a:prstDash val="solid"/>
          </a:ln>
        </p:spPr>
      </p:sp>
      <p:sp>
        <p:nvSpPr>
          <p:cNvPr id="15" name="Text 13"/>
          <p:cNvSpPr txBox="1"/>
          <p:nvPr/>
        </p:nvSpPr>
        <p:spPr>
          <a:xfrm>
            <a:off x="4297680" y="4114800"/>
            <a:ext cx="1600200" cy="1600200"/>
          </a:xfrm>
          <a:prstGeom prst="rect">
            <a:avLst/>
          </a:prstGeom>
          <a:noFill/>
          <a:ln/>
        </p:spPr>
        <p:txBody>
          <a:bodyPr wrap="square" lIns="0" tIns="1270" rIns="1270" bIns="0" rtlCol="0" anchor="ctr"/>
          <a:lstStyle/>
          <a:p>
            <a:pPr algn="ctr" indent="0" marL="0">
              <a:buNone/>
            </a:pPr>
            <a:r>
              <a:rPr lang="en-US" sz="2100" dirty="0">
                <a:solidFill>
                  <a:srgbClr val="1B1B1B"/>
                </a:solidFill>
                <a:latin typeface="Bebas Neue" pitchFamily="34" charset="0"/>
                <a:ea typeface="Bebas Neue" pitchFamily="34" charset="-122"/>
                <a:cs typeface="Bebas Neue" pitchFamily="34" charset="-120"/>
              </a:rPr>
              <a:t>LCC JARAK JAUH</a:t>
            </a:r>
            <a:endParaRPr lang="en-US" sz="2100" dirty="0"/>
          </a:p>
          <a:p>
            <a:pPr algn="ctr" indent="0" marL="0">
              <a:buNone/>
            </a:pPr>
            <a:r>
              <a:rPr lang="en-US" sz="1300" b="1" dirty="0">
                <a:solidFill>
                  <a:srgbClr val="1B1B1B"/>
                </a:solidFill>
                <a:latin typeface="Manrope" pitchFamily="34" charset="0"/>
                <a:ea typeface="Manrope" pitchFamily="34" charset="-122"/>
                <a:cs typeface="Manrope" pitchFamily="34" charset="-120"/>
              </a:rPr>
              <a:t>AirAsia X</a:t>
            </a:r>
            <a:endParaRPr lang="en-US" sz="2100" dirty="0"/>
          </a:p>
        </p:txBody>
      </p:sp>
      <p:sp>
        <p:nvSpPr>
          <p:cNvPr id="16" name="Shape 14"/>
          <p:cNvSpPr/>
          <p:nvPr/>
        </p:nvSpPr>
        <p:spPr>
          <a:xfrm>
            <a:off x="2880360" y="4754880"/>
            <a:ext cx="1280160" cy="365760"/>
          </a:xfrm>
          <a:prstGeom prst="rightArrow">
            <a:avLst/>
          </a:prstGeom>
          <a:solidFill>
            <a:srgbClr val="1B1B1B"/>
          </a:solidFill>
          <a:ln w="12700">
            <a:solidFill>
              <a:srgbClr val="1B1B1B"/>
            </a:solidFill>
            <a:prstDash val="solid"/>
          </a:ln>
        </p:spPr>
      </p:sp>
      <p:sp>
        <p:nvSpPr>
          <p:cNvPr id="17" name="Text 15"/>
          <p:cNvSpPr txBox="1"/>
          <p:nvPr/>
        </p:nvSpPr>
        <p:spPr>
          <a:xfrm>
            <a:off x="7772400" y="1737360"/>
            <a:ext cx="3931920" cy="2743200"/>
          </a:xfrm>
          <a:prstGeom prst="rect">
            <a:avLst/>
          </a:prstGeom>
          <a:noFill/>
          <a:ln/>
        </p:spPr>
        <p:txBody>
          <a:bodyPr wrap="square" lIns="0" tIns="0" rIns="0" bIns="0" rtlCol="0" anchor="t"/>
          <a:lstStyle/>
          <a:p>
            <a:pPr indent="0" marL="0">
              <a:buNone/>
            </a:pPr>
            <a:r>
              <a:rPr lang="en-US" sz="2100" b="1" dirty="0">
                <a:solidFill>
                  <a:srgbClr val="1B1B1B"/>
                </a:solidFill>
                <a:highlight>
                  <a:srgbClr val="FFE066"/>
                </a:highlight>
                <a:latin typeface="Manrope" pitchFamily="34" charset="0"/>
                <a:ea typeface="Manrope" pitchFamily="34" charset="-122"/>
                <a:cs typeface="Manrope" pitchFamily="34" charset="-120"/>
              </a:rPr>
              <a:t>AirAsia X pindah kelompok.</a:t>
            </a:r>
            <a:r>
              <a:rPr lang="en-US" sz="2100" dirty="0">
                <a:solidFill>
                  <a:srgbClr val="1B1B1B"/>
                </a:solidFill>
                <a:latin typeface="Manrope" pitchFamily="34" charset="0"/>
                <a:ea typeface="Manrope" pitchFamily="34" charset="-122"/>
                <a:cs typeface="Manrope" pitchFamily="34" charset="-120"/>
              </a:rPr>
              <a:t> Lawannya bukan LCC lain, melainkan </a:t>
            </a:r>
            <a:r>
              <a:rPr lang="en-US" sz="2100" b="1" dirty="0">
                <a:solidFill>
                  <a:srgbClr val="1B1B1B"/>
                </a:solidFill>
                <a:highlight>
                  <a:srgbClr val="FFE066"/>
                </a:highlight>
                <a:latin typeface="Manrope" pitchFamily="34" charset="0"/>
                <a:ea typeface="Manrope" pitchFamily="34" charset="-122"/>
                <a:cs typeface="Manrope" pitchFamily="34" charset="-120"/>
              </a:rPr>
              <a:t>network carriers</a:t>
            </a:r>
            <a:r>
              <a:rPr lang="en-US" sz="2100" dirty="0">
                <a:solidFill>
                  <a:srgbClr val="1B1B1B"/>
                </a:solidFill>
                <a:latin typeface="Manrope" pitchFamily="34" charset="0"/>
                <a:ea typeface="Manrope" pitchFamily="34" charset="-122"/>
                <a:cs typeface="Manrope" pitchFamily="34" charset="-120"/>
              </a:rPr>
              <a:t> yang mampu </a:t>
            </a:r>
            <a:r>
              <a:rPr lang="en-US" sz="2100" b="1" dirty="0">
                <a:solidFill>
                  <a:srgbClr val="1B1B1B"/>
                </a:solidFill>
                <a:highlight>
                  <a:srgbClr val="FFE066"/>
                </a:highlight>
                <a:latin typeface="Manrope" pitchFamily="34" charset="0"/>
                <a:ea typeface="Manrope" pitchFamily="34" charset="-122"/>
                <a:cs typeface="Manrope" pitchFamily="34" charset="-120"/>
              </a:rPr>
              <a:t>mensubsidi harga ekonomi</a:t>
            </a:r>
            <a:r>
              <a:rPr lang="en-US" sz="2100" dirty="0">
                <a:solidFill>
                  <a:srgbClr val="1B1B1B"/>
                </a:solidFill>
                <a:latin typeface="Manrope" pitchFamily="34" charset="0"/>
                <a:ea typeface="Manrope" pitchFamily="34" charset="-122"/>
                <a:cs typeface="Manrope" pitchFamily="34" charset="-120"/>
              </a:rPr>
              <a:t> dari kelas premium.</a:t>
            </a:r>
            <a:endParaRPr lang="en-US" sz="2100" dirty="0"/>
          </a:p>
        </p:txBody>
      </p:sp>
      <p:sp>
        <p:nvSpPr>
          <p:cNvPr id="18" name="Shape 16"/>
          <p:cNvSpPr/>
          <p:nvPr/>
        </p:nvSpPr>
        <p:spPr>
          <a:xfrm>
            <a:off x="9692640" y="4480560"/>
            <a:ext cx="1828800" cy="1828800"/>
          </a:xfrm>
          <a:prstGeom prst="ellipse">
            <a:avLst/>
          </a:prstGeom>
          <a:ln w="19050">
            <a:solidFill>
              <a:srgbClr val="1B1B1B"/>
            </a:solidFill>
            <a:prstDash val="sysDot"/>
          </a:ln>
        </p:spPr>
      </p:sp>
      <p:sp>
        <p:nvSpPr>
          <p:cNvPr id="19" name="Text 17"/>
          <p:cNvSpPr txBox="1"/>
          <p:nvPr/>
        </p:nvSpPr>
        <p:spPr>
          <a:xfrm>
            <a:off x="548640" y="6217920"/>
            <a:ext cx="10424160" cy="411480"/>
          </a:xfrm>
          <a:prstGeom prst="rect">
            <a:avLst/>
          </a:prstGeom>
          <a:noFill/>
          <a:ln/>
        </p:spPr>
        <p:txBody>
          <a:bodyPr wrap="square" lIns="0" tIns="0" rIns="0" bIns="0" rtlCol="0" anchor="ctr"/>
          <a:lstStyle/>
          <a:p>
            <a:pPr indent="0" marL="0">
              <a:buNone/>
            </a:pPr>
            <a:r>
              <a:rPr lang="en-US" sz="1100" dirty="0">
                <a:solidFill>
                  <a:srgbClr val="E63E2C"/>
                </a:solidFill>
                <a:latin typeface="Manrope" pitchFamily="34" charset="0"/>
                <a:ea typeface="Manrope" pitchFamily="34" charset="-122"/>
                <a:cs typeface="Manrope" pitchFamily="34" charset="-120"/>
              </a:rPr>
              <a:t>■  </a:t>
            </a:r>
            <a:r>
              <a:rPr lang="en-US" sz="1600" b="1" dirty="0">
                <a:solidFill>
                  <a:srgbClr val="1B1B1B"/>
                </a:solidFill>
                <a:latin typeface="Manrope" pitchFamily="34" charset="0"/>
                <a:ea typeface="Manrope" pitchFamily="34" charset="-122"/>
                <a:cs typeface="Manrope" pitchFamily="34" charset="-120"/>
              </a:rPr>
              <a:t>Selanjutnya  </a:t>
            </a:r>
            <a:r>
              <a:rPr lang="en-US" sz="1600" dirty="0">
                <a:solidFill>
                  <a:srgbClr val="4A4A4A"/>
                </a:solidFill>
                <a:latin typeface="Manrope" pitchFamily="34" charset="0"/>
                <a:ea typeface="Manrope" pitchFamily="34" charset="-122"/>
                <a:cs typeface="Manrope" pitchFamily="34" charset="-120"/>
              </a:rPr>
              <a:t>Tahap 2 selesai. Tahap 3: seberapa kuat posisi biaya AirAsia sendiri?</a:t>
            </a:r>
            <a:endParaRPr lang="en-US" sz="1600" dirty="0"/>
          </a:p>
        </p:txBody>
      </p:sp>
      <p:sp>
        <p:nvSpPr>
          <p:cNvPr id="20" name="Text 18"/>
          <p:cNvSpPr txBox="1"/>
          <p:nvPr/>
        </p:nvSpPr>
        <p:spPr>
          <a:xfrm>
            <a:off x="11247120" y="6355080"/>
            <a:ext cx="548640" cy="320040"/>
          </a:xfrm>
          <a:prstGeom prst="rect">
            <a:avLst/>
          </a:prstGeom>
          <a:noFill/>
          <a:ln/>
        </p:spPr>
        <p:txBody>
          <a:bodyPr wrap="square" lIns="0" tIns="0" rIns="0" bIns="0" rtlCol="0" anchor="ctr"/>
          <a:lstStyle/>
          <a:p>
            <a:pPr algn="r" indent="0" marL="0">
              <a:buNone/>
            </a:pPr>
            <a:r>
              <a:rPr lang="en-US" sz="1200" b="1" dirty="0">
                <a:solidFill>
                  <a:srgbClr val="1B1B1B"/>
                </a:solidFill>
                <a:latin typeface="Manrope" pitchFamily="34" charset="0"/>
                <a:ea typeface="Manrope" pitchFamily="34" charset="-122"/>
                <a:cs typeface="Manrope"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E2CF"/>
        </a:solidFill>
      </p:bgPr>
    </p:bg>
    <p:spTree>
      <p:nvGrpSpPr>
        <p:cNvPr id="1" name=""/>
        <p:cNvGrpSpPr/>
        <p:nvPr/>
      </p:nvGrpSpPr>
      <p:grpSpPr>
        <a:xfrm>
          <a:off x="0" y="0"/>
          <a:ext cx="0" cy="0"/>
          <a:chOff x="0" y="0"/>
          <a:chExt cx="0" cy="0"/>
        </a:xfrm>
      </p:grpSpPr>
      <p:sp>
        <p:nvSpPr>
          <p:cNvPr id="2" name="Shape 0"/>
          <p:cNvSpPr/>
          <p:nvPr/>
        </p:nvSpPr>
        <p:spPr>
          <a:xfrm>
            <a:off x="548640" y="457200"/>
            <a:ext cx="6108192" cy="914400"/>
          </a:xfrm>
          <a:prstGeom prst="rect">
            <a:avLst/>
          </a:prstGeom>
          <a:solidFill>
            <a:srgbClr val="F4C430"/>
          </a:solidFill>
          <a:ln w="12700">
            <a:solidFill>
              <a:srgbClr val="F4C430"/>
            </a:solidFill>
            <a:prstDash val="solid"/>
          </a:ln>
        </p:spPr>
      </p:sp>
      <p:sp>
        <p:nvSpPr>
          <p:cNvPr id="3" name="Text 1"/>
          <p:cNvSpPr txBox="1"/>
          <p:nvPr/>
        </p:nvSpPr>
        <p:spPr>
          <a:xfrm>
            <a:off x="548640" y="457200"/>
            <a:ext cx="6108192" cy="914400"/>
          </a:xfrm>
          <a:prstGeom prst="rect">
            <a:avLst/>
          </a:prstGeom>
          <a:noFill/>
          <a:ln/>
        </p:spPr>
        <p:txBody>
          <a:bodyPr wrap="square" lIns="0" tIns="3810" rIns="3810" bIns="0" rtlCol="0" anchor="ctr"/>
          <a:lstStyle/>
          <a:p>
            <a:pPr indent="0" marL="0">
              <a:buNone/>
            </a:pPr>
            <a:r>
              <a:rPr lang="en-US" sz="4600" dirty="0">
                <a:solidFill>
                  <a:srgbClr val="1B1B1B"/>
                </a:solidFill>
                <a:latin typeface="Bebas Neue" pitchFamily="34" charset="0"/>
                <a:ea typeface="Bebas Neue" pitchFamily="34" charset="-122"/>
                <a:cs typeface="Bebas Neue" pitchFamily="34" charset="-120"/>
              </a:rPr>
              <a:t>COST BENCHMARKING</a:t>
            </a:r>
            <a:endParaRPr lang="en-US" sz="4600" dirty="0"/>
          </a:p>
        </p:txBody>
      </p:sp>
      <p:sp>
        <p:nvSpPr>
          <p:cNvPr id="4" name="Shape 2"/>
          <p:cNvSpPr/>
          <p:nvPr/>
        </p:nvSpPr>
        <p:spPr>
          <a:xfrm>
            <a:off x="548640" y="1645920"/>
            <a:ext cx="6035040" cy="4206240"/>
          </a:xfrm>
          <a:prstGeom prst="rect">
            <a:avLst/>
          </a:prstGeom>
          <a:solidFill>
            <a:srgbClr val="FFFFFF"/>
          </a:solidFill>
          <a:ln w="12700">
            <a:solidFill>
              <a:srgbClr val="FFFFFF"/>
            </a:solidFill>
            <a:prstDash val="solid"/>
          </a:ln>
        </p:spPr>
      </p:sp>
      <p:graphicFrame>
        <p:nvGraphicFramePr>
          <p:cNvPr id="5" name="Chart 0" descr=""/>
          <p:cNvGraphicFramePr/>
          <p:nvPr/>
        </p:nvGraphicFramePr>
        <p:xfrm>
          <a:off x="685800" y="1737360"/>
          <a:ext cx="5760720" cy="402336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6949440" y="1645920"/>
            <a:ext cx="2743200" cy="822960"/>
          </a:xfrm>
          <a:prstGeom prst="rect">
            <a:avLst/>
          </a:prstGeom>
          <a:noFill/>
          <a:ln/>
        </p:spPr>
        <p:txBody>
          <a:bodyPr wrap="square" lIns="0" tIns="0" rIns="0" bIns="0" rtlCol="0" anchor="ctr"/>
          <a:lstStyle/>
          <a:p>
            <a:pPr indent="0" marL="0">
              <a:buNone/>
            </a:pPr>
            <a:r>
              <a:rPr lang="en-US" sz="4200" dirty="0">
                <a:solidFill>
                  <a:srgbClr val="E63E2C"/>
                </a:solidFill>
                <a:latin typeface="Bebas Neue" pitchFamily="34" charset="0"/>
                <a:ea typeface="Bebas Neue" pitchFamily="34" charset="-122"/>
                <a:cs typeface="Bebas Neue" pitchFamily="34" charset="-120"/>
              </a:rPr>
              <a:t>49 VS 175</a:t>
            </a:r>
            <a:endParaRPr lang="en-US" sz="4200" dirty="0"/>
          </a:p>
        </p:txBody>
      </p:sp>
      <p:sp>
        <p:nvSpPr>
          <p:cNvPr id="7" name="Text 4"/>
          <p:cNvSpPr txBox="1"/>
          <p:nvPr/>
        </p:nvSpPr>
        <p:spPr>
          <a:xfrm>
            <a:off x="6949440" y="2468880"/>
            <a:ext cx="2926080" cy="731520"/>
          </a:xfrm>
          <a:prstGeom prst="rect">
            <a:avLst/>
          </a:prstGeom>
          <a:noFill/>
          <a:ln/>
        </p:spPr>
        <p:txBody>
          <a:bodyPr wrap="square" lIns="0" tIns="0" rIns="0" bIns="0" rtlCol="0" anchor="t"/>
          <a:lstStyle/>
          <a:p>
            <a:pPr indent="0" marL="0">
              <a:buNone/>
            </a:pPr>
            <a:r>
              <a:rPr lang="en-US" sz="1700" b="1" dirty="0">
                <a:solidFill>
                  <a:srgbClr val="1B1B1B"/>
                </a:solidFill>
                <a:highlight>
                  <a:srgbClr val="FFE066"/>
                </a:highlight>
                <a:latin typeface="Manrope" pitchFamily="34" charset="0"/>
                <a:ea typeface="Manrope" pitchFamily="34" charset="-122"/>
                <a:cs typeface="Manrope" pitchFamily="34" charset="-120"/>
              </a:rPr>
              <a:t>karyawan per pesawat</a:t>
            </a:r>
            <a:r>
              <a:rPr lang="en-US" sz="1700" dirty="0">
                <a:solidFill>
                  <a:srgbClr val="1B1B1B"/>
                </a:solidFill>
                <a:latin typeface="Manrope" pitchFamily="34" charset="0"/>
                <a:ea typeface="Manrope" pitchFamily="34" charset="-122"/>
                <a:cs typeface="Manrope" pitchFamily="34" charset="-120"/>
              </a:rPr>
              <a:t> (AirAsia vs MAS)</a:t>
            </a:r>
            <a:endParaRPr lang="en-US" sz="1700" dirty="0"/>
          </a:p>
        </p:txBody>
      </p:sp>
      <p:sp>
        <p:nvSpPr>
          <p:cNvPr id="8" name="Text 5"/>
          <p:cNvSpPr txBox="1"/>
          <p:nvPr/>
        </p:nvSpPr>
        <p:spPr>
          <a:xfrm>
            <a:off x="6949440" y="3246120"/>
            <a:ext cx="2743200" cy="822960"/>
          </a:xfrm>
          <a:prstGeom prst="rect">
            <a:avLst/>
          </a:prstGeom>
          <a:noFill/>
          <a:ln/>
        </p:spPr>
        <p:txBody>
          <a:bodyPr wrap="square" lIns="0" tIns="0" rIns="0" bIns="0" rtlCol="0" anchor="ctr"/>
          <a:lstStyle/>
          <a:p>
            <a:pPr indent="0" marL="0">
              <a:buNone/>
            </a:pPr>
            <a:r>
              <a:rPr lang="en-US" sz="4200" dirty="0">
                <a:solidFill>
                  <a:srgbClr val="2C7BB8"/>
                </a:solidFill>
                <a:latin typeface="Bebas Neue" pitchFamily="34" charset="0"/>
                <a:ea typeface="Bebas Neue" pitchFamily="34" charset="-122"/>
                <a:cs typeface="Bebas Neue" pitchFamily="34" charset="-120"/>
              </a:rPr>
              <a:t>75% VS 67,8%</a:t>
            </a:r>
            <a:endParaRPr lang="en-US" sz="4200" dirty="0"/>
          </a:p>
        </p:txBody>
      </p:sp>
      <p:sp>
        <p:nvSpPr>
          <p:cNvPr id="9" name="Text 6"/>
          <p:cNvSpPr txBox="1"/>
          <p:nvPr/>
        </p:nvSpPr>
        <p:spPr>
          <a:xfrm>
            <a:off x="6949440" y="4069080"/>
            <a:ext cx="2926080" cy="457200"/>
          </a:xfrm>
          <a:prstGeom prst="rect">
            <a:avLst/>
          </a:prstGeom>
          <a:noFill/>
          <a:ln/>
        </p:spPr>
        <p:txBody>
          <a:bodyPr wrap="square" lIns="0" tIns="0" rIns="0" bIns="0" rtlCol="0" anchor="t"/>
          <a:lstStyle/>
          <a:p>
            <a:pPr indent="0" marL="0">
              <a:buNone/>
            </a:pPr>
            <a:r>
              <a:rPr lang="en-US" sz="1700" b="1" dirty="0">
                <a:solidFill>
                  <a:srgbClr val="1B1B1B"/>
                </a:solidFill>
                <a:highlight>
                  <a:srgbClr val="FFE066"/>
                </a:highlight>
                <a:latin typeface="Manrope" pitchFamily="34" charset="0"/>
                <a:ea typeface="Manrope" pitchFamily="34" charset="-122"/>
                <a:cs typeface="Manrope" pitchFamily="34" charset="-120"/>
              </a:rPr>
              <a:t>load factor</a:t>
            </a:r>
            <a:r>
              <a:rPr lang="en-US" sz="1700" dirty="0">
                <a:solidFill>
                  <a:srgbClr val="1B1B1B"/>
                </a:solidFill>
                <a:latin typeface="Manrope" pitchFamily="34" charset="0"/>
                <a:ea typeface="Manrope" pitchFamily="34" charset="-122"/>
                <a:cs typeface="Manrope" pitchFamily="34" charset="-120"/>
              </a:rPr>
              <a:t> 2008</a:t>
            </a:r>
            <a:endParaRPr lang="en-US" sz="1700" dirty="0"/>
          </a:p>
        </p:txBody>
      </p:sp>
      <p:pic>
        <p:nvPicPr>
          <p:cNvPr id="10" name="Image 0" descr="/tmp/claude-0/-home-user-Dom-Manipulation/a70c4110-05d8-512e-ae11-d08dee025a7a/scratchpad/img/aa_crew.png">    </p:cNvPr>
          <p:cNvPicPr>
            <a:picLocks noChangeAspect="1"/>
          </p:cNvPicPr>
          <p:nvPr/>
        </p:nvPicPr>
        <p:blipFill>
          <a:blip r:embed="rId2"/>
          <a:stretch>
            <a:fillRect/>
          </a:stretch>
        </p:blipFill>
        <p:spPr>
          <a:xfrm>
            <a:off x="9418320" y="1828800"/>
            <a:ext cx="2286000" cy="4023360"/>
          </a:xfrm>
          <a:prstGeom prst="rect">
            <a:avLst/>
          </a:prstGeom>
        </p:spPr>
      </p:pic>
      <p:sp>
        <p:nvSpPr>
          <p:cNvPr id="11" name="Text 7"/>
          <p:cNvSpPr txBox="1"/>
          <p:nvPr/>
        </p:nvSpPr>
        <p:spPr>
          <a:xfrm>
            <a:off x="6949440" y="4754880"/>
            <a:ext cx="2377440" cy="1188720"/>
          </a:xfrm>
          <a:prstGeom prst="rect">
            <a:avLst/>
          </a:prstGeom>
          <a:noFill/>
          <a:ln/>
        </p:spPr>
        <p:txBody>
          <a:bodyPr wrap="square" lIns="0" tIns="0" rIns="0" bIns="0" rtlCol="0" anchor="t"/>
          <a:lstStyle/>
          <a:p>
            <a:pPr indent="0" marL="0">
              <a:buNone/>
            </a:pPr>
            <a:r>
              <a:rPr lang="en-US" sz="1600" b="1" i="1" dirty="0">
                <a:solidFill>
                  <a:srgbClr val="1B1B1B"/>
                </a:solidFill>
                <a:highlight>
                  <a:srgbClr val="FFE066"/>
                </a:highlight>
                <a:latin typeface="Manrope" pitchFamily="34" charset="0"/>
                <a:ea typeface="Manrope" pitchFamily="34" charset="-122"/>
                <a:cs typeface="Manrope" pitchFamily="34" charset="-120"/>
              </a:rPr>
              <a:t>Separuh biaya MAS</a:t>
            </a:r>
            <a:r>
              <a:rPr lang="en-US" sz="1600" i="1" dirty="0">
                <a:solidFill>
                  <a:srgbClr val="4A4A4A"/>
                </a:solidFill>
                <a:latin typeface="Manrope" pitchFamily="34" charset="0"/>
                <a:ea typeface="Manrope" pitchFamily="34" charset="-122"/>
                <a:cs typeface="Manrope" pitchFamily="34" charset="-120"/>
              </a:rPr>
              <a:t> dengan tenaga kerja yang jauh lebih ramping.</a:t>
            </a:r>
            <a:endParaRPr lang="en-US" sz="1600" dirty="0"/>
          </a:p>
        </p:txBody>
      </p:sp>
      <p:sp>
        <p:nvSpPr>
          <p:cNvPr id="12" name="Text 8"/>
          <p:cNvSpPr txBox="1"/>
          <p:nvPr/>
        </p:nvSpPr>
        <p:spPr>
          <a:xfrm>
            <a:off x="548640" y="6217920"/>
            <a:ext cx="10424160" cy="411480"/>
          </a:xfrm>
          <a:prstGeom prst="rect">
            <a:avLst/>
          </a:prstGeom>
          <a:noFill/>
          <a:ln/>
        </p:spPr>
        <p:txBody>
          <a:bodyPr wrap="square" lIns="0" tIns="0" rIns="0" bIns="0" rtlCol="0" anchor="ctr"/>
          <a:lstStyle/>
          <a:p>
            <a:pPr indent="0" marL="0">
              <a:buNone/>
            </a:pPr>
            <a:r>
              <a:rPr lang="en-US" sz="1100" dirty="0">
                <a:solidFill>
                  <a:srgbClr val="E63E2C"/>
                </a:solidFill>
                <a:latin typeface="Manrope" pitchFamily="34" charset="0"/>
                <a:ea typeface="Manrope" pitchFamily="34" charset="-122"/>
                <a:cs typeface="Manrope" pitchFamily="34" charset="-120"/>
              </a:rPr>
              <a:t>■  </a:t>
            </a:r>
            <a:r>
              <a:rPr lang="en-US" sz="1600" b="1" dirty="0">
                <a:solidFill>
                  <a:srgbClr val="1B1B1B"/>
                </a:solidFill>
                <a:latin typeface="Manrope" pitchFamily="34" charset="0"/>
                <a:ea typeface="Manrope" pitchFamily="34" charset="-122"/>
                <a:cs typeface="Manrope" pitchFamily="34" charset="-120"/>
              </a:rPr>
              <a:t>Selanjutnya  </a:t>
            </a:r>
            <a:r>
              <a:rPr lang="en-US" sz="1600" dirty="0">
                <a:solidFill>
                  <a:srgbClr val="4A4A4A"/>
                </a:solidFill>
                <a:latin typeface="Manrope" pitchFamily="34" charset="0"/>
                <a:ea typeface="Manrope" pitchFamily="34" charset="-122"/>
                <a:cs typeface="Manrope" pitchFamily="34" charset="-120"/>
              </a:rPr>
              <a:t>Separuh biaya MAS. Dari mana keunggulan itu berasal?</a:t>
            </a:r>
            <a:endParaRPr lang="en-US" sz="1600" dirty="0"/>
          </a:p>
        </p:txBody>
      </p:sp>
      <p:sp>
        <p:nvSpPr>
          <p:cNvPr id="13" name="Text 9"/>
          <p:cNvSpPr txBox="1"/>
          <p:nvPr/>
        </p:nvSpPr>
        <p:spPr>
          <a:xfrm>
            <a:off x="11247120" y="6355080"/>
            <a:ext cx="548640" cy="320040"/>
          </a:xfrm>
          <a:prstGeom prst="rect">
            <a:avLst/>
          </a:prstGeom>
          <a:noFill/>
          <a:ln/>
        </p:spPr>
        <p:txBody>
          <a:bodyPr wrap="square" lIns="0" tIns="0" rIns="0" bIns="0" rtlCol="0" anchor="ctr"/>
          <a:lstStyle/>
          <a:p>
            <a:pPr algn="r" indent="0" marL="0">
              <a:buNone/>
            </a:pPr>
            <a:r>
              <a:rPr lang="en-US" sz="1200" b="1" dirty="0">
                <a:solidFill>
                  <a:srgbClr val="1B1B1B"/>
                </a:solidFill>
                <a:latin typeface="Manrope" pitchFamily="34" charset="0"/>
                <a:ea typeface="Manrope" pitchFamily="34" charset="-122"/>
                <a:cs typeface="Manrope"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E2CF"/>
        </a:solidFill>
      </p:bgPr>
    </p:bg>
    <p:spTree>
      <p:nvGrpSpPr>
        <p:cNvPr id="1" name=""/>
        <p:cNvGrpSpPr/>
        <p:nvPr/>
      </p:nvGrpSpPr>
      <p:grpSpPr>
        <a:xfrm>
          <a:off x="0" y="0"/>
          <a:ext cx="0" cy="0"/>
          <a:chOff x="0" y="0"/>
          <a:chExt cx="0" cy="0"/>
        </a:xfrm>
      </p:grpSpPr>
      <p:sp>
        <p:nvSpPr>
          <p:cNvPr id="2" name="Text 0"/>
          <p:cNvSpPr txBox="1"/>
          <p:nvPr/>
        </p:nvSpPr>
        <p:spPr>
          <a:xfrm>
            <a:off x="548640" y="457200"/>
            <a:ext cx="10515600" cy="914400"/>
          </a:xfrm>
          <a:prstGeom prst="rect">
            <a:avLst/>
          </a:prstGeom>
          <a:noFill/>
          <a:ln/>
        </p:spPr>
        <p:txBody>
          <a:bodyPr wrap="square" lIns="0" tIns="0" rIns="0" bIns="0" rtlCol="0" anchor="ctr"/>
          <a:lstStyle/>
          <a:p>
            <a:pPr indent="0" marL="0">
              <a:buNone/>
            </a:pPr>
            <a:r>
              <a:rPr lang="en-US" sz="5800" dirty="0">
                <a:solidFill>
                  <a:srgbClr val="1B1B1B"/>
                </a:solidFill>
                <a:latin typeface="Bebas Neue" pitchFamily="34" charset="0"/>
                <a:ea typeface="Bebas Neue" pitchFamily="34" charset="-122"/>
                <a:cs typeface="Bebas Neue" pitchFamily="34" charset="-120"/>
              </a:rPr>
              <a:t>SOURCES OF COST ADVANTAGE</a:t>
            </a:r>
            <a:endParaRPr lang="en-US" sz="5800" dirty="0"/>
          </a:p>
        </p:txBody>
      </p:sp>
      <p:sp>
        <p:nvSpPr>
          <p:cNvPr id="3" name="Shape 1"/>
          <p:cNvSpPr/>
          <p:nvPr/>
        </p:nvSpPr>
        <p:spPr>
          <a:xfrm>
            <a:off x="548640" y="1600200"/>
            <a:ext cx="3566160" cy="594360"/>
          </a:xfrm>
          <a:prstGeom prst="rect">
            <a:avLst/>
          </a:prstGeom>
          <a:solidFill>
            <a:srgbClr val="E63E2C"/>
          </a:solidFill>
          <a:ln w="12700">
            <a:solidFill>
              <a:srgbClr val="E63E2C"/>
            </a:solidFill>
            <a:prstDash val="solid"/>
          </a:ln>
        </p:spPr>
      </p:sp>
      <p:sp>
        <p:nvSpPr>
          <p:cNvPr id="4" name="Text 2"/>
          <p:cNvSpPr txBox="1"/>
          <p:nvPr/>
        </p:nvSpPr>
        <p:spPr>
          <a:xfrm>
            <a:off x="548640" y="1600200"/>
            <a:ext cx="3566160" cy="594360"/>
          </a:xfrm>
          <a:prstGeom prst="rect">
            <a:avLst/>
          </a:prstGeom>
          <a:noFill/>
          <a:ln/>
        </p:spPr>
        <p:txBody>
          <a:bodyPr wrap="square" lIns="0" tIns="2540" rIns="2540" bIns="0" rtlCol="0" anchor="ctr"/>
          <a:lstStyle/>
          <a:p>
            <a:pPr indent="0" marL="0">
              <a:buNone/>
            </a:pPr>
            <a:r>
              <a:rPr lang="en-US" sz="2600" dirty="0">
                <a:solidFill>
                  <a:srgbClr val="FFFFFF"/>
                </a:solidFill>
                <a:latin typeface="Bebas Neue" pitchFamily="34" charset="0"/>
                <a:ea typeface="Bebas Neue" pitchFamily="34" charset="-122"/>
                <a:cs typeface="Bebas Neue" pitchFamily="34" charset="-120"/>
              </a:rPr>
              <a:t>OPERASI ALA RYANAIR</a:t>
            </a:r>
            <a:endParaRPr lang="en-US" sz="2600" dirty="0"/>
          </a:p>
        </p:txBody>
      </p:sp>
      <p:sp>
        <p:nvSpPr>
          <p:cNvPr id="5" name="Text 3"/>
          <p:cNvSpPr txBox="1"/>
          <p:nvPr/>
        </p:nvSpPr>
        <p:spPr>
          <a:xfrm>
            <a:off x="548640" y="2331720"/>
            <a:ext cx="3566160" cy="1554480"/>
          </a:xfrm>
          <a:prstGeom prst="rect">
            <a:avLst/>
          </a:prstGeom>
          <a:noFill/>
          <a:ln/>
        </p:spPr>
        <p:txBody>
          <a:bodyPr wrap="square" lIns="0" tIns="0" rIns="0" bIns="0" rtlCol="0" anchor="t"/>
          <a:lstStyle/>
          <a:p>
            <a:pPr marL="342900" indent="-342900">
              <a:spcAft>
                <a:spcPts val="700"/>
              </a:spcAft>
              <a:buSzPct val="100000"/>
              <a:buChar char="■"/>
            </a:pPr>
            <a:r>
              <a:rPr lang="en-US" sz="2100" b="1" dirty="0">
                <a:solidFill>
                  <a:srgbClr val="1B1B1B"/>
                </a:solidFill>
                <a:highlight>
                  <a:srgbClr val="FFE066"/>
                </a:highlight>
                <a:latin typeface="Manrope" pitchFamily="34" charset="0"/>
                <a:ea typeface="Manrope" pitchFamily="34" charset="-122"/>
                <a:cs typeface="Manrope" pitchFamily="34" charset="-120"/>
              </a:rPr>
              <a:t>Satu tipe pesawat</a:t>
            </a:r>
            <a:r>
              <a:rPr lang="en-US" sz="2100" dirty="0">
                <a:solidFill>
                  <a:srgbClr val="1B1B1B"/>
                </a:solidFill>
                <a:latin typeface="Manrope" pitchFamily="34" charset="0"/>
                <a:ea typeface="Manrope" pitchFamily="34" charset="-122"/>
                <a:cs typeface="Manrope" pitchFamily="34" charset="-120"/>
              </a:rPr>
              <a:t> (A320)</a:t>
            </a:r>
            <a:endParaRPr lang="en-US" sz="2100" dirty="0"/>
          </a:p>
          <a:p>
            <a:pPr marL="342900" indent="-342900">
              <a:spcAft>
                <a:spcPts val="700"/>
              </a:spcAft>
              <a:buSzPct val="100000"/>
              <a:buChar char="■"/>
            </a:pPr>
            <a:r>
              <a:rPr lang="en-US" sz="2100" dirty="0">
                <a:solidFill>
                  <a:srgbClr val="1B1B1B"/>
                </a:solidFill>
                <a:latin typeface="Manrope" pitchFamily="34" charset="0"/>
                <a:ea typeface="Manrope" pitchFamily="34" charset="-122"/>
                <a:cs typeface="Manrope" pitchFamily="34" charset="-120"/>
              </a:rPr>
              <a:t>Satu kelas, </a:t>
            </a:r>
            <a:r>
              <a:rPr lang="en-US" sz="2100" b="1" dirty="0">
                <a:solidFill>
                  <a:srgbClr val="1B1B1B"/>
                </a:solidFill>
                <a:highlight>
                  <a:srgbClr val="FFE066"/>
                </a:highlight>
                <a:latin typeface="Manrope" pitchFamily="34" charset="0"/>
                <a:ea typeface="Manrope" pitchFamily="34" charset="-122"/>
                <a:cs typeface="Manrope" pitchFamily="34" charset="-120"/>
              </a:rPr>
              <a:t>no frills</a:t>
            </a:r>
            <a:endParaRPr lang="en-US" sz="2100" dirty="0"/>
          </a:p>
          <a:p>
            <a:pPr marL="342900" indent="-342900">
              <a:spcAft>
                <a:spcPts val="700"/>
              </a:spcAft>
              <a:buSzPct val="100000"/>
              <a:buChar char="■"/>
            </a:pPr>
            <a:r>
              <a:rPr lang="en-US" sz="2100" dirty="0">
                <a:solidFill>
                  <a:srgbClr val="1B1B1B"/>
                </a:solidFill>
                <a:latin typeface="Manrope" pitchFamily="34" charset="0"/>
                <a:ea typeface="Manrope" pitchFamily="34" charset="-122"/>
                <a:cs typeface="Manrope" pitchFamily="34" charset="-120"/>
              </a:rPr>
              <a:t>Titik ke titik, </a:t>
            </a:r>
            <a:r>
              <a:rPr lang="en-US" sz="2100" b="1" dirty="0">
                <a:solidFill>
                  <a:srgbClr val="1B1B1B"/>
                </a:solidFill>
                <a:highlight>
                  <a:srgbClr val="FFE066"/>
                </a:highlight>
                <a:latin typeface="Manrope" pitchFamily="34" charset="0"/>
                <a:ea typeface="Manrope" pitchFamily="34" charset="-122"/>
                <a:cs typeface="Manrope" pitchFamily="34" charset="-120"/>
              </a:rPr>
              <a:t>25 menit</a:t>
            </a:r>
            <a:endParaRPr lang="en-US" sz="2100" dirty="0"/>
          </a:p>
        </p:txBody>
      </p:sp>
      <p:sp>
        <p:nvSpPr>
          <p:cNvPr id="6" name="Shape 4"/>
          <p:cNvSpPr/>
          <p:nvPr/>
        </p:nvSpPr>
        <p:spPr>
          <a:xfrm>
            <a:off x="4297680" y="1600200"/>
            <a:ext cx="3566160" cy="594360"/>
          </a:xfrm>
          <a:prstGeom prst="rect">
            <a:avLst/>
          </a:prstGeom>
          <a:solidFill>
            <a:srgbClr val="2C7BB8"/>
          </a:solidFill>
          <a:ln w="12700">
            <a:solidFill>
              <a:srgbClr val="2C7BB8"/>
            </a:solidFill>
            <a:prstDash val="solid"/>
          </a:ln>
        </p:spPr>
      </p:sp>
      <p:sp>
        <p:nvSpPr>
          <p:cNvPr id="7" name="Text 5"/>
          <p:cNvSpPr txBox="1"/>
          <p:nvPr/>
        </p:nvSpPr>
        <p:spPr>
          <a:xfrm>
            <a:off x="4297680" y="1600200"/>
            <a:ext cx="3566160" cy="594360"/>
          </a:xfrm>
          <a:prstGeom prst="rect">
            <a:avLst/>
          </a:prstGeom>
          <a:noFill/>
          <a:ln/>
        </p:spPr>
        <p:txBody>
          <a:bodyPr wrap="square" lIns="0" tIns="2540" rIns="2540" bIns="0" rtlCol="0" anchor="ctr"/>
          <a:lstStyle/>
          <a:p>
            <a:pPr indent="0" marL="0">
              <a:buNone/>
            </a:pPr>
            <a:r>
              <a:rPr lang="en-US" sz="2600" dirty="0">
                <a:solidFill>
                  <a:srgbClr val="FFFFFF"/>
                </a:solidFill>
                <a:latin typeface="Bebas Neue" pitchFamily="34" charset="0"/>
                <a:ea typeface="Bebas Neue" pitchFamily="34" charset="-122"/>
                <a:cs typeface="Bebas Neue" pitchFamily="34" charset="-120"/>
              </a:rPr>
              <a:t>SDM ALA SOUTHWEST</a:t>
            </a:r>
            <a:endParaRPr lang="en-US" sz="2600" dirty="0"/>
          </a:p>
        </p:txBody>
      </p:sp>
      <p:sp>
        <p:nvSpPr>
          <p:cNvPr id="8" name="Text 6"/>
          <p:cNvSpPr txBox="1"/>
          <p:nvPr/>
        </p:nvSpPr>
        <p:spPr>
          <a:xfrm>
            <a:off x="4297680" y="2331720"/>
            <a:ext cx="3566160" cy="1554480"/>
          </a:xfrm>
          <a:prstGeom prst="rect">
            <a:avLst/>
          </a:prstGeom>
          <a:noFill/>
          <a:ln/>
        </p:spPr>
        <p:txBody>
          <a:bodyPr wrap="square" lIns="0" tIns="0" rIns="0" bIns="0" rtlCol="0" anchor="t"/>
          <a:lstStyle/>
          <a:p>
            <a:pPr marL="342900" indent="-342900">
              <a:spcAft>
                <a:spcPts val="700"/>
              </a:spcAft>
              <a:buSzPct val="100000"/>
              <a:buChar char="■"/>
            </a:pPr>
            <a:r>
              <a:rPr lang="en-US" sz="2100" dirty="0">
                <a:solidFill>
                  <a:srgbClr val="1B1B1B"/>
                </a:solidFill>
                <a:latin typeface="Manrope" pitchFamily="34" charset="0"/>
                <a:ea typeface="Manrope" pitchFamily="34" charset="-122"/>
                <a:cs typeface="Manrope" pitchFamily="34" charset="-120"/>
              </a:rPr>
              <a:t>Karyawan </a:t>
            </a:r>
            <a:r>
              <a:rPr lang="en-US" sz="2100" b="1" dirty="0">
                <a:solidFill>
                  <a:srgbClr val="1B1B1B"/>
                </a:solidFill>
                <a:highlight>
                  <a:srgbClr val="FFE066"/>
                </a:highlight>
                <a:latin typeface="Manrope" pitchFamily="34" charset="0"/>
                <a:ea typeface="Manrope" pitchFamily="34" charset="-122"/>
                <a:cs typeface="Manrope" pitchFamily="34" charset="-120"/>
              </a:rPr>
              <a:t>multi-skill</a:t>
            </a:r>
            <a:endParaRPr lang="en-US" sz="2100" dirty="0"/>
          </a:p>
          <a:p>
            <a:pPr marL="342900" indent="-342900">
              <a:spcAft>
                <a:spcPts val="700"/>
              </a:spcAft>
              <a:buSzPct val="100000"/>
              <a:buChar char="■"/>
            </a:pPr>
            <a:r>
              <a:rPr lang="en-US" sz="2100" dirty="0">
                <a:solidFill>
                  <a:srgbClr val="1B1B1B"/>
                </a:solidFill>
                <a:latin typeface="Manrope" pitchFamily="34" charset="0"/>
                <a:ea typeface="Manrope" pitchFamily="34" charset="-122"/>
                <a:cs typeface="Manrope" pitchFamily="34" charset="-120"/>
              </a:rPr>
              <a:t>Insentif </a:t>
            </a:r>
            <a:r>
              <a:rPr lang="en-US" sz="2100" b="1" dirty="0">
                <a:solidFill>
                  <a:srgbClr val="1B1B1B"/>
                </a:solidFill>
                <a:highlight>
                  <a:srgbClr val="FFE066"/>
                </a:highlight>
                <a:latin typeface="Manrope" pitchFamily="34" charset="0"/>
                <a:ea typeface="Manrope" pitchFamily="34" charset="-122"/>
                <a:cs typeface="Manrope" pitchFamily="34" charset="-120"/>
              </a:rPr>
              <a:t>produktivitas</a:t>
            </a:r>
            <a:endParaRPr lang="en-US" sz="2100" dirty="0"/>
          </a:p>
          <a:p>
            <a:pPr marL="342900" indent="-342900">
              <a:spcAft>
                <a:spcPts val="700"/>
              </a:spcAft>
              <a:buSzPct val="100000"/>
              <a:buChar char="■"/>
            </a:pPr>
            <a:r>
              <a:rPr lang="en-US" sz="2100" dirty="0">
                <a:solidFill>
                  <a:srgbClr val="1B1B1B"/>
                </a:solidFill>
                <a:latin typeface="Manrope" pitchFamily="34" charset="0"/>
                <a:ea typeface="Manrope" pitchFamily="34" charset="-122"/>
                <a:cs typeface="Manrope" pitchFamily="34" charset="-120"/>
              </a:rPr>
              <a:t>Budaya tanpa hierarki</a:t>
            </a:r>
            <a:endParaRPr lang="en-US" sz="2100" dirty="0"/>
          </a:p>
        </p:txBody>
      </p:sp>
      <p:sp>
        <p:nvSpPr>
          <p:cNvPr id="9" name="Shape 7"/>
          <p:cNvSpPr/>
          <p:nvPr/>
        </p:nvSpPr>
        <p:spPr>
          <a:xfrm>
            <a:off x="8046720" y="1600200"/>
            <a:ext cx="3566160" cy="594360"/>
          </a:xfrm>
          <a:prstGeom prst="rect">
            <a:avLst/>
          </a:prstGeom>
          <a:solidFill>
            <a:srgbClr val="F4C430"/>
          </a:solidFill>
          <a:ln w="12700">
            <a:solidFill>
              <a:srgbClr val="F4C430"/>
            </a:solidFill>
            <a:prstDash val="solid"/>
          </a:ln>
        </p:spPr>
      </p:sp>
      <p:sp>
        <p:nvSpPr>
          <p:cNvPr id="10" name="Text 8"/>
          <p:cNvSpPr txBox="1"/>
          <p:nvPr/>
        </p:nvSpPr>
        <p:spPr>
          <a:xfrm>
            <a:off x="8046720" y="1600200"/>
            <a:ext cx="3566160" cy="594360"/>
          </a:xfrm>
          <a:prstGeom prst="rect">
            <a:avLst/>
          </a:prstGeom>
          <a:noFill/>
          <a:ln/>
        </p:spPr>
        <p:txBody>
          <a:bodyPr wrap="square" lIns="0" tIns="2540" rIns="2540" bIns="0" rtlCol="0" anchor="ctr"/>
          <a:lstStyle/>
          <a:p>
            <a:pPr indent="0" marL="0">
              <a:buNone/>
            </a:pPr>
            <a:r>
              <a:rPr lang="en-US" sz="2600" dirty="0">
                <a:solidFill>
                  <a:srgbClr val="1B1B1B"/>
                </a:solidFill>
                <a:latin typeface="Bebas Neue" pitchFamily="34" charset="0"/>
                <a:ea typeface="Bebas Neue" pitchFamily="34" charset="-122"/>
                <a:cs typeface="Bebas Neue" pitchFamily="34" charset="-120"/>
              </a:rPr>
              <a:t>MEREK ALA EASYJET</a:t>
            </a:r>
            <a:endParaRPr lang="en-US" sz="2600" dirty="0"/>
          </a:p>
        </p:txBody>
      </p:sp>
      <p:sp>
        <p:nvSpPr>
          <p:cNvPr id="11" name="Text 9"/>
          <p:cNvSpPr txBox="1"/>
          <p:nvPr/>
        </p:nvSpPr>
        <p:spPr>
          <a:xfrm>
            <a:off x="8046720" y="2331720"/>
            <a:ext cx="3566160" cy="1554480"/>
          </a:xfrm>
          <a:prstGeom prst="rect">
            <a:avLst/>
          </a:prstGeom>
          <a:noFill/>
          <a:ln/>
        </p:spPr>
        <p:txBody>
          <a:bodyPr wrap="square" lIns="0" tIns="0" rIns="0" bIns="0" rtlCol="0" anchor="t"/>
          <a:lstStyle/>
          <a:p>
            <a:pPr marL="342900" indent="-342900">
              <a:spcAft>
                <a:spcPts val="700"/>
              </a:spcAft>
              <a:buSzPct val="100000"/>
              <a:buChar char="■"/>
            </a:pPr>
            <a:r>
              <a:rPr lang="en-US" sz="2100" dirty="0">
                <a:solidFill>
                  <a:srgbClr val="1B1B1B"/>
                </a:solidFill>
                <a:latin typeface="Manrope" pitchFamily="34" charset="0"/>
                <a:ea typeface="Manrope" pitchFamily="34" charset="-122"/>
                <a:cs typeface="Manrope" pitchFamily="34" charset="-120"/>
              </a:rPr>
              <a:t>Iklan </a:t>
            </a:r>
            <a:r>
              <a:rPr lang="en-US" sz="2100" b="1" dirty="0">
                <a:solidFill>
                  <a:srgbClr val="1B1B1B"/>
                </a:solidFill>
                <a:highlight>
                  <a:srgbClr val="FFE066"/>
                </a:highlight>
                <a:latin typeface="Manrope" pitchFamily="34" charset="0"/>
                <a:ea typeface="Manrope" pitchFamily="34" charset="-122"/>
                <a:cs typeface="Manrope" pitchFamily="34" charset="-120"/>
              </a:rPr>
              <a:t>kontra-siklus</a:t>
            </a:r>
            <a:endParaRPr lang="en-US" sz="2100" dirty="0"/>
          </a:p>
          <a:p>
            <a:pPr marL="342900" indent="-342900">
              <a:spcAft>
                <a:spcPts val="700"/>
              </a:spcAft>
              <a:buSzPct val="100000"/>
              <a:buChar char="■"/>
            </a:pPr>
            <a:r>
              <a:rPr lang="en-US" sz="2100" dirty="0">
                <a:solidFill>
                  <a:srgbClr val="1B1B1B"/>
                </a:solidFill>
                <a:latin typeface="Manrope" pitchFamily="34" charset="0"/>
                <a:ea typeface="Manrope" pitchFamily="34" charset="-122"/>
                <a:cs typeface="Manrope" pitchFamily="34" charset="-120"/>
              </a:rPr>
              <a:t>Co-branding, sponsorship</a:t>
            </a:r>
            <a:endParaRPr lang="en-US" sz="2100" dirty="0"/>
          </a:p>
          <a:p>
            <a:pPr marL="342900" indent="-342900">
              <a:spcAft>
                <a:spcPts val="700"/>
              </a:spcAft>
              <a:buSzPct val="100000"/>
              <a:buChar char="■"/>
            </a:pPr>
            <a:r>
              <a:rPr lang="en-US" sz="2100" b="1" dirty="0">
                <a:solidFill>
                  <a:srgbClr val="1B1B1B"/>
                </a:solidFill>
                <a:highlight>
                  <a:srgbClr val="FFE066"/>
                </a:highlight>
                <a:latin typeface="Manrope" pitchFamily="34" charset="0"/>
                <a:ea typeface="Manrope" pitchFamily="34" charset="-122"/>
                <a:cs typeface="Manrope" pitchFamily="34" charset="-120"/>
              </a:rPr>
              <a:t>Distribusi langsung</a:t>
            </a:r>
            <a:r>
              <a:rPr lang="en-US" sz="2100" dirty="0">
                <a:solidFill>
                  <a:srgbClr val="1B1B1B"/>
                </a:solidFill>
                <a:latin typeface="Manrope" pitchFamily="34" charset="0"/>
                <a:ea typeface="Manrope" pitchFamily="34" charset="-122"/>
                <a:cs typeface="Manrope" pitchFamily="34" charset="-120"/>
              </a:rPr>
              <a:t>, IT</a:t>
            </a:r>
            <a:endParaRPr lang="en-US" sz="2100" dirty="0"/>
          </a:p>
        </p:txBody>
      </p:sp>
      <p:sp>
        <p:nvSpPr>
          <p:cNvPr id="12" name="Shape 10"/>
          <p:cNvSpPr/>
          <p:nvPr/>
        </p:nvSpPr>
        <p:spPr>
          <a:xfrm>
            <a:off x="713232" y="4279392"/>
            <a:ext cx="6949440" cy="1783080"/>
          </a:xfrm>
          <a:prstGeom prst="rect">
            <a:avLst/>
          </a:prstGeom>
          <a:solidFill>
            <a:srgbClr val="2C7BB8"/>
          </a:solidFill>
          <a:ln w="12700">
            <a:solidFill>
              <a:srgbClr val="2C7BB8"/>
            </a:solidFill>
            <a:prstDash val="solid"/>
          </a:ln>
        </p:spPr>
      </p:sp>
      <p:pic>
        <p:nvPicPr>
          <p:cNvPr id="13" name="Image 0" descr="/tmp/claude-0/-home-user-Dom-Manipulation/a70c4110-05d8-512e-ae11-d08dee025a7a/scratchpad/img/bw_hangar.png">    </p:cNvPr>
          <p:cNvPicPr>
            <a:picLocks noChangeAspect="1"/>
          </p:cNvPicPr>
          <p:nvPr/>
        </p:nvPicPr>
        <p:blipFill>
          <a:blip r:embed="rId1"/>
          <a:srcRect l="0" r="0" t="0" b="0"/>
          <a:stretch/>
        </p:blipFill>
        <p:spPr>
          <a:xfrm>
            <a:off x="548640" y="4114800"/>
            <a:ext cx="6949440" cy="1783080"/>
          </a:xfrm>
          <a:prstGeom prst="rect">
            <a:avLst/>
          </a:prstGeom>
        </p:spPr>
      </p:pic>
      <p:sp>
        <p:nvSpPr>
          <p:cNvPr id="14" name="Text 11"/>
          <p:cNvSpPr txBox="1"/>
          <p:nvPr/>
        </p:nvSpPr>
        <p:spPr>
          <a:xfrm>
            <a:off x="7863840" y="4114800"/>
            <a:ext cx="3749040" cy="1783080"/>
          </a:xfrm>
          <a:prstGeom prst="rect">
            <a:avLst/>
          </a:prstGeom>
          <a:noFill/>
          <a:ln/>
        </p:spPr>
        <p:txBody>
          <a:bodyPr wrap="square" lIns="0" tIns="0" rIns="0" bIns="0" rtlCol="0" anchor="ctr"/>
          <a:lstStyle/>
          <a:p>
            <a:pPr indent="0" marL="0">
              <a:buNone/>
            </a:pPr>
            <a:r>
              <a:rPr lang="en-US" sz="2100" dirty="0">
                <a:solidFill>
                  <a:srgbClr val="1B1B1B"/>
                </a:solidFill>
                <a:latin typeface="Manrope" pitchFamily="34" charset="0"/>
                <a:ea typeface="Manrope" pitchFamily="34" charset="-122"/>
                <a:cs typeface="Manrope" pitchFamily="34" charset="-120"/>
              </a:rPr>
              <a:t>Ketiganya </a:t>
            </a:r>
            <a:r>
              <a:rPr lang="en-US" sz="2100" b="1" dirty="0">
                <a:solidFill>
                  <a:srgbClr val="1B1B1B"/>
                </a:solidFill>
                <a:highlight>
                  <a:srgbClr val="FFE066"/>
                </a:highlight>
                <a:latin typeface="Manrope" pitchFamily="34" charset="0"/>
                <a:ea typeface="Manrope" pitchFamily="34" charset="-122"/>
                <a:cs typeface="Manrope" pitchFamily="34" charset="-120"/>
              </a:rPr>
              <a:t>saling menopang</a:t>
            </a:r>
            <a:r>
              <a:rPr lang="en-US" sz="2100" dirty="0">
                <a:solidFill>
                  <a:srgbClr val="1B1B1B"/>
                </a:solidFill>
                <a:latin typeface="Manrope" pitchFamily="34" charset="0"/>
                <a:ea typeface="Manrope" pitchFamily="34" charset="-122"/>
                <a:cs typeface="Manrope" pitchFamily="34" charset="-120"/>
              </a:rPr>
              <a:t>: sebuah </a:t>
            </a:r>
            <a:r>
              <a:rPr lang="en-US" sz="2100" b="1" dirty="0">
                <a:solidFill>
                  <a:srgbClr val="1B1B1B"/>
                </a:solidFill>
                <a:highlight>
                  <a:srgbClr val="FFE066"/>
                </a:highlight>
                <a:latin typeface="Manrope" pitchFamily="34" charset="0"/>
                <a:ea typeface="Manrope" pitchFamily="34" charset="-122"/>
                <a:cs typeface="Manrope" pitchFamily="34" charset="-120"/>
              </a:rPr>
              <a:t>sistem</a:t>
            </a:r>
            <a:r>
              <a:rPr lang="en-US" sz="2100" dirty="0">
                <a:solidFill>
                  <a:srgbClr val="1B1B1B"/>
                </a:solidFill>
                <a:latin typeface="Manrope" pitchFamily="34" charset="0"/>
                <a:ea typeface="Manrope" pitchFamily="34" charset="-122"/>
                <a:cs typeface="Manrope" pitchFamily="34" charset="-120"/>
              </a:rPr>
              <a:t>, bukan satu kebijakan tunggal. Sulit ditiru, tetapi juga sulit dipindahkan sebagian.</a:t>
            </a:r>
            <a:endParaRPr lang="en-US" sz="2100" dirty="0"/>
          </a:p>
        </p:txBody>
      </p:sp>
      <p:sp>
        <p:nvSpPr>
          <p:cNvPr id="15" name="Text 12"/>
          <p:cNvSpPr txBox="1"/>
          <p:nvPr/>
        </p:nvSpPr>
        <p:spPr>
          <a:xfrm>
            <a:off x="548640" y="6217920"/>
            <a:ext cx="10424160" cy="411480"/>
          </a:xfrm>
          <a:prstGeom prst="rect">
            <a:avLst/>
          </a:prstGeom>
          <a:noFill/>
          <a:ln/>
        </p:spPr>
        <p:txBody>
          <a:bodyPr wrap="square" lIns="0" tIns="0" rIns="0" bIns="0" rtlCol="0" anchor="ctr"/>
          <a:lstStyle/>
          <a:p>
            <a:pPr indent="0" marL="0">
              <a:buNone/>
            </a:pPr>
            <a:r>
              <a:rPr lang="en-US" sz="1100" dirty="0">
                <a:solidFill>
                  <a:srgbClr val="E63E2C"/>
                </a:solidFill>
                <a:latin typeface="Manrope" pitchFamily="34" charset="0"/>
                <a:ea typeface="Manrope" pitchFamily="34" charset="-122"/>
                <a:cs typeface="Manrope" pitchFamily="34" charset="-120"/>
              </a:rPr>
              <a:t>■  </a:t>
            </a:r>
            <a:r>
              <a:rPr lang="en-US" sz="1600" b="1" dirty="0">
                <a:solidFill>
                  <a:srgbClr val="1B1B1B"/>
                </a:solidFill>
                <a:latin typeface="Manrope" pitchFamily="34" charset="0"/>
                <a:ea typeface="Manrope" pitchFamily="34" charset="-122"/>
                <a:cs typeface="Manrope" pitchFamily="34" charset="-120"/>
              </a:rPr>
              <a:t>Selanjutnya  </a:t>
            </a:r>
            <a:r>
              <a:rPr lang="en-US" sz="1600" dirty="0">
                <a:solidFill>
                  <a:srgbClr val="4A4A4A"/>
                </a:solidFill>
                <a:latin typeface="Manrope" pitchFamily="34" charset="0"/>
                <a:ea typeface="Manrope" pitchFamily="34" charset="-122"/>
                <a:cs typeface="Manrope" pitchFamily="34" charset="-120"/>
              </a:rPr>
              <a:t>Mana yang ikut ke rute jauh, mana yang tertinggal?</a:t>
            </a:r>
            <a:endParaRPr lang="en-US" sz="1600" dirty="0"/>
          </a:p>
        </p:txBody>
      </p:sp>
      <p:sp>
        <p:nvSpPr>
          <p:cNvPr id="16" name="Text 13"/>
          <p:cNvSpPr txBox="1"/>
          <p:nvPr/>
        </p:nvSpPr>
        <p:spPr>
          <a:xfrm>
            <a:off x="11247120" y="6355080"/>
            <a:ext cx="548640" cy="320040"/>
          </a:xfrm>
          <a:prstGeom prst="rect">
            <a:avLst/>
          </a:prstGeom>
          <a:noFill/>
          <a:ln/>
        </p:spPr>
        <p:txBody>
          <a:bodyPr wrap="square" lIns="0" tIns="0" rIns="0" bIns="0" rtlCol="0" anchor="ctr"/>
          <a:lstStyle/>
          <a:p>
            <a:pPr algn="r" indent="0" marL="0">
              <a:buNone/>
            </a:pPr>
            <a:r>
              <a:rPr lang="en-US" sz="1200" b="1" dirty="0">
                <a:solidFill>
                  <a:srgbClr val="1B1B1B"/>
                </a:solidFill>
                <a:latin typeface="Manrope" pitchFamily="34" charset="0"/>
                <a:ea typeface="Manrope" pitchFamily="34" charset="-122"/>
                <a:cs typeface="Manrope"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E2CF"/>
        </a:solidFill>
      </p:bgPr>
    </p:bg>
    <p:spTree>
      <p:nvGrpSpPr>
        <p:cNvPr id="1" name=""/>
        <p:cNvGrpSpPr/>
        <p:nvPr/>
      </p:nvGrpSpPr>
      <p:grpSpPr>
        <a:xfrm>
          <a:off x="0" y="0"/>
          <a:ext cx="0" cy="0"/>
          <a:chOff x="0" y="0"/>
          <a:chExt cx="0" cy="0"/>
        </a:xfrm>
      </p:grpSpPr>
      <p:sp>
        <p:nvSpPr>
          <p:cNvPr id="2" name="Text 0"/>
          <p:cNvSpPr txBox="1"/>
          <p:nvPr/>
        </p:nvSpPr>
        <p:spPr>
          <a:xfrm>
            <a:off x="548640" y="457200"/>
            <a:ext cx="10515600" cy="914400"/>
          </a:xfrm>
          <a:prstGeom prst="rect">
            <a:avLst/>
          </a:prstGeom>
          <a:noFill/>
          <a:ln/>
        </p:spPr>
        <p:txBody>
          <a:bodyPr wrap="square" lIns="0" tIns="0" rIns="0" bIns="0" rtlCol="0" anchor="ctr"/>
          <a:lstStyle/>
          <a:p>
            <a:pPr indent="0" marL="0">
              <a:buNone/>
            </a:pPr>
            <a:r>
              <a:rPr lang="en-US" sz="5800" dirty="0">
                <a:solidFill>
                  <a:srgbClr val="1B1B1B"/>
                </a:solidFill>
                <a:latin typeface="Bebas Neue" pitchFamily="34" charset="0"/>
                <a:ea typeface="Bebas Neue" pitchFamily="34" charset="-122"/>
                <a:cs typeface="Bebas Neue" pitchFamily="34" charset="-120"/>
              </a:rPr>
              <a:t>TRANSFERABILITY TEST</a:t>
            </a:r>
            <a:endParaRPr lang="en-US" sz="5800" dirty="0"/>
          </a:p>
        </p:txBody>
      </p:sp>
      <p:sp>
        <p:nvSpPr>
          <p:cNvPr id="3" name="Text 1"/>
          <p:cNvSpPr txBox="1"/>
          <p:nvPr/>
        </p:nvSpPr>
        <p:spPr>
          <a:xfrm>
            <a:off x="548640" y="1600200"/>
            <a:ext cx="5120640" cy="548640"/>
          </a:xfrm>
          <a:prstGeom prst="rect">
            <a:avLst/>
          </a:prstGeom>
          <a:noFill/>
          <a:ln/>
        </p:spPr>
        <p:txBody>
          <a:bodyPr wrap="square" lIns="0" tIns="0" rIns="0" bIns="0" rtlCol="0" anchor="ctr"/>
          <a:lstStyle/>
          <a:p>
            <a:pPr indent="0" marL="0">
              <a:buNone/>
            </a:pPr>
            <a:r>
              <a:rPr lang="en-US" sz="3000" dirty="0">
                <a:solidFill>
                  <a:srgbClr val="2C7BB8"/>
                </a:solidFill>
                <a:latin typeface="Bebas Neue" pitchFamily="34" charset="0"/>
                <a:ea typeface="Bebas Neue" pitchFamily="34" charset="-122"/>
                <a:cs typeface="Bebas Neue" pitchFamily="34" charset="-120"/>
              </a:rPr>
              <a:t>IKUT TERBAWA</a:t>
            </a:r>
            <a:endParaRPr lang="en-US" sz="3000" dirty="0"/>
          </a:p>
        </p:txBody>
      </p:sp>
      <p:sp>
        <p:nvSpPr>
          <p:cNvPr id="4" name="Shape 2"/>
          <p:cNvSpPr/>
          <p:nvPr/>
        </p:nvSpPr>
        <p:spPr>
          <a:xfrm>
            <a:off x="548640" y="2313432"/>
            <a:ext cx="1234440" cy="365760"/>
          </a:xfrm>
          <a:prstGeom prst="rect">
            <a:avLst/>
          </a:prstGeom>
          <a:solidFill>
            <a:srgbClr val="2C7BB8"/>
          </a:solidFill>
          <a:ln w="12700">
            <a:solidFill>
              <a:srgbClr val="2C7BB8"/>
            </a:solidFill>
            <a:prstDash val="solid"/>
          </a:ln>
        </p:spPr>
      </p:sp>
      <p:sp>
        <p:nvSpPr>
          <p:cNvPr id="5" name="Text 3"/>
          <p:cNvSpPr txBox="1"/>
          <p:nvPr/>
        </p:nvSpPr>
        <p:spPr>
          <a:xfrm>
            <a:off x="548640" y="2313432"/>
            <a:ext cx="1234440" cy="365760"/>
          </a:xfrm>
          <a:prstGeom prst="rect">
            <a:avLst/>
          </a:prstGeom>
          <a:noFill/>
          <a:ln/>
        </p:spPr>
        <p:txBody>
          <a:bodyPr wrap="square" lIns="0" tIns="0" rIns="0" bIns="0" rtlCol="0" anchor="ctr"/>
          <a:lstStyle/>
          <a:p>
            <a:pPr algn="ctr" indent="0" marL="0">
              <a:buNone/>
            </a:pPr>
            <a:r>
              <a:rPr lang="en-US" sz="1400" b="1" spc="100" kern="0" dirty="0">
                <a:solidFill>
                  <a:srgbClr val="FFFFFF"/>
                </a:solidFill>
                <a:latin typeface="Manrope" pitchFamily="34" charset="0"/>
                <a:ea typeface="Manrope" pitchFamily="34" charset="-122"/>
                <a:cs typeface="Manrope" pitchFamily="34" charset="-120"/>
              </a:rPr>
              <a:t>PENUH</a:t>
            </a:r>
            <a:endParaRPr lang="en-US" sz="1400" dirty="0"/>
          </a:p>
        </p:txBody>
      </p:sp>
      <p:sp>
        <p:nvSpPr>
          <p:cNvPr id="6" name="Text 4"/>
          <p:cNvSpPr txBox="1"/>
          <p:nvPr/>
        </p:nvSpPr>
        <p:spPr>
          <a:xfrm>
            <a:off x="1920240" y="2240280"/>
            <a:ext cx="3657600" cy="512064"/>
          </a:xfrm>
          <a:prstGeom prst="rect">
            <a:avLst/>
          </a:prstGeom>
          <a:noFill/>
          <a:ln/>
        </p:spPr>
        <p:txBody>
          <a:bodyPr wrap="square" lIns="0" tIns="0" rIns="0" bIns="0" rtlCol="0" anchor="ctr"/>
          <a:lstStyle/>
          <a:p>
            <a:pPr indent="0" marL="0">
              <a:buNone/>
            </a:pPr>
            <a:r>
              <a:rPr lang="en-US" sz="2100" b="1" dirty="0">
                <a:solidFill>
                  <a:srgbClr val="1B1B1B"/>
                </a:solidFill>
                <a:highlight>
                  <a:srgbClr val="FFE066"/>
                </a:highlight>
                <a:latin typeface="Manrope" pitchFamily="34" charset="0"/>
                <a:ea typeface="Manrope" pitchFamily="34" charset="-122"/>
                <a:cs typeface="Manrope" pitchFamily="34" charset="-120"/>
              </a:rPr>
              <a:t>Merek</a:t>
            </a:r>
            <a:r>
              <a:rPr lang="en-US" sz="2100" dirty="0">
                <a:solidFill>
                  <a:srgbClr val="1B1B1B"/>
                </a:solidFill>
                <a:latin typeface="Manrope" pitchFamily="34" charset="0"/>
                <a:ea typeface="Manrope" pitchFamily="34" charset="-122"/>
                <a:cs typeface="Manrope" pitchFamily="34" charset="-120"/>
              </a:rPr>
              <a:t> dan reputasi</a:t>
            </a:r>
            <a:endParaRPr lang="en-US" sz="2100" dirty="0"/>
          </a:p>
        </p:txBody>
      </p:sp>
      <p:sp>
        <p:nvSpPr>
          <p:cNvPr id="7" name="Shape 5"/>
          <p:cNvSpPr/>
          <p:nvPr/>
        </p:nvSpPr>
        <p:spPr>
          <a:xfrm>
            <a:off x="548640" y="2843784"/>
            <a:ext cx="1234440" cy="365760"/>
          </a:xfrm>
          <a:prstGeom prst="rect">
            <a:avLst/>
          </a:prstGeom>
          <a:solidFill>
            <a:srgbClr val="2C7BB8"/>
          </a:solidFill>
          <a:ln w="12700">
            <a:solidFill>
              <a:srgbClr val="2C7BB8"/>
            </a:solidFill>
            <a:prstDash val="solid"/>
          </a:ln>
        </p:spPr>
      </p:sp>
      <p:sp>
        <p:nvSpPr>
          <p:cNvPr id="8" name="Text 6"/>
          <p:cNvSpPr txBox="1"/>
          <p:nvPr/>
        </p:nvSpPr>
        <p:spPr>
          <a:xfrm>
            <a:off x="548640" y="2843784"/>
            <a:ext cx="1234440" cy="365760"/>
          </a:xfrm>
          <a:prstGeom prst="rect">
            <a:avLst/>
          </a:prstGeom>
          <a:noFill/>
          <a:ln/>
        </p:spPr>
        <p:txBody>
          <a:bodyPr wrap="square" lIns="0" tIns="0" rIns="0" bIns="0" rtlCol="0" anchor="ctr"/>
          <a:lstStyle/>
          <a:p>
            <a:pPr algn="ctr" indent="0" marL="0">
              <a:buNone/>
            </a:pPr>
            <a:r>
              <a:rPr lang="en-US" sz="1400" b="1" spc="100" kern="0" dirty="0">
                <a:solidFill>
                  <a:srgbClr val="FFFFFF"/>
                </a:solidFill>
                <a:latin typeface="Manrope" pitchFamily="34" charset="0"/>
                <a:ea typeface="Manrope" pitchFamily="34" charset="-122"/>
                <a:cs typeface="Manrope" pitchFamily="34" charset="-120"/>
              </a:rPr>
              <a:t>PENUH</a:t>
            </a:r>
            <a:endParaRPr lang="en-US" sz="1400" dirty="0"/>
          </a:p>
        </p:txBody>
      </p:sp>
      <p:sp>
        <p:nvSpPr>
          <p:cNvPr id="9" name="Text 7"/>
          <p:cNvSpPr txBox="1"/>
          <p:nvPr/>
        </p:nvSpPr>
        <p:spPr>
          <a:xfrm>
            <a:off x="1920240" y="2770632"/>
            <a:ext cx="3657600" cy="512064"/>
          </a:xfrm>
          <a:prstGeom prst="rect">
            <a:avLst/>
          </a:prstGeom>
          <a:noFill/>
          <a:ln/>
        </p:spPr>
        <p:txBody>
          <a:bodyPr wrap="square" lIns="0" tIns="0" rIns="0" bIns="0" rtlCol="0" anchor="ctr"/>
          <a:lstStyle/>
          <a:p>
            <a:pPr indent="0" marL="0">
              <a:buNone/>
            </a:pPr>
            <a:r>
              <a:rPr lang="en-US" sz="2100" b="1" dirty="0">
                <a:solidFill>
                  <a:srgbClr val="1B1B1B"/>
                </a:solidFill>
                <a:highlight>
                  <a:srgbClr val="FFE066"/>
                </a:highlight>
                <a:latin typeface="Manrope" pitchFamily="34" charset="0"/>
                <a:ea typeface="Manrope" pitchFamily="34" charset="-122"/>
                <a:cs typeface="Manrope" pitchFamily="34" charset="-120"/>
              </a:rPr>
              <a:t>Distribusi langsung</a:t>
            </a:r>
            <a:r>
              <a:rPr lang="en-US" sz="2100" dirty="0">
                <a:solidFill>
                  <a:srgbClr val="1B1B1B"/>
                </a:solidFill>
                <a:latin typeface="Manrope" pitchFamily="34" charset="0"/>
                <a:ea typeface="Manrope" pitchFamily="34" charset="-122"/>
                <a:cs typeface="Manrope" pitchFamily="34" charset="-120"/>
              </a:rPr>
              <a:t> dan IT</a:t>
            </a:r>
            <a:endParaRPr lang="en-US" sz="2100" dirty="0"/>
          </a:p>
        </p:txBody>
      </p:sp>
      <p:sp>
        <p:nvSpPr>
          <p:cNvPr id="10" name="Shape 8"/>
          <p:cNvSpPr/>
          <p:nvPr/>
        </p:nvSpPr>
        <p:spPr>
          <a:xfrm>
            <a:off x="548640" y="3374136"/>
            <a:ext cx="1234440" cy="365760"/>
          </a:xfrm>
          <a:prstGeom prst="rect">
            <a:avLst/>
          </a:prstGeom>
          <a:solidFill>
            <a:srgbClr val="2C7BB8"/>
          </a:solidFill>
          <a:ln w="12700">
            <a:solidFill>
              <a:srgbClr val="2C7BB8"/>
            </a:solidFill>
            <a:prstDash val="solid"/>
          </a:ln>
        </p:spPr>
      </p:sp>
      <p:sp>
        <p:nvSpPr>
          <p:cNvPr id="11" name="Text 9"/>
          <p:cNvSpPr txBox="1"/>
          <p:nvPr/>
        </p:nvSpPr>
        <p:spPr>
          <a:xfrm>
            <a:off x="548640" y="3374136"/>
            <a:ext cx="1234440" cy="365760"/>
          </a:xfrm>
          <a:prstGeom prst="rect">
            <a:avLst/>
          </a:prstGeom>
          <a:noFill/>
          <a:ln/>
        </p:spPr>
        <p:txBody>
          <a:bodyPr wrap="square" lIns="0" tIns="0" rIns="0" bIns="0" rtlCol="0" anchor="ctr"/>
          <a:lstStyle/>
          <a:p>
            <a:pPr algn="ctr" indent="0" marL="0">
              <a:buNone/>
            </a:pPr>
            <a:r>
              <a:rPr lang="en-US" sz="1400" b="1" spc="100" kern="0" dirty="0">
                <a:solidFill>
                  <a:srgbClr val="FFFFFF"/>
                </a:solidFill>
                <a:latin typeface="Manrope" pitchFamily="34" charset="0"/>
                <a:ea typeface="Manrope" pitchFamily="34" charset="-122"/>
                <a:cs typeface="Manrope" pitchFamily="34" charset="-120"/>
              </a:rPr>
              <a:t>PENUH</a:t>
            </a:r>
            <a:endParaRPr lang="en-US" sz="1400" dirty="0"/>
          </a:p>
        </p:txBody>
      </p:sp>
      <p:sp>
        <p:nvSpPr>
          <p:cNvPr id="12" name="Text 10"/>
          <p:cNvSpPr txBox="1"/>
          <p:nvPr/>
        </p:nvSpPr>
        <p:spPr>
          <a:xfrm>
            <a:off x="1920240" y="3300984"/>
            <a:ext cx="3657600" cy="512064"/>
          </a:xfrm>
          <a:prstGeom prst="rect">
            <a:avLst/>
          </a:prstGeom>
          <a:noFill/>
          <a:ln/>
        </p:spPr>
        <p:txBody>
          <a:bodyPr wrap="square" lIns="0" tIns="0" rIns="0" bIns="0" rtlCol="0" anchor="ctr"/>
          <a:lstStyle/>
          <a:p>
            <a:pPr indent="0" marL="0">
              <a:buNone/>
            </a:pPr>
            <a:r>
              <a:rPr lang="en-US" sz="2100" b="1" dirty="0">
                <a:solidFill>
                  <a:srgbClr val="1B1B1B"/>
                </a:solidFill>
                <a:highlight>
                  <a:srgbClr val="FFE066"/>
                </a:highlight>
                <a:latin typeface="Manrope" pitchFamily="34" charset="0"/>
                <a:ea typeface="Manrope" pitchFamily="34" charset="-122"/>
                <a:cs typeface="Manrope" pitchFamily="34" charset="-120"/>
              </a:rPr>
              <a:t>SDM</a:t>
            </a:r>
            <a:r>
              <a:rPr lang="en-US" sz="2100" dirty="0">
                <a:solidFill>
                  <a:srgbClr val="1B1B1B"/>
                </a:solidFill>
                <a:latin typeface="Manrope" pitchFamily="34" charset="0"/>
                <a:ea typeface="Manrope" pitchFamily="34" charset="-122"/>
                <a:cs typeface="Manrope" pitchFamily="34" charset="-120"/>
              </a:rPr>
              <a:t> dan budaya biaya</a:t>
            </a:r>
            <a:endParaRPr lang="en-US" sz="2100" dirty="0"/>
          </a:p>
        </p:txBody>
      </p:sp>
      <p:sp>
        <p:nvSpPr>
          <p:cNvPr id="13" name="Shape 11"/>
          <p:cNvSpPr/>
          <p:nvPr/>
        </p:nvSpPr>
        <p:spPr>
          <a:xfrm>
            <a:off x="548640" y="3904488"/>
            <a:ext cx="1234440" cy="365760"/>
          </a:xfrm>
          <a:prstGeom prst="rect">
            <a:avLst/>
          </a:prstGeom>
          <a:solidFill>
            <a:srgbClr val="2C7BB8"/>
          </a:solidFill>
          <a:ln w="12700">
            <a:solidFill>
              <a:srgbClr val="2C7BB8"/>
            </a:solidFill>
            <a:prstDash val="solid"/>
          </a:ln>
        </p:spPr>
      </p:sp>
      <p:sp>
        <p:nvSpPr>
          <p:cNvPr id="14" name="Text 12"/>
          <p:cNvSpPr txBox="1"/>
          <p:nvPr/>
        </p:nvSpPr>
        <p:spPr>
          <a:xfrm>
            <a:off x="548640" y="3904488"/>
            <a:ext cx="1234440" cy="365760"/>
          </a:xfrm>
          <a:prstGeom prst="rect">
            <a:avLst/>
          </a:prstGeom>
          <a:noFill/>
          <a:ln/>
        </p:spPr>
        <p:txBody>
          <a:bodyPr wrap="square" lIns="0" tIns="0" rIns="0" bIns="0" rtlCol="0" anchor="ctr"/>
          <a:lstStyle/>
          <a:p>
            <a:pPr algn="ctr" indent="0" marL="0">
              <a:buNone/>
            </a:pPr>
            <a:r>
              <a:rPr lang="en-US" sz="1400" b="1" spc="100" kern="0" dirty="0">
                <a:solidFill>
                  <a:srgbClr val="FFFFFF"/>
                </a:solidFill>
                <a:latin typeface="Manrope" pitchFamily="34" charset="0"/>
                <a:ea typeface="Manrope" pitchFamily="34" charset="-122"/>
                <a:cs typeface="Manrope" pitchFamily="34" charset="-120"/>
              </a:rPr>
              <a:t>PENUH</a:t>
            </a:r>
            <a:endParaRPr lang="en-US" sz="1400" dirty="0"/>
          </a:p>
        </p:txBody>
      </p:sp>
      <p:sp>
        <p:nvSpPr>
          <p:cNvPr id="15" name="Text 13"/>
          <p:cNvSpPr txBox="1"/>
          <p:nvPr/>
        </p:nvSpPr>
        <p:spPr>
          <a:xfrm>
            <a:off x="1920240" y="3831336"/>
            <a:ext cx="3657600" cy="512064"/>
          </a:xfrm>
          <a:prstGeom prst="rect">
            <a:avLst/>
          </a:prstGeom>
          <a:noFill/>
          <a:ln/>
        </p:spPr>
        <p:txBody>
          <a:bodyPr wrap="square" lIns="0" tIns="0" rIns="0" bIns="0" rtlCol="0" anchor="ctr"/>
          <a:lstStyle/>
          <a:p>
            <a:pPr indent="0" marL="0">
              <a:buNone/>
            </a:pPr>
            <a:r>
              <a:rPr lang="en-US" sz="2100" dirty="0">
                <a:solidFill>
                  <a:srgbClr val="1B1B1B"/>
                </a:solidFill>
                <a:latin typeface="Manrope" pitchFamily="34" charset="0"/>
                <a:ea typeface="Manrope" pitchFamily="34" charset="-122"/>
                <a:cs typeface="Manrope" pitchFamily="34" charset="-120"/>
              </a:rPr>
              <a:t>Bandara sekunder (Stansted)</a:t>
            </a:r>
            <a:endParaRPr lang="en-US" sz="2100" dirty="0"/>
          </a:p>
        </p:txBody>
      </p:sp>
      <p:sp>
        <p:nvSpPr>
          <p:cNvPr id="16" name="Shape 14"/>
          <p:cNvSpPr/>
          <p:nvPr/>
        </p:nvSpPr>
        <p:spPr>
          <a:xfrm>
            <a:off x="548640" y="4434840"/>
            <a:ext cx="1234440" cy="365760"/>
          </a:xfrm>
          <a:prstGeom prst="rect">
            <a:avLst/>
          </a:prstGeom>
          <a:solidFill>
            <a:srgbClr val="2C7BB8"/>
          </a:solidFill>
          <a:ln w="12700">
            <a:solidFill>
              <a:srgbClr val="2C7BB8"/>
            </a:solidFill>
            <a:prstDash val="solid"/>
          </a:ln>
        </p:spPr>
      </p:sp>
      <p:sp>
        <p:nvSpPr>
          <p:cNvPr id="17" name="Text 15"/>
          <p:cNvSpPr txBox="1"/>
          <p:nvPr/>
        </p:nvSpPr>
        <p:spPr>
          <a:xfrm>
            <a:off x="548640" y="4434840"/>
            <a:ext cx="1234440" cy="365760"/>
          </a:xfrm>
          <a:prstGeom prst="rect">
            <a:avLst/>
          </a:prstGeom>
          <a:noFill/>
          <a:ln/>
        </p:spPr>
        <p:txBody>
          <a:bodyPr wrap="square" lIns="0" tIns="0" rIns="0" bIns="0" rtlCol="0" anchor="ctr"/>
          <a:lstStyle/>
          <a:p>
            <a:pPr algn="ctr" indent="0" marL="0">
              <a:buNone/>
            </a:pPr>
            <a:r>
              <a:rPr lang="en-US" sz="1400" b="1" spc="100" kern="0" dirty="0">
                <a:solidFill>
                  <a:srgbClr val="FFFFFF"/>
                </a:solidFill>
                <a:latin typeface="Manrope" pitchFamily="34" charset="0"/>
                <a:ea typeface="Manrope" pitchFamily="34" charset="-122"/>
                <a:cs typeface="Manrope" pitchFamily="34" charset="-120"/>
              </a:rPr>
              <a:t>PENUH</a:t>
            </a:r>
            <a:endParaRPr lang="en-US" sz="1400" dirty="0"/>
          </a:p>
        </p:txBody>
      </p:sp>
      <p:sp>
        <p:nvSpPr>
          <p:cNvPr id="18" name="Text 16"/>
          <p:cNvSpPr txBox="1"/>
          <p:nvPr/>
        </p:nvSpPr>
        <p:spPr>
          <a:xfrm>
            <a:off x="1920240" y="4361688"/>
            <a:ext cx="3657600" cy="512064"/>
          </a:xfrm>
          <a:prstGeom prst="rect">
            <a:avLst/>
          </a:prstGeom>
          <a:noFill/>
          <a:ln/>
        </p:spPr>
        <p:txBody>
          <a:bodyPr wrap="square" lIns="0" tIns="0" rIns="0" bIns="0" rtlCol="0" anchor="ctr"/>
          <a:lstStyle/>
          <a:p>
            <a:pPr indent="0" marL="0">
              <a:buNone/>
            </a:pPr>
            <a:r>
              <a:rPr lang="en-US" sz="2100" dirty="0">
                <a:solidFill>
                  <a:srgbClr val="1B1B1B"/>
                </a:solidFill>
                <a:latin typeface="Manrope" pitchFamily="34" charset="0"/>
                <a:ea typeface="Manrope" pitchFamily="34" charset="-122"/>
                <a:cs typeface="Manrope" pitchFamily="34" charset="-120"/>
              </a:rPr>
              <a:t>Outsourcing perawatan</a:t>
            </a:r>
            <a:endParaRPr lang="en-US" sz="2100" dirty="0"/>
          </a:p>
        </p:txBody>
      </p:sp>
      <p:sp>
        <p:nvSpPr>
          <p:cNvPr id="19" name="Shape 17"/>
          <p:cNvSpPr/>
          <p:nvPr/>
        </p:nvSpPr>
        <p:spPr>
          <a:xfrm>
            <a:off x="548640" y="4965192"/>
            <a:ext cx="1234440" cy="365760"/>
          </a:xfrm>
          <a:prstGeom prst="rect">
            <a:avLst/>
          </a:prstGeom>
          <a:solidFill>
            <a:srgbClr val="F4C430"/>
          </a:solidFill>
          <a:ln w="12700">
            <a:solidFill>
              <a:srgbClr val="F4C430"/>
            </a:solidFill>
            <a:prstDash val="solid"/>
          </a:ln>
        </p:spPr>
      </p:sp>
      <p:sp>
        <p:nvSpPr>
          <p:cNvPr id="20" name="Text 18"/>
          <p:cNvSpPr txBox="1"/>
          <p:nvPr/>
        </p:nvSpPr>
        <p:spPr>
          <a:xfrm>
            <a:off x="548640" y="4965192"/>
            <a:ext cx="1234440" cy="365760"/>
          </a:xfrm>
          <a:prstGeom prst="rect">
            <a:avLst/>
          </a:prstGeom>
          <a:noFill/>
          <a:ln/>
        </p:spPr>
        <p:txBody>
          <a:bodyPr wrap="square" lIns="0" tIns="0" rIns="0" bIns="0" rtlCol="0" anchor="ctr"/>
          <a:lstStyle/>
          <a:p>
            <a:pPr algn="ctr" indent="0" marL="0">
              <a:buNone/>
            </a:pPr>
            <a:r>
              <a:rPr lang="en-US" sz="1400" b="1" spc="100" kern="0" dirty="0">
                <a:solidFill>
                  <a:srgbClr val="1B1B1B"/>
                </a:solidFill>
                <a:latin typeface="Manrope" pitchFamily="34" charset="0"/>
                <a:ea typeface="Manrope" pitchFamily="34" charset="-122"/>
                <a:cs typeface="Manrope" pitchFamily="34" charset="-120"/>
              </a:rPr>
              <a:t>SEBAGIAN</a:t>
            </a:r>
            <a:endParaRPr lang="en-US" sz="1400" dirty="0"/>
          </a:p>
        </p:txBody>
      </p:sp>
      <p:sp>
        <p:nvSpPr>
          <p:cNvPr id="21" name="Text 19"/>
          <p:cNvSpPr txBox="1"/>
          <p:nvPr/>
        </p:nvSpPr>
        <p:spPr>
          <a:xfrm>
            <a:off x="1920240" y="4892040"/>
            <a:ext cx="3657600" cy="512064"/>
          </a:xfrm>
          <a:prstGeom prst="rect">
            <a:avLst/>
          </a:prstGeom>
          <a:noFill/>
          <a:ln/>
        </p:spPr>
        <p:txBody>
          <a:bodyPr wrap="square" lIns="0" tIns="0" rIns="0" bIns="0" rtlCol="0" anchor="ctr"/>
          <a:lstStyle/>
          <a:p>
            <a:pPr indent="0" marL="0">
              <a:buNone/>
            </a:pPr>
            <a:r>
              <a:rPr lang="en-US" sz="2100" dirty="0">
                <a:solidFill>
                  <a:srgbClr val="1B1B1B"/>
                </a:solidFill>
                <a:latin typeface="Manrope" pitchFamily="34" charset="0"/>
                <a:ea typeface="Manrope" pitchFamily="34" charset="-122"/>
                <a:cs typeface="Manrope" pitchFamily="34" charset="-120"/>
              </a:rPr>
              <a:t>Pesawat hemat BBM</a:t>
            </a:r>
            <a:endParaRPr lang="en-US" sz="2100" dirty="0"/>
          </a:p>
        </p:txBody>
      </p:sp>
      <p:sp>
        <p:nvSpPr>
          <p:cNvPr id="22" name="Text 20"/>
          <p:cNvSpPr txBox="1"/>
          <p:nvPr/>
        </p:nvSpPr>
        <p:spPr>
          <a:xfrm>
            <a:off x="6035040" y="1600200"/>
            <a:ext cx="5120640" cy="548640"/>
          </a:xfrm>
          <a:prstGeom prst="rect">
            <a:avLst/>
          </a:prstGeom>
          <a:noFill/>
          <a:ln/>
        </p:spPr>
        <p:txBody>
          <a:bodyPr wrap="square" lIns="0" tIns="0" rIns="0" bIns="0" rtlCol="0" anchor="ctr"/>
          <a:lstStyle/>
          <a:p>
            <a:pPr indent="0" marL="0">
              <a:buNone/>
            </a:pPr>
            <a:r>
              <a:rPr lang="en-US" sz="3000" dirty="0">
                <a:solidFill>
                  <a:srgbClr val="E63E2C"/>
                </a:solidFill>
                <a:latin typeface="Bebas Neue" pitchFamily="34" charset="0"/>
                <a:ea typeface="Bebas Neue" pitchFamily="34" charset="-122"/>
                <a:cs typeface="Bebas Neue" pitchFamily="34" charset="-120"/>
              </a:rPr>
              <a:t>TIDAK TERBAWA</a:t>
            </a:r>
            <a:endParaRPr lang="en-US" sz="3000" dirty="0"/>
          </a:p>
        </p:txBody>
      </p:sp>
      <p:sp>
        <p:nvSpPr>
          <p:cNvPr id="23" name="Shape 21"/>
          <p:cNvSpPr/>
          <p:nvPr/>
        </p:nvSpPr>
        <p:spPr>
          <a:xfrm>
            <a:off x="6035040" y="2313432"/>
            <a:ext cx="1234440" cy="365760"/>
          </a:xfrm>
          <a:prstGeom prst="rect">
            <a:avLst/>
          </a:prstGeom>
          <a:solidFill>
            <a:srgbClr val="E63E2C"/>
          </a:solidFill>
          <a:ln w="12700">
            <a:solidFill>
              <a:srgbClr val="E63E2C"/>
            </a:solidFill>
            <a:prstDash val="solid"/>
          </a:ln>
        </p:spPr>
      </p:sp>
      <p:sp>
        <p:nvSpPr>
          <p:cNvPr id="24" name="Text 22"/>
          <p:cNvSpPr txBox="1"/>
          <p:nvPr/>
        </p:nvSpPr>
        <p:spPr>
          <a:xfrm>
            <a:off x="6035040" y="2313432"/>
            <a:ext cx="1234440" cy="365760"/>
          </a:xfrm>
          <a:prstGeom prst="rect">
            <a:avLst/>
          </a:prstGeom>
          <a:noFill/>
          <a:ln/>
        </p:spPr>
        <p:txBody>
          <a:bodyPr wrap="square" lIns="0" tIns="0" rIns="0" bIns="0" rtlCol="0" anchor="ctr"/>
          <a:lstStyle/>
          <a:p>
            <a:pPr algn="ctr" indent="0" marL="0">
              <a:buNone/>
            </a:pPr>
            <a:r>
              <a:rPr lang="en-US" sz="1400" b="1" spc="100" kern="0" dirty="0">
                <a:solidFill>
                  <a:srgbClr val="FFFFFF"/>
                </a:solidFill>
                <a:latin typeface="Manrope" pitchFamily="34" charset="0"/>
                <a:ea typeface="Manrope" pitchFamily="34" charset="-122"/>
                <a:cs typeface="Manrope" pitchFamily="34" charset="-120"/>
              </a:rPr>
              <a:t>TIDAK</a:t>
            </a:r>
            <a:endParaRPr lang="en-US" sz="1400" dirty="0"/>
          </a:p>
        </p:txBody>
      </p:sp>
      <p:sp>
        <p:nvSpPr>
          <p:cNvPr id="25" name="Text 23"/>
          <p:cNvSpPr txBox="1"/>
          <p:nvPr/>
        </p:nvSpPr>
        <p:spPr>
          <a:xfrm>
            <a:off x="7406640" y="2240280"/>
            <a:ext cx="4206240" cy="512064"/>
          </a:xfrm>
          <a:prstGeom prst="rect">
            <a:avLst/>
          </a:prstGeom>
          <a:noFill/>
          <a:ln/>
        </p:spPr>
        <p:txBody>
          <a:bodyPr wrap="square" lIns="0" tIns="0" rIns="0" bIns="0" rtlCol="0" anchor="ctr"/>
          <a:lstStyle/>
          <a:p>
            <a:pPr indent="0" marL="0">
              <a:buNone/>
            </a:pPr>
            <a:r>
              <a:rPr lang="en-US" sz="2100" b="1" dirty="0">
                <a:solidFill>
                  <a:srgbClr val="1B1B1B"/>
                </a:solidFill>
                <a:highlight>
                  <a:srgbClr val="FFE066"/>
                </a:highlight>
                <a:latin typeface="Manrope" pitchFamily="34" charset="0"/>
                <a:ea typeface="Manrope" pitchFamily="34" charset="-122"/>
                <a:cs typeface="Manrope" pitchFamily="34" charset="-120"/>
              </a:rPr>
              <a:t>Satu tipe pesawat</a:t>
            </a:r>
            <a:endParaRPr lang="en-US" sz="2100" dirty="0"/>
          </a:p>
        </p:txBody>
      </p:sp>
      <p:sp>
        <p:nvSpPr>
          <p:cNvPr id="26" name="Shape 24"/>
          <p:cNvSpPr/>
          <p:nvPr/>
        </p:nvSpPr>
        <p:spPr>
          <a:xfrm>
            <a:off x="6035040" y="2843784"/>
            <a:ext cx="1234440" cy="365760"/>
          </a:xfrm>
          <a:prstGeom prst="rect">
            <a:avLst/>
          </a:prstGeom>
          <a:solidFill>
            <a:srgbClr val="E63E2C"/>
          </a:solidFill>
          <a:ln w="12700">
            <a:solidFill>
              <a:srgbClr val="E63E2C"/>
            </a:solidFill>
            <a:prstDash val="solid"/>
          </a:ln>
        </p:spPr>
      </p:sp>
      <p:sp>
        <p:nvSpPr>
          <p:cNvPr id="27" name="Text 25"/>
          <p:cNvSpPr txBox="1"/>
          <p:nvPr/>
        </p:nvSpPr>
        <p:spPr>
          <a:xfrm>
            <a:off x="6035040" y="2843784"/>
            <a:ext cx="1234440" cy="365760"/>
          </a:xfrm>
          <a:prstGeom prst="rect">
            <a:avLst/>
          </a:prstGeom>
          <a:noFill/>
          <a:ln/>
        </p:spPr>
        <p:txBody>
          <a:bodyPr wrap="square" lIns="0" tIns="0" rIns="0" bIns="0" rtlCol="0" anchor="ctr"/>
          <a:lstStyle/>
          <a:p>
            <a:pPr algn="ctr" indent="0" marL="0">
              <a:buNone/>
            </a:pPr>
            <a:r>
              <a:rPr lang="en-US" sz="1400" b="1" spc="100" kern="0" dirty="0">
                <a:solidFill>
                  <a:srgbClr val="FFFFFF"/>
                </a:solidFill>
                <a:latin typeface="Manrope" pitchFamily="34" charset="0"/>
                <a:ea typeface="Manrope" pitchFamily="34" charset="-122"/>
                <a:cs typeface="Manrope" pitchFamily="34" charset="-120"/>
              </a:rPr>
              <a:t>TIDAK</a:t>
            </a:r>
            <a:endParaRPr lang="en-US" sz="1400" dirty="0"/>
          </a:p>
        </p:txBody>
      </p:sp>
      <p:sp>
        <p:nvSpPr>
          <p:cNvPr id="28" name="Text 26"/>
          <p:cNvSpPr txBox="1"/>
          <p:nvPr/>
        </p:nvSpPr>
        <p:spPr>
          <a:xfrm>
            <a:off x="7406640" y="2770632"/>
            <a:ext cx="4206240" cy="512064"/>
          </a:xfrm>
          <a:prstGeom prst="rect">
            <a:avLst/>
          </a:prstGeom>
          <a:noFill/>
          <a:ln/>
        </p:spPr>
        <p:txBody>
          <a:bodyPr wrap="square" lIns="0" tIns="0" rIns="0" bIns="0" rtlCol="0" anchor="ctr"/>
          <a:lstStyle/>
          <a:p>
            <a:pPr indent="0" marL="0">
              <a:buNone/>
            </a:pPr>
            <a:r>
              <a:rPr lang="en-US" sz="2100" b="1" dirty="0">
                <a:solidFill>
                  <a:srgbClr val="1B1B1B"/>
                </a:solidFill>
                <a:highlight>
                  <a:srgbClr val="FFE066"/>
                </a:highlight>
                <a:latin typeface="Manrope" pitchFamily="34" charset="0"/>
                <a:ea typeface="Manrope" pitchFamily="34" charset="-122"/>
                <a:cs typeface="Manrope" pitchFamily="34" charset="-120"/>
              </a:rPr>
              <a:t>Turnaround 25 menit</a:t>
            </a:r>
            <a:endParaRPr lang="en-US" sz="2100" dirty="0"/>
          </a:p>
        </p:txBody>
      </p:sp>
      <p:sp>
        <p:nvSpPr>
          <p:cNvPr id="29" name="Shape 27"/>
          <p:cNvSpPr/>
          <p:nvPr/>
        </p:nvSpPr>
        <p:spPr>
          <a:xfrm>
            <a:off x="6035040" y="3374136"/>
            <a:ext cx="1234440" cy="365760"/>
          </a:xfrm>
          <a:prstGeom prst="rect">
            <a:avLst/>
          </a:prstGeom>
          <a:solidFill>
            <a:srgbClr val="E63E2C"/>
          </a:solidFill>
          <a:ln w="12700">
            <a:solidFill>
              <a:srgbClr val="E63E2C"/>
            </a:solidFill>
            <a:prstDash val="solid"/>
          </a:ln>
        </p:spPr>
      </p:sp>
      <p:sp>
        <p:nvSpPr>
          <p:cNvPr id="30" name="Text 28"/>
          <p:cNvSpPr txBox="1"/>
          <p:nvPr/>
        </p:nvSpPr>
        <p:spPr>
          <a:xfrm>
            <a:off x="6035040" y="3374136"/>
            <a:ext cx="1234440" cy="365760"/>
          </a:xfrm>
          <a:prstGeom prst="rect">
            <a:avLst/>
          </a:prstGeom>
          <a:noFill/>
          <a:ln/>
        </p:spPr>
        <p:txBody>
          <a:bodyPr wrap="square" lIns="0" tIns="0" rIns="0" bIns="0" rtlCol="0" anchor="ctr"/>
          <a:lstStyle/>
          <a:p>
            <a:pPr algn="ctr" indent="0" marL="0">
              <a:buNone/>
            </a:pPr>
            <a:r>
              <a:rPr lang="en-US" sz="1400" b="1" spc="100" kern="0" dirty="0">
                <a:solidFill>
                  <a:srgbClr val="FFFFFF"/>
                </a:solidFill>
                <a:latin typeface="Manrope" pitchFamily="34" charset="0"/>
                <a:ea typeface="Manrope" pitchFamily="34" charset="-122"/>
                <a:cs typeface="Manrope" pitchFamily="34" charset="-120"/>
              </a:rPr>
              <a:t>TIDAK</a:t>
            </a:r>
            <a:endParaRPr lang="en-US" sz="1400" dirty="0"/>
          </a:p>
        </p:txBody>
      </p:sp>
      <p:sp>
        <p:nvSpPr>
          <p:cNvPr id="31" name="Text 29"/>
          <p:cNvSpPr txBox="1"/>
          <p:nvPr/>
        </p:nvSpPr>
        <p:spPr>
          <a:xfrm>
            <a:off x="7406640" y="3300984"/>
            <a:ext cx="4206240" cy="512064"/>
          </a:xfrm>
          <a:prstGeom prst="rect">
            <a:avLst/>
          </a:prstGeom>
          <a:noFill/>
          <a:ln/>
        </p:spPr>
        <p:txBody>
          <a:bodyPr wrap="square" lIns="0" tIns="0" rIns="0" bIns="0" rtlCol="0" anchor="ctr"/>
          <a:lstStyle/>
          <a:p>
            <a:pPr indent="0" marL="0">
              <a:buNone/>
            </a:pPr>
            <a:r>
              <a:rPr lang="en-US" sz="2100" dirty="0">
                <a:solidFill>
                  <a:srgbClr val="1B1B1B"/>
                </a:solidFill>
                <a:latin typeface="Manrope" pitchFamily="34" charset="0"/>
                <a:ea typeface="Manrope" pitchFamily="34" charset="-122"/>
                <a:cs typeface="Manrope" pitchFamily="34" charset="-120"/>
              </a:rPr>
              <a:t>Satu kelas tanpa layanan</a:t>
            </a:r>
            <a:endParaRPr lang="en-US" sz="2100" dirty="0"/>
          </a:p>
        </p:txBody>
      </p:sp>
      <p:sp>
        <p:nvSpPr>
          <p:cNvPr id="32" name="Shape 30"/>
          <p:cNvSpPr/>
          <p:nvPr/>
        </p:nvSpPr>
        <p:spPr>
          <a:xfrm>
            <a:off x="6035040" y="3904488"/>
            <a:ext cx="1234440" cy="365760"/>
          </a:xfrm>
          <a:prstGeom prst="rect">
            <a:avLst/>
          </a:prstGeom>
          <a:solidFill>
            <a:srgbClr val="E63E2C"/>
          </a:solidFill>
          <a:ln w="12700">
            <a:solidFill>
              <a:srgbClr val="E63E2C"/>
            </a:solidFill>
            <a:prstDash val="solid"/>
          </a:ln>
        </p:spPr>
      </p:sp>
      <p:sp>
        <p:nvSpPr>
          <p:cNvPr id="33" name="Text 31"/>
          <p:cNvSpPr txBox="1"/>
          <p:nvPr/>
        </p:nvSpPr>
        <p:spPr>
          <a:xfrm>
            <a:off x="6035040" y="3904488"/>
            <a:ext cx="1234440" cy="365760"/>
          </a:xfrm>
          <a:prstGeom prst="rect">
            <a:avLst/>
          </a:prstGeom>
          <a:noFill/>
          <a:ln/>
        </p:spPr>
        <p:txBody>
          <a:bodyPr wrap="square" lIns="0" tIns="0" rIns="0" bIns="0" rtlCol="0" anchor="ctr"/>
          <a:lstStyle/>
          <a:p>
            <a:pPr algn="ctr" indent="0" marL="0">
              <a:buNone/>
            </a:pPr>
            <a:r>
              <a:rPr lang="en-US" sz="1400" b="1" spc="100" kern="0" dirty="0">
                <a:solidFill>
                  <a:srgbClr val="FFFFFF"/>
                </a:solidFill>
                <a:latin typeface="Manrope" pitchFamily="34" charset="0"/>
                <a:ea typeface="Manrope" pitchFamily="34" charset="-122"/>
                <a:cs typeface="Manrope" pitchFamily="34" charset="-120"/>
              </a:rPr>
              <a:t>TIDAK</a:t>
            </a:r>
            <a:endParaRPr lang="en-US" sz="1400" dirty="0"/>
          </a:p>
        </p:txBody>
      </p:sp>
      <p:sp>
        <p:nvSpPr>
          <p:cNvPr id="34" name="Text 32"/>
          <p:cNvSpPr txBox="1"/>
          <p:nvPr/>
        </p:nvSpPr>
        <p:spPr>
          <a:xfrm>
            <a:off x="7406640" y="3831336"/>
            <a:ext cx="4206240" cy="512064"/>
          </a:xfrm>
          <a:prstGeom prst="rect">
            <a:avLst/>
          </a:prstGeom>
          <a:noFill/>
          <a:ln/>
        </p:spPr>
        <p:txBody>
          <a:bodyPr wrap="square" lIns="0" tIns="0" rIns="0" bIns="0" rtlCol="0" anchor="ctr"/>
          <a:lstStyle/>
          <a:p>
            <a:pPr indent="0" marL="0">
              <a:buNone/>
            </a:pPr>
            <a:r>
              <a:rPr lang="en-US" sz="2100" dirty="0">
                <a:solidFill>
                  <a:srgbClr val="1B1B1B"/>
                </a:solidFill>
                <a:latin typeface="Manrope" pitchFamily="34" charset="0"/>
                <a:ea typeface="Manrope" pitchFamily="34" charset="-122"/>
                <a:cs typeface="Manrope" pitchFamily="34" charset="-120"/>
              </a:rPr>
              <a:t>Jaringan titik ke titik</a:t>
            </a:r>
            <a:endParaRPr lang="en-US" sz="2100" dirty="0"/>
          </a:p>
        </p:txBody>
      </p:sp>
      <p:sp>
        <p:nvSpPr>
          <p:cNvPr id="35" name="Text 33"/>
          <p:cNvSpPr txBox="1"/>
          <p:nvPr/>
        </p:nvSpPr>
        <p:spPr>
          <a:xfrm>
            <a:off x="6035040" y="4434840"/>
            <a:ext cx="2651760" cy="1097280"/>
          </a:xfrm>
          <a:prstGeom prst="rect">
            <a:avLst/>
          </a:prstGeom>
          <a:noFill/>
          <a:ln/>
        </p:spPr>
        <p:txBody>
          <a:bodyPr wrap="square" lIns="0" tIns="0" rIns="0" bIns="0" rtlCol="0" anchor="t"/>
          <a:lstStyle/>
          <a:p>
            <a:pPr indent="0" marL="0">
              <a:buNone/>
            </a:pPr>
            <a:r>
              <a:rPr lang="en-US" sz="2100" dirty="0">
                <a:solidFill>
                  <a:srgbClr val="1B1B1B"/>
                </a:solidFill>
                <a:latin typeface="Manrope" pitchFamily="34" charset="0"/>
                <a:ea typeface="Manrope" pitchFamily="34" charset="-122"/>
                <a:cs typeface="Manrope" pitchFamily="34" charset="-120"/>
              </a:rPr>
              <a:t>Yang hilang justru </a:t>
            </a:r>
            <a:r>
              <a:rPr lang="en-US" sz="2100" b="1" dirty="0">
                <a:solidFill>
                  <a:srgbClr val="1B1B1B"/>
                </a:solidFill>
                <a:highlight>
                  <a:srgbClr val="FFE066"/>
                </a:highlight>
                <a:latin typeface="Manrope" pitchFamily="34" charset="0"/>
                <a:ea typeface="Manrope" pitchFamily="34" charset="-122"/>
                <a:cs typeface="Manrope" pitchFamily="34" charset="-120"/>
              </a:rPr>
              <a:t>inti model LCC klasik</a:t>
            </a:r>
            <a:r>
              <a:rPr lang="en-US" sz="2100" dirty="0">
                <a:solidFill>
                  <a:srgbClr val="1B1B1B"/>
                </a:solidFill>
                <a:latin typeface="Manrope" pitchFamily="34" charset="0"/>
                <a:ea typeface="Manrope" pitchFamily="34" charset="-122"/>
                <a:cs typeface="Manrope" pitchFamily="34" charset="-120"/>
              </a:rPr>
              <a:t>.</a:t>
            </a:r>
            <a:endParaRPr lang="en-US" sz="2100" dirty="0"/>
          </a:p>
        </p:txBody>
      </p:sp>
      <p:sp>
        <p:nvSpPr>
          <p:cNvPr id="36" name="Shape 34"/>
          <p:cNvSpPr/>
          <p:nvPr/>
        </p:nvSpPr>
        <p:spPr>
          <a:xfrm>
            <a:off x="8942832" y="4507992"/>
            <a:ext cx="2834640" cy="1554480"/>
          </a:xfrm>
          <a:prstGeom prst="rect">
            <a:avLst/>
          </a:prstGeom>
          <a:solidFill>
            <a:srgbClr val="F4C430"/>
          </a:solidFill>
          <a:ln w="12700">
            <a:solidFill>
              <a:srgbClr val="F4C430"/>
            </a:solidFill>
            <a:prstDash val="solid"/>
          </a:ln>
        </p:spPr>
      </p:sp>
      <p:pic>
        <p:nvPicPr>
          <p:cNvPr id="37" name="Image 0" descr="/tmp/claude-0/-home-user-Dom-Manipulation/a70c4110-05d8-512e-ae11-d08dee025a7a/scratchpad/img/aa_transfer.jpg">    </p:cNvPr>
          <p:cNvPicPr>
            <a:picLocks noChangeAspect="1"/>
          </p:cNvPicPr>
          <p:nvPr/>
        </p:nvPicPr>
        <p:blipFill>
          <a:blip r:embed="rId1"/>
          <a:srcRect l="0" r="0" t="0" b="0"/>
          <a:stretch/>
        </p:blipFill>
        <p:spPr>
          <a:xfrm>
            <a:off x="8778240" y="4343400"/>
            <a:ext cx="2834640" cy="1554480"/>
          </a:xfrm>
          <a:prstGeom prst="rect">
            <a:avLst/>
          </a:prstGeom>
        </p:spPr>
      </p:pic>
      <p:sp>
        <p:nvSpPr>
          <p:cNvPr id="38" name="Text 35"/>
          <p:cNvSpPr txBox="1"/>
          <p:nvPr/>
        </p:nvSpPr>
        <p:spPr>
          <a:xfrm>
            <a:off x="548640" y="6217920"/>
            <a:ext cx="10424160" cy="411480"/>
          </a:xfrm>
          <a:prstGeom prst="rect">
            <a:avLst/>
          </a:prstGeom>
          <a:noFill/>
          <a:ln/>
        </p:spPr>
        <p:txBody>
          <a:bodyPr wrap="square" lIns="0" tIns="0" rIns="0" bIns="0" rtlCol="0" anchor="ctr"/>
          <a:lstStyle/>
          <a:p>
            <a:pPr indent="0" marL="0">
              <a:buNone/>
            </a:pPr>
            <a:r>
              <a:rPr lang="en-US" sz="1100" dirty="0">
                <a:solidFill>
                  <a:srgbClr val="E63E2C"/>
                </a:solidFill>
                <a:latin typeface="Manrope" pitchFamily="34" charset="0"/>
                <a:ea typeface="Manrope" pitchFamily="34" charset="-122"/>
                <a:cs typeface="Manrope" pitchFamily="34" charset="-120"/>
              </a:rPr>
              <a:t>■  </a:t>
            </a:r>
            <a:r>
              <a:rPr lang="en-US" sz="1600" b="1" dirty="0">
                <a:solidFill>
                  <a:srgbClr val="1B1B1B"/>
                </a:solidFill>
                <a:latin typeface="Manrope" pitchFamily="34" charset="0"/>
                <a:ea typeface="Manrope" pitchFamily="34" charset="-122"/>
                <a:cs typeface="Manrope" pitchFamily="34" charset="-120"/>
              </a:rPr>
              <a:t>Selanjutnya  </a:t>
            </a:r>
            <a:r>
              <a:rPr lang="en-US" sz="1600" dirty="0">
                <a:solidFill>
                  <a:srgbClr val="4A4A4A"/>
                </a:solidFill>
                <a:latin typeface="Manrope" pitchFamily="34" charset="0"/>
                <a:ea typeface="Manrope" pitchFamily="34" charset="-122"/>
                <a:cs typeface="Manrope" pitchFamily="34" charset="-120"/>
              </a:rPr>
              <a:t>Yang terbawa bersifat organisasional. Apa kata angka di rute KL London?</a:t>
            </a:r>
            <a:endParaRPr lang="en-US" sz="1600" dirty="0"/>
          </a:p>
        </p:txBody>
      </p:sp>
      <p:sp>
        <p:nvSpPr>
          <p:cNvPr id="39" name="Text 36"/>
          <p:cNvSpPr txBox="1"/>
          <p:nvPr/>
        </p:nvSpPr>
        <p:spPr>
          <a:xfrm>
            <a:off x="11247120" y="6355080"/>
            <a:ext cx="548640" cy="320040"/>
          </a:xfrm>
          <a:prstGeom prst="rect">
            <a:avLst/>
          </a:prstGeom>
          <a:noFill/>
          <a:ln/>
        </p:spPr>
        <p:txBody>
          <a:bodyPr wrap="square" lIns="0" tIns="0" rIns="0" bIns="0" rtlCol="0" anchor="ctr"/>
          <a:lstStyle/>
          <a:p>
            <a:pPr algn="r" indent="0" marL="0">
              <a:buNone/>
            </a:pPr>
            <a:r>
              <a:rPr lang="en-US" sz="1200" b="1" dirty="0">
                <a:solidFill>
                  <a:srgbClr val="1B1B1B"/>
                </a:solidFill>
                <a:latin typeface="Manrope" pitchFamily="34" charset="0"/>
                <a:ea typeface="Manrope" pitchFamily="34" charset="-122"/>
                <a:cs typeface="Manrope"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E2CF"/>
        </a:solidFill>
      </p:bgPr>
    </p:bg>
    <p:spTree>
      <p:nvGrpSpPr>
        <p:cNvPr id="1" name=""/>
        <p:cNvGrpSpPr/>
        <p:nvPr/>
      </p:nvGrpSpPr>
      <p:grpSpPr>
        <a:xfrm>
          <a:off x="0" y="0"/>
          <a:ext cx="0" cy="0"/>
          <a:chOff x="0" y="0"/>
          <a:chExt cx="0" cy="0"/>
        </a:xfrm>
      </p:grpSpPr>
      <p:sp>
        <p:nvSpPr>
          <p:cNvPr id="2" name="Text 0"/>
          <p:cNvSpPr txBox="1"/>
          <p:nvPr/>
        </p:nvSpPr>
        <p:spPr>
          <a:xfrm>
            <a:off x="548640" y="457200"/>
            <a:ext cx="10515600" cy="914400"/>
          </a:xfrm>
          <a:prstGeom prst="rect">
            <a:avLst/>
          </a:prstGeom>
          <a:noFill/>
          <a:ln/>
        </p:spPr>
        <p:txBody>
          <a:bodyPr wrap="square" lIns="0" tIns="0" rIns="0" bIns="0" rtlCol="0" anchor="ctr"/>
          <a:lstStyle/>
          <a:p>
            <a:pPr indent="0" marL="0">
              <a:buNone/>
            </a:pPr>
            <a:r>
              <a:rPr lang="en-US" sz="5800" dirty="0">
                <a:solidFill>
                  <a:srgbClr val="1B1B1B"/>
                </a:solidFill>
                <a:latin typeface="Bebas Neue" pitchFamily="34" charset="0"/>
                <a:ea typeface="Bebas Neue" pitchFamily="34" charset="-122"/>
                <a:cs typeface="Bebas Neue" pitchFamily="34" charset="-120"/>
              </a:rPr>
              <a:t>EVIDENCE FROM KL TO LONDON</a:t>
            </a:r>
            <a:endParaRPr lang="en-US" sz="5800" dirty="0"/>
          </a:p>
        </p:txBody>
      </p:sp>
      <p:sp>
        <p:nvSpPr>
          <p:cNvPr id="3" name="Shape 1"/>
          <p:cNvSpPr/>
          <p:nvPr/>
        </p:nvSpPr>
        <p:spPr>
          <a:xfrm>
            <a:off x="548640" y="1645920"/>
            <a:ext cx="6035040" cy="4206240"/>
          </a:xfrm>
          <a:prstGeom prst="rect">
            <a:avLst/>
          </a:prstGeom>
          <a:solidFill>
            <a:srgbClr val="FFFFFF"/>
          </a:solidFill>
          <a:ln w="12700">
            <a:solidFill>
              <a:srgbClr val="FFFFFF"/>
            </a:solidFill>
            <a:prstDash val="solid"/>
          </a:ln>
        </p:spPr>
      </p:sp>
      <p:graphicFrame>
        <p:nvGraphicFramePr>
          <p:cNvPr id="4" name="Chart 0" descr=""/>
          <p:cNvGraphicFramePr/>
          <p:nvPr/>
        </p:nvGraphicFramePr>
        <p:xfrm>
          <a:off x="685800" y="1737360"/>
          <a:ext cx="5760720" cy="40233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114032" y="1810512"/>
            <a:ext cx="4663440" cy="2377440"/>
          </a:xfrm>
          <a:prstGeom prst="rect">
            <a:avLst/>
          </a:prstGeom>
          <a:solidFill>
            <a:srgbClr val="2C7BB8"/>
          </a:solidFill>
          <a:ln w="12700">
            <a:solidFill>
              <a:srgbClr val="2C7BB8"/>
            </a:solidFill>
            <a:prstDash val="solid"/>
          </a:ln>
        </p:spPr>
      </p:sp>
      <p:pic>
        <p:nvPicPr>
          <p:cNvPr id="6" name="Image 0" descr="/tmp/claude-0/-home-user-Dom-Manipulation/a70c4110-05d8-512e-ae11-d08dee025a7a/scratchpad/img/aa_london.jpg">    </p:cNvPr>
          <p:cNvPicPr>
            <a:picLocks noChangeAspect="1"/>
          </p:cNvPicPr>
          <p:nvPr/>
        </p:nvPicPr>
        <p:blipFill>
          <a:blip r:embed="rId2"/>
          <a:srcRect l="0" r="0" t="0" b="0"/>
          <a:stretch/>
        </p:blipFill>
        <p:spPr>
          <a:xfrm>
            <a:off x="6949440" y="1645920"/>
            <a:ext cx="4663440" cy="2377440"/>
          </a:xfrm>
          <a:prstGeom prst="rect">
            <a:avLst/>
          </a:prstGeom>
        </p:spPr>
      </p:pic>
      <p:sp>
        <p:nvSpPr>
          <p:cNvPr id="7" name="Text 3"/>
          <p:cNvSpPr txBox="1"/>
          <p:nvPr/>
        </p:nvSpPr>
        <p:spPr>
          <a:xfrm>
            <a:off x="6949440" y="4206240"/>
            <a:ext cx="2286000" cy="731520"/>
          </a:xfrm>
          <a:prstGeom prst="rect">
            <a:avLst/>
          </a:prstGeom>
          <a:noFill/>
          <a:ln/>
        </p:spPr>
        <p:txBody>
          <a:bodyPr wrap="square" lIns="0" tIns="0" rIns="0" bIns="0" rtlCol="0" anchor="ctr"/>
          <a:lstStyle/>
          <a:p>
            <a:pPr indent="0" marL="0">
              <a:buNone/>
            </a:pPr>
            <a:r>
              <a:rPr lang="en-US" sz="4800" dirty="0">
                <a:solidFill>
                  <a:srgbClr val="E63E2C"/>
                </a:solidFill>
                <a:latin typeface="Bebas Neue" pitchFamily="34" charset="0"/>
                <a:ea typeface="Bebas Neue" pitchFamily="34" charset="-122"/>
                <a:cs typeface="Bebas Neue" pitchFamily="34" charset="-120"/>
              </a:rPr>
              <a:t>36,5%</a:t>
            </a:r>
            <a:endParaRPr lang="en-US" sz="4800" dirty="0"/>
          </a:p>
        </p:txBody>
      </p:sp>
      <p:sp>
        <p:nvSpPr>
          <p:cNvPr id="8" name="Text 4"/>
          <p:cNvSpPr txBox="1"/>
          <p:nvPr/>
        </p:nvSpPr>
        <p:spPr>
          <a:xfrm>
            <a:off x="6949440" y="4937760"/>
            <a:ext cx="2286000" cy="822960"/>
          </a:xfrm>
          <a:prstGeom prst="rect">
            <a:avLst/>
          </a:prstGeom>
          <a:noFill/>
          <a:ln/>
        </p:spPr>
        <p:txBody>
          <a:bodyPr wrap="square" lIns="0" tIns="0" rIns="0" bIns="0" rtlCol="0" anchor="t"/>
          <a:lstStyle/>
          <a:p>
            <a:pPr indent="0" marL="0">
              <a:buNone/>
            </a:pPr>
            <a:r>
              <a:rPr lang="en-US" sz="1600" b="1" dirty="0">
                <a:solidFill>
                  <a:srgbClr val="1B1B1B"/>
                </a:solidFill>
                <a:highlight>
                  <a:srgbClr val="FFE066"/>
                </a:highlight>
                <a:latin typeface="Manrope" pitchFamily="34" charset="0"/>
                <a:ea typeface="Manrope" pitchFamily="34" charset="-122"/>
                <a:cs typeface="Manrope" pitchFamily="34" charset="-120"/>
              </a:rPr>
              <a:t>lebih murah</a:t>
            </a:r>
            <a:r>
              <a:rPr lang="en-US" sz="1600" dirty="0">
                <a:solidFill>
                  <a:srgbClr val="1B1B1B"/>
                </a:solidFill>
                <a:latin typeface="Manrope" pitchFamily="34" charset="0"/>
                <a:ea typeface="Manrope" pitchFamily="34" charset="-122"/>
                <a:cs typeface="Manrope" pitchFamily="34" charset="-120"/>
              </a:rPr>
              <a:t> dari tarif pesaing</a:t>
            </a:r>
            <a:endParaRPr lang="en-US" sz="1600" dirty="0"/>
          </a:p>
        </p:txBody>
      </p:sp>
      <p:sp>
        <p:nvSpPr>
          <p:cNvPr id="9" name="Text 5"/>
          <p:cNvSpPr txBox="1"/>
          <p:nvPr/>
        </p:nvSpPr>
        <p:spPr>
          <a:xfrm>
            <a:off x="9418320" y="4206240"/>
            <a:ext cx="2194560" cy="731520"/>
          </a:xfrm>
          <a:prstGeom prst="rect">
            <a:avLst/>
          </a:prstGeom>
          <a:noFill/>
          <a:ln/>
        </p:spPr>
        <p:txBody>
          <a:bodyPr wrap="square" lIns="0" tIns="0" rIns="0" bIns="0" rtlCol="0" anchor="ctr"/>
          <a:lstStyle/>
          <a:p>
            <a:pPr indent="0" marL="0">
              <a:buNone/>
            </a:pPr>
            <a:r>
              <a:rPr lang="en-US" sz="4800" dirty="0">
                <a:solidFill>
                  <a:srgbClr val="2C7BB8"/>
                </a:solidFill>
                <a:latin typeface="Bebas Neue" pitchFamily="34" charset="0"/>
                <a:ea typeface="Bebas Neue" pitchFamily="34" charset="-122"/>
                <a:cs typeface="Bebas Neue" pitchFamily="34" charset="-120"/>
              </a:rPr>
              <a:t>&gt; 90%</a:t>
            </a:r>
            <a:endParaRPr lang="en-US" sz="4800" dirty="0"/>
          </a:p>
        </p:txBody>
      </p:sp>
      <p:sp>
        <p:nvSpPr>
          <p:cNvPr id="10" name="Text 6"/>
          <p:cNvSpPr txBox="1"/>
          <p:nvPr/>
        </p:nvSpPr>
        <p:spPr>
          <a:xfrm>
            <a:off x="9418320" y="4937760"/>
            <a:ext cx="2194560" cy="822960"/>
          </a:xfrm>
          <a:prstGeom prst="rect">
            <a:avLst/>
          </a:prstGeom>
          <a:noFill/>
          <a:ln/>
        </p:spPr>
        <p:txBody>
          <a:bodyPr wrap="square" lIns="0" tIns="0" rIns="0" bIns="0" rtlCol="0" anchor="t"/>
          <a:lstStyle/>
          <a:p>
            <a:pPr indent="0" marL="0">
              <a:buNone/>
            </a:pPr>
            <a:r>
              <a:rPr lang="en-US" sz="1600" b="1" dirty="0">
                <a:solidFill>
                  <a:srgbClr val="1B1B1B"/>
                </a:solidFill>
                <a:highlight>
                  <a:srgbClr val="FFE066"/>
                </a:highlight>
                <a:latin typeface="Manrope" pitchFamily="34" charset="0"/>
                <a:ea typeface="Manrope" pitchFamily="34" charset="-122"/>
                <a:cs typeface="Manrope" pitchFamily="34" charset="-120"/>
              </a:rPr>
              <a:t>load factor</a:t>
            </a:r>
            <a:r>
              <a:rPr lang="en-US" sz="1600" dirty="0">
                <a:solidFill>
                  <a:srgbClr val="1B1B1B"/>
                </a:solidFill>
                <a:latin typeface="Manrope" pitchFamily="34" charset="0"/>
                <a:ea typeface="Manrope" pitchFamily="34" charset="-122"/>
                <a:cs typeface="Manrope" pitchFamily="34" charset="-120"/>
              </a:rPr>
              <a:t> AirAsia X</a:t>
            </a:r>
            <a:endParaRPr lang="en-US" sz="1600" dirty="0"/>
          </a:p>
        </p:txBody>
      </p:sp>
      <p:sp>
        <p:nvSpPr>
          <p:cNvPr id="11" name="Text 7"/>
          <p:cNvSpPr txBox="1"/>
          <p:nvPr/>
        </p:nvSpPr>
        <p:spPr>
          <a:xfrm>
            <a:off x="548640" y="6217920"/>
            <a:ext cx="10424160" cy="411480"/>
          </a:xfrm>
          <a:prstGeom prst="rect">
            <a:avLst/>
          </a:prstGeom>
          <a:noFill/>
          <a:ln/>
        </p:spPr>
        <p:txBody>
          <a:bodyPr wrap="square" lIns="0" tIns="0" rIns="0" bIns="0" rtlCol="0" anchor="ctr"/>
          <a:lstStyle/>
          <a:p>
            <a:pPr indent="0" marL="0">
              <a:buNone/>
            </a:pPr>
            <a:r>
              <a:rPr lang="en-US" sz="1100" dirty="0">
                <a:solidFill>
                  <a:srgbClr val="E63E2C"/>
                </a:solidFill>
                <a:latin typeface="Manrope" pitchFamily="34" charset="0"/>
                <a:ea typeface="Manrope" pitchFamily="34" charset="-122"/>
                <a:cs typeface="Manrope" pitchFamily="34" charset="-120"/>
              </a:rPr>
              <a:t>■  </a:t>
            </a:r>
            <a:r>
              <a:rPr lang="en-US" sz="1600" b="1" dirty="0">
                <a:solidFill>
                  <a:srgbClr val="1B1B1B"/>
                </a:solidFill>
                <a:latin typeface="Manrope" pitchFamily="34" charset="0"/>
                <a:ea typeface="Manrope" pitchFamily="34" charset="-122"/>
                <a:cs typeface="Manrope" pitchFamily="34" charset="-120"/>
              </a:rPr>
              <a:t>Selanjutnya  </a:t>
            </a:r>
            <a:r>
              <a:rPr lang="en-US" sz="1600" dirty="0">
                <a:solidFill>
                  <a:srgbClr val="4A4A4A"/>
                </a:solidFill>
                <a:latin typeface="Manrope" pitchFamily="34" charset="0"/>
                <a:ea typeface="Manrope" pitchFamily="34" charset="-122"/>
                <a:cs typeface="Manrope" pitchFamily="34" charset="-120"/>
              </a:rPr>
              <a:t>Selisih nyata, tetapi lebih tipis: tabel belum memuat kru, perawatan, katering.</a:t>
            </a:r>
            <a:endParaRPr lang="en-US" sz="1600" dirty="0"/>
          </a:p>
        </p:txBody>
      </p:sp>
      <p:sp>
        <p:nvSpPr>
          <p:cNvPr id="12" name="Text 8"/>
          <p:cNvSpPr txBox="1"/>
          <p:nvPr/>
        </p:nvSpPr>
        <p:spPr>
          <a:xfrm>
            <a:off x="11247120" y="6355080"/>
            <a:ext cx="548640" cy="320040"/>
          </a:xfrm>
          <a:prstGeom prst="rect">
            <a:avLst/>
          </a:prstGeom>
          <a:noFill/>
          <a:ln/>
        </p:spPr>
        <p:txBody>
          <a:bodyPr wrap="square" lIns="0" tIns="0" rIns="0" bIns="0" rtlCol="0" anchor="ctr"/>
          <a:lstStyle/>
          <a:p>
            <a:pPr algn="r" indent="0" marL="0">
              <a:buNone/>
            </a:pPr>
            <a:r>
              <a:rPr lang="en-US" sz="1200" b="1" dirty="0">
                <a:solidFill>
                  <a:srgbClr val="1B1B1B"/>
                </a:solidFill>
                <a:latin typeface="Manrope" pitchFamily="34" charset="0"/>
                <a:ea typeface="Manrope" pitchFamily="34" charset="-122"/>
                <a:cs typeface="Manrope"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E2CF"/>
        </a:solidFill>
      </p:bgPr>
    </p:bg>
    <p:spTree>
      <p:nvGrpSpPr>
        <p:cNvPr id="1" name=""/>
        <p:cNvGrpSpPr/>
        <p:nvPr/>
      </p:nvGrpSpPr>
      <p:grpSpPr>
        <a:xfrm>
          <a:off x="0" y="0"/>
          <a:ext cx="0" cy="0"/>
          <a:chOff x="0" y="0"/>
          <a:chExt cx="0" cy="0"/>
        </a:xfrm>
      </p:grpSpPr>
      <p:sp>
        <p:nvSpPr>
          <p:cNvPr id="2" name="Shape 0"/>
          <p:cNvSpPr/>
          <p:nvPr/>
        </p:nvSpPr>
        <p:spPr>
          <a:xfrm>
            <a:off x="548640" y="457200"/>
            <a:ext cx="3931920" cy="914400"/>
          </a:xfrm>
          <a:prstGeom prst="rect">
            <a:avLst/>
          </a:prstGeom>
          <a:solidFill>
            <a:srgbClr val="1B1B1B"/>
          </a:solidFill>
          <a:ln w="12700">
            <a:solidFill>
              <a:srgbClr val="1B1B1B"/>
            </a:solidFill>
            <a:prstDash val="solid"/>
          </a:ln>
        </p:spPr>
      </p:sp>
      <p:sp>
        <p:nvSpPr>
          <p:cNvPr id="3" name="Text 1"/>
          <p:cNvSpPr txBox="1"/>
          <p:nvPr/>
        </p:nvSpPr>
        <p:spPr>
          <a:xfrm>
            <a:off x="548640" y="457200"/>
            <a:ext cx="3931920" cy="914400"/>
          </a:xfrm>
          <a:prstGeom prst="rect">
            <a:avLst/>
          </a:prstGeom>
          <a:noFill/>
          <a:ln/>
        </p:spPr>
        <p:txBody>
          <a:bodyPr wrap="square" lIns="0" tIns="3810" rIns="3810" bIns="0" rtlCol="0" anchor="ctr"/>
          <a:lstStyle/>
          <a:p>
            <a:pPr indent="0" marL="0">
              <a:buNone/>
            </a:pPr>
            <a:r>
              <a:rPr lang="en-US" sz="4600" dirty="0">
                <a:solidFill>
                  <a:srgbClr val="FFFFFF"/>
                </a:solidFill>
                <a:latin typeface="Bebas Neue" pitchFamily="34" charset="0"/>
                <a:ea typeface="Bebas Neue" pitchFamily="34" charset="-122"/>
                <a:cs typeface="Bebas Neue" pitchFamily="34" charset="-120"/>
              </a:rPr>
              <a:t>KEY ISSUES</a:t>
            </a:r>
            <a:endParaRPr lang="en-US" sz="4600" dirty="0"/>
          </a:p>
        </p:txBody>
      </p:sp>
      <p:sp>
        <p:nvSpPr>
          <p:cNvPr id="4" name="Shape 2"/>
          <p:cNvSpPr/>
          <p:nvPr/>
        </p:nvSpPr>
        <p:spPr>
          <a:xfrm>
            <a:off x="548640" y="1709928"/>
            <a:ext cx="475488" cy="475488"/>
          </a:xfrm>
          <a:prstGeom prst="ellipse">
            <a:avLst/>
          </a:prstGeom>
          <a:solidFill>
            <a:srgbClr val="E63E2C"/>
          </a:solidFill>
          <a:ln w="12700">
            <a:solidFill>
              <a:srgbClr val="E63E2C"/>
            </a:solidFill>
            <a:prstDash val="solid"/>
          </a:ln>
        </p:spPr>
      </p:sp>
      <p:sp>
        <p:nvSpPr>
          <p:cNvPr id="5" name="Text 3"/>
          <p:cNvSpPr txBox="1"/>
          <p:nvPr/>
        </p:nvSpPr>
        <p:spPr>
          <a:xfrm>
            <a:off x="548640" y="1709928"/>
            <a:ext cx="475488" cy="475488"/>
          </a:xfrm>
          <a:prstGeom prst="rect">
            <a:avLst/>
          </a:prstGeom>
          <a:noFill/>
          <a:ln/>
        </p:spPr>
        <p:txBody>
          <a:bodyPr wrap="square" lIns="0" tIns="0" rIns="0" bIns="0" rtlCol="0" anchor="ctr"/>
          <a:lstStyle/>
          <a:p>
            <a:pPr algn="ctr" indent="0" marL="0">
              <a:buNone/>
            </a:pPr>
            <a:r>
              <a:rPr lang="en-US" sz="2288" dirty="0">
                <a:solidFill>
                  <a:srgbClr val="FFFFFF"/>
                </a:solidFill>
                <a:latin typeface="Bebas Neue" pitchFamily="34" charset="0"/>
                <a:ea typeface="Bebas Neue" pitchFamily="34" charset="-122"/>
                <a:cs typeface="Bebas Neue" pitchFamily="34" charset="-120"/>
              </a:rPr>
              <a:t>1</a:t>
            </a:r>
            <a:endParaRPr lang="en-US" sz="2288" dirty="0"/>
          </a:p>
        </p:txBody>
      </p:sp>
      <p:sp>
        <p:nvSpPr>
          <p:cNvPr id="6" name="Text 4"/>
          <p:cNvSpPr txBox="1"/>
          <p:nvPr/>
        </p:nvSpPr>
        <p:spPr>
          <a:xfrm>
            <a:off x="1188720" y="1645920"/>
            <a:ext cx="6400800" cy="621792"/>
          </a:xfrm>
          <a:prstGeom prst="rect">
            <a:avLst/>
          </a:prstGeom>
          <a:noFill/>
          <a:ln/>
        </p:spPr>
        <p:txBody>
          <a:bodyPr wrap="square" lIns="0" tIns="0" rIns="0" bIns="0" rtlCol="0" anchor="ctr"/>
          <a:lstStyle/>
          <a:p>
            <a:pPr indent="0" marL="0">
              <a:buNone/>
            </a:pPr>
            <a:r>
              <a:rPr lang="en-US" sz="2100" dirty="0">
                <a:solidFill>
                  <a:srgbClr val="1B1B1B"/>
                </a:solidFill>
                <a:latin typeface="Manrope" pitchFamily="34" charset="0"/>
                <a:ea typeface="Manrope" pitchFamily="34" charset="-122"/>
                <a:cs typeface="Manrope" pitchFamily="34" charset="-120"/>
              </a:rPr>
              <a:t>Apakah pasar LCC jarak jauh </a:t>
            </a:r>
            <a:r>
              <a:rPr lang="en-US" sz="2100" b="1" dirty="0">
                <a:solidFill>
                  <a:srgbClr val="1B1B1B"/>
                </a:solidFill>
                <a:highlight>
                  <a:srgbClr val="FFE066"/>
                </a:highlight>
                <a:latin typeface="Manrope" pitchFamily="34" charset="0"/>
                <a:ea typeface="Manrope" pitchFamily="34" charset="-122"/>
                <a:cs typeface="Manrope" pitchFamily="34" charset="-120"/>
              </a:rPr>
              <a:t>cukup besar</a:t>
            </a:r>
            <a:r>
              <a:rPr lang="en-US" sz="2100" dirty="0">
                <a:solidFill>
                  <a:srgbClr val="1B1B1B"/>
                </a:solidFill>
                <a:latin typeface="Manrope" pitchFamily="34" charset="0"/>
                <a:ea typeface="Manrope" pitchFamily="34" charset="-122"/>
                <a:cs typeface="Manrope" pitchFamily="34" charset="-120"/>
              </a:rPr>
              <a:t> dan kurang terlayani?</a:t>
            </a:r>
            <a:endParaRPr lang="en-US" sz="2100" dirty="0"/>
          </a:p>
        </p:txBody>
      </p:sp>
      <p:sp>
        <p:nvSpPr>
          <p:cNvPr id="7" name="Shape 5"/>
          <p:cNvSpPr/>
          <p:nvPr/>
        </p:nvSpPr>
        <p:spPr>
          <a:xfrm>
            <a:off x="548640" y="2368296"/>
            <a:ext cx="475488" cy="475488"/>
          </a:xfrm>
          <a:prstGeom prst="ellipse">
            <a:avLst/>
          </a:prstGeom>
          <a:solidFill>
            <a:srgbClr val="2C7BB8"/>
          </a:solidFill>
          <a:ln w="12700">
            <a:solidFill>
              <a:srgbClr val="2C7BB8"/>
            </a:solidFill>
            <a:prstDash val="solid"/>
          </a:ln>
        </p:spPr>
      </p:sp>
      <p:sp>
        <p:nvSpPr>
          <p:cNvPr id="8" name="Text 6"/>
          <p:cNvSpPr txBox="1"/>
          <p:nvPr/>
        </p:nvSpPr>
        <p:spPr>
          <a:xfrm>
            <a:off x="548640" y="2368296"/>
            <a:ext cx="475488" cy="475488"/>
          </a:xfrm>
          <a:prstGeom prst="rect">
            <a:avLst/>
          </a:prstGeom>
          <a:noFill/>
          <a:ln/>
        </p:spPr>
        <p:txBody>
          <a:bodyPr wrap="square" lIns="0" tIns="0" rIns="0" bIns="0" rtlCol="0" anchor="ctr"/>
          <a:lstStyle/>
          <a:p>
            <a:pPr algn="ctr" indent="0" marL="0">
              <a:buNone/>
            </a:pPr>
            <a:r>
              <a:rPr lang="en-US" sz="2288" dirty="0">
                <a:solidFill>
                  <a:srgbClr val="FFFFFF"/>
                </a:solidFill>
                <a:latin typeface="Bebas Neue" pitchFamily="34" charset="0"/>
                <a:ea typeface="Bebas Neue" pitchFamily="34" charset="-122"/>
                <a:cs typeface="Bebas Neue" pitchFamily="34" charset="-120"/>
              </a:rPr>
              <a:t>2</a:t>
            </a:r>
            <a:endParaRPr lang="en-US" sz="2288" dirty="0"/>
          </a:p>
        </p:txBody>
      </p:sp>
      <p:sp>
        <p:nvSpPr>
          <p:cNvPr id="9" name="Text 7"/>
          <p:cNvSpPr txBox="1"/>
          <p:nvPr/>
        </p:nvSpPr>
        <p:spPr>
          <a:xfrm>
            <a:off x="1188720" y="2304288"/>
            <a:ext cx="6400800" cy="621792"/>
          </a:xfrm>
          <a:prstGeom prst="rect">
            <a:avLst/>
          </a:prstGeom>
          <a:noFill/>
          <a:ln/>
        </p:spPr>
        <p:txBody>
          <a:bodyPr wrap="square" lIns="0" tIns="0" rIns="0" bIns="0" rtlCol="0" anchor="ctr"/>
          <a:lstStyle/>
          <a:p>
            <a:pPr indent="0" marL="0">
              <a:buNone/>
            </a:pPr>
            <a:r>
              <a:rPr lang="en-US" sz="2100" dirty="0">
                <a:solidFill>
                  <a:srgbClr val="1B1B1B"/>
                </a:solidFill>
                <a:latin typeface="Manrope" pitchFamily="34" charset="0"/>
                <a:ea typeface="Manrope" pitchFamily="34" charset="-122"/>
                <a:cs typeface="Manrope" pitchFamily="34" charset="-120"/>
              </a:rPr>
              <a:t>Bagaimana </a:t>
            </a:r>
            <a:r>
              <a:rPr lang="en-US" sz="2100" b="1" dirty="0">
                <a:solidFill>
                  <a:srgbClr val="1B1B1B"/>
                </a:solidFill>
                <a:highlight>
                  <a:srgbClr val="FFE066"/>
                </a:highlight>
                <a:latin typeface="Manrope" pitchFamily="34" charset="0"/>
                <a:ea typeface="Manrope" pitchFamily="34" charset="-122"/>
                <a:cs typeface="Manrope" pitchFamily="34" charset="-120"/>
              </a:rPr>
              <a:t>network carriers</a:t>
            </a:r>
            <a:r>
              <a:rPr lang="en-US" sz="2100" dirty="0">
                <a:solidFill>
                  <a:srgbClr val="1B1B1B"/>
                </a:solidFill>
                <a:latin typeface="Manrope" pitchFamily="34" charset="0"/>
                <a:ea typeface="Manrope" pitchFamily="34" charset="-122"/>
                <a:cs typeface="Manrope" pitchFamily="34" charset="-120"/>
              </a:rPr>
              <a:t> akan membalas?</a:t>
            </a:r>
            <a:endParaRPr lang="en-US" sz="2100" dirty="0"/>
          </a:p>
        </p:txBody>
      </p:sp>
      <p:sp>
        <p:nvSpPr>
          <p:cNvPr id="10" name="Shape 8"/>
          <p:cNvSpPr/>
          <p:nvPr/>
        </p:nvSpPr>
        <p:spPr>
          <a:xfrm>
            <a:off x="548640" y="3026664"/>
            <a:ext cx="475488" cy="475488"/>
          </a:xfrm>
          <a:prstGeom prst="ellipse">
            <a:avLst/>
          </a:prstGeom>
          <a:solidFill>
            <a:srgbClr val="F4C430"/>
          </a:solidFill>
          <a:ln w="12700">
            <a:solidFill>
              <a:srgbClr val="F4C430"/>
            </a:solidFill>
            <a:prstDash val="solid"/>
          </a:ln>
        </p:spPr>
      </p:sp>
      <p:sp>
        <p:nvSpPr>
          <p:cNvPr id="11" name="Text 9"/>
          <p:cNvSpPr txBox="1"/>
          <p:nvPr/>
        </p:nvSpPr>
        <p:spPr>
          <a:xfrm>
            <a:off x="548640" y="3026664"/>
            <a:ext cx="475488" cy="475488"/>
          </a:xfrm>
          <a:prstGeom prst="rect">
            <a:avLst/>
          </a:prstGeom>
          <a:noFill/>
          <a:ln/>
        </p:spPr>
        <p:txBody>
          <a:bodyPr wrap="square" lIns="0" tIns="0" rIns="0" bIns="0" rtlCol="0" anchor="ctr"/>
          <a:lstStyle/>
          <a:p>
            <a:pPr algn="ctr" indent="0" marL="0">
              <a:buNone/>
            </a:pPr>
            <a:r>
              <a:rPr lang="en-US" sz="2288" dirty="0">
                <a:solidFill>
                  <a:srgbClr val="1B1B1B"/>
                </a:solidFill>
                <a:latin typeface="Bebas Neue" pitchFamily="34" charset="0"/>
                <a:ea typeface="Bebas Neue" pitchFamily="34" charset="-122"/>
                <a:cs typeface="Bebas Neue" pitchFamily="34" charset="-120"/>
              </a:rPr>
              <a:t>3</a:t>
            </a:r>
            <a:endParaRPr lang="en-US" sz="2288" dirty="0"/>
          </a:p>
        </p:txBody>
      </p:sp>
      <p:sp>
        <p:nvSpPr>
          <p:cNvPr id="12" name="Text 10"/>
          <p:cNvSpPr txBox="1"/>
          <p:nvPr/>
        </p:nvSpPr>
        <p:spPr>
          <a:xfrm>
            <a:off x="1188720" y="2962656"/>
            <a:ext cx="6400800" cy="621792"/>
          </a:xfrm>
          <a:prstGeom prst="rect">
            <a:avLst/>
          </a:prstGeom>
          <a:noFill/>
          <a:ln/>
        </p:spPr>
        <p:txBody>
          <a:bodyPr wrap="square" lIns="0" tIns="0" rIns="0" bIns="0" rtlCol="0" anchor="ctr"/>
          <a:lstStyle/>
          <a:p>
            <a:pPr indent="0" marL="0">
              <a:buNone/>
            </a:pPr>
            <a:r>
              <a:rPr lang="en-US" sz="2100" dirty="0">
                <a:solidFill>
                  <a:srgbClr val="1B1B1B"/>
                </a:solidFill>
                <a:latin typeface="Manrope" pitchFamily="34" charset="0"/>
                <a:ea typeface="Manrope" pitchFamily="34" charset="-122"/>
                <a:cs typeface="Manrope" pitchFamily="34" charset="-120"/>
              </a:rPr>
              <a:t>Seberapa besar </a:t>
            </a:r>
            <a:r>
              <a:rPr lang="en-US" sz="2100" b="1" dirty="0">
                <a:solidFill>
                  <a:srgbClr val="1B1B1B"/>
                </a:solidFill>
                <a:highlight>
                  <a:srgbClr val="FFE066"/>
                </a:highlight>
                <a:latin typeface="Manrope" pitchFamily="34" charset="0"/>
                <a:ea typeface="Manrope" pitchFamily="34" charset="-122"/>
                <a:cs typeface="Manrope" pitchFamily="34" charset="-120"/>
              </a:rPr>
              <a:t>toleransi finansial</a:t>
            </a:r>
            <a:r>
              <a:rPr lang="en-US" sz="2100" dirty="0">
                <a:solidFill>
                  <a:srgbClr val="1B1B1B"/>
                </a:solidFill>
                <a:latin typeface="Manrope" pitchFamily="34" charset="0"/>
                <a:ea typeface="Manrope" pitchFamily="34" charset="-122"/>
                <a:cs typeface="Manrope" pitchFamily="34" charset="-120"/>
              </a:rPr>
              <a:t> AirAsia terhadap kegagalan?</a:t>
            </a:r>
            <a:endParaRPr lang="en-US" sz="2100" dirty="0"/>
          </a:p>
        </p:txBody>
      </p:sp>
      <p:sp>
        <p:nvSpPr>
          <p:cNvPr id="13" name="Shape 11"/>
          <p:cNvSpPr/>
          <p:nvPr/>
        </p:nvSpPr>
        <p:spPr>
          <a:xfrm>
            <a:off x="548640" y="3685032"/>
            <a:ext cx="475488" cy="475488"/>
          </a:xfrm>
          <a:prstGeom prst="ellipse">
            <a:avLst/>
          </a:prstGeom>
          <a:solidFill>
            <a:srgbClr val="1B1B1B"/>
          </a:solidFill>
          <a:ln w="12700">
            <a:solidFill>
              <a:srgbClr val="1B1B1B"/>
            </a:solidFill>
            <a:prstDash val="solid"/>
          </a:ln>
        </p:spPr>
      </p:sp>
      <p:sp>
        <p:nvSpPr>
          <p:cNvPr id="14" name="Text 12"/>
          <p:cNvSpPr txBox="1"/>
          <p:nvPr/>
        </p:nvSpPr>
        <p:spPr>
          <a:xfrm>
            <a:off x="548640" y="3685032"/>
            <a:ext cx="475488" cy="475488"/>
          </a:xfrm>
          <a:prstGeom prst="rect">
            <a:avLst/>
          </a:prstGeom>
          <a:noFill/>
          <a:ln/>
        </p:spPr>
        <p:txBody>
          <a:bodyPr wrap="square" lIns="0" tIns="0" rIns="0" bIns="0" rtlCol="0" anchor="ctr"/>
          <a:lstStyle/>
          <a:p>
            <a:pPr algn="ctr" indent="0" marL="0">
              <a:buNone/>
            </a:pPr>
            <a:r>
              <a:rPr lang="en-US" sz="2288" dirty="0">
                <a:solidFill>
                  <a:srgbClr val="FFFFFF"/>
                </a:solidFill>
                <a:latin typeface="Bebas Neue" pitchFamily="34" charset="0"/>
                <a:ea typeface="Bebas Neue" pitchFamily="34" charset="-122"/>
                <a:cs typeface="Bebas Neue" pitchFamily="34" charset="-120"/>
              </a:rPr>
              <a:t>4</a:t>
            </a:r>
            <a:endParaRPr lang="en-US" sz="2288" dirty="0"/>
          </a:p>
        </p:txBody>
      </p:sp>
      <p:sp>
        <p:nvSpPr>
          <p:cNvPr id="15" name="Text 13"/>
          <p:cNvSpPr txBox="1"/>
          <p:nvPr/>
        </p:nvSpPr>
        <p:spPr>
          <a:xfrm>
            <a:off x="1188720" y="3621024"/>
            <a:ext cx="6400800" cy="621792"/>
          </a:xfrm>
          <a:prstGeom prst="rect">
            <a:avLst/>
          </a:prstGeom>
          <a:noFill/>
          <a:ln/>
        </p:spPr>
        <p:txBody>
          <a:bodyPr wrap="square" lIns="0" tIns="0" rIns="0" bIns="0" rtlCol="0" anchor="ctr"/>
          <a:lstStyle/>
          <a:p>
            <a:pPr indent="0" marL="0">
              <a:buNone/>
            </a:pPr>
            <a:r>
              <a:rPr lang="en-US" sz="2100" dirty="0">
                <a:solidFill>
                  <a:srgbClr val="1B1B1B"/>
                </a:solidFill>
                <a:latin typeface="Manrope" pitchFamily="34" charset="0"/>
                <a:ea typeface="Manrope" pitchFamily="34" charset="-122"/>
                <a:cs typeface="Manrope" pitchFamily="34" charset="-120"/>
              </a:rPr>
              <a:t>Bisakah </a:t>
            </a:r>
            <a:r>
              <a:rPr lang="en-US" sz="2100" b="1" dirty="0">
                <a:solidFill>
                  <a:srgbClr val="1B1B1B"/>
                </a:solidFill>
                <a:highlight>
                  <a:srgbClr val="FFE066"/>
                </a:highlight>
                <a:latin typeface="Manrope" pitchFamily="34" charset="0"/>
                <a:ea typeface="Manrope" pitchFamily="34" charset="-122"/>
                <a:cs typeface="Manrope" pitchFamily="34" charset="-120"/>
              </a:rPr>
              <a:t>eksploitasi dan eksplorasi</a:t>
            </a:r>
            <a:r>
              <a:rPr lang="en-US" sz="2100" dirty="0">
                <a:solidFill>
                  <a:srgbClr val="1B1B1B"/>
                </a:solidFill>
                <a:latin typeface="Manrope" pitchFamily="34" charset="0"/>
                <a:ea typeface="Manrope" pitchFamily="34" charset="-122"/>
                <a:cs typeface="Manrope" pitchFamily="34" charset="-120"/>
              </a:rPr>
              <a:t> berjalan dalam satu organisasi?</a:t>
            </a:r>
            <a:endParaRPr lang="en-US" sz="2100" dirty="0"/>
          </a:p>
        </p:txBody>
      </p:sp>
      <p:sp>
        <p:nvSpPr>
          <p:cNvPr id="16" name="Shape 14"/>
          <p:cNvSpPr/>
          <p:nvPr/>
        </p:nvSpPr>
        <p:spPr>
          <a:xfrm>
            <a:off x="548640" y="4343400"/>
            <a:ext cx="475488" cy="475488"/>
          </a:xfrm>
          <a:prstGeom prst="ellipse">
            <a:avLst/>
          </a:prstGeom>
          <a:solidFill>
            <a:srgbClr val="E63E2C"/>
          </a:solidFill>
          <a:ln w="12700">
            <a:solidFill>
              <a:srgbClr val="E63E2C"/>
            </a:solidFill>
            <a:prstDash val="solid"/>
          </a:ln>
        </p:spPr>
      </p:sp>
      <p:sp>
        <p:nvSpPr>
          <p:cNvPr id="17" name="Text 15"/>
          <p:cNvSpPr txBox="1"/>
          <p:nvPr/>
        </p:nvSpPr>
        <p:spPr>
          <a:xfrm>
            <a:off x="548640" y="4343400"/>
            <a:ext cx="475488" cy="475488"/>
          </a:xfrm>
          <a:prstGeom prst="rect">
            <a:avLst/>
          </a:prstGeom>
          <a:noFill/>
          <a:ln/>
        </p:spPr>
        <p:txBody>
          <a:bodyPr wrap="square" lIns="0" tIns="0" rIns="0" bIns="0" rtlCol="0" anchor="ctr"/>
          <a:lstStyle/>
          <a:p>
            <a:pPr algn="ctr" indent="0" marL="0">
              <a:buNone/>
            </a:pPr>
            <a:r>
              <a:rPr lang="en-US" sz="2288" dirty="0">
                <a:solidFill>
                  <a:srgbClr val="FFFFFF"/>
                </a:solidFill>
                <a:latin typeface="Bebas Neue" pitchFamily="34" charset="0"/>
                <a:ea typeface="Bebas Neue" pitchFamily="34" charset="-122"/>
                <a:cs typeface="Bebas Neue" pitchFamily="34" charset="-120"/>
              </a:rPr>
              <a:t>5</a:t>
            </a:r>
            <a:endParaRPr lang="en-US" sz="2288" dirty="0"/>
          </a:p>
        </p:txBody>
      </p:sp>
      <p:sp>
        <p:nvSpPr>
          <p:cNvPr id="18" name="Text 16"/>
          <p:cNvSpPr txBox="1"/>
          <p:nvPr/>
        </p:nvSpPr>
        <p:spPr>
          <a:xfrm>
            <a:off x="1188720" y="4279392"/>
            <a:ext cx="6400800" cy="621792"/>
          </a:xfrm>
          <a:prstGeom prst="rect">
            <a:avLst/>
          </a:prstGeom>
          <a:noFill/>
          <a:ln/>
        </p:spPr>
        <p:txBody>
          <a:bodyPr wrap="square" lIns="0" tIns="0" rIns="0" bIns="0" rtlCol="0" anchor="ctr"/>
          <a:lstStyle/>
          <a:p>
            <a:pPr indent="0" marL="0">
              <a:buNone/>
            </a:pPr>
            <a:r>
              <a:rPr lang="en-US" sz="2100" dirty="0">
                <a:solidFill>
                  <a:srgbClr val="1B1B1B"/>
                </a:solidFill>
                <a:latin typeface="Manrope" pitchFamily="34" charset="0"/>
                <a:ea typeface="Manrope" pitchFamily="34" charset="-122"/>
                <a:cs typeface="Manrope" pitchFamily="34" charset="-120"/>
              </a:rPr>
              <a:t>Apakah </a:t>
            </a:r>
            <a:r>
              <a:rPr lang="en-US" sz="2100" b="1" dirty="0">
                <a:solidFill>
                  <a:srgbClr val="1B1B1B"/>
                </a:solidFill>
                <a:highlight>
                  <a:srgbClr val="FFE066"/>
                </a:highlight>
                <a:latin typeface="Manrope" pitchFamily="34" charset="0"/>
                <a:ea typeface="Manrope" pitchFamily="34" charset="-122"/>
                <a:cs typeface="Manrope" pitchFamily="34" charset="-120"/>
              </a:rPr>
              <a:t>tata kelola</a:t>
            </a:r>
            <a:r>
              <a:rPr lang="en-US" sz="2100" dirty="0">
                <a:solidFill>
                  <a:srgbClr val="1B1B1B"/>
                </a:solidFill>
                <a:latin typeface="Manrope" pitchFamily="34" charset="0"/>
                <a:ea typeface="Manrope" pitchFamily="34" charset="-122"/>
                <a:cs typeface="Manrope" pitchFamily="34" charset="-120"/>
              </a:rPr>
              <a:t> AirAsia X selaras dengan kepentingan AirAsia?</a:t>
            </a:r>
            <a:endParaRPr lang="en-US" sz="2100" dirty="0"/>
          </a:p>
        </p:txBody>
      </p:sp>
      <p:sp>
        <p:nvSpPr>
          <p:cNvPr id="19" name="Text 17"/>
          <p:cNvSpPr txBox="1"/>
          <p:nvPr/>
        </p:nvSpPr>
        <p:spPr>
          <a:xfrm>
            <a:off x="548640" y="5029200"/>
            <a:ext cx="7040880" cy="1005840"/>
          </a:xfrm>
          <a:prstGeom prst="rect">
            <a:avLst/>
          </a:prstGeom>
          <a:noFill/>
          <a:ln/>
        </p:spPr>
        <p:txBody>
          <a:bodyPr wrap="square" lIns="0" tIns="0" rIns="0" bIns="0" rtlCol="0" anchor="t"/>
          <a:lstStyle/>
          <a:p>
            <a:pPr indent="0" marL="0">
              <a:buNone/>
            </a:pPr>
            <a:r>
              <a:rPr lang="en-US" sz="1700" b="1" dirty="0">
                <a:solidFill>
                  <a:srgbClr val="E63E2C"/>
                </a:solidFill>
                <a:latin typeface="Manrope" pitchFamily="34" charset="0"/>
                <a:ea typeface="Manrope" pitchFamily="34" charset="-122"/>
                <a:cs typeface="Manrope" pitchFamily="34" charset="-120"/>
              </a:rPr>
              <a:t>Intisari.  </a:t>
            </a:r>
            <a:r>
              <a:rPr lang="en-US" sz="1700" dirty="0">
                <a:solidFill>
                  <a:srgbClr val="1B1B1B"/>
                </a:solidFill>
                <a:latin typeface="Manrope" pitchFamily="34" charset="0"/>
                <a:ea typeface="Manrope" pitchFamily="34" charset="-122"/>
                <a:cs typeface="Manrope" pitchFamily="34" charset="-120"/>
              </a:rPr>
              <a:t>Isu 1 dan 2 dari </a:t>
            </a:r>
            <a:r>
              <a:rPr lang="en-US" sz="1700" b="1" dirty="0">
                <a:solidFill>
                  <a:srgbClr val="1B1B1B"/>
                </a:solidFill>
                <a:highlight>
                  <a:srgbClr val="FFE066"/>
                </a:highlight>
                <a:latin typeface="Manrope" pitchFamily="34" charset="0"/>
                <a:ea typeface="Manrope" pitchFamily="34" charset="-122"/>
                <a:cs typeface="Manrope" pitchFamily="34" charset="-120"/>
              </a:rPr>
              <a:t>lingkungan eksternal</a:t>
            </a:r>
            <a:r>
              <a:rPr lang="en-US" sz="1700" dirty="0">
                <a:solidFill>
                  <a:srgbClr val="1B1B1B"/>
                </a:solidFill>
                <a:latin typeface="Manrope" pitchFamily="34" charset="0"/>
                <a:ea typeface="Manrope" pitchFamily="34" charset="-122"/>
                <a:cs typeface="Manrope" pitchFamily="34" charset="-120"/>
              </a:rPr>
              <a:t>, isu 3 dari </a:t>
            </a:r>
            <a:r>
              <a:rPr lang="en-US" sz="1700" b="1" dirty="0">
                <a:solidFill>
                  <a:srgbClr val="1B1B1B"/>
                </a:solidFill>
                <a:highlight>
                  <a:srgbClr val="FFE066"/>
                </a:highlight>
                <a:latin typeface="Manrope" pitchFamily="34" charset="0"/>
                <a:ea typeface="Manrope" pitchFamily="34" charset="-122"/>
                <a:cs typeface="Manrope" pitchFamily="34" charset="-120"/>
              </a:rPr>
              <a:t>posisi biaya</a:t>
            </a:r>
            <a:r>
              <a:rPr lang="en-US" sz="1700" dirty="0">
                <a:solidFill>
                  <a:srgbClr val="1B1B1B"/>
                </a:solidFill>
                <a:latin typeface="Manrope" pitchFamily="34" charset="0"/>
                <a:ea typeface="Manrope" pitchFamily="34" charset="-122"/>
                <a:cs typeface="Manrope" pitchFamily="34" charset="-120"/>
              </a:rPr>
              <a:t>, isu 4 dan 5 soal </a:t>
            </a:r>
            <a:r>
              <a:rPr lang="en-US" sz="1700" b="1" dirty="0">
                <a:solidFill>
                  <a:srgbClr val="1B1B1B"/>
                </a:solidFill>
                <a:highlight>
                  <a:srgbClr val="FFE066"/>
                </a:highlight>
                <a:latin typeface="Manrope" pitchFamily="34" charset="0"/>
                <a:ea typeface="Manrope" pitchFamily="34" charset="-122"/>
                <a:cs typeface="Manrope" pitchFamily="34" charset="-120"/>
              </a:rPr>
              <a:t>organisasi dan tata kelola</a:t>
            </a:r>
            <a:r>
              <a:rPr lang="en-US" sz="1700" dirty="0">
                <a:solidFill>
                  <a:srgbClr val="1B1B1B"/>
                </a:solidFill>
                <a:latin typeface="Manrope" pitchFamily="34" charset="0"/>
                <a:ea typeface="Manrope" pitchFamily="34" charset="-122"/>
                <a:cs typeface="Manrope" pitchFamily="34" charset="-120"/>
              </a:rPr>
              <a:t>.</a:t>
            </a:r>
            <a:endParaRPr lang="en-US" sz="1700" dirty="0"/>
          </a:p>
        </p:txBody>
      </p:sp>
      <p:sp>
        <p:nvSpPr>
          <p:cNvPr id="20" name="Shape 18"/>
          <p:cNvSpPr/>
          <p:nvPr/>
        </p:nvSpPr>
        <p:spPr>
          <a:xfrm>
            <a:off x="8119872" y="1810512"/>
            <a:ext cx="3657600" cy="2377440"/>
          </a:xfrm>
          <a:prstGeom prst="rect">
            <a:avLst/>
          </a:prstGeom>
          <a:solidFill>
            <a:srgbClr val="E63E2C"/>
          </a:solidFill>
          <a:ln w="12700">
            <a:solidFill>
              <a:srgbClr val="E63E2C"/>
            </a:solidFill>
            <a:prstDash val="solid"/>
          </a:ln>
        </p:spPr>
      </p:sp>
      <p:pic>
        <p:nvPicPr>
          <p:cNvPr id="21" name="Image 0" descr="/tmp/claude-0/-home-user-Dom-Manipulation/a70c4110-05d8-512e-ae11-d08dee025a7a/scratchpad/img/aa_board.jpg">    </p:cNvPr>
          <p:cNvPicPr>
            <a:picLocks noChangeAspect="1"/>
          </p:cNvPicPr>
          <p:nvPr/>
        </p:nvPicPr>
        <p:blipFill>
          <a:blip r:embed="rId1"/>
          <a:srcRect l="0" r="0" t="0" b="0"/>
          <a:stretch/>
        </p:blipFill>
        <p:spPr>
          <a:xfrm>
            <a:off x="7955280" y="1645920"/>
            <a:ext cx="3657600" cy="2377440"/>
          </a:xfrm>
          <a:prstGeom prst="rect">
            <a:avLst/>
          </a:prstGeom>
        </p:spPr>
      </p:pic>
      <p:sp>
        <p:nvSpPr>
          <p:cNvPr id="22" name="Text 19"/>
          <p:cNvSpPr txBox="1"/>
          <p:nvPr/>
        </p:nvSpPr>
        <p:spPr>
          <a:xfrm>
            <a:off x="7955280" y="4297680"/>
            <a:ext cx="3657600" cy="1097280"/>
          </a:xfrm>
          <a:prstGeom prst="rect">
            <a:avLst/>
          </a:prstGeom>
          <a:noFill/>
          <a:ln/>
        </p:spPr>
        <p:txBody>
          <a:bodyPr wrap="square" lIns="0" tIns="0" rIns="0" bIns="0" rtlCol="0" anchor="t"/>
          <a:lstStyle/>
          <a:p>
            <a:pPr indent="0" marL="0">
              <a:buNone/>
            </a:pPr>
            <a:r>
              <a:rPr lang="en-US" sz="1600" i="1" dirty="0">
                <a:solidFill>
                  <a:srgbClr val="4A4A4A"/>
                </a:solidFill>
                <a:latin typeface="Manrope" pitchFamily="34" charset="0"/>
                <a:ea typeface="Manrope" pitchFamily="34" charset="-122"/>
                <a:cs typeface="Manrope" pitchFamily="34" charset="-120"/>
              </a:rPr>
              <a:t>Lima pertanyaan yang harus dijawab manajemen sebelum memilih.</a:t>
            </a:r>
            <a:endParaRPr lang="en-US" sz="1600" dirty="0"/>
          </a:p>
        </p:txBody>
      </p:sp>
      <p:sp>
        <p:nvSpPr>
          <p:cNvPr id="23" name="Text 20"/>
          <p:cNvSpPr txBox="1"/>
          <p:nvPr/>
        </p:nvSpPr>
        <p:spPr>
          <a:xfrm>
            <a:off x="548640" y="6217920"/>
            <a:ext cx="10424160" cy="411480"/>
          </a:xfrm>
          <a:prstGeom prst="rect">
            <a:avLst/>
          </a:prstGeom>
          <a:noFill/>
          <a:ln/>
        </p:spPr>
        <p:txBody>
          <a:bodyPr wrap="square" lIns="0" tIns="0" rIns="0" bIns="0" rtlCol="0" anchor="ctr"/>
          <a:lstStyle/>
          <a:p>
            <a:pPr indent="0" marL="0">
              <a:buNone/>
            </a:pPr>
            <a:r>
              <a:rPr lang="en-US" sz="1100" dirty="0">
                <a:solidFill>
                  <a:srgbClr val="E63E2C"/>
                </a:solidFill>
                <a:latin typeface="Manrope" pitchFamily="34" charset="0"/>
                <a:ea typeface="Manrope" pitchFamily="34" charset="-122"/>
                <a:cs typeface="Manrope" pitchFamily="34" charset="-120"/>
              </a:rPr>
              <a:t>■  </a:t>
            </a:r>
            <a:r>
              <a:rPr lang="en-US" sz="1600" b="1" dirty="0">
                <a:solidFill>
                  <a:srgbClr val="1B1B1B"/>
                </a:solidFill>
                <a:latin typeface="Manrope" pitchFamily="34" charset="0"/>
                <a:ea typeface="Manrope" pitchFamily="34" charset="-122"/>
                <a:cs typeface="Manrope" pitchFamily="34" charset="-120"/>
              </a:rPr>
              <a:t>Selanjutnya  </a:t>
            </a:r>
            <a:r>
              <a:rPr lang="en-US" sz="1600" dirty="0">
                <a:solidFill>
                  <a:srgbClr val="4A4A4A"/>
                </a:solidFill>
                <a:latin typeface="Manrope" pitchFamily="34" charset="0"/>
                <a:ea typeface="Manrope" pitchFamily="34" charset="-122"/>
                <a:cs typeface="Manrope" pitchFamily="34" charset="-120"/>
              </a:rPr>
              <a:t>Lima pertanyaan ini menjadi kriteria untuk menilai tiga alternatif.</a:t>
            </a:r>
            <a:endParaRPr lang="en-US" sz="1600" dirty="0"/>
          </a:p>
        </p:txBody>
      </p:sp>
      <p:sp>
        <p:nvSpPr>
          <p:cNvPr id="24" name="Text 21"/>
          <p:cNvSpPr txBox="1"/>
          <p:nvPr/>
        </p:nvSpPr>
        <p:spPr>
          <a:xfrm>
            <a:off x="11247120" y="6355080"/>
            <a:ext cx="548640" cy="320040"/>
          </a:xfrm>
          <a:prstGeom prst="rect">
            <a:avLst/>
          </a:prstGeom>
          <a:noFill/>
          <a:ln/>
        </p:spPr>
        <p:txBody>
          <a:bodyPr wrap="square" lIns="0" tIns="0" rIns="0" bIns="0" rtlCol="0" anchor="ctr"/>
          <a:lstStyle/>
          <a:p>
            <a:pPr algn="r" indent="0" marL="0">
              <a:buNone/>
            </a:pPr>
            <a:r>
              <a:rPr lang="en-US" sz="1200" b="1" dirty="0">
                <a:solidFill>
                  <a:srgbClr val="1B1B1B"/>
                </a:solidFill>
                <a:latin typeface="Manrope" pitchFamily="34" charset="0"/>
                <a:ea typeface="Manrope" pitchFamily="34" charset="-122"/>
                <a:cs typeface="Manrope"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3E2CF"/>
        </a:solidFill>
      </p:bgPr>
    </p:bg>
    <p:spTree>
      <p:nvGrpSpPr>
        <p:cNvPr id="1" name=""/>
        <p:cNvGrpSpPr/>
        <p:nvPr/>
      </p:nvGrpSpPr>
      <p:grpSpPr>
        <a:xfrm>
          <a:off x="0" y="0"/>
          <a:ext cx="0" cy="0"/>
          <a:chOff x="0" y="0"/>
          <a:chExt cx="0" cy="0"/>
        </a:xfrm>
      </p:grpSpPr>
      <p:sp>
        <p:nvSpPr>
          <p:cNvPr id="2" name="Text 0"/>
          <p:cNvSpPr txBox="1"/>
          <p:nvPr/>
        </p:nvSpPr>
        <p:spPr>
          <a:xfrm>
            <a:off x="548640" y="457200"/>
            <a:ext cx="10515600" cy="914400"/>
          </a:xfrm>
          <a:prstGeom prst="rect">
            <a:avLst/>
          </a:prstGeom>
          <a:noFill/>
          <a:ln/>
        </p:spPr>
        <p:txBody>
          <a:bodyPr wrap="square" lIns="0" tIns="0" rIns="0" bIns="0" rtlCol="0" anchor="ctr"/>
          <a:lstStyle/>
          <a:p>
            <a:pPr indent="0" marL="0">
              <a:buNone/>
            </a:pPr>
            <a:r>
              <a:rPr lang="en-US" sz="5800" dirty="0">
                <a:solidFill>
                  <a:srgbClr val="1B1B1B"/>
                </a:solidFill>
                <a:latin typeface="Bebas Neue" pitchFamily="34" charset="0"/>
                <a:ea typeface="Bebas Neue" pitchFamily="34" charset="-122"/>
                <a:cs typeface="Bebas Neue" pitchFamily="34" charset="-120"/>
              </a:rPr>
              <a:t>STRATEGIC ALTERNATIVES</a:t>
            </a:r>
            <a:endParaRPr lang="en-US" sz="5800" dirty="0"/>
          </a:p>
        </p:txBody>
      </p:sp>
      <p:sp>
        <p:nvSpPr>
          <p:cNvPr id="3" name="Shape 1"/>
          <p:cNvSpPr/>
          <p:nvPr/>
        </p:nvSpPr>
        <p:spPr>
          <a:xfrm>
            <a:off x="548640" y="1600200"/>
            <a:ext cx="3611880" cy="4297680"/>
          </a:xfrm>
          <a:prstGeom prst="rect">
            <a:avLst/>
          </a:prstGeom>
          <a:solidFill>
            <a:srgbClr val="FFFFFF"/>
          </a:solidFill>
          <a:ln w="12700">
            <a:solidFill>
              <a:srgbClr val="FFFFFF"/>
            </a:solidFill>
            <a:prstDash val="solid"/>
          </a:ln>
        </p:spPr>
      </p:sp>
      <p:sp>
        <p:nvSpPr>
          <p:cNvPr id="4" name="Shape 2"/>
          <p:cNvSpPr/>
          <p:nvPr/>
        </p:nvSpPr>
        <p:spPr>
          <a:xfrm>
            <a:off x="777240" y="1783080"/>
            <a:ext cx="640080" cy="640080"/>
          </a:xfrm>
          <a:prstGeom prst="ellipse">
            <a:avLst/>
          </a:prstGeom>
          <a:solidFill>
            <a:srgbClr val="E63E2C"/>
          </a:solidFill>
          <a:ln w="12700">
            <a:solidFill>
              <a:srgbClr val="E63E2C"/>
            </a:solidFill>
            <a:prstDash val="solid"/>
          </a:ln>
        </p:spPr>
      </p:sp>
      <p:sp>
        <p:nvSpPr>
          <p:cNvPr id="5" name="Text 3"/>
          <p:cNvSpPr txBox="1"/>
          <p:nvPr/>
        </p:nvSpPr>
        <p:spPr>
          <a:xfrm>
            <a:off x="777240" y="1783080"/>
            <a:ext cx="640080" cy="640080"/>
          </a:xfrm>
          <a:prstGeom prst="rect">
            <a:avLst/>
          </a:prstGeom>
          <a:noFill/>
          <a:ln/>
        </p:spPr>
        <p:txBody>
          <a:bodyPr wrap="square" lIns="0" tIns="0" rIns="0" bIns="0" rtlCol="0" anchor="ctr"/>
          <a:lstStyle/>
          <a:p>
            <a:pPr algn="ctr" indent="0" marL="0">
              <a:buNone/>
            </a:pPr>
            <a:r>
              <a:rPr lang="en-US" sz="3000" dirty="0">
                <a:solidFill>
                  <a:srgbClr val="FFFFFF"/>
                </a:solidFill>
                <a:latin typeface="Bebas Neue" pitchFamily="34" charset="0"/>
                <a:ea typeface="Bebas Neue" pitchFamily="34" charset="-122"/>
                <a:cs typeface="Bebas Neue" pitchFamily="34" charset="-120"/>
              </a:rPr>
              <a:t>A</a:t>
            </a:r>
            <a:endParaRPr lang="en-US" sz="3000" dirty="0"/>
          </a:p>
        </p:txBody>
      </p:sp>
      <p:sp>
        <p:nvSpPr>
          <p:cNvPr id="6" name="Text 4"/>
          <p:cNvSpPr txBox="1"/>
          <p:nvPr/>
        </p:nvSpPr>
        <p:spPr>
          <a:xfrm>
            <a:off x="1554480" y="1828800"/>
            <a:ext cx="2560320" cy="548640"/>
          </a:xfrm>
          <a:prstGeom prst="rect">
            <a:avLst/>
          </a:prstGeom>
          <a:noFill/>
          <a:ln/>
        </p:spPr>
        <p:txBody>
          <a:bodyPr wrap="square" lIns="0" tIns="0" rIns="0" bIns="0" rtlCol="0" anchor="ctr"/>
          <a:lstStyle/>
          <a:p>
            <a:pPr indent="0" marL="0">
              <a:buNone/>
            </a:pPr>
            <a:r>
              <a:rPr lang="en-US" sz="2600" dirty="0">
                <a:solidFill>
                  <a:srgbClr val="1B1B1B"/>
                </a:solidFill>
                <a:latin typeface="Bebas Neue" pitchFamily="34" charset="0"/>
                <a:ea typeface="Bebas Neue" pitchFamily="34" charset="-122"/>
                <a:cs typeface="Bebas Neue" pitchFamily="34" charset="-120"/>
              </a:rPr>
              <a:t>FOKUS REGIONAL</a:t>
            </a:r>
            <a:endParaRPr lang="en-US" sz="2600" dirty="0"/>
          </a:p>
        </p:txBody>
      </p:sp>
      <p:sp>
        <p:nvSpPr>
          <p:cNvPr id="7" name="Text 5"/>
          <p:cNvSpPr txBox="1"/>
          <p:nvPr/>
        </p:nvSpPr>
        <p:spPr>
          <a:xfrm>
            <a:off x="777240" y="2697480"/>
            <a:ext cx="3200400" cy="2011680"/>
          </a:xfrm>
          <a:prstGeom prst="rect">
            <a:avLst/>
          </a:prstGeom>
          <a:noFill/>
          <a:ln/>
        </p:spPr>
        <p:txBody>
          <a:bodyPr wrap="square" lIns="0" tIns="0" rIns="0" bIns="0" rtlCol="0" anchor="t"/>
          <a:lstStyle/>
          <a:p>
            <a:pPr marL="342900" indent="-342900">
              <a:spcAft>
                <a:spcPts val="700"/>
              </a:spcAft>
              <a:buSzPct val="100000"/>
              <a:buChar char="■"/>
            </a:pPr>
            <a:r>
              <a:rPr lang="en-US" sz="2100" dirty="0">
                <a:solidFill>
                  <a:srgbClr val="1B1B1B"/>
                </a:solidFill>
                <a:latin typeface="Manrope" pitchFamily="34" charset="0"/>
                <a:ea typeface="Manrope" pitchFamily="34" charset="-122"/>
                <a:cs typeface="Manrope" pitchFamily="34" charset="-120"/>
              </a:rPr>
              <a:t>AirAsia X </a:t>
            </a:r>
            <a:r>
              <a:rPr lang="en-US" sz="2100" b="1" dirty="0">
                <a:solidFill>
                  <a:srgbClr val="1B1B1B"/>
                </a:solidFill>
                <a:highlight>
                  <a:srgbClr val="FFE066"/>
                </a:highlight>
                <a:latin typeface="Manrope" pitchFamily="34" charset="0"/>
                <a:ea typeface="Manrope" pitchFamily="34" charset="-122"/>
                <a:cs typeface="Manrope" pitchFamily="34" charset="-120"/>
              </a:rPr>
              <a:t>tetap terpisah</a:t>
            </a:r>
            <a:endParaRPr lang="en-US" sz="2100" dirty="0"/>
          </a:p>
          <a:p>
            <a:pPr marL="342900" indent="-342900">
              <a:spcAft>
                <a:spcPts val="700"/>
              </a:spcAft>
              <a:buSzPct val="100000"/>
              <a:buChar char="■"/>
            </a:pPr>
            <a:r>
              <a:rPr lang="en-US" sz="2100" dirty="0">
                <a:solidFill>
                  <a:srgbClr val="1B1B1B"/>
                </a:solidFill>
                <a:latin typeface="Manrope" pitchFamily="34" charset="0"/>
                <a:ea typeface="Manrope" pitchFamily="34" charset="-122"/>
                <a:cs typeface="Manrope" pitchFamily="34" charset="-120"/>
              </a:rPr>
              <a:t>Fokus pasar </a:t>
            </a:r>
            <a:r>
              <a:rPr lang="en-US" sz="2100" b="1" dirty="0">
                <a:solidFill>
                  <a:srgbClr val="1B1B1B"/>
                </a:solidFill>
                <a:highlight>
                  <a:srgbClr val="FFE066"/>
                </a:highlight>
                <a:latin typeface="Manrope" pitchFamily="34" charset="0"/>
                <a:ea typeface="Manrope" pitchFamily="34" charset="-122"/>
                <a:cs typeface="Manrope" pitchFamily="34" charset="-120"/>
              </a:rPr>
              <a:t>3,5 jam</a:t>
            </a:r>
            <a:r>
              <a:rPr lang="en-US" sz="2100" dirty="0">
                <a:solidFill>
                  <a:srgbClr val="1B1B1B"/>
                </a:solidFill>
                <a:latin typeface="Manrope" pitchFamily="34" charset="0"/>
                <a:ea typeface="Manrope" pitchFamily="34" charset="-122"/>
                <a:cs typeface="Manrope" pitchFamily="34" charset="-120"/>
              </a:rPr>
              <a:t> terbang</a:t>
            </a:r>
            <a:endParaRPr lang="en-US" sz="2100" dirty="0"/>
          </a:p>
        </p:txBody>
      </p:sp>
      <p:sp>
        <p:nvSpPr>
          <p:cNvPr id="8" name="Text 6"/>
          <p:cNvSpPr txBox="1"/>
          <p:nvPr/>
        </p:nvSpPr>
        <p:spPr>
          <a:xfrm>
            <a:off x="777240" y="4846320"/>
            <a:ext cx="3200400" cy="914400"/>
          </a:xfrm>
          <a:prstGeom prst="rect">
            <a:avLst/>
          </a:prstGeom>
          <a:noFill/>
          <a:ln/>
        </p:spPr>
        <p:txBody>
          <a:bodyPr wrap="square" lIns="0" tIns="0" rIns="0" bIns="0" rtlCol="0" anchor="b"/>
          <a:lstStyle/>
          <a:p>
            <a:pPr indent="0" marL="0">
              <a:buNone/>
            </a:pPr>
            <a:r>
              <a:rPr lang="en-US" sz="1700" b="1" dirty="0">
                <a:solidFill>
                  <a:srgbClr val="E63E2C"/>
                </a:solidFill>
                <a:latin typeface="Manrope" pitchFamily="34" charset="0"/>
                <a:ea typeface="Manrope" pitchFamily="34" charset="-122"/>
                <a:cs typeface="Manrope" pitchFamily="34" charset="-120"/>
              </a:rPr>
              <a:t>Sudut pandang. </a:t>
            </a:r>
            <a:r>
              <a:rPr lang="en-US" sz="1700" dirty="0">
                <a:solidFill>
                  <a:srgbClr val="1B1B1B"/>
                </a:solidFill>
                <a:latin typeface="Manrope" pitchFamily="34" charset="0"/>
                <a:ea typeface="Manrope" pitchFamily="34" charset="-122"/>
                <a:cs typeface="Manrope" pitchFamily="34" charset="-120"/>
              </a:rPr>
              <a:t>eksploitasi murni</a:t>
            </a:r>
            <a:endParaRPr lang="en-US" sz="1700" dirty="0"/>
          </a:p>
        </p:txBody>
      </p:sp>
      <p:sp>
        <p:nvSpPr>
          <p:cNvPr id="9" name="Shape 7"/>
          <p:cNvSpPr/>
          <p:nvPr/>
        </p:nvSpPr>
        <p:spPr>
          <a:xfrm>
            <a:off x="4343400" y="1600200"/>
            <a:ext cx="3611880" cy="4297680"/>
          </a:xfrm>
          <a:prstGeom prst="rect">
            <a:avLst/>
          </a:prstGeom>
          <a:solidFill>
            <a:srgbClr val="FFFFFF"/>
          </a:solidFill>
          <a:ln w="12700">
            <a:solidFill>
              <a:srgbClr val="FFFFFF"/>
            </a:solidFill>
            <a:prstDash val="solid"/>
          </a:ln>
        </p:spPr>
      </p:sp>
      <p:sp>
        <p:nvSpPr>
          <p:cNvPr id="10" name="Shape 8"/>
          <p:cNvSpPr/>
          <p:nvPr/>
        </p:nvSpPr>
        <p:spPr>
          <a:xfrm>
            <a:off x="4572000" y="1783080"/>
            <a:ext cx="640080" cy="640080"/>
          </a:xfrm>
          <a:prstGeom prst="ellipse">
            <a:avLst/>
          </a:prstGeom>
          <a:solidFill>
            <a:srgbClr val="2C7BB8"/>
          </a:solidFill>
          <a:ln w="12700">
            <a:solidFill>
              <a:srgbClr val="2C7BB8"/>
            </a:solidFill>
            <a:prstDash val="solid"/>
          </a:ln>
        </p:spPr>
      </p:sp>
      <p:sp>
        <p:nvSpPr>
          <p:cNvPr id="11" name="Text 9"/>
          <p:cNvSpPr txBox="1"/>
          <p:nvPr/>
        </p:nvSpPr>
        <p:spPr>
          <a:xfrm>
            <a:off x="4572000" y="1783080"/>
            <a:ext cx="640080" cy="640080"/>
          </a:xfrm>
          <a:prstGeom prst="rect">
            <a:avLst/>
          </a:prstGeom>
          <a:noFill/>
          <a:ln/>
        </p:spPr>
        <p:txBody>
          <a:bodyPr wrap="square" lIns="0" tIns="0" rIns="0" bIns="0" rtlCol="0" anchor="ctr"/>
          <a:lstStyle/>
          <a:p>
            <a:pPr algn="ctr" indent="0" marL="0">
              <a:buNone/>
            </a:pPr>
            <a:r>
              <a:rPr lang="en-US" sz="3000" dirty="0">
                <a:solidFill>
                  <a:srgbClr val="FFFFFF"/>
                </a:solidFill>
                <a:latin typeface="Bebas Neue" pitchFamily="34" charset="0"/>
                <a:ea typeface="Bebas Neue" pitchFamily="34" charset="-122"/>
                <a:cs typeface="Bebas Neue" pitchFamily="34" charset="-120"/>
              </a:rPr>
              <a:t>B</a:t>
            </a:r>
            <a:endParaRPr lang="en-US" sz="3000" dirty="0"/>
          </a:p>
        </p:txBody>
      </p:sp>
      <p:sp>
        <p:nvSpPr>
          <p:cNvPr id="12" name="Text 10"/>
          <p:cNvSpPr txBox="1"/>
          <p:nvPr/>
        </p:nvSpPr>
        <p:spPr>
          <a:xfrm>
            <a:off x="5349240" y="1828800"/>
            <a:ext cx="2560320" cy="548640"/>
          </a:xfrm>
          <a:prstGeom prst="rect">
            <a:avLst/>
          </a:prstGeom>
          <a:noFill/>
          <a:ln/>
        </p:spPr>
        <p:txBody>
          <a:bodyPr wrap="square" lIns="0" tIns="0" rIns="0" bIns="0" rtlCol="0" anchor="ctr"/>
          <a:lstStyle/>
          <a:p>
            <a:pPr indent="0" marL="0">
              <a:buNone/>
            </a:pPr>
            <a:r>
              <a:rPr lang="en-US" sz="2600" dirty="0">
                <a:solidFill>
                  <a:srgbClr val="1B1B1B"/>
                </a:solidFill>
                <a:latin typeface="Bebas Neue" pitchFamily="34" charset="0"/>
                <a:ea typeface="Bebas Neue" pitchFamily="34" charset="-122"/>
                <a:cs typeface="Bebas Neue" pitchFamily="34" charset="-120"/>
              </a:rPr>
              <a:t>INTEGRASI PENUH</a:t>
            </a:r>
            <a:endParaRPr lang="en-US" sz="2600" dirty="0"/>
          </a:p>
        </p:txBody>
      </p:sp>
      <p:sp>
        <p:nvSpPr>
          <p:cNvPr id="13" name="Text 11"/>
          <p:cNvSpPr txBox="1"/>
          <p:nvPr/>
        </p:nvSpPr>
        <p:spPr>
          <a:xfrm>
            <a:off x="4572000" y="2697480"/>
            <a:ext cx="3200400" cy="2011680"/>
          </a:xfrm>
          <a:prstGeom prst="rect">
            <a:avLst/>
          </a:prstGeom>
          <a:noFill/>
          <a:ln/>
        </p:spPr>
        <p:txBody>
          <a:bodyPr wrap="square" lIns="0" tIns="0" rIns="0" bIns="0" rtlCol="0" anchor="t"/>
          <a:lstStyle/>
          <a:p>
            <a:pPr marL="342900" indent="-342900">
              <a:spcAft>
                <a:spcPts val="700"/>
              </a:spcAft>
              <a:buSzPct val="100000"/>
              <a:buChar char="■"/>
            </a:pPr>
            <a:r>
              <a:rPr lang="en-US" sz="2100" b="1" dirty="0">
                <a:solidFill>
                  <a:srgbClr val="1B1B1B"/>
                </a:solidFill>
                <a:highlight>
                  <a:srgbClr val="FFE066"/>
                </a:highlight>
                <a:latin typeface="Manrope" pitchFamily="34" charset="0"/>
                <a:ea typeface="Manrope" pitchFamily="34" charset="-122"/>
                <a:cs typeface="Manrope" pitchFamily="34" charset="-120"/>
              </a:rPr>
              <a:t>Merger</a:t>
            </a:r>
            <a:r>
              <a:rPr lang="en-US" sz="2100" dirty="0">
                <a:solidFill>
                  <a:srgbClr val="1B1B1B"/>
                </a:solidFill>
                <a:latin typeface="Manrope" pitchFamily="34" charset="0"/>
                <a:ea typeface="Manrope" pitchFamily="34" charset="-122"/>
                <a:cs typeface="Manrope" pitchFamily="34" charset="-120"/>
              </a:rPr>
              <a:t> AirAsia X ke AirAsia</a:t>
            </a:r>
            <a:endParaRPr lang="en-US" sz="2100" dirty="0"/>
          </a:p>
          <a:p>
            <a:pPr marL="342900" indent="-342900">
              <a:spcAft>
                <a:spcPts val="700"/>
              </a:spcAft>
              <a:buSzPct val="100000"/>
              <a:buChar char="■"/>
            </a:pPr>
            <a:r>
              <a:rPr lang="en-US" sz="2100" dirty="0">
                <a:solidFill>
                  <a:srgbClr val="1B1B1B"/>
                </a:solidFill>
                <a:latin typeface="Manrope" pitchFamily="34" charset="0"/>
                <a:ea typeface="Manrope" pitchFamily="34" charset="-122"/>
                <a:cs typeface="Manrope" pitchFamily="34" charset="-120"/>
              </a:rPr>
              <a:t>Feeder KL, ekspansi sesuai rencana</a:t>
            </a:r>
            <a:endParaRPr lang="en-US" sz="2100" dirty="0"/>
          </a:p>
        </p:txBody>
      </p:sp>
      <p:sp>
        <p:nvSpPr>
          <p:cNvPr id="14" name="Text 12"/>
          <p:cNvSpPr txBox="1"/>
          <p:nvPr/>
        </p:nvSpPr>
        <p:spPr>
          <a:xfrm>
            <a:off x="4572000" y="4846320"/>
            <a:ext cx="3200400" cy="914400"/>
          </a:xfrm>
          <a:prstGeom prst="rect">
            <a:avLst/>
          </a:prstGeom>
          <a:noFill/>
          <a:ln/>
        </p:spPr>
        <p:txBody>
          <a:bodyPr wrap="square" lIns="0" tIns="0" rIns="0" bIns="0" rtlCol="0" anchor="b"/>
          <a:lstStyle/>
          <a:p>
            <a:pPr indent="0" marL="0">
              <a:buNone/>
            </a:pPr>
            <a:r>
              <a:rPr lang="en-US" sz="1700" b="1" dirty="0">
                <a:solidFill>
                  <a:srgbClr val="2C7BB8"/>
                </a:solidFill>
                <a:latin typeface="Manrope" pitchFamily="34" charset="0"/>
                <a:ea typeface="Manrope" pitchFamily="34" charset="-122"/>
                <a:cs typeface="Manrope" pitchFamily="34" charset="-120"/>
              </a:rPr>
              <a:t>Sudut pandang. </a:t>
            </a:r>
            <a:r>
              <a:rPr lang="en-US" sz="1700" dirty="0">
                <a:solidFill>
                  <a:srgbClr val="1B1B1B"/>
                </a:solidFill>
                <a:latin typeface="Manrope" pitchFamily="34" charset="0"/>
                <a:ea typeface="Manrope" pitchFamily="34" charset="-122"/>
                <a:cs typeface="Manrope" pitchFamily="34" charset="-120"/>
              </a:rPr>
              <a:t>ambidexterity kontekstual</a:t>
            </a:r>
            <a:endParaRPr lang="en-US" sz="1700" dirty="0"/>
          </a:p>
        </p:txBody>
      </p:sp>
      <p:sp>
        <p:nvSpPr>
          <p:cNvPr id="15" name="Shape 13"/>
          <p:cNvSpPr/>
          <p:nvPr/>
        </p:nvSpPr>
        <p:spPr>
          <a:xfrm>
            <a:off x="8138160" y="1600200"/>
            <a:ext cx="3611880" cy="4297680"/>
          </a:xfrm>
          <a:prstGeom prst="rect">
            <a:avLst/>
          </a:prstGeom>
          <a:solidFill>
            <a:srgbClr val="FFFFFF"/>
          </a:solidFill>
          <a:ln w="12700">
            <a:solidFill>
              <a:srgbClr val="FFFFFF"/>
            </a:solidFill>
            <a:prstDash val="solid"/>
          </a:ln>
        </p:spPr>
      </p:sp>
      <p:sp>
        <p:nvSpPr>
          <p:cNvPr id="16" name="Shape 14"/>
          <p:cNvSpPr/>
          <p:nvPr/>
        </p:nvSpPr>
        <p:spPr>
          <a:xfrm>
            <a:off x="8366760" y="1783080"/>
            <a:ext cx="640080" cy="640080"/>
          </a:xfrm>
          <a:prstGeom prst="ellipse">
            <a:avLst/>
          </a:prstGeom>
          <a:solidFill>
            <a:srgbClr val="F4C430"/>
          </a:solidFill>
          <a:ln w="12700">
            <a:solidFill>
              <a:srgbClr val="F4C430"/>
            </a:solidFill>
            <a:prstDash val="solid"/>
          </a:ln>
        </p:spPr>
      </p:sp>
      <p:sp>
        <p:nvSpPr>
          <p:cNvPr id="17" name="Text 15"/>
          <p:cNvSpPr txBox="1"/>
          <p:nvPr/>
        </p:nvSpPr>
        <p:spPr>
          <a:xfrm>
            <a:off x="8366760" y="1783080"/>
            <a:ext cx="640080" cy="640080"/>
          </a:xfrm>
          <a:prstGeom prst="rect">
            <a:avLst/>
          </a:prstGeom>
          <a:noFill/>
          <a:ln/>
        </p:spPr>
        <p:txBody>
          <a:bodyPr wrap="square" lIns="0" tIns="0" rIns="0" bIns="0" rtlCol="0" anchor="ctr"/>
          <a:lstStyle/>
          <a:p>
            <a:pPr algn="ctr" indent="0" marL="0">
              <a:buNone/>
            </a:pPr>
            <a:r>
              <a:rPr lang="en-US" sz="3000" dirty="0">
                <a:solidFill>
                  <a:srgbClr val="1B1B1B"/>
                </a:solidFill>
                <a:latin typeface="Bebas Neue" pitchFamily="34" charset="0"/>
                <a:ea typeface="Bebas Neue" pitchFamily="34" charset="-122"/>
                <a:cs typeface="Bebas Neue" pitchFamily="34" charset="-120"/>
              </a:rPr>
              <a:t>C</a:t>
            </a:r>
            <a:endParaRPr lang="en-US" sz="3000" dirty="0"/>
          </a:p>
        </p:txBody>
      </p:sp>
      <p:sp>
        <p:nvSpPr>
          <p:cNvPr id="18" name="Text 16"/>
          <p:cNvSpPr txBox="1"/>
          <p:nvPr/>
        </p:nvSpPr>
        <p:spPr>
          <a:xfrm>
            <a:off x="9144000" y="1828800"/>
            <a:ext cx="2560320" cy="548640"/>
          </a:xfrm>
          <a:prstGeom prst="rect">
            <a:avLst/>
          </a:prstGeom>
          <a:noFill/>
          <a:ln/>
        </p:spPr>
        <p:txBody>
          <a:bodyPr wrap="square" lIns="0" tIns="0" rIns="0" bIns="0" rtlCol="0" anchor="ctr"/>
          <a:lstStyle/>
          <a:p>
            <a:pPr indent="0" marL="0">
              <a:buNone/>
            </a:pPr>
            <a:r>
              <a:rPr lang="en-US" sz="2600" dirty="0">
                <a:solidFill>
                  <a:srgbClr val="1B1B1B"/>
                </a:solidFill>
                <a:latin typeface="Bebas Neue" pitchFamily="34" charset="0"/>
                <a:ea typeface="Bebas Neue" pitchFamily="34" charset="-122"/>
                <a:cs typeface="Bebas Neue" pitchFamily="34" charset="-120"/>
              </a:rPr>
              <a:t>INTEGRASI BERTAHAP</a:t>
            </a:r>
            <a:endParaRPr lang="en-US" sz="2600" dirty="0"/>
          </a:p>
        </p:txBody>
      </p:sp>
      <p:sp>
        <p:nvSpPr>
          <p:cNvPr id="19" name="Text 17"/>
          <p:cNvSpPr txBox="1"/>
          <p:nvPr/>
        </p:nvSpPr>
        <p:spPr>
          <a:xfrm>
            <a:off x="8366760" y="2697480"/>
            <a:ext cx="3200400" cy="2011680"/>
          </a:xfrm>
          <a:prstGeom prst="rect">
            <a:avLst/>
          </a:prstGeom>
          <a:noFill/>
          <a:ln/>
        </p:spPr>
        <p:txBody>
          <a:bodyPr wrap="square" lIns="0" tIns="0" rIns="0" bIns="0" rtlCol="0" anchor="t"/>
          <a:lstStyle/>
          <a:p>
            <a:pPr marL="342900" indent="-342900">
              <a:spcAft>
                <a:spcPts val="700"/>
              </a:spcAft>
              <a:buSzPct val="100000"/>
              <a:buChar char="■"/>
            </a:pPr>
            <a:r>
              <a:rPr lang="en-US" sz="2100" dirty="0">
                <a:solidFill>
                  <a:srgbClr val="1B1B1B"/>
                </a:solidFill>
                <a:latin typeface="Manrope" pitchFamily="34" charset="0"/>
                <a:ea typeface="Manrope" pitchFamily="34" charset="-122"/>
                <a:cs typeface="Manrope" pitchFamily="34" charset="-120"/>
              </a:rPr>
              <a:t>Kendali </a:t>
            </a:r>
            <a:r>
              <a:rPr lang="en-US" sz="2100" b="1" dirty="0">
                <a:solidFill>
                  <a:srgbClr val="1B1B1B"/>
                </a:solidFill>
                <a:highlight>
                  <a:srgbClr val="FFE066"/>
                </a:highlight>
                <a:latin typeface="Manrope" pitchFamily="34" charset="0"/>
                <a:ea typeface="Manrope" pitchFamily="34" charset="-122"/>
                <a:cs typeface="Manrope" pitchFamily="34" charset="-120"/>
              </a:rPr>
              <a:t>30 persen</a:t>
            </a:r>
            <a:r>
              <a:rPr lang="en-US" sz="2100" dirty="0">
                <a:solidFill>
                  <a:srgbClr val="1B1B1B"/>
                </a:solidFill>
                <a:latin typeface="Manrope" pitchFamily="34" charset="0"/>
                <a:ea typeface="Manrope" pitchFamily="34" charset="-122"/>
                <a:cs typeface="Manrope" pitchFamily="34" charset="-120"/>
              </a:rPr>
              <a:t>, neraca terpisah</a:t>
            </a:r>
            <a:endParaRPr lang="en-US" sz="2100" dirty="0"/>
          </a:p>
          <a:p>
            <a:pPr marL="342900" indent="-342900">
              <a:spcAft>
                <a:spcPts val="700"/>
              </a:spcAft>
              <a:buSzPct val="100000"/>
              <a:buChar char="■"/>
            </a:pPr>
            <a:r>
              <a:rPr lang="en-US" sz="2100" dirty="0">
                <a:solidFill>
                  <a:srgbClr val="1B1B1B"/>
                </a:solidFill>
                <a:latin typeface="Manrope" pitchFamily="34" charset="0"/>
                <a:ea typeface="Manrope" pitchFamily="34" charset="-122"/>
                <a:cs typeface="Manrope" pitchFamily="34" charset="-120"/>
              </a:rPr>
              <a:t>Rute </a:t>
            </a:r>
            <a:r>
              <a:rPr lang="en-US" sz="2100" b="1" dirty="0">
                <a:solidFill>
                  <a:srgbClr val="1B1B1B"/>
                </a:solidFill>
                <a:highlight>
                  <a:srgbClr val="FFE066"/>
                </a:highlight>
                <a:latin typeface="Manrope" pitchFamily="34" charset="0"/>
                <a:ea typeface="Manrope" pitchFamily="34" charset="-122"/>
                <a:cs typeface="Manrope" pitchFamily="34" charset="-120"/>
              </a:rPr>
              <a:t>4 sampai 8 jam</a:t>
            </a:r>
            <a:endParaRPr lang="en-US" sz="2100" dirty="0"/>
          </a:p>
          <a:p>
            <a:pPr marL="342900" indent="-342900">
              <a:spcAft>
                <a:spcPts val="700"/>
              </a:spcAft>
              <a:buSzPct val="100000"/>
              <a:buChar char="■"/>
            </a:pPr>
            <a:r>
              <a:rPr lang="en-US" sz="2100" dirty="0">
                <a:solidFill>
                  <a:srgbClr val="1B1B1B"/>
                </a:solidFill>
                <a:latin typeface="Manrope" pitchFamily="34" charset="0"/>
                <a:ea typeface="Manrope" pitchFamily="34" charset="-122"/>
                <a:cs typeface="Manrope" pitchFamily="34" charset="-120"/>
              </a:rPr>
              <a:t>Merger </a:t>
            </a:r>
            <a:r>
              <a:rPr lang="en-US" sz="2100" b="1" dirty="0">
                <a:solidFill>
                  <a:srgbClr val="1B1B1B"/>
                </a:solidFill>
                <a:highlight>
                  <a:srgbClr val="FFE066"/>
                </a:highlight>
                <a:latin typeface="Manrope" pitchFamily="34" charset="0"/>
                <a:ea typeface="Manrope" pitchFamily="34" charset="-122"/>
                <a:cs typeface="Manrope" pitchFamily="34" charset="-120"/>
              </a:rPr>
              <a:t>menunggu bukti</a:t>
            </a:r>
            <a:endParaRPr lang="en-US" sz="2100" dirty="0"/>
          </a:p>
        </p:txBody>
      </p:sp>
      <p:sp>
        <p:nvSpPr>
          <p:cNvPr id="20" name="Text 18"/>
          <p:cNvSpPr txBox="1"/>
          <p:nvPr/>
        </p:nvSpPr>
        <p:spPr>
          <a:xfrm>
            <a:off x="8366760" y="4846320"/>
            <a:ext cx="3200400" cy="914400"/>
          </a:xfrm>
          <a:prstGeom prst="rect">
            <a:avLst/>
          </a:prstGeom>
          <a:noFill/>
          <a:ln/>
        </p:spPr>
        <p:txBody>
          <a:bodyPr wrap="square" lIns="0" tIns="0" rIns="0" bIns="0" rtlCol="0" anchor="b"/>
          <a:lstStyle/>
          <a:p>
            <a:pPr indent="0" marL="0">
              <a:buNone/>
            </a:pPr>
            <a:r>
              <a:rPr lang="en-US" sz="1700" b="1" dirty="0">
                <a:solidFill>
                  <a:srgbClr val="C98A00"/>
                </a:solidFill>
                <a:latin typeface="Manrope" pitchFamily="34" charset="0"/>
                <a:ea typeface="Manrope" pitchFamily="34" charset="-122"/>
                <a:cs typeface="Manrope" pitchFamily="34" charset="-120"/>
              </a:rPr>
              <a:t>Sudut pandang. </a:t>
            </a:r>
            <a:r>
              <a:rPr lang="en-US" sz="1700" dirty="0">
                <a:solidFill>
                  <a:srgbClr val="1B1B1B"/>
                </a:solidFill>
                <a:latin typeface="Manrope" pitchFamily="34" charset="0"/>
                <a:ea typeface="Manrope" pitchFamily="34" charset="-122"/>
                <a:cs typeface="Manrope" pitchFamily="34" charset="-120"/>
              </a:rPr>
              <a:t>ambidexterity struktural, tata kelola hibrida</a:t>
            </a:r>
            <a:endParaRPr lang="en-US" sz="1700" dirty="0"/>
          </a:p>
        </p:txBody>
      </p:sp>
      <p:sp>
        <p:nvSpPr>
          <p:cNvPr id="21" name="Text 19"/>
          <p:cNvSpPr txBox="1"/>
          <p:nvPr/>
        </p:nvSpPr>
        <p:spPr>
          <a:xfrm>
            <a:off x="548640" y="6217920"/>
            <a:ext cx="10424160" cy="411480"/>
          </a:xfrm>
          <a:prstGeom prst="rect">
            <a:avLst/>
          </a:prstGeom>
          <a:noFill/>
          <a:ln/>
        </p:spPr>
        <p:txBody>
          <a:bodyPr wrap="square" lIns="0" tIns="0" rIns="0" bIns="0" rtlCol="0" anchor="ctr"/>
          <a:lstStyle/>
          <a:p>
            <a:pPr indent="0" marL="0">
              <a:buNone/>
            </a:pPr>
            <a:r>
              <a:rPr lang="en-US" sz="1100" dirty="0">
                <a:solidFill>
                  <a:srgbClr val="E63E2C"/>
                </a:solidFill>
                <a:latin typeface="Manrope" pitchFamily="34" charset="0"/>
                <a:ea typeface="Manrope" pitchFamily="34" charset="-122"/>
                <a:cs typeface="Manrope" pitchFamily="34" charset="-120"/>
              </a:rPr>
              <a:t>■  </a:t>
            </a:r>
            <a:r>
              <a:rPr lang="en-US" sz="1600" b="1" dirty="0">
                <a:solidFill>
                  <a:srgbClr val="1B1B1B"/>
                </a:solidFill>
                <a:latin typeface="Manrope" pitchFamily="34" charset="0"/>
                <a:ea typeface="Manrope" pitchFamily="34" charset="-122"/>
                <a:cs typeface="Manrope" pitchFamily="34" charset="-120"/>
              </a:rPr>
              <a:t>Selanjutnya  </a:t>
            </a:r>
            <a:r>
              <a:rPr lang="en-US" sz="1600" dirty="0">
                <a:solidFill>
                  <a:srgbClr val="4A4A4A"/>
                </a:solidFill>
                <a:latin typeface="Manrope" pitchFamily="34" charset="0"/>
                <a:ea typeface="Manrope" pitchFamily="34" charset="-122"/>
                <a:cs typeface="Manrope" pitchFamily="34" charset="-120"/>
              </a:rPr>
              <a:t>Ketiganya diuji dengan lima kriteria dari isu kunci.</a:t>
            </a:r>
            <a:endParaRPr lang="en-US" sz="1600" dirty="0"/>
          </a:p>
        </p:txBody>
      </p:sp>
      <p:sp>
        <p:nvSpPr>
          <p:cNvPr id="22" name="Text 20"/>
          <p:cNvSpPr txBox="1"/>
          <p:nvPr/>
        </p:nvSpPr>
        <p:spPr>
          <a:xfrm>
            <a:off x="11247120" y="6355080"/>
            <a:ext cx="548640" cy="320040"/>
          </a:xfrm>
          <a:prstGeom prst="rect">
            <a:avLst/>
          </a:prstGeom>
          <a:noFill/>
          <a:ln/>
        </p:spPr>
        <p:txBody>
          <a:bodyPr wrap="square" lIns="0" tIns="0" rIns="0" bIns="0" rtlCol="0" anchor="ctr"/>
          <a:lstStyle/>
          <a:p>
            <a:pPr algn="r" indent="0" marL="0">
              <a:buNone/>
            </a:pPr>
            <a:r>
              <a:rPr lang="en-US" sz="1200" b="1" dirty="0">
                <a:solidFill>
                  <a:srgbClr val="1B1B1B"/>
                </a:solidFill>
                <a:latin typeface="Manrope" pitchFamily="34" charset="0"/>
                <a:ea typeface="Manrope" pitchFamily="34" charset="-122"/>
                <a:cs typeface="Manrope"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3E2CF"/>
        </a:solidFill>
      </p:bgPr>
    </p:bg>
    <p:spTree>
      <p:nvGrpSpPr>
        <p:cNvPr id="1" name=""/>
        <p:cNvGrpSpPr/>
        <p:nvPr/>
      </p:nvGrpSpPr>
      <p:grpSpPr>
        <a:xfrm>
          <a:off x="0" y="0"/>
          <a:ext cx="0" cy="0"/>
          <a:chOff x="0" y="0"/>
          <a:chExt cx="0" cy="0"/>
        </a:xfrm>
      </p:grpSpPr>
      <p:sp>
        <p:nvSpPr>
          <p:cNvPr id="2" name="Text 0"/>
          <p:cNvSpPr txBox="1"/>
          <p:nvPr/>
        </p:nvSpPr>
        <p:spPr>
          <a:xfrm>
            <a:off x="548640" y="457200"/>
            <a:ext cx="10515600" cy="914400"/>
          </a:xfrm>
          <a:prstGeom prst="rect">
            <a:avLst/>
          </a:prstGeom>
          <a:noFill/>
          <a:ln/>
        </p:spPr>
        <p:txBody>
          <a:bodyPr wrap="square" lIns="0" tIns="0" rIns="0" bIns="0" rtlCol="0" anchor="ctr"/>
          <a:lstStyle/>
          <a:p>
            <a:pPr indent="0" marL="0">
              <a:buNone/>
            </a:pPr>
            <a:r>
              <a:rPr lang="en-US" sz="5800" dirty="0">
                <a:solidFill>
                  <a:srgbClr val="1B1B1B"/>
                </a:solidFill>
                <a:latin typeface="Bebas Neue" pitchFamily="34" charset="0"/>
                <a:ea typeface="Bebas Neue" pitchFamily="34" charset="-122"/>
                <a:cs typeface="Bebas Neue" pitchFamily="34" charset="-120"/>
              </a:rPr>
              <a:t>SCORECARD</a:t>
            </a:r>
            <a:endParaRPr lang="en-US" sz="5800" dirty="0"/>
          </a:p>
        </p:txBody>
      </p:sp>
      <p:sp>
        <p:nvSpPr>
          <p:cNvPr id="3" name="Shape 1"/>
          <p:cNvSpPr/>
          <p:nvPr/>
        </p:nvSpPr>
        <p:spPr>
          <a:xfrm>
            <a:off x="8778240" y="502920"/>
            <a:ext cx="822960" cy="822960"/>
          </a:xfrm>
          <a:prstGeom prst="ellipse">
            <a:avLst/>
          </a:prstGeom>
          <a:solidFill>
            <a:srgbClr val="2C7BB8"/>
          </a:solidFill>
          <a:ln w="12700">
            <a:solidFill>
              <a:srgbClr val="2C7BB8"/>
            </a:solidFill>
            <a:prstDash val="solid"/>
          </a:ln>
        </p:spPr>
      </p:sp>
      <p:sp>
        <p:nvSpPr>
          <p:cNvPr id="4" name="Shape 2"/>
          <p:cNvSpPr/>
          <p:nvPr/>
        </p:nvSpPr>
        <p:spPr>
          <a:xfrm>
            <a:off x="9784080" y="502920"/>
            <a:ext cx="822960" cy="822960"/>
          </a:xfrm>
          <a:prstGeom prst="ellipse">
            <a:avLst/>
          </a:prstGeom>
          <a:solidFill>
            <a:srgbClr val="F4C430"/>
          </a:solidFill>
          <a:ln w="12700">
            <a:solidFill>
              <a:srgbClr val="F4C430"/>
            </a:solidFill>
            <a:prstDash val="solid"/>
          </a:ln>
        </p:spPr>
      </p:sp>
      <p:sp>
        <p:nvSpPr>
          <p:cNvPr id="5" name="Shape 3"/>
          <p:cNvSpPr/>
          <p:nvPr/>
        </p:nvSpPr>
        <p:spPr>
          <a:xfrm>
            <a:off x="10789920" y="502920"/>
            <a:ext cx="822960" cy="822960"/>
          </a:xfrm>
          <a:prstGeom prst="ellipse">
            <a:avLst/>
          </a:prstGeom>
          <a:solidFill>
            <a:srgbClr val="E63E2C"/>
          </a:solidFill>
          <a:ln w="12700">
            <a:solidFill>
              <a:srgbClr val="E63E2C"/>
            </a:solidFill>
            <a:prstDash val="solid"/>
          </a:ln>
        </p:spPr>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4572000"/>
                <a:gridCol w="2194560"/>
                <a:gridCol w="2103120"/>
                <a:gridCol w="2194560"/>
              </a:tblGrid>
              <a:tr h="548640">
                <a:tc>
                  <a:txBody>
                    <a:bodyPr/>
                    <a:lstStyle/>
                    <a:p>
                      <a:pPr algn="l" indent="0" marL="0">
                        <a:buNone/>
                      </a:pPr>
                      <a:r>
                        <a:rPr lang="en-US" sz="2000" b="1" dirty="0">
                          <a:solidFill>
                            <a:srgbClr val="FFFFFF"/>
                          </a:solidFill>
                          <a:latin typeface="Manrope" pitchFamily="34" charset="0"/>
                          <a:ea typeface="Manrope" pitchFamily="34" charset="-122"/>
                          <a:cs typeface="Manrope" pitchFamily="34" charset="-120"/>
                        </a:rPr>
                        <a:t>Kriteria</a:t>
                      </a:r>
                      <a:endParaRPr lang="en-US" sz="2000" dirty="0">
                        <a:latin typeface="Manrope" charset="0"/>
                        <a:ea typeface="Manrope" charset="0"/>
                        <a:cs typeface="Manrope" charset="0"/>
                      </a:endParaRPr>
                    </a:p>
                  </a:txBody>
                  <a:tcPr marL="137160" marR="137160" marT="36576" marB="36576" anchor="ctr">
                    <a:lnL w="25400" cap="flat" cmpd="sng" algn="ctr">
                      <a:solidFill>
                        <a:srgbClr val="F3E2CF"/>
                      </a:solidFill>
                      <a:prstDash val="solid"/>
                      <a:round/>
                      <a:headEnd type="none" w="med" len="med"/>
                      <a:tailEnd type="none" w="med" len="med"/>
                    </a:lnL>
                    <a:lnR w="25400" cap="flat" cmpd="sng" algn="ctr">
                      <a:solidFill>
                        <a:srgbClr val="F3E2CF"/>
                      </a:solidFill>
                      <a:prstDash val="solid"/>
                      <a:round/>
                      <a:headEnd type="none" w="med" len="med"/>
                      <a:tailEnd type="none" w="med" len="med"/>
                    </a:lnR>
                    <a:lnT w="25400" cap="flat" cmpd="sng" algn="ctr">
                      <a:solidFill>
                        <a:srgbClr val="F3E2CF"/>
                      </a:solidFill>
                      <a:prstDash val="solid"/>
                      <a:round/>
                      <a:headEnd type="none" w="med" len="med"/>
                      <a:tailEnd type="none" w="med" len="med"/>
                    </a:lnT>
                    <a:lnB w="25400" cap="flat" cmpd="sng" algn="ctr">
                      <a:solidFill>
                        <a:srgbClr val="F3E2CF"/>
                      </a:solidFill>
                      <a:prstDash val="solid"/>
                      <a:round/>
                      <a:headEnd type="none" w="med" len="med"/>
                      <a:tailEnd type="none" w="med" len="med"/>
                    </a:lnB>
                    <a:solidFill>
                      <a:srgbClr val="1B1B1B"/>
                    </a:solidFill>
                  </a:tcPr>
                </a:tc>
                <a:tc>
                  <a:txBody>
                    <a:bodyPr/>
                    <a:lstStyle/>
                    <a:p>
                      <a:pPr algn="ctr" indent="0" marL="0">
                        <a:buNone/>
                      </a:pPr>
                      <a:r>
                        <a:rPr lang="en-US" sz="2000" b="1" dirty="0">
                          <a:solidFill>
                            <a:srgbClr val="FFFFFF"/>
                          </a:solidFill>
                          <a:latin typeface="Manrope" pitchFamily="34" charset="0"/>
                          <a:ea typeface="Manrope" pitchFamily="34" charset="-122"/>
                          <a:cs typeface="Manrope" pitchFamily="34" charset="-120"/>
                        </a:rPr>
                        <a:t>A. Regional</a:t>
                      </a:r>
                      <a:endParaRPr lang="en-US" sz="2000" dirty="0">
                        <a:latin typeface="Manrope" charset="0"/>
                        <a:ea typeface="Manrope" charset="0"/>
                        <a:cs typeface="Manrope" charset="0"/>
                      </a:endParaRPr>
                    </a:p>
                  </a:txBody>
                  <a:tcPr marL="137160" marR="137160" marT="36576" marB="36576" anchor="ctr">
                    <a:lnL w="25400" cap="flat" cmpd="sng" algn="ctr">
                      <a:solidFill>
                        <a:srgbClr val="F3E2CF"/>
                      </a:solidFill>
                      <a:prstDash val="solid"/>
                      <a:round/>
                      <a:headEnd type="none" w="med" len="med"/>
                      <a:tailEnd type="none" w="med" len="med"/>
                    </a:lnL>
                    <a:lnR w="25400" cap="flat" cmpd="sng" algn="ctr">
                      <a:solidFill>
                        <a:srgbClr val="F3E2CF"/>
                      </a:solidFill>
                      <a:prstDash val="solid"/>
                      <a:round/>
                      <a:headEnd type="none" w="med" len="med"/>
                      <a:tailEnd type="none" w="med" len="med"/>
                    </a:lnR>
                    <a:lnT w="25400" cap="flat" cmpd="sng" algn="ctr">
                      <a:solidFill>
                        <a:srgbClr val="F3E2CF"/>
                      </a:solidFill>
                      <a:prstDash val="solid"/>
                      <a:round/>
                      <a:headEnd type="none" w="med" len="med"/>
                      <a:tailEnd type="none" w="med" len="med"/>
                    </a:lnT>
                    <a:lnB w="25400" cap="flat" cmpd="sng" algn="ctr">
                      <a:solidFill>
                        <a:srgbClr val="F3E2CF"/>
                      </a:solidFill>
                      <a:prstDash val="solid"/>
                      <a:round/>
                      <a:headEnd type="none" w="med" len="med"/>
                      <a:tailEnd type="none" w="med" len="med"/>
                    </a:lnB>
                    <a:solidFill>
                      <a:srgbClr val="1B1B1B"/>
                    </a:solidFill>
                  </a:tcPr>
                </a:tc>
                <a:tc>
                  <a:txBody>
                    <a:bodyPr/>
                    <a:lstStyle/>
                    <a:p>
                      <a:pPr algn="ctr" indent="0" marL="0">
                        <a:buNone/>
                      </a:pPr>
                      <a:r>
                        <a:rPr lang="en-US" sz="2000" b="1" dirty="0">
                          <a:solidFill>
                            <a:srgbClr val="FFFFFF"/>
                          </a:solidFill>
                          <a:latin typeface="Manrope" pitchFamily="34" charset="0"/>
                          <a:ea typeface="Manrope" pitchFamily="34" charset="-122"/>
                          <a:cs typeface="Manrope" pitchFamily="34" charset="-120"/>
                        </a:rPr>
                        <a:t>B. Penuh</a:t>
                      </a:r>
                      <a:endParaRPr lang="en-US" sz="2000" dirty="0">
                        <a:latin typeface="Manrope" charset="0"/>
                        <a:ea typeface="Manrope" charset="0"/>
                        <a:cs typeface="Manrope" charset="0"/>
                      </a:endParaRPr>
                    </a:p>
                  </a:txBody>
                  <a:tcPr marL="137160" marR="137160" marT="36576" marB="36576" anchor="ctr">
                    <a:lnL w="25400" cap="flat" cmpd="sng" algn="ctr">
                      <a:solidFill>
                        <a:srgbClr val="F3E2CF"/>
                      </a:solidFill>
                      <a:prstDash val="solid"/>
                      <a:round/>
                      <a:headEnd type="none" w="med" len="med"/>
                      <a:tailEnd type="none" w="med" len="med"/>
                    </a:lnL>
                    <a:lnR w="25400" cap="flat" cmpd="sng" algn="ctr">
                      <a:solidFill>
                        <a:srgbClr val="F3E2CF"/>
                      </a:solidFill>
                      <a:prstDash val="solid"/>
                      <a:round/>
                      <a:headEnd type="none" w="med" len="med"/>
                      <a:tailEnd type="none" w="med" len="med"/>
                    </a:lnR>
                    <a:lnT w="25400" cap="flat" cmpd="sng" algn="ctr">
                      <a:solidFill>
                        <a:srgbClr val="F3E2CF"/>
                      </a:solidFill>
                      <a:prstDash val="solid"/>
                      <a:round/>
                      <a:headEnd type="none" w="med" len="med"/>
                      <a:tailEnd type="none" w="med" len="med"/>
                    </a:lnT>
                    <a:lnB w="25400" cap="flat" cmpd="sng" algn="ctr">
                      <a:solidFill>
                        <a:srgbClr val="F3E2CF"/>
                      </a:solidFill>
                      <a:prstDash val="solid"/>
                      <a:round/>
                      <a:headEnd type="none" w="med" len="med"/>
                      <a:tailEnd type="none" w="med" len="med"/>
                    </a:lnB>
                    <a:solidFill>
                      <a:srgbClr val="1B1B1B"/>
                    </a:solidFill>
                  </a:tcPr>
                </a:tc>
                <a:tc>
                  <a:txBody>
                    <a:bodyPr/>
                    <a:lstStyle/>
                    <a:p>
                      <a:pPr algn="ctr" indent="0" marL="0">
                        <a:buNone/>
                      </a:pPr>
                      <a:r>
                        <a:rPr lang="en-US" sz="2000" b="1" dirty="0">
                          <a:solidFill>
                            <a:srgbClr val="FFFFFF"/>
                          </a:solidFill>
                          <a:latin typeface="Manrope" pitchFamily="34" charset="0"/>
                          <a:ea typeface="Manrope" pitchFamily="34" charset="-122"/>
                          <a:cs typeface="Manrope" pitchFamily="34" charset="-120"/>
                        </a:rPr>
                        <a:t>C. Bertahap</a:t>
                      </a:r>
                      <a:endParaRPr lang="en-US" sz="2000" dirty="0">
                        <a:latin typeface="Manrope" charset="0"/>
                        <a:ea typeface="Manrope" charset="0"/>
                        <a:cs typeface="Manrope" charset="0"/>
                      </a:endParaRPr>
                    </a:p>
                  </a:txBody>
                  <a:tcPr marL="137160" marR="137160" marT="36576" marB="36576" anchor="ctr">
                    <a:lnL w="25400" cap="flat" cmpd="sng" algn="ctr">
                      <a:solidFill>
                        <a:srgbClr val="F3E2CF"/>
                      </a:solidFill>
                      <a:prstDash val="solid"/>
                      <a:round/>
                      <a:headEnd type="none" w="med" len="med"/>
                      <a:tailEnd type="none" w="med" len="med"/>
                    </a:lnL>
                    <a:lnR w="25400" cap="flat" cmpd="sng" algn="ctr">
                      <a:solidFill>
                        <a:srgbClr val="F3E2CF"/>
                      </a:solidFill>
                      <a:prstDash val="solid"/>
                      <a:round/>
                      <a:headEnd type="none" w="med" len="med"/>
                      <a:tailEnd type="none" w="med" len="med"/>
                    </a:lnR>
                    <a:lnT w="25400" cap="flat" cmpd="sng" algn="ctr">
                      <a:solidFill>
                        <a:srgbClr val="F3E2CF"/>
                      </a:solidFill>
                      <a:prstDash val="solid"/>
                      <a:round/>
                      <a:headEnd type="none" w="med" len="med"/>
                      <a:tailEnd type="none" w="med" len="med"/>
                    </a:lnT>
                    <a:lnB w="25400" cap="flat" cmpd="sng" algn="ctr">
                      <a:solidFill>
                        <a:srgbClr val="F3E2CF"/>
                      </a:solidFill>
                      <a:prstDash val="solid"/>
                      <a:round/>
                      <a:headEnd type="none" w="med" len="med"/>
                      <a:tailEnd type="none" w="med" len="med"/>
                    </a:lnB>
                    <a:solidFill>
                      <a:srgbClr val="2C7BB8"/>
                    </a:solidFill>
                  </a:tcPr>
                </a:tc>
              </a:tr>
              <a:tr h="548640">
                <a:tc>
                  <a:txBody>
                    <a:bodyPr/>
                    <a:lstStyle/>
                    <a:p>
                      <a:pPr indent="0" marL="0">
                        <a:buNone/>
                      </a:pPr>
                      <a:r>
                        <a:rPr lang="en-US" sz="2000" b="1" dirty="0">
                          <a:solidFill>
                            <a:srgbClr val="1B1B1B"/>
                          </a:solidFill>
                          <a:latin typeface="Manrope" pitchFamily="34" charset="0"/>
                          <a:ea typeface="Manrope" pitchFamily="34" charset="-122"/>
                          <a:cs typeface="Manrope" pitchFamily="34" charset="-120"/>
                        </a:rPr>
                        <a:t>Peluang pasar jarak jauh</a:t>
                      </a:r>
                      <a:endParaRPr lang="en-US" sz="2000" dirty="0">
                        <a:latin typeface="Manrope" charset="0"/>
                        <a:ea typeface="Manrope" charset="0"/>
                        <a:cs typeface="Manrope" charset="0"/>
                      </a:endParaRPr>
                    </a:p>
                  </a:txBody>
                  <a:tcPr marL="137160" marR="137160" marT="36576" marB="36576" anchor="ctr">
                    <a:lnL w="25400" cap="flat" cmpd="sng" algn="ctr">
                      <a:solidFill>
                        <a:srgbClr val="F3E2CF"/>
                      </a:solidFill>
                      <a:prstDash val="solid"/>
                      <a:round/>
                      <a:headEnd type="none" w="med" len="med"/>
                      <a:tailEnd type="none" w="med" len="med"/>
                    </a:lnL>
                    <a:lnR w="25400" cap="flat" cmpd="sng" algn="ctr">
                      <a:solidFill>
                        <a:srgbClr val="F3E2CF"/>
                      </a:solidFill>
                      <a:prstDash val="solid"/>
                      <a:round/>
                      <a:headEnd type="none" w="med" len="med"/>
                      <a:tailEnd type="none" w="med" len="med"/>
                    </a:lnR>
                    <a:lnT w="25400" cap="flat" cmpd="sng" algn="ctr">
                      <a:solidFill>
                        <a:srgbClr val="F3E2CF"/>
                      </a:solidFill>
                      <a:prstDash val="solid"/>
                      <a:round/>
                      <a:headEnd type="none" w="med" len="med"/>
                      <a:tailEnd type="none" w="med" len="med"/>
                    </a:lnT>
                    <a:lnB w="25400" cap="flat" cmpd="sng" algn="ctr">
                      <a:solidFill>
                        <a:srgbClr val="F3E2CF"/>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E63E2C"/>
                          </a:solidFill>
                          <a:latin typeface="Manrope" pitchFamily="34" charset="0"/>
                          <a:ea typeface="Manrope" pitchFamily="34" charset="-122"/>
                          <a:cs typeface="Manrope" pitchFamily="34" charset="-120"/>
                        </a:rPr>
                        <a:t>Lemah</a:t>
                      </a:r>
                      <a:endParaRPr lang="en-US" sz="2000" dirty="0">
                        <a:latin typeface="Manrope" charset="0"/>
                        <a:ea typeface="Manrope" charset="0"/>
                        <a:cs typeface="Manrope" charset="0"/>
                      </a:endParaRPr>
                    </a:p>
                  </a:txBody>
                  <a:tcPr marL="137160" marR="137160" marT="36576" marB="36576" anchor="ctr">
                    <a:lnL w="25400" cap="flat" cmpd="sng" algn="ctr">
                      <a:solidFill>
                        <a:srgbClr val="F3E2CF"/>
                      </a:solidFill>
                      <a:prstDash val="solid"/>
                      <a:round/>
                      <a:headEnd type="none" w="med" len="med"/>
                      <a:tailEnd type="none" w="med" len="med"/>
                    </a:lnL>
                    <a:lnR w="25400" cap="flat" cmpd="sng" algn="ctr">
                      <a:solidFill>
                        <a:srgbClr val="F3E2CF"/>
                      </a:solidFill>
                      <a:prstDash val="solid"/>
                      <a:round/>
                      <a:headEnd type="none" w="med" len="med"/>
                      <a:tailEnd type="none" w="med" len="med"/>
                    </a:lnR>
                    <a:lnT w="25400" cap="flat" cmpd="sng" algn="ctr">
                      <a:solidFill>
                        <a:srgbClr val="F3E2CF"/>
                      </a:solidFill>
                      <a:prstDash val="solid"/>
                      <a:round/>
                      <a:headEnd type="none" w="med" len="med"/>
                      <a:tailEnd type="none" w="med" len="med"/>
                    </a:lnT>
                    <a:lnB w="25400" cap="flat" cmpd="sng" algn="ctr">
                      <a:solidFill>
                        <a:srgbClr val="F3E2CF"/>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2C7BB8"/>
                          </a:solidFill>
                          <a:latin typeface="Manrope" pitchFamily="34" charset="0"/>
                          <a:ea typeface="Manrope" pitchFamily="34" charset="-122"/>
                          <a:cs typeface="Manrope" pitchFamily="34" charset="-120"/>
                        </a:rPr>
                        <a:t>Kuat</a:t>
                      </a:r>
                      <a:endParaRPr lang="en-US" sz="2000" dirty="0">
                        <a:latin typeface="Manrope" charset="0"/>
                        <a:ea typeface="Manrope" charset="0"/>
                        <a:cs typeface="Manrope" charset="0"/>
                      </a:endParaRPr>
                    </a:p>
                  </a:txBody>
                  <a:tcPr marL="137160" marR="137160" marT="36576" marB="36576" anchor="ctr">
                    <a:lnL w="25400" cap="flat" cmpd="sng" algn="ctr">
                      <a:solidFill>
                        <a:srgbClr val="F3E2CF"/>
                      </a:solidFill>
                      <a:prstDash val="solid"/>
                      <a:round/>
                      <a:headEnd type="none" w="med" len="med"/>
                      <a:tailEnd type="none" w="med" len="med"/>
                    </a:lnL>
                    <a:lnR w="25400" cap="flat" cmpd="sng" algn="ctr">
                      <a:solidFill>
                        <a:srgbClr val="F3E2CF"/>
                      </a:solidFill>
                      <a:prstDash val="solid"/>
                      <a:round/>
                      <a:headEnd type="none" w="med" len="med"/>
                      <a:tailEnd type="none" w="med" len="med"/>
                    </a:lnR>
                    <a:lnT w="25400" cap="flat" cmpd="sng" algn="ctr">
                      <a:solidFill>
                        <a:srgbClr val="F3E2CF"/>
                      </a:solidFill>
                      <a:prstDash val="solid"/>
                      <a:round/>
                      <a:headEnd type="none" w="med" len="med"/>
                      <a:tailEnd type="none" w="med" len="med"/>
                    </a:lnT>
                    <a:lnB w="25400" cap="flat" cmpd="sng" algn="ctr">
                      <a:solidFill>
                        <a:srgbClr val="F3E2CF"/>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C98A00"/>
                          </a:solidFill>
                          <a:latin typeface="Manrope" pitchFamily="34" charset="0"/>
                          <a:ea typeface="Manrope" pitchFamily="34" charset="-122"/>
                          <a:cs typeface="Manrope" pitchFamily="34" charset="-120"/>
                        </a:rPr>
                        <a:t>Cukup</a:t>
                      </a:r>
                      <a:endParaRPr lang="en-US" sz="2000" dirty="0">
                        <a:latin typeface="Manrope" charset="0"/>
                        <a:ea typeface="Manrope" charset="0"/>
                        <a:cs typeface="Manrope" charset="0"/>
                      </a:endParaRPr>
                    </a:p>
                  </a:txBody>
                  <a:tcPr marL="137160" marR="137160" marT="36576" marB="36576" anchor="ctr">
                    <a:lnL w="25400" cap="flat" cmpd="sng" algn="ctr">
                      <a:solidFill>
                        <a:srgbClr val="F3E2CF"/>
                      </a:solidFill>
                      <a:prstDash val="solid"/>
                      <a:round/>
                      <a:headEnd type="none" w="med" len="med"/>
                      <a:tailEnd type="none" w="med" len="med"/>
                    </a:lnL>
                    <a:lnR w="25400" cap="flat" cmpd="sng" algn="ctr">
                      <a:solidFill>
                        <a:srgbClr val="F3E2CF"/>
                      </a:solidFill>
                      <a:prstDash val="solid"/>
                      <a:round/>
                      <a:headEnd type="none" w="med" len="med"/>
                      <a:tailEnd type="none" w="med" len="med"/>
                    </a:lnR>
                    <a:lnT w="25400" cap="flat" cmpd="sng" algn="ctr">
                      <a:solidFill>
                        <a:srgbClr val="F3E2CF"/>
                      </a:solidFill>
                      <a:prstDash val="solid"/>
                      <a:round/>
                      <a:headEnd type="none" w="med" len="med"/>
                      <a:tailEnd type="none" w="med" len="med"/>
                    </a:lnT>
                    <a:lnB w="25400" cap="flat" cmpd="sng" algn="ctr">
                      <a:solidFill>
                        <a:srgbClr val="F3E2CF"/>
                      </a:solidFill>
                      <a:prstDash val="solid"/>
                      <a:round/>
                      <a:headEnd type="none" w="med" len="med"/>
                      <a:tailEnd type="none" w="med" len="med"/>
                    </a:lnB>
                    <a:solidFill>
                      <a:srgbClr val="E4EEF7"/>
                    </a:solidFill>
                  </a:tcPr>
                </a:tc>
              </a:tr>
              <a:tr h="548640">
                <a:tc>
                  <a:txBody>
                    <a:bodyPr/>
                    <a:lstStyle/>
                    <a:p>
                      <a:pPr indent="0" marL="0">
                        <a:buNone/>
                      </a:pPr>
                      <a:r>
                        <a:rPr lang="en-US" sz="2000" b="1" dirty="0">
                          <a:solidFill>
                            <a:srgbClr val="1B1B1B"/>
                          </a:solidFill>
                          <a:latin typeface="Manrope" pitchFamily="34" charset="0"/>
                          <a:ea typeface="Manrope" pitchFamily="34" charset="-122"/>
                          <a:cs typeface="Manrope" pitchFamily="34" charset="-120"/>
                        </a:rPr>
                        <a:t>Daya tahan vs network carriers</a:t>
                      </a:r>
                      <a:endParaRPr lang="en-US" sz="2000" dirty="0">
                        <a:latin typeface="Manrope" charset="0"/>
                        <a:ea typeface="Manrope" charset="0"/>
                        <a:cs typeface="Manrope" charset="0"/>
                      </a:endParaRPr>
                    </a:p>
                  </a:txBody>
                  <a:tcPr marL="137160" marR="137160" marT="36576" marB="36576" anchor="ctr">
                    <a:lnL w="25400" cap="flat" cmpd="sng" algn="ctr">
                      <a:solidFill>
                        <a:srgbClr val="F3E2CF"/>
                      </a:solidFill>
                      <a:prstDash val="solid"/>
                      <a:round/>
                      <a:headEnd type="none" w="med" len="med"/>
                      <a:tailEnd type="none" w="med" len="med"/>
                    </a:lnL>
                    <a:lnR w="25400" cap="flat" cmpd="sng" algn="ctr">
                      <a:solidFill>
                        <a:srgbClr val="F3E2CF"/>
                      </a:solidFill>
                      <a:prstDash val="solid"/>
                      <a:round/>
                      <a:headEnd type="none" w="med" len="med"/>
                      <a:tailEnd type="none" w="med" len="med"/>
                    </a:lnR>
                    <a:lnT w="25400" cap="flat" cmpd="sng" algn="ctr">
                      <a:solidFill>
                        <a:srgbClr val="F3E2CF"/>
                      </a:solidFill>
                      <a:prstDash val="solid"/>
                      <a:round/>
                      <a:headEnd type="none" w="med" len="med"/>
                      <a:tailEnd type="none" w="med" len="med"/>
                    </a:lnT>
                    <a:lnB w="25400" cap="flat" cmpd="sng" algn="ctr">
                      <a:solidFill>
                        <a:srgbClr val="F3E2CF"/>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2C7BB8"/>
                          </a:solidFill>
                          <a:latin typeface="Manrope" pitchFamily="34" charset="0"/>
                          <a:ea typeface="Manrope" pitchFamily="34" charset="-122"/>
                          <a:cs typeface="Manrope" pitchFamily="34" charset="-120"/>
                        </a:rPr>
                        <a:t>Kuat</a:t>
                      </a:r>
                      <a:endParaRPr lang="en-US" sz="2000" dirty="0">
                        <a:latin typeface="Manrope" charset="0"/>
                        <a:ea typeface="Manrope" charset="0"/>
                        <a:cs typeface="Manrope" charset="0"/>
                      </a:endParaRPr>
                    </a:p>
                  </a:txBody>
                  <a:tcPr marL="137160" marR="137160" marT="36576" marB="36576" anchor="ctr">
                    <a:lnL w="25400" cap="flat" cmpd="sng" algn="ctr">
                      <a:solidFill>
                        <a:srgbClr val="F3E2CF"/>
                      </a:solidFill>
                      <a:prstDash val="solid"/>
                      <a:round/>
                      <a:headEnd type="none" w="med" len="med"/>
                      <a:tailEnd type="none" w="med" len="med"/>
                    </a:lnL>
                    <a:lnR w="25400" cap="flat" cmpd="sng" algn="ctr">
                      <a:solidFill>
                        <a:srgbClr val="F3E2CF"/>
                      </a:solidFill>
                      <a:prstDash val="solid"/>
                      <a:round/>
                      <a:headEnd type="none" w="med" len="med"/>
                      <a:tailEnd type="none" w="med" len="med"/>
                    </a:lnR>
                    <a:lnT w="25400" cap="flat" cmpd="sng" algn="ctr">
                      <a:solidFill>
                        <a:srgbClr val="F3E2CF"/>
                      </a:solidFill>
                      <a:prstDash val="solid"/>
                      <a:round/>
                      <a:headEnd type="none" w="med" len="med"/>
                      <a:tailEnd type="none" w="med" len="med"/>
                    </a:lnT>
                    <a:lnB w="25400" cap="flat" cmpd="sng" algn="ctr">
                      <a:solidFill>
                        <a:srgbClr val="F3E2CF"/>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E63E2C"/>
                          </a:solidFill>
                          <a:latin typeface="Manrope" pitchFamily="34" charset="0"/>
                          <a:ea typeface="Manrope" pitchFamily="34" charset="-122"/>
                          <a:cs typeface="Manrope" pitchFamily="34" charset="-120"/>
                        </a:rPr>
                        <a:t>Lemah</a:t>
                      </a:r>
                      <a:endParaRPr lang="en-US" sz="2000" dirty="0">
                        <a:latin typeface="Manrope" charset="0"/>
                        <a:ea typeface="Manrope" charset="0"/>
                        <a:cs typeface="Manrope" charset="0"/>
                      </a:endParaRPr>
                    </a:p>
                  </a:txBody>
                  <a:tcPr marL="137160" marR="137160" marT="36576" marB="36576" anchor="ctr">
                    <a:lnL w="25400" cap="flat" cmpd="sng" algn="ctr">
                      <a:solidFill>
                        <a:srgbClr val="F3E2CF"/>
                      </a:solidFill>
                      <a:prstDash val="solid"/>
                      <a:round/>
                      <a:headEnd type="none" w="med" len="med"/>
                      <a:tailEnd type="none" w="med" len="med"/>
                    </a:lnL>
                    <a:lnR w="25400" cap="flat" cmpd="sng" algn="ctr">
                      <a:solidFill>
                        <a:srgbClr val="F3E2CF"/>
                      </a:solidFill>
                      <a:prstDash val="solid"/>
                      <a:round/>
                      <a:headEnd type="none" w="med" len="med"/>
                      <a:tailEnd type="none" w="med" len="med"/>
                    </a:lnR>
                    <a:lnT w="25400" cap="flat" cmpd="sng" algn="ctr">
                      <a:solidFill>
                        <a:srgbClr val="F3E2CF"/>
                      </a:solidFill>
                      <a:prstDash val="solid"/>
                      <a:round/>
                      <a:headEnd type="none" w="med" len="med"/>
                      <a:tailEnd type="none" w="med" len="med"/>
                    </a:lnT>
                    <a:lnB w="25400" cap="flat" cmpd="sng" algn="ctr">
                      <a:solidFill>
                        <a:srgbClr val="F3E2CF"/>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C98A00"/>
                          </a:solidFill>
                          <a:latin typeface="Manrope" pitchFamily="34" charset="0"/>
                          <a:ea typeface="Manrope" pitchFamily="34" charset="-122"/>
                          <a:cs typeface="Manrope" pitchFamily="34" charset="-120"/>
                        </a:rPr>
                        <a:t>Cukup</a:t>
                      </a:r>
                      <a:endParaRPr lang="en-US" sz="2000" dirty="0">
                        <a:latin typeface="Manrope" charset="0"/>
                        <a:ea typeface="Manrope" charset="0"/>
                        <a:cs typeface="Manrope" charset="0"/>
                      </a:endParaRPr>
                    </a:p>
                  </a:txBody>
                  <a:tcPr marL="137160" marR="137160" marT="36576" marB="36576" anchor="ctr">
                    <a:lnL w="25400" cap="flat" cmpd="sng" algn="ctr">
                      <a:solidFill>
                        <a:srgbClr val="F3E2CF"/>
                      </a:solidFill>
                      <a:prstDash val="solid"/>
                      <a:round/>
                      <a:headEnd type="none" w="med" len="med"/>
                      <a:tailEnd type="none" w="med" len="med"/>
                    </a:lnL>
                    <a:lnR w="25400" cap="flat" cmpd="sng" algn="ctr">
                      <a:solidFill>
                        <a:srgbClr val="F3E2CF"/>
                      </a:solidFill>
                      <a:prstDash val="solid"/>
                      <a:round/>
                      <a:headEnd type="none" w="med" len="med"/>
                      <a:tailEnd type="none" w="med" len="med"/>
                    </a:lnR>
                    <a:lnT w="25400" cap="flat" cmpd="sng" algn="ctr">
                      <a:solidFill>
                        <a:srgbClr val="F3E2CF"/>
                      </a:solidFill>
                      <a:prstDash val="solid"/>
                      <a:round/>
                      <a:headEnd type="none" w="med" len="med"/>
                      <a:tailEnd type="none" w="med" len="med"/>
                    </a:lnT>
                    <a:lnB w="25400" cap="flat" cmpd="sng" algn="ctr">
                      <a:solidFill>
                        <a:srgbClr val="F3E2CF"/>
                      </a:solidFill>
                      <a:prstDash val="solid"/>
                      <a:round/>
                      <a:headEnd type="none" w="med" len="med"/>
                      <a:tailEnd type="none" w="med" len="med"/>
                    </a:lnB>
                    <a:solidFill>
                      <a:srgbClr val="E4EEF7"/>
                    </a:solidFill>
                  </a:tcPr>
                </a:tc>
              </a:tr>
              <a:tr h="548640">
                <a:tc>
                  <a:txBody>
                    <a:bodyPr/>
                    <a:lstStyle/>
                    <a:p>
                      <a:pPr indent="0" marL="0">
                        <a:buNone/>
                      </a:pPr>
                      <a:r>
                        <a:rPr lang="en-US" sz="2000" b="1" dirty="0">
                          <a:solidFill>
                            <a:srgbClr val="1B1B1B"/>
                          </a:solidFill>
                          <a:latin typeface="Manrope" pitchFamily="34" charset="0"/>
                          <a:ea typeface="Manrope" pitchFamily="34" charset="-122"/>
                          <a:cs typeface="Manrope" pitchFamily="34" charset="-120"/>
                        </a:rPr>
                        <a:t>Keamanan finansial</a:t>
                      </a:r>
                      <a:endParaRPr lang="en-US" sz="2000" dirty="0">
                        <a:latin typeface="Manrope" charset="0"/>
                        <a:ea typeface="Manrope" charset="0"/>
                        <a:cs typeface="Manrope" charset="0"/>
                      </a:endParaRPr>
                    </a:p>
                  </a:txBody>
                  <a:tcPr marL="137160" marR="137160" marT="36576" marB="36576" anchor="ctr">
                    <a:lnL w="25400" cap="flat" cmpd="sng" algn="ctr">
                      <a:solidFill>
                        <a:srgbClr val="F3E2CF"/>
                      </a:solidFill>
                      <a:prstDash val="solid"/>
                      <a:round/>
                      <a:headEnd type="none" w="med" len="med"/>
                      <a:tailEnd type="none" w="med" len="med"/>
                    </a:lnL>
                    <a:lnR w="25400" cap="flat" cmpd="sng" algn="ctr">
                      <a:solidFill>
                        <a:srgbClr val="F3E2CF"/>
                      </a:solidFill>
                      <a:prstDash val="solid"/>
                      <a:round/>
                      <a:headEnd type="none" w="med" len="med"/>
                      <a:tailEnd type="none" w="med" len="med"/>
                    </a:lnR>
                    <a:lnT w="25400" cap="flat" cmpd="sng" algn="ctr">
                      <a:solidFill>
                        <a:srgbClr val="F3E2CF"/>
                      </a:solidFill>
                      <a:prstDash val="solid"/>
                      <a:round/>
                      <a:headEnd type="none" w="med" len="med"/>
                      <a:tailEnd type="none" w="med" len="med"/>
                    </a:lnT>
                    <a:lnB w="25400" cap="flat" cmpd="sng" algn="ctr">
                      <a:solidFill>
                        <a:srgbClr val="F3E2CF"/>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2C7BB8"/>
                          </a:solidFill>
                          <a:latin typeface="Manrope" pitchFamily="34" charset="0"/>
                          <a:ea typeface="Manrope" pitchFamily="34" charset="-122"/>
                          <a:cs typeface="Manrope" pitchFamily="34" charset="-120"/>
                        </a:rPr>
                        <a:t>Kuat</a:t>
                      </a:r>
                      <a:endParaRPr lang="en-US" sz="2000" dirty="0">
                        <a:latin typeface="Manrope" charset="0"/>
                        <a:ea typeface="Manrope" charset="0"/>
                        <a:cs typeface="Manrope" charset="0"/>
                      </a:endParaRPr>
                    </a:p>
                  </a:txBody>
                  <a:tcPr marL="137160" marR="137160" marT="36576" marB="36576" anchor="ctr">
                    <a:lnL w="25400" cap="flat" cmpd="sng" algn="ctr">
                      <a:solidFill>
                        <a:srgbClr val="F3E2CF"/>
                      </a:solidFill>
                      <a:prstDash val="solid"/>
                      <a:round/>
                      <a:headEnd type="none" w="med" len="med"/>
                      <a:tailEnd type="none" w="med" len="med"/>
                    </a:lnL>
                    <a:lnR w="25400" cap="flat" cmpd="sng" algn="ctr">
                      <a:solidFill>
                        <a:srgbClr val="F3E2CF"/>
                      </a:solidFill>
                      <a:prstDash val="solid"/>
                      <a:round/>
                      <a:headEnd type="none" w="med" len="med"/>
                      <a:tailEnd type="none" w="med" len="med"/>
                    </a:lnR>
                    <a:lnT w="25400" cap="flat" cmpd="sng" algn="ctr">
                      <a:solidFill>
                        <a:srgbClr val="F3E2CF"/>
                      </a:solidFill>
                      <a:prstDash val="solid"/>
                      <a:round/>
                      <a:headEnd type="none" w="med" len="med"/>
                      <a:tailEnd type="none" w="med" len="med"/>
                    </a:lnT>
                    <a:lnB w="25400" cap="flat" cmpd="sng" algn="ctr">
                      <a:solidFill>
                        <a:srgbClr val="F3E2CF"/>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E63E2C"/>
                          </a:solidFill>
                          <a:latin typeface="Manrope" pitchFamily="34" charset="0"/>
                          <a:ea typeface="Manrope" pitchFamily="34" charset="-122"/>
                          <a:cs typeface="Manrope" pitchFamily="34" charset="-120"/>
                        </a:rPr>
                        <a:t>Lemah</a:t>
                      </a:r>
                      <a:endParaRPr lang="en-US" sz="2000" dirty="0">
                        <a:latin typeface="Manrope" charset="0"/>
                        <a:ea typeface="Manrope" charset="0"/>
                        <a:cs typeface="Manrope" charset="0"/>
                      </a:endParaRPr>
                    </a:p>
                  </a:txBody>
                  <a:tcPr marL="137160" marR="137160" marT="36576" marB="36576" anchor="ctr">
                    <a:lnL w="25400" cap="flat" cmpd="sng" algn="ctr">
                      <a:solidFill>
                        <a:srgbClr val="F3E2CF"/>
                      </a:solidFill>
                      <a:prstDash val="solid"/>
                      <a:round/>
                      <a:headEnd type="none" w="med" len="med"/>
                      <a:tailEnd type="none" w="med" len="med"/>
                    </a:lnL>
                    <a:lnR w="25400" cap="flat" cmpd="sng" algn="ctr">
                      <a:solidFill>
                        <a:srgbClr val="F3E2CF"/>
                      </a:solidFill>
                      <a:prstDash val="solid"/>
                      <a:round/>
                      <a:headEnd type="none" w="med" len="med"/>
                      <a:tailEnd type="none" w="med" len="med"/>
                    </a:lnR>
                    <a:lnT w="25400" cap="flat" cmpd="sng" algn="ctr">
                      <a:solidFill>
                        <a:srgbClr val="F3E2CF"/>
                      </a:solidFill>
                      <a:prstDash val="solid"/>
                      <a:round/>
                      <a:headEnd type="none" w="med" len="med"/>
                      <a:tailEnd type="none" w="med" len="med"/>
                    </a:lnT>
                    <a:lnB w="25400" cap="flat" cmpd="sng" algn="ctr">
                      <a:solidFill>
                        <a:srgbClr val="F3E2CF"/>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C98A00"/>
                          </a:solidFill>
                          <a:latin typeface="Manrope" pitchFamily="34" charset="0"/>
                          <a:ea typeface="Manrope" pitchFamily="34" charset="-122"/>
                          <a:cs typeface="Manrope" pitchFamily="34" charset="-120"/>
                        </a:rPr>
                        <a:t>Cukup</a:t>
                      </a:r>
                      <a:endParaRPr lang="en-US" sz="2000" dirty="0">
                        <a:latin typeface="Manrope" charset="0"/>
                        <a:ea typeface="Manrope" charset="0"/>
                        <a:cs typeface="Manrope" charset="0"/>
                      </a:endParaRPr>
                    </a:p>
                  </a:txBody>
                  <a:tcPr marL="137160" marR="137160" marT="36576" marB="36576" anchor="ctr">
                    <a:lnL w="25400" cap="flat" cmpd="sng" algn="ctr">
                      <a:solidFill>
                        <a:srgbClr val="F3E2CF"/>
                      </a:solidFill>
                      <a:prstDash val="solid"/>
                      <a:round/>
                      <a:headEnd type="none" w="med" len="med"/>
                      <a:tailEnd type="none" w="med" len="med"/>
                    </a:lnL>
                    <a:lnR w="25400" cap="flat" cmpd="sng" algn="ctr">
                      <a:solidFill>
                        <a:srgbClr val="F3E2CF"/>
                      </a:solidFill>
                      <a:prstDash val="solid"/>
                      <a:round/>
                      <a:headEnd type="none" w="med" len="med"/>
                      <a:tailEnd type="none" w="med" len="med"/>
                    </a:lnR>
                    <a:lnT w="25400" cap="flat" cmpd="sng" algn="ctr">
                      <a:solidFill>
                        <a:srgbClr val="F3E2CF"/>
                      </a:solidFill>
                      <a:prstDash val="solid"/>
                      <a:round/>
                      <a:headEnd type="none" w="med" len="med"/>
                      <a:tailEnd type="none" w="med" len="med"/>
                    </a:lnT>
                    <a:lnB w="25400" cap="flat" cmpd="sng" algn="ctr">
                      <a:solidFill>
                        <a:srgbClr val="F3E2CF"/>
                      </a:solidFill>
                      <a:prstDash val="solid"/>
                      <a:round/>
                      <a:headEnd type="none" w="med" len="med"/>
                      <a:tailEnd type="none" w="med" len="med"/>
                    </a:lnB>
                    <a:solidFill>
                      <a:srgbClr val="E4EEF7"/>
                    </a:solidFill>
                  </a:tcPr>
                </a:tc>
              </a:tr>
              <a:tr h="548640">
                <a:tc>
                  <a:txBody>
                    <a:bodyPr/>
                    <a:lstStyle/>
                    <a:p>
                      <a:pPr indent="0" marL="0">
                        <a:buNone/>
                      </a:pPr>
                      <a:r>
                        <a:rPr lang="en-US" sz="2000" b="1" dirty="0">
                          <a:solidFill>
                            <a:srgbClr val="1B1B1B"/>
                          </a:solidFill>
                          <a:latin typeface="Manrope" pitchFamily="34" charset="0"/>
                          <a:ea typeface="Manrope" pitchFamily="34" charset="-122"/>
                          <a:cs typeface="Manrope" pitchFamily="34" charset="-120"/>
                        </a:rPr>
                        <a:t>Eksploitasi dan eksplorasi</a:t>
                      </a:r>
                      <a:endParaRPr lang="en-US" sz="2000" dirty="0">
                        <a:latin typeface="Manrope" charset="0"/>
                        <a:ea typeface="Manrope" charset="0"/>
                        <a:cs typeface="Manrope" charset="0"/>
                      </a:endParaRPr>
                    </a:p>
                  </a:txBody>
                  <a:tcPr marL="137160" marR="137160" marT="36576" marB="36576" anchor="ctr">
                    <a:lnL w="25400" cap="flat" cmpd="sng" algn="ctr">
                      <a:solidFill>
                        <a:srgbClr val="F3E2CF"/>
                      </a:solidFill>
                      <a:prstDash val="solid"/>
                      <a:round/>
                      <a:headEnd type="none" w="med" len="med"/>
                      <a:tailEnd type="none" w="med" len="med"/>
                    </a:lnL>
                    <a:lnR w="25400" cap="flat" cmpd="sng" algn="ctr">
                      <a:solidFill>
                        <a:srgbClr val="F3E2CF"/>
                      </a:solidFill>
                      <a:prstDash val="solid"/>
                      <a:round/>
                      <a:headEnd type="none" w="med" len="med"/>
                      <a:tailEnd type="none" w="med" len="med"/>
                    </a:lnR>
                    <a:lnT w="25400" cap="flat" cmpd="sng" algn="ctr">
                      <a:solidFill>
                        <a:srgbClr val="F3E2CF"/>
                      </a:solidFill>
                      <a:prstDash val="solid"/>
                      <a:round/>
                      <a:headEnd type="none" w="med" len="med"/>
                      <a:tailEnd type="none" w="med" len="med"/>
                    </a:lnT>
                    <a:lnB w="25400" cap="flat" cmpd="sng" algn="ctr">
                      <a:solidFill>
                        <a:srgbClr val="F3E2CF"/>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E63E2C"/>
                          </a:solidFill>
                          <a:latin typeface="Manrope" pitchFamily="34" charset="0"/>
                          <a:ea typeface="Manrope" pitchFamily="34" charset="-122"/>
                          <a:cs typeface="Manrope" pitchFamily="34" charset="-120"/>
                        </a:rPr>
                        <a:t>Lemah</a:t>
                      </a:r>
                      <a:endParaRPr lang="en-US" sz="2000" dirty="0">
                        <a:latin typeface="Manrope" charset="0"/>
                        <a:ea typeface="Manrope" charset="0"/>
                        <a:cs typeface="Manrope" charset="0"/>
                      </a:endParaRPr>
                    </a:p>
                  </a:txBody>
                  <a:tcPr marL="137160" marR="137160" marT="36576" marB="36576" anchor="ctr">
                    <a:lnL w="25400" cap="flat" cmpd="sng" algn="ctr">
                      <a:solidFill>
                        <a:srgbClr val="F3E2CF"/>
                      </a:solidFill>
                      <a:prstDash val="solid"/>
                      <a:round/>
                      <a:headEnd type="none" w="med" len="med"/>
                      <a:tailEnd type="none" w="med" len="med"/>
                    </a:lnL>
                    <a:lnR w="25400" cap="flat" cmpd="sng" algn="ctr">
                      <a:solidFill>
                        <a:srgbClr val="F3E2CF"/>
                      </a:solidFill>
                      <a:prstDash val="solid"/>
                      <a:round/>
                      <a:headEnd type="none" w="med" len="med"/>
                      <a:tailEnd type="none" w="med" len="med"/>
                    </a:lnR>
                    <a:lnT w="25400" cap="flat" cmpd="sng" algn="ctr">
                      <a:solidFill>
                        <a:srgbClr val="F3E2CF"/>
                      </a:solidFill>
                      <a:prstDash val="solid"/>
                      <a:round/>
                      <a:headEnd type="none" w="med" len="med"/>
                      <a:tailEnd type="none" w="med" len="med"/>
                    </a:lnT>
                    <a:lnB w="25400" cap="flat" cmpd="sng" algn="ctr">
                      <a:solidFill>
                        <a:srgbClr val="F3E2CF"/>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C98A00"/>
                          </a:solidFill>
                          <a:latin typeface="Manrope" pitchFamily="34" charset="0"/>
                          <a:ea typeface="Manrope" pitchFamily="34" charset="-122"/>
                          <a:cs typeface="Manrope" pitchFamily="34" charset="-120"/>
                        </a:rPr>
                        <a:t>Cukup</a:t>
                      </a:r>
                      <a:endParaRPr lang="en-US" sz="2000" dirty="0">
                        <a:latin typeface="Manrope" charset="0"/>
                        <a:ea typeface="Manrope" charset="0"/>
                        <a:cs typeface="Manrope" charset="0"/>
                      </a:endParaRPr>
                    </a:p>
                  </a:txBody>
                  <a:tcPr marL="137160" marR="137160" marT="36576" marB="36576" anchor="ctr">
                    <a:lnL w="25400" cap="flat" cmpd="sng" algn="ctr">
                      <a:solidFill>
                        <a:srgbClr val="F3E2CF"/>
                      </a:solidFill>
                      <a:prstDash val="solid"/>
                      <a:round/>
                      <a:headEnd type="none" w="med" len="med"/>
                      <a:tailEnd type="none" w="med" len="med"/>
                    </a:lnL>
                    <a:lnR w="25400" cap="flat" cmpd="sng" algn="ctr">
                      <a:solidFill>
                        <a:srgbClr val="F3E2CF"/>
                      </a:solidFill>
                      <a:prstDash val="solid"/>
                      <a:round/>
                      <a:headEnd type="none" w="med" len="med"/>
                      <a:tailEnd type="none" w="med" len="med"/>
                    </a:lnR>
                    <a:lnT w="25400" cap="flat" cmpd="sng" algn="ctr">
                      <a:solidFill>
                        <a:srgbClr val="F3E2CF"/>
                      </a:solidFill>
                      <a:prstDash val="solid"/>
                      <a:round/>
                      <a:headEnd type="none" w="med" len="med"/>
                      <a:tailEnd type="none" w="med" len="med"/>
                    </a:lnT>
                    <a:lnB w="25400" cap="flat" cmpd="sng" algn="ctr">
                      <a:solidFill>
                        <a:srgbClr val="F3E2CF"/>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2C7BB8"/>
                          </a:solidFill>
                          <a:latin typeface="Manrope" pitchFamily="34" charset="0"/>
                          <a:ea typeface="Manrope" pitchFamily="34" charset="-122"/>
                          <a:cs typeface="Manrope" pitchFamily="34" charset="-120"/>
                        </a:rPr>
                        <a:t>Kuat</a:t>
                      </a:r>
                      <a:endParaRPr lang="en-US" sz="2000" dirty="0">
                        <a:latin typeface="Manrope" charset="0"/>
                        <a:ea typeface="Manrope" charset="0"/>
                        <a:cs typeface="Manrope" charset="0"/>
                      </a:endParaRPr>
                    </a:p>
                  </a:txBody>
                  <a:tcPr marL="137160" marR="137160" marT="36576" marB="36576" anchor="ctr">
                    <a:lnL w="25400" cap="flat" cmpd="sng" algn="ctr">
                      <a:solidFill>
                        <a:srgbClr val="F3E2CF"/>
                      </a:solidFill>
                      <a:prstDash val="solid"/>
                      <a:round/>
                      <a:headEnd type="none" w="med" len="med"/>
                      <a:tailEnd type="none" w="med" len="med"/>
                    </a:lnL>
                    <a:lnR w="25400" cap="flat" cmpd="sng" algn="ctr">
                      <a:solidFill>
                        <a:srgbClr val="F3E2CF"/>
                      </a:solidFill>
                      <a:prstDash val="solid"/>
                      <a:round/>
                      <a:headEnd type="none" w="med" len="med"/>
                      <a:tailEnd type="none" w="med" len="med"/>
                    </a:lnR>
                    <a:lnT w="25400" cap="flat" cmpd="sng" algn="ctr">
                      <a:solidFill>
                        <a:srgbClr val="F3E2CF"/>
                      </a:solidFill>
                      <a:prstDash val="solid"/>
                      <a:round/>
                      <a:headEnd type="none" w="med" len="med"/>
                      <a:tailEnd type="none" w="med" len="med"/>
                    </a:lnT>
                    <a:lnB w="25400" cap="flat" cmpd="sng" algn="ctr">
                      <a:solidFill>
                        <a:srgbClr val="F3E2CF"/>
                      </a:solidFill>
                      <a:prstDash val="solid"/>
                      <a:round/>
                      <a:headEnd type="none" w="med" len="med"/>
                      <a:tailEnd type="none" w="med" len="med"/>
                    </a:lnB>
                    <a:solidFill>
                      <a:srgbClr val="E4EEF7"/>
                    </a:solidFill>
                  </a:tcPr>
                </a:tc>
              </a:tr>
              <a:tr h="548640">
                <a:tc>
                  <a:txBody>
                    <a:bodyPr/>
                    <a:lstStyle/>
                    <a:p>
                      <a:pPr indent="0" marL="0">
                        <a:buNone/>
                      </a:pPr>
                      <a:r>
                        <a:rPr lang="en-US" sz="2000" b="1" dirty="0">
                          <a:solidFill>
                            <a:srgbClr val="1B1B1B"/>
                          </a:solidFill>
                          <a:latin typeface="Manrope" pitchFamily="34" charset="0"/>
                          <a:ea typeface="Manrope" pitchFamily="34" charset="-122"/>
                          <a:cs typeface="Manrope" pitchFamily="34" charset="-120"/>
                        </a:rPr>
                        <a:t>Tata kelola dan pemegang saham</a:t>
                      </a:r>
                      <a:endParaRPr lang="en-US" sz="2000" dirty="0">
                        <a:latin typeface="Manrope" charset="0"/>
                        <a:ea typeface="Manrope" charset="0"/>
                        <a:cs typeface="Manrope" charset="0"/>
                      </a:endParaRPr>
                    </a:p>
                  </a:txBody>
                  <a:tcPr marL="137160" marR="137160" marT="36576" marB="36576" anchor="ctr">
                    <a:lnL w="25400" cap="flat" cmpd="sng" algn="ctr">
                      <a:solidFill>
                        <a:srgbClr val="F3E2CF"/>
                      </a:solidFill>
                      <a:prstDash val="solid"/>
                      <a:round/>
                      <a:headEnd type="none" w="med" len="med"/>
                      <a:tailEnd type="none" w="med" len="med"/>
                    </a:lnL>
                    <a:lnR w="25400" cap="flat" cmpd="sng" algn="ctr">
                      <a:solidFill>
                        <a:srgbClr val="F3E2CF"/>
                      </a:solidFill>
                      <a:prstDash val="solid"/>
                      <a:round/>
                      <a:headEnd type="none" w="med" len="med"/>
                      <a:tailEnd type="none" w="med" len="med"/>
                    </a:lnR>
                    <a:lnT w="25400" cap="flat" cmpd="sng" algn="ctr">
                      <a:solidFill>
                        <a:srgbClr val="F3E2CF"/>
                      </a:solidFill>
                      <a:prstDash val="solid"/>
                      <a:round/>
                      <a:headEnd type="none" w="med" len="med"/>
                      <a:tailEnd type="none" w="med" len="med"/>
                    </a:lnT>
                    <a:lnB w="25400" cap="flat" cmpd="sng" algn="ctr">
                      <a:solidFill>
                        <a:srgbClr val="F3E2CF"/>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C98A00"/>
                          </a:solidFill>
                          <a:latin typeface="Manrope" pitchFamily="34" charset="0"/>
                          <a:ea typeface="Manrope" pitchFamily="34" charset="-122"/>
                          <a:cs typeface="Manrope" pitchFamily="34" charset="-120"/>
                        </a:rPr>
                        <a:t>Cukup</a:t>
                      </a:r>
                      <a:endParaRPr lang="en-US" sz="2000" dirty="0">
                        <a:latin typeface="Manrope" charset="0"/>
                        <a:ea typeface="Manrope" charset="0"/>
                        <a:cs typeface="Manrope" charset="0"/>
                      </a:endParaRPr>
                    </a:p>
                  </a:txBody>
                  <a:tcPr marL="137160" marR="137160" marT="36576" marB="36576" anchor="ctr">
                    <a:lnL w="25400" cap="flat" cmpd="sng" algn="ctr">
                      <a:solidFill>
                        <a:srgbClr val="F3E2CF"/>
                      </a:solidFill>
                      <a:prstDash val="solid"/>
                      <a:round/>
                      <a:headEnd type="none" w="med" len="med"/>
                      <a:tailEnd type="none" w="med" len="med"/>
                    </a:lnL>
                    <a:lnR w="25400" cap="flat" cmpd="sng" algn="ctr">
                      <a:solidFill>
                        <a:srgbClr val="F3E2CF"/>
                      </a:solidFill>
                      <a:prstDash val="solid"/>
                      <a:round/>
                      <a:headEnd type="none" w="med" len="med"/>
                      <a:tailEnd type="none" w="med" len="med"/>
                    </a:lnR>
                    <a:lnT w="25400" cap="flat" cmpd="sng" algn="ctr">
                      <a:solidFill>
                        <a:srgbClr val="F3E2CF"/>
                      </a:solidFill>
                      <a:prstDash val="solid"/>
                      <a:round/>
                      <a:headEnd type="none" w="med" len="med"/>
                      <a:tailEnd type="none" w="med" len="med"/>
                    </a:lnT>
                    <a:lnB w="25400" cap="flat" cmpd="sng" algn="ctr">
                      <a:solidFill>
                        <a:srgbClr val="F3E2CF"/>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C98A00"/>
                          </a:solidFill>
                          <a:latin typeface="Manrope" pitchFamily="34" charset="0"/>
                          <a:ea typeface="Manrope" pitchFamily="34" charset="-122"/>
                          <a:cs typeface="Manrope" pitchFamily="34" charset="-120"/>
                        </a:rPr>
                        <a:t>Cukup</a:t>
                      </a:r>
                      <a:endParaRPr lang="en-US" sz="2000" dirty="0">
                        <a:latin typeface="Manrope" charset="0"/>
                        <a:ea typeface="Manrope" charset="0"/>
                        <a:cs typeface="Manrope" charset="0"/>
                      </a:endParaRPr>
                    </a:p>
                  </a:txBody>
                  <a:tcPr marL="137160" marR="137160" marT="36576" marB="36576" anchor="ctr">
                    <a:lnL w="25400" cap="flat" cmpd="sng" algn="ctr">
                      <a:solidFill>
                        <a:srgbClr val="F3E2CF"/>
                      </a:solidFill>
                      <a:prstDash val="solid"/>
                      <a:round/>
                      <a:headEnd type="none" w="med" len="med"/>
                      <a:tailEnd type="none" w="med" len="med"/>
                    </a:lnL>
                    <a:lnR w="25400" cap="flat" cmpd="sng" algn="ctr">
                      <a:solidFill>
                        <a:srgbClr val="F3E2CF"/>
                      </a:solidFill>
                      <a:prstDash val="solid"/>
                      <a:round/>
                      <a:headEnd type="none" w="med" len="med"/>
                      <a:tailEnd type="none" w="med" len="med"/>
                    </a:lnR>
                    <a:lnT w="25400" cap="flat" cmpd="sng" algn="ctr">
                      <a:solidFill>
                        <a:srgbClr val="F3E2CF"/>
                      </a:solidFill>
                      <a:prstDash val="solid"/>
                      <a:round/>
                      <a:headEnd type="none" w="med" len="med"/>
                      <a:tailEnd type="none" w="med" len="med"/>
                    </a:lnT>
                    <a:lnB w="25400" cap="flat" cmpd="sng" algn="ctr">
                      <a:solidFill>
                        <a:srgbClr val="F3E2CF"/>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2C7BB8"/>
                          </a:solidFill>
                          <a:latin typeface="Manrope" pitchFamily="34" charset="0"/>
                          <a:ea typeface="Manrope" pitchFamily="34" charset="-122"/>
                          <a:cs typeface="Manrope" pitchFamily="34" charset="-120"/>
                        </a:rPr>
                        <a:t>Kuat</a:t>
                      </a:r>
                      <a:endParaRPr lang="en-US" sz="2000" dirty="0">
                        <a:latin typeface="Manrope" charset="0"/>
                        <a:ea typeface="Manrope" charset="0"/>
                        <a:cs typeface="Manrope" charset="0"/>
                      </a:endParaRPr>
                    </a:p>
                  </a:txBody>
                  <a:tcPr marL="137160" marR="137160" marT="36576" marB="36576" anchor="ctr">
                    <a:lnL w="25400" cap="flat" cmpd="sng" algn="ctr">
                      <a:solidFill>
                        <a:srgbClr val="F3E2CF"/>
                      </a:solidFill>
                      <a:prstDash val="solid"/>
                      <a:round/>
                      <a:headEnd type="none" w="med" len="med"/>
                      <a:tailEnd type="none" w="med" len="med"/>
                    </a:lnL>
                    <a:lnR w="25400" cap="flat" cmpd="sng" algn="ctr">
                      <a:solidFill>
                        <a:srgbClr val="F3E2CF"/>
                      </a:solidFill>
                      <a:prstDash val="solid"/>
                      <a:round/>
                      <a:headEnd type="none" w="med" len="med"/>
                      <a:tailEnd type="none" w="med" len="med"/>
                    </a:lnR>
                    <a:lnT w="25400" cap="flat" cmpd="sng" algn="ctr">
                      <a:solidFill>
                        <a:srgbClr val="F3E2CF"/>
                      </a:solidFill>
                      <a:prstDash val="solid"/>
                      <a:round/>
                      <a:headEnd type="none" w="med" len="med"/>
                      <a:tailEnd type="none" w="med" len="med"/>
                    </a:lnT>
                    <a:lnB w="25400" cap="flat" cmpd="sng" algn="ctr">
                      <a:solidFill>
                        <a:srgbClr val="F3E2CF"/>
                      </a:solidFill>
                      <a:prstDash val="solid"/>
                      <a:round/>
                      <a:headEnd type="none" w="med" len="med"/>
                      <a:tailEnd type="none" w="med" len="med"/>
                    </a:lnB>
                    <a:solidFill>
                      <a:srgbClr val="E4EEF7"/>
                    </a:solidFill>
                  </a:tcPr>
                </a:tc>
              </a:tr>
            </a:tbl>
          </a:graphicData>
        </a:graphic>
      </p:graphicFrame>
      <p:sp>
        <p:nvSpPr>
          <p:cNvPr id="7" name="Text 4"/>
          <p:cNvSpPr txBox="1"/>
          <p:nvPr/>
        </p:nvSpPr>
        <p:spPr>
          <a:xfrm>
            <a:off x="548640" y="5120640"/>
            <a:ext cx="11064240" cy="822960"/>
          </a:xfrm>
          <a:prstGeom prst="rect">
            <a:avLst/>
          </a:prstGeom>
          <a:noFill/>
          <a:ln/>
        </p:spPr>
        <p:txBody>
          <a:bodyPr wrap="square" lIns="0" tIns="0" rIns="0" bIns="0" rtlCol="0" anchor="t"/>
          <a:lstStyle/>
          <a:p>
            <a:pPr indent="0" marL="0">
              <a:buNone/>
            </a:pPr>
            <a:r>
              <a:rPr lang="en-US" sz="1900" b="1" dirty="0">
                <a:solidFill>
                  <a:srgbClr val="1B1B1B"/>
                </a:solidFill>
                <a:highlight>
                  <a:srgbClr val="FFE066"/>
                </a:highlight>
                <a:latin typeface="Manrope" pitchFamily="34" charset="0"/>
                <a:ea typeface="Manrope" pitchFamily="34" charset="-122"/>
                <a:cs typeface="Manrope" pitchFamily="34" charset="-120"/>
              </a:rPr>
              <a:t>Alternatif C</a:t>
            </a:r>
            <a:r>
              <a:rPr lang="en-US" sz="1900" dirty="0">
                <a:solidFill>
                  <a:srgbClr val="1B1B1B"/>
                </a:solidFill>
                <a:latin typeface="Manrope" pitchFamily="34" charset="0"/>
                <a:ea typeface="Manrope" pitchFamily="34" charset="-122"/>
                <a:cs typeface="Manrope" pitchFamily="34" charset="-120"/>
              </a:rPr>
              <a:t> satu-satunya tanpa kriteria </a:t>
            </a:r>
            <a:r>
              <a:rPr lang="en-US" sz="1900" b="1" dirty="0">
                <a:solidFill>
                  <a:srgbClr val="1B1B1B"/>
                </a:solidFill>
                <a:highlight>
                  <a:srgbClr val="FFE066"/>
                </a:highlight>
                <a:latin typeface="Manrope" pitchFamily="34" charset="0"/>
                <a:ea typeface="Manrope" pitchFamily="34" charset="-122"/>
                <a:cs typeface="Manrope" pitchFamily="34" charset="-120"/>
              </a:rPr>
              <a:t>lemah</a:t>
            </a:r>
            <a:r>
              <a:rPr lang="en-US" sz="1900" dirty="0">
                <a:solidFill>
                  <a:srgbClr val="1B1B1B"/>
                </a:solidFill>
                <a:latin typeface="Manrope" pitchFamily="34" charset="0"/>
                <a:ea typeface="Manrope" pitchFamily="34" charset="-122"/>
                <a:cs typeface="Manrope" pitchFamily="34" charset="-120"/>
              </a:rPr>
              <a:t>: menangkap peluang tanpa mempertaruhkan neraca.</a:t>
            </a:r>
            <a:endParaRPr lang="en-US" sz="1900" dirty="0"/>
          </a:p>
        </p:txBody>
      </p:sp>
      <p:sp>
        <p:nvSpPr>
          <p:cNvPr id="8" name="Text 5"/>
          <p:cNvSpPr txBox="1"/>
          <p:nvPr/>
        </p:nvSpPr>
        <p:spPr>
          <a:xfrm>
            <a:off x="548640" y="6217920"/>
            <a:ext cx="10424160" cy="411480"/>
          </a:xfrm>
          <a:prstGeom prst="rect">
            <a:avLst/>
          </a:prstGeom>
          <a:noFill/>
          <a:ln/>
        </p:spPr>
        <p:txBody>
          <a:bodyPr wrap="square" lIns="0" tIns="0" rIns="0" bIns="0" rtlCol="0" anchor="ctr"/>
          <a:lstStyle/>
          <a:p>
            <a:pPr indent="0" marL="0">
              <a:buNone/>
            </a:pPr>
            <a:r>
              <a:rPr lang="en-US" sz="1100" dirty="0">
                <a:solidFill>
                  <a:srgbClr val="E63E2C"/>
                </a:solidFill>
                <a:latin typeface="Manrope" pitchFamily="34" charset="0"/>
                <a:ea typeface="Manrope" pitchFamily="34" charset="-122"/>
                <a:cs typeface="Manrope" pitchFamily="34" charset="-120"/>
              </a:rPr>
              <a:t>■  </a:t>
            </a:r>
            <a:r>
              <a:rPr lang="en-US" sz="1600" b="1" dirty="0">
                <a:solidFill>
                  <a:srgbClr val="1B1B1B"/>
                </a:solidFill>
                <a:latin typeface="Manrope" pitchFamily="34" charset="0"/>
                <a:ea typeface="Manrope" pitchFamily="34" charset="-122"/>
                <a:cs typeface="Manrope" pitchFamily="34" charset="-120"/>
              </a:rPr>
              <a:t>Selanjutnya  </a:t>
            </a:r>
            <a:r>
              <a:rPr lang="en-US" sz="1600" dirty="0">
                <a:solidFill>
                  <a:srgbClr val="4A4A4A"/>
                </a:solidFill>
                <a:latin typeface="Manrope" pitchFamily="34" charset="0"/>
                <a:ea typeface="Manrope" pitchFamily="34" charset="-122"/>
                <a:cs typeface="Manrope" pitchFamily="34" charset="-120"/>
              </a:rPr>
              <a:t>Alternatif C tanpa satu pun kriteria lemah. Itulah rekomendasi kami.</a:t>
            </a:r>
            <a:endParaRPr lang="en-US" sz="1600" dirty="0"/>
          </a:p>
        </p:txBody>
      </p:sp>
      <p:sp>
        <p:nvSpPr>
          <p:cNvPr id="9" name="Text 6"/>
          <p:cNvSpPr txBox="1"/>
          <p:nvPr/>
        </p:nvSpPr>
        <p:spPr>
          <a:xfrm>
            <a:off x="11247120" y="6355080"/>
            <a:ext cx="548640" cy="320040"/>
          </a:xfrm>
          <a:prstGeom prst="rect">
            <a:avLst/>
          </a:prstGeom>
          <a:noFill/>
          <a:ln/>
        </p:spPr>
        <p:txBody>
          <a:bodyPr wrap="square" lIns="0" tIns="0" rIns="0" bIns="0" rtlCol="0" anchor="ctr"/>
          <a:lstStyle/>
          <a:p>
            <a:pPr algn="r" indent="0" marL="0">
              <a:buNone/>
            </a:pPr>
            <a:r>
              <a:rPr lang="en-US" sz="1200" b="1" dirty="0">
                <a:solidFill>
                  <a:srgbClr val="1B1B1B"/>
                </a:solidFill>
                <a:latin typeface="Manrope" pitchFamily="34" charset="0"/>
                <a:ea typeface="Manrope" pitchFamily="34" charset="-122"/>
                <a:cs typeface="Manrope"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3E2CF"/>
        </a:solidFill>
      </p:bgPr>
    </p:bg>
    <p:spTree>
      <p:nvGrpSpPr>
        <p:cNvPr id="1" name=""/>
        <p:cNvGrpSpPr/>
        <p:nvPr/>
      </p:nvGrpSpPr>
      <p:grpSpPr>
        <a:xfrm>
          <a:off x="0" y="0"/>
          <a:ext cx="0" cy="0"/>
          <a:chOff x="0" y="0"/>
          <a:chExt cx="0" cy="0"/>
        </a:xfrm>
      </p:grpSpPr>
      <p:sp>
        <p:nvSpPr>
          <p:cNvPr id="2" name="Shape 0"/>
          <p:cNvSpPr/>
          <p:nvPr/>
        </p:nvSpPr>
        <p:spPr>
          <a:xfrm>
            <a:off x="548640" y="457200"/>
            <a:ext cx="5175504" cy="914400"/>
          </a:xfrm>
          <a:prstGeom prst="rect">
            <a:avLst/>
          </a:prstGeom>
          <a:solidFill>
            <a:srgbClr val="E63E2C"/>
          </a:solidFill>
          <a:ln w="12700">
            <a:solidFill>
              <a:srgbClr val="E63E2C"/>
            </a:solidFill>
            <a:prstDash val="solid"/>
          </a:ln>
        </p:spPr>
      </p:sp>
      <p:sp>
        <p:nvSpPr>
          <p:cNvPr id="3" name="Text 1"/>
          <p:cNvSpPr txBox="1"/>
          <p:nvPr/>
        </p:nvSpPr>
        <p:spPr>
          <a:xfrm>
            <a:off x="548640" y="457200"/>
            <a:ext cx="5175504" cy="914400"/>
          </a:xfrm>
          <a:prstGeom prst="rect">
            <a:avLst/>
          </a:prstGeom>
          <a:noFill/>
          <a:ln/>
        </p:spPr>
        <p:txBody>
          <a:bodyPr wrap="square" lIns="0" tIns="3810" rIns="3810" bIns="0" rtlCol="0" anchor="ctr"/>
          <a:lstStyle/>
          <a:p>
            <a:pPr indent="0" marL="0">
              <a:buNone/>
            </a:pPr>
            <a:r>
              <a:rPr lang="en-US" sz="4600" dirty="0">
                <a:solidFill>
                  <a:srgbClr val="FFFFFF"/>
                </a:solidFill>
                <a:latin typeface="Bebas Neue" pitchFamily="34" charset="0"/>
                <a:ea typeface="Bebas Neue" pitchFamily="34" charset="-122"/>
                <a:cs typeface="Bebas Neue" pitchFamily="34" charset="-120"/>
              </a:rPr>
              <a:t>RECOMMENDATION</a:t>
            </a:r>
            <a:endParaRPr lang="en-US" sz="4600" dirty="0"/>
          </a:p>
        </p:txBody>
      </p:sp>
      <p:sp>
        <p:nvSpPr>
          <p:cNvPr id="4" name="Shape 2"/>
          <p:cNvSpPr/>
          <p:nvPr/>
        </p:nvSpPr>
        <p:spPr>
          <a:xfrm>
            <a:off x="365760" y="2103120"/>
            <a:ext cx="3108960" cy="3108960"/>
          </a:xfrm>
          <a:prstGeom prst="ellipse">
            <a:avLst/>
          </a:prstGeom>
          <a:solidFill>
            <a:srgbClr val="2C7BB8"/>
          </a:solidFill>
          <a:ln w="12700">
            <a:solidFill>
              <a:srgbClr val="2C7BB8"/>
            </a:solidFill>
            <a:prstDash val="solid"/>
          </a:ln>
        </p:spPr>
      </p:sp>
      <p:pic>
        <p:nvPicPr>
          <p:cNvPr id="5" name="Image 0" descr="/tmp/claude-0/-home-user-Dom-Manipulation/a70c4110-05d8-512e-ae11-d08dee025a7a/scratchpad/img/aa_captain.png">    </p:cNvPr>
          <p:cNvPicPr>
            <a:picLocks noChangeAspect="1"/>
          </p:cNvPicPr>
          <p:nvPr/>
        </p:nvPicPr>
        <p:blipFill>
          <a:blip r:embed="rId1"/>
          <a:stretch>
            <a:fillRect/>
          </a:stretch>
        </p:blipFill>
        <p:spPr>
          <a:xfrm>
            <a:off x="457200" y="1783080"/>
            <a:ext cx="3840480" cy="4069080"/>
          </a:xfrm>
          <a:prstGeom prst="rect">
            <a:avLst/>
          </a:prstGeom>
        </p:spPr>
      </p:pic>
      <p:sp>
        <p:nvSpPr>
          <p:cNvPr id="6" name="Shape 3"/>
          <p:cNvSpPr/>
          <p:nvPr/>
        </p:nvSpPr>
        <p:spPr>
          <a:xfrm>
            <a:off x="548640" y="5806440"/>
            <a:ext cx="3840480" cy="91440"/>
          </a:xfrm>
          <a:prstGeom prst="rect">
            <a:avLst/>
          </a:prstGeom>
          <a:solidFill>
            <a:srgbClr val="1B1B1B"/>
          </a:solidFill>
          <a:ln w="12700">
            <a:solidFill>
              <a:srgbClr val="1B1B1B"/>
            </a:solidFill>
            <a:prstDash val="solid"/>
          </a:ln>
        </p:spPr>
      </p:sp>
      <p:sp>
        <p:nvSpPr>
          <p:cNvPr id="7" name="Text 4"/>
          <p:cNvSpPr txBox="1"/>
          <p:nvPr/>
        </p:nvSpPr>
        <p:spPr>
          <a:xfrm>
            <a:off x="4754880" y="1600200"/>
            <a:ext cx="6949440" cy="1463040"/>
          </a:xfrm>
          <a:prstGeom prst="rect">
            <a:avLst/>
          </a:prstGeom>
          <a:noFill/>
          <a:ln/>
        </p:spPr>
        <p:txBody>
          <a:bodyPr wrap="square" lIns="0" tIns="0" rIns="0" bIns="0" rtlCol="0" anchor="ctr"/>
          <a:lstStyle/>
          <a:p>
            <a:pPr indent="0" marL="0">
              <a:buNone/>
            </a:pPr>
            <a:r>
              <a:rPr lang="en-US" sz="3600" dirty="0">
                <a:solidFill>
                  <a:srgbClr val="1B1B1B"/>
                </a:solidFill>
                <a:latin typeface="Bebas Neue" pitchFamily="34" charset="0"/>
                <a:ea typeface="Bebas Neue" pitchFamily="34" charset="-122"/>
                <a:cs typeface="Bebas Neue" pitchFamily="34" charset="-120"/>
              </a:rPr>
              <a:t>INTEGRASI BERTAHAP: KENDALIKAN AIRASIA X, BATASI RUTE, BUKTIKAN DULU, BARU MERGER.</a:t>
            </a:r>
            <a:endParaRPr lang="en-US" sz="3600" dirty="0"/>
          </a:p>
        </p:txBody>
      </p:sp>
      <p:sp>
        <p:nvSpPr>
          <p:cNvPr id="8" name="Text 5"/>
          <p:cNvSpPr txBox="1"/>
          <p:nvPr/>
        </p:nvSpPr>
        <p:spPr>
          <a:xfrm>
            <a:off x="4754880" y="3291840"/>
            <a:ext cx="6949440" cy="2560320"/>
          </a:xfrm>
          <a:prstGeom prst="rect">
            <a:avLst/>
          </a:prstGeom>
          <a:noFill/>
          <a:ln/>
        </p:spPr>
        <p:txBody>
          <a:bodyPr wrap="square" lIns="0" tIns="0" rIns="0" bIns="0" rtlCol="0" anchor="t"/>
          <a:lstStyle/>
          <a:p>
            <a:pPr marL="342900" indent="-342900">
              <a:spcAft>
                <a:spcPts val="700"/>
              </a:spcAft>
              <a:buSzPct val="100000"/>
              <a:buChar char="■"/>
            </a:pPr>
            <a:r>
              <a:rPr lang="en-US" sz="2100" dirty="0">
                <a:solidFill>
                  <a:srgbClr val="1B1B1B"/>
                </a:solidFill>
                <a:latin typeface="Manrope" pitchFamily="34" charset="0"/>
                <a:ea typeface="Manrope" pitchFamily="34" charset="-122"/>
                <a:cs typeface="Manrope" pitchFamily="34" charset="-120"/>
              </a:rPr>
              <a:t>Eksekusi </a:t>
            </a:r>
            <a:r>
              <a:rPr lang="en-US" sz="2100" b="1" dirty="0">
                <a:solidFill>
                  <a:srgbClr val="1B1B1B"/>
                </a:solidFill>
                <a:highlight>
                  <a:srgbClr val="FFE066"/>
                </a:highlight>
                <a:latin typeface="Manrope" pitchFamily="34" charset="0"/>
                <a:ea typeface="Manrope" pitchFamily="34" charset="-122"/>
                <a:cs typeface="Manrope" pitchFamily="34" charset="-120"/>
              </a:rPr>
              <a:t>opsi 30 persen</a:t>
            </a:r>
            <a:r>
              <a:rPr lang="en-US" sz="2100" dirty="0">
                <a:solidFill>
                  <a:srgbClr val="1B1B1B"/>
                </a:solidFill>
                <a:latin typeface="Manrope" pitchFamily="34" charset="0"/>
                <a:ea typeface="Manrope" pitchFamily="34" charset="-122"/>
                <a:cs typeface="Manrope" pitchFamily="34" charset="-120"/>
              </a:rPr>
              <a:t> dan tempatkan manajemen AirAsia</a:t>
            </a:r>
            <a:endParaRPr lang="en-US" sz="2100" dirty="0"/>
          </a:p>
          <a:p>
            <a:pPr marL="342900" indent="-342900">
              <a:spcAft>
                <a:spcPts val="700"/>
              </a:spcAft>
              <a:buSzPct val="100000"/>
              <a:buChar char="■"/>
            </a:pPr>
            <a:r>
              <a:rPr lang="en-US" sz="2100" dirty="0">
                <a:solidFill>
                  <a:srgbClr val="1B1B1B"/>
                </a:solidFill>
                <a:latin typeface="Manrope" pitchFamily="34" charset="0"/>
                <a:ea typeface="Manrope" pitchFamily="34" charset="-122"/>
                <a:cs typeface="Manrope" pitchFamily="34" charset="-120"/>
              </a:rPr>
              <a:t>Rute </a:t>
            </a:r>
            <a:r>
              <a:rPr lang="en-US" sz="2100" b="1" dirty="0">
                <a:solidFill>
                  <a:srgbClr val="1B1B1B"/>
                </a:solidFill>
                <a:highlight>
                  <a:srgbClr val="FFE066"/>
                </a:highlight>
                <a:latin typeface="Manrope" pitchFamily="34" charset="0"/>
                <a:ea typeface="Manrope" pitchFamily="34" charset="-122"/>
                <a:cs typeface="Manrope" pitchFamily="34" charset="-120"/>
              </a:rPr>
              <a:t>4 sampai 8 jam</a:t>
            </a:r>
            <a:r>
              <a:rPr lang="en-US" sz="2100" dirty="0">
                <a:solidFill>
                  <a:srgbClr val="1B1B1B"/>
                </a:solidFill>
                <a:latin typeface="Manrope" pitchFamily="34" charset="0"/>
                <a:ea typeface="Manrope" pitchFamily="34" charset="-122"/>
                <a:cs typeface="Manrope" pitchFamily="34" charset="-120"/>
              </a:rPr>
              <a:t> dengan A330 sampai A350 tiba</a:t>
            </a:r>
            <a:endParaRPr lang="en-US" sz="2100" dirty="0"/>
          </a:p>
          <a:p>
            <a:pPr marL="342900" indent="-342900">
              <a:spcAft>
                <a:spcPts val="700"/>
              </a:spcAft>
              <a:buSzPct val="100000"/>
              <a:buChar char="■"/>
            </a:pPr>
            <a:r>
              <a:rPr lang="en-US" sz="2100" dirty="0">
                <a:solidFill>
                  <a:srgbClr val="1B1B1B"/>
                </a:solidFill>
                <a:latin typeface="Manrope" pitchFamily="34" charset="0"/>
                <a:ea typeface="Manrope" pitchFamily="34" charset="-122"/>
                <a:cs typeface="Manrope" pitchFamily="34" charset="-120"/>
              </a:rPr>
              <a:t>Merger hanya setelah </a:t>
            </a:r>
            <a:r>
              <a:rPr lang="en-US" sz="2100" b="1" dirty="0">
                <a:solidFill>
                  <a:srgbClr val="1B1B1B"/>
                </a:solidFill>
                <a:highlight>
                  <a:srgbClr val="FFE066"/>
                </a:highlight>
                <a:latin typeface="Manrope" pitchFamily="34" charset="0"/>
                <a:ea typeface="Manrope" pitchFamily="34" charset="-122"/>
                <a:cs typeface="Manrope" pitchFamily="34" charset="-120"/>
              </a:rPr>
              <a:t>empat kuartal laba</a:t>
            </a:r>
            <a:r>
              <a:rPr lang="en-US" sz="2100" dirty="0">
                <a:solidFill>
                  <a:srgbClr val="1B1B1B"/>
                </a:solidFill>
                <a:latin typeface="Manrope" pitchFamily="34" charset="0"/>
                <a:ea typeface="Manrope" pitchFamily="34" charset="-122"/>
                <a:cs typeface="Manrope" pitchFamily="34" charset="-120"/>
              </a:rPr>
              <a:t> dan arus kas positif</a:t>
            </a:r>
            <a:endParaRPr lang="en-US" sz="2100" dirty="0"/>
          </a:p>
        </p:txBody>
      </p:sp>
      <p:sp>
        <p:nvSpPr>
          <p:cNvPr id="9" name="Text 6"/>
          <p:cNvSpPr txBox="1"/>
          <p:nvPr/>
        </p:nvSpPr>
        <p:spPr>
          <a:xfrm>
            <a:off x="548640" y="6217920"/>
            <a:ext cx="10424160" cy="411480"/>
          </a:xfrm>
          <a:prstGeom prst="rect">
            <a:avLst/>
          </a:prstGeom>
          <a:noFill/>
          <a:ln/>
        </p:spPr>
        <p:txBody>
          <a:bodyPr wrap="square" lIns="0" tIns="0" rIns="0" bIns="0" rtlCol="0" anchor="ctr"/>
          <a:lstStyle/>
          <a:p>
            <a:pPr indent="0" marL="0">
              <a:buNone/>
            </a:pPr>
            <a:r>
              <a:rPr lang="en-US" sz="1100" dirty="0">
                <a:solidFill>
                  <a:srgbClr val="E63E2C"/>
                </a:solidFill>
                <a:latin typeface="Manrope" pitchFamily="34" charset="0"/>
                <a:ea typeface="Manrope" pitchFamily="34" charset="-122"/>
                <a:cs typeface="Manrope" pitchFamily="34" charset="-120"/>
              </a:rPr>
              <a:t>■  </a:t>
            </a:r>
            <a:r>
              <a:rPr lang="en-US" sz="1600" b="1" dirty="0">
                <a:solidFill>
                  <a:srgbClr val="1B1B1B"/>
                </a:solidFill>
                <a:latin typeface="Manrope" pitchFamily="34" charset="0"/>
                <a:ea typeface="Manrope" pitchFamily="34" charset="-122"/>
                <a:cs typeface="Manrope" pitchFamily="34" charset="-120"/>
              </a:rPr>
              <a:t>Selanjutnya  </a:t>
            </a:r>
            <a:r>
              <a:rPr lang="en-US" sz="1600" dirty="0">
                <a:solidFill>
                  <a:srgbClr val="4A4A4A"/>
                </a:solidFill>
                <a:latin typeface="Manrope" pitchFamily="34" charset="0"/>
                <a:ea typeface="Manrope" pitchFamily="34" charset="-122"/>
                <a:cs typeface="Manrope" pitchFamily="34" charset="-120"/>
              </a:rPr>
              <a:t>Rencana implementasinya: KPI, waktu, penanggung jawab.</a:t>
            </a:r>
            <a:endParaRPr lang="en-US" sz="1600" dirty="0"/>
          </a:p>
        </p:txBody>
      </p:sp>
      <p:sp>
        <p:nvSpPr>
          <p:cNvPr id="10" name="Text 7"/>
          <p:cNvSpPr txBox="1"/>
          <p:nvPr/>
        </p:nvSpPr>
        <p:spPr>
          <a:xfrm>
            <a:off x="11247120" y="6355080"/>
            <a:ext cx="548640" cy="320040"/>
          </a:xfrm>
          <a:prstGeom prst="rect">
            <a:avLst/>
          </a:prstGeom>
          <a:noFill/>
          <a:ln/>
        </p:spPr>
        <p:txBody>
          <a:bodyPr wrap="square" lIns="0" tIns="0" rIns="0" bIns="0" rtlCol="0" anchor="ctr"/>
          <a:lstStyle/>
          <a:p>
            <a:pPr algn="r" indent="0" marL="0">
              <a:buNone/>
            </a:pPr>
            <a:r>
              <a:rPr lang="en-US" sz="1200" b="1" dirty="0">
                <a:solidFill>
                  <a:srgbClr val="1B1B1B"/>
                </a:solidFill>
                <a:latin typeface="Manrope" pitchFamily="34" charset="0"/>
                <a:ea typeface="Manrope" pitchFamily="34" charset="-122"/>
                <a:cs typeface="Manrope"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3E2CF"/>
        </a:solidFill>
      </p:bgPr>
    </p:bg>
    <p:spTree>
      <p:nvGrpSpPr>
        <p:cNvPr id="1" name=""/>
        <p:cNvGrpSpPr/>
        <p:nvPr/>
      </p:nvGrpSpPr>
      <p:grpSpPr>
        <a:xfrm>
          <a:off x="0" y="0"/>
          <a:ext cx="0" cy="0"/>
          <a:chOff x="0" y="0"/>
          <a:chExt cx="0" cy="0"/>
        </a:xfrm>
      </p:grpSpPr>
      <p:sp>
        <p:nvSpPr>
          <p:cNvPr id="2" name="Text 0"/>
          <p:cNvSpPr txBox="1"/>
          <p:nvPr/>
        </p:nvSpPr>
        <p:spPr>
          <a:xfrm>
            <a:off x="548640" y="457200"/>
            <a:ext cx="10515600" cy="914400"/>
          </a:xfrm>
          <a:prstGeom prst="rect">
            <a:avLst/>
          </a:prstGeom>
          <a:noFill/>
          <a:ln/>
        </p:spPr>
        <p:txBody>
          <a:bodyPr wrap="square" lIns="0" tIns="0" rIns="0" bIns="0" rtlCol="0" anchor="ctr"/>
          <a:lstStyle/>
          <a:p>
            <a:pPr indent="0" marL="0">
              <a:buNone/>
            </a:pPr>
            <a:r>
              <a:rPr lang="en-US" sz="5800" dirty="0">
                <a:solidFill>
                  <a:srgbClr val="1B1B1B"/>
                </a:solidFill>
                <a:latin typeface="Bebas Neue" pitchFamily="34" charset="0"/>
                <a:ea typeface="Bebas Neue" pitchFamily="34" charset="-122"/>
                <a:cs typeface="Bebas Neue" pitchFamily="34" charset="-120"/>
              </a:rPr>
              <a:t>IMPLEMENTATION PLAN</a:t>
            </a:r>
            <a:endParaRPr lang="en-US" sz="5800" dirty="0"/>
          </a:p>
        </p:txBody>
      </p:sp>
      <p:sp>
        <p:nvSpPr>
          <p:cNvPr id="3" name="Text 1"/>
          <p:cNvSpPr txBox="1"/>
          <p:nvPr/>
        </p:nvSpPr>
        <p:spPr>
          <a:xfrm>
            <a:off x="1097280" y="1600200"/>
            <a:ext cx="4206240" cy="320040"/>
          </a:xfrm>
          <a:prstGeom prst="rect">
            <a:avLst/>
          </a:prstGeom>
          <a:noFill/>
          <a:ln/>
        </p:spPr>
        <p:txBody>
          <a:bodyPr wrap="square" lIns="0" tIns="0" rIns="0" bIns="0" rtlCol="0" anchor="ctr"/>
          <a:lstStyle/>
          <a:p>
            <a:pPr indent="0" marL="0">
              <a:buNone/>
            </a:pPr>
            <a:r>
              <a:rPr lang="en-US" sz="1200" b="1" spc="150" kern="0" dirty="0">
                <a:solidFill>
                  <a:srgbClr val="8E7F6E"/>
                </a:solidFill>
                <a:latin typeface="Manrope" pitchFamily="34" charset="0"/>
                <a:ea typeface="Manrope" pitchFamily="34" charset="-122"/>
                <a:cs typeface="Manrope" pitchFamily="34" charset="-120"/>
              </a:rPr>
              <a:t>INISIATIF DAN KPI</a:t>
            </a:r>
            <a:endParaRPr lang="en-US" sz="1200" dirty="0"/>
          </a:p>
        </p:txBody>
      </p:sp>
      <p:sp>
        <p:nvSpPr>
          <p:cNvPr id="4" name="Text 2"/>
          <p:cNvSpPr txBox="1"/>
          <p:nvPr/>
        </p:nvSpPr>
        <p:spPr>
          <a:xfrm>
            <a:off x="5394960" y="1600200"/>
            <a:ext cx="1737360" cy="320040"/>
          </a:xfrm>
          <a:prstGeom prst="rect">
            <a:avLst/>
          </a:prstGeom>
          <a:noFill/>
          <a:ln/>
        </p:spPr>
        <p:txBody>
          <a:bodyPr wrap="square" lIns="0" tIns="0" rIns="0" bIns="0" rtlCol="0" anchor="ctr"/>
          <a:lstStyle/>
          <a:p>
            <a:pPr indent="0" marL="0">
              <a:buNone/>
            </a:pPr>
            <a:r>
              <a:rPr lang="en-US" sz="1200" b="1" spc="150" kern="0" dirty="0">
                <a:solidFill>
                  <a:srgbClr val="8E7F6E"/>
                </a:solidFill>
                <a:latin typeface="Manrope" pitchFamily="34" charset="0"/>
                <a:ea typeface="Manrope" pitchFamily="34" charset="-122"/>
                <a:cs typeface="Manrope" pitchFamily="34" charset="-120"/>
              </a:rPr>
              <a:t>WAKTU</a:t>
            </a:r>
            <a:endParaRPr lang="en-US" sz="1200" dirty="0"/>
          </a:p>
        </p:txBody>
      </p:sp>
      <p:sp>
        <p:nvSpPr>
          <p:cNvPr id="5" name="Text 3"/>
          <p:cNvSpPr txBox="1"/>
          <p:nvPr/>
        </p:nvSpPr>
        <p:spPr>
          <a:xfrm>
            <a:off x="7223760" y="1600200"/>
            <a:ext cx="2194560" cy="320040"/>
          </a:xfrm>
          <a:prstGeom prst="rect">
            <a:avLst/>
          </a:prstGeom>
          <a:noFill/>
          <a:ln/>
        </p:spPr>
        <p:txBody>
          <a:bodyPr wrap="square" lIns="0" tIns="0" rIns="0" bIns="0" rtlCol="0" anchor="ctr"/>
          <a:lstStyle/>
          <a:p>
            <a:pPr indent="0" marL="0">
              <a:buNone/>
            </a:pPr>
            <a:r>
              <a:rPr lang="en-US" sz="1200" b="1" spc="150" kern="0" dirty="0">
                <a:solidFill>
                  <a:srgbClr val="8E7F6E"/>
                </a:solidFill>
                <a:latin typeface="Manrope" pitchFamily="34" charset="0"/>
                <a:ea typeface="Manrope" pitchFamily="34" charset="-122"/>
                <a:cs typeface="Manrope" pitchFamily="34" charset="-120"/>
              </a:rPr>
              <a:t>PENANGGUNG JAWAB</a:t>
            </a:r>
            <a:endParaRPr lang="en-US" sz="1200" dirty="0"/>
          </a:p>
        </p:txBody>
      </p:sp>
      <p:sp>
        <p:nvSpPr>
          <p:cNvPr id="6" name="Shape 4"/>
          <p:cNvSpPr/>
          <p:nvPr/>
        </p:nvSpPr>
        <p:spPr>
          <a:xfrm>
            <a:off x="548640" y="2148840"/>
            <a:ext cx="365760" cy="365760"/>
          </a:xfrm>
          <a:prstGeom prst="rect">
            <a:avLst/>
          </a:prstGeom>
          <a:solidFill>
            <a:srgbClr val="E63E2C"/>
          </a:solidFill>
          <a:ln w="12700">
            <a:solidFill>
              <a:srgbClr val="E63E2C"/>
            </a:solidFill>
            <a:prstDash val="solid"/>
          </a:ln>
        </p:spPr>
      </p:sp>
      <p:sp>
        <p:nvSpPr>
          <p:cNvPr id="7" name="Text 5"/>
          <p:cNvSpPr txBox="1"/>
          <p:nvPr/>
        </p:nvSpPr>
        <p:spPr>
          <a:xfrm>
            <a:off x="548640" y="2148840"/>
            <a:ext cx="365760" cy="365760"/>
          </a:xfrm>
          <a:prstGeom prst="rect">
            <a:avLst/>
          </a:prstGeom>
          <a:noFill/>
          <a:ln/>
        </p:spPr>
        <p:txBody>
          <a:bodyPr wrap="square" lIns="0" tIns="0" rIns="0" bIns="0" rtlCol="0" anchor="ctr"/>
          <a:lstStyle/>
          <a:p>
            <a:pPr algn="ctr" indent="0" marL="0">
              <a:buNone/>
            </a:pPr>
            <a:r>
              <a:rPr lang="en-US" sz="1900" dirty="0">
                <a:solidFill>
                  <a:srgbClr val="FFFFFF"/>
                </a:solidFill>
                <a:latin typeface="Bebas Neue" pitchFamily="34" charset="0"/>
                <a:ea typeface="Bebas Neue" pitchFamily="34" charset="-122"/>
                <a:cs typeface="Bebas Neue" pitchFamily="34" charset="-120"/>
              </a:rPr>
              <a:t>1</a:t>
            </a:r>
            <a:endParaRPr lang="en-US" sz="1900" dirty="0"/>
          </a:p>
        </p:txBody>
      </p:sp>
      <p:sp>
        <p:nvSpPr>
          <p:cNvPr id="8" name="Text 6"/>
          <p:cNvSpPr txBox="1"/>
          <p:nvPr/>
        </p:nvSpPr>
        <p:spPr>
          <a:xfrm>
            <a:off x="1097280" y="2011680"/>
            <a:ext cx="4206240" cy="621792"/>
          </a:xfrm>
          <a:prstGeom prst="rect">
            <a:avLst/>
          </a:prstGeom>
          <a:noFill/>
          <a:ln/>
        </p:spPr>
        <p:txBody>
          <a:bodyPr wrap="square" lIns="0" tIns="0" rIns="0" bIns="0" rtlCol="0" anchor="ctr"/>
          <a:lstStyle/>
          <a:p>
            <a:pPr indent="0" marL="0">
              <a:buNone/>
            </a:pPr>
            <a:r>
              <a:rPr lang="en-US" sz="1800" dirty="0">
                <a:solidFill>
                  <a:srgbClr val="1B1B1B"/>
                </a:solidFill>
                <a:latin typeface="Manrope" pitchFamily="34" charset="0"/>
                <a:ea typeface="Manrope" pitchFamily="34" charset="-122"/>
                <a:cs typeface="Manrope" pitchFamily="34" charset="-120"/>
              </a:rPr>
              <a:t>Opsi 30 persen dan tim gabungan</a:t>
            </a:r>
            <a:endParaRPr lang="en-US" sz="1800" dirty="0"/>
          </a:p>
        </p:txBody>
      </p:sp>
      <p:sp>
        <p:nvSpPr>
          <p:cNvPr id="9" name="Text 7"/>
          <p:cNvSpPr txBox="1"/>
          <p:nvPr/>
        </p:nvSpPr>
        <p:spPr>
          <a:xfrm>
            <a:off x="5394960" y="2011680"/>
            <a:ext cx="1737360" cy="621792"/>
          </a:xfrm>
          <a:prstGeom prst="rect">
            <a:avLst/>
          </a:prstGeom>
          <a:noFill/>
          <a:ln/>
        </p:spPr>
        <p:txBody>
          <a:bodyPr wrap="square" lIns="0" tIns="0" rIns="0" bIns="0" rtlCol="0" anchor="ctr"/>
          <a:lstStyle/>
          <a:p>
            <a:pPr indent="0" marL="0">
              <a:buNone/>
            </a:pPr>
            <a:r>
              <a:rPr lang="en-US" sz="1800" dirty="0">
                <a:solidFill>
                  <a:srgbClr val="1B1B1B"/>
                </a:solidFill>
                <a:latin typeface="Manrope" pitchFamily="34" charset="0"/>
                <a:ea typeface="Manrope" pitchFamily="34" charset="-122"/>
                <a:cs typeface="Manrope" pitchFamily="34" charset="-120"/>
              </a:rPr>
              <a:t>Q4 2009</a:t>
            </a:r>
            <a:endParaRPr lang="en-US" sz="1800" dirty="0"/>
          </a:p>
        </p:txBody>
      </p:sp>
      <p:sp>
        <p:nvSpPr>
          <p:cNvPr id="10" name="Text 8"/>
          <p:cNvSpPr txBox="1"/>
          <p:nvPr/>
        </p:nvSpPr>
        <p:spPr>
          <a:xfrm>
            <a:off x="7223760" y="2011680"/>
            <a:ext cx="2194560" cy="621792"/>
          </a:xfrm>
          <a:prstGeom prst="rect">
            <a:avLst/>
          </a:prstGeom>
          <a:noFill/>
          <a:ln/>
        </p:spPr>
        <p:txBody>
          <a:bodyPr wrap="square" lIns="0" tIns="0" rIns="0" bIns="0" rtlCol="0" anchor="ctr"/>
          <a:lstStyle/>
          <a:p>
            <a:pPr indent="0" marL="0">
              <a:buNone/>
            </a:pPr>
            <a:r>
              <a:rPr lang="en-US" sz="1800" dirty="0">
                <a:solidFill>
                  <a:srgbClr val="1B1B1B"/>
                </a:solidFill>
                <a:latin typeface="Manrope" pitchFamily="34" charset="0"/>
                <a:ea typeface="Manrope" pitchFamily="34" charset="-122"/>
                <a:cs typeface="Manrope" pitchFamily="34" charset="-120"/>
              </a:rPr>
              <a:t>CEO dan Dewan</a:t>
            </a:r>
            <a:endParaRPr lang="en-US" sz="1800" dirty="0"/>
          </a:p>
        </p:txBody>
      </p:sp>
      <p:sp>
        <p:nvSpPr>
          <p:cNvPr id="11" name="Shape 9"/>
          <p:cNvSpPr/>
          <p:nvPr/>
        </p:nvSpPr>
        <p:spPr>
          <a:xfrm>
            <a:off x="548640" y="2633472"/>
            <a:ext cx="8869680" cy="18288"/>
          </a:xfrm>
          <a:prstGeom prst="rect">
            <a:avLst/>
          </a:prstGeom>
          <a:solidFill>
            <a:srgbClr val="D9CBB8"/>
          </a:solidFill>
          <a:ln w="12700">
            <a:solidFill>
              <a:srgbClr val="D9CBB8"/>
            </a:solidFill>
            <a:prstDash val="solid"/>
          </a:ln>
        </p:spPr>
      </p:sp>
      <p:sp>
        <p:nvSpPr>
          <p:cNvPr id="12" name="Shape 10"/>
          <p:cNvSpPr/>
          <p:nvPr/>
        </p:nvSpPr>
        <p:spPr>
          <a:xfrm>
            <a:off x="548640" y="2770632"/>
            <a:ext cx="365760" cy="365760"/>
          </a:xfrm>
          <a:prstGeom prst="rect">
            <a:avLst/>
          </a:prstGeom>
          <a:solidFill>
            <a:srgbClr val="2C7BB8"/>
          </a:solidFill>
          <a:ln w="12700">
            <a:solidFill>
              <a:srgbClr val="2C7BB8"/>
            </a:solidFill>
            <a:prstDash val="solid"/>
          </a:ln>
        </p:spPr>
      </p:sp>
      <p:sp>
        <p:nvSpPr>
          <p:cNvPr id="13" name="Text 11"/>
          <p:cNvSpPr txBox="1"/>
          <p:nvPr/>
        </p:nvSpPr>
        <p:spPr>
          <a:xfrm>
            <a:off x="548640" y="2770632"/>
            <a:ext cx="365760" cy="365760"/>
          </a:xfrm>
          <a:prstGeom prst="rect">
            <a:avLst/>
          </a:prstGeom>
          <a:noFill/>
          <a:ln/>
        </p:spPr>
        <p:txBody>
          <a:bodyPr wrap="square" lIns="0" tIns="0" rIns="0" bIns="0" rtlCol="0" anchor="ctr"/>
          <a:lstStyle/>
          <a:p>
            <a:pPr algn="ctr" indent="0" marL="0">
              <a:buNone/>
            </a:pPr>
            <a:r>
              <a:rPr lang="en-US" sz="1900" dirty="0">
                <a:solidFill>
                  <a:srgbClr val="FFFFFF"/>
                </a:solidFill>
                <a:latin typeface="Bebas Neue" pitchFamily="34" charset="0"/>
                <a:ea typeface="Bebas Neue" pitchFamily="34" charset="-122"/>
                <a:cs typeface="Bebas Neue" pitchFamily="34" charset="-120"/>
              </a:rPr>
              <a:t>2</a:t>
            </a:r>
            <a:endParaRPr lang="en-US" sz="1900" dirty="0"/>
          </a:p>
        </p:txBody>
      </p:sp>
      <p:sp>
        <p:nvSpPr>
          <p:cNvPr id="14" name="Text 12"/>
          <p:cNvSpPr txBox="1"/>
          <p:nvPr/>
        </p:nvSpPr>
        <p:spPr>
          <a:xfrm>
            <a:off x="1097280" y="2633472"/>
            <a:ext cx="4206240" cy="621792"/>
          </a:xfrm>
          <a:prstGeom prst="rect">
            <a:avLst/>
          </a:prstGeom>
          <a:noFill/>
          <a:ln/>
        </p:spPr>
        <p:txBody>
          <a:bodyPr wrap="square" lIns="0" tIns="0" rIns="0" bIns="0" rtlCol="0" anchor="ctr"/>
          <a:lstStyle/>
          <a:p>
            <a:pPr indent="0" marL="0">
              <a:buNone/>
            </a:pPr>
            <a:r>
              <a:rPr lang="en-US" sz="1800" dirty="0">
                <a:solidFill>
                  <a:srgbClr val="1B1B1B"/>
                </a:solidFill>
                <a:latin typeface="Manrope" pitchFamily="34" charset="0"/>
                <a:ea typeface="Manrope" pitchFamily="34" charset="-122"/>
                <a:cs typeface="Manrope" pitchFamily="34" charset="-120"/>
              </a:rPr>
              <a:t>Rute 4 s.d. 8 jam; </a:t>
            </a:r>
            <a:r>
              <a:rPr lang="en-US" sz="1800" b="1" dirty="0">
                <a:solidFill>
                  <a:srgbClr val="1B1B1B"/>
                </a:solidFill>
                <a:highlight>
                  <a:srgbClr val="FFE066"/>
                </a:highlight>
                <a:latin typeface="Manrope" pitchFamily="34" charset="0"/>
                <a:ea typeface="Manrope" pitchFamily="34" charset="-122"/>
                <a:cs typeface="Manrope" pitchFamily="34" charset="-120"/>
              </a:rPr>
              <a:t>load factor &gt; 85%</a:t>
            </a:r>
            <a:endParaRPr lang="en-US" sz="1800" dirty="0"/>
          </a:p>
        </p:txBody>
      </p:sp>
      <p:sp>
        <p:nvSpPr>
          <p:cNvPr id="15" name="Text 13"/>
          <p:cNvSpPr txBox="1"/>
          <p:nvPr/>
        </p:nvSpPr>
        <p:spPr>
          <a:xfrm>
            <a:off x="5394960" y="2633472"/>
            <a:ext cx="1737360" cy="621792"/>
          </a:xfrm>
          <a:prstGeom prst="rect">
            <a:avLst/>
          </a:prstGeom>
          <a:noFill/>
          <a:ln/>
        </p:spPr>
        <p:txBody>
          <a:bodyPr wrap="square" lIns="0" tIns="0" rIns="0" bIns="0" rtlCol="0" anchor="ctr"/>
          <a:lstStyle/>
          <a:p>
            <a:pPr indent="0" marL="0">
              <a:buNone/>
            </a:pPr>
            <a:r>
              <a:rPr lang="en-US" sz="1800" dirty="0">
                <a:solidFill>
                  <a:srgbClr val="1B1B1B"/>
                </a:solidFill>
                <a:latin typeface="Manrope" pitchFamily="34" charset="0"/>
                <a:ea typeface="Manrope" pitchFamily="34" charset="-122"/>
                <a:cs typeface="Manrope" pitchFamily="34" charset="-120"/>
              </a:rPr>
              <a:t>2010 s.d. 2011</a:t>
            </a:r>
            <a:endParaRPr lang="en-US" sz="1800" dirty="0"/>
          </a:p>
        </p:txBody>
      </p:sp>
      <p:sp>
        <p:nvSpPr>
          <p:cNvPr id="16" name="Text 14"/>
          <p:cNvSpPr txBox="1"/>
          <p:nvPr/>
        </p:nvSpPr>
        <p:spPr>
          <a:xfrm>
            <a:off x="7223760" y="2633472"/>
            <a:ext cx="2194560" cy="621792"/>
          </a:xfrm>
          <a:prstGeom prst="rect">
            <a:avLst/>
          </a:prstGeom>
          <a:noFill/>
          <a:ln/>
        </p:spPr>
        <p:txBody>
          <a:bodyPr wrap="square" lIns="0" tIns="0" rIns="0" bIns="0" rtlCol="0" anchor="ctr"/>
          <a:lstStyle/>
          <a:p>
            <a:pPr indent="0" marL="0">
              <a:buNone/>
            </a:pPr>
            <a:r>
              <a:rPr lang="en-US" sz="1800" dirty="0">
                <a:solidFill>
                  <a:srgbClr val="1B1B1B"/>
                </a:solidFill>
                <a:latin typeface="Manrope" pitchFamily="34" charset="0"/>
                <a:ea typeface="Manrope" pitchFamily="34" charset="-122"/>
                <a:cs typeface="Manrope" pitchFamily="34" charset="-120"/>
              </a:rPr>
              <a:t>CEO AirAsia X</a:t>
            </a:r>
            <a:endParaRPr lang="en-US" sz="1800" dirty="0"/>
          </a:p>
        </p:txBody>
      </p:sp>
      <p:sp>
        <p:nvSpPr>
          <p:cNvPr id="17" name="Shape 15"/>
          <p:cNvSpPr/>
          <p:nvPr/>
        </p:nvSpPr>
        <p:spPr>
          <a:xfrm>
            <a:off x="548640" y="3255264"/>
            <a:ext cx="8869680" cy="18288"/>
          </a:xfrm>
          <a:prstGeom prst="rect">
            <a:avLst/>
          </a:prstGeom>
          <a:solidFill>
            <a:srgbClr val="D9CBB8"/>
          </a:solidFill>
          <a:ln w="12700">
            <a:solidFill>
              <a:srgbClr val="D9CBB8"/>
            </a:solidFill>
            <a:prstDash val="solid"/>
          </a:ln>
        </p:spPr>
      </p:sp>
      <p:sp>
        <p:nvSpPr>
          <p:cNvPr id="18" name="Shape 16"/>
          <p:cNvSpPr/>
          <p:nvPr/>
        </p:nvSpPr>
        <p:spPr>
          <a:xfrm>
            <a:off x="548640" y="3392424"/>
            <a:ext cx="365760" cy="365760"/>
          </a:xfrm>
          <a:prstGeom prst="rect">
            <a:avLst/>
          </a:prstGeom>
          <a:solidFill>
            <a:srgbClr val="F4C430"/>
          </a:solidFill>
          <a:ln w="12700">
            <a:solidFill>
              <a:srgbClr val="F4C430"/>
            </a:solidFill>
            <a:prstDash val="solid"/>
          </a:ln>
        </p:spPr>
      </p:sp>
      <p:sp>
        <p:nvSpPr>
          <p:cNvPr id="19" name="Text 17"/>
          <p:cNvSpPr txBox="1"/>
          <p:nvPr/>
        </p:nvSpPr>
        <p:spPr>
          <a:xfrm>
            <a:off x="548640" y="3392424"/>
            <a:ext cx="365760" cy="365760"/>
          </a:xfrm>
          <a:prstGeom prst="rect">
            <a:avLst/>
          </a:prstGeom>
          <a:noFill/>
          <a:ln/>
        </p:spPr>
        <p:txBody>
          <a:bodyPr wrap="square" lIns="0" tIns="0" rIns="0" bIns="0" rtlCol="0" anchor="ctr"/>
          <a:lstStyle/>
          <a:p>
            <a:pPr algn="ctr" indent="0" marL="0">
              <a:buNone/>
            </a:pPr>
            <a:r>
              <a:rPr lang="en-US" sz="1900" dirty="0">
                <a:solidFill>
                  <a:srgbClr val="1B1B1B"/>
                </a:solidFill>
                <a:latin typeface="Bebas Neue" pitchFamily="34" charset="0"/>
                <a:ea typeface="Bebas Neue" pitchFamily="34" charset="-122"/>
                <a:cs typeface="Bebas Neue" pitchFamily="34" charset="-120"/>
              </a:rPr>
              <a:t>3</a:t>
            </a:r>
            <a:endParaRPr lang="en-US" sz="1900" dirty="0"/>
          </a:p>
        </p:txBody>
      </p:sp>
      <p:sp>
        <p:nvSpPr>
          <p:cNvPr id="20" name="Text 18"/>
          <p:cNvSpPr txBox="1"/>
          <p:nvPr/>
        </p:nvSpPr>
        <p:spPr>
          <a:xfrm>
            <a:off x="1097280" y="3255264"/>
            <a:ext cx="4206240" cy="621792"/>
          </a:xfrm>
          <a:prstGeom prst="rect">
            <a:avLst/>
          </a:prstGeom>
          <a:noFill/>
          <a:ln/>
        </p:spPr>
        <p:txBody>
          <a:bodyPr wrap="square" lIns="0" tIns="0" rIns="0" bIns="0" rtlCol="0" anchor="ctr"/>
          <a:lstStyle/>
          <a:p>
            <a:pPr indent="0" marL="0">
              <a:buNone/>
            </a:pPr>
            <a:r>
              <a:rPr lang="en-US" sz="1800" dirty="0">
                <a:solidFill>
                  <a:srgbClr val="1B1B1B"/>
                </a:solidFill>
                <a:latin typeface="Manrope" pitchFamily="34" charset="0"/>
                <a:ea typeface="Manrope" pitchFamily="34" charset="-122"/>
                <a:cs typeface="Manrope" pitchFamily="34" charset="-120"/>
              </a:rPr>
              <a:t>Feeder KL; transit &gt; 25%</a:t>
            </a:r>
            <a:endParaRPr lang="en-US" sz="1800" dirty="0"/>
          </a:p>
        </p:txBody>
      </p:sp>
      <p:sp>
        <p:nvSpPr>
          <p:cNvPr id="21" name="Text 19"/>
          <p:cNvSpPr txBox="1"/>
          <p:nvPr/>
        </p:nvSpPr>
        <p:spPr>
          <a:xfrm>
            <a:off x="5394960" y="3255264"/>
            <a:ext cx="1737360" cy="621792"/>
          </a:xfrm>
          <a:prstGeom prst="rect">
            <a:avLst/>
          </a:prstGeom>
          <a:noFill/>
          <a:ln/>
        </p:spPr>
        <p:txBody>
          <a:bodyPr wrap="square" lIns="0" tIns="0" rIns="0" bIns="0" rtlCol="0" anchor="ctr"/>
          <a:lstStyle/>
          <a:p>
            <a:pPr indent="0" marL="0">
              <a:buNone/>
            </a:pPr>
            <a:r>
              <a:rPr lang="en-US" sz="1800" dirty="0">
                <a:solidFill>
                  <a:srgbClr val="1B1B1B"/>
                </a:solidFill>
                <a:latin typeface="Manrope" pitchFamily="34" charset="0"/>
                <a:ea typeface="Manrope" pitchFamily="34" charset="-122"/>
                <a:cs typeface="Manrope" pitchFamily="34" charset="-120"/>
              </a:rPr>
              <a:t>2010</a:t>
            </a:r>
            <a:endParaRPr lang="en-US" sz="1800" dirty="0"/>
          </a:p>
        </p:txBody>
      </p:sp>
      <p:sp>
        <p:nvSpPr>
          <p:cNvPr id="22" name="Text 20"/>
          <p:cNvSpPr txBox="1"/>
          <p:nvPr/>
        </p:nvSpPr>
        <p:spPr>
          <a:xfrm>
            <a:off x="7223760" y="3255264"/>
            <a:ext cx="2194560" cy="621792"/>
          </a:xfrm>
          <a:prstGeom prst="rect">
            <a:avLst/>
          </a:prstGeom>
          <a:noFill/>
          <a:ln/>
        </p:spPr>
        <p:txBody>
          <a:bodyPr wrap="square" lIns="0" tIns="0" rIns="0" bIns="0" rtlCol="0" anchor="ctr"/>
          <a:lstStyle/>
          <a:p>
            <a:pPr indent="0" marL="0">
              <a:buNone/>
            </a:pPr>
            <a:r>
              <a:rPr lang="en-US" sz="1800" dirty="0">
                <a:solidFill>
                  <a:srgbClr val="1B1B1B"/>
                </a:solidFill>
                <a:latin typeface="Manrope" pitchFamily="34" charset="0"/>
                <a:ea typeface="Manrope" pitchFamily="34" charset="-122"/>
                <a:cs typeface="Manrope" pitchFamily="34" charset="-120"/>
              </a:rPr>
              <a:t>Dir. Komersial</a:t>
            </a:r>
            <a:endParaRPr lang="en-US" sz="1800" dirty="0"/>
          </a:p>
        </p:txBody>
      </p:sp>
      <p:sp>
        <p:nvSpPr>
          <p:cNvPr id="23" name="Shape 21"/>
          <p:cNvSpPr/>
          <p:nvPr/>
        </p:nvSpPr>
        <p:spPr>
          <a:xfrm>
            <a:off x="548640" y="3877056"/>
            <a:ext cx="8869680" cy="18288"/>
          </a:xfrm>
          <a:prstGeom prst="rect">
            <a:avLst/>
          </a:prstGeom>
          <a:solidFill>
            <a:srgbClr val="D9CBB8"/>
          </a:solidFill>
          <a:ln w="12700">
            <a:solidFill>
              <a:srgbClr val="D9CBB8"/>
            </a:solidFill>
            <a:prstDash val="solid"/>
          </a:ln>
        </p:spPr>
      </p:sp>
      <p:sp>
        <p:nvSpPr>
          <p:cNvPr id="24" name="Shape 22"/>
          <p:cNvSpPr/>
          <p:nvPr/>
        </p:nvSpPr>
        <p:spPr>
          <a:xfrm>
            <a:off x="548640" y="4014216"/>
            <a:ext cx="365760" cy="365760"/>
          </a:xfrm>
          <a:prstGeom prst="rect">
            <a:avLst/>
          </a:prstGeom>
          <a:solidFill>
            <a:srgbClr val="1B1B1B"/>
          </a:solidFill>
          <a:ln w="12700">
            <a:solidFill>
              <a:srgbClr val="1B1B1B"/>
            </a:solidFill>
            <a:prstDash val="solid"/>
          </a:ln>
        </p:spPr>
      </p:sp>
      <p:sp>
        <p:nvSpPr>
          <p:cNvPr id="25" name="Text 23"/>
          <p:cNvSpPr txBox="1"/>
          <p:nvPr/>
        </p:nvSpPr>
        <p:spPr>
          <a:xfrm>
            <a:off x="548640" y="4014216"/>
            <a:ext cx="365760" cy="365760"/>
          </a:xfrm>
          <a:prstGeom prst="rect">
            <a:avLst/>
          </a:prstGeom>
          <a:noFill/>
          <a:ln/>
        </p:spPr>
        <p:txBody>
          <a:bodyPr wrap="square" lIns="0" tIns="0" rIns="0" bIns="0" rtlCol="0" anchor="ctr"/>
          <a:lstStyle/>
          <a:p>
            <a:pPr algn="ctr" indent="0" marL="0">
              <a:buNone/>
            </a:pPr>
            <a:r>
              <a:rPr lang="en-US" sz="1900" dirty="0">
                <a:solidFill>
                  <a:srgbClr val="FFFFFF"/>
                </a:solidFill>
                <a:latin typeface="Bebas Neue" pitchFamily="34" charset="0"/>
                <a:ea typeface="Bebas Neue" pitchFamily="34" charset="-122"/>
                <a:cs typeface="Bebas Neue" pitchFamily="34" charset="-120"/>
              </a:rPr>
              <a:t>4</a:t>
            </a:r>
            <a:endParaRPr lang="en-US" sz="1900" dirty="0"/>
          </a:p>
        </p:txBody>
      </p:sp>
      <p:sp>
        <p:nvSpPr>
          <p:cNvPr id="26" name="Text 24"/>
          <p:cNvSpPr txBox="1"/>
          <p:nvPr/>
        </p:nvSpPr>
        <p:spPr>
          <a:xfrm>
            <a:off x="1097280" y="3877056"/>
            <a:ext cx="4206240" cy="621792"/>
          </a:xfrm>
          <a:prstGeom prst="rect">
            <a:avLst/>
          </a:prstGeom>
          <a:noFill/>
          <a:ln/>
        </p:spPr>
        <p:txBody>
          <a:bodyPr wrap="square" lIns="0" tIns="0" rIns="0" bIns="0" rtlCol="0" anchor="ctr"/>
          <a:lstStyle/>
          <a:p>
            <a:pPr indent="0" marL="0">
              <a:buNone/>
            </a:pPr>
            <a:r>
              <a:rPr lang="en-US" sz="1800" b="1" dirty="0">
                <a:solidFill>
                  <a:srgbClr val="1B1B1B"/>
                </a:solidFill>
                <a:highlight>
                  <a:srgbClr val="FFE066"/>
                </a:highlight>
                <a:latin typeface="Manrope" pitchFamily="34" charset="0"/>
                <a:ea typeface="Manrope" pitchFamily="34" charset="-122"/>
                <a:cs typeface="Manrope" pitchFamily="34" charset="-120"/>
              </a:rPr>
              <a:t>Hedging BBM</a:t>
            </a:r>
            <a:r>
              <a:rPr lang="en-US" sz="1800" dirty="0">
                <a:solidFill>
                  <a:srgbClr val="1B1B1B"/>
                </a:solidFill>
                <a:latin typeface="Manrope" pitchFamily="34" charset="0"/>
                <a:ea typeface="Manrope" pitchFamily="34" charset="-122"/>
                <a:cs typeface="Manrope" pitchFamily="34" charset="-120"/>
              </a:rPr>
              <a:t> 30 sampai 50 persen</a:t>
            </a:r>
            <a:endParaRPr lang="en-US" sz="1800" dirty="0"/>
          </a:p>
        </p:txBody>
      </p:sp>
      <p:sp>
        <p:nvSpPr>
          <p:cNvPr id="27" name="Text 25"/>
          <p:cNvSpPr txBox="1"/>
          <p:nvPr/>
        </p:nvSpPr>
        <p:spPr>
          <a:xfrm>
            <a:off x="5394960" y="3877056"/>
            <a:ext cx="1737360" cy="621792"/>
          </a:xfrm>
          <a:prstGeom prst="rect">
            <a:avLst/>
          </a:prstGeom>
          <a:noFill/>
          <a:ln/>
        </p:spPr>
        <p:txBody>
          <a:bodyPr wrap="square" lIns="0" tIns="0" rIns="0" bIns="0" rtlCol="0" anchor="ctr"/>
          <a:lstStyle/>
          <a:p>
            <a:pPr indent="0" marL="0">
              <a:buNone/>
            </a:pPr>
            <a:r>
              <a:rPr lang="en-US" sz="1800" dirty="0">
                <a:solidFill>
                  <a:srgbClr val="1B1B1B"/>
                </a:solidFill>
                <a:latin typeface="Manrope" pitchFamily="34" charset="0"/>
                <a:ea typeface="Manrope" pitchFamily="34" charset="-122"/>
                <a:cs typeface="Manrope" pitchFamily="34" charset="-120"/>
              </a:rPr>
              <a:t>Segera</a:t>
            </a:r>
            <a:endParaRPr lang="en-US" sz="1800" dirty="0"/>
          </a:p>
        </p:txBody>
      </p:sp>
      <p:sp>
        <p:nvSpPr>
          <p:cNvPr id="28" name="Text 26"/>
          <p:cNvSpPr txBox="1"/>
          <p:nvPr/>
        </p:nvSpPr>
        <p:spPr>
          <a:xfrm>
            <a:off x="7223760" y="3877056"/>
            <a:ext cx="2194560" cy="621792"/>
          </a:xfrm>
          <a:prstGeom prst="rect">
            <a:avLst/>
          </a:prstGeom>
          <a:noFill/>
          <a:ln/>
        </p:spPr>
        <p:txBody>
          <a:bodyPr wrap="square" lIns="0" tIns="0" rIns="0" bIns="0" rtlCol="0" anchor="ctr"/>
          <a:lstStyle/>
          <a:p>
            <a:pPr indent="0" marL="0">
              <a:buNone/>
            </a:pPr>
            <a:r>
              <a:rPr lang="en-US" sz="1800" dirty="0">
                <a:solidFill>
                  <a:srgbClr val="1B1B1B"/>
                </a:solidFill>
                <a:latin typeface="Manrope" pitchFamily="34" charset="0"/>
                <a:ea typeface="Manrope" pitchFamily="34" charset="-122"/>
                <a:cs typeface="Manrope" pitchFamily="34" charset="-120"/>
              </a:rPr>
              <a:t>CFO, Komite Risiko</a:t>
            </a:r>
            <a:endParaRPr lang="en-US" sz="1800" dirty="0"/>
          </a:p>
        </p:txBody>
      </p:sp>
      <p:sp>
        <p:nvSpPr>
          <p:cNvPr id="29" name="Shape 27"/>
          <p:cNvSpPr/>
          <p:nvPr/>
        </p:nvSpPr>
        <p:spPr>
          <a:xfrm>
            <a:off x="548640" y="4498848"/>
            <a:ext cx="8869680" cy="18288"/>
          </a:xfrm>
          <a:prstGeom prst="rect">
            <a:avLst/>
          </a:prstGeom>
          <a:solidFill>
            <a:srgbClr val="D9CBB8"/>
          </a:solidFill>
          <a:ln w="12700">
            <a:solidFill>
              <a:srgbClr val="D9CBB8"/>
            </a:solidFill>
            <a:prstDash val="solid"/>
          </a:ln>
        </p:spPr>
      </p:sp>
      <p:sp>
        <p:nvSpPr>
          <p:cNvPr id="30" name="Shape 28"/>
          <p:cNvSpPr/>
          <p:nvPr/>
        </p:nvSpPr>
        <p:spPr>
          <a:xfrm>
            <a:off x="548640" y="4636008"/>
            <a:ext cx="365760" cy="365760"/>
          </a:xfrm>
          <a:prstGeom prst="rect">
            <a:avLst/>
          </a:prstGeom>
          <a:solidFill>
            <a:srgbClr val="E63E2C"/>
          </a:solidFill>
          <a:ln w="12700">
            <a:solidFill>
              <a:srgbClr val="E63E2C"/>
            </a:solidFill>
            <a:prstDash val="solid"/>
          </a:ln>
        </p:spPr>
      </p:sp>
      <p:sp>
        <p:nvSpPr>
          <p:cNvPr id="31" name="Text 29"/>
          <p:cNvSpPr txBox="1"/>
          <p:nvPr/>
        </p:nvSpPr>
        <p:spPr>
          <a:xfrm>
            <a:off x="548640" y="4636008"/>
            <a:ext cx="365760" cy="365760"/>
          </a:xfrm>
          <a:prstGeom prst="rect">
            <a:avLst/>
          </a:prstGeom>
          <a:noFill/>
          <a:ln/>
        </p:spPr>
        <p:txBody>
          <a:bodyPr wrap="square" lIns="0" tIns="0" rIns="0" bIns="0" rtlCol="0" anchor="ctr"/>
          <a:lstStyle/>
          <a:p>
            <a:pPr algn="ctr" indent="0" marL="0">
              <a:buNone/>
            </a:pPr>
            <a:r>
              <a:rPr lang="en-US" sz="1900" dirty="0">
                <a:solidFill>
                  <a:srgbClr val="FFFFFF"/>
                </a:solidFill>
                <a:latin typeface="Bebas Neue" pitchFamily="34" charset="0"/>
                <a:ea typeface="Bebas Neue" pitchFamily="34" charset="-122"/>
                <a:cs typeface="Bebas Neue" pitchFamily="34" charset="-120"/>
              </a:rPr>
              <a:t>5</a:t>
            </a:r>
            <a:endParaRPr lang="en-US" sz="1900" dirty="0"/>
          </a:p>
        </p:txBody>
      </p:sp>
      <p:sp>
        <p:nvSpPr>
          <p:cNvPr id="32" name="Text 30"/>
          <p:cNvSpPr txBox="1"/>
          <p:nvPr/>
        </p:nvSpPr>
        <p:spPr>
          <a:xfrm>
            <a:off x="1097280" y="4498848"/>
            <a:ext cx="4206240" cy="621792"/>
          </a:xfrm>
          <a:prstGeom prst="rect">
            <a:avLst/>
          </a:prstGeom>
          <a:noFill/>
          <a:ln/>
        </p:spPr>
        <p:txBody>
          <a:bodyPr wrap="square" lIns="0" tIns="0" rIns="0" bIns="0" rtlCol="0" anchor="ctr"/>
          <a:lstStyle/>
          <a:p>
            <a:pPr indent="0" marL="0">
              <a:buNone/>
            </a:pPr>
            <a:r>
              <a:rPr lang="en-US" sz="1800" dirty="0">
                <a:solidFill>
                  <a:srgbClr val="1B1B1B"/>
                </a:solidFill>
                <a:latin typeface="Manrope" pitchFamily="34" charset="0"/>
                <a:ea typeface="Manrope" pitchFamily="34" charset="-122"/>
                <a:cs typeface="Manrope" pitchFamily="34" charset="-120"/>
              </a:rPr>
              <a:t>Utang/ekuitas &lt; 3 kali sebelum A350</a:t>
            </a:r>
            <a:endParaRPr lang="en-US" sz="1800" dirty="0"/>
          </a:p>
        </p:txBody>
      </p:sp>
      <p:sp>
        <p:nvSpPr>
          <p:cNvPr id="33" name="Text 31"/>
          <p:cNvSpPr txBox="1"/>
          <p:nvPr/>
        </p:nvSpPr>
        <p:spPr>
          <a:xfrm>
            <a:off x="5394960" y="4498848"/>
            <a:ext cx="1737360" cy="621792"/>
          </a:xfrm>
          <a:prstGeom prst="rect">
            <a:avLst/>
          </a:prstGeom>
          <a:noFill/>
          <a:ln/>
        </p:spPr>
        <p:txBody>
          <a:bodyPr wrap="square" lIns="0" tIns="0" rIns="0" bIns="0" rtlCol="0" anchor="ctr"/>
          <a:lstStyle/>
          <a:p>
            <a:pPr indent="0" marL="0">
              <a:buNone/>
            </a:pPr>
            <a:r>
              <a:rPr lang="en-US" sz="1800" dirty="0">
                <a:solidFill>
                  <a:srgbClr val="1B1B1B"/>
                </a:solidFill>
                <a:latin typeface="Manrope" pitchFamily="34" charset="0"/>
                <a:ea typeface="Manrope" pitchFamily="34" charset="-122"/>
                <a:cs typeface="Manrope" pitchFamily="34" charset="-120"/>
              </a:rPr>
              <a:t>2010 s.d. 2015</a:t>
            </a:r>
            <a:endParaRPr lang="en-US" sz="1800" dirty="0"/>
          </a:p>
        </p:txBody>
      </p:sp>
      <p:sp>
        <p:nvSpPr>
          <p:cNvPr id="34" name="Text 32"/>
          <p:cNvSpPr txBox="1"/>
          <p:nvPr/>
        </p:nvSpPr>
        <p:spPr>
          <a:xfrm>
            <a:off x="7223760" y="4498848"/>
            <a:ext cx="2194560" cy="621792"/>
          </a:xfrm>
          <a:prstGeom prst="rect">
            <a:avLst/>
          </a:prstGeom>
          <a:noFill/>
          <a:ln/>
        </p:spPr>
        <p:txBody>
          <a:bodyPr wrap="square" lIns="0" tIns="0" rIns="0" bIns="0" rtlCol="0" anchor="ctr"/>
          <a:lstStyle/>
          <a:p>
            <a:pPr indent="0" marL="0">
              <a:buNone/>
            </a:pPr>
            <a:r>
              <a:rPr lang="en-US" sz="1800" dirty="0">
                <a:solidFill>
                  <a:srgbClr val="1B1B1B"/>
                </a:solidFill>
                <a:latin typeface="Manrope" pitchFamily="34" charset="0"/>
                <a:ea typeface="Manrope" pitchFamily="34" charset="-122"/>
                <a:cs typeface="Manrope" pitchFamily="34" charset="-120"/>
              </a:rPr>
              <a:t>CFO</a:t>
            </a:r>
            <a:endParaRPr lang="en-US" sz="1800" dirty="0"/>
          </a:p>
        </p:txBody>
      </p:sp>
      <p:sp>
        <p:nvSpPr>
          <p:cNvPr id="35" name="Shape 33"/>
          <p:cNvSpPr/>
          <p:nvPr/>
        </p:nvSpPr>
        <p:spPr>
          <a:xfrm>
            <a:off x="548640" y="5120640"/>
            <a:ext cx="8869680" cy="18288"/>
          </a:xfrm>
          <a:prstGeom prst="rect">
            <a:avLst/>
          </a:prstGeom>
          <a:solidFill>
            <a:srgbClr val="D9CBB8"/>
          </a:solidFill>
          <a:ln w="12700">
            <a:solidFill>
              <a:srgbClr val="D9CBB8"/>
            </a:solidFill>
            <a:prstDash val="solid"/>
          </a:ln>
        </p:spPr>
      </p:sp>
      <p:sp>
        <p:nvSpPr>
          <p:cNvPr id="36" name="Shape 34"/>
          <p:cNvSpPr/>
          <p:nvPr/>
        </p:nvSpPr>
        <p:spPr>
          <a:xfrm>
            <a:off x="548640" y="5257800"/>
            <a:ext cx="365760" cy="365760"/>
          </a:xfrm>
          <a:prstGeom prst="rect">
            <a:avLst/>
          </a:prstGeom>
          <a:solidFill>
            <a:srgbClr val="2C7BB8"/>
          </a:solidFill>
          <a:ln w="12700">
            <a:solidFill>
              <a:srgbClr val="2C7BB8"/>
            </a:solidFill>
            <a:prstDash val="solid"/>
          </a:ln>
        </p:spPr>
      </p:sp>
      <p:sp>
        <p:nvSpPr>
          <p:cNvPr id="37" name="Text 35"/>
          <p:cNvSpPr txBox="1"/>
          <p:nvPr/>
        </p:nvSpPr>
        <p:spPr>
          <a:xfrm>
            <a:off x="548640" y="5257800"/>
            <a:ext cx="365760" cy="365760"/>
          </a:xfrm>
          <a:prstGeom prst="rect">
            <a:avLst/>
          </a:prstGeom>
          <a:noFill/>
          <a:ln/>
        </p:spPr>
        <p:txBody>
          <a:bodyPr wrap="square" lIns="0" tIns="0" rIns="0" bIns="0" rtlCol="0" anchor="ctr"/>
          <a:lstStyle/>
          <a:p>
            <a:pPr algn="ctr" indent="0" marL="0">
              <a:buNone/>
            </a:pPr>
            <a:r>
              <a:rPr lang="en-US" sz="1900" dirty="0">
                <a:solidFill>
                  <a:srgbClr val="FFFFFF"/>
                </a:solidFill>
                <a:latin typeface="Bebas Neue" pitchFamily="34" charset="0"/>
                <a:ea typeface="Bebas Neue" pitchFamily="34" charset="-122"/>
                <a:cs typeface="Bebas Neue" pitchFamily="34" charset="-120"/>
              </a:rPr>
              <a:t>6</a:t>
            </a:r>
            <a:endParaRPr lang="en-US" sz="1900" dirty="0"/>
          </a:p>
        </p:txBody>
      </p:sp>
      <p:sp>
        <p:nvSpPr>
          <p:cNvPr id="38" name="Text 36"/>
          <p:cNvSpPr txBox="1"/>
          <p:nvPr/>
        </p:nvSpPr>
        <p:spPr>
          <a:xfrm>
            <a:off x="1097280" y="5120640"/>
            <a:ext cx="4206240" cy="621792"/>
          </a:xfrm>
          <a:prstGeom prst="rect">
            <a:avLst/>
          </a:prstGeom>
          <a:noFill/>
          <a:ln/>
        </p:spPr>
        <p:txBody>
          <a:bodyPr wrap="square" lIns="0" tIns="0" rIns="0" bIns="0" rtlCol="0" anchor="ctr"/>
          <a:lstStyle/>
          <a:p>
            <a:pPr indent="0" marL="0">
              <a:buNone/>
            </a:pPr>
            <a:r>
              <a:rPr lang="en-US" sz="1800" b="1" dirty="0">
                <a:solidFill>
                  <a:srgbClr val="1B1B1B"/>
                </a:solidFill>
                <a:highlight>
                  <a:srgbClr val="FFE066"/>
                </a:highlight>
                <a:latin typeface="Manrope" pitchFamily="34" charset="0"/>
                <a:ea typeface="Manrope" pitchFamily="34" charset="-122"/>
                <a:cs typeface="Manrope" pitchFamily="34" charset="-120"/>
              </a:rPr>
              <a:t>Gerbang merger</a:t>
            </a:r>
            <a:r>
              <a:rPr lang="en-US" sz="1800" dirty="0">
                <a:solidFill>
                  <a:srgbClr val="1B1B1B"/>
                </a:solidFill>
                <a:latin typeface="Manrope" pitchFamily="34" charset="0"/>
                <a:ea typeface="Manrope" pitchFamily="34" charset="-122"/>
                <a:cs typeface="Manrope" pitchFamily="34" charset="-120"/>
              </a:rPr>
              <a:t>: 4 kuartal laba positif</a:t>
            </a:r>
            <a:endParaRPr lang="en-US" sz="1800" dirty="0"/>
          </a:p>
        </p:txBody>
      </p:sp>
      <p:sp>
        <p:nvSpPr>
          <p:cNvPr id="39" name="Text 37"/>
          <p:cNvSpPr txBox="1"/>
          <p:nvPr/>
        </p:nvSpPr>
        <p:spPr>
          <a:xfrm>
            <a:off x="5394960" y="5120640"/>
            <a:ext cx="1737360" cy="621792"/>
          </a:xfrm>
          <a:prstGeom prst="rect">
            <a:avLst/>
          </a:prstGeom>
          <a:noFill/>
          <a:ln/>
        </p:spPr>
        <p:txBody>
          <a:bodyPr wrap="square" lIns="0" tIns="0" rIns="0" bIns="0" rtlCol="0" anchor="ctr"/>
          <a:lstStyle/>
          <a:p>
            <a:pPr indent="0" marL="0">
              <a:buNone/>
            </a:pPr>
            <a:r>
              <a:rPr lang="en-US" sz="1800" dirty="0">
                <a:solidFill>
                  <a:srgbClr val="1B1B1B"/>
                </a:solidFill>
                <a:latin typeface="Manrope" pitchFamily="34" charset="0"/>
                <a:ea typeface="Manrope" pitchFamily="34" charset="-122"/>
                <a:cs typeface="Manrope" pitchFamily="34" charset="-120"/>
              </a:rPr>
              <a:t>Evaluasi 2011</a:t>
            </a:r>
            <a:endParaRPr lang="en-US" sz="1800" dirty="0"/>
          </a:p>
        </p:txBody>
      </p:sp>
      <p:sp>
        <p:nvSpPr>
          <p:cNvPr id="40" name="Text 38"/>
          <p:cNvSpPr txBox="1"/>
          <p:nvPr/>
        </p:nvSpPr>
        <p:spPr>
          <a:xfrm>
            <a:off x="7223760" y="5120640"/>
            <a:ext cx="2194560" cy="621792"/>
          </a:xfrm>
          <a:prstGeom prst="rect">
            <a:avLst/>
          </a:prstGeom>
          <a:noFill/>
          <a:ln/>
        </p:spPr>
        <p:txBody>
          <a:bodyPr wrap="square" lIns="0" tIns="0" rIns="0" bIns="0" rtlCol="0" anchor="ctr"/>
          <a:lstStyle/>
          <a:p>
            <a:pPr indent="0" marL="0">
              <a:buNone/>
            </a:pPr>
            <a:r>
              <a:rPr lang="en-US" sz="1800" dirty="0">
                <a:solidFill>
                  <a:srgbClr val="1B1B1B"/>
                </a:solidFill>
                <a:latin typeface="Manrope" pitchFamily="34" charset="0"/>
                <a:ea typeface="Manrope" pitchFamily="34" charset="-122"/>
                <a:cs typeface="Manrope" pitchFamily="34" charset="-120"/>
              </a:rPr>
              <a:t>Dewan Komisaris</a:t>
            </a:r>
            <a:endParaRPr lang="en-US" sz="1800" dirty="0"/>
          </a:p>
        </p:txBody>
      </p:sp>
      <p:sp>
        <p:nvSpPr>
          <p:cNvPr id="41" name="Shape 39"/>
          <p:cNvSpPr/>
          <p:nvPr/>
        </p:nvSpPr>
        <p:spPr>
          <a:xfrm>
            <a:off x="548640" y="5742432"/>
            <a:ext cx="8869680" cy="18288"/>
          </a:xfrm>
          <a:prstGeom prst="rect">
            <a:avLst/>
          </a:prstGeom>
          <a:solidFill>
            <a:srgbClr val="D9CBB8"/>
          </a:solidFill>
          <a:ln w="12700">
            <a:solidFill>
              <a:srgbClr val="D9CBB8"/>
            </a:solidFill>
            <a:prstDash val="solid"/>
          </a:ln>
        </p:spPr>
      </p:sp>
      <p:sp>
        <p:nvSpPr>
          <p:cNvPr id="42" name="Shape 40"/>
          <p:cNvSpPr/>
          <p:nvPr/>
        </p:nvSpPr>
        <p:spPr>
          <a:xfrm>
            <a:off x="9857232" y="1764792"/>
            <a:ext cx="1920240" cy="4160520"/>
          </a:xfrm>
          <a:prstGeom prst="rect">
            <a:avLst/>
          </a:prstGeom>
          <a:solidFill>
            <a:srgbClr val="2C7BB8"/>
          </a:solidFill>
          <a:ln w="12700">
            <a:solidFill>
              <a:srgbClr val="2C7BB8"/>
            </a:solidFill>
            <a:prstDash val="solid"/>
          </a:ln>
        </p:spPr>
      </p:sp>
      <p:pic>
        <p:nvPicPr>
          <p:cNvPr id="43" name="Image 0" descr="/tmp/claude-0/-home-user-Dom-Manipulation/a70c4110-05d8-512e-ae11-d08dee025a7a/scratchpad/img/aa_tower.jpg">    </p:cNvPr>
          <p:cNvPicPr>
            <a:picLocks noChangeAspect="1"/>
          </p:cNvPicPr>
          <p:nvPr/>
        </p:nvPicPr>
        <p:blipFill>
          <a:blip r:embed="rId1"/>
          <a:srcRect l="0" r="0" t="0" b="0"/>
          <a:stretch/>
        </p:blipFill>
        <p:spPr>
          <a:xfrm>
            <a:off x="9692640" y="1600200"/>
            <a:ext cx="1920240" cy="4160520"/>
          </a:xfrm>
          <a:prstGeom prst="rect">
            <a:avLst/>
          </a:prstGeom>
        </p:spPr>
      </p:pic>
      <p:sp>
        <p:nvSpPr>
          <p:cNvPr id="44" name="Text 41"/>
          <p:cNvSpPr txBox="1"/>
          <p:nvPr/>
        </p:nvSpPr>
        <p:spPr>
          <a:xfrm>
            <a:off x="548640" y="6217920"/>
            <a:ext cx="10424160" cy="411480"/>
          </a:xfrm>
          <a:prstGeom prst="rect">
            <a:avLst/>
          </a:prstGeom>
          <a:noFill/>
          <a:ln/>
        </p:spPr>
        <p:txBody>
          <a:bodyPr wrap="square" lIns="0" tIns="0" rIns="0" bIns="0" rtlCol="0" anchor="ctr"/>
          <a:lstStyle/>
          <a:p>
            <a:pPr indent="0" marL="0">
              <a:buNone/>
            </a:pPr>
            <a:r>
              <a:rPr lang="en-US" sz="1100" dirty="0">
                <a:solidFill>
                  <a:srgbClr val="E63E2C"/>
                </a:solidFill>
                <a:latin typeface="Manrope" pitchFamily="34" charset="0"/>
                <a:ea typeface="Manrope" pitchFamily="34" charset="-122"/>
                <a:cs typeface="Manrope" pitchFamily="34" charset="-120"/>
              </a:rPr>
              <a:t>■  </a:t>
            </a:r>
            <a:r>
              <a:rPr lang="en-US" sz="1600" b="1" dirty="0">
                <a:solidFill>
                  <a:srgbClr val="1B1B1B"/>
                </a:solidFill>
                <a:latin typeface="Manrope" pitchFamily="34" charset="0"/>
                <a:ea typeface="Manrope" pitchFamily="34" charset="-122"/>
                <a:cs typeface="Manrope" pitchFamily="34" charset="-120"/>
              </a:rPr>
              <a:t>Selanjutnya  </a:t>
            </a:r>
            <a:r>
              <a:rPr lang="en-US" sz="1600" dirty="0">
                <a:solidFill>
                  <a:srgbClr val="4A4A4A"/>
                </a:solidFill>
                <a:latin typeface="Manrope" pitchFamily="34" charset="0"/>
                <a:ea typeface="Manrope" pitchFamily="34" charset="-122"/>
                <a:cs typeface="Manrope" pitchFamily="34" charset="-120"/>
              </a:rPr>
              <a:t>Rekomendasi ini menjawab pertanyaan di slide 5. Apa pelajarannya?</a:t>
            </a:r>
            <a:endParaRPr lang="en-US" sz="1600" dirty="0"/>
          </a:p>
        </p:txBody>
      </p:sp>
      <p:sp>
        <p:nvSpPr>
          <p:cNvPr id="45" name="Text 42"/>
          <p:cNvSpPr txBox="1"/>
          <p:nvPr/>
        </p:nvSpPr>
        <p:spPr>
          <a:xfrm>
            <a:off x="11247120" y="6355080"/>
            <a:ext cx="548640" cy="320040"/>
          </a:xfrm>
          <a:prstGeom prst="rect">
            <a:avLst/>
          </a:prstGeom>
          <a:noFill/>
          <a:ln/>
        </p:spPr>
        <p:txBody>
          <a:bodyPr wrap="square" lIns="0" tIns="0" rIns="0" bIns="0" rtlCol="0" anchor="ctr"/>
          <a:lstStyle/>
          <a:p>
            <a:pPr algn="r" indent="0" marL="0">
              <a:buNone/>
            </a:pPr>
            <a:r>
              <a:rPr lang="en-US" sz="1200" b="1" dirty="0">
                <a:solidFill>
                  <a:srgbClr val="1B1B1B"/>
                </a:solidFill>
                <a:latin typeface="Manrope" pitchFamily="34" charset="0"/>
                <a:ea typeface="Manrope" pitchFamily="34" charset="-122"/>
                <a:cs typeface="Manrope"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3E2CF"/>
        </a:solidFill>
      </p:bgPr>
    </p:bg>
    <p:spTree>
      <p:nvGrpSpPr>
        <p:cNvPr id="1" name=""/>
        <p:cNvGrpSpPr/>
        <p:nvPr/>
      </p:nvGrpSpPr>
      <p:grpSpPr>
        <a:xfrm>
          <a:off x="0" y="0"/>
          <a:ext cx="0" cy="0"/>
          <a:chOff x="0" y="0"/>
          <a:chExt cx="0" cy="0"/>
        </a:xfrm>
      </p:grpSpPr>
      <p:sp>
        <p:nvSpPr>
          <p:cNvPr id="2" name="Text 0"/>
          <p:cNvSpPr txBox="1"/>
          <p:nvPr/>
        </p:nvSpPr>
        <p:spPr>
          <a:xfrm>
            <a:off x="548640" y="457200"/>
            <a:ext cx="10515600" cy="914400"/>
          </a:xfrm>
          <a:prstGeom prst="rect">
            <a:avLst/>
          </a:prstGeom>
          <a:noFill/>
          <a:ln/>
        </p:spPr>
        <p:txBody>
          <a:bodyPr wrap="square" lIns="0" tIns="0" rIns="0" bIns="0" rtlCol="0" anchor="ctr"/>
          <a:lstStyle/>
          <a:p>
            <a:pPr indent="0" marL="0">
              <a:buNone/>
            </a:pPr>
            <a:r>
              <a:rPr lang="en-US" sz="5800" dirty="0">
                <a:solidFill>
                  <a:srgbClr val="1B1B1B"/>
                </a:solidFill>
                <a:latin typeface="Bebas Neue" pitchFamily="34" charset="0"/>
                <a:ea typeface="Bebas Neue" pitchFamily="34" charset="-122"/>
                <a:cs typeface="Bebas Neue" pitchFamily="34" charset="-120"/>
              </a:rPr>
              <a:t>LESSONS FOR CHAPTER 3</a:t>
            </a:r>
            <a:endParaRPr lang="en-US" sz="5800" dirty="0"/>
          </a:p>
        </p:txBody>
      </p:sp>
      <p:sp>
        <p:nvSpPr>
          <p:cNvPr id="3" name="Shape 1"/>
          <p:cNvSpPr/>
          <p:nvPr/>
        </p:nvSpPr>
        <p:spPr>
          <a:xfrm>
            <a:off x="548640" y="1755648"/>
            <a:ext cx="502920" cy="502920"/>
          </a:xfrm>
          <a:prstGeom prst="ellipse">
            <a:avLst/>
          </a:prstGeom>
          <a:solidFill>
            <a:srgbClr val="E63E2C"/>
          </a:solidFill>
          <a:ln w="12700">
            <a:solidFill>
              <a:srgbClr val="E63E2C"/>
            </a:solidFill>
            <a:prstDash val="solid"/>
          </a:ln>
        </p:spPr>
      </p:sp>
      <p:sp>
        <p:nvSpPr>
          <p:cNvPr id="4" name="Text 2"/>
          <p:cNvSpPr txBox="1"/>
          <p:nvPr/>
        </p:nvSpPr>
        <p:spPr>
          <a:xfrm>
            <a:off x="548640" y="1755648"/>
            <a:ext cx="502920" cy="502920"/>
          </a:xfrm>
          <a:prstGeom prst="rect">
            <a:avLst/>
          </a:prstGeom>
          <a:noFill/>
          <a:ln/>
        </p:spPr>
        <p:txBody>
          <a:bodyPr wrap="square" lIns="0" tIns="0" rIns="0" bIns="0" rtlCol="0" anchor="ctr"/>
          <a:lstStyle/>
          <a:p>
            <a:pPr algn="ctr" indent="0" marL="0">
              <a:buNone/>
            </a:pPr>
            <a:r>
              <a:rPr lang="en-US" sz="2420" dirty="0">
                <a:solidFill>
                  <a:srgbClr val="FFFFFF"/>
                </a:solidFill>
                <a:latin typeface="Bebas Neue" pitchFamily="34" charset="0"/>
                <a:ea typeface="Bebas Neue" pitchFamily="34" charset="-122"/>
                <a:cs typeface="Bebas Neue" pitchFamily="34" charset="-120"/>
              </a:rPr>
              <a:t>1</a:t>
            </a:r>
            <a:endParaRPr lang="en-US" sz="2420" dirty="0"/>
          </a:p>
        </p:txBody>
      </p:sp>
      <p:sp>
        <p:nvSpPr>
          <p:cNvPr id="5" name="Text 3"/>
          <p:cNvSpPr txBox="1"/>
          <p:nvPr/>
        </p:nvSpPr>
        <p:spPr>
          <a:xfrm>
            <a:off x="1234440" y="1645920"/>
            <a:ext cx="5943600" cy="868680"/>
          </a:xfrm>
          <a:prstGeom prst="rect">
            <a:avLst/>
          </a:prstGeom>
          <a:noFill/>
          <a:ln/>
        </p:spPr>
        <p:txBody>
          <a:bodyPr wrap="square" lIns="0" tIns="0" rIns="0" bIns="0" rtlCol="0" anchor="ctr"/>
          <a:lstStyle/>
          <a:p>
            <a:pPr indent="0" marL="0">
              <a:buNone/>
            </a:pPr>
            <a:r>
              <a:rPr lang="en-US" sz="2100" b="1" dirty="0">
                <a:solidFill>
                  <a:srgbClr val="1B1B1B"/>
                </a:solidFill>
                <a:highlight>
                  <a:srgbClr val="FFE066"/>
                </a:highlight>
                <a:latin typeface="Manrope" pitchFamily="34" charset="0"/>
                <a:ea typeface="Manrope" pitchFamily="34" charset="-122"/>
                <a:cs typeface="Manrope" pitchFamily="34" charset="-120"/>
              </a:rPr>
              <a:t>Struktur industri</a:t>
            </a:r>
            <a:r>
              <a:rPr lang="en-US" sz="2100" dirty="0">
                <a:solidFill>
                  <a:srgbClr val="1B1B1B"/>
                </a:solidFill>
                <a:latin typeface="Manrope" pitchFamily="34" charset="0"/>
                <a:ea typeface="Manrope" pitchFamily="34" charset="-122"/>
                <a:cs typeface="Manrope" pitchFamily="34" charset="-120"/>
              </a:rPr>
              <a:t> menjelaskan mengapa laba langka, bukan siapa yang meraihnya.</a:t>
            </a:r>
            <a:endParaRPr lang="en-US" sz="2100" dirty="0"/>
          </a:p>
        </p:txBody>
      </p:sp>
      <p:sp>
        <p:nvSpPr>
          <p:cNvPr id="6" name="Shape 4"/>
          <p:cNvSpPr/>
          <p:nvPr/>
        </p:nvSpPr>
        <p:spPr>
          <a:xfrm>
            <a:off x="548640" y="2624328"/>
            <a:ext cx="502920" cy="502920"/>
          </a:xfrm>
          <a:prstGeom prst="ellipse">
            <a:avLst/>
          </a:prstGeom>
          <a:solidFill>
            <a:srgbClr val="2C7BB8"/>
          </a:solidFill>
          <a:ln w="12700">
            <a:solidFill>
              <a:srgbClr val="2C7BB8"/>
            </a:solidFill>
            <a:prstDash val="solid"/>
          </a:ln>
        </p:spPr>
      </p:sp>
      <p:sp>
        <p:nvSpPr>
          <p:cNvPr id="7" name="Text 5"/>
          <p:cNvSpPr txBox="1"/>
          <p:nvPr/>
        </p:nvSpPr>
        <p:spPr>
          <a:xfrm>
            <a:off x="548640" y="2624328"/>
            <a:ext cx="502920" cy="502920"/>
          </a:xfrm>
          <a:prstGeom prst="rect">
            <a:avLst/>
          </a:prstGeom>
          <a:noFill/>
          <a:ln/>
        </p:spPr>
        <p:txBody>
          <a:bodyPr wrap="square" lIns="0" tIns="0" rIns="0" bIns="0" rtlCol="0" anchor="ctr"/>
          <a:lstStyle/>
          <a:p>
            <a:pPr algn="ctr" indent="0" marL="0">
              <a:buNone/>
            </a:pPr>
            <a:r>
              <a:rPr lang="en-US" sz="2420" dirty="0">
                <a:solidFill>
                  <a:srgbClr val="FFFFFF"/>
                </a:solidFill>
                <a:latin typeface="Bebas Neue" pitchFamily="34" charset="0"/>
                <a:ea typeface="Bebas Neue" pitchFamily="34" charset="-122"/>
                <a:cs typeface="Bebas Neue" pitchFamily="34" charset="-120"/>
              </a:rPr>
              <a:t>2</a:t>
            </a:r>
            <a:endParaRPr lang="en-US" sz="2420" dirty="0"/>
          </a:p>
        </p:txBody>
      </p:sp>
      <p:sp>
        <p:nvSpPr>
          <p:cNvPr id="8" name="Text 6"/>
          <p:cNvSpPr txBox="1"/>
          <p:nvPr/>
        </p:nvSpPr>
        <p:spPr>
          <a:xfrm>
            <a:off x="1234440" y="2514600"/>
            <a:ext cx="5943600" cy="868680"/>
          </a:xfrm>
          <a:prstGeom prst="rect">
            <a:avLst/>
          </a:prstGeom>
          <a:noFill/>
          <a:ln/>
        </p:spPr>
        <p:txBody>
          <a:bodyPr wrap="square" lIns="0" tIns="0" rIns="0" bIns="0" rtlCol="0" anchor="ctr"/>
          <a:lstStyle/>
          <a:p>
            <a:pPr indent="0" marL="0">
              <a:buNone/>
            </a:pPr>
            <a:r>
              <a:rPr lang="en-US" sz="2100" dirty="0">
                <a:solidFill>
                  <a:srgbClr val="1B1B1B"/>
                </a:solidFill>
                <a:latin typeface="Manrope" pitchFamily="34" charset="0"/>
                <a:ea typeface="Manrope" pitchFamily="34" charset="-122"/>
                <a:cs typeface="Manrope" pitchFamily="34" charset="-120"/>
              </a:rPr>
              <a:t>Keunggulan biaya adalah </a:t>
            </a:r>
            <a:r>
              <a:rPr lang="en-US" sz="2100" b="1" dirty="0">
                <a:solidFill>
                  <a:srgbClr val="1B1B1B"/>
                </a:solidFill>
                <a:highlight>
                  <a:srgbClr val="FFE066"/>
                </a:highlight>
                <a:latin typeface="Manrope" pitchFamily="34" charset="0"/>
                <a:ea typeface="Manrope" pitchFamily="34" charset="-122"/>
                <a:cs typeface="Manrope" pitchFamily="34" charset="-120"/>
              </a:rPr>
              <a:t>sistem yang saling menopang</a:t>
            </a:r>
            <a:r>
              <a:rPr lang="en-US" sz="2100" dirty="0">
                <a:solidFill>
                  <a:srgbClr val="1B1B1B"/>
                </a:solidFill>
                <a:latin typeface="Manrope" pitchFamily="34" charset="0"/>
                <a:ea typeface="Manrope" pitchFamily="34" charset="-122"/>
                <a:cs typeface="Manrope" pitchFamily="34" charset="-120"/>
              </a:rPr>
              <a:t>.</a:t>
            </a:r>
            <a:endParaRPr lang="en-US" sz="2100" dirty="0"/>
          </a:p>
        </p:txBody>
      </p:sp>
      <p:sp>
        <p:nvSpPr>
          <p:cNvPr id="9" name="Shape 7"/>
          <p:cNvSpPr/>
          <p:nvPr/>
        </p:nvSpPr>
        <p:spPr>
          <a:xfrm>
            <a:off x="548640" y="3493008"/>
            <a:ext cx="502920" cy="502920"/>
          </a:xfrm>
          <a:prstGeom prst="ellipse">
            <a:avLst/>
          </a:prstGeom>
          <a:solidFill>
            <a:srgbClr val="F4C430"/>
          </a:solidFill>
          <a:ln w="12700">
            <a:solidFill>
              <a:srgbClr val="F4C430"/>
            </a:solidFill>
            <a:prstDash val="solid"/>
          </a:ln>
        </p:spPr>
      </p:sp>
      <p:sp>
        <p:nvSpPr>
          <p:cNvPr id="10" name="Text 8"/>
          <p:cNvSpPr txBox="1"/>
          <p:nvPr/>
        </p:nvSpPr>
        <p:spPr>
          <a:xfrm>
            <a:off x="548640" y="3493008"/>
            <a:ext cx="502920" cy="502920"/>
          </a:xfrm>
          <a:prstGeom prst="rect">
            <a:avLst/>
          </a:prstGeom>
          <a:noFill/>
          <a:ln/>
        </p:spPr>
        <p:txBody>
          <a:bodyPr wrap="square" lIns="0" tIns="0" rIns="0" bIns="0" rtlCol="0" anchor="ctr"/>
          <a:lstStyle/>
          <a:p>
            <a:pPr algn="ctr" indent="0" marL="0">
              <a:buNone/>
            </a:pPr>
            <a:r>
              <a:rPr lang="en-US" sz="2420" dirty="0">
                <a:solidFill>
                  <a:srgbClr val="1B1B1B"/>
                </a:solidFill>
                <a:latin typeface="Bebas Neue" pitchFamily="34" charset="0"/>
                <a:ea typeface="Bebas Neue" pitchFamily="34" charset="-122"/>
                <a:cs typeface="Bebas Neue" pitchFamily="34" charset="-120"/>
              </a:rPr>
              <a:t>3</a:t>
            </a:r>
            <a:endParaRPr lang="en-US" sz="2420" dirty="0"/>
          </a:p>
        </p:txBody>
      </p:sp>
      <p:sp>
        <p:nvSpPr>
          <p:cNvPr id="11" name="Text 9"/>
          <p:cNvSpPr txBox="1"/>
          <p:nvPr/>
        </p:nvSpPr>
        <p:spPr>
          <a:xfrm>
            <a:off x="1234440" y="3383280"/>
            <a:ext cx="5943600" cy="868680"/>
          </a:xfrm>
          <a:prstGeom prst="rect">
            <a:avLst/>
          </a:prstGeom>
          <a:noFill/>
          <a:ln/>
        </p:spPr>
        <p:txBody>
          <a:bodyPr wrap="square" lIns="0" tIns="0" rIns="0" bIns="0" rtlCol="0" anchor="ctr"/>
          <a:lstStyle/>
          <a:p>
            <a:pPr indent="0" marL="0">
              <a:buNone/>
            </a:pPr>
            <a:r>
              <a:rPr lang="en-US" sz="2100" dirty="0">
                <a:solidFill>
                  <a:srgbClr val="1B1B1B"/>
                </a:solidFill>
                <a:latin typeface="Manrope" pitchFamily="34" charset="0"/>
                <a:ea typeface="Manrope" pitchFamily="34" charset="-122"/>
                <a:cs typeface="Manrope" pitchFamily="34" charset="-120"/>
              </a:rPr>
              <a:t>Pindah kelompok strategis berarti melawan </a:t>
            </a:r>
            <a:r>
              <a:rPr lang="en-US" sz="2100" b="1" dirty="0">
                <a:solidFill>
                  <a:srgbClr val="1B1B1B"/>
                </a:solidFill>
                <a:highlight>
                  <a:srgbClr val="FFE066"/>
                </a:highlight>
                <a:latin typeface="Manrope" pitchFamily="34" charset="0"/>
                <a:ea typeface="Manrope" pitchFamily="34" charset="-122"/>
                <a:cs typeface="Manrope" pitchFamily="34" charset="-120"/>
              </a:rPr>
              <a:t>model laba yang berbeda</a:t>
            </a:r>
            <a:r>
              <a:rPr lang="en-US" sz="2100" dirty="0">
                <a:solidFill>
                  <a:srgbClr val="1B1B1B"/>
                </a:solidFill>
                <a:latin typeface="Manrope" pitchFamily="34" charset="0"/>
                <a:ea typeface="Manrope" pitchFamily="34" charset="-122"/>
                <a:cs typeface="Manrope" pitchFamily="34" charset="-120"/>
              </a:rPr>
              <a:t>.</a:t>
            </a:r>
            <a:endParaRPr lang="en-US" sz="2100" dirty="0"/>
          </a:p>
        </p:txBody>
      </p:sp>
      <p:sp>
        <p:nvSpPr>
          <p:cNvPr id="12" name="Shape 10"/>
          <p:cNvSpPr/>
          <p:nvPr/>
        </p:nvSpPr>
        <p:spPr>
          <a:xfrm>
            <a:off x="548640" y="4361688"/>
            <a:ext cx="502920" cy="502920"/>
          </a:xfrm>
          <a:prstGeom prst="ellipse">
            <a:avLst/>
          </a:prstGeom>
          <a:solidFill>
            <a:srgbClr val="1B1B1B"/>
          </a:solidFill>
          <a:ln w="12700">
            <a:solidFill>
              <a:srgbClr val="1B1B1B"/>
            </a:solidFill>
            <a:prstDash val="solid"/>
          </a:ln>
        </p:spPr>
      </p:sp>
      <p:sp>
        <p:nvSpPr>
          <p:cNvPr id="13" name="Text 11"/>
          <p:cNvSpPr txBox="1"/>
          <p:nvPr/>
        </p:nvSpPr>
        <p:spPr>
          <a:xfrm>
            <a:off x="548640" y="4361688"/>
            <a:ext cx="502920" cy="502920"/>
          </a:xfrm>
          <a:prstGeom prst="rect">
            <a:avLst/>
          </a:prstGeom>
          <a:noFill/>
          <a:ln/>
        </p:spPr>
        <p:txBody>
          <a:bodyPr wrap="square" lIns="0" tIns="0" rIns="0" bIns="0" rtlCol="0" anchor="ctr"/>
          <a:lstStyle/>
          <a:p>
            <a:pPr algn="ctr" indent="0" marL="0">
              <a:buNone/>
            </a:pPr>
            <a:r>
              <a:rPr lang="en-US" sz="2420" dirty="0">
                <a:solidFill>
                  <a:srgbClr val="FFFFFF"/>
                </a:solidFill>
                <a:latin typeface="Bebas Neue" pitchFamily="34" charset="0"/>
                <a:ea typeface="Bebas Neue" pitchFamily="34" charset="-122"/>
                <a:cs typeface="Bebas Neue" pitchFamily="34" charset="-120"/>
              </a:rPr>
              <a:t>4</a:t>
            </a:r>
            <a:endParaRPr lang="en-US" sz="2420" dirty="0"/>
          </a:p>
        </p:txBody>
      </p:sp>
      <p:sp>
        <p:nvSpPr>
          <p:cNvPr id="14" name="Text 12"/>
          <p:cNvSpPr txBox="1"/>
          <p:nvPr/>
        </p:nvSpPr>
        <p:spPr>
          <a:xfrm>
            <a:off x="1234440" y="4251960"/>
            <a:ext cx="5943600" cy="868680"/>
          </a:xfrm>
          <a:prstGeom prst="rect">
            <a:avLst/>
          </a:prstGeom>
          <a:noFill/>
          <a:ln/>
        </p:spPr>
        <p:txBody>
          <a:bodyPr wrap="square" lIns="0" tIns="0" rIns="0" bIns="0" rtlCol="0" anchor="ctr"/>
          <a:lstStyle/>
          <a:p>
            <a:pPr indent="0" marL="0">
              <a:buNone/>
            </a:pPr>
            <a:r>
              <a:rPr lang="en-US" sz="2100" dirty="0">
                <a:solidFill>
                  <a:srgbClr val="1B1B1B"/>
                </a:solidFill>
                <a:latin typeface="Manrope" pitchFamily="34" charset="0"/>
                <a:ea typeface="Manrope" pitchFamily="34" charset="-122"/>
                <a:cs typeface="Manrope" pitchFamily="34" charset="-120"/>
              </a:rPr>
              <a:t>Eksplorasi butuh </a:t>
            </a:r>
            <a:r>
              <a:rPr lang="en-US" sz="2100" b="1" dirty="0">
                <a:solidFill>
                  <a:srgbClr val="1B1B1B"/>
                </a:solidFill>
                <a:highlight>
                  <a:srgbClr val="FFE066"/>
                </a:highlight>
                <a:latin typeface="Manrope" pitchFamily="34" charset="0"/>
                <a:ea typeface="Manrope" pitchFamily="34" charset="-122"/>
                <a:cs typeface="Manrope" pitchFamily="34" charset="-120"/>
              </a:rPr>
              <a:t>unit terpisah</a:t>
            </a:r>
            <a:r>
              <a:rPr lang="en-US" sz="2100" dirty="0">
                <a:solidFill>
                  <a:srgbClr val="1B1B1B"/>
                </a:solidFill>
                <a:latin typeface="Manrope" pitchFamily="34" charset="0"/>
                <a:ea typeface="Manrope" pitchFamily="34" charset="-122"/>
                <a:cs typeface="Manrope" pitchFamily="34" charset="-120"/>
              </a:rPr>
              <a:t> yang tetap dikendalikan induk.</a:t>
            </a:r>
            <a:endParaRPr lang="en-US" sz="2100" dirty="0"/>
          </a:p>
        </p:txBody>
      </p:sp>
      <p:sp>
        <p:nvSpPr>
          <p:cNvPr id="15" name="Text 13"/>
          <p:cNvSpPr txBox="1"/>
          <p:nvPr/>
        </p:nvSpPr>
        <p:spPr>
          <a:xfrm>
            <a:off x="548640" y="5212080"/>
            <a:ext cx="6583680" cy="640080"/>
          </a:xfrm>
          <a:prstGeom prst="rect">
            <a:avLst/>
          </a:prstGeom>
          <a:noFill/>
          <a:ln/>
        </p:spPr>
        <p:txBody>
          <a:bodyPr wrap="square" lIns="0" tIns="0" rIns="0" bIns="0" rtlCol="0" anchor="ctr"/>
          <a:lstStyle/>
          <a:p>
            <a:pPr indent="0" marL="0">
              <a:buNone/>
            </a:pPr>
            <a:r>
              <a:rPr lang="en-US" sz="3200" dirty="0">
                <a:solidFill>
                  <a:srgbClr val="E63E2C"/>
                </a:solidFill>
                <a:latin typeface="Bebas Neue" pitchFamily="34" charset="0"/>
                <a:ea typeface="Bebas Neue" pitchFamily="34" charset="-122"/>
                <a:cs typeface="Bebas Neue" pitchFamily="34" charset="-120"/>
              </a:rPr>
              <a:t>DALAM SATU KATA: TRANSFERABILITAS.</a:t>
            </a:r>
            <a:endParaRPr lang="en-US" sz="3200" dirty="0"/>
          </a:p>
        </p:txBody>
      </p:sp>
      <p:sp>
        <p:nvSpPr>
          <p:cNvPr id="16" name="Shape 14"/>
          <p:cNvSpPr/>
          <p:nvPr/>
        </p:nvSpPr>
        <p:spPr>
          <a:xfrm>
            <a:off x="7680960" y="1645920"/>
            <a:ext cx="3931920" cy="4206240"/>
          </a:xfrm>
          <a:prstGeom prst="rect">
            <a:avLst/>
          </a:prstGeom>
          <a:solidFill>
            <a:srgbClr val="1B1B1B"/>
          </a:solidFill>
          <a:ln w="12700">
            <a:solidFill>
              <a:srgbClr val="1B1B1B"/>
            </a:solidFill>
            <a:prstDash val="solid"/>
          </a:ln>
        </p:spPr>
      </p:sp>
      <p:pic>
        <p:nvPicPr>
          <p:cNvPr id="17" name="Image 0" descr="/tmp/claude-0/-home-user-Dom-Manipulation/a70c4110-05d8-512e-ae11-d08dee025a7a/scratchpad/img/bw_meeting.png">    </p:cNvPr>
          <p:cNvPicPr>
            <a:picLocks noChangeAspect="1"/>
          </p:cNvPicPr>
          <p:nvPr/>
        </p:nvPicPr>
        <p:blipFill>
          <a:blip r:embed="rId1"/>
          <a:stretch>
            <a:fillRect/>
          </a:stretch>
        </p:blipFill>
        <p:spPr>
          <a:xfrm>
            <a:off x="9052560" y="365760"/>
            <a:ext cx="2377440" cy="1737360"/>
          </a:xfrm>
          <a:prstGeom prst="rect">
            <a:avLst/>
          </a:prstGeom>
        </p:spPr>
      </p:pic>
      <p:sp>
        <p:nvSpPr>
          <p:cNvPr id="18" name="Text 15"/>
          <p:cNvSpPr txBox="1"/>
          <p:nvPr/>
        </p:nvSpPr>
        <p:spPr>
          <a:xfrm>
            <a:off x="7955280" y="1874520"/>
            <a:ext cx="3474720" cy="3749040"/>
          </a:xfrm>
          <a:prstGeom prst="rect">
            <a:avLst/>
          </a:prstGeom>
          <a:noFill/>
          <a:ln/>
        </p:spPr>
        <p:txBody>
          <a:bodyPr wrap="square" lIns="0" tIns="0" rIns="0" bIns="0" rtlCol="0" anchor="ctr"/>
          <a:lstStyle/>
          <a:p>
            <a:pPr indent="0" marL="0">
              <a:buNone/>
            </a:pPr>
            <a:r>
              <a:rPr lang="en-US" sz="2600" dirty="0">
                <a:solidFill>
                  <a:srgbClr val="F4C430"/>
                </a:solidFill>
                <a:latin typeface="Bebas Neue" pitchFamily="34" charset="0"/>
                <a:ea typeface="Bebas Neue" pitchFamily="34" charset="-122"/>
                <a:cs typeface="Bebas Neue" pitchFamily="34" charset="-120"/>
              </a:rPr>
              <a:t>UNTUK DIDISKUSIKAN</a:t>
            </a:r>
            <a:endParaRPr lang="en-US" sz="2100" dirty="0"/>
          </a:p>
          <a:p>
            <a:pPr indent="0" marL="0">
              <a:buNone/>
            </a:pPr>
            <a:r>
              <a:rPr lang="en-US" sz="1900" dirty="0">
                <a:solidFill>
                  <a:srgbClr val="FFFFFF"/>
                </a:solidFill>
                <a:latin typeface="Manrope" pitchFamily="34" charset="0"/>
                <a:ea typeface="Manrope" pitchFamily="34" charset="-122"/>
                <a:cs typeface="Manrope" pitchFamily="34" charset="-120"/>
              </a:rPr>
              <a:t>Jika Anda Tony Fernandes pada Juli 2009 dengan </a:t>
            </a:r>
            <a:r>
              <a:rPr lang="en-US" sz="1900" b="1" dirty="0">
                <a:solidFill>
                  <a:srgbClr val="1B1B1B"/>
                </a:solidFill>
                <a:highlight>
                  <a:srgbClr val="FFE066"/>
                </a:highlight>
                <a:latin typeface="Manrope" pitchFamily="34" charset="0"/>
                <a:ea typeface="Manrope" pitchFamily="34" charset="-122"/>
                <a:cs typeface="Manrope" pitchFamily="34" charset="-120"/>
              </a:rPr>
              <a:t>kas RM 153,8 juta</a:t>
            </a:r>
            <a:r>
              <a:rPr lang="en-US" sz="1900" dirty="0">
                <a:solidFill>
                  <a:srgbClr val="FFFFFF"/>
                </a:solidFill>
                <a:latin typeface="Manrope" pitchFamily="34" charset="0"/>
                <a:ea typeface="Manrope" pitchFamily="34" charset="-122"/>
                <a:cs typeface="Manrope" pitchFamily="34" charset="-120"/>
              </a:rPr>
              <a:t>, setujui merger sekarang, atau </a:t>
            </a:r>
            <a:r>
              <a:rPr lang="en-US" sz="1900" b="1" dirty="0">
                <a:solidFill>
                  <a:srgbClr val="1B1B1B"/>
                </a:solidFill>
                <a:highlight>
                  <a:srgbClr val="FFE066"/>
                </a:highlight>
                <a:latin typeface="Manrope" pitchFamily="34" charset="0"/>
                <a:ea typeface="Manrope" pitchFamily="34" charset="-122"/>
                <a:cs typeface="Manrope" pitchFamily="34" charset="-120"/>
              </a:rPr>
              <a:t>tunggu bukti empat kuartal</a:t>
            </a:r>
            <a:r>
              <a:rPr lang="en-US" sz="1900" dirty="0">
                <a:solidFill>
                  <a:srgbClr val="FFFFFF"/>
                </a:solidFill>
                <a:latin typeface="Manrope" pitchFamily="34" charset="0"/>
                <a:ea typeface="Manrope" pitchFamily="34" charset="-122"/>
                <a:cs typeface="Manrope" pitchFamily="34" charset="-120"/>
              </a:rPr>
              <a:t>? Apa yang hilang jika menunggu?</a:t>
            </a:r>
            <a:endParaRPr lang="en-US" sz="2100" dirty="0"/>
          </a:p>
        </p:txBody>
      </p:sp>
      <p:sp>
        <p:nvSpPr>
          <p:cNvPr id="19" name="Text 16"/>
          <p:cNvSpPr txBox="1"/>
          <p:nvPr/>
        </p:nvSpPr>
        <p:spPr>
          <a:xfrm>
            <a:off x="11247120" y="6355080"/>
            <a:ext cx="548640" cy="320040"/>
          </a:xfrm>
          <a:prstGeom prst="rect">
            <a:avLst/>
          </a:prstGeom>
          <a:noFill/>
          <a:ln/>
        </p:spPr>
        <p:txBody>
          <a:bodyPr wrap="square" lIns="0" tIns="0" rIns="0" bIns="0" rtlCol="0" anchor="ctr"/>
          <a:lstStyle/>
          <a:p>
            <a:pPr algn="r" indent="0" marL="0">
              <a:buNone/>
            </a:pPr>
            <a:r>
              <a:rPr lang="en-US" sz="1200" b="1" dirty="0">
                <a:solidFill>
                  <a:srgbClr val="1B1B1B"/>
                </a:solidFill>
                <a:latin typeface="Manrope" pitchFamily="34" charset="0"/>
                <a:ea typeface="Manrope" pitchFamily="34" charset="-122"/>
                <a:cs typeface="Manrope"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3E2CF"/>
        </a:solidFill>
      </p:bgPr>
    </p:bg>
    <p:spTree>
      <p:nvGrpSpPr>
        <p:cNvPr id="1" name=""/>
        <p:cNvGrpSpPr/>
        <p:nvPr/>
      </p:nvGrpSpPr>
      <p:grpSpPr>
        <a:xfrm>
          <a:off x="0" y="0"/>
          <a:ext cx="0" cy="0"/>
          <a:chOff x="0" y="0"/>
          <a:chExt cx="0" cy="0"/>
        </a:xfrm>
      </p:grpSpPr>
      <p:sp>
        <p:nvSpPr>
          <p:cNvPr id="2" name="Shape 0"/>
          <p:cNvSpPr/>
          <p:nvPr/>
        </p:nvSpPr>
        <p:spPr>
          <a:xfrm>
            <a:off x="-1463040" y="1097280"/>
            <a:ext cx="3840480" cy="3840480"/>
          </a:xfrm>
          <a:prstGeom prst="ellipse">
            <a:avLst/>
          </a:prstGeom>
          <a:solidFill>
            <a:srgbClr val="E63E2C"/>
          </a:solidFill>
          <a:ln w="12700">
            <a:solidFill>
              <a:srgbClr val="E63E2C"/>
            </a:solidFill>
            <a:prstDash val="solid"/>
          </a:ln>
        </p:spPr>
      </p:sp>
      <p:sp>
        <p:nvSpPr>
          <p:cNvPr id="3" name="Shape 1"/>
          <p:cNvSpPr/>
          <p:nvPr/>
        </p:nvSpPr>
        <p:spPr>
          <a:xfrm>
            <a:off x="-1508760" y="1078992"/>
            <a:ext cx="1965960" cy="3877056"/>
          </a:xfrm>
          <a:prstGeom prst="rect">
            <a:avLst/>
          </a:prstGeom>
          <a:solidFill>
            <a:srgbClr val="F3E2CF"/>
          </a:solidFill>
          <a:ln w="12700">
            <a:solidFill>
              <a:srgbClr val="F3E2CF"/>
            </a:solidFill>
            <a:prstDash val="solid"/>
          </a:ln>
        </p:spPr>
      </p:sp>
      <p:sp>
        <p:nvSpPr>
          <p:cNvPr id="4" name="Shape 2"/>
          <p:cNvSpPr/>
          <p:nvPr/>
        </p:nvSpPr>
        <p:spPr>
          <a:xfrm>
            <a:off x="7863840" y="457200"/>
            <a:ext cx="3291840" cy="3291840"/>
          </a:xfrm>
          <a:prstGeom prst="ellipse">
            <a:avLst/>
          </a:prstGeom>
          <a:solidFill>
            <a:srgbClr val="F4C430"/>
          </a:solidFill>
          <a:ln w="12700">
            <a:solidFill>
              <a:srgbClr val="F4C430"/>
            </a:solidFill>
            <a:prstDash val="solid"/>
          </a:ln>
        </p:spPr>
      </p:sp>
      <p:sp>
        <p:nvSpPr>
          <p:cNvPr id="5" name="Shape 3"/>
          <p:cNvSpPr/>
          <p:nvPr/>
        </p:nvSpPr>
        <p:spPr>
          <a:xfrm>
            <a:off x="10881360" y="3108960"/>
            <a:ext cx="1307592" cy="3749040"/>
          </a:xfrm>
          <a:prstGeom prst="rect">
            <a:avLst/>
          </a:prstGeom>
          <a:solidFill>
            <a:srgbClr val="2C7BB8"/>
          </a:solidFill>
          <a:ln w="12700">
            <a:solidFill>
              <a:srgbClr val="2C7BB8"/>
            </a:solidFill>
            <a:prstDash val="solid"/>
          </a:ln>
        </p:spPr>
      </p:sp>
      <p:sp>
        <p:nvSpPr>
          <p:cNvPr id="6" name="Shape 4"/>
          <p:cNvSpPr/>
          <p:nvPr/>
        </p:nvSpPr>
        <p:spPr>
          <a:xfrm>
            <a:off x="8778240" y="3657600"/>
            <a:ext cx="2194560" cy="2194560"/>
          </a:xfrm>
          <a:prstGeom prst="ellipse">
            <a:avLst/>
          </a:prstGeom>
          <a:ln w="19050">
            <a:solidFill>
              <a:srgbClr val="1B1B1B"/>
            </a:solidFill>
            <a:prstDash val="sysDot"/>
          </a:ln>
        </p:spPr>
      </p:sp>
      <p:pic>
        <p:nvPicPr>
          <p:cNvPr id="7" name="Image 0" descr="/tmp/claude-0/-home-user-Dom-Manipulation/a70c4110-05d8-512e-ae11-d08dee025a7a/scratchpad/img/aa_a320.png">    </p:cNvPr>
          <p:cNvPicPr>
            <a:picLocks noChangeAspect="1"/>
          </p:cNvPicPr>
          <p:nvPr/>
        </p:nvPicPr>
        <p:blipFill>
          <a:blip r:embed="rId1"/>
          <a:stretch>
            <a:fillRect/>
          </a:stretch>
        </p:blipFill>
        <p:spPr>
          <a:xfrm>
            <a:off x="5852160" y="2377440"/>
            <a:ext cx="5852160" cy="2331720"/>
          </a:xfrm>
          <a:prstGeom prst="rect">
            <a:avLst/>
          </a:prstGeom>
        </p:spPr>
      </p:pic>
      <p:sp>
        <p:nvSpPr>
          <p:cNvPr id="8" name="Text 5"/>
          <p:cNvSpPr txBox="1"/>
          <p:nvPr/>
        </p:nvSpPr>
        <p:spPr>
          <a:xfrm>
            <a:off x="2743200" y="1188720"/>
            <a:ext cx="8229600" cy="1463040"/>
          </a:xfrm>
          <a:prstGeom prst="rect">
            <a:avLst/>
          </a:prstGeom>
          <a:noFill/>
          <a:ln/>
        </p:spPr>
        <p:txBody>
          <a:bodyPr wrap="square" lIns="0" tIns="0" rIns="0" bIns="0" rtlCol="0" anchor="ctr"/>
          <a:lstStyle/>
          <a:p>
            <a:pPr indent="0" marL="0">
              <a:buNone/>
            </a:pPr>
            <a:r>
              <a:rPr lang="en-US" sz="10000" dirty="0">
                <a:solidFill>
                  <a:srgbClr val="1B1B1B"/>
                </a:solidFill>
                <a:latin typeface="Bebas Neue" pitchFamily="34" charset="0"/>
                <a:ea typeface="Bebas Neue" pitchFamily="34" charset="-122"/>
                <a:cs typeface="Bebas Neue" pitchFamily="34" charset="-120"/>
              </a:rPr>
              <a:t>TERIMA KASIH</a:t>
            </a:r>
            <a:endParaRPr lang="en-US" sz="10000" dirty="0"/>
          </a:p>
        </p:txBody>
      </p:sp>
      <p:sp>
        <p:nvSpPr>
          <p:cNvPr id="9" name="Text 6"/>
          <p:cNvSpPr txBox="1"/>
          <p:nvPr/>
        </p:nvSpPr>
        <p:spPr>
          <a:xfrm>
            <a:off x="2743200" y="2743200"/>
            <a:ext cx="4754880" cy="914400"/>
          </a:xfrm>
          <a:prstGeom prst="rect">
            <a:avLst/>
          </a:prstGeom>
          <a:noFill/>
          <a:ln/>
        </p:spPr>
        <p:txBody>
          <a:bodyPr wrap="square" lIns="0" tIns="0" rIns="0" bIns="0" rtlCol="0" anchor="t"/>
          <a:lstStyle/>
          <a:p>
            <a:pPr indent="0" marL="0">
              <a:buNone/>
            </a:pPr>
            <a:r>
              <a:rPr lang="en-US" sz="2100" dirty="0">
                <a:solidFill>
                  <a:srgbClr val="4A4A4A"/>
                </a:solidFill>
                <a:latin typeface="Manrope" pitchFamily="34" charset="0"/>
                <a:ea typeface="Manrope" pitchFamily="34" charset="-122"/>
                <a:cs typeface="Manrope" pitchFamily="34" charset="-120"/>
              </a:rPr>
              <a:t>thanks for watching. Kami terbuka untuk pertanyaan dan diskusi.</a:t>
            </a:r>
            <a:endParaRPr lang="en-US" sz="2100" dirty="0"/>
          </a:p>
        </p:txBody>
      </p:sp>
      <p:sp>
        <p:nvSpPr>
          <p:cNvPr id="10" name="Shape 7"/>
          <p:cNvSpPr/>
          <p:nvPr/>
        </p:nvSpPr>
        <p:spPr>
          <a:xfrm>
            <a:off x="2743200" y="4892040"/>
            <a:ext cx="822960" cy="73152"/>
          </a:xfrm>
          <a:prstGeom prst="rect">
            <a:avLst/>
          </a:prstGeom>
          <a:solidFill>
            <a:srgbClr val="1B1B1B"/>
          </a:solidFill>
          <a:ln w="12700">
            <a:solidFill>
              <a:srgbClr val="1B1B1B"/>
            </a:solidFill>
            <a:prstDash val="solid"/>
          </a:ln>
        </p:spPr>
      </p:sp>
      <p:sp>
        <p:nvSpPr>
          <p:cNvPr id="11" name="Text 8"/>
          <p:cNvSpPr txBox="1"/>
          <p:nvPr/>
        </p:nvSpPr>
        <p:spPr>
          <a:xfrm>
            <a:off x="2743200" y="5074920"/>
            <a:ext cx="8046720" cy="1005840"/>
          </a:xfrm>
          <a:prstGeom prst="rect">
            <a:avLst/>
          </a:prstGeom>
          <a:noFill/>
          <a:ln/>
        </p:spPr>
        <p:txBody>
          <a:bodyPr wrap="square" lIns="0" tIns="0" rIns="0" bIns="0" rtlCol="0" anchor="t"/>
          <a:lstStyle/>
          <a:p>
            <a:pPr indent="0" marL="0">
              <a:buNone/>
            </a:pPr>
            <a:r>
              <a:rPr lang="en-US" sz="1800" b="1" dirty="0">
                <a:solidFill>
                  <a:srgbClr val="1B1B1B"/>
                </a:solidFill>
                <a:latin typeface="Manrope" pitchFamily="34" charset="0"/>
                <a:ea typeface="Manrope" pitchFamily="34" charset="-122"/>
                <a:cs typeface="Manrope" pitchFamily="34" charset="-120"/>
              </a:rPr>
              <a:t>KELOMPOK 3</a:t>
            </a:r>
            <a:endParaRPr lang="en-US" sz="2100" dirty="0"/>
          </a:p>
          <a:p>
            <a:pPr indent="0" marL="0">
              <a:buNone/>
            </a:pPr>
            <a:r>
              <a:rPr lang="en-US" sz="1600" dirty="0">
                <a:solidFill>
                  <a:srgbClr val="4A4A4A"/>
                </a:solidFill>
                <a:latin typeface="Manrope" pitchFamily="34" charset="0"/>
                <a:ea typeface="Manrope" pitchFamily="34" charset="-122"/>
                <a:cs typeface="Manrope" pitchFamily="34" charset="-120"/>
              </a:rPr>
              <a:t>Tifani Puspita  |  Dara Astrini Rahayu K  |  Happy Dinithasari  |  Aslih Abnuri</a:t>
            </a:r>
            <a:endParaRPr lang="en-US" sz="2100" dirty="0"/>
          </a:p>
        </p:txBody>
      </p:sp>
      <p:sp>
        <p:nvSpPr>
          <p:cNvPr id="12" name="Text 9"/>
          <p:cNvSpPr txBox="1"/>
          <p:nvPr/>
        </p:nvSpPr>
        <p:spPr>
          <a:xfrm>
            <a:off x="11247120" y="6355080"/>
            <a:ext cx="548640" cy="320040"/>
          </a:xfrm>
          <a:prstGeom prst="rect">
            <a:avLst/>
          </a:prstGeom>
          <a:noFill/>
          <a:ln/>
        </p:spPr>
        <p:txBody>
          <a:bodyPr wrap="square" lIns="0" tIns="0" rIns="0" bIns="0" rtlCol="0" anchor="ctr"/>
          <a:lstStyle/>
          <a:p>
            <a:pPr algn="r" indent="0" marL="0">
              <a:buNone/>
            </a:pPr>
            <a:r>
              <a:rPr lang="en-US" sz="1200" b="1" dirty="0">
                <a:solidFill>
                  <a:srgbClr val="1B1B1B"/>
                </a:solidFill>
                <a:latin typeface="Manrope" pitchFamily="34" charset="0"/>
                <a:ea typeface="Manrope" pitchFamily="34" charset="-122"/>
                <a:cs typeface="Manrope" pitchFamily="34" charset="-120"/>
              </a:rPr>
              <a:t>20</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AirAsia: The World's Lowest Cost Airline</dc:title>
  <dc:subject>PptxGenJS Presentation</dc:subject>
  <dc:creator>Kelompok 3</dc:creator>
  <cp:lastModifiedBy>Kelompok 3</cp:lastModifiedBy>
  <cp:revision>1</cp:revision>
  <dcterms:created xsi:type="dcterms:W3CDTF">2026-09-07T13:10:38Z</dcterms:created>
  <dcterms:modified xsi:type="dcterms:W3CDTF">2026-09-07T13:10:38Z</dcterms:modified>
</cp:coreProperties>
</file>