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1C1C"/>
                </a:solidFill>
                <a:latin typeface="Calibri"/>
              </a:defRPr>
            </a:pPr>
            <a:r>
              <a:rPr sz="1200" b="0" i="0" u="none" strike="noStrike">
                <a:solidFill>
                  <a:srgbClr val="1C1C1C"/>
                </a:solidFill>
                <a:latin typeface="Calibri"/>
              </a:rPr>
              <a:t>Biaya dan pendapatan per available seat kilometer, 2008 (sen ringgit)</a:t>
            </a:r>
          </a:p>
        </c:rich>
      </c:tx>
      <c:layout/>
      <c:overlay val="0"/>
    </c:title>
    <c:autoTitleDeleted val="0"/>
    <c:plotArea>
      <c:layout/>
      <c:barChart>
        <c:barDir val="col"/>
        <c:grouping val="clustered"/>
        <c:varyColors val="0"/>
        <c:ser>
          <c:idx val="0"/>
          <c:order val="0"/>
          <c:tx>
            <c:strRef>
              <c:f>Sheet1!$B$1</c:f>
              <c:strCache>
                <c:ptCount val="1"/>
                <c:pt idx="0">
                  <c:v>AirAsia</c:v>
                </c:pt>
              </c:strCache>
            </c:strRef>
          </c:tx>
          <c:spPr>
            <a:solidFill>
              <a:srgbClr val="C8102E"/>
            </a:solidFill>
            <a:effectLst/>
          </c:spPr>
          <c:invertIfNegative val="0"/>
          <c:dLbls>
            <c:numFmt formatCode="0.00" sourceLinked="0"/>
            <c:txPr>
              <a:bodyPr/>
              <a:lstStyle/>
              <a:p>
                <a:pPr>
                  <a:defRPr b="0" i="0" strike="noStrike" sz="1100" u="none">
                    <a:solidFill>
                      <a:srgbClr val="1C1C1C"/>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Biaya per ASK (sen)</c:v>
                  </c:pt>
                  <c:pt idx="1">
                    <c:v>Pendapatan per ASK (sen)</c:v>
                  </c:pt>
                </c:lvl>
              </c:multiLvlStrCache>
            </c:multiLvlStrRef>
          </c:cat>
          <c:val>
            <c:numRef>
              <c:f>Sheet1!$B$2:$B$3</c:f>
              <c:numCache>
                <c:formatCode>General</c:formatCode>
                <c:ptCount val="2"/>
                <c:pt idx="0">
                  <c:v>11.66</c:v>
                </c:pt>
                <c:pt idx="1">
                  <c:v>14.11</c:v>
                </c:pt>
              </c:numCache>
            </c:numRef>
          </c:val>
        </c:ser>
        <c:ser>
          <c:idx val="1"/>
          <c:order val="1"/>
          <c:tx>
            <c:strRef>
              <c:f>Sheet1!$C$1</c:f>
              <c:strCache>
                <c:ptCount val="1"/>
                <c:pt idx="0">
                  <c:v>Malaysia Airlines</c:v>
                </c:pt>
              </c:strCache>
            </c:strRef>
          </c:tx>
          <c:spPr>
            <a:solidFill>
              <a:srgbClr val="9E9E9E"/>
            </a:solidFill>
            <a:effectLst/>
          </c:spPr>
          <c:invertIfNegative val="0"/>
          <c:dLbls>
            <c:numFmt formatCode="0.00" sourceLinked="0"/>
            <c:txPr>
              <a:bodyPr/>
              <a:lstStyle/>
              <a:p>
                <a:pPr>
                  <a:defRPr b="0" i="0" strike="noStrike" sz="1100" u="none">
                    <a:solidFill>
                      <a:srgbClr val="1C1C1C"/>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Biaya per ASK (sen)</c:v>
                  </c:pt>
                  <c:pt idx="1">
                    <c:v>Pendapatan per ASK (sen)</c:v>
                  </c:pt>
                </c:lvl>
              </c:multiLvlStrCache>
            </c:multiLvlStrRef>
          </c:cat>
          <c:val>
            <c:numRef>
              <c:f>Sheet1!$C$2:$C$3</c:f>
              <c:numCache>
                <c:formatCode>General</c:formatCode>
                <c:ptCount val="2"/>
                <c:pt idx="0">
                  <c:v>22.8</c:v>
                </c:pt>
                <c:pt idx="1">
                  <c:v>20.6</c:v>
                </c:pt>
              </c:numCache>
            </c:numRef>
          </c:val>
        </c:ser>
        <c:dLbls>
          <c:numFmt formatCode="0.00" sourceLinked="0"/>
          <c:txPr>
            <a:bodyPr/>
            <a:lstStyle/>
            <a:p>
              <a:pPr>
                <a:defRPr b="0" i="0" strike="noStrike" sz="1100" u="none">
                  <a:solidFill>
                    <a:srgbClr val="1C1C1C"/>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C1C1C"/>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E6E"/>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1C1C"/>
                </a:solidFill>
                <a:latin typeface="Calibri"/>
              </a:defRPr>
            </a:pPr>
            <a:r>
              <a:rPr sz="1200" b="0" i="0" u="none" strike="noStrike">
                <a:solidFill>
                  <a:srgbClr val="1C1C1C"/>
                </a:solidFill>
                <a:latin typeface="Calibri"/>
              </a:rPr>
              <a:t>Biaya per penumpang satu arah, KL ke London (US$)</a:t>
            </a:r>
          </a:p>
        </c:rich>
      </c:tx>
      <c:layout/>
      <c:overlay val="0"/>
    </c:title>
    <c:autoTitleDeleted val="0"/>
    <c:plotArea>
      <c:layout/>
      <c:barChart>
        <c:barDir val="bar"/>
        <c:grouping val="clustered"/>
        <c:varyColors val="0"/>
        <c:ser>
          <c:idx val="0"/>
          <c:order val="0"/>
          <c:tx>
            <c:strRef>
              <c:f>Sheet1!$B$1</c:f>
              <c:strCache>
                <c:ptCount val="1"/>
                <c:pt idx="0">
                  <c:v>Biaya per penumpang (US$)</c:v>
                </c:pt>
              </c:strCache>
            </c:strRef>
          </c:tx>
          <c:spPr>
            <a:solidFill>
              <a:srgbClr val="C8102E"/>
            </a:solidFill>
            <a:effectLst/>
          </c:spPr>
          <c:invertIfNegative val="0"/>
          <c:dLbls>
            <c:numFmt formatCode="#,##0" sourceLinked="0"/>
            <c:txPr>
              <a:bodyPr/>
              <a:lstStyle/>
              <a:p>
                <a:pPr>
                  <a:defRPr b="0" i="0" strike="noStrike" sz="1000" u="none">
                    <a:solidFill>
                      <a:srgbClr val="1C1C1C"/>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AirAsia X (A340, Stansted)</c:v>
                  </c:pt>
                  <c:pt idx="1">
                    <c:v>British Airways (B747, Heathrow)</c:v>
                  </c:pt>
                  <c:pt idx="2">
                    <c:v>Malaysia Airlines (B747, Heathrow)</c:v>
                  </c:pt>
                  <c:pt idx="3">
                    <c:v>Emirates (B777 via Dubai)</c:v>
                  </c:pt>
                </c:lvl>
              </c:multiLvlStrCache>
            </c:multiLvlStrRef>
          </c:cat>
          <c:val>
            <c:numRef>
              <c:f>Sheet1!$B$2:$B$5</c:f>
              <c:numCache>
                <c:formatCode>General</c:formatCode>
                <c:ptCount val="4"/>
                <c:pt idx="0">
                  <c:v>373.14</c:v>
                </c:pt>
                <c:pt idx="1">
                  <c:v>553.37</c:v>
                </c:pt>
                <c:pt idx="2">
                  <c:v>589.5</c:v>
                </c:pt>
                <c:pt idx="3">
                  <c:v>609.56</c:v>
                </c:pt>
              </c:numCache>
            </c:numRef>
          </c:val>
        </c:ser>
        <c:dLbls>
          <c:numFmt formatCode="#,##0" sourceLinked="0"/>
          <c:txPr>
            <a:bodyPr/>
            <a:lstStyle/>
            <a:p>
              <a:pPr>
                <a:defRPr b="0" i="0" strike="noStrike" sz="1000" u="none">
                  <a:solidFill>
                    <a:srgbClr val="1C1C1C"/>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C1C1C"/>
                </a:solidFill>
                <a:latin typeface="Calibri"/>
              </a:defRPr>
            </a:pPr>
            <a:endParaRPr lang="en-US"/>
          </a:p>
        </c:txPr>
        <c:crossAx val="2094734552"/>
        <c:crosses val="autoZero"/>
        <c:auto val="1"/>
        <c:lblAlgn val="ctr"/>
        <c:noMultiLvlLbl val="1"/>
      </c:catAx>
      <c:valAx>
        <c:axId val="2094734552"/>
        <c:scaling>
          <c:orientation val="minMax"/>
          <c:max val="700"/>
          <c:min val="0"/>
        </c:scaling>
        <c:delete val="0"/>
        <c:axPos val="b"/>
        <c:majorGridlines>
          <c:spPr>
            <a:ln w="6350" cap="flat">
              <a:solidFill>
                <a:srgbClr val="E6E6E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E6E6E"/>
                </a:solidFill>
                <a:latin typeface="Arial"/>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C1C1C"/>
                </a:solidFill>
                <a:latin typeface="Calibri"/>
              </a:defRPr>
            </a:pPr>
            <a:r>
              <a:rPr sz="1100" b="0" i="0" u="none" strike="noStrike">
                <a:solidFill>
                  <a:srgbClr val="1C1C1C"/>
                </a:solidFill>
                <a:latin typeface="Calibri"/>
              </a:rPr>
              <a:t>Load factor seluruh jaringan (%), Tabel 9.5</a:t>
            </a:r>
          </a:p>
        </c:rich>
      </c:tx>
      <c:layout/>
      <c:overlay val="0"/>
    </c:title>
    <c:autoTitleDeleted val="0"/>
    <c:plotArea>
      <c:layout/>
      <c:lineChart>
        <c:varyColors val="0"/>
        <c:ser>
          <c:idx val="0"/>
          <c:order val="0"/>
          <c:tx>
            <c:strRef>
              <c:f>Sheet1!$B$1</c:f>
              <c:strCache>
                <c:ptCount val="1"/>
                <c:pt idx="0">
                  <c:v>AirAsia</c:v>
                </c:pt>
              </c:strCache>
            </c:strRef>
          </c:tx>
          <c:spPr>
            <a:solidFill>
              <a:srgbClr val="C8102E"/>
            </a:solidFill>
            <a:ln w="25400" cap="flat">
              <a:solidFill>
                <a:srgbClr val="C810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102E"/>
              </a:solidFill>
              <a:ln w="9525" cap="flat">
                <a:solidFill>
                  <a:srgbClr val="C8102E"/>
                </a:solidFill>
                <a:prstDash val="solid"/>
                <a:round/>
              </a:ln>
              <a:effectLst/>
            </c:spPr>
          </c:marker>
          <c:cat>
            <c:multiLvlStrRef>
              <c:f>Sheet1!$A$2:$A$6</c:f>
              <c:multiLvlStrCache>
                <c:ptCount val="5"/>
                <c:lvl>
                  <c:pt idx="0">
                    <c:v>Periode 1</c:v>
                  </c:pt>
                  <c:pt idx="1">
                    <c:v>Periode 2</c:v>
                  </c:pt>
                  <c:pt idx="2">
                    <c:v>Periode 3</c:v>
                  </c:pt>
                  <c:pt idx="3">
                    <c:v>Periode 4</c:v>
                  </c:pt>
                  <c:pt idx="4">
                    <c:v>Periode 5</c:v>
                  </c:pt>
                </c:lvl>
              </c:multiLvlStrCache>
            </c:multiLvlStrRef>
          </c:cat>
          <c:val>
            <c:numRef>
              <c:f>Sheet1!$B$2:$B$6</c:f>
              <c:numCache>
                <c:formatCode>General</c:formatCode>
                <c:ptCount val="5"/>
                <c:pt idx="0">
                  <c:v>77</c:v>
                </c:pt>
                <c:pt idx="1">
                  <c:v>75</c:v>
                </c:pt>
                <c:pt idx="2">
                  <c:v>78</c:v>
                </c:pt>
                <c:pt idx="3">
                  <c:v>80</c:v>
                </c:pt>
                <c:pt idx="4">
                  <c:v>75.5</c:v>
                </c:pt>
              </c:numCache>
            </c:numRef>
          </c:val>
          <c:smooth val="0"/>
        </c:ser>
        <c:ser>
          <c:idx val="1"/>
          <c:order val="1"/>
          <c:tx>
            <c:strRef>
              <c:f>Sheet1!$C$1</c:f>
              <c:strCache>
                <c:ptCount val="1"/>
                <c:pt idx="0">
                  <c:v>Emirates</c:v>
                </c:pt>
              </c:strCache>
            </c:strRef>
          </c:tx>
          <c:spPr>
            <a:solidFill>
              <a:srgbClr val="6E6E6E"/>
            </a:solidFill>
            <a:ln w="25400" cap="flat">
              <a:solidFill>
                <a:srgbClr val="6E6E6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6E6E6E"/>
              </a:solidFill>
              <a:ln w="9525" cap="flat">
                <a:solidFill>
                  <a:srgbClr val="6E6E6E"/>
                </a:solidFill>
                <a:prstDash val="solid"/>
                <a:round/>
              </a:ln>
              <a:effectLst/>
            </c:spPr>
          </c:marker>
          <c:cat>
            <c:multiLvlStrRef>
              <c:f>Sheet1!$A$2:$A$6</c:f>
              <c:multiLvlStrCache>
                <c:ptCount val="5"/>
                <c:lvl>
                  <c:pt idx="0">
                    <c:v>Periode 1</c:v>
                  </c:pt>
                  <c:pt idx="1">
                    <c:v>Periode 2</c:v>
                  </c:pt>
                  <c:pt idx="2">
                    <c:v>Periode 3</c:v>
                  </c:pt>
                  <c:pt idx="3">
                    <c:v>Periode 4</c:v>
                  </c:pt>
                  <c:pt idx="4">
                    <c:v>Periode 5</c:v>
                  </c:pt>
                </c:lvl>
              </c:multiLvlStrCache>
            </c:multiLvlStrRef>
          </c:cat>
          <c:val>
            <c:numRef>
              <c:f>Sheet1!$C$2:$C$6</c:f>
              <c:numCache>
                <c:formatCode>General</c:formatCode>
                <c:ptCount val="5"/>
                <c:pt idx="0">
                  <c:v>73.4</c:v>
                </c:pt>
                <c:pt idx="1">
                  <c:v>74.6</c:v>
                </c:pt>
                <c:pt idx="2">
                  <c:v>75.9</c:v>
                </c:pt>
                <c:pt idx="3">
                  <c:v>76.2</c:v>
                </c:pt>
                <c:pt idx="4">
                  <c:v>79.8</c:v>
                </c:pt>
              </c:numCache>
            </c:numRef>
          </c:val>
          <c:smooth val="0"/>
        </c:ser>
        <c:ser>
          <c:idx val="2"/>
          <c:order val="2"/>
          <c:tx>
            <c:strRef>
              <c:f>Sheet1!$D$1</c:f>
              <c:strCache>
                <c:ptCount val="1"/>
                <c:pt idx="0">
                  <c:v>British Airways</c:v>
                </c:pt>
              </c:strCache>
            </c:strRef>
          </c:tx>
          <c:spPr>
            <a:solidFill>
              <a:srgbClr val="B0B0B0"/>
            </a:solidFill>
            <a:ln w="25400" cap="flat">
              <a:solidFill>
                <a:srgbClr val="B0B0B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B0B0B0"/>
              </a:solidFill>
              <a:ln w="9525" cap="flat">
                <a:solidFill>
                  <a:srgbClr val="B0B0B0"/>
                </a:solidFill>
                <a:prstDash val="solid"/>
                <a:round/>
              </a:ln>
              <a:effectLst/>
            </c:spPr>
          </c:marker>
          <c:cat>
            <c:multiLvlStrRef>
              <c:f>Sheet1!$A$2:$A$6</c:f>
              <c:multiLvlStrCache>
                <c:ptCount val="5"/>
                <c:lvl>
                  <c:pt idx="0">
                    <c:v>Periode 1</c:v>
                  </c:pt>
                  <c:pt idx="1">
                    <c:v>Periode 2</c:v>
                  </c:pt>
                  <c:pt idx="2">
                    <c:v>Periode 3</c:v>
                  </c:pt>
                  <c:pt idx="3">
                    <c:v>Periode 4</c:v>
                  </c:pt>
                  <c:pt idx="4">
                    <c:v>Periode 5</c:v>
                  </c:pt>
                </c:lvl>
              </c:multiLvlStrCache>
            </c:multiLvlStrRef>
          </c:cat>
          <c:val>
            <c:numRef>
              <c:f>Sheet1!$D$2:$D$6</c:f>
              <c:numCache>
                <c:formatCode>General</c:formatCode>
                <c:ptCount val="5"/>
                <c:pt idx="0">
                  <c:v>67.6</c:v>
                </c:pt>
                <c:pt idx="1">
                  <c:v>69.7</c:v>
                </c:pt>
                <c:pt idx="2">
                  <c:v>70</c:v>
                </c:pt>
                <c:pt idx="3">
                  <c:v>70.4</c:v>
                </c:pt>
                <c:pt idx="4">
                  <c:v>71.2</c:v>
                </c:pt>
              </c:numCache>
            </c:numRef>
          </c:val>
          <c:smooth val="0"/>
        </c:ser>
        <c:ser>
          <c:idx val="3"/>
          <c:order val="3"/>
          <c:tx>
            <c:strRef>
              <c:f>Sheet1!$E$1</c:f>
              <c:strCache>
                <c:ptCount val="1"/>
                <c:pt idx="0">
                  <c:v>Malaysia Airlines</c:v>
                </c:pt>
              </c:strCache>
            </c:strRef>
          </c:tx>
          <c:spPr>
            <a:solidFill>
              <a:srgbClr val="D9A5AE"/>
            </a:solidFill>
            <a:ln w="25400" cap="flat">
              <a:solidFill>
                <a:srgbClr val="D9A5A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D9A5AE"/>
              </a:solidFill>
              <a:ln w="9525" cap="flat">
                <a:solidFill>
                  <a:srgbClr val="D9A5AE"/>
                </a:solidFill>
                <a:prstDash val="solid"/>
                <a:round/>
              </a:ln>
              <a:effectLst/>
            </c:spPr>
          </c:marker>
          <c:cat>
            <c:multiLvlStrRef>
              <c:f>Sheet1!$A$2:$A$6</c:f>
              <c:multiLvlStrCache>
                <c:ptCount val="5"/>
                <c:lvl>
                  <c:pt idx="0">
                    <c:v>Periode 1</c:v>
                  </c:pt>
                  <c:pt idx="1">
                    <c:v>Periode 2</c:v>
                  </c:pt>
                  <c:pt idx="2">
                    <c:v>Periode 3</c:v>
                  </c:pt>
                  <c:pt idx="3">
                    <c:v>Periode 4</c:v>
                  </c:pt>
                  <c:pt idx="4">
                    <c:v>Periode 5</c:v>
                  </c:pt>
                </c:lvl>
              </c:multiLvlStrCache>
            </c:multiLvlStrRef>
          </c:cat>
          <c:val>
            <c:numRef>
              <c:f>Sheet1!$E$2:$E$6</c:f>
              <c:numCache>
                <c:formatCode>General</c:formatCode>
                <c:ptCount val="5"/>
                <c:pt idx="0">
                  <c:v>69</c:v>
                </c:pt>
                <c:pt idx="1">
                  <c:v>71.5</c:v>
                </c:pt>
                <c:pt idx="2">
                  <c:v>69.8</c:v>
                </c:pt>
                <c:pt idx="3">
                  <c:v>71.4</c:v>
                </c:pt>
                <c:pt idx="4">
                  <c:v>67.8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E6E6E"/>
                </a:solidFill>
                <a:latin typeface="Arial"/>
              </a:defRPr>
            </a:pPr>
            <a:endParaRPr lang="en-US"/>
          </a:p>
        </c:txPr>
        <c:crossAx val="2094734552"/>
        <c:crosses val="autoZero"/>
        <c:auto val="1"/>
        <c:lblAlgn val="ctr"/>
        <c:noMultiLvlLbl val="1"/>
      </c:catAx>
      <c:valAx>
        <c:axId val="2094734552"/>
        <c:scaling>
          <c:orientation val="minMax"/>
          <c:max val="85"/>
          <c:min val="6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E6E"/>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9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Sampaikan satu pertanyaan strategis: apakah keunggulan biaya AirAsia yang dibangun di rute pendek dapat dipindahkan ke rute jarak jauh melalui AirAsia X. Kasus ditulis Robert M. Grant (2010), data per 2008 sampai pertengahan 2009.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bahwa urutan analisis mengikuti logika SCP: struktur industri menentukan perilaku perusahaan dan pada akhirnya kinerja. Analisis eksternal dulu, baru posisi perusahaan, baru pilihan. Penanda tahap di atas setiap slide menunjukkan posisi kita dalam alur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skala pertumbuhan dan pengakuan eksternal. Angka ROA 4 persen mengacu pada laba operasi sebelum depresiasi, amortisasi, dan bunga terhadap rata-rata total aset (catatan kaki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Mengikuti panduan RPKPS: masalah dirumuskan sebagai tujuan yang terhalang. Kata kuncinya goals dan barrier. Istilah exploration dan exploitation mengacu pada March (1991): perusahaan perlu menyeimbangkan pendalaman kompetensi yang ada dengan pencarian peluang baru.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Simpulan PESTEL: faktor politik dan legal adalah pembentuk struktur paling kuat. Deregulasi menciptakan peluang, tetapi pembatasan kepemilikan asing dan relasi dengan maskapai nasional memaksa AirAsia memilih struktur joint venture dan entitas terpisah untuk AirAsia X. Angka 47 persen dihitung dari Tabel 9.1: 1.389,8 dibagi 2.966.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Kaitkan dengan kerangka SCP yang dipresentasikan Kelompok 2 dan Porter (1980). Poin utamanya: profitabilitas AirAsia bukan karena industri menarik, tetapi karena posisi biaya relatifnya. Ini menjadi dasar pertanyaan transferabilitas ke rute jauh.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KSF diturunkan dari struktur industri, bukan dari daftar generik. Kalau pembeli peka harga dan pemasok kuat, faktor penentu kemenangan adalah biaya, utilisasi, dan load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Peta ini adalah alat Bab 3 yang paling relevan untuk kasus ini. Tunjukkan bahwa AirAsia X pindah kelompok strategis, dan pesaing di kelompok tujuan memiliki model laba yang berbeda.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Jaringan MAS memang berbeda (lebih banyak rute menengah dan jauh), tetapi kondisi biaya input sama. Selisih dua kali lipat pada biaya per ASK adalah bukti keunggulan biaya yang nyata, bukan sekadar klaim.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 analitis: keunggulan biaya AirAsia adalah sistem, bukan satu trik. Tiga pilar ini saling menopang. Itulah sebabnya sulit ditiru, tetapi juga sulit dipindahkan sebagian.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slide inti tahap ketiga. Kesimpulannya: yang terbawa adalah keunggulan organisasional, yang hilang adalah keunggulan operasional khas rute pendek. Maka AirAsia X harus membangun sumber biaya rendah baru, tidak cukup mewarisi.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Bahan bakar AirAsia X per penerbangan US$79.299 vs US$159.522 untuk B747 BA dan MAS. Tetapi biaya sewa pesawat US$5.952 hanya muncul di AirAsia X karena pesaing memiliki pesawatnya sendiri. Periode pada grafik load factor mengikuti urutan kolom Tabel 9.5; tahun tidak disebutkan eksplisit dalam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Sesuai panduan kasus, isu dirumuskan sebagai pertanyaan eksplisit. Setiap alternatif di slide berikut akan diuji terhadap lima pertanyaan ini. Isu 4 dan 5 memakai lensa ambidexterity dan tata kelola hibrida.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Sesuai panduan RPKPS, alternatif dideskripsikan ringkas tanpa argumen pro dan kontra. Lensa ambidexterity: March (1991), O'Reilly dan Tushman (2004). Tata kelola hibrida: Williamson (1991).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Alternatif A aman tetapi mengabaikan sumber pertumbuhan. Alternatif B menangkap peluang tetapi memindahkan seluruh risiko ke neraca yang lemah. Alternatif C mengunci kendali tanpa mengunci risiko.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Rencana implementasi mengikuti tuntutan CO 2 dalam RPKPS: KPI, waktu, penanggung jawab, sumber daya, dan mitigasi risiko. Angka target adalah usulan kelompok, bukan angka dari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mengaitkan kembali ke Bab 3. Ajukan pertanyaan diskusi ke kelas dan minta kelompok lain merespons dengan argumen berbasis data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Referensi lengkap: Grant (2010) Contemporary Strategy Analysis, Case 9. Thompson dan Strickland (2019) Strategic Management, Bab 3. Porter (1980) Competitive Strategy. March (1991) Organization Science 2(1). O'Reilly dan Tushman (2004) Harvard Business Review 82(4). Williamson (1991) Administrative Science Quarterly 36(2). Handoko, Indarti, dan Almahendra (2014) Manajemen dalam Berbagai Perspektif. RPKPS MAN 5422 FEB UGM (2026), Lampiran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0B20"/>
        </a:solidFill>
      </p:bgPr>
    </p:bg>
    <p:spTree>
      <p:nvGrpSpPr>
        <p:cNvPr id="1" name=""/>
        <p:cNvGrpSpPr/>
        <p:nvPr/>
      </p:nvGrpSpPr>
      <p:grpSpPr>
        <a:xfrm>
          <a:off x="0" y="0"/>
          <a:ext cx="0" cy="0"/>
          <a:chOff x="0" y="0"/>
          <a:chExt cx="0" cy="0"/>
        </a:xfrm>
      </p:grpSpPr>
      <p:sp>
        <p:nvSpPr>
          <p:cNvPr id="2" name="Shape 0"/>
          <p:cNvSpPr/>
          <p:nvPr/>
        </p:nvSpPr>
        <p:spPr>
          <a:xfrm>
            <a:off x="8412480" y="-1463040"/>
            <a:ext cx="5669280" cy="5669280"/>
          </a:xfrm>
          <a:prstGeom prst="ellipse">
            <a:avLst/>
          </a:prstGeom>
          <a:solidFill>
            <a:srgbClr val="C8102E"/>
          </a:solidFill>
          <a:ln w="12700">
            <a:solidFill>
              <a:srgbClr val="C8102E"/>
            </a:solidFill>
            <a:prstDash val="solid"/>
          </a:ln>
        </p:spPr>
      </p:sp>
      <p:sp>
        <p:nvSpPr>
          <p:cNvPr id="3" name="Text 1"/>
          <p:cNvSpPr txBox="1"/>
          <p:nvPr/>
        </p:nvSpPr>
        <p:spPr>
          <a:xfrm>
            <a:off x="640080" y="1005840"/>
            <a:ext cx="8229600" cy="320040"/>
          </a:xfrm>
          <a:prstGeom prst="rect">
            <a:avLst/>
          </a:prstGeom>
          <a:noFill/>
          <a:ln/>
        </p:spPr>
        <p:txBody>
          <a:bodyPr wrap="square" lIns="0" tIns="0" rIns="0" bIns="0" rtlCol="0" anchor="ctr"/>
          <a:lstStyle/>
          <a:p>
            <a:pPr indent="0" marL="0">
              <a:buNone/>
            </a:pPr>
            <a:r>
              <a:rPr lang="en-US" sz="1200" b="1" spc="200" kern="0" dirty="0">
                <a:solidFill>
                  <a:srgbClr val="F1C7CF"/>
                </a:solidFill>
                <a:latin typeface="Calibri" pitchFamily="34" charset="0"/>
                <a:ea typeface="Calibri" pitchFamily="34" charset="-122"/>
                <a:cs typeface="Calibri" pitchFamily="34" charset="-120"/>
              </a:rPr>
              <a:t>CASE ANALYSIS  |  SESSION 4: EVALUATING A COMPANY'S EXTERNAL ENVIRONMENT</a:t>
            </a:r>
            <a:endParaRPr lang="en-US" sz="1200" dirty="0"/>
          </a:p>
        </p:txBody>
      </p:sp>
      <p:sp>
        <p:nvSpPr>
          <p:cNvPr id="4" name="Text 2"/>
          <p:cNvSpPr txBox="1"/>
          <p:nvPr/>
        </p:nvSpPr>
        <p:spPr>
          <a:xfrm>
            <a:off x="640080" y="1417320"/>
            <a:ext cx="8229600" cy="109728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AirAsia</a:t>
            </a:r>
            <a:endParaRPr lang="en-US" sz="6000" dirty="0"/>
          </a:p>
        </p:txBody>
      </p:sp>
      <p:sp>
        <p:nvSpPr>
          <p:cNvPr id="5" name="Text 3"/>
          <p:cNvSpPr txBox="1"/>
          <p:nvPr/>
        </p:nvSpPr>
        <p:spPr>
          <a:xfrm>
            <a:off x="640080" y="2468880"/>
            <a:ext cx="8229600" cy="640080"/>
          </a:xfrm>
          <a:prstGeom prst="rect">
            <a:avLst/>
          </a:prstGeom>
          <a:noFill/>
          <a:ln/>
        </p:spPr>
        <p:txBody>
          <a:bodyPr wrap="square" lIns="0" tIns="0" rIns="0" bIns="0" rtlCol="0" anchor="ctr"/>
          <a:lstStyle/>
          <a:p>
            <a:pPr indent="0" marL="0">
              <a:buNone/>
            </a:pPr>
            <a:r>
              <a:rPr lang="en-US" sz="3000" dirty="0">
                <a:solidFill>
                  <a:srgbClr val="FFFFFF"/>
                </a:solidFill>
                <a:latin typeface="Cambria" pitchFamily="34" charset="0"/>
                <a:ea typeface="Cambria" pitchFamily="34" charset="-122"/>
                <a:cs typeface="Cambria" pitchFamily="34" charset="-120"/>
              </a:rPr>
              <a:t>The World's Lowest Cost Airline</a:t>
            </a:r>
            <a:endParaRPr lang="en-US" sz="3000" dirty="0"/>
          </a:p>
        </p:txBody>
      </p:sp>
      <p:sp>
        <p:nvSpPr>
          <p:cNvPr id="6" name="Text 4"/>
          <p:cNvSpPr txBox="1"/>
          <p:nvPr/>
        </p:nvSpPr>
        <p:spPr>
          <a:xfrm>
            <a:off x="640080" y="3200400"/>
            <a:ext cx="7772400" cy="731520"/>
          </a:xfrm>
          <a:prstGeom prst="rect">
            <a:avLst/>
          </a:prstGeom>
          <a:noFill/>
          <a:ln/>
        </p:spPr>
        <p:txBody>
          <a:bodyPr wrap="square" lIns="0" tIns="0" rIns="0" bIns="0" rtlCol="0" anchor="ctr"/>
          <a:lstStyle/>
          <a:p>
            <a:pPr indent="0" marL="0">
              <a:buNone/>
            </a:pPr>
            <a:r>
              <a:rPr lang="en-US" sz="1600" i="1" dirty="0">
                <a:solidFill>
                  <a:srgbClr val="F1C7CF"/>
                </a:solidFill>
                <a:latin typeface="Calibri" pitchFamily="34" charset="0"/>
                <a:ea typeface="Calibri" pitchFamily="34" charset="-122"/>
                <a:cs typeface="Calibri" pitchFamily="34" charset="-120"/>
              </a:rPr>
              <a:t>Sejauh mana keunggulan biaya (cost advantage) yang dibangun di rute pendek dapat dibawa ke pasar penerbangan jarak jauh?</a:t>
            </a:r>
            <a:endParaRPr lang="en-US" sz="1600" dirty="0"/>
          </a:p>
        </p:txBody>
      </p:sp>
      <p:sp>
        <p:nvSpPr>
          <p:cNvPr id="7" name="Text 5"/>
          <p:cNvSpPr txBox="1"/>
          <p:nvPr/>
        </p:nvSpPr>
        <p:spPr>
          <a:xfrm>
            <a:off x="640080" y="4572000"/>
            <a:ext cx="10058400" cy="1463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Kelompok 3</a:t>
            </a:r>
            <a:endParaRPr lang="en-US" sz="1400" dirty="0"/>
          </a:p>
          <a:p>
            <a:pPr indent="0" marL="0">
              <a:buNone/>
            </a:pPr>
            <a:r>
              <a:rPr lang="en-US" sz="1200" dirty="0">
                <a:solidFill>
                  <a:srgbClr val="FFFFFF"/>
                </a:solidFill>
                <a:latin typeface="Calibri" pitchFamily="34" charset="0"/>
                <a:ea typeface="Calibri" pitchFamily="34" charset="-122"/>
                <a:cs typeface="Calibri" pitchFamily="34" charset="-120"/>
              </a:rPr>
              <a:t>Tifani Puspita  |  Dara Astrini Rahayu K  |  Happy Dinithasari  |  Aslih Abnuri</a:t>
            </a:r>
            <a:endParaRPr lang="en-US" sz="1400" dirty="0"/>
          </a:p>
          <a:p>
            <a:pPr indent="0" marL="0">
              <a:buNone/>
            </a:pPr>
            <a:r>
              <a:rPr lang="en-US" sz="600" dirty="0">
                <a:solidFill>
                  <a:srgbClr val="FFFFFF"/>
                </a:solidFill>
                <a:latin typeface="Calibri" pitchFamily="34" charset="0"/>
                <a:ea typeface="Calibri" pitchFamily="34" charset="-122"/>
                <a:cs typeface="Calibri" pitchFamily="34" charset="-120"/>
              </a:rPr>
              <a:t> </a:t>
            </a:r>
            <a:endParaRPr lang="en-US" sz="1400" dirty="0"/>
          </a:p>
          <a:p>
            <a:pPr indent="0" marL="0">
              <a:buNone/>
            </a:pPr>
            <a:r>
              <a:rPr lang="en-US" sz="1100" dirty="0">
                <a:solidFill>
                  <a:srgbClr val="FFFFFF"/>
                </a:solidFill>
                <a:latin typeface="Calibri" pitchFamily="34" charset="0"/>
                <a:ea typeface="Calibri" pitchFamily="34" charset="-122"/>
                <a:cs typeface="Calibri" pitchFamily="34" charset="-120"/>
              </a:rPr>
              <a:t>Strategic Management (MAN 5422), Program Magister Manajemen, Fakultas Ekonomika dan Bisnis, Universitas Gadjah Mada</a:t>
            </a:r>
            <a:endParaRPr lang="en-US" sz="1400" dirty="0"/>
          </a:p>
          <a:p>
            <a:pPr indent="0" marL="0">
              <a:buNone/>
            </a:pPr>
            <a:r>
              <a:rPr lang="en-US" sz="1100" dirty="0">
                <a:solidFill>
                  <a:srgbClr val="FFFFFF"/>
                </a:solidFill>
                <a:latin typeface="Calibri" pitchFamily="34" charset="0"/>
                <a:ea typeface="Calibri" pitchFamily="34" charset="-122"/>
                <a:cs typeface="Calibri" pitchFamily="34" charset="-120"/>
              </a:rPr>
              <a:t>Dosen: Dr. Rangga Almahendra, S.T., M.M.</a:t>
            </a:r>
            <a:endParaRPr lang="en-US" sz="1400" dirty="0"/>
          </a:p>
        </p:txBody>
      </p:sp>
      <p:sp>
        <p:nvSpPr>
          <p:cNvPr id="8"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F1C7CF"/>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9" name="Text 7"/>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F1C7CF"/>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21792"/>
            <a:ext cx="11064240" cy="640080"/>
          </a:xfrm>
          <a:prstGeom prst="rect">
            <a:avLst/>
          </a:prstGeom>
          <a:noFill/>
          <a:ln/>
        </p:spPr>
        <p:txBody>
          <a:bodyPr wrap="square" lIns="0" tIns="0" rIns="0" bIns="0" rtlCol="0" anchor="ctr"/>
          <a:lstStyle/>
          <a:p>
            <a:pPr indent="0" marL="0">
              <a:buNone/>
            </a:pPr>
            <a:r>
              <a:rPr lang="en-US" sz="3000" b="1" dirty="0">
                <a:solidFill>
                  <a:srgbClr val="1C1C1C"/>
                </a:solidFill>
                <a:latin typeface="Cambria" pitchFamily="34" charset="0"/>
                <a:ea typeface="Cambria" pitchFamily="34" charset="-122"/>
                <a:cs typeface="Cambria" pitchFamily="34" charset="-120"/>
              </a:rPr>
              <a:t>How we read the case</a:t>
            </a:r>
            <a:endParaRPr lang="en-US" sz="3000" dirty="0"/>
          </a:p>
        </p:txBody>
      </p:sp>
      <p:sp>
        <p:nvSpPr>
          <p:cNvPr id="3" name="Shape 1"/>
          <p:cNvSpPr/>
          <p:nvPr/>
        </p:nvSpPr>
        <p:spPr>
          <a:xfrm>
            <a:off x="548640" y="1417320"/>
            <a:ext cx="11064240" cy="868680"/>
          </a:xfrm>
          <a:prstGeom prst="roundRect">
            <a:avLst>
              <a:gd name="adj" fmla="val 8421"/>
            </a:avLst>
          </a:prstGeom>
          <a:solidFill>
            <a:srgbClr val="F4F4F4"/>
          </a:solidFill>
          <a:ln w="12700">
            <a:solidFill>
              <a:srgbClr val="F4F4F4"/>
            </a:solidFill>
            <a:prstDash val="solid"/>
          </a:ln>
        </p:spPr>
      </p:sp>
      <p:sp>
        <p:nvSpPr>
          <p:cNvPr id="4" name="Text 2"/>
          <p:cNvSpPr txBox="1"/>
          <p:nvPr/>
        </p:nvSpPr>
        <p:spPr>
          <a:xfrm>
            <a:off x="777240" y="1472184"/>
            <a:ext cx="10607040" cy="758952"/>
          </a:xfrm>
          <a:prstGeom prst="rect">
            <a:avLst/>
          </a:prstGeom>
          <a:noFill/>
          <a:ln/>
        </p:spPr>
        <p:txBody>
          <a:bodyPr wrap="square" lIns="0" tIns="0" rIns="0" bIns="0" rtlCol="0" anchor="ctr"/>
          <a:lstStyle/>
          <a:p>
            <a:pPr indent="0" marL="0">
              <a:buNone/>
            </a:pPr>
            <a:r>
              <a:rPr lang="en-US" sz="1150" b="1" dirty="0">
                <a:solidFill>
                  <a:srgbClr val="C8102E"/>
                </a:solidFill>
                <a:latin typeface="Calibri" pitchFamily="34" charset="0"/>
                <a:ea typeface="Calibri" pitchFamily="34" charset="-122"/>
                <a:cs typeface="Calibri" pitchFamily="34" charset="-120"/>
              </a:rPr>
              <a:t>Titik berangkat. </a:t>
            </a:r>
            <a:pPr indent="0" marL="0">
              <a:buNone/>
            </a:pPr>
            <a:r>
              <a:rPr lang="en-US" sz="1150" dirty="0">
                <a:solidFill>
                  <a:srgbClr val="1C1C1C"/>
                </a:solidFill>
                <a:latin typeface="Calibri" pitchFamily="34" charset="0"/>
                <a:ea typeface="Calibri" pitchFamily="34" charset="-122"/>
                <a:cs typeface="Calibri" pitchFamily="34" charset="-120"/>
              </a:rPr>
              <a:t>Predikat lowest cost airline sering dibaca sebagai kelemahan, seolah AirAsia hanya menjual murah. Dibaca dengan tepat, murah adalah hasil dari disiplin biaya (cost discipline) yang sistematis. Pertanyaannya bukan mengapa AirAsia murah, melainkan apakah sistem yang membuatnya murah dapat dipindahkan (transferable) ke medan yang berbeda.</a:t>
            </a:r>
            <a:endParaRPr lang="en-US" sz="1150" dirty="0"/>
          </a:p>
        </p:txBody>
      </p:sp>
      <p:sp>
        <p:nvSpPr>
          <p:cNvPr id="5" name="Shape 3"/>
          <p:cNvSpPr/>
          <p:nvPr/>
        </p:nvSpPr>
        <p:spPr>
          <a:xfrm>
            <a:off x="548640" y="2514600"/>
            <a:ext cx="2651760" cy="2743200"/>
          </a:xfrm>
          <a:prstGeom prst="roundRect">
            <a:avLst>
              <a:gd name="adj" fmla="val 2759"/>
            </a:avLst>
          </a:prstGeom>
          <a:solidFill>
            <a:srgbClr val="F4F4F4"/>
          </a:solidFill>
          <a:ln w="12700">
            <a:solidFill>
              <a:srgbClr val="F4F4F4"/>
            </a:solidFill>
            <a:prstDash val="solid"/>
          </a:ln>
        </p:spPr>
      </p:sp>
      <p:sp>
        <p:nvSpPr>
          <p:cNvPr id="6" name="Shape 4"/>
          <p:cNvSpPr/>
          <p:nvPr/>
        </p:nvSpPr>
        <p:spPr>
          <a:xfrm>
            <a:off x="731520" y="2679192"/>
            <a:ext cx="384048" cy="384048"/>
          </a:xfrm>
          <a:prstGeom prst="ellipse">
            <a:avLst/>
          </a:prstGeom>
          <a:solidFill>
            <a:srgbClr val="C8102E"/>
          </a:solidFill>
          <a:ln w="12700">
            <a:solidFill>
              <a:srgbClr val="C8102E"/>
            </a:solidFill>
            <a:prstDash val="solid"/>
          </a:ln>
        </p:spPr>
      </p:sp>
      <p:sp>
        <p:nvSpPr>
          <p:cNvPr id="7" name="Text 5"/>
          <p:cNvSpPr txBox="1"/>
          <p:nvPr/>
        </p:nvSpPr>
        <p:spPr>
          <a:xfrm>
            <a:off x="731520" y="26791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234440" y="2651760"/>
            <a:ext cx="1828800" cy="457200"/>
          </a:xfrm>
          <a:prstGeom prst="rect">
            <a:avLst/>
          </a:prstGeom>
          <a:noFill/>
          <a:ln/>
        </p:spPr>
        <p:txBody>
          <a:bodyPr wrap="square" lIns="0" tIns="0" rIns="0" bIns="0" rtlCol="0" anchor="ctr"/>
          <a:lstStyle/>
          <a:p>
            <a:pPr indent="0" marL="0">
              <a:buNone/>
            </a:pPr>
            <a:r>
              <a:rPr lang="en-US" sz="1350" b="1" dirty="0">
                <a:solidFill>
                  <a:srgbClr val="1C1C1C"/>
                </a:solidFill>
                <a:latin typeface="Calibri" pitchFamily="34" charset="0"/>
                <a:ea typeface="Calibri" pitchFamily="34" charset="-122"/>
                <a:cs typeface="Calibri" pitchFamily="34" charset="-120"/>
              </a:rPr>
              <a:t>Problem</a:t>
            </a:r>
            <a:endParaRPr lang="en-US" sz="1350" dirty="0"/>
          </a:p>
        </p:txBody>
      </p:sp>
      <p:sp>
        <p:nvSpPr>
          <p:cNvPr id="9" name="Text 7"/>
          <p:cNvSpPr txBox="1"/>
          <p:nvPr/>
        </p:nvSpPr>
        <p:spPr>
          <a:xfrm>
            <a:off x="749808" y="3200400"/>
            <a:ext cx="2286000" cy="1554480"/>
          </a:xfrm>
          <a:prstGeom prst="rect">
            <a:avLst/>
          </a:prstGeom>
          <a:noFill/>
          <a:ln/>
        </p:spPr>
        <p:txBody>
          <a:bodyPr wrap="square" lIns="0" tIns="0" rIns="0" bIns="0" rtlCol="0" anchor="t"/>
          <a:lstStyle/>
          <a:p>
            <a:pPr indent="0" marL="0">
              <a:buNone/>
            </a:pPr>
            <a:r>
              <a:rPr lang="en-US" sz="1100" dirty="0">
                <a:solidFill>
                  <a:srgbClr val="1C1C1C"/>
                </a:solidFill>
                <a:latin typeface="Calibri" pitchFamily="34" charset="0"/>
                <a:ea typeface="Calibri" pitchFamily="34" charset="-122"/>
                <a:cs typeface="Calibri" pitchFamily="34" charset="-120"/>
              </a:rPr>
              <a:t>Tujuan (goals) yang ingin dicapai AirAsia dan hambatan (barriers) yang menghalanginya.</a:t>
            </a:r>
            <a:endParaRPr lang="en-US" sz="1100" dirty="0"/>
          </a:p>
        </p:txBody>
      </p:sp>
      <p:sp>
        <p:nvSpPr>
          <p:cNvPr id="10" name="Text 8"/>
          <p:cNvSpPr txBox="1"/>
          <p:nvPr/>
        </p:nvSpPr>
        <p:spPr>
          <a:xfrm>
            <a:off x="749808" y="4754880"/>
            <a:ext cx="2286000" cy="411480"/>
          </a:xfrm>
          <a:prstGeom prst="rect">
            <a:avLst/>
          </a:prstGeom>
          <a:noFill/>
          <a:ln/>
        </p:spPr>
        <p:txBody>
          <a:bodyPr wrap="square" lIns="0" tIns="0" rIns="0" bIns="0" rtlCol="0" anchor="b"/>
          <a:lstStyle/>
          <a:p>
            <a:pPr indent="0" marL="0">
              <a:buNone/>
            </a:pPr>
            <a:r>
              <a:rPr lang="en-US" sz="950" i="1" dirty="0">
                <a:solidFill>
                  <a:srgbClr val="C8102E"/>
                </a:solidFill>
                <a:latin typeface="Calibri" pitchFamily="34" charset="0"/>
                <a:ea typeface="Calibri" pitchFamily="34" charset="-122"/>
                <a:cs typeface="Calibri" pitchFamily="34" charset="-120"/>
              </a:rPr>
              <a:t>Slide 3 sampai 4</a:t>
            </a:r>
            <a:endParaRPr lang="en-US" sz="950" dirty="0"/>
          </a:p>
        </p:txBody>
      </p:sp>
      <p:sp>
        <p:nvSpPr>
          <p:cNvPr id="11" name="Shape 9"/>
          <p:cNvSpPr/>
          <p:nvPr/>
        </p:nvSpPr>
        <p:spPr>
          <a:xfrm>
            <a:off x="3383280" y="2514600"/>
            <a:ext cx="2651760" cy="2743200"/>
          </a:xfrm>
          <a:prstGeom prst="roundRect">
            <a:avLst>
              <a:gd name="adj" fmla="val 2759"/>
            </a:avLst>
          </a:prstGeom>
          <a:solidFill>
            <a:srgbClr val="F4F4F4"/>
          </a:solidFill>
          <a:ln w="12700">
            <a:solidFill>
              <a:srgbClr val="F4F4F4"/>
            </a:solidFill>
            <a:prstDash val="solid"/>
          </a:ln>
        </p:spPr>
      </p:sp>
      <p:sp>
        <p:nvSpPr>
          <p:cNvPr id="12" name="Shape 10"/>
          <p:cNvSpPr/>
          <p:nvPr/>
        </p:nvSpPr>
        <p:spPr>
          <a:xfrm>
            <a:off x="3566160" y="2679192"/>
            <a:ext cx="384048" cy="384048"/>
          </a:xfrm>
          <a:prstGeom prst="ellipse">
            <a:avLst/>
          </a:prstGeom>
          <a:solidFill>
            <a:srgbClr val="C8102E"/>
          </a:solidFill>
          <a:ln w="12700">
            <a:solidFill>
              <a:srgbClr val="C8102E"/>
            </a:solidFill>
            <a:prstDash val="solid"/>
          </a:ln>
        </p:spPr>
      </p:sp>
      <p:sp>
        <p:nvSpPr>
          <p:cNvPr id="13" name="Text 11"/>
          <p:cNvSpPr txBox="1"/>
          <p:nvPr/>
        </p:nvSpPr>
        <p:spPr>
          <a:xfrm>
            <a:off x="3566160" y="26791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4069080" y="2651760"/>
            <a:ext cx="1828800" cy="457200"/>
          </a:xfrm>
          <a:prstGeom prst="rect">
            <a:avLst/>
          </a:prstGeom>
          <a:noFill/>
          <a:ln/>
        </p:spPr>
        <p:txBody>
          <a:bodyPr wrap="square" lIns="0" tIns="0" rIns="0" bIns="0" rtlCol="0" anchor="ctr"/>
          <a:lstStyle/>
          <a:p>
            <a:pPr indent="0" marL="0">
              <a:buNone/>
            </a:pPr>
            <a:r>
              <a:rPr lang="en-US" sz="1350" b="1" dirty="0">
                <a:solidFill>
                  <a:srgbClr val="1C1C1C"/>
                </a:solidFill>
                <a:latin typeface="Calibri" pitchFamily="34" charset="0"/>
                <a:ea typeface="Calibri" pitchFamily="34" charset="-122"/>
                <a:cs typeface="Calibri" pitchFamily="34" charset="-120"/>
              </a:rPr>
              <a:t>External environment</a:t>
            </a:r>
            <a:endParaRPr lang="en-US" sz="1350" dirty="0"/>
          </a:p>
        </p:txBody>
      </p:sp>
      <p:sp>
        <p:nvSpPr>
          <p:cNvPr id="15" name="Text 13"/>
          <p:cNvSpPr txBox="1"/>
          <p:nvPr/>
        </p:nvSpPr>
        <p:spPr>
          <a:xfrm>
            <a:off x="3584448" y="3200400"/>
            <a:ext cx="2286000" cy="1554480"/>
          </a:xfrm>
          <a:prstGeom prst="rect">
            <a:avLst/>
          </a:prstGeom>
          <a:noFill/>
          <a:ln/>
        </p:spPr>
        <p:txBody>
          <a:bodyPr wrap="square" lIns="0" tIns="0" rIns="0" bIns="0" rtlCol="0" anchor="t"/>
          <a:lstStyle/>
          <a:p>
            <a:pPr indent="0" marL="0">
              <a:buNone/>
            </a:pPr>
            <a:r>
              <a:rPr lang="en-US" sz="1100" dirty="0">
                <a:solidFill>
                  <a:srgbClr val="1C1C1C"/>
                </a:solidFill>
                <a:latin typeface="Calibri" pitchFamily="34" charset="0"/>
                <a:ea typeface="Calibri" pitchFamily="34" charset="-122"/>
                <a:cs typeface="Calibri" pitchFamily="34" charset="-120"/>
              </a:rPr>
              <a:t>PESTEL, Five Forces dalam logika Structure Conduct Performance, kekuatan pendorong (driving forces), peta kelompok strategis, faktor kunci keberhasilan.</a:t>
            </a:r>
            <a:endParaRPr lang="en-US" sz="1100" dirty="0"/>
          </a:p>
        </p:txBody>
      </p:sp>
      <p:sp>
        <p:nvSpPr>
          <p:cNvPr id="16" name="Text 14"/>
          <p:cNvSpPr txBox="1"/>
          <p:nvPr/>
        </p:nvSpPr>
        <p:spPr>
          <a:xfrm>
            <a:off x="3584448" y="4754880"/>
            <a:ext cx="2286000" cy="411480"/>
          </a:xfrm>
          <a:prstGeom prst="rect">
            <a:avLst/>
          </a:prstGeom>
          <a:noFill/>
          <a:ln/>
        </p:spPr>
        <p:txBody>
          <a:bodyPr wrap="square" lIns="0" tIns="0" rIns="0" bIns="0" rtlCol="0" anchor="b"/>
          <a:lstStyle/>
          <a:p>
            <a:pPr indent="0" marL="0">
              <a:buNone/>
            </a:pPr>
            <a:r>
              <a:rPr lang="en-US" sz="950" i="1" dirty="0">
                <a:solidFill>
                  <a:srgbClr val="C8102E"/>
                </a:solidFill>
                <a:latin typeface="Calibri" pitchFamily="34" charset="0"/>
                <a:ea typeface="Calibri" pitchFamily="34" charset="-122"/>
                <a:cs typeface="Calibri" pitchFamily="34" charset="-120"/>
              </a:rPr>
              <a:t>Slide 5 sampai 8</a:t>
            </a:r>
            <a:endParaRPr lang="en-US" sz="950" dirty="0"/>
          </a:p>
        </p:txBody>
      </p:sp>
      <p:sp>
        <p:nvSpPr>
          <p:cNvPr id="17" name="Shape 15"/>
          <p:cNvSpPr/>
          <p:nvPr/>
        </p:nvSpPr>
        <p:spPr>
          <a:xfrm>
            <a:off x="6217920" y="2514600"/>
            <a:ext cx="2651760" cy="2743200"/>
          </a:xfrm>
          <a:prstGeom prst="roundRect">
            <a:avLst>
              <a:gd name="adj" fmla="val 2759"/>
            </a:avLst>
          </a:prstGeom>
          <a:solidFill>
            <a:srgbClr val="F4F4F4"/>
          </a:solidFill>
          <a:ln w="12700">
            <a:solidFill>
              <a:srgbClr val="F4F4F4"/>
            </a:solidFill>
            <a:prstDash val="solid"/>
          </a:ln>
        </p:spPr>
      </p:sp>
      <p:sp>
        <p:nvSpPr>
          <p:cNvPr id="18" name="Shape 16"/>
          <p:cNvSpPr/>
          <p:nvPr/>
        </p:nvSpPr>
        <p:spPr>
          <a:xfrm>
            <a:off x="6400800" y="2679192"/>
            <a:ext cx="384048" cy="384048"/>
          </a:xfrm>
          <a:prstGeom prst="ellipse">
            <a:avLst/>
          </a:prstGeom>
          <a:solidFill>
            <a:srgbClr val="C8102E"/>
          </a:solidFill>
          <a:ln w="12700">
            <a:solidFill>
              <a:srgbClr val="C8102E"/>
            </a:solidFill>
            <a:prstDash val="solid"/>
          </a:ln>
        </p:spPr>
      </p:sp>
      <p:sp>
        <p:nvSpPr>
          <p:cNvPr id="19" name="Text 17"/>
          <p:cNvSpPr txBox="1"/>
          <p:nvPr/>
        </p:nvSpPr>
        <p:spPr>
          <a:xfrm>
            <a:off x="6400800" y="26791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6903720" y="2651760"/>
            <a:ext cx="1828800" cy="457200"/>
          </a:xfrm>
          <a:prstGeom prst="rect">
            <a:avLst/>
          </a:prstGeom>
          <a:noFill/>
          <a:ln/>
        </p:spPr>
        <p:txBody>
          <a:bodyPr wrap="square" lIns="0" tIns="0" rIns="0" bIns="0" rtlCol="0" anchor="ctr"/>
          <a:lstStyle/>
          <a:p>
            <a:pPr indent="0" marL="0">
              <a:buNone/>
            </a:pPr>
            <a:r>
              <a:rPr lang="en-US" sz="1350" b="1" dirty="0">
                <a:solidFill>
                  <a:srgbClr val="1C1C1C"/>
                </a:solidFill>
                <a:latin typeface="Calibri" pitchFamily="34" charset="0"/>
                <a:ea typeface="Calibri" pitchFamily="34" charset="-122"/>
                <a:cs typeface="Calibri" pitchFamily="34" charset="-120"/>
              </a:rPr>
              <a:t>Cost position</a:t>
            </a:r>
            <a:endParaRPr lang="en-US" sz="1350" dirty="0"/>
          </a:p>
        </p:txBody>
      </p:sp>
      <p:sp>
        <p:nvSpPr>
          <p:cNvPr id="21" name="Text 19"/>
          <p:cNvSpPr txBox="1"/>
          <p:nvPr/>
        </p:nvSpPr>
        <p:spPr>
          <a:xfrm>
            <a:off x="6419088" y="3200400"/>
            <a:ext cx="2286000" cy="1554480"/>
          </a:xfrm>
          <a:prstGeom prst="rect">
            <a:avLst/>
          </a:prstGeom>
          <a:noFill/>
          <a:ln/>
        </p:spPr>
        <p:txBody>
          <a:bodyPr wrap="square" lIns="0" tIns="0" rIns="0" bIns="0" rtlCol="0" anchor="t"/>
          <a:lstStyle/>
          <a:p>
            <a:pPr indent="0" marL="0">
              <a:buNone/>
            </a:pPr>
            <a:r>
              <a:rPr lang="en-US" sz="1100" dirty="0">
                <a:solidFill>
                  <a:srgbClr val="1C1C1C"/>
                </a:solidFill>
                <a:latin typeface="Calibri" pitchFamily="34" charset="0"/>
                <a:ea typeface="Calibri" pitchFamily="34" charset="-122"/>
                <a:cs typeface="Calibri" pitchFamily="34" charset="-120"/>
              </a:rPr>
              <a:t>Benchmarking terhadap Malaysia Airlines, sumber keunggulan biaya, uji transferabilitas ke rute jauh, dan bukti awal di rute KL London.</a:t>
            </a:r>
            <a:endParaRPr lang="en-US" sz="1100" dirty="0"/>
          </a:p>
        </p:txBody>
      </p:sp>
      <p:sp>
        <p:nvSpPr>
          <p:cNvPr id="22" name="Text 20"/>
          <p:cNvSpPr txBox="1"/>
          <p:nvPr/>
        </p:nvSpPr>
        <p:spPr>
          <a:xfrm>
            <a:off x="6419088" y="4754880"/>
            <a:ext cx="2286000" cy="411480"/>
          </a:xfrm>
          <a:prstGeom prst="rect">
            <a:avLst/>
          </a:prstGeom>
          <a:noFill/>
          <a:ln/>
        </p:spPr>
        <p:txBody>
          <a:bodyPr wrap="square" lIns="0" tIns="0" rIns="0" bIns="0" rtlCol="0" anchor="b"/>
          <a:lstStyle/>
          <a:p>
            <a:pPr indent="0" marL="0">
              <a:buNone/>
            </a:pPr>
            <a:r>
              <a:rPr lang="en-US" sz="950" i="1" dirty="0">
                <a:solidFill>
                  <a:srgbClr val="C8102E"/>
                </a:solidFill>
                <a:latin typeface="Calibri" pitchFamily="34" charset="0"/>
                <a:ea typeface="Calibri" pitchFamily="34" charset="-122"/>
                <a:cs typeface="Calibri" pitchFamily="34" charset="-120"/>
              </a:rPr>
              <a:t>Slide 9 sampai 12</a:t>
            </a:r>
            <a:endParaRPr lang="en-US" sz="950" dirty="0"/>
          </a:p>
        </p:txBody>
      </p:sp>
      <p:sp>
        <p:nvSpPr>
          <p:cNvPr id="23" name="Shape 21"/>
          <p:cNvSpPr/>
          <p:nvPr/>
        </p:nvSpPr>
        <p:spPr>
          <a:xfrm>
            <a:off x="9052560" y="2514600"/>
            <a:ext cx="2651760" cy="2743200"/>
          </a:xfrm>
          <a:prstGeom prst="roundRect">
            <a:avLst>
              <a:gd name="adj" fmla="val 2759"/>
            </a:avLst>
          </a:prstGeom>
          <a:solidFill>
            <a:srgbClr val="F4F4F4"/>
          </a:solidFill>
          <a:ln w="12700">
            <a:solidFill>
              <a:srgbClr val="F4F4F4"/>
            </a:solidFill>
            <a:prstDash val="solid"/>
          </a:ln>
        </p:spPr>
      </p:sp>
      <p:sp>
        <p:nvSpPr>
          <p:cNvPr id="24" name="Shape 22"/>
          <p:cNvSpPr/>
          <p:nvPr/>
        </p:nvSpPr>
        <p:spPr>
          <a:xfrm>
            <a:off x="9235440" y="2679192"/>
            <a:ext cx="384048" cy="384048"/>
          </a:xfrm>
          <a:prstGeom prst="ellipse">
            <a:avLst/>
          </a:prstGeom>
          <a:solidFill>
            <a:srgbClr val="C8102E"/>
          </a:solidFill>
          <a:ln w="12700">
            <a:solidFill>
              <a:srgbClr val="C8102E"/>
            </a:solidFill>
            <a:prstDash val="solid"/>
          </a:ln>
        </p:spPr>
      </p:sp>
      <p:sp>
        <p:nvSpPr>
          <p:cNvPr id="25" name="Text 23"/>
          <p:cNvSpPr txBox="1"/>
          <p:nvPr/>
        </p:nvSpPr>
        <p:spPr>
          <a:xfrm>
            <a:off x="9235440" y="26791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6" name="Text 24"/>
          <p:cNvSpPr txBox="1"/>
          <p:nvPr/>
        </p:nvSpPr>
        <p:spPr>
          <a:xfrm>
            <a:off x="9738360" y="2651760"/>
            <a:ext cx="1828800" cy="457200"/>
          </a:xfrm>
          <a:prstGeom prst="rect">
            <a:avLst/>
          </a:prstGeom>
          <a:noFill/>
          <a:ln/>
        </p:spPr>
        <p:txBody>
          <a:bodyPr wrap="square" lIns="0" tIns="0" rIns="0" bIns="0" rtlCol="0" anchor="ctr"/>
          <a:lstStyle/>
          <a:p>
            <a:pPr indent="0" marL="0">
              <a:buNone/>
            </a:pPr>
            <a:r>
              <a:rPr lang="en-US" sz="1350" b="1" dirty="0">
                <a:solidFill>
                  <a:srgbClr val="1C1C1C"/>
                </a:solidFill>
                <a:latin typeface="Calibri" pitchFamily="34" charset="0"/>
                <a:ea typeface="Calibri" pitchFamily="34" charset="-122"/>
                <a:cs typeface="Calibri" pitchFamily="34" charset="-120"/>
              </a:rPr>
              <a:t>Choice</a:t>
            </a:r>
            <a:endParaRPr lang="en-US" sz="1350" dirty="0"/>
          </a:p>
        </p:txBody>
      </p:sp>
      <p:sp>
        <p:nvSpPr>
          <p:cNvPr id="27" name="Text 25"/>
          <p:cNvSpPr txBox="1"/>
          <p:nvPr/>
        </p:nvSpPr>
        <p:spPr>
          <a:xfrm>
            <a:off x="9253728" y="3200400"/>
            <a:ext cx="2286000" cy="1554480"/>
          </a:xfrm>
          <a:prstGeom prst="rect">
            <a:avLst/>
          </a:prstGeom>
          <a:noFill/>
          <a:ln/>
        </p:spPr>
        <p:txBody>
          <a:bodyPr wrap="square" lIns="0" tIns="0" rIns="0" bIns="0" rtlCol="0" anchor="t"/>
          <a:lstStyle/>
          <a:p>
            <a:pPr indent="0" marL="0">
              <a:buNone/>
            </a:pPr>
            <a:r>
              <a:rPr lang="en-US" sz="1100" dirty="0">
                <a:solidFill>
                  <a:srgbClr val="1C1C1C"/>
                </a:solidFill>
                <a:latin typeface="Calibri" pitchFamily="34" charset="0"/>
                <a:ea typeface="Calibri" pitchFamily="34" charset="-122"/>
                <a:cs typeface="Calibri" pitchFamily="34" charset="-120"/>
              </a:rPr>
              <a:t>Isu sebagai pertanyaan, tiga alternatif dinilai dengan kriteria yang sama, satu rekomendasi dengan KPI, waktu, penanggung jawab, dan mitigasi risiko.</a:t>
            </a:r>
            <a:endParaRPr lang="en-US" sz="1100" dirty="0"/>
          </a:p>
        </p:txBody>
      </p:sp>
      <p:sp>
        <p:nvSpPr>
          <p:cNvPr id="28" name="Text 26"/>
          <p:cNvSpPr txBox="1"/>
          <p:nvPr/>
        </p:nvSpPr>
        <p:spPr>
          <a:xfrm>
            <a:off x="9253728" y="4754880"/>
            <a:ext cx="2286000" cy="411480"/>
          </a:xfrm>
          <a:prstGeom prst="rect">
            <a:avLst/>
          </a:prstGeom>
          <a:noFill/>
          <a:ln/>
        </p:spPr>
        <p:txBody>
          <a:bodyPr wrap="square" lIns="0" tIns="0" rIns="0" bIns="0" rtlCol="0" anchor="b"/>
          <a:lstStyle/>
          <a:p>
            <a:pPr indent="0" marL="0">
              <a:buNone/>
            </a:pPr>
            <a:r>
              <a:rPr lang="en-US" sz="950" i="1" dirty="0">
                <a:solidFill>
                  <a:srgbClr val="C8102E"/>
                </a:solidFill>
                <a:latin typeface="Calibri" pitchFamily="34" charset="0"/>
                <a:ea typeface="Calibri" pitchFamily="34" charset="-122"/>
                <a:cs typeface="Calibri" pitchFamily="34" charset="-120"/>
              </a:rPr>
              <a:t>Slide 13 sampai 17</a:t>
            </a:r>
            <a:endParaRPr lang="en-US" sz="950" dirty="0"/>
          </a:p>
        </p:txBody>
      </p:sp>
      <p:sp>
        <p:nvSpPr>
          <p:cNvPr id="29" name="Text 27"/>
          <p:cNvSpPr txBox="1"/>
          <p:nvPr/>
        </p:nvSpPr>
        <p:spPr>
          <a:xfrm>
            <a:off x="548640" y="5394960"/>
            <a:ext cx="11064240" cy="548640"/>
          </a:xfrm>
          <a:prstGeom prst="rect">
            <a:avLst/>
          </a:prstGeom>
          <a:noFill/>
          <a:ln/>
        </p:spPr>
        <p:txBody>
          <a:bodyPr wrap="square" lIns="0" tIns="0" rIns="0" bIns="0" rtlCol="0" anchor="ctr"/>
          <a:lstStyle/>
          <a:p>
            <a:pPr indent="0" marL="0">
              <a:buNone/>
            </a:pPr>
            <a:r>
              <a:rPr lang="en-US" sz="1050" i="1" dirty="0">
                <a:solidFill>
                  <a:srgbClr val="6E6E6E"/>
                </a:solidFill>
                <a:latin typeface="Calibri" pitchFamily="34" charset="0"/>
                <a:ea typeface="Calibri" pitchFamily="34" charset="-122"/>
                <a:cs typeface="Calibri" pitchFamily="34" charset="-120"/>
              </a:rPr>
              <a:t>Urutan ini mengikuti logika Structure Conduct Performance: struktur industri dibaca lebih dulu, baru posisi perusahaan di dalamnya, baru pilihan strategi. Kerangka dari Thompson dan Strickland Bab 3 serta panduan analisis kasus RPKPS. Seluruh angka bersumber dari tabel dalam kasus.</a:t>
            </a:r>
            <a:endParaRPr lang="en-US" sz="1050" dirty="0"/>
          </a:p>
        </p:txBody>
      </p:sp>
      <p:sp>
        <p:nvSpPr>
          <p:cNvPr id="30" name="Text 28"/>
          <p:cNvSpPr txBox="1"/>
          <p:nvPr/>
        </p:nvSpPr>
        <p:spPr>
          <a:xfrm>
            <a:off x="548640" y="6016752"/>
            <a:ext cx="11064240" cy="365760"/>
          </a:xfrm>
          <a:prstGeom prst="rect">
            <a:avLst/>
          </a:prstGeom>
          <a:noFill/>
          <a:ln/>
        </p:spPr>
        <p:txBody>
          <a:bodyPr wrap="square" lIns="0" tIns="0" rIns="0" bIns="0" rtlCol="0" anchor="ctr"/>
          <a:lstStyle/>
          <a:p>
            <a:pPr indent="0" marL="0">
              <a:buNone/>
            </a:pPr>
            <a:r>
              <a:rPr lang="en-US" sz="1050" b="1" dirty="0">
                <a:solidFill>
                  <a:srgbClr val="C8102E"/>
                </a:solidFill>
                <a:latin typeface="Calibri" pitchFamily="34" charset="0"/>
                <a:ea typeface="Calibri" pitchFamily="34" charset="-122"/>
                <a:cs typeface="Calibri" pitchFamily="34" charset="-120"/>
              </a:rPr>
              <a:t>Kaitan.  </a:t>
            </a:r>
            <a:pPr indent="0" marL="0">
              <a:buNone/>
            </a:pPr>
            <a:r>
              <a:rPr lang="en-US" sz="1050" i="1" dirty="0">
                <a:solidFill>
                  <a:srgbClr val="6E6E6E"/>
                </a:solidFill>
                <a:latin typeface="Calibri" pitchFamily="34" charset="0"/>
                <a:ea typeface="Calibri" pitchFamily="34" charset="-122"/>
                <a:cs typeface="Calibri" pitchFamily="34" charset="-120"/>
              </a:rPr>
              <a:t>Tahap pertama dimulai dengan mengenal perusahaannya: seberapa besar AirAsia pada 2009 dan dari mana keberhasilannya berasal.</a:t>
            </a:r>
            <a:endParaRPr lang="en-US" sz="1050" dirty="0"/>
          </a:p>
        </p:txBody>
      </p:sp>
      <p:sp>
        <p:nvSpPr>
          <p:cNvPr id="31" name="Text 2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32" name="Text 30"/>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74320"/>
          </a:xfrm>
          <a:prstGeom prst="rect">
            <a:avLst/>
          </a:prstGeom>
          <a:noFill/>
          <a:ln/>
        </p:spPr>
        <p:txBody>
          <a:bodyPr wrap="square" lIns="0" tIns="0" rIns="0" bIns="0" rtlCol="0" anchor="ctr"/>
          <a:lstStyle/>
          <a:p>
            <a:pPr indent="0" marL="0">
              <a:buNone/>
            </a:pPr>
            <a:r>
              <a:rPr lang="en-US" sz="1000" b="1" spc="150" kern="0" dirty="0">
                <a:solidFill>
                  <a:srgbClr val="C8102E"/>
                </a:solidFill>
                <a:latin typeface="Calibri" pitchFamily="34" charset="0"/>
                <a:ea typeface="Calibri" pitchFamily="34" charset="-122"/>
                <a:cs typeface="Calibri" pitchFamily="34" charset="-120"/>
              </a:rPr>
              <a:t>1  PROBLEM</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2  EXTERNAL ENVIRONMENT</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3  COST POSITION</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4  CHOICE</a:t>
            </a:r>
            <a:endParaRPr lang="en-US" sz="10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indent="0" marL="0">
              <a:buNone/>
            </a:pPr>
            <a:r>
              <a:rPr lang="en-US" sz="3000" b="1" dirty="0">
                <a:solidFill>
                  <a:srgbClr val="1C1C1C"/>
                </a:solidFill>
                <a:latin typeface="Cambria" pitchFamily="34" charset="0"/>
                <a:ea typeface="Cambria" pitchFamily="34" charset="-122"/>
                <a:cs typeface="Cambria" pitchFamily="34" charset="-120"/>
              </a:rPr>
              <a:t>AirAsia at a glance</a:t>
            </a:r>
            <a:endParaRPr lang="en-US" sz="3000" dirty="0"/>
          </a:p>
        </p:txBody>
      </p:sp>
      <p:sp>
        <p:nvSpPr>
          <p:cNvPr id="4" name="Shape 2"/>
          <p:cNvSpPr/>
          <p:nvPr/>
        </p:nvSpPr>
        <p:spPr>
          <a:xfrm>
            <a:off x="548640" y="1463040"/>
            <a:ext cx="2651760" cy="1554480"/>
          </a:xfrm>
          <a:prstGeom prst="roundRect">
            <a:avLst>
              <a:gd name="adj" fmla="val 4706"/>
            </a:avLst>
          </a:prstGeom>
          <a:solidFill>
            <a:srgbClr val="F4F4F4"/>
          </a:solidFill>
          <a:ln w="12700">
            <a:solidFill>
              <a:srgbClr val="F4F4F4"/>
            </a:solidFill>
            <a:prstDash val="solid"/>
          </a:ln>
        </p:spPr>
      </p:sp>
      <p:sp>
        <p:nvSpPr>
          <p:cNvPr id="5" name="Text 3"/>
          <p:cNvSpPr txBox="1"/>
          <p:nvPr/>
        </p:nvSpPr>
        <p:spPr>
          <a:xfrm>
            <a:off x="731520" y="1536192"/>
            <a:ext cx="2286000" cy="685800"/>
          </a:xfrm>
          <a:prstGeom prst="rect">
            <a:avLst/>
          </a:prstGeom>
          <a:noFill/>
          <a:ln/>
        </p:spPr>
        <p:txBody>
          <a:bodyPr wrap="square" lIns="0" tIns="0" rIns="0" bIns="0" rtlCol="0" anchor="ctr"/>
          <a:lstStyle/>
          <a:p>
            <a:pPr indent="0" marL="0">
              <a:buNone/>
            </a:pPr>
            <a:r>
              <a:rPr lang="en-US" sz="3000" b="1" dirty="0">
                <a:solidFill>
                  <a:srgbClr val="C8102E"/>
                </a:solidFill>
                <a:latin typeface="Cambria" pitchFamily="34" charset="0"/>
                <a:ea typeface="Cambria" pitchFamily="34" charset="-122"/>
                <a:cs typeface="Cambria" pitchFamily="34" charset="-120"/>
              </a:rPr>
              <a:t>79</a:t>
            </a:r>
            <a:endParaRPr lang="en-US" sz="3000" dirty="0"/>
          </a:p>
        </p:txBody>
      </p:sp>
      <p:sp>
        <p:nvSpPr>
          <p:cNvPr id="6" name="Text 4"/>
          <p:cNvSpPr txBox="1"/>
          <p:nvPr/>
        </p:nvSpPr>
        <p:spPr>
          <a:xfrm>
            <a:off x="731520" y="2240280"/>
            <a:ext cx="2286000" cy="685800"/>
          </a:xfrm>
          <a:prstGeom prst="rect">
            <a:avLst/>
          </a:prstGeom>
          <a:noFill/>
          <a:ln/>
        </p:spPr>
        <p:txBody>
          <a:bodyPr wrap="square" lIns="0" tIns="0" rIns="0" bIns="0" rtlCol="0" anchor="t"/>
          <a:lstStyle/>
          <a:p>
            <a:pPr indent="0" marL="0">
              <a:buNone/>
            </a:pPr>
            <a:r>
              <a:rPr lang="en-US" sz="1100" dirty="0">
                <a:solidFill>
                  <a:srgbClr val="6E6E6E"/>
                </a:solidFill>
                <a:latin typeface="Calibri" pitchFamily="34" charset="0"/>
                <a:ea typeface="Calibri" pitchFamily="34" charset="-122"/>
                <a:cs typeface="Calibri" pitchFamily="34" charset="-120"/>
              </a:rPr>
              <a:t>pesawat pada Maret 2009, dari 2 pesawat pada Januari 2002</a:t>
            </a:r>
            <a:endParaRPr lang="en-US" sz="1100" dirty="0"/>
          </a:p>
        </p:txBody>
      </p:sp>
      <p:sp>
        <p:nvSpPr>
          <p:cNvPr id="7" name="Shape 5"/>
          <p:cNvSpPr/>
          <p:nvPr/>
        </p:nvSpPr>
        <p:spPr>
          <a:xfrm>
            <a:off x="3383280" y="1463040"/>
            <a:ext cx="2651760" cy="1554480"/>
          </a:xfrm>
          <a:prstGeom prst="roundRect">
            <a:avLst>
              <a:gd name="adj" fmla="val 4706"/>
            </a:avLst>
          </a:prstGeom>
          <a:solidFill>
            <a:srgbClr val="F4F4F4"/>
          </a:solidFill>
          <a:ln w="12700">
            <a:solidFill>
              <a:srgbClr val="F4F4F4"/>
            </a:solidFill>
            <a:prstDash val="solid"/>
          </a:ln>
        </p:spPr>
      </p:sp>
      <p:sp>
        <p:nvSpPr>
          <p:cNvPr id="8" name="Text 6"/>
          <p:cNvSpPr txBox="1"/>
          <p:nvPr/>
        </p:nvSpPr>
        <p:spPr>
          <a:xfrm>
            <a:off x="3566160" y="1536192"/>
            <a:ext cx="2286000" cy="685800"/>
          </a:xfrm>
          <a:prstGeom prst="rect">
            <a:avLst/>
          </a:prstGeom>
          <a:noFill/>
          <a:ln/>
        </p:spPr>
        <p:txBody>
          <a:bodyPr wrap="square" lIns="0" tIns="0" rIns="0" bIns="0" rtlCol="0" anchor="ctr"/>
          <a:lstStyle/>
          <a:p>
            <a:pPr indent="0" marL="0">
              <a:buNone/>
            </a:pPr>
            <a:r>
              <a:rPr lang="en-US" sz="3000" b="1" dirty="0">
                <a:solidFill>
                  <a:srgbClr val="C8102E"/>
                </a:solidFill>
                <a:latin typeface="Cambria" pitchFamily="34" charset="0"/>
                <a:ea typeface="Cambria" pitchFamily="34" charset="-122"/>
                <a:cs typeface="Cambria" pitchFamily="34" charset="-120"/>
              </a:rPr>
              <a:t>11,8 juta</a:t>
            </a:r>
            <a:endParaRPr lang="en-US" sz="3000" dirty="0"/>
          </a:p>
        </p:txBody>
      </p:sp>
      <p:sp>
        <p:nvSpPr>
          <p:cNvPr id="9" name="Text 7"/>
          <p:cNvSpPr txBox="1"/>
          <p:nvPr/>
        </p:nvSpPr>
        <p:spPr>
          <a:xfrm>
            <a:off x="3566160" y="2240280"/>
            <a:ext cx="2286000" cy="685800"/>
          </a:xfrm>
          <a:prstGeom prst="rect">
            <a:avLst/>
          </a:prstGeom>
          <a:noFill/>
          <a:ln/>
        </p:spPr>
        <p:txBody>
          <a:bodyPr wrap="square" lIns="0" tIns="0" rIns="0" bIns="0" rtlCol="0" anchor="t"/>
          <a:lstStyle/>
          <a:p>
            <a:pPr indent="0" marL="0">
              <a:buNone/>
            </a:pPr>
            <a:r>
              <a:rPr lang="en-US" sz="1100" dirty="0">
                <a:solidFill>
                  <a:srgbClr val="6E6E6E"/>
                </a:solidFill>
                <a:latin typeface="Calibri" pitchFamily="34" charset="0"/>
                <a:ea typeface="Calibri" pitchFamily="34" charset="-122"/>
                <a:cs typeface="Calibri" pitchFamily="34" charset="-120"/>
              </a:rPr>
              <a:t>penumpang per tahun, dari 200 ribu pada periode yang sama</a:t>
            </a:r>
            <a:endParaRPr lang="en-US" sz="1100" dirty="0"/>
          </a:p>
        </p:txBody>
      </p:sp>
      <p:sp>
        <p:nvSpPr>
          <p:cNvPr id="10" name="Shape 8"/>
          <p:cNvSpPr/>
          <p:nvPr/>
        </p:nvSpPr>
        <p:spPr>
          <a:xfrm>
            <a:off x="6217920" y="1463040"/>
            <a:ext cx="2651760" cy="1554480"/>
          </a:xfrm>
          <a:prstGeom prst="roundRect">
            <a:avLst>
              <a:gd name="adj" fmla="val 4706"/>
            </a:avLst>
          </a:prstGeom>
          <a:solidFill>
            <a:srgbClr val="F4F4F4"/>
          </a:solidFill>
          <a:ln w="12700">
            <a:solidFill>
              <a:srgbClr val="F4F4F4"/>
            </a:solidFill>
            <a:prstDash val="solid"/>
          </a:ln>
        </p:spPr>
      </p:sp>
      <p:sp>
        <p:nvSpPr>
          <p:cNvPr id="11" name="Text 9"/>
          <p:cNvSpPr txBox="1"/>
          <p:nvPr/>
        </p:nvSpPr>
        <p:spPr>
          <a:xfrm>
            <a:off x="6400800" y="1536192"/>
            <a:ext cx="2286000" cy="685800"/>
          </a:xfrm>
          <a:prstGeom prst="rect">
            <a:avLst/>
          </a:prstGeom>
          <a:noFill/>
          <a:ln/>
        </p:spPr>
        <p:txBody>
          <a:bodyPr wrap="square" lIns="0" tIns="0" rIns="0" bIns="0" rtlCol="0" anchor="ctr"/>
          <a:lstStyle/>
          <a:p>
            <a:pPr indent="0" marL="0">
              <a:buNone/>
            </a:pPr>
            <a:r>
              <a:rPr lang="en-US" sz="3000" b="1" dirty="0">
                <a:solidFill>
                  <a:srgbClr val="C8102E"/>
                </a:solidFill>
                <a:latin typeface="Cambria" pitchFamily="34" charset="0"/>
                <a:ea typeface="Cambria" pitchFamily="34" charset="-122"/>
                <a:cs typeface="Cambria" pitchFamily="34" charset="-120"/>
              </a:rPr>
              <a:t>10 negara</a:t>
            </a:r>
            <a:endParaRPr lang="en-US" sz="3000" dirty="0"/>
          </a:p>
        </p:txBody>
      </p:sp>
      <p:sp>
        <p:nvSpPr>
          <p:cNvPr id="12" name="Text 10"/>
          <p:cNvSpPr txBox="1"/>
          <p:nvPr/>
        </p:nvSpPr>
        <p:spPr>
          <a:xfrm>
            <a:off x="6400800" y="2240280"/>
            <a:ext cx="2286000" cy="685800"/>
          </a:xfrm>
          <a:prstGeom prst="rect">
            <a:avLst/>
          </a:prstGeom>
          <a:noFill/>
          <a:ln/>
        </p:spPr>
        <p:txBody>
          <a:bodyPr wrap="square" lIns="0" tIns="0" rIns="0" bIns="0" rtlCol="0" anchor="t"/>
          <a:lstStyle/>
          <a:p>
            <a:pPr indent="0" marL="0">
              <a:buNone/>
            </a:pPr>
            <a:r>
              <a:rPr lang="en-US" sz="1100" dirty="0">
                <a:solidFill>
                  <a:srgbClr val="6E6E6E"/>
                </a:solidFill>
                <a:latin typeface="Calibri" pitchFamily="34" charset="0"/>
                <a:ea typeface="Calibri" pitchFamily="34" charset="-122"/>
                <a:cs typeface="Calibri" pitchFamily="34" charset="-120"/>
              </a:rPr>
              <a:t>jangkauan jaringan rute di Asia Tenggara, dengan hub KL, Bangkok, dan Jakarta</a:t>
            </a:r>
            <a:endParaRPr lang="en-US" sz="1100" dirty="0"/>
          </a:p>
        </p:txBody>
      </p:sp>
      <p:sp>
        <p:nvSpPr>
          <p:cNvPr id="13" name="Shape 11"/>
          <p:cNvSpPr/>
          <p:nvPr/>
        </p:nvSpPr>
        <p:spPr>
          <a:xfrm>
            <a:off x="9052560" y="1463040"/>
            <a:ext cx="2651760" cy="1554480"/>
          </a:xfrm>
          <a:prstGeom prst="roundRect">
            <a:avLst>
              <a:gd name="adj" fmla="val 4706"/>
            </a:avLst>
          </a:prstGeom>
          <a:solidFill>
            <a:srgbClr val="F4F4F4"/>
          </a:solidFill>
          <a:ln w="12700">
            <a:solidFill>
              <a:srgbClr val="F4F4F4"/>
            </a:solidFill>
            <a:prstDash val="solid"/>
          </a:ln>
        </p:spPr>
      </p:sp>
      <p:sp>
        <p:nvSpPr>
          <p:cNvPr id="14" name="Text 12"/>
          <p:cNvSpPr txBox="1"/>
          <p:nvPr/>
        </p:nvSpPr>
        <p:spPr>
          <a:xfrm>
            <a:off x="9235440" y="1536192"/>
            <a:ext cx="2286000" cy="685800"/>
          </a:xfrm>
          <a:prstGeom prst="rect">
            <a:avLst/>
          </a:prstGeom>
          <a:noFill/>
          <a:ln/>
        </p:spPr>
        <p:txBody>
          <a:bodyPr wrap="square" lIns="0" tIns="0" rIns="0" bIns="0" rtlCol="0" anchor="ctr"/>
          <a:lstStyle/>
          <a:p>
            <a:pPr indent="0" marL="0">
              <a:buNone/>
            </a:pPr>
            <a:r>
              <a:rPr lang="en-US" sz="3000" b="1" dirty="0">
                <a:solidFill>
                  <a:srgbClr val="C8102E"/>
                </a:solidFill>
                <a:latin typeface="Cambria" pitchFamily="34" charset="0"/>
                <a:ea typeface="Cambria" pitchFamily="34" charset="-122"/>
                <a:cs typeface="Cambria" pitchFamily="34" charset="-120"/>
              </a:rPr>
              <a:t>RM 1</a:t>
            </a:r>
            <a:endParaRPr lang="en-US" sz="3000" dirty="0"/>
          </a:p>
        </p:txBody>
      </p:sp>
      <p:sp>
        <p:nvSpPr>
          <p:cNvPr id="15" name="Text 13"/>
          <p:cNvSpPr txBox="1"/>
          <p:nvPr/>
        </p:nvSpPr>
        <p:spPr>
          <a:xfrm>
            <a:off x="9235440" y="2240280"/>
            <a:ext cx="2286000" cy="685800"/>
          </a:xfrm>
          <a:prstGeom prst="rect">
            <a:avLst/>
          </a:prstGeom>
          <a:noFill/>
          <a:ln/>
        </p:spPr>
        <p:txBody>
          <a:bodyPr wrap="square" lIns="0" tIns="0" rIns="0" bIns="0" rtlCol="0" anchor="t"/>
          <a:lstStyle/>
          <a:p>
            <a:pPr indent="0" marL="0">
              <a:buNone/>
            </a:pPr>
            <a:r>
              <a:rPr lang="en-US" sz="1100" dirty="0">
                <a:solidFill>
                  <a:srgbClr val="6E6E6E"/>
                </a:solidFill>
                <a:latin typeface="Calibri" pitchFamily="34" charset="0"/>
                <a:ea typeface="Calibri" pitchFamily="34" charset="-122"/>
                <a:cs typeface="Calibri" pitchFamily="34" charset="-120"/>
              </a:rPr>
              <a:t>harga akuisisi tahun 2001, dengan warisan utang RM 40 juta</a:t>
            </a:r>
            <a:endParaRPr lang="en-US" sz="1100" dirty="0"/>
          </a:p>
        </p:txBody>
      </p:sp>
      <p:sp>
        <p:nvSpPr>
          <p:cNvPr id="16" name="Text 14"/>
          <p:cNvSpPr txBox="1"/>
          <p:nvPr/>
        </p:nvSpPr>
        <p:spPr>
          <a:xfrm>
            <a:off x="548640" y="3246120"/>
            <a:ext cx="4572000" cy="365760"/>
          </a:xfrm>
          <a:prstGeom prst="rect">
            <a:avLst/>
          </a:prstGeom>
          <a:noFill/>
          <a:ln/>
        </p:spPr>
        <p:txBody>
          <a:bodyPr wrap="square" lIns="0" tIns="0" rIns="0" bIns="0" rtlCol="0" anchor="ctr"/>
          <a:lstStyle/>
          <a:p>
            <a:pPr indent="0" marL="0">
              <a:buNone/>
            </a:pPr>
            <a:r>
              <a:rPr lang="en-US" sz="1400" b="1" dirty="0">
                <a:solidFill>
                  <a:srgbClr val="1C1C1C"/>
                </a:solidFill>
                <a:latin typeface="Calibri" pitchFamily="34" charset="0"/>
                <a:ea typeface="Calibri" pitchFamily="34" charset="-122"/>
                <a:cs typeface="Calibri" pitchFamily="34" charset="-120"/>
              </a:rPr>
              <a:t>Tonggak penting</a:t>
            </a:r>
            <a:endParaRPr lang="en-US" sz="1400" dirty="0"/>
          </a:p>
        </p:txBody>
      </p:sp>
      <p:sp>
        <p:nvSpPr>
          <p:cNvPr id="17" name="Text 15"/>
          <p:cNvSpPr txBox="1"/>
          <p:nvPr/>
        </p:nvSpPr>
        <p:spPr>
          <a:xfrm>
            <a:off x="548640" y="3611880"/>
            <a:ext cx="6766560" cy="233172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2001: Tony Fernandes dan Conor McCarthy (mantan direktur operasi Ryanair) mengambil alih AirAsia atas dorongan PM Mahathir.</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2002: relaunch dengan tiga pesawat. Formula bisnisnya: strategi operasi ala Ryanair, strategi SDM ala Southwest, strategi merek ala easyJet.</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2004: rute internasional pertama (KL ke Phuket); IPO menghimpun RM 717 juta; usaha patungan (joint venture) Thai AirAsia dan Indonesia AirAsia.</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2007: AirAsia X mulai terbang jarak jauh ke Australia dan Cina; 2009 ke London, dengan rencana ke India dan hub kedua di Abu Dhabi.</a:t>
            </a:r>
            <a:endParaRPr lang="en-US" sz="1200" dirty="0"/>
          </a:p>
        </p:txBody>
      </p:sp>
      <p:sp>
        <p:nvSpPr>
          <p:cNvPr id="18" name="Shape 16"/>
          <p:cNvSpPr/>
          <p:nvPr/>
        </p:nvSpPr>
        <p:spPr>
          <a:xfrm>
            <a:off x="7680960" y="3246120"/>
            <a:ext cx="3931920" cy="2697480"/>
          </a:xfrm>
          <a:prstGeom prst="roundRect">
            <a:avLst>
              <a:gd name="adj" fmla="val 2712"/>
            </a:avLst>
          </a:prstGeom>
          <a:solidFill>
            <a:srgbClr val="FBE9EC"/>
          </a:solidFill>
          <a:ln w="12700">
            <a:solidFill>
              <a:srgbClr val="FBE9EC"/>
            </a:solidFill>
            <a:prstDash val="solid"/>
          </a:ln>
        </p:spPr>
      </p:sp>
      <p:sp>
        <p:nvSpPr>
          <p:cNvPr id="19" name="Text 17"/>
          <p:cNvSpPr txBox="1"/>
          <p:nvPr/>
        </p:nvSpPr>
        <p:spPr>
          <a:xfrm>
            <a:off x="7909560" y="3337560"/>
            <a:ext cx="3566160" cy="365760"/>
          </a:xfrm>
          <a:prstGeom prst="rect">
            <a:avLst/>
          </a:prstGeom>
          <a:noFill/>
          <a:ln/>
        </p:spPr>
        <p:txBody>
          <a:bodyPr wrap="square" lIns="0" tIns="0" rIns="0" bIns="0" rtlCol="0" anchor="ctr"/>
          <a:lstStyle/>
          <a:p>
            <a:pPr indent="0" marL="0">
              <a:buNone/>
            </a:pPr>
            <a:r>
              <a:rPr lang="en-US" sz="1400" b="1" dirty="0">
                <a:solidFill>
                  <a:srgbClr val="C8102E"/>
                </a:solidFill>
                <a:latin typeface="Calibri" pitchFamily="34" charset="0"/>
                <a:ea typeface="Calibri" pitchFamily="34" charset="-122"/>
                <a:cs typeface="Calibri" pitchFamily="34" charset="-120"/>
              </a:rPr>
              <a:t>Pengakuan kinerja</a:t>
            </a:r>
            <a:endParaRPr lang="en-US" sz="1400" dirty="0"/>
          </a:p>
        </p:txBody>
      </p:sp>
      <p:sp>
        <p:nvSpPr>
          <p:cNvPr id="20" name="Text 18"/>
          <p:cNvSpPr txBox="1"/>
          <p:nvPr/>
        </p:nvSpPr>
        <p:spPr>
          <a:xfrm>
            <a:off x="7909560" y="3730752"/>
            <a:ext cx="3520440" cy="21488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C1C1C"/>
                </a:solidFill>
                <a:latin typeface="Calibri" pitchFamily="34" charset="0"/>
                <a:ea typeface="Calibri" pitchFamily="34" charset="-122"/>
                <a:cs typeface="Calibri" pitchFamily="34" charset="-120"/>
              </a:rPr>
              <a:t>Riset UBS 2007: biaya per available seat kilometer (ASK) terendah di dunia, di bawah Southwest, JetBlue, Ryanair, dan Virgin Blue.</a:t>
            </a:r>
            <a:endParaRPr lang="en-US" sz="1150" dirty="0"/>
          </a:p>
          <a:p>
            <a:pPr marL="342900" indent="-342900">
              <a:spcAft>
                <a:spcPts val="500"/>
              </a:spcAft>
              <a:buSzPct val="100000"/>
              <a:buChar char="•"/>
            </a:pPr>
            <a:r>
              <a:rPr lang="en-US" sz="1150" dirty="0">
                <a:solidFill>
                  <a:srgbClr val="1C1C1C"/>
                </a:solidFill>
                <a:latin typeface="Calibri" pitchFamily="34" charset="0"/>
                <a:ea typeface="Calibri" pitchFamily="34" charset="-122"/>
                <a:cs typeface="Calibri" pitchFamily="34" charset="-120"/>
              </a:rPr>
              <a:t>2008: imbal hasil aset (return on assets) 4 persen ketika hampir semua maskapai dunia merugi.</a:t>
            </a:r>
            <a:endParaRPr lang="en-US" sz="1150" dirty="0"/>
          </a:p>
          <a:p>
            <a:pPr marL="342900" indent="-342900">
              <a:spcAft>
                <a:spcPts val="500"/>
              </a:spcAft>
              <a:buSzPct val="100000"/>
              <a:buChar char="•"/>
            </a:pPr>
            <a:r>
              <a:rPr lang="en-US" sz="1150" dirty="0">
                <a:solidFill>
                  <a:srgbClr val="1C1C1C"/>
                </a:solidFill>
                <a:latin typeface="Calibri" pitchFamily="34" charset="0"/>
                <a:ea typeface="Calibri" pitchFamily="34" charset="-122"/>
                <a:cs typeface="Calibri" pitchFamily="34" charset="-120"/>
              </a:rPr>
              <a:t>2009: Skytrax Award sebagai The World's Best Low Cost Airline.</a:t>
            </a:r>
            <a:endParaRPr lang="en-US" sz="1150" dirty="0"/>
          </a:p>
        </p:txBody>
      </p:sp>
      <p:sp>
        <p:nvSpPr>
          <p:cNvPr id="21" name="Text 19"/>
          <p:cNvSpPr txBox="1"/>
          <p:nvPr/>
        </p:nvSpPr>
        <p:spPr>
          <a:xfrm>
            <a:off x="548640" y="6016752"/>
            <a:ext cx="11064240" cy="365760"/>
          </a:xfrm>
          <a:prstGeom prst="rect">
            <a:avLst/>
          </a:prstGeom>
          <a:noFill/>
          <a:ln/>
        </p:spPr>
        <p:txBody>
          <a:bodyPr wrap="square" lIns="0" tIns="0" rIns="0" bIns="0" rtlCol="0" anchor="ctr"/>
          <a:lstStyle/>
          <a:p>
            <a:pPr indent="0" marL="0">
              <a:buNone/>
            </a:pPr>
            <a:r>
              <a:rPr lang="en-US" sz="1050" b="1" dirty="0">
                <a:solidFill>
                  <a:srgbClr val="C8102E"/>
                </a:solidFill>
                <a:latin typeface="Calibri" pitchFamily="34" charset="0"/>
                <a:ea typeface="Calibri" pitchFamily="34" charset="-122"/>
                <a:cs typeface="Calibri" pitchFamily="34" charset="-120"/>
              </a:rPr>
              <a:t>Kaitan.  </a:t>
            </a:r>
            <a:pPr indent="0" marL="0">
              <a:buNone/>
            </a:pPr>
            <a:r>
              <a:rPr lang="en-US" sz="1050" i="1" dirty="0">
                <a:solidFill>
                  <a:srgbClr val="6E6E6E"/>
                </a:solidFill>
                <a:latin typeface="Calibri" pitchFamily="34" charset="0"/>
                <a:ea typeface="Calibri" pitchFamily="34" charset="-122"/>
                <a:cs typeface="Calibri" pitchFamily="34" charset="-120"/>
              </a:rPr>
              <a:t>Keberhasilan ini dibangun di rute pendek. Langkah ke rute jauh pada 2007 itulah yang memunculkan masalah strategis di slide berikutnya.</a:t>
            </a:r>
            <a:endParaRPr lang="en-US" sz="1050" dirty="0"/>
          </a:p>
        </p:txBody>
      </p:sp>
      <p:sp>
        <p:nvSpPr>
          <p:cNvPr id="22"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23" name="Text 21"/>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74320"/>
          </a:xfrm>
          <a:prstGeom prst="rect">
            <a:avLst/>
          </a:prstGeom>
          <a:noFill/>
          <a:ln/>
        </p:spPr>
        <p:txBody>
          <a:bodyPr wrap="square" lIns="0" tIns="0" rIns="0" bIns="0" rtlCol="0" anchor="ctr"/>
          <a:lstStyle/>
          <a:p>
            <a:pPr indent="0" marL="0">
              <a:buNone/>
            </a:pPr>
            <a:r>
              <a:rPr lang="en-US" sz="1000" b="1" spc="150" kern="0" dirty="0">
                <a:solidFill>
                  <a:srgbClr val="C8102E"/>
                </a:solidFill>
                <a:latin typeface="Calibri" pitchFamily="34" charset="0"/>
                <a:ea typeface="Calibri" pitchFamily="34" charset="-122"/>
                <a:cs typeface="Calibri" pitchFamily="34" charset="-120"/>
              </a:rPr>
              <a:t>1  PROBLEM</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2  EXTERNAL ENVIRONMENT</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3  COST POSITION</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4  CHOICE</a:t>
            </a:r>
            <a:endParaRPr lang="en-US" sz="10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indent="0" marL="0">
              <a:buNone/>
            </a:pPr>
            <a:r>
              <a:rPr lang="en-US" sz="3000" b="1" dirty="0">
                <a:solidFill>
                  <a:srgbClr val="1C1C1C"/>
                </a:solidFill>
                <a:latin typeface="Cambria" pitchFamily="34" charset="0"/>
                <a:ea typeface="Cambria" pitchFamily="34" charset="-122"/>
                <a:cs typeface="Cambria" pitchFamily="34" charset="-120"/>
              </a:rPr>
              <a:t>The strategic problem</a:t>
            </a:r>
            <a:endParaRPr lang="en-US" sz="3000" dirty="0"/>
          </a:p>
        </p:txBody>
      </p:sp>
      <p:sp>
        <p:nvSpPr>
          <p:cNvPr id="4" name="Shape 2"/>
          <p:cNvSpPr/>
          <p:nvPr/>
        </p:nvSpPr>
        <p:spPr>
          <a:xfrm>
            <a:off x="548640" y="1463040"/>
            <a:ext cx="5394960" cy="2423160"/>
          </a:xfrm>
          <a:prstGeom prst="roundRect">
            <a:avLst>
              <a:gd name="adj" fmla="val 3019"/>
            </a:avLst>
          </a:prstGeom>
          <a:solidFill>
            <a:srgbClr val="F4F4F4"/>
          </a:solidFill>
          <a:ln w="12700">
            <a:solidFill>
              <a:srgbClr val="F4F4F4"/>
            </a:solidFill>
            <a:prstDash val="solid"/>
          </a:ln>
        </p:spPr>
      </p:sp>
      <p:sp>
        <p:nvSpPr>
          <p:cNvPr id="5" name="Text 3"/>
          <p:cNvSpPr txBox="1"/>
          <p:nvPr/>
        </p:nvSpPr>
        <p:spPr>
          <a:xfrm>
            <a:off x="777240" y="1572768"/>
            <a:ext cx="4937760" cy="320040"/>
          </a:xfrm>
          <a:prstGeom prst="rect">
            <a:avLst/>
          </a:prstGeom>
          <a:noFill/>
          <a:ln/>
        </p:spPr>
        <p:txBody>
          <a:bodyPr wrap="square" lIns="0" tIns="0" rIns="0" bIns="0" rtlCol="0" anchor="ctr"/>
          <a:lstStyle/>
          <a:p>
            <a:pPr indent="0" marL="0">
              <a:buNone/>
            </a:pPr>
            <a:r>
              <a:rPr lang="en-US" sz="1100" b="1" spc="100" kern="0" dirty="0">
                <a:solidFill>
                  <a:srgbClr val="C8102E"/>
                </a:solidFill>
                <a:latin typeface="Calibri" pitchFamily="34" charset="0"/>
                <a:ea typeface="Calibri" pitchFamily="34" charset="-122"/>
                <a:cs typeface="Calibri" pitchFamily="34" charset="-120"/>
              </a:rPr>
              <a:t>TUJUAN (GOALS)</a:t>
            </a:r>
            <a:endParaRPr lang="en-US" sz="1100" dirty="0"/>
          </a:p>
        </p:txBody>
      </p:sp>
      <p:sp>
        <p:nvSpPr>
          <p:cNvPr id="6" name="Text 4"/>
          <p:cNvSpPr txBox="1"/>
          <p:nvPr/>
        </p:nvSpPr>
        <p:spPr>
          <a:xfrm>
            <a:off x="777240" y="1920240"/>
            <a:ext cx="4983480" cy="19202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Bertransformasi dari maskapai regional (radius 3,5 jam terbang dari hub) menjadi maskapai internasional.</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Mempertahankan posisi sebagai operator berbiaya terendah (lowest cost operator) di setiap rute yang dilayani.</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Menjaga pertumbuhan volume; rute gemuk (trunk routes) jarak jauh adalah sumber lalu lintas berikutnya (Azran Osman-Rani, CEO AirAsia X).</a:t>
            </a:r>
            <a:endParaRPr lang="en-US" sz="1200" dirty="0"/>
          </a:p>
        </p:txBody>
      </p:sp>
      <p:sp>
        <p:nvSpPr>
          <p:cNvPr id="7" name="Shape 5"/>
          <p:cNvSpPr/>
          <p:nvPr/>
        </p:nvSpPr>
        <p:spPr>
          <a:xfrm>
            <a:off x="6217920" y="1463040"/>
            <a:ext cx="5394960" cy="2423160"/>
          </a:xfrm>
          <a:prstGeom prst="roundRect">
            <a:avLst>
              <a:gd name="adj" fmla="val 3019"/>
            </a:avLst>
          </a:prstGeom>
          <a:solidFill>
            <a:srgbClr val="FBE9EC"/>
          </a:solidFill>
          <a:ln w="12700">
            <a:solidFill>
              <a:srgbClr val="FBE9EC"/>
            </a:solidFill>
            <a:prstDash val="solid"/>
          </a:ln>
        </p:spPr>
      </p:sp>
      <p:sp>
        <p:nvSpPr>
          <p:cNvPr id="8" name="Text 6"/>
          <p:cNvSpPr txBox="1"/>
          <p:nvPr/>
        </p:nvSpPr>
        <p:spPr>
          <a:xfrm>
            <a:off x="6446520" y="1572768"/>
            <a:ext cx="4937760" cy="320040"/>
          </a:xfrm>
          <a:prstGeom prst="rect">
            <a:avLst/>
          </a:prstGeom>
          <a:noFill/>
          <a:ln/>
        </p:spPr>
        <p:txBody>
          <a:bodyPr wrap="square" lIns="0" tIns="0" rIns="0" bIns="0" rtlCol="0" anchor="ctr"/>
          <a:lstStyle/>
          <a:p>
            <a:pPr indent="0" marL="0">
              <a:buNone/>
            </a:pPr>
            <a:r>
              <a:rPr lang="en-US" sz="1100" b="1" spc="100" kern="0" dirty="0">
                <a:solidFill>
                  <a:srgbClr val="C8102E"/>
                </a:solidFill>
                <a:latin typeface="Calibri" pitchFamily="34" charset="0"/>
                <a:ea typeface="Calibri" pitchFamily="34" charset="-122"/>
                <a:cs typeface="Calibri" pitchFamily="34" charset="-120"/>
              </a:rPr>
              <a:t>HAMBATAN (BARRIERS)</a:t>
            </a:r>
            <a:endParaRPr lang="en-US" sz="1100" dirty="0"/>
          </a:p>
        </p:txBody>
      </p:sp>
      <p:sp>
        <p:nvSpPr>
          <p:cNvPr id="9" name="Text 7"/>
          <p:cNvSpPr txBox="1"/>
          <p:nvPr/>
        </p:nvSpPr>
        <p:spPr>
          <a:xfrm>
            <a:off x="6446520" y="1920240"/>
            <a:ext cx="4983480" cy="19202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Efisiensi model LCC bertumpu pada rute pendek, satu tipe pesawat, dan layanan minimal. Rute antarbenua tidak memenuhi ketiganya.</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Pesaing jarak jauh adalah maskapai jaringan (network carriers) dengan rute pengumpan (feeder), tiket terusan, dan subsidi silang dari kelas premium.</a:t>
            </a:r>
            <a:endParaRPr lang="en-US" sz="1200" dirty="0"/>
          </a:p>
          <a:p>
            <a:pPr marL="342900" indent="-342900">
              <a:spcAft>
                <a:spcPts val="500"/>
              </a:spcAft>
              <a:buSzPct val="100000"/>
              <a:buChar char="•"/>
            </a:pPr>
            <a:r>
              <a:rPr lang="en-US" sz="1200" dirty="0">
                <a:solidFill>
                  <a:srgbClr val="1C1C1C"/>
                </a:solidFill>
                <a:latin typeface="Calibri" pitchFamily="34" charset="0"/>
                <a:ea typeface="Calibri" pitchFamily="34" charset="-122"/>
                <a:cs typeface="Calibri" pitchFamily="34" charset="-120"/>
              </a:rPr>
              <a:t>Neraca 2008 lemah: rugi bersih RM 496,6 juta, utang RM 6,69 miliar berbanding ekuitas RM 1,61 miliar, kas RM 153,8 juta (Tabel 9.1).</a:t>
            </a:r>
            <a:endParaRPr lang="en-US" sz="1200" dirty="0"/>
          </a:p>
        </p:txBody>
      </p:sp>
      <p:sp>
        <p:nvSpPr>
          <p:cNvPr id="10" name="Shape 8"/>
          <p:cNvSpPr/>
          <p:nvPr/>
        </p:nvSpPr>
        <p:spPr>
          <a:xfrm>
            <a:off x="548640" y="4114800"/>
            <a:ext cx="11064240" cy="1783080"/>
          </a:xfrm>
          <a:prstGeom prst="roundRect">
            <a:avLst>
              <a:gd name="adj" fmla="val 4103"/>
            </a:avLst>
          </a:prstGeom>
          <a:solidFill>
            <a:srgbClr val="1C1C1C"/>
          </a:solidFill>
          <a:ln w="12700">
            <a:solidFill>
              <a:srgbClr val="1C1C1C"/>
            </a:solidFill>
            <a:prstDash val="solid"/>
          </a:ln>
        </p:spPr>
      </p:sp>
      <p:sp>
        <p:nvSpPr>
          <p:cNvPr id="11" name="Text 9"/>
          <p:cNvSpPr txBox="1"/>
          <p:nvPr/>
        </p:nvSpPr>
        <p:spPr>
          <a:xfrm>
            <a:off x="822960" y="4224528"/>
            <a:ext cx="5486400" cy="320040"/>
          </a:xfrm>
          <a:prstGeom prst="rect">
            <a:avLst/>
          </a:prstGeom>
          <a:noFill/>
          <a:ln/>
        </p:spPr>
        <p:txBody>
          <a:bodyPr wrap="square" lIns="0" tIns="0" rIns="0" bIns="0" rtlCol="0" anchor="ctr"/>
          <a:lstStyle/>
          <a:p>
            <a:pPr indent="0" marL="0">
              <a:buNone/>
            </a:pPr>
            <a:r>
              <a:rPr lang="en-US" sz="1100" b="1" spc="100" kern="0" dirty="0">
                <a:solidFill>
                  <a:srgbClr val="F1C7CF"/>
                </a:solidFill>
                <a:latin typeface="Calibri" pitchFamily="34" charset="0"/>
                <a:ea typeface="Calibri" pitchFamily="34" charset="-122"/>
                <a:cs typeface="Calibri" pitchFamily="34" charset="-120"/>
              </a:rPr>
              <a:t>PERTANYAAN STRATEGIS</a:t>
            </a:r>
            <a:endParaRPr lang="en-US" sz="1100" dirty="0"/>
          </a:p>
        </p:txBody>
      </p:sp>
      <p:sp>
        <p:nvSpPr>
          <p:cNvPr id="12" name="Text 10"/>
          <p:cNvSpPr txBox="1"/>
          <p:nvPr/>
        </p:nvSpPr>
        <p:spPr>
          <a:xfrm>
            <a:off x="822960" y="4526280"/>
            <a:ext cx="10515600" cy="1325880"/>
          </a:xfrm>
          <a:prstGeom prst="rect">
            <a:avLst/>
          </a:prstGeom>
          <a:noFill/>
          <a:ln/>
        </p:spPr>
        <p:txBody>
          <a:bodyPr wrap="square" lIns="0" tIns="0" rIns="0" bIns="0" rtlCol="0" anchor="t"/>
          <a:lstStyle/>
          <a:p>
            <a:pPr indent="0" marL="0">
              <a:buNone/>
            </a:pPr>
            <a:r>
              <a:rPr lang="en-US" sz="1550" dirty="0">
                <a:solidFill>
                  <a:srgbClr val="FFFFFF"/>
                </a:solidFill>
                <a:latin typeface="Calibri" pitchFamily="34" charset="0"/>
                <a:ea typeface="Calibri" pitchFamily="34" charset="-122"/>
                <a:cs typeface="Calibri" pitchFamily="34" charset="-120"/>
              </a:rPr>
              <a:t>Apakah sumber keunggulan biaya AirAsia dapat ditransfer ke pasar jarak jauh, dan bagaimana AirAsia sebaiknya menata hubungan dengan AirAsia X agar eksplorasi (exploration) pasar baru tidak mengganggu eksploitasi (exploitation) model yang sudah terbukti?</a:t>
            </a:r>
            <a:endParaRPr lang="en-US" sz="1550" dirty="0"/>
          </a:p>
          <a:p>
            <a:pPr indent="0" marL="0">
              <a:buNone/>
            </a:pPr>
            <a:r>
              <a:rPr lang="en-US" sz="500" dirty="0">
                <a:solidFill>
                  <a:srgbClr val="000000"/>
                </a:solidFill>
                <a:latin typeface="Calibri" pitchFamily="34" charset="0"/>
                <a:ea typeface="Calibri" pitchFamily="34" charset="-122"/>
                <a:cs typeface="Calibri" pitchFamily="34" charset="-120"/>
              </a:rPr>
              <a:t> </a:t>
            </a:r>
            <a:endParaRPr lang="en-US" sz="1550" dirty="0"/>
          </a:p>
          <a:p>
            <a:pPr indent="0" marL="0">
              <a:buNone/>
            </a:pPr>
            <a:r>
              <a:rPr lang="en-US" sz="1150" dirty="0">
                <a:solidFill>
                  <a:srgbClr val="F1C7CF"/>
                </a:solidFill>
                <a:latin typeface="Calibri" pitchFamily="34" charset="0"/>
                <a:ea typeface="Calibri" pitchFamily="34" charset="-122"/>
                <a:cs typeface="Calibri" pitchFamily="34" charset="-120"/>
              </a:rPr>
              <a:t>Keputusan yang menunggu manajemen pada pertengahan 2009: merger AirAsia X ke dalam AirAsia, tetap terpisah dengan kontrak layanan, atau kembali fokus ke pasar regional.</a:t>
            </a:r>
            <a:endParaRPr lang="en-US" sz="1550" dirty="0"/>
          </a:p>
        </p:txBody>
      </p:sp>
      <p:sp>
        <p:nvSpPr>
          <p:cNvPr id="13" name="Text 11"/>
          <p:cNvSpPr txBox="1"/>
          <p:nvPr/>
        </p:nvSpPr>
        <p:spPr>
          <a:xfrm>
            <a:off x="548640" y="6016752"/>
            <a:ext cx="11064240" cy="365760"/>
          </a:xfrm>
          <a:prstGeom prst="rect">
            <a:avLst/>
          </a:prstGeom>
          <a:noFill/>
          <a:ln/>
        </p:spPr>
        <p:txBody>
          <a:bodyPr wrap="square" lIns="0" tIns="0" rIns="0" bIns="0" rtlCol="0" anchor="ctr"/>
          <a:lstStyle/>
          <a:p>
            <a:pPr indent="0" marL="0">
              <a:buNone/>
            </a:pPr>
            <a:r>
              <a:rPr lang="en-US" sz="1050" b="1" dirty="0">
                <a:solidFill>
                  <a:srgbClr val="C8102E"/>
                </a:solidFill>
                <a:latin typeface="Calibri" pitchFamily="34" charset="0"/>
                <a:ea typeface="Calibri" pitchFamily="34" charset="-122"/>
                <a:cs typeface="Calibri" pitchFamily="34" charset="-120"/>
              </a:rPr>
              <a:t>Kaitan.  </a:t>
            </a:r>
            <a:pPr indent="0" marL="0">
              <a:buNone/>
            </a:pPr>
            <a:r>
              <a:rPr lang="en-US" sz="1050" i="1" dirty="0">
                <a:solidFill>
                  <a:srgbClr val="6E6E6E"/>
                </a:solidFill>
                <a:latin typeface="Calibri" pitchFamily="34" charset="0"/>
                <a:ea typeface="Calibri" pitchFamily="34" charset="-122"/>
                <a:cs typeface="Calibri" pitchFamily="34" charset="-120"/>
              </a:rPr>
              <a:t>Untuk menjawab pertanyaan ini, tahap kedua membaca lingkungan eksternal lebih dulu: faktor makro, struktur industri, dinamika, dan peta pesaing.</a:t>
            </a:r>
            <a:endParaRPr lang="en-US" sz="1050" dirty="0"/>
          </a:p>
        </p:txBody>
      </p:sp>
      <p:sp>
        <p:nvSpPr>
          <p:cNvPr id="14" name="Text 1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15" name="Text 13"/>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74320"/>
          </a:xfrm>
          <a:prstGeom prst="rect">
            <a:avLst/>
          </a:prstGeom>
          <a:noFill/>
          <a:ln/>
        </p:spPr>
        <p:txBody>
          <a:bodyPr wrap="square" lIns="0" tIns="0" rIns="0" bIns="0" rtlCol="0" anchor="ctr"/>
          <a:lstStyle/>
          <a:p>
            <a:pPr indent="0" marL="0">
              <a:buNone/>
            </a:pPr>
            <a:r>
              <a:rPr lang="en-US" sz="1000" spc="150" kern="0" dirty="0">
                <a:solidFill>
                  <a:srgbClr val="B5B5B5"/>
                </a:solidFill>
                <a:latin typeface="Calibri" pitchFamily="34" charset="0"/>
                <a:ea typeface="Calibri" pitchFamily="34" charset="-122"/>
                <a:cs typeface="Calibri" pitchFamily="34" charset="-120"/>
              </a:rPr>
              <a:t>1  PROBLEM</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b="1" spc="150" kern="0" dirty="0">
                <a:solidFill>
                  <a:srgbClr val="C8102E"/>
                </a:solidFill>
                <a:latin typeface="Calibri" pitchFamily="34" charset="0"/>
                <a:ea typeface="Calibri" pitchFamily="34" charset="-122"/>
                <a:cs typeface="Calibri" pitchFamily="34" charset="-120"/>
              </a:rPr>
              <a:t>2  EXTERNAL ENVIRONMENT</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3  COST POSITION</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4  CHOICE</a:t>
            </a:r>
            <a:endParaRPr lang="en-US" sz="10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indent="0" marL="0">
              <a:buNone/>
            </a:pPr>
            <a:r>
              <a:rPr lang="en-US" sz="3000" b="1" dirty="0">
                <a:solidFill>
                  <a:srgbClr val="1C1C1C"/>
                </a:solidFill>
                <a:latin typeface="Cambria" pitchFamily="34" charset="0"/>
                <a:ea typeface="Cambria" pitchFamily="34" charset="-122"/>
                <a:cs typeface="Cambria" pitchFamily="34" charset="-120"/>
              </a:rPr>
              <a:t>PESTEL analysis</a:t>
            </a:r>
            <a:endParaRPr lang="en-US" sz="3000" dirty="0"/>
          </a:p>
        </p:txBody>
      </p:sp>
      <p:sp>
        <p:nvSpPr>
          <p:cNvPr id="4" name="Shape 2"/>
          <p:cNvSpPr/>
          <p:nvPr/>
        </p:nvSpPr>
        <p:spPr>
          <a:xfrm>
            <a:off x="548640" y="1463040"/>
            <a:ext cx="3520440" cy="2148840"/>
          </a:xfrm>
          <a:prstGeom prst="roundRect">
            <a:avLst>
              <a:gd name="adj" fmla="val 3404"/>
            </a:avLst>
          </a:prstGeom>
          <a:solidFill>
            <a:srgbClr val="F4F4F4"/>
          </a:solidFill>
          <a:ln w="12700">
            <a:solidFill>
              <a:srgbClr val="F4F4F4"/>
            </a:solidFill>
            <a:prstDash val="solid"/>
          </a:ln>
        </p:spPr>
      </p:sp>
      <p:sp>
        <p:nvSpPr>
          <p:cNvPr id="5" name="Shape 3"/>
          <p:cNvSpPr/>
          <p:nvPr/>
        </p:nvSpPr>
        <p:spPr>
          <a:xfrm>
            <a:off x="731520" y="1600200"/>
            <a:ext cx="457200" cy="457200"/>
          </a:xfrm>
          <a:prstGeom prst="ellipse">
            <a:avLst/>
          </a:prstGeom>
          <a:solidFill>
            <a:srgbClr val="C8102E"/>
          </a:solidFill>
          <a:ln w="12700">
            <a:solidFill>
              <a:srgbClr val="C8102E"/>
            </a:solidFill>
            <a:prstDash val="solid"/>
          </a:ln>
        </p:spPr>
      </p:sp>
      <p:sp>
        <p:nvSpPr>
          <p:cNvPr id="6" name="Text 4"/>
          <p:cNvSpPr txBox="1"/>
          <p:nvPr/>
        </p:nvSpPr>
        <p:spPr>
          <a:xfrm>
            <a:off x="73152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P</a:t>
            </a:r>
            <a:endParaRPr lang="en-US" sz="1600" dirty="0"/>
          </a:p>
        </p:txBody>
      </p:sp>
      <p:sp>
        <p:nvSpPr>
          <p:cNvPr id="7" name="Text 5"/>
          <p:cNvSpPr txBox="1"/>
          <p:nvPr/>
        </p:nvSpPr>
        <p:spPr>
          <a:xfrm>
            <a:off x="1325880" y="1600200"/>
            <a:ext cx="2560320" cy="457200"/>
          </a:xfrm>
          <a:prstGeom prst="rect">
            <a:avLst/>
          </a:prstGeom>
          <a:noFill/>
          <a:ln/>
        </p:spPr>
        <p:txBody>
          <a:bodyPr wrap="square" lIns="0" tIns="0" rIns="0" bIns="0" rtlCol="0" anchor="ctr"/>
          <a:lstStyle/>
          <a:p>
            <a:pPr indent="0" marL="0">
              <a:buNone/>
            </a:pPr>
            <a:r>
              <a:rPr lang="en-US" sz="1400" b="1" dirty="0">
                <a:solidFill>
                  <a:srgbClr val="1C1C1C"/>
                </a:solidFill>
                <a:latin typeface="Calibri" pitchFamily="34" charset="0"/>
                <a:ea typeface="Calibri" pitchFamily="34" charset="-122"/>
                <a:cs typeface="Calibri" pitchFamily="34" charset="-120"/>
              </a:rPr>
              <a:t>Politik</a:t>
            </a:r>
            <a:endParaRPr lang="en-US" sz="1400" dirty="0"/>
          </a:p>
        </p:txBody>
      </p:sp>
      <p:sp>
        <p:nvSpPr>
          <p:cNvPr id="8" name="Text 6"/>
          <p:cNvSpPr txBox="1"/>
          <p:nvPr/>
        </p:nvSpPr>
        <p:spPr>
          <a:xfrm>
            <a:off x="749808" y="2121408"/>
            <a:ext cx="3154680" cy="1444752"/>
          </a:xfrm>
          <a:prstGeom prst="rect">
            <a:avLst/>
          </a:prstGeom>
          <a:noFill/>
          <a:ln/>
        </p:spPr>
        <p:txBody>
          <a:bodyPr wrap="square" lIns="0" tIns="0" rIns="0" bIns="0" rtlCol="0" anchor="t"/>
          <a:lstStyle/>
          <a:p>
            <a:pPr indent="0" marL="0">
              <a:buNone/>
            </a:pPr>
            <a:r>
              <a:rPr lang="en-US" sz="1050" dirty="0">
                <a:solidFill>
                  <a:srgbClr val="1C1C1C"/>
                </a:solidFill>
                <a:latin typeface="Calibri" pitchFamily="34" charset="0"/>
                <a:ea typeface="Calibri" pitchFamily="34" charset="-122"/>
                <a:cs typeface="Calibri" pitchFamily="34" charset="-120"/>
              </a:rPr>
              <a:t>Dukungan pemerintah Malaysia sejak akuisisi 2001. Namun rute jarak jauh menempatkan AirAsia berhadapan langsung dengan Malaysia Airlines, maskapai nasional (flag carrier). Itulah alasan AirAsia X didirikan sebagai entitas terpisah.</a:t>
            </a:r>
            <a:endParaRPr lang="en-US" sz="1050" dirty="0"/>
          </a:p>
        </p:txBody>
      </p:sp>
      <p:sp>
        <p:nvSpPr>
          <p:cNvPr id="9" name="Shape 7"/>
          <p:cNvSpPr/>
          <p:nvPr/>
        </p:nvSpPr>
        <p:spPr>
          <a:xfrm>
            <a:off x="4251960" y="1463040"/>
            <a:ext cx="3520440" cy="2148840"/>
          </a:xfrm>
          <a:prstGeom prst="roundRect">
            <a:avLst>
              <a:gd name="adj" fmla="val 3404"/>
            </a:avLst>
          </a:prstGeom>
          <a:solidFill>
            <a:srgbClr val="F4F4F4"/>
          </a:solidFill>
          <a:ln w="12700">
            <a:solidFill>
              <a:srgbClr val="F4F4F4"/>
            </a:solidFill>
            <a:prstDash val="solid"/>
          </a:ln>
        </p:spPr>
      </p:sp>
      <p:sp>
        <p:nvSpPr>
          <p:cNvPr id="10" name="Shape 8"/>
          <p:cNvSpPr/>
          <p:nvPr/>
        </p:nvSpPr>
        <p:spPr>
          <a:xfrm>
            <a:off x="4434840" y="1600200"/>
            <a:ext cx="457200" cy="457200"/>
          </a:xfrm>
          <a:prstGeom prst="ellipse">
            <a:avLst/>
          </a:prstGeom>
          <a:solidFill>
            <a:srgbClr val="C8102E"/>
          </a:solidFill>
          <a:ln w="12700">
            <a:solidFill>
              <a:srgbClr val="C8102E"/>
            </a:solidFill>
            <a:prstDash val="solid"/>
          </a:ln>
        </p:spPr>
      </p:sp>
      <p:sp>
        <p:nvSpPr>
          <p:cNvPr id="11" name="Text 9"/>
          <p:cNvSpPr txBox="1"/>
          <p:nvPr/>
        </p:nvSpPr>
        <p:spPr>
          <a:xfrm>
            <a:off x="443484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E</a:t>
            </a:r>
            <a:endParaRPr lang="en-US" sz="1600" dirty="0"/>
          </a:p>
        </p:txBody>
      </p:sp>
      <p:sp>
        <p:nvSpPr>
          <p:cNvPr id="12" name="Text 10"/>
          <p:cNvSpPr txBox="1"/>
          <p:nvPr/>
        </p:nvSpPr>
        <p:spPr>
          <a:xfrm>
            <a:off x="5029200" y="1600200"/>
            <a:ext cx="2560320" cy="457200"/>
          </a:xfrm>
          <a:prstGeom prst="rect">
            <a:avLst/>
          </a:prstGeom>
          <a:noFill/>
          <a:ln/>
        </p:spPr>
        <p:txBody>
          <a:bodyPr wrap="square" lIns="0" tIns="0" rIns="0" bIns="0" rtlCol="0" anchor="ctr"/>
          <a:lstStyle/>
          <a:p>
            <a:pPr indent="0" marL="0">
              <a:buNone/>
            </a:pPr>
            <a:r>
              <a:rPr lang="en-US" sz="1400" b="1" dirty="0">
                <a:solidFill>
                  <a:srgbClr val="1C1C1C"/>
                </a:solidFill>
                <a:latin typeface="Calibri" pitchFamily="34" charset="0"/>
                <a:ea typeface="Calibri" pitchFamily="34" charset="-122"/>
                <a:cs typeface="Calibri" pitchFamily="34" charset="-120"/>
              </a:rPr>
              <a:t>Ekonomi</a:t>
            </a:r>
            <a:endParaRPr lang="en-US" sz="1400" dirty="0"/>
          </a:p>
        </p:txBody>
      </p:sp>
      <p:sp>
        <p:nvSpPr>
          <p:cNvPr id="13" name="Text 11"/>
          <p:cNvSpPr txBox="1"/>
          <p:nvPr/>
        </p:nvSpPr>
        <p:spPr>
          <a:xfrm>
            <a:off x="4453128" y="2121408"/>
            <a:ext cx="3154680" cy="1444752"/>
          </a:xfrm>
          <a:prstGeom prst="rect">
            <a:avLst/>
          </a:prstGeom>
          <a:noFill/>
          <a:ln/>
        </p:spPr>
        <p:txBody>
          <a:bodyPr wrap="square" lIns="0" tIns="0" rIns="0" bIns="0" rtlCol="0" anchor="t"/>
          <a:lstStyle/>
          <a:p>
            <a:pPr indent="0" marL="0">
              <a:buNone/>
            </a:pPr>
            <a:r>
              <a:rPr lang="en-US" sz="1050" dirty="0">
                <a:solidFill>
                  <a:srgbClr val="1C1C1C"/>
                </a:solidFill>
                <a:latin typeface="Calibri" pitchFamily="34" charset="0"/>
                <a:ea typeface="Calibri" pitchFamily="34" charset="-122"/>
                <a:cs typeface="Calibri" pitchFamily="34" charset="-120"/>
              </a:rPr>
              <a:t>Kemakmuran Malaysia dan kawasan meningkat; 500 juta penduduk dalam radius 3,5 jam terbang, sebagian besar belum pernah naik pesawat. Harga minyak 2008 sangat fluktuatif; bahan bakar adalah 47 persen biaya operasi AirAsia (RM 1,39 miliar dari RM 2,97 miliar).</a:t>
            </a:r>
            <a:endParaRPr lang="en-US" sz="1050" dirty="0"/>
          </a:p>
        </p:txBody>
      </p:sp>
      <p:sp>
        <p:nvSpPr>
          <p:cNvPr id="14" name="Shape 12"/>
          <p:cNvSpPr/>
          <p:nvPr/>
        </p:nvSpPr>
        <p:spPr>
          <a:xfrm>
            <a:off x="7955280" y="1463040"/>
            <a:ext cx="3520440" cy="2148840"/>
          </a:xfrm>
          <a:prstGeom prst="roundRect">
            <a:avLst>
              <a:gd name="adj" fmla="val 3404"/>
            </a:avLst>
          </a:prstGeom>
          <a:solidFill>
            <a:srgbClr val="F4F4F4"/>
          </a:solidFill>
          <a:ln w="12700">
            <a:solidFill>
              <a:srgbClr val="F4F4F4"/>
            </a:solidFill>
            <a:prstDash val="solid"/>
          </a:ln>
        </p:spPr>
      </p:sp>
      <p:sp>
        <p:nvSpPr>
          <p:cNvPr id="15" name="Shape 13"/>
          <p:cNvSpPr/>
          <p:nvPr/>
        </p:nvSpPr>
        <p:spPr>
          <a:xfrm>
            <a:off x="8138160" y="1600200"/>
            <a:ext cx="457200" cy="457200"/>
          </a:xfrm>
          <a:prstGeom prst="ellipse">
            <a:avLst/>
          </a:prstGeom>
          <a:solidFill>
            <a:srgbClr val="C8102E"/>
          </a:solidFill>
          <a:ln w="12700">
            <a:solidFill>
              <a:srgbClr val="C8102E"/>
            </a:solidFill>
            <a:prstDash val="solid"/>
          </a:ln>
        </p:spPr>
      </p:sp>
      <p:sp>
        <p:nvSpPr>
          <p:cNvPr id="16" name="Text 14"/>
          <p:cNvSpPr txBox="1"/>
          <p:nvPr/>
        </p:nvSpPr>
        <p:spPr>
          <a:xfrm>
            <a:off x="813816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S</a:t>
            </a:r>
            <a:endParaRPr lang="en-US" sz="1600" dirty="0"/>
          </a:p>
        </p:txBody>
      </p:sp>
      <p:sp>
        <p:nvSpPr>
          <p:cNvPr id="17" name="Text 15"/>
          <p:cNvSpPr txBox="1"/>
          <p:nvPr/>
        </p:nvSpPr>
        <p:spPr>
          <a:xfrm>
            <a:off x="8732520" y="1600200"/>
            <a:ext cx="2560320" cy="457200"/>
          </a:xfrm>
          <a:prstGeom prst="rect">
            <a:avLst/>
          </a:prstGeom>
          <a:noFill/>
          <a:ln/>
        </p:spPr>
        <p:txBody>
          <a:bodyPr wrap="square" lIns="0" tIns="0" rIns="0" bIns="0" rtlCol="0" anchor="ctr"/>
          <a:lstStyle/>
          <a:p>
            <a:pPr indent="0" marL="0">
              <a:buNone/>
            </a:pPr>
            <a:r>
              <a:rPr lang="en-US" sz="1400" b="1" dirty="0">
                <a:solidFill>
                  <a:srgbClr val="1C1C1C"/>
                </a:solidFill>
                <a:latin typeface="Calibri" pitchFamily="34" charset="0"/>
                <a:ea typeface="Calibri" pitchFamily="34" charset="-122"/>
                <a:cs typeface="Calibri" pitchFamily="34" charset="-120"/>
              </a:rPr>
              <a:t>Sosial</a:t>
            </a:r>
            <a:endParaRPr lang="en-US" sz="1400" dirty="0"/>
          </a:p>
        </p:txBody>
      </p:sp>
      <p:sp>
        <p:nvSpPr>
          <p:cNvPr id="18" name="Text 16"/>
          <p:cNvSpPr txBox="1"/>
          <p:nvPr/>
        </p:nvSpPr>
        <p:spPr>
          <a:xfrm>
            <a:off x="8156448" y="2121408"/>
            <a:ext cx="3154680" cy="1444752"/>
          </a:xfrm>
          <a:prstGeom prst="rect">
            <a:avLst/>
          </a:prstGeom>
          <a:noFill/>
          <a:ln/>
        </p:spPr>
        <p:txBody>
          <a:bodyPr wrap="square" lIns="0" tIns="0" rIns="0" bIns="0" rtlCol="0" anchor="t"/>
          <a:lstStyle/>
          <a:p>
            <a:pPr indent="0" marL="0">
              <a:buNone/>
            </a:pPr>
            <a:r>
              <a:rPr lang="en-US" sz="1050" dirty="0">
                <a:solidFill>
                  <a:srgbClr val="1C1C1C"/>
                </a:solidFill>
                <a:latin typeface="Calibri" pitchFamily="34" charset="0"/>
                <a:ea typeface="Calibri" pitchFamily="34" charset="-122"/>
                <a:cs typeface="Calibri" pitchFamily="34" charset="-120"/>
              </a:rPr>
              <a:t>Segmen wisatawan dan pebisnis berpendapatan menengah yang selama ini kurang terlayani (underserved). Slogan Now Everyone Can Fly pada dasarnya adalah strategi memperluas pasar (market expansion), bukan sekadar merebut pangsa.</a:t>
            </a:r>
            <a:endParaRPr lang="en-US" sz="1050" dirty="0"/>
          </a:p>
        </p:txBody>
      </p:sp>
      <p:sp>
        <p:nvSpPr>
          <p:cNvPr id="19" name="Shape 17"/>
          <p:cNvSpPr/>
          <p:nvPr/>
        </p:nvSpPr>
        <p:spPr>
          <a:xfrm>
            <a:off x="548640" y="3749040"/>
            <a:ext cx="3520440" cy="2148840"/>
          </a:xfrm>
          <a:prstGeom prst="roundRect">
            <a:avLst>
              <a:gd name="adj" fmla="val 3404"/>
            </a:avLst>
          </a:prstGeom>
          <a:solidFill>
            <a:srgbClr val="F4F4F4"/>
          </a:solidFill>
          <a:ln w="12700">
            <a:solidFill>
              <a:srgbClr val="F4F4F4"/>
            </a:solidFill>
            <a:prstDash val="solid"/>
          </a:ln>
        </p:spPr>
      </p:sp>
      <p:sp>
        <p:nvSpPr>
          <p:cNvPr id="20" name="Shape 18"/>
          <p:cNvSpPr/>
          <p:nvPr/>
        </p:nvSpPr>
        <p:spPr>
          <a:xfrm>
            <a:off x="731520" y="3886200"/>
            <a:ext cx="457200" cy="457200"/>
          </a:xfrm>
          <a:prstGeom prst="ellipse">
            <a:avLst/>
          </a:prstGeom>
          <a:solidFill>
            <a:srgbClr val="C8102E"/>
          </a:solidFill>
          <a:ln w="12700">
            <a:solidFill>
              <a:srgbClr val="C8102E"/>
            </a:solidFill>
            <a:prstDash val="solid"/>
          </a:ln>
        </p:spPr>
      </p:sp>
      <p:sp>
        <p:nvSpPr>
          <p:cNvPr id="21" name="Text 19"/>
          <p:cNvSpPr txBox="1"/>
          <p:nvPr/>
        </p:nvSpPr>
        <p:spPr>
          <a:xfrm>
            <a:off x="731520" y="3886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T</a:t>
            </a:r>
            <a:endParaRPr lang="en-US" sz="1600" dirty="0"/>
          </a:p>
        </p:txBody>
      </p:sp>
      <p:sp>
        <p:nvSpPr>
          <p:cNvPr id="22" name="Text 20"/>
          <p:cNvSpPr txBox="1"/>
          <p:nvPr/>
        </p:nvSpPr>
        <p:spPr>
          <a:xfrm>
            <a:off x="1325880" y="3886200"/>
            <a:ext cx="2560320" cy="457200"/>
          </a:xfrm>
          <a:prstGeom prst="rect">
            <a:avLst/>
          </a:prstGeom>
          <a:noFill/>
          <a:ln/>
        </p:spPr>
        <p:txBody>
          <a:bodyPr wrap="square" lIns="0" tIns="0" rIns="0" bIns="0" rtlCol="0" anchor="ctr"/>
          <a:lstStyle/>
          <a:p>
            <a:pPr indent="0" marL="0">
              <a:buNone/>
            </a:pPr>
            <a:r>
              <a:rPr lang="en-US" sz="1400" b="1" dirty="0">
                <a:solidFill>
                  <a:srgbClr val="1C1C1C"/>
                </a:solidFill>
                <a:latin typeface="Calibri" pitchFamily="34" charset="0"/>
                <a:ea typeface="Calibri" pitchFamily="34" charset="-122"/>
                <a:cs typeface="Calibri" pitchFamily="34" charset="-120"/>
              </a:rPr>
              <a:t>Teknologi</a:t>
            </a:r>
            <a:endParaRPr lang="en-US" sz="1400" dirty="0"/>
          </a:p>
        </p:txBody>
      </p:sp>
      <p:sp>
        <p:nvSpPr>
          <p:cNvPr id="23" name="Text 21"/>
          <p:cNvSpPr txBox="1"/>
          <p:nvPr/>
        </p:nvSpPr>
        <p:spPr>
          <a:xfrm>
            <a:off x="749808" y="4407408"/>
            <a:ext cx="3154680" cy="1444752"/>
          </a:xfrm>
          <a:prstGeom prst="rect">
            <a:avLst/>
          </a:prstGeom>
          <a:noFill/>
          <a:ln/>
        </p:spPr>
        <p:txBody>
          <a:bodyPr wrap="square" lIns="0" tIns="0" rIns="0" bIns="0" rtlCol="0" anchor="t"/>
          <a:lstStyle/>
          <a:p>
            <a:pPr indent="0" marL="0">
              <a:buNone/>
            </a:pPr>
            <a:r>
              <a:rPr lang="en-US" sz="1050" dirty="0">
                <a:solidFill>
                  <a:srgbClr val="1C1C1C"/>
                </a:solidFill>
                <a:latin typeface="Calibri" pitchFamily="34" charset="0"/>
                <a:ea typeface="Calibri" pitchFamily="34" charset="-122"/>
                <a:cs typeface="Calibri" pitchFamily="34" charset="-120"/>
              </a:rPr>
              <a:t>Sistem reservasi Navitaire Open Skies, yield management system, boarding pass cetak sendiri, pemesanan lewat ponsel (2006), ERP dan advanced planning system. Distribusi langsung memangkas komisi agen dan sulit ditiru maskapai lama.</a:t>
            </a:r>
            <a:endParaRPr lang="en-US" sz="1050" dirty="0"/>
          </a:p>
        </p:txBody>
      </p:sp>
      <p:sp>
        <p:nvSpPr>
          <p:cNvPr id="24" name="Shape 22"/>
          <p:cNvSpPr/>
          <p:nvPr/>
        </p:nvSpPr>
        <p:spPr>
          <a:xfrm>
            <a:off x="4251960" y="3749040"/>
            <a:ext cx="3520440" cy="2148840"/>
          </a:xfrm>
          <a:prstGeom prst="roundRect">
            <a:avLst>
              <a:gd name="adj" fmla="val 3404"/>
            </a:avLst>
          </a:prstGeom>
          <a:solidFill>
            <a:srgbClr val="F4F4F4"/>
          </a:solidFill>
          <a:ln w="12700">
            <a:solidFill>
              <a:srgbClr val="F4F4F4"/>
            </a:solidFill>
            <a:prstDash val="solid"/>
          </a:ln>
        </p:spPr>
      </p:sp>
      <p:sp>
        <p:nvSpPr>
          <p:cNvPr id="25" name="Shape 23"/>
          <p:cNvSpPr/>
          <p:nvPr/>
        </p:nvSpPr>
        <p:spPr>
          <a:xfrm>
            <a:off x="4434840" y="3886200"/>
            <a:ext cx="457200" cy="457200"/>
          </a:xfrm>
          <a:prstGeom prst="ellipse">
            <a:avLst/>
          </a:prstGeom>
          <a:solidFill>
            <a:srgbClr val="C8102E"/>
          </a:solidFill>
          <a:ln w="12700">
            <a:solidFill>
              <a:srgbClr val="C8102E"/>
            </a:solidFill>
            <a:prstDash val="solid"/>
          </a:ln>
        </p:spPr>
      </p:sp>
      <p:sp>
        <p:nvSpPr>
          <p:cNvPr id="26" name="Text 24"/>
          <p:cNvSpPr txBox="1"/>
          <p:nvPr/>
        </p:nvSpPr>
        <p:spPr>
          <a:xfrm>
            <a:off x="4434840" y="3886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E</a:t>
            </a:r>
            <a:endParaRPr lang="en-US" sz="1600" dirty="0"/>
          </a:p>
        </p:txBody>
      </p:sp>
      <p:sp>
        <p:nvSpPr>
          <p:cNvPr id="27" name="Text 25"/>
          <p:cNvSpPr txBox="1"/>
          <p:nvPr/>
        </p:nvSpPr>
        <p:spPr>
          <a:xfrm>
            <a:off x="5029200" y="3886200"/>
            <a:ext cx="2560320" cy="457200"/>
          </a:xfrm>
          <a:prstGeom prst="rect">
            <a:avLst/>
          </a:prstGeom>
          <a:noFill/>
          <a:ln/>
        </p:spPr>
        <p:txBody>
          <a:bodyPr wrap="square" lIns="0" tIns="0" rIns="0" bIns="0" rtlCol="0" anchor="ctr"/>
          <a:lstStyle/>
          <a:p>
            <a:pPr indent="0" marL="0">
              <a:buNone/>
            </a:pPr>
            <a:r>
              <a:rPr lang="en-US" sz="1400" b="1" dirty="0">
                <a:solidFill>
                  <a:srgbClr val="1C1C1C"/>
                </a:solidFill>
                <a:latin typeface="Calibri" pitchFamily="34" charset="0"/>
                <a:ea typeface="Calibri" pitchFamily="34" charset="-122"/>
                <a:cs typeface="Calibri" pitchFamily="34" charset="-120"/>
              </a:rPr>
              <a:t>Lingkungan</a:t>
            </a:r>
            <a:endParaRPr lang="en-US" sz="1400" dirty="0"/>
          </a:p>
        </p:txBody>
      </p:sp>
      <p:sp>
        <p:nvSpPr>
          <p:cNvPr id="28" name="Text 26"/>
          <p:cNvSpPr txBox="1"/>
          <p:nvPr/>
        </p:nvSpPr>
        <p:spPr>
          <a:xfrm>
            <a:off x="4453128" y="4407408"/>
            <a:ext cx="3154680" cy="1444752"/>
          </a:xfrm>
          <a:prstGeom prst="rect">
            <a:avLst/>
          </a:prstGeom>
          <a:noFill/>
          <a:ln/>
        </p:spPr>
        <p:txBody>
          <a:bodyPr wrap="square" lIns="0" tIns="0" rIns="0" bIns="0" rtlCol="0" anchor="t"/>
          <a:lstStyle/>
          <a:p>
            <a:pPr indent="0" marL="0">
              <a:buNone/>
            </a:pPr>
            <a:r>
              <a:rPr lang="en-US" sz="1050" dirty="0">
                <a:solidFill>
                  <a:srgbClr val="1C1C1C"/>
                </a:solidFill>
                <a:latin typeface="Calibri" pitchFamily="34" charset="0"/>
                <a:ea typeface="Calibri" pitchFamily="34" charset="-122"/>
                <a:cs typeface="Calibri" pitchFamily="34" charset="-120"/>
              </a:rPr>
              <a:t>Efisiensi bahan bakar menentukan biaya sekaligus jejak karbon. Armada A320 baru yang hemat bahan bakar menjadi keharusan. Di rute jauh, A340 bermesin empat justru lebih boros dibanding pesaing bermesin dua.</a:t>
            </a:r>
            <a:endParaRPr lang="en-US" sz="1050" dirty="0"/>
          </a:p>
        </p:txBody>
      </p:sp>
      <p:sp>
        <p:nvSpPr>
          <p:cNvPr id="29" name="Shape 27"/>
          <p:cNvSpPr/>
          <p:nvPr/>
        </p:nvSpPr>
        <p:spPr>
          <a:xfrm>
            <a:off x="7955280" y="3749040"/>
            <a:ext cx="3520440" cy="2148840"/>
          </a:xfrm>
          <a:prstGeom prst="roundRect">
            <a:avLst>
              <a:gd name="adj" fmla="val 3404"/>
            </a:avLst>
          </a:prstGeom>
          <a:solidFill>
            <a:srgbClr val="F4F4F4"/>
          </a:solidFill>
          <a:ln w="12700">
            <a:solidFill>
              <a:srgbClr val="F4F4F4"/>
            </a:solidFill>
            <a:prstDash val="solid"/>
          </a:ln>
        </p:spPr>
      </p:sp>
      <p:sp>
        <p:nvSpPr>
          <p:cNvPr id="30" name="Shape 28"/>
          <p:cNvSpPr/>
          <p:nvPr/>
        </p:nvSpPr>
        <p:spPr>
          <a:xfrm>
            <a:off x="8138160" y="3886200"/>
            <a:ext cx="457200" cy="457200"/>
          </a:xfrm>
          <a:prstGeom prst="ellipse">
            <a:avLst/>
          </a:prstGeom>
          <a:solidFill>
            <a:srgbClr val="C8102E"/>
          </a:solidFill>
          <a:ln w="12700">
            <a:solidFill>
              <a:srgbClr val="C8102E"/>
            </a:solidFill>
            <a:prstDash val="solid"/>
          </a:ln>
        </p:spPr>
      </p:sp>
      <p:sp>
        <p:nvSpPr>
          <p:cNvPr id="31" name="Text 29"/>
          <p:cNvSpPr txBox="1"/>
          <p:nvPr/>
        </p:nvSpPr>
        <p:spPr>
          <a:xfrm>
            <a:off x="8138160" y="3886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L</a:t>
            </a:r>
            <a:endParaRPr lang="en-US" sz="1600" dirty="0"/>
          </a:p>
        </p:txBody>
      </p:sp>
      <p:sp>
        <p:nvSpPr>
          <p:cNvPr id="32" name="Text 30"/>
          <p:cNvSpPr txBox="1"/>
          <p:nvPr/>
        </p:nvSpPr>
        <p:spPr>
          <a:xfrm>
            <a:off x="8732520" y="3886200"/>
            <a:ext cx="2560320" cy="457200"/>
          </a:xfrm>
          <a:prstGeom prst="rect">
            <a:avLst/>
          </a:prstGeom>
          <a:noFill/>
          <a:ln/>
        </p:spPr>
        <p:txBody>
          <a:bodyPr wrap="square" lIns="0" tIns="0" rIns="0" bIns="0" rtlCol="0" anchor="ctr"/>
          <a:lstStyle/>
          <a:p>
            <a:pPr indent="0" marL="0">
              <a:buNone/>
            </a:pPr>
            <a:r>
              <a:rPr lang="en-US" sz="1400" b="1" dirty="0">
                <a:solidFill>
                  <a:srgbClr val="1C1C1C"/>
                </a:solidFill>
                <a:latin typeface="Calibri" pitchFamily="34" charset="0"/>
                <a:ea typeface="Calibri" pitchFamily="34" charset="-122"/>
                <a:cs typeface="Calibri" pitchFamily="34" charset="-120"/>
              </a:rPr>
              <a:t>Legal</a:t>
            </a:r>
            <a:endParaRPr lang="en-US" sz="1400" dirty="0"/>
          </a:p>
        </p:txBody>
      </p:sp>
      <p:sp>
        <p:nvSpPr>
          <p:cNvPr id="33" name="Text 31"/>
          <p:cNvSpPr txBox="1"/>
          <p:nvPr/>
        </p:nvSpPr>
        <p:spPr>
          <a:xfrm>
            <a:off x="8156448" y="4407408"/>
            <a:ext cx="3154680" cy="1444752"/>
          </a:xfrm>
          <a:prstGeom prst="rect">
            <a:avLst/>
          </a:prstGeom>
          <a:noFill/>
          <a:ln/>
        </p:spPr>
        <p:txBody>
          <a:bodyPr wrap="square" lIns="0" tIns="0" rIns="0" bIns="0" rtlCol="0" anchor="t"/>
          <a:lstStyle/>
          <a:p>
            <a:pPr indent="0" marL="0">
              <a:buNone/>
            </a:pPr>
            <a:r>
              <a:rPr lang="en-US" sz="1050" dirty="0">
                <a:solidFill>
                  <a:srgbClr val="1C1C1C"/>
                </a:solidFill>
                <a:latin typeface="Calibri" pitchFamily="34" charset="0"/>
                <a:ea typeface="Calibri" pitchFamily="34" charset="-122"/>
                <a:cs typeface="Calibri" pitchFamily="34" charset="-120"/>
              </a:rPr>
              <a:t>Deregulasi penerbangan Asia Tenggara membuka rute lintas negara. Kepemilikan asing masih dibatasi, sehingga ekspansi ke Thailand dan Indonesia harus lewat usaha patungan (joint venture) yang operasinya dikontrakkan kembali ke AirAsia dengan imbalan fee bulanan.</a:t>
            </a:r>
            <a:endParaRPr lang="en-US" sz="1050" dirty="0"/>
          </a:p>
        </p:txBody>
      </p:sp>
      <p:sp>
        <p:nvSpPr>
          <p:cNvPr id="34" name="Text 32"/>
          <p:cNvSpPr txBox="1"/>
          <p:nvPr/>
        </p:nvSpPr>
        <p:spPr>
          <a:xfrm>
            <a:off x="548640" y="6016752"/>
            <a:ext cx="11064240" cy="365760"/>
          </a:xfrm>
          <a:prstGeom prst="rect">
            <a:avLst/>
          </a:prstGeom>
          <a:noFill/>
          <a:ln/>
        </p:spPr>
        <p:txBody>
          <a:bodyPr wrap="square" lIns="0" tIns="0" rIns="0" bIns="0" rtlCol="0" anchor="ctr"/>
          <a:lstStyle/>
          <a:p>
            <a:pPr indent="0" marL="0">
              <a:buNone/>
            </a:pPr>
            <a:r>
              <a:rPr lang="en-US" sz="1050" b="1" dirty="0">
                <a:solidFill>
                  <a:srgbClr val="C8102E"/>
                </a:solidFill>
                <a:latin typeface="Calibri" pitchFamily="34" charset="0"/>
                <a:ea typeface="Calibri" pitchFamily="34" charset="-122"/>
                <a:cs typeface="Calibri" pitchFamily="34" charset="-120"/>
              </a:rPr>
              <a:t>Kaitan.  </a:t>
            </a:r>
            <a:pPr indent="0" marL="0">
              <a:buNone/>
            </a:pPr>
            <a:r>
              <a:rPr lang="en-US" sz="1050" i="1" dirty="0">
                <a:solidFill>
                  <a:srgbClr val="6E6E6E"/>
                </a:solidFill>
                <a:latin typeface="Calibri" pitchFamily="34" charset="0"/>
                <a:ea typeface="Calibri" pitchFamily="34" charset="-122"/>
                <a:cs typeface="Calibri" pitchFamily="34" charset="-120"/>
              </a:rPr>
              <a:t>Faktor makro membentuk peluang. Apakah peluang itu bisa diubah menjadi laba ditentukan oleh struktur industrinya, yang dibaca dengan Five Forces di slide berikutnya.</a:t>
            </a:r>
            <a:endParaRPr lang="en-US" sz="1050" dirty="0"/>
          </a:p>
        </p:txBody>
      </p:sp>
      <p:sp>
        <p:nvSpPr>
          <p:cNvPr id="35" name="Text 3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36" name="Text 34"/>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74320"/>
          </a:xfrm>
          <a:prstGeom prst="rect">
            <a:avLst/>
          </a:prstGeom>
          <a:noFill/>
          <a:ln/>
        </p:spPr>
        <p:txBody>
          <a:bodyPr wrap="square" lIns="0" tIns="0" rIns="0" bIns="0" rtlCol="0" anchor="ctr"/>
          <a:lstStyle/>
          <a:p>
            <a:pPr indent="0" marL="0">
              <a:buNone/>
            </a:pPr>
            <a:r>
              <a:rPr lang="en-US" sz="1000" spc="150" kern="0" dirty="0">
                <a:solidFill>
                  <a:srgbClr val="B5B5B5"/>
                </a:solidFill>
                <a:latin typeface="Calibri" pitchFamily="34" charset="0"/>
                <a:ea typeface="Calibri" pitchFamily="34" charset="-122"/>
                <a:cs typeface="Calibri" pitchFamily="34" charset="-120"/>
              </a:rPr>
              <a:t>1  PROBLEM</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b="1" spc="150" kern="0" dirty="0">
                <a:solidFill>
                  <a:srgbClr val="C8102E"/>
                </a:solidFill>
                <a:latin typeface="Calibri" pitchFamily="34" charset="0"/>
                <a:ea typeface="Calibri" pitchFamily="34" charset="-122"/>
                <a:cs typeface="Calibri" pitchFamily="34" charset="-120"/>
              </a:rPr>
              <a:t>2  EXTERNAL ENVIRONMENT</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3  COST POSITION</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4  CHOICE</a:t>
            </a:r>
            <a:endParaRPr lang="en-US" sz="10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indent="0" marL="0">
              <a:buNone/>
            </a:pPr>
            <a:r>
              <a:rPr lang="en-US" sz="3000" b="1" dirty="0">
                <a:solidFill>
                  <a:srgbClr val="1C1C1C"/>
                </a:solidFill>
                <a:latin typeface="Cambria" pitchFamily="34" charset="0"/>
                <a:ea typeface="Cambria" pitchFamily="34" charset="-122"/>
                <a:cs typeface="Cambria" pitchFamily="34" charset="-120"/>
              </a:rPr>
              <a:t>Five Forces analysis</a:t>
            </a:r>
            <a:endParaRPr lang="en-US" sz="3000" dirty="0"/>
          </a:p>
        </p:txBody>
      </p:sp>
      <p:sp>
        <p:nvSpPr>
          <p:cNvPr id="4" name="Shape 2"/>
          <p:cNvSpPr/>
          <p:nvPr/>
        </p:nvSpPr>
        <p:spPr>
          <a:xfrm>
            <a:off x="3977640" y="3017520"/>
            <a:ext cx="2468880" cy="1325880"/>
          </a:xfrm>
          <a:prstGeom prst="roundRect">
            <a:avLst>
              <a:gd name="adj" fmla="val 5517"/>
            </a:avLst>
          </a:prstGeom>
          <a:solidFill>
            <a:srgbClr val="C8102E"/>
          </a:solidFill>
          <a:ln w="12700">
            <a:solidFill>
              <a:srgbClr val="C8102E"/>
            </a:solidFill>
            <a:prstDash val="solid"/>
          </a:ln>
        </p:spPr>
      </p:sp>
      <p:sp>
        <p:nvSpPr>
          <p:cNvPr id="5" name="Text 3"/>
          <p:cNvSpPr txBox="1"/>
          <p:nvPr/>
        </p:nvSpPr>
        <p:spPr>
          <a:xfrm>
            <a:off x="4087368" y="3090672"/>
            <a:ext cx="2249424" cy="117957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Persaingan antar pemain (rivalry)</a:t>
            </a:r>
            <a:endParaRPr lang="en-US" sz="1200" dirty="0"/>
          </a:p>
          <a:p>
            <a:pPr algn="ctr" indent="0" marL="0">
              <a:buNone/>
            </a:pPr>
            <a:r>
              <a:rPr lang="en-US" sz="1600" b="1" dirty="0">
                <a:solidFill>
                  <a:srgbClr val="FFFFFF"/>
                </a:solidFill>
                <a:latin typeface="Calibri" pitchFamily="34" charset="0"/>
                <a:ea typeface="Calibri" pitchFamily="34" charset="-122"/>
                <a:cs typeface="Calibri" pitchFamily="34" charset="-120"/>
              </a:rPr>
              <a:t>TINGGI</a:t>
            </a:r>
            <a:endParaRPr lang="en-US" sz="1200" dirty="0"/>
          </a:p>
          <a:p>
            <a:pPr algn="ctr" indent="0" marL="0">
              <a:buNone/>
            </a:pPr>
            <a:r>
              <a:rPr lang="en-US" sz="950" dirty="0">
                <a:solidFill>
                  <a:srgbClr val="FFFFFF"/>
                </a:solidFill>
                <a:latin typeface="Calibri" pitchFamily="34" charset="0"/>
                <a:ea typeface="Calibri" pitchFamily="34" charset="-122"/>
                <a:cs typeface="Calibri" pitchFamily="34" charset="-120"/>
              </a:rPr>
              <a:t>Banyak peniru model Southwest; MAS menekan di rute domestik; produk mudah dibandingkan lewat harga.</a:t>
            </a:r>
            <a:endParaRPr lang="en-US" sz="1200" dirty="0"/>
          </a:p>
        </p:txBody>
      </p:sp>
      <p:sp>
        <p:nvSpPr>
          <p:cNvPr id="6" name="Shape 4"/>
          <p:cNvSpPr/>
          <p:nvPr/>
        </p:nvSpPr>
        <p:spPr>
          <a:xfrm>
            <a:off x="3977640" y="1463040"/>
            <a:ext cx="3200400" cy="1325880"/>
          </a:xfrm>
          <a:prstGeom prst="roundRect">
            <a:avLst>
              <a:gd name="adj" fmla="val 5517"/>
            </a:avLst>
          </a:prstGeom>
          <a:solidFill>
            <a:srgbClr val="F4F4F4"/>
          </a:solidFill>
          <a:ln w="12700">
            <a:solidFill>
              <a:srgbClr val="F4F4F4"/>
            </a:solidFill>
            <a:prstDash val="solid"/>
          </a:ln>
        </p:spPr>
      </p:sp>
      <p:sp>
        <p:nvSpPr>
          <p:cNvPr id="7" name="Text 5"/>
          <p:cNvSpPr txBox="1"/>
          <p:nvPr/>
        </p:nvSpPr>
        <p:spPr>
          <a:xfrm>
            <a:off x="4114800" y="1536192"/>
            <a:ext cx="2926080" cy="1179576"/>
          </a:xfrm>
          <a:prstGeom prst="rect">
            <a:avLst/>
          </a:prstGeom>
          <a:noFill/>
          <a:ln/>
        </p:spPr>
        <p:txBody>
          <a:bodyPr wrap="square" lIns="0" tIns="0" rIns="0" bIns="0" rtlCol="0" anchor="ctr"/>
          <a:lstStyle/>
          <a:p>
            <a:pPr indent="0" marL="0">
              <a:buNone/>
            </a:pPr>
            <a:r>
              <a:rPr lang="en-US" sz="1150" b="1" dirty="0">
                <a:solidFill>
                  <a:srgbClr val="1C1C1C"/>
                </a:solidFill>
                <a:latin typeface="Calibri" pitchFamily="34" charset="0"/>
                <a:ea typeface="Calibri" pitchFamily="34" charset="-122"/>
                <a:cs typeface="Calibri" pitchFamily="34" charset="-120"/>
              </a:rPr>
              <a:t>Ancaman pendatang baru: </a:t>
            </a:r>
            <a:pPr indent="0" marL="0">
              <a:buNone/>
            </a:pPr>
            <a:r>
              <a:rPr lang="en-US" sz="1150" b="1" dirty="0">
                <a:solidFill>
                  <a:srgbClr val="C8102E"/>
                </a:solidFill>
                <a:latin typeface="Calibri" pitchFamily="34" charset="0"/>
                <a:ea typeface="Calibri" pitchFamily="34" charset="-122"/>
                <a:cs typeface="Calibri" pitchFamily="34" charset="-120"/>
              </a:rPr>
              <a:t>SEDANG</a:t>
            </a:r>
            <a:endParaRPr lang="en-US" sz="1150" dirty="0"/>
          </a:p>
          <a:p>
            <a:pPr indent="0" marL="0">
              <a:buNone/>
            </a:pPr>
            <a:r>
              <a:rPr lang="en-US" sz="950" dirty="0">
                <a:solidFill>
                  <a:srgbClr val="1C1C1C"/>
                </a:solidFill>
                <a:latin typeface="Calibri" pitchFamily="34" charset="0"/>
                <a:ea typeface="Calibri" pitchFamily="34" charset="-122"/>
                <a:cs typeface="Calibri" pitchFamily="34" charset="-120"/>
              </a:rPr>
              <a:t>Deregulasi dan pesawat sewaan menurunkan hambatan masuk (entry barriers). Penahan: slot bandara, merek, dan skala armada.</a:t>
            </a:r>
            <a:endParaRPr lang="en-US" sz="1150" dirty="0"/>
          </a:p>
        </p:txBody>
      </p:sp>
      <p:sp>
        <p:nvSpPr>
          <p:cNvPr id="8" name="Shape 6"/>
          <p:cNvSpPr/>
          <p:nvPr/>
        </p:nvSpPr>
        <p:spPr>
          <a:xfrm>
            <a:off x="3977640" y="4572000"/>
            <a:ext cx="3200400" cy="1325880"/>
          </a:xfrm>
          <a:prstGeom prst="roundRect">
            <a:avLst>
              <a:gd name="adj" fmla="val 5517"/>
            </a:avLst>
          </a:prstGeom>
          <a:solidFill>
            <a:srgbClr val="F4F4F4"/>
          </a:solidFill>
          <a:ln w="12700">
            <a:solidFill>
              <a:srgbClr val="F4F4F4"/>
            </a:solidFill>
            <a:prstDash val="solid"/>
          </a:ln>
        </p:spPr>
      </p:sp>
      <p:sp>
        <p:nvSpPr>
          <p:cNvPr id="9" name="Text 7"/>
          <p:cNvSpPr txBox="1"/>
          <p:nvPr/>
        </p:nvSpPr>
        <p:spPr>
          <a:xfrm>
            <a:off x="4114800" y="4645152"/>
            <a:ext cx="2926080" cy="1179576"/>
          </a:xfrm>
          <a:prstGeom prst="rect">
            <a:avLst/>
          </a:prstGeom>
          <a:noFill/>
          <a:ln/>
        </p:spPr>
        <p:txBody>
          <a:bodyPr wrap="square" lIns="0" tIns="0" rIns="0" bIns="0" rtlCol="0" anchor="ctr"/>
          <a:lstStyle/>
          <a:p>
            <a:pPr indent="0" marL="0">
              <a:buNone/>
            </a:pPr>
            <a:r>
              <a:rPr lang="en-US" sz="1150" b="1" dirty="0">
                <a:solidFill>
                  <a:srgbClr val="1C1C1C"/>
                </a:solidFill>
                <a:latin typeface="Calibri" pitchFamily="34" charset="0"/>
                <a:ea typeface="Calibri" pitchFamily="34" charset="-122"/>
                <a:cs typeface="Calibri" pitchFamily="34" charset="-120"/>
              </a:rPr>
              <a:t>Produk substitusi: </a:t>
            </a:r>
            <a:pPr indent="0" marL="0">
              <a:buNone/>
            </a:pPr>
            <a:r>
              <a:rPr lang="en-US" sz="1150" b="1" dirty="0">
                <a:solidFill>
                  <a:srgbClr val="C8102E"/>
                </a:solidFill>
                <a:latin typeface="Calibri" pitchFamily="34" charset="0"/>
                <a:ea typeface="Calibri" pitchFamily="34" charset="-122"/>
                <a:cs typeface="Calibri" pitchFamily="34" charset="-120"/>
              </a:rPr>
              <a:t>SEDANG di rute pendek, RENDAH di rute jauh</a:t>
            </a:r>
            <a:endParaRPr lang="en-US" sz="1150" dirty="0"/>
          </a:p>
          <a:p>
            <a:pPr indent="0" marL="0">
              <a:buNone/>
            </a:pPr>
            <a:r>
              <a:rPr lang="en-US" sz="950" dirty="0">
                <a:solidFill>
                  <a:srgbClr val="1C1C1C"/>
                </a:solidFill>
                <a:latin typeface="Calibri" pitchFamily="34" charset="0"/>
                <a:ea typeface="Calibri" pitchFamily="34" charset="-122"/>
                <a:cs typeface="Calibri" pitchFamily="34" charset="-120"/>
              </a:rPr>
              <a:t>Bus, kereta, dan feri bersaing di rute domestik. Untuk lintas laut dan antarbenua, tidak ada pengganti yang setara.</a:t>
            </a:r>
            <a:endParaRPr lang="en-US" sz="1150" dirty="0"/>
          </a:p>
        </p:txBody>
      </p:sp>
      <p:sp>
        <p:nvSpPr>
          <p:cNvPr id="10" name="Shape 8"/>
          <p:cNvSpPr/>
          <p:nvPr/>
        </p:nvSpPr>
        <p:spPr>
          <a:xfrm>
            <a:off x="548640" y="3017520"/>
            <a:ext cx="3200400" cy="1325880"/>
          </a:xfrm>
          <a:prstGeom prst="roundRect">
            <a:avLst>
              <a:gd name="adj" fmla="val 5517"/>
            </a:avLst>
          </a:prstGeom>
          <a:solidFill>
            <a:srgbClr val="F4F4F4"/>
          </a:solidFill>
          <a:ln w="12700">
            <a:solidFill>
              <a:srgbClr val="F4F4F4"/>
            </a:solidFill>
            <a:prstDash val="solid"/>
          </a:ln>
        </p:spPr>
      </p:sp>
      <p:sp>
        <p:nvSpPr>
          <p:cNvPr id="11" name="Text 9"/>
          <p:cNvSpPr txBox="1"/>
          <p:nvPr/>
        </p:nvSpPr>
        <p:spPr>
          <a:xfrm>
            <a:off x="685800" y="3090672"/>
            <a:ext cx="2926080" cy="1179576"/>
          </a:xfrm>
          <a:prstGeom prst="rect">
            <a:avLst/>
          </a:prstGeom>
          <a:noFill/>
          <a:ln/>
        </p:spPr>
        <p:txBody>
          <a:bodyPr wrap="square" lIns="0" tIns="0" rIns="0" bIns="0" rtlCol="0" anchor="ctr"/>
          <a:lstStyle/>
          <a:p>
            <a:pPr indent="0" marL="0">
              <a:buNone/>
            </a:pPr>
            <a:r>
              <a:rPr lang="en-US" sz="1150" b="1" dirty="0">
                <a:solidFill>
                  <a:srgbClr val="1C1C1C"/>
                </a:solidFill>
                <a:latin typeface="Calibri" pitchFamily="34" charset="0"/>
                <a:ea typeface="Calibri" pitchFamily="34" charset="-122"/>
                <a:cs typeface="Calibri" pitchFamily="34" charset="-120"/>
              </a:rPr>
              <a:t>Daya tawar pemasok: </a:t>
            </a:r>
            <a:pPr indent="0" marL="0">
              <a:buNone/>
            </a:pPr>
            <a:r>
              <a:rPr lang="en-US" sz="1150" b="1" dirty="0">
                <a:solidFill>
                  <a:srgbClr val="C8102E"/>
                </a:solidFill>
                <a:latin typeface="Calibri" pitchFamily="34" charset="0"/>
                <a:ea typeface="Calibri" pitchFamily="34" charset="-122"/>
                <a:cs typeface="Calibri" pitchFamily="34" charset="-120"/>
              </a:rPr>
              <a:t>TINGGI</a:t>
            </a:r>
            <a:endParaRPr lang="en-US" sz="1150" dirty="0"/>
          </a:p>
          <a:p>
            <a:pPr indent="0" marL="0">
              <a:buNone/>
            </a:pPr>
            <a:r>
              <a:rPr lang="en-US" sz="950" dirty="0">
                <a:solidFill>
                  <a:srgbClr val="1C1C1C"/>
                </a:solidFill>
                <a:latin typeface="Calibri" pitchFamily="34" charset="0"/>
                <a:ea typeface="Calibri" pitchFamily="34" charset="-122"/>
                <a:cs typeface="Calibri" pitchFamily="34" charset="-120"/>
              </a:rPr>
              <a:t>Airbus dan Boeing berduopoli; bahan bakar mengikuti harga minyak dunia; bandara dan navigasi menetapkan tarif tanpa ruang negosiasi.</a:t>
            </a:r>
            <a:endParaRPr lang="en-US" sz="1150" dirty="0"/>
          </a:p>
        </p:txBody>
      </p:sp>
      <p:sp>
        <p:nvSpPr>
          <p:cNvPr id="12" name="Shape 10"/>
          <p:cNvSpPr/>
          <p:nvPr/>
        </p:nvSpPr>
        <p:spPr>
          <a:xfrm>
            <a:off x="7406640" y="3017520"/>
            <a:ext cx="3200400" cy="1325880"/>
          </a:xfrm>
          <a:prstGeom prst="roundRect">
            <a:avLst>
              <a:gd name="adj" fmla="val 5517"/>
            </a:avLst>
          </a:prstGeom>
          <a:solidFill>
            <a:srgbClr val="F4F4F4"/>
          </a:solidFill>
          <a:ln w="12700">
            <a:solidFill>
              <a:srgbClr val="F4F4F4"/>
            </a:solidFill>
            <a:prstDash val="solid"/>
          </a:ln>
        </p:spPr>
      </p:sp>
      <p:sp>
        <p:nvSpPr>
          <p:cNvPr id="13" name="Text 11"/>
          <p:cNvSpPr txBox="1"/>
          <p:nvPr/>
        </p:nvSpPr>
        <p:spPr>
          <a:xfrm>
            <a:off x="7543800" y="3090672"/>
            <a:ext cx="2926080" cy="1179576"/>
          </a:xfrm>
          <a:prstGeom prst="rect">
            <a:avLst/>
          </a:prstGeom>
          <a:noFill/>
          <a:ln/>
        </p:spPr>
        <p:txBody>
          <a:bodyPr wrap="square" lIns="0" tIns="0" rIns="0" bIns="0" rtlCol="0" anchor="ctr"/>
          <a:lstStyle/>
          <a:p>
            <a:pPr indent="0" marL="0">
              <a:buNone/>
            </a:pPr>
            <a:r>
              <a:rPr lang="en-US" sz="1150" b="1" dirty="0">
                <a:solidFill>
                  <a:srgbClr val="1C1C1C"/>
                </a:solidFill>
                <a:latin typeface="Calibri" pitchFamily="34" charset="0"/>
                <a:ea typeface="Calibri" pitchFamily="34" charset="-122"/>
                <a:cs typeface="Calibri" pitchFamily="34" charset="-120"/>
              </a:rPr>
              <a:t>Daya tawar pembeli: </a:t>
            </a:r>
            <a:pPr indent="0" marL="0">
              <a:buNone/>
            </a:pPr>
            <a:r>
              <a:rPr lang="en-US" sz="1150" b="1" dirty="0">
                <a:solidFill>
                  <a:srgbClr val="C8102E"/>
                </a:solidFill>
                <a:latin typeface="Calibri" pitchFamily="34" charset="0"/>
                <a:ea typeface="Calibri" pitchFamily="34" charset="-122"/>
                <a:cs typeface="Calibri" pitchFamily="34" charset="-120"/>
              </a:rPr>
              <a:t>TINGGI</a:t>
            </a:r>
            <a:endParaRPr lang="en-US" sz="1150" dirty="0"/>
          </a:p>
          <a:p>
            <a:pPr indent="0" marL="0">
              <a:buNone/>
            </a:pPr>
            <a:r>
              <a:rPr lang="en-US" sz="950" dirty="0">
                <a:solidFill>
                  <a:srgbClr val="1C1C1C"/>
                </a:solidFill>
                <a:latin typeface="Calibri" pitchFamily="34" charset="0"/>
                <a:ea typeface="Calibri" pitchFamily="34" charset="-122"/>
                <a:cs typeface="Calibri" pitchFamily="34" charset="-120"/>
              </a:rPr>
              <a:t>Penumpang sangat peka harga (price sensitive), biaya berpindah nol, perbandingan harga di internet terbuka. Penahan: pembeli terfragmentasi.</a:t>
            </a:r>
            <a:endParaRPr lang="en-US" sz="1150" dirty="0"/>
          </a:p>
        </p:txBody>
      </p:sp>
      <p:sp>
        <p:nvSpPr>
          <p:cNvPr id="14" name="Shape 12"/>
          <p:cNvSpPr/>
          <p:nvPr/>
        </p:nvSpPr>
        <p:spPr>
          <a:xfrm>
            <a:off x="5212080" y="2788920"/>
            <a:ext cx="0" cy="228600"/>
          </a:xfrm>
          <a:prstGeom prst="line">
            <a:avLst/>
          </a:prstGeom>
          <a:noFill/>
          <a:ln w="15875">
            <a:solidFill>
              <a:srgbClr val="6E6E6E"/>
            </a:solidFill>
            <a:prstDash val="solid"/>
          </a:ln>
        </p:spPr>
      </p:sp>
      <p:sp>
        <p:nvSpPr>
          <p:cNvPr id="15" name="Shape 13"/>
          <p:cNvSpPr/>
          <p:nvPr/>
        </p:nvSpPr>
        <p:spPr>
          <a:xfrm>
            <a:off x="5212080" y="4343400"/>
            <a:ext cx="0" cy="228600"/>
          </a:xfrm>
          <a:prstGeom prst="line">
            <a:avLst/>
          </a:prstGeom>
          <a:noFill/>
          <a:ln w="15875">
            <a:solidFill>
              <a:srgbClr val="6E6E6E"/>
            </a:solidFill>
            <a:prstDash val="solid"/>
          </a:ln>
        </p:spPr>
      </p:sp>
      <p:sp>
        <p:nvSpPr>
          <p:cNvPr id="16" name="Shape 14"/>
          <p:cNvSpPr/>
          <p:nvPr/>
        </p:nvSpPr>
        <p:spPr>
          <a:xfrm>
            <a:off x="3749040" y="3675888"/>
            <a:ext cx="228600" cy="0"/>
          </a:xfrm>
          <a:prstGeom prst="line">
            <a:avLst/>
          </a:prstGeom>
          <a:noFill/>
          <a:ln w="15875">
            <a:solidFill>
              <a:srgbClr val="6E6E6E"/>
            </a:solidFill>
            <a:prstDash val="solid"/>
          </a:ln>
        </p:spPr>
      </p:sp>
      <p:sp>
        <p:nvSpPr>
          <p:cNvPr id="17" name="Shape 15"/>
          <p:cNvSpPr/>
          <p:nvPr/>
        </p:nvSpPr>
        <p:spPr>
          <a:xfrm>
            <a:off x="6446520" y="3675888"/>
            <a:ext cx="960120" cy="0"/>
          </a:xfrm>
          <a:prstGeom prst="line">
            <a:avLst/>
          </a:prstGeom>
          <a:noFill/>
          <a:ln w="15875">
            <a:solidFill>
              <a:srgbClr val="6E6E6E"/>
            </a:solidFill>
            <a:prstDash val="solid"/>
          </a:ln>
        </p:spPr>
      </p:sp>
      <p:sp>
        <p:nvSpPr>
          <p:cNvPr id="18" name="Shape 16"/>
          <p:cNvSpPr/>
          <p:nvPr/>
        </p:nvSpPr>
        <p:spPr>
          <a:xfrm>
            <a:off x="7406640" y="1463040"/>
            <a:ext cx="4206240" cy="1325880"/>
          </a:xfrm>
          <a:prstGeom prst="roundRect">
            <a:avLst>
              <a:gd name="adj" fmla="val 5517"/>
            </a:avLst>
          </a:prstGeom>
          <a:solidFill>
            <a:srgbClr val="FBE9EC"/>
          </a:solidFill>
          <a:ln w="12700">
            <a:solidFill>
              <a:srgbClr val="FBE9EC"/>
            </a:solidFill>
            <a:prstDash val="solid"/>
          </a:ln>
        </p:spPr>
      </p:sp>
      <p:sp>
        <p:nvSpPr>
          <p:cNvPr id="19" name="Text 17"/>
          <p:cNvSpPr txBox="1"/>
          <p:nvPr/>
        </p:nvSpPr>
        <p:spPr>
          <a:xfrm>
            <a:off x="7589520" y="1536192"/>
            <a:ext cx="3840480" cy="1179576"/>
          </a:xfrm>
          <a:prstGeom prst="rect">
            <a:avLst/>
          </a:prstGeom>
          <a:noFill/>
          <a:ln/>
        </p:spPr>
        <p:txBody>
          <a:bodyPr wrap="square" lIns="0" tIns="0" rIns="0" bIns="0" rtlCol="0" anchor="ctr"/>
          <a:lstStyle/>
          <a:p>
            <a:pPr indent="0" marL="0">
              <a:buNone/>
            </a:pPr>
            <a:r>
              <a:rPr lang="en-US" sz="1150" b="1" dirty="0">
                <a:solidFill>
                  <a:srgbClr val="C8102E"/>
                </a:solidFill>
                <a:latin typeface="Calibri" pitchFamily="34" charset="0"/>
                <a:ea typeface="Calibri" pitchFamily="34" charset="-122"/>
                <a:cs typeface="Calibri" pitchFamily="34" charset="-120"/>
              </a:rPr>
              <a:t>Logika Structure Conduct Performance</a:t>
            </a:r>
            <a:endParaRPr lang="en-US" sz="1150" dirty="0"/>
          </a:p>
          <a:p>
            <a:pPr indent="0" marL="0">
              <a:buNone/>
            </a:pPr>
            <a:r>
              <a:rPr lang="en-US" sz="1000" dirty="0">
                <a:solidFill>
                  <a:srgbClr val="1C1C1C"/>
                </a:solidFill>
                <a:latin typeface="Calibri" pitchFamily="34" charset="0"/>
                <a:ea typeface="Calibri" pitchFamily="34" charset="-122"/>
                <a:cs typeface="Calibri" pitchFamily="34" charset="-120"/>
              </a:rPr>
              <a:t>Struktur industri (pemasok dan pembeli kuat, rivalitas tinggi) memaksa perilaku (conduct) berupa disiplin biaya. Kinerja (performance) unggul hanya lahir dari posisi biaya terendah, bukan dari diferensiasi.</a:t>
            </a:r>
            <a:endParaRPr lang="en-US" sz="1150" dirty="0"/>
          </a:p>
        </p:txBody>
      </p:sp>
      <p:sp>
        <p:nvSpPr>
          <p:cNvPr id="20" name="Shape 18"/>
          <p:cNvSpPr/>
          <p:nvPr/>
        </p:nvSpPr>
        <p:spPr>
          <a:xfrm>
            <a:off x="7406640" y="4572000"/>
            <a:ext cx="4206240" cy="1325880"/>
          </a:xfrm>
          <a:prstGeom prst="roundRect">
            <a:avLst>
              <a:gd name="adj" fmla="val 5517"/>
            </a:avLst>
          </a:prstGeom>
          <a:solidFill>
            <a:srgbClr val="FBE9EC"/>
          </a:solidFill>
          <a:ln w="12700">
            <a:solidFill>
              <a:srgbClr val="FBE9EC"/>
            </a:solidFill>
            <a:prstDash val="solid"/>
          </a:ln>
        </p:spPr>
      </p:sp>
      <p:sp>
        <p:nvSpPr>
          <p:cNvPr id="21" name="Text 19"/>
          <p:cNvSpPr txBox="1"/>
          <p:nvPr/>
        </p:nvSpPr>
        <p:spPr>
          <a:xfrm>
            <a:off x="7589520" y="4645152"/>
            <a:ext cx="3840480" cy="1179576"/>
          </a:xfrm>
          <a:prstGeom prst="rect">
            <a:avLst/>
          </a:prstGeom>
          <a:noFill/>
          <a:ln/>
        </p:spPr>
        <p:txBody>
          <a:bodyPr wrap="square" lIns="0" tIns="0" rIns="0" bIns="0" rtlCol="0" anchor="ctr"/>
          <a:lstStyle/>
          <a:p>
            <a:pPr indent="0" marL="0">
              <a:buNone/>
            </a:pPr>
            <a:r>
              <a:rPr lang="en-US" sz="1150" b="1" dirty="0">
                <a:solidFill>
                  <a:srgbClr val="C8102E"/>
                </a:solidFill>
                <a:latin typeface="Calibri" pitchFamily="34" charset="0"/>
                <a:ea typeface="Calibri" pitchFamily="34" charset="-122"/>
                <a:cs typeface="Calibri" pitchFamily="34" charset="-120"/>
              </a:rPr>
              <a:t>Simpulan daya tarik industri</a:t>
            </a:r>
            <a:endParaRPr lang="en-US" sz="1150" dirty="0"/>
          </a:p>
          <a:p>
            <a:pPr indent="0" marL="0">
              <a:buNone/>
            </a:pPr>
            <a:r>
              <a:rPr lang="en-US" sz="1000" dirty="0">
                <a:solidFill>
                  <a:srgbClr val="1C1C1C"/>
                </a:solidFill>
                <a:latin typeface="Calibri" pitchFamily="34" charset="0"/>
                <a:ea typeface="Calibri" pitchFamily="34" charset="-122"/>
                <a:cs typeface="Calibri" pitchFamily="34" charset="-120"/>
              </a:rPr>
              <a:t>Secara struktural industri kurang atraktif. Tahun 2008 hampir seluruh maskapai dunia merugi. Laba bukan berasal dari industri, melainkan dari posisi relatif perusahaan di dalamnya.</a:t>
            </a:r>
            <a:endParaRPr lang="en-US" sz="1150" dirty="0"/>
          </a:p>
        </p:txBody>
      </p:sp>
      <p:sp>
        <p:nvSpPr>
          <p:cNvPr id="22" name="Shape 20"/>
          <p:cNvSpPr/>
          <p:nvPr/>
        </p:nvSpPr>
        <p:spPr>
          <a:xfrm>
            <a:off x="548640" y="1463040"/>
            <a:ext cx="3200400" cy="1325880"/>
          </a:xfrm>
          <a:prstGeom prst="roundRect">
            <a:avLst>
              <a:gd name="adj" fmla="val 5517"/>
            </a:avLst>
          </a:prstGeom>
          <a:solidFill>
            <a:srgbClr val="FBE9EC"/>
          </a:solidFill>
          <a:ln w="12700">
            <a:solidFill>
              <a:srgbClr val="FBE9EC"/>
            </a:solidFill>
            <a:prstDash val="solid"/>
          </a:ln>
        </p:spPr>
      </p:sp>
      <p:sp>
        <p:nvSpPr>
          <p:cNvPr id="23" name="Text 21"/>
          <p:cNvSpPr txBox="1"/>
          <p:nvPr/>
        </p:nvSpPr>
        <p:spPr>
          <a:xfrm>
            <a:off x="731520" y="1536192"/>
            <a:ext cx="2834640" cy="1179576"/>
          </a:xfrm>
          <a:prstGeom prst="rect">
            <a:avLst/>
          </a:prstGeom>
          <a:noFill/>
          <a:ln/>
        </p:spPr>
        <p:txBody>
          <a:bodyPr wrap="square" lIns="0" tIns="0" rIns="0" bIns="0" rtlCol="0" anchor="ctr"/>
          <a:lstStyle/>
          <a:p>
            <a:pPr indent="0" marL="0">
              <a:buNone/>
            </a:pPr>
            <a:r>
              <a:rPr lang="en-US" sz="1150" b="1" dirty="0">
                <a:solidFill>
                  <a:srgbClr val="C8102E"/>
                </a:solidFill>
                <a:latin typeface="Calibri" pitchFamily="34" charset="0"/>
                <a:ea typeface="Calibri" pitchFamily="34" charset="-122"/>
                <a:cs typeface="Calibri" pitchFamily="34" charset="-120"/>
              </a:rPr>
              <a:t>Implikasi untuk rute jarak jauh</a:t>
            </a:r>
            <a:endParaRPr lang="en-US" sz="1150" dirty="0"/>
          </a:p>
          <a:p>
            <a:pPr indent="0" marL="0">
              <a:buNone/>
            </a:pPr>
            <a:r>
              <a:rPr lang="en-US" sz="1000" dirty="0">
                <a:solidFill>
                  <a:srgbClr val="1C1C1C"/>
                </a:solidFill>
                <a:latin typeface="Calibri" pitchFamily="34" charset="0"/>
                <a:ea typeface="Calibri" pitchFamily="34" charset="-122"/>
                <a:cs typeface="Calibri" pitchFamily="34" charset="-120"/>
              </a:rPr>
              <a:t>Pembeli di rute KL London tetap peka harga, tetapi pesaingnya (Emirates, BA, MAS) mampu mensubsidi kelas ekonomi dari kelas premium.</a:t>
            </a:r>
            <a:endParaRPr lang="en-US" sz="1150" dirty="0"/>
          </a:p>
        </p:txBody>
      </p:sp>
      <p:sp>
        <p:nvSpPr>
          <p:cNvPr id="24" name="Shape 22"/>
          <p:cNvSpPr/>
          <p:nvPr/>
        </p:nvSpPr>
        <p:spPr>
          <a:xfrm>
            <a:off x="548640" y="4572000"/>
            <a:ext cx="3200400" cy="1325880"/>
          </a:xfrm>
          <a:prstGeom prst="roundRect">
            <a:avLst>
              <a:gd name="adj" fmla="val 5517"/>
            </a:avLst>
          </a:prstGeom>
          <a:solidFill>
            <a:srgbClr val="FBE9EC"/>
          </a:solidFill>
          <a:ln w="12700">
            <a:solidFill>
              <a:srgbClr val="FBE9EC"/>
            </a:solidFill>
            <a:prstDash val="solid"/>
          </a:ln>
        </p:spPr>
      </p:sp>
      <p:sp>
        <p:nvSpPr>
          <p:cNvPr id="25" name="Text 23"/>
          <p:cNvSpPr txBox="1"/>
          <p:nvPr/>
        </p:nvSpPr>
        <p:spPr>
          <a:xfrm>
            <a:off x="731520" y="4645152"/>
            <a:ext cx="2834640" cy="1179576"/>
          </a:xfrm>
          <a:prstGeom prst="rect">
            <a:avLst/>
          </a:prstGeom>
          <a:noFill/>
          <a:ln/>
        </p:spPr>
        <p:txBody>
          <a:bodyPr wrap="square" lIns="0" tIns="0" rIns="0" bIns="0" rtlCol="0" anchor="ctr"/>
          <a:lstStyle/>
          <a:p>
            <a:pPr indent="0" marL="0">
              <a:buNone/>
            </a:pPr>
            <a:r>
              <a:rPr lang="en-US" sz="1150" b="1" dirty="0">
                <a:solidFill>
                  <a:srgbClr val="C8102E"/>
                </a:solidFill>
                <a:latin typeface="Calibri" pitchFamily="34" charset="0"/>
                <a:ea typeface="Calibri" pitchFamily="34" charset="-122"/>
                <a:cs typeface="Calibri" pitchFamily="34" charset="-120"/>
              </a:rPr>
              <a:t>Kekuatan paling menentukan</a:t>
            </a:r>
            <a:endParaRPr lang="en-US" sz="1150" dirty="0"/>
          </a:p>
          <a:p>
            <a:pPr indent="0" marL="0">
              <a:buNone/>
            </a:pPr>
            <a:r>
              <a:rPr lang="en-US" sz="1000" dirty="0">
                <a:solidFill>
                  <a:srgbClr val="1C1C1C"/>
                </a:solidFill>
                <a:latin typeface="Calibri" pitchFamily="34" charset="0"/>
                <a:ea typeface="Calibri" pitchFamily="34" charset="-122"/>
                <a:cs typeface="Calibri" pitchFamily="34" charset="-120"/>
              </a:rPr>
              <a:t>Daya tawar pemasok (bahan bakar dan pesawat) dan pembeli. Keduanya tidak dapat dikendalikan; yang bisa dikendalikan hanya struktur biaya sendiri.</a:t>
            </a:r>
            <a:endParaRPr lang="en-US" sz="1150" dirty="0"/>
          </a:p>
        </p:txBody>
      </p:sp>
      <p:sp>
        <p:nvSpPr>
          <p:cNvPr id="26" name="Text 24"/>
          <p:cNvSpPr txBox="1"/>
          <p:nvPr/>
        </p:nvSpPr>
        <p:spPr>
          <a:xfrm>
            <a:off x="548640" y="6016752"/>
            <a:ext cx="11064240" cy="365760"/>
          </a:xfrm>
          <a:prstGeom prst="rect">
            <a:avLst/>
          </a:prstGeom>
          <a:noFill/>
          <a:ln/>
        </p:spPr>
        <p:txBody>
          <a:bodyPr wrap="square" lIns="0" tIns="0" rIns="0" bIns="0" rtlCol="0" anchor="ctr"/>
          <a:lstStyle/>
          <a:p>
            <a:pPr indent="0" marL="0">
              <a:buNone/>
            </a:pPr>
            <a:r>
              <a:rPr lang="en-US" sz="1050" b="1" dirty="0">
                <a:solidFill>
                  <a:srgbClr val="C8102E"/>
                </a:solidFill>
                <a:latin typeface="Calibri" pitchFamily="34" charset="0"/>
                <a:ea typeface="Calibri" pitchFamily="34" charset="-122"/>
                <a:cs typeface="Calibri" pitchFamily="34" charset="-120"/>
              </a:rPr>
              <a:t>Kaitan.  </a:t>
            </a:r>
            <a:pPr indent="0" marL="0">
              <a:buNone/>
            </a:pPr>
            <a:r>
              <a:rPr lang="en-US" sz="1050" i="1" dirty="0">
                <a:solidFill>
                  <a:srgbClr val="6E6E6E"/>
                </a:solidFill>
                <a:latin typeface="Calibri" pitchFamily="34" charset="0"/>
                <a:ea typeface="Calibri" pitchFamily="34" charset="-122"/>
                <a:cs typeface="Calibri" pitchFamily="34" charset="-120"/>
              </a:rPr>
              <a:t>Struktur industri menjelaskan mengapa laba langka. Slide berikutnya melihat apa yang sedang mengubah struktur itu dan faktor apa yang menentukan siapa yang menang.</a:t>
            </a:r>
            <a:endParaRPr lang="en-US" sz="1050" dirty="0"/>
          </a:p>
        </p:txBody>
      </p:sp>
      <p:sp>
        <p:nvSpPr>
          <p:cNvPr id="27" name="Text 2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28" name="Text 26"/>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74320"/>
          </a:xfrm>
          <a:prstGeom prst="rect">
            <a:avLst/>
          </a:prstGeom>
          <a:noFill/>
          <a:ln/>
        </p:spPr>
        <p:txBody>
          <a:bodyPr wrap="square" lIns="0" tIns="0" rIns="0" bIns="0" rtlCol="0" anchor="ctr"/>
          <a:lstStyle/>
          <a:p>
            <a:pPr indent="0" marL="0">
              <a:buNone/>
            </a:pPr>
            <a:r>
              <a:rPr lang="en-US" sz="1000" spc="150" kern="0" dirty="0">
                <a:solidFill>
                  <a:srgbClr val="B5B5B5"/>
                </a:solidFill>
                <a:latin typeface="Calibri" pitchFamily="34" charset="0"/>
                <a:ea typeface="Calibri" pitchFamily="34" charset="-122"/>
                <a:cs typeface="Calibri" pitchFamily="34" charset="-120"/>
              </a:rPr>
              <a:t>1  PROBLEM</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b="1" spc="150" kern="0" dirty="0">
                <a:solidFill>
                  <a:srgbClr val="C8102E"/>
                </a:solidFill>
                <a:latin typeface="Calibri" pitchFamily="34" charset="0"/>
                <a:ea typeface="Calibri" pitchFamily="34" charset="-122"/>
                <a:cs typeface="Calibri" pitchFamily="34" charset="-120"/>
              </a:rPr>
              <a:t>2  EXTERNAL ENVIRONMENT</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3  COST POSITION</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4  CHOICE</a:t>
            </a:r>
            <a:endParaRPr lang="en-US" sz="10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indent="0" marL="0">
              <a:buNone/>
            </a:pPr>
            <a:r>
              <a:rPr lang="en-US" sz="3000" b="1" dirty="0">
                <a:solidFill>
                  <a:srgbClr val="1C1C1C"/>
                </a:solidFill>
                <a:latin typeface="Cambria" pitchFamily="34" charset="0"/>
                <a:ea typeface="Cambria" pitchFamily="34" charset="-122"/>
                <a:cs typeface="Cambria" pitchFamily="34" charset="-120"/>
              </a:rPr>
              <a:t>Driving forces and key success factors</a:t>
            </a:r>
            <a:endParaRPr lang="en-US" sz="3000" dirty="0"/>
          </a:p>
        </p:txBody>
      </p:sp>
      <p:sp>
        <p:nvSpPr>
          <p:cNvPr id="4" name="Text 2"/>
          <p:cNvSpPr txBox="1"/>
          <p:nvPr/>
        </p:nvSpPr>
        <p:spPr>
          <a:xfrm>
            <a:off x="548640" y="1417320"/>
            <a:ext cx="5486400" cy="365760"/>
          </a:xfrm>
          <a:prstGeom prst="rect">
            <a:avLst/>
          </a:prstGeom>
          <a:noFill/>
          <a:ln/>
        </p:spPr>
        <p:txBody>
          <a:bodyPr wrap="square" lIns="0" tIns="0" rIns="0" bIns="0" rtlCol="0" anchor="ctr"/>
          <a:lstStyle/>
          <a:p>
            <a:pPr indent="0" marL="0">
              <a:buNone/>
            </a:pPr>
            <a:r>
              <a:rPr lang="en-US" sz="1400" b="1" dirty="0">
                <a:solidFill>
                  <a:srgbClr val="1C1C1C"/>
                </a:solidFill>
                <a:latin typeface="Calibri" pitchFamily="34" charset="0"/>
                <a:ea typeface="Calibri" pitchFamily="34" charset="-122"/>
                <a:cs typeface="Calibri" pitchFamily="34" charset="-120"/>
              </a:rPr>
              <a:t>Kekuatan pendorong perubahan (driving forces)</a:t>
            </a:r>
            <a:endParaRPr lang="en-US" sz="1400" dirty="0"/>
          </a:p>
        </p:txBody>
      </p:sp>
      <p:sp>
        <p:nvSpPr>
          <p:cNvPr id="5" name="Shape 3"/>
          <p:cNvSpPr/>
          <p:nvPr/>
        </p:nvSpPr>
        <p:spPr>
          <a:xfrm>
            <a:off x="548640" y="1874520"/>
            <a:ext cx="365760" cy="365760"/>
          </a:xfrm>
          <a:prstGeom prst="ellipse">
            <a:avLst/>
          </a:prstGeom>
          <a:solidFill>
            <a:srgbClr val="C8102E"/>
          </a:solidFill>
          <a:ln w="12700">
            <a:solidFill>
              <a:srgbClr val="C8102E"/>
            </a:solidFill>
            <a:prstDash val="solid"/>
          </a:ln>
        </p:spPr>
      </p:sp>
      <p:sp>
        <p:nvSpPr>
          <p:cNvPr id="6" name="Text 4"/>
          <p:cNvSpPr txBox="1"/>
          <p:nvPr/>
        </p:nvSpPr>
        <p:spPr>
          <a:xfrm>
            <a:off x="548640" y="1874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051560" y="1828800"/>
            <a:ext cx="4754880" cy="731520"/>
          </a:xfrm>
          <a:prstGeom prst="rect">
            <a:avLst/>
          </a:prstGeom>
          <a:noFill/>
          <a:ln/>
        </p:spPr>
        <p:txBody>
          <a:bodyPr wrap="square" lIns="0" tIns="0" rIns="0" bIns="0" rtlCol="0" anchor="t"/>
          <a:lstStyle/>
          <a:p>
            <a:pPr indent="0" marL="0">
              <a:buNone/>
            </a:pPr>
            <a:r>
              <a:rPr lang="en-US" sz="1200" b="1" dirty="0">
                <a:solidFill>
                  <a:srgbClr val="1C1C1C"/>
                </a:solidFill>
                <a:latin typeface="Calibri" pitchFamily="34" charset="0"/>
                <a:ea typeface="Calibri" pitchFamily="34" charset="-122"/>
                <a:cs typeface="Calibri" pitchFamily="34" charset="-120"/>
              </a:rPr>
              <a:t>Deregulasi penerbangan regional</a:t>
            </a:r>
            <a:endParaRPr lang="en-US" sz="1200" dirty="0"/>
          </a:p>
          <a:p>
            <a:pPr indent="0" marL="0">
              <a:buNone/>
            </a:pPr>
            <a:r>
              <a:rPr lang="en-US" sz="1050" dirty="0">
                <a:solidFill>
                  <a:srgbClr val="6E6E6E"/>
                </a:solidFill>
                <a:latin typeface="Calibri" pitchFamily="34" charset="0"/>
                <a:ea typeface="Calibri" pitchFamily="34" charset="-122"/>
                <a:cs typeface="Calibri" pitchFamily="34" charset="-120"/>
              </a:rPr>
              <a:t>Membuka rute lintas negara dan memungkinkan hub baru di Bangkok dan Jakarta melalui usaha patungan.</a:t>
            </a:r>
            <a:endParaRPr lang="en-US" sz="1200" dirty="0"/>
          </a:p>
        </p:txBody>
      </p:sp>
      <p:sp>
        <p:nvSpPr>
          <p:cNvPr id="8" name="Shape 6"/>
          <p:cNvSpPr/>
          <p:nvPr/>
        </p:nvSpPr>
        <p:spPr>
          <a:xfrm>
            <a:off x="548640" y="2660904"/>
            <a:ext cx="365760" cy="365760"/>
          </a:xfrm>
          <a:prstGeom prst="ellipse">
            <a:avLst/>
          </a:prstGeom>
          <a:solidFill>
            <a:srgbClr val="C8102E"/>
          </a:solidFill>
          <a:ln w="12700">
            <a:solidFill>
              <a:srgbClr val="C8102E"/>
            </a:solidFill>
            <a:prstDash val="solid"/>
          </a:ln>
        </p:spPr>
      </p:sp>
      <p:sp>
        <p:nvSpPr>
          <p:cNvPr id="9" name="Text 7"/>
          <p:cNvSpPr txBox="1"/>
          <p:nvPr/>
        </p:nvSpPr>
        <p:spPr>
          <a:xfrm>
            <a:off x="548640" y="266090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051560" y="2615184"/>
            <a:ext cx="4754880" cy="731520"/>
          </a:xfrm>
          <a:prstGeom prst="rect">
            <a:avLst/>
          </a:prstGeom>
          <a:noFill/>
          <a:ln/>
        </p:spPr>
        <p:txBody>
          <a:bodyPr wrap="square" lIns="0" tIns="0" rIns="0" bIns="0" rtlCol="0" anchor="t"/>
          <a:lstStyle/>
          <a:p>
            <a:pPr indent="0" marL="0">
              <a:buNone/>
            </a:pPr>
            <a:r>
              <a:rPr lang="en-US" sz="1200" b="1" dirty="0">
                <a:solidFill>
                  <a:srgbClr val="1C1C1C"/>
                </a:solidFill>
                <a:latin typeface="Calibri" pitchFamily="34" charset="0"/>
                <a:ea typeface="Calibri" pitchFamily="34" charset="-122"/>
                <a:cs typeface="Calibri" pitchFamily="34" charset="-120"/>
              </a:rPr>
              <a:t>Internet dan distribusi langsung</a:t>
            </a:r>
            <a:endParaRPr lang="en-US" sz="1200" dirty="0"/>
          </a:p>
          <a:p>
            <a:pPr indent="0" marL="0">
              <a:buNone/>
            </a:pPr>
            <a:r>
              <a:rPr lang="en-US" sz="1050" dirty="0">
                <a:solidFill>
                  <a:srgbClr val="6E6E6E"/>
                </a:solidFill>
                <a:latin typeface="Calibri" pitchFamily="34" charset="0"/>
                <a:ea typeface="Calibri" pitchFamily="34" charset="-122"/>
                <a:cs typeface="Calibri" pitchFamily="34" charset="-120"/>
              </a:rPr>
              <a:t>Penjualan lewat situs web dan call center menghapus komisi agen; ponsel menjadi kanal pemesanan utama di Asia.</a:t>
            </a:r>
            <a:endParaRPr lang="en-US" sz="1200" dirty="0"/>
          </a:p>
        </p:txBody>
      </p:sp>
      <p:sp>
        <p:nvSpPr>
          <p:cNvPr id="11" name="Shape 9"/>
          <p:cNvSpPr/>
          <p:nvPr/>
        </p:nvSpPr>
        <p:spPr>
          <a:xfrm>
            <a:off x="548640" y="3447288"/>
            <a:ext cx="365760" cy="365760"/>
          </a:xfrm>
          <a:prstGeom prst="ellipse">
            <a:avLst/>
          </a:prstGeom>
          <a:solidFill>
            <a:srgbClr val="C8102E"/>
          </a:solidFill>
          <a:ln w="12700">
            <a:solidFill>
              <a:srgbClr val="C8102E"/>
            </a:solidFill>
            <a:prstDash val="solid"/>
          </a:ln>
        </p:spPr>
      </p:sp>
      <p:sp>
        <p:nvSpPr>
          <p:cNvPr id="12" name="Text 10"/>
          <p:cNvSpPr txBox="1"/>
          <p:nvPr/>
        </p:nvSpPr>
        <p:spPr>
          <a:xfrm>
            <a:off x="548640" y="344728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051560" y="3401568"/>
            <a:ext cx="4754880" cy="731520"/>
          </a:xfrm>
          <a:prstGeom prst="rect">
            <a:avLst/>
          </a:prstGeom>
          <a:noFill/>
          <a:ln/>
        </p:spPr>
        <p:txBody>
          <a:bodyPr wrap="square" lIns="0" tIns="0" rIns="0" bIns="0" rtlCol="0" anchor="t"/>
          <a:lstStyle/>
          <a:p>
            <a:pPr indent="0" marL="0">
              <a:buNone/>
            </a:pPr>
            <a:r>
              <a:rPr lang="en-US" sz="1200" b="1" dirty="0">
                <a:solidFill>
                  <a:srgbClr val="1C1C1C"/>
                </a:solidFill>
                <a:latin typeface="Calibri" pitchFamily="34" charset="0"/>
                <a:ea typeface="Calibri" pitchFamily="34" charset="-122"/>
                <a:cs typeface="Calibri" pitchFamily="34" charset="-120"/>
              </a:rPr>
              <a:t>Volatilitas harga bahan bakar</a:t>
            </a:r>
            <a:endParaRPr lang="en-US" sz="1200" dirty="0"/>
          </a:p>
          <a:p>
            <a:pPr indent="0" marL="0">
              <a:buNone/>
            </a:pPr>
            <a:r>
              <a:rPr lang="en-US" sz="1050" dirty="0">
                <a:solidFill>
                  <a:srgbClr val="6E6E6E"/>
                </a:solidFill>
                <a:latin typeface="Calibri" pitchFamily="34" charset="0"/>
                <a:ea typeface="Calibri" pitchFamily="34" charset="-122"/>
                <a:cs typeface="Calibri" pitchFamily="34" charset="-120"/>
              </a:rPr>
              <a:t>Kenaikan lalu penurunan tajam pada 2008 merugikan maskapai yang salah posisi lindung nilai (hedging), termasuk AirAsia.</a:t>
            </a:r>
            <a:endParaRPr lang="en-US" sz="1200" dirty="0"/>
          </a:p>
        </p:txBody>
      </p:sp>
      <p:sp>
        <p:nvSpPr>
          <p:cNvPr id="14" name="Shape 12"/>
          <p:cNvSpPr/>
          <p:nvPr/>
        </p:nvSpPr>
        <p:spPr>
          <a:xfrm>
            <a:off x="548640" y="4233672"/>
            <a:ext cx="365760" cy="365760"/>
          </a:xfrm>
          <a:prstGeom prst="ellipse">
            <a:avLst/>
          </a:prstGeom>
          <a:solidFill>
            <a:srgbClr val="C8102E"/>
          </a:solidFill>
          <a:ln w="12700">
            <a:solidFill>
              <a:srgbClr val="C8102E"/>
            </a:solidFill>
            <a:prstDash val="solid"/>
          </a:ln>
        </p:spPr>
      </p:sp>
      <p:sp>
        <p:nvSpPr>
          <p:cNvPr id="15" name="Text 13"/>
          <p:cNvSpPr txBox="1"/>
          <p:nvPr/>
        </p:nvSpPr>
        <p:spPr>
          <a:xfrm>
            <a:off x="548640" y="42336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051560" y="4187952"/>
            <a:ext cx="4754880" cy="731520"/>
          </a:xfrm>
          <a:prstGeom prst="rect">
            <a:avLst/>
          </a:prstGeom>
          <a:noFill/>
          <a:ln/>
        </p:spPr>
        <p:txBody>
          <a:bodyPr wrap="square" lIns="0" tIns="0" rIns="0" bIns="0" rtlCol="0" anchor="t"/>
          <a:lstStyle/>
          <a:p>
            <a:pPr indent="0" marL="0">
              <a:buNone/>
            </a:pPr>
            <a:r>
              <a:rPr lang="en-US" sz="1200" b="1" dirty="0">
                <a:solidFill>
                  <a:srgbClr val="1C1C1C"/>
                </a:solidFill>
                <a:latin typeface="Calibri" pitchFamily="34" charset="0"/>
                <a:ea typeface="Calibri" pitchFamily="34" charset="-122"/>
                <a:cs typeface="Calibri" pitchFamily="34" charset="-120"/>
              </a:rPr>
              <a:t>Pertumbuhan kelas menengah Asia</a:t>
            </a:r>
            <a:endParaRPr lang="en-US" sz="1200" dirty="0"/>
          </a:p>
          <a:p>
            <a:pPr indent="0" marL="0">
              <a:buNone/>
            </a:pPr>
            <a:r>
              <a:rPr lang="en-US" sz="1050" dirty="0">
                <a:solidFill>
                  <a:srgbClr val="6E6E6E"/>
                </a:solidFill>
                <a:latin typeface="Calibri" pitchFamily="34" charset="0"/>
                <a:ea typeface="Calibri" pitchFamily="34" charset="-122"/>
                <a:cs typeface="Calibri" pitchFamily="34" charset="-120"/>
              </a:rPr>
              <a:t>Permintaan baru dari penumpang yang sebelumnya tidak terbang; pasar membesar, bukan sekadar berpindah.</a:t>
            </a:r>
            <a:endParaRPr lang="en-US" sz="1200" dirty="0"/>
          </a:p>
        </p:txBody>
      </p:sp>
      <p:sp>
        <p:nvSpPr>
          <p:cNvPr id="17" name="Shape 15"/>
          <p:cNvSpPr/>
          <p:nvPr/>
        </p:nvSpPr>
        <p:spPr>
          <a:xfrm>
            <a:off x="548640" y="5020056"/>
            <a:ext cx="365760" cy="365760"/>
          </a:xfrm>
          <a:prstGeom prst="ellipse">
            <a:avLst/>
          </a:prstGeom>
          <a:solidFill>
            <a:srgbClr val="C8102E"/>
          </a:solidFill>
          <a:ln w="12700">
            <a:solidFill>
              <a:srgbClr val="C8102E"/>
            </a:solidFill>
            <a:prstDash val="solid"/>
          </a:ln>
        </p:spPr>
      </p:sp>
      <p:sp>
        <p:nvSpPr>
          <p:cNvPr id="18" name="Text 16"/>
          <p:cNvSpPr txBox="1"/>
          <p:nvPr/>
        </p:nvSpPr>
        <p:spPr>
          <a:xfrm>
            <a:off x="548640" y="5020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051560" y="4974336"/>
            <a:ext cx="4754880" cy="731520"/>
          </a:xfrm>
          <a:prstGeom prst="rect">
            <a:avLst/>
          </a:prstGeom>
          <a:noFill/>
          <a:ln/>
        </p:spPr>
        <p:txBody>
          <a:bodyPr wrap="square" lIns="0" tIns="0" rIns="0" bIns="0" rtlCol="0" anchor="t"/>
          <a:lstStyle/>
          <a:p>
            <a:pPr indent="0" marL="0">
              <a:buNone/>
            </a:pPr>
            <a:r>
              <a:rPr lang="en-US" sz="1200" b="1" dirty="0">
                <a:solidFill>
                  <a:srgbClr val="1C1C1C"/>
                </a:solidFill>
                <a:latin typeface="Calibri" pitchFamily="34" charset="0"/>
                <a:ea typeface="Calibri" pitchFamily="34" charset="-122"/>
                <a:cs typeface="Calibri" pitchFamily="34" charset="-120"/>
              </a:rPr>
              <a:t>Masuknya LCC ke jarak jauh</a:t>
            </a:r>
            <a:endParaRPr lang="en-US" sz="1200" dirty="0"/>
          </a:p>
          <a:p>
            <a:pPr indent="0" marL="0">
              <a:buNone/>
            </a:pPr>
            <a:r>
              <a:rPr lang="en-US" sz="1050" dirty="0">
                <a:solidFill>
                  <a:srgbClr val="6E6E6E"/>
                </a:solidFill>
                <a:latin typeface="Calibri" pitchFamily="34" charset="0"/>
                <a:ea typeface="Calibri" pitchFamily="34" charset="-122"/>
                <a:cs typeface="Calibri" pitchFamily="34" charset="-120"/>
              </a:rPr>
              <a:t>AirAsia X, Jetstar, dan pemain lain menguji batas model; sangat sedikit yang berhasil sejauh ini.</a:t>
            </a:r>
            <a:endParaRPr lang="en-US" sz="1200" dirty="0"/>
          </a:p>
        </p:txBody>
      </p:sp>
      <p:sp>
        <p:nvSpPr>
          <p:cNvPr id="20" name="Shape 18"/>
          <p:cNvSpPr/>
          <p:nvPr/>
        </p:nvSpPr>
        <p:spPr>
          <a:xfrm>
            <a:off x="6309360" y="1417320"/>
            <a:ext cx="5303520" cy="4480560"/>
          </a:xfrm>
          <a:prstGeom prst="roundRect">
            <a:avLst>
              <a:gd name="adj" fmla="val 1633"/>
            </a:avLst>
          </a:prstGeom>
          <a:solidFill>
            <a:srgbClr val="F4F4F4"/>
          </a:solidFill>
          <a:ln w="12700">
            <a:solidFill>
              <a:srgbClr val="F4F4F4"/>
            </a:solidFill>
            <a:prstDash val="solid"/>
          </a:ln>
        </p:spPr>
      </p:sp>
      <p:sp>
        <p:nvSpPr>
          <p:cNvPr id="21" name="Text 19"/>
          <p:cNvSpPr txBox="1"/>
          <p:nvPr/>
        </p:nvSpPr>
        <p:spPr>
          <a:xfrm>
            <a:off x="6537960" y="1527048"/>
            <a:ext cx="4846320" cy="365760"/>
          </a:xfrm>
          <a:prstGeom prst="rect">
            <a:avLst/>
          </a:prstGeom>
          <a:noFill/>
          <a:ln/>
        </p:spPr>
        <p:txBody>
          <a:bodyPr wrap="square" lIns="0" tIns="0" rIns="0" bIns="0" rtlCol="0" anchor="ctr"/>
          <a:lstStyle/>
          <a:p>
            <a:pPr indent="0" marL="0">
              <a:buNone/>
            </a:pPr>
            <a:r>
              <a:rPr lang="en-US" sz="1300" b="1" dirty="0">
                <a:solidFill>
                  <a:srgbClr val="C8102E"/>
                </a:solidFill>
                <a:latin typeface="Calibri" pitchFamily="34" charset="0"/>
                <a:ea typeface="Calibri" pitchFamily="34" charset="-122"/>
                <a:cs typeface="Calibri" pitchFamily="34" charset="-120"/>
              </a:rPr>
              <a:t>Faktor kunci keberhasilan (key success factors) industri LCC</a:t>
            </a:r>
            <a:endParaRPr lang="en-US" sz="1300" dirty="0"/>
          </a:p>
        </p:txBody>
      </p:sp>
      <p:sp>
        <p:nvSpPr>
          <p:cNvPr id="22" name="Text 20"/>
          <p:cNvSpPr txBox="1"/>
          <p:nvPr/>
        </p:nvSpPr>
        <p:spPr>
          <a:xfrm>
            <a:off x="6537960" y="2057400"/>
            <a:ext cx="2331720" cy="1143000"/>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Biaya per ASK terendah</a:t>
            </a:r>
            <a:endParaRPr lang="en-US" sz="1150" dirty="0"/>
          </a:p>
          <a:p>
            <a:pPr indent="0" marL="0">
              <a:buNone/>
            </a:pPr>
            <a:r>
              <a:rPr lang="en-US" sz="1000" dirty="0">
                <a:solidFill>
                  <a:srgbClr val="6E6E6E"/>
                </a:solidFill>
                <a:latin typeface="Calibri" pitchFamily="34" charset="0"/>
                <a:ea typeface="Calibri" pitchFamily="34" charset="-122"/>
                <a:cs typeface="Calibri" pitchFamily="34" charset="-120"/>
              </a:rPr>
              <a:t>Satu-satunya sumber laba ketika harga menjadi dasar persaingan.</a:t>
            </a:r>
            <a:endParaRPr lang="en-US" sz="1150" dirty="0"/>
          </a:p>
        </p:txBody>
      </p:sp>
      <p:sp>
        <p:nvSpPr>
          <p:cNvPr id="23" name="Text 21"/>
          <p:cNvSpPr txBox="1"/>
          <p:nvPr/>
        </p:nvSpPr>
        <p:spPr>
          <a:xfrm>
            <a:off x="9052560" y="2057400"/>
            <a:ext cx="2331720" cy="1143000"/>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Utilisasi pesawat tinggi</a:t>
            </a:r>
            <a:endParaRPr lang="en-US" sz="1150" dirty="0"/>
          </a:p>
          <a:p>
            <a:pPr indent="0" marL="0">
              <a:buNone/>
            </a:pPr>
            <a:r>
              <a:rPr lang="en-US" sz="1000" dirty="0">
                <a:solidFill>
                  <a:srgbClr val="6E6E6E"/>
                </a:solidFill>
                <a:latin typeface="Calibri" pitchFamily="34" charset="0"/>
                <a:ea typeface="Calibri" pitchFamily="34" charset="-122"/>
                <a:cs typeface="Calibri" pitchFamily="34" charset="-120"/>
              </a:rPr>
              <a:t>Turnaround cepat dan jam terbang panjang menyebar biaya tetap ke lebih banyak kursi.</a:t>
            </a:r>
            <a:endParaRPr lang="en-US" sz="1150" dirty="0"/>
          </a:p>
        </p:txBody>
      </p:sp>
      <p:sp>
        <p:nvSpPr>
          <p:cNvPr id="24" name="Text 22"/>
          <p:cNvSpPr txBox="1"/>
          <p:nvPr/>
        </p:nvSpPr>
        <p:spPr>
          <a:xfrm>
            <a:off x="6537960" y="3291840"/>
            <a:ext cx="2331720" cy="1143000"/>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Load factor tinggi</a:t>
            </a:r>
            <a:endParaRPr lang="en-US" sz="1150" dirty="0"/>
          </a:p>
          <a:p>
            <a:pPr indent="0" marL="0">
              <a:buNone/>
            </a:pPr>
            <a:r>
              <a:rPr lang="en-US" sz="1000" dirty="0">
                <a:solidFill>
                  <a:srgbClr val="6E6E6E"/>
                </a:solidFill>
                <a:latin typeface="Calibri" pitchFamily="34" charset="0"/>
                <a:ea typeface="Calibri" pitchFamily="34" charset="-122"/>
                <a:cs typeface="Calibri" pitchFamily="34" charset="-120"/>
              </a:rPr>
              <a:t>Yield management yang disiplin; kursi kosong adalah biaya yang tidak kembali.</a:t>
            </a:r>
            <a:endParaRPr lang="en-US" sz="1150" dirty="0"/>
          </a:p>
        </p:txBody>
      </p:sp>
      <p:sp>
        <p:nvSpPr>
          <p:cNvPr id="25" name="Text 23"/>
          <p:cNvSpPr txBox="1"/>
          <p:nvPr/>
        </p:nvSpPr>
        <p:spPr>
          <a:xfrm>
            <a:off x="9052560" y="3291840"/>
            <a:ext cx="2331720" cy="1143000"/>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Kesederhanaan operasi</a:t>
            </a:r>
            <a:endParaRPr lang="en-US" sz="1150" dirty="0"/>
          </a:p>
          <a:p>
            <a:pPr indent="0" marL="0">
              <a:buNone/>
            </a:pPr>
            <a:r>
              <a:rPr lang="en-US" sz="1000" dirty="0">
                <a:solidFill>
                  <a:srgbClr val="6E6E6E"/>
                </a:solidFill>
                <a:latin typeface="Calibri" pitchFamily="34" charset="0"/>
                <a:ea typeface="Calibri" pitchFamily="34" charset="-122"/>
                <a:cs typeface="Calibri" pitchFamily="34" charset="-120"/>
              </a:rPr>
              <a:t>Satu tipe pesawat, satu kelas, titik ke titik (point to point), tanpa transfer bagasi.</a:t>
            </a:r>
            <a:endParaRPr lang="en-US" sz="1150" dirty="0"/>
          </a:p>
        </p:txBody>
      </p:sp>
      <p:sp>
        <p:nvSpPr>
          <p:cNvPr id="26" name="Text 24"/>
          <p:cNvSpPr txBox="1"/>
          <p:nvPr/>
        </p:nvSpPr>
        <p:spPr>
          <a:xfrm>
            <a:off x="6537960" y="4526280"/>
            <a:ext cx="2331720" cy="1143000"/>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Merek yang dipercaya</a:t>
            </a:r>
            <a:endParaRPr lang="en-US" sz="1150" dirty="0"/>
          </a:p>
          <a:p>
            <a:pPr indent="0" marL="0">
              <a:buNone/>
            </a:pPr>
            <a:r>
              <a:rPr lang="en-US" sz="1000" dirty="0">
                <a:solidFill>
                  <a:srgbClr val="6E6E6E"/>
                </a:solidFill>
                <a:latin typeface="Calibri" pitchFamily="34" charset="0"/>
                <a:ea typeface="Calibri" pitchFamily="34" charset="-122"/>
                <a:cs typeface="Calibri" pitchFamily="34" charset="-120"/>
              </a:rPr>
              <a:t>Persepsi aman dan andal agar harga murah tidak dibaca sebagai murahan.</a:t>
            </a:r>
            <a:endParaRPr lang="en-US" sz="1150" dirty="0"/>
          </a:p>
        </p:txBody>
      </p:sp>
      <p:sp>
        <p:nvSpPr>
          <p:cNvPr id="27" name="Text 25"/>
          <p:cNvSpPr txBox="1"/>
          <p:nvPr/>
        </p:nvSpPr>
        <p:spPr>
          <a:xfrm>
            <a:off x="9052560" y="4526280"/>
            <a:ext cx="2331720" cy="1143000"/>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Produktivitas SDM</a:t>
            </a:r>
            <a:endParaRPr lang="en-US" sz="1150" dirty="0"/>
          </a:p>
          <a:p>
            <a:pPr indent="0" marL="0">
              <a:buNone/>
            </a:pPr>
            <a:r>
              <a:rPr lang="en-US" sz="1000" dirty="0">
                <a:solidFill>
                  <a:srgbClr val="6E6E6E"/>
                </a:solidFill>
                <a:latin typeface="Calibri" pitchFamily="34" charset="0"/>
                <a:ea typeface="Calibri" pitchFamily="34" charset="-122"/>
                <a:cs typeface="Calibri" pitchFamily="34" charset="-120"/>
              </a:rPr>
              <a:t>Karyawan multi-skill, insentif berbasis produktivitas, retensi tinggi.</a:t>
            </a:r>
            <a:endParaRPr lang="en-US" sz="1150" dirty="0"/>
          </a:p>
        </p:txBody>
      </p:sp>
      <p:sp>
        <p:nvSpPr>
          <p:cNvPr id="28" name="Text 26"/>
          <p:cNvSpPr txBox="1"/>
          <p:nvPr/>
        </p:nvSpPr>
        <p:spPr>
          <a:xfrm>
            <a:off x="548640" y="6016752"/>
            <a:ext cx="11064240" cy="365760"/>
          </a:xfrm>
          <a:prstGeom prst="rect">
            <a:avLst/>
          </a:prstGeom>
          <a:noFill/>
          <a:ln/>
        </p:spPr>
        <p:txBody>
          <a:bodyPr wrap="square" lIns="0" tIns="0" rIns="0" bIns="0" rtlCol="0" anchor="ctr"/>
          <a:lstStyle/>
          <a:p>
            <a:pPr indent="0" marL="0">
              <a:buNone/>
            </a:pPr>
            <a:r>
              <a:rPr lang="en-US" sz="1050" b="1" dirty="0">
                <a:solidFill>
                  <a:srgbClr val="C8102E"/>
                </a:solidFill>
                <a:latin typeface="Calibri" pitchFamily="34" charset="0"/>
                <a:ea typeface="Calibri" pitchFamily="34" charset="-122"/>
                <a:cs typeface="Calibri" pitchFamily="34" charset="-120"/>
              </a:rPr>
              <a:t>Kaitan.  </a:t>
            </a:r>
            <a:pPr indent="0" marL="0">
              <a:buNone/>
            </a:pPr>
            <a:r>
              <a:rPr lang="en-US" sz="1050" i="1" dirty="0">
                <a:solidFill>
                  <a:srgbClr val="6E6E6E"/>
                </a:solidFill>
                <a:latin typeface="Calibri" pitchFamily="34" charset="0"/>
                <a:ea typeface="Calibri" pitchFamily="34" charset="-122"/>
                <a:cs typeface="Calibri" pitchFamily="34" charset="-120"/>
              </a:rPr>
              <a:t>Faktor kunci ini menjadi tolok ukur. Sebelum mengukur AirAsia terhadapnya, slide berikutnya memetakan di kelompok pesaing mana AirAsia dan AirAsia X berada.</a:t>
            </a:r>
            <a:endParaRPr lang="en-US" sz="1050" dirty="0"/>
          </a:p>
        </p:txBody>
      </p:sp>
      <p:sp>
        <p:nvSpPr>
          <p:cNvPr id="29" name="Text 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30" name="Text 28"/>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74320"/>
          </a:xfrm>
          <a:prstGeom prst="rect">
            <a:avLst/>
          </a:prstGeom>
          <a:noFill/>
          <a:ln/>
        </p:spPr>
        <p:txBody>
          <a:bodyPr wrap="square" lIns="0" tIns="0" rIns="0" bIns="0" rtlCol="0" anchor="ctr"/>
          <a:lstStyle/>
          <a:p>
            <a:pPr indent="0" marL="0">
              <a:buNone/>
            </a:pPr>
            <a:r>
              <a:rPr lang="en-US" sz="1000" spc="150" kern="0" dirty="0">
                <a:solidFill>
                  <a:srgbClr val="B5B5B5"/>
                </a:solidFill>
                <a:latin typeface="Calibri" pitchFamily="34" charset="0"/>
                <a:ea typeface="Calibri" pitchFamily="34" charset="-122"/>
                <a:cs typeface="Calibri" pitchFamily="34" charset="-120"/>
              </a:rPr>
              <a:t>1  PROBLEM</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b="1" spc="150" kern="0" dirty="0">
                <a:solidFill>
                  <a:srgbClr val="C8102E"/>
                </a:solidFill>
                <a:latin typeface="Calibri" pitchFamily="34" charset="0"/>
                <a:ea typeface="Calibri" pitchFamily="34" charset="-122"/>
                <a:cs typeface="Calibri" pitchFamily="34" charset="-120"/>
              </a:rPr>
              <a:t>2  EXTERNAL ENVIRONMENT</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3  COST POSITION</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4  CHOICE</a:t>
            </a:r>
            <a:endParaRPr lang="en-US" sz="10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indent="0" marL="0">
              <a:buNone/>
            </a:pPr>
            <a:r>
              <a:rPr lang="en-US" sz="3000" b="1" dirty="0">
                <a:solidFill>
                  <a:srgbClr val="1C1C1C"/>
                </a:solidFill>
                <a:latin typeface="Cambria" pitchFamily="34" charset="0"/>
                <a:ea typeface="Cambria" pitchFamily="34" charset="-122"/>
                <a:cs typeface="Cambria" pitchFamily="34" charset="-120"/>
              </a:rPr>
              <a:t>Strategic group map</a:t>
            </a:r>
            <a:endParaRPr lang="en-US" sz="3000" dirty="0"/>
          </a:p>
        </p:txBody>
      </p:sp>
      <p:sp>
        <p:nvSpPr>
          <p:cNvPr id="4" name="Shape 2"/>
          <p:cNvSpPr/>
          <p:nvPr/>
        </p:nvSpPr>
        <p:spPr>
          <a:xfrm>
            <a:off x="1097280" y="1463040"/>
            <a:ext cx="6675120" cy="4160520"/>
          </a:xfrm>
          <a:prstGeom prst="rect">
            <a:avLst/>
          </a:prstGeom>
          <a:solidFill>
            <a:srgbClr val="FFFFFF"/>
          </a:solidFill>
          <a:ln w="12700">
            <a:solidFill>
              <a:srgbClr val="DDDDDD"/>
            </a:solidFill>
            <a:prstDash val="solid"/>
          </a:ln>
        </p:spPr>
      </p:sp>
      <p:sp>
        <p:nvSpPr>
          <p:cNvPr id="5" name="Shape 3"/>
          <p:cNvSpPr/>
          <p:nvPr/>
        </p:nvSpPr>
        <p:spPr>
          <a:xfrm>
            <a:off x="1097280" y="3543300"/>
            <a:ext cx="6675120" cy="0"/>
          </a:xfrm>
          <a:prstGeom prst="line">
            <a:avLst/>
          </a:prstGeom>
          <a:noFill/>
          <a:ln w="9525">
            <a:solidFill>
              <a:srgbClr val="DDDDDD"/>
            </a:solidFill>
            <a:prstDash val="dash"/>
          </a:ln>
        </p:spPr>
      </p:sp>
      <p:sp>
        <p:nvSpPr>
          <p:cNvPr id="6" name="Shape 4"/>
          <p:cNvSpPr/>
          <p:nvPr/>
        </p:nvSpPr>
        <p:spPr>
          <a:xfrm>
            <a:off x="4434840" y="1463040"/>
            <a:ext cx="0" cy="4160520"/>
          </a:xfrm>
          <a:prstGeom prst="line">
            <a:avLst/>
          </a:prstGeom>
          <a:noFill/>
          <a:ln w="9525">
            <a:solidFill>
              <a:srgbClr val="DDDDDD"/>
            </a:solidFill>
            <a:prstDash val="dash"/>
          </a:ln>
        </p:spPr>
      </p:sp>
      <p:sp>
        <p:nvSpPr>
          <p:cNvPr id="7" name="Text 5"/>
          <p:cNvSpPr txBox="1"/>
          <p:nvPr/>
        </p:nvSpPr>
        <p:spPr>
          <a:xfrm>
            <a:off x="1097280" y="5650992"/>
            <a:ext cx="6675120" cy="274320"/>
          </a:xfrm>
          <a:prstGeom prst="rect">
            <a:avLst/>
          </a:prstGeom>
          <a:noFill/>
          <a:ln/>
        </p:spPr>
        <p:txBody>
          <a:bodyPr wrap="square" lIns="0" tIns="0" rIns="0" bIns="0" rtlCol="0" anchor="ctr"/>
          <a:lstStyle/>
          <a:p>
            <a:pPr algn="ctr" indent="0" marL="0">
              <a:buNone/>
            </a:pPr>
            <a:r>
              <a:rPr lang="en-US" sz="1000" dirty="0">
                <a:solidFill>
                  <a:srgbClr val="6E6E6E"/>
                </a:solidFill>
                <a:latin typeface="Calibri" pitchFamily="34" charset="0"/>
                <a:ea typeface="Calibri" pitchFamily="34" charset="-122"/>
                <a:cs typeface="Calibri" pitchFamily="34" charset="-120"/>
              </a:rPr>
              <a:t>Cakupan geografis: regional (kurang dari 4 jam)  ke  jarak jauh (lebih dari 4 jam)</a:t>
            </a:r>
            <a:endParaRPr lang="en-US" sz="1000" dirty="0"/>
          </a:p>
        </p:txBody>
      </p:sp>
      <p:sp>
        <p:nvSpPr>
          <p:cNvPr id="8" name="Text 6"/>
          <p:cNvSpPr txBox="1"/>
          <p:nvPr/>
        </p:nvSpPr>
        <p:spPr>
          <a:xfrm>
            <a:off x="502920" y="1463040"/>
            <a:ext cx="548640" cy="82296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Layanan dan biaya: tinggi</a:t>
            </a:r>
            <a:endParaRPr lang="en-US" sz="900" dirty="0"/>
          </a:p>
        </p:txBody>
      </p:sp>
      <p:sp>
        <p:nvSpPr>
          <p:cNvPr id="9" name="Text 7"/>
          <p:cNvSpPr txBox="1"/>
          <p:nvPr/>
        </p:nvSpPr>
        <p:spPr>
          <a:xfrm>
            <a:off x="502920" y="4800600"/>
            <a:ext cx="548640" cy="822960"/>
          </a:xfrm>
          <a:prstGeom prst="rect">
            <a:avLst/>
          </a:prstGeom>
          <a:noFill/>
          <a:ln/>
        </p:spPr>
        <p:txBody>
          <a:bodyPr wrap="square" lIns="0" tIns="0" rIns="0" bIns="0" rtlCol="0" anchor="b"/>
          <a:lstStyle/>
          <a:p>
            <a:pPr indent="0" marL="0">
              <a:buNone/>
            </a:pPr>
            <a:r>
              <a:rPr lang="en-US" sz="900" dirty="0">
                <a:solidFill>
                  <a:srgbClr val="6E6E6E"/>
                </a:solidFill>
                <a:latin typeface="Calibri" pitchFamily="34" charset="0"/>
                <a:ea typeface="Calibri" pitchFamily="34" charset="-122"/>
                <a:cs typeface="Calibri" pitchFamily="34" charset="-120"/>
              </a:rPr>
              <a:t>Layanan dan biaya: rendah</a:t>
            </a:r>
            <a:endParaRPr lang="en-US" sz="900" dirty="0"/>
          </a:p>
        </p:txBody>
      </p:sp>
      <p:sp>
        <p:nvSpPr>
          <p:cNvPr id="10" name="Shape 8"/>
          <p:cNvSpPr/>
          <p:nvPr/>
        </p:nvSpPr>
        <p:spPr>
          <a:xfrm>
            <a:off x="4937760" y="1645920"/>
            <a:ext cx="2560320" cy="1325880"/>
          </a:xfrm>
          <a:prstGeom prst="ellipse">
            <a:avLst/>
          </a:prstGeom>
          <a:solidFill>
            <a:srgbClr val="9E9E9E"/>
          </a:solidFill>
          <a:ln w="12700">
            <a:solidFill>
              <a:srgbClr val="9E9E9E"/>
            </a:solidFill>
            <a:prstDash val="solid"/>
          </a:ln>
        </p:spPr>
      </p:sp>
      <p:sp>
        <p:nvSpPr>
          <p:cNvPr id="11" name="Text 9"/>
          <p:cNvSpPr txBox="1"/>
          <p:nvPr/>
        </p:nvSpPr>
        <p:spPr>
          <a:xfrm>
            <a:off x="5212080" y="1737360"/>
            <a:ext cx="2011680" cy="11430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Network carriers jarak jauh</a:t>
            </a:r>
            <a:endParaRPr lang="en-US" sz="1150" dirty="0"/>
          </a:p>
          <a:p>
            <a:pPr algn="ctr" indent="0" marL="0">
              <a:buNone/>
            </a:pPr>
            <a:r>
              <a:rPr lang="en-US" sz="900" dirty="0">
                <a:solidFill>
                  <a:srgbClr val="FFFFFF"/>
                </a:solidFill>
                <a:latin typeface="Calibri" pitchFamily="34" charset="0"/>
                <a:ea typeface="Calibri" pitchFamily="34" charset="-122"/>
                <a:cs typeface="Calibri" pitchFamily="34" charset="-120"/>
              </a:rPr>
              <a:t>Emirates, British Airways, Malaysia Airlines, Etihad, Qatar. Layanan penuh, hub and spoke, subsidi silang dari kelas premium.</a:t>
            </a:r>
            <a:endParaRPr lang="en-US" sz="1150" dirty="0"/>
          </a:p>
        </p:txBody>
      </p:sp>
      <p:sp>
        <p:nvSpPr>
          <p:cNvPr id="12" name="Shape 10"/>
          <p:cNvSpPr/>
          <p:nvPr/>
        </p:nvSpPr>
        <p:spPr>
          <a:xfrm>
            <a:off x="1325880" y="2011680"/>
            <a:ext cx="2468880" cy="1097280"/>
          </a:xfrm>
          <a:prstGeom prst="ellipse">
            <a:avLst/>
          </a:prstGeom>
          <a:solidFill>
            <a:srgbClr val="C4C4C4"/>
          </a:solidFill>
          <a:ln w="12700">
            <a:solidFill>
              <a:srgbClr val="C4C4C4"/>
            </a:solidFill>
            <a:prstDash val="solid"/>
          </a:ln>
        </p:spPr>
      </p:sp>
      <p:sp>
        <p:nvSpPr>
          <p:cNvPr id="13" name="Text 11"/>
          <p:cNvSpPr txBox="1"/>
          <p:nvPr/>
        </p:nvSpPr>
        <p:spPr>
          <a:xfrm>
            <a:off x="1600200" y="2103120"/>
            <a:ext cx="1920240" cy="914400"/>
          </a:xfrm>
          <a:prstGeom prst="rect">
            <a:avLst/>
          </a:prstGeom>
          <a:noFill/>
          <a:ln/>
        </p:spPr>
        <p:txBody>
          <a:bodyPr wrap="square" lIns="0" tIns="0" rIns="0" bIns="0" rtlCol="0" anchor="ctr"/>
          <a:lstStyle/>
          <a:p>
            <a:pPr algn="ctr" indent="0" marL="0">
              <a:buNone/>
            </a:pPr>
            <a:r>
              <a:rPr lang="en-US" sz="1150" b="1" dirty="0">
                <a:solidFill>
                  <a:srgbClr val="1C1C1C"/>
                </a:solidFill>
                <a:latin typeface="Calibri" pitchFamily="34" charset="0"/>
                <a:ea typeface="Calibri" pitchFamily="34" charset="-122"/>
                <a:cs typeface="Calibri" pitchFamily="34" charset="-120"/>
              </a:rPr>
              <a:t>Full service regional</a:t>
            </a:r>
            <a:endParaRPr lang="en-US" sz="1150" dirty="0"/>
          </a:p>
          <a:p>
            <a:pPr algn="ctr" indent="0" marL="0">
              <a:buNone/>
            </a:pPr>
            <a:r>
              <a:rPr lang="en-US" sz="900" dirty="0">
                <a:solidFill>
                  <a:srgbClr val="1C1C1C"/>
                </a:solidFill>
                <a:latin typeface="Calibri" pitchFamily="34" charset="0"/>
                <a:ea typeface="Calibri" pitchFamily="34" charset="-122"/>
                <a:cs typeface="Calibri" pitchFamily="34" charset="-120"/>
              </a:rPr>
              <a:t>Malaysia Airlines domestik, Singapore Airlines rute pendek, Thai Airways.</a:t>
            </a:r>
            <a:endParaRPr lang="en-US" sz="1150" dirty="0"/>
          </a:p>
        </p:txBody>
      </p:sp>
      <p:sp>
        <p:nvSpPr>
          <p:cNvPr id="14" name="Shape 12"/>
          <p:cNvSpPr/>
          <p:nvPr/>
        </p:nvSpPr>
        <p:spPr>
          <a:xfrm>
            <a:off x="1325880" y="4114800"/>
            <a:ext cx="2468880" cy="1280160"/>
          </a:xfrm>
          <a:prstGeom prst="ellipse">
            <a:avLst/>
          </a:prstGeom>
          <a:solidFill>
            <a:srgbClr val="C8102E"/>
          </a:solidFill>
          <a:ln w="12700">
            <a:solidFill>
              <a:srgbClr val="C8102E"/>
            </a:solidFill>
            <a:prstDash val="solid"/>
          </a:ln>
        </p:spPr>
      </p:sp>
      <p:sp>
        <p:nvSpPr>
          <p:cNvPr id="15" name="Text 13"/>
          <p:cNvSpPr txBox="1"/>
          <p:nvPr/>
        </p:nvSpPr>
        <p:spPr>
          <a:xfrm>
            <a:off x="1600200" y="4206240"/>
            <a:ext cx="1920240" cy="10972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LCC regional</a:t>
            </a:r>
            <a:endParaRPr lang="en-US" sz="1150" dirty="0"/>
          </a:p>
          <a:p>
            <a:pPr algn="ctr" indent="0" marL="0">
              <a:buNone/>
            </a:pPr>
            <a:r>
              <a:rPr lang="en-US" sz="900" dirty="0">
                <a:solidFill>
                  <a:srgbClr val="FFFFFF"/>
                </a:solidFill>
                <a:latin typeface="Calibri" pitchFamily="34" charset="0"/>
                <a:ea typeface="Calibri" pitchFamily="34" charset="-122"/>
                <a:cs typeface="Calibri" pitchFamily="34" charset="-120"/>
              </a:rPr>
              <a:t>AirAsia, Thai AirAsia, Indonesia AirAsia, Tiger, Cebu Pacific, Jetstar Asia. Titik ke titik, satu tipe pesawat.</a:t>
            </a:r>
            <a:endParaRPr lang="en-US" sz="1150" dirty="0"/>
          </a:p>
        </p:txBody>
      </p:sp>
      <p:sp>
        <p:nvSpPr>
          <p:cNvPr id="16" name="Shape 14"/>
          <p:cNvSpPr/>
          <p:nvPr/>
        </p:nvSpPr>
        <p:spPr>
          <a:xfrm>
            <a:off x="4937760" y="4023360"/>
            <a:ext cx="2560320" cy="1417320"/>
          </a:xfrm>
          <a:prstGeom prst="ellipse">
            <a:avLst/>
          </a:prstGeom>
          <a:solidFill>
            <a:srgbClr val="8E0B20"/>
          </a:solidFill>
          <a:ln w="12700">
            <a:solidFill>
              <a:srgbClr val="8E0B20"/>
            </a:solidFill>
            <a:prstDash val="solid"/>
          </a:ln>
        </p:spPr>
      </p:sp>
      <p:sp>
        <p:nvSpPr>
          <p:cNvPr id="17" name="Text 15"/>
          <p:cNvSpPr txBox="1"/>
          <p:nvPr/>
        </p:nvSpPr>
        <p:spPr>
          <a:xfrm>
            <a:off x="5212080" y="4114800"/>
            <a:ext cx="2011680" cy="12344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LCC jarak jauh</a:t>
            </a:r>
            <a:endParaRPr lang="en-US" sz="1150" dirty="0"/>
          </a:p>
          <a:p>
            <a:pPr algn="ctr" indent="0" marL="0">
              <a:buNone/>
            </a:pPr>
            <a:r>
              <a:rPr lang="en-US" sz="900" dirty="0">
                <a:solidFill>
                  <a:srgbClr val="FFFFFF"/>
                </a:solidFill>
                <a:latin typeface="Calibri" pitchFamily="34" charset="0"/>
                <a:ea typeface="Calibri" pitchFamily="34" charset="-122"/>
                <a:cs typeface="Calibri" pitchFamily="34" charset="-120"/>
              </a:rPr>
              <a:t>AirAsia X (A330 dan A340, kursi ekonomi dan premium, makanan pesan di muka). Kelompok baru dengan sedikit penghuni.</a:t>
            </a:r>
            <a:endParaRPr lang="en-US" sz="1150" dirty="0"/>
          </a:p>
        </p:txBody>
      </p:sp>
      <p:sp>
        <p:nvSpPr>
          <p:cNvPr id="18" name="Shape 16"/>
          <p:cNvSpPr/>
          <p:nvPr/>
        </p:nvSpPr>
        <p:spPr>
          <a:xfrm>
            <a:off x="3886200" y="4553712"/>
            <a:ext cx="960120" cy="365760"/>
          </a:xfrm>
          <a:prstGeom prst="rightArrow">
            <a:avLst/>
          </a:prstGeom>
          <a:solidFill>
            <a:srgbClr val="1C1C1C"/>
          </a:solidFill>
          <a:ln w="12700">
            <a:solidFill>
              <a:srgbClr val="1C1C1C"/>
            </a:solidFill>
            <a:prstDash val="solid"/>
          </a:ln>
        </p:spPr>
      </p:sp>
      <p:sp>
        <p:nvSpPr>
          <p:cNvPr id="19" name="Shape 17"/>
          <p:cNvSpPr/>
          <p:nvPr/>
        </p:nvSpPr>
        <p:spPr>
          <a:xfrm>
            <a:off x="8138160" y="1463040"/>
            <a:ext cx="3474720" cy="4434840"/>
          </a:xfrm>
          <a:prstGeom prst="roundRect">
            <a:avLst>
              <a:gd name="adj" fmla="val 2105"/>
            </a:avLst>
          </a:prstGeom>
          <a:solidFill>
            <a:srgbClr val="F4F4F4"/>
          </a:solidFill>
          <a:ln w="12700">
            <a:solidFill>
              <a:srgbClr val="F4F4F4"/>
            </a:solidFill>
            <a:prstDash val="solid"/>
          </a:ln>
        </p:spPr>
      </p:sp>
      <p:sp>
        <p:nvSpPr>
          <p:cNvPr id="20" name="Text 18"/>
          <p:cNvSpPr txBox="1"/>
          <p:nvPr/>
        </p:nvSpPr>
        <p:spPr>
          <a:xfrm>
            <a:off x="8366760" y="1572768"/>
            <a:ext cx="3017520" cy="365760"/>
          </a:xfrm>
          <a:prstGeom prst="rect">
            <a:avLst/>
          </a:prstGeom>
          <a:noFill/>
          <a:ln/>
        </p:spPr>
        <p:txBody>
          <a:bodyPr wrap="square" lIns="0" tIns="0" rIns="0" bIns="0" rtlCol="0" anchor="ctr"/>
          <a:lstStyle/>
          <a:p>
            <a:pPr indent="0" marL="0">
              <a:buNone/>
            </a:pPr>
            <a:r>
              <a:rPr lang="en-US" sz="1400" b="1" dirty="0">
                <a:solidFill>
                  <a:srgbClr val="C8102E"/>
                </a:solidFill>
                <a:latin typeface="Calibri" pitchFamily="34" charset="0"/>
                <a:ea typeface="Calibri" pitchFamily="34" charset="-122"/>
                <a:cs typeface="Calibri" pitchFamily="34" charset="-120"/>
              </a:rPr>
              <a:t>Cara membaca peta</a:t>
            </a:r>
            <a:endParaRPr lang="en-US" sz="1400" dirty="0"/>
          </a:p>
        </p:txBody>
      </p:sp>
      <p:sp>
        <p:nvSpPr>
          <p:cNvPr id="21" name="Text 19"/>
          <p:cNvSpPr txBox="1"/>
          <p:nvPr/>
        </p:nvSpPr>
        <p:spPr>
          <a:xfrm>
            <a:off x="8366760" y="1965960"/>
            <a:ext cx="3063240" cy="38404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Hambatan mobilitas (mobility barriers) antar kelompok bukan hanya modal. Yang lebih sulit ditiru adalah budaya biaya rendah dan sistem operasi yang sederhana.</a:t>
            </a:r>
            <a:endParaRPr lang="en-US" sz="1100" dirty="0"/>
          </a:p>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Ruang kanan bawah kosong karena alasan struktural: rute jauh butuh pesawat berbadan lebar, kru bermalam, dan penumpang transit yang biasanya dipasok jaringan pengumpan.</a:t>
            </a:r>
            <a:endParaRPr lang="en-US" sz="1100" dirty="0"/>
          </a:p>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AirAsia X masuk dengan membawa aset dari kelompok asal: merek, sistem reservasi, SDM, dan disiplin biaya.</a:t>
            </a:r>
            <a:endParaRPr lang="en-US" sz="1100" dirty="0"/>
          </a:p>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Pesaing terdekat AirAsia X bukan LCC lain, melainkan network carriers yang punya alasan kuat untuk membalas dengan harga.</a:t>
            </a:r>
            <a:endParaRPr lang="en-US" sz="1100" dirty="0"/>
          </a:p>
        </p:txBody>
      </p:sp>
      <p:sp>
        <p:nvSpPr>
          <p:cNvPr id="22" name="Text 20"/>
          <p:cNvSpPr txBox="1"/>
          <p:nvPr/>
        </p:nvSpPr>
        <p:spPr>
          <a:xfrm>
            <a:off x="548640" y="6016752"/>
            <a:ext cx="11064240" cy="365760"/>
          </a:xfrm>
          <a:prstGeom prst="rect">
            <a:avLst/>
          </a:prstGeom>
          <a:noFill/>
          <a:ln/>
        </p:spPr>
        <p:txBody>
          <a:bodyPr wrap="square" lIns="0" tIns="0" rIns="0" bIns="0" rtlCol="0" anchor="ctr"/>
          <a:lstStyle/>
          <a:p>
            <a:pPr indent="0" marL="0">
              <a:buNone/>
            </a:pPr>
            <a:r>
              <a:rPr lang="en-US" sz="1050" b="1" dirty="0">
                <a:solidFill>
                  <a:srgbClr val="C8102E"/>
                </a:solidFill>
                <a:latin typeface="Calibri" pitchFamily="34" charset="0"/>
                <a:ea typeface="Calibri" pitchFamily="34" charset="-122"/>
                <a:cs typeface="Calibri" pitchFamily="34" charset="-120"/>
              </a:rPr>
              <a:t>Kaitan.  </a:t>
            </a:r>
            <a:pPr indent="0" marL="0">
              <a:buNone/>
            </a:pPr>
            <a:r>
              <a:rPr lang="en-US" sz="1050" i="1" dirty="0">
                <a:solidFill>
                  <a:srgbClr val="6E6E6E"/>
                </a:solidFill>
                <a:latin typeface="Calibri" pitchFamily="34" charset="0"/>
                <a:ea typeface="Calibri" pitchFamily="34" charset="-122"/>
                <a:cs typeface="Calibri" pitchFamily="34" charset="-120"/>
              </a:rPr>
              <a:t>Tahap kedua selesai: industri sulit, pesaing di rute jauh berbeda modelnya. Tahap ketiga menguji seberapa kuat posisi biaya AirAsia sendiri, dimulai dari benchmarking.</a:t>
            </a:r>
            <a:endParaRPr lang="en-US" sz="1050" dirty="0"/>
          </a:p>
        </p:txBody>
      </p:sp>
      <p:sp>
        <p:nvSpPr>
          <p:cNvPr id="23" name="Text 2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24" name="Text 22"/>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74320"/>
          </a:xfrm>
          <a:prstGeom prst="rect">
            <a:avLst/>
          </a:prstGeom>
          <a:noFill/>
          <a:ln/>
        </p:spPr>
        <p:txBody>
          <a:bodyPr wrap="square" lIns="0" tIns="0" rIns="0" bIns="0" rtlCol="0" anchor="ctr"/>
          <a:lstStyle/>
          <a:p>
            <a:pPr indent="0" marL="0">
              <a:buNone/>
            </a:pPr>
            <a:r>
              <a:rPr lang="en-US" sz="1000" spc="150" kern="0" dirty="0">
                <a:solidFill>
                  <a:srgbClr val="B5B5B5"/>
                </a:solidFill>
                <a:latin typeface="Calibri" pitchFamily="34" charset="0"/>
                <a:ea typeface="Calibri" pitchFamily="34" charset="-122"/>
                <a:cs typeface="Calibri" pitchFamily="34" charset="-120"/>
              </a:rPr>
              <a:t>1  PROBLEM</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2  EXTERNAL ENVIRONMENT</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b="1" spc="150" kern="0" dirty="0">
                <a:solidFill>
                  <a:srgbClr val="C8102E"/>
                </a:solidFill>
                <a:latin typeface="Calibri" pitchFamily="34" charset="0"/>
                <a:ea typeface="Calibri" pitchFamily="34" charset="-122"/>
                <a:cs typeface="Calibri" pitchFamily="34" charset="-120"/>
              </a:rPr>
              <a:t>3  COST POSITION</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4  CHOICE</a:t>
            </a:r>
            <a:endParaRPr lang="en-US" sz="10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indent="0" marL="0">
              <a:buNone/>
            </a:pPr>
            <a:r>
              <a:rPr lang="en-US" sz="3000" b="1" dirty="0">
                <a:solidFill>
                  <a:srgbClr val="1C1C1C"/>
                </a:solidFill>
                <a:latin typeface="Cambria" pitchFamily="34" charset="0"/>
                <a:ea typeface="Cambria" pitchFamily="34" charset="-122"/>
                <a:cs typeface="Cambria" pitchFamily="34" charset="-120"/>
              </a:rPr>
              <a:t>Cost benchmarking</a:t>
            </a:r>
            <a:endParaRPr lang="en-US" sz="3000" dirty="0"/>
          </a:p>
        </p:txBody>
      </p:sp>
      <p:graphicFrame>
        <p:nvGraphicFramePr>
          <p:cNvPr id="4" name="Chart 0" descr=""/>
          <p:cNvGraphicFramePr/>
          <p:nvPr/>
        </p:nvGraphicFramePr>
        <p:xfrm>
          <a:off x="548640" y="1417320"/>
          <a:ext cx="6035040"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212080"/>
            <a:ext cx="6035040" cy="457200"/>
          </a:xfrm>
          <a:prstGeom prst="rect">
            <a:avLst/>
          </a:prstGeom>
          <a:noFill/>
          <a:ln/>
        </p:spPr>
        <p:txBody>
          <a:bodyPr wrap="square" lIns="0" tIns="0" rIns="0" bIns="0" rtlCol="0" anchor="ctr"/>
          <a:lstStyle/>
          <a:p>
            <a:pPr indent="0" marL="0">
              <a:buNone/>
            </a:pPr>
            <a:r>
              <a:rPr lang="en-US" sz="950" dirty="0">
                <a:solidFill>
                  <a:srgbClr val="6E6E6E"/>
                </a:solidFill>
                <a:latin typeface="Calibri" pitchFamily="34" charset="0"/>
                <a:ea typeface="Calibri" pitchFamily="34" charset="-122"/>
                <a:cs typeface="Calibri" pitchFamily="34" charset="-120"/>
              </a:rPr>
              <a:t>Sumber: Tabel 9.1 kasus. Pendapatan per ASK AirAsia melampaui biayanya (margin positif per kursi), sedangkan MAS menjual di bawah biaya.</a:t>
            </a:r>
            <a:endParaRPr lang="en-US" sz="950" dirty="0"/>
          </a:p>
        </p:txBody>
      </p:sp>
      <p:sp>
        <p:nvSpPr>
          <p:cNvPr id="6" name="Shape 3"/>
          <p:cNvSpPr/>
          <p:nvPr/>
        </p:nvSpPr>
        <p:spPr>
          <a:xfrm>
            <a:off x="6858000" y="1417320"/>
            <a:ext cx="2286000" cy="1234440"/>
          </a:xfrm>
          <a:prstGeom prst="roundRect">
            <a:avLst>
              <a:gd name="adj" fmla="val 5926"/>
            </a:avLst>
          </a:prstGeom>
          <a:solidFill>
            <a:srgbClr val="F4F4F4"/>
          </a:solidFill>
          <a:ln w="12700">
            <a:solidFill>
              <a:srgbClr val="F4F4F4"/>
            </a:solidFill>
            <a:prstDash val="solid"/>
          </a:ln>
        </p:spPr>
      </p:sp>
      <p:sp>
        <p:nvSpPr>
          <p:cNvPr id="7" name="Text 4"/>
          <p:cNvSpPr txBox="1"/>
          <p:nvPr/>
        </p:nvSpPr>
        <p:spPr>
          <a:xfrm>
            <a:off x="6995160" y="1490472"/>
            <a:ext cx="2011680" cy="502920"/>
          </a:xfrm>
          <a:prstGeom prst="rect">
            <a:avLst/>
          </a:prstGeom>
          <a:noFill/>
          <a:ln/>
        </p:spPr>
        <p:txBody>
          <a:bodyPr wrap="square" lIns="0" tIns="0" rIns="0" bIns="0" rtlCol="0" anchor="ctr"/>
          <a:lstStyle/>
          <a:p>
            <a:pPr indent="0" marL="0">
              <a:buNone/>
            </a:pPr>
            <a:r>
              <a:rPr lang="en-US" sz="2000" b="1" dirty="0">
                <a:solidFill>
                  <a:srgbClr val="C8102E"/>
                </a:solidFill>
                <a:latin typeface="Cambria" pitchFamily="34" charset="0"/>
                <a:ea typeface="Cambria" pitchFamily="34" charset="-122"/>
                <a:cs typeface="Cambria" pitchFamily="34" charset="-120"/>
              </a:rPr>
              <a:t>11,8 vs 11,1</a:t>
            </a:r>
            <a:endParaRPr lang="en-US" sz="2000" dirty="0"/>
          </a:p>
        </p:txBody>
      </p:sp>
      <p:sp>
        <p:nvSpPr>
          <p:cNvPr id="8" name="Text 5"/>
          <p:cNvSpPr txBox="1"/>
          <p:nvPr/>
        </p:nvSpPr>
        <p:spPr>
          <a:xfrm>
            <a:off x="6995160" y="2011680"/>
            <a:ext cx="2011680" cy="594360"/>
          </a:xfrm>
          <a:prstGeom prst="rect">
            <a:avLst/>
          </a:prstGeom>
          <a:noFill/>
          <a:ln/>
        </p:spPr>
        <p:txBody>
          <a:bodyPr wrap="square" lIns="0" tIns="0" rIns="0" bIns="0" rtlCol="0" anchor="t"/>
          <a:lstStyle/>
          <a:p>
            <a:pPr indent="0" marL="0">
              <a:buNone/>
            </a:pPr>
            <a:r>
              <a:rPr lang="en-US" sz="1000" dirty="0">
                <a:solidFill>
                  <a:srgbClr val="6E6E6E"/>
                </a:solidFill>
                <a:latin typeface="Calibri" pitchFamily="34" charset="0"/>
                <a:ea typeface="Calibri" pitchFamily="34" charset="-122"/>
                <a:cs typeface="Calibri" pitchFamily="34" charset="-120"/>
              </a:rPr>
              <a:t>jam utilisasi pesawat per hari (AirAsia vs MAS)</a:t>
            </a:r>
            <a:endParaRPr lang="en-US" sz="1000" dirty="0"/>
          </a:p>
        </p:txBody>
      </p:sp>
      <p:sp>
        <p:nvSpPr>
          <p:cNvPr id="9" name="Shape 6"/>
          <p:cNvSpPr/>
          <p:nvPr/>
        </p:nvSpPr>
        <p:spPr>
          <a:xfrm>
            <a:off x="9281160" y="1417320"/>
            <a:ext cx="2286000" cy="1234440"/>
          </a:xfrm>
          <a:prstGeom prst="roundRect">
            <a:avLst>
              <a:gd name="adj" fmla="val 5926"/>
            </a:avLst>
          </a:prstGeom>
          <a:solidFill>
            <a:srgbClr val="F4F4F4"/>
          </a:solidFill>
          <a:ln w="12700">
            <a:solidFill>
              <a:srgbClr val="F4F4F4"/>
            </a:solidFill>
            <a:prstDash val="solid"/>
          </a:ln>
        </p:spPr>
      </p:sp>
      <p:sp>
        <p:nvSpPr>
          <p:cNvPr id="10" name="Text 7"/>
          <p:cNvSpPr txBox="1"/>
          <p:nvPr/>
        </p:nvSpPr>
        <p:spPr>
          <a:xfrm>
            <a:off x="9418320" y="1490472"/>
            <a:ext cx="2011680" cy="502920"/>
          </a:xfrm>
          <a:prstGeom prst="rect">
            <a:avLst/>
          </a:prstGeom>
          <a:noFill/>
          <a:ln/>
        </p:spPr>
        <p:txBody>
          <a:bodyPr wrap="square" lIns="0" tIns="0" rIns="0" bIns="0" rtlCol="0" anchor="ctr"/>
          <a:lstStyle/>
          <a:p>
            <a:pPr indent="0" marL="0">
              <a:buNone/>
            </a:pPr>
            <a:r>
              <a:rPr lang="en-US" sz="2000" b="1" dirty="0">
                <a:solidFill>
                  <a:srgbClr val="C8102E"/>
                </a:solidFill>
                <a:latin typeface="Cambria" pitchFamily="34" charset="0"/>
                <a:ea typeface="Cambria" pitchFamily="34" charset="-122"/>
                <a:cs typeface="Cambria" pitchFamily="34" charset="-120"/>
              </a:rPr>
              <a:t>75% vs 67,8%</a:t>
            </a:r>
            <a:endParaRPr lang="en-US" sz="2000" dirty="0"/>
          </a:p>
        </p:txBody>
      </p:sp>
      <p:sp>
        <p:nvSpPr>
          <p:cNvPr id="11" name="Text 8"/>
          <p:cNvSpPr txBox="1"/>
          <p:nvPr/>
        </p:nvSpPr>
        <p:spPr>
          <a:xfrm>
            <a:off x="9418320" y="2011680"/>
            <a:ext cx="2011680" cy="594360"/>
          </a:xfrm>
          <a:prstGeom prst="rect">
            <a:avLst/>
          </a:prstGeom>
          <a:noFill/>
          <a:ln/>
        </p:spPr>
        <p:txBody>
          <a:bodyPr wrap="square" lIns="0" tIns="0" rIns="0" bIns="0" rtlCol="0" anchor="t"/>
          <a:lstStyle/>
          <a:p>
            <a:pPr indent="0" marL="0">
              <a:buNone/>
            </a:pPr>
            <a:r>
              <a:rPr lang="en-US" sz="1000" dirty="0">
                <a:solidFill>
                  <a:srgbClr val="6E6E6E"/>
                </a:solidFill>
                <a:latin typeface="Calibri" pitchFamily="34" charset="0"/>
                <a:ea typeface="Calibri" pitchFamily="34" charset="-122"/>
                <a:cs typeface="Calibri" pitchFamily="34" charset="-120"/>
              </a:rPr>
              <a:t>seat load factor 2008</a:t>
            </a:r>
            <a:endParaRPr lang="en-US" sz="1000" dirty="0"/>
          </a:p>
        </p:txBody>
      </p:sp>
      <p:sp>
        <p:nvSpPr>
          <p:cNvPr id="12" name="Shape 9"/>
          <p:cNvSpPr/>
          <p:nvPr/>
        </p:nvSpPr>
        <p:spPr>
          <a:xfrm>
            <a:off x="6858000" y="2788920"/>
            <a:ext cx="2286000" cy="1234440"/>
          </a:xfrm>
          <a:prstGeom prst="roundRect">
            <a:avLst>
              <a:gd name="adj" fmla="val 5926"/>
            </a:avLst>
          </a:prstGeom>
          <a:solidFill>
            <a:srgbClr val="F4F4F4"/>
          </a:solidFill>
          <a:ln w="12700">
            <a:solidFill>
              <a:srgbClr val="F4F4F4"/>
            </a:solidFill>
            <a:prstDash val="solid"/>
          </a:ln>
        </p:spPr>
      </p:sp>
      <p:sp>
        <p:nvSpPr>
          <p:cNvPr id="13" name="Text 10"/>
          <p:cNvSpPr txBox="1"/>
          <p:nvPr/>
        </p:nvSpPr>
        <p:spPr>
          <a:xfrm>
            <a:off x="6995160" y="2862072"/>
            <a:ext cx="2011680" cy="502920"/>
          </a:xfrm>
          <a:prstGeom prst="rect">
            <a:avLst/>
          </a:prstGeom>
          <a:noFill/>
          <a:ln/>
        </p:spPr>
        <p:txBody>
          <a:bodyPr wrap="square" lIns="0" tIns="0" rIns="0" bIns="0" rtlCol="0" anchor="ctr"/>
          <a:lstStyle/>
          <a:p>
            <a:pPr indent="0" marL="0">
              <a:buNone/>
            </a:pPr>
            <a:r>
              <a:rPr lang="en-US" sz="2000" b="1" dirty="0">
                <a:solidFill>
                  <a:srgbClr val="C8102E"/>
                </a:solidFill>
                <a:latin typeface="Cambria" pitchFamily="34" charset="0"/>
                <a:ea typeface="Cambria" pitchFamily="34" charset="-122"/>
                <a:cs typeface="Cambria" pitchFamily="34" charset="-120"/>
              </a:rPr>
              <a:t>49 vs 175</a:t>
            </a:r>
            <a:endParaRPr lang="en-US" sz="2000" dirty="0"/>
          </a:p>
        </p:txBody>
      </p:sp>
      <p:sp>
        <p:nvSpPr>
          <p:cNvPr id="14" name="Text 11"/>
          <p:cNvSpPr txBox="1"/>
          <p:nvPr/>
        </p:nvSpPr>
        <p:spPr>
          <a:xfrm>
            <a:off x="6995160" y="3383280"/>
            <a:ext cx="2011680" cy="594360"/>
          </a:xfrm>
          <a:prstGeom prst="rect">
            <a:avLst/>
          </a:prstGeom>
          <a:noFill/>
          <a:ln/>
        </p:spPr>
        <p:txBody>
          <a:bodyPr wrap="square" lIns="0" tIns="0" rIns="0" bIns="0" rtlCol="0" anchor="t"/>
          <a:lstStyle/>
          <a:p>
            <a:pPr indent="0" marL="0">
              <a:buNone/>
            </a:pPr>
            <a:r>
              <a:rPr lang="en-US" sz="1000" dirty="0">
                <a:solidFill>
                  <a:srgbClr val="6E6E6E"/>
                </a:solidFill>
                <a:latin typeface="Calibri" pitchFamily="34" charset="0"/>
                <a:ea typeface="Calibri" pitchFamily="34" charset="-122"/>
                <a:cs typeface="Calibri" pitchFamily="34" charset="-120"/>
              </a:rPr>
              <a:t>karyawan per pesawat (3.799/78 vs 19.094/109)</a:t>
            </a:r>
            <a:endParaRPr lang="en-US" sz="1000" dirty="0"/>
          </a:p>
        </p:txBody>
      </p:sp>
      <p:sp>
        <p:nvSpPr>
          <p:cNvPr id="15" name="Shape 12"/>
          <p:cNvSpPr/>
          <p:nvPr/>
        </p:nvSpPr>
        <p:spPr>
          <a:xfrm>
            <a:off x="9281160" y="2788920"/>
            <a:ext cx="2286000" cy="1234440"/>
          </a:xfrm>
          <a:prstGeom prst="roundRect">
            <a:avLst>
              <a:gd name="adj" fmla="val 5926"/>
            </a:avLst>
          </a:prstGeom>
          <a:solidFill>
            <a:srgbClr val="F4F4F4"/>
          </a:solidFill>
          <a:ln w="12700">
            <a:solidFill>
              <a:srgbClr val="F4F4F4"/>
            </a:solidFill>
            <a:prstDash val="solid"/>
          </a:ln>
        </p:spPr>
      </p:sp>
      <p:sp>
        <p:nvSpPr>
          <p:cNvPr id="16" name="Text 13"/>
          <p:cNvSpPr txBox="1"/>
          <p:nvPr/>
        </p:nvSpPr>
        <p:spPr>
          <a:xfrm>
            <a:off x="9418320" y="2862072"/>
            <a:ext cx="2011680" cy="502920"/>
          </a:xfrm>
          <a:prstGeom prst="rect">
            <a:avLst/>
          </a:prstGeom>
          <a:noFill/>
          <a:ln/>
        </p:spPr>
        <p:txBody>
          <a:bodyPr wrap="square" lIns="0" tIns="0" rIns="0" bIns="0" rtlCol="0" anchor="ctr"/>
          <a:lstStyle/>
          <a:p>
            <a:pPr indent="0" marL="0">
              <a:buNone/>
            </a:pPr>
            <a:r>
              <a:rPr lang="en-US" sz="2000" b="1" dirty="0">
                <a:solidFill>
                  <a:srgbClr val="C8102E"/>
                </a:solidFill>
                <a:latin typeface="Cambria" pitchFamily="34" charset="0"/>
                <a:ea typeface="Cambria" pitchFamily="34" charset="-122"/>
                <a:cs typeface="Cambria" pitchFamily="34" charset="-120"/>
              </a:rPr>
              <a:t>25 menit</a:t>
            </a:r>
            <a:endParaRPr lang="en-US" sz="2000" dirty="0"/>
          </a:p>
        </p:txBody>
      </p:sp>
      <p:sp>
        <p:nvSpPr>
          <p:cNvPr id="17" name="Text 14"/>
          <p:cNvSpPr txBox="1"/>
          <p:nvPr/>
        </p:nvSpPr>
        <p:spPr>
          <a:xfrm>
            <a:off x="9418320" y="3383280"/>
            <a:ext cx="2011680" cy="594360"/>
          </a:xfrm>
          <a:prstGeom prst="rect">
            <a:avLst/>
          </a:prstGeom>
          <a:noFill/>
          <a:ln/>
        </p:spPr>
        <p:txBody>
          <a:bodyPr wrap="square" lIns="0" tIns="0" rIns="0" bIns="0" rtlCol="0" anchor="t"/>
          <a:lstStyle/>
          <a:p>
            <a:pPr indent="0" marL="0">
              <a:buNone/>
            </a:pPr>
            <a:r>
              <a:rPr lang="en-US" sz="1000" dirty="0">
                <a:solidFill>
                  <a:srgbClr val="6E6E6E"/>
                </a:solidFill>
                <a:latin typeface="Calibri" pitchFamily="34" charset="0"/>
                <a:ea typeface="Calibri" pitchFamily="34" charset="-122"/>
                <a:cs typeface="Calibri" pitchFamily="34" charset="-120"/>
              </a:rPr>
              <a:t>turnaround time, tercepat di kawasan</a:t>
            </a:r>
            <a:endParaRPr lang="en-US" sz="1000" dirty="0"/>
          </a:p>
        </p:txBody>
      </p:sp>
      <p:sp>
        <p:nvSpPr>
          <p:cNvPr id="18" name="Shape 15"/>
          <p:cNvSpPr/>
          <p:nvPr/>
        </p:nvSpPr>
        <p:spPr>
          <a:xfrm>
            <a:off x="6858000" y="4251960"/>
            <a:ext cx="4709160" cy="1645920"/>
          </a:xfrm>
          <a:prstGeom prst="roundRect">
            <a:avLst>
              <a:gd name="adj" fmla="val 4444"/>
            </a:avLst>
          </a:prstGeom>
          <a:solidFill>
            <a:srgbClr val="FBE9EC"/>
          </a:solidFill>
          <a:ln w="12700">
            <a:solidFill>
              <a:srgbClr val="FBE9EC"/>
            </a:solidFill>
            <a:prstDash val="solid"/>
          </a:ln>
        </p:spPr>
      </p:sp>
      <p:sp>
        <p:nvSpPr>
          <p:cNvPr id="19" name="Text 16"/>
          <p:cNvSpPr txBox="1"/>
          <p:nvPr/>
        </p:nvSpPr>
        <p:spPr>
          <a:xfrm>
            <a:off x="7040880" y="4325112"/>
            <a:ext cx="4389120" cy="1508760"/>
          </a:xfrm>
          <a:prstGeom prst="rect">
            <a:avLst/>
          </a:prstGeom>
          <a:noFill/>
          <a:ln/>
        </p:spPr>
        <p:txBody>
          <a:bodyPr wrap="square" lIns="0" tIns="0" rIns="0" bIns="0" rtlCol="0" anchor="ctr"/>
          <a:lstStyle/>
          <a:p>
            <a:pPr indent="0" marL="0">
              <a:buNone/>
            </a:pPr>
            <a:r>
              <a:rPr lang="en-US" sz="1050" b="1" dirty="0">
                <a:solidFill>
                  <a:srgbClr val="C8102E"/>
                </a:solidFill>
                <a:latin typeface="Calibri" pitchFamily="34" charset="0"/>
                <a:ea typeface="Calibri" pitchFamily="34" charset="-122"/>
                <a:cs typeface="Calibri" pitchFamily="34" charset="-120"/>
              </a:rPr>
              <a:t>Catatan. </a:t>
            </a:r>
            <a:pPr indent="0" marL="0">
              <a:buNone/>
            </a:pPr>
            <a:r>
              <a:rPr lang="en-US" sz="1050" dirty="0">
                <a:solidFill>
                  <a:srgbClr val="1C1C1C"/>
                </a:solidFill>
                <a:latin typeface="Calibri" pitchFamily="34" charset="0"/>
                <a:ea typeface="Calibri" pitchFamily="34" charset="-122"/>
                <a:cs typeface="Calibri" pitchFamily="34" charset="-120"/>
              </a:rPr>
              <a:t>Rugi 2008 (RM 496,6 juta) bukan karena operasi, melainkan karena keputusan melepas kontrak berjangka bahan bakar (rugi RM 830,2 juta). Tanpa pos itu, operasi tetap menghasilkan laba. Namun neraca yang sarat utang pesawat (RM 6,69 miliar) membuat ruang untuk kesalahan berikutnya sempit.</a:t>
            </a:r>
            <a:endParaRPr lang="en-US" sz="1050" dirty="0"/>
          </a:p>
        </p:txBody>
      </p:sp>
      <p:sp>
        <p:nvSpPr>
          <p:cNvPr id="20" name="Text 17"/>
          <p:cNvSpPr txBox="1"/>
          <p:nvPr/>
        </p:nvSpPr>
        <p:spPr>
          <a:xfrm>
            <a:off x="548640" y="6016752"/>
            <a:ext cx="11064240" cy="365760"/>
          </a:xfrm>
          <a:prstGeom prst="rect">
            <a:avLst/>
          </a:prstGeom>
          <a:noFill/>
          <a:ln/>
        </p:spPr>
        <p:txBody>
          <a:bodyPr wrap="square" lIns="0" tIns="0" rIns="0" bIns="0" rtlCol="0" anchor="ctr"/>
          <a:lstStyle/>
          <a:p>
            <a:pPr indent="0" marL="0">
              <a:buNone/>
            </a:pPr>
            <a:r>
              <a:rPr lang="en-US" sz="1050" b="1" dirty="0">
                <a:solidFill>
                  <a:srgbClr val="C8102E"/>
                </a:solidFill>
                <a:latin typeface="Calibri" pitchFamily="34" charset="0"/>
                <a:ea typeface="Calibri" pitchFamily="34" charset="-122"/>
                <a:cs typeface="Calibri" pitchFamily="34" charset="-120"/>
              </a:rPr>
              <a:t>Kaitan.  </a:t>
            </a:r>
            <a:pPr indent="0" marL="0">
              <a:buNone/>
            </a:pPr>
            <a:r>
              <a:rPr lang="en-US" sz="1050" i="1" dirty="0">
                <a:solidFill>
                  <a:srgbClr val="6E6E6E"/>
                </a:solidFill>
                <a:latin typeface="Calibri" pitchFamily="34" charset="0"/>
                <a:ea typeface="Calibri" pitchFamily="34" charset="-122"/>
                <a:cs typeface="Calibri" pitchFamily="34" charset="-120"/>
              </a:rPr>
              <a:t>Keunggulan biaya AirAsia terbukti nyata: separuh biaya MAS. Slide berikutnya membedah dari mana keunggulan itu berasal, karena itulah yang akan diuji transferabilitasnya.</a:t>
            </a:r>
            <a:endParaRPr lang="en-US" sz="1050" dirty="0"/>
          </a:p>
        </p:txBody>
      </p:sp>
      <p:sp>
        <p:nvSpPr>
          <p:cNvPr id="21" name="Text 1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22" name="Text 19"/>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74320"/>
          </a:xfrm>
          <a:prstGeom prst="rect">
            <a:avLst/>
          </a:prstGeom>
          <a:noFill/>
          <a:ln/>
        </p:spPr>
        <p:txBody>
          <a:bodyPr wrap="square" lIns="0" tIns="0" rIns="0" bIns="0" rtlCol="0" anchor="ctr"/>
          <a:lstStyle/>
          <a:p>
            <a:pPr indent="0" marL="0">
              <a:buNone/>
            </a:pPr>
            <a:r>
              <a:rPr lang="en-US" sz="1000" spc="150" kern="0" dirty="0">
                <a:solidFill>
                  <a:srgbClr val="B5B5B5"/>
                </a:solidFill>
                <a:latin typeface="Calibri" pitchFamily="34" charset="0"/>
                <a:ea typeface="Calibri" pitchFamily="34" charset="-122"/>
                <a:cs typeface="Calibri" pitchFamily="34" charset="-120"/>
              </a:rPr>
              <a:t>1  PROBLEM</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2  EXTERNAL ENVIRONMENT</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b="1" spc="150" kern="0" dirty="0">
                <a:solidFill>
                  <a:srgbClr val="C8102E"/>
                </a:solidFill>
                <a:latin typeface="Calibri" pitchFamily="34" charset="0"/>
                <a:ea typeface="Calibri" pitchFamily="34" charset="-122"/>
                <a:cs typeface="Calibri" pitchFamily="34" charset="-120"/>
              </a:rPr>
              <a:t>3  COST POSITION</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4  CHOICE</a:t>
            </a:r>
            <a:endParaRPr lang="en-US" sz="10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indent="0" marL="0">
              <a:buNone/>
            </a:pPr>
            <a:r>
              <a:rPr lang="en-US" sz="3000" b="1" dirty="0">
                <a:solidFill>
                  <a:srgbClr val="1C1C1C"/>
                </a:solidFill>
                <a:latin typeface="Cambria" pitchFamily="34" charset="0"/>
                <a:ea typeface="Cambria" pitchFamily="34" charset="-122"/>
                <a:cs typeface="Cambria" pitchFamily="34" charset="-120"/>
              </a:rPr>
              <a:t>Sources of cost advantage</a:t>
            </a:r>
            <a:endParaRPr lang="en-US" sz="3000" dirty="0"/>
          </a:p>
        </p:txBody>
      </p:sp>
      <p:sp>
        <p:nvSpPr>
          <p:cNvPr id="4" name="Shape 2"/>
          <p:cNvSpPr/>
          <p:nvPr/>
        </p:nvSpPr>
        <p:spPr>
          <a:xfrm>
            <a:off x="548640" y="1417320"/>
            <a:ext cx="3520440" cy="3657600"/>
          </a:xfrm>
          <a:prstGeom prst="roundRect">
            <a:avLst>
              <a:gd name="adj" fmla="val 2078"/>
            </a:avLst>
          </a:prstGeom>
          <a:solidFill>
            <a:srgbClr val="F4F4F4"/>
          </a:solidFill>
          <a:ln w="12700">
            <a:solidFill>
              <a:srgbClr val="F4F4F4"/>
            </a:solidFill>
            <a:prstDash val="solid"/>
          </a:ln>
        </p:spPr>
      </p:sp>
      <p:sp>
        <p:nvSpPr>
          <p:cNvPr id="5" name="Text 3"/>
          <p:cNvSpPr txBox="1"/>
          <p:nvPr/>
        </p:nvSpPr>
        <p:spPr>
          <a:xfrm>
            <a:off x="749808" y="1508760"/>
            <a:ext cx="3108960" cy="411480"/>
          </a:xfrm>
          <a:prstGeom prst="rect">
            <a:avLst/>
          </a:prstGeom>
          <a:noFill/>
          <a:ln/>
        </p:spPr>
        <p:txBody>
          <a:bodyPr wrap="square" lIns="0" tIns="0" rIns="0" bIns="0" rtlCol="0" anchor="ctr"/>
          <a:lstStyle/>
          <a:p>
            <a:pPr indent="0" marL="0">
              <a:buNone/>
            </a:pPr>
            <a:r>
              <a:rPr lang="en-US" sz="1350" b="1" dirty="0">
                <a:solidFill>
                  <a:srgbClr val="C8102E"/>
                </a:solidFill>
                <a:latin typeface="Calibri" pitchFamily="34" charset="0"/>
                <a:ea typeface="Calibri" pitchFamily="34" charset="-122"/>
                <a:cs typeface="Calibri" pitchFamily="34" charset="-120"/>
              </a:rPr>
              <a:t>Strategi operasi ala Ryanair</a:t>
            </a:r>
            <a:endParaRPr lang="en-US" sz="1350" dirty="0"/>
          </a:p>
        </p:txBody>
      </p:sp>
      <p:sp>
        <p:nvSpPr>
          <p:cNvPr id="6" name="Shape 4"/>
          <p:cNvSpPr/>
          <p:nvPr/>
        </p:nvSpPr>
        <p:spPr>
          <a:xfrm>
            <a:off x="749808" y="2029968"/>
            <a:ext cx="329184" cy="329184"/>
          </a:xfrm>
          <a:prstGeom prst="ellipse">
            <a:avLst/>
          </a:prstGeom>
          <a:solidFill>
            <a:srgbClr val="C8102E"/>
          </a:solidFill>
          <a:ln w="12700">
            <a:solidFill>
              <a:srgbClr val="C8102E"/>
            </a:solidFill>
            <a:prstDash val="solid"/>
          </a:ln>
        </p:spPr>
      </p:sp>
      <p:sp>
        <p:nvSpPr>
          <p:cNvPr id="7" name="Text 5"/>
          <p:cNvSpPr txBox="1"/>
          <p:nvPr/>
        </p:nvSpPr>
        <p:spPr>
          <a:xfrm>
            <a:off x="749808" y="20299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188720" y="2011680"/>
            <a:ext cx="2697480" cy="960120"/>
          </a:xfrm>
          <a:prstGeom prst="rect">
            <a:avLst/>
          </a:prstGeom>
          <a:noFill/>
          <a:ln/>
        </p:spPr>
        <p:txBody>
          <a:bodyPr wrap="square" lIns="0" tIns="0" rIns="0" bIns="0" rtlCol="0" anchor="t"/>
          <a:lstStyle/>
          <a:p>
            <a:pPr indent="0" marL="0">
              <a:buNone/>
            </a:pPr>
            <a:r>
              <a:rPr lang="en-US" sz="1100" b="1" dirty="0">
                <a:solidFill>
                  <a:srgbClr val="1C1C1C"/>
                </a:solidFill>
                <a:latin typeface="Calibri" pitchFamily="34" charset="0"/>
                <a:ea typeface="Calibri" pitchFamily="34" charset="-122"/>
                <a:cs typeface="Calibri" pitchFamily="34" charset="-120"/>
              </a:rPr>
              <a:t>Satu tipe pesawat (A320, 180 kursi)</a:t>
            </a:r>
            <a:endParaRPr lang="en-US" sz="1100" dirty="0"/>
          </a:p>
          <a:p>
            <a:pPr indent="0" marL="0">
              <a:buNone/>
            </a:pPr>
            <a:r>
              <a:rPr lang="en-US" sz="1000" dirty="0">
                <a:solidFill>
                  <a:srgbClr val="6E6E6E"/>
                </a:solidFill>
                <a:latin typeface="Calibri" pitchFamily="34" charset="0"/>
                <a:ea typeface="Calibri" pitchFamily="34" charset="-122"/>
                <a:cs typeface="Calibri" pitchFamily="34" charset="-120"/>
              </a:rPr>
              <a:t>Hemat di pembelian, perawatan, pelatihan pilot, dan penjadwalan.</a:t>
            </a:r>
            <a:endParaRPr lang="en-US" sz="1100" dirty="0"/>
          </a:p>
        </p:txBody>
      </p:sp>
      <p:sp>
        <p:nvSpPr>
          <p:cNvPr id="9" name="Shape 7"/>
          <p:cNvSpPr/>
          <p:nvPr/>
        </p:nvSpPr>
        <p:spPr>
          <a:xfrm>
            <a:off x="749808" y="3035808"/>
            <a:ext cx="329184" cy="329184"/>
          </a:xfrm>
          <a:prstGeom prst="ellipse">
            <a:avLst/>
          </a:prstGeom>
          <a:solidFill>
            <a:srgbClr val="C8102E"/>
          </a:solidFill>
          <a:ln w="12700">
            <a:solidFill>
              <a:srgbClr val="C8102E"/>
            </a:solidFill>
            <a:prstDash val="solid"/>
          </a:ln>
        </p:spPr>
      </p:sp>
      <p:sp>
        <p:nvSpPr>
          <p:cNvPr id="10" name="Text 8"/>
          <p:cNvSpPr txBox="1"/>
          <p:nvPr/>
        </p:nvSpPr>
        <p:spPr>
          <a:xfrm>
            <a:off x="749808" y="30358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188720" y="3017520"/>
            <a:ext cx="2697480" cy="960120"/>
          </a:xfrm>
          <a:prstGeom prst="rect">
            <a:avLst/>
          </a:prstGeom>
          <a:noFill/>
          <a:ln/>
        </p:spPr>
        <p:txBody>
          <a:bodyPr wrap="square" lIns="0" tIns="0" rIns="0" bIns="0" rtlCol="0" anchor="t"/>
          <a:lstStyle/>
          <a:p>
            <a:pPr indent="0" marL="0">
              <a:buNone/>
            </a:pPr>
            <a:r>
              <a:rPr lang="en-US" sz="1100" b="1" dirty="0">
                <a:solidFill>
                  <a:srgbClr val="1C1C1C"/>
                </a:solidFill>
                <a:latin typeface="Calibri" pitchFamily="34" charset="0"/>
                <a:ea typeface="Calibri" pitchFamily="34" charset="-122"/>
                <a:cs typeface="Calibri" pitchFamily="34" charset="-120"/>
              </a:rPr>
              <a:t>Satu kelas, tanpa embel-embel (no frills)</a:t>
            </a:r>
            <a:endParaRPr lang="en-US" sz="1100" dirty="0"/>
          </a:p>
          <a:p>
            <a:pPr indent="0" marL="0">
              <a:buNone/>
            </a:pPr>
            <a:r>
              <a:rPr lang="en-US" sz="1000" dirty="0">
                <a:solidFill>
                  <a:srgbClr val="6E6E6E"/>
                </a:solidFill>
                <a:latin typeface="Calibri" pitchFamily="34" charset="0"/>
                <a:ea typeface="Calibri" pitchFamily="34" charset="-122"/>
                <a:cs typeface="Calibri" pitchFamily="34" charset="-120"/>
              </a:rPr>
              <a:t>148 kursi di 737 vs 132 pada konfigurasi dua kelas; makanan dan bagasi berbayar; tanpa aerobridge.</a:t>
            </a:r>
            <a:endParaRPr lang="en-US" sz="1100" dirty="0"/>
          </a:p>
        </p:txBody>
      </p:sp>
      <p:sp>
        <p:nvSpPr>
          <p:cNvPr id="12" name="Shape 10"/>
          <p:cNvSpPr/>
          <p:nvPr/>
        </p:nvSpPr>
        <p:spPr>
          <a:xfrm>
            <a:off x="749808" y="4041648"/>
            <a:ext cx="329184" cy="329184"/>
          </a:xfrm>
          <a:prstGeom prst="ellipse">
            <a:avLst/>
          </a:prstGeom>
          <a:solidFill>
            <a:srgbClr val="C8102E"/>
          </a:solidFill>
          <a:ln w="12700">
            <a:solidFill>
              <a:srgbClr val="C8102E"/>
            </a:solidFill>
            <a:prstDash val="solid"/>
          </a:ln>
        </p:spPr>
      </p:sp>
      <p:sp>
        <p:nvSpPr>
          <p:cNvPr id="13" name="Text 11"/>
          <p:cNvSpPr txBox="1"/>
          <p:nvPr/>
        </p:nvSpPr>
        <p:spPr>
          <a:xfrm>
            <a:off x="749808" y="40416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188720" y="4023360"/>
            <a:ext cx="2697480" cy="960120"/>
          </a:xfrm>
          <a:prstGeom prst="rect">
            <a:avLst/>
          </a:prstGeom>
          <a:noFill/>
          <a:ln/>
        </p:spPr>
        <p:txBody>
          <a:bodyPr wrap="square" lIns="0" tIns="0" rIns="0" bIns="0" rtlCol="0" anchor="t"/>
          <a:lstStyle/>
          <a:p>
            <a:pPr indent="0" marL="0">
              <a:buNone/>
            </a:pPr>
            <a:r>
              <a:rPr lang="en-US" sz="1100" b="1" dirty="0">
                <a:solidFill>
                  <a:srgbClr val="1C1C1C"/>
                </a:solidFill>
                <a:latin typeface="Calibri" pitchFamily="34" charset="0"/>
                <a:ea typeface="Calibri" pitchFamily="34" charset="-122"/>
                <a:cs typeface="Calibri" pitchFamily="34" charset="-120"/>
              </a:rPr>
              <a:t>Titik ke titik, tanpa transfer bagasi</a:t>
            </a:r>
            <a:endParaRPr lang="en-US" sz="1100" dirty="0"/>
          </a:p>
          <a:p>
            <a:pPr indent="0" marL="0">
              <a:buNone/>
            </a:pPr>
            <a:r>
              <a:rPr lang="en-US" sz="1000" dirty="0">
                <a:solidFill>
                  <a:srgbClr val="6E6E6E"/>
                </a:solidFill>
                <a:latin typeface="Calibri" pitchFamily="34" charset="0"/>
                <a:ea typeface="Calibri" pitchFamily="34" charset="-122"/>
                <a:cs typeface="Calibri" pitchFamily="34" charset="-120"/>
              </a:rPr>
              <a:t>Turnaround 25 menit; jadwal padat; kru dan pesawat lebih produktif.</a:t>
            </a:r>
            <a:endParaRPr lang="en-US" sz="1100" dirty="0"/>
          </a:p>
        </p:txBody>
      </p:sp>
      <p:sp>
        <p:nvSpPr>
          <p:cNvPr id="15" name="Shape 13"/>
          <p:cNvSpPr/>
          <p:nvPr/>
        </p:nvSpPr>
        <p:spPr>
          <a:xfrm>
            <a:off x="4251960" y="1417320"/>
            <a:ext cx="3520440" cy="3657600"/>
          </a:xfrm>
          <a:prstGeom prst="roundRect">
            <a:avLst>
              <a:gd name="adj" fmla="val 2078"/>
            </a:avLst>
          </a:prstGeom>
          <a:solidFill>
            <a:srgbClr val="FBE9EC"/>
          </a:solidFill>
          <a:ln w="12700">
            <a:solidFill>
              <a:srgbClr val="FBE9EC"/>
            </a:solidFill>
            <a:prstDash val="solid"/>
          </a:ln>
        </p:spPr>
      </p:sp>
      <p:sp>
        <p:nvSpPr>
          <p:cNvPr id="16" name="Text 14"/>
          <p:cNvSpPr txBox="1"/>
          <p:nvPr/>
        </p:nvSpPr>
        <p:spPr>
          <a:xfrm>
            <a:off x="4453128" y="1508760"/>
            <a:ext cx="3108960" cy="411480"/>
          </a:xfrm>
          <a:prstGeom prst="rect">
            <a:avLst/>
          </a:prstGeom>
          <a:noFill/>
          <a:ln/>
        </p:spPr>
        <p:txBody>
          <a:bodyPr wrap="square" lIns="0" tIns="0" rIns="0" bIns="0" rtlCol="0" anchor="ctr"/>
          <a:lstStyle/>
          <a:p>
            <a:pPr indent="0" marL="0">
              <a:buNone/>
            </a:pPr>
            <a:r>
              <a:rPr lang="en-US" sz="1350" b="1" dirty="0">
                <a:solidFill>
                  <a:srgbClr val="C8102E"/>
                </a:solidFill>
                <a:latin typeface="Calibri" pitchFamily="34" charset="0"/>
                <a:ea typeface="Calibri" pitchFamily="34" charset="-122"/>
                <a:cs typeface="Calibri" pitchFamily="34" charset="-120"/>
              </a:rPr>
              <a:t>Strategi SDM ala Southwest</a:t>
            </a:r>
            <a:endParaRPr lang="en-US" sz="1350" dirty="0"/>
          </a:p>
        </p:txBody>
      </p:sp>
      <p:sp>
        <p:nvSpPr>
          <p:cNvPr id="17" name="Shape 15"/>
          <p:cNvSpPr/>
          <p:nvPr/>
        </p:nvSpPr>
        <p:spPr>
          <a:xfrm>
            <a:off x="4453128" y="2029968"/>
            <a:ext cx="329184" cy="329184"/>
          </a:xfrm>
          <a:prstGeom prst="ellipse">
            <a:avLst/>
          </a:prstGeom>
          <a:solidFill>
            <a:srgbClr val="C8102E"/>
          </a:solidFill>
          <a:ln w="12700">
            <a:solidFill>
              <a:srgbClr val="C8102E"/>
            </a:solidFill>
            <a:prstDash val="solid"/>
          </a:ln>
        </p:spPr>
      </p:sp>
      <p:sp>
        <p:nvSpPr>
          <p:cNvPr id="18" name="Text 16"/>
          <p:cNvSpPr txBox="1"/>
          <p:nvPr/>
        </p:nvSpPr>
        <p:spPr>
          <a:xfrm>
            <a:off x="4453128" y="20299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9" name="Text 17"/>
          <p:cNvSpPr txBox="1"/>
          <p:nvPr/>
        </p:nvSpPr>
        <p:spPr>
          <a:xfrm>
            <a:off x="4892040" y="2011680"/>
            <a:ext cx="2697480" cy="960120"/>
          </a:xfrm>
          <a:prstGeom prst="rect">
            <a:avLst/>
          </a:prstGeom>
          <a:noFill/>
          <a:ln/>
        </p:spPr>
        <p:txBody>
          <a:bodyPr wrap="square" lIns="0" tIns="0" rIns="0" bIns="0" rtlCol="0" anchor="t"/>
          <a:lstStyle/>
          <a:p>
            <a:pPr indent="0" marL="0">
              <a:buNone/>
            </a:pPr>
            <a:r>
              <a:rPr lang="en-US" sz="1100" b="1" dirty="0">
                <a:solidFill>
                  <a:srgbClr val="1C1C1C"/>
                </a:solidFill>
                <a:latin typeface="Calibri" pitchFamily="34" charset="0"/>
                <a:ea typeface="Calibri" pitchFamily="34" charset="-122"/>
                <a:cs typeface="Calibri" pitchFamily="34" charset="-120"/>
              </a:rPr>
              <a:t>Karyawan multi-skill</a:t>
            </a:r>
            <a:endParaRPr lang="en-US" sz="1100" dirty="0"/>
          </a:p>
          <a:p>
            <a:pPr indent="0" marL="0">
              <a:buNone/>
            </a:pPr>
            <a:r>
              <a:rPr lang="en-US" sz="1000" dirty="0">
                <a:solidFill>
                  <a:srgbClr val="6E6E6E"/>
                </a:solidFill>
                <a:latin typeface="Calibri" pitchFamily="34" charset="0"/>
                <a:ea typeface="Calibri" pitchFamily="34" charset="-122"/>
                <a:cs typeface="Calibri" pitchFamily="34" charset="-120"/>
              </a:rPr>
              <a:t>Fleksibilitas tugas hingga tingkat administrasi; retensi tinggi menekan biaya pelatihan ulang.</a:t>
            </a:r>
            <a:endParaRPr lang="en-US" sz="1100" dirty="0"/>
          </a:p>
        </p:txBody>
      </p:sp>
      <p:sp>
        <p:nvSpPr>
          <p:cNvPr id="20" name="Shape 18"/>
          <p:cNvSpPr/>
          <p:nvPr/>
        </p:nvSpPr>
        <p:spPr>
          <a:xfrm>
            <a:off x="4453128" y="3035808"/>
            <a:ext cx="329184" cy="329184"/>
          </a:xfrm>
          <a:prstGeom prst="ellipse">
            <a:avLst/>
          </a:prstGeom>
          <a:solidFill>
            <a:srgbClr val="C8102E"/>
          </a:solidFill>
          <a:ln w="12700">
            <a:solidFill>
              <a:srgbClr val="C8102E"/>
            </a:solidFill>
            <a:prstDash val="solid"/>
          </a:ln>
        </p:spPr>
      </p:sp>
      <p:sp>
        <p:nvSpPr>
          <p:cNvPr id="21" name="Text 19"/>
          <p:cNvSpPr txBox="1"/>
          <p:nvPr/>
        </p:nvSpPr>
        <p:spPr>
          <a:xfrm>
            <a:off x="4453128" y="30358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2" name="Text 20"/>
          <p:cNvSpPr txBox="1"/>
          <p:nvPr/>
        </p:nvSpPr>
        <p:spPr>
          <a:xfrm>
            <a:off x="4892040" y="3017520"/>
            <a:ext cx="2697480" cy="960120"/>
          </a:xfrm>
          <a:prstGeom prst="rect">
            <a:avLst/>
          </a:prstGeom>
          <a:noFill/>
          <a:ln/>
        </p:spPr>
        <p:txBody>
          <a:bodyPr wrap="square" lIns="0" tIns="0" rIns="0" bIns="0" rtlCol="0" anchor="t"/>
          <a:lstStyle/>
          <a:p>
            <a:pPr indent="0" marL="0">
              <a:buNone/>
            </a:pPr>
            <a:r>
              <a:rPr lang="en-US" sz="1100" b="1" dirty="0">
                <a:solidFill>
                  <a:srgbClr val="1C1C1C"/>
                </a:solidFill>
                <a:latin typeface="Calibri" pitchFamily="34" charset="0"/>
                <a:ea typeface="Calibri" pitchFamily="34" charset="-122"/>
                <a:cs typeface="Calibri" pitchFamily="34" charset="-120"/>
              </a:rPr>
              <a:t>Insentif berbasis produktivitas</a:t>
            </a:r>
            <a:endParaRPr lang="en-US" sz="1100" dirty="0"/>
          </a:p>
          <a:p>
            <a:pPr indent="0" marL="0">
              <a:buNone/>
            </a:pPr>
            <a:r>
              <a:rPr lang="en-US" sz="1000" dirty="0">
                <a:solidFill>
                  <a:srgbClr val="6E6E6E"/>
                </a:solidFill>
                <a:latin typeface="Calibri" pitchFamily="34" charset="0"/>
                <a:ea typeface="Calibri" pitchFamily="34" charset="-122"/>
                <a:cs typeface="Calibri" pitchFamily="34" charset="-120"/>
              </a:rPr>
              <a:t>Bonus per kontribusi, kepemilikan saham karyawan (ESOS) untuk semua, review hasil bersama tiap kuartal.</a:t>
            </a:r>
            <a:endParaRPr lang="en-US" sz="1100" dirty="0"/>
          </a:p>
        </p:txBody>
      </p:sp>
      <p:sp>
        <p:nvSpPr>
          <p:cNvPr id="23" name="Shape 21"/>
          <p:cNvSpPr/>
          <p:nvPr/>
        </p:nvSpPr>
        <p:spPr>
          <a:xfrm>
            <a:off x="4453128" y="4041648"/>
            <a:ext cx="329184" cy="329184"/>
          </a:xfrm>
          <a:prstGeom prst="ellipse">
            <a:avLst/>
          </a:prstGeom>
          <a:solidFill>
            <a:srgbClr val="C8102E"/>
          </a:solidFill>
          <a:ln w="12700">
            <a:solidFill>
              <a:srgbClr val="C8102E"/>
            </a:solidFill>
            <a:prstDash val="solid"/>
          </a:ln>
        </p:spPr>
      </p:sp>
      <p:sp>
        <p:nvSpPr>
          <p:cNvPr id="24" name="Text 22"/>
          <p:cNvSpPr txBox="1"/>
          <p:nvPr/>
        </p:nvSpPr>
        <p:spPr>
          <a:xfrm>
            <a:off x="4453128" y="40416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5" name="Text 23"/>
          <p:cNvSpPr txBox="1"/>
          <p:nvPr/>
        </p:nvSpPr>
        <p:spPr>
          <a:xfrm>
            <a:off x="4892040" y="4023360"/>
            <a:ext cx="2697480" cy="960120"/>
          </a:xfrm>
          <a:prstGeom prst="rect">
            <a:avLst/>
          </a:prstGeom>
          <a:noFill/>
          <a:ln/>
        </p:spPr>
        <p:txBody>
          <a:bodyPr wrap="square" lIns="0" tIns="0" rIns="0" bIns="0" rtlCol="0" anchor="t"/>
          <a:lstStyle/>
          <a:p>
            <a:pPr indent="0" marL="0">
              <a:buNone/>
            </a:pPr>
            <a:r>
              <a:rPr lang="en-US" sz="1100" b="1" dirty="0">
                <a:solidFill>
                  <a:srgbClr val="1C1C1C"/>
                </a:solidFill>
                <a:latin typeface="Calibri" pitchFamily="34" charset="0"/>
                <a:ea typeface="Calibri" pitchFamily="34" charset="-122"/>
                <a:cs typeface="Calibri" pitchFamily="34" charset="-120"/>
              </a:rPr>
              <a:t>Budaya tanpa hierarki</a:t>
            </a:r>
            <a:endParaRPr lang="en-US" sz="1100" dirty="0"/>
          </a:p>
          <a:p>
            <a:pPr indent="0" marL="0">
              <a:buNone/>
            </a:pPr>
            <a:r>
              <a:rPr lang="en-US" sz="1000" dirty="0">
                <a:solidFill>
                  <a:srgbClr val="6E6E6E"/>
                </a:solidFill>
                <a:latin typeface="Calibri" pitchFamily="34" charset="0"/>
                <a:ea typeface="Calibri" pitchFamily="34" charset="-122"/>
                <a:cs typeface="Calibri" pitchFamily="34" charset="-120"/>
              </a:rPr>
              <a:t>Fernandes rutin bekerja sebagai porter dan awak kabin; departemen budaya menjaga semangat kerja.</a:t>
            </a:r>
            <a:endParaRPr lang="en-US" sz="1100" dirty="0"/>
          </a:p>
        </p:txBody>
      </p:sp>
      <p:sp>
        <p:nvSpPr>
          <p:cNvPr id="26" name="Shape 24"/>
          <p:cNvSpPr/>
          <p:nvPr/>
        </p:nvSpPr>
        <p:spPr>
          <a:xfrm>
            <a:off x="7955280" y="1417320"/>
            <a:ext cx="3520440" cy="3657600"/>
          </a:xfrm>
          <a:prstGeom prst="roundRect">
            <a:avLst>
              <a:gd name="adj" fmla="val 2078"/>
            </a:avLst>
          </a:prstGeom>
          <a:solidFill>
            <a:srgbClr val="F4F4F4"/>
          </a:solidFill>
          <a:ln w="12700">
            <a:solidFill>
              <a:srgbClr val="F4F4F4"/>
            </a:solidFill>
            <a:prstDash val="solid"/>
          </a:ln>
        </p:spPr>
      </p:sp>
      <p:sp>
        <p:nvSpPr>
          <p:cNvPr id="27" name="Text 25"/>
          <p:cNvSpPr txBox="1"/>
          <p:nvPr/>
        </p:nvSpPr>
        <p:spPr>
          <a:xfrm>
            <a:off x="8156448" y="1508760"/>
            <a:ext cx="3108960" cy="411480"/>
          </a:xfrm>
          <a:prstGeom prst="rect">
            <a:avLst/>
          </a:prstGeom>
          <a:noFill/>
          <a:ln/>
        </p:spPr>
        <p:txBody>
          <a:bodyPr wrap="square" lIns="0" tIns="0" rIns="0" bIns="0" rtlCol="0" anchor="ctr"/>
          <a:lstStyle/>
          <a:p>
            <a:pPr indent="0" marL="0">
              <a:buNone/>
            </a:pPr>
            <a:r>
              <a:rPr lang="en-US" sz="1350" b="1" dirty="0">
                <a:solidFill>
                  <a:srgbClr val="C8102E"/>
                </a:solidFill>
                <a:latin typeface="Calibri" pitchFamily="34" charset="0"/>
                <a:ea typeface="Calibri" pitchFamily="34" charset="-122"/>
                <a:cs typeface="Calibri" pitchFamily="34" charset="-120"/>
              </a:rPr>
              <a:t>Strategi merek ala easyJet</a:t>
            </a:r>
            <a:endParaRPr lang="en-US" sz="1350" dirty="0"/>
          </a:p>
        </p:txBody>
      </p:sp>
      <p:sp>
        <p:nvSpPr>
          <p:cNvPr id="28" name="Shape 26"/>
          <p:cNvSpPr/>
          <p:nvPr/>
        </p:nvSpPr>
        <p:spPr>
          <a:xfrm>
            <a:off x="8156448" y="2029968"/>
            <a:ext cx="329184" cy="329184"/>
          </a:xfrm>
          <a:prstGeom prst="ellipse">
            <a:avLst/>
          </a:prstGeom>
          <a:solidFill>
            <a:srgbClr val="C8102E"/>
          </a:solidFill>
          <a:ln w="12700">
            <a:solidFill>
              <a:srgbClr val="C8102E"/>
            </a:solidFill>
            <a:prstDash val="solid"/>
          </a:ln>
        </p:spPr>
      </p:sp>
      <p:sp>
        <p:nvSpPr>
          <p:cNvPr id="29" name="Text 27"/>
          <p:cNvSpPr txBox="1"/>
          <p:nvPr/>
        </p:nvSpPr>
        <p:spPr>
          <a:xfrm>
            <a:off x="8156448" y="20299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30" name="Text 28"/>
          <p:cNvSpPr txBox="1"/>
          <p:nvPr/>
        </p:nvSpPr>
        <p:spPr>
          <a:xfrm>
            <a:off x="8595360" y="2011680"/>
            <a:ext cx="2697480" cy="960120"/>
          </a:xfrm>
          <a:prstGeom prst="rect">
            <a:avLst/>
          </a:prstGeom>
          <a:noFill/>
          <a:ln/>
        </p:spPr>
        <p:txBody>
          <a:bodyPr wrap="square" lIns="0" tIns="0" rIns="0" bIns="0" rtlCol="0" anchor="t"/>
          <a:lstStyle/>
          <a:p>
            <a:pPr indent="0" marL="0">
              <a:buNone/>
            </a:pPr>
            <a:r>
              <a:rPr lang="en-US" sz="1100" b="1" dirty="0">
                <a:solidFill>
                  <a:srgbClr val="1C1C1C"/>
                </a:solidFill>
                <a:latin typeface="Calibri" pitchFamily="34" charset="0"/>
                <a:ea typeface="Calibri" pitchFamily="34" charset="-122"/>
                <a:cs typeface="Calibri" pitchFamily="34" charset="-120"/>
              </a:rPr>
              <a:t>Belanja iklan besar dan kontra-siklus</a:t>
            </a:r>
            <a:endParaRPr lang="en-US" sz="1100" dirty="0"/>
          </a:p>
          <a:p>
            <a:pPr indent="0" marL="0">
              <a:buNone/>
            </a:pPr>
            <a:r>
              <a:rPr lang="en-US" sz="1000" dirty="0">
                <a:solidFill>
                  <a:srgbClr val="6E6E6E"/>
                </a:solidFill>
                <a:latin typeface="Calibri" pitchFamily="34" charset="0"/>
                <a:ea typeface="Calibri" pitchFamily="34" charset="-122"/>
                <a:cs typeface="Calibri" pitchFamily="34" charset="-120"/>
              </a:rPr>
              <a:t>Ditingkatkan saat SARS dan bom Bali ketika pesaing menahan diri.</a:t>
            </a:r>
            <a:endParaRPr lang="en-US" sz="1100" dirty="0"/>
          </a:p>
        </p:txBody>
      </p:sp>
      <p:sp>
        <p:nvSpPr>
          <p:cNvPr id="31" name="Shape 29"/>
          <p:cNvSpPr/>
          <p:nvPr/>
        </p:nvSpPr>
        <p:spPr>
          <a:xfrm>
            <a:off x="8156448" y="3035808"/>
            <a:ext cx="329184" cy="329184"/>
          </a:xfrm>
          <a:prstGeom prst="ellipse">
            <a:avLst/>
          </a:prstGeom>
          <a:solidFill>
            <a:srgbClr val="C8102E"/>
          </a:solidFill>
          <a:ln w="12700">
            <a:solidFill>
              <a:srgbClr val="C8102E"/>
            </a:solidFill>
            <a:prstDash val="solid"/>
          </a:ln>
        </p:spPr>
      </p:sp>
      <p:sp>
        <p:nvSpPr>
          <p:cNvPr id="32" name="Text 30"/>
          <p:cNvSpPr txBox="1"/>
          <p:nvPr/>
        </p:nvSpPr>
        <p:spPr>
          <a:xfrm>
            <a:off x="8156448" y="30358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33" name="Text 31"/>
          <p:cNvSpPr txBox="1"/>
          <p:nvPr/>
        </p:nvSpPr>
        <p:spPr>
          <a:xfrm>
            <a:off x="8595360" y="3017520"/>
            <a:ext cx="2697480" cy="960120"/>
          </a:xfrm>
          <a:prstGeom prst="rect">
            <a:avLst/>
          </a:prstGeom>
          <a:noFill/>
          <a:ln/>
        </p:spPr>
        <p:txBody>
          <a:bodyPr wrap="square" lIns="0" tIns="0" rIns="0" bIns="0" rtlCol="0" anchor="t"/>
          <a:lstStyle/>
          <a:p>
            <a:pPr indent="0" marL="0">
              <a:buNone/>
            </a:pPr>
            <a:r>
              <a:rPr lang="en-US" sz="1100" b="1" dirty="0">
                <a:solidFill>
                  <a:srgbClr val="1C1C1C"/>
                </a:solidFill>
                <a:latin typeface="Calibri" pitchFamily="34" charset="0"/>
                <a:ea typeface="Calibri" pitchFamily="34" charset="-122"/>
                <a:cs typeface="Calibri" pitchFamily="34" charset="-120"/>
              </a:rPr>
              <a:t>Co-branding dan sponsorship</a:t>
            </a:r>
            <a:endParaRPr lang="en-US" sz="1100" dirty="0"/>
          </a:p>
          <a:p>
            <a:pPr indent="0" marL="0">
              <a:buNone/>
            </a:pPr>
            <a:r>
              <a:rPr lang="en-US" sz="1000" dirty="0">
                <a:solidFill>
                  <a:srgbClr val="6E6E6E"/>
                </a:solidFill>
                <a:latin typeface="Calibri" pitchFamily="34" charset="0"/>
                <a:ea typeface="Calibri" pitchFamily="34" charset="-122"/>
                <a:cs typeface="Calibri" pitchFamily="34" charset="-120"/>
              </a:rPr>
              <a:t>Williams F1, Manchester United, wasit Premier League, majalah Time, Tune Hotels, Tune Money.</a:t>
            </a:r>
            <a:endParaRPr lang="en-US" sz="1100" dirty="0"/>
          </a:p>
        </p:txBody>
      </p:sp>
      <p:sp>
        <p:nvSpPr>
          <p:cNvPr id="34" name="Shape 32"/>
          <p:cNvSpPr/>
          <p:nvPr/>
        </p:nvSpPr>
        <p:spPr>
          <a:xfrm>
            <a:off x="8156448" y="4041648"/>
            <a:ext cx="329184" cy="329184"/>
          </a:xfrm>
          <a:prstGeom prst="ellipse">
            <a:avLst/>
          </a:prstGeom>
          <a:solidFill>
            <a:srgbClr val="C8102E"/>
          </a:solidFill>
          <a:ln w="12700">
            <a:solidFill>
              <a:srgbClr val="C8102E"/>
            </a:solidFill>
            <a:prstDash val="solid"/>
          </a:ln>
        </p:spPr>
      </p:sp>
      <p:sp>
        <p:nvSpPr>
          <p:cNvPr id="35" name="Text 33"/>
          <p:cNvSpPr txBox="1"/>
          <p:nvPr/>
        </p:nvSpPr>
        <p:spPr>
          <a:xfrm>
            <a:off x="8156448" y="40416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6" name="Text 34"/>
          <p:cNvSpPr txBox="1"/>
          <p:nvPr/>
        </p:nvSpPr>
        <p:spPr>
          <a:xfrm>
            <a:off x="8595360" y="4023360"/>
            <a:ext cx="2697480" cy="960120"/>
          </a:xfrm>
          <a:prstGeom prst="rect">
            <a:avLst/>
          </a:prstGeom>
          <a:noFill/>
          <a:ln/>
        </p:spPr>
        <p:txBody>
          <a:bodyPr wrap="square" lIns="0" tIns="0" rIns="0" bIns="0" rtlCol="0" anchor="t"/>
          <a:lstStyle/>
          <a:p>
            <a:pPr indent="0" marL="0">
              <a:buNone/>
            </a:pPr>
            <a:r>
              <a:rPr lang="en-US" sz="1100" b="1" dirty="0">
                <a:solidFill>
                  <a:srgbClr val="1C1C1C"/>
                </a:solidFill>
                <a:latin typeface="Calibri" pitchFamily="34" charset="0"/>
                <a:ea typeface="Calibri" pitchFamily="34" charset="-122"/>
                <a:cs typeface="Calibri" pitchFamily="34" charset="-120"/>
              </a:rPr>
              <a:t>Distribusi langsung dan IT</a:t>
            </a:r>
            <a:endParaRPr lang="en-US" sz="1100" dirty="0"/>
          </a:p>
          <a:p>
            <a:pPr indent="0" marL="0">
              <a:buNone/>
            </a:pPr>
            <a:r>
              <a:rPr lang="en-US" sz="1000" dirty="0">
                <a:solidFill>
                  <a:srgbClr val="6E6E6E"/>
                </a:solidFill>
                <a:latin typeface="Calibri" pitchFamily="34" charset="0"/>
                <a:ea typeface="Calibri" pitchFamily="34" charset="-122"/>
                <a:cs typeface="Calibri" pitchFamily="34" charset="-120"/>
              </a:rPr>
              <a:t>Situs web dan call center tanpa komisi agen; CRS Navitaire terhubung ke yield management.</a:t>
            </a:r>
            <a:endParaRPr lang="en-US" sz="1100" dirty="0"/>
          </a:p>
        </p:txBody>
      </p:sp>
      <p:sp>
        <p:nvSpPr>
          <p:cNvPr id="37" name="Shape 35"/>
          <p:cNvSpPr/>
          <p:nvPr/>
        </p:nvSpPr>
        <p:spPr>
          <a:xfrm>
            <a:off x="548640" y="5212080"/>
            <a:ext cx="11064240" cy="685800"/>
          </a:xfrm>
          <a:prstGeom prst="roundRect">
            <a:avLst>
              <a:gd name="adj" fmla="val 10667"/>
            </a:avLst>
          </a:prstGeom>
          <a:solidFill>
            <a:srgbClr val="F4F4F4"/>
          </a:solidFill>
          <a:ln w="12700">
            <a:solidFill>
              <a:srgbClr val="F4F4F4"/>
            </a:solidFill>
            <a:prstDash val="solid"/>
          </a:ln>
        </p:spPr>
      </p:sp>
      <p:sp>
        <p:nvSpPr>
          <p:cNvPr id="38" name="Text 36"/>
          <p:cNvSpPr txBox="1"/>
          <p:nvPr/>
        </p:nvSpPr>
        <p:spPr>
          <a:xfrm>
            <a:off x="777240" y="5266944"/>
            <a:ext cx="10607040" cy="576072"/>
          </a:xfrm>
          <a:prstGeom prst="rect">
            <a:avLst/>
          </a:prstGeom>
          <a:noFill/>
          <a:ln/>
        </p:spPr>
        <p:txBody>
          <a:bodyPr wrap="square" lIns="0" tIns="0" rIns="0" bIns="0" rtlCol="0" anchor="ctr"/>
          <a:lstStyle/>
          <a:p>
            <a:pPr indent="0" marL="0">
              <a:buNone/>
            </a:pPr>
            <a:r>
              <a:rPr lang="en-US" sz="1100" b="1" dirty="0">
                <a:solidFill>
                  <a:srgbClr val="C8102E"/>
                </a:solidFill>
                <a:latin typeface="Calibri" pitchFamily="34" charset="0"/>
                <a:ea typeface="Calibri" pitchFamily="34" charset="-122"/>
                <a:cs typeface="Calibri" pitchFamily="34" charset="-120"/>
              </a:rPr>
              <a:t>Catatan. </a:t>
            </a:r>
            <a:pPr indent="0" marL="0">
              <a:buNone/>
            </a:pPr>
            <a:r>
              <a:rPr lang="en-US" sz="1100" dirty="0">
                <a:solidFill>
                  <a:srgbClr val="1C1C1C"/>
                </a:solidFill>
                <a:latin typeface="Calibri" pitchFamily="34" charset="0"/>
                <a:ea typeface="Calibri" pitchFamily="34" charset="-122"/>
                <a:cs typeface="Calibri" pitchFamily="34" charset="-120"/>
              </a:rPr>
              <a:t>Ketiga pilar ini saling menopang (mutually reinforcing). Keunggulan biaya AirAsia adalah sebuah sistem, bukan satu kebijakan tunggal. Karena itu ia sulit ditiru pesaing, tetapi juga tidak mudah dipindahkan sebagian.</a:t>
            </a:r>
            <a:endParaRPr lang="en-US" sz="1100" dirty="0"/>
          </a:p>
        </p:txBody>
      </p:sp>
      <p:sp>
        <p:nvSpPr>
          <p:cNvPr id="39" name="Text 37"/>
          <p:cNvSpPr txBox="1"/>
          <p:nvPr/>
        </p:nvSpPr>
        <p:spPr>
          <a:xfrm>
            <a:off x="548640" y="6016752"/>
            <a:ext cx="11064240" cy="365760"/>
          </a:xfrm>
          <a:prstGeom prst="rect">
            <a:avLst/>
          </a:prstGeom>
          <a:noFill/>
          <a:ln/>
        </p:spPr>
        <p:txBody>
          <a:bodyPr wrap="square" lIns="0" tIns="0" rIns="0" bIns="0" rtlCol="0" anchor="ctr"/>
          <a:lstStyle/>
          <a:p>
            <a:pPr indent="0" marL="0">
              <a:buNone/>
            </a:pPr>
            <a:r>
              <a:rPr lang="en-US" sz="1050" b="1" dirty="0">
                <a:solidFill>
                  <a:srgbClr val="C8102E"/>
                </a:solidFill>
                <a:latin typeface="Calibri" pitchFamily="34" charset="0"/>
                <a:ea typeface="Calibri" pitchFamily="34" charset="-122"/>
                <a:cs typeface="Calibri" pitchFamily="34" charset="-120"/>
              </a:rPr>
              <a:t>Kaitan.  </a:t>
            </a:r>
            <a:pPr indent="0" marL="0">
              <a:buNone/>
            </a:pPr>
            <a:r>
              <a:rPr lang="en-US" sz="1050" i="1" dirty="0">
                <a:solidFill>
                  <a:srgbClr val="6E6E6E"/>
                </a:solidFill>
                <a:latin typeface="Calibri" pitchFamily="34" charset="0"/>
                <a:ea typeface="Calibri" pitchFamily="34" charset="-122"/>
                <a:cs typeface="Calibri" pitchFamily="34" charset="-120"/>
              </a:rPr>
              <a:t>Sekarang kita punya daftar sumber keunggulan biaya. Slide berikutnya menguji satu per satu: mana yang ikut ke rute jauh dan mana yang tertinggal.</a:t>
            </a:r>
            <a:endParaRPr lang="en-US" sz="1050" dirty="0"/>
          </a:p>
        </p:txBody>
      </p:sp>
      <p:sp>
        <p:nvSpPr>
          <p:cNvPr id="40" name="Text 3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41" name="Text 39"/>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74320"/>
          </a:xfrm>
          <a:prstGeom prst="rect">
            <a:avLst/>
          </a:prstGeom>
          <a:noFill/>
          <a:ln/>
        </p:spPr>
        <p:txBody>
          <a:bodyPr wrap="square" lIns="0" tIns="0" rIns="0" bIns="0" rtlCol="0" anchor="ctr"/>
          <a:lstStyle/>
          <a:p>
            <a:pPr indent="0" marL="0">
              <a:buNone/>
            </a:pPr>
            <a:r>
              <a:rPr lang="en-US" sz="1000" spc="150" kern="0" dirty="0">
                <a:solidFill>
                  <a:srgbClr val="B5B5B5"/>
                </a:solidFill>
                <a:latin typeface="Calibri" pitchFamily="34" charset="0"/>
                <a:ea typeface="Calibri" pitchFamily="34" charset="-122"/>
                <a:cs typeface="Calibri" pitchFamily="34" charset="-120"/>
              </a:rPr>
              <a:t>1  PROBLEM</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2  EXTERNAL ENVIRONMENT</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b="1" spc="150" kern="0" dirty="0">
                <a:solidFill>
                  <a:srgbClr val="C8102E"/>
                </a:solidFill>
                <a:latin typeface="Calibri" pitchFamily="34" charset="0"/>
                <a:ea typeface="Calibri" pitchFamily="34" charset="-122"/>
                <a:cs typeface="Calibri" pitchFamily="34" charset="-120"/>
              </a:rPr>
              <a:t>3  COST POSITION</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4  CHOICE</a:t>
            </a:r>
            <a:endParaRPr lang="en-US" sz="10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indent="0" marL="0">
              <a:buNone/>
            </a:pPr>
            <a:r>
              <a:rPr lang="en-US" sz="3000" b="1" dirty="0">
                <a:solidFill>
                  <a:srgbClr val="1C1C1C"/>
                </a:solidFill>
                <a:latin typeface="Cambria" pitchFamily="34" charset="0"/>
                <a:ea typeface="Cambria" pitchFamily="34" charset="-122"/>
                <a:cs typeface="Cambria" pitchFamily="34" charset="-120"/>
              </a:rPr>
              <a:t>Transferability test</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926080"/>
                <a:gridCol w="1554480"/>
                <a:gridCol w="6583680"/>
              </a:tblGrid>
              <a:tr h="37490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Sumber keunggulan biaya</a:t>
                      </a:r>
                      <a:endParaRPr lang="en-US" sz="110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1C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Transfer ke AirAsia X</a:t>
                      </a:r>
                      <a:endParaRPr lang="en-US" sz="110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1C1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Penjelasan</a:t>
                      </a:r>
                      <a:endParaRPr lang="en-US" sz="110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1C1C"/>
                    </a:solidFill>
                  </a:tcPr>
                </a:tc>
              </a:tr>
              <a:tr h="374904">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Merek dan reputasi</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7D32"/>
                          </a:solidFill>
                          <a:latin typeface="Calibri" pitchFamily="34" charset="0"/>
                          <a:ea typeface="Calibri" pitchFamily="34" charset="-122"/>
                          <a:cs typeface="Calibri" pitchFamily="34" charset="-120"/>
                        </a:rPr>
                        <a:t>PENUH</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Kredibilitas langsung di setiap rute baru; iklan dan sponsorship sudah berskala internasional.</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74904">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Distribusi langsung dan sistem IT</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ctr" indent="0" marL="0">
                        <a:buNone/>
                      </a:pPr>
                      <a:r>
                        <a:rPr lang="en-US" sz="1050" b="1" dirty="0">
                          <a:solidFill>
                            <a:srgbClr val="2E7D32"/>
                          </a:solidFill>
                          <a:latin typeface="Calibri" pitchFamily="34" charset="0"/>
                          <a:ea typeface="Calibri" pitchFamily="34" charset="-122"/>
                          <a:cs typeface="Calibri" pitchFamily="34" charset="-120"/>
                        </a:rPr>
                        <a:t>PENUH</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Situs web, call center, dan CRS dipakai bersama; biaya administrasi dibagi dua maskapai.</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r>
              <a:tr h="374904">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Praktik SDM dan budaya biaya</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7D32"/>
                          </a:solidFill>
                          <a:latin typeface="Calibri" pitchFamily="34" charset="0"/>
                          <a:ea typeface="Calibri" pitchFamily="34" charset="-122"/>
                          <a:cs typeface="Calibri" pitchFamily="34" charset="-120"/>
                        </a:rPr>
                        <a:t>PENUH</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Manajemen dan budaya yang sama; AirAsia X dijalankan dalam ekosistem AirAsia.</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74904">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Bandara sekunder dan tarif rendah</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ctr" indent="0" marL="0">
                        <a:buNone/>
                      </a:pPr>
                      <a:r>
                        <a:rPr lang="en-US" sz="1050" b="1" dirty="0">
                          <a:solidFill>
                            <a:srgbClr val="2E7D32"/>
                          </a:solidFill>
                          <a:latin typeface="Calibri" pitchFamily="34" charset="0"/>
                          <a:ea typeface="Calibri" pitchFamily="34" charset="-122"/>
                          <a:cs typeface="Calibri" pitchFamily="34" charset="-120"/>
                        </a:rPr>
                        <a:t>PENUH</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Stansted, bukan Heathrow: biaya bandara dan navigasi jauh lebih rendah (Tabel 9.4).</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r>
              <a:tr h="374904">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Outsourcing perawatan</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7D32"/>
                          </a:solidFill>
                          <a:latin typeface="Calibri" pitchFamily="34" charset="0"/>
                          <a:ea typeface="Calibri" pitchFamily="34" charset="-122"/>
                          <a:cs typeface="Calibri" pitchFamily="34" charset="-120"/>
                        </a:rPr>
                        <a:t>PENUH</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Kontrak lelang kompetitif tetap berlaku untuk armada berbadan lebar.</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74904">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Pesawat baru hemat bahan bakar</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ctr" indent="0" marL="0">
                        <a:buNone/>
                      </a:pPr>
                      <a:r>
                        <a:rPr lang="en-US" sz="1050" b="1" dirty="0">
                          <a:solidFill>
                            <a:srgbClr val="B26A00"/>
                          </a:solidFill>
                          <a:latin typeface="Calibri" pitchFamily="34" charset="0"/>
                          <a:ea typeface="Calibri" pitchFamily="34" charset="-122"/>
                          <a:cs typeface="Calibri" pitchFamily="34" charset="-120"/>
                        </a:rPr>
                        <a:t>SEBAGIAN</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A330 baru efisien, tetapi A340 untuk London boros: biaya bahan bakar per kursi lebih tinggi.</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r>
              <a:tr h="374904">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Satu tipe pesawat</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8102E"/>
                          </a:solidFill>
                          <a:latin typeface="Calibri" pitchFamily="34" charset="0"/>
                          <a:ea typeface="Calibri" pitchFamily="34" charset="-122"/>
                          <a:cs typeface="Calibri" pitchFamily="34" charset="-120"/>
                        </a:rPr>
                        <a:t>TIDAK</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A320 tidak mampu terbang jauh; armada kedua (A330 dan A340) menambah kompleksitas perawatan dan pelatihan.</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74904">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Turnaround 25 menit dan utilisasi</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ctr" indent="0" marL="0">
                        <a:buNone/>
                      </a:pPr>
                      <a:r>
                        <a:rPr lang="en-US" sz="1050" b="1" dirty="0">
                          <a:solidFill>
                            <a:srgbClr val="C8102E"/>
                          </a:solidFill>
                          <a:latin typeface="Calibri" pitchFamily="34" charset="0"/>
                          <a:ea typeface="Calibri" pitchFamily="34" charset="-122"/>
                          <a:cs typeface="Calibri" pitchFamily="34" charset="-120"/>
                        </a:rPr>
                        <a:t>TIDAK</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Penerbangan 12 jam dibatasi jam kerja kru dan slot; keuntungan turnaround cepat menjadi kecil.</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r>
              <a:tr h="374904">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Satu kelas, tanpa layanan</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8102E"/>
                          </a:solidFill>
                          <a:latin typeface="Calibri" pitchFamily="34" charset="0"/>
                          <a:ea typeface="Calibri" pitchFamily="34" charset="-122"/>
                          <a:cs typeface="Calibri" pitchFamily="34" charset="-120"/>
                        </a:rPr>
                        <a:t>TIDAK</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AirAsia X perlu menyediakan kursi premium, kursi bernomor, dan makanan pesan di muka.</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74904">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Jaringan titik ke titik</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ctr" indent="0" marL="0">
                        <a:buNone/>
                      </a:pPr>
                      <a:r>
                        <a:rPr lang="en-US" sz="1050" b="1" dirty="0">
                          <a:solidFill>
                            <a:srgbClr val="C8102E"/>
                          </a:solidFill>
                          <a:latin typeface="Calibri" pitchFamily="34" charset="0"/>
                          <a:ea typeface="Calibri" pitchFamily="34" charset="-122"/>
                          <a:cs typeface="Calibri" pitchFamily="34" charset="-120"/>
                        </a:rPr>
                        <a:t>TIDAK</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1050" dirty="0">
                          <a:solidFill>
                            <a:srgbClr val="1C1C1C"/>
                          </a:solidFill>
                          <a:latin typeface="Calibri" pitchFamily="34" charset="0"/>
                          <a:ea typeface="Calibri" pitchFamily="34" charset="-122"/>
                          <a:cs typeface="Calibri" pitchFamily="34" charset="-120"/>
                        </a:rPr>
                        <a:t>Rute jauh bergantung pada penumpang transit; tanpa tiket terusan dan transfer bagasi, pengumpan lemah.</a:t>
                      </a:r>
                      <a:endParaRPr lang="en-US" sz="1050" dirty="0">
                        <a:latin typeface="Calibri" charset="0"/>
                        <a:ea typeface="Calibri" charset="0"/>
                        <a:cs typeface="Calibri"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r>
            </a:tbl>
          </a:graphicData>
        </a:graphic>
      </p:graphicFrame>
      <p:sp>
        <p:nvSpPr>
          <p:cNvPr id="5" name="Text 2"/>
          <p:cNvSpPr txBox="1"/>
          <p:nvPr/>
        </p:nvSpPr>
        <p:spPr>
          <a:xfrm>
            <a:off x="548640" y="5577840"/>
            <a:ext cx="11064240" cy="411480"/>
          </a:xfrm>
          <a:prstGeom prst="rect">
            <a:avLst/>
          </a:prstGeom>
          <a:noFill/>
          <a:ln/>
        </p:spPr>
        <p:txBody>
          <a:bodyPr wrap="square" lIns="0" tIns="0" rIns="0" bIns="0" rtlCol="0" anchor="ctr"/>
          <a:lstStyle/>
          <a:p>
            <a:pPr indent="0" marL="0">
              <a:buNone/>
            </a:pPr>
            <a:r>
              <a:rPr lang="en-US" sz="1000" dirty="0">
                <a:solidFill>
                  <a:srgbClr val="6E6E6E"/>
                </a:solidFill>
                <a:latin typeface="Calibri" pitchFamily="34" charset="0"/>
                <a:ea typeface="Calibri" pitchFamily="34" charset="-122"/>
                <a:cs typeface="Calibri" pitchFamily="34" charset="-120"/>
              </a:rPr>
              <a:t>Sumber: Tabel 9.2 dan 9.4 kasus. Yang terbawa adalah keunggulan organisasional (merek, sistem, SDM, budaya); yang hilang adalah keunggulan operasional khas rute pendek, dan itulah inti model LCC klasik.</a:t>
            </a:r>
            <a:endParaRPr lang="en-US" sz="1000" dirty="0"/>
          </a:p>
        </p:txBody>
      </p:sp>
      <p:sp>
        <p:nvSpPr>
          <p:cNvPr id="6" name="Text 3"/>
          <p:cNvSpPr txBox="1"/>
          <p:nvPr/>
        </p:nvSpPr>
        <p:spPr>
          <a:xfrm>
            <a:off x="548640" y="6016752"/>
            <a:ext cx="11064240" cy="365760"/>
          </a:xfrm>
          <a:prstGeom prst="rect">
            <a:avLst/>
          </a:prstGeom>
          <a:noFill/>
          <a:ln/>
        </p:spPr>
        <p:txBody>
          <a:bodyPr wrap="square" lIns="0" tIns="0" rIns="0" bIns="0" rtlCol="0" anchor="ctr"/>
          <a:lstStyle/>
          <a:p>
            <a:pPr indent="0" marL="0">
              <a:buNone/>
            </a:pPr>
            <a:r>
              <a:rPr lang="en-US" sz="1050" b="1" dirty="0">
                <a:solidFill>
                  <a:srgbClr val="C8102E"/>
                </a:solidFill>
                <a:latin typeface="Calibri" pitchFamily="34" charset="0"/>
                <a:ea typeface="Calibri" pitchFamily="34" charset="-122"/>
                <a:cs typeface="Calibri" pitchFamily="34" charset="-120"/>
              </a:rPr>
              <a:t>Kaitan.  </a:t>
            </a:r>
            <a:pPr indent="0" marL="0">
              <a:buNone/>
            </a:pPr>
            <a:r>
              <a:rPr lang="en-US" sz="1050" i="1" dirty="0">
                <a:solidFill>
                  <a:srgbClr val="6E6E6E"/>
                </a:solidFill>
                <a:latin typeface="Calibri" pitchFamily="34" charset="0"/>
                <a:ea typeface="Calibri" pitchFamily="34" charset="-122"/>
                <a:cs typeface="Calibri" pitchFamily="34" charset="-120"/>
              </a:rPr>
              <a:t>Uji ini bersifat kualitatif. Slide berikutnya memeriksa apakah angka nyata di rute KL London mendukung kesimpulan yang sama.</a:t>
            </a:r>
            <a:endParaRPr lang="en-US" sz="1050" dirty="0"/>
          </a:p>
        </p:txBody>
      </p:sp>
      <p:sp>
        <p:nvSpPr>
          <p:cNvPr id="7" name="Text 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8" name="Text 5"/>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74320"/>
          </a:xfrm>
          <a:prstGeom prst="rect">
            <a:avLst/>
          </a:prstGeom>
          <a:noFill/>
          <a:ln/>
        </p:spPr>
        <p:txBody>
          <a:bodyPr wrap="square" lIns="0" tIns="0" rIns="0" bIns="0" rtlCol="0" anchor="ctr"/>
          <a:lstStyle/>
          <a:p>
            <a:pPr indent="0" marL="0">
              <a:buNone/>
            </a:pPr>
            <a:r>
              <a:rPr lang="en-US" sz="1000" spc="150" kern="0" dirty="0">
                <a:solidFill>
                  <a:srgbClr val="B5B5B5"/>
                </a:solidFill>
                <a:latin typeface="Calibri" pitchFamily="34" charset="0"/>
                <a:ea typeface="Calibri" pitchFamily="34" charset="-122"/>
                <a:cs typeface="Calibri" pitchFamily="34" charset="-120"/>
              </a:rPr>
              <a:t>1  PROBLEM</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2  EXTERNAL ENVIRONMENT</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b="1" spc="150" kern="0" dirty="0">
                <a:solidFill>
                  <a:srgbClr val="C8102E"/>
                </a:solidFill>
                <a:latin typeface="Calibri" pitchFamily="34" charset="0"/>
                <a:ea typeface="Calibri" pitchFamily="34" charset="-122"/>
                <a:cs typeface="Calibri" pitchFamily="34" charset="-120"/>
              </a:rPr>
              <a:t>3  COST POSITION</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4  CHOICE</a:t>
            </a:r>
            <a:endParaRPr lang="en-US" sz="10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indent="0" marL="0">
              <a:buNone/>
            </a:pPr>
            <a:r>
              <a:rPr lang="en-US" sz="3000" b="1" dirty="0">
                <a:solidFill>
                  <a:srgbClr val="1C1C1C"/>
                </a:solidFill>
                <a:latin typeface="Cambria" pitchFamily="34" charset="0"/>
                <a:ea typeface="Cambria" pitchFamily="34" charset="-122"/>
                <a:cs typeface="Cambria" pitchFamily="34" charset="-120"/>
              </a:rPr>
              <a:t>Evidence from the KL to London route</a:t>
            </a:r>
            <a:endParaRPr lang="en-US" sz="3000" dirty="0"/>
          </a:p>
        </p:txBody>
      </p:sp>
      <p:graphicFrame>
        <p:nvGraphicFramePr>
          <p:cNvPr id="4" name="Chart 0" descr=""/>
          <p:cNvGraphicFramePr/>
          <p:nvPr/>
        </p:nvGraphicFramePr>
        <p:xfrm>
          <a:off x="548640" y="1417320"/>
          <a:ext cx="594360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617720"/>
            <a:ext cx="5943600" cy="36576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Sumber: Tabel 9.4. Tidak termasuk perawatan, depresiasi, katering, dan gaji kru; belum memperhitungkan perbedaan load factor.</a:t>
            </a:r>
            <a:endParaRPr lang="en-US" sz="900" dirty="0"/>
          </a:p>
        </p:txBody>
      </p:sp>
      <p:graphicFrame>
        <p:nvGraphicFramePr>
          <p:cNvPr id="6" name="Chart 1" descr=""/>
          <p:cNvGraphicFramePr/>
          <p:nvPr/>
        </p:nvGraphicFramePr>
        <p:xfrm>
          <a:off x="6675120" y="1417320"/>
          <a:ext cx="4937760" cy="242316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6675120" y="3931920"/>
            <a:ext cx="2423160" cy="1051560"/>
          </a:xfrm>
          <a:prstGeom prst="roundRect">
            <a:avLst>
              <a:gd name="adj" fmla="val 6957"/>
            </a:avLst>
          </a:prstGeom>
          <a:solidFill>
            <a:srgbClr val="FBE9EC"/>
          </a:solidFill>
          <a:ln w="12700">
            <a:solidFill>
              <a:srgbClr val="FBE9EC"/>
            </a:solidFill>
            <a:prstDash val="solid"/>
          </a:ln>
        </p:spPr>
      </p:sp>
      <p:sp>
        <p:nvSpPr>
          <p:cNvPr id="8" name="Text 4"/>
          <p:cNvSpPr txBox="1"/>
          <p:nvPr/>
        </p:nvSpPr>
        <p:spPr>
          <a:xfrm>
            <a:off x="6812280" y="3959352"/>
            <a:ext cx="2194560" cy="384048"/>
          </a:xfrm>
          <a:prstGeom prst="rect">
            <a:avLst/>
          </a:prstGeom>
          <a:noFill/>
          <a:ln/>
        </p:spPr>
        <p:txBody>
          <a:bodyPr wrap="square" lIns="0" tIns="0" rIns="0" bIns="0" rtlCol="0" anchor="ctr"/>
          <a:lstStyle/>
          <a:p>
            <a:pPr indent="0" marL="0">
              <a:buNone/>
            </a:pPr>
            <a:r>
              <a:rPr lang="en-US" sz="1800" b="1" dirty="0">
                <a:solidFill>
                  <a:srgbClr val="C8102E"/>
                </a:solidFill>
                <a:latin typeface="Cambria" pitchFamily="34" charset="0"/>
                <a:ea typeface="Cambria" pitchFamily="34" charset="-122"/>
                <a:cs typeface="Cambria" pitchFamily="34" charset="-120"/>
              </a:rPr>
              <a:t>36,5%</a:t>
            </a:r>
            <a:endParaRPr lang="en-US" sz="1800" dirty="0"/>
          </a:p>
        </p:txBody>
      </p:sp>
      <p:sp>
        <p:nvSpPr>
          <p:cNvPr id="9" name="Text 5"/>
          <p:cNvSpPr txBox="1"/>
          <p:nvPr/>
        </p:nvSpPr>
        <p:spPr>
          <a:xfrm>
            <a:off x="6812280" y="4343400"/>
            <a:ext cx="2194560" cy="621792"/>
          </a:xfrm>
          <a:prstGeom prst="rect">
            <a:avLst/>
          </a:prstGeom>
          <a:noFill/>
          <a:ln/>
        </p:spPr>
        <p:txBody>
          <a:bodyPr wrap="square" lIns="0" tIns="0" rIns="0" bIns="0" rtlCol="0" anchor="t"/>
          <a:lstStyle/>
          <a:p>
            <a:pPr indent="0" marL="0">
              <a:buNone/>
            </a:pPr>
            <a:r>
              <a:rPr lang="en-US" sz="900" dirty="0">
                <a:solidFill>
                  <a:srgbClr val="1C1C1C"/>
                </a:solidFill>
                <a:latin typeface="Calibri" pitchFamily="34" charset="0"/>
                <a:ea typeface="Calibri" pitchFamily="34" charset="-122"/>
                <a:cs typeface="Calibri" pitchFamily="34" charset="-120"/>
              </a:rPr>
              <a:t>lebih murah: tarif pulang pergi KL London US$433,96 vs rata-rata tarif terendah pesaing US$683,68 (Tabel 9.3)</a:t>
            </a:r>
            <a:endParaRPr lang="en-US" sz="900" dirty="0"/>
          </a:p>
        </p:txBody>
      </p:sp>
      <p:sp>
        <p:nvSpPr>
          <p:cNvPr id="10" name="Shape 6"/>
          <p:cNvSpPr/>
          <p:nvPr/>
        </p:nvSpPr>
        <p:spPr>
          <a:xfrm>
            <a:off x="9189720" y="3931920"/>
            <a:ext cx="2423160" cy="1051560"/>
          </a:xfrm>
          <a:prstGeom prst="roundRect">
            <a:avLst>
              <a:gd name="adj" fmla="val 6957"/>
            </a:avLst>
          </a:prstGeom>
          <a:solidFill>
            <a:srgbClr val="FBE9EC"/>
          </a:solidFill>
          <a:ln w="12700">
            <a:solidFill>
              <a:srgbClr val="FBE9EC"/>
            </a:solidFill>
            <a:prstDash val="solid"/>
          </a:ln>
        </p:spPr>
      </p:sp>
      <p:sp>
        <p:nvSpPr>
          <p:cNvPr id="11" name="Text 7"/>
          <p:cNvSpPr txBox="1"/>
          <p:nvPr/>
        </p:nvSpPr>
        <p:spPr>
          <a:xfrm>
            <a:off x="9326880" y="3959352"/>
            <a:ext cx="2194560" cy="384048"/>
          </a:xfrm>
          <a:prstGeom prst="rect">
            <a:avLst/>
          </a:prstGeom>
          <a:noFill/>
          <a:ln/>
        </p:spPr>
        <p:txBody>
          <a:bodyPr wrap="square" lIns="0" tIns="0" rIns="0" bIns="0" rtlCol="0" anchor="ctr"/>
          <a:lstStyle/>
          <a:p>
            <a:pPr indent="0" marL="0">
              <a:buNone/>
            </a:pPr>
            <a:r>
              <a:rPr lang="en-US" sz="1800" b="1" dirty="0">
                <a:solidFill>
                  <a:srgbClr val="C8102E"/>
                </a:solidFill>
                <a:latin typeface="Cambria" pitchFamily="34" charset="0"/>
                <a:ea typeface="Cambria" pitchFamily="34" charset="-122"/>
                <a:cs typeface="Cambria" pitchFamily="34" charset="-120"/>
              </a:rPr>
              <a:t>Lebih dari 90%</a:t>
            </a:r>
            <a:endParaRPr lang="en-US" sz="1800" dirty="0"/>
          </a:p>
        </p:txBody>
      </p:sp>
      <p:sp>
        <p:nvSpPr>
          <p:cNvPr id="12" name="Text 8"/>
          <p:cNvSpPr txBox="1"/>
          <p:nvPr/>
        </p:nvSpPr>
        <p:spPr>
          <a:xfrm>
            <a:off x="9326880" y="4343400"/>
            <a:ext cx="2194560" cy="621792"/>
          </a:xfrm>
          <a:prstGeom prst="rect">
            <a:avLst/>
          </a:prstGeom>
          <a:noFill/>
          <a:ln/>
        </p:spPr>
        <p:txBody>
          <a:bodyPr wrap="square" lIns="0" tIns="0" rIns="0" bIns="0" rtlCol="0" anchor="t"/>
          <a:lstStyle/>
          <a:p>
            <a:pPr indent="0" marL="0">
              <a:buNone/>
            </a:pPr>
            <a:r>
              <a:rPr lang="en-US" sz="900" dirty="0">
                <a:solidFill>
                  <a:srgbClr val="1C1C1C"/>
                </a:solidFill>
                <a:latin typeface="Calibri" pitchFamily="34" charset="0"/>
                <a:ea typeface="Calibri" pitchFamily="34" charset="-122"/>
                <a:cs typeface="Calibri" pitchFamily="34" charset="-120"/>
              </a:rPr>
              <a:t>load factor yang dilaporkan AirAsia X di rute KL London, di atas rata-rata industri</a:t>
            </a:r>
            <a:endParaRPr lang="en-US" sz="900" dirty="0"/>
          </a:p>
        </p:txBody>
      </p:sp>
      <p:sp>
        <p:nvSpPr>
          <p:cNvPr id="13" name="Shape 9"/>
          <p:cNvSpPr/>
          <p:nvPr/>
        </p:nvSpPr>
        <p:spPr>
          <a:xfrm>
            <a:off x="548640" y="5074920"/>
            <a:ext cx="11064240" cy="868680"/>
          </a:xfrm>
          <a:prstGeom prst="roundRect">
            <a:avLst>
              <a:gd name="adj" fmla="val 8421"/>
            </a:avLst>
          </a:prstGeom>
          <a:solidFill>
            <a:srgbClr val="F4F4F4"/>
          </a:solidFill>
          <a:ln w="12700">
            <a:solidFill>
              <a:srgbClr val="F4F4F4"/>
            </a:solidFill>
            <a:prstDash val="solid"/>
          </a:ln>
        </p:spPr>
      </p:sp>
      <p:sp>
        <p:nvSpPr>
          <p:cNvPr id="14" name="Text 10"/>
          <p:cNvSpPr txBox="1"/>
          <p:nvPr/>
        </p:nvSpPr>
        <p:spPr>
          <a:xfrm>
            <a:off x="777240" y="5129784"/>
            <a:ext cx="10607040" cy="758952"/>
          </a:xfrm>
          <a:prstGeom prst="rect">
            <a:avLst/>
          </a:prstGeom>
          <a:noFill/>
          <a:ln/>
        </p:spPr>
        <p:txBody>
          <a:bodyPr wrap="square" lIns="0" tIns="0" rIns="0" bIns="0" rtlCol="0" anchor="ctr"/>
          <a:lstStyle/>
          <a:p>
            <a:pPr indent="0" marL="0">
              <a:buNone/>
            </a:pPr>
            <a:r>
              <a:rPr lang="en-US" sz="1050" b="1" dirty="0">
                <a:solidFill>
                  <a:srgbClr val="C8102E"/>
                </a:solidFill>
                <a:latin typeface="Calibri" pitchFamily="34" charset="0"/>
                <a:ea typeface="Calibri" pitchFamily="34" charset="-122"/>
                <a:cs typeface="Calibri" pitchFamily="34" charset="-120"/>
              </a:rPr>
              <a:t>Pembacaan kritis. </a:t>
            </a:r>
            <a:pPr indent="0" marL="0">
              <a:buNone/>
            </a:pPr>
            <a:r>
              <a:rPr lang="en-US" sz="1050" dirty="0">
                <a:solidFill>
                  <a:srgbClr val="1C1C1C"/>
                </a:solidFill>
                <a:latin typeface="Calibri" pitchFamily="34" charset="0"/>
                <a:ea typeface="Calibri" pitchFamily="34" charset="-122"/>
                <a:cs typeface="Calibri" pitchFamily="34" charset="-120"/>
              </a:rPr>
              <a:t>Selisih biaya terlihat besar, tetapi tabel mengecualikan pos yang justru membesar di rute jauh: gaji kru yang bermalam, perawatan pesawat berbadan lebar, dan katering. AirAsia X juga hanya membawa 286 penumpang per penerbangan dibanding 337 sampai 360 pada pesaing. Keunggulan biaya per penumpang nyata, namun lebih tipis daripada yang tampak.</a:t>
            </a:r>
            <a:endParaRPr lang="en-US" sz="1050" dirty="0"/>
          </a:p>
        </p:txBody>
      </p:sp>
      <p:sp>
        <p:nvSpPr>
          <p:cNvPr id="15" name="Text 11"/>
          <p:cNvSpPr txBox="1"/>
          <p:nvPr/>
        </p:nvSpPr>
        <p:spPr>
          <a:xfrm>
            <a:off x="548640" y="6016752"/>
            <a:ext cx="11064240" cy="365760"/>
          </a:xfrm>
          <a:prstGeom prst="rect">
            <a:avLst/>
          </a:prstGeom>
          <a:noFill/>
          <a:ln/>
        </p:spPr>
        <p:txBody>
          <a:bodyPr wrap="square" lIns="0" tIns="0" rIns="0" bIns="0" rtlCol="0" anchor="ctr"/>
          <a:lstStyle/>
          <a:p>
            <a:pPr indent="0" marL="0">
              <a:buNone/>
            </a:pPr>
            <a:r>
              <a:rPr lang="en-US" sz="1050" b="1" dirty="0">
                <a:solidFill>
                  <a:srgbClr val="C8102E"/>
                </a:solidFill>
                <a:latin typeface="Calibri" pitchFamily="34" charset="0"/>
                <a:ea typeface="Calibri" pitchFamily="34" charset="-122"/>
                <a:cs typeface="Calibri" pitchFamily="34" charset="-120"/>
              </a:rPr>
              <a:t>Kaitan.  </a:t>
            </a:r>
            <a:pPr indent="0" marL="0">
              <a:buNone/>
            </a:pPr>
            <a:r>
              <a:rPr lang="en-US" sz="1050" i="1" dirty="0">
                <a:solidFill>
                  <a:srgbClr val="6E6E6E"/>
                </a:solidFill>
                <a:latin typeface="Calibri" pitchFamily="34" charset="0"/>
                <a:ea typeface="Calibri" pitchFamily="34" charset="-122"/>
                <a:cs typeface="Calibri" pitchFamily="34" charset="-120"/>
              </a:rPr>
              <a:t>Tahap ketiga selesai: keunggulan biaya sebagian terbawa, dan buktinya positif tetapi tipis. Tahap keempat merumuskan isu yang harus dijawab sebelum memilih.</a:t>
            </a:r>
            <a:endParaRPr lang="en-US" sz="1050" dirty="0"/>
          </a:p>
        </p:txBody>
      </p:sp>
      <p:sp>
        <p:nvSpPr>
          <p:cNvPr id="16" name="Text 1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17" name="Text 13"/>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74320"/>
          </a:xfrm>
          <a:prstGeom prst="rect">
            <a:avLst/>
          </a:prstGeom>
          <a:noFill/>
          <a:ln/>
        </p:spPr>
        <p:txBody>
          <a:bodyPr wrap="square" lIns="0" tIns="0" rIns="0" bIns="0" rtlCol="0" anchor="ctr"/>
          <a:lstStyle/>
          <a:p>
            <a:pPr indent="0" marL="0">
              <a:buNone/>
            </a:pPr>
            <a:r>
              <a:rPr lang="en-US" sz="1000" spc="150" kern="0" dirty="0">
                <a:solidFill>
                  <a:srgbClr val="B5B5B5"/>
                </a:solidFill>
                <a:latin typeface="Calibri" pitchFamily="34" charset="0"/>
                <a:ea typeface="Calibri" pitchFamily="34" charset="-122"/>
                <a:cs typeface="Calibri" pitchFamily="34" charset="-120"/>
              </a:rPr>
              <a:t>1  PROBLEM</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2  EXTERNAL ENVIRONMENT</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3  COST POSITION</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b="1" spc="150" kern="0" dirty="0">
                <a:solidFill>
                  <a:srgbClr val="C8102E"/>
                </a:solidFill>
                <a:latin typeface="Calibri" pitchFamily="34" charset="0"/>
                <a:ea typeface="Calibri" pitchFamily="34" charset="-122"/>
                <a:cs typeface="Calibri" pitchFamily="34" charset="-120"/>
              </a:rPr>
              <a:t>4  CHOICE</a:t>
            </a:r>
            <a:endParaRPr lang="en-US" sz="10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indent="0" marL="0">
              <a:buNone/>
            </a:pPr>
            <a:r>
              <a:rPr lang="en-US" sz="3000" b="1" dirty="0">
                <a:solidFill>
                  <a:srgbClr val="1C1C1C"/>
                </a:solidFill>
                <a:latin typeface="Cambria" pitchFamily="34" charset="0"/>
                <a:ea typeface="Cambria" pitchFamily="34" charset="-122"/>
                <a:cs typeface="Cambria" pitchFamily="34" charset="-120"/>
              </a:rPr>
              <a:t>Key issues</a:t>
            </a:r>
            <a:endParaRPr lang="en-US" sz="3000" dirty="0"/>
          </a:p>
        </p:txBody>
      </p:sp>
      <p:sp>
        <p:nvSpPr>
          <p:cNvPr id="4" name="Shape 2"/>
          <p:cNvSpPr/>
          <p:nvPr/>
        </p:nvSpPr>
        <p:spPr>
          <a:xfrm>
            <a:off x="548640" y="1417320"/>
            <a:ext cx="5440680" cy="1389888"/>
          </a:xfrm>
          <a:prstGeom prst="roundRect">
            <a:avLst>
              <a:gd name="adj" fmla="val 5263"/>
            </a:avLst>
          </a:prstGeom>
          <a:solidFill>
            <a:srgbClr val="F4F4F4"/>
          </a:solidFill>
          <a:ln w="12700">
            <a:solidFill>
              <a:srgbClr val="F4F4F4"/>
            </a:solidFill>
            <a:prstDash val="solid"/>
          </a:ln>
        </p:spPr>
      </p:sp>
      <p:sp>
        <p:nvSpPr>
          <p:cNvPr id="5" name="Shape 3"/>
          <p:cNvSpPr/>
          <p:nvPr/>
        </p:nvSpPr>
        <p:spPr>
          <a:xfrm>
            <a:off x="713232" y="1563624"/>
            <a:ext cx="384048" cy="384048"/>
          </a:xfrm>
          <a:prstGeom prst="ellipse">
            <a:avLst/>
          </a:prstGeom>
          <a:solidFill>
            <a:srgbClr val="C8102E"/>
          </a:solidFill>
          <a:ln w="12700">
            <a:solidFill>
              <a:srgbClr val="C8102E"/>
            </a:solidFill>
            <a:prstDash val="solid"/>
          </a:ln>
        </p:spPr>
      </p:sp>
      <p:sp>
        <p:nvSpPr>
          <p:cNvPr id="6" name="Text 4"/>
          <p:cNvSpPr txBox="1"/>
          <p:nvPr/>
        </p:nvSpPr>
        <p:spPr>
          <a:xfrm>
            <a:off x="713232" y="1563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207008" y="1490472"/>
            <a:ext cx="4617720" cy="1243584"/>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Apakah pasar LCC jarak jauh cukup besar dan benar-benar kurang terlayani?</a:t>
            </a:r>
            <a:endParaRPr lang="en-US" sz="1150" dirty="0"/>
          </a:p>
          <a:p>
            <a:pPr indent="0" marL="0">
              <a:buNone/>
            </a:pPr>
            <a:r>
              <a:rPr lang="en-US" sz="950" dirty="0">
                <a:solidFill>
                  <a:srgbClr val="6E6E6E"/>
                </a:solidFill>
                <a:latin typeface="Calibri" pitchFamily="34" charset="0"/>
                <a:ea typeface="Calibri" pitchFamily="34" charset="-122"/>
                <a:cs typeface="Calibri" pitchFamily="34" charset="-120"/>
              </a:rPr>
              <a:t>Di rute regional AirAsia menciptakan pasar baru. Di rute KL London, ia harus merebut penumpang dari enam maskapai mapan. Tarif 36,5 persen lebih murah menjadi daya tarik, tetapi elastisitas permintaan jarak jauh belum terbukti.</a:t>
            </a:r>
            <a:endParaRPr lang="en-US" sz="1150" dirty="0"/>
          </a:p>
        </p:txBody>
      </p:sp>
      <p:sp>
        <p:nvSpPr>
          <p:cNvPr id="8" name="Shape 6"/>
          <p:cNvSpPr/>
          <p:nvPr/>
        </p:nvSpPr>
        <p:spPr>
          <a:xfrm>
            <a:off x="548640" y="2926080"/>
            <a:ext cx="5440680" cy="1389888"/>
          </a:xfrm>
          <a:prstGeom prst="roundRect">
            <a:avLst>
              <a:gd name="adj" fmla="val 5263"/>
            </a:avLst>
          </a:prstGeom>
          <a:solidFill>
            <a:srgbClr val="F4F4F4"/>
          </a:solidFill>
          <a:ln w="12700">
            <a:solidFill>
              <a:srgbClr val="F4F4F4"/>
            </a:solidFill>
            <a:prstDash val="solid"/>
          </a:ln>
        </p:spPr>
      </p:sp>
      <p:sp>
        <p:nvSpPr>
          <p:cNvPr id="9" name="Shape 7"/>
          <p:cNvSpPr/>
          <p:nvPr/>
        </p:nvSpPr>
        <p:spPr>
          <a:xfrm>
            <a:off x="713232" y="3072384"/>
            <a:ext cx="384048" cy="384048"/>
          </a:xfrm>
          <a:prstGeom prst="ellipse">
            <a:avLst/>
          </a:prstGeom>
          <a:solidFill>
            <a:srgbClr val="C8102E"/>
          </a:solidFill>
          <a:ln w="12700">
            <a:solidFill>
              <a:srgbClr val="C8102E"/>
            </a:solidFill>
            <a:prstDash val="solid"/>
          </a:ln>
        </p:spPr>
      </p:sp>
      <p:sp>
        <p:nvSpPr>
          <p:cNvPr id="10" name="Text 8"/>
          <p:cNvSpPr txBox="1"/>
          <p:nvPr/>
        </p:nvSpPr>
        <p:spPr>
          <a:xfrm>
            <a:off x="713232" y="307238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207008" y="2999232"/>
            <a:ext cx="4617720" cy="1243584"/>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Bagaimana network carriers akan merespons?</a:t>
            </a:r>
            <a:endParaRPr lang="en-US" sz="1150" dirty="0"/>
          </a:p>
          <a:p>
            <a:pPr indent="0" marL="0">
              <a:buNone/>
            </a:pPr>
            <a:r>
              <a:rPr lang="en-US" sz="950" dirty="0">
                <a:solidFill>
                  <a:srgbClr val="6E6E6E"/>
                </a:solidFill>
                <a:latin typeface="Calibri" pitchFamily="34" charset="0"/>
                <a:ea typeface="Calibri" pitchFamily="34" charset="-122"/>
                <a:cs typeface="Calibri" pitchFamily="34" charset="-120"/>
              </a:rPr>
              <a:t>Emirates, BA, dan MAS memperoleh laba dari kelas premium. Mereka mampu menurunkan tarif ekonomi ke tingkat yang merugikan AirAsia X tanpa mengorbankan laba total. Perang harga di rute jauh berpihak pada yang punya subsidi silang.</a:t>
            </a:r>
            <a:endParaRPr lang="en-US" sz="1150" dirty="0"/>
          </a:p>
        </p:txBody>
      </p:sp>
      <p:sp>
        <p:nvSpPr>
          <p:cNvPr id="12" name="Shape 10"/>
          <p:cNvSpPr/>
          <p:nvPr/>
        </p:nvSpPr>
        <p:spPr>
          <a:xfrm>
            <a:off x="548640" y="4434840"/>
            <a:ext cx="5440680" cy="1389888"/>
          </a:xfrm>
          <a:prstGeom prst="roundRect">
            <a:avLst>
              <a:gd name="adj" fmla="val 5263"/>
            </a:avLst>
          </a:prstGeom>
          <a:solidFill>
            <a:srgbClr val="F4F4F4"/>
          </a:solidFill>
          <a:ln w="12700">
            <a:solidFill>
              <a:srgbClr val="F4F4F4"/>
            </a:solidFill>
            <a:prstDash val="solid"/>
          </a:ln>
        </p:spPr>
      </p:sp>
      <p:sp>
        <p:nvSpPr>
          <p:cNvPr id="13" name="Shape 11"/>
          <p:cNvSpPr/>
          <p:nvPr/>
        </p:nvSpPr>
        <p:spPr>
          <a:xfrm>
            <a:off x="713232" y="4581144"/>
            <a:ext cx="384048" cy="384048"/>
          </a:xfrm>
          <a:prstGeom prst="ellipse">
            <a:avLst/>
          </a:prstGeom>
          <a:solidFill>
            <a:srgbClr val="C8102E"/>
          </a:solidFill>
          <a:ln w="12700">
            <a:solidFill>
              <a:srgbClr val="C8102E"/>
            </a:solidFill>
            <a:prstDash val="solid"/>
          </a:ln>
        </p:spPr>
      </p:sp>
      <p:sp>
        <p:nvSpPr>
          <p:cNvPr id="14" name="Text 12"/>
          <p:cNvSpPr txBox="1"/>
          <p:nvPr/>
        </p:nvSpPr>
        <p:spPr>
          <a:xfrm>
            <a:off x="713232" y="45811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1207008" y="4507992"/>
            <a:ext cx="4617720" cy="1243584"/>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Seberapa besar toleransi finansial AirAsia terhadap kegagalan?</a:t>
            </a:r>
            <a:endParaRPr lang="en-US" sz="1150" dirty="0"/>
          </a:p>
          <a:p>
            <a:pPr indent="0" marL="0">
              <a:buNone/>
            </a:pPr>
            <a:r>
              <a:rPr lang="en-US" sz="950" dirty="0">
                <a:solidFill>
                  <a:srgbClr val="6E6E6E"/>
                </a:solidFill>
                <a:latin typeface="Calibri" pitchFamily="34" charset="0"/>
                <a:ea typeface="Calibri" pitchFamily="34" charset="-122"/>
                <a:cs typeface="Calibri" pitchFamily="34" charset="-120"/>
              </a:rPr>
              <a:t>Utang RM 6,69 miliar berbanding ekuitas RM 1,61 miliar, kas RM 153,8 juta, dan pesanan 10 A350 untuk 2016. Satu kesalahan lindung nilai pada 2008 sudah menghapus laba. Tidak ada bantalan untuk eksperimen yang lama merugi.</a:t>
            </a:r>
            <a:endParaRPr lang="en-US" sz="1150" dirty="0"/>
          </a:p>
        </p:txBody>
      </p:sp>
      <p:sp>
        <p:nvSpPr>
          <p:cNvPr id="16" name="Shape 14"/>
          <p:cNvSpPr/>
          <p:nvPr/>
        </p:nvSpPr>
        <p:spPr>
          <a:xfrm>
            <a:off x="6217920" y="1417320"/>
            <a:ext cx="5440680" cy="1389888"/>
          </a:xfrm>
          <a:prstGeom prst="roundRect">
            <a:avLst>
              <a:gd name="adj" fmla="val 5263"/>
            </a:avLst>
          </a:prstGeom>
          <a:solidFill>
            <a:srgbClr val="F4F4F4"/>
          </a:solidFill>
          <a:ln w="12700">
            <a:solidFill>
              <a:srgbClr val="F4F4F4"/>
            </a:solidFill>
            <a:prstDash val="solid"/>
          </a:ln>
        </p:spPr>
      </p:sp>
      <p:sp>
        <p:nvSpPr>
          <p:cNvPr id="17" name="Shape 15"/>
          <p:cNvSpPr/>
          <p:nvPr/>
        </p:nvSpPr>
        <p:spPr>
          <a:xfrm>
            <a:off x="6382512" y="1563624"/>
            <a:ext cx="384048" cy="384048"/>
          </a:xfrm>
          <a:prstGeom prst="ellipse">
            <a:avLst/>
          </a:prstGeom>
          <a:solidFill>
            <a:srgbClr val="C8102E"/>
          </a:solidFill>
          <a:ln w="12700">
            <a:solidFill>
              <a:srgbClr val="C8102E"/>
            </a:solidFill>
            <a:prstDash val="solid"/>
          </a:ln>
        </p:spPr>
      </p:sp>
      <p:sp>
        <p:nvSpPr>
          <p:cNvPr id="18" name="Text 16"/>
          <p:cNvSpPr txBox="1"/>
          <p:nvPr/>
        </p:nvSpPr>
        <p:spPr>
          <a:xfrm>
            <a:off x="6382512" y="1563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txBox="1"/>
          <p:nvPr/>
        </p:nvSpPr>
        <p:spPr>
          <a:xfrm>
            <a:off x="6876288" y="1490472"/>
            <a:ext cx="4617720" cy="1243584"/>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Dapatkah eksploitasi dan eksplorasi berjalan dalam satu organisasi tanpa saling mengganggu?</a:t>
            </a:r>
            <a:endParaRPr lang="en-US" sz="1150" dirty="0"/>
          </a:p>
          <a:p>
            <a:pPr indent="0" marL="0">
              <a:buNone/>
            </a:pPr>
            <a:r>
              <a:rPr lang="en-US" sz="950" dirty="0">
                <a:solidFill>
                  <a:srgbClr val="6E6E6E"/>
                </a:solidFill>
                <a:latin typeface="Calibri" pitchFamily="34" charset="0"/>
                <a:ea typeface="Calibri" pitchFamily="34" charset="-122"/>
                <a:cs typeface="Calibri" pitchFamily="34" charset="-120"/>
              </a:rPr>
              <a:t>Dua armada, dua pola kru, dua tingkat layanan. Literatur ambidexterity (O'Reilly dan Tushman) menyebut dua jalan: dipisahkan secara struktural atau dipadukan dalam satu konteks. Berbagi merek, IT, dan administrasi memberi efisiensi, tetapi juga membawa kompleksitas.</a:t>
            </a:r>
            <a:endParaRPr lang="en-US" sz="1150" dirty="0"/>
          </a:p>
        </p:txBody>
      </p:sp>
      <p:sp>
        <p:nvSpPr>
          <p:cNvPr id="20" name="Shape 18"/>
          <p:cNvSpPr/>
          <p:nvPr/>
        </p:nvSpPr>
        <p:spPr>
          <a:xfrm>
            <a:off x="6217920" y="2926080"/>
            <a:ext cx="5440680" cy="1389888"/>
          </a:xfrm>
          <a:prstGeom prst="roundRect">
            <a:avLst>
              <a:gd name="adj" fmla="val 5263"/>
            </a:avLst>
          </a:prstGeom>
          <a:solidFill>
            <a:srgbClr val="F4F4F4"/>
          </a:solidFill>
          <a:ln w="12700">
            <a:solidFill>
              <a:srgbClr val="F4F4F4"/>
            </a:solidFill>
            <a:prstDash val="solid"/>
          </a:ln>
        </p:spPr>
      </p:sp>
      <p:sp>
        <p:nvSpPr>
          <p:cNvPr id="21" name="Shape 19"/>
          <p:cNvSpPr/>
          <p:nvPr/>
        </p:nvSpPr>
        <p:spPr>
          <a:xfrm>
            <a:off x="6382512" y="3072384"/>
            <a:ext cx="384048" cy="384048"/>
          </a:xfrm>
          <a:prstGeom prst="ellipse">
            <a:avLst/>
          </a:prstGeom>
          <a:solidFill>
            <a:srgbClr val="C8102E"/>
          </a:solidFill>
          <a:ln w="12700">
            <a:solidFill>
              <a:srgbClr val="C8102E"/>
            </a:solidFill>
            <a:prstDash val="solid"/>
          </a:ln>
        </p:spPr>
      </p:sp>
      <p:sp>
        <p:nvSpPr>
          <p:cNvPr id="22" name="Text 20"/>
          <p:cNvSpPr txBox="1"/>
          <p:nvPr/>
        </p:nvSpPr>
        <p:spPr>
          <a:xfrm>
            <a:off x="6382512" y="307238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txBox="1"/>
          <p:nvPr/>
        </p:nvSpPr>
        <p:spPr>
          <a:xfrm>
            <a:off x="6876288" y="2999232"/>
            <a:ext cx="4617720" cy="1243584"/>
          </a:xfrm>
          <a:prstGeom prst="rect">
            <a:avLst/>
          </a:prstGeom>
          <a:noFill/>
          <a:ln/>
        </p:spPr>
        <p:txBody>
          <a:bodyPr wrap="square" lIns="0" tIns="0" rIns="0" bIns="0" rtlCol="0" anchor="t"/>
          <a:lstStyle/>
          <a:p>
            <a:pPr indent="0" marL="0">
              <a:buNone/>
            </a:pPr>
            <a:r>
              <a:rPr lang="en-US" sz="1150" b="1" dirty="0">
                <a:solidFill>
                  <a:srgbClr val="1C1C1C"/>
                </a:solidFill>
                <a:latin typeface="Calibri" pitchFamily="34" charset="0"/>
                <a:ea typeface="Calibri" pitchFamily="34" charset="-122"/>
                <a:cs typeface="Calibri" pitchFamily="34" charset="-120"/>
              </a:rPr>
              <a:t>Apakah tata kelola AirAsia X selaras dengan kepentingan AirAsia?</a:t>
            </a:r>
            <a:endParaRPr lang="en-US" sz="1150" dirty="0"/>
          </a:p>
          <a:p>
            <a:pPr indent="0" marL="0">
              <a:buNone/>
            </a:pPr>
            <a:r>
              <a:rPr lang="en-US" sz="950" dirty="0">
                <a:solidFill>
                  <a:srgbClr val="6E6E6E"/>
                </a:solidFill>
                <a:latin typeface="Calibri" pitchFamily="34" charset="0"/>
                <a:ea typeface="Calibri" pitchFamily="34" charset="-122"/>
                <a:cs typeface="Calibri" pitchFamily="34" charset="-120"/>
              </a:rPr>
              <a:t>AirAsia hanya memegang 16 persen (opsi hingga 30 persen); Aero Ventures milik Fernandes 48 persen, Virgin 16 persen, Manara dan Orix 20 persen. Ini tata kelola hibrida (hybrid governance) khas portofolio aliansi. Kritik publik menyebut merger sebagai cara membiayai kerugian AirAsia X; Azran membantah dengan laba bersih RM 18 juta pada kuartal pertama 2009.</a:t>
            </a:r>
            <a:endParaRPr lang="en-US" sz="1150" dirty="0"/>
          </a:p>
        </p:txBody>
      </p:sp>
      <p:sp>
        <p:nvSpPr>
          <p:cNvPr id="24" name="Shape 22"/>
          <p:cNvSpPr/>
          <p:nvPr/>
        </p:nvSpPr>
        <p:spPr>
          <a:xfrm>
            <a:off x="6217920" y="4434840"/>
            <a:ext cx="5440680" cy="1389888"/>
          </a:xfrm>
          <a:prstGeom prst="roundRect">
            <a:avLst>
              <a:gd name="adj" fmla="val 5263"/>
            </a:avLst>
          </a:prstGeom>
          <a:solidFill>
            <a:srgbClr val="1C1C1C"/>
          </a:solidFill>
          <a:ln w="12700">
            <a:solidFill>
              <a:srgbClr val="1C1C1C"/>
            </a:solidFill>
            <a:prstDash val="solid"/>
          </a:ln>
        </p:spPr>
      </p:sp>
      <p:sp>
        <p:nvSpPr>
          <p:cNvPr id="25" name="Text 23"/>
          <p:cNvSpPr txBox="1"/>
          <p:nvPr/>
        </p:nvSpPr>
        <p:spPr>
          <a:xfrm>
            <a:off x="6400800" y="4507992"/>
            <a:ext cx="5074920" cy="1243584"/>
          </a:xfrm>
          <a:prstGeom prst="rect">
            <a:avLst/>
          </a:prstGeom>
          <a:noFill/>
          <a:ln/>
        </p:spPr>
        <p:txBody>
          <a:bodyPr wrap="square" lIns="0" tIns="0" rIns="0" bIns="0" rtlCol="0" anchor="ctr"/>
          <a:lstStyle/>
          <a:p>
            <a:pPr indent="0" marL="0">
              <a:buNone/>
            </a:pPr>
            <a:r>
              <a:rPr lang="en-US" sz="1200" b="1" dirty="0">
                <a:solidFill>
                  <a:srgbClr val="F1C7CF"/>
                </a:solidFill>
                <a:latin typeface="Calibri" pitchFamily="34" charset="0"/>
                <a:ea typeface="Calibri" pitchFamily="34" charset="-122"/>
                <a:cs typeface="Calibri" pitchFamily="34" charset="-120"/>
              </a:rPr>
              <a:t>Benang merah</a:t>
            </a:r>
            <a:endParaRPr lang="en-US" sz="1200" dirty="0"/>
          </a:p>
          <a:p>
            <a:pPr indent="0" marL="0">
              <a:buNone/>
            </a:pPr>
            <a:r>
              <a:rPr lang="en-US" sz="1100" dirty="0">
                <a:solidFill>
                  <a:srgbClr val="FFFFFF"/>
                </a:solidFill>
                <a:latin typeface="Calibri" pitchFamily="34" charset="0"/>
                <a:ea typeface="Calibri" pitchFamily="34" charset="-122"/>
                <a:cs typeface="Calibri" pitchFamily="34" charset="-120"/>
              </a:rPr>
              <a:t>Isu 1 dan 2 berasal dari tahap lingkungan eksternal; isu 3 berasal dari tahap posisi biaya; isu 4 dan 5 soal organisasi dan tata kelola. Alternatif yang baik harus menjawab semuanya, bukan hanya sebagian.</a:t>
            </a:r>
            <a:endParaRPr lang="en-US" sz="1200" dirty="0"/>
          </a:p>
        </p:txBody>
      </p:sp>
      <p:sp>
        <p:nvSpPr>
          <p:cNvPr id="26" name="Text 24"/>
          <p:cNvSpPr txBox="1"/>
          <p:nvPr/>
        </p:nvSpPr>
        <p:spPr>
          <a:xfrm>
            <a:off x="548640" y="6016752"/>
            <a:ext cx="11064240" cy="365760"/>
          </a:xfrm>
          <a:prstGeom prst="rect">
            <a:avLst/>
          </a:prstGeom>
          <a:noFill/>
          <a:ln/>
        </p:spPr>
        <p:txBody>
          <a:bodyPr wrap="square" lIns="0" tIns="0" rIns="0" bIns="0" rtlCol="0" anchor="ctr"/>
          <a:lstStyle/>
          <a:p>
            <a:pPr indent="0" marL="0">
              <a:buNone/>
            </a:pPr>
            <a:r>
              <a:rPr lang="en-US" sz="1050" b="1" dirty="0">
                <a:solidFill>
                  <a:srgbClr val="C8102E"/>
                </a:solidFill>
                <a:latin typeface="Calibri" pitchFamily="34" charset="0"/>
                <a:ea typeface="Calibri" pitchFamily="34" charset="-122"/>
                <a:cs typeface="Calibri" pitchFamily="34" charset="-120"/>
              </a:rPr>
              <a:t>Kaitan.  </a:t>
            </a:r>
            <a:pPr indent="0" marL="0">
              <a:buNone/>
            </a:pPr>
            <a:r>
              <a:rPr lang="en-US" sz="1050" i="1" dirty="0">
                <a:solidFill>
                  <a:srgbClr val="6E6E6E"/>
                </a:solidFill>
                <a:latin typeface="Calibri" pitchFamily="34" charset="0"/>
                <a:ea typeface="Calibri" pitchFamily="34" charset="-122"/>
                <a:cs typeface="Calibri" pitchFamily="34" charset="-120"/>
              </a:rPr>
              <a:t>Lima pertanyaan ini menjadi kriteria penilaian. Slide berikutnya menyajikan tiga alternatif yang akan diuji terhadapnya.</a:t>
            </a:r>
            <a:endParaRPr lang="en-US" sz="1050" dirty="0"/>
          </a:p>
        </p:txBody>
      </p:sp>
      <p:sp>
        <p:nvSpPr>
          <p:cNvPr id="27" name="Text 2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28" name="Text 26"/>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74320"/>
          </a:xfrm>
          <a:prstGeom prst="rect">
            <a:avLst/>
          </a:prstGeom>
          <a:noFill/>
          <a:ln/>
        </p:spPr>
        <p:txBody>
          <a:bodyPr wrap="square" lIns="0" tIns="0" rIns="0" bIns="0" rtlCol="0" anchor="ctr"/>
          <a:lstStyle/>
          <a:p>
            <a:pPr indent="0" marL="0">
              <a:buNone/>
            </a:pPr>
            <a:r>
              <a:rPr lang="en-US" sz="1000" spc="150" kern="0" dirty="0">
                <a:solidFill>
                  <a:srgbClr val="B5B5B5"/>
                </a:solidFill>
                <a:latin typeface="Calibri" pitchFamily="34" charset="0"/>
                <a:ea typeface="Calibri" pitchFamily="34" charset="-122"/>
                <a:cs typeface="Calibri" pitchFamily="34" charset="-120"/>
              </a:rPr>
              <a:t>1  PROBLEM</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2  EXTERNAL ENVIRONMENT</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3  COST POSITION</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b="1" spc="150" kern="0" dirty="0">
                <a:solidFill>
                  <a:srgbClr val="C8102E"/>
                </a:solidFill>
                <a:latin typeface="Calibri" pitchFamily="34" charset="0"/>
                <a:ea typeface="Calibri" pitchFamily="34" charset="-122"/>
                <a:cs typeface="Calibri" pitchFamily="34" charset="-120"/>
              </a:rPr>
              <a:t>4  CHOICE</a:t>
            </a:r>
            <a:endParaRPr lang="en-US" sz="10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indent="0" marL="0">
              <a:buNone/>
            </a:pPr>
            <a:r>
              <a:rPr lang="en-US" sz="3000" b="1" dirty="0">
                <a:solidFill>
                  <a:srgbClr val="1C1C1C"/>
                </a:solidFill>
                <a:latin typeface="Cambria" pitchFamily="34" charset="0"/>
                <a:ea typeface="Cambria" pitchFamily="34" charset="-122"/>
                <a:cs typeface="Cambria" pitchFamily="34" charset="-120"/>
              </a:rPr>
              <a:t>Strategic alternatives</a:t>
            </a:r>
            <a:endParaRPr lang="en-US" sz="3000" dirty="0"/>
          </a:p>
        </p:txBody>
      </p:sp>
      <p:sp>
        <p:nvSpPr>
          <p:cNvPr id="4" name="Shape 2"/>
          <p:cNvSpPr/>
          <p:nvPr/>
        </p:nvSpPr>
        <p:spPr>
          <a:xfrm>
            <a:off x="548640" y="1417320"/>
            <a:ext cx="3520440" cy="4480560"/>
          </a:xfrm>
          <a:prstGeom prst="roundRect">
            <a:avLst>
              <a:gd name="adj" fmla="val 2078"/>
            </a:avLst>
          </a:prstGeom>
          <a:solidFill>
            <a:srgbClr val="F4F4F4"/>
          </a:solidFill>
          <a:ln w="12700">
            <a:solidFill>
              <a:srgbClr val="F4F4F4"/>
            </a:solidFill>
            <a:prstDash val="solid"/>
          </a:ln>
        </p:spPr>
      </p:sp>
      <p:sp>
        <p:nvSpPr>
          <p:cNvPr id="5" name="Shape 3"/>
          <p:cNvSpPr/>
          <p:nvPr/>
        </p:nvSpPr>
        <p:spPr>
          <a:xfrm>
            <a:off x="749808" y="1572768"/>
            <a:ext cx="548640" cy="548640"/>
          </a:xfrm>
          <a:prstGeom prst="ellipse">
            <a:avLst/>
          </a:prstGeom>
          <a:solidFill>
            <a:srgbClr val="1C1C1C"/>
          </a:solidFill>
          <a:ln w="12700">
            <a:solidFill>
              <a:srgbClr val="1C1C1C"/>
            </a:solidFill>
            <a:prstDash val="solid"/>
          </a:ln>
        </p:spPr>
      </p:sp>
      <p:sp>
        <p:nvSpPr>
          <p:cNvPr id="6" name="Text 4"/>
          <p:cNvSpPr txBox="1"/>
          <p:nvPr/>
        </p:nvSpPr>
        <p:spPr>
          <a:xfrm>
            <a:off x="749808" y="157276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a:t>
            </a:r>
            <a:endParaRPr lang="en-US" sz="2000" dirty="0"/>
          </a:p>
        </p:txBody>
      </p:sp>
      <p:sp>
        <p:nvSpPr>
          <p:cNvPr id="7" name="Text 5"/>
          <p:cNvSpPr txBox="1"/>
          <p:nvPr/>
        </p:nvSpPr>
        <p:spPr>
          <a:xfrm>
            <a:off x="1417320" y="1481328"/>
            <a:ext cx="2514600" cy="777240"/>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Kembali ke Regional</a:t>
            </a:r>
            <a:endParaRPr lang="en-US" sz="1500" dirty="0"/>
          </a:p>
          <a:p>
            <a:pPr indent="0" marL="0">
              <a:buNone/>
            </a:pPr>
            <a:r>
              <a:rPr lang="en-US" sz="1050" dirty="0">
                <a:solidFill>
                  <a:srgbClr val="6E6E6E"/>
                </a:solidFill>
                <a:latin typeface="Calibri" pitchFamily="34" charset="0"/>
                <a:ea typeface="Calibri" pitchFamily="34" charset="-122"/>
                <a:cs typeface="Calibri" pitchFamily="34" charset="-120"/>
              </a:rPr>
              <a:t>Fokus penuh pada pasar 3,5 jam terbang</a:t>
            </a:r>
            <a:endParaRPr lang="en-US" sz="1500" dirty="0"/>
          </a:p>
        </p:txBody>
      </p:sp>
      <p:sp>
        <p:nvSpPr>
          <p:cNvPr id="8" name="Text 6"/>
          <p:cNvSpPr txBox="1"/>
          <p:nvPr/>
        </p:nvSpPr>
        <p:spPr>
          <a:xfrm>
            <a:off x="777240" y="2423160"/>
            <a:ext cx="3108960" cy="228600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AirAsia X tetap entitas terpisah dengan pemegang saham sendiri; AirAsia hanya penyedia jasa berbayar (merek, IT, administrasi).</a:t>
            </a:r>
            <a:endParaRPr lang="en-US" sz="1100" dirty="0"/>
          </a:p>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Modal dan perhatian manajemen diarahkan ke pendalaman pasar Indonesia, Thailand, Vietnam, dan Filipina.</a:t>
            </a:r>
            <a:endParaRPr lang="en-US" sz="1100" dirty="0"/>
          </a:p>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Opsi kepemilikan 30 persen tidak dieksekusi; risiko rute jauh ditanggung investor lain.</a:t>
            </a:r>
            <a:endParaRPr lang="en-US" sz="1100" dirty="0"/>
          </a:p>
        </p:txBody>
      </p:sp>
      <p:sp>
        <p:nvSpPr>
          <p:cNvPr id="9" name="Shape 7"/>
          <p:cNvSpPr/>
          <p:nvPr/>
        </p:nvSpPr>
        <p:spPr>
          <a:xfrm>
            <a:off x="731520" y="4800600"/>
            <a:ext cx="3154680" cy="960120"/>
          </a:xfrm>
          <a:prstGeom prst="roundRect">
            <a:avLst>
              <a:gd name="adj" fmla="val 7619"/>
            </a:avLst>
          </a:prstGeom>
          <a:solidFill>
            <a:srgbClr val="FBE9EC"/>
          </a:solidFill>
          <a:ln w="12700">
            <a:solidFill>
              <a:srgbClr val="FBE9EC"/>
            </a:solidFill>
            <a:prstDash val="solid"/>
          </a:ln>
        </p:spPr>
      </p:sp>
      <p:sp>
        <p:nvSpPr>
          <p:cNvPr id="10" name="Text 8"/>
          <p:cNvSpPr txBox="1"/>
          <p:nvPr/>
        </p:nvSpPr>
        <p:spPr>
          <a:xfrm>
            <a:off x="868680" y="4846320"/>
            <a:ext cx="2880360" cy="868680"/>
          </a:xfrm>
          <a:prstGeom prst="rect">
            <a:avLst/>
          </a:prstGeom>
          <a:noFill/>
          <a:ln/>
        </p:spPr>
        <p:txBody>
          <a:bodyPr wrap="square" lIns="0" tIns="0" rIns="0" bIns="0" rtlCol="0" anchor="ctr"/>
          <a:lstStyle/>
          <a:p>
            <a:pPr indent="0" marL="0">
              <a:buNone/>
            </a:pPr>
            <a:r>
              <a:rPr lang="en-US" sz="950" i="1" dirty="0">
                <a:solidFill>
                  <a:srgbClr val="1C1C1C"/>
                </a:solidFill>
                <a:latin typeface="Calibri" pitchFamily="34" charset="0"/>
                <a:ea typeface="Calibri" pitchFamily="34" charset="-122"/>
                <a:cs typeface="Calibri" pitchFamily="34" charset="-120"/>
              </a:rPr>
              <a:t>Lensa: eksploitasi murni (pure exploitation). Mendalami model yang sudah terbukti, menyerahkan eksplorasi kepada pihak lain.</a:t>
            </a:r>
            <a:endParaRPr lang="en-US" sz="950" dirty="0"/>
          </a:p>
        </p:txBody>
      </p:sp>
      <p:sp>
        <p:nvSpPr>
          <p:cNvPr id="11" name="Shape 9"/>
          <p:cNvSpPr/>
          <p:nvPr/>
        </p:nvSpPr>
        <p:spPr>
          <a:xfrm>
            <a:off x="4251960" y="1417320"/>
            <a:ext cx="3520440" cy="4480560"/>
          </a:xfrm>
          <a:prstGeom prst="roundRect">
            <a:avLst>
              <a:gd name="adj" fmla="val 2078"/>
            </a:avLst>
          </a:prstGeom>
          <a:solidFill>
            <a:srgbClr val="FBE9EC"/>
          </a:solidFill>
          <a:ln w="12700">
            <a:solidFill>
              <a:srgbClr val="FBE9EC"/>
            </a:solidFill>
            <a:prstDash val="solid"/>
          </a:ln>
        </p:spPr>
      </p:sp>
      <p:sp>
        <p:nvSpPr>
          <p:cNvPr id="12" name="Shape 10"/>
          <p:cNvSpPr/>
          <p:nvPr/>
        </p:nvSpPr>
        <p:spPr>
          <a:xfrm>
            <a:off x="4453128" y="1572768"/>
            <a:ext cx="548640" cy="548640"/>
          </a:xfrm>
          <a:prstGeom prst="ellipse">
            <a:avLst/>
          </a:prstGeom>
          <a:solidFill>
            <a:srgbClr val="1C1C1C"/>
          </a:solidFill>
          <a:ln w="12700">
            <a:solidFill>
              <a:srgbClr val="1C1C1C"/>
            </a:solidFill>
            <a:prstDash val="solid"/>
          </a:ln>
        </p:spPr>
      </p:sp>
      <p:sp>
        <p:nvSpPr>
          <p:cNvPr id="13" name="Text 11"/>
          <p:cNvSpPr txBox="1"/>
          <p:nvPr/>
        </p:nvSpPr>
        <p:spPr>
          <a:xfrm>
            <a:off x="4453128" y="157276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B</a:t>
            </a:r>
            <a:endParaRPr lang="en-US" sz="2000" dirty="0"/>
          </a:p>
        </p:txBody>
      </p:sp>
      <p:sp>
        <p:nvSpPr>
          <p:cNvPr id="14" name="Text 12"/>
          <p:cNvSpPr txBox="1"/>
          <p:nvPr/>
        </p:nvSpPr>
        <p:spPr>
          <a:xfrm>
            <a:off x="5120640" y="1481328"/>
            <a:ext cx="2514600" cy="777240"/>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Integrasi Penuh</a:t>
            </a:r>
            <a:endParaRPr lang="en-US" sz="1500" dirty="0"/>
          </a:p>
          <a:p>
            <a:pPr indent="0" marL="0">
              <a:buNone/>
            </a:pPr>
            <a:r>
              <a:rPr lang="en-US" sz="1050" dirty="0">
                <a:solidFill>
                  <a:srgbClr val="6E6E6E"/>
                </a:solidFill>
                <a:latin typeface="Calibri" pitchFamily="34" charset="0"/>
                <a:ea typeface="Calibri" pitchFamily="34" charset="-122"/>
                <a:cs typeface="Calibri" pitchFamily="34" charset="-120"/>
              </a:rPr>
              <a:t>Merger AirAsia X ke dalam AirAsia</a:t>
            </a:r>
            <a:endParaRPr lang="en-US" sz="1500" dirty="0"/>
          </a:p>
        </p:txBody>
      </p:sp>
      <p:sp>
        <p:nvSpPr>
          <p:cNvPr id="15" name="Text 13"/>
          <p:cNvSpPr txBox="1"/>
          <p:nvPr/>
        </p:nvSpPr>
        <p:spPr>
          <a:xfrm>
            <a:off x="4480560" y="2423160"/>
            <a:ext cx="3108960" cy="228600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Satu perusahaan, satu neraca, satu jaringan. Rute regional menjadi pengumpan untuk rute gemuk jarak jauh melalui hub KL.</a:t>
            </a:r>
            <a:endParaRPr lang="en-US" sz="1100" dirty="0"/>
          </a:p>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Membangun tiket terusan (through ticketing) dan transfer bagasi antar penerbangan AirAsia dan AirAsia X.</a:t>
            </a:r>
            <a:endParaRPr lang="en-US" sz="1100" dirty="0"/>
          </a:p>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Ekspansi sesuai rencana: Abu Dhabi sebagai hub kedua, India, Seoul, Sydney, New York.</a:t>
            </a:r>
            <a:endParaRPr lang="en-US" sz="1100" dirty="0"/>
          </a:p>
        </p:txBody>
      </p:sp>
      <p:sp>
        <p:nvSpPr>
          <p:cNvPr id="16" name="Shape 14"/>
          <p:cNvSpPr/>
          <p:nvPr/>
        </p:nvSpPr>
        <p:spPr>
          <a:xfrm>
            <a:off x="4434840" y="4800600"/>
            <a:ext cx="3154680" cy="960120"/>
          </a:xfrm>
          <a:prstGeom prst="roundRect">
            <a:avLst>
              <a:gd name="adj" fmla="val 7619"/>
            </a:avLst>
          </a:prstGeom>
          <a:solidFill>
            <a:srgbClr val="FFFFFF"/>
          </a:solidFill>
          <a:ln w="12700">
            <a:solidFill>
              <a:srgbClr val="FFFFFF"/>
            </a:solidFill>
            <a:prstDash val="solid"/>
          </a:ln>
        </p:spPr>
      </p:sp>
      <p:sp>
        <p:nvSpPr>
          <p:cNvPr id="17" name="Text 15"/>
          <p:cNvSpPr txBox="1"/>
          <p:nvPr/>
        </p:nvSpPr>
        <p:spPr>
          <a:xfrm>
            <a:off x="4572000" y="4846320"/>
            <a:ext cx="2880360" cy="868680"/>
          </a:xfrm>
          <a:prstGeom prst="rect">
            <a:avLst/>
          </a:prstGeom>
          <a:noFill/>
          <a:ln/>
        </p:spPr>
        <p:txBody>
          <a:bodyPr wrap="square" lIns="0" tIns="0" rIns="0" bIns="0" rtlCol="0" anchor="ctr"/>
          <a:lstStyle/>
          <a:p>
            <a:pPr indent="0" marL="0">
              <a:buNone/>
            </a:pPr>
            <a:r>
              <a:rPr lang="en-US" sz="950" i="1" dirty="0">
                <a:solidFill>
                  <a:srgbClr val="1C1C1C"/>
                </a:solidFill>
                <a:latin typeface="Calibri" pitchFamily="34" charset="0"/>
                <a:ea typeface="Calibri" pitchFamily="34" charset="-122"/>
                <a:cs typeface="Calibri" pitchFamily="34" charset="-120"/>
              </a:rPr>
              <a:t>Lensa: ambidexterity kontekstual. Eksploitasi dan eksplorasi dipadukan dalam satu organisasi, satu neraca, satu budaya.</a:t>
            </a:r>
            <a:endParaRPr lang="en-US" sz="950" dirty="0"/>
          </a:p>
        </p:txBody>
      </p:sp>
      <p:sp>
        <p:nvSpPr>
          <p:cNvPr id="18" name="Shape 16"/>
          <p:cNvSpPr/>
          <p:nvPr/>
        </p:nvSpPr>
        <p:spPr>
          <a:xfrm>
            <a:off x="7955280" y="1417320"/>
            <a:ext cx="3520440" cy="4480560"/>
          </a:xfrm>
          <a:prstGeom prst="roundRect">
            <a:avLst>
              <a:gd name="adj" fmla="val 2078"/>
            </a:avLst>
          </a:prstGeom>
          <a:solidFill>
            <a:srgbClr val="F4F4F4"/>
          </a:solidFill>
          <a:ln w="12700">
            <a:solidFill>
              <a:srgbClr val="F4F4F4"/>
            </a:solidFill>
            <a:prstDash val="solid"/>
          </a:ln>
        </p:spPr>
      </p:sp>
      <p:sp>
        <p:nvSpPr>
          <p:cNvPr id="19" name="Shape 17"/>
          <p:cNvSpPr/>
          <p:nvPr/>
        </p:nvSpPr>
        <p:spPr>
          <a:xfrm>
            <a:off x="8156448" y="1572768"/>
            <a:ext cx="548640" cy="548640"/>
          </a:xfrm>
          <a:prstGeom prst="ellipse">
            <a:avLst/>
          </a:prstGeom>
          <a:solidFill>
            <a:srgbClr val="C8102E"/>
          </a:solidFill>
          <a:ln w="12700">
            <a:solidFill>
              <a:srgbClr val="C8102E"/>
            </a:solidFill>
            <a:prstDash val="solid"/>
          </a:ln>
        </p:spPr>
      </p:sp>
      <p:sp>
        <p:nvSpPr>
          <p:cNvPr id="20" name="Text 18"/>
          <p:cNvSpPr txBox="1"/>
          <p:nvPr/>
        </p:nvSpPr>
        <p:spPr>
          <a:xfrm>
            <a:off x="8156448" y="157276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C</a:t>
            </a:r>
            <a:endParaRPr lang="en-US" sz="2000" dirty="0"/>
          </a:p>
        </p:txBody>
      </p:sp>
      <p:sp>
        <p:nvSpPr>
          <p:cNvPr id="21" name="Text 19"/>
          <p:cNvSpPr txBox="1"/>
          <p:nvPr/>
        </p:nvSpPr>
        <p:spPr>
          <a:xfrm>
            <a:off x="8823960" y="1481328"/>
            <a:ext cx="2514600" cy="777240"/>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Integrasi Bertahap</a:t>
            </a:r>
            <a:endParaRPr lang="en-US" sz="1500" dirty="0"/>
          </a:p>
          <a:p>
            <a:pPr indent="0" marL="0">
              <a:buNone/>
            </a:pPr>
            <a:r>
              <a:rPr lang="en-US" sz="1050" dirty="0">
                <a:solidFill>
                  <a:srgbClr val="6E6E6E"/>
                </a:solidFill>
                <a:latin typeface="Calibri" pitchFamily="34" charset="0"/>
                <a:ea typeface="Calibri" pitchFamily="34" charset="-122"/>
                <a:cs typeface="Calibri" pitchFamily="34" charset="-120"/>
              </a:rPr>
              <a:t>Kendali naik ke 30 persen, rute dibatasi, merger menunggu bukti</a:t>
            </a:r>
            <a:endParaRPr lang="en-US" sz="1500" dirty="0"/>
          </a:p>
        </p:txBody>
      </p:sp>
      <p:sp>
        <p:nvSpPr>
          <p:cNvPr id="22" name="Text 20"/>
          <p:cNvSpPr txBox="1"/>
          <p:nvPr/>
        </p:nvSpPr>
        <p:spPr>
          <a:xfrm>
            <a:off x="8183880" y="2423160"/>
            <a:ext cx="3108960" cy="228600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AirAsia mengeksekusi opsi 30 persen dan menempatkan kendali operasional, tetapi neraca tetap terpisah.</a:t>
            </a:r>
            <a:endParaRPr lang="en-US" sz="1100" dirty="0"/>
          </a:p>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Rute dibatasi pada 4 sampai 8 jam terbang (Australia, Cina, India, Timur Tengah) dengan A330; rute 12 jam ke Eropa ditunda sampai A350 tiba.</a:t>
            </a:r>
            <a:endParaRPr lang="en-US" sz="1100" dirty="0"/>
          </a:p>
          <a:p>
            <a:pPr marL="342900" indent="-342900">
              <a:spcAft>
                <a:spcPts val="500"/>
              </a:spcAft>
              <a:buSzPct val="100000"/>
              <a:buChar char="•"/>
            </a:pPr>
            <a:r>
              <a:rPr lang="en-US" sz="1100" dirty="0">
                <a:solidFill>
                  <a:srgbClr val="1C1C1C"/>
                </a:solidFill>
                <a:latin typeface="Calibri" pitchFamily="34" charset="0"/>
                <a:ea typeface="Calibri" pitchFamily="34" charset="-122"/>
                <a:cs typeface="Calibri" pitchFamily="34" charset="-120"/>
              </a:rPr>
              <a:t>Merger penuh hanya jika AirAsia X mencapai target laba dan load factor selama empat kuartal berturut-turut.</a:t>
            </a:r>
            <a:endParaRPr lang="en-US" sz="1100" dirty="0"/>
          </a:p>
        </p:txBody>
      </p:sp>
      <p:sp>
        <p:nvSpPr>
          <p:cNvPr id="23" name="Shape 21"/>
          <p:cNvSpPr/>
          <p:nvPr/>
        </p:nvSpPr>
        <p:spPr>
          <a:xfrm>
            <a:off x="8138160" y="4800600"/>
            <a:ext cx="3154680" cy="960120"/>
          </a:xfrm>
          <a:prstGeom prst="roundRect">
            <a:avLst>
              <a:gd name="adj" fmla="val 7619"/>
            </a:avLst>
          </a:prstGeom>
          <a:solidFill>
            <a:srgbClr val="FBE9EC"/>
          </a:solidFill>
          <a:ln w="12700">
            <a:solidFill>
              <a:srgbClr val="FBE9EC"/>
            </a:solidFill>
            <a:prstDash val="solid"/>
          </a:ln>
        </p:spPr>
      </p:sp>
      <p:sp>
        <p:nvSpPr>
          <p:cNvPr id="24" name="Text 22"/>
          <p:cNvSpPr txBox="1"/>
          <p:nvPr/>
        </p:nvSpPr>
        <p:spPr>
          <a:xfrm>
            <a:off x="8275320" y="4846320"/>
            <a:ext cx="2880360" cy="868680"/>
          </a:xfrm>
          <a:prstGeom prst="rect">
            <a:avLst/>
          </a:prstGeom>
          <a:noFill/>
          <a:ln/>
        </p:spPr>
        <p:txBody>
          <a:bodyPr wrap="square" lIns="0" tIns="0" rIns="0" bIns="0" rtlCol="0" anchor="ctr"/>
          <a:lstStyle/>
          <a:p>
            <a:pPr indent="0" marL="0">
              <a:buNone/>
            </a:pPr>
            <a:r>
              <a:rPr lang="en-US" sz="950" i="1" dirty="0">
                <a:solidFill>
                  <a:srgbClr val="1C1C1C"/>
                </a:solidFill>
                <a:latin typeface="Calibri" pitchFamily="34" charset="0"/>
                <a:ea typeface="Calibri" pitchFamily="34" charset="-122"/>
                <a:cs typeface="Calibri" pitchFamily="34" charset="-120"/>
              </a:rPr>
              <a:t>Lensa: ambidexterity struktural dengan tata kelola hibrida. Unit eksplorasi dipisahkan, tetapi dikendalikan lewat kepemilikan dan kontrak.</a:t>
            </a:r>
            <a:endParaRPr lang="en-US" sz="950" dirty="0"/>
          </a:p>
        </p:txBody>
      </p:sp>
      <p:sp>
        <p:nvSpPr>
          <p:cNvPr id="25" name="Text 23"/>
          <p:cNvSpPr txBox="1"/>
          <p:nvPr/>
        </p:nvSpPr>
        <p:spPr>
          <a:xfrm>
            <a:off x="548640" y="6016752"/>
            <a:ext cx="11064240" cy="365760"/>
          </a:xfrm>
          <a:prstGeom prst="rect">
            <a:avLst/>
          </a:prstGeom>
          <a:noFill/>
          <a:ln/>
        </p:spPr>
        <p:txBody>
          <a:bodyPr wrap="square" lIns="0" tIns="0" rIns="0" bIns="0" rtlCol="0" anchor="ctr"/>
          <a:lstStyle/>
          <a:p>
            <a:pPr indent="0" marL="0">
              <a:buNone/>
            </a:pPr>
            <a:r>
              <a:rPr lang="en-US" sz="1050" b="1" dirty="0">
                <a:solidFill>
                  <a:srgbClr val="C8102E"/>
                </a:solidFill>
                <a:latin typeface="Calibri" pitchFamily="34" charset="0"/>
                <a:ea typeface="Calibri" pitchFamily="34" charset="-122"/>
                <a:cs typeface="Calibri" pitchFamily="34" charset="-120"/>
              </a:rPr>
              <a:t>Kaitan.  </a:t>
            </a:r>
            <a:pPr indent="0" marL="0">
              <a:buNone/>
            </a:pPr>
            <a:r>
              <a:rPr lang="en-US" sz="1050" i="1" dirty="0">
                <a:solidFill>
                  <a:srgbClr val="6E6E6E"/>
                </a:solidFill>
                <a:latin typeface="Calibri" pitchFamily="34" charset="0"/>
                <a:ea typeface="Calibri" pitchFamily="34" charset="-122"/>
                <a:cs typeface="Calibri" pitchFamily="34" charset="-120"/>
              </a:rPr>
              <a:t>Ketiga alternatif dideskripsikan tanpa argumen pro dan kontra, sesuai panduan RPKPS. Penilaiannya ada di slide berikutnya dengan lima kriteria dari isu kunci.</a:t>
            </a:r>
            <a:endParaRPr lang="en-US" sz="1050" dirty="0"/>
          </a:p>
        </p:txBody>
      </p:sp>
      <p:sp>
        <p:nvSpPr>
          <p:cNvPr id="26"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27" name="Text 25"/>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74320"/>
          </a:xfrm>
          <a:prstGeom prst="rect">
            <a:avLst/>
          </a:prstGeom>
          <a:noFill/>
          <a:ln/>
        </p:spPr>
        <p:txBody>
          <a:bodyPr wrap="square" lIns="0" tIns="0" rIns="0" bIns="0" rtlCol="0" anchor="ctr"/>
          <a:lstStyle/>
          <a:p>
            <a:pPr indent="0" marL="0">
              <a:buNone/>
            </a:pPr>
            <a:r>
              <a:rPr lang="en-US" sz="1000" spc="150" kern="0" dirty="0">
                <a:solidFill>
                  <a:srgbClr val="B5B5B5"/>
                </a:solidFill>
                <a:latin typeface="Calibri" pitchFamily="34" charset="0"/>
                <a:ea typeface="Calibri" pitchFamily="34" charset="-122"/>
                <a:cs typeface="Calibri" pitchFamily="34" charset="-120"/>
              </a:rPr>
              <a:t>1  PROBLEM</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2  EXTERNAL ENVIRONMENT</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3  COST POSITION</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b="1" spc="150" kern="0" dirty="0">
                <a:solidFill>
                  <a:srgbClr val="C8102E"/>
                </a:solidFill>
                <a:latin typeface="Calibri" pitchFamily="34" charset="0"/>
                <a:ea typeface="Calibri" pitchFamily="34" charset="-122"/>
                <a:cs typeface="Calibri" pitchFamily="34" charset="-120"/>
              </a:rPr>
              <a:t>4  CHOICE</a:t>
            </a:r>
            <a:endParaRPr lang="en-US" sz="10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indent="0" marL="0">
              <a:buNone/>
            </a:pPr>
            <a:r>
              <a:rPr lang="en-US" sz="3000" b="1" dirty="0">
                <a:solidFill>
                  <a:srgbClr val="1C1C1C"/>
                </a:solidFill>
                <a:latin typeface="Cambria" pitchFamily="34" charset="0"/>
                <a:ea typeface="Cambria" pitchFamily="34" charset="-122"/>
                <a:cs typeface="Cambria" pitchFamily="34" charset="-120"/>
              </a:rPr>
              <a:t>Evaluating the alternatives</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651760"/>
                <a:gridCol w="2743200"/>
                <a:gridCol w="2743200"/>
                <a:gridCol w="2926080"/>
              </a:tblGrid>
              <a:tr h="38404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Kriteria (dari isu kunci)</a:t>
                      </a:r>
                      <a:endParaRPr lang="en-US" sz="11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1C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 Kembali ke Regional</a:t>
                      </a:r>
                      <a:endParaRPr lang="en-US" sz="11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1C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 Integrasi Penuh</a:t>
                      </a:r>
                      <a:endParaRPr lang="en-US" sz="11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1C1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 Integrasi Bertahap</a:t>
                      </a:r>
                      <a:endParaRPr lang="en-US" sz="11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8102E"/>
                    </a:solidFill>
                  </a:tcPr>
                </a:tc>
              </a:tr>
              <a:tr h="74980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1. Menangkap peluang pasar jarak jauh</a:t>
                      </a:r>
                      <a:endParaRPr lang="en-US" sz="105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C8102E"/>
                          </a:solidFill>
                          <a:latin typeface="Calibri" pitchFamily="34" charset="0"/>
                          <a:ea typeface="Calibri" pitchFamily="34" charset="-122"/>
                          <a:cs typeface="Calibri" pitchFamily="34" charset="-120"/>
                        </a:rPr>
                        <a:t>Lemah</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Melepas rute gemuk yang menjadi sumber pertumbuhan berikutnya.</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E7D32"/>
                          </a:solidFill>
                          <a:latin typeface="Calibri" pitchFamily="34" charset="0"/>
                          <a:ea typeface="Calibri" pitchFamily="34" charset="-122"/>
                          <a:cs typeface="Calibri" pitchFamily="34" charset="-120"/>
                        </a:rPr>
                        <a:t>Kuat</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Menangkap seluruh peluang, termasuk rute jauh ke Eropa.</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B26A00"/>
                          </a:solidFill>
                          <a:latin typeface="Calibri" pitchFamily="34" charset="0"/>
                          <a:ea typeface="Calibri" pitchFamily="34" charset="-122"/>
                          <a:cs typeface="Calibri" pitchFamily="34" charset="-120"/>
                        </a:rPr>
                        <a:t>Cukup</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Menangkap rute 4 sampai 8 jam yang paling sesuai dengan A330.</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BE9EC"/>
                    </a:solidFill>
                  </a:tcPr>
                </a:tc>
              </a:tr>
              <a:tr h="74980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2. Daya tahan terhadap balasan network carriers</a:t>
                      </a:r>
                      <a:endParaRPr lang="en-US" sz="105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2E7D32"/>
                          </a:solidFill>
                          <a:latin typeface="Calibri" pitchFamily="34" charset="0"/>
                          <a:ea typeface="Calibri" pitchFamily="34" charset="-122"/>
                          <a:cs typeface="Calibri" pitchFamily="34" charset="-120"/>
                        </a:rPr>
                        <a:t>Kuat</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Tidak berhadapan langsung di rute jauh.</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C8102E"/>
                          </a:solidFill>
                          <a:latin typeface="Calibri" pitchFamily="34" charset="0"/>
                          <a:ea typeface="Calibri" pitchFamily="34" charset="-122"/>
                          <a:cs typeface="Calibri" pitchFamily="34" charset="-120"/>
                        </a:rPr>
                        <a:t>Lemah</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Berhadapan langsung di rute yang pesaing subsidi silang.</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B26A00"/>
                          </a:solidFill>
                          <a:latin typeface="Calibri" pitchFamily="34" charset="0"/>
                          <a:ea typeface="Calibri" pitchFamily="34" charset="-122"/>
                          <a:cs typeface="Calibri" pitchFamily="34" charset="-120"/>
                        </a:rPr>
                        <a:t>Cukup</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Menghindari rute yang paling padat pesaing premium.</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BE9EC"/>
                    </a:solidFill>
                  </a:tcPr>
                </a:tc>
              </a:tr>
              <a:tr h="74980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3. Keamanan finansial (utang, kas, pesanan A350)</a:t>
                      </a:r>
                      <a:endParaRPr lang="en-US" sz="105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E7D32"/>
                          </a:solidFill>
                          <a:latin typeface="Calibri" pitchFamily="34" charset="0"/>
                          <a:ea typeface="Calibri" pitchFamily="34" charset="-122"/>
                          <a:cs typeface="Calibri" pitchFamily="34" charset="-120"/>
                        </a:rPr>
                        <a:t>Kuat</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Risiko rute jauh berada di neraca investor lain.</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C8102E"/>
                          </a:solidFill>
                          <a:latin typeface="Calibri" pitchFamily="34" charset="0"/>
                          <a:ea typeface="Calibri" pitchFamily="34" charset="-122"/>
                          <a:cs typeface="Calibri" pitchFamily="34" charset="-120"/>
                        </a:rPr>
                        <a:t>Lemah</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Menggabungkan armada berbadan lebar ke neraca yang sudah sarat utang.</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B26A00"/>
                          </a:solidFill>
                          <a:latin typeface="Calibri" pitchFamily="34" charset="0"/>
                          <a:ea typeface="Calibri" pitchFamily="34" charset="-122"/>
                          <a:cs typeface="Calibri" pitchFamily="34" charset="-120"/>
                        </a:rPr>
                        <a:t>Cukup</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Neraca tetap terpisah; komitmen bertahap sesuai bukti kinerja.</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BE9EC"/>
                    </a:solidFill>
                  </a:tcPr>
                </a:tc>
              </a:tr>
              <a:tr h="74980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4. Keseimbangan eksploitasi dan eksplorasi</a:t>
                      </a:r>
                      <a:endParaRPr lang="en-US" sz="105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C8102E"/>
                          </a:solidFill>
                          <a:latin typeface="Calibri" pitchFamily="34" charset="0"/>
                          <a:ea typeface="Calibri" pitchFamily="34" charset="-122"/>
                          <a:cs typeface="Calibri" pitchFamily="34" charset="-120"/>
                        </a:rPr>
                        <a:t>Lemah</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Eksploitasi murni; kompetensi rute jauh tidak pernah terbangun.</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B26A00"/>
                          </a:solidFill>
                          <a:latin typeface="Calibri" pitchFamily="34" charset="0"/>
                          <a:ea typeface="Calibri" pitchFamily="34" charset="-122"/>
                          <a:cs typeface="Calibri" pitchFamily="34" charset="-120"/>
                        </a:rPr>
                        <a:t>Cukup</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Eksplorasi berjalan, tetapi berisiko mengganggu disiplin rute pendek.</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algn="l" indent="0" marL="0">
                        <a:buNone/>
                      </a:pPr>
                      <a:r>
                        <a:rPr lang="en-US" sz="1100" b="1" dirty="0">
                          <a:solidFill>
                            <a:srgbClr val="2E7D32"/>
                          </a:solidFill>
                          <a:latin typeface="Calibri" pitchFamily="34" charset="0"/>
                          <a:ea typeface="Calibri" pitchFamily="34" charset="-122"/>
                          <a:cs typeface="Calibri" pitchFamily="34" charset="-120"/>
                        </a:rPr>
                        <a:t>Kuat</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Unit eksplorasi terpisah, kendali dan pembelajaran tetap mengalir ke induk.</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BE9EC"/>
                    </a:solidFill>
                  </a:tcPr>
                </a:tc>
              </a:tr>
              <a:tr h="749808">
                <a:tc>
                  <a:txBody>
                    <a:bodyPr/>
                    <a:lstStyle/>
                    <a:p>
                      <a:pPr indent="0" marL="0">
                        <a:buNone/>
                      </a:pPr>
                      <a:r>
                        <a:rPr lang="en-US" sz="1050" b="1" dirty="0">
                          <a:solidFill>
                            <a:srgbClr val="1C1C1C"/>
                          </a:solidFill>
                          <a:latin typeface="Calibri" pitchFamily="34" charset="0"/>
                          <a:ea typeface="Calibri" pitchFamily="34" charset="-122"/>
                          <a:cs typeface="Calibri" pitchFamily="34" charset="-120"/>
                        </a:rPr>
                        <a:t>5. Keselarasan tata kelola dan pemegang saham</a:t>
                      </a:r>
                      <a:endParaRPr lang="en-US" sz="105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B26A00"/>
                          </a:solidFill>
                          <a:latin typeface="Calibri" pitchFamily="34" charset="0"/>
                          <a:ea typeface="Calibri" pitchFamily="34" charset="-122"/>
                          <a:cs typeface="Calibri" pitchFamily="34" charset="-120"/>
                        </a:rPr>
                        <a:t>Cukup</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Konflik kepentingan pendiri tetap ada meski tidak terlihat.</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B26A00"/>
                          </a:solidFill>
                          <a:latin typeface="Calibri" pitchFamily="34" charset="0"/>
                          <a:ea typeface="Calibri" pitchFamily="34" charset="-122"/>
                          <a:cs typeface="Calibri" pitchFamily="34" charset="-120"/>
                        </a:rPr>
                        <a:t>Cukup</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Transparan, tetapi pemegang saham AirAsia menanggung kerugian AirAsia X.</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E7D32"/>
                          </a:solidFill>
                          <a:latin typeface="Calibri" pitchFamily="34" charset="0"/>
                          <a:ea typeface="Calibri" pitchFamily="34" charset="-122"/>
                          <a:cs typeface="Calibri" pitchFamily="34" charset="-120"/>
                        </a:rPr>
                        <a:t>Kuat</a:t>
                      </a:r>
                      <a:endParaRPr lang="en-US" sz="1200" dirty="0">
                        <a:latin typeface="Calibri" charset="0"/>
                        <a:ea typeface="Calibri" charset="0"/>
                        <a:cs typeface="Calibri" charset="0"/>
                      </a:endParaRPr>
                    </a:p>
                    <a:p>
                      <a:pPr algn="l" indent="0" marL="0">
                        <a:buNone/>
                      </a:pPr>
                      <a:r>
                        <a:rPr lang="en-US" sz="900" dirty="0">
                          <a:solidFill>
                            <a:srgbClr val="6E6E6E"/>
                          </a:solidFill>
                          <a:latin typeface="Calibri" pitchFamily="34" charset="0"/>
                          <a:ea typeface="Calibri" pitchFamily="34" charset="-122"/>
                          <a:cs typeface="Calibri" pitchFamily="34" charset="-120"/>
                        </a:rPr>
                        <a:t>Kendali sepadan dengan kepemilikan; merger diputuskan berdasar bukti.</a:t>
                      </a:r>
                      <a:endParaRPr lang="en-US" sz="1200" dirty="0">
                        <a:latin typeface="Calibri" charset="0"/>
                        <a:ea typeface="Calibri" charset="0"/>
                        <a:cs typeface="Calibr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BE9EC"/>
                    </a:solidFill>
                  </a:tcPr>
                </a:tc>
              </a:tr>
            </a:tbl>
          </a:graphicData>
        </a:graphic>
      </p:graphicFrame>
      <p:sp>
        <p:nvSpPr>
          <p:cNvPr id="5" name="Text 2"/>
          <p:cNvSpPr txBox="1"/>
          <p:nvPr/>
        </p:nvSpPr>
        <p:spPr>
          <a:xfrm>
            <a:off x="548640" y="5623560"/>
            <a:ext cx="11064240" cy="365760"/>
          </a:xfrm>
          <a:prstGeom prst="rect">
            <a:avLst/>
          </a:prstGeom>
          <a:noFill/>
          <a:ln/>
        </p:spPr>
        <p:txBody>
          <a:bodyPr wrap="square" lIns="0" tIns="0" rIns="0" bIns="0" rtlCol="0" anchor="ctr"/>
          <a:lstStyle/>
          <a:p>
            <a:pPr indent="0" marL="0">
              <a:buNone/>
            </a:pPr>
            <a:r>
              <a:rPr lang="en-US" sz="1000" dirty="0">
                <a:solidFill>
                  <a:srgbClr val="6E6E6E"/>
                </a:solidFill>
                <a:latin typeface="Calibri" pitchFamily="34" charset="0"/>
                <a:ea typeface="Calibri" pitchFamily="34" charset="-122"/>
                <a:cs typeface="Calibri" pitchFamily="34" charset="-120"/>
              </a:rPr>
              <a:t>Skala: Kuat, Cukup, Lemah. Penilaian kualitatif berdasarkan data kasus; tidak ada pembobotan numerik agar diskusi kelas tetap terbuka.</a:t>
            </a:r>
            <a:endParaRPr lang="en-US" sz="1000" dirty="0"/>
          </a:p>
        </p:txBody>
      </p:sp>
      <p:sp>
        <p:nvSpPr>
          <p:cNvPr id="6" name="Text 3"/>
          <p:cNvSpPr txBox="1"/>
          <p:nvPr/>
        </p:nvSpPr>
        <p:spPr>
          <a:xfrm>
            <a:off x="548640" y="6016752"/>
            <a:ext cx="11064240" cy="365760"/>
          </a:xfrm>
          <a:prstGeom prst="rect">
            <a:avLst/>
          </a:prstGeom>
          <a:noFill/>
          <a:ln/>
        </p:spPr>
        <p:txBody>
          <a:bodyPr wrap="square" lIns="0" tIns="0" rIns="0" bIns="0" rtlCol="0" anchor="ctr"/>
          <a:lstStyle/>
          <a:p>
            <a:pPr indent="0" marL="0">
              <a:buNone/>
            </a:pPr>
            <a:r>
              <a:rPr lang="en-US" sz="1050" b="1" dirty="0">
                <a:solidFill>
                  <a:srgbClr val="C8102E"/>
                </a:solidFill>
                <a:latin typeface="Calibri" pitchFamily="34" charset="0"/>
                <a:ea typeface="Calibri" pitchFamily="34" charset="-122"/>
                <a:cs typeface="Calibri" pitchFamily="34" charset="-120"/>
              </a:rPr>
              <a:t>Kaitan.  </a:t>
            </a:r>
            <a:pPr indent="0" marL="0">
              <a:buNone/>
            </a:pPr>
            <a:r>
              <a:rPr lang="en-US" sz="1050" i="1" dirty="0">
                <a:solidFill>
                  <a:srgbClr val="6E6E6E"/>
                </a:solidFill>
                <a:latin typeface="Calibri" pitchFamily="34" charset="0"/>
                <a:ea typeface="Calibri" pitchFamily="34" charset="-122"/>
                <a:cs typeface="Calibri" pitchFamily="34" charset="-120"/>
              </a:rPr>
              <a:t>Alternatif C paling seimbang: tidak ada kriteria yang lemah. Slide berikutnya menerjemahkannya menjadi rekomendasi dan rencana implementasi.</a:t>
            </a:r>
            <a:endParaRPr lang="en-US" sz="1050" dirty="0"/>
          </a:p>
        </p:txBody>
      </p:sp>
      <p:sp>
        <p:nvSpPr>
          <p:cNvPr id="7" name="Text 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8" name="Text 5"/>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274320"/>
          </a:xfrm>
          <a:prstGeom prst="rect">
            <a:avLst/>
          </a:prstGeom>
          <a:noFill/>
          <a:ln/>
        </p:spPr>
        <p:txBody>
          <a:bodyPr wrap="square" lIns="0" tIns="0" rIns="0" bIns="0" rtlCol="0" anchor="ctr"/>
          <a:lstStyle/>
          <a:p>
            <a:pPr indent="0" marL="0">
              <a:buNone/>
            </a:pPr>
            <a:r>
              <a:rPr lang="en-US" sz="1000" spc="150" kern="0" dirty="0">
                <a:solidFill>
                  <a:srgbClr val="B5B5B5"/>
                </a:solidFill>
                <a:latin typeface="Calibri" pitchFamily="34" charset="0"/>
                <a:ea typeface="Calibri" pitchFamily="34" charset="-122"/>
                <a:cs typeface="Calibri" pitchFamily="34" charset="-120"/>
              </a:rPr>
              <a:t>1  PROBLEM</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2  EXTERNAL ENVIRONMENT</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spc="150" kern="0" dirty="0">
                <a:solidFill>
                  <a:srgbClr val="B5B5B5"/>
                </a:solidFill>
                <a:latin typeface="Calibri" pitchFamily="34" charset="0"/>
                <a:ea typeface="Calibri" pitchFamily="34" charset="-122"/>
                <a:cs typeface="Calibri" pitchFamily="34" charset="-120"/>
              </a:rPr>
              <a:t>3  COST POSITION</a:t>
            </a:r>
            <a:pPr indent="0" marL="0">
              <a:buNone/>
            </a:pPr>
            <a:r>
              <a:rPr lang="en-US" sz="1000" spc="150" kern="0" dirty="0">
                <a:solidFill>
                  <a:srgbClr val="B5B5B5"/>
                </a:solidFill>
                <a:latin typeface="Calibri" pitchFamily="34" charset="0"/>
                <a:ea typeface="Calibri" pitchFamily="34" charset="-122"/>
                <a:cs typeface="Calibri" pitchFamily="34" charset="-120"/>
              </a:rPr>
              <a:t>      </a:t>
            </a:r>
            <a:pPr indent="0" marL="0">
              <a:buNone/>
            </a:pPr>
            <a:r>
              <a:rPr lang="en-US" sz="1000" b="1" spc="150" kern="0" dirty="0">
                <a:solidFill>
                  <a:srgbClr val="C8102E"/>
                </a:solidFill>
                <a:latin typeface="Calibri" pitchFamily="34" charset="0"/>
                <a:ea typeface="Calibri" pitchFamily="34" charset="-122"/>
                <a:cs typeface="Calibri" pitchFamily="34" charset="-120"/>
              </a:rPr>
              <a:t>4  CHOICE</a:t>
            </a:r>
            <a:endParaRPr lang="en-US" sz="1000" dirty="0"/>
          </a:p>
        </p:txBody>
      </p:sp>
      <p:sp>
        <p:nvSpPr>
          <p:cNvPr id="3" name="Text 1"/>
          <p:cNvSpPr txBox="1"/>
          <p:nvPr/>
        </p:nvSpPr>
        <p:spPr>
          <a:xfrm>
            <a:off x="548640" y="621792"/>
            <a:ext cx="11064240" cy="640080"/>
          </a:xfrm>
          <a:prstGeom prst="rect">
            <a:avLst/>
          </a:prstGeom>
          <a:noFill/>
          <a:ln/>
        </p:spPr>
        <p:txBody>
          <a:bodyPr wrap="square" lIns="0" tIns="0" rIns="0" bIns="0" rtlCol="0" anchor="ctr"/>
          <a:lstStyle/>
          <a:p>
            <a:pPr indent="0" marL="0">
              <a:buNone/>
            </a:pPr>
            <a:r>
              <a:rPr lang="en-US" sz="3000" b="1" dirty="0">
                <a:solidFill>
                  <a:srgbClr val="1C1C1C"/>
                </a:solidFill>
                <a:latin typeface="Cambria" pitchFamily="34" charset="0"/>
                <a:ea typeface="Cambria" pitchFamily="34" charset="-122"/>
                <a:cs typeface="Cambria" pitchFamily="34" charset="-120"/>
              </a:rPr>
              <a:t>Recommendation and implementation plan</a:t>
            </a:r>
            <a:endParaRPr lang="en-US" sz="3000" dirty="0"/>
          </a:p>
        </p:txBody>
      </p:sp>
      <p:sp>
        <p:nvSpPr>
          <p:cNvPr id="4" name="Shape 2"/>
          <p:cNvSpPr/>
          <p:nvPr/>
        </p:nvSpPr>
        <p:spPr>
          <a:xfrm>
            <a:off x="548640" y="1417320"/>
            <a:ext cx="11064240" cy="822960"/>
          </a:xfrm>
          <a:prstGeom prst="roundRect">
            <a:avLst>
              <a:gd name="adj" fmla="val 8889"/>
            </a:avLst>
          </a:prstGeom>
          <a:solidFill>
            <a:srgbClr val="1C1C1C"/>
          </a:solidFill>
          <a:ln w="12700">
            <a:solidFill>
              <a:srgbClr val="1C1C1C"/>
            </a:solidFill>
            <a:prstDash val="solid"/>
          </a:ln>
        </p:spPr>
      </p:sp>
      <p:sp>
        <p:nvSpPr>
          <p:cNvPr id="5" name="Text 3"/>
          <p:cNvSpPr txBox="1"/>
          <p:nvPr/>
        </p:nvSpPr>
        <p:spPr>
          <a:xfrm>
            <a:off x="777240" y="1463040"/>
            <a:ext cx="10607040" cy="7315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Eksekusi opsi kepemilikan 30 persen pada AirAsia X, ambil kendali operasional dan komersial, batasi jaringan pada rute 4 sampai 8 jam sampai armada A350 tersedia, dan tetapkan merger penuh sebagai keputusan berbasis bukti kinerja (evidence based).</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11064240" cy="914400"/>
        </p:xfrm>
        <a:graphic>
          <a:graphicData uri="http://schemas.openxmlformats.org/drawingml/2006/table">
            <a:tbl>
              <a:tblPr/>
              <a:tblGrid>
                <a:gridCol w="2926080"/>
                <a:gridCol w="2377440"/>
                <a:gridCol w="1097280"/>
                <a:gridCol w="1554480"/>
                <a:gridCol w="3108960"/>
              </a:tblGrid>
              <a:tr h="301752">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Inisiatif</a:t>
                      </a:r>
                      <a:endParaRPr lang="en-US" sz="10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8102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KPI dan target</a:t>
                      </a:r>
                      <a:endParaRPr lang="en-US" sz="10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8102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Waktu</a:t>
                      </a:r>
                      <a:endParaRPr lang="en-US" sz="10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8102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Penanggung jawab</a:t>
                      </a:r>
                      <a:endParaRPr lang="en-US" sz="10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8102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Risiko dan mitigasi</a:t>
                      </a:r>
                      <a:endParaRPr lang="en-US" sz="10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8102E"/>
                    </a:solidFill>
                  </a:tcPr>
                </a:tc>
              </a:tr>
              <a:tr h="530352">
                <a:tc>
                  <a:txBody>
                    <a:bodyPr/>
                    <a:lstStyle/>
                    <a:p>
                      <a:pPr indent="0" marL="0">
                        <a:buNone/>
                      </a:pPr>
                      <a:r>
                        <a:rPr lang="en-US" sz="900" b="1" dirty="0">
                          <a:solidFill>
                            <a:srgbClr val="1C1C1C"/>
                          </a:solidFill>
                          <a:latin typeface="Calibri" pitchFamily="34" charset="0"/>
                          <a:ea typeface="Calibri" pitchFamily="34" charset="-122"/>
                          <a:cs typeface="Calibri" pitchFamily="34" charset="-120"/>
                        </a:rPr>
                        <a:t>Eksekusi opsi 30 persen dan tempatkan manajemen AirAsia di AirAsia X</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Kepemilikan 30 persen; satu tim komersial gabungan</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Kuartal 4 2009</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CEO Group dan Dewan Komisaris</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Konflik kepentingan Aero Ventures; mitigasi lewat komite independen untuk transaksi afiliasi</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30352">
                <a:tc>
                  <a:txBody>
                    <a:bodyPr/>
                    <a:lstStyle/>
                    <a:p>
                      <a:pPr indent="0" marL="0">
                        <a:buNone/>
                      </a:pPr>
                      <a:r>
                        <a:rPr lang="en-US" sz="900" b="1" dirty="0">
                          <a:solidFill>
                            <a:srgbClr val="1C1C1C"/>
                          </a:solidFill>
                          <a:latin typeface="Calibri" pitchFamily="34" charset="0"/>
                          <a:ea typeface="Calibri" pitchFamily="34" charset="-122"/>
                          <a:cs typeface="Calibri" pitchFamily="34" charset="-120"/>
                        </a:rPr>
                        <a:t>Disiplin rute: hanya 4 sampai 8 jam dengan A330; tunda penambahan rute Eropa</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Load factor di atas 85 persen; biaya per ASK AirAsia X di bawah 60 persen pesaing per rute</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2010 sampai 2011</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CEO AirAsia X</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Balasan harga Emirates dan MAS; mitigasi dengan bandara sekunder dan rute yang belum padat pesaing premium</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r>
              <a:tr h="530352">
                <a:tc>
                  <a:txBody>
                    <a:bodyPr/>
                    <a:lstStyle/>
                    <a:p>
                      <a:pPr indent="0" marL="0">
                        <a:buNone/>
                      </a:pPr>
                      <a:r>
                        <a:rPr lang="en-US" sz="900" b="1" dirty="0">
                          <a:solidFill>
                            <a:srgbClr val="1C1C1C"/>
                          </a:solidFill>
                          <a:latin typeface="Calibri" pitchFamily="34" charset="0"/>
                          <a:ea typeface="Calibri" pitchFamily="34" charset="-122"/>
                          <a:cs typeface="Calibri" pitchFamily="34" charset="-120"/>
                        </a:rPr>
                        <a:t>Bangun pengumpan terbatas: tiket terusan dan transfer bagasi antar AirAsia dan AirAsia X di KL</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Porsi penumpang transit di atas 25 persen pada rute jauh</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2010</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Direktur Komersial Group</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Kompleksitas operasi; mitigasi dengan uji coba di tiga rute sebelum diperluas</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30352">
                <a:tc>
                  <a:txBody>
                    <a:bodyPr/>
                    <a:lstStyle/>
                    <a:p>
                      <a:pPr indent="0" marL="0">
                        <a:buNone/>
                      </a:pPr>
                      <a:r>
                        <a:rPr lang="en-US" sz="900" b="1" dirty="0">
                          <a:solidFill>
                            <a:srgbClr val="1C1C1C"/>
                          </a:solidFill>
                          <a:latin typeface="Calibri" pitchFamily="34" charset="0"/>
                          <a:ea typeface="Calibri" pitchFamily="34" charset="-122"/>
                          <a:cs typeface="Calibri" pitchFamily="34" charset="-120"/>
                        </a:rPr>
                        <a:t>Kebijakan lindung nilai bahan bakar berbasis aturan</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Rasio hedging 30 sampai 50 persen kebutuhan 12 bulan; batas rugi derivatif</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Segera</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CFO dan Komite Risiko</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Terulangnya kerugian 2008; mitigasi dengan mandat tertulis yang disetujui dewan</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r>
              <a:tr h="530352">
                <a:tc>
                  <a:txBody>
                    <a:bodyPr/>
                    <a:lstStyle/>
                    <a:p>
                      <a:pPr indent="0" marL="0">
                        <a:buNone/>
                      </a:pPr>
                      <a:r>
                        <a:rPr lang="en-US" sz="900" b="1" dirty="0">
                          <a:solidFill>
                            <a:srgbClr val="1C1C1C"/>
                          </a:solidFill>
                          <a:latin typeface="Calibri" pitchFamily="34" charset="0"/>
                          <a:ea typeface="Calibri" pitchFamily="34" charset="-122"/>
                          <a:cs typeface="Calibri" pitchFamily="34" charset="-120"/>
                        </a:rPr>
                        <a:t>Perkuat neraca sebelum A350 tiba</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Utang terhadap ekuitas turun ke bawah 3 kali; kas minimal tiga bulan biaya operasi</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2010 sampai 2015</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CFO</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Ketergantungan sewa pesawat; mitigasi lewat sale and leaseback dan penerbitan saham bila valuasi mendukung</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530352">
                <a:tc>
                  <a:txBody>
                    <a:bodyPr/>
                    <a:lstStyle/>
                    <a:p>
                      <a:pPr indent="0" marL="0">
                        <a:buNone/>
                      </a:pPr>
                      <a:r>
                        <a:rPr lang="en-US" sz="900" b="1" dirty="0">
                          <a:solidFill>
                            <a:srgbClr val="1C1C1C"/>
                          </a:solidFill>
                          <a:latin typeface="Calibri" pitchFamily="34" charset="0"/>
                          <a:ea typeface="Calibri" pitchFamily="34" charset="-122"/>
                          <a:cs typeface="Calibri" pitchFamily="34" charset="-120"/>
                        </a:rPr>
                        <a:t>Gerbang keputusan merger (stage gate)</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Empat kuartal berturut laba bersih positif dan arus kas operasi positif di AirAsia X</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Evaluasi 2011</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Dewan Komisaris</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c>
                  <a:txBody>
                    <a:bodyPr/>
                    <a:lstStyle/>
                    <a:p>
                      <a:pPr indent="0" marL="0">
                        <a:buNone/>
                      </a:pPr>
                      <a:r>
                        <a:rPr lang="en-US" sz="900" dirty="0">
                          <a:solidFill>
                            <a:srgbClr val="1C1C1C"/>
                          </a:solidFill>
                          <a:latin typeface="Calibri" pitchFamily="34" charset="0"/>
                          <a:ea typeface="Calibri" pitchFamily="34" charset="-122"/>
                          <a:cs typeface="Calibri" pitchFamily="34" charset="-120"/>
                        </a:rPr>
                        <a:t>Tekanan untuk mempercepat; mitigasi dengan kriteria yang dipublikasikan ke pemegang saham</a:t>
                      </a:r>
                      <a:endParaRPr lang="en-US" sz="900" dirty="0">
                        <a:latin typeface="Calibri" charset="0"/>
                        <a:ea typeface="Calibri" charset="0"/>
                        <a:cs typeface="Calibri" charset="0"/>
                      </a:endParaRPr>
                    </a:p>
                  </a:txBody>
                  <a:tcPr marL="73152" marR="73152"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4F4"/>
                    </a:solidFill>
                  </a:tcPr>
                </a:tc>
              </a:tr>
            </a:tbl>
          </a:graphicData>
        </a:graphic>
      </p:graphicFrame>
      <p:sp>
        <p:nvSpPr>
          <p:cNvPr id="7" name="Text 4"/>
          <p:cNvSpPr txBox="1"/>
          <p:nvPr/>
        </p:nvSpPr>
        <p:spPr>
          <a:xfrm>
            <a:off x="548640" y="6016752"/>
            <a:ext cx="11064240" cy="365760"/>
          </a:xfrm>
          <a:prstGeom prst="rect">
            <a:avLst/>
          </a:prstGeom>
          <a:noFill/>
          <a:ln/>
        </p:spPr>
        <p:txBody>
          <a:bodyPr wrap="square" lIns="0" tIns="0" rIns="0" bIns="0" rtlCol="0" anchor="ctr"/>
          <a:lstStyle/>
          <a:p>
            <a:pPr indent="0" marL="0">
              <a:buNone/>
            </a:pPr>
            <a:r>
              <a:rPr lang="en-US" sz="1050" b="1" dirty="0">
                <a:solidFill>
                  <a:srgbClr val="C8102E"/>
                </a:solidFill>
                <a:latin typeface="Calibri" pitchFamily="34" charset="0"/>
                <a:ea typeface="Calibri" pitchFamily="34" charset="-122"/>
                <a:cs typeface="Calibri" pitchFamily="34" charset="-120"/>
              </a:rPr>
              <a:t>Kaitan.  </a:t>
            </a:r>
            <a:pPr indent="0" marL="0">
              <a:buNone/>
            </a:pPr>
            <a:r>
              <a:rPr lang="en-US" sz="1050" i="1" dirty="0">
                <a:solidFill>
                  <a:srgbClr val="6E6E6E"/>
                </a:solidFill>
                <a:latin typeface="Calibri" pitchFamily="34" charset="0"/>
                <a:ea typeface="Calibri" pitchFamily="34" charset="-122"/>
                <a:cs typeface="Calibri" pitchFamily="34" charset="-120"/>
              </a:rPr>
              <a:t>Rekomendasi ini menjawab pertanyaan strategis di slide 4. Slide berikutnya menarik pelajarannya kembali ke Bab 3.</a:t>
            </a:r>
            <a:endParaRPr lang="en-US" sz="1050" dirty="0"/>
          </a:p>
        </p:txBody>
      </p:sp>
      <p:sp>
        <p:nvSpPr>
          <p:cNvPr id="8" name="Text 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9" name="Text 6"/>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6E6E6E"/>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8E0B20"/>
        </a:solidFill>
      </p:bgPr>
    </p:bg>
    <p:spTree>
      <p:nvGrpSpPr>
        <p:cNvPr id="1" name=""/>
        <p:cNvGrpSpPr/>
        <p:nvPr/>
      </p:nvGrpSpPr>
      <p:grpSpPr>
        <a:xfrm>
          <a:off x="0" y="0"/>
          <a:ext cx="0" cy="0"/>
          <a:chOff x="0" y="0"/>
          <a:chExt cx="0" cy="0"/>
        </a:xfrm>
      </p:grpSpPr>
      <p:sp>
        <p:nvSpPr>
          <p:cNvPr id="2" name="Shape 0"/>
          <p:cNvSpPr/>
          <p:nvPr/>
        </p:nvSpPr>
        <p:spPr>
          <a:xfrm>
            <a:off x="-2011680" y="3840480"/>
            <a:ext cx="5486400" cy="5486400"/>
          </a:xfrm>
          <a:prstGeom prst="ellipse">
            <a:avLst/>
          </a:prstGeom>
          <a:solidFill>
            <a:srgbClr val="C8102E"/>
          </a:solidFill>
          <a:ln w="12700">
            <a:solidFill>
              <a:srgbClr val="C8102E"/>
            </a:solidFill>
            <a:prstDash val="solid"/>
          </a:ln>
        </p:spPr>
      </p:sp>
      <p:sp>
        <p:nvSpPr>
          <p:cNvPr id="3" name="Text 1"/>
          <p:cNvSpPr txBox="1"/>
          <p:nvPr/>
        </p:nvSpPr>
        <p:spPr>
          <a:xfrm>
            <a:off x="640080" y="457200"/>
            <a:ext cx="7315200" cy="320040"/>
          </a:xfrm>
          <a:prstGeom prst="rect">
            <a:avLst/>
          </a:prstGeom>
          <a:noFill/>
          <a:ln/>
        </p:spPr>
        <p:txBody>
          <a:bodyPr wrap="square" lIns="0" tIns="0" rIns="0" bIns="0" rtlCol="0" anchor="ctr"/>
          <a:lstStyle/>
          <a:p>
            <a:pPr indent="0" marL="0">
              <a:buNone/>
            </a:pPr>
            <a:r>
              <a:rPr lang="en-US" sz="1000" b="1" spc="200" kern="0" dirty="0">
                <a:solidFill>
                  <a:srgbClr val="F1C7CF"/>
                </a:solidFill>
                <a:latin typeface="Calibri" pitchFamily="34" charset="0"/>
                <a:ea typeface="Calibri" pitchFamily="34" charset="-122"/>
                <a:cs typeface="Calibri" pitchFamily="34" charset="-120"/>
              </a:rPr>
              <a:t>STEP 4  CHOICE</a:t>
            </a:r>
            <a:endParaRPr lang="en-US" sz="1000" dirty="0"/>
          </a:p>
        </p:txBody>
      </p:sp>
      <p:sp>
        <p:nvSpPr>
          <p:cNvPr id="4" name="Text 2"/>
          <p:cNvSpPr txBox="1"/>
          <p:nvPr/>
        </p:nvSpPr>
        <p:spPr>
          <a:xfrm>
            <a:off x="640080" y="777240"/>
            <a:ext cx="105156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Lessons for Chapter 3</a:t>
            </a:r>
            <a:endParaRPr lang="en-US" sz="3200" dirty="0"/>
          </a:p>
        </p:txBody>
      </p:sp>
      <p:sp>
        <p:nvSpPr>
          <p:cNvPr id="5" name="Shape 3"/>
          <p:cNvSpPr/>
          <p:nvPr/>
        </p:nvSpPr>
        <p:spPr>
          <a:xfrm>
            <a:off x="640080" y="1828800"/>
            <a:ext cx="384048" cy="384048"/>
          </a:xfrm>
          <a:prstGeom prst="ellipse">
            <a:avLst/>
          </a:prstGeom>
          <a:solidFill>
            <a:srgbClr val="FFFFFF"/>
          </a:solidFill>
          <a:ln w="12700">
            <a:solidFill>
              <a:srgbClr val="FFFFFF"/>
            </a:solidFill>
            <a:prstDash val="solid"/>
          </a:ln>
        </p:spPr>
      </p:sp>
      <p:sp>
        <p:nvSpPr>
          <p:cNvPr id="6" name="Text 4"/>
          <p:cNvSpPr txBox="1"/>
          <p:nvPr/>
        </p:nvSpPr>
        <p:spPr>
          <a:xfrm>
            <a:off x="640080" y="1828800"/>
            <a:ext cx="384048" cy="384048"/>
          </a:xfrm>
          <a:prstGeom prst="rect">
            <a:avLst/>
          </a:prstGeom>
          <a:noFill/>
          <a:ln/>
        </p:spPr>
        <p:txBody>
          <a:bodyPr wrap="square" lIns="0" tIns="0" rIns="0" bIns="0" rtlCol="0" anchor="ctr"/>
          <a:lstStyle/>
          <a:p>
            <a:pPr algn="ctr" indent="0" marL="0">
              <a:buNone/>
            </a:pPr>
            <a:r>
              <a:rPr lang="en-US" sz="1300" b="1" dirty="0">
                <a:solidFill>
                  <a:srgbClr val="C8102E"/>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88720" y="1783080"/>
            <a:ext cx="4846320" cy="1417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Struktur industri menjelaskan mengapa laba langka, bukan siapa yang meraihnya.</a:t>
            </a:r>
            <a:endParaRPr lang="en-US" sz="1300" dirty="0"/>
          </a:p>
          <a:p>
            <a:pPr indent="0" marL="0">
              <a:buNone/>
            </a:pPr>
            <a:r>
              <a:rPr lang="en-US" sz="1100" dirty="0">
                <a:solidFill>
                  <a:srgbClr val="F1C7CF"/>
                </a:solidFill>
                <a:latin typeface="Calibri" pitchFamily="34" charset="0"/>
                <a:ea typeface="Calibri" pitchFamily="34" charset="-122"/>
                <a:cs typeface="Calibri" pitchFamily="34" charset="-120"/>
              </a:rPr>
              <a:t>Five Forces menunjukkan industri penerbangan tidak atraktif. Laba AirAsia lahir dari posisi biaya relatif, sesuai logika SCP.</a:t>
            </a:r>
            <a:endParaRPr lang="en-US" sz="1300" dirty="0"/>
          </a:p>
        </p:txBody>
      </p:sp>
      <p:sp>
        <p:nvSpPr>
          <p:cNvPr id="8" name="Shape 6"/>
          <p:cNvSpPr/>
          <p:nvPr/>
        </p:nvSpPr>
        <p:spPr>
          <a:xfrm>
            <a:off x="6217920" y="1828800"/>
            <a:ext cx="384048" cy="384048"/>
          </a:xfrm>
          <a:prstGeom prst="ellipse">
            <a:avLst/>
          </a:prstGeom>
          <a:solidFill>
            <a:srgbClr val="FFFFFF"/>
          </a:solidFill>
          <a:ln w="12700">
            <a:solidFill>
              <a:srgbClr val="FFFFFF"/>
            </a:solidFill>
            <a:prstDash val="solid"/>
          </a:ln>
        </p:spPr>
      </p:sp>
      <p:sp>
        <p:nvSpPr>
          <p:cNvPr id="9" name="Text 7"/>
          <p:cNvSpPr txBox="1"/>
          <p:nvPr/>
        </p:nvSpPr>
        <p:spPr>
          <a:xfrm>
            <a:off x="6217920" y="1828800"/>
            <a:ext cx="384048" cy="384048"/>
          </a:xfrm>
          <a:prstGeom prst="rect">
            <a:avLst/>
          </a:prstGeom>
          <a:noFill/>
          <a:ln/>
        </p:spPr>
        <p:txBody>
          <a:bodyPr wrap="square" lIns="0" tIns="0" rIns="0" bIns="0" rtlCol="0" anchor="ctr"/>
          <a:lstStyle/>
          <a:p>
            <a:pPr algn="ctr" indent="0" marL="0">
              <a:buNone/>
            </a:pPr>
            <a:r>
              <a:rPr lang="en-US" sz="1300" b="1" dirty="0">
                <a:solidFill>
                  <a:srgbClr val="C8102E"/>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6766560" y="1783080"/>
            <a:ext cx="4846320" cy="1417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Keunggulan biaya adalah sistem yang saling menopang.</a:t>
            </a:r>
            <a:endParaRPr lang="en-US" sz="1300" dirty="0"/>
          </a:p>
          <a:p>
            <a:pPr indent="0" marL="0">
              <a:buNone/>
            </a:pPr>
            <a:r>
              <a:rPr lang="en-US" sz="1100" dirty="0">
                <a:solidFill>
                  <a:srgbClr val="F1C7CF"/>
                </a:solidFill>
                <a:latin typeface="Calibri" pitchFamily="34" charset="0"/>
                <a:ea typeface="Calibri" pitchFamily="34" charset="-122"/>
                <a:cs typeface="Calibri" pitchFamily="34" charset="-120"/>
              </a:rPr>
              <a:t>Operasi, SDM, dan merek bekerja bersama. Memindahkan sebagian tanpa yang lain menghasilkan keunggulan yang lebih tipis.</a:t>
            </a:r>
            <a:endParaRPr lang="en-US" sz="1300" dirty="0"/>
          </a:p>
        </p:txBody>
      </p:sp>
      <p:sp>
        <p:nvSpPr>
          <p:cNvPr id="11" name="Shape 9"/>
          <p:cNvSpPr/>
          <p:nvPr/>
        </p:nvSpPr>
        <p:spPr>
          <a:xfrm>
            <a:off x="640080" y="3383280"/>
            <a:ext cx="384048" cy="384048"/>
          </a:xfrm>
          <a:prstGeom prst="ellipse">
            <a:avLst/>
          </a:prstGeom>
          <a:solidFill>
            <a:srgbClr val="FFFFFF"/>
          </a:solidFill>
          <a:ln w="12700">
            <a:solidFill>
              <a:srgbClr val="FFFFFF"/>
            </a:solidFill>
            <a:prstDash val="solid"/>
          </a:ln>
        </p:spPr>
      </p:sp>
      <p:sp>
        <p:nvSpPr>
          <p:cNvPr id="12" name="Text 10"/>
          <p:cNvSpPr txBox="1"/>
          <p:nvPr/>
        </p:nvSpPr>
        <p:spPr>
          <a:xfrm>
            <a:off x="640080" y="3383280"/>
            <a:ext cx="384048" cy="384048"/>
          </a:xfrm>
          <a:prstGeom prst="rect">
            <a:avLst/>
          </a:prstGeom>
          <a:noFill/>
          <a:ln/>
        </p:spPr>
        <p:txBody>
          <a:bodyPr wrap="square" lIns="0" tIns="0" rIns="0" bIns="0" rtlCol="0" anchor="ctr"/>
          <a:lstStyle/>
          <a:p>
            <a:pPr algn="ctr" indent="0" marL="0">
              <a:buNone/>
            </a:pPr>
            <a:r>
              <a:rPr lang="en-US" sz="1300" b="1" dirty="0">
                <a:solidFill>
                  <a:srgbClr val="C8102E"/>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88720" y="3337560"/>
            <a:ext cx="4846320" cy="1417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Pindah kelompok strategis berarti menghadapi pesaing dengan model laba berbeda.</a:t>
            </a:r>
            <a:endParaRPr lang="en-US" sz="1300" dirty="0"/>
          </a:p>
          <a:p>
            <a:pPr indent="0" marL="0">
              <a:buNone/>
            </a:pPr>
            <a:r>
              <a:rPr lang="en-US" sz="1100" dirty="0">
                <a:solidFill>
                  <a:srgbClr val="F1C7CF"/>
                </a:solidFill>
                <a:latin typeface="Calibri" pitchFamily="34" charset="0"/>
                <a:ea typeface="Calibri" pitchFamily="34" charset="-122"/>
                <a:cs typeface="Calibri" pitchFamily="34" charset="-120"/>
              </a:rPr>
              <a:t>Peta kelompok strategis menunjukkan bahwa di rute jauh, lawan AirAsia X mampu mensubsidi harga ekonomi.</a:t>
            </a:r>
            <a:endParaRPr lang="en-US" sz="1300" dirty="0"/>
          </a:p>
        </p:txBody>
      </p:sp>
      <p:sp>
        <p:nvSpPr>
          <p:cNvPr id="14" name="Shape 12"/>
          <p:cNvSpPr/>
          <p:nvPr/>
        </p:nvSpPr>
        <p:spPr>
          <a:xfrm>
            <a:off x="6217920" y="3383280"/>
            <a:ext cx="384048" cy="384048"/>
          </a:xfrm>
          <a:prstGeom prst="ellipse">
            <a:avLst/>
          </a:prstGeom>
          <a:solidFill>
            <a:srgbClr val="FFFFFF"/>
          </a:solidFill>
          <a:ln w="12700">
            <a:solidFill>
              <a:srgbClr val="FFFFFF"/>
            </a:solidFill>
            <a:prstDash val="solid"/>
          </a:ln>
        </p:spPr>
      </p:sp>
      <p:sp>
        <p:nvSpPr>
          <p:cNvPr id="15" name="Text 13"/>
          <p:cNvSpPr txBox="1"/>
          <p:nvPr/>
        </p:nvSpPr>
        <p:spPr>
          <a:xfrm>
            <a:off x="6217920" y="3383280"/>
            <a:ext cx="384048" cy="384048"/>
          </a:xfrm>
          <a:prstGeom prst="rect">
            <a:avLst/>
          </a:prstGeom>
          <a:noFill/>
          <a:ln/>
        </p:spPr>
        <p:txBody>
          <a:bodyPr wrap="square" lIns="0" tIns="0" rIns="0" bIns="0" rtlCol="0" anchor="ctr"/>
          <a:lstStyle/>
          <a:p>
            <a:pPr algn="ctr" indent="0" marL="0">
              <a:buNone/>
            </a:pPr>
            <a:r>
              <a:rPr lang="en-US" sz="1300" b="1" dirty="0">
                <a:solidFill>
                  <a:srgbClr val="C8102E"/>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6766560" y="3337560"/>
            <a:ext cx="4846320" cy="1417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Eksplorasi sebaiknya dijalankan dalam unit terpisah yang tetap dikendalikan induk.</a:t>
            </a:r>
            <a:endParaRPr lang="en-US" sz="1300" dirty="0"/>
          </a:p>
          <a:p>
            <a:pPr indent="0" marL="0">
              <a:buNone/>
            </a:pPr>
            <a:r>
              <a:rPr lang="en-US" sz="1100" dirty="0">
                <a:solidFill>
                  <a:srgbClr val="F1C7CF"/>
                </a:solidFill>
                <a:latin typeface="Calibri" pitchFamily="34" charset="0"/>
                <a:ea typeface="Calibri" pitchFamily="34" charset="-122"/>
                <a:cs typeface="Calibri" pitchFamily="34" charset="-120"/>
              </a:rPr>
              <a:t>Lingkungan yang berubah cepat dan neraca yang lemah membuat integrasi bertahap lebih aman daripada merger penuh.</a:t>
            </a:r>
            <a:endParaRPr lang="en-US" sz="1300" dirty="0"/>
          </a:p>
        </p:txBody>
      </p:sp>
      <p:sp>
        <p:nvSpPr>
          <p:cNvPr id="17" name="Text 15"/>
          <p:cNvSpPr txBox="1"/>
          <p:nvPr/>
        </p:nvSpPr>
        <p:spPr>
          <a:xfrm>
            <a:off x="640080" y="4846320"/>
            <a:ext cx="10881360" cy="594360"/>
          </a:xfrm>
          <a:prstGeom prst="rect">
            <a:avLst/>
          </a:prstGeom>
          <a:noFill/>
          <a:ln/>
        </p:spPr>
        <p:txBody>
          <a:bodyPr wrap="square" lIns="0" tIns="0" rIns="0" bIns="0" rtlCol="0" anchor="ctr"/>
          <a:lstStyle/>
          <a:p>
            <a:pPr indent="0" marL="0">
              <a:buNone/>
            </a:pPr>
            <a:r>
              <a:rPr lang="en-US" sz="1250" i="1" dirty="0">
                <a:solidFill>
                  <a:srgbClr val="FFFFFF"/>
                </a:solidFill>
                <a:latin typeface="Calibri" pitchFamily="34" charset="0"/>
                <a:ea typeface="Calibri" pitchFamily="34" charset="-122"/>
                <a:cs typeface="Calibri" pitchFamily="34" charset="-120"/>
              </a:rPr>
              <a:t>Apabila dirangkum dalam satu kata, kasus AirAsia adalah tentang transferabilitas: bukan hanya seberapa rendah biayanya, tetapi seberapa jauh biaya rendah itu dapat dibawa.</a:t>
            </a:r>
            <a:endParaRPr lang="en-US" sz="1250" dirty="0"/>
          </a:p>
        </p:txBody>
      </p:sp>
      <p:sp>
        <p:nvSpPr>
          <p:cNvPr id="18" name="Shape 16"/>
          <p:cNvSpPr/>
          <p:nvPr/>
        </p:nvSpPr>
        <p:spPr>
          <a:xfrm>
            <a:off x="640080" y="5532120"/>
            <a:ext cx="10881360" cy="777240"/>
          </a:xfrm>
          <a:prstGeom prst="roundRect">
            <a:avLst>
              <a:gd name="adj" fmla="val 9412"/>
            </a:avLst>
          </a:prstGeom>
          <a:solidFill>
            <a:srgbClr val="FFFFFF"/>
          </a:solidFill>
          <a:ln w="12700">
            <a:solidFill>
              <a:srgbClr val="FFFFFF"/>
            </a:solidFill>
            <a:prstDash val="solid"/>
          </a:ln>
        </p:spPr>
      </p:sp>
      <p:sp>
        <p:nvSpPr>
          <p:cNvPr id="19" name="Text 17"/>
          <p:cNvSpPr txBox="1"/>
          <p:nvPr/>
        </p:nvSpPr>
        <p:spPr>
          <a:xfrm>
            <a:off x="868680" y="5559552"/>
            <a:ext cx="10424160" cy="722376"/>
          </a:xfrm>
          <a:prstGeom prst="rect">
            <a:avLst/>
          </a:prstGeom>
          <a:noFill/>
          <a:ln/>
        </p:spPr>
        <p:txBody>
          <a:bodyPr wrap="square" lIns="0" tIns="0" rIns="0" bIns="0" rtlCol="0" anchor="ctr"/>
          <a:lstStyle/>
          <a:p>
            <a:pPr indent="0" marL="0">
              <a:buNone/>
            </a:pPr>
            <a:r>
              <a:rPr lang="en-US" sz="1200" b="1" dirty="0">
                <a:solidFill>
                  <a:srgbClr val="C8102E"/>
                </a:solidFill>
                <a:latin typeface="Calibri" pitchFamily="34" charset="0"/>
                <a:ea typeface="Calibri" pitchFamily="34" charset="-122"/>
                <a:cs typeface="Calibri" pitchFamily="34" charset="-120"/>
              </a:rPr>
              <a:t>Pertanyaan untuk diskusi kelas: </a:t>
            </a:r>
            <a:pPr indent="0" marL="0">
              <a:buNone/>
            </a:pPr>
            <a:r>
              <a:rPr lang="en-US" sz="1200" dirty="0">
                <a:solidFill>
                  <a:srgbClr val="1C1C1C"/>
                </a:solidFill>
                <a:latin typeface="Calibri" pitchFamily="34" charset="0"/>
                <a:ea typeface="Calibri" pitchFamily="34" charset="-122"/>
                <a:cs typeface="Calibri" pitchFamily="34" charset="-120"/>
              </a:rPr>
              <a:t>Jika Anda Tony Fernandes pada Juli 2009 dengan kas RM 153,8 juta, apakah Anda menyetujui merger sekarang, atau menunggu bukti empat kuartal? Apa yang hilang jika menunggu?</a:t>
            </a:r>
            <a:endParaRPr lang="en-US" sz="1200" dirty="0"/>
          </a:p>
        </p:txBody>
      </p:sp>
      <p:sp>
        <p:nvSpPr>
          <p:cNvPr id="20" name="Text 1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F1C7CF"/>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21" name="Text 19"/>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F1C7C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8E0B20"/>
        </a:solidFill>
      </p:bgPr>
    </p:bg>
    <p:spTree>
      <p:nvGrpSpPr>
        <p:cNvPr id="1" name=""/>
        <p:cNvGrpSpPr/>
        <p:nvPr/>
      </p:nvGrpSpPr>
      <p:grpSpPr>
        <a:xfrm>
          <a:off x="0" y="0"/>
          <a:ext cx="0" cy="0"/>
          <a:chOff x="0" y="0"/>
          <a:chExt cx="0" cy="0"/>
        </a:xfrm>
      </p:grpSpPr>
      <p:sp>
        <p:nvSpPr>
          <p:cNvPr id="2" name="Shape 0"/>
          <p:cNvSpPr/>
          <p:nvPr/>
        </p:nvSpPr>
        <p:spPr>
          <a:xfrm>
            <a:off x="8412480" y="-1463040"/>
            <a:ext cx="5669280" cy="5669280"/>
          </a:xfrm>
          <a:prstGeom prst="ellipse">
            <a:avLst/>
          </a:prstGeom>
          <a:solidFill>
            <a:srgbClr val="C8102E"/>
          </a:solidFill>
          <a:ln w="12700">
            <a:solidFill>
              <a:srgbClr val="C8102E"/>
            </a:solidFill>
            <a:prstDash val="solid"/>
          </a:ln>
        </p:spPr>
      </p:sp>
      <p:sp>
        <p:nvSpPr>
          <p:cNvPr id="3" name="Text 1"/>
          <p:cNvSpPr txBox="1"/>
          <p:nvPr/>
        </p:nvSpPr>
        <p:spPr>
          <a:xfrm>
            <a:off x="640080" y="2103120"/>
            <a:ext cx="8229600" cy="109728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Thank you</a:t>
            </a:r>
            <a:endParaRPr lang="en-US" sz="6000" dirty="0"/>
          </a:p>
        </p:txBody>
      </p:sp>
      <p:sp>
        <p:nvSpPr>
          <p:cNvPr id="4" name="Text 2"/>
          <p:cNvSpPr txBox="1"/>
          <p:nvPr/>
        </p:nvSpPr>
        <p:spPr>
          <a:xfrm>
            <a:off x="640080" y="3200400"/>
            <a:ext cx="8229600" cy="548640"/>
          </a:xfrm>
          <a:prstGeom prst="rect">
            <a:avLst/>
          </a:prstGeom>
          <a:noFill/>
          <a:ln/>
        </p:spPr>
        <p:txBody>
          <a:bodyPr wrap="square" lIns="0" tIns="0" rIns="0" bIns="0" rtlCol="0" anchor="ctr"/>
          <a:lstStyle/>
          <a:p>
            <a:pPr indent="0" marL="0">
              <a:buNone/>
            </a:pPr>
            <a:r>
              <a:rPr lang="en-US" sz="1800" dirty="0">
                <a:solidFill>
                  <a:srgbClr val="F1C7CF"/>
                </a:solidFill>
                <a:latin typeface="Calibri" pitchFamily="34" charset="0"/>
                <a:ea typeface="Calibri" pitchFamily="34" charset="-122"/>
                <a:cs typeface="Calibri" pitchFamily="34" charset="-120"/>
              </a:rPr>
              <a:t>Terima kasih. Kami terbuka untuk pertanyaan dan diskusi.</a:t>
            </a:r>
            <a:endParaRPr lang="en-US" sz="1800" dirty="0"/>
          </a:p>
        </p:txBody>
      </p:sp>
      <p:sp>
        <p:nvSpPr>
          <p:cNvPr id="5" name="Text 3"/>
          <p:cNvSpPr txBox="1"/>
          <p:nvPr/>
        </p:nvSpPr>
        <p:spPr>
          <a:xfrm>
            <a:off x="640080" y="4572000"/>
            <a:ext cx="10058400" cy="1463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Kelompok 3</a:t>
            </a:r>
            <a:endParaRPr lang="en-US" sz="1400" dirty="0"/>
          </a:p>
          <a:p>
            <a:pPr indent="0" marL="0">
              <a:buNone/>
            </a:pPr>
            <a:r>
              <a:rPr lang="en-US" sz="1200" dirty="0">
                <a:solidFill>
                  <a:srgbClr val="FFFFFF"/>
                </a:solidFill>
                <a:latin typeface="Calibri" pitchFamily="34" charset="0"/>
                <a:ea typeface="Calibri" pitchFamily="34" charset="-122"/>
                <a:cs typeface="Calibri" pitchFamily="34" charset="-120"/>
              </a:rPr>
              <a:t>Tifani Puspita  |  Dara Astrini Rahayu K  |  Happy Dinithasari  |  Aslih Abnuri</a:t>
            </a:r>
            <a:endParaRPr lang="en-US" sz="1400" dirty="0"/>
          </a:p>
          <a:p>
            <a:pPr indent="0" marL="0">
              <a:buNone/>
            </a:pPr>
            <a:r>
              <a:rPr lang="en-US" sz="600" dirty="0">
                <a:solidFill>
                  <a:srgbClr val="FFFFFF"/>
                </a:solidFill>
                <a:latin typeface="Calibri" pitchFamily="34" charset="0"/>
                <a:ea typeface="Calibri" pitchFamily="34" charset="-122"/>
                <a:cs typeface="Calibri" pitchFamily="34" charset="-120"/>
              </a:rPr>
              <a:t> </a:t>
            </a:r>
            <a:endParaRPr lang="en-US" sz="1400" dirty="0"/>
          </a:p>
          <a:p>
            <a:pPr indent="0" marL="0">
              <a:buNone/>
            </a:pPr>
            <a:r>
              <a:rPr lang="en-US" sz="1100" dirty="0">
                <a:solidFill>
                  <a:srgbClr val="FFFFFF"/>
                </a:solidFill>
                <a:latin typeface="Calibri" pitchFamily="34" charset="0"/>
                <a:ea typeface="Calibri" pitchFamily="34" charset="-122"/>
                <a:cs typeface="Calibri" pitchFamily="34" charset="-120"/>
              </a:rPr>
              <a:t>Strategic Management (MAN 5422), Program Magister Manajemen, Fakultas Ekonomika dan Bisnis, Universitas Gadjah Mada</a:t>
            </a:r>
            <a:endParaRPr lang="en-US" sz="1400" dirty="0"/>
          </a:p>
          <a:p>
            <a:pPr indent="0" marL="0">
              <a:buNone/>
            </a:pPr>
            <a:r>
              <a:rPr lang="en-US" sz="1100" dirty="0">
                <a:solidFill>
                  <a:srgbClr val="FFFFFF"/>
                </a:solidFill>
                <a:latin typeface="Calibri" pitchFamily="34" charset="0"/>
                <a:ea typeface="Calibri" pitchFamily="34" charset="-122"/>
                <a:cs typeface="Calibri" pitchFamily="34" charset="-120"/>
              </a:rPr>
              <a:t>Sumber data: Grant, R. M. (2010), AirAsia: The World's Lowest Cost Airline, Case 9, Tabel 9.1 sampai 9.5.</a:t>
            </a:r>
            <a:endParaRPr lang="en-US" sz="1400" dirty="0"/>
          </a:p>
        </p:txBody>
      </p:sp>
      <p:sp>
        <p:nvSpPr>
          <p:cNvPr id="6" name="Text 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F1C7CF"/>
                </a:solidFill>
                <a:latin typeface="Calibri" pitchFamily="34" charset="0"/>
                <a:ea typeface="Calibri" pitchFamily="34" charset="-122"/>
                <a:cs typeface="Calibri" pitchFamily="34" charset="-120"/>
              </a:rPr>
              <a:t>Kelompok 3  |  Strategic Management MAN 5422  |  Kasus AirAsia</a:t>
            </a:r>
            <a:endParaRPr lang="en-US" sz="900" dirty="0"/>
          </a:p>
        </p:txBody>
      </p:sp>
      <p:sp>
        <p:nvSpPr>
          <p:cNvPr id="7" name="Text 5"/>
          <p:cNvSpPr txBox="1"/>
          <p:nvPr/>
        </p:nvSpPr>
        <p:spPr>
          <a:xfrm>
            <a:off x="11064240" y="6446520"/>
            <a:ext cx="576072" cy="274320"/>
          </a:xfrm>
          <a:prstGeom prst="rect">
            <a:avLst/>
          </a:prstGeom>
          <a:noFill/>
          <a:ln/>
        </p:spPr>
        <p:txBody>
          <a:bodyPr wrap="square" lIns="0" tIns="0" rIns="0" bIns="0" rtlCol="0" anchor="ctr"/>
          <a:lstStyle/>
          <a:p>
            <a:pPr algn="r" indent="0" marL="0">
              <a:buNone/>
            </a:pPr>
            <a:r>
              <a:rPr lang="en-US" sz="900" dirty="0">
                <a:solidFill>
                  <a:srgbClr val="F1C7C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AirAsia: The World's Lowest Cost Airline</dc:title>
  <dc:subject>PptxGenJS Presentation</dc:subject>
  <dc:creator>Kelompok 3</dc:creator>
  <cp:lastModifiedBy>Kelompok 3</cp:lastModifiedBy>
  <cp:revision>1</cp:revision>
  <dcterms:created xsi:type="dcterms:W3CDTF">2026-09-07T08:49:32Z</dcterms:created>
  <dcterms:modified xsi:type="dcterms:W3CDTF">2026-09-07T08:49:32Z</dcterms:modified>
</cp:coreProperties>
</file>