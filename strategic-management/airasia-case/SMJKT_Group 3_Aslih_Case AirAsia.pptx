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Case 9, data 2008 sampai pertengahan 2009. Angka 2001 sampai 2009 adalah rentang waktu kasus: dari akuisisi RM 1 sampai keputusan tentang AirAsia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Kerangka dari Thompson dan Strickland Bab 3 serta panduan analisis kasus RPKPS: masalah, alternatif, isu, kesimpulan. Urutan mengikuti logika Structure Conduct Performance.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(sekitar Rp 2.700 saat itu, Rp 10.000 nilai 2026) dengan warisan utang RM 40 juta (Rp 108 miliar saat itu, Rp 400 miliar nilai 2026). IPO 2004 RM 717 juta (Rp 1,7 triliun saat itu, Rp 4,9 triliun nilai 2026). Kurs: RM 1 = Rp 2.700 (2001), Rp 2.350 (2004), Rp 2.900 (2008), Rp 2.950 (2009); inflasi Indonesia 2009 ke 2026 sekitar 1,9 kali. Riset UBS 2007: biaya per ASK terendah di dunia.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(Rp 1,4 triliun saat itu, Rp 2,9 triliun nilai 2026), utang RM 6,69 miliar (Rp 19,5 triliun; Rp 39 triliun nilai 2026) berbanding ekuitas RM 1,61 miliar (Rp 4,7 triliun; Rp 9,3 triliun), kas RM 153,8 juta (Rp 447 miliar; Rp 0,9 triliun).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 Gambar: AirAsia X A330, pesawat berbadan lebar untuk rute jauh.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internet dan ponsel menghapus komisi agen; kenaikan lalu penurunan tajam harga minyak 2008 merugikan maskapai yang salah posisi lindung nilai, termasuk AirAsia; kelas menengah Asia tumbuh sehingga pasar membesar; AirAsia X dan Jetstar menguji batas model di rute jauh. KSF diturunkan dari struktur industri: kalau pembeli peka harga dan pemasok kuat, penentu kemenangan adalah biaya, utilisasi, dan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Ruang LCC jarak jauh nyaris kosong karena rute jauh butuh pesawat berbadan lebar, kru bermalam, dan penumpang transit dari jaringan pengumpan. AirAsia X masuk membawa merek, sistem reservasi, SDM, dan disiplin biaya dari kelompok 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Biaya per ASK 11,66 sen = Rp 340 (Rp 670 nilai 2026); MAS 22,80 sen = Rp 660 (Rp 1.300). Karyawan per pesawat: 3.799/78 vs 19.094/109. Rugi 2008 RM 496,6 juta (Rp 1,4 triliun) karena melepas kontrak berjangka bahan bakar, rugi RM 830,2 juta (Rp 2,4 triliun; Rp 4,8 triliun nilai 2026). Kas MAS RM 3,57 miliar (Rp 10,4 triliun) berbanding AirAsia RM 153,8 juta (Rp 447 miliar).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AirAsia X membawa 286 penumpang per penerbangan, pesaing 337 sampai 360. Bahan bakar per penerbangan US$79.299 (Rp 824 juta, kurs 2009) vs US$159.522 (Rp 1,66 miliar) untuk B747. Tarif pulang pergi KL London AirAsia X US$433,96 (Rp 4,5 juta saat itu, Rp 8,6 juta nilai 2026) vs rata-rata tarif terendah pesaing US$683,68 (Rp 7,1 juta; Rp 13,5 juta) (Tabel 9.3). Biaya per penumpang US$373 = Rp 3,9 juta (Rp 7,4 juta nilai 2026). Load factor jaringan lima periode (Tabel 9.5): AirAsia 77, 75, 78, 80, 75,5; Emirates 73,4 sampai 79,8; BA 67,6 sampai 71,2; MAS 69 sampai 67,8.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Isu 2: Emirates, BA, dan MAS memperoleh laba dari kelas premium dan mampu menurunkan tarif ekonomi. Isu 3: utang RM 6,69 miliar (Rp 19,5 triliun), ekuitas RM 1,61 miliar (Rp 4,7 triliun), kas RM 153,8 juta (Rp 447 miliar), pesanan 10 A350. Isu 4: literatur ambidexterity (O'Reilly dan Tushman) menyebut pemisahan struktural atau paduan kontekstual. Isu 5: AirAsia 16 persen (opsi 30 persen), Aero Ventures 48 persen, Virgin 16 persen, Manara dan Orix 20 persen; tata kelola hibrida khas portofolio aliansi.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 Pertanyaan diskusi: jika Anda Tony Fernandes pada Juli 2009 dengan kas RM 153,8 juta, setujui merger sekarang atau tunggu bukti empat kuartal?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fleet_8.10x7.50_0.45-0.5.jpg">    </p:cNvPr>
          <p:cNvPicPr>
            <a:picLocks noChangeAspect="1"/>
          </p:cNvPicPr>
          <p:nvPr/>
        </p:nvPicPr>
        <p:blipFill>
          <a:blip r:embed="rId1"/>
          <a:stretch>
            <a:fillRect/>
          </a:stretch>
        </p:blipFill>
        <p:spPr>
          <a:xfrm>
            <a:off x="0" y="0"/>
            <a:ext cx="7406640" cy="6858000"/>
          </a:xfrm>
          <a:prstGeom prst="rect">
            <a:avLst/>
          </a:prstGeom>
        </p:spPr>
      </p:pic>
      <p:sp>
        <p:nvSpPr>
          <p:cNvPr id="3" name="Shape 0"/>
          <p:cNvSpPr/>
          <p:nvPr/>
        </p:nvSpPr>
        <p:spPr>
          <a:xfrm>
            <a:off x="640080" y="777240"/>
            <a:ext cx="3017520" cy="3017520"/>
          </a:xfrm>
          <a:prstGeom prst="pie">
            <a:avLst>
              <a:gd name="adj1" fmla="val 10800000"/>
              <a:gd name="adj2" fmla="val 21600000"/>
            </a:avLst>
          </a:prstGeom>
          <a:solidFill>
            <a:srgbClr val="E4002B"/>
          </a:solidFill>
          <a:ln w="12700">
            <a:solidFill>
              <a:srgbClr val="E4002B"/>
            </a:solidFill>
            <a:prstDash val="solid"/>
          </a:ln>
        </p:spPr>
      </p:sp>
      <p:sp>
        <p:nvSpPr>
          <p:cNvPr id="4" name="Shape 1"/>
          <p:cNvSpPr/>
          <p:nvPr/>
        </p:nvSpPr>
        <p:spPr>
          <a:xfrm>
            <a:off x="3063240" y="1417320"/>
            <a:ext cx="2468880" cy="2468880"/>
          </a:xfrm>
          <a:prstGeom prst="ellipse">
            <a:avLst/>
          </a:prstGeom>
          <a:solidFill>
            <a:srgbClr val="FAD354"/>
          </a:solidFill>
          <a:ln w="12700">
            <a:solidFill>
              <a:srgbClr val="FAD354"/>
            </a:solidFill>
            <a:prstDash val="solid"/>
          </a:ln>
        </p:spPr>
      </p:sp>
      <p:sp>
        <p:nvSpPr>
          <p:cNvPr id="5" name="Text 2"/>
          <p:cNvSpPr txBox="1"/>
          <p:nvPr/>
        </p:nvSpPr>
        <p:spPr>
          <a:xfrm>
            <a:off x="1051560" y="502920"/>
            <a:ext cx="274320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2001</a:t>
            </a:r>
            <a:endParaRPr lang="en-US" sz="6000" dirty="0"/>
          </a:p>
        </p:txBody>
      </p:sp>
      <p:sp>
        <p:nvSpPr>
          <p:cNvPr id="6" name="Shape 3"/>
          <p:cNvSpPr/>
          <p:nvPr/>
        </p:nvSpPr>
        <p:spPr>
          <a:xfrm>
            <a:off x="3246120" y="1417320"/>
            <a:ext cx="457200" cy="64008"/>
          </a:xfrm>
          <a:prstGeom prst="rect">
            <a:avLst/>
          </a:prstGeom>
          <a:solidFill>
            <a:srgbClr val="1E1E1E"/>
          </a:solidFill>
          <a:ln w="12700">
            <a:solidFill>
              <a:srgbClr val="1E1E1E"/>
            </a:solidFill>
            <a:prstDash val="solid"/>
          </a:ln>
        </p:spPr>
      </p:sp>
      <p:sp>
        <p:nvSpPr>
          <p:cNvPr id="7" name="Text 4"/>
          <p:cNvSpPr txBox="1"/>
          <p:nvPr/>
        </p:nvSpPr>
        <p:spPr>
          <a:xfrm>
            <a:off x="3840480" y="1051560"/>
            <a:ext cx="292608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2009</a:t>
            </a:r>
            <a:endParaRPr lang="en-US" sz="6000" dirty="0"/>
          </a:p>
        </p:txBody>
      </p:sp>
      <p:pic>
        <p:nvPicPr>
          <p:cNvPr id="8" name="Image 1" descr="/tmp/claude-0/-home-user-Dom-Manipulation/a70c4110-05d8-512e-ae11-d08dee025a7a/scratchpad/img7/sil_red.png">    </p:cNvPr>
          <p:cNvPicPr>
            <a:picLocks noChangeAspect="1"/>
          </p:cNvPicPr>
          <p:nvPr/>
        </p:nvPicPr>
        <p:blipFill>
          <a:blip r:embed="rId2"/>
          <a:stretch>
            <a:fillRect/>
          </a:stretch>
        </p:blipFill>
        <p:spPr>
          <a:xfrm>
            <a:off x="10104120" y="502920"/>
            <a:ext cx="960120" cy="282539"/>
          </a:xfrm>
          <a:prstGeom prst="rect">
            <a:avLst/>
          </a:prstGeom>
        </p:spPr>
      </p:pic>
      <p:sp>
        <p:nvSpPr>
          <p:cNvPr id="9" name="Shape 5"/>
          <p:cNvSpPr/>
          <p:nvPr/>
        </p:nvSpPr>
        <p:spPr>
          <a:xfrm>
            <a:off x="11109960" y="713232"/>
            <a:ext cx="1097280" cy="0"/>
          </a:xfrm>
          <a:prstGeom prst="line">
            <a:avLst/>
          </a:prstGeom>
          <a:noFill/>
          <a:ln w="25400">
            <a:solidFill>
              <a:srgbClr val="1E1E1E"/>
            </a:solidFill>
            <a:prstDash val="sysDot"/>
          </a:ln>
        </p:spPr>
      </p:sp>
      <p:sp>
        <p:nvSpPr>
          <p:cNvPr id="10" name="Text 6"/>
          <p:cNvSpPr txBox="1"/>
          <p:nvPr/>
        </p:nvSpPr>
        <p:spPr>
          <a:xfrm>
            <a:off x="7863840" y="1234440"/>
            <a:ext cx="4114800" cy="731520"/>
          </a:xfrm>
          <a:prstGeom prst="rect">
            <a:avLst/>
          </a:prstGeom>
          <a:noFill/>
          <a:ln/>
        </p:spPr>
        <p:txBody>
          <a:bodyPr wrap="square" lIns="0" tIns="0" rIns="0" bIns="0" rtlCol="0" anchor="ctr"/>
          <a:lstStyle/>
          <a:p>
            <a:pPr algn="l" indent="0" marL="0">
              <a:buNone/>
            </a:pPr>
            <a:r>
              <a:rPr lang="en-US" sz="4400" spc="300" kern="0" dirty="0">
                <a:solidFill>
                  <a:srgbClr val="1E1E1E"/>
                </a:solidFill>
                <a:latin typeface="Poppins SemiBold" pitchFamily="34" charset="0"/>
                <a:ea typeface="Poppins SemiBold" pitchFamily="34" charset="-122"/>
                <a:cs typeface="Poppins SemiBold" pitchFamily="34" charset="-120"/>
              </a:rPr>
              <a:t>AIRASIA</a:t>
            </a:r>
            <a:endParaRPr lang="en-US" sz="4400" dirty="0"/>
          </a:p>
        </p:txBody>
      </p:sp>
      <p:sp>
        <p:nvSpPr>
          <p:cNvPr id="11" name="Text 7"/>
          <p:cNvSpPr txBox="1"/>
          <p:nvPr/>
        </p:nvSpPr>
        <p:spPr>
          <a:xfrm>
            <a:off x="7863840" y="1965960"/>
            <a:ext cx="41148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THE WORLD'S LOWEST COST AIRLINE</a:t>
            </a:r>
            <a:endParaRPr lang="en-US" sz="1200" dirty="0"/>
          </a:p>
        </p:txBody>
      </p:sp>
      <p:sp>
        <p:nvSpPr>
          <p:cNvPr id="12" name="Text 8"/>
          <p:cNvSpPr txBox="1"/>
          <p:nvPr/>
        </p:nvSpPr>
        <p:spPr>
          <a:xfrm>
            <a:off x="7863840" y="2514600"/>
            <a:ext cx="384048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Sejauh 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dibangun di rute pendek dapat dibawa ke pasar penerbangan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jarak jauh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3" name="Shape 9"/>
          <p:cNvSpPr/>
          <p:nvPr/>
        </p:nvSpPr>
        <p:spPr>
          <a:xfrm>
            <a:off x="7863840" y="4114800"/>
            <a:ext cx="548640" cy="54864"/>
          </a:xfrm>
          <a:prstGeom prst="rect">
            <a:avLst/>
          </a:prstGeom>
          <a:solidFill>
            <a:srgbClr val="1E1E1E"/>
          </a:solidFill>
          <a:ln w="12700">
            <a:solidFill>
              <a:srgbClr val="1E1E1E"/>
            </a:solidFill>
            <a:prstDash val="solid"/>
          </a:ln>
        </p:spPr>
      </p:sp>
      <p:sp>
        <p:nvSpPr>
          <p:cNvPr id="14" name="Text 10"/>
          <p:cNvSpPr txBox="1"/>
          <p:nvPr/>
        </p:nvSpPr>
        <p:spPr>
          <a:xfrm>
            <a:off x="7863840" y="4343400"/>
            <a:ext cx="42062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KELOMPOK 3</a:t>
            </a:r>
            <a:endParaRPr lang="en-US" sz="1200" dirty="0"/>
          </a:p>
        </p:txBody>
      </p:sp>
      <p:sp>
        <p:nvSpPr>
          <p:cNvPr id="15" name="Text 11"/>
          <p:cNvSpPr txBox="1"/>
          <p:nvPr/>
        </p:nvSpPr>
        <p:spPr>
          <a:xfrm>
            <a:off x="7863840" y="4690872"/>
            <a:ext cx="4206240" cy="1463040"/>
          </a:xfrm>
          <a:prstGeom prst="rect">
            <a:avLst/>
          </a:prstGeom>
          <a:noFill/>
          <a:ln/>
        </p:spPr>
        <p:txBody>
          <a:bodyPr wrap="square" lIns="0" tIns="0" rIns="0" bIns="0" rtlCol="0" anchor="t"/>
          <a:lstStyle/>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Aslih Abnuri (25/574338/PEK/31801)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Tifani Puspita (25/574443/PEK/31851)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Happy Dinithasari (25/574400/PEK/31831)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Dara Astrini Rahayu K (25/574437/PEK/31847)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HOW WE READ THE CASE</a:t>
            </a:r>
            <a:endParaRPr lang="en-US" sz="2400" dirty="0"/>
          </a:p>
        </p:txBody>
      </p:sp>
      <p:sp>
        <p:nvSpPr>
          <p:cNvPr id="3" name="Text 1"/>
          <p:cNvSpPr txBox="1"/>
          <p:nvPr/>
        </p:nvSpPr>
        <p:spPr>
          <a:xfrm>
            <a:off x="640080" y="1463040"/>
            <a:ext cx="694944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Lowest cost sering dibaca sebagai kelemahan. Dibaca dengan tepat, murah adalah hasil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disiplin biaya (cost discipline)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sistematis. Pertanyaannya: apakah sistem itu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dapat dipindahkan (transferable)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a:t>
            </a:r>
            <a:endParaRPr lang="en-US" sz="1400" dirty="0"/>
          </a:p>
        </p:txBody>
      </p:sp>
      <p:sp>
        <p:nvSpPr>
          <p:cNvPr id="4" name="Shape 2"/>
          <p:cNvSpPr/>
          <p:nvPr/>
        </p:nvSpPr>
        <p:spPr>
          <a:xfrm>
            <a:off x="8503920" y="457200"/>
            <a:ext cx="4206240" cy="3108960"/>
          </a:xfrm>
          <a:prstGeom prst="arc">
            <a:avLst>
              <a:gd name="adj1" fmla="val 11400000"/>
              <a:gd name="adj2" fmla="val 20400000"/>
            </a:avLst>
          </a:prstGeom>
          <a:ln w="28575">
            <a:solidFill>
              <a:srgbClr val="1E1E1E"/>
            </a:solidFill>
            <a:prstDash val="sysDot"/>
          </a:ln>
        </p:spPr>
      </p:sp>
      <p:pic>
        <p:nvPicPr>
          <p:cNvPr id="5" name="Image 0" descr="/tmp/claude-0/-home-user-Dom-Manipulation/a70c4110-05d8-512e-ae11-d08dee025a7a/scratchpad/img7/sil_red.png">    </p:cNvPr>
          <p:cNvPicPr>
            <a:picLocks noChangeAspect="1"/>
          </p:cNvPicPr>
          <p:nvPr/>
        </p:nvPicPr>
        <p:blipFill>
          <a:blip r:embed="rId1"/>
          <a:stretch>
            <a:fillRect/>
          </a:stretch>
        </p:blipFill>
        <p:spPr>
          <a:xfrm rot="10800000">
            <a:off x="10149840" y="322658"/>
            <a:ext cx="914400" cy="269084"/>
          </a:xfrm>
          <a:prstGeom prst="rect">
            <a:avLst/>
          </a:prstGeom>
        </p:spPr>
      </p:pic>
      <p:sp>
        <p:nvSpPr>
          <p:cNvPr id="6" name="Shape 3"/>
          <p:cNvSpPr/>
          <p:nvPr/>
        </p:nvSpPr>
        <p:spPr>
          <a:xfrm>
            <a:off x="1005840" y="3383280"/>
            <a:ext cx="777240" cy="777240"/>
          </a:xfrm>
          <a:prstGeom prst="rect">
            <a:avLst/>
          </a:prstGeom>
          <a:solidFill>
            <a:srgbClr val="E4002B"/>
          </a:solidFill>
          <a:ln w="12700">
            <a:solidFill>
              <a:srgbClr val="E4002B"/>
            </a:solidFill>
            <a:prstDash val="solid"/>
          </a:ln>
        </p:spPr>
      </p:sp>
      <p:sp>
        <p:nvSpPr>
          <p:cNvPr id="7" name="Shape 4"/>
          <p:cNvSpPr/>
          <p:nvPr/>
        </p:nvSpPr>
        <p:spPr>
          <a:xfrm rot="18000000">
            <a:off x="822960" y="3429000"/>
            <a:ext cx="481889" cy="481889"/>
          </a:xfrm>
          <a:prstGeom prst="triangle">
            <a:avLst/>
          </a:prstGeom>
          <a:solidFill>
            <a:srgbClr val="1E1E1E"/>
          </a:solidFill>
          <a:ln w="12700">
            <a:solidFill>
              <a:srgbClr val="1E1E1E"/>
            </a:solidFill>
            <a:prstDash val="solid"/>
          </a:ln>
        </p:spPr>
      </p:sp>
      <p:sp>
        <p:nvSpPr>
          <p:cNvPr id="8" name="Text 5"/>
          <p:cNvSpPr txBox="1"/>
          <p:nvPr/>
        </p:nvSpPr>
        <p:spPr>
          <a:xfrm>
            <a:off x="100584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1</a:t>
            </a:r>
            <a:endParaRPr lang="en-US" sz="2400" dirty="0"/>
          </a:p>
        </p:txBody>
      </p:sp>
      <p:sp>
        <p:nvSpPr>
          <p:cNvPr id="9" name="Text 6"/>
          <p:cNvSpPr txBox="1"/>
          <p:nvPr/>
        </p:nvSpPr>
        <p:spPr>
          <a:xfrm>
            <a:off x="82296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MASALAH</a:t>
            </a:r>
            <a:endParaRPr lang="en-US" sz="1200" dirty="0"/>
          </a:p>
        </p:txBody>
      </p:sp>
      <p:sp>
        <p:nvSpPr>
          <p:cNvPr id="10" name="Text 7"/>
          <p:cNvSpPr txBox="1"/>
          <p:nvPr/>
        </p:nvSpPr>
        <p:spPr>
          <a:xfrm>
            <a:off x="82296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Tujuan yang terhalang dan pertanyaan strategis.</a:t>
            </a:r>
            <a:endParaRPr lang="en-US" sz="1400" dirty="0"/>
          </a:p>
        </p:txBody>
      </p:sp>
      <p:sp>
        <p:nvSpPr>
          <p:cNvPr id="11" name="Shape 8"/>
          <p:cNvSpPr/>
          <p:nvPr/>
        </p:nvSpPr>
        <p:spPr>
          <a:xfrm>
            <a:off x="4069080" y="3337560"/>
            <a:ext cx="582930" cy="582930"/>
          </a:xfrm>
          <a:prstGeom prst="rect">
            <a:avLst/>
          </a:prstGeom>
          <a:solidFill>
            <a:srgbClr val="E4002B"/>
          </a:solidFill>
          <a:ln w="12700">
            <a:solidFill>
              <a:srgbClr val="E4002B"/>
            </a:solidFill>
            <a:prstDash val="solid"/>
          </a:ln>
        </p:spPr>
      </p:sp>
      <p:sp>
        <p:nvSpPr>
          <p:cNvPr id="12" name="Shape 9"/>
          <p:cNvSpPr/>
          <p:nvPr/>
        </p:nvSpPr>
        <p:spPr>
          <a:xfrm>
            <a:off x="3657600" y="3520440"/>
            <a:ext cx="777240" cy="777240"/>
          </a:xfrm>
          <a:prstGeom prst="ellipse">
            <a:avLst/>
          </a:prstGeom>
          <a:solidFill>
            <a:srgbClr val="3B8DBD"/>
          </a:solidFill>
          <a:ln w="12700">
            <a:solidFill>
              <a:srgbClr val="3B8DBD"/>
            </a:solidFill>
            <a:prstDash val="solid"/>
          </a:ln>
        </p:spPr>
      </p:sp>
      <p:sp>
        <p:nvSpPr>
          <p:cNvPr id="13" name="Text 10"/>
          <p:cNvSpPr txBox="1"/>
          <p:nvPr/>
        </p:nvSpPr>
        <p:spPr>
          <a:xfrm>
            <a:off x="3657600" y="35204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2</a:t>
            </a:r>
            <a:endParaRPr lang="en-US" sz="2400" dirty="0"/>
          </a:p>
        </p:txBody>
      </p:sp>
      <p:sp>
        <p:nvSpPr>
          <p:cNvPr id="14" name="Text 11"/>
          <p:cNvSpPr txBox="1"/>
          <p:nvPr/>
        </p:nvSpPr>
        <p:spPr>
          <a:xfrm>
            <a:off x="365760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15" name="Text 12"/>
          <p:cNvSpPr txBox="1"/>
          <p:nvPr/>
        </p:nvSpPr>
        <p:spPr>
          <a:xfrm>
            <a:off x="365760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PESTEL, Five Forces, kekuatan pendorong, peta kelompok strategis.</a:t>
            </a:r>
            <a:endParaRPr lang="en-US" sz="1400" dirty="0"/>
          </a:p>
        </p:txBody>
      </p:sp>
      <p:sp>
        <p:nvSpPr>
          <p:cNvPr id="16" name="Shape 13"/>
          <p:cNvSpPr/>
          <p:nvPr/>
        </p:nvSpPr>
        <p:spPr>
          <a:xfrm>
            <a:off x="6583680" y="3383280"/>
            <a:ext cx="777240" cy="777240"/>
          </a:xfrm>
          <a:prstGeom prst="triangle">
            <a:avLst/>
          </a:prstGeom>
          <a:solidFill>
            <a:srgbClr val="1E1E1E"/>
          </a:solidFill>
          <a:ln w="12700">
            <a:solidFill>
              <a:srgbClr val="1E1E1E"/>
            </a:solidFill>
            <a:prstDash val="solid"/>
          </a:ln>
        </p:spPr>
      </p:sp>
      <p:sp>
        <p:nvSpPr>
          <p:cNvPr id="17" name="Shape 14"/>
          <p:cNvSpPr/>
          <p:nvPr/>
        </p:nvSpPr>
        <p:spPr>
          <a:xfrm>
            <a:off x="6492240" y="3810762"/>
            <a:ext cx="388620" cy="349758"/>
          </a:xfrm>
          <a:prstGeom prst="triangle">
            <a:avLst/>
          </a:prstGeom>
          <a:solidFill>
            <a:srgbClr val="FAD354"/>
          </a:solidFill>
          <a:ln w="12700">
            <a:solidFill>
              <a:srgbClr val="FAD354"/>
            </a:solidFill>
            <a:prstDash val="solid"/>
          </a:ln>
        </p:spPr>
      </p:sp>
      <p:sp>
        <p:nvSpPr>
          <p:cNvPr id="18" name="Text 15"/>
          <p:cNvSpPr txBox="1"/>
          <p:nvPr/>
        </p:nvSpPr>
        <p:spPr>
          <a:xfrm>
            <a:off x="65836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3</a:t>
            </a:r>
            <a:endParaRPr lang="en-US" sz="2400" dirty="0"/>
          </a:p>
        </p:txBody>
      </p:sp>
      <p:sp>
        <p:nvSpPr>
          <p:cNvPr id="19" name="Text 16"/>
          <p:cNvSpPr txBox="1"/>
          <p:nvPr/>
        </p:nvSpPr>
        <p:spPr>
          <a:xfrm>
            <a:off x="649224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POSISI BIAYA</a:t>
            </a:r>
            <a:endParaRPr lang="en-US" sz="1200" dirty="0"/>
          </a:p>
        </p:txBody>
      </p:sp>
      <p:sp>
        <p:nvSpPr>
          <p:cNvPr id="20" name="Text 17"/>
          <p:cNvSpPr txBox="1"/>
          <p:nvPr/>
        </p:nvSpPr>
        <p:spPr>
          <a:xfrm>
            <a:off x="649224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Benchmarking, sumber keunggulan, uji transferabilitas, bukti KL London.</a:t>
            </a:r>
            <a:endParaRPr lang="en-US" sz="1400" dirty="0"/>
          </a:p>
        </p:txBody>
      </p:sp>
      <p:sp>
        <p:nvSpPr>
          <p:cNvPr id="21" name="Shape 18"/>
          <p:cNvSpPr/>
          <p:nvPr/>
        </p:nvSpPr>
        <p:spPr>
          <a:xfrm>
            <a:off x="9326880" y="3383280"/>
            <a:ext cx="777240" cy="777240"/>
          </a:xfrm>
          <a:prstGeom prst="ellipse">
            <a:avLst/>
          </a:prstGeom>
          <a:solidFill>
            <a:srgbClr val="3B8DBD"/>
          </a:solidFill>
          <a:ln w="12700">
            <a:solidFill>
              <a:srgbClr val="3B8DBD"/>
            </a:solidFill>
            <a:prstDash val="solid"/>
          </a:ln>
        </p:spPr>
      </p:sp>
      <p:sp>
        <p:nvSpPr>
          <p:cNvPr id="22" name="Shape 19"/>
          <p:cNvSpPr/>
          <p:nvPr/>
        </p:nvSpPr>
        <p:spPr>
          <a:xfrm>
            <a:off x="9754362" y="3655314"/>
            <a:ext cx="505206" cy="505206"/>
          </a:xfrm>
          <a:prstGeom prst="ellipse">
            <a:avLst/>
          </a:prstGeom>
          <a:solidFill>
            <a:srgbClr val="E4002B"/>
          </a:solidFill>
          <a:ln w="12700">
            <a:solidFill>
              <a:srgbClr val="E4002B"/>
            </a:solidFill>
            <a:prstDash val="solid"/>
          </a:ln>
        </p:spPr>
      </p:sp>
      <p:sp>
        <p:nvSpPr>
          <p:cNvPr id="23" name="Text 20"/>
          <p:cNvSpPr txBox="1"/>
          <p:nvPr/>
        </p:nvSpPr>
        <p:spPr>
          <a:xfrm>
            <a:off x="93268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4</a:t>
            </a:r>
            <a:endParaRPr lang="en-US" sz="2400" dirty="0"/>
          </a:p>
        </p:txBody>
      </p:sp>
      <p:sp>
        <p:nvSpPr>
          <p:cNvPr id="24" name="Text 21"/>
          <p:cNvSpPr txBox="1"/>
          <p:nvPr/>
        </p:nvSpPr>
        <p:spPr>
          <a:xfrm>
            <a:off x="932688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PILIHAN</a:t>
            </a:r>
            <a:endParaRPr lang="en-US" sz="1200" dirty="0"/>
          </a:p>
        </p:txBody>
      </p:sp>
      <p:sp>
        <p:nvSpPr>
          <p:cNvPr id="25" name="Text 22"/>
          <p:cNvSpPr txBox="1"/>
          <p:nvPr/>
        </p:nvSpPr>
        <p:spPr>
          <a:xfrm>
            <a:off x="932688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kunci, alternatif, scorecard, rekomendasi, rencana implementasi.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tower_4.45x3.20_0.5-0.55.jpg">    </p:cNvPr>
          <p:cNvPicPr>
            <a:picLocks noChangeAspect="1"/>
          </p:cNvPicPr>
          <p:nvPr/>
        </p:nvPicPr>
        <p:blipFill>
          <a:blip r:embed="rId1"/>
          <a:stretch>
            <a:fillRect/>
          </a:stretch>
        </p:blipFill>
        <p:spPr>
          <a:xfrm>
            <a:off x="0" y="0"/>
            <a:ext cx="4069080" cy="2926080"/>
          </a:xfrm>
          <a:prstGeom prst="rect">
            <a:avLst/>
          </a:prstGeom>
        </p:spPr>
      </p:pic>
      <p:pic>
        <p:nvPicPr>
          <p:cNvPr id="3" name="Image 1" descr="/tmp/claude-0/-home-user-Dom-Manipulation/a70c4110-05d8-512e-ae11-d08dee025a7a/scratchpad/img7/crops/aa_fuel_4.44x3.20_0.5-0.5.jpg">    </p:cNvPr>
          <p:cNvPicPr>
            <a:picLocks noChangeAspect="1"/>
          </p:cNvPicPr>
          <p:nvPr/>
        </p:nvPicPr>
        <p:blipFill>
          <a:blip r:embed="rId2"/>
          <a:stretch>
            <a:fillRect/>
          </a:stretch>
        </p:blipFill>
        <p:spPr>
          <a:xfrm>
            <a:off x="4069080" y="0"/>
            <a:ext cx="4059936" cy="2926080"/>
          </a:xfrm>
          <a:prstGeom prst="rect">
            <a:avLst/>
          </a:prstGeom>
        </p:spPr>
      </p:pic>
      <p:pic>
        <p:nvPicPr>
          <p:cNvPr id="4" name="Image 2" descr="/tmp/claude-0/-home-user-Dom-Manipulation/a70c4110-05d8-512e-ae11-d08dee025a7a/scratchpad/img7/crops/aa_board_4.44x3.20_0.5-0.5.jpg">    </p:cNvPr>
          <p:cNvPicPr>
            <a:picLocks noChangeAspect="1"/>
          </p:cNvPicPr>
          <p:nvPr/>
        </p:nvPicPr>
        <p:blipFill>
          <a:blip r:embed="rId3"/>
          <a:stretch>
            <a:fillRect/>
          </a:stretch>
        </p:blipFill>
        <p:spPr>
          <a:xfrm>
            <a:off x="8129016" y="0"/>
            <a:ext cx="4059936" cy="2926080"/>
          </a:xfrm>
          <a:prstGeom prst="rect">
            <a:avLst/>
          </a:prstGeom>
        </p:spPr>
      </p:pic>
      <p:sp>
        <p:nvSpPr>
          <p:cNvPr id="5" name="Text 0"/>
          <p:cNvSpPr txBox="1"/>
          <p:nvPr/>
        </p:nvSpPr>
        <p:spPr>
          <a:xfrm>
            <a:off x="640080" y="315468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AIRASIA AT A GLANCE</a:t>
            </a:r>
            <a:endParaRPr lang="en-US" sz="2400" dirty="0"/>
          </a:p>
        </p:txBody>
      </p:sp>
      <p:sp>
        <p:nvSpPr>
          <p:cNvPr id="6" name="Text 1"/>
          <p:cNvSpPr txBox="1"/>
          <p:nvPr/>
        </p:nvSpPr>
        <p:spPr>
          <a:xfrm>
            <a:off x="64008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79</a:t>
            </a:r>
            <a:endParaRPr lang="en-US" sz="4000" dirty="0"/>
          </a:p>
        </p:txBody>
      </p:sp>
      <p:sp>
        <p:nvSpPr>
          <p:cNvPr id="7" name="Text 2"/>
          <p:cNvSpPr txBox="1"/>
          <p:nvPr/>
        </p:nvSpPr>
        <p:spPr>
          <a:xfrm>
            <a:off x="64008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pesawat, 2009</a:t>
            </a:r>
            <a:endParaRPr lang="en-US" sz="1400" dirty="0"/>
          </a:p>
        </p:txBody>
      </p:sp>
      <p:sp>
        <p:nvSpPr>
          <p:cNvPr id="8" name="Text 3"/>
          <p:cNvSpPr txBox="1"/>
          <p:nvPr/>
        </p:nvSpPr>
        <p:spPr>
          <a:xfrm>
            <a:off x="3474720" y="3886200"/>
            <a:ext cx="26517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 jt</a:t>
            </a:r>
            <a:endParaRPr lang="en-US" sz="4000" dirty="0"/>
          </a:p>
        </p:txBody>
      </p:sp>
      <p:sp>
        <p:nvSpPr>
          <p:cNvPr id="9" name="Text 4"/>
          <p:cNvSpPr txBox="1"/>
          <p:nvPr/>
        </p:nvSpPr>
        <p:spPr>
          <a:xfrm>
            <a:off x="347472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penumpang per tahun</a:t>
            </a:r>
            <a:endParaRPr lang="en-US" sz="1400" dirty="0"/>
          </a:p>
        </p:txBody>
      </p:sp>
      <p:sp>
        <p:nvSpPr>
          <p:cNvPr id="10" name="Text 5"/>
          <p:cNvSpPr txBox="1"/>
          <p:nvPr/>
        </p:nvSpPr>
        <p:spPr>
          <a:xfrm>
            <a:off x="6309360" y="3886200"/>
            <a:ext cx="26517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10</a:t>
            </a:r>
            <a:endParaRPr lang="en-US" sz="4000" dirty="0"/>
          </a:p>
        </p:txBody>
      </p:sp>
      <p:sp>
        <p:nvSpPr>
          <p:cNvPr id="11" name="Text 6"/>
          <p:cNvSpPr txBox="1"/>
          <p:nvPr/>
        </p:nvSpPr>
        <p:spPr>
          <a:xfrm>
            <a:off x="630936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negara dilayani</a:t>
            </a:r>
            <a:endParaRPr lang="en-US" sz="1400" dirty="0"/>
          </a:p>
        </p:txBody>
      </p:sp>
      <p:sp>
        <p:nvSpPr>
          <p:cNvPr id="12" name="Text 7"/>
          <p:cNvSpPr txBox="1"/>
          <p:nvPr/>
        </p:nvSpPr>
        <p:spPr>
          <a:xfrm>
            <a:off x="914400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RM 1</a:t>
            </a:r>
            <a:endParaRPr lang="en-US" sz="4000" dirty="0"/>
          </a:p>
        </p:txBody>
      </p:sp>
      <p:sp>
        <p:nvSpPr>
          <p:cNvPr id="13" name="Text 8"/>
          <p:cNvSpPr txBox="1"/>
          <p:nvPr/>
        </p:nvSpPr>
        <p:spPr>
          <a:xfrm>
            <a:off x="914400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harga akuisisi 2001, sekitar Rp 2.700</a:t>
            </a:r>
            <a:endParaRPr lang="en-US" sz="1400" dirty="0"/>
          </a:p>
        </p:txBody>
      </p:sp>
      <p:sp>
        <p:nvSpPr>
          <p:cNvPr id="14" name="Text 9"/>
          <p:cNvSpPr txBox="1"/>
          <p:nvPr/>
        </p:nvSpPr>
        <p:spPr>
          <a:xfrm>
            <a:off x="640080" y="498348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MILESTONES</a:t>
            </a:r>
            <a:endParaRPr lang="en-US" sz="1200" dirty="0"/>
          </a:p>
        </p:txBody>
      </p:sp>
      <p:sp>
        <p:nvSpPr>
          <p:cNvPr id="15" name="Text 10"/>
          <p:cNvSpPr txBox="1"/>
          <p:nvPr/>
        </p:nvSpPr>
        <p:spPr>
          <a:xfrm>
            <a:off x="640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2001</a:t>
            </a:r>
            <a:endParaRPr lang="en-US" sz="1200" dirty="0"/>
          </a:p>
        </p:txBody>
      </p:sp>
      <p:sp>
        <p:nvSpPr>
          <p:cNvPr id="16" name="Text 11"/>
          <p:cNvSpPr txBox="1"/>
          <p:nvPr/>
        </p:nvSpPr>
        <p:spPr>
          <a:xfrm>
            <a:off x="640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Diambil alih Fernandes dan McCarthy seharga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RM 1</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(Rp 2.700)</a:t>
            </a:r>
            <a:endParaRPr lang="en-US" sz="1400" dirty="0"/>
          </a:p>
        </p:txBody>
      </p:sp>
      <p:sp>
        <p:nvSpPr>
          <p:cNvPr id="17" name="Text 12"/>
          <p:cNvSpPr txBox="1"/>
          <p:nvPr/>
        </p:nvSpPr>
        <p:spPr>
          <a:xfrm>
            <a:off x="2926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2002</a:t>
            </a:r>
            <a:endParaRPr lang="en-US" sz="1200" dirty="0"/>
          </a:p>
        </p:txBody>
      </p:sp>
      <p:sp>
        <p:nvSpPr>
          <p:cNvPr id="18" name="Text 13"/>
          <p:cNvSpPr txBox="1"/>
          <p:nvPr/>
        </p:nvSpPr>
        <p:spPr>
          <a:xfrm>
            <a:off x="2926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Relaunch mengikuti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Ryanair, Southwest, easyJet</a:t>
            </a:r>
            <a:endParaRPr lang="en-US" sz="1400" dirty="0"/>
          </a:p>
        </p:txBody>
      </p:sp>
      <p:sp>
        <p:nvSpPr>
          <p:cNvPr id="19" name="Text 14"/>
          <p:cNvSpPr txBox="1"/>
          <p:nvPr/>
        </p:nvSpPr>
        <p:spPr>
          <a:xfrm>
            <a:off x="5212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2004</a:t>
            </a:r>
            <a:endParaRPr lang="en-US" sz="1200" dirty="0"/>
          </a:p>
        </p:txBody>
      </p:sp>
      <p:sp>
        <p:nvSpPr>
          <p:cNvPr id="20" name="Text 15"/>
          <p:cNvSpPr txBox="1"/>
          <p:nvPr/>
        </p:nvSpPr>
        <p:spPr>
          <a:xfrm>
            <a:off x="5212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internasional pertama; IPO RM 717 juta (Rp 1,7 triliun)</a:t>
            </a:r>
            <a:endParaRPr lang="en-US" sz="1400" dirty="0"/>
          </a:p>
        </p:txBody>
      </p:sp>
      <p:sp>
        <p:nvSpPr>
          <p:cNvPr id="21" name="Text 16"/>
          <p:cNvSpPr txBox="1"/>
          <p:nvPr/>
        </p:nvSpPr>
        <p:spPr>
          <a:xfrm>
            <a:off x="7498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2007</a:t>
            </a:r>
            <a:endParaRPr lang="en-US" sz="1200" dirty="0"/>
          </a:p>
        </p:txBody>
      </p:sp>
      <p:sp>
        <p:nvSpPr>
          <p:cNvPr id="22" name="Text 17"/>
          <p:cNvSpPr txBox="1"/>
          <p:nvPr/>
        </p:nvSpPr>
        <p:spPr>
          <a:xfrm>
            <a:off x="7498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AirAsia X mulai terbang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jarak jauh</a:t>
            </a:r>
            <a:endParaRPr lang="en-US" sz="1400" dirty="0"/>
          </a:p>
        </p:txBody>
      </p:sp>
      <p:sp>
        <p:nvSpPr>
          <p:cNvPr id="23" name="Text 18"/>
          <p:cNvSpPr txBox="1"/>
          <p:nvPr/>
        </p:nvSpPr>
        <p:spPr>
          <a:xfrm>
            <a:off x="9784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2009</a:t>
            </a:r>
            <a:endParaRPr lang="en-US" sz="1200" dirty="0"/>
          </a:p>
        </p:txBody>
      </p:sp>
      <p:sp>
        <p:nvSpPr>
          <p:cNvPr id="24" name="Text 19"/>
          <p:cNvSpPr txBox="1"/>
          <p:nvPr/>
        </p:nvSpPr>
        <p:spPr>
          <a:xfrm>
            <a:off x="9784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Skytrax: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World's Best Low Cost Airline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4846320" y="4206240"/>
            <a:ext cx="3017520" cy="2651760"/>
          </a:xfrm>
          <a:prstGeom prst="rect">
            <a:avLst/>
          </a:prstGeom>
          <a:solidFill>
            <a:srgbClr val="FAD354"/>
          </a:solidFill>
          <a:ln w="12700">
            <a:solidFill>
              <a:srgbClr val="FAD354"/>
            </a:solidFill>
            <a:prstDash val="solid"/>
          </a:ln>
        </p:spPr>
      </p:sp>
      <p:pic>
        <p:nvPicPr>
          <p:cNvPr id="3" name="Image 0" descr="/tmp/claude-0/-home-user-Dom-Manipulation/a70c4110-05d8-512e-ae11-d08dee025a7a/scratchpad/img7/crops/aa_transfer_7.50x5.40_0.5-0.55.jpg">    </p:cNvPr>
          <p:cNvPicPr>
            <a:picLocks noChangeAspect="1"/>
          </p:cNvPicPr>
          <p:nvPr/>
        </p:nvPicPr>
        <p:blipFill>
          <a:blip r:embed="rId1"/>
          <a:stretch>
            <a:fillRect/>
          </a:stretch>
        </p:blipFill>
        <p:spPr>
          <a:xfrm>
            <a:off x="0" y="0"/>
            <a:ext cx="6858000" cy="4937760"/>
          </a:xfrm>
          <a:prstGeom prst="rect">
            <a:avLst/>
          </a:prstGeom>
        </p:spPr>
      </p:pic>
      <p:sp>
        <p:nvSpPr>
          <p:cNvPr id="4" name="Shape 1"/>
          <p:cNvSpPr/>
          <p:nvPr/>
        </p:nvSpPr>
        <p:spPr>
          <a:xfrm>
            <a:off x="11686032" y="0"/>
            <a:ext cx="502920" cy="6858000"/>
          </a:xfrm>
          <a:prstGeom prst="rect">
            <a:avLst/>
          </a:prstGeom>
          <a:solidFill>
            <a:srgbClr val="3B8DBD"/>
          </a:solidFill>
          <a:ln w="12700">
            <a:solidFill>
              <a:srgbClr val="3B8DBD"/>
            </a:solidFill>
            <a:prstDash val="solid"/>
          </a:ln>
        </p:spPr>
      </p:sp>
      <p:sp>
        <p:nvSpPr>
          <p:cNvPr id="5" name="Text 2"/>
          <p:cNvSpPr txBox="1"/>
          <p:nvPr/>
        </p:nvSpPr>
        <p:spPr>
          <a:xfrm>
            <a:off x="736092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PROBLEM</a:t>
            </a:r>
            <a:endParaRPr lang="en-US" sz="2400" dirty="0"/>
          </a:p>
        </p:txBody>
      </p:sp>
      <p:sp>
        <p:nvSpPr>
          <p:cNvPr id="6" name="Text 3"/>
          <p:cNvSpPr txBox="1"/>
          <p:nvPr/>
        </p:nvSpPr>
        <p:spPr>
          <a:xfrm>
            <a:off x="7360920" y="1417320"/>
            <a:ext cx="36576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TUJUAN (GOALS)</a:t>
            </a:r>
            <a:endParaRPr lang="en-US" sz="1200" dirty="0"/>
          </a:p>
        </p:txBody>
      </p:sp>
      <p:sp>
        <p:nvSpPr>
          <p:cNvPr id="7" name="Text 4"/>
          <p:cNvSpPr txBox="1"/>
          <p:nvPr/>
        </p:nvSpPr>
        <p:spPr>
          <a:xfrm>
            <a:off x="7360920" y="1737360"/>
            <a:ext cx="393192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Menjadi maskapai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internasional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bukan hanya regional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Tetap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berbiaya terendah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setiap rute</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Tumbuh lewat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gemuk (trunk routes)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jarak jauh</a:t>
            </a:r>
            <a:endParaRPr lang="en-US" sz="1400" dirty="0"/>
          </a:p>
        </p:txBody>
      </p:sp>
      <p:sp>
        <p:nvSpPr>
          <p:cNvPr id="8" name="Text 5"/>
          <p:cNvSpPr txBox="1"/>
          <p:nvPr/>
        </p:nvSpPr>
        <p:spPr>
          <a:xfrm>
            <a:off x="7360920" y="3566160"/>
            <a:ext cx="36576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HAMBATAN (BARRIERS)</a:t>
            </a:r>
            <a:endParaRPr lang="en-US" sz="1200" dirty="0"/>
          </a:p>
        </p:txBody>
      </p:sp>
      <p:sp>
        <p:nvSpPr>
          <p:cNvPr id="9" name="Text 6"/>
          <p:cNvSpPr txBox="1"/>
          <p:nvPr/>
        </p:nvSpPr>
        <p:spPr>
          <a:xfrm>
            <a:off x="7360920" y="3886200"/>
            <a:ext cx="3931920" cy="23774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Model LCC bertumpu pada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pendek, satu tipe pesawat, layanan minimal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Pesaing jarak jauh punya feeder, tiket terusan,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subsidi silang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Neraca 2008 lemah: utang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6,69 miliar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(Rp 19,5 triliun), kas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153,8 juta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(Rp 447 miliar)</a:t>
            </a:r>
            <a:endParaRPr lang="en-US" sz="1400" dirty="0"/>
          </a:p>
        </p:txBody>
      </p:sp>
      <p:sp>
        <p:nvSpPr>
          <p:cNvPr id="10" name="Text 7"/>
          <p:cNvSpPr txBox="1"/>
          <p:nvPr/>
        </p:nvSpPr>
        <p:spPr>
          <a:xfrm>
            <a:off x="640080" y="5212080"/>
            <a:ext cx="402336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A320 rute pendek dan A330 rute jauh: dua pesawat, dua model bisnis.</a:t>
            </a:r>
            <a:endParaRPr lang="en-US" sz="1400" dirty="0"/>
          </a:p>
        </p:txBody>
      </p:sp>
      <p:sp>
        <p:nvSpPr>
          <p:cNvPr id="11" name="Text 8"/>
          <p:cNvSpPr txBox="1"/>
          <p:nvPr/>
        </p:nvSpPr>
        <p:spPr>
          <a:xfrm>
            <a:off x="7360920" y="6263640"/>
            <a:ext cx="3931920" cy="5486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Kurs 2008: RM 1 sekitar Rp 2.900; nilai 2026 kira-kira dua kali lipat.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82880" y="1005840"/>
            <a:ext cx="3566160" cy="3566160"/>
          </a:xfrm>
          <a:prstGeom prst="ellipse">
            <a:avLst/>
          </a:prstGeom>
          <a:solidFill>
            <a:srgbClr val="3B8DBD"/>
          </a:solidFill>
          <a:ln w="12700">
            <a:solidFill>
              <a:srgbClr val="3B8DBD"/>
            </a:solidFill>
            <a:prstDash val="solid"/>
          </a:ln>
        </p:spPr>
      </p:sp>
      <p:sp>
        <p:nvSpPr>
          <p:cNvPr id="3" name="Shape 1"/>
          <p:cNvSpPr/>
          <p:nvPr/>
        </p:nvSpPr>
        <p:spPr>
          <a:xfrm>
            <a:off x="1280160" y="2103120"/>
            <a:ext cx="4937760" cy="3108960"/>
          </a:xfrm>
          <a:prstGeom prst="arc">
            <a:avLst>
              <a:gd name="adj1" fmla="val 11400000"/>
              <a:gd name="adj2" fmla="val 21000000"/>
            </a:avLst>
          </a:prstGeom>
          <a:ln w="28575">
            <a:solidFill>
              <a:srgbClr val="1E1E1E"/>
            </a:solidFill>
            <a:prstDash val="sysDot"/>
          </a:ln>
        </p:spPr>
      </p:sp>
      <p:sp>
        <p:nvSpPr>
          <p:cNvPr id="4" name="Shape 2"/>
          <p:cNvSpPr/>
          <p:nvPr/>
        </p:nvSpPr>
        <p:spPr>
          <a:xfrm>
            <a:off x="5623560" y="1188720"/>
            <a:ext cx="146304" cy="4480560"/>
          </a:xfrm>
          <a:prstGeom prst="rect">
            <a:avLst/>
          </a:prstGeom>
          <a:solidFill>
            <a:srgbClr val="1E1E1E"/>
          </a:solidFill>
          <a:ln w="12700">
            <a:solidFill>
              <a:srgbClr val="1E1E1E"/>
            </a:solidFill>
            <a:prstDash val="solid"/>
          </a:ln>
        </p:spPr>
      </p:sp>
      <p:pic>
        <p:nvPicPr>
          <p:cNvPr id="5" name="Image 0" descr="/tmp/claude-0/-home-user-Dom-Manipulation/a70c4110-05d8-512e-ae11-d08dee025a7a/scratchpad/img7/aa_a330.png">    </p:cNvPr>
          <p:cNvPicPr>
            <a:picLocks noChangeAspect="1"/>
          </p:cNvPicPr>
          <p:nvPr/>
        </p:nvPicPr>
        <p:blipFill>
          <a:blip r:embed="rId1"/>
          <a:stretch>
            <a:fillRect/>
          </a:stretch>
        </p:blipFill>
        <p:spPr>
          <a:xfrm>
            <a:off x="274320" y="2799975"/>
            <a:ext cx="5394960" cy="1166611"/>
          </a:xfrm>
          <a:prstGeom prst="rect">
            <a:avLst/>
          </a:prstGeom>
        </p:spPr>
      </p:pic>
      <p:sp>
        <p:nvSpPr>
          <p:cNvPr id="6" name="Text 3"/>
          <p:cNvSpPr txBox="1"/>
          <p:nvPr/>
        </p:nvSpPr>
        <p:spPr>
          <a:xfrm>
            <a:off x="630936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QUESTION</a:t>
            </a:r>
            <a:endParaRPr lang="en-US" sz="2400" dirty="0"/>
          </a:p>
        </p:txBody>
      </p:sp>
      <p:sp>
        <p:nvSpPr>
          <p:cNvPr id="7" name="Text 4"/>
          <p:cNvSpPr txBox="1"/>
          <p:nvPr/>
        </p:nvSpPr>
        <p:spPr>
          <a:xfrm>
            <a:off x="6309360" y="1463040"/>
            <a:ext cx="521208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 AirAsia dapat ditransfer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 dan bagaimana menata hubungan dengan AirAsia X agar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eksplorasi (exploration)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tidak mengganggu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eksploitasi (exploitation)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8" name="Text 5"/>
          <p:cNvSpPr txBox="1"/>
          <p:nvPr/>
        </p:nvSpPr>
        <p:spPr>
          <a:xfrm>
            <a:off x="6309360" y="3429000"/>
            <a:ext cx="52120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TIGA PILIHAN MANAJEMEN, PERTENGAHAN 2009</a:t>
            </a:r>
            <a:endParaRPr lang="en-US" sz="1200" dirty="0"/>
          </a:p>
        </p:txBody>
      </p:sp>
      <p:sp>
        <p:nvSpPr>
          <p:cNvPr id="9" name="Text 6"/>
          <p:cNvSpPr txBox="1"/>
          <p:nvPr/>
        </p:nvSpPr>
        <p:spPr>
          <a:xfrm>
            <a:off x="6309360" y="3794760"/>
            <a:ext cx="5212080" cy="16459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1</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AirAsia X ke dalam AirAsia</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2</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Tetap terpisah dengan kontrak layanan</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Kembali fokus ke pasar regional</a:t>
            </a:r>
            <a:endParaRPr lang="en-US" sz="1400" dirty="0"/>
          </a:p>
        </p:txBody>
      </p:sp>
      <p:sp>
        <p:nvSpPr>
          <p:cNvPr id="10" name="Text 7"/>
          <p:cNvSpPr txBox="1"/>
          <p:nvPr/>
        </p:nvSpPr>
        <p:spPr>
          <a:xfrm>
            <a:off x="6309360" y="5212080"/>
            <a:ext cx="5212080" cy="91440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Eksplorasi dan eksploitasi mengacu pada March (1991): mendalami kompetensi yang ada sambil mencari peluang baru.</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3886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PESTEL ANALYSIS</a:t>
            </a:r>
            <a:endParaRPr lang="en-US" sz="2400" dirty="0"/>
          </a:p>
        </p:txBody>
      </p:sp>
      <p:sp>
        <p:nvSpPr>
          <p:cNvPr id="3" name="Shape 1"/>
          <p:cNvSpPr/>
          <p:nvPr/>
        </p:nvSpPr>
        <p:spPr>
          <a:xfrm>
            <a:off x="1005840" y="1554480"/>
            <a:ext cx="777240" cy="777240"/>
          </a:xfrm>
          <a:prstGeom prst="rect">
            <a:avLst/>
          </a:prstGeom>
          <a:solidFill>
            <a:srgbClr val="E4002B"/>
          </a:solidFill>
          <a:ln w="12700">
            <a:solidFill>
              <a:srgbClr val="E4002B"/>
            </a:solidFill>
            <a:prstDash val="solid"/>
          </a:ln>
        </p:spPr>
      </p:sp>
      <p:sp>
        <p:nvSpPr>
          <p:cNvPr id="4" name="Shape 2"/>
          <p:cNvSpPr/>
          <p:nvPr/>
        </p:nvSpPr>
        <p:spPr>
          <a:xfrm rot="18000000">
            <a:off x="822960" y="1600200"/>
            <a:ext cx="481889" cy="481889"/>
          </a:xfrm>
          <a:prstGeom prst="triangle">
            <a:avLst/>
          </a:prstGeom>
          <a:solidFill>
            <a:srgbClr val="1E1E1E"/>
          </a:solidFill>
          <a:ln w="12700">
            <a:solidFill>
              <a:srgbClr val="1E1E1E"/>
            </a:solidFill>
            <a:prstDash val="solid"/>
          </a:ln>
        </p:spPr>
      </p:sp>
      <p:sp>
        <p:nvSpPr>
          <p:cNvPr id="5" name="Text 3"/>
          <p:cNvSpPr txBox="1"/>
          <p:nvPr/>
        </p:nvSpPr>
        <p:spPr>
          <a:xfrm>
            <a:off x="100584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P</a:t>
            </a:r>
            <a:endParaRPr lang="en-US" sz="2400" dirty="0"/>
          </a:p>
        </p:txBody>
      </p:sp>
      <p:sp>
        <p:nvSpPr>
          <p:cNvPr id="6" name="Text 4"/>
          <p:cNvSpPr txBox="1"/>
          <p:nvPr/>
        </p:nvSpPr>
        <p:spPr>
          <a:xfrm>
            <a:off x="82296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POLITIK</a:t>
            </a:r>
            <a:endParaRPr lang="en-US" sz="1200" dirty="0"/>
          </a:p>
        </p:txBody>
      </p:sp>
      <p:sp>
        <p:nvSpPr>
          <p:cNvPr id="7" name="Text 5"/>
          <p:cNvSpPr txBox="1"/>
          <p:nvPr/>
        </p:nvSpPr>
        <p:spPr>
          <a:xfrm>
            <a:off x="82296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Dukungan pemerintah; rute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berhadapan dengan MAS</a:t>
            </a:r>
            <a:endParaRPr lang="en-US" sz="1400" dirty="0"/>
          </a:p>
        </p:txBody>
      </p:sp>
      <p:sp>
        <p:nvSpPr>
          <p:cNvPr id="8" name="Shape 6"/>
          <p:cNvSpPr/>
          <p:nvPr/>
        </p:nvSpPr>
        <p:spPr>
          <a:xfrm>
            <a:off x="5029200" y="1508760"/>
            <a:ext cx="582930" cy="582930"/>
          </a:xfrm>
          <a:prstGeom prst="rect">
            <a:avLst/>
          </a:prstGeom>
          <a:solidFill>
            <a:srgbClr val="E4002B"/>
          </a:solidFill>
          <a:ln w="12700">
            <a:solidFill>
              <a:srgbClr val="E4002B"/>
            </a:solidFill>
            <a:prstDash val="solid"/>
          </a:ln>
        </p:spPr>
      </p:sp>
      <p:sp>
        <p:nvSpPr>
          <p:cNvPr id="9" name="Shape 7"/>
          <p:cNvSpPr/>
          <p:nvPr/>
        </p:nvSpPr>
        <p:spPr>
          <a:xfrm>
            <a:off x="4617720" y="1691640"/>
            <a:ext cx="777240" cy="777240"/>
          </a:xfrm>
          <a:prstGeom prst="ellipse">
            <a:avLst/>
          </a:prstGeom>
          <a:solidFill>
            <a:srgbClr val="3B8DBD"/>
          </a:solidFill>
          <a:ln w="12700">
            <a:solidFill>
              <a:srgbClr val="3B8DBD"/>
            </a:solidFill>
            <a:prstDash val="solid"/>
          </a:ln>
        </p:spPr>
      </p:sp>
      <p:sp>
        <p:nvSpPr>
          <p:cNvPr id="10" name="Text 8"/>
          <p:cNvSpPr txBox="1"/>
          <p:nvPr/>
        </p:nvSpPr>
        <p:spPr>
          <a:xfrm>
            <a:off x="4617720" y="16916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E</a:t>
            </a:r>
            <a:endParaRPr lang="en-US" sz="2400" dirty="0"/>
          </a:p>
        </p:txBody>
      </p:sp>
      <p:sp>
        <p:nvSpPr>
          <p:cNvPr id="11" name="Text 9"/>
          <p:cNvSpPr txBox="1"/>
          <p:nvPr/>
        </p:nvSpPr>
        <p:spPr>
          <a:xfrm>
            <a:off x="461772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EKONOMI</a:t>
            </a:r>
            <a:endParaRPr lang="en-US" sz="1200" dirty="0"/>
          </a:p>
        </p:txBody>
      </p:sp>
      <p:sp>
        <p:nvSpPr>
          <p:cNvPr id="12" name="Text 10"/>
          <p:cNvSpPr txBox="1"/>
          <p:nvPr/>
        </p:nvSpPr>
        <p:spPr>
          <a:xfrm>
            <a:off x="461772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500 juta penduduk dalam 3,5 jam terbang;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BBM 47% biaya</a:t>
            </a:r>
            <a:endParaRPr lang="en-US" sz="1400" dirty="0"/>
          </a:p>
        </p:txBody>
      </p:sp>
      <p:sp>
        <p:nvSpPr>
          <p:cNvPr id="13" name="Shape 11"/>
          <p:cNvSpPr/>
          <p:nvPr/>
        </p:nvSpPr>
        <p:spPr>
          <a:xfrm>
            <a:off x="8503920" y="1554480"/>
            <a:ext cx="777240" cy="777240"/>
          </a:xfrm>
          <a:prstGeom prst="triangle">
            <a:avLst/>
          </a:prstGeom>
          <a:solidFill>
            <a:srgbClr val="1E1E1E"/>
          </a:solidFill>
          <a:ln w="12700">
            <a:solidFill>
              <a:srgbClr val="1E1E1E"/>
            </a:solidFill>
            <a:prstDash val="solid"/>
          </a:ln>
        </p:spPr>
      </p:sp>
      <p:sp>
        <p:nvSpPr>
          <p:cNvPr id="14" name="Shape 12"/>
          <p:cNvSpPr/>
          <p:nvPr/>
        </p:nvSpPr>
        <p:spPr>
          <a:xfrm>
            <a:off x="8412480" y="1981962"/>
            <a:ext cx="388620" cy="349758"/>
          </a:xfrm>
          <a:prstGeom prst="triangle">
            <a:avLst/>
          </a:prstGeom>
          <a:solidFill>
            <a:srgbClr val="FAD354"/>
          </a:solidFill>
          <a:ln w="12700">
            <a:solidFill>
              <a:srgbClr val="FAD354"/>
            </a:solidFill>
            <a:prstDash val="solid"/>
          </a:ln>
        </p:spPr>
      </p:sp>
      <p:sp>
        <p:nvSpPr>
          <p:cNvPr id="15" name="Text 13"/>
          <p:cNvSpPr txBox="1"/>
          <p:nvPr/>
        </p:nvSpPr>
        <p:spPr>
          <a:xfrm>
            <a:off x="850392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S</a:t>
            </a:r>
            <a:endParaRPr lang="en-US" sz="2400" dirty="0"/>
          </a:p>
        </p:txBody>
      </p:sp>
      <p:sp>
        <p:nvSpPr>
          <p:cNvPr id="16" name="Text 14"/>
          <p:cNvSpPr txBox="1"/>
          <p:nvPr/>
        </p:nvSpPr>
        <p:spPr>
          <a:xfrm>
            <a:off x="841248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SOSIAL</a:t>
            </a:r>
            <a:endParaRPr lang="en-US" sz="1200" dirty="0"/>
          </a:p>
        </p:txBody>
      </p:sp>
      <p:sp>
        <p:nvSpPr>
          <p:cNvPr id="17" name="Text 15"/>
          <p:cNvSpPr txBox="1"/>
          <p:nvPr/>
        </p:nvSpPr>
        <p:spPr>
          <a:xfrm>
            <a:off x="841248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Segmen menengah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kurang terlayani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pasar diperluas</a:t>
            </a:r>
            <a:endParaRPr lang="en-US" sz="1400" dirty="0"/>
          </a:p>
        </p:txBody>
      </p:sp>
      <p:sp>
        <p:nvSpPr>
          <p:cNvPr id="18" name="Shape 16"/>
          <p:cNvSpPr/>
          <p:nvPr/>
        </p:nvSpPr>
        <p:spPr>
          <a:xfrm>
            <a:off x="822960" y="4023360"/>
            <a:ext cx="777240" cy="777240"/>
          </a:xfrm>
          <a:prstGeom prst="ellipse">
            <a:avLst/>
          </a:prstGeom>
          <a:solidFill>
            <a:srgbClr val="3B8DBD"/>
          </a:solidFill>
          <a:ln w="12700">
            <a:solidFill>
              <a:srgbClr val="3B8DBD"/>
            </a:solidFill>
            <a:prstDash val="solid"/>
          </a:ln>
        </p:spPr>
      </p:sp>
      <p:sp>
        <p:nvSpPr>
          <p:cNvPr id="19" name="Shape 17"/>
          <p:cNvSpPr/>
          <p:nvPr/>
        </p:nvSpPr>
        <p:spPr>
          <a:xfrm>
            <a:off x="1250442" y="4295394"/>
            <a:ext cx="505206" cy="505206"/>
          </a:xfrm>
          <a:prstGeom prst="ellipse">
            <a:avLst/>
          </a:prstGeom>
          <a:solidFill>
            <a:srgbClr val="E4002B"/>
          </a:solidFill>
          <a:ln w="12700">
            <a:solidFill>
              <a:srgbClr val="E4002B"/>
            </a:solidFill>
            <a:prstDash val="solid"/>
          </a:ln>
        </p:spPr>
      </p:sp>
      <p:sp>
        <p:nvSpPr>
          <p:cNvPr id="20" name="Text 18"/>
          <p:cNvSpPr txBox="1"/>
          <p:nvPr/>
        </p:nvSpPr>
        <p:spPr>
          <a:xfrm>
            <a:off x="822960" y="402336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T</a:t>
            </a:r>
            <a:endParaRPr lang="en-US" sz="2400" dirty="0"/>
          </a:p>
        </p:txBody>
      </p:sp>
      <p:sp>
        <p:nvSpPr>
          <p:cNvPr id="21" name="Text 19"/>
          <p:cNvSpPr txBox="1"/>
          <p:nvPr/>
        </p:nvSpPr>
        <p:spPr>
          <a:xfrm>
            <a:off x="82296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TEKNOLOGI</a:t>
            </a:r>
            <a:endParaRPr lang="en-US" sz="1200" dirty="0"/>
          </a:p>
        </p:txBody>
      </p:sp>
      <p:sp>
        <p:nvSpPr>
          <p:cNvPr id="22" name="Text 20"/>
          <p:cNvSpPr txBox="1"/>
          <p:nvPr/>
        </p:nvSpPr>
        <p:spPr>
          <a:xfrm>
            <a:off x="82296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Navitaire, yield management, ponsel;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tanpa komisi agen</a:t>
            </a:r>
            <a:endParaRPr lang="en-US" sz="1400" dirty="0"/>
          </a:p>
        </p:txBody>
      </p:sp>
      <p:sp>
        <p:nvSpPr>
          <p:cNvPr id="23" name="Shape 21"/>
          <p:cNvSpPr/>
          <p:nvPr/>
        </p:nvSpPr>
        <p:spPr>
          <a:xfrm>
            <a:off x="4846320" y="3977640"/>
            <a:ext cx="544068" cy="544068"/>
          </a:xfrm>
          <a:prstGeom prst="rect">
            <a:avLst/>
          </a:prstGeom>
          <a:solidFill>
            <a:srgbClr val="FFFFFF"/>
          </a:solidFill>
          <a:ln w="12700">
            <a:solidFill>
              <a:srgbClr val="FFFFFF"/>
            </a:solidFill>
            <a:prstDash val="solid"/>
          </a:ln>
        </p:spPr>
      </p:sp>
      <p:sp>
        <p:nvSpPr>
          <p:cNvPr id="24" name="Shape 22"/>
          <p:cNvSpPr/>
          <p:nvPr/>
        </p:nvSpPr>
        <p:spPr>
          <a:xfrm>
            <a:off x="4617720" y="4450842"/>
            <a:ext cx="699516" cy="349758"/>
          </a:xfrm>
          <a:prstGeom prst="rect">
            <a:avLst/>
          </a:prstGeom>
          <a:solidFill>
            <a:srgbClr val="1E1E1E"/>
          </a:solidFill>
          <a:ln w="12700">
            <a:solidFill>
              <a:srgbClr val="1E1E1E"/>
            </a:solidFill>
            <a:prstDash val="solid"/>
          </a:ln>
        </p:spPr>
      </p:sp>
      <p:sp>
        <p:nvSpPr>
          <p:cNvPr id="25" name="Text 23"/>
          <p:cNvSpPr txBox="1"/>
          <p:nvPr/>
        </p:nvSpPr>
        <p:spPr>
          <a:xfrm>
            <a:off x="4846320" y="3977640"/>
            <a:ext cx="544068" cy="544068"/>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E</a:t>
            </a:r>
            <a:endParaRPr lang="en-US" sz="2400" dirty="0"/>
          </a:p>
        </p:txBody>
      </p:sp>
      <p:sp>
        <p:nvSpPr>
          <p:cNvPr id="26" name="Text 24"/>
          <p:cNvSpPr txBox="1"/>
          <p:nvPr/>
        </p:nvSpPr>
        <p:spPr>
          <a:xfrm>
            <a:off x="461772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27" name="Text 25"/>
          <p:cNvSpPr txBox="1"/>
          <p:nvPr/>
        </p:nvSpPr>
        <p:spPr>
          <a:xfrm>
            <a:off x="461772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A320 baru hemat BBM;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A340 boros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rute jauh</a:t>
            </a:r>
            <a:endParaRPr lang="en-US" sz="1400" dirty="0"/>
          </a:p>
        </p:txBody>
      </p:sp>
      <p:sp>
        <p:nvSpPr>
          <p:cNvPr id="28" name="Shape 26"/>
          <p:cNvSpPr/>
          <p:nvPr/>
        </p:nvSpPr>
        <p:spPr>
          <a:xfrm>
            <a:off x="8549640" y="4251960"/>
            <a:ext cx="777240" cy="777240"/>
          </a:xfrm>
          <a:prstGeom prst="ellipse">
            <a:avLst/>
          </a:prstGeom>
          <a:solidFill>
            <a:srgbClr val="FAD354"/>
          </a:solidFill>
          <a:ln w="12700">
            <a:solidFill>
              <a:srgbClr val="FAD354"/>
            </a:solidFill>
            <a:prstDash val="solid"/>
          </a:ln>
        </p:spPr>
      </p:sp>
      <p:sp>
        <p:nvSpPr>
          <p:cNvPr id="29" name="Shape 27"/>
          <p:cNvSpPr/>
          <p:nvPr/>
        </p:nvSpPr>
        <p:spPr>
          <a:xfrm>
            <a:off x="8915400" y="3977640"/>
            <a:ext cx="427482" cy="427482"/>
          </a:xfrm>
          <a:prstGeom prst="ellipse">
            <a:avLst/>
          </a:prstGeom>
          <a:solidFill>
            <a:srgbClr val="3B8DBD"/>
          </a:solidFill>
          <a:ln w="12700">
            <a:solidFill>
              <a:srgbClr val="3B8DBD"/>
            </a:solidFill>
            <a:prstDash val="solid"/>
          </a:ln>
        </p:spPr>
      </p:sp>
      <p:sp>
        <p:nvSpPr>
          <p:cNvPr id="30" name="Text 28"/>
          <p:cNvSpPr txBox="1"/>
          <p:nvPr/>
        </p:nvSpPr>
        <p:spPr>
          <a:xfrm>
            <a:off x="8549640" y="4251960"/>
            <a:ext cx="777240" cy="777240"/>
          </a:xfrm>
          <a:prstGeom prst="rect">
            <a:avLst/>
          </a:prstGeom>
          <a:noFill/>
          <a:ln/>
        </p:spPr>
        <p:txBody>
          <a:bodyPr wrap="square" lIns="0" tIns="0" rIns="0" bIns="0" rtlCol="0" anchor="ctr"/>
          <a:lstStyle/>
          <a:p>
            <a:pPr algn="ctr" indent="0" marL="0">
              <a:buNone/>
            </a:pPr>
            <a:r>
              <a:rPr lang="en-US" sz="2400" dirty="0">
                <a:solidFill>
                  <a:srgbClr val="E4002B"/>
                </a:solidFill>
                <a:latin typeface="Poppins SemiBold" pitchFamily="34" charset="0"/>
                <a:ea typeface="Poppins SemiBold" pitchFamily="34" charset="-122"/>
                <a:cs typeface="Poppins SemiBold" pitchFamily="34" charset="-120"/>
              </a:rPr>
              <a:t>L</a:t>
            </a:r>
            <a:endParaRPr lang="en-US" sz="2400" dirty="0"/>
          </a:p>
        </p:txBody>
      </p:sp>
      <p:sp>
        <p:nvSpPr>
          <p:cNvPr id="31" name="Text 29"/>
          <p:cNvSpPr txBox="1"/>
          <p:nvPr/>
        </p:nvSpPr>
        <p:spPr>
          <a:xfrm>
            <a:off x="841248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LEGAL</a:t>
            </a:r>
            <a:endParaRPr lang="en-US" sz="1200" dirty="0"/>
          </a:p>
        </p:txBody>
      </p:sp>
      <p:sp>
        <p:nvSpPr>
          <p:cNvPr id="32" name="Text 30"/>
          <p:cNvSpPr txBox="1"/>
          <p:nvPr/>
        </p:nvSpPr>
        <p:spPr>
          <a:xfrm>
            <a:off x="841248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Deregulasi rute lintas negara;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kepemilikan asing dibatasi</a:t>
            </a:r>
            <a:endParaRPr lang="en-US" sz="1400" dirty="0"/>
          </a:p>
        </p:txBody>
      </p:sp>
      <p:sp>
        <p:nvSpPr>
          <p:cNvPr id="33" name="Shape 31"/>
          <p:cNvSpPr/>
          <p:nvPr/>
        </p:nvSpPr>
        <p:spPr>
          <a:xfrm>
            <a:off x="9692640" y="-1371600"/>
            <a:ext cx="2926080" cy="2926080"/>
          </a:xfrm>
          <a:prstGeom prst="arc">
            <a:avLst>
              <a:gd name="adj1" fmla="val 2400000"/>
              <a:gd name="adj2" fmla="val 12000000"/>
            </a:avLst>
          </a:prstGeom>
          <a:ln w="28575">
            <a:solidFill>
              <a:srgbClr val="1E1E1E"/>
            </a:solidFill>
            <a:prstDash val="sysDot"/>
          </a:ln>
        </p:spPr>
      </p:sp>
      <p:pic>
        <p:nvPicPr>
          <p:cNvPr id="34" name="Image 0" descr="/tmp/claude-0/-home-user-Dom-Manipulation/a70c4110-05d8-512e-ae11-d08dee025a7a/scratchpad/img7/sil_red.png">    </p:cNvPr>
          <p:cNvPicPr>
            <a:picLocks noChangeAspect="1"/>
          </p:cNvPicPr>
          <p:nvPr/>
        </p:nvPicPr>
        <p:blipFill>
          <a:blip r:embed="rId1"/>
          <a:stretch>
            <a:fillRect/>
          </a:stretch>
        </p:blipFill>
        <p:spPr>
          <a:xfrm>
            <a:off x="10744200" y="1433392"/>
            <a:ext cx="822960" cy="24217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FIVE FORCES ANALYSIS</a:t>
            </a:r>
            <a:endParaRPr lang="en-US" sz="2400" dirty="0"/>
          </a:p>
        </p:txBody>
      </p:sp>
      <p:sp>
        <p:nvSpPr>
          <p:cNvPr id="5" name="Shape 3"/>
          <p:cNvSpPr/>
          <p:nvPr/>
        </p:nvSpPr>
        <p:spPr>
          <a:xfrm>
            <a:off x="640080" y="1691640"/>
            <a:ext cx="4023360" cy="4023360"/>
          </a:xfrm>
          <a:prstGeom prst="ellipse">
            <a:avLst/>
          </a:prstGeom>
          <a:solidFill>
            <a:srgbClr val="FAD354"/>
          </a:solidFill>
          <a:ln w="12700">
            <a:solidFill>
              <a:srgbClr val="FAD354"/>
            </a:solidFill>
            <a:prstDash val="solid"/>
          </a:ln>
        </p:spPr>
      </p:sp>
      <p:sp>
        <p:nvSpPr>
          <p:cNvPr id="6" name="Text 4"/>
          <p:cNvSpPr txBox="1"/>
          <p:nvPr/>
        </p:nvSpPr>
        <p:spPr>
          <a:xfrm>
            <a:off x="1188720" y="2331720"/>
            <a:ext cx="2926080" cy="2743200"/>
          </a:xfrm>
          <a:prstGeom prst="rect">
            <a:avLst/>
          </a:prstGeom>
          <a:noFill/>
          <a:ln/>
        </p:spPr>
        <p:txBody>
          <a:bodyPr wrap="square" lIns="0" tIns="0" rIns="0" bIns="0" rtlCol="0" anchor="ctr"/>
          <a:lstStyle/>
          <a:p>
            <a:pPr algn="ctr"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Industri kurang atraktif.</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Laba lahir dari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 perusahaan</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sesuai logika Structure Conduct Performance. Bahan bakar dan pesawat tidak bisa dikendalikan; yang bisa dikendalikan hanya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biaya sendiri</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7" name="Shape 5"/>
          <p:cNvSpPr/>
          <p:nvPr/>
        </p:nvSpPr>
        <p:spPr>
          <a:xfrm>
            <a:off x="6949440" y="2468880"/>
            <a:ext cx="1828800" cy="1828800"/>
          </a:xfrm>
          <a:prstGeom prst="ellipse">
            <a:avLst/>
          </a:prstGeom>
          <a:solidFill>
            <a:srgbClr val="1E1E1E"/>
          </a:solidFill>
          <a:ln w="12700">
            <a:solidFill>
              <a:srgbClr val="1E1E1E"/>
            </a:solidFill>
            <a:prstDash val="solid"/>
          </a:ln>
        </p:spPr>
      </p:sp>
      <p:sp>
        <p:nvSpPr>
          <p:cNvPr id="8" name="Text 6"/>
          <p:cNvSpPr txBox="1"/>
          <p:nvPr/>
        </p:nvSpPr>
        <p:spPr>
          <a:xfrm>
            <a:off x="7022592" y="2542032"/>
            <a:ext cx="1682496" cy="16824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RIVALITAS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9" name="Shape 7"/>
          <p:cNvSpPr/>
          <p:nvPr/>
        </p:nvSpPr>
        <p:spPr>
          <a:xfrm>
            <a:off x="4846320" y="1280160"/>
            <a:ext cx="1600200" cy="1600200"/>
          </a:xfrm>
          <a:prstGeom prst="ellipse">
            <a:avLst/>
          </a:prstGeom>
          <a:solidFill>
            <a:srgbClr val="E4002B"/>
          </a:solidFill>
          <a:ln w="12700">
            <a:solidFill>
              <a:srgbClr val="E4002B"/>
            </a:solidFill>
            <a:prstDash val="solid"/>
          </a:ln>
        </p:spPr>
      </p:sp>
      <p:sp>
        <p:nvSpPr>
          <p:cNvPr id="10" name="Text 8"/>
          <p:cNvSpPr txBox="1"/>
          <p:nvPr/>
        </p:nvSpPr>
        <p:spPr>
          <a:xfrm>
            <a:off x="491947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PEMASOK</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1" name="Shape 9"/>
          <p:cNvSpPr/>
          <p:nvPr/>
        </p:nvSpPr>
        <p:spPr>
          <a:xfrm>
            <a:off x="9281160" y="1280160"/>
            <a:ext cx="1600200" cy="1600200"/>
          </a:xfrm>
          <a:prstGeom prst="ellipse">
            <a:avLst/>
          </a:prstGeom>
          <a:solidFill>
            <a:srgbClr val="3B8DBD"/>
          </a:solidFill>
          <a:ln w="12700">
            <a:solidFill>
              <a:srgbClr val="3B8DBD"/>
            </a:solidFill>
            <a:prstDash val="solid"/>
          </a:ln>
        </p:spPr>
      </p:sp>
      <p:sp>
        <p:nvSpPr>
          <p:cNvPr id="12" name="Text 10"/>
          <p:cNvSpPr txBox="1"/>
          <p:nvPr/>
        </p:nvSpPr>
        <p:spPr>
          <a:xfrm>
            <a:off x="935431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PEMBELI</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3" name="Shape 11"/>
          <p:cNvSpPr/>
          <p:nvPr/>
        </p:nvSpPr>
        <p:spPr>
          <a:xfrm>
            <a:off x="4846320" y="3886200"/>
            <a:ext cx="1600200" cy="1600200"/>
          </a:xfrm>
          <a:prstGeom prst="ellipse">
            <a:avLst/>
          </a:prstGeom>
          <a:solidFill>
            <a:srgbClr val="FAD354"/>
          </a:solidFill>
          <a:ln w="12700">
            <a:solidFill>
              <a:srgbClr val="FAD354"/>
            </a:solidFill>
            <a:prstDash val="solid"/>
          </a:ln>
        </p:spPr>
      </p:sp>
      <p:sp>
        <p:nvSpPr>
          <p:cNvPr id="14" name="Text 12"/>
          <p:cNvSpPr txBox="1"/>
          <p:nvPr/>
        </p:nvSpPr>
        <p:spPr>
          <a:xfrm>
            <a:off x="4919472" y="395935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PENDATANG</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sedang</a:t>
            </a:r>
            <a:endParaRPr lang="en-US" sz="1200" dirty="0"/>
          </a:p>
        </p:txBody>
      </p:sp>
      <p:sp>
        <p:nvSpPr>
          <p:cNvPr id="15" name="Shape 13"/>
          <p:cNvSpPr/>
          <p:nvPr/>
        </p:nvSpPr>
        <p:spPr>
          <a:xfrm>
            <a:off x="9281160" y="3886200"/>
            <a:ext cx="1600200" cy="1600200"/>
          </a:xfrm>
          <a:prstGeom prst="ellipse">
            <a:avLst/>
          </a:prstGeom>
          <a:ln w="19050">
            <a:solidFill>
              <a:srgbClr val="1E1E1E"/>
            </a:solidFill>
            <a:prstDash val="solid"/>
          </a:ln>
        </p:spPr>
      </p:sp>
      <p:sp>
        <p:nvSpPr>
          <p:cNvPr id="16" name="Text 14"/>
          <p:cNvSpPr txBox="1"/>
          <p:nvPr/>
        </p:nvSpPr>
        <p:spPr>
          <a:xfrm>
            <a:off x="9354312" y="3959352"/>
            <a:ext cx="1453896" cy="1453896"/>
          </a:xfrm>
          <a:prstGeom prst="rect">
            <a:avLst/>
          </a:prstGeom>
          <a:noFill/>
          <a:ln/>
        </p:spPr>
        <p:txBody>
          <a:bodyPr wrap="square" lIns="0" tIns="0" rIns="0" bIns="0" rtlCol="0" anchor="ct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SUBSTITUSI</a:t>
            </a:r>
            <a:endParaRPr lang="en-US" sz="1200" dirty="0"/>
          </a:p>
          <a:p>
            <a:pPr algn="ctr" indent="0" marL="0">
              <a:buNone/>
            </a:pPr>
            <a:r>
              <a:rPr lang="en-US" sz="1400" dirty="0">
                <a:solidFill>
                  <a:srgbClr val="1E1E1E"/>
                </a:solidFill>
                <a:latin typeface="Poppins" pitchFamily="34" charset="0"/>
                <a:ea typeface="Poppins" pitchFamily="34" charset="-122"/>
                <a:cs typeface="Poppins" pitchFamily="34" charset="-120"/>
              </a:rPr>
              <a:t>sedang / rendah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852160" y="0"/>
            <a:ext cx="6336792" cy="2743200"/>
          </a:xfrm>
          <a:prstGeom prst="rect">
            <a:avLst/>
          </a:prstGeom>
          <a:solidFill>
            <a:srgbClr val="3B8DBD"/>
          </a:solidFill>
          <a:ln w="12700">
            <a:solidFill>
              <a:srgbClr val="3B8DBD"/>
            </a:solidFill>
            <a:prstDash val="solid"/>
          </a:ln>
        </p:spPr>
      </p:sp>
      <p:sp>
        <p:nvSpPr>
          <p:cNvPr id="3" name="Shape 1"/>
          <p:cNvSpPr/>
          <p:nvPr/>
        </p:nvSpPr>
        <p:spPr>
          <a:xfrm>
            <a:off x="6274613" y="0"/>
            <a:ext cx="232349" cy="2743200"/>
          </a:xfrm>
          <a:prstGeom prst="rect">
            <a:avLst/>
          </a:prstGeom>
          <a:solidFill>
            <a:srgbClr val="F6E4D0"/>
          </a:solidFill>
          <a:ln w="12700">
            <a:solidFill>
              <a:srgbClr val="F6E4D0"/>
            </a:solidFill>
            <a:prstDash val="solid"/>
          </a:ln>
        </p:spPr>
      </p:sp>
      <p:sp>
        <p:nvSpPr>
          <p:cNvPr id="4" name="Shape 2"/>
          <p:cNvSpPr/>
          <p:nvPr/>
        </p:nvSpPr>
        <p:spPr>
          <a:xfrm>
            <a:off x="7119518" y="0"/>
            <a:ext cx="232349" cy="2743200"/>
          </a:xfrm>
          <a:prstGeom prst="rect">
            <a:avLst/>
          </a:prstGeom>
          <a:solidFill>
            <a:srgbClr val="F6E4D0"/>
          </a:solidFill>
          <a:ln w="12700">
            <a:solidFill>
              <a:srgbClr val="F6E4D0"/>
            </a:solidFill>
            <a:prstDash val="solid"/>
          </a:ln>
        </p:spPr>
      </p:sp>
      <p:sp>
        <p:nvSpPr>
          <p:cNvPr id="5" name="Shape 3"/>
          <p:cNvSpPr/>
          <p:nvPr/>
        </p:nvSpPr>
        <p:spPr>
          <a:xfrm>
            <a:off x="7964424" y="0"/>
            <a:ext cx="232349" cy="2743200"/>
          </a:xfrm>
          <a:prstGeom prst="rect">
            <a:avLst/>
          </a:prstGeom>
          <a:solidFill>
            <a:srgbClr val="F6E4D0"/>
          </a:solidFill>
          <a:ln w="12700">
            <a:solidFill>
              <a:srgbClr val="F6E4D0"/>
            </a:solidFill>
            <a:prstDash val="solid"/>
          </a:ln>
        </p:spPr>
      </p:sp>
      <p:sp>
        <p:nvSpPr>
          <p:cNvPr id="6" name="Shape 4"/>
          <p:cNvSpPr/>
          <p:nvPr/>
        </p:nvSpPr>
        <p:spPr>
          <a:xfrm>
            <a:off x="8809330" y="0"/>
            <a:ext cx="232349" cy="2743200"/>
          </a:xfrm>
          <a:prstGeom prst="rect">
            <a:avLst/>
          </a:prstGeom>
          <a:solidFill>
            <a:srgbClr val="F6E4D0"/>
          </a:solidFill>
          <a:ln w="12700">
            <a:solidFill>
              <a:srgbClr val="F6E4D0"/>
            </a:solidFill>
            <a:prstDash val="solid"/>
          </a:ln>
        </p:spPr>
      </p:sp>
      <p:sp>
        <p:nvSpPr>
          <p:cNvPr id="7" name="Shape 5"/>
          <p:cNvSpPr/>
          <p:nvPr/>
        </p:nvSpPr>
        <p:spPr>
          <a:xfrm>
            <a:off x="9654235" y="0"/>
            <a:ext cx="232349" cy="2743200"/>
          </a:xfrm>
          <a:prstGeom prst="rect">
            <a:avLst/>
          </a:prstGeom>
          <a:solidFill>
            <a:srgbClr val="F6E4D0"/>
          </a:solidFill>
          <a:ln w="12700">
            <a:solidFill>
              <a:srgbClr val="F6E4D0"/>
            </a:solidFill>
            <a:prstDash val="solid"/>
          </a:ln>
        </p:spPr>
      </p:sp>
      <p:sp>
        <p:nvSpPr>
          <p:cNvPr id="8" name="Shape 6"/>
          <p:cNvSpPr/>
          <p:nvPr/>
        </p:nvSpPr>
        <p:spPr>
          <a:xfrm>
            <a:off x="10499141" y="0"/>
            <a:ext cx="232349" cy="2743200"/>
          </a:xfrm>
          <a:prstGeom prst="rect">
            <a:avLst/>
          </a:prstGeom>
          <a:solidFill>
            <a:srgbClr val="F6E4D0"/>
          </a:solidFill>
          <a:ln w="12700">
            <a:solidFill>
              <a:srgbClr val="F6E4D0"/>
            </a:solidFill>
            <a:prstDash val="solid"/>
          </a:ln>
        </p:spPr>
      </p:sp>
      <p:sp>
        <p:nvSpPr>
          <p:cNvPr id="9" name="Shape 7"/>
          <p:cNvSpPr/>
          <p:nvPr/>
        </p:nvSpPr>
        <p:spPr>
          <a:xfrm>
            <a:off x="11344046" y="0"/>
            <a:ext cx="232349" cy="2743200"/>
          </a:xfrm>
          <a:prstGeom prst="rect">
            <a:avLst/>
          </a:prstGeom>
          <a:solidFill>
            <a:srgbClr val="F6E4D0"/>
          </a:solidFill>
          <a:ln w="12700">
            <a:solidFill>
              <a:srgbClr val="F6E4D0"/>
            </a:solidFill>
            <a:prstDash val="solid"/>
          </a:ln>
        </p:spPr>
      </p:sp>
      <p:pic>
        <p:nvPicPr>
          <p:cNvPr id="10" name="Image 0" descr="/tmp/claude-0/-home-user-Dom-Manipulation/a70c4110-05d8-512e-ae11-d08dee025a7a/scratchpad/img7/crops/aa_turnaround_6.93x4.50_0.5-0.6.jpg">    </p:cNvPr>
          <p:cNvPicPr>
            <a:picLocks noChangeAspect="1"/>
          </p:cNvPicPr>
          <p:nvPr/>
        </p:nvPicPr>
        <p:blipFill>
          <a:blip r:embed="rId1"/>
          <a:stretch>
            <a:fillRect/>
          </a:stretch>
        </p:blipFill>
        <p:spPr>
          <a:xfrm>
            <a:off x="5852160" y="2743200"/>
            <a:ext cx="6336792" cy="4114800"/>
          </a:xfrm>
          <a:prstGeom prst="rect">
            <a:avLst/>
          </a:prstGeom>
        </p:spPr>
      </p:pic>
      <p:sp>
        <p:nvSpPr>
          <p:cNvPr id="11" name="Text 8"/>
          <p:cNvSpPr txBox="1"/>
          <p:nvPr/>
        </p:nvSpPr>
        <p:spPr>
          <a:xfrm>
            <a:off x="640080" y="822960"/>
            <a:ext cx="5029200" cy="1188720"/>
          </a:xfrm>
          <a:prstGeom prst="rect">
            <a:avLst/>
          </a:prstGeom>
          <a:noFill/>
          <a:ln/>
        </p:spPr>
        <p:txBody>
          <a:bodyPr wrap="square" lIns="0" tIns="0" rIns="0" bIns="0" rtlCol="0" anchor="t"/>
          <a:lstStyle/>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DRIVING FORCES</a:t>
            </a:r>
            <a:endParaRPr lang="en-US" sz="2400" dirty="0"/>
          </a:p>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AND KEY SUCCESS FACTORS</a:t>
            </a:r>
            <a:endParaRPr lang="en-US" sz="2400" dirty="0"/>
          </a:p>
        </p:txBody>
      </p:sp>
      <p:sp>
        <p:nvSpPr>
          <p:cNvPr id="12" name="Text 9"/>
          <p:cNvSpPr txBox="1"/>
          <p:nvPr/>
        </p:nvSpPr>
        <p:spPr>
          <a:xfrm>
            <a:off x="64008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KEKUATAN PENDORONG</a:t>
            </a:r>
            <a:endParaRPr lang="en-US" sz="1200" dirty="0"/>
          </a:p>
        </p:txBody>
      </p:sp>
      <p:sp>
        <p:nvSpPr>
          <p:cNvPr id="13" name="Text 10"/>
          <p:cNvSpPr txBox="1"/>
          <p:nvPr/>
        </p:nvSpPr>
        <p:spPr>
          <a:xfrm>
            <a:off x="640080" y="2697480"/>
            <a:ext cx="2377440" cy="2743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Deregulasi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regional</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Harga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bahan bakar</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Kelas menengah Asia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LCC ke rute jauh</a:t>
            </a:r>
            <a:endParaRPr lang="en-US" sz="1400" dirty="0"/>
          </a:p>
        </p:txBody>
      </p:sp>
      <p:sp>
        <p:nvSpPr>
          <p:cNvPr id="14" name="Text 11"/>
          <p:cNvSpPr txBox="1"/>
          <p:nvPr/>
        </p:nvSpPr>
        <p:spPr>
          <a:xfrm>
            <a:off x="329184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FAKTOR KUNCI</a:t>
            </a:r>
            <a:endParaRPr lang="en-US" sz="1200" dirty="0"/>
          </a:p>
        </p:txBody>
      </p:sp>
      <p:sp>
        <p:nvSpPr>
          <p:cNvPr id="15" name="Text 12"/>
          <p:cNvSpPr txBox="1"/>
          <p:nvPr/>
        </p:nvSpPr>
        <p:spPr>
          <a:xfrm>
            <a:off x="3291840" y="2697480"/>
            <a:ext cx="246888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Biaya per ASK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terendah</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Utilisasi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Operasi sederhana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Merek dipercaya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SDM produktif</a:t>
            </a:r>
            <a:endParaRPr lang="en-US" sz="1400" dirty="0"/>
          </a:p>
        </p:txBody>
      </p:sp>
      <p:sp>
        <p:nvSpPr>
          <p:cNvPr id="16" name="Text 13"/>
          <p:cNvSpPr txBox="1"/>
          <p:nvPr/>
        </p:nvSpPr>
        <p:spPr>
          <a:xfrm>
            <a:off x="640080" y="5806440"/>
            <a:ext cx="502920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Turnaround 25 menit: utilisasi tinggi dimulai dari kesibukan di gate.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GROUP MAP</a:t>
            </a:r>
            <a:endParaRPr lang="en-US" sz="2400" dirty="0"/>
          </a:p>
        </p:txBody>
      </p:sp>
      <p:sp>
        <p:nvSpPr>
          <p:cNvPr id="3" name="Shape 1"/>
          <p:cNvSpPr/>
          <p:nvPr/>
        </p:nvSpPr>
        <p:spPr>
          <a:xfrm>
            <a:off x="914400" y="5943600"/>
            <a:ext cx="6400800" cy="27432"/>
          </a:xfrm>
          <a:prstGeom prst="rect">
            <a:avLst/>
          </a:prstGeom>
          <a:solidFill>
            <a:srgbClr val="1E1E1E"/>
          </a:solidFill>
          <a:ln w="12700">
            <a:solidFill>
              <a:srgbClr val="1E1E1E"/>
            </a:solidFill>
            <a:prstDash val="solid"/>
          </a:ln>
        </p:spPr>
      </p:sp>
      <p:sp>
        <p:nvSpPr>
          <p:cNvPr id="4" name="Shape 2"/>
          <p:cNvSpPr/>
          <p:nvPr/>
        </p:nvSpPr>
        <p:spPr>
          <a:xfrm>
            <a:off x="914400" y="1463040"/>
            <a:ext cx="27432" cy="4480560"/>
          </a:xfrm>
          <a:prstGeom prst="rect">
            <a:avLst/>
          </a:prstGeom>
          <a:solidFill>
            <a:srgbClr val="1E1E1E"/>
          </a:solidFill>
          <a:ln w="12700">
            <a:solidFill>
              <a:srgbClr val="1E1E1E"/>
            </a:solidFill>
            <a:prstDash val="solid"/>
          </a:ln>
        </p:spPr>
      </p:sp>
      <p:sp>
        <p:nvSpPr>
          <p:cNvPr id="5" name="Text 3"/>
          <p:cNvSpPr txBox="1"/>
          <p:nvPr/>
        </p:nvSpPr>
        <p:spPr>
          <a:xfrm>
            <a:off x="1097280" y="603504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REGIONAL</a:t>
            </a:r>
            <a:endParaRPr lang="en-US" sz="1200" dirty="0"/>
          </a:p>
        </p:txBody>
      </p:sp>
      <p:sp>
        <p:nvSpPr>
          <p:cNvPr id="6" name="Text 4"/>
          <p:cNvSpPr txBox="1"/>
          <p:nvPr/>
        </p:nvSpPr>
        <p:spPr>
          <a:xfrm>
            <a:off x="4389120" y="6035040"/>
            <a:ext cx="2743200" cy="292608"/>
          </a:xfrm>
          <a:prstGeom prst="rect">
            <a:avLst/>
          </a:prstGeom>
          <a:noFill/>
          <a:ln/>
        </p:spPr>
        <p:txBody>
          <a:bodyPr wrap="square" lIns="0" tIns="0" rIns="0" bIns="0" rtlCol="0" anchor="ctr"/>
          <a:lstStyle/>
          <a:p>
            <a:pPr algn="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JARAK JAUH</a:t>
            </a:r>
            <a:endParaRPr lang="en-US" sz="1200" dirty="0"/>
          </a:p>
        </p:txBody>
      </p:sp>
      <p:sp>
        <p:nvSpPr>
          <p:cNvPr id="7" name="Text 5"/>
          <p:cNvSpPr txBox="1"/>
          <p:nvPr/>
        </p:nvSpPr>
        <p:spPr>
          <a:xfrm rot="16200000">
            <a:off x="-777240" y="2743200"/>
            <a:ext cx="3108960" cy="292608"/>
          </a:xfrm>
          <a:prstGeom prst="rect">
            <a:avLst/>
          </a:prstGeom>
          <a:noFill/>
          <a:ln/>
        </p:spPr>
        <p:txBody>
          <a:bodyPr wrap="square" lIns="0" tIns="0" rIns="0" bIns="0" rtlCol="0" anchor="ctr"/>
          <a:lstStyle/>
          <a:p>
            <a:pPr algn="ct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LAYANAN DAN BIAYA</a:t>
            </a:r>
            <a:endParaRPr lang="en-US" sz="1200" dirty="0"/>
          </a:p>
        </p:txBody>
      </p:sp>
      <p:sp>
        <p:nvSpPr>
          <p:cNvPr id="8" name="Shape 6"/>
          <p:cNvSpPr/>
          <p:nvPr/>
        </p:nvSpPr>
        <p:spPr>
          <a:xfrm>
            <a:off x="1659636" y="1689811"/>
            <a:ext cx="1965960" cy="1965960"/>
          </a:xfrm>
          <a:prstGeom prst="ellipse">
            <a:avLst/>
          </a:prstGeom>
          <a:solidFill>
            <a:srgbClr val="3B8DBD"/>
          </a:solidFill>
          <a:ln w="12700">
            <a:solidFill>
              <a:srgbClr val="3B8DBD"/>
            </a:solidFill>
            <a:prstDash val="solid"/>
          </a:ln>
        </p:spPr>
      </p:sp>
      <p:sp>
        <p:nvSpPr>
          <p:cNvPr id="9" name="Text 7"/>
          <p:cNvSpPr txBox="1"/>
          <p:nvPr/>
        </p:nvSpPr>
        <p:spPr>
          <a:xfrm>
            <a:off x="1769364"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FULL SERVICE</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MAS domestik, SIA</a:t>
            </a:r>
            <a:endParaRPr lang="en-US" sz="1200" dirty="0"/>
          </a:p>
        </p:txBody>
      </p:sp>
      <p:sp>
        <p:nvSpPr>
          <p:cNvPr id="10" name="Shape 8"/>
          <p:cNvSpPr/>
          <p:nvPr/>
        </p:nvSpPr>
        <p:spPr>
          <a:xfrm>
            <a:off x="4604004" y="1689811"/>
            <a:ext cx="1965960" cy="1965960"/>
          </a:xfrm>
          <a:prstGeom prst="ellipse">
            <a:avLst/>
          </a:prstGeom>
          <a:solidFill>
            <a:srgbClr val="1E1E1E"/>
          </a:solidFill>
          <a:ln w="12700">
            <a:solidFill>
              <a:srgbClr val="1E1E1E"/>
            </a:solidFill>
            <a:prstDash val="solid"/>
          </a:ln>
        </p:spPr>
      </p:sp>
      <p:sp>
        <p:nvSpPr>
          <p:cNvPr id="11" name="Text 9"/>
          <p:cNvSpPr txBox="1"/>
          <p:nvPr/>
        </p:nvSpPr>
        <p:spPr>
          <a:xfrm>
            <a:off x="4713732"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NETWORK CARRIERS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Emirates, BA, MAS</a:t>
            </a:r>
            <a:endParaRPr lang="en-US" sz="1200" dirty="0"/>
          </a:p>
        </p:txBody>
      </p:sp>
      <p:sp>
        <p:nvSpPr>
          <p:cNvPr id="12" name="Shape 10"/>
          <p:cNvSpPr/>
          <p:nvPr/>
        </p:nvSpPr>
        <p:spPr>
          <a:xfrm>
            <a:off x="1659636" y="3750869"/>
            <a:ext cx="1965960" cy="1965960"/>
          </a:xfrm>
          <a:prstGeom prst="ellipse">
            <a:avLst/>
          </a:prstGeom>
          <a:solidFill>
            <a:srgbClr val="E4002B"/>
          </a:solidFill>
          <a:ln w="12700">
            <a:solidFill>
              <a:srgbClr val="E4002B"/>
            </a:solidFill>
            <a:prstDash val="solid"/>
          </a:ln>
        </p:spPr>
      </p:sp>
      <p:sp>
        <p:nvSpPr>
          <p:cNvPr id="13" name="Text 11"/>
          <p:cNvSpPr txBox="1"/>
          <p:nvPr/>
        </p:nvSpPr>
        <p:spPr>
          <a:xfrm>
            <a:off x="1769364"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LCC REGIONAL</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AirAsia, Tiger, Cebu</a:t>
            </a:r>
            <a:endParaRPr lang="en-US" sz="1200" dirty="0"/>
          </a:p>
        </p:txBody>
      </p:sp>
      <p:sp>
        <p:nvSpPr>
          <p:cNvPr id="14" name="Shape 12"/>
          <p:cNvSpPr/>
          <p:nvPr/>
        </p:nvSpPr>
        <p:spPr>
          <a:xfrm>
            <a:off x="4466844" y="3613709"/>
            <a:ext cx="2240280" cy="2240280"/>
          </a:xfrm>
          <a:prstGeom prst="ellipse">
            <a:avLst/>
          </a:prstGeom>
          <a:ln w="19050">
            <a:solidFill>
              <a:srgbClr val="1E1E1E"/>
            </a:solidFill>
            <a:prstDash val="solid"/>
          </a:ln>
        </p:spPr>
      </p:sp>
      <p:sp>
        <p:nvSpPr>
          <p:cNvPr id="15" name="Shape 13"/>
          <p:cNvSpPr/>
          <p:nvPr/>
        </p:nvSpPr>
        <p:spPr>
          <a:xfrm>
            <a:off x="4604004" y="3750869"/>
            <a:ext cx="1965960" cy="1965960"/>
          </a:xfrm>
          <a:prstGeom prst="ellipse">
            <a:avLst/>
          </a:prstGeom>
          <a:solidFill>
            <a:srgbClr val="FAD354"/>
          </a:solidFill>
          <a:ln w="12700">
            <a:solidFill>
              <a:srgbClr val="FAD354"/>
            </a:solidFill>
            <a:prstDash val="solid"/>
          </a:ln>
        </p:spPr>
      </p:sp>
      <p:sp>
        <p:nvSpPr>
          <p:cNvPr id="16" name="Text 14"/>
          <p:cNvSpPr txBox="1"/>
          <p:nvPr/>
        </p:nvSpPr>
        <p:spPr>
          <a:xfrm>
            <a:off x="4713732"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LCC JARAK JAUH</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AirAsia X</a:t>
            </a:r>
            <a:endParaRPr lang="en-US" sz="1200" dirty="0"/>
          </a:p>
        </p:txBody>
      </p:sp>
      <p:sp>
        <p:nvSpPr>
          <p:cNvPr id="17" name="Shape 15"/>
          <p:cNvSpPr/>
          <p:nvPr/>
        </p:nvSpPr>
        <p:spPr>
          <a:xfrm>
            <a:off x="3671316" y="4733849"/>
            <a:ext cx="886968" cy="0"/>
          </a:xfrm>
          <a:prstGeom prst="line">
            <a:avLst/>
          </a:prstGeom>
          <a:noFill/>
          <a:ln w="25400">
            <a:solidFill>
              <a:srgbClr val="1E1E1E"/>
            </a:solidFill>
            <a:prstDash val="sysDot"/>
          </a:ln>
        </p:spPr>
      </p:sp>
      <p:pic>
        <p:nvPicPr>
          <p:cNvPr id="18" name="Image 0" descr="/tmp/claude-0/-home-user-Dom-Manipulation/a70c4110-05d8-512e-ae11-d08dee025a7a/scratchpad/img7/sil_red.png">    </p:cNvPr>
          <p:cNvPicPr>
            <a:picLocks noChangeAspect="1"/>
          </p:cNvPicPr>
          <p:nvPr/>
        </p:nvPicPr>
        <p:blipFill>
          <a:blip r:embed="rId1"/>
          <a:stretch>
            <a:fillRect/>
          </a:stretch>
        </p:blipFill>
        <p:spPr>
          <a:xfrm flipH="1">
            <a:off x="3735324" y="4404665"/>
            <a:ext cx="777240" cy="228722"/>
          </a:xfrm>
          <a:prstGeom prst="rect">
            <a:avLst/>
          </a:prstGeom>
        </p:spPr>
      </p:pic>
      <p:sp>
        <p:nvSpPr>
          <p:cNvPr id="19" name="Text 16"/>
          <p:cNvSpPr txBox="1"/>
          <p:nvPr/>
        </p:nvSpPr>
        <p:spPr>
          <a:xfrm>
            <a:off x="8138160" y="1554480"/>
            <a:ext cx="3474720" cy="21945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AirAsia X pindah kelompok.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Lawannya bukan LCC lain, melainkan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mampu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mensubsidi harga ekonomi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dari kelas premium.</a:t>
            </a:r>
            <a:endParaRPr lang="en-US" sz="1400" dirty="0"/>
          </a:p>
        </p:txBody>
      </p:sp>
      <p:sp>
        <p:nvSpPr>
          <p:cNvPr id="20" name="Text 17"/>
          <p:cNvSpPr txBox="1"/>
          <p:nvPr/>
        </p:nvSpPr>
        <p:spPr>
          <a:xfrm>
            <a:off x="8138160" y="3840480"/>
            <a:ext cx="3474720" cy="16459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Hambatan mobilitas antar kelompok bukan hanya modal. Yang sulit ditiru adalah budaya biaya rendah dan sistem operasi sederhana.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468880" y="2194560"/>
            <a:ext cx="2926080" cy="2926080"/>
          </a:xfrm>
          <a:prstGeom prst="arc">
            <a:avLst>
              <a:gd name="adj1" fmla="val 18000000"/>
              <a:gd name="adj2" fmla="val 3600000"/>
            </a:avLst>
          </a:prstGeom>
          <a:ln w="28575">
            <a:solidFill>
              <a:srgbClr val="1E1E1E"/>
            </a:solidFill>
            <a:prstDash val="sysDot"/>
          </a:ln>
        </p:spPr>
      </p:sp>
      <p:sp>
        <p:nvSpPr>
          <p:cNvPr id="3" name="Text 1"/>
          <p:cNvSpPr txBox="1"/>
          <p:nvPr/>
        </p:nvSpPr>
        <p:spPr>
          <a:xfrm>
            <a:off x="640080" y="548640"/>
            <a:ext cx="4343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COST BENCHMARKING</a:t>
            </a:r>
            <a:endParaRPr lang="en-US" sz="2400" dirty="0"/>
          </a:p>
        </p:txBody>
      </p:sp>
      <p:sp>
        <p:nvSpPr>
          <p:cNvPr id="4" name="Text 2"/>
          <p:cNvSpPr txBox="1"/>
          <p:nvPr/>
        </p:nvSpPr>
        <p:spPr>
          <a:xfrm>
            <a:off x="640080" y="1371600"/>
            <a:ext cx="54864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AIRASIA BERBANDING MALAYSIA AIRLINES, 2008</a:t>
            </a:r>
            <a:endParaRPr lang="en-US" sz="1200" dirty="0"/>
          </a:p>
        </p:txBody>
      </p:sp>
      <p:sp>
        <p:nvSpPr>
          <p:cNvPr id="5" name="Text 3"/>
          <p:cNvSpPr txBox="1"/>
          <p:nvPr/>
        </p:nvSpPr>
        <p:spPr>
          <a:xfrm>
            <a:off x="640080" y="1783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11,66</a:t>
            </a:r>
            <a:endParaRPr lang="en-US" sz="4000" dirty="0"/>
          </a:p>
        </p:txBody>
      </p:sp>
      <p:sp>
        <p:nvSpPr>
          <p:cNvPr id="6" name="Text 4"/>
          <p:cNvSpPr txBox="1"/>
          <p:nvPr/>
        </p:nvSpPr>
        <p:spPr>
          <a:xfrm>
            <a:off x="2331720" y="1965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7" name="Text 5"/>
          <p:cNvSpPr txBox="1"/>
          <p:nvPr/>
        </p:nvSpPr>
        <p:spPr>
          <a:xfrm>
            <a:off x="2743200" y="1783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22,80</a:t>
            </a:r>
            <a:endParaRPr lang="en-US" sz="4000" dirty="0"/>
          </a:p>
        </p:txBody>
      </p:sp>
      <p:sp>
        <p:nvSpPr>
          <p:cNvPr id="8" name="Text 6"/>
          <p:cNvSpPr txBox="1"/>
          <p:nvPr/>
        </p:nvSpPr>
        <p:spPr>
          <a:xfrm>
            <a:off x="640080" y="2423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biaya per ASK (Rp 340 vs Rp 660)</a:t>
            </a:r>
            <a:endParaRPr lang="en-US" sz="1400" dirty="0"/>
          </a:p>
        </p:txBody>
      </p:sp>
      <p:sp>
        <p:nvSpPr>
          <p:cNvPr id="9" name="Text 7"/>
          <p:cNvSpPr txBox="1"/>
          <p:nvPr/>
        </p:nvSpPr>
        <p:spPr>
          <a:xfrm>
            <a:off x="640080" y="2926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14,11</a:t>
            </a:r>
            <a:endParaRPr lang="en-US" sz="4000" dirty="0"/>
          </a:p>
        </p:txBody>
      </p:sp>
      <p:sp>
        <p:nvSpPr>
          <p:cNvPr id="10" name="Text 8"/>
          <p:cNvSpPr txBox="1"/>
          <p:nvPr/>
        </p:nvSpPr>
        <p:spPr>
          <a:xfrm>
            <a:off x="2331720" y="3108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1" name="Text 9"/>
          <p:cNvSpPr txBox="1"/>
          <p:nvPr/>
        </p:nvSpPr>
        <p:spPr>
          <a:xfrm>
            <a:off x="2743200" y="2926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20,60</a:t>
            </a:r>
            <a:endParaRPr lang="en-US" sz="4000" dirty="0"/>
          </a:p>
        </p:txBody>
      </p:sp>
      <p:sp>
        <p:nvSpPr>
          <p:cNvPr id="12" name="Text 10"/>
          <p:cNvSpPr txBox="1"/>
          <p:nvPr/>
        </p:nvSpPr>
        <p:spPr>
          <a:xfrm>
            <a:off x="640080" y="3566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pendapatan per ASK (Rp 410 vs Rp 600)</a:t>
            </a:r>
            <a:endParaRPr lang="en-US" sz="1400" dirty="0"/>
          </a:p>
        </p:txBody>
      </p:sp>
      <p:sp>
        <p:nvSpPr>
          <p:cNvPr id="13" name="Text 11"/>
          <p:cNvSpPr txBox="1"/>
          <p:nvPr/>
        </p:nvSpPr>
        <p:spPr>
          <a:xfrm>
            <a:off x="640080" y="4069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a:t>
            </a:r>
            <a:endParaRPr lang="en-US" sz="4000" dirty="0"/>
          </a:p>
        </p:txBody>
      </p:sp>
      <p:sp>
        <p:nvSpPr>
          <p:cNvPr id="14" name="Text 12"/>
          <p:cNvSpPr txBox="1"/>
          <p:nvPr/>
        </p:nvSpPr>
        <p:spPr>
          <a:xfrm>
            <a:off x="2331720" y="4251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5" name="Text 13"/>
          <p:cNvSpPr txBox="1"/>
          <p:nvPr/>
        </p:nvSpPr>
        <p:spPr>
          <a:xfrm>
            <a:off x="2743200" y="4069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11,1</a:t>
            </a:r>
            <a:endParaRPr lang="en-US" sz="4000" dirty="0"/>
          </a:p>
        </p:txBody>
      </p:sp>
      <p:sp>
        <p:nvSpPr>
          <p:cNvPr id="16" name="Text 14"/>
          <p:cNvSpPr txBox="1"/>
          <p:nvPr/>
        </p:nvSpPr>
        <p:spPr>
          <a:xfrm>
            <a:off x="640080" y="4709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jam utilisasi pesawat per hari</a:t>
            </a:r>
            <a:endParaRPr lang="en-US" sz="1400" dirty="0"/>
          </a:p>
        </p:txBody>
      </p:sp>
      <p:sp>
        <p:nvSpPr>
          <p:cNvPr id="17" name="Text 15"/>
          <p:cNvSpPr txBox="1"/>
          <p:nvPr/>
        </p:nvSpPr>
        <p:spPr>
          <a:xfrm>
            <a:off x="640080" y="5212080"/>
            <a:ext cx="4937760" cy="11887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Separuh biaya MAS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tenaga kerja yang jauh lebih ramping. Rugi 2008 bukan dari operasi, melainkan dari pelepasan kontrak berjangka bahan bakar.</a:t>
            </a:r>
            <a:endParaRPr lang="en-US" sz="1400" dirty="0"/>
          </a:p>
        </p:txBody>
      </p:sp>
      <p:sp>
        <p:nvSpPr>
          <p:cNvPr id="18" name="Shape 16"/>
          <p:cNvSpPr/>
          <p:nvPr/>
        </p:nvSpPr>
        <p:spPr>
          <a:xfrm>
            <a:off x="6309360" y="1051560"/>
            <a:ext cx="4937760" cy="4937760"/>
          </a:xfrm>
          <a:prstGeom prst="ellipse">
            <a:avLst/>
          </a:prstGeom>
          <a:solidFill>
            <a:srgbClr val="FAD354"/>
          </a:solidFill>
          <a:ln w="12700">
            <a:solidFill>
              <a:srgbClr val="FAD354"/>
            </a:solidFill>
            <a:prstDash val="solid"/>
          </a:ln>
        </p:spPr>
      </p:sp>
      <p:sp>
        <p:nvSpPr>
          <p:cNvPr id="19" name="Text 17"/>
          <p:cNvSpPr txBox="1"/>
          <p:nvPr/>
        </p:nvSpPr>
        <p:spPr>
          <a:xfrm>
            <a:off x="6675120" y="1600200"/>
            <a:ext cx="329184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49 vs 175</a:t>
            </a:r>
            <a:endParaRPr lang="en-US" sz="4000" dirty="0"/>
          </a:p>
        </p:txBody>
      </p:sp>
      <p:sp>
        <p:nvSpPr>
          <p:cNvPr id="20" name="Text 18"/>
          <p:cNvSpPr txBox="1"/>
          <p:nvPr/>
        </p:nvSpPr>
        <p:spPr>
          <a:xfrm>
            <a:off x="6675120" y="228600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karyawan per pesawat</a:t>
            </a:r>
            <a:endParaRPr lang="en-US" sz="1400" dirty="0"/>
          </a:p>
        </p:txBody>
      </p:sp>
      <p:sp>
        <p:nvSpPr>
          <p:cNvPr id="21" name="Text 19"/>
          <p:cNvSpPr txBox="1"/>
          <p:nvPr/>
        </p:nvSpPr>
        <p:spPr>
          <a:xfrm>
            <a:off x="6675120" y="2834640"/>
            <a:ext cx="40233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75% vs 67,8%</a:t>
            </a:r>
            <a:endParaRPr lang="en-US" sz="4000" dirty="0"/>
          </a:p>
        </p:txBody>
      </p:sp>
      <p:sp>
        <p:nvSpPr>
          <p:cNvPr id="22" name="Text 20"/>
          <p:cNvSpPr txBox="1"/>
          <p:nvPr/>
        </p:nvSpPr>
        <p:spPr>
          <a:xfrm>
            <a:off x="6675120" y="352044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2008</a:t>
            </a:r>
            <a:endParaRPr lang="en-US" sz="1400" dirty="0"/>
          </a:p>
        </p:txBody>
      </p:sp>
      <p:pic>
        <p:nvPicPr>
          <p:cNvPr id="23" name="Image 0" descr="/tmp/claude-0/-home-user-Dom-Manipulation/a70c4110-05d8-512e-ae11-d08dee025a7a/scratchpad/img7/aa_crew.png">    </p:cNvPr>
          <p:cNvPicPr>
            <a:picLocks noChangeAspect="1"/>
          </p:cNvPicPr>
          <p:nvPr/>
        </p:nvPicPr>
        <p:blipFill>
          <a:blip r:embed="rId1"/>
          <a:stretch>
            <a:fillRect/>
          </a:stretch>
        </p:blipFill>
        <p:spPr>
          <a:xfrm>
            <a:off x="8286733" y="3931920"/>
            <a:ext cx="3269015" cy="2926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SOURCES OF</a:t>
            </a:r>
            <a:endParaRPr lang="en-US" sz="2400" dirty="0"/>
          </a:p>
        </p:txBody>
      </p:sp>
      <p:sp>
        <p:nvSpPr>
          <p:cNvPr id="3" name="Text 1"/>
          <p:cNvSpPr txBox="1"/>
          <p:nvPr/>
        </p:nvSpPr>
        <p:spPr>
          <a:xfrm>
            <a:off x="640080" y="1152144"/>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COST ADVANTAGE</a:t>
            </a:r>
            <a:endParaRPr lang="en-US" sz="2400" dirty="0"/>
          </a:p>
        </p:txBody>
      </p:sp>
      <p:sp>
        <p:nvSpPr>
          <p:cNvPr id="4" name="Text 2"/>
          <p:cNvSpPr txBox="1"/>
          <p:nvPr/>
        </p:nvSpPr>
        <p:spPr>
          <a:xfrm>
            <a:off x="640080" y="2057400"/>
            <a:ext cx="4114800" cy="3108960"/>
          </a:xfrm>
          <a:prstGeom prst="rect">
            <a:avLst/>
          </a:prstGeom>
          <a:noFill/>
          <a:ln/>
        </p:spPr>
        <p:txBody>
          <a:bodyPr wrap="square" lIns="0" tIns="0" rIns="0" bIns="0" rtlCol="0" anchor="t"/>
          <a:lstStyle/>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Operasi ala Ryanair.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 tipe pesawat (A320), satu kelas, no frills, titik ke titik, turnaround 25 menit.</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SDM ala Southwest.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Karyawan multi-skill, insentif produktivitas, budaya tanpa hierarki.</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Merek ala easyJet.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Iklan kontra-siklus, co-branding, sponsorship, distribusi langsung dan IT.</a:t>
            </a:r>
            <a:endParaRPr lang="en-US" sz="1400" dirty="0"/>
          </a:p>
        </p:txBody>
      </p:sp>
      <p:sp>
        <p:nvSpPr>
          <p:cNvPr id="5" name="Text 3"/>
          <p:cNvSpPr txBox="1"/>
          <p:nvPr/>
        </p:nvSpPr>
        <p:spPr>
          <a:xfrm>
            <a:off x="640080" y="5212080"/>
            <a:ext cx="4114800" cy="11887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Ketiganya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sebuah sistem, bukan satu kebijakan tunggal. Sulit ditiru, tetapi juga sulit dipindahkan sebagian.</a:t>
            </a:r>
            <a:endParaRPr lang="en-US" sz="1400" dirty="0"/>
          </a:p>
        </p:txBody>
      </p:sp>
      <p:sp>
        <p:nvSpPr>
          <p:cNvPr id="6" name="Shape 4"/>
          <p:cNvSpPr/>
          <p:nvPr/>
        </p:nvSpPr>
        <p:spPr>
          <a:xfrm>
            <a:off x="9646920" y="3977640"/>
            <a:ext cx="73152" cy="2194560"/>
          </a:xfrm>
          <a:prstGeom prst="rect">
            <a:avLst/>
          </a:prstGeom>
          <a:solidFill>
            <a:srgbClr val="E4002B"/>
          </a:solidFill>
          <a:ln w="12700">
            <a:solidFill>
              <a:srgbClr val="E4002B"/>
            </a:solidFill>
            <a:prstDash val="solid"/>
          </a:ln>
        </p:spPr>
      </p:sp>
      <p:sp>
        <p:nvSpPr>
          <p:cNvPr id="7" name="Shape 5"/>
          <p:cNvSpPr/>
          <p:nvPr/>
        </p:nvSpPr>
        <p:spPr>
          <a:xfrm>
            <a:off x="9646920" y="6099048"/>
            <a:ext cx="2651760" cy="73152"/>
          </a:xfrm>
          <a:prstGeom prst="rect">
            <a:avLst/>
          </a:prstGeom>
          <a:solidFill>
            <a:srgbClr val="E4002B"/>
          </a:solidFill>
          <a:ln w="12700">
            <a:solidFill>
              <a:srgbClr val="E4002B"/>
            </a:solidFill>
            <a:prstDash val="solid"/>
          </a:ln>
        </p:spPr>
      </p:sp>
      <p:sp>
        <p:nvSpPr>
          <p:cNvPr id="8" name="Shape 6"/>
          <p:cNvSpPr/>
          <p:nvPr/>
        </p:nvSpPr>
        <p:spPr>
          <a:xfrm>
            <a:off x="5120640" y="2514600"/>
            <a:ext cx="2514600" cy="3246120"/>
          </a:xfrm>
          <a:prstGeom prst="rect">
            <a:avLst/>
          </a:prstGeom>
          <a:solidFill>
            <a:srgbClr val="FFFFFF"/>
          </a:solidFill>
          <a:ln w="12700">
            <a:solidFill>
              <a:srgbClr val="FFFFFF"/>
            </a:solidFill>
            <a:prstDash val="solid"/>
          </a:ln>
        </p:spPr>
      </p:sp>
      <p:pic>
        <p:nvPicPr>
          <p:cNvPr id="9" name="Image 0" descr="/tmp/claude-0/-home-user-Dom-Manipulation/a70c4110-05d8-512e-ae11-d08dee025a7a/scratchpad/img7/crops/bw_hangar_2.45x2.85_0.5-0.5.jpg">    </p:cNvPr>
          <p:cNvPicPr>
            <a:picLocks noChangeAspect="1"/>
          </p:cNvPicPr>
          <p:nvPr/>
        </p:nvPicPr>
        <p:blipFill>
          <a:blip r:embed="rId1"/>
          <a:stretch>
            <a:fillRect/>
          </a:stretch>
        </p:blipFill>
        <p:spPr>
          <a:xfrm>
            <a:off x="5257800" y="2651760"/>
            <a:ext cx="2240280" cy="2606040"/>
          </a:xfrm>
          <a:prstGeom prst="rect">
            <a:avLst/>
          </a:prstGeom>
        </p:spPr>
      </p:pic>
      <p:sp>
        <p:nvSpPr>
          <p:cNvPr id="10" name="Text 7"/>
          <p:cNvSpPr txBox="1"/>
          <p:nvPr/>
        </p:nvSpPr>
        <p:spPr>
          <a:xfrm>
            <a:off x="5257800" y="5321808"/>
            <a:ext cx="219456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OPERASI</a:t>
            </a:r>
            <a:endParaRPr lang="en-US" sz="1200" dirty="0"/>
          </a:p>
        </p:txBody>
      </p:sp>
      <p:sp>
        <p:nvSpPr>
          <p:cNvPr id="11" name="Shape 8"/>
          <p:cNvSpPr/>
          <p:nvPr/>
        </p:nvSpPr>
        <p:spPr>
          <a:xfrm>
            <a:off x="7086600" y="1463040"/>
            <a:ext cx="2834640" cy="3840480"/>
          </a:xfrm>
          <a:prstGeom prst="rect">
            <a:avLst/>
          </a:prstGeom>
          <a:solidFill>
            <a:srgbClr val="FFFFFF"/>
          </a:solidFill>
          <a:ln w="12700">
            <a:solidFill>
              <a:srgbClr val="FFFFFF"/>
            </a:solidFill>
            <a:prstDash val="solid"/>
          </a:ln>
        </p:spPr>
      </p:sp>
      <p:sp>
        <p:nvSpPr>
          <p:cNvPr id="12" name="Shape 9"/>
          <p:cNvSpPr/>
          <p:nvPr/>
        </p:nvSpPr>
        <p:spPr>
          <a:xfrm>
            <a:off x="7223760" y="1600200"/>
            <a:ext cx="2560320" cy="3154680"/>
          </a:xfrm>
          <a:prstGeom prst="rect">
            <a:avLst/>
          </a:prstGeom>
          <a:solidFill>
            <a:srgbClr val="FAD354"/>
          </a:solidFill>
          <a:ln w="12700">
            <a:solidFill>
              <a:srgbClr val="FAD354"/>
            </a:solidFill>
            <a:prstDash val="solid"/>
          </a:ln>
        </p:spPr>
      </p:sp>
      <p:pic>
        <p:nvPicPr>
          <p:cNvPr id="13" name="Image 1" descr="/tmp/claude-0/-home-user-Dom-Manipulation/a70c4110-05d8-512e-ae11-d08dee025a7a/scratchpad/img7/aa_crew.png">    </p:cNvPr>
          <p:cNvPicPr>
            <a:picLocks noChangeAspect="1"/>
          </p:cNvPicPr>
          <p:nvPr/>
        </p:nvPicPr>
        <p:blipFill>
          <a:blip r:embed="rId2"/>
          <a:stretch>
            <a:fillRect/>
          </a:stretch>
        </p:blipFill>
        <p:spPr>
          <a:xfrm>
            <a:off x="7269480" y="2499277"/>
            <a:ext cx="2468880" cy="2209883"/>
          </a:xfrm>
          <a:prstGeom prst="rect">
            <a:avLst/>
          </a:prstGeom>
        </p:spPr>
      </p:pic>
      <p:sp>
        <p:nvSpPr>
          <p:cNvPr id="14" name="Text 10"/>
          <p:cNvSpPr txBox="1"/>
          <p:nvPr/>
        </p:nvSpPr>
        <p:spPr>
          <a:xfrm>
            <a:off x="7223760" y="4864608"/>
            <a:ext cx="22860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SDM</a:t>
            </a:r>
            <a:endParaRPr lang="en-US" sz="1200" dirty="0"/>
          </a:p>
        </p:txBody>
      </p:sp>
      <p:sp>
        <p:nvSpPr>
          <p:cNvPr id="15" name="Shape 11"/>
          <p:cNvSpPr/>
          <p:nvPr/>
        </p:nvSpPr>
        <p:spPr>
          <a:xfrm>
            <a:off x="9555480" y="960120"/>
            <a:ext cx="2286000" cy="3108960"/>
          </a:xfrm>
          <a:prstGeom prst="rect">
            <a:avLst/>
          </a:prstGeom>
          <a:solidFill>
            <a:srgbClr val="FFFFFF"/>
          </a:solidFill>
          <a:ln w="12700">
            <a:solidFill>
              <a:srgbClr val="FFFFFF"/>
            </a:solidFill>
            <a:prstDash val="solid"/>
          </a:ln>
        </p:spPr>
      </p:sp>
      <p:sp>
        <p:nvSpPr>
          <p:cNvPr id="16" name="Shape 12"/>
          <p:cNvSpPr/>
          <p:nvPr/>
        </p:nvSpPr>
        <p:spPr>
          <a:xfrm>
            <a:off x="9692640" y="1097280"/>
            <a:ext cx="2011680" cy="2468880"/>
          </a:xfrm>
          <a:prstGeom prst="rect">
            <a:avLst/>
          </a:prstGeom>
          <a:solidFill>
            <a:srgbClr val="E4002B"/>
          </a:solidFill>
          <a:ln w="12700">
            <a:solidFill>
              <a:srgbClr val="E4002B"/>
            </a:solidFill>
            <a:prstDash val="solid"/>
          </a:ln>
        </p:spPr>
      </p:sp>
      <p:pic>
        <p:nvPicPr>
          <p:cNvPr id="17" name="Image 2" descr="/tmp/claude-0/-home-user-Dom-Manipulation/a70c4110-05d8-512e-ae11-d08dee025a7a/scratchpad/img7/aa_a320.png">    </p:cNvPr>
          <p:cNvPicPr>
            <a:picLocks noChangeAspect="1"/>
          </p:cNvPicPr>
          <p:nvPr/>
        </p:nvPicPr>
        <p:blipFill>
          <a:blip r:embed="rId3"/>
          <a:stretch>
            <a:fillRect/>
          </a:stretch>
        </p:blipFill>
        <p:spPr>
          <a:xfrm>
            <a:off x="9372600" y="1928093"/>
            <a:ext cx="2743200" cy="807253"/>
          </a:xfrm>
          <a:prstGeom prst="rect">
            <a:avLst/>
          </a:prstGeom>
        </p:spPr>
      </p:pic>
      <p:sp>
        <p:nvSpPr>
          <p:cNvPr id="18" name="Text 13"/>
          <p:cNvSpPr txBox="1"/>
          <p:nvPr/>
        </p:nvSpPr>
        <p:spPr>
          <a:xfrm>
            <a:off x="9692640" y="3630168"/>
            <a:ext cx="21031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MEREK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640080" y="822960"/>
            <a:ext cx="2103120" cy="2103120"/>
          </a:xfrm>
          <a:prstGeom prst="pie">
            <a:avLst>
              <a:gd name="adj1" fmla="val 10800000"/>
              <a:gd name="adj2" fmla="val 21600000"/>
            </a:avLst>
          </a:prstGeom>
          <a:solidFill>
            <a:srgbClr val="1E1E1E"/>
          </a:solidFill>
          <a:ln w="12700">
            <a:solidFill>
              <a:srgbClr val="1E1E1E"/>
            </a:solidFill>
            <a:prstDash val="solid"/>
          </a:ln>
        </p:spPr>
      </p:sp>
      <p:sp>
        <p:nvSpPr>
          <p:cNvPr id="3" name="Shape 1"/>
          <p:cNvSpPr/>
          <p:nvPr/>
        </p:nvSpPr>
        <p:spPr>
          <a:xfrm>
            <a:off x="640080" y="1874520"/>
            <a:ext cx="1051560" cy="2194560"/>
          </a:xfrm>
          <a:prstGeom prst="rect">
            <a:avLst/>
          </a:prstGeom>
          <a:solidFill>
            <a:srgbClr val="1E1E1E"/>
          </a:solidFill>
          <a:ln w="12700">
            <a:solidFill>
              <a:srgbClr val="1E1E1E"/>
            </a:solidFill>
            <a:prstDash val="solid"/>
          </a:ln>
        </p:spPr>
      </p:sp>
      <p:sp>
        <p:nvSpPr>
          <p:cNvPr id="4" name="Shape 2"/>
          <p:cNvSpPr/>
          <p:nvPr/>
        </p:nvSpPr>
        <p:spPr>
          <a:xfrm>
            <a:off x="1691640" y="1600200"/>
            <a:ext cx="1554480" cy="1554480"/>
          </a:xfrm>
          <a:prstGeom prst="pie">
            <a:avLst>
              <a:gd name="adj1" fmla="val 10800000"/>
              <a:gd name="adj2" fmla="val 21600000"/>
            </a:avLst>
          </a:prstGeom>
          <a:solidFill>
            <a:srgbClr val="E4002B"/>
          </a:solidFill>
          <a:ln w="12700">
            <a:solidFill>
              <a:srgbClr val="E4002B"/>
            </a:solidFill>
            <a:prstDash val="solid"/>
          </a:ln>
        </p:spPr>
      </p:sp>
      <p:sp>
        <p:nvSpPr>
          <p:cNvPr id="5" name="Shape 3"/>
          <p:cNvSpPr/>
          <p:nvPr/>
        </p:nvSpPr>
        <p:spPr>
          <a:xfrm>
            <a:off x="1691640" y="2377440"/>
            <a:ext cx="777240" cy="1691640"/>
          </a:xfrm>
          <a:prstGeom prst="rect">
            <a:avLst/>
          </a:prstGeom>
          <a:solidFill>
            <a:srgbClr val="E4002B"/>
          </a:solidFill>
          <a:ln w="12700">
            <a:solidFill>
              <a:srgbClr val="E4002B"/>
            </a:solidFill>
            <a:prstDash val="solid"/>
          </a:ln>
        </p:spPr>
      </p:sp>
      <p:sp>
        <p:nvSpPr>
          <p:cNvPr id="6" name="Shape 4"/>
          <p:cNvSpPr/>
          <p:nvPr/>
        </p:nvSpPr>
        <p:spPr>
          <a:xfrm>
            <a:off x="2468880" y="2286000"/>
            <a:ext cx="1097280" cy="1097280"/>
          </a:xfrm>
          <a:prstGeom prst="pie">
            <a:avLst>
              <a:gd name="adj1" fmla="val 10800000"/>
              <a:gd name="adj2" fmla="val 21600000"/>
            </a:avLst>
          </a:prstGeom>
          <a:solidFill>
            <a:srgbClr val="FAD354"/>
          </a:solidFill>
          <a:ln w="12700">
            <a:solidFill>
              <a:srgbClr val="FAD354"/>
            </a:solidFill>
            <a:prstDash val="solid"/>
          </a:ln>
        </p:spPr>
      </p:sp>
      <p:sp>
        <p:nvSpPr>
          <p:cNvPr id="7" name="Shape 5"/>
          <p:cNvSpPr/>
          <p:nvPr/>
        </p:nvSpPr>
        <p:spPr>
          <a:xfrm>
            <a:off x="2468880" y="2834640"/>
            <a:ext cx="548640" cy="1234440"/>
          </a:xfrm>
          <a:prstGeom prst="rect">
            <a:avLst/>
          </a:prstGeom>
          <a:solidFill>
            <a:srgbClr val="FAD354"/>
          </a:solidFill>
          <a:ln w="12700">
            <a:solidFill>
              <a:srgbClr val="FAD354"/>
            </a:solidFill>
            <a:prstDash val="solid"/>
          </a:ln>
        </p:spPr>
      </p:sp>
      <p:sp>
        <p:nvSpPr>
          <p:cNvPr id="8" name="Shape 6"/>
          <p:cNvSpPr/>
          <p:nvPr/>
        </p:nvSpPr>
        <p:spPr>
          <a:xfrm>
            <a:off x="640080" y="4069080"/>
            <a:ext cx="2926080" cy="45720"/>
          </a:xfrm>
          <a:prstGeom prst="rect">
            <a:avLst/>
          </a:prstGeom>
          <a:solidFill>
            <a:srgbClr val="1E1E1E"/>
          </a:solidFill>
          <a:ln w="12700">
            <a:solidFill>
              <a:srgbClr val="1E1E1E"/>
            </a:solidFill>
            <a:prstDash val="solid"/>
          </a:ln>
        </p:spPr>
      </p:sp>
      <p:pic>
        <p:nvPicPr>
          <p:cNvPr id="9" name="Image 0" descr="/tmp/claude-0/-home-user-Dom-Manipulation/a70c4110-05d8-512e-ae11-d08dee025a7a/scratchpad/img7/aa_pair.png">    </p:cNvPr>
          <p:cNvPicPr>
            <a:picLocks noChangeAspect="1"/>
          </p:cNvPicPr>
          <p:nvPr/>
        </p:nvPicPr>
        <p:blipFill>
          <a:blip r:embed="rId1"/>
          <a:stretch>
            <a:fillRect/>
          </a:stretch>
        </p:blipFill>
        <p:spPr>
          <a:xfrm>
            <a:off x="274320" y="5393497"/>
            <a:ext cx="5852160" cy="1281623"/>
          </a:xfrm>
          <a:prstGeom prst="rect">
            <a:avLst/>
          </a:prstGeom>
        </p:spPr>
      </p:pic>
      <p:sp>
        <p:nvSpPr>
          <p:cNvPr id="10" name="Text 7"/>
          <p:cNvSpPr txBox="1"/>
          <p:nvPr/>
        </p:nvSpPr>
        <p:spPr>
          <a:xfrm>
            <a:off x="630936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TRANSFERABILITY TEST</a:t>
            </a:r>
            <a:endParaRPr lang="en-US" sz="2400" dirty="0"/>
          </a:p>
        </p:txBody>
      </p:sp>
      <p:sp>
        <p:nvSpPr>
          <p:cNvPr id="11" name="Text 8"/>
          <p:cNvSpPr txBox="1"/>
          <p:nvPr/>
        </p:nvSpPr>
        <p:spPr>
          <a:xfrm>
            <a:off x="630936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IKUT TERBAWA</a:t>
            </a:r>
            <a:endParaRPr lang="en-US" sz="1200" dirty="0"/>
          </a:p>
        </p:txBody>
      </p:sp>
      <p:sp>
        <p:nvSpPr>
          <p:cNvPr id="12" name="Text 9"/>
          <p:cNvSpPr txBox="1"/>
          <p:nvPr/>
        </p:nvSpPr>
        <p:spPr>
          <a:xfrm>
            <a:off x="6309360" y="1783080"/>
            <a:ext cx="265176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Merek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reputasi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IT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SDM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budaya biaya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Bandara sekunder (Stansted)</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Outsourcing perawatan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Pesawat hemat BBM (sebagian)</a:t>
            </a:r>
            <a:endParaRPr lang="en-US" sz="1400" dirty="0"/>
          </a:p>
        </p:txBody>
      </p:sp>
      <p:sp>
        <p:nvSpPr>
          <p:cNvPr id="13" name="Text 10"/>
          <p:cNvSpPr txBox="1"/>
          <p:nvPr/>
        </p:nvSpPr>
        <p:spPr>
          <a:xfrm>
            <a:off x="909828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TIDAK TERBAWA</a:t>
            </a:r>
            <a:endParaRPr lang="en-US" sz="1200" dirty="0"/>
          </a:p>
        </p:txBody>
      </p:sp>
      <p:sp>
        <p:nvSpPr>
          <p:cNvPr id="14" name="Text 11"/>
          <p:cNvSpPr txBox="1"/>
          <p:nvPr/>
        </p:nvSpPr>
        <p:spPr>
          <a:xfrm>
            <a:off x="9098280" y="1783080"/>
            <a:ext cx="2560320" cy="23774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Satu tipe pesawat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Turnaround 25 menit</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Satu kelas tanpa layanan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Jaringan titik ke titik</a:t>
            </a:r>
            <a:endParaRPr lang="en-US" sz="1400" dirty="0"/>
          </a:p>
        </p:txBody>
      </p:sp>
      <p:sp>
        <p:nvSpPr>
          <p:cNvPr id="15" name="Text 12"/>
          <p:cNvSpPr txBox="1"/>
          <p:nvPr/>
        </p:nvSpPr>
        <p:spPr>
          <a:xfrm>
            <a:off x="6309360" y="5029200"/>
            <a:ext cx="52120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Yang hilang justru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 model LCC klasik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terbawa bersifat organisasional: merek, sistem, dan orang.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london_7.90x7.50_0.5-0.5.jpg">    </p:cNvPr>
          <p:cNvPicPr>
            <a:picLocks noChangeAspect="1"/>
          </p:cNvPicPr>
          <p:nvPr/>
        </p:nvPicPr>
        <p:blipFill>
          <a:blip r:embed="rId1"/>
          <a:stretch>
            <a:fillRect/>
          </a:stretch>
        </p:blipFill>
        <p:spPr>
          <a:xfrm>
            <a:off x="0" y="0"/>
            <a:ext cx="7223760" cy="6858000"/>
          </a:xfrm>
          <a:prstGeom prst="rect">
            <a:avLst/>
          </a:prstGeom>
        </p:spPr>
      </p:pic>
      <p:sp>
        <p:nvSpPr>
          <p:cNvPr id="3" name="Shape 0"/>
          <p:cNvSpPr/>
          <p:nvPr/>
        </p:nvSpPr>
        <p:spPr>
          <a:xfrm>
            <a:off x="3749040" y="548640"/>
            <a:ext cx="2834640" cy="2834640"/>
          </a:xfrm>
          <a:prstGeom prst="ellipse">
            <a:avLst/>
          </a:prstGeom>
          <a:solidFill>
            <a:srgbClr val="FAD354"/>
          </a:solidFill>
          <a:ln w="12700">
            <a:solidFill>
              <a:srgbClr val="FAD354"/>
            </a:solidFill>
            <a:prstDash val="solid"/>
          </a:ln>
        </p:spPr>
      </p:sp>
      <p:sp>
        <p:nvSpPr>
          <p:cNvPr id="4" name="Shape 1"/>
          <p:cNvSpPr/>
          <p:nvPr/>
        </p:nvSpPr>
        <p:spPr>
          <a:xfrm>
            <a:off x="822960" y="1280160"/>
            <a:ext cx="2651760" cy="2651760"/>
          </a:xfrm>
          <a:prstGeom prst="pie">
            <a:avLst>
              <a:gd name="adj1" fmla="val 10800000"/>
              <a:gd name="adj2" fmla="val 21600000"/>
            </a:avLst>
          </a:prstGeom>
          <a:solidFill>
            <a:srgbClr val="E4002B"/>
          </a:solidFill>
          <a:ln w="12700">
            <a:solidFill>
              <a:srgbClr val="E4002B"/>
            </a:solidFill>
            <a:prstDash val="solid"/>
          </a:ln>
        </p:spPr>
      </p:sp>
      <p:sp>
        <p:nvSpPr>
          <p:cNvPr id="5" name="Text 2"/>
          <p:cNvSpPr txBox="1"/>
          <p:nvPr/>
        </p:nvSpPr>
        <p:spPr>
          <a:xfrm>
            <a:off x="1051560" y="1234440"/>
            <a:ext cx="274320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36,5%</a:t>
            </a:r>
            <a:endParaRPr lang="en-US" sz="4000" dirty="0"/>
          </a:p>
        </p:txBody>
      </p:sp>
      <p:sp>
        <p:nvSpPr>
          <p:cNvPr id="6" name="Text 3"/>
          <p:cNvSpPr txBox="1"/>
          <p:nvPr/>
        </p:nvSpPr>
        <p:spPr>
          <a:xfrm>
            <a:off x="4160520" y="960120"/>
            <a:ext cx="256032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&gt; 90%</a:t>
            </a:r>
            <a:endParaRPr lang="en-US" sz="4000" dirty="0"/>
          </a:p>
        </p:txBody>
      </p:sp>
      <p:sp>
        <p:nvSpPr>
          <p:cNvPr id="7" name="Text 4"/>
          <p:cNvSpPr txBox="1"/>
          <p:nvPr/>
        </p:nvSpPr>
        <p:spPr>
          <a:xfrm>
            <a:off x="1051560" y="2011680"/>
            <a:ext cx="237744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lebih murah</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dari pesaing</a:t>
            </a:r>
            <a:endParaRPr lang="en-US" sz="1400" dirty="0"/>
          </a:p>
        </p:txBody>
      </p:sp>
      <p:sp>
        <p:nvSpPr>
          <p:cNvPr id="8" name="Text 5"/>
          <p:cNvSpPr txBox="1"/>
          <p:nvPr/>
        </p:nvSpPr>
        <p:spPr>
          <a:xfrm>
            <a:off x="4160520" y="1737360"/>
            <a:ext cx="219456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AirAsia X</a:t>
            </a:r>
            <a:endParaRPr lang="en-US" sz="1400" dirty="0"/>
          </a:p>
        </p:txBody>
      </p:sp>
      <p:sp>
        <p:nvSpPr>
          <p:cNvPr id="9" name="Text 6"/>
          <p:cNvSpPr txBox="1"/>
          <p:nvPr/>
        </p:nvSpPr>
        <p:spPr>
          <a:xfrm>
            <a:off x="7635240" y="548640"/>
            <a:ext cx="22860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EVIDENCE</a:t>
            </a:r>
            <a:endParaRPr lang="en-US" sz="2400" dirty="0"/>
          </a:p>
        </p:txBody>
      </p:sp>
      <p:sp>
        <p:nvSpPr>
          <p:cNvPr id="10" name="Text 7"/>
          <p:cNvSpPr txBox="1"/>
          <p:nvPr/>
        </p:nvSpPr>
        <p:spPr>
          <a:xfrm>
            <a:off x="7635240" y="1152144"/>
            <a:ext cx="32004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KL TO LONDON</a:t>
            </a:r>
            <a:endParaRPr lang="en-US" sz="2400" dirty="0"/>
          </a:p>
        </p:txBody>
      </p:sp>
      <p:sp>
        <p:nvSpPr>
          <p:cNvPr id="11" name="Text 8"/>
          <p:cNvSpPr txBox="1"/>
          <p:nvPr/>
        </p:nvSpPr>
        <p:spPr>
          <a:xfrm>
            <a:off x="7635240" y="1965960"/>
            <a:ext cx="5486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KUL</a:t>
            </a:r>
            <a:endParaRPr lang="en-US" sz="1200" dirty="0"/>
          </a:p>
        </p:txBody>
      </p:sp>
      <p:sp>
        <p:nvSpPr>
          <p:cNvPr id="12" name="Shape 9"/>
          <p:cNvSpPr/>
          <p:nvPr/>
        </p:nvSpPr>
        <p:spPr>
          <a:xfrm>
            <a:off x="8229600" y="2112264"/>
            <a:ext cx="3017520" cy="0"/>
          </a:xfrm>
          <a:prstGeom prst="line">
            <a:avLst/>
          </a:prstGeom>
          <a:noFill/>
          <a:ln w="25400">
            <a:solidFill>
              <a:srgbClr val="1E1E1E"/>
            </a:solidFill>
            <a:prstDash val="sysDot"/>
          </a:ln>
        </p:spPr>
      </p:sp>
      <p:pic>
        <p:nvPicPr>
          <p:cNvPr id="13" name="Image 1" descr="/tmp/claude-0/-home-user-Dom-Manipulation/a70c4110-05d8-512e-ae11-d08dee025a7a/scratchpad/img7/sil_red.png">    </p:cNvPr>
          <p:cNvPicPr>
            <a:picLocks noChangeAspect="1"/>
          </p:cNvPicPr>
          <p:nvPr/>
        </p:nvPicPr>
        <p:blipFill>
          <a:blip r:embed="rId2"/>
          <a:stretch>
            <a:fillRect/>
          </a:stretch>
        </p:blipFill>
        <p:spPr>
          <a:xfrm flipH="1">
            <a:off x="9235440" y="1801368"/>
            <a:ext cx="1005840" cy="295993"/>
          </a:xfrm>
          <a:prstGeom prst="rect">
            <a:avLst/>
          </a:prstGeom>
        </p:spPr>
      </p:pic>
      <p:sp>
        <p:nvSpPr>
          <p:cNvPr id="14" name="Text 10"/>
          <p:cNvSpPr txBox="1"/>
          <p:nvPr/>
        </p:nvSpPr>
        <p:spPr>
          <a:xfrm>
            <a:off x="11338560" y="1965960"/>
            <a:ext cx="548640" cy="292608"/>
          </a:xfrm>
          <a:prstGeom prst="rect">
            <a:avLst/>
          </a:prstGeom>
          <a:noFill/>
          <a:ln/>
        </p:spPr>
        <p:txBody>
          <a:bodyPr wrap="square" lIns="0" tIns="0" rIns="0" bIns="0" rtlCol="0" anchor="ctr"/>
          <a:lstStyle/>
          <a:p>
            <a:pPr algn="r"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STN</a:t>
            </a:r>
            <a:endParaRPr lang="en-US" sz="1200" dirty="0"/>
          </a:p>
        </p:txBody>
      </p:sp>
      <p:sp>
        <p:nvSpPr>
          <p:cNvPr id="15" name="Text 11"/>
          <p:cNvSpPr txBox="1"/>
          <p:nvPr/>
        </p:nvSpPr>
        <p:spPr>
          <a:xfrm>
            <a:off x="7635240" y="2395728"/>
            <a:ext cx="429768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BIAYA PER PENUMPANG SATU ARAH, US$</a:t>
            </a:r>
            <a:endParaRPr lang="en-US" sz="1200" dirty="0"/>
          </a:p>
        </p:txBody>
      </p:sp>
      <p:sp>
        <p:nvSpPr>
          <p:cNvPr id="16" name="Text 12"/>
          <p:cNvSpPr txBox="1"/>
          <p:nvPr/>
        </p:nvSpPr>
        <p:spPr>
          <a:xfrm>
            <a:off x="7635240" y="2743200"/>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AirAsia X</a:t>
            </a:r>
            <a:endParaRPr lang="en-US" sz="1200" dirty="0"/>
          </a:p>
        </p:txBody>
      </p:sp>
      <p:sp>
        <p:nvSpPr>
          <p:cNvPr id="17" name="Shape 13"/>
          <p:cNvSpPr/>
          <p:nvPr/>
        </p:nvSpPr>
        <p:spPr>
          <a:xfrm>
            <a:off x="7635240" y="3054096"/>
            <a:ext cx="2068793" cy="201168"/>
          </a:xfrm>
          <a:prstGeom prst="rect">
            <a:avLst/>
          </a:prstGeom>
          <a:solidFill>
            <a:srgbClr val="E4002B"/>
          </a:solidFill>
          <a:ln w="12700">
            <a:solidFill>
              <a:srgbClr val="E4002B"/>
            </a:solidFill>
            <a:prstDash val="solid"/>
          </a:ln>
        </p:spPr>
      </p:sp>
      <p:sp>
        <p:nvSpPr>
          <p:cNvPr id="18" name="Text 14"/>
          <p:cNvSpPr txBox="1"/>
          <p:nvPr/>
        </p:nvSpPr>
        <p:spPr>
          <a:xfrm>
            <a:off x="9795473" y="2980944"/>
            <a:ext cx="731520" cy="347472"/>
          </a:xfrm>
          <a:prstGeom prst="rect">
            <a:avLst/>
          </a:prstGeom>
          <a:noFill/>
          <a:ln/>
        </p:spPr>
        <p:txBody>
          <a:bodyPr wrap="square" lIns="0" tIns="0" rIns="0" bIns="0" rtlCol="0" anchor="ctr"/>
          <a:lstStyle/>
          <a:p>
            <a:pPr algn="l" indent="0" marL="0">
              <a:buNone/>
            </a:pPr>
            <a:r>
              <a:rPr lang="en-US" sz="1400" dirty="0">
                <a:solidFill>
                  <a:srgbClr val="E4002B"/>
                </a:solidFill>
                <a:latin typeface="Poppins SemiBold" pitchFamily="34" charset="0"/>
                <a:ea typeface="Poppins SemiBold" pitchFamily="34" charset="-122"/>
                <a:cs typeface="Poppins SemiBold" pitchFamily="34" charset="-120"/>
              </a:rPr>
              <a:t>373</a:t>
            </a:r>
            <a:endParaRPr lang="en-US" sz="1400" dirty="0"/>
          </a:p>
        </p:txBody>
      </p:sp>
      <p:sp>
        <p:nvSpPr>
          <p:cNvPr id="19" name="Text 15"/>
          <p:cNvSpPr txBox="1"/>
          <p:nvPr/>
        </p:nvSpPr>
        <p:spPr>
          <a:xfrm>
            <a:off x="7635240" y="3310128"/>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British Airways</a:t>
            </a:r>
            <a:endParaRPr lang="en-US" sz="1200" dirty="0"/>
          </a:p>
        </p:txBody>
      </p:sp>
      <p:sp>
        <p:nvSpPr>
          <p:cNvPr id="20" name="Shape 16"/>
          <p:cNvSpPr/>
          <p:nvPr/>
        </p:nvSpPr>
        <p:spPr>
          <a:xfrm>
            <a:off x="7635240" y="3621024"/>
            <a:ext cx="3067137" cy="201168"/>
          </a:xfrm>
          <a:prstGeom prst="rect">
            <a:avLst/>
          </a:prstGeom>
          <a:solidFill>
            <a:srgbClr val="1E1E1E"/>
          </a:solidFill>
          <a:ln w="12700">
            <a:solidFill>
              <a:srgbClr val="1E1E1E"/>
            </a:solidFill>
            <a:prstDash val="solid"/>
          </a:ln>
        </p:spPr>
      </p:sp>
      <p:sp>
        <p:nvSpPr>
          <p:cNvPr id="21" name="Text 17"/>
          <p:cNvSpPr txBox="1"/>
          <p:nvPr/>
        </p:nvSpPr>
        <p:spPr>
          <a:xfrm>
            <a:off x="10793817" y="3547872"/>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553</a:t>
            </a:r>
            <a:endParaRPr lang="en-US" sz="1400" dirty="0"/>
          </a:p>
        </p:txBody>
      </p:sp>
      <p:sp>
        <p:nvSpPr>
          <p:cNvPr id="22" name="Text 18"/>
          <p:cNvSpPr txBox="1"/>
          <p:nvPr/>
        </p:nvSpPr>
        <p:spPr>
          <a:xfrm>
            <a:off x="7635240" y="3877056"/>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MAS</a:t>
            </a:r>
            <a:endParaRPr lang="en-US" sz="1200" dirty="0"/>
          </a:p>
        </p:txBody>
      </p:sp>
      <p:sp>
        <p:nvSpPr>
          <p:cNvPr id="23" name="Shape 19"/>
          <p:cNvSpPr/>
          <p:nvPr/>
        </p:nvSpPr>
        <p:spPr>
          <a:xfrm>
            <a:off x="7635240" y="4187952"/>
            <a:ext cx="3272353" cy="201168"/>
          </a:xfrm>
          <a:prstGeom prst="rect">
            <a:avLst/>
          </a:prstGeom>
          <a:solidFill>
            <a:srgbClr val="1E1E1E"/>
          </a:solidFill>
          <a:ln w="12700">
            <a:solidFill>
              <a:srgbClr val="1E1E1E"/>
            </a:solidFill>
            <a:prstDash val="solid"/>
          </a:ln>
        </p:spPr>
      </p:sp>
      <p:sp>
        <p:nvSpPr>
          <p:cNvPr id="24" name="Text 20"/>
          <p:cNvSpPr txBox="1"/>
          <p:nvPr/>
        </p:nvSpPr>
        <p:spPr>
          <a:xfrm>
            <a:off x="10999033" y="4114800"/>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590</a:t>
            </a:r>
            <a:endParaRPr lang="en-US" sz="1400" dirty="0"/>
          </a:p>
        </p:txBody>
      </p:sp>
      <p:sp>
        <p:nvSpPr>
          <p:cNvPr id="25" name="Text 21"/>
          <p:cNvSpPr txBox="1"/>
          <p:nvPr/>
        </p:nvSpPr>
        <p:spPr>
          <a:xfrm>
            <a:off x="7635240" y="4443984"/>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Emirates</a:t>
            </a:r>
            <a:endParaRPr lang="en-US" sz="1200" dirty="0"/>
          </a:p>
        </p:txBody>
      </p:sp>
      <p:sp>
        <p:nvSpPr>
          <p:cNvPr id="26" name="Shape 22"/>
          <p:cNvSpPr/>
          <p:nvPr/>
        </p:nvSpPr>
        <p:spPr>
          <a:xfrm>
            <a:off x="7635240" y="4754880"/>
            <a:ext cx="3383280" cy="201168"/>
          </a:xfrm>
          <a:prstGeom prst="rect">
            <a:avLst/>
          </a:prstGeom>
          <a:solidFill>
            <a:srgbClr val="1E1E1E"/>
          </a:solidFill>
          <a:ln w="12700">
            <a:solidFill>
              <a:srgbClr val="1E1E1E"/>
            </a:solidFill>
            <a:prstDash val="solid"/>
          </a:ln>
        </p:spPr>
      </p:sp>
      <p:sp>
        <p:nvSpPr>
          <p:cNvPr id="27" name="Text 23"/>
          <p:cNvSpPr txBox="1"/>
          <p:nvPr/>
        </p:nvSpPr>
        <p:spPr>
          <a:xfrm>
            <a:off x="11109960" y="4681728"/>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610</a:t>
            </a:r>
            <a:endParaRPr lang="en-US" sz="1400" dirty="0"/>
          </a:p>
        </p:txBody>
      </p:sp>
      <p:sp>
        <p:nvSpPr>
          <p:cNvPr id="28" name="Text 24"/>
          <p:cNvSpPr txBox="1"/>
          <p:nvPr/>
        </p:nvSpPr>
        <p:spPr>
          <a:xfrm>
            <a:off x="7635240" y="5074920"/>
            <a:ext cx="411480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Kurs 2009: US$373 sekitar Rp 3,9 juta, US$610 sekitar Rp 6,3 juta. Selisih nyata, tetapi lebih tipis dari yang terlihat: Tabel 9.4 belum memuat kru, perawatan, dan katering.</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board_13.33x3.10_0.5-0.45.jpg">    </p:cNvPr>
          <p:cNvPicPr>
            <a:picLocks noChangeAspect="1"/>
          </p:cNvPicPr>
          <p:nvPr/>
        </p:nvPicPr>
        <p:blipFill>
          <a:blip r:embed="rId1"/>
          <a:stretch>
            <a:fillRect/>
          </a:stretch>
        </p:blipFill>
        <p:spPr>
          <a:xfrm>
            <a:off x="0" y="0"/>
            <a:ext cx="12188952" cy="2834640"/>
          </a:xfrm>
          <a:prstGeom prst="rect">
            <a:avLst/>
          </a:prstGeom>
        </p:spPr>
      </p:pic>
      <p:sp>
        <p:nvSpPr>
          <p:cNvPr id="3" name="Text 0"/>
          <p:cNvSpPr txBox="1"/>
          <p:nvPr/>
        </p:nvSpPr>
        <p:spPr>
          <a:xfrm>
            <a:off x="640080" y="30632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KEY ISSUES</a:t>
            </a:r>
            <a:endParaRPr lang="en-US" sz="2400" dirty="0"/>
          </a:p>
        </p:txBody>
      </p:sp>
      <p:sp>
        <p:nvSpPr>
          <p:cNvPr id="4" name="Shape 1"/>
          <p:cNvSpPr/>
          <p:nvPr/>
        </p:nvSpPr>
        <p:spPr>
          <a:xfrm>
            <a:off x="640080" y="3886200"/>
            <a:ext cx="457200" cy="457200"/>
          </a:xfrm>
          <a:prstGeom prst="ellipse">
            <a:avLst/>
          </a:prstGeom>
          <a:solidFill>
            <a:srgbClr val="E4002B"/>
          </a:solidFill>
          <a:ln w="12700">
            <a:solidFill>
              <a:srgbClr val="E4002B"/>
            </a:solidFill>
            <a:prstDash val="solid"/>
          </a:ln>
        </p:spPr>
      </p:sp>
      <p:sp>
        <p:nvSpPr>
          <p:cNvPr id="5" name="Text 2"/>
          <p:cNvSpPr txBox="1"/>
          <p:nvPr/>
        </p:nvSpPr>
        <p:spPr>
          <a:xfrm>
            <a:off x="640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6" name="Text 3"/>
          <p:cNvSpPr txBox="1"/>
          <p:nvPr/>
        </p:nvSpPr>
        <p:spPr>
          <a:xfrm>
            <a:off x="640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pasar LCC jarak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cukup besar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kurang terlayani?</a:t>
            </a:r>
            <a:endParaRPr lang="en-US" sz="1400" dirty="0"/>
          </a:p>
        </p:txBody>
      </p:sp>
      <p:sp>
        <p:nvSpPr>
          <p:cNvPr id="7" name="Shape 4"/>
          <p:cNvSpPr/>
          <p:nvPr/>
        </p:nvSpPr>
        <p:spPr>
          <a:xfrm>
            <a:off x="2926080" y="3886200"/>
            <a:ext cx="457200" cy="457200"/>
          </a:xfrm>
          <a:prstGeom prst="ellipse">
            <a:avLst/>
          </a:prstGeom>
          <a:solidFill>
            <a:srgbClr val="3B8DBD"/>
          </a:solidFill>
          <a:ln w="12700">
            <a:solidFill>
              <a:srgbClr val="3B8DBD"/>
            </a:solidFill>
            <a:prstDash val="solid"/>
          </a:ln>
        </p:spPr>
      </p:sp>
      <p:sp>
        <p:nvSpPr>
          <p:cNvPr id="8" name="Text 5"/>
          <p:cNvSpPr txBox="1"/>
          <p:nvPr/>
        </p:nvSpPr>
        <p:spPr>
          <a:xfrm>
            <a:off x="2926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9" name="Text 6"/>
          <p:cNvSpPr txBox="1"/>
          <p:nvPr/>
        </p:nvSpPr>
        <p:spPr>
          <a:xfrm>
            <a:off x="2926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Bagaimana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akan membalas?</a:t>
            </a:r>
            <a:endParaRPr lang="en-US" sz="1400" dirty="0"/>
          </a:p>
        </p:txBody>
      </p:sp>
      <p:sp>
        <p:nvSpPr>
          <p:cNvPr id="10" name="Shape 7"/>
          <p:cNvSpPr/>
          <p:nvPr/>
        </p:nvSpPr>
        <p:spPr>
          <a:xfrm>
            <a:off x="5212080" y="3886200"/>
            <a:ext cx="457200" cy="457200"/>
          </a:xfrm>
          <a:prstGeom prst="ellipse">
            <a:avLst/>
          </a:prstGeom>
          <a:solidFill>
            <a:srgbClr val="FAD354"/>
          </a:solidFill>
          <a:ln w="12700">
            <a:solidFill>
              <a:srgbClr val="FAD354"/>
            </a:solidFill>
            <a:prstDash val="solid"/>
          </a:ln>
        </p:spPr>
      </p:sp>
      <p:sp>
        <p:nvSpPr>
          <p:cNvPr id="11" name="Text 8"/>
          <p:cNvSpPr txBox="1"/>
          <p:nvPr/>
        </p:nvSpPr>
        <p:spPr>
          <a:xfrm>
            <a:off x="5212080" y="3886200"/>
            <a:ext cx="457200" cy="457200"/>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2" name="Text 9"/>
          <p:cNvSpPr txBox="1"/>
          <p:nvPr/>
        </p:nvSpPr>
        <p:spPr>
          <a:xfrm>
            <a:off x="5212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Seberapa besar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toleransi finansial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terhadap kegagalan?</a:t>
            </a:r>
            <a:endParaRPr lang="en-US" sz="1400" dirty="0"/>
          </a:p>
        </p:txBody>
      </p:sp>
      <p:sp>
        <p:nvSpPr>
          <p:cNvPr id="13" name="Shape 10"/>
          <p:cNvSpPr/>
          <p:nvPr/>
        </p:nvSpPr>
        <p:spPr>
          <a:xfrm>
            <a:off x="7498080" y="3886200"/>
            <a:ext cx="457200" cy="457200"/>
          </a:xfrm>
          <a:prstGeom prst="ellipse">
            <a:avLst/>
          </a:prstGeom>
          <a:solidFill>
            <a:srgbClr val="1E1E1E"/>
          </a:solidFill>
          <a:ln w="12700">
            <a:solidFill>
              <a:srgbClr val="1E1E1E"/>
            </a:solidFill>
            <a:prstDash val="solid"/>
          </a:ln>
        </p:spPr>
      </p:sp>
      <p:sp>
        <p:nvSpPr>
          <p:cNvPr id="14" name="Text 11"/>
          <p:cNvSpPr txBox="1"/>
          <p:nvPr/>
        </p:nvSpPr>
        <p:spPr>
          <a:xfrm>
            <a:off x="7498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5" name="Text 12"/>
          <p:cNvSpPr txBox="1"/>
          <p:nvPr/>
        </p:nvSpPr>
        <p:spPr>
          <a:xfrm>
            <a:off x="7498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Bisakah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eksploitasi dan eksplorasi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berjalan dalam satu organisasi?</a:t>
            </a:r>
            <a:endParaRPr lang="en-US" sz="1400" dirty="0"/>
          </a:p>
        </p:txBody>
      </p:sp>
      <p:sp>
        <p:nvSpPr>
          <p:cNvPr id="16" name="Shape 13"/>
          <p:cNvSpPr/>
          <p:nvPr/>
        </p:nvSpPr>
        <p:spPr>
          <a:xfrm>
            <a:off x="9784080" y="3886200"/>
            <a:ext cx="457200" cy="457200"/>
          </a:xfrm>
          <a:prstGeom prst="ellipse">
            <a:avLst/>
          </a:prstGeom>
          <a:solidFill>
            <a:srgbClr val="E4002B"/>
          </a:solidFill>
          <a:ln w="12700">
            <a:solidFill>
              <a:srgbClr val="E4002B"/>
            </a:solidFill>
            <a:prstDash val="solid"/>
          </a:ln>
        </p:spPr>
      </p:sp>
      <p:sp>
        <p:nvSpPr>
          <p:cNvPr id="17" name="Text 14"/>
          <p:cNvSpPr txBox="1"/>
          <p:nvPr/>
        </p:nvSpPr>
        <p:spPr>
          <a:xfrm>
            <a:off x="9784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18" name="Text 15"/>
          <p:cNvSpPr txBox="1"/>
          <p:nvPr/>
        </p:nvSpPr>
        <p:spPr>
          <a:xfrm>
            <a:off x="9784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selaras dengan kepentingan AirAsia?</a:t>
            </a:r>
            <a:endParaRPr lang="en-US" sz="1400" dirty="0"/>
          </a:p>
        </p:txBody>
      </p:sp>
      <p:sp>
        <p:nvSpPr>
          <p:cNvPr id="19" name="Text 16"/>
          <p:cNvSpPr txBox="1"/>
          <p:nvPr/>
        </p:nvSpPr>
        <p:spPr>
          <a:xfrm>
            <a:off x="640080" y="5943600"/>
            <a:ext cx="10515600" cy="5486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Intisari.  </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1 dan 2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lingkungan eksternal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3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4 dan 5 soal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organisasi dan 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ALTERNATIVES</a:t>
            </a:r>
            <a:endParaRPr lang="en-US" sz="2400" dirty="0"/>
          </a:p>
        </p:txBody>
      </p:sp>
      <p:sp>
        <p:nvSpPr>
          <p:cNvPr id="3" name="Shape 1"/>
          <p:cNvSpPr/>
          <p:nvPr/>
        </p:nvSpPr>
        <p:spPr>
          <a:xfrm>
            <a:off x="3566160" y="960120"/>
            <a:ext cx="4937760" cy="4937760"/>
          </a:xfrm>
          <a:prstGeom prst="arc">
            <a:avLst>
              <a:gd name="adj1" fmla="val 12000000"/>
              <a:gd name="adj2" fmla="val 20400000"/>
            </a:avLst>
          </a:prstGeom>
          <a:ln w="28575">
            <a:solidFill>
              <a:srgbClr val="1E1E1E"/>
            </a:solidFill>
            <a:prstDash val="sysDot"/>
          </a:ln>
        </p:spPr>
      </p:sp>
      <p:sp>
        <p:nvSpPr>
          <p:cNvPr id="4" name="Shape 2"/>
          <p:cNvSpPr/>
          <p:nvPr/>
        </p:nvSpPr>
        <p:spPr>
          <a:xfrm>
            <a:off x="1051560" y="1463040"/>
            <a:ext cx="2651760" cy="2651760"/>
          </a:xfrm>
          <a:prstGeom prst="ellipse">
            <a:avLst/>
          </a:prstGeom>
          <a:solidFill>
            <a:srgbClr val="E4002B"/>
          </a:solidFill>
          <a:ln w="12700">
            <a:solidFill>
              <a:srgbClr val="E4002B"/>
            </a:solidFill>
            <a:prstDash val="solid"/>
          </a:ln>
        </p:spPr>
      </p:sp>
      <p:sp>
        <p:nvSpPr>
          <p:cNvPr id="5" name="Text 3"/>
          <p:cNvSpPr txBox="1"/>
          <p:nvPr/>
        </p:nvSpPr>
        <p:spPr>
          <a:xfrm>
            <a:off x="137160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A</a:t>
            </a:r>
            <a:endParaRPr lang="en-US" sz="2400" dirty="0"/>
          </a:p>
        </p:txBody>
      </p:sp>
      <p:pic>
        <p:nvPicPr>
          <p:cNvPr id="6" name="Image 0" descr="/tmp/claude-0/-home-user-Dom-Manipulation/a70c4110-05d8-512e-ae11-d08dee025a7a/scratchpad/img7/aa_a320.png">    </p:cNvPr>
          <p:cNvPicPr>
            <a:picLocks noChangeAspect="1"/>
          </p:cNvPicPr>
          <p:nvPr/>
        </p:nvPicPr>
        <p:blipFill>
          <a:blip r:embed="rId1"/>
          <a:stretch>
            <a:fillRect/>
          </a:stretch>
        </p:blipFill>
        <p:spPr>
          <a:xfrm>
            <a:off x="1005840" y="2907025"/>
            <a:ext cx="2926080" cy="861070"/>
          </a:xfrm>
          <a:prstGeom prst="rect">
            <a:avLst/>
          </a:prstGeom>
        </p:spPr>
      </p:pic>
      <p:sp>
        <p:nvSpPr>
          <p:cNvPr id="7" name="Text 4"/>
          <p:cNvSpPr txBox="1"/>
          <p:nvPr/>
        </p:nvSpPr>
        <p:spPr>
          <a:xfrm>
            <a:off x="64008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FOKUS REGIONAL</a:t>
            </a:r>
            <a:endParaRPr lang="en-US" sz="1200" dirty="0"/>
          </a:p>
        </p:txBody>
      </p:sp>
      <p:sp>
        <p:nvSpPr>
          <p:cNvPr id="8" name="Text 5"/>
          <p:cNvSpPr txBox="1"/>
          <p:nvPr/>
        </p:nvSpPr>
        <p:spPr>
          <a:xfrm>
            <a:off x="64008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AirAsia X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tetap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fokus pasar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3,5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terbang.</a:t>
            </a:r>
            <a:endParaRPr lang="en-US" sz="1400" dirty="0"/>
          </a:p>
        </p:txBody>
      </p:sp>
      <p:sp>
        <p:nvSpPr>
          <p:cNvPr id="9" name="Text 6"/>
          <p:cNvSpPr txBox="1"/>
          <p:nvPr/>
        </p:nvSpPr>
        <p:spPr>
          <a:xfrm>
            <a:off x="64008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E4002B"/>
                </a:solidFill>
                <a:latin typeface="Poppins" pitchFamily="34" charset="0"/>
                <a:ea typeface="Poppins" pitchFamily="34" charset="-122"/>
                <a:cs typeface="Poppins" pitchFamily="34" charset="-120"/>
              </a:rPr>
              <a:t>Sudut pandang: eksploitasi murni.</a:t>
            </a:r>
            <a:endParaRPr lang="en-US" sz="1400" dirty="0"/>
          </a:p>
        </p:txBody>
      </p:sp>
      <p:sp>
        <p:nvSpPr>
          <p:cNvPr id="10" name="Shape 7"/>
          <p:cNvSpPr/>
          <p:nvPr/>
        </p:nvSpPr>
        <p:spPr>
          <a:xfrm>
            <a:off x="4846320" y="1463040"/>
            <a:ext cx="2651760" cy="2651760"/>
          </a:xfrm>
          <a:prstGeom prst="ellipse">
            <a:avLst/>
          </a:prstGeom>
          <a:solidFill>
            <a:srgbClr val="3B8DBD"/>
          </a:solidFill>
          <a:ln w="12700">
            <a:solidFill>
              <a:srgbClr val="3B8DBD"/>
            </a:solidFill>
            <a:prstDash val="solid"/>
          </a:ln>
        </p:spPr>
      </p:sp>
      <p:sp>
        <p:nvSpPr>
          <p:cNvPr id="11" name="Text 8"/>
          <p:cNvSpPr txBox="1"/>
          <p:nvPr/>
        </p:nvSpPr>
        <p:spPr>
          <a:xfrm>
            <a:off x="516636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B</a:t>
            </a:r>
            <a:endParaRPr lang="en-US" sz="2400" dirty="0"/>
          </a:p>
        </p:txBody>
      </p:sp>
      <p:pic>
        <p:nvPicPr>
          <p:cNvPr id="12" name="Image 1" descr="/tmp/claude-0/-home-user-Dom-Manipulation/a70c4110-05d8-512e-ae11-d08dee025a7a/scratchpad/img7/aa_pair.png">    </p:cNvPr>
          <p:cNvPicPr>
            <a:picLocks noChangeAspect="1"/>
          </p:cNvPicPr>
          <p:nvPr/>
        </p:nvPicPr>
        <p:blipFill>
          <a:blip r:embed="rId2"/>
          <a:stretch>
            <a:fillRect/>
          </a:stretch>
        </p:blipFill>
        <p:spPr>
          <a:xfrm>
            <a:off x="4800600" y="3017154"/>
            <a:ext cx="2926080" cy="640812"/>
          </a:xfrm>
          <a:prstGeom prst="rect">
            <a:avLst/>
          </a:prstGeom>
        </p:spPr>
      </p:pic>
      <p:sp>
        <p:nvSpPr>
          <p:cNvPr id="13" name="Text 9"/>
          <p:cNvSpPr txBox="1"/>
          <p:nvPr/>
        </p:nvSpPr>
        <p:spPr>
          <a:xfrm>
            <a:off x="443484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PENUH</a:t>
            </a:r>
            <a:endParaRPr lang="en-US" sz="1200" dirty="0"/>
          </a:p>
        </p:txBody>
      </p:sp>
      <p:sp>
        <p:nvSpPr>
          <p:cNvPr id="14" name="Text 10"/>
          <p:cNvSpPr txBox="1"/>
          <p:nvPr/>
        </p:nvSpPr>
        <p:spPr>
          <a:xfrm>
            <a:off x="443484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Merger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ke AirAsia; feeder KL, ekspansi sesuai rencana.</a:t>
            </a:r>
            <a:endParaRPr lang="en-US" sz="1400" dirty="0"/>
          </a:p>
        </p:txBody>
      </p:sp>
      <p:sp>
        <p:nvSpPr>
          <p:cNvPr id="15" name="Text 11"/>
          <p:cNvSpPr txBox="1"/>
          <p:nvPr/>
        </p:nvSpPr>
        <p:spPr>
          <a:xfrm>
            <a:off x="443484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3B8DBD"/>
                </a:solidFill>
                <a:latin typeface="Poppins" pitchFamily="34" charset="0"/>
                <a:ea typeface="Poppins" pitchFamily="34" charset="-122"/>
                <a:cs typeface="Poppins" pitchFamily="34" charset="-120"/>
              </a:rPr>
              <a:t>Sudut pandang: ambidexterity kontekstual.</a:t>
            </a:r>
            <a:endParaRPr lang="en-US" sz="1400" dirty="0"/>
          </a:p>
        </p:txBody>
      </p:sp>
      <p:sp>
        <p:nvSpPr>
          <p:cNvPr id="16" name="Shape 12"/>
          <p:cNvSpPr/>
          <p:nvPr/>
        </p:nvSpPr>
        <p:spPr>
          <a:xfrm>
            <a:off x="8641080" y="1463040"/>
            <a:ext cx="2651760" cy="2651760"/>
          </a:xfrm>
          <a:prstGeom prst="ellipse">
            <a:avLst/>
          </a:prstGeom>
          <a:solidFill>
            <a:srgbClr val="FAD354"/>
          </a:solidFill>
          <a:ln w="12700">
            <a:solidFill>
              <a:srgbClr val="FAD354"/>
            </a:solidFill>
            <a:prstDash val="solid"/>
          </a:ln>
        </p:spPr>
      </p:sp>
      <p:sp>
        <p:nvSpPr>
          <p:cNvPr id="17" name="Text 13"/>
          <p:cNvSpPr txBox="1"/>
          <p:nvPr/>
        </p:nvSpPr>
        <p:spPr>
          <a:xfrm>
            <a:off x="8961120" y="1691640"/>
            <a:ext cx="731520" cy="731520"/>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C</a:t>
            </a:r>
            <a:endParaRPr lang="en-US" sz="2400" dirty="0"/>
          </a:p>
        </p:txBody>
      </p:sp>
      <p:pic>
        <p:nvPicPr>
          <p:cNvPr id="18" name="Image 2" descr="/tmp/claude-0/-home-user-Dom-Manipulation/a70c4110-05d8-512e-ae11-d08dee025a7a/scratchpad/img7/aa_a330.png">    </p:cNvPr>
          <p:cNvPicPr>
            <a:picLocks noChangeAspect="1"/>
          </p:cNvPicPr>
          <p:nvPr/>
        </p:nvPicPr>
        <p:blipFill>
          <a:blip r:embed="rId3"/>
          <a:stretch>
            <a:fillRect/>
          </a:stretch>
        </p:blipFill>
        <p:spPr>
          <a:xfrm>
            <a:off x="8595360" y="3021191"/>
            <a:ext cx="2926080" cy="632738"/>
          </a:xfrm>
          <a:prstGeom prst="rect">
            <a:avLst/>
          </a:prstGeom>
        </p:spPr>
      </p:pic>
      <p:sp>
        <p:nvSpPr>
          <p:cNvPr id="19" name="Text 14"/>
          <p:cNvSpPr txBox="1"/>
          <p:nvPr/>
        </p:nvSpPr>
        <p:spPr>
          <a:xfrm>
            <a:off x="822960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BERTAHAP</a:t>
            </a:r>
            <a:endParaRPr lang="en-US" sz="1200" dirty="0"/>
          </a:p>
        </p:txBody>
      </p:sp>
      <p:sp>
        <p:nvSpPr>
          <p:cNvPr id="20" name="Text 15"/>
          <p:cNvSpPr txBox="1"/>
          <p:nvPr/>
        </p:nvSpPr>
        <p:spPr>
          <a:xfrm>
            <a:off x="822960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Kendali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neraca terpisah; 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menunggu bukti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21" name="Text 16"/>
          <p:cNvSpPr txBox="1"/>
          <p:nvPr/>
        </p:nvSpPr>
        <p:spPr>
          <a:xfrm>
            <a:off x="822960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B8860B"/>
                </a:solidFill>
                <a:latin typeface="Poppins" pitchFamily="34" charset="0"/>
                <a:ea typeface="Poppins" pitchFamily="34" charset="-122"/>
                <a:cs typeface="Poppins" pitchFamily="34" charset="-120"/>
              </a:rPr>
              <a:t>Sudut pandang: ambidexterity struktural, tata kelola hibrida.</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SCORECARD</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424160" cy="914400"/>
        </p:xfrm>
        <a:graphic>
          <a:graphicData uri="http://schemas.openxmlformats.org/drawingml/2006/table">
            <a:tbl>
              <a:tblPr/>
              <a:tblGrid>
                <a:gridCol w="4389120"/>
                <a:gridCol w="2011680"/>
                <a:gridCol w="2011680"/>
                <a:gridCol w="2011680"/>
              </a:tblGrid>
              <a:tr h="548640">
                <a:tc>
                  <a:txBody>
                    <a:bodyP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KRITERIA</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A. REGIONAL</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B. PENUH</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C. BERTAHAP</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AD354"/>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Peluang pasar jarak jauh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Daya tahan vs network carriers</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Keamanan finansial</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Eksploitasi dan eksplorasi</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Tata kelola dan pemegang saham</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bl>
          </a:graphicData>
        </a:graphic>
      </p:graphicFrame>
      <p:sp>
        <p:nvSpPr>
          <p:cNvPr id="6" name="Shape 3"/>
          <p:cNvSpPr/>
          <p:nvPr/>
        </p:nvSpPr>
        <p:spPr>
          <a:xfrm>
            <a:off x="640080" y="5120640"/>
            <a:ext cx="914400" cy="914400"/>
          </a:xfrm>
          <a:prstGeom prst="ellipse">
            <a:avLst/>
          </a:prstGeom>
          <a:solidFill>
            <a:srgbClr val="FAD354"/>
          </a:solidFill>
          <a:ln w="12700">
            <a:solidFill>
              <a:srgbClr val="FAD354"/>
            </a:solidFill>
            <a:prstDash val="solid"/>
          </a:ln>
        </p:spPr>
      </p:sp>
      <p:sp>
        <p:nvSpPr>
          <p:cNvPr id="7" name="Text 4"/>
          <p:cNvSpPr txBox="1"/>
          <p:nvPr/>
        </p:nvSpPr>
        <p:spPr>
          <a:xfrm>
            <a:off x="1828800" y="5120640"/>
            <a:ext cx="8686800" cy="914400"/>
          </a:xfrm>
          <a:prstGeom prst="rect">
            <a:avLst/>
          </a:prstGeom>
          <a:noFill/>
          <a:ln/>
        </p:spPr>
        <p:txBody>
          <a:bodyPr wrap="square" lIns="0" tIns="0" rIns="0" bIns="0" rtlCol="0" anchor="ctr"/>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Alternatif C</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satu-satunya tanpa kriteria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lemah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menangkap peluang tanpa mempertaruhkan neraca. Penilaian kualitatif dari data kasus.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74320" y="1828800"/>
            <a:ext cx="3474720" cy="3474720"/>
          </a:xfrm>
          <a:prstGeom prst="ellipse">
            <a:avLst/>
          </a:prstGeom>
          <a:solidFill>
            <a:srgbClr val="3B8DBD"/>
          </a:solidFill>
          <a:ln w="12700">
            <a:solidFill>
              <a:srgbClr val="3B8DBD"/>
            </a:solidFill>
            <a:prstDash val="solid"/>
          </a:ln>
        </p:spPr>
      </p:sp>
      <p:sp>
        <p:nvSpPr>
          <p:cNvPr id="3" name="Shape 1"/>
          <p:cNvSpPr/>
          <p:nvPr/>
        </p:nvSpPr>
        <p:spPr>
          <a:xfrm>
            <a:off x="4800600" y="1097280"/>
            <a:ext cx="146304" cy="4937760"/>
          </a:xfrm>
          <a:prstGeom prst="rect">
            <a:avLst/>
          </a:prstGeom>
          <a:solidFill>
            <a:srgbClr val="1E1E1E"/>
          </a:solidFill>
          <a:ln w="12700">
            <a:solidFill>
              <a:srgbClr val="1E1E1E"/>
            </a:solidFill>
            <a:prstDash val="solid"/>
          </a:ln>
        </p:spPr>
      </p:sp>
      <p:pic>
        <p:nvPicPr>
          <p:cNvPr id="4" name="Image 0" descr="/tmp/claude-0/-home-user-Dom-Manipulation/a70c4110-05d8-512e-ae11-d08dee025a7a/scratchpad/img7/aa_captain.png">    </p:cNvPr>
          <p:cNvPicPr>
            <a:picLocks noChangeAspect="1"/>
          </p:cNvPicPr>
          <p:nvPr/>
        </p:nvPicPr>
        <p:blipFill>
          <a:blip r:embed="rId1"/>
          <a:stretch>
            <a:fillRect/>
          </a:stretch>
        </p:blipFill>
        <p:spPr>
          <a:xfrm>
            <a:off x="737405" y="1737360"/>
            <a:ext cx="3737270" cy="5120640"/>
          </a:xfrm>
          <a:prstGeom prst="rect">
            <a:avLst/>
          </a:prstGeom>
        </p:spPr>
      </p:pic>
      <p:sp>
        <p:nvSpPr>
          <p:cNvPr id="5" name="Text 2"/>
          <p:cNvSpPr txBox="1"/>
          <p:nvPr/>
        </p:nvSpPr>
        <p:spPr>
          <a:xfrm>
            <a:off x="5577840" y="548640"/>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RECOMMENDATION</a:t>
            </a:r>
            <a:endParaRPr lang="en-US" sz="2400" dirty="0"/>
          </a:p>
        </p:txBody>
      </p:sp>
      <p:sp>
        <p:nvSpPr>
          <p:cNvPr id="6" name="Text 3"/>
          <p:cNvSpPr txBox="1"/>
          <p:nvPr/>
        </p:nvSpPr>
        <p:spPr>
          <a:xfrm>
            <a:off x="5577840" y="1371600"/>
            <a:ext cx="6035040" cy="1463040"/>
          </a:xfrm>
          <a:prstGeom prst="rect">
            <a:avLst/>
          </a:prstGeom>
          <a:noFill/>
          <a:ln/>
        </p:spPr>
        <p:txBody>
          <a:bodyPr wrap="square" lIns="0" tIns="0" rIns="0" bIns="0" rtlCol="0" anchor="t"/>
          <a:lstStyle/>
          <a:p>
            <a:pPr indent="0" marL="0">
              <a:lnSpc>
                <a:spcPct val="110000"/>
              </a:lnSpc>
              <a:buNone/>
            </a:pPr>
            <a:r>
              <a:rPr lang="en-US" sz="2400" dirty="0">
                <a:solidFill>
                  <a:srgbClr val="1E1E1E"/>
                </a:solidFill>
                <a:latin typeface="Poppins SemiBold" pitchFamily="34" charset="0"/>
                <a:ea typeface="Poppins SemiBold" pitchFamily="34" charset="-122"/>
                <a:cs typeface="Poppins SemiBold" pitchFamily="34" charset="-120"/>
              </a:rPr>
              <a:t>Integrasi bertahap: kendalikan AirAsia X, batasi rute, buktikan dulu, baru merger.</a:t>
            </a:r>
            <a:endParaRPr lang="en-US" sz="2400" dirty="0"/>
          </a:p>
        </p:txBody>
      </p:sp>
      <p:sp>
        <p:nvSpPr>
          <p:cNvPr id="7" name="Text 4"/>
          <p:cNvSpPr txBox="1"/>
          <p:nvPr/>
        </p:nvSpPr>
        <p:spPr>
          <a:xfrm>
            <a:off x="5577840" y="3108960"/>
            <a:ext cx="5852160" cy="2194560"/>
          </a:xfrm>
          <a:prstGeom prst="rect">
            <a:avLst/>
          </a:prstGeom>
          <a:noFill/>
          <a:ln/>
        </p:spPr>
        <p:txBody>
          <a:bodyPr wrap="square" lIns="0" tIns="0" rIns="0" bIns="0" rtlCol="0" anchor="t"/>
          <a:lstStyle/>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Eksekusi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opsi 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tempatkan manajemen AirAsia di AirAsia X.</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A330 sampai A350 tiba.</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Merger hanya setelah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empat kuartal laba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arus kas positif.</a:t>
            </a:r>
            <a:endParaRPr lang="en-US" sz="1400" dirty="0"/>
          </a:p>
        </p:txBody>
      </p:sp>
      <p:sp>
        <p:nvSpPr>
          <p:cNvPr id="8" name="Text 5"/>
          <p:cNvSpPr txBox="1"/>
          <p:nvPr/>
        </p:nvSpPr>
        <p:spPr>
          <a:xfrm>
            <a:off x="5577840" y="5394960"/>
            <a:ext cx="585216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Merger penuh menjadi keputusan berbasis bukti kinerja (evidence based), bukan sekadar keyakinan manajemen.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0" y="0"/>
            <a:ext cx="4206240" cy="2377440"/>
          </a:xfrm>
          <a:prstGeom prst="rect">
            <a:avLst/>
          </a:prstGeom>
          <a:solidFill>
            <a:srgbClr val="E4002B"/>
          </a:solidFill>
          <a:ln w="12700">
            <a:solidFill>
              <a:srgbClr val="E4002B"/>
            </a:solidFill>
            <a:prstDash val="solid"/>
          </a:ln>
        </p:spPr>
      </p:sp>
      <p:sp>
        <p:nvSpPr>
          <p:cNvPr id="3" name="Shape 1"/>
          <p:cNvSpPr/>
          <p:nvPr/>
        </p:nvSpPr>
        <p:spPr>
          <a:xfrm>
            <a:off x="323557" y="0"/>
            <a:ext cx="177956" cy="2377440"/>
          </a:xfrm>
          <a:prstGeom prst="rect">
            <a:avLst/>
          </a:prstGeom>
          <a:solidFill>
            <a:srgbClr val="F6E4D0"/>
          </a:solidFill>
          <a:ln w="12700">
            <a:solidFill>
              <a:srgbClr val="F6E4D0"/>
            </a:solidFill>
            <a:prstDash val="solid"/>
          </a:ln>
        </p:spPr>
      </p:sp>
      <p:sp>
        <p:nvSpPr>
          <p:cNvPr id="4" name="Shape 2"/>
          <p:cNvSpPr/>
          <p:nvPr/>
        </p:nvSpPr>
        <p:spPr>
          <a:xfrm>
            <a:off x="970671" y="0"/>
            <a:ext cx="177956" cy="2377440"/>
          </a:xfrm>
          <a:prstGeom prst="rect">
            <a:avLst/>
          </a:prstGeom>
          <a:solidFill>
            <a:srgbClr val="F6E4D0"/>
          </a:solidFill>
          <a:ln w="12700">
            <a:solidFill>
              <a:srgbClr val="F6E4D0"/>
            </a:solidFill>
            <a:prstDash val="solid"/>
          </a:ln>
        </p:spPr>
      </p:sp>
      <p:sp>
        <p:nvSpPr>
          <p:cNvPr id="5" name="Shape 3"/>
          <p:cNvSpPr/>
          <p:nvPr/>
        </p:nvSpPr>
        <p:spPr>
          <a:xfrm>
            <a:off x="1617785" y="0"/>
            <a:ext cx="177956" cy="2377440"/>
          </a:xfrm>
          <a:prstGeom prst="rect">
            <a:avLst/>
          </a:prstGeom>
          <a:solidFill>
            <a:srgbClr val="F6E4D0"/>
          </a:solidFill>
          <a:ln w="12700">
            <a:solidFill>
              <a:srgbClr val="F6E4D0"/>
            </a:solidFill>
            <a:prstDash val="solid"/>
          </a:ln>
        </p:spPr>
      </p:sp>
      <p:sp>
        <p:nvSpPr>
          <p:cNvPr id="6" name="Shape 4"/>
          <p:cNvSpPr/>
          <p:nvPr/>
        </p:nvSpPr>
        <p:spPr>
          <a:xfrm>
            <a:off x="2264898" y="0"/>
            <a:ext cx="177956" cy="2377440"/>
          </a:xfrm>
          <a:prstGeom prst="rect">
            <a:avLst/>
          </a:prstGeom>
          <a:solidFill>
            <a:srgbClr val="F6E4D0"/>
          </a:solidFill>
          <a:ln w="12700">
            <a:solidFill>
              <a:srgbClr val="F6E4D0"/>
            </a:solidFill>
            <a:prstDash val="solid"/>
          </a:ln>
        </p:spPr>
      </p:sp>
      <p:sp>
        <p:nvSpPr>
          <p:cNvPr id="7" name="Shape 5"/>
          <p:cNvSpPr/>
          <p:nvPr/>
        </p:nvSpPr>
        <p:spPr>
          <a:xfrm>
            <a:off x="2912012" y="0"/>
            <a:ext cx="177956" cy="2377440"/>
          </a:xfrm>
          <a:prstGeom prst="rect">
            <a:avLst/>
          </a:prstGeom>
          <a:solidFill>
            <a:srgbClr val="F6E4D0"/>
          </a:solidFill>
          <a:ln w="12700">
            <a:solidFill>
              <a:srgbClr val="F6E4D0"/>
            </a:solidFill>
            <a:prstDash val="solid"/>
          </a:ln>
        </p:spPr>
      </p:sp>
      <p:sp>
        <p:nvSpPr>
          <p:cNvPr id="8" name="Shape 6"/>
          <p:cNvSpPr/>
          <p:nvPr/>
        </p:nvSpPr>
        <p:spPr>
          <a:xfrm>
            <a:off x="3559126" y="0"/>
            <a:ext cx="177956" cy="2377440"/>
          </a:xfrm>
          <a:prstGeom prst="rect">
            <a:avLst/>
          </a:prstGeom>
          <a:solidFill>
            <a:srgbClr val="F6E4D0"/>
          </a:solidFill>
          <a:ln w="12700">
            <a:solidFill>
              <a:srgbClr val="F6E4D0"/>
            </a:solidFill>
            <a:prstDash val="solid"/>
          </a:ln>
        </p:spPr>
      </p:sp>
      <p:pic>
        <p:nvPicPr>
          <p:cNvPr id="9" name="Image 0" descr="/tmp/claude-0/-home-user-Dom-Manipulation/a70c4110-05d8-512e-ae11-d08dee025a7a/scratchpad/img7/crops/aa_tower_4.60x4.90_0.45-0.5.jpg">    </p:cNvPr>
          <p:cNvPicPr>
            <a:picLocks noChangeAspect="1"/>
          </p:cNvPicPr>
          <p:nvPr/>
        </p:nvPicPr>
        <p:blipFill>
          <a:blip r:embed="rId1"/>
          <a:stretch>
            <a:fillRect/>
          </a:stretch>
        </p:blipFill>
        <p:spPr>
          <a:xfrm>
            <a:off x="0" y="2377440"/>
            <a:ext cx="4206240" cy="4480560"/>
          </a:xfrm>
          <a:prstGeom prst="rect">
            <a:avLst/>
          </a:prstGeom>
        </p:spPr>
      </p:pic>
      <p:sp>
        <p:nvSpPr>
          <p:cNvPr id="10" name="Text 7"/>
          <p:cNvSpPr txBox="1"/>
          <p:nvPr/>
        </p:nvSpPr>
        <p:spPr>
          <a:xfrm>
            <a:off x="47548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IMPLEMENTATION PLAN</a:t>
            </a:r>
            <a:endParaRPr lang="en-US" sz="2400" dirty="0"/>
          </a:p>
        </p:txBody>
      </p:sp>
      <p:sp>
        <p:nvSpPr>
          <p:cNvPr id="11" name="Text 8"/>
          <p:cNvSpPr txBox="1"/>
          <p:nvPr/>
        </p:nvSpPr>
        <p:spPr>
          <a:xfrm>
            <a:off x="5349240" y="1371600"/>
            <a:ext cx="3291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INISIATIF DAN KPI</a:t>
            </a:r>
            <a:endParaRPr lang="en-US" sz="1200" dirty="0"/>
          </a:p>
        </p:txBody>
      </p:sp>
      <p:sp>
        <p:nvSpPr>
          <p:cNvPr id="12" name="Text 9"/>
          <p:cNvSpPr txBox="1"/>
          <p:nvPr/>
        </p:nvSpPr>
        <p:spPr>
          <a:xfrm>
            <a:off x="8686800" y="1371600"/>
            <a:ext cx="12344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WAKTU</a:t>
            </a:r>
            <a:endParaRPr lang="en-US" sz="1200" dirty="0"/>
          </a:p>
        </p:txBody>
      </p:sp>
      <p:sp>
        <p:nvSpPr>
          <p:cNvPr id="13" name="Text 10"/>
          <p:cNvSpPr txBox="1"/>
          <p:nvPr/>
        </p:nvSpPr>
        <p:spPr>
          <a:xfrm>
            <a:off x="10012680" y="1371600"/>
            <a:ext cx="2148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PENANGGUNG JAWAB</a:t>
            </a:r>
            <a:endParaRPr lang="en-US" sz="1200" dirty="0"/>
          </a:p>
        </p:txBody>
      </p:sp>
      <p:sp>
        <p:nvSpPr>
          <p:cNvPr id="14" name="Shape 11"/>
          <p:cNvSpPr/>
          <p:nvPr/>
        </p:nvSpPr>
        <p:spPr>
          <a:xfrm>
            <a:off x="4754880" y="1920240"/>
            <a:ext cx="384048" cy="384048"/>
          </a:xfrm>
          <a:prstGeom prst="ellipse">
            <a:avLst/>
          </a:prstGeom>
          <a:solidFill>
            <a:srgbClr val="E4002B"/>
          </a:solidFill>
          <a:ln w="12700">
            <a:solidFill>
              <a:srgbClr val="E4002B"/>
            </a:solidFill>
            <a:prstDash val="solid"/>
          </a:ln>
        </p:spPr>
      </p:sp>
      <p:sp>
        <p:nvSpPr>
          <p:cNvPr id="15" name="Text 12"/>
          <p:cNvSpPr txBox="1"/>
          <p:nvPr/>
        </p:nvSpPr>
        <p:spPr>
          <a:xfrm>
            <a:off x="4754880" y="19202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16" name="Text 13"/>
          <p:cNvSpPr txBox="1"/>
          <p:nvPr/>
        </p:nvSpPr>
        <p:spPr>
          <a:xfrm>
            <a:off x="5349240" y="178308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Opsi 30 persen dan tim manajemen gabungan</a:t>
            </a:r>
            <a:endParaRPr lang="en-US" sz="1400" dirty="0"/>
          </a:p>
        </p:txBody>
      </p:sp>
      <p:sp>
        <p:nvSpPr>
          <p:cNvPr id="17" name="Text 14"/>
          <p:cNvSpPr txBox="1"/>
          <p:nvPr/>
        </p:nvSpPr>
        <p:spPr>
          <a:xfrm>
            <a:off x="8686800" y="17830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Q4 2009</a:t>
            </a:r>
            <a:endParaRPr lang="en-US" sz="1400" dirty="0"/>
          </a:p>
        </p:txBody>
      </p:sp>
      <p:sp>
        <p:nvSpPr>
          <p:cNvPr id="18" name="Text 15"/>
          <p:cNvSpPr txBox="1"/>
          <p:nvPr/>
        </p:nvSpPr>
        <p:spPr>
          <a:xfrm>
            <a:off x="10012680" y="17830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dan Dewan</a:t>
            </a:r>
            <a:endParaRPr lang="en-US" sz="1400" dirty="0"/>
          </a:p>
        </p:txBody>
      </p:sp>
      <p:sp>
        <p:nvSpPr>
          <p:cNvPr id="19" name="Shape 16"/>
          <p:cNvSpPr/>
          <p:nvPr/>
        </p:nvSpPr>
        <p:spPr>
          <a:xfrm>
            <a:off x="4754880" y="2459736"/>
            <a:ext cx="7269480" cy="13716"/>
          </a:xfrm>
          <a:prstGeom prst="rect">
            <a:avLst/>
          </a:prstGeom>
          <a:solidFill>
            <a:srgbClr val="D8C9B4"/>
          </a:solidFill>
          <a:ln w="12700">
            <a:solidFill>
              <a:srgbClr val="D8C9B4"/>
            </a:solidFill>
            <a:prstDash val="solid"/>
          </a:ln>
        </p:spPr>
      </p:sp>
      <p:sp>
        <p:nvSpPr>
          <p:cNvPr id="20" name="Shape 17"/>
          <p:cNvSpPr/>
          <p:nvPr/>
        </p:nvSpPr>
        <p:spPr>
          <a:xfrm>
            <a:off x="4754880" y="2651760"/>
            <a:ext cx="384048" cy="384048"/>
          </a:xfrm>
          <a:prstGeom prst="ellipse">
            <a:avLst/>
          </a:prstGeom>
          <a:solidFill>
            <a:srgbClr val="3B8DBD"/>
          </a:solidFill>
          <a:ln w="12700">
            <a:solidFill>
              <a:srgbClr val="3B8DBD"/>
            </a:solidFill>
            <a:prstDash val="solid"/>
          </a:ln>
        </p:spPr>
      </p:sp>
      <p:sp>
        <p:nvSpPr>
          <p:cNvPr id="21" name="Text 18"/>
          <p:cNvSpPr txBox="1"/>
          <p:nvPr/>
        </p:nvSpPr>
        <p:spPr>
          <a:xfrm>
            <a:off x="4754880" y="2651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22" name="Text 19"/>
          <p:cNvSpPr txBox="1"/>
          <p:nvPr/>
        </p:nvSpPr>
        <p:spPr>
          <a:xfrm>
            <a:off x="5349240" y="251460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4 sampai 8 jam;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load factor di atas 85%</a:t>
            </a:r>
            <a:endParaRPr lang="en-US" sz="1400" dirty="0"/>
          </a:p>
        </p:txBody>
      </p:sp>
      <p:sp>
        <p:nvSpPr>
          <p:cNvPr id="23" name="Text 20"/>
          <p:cNvSpPr txBox="1"/>
          <p:nvPr/>
        </p:nvSpPr>
        <p:spPr>
          <a:xfrm>
            <a:off x="8686800" y="251460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2011</a:t>
            </a:r>
            <a:endParaRPr lang="en-US" sz="1400" dirty="0"/>
          </a:p>
        </p:txBody>
      </p:sp>
      <p:sp>
        <p:nvSpPr>
          <p:cNvPr id="24" name="Text 21"/>
          <p:cNvSpPr txBox="1"/>
          <p:nvPr/>
        </p:nvSpPr>
        <p:spPr>
          <a:xfrm>
            <a:off x="10012680" y="251460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AirAsia X</a:t>
            </a:r>
            <a:endParaRPr lang="en-US" sz="1400" dirty="0"/>
          </a:p>
        </p:txBody>
      </p:sp>
      <p:sp>
        <p:nvSpPr>
          <p:cNvPr id="25" name="Shape 22"/>
          <p:cNvSpPr/>
          <p:nvPr/>
        </p:nvSpPr>
        <p:spPr>
          <a:xfrm>
            <a:off x="4754880" y="3191256"/>
            <a:ext cx="7269480" cy="13716"/>
          </a:xfrm>
          <a:prstGeom prst="rect">
            <a:avLst/>
          </a:prstGeom>
          <a:solidFill>
            <a:srgbClr val="D8C9B4"/>
          </a:solidFill>
          <a:ln w="12700">
            <a:solidFill>
              <a:srgbClr val="D8C9B4"/>
            </a:solidFill>
            <a:prstDash val="solid"/>
          </a:ln>
        </p:spPr>
      </p:sp>
      <p:sp>
        <p:nvSpPr>
          <p:cNvPr id="26" name="Shape 23"/>
          <p:cNvSpPr/>
          <p:nvPr/>
        </p:nvSpPr>
        <p:spPr>
          <a:xfrm>
            <a:off x="4754880" y="3383280"/>
            <a:ext cx="384048" cy="384048"/>
          </a:xfrm>
          <a:prstGeom prst="ellipse">
            <a:avLst/>
          </a:prstGeom>
          <a:solidFill>
            <a:srgbClr val="FAD354"/>
          </a:solidFill>
          <a:ln w="12700">
            <a:solidFill>
              <a:srgbClr val="FAD354"/>
            </a:solidFill>
            <a:prstDash val="solid"/>
          </a:ln>
        </p:spPr>
      </p:sp>
      <p:sp>
        <p:nvSpPr>
          <p:cNvPr id="27" name="Text 24"/>
          <p:cNvSpPr txBox="1"/>
          <p:nvPr/>
        </p:nvSpPr>
        <p:spPr>
          <a:xfrm>
            <a:off x="4754880" y="338328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28" name="Text 25"/>
          <p:cNvSpPr txBox="1"/>
          <p:nvPr/>
        </p:nvSpPr>
        <p:spPr>
          <a:xfrm>
            <a:off x="5349240" y="324612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Feeder KL; penumpang transit di atas 25%</a:t>
            </a:r>
            <a:endParaRPr lang="en-US" sz="1400" dirty="0"/>
          </a:p>
        </p:txBody>
      </p:sp>
      <p:sp>
        <p:nvSpPr>
          <p:cNvPr id="29" name="Text 26"/>
          <p:cNvSpPr txBox="1"/>
          <p:nvPr/>
        </p:nvSpPr>
        <p:spPr>
          <a:xfrm>
            <a:off x="8686800" y="324612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a:t>
            </a:r>
            <a:endParaRPr lang="en-US" sz="1400" dirty="0"/>
          </a:p>
        </p:txBody>
      </p:sp>
      <p:sp>
        <p:nvSpPr>
          <p:cNvPr id="30" name="Text 27"/>
          <p:cNvSpPr txBox="1"/>
          <p:nvPr/>
        </p:nvSpPr>
        <p:spPr>
          <a:xfrm>
            <a:off x="10012680" y="324612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Direktur Komersial</a:t>
            </a:r>
            <a:endParaRPr lang="en-US" sz="1400" dirty="0"/>
          </a:p>
        </p:txBody>
      </p:sp>
      <p:sp>
        <p:nvSpPr>
          <p:cNvPr id="31" name="Shape 28"/>
          <p:cNvSpPr/>
          <p:nvPr/>
        </p:nvSpPr>
        <p:spPr>
          <a:xfrm>
            <a:off x="4754880" y="3922776"/>
            <a:ext cx="7269480" cy="13716"/>
          </a:xfrm>
          <a:prstGeom prst="rect">
            <a:avLst/>
          </a:prstGeom>
          <a:solidFill>
            <a:srgbClr val="D8C9B4"/>
          </a:solidFill>
          <a:ln w="12700">
            <a:solidFill>
              <a:srgbClr val="D8C9B4"/>
            </a:solidFill>
            <a:prstDash val="solid"/>
          </a:ln>
        </p:spPr>
      </p:sp>
      <p:sp>
        <p:nvSpPr>
          <p:cNvPr id="32" name="Shape 29"/>
          <p:cNvSpPr/>
          <p:nvPr/>
        </p:nvSpPr>
        <p:spPr>
          <a:xfrm>
            <a:off x="4754880" y="4114800"/>
            <a:ext cx="384048" cy="384048"/>
          </a:xfrm>
          <a:prstGeom prst="ellipse">
            <a:avLst/>
          </a:prstGeom>
          <a:solidFill>
            <a:srgbClr val="1E1E1E"/>
          </a:solidFill>
          <a:ln w="12700">
            <a:solidFill>
              <a:srgbClr val="1E1E1E"/>
            </a:solidFill>
            <a:prstDash val="solid"/>
          </a:ln>
        </p:spPr>
      </p:sp>
      <p:sp>
        <p:nvSpPr>
          <p:cNvPr id="33" name="Text 30"/>
          <p:cNvSpPr txBox="1"/>
          <p:nvPr/>
        </p:nvSpPr>
        <p:spPr>
          <a:xfrm>
            <a:off x="47548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34" name="Text 31"/>
          <p:cNvSpPr txBox="1"/>
          <p:nvPr/>
        </p:nvSpPr>
        <p:spPr>
          <a:xfrm>
            <a:off x="5349240" y="397764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Hedging BBM</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30 sampai 50 persen</a:t>
            </a:r>
            <a:endParaRPr lang="en-US" sz="1400" dirty="0"/>
          </a:p>
        </p:txBody>
      </p:sp>
      <p:sp>
        <p:nvSpPr>
          <p:cNvPr id="35" name="Text 32"/>
          <p:cNvSpPr txBox="1"/>
          <p:nvPr/>
        </p:nvSpPr>
        <p:spPr>
          <a:xfrm>
            <a:off x="8686800" y="397764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Segera</a:t>
            </a:r>
            <a:endParaRPr lang="en-US" sz="1400" dirty="0"/>
          </a:p>
        </p:txBody>
      </p:sp>
      <p:sp>
        <p:nvSpPr>
          <p:cNvPr id="36" name="Text 33"/>
          <p:cNvSpPr txBox="1"/>
          <p:nvPr/>
        </p:nvSpPr>
        <p:spPr>
          <a:xfrm>
            <a:off x="10012680" y="397764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 Komite Risiko</a:t>
            </a:r>
            <a:endParaRPr lang="en-US" sz="1400" dirty="0"/>
          </a:p>
        </p:txBody>
      </p:sp>
      <p:sp>
        <p:nvSpPr>
          <p:cNvPr id="37" name="Shape 34"/>
          <p:cNvSpPr/>
          <p:nvPr/>
        </p:nvSpPr>
        <p:spPr>
          <a:xfrm>
            <a:off x="4754880" y="4654296"/>
            <a:ext cx="7269480" cy="13716"/>
          </a:xfrm>
          <a:prstGeom prst="rect">
            <a:avLst/>
          </a:prstGeom>
          <a:solidFill>
            <a:srgbClr val="D8C9B4"/>
          </a:solidFill>
          <a:ln w="12700">
            <a:solidFill>
              <a:srgbClr val="D8C9B4"/>
            </a:solidFill>
            <a:prstDash val="solid"/>
          </a:ln>
        </p:spPr>
      </p:sp>
      <p:sp>
        <p:nvSpPr>
          <p:cNvPr id="38" name="Shape 35"/>
          <p:cNvSpPr/>
          <p:nvPr/>
        </p:nvSpPr>
        <p:spPr>
          <a:xfrm>
            <a:off x="4754880" y="4846320"/>
            <a:ext cx="384048" cy="384048"/>
          </a:xfrm>
          <a:prstGeom prst="ellipse">
            <a:avLst/>
          </a:prstGeom>
          <a:solidFill>
            <a:srgbClr val="E4002B"/>
          </a:solidFill>
          <a:ln w="12700">
            <a:solidFill>
              <a:srgbClr val="E4002B"/>
            </a:solidFill>
            <a:prstDash val="solid"/>
          </a:ln>
        </p:spPr>
      </p:sp>
      <p:sp>
        <p:nvSpPr>
          <p:cNvPr id="39" name="Text 36"/>
          <p:cNvSpPr txBox="1"/>
          <p:nvPr/>
        </p:nvSpPr>
        <p:spPr>
          <a:xfrm>
            <a:off x="4754880" y="484632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40" name="Text 37"/>
          <p:cNvSpPr txBox="1"/>
          <p:nvPr/>
        </p:nvSpPr>
        <p:spPr>
          <a:xfrm>
            <a:off x="5349240" y="470916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Utang/ekuitas di bawah 3 kali sebelum A350</a:t>
            </a:r>
            <a:endParaRPr lang="en-US" sz="1400" dirty="0"/>
          </a:p>
        </p:txBody>
      </p:sp>
      <p:sp>
        <p:nvSpPr>
          <p:cNvPr id="41" name="Text 38"/>
          <p:cNvSpPr txBox="1"/>
          <p:nvPr/>
        </p:nvSpPr>
        <p:spPr>
          <a:xfrm>
            <a:off x="8686800" y="470916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2015</a:t>
            </a:r>
            <a:endParaRPr lang="en-US" sz="1400" dirty="0"/>
          </a:p>
        </p:txBody>
      </p:sp>
      <p:sp>
        <p:nvSpPr>
          <p:cNvPr id="42" name="Text 39"/>
          <p:cNvSpPr txBox="1"/>
          <p:nvPr/>
        </p:nvSpPr>
        <p:spPr>
          <a:xfrm>
            <a:off x="10012680" y="470916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a:t>
            </a:r>
            <a:endParaRPr lang="en-US" sz="1400" dirty="0"/>
          </a:p>
        </p:txBody>
      </p:sp>
      <p:sp>
        <p:nvSpPr>
          <p:cNvPr id="43" name="Shape 40"/>
          <p:cNvSpPr/>
          <p:nvPr/>
        </p:nvSpPr>
        <p:spPr>
          <a:xfrm>
            <a:off x="4754880" y="5385816"/>
            <a:ext cx="7269480" cy="13716"/>
          </a:xfrm>
          <a:prstGeom prst="rect">
            <a:avLst/>
          </a:prstGeom>
          <a:solidFill>
            <a:srgbClr val="D8C9B4"/>
          </a:solidFill>
          <a:ln w="12700">
            <a:solidFill>
              <a:srgbClr val="D8C9B4"/>
            </a:solidFill>
            <a:prstDash val="solid"/>
          </a:ln>
        </p:spPr>
      </p:sp>
      <p:sp>
        <p:nvSpPr>
          <p:cNvPr id="44" name="Shape 41"/>
          <p:cNvSpPr/>
          <p:nvPr/>
        </p:nvSpPr>
        <p:spPr>
          <a:xfrm>
            <a:off x="4754880" y="5577840"/>
            <a:ext cx="384048" cy="384048"/>
          </a:xfrm>
          <a:prstGeom prst="ellipse">
            <a:avLst/>
          </a:prstGeom>
          <a:solidFill>
            <a:srgbClr val="3B8DBD"/>
          </a:solidFill>
          <a:ln w="12700">
            <a:solidFill>
              <a:srgbClr val="3B8DBD"/>
            </a:solidFill>
            <a:prstDash val="solid"/>
          </a:ln>
        </p:spPr>
      </p:sp>
      <p:sp>
        <p:nvSpPr>
          <p:cNvPr id="45" name="Text 42"/>
          <p:cNvSpPr txBox="1"/>
          <p:nvPr/>
        </p:nvSpPr>
        <p:spPr>
          <a:xfrm>
            <a:off x="4754880" y="55778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6</a:t>
            </a:r>
            <a:endParaRPr lang="en-US" sz="1200" dirty="0"/>
          </a:p>
        </p:txBody>
      </p:sp>
      <p:sp>
        <p:nvSpPr>
          <p:cNvPr id="46" name="Text 43"/>
          <p:cNvSpPr txBox="1"/>
          <p:nvPr/>
        </p:nvSpPr>
        <p:spPr>
          <a:xfrm>
            <a:off x="5349240" y="544068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Gerbang merger</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4 kuartal laba positif</a:t>
            </a:r>
            <a:endParaRPr lang="en-US" sz="1400" dirty="0"/>
          </a:p>
        </p:txBody>
      </p:sp>
      <p:sp>
        <p:nvSpPr>
          <p:cNvPr id="47" name="Text 44"/>
          <p:cNvSpPr txBox="1"/>
          <p:nvPr/>
        </p:nvSpPr>
        <p:spPr>
          <a:xfrm>
            <a:off x="8686800" y="54406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Evaluasi 2011</a:t>
            </a:r>
            <a:endParaRPr lang="en-US" sz="1400" dirty="0"/>
          </a:p>
        </p:txBody>
      </p:sp>
      <p:sp>
        <p:nvSpPr>
          <p:cNvPr id="48" name="Text 45"/>
          <p:cNvSpPr txBox="1"/>
          <p:nvPr/>
        </p:nvSpPr>
        <p:spPr>
          <a:xfrm>
            <a:off x="10012680" y="54406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Dewan Komisaris</a:t>
            </a:r>
            <a:endParaRPr lang="en-US" sz="1400" dirty="0"/>
          </a:p>
        </p:txBody>
      </p:sp>
      <p:sp>
        <p:nvSpPr>
          <p:cNvPr id="49" name="Shape 46"/>
          <p:cNvSpPr/>
          <p:nvPr/>
        </p:nvSpPr>
        <p:spPr>
          <a:xfrm>
            <a:off x="4754880" y="6117336"/>
            <a:ext cx="7269480" cy="13716"/>
          </a:xfrm>
          <a:prstGeom prst="rect">
            <a:avLst/>
          </a:prstGeom>
          <a:solidFill>
            <a:srgbClr val="D8C9B4"/>
          </a:solidFill>
          <a:ln w="12700">
            <a:solidFill>
              <a:srgbClr val="D8C9B4"/>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LESSONS FOR CHAPTER 3</a:t>
            </a:r>
            <a:endParaRPr lang="en-US" sz="2400" dirty="0"/>
          </a:p>
        </p:txBody>
      </p:sp>
      <p:sp>
        <p:nvSpPr>
          <p:cNvPr id="3" name="Shape 1"/>
          <p:cNvSpPr/>
          <p:nvPr/>
        </p:nvSpPr>
        <p:spPr>
          <a:xfrm>
            <a:off x="640080" y="1508760"/>
            <a:ext cx="384048" cy="384048"/>
          </a:xfrm>
          <a:prstGeom prst="ellipse">
            <a:avLst/>
          </a:prstGeom>
          <a:solidFill>
            <a:srgbClr val="E4002B"/>
          </a:solidFill>
          <a:ln w="12700">
            <a:solidFill>
              <a:srgbClr val="E4002B"/>
            </a:solidFill>
            <a:prstDash val="solid"/>
          </a:ln>
        </p:spPr>
      </p:sp>
      <p:sp>
        <p:nvSpPr>
          <p:cNvPr id="4" name="Text 2"/>
          <p:cNvSpPr txBox="1"/>
          <p:nvPr/>
        </p:nvSpPr>
        <p:spPr>
          <a:xfrm>
            <a:off x="640080" y="1508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5" name="Text 3"/>
          <p:cNvSpPr txBox="1"/>
          <p:nvPr/>
        </p:nvSpPr>
        <p:spPr>
          <a:xfrm>
            <a:off x="1188720" y="146304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industri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menjelaskan mengapa laba langka, bukan siapa yang meraihnya.</a:t>
            </a:r>
            <a:endParaRPr lang="en-US" sz="1400" dirty="0"/>
          </a:p>
        </p:txBody>
      </p:sp>
      <p:sp>
        <p:nvSpPr>
          <p:cNvPr id="6" name="Shape 4"/>
          <p:cNvSpPr/>
          <p:nvPr/>
        </p:nvSpPr>
        <p:spPr>
          <a:xfrm>
            <a:off x="640080" y="2377440"/>
            <a:ext cx="384048" cy="384048"/>
          </a:xfrm>
          <a:prstGeom prst="ellipse">
            <a:avLst/>
          </a:prstGeom>
          <a:solidFill>
            <a:srgbClr val="3B8DBD"/>
          </a:solidFill>
          <a:ln w="12700">
            <a:solidFill>
              <a:srgbClr val="3B8DBD"/>
            </a:solidFill>
            <a:prstDash val="solid"/>
          </a:ln>
        </p:spPr>
      </p:sp>
      <p:sp>
        <p:nvSpPr>
          <p:cNvPr id="7" name="Text 5"/>
          <p:cNvSpPr txBox="1"/>
          <p:nvPr/>
        </p:nvSpPr>
        <p:spPr>
          <a:xfrm>
            <a:off x="640080" y="23774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8" name="Text 6"/>
          <p:cNvSpPr txBox="1"/>
          <p:nvPr/>
        </p:nvSpPr>
        <p:spPr>
          <a:xfrm>
            <a:off x="1188720" y="233172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Keunggulan biaya adalah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sistem yang 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9" name="Shape 7"/>
          <p:cNvSpPr/>
          <p:nvPr/>
        </p:nvSpPr>
        <p:spPr>
          <a:xfrm>
            <a:off x="640080" y="3246120"/>
            <a:ext cx="384048" cy="384048"/>
          </a:xfrm>
          <a:prstGeom prst="ellipse">
            <a:avLst/>
          </a:prstGeom>
          <a:solidFill>
            <a:srgbClr val="FAD354"/>
          </a:solidFill>
          <a:ln w="12700">
            <a:solidFill>
              <a:srgbClr val="FAD354"/>
            </a:solidFill>
            <a:prstDash val="solid"/>
          </a:ln>
        </p:spPr>
      </p:sp>
      <p:sp>
        <p:nvSpPr>
          <p:cNvPr id="10" name="Text 8"/>
          <p:cNvSpPr txBox="1"/>
          <p:nvPr/>
        </p:nvSpPr>
        <p:spPr>
          <a:xfrm>
            <a:off x="640080" y="324612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1" name="Text 9"/>
          <p:cNvSpPr txBox="1"/>
          <p:nvPr/>
        </p:nvSpPr>
        <p:spPr>
          <a:xfrm>
            <a:off x="1188720" y="320040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Pindah kelompok strategis berarti melawan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model laba yang berbeda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2" name="Shape 10"/>
          <p:cNvSpPr/>
          <p:nvPr/>
        </p:nvSpPr>
        <p:spPr>
          <a:xfrm>
            <a:off x="640080" y="4114800"/>
            <a:ext cx="384048" cy="384048"/>
          </a:xfrm>
          <a:prstGeom prst="ellipse">
            <a:avLst/>
          </a:prstGeom>
          <a:solidFill>
            <a:srgbClr val="1E1E1E"/>
          </a:solidFill>
          <a:ln w="12700">
            <a:solidFill>
              <a:srgbClr val="1E1E1E"/>
            </a:solidFill>
            <a:prstDash val="solid"/>
          </a:ln>
        </p:spPr>
      </p:sp>
      <p:sp>
        <p:nvSpPr>
          <p:cNvPr id="13" name="Text 11"/>
          <p:cNvSpPr txBox="1"/>
          <p:nvPr/>
        </p:nvSpPr>
        <p:spPr>
          <a:xfrm>
            <a:off x="6400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4" name="Text 12"/>
          <p:cNvSpPr txBox="1"/>
          <p:nvPr/>
        </p:nvSpPr>
        <p:spPr>
          <a:xfrm>
            <a:off x="1188720" y="406908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Eksplorasi butuh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unit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tetap dikendalikan induk.</a:t>
            </a:r>
            <a:endParaRPr lang="en-US" sz="1400" dirty="0"/>
          </a:p>
        </p:txBody>
      </p:sp>
      <p:sp>
        <p:nvSpPr>
          <p:cNvPr id="15" name="Text 13"/>
          <p:cNvSpPr txBox="1"/>
          <p:nvPr/>
        </p:nvSpPr>
        <p:spPr>
          <a:xfrm>
            <a:off x="640080" y="5074920"/>
            <a:ext cx="36576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DALAM SATU KATA</a:t>
            </a:r>
            <a:endParaRPr lang="en-US" sz="1200" dirty="0"/>
          </a:p>
        </p:txBody>
      </p:sp>
      <p:sp>
        <p:nvSpPr>
          <p:cNvPr id="16" name="Text 14"/>
          <p:cNvSpPr txBox="1"/>
          <p:nvPr/>
        </p:nvSpPr>
        <p:spPr>
          <a:xfrm>
            <a:off x="640080" y="5394960"/>
            <a:ext cx="41148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TRANSFERABILITAS</a:t>
            </a:r>
            <a:endParaRPr lang="en-US" sz="2400" dirty="0"/>
          </a:p>
        </p:txBody>
      </p:sp>
      <p:sp>
        <p:nvSpPr>
          <p:cNvPr id="17" name="Shape 15"/>
          <p:cNvSpPr/>
          <p:nvPr/>
        </p:nvSpPr>
        <p:spPr>
          <a:xfrm>
            <a:off x="7040880" y="1005840"/>
            <a:ext cx="5486400" cy="5486400"/>
          </a:xfrm>
          <a:prstGeom prst="blockArc">
            <a:avLst>
              <a:gd name="adj1" fmla="val 6000000"/>
              <a:gd name="adj2" fmla="val 1200000"/>
            </a:avLst>
          </a:prstGeom>
          <a:solidFill>
            <a:srgbClr val="FAD354"/>
          </a:solidFill>
          <a:ln w="12700">
            <a:solidFill>
              <a:srgbClr val="FAD354"/>
            </a:solidFill>
            <a:prstDash val="solid"/>
          </a:ln>
        </p:spPr>
      </p:sp>
      <p:pic>
        <p:nvPicPr>
          <p:cNvPr id="18" name="Image 0" descr="/tmp/claude-0/-home-user-Dom-Manipulation/a70c4110-05d8-512e-ae11-d08dee025a7a/scratchpad/img7/bw_meeting.png">    </p:cNvPr>
          <p:cNvPicPr>
            <a:picLocks noChangeAspect="1"/>
          </p:cNvPicPr>
          <p:nvPr/>
        </p:nvPicPr>
        <p:blipFill>
          <a:blip r:embed="rId1"/>
          <a:stretch>
            <a:fillRect/>
          </a:stretch>
        </p:blipFill>
        <p:spPr>
          <a:xfrm>
            <a:off x="7613834" y="2103120"/>
            <a:ext cx="4157611" cy="47548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737360" y="1188720"/>
            <a:ext cx="4206240" cy="4206240"/>
          </a:xfrm>
          <a:prstGeom prst="pie">
            <a:avLst>
              <a:gd name="adj1" fmla="val 16200000"/>
              <a:gd name="adj2" fmla="val 5400000"/>
            </a:avLst>
          </a:prstGeom>
          <a:solidFill>
            <a:srgbClr val="E4002B"/>
          </a:solidFill>
          <a:ln w="12700">
            <a:solidFill>
              <a:srgbClr val="E4002B"/>
            </a:solidFill>
            <a:prstDash val="solid"/>
          </a:ln>
        </p:spPr>
      </p:sp>
      <p:sp>
        <p:nvSpPr>
          <p:cNvPr id="3" name="Shape 1"/>
          <p:cNvSpPr/>
          <p:nvPr/>
        </p:nvSpPr>
        <p:spPr>
          <a:xfrm>
            <a:off x="7589520" y="-822960"/>
            <a:ext cx="4023360" cy="4023360"/>
          </a:xfrm>
          <a:prstGeom prst="ellipse">
            <a:avLst/>
          </a:prstGeom>
          <a:solidFill>
            <a:srgbClr val="FAD354"/>
          </a:solidFill>
          <a:ln w="12700">
            <a:solidFill>
              <a:srgbClr val="FAD354"/>
            </a:solidFill>
            <a:prstDash val="solid"/>
          </a:ln>
        </p:spPr>
      </p:sp>
      <p:sp>
        <p:nvSpPr>
          <p:cNvPr id="4" name="Shape 2"/>
          <p:cNvSpPr/>
          <p:nvPr/>
        </p:nvSpPr>
        <p:spPr>
          <a:xfrm>
            <a:off x="11338560" y="3291840"/>
            <a:ext cx="850392" cy="3566160"/>
          </a:xfrm>
          <a:prstGeom prst="rect">
            <a:avLst/>
          </a:prstGeom>
          <a:solidFill>
            <a:srgbClr val="3B8DBD"/>
          </a:solidFill>
          <a:ln w="12700">
            <a:solidFill>
              <a:srgbClr val="3B8DBD"/>
            </a:solidFill>
            <a:prstDash val="solid"/>
          </a:ln>
        </p:spPr>
      </p:sp>
      <p:sp>
        <p:nvSpPr>
          <p:cNvPr id="5" name="Shape 3"/>
          <p:cNvSpPr/>
          <p:nvPr/>
        </p:nvSpPr>
        <p:spPr>
          <a:xfrm>
            <a:off x="6309360" y="2286000"/>
            <a:ext cx="5120640" cy="4754880"/>
          </a:xfrm>
          <a:prstGeom prst="arc">
            <a:avLst>
              <a:gd name="adj1" fmla="val 10920000"/>
              <a:gd name="adj2" fmla="val 16080000"/>
            </a:avLst>
          </a:prstGeom>
          <a:ln w="28575">
            <a:solidFill>
              <a:srgbClr val="1E1E1E"/>
            </a:solidFill>
            <a:prstDash val="sysDot"/>
          </a:ln>
        </p:spPr>
      </p:sp>
      <p:pic>
        <p:nvPicPr>
          <p:cNvPr id="6" name="Image 0" descr="/tmp/claude-0/-home-user-Dom-Manipulation/a70c4110-05d8-512e-ae11-d08dee025a7a/scratchpad/img7/aa_a320.png">    </p:cNvPr>
          <p:cNvPicPr>
            <a:picLocks noChangeAspect="1"/>
          </p:cNvPicPr>
          <p:nvPr/>
        </p:nvPicPr>
        <p:blipFill>
          <a:blip r:embed="rId1"/>
          <a:stretch>
            <a:fillRect/>
          </a:stretch>
        </p:blipFill>
        <p:spPr>
          <a:xfrm>
            <a:off x="1371600" y="3840480"/>
            <a:ext cx="5303520" cy="1560690"/>
          </a:xfrm>
          <a:prstGeom prst="rect">
            <a:avLst/>
          </a:prstGeom>
        </p:spPr>
      </p:pic>
      <p:sp>
        <p:nvSpPr>
          <p:cNvPr id="7" name="Text 4"/>
          <p:cNvSpPr txBox="1"/>
          <p:nvPr/>
        </p:nvSpPr>
        <p:spPr>
          <a:xfrm>
            <a:off x="2743200" y="1371600"/>
            <a:ext cx="7772400" cy="128016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thank you</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2026-09-12T02:37:43Z</dcterms:created>
  <dcterms:modified xsi:type="dcterms:W3CDTF">2026-09-12T02:37:43Z</dcterms:modified>
</cp:coreProperties>
</file>