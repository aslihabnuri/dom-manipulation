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Satu pertanyaan strategis: apakah keunggulan biaya AirAsia yang dibangun di rute pendek dapat dipindahkan ke rute jarak jauh melalui AirAsia X. Kasus Robert M. Grant (2010), Case 9, data 2008 sampai pertengahan 2009. Angka 2001 sampai 2009 adalah rentang waktu kasus: dari akuisisi RM 1 sampai keputusan tentang AirAsia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Kerangka dari Thompson dan Strickland Bab 3 serta panduan analisis kasus RPKPS: masalah, alternatif, isu, kesimpulan. Urutan mengikuti logika Structure Conduct Performance. Seluruh angka bersumber dari tabel dalam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Dari 2 pesawat dan 200 ribu penumpang (Januari 2002) menjadi 79 pesawat dan 11,8 juta penumpang (Maret 2009). Hub di KL, Bangkok, dan Jakarta. Akuisisi 2001 seharga RM 1 (sekitar Rp 2.700 saat itu, Rp 10.000 nilai 2026) dengan warisan utang RM 40 juta (Rp 108 miliar saat itu, Rp 400 miliar nilai 2026). IPO 2004 RM 717 juta (Rp 1,7 triliun saat itu, Rp 4,9 triliun nilai 2026). Kurs: RM 1 = Rp 2.700 (2001), Rp 2.350 (2004), Rp 2.900 (2008), Rp 2.950 (2009); inflasi Indonesia 2009 ke 2026 sekitar 1,9 kali. Riset UBS 2007: biaya per ASK terendah di dunia. ROA 2008 sebesar 4 persen ketika hampir semua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Mengikuti panduan RPKPS: masalah adalah tujuan yang terhalang. Angka neraca dari Tabel 9.1: rugi bersih RM 496,6 juta (Rp 1,4 triliun saat itu, Rp 2,9 triliun nilai 2026), utang RM 6,69 miliar (Rp 19,5 triliun; Rp 39 triliun nilai 2026) berbanding ekuitas RM 1,61 miliar (Rp 4,7 triliun; Rp 9,3 triliun), kas RM 153,8 juta (Rp 447 miliar; Rp 0,9 triliun). Azran Osman-Rani (CEO AirAsia X): rute gemuk jarak jauh adalah sumber lalu lintas berikutnya.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Istilah exploration dan exploitation mengacu pada March (1991): perusahaan perlu menyeimbangkan pendalaman kompetensi yang ada dengan pencarian peluang baru. Gambar: AirAsia X A330, pesawat berbadan lebar untuk rute jauh.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Angka 47 persen dihitung dari Tabel 9.1: bahan bakar RM 1.389,8 juta dari biaya operasi RM 2.966 juta. Simpulan PESTEL: faktor politik dan legal adalah pembentuk struktur paling kuat. Joint venture Thai AirAsia dan Indonesia AirAsia mengontrakkan operasinya kembali ke AirAsia dengan imbalan fee bulanan. Distribusi langsung memangkas komisi agen dan sulit ditiru maskapai lama.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Rivalitas: banyak peniru model Southwest, MAS menekan di rute domestik. Pemasok: duopoli Airbus dan Boeing, bahan bakar mengikuti harga minyak, tarif bandara tanpa negosiasi. Pembeli: sangat peka harga, biaya berpindah nol. Pendatang baru: deregulasi dan pesawat sewaan menurunkan hambatan; penahan slot, merek, skala. Substitusi: bus, kereta, feri di rute pendek; tidak ada pengganti setara di rute antarbenua. Tahun 2008 hampir seluruh maskapai dunia merugi.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forces: deregulasi memungkinkan hub di Bangkok dan Jakarta lewat usaha patungan; internet dan ponsel menghapus komisi agen; kenaikan lalu penurunan tajam harga minyak 2008 merugikan maskapai yang salah posisi lindung nilai, termasuk AirAsia; kelas menengah Asia tumbuh sehingga pasar membesar; AirAsia X dan Jetstar menguji batas model di rute jauh. KSF diturunkan dari struktur industri: kalau pembeli peka harga dan pemasok kuat, penentu kemenangan adalah biaya, utilisasi, dan load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Ruang LCC jarak jauh nyaris kosong karena rute jauh butuh pesawat berbadan lebar, kru bermalam, dan penumpang transit dari jaringan pengumpan. AirAsia X masuk membawa merek, sistem reservasi, SDM, dan disiplin biaya dari kelompok asal. Hambatan mobilitas bukan hanya modal; yang sulit ditiru adalah budaya biaya rendah dan operasi sederhana. Prediksi langkah pesaing adalah inferensi kelompok dari Tabel 9.3 dan 9.5, bukan pernyataan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9.1. Biaya per ASK 11,66 sen = Rp 340 (Rp 670 nilai 2026); MAS 22,80 sen = Rp 660 (Rp 1.300). Karyawan per pesawat: 3.799/78 vs 19.094/109. Rugi 2008 RM 496,6 juta (Rp 1,4 triliun) karena melepas kontrak berjangka bahan bakar, rugi RM 830,2 juta (Rp 2,4 triliun; Rp 4,8 triliun nilai 2026). Kas MAS RM 3,57 miliar (Rp 10,4 triliun) berbanding AirAsia RM 153,8 juta (Rp 447 miliar). Tanpa pos itu operasi tetap laba, tetapi neraca yang sarat utang pesawat membuat ruang untuk kesalahan berikutnya sempit.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Formula Conor McCarthy: strategi operasi ala Ryanair, strategi SDM ala Southwest, strategi merek ala easyJet. Satu kelas: 148 kursi di 737 vs 132 pada dua kelas. ESOS untuk semua karyawan. Iklan ditingkatkan saat SARS dan bom Bali. Sponsorship Williams F1, Manchester United, wasit Premier League. CRS Navitaire terhubung ke yield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Sumber Tabel 9.2 dan 9.4. Merek memberi kredibilitas langsung; situs web, call center, dan CRS dipakai bersama; Stansted jauh lebih murah dari Heathrow; kontrak perawatan lelang kompetitif tetap berlaku; A330 efisien tetapi A340 untuk London boros. Tidak terbawa: A320 tak mampu terbang jauh dan armada kedua menambah kompleksitas; penerbangan 12 jam dibatasi jam kerja kru dan slot; rute jauh butuh kursi premium dan makanan; rute jauh bergantung pada penumpang transit dan feeder.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Tabel 9.4 tidak termasuk perawatan, depresiasi, katering, dan gaji kru. AirAsia X membawa 286 penumpang per penerbangan, pesaing 337 sampai 360. Bahan bakar per penerbangan US$79.299 (Rp 824 juta, kurs 2009) vs US$159.522 (Rp 1,66 miliar) untuk B747. Tarif pulang pergi KL London AirAsia X US$433,96 (Rp 4,5 juta saat itu, Rp 8,6 juta nilai 2026) vs rata-rata tarif terendah pesaing US$683,68 (Rp 7,1 juta; Rp 13,5 juta) (Tabel 9.3). Biaya per penumpang US$373 = Rp 3,9 juta (Rp 7,4 juta nilai 2026). Load factor jaringan lima periode (Tabel 9.5): AirAsia 77, 75, 78, 80, 75,5; Emirates 73,4 sampai 79,8; BA 67,6 sampai 71,2; MAS 69 sampai 67,8.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Isu 1: di rute regional AirAsia menciptakan pasar baru; di KL London ia merebut penumpang dari enam maskapai mapan. Isu 2: Emirates, BA, dan MAS memperoleh laba dari kelas premium dan mampu menurunkan tarif ekonomi. Isu 3: utang RM 6,69 miliar (Rp 19,5 triliun), ekuitas RM 1,61 miliar (Rp 4,7 triliun), kas RM 153,8 juta (Rp 447 miliar), pesanan 10 A350. Isu 4: literatur ambidexterity (O'Reilly dan Tushman) menyebut pemisahan struktural atau paduan kontekstual. Isu 5: AirAsia 16 persen (opsi 30 persen), Aero Ventures 48 persen, Virgin 16 persen, Manara dan Orix 20 persen; tata kelola hibrida khas portofolio aliansi.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Sesuai panduan RPKPS, alternatif dideskripsikan tanpa argumen pro dan kontra. A: AirAsia hanya penyedia jasa berbayar; modal ke Indonesia, Thailand, Vietnam, Filipina; opsi 30 persen tidak dieksekusi. B: satu perusahaan, satu neraca, satu jaringan; tiket terusan dan transfer bagasi; ekspansi Abu Dhabi, India, Seoul, Sydney. C: eksekusi opsi 30 persen dan tempatkan kendali operasional; rute 4 sampai 8 jam dengan A330, Eropa menunggu A350; merger hanya setelah empat kuartal laba dan load factor sesuai target. Sudut pandang: March (1991); O'Reilly dan Tushman (2004); Williamson (1991).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aman tetapi melepas sumber pertumbuhan dan tidak pernah membangun kompetensi rute jauh. B: menangkap seluruh peluang tetapi berhadapan langsung dengan pesaing yang bersubsidi silang dan menggabungkan armada lebar ke neraca yang sarat utang. C: menangkap rute 4 sampai 8 jam, neraca terpisah, unit eksplorasi terpisah dengan kendali dan pembelajaran mengalir ke induk, kendali sepadan dengan kepemilikan.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Merger penuh ditetapkan sebagai keputusan berbasis bukti kinerja, bukan sekadar keyakinan manajemen.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Risiko dan mitigasi. 1: konflik kepentingan Aero Ventures, mitigasi komite independen untuk transaksi afiliasi. 2: balasan harga Emirates dan MAS, mitigasi bandara sekunder dan rute yang belum padat pesaing premium; target biaya per ASK AirAsia X di bawah 60 persen pesaing per rute. 3: kompleksitas operasi, mitigasi uji coba di tiga rute sebelum diperluas. 4: terulangnya kerugian 2008, mitigasi mandat tertulis yang disetujui dewan dan batas rugi derivatif. 5: ketergantungan sewa pesawat, mitigasi sale and leaseback dan penerbitan saham bila valuasi mendukung; kas minimal tiga bulan biaya operasi. 6: tekanan untuk mempercepat, mitigasi kriteria yang dipublikasikan ke pemegang saham. Angka target adalah usulan kelompok, bukan angka kasus.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Kaitkan kembali ke Bab 3. Five Forces menunjukkan industri tidak atraktif; laba AirAsia lahir dari posisi biaya relatif. Operasi, SDM, dan merek bekerja bersama. Di rute jauh lawan AirAsia X mampu mensubsidi harga ekonomi. Lingkungan yang berubah cepat dan neraca yang lemah membuat integrasi bertahap lebih aman daripada merger penuh. Pertanyaan diskusi: jika Anda Tony Fernandes pada Juli 2009 dengan kas RM 153,8 juta, setujui merger sekarang atau tunggu bukti empat kuartal?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Referensi: Grant (2010) Contemporary Strategy Analysis, Case 9, Tabel 9.1 sampai 9.5. Thompson dan Strickland (2019) Bab 3. Porter (1980). March (1991) Organization Science 2(1). O'Reilly dan Tushman (2004) Harvard Business Review 82(4). Williamson (1991) Administrative Science Quarterly 36(2). Handoko, Indarti, dan Almahendra (2014) Manajemen dalam Berbagai Perspektif. RPKPS MAN 5422 FEB UGM (2026), Lampiran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E4D0"/>
        </a:solidFill>
      </p:bgPr>
    </p:bg>
    <p:spTree>
      <p:nvGrpSpPr>
        <p:cNvPr id="1" name=""/>
        <p:cNvGrpSpPr/>
        <p:nvPr/>
      </p:nvGrpSpPr>
      <p:grpSpPr>
        <a:xfrm>
          <a:off x="0" y="0"/>
          <a:ext cx="0" cy="0"/>
          <a:chOff x="0" y="0"/>
          <a:chExt cx="0" cy="0"/>
        </a:xfrm>
      </p:grpSpPr>
      <p:pic>
        <p:nvPicPr>
          <p:cNvPr id="2" name="Image 0" descr="/home/user/Dom-Manipulation/strategic-management/airasia-case/img/crops/aa_fleet_8.10x7.50_0.45-0.5.jpg">    </p:cNvPr>
          <p:cNvPicPr>
            <a:picLocks noChangeAspect="1"/>
          </p:cNvPicPr>
          <p:nvPr/>
        </p:nvPicPr>
        <p:blipFill>
          <a:blip r:embed="rId1"/>
          <a:stretch>
            <a:fillRect/>
          </a:stretch>
        </p:blipFill>
        <p:spPr>
          <a:xfrm>
            <a:off x="0" y="0"/>
            <a:ext cx="7406640" cy="6858000"/>
          </a:xfrm>
          <a:prstGeom prst="rect">
            <a:avLst/>
          </a:prstGeom>
        </p:spPr>
      </p:pic>
      <p:sp>
        <p:nvSpPr>
          <p:cNvPr id="3" name="Shape 0"/>
          <p:cNvSpPr/>
          <p:nvPr/>
        </p:nvSpPr>
        <p:spPr>
          <a:xfrm>
            <a:off x="640080" y="777240"/>
            <a:ext cx="3017520" cy="3017520"/>
          </a:xfrm>
          <a:prstGeom prst="pie">
            <a:avLst>
              <a:gd name="adj1" fmla="val 10800000"/>
              <a:gd name="adj2" fmla="val 21600000"/>
            </a:avLst>
          </a:prstGeom>
          <a:solidFill>
            <a:srgbClr val="E4002B"/>
          </a:solidFill>
          <a:ln w="12700">
            <a:solidFill>
              <a:srgbClr val="E4002B"/>
            </a:solidFill>
            <a:prstDash val="solid"/>
          </a:ln>
        </p:spPr>
      </p:sp>
      <p:sp>
        <p:nvSpPr>
          <p:cNvPr id="4" name="Shape 1"/>
          <p:cNvSpPr/>
          <p:nvPr/>
        </p:nvSpPr>
        <p:spPr>
          <a:xfrm>
            <a:off x="3063240" y="1417320"/>
            <a:ext cx="2468880" cy="2468880"/>
          </a:xfrm>
          <a:prstGeom prst="ellipse">
            <a:avLst/>
          </a:prstGeom>
          <a:solidFill>
            <a:srgbClr val="FAD354"/>
          </a:solidFill>
          <a:ln w="12700">
            <a:solidFill>
              <a:srgbClr val="FAD354"/>
            </a:solidFill>
            <a:prstDash val="solid"/>
          </a:ln>
        </p:spPr>
      </p:sp>
      <p:sp>
        <p:nvSpPr>
          <p:cNvPr id="5" name="Text 2"/>
          <p:cNvSpPr txBox="1"/>
          <p:nvPr/>
        </p:nvSpPr>
        <p:spPr>
          <a:xfrm>
            <a:off x="1051560" y="502920"/>
            <a:ext cx="2743200" cy="91440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2001</a:t>
            </a:r>
            <a:endParaRPr lang="en-US" sz="6000" dirty="0"/>
          </a:p>
        </p:txBody>
      </p:sp>
      <p:sp>
        <p:nvSpPr>
          <p:cNvPr id="6" name="Shape 3"/>
          <p:cNvSpPr/>
          <p:nvPr/>
        </p:nvSpPr>
        <p:spPr>
          <a:xfrm>
            <a:off x="3246120" y="1417320"/>
            <a:ext cx="457200" cy="64008"/>
          </a:xfrm>
          <a:prstGeom prst="rect">
            <a:avLst/>
          </a:prstGeom>
          <a:solidFill>
            <a:srgbClr val="1E1E1E"/>
          </a:solidFill>
          <a:ln w="12700">
            <a:solidFill>
              <a:srgbClr val="1E1E1E"/>
            </a:solidFill>
            <a:prstDash val="solid"/>
          </a:ln>
        </p:spPr>
      </p:sp>
      <p:sp>
        <p:nvSpPr>
          <p:cNvPr id="7" name="Text 4"/>
          <p:cNvSpPr txBox="1"/>
          <p:nvPr/>
        </p:nvSpPr>
        <p:spPr>
          <a:xfrm>
            <a:off x="3840480" y="1051560"/>
            <a:ext cx="2926080" cy="91440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2009</a:t>
            </a:r>
            <a:endParaRPr lang="en-US" sz="6000" dirty="0"/>
          </a:p>
        </p:txBody>
      </p:sp>
      <p:pic>
        <p:nvPicPr>
          <p:cNvPr id="8" name="Image 1" descr="/home/user/Dom-Manipulation/strategic-management/airasia-case/img/sil_red.png">    </p:cNvPr>
          <p:cNvPicPr>
            <a:picLocks noChangeAspect="1"/>
          </p:cNvPicPr>
          <p:nvPr/>
        </p:nvPicPr>
        <p:blipFill>
          <a:blip r:embed="rId2"/>
          <a:stretch>
            <a:fillRect/>
          </a:stretch>
        </p:blipFill>
        <p:spPr>
          <a:xfrm>
            <a:off x="10104120" y="502920"/>
            <a:ext cx="960120" cy="282539"/>
          </a:xfrm>
          <a:prstGeom prst="rect">
            <a:avLst/>
          </a:prstGeom>
        </p:spPr>
      </p:pic>
      <p:sp>
        <p:nvSpPr>
          <p:cNvPr id="9" name="Shape 5"/>
          <p:cNvSpPr/>
          <p:nvPr/>
        </p:nvSpPr>
        <p:spPr>
          <a:xfrm>
            <a:off x="11109960" y="713232"/>
            <a:ext cx="1097280" cy="0"/>
          </a:xfrm>
          <a:prstGeom prst="line">
            <a:avLst/>
          </a:prstGeom>
          <a:noFill/>
          <a:ln w="25400">
            <a:solidFill>
              <a:srgbClr val="1E1E1E"/>
            </a:solidFill>
            <a:prstDash val="sysDot"/>
          </a:ln>
        </p:spPr>
      </p:sp>
      <p:sp>
        <p:nvSpPr>
          <p:cNvPr id="10" name="Text 6"/>
          <p:cNvSpPr txBox="1"/>
          <p:nvPr/>
        </p:nvSpPr>
        <p:spPr>
          <a:xfrm>
            <a:off x="7863840" y="1234440"/>
            <a:ext cx="4114800" cy="731520"/>
          </a:xfrm>
          <a:prstGeom prst="rect">
            <a:avLst/>
          </a:prstGeom>
          <a:noFill/>
          <a:ln/>
        </p:spPr>
        <p:txBody>
          <a:bodyPr wrap="square" lIns="0" tIns="0" rIns="0" bIns="0" rtlCol="0" anchor="ctr"/>
          <a:lstStyle/>
          <a:p>
            <a:pPr algn="l" indent="0" marL="0">
              <a:buNone/>
            </a:pPr>
            <a:r>
              <a:rPr lang="en-US" sz="4400" spc="300" kern="0" dirty="0">
                <a:solidFill>
                  <a:srgbClr val="1E1E1E"/>
                </a:solidFill>
                <a:latin typeface="Poppins SemiBold" pitchFamily="34" charset="0"/>
                <a:ea typeface="Poppins SemiBold" pitchFamily="34" charset="-122"/>
                <a:cs typeface="Poppins SemiBold" pitchFamily="34" charset="-120"/>
              </a:rPr>
              <a:t>AIRASIA</a:t>
            </a:r>
            <a:endParaRPr lang="en-US" sz="4400" dirty="0"/>
          </a:p>
        </p:txBody>
      </p:sp>
      <p:sp>
        <p:nvSpPr>
          <p:cNvPr id="11" name="Text 7"/>
          <p:cNvSpPr txBox="1"/>
          <p:nvPr/>
        </p:nvSpPr>
        <p:spPr>
          <a:xfrm>
            <a:off x="7863840" y="1965960"/>
            <a:ext cx="41148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THE WORLD'S LOWEST COST AIRLINE</a:t>
            </a:r>
            <a:endParaRPr lang="en-US" sz="1200" dirty="0"/>
          </a:p>
        </p:txBody>
      </p:sp>
      <p:sp>
        <p:nvSpPr>
          <p:cNvPr id="12" name="Text 8"/>
          <p:cNvSpPr txBox="1"/>
          <p:nvPr/>
        </p:nvSpPr>
        <p:spPr>
          <a:xfrm>
            <a:off x="7863840" y="2514600"/>
            <a:ext cx="384048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Sejauh mana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keunggulan biaya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dibangun di rute pendek dapat dibawa ke pasar penerbangan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jarak jauh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13" name="Shape 9"/>
          <p:cNvSpPr/>
          <p:nvPr/>
        </p:nvSpPr>
        <p:spPr>
          <a:xfrm>
            <a:off x="7863840" y="4114800"/>
            <a:ext cx="548640" cy="54864"/>
          </a:xfrm>
          <a:prstGeom prst="rect">
            <a:avLst/>
          </a:prstGeom>
          <a:solidFill>
            <a:srgbClr val="1E1E1E"/>
          </a:solidFill>
          <a:ln w="12700">
            <a:solidFill>
              <a:srgbClr val="1E1E1E"/>
            </a:solidFill>
            <a:prstDash val="solid"/>
          </a:ln>
        </p:spPr>
      </p:sp>
      <p:sp>
        <p:nvSpPr>
          <p:cNvPr id="14" name="Text 10"/>
          <p:cNvSpPr txBox="1"/>
          <p:nvPr/>
        </p:nvSpPr>
        <p:spPr>
          <a:xfrm>
            <a:off x="7863840" y="4343400"/>
            <a:ext cx="420624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KELOMPOK 3</a:t>
            </a:r>
            <a:endParaRPr lang="en-US" sz="1200" dirty="0"/>
          </a:p>
        </p:txBody>
      </p:sp>
      <p:sp>
        <p:nvSpPr>
          <p:cNvPr id="15" name="Text 11"/>
          <p:cNvSpPr txBox="1"/>
          <p:nvPr/>
        </p:nvSpPr>
        <p:spPr>
          <a:xfrm>
            <a:off x="7863840" y="4690872"/>
            <a:ext cx="4206240" cy="1463040"/>
          </a:xfrm>
          <a:prstGeom prst="rect">
            <a:avLst/>
          </a:prstGeom>
          <a:noFill/>
          <a:ln/>
        </p:spPr>
        <p:txBody>
          <a:bodyPr wrap="square" lIns="0" tIns="0" rIns="0" bIns="0" rtlCol="0" anchor="t"/>
          <a:lstStyle/>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Aslih Abnuri (25/574338/PEK/31801)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Tifani Puspita (25/574443/PEK/31851)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Happy Dinithasari (25/574400/PEK/31831)</a:t>
            </a:r>
            <a:endParaRPr lang="en-US" sz="1400" dirty="0"/>
          </a:p>
          <a:p>
            <a:pPr algn="l" indent="0" marL="0">
              <a:lnSpc>
                <a:spcPct val="120000"/>
              </a:lnSpc>
              <a:spcAft>
                <a:spcPts val="200"/>
              </a:spcAft>
              <a:buNone/>
            </a:pPr>
            <a:r>
              <a:rPr lang="en-US" sz="1400" dirty="0">
                <a:solidFill>
                  <a:srgbClr val="2A2A2A"/>
                </a:solidFill>
                <a:latin typeface="Poppins" pitchFamily="34" charset="0"/>
                <a:ea typeface="Poppins" pitchFamily="34" charset="-122"/>
                <a:cs typeface="Poppins" pitchFamily="34" charset="-120"/>
              </a:rPr>
              <a:t>Dara Astrini Rahayu K (25/574437/PEK/31847)</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029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HOW WE READ THE CASE</a:t>
            </a:r>
            <a:endParaRPr lang="en-US" sz="2400" dirty="0"/>
          </a:p>
        </p:txBody>
      </p:sp>
      <p:sp>
        <p:nvSpPr>
          <p:cNvPr id="3" name="Text 1"/>
          <p:cNvSpPr txBox="1"/>
          <p:nvPr/>
        </p:nvSpPr>
        <p:spPr>
          <a:xfrm>
            <a:off x="640080" y="1463040"/>
            <a:ext cx="694944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Lowest cost sering dibaca sebagai kelemahan. Dibaca dengan tepat, murah adalah hasil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disiplin biaya (cost discipline)</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sistematis. Pertanyaannya: apakah sistem itu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dapat dipindahkan (transferable)</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 rute jauh?</a:t>
            </a:r>
            <a:endParaRPr lang="en-US" sz="1400" dirty="0"/>
          </a:p>
        </p:txBody>
      </p:sp>
      <p:sp>
        <p:nvSpPr>
          <p:cNvPr id="4" name="Shape 2"/>
          <p:cNvSpPr/>
          <p:nvPr/>
        </p:nvSpPr>
        <p:spPr>
          <a:xfrm>
            <a:off x="8503920" y="457200"/>
            <a:ext cx="4206240" cy="3108960"/>
          </a:xfrm>
          <a:prstGeom prst="arc">
            <a:avLst>
              <a:gd name="adj1" fmla="val 11400000"/>
              <a:gd name="adj2" fmla="val 20400000"/>
            </a:avLst>
          </a:prstGeom>
          <a:ln w="28575">
            <a:solidFill>
              <a:srgbClr val="1E1E1E"/>
            </a:solidFill>
            <a:prstDash val="sysDot"/>
          </a:ln>
        </p:spPr>
      </p:sp>
      <p:pic>
        <p:nvPicPr>
          <p:cNvPr id="5" name="Image 0" descr="/home/user/Dom-Manipulation/strategic-management/airasia-case/img/sil_red.png">    </p:cNvPr>
          <p:cNvPicPr>
            <a:picLocks noChangeAspect="1"/>
          </p:cNvPicPr>
          <p:nvPr/>
        </p:nvPicPr>
        <p:blipFill>
          <a:blip r:embed="rId1"/>
          <a:stretch>
            <a:fillRect/>
          </a:stretch>
        </p:blipFill>
        <p:spPr>
          <a:xfrm rot="10800000">
            <a:off x="10149840" y="322658"/>
            <a:ext cx="914400" cy="269084"/>
          </a:xfrm>
          <a:prstGeom prst="rect">
            <a:avLst/>
          </a:prstGeom>
        </p:spPr>
      </p:pic>
      <p:sp>
        <p:nvSpPr>
          <p:cNvPr id="6" name="Shape 3"/>
          <p:cNvSpPr/>
          <p:nvPr/>
        </p:nvSpPr>
        <p:spPr>
          <a:xfrm>
            <a:off x="1005840" y="3383280"/>
            <a:ext cx="777240" cy="777240"/>
          </a:xfrm>
          <a:prstGeom prst="rect">
            <a:avLst/>
          </a:prstGeom>
          <a:solidFill>
            <a:srgbClr val="E4002B"/>
          </a:solidFill>
          <a:ln w="12700">
            <a:solidFill>
              <a:srgbClr val="E4002B"/>
            </a:solidFill>
            <a:prstDash val="solid"/>
          </a:ln>
        </p:spPr>
      </p:sp>
      <p:sp>
        <p:nvSpPr>
          <p:cNvPr id="7" name="Shape 4"/>
          <p:cNvSpPr/>
          <p:nvPr/>
        </p:nvSpPr>
        <p:spPr>
          <a:xfrm rot="18000000">
            <a:off x="822960" y="3429000"/>
            <a:ext cx="481889" cy="481889"/>
          </a:xfrm>
          <a:prstGeom prst="triangle">
            <a:avLst/>
          </a:prstGeom>
          <a:solidFill>
            <a:srgbClr val="1E1E1E"/>
          </a:solidFill>
          <a:ln w="12700">
            <a:solidFill>
              <a:srgbClr val="1E1E1E"/>
            </a:solidFill>
            <a:prstDash val="solid"/>
          </a:ln>
        </p:spPr>
      </p:sp>
      <p:sp>
        <p:nvSpPr>
          <p:cNvPr id="8" name="Text 5"/>
          <p:cNvSpPr txBox="1"/>
          <p:nvPr/>
        </p:nvSpPr>
        <p:spPr>
          <a:xfrm>
            <a:off x="100584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1</a:t>
            </a:r>
            <a:endParaRPr lang="en-US" sz="2400" dirty="0"/>
          </a:p>
        </p:txBody>
      </p:sp>
      <p:sp>
        <p:nvSpPr>
          <p:cNvPr id="9" name="Text 6"/>
          <p:cNvSpPr txBox="1"/>
          <p:nvPr/>
        </p:nvSpPr>
        <p:spPr>
          <a:xfrm>
            <a:off x="82296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MASALAH</a:t>
            </a:r>
            <a:endParaRPr lang="en-US" sz="1200" dirty="0"/>
          </a:p>
        </p:txBody>
      </p:sp>
      <p:sp>
        <p:nvSpPr>
          <p:cNvPr id="10" name="Text 7"/>
          <p:cNvSpPr txBox="1"/>
          <p:nvPr/>
        </p:nvSpPr>
        <p:spPr>
          <a:xfrm>
            <a:off x="82296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Tujuan yang terhalang dan pertanyaan strategis.</a:t>
            </a:r>
            <a:endParaRPr lang="en-US" sz="1400" dirty="0"/>
          </a:p>
        </p:txBody>
      </p:sp>
      <p:sp>
        <p:nvSpPr>
          <p:cNvPr id="11" name="Shape 8"/>
          <p:cNvSpPr/>
          <p:nvPr/>
        </p:nvSpPr>
        <p:spPr>
          <a:xfrm>
            <a:off x="4069080" y="3337560"/>
            <a:ext cx="582930" cy="582930"/>
          </a:xfrm>
          <a:prstGeom prst="rect">
            <a:avLst/>
          </a:prstGeom>
          <a:solidFill>
            <a:srgbClr val="E4002B"/>
          </a:solidFill>
          <a:ln w="12700">
            <a:solidFill>
              <a:srgbClr val="E4002B"/>
            </a:solidFill>
            <a:prstDash val="solid"/>
          </a:ln>
        </p:spPr>
      </p:sp>
      <p:sp>
        <p:nvSpPr>
          <p:cNvPr id="12" name="Shape 9"/>
          <p:cNvSpPr/>
          <p:nvPr/>
        </p:nvSpPr>
        <p:spPr>
          <a:xfrm>
            <a:off x="3657600" y="3520440"/>
            <a:ext cx="777240" cy="777240"/>
          </a:xfrm>
          <a:prstGeom prst="ellipse">
            <a:avLst/>
          </a:prstGeom>
          <a:solidFill>
            <a:srgbClr val="3B8DBD"/>
          </a:solidFill>
          <a:ln w="12700">
            <a:solidFill>
              <a:srgbClr val="3B8DBD"/>
            </a:solidFill>
            <a:prstDash val="solid"/>
          </a:ln>
        </p:spPr>
      </p:sp>
      <p:sp>
        <p:nvSpPr>
          <p:cNvPr id="13" name="Text 10"/>
          <p:cNvSpPr txBox="1"/>
          <p:nvPr/>
        </p:nvSpPr>
        <p:spPr>
          <a:xfrm>
            <a:off x="3657600" y="352044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2</a:t>
            </a:r>
            <a:endParaRPr lang="en-US" sz="2400" dirty="0"/>
          </a:p>
        </p:txBody>
      </p:sp>
      <p:sp>
        <p:nvSpPr>
          <p:cNvPr id="14" name="Text 11"/>
          <p:cNvSpPr txBox="1"/>
          <p:nvPr/>
        </p:nvSpPr>
        <p:spPr>
          <a:xfrm>
            <a:off x="365760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LINGKUNGAN</a:t>
            </a:r>
            <a:endParaRPr lang="en-US" sz="1200" dirty="0"/>
          </a:p>
        </p:txBody>
      </p:sp>
      <p:sp>
        <p:nvSpPr>
          <p:cNvPr id="15" name="Text 12"/>
          <p:cNvSpPr txBox="1"/>
          <p:nvPr/>
        </p:nvSpPr>
        <p:spPr>
          <a:xfrm>
            <a:off x="365760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PESTEL, Five Forces, kekuatan pendorong, peta kelompok strategis.</a:t>
            </a:r>
            <a:endParaRPr lang="en-US" sz="1400" dirty="0"/>
          </a:p>
        </p:txBody>
      </p:sp>
      <p:sp>
        <p:nvSpPr>
          <p:cNvPr id="16" name="Shape 13"/>
          <p:cNvSpPr/>
          <p:nvPr/>
        </p:nvSpPr>
        <p:spPr>
          <a:xfrm>
            <a:off x="6583680" y="3383280"/>
            <a:ext cx="777240" cy="777240"/>
          </a:xfrm>
          <a:prstGeom prst="triangle">
            <a:avLst/>
          </a:prstGeom>
          <a:solidFill>
            <a:srgbClr val="1E1E1E"/>
          </a:solidFill>
          <a:ln w="12700">
            <a:solidFill>
              <a:srgbClr val="1E1E1E"/>
            </a:solidFill>
            <a:prstDash val="solid"/>
          </a:ln>
        </p:spPr>
      </p:sp>
      <p:sp>
        <p:nvSpPr>
          <p:cNvPr id="17" name="Shape 14"/>
          <p:cNvSpPr/>
          <p:nvPr/>
        </p:nvSpPr>
        <p:spPr>
          <a:xfrm>
            <a:off x="6492240" y="3810762"/>
            <a:ext cx="388620" cy="349758"/>
          </a:xfrm>
          <a:prstGeom prst="triangle">
            <a:avLst/>
          </a:prstGeom>
          <a:solidFill>
            <a:srgbClr val="FAD354"/>
          </a:solidFill>
          <a:ln w="12700">
            <a:solidFill>
              <a:srgbClr val="FAD354"/>
            </a:solidFill>
            <a:prstDash val="solid"/>
          </a:ln>
        </p:spPr>
      </p:sp>
      <p:sp>
        <p:nvSpPr>
          <p:cNvPr id="18" name="Text 15"/>
          <p:cNvSpPr txBox="1"/>
          <p:nvPr/>
        </p:nvSpPr>
        <p:spPr>
          <a:xfrm>
            <a:off x="658368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3</a:t>
            </a:r>
            <a:endParaRPr lang="en-US" sz="2400" dirty="0"/>
          </a:p>
        </p:txBody>
      </p:sp>
      <p:sp>
        <p:nvSpPr>
          <p:cNvPr id="19" name="Text 16"/>
          <p:cNvSpPr txBox="1"/>
          <p:nvPr/>
        </p:nvSpPr>
        <p:spPr>
          <a:xfrm>
            <a:off x="649224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POSISI BIAYA</a:t>
            </a:r>
            <a:endParaRPr lang="en-US" sz="1200" dirty="0"/>
          </a:p>
        </p:txBody>
      </p:sp>
      <p:sp>
        <p:nvSpPr>
          <p:cNvPr id="20" name="Text 17"/>
          <p:cNvSpPr txBox="1"/>
          <p:nvPr/>
        </p:nvSpPr>
        <p:spPr>
          <a:xfrm>
            <a:off x="649224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Benchmarking, sumber keunggulan, uji transferabilitas, bukti KL London.</a:t>
            </a:r>
            <a:endParaRPr lang="en-US" sz="1400" dirty="0"/>
          </a:p>
        </p:txBody>
      </p:sp>
      <p:sp>
        <p:nvSpPr>
          <p:cNvPr id="21" name="Shape 18"/>
          <p:cNvSpPr/>
          <p:nvPr/>
        </p:nvSpPr>
        <p:spPr>
          <a:xfrm>
            <a:off x="9326880" y="3383280"/>
            <a:ext cx="777240" cy="777240"/>
          </a:xfrm>
          <a:prstGeom prst="ellipse">
            <a:avLst/>
          </a:prstGeom>
          <a:solidFill>
            <a:srgbClr val="3B8DBD"/>
          </a:solidFill>
          <a:ln w="12700">
            <a:solidFill>
              <a:srgbClr val="3B8DBD"/>
            </a:solidFill>
            <a:prstDash val="solid"/>
          </a:ln>
        </p:spPr>
      </p:sp>
      <p:sp>
        <p:nvSpPr>
          <p:cNvPr id="22" name="Shape 19"/>
          <p:cNvSpPr/>
          <p:nvPr/>
        </p:nvSpPr>
        <p:spPr>
          <a:xfrm>
            <a:off x="9754362" y="3655314"/>
            <a:ext cx="505206" cy="505206"/>
          </a:xfrm>
          <a:prstGeom prst="ellipse">
            <a:avLst/>
          </a:prstGeom>
          <a:solidFill>
            <a:srgbClr val="E4002B"/>
          </a:solidFill>
          <a:ln w="12700">
            <a:solidFill>
              <a:srgbClr val="E4002B"/>
            </a:solidFill>
            <a:prstDash val="solid"/>
          </a:ln>
        </p:spPr>
      </p:sp>
      <p:sp>
        <p:nvSpPr>
          <p:cNvPr id="23" name="Text 20"/>
          <p:cNvSpPr txBox="1"/>
          <p:nvPr/>
        </p:nvSpPr>
        <p:spPr>
          <a:xfrm>
            <a:off x="9326880" y="33832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4</a:t>
            </a:r>
            <a:endParaRPr lang="en-US" sz="2400" dirty="0"/>
          </a:p>
        </p:txBody>
      </p:sp>
      <p:sp>
        <p:nvSpPr>
          <p:cNvPr id="24" name="Text 21"/>
          <p:cNvSpPr txBox="1"/>
          <p:nvPr/>
        </p:nvSpPr>
        <p:spPr>
          <a:xfrm>
            <a:off x="9326880" y="4572000"/>
            <a:ext cx="246888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PILIHAN</a:t>
            </a:r>
            <a:endParaRPr lang="en-US" sz="1200" dirty="0"/>
          </a:p>
        </p:txBody>
      </p:sp>
      <p:sp>
        <p:nvSpPr>
          <p:cNvPr id="25" name="Text 22"/>
          <p:cNvSpPr txBox="1"/>
          <p:nvPr/>
        </p:nvSpPr>
        <p:spPr>
          <a:xfrm>
            <a:off x="9326880" y="4892040"/>
            <a:ext cx="2377440" cy="12801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Isu kunci, alternatif, scorecard, rekomendasi, rencana implementasi.</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E4D0"/>
        </a:solidFill>
      </p:bgPr>
    </p:bg>
    <p:spTree>
      <p:nvGrpSpPr>
        <p:cNvPr id="1" name=""/>
        <p:cNvGrpSpPr/>
        <p:nvPr/>
      </p:nvGrpSpPr>
      <p:grpSpPr>
        <a:xfrm>
          <a:off x="0" y="0"/>
          <a:ext cx="0" cy="0"/>
          <a:chOff x="0" y="0"/>
          <a:chExt cx="0" cy="0"/>
        </a:xfrm>
      </p:grpSpPr>
      <p:pic>
        <p:nvPicPr>
          <p:cNvPr id="2" name="Image 0" descr="/home/user/Dom-Manipulation/strategic-management/airasia-case/img/crops/aa_tower_4.45x3.20_0.5-0.55.jpg">    </p:cNvPr>
          <p:cNvPicPr>
            <a:picLocks noChangeAspect="1"/>
          </p:cNvPicPr>
          <p:nvPr/>
        </p:nvPicPr>
        <p:blipFill>
          <a:blip r:embed="rId1"/>
          <a:stretch>
            <a:fillRect/>
          </a:stretch>
        </p:blipFill>
        <p:spPr>
          <a:xfrm>
            <a:off x="0" y="0"/>
            <a:ext cx="4069080" cy="2926080"/>
          </a:xfrm>
          <a:prstGeom prst="rect">
            <a:avLst/>
          </a:prstGeom>
        </p:spPr>
      </p:pic>
      <p:pic>
        <p:nvPicPr>
          <p:cNvPr id="3" name="Image 1" descr="/home/user/Dom-Manipulation/strategic-management/airasia-case/img/crops/aa_fuel_4.44x3.20_0.5-0.5.jpg">    </p:cNvPr>
          <p:cNvPicPr>
            <a:picLocks noChangeAspect="1"/>
          </p:cNvPicPr>
          <p:nvPr/>
        </p:nvPicPr>
        <p:blipFill>
          <a:blip r:embed="rId2"/>
          <a:stretch>
            <a:fillRect/>
          </a:stretch>
        </p:blipFill>
        <p:spPr>
          <a:xfrm>
            <a:off x="4069080" y="0"/>
            <a:ext cx="4059936" cy="2926080"/>
          </a:xfrm>
          <a:prstGeom prst="rect">
            <a:avLst/>
          </a:prstGeom>
        </p:spPr>
      </p:pic>
      <p:pic>
        <p:nvPicPr>
          <p:cNvPr id="4" name="Image 2" descr="/home/user/Dom-Manipulation/strategic-management/airasia-case/img/crops/aa_board_4.44x3.20_0.5-0.5.jpg">    </p:cNvPr>
          <p:cNvPicPr>
            <a:picLocks noChangeAspect="1"/>
          </p:cNvPicPr>
          <p:nvPr/>
        </p:nvPicPr>
        <p:blipFill>
          <a:blip r:embed="rId3"/>
          <a:stretch>
            <a:fillRect/>
          </a:stretch>
        </p:blipFill>
        <p:spPr>
          <a:xfrm>
            <a:off x="8129016" y="0"/>
            <a:ext cx="4059936" cy="2926080"/>
          </a:xfrm>
          <a:prstGeom prst="rect">
            <a:avLst/>
          </a:prstGeom>
        </p:spPr>
      </p:pic>
      <p:sp>
        <p:nvSpPr>
          <p:cNvPr id="5" name="Text 0"/>
          <p:cNvSpPr txBox="1"/>
          <p:nvPr/>
        </p:nvSpPr>
        <p:spPr>
          <a:xfrm>
            <a:off x="640080" y="315468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AIRASIA AT A GLANCE</a:t>
            </a:r>
            <a:endParaRPr lang="en-US" sz="2400" dirty="0"/>
          </a:p>
        </p:txBody>
      </p:sp>
      <p:sp>
        <p:nvSpPr>
          <p:cNvPr id="6" name="Text 1"/>
          <p:cNvSpPr txBox="1"/>
          <p:nvPr/>
        </p:nvSpPr>
        <p:spPr>
          <a:xfrm>
            <a:off x="640080" y="3886200"/>
            <a:ext cx="26517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79</a:t>
            </a:r>
            <a:endParaRPr lang="en-US" sz="4000" dirty="0"/>
          </a:p>
        </p:txBody>
      </p:sp>
      <p:sp>
        <p:nvSpPr>
          <p:cNvPr id="7" name="Text 2"/>
          <p:cNvSpPr txBox="1"/>
          <p:nvPr/>
        </p:nvSpPr>
        <p:spPr>
          <a:xfrm>
            <a:off x="64008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pesawat, 2009</a:t>
            </a:r>
            <a:endParaRPr lang="en-US" sz="1400" dirty="0"/>
          </a:p>
        </p:txBody>
      </p:sp>
      <p:sp>
        <p:nvSpPr>
          <p:cNvPr id="8" name="Text 3"/>
          <p:cNvSpPr txBox="1"/>
          <p:nvPr/>
        </p:nvSpPr>
        <p:spPr>
          <a:xfrm>
            <a:off x="3474720" y="3886200"/>
            <a:ext cx="26517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11,8 jt</a:t>
            </a:r>
            <a:endParaRPr lang="en-US" sz="4000" dirty="0"/>
          </a:p>
        </p:txBody>
      </p:sp>
      <p:sp>
        <p:nvSpPr>
          <p:cNvPr id="9" name="Text 4"/>
          <p:cNvSpPr txBox="1"/>
          <p:nvPr/>
        </p:nvSpPr>
        <p:spPr>
          <a:xfrm>
            <a:off x="347472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penumpang per tahun</a:t>
            </a:r>
            <a:endParaRPr lang="en-US" sz="1400" dirty="0"/>
          </a:p>
        </p:txBody>
      </p:sp>
      <p:sp>
        <p:nvSpPr>
          <p:cNvPr id="10" name="Text 5"/>
          <p:cNvSpPr txBox="1"/>
          <p:nvPr/>
        </p:nvSpPr>
        <p:spPr>
          <a:xfrm>
            <a:off x="6309360" y="3886200"/>
            <a:ext cx="26517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10</a:t>
            </a:r>
            <a:endParaRPr lang="en-US" sz="4000" dirty="0"/>
          </a:p>
        </p:txBody>
      </p:sp>
      <p:sp>
        <p:nvSpPr>
          <p:cNvPr id="11" name="Text 6"/>
          <p:cNvSpPr txBox="1"/>
          <p:nvPr/>
        </p:nvSpPr>
        <p:spPr>
          <a:xfrm>
            <a:off x="630936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negara dilayani</a:t>
            </a:r>
            <a:endParaRPr lang="en-US" sz="1400" dirty="0"/>
          </a:p>
        </p:txBody>
      </p:sp>
      <p:sp>
        <p:nvSpPr>
          <p:cNvPr id="12" name="Text 7"/>
          <p:cNvSpPr txBox="1"/>
          <p:nvPr/>
        </p:nvSpPr>
        <p:spPr>
          <a:xfrm>
            <a:off x="9144000" y="3886200"/>
            <a:ext cx="26517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RM 1</a:t>
            </a:r>
            <a:endParaRPr lang="en-US" sz="4000" dirty="0"/>
          </a:p>
        </p:txBody>
      </p:sp>
      <p:sp>
        <p:nvSpPr>
          <p:cNvPr id="13" name="Text 8"/>
          <p:cNvSpPr txBox="1"/>
          <p:nvPr/>
        </p:nvSpPr>
        <p:spPr>
          <a:xfrm>
            <a:off x="9144000" y="4526280"/>
            <a:ext cx="265176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harga akuisisi 2001, sekitar Rp 2.700</a:t>
            </a:r>
            <a:endParaRPr lang="en-US" sz="1400" dirty="0"/>
          </a:p>
        </p:txBody>
      </p:sp>
      <p:sp>
        <p:nvSpPr>
          <p:cNvPr id="14" name="Text 9"/>
          <p:cNvSpPr txBox="1"/>
          <p:nvPr/>
        </p:nvSpPr>
        <p:spPr>
          <a:xfrm>
            <a:off x="640080" y="4983480"/>
            <a:ext cx="2743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MILESTONES</a:t>
            </a:r>
            <a:endParaRPr lang="en-US" sz="1200" dirty="0"/>
          </a:p>
        </p:txBody>
      </p:sp>
      <p:sp>
        <p:nvSpPr>
          <p:cNvPr id="15" name="Text 10"/>
          <p:cNvSpPr txBox="1"/>
          <p:nvPr/>
        </p:nvSpPr>
        <p:spPr>
          <a:xfrm>
            <a:off x="640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2001</a:t>
            </a:r>
            <a:endParaRPr lang="en-US" sz="1200" dirty="0"/>
          </a:p>
        </p:txBody>
      </p:sp>
      <p:sp>
        <p:nvSpPr>
          <p:cNvPr id="16" name="Text 11"/>
          <p:cNvSpPr txBox="1"/>
          <p:nvPr/>
        </p:nvSpPr>
        <p:spPr>
          <a:xfrm>
            <a:off x="640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Diambil alih Fernandes dan McCarthy seharga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RM 1</a:t>
            </a:r>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 (Rp 2.700)</a:t>
            </a:r>
            <a:endParaRPr lang="en-US" sz="1400" dirty="0"/>
          </a:p>
        </p:txBody>
      </p:sp>
      <p:sp>
        <p:nvSpPr>
          <p:cNvPr id="17" name="Text 12"/>
          <p:cNvSpPr txBox="1"/>
          <p:nvPr/>
        </p:nvSpPr>
        <p:spPr>
          <a:xfrm>
            <a:off x="2926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2002</a:t>
            </a:r>
            <a:endParaRPr lang="en-US" sz="1200" dirty="0"/>
          </a:p>
        </p:txBody>
      </p:sp>
      <p:sp>
        <p:nvSpPr>
          <p:cNvPr id="18" name="Text 13"/>
          <p:cNvSpPr txBox="1"/>
          <p:nvPr/>
        </p:nvSpPr>
        <p:spPr>
          <a:xfrm>
            <a:off x="2926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Relaunch mengikuti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Ryanair, Southwest, easyJet</a:t>
            </a:r>
            <a:endParaRPr lang="en-US" sz="1400" dirty="0"/>
          </a:p>
        </p:txBody>
      </p:sp>
      <p:sp>
        <p:nvSpPr>
          <p:cNvPr id="19" name="Text 14"/>
          <p:cNvSpPr txBox="1"/>
          <p:nvPr/>
        </p:nvSpPr>
        <p:spPr>
          <a:xfrm>
            <a:off x="5212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2004</a:t>
            </a:r>
            <a:endParaRPr lang="en-US" sz="1200" dirty="0"/>
          </a:p>
        </p:txBody>
      </p:sp>
      <p:sp>
        <p:nvSpPr>
          <p:cNvPr id="20" name="Text 15"/>
          <p:cNvSpPr txBox="1"/>
          <p:nvPr/>
        </p:nvSpPr>
        <p:spPr>
          <a:xfrm>
            <a:off x="5212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Rute internasional pertama; IPO RM 717 juta (Rp 1,7 triliun)</a:t>
            </a:r>
            <a:endParaRPr lang="en-US" sz="1400" dirty="0"/>
          </a:p>
        </p:txBody>
      </p:sp>
      <p:sp>
        <p:nvSpPr>
          <p:cNvPr id="21" name="Text 16"/>
          <p:cNvSpPr txBox="1"/>
          <p:nvPr/>
        </p:nvSpPr>
        <p:spPr>
          <a:xfrm>
            <a:off x="7498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2007</a:t>
            </a:r>
            <a:endParaRPr lang="en-US" sz="1200" dirty="0"/>
          </a:p>
        </p:txBody>
      </p:sp>
      <p:sp>
        <p:nvSpPr>
          <p:cNvPr id="22" name="Text 17"/>
          <p:cNvSpPr txBox="1"/>
          <p:nvPr/>
        </p:nvSpPr>
        <p:spPr>
          <a:xfrm>
            <a:off x="7498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AirAsia X mulai terbang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jarak jauh</a:t>
            </a:r>
            <a:endParaRPr lang="en-US" sz="1400" dirty="0"/>
          </a:p>
        </p:txBody>
      </p:sp>
      <p:sp>
        <p:nvSpPr>
          <p:cNvPr id="23" name="Text 18"/>
          <p:cNvSpPr txBox="1"/>
          <p:nvPr/>
        </p:nvSpPr>
        <p:spPr>
          <a:xfrm>
            <a:off x="9784080" y="5303520"/>
            <a:ext cx="10972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2009</a:t>
            </a:r>
            <a:endParaRPr lang="en-US" sz="1200" dirty="0"/>
          </a:p>
        </p:txBody>
      </p:sp>
      <p:sp>
        <p:nvSpPr>
          <p:cNvPr id="24" name="Text 19"/>
          <p:cNvSpPr txBox="1"/>
          <p:nvPr/>
        </p:nvSpPr>
        <p:spPr>
          <a:xfrm>
            <a:off x="9784080" y="5596128"/>
            <a:ext cx="2103120" cy="1097280"/>
          </a:xfrm>
          <a:prstGeom prst="rect">
            <a:avLst/>
          </a:prstGeom>
          <a:noFill/>
          <a:ln/>
        </p:spPr>
        <p:txBody>
          <a:bodyPr wrap="square" lIns="0" tIns="0" rIns="0" bIns="0" rtlCol="0" anchor="t"/>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Skytrax: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World's Best Low Cost Airline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4846320" y="4206240"/>
            <a:ext cx="3017520" cy="2651760"/>
          </a:xfrm>
          <a:prstGeom prst="rect">
            <a:avLst/>
          </a:prstGeom>
          <a:solidFill>
            <a:srgbClr val="FAD354"/>
          </a:solidFill>
          <a:ln w="12700">
            <a:solidFill>
              <a:srgbClr val="FAD354"/>
            </a:solidFill>
            <a:prstDash val="solid"/>
          </a:ln>
        </p:spPr>
      </p:sp>
      <p:pic>
        <p:nvPicPr>
          <p:cNvPr id="3" name="Image 0" descr="/home/user/Dom-Manipulation/strategic-management/airasia-case/img/crops/aa_transfer_7.50x5.40_0.5-0.55.jpg">    </p:cNvPr>
          <p:cNvPicPr>
            <a:picLocks noChangeAspect="1"/>
          </p:cNvPicPr>
          <p:nvPr/>
        </p:nvPicPr>
        <p:blipFill>
          <a:blip r:embed="rId1"/>
          <a:stretch>
            <a:fillRect/>
          </a:stretch>
        </p:blipFill>
        <p:spPr>
          <a:xfrm>
            <a:off x="0" y="0"/>
            <a:ext cx="6858000" cy="4937760"/>
          </a:xfrm>
          <a:prstGeom prst="rect">
            <a:avLst/>
          </a:prstGeom>
        </p:spPr>
      </p:pic>
      <p:sp>
        <p:nvSpPr>
          <p:cNvPr id="4" name="Shape 1"/>
          <p:cNvSpPr/>
          <p:nvPr/>
        </p:nvSpPr>
        <p:spPr>
          <a:xfrm>
            <a:off x="11686032" y="0"/>
            <a:ext cx="502920" cy="6858000"/>
          </a:xfrm>
          <a:prstGeom prst="rect">
            <a:avLst/>
          </a:prstGeom>
          <a:solidFill>
            <a:srgbClr val="3B8DBD"/>
          </a:solidFill>
          <a:ln w="12700">
            <a:solidFill>
              <a:srgbClr val="3B8DBD"/>
            </a:solidFill>
            <a:prstDash val="solid"/>
          </a:ln>
        </p:spPr>
      </p:sp>
      <p:sp>
        <p:nvSpPr>
          <p:cNvPr id="5" name="Text 2"/>
          <p:cNvSpPr txBox="1"/>
          <p:nvPr/>
        </p:nvSpPr>
        <p:spPr>
          <a:xfrm>
            <a:off x="7360920" y="548640"/>
            <a:ext cx="52578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THE STRATEGIC PROBLEM</a:t>
            </a:r>
            <a:endParaRPr lang="en-US" sz="2400" dirty="0"/>
          </a:p>
        </p:txBody>
      </p:sp>
      <p:sp>
        <p:nvSpPr>
          <p:cNvPr id="6" name="Text 3"/>
          <p:cNvSpPr txBox="1"/>
          <p:nvPr/>
        </p:nvSpPr>
        <p:spPr>
          <a:xfrm>
            <a:off x="7360920" y="1417320"/>
            <a:ext cx="36576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TUJUAN (GOALS)</a:t>
            </a:r>
            <a:endParaRPr lang="en-US" sz="1200" dirty="0"/>
          </a:p>
        </p:txBody>
      </p:sp>
      <p:sp>
        <p:nvSpPr>
          <p:cNvPr id="7" name="Text 4"/>
          <p:cNvSpPr txBox="1"/>
          <p:nvPr/>
        </p:nvSpPr>
        <p:spPr>
          <a:xfrm>
            <a:off x="7360920" y="1737360"/>
            <a:ext cx="3931920" cy="17373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Menjadi maskapai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internasional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bukan hanya regional</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Tetap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berbiaya terendah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di setiap rute</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Tumbuh lewat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rute gemuk (trunk routes)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jarak jauh</a:t>
            </a:r>
            <a:endParaRPr lang="en-US" sz="1400" dirty="0"/>
          </a:p>
        </p:txBody>
      </p:sp>
      <p:sp>
        <p:nvSpPr>
          <p:cNvPr id="8" name="Text 5"/>
          <p:cNvSpPr txBox="1"/>
          <p:nvPr/>
        </p:nvSpPr>
        <p:spPr>
          <a:xfrm>
            <a:off x="7360920" y="3566160"/>
            <a:ext cx="365760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HAMBATAN (BARRIERS)</a:t>
            </a:r>
            <a:endParaRPr lang="en-US" sz="1200" dirty="0"/>
          </a:p>
        </p:txBody>
      </p:sp>
      <p:sp>
        <p:nvSpPr>
          <p:cNvPr id="9" name="Text 6"/>
          <p:cNvSpPr txBox="1"/>
          <p:nvPr/>
        </p:nvSpPr>
        <p:spPr>
          <a:xfrm>
            <a:off x="7360920" y="3886200"/>
            <a:ext cx="3931920" cy="23774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Model LCC bertumpu pada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rute pendek, satu tipe pesawat, layanan minimal</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Pesaing jarak jauh punya feeder, tiket terusan,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subsidi silang</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Neraca 2008 lemah: utang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RM 6,69 miliar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(Rp 19,5 triliun), kas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RM 153,8 juta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(Rp 447 miliar)</a:t>
            </a:r>
            <a:endParaRPr lang="en-US" sz="1400" dirty="0"/>
          </a:p>
        </p:txBody>
      </p:sp>
      <p:sp>
        <p:nvSpPr>
          <p:cNvPr id="10" name="Text 7"/>
          <p:cNvSpPr txBox="1"/>
          <p:nvPr/>
        </p:nvSpPr>
        <p:spPr>
          <a:xfrm>
            <a:off x="640080" y="5212080"/>
            <a:ext cx="402336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A320 rute pendek dan A330 rute jauh: dua pesawat, dua model bisnis.</a:t>
            </a:r>
            <a:endParaRPr lang="en-US" sz="1400" dirty="0"/>
          </a:p>
        </p:txBody>
      </p:sp>
      <p:sp>
        <p:nvSpPr>
          <p:cNvPr id="11" name="Text 8"/>
          <p:cNvSpPr txBox="1"/>
          <p:nvPr/>
        </p:nvSpPr>
        <p:spPr>
          <a:xfrm>
            <a:off x="7360920" y="6263640"/>
            <a:ext cx="3931920" cy="5486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Kurs 2008: RM 1 sekitar Rp 2.900; nilai 2026 kira-kira dua kali lipat.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182880" y="1005840"/>
            <a:ext cx="3566160" cy="3566160"/>
          </a:xfrm>
          <a:prstGeom prst="ellipse">
            <a:avLst/>
          </a:prstGeom>
          <a:solidFill>
            <a:srgbClr val="3B8DBD"/>
          </a:solidFill>
          <a:ln w="12700">
            <a:solidFill>
              <a:srgbClr val="3B8DBD"/>
            </a:solidFill>
            <a:prstDash val="solid"/>
          </a:ln>
        </p:spPr>
      </p:sp>
      <p:sp>
        <p:nvSpPr>
          <p:cNvPr id="3" name="Shape 1"/>
          <p:cNvSpPr/>
          <p:nvPr/>
        </p:nvSpPr>
        <p:spPr>
          <a:xfrm>
            <a:off x="1280160" y="2103120"/>
            <a:ext cx="4937760" cy="3108960"/>
          </a:xfrm>
          <a:prstGeom prst="arc">
            <a:avLst>
              <a:gd name="adj1" fmla="val 11400000"/>
              <a:gd name="adj2" fmla="val 21000000"/>
            </a:avLst>
          </a:prstGeom>
          <a:ln w="28575">
            <a:solidFill>
              <a:srgbClr val="1E1E1E"/>
            </a:solidFill>
            <a:prstDash val="sysDot"/>
          </a:ln>
        </p:spPr>
      </p:sp>
      <p:sp>
        <p:nvSpPr>
          <p:cNvPr id="4" name="Shape 2"/>
          <p:cNvSpPr/>
          <p:nvPr/>
        </p:nvSpPr>
        <p:spPr>
          <a:xfrm>
            <a:off x="5623560" y="1188720"/>
            <a:ext cx="146304" cy="4480560"/>
          </a:xfrm>
          <a:prstGeom prst="rect">
            <a:avLst/>
          </a:prstGeom>
          <a:solidFill>
            <a:srgbClr val="1E1E1E"/>
          </a:solidFill>
          <a:ln w="12700">
            <a:solidFill>
              <a:srgbClr val="1E1E1E"/>
            </a:solidFill>
            <a:prstDash val="solid"/>
          </a:ln>
        </p:spPr>
      </p:sp>
      <p:pic>
        <p:nvPicPr>
          <p:cNvPr id="5" name="Image 0" descr="/home/user/Dom-Manipulation/strategic-management/airasia-case/img/aa_a330.png">    </p:cNvPr>
          <p:cNvPicPr>
            <a:picLocks noChangeAspect="1"/>
          </p:cNvPicPr>
          <p:nvPr/>
        </p:nvPicPr>
        <p:blipFill>
          <a:blip r:embed="rId1"/>
          <a:stretch>
            <a:fillRect/>
          </a:stretch>
        </p:blipFill>
        <p:spPr>
          <a:xfrm>
            <a:off x="274320" y="2799975"/>
            <a:ext cx="5394960" cy="1166611"/>
          </a:xfrm>
          <a:prstGeom prst="rect">
            <a:avLst/>
          </a:prstGeom>
        </p:spPr>
      </p:pic>
      <p:sp>
        <p:nvSpPr>
          <p:cNvPr id="6" name="Text 3"/>
          <p:cNvSpPr txBox="1"/>
          <p:nvPr/>
        </p:nvSpPr>
        <p:spPr>
          <a:xfrm>
            <a:off x="6309360" y="548640"/>
            <a:ext cx="5486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THE STRATEGIC QUESTION</a:t>
            </a:r>
            <a:endParaRPr lang="en-US" sz="2400" dirty="0"/>
          </a:p>
        </p:txBody>
      </p:sp>
      <p:sp>
        <p:nvSpPr>
          <p:cNvPr id="7" name="Text 4"/>
          <p:cNvSpPr txBox="1"/>
          <p:nvPr/>
        </p:nvSpPr>
        <p:spPr>
          <a:xfrm>
            <a:off x="6309360" y="1463040"/>
            <a:ext cx="5212080" cy="17373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keunggulan biaya AirAsia dapat ditransfer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 rute jauh, dan bagaimana menata hubungan dengan AirAsia X agar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eksplorasi (exploration)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tidak mengganggu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eksploitasi (exploitation)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8" name="Text 5"/>
          <p:cNvSpPr txBox="1"/>
          <p:nvPr/>
        </p:nvSpPr>
        <p:spPr>
          <a:xfrm>
            <a:off x="6309360" y="3429000"/>
            <a:ext cx="52120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TIGA PILIHAN MANAJEMEN, PERTENGAHAN 2009</a:t>
            </a:r>
            <a:endParaRPr lang="en-US" sz="1200" dirty="0"/>
          </a:p>
        </p:txBody>
      </p:sp>
      <p:sp>
        <p:nvSpPr>
          <p:cNvPr id="9" name="Text 6"/>
          <p:cNvSpPr txBox="1"/>
          <p:nvPr/>
        </p:nvSpPr>
        <p:spPr>
          <a:xfrm>
            <a:off x="6309360" y="3794760"/>
            <a:ext cx="5212080" cy="164592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1</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Merger AirAsia X ke dalam AirAsia</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2</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Tetap terpisah dengan kontrak layanan</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Kembali fokus ke pasar regional</a:t>
            </a:r>
            <a:endParaRPr lang="en-US" sz="1400" dirty="0"/>
          </a:p>
        </p:txBody>
      </p:sp>
      <p:sp>
        <p:nvSpPr>
          <p:cNvPr id="10" name="Text 7"/>
          <p:cNvSpPr txBox="1"/>
          <p:nvPr/>
        </p:nvSpPr>
        <p:spPr>
          <a:xfrm>
            <a:off x="6309360" y="5212080"/>
            <a:ext cx="5212080" cy="91440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Eksplorasi dan eksploitasi mengacu pada March (1991): mendalami kompetensi yang ada sambil mencari peluang baru.</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3886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PESTEL ANALYSIS</a:t>
            </a:r>
            <a:endParaRPr lang="en-US" sz="2400" dirty="0"/>
          </a:p>
        </p:txBody>
      </p:sp>
      <p:sp>
        <p:nvSpPr>
          <p:cNvPr id="3" name="Shape 1"/>
          <p:cNvSpPr/>
          <p:nvPr/>
        </p:nvSpPr>
        <p:spPr>
          <a:xfrm>
            <a:off x="1005840" y="1554480"/>
            <a:ext cx="777240" cy="777240"/>
          </a:xfrm>
          <a:prstGeom prst="rect">
            <a:avLst/>
          </a:prstGeom>
          <a:solidFill>
            <a:srgbClr val="E4002B"/>
          </a:solidFill>
          <a:ln w="12700">
            <a:solidFill>
              <a:srgbClr val="E4002B"/>
            </a:solidFill>
            <a:prstDash val="solid"/>
          </a:ln>
        </p:spPr>
      </p:sp>
      <p:sp>
        <p:nvSpPr>
          <p:cNvPr id="4" name="Shape 2"/>
          <p:cNvSpPr/>
          <p:nvPr/>
        </p:nvSpPr>
        <p:spPr>
          <a:xfrm rot="18000000">
            <a:off x="822960" y="1600200"/>
            <a:ext cx="481889" cy="481889"/>
          </a:xfrm>
          <a:prstGeom prst="triangle">
            <a:avLst/>
          </a:prstGeom>
          <a:solidFill>
            <a:srgbClr val="1E1E1E"/>
          </a:solidFill>
          <a:ln w="12700">
            <a:solidFill>
              <a:srgbClr val="1E1E1E"/>
            </a:solidFill>
            <a:prstDash val="solid"/>
          </a:ln>
        </p:spPr>
      </p:sp>
      <p:sp>
        <p:nvSpPr>
          <p:cNvPr id="5" name="Text 3"/>
          <p:cNvSpPr txBox="1"/>
          <p:nvPr/>
        </p:nvSpPr>
        <p:spPr>
          <a:xfrm>
            <a:off x="1005840" y="15544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P</a:t>
            </a:r>
            <a:endParaRPr lang="en-US" sz="2400" dirty="0"/>
          </a:p>
        </p:txBody>
      </p:sp>
      <p:sp>
        <p:nvSpPr>
          <p:cNvPr id="6" name="Text 4"/>
          <p:cNvSpPr txBox="1"/>
          <p:nvPr/>
        </p:nvSpPr>
        <p:spPr>
          <a:xfrm>
            <a:off x="82296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POLITIK</a:t>
            </a:r>
            <a:endParaRPr lang="en-US" sz="1200" dirty="0"/>
          </a:p>
        </p:txBody>
      </p:sp>
      <p:sp>
        <p:nvSpPr>
          <p:cNvPr id="7" name="Text 5"/>
          <p:cNvSpPr txBox="1"/>
          <p:nvPr/>
        </p:nvSpPr>
        <p:spPr>
          <a:xfrm>
            <a:off x="82296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Dukungan pemerintah; rute jauh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berhadapan dengan MAS</a:t>
            </a:r>
            <a:endParaRPr lang="en-US" sz="1400" dirty="0"/>
          </a:p>
        </p:txBody>
      </p:sp>
      <p:sp>
        <p:nvSpPr>
          <p:cNvPr id="8" name="Shape 6"/>
          <p:cNvSpPr/>
          <p:nvPr/>
        </p:nvSpPr>
        <p:spPr>
          <a:xfrm>
            <a:off x="5029200" y="1508760"/>
            <a:ext cx="582930" cy="582930"/>
          </a:xfrm>
          <a:prstGeom prst="rect">
            <a:avLst/>
          </a:prstGeom>
          <a:solidFill>
            <a:srgbClr val="E4002B"/>
          </a:solidFill>
          <a:ln w="12700">
            <a:solidFill>
              <a:srgbClr val="E4002B"/>
            </a:solidFill>
            <a:prstDash val="solid"/>
          </a:ln>
        </p:spPr>
      </p:sp>
      <p:sp>
        <p:nvSpPr>
          <p:cNvPr id="9" name="Shape 7"/>
          <p:cNvSpPr/>
          <p:nvPr/>
        </p:nvSpPr>
        <p:spPr>
          <a:xfrm>
            <a:off x="4617720" y="1691640"/>
            <a:ext cx="777240" cy="777240"/>
          </a:xfrm>
          <a:prstGeom prst="ellipse">
            <a:avLst/>
          </a:prstGeom>
          <a:solidFill>
            <a:srgbClr val="3B8DBD"/>
          </a:solidFill>
          <a:ln w="12700">
            <a:solidFill>
              <a:srgbClr val="3B8DBD"/>
            </a:solidFill>
            <a:prstDash val="solid"/>
          </a:ln>
        </p:spPr>
      </p:sp>
      <p:sp>
        <p:nvSpPr>
          <p:cNvPr id="10" name="Text 8"/>
          <p:cNvSpPr txBox="1"/>
          <p:nvPr/>
        </p:nvSpPr>
        <p:spPr>
          <a:xfrm>
            <a:off x="4617720" y="169164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E</a:t>
            </a:r>
            <a:endParaRPr lang="en-US" sz="2400" dirty="0"/>
          </a:p>
        </p:txBody>
      </p:sp>
      <p:sp>
        <p:nvSpPr>
          <p:cNvPr id="11" name="Text 9"/>
          <p:cNvSpPr txBox="1"/>
          <p:nvPr/>
        </p:nvSpPr>
        <p:spPr>
          <a:xfrm>
            <a:off x="461772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EKONOMI</a:t>
            </a:r>
            <a:endParaRPr lang="en-US" sz="1200" dirty="0"/>
          </a:p>
        </p:txBody>
      </p:sp>
      <p:sp>
        <p:nvSpPr>
          <p:cNvPr id="12" name="Text 10"/>
          <p:cNvSpPr txBox="1"/>
          <p:nvPr/>
        </p:nvSpPr>
        <p:spPr>
          <a:xfrm>
            <a:off x="461772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500 juta penduduk dalam 3,5 jam terbang;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BBM 47% biaya</a:t>
            </a:r>
            <a:endParaRPr lang="en-US" sz="1400" dirty="0"/>
          </a:p>
        </p:txBody>
      </p:sp>
      <p:sp>
        <p:nvSpPr>
          <p:cNvPr id="13" name="Shape 11"/>
          <p:cNvSpPr/>
          <p:nvPr/>
        </p:nvSpPr>
        <p:spPr>
          <a:xfrm>
            <a:off x="8503920" y="1554480"/>
            <a:ext cx="777240" cy="777240"/>
          </a:xfrm>
          <a:prstGeom prst="triangle">
            <a:avLst/>
          </a:prstGeom>
          <a:solidFill>
            <a:srgbClr val="1E1E1E"/>
          </a:solidFill>
          <a:ln w="12700">
            <a:solidFill>
              <a:srgbClr val="1E1E1E"/>
            </a:solidFill>
            <a:prstDash val="solid"/>
          </a:ln>
        </p:spPr>
      </p:sp>
      <p:sp>
        <p:nvSpPr>
          <p:cNvPr id="14" name="Shape 12"/>
          <p:cNvSpPr/>
          <p:nvPr/>
        </p:nvSpPr>
        <p:spPr>
          <a:xfrm>
            <a:off x="8412480" y="1981962"/>
            <a:ext cx="388620" cy="349758"/>
          </a:xfrm>
          <a:prstGeom prst="triangle">
            <a:avLst/>
          </a:prstGeom>
          <a:solidFill>
            <a:srgbClr val="FAD354"/>
          </a:solidFill>
          <a:ln w="12700">
            <a:solidFill>
              <a:srgbClr val="FAD354"/>
            </a:solidFill>
            <a:prstDash val="solid"/>
          </a:ln>
        </p:spPr>
      </p:sp>
      <p:sp>
        <p:nvSpPr>
          <p:cNvPr id="15" name="Text 13"/>
          <p:cNvSpPr txBox="1"/>
          <p:nvPr/>
        </p:nvSpPr>
        <p:spPr>
          <a:xfrm>
            <a:off x="8503920" y="155448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S</a:t>
            </a:r>
            <a:endParaRPr lang="en-US" sz="2400" dirty="0"/>
          </a:p>
        </p:txBody>
      </p:sp>
      <p:sp>
        <p:nvSpPr>
          <p:cNvPr id="16" name="Text 14"/>
          <p:cNvSpPr txBox="1"/>
          <p:nvPr/>
        </p:nvSpPr>
        <p:spPr>
          <a:xfrm>
            <a:off x="8412480" y="269748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SOSIAL</a:t>
            </a:r>
            <a:endParaRPr lang="en-US" sz="1200" dirty="0"/>
          </a:p>
        </p:txBody>
      </p:sp>
      <p:sp>
        <p:nvSpPr>
          <p:cNvPr id="17" name="Text 15"/>
          <p:cNvSpPr txBox="1"/>
          <p:nvPr/>
        </p:nvSpPr>
        <p:spPr>
          <a:xfrm>
            <a:off x="8412480" y="301752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Segmen menengah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kurang terlayani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pasar diperluas</a:t>
            </a:r>
            <a:endParaRPr lang="en-US" sz="1400" dirty="0"/>
          </a:p>
        </p:txBody>
      </p:sp>
      <p:sp>
        <p:nvSpPr>
          <p:cNvPr id="18" name="Shape 16"/>
          <p:cNvSpPr/>
          <p:nvPr/>
        </p:nvSpPr>
        <p:spPr>
          <a:xfrm>
            <a:off x="822960" y="4023360"/>
            <a:ext cx="777240" cy="777240"/>
          </a:xfrm>
          <a:prstGeom prst="ellipse">
            <a:avLst/>
          </a:prstGeom>
          <a:solidFill>
            <a:srgbClr val="3B8DBD"/>
          </a:solidFill>
          <a:ln w="12700">
            <a:solidFill>
              <a:srgbClr val="3B8DBD"/>
            </a:solidFill>
            <a:prstDash val="solid"/>
          </a:ln>
        </p:spPr>
      </p:sp>
      <p:sp>
        <p:nvSpPr>
          <p:cNvPr id="19" name="Shape 17"/>
          <p:cNvSpPr/>
          <p:nvPr/>
        </p:nvSpPr>
        <p:spPr>
          <a:xfrm>
            <a:off x="1250442" y="4295394"/>
            <a:ext cx="505206" cy="505206"/>
          </a:xfrm>
          <a:prstGeom prst="ellipse">
            <a:avLst/>
          </a:prstGeom>
          <a:solidFill>
            <a:srgbClr val="E4002B"/>
          </a:solidFill>
          <a:ln w="12700">
            <a:solidFill>
              <a:srgbClr val="E4002B"/>
            </a:solidFill>
            <a:prstDash val="solid"/>
          </a:ln>
        </p:spPr>
      </p:sp>
      <p:sp>
        <p:nvSpPr>
          <p:cNvPr id="20" name="Text 18"/>
          <p:cNvSpPr txBox="1"/>
          <p:nvPr/>
        </p:nvSpPr>
        <p:spPr>
          <a:xfrm>
            <a:off x="822960" y="4023360"/>
            <a:ext cx="777240" cy="777240"/>
          </a:xfrm>
          <a:prstGeom prst="rect">
            <a:avLst/>
          </a:prstGeom>
          <a:noFill/>
          <a:ln/>
        </p:spPr>
        <p:txBody>
          <a:bodyPr wrap="square" lIns="0" tIns="0" rIns="0" bIns="0" rtlCol="0" anchor="ctr"/>
          <a:lstStyle/>
          <a:p>
            <a:pPr algn="ctr" indent="0" marL="0">
              <a:buNone/>
            </a:pPr>
            <a:r>
              <a:rPr lang="en-US" sz="2400" dirty="0">
                <a:solidFill>
                  <a:srgbClr val="FAD354"/>
                </a:solidFill>
                <a:latin typeface="Poppins SemiBold" pitchFamily="34" charset="0"/>
                <a:ea typeface="Poppins SemiBold" pitchFamily="34" charset="-122"/>
                <a:cs typeface="Poppins SemiBold" pitchFamily="34" charset="-120"/>
              </a:rPr>
              <a:t>T</a:t>
            </a:r>
            <a:endParaRPr lang="en-US" sz="2400" dirty="0"/>
          </a:p>
        </p:txBody>
      </p:sp>
      <p:sp>
        <p:nvSpPr>
          <p:cNvPr id="21" name="Text 19"/>
          <p:cNvSpPr txBox="1"/>
          <p:nvPr/>
        </p:nvSpPr>
        <p:spPr>
          <a:xfrm>
            <a:off x="82296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TEKNOLOGI</a:t>
            </a:r>
            <a:endParaRPr lang="en-US" sz="1200" dirty="0"/>
          </a:p>
        </p:txBody>
      </p:sp>
      <p:sp>
        <p:nvSpPr>
          <p:cNvPr id="22" name="Text 20"/>
          <p:cNvSpPr txBox="1"/>
          <p:nvPr/>
        </p:nvSpPr>
        <p:spPr>
          <a:xfrm>
            <a:off x="82296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Navitaire, yield management, ponsel;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tanpa komisi agen</a:t>
            </a:r>
            <a:endParaRPr lang="en-US" sz="1400" dirty="0"/>
          </a:p>
        </p:txBody>
      </p:sp>
      <p:sp>
        <p:nvSpPr>
          <p:cNvPr id="23" name="Shape 21"/>
          <p:cNvSpPr/>
          <p:nvPr/>
        </p:nvSpPr>
        <p:spPr>
          <a:xfrm>
            <a:off x="4846320" y="3977640"/>
            <a:ext cx="544068" cy="544068"/>
          </a:xfrm>
          <a:prstGeom prst="rect">
            <a:avLst/>
          </a:prstGeom>
          <a:solidFill>
            <a:srgbClr val="FFFFFF"/>
          </a:solidFill>
          <a:ln w="12700">
            <a:solidFill>
              <a:srgbClr val="FFFFFF"/>
            </a:solidFill>
            <a:prstDash val="solid"/>
          </a:ln>
        </p:spPr>
      </p:sp>
      <p:sp>
        <p:nvSpPr>
          <p:cNvPr id="24" name="Shape 22"/>
          <p:cNvSpPr/>
          <p:nvPr/>
        </p:nvSpPr>
        <p:spPr>
          <a:xfrm>
            <a:off x="4617720" y="4450842"/>
            <a:ext cx="699516" cy="349758"/>
          </a:xfrm>
          <a:prstGeom prst="rect">
            <a:avLst/>
          </a:prstGeom>
          <a:solidFill>
            <a:srgbClr val="1E1E1E"/>
          </a:solidFill>
          <a:ln w="12700">
            <a:solidFill>
              <a:srgbClr val="1E1E1E"/>
            </a:solidFill>
            <a:prstDash val="solid"/>
          </a:ln>
        </p:spPr>
      </p:sp>
      <p:sp>
        <p:nvSpPr>
          <p:cNvPr id="25" name="Text 23"/>
          <p:cNvSpPr txBox="1"/>
          <p:nvPr/>
        </p:nvSpPr>
        <p:spPr>
          <a:xfrm>
            <a:off x="4846320" y="3977640"/>
            <a:ext cx="544068" cy="544068"/>
          </a:xfrm>
          <a:prstGeom prst="rect">
            <a:avLst/>
          </a:prstGeom>
          <a:noFill/>
          <a:ln/>
        </p:spPr>
        <p:txBody>
          <a:bodyPr wrap="square" lIns="0" tIns="0" rIns="0" bIns="0" rtlCol="0" anchor="ctr"/>
          <a:lstStyle/>
          <a:p>
            <a:pPr algn="ctr" indent="0" marL="0">
              <a:buNone/>
            </a:pPr>
            <a:r>
              <a:rPr lang="en-US" sz="2400" dirty="0">
                <a:solidFill>
                  <a:srgbClr val="1E1E1E"/>
                </a:solidFill>
                <a:latin typeface="Poppins SemiBold" pitchFamily="34" charset="0"/>
                <a:ea typeface="Poppins SemiBold" pitchFamily="34" charset="-122"/>
                <a:cs typeface="Poppins SemiBold" pitchFamily="34" charset="-120"/>
              </a:rPr>
              <a:t>E</a:t>
            </a:r>
            <a:endParaRPr lang="en-US" sz="2400" dirty="0"/>
          </a:p>
        </p:txBody>
      </p:sp>
      <p:sp>
        <p:nvSpPr>
          <p:cNvPr id="26" name="Text 24"/>
          <p:cNvSpPr txBox="1"/>
          <p:nvPr/>
        </p:nvSpPr>
        <p:spPr>
          <a:xfrm>
            <a:off x="461772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LINGKUNGAN</a:t>
            </a:r>
            <a:endParaRPr lang="en-US" sz="1200" dirty="0"/>
          </a:p>
        </p:txBody>
      </p:sp>
      <p:sp>
        <p:nvSpPr>
          <p:cNvPr id="27" name="Text 25"/>
          <p:cNvSpPr txBox="1"/>
          <p:nvPr/>
        </p:nvSpPr>
        <p:spPr>
          <a:xfrm>
            <a:off x="461772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A320 baru hemat BBM;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A340 boros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di rute jauh</a:t>
            </a:r>
            <a:endParaRPr lang="en-US" sz="1400" dirty="0"/>
          </a:p>
        </p:txBody>
      </p:sp>
      <p:sp>
        <p:nvSpPr>
          <p:cNvPr id="28" name="Shape 26"/>
          <p:cNvSpPr/>
          <p:nvPr/>
        </p:nvSpPr>
        <p:spPr>
          <a:xfrm>
            <a:off x="8549640" y="4251960"/>
            <a:ext cx="777240" cy="777240"/>
          </a:xfrm>
          <a:prstGeom prst="ellipse">
            <a:avLst/>
          </a:prstGeom>
          <a:solidFill>
            <a:srgbClr val="FAD354"/>
          </a:solidFill>
          <a:ln w="12700">
            <a:solidFill>
              <a:srgbClr val="FAD354"/>
            </a:solidFill>
            <a:prstDash val="solid"/>
          </a:ln>
        </p:spPr>
      </p:sp>
      <p:sp>
        <p:nvSpPr>
          <p:cNvPr id="29" name="Shape 27"/>
          <p:cNvSpPr/>
          <p:nvPr/>
        </p:nvSpPr>
        <p:spPr>
          <a:xfrm>
            <a:off x="8915400" y="3977640"/>
            <a:ext cx="427482" cy="427482"/>
          </a:xfrm>
          <a:prstGeom prst="ellipse">
            <a:avLst/>
          </a:prstGeom>
          <a:solidFill>
            <a:srgbClr val="3B8DBD"/>
          </a:solidFill>
          <a:ln w="12700">
            <a:solidFill>
              <a:srgbClr val="3B8DBD"/>
            </a:solidFill>
            <a:prstDash val="solid"/>
          </a:ln>
        </p:spPr>
      </p:sp>
      <p:sp>
        <p:nvSpPr>
          <p:cNvPr id="30" name="Text 28"/>
          <p:cNvSpPr txBox="1"/>
          <p:nvPr/>
        </p:nvSpPr>
        <p:spPr>
          <a:xfrm>
            <a:off x="8549640" y="4251960"/>
            <a:ext cx="777240" cy="777240"/>
          </a:xfrm>
          <a:prstGeom prst="rect">
            <a:avLst/>
          </a:prstGeom>
          <a:noFill/>
          <a:ln/>
        </p:spPr>
        <p:txBody>
          <a:bodyPr wrap="square" lIns="0" tIns="0" rIns="0" bIns="0" rtlCol="0" anchor="ctr"/>
          <a:lstStyle/>
          <a:p>
            <a:pPr algn="ctr" indent="0" marL="0">
              <a:buNone/>
            </a:pPr>
            <a:r>
              <a:rPr lang="en-US" sz="2400" dirty="0">
                <a:solidFill>
                  <a:srgbClr val="E4002B"/>
                </a:solidFill>
                <a:latin typeface="Poppins SemiBold" pitchFamily="34" charset="0"/>
                <a:ea typeface="Poppins SemiBold" pitchFamily="34" charset="-122"/>
                <a:cs typeface="Poppins SemiBold" pitchFamily="34" charset="-120"/>
              </a:rPr>
              <a:t>L</a:t>
            </a:r>
            <a:endParaRPr lang="en-US" sz="2400" dirty="0"/>
          </a:p>
        </p:txBody>
      </p:sp>
      <p:sp>
        <p:nvSpPr>
          <p:cNvPr id="31" name="Text 29"/>
          <p:cNvSpPr txBox="1"/>
          <p:nvPr/>
        </p:nvSpPr>
        <p:spPr>
          <a:xfrm>
            <a:off x="8412480" y="5166360"/>
            <a:ext cx="32004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LEGAL</a:t>
            </a:r>
            <a:endParaRPr lang="en-US" sz="1200" dirty="0"/>
          </a:p>
        </p:txBody>
      </p:sp>
      <p:sp>
        <p:nvSpPr>
          <p:cNvPr id="32" name="Text 30"/>
          <p:cNvSpPr txBox="1"/>
          <p:nvPr/>
        </p:nvSpPr>
        <p:spPr>
          <a:xfrm>
            <a:off x="8412480" y="5486400"/>
            <a:ext cx="3200400" cy="10058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Deregulasi rute lintas negara;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kepemilikan asing dibatasi</a:t>
            </a:r>
            <a:endParaRPr lang="en-US" sz="1400" dirty="0"/>
          </a:p>
        </p:txBody>
      </p:sp>
      <p:sp>
        <p:nvSpPr>
          <p:cNvPr id="33" name="Shape 31"/>
          <p:cNvSpPr/>
          <p:nvPr/>
        </p:nvSpPr>
        <p:spPr>
          <a:xfrm>
            <a:off x="9692640" y="-1371600"/>
            <a:ext cx="2926080" cy="2926080"/>
          </a:xfrm>
          <a:prstGeom prst="arc">
            <a:avLst>
              <a:gd name="adj1" fmla="val 2400000"/>
              <a:gd name="adj2" fmla="val 12000000"/>
            </a:avLst>
          </a:prstGeom>
          <a:ln w="28575">
            <a:solidFill>
              <a:srgbClr val="1E1E1E"/>
            </a:solidFill>
            <a:prstDash val="sysDot"/>
          </a:ln>
        </p:spPr>
      </p:sp>
      <p:pic>
        <p:nvPicPr>
          <p:cNvPr id="34" name="Image 0" descr="/home/user/Dom-Manipulation/strategic-management/airasia-case/img/sil_red.png">    </p:cNvPr>
          <p:cNvPicPr>
            <a:picLocks noChangeAspect="1"/>
          </p:cNvPicPr>
          <p:nvPr/>
        </p:nvPicPr>
        <p:blipFill>
          <a:blip r:embed="rId1"/>
          <a:stretch>
            <a:fillRect/>
          </a:stretch>
        </p:blipFill>
        <p:spPr>
          <a:xfrm>
            <a:off x="10744200" y="1433392"/>
            <a:ext cx="822960" cy="24217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48640" y="502920"/>
            <a:ext cx="12737592" cy="7772400"/>
          </a:xfrm>
          <a:prstGeom prst="roundRect">
            <a:avLst>
              <a:gd name="adj" fmla="val 6471"/>
            </a:avLst>
          </a:prstGeom>
          <a:solidFill>
            <a:srgbClr val="3B8DBD"/>
          </a:solidFill>
          <a:ln w="12700">
            <a:solidFill>
              <a:srgbClr val="3B8DBD"/>
            </a:solidFill>
            <a:prstDash val="solid"/>
          </a:ln>
        </p:spPr>
      </p:sp>
      <p:sp>
        <p:nvSpPr>
          <p:cNvPr id="3" name="Shape 1"/>
          <p:cNvSpPr/>
          <p:nvPr/>
        </p:nvSpPr>
        <p:spPr>
          <a:xfrm>
            <a:off x="-548640" y="1143000"/>
            <a:ext cx="12234672" cy="6858000"/>
          </a:xfrm>
          <a:prstGeom prst="rect">
            <a:avLst/>
          </a:prstGeom>
          <a:solidFill>
            <a:srgbClr val="F6E4D0"/>
          </a:solidFill>
          <a:ln w="12700">
            <a:solidFill>
              <a:srgbClr val="F6E4D0"/>
            </a:solidFill>
            <a:prstDash val="solid"/>
          </a:ln>
        </p:spPr>
      </p:sp>
      <p:sp>
        <p:nvSpPr>
          <p:cNvPr id="4" name="Text 2"/>
          <p:cNvSpPr txBox="1"/>
          <p:nvPr/>
        </p:nvSpPr>
        <p:spPr>
          <a:xfrm>
            <a:off x="640080" y="502920"/>
            <a:ext cx="7772400" cy="640080"/>
          </a:xfrm>
          <a:prstGeom prst="rect">
            <a:avLst/>
          </a:prstGeom>
          <a:noFill/>
          <a:ln/>
        </p:spPr>
        <p:txBody>
          <a:bodyPr wrap="square" lIns="0" tIns="0" rIns="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FIVE FORCES ANALYSIS</a:t>
            </a:r>
            <a:endParaRPr lang="en-US" sz="2400" dirty="0"/>
          </a:p>
        </p:txBody>
      </p:sp>
      <p:sp>
        <p:nvSpPr>
          <p:cNvPr id="5" name="Shape 3"/>
          <p:cNvSpPr/>
          <p:nvPr/>
        </p:nvSpPr>
        <p:spPr>
          <a:xfrm>
            <a:off x="640080" y="1691640"/>
            <a:ext cx="4023360" cy="4023360"/>
          </a:xfrm>
          <a:prstGeom prst="ellipse">
            <a:avLst/>
          </a:prstGeom>
          <a:solidFill>
            <a:srgbClr val="FAD354"/>
          </a:solidFill>
          <a:ln w="12700">
            <a:solidFill>
              <a:srgbClr val="FAD354"/>
            </a:solidFill>
            <a:prstDash val="solid"/>
          </a:ln>
        </p:spPr>
      </p:sp>
      <p:sp>
        <p:nvSpPr>
          <p:cNvPr id="6" name="Text 4"/>
          <p:cNvSpPr txBox="1"/>
          <p:nvPr/>
        </p:nvSpPr>
        <p:spPr>
          <a:xfrm>
            <a:off x="1188720" y="2331720"/>
            <a:ext cx="2926080" cy="2743200"/>
          </a:xfrm>
          <a:prstGeom prst="rect">
            <a:avLst/>
          </a:prstGeom>
          <a:noFill/>
          <a:ln/>
        </p:spPr>
        <p:txBody>
          <a:bodyPr wrap="square" lIns="0" tIns="0" rIns="0" bIns="0" rtlCol="0" anchor="ctr"/>
          <a:lstStyle/>
          <a:p>
            <a:pPr algn="ctr"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Industri kurang atraktif.</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Laba lahir dari </a:t>
            </a:r>
            <a:pPr algn="ctr"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posisi biaya perusahaan</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sesuai logika Structure Conduct Performance. Bahan bakar dan pesawat tidak bisa dikendalikan; yang bisa dikendalikan hanya </a:t>
            </a:r>
            <a:pPr algn="ctr"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struktur biaya sendiri</a:t>
            </a:r>
            <a:pPr algn="ctr"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7" name="Shape 5"/>
          <p:cNvSpPr/>
          <p:nvPr/>
        </p:nvSpPr>
        <p:spPr>
          <a:xfrm>
            <a:off x="6949440" y="2468880"/>
            <a:ext cx="1828800" cy="1828800"/>
          </a:xfrm>
          <a:prstGeom prst="ellipse">
            <a:avLst/>
          </a:prstGeom>
          <a:solidFill>
            <a:srgbClr val="1E1E1E"/>
          </a:solidFill>
          <a:ln w="12700">
            <a:solidFill>
              <a:srgbClr val="1E1E1E"/>
            </a:solidFill>
            <a:prstDash val="solid"/>
          </a:ln>
        </p:spPr>
      </p:sp>
      <p:sp>
        <p:nvSpPr>
          <p:cNvPr id="8" name="Text 6"/>
          <p:cNvSpPr txBox="1"/>
          <p:nvPr/>
        </p:nvSpPr>
        <p:spPr>
          <a:xfrm>
            <a:off x="7022592" y="2542032"/>
            <a:ext cx="1682496" cy="16824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RIVALITAS</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9" name="Shape 7"/>
          <p:cNvSpPr/>
          <p:nvPr/>
        </p:nvSpPr>
        <p:spPr>
          <a:xfrm>
            <a:off x="4846320" y="1280160"/>
            <a:ext cx="1600200" cy="1600200"/>
          </a:xfrm>
          <a:prstGeom prst="ellipse">
            <a:avLst/>
          </a:prstGeom>
          <a:solidFill>
            <a:srgbClr val="E4002B"/>
          </a:solidFill>
          <a:ln w="12700">
            <a:solidFill>
              <a:srgbClr val="E4002B"/>
            </a:solidFill>
            <a:prstDash val="solid"/>
          </a:ln>
        </p:spPr>
      </p:sp>
      <p:sp>
        <p:nvSpPr>
          <p:cNvPr id="10" name="Text 8"/>
          <p:cNvSpPr txBox="1"/>
          <p:nvPr/>
        </p:nvSpPr>
        <p:spPr>
          <a:xfrm>
            <a:off x="4919472" y="135331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PEMASOK</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11" name="Shape 9"/>
          <p:cNvSpPr/>
          <p:nvPr/>
        </p:nvSpPr>
        <p:spPr>
          <a:xfrm>
            <a:off x="9281160" y="1280160"/>
            <a:ext cx="1600200" cy="1600200"/>
          </a:xfrm>
          <a:prstGeom prst="ellipse">
            <a:avLst/>
          </a:prstGeom>
          <a:solidFill>
            <a:srgbClr val="3B8DBD"/>
          </a:solidFill>
          <a:ln w="12700">
            <a:solidFill>
              <a:srgbClr val="3B8DBD"/>
            </a:solidFill>
            <a:prstDash val="solid"/>
          </a:ln>
        </p:spPr>
      </p:sp>
      <p:sp>
        <p:nvSpPr>
          <p:cNvPr id="12" name="Text 10"/>
          <p:cNvSpPr txBox="1"/>
          <p:nvPr/>
        </p:nvSpPr>
        <p:spPr>
          <a:xfrm>
            <a:off x="9354312" y="135331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PEMBELI</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tinggi</a:t>
            </a:r>
            <a:endParaRPr lang="en-US" sz="1200" dirty="0"/>
          </a:p>
        </p:txBody>
      </p:sp>
      <p:sp>
        <p:nvSpPr>
          <p:cNvPr id="13" name="Shape 11"/>
          <p:cNvSpPr/>
          <p:nvPr/>
        </p:nvSpPr>
        <p:spPr>
          <a:xfrm>
            <a:off x="4846320" y="3886200"/>
            <a:ext cx="1600200" cy="1600200"/>
          </a:xfrm>
          <a:prstGeom prst="ellipse">
            <a:avLst/>
          </a:prstGeom>
          <a:solidFill>
            <a:srgbClr val="FAD354"/>
          </a:solidFill>
          <a:ln w="12700">
            <a:solidFill>
              <a:srgbClr val="FAD354"/>
            </a:solidFill>
            <a:prstDash val="solid"/>
          </a:ln>
        </p:spPr>
      </p:sp>
      <p:sp>
        <p:nvSpPr>
          <p:cNvPr id="14" name="Text 12"/>
          <p:cNvSpPr txBox="1"/>
          <p:nvPr/>
        </p:nvSpPr>
        <p:spPr>
          <a:xfrm>
            <a:off x="4919472" y="3959352"/>
            <a:ext cx="1453896" cy="1453896"/>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1E1E1E"/>
                </a:solidFill>
                <a:latin typeface="Poppins SemiBold" pitchFamily="34" charset="0"/>
                <a:ea typeface="Poppins SemiBold" pitchFamily="34" charset="-122"/>
                <a:cs typeface="Poppins SemiBold" pitchFamily="34" charset="-120"/>
              </a:rPr>
              <a:t>PENDATANG</a:t>
            </a:r>
            <a:endParaRPr lang="en-US" sz="1200" dirty="0"/>
          </a:p>
          <a:p>
            <a:pPr algn="ctr" indent="0" marL="0">
              <a:lnSpc>
                <a:spcPct val="105000"/>
              </a:lnSpc>
              <a:buNone/>
            </a:pPr>
            <a:r>
              <a:rPr lang="en-US" sz="1400" dirty="0">
                <a:solidFill>
                  <a:srgbClr val="1E1E1E"/>
                </a:solidFill>
                <a:latin typeface="Poppins" pitchFamily="34" charset="0"/>
                <a:ea typeface="Poppins" pitchFamily="34" charset="-122"/>
                <a:cs typeface="Poppins" pitchFamily="34" charset="-120"/>
              </a:rPr>
              <a:t>sedang</a:t>
            </a:r>
            <a:endParaRPr lang="en-US" sz="1200" dirty="0"/>
          </a:p>
        </p:txBody>
      </p:sp>
      <p:sp>
        <p:nvSpPr>
          <p:cNvPr id="15" name="Shape 13"/>
          <p:cNvSpPr/>
          <p:nvPr/>
        </p:nvSpPr>
        <p:spPr>
          <a:xfrm>
            <a:off x="9281160" y="3886200"/>
            <a:ext cx="1600200" cy="1600200"/>
          </a:xfrm>
          <a:prstGeom prst="ellipse">
            <a:avLst/>
          </a:prstGeom>
          <a:ln w="19050">
            <a:solidFill>
              <a:srgbClr val="1E1E1E"/>
            </a:solidFill>
            <a:prstDash val="solid"/>
          </a:ln>
        </p:spPr>
      </p:sp>
      <p:sp>
        <p:nvSpPr>
          <p:cNvPr id="16" name="Text 14"/>
          <p:cNvSpPr txBox="1"/>
          <p:nvPr/>
        </p:nvSpPr>
        <p:spPr>
          <a:xfrm>
            <a:off x="9354312" y="3959352"/>
            <a:ext cx="1453896" cy="1453896"/>
          </a:xfrm>
          <a:prstGeom prst="rect">
            <a:avLst/>
          </a:prstGeom>
          <a:noFill/>
          <a:ln/>
        </p:spPr>
        <p:txBody>
          <a:bodyPr wrap="square" lIns="0" tIns="0" rIns="0" bIns="0" rtlCol="0" anchor="ctr"/>
          <a:lstStyle/>
          <a:p>
            <a:pPr algn="ctr" indent="0" marL="0">
              <a:buNone/>
            </a:pPr>
            <a:r>
              <a:rPr lang="en-US" sz="1200" spc="100" kern="0" dirty="0">
                <a:solidFill>
                  <a:srgbClr val="1E1E1E"/>
                </a:solidFill>
                <a:latin typeface="Poppins SemiBold" pitchFamily="34" charset="0"/>
                <a:ea typeface="Poppins SemiBold" pitchFamily="34" charset="-122"/>
                <a:cs typeface="Poppins SemiBold" pitchFamily="34" charset="-120"/>
              </a:rPr>
              <a:t>SUBSTITUSI</a:t>
            </a:r>
            <a:endParaRPr lang="en-US" sz="1200" dirty="0"/>
          </a:p>
          <a:p>
            <a:pPr algn="ctr" indent="0" marL="0">
              <a:buNone/>
            </a:pPr>
            <a:r>
              <a:rPr lang="en-US" sz="1400" dirty="0">
                <a:solidFill>
                  <a:srgbClr val="1E1E1E"/>
                </a:solidFill>
                <a:latin typeface="Poppins" pitchFamily="34" charset="0"/>
                <a:ea typeface="Poppins" pitchFamily="34" charset="-122"/>
                <a:cs typeface="Poppins" pitchFamily="34" charset="-120"/>
              </a:rPr>
              <a:t>sedang / rendah</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852160" y="0"/>
            <a:ext cx="6336792" cy="2743200"/>
          </a:xfrm>
          <a:prstGeom prst="rect">
            <a:avLst/>
          </a:prstGeom>
          <a:solidFill>
            <a:srgbClr val="3B8DBD"/>
          </a:solidFill>
          <a:ln w="12700">
            <a:solidFill>
              <a:srgbClr val="3B8DBD"/>
            </a:solidFill>
            <a:prstDash val="solid"/>
          </a:ln>
        </p:spPr>
      </p:sp>
      <p:sp>
        <p:nvSpPr>
          <p:cNvPr id="3" name="Shape 1"/>
          <p:cNvSpPr/>
          <p:nvPr/>
        </p:nvSpPr>
        <p:spPr>
          <a:xfrm>
            <a:off x="6274613" y="0"/>
            <a:ext cx="232349" cy="2743200"/>
          </a:xfrm>
          <a:prstGeom prst="rect">
            <a:avLst/>
          </a:prstGeom>
          <a:solidFill>
            <a:srgbClr val="F6E4D0"/>
          </a:solidFill>
          <a:ln w="12700">
            <a:solidFill>
              <a:srgbClr val="F6E4D0"/>
            </a:solidFill>
            <a:prstDash val="solid"/>
          </a:ln>
        </p:spPr>
      </p:sp>
      <p:sp>
        <p:nvSpPr>
          <p:cNvPr id="4" name="Shape 2"/>
          <p:cNvSpPr/>
          <p:nvPr/>
        </p:nvSpPr>
        <p:spPr>
          <a:xfrm>
            <a:off x="7119518" y="0"/>
            <a:ext cx="232349" cy="2743200"/>
          </a:xfrm>
          <a:prstGeom prst="rect">
            <a:avLst/>
          </a:prstGeom>
          <a:solidFill>
            <a:srgbClr val="F6E4D0"/>
          </a:solidFill>
          <a:ln w="12700">
            <a:solidFill>
              <a:srgbClr val="F6E4D0"/>
            </a:solidFill>
            <a:prstDash val="solid"/>
          </a:ln>
        </p:spPr>
      </p:sp>
      <p:sp>
        <p:nvSpPr>
          <p:cNvPr id="5" name="Shape 3"/>
          <p:cNvSpPr/>
          <p:nvPr/>
        </p:nvSpPr>
        <p:spPr>
          <a:xfrm>
            <a:off x="7964424" y="0"/>
            <a:ext cx="232349" cy="2743200"/>
          </a:xfrm>
          <a:prstGeom prst="rect">
            <a:avLst/>
          </a:prstGeom>
          <a:solidFill>
            <a:srgbClr val="F6E4D0"/>
          </a:solidFill>
          <a:ln w="12700">
            <a:solidFill>
              <a:srgbClr val="F6E4D0"/>
            </a:solidFill>
            <a:prstDash val="solid"/>
          </a:ln>
        </p:spPr>
      </p:sp>
      <p:sp>
        <p:nvSpPr>
          <p:cNvPr id="6" name="Shape 4"/>
          <p:cNvSpPr/>
          <p:nvPr/>
        </p:nvSpPr>
        <p:spPr>
          <a:xfrm>
            <a:off x="8809330" y="0"/>
            <a:ext cx="232349" cy="2743200"/>
          </a:xfrm>
          <a:prstGeom prst="rect">
            <a:avLst/>
          </a:prstGeom>
          <a:solidFill>
            <a:srgbClr val="F6E4D0"/>
          </a:solidFill>
          <a:ln w="12700">
            <a:solidFill>
              <a:srgbClr val="F6E4D0"/>
            </a:solidFill>
            <a:prstDash val="solid"/>
          </a:ln>
        </p:spPr>
      </p:sp>
      <p:sp>
        <p:nvSpPr>
          <p:cNvPr id="7" name="Shape 5"/>
          <p:cNvSpPr/>
          <p:nvPr/>
        </p:nvSpPr>
        <p:spPr>
          <a:xfrm>
            <a:off x="9654235" y="0"/>
            <a:ext cx="232349" cy="2743200"/>
          </a:xfrm>
          <a:prstGeom prst="rect">
            <a:avLst/>
          </a:prstGeom>
          <a:solidFill>
            <a:srgbClr val="F6E4D0"/>
          </a:solidFill>
          <a:ln w="12700">
            <a:solidFill>
              <a:srgbClr val="F6E4D0"/>
            </a:solidFill>
            <a:prstDash val="solid"/>
          </a:ln>
        </p:spPr>
      </p:sp>
      <p:sp>
        <p:nvSpPr>
          <p:cNvPr id="8" name="Shape 6"/>
          <p:cNvSpPr/>
          <p:nvPr/>
        </p:nvSpPr>
        <p:spPr>
          <a:xfrm>
            <a:off x="10499141" y="0"/>
            <a:ext cx="232349" cy="2743200"/>
          </a:xfrm>
          <a:prstGeom prst="rect">
            <a:avLst/>
          </a:prstGeom>
          <a:solidFill>
            <a:srgbClr val="F6E4D0"/>
          </a:solidFill>
          <a:ln w="12700">
            <a:solidFill>
              <a:srgbClr val="F6E4D0"/>
            </a:solidFill>
            <a:prstDash val="solid"/>
          </a:ln>
        </p:spPr>
      </p:sp>
      <p:sp>
        <p:nvSpPr>
          <p:cNvPr id="9" name="Shape 7"/>
          <p:cNvSpPr/>
          <p:nvPr/>
        </p:nvSpPr>
        <p:spPr>
          <a:xfrm>
            <a:off x="11344046" y="0"/>
            <a:ext cx="232349" cy="2743200"/>
          </a:xfrm>
          <a:prstGeom prst="rect">
            <a:avLst/>
          </a:prstGeom>
          <a:solidFill>
            <a:srgbClr val="F6E4D0"/>
          </a:solidFill>
          <a:ln w="12700">
            <a:solidFill>
              <a:srgbClr val="F6E4D0"/>
            </a:solidFill>
            <a:prstDash val="solid"/>
          </a:ln>
        </p:spPr>
      </p:sp>
      <p:pic>
        <p:nvPicPr>
          <p:cNvPr id="10" name="Image 0" descr="/home/user/Dom-Manipulation/strategic-management/airasia-case/img/crops/aa_turnaround_6.93x4.50_0.5-0.6.jpg">    </p:cNvPr>
          <p:cNvPicPr>
            <a:picLocks noChangeAspect="1"/>
          </p:cNvPicPr>
          <p:nvPr/>
        </p:nvPicPr>
        <p:blipFill>
          <a:blip r:embed="rId1"/>
          <a:stretch>
            <a:fillRect/>
          </a:stretch>
        </p:blipFill>
        <p:spPr>
          <a:xfrm>
            <a:off x="5852160" y="2743200"/>
            <a:ext cx="6336792" cy="4114800"/>
          </a:xfrm>
          <a:prstGeom prst="rect">
            <a:avLst/>
          </a:prstGeom>
        </p:spPr>
      </p:pic>
      <p:sp>
        <p:nvSpPr>
          <p:cNvPr id="11" name="Text 8"/>
          <p:cNvSpPr txBox="1"/>
          <p:nvPr/>
        </p:nvSpPr>
        <p:spPr>
          <a:xfrm>
            <a:off x="640080" y="822960"/>
            <a:ext cx="5029200" cy="1188720"/>
          </a:xfrm>
          <a:prstGeom prst="rect">
            <a:avLst/>
          </a:prstGeom>
          <a:noFill/>
          <a:ln/>
        </p:spPr>
        <p:txBody>
          <a:bodyPr wrap="square" lIns="0" tIns="0" rIns="0" bIns="0" rtlCol="0" anchor="t"/>
          <a:lstStyle/>
          <a:p>
            <a:pPr indent="0" marL="0">
              <a:lnSpc>
                <a:spcPct val="105000"/>
              </a:lnSpc>
              <a:buNone/>
            </a:pPr>
            <a:r>
              <a:rPr lang="en-US" sz="2400" spc="200" kern="0" dirty="0">
                <a:solidFill>
                  <a:srgbClr val="1E1E1E"/>
                </a:solidFill>
                <a:latin typeface="Poppins SemiBold" pitchFamily="34" charset="0"/>
                <a:ea typeface="Poppins SemiBold" pitchFamily="34" charset="-122"/>
                <a:cs typeface="Poppins SemiBold" pitchFamily="34" charset="-120"/>
              </a:rPr>
              <a:t>DRIVING FORCES</a:t>
            </a:r>
            <a:endParaRPr lang="en-US" sz="2400" dirty="0"/>
          </a:p>
          <a:p>
            <a:pPr indent="0" marL="0">
              <a:lnSpc>
                <a:spcPct val="105000"/>
              </a:lnSpc>
              <a:buNone/>
            </a:pPr>
            <a:r>
              <a:rPr lang="en-US" sz="2400" spc="200" kern="0" dirty="0">
                <a:solidFill>
                  <a:srgbClr val="1E1E1E"/>
                </a:solidFill>
                <a:latin typeface="Poppins SemiBold" pitchFamily="34" charset="0"/>
                <a:ea typeface="Poppins SemiBold" pitchFamily="34" charset="-122"/>
                <a:cs typeface="Poppins SemiBold" pitchFamily="34" charset="-120"/>
              </a:rPr>
              <a:t>AND KEY SUCCESS FACTORS</a:t>
            </a:r>
            <a:endParaRPr lang="en-US" sz="2400" dirty="0"/>
          </a:p>
        </p:txBody>
      </p:sp>
      <p:sp>
        <p:nvSpPr>
          <p:cNvPr id="12" name="Text 9"/>
          <p:cNvSpPr txBox="1"/>
          <p:nvPr/>
        </p:nvSpPr>
        <p:spPr>
          <a:xfrm>
            <a:off x="640080" y="2331720"/>
            <a:ext cx="246888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KEKUATAN PENDORONG</a:t>
            </a:r>
            <a:endParaRPr lang="en-US" sz="1200" dirty="0"/>
          </a:p>
        </p:txBody>
      </p:sp>
      <p:sp>
        <p:nvSpPr>
          <p:cNvPr id="13" name="Text 10"/>
          <p:cNvSpPr txBox="1"/>
          <p:nvPr/>
        </p:nvSpPr>
        <p:spPr>
          <a:xfrm>
            <a:off x="640080" y="2697480"/>
            <a:ext cx="2377440" cy="2743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Deregulasi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regional</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Distribusi langsung</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Harga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bahan bakar</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Kelas menengah Asia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LCC ke rute jauh</a:t>
            </a:r>
            <a:endParaRPr lang="en-US" sz="1400" dirty="0"/>
          </a:p>
        </p:txBody>
      </p:sp>
      <p:sp>
        <p:nvSpPr>
          <p:cNvPr id="14" name="Text 11"/>
          <p:cNvSpPr txBox="1"/>
          <p:nvPr/>
        </p:nvSpPr>
        <p:spPr>
          <a:xfrm>
            <a:off x="3291840" y="2331720"/>
            <a:ext cx="246888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FAKTOR KUNCI</a:t>
            </a:r>
            <a:endParaRPr lang="en-US" sz="1200" dirty="0"/>
          </a:p>
        </p:txBody>
      </p:sp>
      <p:sp>
        <p:nvSpPr>
          <p:cNvPr id="15" name="Text 12"/>
          <p:cNvSpPr txBox="1"/>
          <p:nvPr/>
        </p:nvSpPr>
        <p:spPr>
          <a:xfrm>
            <a:off x="3291840" y="2697480"/>
            <a:ext cx="2468880" cy="3108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Biaya per ASK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terendah</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Utilisasi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tinggi</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tinggi</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Operasi sederhana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Merek dipercaya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SDM produktif</a:t>
            </a:r>
            <a:endParaRPr lang="en-US" sz="1400" dirty="0"/>
          </a:p>
        </p:txBody>
      </p:sp>
      <p:sp>
        <p:nvSpPr>
          <p:cNvPr id="16" name="Text 13"/>
          <p:cNvSpPr txBox="1"/>
          <p:nvPr/>
        </p:nvSpPr>
        <p:spPr>
          <a:xfrm>
            <a:off x="640080" y="5806440"/>
            <a:ext cx="502920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Turnaround 25 menit: utilisasi tinggi dimulai dari kesibukan di gate.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STRATEGIC GROUP MAP</a:t>
            </a:r>
            <a:endParaRPr lang="en-US" sz="2400" dirty="0"/>
          </a:p>
        </p:txBody>
      </p:sp>
      <p:sp>
        <p:nvSpPr>
          <p:cNvPr id="3" name="Shape 1"/>
          <p:cNvSpPr/>
          <p:nvPr/>
        </p:nvSpPr>
        <p:spPr>
          <a:xfrm>
            <a:off x="914400" y="5943600"/>
            <a:ext cx="6400800" cy="27432"/>
          </a:xfrm>
          <a:prstGeom prst="rect">
            <a:avLst/>
          </a:prstGeom>
          <a:solidFill>
            <a:srgbClr val="1E1E1E"/>
          </a:solidFill>
          <a:ln w="12700">
            <a:solidFill>
              <a:srgbClr val="1E1E1E"/>
            </a:solidFill>
            <a:prstDash val="solid"/>
          </a:ln>
        </p:spPr>
      </p:sp>
      <p:sp>
        <p:nvSpPr>
          <p:cNvPr id="4" name="Shape 2"/>
          <p:cNvSpPr/>
          <p:nvPr/>
        </p:nvSpPr>
        <p:spPr>
          <a:xfrm>
            <a:off x="914400" y="1463040"/>
            <a:ext cx="27432" cy="4480560"/>
          </a:xfrm>
          <a:prstGeom prst="rect">
            <a:avLst/>
          </a:prstGeom>
          <a:solidFill>
            <a:srgbClr val="1E1E1E"/>
          </a:solidFill>
          <a:ln w="12700">
            <a:solidFill>
              <a:srgbClr val="1E1E1E"/>
            </a:solidFill>
            <a:prstDash val="solid"/>
          </a:ln>
        </p:spPr>
      </p:sp>
      <p:sp>
        <p:nvSpPr>
          <p:cNvPr id="5" name="Text 3"/>
          <p:cNvSpPr txBox="1"/>
          <p:nvPr/>
        </p:nvSpPr>
        <p:spPr>
          <a:xfrm>
            <a:off x="1097280" y="6035040"/>
            <a:ext cx="2743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REGIONAL</a:t>
            </a:r>
            <a:endParaRPr lang="en-US" sz="1200" dirty="0"/>
          </a:p>
        </p:txBody>
      </p:sp>
      <p:sp>
        <p:nvSpPr>
          <p:cNvPr id="6" name="Text 4"/>
          <p:cNvSpPr txBox="1"/>
          <p:nvPr/>
        </p:nvSpPr>
        <p:spPr>
          <a:xfrm>
            <a:off x="4389120" y="6035040"/>
            <a:ext cx="2743200" cy="292608"/>
          </a:xfrm>
          <a:prstGeom prst="rect">
            <a:avLst/>
          </a:prstGeom>
          <a:noFill/>
          <a:ln/>
        </p:spPr>
        <p:txBody>
          <a:bodyPr wrap="square" lIns="0" tIns="0" rIns="0" bIns="0" rtlCol="0" anchor="ctr"/>
          <a:lstStyle/>
          <a:p>
            <a:pPr algn="r"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JARAK JAUH</a:t>
            </a:r>
            <a:endParaRPr lang="en-US" sz="1200" dirty="0"/>
          </a:p>
        </p:txBody>
      </p:sp>
      <p:sp>
        <p:nvSpPr>
          <p:cNvPr id="7" name="Text 5"/>
          <p:cNvSpPr txBox="1"/>
          <p:nvPr/>
        </p:nvSpPr>
        <p:spPr>
          <a:xfrm rot="16200000">
            <a:off x="-777240" y="2743200"/>
            <a:ext cx="3108960" cy="292608"/>
          </a:xfrm>
          <a:prstGeom prst="rect">
            <a:avLst/>
          </a:prstGeom>
          <a:noFill/>
          <a:ln/>
        </p:spPr>
        <p:txBody>
          <a:bodyPr wrap="square" lIns="0" tIns="0" rIns="0" bIns="0" rtlCol="0" anchor="ctr"/>
          <a:lstStyle/>
          <a:p>
            <a:pPr algn="ctr"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LAYANAN DAN BIAYA</a:t>
            </a:r>
            <a:endParaRPr lang="en-US" sz="1200" dirty="0"/>
          </a:p>
        </p:txBody>
      </p:sp>
      <p:sp>
        <p:nvSpPr>
          <p:cNvPr id="8" name="Shape 6"/>
          <p:cNvSpPr/>
          <p:nvPr/>
        </p:nvSpPr>
        <p:spPr>
          <a:xfrm>
            <a:off x="1659636" y="1689811"/>
            <a:ext cx="1965960" cy="1965960"/>
          </a:xfrm>
          <a:prstGeom prst="ellipse">
            <a:avLst/>
          </a:prstGeom>
          <a:solidFill>
            <a:srgbClr val="3B8DBD"/>
          </a:solidFill>
          <a:ln w="12700">
            <a:solidFill>
              <a:srgbClr val="3B8DBD"/>
            </a:solidFill>
            <a:prstDash val="solid"/>
          </a:ln>
        </p:spPr>
      </p:sp>
      <p:sp>
        <p:nvSpPr>
          <p:cNvPr id="9" name="Text 7"/>
          <p:cNvSpPr txBox="1"/>
          <p:nvPr/>
        </p:nvSpPr>
        <p:spPr>
          <a:xfrm>
            <a:off x="1769364" y="1799539"/>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FULL SERVICE</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MAS domestik, SIA</a:t>
            </a:r>
            <a:endParaRPr lang="en-US" sz="1200" dirty="0"/>
          </a:p>
        </p:txBody>
      </p:sp>
      <p:sp>
        <p:nvSpPr>
          <p:cNvPr id="10" name="Shape 8"/>
          <p:cNvSpPr/>
          <p:nvPr/>
        </p:nvSpPr>
        <p:spPr>
          <a:xfrm>
            <a:off x="4604004" y="1689811"/>
            <a:ext cx="1965960" cy="1965960"/>
          </a:xfrm>
          <a:prstGeom prst="ellipse">
            <a:avLst/>
          </a:prstGeom>
          <a:solidFill>
            <a:srgbClr val="1E1E1E"/>
          </a:solidFill>
          <a:ln w="12700">
            <a:solidFill>
              <a:srgbClr val="1E1E1E"/>
            </a:solidFill>
            <a:prstDash val="solid"/>
          </a:ln>
        </p:spPr>
      </p:sp>
      <p:sp>
        <p:nvSpPr>
          <p:cNvPr id="11" name="Text 9"/>
          <p:cNvSpPr txBox="1"/>
          <p:nvPr/>
        </p:nvSpPr>
        <p:spPr>
          <a:xfrm>
            <a:off x="4713732" y="1799539"/>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NETWORK CARRIERS</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Emirates, BA, MAS</a:t>
            </a:r>
            <a:endParaRPr lang="en-US" sz="1200" dirty="0"/>
          </a:p>
        </p:txBody>
      </p:sp>
      <p:sp>
        <p:nvSpPr>
          <p:cNvPr id="12" name="Shape 10"/>
          <p:cNvSpPr/>
          <p:nvPr/>
        </p:nvSpPr>
        <p:spPr>
          <a:xfrm>
            <a:off x="1659636" y="3750869"/>
            <a:ext cx="1965960" cy="1965960"/>
          </a:xfrm>
          <a:prstGeom prst="ellipse">
            <a:avLst/>
          </a:prstGeom>
          <a:solidFill>
            <a:srgbClr val="E4002B"/>
          </a:solidFill>
          <a:ln w="12700">
            <a:solidFill>
              <a:srgbClr val="E4002B"/>
            </a:solidFill>
            <a:prstDash val="solid"/>
          </a:ln>
        </p:spPr>
      </p:sp>
      <p:sp>
        <p:nvSpPr>
          <p:cNvPr id="13" name="Text 11"/>
          <p:cNvSpPr txBox="1"/>
          <p:nvPr/>
        </p:nvSpPr>
        <p:spPr>
          <a:xfrm>
            <a:off x="1769364" y="3860597"/>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FFFFFF"/>
                </a:solidFill>
                <a:latin typeface="Poppins SemiBold" pitchFamily="34" charset="0"/>
                <a:ea typeface="Poppins SemiBold" pitchFamily="34" charset="-122"/>
                <a:cs typeface="Poppins SemiBold" pitchFamily="34" charset="-120"/>
              </a:rPr>
              <a:t>LCC REGIONAL</a:t>
            </a:r>
            <a:endParaRPr lang="en-US" sz="1200" dirty="0"/>
          </a:p>
          <a:p>
            <a:pPr algn="ctr" indent="0" marL="0">
              <a:lnSpc>
                <a:spcPct val="105000"/>
              </a:lnSpc>
              <a:buNone/>
            </a:pPr>
            <a:r>
              <a:rPr lang="en-US" sz="1400" dirty="0">
                <a:solidFill>
                  <a:srgbClr val="FFFFFF"/>
                </a:solidFill>
                <a:latin typeface="Poppins" pitchFamily="34" charset="0"/>
                <a:ea typeface="Poppins" pitchFamily="34" charset="-122"/>
                <a:cs typeface="Poppins" pitchFamily="34" charset="-120"/>
              </a:rPr>
              <a:t>AirAsia, Tiger, Cebu</a:t>
            </a:r>
            <a:endParaRPr lang="en-US" sz="1200" dirty="0"/>
          </a:p>
        </p:txBody>
      </p:sp>
      <p:sp>
        <p:nvSpPr>
          <p:cNvPr id="14" name="Shape 12"/>
          <p:cNvSpPr/>
          <p:nvPr/>
        </p:nvSpPr>
        <p:spPr>
          <a:xfrm>
            <a:off x="4466844" y="3613709"/>
            <a:ext cx="2240280" cy="2240280"/>
          </a:xfrm>
          <a:prstGeom prst="ellipse">
            <a:avLst/>
          </a:prstGeom>
          <a:ln w="19050">
            <a:solidFill>
              <a:srgbClr val="1E1E1E"/>
            </a:solidFill>
            <a:prstDash val="solid"/>
          </a:ln>
        </p:spPr>
      </p:sp>
      <p:sp>
        <p:nvSpPr>
          <p:cNvPr id="15" name="Shape 13"/>
          <p:cNvSpPr/>
          <p:nvPr/>
        </p:nvSpPr>
        <p:spPr>
          <a:xfrm>
            <a:off x="4604004" y="3750869"/>
            <a:ext cx="1965960" cy="1965960"/>
          </a:xfrm>
          <a:prstGeom prst="ellipse">
            <a:avLst/>
          </a:prstGeom>
          <a:solidFill>
            <a:srgbClr val="FAD354"/>
          </a:solidFill>
          <a:ln w="12700">
            <a:solidFill>
              <a:srgbClr val="FAD354"/>
            </a:solidFill>
            <a:prstDash val="solid"/>
          </a:ln>
        </p:spPr>
      </p:sp>
      <p:sp>
        <p:nvSpPr>
          <p:cNvPr id="16" name="Text 14"/>
          <p:cNvSpPr txBox="1"/>
          <p:nvPr/>
        </p:nvSpPr>
        <p:spPr>
          <a:xfrm>
            <a:off x="4713732" y="3860597"/>
            <a:ext cx="1746504" cy="1746504"/>
          </a:xfrm>
          <a:prstGeom prst="rect">
            <a:avLst/>
          </a:prstGeom>
          <a:noFill/>
          <a:ln/>
        </p:spPr>
        <p:txBody>
          <a:bodyPr wrap="square" lIns="0" tIns="0" rIns="0" bIns="0" rtlCol="0" anchor="ctr"/>
          <a:lstStyle/>
          <a:p>
            <a:pPr algn="ctr" indent="0" marL="0">
              <a:lnSpc>
                <a:spcPct val="105000"/>
              </a:lnSpc>
              <a:buNone/>
            </a:pPr>
            <a:r>
              <a:rPr lang="en-US" sz="1200" spc="100" kern="0" dirty="0">
                <a:solidFill>
                  <a:srgbClr val="1E1E1E"/>
                </a:solidFill>
                <a:latin typeface="Poppins SemiBold" pitchFamily="34" charset="0"/>
                <a:ea typeface="Poppins SemiBold" pitchFamily="34" charset="-122"/>
                <a:cs typeface="Poppins SemiBold" pitchFamily="34" charset="-120"/>
              </a:rPr>
              <a:t>LCC JARAK JAUH</a:t>
            </a:r>
            <a:endParaRPr lang="en-US" sz="1200" dirty="0"/>
          </a:p>
          <a:p>
            <a:pPr algn="ctr" indent="0" marL="0">
              <a:lnSpc>
                <a:spcPct val="105000"/>
              </a:lnSpc>
              <a:buNone/>
            </a:pPr>
            <a:r>
              <a:rPr lang="en-US" sz="1400" dirty="0">
                <a:solidFill>
                  <a:srgbClr val="1E1E1E"/>
                </a:solidFill>
                <a:latin typeface="Poppins" pitchFamily="34" charset="0"/>
                <a:ea typeface="Poppins" pitchFamily="34" charset="-122"/>
                <a:cs typeface="Poppins" pitchFamily="34" charset="-120"/>
              </a:rPr>
              <a:t>AirAsia X</a:t>
            </a:r>
            <a:endParaRPr lang="en-US" sz="1200" dirty="0"/>
          </a:p>
        </p:txBody>
      </p:sp>
      <p:sp>
        <p:nvSpPr>
          <p:cNvPr id="17" name="Shape 15"/>
          <p:cNvSpPr/>
          <p:nvPr/>
        </p:nvSpPr>
        <p:spPr>
          <a:xfrm>
            <a:off x="3671316" y="4733849"/>
            <a:ext cx="886968" cy="0"/>
          </a:xfrm>
          <a:prstGeom prst="line">
            <a:avLst/>
          </a:prstGeom>
          <a:noFill/>
          <a:ln w="25400">
            <a:solidFill>
              <a:srgbClr val="1E1E1E"/>
            </a:solidFill>
            <a:prstDash val="sysDot"/>
          </a:ln>
        </p:spPr>
      </p:sp>
      <p:pic>
        <p:nvPicPr>
          <p:cNvPr id="18" name="Image 0" descr="/home/user/Dom-Manipulation/strategic-management/airasia-case/img/sil_red.png">    </p:cNvPr>
          <p:cNvPicPr>
            <a:picLocks noChangeAspect="1"/>
          </p:cNvPicPr>
          <p:nvPr/>
        </p:nvPicPr>
        <p:blipFill>
          <a:blip r:embed="rId1"/>
          <a:stretch>
            <a:fillRect/>
          </a:stretch>
        </p:blipFill>
        <p:spPr>
          <a:xfrm flipH="1">
            <a:off x="3735324" y="4404665"/>
            <a:ext cx="777240" cy="228722"/>
          </a:xfrm>
          <a:prstGeom prst="rect">
            <a:avLst/>
          </a:prstGeom>
        </p:spPr>
      </p:pic>
      <p:sp>
        <p:nvSpPr>
          <p:cNvPr id="19" name="Text 16"/>
          <p:cNvSpPr txBox="1"/>
          <p:nvPr/>
        </p:nvSpPr>
        <p:spPr>
          <a:xfrm>
            <a:off x="8138160" y="1554480"/>
            <a:ext cx="3474720" cy="21945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AirAsia X pindah kelompok.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Lawannya bukan LCC lain, melainkan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network carriers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mampu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mensubsidi harga ekonomi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dari kelas premium.</a:t>
            </a:r>
            <a:endParaRPr lang="en-US" sz="1400" dirty="0"/>
          </a:p>
        </p:txBody>
      </p:sp>
      <p:sp>
        <p:nvSpPr>
          <p:cNvPr id="20" name="Text 17"/>
          <p:cNvSpPr txBox="1"/>
          <p:nvPr/>
        </p:nvSpPr>
        <p:spPr>
          <a:xfrm>
            <a:off x="8138160" y="3840480"/>
            <a:ext cx="347472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LANGKAH PESAING BERIKUTNYA</a:t>
            </a:r>
            <a:endParaRPr lang="en-US" sz="1200" dirty="0"/>
          </a:p>
        </p:txBody>
      </p:sp>
      <p:sp>
        <p:nvSpPr>
          <p:cNvPr id="21" name="Text 18"/>
          <p:cNvSpPr txBox="1"/>
          <p:nvPr/>
        </p:nvSpPr>
        <p:spPr>
          <a:xfrm>
            <a:off x="8138160" y="4206240"/>
            <a:ext cx="3474720" cy="201168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Emirates dan BA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menurunkan tarif ekonomi di rute yang sama.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MAS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menahan slot dan menekan di domestik. LCC regional lain menyusul ke rute jauh bila AirAsia X terbukti laba.</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2468880" y="2194560"/>
            <a:ext cx="2926080" cy="2926080"/>
          </a:xfrm>
          <a:prstGeom prst="arc">
            <a:avLst>
              <a:gd name="adj1" fmla="val 18000000"/>
              <a:gd name="adj2" fmla="val 3600000"/>
            </a:avLst>
          </a:prstGeom>
          <a:ln w="28575">
            <a:solidFill>
              <a:srgbClr val="1E1E1E"/>
            </a:solidFill>
            <a:prstDash val="sysDot"/>
          </a:ln>
        </p:spPr>
      </p:sp>
      <p:sp>
        <p:nvSpPr>
          <p:cNvPr id="3" name="Text 1"/>
          <p:cNvSpPr txBox="1"/>
          <p:nvPr/>
        </p:nvSpPr>
        <p:spPr>
          <a:xfrm>
            <a:off x="640080" y="548640"/>
            <a:ext cx="4343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COST BENCHMARKING</a:t>
            </a:r>
            <a:endParaRPr lang="en-US" sz="2400" dirty="0"/>
          </a:p>
        </p:txBody>
      </p:sp>
      <p:sp>
        <p:nvSpPr>
          <p:cNvPr id="4" name="Text 2"/>
          <p:cNvSpPr txBox="1"/>
          <p:nvPr/>
        </p:nvSpPr>
        <p:spPr>
          <a:xfrm>
            <a:off x="640080" y="1371600"/>
            <a:ext cx="54864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AIRASIA BERBANDING MALAYSIA AIRLINES, 2008</a:t>
            </a:r>
            <a:endParaRPr lang="en-US" sz="1200" dirty="0"/>
          </a:p>
        </p:txBody>
      </p:sp>
      <p:sp>
        <p:nvSpPr>
          <p:cNvPr id="5" name="Text 3"/>
          <p:cNvSpPr txBox="1"/>
          <p:nvPr/>
        </p:nvSpPr>
        <p:spPr>
          <a:xfrm>
            <a:off x="640080" y="1783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11,66</a:t>
            </a:r>
            <a:endParaRPr lang="en-US" sz="4000" dirty="0"/>
          </a:p>
        </p:txBody>
      </p:sp>
      <p:sp>
        <p:nvSpPr>
          <p:cNvPr id="6" name="Text 4"/>
          <p:cNvSpPr txBox="1"/>
          <p:nvPr/>
        </p:nvSpPr>
        <p:spPr>
          <a:xfrm>
            <a:off x="2331720" y="1965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7" name="Text 5"/>
          <p:cNvSpPr txBox="1"/>
          <p:nvPr/>
        </p:nvSpPr>
        <p:spPr>
          <a:xfrm>
            <a:off x="2743200" y="1783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22,80</a:t>
            </a:r>
            <a:endParaRPr lang="en-US" sz="4000" dirty="0"/>
          </a:p>
        </p:txBody>
      </p:sp>
      <p:sp>
        <p:nvSpPr>
          <p:cNvPr id="8" name="Text 6"/>
          <p:cNvSpPr txBox="1"/>
          <p:nvPr/>
        </p:nvSpPr>
        <p:spPr>
          <a:xfrm>
            <a:off x="640080" y="2423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sen ringgit biaya per ASK (Rp 340 vs Rp 660)</a:t>
            </a:r>
            <a:endParaRPr lang="en-US" sz="1400" dirty="0"/>
          </a:p>
        </p:txBody>
      </p:sp>
      <p:sp>
        <p:nvSpPr>
          <p:cNvPr id="9" name="Text 7"/>
          <p:cNvSpPr txBox="1"/>
          <p:nvPr/>
        </p:nvSpPr>
        <p:spPr>
          <a:xfrm>
            <a:off x="640080" y="2926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14,11</a:t>
            </a:r>
            <a:endParaRPr lang="en-US" sz="4000" dirty="0"/>
          </a:p>
        </p:txBody>
      </p:sp>
      <p:sp>
        <p:nvSpPr>
          <p:cNvPr id="10" name="Text 8"/>
          <p:cNvSpPr txBox="1"/>
          <p:nvPr/>
        </p:nvSpPr>
        <p:spPr>
          <a:xfrm>
            <a:off x="2331720" y="3108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11" name="Text 9"/>
          <p:cNvSpPr txBox="1"/>
          <p:nvPr/>
        </p:nvSpPr>
        <p:spPr>
          <a:xfrm>
            <a:off x="2743200" y="2926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20,60</a:t>
            </a:r>
            <a:endParaRPr lang="en-US" sz="4000" dirty="0"/>
          </a:p>
        </p:txBody>
      </p:sp>
      <p:sp>
        <p:nvSpPr>
          <p:cNvPr id="12" name="Text 10"/>
          <p:cNvSpPr txBox="1"/>
          <p:nvPr/>
        </p:nvSpPr>
        <p:spPr>
          <a:xfrm>
            <a:off x="640080" y="3566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sen ringgit pendapatan per ASK (Rp 410 vs Rp 600)</a:t>
            </a:r>
            <a:endParaRPr lang="en-US" sz="1400" dirty="0"/>
          </a:p>
        </p:txBody>
      </p:sp>
      <p:sp>
        <p:nvSpPr>
          <p:cNvPr id="13" name="Text 11"/>
          <p:cNvSpPr txBox="1"/>
          <p:nvPr/>
        </p:nvSpPr>
        <p:spPr>
          <a:xfrm>
            <a:off x="640080" y="4069080"/>
            <a:ext cx="1737360" cy="640080"/>
          </a:xfrm>
          <a:prstGeom prst="rect">
            <a:avLst/>
          </a:prstGeom>
          <a:noFill/>
          <a:ln/>
        </p:spPr>
        <p:txBody>
          <a:bodyPr wrap="square" lIns="0" tIns="0" rIns="0" bIns="0" rtlCol="0" anchor="ctr"/>
          <a:lstStyle/>
          <a:p>
            <a:pPr algn="l" indent="0" marL="0">
              <a:buNone/>
            </a:pPr>
            <a:r>
              <a:rPr lang="en-US" sz="4000" dirty="0">
                <a:solidFill>
                  <a:srgbClr val="E4002B"/>
                </a:solidFill>
                <a:latin typeface="Poppins SemiBold" pitchFamily="34" charset="0"/>
                <a:ea typeface="Poppins SemiBold" pitchFamily="34" charset="-122"/>
                <a:cs typeface="Poppins SemiBold" pitchFamily="34" charset="-120"/>
              </a:rPr>
              <a:t>11,8</a:t>
            </a:r>
            <a:endParaRPr lang="en-US" sz="4000" dirty="0"/>
          </a:p>
        </p:txBody>
      </p:sp>
      <p:sp>
        <p:nvSpPr>
          <p:cNvPr id="14" name="Text 12"/>
          <p:cNvSpPr txBox="1"/>
          <p:nvPr/>
        </p:nvSpPr>
        <p:spPr>
          <a:xfrm>
            <a:off x="2331720" y="4251960"/>
            <a:ext cx="4572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VS</a:t>
            </a:r>
            <a:endParaRPr lang="en-US" sz="1200" dirty="0"/>
          </a:p>
        </p:txBody>
      </p:sp>
      <p:sp>
        <p:nvSpPr>
          <p:cNvPr id="15" name="Text 13"/>
          <p:cNvSpPr txBox="1"/>
          <p:nvPr/>
        </p:nvSpPr>
        <p:spPr>
          <a:xfrm>
            <a:off x="2743200" y="4069080"/>
            <a:ext cx="1737360" cy="640080"/>
          </a:xfrm>
          <a:prstGeom prst="rect">
            <a:avLst/>
          </a:prstGeom>
          <a:noFill/>
          <a:ln/>
        </p:spPr>
        <p:txBody>
          <a:bodyPr wrap="square" lIns="0" tIns="0" rIns="0" bIns="0" rtlCol="0" anchor="ctr"/>
          <a:lstStyle/>
          <a:p>
            <a:pPr algn="l" indent="0" marL="0">
              <a:buNone/>
            </a:pPr>
            <a:r>
              <a:rPr lang="en-US" sz="4000" dirty="0">
                <a:solidFill>
                  <a:srgbClr val="3B8DBD"/>
                </a:solidFill>
                <a:latin typeface="Poppins SemiBold" pitchFamily="34" charset="0"/>
                <a:ea typeface="Poppins SemiBold" pitchFamily="34" charset="-122"/>
                <a:cs typeface="Poppins SemiBold" pitchFamily="34" charset="-120"/>
              </a:rPr>
              <a:t>11,1</a:t>
            </a:r>
            <a:endParaRPr lang="en-US" sz="4000" dirty="0"/>
          </a:p>
        </p:txBody>
      </p:sp>
      <p:sp>
        <p:nvSpPr>
          <p:cNvPr id="16" name="Text 14"/>
          <p:cNvSpPr txBox="1"/>
          <p:nvPr/>
        </p:nvSpPr>
        <p:spPr>
          <a:xfrm>
            <a:off x="640080" y="4709160"/>
            <a:ext cx="4754880" cy="320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jam utilisasi pesawat per hari</a:t>
            </a:r>
            <a:endParaRPr lang="en-US" sz="1400" dirty="0"/>
          </a:p>
        </p:txBody>
      </p:sp>
      <p:sp>
        <p:nvSpPr>
          <p:cNvPr id="17" name="Text 15"/>
          <p:cNvSpPr txBox="1"/>
          <p:nvPr/>
        </p:nvSpPr>
        <p:spPr>
          <a:xfrm>
            <a:off x="640080" y="5212080"/>
            <a:ext cx="4937760" cy="118872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Separuh biaya MAS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dengan tenaga kerja yang jauh lebih ramping. Rugi 2008 bukan dari operasi, melainkan dari pelepasan kontrak berjangka bahan bakar.</a:t>
            </a:r>
            <a:endParaRPr lang="en-US" sz="1400" dirty="0"/>
          </a:p>
        </p:txBody>
      </p:sp>
      <p:sp>
        <p:nvSpPr>
          <p:cNvPr id="18" name="Shape 16"/>
          <p:cNvSpPr/>
          <p:nvPr/>
        </p:nvSpPr>
        <p:spPr>
          <a:xfrm>
            <a:off x="6309360" y="1051560"/>
            <a:ext cx="4937760" cy="4937760"/>
          </a:xfrm>
          <a:prstGeom prst="ellipse">
            <a:avLst/>
          </a:prstGeom>
          <a:solidFill>
            <a:srgbClr val="FAD354"/>
          </a:solidFill>
          <a:ln w="12700">
            <a:solidFill>
              <a:srgbClr val="FAD354"/>
            </a:solidFill>
            <a:prstDash val="solid"/>
          </a:ln>
        </p:spPr>
      </p:sp>
      <p:sp>
        <p:nvSpPr>
          <p:cNvPr id="19" name="Text 17"/>
          <p:cNvSpPr txBox="1"/>
          <p:nvPr/>
        </p:nvSpPr>
        <p:spPr>
          <a:xfrm>
            <a:off x="6675120" y="1600200"/>
            <a:ext cx="329184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49 vs 175</a:t>
            </a:r>
            <a:endParaRPr lang="en-US" sz="4000" dirty="0"/>
          </a:p>
        </p:txBody>
      </p:sp>
      <p:sp>
        <p:nvSpPr>
          <p:cNvPr id="20" name="Text 18"/>
          <p:cNvSpPr txBox="1"/>
          <p:nvPr/>
        </p:nvSpPr>
        <p:spPr>
          <a:xfrm>
            <a:off x="6675120" y="2286000"/>
            <a:ext cx="3291840" cy="3200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karyawan per pesawat</a:t>
            </a:r>
            <a:endParaRPr lang="en-US" sz="1400" dirty="0"/>
          </a:p>
        </p:txBody>
      </p:sp>
      <p:sp>
        <p:nvSpPr>
          <p:cNvPr id="21" name="Text 19"/>
          <p:cNvSpPr txBox="1"/>
          <p:nvPr/>
        </p:nvSpPr>
        <p:spPr>
          <a:xfrm>
            <a:off x="6675120" y="2834640"/>
            <a:ext cx="4023360" cy="64008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75% vs 67,8%</a:t>
            </a:r>
            <a:endParaRPr lang="en-US" sz="4000" dirty="0"/>
          </a:p>
        </p:txBody>
      </p:sp>
      <p:sp>
        <p:nvSpPr>
          <p:cNvPr id="22" name="Text 20"/>
          <p:cNvSpPr txBox="1"/>
          <p:nvPr/>
        </p:nvSpPr>
        <p:spPr>
          <a:xfrm>
            <a:off x="6675120" y="3520440"/>
            <a:ext cx="3291840" cy="3200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2008</a:t>
            </a:r>
            <a:endParaRPr lang="en-US" sz="1400" dirty="0"/>
          </a:p>
        </p:txBody>
      </p:sp>
      <p:pic>
        <p:nvPicPr>
          <p:cNvPr id="23" name="Image 0" descr="/home/user/Dom-Manipulation/strategic-management/airasia-case/img/aa_crew.png">    </p:cNvPr>
          <p:cNvPicPr>
            <a:picLocks noChangeAspect="1"/>
          </p:cNvPicPr>
          <p:nvPr/>
        </p:nvPicPr>
        <p:blipFill>
          <a:blip r:embed="rId1"/>
          <a:stretch>
            <a:fillRect/>
          </a:stretch>
        </p:blipFill>
        <p:spPr>
          <a:xfrm>
            <a:off x="8286733" y="3931920"/>
            <a:ext cx="3269015" cy="29260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2743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SOURCES OF</a:t>
            </a:r>
            <a:endParaRPr lang="en-US" sz="2400" dirty="0"/>
          </a:p>
        </p:txBody>
      </p:sp>
      <p:sp>
        <p:nvSpPr>
          <p:cNvPr id="3" name="Text 1"/>
          <p:cNvSpPr txBox="1"/>
          <p:nvPr/>
        </p:nvSpPr>
        <p:spPr>
          <a:xfrm>
            <a:off x="640080" y="1152144"/>
            <a:ext cx="36576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COST ADVANTAGE</a:t>
            </a:r>
            <a:endParaRPr lang="en-US" sz="2400" dirty="0"/>
          </a:p>
        </p:txBody>
      </p:sp>
      <p:sp>
        <p:nvSpPr>
          <p:cNvPr id="4" name="Text 2"/>
          <p:cNvSpPr txBox="1"/>
          <p:nvPr/>
        </p:nvSpPr>
        <p:spPr>
          <a:xfrm>
            <a:off x="640080" y="2057400"/>
            <a:ext cx="4114800" cy="3108960"/>
          </a:xfrm>
          <a:prstGeom prst="rect">
            <a:avLst/>
          </a:prstGeom>
          <a:noFill/>
          <a:ln/>
        </p:spPr>
        <p:txBody>
          <a:bodyPr wrap="square" lIns="0" tIns="0" rIns="0" bIns="0" rtlCol="0" anchor="t"/>
          <a:lstStyle/>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Operasi ala Ryanair.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Satu tipe pesawat (A320), satu kelas, no frills, titik ke titik, turnaround 25 menit.</a:t>
            </a:r>
            <a:endParaRPr lang="en-US" sz="1400" dirty="0"/>
          </a:p>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SDM ala Southwest.</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Karyawan multi-skill, insentif produktivitas, budaya tanpa hierarki.</a:t>
            </a:r>
            <a:endParaRPr lang="en-US" sz="1400" dirty="0"/>
          </a:p>
          <a:p>
            <a:pPr algn="l" indent="0" marL="0">
              <a:lnSpc>
                <a:spcPct val="120000"/>
              </a:lnSpc>
              <a:spcAft>
                <a:spcPts val="800"/>
              </a:spcAft>
              <a:buNone/>
            </a:pPr>
            <a:r>
              <a:rPr lang="en-US" sz="1400" b="1" dirty="0">
                <a:solidFill>
                  <a:srgbClr val="2A2A2A"/>
                </a:solidFill>
                <a:latin typeface="Poppins" pitchFamily="34" charset="0"/>
                <a:ea typeface="Poppins" pitchFamily="34" charset="-122"/>
                <a:cs typeface="Poppins" pitchFamily="34" charset="-120"/>
              </a:rPr>
              <a:t>Merek ala easyJet.</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Iklan kontra-siklus, co-branding, sponsorship, distribusi langsung dan IT.</a:t>
            </a:r>
            <a:endParaRPr lang="en-US" sz="1400" dirty="0"/>
          </a:p>
        </p:txBody>
      </p:sp>
      <p:sp>
        <p:nvSpPr>
          <p:cNvPr id="5" name="Text 3"/>
          <p:cNvSpPr txBox="1"/>
          <p:nvPr/>
        </p:nvSpPr>
        <p:spPr>
          <a:xfrm>
            <a:off x="640080" y="5212080"/>
            <a:ext cx="4114800" cy="11887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Ketiganya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saling menopang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sebuah sistem, bukan satu kebijakan tunggal. Sulit ditiru, tetapi juga sulit dipindahkan sebagian.</a:t>
            </a:r>
            <a:endParaRPr lang="en-US" sz="1400" dirty="0"/>
          </a:p>
        </p:txBody>
      </p:sp>
      <p:sp>
        <p:nvSpPr>
          <p:cNvPr id="6" name="Shape 4"/>
          <p:cNvSpPr/>
          <p:nvPr/>
        </p:nvSpPr>
        <p:spPr>
          <a:xfrm>
            <a:off x="9646920" y="3977640"/>
            <a:ext cx="73152" cy="2194560"/>
          </a:xfrm>
          <a:prstGeom prst="rect">
            <a:avLst/>
          </a:prstGeom>
          <a:solidFill>
            <a:srgbClr val="E4002B"/>
          </a:solidFill>
          <a:ln w="12700">
            <a:solidFill>
              <a:srgbClr val="E4002B"/>
            </a:solidFill>
            <a:prstDash val="solid"/>
          </a:ln>
        </p:spPr>
      </p:sp>
      <p:sp>
        <p:nvSpPr>
          <p:cNvPr id="7" name="Shape 5"/>
          <p:cNvSpPr/>
          <p:nvPr/>
        </p:nvSpPr>
        <p:spPr>
          <a:xfrm>
            <a:off x="9646920" y="6099048"/>
            <a:ext cx="2651760" cy="73152"/>
          </a:xfrm>
          <a:prstGeom prst="rect">
            <a:avLst/>
          </a:prstGeom>
          <a:solidFill>
            <a:srgbClr val="E4002B"/>
          </a:solidFill>
          <a:ln w="12700">
            <a:solidFill>
              <a:srgbClr val="E4002B"/>
            </a:solidFill>
            <a:prstDash val="solid"/>
          </a:ln>
        </p:spPr>
      </p:sp>
      <p:sp>
        <p:nvSpPr>
          <p:cNvPr id="8" name="Shape 6"/>
          <p:cNvSpPr/>
          <p:nvPr/>
        </p:nvSpPr>
        <p:spPr>
          <a:xfrm>
            <a:off x="5120640" y="2514600"/>
            <a:ext cx="2514600" cy="3246120"/>
          </a:xfrm>
          <a:prstGeom prst="rect">
            <a:avLst/>
          </a:prstGeom>
          <a:solidFill>
            <a:srgbClr val="FFFFFF"/>
          </a:solidFill>
          <a:ln w="12700">
            <a:solidFill>
              <a:srgbClr val="FFFFFF"/>
            </a:solidFill>
            <a:prstDash val="solid"/>
          </a:ln>
        </p:spPr>
      </p:sp>
      <p:pic>
        <p:nvPicPr>
          <p:cNvPr id="9" name="Image 0" descr="/home/user/Dom-Manipulation/strategic-management/airasia-case/img/crops/bw_hangar_2.45x2.85_0.5-0.5.jpg">    </p:cNvPr>
          <p:cNvPicPr>
            <a:picLocks noChangeAspect="1"/>
          </p:cNvPicPr>
          <p:nvPr/>
        </p:nvPicPr>
        <p:blipFill>
          <a:blip r:embed="rId1"/>
          <a:stretch>
            <a:fillRect/>
          </a:stretch>
        </p:blipFill>
        <p:spPr>
          <a:xfrm>
            <a:off x="5257800" y="2651760"/>
            <a:ext cx="2240280" cy="2606040"/>
          </a:xfrm>
          <a:prstGeom prst="rect">
            <a:avLst/>
          </a:prstGeom>
        </p:spPr>
      </p:pic>
      <p:sp>
        <p:nvSpPr>
          <p:cNvPr id="10" name="Text 7"/>
          <p:cNvSpPr txBox="1"/>
          <p:nvPr/>
        </p:nvSpPr>
        <p:spPr>
          <a:xfrm>
            <a:off x="5257800" y="5321808"/>
            <a:ext cx="219456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OPERASI</a:t>
            </a:r>
            <a:endParaRPr lang="en-US" sz="1200" dirty="0"/>
          </a:p>
        </p:txBody>
      </p:sp>
      <p:sp>
        <p:nvSpPr>
          <p:cNvPr id="11" name="Shape 8"/>
          <p:cNvSpPr/>
          <p:nvPr/>
        </p:nvSpPr>
        <p:spPr>
          <a:xfrm>
            <a:off x="7086600" y="1463040"/>
            <a:ext cx="2834640" cy="3840480"/>
          </a:xfrm>
          <a:prstGeom prst="rect">
            <a:avLst/>
          </a:prstGeom>
          <a:solidFill>
            <a:srgbClr val="FFFFFF"/>
          </a:solidFill>
          <a:ln w="12700">
            <a:solidFill>
              <a:srgbClr val="FFFFFF"/>
            </a:solidFill>
            <a:prstDash val="solid"/>
          </a:ln>
        </p:spPr>
      </p:sp>
      <p:sp>
        <p:nvSpPr>
          <p:cNvPr id="12" name="Shape 9"/>
          <p:cNvSpPr/>
          <p:nvPr/>
        </p:nvSpPr>
        <p:spPr>
          <a:xfrm>
            <a:off x="7223760" y="1600200"/>
            <a:ext cx="2560320" cy="3154680"/>
          </a:xfrm>
          <a:prstGeom prst="rect">
            <a:avLst/>
          </a:prstGeom>
          <a:solidFill>
            <a:srgbClr val="FAD354"/>
          </a:solidFill>
          <a:ln w="12700">
            <a:solidFill>
              <a:srgbClr val="FAD354"/>
            </a:solidFill>
            <a:prstDash val="solid"/>
          </a:ln>
        </p:spPr>
      </p:sp>
      <p:pic>
        <p:nvPicPr>
          <p:cNvPr id="13" name="Image 1" descr="/home/user/Dom-Manipulation/strategic-management/airasia-case/img/aa_crew.png">    </p:cNvPr>
          <p:cNvPicPr>
            <a:picLocks noChangeAspect="1"/>
          </p:cNvPicPr>
          <p:nvPr/>
        </p:nvPicPr>
        <p:blipFill>
          <a:blip r:embed="rId2"/>
          <a:stretch>
            <a:fillRect/>
          </a:stretch>
        </p:blipFill>
        <p:spPr>
          <a:xfrm>
            <a:off x="7269480" y="2499277"/>
            <a:ext cx="2468880" cy="2209883"/>
          </a:xfrm>
          <a:prstGeom prst="rect">
            <a:avLst/>
          </a:prstGeom>
        </p:spPr>
      </p:pic>
      <p:sp>
        <p:nvSpPr>
          <p:cNvPr id="14" name="Text 10"/>
          <p:cNvSpPr txBox="1"/>
          <p:nvPr/>
        </p:nvSpPr>
        <p:spPr>
          <a:xfrm>
            <a:off x="7223760" y="4864608"/>
            <a:ext cx="228600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SDM</a:t>
            </a:r>
            <a:endParaRPr lang="en-US" sz="1200" dirty="0"/>
          </a:p>
        </p:txBody>
      </p:sp>
      <p:sp>
        <p:nvSpPr>
          <p:cNvPr id="15" name="Shape 11"/>
          <p:cNvSpPr/>
          <p:nvPr/>
        </p:nvSpPr>
        <p:spPr>
          <a:xfrm>
            <a:off x="9555480" y="960120"/>
            <a:ext cx="2286000" cy="3108960"/>
          </a:xfrm>
          <a:prstGeom prst="rect">
            <a:avLst/>
          </a:prstGeom>
          <a:solidFill>
            <a:srgbClr val="FFFFFF"/>
          </a:solidFill>
          <a:ln w="12700">
            <a:solidFill>
              <a:srgbClr val="FFFFFF"/>
            </a:solidFill>
            <a:prstDash val="solid"/>
          </a:ln>
        </p:spPr>
      </p:sp>
      <p:sp>
        <p:nvSpPr>
          <p:cNvPr id="16" name="Shape 12"/>
          <p:cNvSpPr/>
          <p:nvPr/>
        </p:nvSpPr>
        <p:spPr>
          <a:xfrm>
            <a:off x="9692640" y="1097280"/>
            <a:ext cx="2011680" cy="2468880"/>
          </a:xfrm>
          <a:prstGeom prst="rect">
            <a:avLst/>
          </a:prstGeom>
          <a:solidFill>
            <a:srgbClr val="E4002B"/>
          </a:solidFill>
          <a:ln w="12700">
            <a:solidFill>
              <a:srgbClr val="E4002B"/>
            </a:solidFill>
            <a:prstDash val="solid"/>
          </a:ln>
        </p:spPr>
      </p:sp>
      <p:pic>
        <p:nvPicPr>
          <p:cNvPr id="17" name="Image 2" descr="/home/user/Dom-Manipulation/strategic-management/airasia-case/img/aa_a320.png">    </p:cNvPr>
          <p:cNvPicPr>
            <a:picLocks noChangeAspect="1"/>
          </p:cNvPicPr>
          <p:nvPr/>
        </p:nvPicPr>
        <p:blipFill>
          <a:blip r:embed="rId3"/>
          <a:stretch>
            <a:fillRect/>
          </a:stretch>
        </p:blipFill>
        <p:spPr>
          <a:xfrm>
            <a:off x="9372600" y="1928093"/>
            <a:ext cx="2743200" cy="807253"/>
          </a:xfrm>
          <a:prstGeom prst="rect">
            <a:avLst/>
          </a:prstGeom>
        </p:spPr>
      </p:pic>
      <p:sp>
        <p:nvSpPr>
          <p:cNvPr id="18" name="Text 13"/>
          <p:cNvSpPr txBox="1"/>
          <p:nvPr/>
        </p:nvSpPr>
        <p:spPr>
          <a:xfrm>
            <a:off x="9692640" y="3630168"/>
            <a:ext cx="21031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MEREK</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640080" y="822960"/>
            <a:ext cx="2103120" cy="2103120"/>
          </a:xfrm>
          <a:prstGeom prst="pie">
            <a:avLst>
              <a:gd name="adj1" fmla="val 10800000"/>
              <a:gd name="adj2" fmla="val 21600000"/>
            </a:avLst>
          </a:prstGeom>
          <a:solidFill>
            <a:srgbClr val="1E1E1E"/>
          </a:solidFill>
          <a:ln w="12700">
            <a:solidFill>
              <a:srgbClr val="1E1E1E"/>
            </a:solidFill>
            <a:prstDash val="solid"/>
          </a:ln>
        </p:spPr>
      </p:sp>
      <p:sp>
        <p:nvSpPr>
          <p:cNvPr id="3" name="Shape 1"/>
          <p:cNvSpPr/>
          <p:nvPr/>
        </p:nvSpPr>
        <p:spPr>
          <a:xfrm>
            <a:off x="640080" y="1874520"/>
            <a:ext cx="1051560" cy="2194560"/>
          </a:xfrm>
          <a:prstGeom prst="rect">
            <a:avLst/>
          </a:prstGeom>
          <a:solidFill>
            <a:srgbClr val="1E1E1E"/>
          </a:solidFill>
          <a:ln w="12700">
            <a:solidFill>
              <a:srgbClr val="1E1E1E"/>
            </a:solidFill>
            <a:prstDash val="solid"/>
          </a:ln>
        </p:spPr>
      </p:sp>
      <p:sp>
        <p:nvSpPr>
          <p:cNvPr id="4" name="Shape 2"/>
          <p:cNvSpPr/>
          <p:nvPr/>
        </p:nvSpPr>
        <p:spPr>
          <a:xfrm>
            <a:off x="1691640" y="1600200"/>
            <a:ext cx="1554480" cy="1554480"/>
          </a:xfrm>
          <a:prstGeom prst="pie">
            <a:avLst>
              <a:gd name="adj1" fmla="val 10800000"/>
              <a:gd name="adj2" fmla="val 21600000"/>
            </a:avLst>
          </a:prstGeom>
          <a:solidFill>
            <a:srgbClr val="E4002B"/>
          </a:solidFill>
          <a:ln w="12700">
            <a:solidFill>
              <a:srgbClr val="E4002B"/>
            </a:solidFill>
            <a:prstDash val="solid"/>
          </a:ln>
        </p:spPr>
      </p:sp>
      <p:sp>
        <p:nvSpPr>
          <p:cNvPr id="5" name="Shape 3"/>
          <p:cNvSpPr/>
          <p:nvPr/>
        </p:nvSpPr>
        <p:spPr>
          <a:xfrm>
            <a:off x="1691640" y="2377440"/>
            <a:ext cx="777240" cy="1691640"/>
          </a:xfrm>
          <a:prstGeom prst="rect">
            <a:avLst/>
          </a:prstGeom>
          <a:solidFill>
            <a:srgbClr val="E4002B"/>
          </a:solidFill>
          <a:ln w="12700">
            <a:solidFill>
              <a:srgbClr val="E4002B"/>
            </a:solidFill>
            <a:prstDash val="solid"/>
          </a:ln>
        </p:spPr>
      </p:sp>
      <p:sp>
        <p:nvSpPr>
          <p:cNvPr id="6" name="Shape 4"/>
          <p:cNvSpPr/>
          <p:nvPr/>
        </p:nvSpPr>
        <p:spPr>
          <a:xfrm>
            <a:off x="2468880" y="2286000"/>
            <a:ext cx="1097280" cy="1097280"/>
          </a:xfrm>
          <a:prstGeom prst="pie">
            <a:avLst>
              <a:gd name="adj1" fmla="val 10800000"/>
              <a:gd name="adj2" fmla="val 21600000"/>
            </a:avLst>
          </a:prstGeom>
          <a:solidFill>
            <a:srgbClr val="FAD354"/>
          </a:solidFill>
          <a:ln w="12700">
            <a:solidFill>
              <a:srgbClr val="FAD354"/>
            </a:solidFill>
            <a:prstDash val="solid"/>
          </a:ln>
        </p:spPr>
      </p:sp>
      <p:sp>
        <p:nvSpPr>
          <p:cNvPr id="7" name="Shape 5"/>
          <p:cNvSpPr/>
          <p:nvPr/>
        </p:nvSpPr>
        <p:spPr>
          <a:xfrm>
            <a:off x="2468880" y="2834640"/>
            <a:ext cx="548640" cy="1234440"/>
          </a:xfrm>
          <a:prstGeom prst="rect">
            <a:avLst/>
          </a:prstGeom>
          <a:solidFill>
            <a:srgbClr val="FAD354"/>
          </a:solidFill>
          <a:ln w="12700">
            <a:solidFill>
              <a:srgbClr val="FAD354"/>
            </a:solidFill>
            <a:prstDash val="solid"/>
          </a:ln>
        </p:spPr>
      </p:sp>
      <p:sp>
        <p:nvSpPr>
          <p:cNvPr id="8" name="Shape 6"/>
          <p:cNvSpPr/>
          <p:nvPr/>
        </p:nvSpPr>
        <p:spPr>
          <a:xfrm>
            <a:off x="640080" y="4069080"/>
            <a:ext cx="2926080" cy="45720"/>
          </a:xfrm>
          <a:prstGeom prst="rect">
            <a:avLst/>
          </a:prstGeom>
          <a:solidFill>
            <a:srgbClr val="1E1E1E"/>
          </a:solidFill>
          <a:ln w="12700">
            <a:solidFill>
              <a:srgbClr val="1E1E1E"/>
            </a:solidFill>
            <a:prstDash val="solid"/>
          </a:ln>
        </p:spPr>
      </p:sp>
      <p:pic>
        <p:nvPicPr>
          <p:cNvPr id="9" name="Image 0" descr="/home/user/Dom-Manipulation/strategic-management/airasia-case/img/aa_pair.png">    </p:cNvPr>
          <p:cNvPicPr>
            <a:picLocks noChangeAspect="1"/>
          </p:cNvPicPr>
          <p:nvPr/>
        </p:nvPicPr>
        <p:blipFill>
          <a:blip r:embed="rId1"/>
          <a:stretch>
            <a:fillRect/>
          </a:stretch>
        </p:blipFill>
        <p:spPr>
          <a:xfrm>
            <a:off x="274320" y="5393497"/>
            <a:ext cx="5852160" cy="1281623"/>
          </a:xfrm>
          <a:prstGeom prst="rect">
            <a:avLst/>
          </a:prstGeom>
        </p:spPr>
      </p:pic>
      <p:sp>
        <p:nvSpPr>
          <p:cNvPr id="10" name="Text 7"/>
          <p:cNvSpPr txBox="1"/>
          <p:nvPr/>
        </p:nvSpPr>
        <p:spPr>
          <a:xfrm>
            <a:off x="6309360" y="548640"/>
            <a:ext cx="5029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TRANSFERABILITY TEST</a:t>
            </a:r>
            <a:endParaRPr lang="en-US" sz="2400" dirty="0"/>
          </a:p>
        </p:txBody>
      </p:sp>
      <p:sp>
        <p:nvSpPr>
          <p:cNvPr id="11" name="Text 8"/>
          <p:cNvSpPr txBox="1"/>
          <p:nvPr/>
        </p:nvSpPr>
        <p:spPr>
          <a:xfrm>
            <a:off x="6309360" y="1417320"/>
            <a:ext cx="2743200" cy="292608"/>
          </a:xfrm>
          <a:prstGeom prst="rect">
            <a:avLst/>
          </a:prstGeom>
          <a:noFill/>
          <a:ln/>
        </p:spPr>
        <p:txBody>
          <a:bodyPr wrap="square" lIns="0" tIns="0" rIns="0" bIns="0" rtlCol="0" anchor="ctr"/>
          <a:lstStyle/>
          <a:p>
            <a:pPr algn="l" indent="0" marL="0">
              <a:buNone/>
            </a:pPr>
            <a:r>
              <a:rPr lang="en-US" sz="1200" spc="150" kern="0" dirty="0">
                <a:solidFill>
                  <a:srgbClr val="3B8DBD"/>
                </a:solidFill>
                <a:latin typeface="Poppins SemiBold" pitchFamily="34" charset="0"/>
                <a:ea typeface="Poppins SemiBold" pitchFamily="34" charset="-122"/>
                <a:cs typeface="Poppins SemiBold" pitchFamily="34" charset="-120"/>
              </a:rPr>
              <a:t>IKUT TERBAWA</a:t>
            </a:r>
            <a:endParaRPr lang="en-US" sz="1200" dirty="0"/>
          </a:p>
        </p:txBody>
      </p:sp>
      <p:sp>
        <p:nvSpPr>
          <p:cNvPr id="12" name="Text 9"/>
          <p:cNvSpPr txBox="1"/>
          <p:nvPr/>
        </p:nvSpPr>
        <p:spPr>
          <a:xfrm>
            <a:off x="6309360" y="1783080"/>
            <a:ext cx="2651760" cy="3108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Merek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reputasi</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Distribusi langsung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IT</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SDM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budaya biaya</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Bandara sekunder (Stansted)</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Outsourcing perawatan</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Pesawat hemat BBM (sebagian)</a:t>
            </a:r>
            <a:endParaRPr lang="en-US" sz="1400" dirty="0"/>
          </a:p>
        </p:txBody>
      </p:sp>
      <p:sp>
        <p:nvSpPr>
          <p:cNvPr id="13" name="Text 10"/>
          <p:cNvSpPr txBox="1"/>
          <p:nvPr/>
        </p:nvSpPr>
        <p:spPr>
          <a:xfrm>
            <a:off x="9098280" y="1417320"/>
            <a:ext cx="2743200" cy="292608"/>
          </a:xfrm>
          <a:prstGeom prst="rect">
            <a:avLst/>
          </a:prstGeom>
          <a:noFill/>
          <a:ln/>
        </p:spPr>
        <p:txBody>
          <a:bodyPr wrap="square" lIns="0" tIns="0" rIns="0" bIns="0" rtlCol="0" anchor="ctr"/>
          <a:lstStyle/>
          <a:p>
            <a:pPr algn="l" indent="0" marL="0">
              <a:buNone/>
            </a:pPr>
            <a:r>
              <a:rPr lang="en-US" sz="1200" spc="150" kern="0" dirty="0">
                <a:solidFill>
                  <a:srgbClr val="E4002B"/>
                </a:solidFill>
                <a:latin typeface="Poppins SemiBold" pitchFamily="34" charset="0"/>
                <a:ea typeface="Poppins SemiBold" pitchFamily="34" charset="-122"/>
                <a:cs typeface="Poppins SemiBold" pitchFamily="34" charset="-120"/>
              </a:rPr>
              <a:t>TIDAK TERBAWA</a:t>
            </a:r>
            <a:endParaRPr lang="en-US" sz="1200" dirty="0"/>
          </a:p>
        </p:txBody>
      </p:sp>
      <p:sp>
        <p:nvSpPr>
          <p:cNvPr id="14" name="Text 11"/>
          <p:cNvSpPr txBox="1"/>
          <p:nvPr/>
        </p:nvSpPr>
        <p:spPr>
          <a:xfrm>
            <a:off x="9098280" y="1783080"/>
            <a:ext cx="2560320" cy="23774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Satu tipe pesawat</a:t>
            </a:r>
            <a:endParaRPr lang="en-US" sz="1400" dirty="0"/>
          </a:p>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Turnaround 25 menit</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Satu kelas tanpa layanan</a:t>
            </a:r>
            <a:endParaRPr lang="en-US" sz="1400" dirty="0"/>
          </a:p>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Jaringan titik ke titik</a:t>
            </a:r>
            <a:endParaRPr lang="en-US" sz="1400" dirty="0"/>
          </a:p>
        </p:txBody>
      </p:sp>
      <p:sp>
        <p:nvSpPr>
          <p:cNvPr id="15" name="Text 12"/>
          <p:cNvSpPr txBox="1"/>
          <p:nvPr/>
        </p:nvSpPr>
        <p:spPr>
          <a:xfrm>
            <a:off x="6309360" y="5029200"/>
            <a:ext cx="52120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Yang hilang justru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inti model LCC klasik</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terbawa bersifat organisasional: merek, sistem, dan orang.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E4D0"/>
        </a:solidFill>
      </p:bgPr>
    </p:bg>
    <p:spTree>
      <p:nvGrpSpPr>
        <p:cNvPr id="1" name=""/>
        <p:cNvGrpSpPr/>
        <p:nvPr/>
      </p:nvGrpSpPr>
      <p:grpSpPr>
        <a:xfrm>
          <a:off x="0" y="0"/>
          <a:ext cx="0" cy="0"/>
          <a:chOff x="0" y="0"/>
          <a:chExt cx="0" cy="0"/>
        </a:xfrm>
      </p:grpSpPr>
      <p:pic>
        <p:nvPicPr>
          <p:cNvPr id="2" name="Image 0" descr="/home/user/Dom-Manipulation/strategic-management/airasia-case/img/crops/aa_london_7.90x7.50_0.5-0.5.jpg">    </p:cNvPr>
          <p:cNvPicPr>
            <a:picLocks noChangeAspect="1"/>
          </p:cNvPicPr>
          <p:nvPr/>
        </p:nvPicPr>
        <p:blipFill>
          <a:blip r:embed="rId1"/>
          <a:stretch>
            <a:fillRect/>
          </a:stretch>
        </p:blipFill>
        <p:spPr>
          <a:xfrm>
            <a:off x="0" y="0"/>
            <a:ext cx="7223760" cy="6858000"/>
          </a:xfrm>
          <a:prstGeom prst="rect">
            <a:avLst/>
          </a:prstGeom>
        </p:spPr>
      </p:pic>
      <p:sp>
        <p:nvSpPr>
          <p:cNvPr id="3" name="Shape 0"/>
          <p:cNvSpPr/>
          <p:nvPr/>
        </p:nvSpPr>
        <p:spPr>
          <a:xfrm>
            <a:off x="3749040" y="548640"/>
            <a:ext cx="2834640" cy="2834640"/>
          </a:xfrm>
          <a:prstGeom prst="ellipse">
            <a:avLst/>
          </a:prstGeom>
          <a:solidFill>
            <a:srgbClr val="FAD354"/>
          </a:solidFill>
          <a:ln w="12700">
            <a:solidFill>
              <a:srgbClr val="FAD354"/>
            </a:solidFill>
            <a:prstDash val="solid"/>
          </a:ln>
        </p:spPr>
      </p:sp>
      <p:sp>
        <p:nvSpPr>
          <p:cNvPr id="4" name="Shape 1"/>
          <p:cNvSpPr/>
          <p:nvPr/>
        </p:nvSpPr>
        <p:spPr>
          <a:xfrm>
            <a:off x="822960" y="1280160"/>
            <a:ext cx="2651760" cy="2651760"/>
          </a:xfrm>
          <a:prstGeom prst="pie">
            <a:avLst>
              <a:gd name="adj1" fmla="val 10800000"/>
              <a:gd name="adj2" fmla="val 21600000"/>
            </a:avLst>
          </a:prstGeom>
          <a:solidFill>
            <a:srgbClr val="E4002B"/>
          </a:solidFill>
          <a:ln w="12700">
            <a:solidFill>
              <a:srgbClr val="E4002B"/>
            </a:solidFill>
            <a:prstDash val="solid"/>
          </a:ln>
        </p:spPr>
      </p:sp>
      <p:sp>
        <p:nvSpPr>
          <p:cNvPr id="5" name="Text 2"/>
          <p:cNvSpPr txBox="1"/>
          <p:nvPr/>
        </p:nvSpPr>
        <p:spPr>
          <a:xfrm>
            <a:off x="1051560" y="1234440"/>
            <a:ext cx="2743200" cy="73152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36,5%</a:t>
            </a:r>
            <a:endParaRPr lang="en-US" sz="4000" dirty="0"/>
          </a:p>
        </p:txBody>
      </p:sp>
      <p:sp>
        <p:nvSpPr>
          <p:cNvPr id="6" name="Text 3"/>
          <p:cNvSpPr txBox="1"/>
          <p:nvPr/>
        </p:nvSpPr>
        <p:spPr>
          <a:xfrm>
            <a:off x="4160520" y="960120"/>
            <a:ext cx="2560320" cy="731520"/>
          </a:xfrm>
          <a:prstGeom prst="rect">
            <a:avLst/>
          </a:prstGeom>
          <a:noFill/>
          <a:ln/>
        </p:spPr>
        <p:txBody>
          <a:bodyPr wrap="square" lIns="0" tIns="0" rIns="0" bIns="0" rtlCol="0" anchor="ctr"/>
          <a:lstStyle/>
          <a:p>
            <a:pPr algn="l" indent="0" marL="0">
              <a:buNone/>
            </a:pPr>
            <a:r>
              <a:rPr lang="en-US" sz="4000" dirty="0">
                <a:solidFill>
                  <a:srgbClr val="1E1E1E"/>
                </a:solidFill>
                <a:latin typeface="Poppins SemiBold" pitchFamily="34" charset="0"/>
                <a:ea typeface="Poppins SemiBold" pitchFamily="34" charset="-122"/>
                <a:cs typeface="Poppins SemiBold" pitchFamily="34" charset="-120"/>
              </a:rPr>
              <a:t>&gt; 90%</a:t>
            </a:r>
            <a:endParaRPr lang="en-US" sz="4000" dirty="0"/>
          </a:p>
        </p:txBody>
      </p:sp>
      <p:sp>
        <p:nvSpPr>
          <p:cNvPr id="7" name="Text 4"/>
          <p:cNvSpPr txBox="1"/>
          <p:nvPr/>
        </p:nvSpPr>
        <p:spPr>
          <a:xfrm>
            <a:off x="1051560" y="2011680"/>
            <a:ext cx="2377440" cy="457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1E1E1E"/>
                </a:solidFill>
                <a:latin typeface="Poppins" pitchFamily="34" charset="0"/>
                <a:ea typeface="Poppins" pitchFamily="34" charset="-122"/>
                <a:cs typeface="Poppins" pitchFamily="34" charset="-120"/>
              </a:rPr>
              <a:t>lebih murah</a:t>
            </a:r>
            <a:pPr algn="l" indent="0" marL="0">
              <a:lnSpc>
                <a:spcPct val="120000"/>
              </a:lnSpc>
              <a:spcAft>
                <a:spcPts val="600"/>
              </a:spcAft>
              <a:buNone/>
            </a:pPr>
            <a:r>
              <a:rPr lang="en-US" sz="1400" dirty="0">
                <a:solidFill>
                  <a:srgbClr val="1E1E1E"/>
                </a:solidFill>
                <a:latin typeface="Poppins" pitchFamily="34" charset="0"/>
                <a:ea typeface="Poppins" pitchFamily="34" charset="-122"/>
                <a:cs typeface="Poppins" pitchFamily="34" charset="-120"/>
              </a:rPr>
              <a:t> dari pesaing</a:t>
            </a:r>
            <a:endParaRPr lang="en-US" sz="1400" dirty="0"/>
          </a:p>
        </p:txBody>
      </p:sp>
      <p:sp>
        <p:nvSpPr>
          <p:cNvPr id="8" name="Text 5"/>
          <p:cNvSpPr txBox="1"/>
          <p:nvPr/>
        </p:nvSpPr>
        <p:spPr>
          <a:xfrm>
            <a:off x="4160520" y="1737360"/>
            <a:ext cx="2194560" cy="45720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1E1E1E"/>
                </a:solidFill>
                <a:latin typeface="Poppins" pitchFamily="34" charset="0"/>
                <a:ea typeface="Poppins" pitchFamily="34" charset="-122"/>
                <a:cs typeface="Poppins" pitchFamily="34" charset="-120"/>
              </a:rPr>
              <a:t>load factor</a:t>
            </a:r>
            <a:pPr algn="l" indent="0" marL="0">
              <a:lnSpc>
                <a:spcPct val="120000"/>
              </a:lnSpc>
              <a:spcAft>
                <a:spcPts val="600"/>
              </a:spcAft>
              <a:buNone/>
            </a:pPr>
            <a:r>
              <a:rPr lang="en-US" sz="1400" dirty="0">
                <a:solidFill>
                  <a:srgbClr val="1E1E1E"/>
                </a:solidFill>
                <a:latin typeface="Poppins" pitchFamily="34" charset="0"/>
                <a:ea typeface="Poppins" pitchFamily="34" charset="-122"/>
                <a:cs typeface="Poppins" pitchFamily="34" charset="-120"/>
              </a:rPr>
              <a:t> AirAsia X</a:t>
            </a:r>
            <a:endParaRPr lang="en-US" sz="1400" dirty="0"/>
          </a:p>
        </p:txBody>
      </p:sp>
      <p:sp>
        <p:nvSpPr>
          <p:cNvPr id="9" name="Text 6"/>
          <p:cNvSpPr txBox="1"/>
          <p:nvPr/>
        </p:nvSpPr>
        <p:spPr>
          <a:xfrm>
            <a:off x="7635240" y="548640"/>
            <a:ext cx="22860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EVIDENCE</a:t>
            </a:r>
            <a:endParaRPr lang="en-US" sz="2400" dirty="0"/>
          </a:p>
        </p:txBody>
      </p:sp>
      <p:sp>
        <p:nvSpPr>
          <p:cNvPr id="10" name="Text 7"/>
          <p:cNvSpPr txBox="1"/>
          <p:nvPr/>
        </p:nvSpPr>
        <p:spPr>
          <a:xfrm>
            <a:off x="7635240" y="1152144"/>
            <a:ext cx="32004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KL TO LONDON</a:t>
            </a:r>
            <a:endParaRPr lang="en-US" sz="2400" dirty="0"/>
          </a:p>
        </p:txBody>
      </p:sp>
      <p:sp>
        <p:nvSpPr>
          <p:cNvPr id="11" name="Text 8"/>
          <p:cNvSpPr txBox="1"/>
          <p:nvPr/>
        </p:nvSpPr>
        <p:spPr>
          <a:xfrm>
            <a:off x="7635240" y="1965960"/>
            <a:ext cx="54864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KUL</a:t>
            </a:r>
            <a:endParaRPr lang="en-US" sz="1200" dirty="0"/>
          </a:p>
        </p:txBody>
      </p:sp>
      <p:sp>
        <p:nvSpPr>
          <p:cNvPr id="12" name="Shape 9"/>
          <p:cNvSpPr/>
          <p:nvPr/>
        </p:nvSpPr>
        <p:spPr>
          <a:xfrm>
            <a:off x="8229600" y="2112264"/>
            <a:ext cx="3017520" cy="0"/>
          </a:xfrm>
          <a:prstGeom prst="line">
            <a:avLst/>
          </a:prstGeom>
          <a:noFill/>
          <a:ln w="25400">
            <a:solidFill>
              <a:srgbClr val="1E1E1E"/>
            </a:solidFill>
            <a:prstDash val="sysDot"/>
          </a:ln>
        </p:spPr>
      </p:sp>
      <p:pic>
        <p:nvPicPr>
          <p:cNvPr id="13" name="Image 1" descr="/home/user/Dom-Manipulation/strategic-management/airasia-case/img/sil_red.png">    </p:cNvPr>
          <p:cNvPicPr>
            <a:picLocks noChangeAspect="1"/>
          </p:cNvPicPr>
          <p:nvPr/>
        </p:nvPicPr>
        <p:blipFill>
          <a:blip r:embed="rId2"/>
          <a:stretch>
            <a:fillRect/>
          </a:stretch>
        </p:blipFill>
        <p:spPr>
          <a:xfrm flipH="1">
            <a:off x="9235440" y="1801368"/>
            <a:ext cx="1005840" cy="295993"/>
          </a:xfrm>
          <a:prstGeom prst="rect">
            <a:avLst/>
          </a:prstGeom>
        </p:spPr>
      </p:pic>
      <p:sp>
        <p:nvSpPr>
          <p:cNvPr id="14" name="Text 10"/>
          <p:cNvSpPr txBox="1"/>
          <p:nvPr/>
        </p:nvSpPr>
        <p:spPr>
          <a:xfrm>
            <a:off x="11338560" y="1965960"/>
            <a:ext cx="548640" cy="292608"/>
          </a:xfrm>
          <a:prstGeom prst="rect">
            <a:avLst/>
          </a:prstGeom>
          <a:noFill/>
          <a:ln/>
        </p:spPr>
        <p:txBody>
          <a:bodyPr wrap="square" lIns="0" tIns="0" rIns="0" bIns="0" rtlCol="0" anchor="ctr"/>
          <a:lstStyle/>
          <a:p>
            <a:pPr algn="r"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STN</a:t>
            </a:r>
            <a:endParaRPr lang="en-US" sz="1200" dirty="0"/>
          </a:p>
        </p:txBody>
      </p:sp>
      <p:sp>
        <p:nvSpPr>
          <p:cNvPr id="15" name="Text 11"/>
          <p:cNvSpPr txBox="1"/>
          <p:nvPr/>
        </p:nvSpPr>
        <p:spPr>
          <a:xfrm>
            <a:off x="7635240" y="2395728"/>
            <a:ext cx="429768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BIAYA PER PENUMPANG SATU ARAH, US$</a:t>
            </a:r>
            <a:endParaRPr lang="en-US" sz="1200" dirty="0"/>
          </a:p>
        </p:txBody>
      </p:sp>
      <p:sp>
        <p:nvSpPr>
          <p:cNvPr id="16" name="Text 12"/>
          <p:cNvSpPr txBox="1"/>
          <p:nvPr/>
        </p:nvSpPr>
        <p:spPr>
          <a:xfrm>
            <a:off x="7635240" y="2743200"/>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AirAsia X</a:t>
            </a:r>
            <a:endParaRPr lang="en-US" sz="1200" dirty="0"/>
          </a:p>
        </p:txBody>
      </p:sp>
      <p:sp>
        <p:nvSpPr>
          <p:cNvPr id="17" name="Shape 13"/>
          <p:cNvSpPr/>
          <p:nvPr/>
        </p:nvSpPr>
        <p:spPr>
          <a:xfrm>
            <a:off x="7635240" y="3054096"/>
            <a:ext cx="2068793" cy="201168"/>
          </a:xfrm>
          <a:prstGeom prst="rect">
            <a:avLst/>
          </a:prstGeom>
          <a:solidFill>
            <a:srgbClr val="E4002B"/>
          </a:solidFill>
          <a:ln w="12700">
            <a:solidFill>
              <a:srgbClr val="E4002B"/>
            </a:solidFill>
            <a:prstDash val="solid"/>
          </a:ln>
        </p:spPr>
      </p:sp>
      <p:sp>
        <p:nvSpPr>
          <p:cNvPr id="18" name="Text 14"/>
          <p:cNvSpPr txBox="1"/>
          <p:nvPr/>
        </p:nvSpPr>
        <p:spPr>
          <a:xfrm>
            <a:off x="9795473" y="2980944"/>
            <a:ext cx="731520" cy="347472"/>
          </a:xfrm>
          <a:prstGeom prst="rect">
            <a:avLst/>
          </a:prstGeom>
          <a:noFill/>
          <a:ln/>
        </p:spPr>
        <p:txBody>
          <a:bodyPr wrap="square" lIns="0" tIns="0" rIns="0" bIns="0" rtlCol="0" anchor="ctr"/>
          <a:lstStyle/>
          <a:p>
            <a:pPr algn="l" indent="0" marL="0">
              <a:buNone/>
            </a:pPr>
            <a:r>
              <a:rPr lang="en-US" sz="1400" dirty="0">
                <a:solidFill>
                  <a:srgbClr val="E4002B"/>
                </a:solidFill>
                <a:latin typeface="Poppins SemiBold" pitchFamily="34" charset="0"/>
                <a:ea typeface="Poppins SemiBold" pitchFamily="34" charset="-122"/>
                <a:cs typeface="Poppins SemiBold" pitchFamily="34" charset="-120"/>
              </a:rPr>
              <a:t>373</a:t>
            </a:r>
            <a:endParaRPr lang="en-US" sz="1400" dirty="0"/>
          </a:p>
        </p:txBody>
      </p:sp>
      <p:sp>
        <p:nvSpPr>
          <p:cNvPr id="19" name="Text 15"/>
          <p:cNvSpPr txBox="1"/>
          <p:nvPr/>
        </p:nvSpPr>
        <p:spPr>
          <a:xfrm>
            <a:off x="7635240" y="3310128"/>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British Airways</a:t>
            </a:r>
            <a:endParaRPr lang="en-US" sz="1200" dirty="0"/>
          </a:p>
        </p:txBody>
      </p:sp>
      <p:sp>
        <p:nvSpPr>
          <p:cNvPr id="20" name="Shape 16"/>
          <p:cNvSpPr/>
          <p:nvPr/>
        </p:nvSpPr>
        <p:spPr>
          <a:xfrm>
            <a:off x="7635240" y="3621024"/>
            <a:ext cx="3067137" cy="201168"/>
          </a:xfrm>
          <a:prstGeom prst="rect">
            <a:avLst/>
          </a:prstGeom>
          <a:solidFill>
            <a:srgbClr val="1E1E1E"/>
          </a:solidFill>
          <a:ln w="12700">
            <a:solidFill>
              <a:srgbClr val="1E1E1E"/>
            </a:solidFill>
            <a:prstDash val="solid"/>
          </a:ln>
        </p:spPr>
      </p:sp>
      <p:sp>
        <p:nvSpPr>
          <p:cNvPr id="21" name="Text 17"/>
          <p:cNvSpPr txBox="1"/>
          <p:nvPr/>
        </p:nvSpPr>
        <p:spPr>
          <a:xfrm>
            <a:off x="10793817" y="3547872"/>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553</a:t>
            </a:r>
            <a:endParaRPr lang="en-US" sz="1400" dirty="0"/>
          </a:p>
        </p:txBody>
      </p:sp>
      <p:sp>
        <p:nvSpPr>
          <p:cNvPr id="22" name="Text 18"/>
          <p:cNvSpPr txBox="1"/>
          <p:nvPr/>
        </p:nvSpPr>
        <p:spPr>
          <a:xfrm>
            <a:off x="7635240" y="3877056"/>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MAS</a:t>
            </a:r>
            <a:endParaRPr lang="en-US" sz="1200" dirty="0"/>
          </a:p>
        </p:txBody>
      </p:sp>
      <p:sp>
        <p:nvSpPr>
          <p:cNvPr id="23" name="Shape 19"/>
          <p:cNvSpPr/>
          <p:nvPr/>
        </p:nvSpPr>
        <p:spPr>
          <a:xfrm>
            <a:off x="7635240" y="4187952"/>
            <a:ext cx="3272353" cy="201168"/>
          </a:xfrm>
          <a:prstGeom prst="rect">
            <a:avLst/>
          </a:prstGeom>
          <a:solidFill>
            <a:srgbClr val="1E1E1E"/>
          </a:solidFill>
          <a:ln w="12700">
            <a:solidFill>
              <a:srgbClr val="1E1E1E"/>
            </a:solidFill>
            <a:prstDash val="solid"/>
          </a:ln>
        </p:spPr>
      </p:sp>
      <p:sp>
        <p:nvSpPr>
          <p:cNvPr id="24" name="Text 20"/>
          <p:cNvSpPr txBox="1"/>
          <p:nvPr/>
        </p:nvSpPr>
        <p:spPr>
          <a:xfrm>
            <a:off x="10999033" y="4114800"/>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590</a:t>
            </a:r>
            <a:endParaRPr lang="en-US" sz="1400" dirty="0"/>
          </a:p>
        </p:txBody>
      </p:sp>
      <p:sp>
        <p:nvSpPr>
          <p:cNvPr id="25" name="Text 21"/>
          <p:cNvSpPr txBox="1"/>
          <p:nvPr/>
        </p:nvSpPr>
        <p:spPr>
          <a:xfrm>
            <a:off x="7635240" y="4443984"/>
            <a:ext cx="2377440" cy="292608"/>
          </a:xfrm>
          <a:prstGeom prst="rect">
            <a:avLst/>
          </a:prstGeom>
          <a:noFill/>
          <a:ln/>
        </p:spPr>
        <p:txBody>
          <a:bodyPr wrap="square" lIns="0" tIns="0" rIns="0" bIns="0" rtlCol="0" anchor="ctr"/>
          <a:lstStyle/>
          <a:p>
            <a:pPr algn="l" indent="0" marL="0">
              <a:buNone/>
            </a:pPr>
            <a:r>
              <a:rPr lang="en-US" sz="1200" spc="150" kern="0" dirty="0">
                <a:solidFill>
                  <a:srgbClr val="2A2A2A"/>
                </a:solidFill>
                <a:latin typeface="Poppins SemiBold" pitchFamily="34" charset="0"/>
                <a:ea typeface="Poppins SemiBold" pitchFamily="34" charset="-122"/>
                <a:cs typeface="Poppins SemiBold" pitchFamily="34" charset="-120"/>
              </a:rPr>
              <a:t>Emirates</a:t>
            </a:r>
            <a:endParaRPr lang="en-US" sz="1200" dirty="0"/>
          </a:p>
        </p:txBody>
      </p:sp>
      <p:sp>
        <p:nvSpPr>
          <p:cNvPr id="26" name="Shape 22"/>
          <p:cNvSpPr/>
          <p:nvPr/>
        </p:nvSpPr>
        <p:spPr>
          <a:xfrm>
            <a:off x="7635240" y="4754880"/>
            <a:ext cx="3383280" cy="201168"/>
          </a:xfrm>
          <a:prstGeom prst="rect">
            <a:avLst/>
          </a:prstGeom>
          <a:solidFill>
            <a:srgbClr val="1E1E1E"/>
          </a:solidFill>
          <a:ln w="12700">
            <a:solidFill>
              <a:srgbClr val="1E1E1E"/>
            </a:solidFill>
            <a:prstDash val="solid"/>
          </a:ln>
        </p:spPr>
      </p:sp>
      <p:sp>
        <p:nvSpPr>
          <p:cNvPr id="27" name="Text 23"/>
          <p:cNvSpPr txBox="1"/>
          <p:nvPr/>
        </p:nvSpPr>
        <p:spPr>
          <a:xfrm>
            <a:off x="11109960" y="4681728"/>
            <a:ext cx="731520" cy="347472"/>
          </a:xfrm>
          <a:prstGeom prst="rect">
            <a:avLst/>
          </a:prstGeom>
          <a:noFill/>
          <a:ln/>
        </p:spPr>
        <p:txBody>
          <a:bodyPr wrap="square" lIns="0" tIns="0" rIns="0" bIns="0" rtlCol="0" anchor="ctr"/>
          <a:lstStyle/>
          <a:p>
            <a:pPr algn="l" indent="0" marL="0">
              <a:buNone/>
            </a:pPr>
            <a:r>
              <a:rPr lang="en-US" sz="1400" dirty="0">
                <a:solidFill>
                  <a:srgbClr val="1E1E1E"/>
                </a:solidFill>
                <a:latin typeface="Poppins SemiBold" pitchFamily="34" charset="0"/>
                <a:ea typeface="Poppins SemiBold" pitchFamily="34" charset="-122"/>
                <a:cs typeface="Poppins SemiBold" pitchFamily="34" charset="-120"/>
              </a:rPr>
              <a:t>610</a:t>
            </a:r>
            <a:endParaRPr lang="en-US" sz="1400" dirty="0"/>
          </a:p>
        </p:txBody>
      </p:sp>
      <p:sp>
        <p:nvSpPr>
          <p:cNvPr id="28" name="Text 24"/>
          <p:cNvSpPr txBox="1"/>
          <p:nvPr/>
        </p:nvSpPr>
        <p:spPr>
          <a:xfrm>
            <a:off x="7635240" y="5074920"/>
            <a:ext cx="4114800" cy="17373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Kurs 2009: US$373 sekitar Rp 3,9 juta, US$610 sekitar Rp 6,3 juta. Selisih nyata, tetapi lebih tipis dari yang terlihat: Tabel 9.4 belum memuat kru, perawatan, dan katering.</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E4D0"/>
        </a:solidFill>
      </p:bgPr>
    </p:bg>
    <p:spTree>
      <p:nvGrpSpPr>
        <p:cNvPr id="1" name=""/>
        <p:cNvGrpSpPr/>
        <p:nvPr/>
      </p:nvGrpSpPr>
      <p:grpSpPr>
        <a:xfrm>
          <a:off x="0" y="0"/>
          <a:ext cx="0" cy="0"/>
          <a:chOff x="0" y="0"/>
          <a:chExt cx="0" cy="0"/>
        </a:xfrm>
      </p:grpSpPr>
      <p:pic>
        <p:nvPicPr>
          <p:cNvPr id="2" name="Image 0" descr="/home/user/Dom-Manipulation/strategic-management/airasia-case/img/crops/aa_board_13.33x3.10_0.5-0.45.jpg">    </p:cNvPr>
          <p:cNvPicPr>
            <a:picLocks noChangeAspect="1"/>
          </p:cNvPicPr>
          <p:nvPr/>
        </p:nvPicPr>
        <p:blipFill>
          <a:blip r:embed="rId1"/>
          <a:stretch>
            <a:fillRect/>
          </a:stretch>
        </p:blipFill>
        <p:spPr>
          <a:xfrm>
            <a:off x="0" y="0"/>
            <a:ext cx="12188952" cy="2834640"/>
          </a:xfrm>
          <a:prstGeom prst="rect">
            <a:avLst/>
          </a:prstGeom>
        </p:spPr>
      </p:pic>
      <p:sp>
        <p:nvSpPr>
          <p:cNvPr id="3" name="Text 0"/>
          <p:cNvSpPr txBox="1"/>
          <p:nvPr/>
        </p:nvSpPr>
        <p:spPr>
          <a:xfrm>
            <a:off x="640080" y="3063240"/>
            <a:ext cx="27432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KEY ISSUES</a:t>
            </a:r>
            <a:endParaRPr lang="en-US" sz="2400" dirty="0"/>
          </a:p>
        </p:txBody>
      </p:sp>
      <p:sp>
        <p:nvSpPr>
          <p:cNvPr id="4" name="Shape 1"/>
          <p:cNvSpPr/>
          <p:nvPr/>
        </p:nvSpPr>
        <p:spPr>
          <a:xfrm>
            <a:off x="640080" y="3886200"/>
            <a:ext cx="457200" cy="457200"/>
          </a:xfrm>
          <a:prstGeom prst="ellipse">
            <a:avLst/>
          </a:prstGeom>
          <a:solidFill>
            <a:srgbClr val="E4002B"/>
          </a:solidFill>
          <a:ln w="12700">
            <a:solidFill>
              <a:srgbClr val="E4002B"/>
            </a:solidFill>
            <a:prstDash val="solid"/>
          </a:ln>
        </p:spPr>
      </p:sp>
      <p:sp>
        <p:nvSpPr>
          <p:cNvPr id="5" name="Text 2"/>
          <p:cNvSpPr txBox="1"/>
          <p:nvPr/>
        </p:nvSpPr>
        <p:spPr>
          <a:xfrm>
            <a:off x="640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6" name="Text 3"/>
          <p:cNvSpPr txBox="1"/>
          <p:nvPr/>
        </p:nvSpPr>
        <p:spPr>
          <a:xfrm>
            <a:off x="640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pasar LCC jarak jauh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cukup besar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kurang terlayani?</a:t>
            </a:r>
            <a:endParaRPr lang="en-US" sz="1400" dirty="0"/>
          </a:p>
        </p:txBody>
      </p:sp>
      <p:sp>
        <p:nvSpPr>
          <p:cNvPr id="7" name="Shape 4"/>
          <p:cNvSpPr/>
          <p:nvPr/>
        </p:nvSpPr>
        <p:spPr>
          <a:xfrm>
            <a:off x="2926080" y="3886200"/>
            <a:ext cx="457200" cy="457200"/>
          </a:xfrm>
          <a:prstGeom prst="ellipse">
            <a:avLst/>
          </a:prstGeom>
          <a:solidFill>
            <a:srgbClr val="3B8DBD"/>
          </a:solidFill>
          <a:ln w="12700">
            <a:solidFill>
              <a:srgbClr val="3B8DBD"/>
            </a:solidFill>
            <a:prstDash val="solid"/>
          </a:ln>
        </p:spPr>
      </p:sp>
      <p:sp>
        <p:nvSpPr>
          <p:cNvPr id="8" name="Text 5"/>
          <p:cNvSpPr txBox="1"/>
          <p:nvPr/>
        </p:nvSpPr>
        <p:spPr>
          <a:xfrm>
            <a:off x="2926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9" name="Text 6"/>
          <p:cNvSpPr txBox="1"/>
          <p:nvPr/>
        </p:nvSpPr>
        <p:spPr>
          <a:xfrm>
            <a:off x="2926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Bagaimana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network carriers</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akan membalas?</a:t>
            </a:r>
            <a:endParaRPr lang="en-US" sz="1400" dirty="0"/>
          </a:p>
        </p:txBody>
      </p:sp>
      <p:sp>
        <p:nvSpPr>
          <p:cNvPr id="10" name="Shape 7"/>
          <p:cNvSpPr/>
          <p:nvPr/>
        </p:nvSpPr>
        <p:spPr>
          <a:xfrm>
            <a:off x="5212080" y="3886200"/>
            <a:ext cx="457200" cy="457200"/>
          </a:xfrm>
          <a:prstGeom prst="ellipse">
            <a:avLst/>
          </a:prstGeom>
          <a:solidFill>
            <a:srgbClr val="FAD354"/>
          </a:solidFill>
          <a:ln w="12700">
            <a:solidFill>
              <a:srgbClr val="FAD354"/>
            </a:solidFill>
            <a:prstDash val="solid"/>
          </a:ln>
        </p:spPr>
      </p:sp>
      <p:sp>
        <p:nvSpPr>
          <p:cNvPr id="11" name="Text 8"/>
          <p:cNvSpPr txBox="1"/>
          <p:nvPr/>
        </p:nvSpPr>
        <p:spPr>
          <a:xfrm>
            <a:off x="5212080" y="3886200"/>
            <a:ext cx="457200" cy="457200"/>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12" name="Text 9"/>
          <p:cNvSpPr txBox="1"/>
          <p:nvPr/>
        </p:nvSpPr>
        <p:spPr>
          <a:xfrm>
            <a:off x="5212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Seberapa besar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toleransi finansial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terhadap kegagalan?</a:t>
            </a:r>
            <a:endParaRPr lang="en-US" sz="1400" dirty="0"/>
          </a:p>
        </p:txBody>
      </p:sp>
      <p:sp>
        <p:nvSpPr>
          <p:cNvPr id="13" name="Shape 10"/>
          <p:cNvSpPr/>
          <p:nvPr/>
        </p:nvSpPr>
        <p:spPr>
          <a:xfrm>
            <a:off x="7498080" y="3886200"/>
            <a:ext cx="457200" cy="457200"/>
          </a:xfrm>
          <a:prstGeom prst="ellipse">
            <a:avLst/>
          </a:prstGeom>
          <a:solidFill>
            <a:srgbClr val="1E1E1E"/>
          </a:solidFill>
          <a:ln w="12700">
            <a:solidFill>
              <a:srgbClr val="1E1E1E"/>
            </a:solidFill>
            <a:prstDash val="solid"/>
          </a:ln>
        </p:spPr>
      </p:sp>
      <p:sp>
        <p:nvSpPr>
          <p:cNvPr id="14" name="Text 11"/>
          <p:cNvSpPr txBox="1"/>
          <p:nvPr/>
        </p:nvSpPr>
        <p:spPr>
          <a:xfrm>
            <a:off x="7498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15" name="Text 12"/>
          <p:cNvSpPr txBox="1"/>
          <p:nvPr/>
        </p:nvSpPr>
        <p:spPr>
          <a:xfrm>
            <a:off x="7498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Bisakah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eksploitasi dan eksplorasi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berjalan dalam satu organisasi?</a:t>
            </a:r>
            <a:endParaRPr lang="en-US" sz="1400" dirty="0"/>
          </a:p>
        </p:txBody>
      </p:sp>
      <p:sp>
        <p:nvSpPr>
          <p:cNvPr id="16" name="Shape 13"/>
          <p:cNvSpPr/>
          <p:nvPr/>
        </p:nvSpPr>
        <p:spPr>
          <a:xfrm>
            <a:off x="9784080" y="3886200"/>
            <a:ext cx="457200" cy="457200"/>
          </a:xfrm>
          <a:prstGeom prst="ellipse">
            <a:avLst/>
          </a:prstGeom>
          <a:solidFill>
            <a:srgbClr val="E4002B"/>
          </a:solidFill>
          <a:ln w="12700">
            <a:solidFill>
              <a:srgbClr val="E4002B"/>
            </a:solidFill>
            <a:prstDash val="solid"/>
          </a:ln>
        </p:spPr>
      </p:sp>
      <p:sp>
        <p:nvSpPr>
          <p:cNvPr id="17" name="Text 14"/>
          <p:cNvSpPr txBox="1"/>
          <p:nvPr/>
        </p:nvSpPr>
        <p:spPr>
          <a:xfrm>
            <a:off x="9784080" y="3886200"/>
            <a:ext cx="457200" cy="457200"/>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5</a:t>
            </a:r>
            <a:endParaRPr lang="en-US" sz="1200" dirty="0"/>
          </a:p>
        </p:txBody>
      </p:sp>
      <p:sp>
        <p:nvSpPr>
          <p:cNvPr id="18" name="Text 15"/>
          <p:cNvSpPr txBox="1"/>
          <p:nvPr/>
        </p:nvSpPr>
        <p:spPr>
          <a:xfrm>
            <a:off x="9784080" y="4480560"/>
            <a:ext cx="2057400" cy="146304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Apakah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tata kelola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X selaras dengan kepentingan AirAsia?</a:t>
            </a:r>
            <a:endParaRPr lang="en-US" sz="1400" dirty="0"/>
          </a:p>
        </p:txBody>
      </p:sp>
      <p:sp>
        <p:nvSpPr>
          <p:cNvPr id="19" name="Text 16"/>
          <p:cNvSpPr txBox="1"/>
          <p:nvPr/>
        </p:nvSpPr>
        <p:spPr>
          <a:xfrm>
            <a:off x="640080" y="5943600"/>
            <a:ext cx="10515600" cy="54864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Intisari.  </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Isu 1 dan 2 dari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lingkungan eksternal</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isu 3 dari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posisi biaya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isu 4 dan 5 soal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organisasi dan tata kelola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4864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STRATEGIC ALTERNATIVES</a:t>
            </a:r>
            <a:endParaRPr lang="en-US" sz="2400" dirty="0"/>
          </a:p>
        </p:txBody>
      </p:sp>
      <p:sp>
        <p:nvSpPr>
          <p:cNvPr id="3" name="Shape 1"/>
          <p:cNvSpPr/>
          <p:nvPr/>
        </p:nvSpPr>
        <p:spPr>
          <a:xfrm>
            <a:off x="3566160" y="960120"/>
            <a:ext cx="4937760" cy="4937760"/>
          </a:xfrm>
          <a:prstGeom prst="arc">
            <a:avLst>
              <a:gd name="adj1" fmla="val 12000000"/>
              <a:gd name="adj2" fmla="val 20400000"/>
            </a:avLst>
          </a:prstGeom>
          <a:ln w="28575">
            <a:solidFill>
              <a:srgbClr val="1E1E1E"/>
            </a:solidFill>
            <a:prstDash val="sysDot"/>
          </a:ln>
        </p:spPr>
      </p:sp>
      <p:sp>
        <p:nvSpPr>
          <p:cNvPr id="4" name="Shape 2"/>
          <p:cNvSpPr/>
          <p:nvPr/>
        </p:nvSpPr>
        <p:spPr>
          <a:xfrm>
            <a:off x="1051560" y="1463040"/>
            <a:ext cx="2651760" cy="2651760"/>
          </a:xfrm>
          <a:prstGeom prst="ellipse">
            <a:avLst/>
          </a:prstGeom>
          <a:solidFill>
            <a:srgbClr val="E4002B"/>
          </a:solidFill>
          <a:ln w="12700">
            <a:solidFill>
              <a:srgbClr val="E4002B"/>
            </a:solidFill>
            <a:prstDash val="solid"/>
          </a:ln>
        </p:spPr>
      </p:sp>
      <p:sp>
        <p:nvSpPr>
          <p:cNvPr id="5" name="Text 3"/>
          <p:cNvSpPr txBox="1"/>
          <p:nvPr/>
        </p:nvSpPr>
        <p:spPr>
          <a:xfrm>
            <a:off x="1371600" y="1691640"/>
            <a:ext cx="731520" cy="731520"/>
          </a:xfrm>
          <a:prstGeom prst="rect">
            <a:avLst/>
          </a:prstGeom>
          <a:noFill/>
          <a:ln/>
        </p:spPr>
        <p:txBody>
          <a:bodyPr wrap="square" lIns="0" tIns="0" rIns="0" bIns="0" rtlCol="0" anchor="ctr"/>
          <a:lstStyle/>
          <a:p>
            <a:pPr algn="ctr" indent="0" marL="0">
              <a:buNone/>
            </a:pPr>
            <a:r>
              <a:rPr lang="en-US" sz="2400" dirty="0">
                <a:solidFill>
                  <a:srgbClr val="FFFFFF"/>
                </a:solidFill>
                <a:latin typeface="Poppins SemiBold" pitchFamily="34" charset="0"/>
                <a:ea typeface="Poppins SemiBold" pitchFamily="34" charset="-122"/>
                <a:cs typeface="Poppins SemiBold" pitchFamily="34" charset="-120"/>
              </a:rPr>
              <a:t>A</a:t>
            </a:r>
            <a:endParaRPr lang="en-US" sz="2400" dirty="0"/>
          </a:p>
        </p:txBody>
      </p:sp>
      <p:pic>
        <p:nvPicPr>
          <p:cNvPr id="6" name="Image 0" descr="/home/user/Dom-Manipulation/strategic-management/airasia-case/img/aa_a320.png">    </p:cNvPr>
          <p:cNvPicPr>
            <a:picLocks noChangeAspect="1"/>
          </p:cNvPicPr>
          <p:nvPr/>
        </p:nvPicPr>
        <p:blipFill>
          <a:blip r:embed="rId1"/>
          <a:stretch>
            <a:fillRect/>
          </a:stretch>
        </p:blipFill>
        <p:spPr>
          <a:xfrm>
            <a:off x="1005840" y="2907025"/>
            <a:ext cx="2926080" cy="861070"/>
          </a:xfrm>
          <a:prstGeom prst="rect">
            <a:avLst/>
          </a:prstGeom>
        </p:spPr>
      </p:pic>
      <p:sp>
        <p:nvSpPr>
          <p:cNvPr id="7" name="Text 4"/>
          <p:cNvSpPr txBox="1"/>
          <p:nvPr/>
        </p:nvSpPr>
        <p:spPr>
          <a:xfrm>
            <a:off x="64008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FOKUS REGIONAL</a:t>
            </a:r>
            <a:endParaRPr lang="en-US" sz="1200" dirty="0"/>
          </a:p>
        </p:txBody>
      </p:sp>
      <p:sp>
        <p:nvSpPr>
          <p:cNvPr id="8" name="Text 5"/>
          <p:cNvSpPr txBox="1"/>
          <p:nvPr/>
        </p:nvSpPr>
        <p:spPr>
          <a:xfrm>
            <a:off x="64008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AirAsia X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tetap terpisah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fokus pasar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3,5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terbang.</a:t>
            </a:r>
            <a:endParaRPr lang="en-US" sz="1400" dirty="0"/>
          </a:p>
        </p:txBody>
      </p:sp>
      <p:sp>
        <p:nvSpPr>
          <p:cNvPr id="9" name="Text 6"/>
          <p:cNvSpPr txBox="1"/>
          <p:nvPr/>
        </p:nvSpPr>
        <p:spPr>
          <a:xfrm>
            <a:off x="64008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E4002B"/>
                </a:solidFill>
                <a:latin typeface="Poppins" pitchFamily="34" charset="0"/>
                <a:ea typeface="Poppins" pitchFamily="34" charset="-122"/>
                <a:cs typeface="Poppins" pitchFamily="34" charset="-120"/>
              </a:rPr>
              <a:t>Sudut pandang: eksploitasi murni.</a:t>
            </a:r>
            <a:endParaRPr lang="en-US" sz="1400" dirty="0"/>
          </a:p>
        </p:txBody>
      </p:sp>
      <p:sp>
        <p:nvSpPr>
          <p:cNvPr id="10" name="Shape 7"/>
          <p:cNvSpPr/>
          <p:nvPr/>
        </p:nvSpPr>
        <p:spPr>
          <a:xfrm>
            <a:off x="4846320" y="1463040"/>
            <a:ext cx="2651760" cy="2651760"/>
          </a:xfrm>
          <a:prstGeom prst="ellipse">
            <a:avLst/>
          </a:prstGeom>
          <a:solidFill>
            <a:srgbClr val="3B8DBD"/>
          </a:solidFill>
          <a:ln w="12700">
            <a:solidFill>
              <a:srgbClr val="3B8DBD"/>
            </a:solidFill>
            <a:prstDash val="solid"/>
          </a:ln>
        </p:spPr>
      </p:sp>
      <p:sp>
        <p:nvSpPr>
          <p:cNvPr id="11" name="Text 8"/>
          <p:cNvSpPr txBox="1"/>
          <p:nvPr/>
        </p:nvSpPr>
        <p:spPr>
          <a:xfrm>
            <a:off x="5166360" y="1691640"/>
            <a:ext cx="731520" cy="731520"/>
          </a:xfrm>
          <a:prstGeom prst="rect">
            <a:avLst/>
          </a:prstGeom>
          <a:noFill/>
          <a:ln/>
        </p:spPr>
        <p:txBody>
          <a:bodyPr wrap="square" lIns="0" tIns="0" rIns="0" bIns="0" rtlCol="0" anchor="ctr"/>
          <a:lstStyle/>
          <a:p>
            <a:pPr algn="ctr" indent="0" marL="0">
              <a:buNone/>
            </a:pPr>
            <a:r>
              <a:rPr lang="en-US" sz="2400" dirty="0">
                <a:solidFill>
                  <a:srgbClr val="FFFFFF"/>
                </a:solidFill>
                <a:latin typeface="Poppins SemiBold" pitchFamily="34" charset="0"/>
                <a:ea typeface="Poppins SemiBold" pitchFamily="34" charset="-122"/>
                <a:cs typeface="Poppins SemiBold" pitchFamily="34" charset="-120"/>
              </a:rPr>
              <a:t>B</a:t>
            </a:r>
            <a:endParaRPr lang="en-US" sz="2400" dirty="0"/>
          </a:p>
        </p:txBody>
      </p:sp>
      <p:pic>
        <p:nvPicPr>
          <p:cNvPr id="12" name="Image 1" descr="/home/user/Dom-Manipulation/strategic-management/airasia-case/img/aa_pair.png">    </p:cNvPr>
          <p:cNvPicPr>
            <a:picLocks noChangeAspect="1"/>
          </p:cNvPicPr>
          <p:nvPr/>
        </p:nvPicPr>
        <p:blipFill>
          <a:blip r:embed="rId2"/>
          <a:stretch>
            <a:fillRect/>
          </a:stretch>
        </p:blipFill>
        <p:spPr>
          <a:xfrm>
            <a:off x="4800600" y="3017154"/>
            <a:ext cx="2926080" cy="640812"/>
          </a:xfrm>
          <a:prstGeom prst="rect">
            <a:avLst/>
          </a:prstGeom>
        </p:spPr>
      </p:pic>
      <p:sp>
        <p:nvSpPr>
          <p:cNvPr id="13" name="Text 9"/>
          <p:cNvSpPr txBox="1"/>
          <p:nvPr/>
        </p:nvSpPr>
        <p:spPr>
          <a:xfrm>
            <a:off x="443484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INTEGRASI PENUH</a:t>
            </a:r>
            <a:endParaRPr lang="en-US" sz="1200" dirty="0"/>
          </a:p>
        </p:txBody>
      </p:sp>
      <p:sp>
        <p:nvSpPr>
          <p:cNvPr id="14" name="Text 10"/>
          <p:cNvSpPr txBox="1"/>
          <p:nvPr/>
        </p:nvSpPr>
        <p:spPr>
          <a:xfrm>
            <a:off x="443484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Merger</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AirAsia X ke AirAsia; feeder KL, ekspansi sesuai rencana.</a:t>
            </a:r>
            <a:endParaRPr lang="en-US" sz="1400" dirty="0"/>
          </a:p>
        </p:txBody>
      </p:sp>
      <p:sp>
        <p:nvSpPr>
          <p:cNvPr id="15" name="Text 11"/>
          <p:cNvSpPr txBox="1"/>
          <p:nvPr/>
        </p:nvSpPr>
        <p:spPr>
          <a:xfrm>
            <a:off x="443484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3B8DBD"/>
                </a:solidFill>
                <a:latin typeface="Poppins" pitchFamily="34" charset="0"/>
                <a:ea typeface="Poppins" pitchFamily="34" charset="-122"/>
                <a:cs typeface="Poppins" pitchFamily="34" charset="-120"/>
              </a:rPr>
              <a:t>Sudut pandang: ambidexterity kontekstual.</a:t>
            </a:r>
            <a:endParaRPr lang="en-US" sz="1400" dirty="0"/>
          </a:p>
        </p:txBody>
      </p:sp>
      <p:sp>
        <p:nvSpPr>
          <p:cNvPr id="16" name="Shape 12"/>
          <p:cNvSpPr/>
          <p:nvPr/>
        </p:nvSpPr>
        <p:spPr>
          <a:xfrm>
            <a:off x="8641080" y="1463040"/>
            <a:ext cx="2651760" cy="2651760"/>
          </a:xfrm>
          <a:prstGeom prst="ellipse">
            <a:avLst/>
          </a:prstGeom>
          <a:solidFill>
            <a:srgbClr val="FAD354"/>
          </a:solidFill>
          <a:ln w="12700">
            <a:solidFill>
              <a:srgbClr val="FAD354"/>
            </a:solidFill>
            <a:prstDash val="solid"/>
          </a:ln>
        </p:spPr>
      </p:sp>
      <p:sp>
        <p:nvSpPr>
          <p:cNvPr id="17" name="Text 13"/>
          <p:cNvSpPr txBox="1"/>
          <p:nvPr/>
        </p:nvSpPr>
        <p:spPr>
          <a:xfrm>
            <a:off x="8961120" y="1691640"/>
            <a:ext cx="731520" cy="731520"/>
          </a:xfrm>
          <a:prstGeom prst="rect">
            <a:avLst/>
          </a:prstGeom>
          <a:noFill/>
          <a:ln/>
        </p:spPr>
        <p:txBody>
          <a:bodyPr wrap="square" lIns="0" tIns="0" rIns="0" bIns="0" rtlCol="0" anchor="ctr"/>
          <a:lstStyle/>
          <a:p>
            <a:pPr algn="ctr" indent="0" marL="0">
              <a:buNone/>
            </a:pPr>
            <a:r>
              <a:rPr lang="en-US" sz="2400" dirty="0">
                <a:solidFill>
                  <a:srgbClr val="1E1E1E"/>
                </a:solidFill>
                <a:latin typeface="Poppins SemiBold" pitchFamily="34" charset="0"/>
                <a:ea typeface="Poppins SemiBold" pitchFamily="34" charset="-122"/>
                <a:cs typeface="Poppins SemiBold" pitchFamily="34" charset="-120"/>
              </a:rPr>
              <a:t>C</a:t>
            </a:r>
            <a:endParaRPr lang="en-US" sz="2400" dirty="0"/>
          </a:p>
        </p:txBody>
      </p:sp>
      <p:pic>
        <p:nvPicPr>
          <p:cNvPr id="18" name="Image 2" descr="/home/user/Dom-Manipulation/strategic-management/airasia-case/img/aa_a330.png">    </p:cNvPr>
          <p:cNvPicPr>
            <a:picLocks noChangeAspect="1"/>
          </p:cNvPicPr>
          <p:nvPr/>
        </p:nvPicPr>
        <p:blipFill>
          <a:blip r:embed="rId3"/>
          <a:stretch>
            <a:fillRect/>
          </a:stretch>
        </p:blipFill>
        <p:spPr>
          <a:xfrm>
            <a:off x="8595360" y="3021191"/>
            <a:ext cx="2926080" cy="632738"/>
          </a:xfrm>
          <a:prstGeom prst="rect">
            <a:avLst/>
          </a:prstGeom>
        </p:spPr>
      </p:pic>
      <p:sp>
        <p:nvSpPr>
          <p:cNvPr id="19" name="Text 14"/>
          <p:cNvSpPr txBox="1"/>
          <p:nvPr/>
        </p:nvSpPr>
        <p:spPr>
          <a:xfrm>
            <a:off x="8229600" y="4297680"/>
            <a:ext cx="3474720" cy="292608"/>
          </a:xfrm>
          <a:prstGeom prst="rect">
            <a:avLst/>
          </a:prstGeom>
          <a:noFill/>
          <a:ln/>
        </p:spPr>
        <p:txBody>
          <a:bodyPr wrap="square" lIns="0" tIns="0" rIns="0" bIns="0" rtlCol="0" anchor="ctr"/>
          <a:lstStyle/>
          <a:p>
            <a:pPr algn="l" indent="0" marL="0">
              <a:buNone/>
            </a:pPr>
            <a:r>
              <a:rPr lang="en-US" sz="1200" spc="150" kern="0" dirty="0">
                <a:solidFill>
                  <a:srgbClr val="1E1E1E"/>
                </a:solidFill>
                <a:latin typeface="Poppins SemiBold" pitchFamily="34" charset="0"/>
                <a:ea typeface="Poppins SemiBold" pitchFamily="34" charset="-122"/>
                <a:cs typeface="Poppins SemiBold" pitchFamily="34" charset="-120"/>
              </a:rPr>
              <a:t>INTEGRASI BERTAHAP</a:t>
            </a:r>
            <a:endParaRPr lang="en-US" sz="1200" dirty="0"/>
          </a:p>
        </p:txBody>
      </p:sp>
      <p:sp>
        <p:nvSpPr>
          <p:cNvPr id="20" name="Text 15"/>
          <p:cNvSpPr txBox="1"/>
          <p:nvPr/>
        </p:nvSpPr>
        <p:spPr>
          <a:xfrm>
            <a:off x="8229600" y="4617720"/>
            <a:ext cx="3383280" cy="109728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Kendali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30 persen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neraca terpisah; rute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4 sampai 8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merger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menunggu bukti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21" name="Text 16"/>
          <p:cNvSpPr txBox="1"/>
          <p:nvPr/>
        </p:nvSpPr>
        <p:spPr>
          <a:xfrm>
            <a:off x="8229600" y="5760720"/>
            <a:ext cx="3383280" cy="73152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B8860B"/>
                </a:solidFill>
                <a:latin typeface="Poppins" pitchFamily="34" charset="0"/>
                <a:ea typeface="Poppins" pitchFamily="34" charset="-122"/>
                <a:cs typeface="Poppins" pitchFamily="34" charset="-120"/>
              </a:rPr>
              <a:t>Sudut pandang: ambidexterity struktural, tata kelola hibrida.</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548640" y="502920"/>
            <a:ext cx="12737592" cy="7772400"/>
          </a:xfrm>
          <a:prstGeom prst="roundRect">
            <a:avLst>
              <a:gd name="adj" fmla="val 6471"/>
            </a:avLst>
          </a:prstGeom>
          <a:solidFill>
            <a:srgbClr val="3B8DBD"/>
          </a:solidFill>
          <a:ln w="12700">
            <a:solidFill>
              <a:srgbClr val="3B8DBD"/>
            </a:solidFill>
            <a:prstDash val="solid"/>
          </a:ln>
        </p:spPr>
      </p:sp>
      <p:sp>
        <p:nvSpPr>
          <p:cNvPr id="3" name="Shape 1"/>
          <p:cNvSpPr/>
          <p:nvPr/>
        </p:nvSpPr>
        <p:spPr>
          <a:xfrm>
            <a:off x="-548640" y="1143000"/>
            <a:ext cx="12234672" cy="6858000"/>
          </a:xfrm>
          <a:prstGeom prst="rect">
            <a:avLst/>
          </a:prstGeom>
          <a:solidFill>
            <a:srgbClr val="F6E4D0"/>
          </a:solidFill>
          <a:ln w="12700">
            <a:solidFill>
              <a:srgbClr val="F6E4D0"/>
            </a:solidFill>
            <a:prstDash val="solid"/>
          </a:ln>
        </p:spPr>
      </p:sp>
      <p:sp>
        <p:nvSpPr>
          <p:cNvPr id="4" name="Text 2"/>
          <p:cNvSpPr txBox="1"/>
          <p:nvPr/>
        </p:nvSpPr>
        <p:spPr>
          <a:xfrm>
            <a:off x="640080" y="502920"/>
            <a:ext cx="7772400" cy="640080"/>
          </a:xfrm>
          <a:prstGeom prst="rect">
            <a:avLst/>
          </a:prstGeom>
          <a:noFill/>
          <a:ln/>
        </p:spPr>
        <p:txBody>
          <a:bodyPr wrap="square" lIns="0" tIns="0" rIns="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SCORECARD</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0424160" cy="914400"/>
        </p:xfrm>
        <a:graphic>
          <a:graphicData uri="http://schemas.openxmlformats.org/drawingml/2006/table">
            <a:tbl>
              <a:tblPr/>
              <a:tblGrid>
                <a:gridCol w="4389120"/>
                <a:gridCol w="2011680"/>
                <a:gridCol w="2011680"/>
                <a:gridCol w="2011680"/>
              </a:tblGrid>
              <a:tr h="548640">
                <a:tc>
                  <a:txBody>
                    <a:bodyPr/>
                    <a:lstStyle/>
                    <a:p>
                      <a:pPr algn="l"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KRITERIA</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A. REGIONAL</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FFFFFF"/>
                          </a:solidFill>
                          <a:latin typeface="Poppins SemiBold" pitchFamily="34" charset="0"/>
                          <a:ea typeface="Poppins SemiBold" pitchFamily="34" charset="-122"/>
                          <a:cs typeface="Poppins SemiBold" pitchFamily="34" charset="-120"/>
                        </a:rPr>
                        <a:t>B. PENUH</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1E1E1E"/>
                    </a:solidFill>
                  </a:tcPr>
                </a:tc>
                <a:tc>
                  <a:txBody>
                    <a:bodyPr/>
                    <a:lstStyle/>
                    <a:p>
                      <a:pPr algn="ctr" indent="0" marL="0">
                        <a:buNone/>
                      </a:pPr>
                      <a:r>
                        <a:rPr lang="en-US" sz="1200" spc="100" kern="0" dirty="0">
                          <a:solidFill>
                            <a:srgbClr val="1E1E1E"/>
                          </a:solidFill>
                          <a:latin typeface="Poppins SemiBold" pitchFamily="34" charset="0"/>
                          <a:ea typeface="Poppins SemiBold" pitchFamily="34" charset="-122"/>
                          <a:cs typeface="Poppins SemiBold" pitchFamily="34" charset="-120"/>
                        </a:rPr>
                        <a:t>C. BERTAHAP</a:t>
                      </a:r>
                      <a:endParaRPr lang="en-US" sz="1200" dirty="0">
                        <a:latin typeface="Poppins SemiBold" charset="0"/>
                        <a:ea typeface="Poppins SemiBold" charset="0"/>
                        <a:cs typeface="Poppins SemiBold"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AD354"/>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Peluang pasar jarak jauh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Daya tahan vs network carriers</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Keamanan finansial</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Eksploitasi dan eksplorasi</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4002B"/>
                          </a:solidFill>
                          <a:latin typeface="Poppins" pitchFamily="34" charset="0"/>
                          <a:ea typeface="Poppins" pitchFamily="34" charset="-122"/>
                          <a:cs typeface="Poppins" pitchFamily="34" charset="-120"/>
                        </a:rPr>
                        <a:t>Lemah</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r h="548640">
                <a:tc>
                  <a:txBody>
                    <a:bodyPr/>
                    <a:lstStyle/>
                    <a:p>
                      <a:pPr indent="0" marL="0">
                        <a:buNone/>
                      </a:pPr>
                      <a:r>
                        <a:rPr lang="en-US" sz="1400" dirty="0">
                          <a:solidFill>
                            <a:srgbClr val="2A2A2A"/>
                          </a:solidFill>
                          <a:latin typeface="Poppins" pitchFamily="34" charset="0"/>
                          <a:ea typeface="Poppins" pitchFamily="34" charset="-122"/>
                          <a:cs typeface="Poppins" pitchFamily="34" charset="-120"/>
                        </a:rPr>
                        <a:t>Tata kelola dan pemegang saham</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B8860B"/>
                          </a:solidFill>
                          <a:latin typeface="Poppins" pitchFamily="34" charset="0"/>
                          <a:ea typeface="Poppins" pitchFamily="34" charset="-122"/>
                          <a:cs typeface="Poppins" pitchFamily="34" charset="-120"/>
                        </a:rPr>
                        <a:t>Cukup</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3B8DBD"/>
                          </a:solidFill>
                          <a:latin typeface="Poppins" pitchFamily="34" charset="0"/>
                          <a:ea typeface="Poppins" pitchFamily="34" charset="-122"/>
                          <a:cs typeface="Poppins" pitchFamily="34" charset="-120"/>
                        </a:rPr>
                        <a:t>Kuat</a:t>
                      </a:r>
                      <a:endParaRPr lang="en-US" sz="1400" dirty="0">
                        <a:latin typeface="Poppins" charset="0"/>
                        <a:ea typeface="Poppins" charset="0"/>
                        <a:cs typeface="Poppins" charset="0"/>
                      </a:endParaRPr>
                    </a:p>
                  </a:txBody>
                  <a:tcPr marL="137160" marR="137160" marT="36576" marB="36576" anchor="ctr">
                    <a:lnL w="38100" cap="flat" cmpd="sng" algn="ctr">
                      <a:solidFill>
                        <a:srgbClr val="F6E4D0"/>
                      </a:solidFill>
                      <a:prstDash val="solid"/>
                      <a:round/>
                      <a:headEnd type="none" w="med" len="med"/>
                      <a:tailEnd type="none" w="med" len="med"/>
                    </a:lnL>
                    <a:lnR w="38100" cap="flat" cmpd="sng" algn="ctr">
                      <a:solidFill>
                        <a:srgbClr val="F6E4D0"/>
                      </a:solidFill>
                      <a:prstDash val="solid"/>
                      <a:round/>
                      <a:headEnd type="none" w="med" len="med"/>
                      <a:tailEnd type="none" w="med" len="med"/>
                    </a:lnR>
                    <a:lnT w="38100" cap="flat" cmpd="sng" algn="ctr">
                      <a:solidFill>
                        <a:srgbClr val="F6E4D0"/>
                      </a:solidFill>
                      <a:prstDash val="solid"/>
                      <a:round/>
                      <a:headEnd type="none" w="med" len="med"/>
                      <a:tailEnd type="none" w="med" len="med"/>
                    </a:lnT>
                    <a:lnB w="38100" cap="flat" cmpd="sng" algn="ctr">
                      <a:solidFill>
                        <a:srgbClr val="F6E4D0"/>
                      </a:solidFill>
                      <a:prstDash val="solid"/>
                      <a:round/>
                      <a:headEnd type="none" w="med" len="med"/>
                      <a:tailEnd type="none" w="med" len="med"/>
                    </a:lnB>
                    <a:solidFill>
                      <a:srgbClr val="FBF1D6"/>
                    </a:solidFill>
                  </a:tcPr>
                </a:tc>
              </a:tr>
            </a:tbl>
          </a:graphicData>
        </a:graphic>
      </p:graphicFrame>
      <p:sp>
        <p:nvSpPr>
          <p:cNvPr id="6" name="Shape 3"/>
          <p:cNvSpPr/>
          <p:nvPr/>
        </p:nvSpPr>
        <p:spPr>
          <a:xfrm>
            <a:off x="640080" y="5120640"/>
            <a:ext cx="914400" cy="914400"/>
          </a:xfrm>
          <a:prstGeom prst="ellipse">
            <a:avLst/>
          </a:prstGeom>
          <a:solidFill>
            <a:srgbClr val="FAD354"/>
          </a:solidFill>
          <a:ln w="12700">
            <a:solidFill>
              <a:srgbClr val="FAD354"/>
            </a:solidFill>
            <a:prstDash val="solid"/>
          </a:ln>
        </p:spPr>
      </p:sp>
      <p:sp>
        <p:nvSpPr>
          <p:cNvPr id="7" name="Text 4"/>
          <p:cNvSpPr txBox="1"/>
          <p:nvPr/>
        </p:nvSpPr>
        <p:spPr>
          <a:xfrm>
            <a:off x="1828800" y="5120640"/>
            <a:ext cx="8686800" cy="914400"/>
          </a:xfrm>
          <a:prstGeom prst="rect">
            <a:avLst/>
          </a:prstGeom>
          <a:noFill/>
          <a:ln/>
        </p:spPr>
        <p:txBody>
          <a:bodyPr wrap="square" lIns="0" tIns="0" rIns="0" bIns="0" rtlCol="0" anchor="ctr"/>
          <a:lstStyle/>
          <a:p>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Alternatif C</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satu-satunya tanpa kriteria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lemah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menangkap peluang tanpa mempertaruhkan neraca. Penilaian kualitatif dari data kasus.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274320" y="1828800"/>
            <a:ext cx="3474720" cy="3474720"/>
          </a:xfrm>
          <a:prstGeom prst="ellipse">
            <a:avLst/>
          </a:prstGeom>
          <a:solidFill>
            <a:srgbClr val="3B8DBD"/>
          </a:solidFill>
          <a:ln w="12700">
            <a:solidFill>
              <a:srgbClr val="3B8DBD"/>
            </a:solidFill>
            <a:prstDash val="solid"/>
          </a:ln>
        </p:spPr>
      </p:sp>
      <p:sp>
        <p:nvSpPr>
          <p:cNvPr id="3" name="Shape 1"/>
          <p:cNvSpPr/>
          <p:nvPr/>
        </p:nvSpPr>
        <p:spPr>
          <a:xfrm>
            <a:off x="4800600" y="1097280"/>
            <a:ext cx="146304" cy="4937760"/>
          </a:xfrm>
          <a:prstGeom prst="rect">
            <a:avLst/>
          </a:prstGeom>
          <a:solidFill>
            <a:srgbClr val="1E1E1E"/>
          </a:solidFill>
          <a:ln w="12700">
            <a:solidFill>
              <a:srgbClr val="1E1E1E"/>
            </a:solidFill>
            <a:prstDash val="solid"/>
          </a:ln>
        </p:spPr>
      </p:sp>
      <p:pic>
        <p:nvPicPr>
          <p:cNvPr id="4" name="Image 0" descr="/home/user/Dom-Manipulation/strategic-management/airasia-case/img/aa_captain.png">    </p:cNvPr>
          <p:cNvPicPr>
            <a:picLocks noChangeAspect="1"/>
          </p:cNvPicPr>
          <p:nvPr/>
        </p:nvPicPr>
        <p:blipFill>
          <a:blip r:embed="rId1"/>
          <a:stretch>
            <a:fillRect/>
          </a:stretch>
        </p:blipFill>
        <p:spPr>
          <a:xfrm>
            <a:off x="737405" y="1737360"/>
            <a:ext cx="3737270" cy="5120640"/>
          </a:xfrm>
          <a:prstGeom prst="rect">
            <a:avLst/>
          </a:prstGeom>
        </p:spPr>
      </p:pic>
      <p:sp>
        <p:nvSpPr>
          <p:cNvPr id="5" name="Text 2"/>
          <p:cNvSpPr txBox="1"/>
          <p:nvPr/>
        </p:nvSpPr>
        <p:spPr>
          <a:xfrm>
            <a:off x="5577840" y="548640"/>
            <a:ext cx="36576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RECOMMENDATION</a:t>
            </a:r>
            <a:endParaRPr lang="en-US" sz="2400" dirty="0"/>
          </a:p>
        </p:txBody>
      </p:sp>
      <p:sp>
        <p:nvSpPr>
          <p:cNvPr id="6" name="Text 3"/>
          <p:cNvSpPr txBox="1"/>
          <p:nvPr/>
        </p:nvSpPr>
        <p:spPr>
          <a:xfrm>
            <a:off x="5577840" y="1371600"/>
            <a:ext cx="6035040" cy="1463040"/>
          </a:xfrm>
          <a:prstGeom prst="rect">
            <a:avLst/>
          </a:prstGeom>
          <a:noFill/>
          <a:ln/>
        </p:spPr>
        <p:txBody>
          <a:bodyPr wrap="square" lIns="0" tIns="0" rIns="0" bIns="0" rtlCol="0" anchor="t"/>
          <a:lstStyle/>
          <a:p>
            <a:pPr indent="0" marL="0">
              <a:lnSpc>
                <a:spcPct val="110000"/>
              </a:lnSpc>
              <a:buNone/>
            </a:pPr>
            <a:r>
              <a:rPr lang="en-US" sz="2400" dirty="0">
                <a:solidFill>
                  <a:srgbClr val="1E1E1E"/>
                </a:solidFill>
                <a:latin typeface="Poppins SemiBold" pitchFamily="34" charset="0"/>
                <a:ea typeface="Poppins SemiBold" pitchFamily="34" charset="-122"/>
                <a:cs typeface="Poppins SemiBold" pitchFamily="34" charset="-120"/>
              </a:rPr>
              <a:t>Integrasi bertahap: kendalikan AirAsia X, batasi rute, buktikan dulu, baru merger.</a:t>
            </a:r>
            <a:endParaRPr lang="en-US" sz="2400" dirty="0"/>
          </a:p>
        </p:txBody>
      </p:sp>
      <p:sp>
        <p:nvSpPr>
          <p:cNvPr id="7" name="Text 4"/>
          <p:cNvSpPr txBox="1"/>
          <p:nvPr/>
        </p:nvSpPr>
        <p:spPr>
          <a:xfrm>
            <a:off x="5577840" y="3108960"/>
            <a:ext cx="5852160" cy="2194560"/>
          </a:xfrm>
          <a:prstGeom prst="rect">
            <a:avLst/>
          </a:prstGeom>
          <a:noFill/>
          <a:ln/>
        </p:spPr>
        <p:txBody>
          <a:bodyPr wrap="square" lIns="0" tIns="0" rIns="0" bIns="0" rtlCol="0" anchor="t"/>
          <a:lstStyle/>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Eksekusi </a:t>
            </a:r>
            <a:pPr algn="l" indent="0" marL="0">
              <a:lnSpc>
                <a:spcPct val="120000"/>
              </a:lnSpc>
              <a:spcAft>
                <a:spcPts val="600"/>
              </a:spcAft>
              <a:buNone/>
            </a:pPr>
            <a:r>
              <a:rPr lang="en-US" sz="1400" b="1" dirty="0">
                <a:solidFill>
                  <a:srgbClr val="E4002B"/>
                </a:solidFill>
                <a:latin typeface="Poppins" pitchFamily="34" charset="0"/>
                <a:ea typeface="Poppins" pitchFamily="34" charset="-122"/>
                <a:cs typeface="Poppins" pitchFamily="34" charset="-120"/>
              </a:rPr>
              <a:t>opsi 30 persen</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tempatkan manajemen AirAsia di AirAsia X.</a:t>
            </a:r>
            <a:endParaRPr lang="en-US" sz="1400" dirty="0"/>
          </a:p>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Rute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4 sampai 8 jam</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dengan A330 sampai A350 tiba.</a:t>
            </a:r>
            <a:endParaRPr lang="en-US" sz="1400" dirty="0"/>
          </a:p>
          <a:p>
            <a:pPr algn="l" indent="0" marL="0">
              <a:lnSpc>
                <a:spcPct val="120000"/>
              </a:lnSpc>
              <a:spcAft>
                <a:spcPts val="800"/>
              </a:spcAft>
              <a:buNone/>
            </a:pPr>
            <a:r>
              <a:rPr lang="en-US" sz="1400" dirty="0">
                <a:solidFill>
                  <a:srgbClr val="2A2A2A"/>
                </a:solidFill>
                <a:latin typeface="Poppins" pitchFamily="34" charset="0"/>
                <a:ea typeface="Poppins" pitchFamily="34" charset="-122"/>
                <a:cs typeface="Poppins" pitchFamily="34" charset="-120"/>
              </a:rPr>
              <a:t>Merger hanya setelah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empat kuartal laba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dan arus kas positif.</a:t>
            </a:r>
            <a:endParaRPr lang="en-US" sz="1400" dirty="0"/>
          </a:p>
        </p:txBody>
      </p:sp>
      <p:sp>
        <p:nvSpPr>
          <p:cNvPr id="8" name="Text 5"/>
          <p:cNvSpPr txBox="1"/>
          <p:nvPr/>
        </p:nvSpPr>
        <p:spPr>
          <a:xfrm>
            <a:off x="5577840" y="5394960"/>
            <a:ext cx="585216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7A7069"/>
                </a:solidFill>
                <a:latin typeface="Poppins" pitchFamily="34" charset="0"/>
                <a:ea typeface="Poppins" pitchFamily="34" charset="-122"/>
                <a:cs typeface="Poppins" pitchFamily="34" charset="-120"/>
              </a:rPr>
              <a:t>Merger penuh menjadi keputusan berbasis bukti kinerja (evidence based), bukan sekadar keyakinan manajemen.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0" y="0"/>
            <a:ext cx="4206240" cy="2377440"/>
          </a:xfrm>
          <a:prstGeom prst="rect">
            <a:avLst/>
          </a:prstGeom>
          <a:solidFill>
            <a:srgbClr val="E4002B"/>
          </a:solidFill>
          <a:ln w="12700">
            <a:solidFill>
              <a:srgbClr val="E4002B"/>
            </a:solidFill>
            <a:prstDash val="solid"/>
          </a:ln>
        </p:spPr>
      </p:sp>
      <p:sp>
        <p:nvSpPr>
          <p:cNvPr id="3" name="Shape 1"/>
          <p:cNvSpPr/>
          <p:nvPr/>
        </p:nvSpPr>
        <p:spPr>
          <a:xfrm>
            <a:off x="323557" y="0"/>
            <a:ext cx="177956" cy="2377440"/>
          </a:xfrm>
          <a:prstGeom prst="rect">
            <a:avLst/>
          </a:prstGeom>
          <a:solidFill>
            <a:srgbClr val="F6E4D0"/>
          </a:solidFill>
          <a:ln w="12700">
            <a:solidFill>
              <a:srgbClr val="F6E4D0"/>
            </a:solidFill>
            <a:prstDash val="solid"/>
          </a:ln>
        </p:spPr>
      </p:sp>
      <p:sp>
        <p:nvSpPr>
          <p:cNvPr id="4" name="Shape 2"/>
          <p:cNvSpPr/>
          <p:nvPr/>
        </p:nvSpPr>
        <p:spPr>
          <a:xfrm>
            <a:off x="970671" y="0"/>
            <a:ext cx="177956" cy="2377440"/>
          </a:xfrm>
          <a:prstGeom prst="rect">
            <a:avLst/>
          </a:prstGeom>
          <a:solidFill>
            <a:srgbClr val="F6E4D0"/>
          </a:solidFill>
          <a:ln w="12700">
            <a:solidFill>
              <a:srgbClr val="F6E4D0"/>
            </a:solidFill>
            <a:prstDash val="solid"/>
          </a:ln>
        </p:spPr>
      </p:sp>
      <p:sp>
        <p:nvSpPr>
          <p:cNvPr id="5" name="Shape 3"/>
          <p:cNvSpPr/>
          <p:nvPr/>
        </p:nvSpPr>
        <p:spPr>
          <a:xfrm>
            <a:off x="1617785" y="0"/>
            <a:ext cx="177956" cy="2377440"/>
          </a:xfrm>
          <a:prstGeom prst="rect">
            <a:avLst/>
          </a:prstGeom>
          <a:solidFill>
            <a:srgbClr val="F6E4D0"/>
          </a:solidFill>
          <a:ln w="12700">
            <a:solidFill>
              <a:srgbClr val="F6E4D0"/>
            </a:solidFill>
            <a:prstDash val="solid"/>
          </a:ln>
        </p:spPr>
      </p:sp>
      <p:sp>
        <p:nvSpPr>
          <p:cNvPr id="6" name="Shape 4"/>
          <p:cNvSpPr/>
          <p:nvPr/>
        </p:nvSpPr>
        <p:spPr>
          <a:xfrm>
            <a:off x="2264898" y="0"/>
            <a:ext cx="177956" cy="2377440"/>
          </a:xfrm>
          <a:prstGeom prst="rect">
            <a:avLst/>
          </a:prstGeom>
          <a:solidFill>
            <a:srgbClr val="F6E4D0"/>
          </a:solidFill>
          <a:ln w="12700">
            <a:solidFill>
              <a:srgbClr val="F6E4D0"/>
            </a:solidFill>
            <a:prstDash val="solid"/>
          </a:ln>
        </p:spPr>
      </p:sp>
      <p:sp>
        <p:nvSpPr>
          <p:cNvPr id="7" name="Shape 5"/>
          <p:cNvSpPr/>
          <p:nvPr/>
        </p:nvSpPr>
        <p:spPr>
          <a:xfrm>
            <a:off x="2912012" y="0"/>
            <a:ext cx="177956" cy="2377440"/>
          </a:xfrm>
          <a:prstGeom prst="rect">
            <a:avLst/>
          </a:prstGeom>
          <a:solidFill>
            <a:srgbClr val="F6E4D0"/>
          </a:solidFill>
          <a:ln w="12700">
            <a:solidFill>
              <a:srgbClr val="F6E4D0"/>
            </a:solidFill>
            <a:prstDash val="solid"/>
          </a:ln>
        </p:spPr>
      </p:sp>
      <p:sp>
        <p:nvSpPr>
          <p:cNvPr id="8" name="Shape 6"/>
          <p:cNvSpPr/>
          <p:nvPr/>
        </p:nvSpPr>
        <p:spPr>
          <a:xfrm>
            <a:off x="3559126" y="0"/>
            <a:ext cx="177956" cy="2377440"/>
          </a:xfrm>
          <a:prstGeom prst="rect">
            <a:avLst/>
          </a:prstGeom>
          <a:solidFill>
            <a:srgbClr val="F6E4D0"/>
          </a:solidFill>
          <a:ln w="12700">
            <a:solidFill>
              <a:srgbClr val="F6E4D0"/>
            </a:solidFill>
            <a:prstDash val="solid"/>
          </a:ln>
        </p:spPr>
      </p:sp>
      <p:pic>
        <p:nvPicPr>
          <p:cNvPr id="9" name="Image 0" descr="/home/user/Dom-Manipulation/strategic-management/airasia-case/img/crops/aa_tower_4.60x4.90_0.45-0.5.jpg">    </p:cNvPr>
          <p:cNvPicPr>
            <a:picLocks noChangeAspect="1"/>
          </p:cNvPicPr>
          <p:nvPr/>
        </p:nvPicPr>
        <p:blipFill>
          <a:blip r:embed="rId1"/>
          <a:stretch>
            <a:fillRect/>
          </a:stretch>
        </p:blipFill>
        <p:spPr>
          <a:xfrm>
            <a:off x="0" y="2377440"/>
            <a:ext cx="4206240" cy="4480560"/>
          </a:xfrm>
          <a:prstGeom prst="rect">
            <a:avLst/>
          </a:prstGeom>
        </p:spPr>
      </p:pic>
      <p:sp>
        <p:nvSpPr>
          <p:cNvPr id="10" name="Text 7"/>
          <p:cNvSpPr txBox="1"/>
          <p:nvPr/>
        </p:nvSpPr>
        <p:spPr>
          <a:xfrm>
            <a:off x="4754880" y="548640"/>
            <a:ext cx="48006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IMPLEMENTATION PLAN</a:t>
            </a:r>
            <a:endParaRPr lang="en-US" sz="2400" dirty="0"/>
          </a:p>
        </p:txBody>
      </p:sp>
      <p:sp>
        <p:nvSpPr>
          <p:cNvPr id="11" name="Text 8"/>
          <p:cNvSpPr txBox="1"/>
          <p:nvPr/>
        </p:nvSpPr>
        <p:spPr>
          <a:xfrm>
            <a:off x="5349240" y="1371600"/>
            <a:ext cx="32918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INISIATIF DAN KPI</a:t>
            </a:r>
            <a:endParaRPr lang="en-US" sz="1200" dirty="0"/>
          </a:p>
        </p:txBody>
      </p:sp>
      <p:sp>
        <p:nvSpPr>
          <p:cNvPr id="12" name="Text 9"/>
          <p:cNvSpPr txBox="1"/>
          <p:nvPr/>
        </p:nvSpPr>
        <p:spPr>
          <a:xfrm>
            <a:off x="8686800" y="1371600"/>
            <a:ext cx="12344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WAKTU</a:t>
            </a:r>
            <a:endParaRPr lang="en-US" sz="1200" dirty="0"/>
          </a:p>
        </p:txBody>
      </p:sp>
      <p:sp>
        <p:nvSpPr>
          <p:cNvPr id="13" name="Text 10"/>
          <p:cNvSpPr txBox="1"/>
          <p:nvPr/>
        </p:nvSpPr>
        <p:spPr>
          <a:xfrm>
            <a:off x="10012680" y="1371600"/>
            <a:ext cx="214884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PENANGGUNG JAWAB</a:t>
            </a:r>
            <a:endParaRPr lang="en-US" sz="1200" dirty="0"/>
          </a:p>
        </p:txBody>
      </p:sp>
      <p:sp>
        <p:nvSpPr>
          <p:cNvPr id="14" name="Shape 11"/>
          <p:cNvSpPr/>
          <p:nvPr/>
        </p:nvSpPr>
        <p:spPr>
          <a:xfrm>
            <a:off x="4754880" y="1920240"/>
            <a:ext cx="384048" cy="384048"/>
          </a:xfrm>
          <a:prstGeom prst="ellipse">
            <a:avLst/>
          </a:prstGeom>
          <a:solidFill>
            <a:srgbClr val="E4002B"/>
          </a:solidFill>
          <a:ln w="12700">
            <a:solidFill>
              <a:srgbClr val="E4002B"/>
            </a:solidFill>
            <a:prstDash val="solid"/>
          </a:ln>
        </p:spPr>
      </p:sp>
      <p:sp>
        <p:nvSpPr>
          <p:cNvPr id="15" name="Text 12"/>
          <p:cNvSpPr txBox="1"/>
          <p:nvPr/>
        </p:nvSpPr>
        <p:spPr>
          <a:xfrm>
            <a:off x="4754880" y="19202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16" name="Text 13"/>
          <p:cNvSpPr txBox="1"/>
          <p:nvPr/>
        </p:nvSpPr>
        <p:spPr>
          <a:xfrm>
            <a:off x="5349240" y="178308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Opsi 30 persen dan tim manajemen gabungan</a:t>
            </a:r>
            <a:endParaRPr lang="en-US" sz="1400" dirty="0"/>
          </a:p>
        </p:txBody>
      </p:sp>
      <p:sp>
        <p:nvSpPr>
          <p:cNvPr id="17" name="Text 14"/>
          <p:cNvSpPr txBox="1"/>
          <p:nvPr/>
        </p:nvSpPr>
        <p:spPr>
          <a:xfrm>
            <a:off x="8686800" y="178308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Q4 2009</a:t>
            </a:r>
            <a:endParaRPr lang="en-US" sz="1400" dirty="0"/>
          </a:p>
        </p:txBody>
      </p:sp>
      <p:sp>
        <p:nvSpPr>
          <p:cNvPr id="18" name="Text 15"/>
          <p:cNvSpPr txBox="1"/>
          <p:nvPr/>
        </p:nvSpPr>
        <p:spPr>
          <a:xfrm>
            <a:off x="10012680" y="178308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CEO dan Dewan</a:t>
            </a:r>
            <a:endParaRPr lang="en-US" sz="1400" dirty="0"/>
          </a:p>
        </p:txBody>
      </p:sp>
      <p:sp>
        <p:nvSpPr>
          <p:cNvPr id="19" name="Shape 16"/>
          <p:cNvSpPr/>
          <p:nvPr/>
        </p:nvSpPr>
        <p:spPr>
          <a:xfrm>
            <a:off x="4754880" y="2459736"/>
            <a:ext cx="7269480" cy="13716"/>
          </a:xfrm>
          <a:prstGeom prst="rect">
            <a:avLst/>
          </a:prstGeom>
          <a:solidFill>
            <a:srgbClr val="D8C9B4"/>
          </a:solidFill>
          <a:ln w="12700">
            <a:solidFill>
              <a:srgbClr val="D8C9B4"/>
            </a:solidFill>
            <a:prstDash val="solid"/>
          </a:ln>
        </p:spPr>
      </p:sp>
      <p:sp>
        <p:nvSpPr>
          <p:cNvPr id="20" name="Shape 17"/>
          <p:cNvSpPr/>
          <p:nvPr/>
        </p:nvSpPr>
        <p:spPr>
          <a:xfrm>
            <a:off x="4754880" y="2651760"/>
            <a:ext cx="384048" cy="384048"/>
          </a:xfrm>
          <a:prstGeom prst="ellipse">
            <a:avLst/>
          </a:prstGeom>
          <a:solidFill>
            <a:srgbClr val="3B8DBD"/>
          </a:solidFill>
          <a:ln w="12700">
            <a:solidFill>
              <a:srgbClr val="3B8DBD"/>
            </a:solidFill>
            <a:prstDash val="solid"/>
          </a:ln>
        </p:spPr>
      </p:sp>
      <p:sp>
        <p:nvSpPr>
          <p:cNvPr id="21" name="Text 18"/>
          <p:cNvSpPr txBox="1"/>
          <p:nvPr/>
        </p:nvSpPr>
        <p:spPr>
          <a:xfrm>
            <a:off x="4754880" y="26517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22" name="Text 19"/>
          <p:cNvSpPr txBox="1"/>
          <p:nvPr/>
        </p:nvSpPr>
        <p:spPr>
          <a:xfrm>
            <a:off x="5349240" y="251460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Rute 4 sampai 8 jam; </a:t>
            </a:r>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load factor di atas 85%</a:t>
            </a:r>
            <a:endParaRPr lang="en-US" sz="1400" dirty="0"/>
          </a:p>
        </p:txBody>
      </p:sp>
      <p:sp>
        <p:nvSpPr>
          <p:cNvPr id="23" name="Text 20"/>
          <p:cNvSpPr txBox="1"/>
          <p:nvPr/>
        </p:nvSpPr>
        <p:spPr>
          <a:xfrm>
            <a:off x="8686800" y="251460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 sampai 2011</a:t>
            </a:r>
            <a:endParaRPr lang="en-US" sz="1400" dirty="0"/>
          </a:p>
        </p:txBody>
      </p:sp>
      <p:sp>
        <p:nvSpPr>
          <p:cNvPr id="24" name="Text 21"/>
          <p:cNvSpPr txBox="1"/>
          <p:nvPr/>
        </p:nvSpPr>
        <p:spPr>
          <a:xfrm>
            <a:off x="10012680" y="251460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CEO AirAsia X</a:t>
            </a:r>
            <a:endParaRPr lang="en-US" sz="1400" dirty="0"/>
          </a:p>
        </p:txBody>
      </p:sp>
      <p:sp>
        <p:nvSpPr>
          <p:cNvPr id="25" name="Shape 22"/>
          <p:cNvSpPr/>
          <p:nvPr/>
        </p:nvSpPr>
        <p:spPr>
          <a:xfrm>
            <a:off x="4754880" y="3191256"/>
            <a:ext cx="7269480" cy="13716"/>
          </a:xfrm>
          <a:prstGeom prst="rect">
            <a:avLst/>
          </a:prstGeom>
          <a:solidFill>
            <a:srgbClr val="D8C9B4"/>
          </a:solidFill>
          <a:ln w="12700">
            <a:solidFill>
              <a:srgbClr val="D8C9B4"/>
            </a:solidFill>
            <a:prstDash val="solid"/>
          </a:ln>
        </p:spPr>
      </p:sp>
      <p:sp>
        <p:nvSpPr>
          <p:cNvPr id="26" name="Shape 23"/>
          <p:cNvSpPr/>
          <p:nvPr/>
        </p:nvSpPr>
        <p:spPr>
          <a:xfrm>
            <a:off x="4754880" y="3383280"/>
            <a:ext cx="384048" cy="384048"/>
          </a:xfrm>
          <a:prstGeom prst="ellipse">
            <a:avLst/>
          </a:prstGeom>
          <a:solidFill>
            <a:srgbClr val="FAD354"/>
          </a:solidFill>
          <a:ln w="12700">
            <a:solidFill>
              <a:srgbClr val="FAD354"/>
            </a:solidFill>
            <a:prstDash val="solid"/>
          </a:ln>
        </p:spPr>
      </p:sp>
      <p:sp>
        <p:nvSpPr>
          <p:cNvPr id="27" name="Text 24"/>
          <p:cNvSpPr txBox="1"/>
          <p:nvPr/>
        </p:nvSpPr>
        <p:spPr>
          <a:xfrm>
            <a:off x="4754880" y="3383280"/>
            <a:ext cx="384048" cy="384048"/>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28" name="Text 25"/>
          <p:cNvSpPr txBox="1"/>
          <p:nvPr/>
        </p:nvSpPr>
        <p:spPr>
          <a:xfrm>
            <a:off x="5349240" y="324612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Feeder KL; penumpang transit di atas 25%</a:t>
            </a:r>
            <a:endParaRPr lang="en-US" sz="1400" dirty="0"/>
          </a:p>
        </p:txBody>
      </p:sp>
      <p:sp>
        <p:nvSpPr>
          <p:cNvPr id="29" name="Text 26"/>
          <p:cNvSpPr txBox="1"/>
          <p:nvPr/>
        </p:nvSpPr>
        <p:spPr>
          <a:xfrm>
            <a:off x="8686800" y="324612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a:t>
            </a:r>
            <a:endParaRPr lang="en-US" sz="1400" dirty="0"/>
          </a:p>
        </p:txBody>
      </p:sp>
      <p:sp>
        <p:nvSpPr>
          <p:cNvPr id="30" name="Text 27"/>
          <p:cNvSpPr txBox="1"/>
          <p:nvPr/>
        </p:nvSpPr>
        <p:spPr>
          <a:xfrm>
            <a:off x="10012680" y="324612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Direktur Komersial</a:t>
            </a:r>
            <a:endParaRPr lang="en-US" sz="1400" dirty="0"/>
          </a:p>
        </p:txBody>
      </p:sp>
      <p:sp>
        <p:nvSpPr>
          <p:cNvPr id="31" name="Shape 28"/>
          <p:cNvSpPr/>
          <p:nvPr/>
        </p:nvSpPr>
        <p:spPr>
          <a:xfrm>
            <a:off x="4754880" y="3922776"/>
            <a:ext cx="7269480" cy="13716"/>
          </a:xfrm>
          <a:prstGeom prst="rect">
            <a:avLst/>
          </a:prstGeom>
          <a:solidFill>
            <a:srgbClr val="D8C9B4"/>
          </a:solidFill>
          <a:ln w="12700">
            <a:solidFill>
              <a:srgbClr val="D8C9B4"/>
            </a:solidFill>
            <a:prstDash val="solid"/>
          </a:ln>
        </p:spPr>
      </p:sp>
      <p:sp>
        <p:nvSpPr>
          <p:cNvPr id="32" name="Shape 29"/>
          <p:cNvSpPr/>
          <p:nvPr/>
        </p:nvSpPr>
        <p:spPr>
          <a:xfrm>
            <a:off x="4754880" y="4114800"/>
            <a:ext cx="384048" cy="384048"/>
          </a:xfrm>
          <a:prstGeom prst="ellipse">
            <a:avLst/>
          </a:prstGeom>
          <a:solidFill>
            <a:srgbClr val="1E1E1E"/>
          </a:solidFill>
          <a:ln w="12700">
            <a:solidFill>
              <a:srgbClr val="1E1E1E"/>
            </a:solidFill>
            <a:prstDash val="solid"/>
          </a:ln>
        </p:spPr>
      </p:sp>
      <p:sp>
        <p:nvSpPr>
          <p:cNvPr id="33" name="Text 30"/>
          <p:cNvSpPr txBox="1"/>
          <p:nvPr/>
        </p:nvSpPr>
        <p:spPr>
          <a:xfrm>
            <a:off x="4754880" y="41148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34" name="Text 31"/>
          <p:cNvSpPr txBox="1"/>
          <p:nvPr/>
        </p:nvSpPr>
        <p:spPr>
          <a:xfrm>
            <a:off x="5349240" y="3977640"/>
            <a:ext cx="3291840" cy="658368"/>
          </a:xfrm>
          <a:prstGeom prst="rect">
            <a:avLst/>
          </a:prstGeom>
          <a:noFill/>
          <a:ln/>
        </p:spPr>
        <p:txBody>
          <a:bodyPr wrap="square" lIns="0" tIns="0" rIns="0" bIns="0" rtlCol="0" anchor="ctr"/>
          <a:lstStyle/>
          <a:p>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Hedging BBM</a:t>
            </a:r>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 30 sampai 50 persen</a:t>
            </a:r>
            <a:endParaRPr lang="en-US" sz="1400" dirty="0"/>
          </a:p>
        </p:txBody>
      </p:sp>
      <p:sp>
        <p:nvSpPr>
          <p:cNvPr id="35" name="Text 32"/>
          <p:cNvSpPr txBox="1"/>
          <p:nvPr/>
        </p:nvSpPr>
        <p:spPr>
          <a:xfrm>
            <a:off x="8686800" y="397764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Segera</a:t>
            </a:r>
            <a:endParaRPr lang="en-US" sz="1400" dirty="0"/>
          </a:p>
        </p:txBody>
      </p:sp>
      <p:sp>
        <p:nvSpPr>
          <p:cNvPr id="36" name="Text 33"/>
          <p:cNvSpPr txBox="1"/>
          <p:nvPr/>
        </p:nvSpPr>
        <p:spPr>
          <a:xfrm>
            <a:off x="10012680" y="397764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CFO, Komite Risiko</a:t>
            </a:r>
            <a:endParaRPr lang="en-US" sz="1400" dirty="0"/>
          </a:p>
        </p:txBody>
      </p:sp>
      <p:sp>
        <p:nvSpPr>
          <p:cNvPr id="37" name="Shape 34"/>
          <p:cNvSpPr/>
          <p:nvPr/>
        </p:nvSpPr>
        <p:spPr>
          <a:xfrm>
            <a:off x="4754880" y="4654296"/>
            <a:ext cx="7269480" cy="13716"/>
          </a:xfrm>
          <a:prstGeom prst="rect">
            <a:avLst/>
          </a:prstGeom>
          <a:solidFill>
            <a:srgbClr val="D8C9B4"/>
          </a:solidFill>
          <a:ln w="12700">
            <a:solidFill>
              <a:srgbClr val="D8C9B4"/>
            </a:solidFill>
            <a:prstDash val="solid"/>
          </a:ln>
        </p:spPr>
      </p:sp>
      <p:sp>
        <p:nvSpPr>
          <p:cNvPr id="38" name="Shape 35"/>
          <p:cNvSpPr/>
          <p:nvPr/>
        </p:nvSpPr>
        <p:spPr>
          <a:xfrm>
            <a:off x="4754880" y="4846320"/>
            <a:ext cx="384048" cy="384048"/>
          </a:xfrm>
          <a:prstGeom prst="ellipse">
            <a:avLst/>
          </a:prstGeom>
          <a:solidFill>
            <a:srgbClr val="E4002B"/>
          </a:solidFill>
          <a:ln w="12700">
            <a:solidFill>
              <a:srgbClr val="E4002B"/>
            </a:solidFill>
            <a:prstDash val="solid"/>
          </a:ln>
        </p:spPr>
      </p:sp>
      <p:sp>
        <p:nvSpPr>
          <p:cNvPr id="39" name="Text 36"/>
          <p:cNvSpPr txBox="1"/>
          <p:nvPr/>
        </p:nvSpPr>
        <p:spPr>
          <a:xfrm>
            <a:off x="4754880" y="484632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5</a:t>
            </a:r>
            <a:endParaRPr lang="en-US" sz="1200" dirty="0"/>
          </a:p>
        </p:txBody>
      </p:sp>
      <p:sp>
        <p:nvSpPr>
          <p:cNvPr id="40" name="Text 37"/>
          <p:cNvSpPr txBox="1"/>
          <p:nvPr/>
        </p:nvSpPr>
        <p:spPr>
          <a:xfrm>
            <a:off x="5349240" y="4709160"/>
            <a:ext cx="3291840" cy="658368"/>
          </a:xfrm>
          <a:prstGeom prst="rect">
            <a:avLst/>
          </a:prstGeom>
          <a:noFill/>
          <a:ln/>
        </p:spPr>
        <p:txBody>
          <a:bodyPr wrap="square" lIns="0" tIns="0" rIns="0" bIns="0" rtlCol="0" anchor="ctr"/>
          <a:lstStyle/>
          <a:p>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Utang/ekuitas di bawah 3 kali sebelum A350</a:t>
            </a:r>
            <a:endParaRPr lang="en-US" sz="1400" dirty="0"/>
          </a:p>
        </p:txBody>
      </p:sp>
      <p:sp>
        <p:nvSpPr>
          <p:cNvPr id="41" name="Text 38"/>
          <p:cNvSpPr txBox="1"/>
          <p:nvPr/>
        </p:nvSpPr>
        <p:spPr>
          <a:xfrm>
            <a:off x="8686800" y="470916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2010 sampai 2015</a:t>
            </a:r>
            <a:endParaRPr lang="en-US" sz="1400" dirty="0"/>
          </a:p>
        </p:txBody>
      </p:sp>
      <p:sp>
        <p:nvSpPr>
          <p:cNvPr id="42" name="Text 39"/>
          <p:cNvSpPr txBox="1"/>
          <p:nvPr/>
        </p:nvSpPr>
        <p:spPr>
          <a:xfrm>
            <a:off x="10012680" y="470916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CFO</a:t>
            </a:r>
            <a:endParaRPr lang="en-US" sz="1400" dirty="0"/>
          </a:p>
        </p:txBody>
      </p:sp>
      <p:sp>
        <p:nvSpPr>
          <p:cNvPr id="43" name="Shape 40"/>
          <p:cNvSpPr/>
          <p:nvPr/>
        </p:nvSpPr>
        <p:spPr>
          <a:xfrm>
            <a:off x="4754880" y="5385816"/>
            <a:ext cx="7269480" cy="13716"/>
          </a:xfrm>
          <a:prstGeom prst="rect">
            <a:avLst/>
          </a:prstGeom>
          <a:solidFill>
            <a:srgbClr val="D8C9B4"/>
          </a:solidFill>
          <a:ln w="12700">
            <a:solidFill>
              <a:srgbClr val="D8C9B4"/>
            </a:solidFill>
            <a:prstDash val="solid"/>
          </a:ln>
        </p:spPr>
      </p:sp>
      <p:sp>
        <p:nvSpPr>
          <p:cNvPr id="44" name="Shape 41"/>
          <p:cNvSpPr/>
          <p:nvPr/>
        </p:nvSpPr>
        <p:spPr>
          <a:xfrm>
            <a:off x="4754880" y="5577840"/>
            <a:ext cx="384048" cy="384048"/>
          </a:xfrm>
          <a:prstGeom prst="ellipse">
            <a:avLst/>
          </a:prstGeom>
          <a:solidFill>
            <a:srgbClr val="3B8DBD"/>
          </a:solidFill>
          <a:ln w="12700">
            <a:solidFill>
              <a:srgbClr val="3B8DBD"/>
            </a:solidFill>
            <a:prstDash val="solid"/>
          </a:ln>
        </p:spPr>
      </p:sp>
      <p:sp>
        <p:nvSpPr>
          <p:cNvPr id="45" name="Text 42"/>
          <p:cNvSpPr txBox="1"/>
          <p:nvPr/>
        </p:nvSpPr>
        <p:spPr>
          <a:xfrm>
            <a:off x="4754880" y="55778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6</a:t>
            </a:r>
            <a:endParaRPr lang="en-US" sz="1200" dirty="0"/>
          </a:p>
        </p:txBody>
      </p:sp>
      <p:sp>
        <p:nvSpPr>
          <p:cNvPr id="46" name="Text 43"/>
          <p:cNvSpPr txBox="1"/>
          <p:nvPr/>
        </p:nvSpPr>
        <p:spPr>
          <a:xfrm>
            <a:off x="5349240" y="5440680"/>
            <a:ext cx="3291840" cy="658368"/>
          </a:xfrm>
          <a:prstGeom prst="rect">
            <a:avLst/>
          </a:prstGeom>
          <a:noFill/>
          <a:ln/>
        </p:spPr>
        <p:txBody>
          <a:bodyPr wrap="square" lIns="0" tIns="0" rIns="0" bIns="0" rtlCol="0" anchor="ctr"/>
          <a:lstStyle/>
          <a:p>
            <a:pPr algn="l" indent="0" marL="0">
              <a:lnSpc>
                <a:spcPct val="120000"/>
              </a:lnSpc>
              <a:buNone/>
            </a:pPr>
            <a:r>
              <a:rPr lang="en-US" sz="1400" b="1" dirty="0">
                <a:solidFill>
                  <a:srgbClr val="2A2A2A"/>
                </a:solidFill>
                <a:latin typeface="Poppins" pitchFamily="34" charset="0"/>
                <a:ea typeface="Poppins" pitchFamily="34" charset="-122"/>
                <a:cs typeface="Poppins" pitchFamily="34" charset="-120"/>
              </a:rPr>
              <a:t>Gerbang merger</a:t>
            </a:r>
            <a:pPr algn="l" indent="0" marL="0">
              <a:lnSpc>
                <a:spcPct val="120000"/>
              </a:lnSpc>
              <a:buNone/>
            </a:pPr>
            <a:r>
              <a:rPr lang="en-US" sz="1400" dirty="0">
                <a:solidFill>
                  <a:srgbClr val="2A2A2A"/>
                </a:solidFill>
                <a:latin typeface="Poppins" pitchFamily="34" charset="0"/>
                <a:ea typeface="Poppins" pitchFamily="34" charset="-122"/>
                <a:cs typeface="Poppins" pitchFamily="34" charset="-120"/>
              </a:rPr>
              <a:t>: 4 kuartal laba positif</a:t>
            </a:r>
            <a:endParaRPr lang="en-US" sz="1400" dirty="0"/>
          </a:p>
        </p:txBody>
      </p:sp>
      <p:sp>
        <p:nvSpPr>
          <p:cNvPr id="47" name="Text 44"/>
          <p:cNvSpPr txBox="1"/>
          <p:nvPr/>
        </p:nvSpPr>
        <p:spPr>
          <a:xfrm>
            <a:off x="8686800" y="5440680"/>
            <a:ext cx="12344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Evaluasi 2011</a:t>
            </a:r>
            <a:endParaRPr lang="en-US" sz="1400" dirty="0"/>
          </a:p>
        </p:txBody>
      </p:sp>
      <p:sp>
        <p:nvSpPr>
          <p:cNvPr id="48" name="Text 45"/>
          <p:cNvSpPr txBox="1"/>
          <p:nvPr/>
        </p:nvSpPr>
        <p:spPr>
          <a:xfrm>
            <a:off x="10012680" y="5440680"/>
            <a:ext cx="2148840" cy="658368"/>
          </a:xfrm>
          <a:prstGeom prst="rect">
            <a:avLst/>
          </a:prstGeom>
          <a:noFill/>
          <a:ln/>
        </p:spPr>
        <p:txBody>
          <a:bodyPr wrap="square" lIns="0" tIns="0" rIns="0" bIns="0" rtlCol="0" anchor="ctr"/>
          <a:lstStyle/>
          <a:p>
            <a:pPr algn="l" indent="0" marL="0">
              <a:lnSpc>
                <a:spcPct val="120000"/>
              </a:lnSpc>
              <a:buNone/>
            </a:pPr>
            <a:r>
              <a:rPr lang="en-US" sz="1400" dirty="0">
                <a:solidFill>
                  <a:srgbClr val="7A7069"/>
                </a:solidFill>
                <a:latin typeface="Poppins" pitchFamily="34" charset="0"/>
                <a:ea typeface="Poppins" pitchFamily="34" charset="-122"/>
                <a:cs typeface="Poppins" pitchFamily="34" charset="-120"/>
              </a:rPr>
              <a:t>Dewan Komisaris</a:t>
            </a:r>
            <a:endParaRPr lang="en-US" sz="1400" dirty="0"/>
          </a:p>
        </p:txBody>
      </p:sp>
      <p:sp>
        <p:nvSpPr>
          <p:cNvPr id="49" name="Shape 46"/>
          <p:cNvSpPr/>
          <p:nvPr/>
        </p:nvSpPr>
        <p:spPr>
          <a:xfrm>
            <a:off x="4754880" y="6117336"/>
            <a:ext cx="7269480" cy="13716"/>
          </a:xfrm>
          <a:prstGeom prst="rect">
            <a:avLst/>
          </a:prstGeom>
          <a:solidFill>
            <a:srgbClr val="D8C9B4"/>
          </a:solidFill>
          <a:ln w="12700">
            <a:solidFill>
              <a:srgbClr val="D8C9B4"/>
            </a:solidFill>
            <a:prstDash val="solid"/>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6E4D0"/>
        </a:solidFill>
      </p:bgPr>
    </p:bg>
    <p:spTree>
      <p:nvGrpSpPr>
        <p:cNvPr id="1" name=""/>
        <p:cNvGrpSpPr/>
        <p:nvPr/>
      </p:nvGrpSpPr>
      <p:grpSpPr>
        <a:xfrm>
          <a:off x="0" y="0"/>
          <a:ext cx="0" cy="0"/>
          <a:chOff x="0" y="0"/>
          <a:chExt cx="0" cy="0"/>
        </a:xfrm>
      </p:grpSpPr>
      <p:sp>
        <p:nvSpPr>
          <p:cNvPr id="2" name="Text 0"/>
          <p:cNvSpPr txBox="1"/>
          <p:nvPr/>
        </p:nvSpPr>
        <p:spPr>
          <a:xfrm>
            <a:off x="640080" y="548640"/>
            <a:ext cx="5257800" cy="603504"/>
          </a:xfrm>
          <a:prstGeom prst="rect">
            <a:avLst/>
          </a:prstGeom>
          <a:solidFill>
            <a:srgbClr val="FFFFFF"/>
          </a:solidFill>
          <a:ln/>
        </p:spPr>
        <p:txBody>
          <a:bodyPr wrap="square" lIns="0" tIns="2540" rIns="2540" bIns="0" rtlCol="0" anchor="ctr"/>
          <a:lstStyle/>
          <a:p>
            <a:pPr indent="0" marL="0">
              <a:buNone/>
            </a:pPr>
            <a:r>
              <a:rPr lang="en-US" sz="2400" spc="200" kern="0" dirty="0">
                <a:solidFill>
                  <a:srgbClr val="1E1E1E"/>
                </a:solidFill>
                <a:latin typeface="Poppins SemiBold" pitchFamily="34" charset="0"/>
                <a:ea typeface="Poppins SemiBold" pitchFamily="34" charset="-122"/>
                <a:cs typeface="Poppins SemiBold" pitchFamily="34" charset="-120"/>
              </a:rPr>
              <a:t>LESSONS FOR CHAPTER 3</a:t>
            </a:r>
            <a:endParaRPr lang="en-US" sz="2400" dirty="0"/>
          </a:p>
        </p:txBody>
      </p:sp>
      <p:sp>
        <p:nvSpPr>
          <p:cNvPr id="3" name="Shape 1"/>
          <p:cNvSpPr/>
          <p:nvPr/>
        </p:nvSpPr>
        <p:spPr>
          <a:xfrm>
            <a:off x="640080" y="1508760"/>
            <a:ext cx="384048" cy="384048"/>
          </a:xfrm>
          <a:prstGeom prst="ellipse">
            <a:avLst/>
          </a:prstGeom>
          <a:solidFill>
            <a:srgbClr val="E4002B"/>
          </a:solidFill>
          <a:ln w="12700">
            <a:solidFill>
              <a:srgbClr val="E4002B"/>
            </a:solidFill>
            <a:prstDash val="solid"/>
          </a:ln>
        </p:spPr>
      </p:sp>
      <p:sp>
        <p:nvSpPr>
          <p:cNvPr id="4" name="Text 2"/>
          <p:cNvSpPr txBox="1"/>
          <p:nvPr/>
        </p:nvSpPr>
        <p:spPr>
          <a:xfrm>
            <a:off x="640080" y="150876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1</a:t>
            </a:r>
            <a:endParaRPr lang="en-US" sz="1200" dirty="0"/>
          </a:p>
        </p:txBody>
      </p:sp>
      <p:sp>
        <p:nvSpPr>
          <p:cNvPr id="5" name="Text 3"/>
          <p:cNvSpPr txBox="1"/>
          <p:nvPr/>
        </p:nvSpPr>
        <p:spPr>
          <a:xfrm>
            <a:off x="1188720" y="146304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Struktur industri</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menjelaskan mengapa laba langka, bukan siapa yang meraihnya.</a:t>
            </a:r>
            <a:endParaRPr lang="en-US" sz="1400" dirty="0"/>
          </a:p>
        </p:txBody>
      </p:sp>
      <p:sp>
        <p:nvSpPr>
          <p:cNvPr id="6" name="Shape 4"/>
          <p:cNvSpPr/>
          <p:nvPr/>
        </p:nvSpPr>
        <p:spPr>
          <a:xfrm>
            <a:off x="640080" y="2377440"/>
            <a:ext cx="384048" cy="384048"/>
          </a:xfrm>
          <a:prstGeom prst="ellipse">
            <a:avLst/>
          </a:prstGeom>
          <a:solidFill>
            <a:srgbClr val="3B8DBD"/>
          </a:solidFill>
          <a:ln w="12700">
            <a:solidFill>
              <a:srgbClr val="3B8DBD"/>
            </a:solidFill>
            <a:prstDash val="solid"/>
          </a:ln>
        </p:spPr>
      </p:sp>
      <p:sp>
        <p:nvSpPr>
          <p:cNvPr id="7" name="Text 5"/>
          <p:cNvSpPr txBox="1"/>
          <p:nvPr/>
        </p:nvSpPr>
        <p:spPr>
          <a:xfrm>
            <a:off x="640080" y="237744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2</a:t>
            </a:r>
            <a:endParaRPr lang="en-US" sz="1200" dirty="0"/>
          </a:p>
        </p:txBody>
      </p:sp>
      <p:sp>
        <p:nvSpPr>
          <p:cNvPr id="8" name="Text 6"/>
          <p:cNvSpPr txBox="1"/>
          <p:nvPr/>
        </p:nvSpPr>
        <p:spPr>
          <a:xfrm>
            <a:off x="1188720" y="233172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Keunggulan biaya adalah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sistem yang saling menopang</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9" name="Shape 7"/>
          <p:cNvSpPr/>
          <p:nvPr/>
        </p:nvSpPr>
        <p:spPr>
          <a:xfrm>
            <a:off x="640080" y="3246120"/>
            <a:ext cx="384048" cy="384048"/>
          </a:xfrm>
          <a:prstGeom prst="ellipse">
            <a:avLst/>
          </a:prstGeom>
          <a:solidFill>
            <a:srgbClr val="FAD354"/>
          </a:solidFill>
          <a:ln w="12700">
            <a:solidFill>
              <a:srgbClr val="FAD354"/>
            </a:solidFill>
            <a:prstDash val="solid"/>
          </a:ln>
        </p:spPr>
      </p:sp>
      <p:sp>
        <p:nvSpPr>
          <p:cNvPr id="10" name="Text 8"/>
          <p:cNvSpPr txBox="1"/>
          <p:nvPr/>
        </p:nvSpPr>
        <p:spPr>
          <a:xfrm>
            <a:off x="640080" y="3246120"/>
            <a:ext cx="384048" cy="384048"/>
          </a:xfrm>
          <a:prstGeom prst="rect">
            <a:avLst/>
          </a:prstGeom>
          <a:noFill/>
          <a:ln/>
        </p:spPr>
        <p:txBody>
          <a:bodyPr wrap="square" lIns="0" tIns="0" rIns="0" bIns="0" rtlCol="0" anchor="ctr"/>
          <a:lstStyle/>
          <a:p>
            <a:pPr algn="ctr" indent="0" marL="0">
              <a:buNone/>
            </a:pPr>
            <a:r>
              <a:rPr lang="en-US" sz="1200" dirty="0">
                <a:solidFill>
                  <a:srgbClr val="1E1E1E"/>
                </a:solidFill>
                <a:latin typeface="Poppins SemiBold" pitchFamily="34" charset="0"/>
                <a:ea typeface="Poppins SemiBold" pitchFamily="34" charset="-122"/>
                <a:cs typeface="Poppins SemiBold" pitchFamily="34" charset="-120"/>
              </a:rPr>
              <a:t>3</a:t>
            </a:r>
            <a:endParaRPr lang="en-US" sz="1200" dirty="0"/>
          </a:p>
        </p:txBody>
      </p:sp>
      <p:sp>
        <p:nvSpPr>
          <p:cNvPr id="11" name="Text 9"/>
          <p:cNvSpPr txBox="1"/>
          <p:nvPr/>
        </p:nvSpPr>
        <p:spPr>
          <a:xfrm>
            <a:off x="1188720" y="320040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Pindah kelompok strategis berarti melawan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model laba yang berbeda</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a:t>
            </a:r>
            <a:endParaRPr lang="en-US" sz="1400" dirty="0"/>
          </a:p>
        </p:txBody>
      </p:sp>
      <p:sp>
        <p:nvSpPr>
          <p:cNvPr id="12" name="Shape 10"/>
          <p:cNvSpPr/>
          <p:nvPr/>
        </p:nvSpPr>
        <p:spPr>
          <a:xfrm>
            <a:off x="640080" y="4114800"/>
            <a:ext cx="384048" cy="384048"/>
          </a:xfrm>
          <a:prstGeom prst="ellipse">
            <a:avLst/>
          </a:prstGeom>
          <a:solidFill>
            <a:srgbClr val="1E1E1E"/>
          </a:solidFill>
          <a:ln w="12700">
            <a:solidFill>
              <a:srgbClr val="1E1E1E"/>
            </a:solidFill>
            <a:prstDash val="solid"/>
          </a:ln>
        </p:spPr>
      </p:sp>
      <p:sp>
        <p:nvSpPr>
          <p:cNvPr id="13" name="Text 11"/>
          <p:cNvSpPr txBox="1"/>
          <p:nvPr/>
        </p:nvSpPr>
        <p:spPr>
          <a:xfrm>
            <a:off x="640080" y="4114800"/>
            <a:ext cx="384048" cy="384048"/>
          </a:xfrm>
          <a:prstGeom prst="rect">
            <a:avLst/>
          </a:prstGeom>
          <a:noFill/>
          <a:ln/>
        </p:spPr>
        <p:txBody>
          <a:bodyPr wrap="square" lIns="0" tIns="0" rIns="0" bIns="0" rtlCol="0" anchor="ctr"/>
          <a:lstStyle/>
          <a:p>
            <a:pPr algn="ctr" indent="0" marL="0">
              <a:buNone/>
            </a:pPr>
            <a:r>
              <a:rPr lang="en-US" sz="1200" dirty="0">
                <a:solidFill>
                  <a:srgbClr val="FFFFFF"/>
                </a:solidFill>
                <a:latin typeface="Poppins SemiBold" pitchFamily="34" charset="0"/>
                <a:ea typeface="Poppins SemiBold" pitchFamily="34" charset="-122"/>
                <a:cs typeface="Poppins SemiBold" pitchFamily="34" charset="-120"/>
              </a:rPr>
              <a:t>4</a:t>
            </a:r>
            <a:endParaRPr lang="en-US" sz="1200" dirty="0"/>
          </a:p>
        </p:txBody>
      </p:sp>
      <p:sp>
        <p:nvSpPr>
          <p:cNvPr id="14" name="Text 12"/>
          <p:cNvSpPr txBox="1"/>
          <p:nvPr/>
        </p:nvSpPr>
        <p:spPr>
          <a:xfrm>
            <a:off x="1188720" y="4069080"/>
            <a:ext cx="4754880" cy="822960"/>
          </a:xfrm>
          <a:prstGeom prst="rect">
            <a:avLst/>
          </a:prstGeom>
          <a:noFill/>
          <a:ln/>
        </p:spPr>
        <p:txBody>
          <a:bodyPr wrap="square" lIns="0" tIns="0" rIns="0" bIns="0" rtlCol="0" anchor="t"/>
          <a:lstStyle/>
          <a:p>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Eksplorasi butuh </a:t>
            </a:r>
            <a:pPr algn="l" indent="0" marL="0">
              <a:lnSpc>
                <a:spcPct val="120000"/>
              </a:lnSpc>
              <a:spcAft>
                <a:spcPts val="600"/>
              </a:spcAft>
              <a:buNone/>
            </a:pPr>
            <a:r>
              <a:rPr lang="en-US" sz="1400" b="1" dirty="0">
                <a:solidFill>
                  <a:srgbClr val="2A2A2A"/>
                </a:solidFill>
                <a:latin typeface="Poppins" pitchFamily="34" charset="0"/>
                <a:ea typeface="Poppins" pitchFamily="34" charset="-122"/>
                <a:cs typeface="Poppins" pitchFamily="34" charset="-120"/>
              </a:rPr>
              <a:t>unit terpisah</a:t>
            </a:r>
            <a:pPr algn="l" indent="0" marL="0">
              <a:lnSpc>
                <a:spcPct val="120000"/>
              </a:lnSpc>
              <a:spcAft>
                <a:spcPts val="600"/>
              </a:spcAft>
              <a:buNone/>
            </a:pPr>
            <a:r>
              <a:rPr lang="en-US" sz="1400" dirty="0">
                <a:solidFill>
                  <a:srgbClr val="2A2A2A"/>
                </a:solidFill>
                <a:latin typeface="Poppins" pitchFamily="34" charset="0"/>
                <a:ea typeface="Poppins" pitchFamily="34" charset="-122"/>
                <a:cs typeface="Poppins" pitchFamily="34" charset="-120"/>
              </a:rPr>
              <a:t> yang tetap dikendalikan induk.</a:t>
            </a:r>
            <a:endParaRPr lang="en-US" sz="1400" dirty="0"/>
          </a:p>
        </p:txBody>
      </p:sp>
      <p:sp>
        <p:nvSpPr>
          <p:cNvPr id="15" name="Text 13"/>
          <p:cNvSpPr txBox="1"/>
          <p:nvPr/>
        </p:nvSpPr>
        <p:spPr>
          <a:xfrm>
            <a:off x="640080" y="5074920"/>
            <a:ext cx="3657600" cy="292608"/>
          </a:xfrm>
          <a:prstGeom prst="rect">
            <a:avLst/>
          </a:prstGeom>
          <a:noFill/>
          <a:ln/>
        </p:spPr>
        <p:txBody>
          <a:bodyPr wrap="square" lIns="0" tIns="0" rIns="0" bIns="0" rtlCol="0" anchor="ctr"/>
          <a:lstStyle/>
          <a:p>
            <a:pPr algn="l" indent="0" marL="0">
              <a:buNone/>
            </a:pPr>
            <a:r>
              <a:rPr lang="en-US" sz="1200" spc="150" kern="0" dirty="0">
                <a:solidFill>
                  <a:srgbClr val="7A7069"/>
                </a:solidFill>
                <a:latin typeface="Poppins SemiBold" pitchFamily="34" charset="0"/>
                <a:ea typeface="Poppins SemiBold" pitchFamily="34" charset="-122"/>
                <a:cs typeface="Poppins SemiBold" pitchFamily="34" charset="-120"/>
              </a:rPr>
              <a:t>DALAM SATU KATA</a:t>
            </a:r>
            <a:endParaRPr lang="en-US" sz="1200" dirty="0"/>
          </a:p>
        </p:txBody>
      </p:sp>
      <p:sp>
        <p:nvSpPr>
          <p:cNvPr id="16" name="Text 14"/>
          <p:cNvSpPr txBox="1"/>
          <p:nvPr/>
        </p:nvSpPr>
        <p:spPr>
          <a:xfrm>
            <a:off x="640080" y="5394960"/>
            <a:ext cx="4114800" cy="603504"/>
          </a:xfrm>
          <a:prstGeom prst="rect">
            <a:avLst/>
          </a:prstGeom>
          <a:solidFill>
            <a:srgbClr val="E4002B"/>
          </a:solidFill>
          <a:ln/>
        </p:spPr>
        <p:txBody>
          <a:bodyPr wrap="square" lIns="0" tIns="2540" rIns="2540" bIns="0" rtlCol="0" anchor="ctr"/>
          <a:lstStyle/>
          <a:p>
            <a:pPr indent="0" marL="0">
              <a:buNone/>
            </a:pPr>
            <a:r>
              <a:rPr lang="en-US" sz="2400" spc="200" kern="0" dirty="0">
                <a:solidFill>
                  <a:srgbClr val="FFFFFF"/>
                </a:solidFill>
                <a:latin typeface="Poppins SemiBold" pitchFamily="34" charset="0"/>
                <a:ea typeface="Poppins SemiBold" pitchFamily="34" charset="-122"/>
                <a:cs typeface="Poppins SemiBold" pitchFamily="34" charset="-120"/>
              </a:rPr>
              <a:t>TRANSFERABILITAS</a:t>
            </a:r>
            <a:endParaRPr lang="en-US" sz="2400" dirty="0"/>
          </a:p>
        </p:txBody>
      </p:sp>
      <p:sp>
        <p:nvSpPr>
          <p:cNvPr id="17" name="Shape 15"/>
          <p:cNvSpPr/>
          <p:nvPr/>
        </p:nvSpPr>
        <p:spPr>
          <a:xfrm>
            <a:off x="7040880" y="1005840"/>
            <a:ext cx="5486400" cy="5486400"/>
          </a:xfrm>
          <a:prstGeom prst="blockArc">
            <a:avLst>
              <a:gd name="adj1" fmla="val 6000000"/>
              <a:gd name="adj2" fmla="val 1200000"/>
            </a:avLst>
          </a:prstGeom>
          <a:solidFill>
            <a:srgbClr val="FAD354"/>
          </a:solidFill>
          <a:ln w="12700">
            <a:solidFill>
              <a:srgbClr val="FAD354"/>
            </a:solidFill>
            <a:prstDash val="solid"/>
          </a:ln>
        </p:spPr>
      </p:sp>
      <p:pic>
        <p:nvPicPr>
          <p:cNvPr id="18" name="Image 0" descr="/home/user/Dom-Manipulation/strategic-management/airasia-case/img/bw_meeting.png">    </p:cNvPr>
          <p:cNvPicPr>
            <a:picLocks noChangeAspect="1"/>
          </p:cNvPicPr>
          <p:nvPr/>
        </p:nvPicPr>
        <p:blipFill>
          <a:blip r:embed="rId1"/>
          <a:stretch>
            <a:fillRect/>
          </a:stretch>
        </p:blipFill>
        <p:spPr>
          <a:xfrm>
            <a:off x="7613834" y="2103120"/>
            <a:ext cx="4157611" cy="475488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E4D0"/>
        </a:solidFill>
      </p:bgPr>
    </p:bg>
    <p:spTree>
      <p:nvGrpSpPr>
        <p:cNvPr id="1" name=""/>
        <p:cNvGrpSpPr/>
        <p:nvPr/>
      </p:nvGrpSpPr>
      <p:grpSpPr>
        <a:xfrm>
          <a:off x="0" y="0"/>
          <a:ext cx="0" cy="0"/>
          <a:chOff x="0" y="0"/>
          <a:chExt cx="0" cy="0"/>
        </a:xfrm>
      </p:grpSpPr>
      <p:sp>
        <p:nvSpPr>
          <p:cNvPr id="2" name="Shape 0"/>
          <p:cNvSpPr/>
          <p:nvPr/>
        </p:nvSpPr>
        <p:spPr>
          <a:xfrm>
            <a:off x="-1737360" y="1188720"/>
            <a:ext cx="4206240" cy="4206240"/>
          </a:xfrm>
          <a:prstGeom prst="pie">
            <a:avLst>
              <a:gd name="adj1" fmla="val 16200000"/>
              <a:gd name="adj2" fmla="val 5400000"/>
            </a:avLst>
          </a:prstGeom>
          <a:solidFill>
            <a:srgbClr val="E4002B"/>
          </a:solidFill>
          <a:ln w="12700">
            <a:solidFill>
              <a:srgbClr val="E4002B"/>
            </a:solidFill>
            <a:prstDash val="solid"/>
          </a:ln>
        </p:spPr>
      </p:sp>
      <p:sp>
        <p:nvSpPr>
          <p:cNvPr id="3" name="Shape 1"/>
          <p:cNvSpPr/>
          <p:nvPr/>
        </p:nvSpPr>
        <p:spPr>
          <a:xfrm>
            <a:off x="7589520" y="-822960"/>
            <a:ext cx="4023360" cy="4023360"/>
          </a:xfrm>
          <a:prstGeom prst="ellipse">
            <a:avLst/>
          </a:prstGeom>
          <a:solidFill>
            <a:srgbClr val="FAD354"/>
          </a:solidFill>
          <a:ln w="12700">
            <a:solidFill>
              <a:srgbClr val="FAD354"/>
            </a:solidFill>
            <a:prstDash val="solid"/>
          </a:ln>
        </p:spPr>
      </p:sp>
      <p:sp>
        <p:nvSpPr>
          <p:cNvPr id="4" name="Shape 2"/>
          <p:cNvSpPr/>
          <p:nvPr/>
        </p:nvSpPr>
        <p:spPr>
          <a:xfrm>
            <a:off x="11338560" y="3291840"/>
            <a:ext cx="850392" cy="3566160"/>
          </a:xfrm>
          <a:prstGeom prst="rect">
            <a:avLst/>
          </a:prstGeom>
          <a:solidFill>
            <a:srgbClr val="3B8DBD"/>
          </a:solidFill>
          <a:ln w="12700">
            <a:solidFill>
              <a:srgbClr val="3B8DBD"/>
            </a:solidFill>
            <a:prstDash val="solid"/>
          </a:ln>
        </p:spPr>
      </p:sp>
      <p:sp>
        <p:nvSpPr>
          <p:cNvPr id="5" name="Shape 3"/>
          <p:cNvSpPr/>
          <p:nvPr/>
        </p:nvSpPr>
        <p:spPr>
          <a:xfrm>
            <a:off x="6309360" y="2286000"/>
            <a:ext cx="5120640" cy="4754880"/>
          </a:xfrm>
          <a:prstGeom prst="arc">
            <a:avLst>
              <a:gd name="adj1" fmla="val 10920000"/>
              <a:gd name="adj2" fmla="val 16080000"/>
            </a:avLst>
          </a:prstGeom>
          <a:ln w="28575">
            <a:solidFill>
              <a:srgbClr val="1E1E1E"/>
            </a:solidFill>
            <a:prstDash val="sysDot"/>
          </a:ln>
        </p:spPr>
      </p:sp>
      <p:pic>
        <p:nvPicPr>
          <p:cNvPr id="6" name="Image 0" descr="/home/user/Dom-Manipulation/strategic-management/airasia-case/img/aa_a320.png">    </p:cNvPr>
          <p:cNvPicPr>
            <a:picLocks noChangeAspect="1"/>
          </p:cNvPicPr>
          <p:nvPr/>
        </p:nvPicPr>
        <p:blipFill>
          <a:blip r:embed="rId1"/>
          <a:stretch>
            <a:fillRect/>
          </a:stretch>
        </p:blipFill>
        <p:spPr>
          <a:xfrm>
            <a:off x="1371600" y="3840480"/>
            <a:ext cx="5303520" cy="1560690"/>
          </a:xfrm>
          <a:prstGeom prst="rect">
            <a:avLst/>
          </a:prstGeom>
        </p:spPr>
      </p:pic>
      <p:sp>
        <p:nvSpPr>
          <p:cNvPr id="7" name="Text 4"/>
          <p:cNvSpPr txBox="1"/>
          <p:nvPr/>
        </p:nvSpPr>
        <p:spPr>
          <a:xfrm>
            <a:off x="2743200" y="1371600"/>
            <a:ext cx="7772400" cy="1280160"/>
          </a:xfrm>
          <a:prstGeom prst="rect">
            <a:avLst/>
          </a:prstGeom>
          <a:noFill/>
          <a:ln/>
        </p:spPr>
        <p:txBody>
          <a:bodyPr wrap="square" lIns="0" tIns="0" rIns="0" bIns="0" rtlCol="0" anchor="ctr"/>
          <a:lstStyle/>
          <a:p>
            <a:pPr algn="l" indent="0" marL="0">
              <a:buNone/>
            </a:pPr>
            <a:r>
              <a:rPr lang="en-US" sz="6000" dirty="0">
                <a:solidFill>
                  <a:srgbClr val="1E1E1E"/>
                </a:solidFill>
                <a:latin typeface="Poppins SemiBold" pitchFamily="34" charset="0"/>
                <a:ea typeface="Poppins SemiBold" pitchFamily="34" charset="-122"/>
                <a:cs typeface="Poppins SemiBold" pitchFamily="34" charset="-120"/>
              </a:rPr>
              <a:t>thank you</a:t>
            </a:r>
            <a:endParaRPr lang="en-US" sz="6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AirAsia: The World's Lowest Cost Airline</dc:title>
  <dc:subject>PptxGenJS Presentation</dc:subject>
  <dc:creator>Kelompok 3</dc:creator>
  <cp:lastModifiedBy>Kelompok 3</cp:lastModifiedBy>
  <cp:revision>1</cp:revision>
  <dcterms:created xsi:type="dcterms:W3CDTF">2026-09-12T09:36:34Z</dcterms:created>
  <dcterms:modified xsi:type="dcterms:W3CDTF">2026-09-12T09:36:34Z</dcterms:modified>
</cp:coreProperties>
</file>