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2A1E14"/>
                </a:solidFill>
                <a:latin typeface="Calibri"/>
              </a:defRPr>
            </a:pPr>
            <a:r>
              <a:rPr sz="1800" b="0" i="0" u="none" strike="noStrike">
                <a:solidFill>
                  <a:srgbClr val="2A1E14"/>
                </a:solidFill>
                <a:latin typeface="Calibri"/>
              </a:rPr>
              <a:t>Sen ringgit per available seat kilometer, 2008</a:t>
            </a:r>
          </a:p>
        </c:rich>
      </c:tx>
      <c:layout/>
      <c:overlay val="0"/>
    </c:title>
    <c:autoTitleDeleted val="0"/>
    <c:plotArea>
      <c:layout/>
      <c:barChart>
        <c:barDir val="col"/>
        <c:grouping val="clustered"/>
        <c:varyColors val="0"/>
        <c:ser>
          <c:idx val="0"/>
          <c:order val="0"/>
          <c:tx>
            <c:strRef>
              <c:f>Sheet1!$B$1</c:f>
              <c:strCache>
                <c:ptCount val="1"/>
                <c:pt idx="0">
                  <c:v>AirAsia</c:v>
                </c:pt>
              </c:strCache>
            </c:strRef>
          </c:tx>
          <c:spPr>
            <a:solidFill>
              <a:srgbClr val="9E1B1B"/>
            </a:solidFill>
            <a:effectLst/>
          </c:spPr>
          <c:invertIfNegative val="0"/>
          <c:dLbls>
            <c:numFmt formatCode="0.0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c:v>
                  </c:pt>
                  <c:pt idx="1">
                    <c:v>Pendapatan per ASK</c:v>
                  </c:pt>
                </c:lvl>
              </c:multiLvlStrCache>
            </c:multiLvlStrRef>
          </c:cat>
          <c:val>
            <c:numRef>
              <c:f>Sheet1!$B$2:$B$3</c:f>
              <c:numCache>
                <c:formatCode>General</c:formatCode>
                <c:ptCount val="2"/>
                <c:pt idx="0">
                  <c:v>11.66</c:v>
                </c:pt>
                <c:pt idx="1">
                  <c:v>14.11</c:v>
                </c:pt>
              </c:numCache>
            </c:numRef>
          </c:val>
        </c:ser>
        <c:ser>
          <c:idx val="1"/>
          <c:order val="1"/>
          <c:tx>
            <c:strRef>
              <c:f>Sheet1!$C$1</c:f>
              <c:strCache>
                <c:ptCount val="1"/>
                <c:pt idx="0">
                  <c:v>Malaysia Airlines</c:v>
                </c:pt>
              </c:strCache>
            </c:strRef>
          </c:tx>
          <c:spPr>
            <a:solidFill>
              <a:srgbClr val="8C7B68"/>
            </a:solidFill>
            <a:effectLst/>
          </c:spPr>
          <c:invertIfNegative val="0"/>
          <c:dLbls>
            <c:numFmt formatCode="0.0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c:v>
                  </c:pt>
                  <c:pt idx="1">
                    <c:v>Pendapatan per ASK</c:v>
                  </c:pt>
                </c:lvl>
              </c:multiLvlStrCache>
            </c:multiLvlStrRef>
          </c:cat>
          <c:val>
            <c:numRef>
              <c:f>Sheet1!$C$2:$C$3</c:f>
              <c:numCache>
                <c:formatCode>General</c:formatCode>
                <c:ptCount val="2"/>
                <c:pt idx="0">
                  <c:v>22.8</c:v>
                </c:pt>
                <c:pt idx="1">
                  <c:v>20.6</c:v>
                </c:pt>
              </c:numCache>
            </c:numRef>
          </c:val>
        </c:ser>
        <c:dLbls>
          <c:numFmt formatCode="0.0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A1E14"/>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C9BBA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A1E14"/>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600">
              <a:solidFill>
                <a:srgbClr val="2A1E1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2A1E14"/>
                </a:solidFill>
                <a:latin typeface="Calibri"/>
              </a:defRPr>
            </a:pPr>
            <a:r>
              <a:rPr sz="1800" b="0" i="0" u="none" strike="noStrike">
                <a:solidFill>
                  <a:srgbClr val="2A1E14"/>
                </a:solidFill>
                <a:latin typeface="Calibri"/>
              </a:rPr>
              <a:t>Biaya per penumpang satu arah (US$), Tabel 9.4</a:t>
            </a:r>
          </a:p>
        </c:rich>
      </c:tx>
      <c:layout/>
      <c:overlay val="0"/>
    </c:title>
    <c:autoTitleDeleted val="0"/>
    <c:plotArea>
      <c:layout/>
      <c:barChart>
        <c:barDir val="bar"/>
        <c:grouping val="clustered"/>
        <c:varyColors val="0"/>
        <c:ser>
          <c:idx val="0"/>
          <c:order val="0"/>
          <c:tx>
            <c:strRef>
              <c:f>Sheet1!$B$1</c:f>
              <c:strCache>
                <c:ptCount val="1"/>
                <c:pt idx="0">
                  <c:v>Biaya per penumpang (US$)</c:v>
                </c:pt>
              </c:strCache>
            </c:strRef>
          </c:tx>
          <c:spPr>
            <a:solidFill>
              <a:srgbClr val="9E1B1B"/>
            </a:solidFill>
            <a:effectLst/>
          </c:spPr>
          <c:invertIfNegative val="0"/>
          <c:dLbls>
            <c:numFmt formatCode="#,##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AirAsia X</c:v>
                  </c:pt>
                  <c:pt idx="1">
                    <c:v>BA</c:v>
                  </c:pt>
                  <c:pt idx="2">
                    <c:v>MAS</c:v>
                  </c:pt>
                  <c:pt idx="3">
                    <c:v>Emirates</c:v>
                  </c:pt>
                </c:lvl>
              </c:multiLvlStrCache>
            </c:multiLvlStrRef>
          </c:cat>
          <c:val>
            <c:numRef>
              <c:f>Sheet1!$B$2:$B$5</c:f>
              <c:numCache>
                <c:formatCode>General</c:formatCode>
                <c:ptCount val="4"/>
                <c:pt idx="0">
                  <c:v>373.14</c:v>
                </c:pt>
                <c:pt idx="1">
                  <c:v>553.37</c:v>
                </c:pt>
                <c:pt idx="2">
                  <c:v>589.5</c:v>
                </c:pt>
                <c:pt idx="3">
                  <c:v>609.56</c:v>
                </c:pt>
              </c:numCache>
            </c:numRef>
          </c:val>
        </c:ser>
        <c:dLbls>
          <c:numFmt formatCode="#,##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2A1E14"/>
                </a:solidFill>
                <a:latin typeface="Calibri"/>
              </a:defRPr>
            </a:pPr>
            <a:endParaRPr lang="en-US"/>
          </a:p>
        </c:txPr>
        <c:crossAx val="2094734552"/>
        <c:crosses val="autoZero"/>
        <c:auto val="1"/>
        <c:lblAlgn val="ctr"/>
        <c:noMultiLvlLbl val="1"/>
      </c:catAx>
      <c:valAx>
        <c:axId val="2094734552"/>
        <c:scaling>
          <c:orientation val="minMax"/>
          <c:max val="700"/>
          <c:min val="0"/>
        </c:scaling>
        <c:delete val="0"/>
        <c:axPos val="b"/>
        <c:majorGridlines>
          <c:spPr>
            <a:ln w="6350" cap="flat">
              <a:solidFill>
                <a:srgbClr val="C9BBA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400" b="0" i="0" u="none" strike="noStrike">
                <a:solidFill>
                  <a:srgbClr val="2A1E14"/>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data 2008 sampai pertengahan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analisis mengikuti logika Structure Conduct Performance: struktur industri dibaca lebih dulu, baru posisi perusahaan, baru pilihan strategi. Kerangka dari Thompson dan Strickland Bab 3 serta panduan analisis kasus RPKPS.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 Merek yang dipercaya: murah, bukan murahan.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Hambatan mobilitas antar kelompok bukan hanya modal; yang sulit ditiru adalah budaya biaya rendah dan sistem operasi sederhana. 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Utilisasi 11,8 vs 11,1 jam per hari; turnaround 25 menit. Karyawan per pesawat: 3.799/78 vs 19.094/109. Catatan: rugi 2008 (RM 496,6 juta) bukan karena operasi, melainkan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 Karena saling menopang, sistem ini sulit ditiru pesaing tetapi juga tidak mudah dipindahkan sebagian.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 Maka AirAsia X harus membangun sumber biaya rendah baru, tidak cukup mewarisi.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pos itu justru membesar di rute jauh.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elastisitas permintaan belum terbukti. Isu 2: Emirates, BA, dan MAS memperoleh laba dari kelas premium dan mampu menurunkan tarif ekonomi tanpa mengorbankan laba total. Isu 3: utang RM 6,69 miliar, ekuitas RM 1,61 miliar, kas RM 153,8 juta, pesanan 10 A350. Isu 4: literatur ambidexterity (O'Reilly dan Tushman) menyebut dua jalan, pemisahan struktural atau paduan kontekstual. Isu 5: AirAsia 16 persen (opsi 30 persen), Aero Ventures 48 persen, Virgin 16 persen, Manara dan Orix 20 persen; tata kelola hibrida khas portofolio aliansi. Azran membantah kritik dengan laba bersih RM 18 juta pada kuartal pertama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Penilaian kualitatif dari data kasus. 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(evidence based),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Minta kelompok lain merespons pertanyaan diskusi dengan argumen berbasis data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title.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sp>
        <p:nvSpPr>
          <p:cNvPr id="4" name="Text 0"/>
          <p:cNvSpPr txBox="1"/>
          <p:nvPr/>
        </p:nvSpPr>
        <p:spPr>
          <a:xfrm>
            <a:off x="640080" y="1097280"/>
            <a:ext cx="6400800" cy="1371600"/>
          </a:xfrm>
          <a:prstGeom prst="rect">
            <a:avLst/>
          </a:prstGeom>
          <a:noFill/>
          <a:ln/>
          <a:effectLst>
            <a:outerShdw sx="100000" sy="100000" kx="0" ky="0" algn="bl" rotWithShape="0" blurRad="50800" dist="25400" dir="2700000">
              <a:srgbClr val="000000">
                <a:alpha val="70000"/>
              </a:srgbClr>
            </a:outerShdw>
          </a:effectLst>
        </p:spPr>
        <p:txBody>
          <a:bodyPr wrap="square" lIns="0" tIns="0" rIns="0" bIns="0" rtlCol="0" anchor="ctr"/>
          <a:lstStyle/>
          <a:p>
            <a:pPr indent="0" marL="0">
              <a:buNone/>
            </a:pPr>
            <a:r>
              <a:rPr lang="en-US" sz="7600" b="1" dirty="0">
                <a:solidFill>
                  <a:srgbClr val="F3E8D2"/>
                </a:solidFill>
                <a:latin typeface="Cambria" pitchFamily="34" charset="0"/>
                <a:ea typeface="Cambria" pitchFamily="34" charset="-122"/>
                <a:cs typeface="Cambria" pitchFamily="34" charset="-120"/>
              </a:rPr>
              <a:t>AirAsia</a:t>
            </a:r>
            <a:endParaRPr lang="en-US" sz="7600" dirty="0"/>
          </a:p>
        </p:txBody>
      </p:sp>
      <p:pic>
        <p:nvPicPr>
          <p:cNvPr id="5" name="Image 2" descr="/tmp/claude-0/-home-user-Dom-Manipulation/a70c4110-05d8-512e-ae11-d08dee025a7a/scratchpad/img/band_red.png">    </p:cNvPr>
          <p:cNvPicPr>
            <a:picLocks noChangeAspect="1"/>
          </p:cNvPicPr>
          <p:nvPr/>
        </p:nvPicPr>
        <p:blipFill>
          <a:blip r:embed="rId3"/>
          <a:stretch>
            <a:fillRect/>
          </a:stretch>
        </p:blipFill>
        <p:spPr>
          <a:xfrm rot="-90000">
            <a:off x="502920" y="2514600"/>
            <a:ext cx="6583680" cy="868680"/>
          </a:xfrm>
          <a:prstGeom prst="rect">
            <a:avLst/>
          </a:prstGeom>
        </p:spPr>
      </p:pic>
      <p:sp>
        <p:nvSpPr>
          <p:cNvPr id="6" name="Text 1"/>
          <p:cNvSpPr txBox="1"/>
          <p:nvPr/>
        </p:nvSpPr>
        <p:spPr>
          <a:xfrm rot="-90000">
            <a:off x="502920" y="2514600"/>
            <a:ext cx="6583680" cy="868680"/>
          </a:xfrm>
          <a:prstGeom prst="rect">
            <a:avLst/>
          </a:prstGeom>
          <a:noFill/>
          <a:ln/>
        </p:spPr>
        <p:txBody>
          <a:bodyPr wrap="square" lIns="0" tIns="0" rIns="0" bIns="0" rtlCol="0" anchor="ctr"/>
          <a:lstStyle/>
          <a:p>
            <a:pPr algn="ctr" indent="0" marL="0">
              <a:buNone/>
            </a:pPr>
            <a:r>
              <a:rPr lang="en-US" sz="3000" b="1" dirty="0">
                <a:solidFill>
                  <a:srgbClr val="F3E8D2"/>
                </a:solidFill>
                <a:latin typeface="Cambria" pitchFamily="34" charset="0"/>
                <a:ea typeface="Cambria" pitchFamily="34" charset="-122"/>
                <a:cs typeface="Cambria" pitchFamily="34" charset="-120"/>
              </a:rPr>
              <a:t>The World's Lowest Cost Airline</a:t>
            </a:r>
            <a:endParaRPr lang="en-US" sz="3000" dirty="0"/>
          </a:p>
        </p:txBody>
      </p:sp>
      <p:sp>
        <p:nvSpPr>
          <p:cNvPr id="7" name="Text 2"/>
          <p:cNvSpPr txBox="1"/>
          <p:nvPr/>
        </p:nvSpPr>
        <p:spPr>
          <a:xfrm>
            <a:off x="640080" y="3611880"/>
            <a:ext cx="6035040" cy="1371600"/>
          </a:xfrm>
          <a:prstGeom prst="rect">
            <a:avLst/>
          </a:prstGeom>
          <a:noFill/>
          <a:ln/>
          <a:effectLst>
            <a:outerShdw sx="100000" sy="100000" kx="0" ky="0" algn="bl" rotWithShape="0" blurRad="645160000" dist="322580000" dir="162000000000">
              <a:srgbClr val="000000">
                <a:alpha val="7000000000"/>
              </a:srgbClr>
            </a:outerShdw>
          </a:effectLst>
        </p:spPr>
        <p:txBody>
          <a:bodyPr wrap="square" lIns="0" tIns="0" rIns="0" bIns="0" rtlCol="0" anchor="t"/>
          <a:lstStyle/>
          <a:p>
            <a:pPr indent="0" marL="0">
              <a:buNone/>
            </a:pPr>
            <a:r>
              <a:rPr lang="en-US" sz="2400" i="1" dirty="0">
                <a:solidFill>
                  <a:srgbClr val="F3E8D2"/>
                </a:solidFill>
                <a:latin typeface="Calibri" pitchFamily="34" charset="0"/>
                <a:ea typeface="Calibri" pitchFamily="34" charset="-122"/>
                <a:cs typeface="Calibri" pitchFamily="34" charset="-120"/>
              </a:rPr>
              <a:t>Sejauh mana keunggulan biaya yang dibangun di rute pendek dapat dibawa ke pasar penerbangan jarak jauh?</a:t>
            </a:r>
            <a:endParaRPr lang="en-US" sz="2400" dirty="0"/>
          </a:p>
        </p:txBody>
      </p:sp>
      <p:sp>
        <p:nvSpPr>
          <p:cNvPr id="8" name="Text 3"/>
          <p:cNvSpPr txBox="1"/>
          <p:nvPr/>
        </p:nvSpPr>
        <p:spPr>
          <a:xfrm>
            <a:off x="640080" y="5029200"/>
            <a:ext cx="8229600" cy="1188720"/>
          </a:xfrm>
          <a:prstGeom prst="rect">
            <a:avLst/>
          </a:prstGeom>
          <a:noFill/>
          <a:ln/>
          <a:effectLst>
            <a:outerShdw sx="100000" sy="100000" kx="0" ky="0" algn="bl" rotWithShape="0" blurRad="8193532000000" dist="4096766000000" dir="9720000000000000">
              <a:srgbClr val="000000">
                <a:alpha val="700000000000000"/>
              </a:srgbClr>
            </a:outerShdw>
          </a:effectLst>
        </p:spPr>
        <p:txBody>
          <a:bodyPr wrap="square" lIns="0" tIns="0" rIns="0" bIns="0" rtlCol="0" anchor="t"/>
          <a:lstStyle/>
          <a:p>
            <a:pPr indent="0" marL="0">
              <a:buNone/>
            </a:pPr>
            <a:r>
              <a:rPr lang="en-US" sz="2600" b="1" dirty="0">
                <a:solidFill>
                  <a:srgbClr val="D8B15E"/>
                </a:solidFill>
                <a:latin typeface="Calibri" pitchFamily="34" charset="0"/>
                <a:ea typeface="Calibri" pitchFamily="34" charset="-122"/>
                <a:cs typeface="Calibri" pitchFamily="34" charset="-120"/>
              </a:rPr>
              <a:t>Kelompok 3</a:t>
            </a:r>
            <a:endParaRPr lang="en-US" sz="2400" dirty="0"/>
          </a:p>
          <a:p>
            <a:pPr indent="0" marL="0">
              <a:buNone/>
            </a:pPr>
            <a:r>
              <a:rPr lang="en-US" sz="2000" dirty="0">
                <a:solidFill>
                  <a:srgbClr val="F3E8D2"/>
                </a:solidFill>
                <a:latin typeface="Calibri" pitchFamily="34" charset="0"/>
                <a:ea typeface="Calibri" pitchFamily="34" charset="-122"/>
                <a:cs typeface="Calibri" pitchFamily="34" charset="-120"/>
              </a:rPr>
              <a:t>Tifani Puspita  |  Dara Astrini Rahayu K  |  Happy Dinithasari  |  Aslih Abnuri</a:t>
            </a:r>
            <a:endParaRPr lang="en-US" sz="2400" dirty="0"/>
          </a:p>
        </p:txBody>
      </p:sp>
      <p:sp>
        <p:nvSpPr>
          <p:cNvPr id="9" name="Text 4"/>
          <p:cNvSpPr txBox="1"/>
          <p:nvPr/>
        </p:nvSpPr>
        <p:spPr>
          <a:xfrm>
            <a:off x="11247120" y="6309360"/>
            <a:ext cx="548640" cy="365760"/>
          </a:xfrm>
          <a:prstGeom prst="rect">
            <a:avLst/>
          </a:prstGeom>
          <a:noFill/>
          <a:ln/>
          <a:effectLst>
            <a:outerShdw sx="100000" sy="100000" kx="0" ky="0" algn="bl" rotWithShape="0" blurRad="104057856400000000" dist="52028928200000000" dir="583200000000000000000">
              <a:srgbClr val="000000">
                <a:alpha val="70000000000000000000"/>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roadmap.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6766560" cy="1143000"/>
          </a:xfrm>
          <a:prstGeom prst="rect">
            <a:avLst/>
          </a:prstGeom>
        </p:spPr>
      </p:pic>
      <p:sp>
        <p:nvSpPr>
          <p:cNvPr id="6" name="Text 0"/>
          <p:cNvSpPr txBox="1"/>
          <p:nvPr/>
        </p:nvSpPr>
        <p:spPr>
          <a:xfrm rot="-90000">
            <a:off x="274320" y="228600"/>
            <a:ext cx="676656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How we read the case</a:t>
            </a:r>
            <a:endParaRPr lang="en-US" sz="3800" dirty="0"/>
          </a:p>
        </p:txBody>
      </p:sp>
      <p:sp>
        <p:nvSpPr>
          <p:cNvPr id="7" name="Text 1"/>
          <p:cNvSpPr txBox="1"/>
          <p:nvPr/>
        </p:nvSpPr>
        <p:spPr>
          <a:xfrm>
            <a:off x="548640" y="1600200"/>
            <a:ext cx="6400800" cy="502920"/>
          </a:xfrm>
          <a:prstGeom prst="rect">
            <a:avLst/>
          </a:prstGeom>
          <a:noFill/>
          <a:ln/>
          <a:effectLst>
            <a:outerShdw sx="100000" sy="100000" kx="0" ky="0" algn="bl" rotWithShape="0" blurRad="1.32153477628e+21" dist="660767388140000000000" dir="3.4992e+25">
              <a:srgbClr val="000000">
                <a:alpha val="7e+24"/>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Titik berangkat</a:t>
            </a:r>
            <a:endParaRPr lang="en-US" sz="2800" dirty="0"/>
          </a:p>
        </p:txBody>
      </p:sp>
      <p:sp>
        <p:nvSpPr>
          <p:cNvPr id="8" name="Text 2"/>
          <p:cNvSpPr txBox="1"/>
          <p:nvPr/>
        </p:nvSpPr>
        <p:spPr>
          <a:xfrm>
            <a:off x="548640" y="2148840"/>
            <a:ext cx="6400800" cy="1920240"/>
          </a:xfrm>
          <a:prstGeom prst="rect">
            <a:avLst/>
          </a:prstGeom>
          <a:noFill/>
          <a:ln/>
          <a:effectLst>
            <a:outerShdw sx="100000" sy="100000" kx="0" ky="0" algn="bl" rotWithShape="0" blurRad="1.6783491658756e+25" dist="8.391745829378e+24" dir="2.09952e+30">
              <a:srgbClr val="000000">
                <a:alpha val="7.000000000000001e+29"/>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Lowest cost sering dibaca sebagai kelemahan. Dibaca dengan tepat, murah adalah hasil disiplin biaya (cost discipline) yang sistematis. Apakah sistem itu dapat dipindahkan (transferable) ke rute jauh?</a:t>
            </a:r>
            <a:endParaRPr lang="en-US" sz="2400" dirty="0"/>
          </a:p>
        </p:txBody>
      </p:sp>
      <p:sp>
        <p:nvSpPr>
          <p:cNvPr id="9" name="Text 3"/>
          <p:cNvSpPr txBox="1"/>
          <p:nvPr/>
        </p:nvSpPr>
        <p:spPr>
          <a:xfrm>
            <a:off x="548640" y="4114800"/>
            <a:ext cx="6766560" cy="1828800"/>
          </a:xfrm>
          <a:prstGeom prst="rect">
            <a:avLst/>
          </a:prstGeom>
          <a:noFill/>
          <a:ln/>
          <a:effectLst>
            <a:outerShdw sx="100000" sy="100000" kx="0" ky="0" algn="bl" rotWithShape="0" blurRad="2.1315034406620118e+29" dist="1.0657517203310059e+29" dir="1.259712e+35">
              <a:srgbClr val="000000">
                <a:alpha val="7.000000000000001e+34"/>
              </a:srgbClr>
            </a:outerShdw>
          </a:effectLst>
        </p:spPr>
        <p:txBody>
          <a:bodyPr wrap="square" lIns="0" tIns="0" rIns="0" bIns="0" rtlCol="0" anchor="t"/>
          <a:lstStyle/>
          <a:p>
            <a:pPr indent="0" marL="0">
              <a:spcAft>
                <a:spcPts val="400"/>
              </a:spcAft>
              <a:buNone/>
            </a:pPr>
            <a:r>
              <a:rPr lang="en-US" sz="2400" b="1" dirty="0">
                <a:solidFill>
                  <a:srgbClr val="D8B15E"/>
                </a:solidFill>
                <a:latin typeface="Calibri" pitchFamily="34" charset="0"/>
                <a:ea typeface="Calibri" pitchFamily="34" charset="-122"/>
                <a:cs typeface="Calibri" pitchFamily="34" charset="-120"/>
              </a:rPr>
              <a:t>1  Problem</a:t>
            </a:r>
            <a:pPr indent="0" marL="0">
              <a:spcAft>
                <a:spcPts val="400"/>
              </a:spcAft>
              <a:buNone/>
            </a:pPr>
            <a:r>
              <a:rPr lang="en-US" sz="2400" dirty="0">
                <a:solidFill>
                  <a:srgbClr val="F3E8D2"/>
                </a:solidFill>
                <a:latin typeface="Calibri" pitchFamily="34" charset="0"/>
                <a:ea typeface="Calibri" pitchFamily="34" charset="-122"/>
                <a:cs typeface="Calibri" pitchFamily="34" charset="-120"/>
              </a:rPr>
              <a:t>   tujuan dan hambatan</a:t>
            </a:r>
            <a:endParaRPr lang="en-US" sz="2400" dirty="0"/>
          </a:p>
          <a:p>
            <a:pPr indent="0" marL="0">
              <a:spcAft>
                <a:spcPts val="400"/>
              </a:spcAft>
              <a:buNone/>
            </a:pPr>
            <a:r>
              <a:rPr lang="en-US" sz="2400" b="1" dirty="0">
                <a:solidFill>
                  <a:srgbClr val="D8B15E"/>
                </a:solidFill>
                <a:latin typeface="Calibri" pitchFamily="34" charset="0"/>
                <a:ea typeface="Calibri" pitchFamily="34" charset="-122"/>
                <a:cs typeface="Calibri" pitchFamily="34" charset="-120"/>
              </a:rPr>
              <a:t>2  External environment</a:t>
            </a:r>
            <a:pPr indent="0" marL="0">
              <a:spcAft>
                <a:spcPts val="400"/>
              </a:spcAft>
              <a:buNone/>
            </a:pPr>
            <a:r>
              <a:rPr lang="en-US" sz="2400" dirty="0">
                <a:solidFill>
                  <a:srgbClr val="F3E8D2"/>
                </a:solidFill>
                <a:latin typeface="Calibri" pitchFamily="34" charset="0"/>
                <a:ea typeface="Calibri" pitchFamily="34" charset="-122"/>
                <a:cs typeface="Calibri" pitchFamily="34" charset="-120"/>
              </a:rPr>
              <a:t>   PESTEL, Five Forces, peta</a:t>
            </a:r>
            <a:endParaRPr lang="en-US" sz="2400" dirty="0"/>
          </a:p>
          <a:p>
            <a:pPr indent="0" marL="0">
              <a:spcAft>
                <a:spcPts val="400"/>
              </a:spcAft>
              <a:buNone/>
            </a:pPr>
            <a:r>
              <a:rPr lang="en-US" sz="2400" b="1" dirty="0">
                <a:solidFill>
                  <a:srgbClr val="D8B15E"/>
                </a:solidFill>
                <a:latin typeface="Calibri" pitchFamily="34" charset="0"/>
                <a:ea typeface="Calibri" pitchFamily="34" charset="-122"/>
                <a:cs typeface="Calibri" pitchFamily="34" charset="-120"/>
              </a:rPr>
              <a:t>3  Cost position</a:t>
            </a:r>
            <a:pPr indent="0" marL="0">
              <a:spcAft>
                <a:spcPts val="400"/>
              </a:spcAft>
              <a:buNone/>
            </a:pPr>
            <a:r>
              <a:rPr lang="en-US" sz="2400" dirty="0">
                <a:solidFill>
                  <a:srgbClr val="F3E8D2"/>
                </a:solidFill>
                <a:latin typeface="Calibri" pitchFamily="34" charset="0"/>
                <a:ea typeface="Calibri" pitchFamily="34" charset="-122"/>
                <a:cs typeface="Calibri" pitchFamily="34" charset="-120"/>
              </a:rPr>
              <a:t>   benchmarking, transferabilitas</a:t>
            </a:r>
            <a:endParaRPr lang="en-US" sz="2400" dirty="0"/>
          </a:p>
          <a:p>
            <a:pPr indent="0" marL="0">
              <a:spcAft>
                <a:spcPts val="400"/>
              </a:spcAft>
              <a:buNone/>
            </a:pPr>
            <a:r>
              <a:rPr lang="en-US" sz="2400" b="1" dirty="0">
                <a:solidFill>
                  <a:srgbClr val="D8B15E"/>
                </a:solidFill>
                <a:latin typeface="Calibri" pitchFamily="34" charset="0"/>
                <a:ea typeface="Calibri" pitchFamily="34" charset="-122"/>
                <a:cs typeface="Calibri" pitchFamily="34" charset="-120"/>
              </a:rPr>
              <a:t>4  Choice</a:t>
            </a:r>
            <a:pPr indent="0" marL="0">
              <a:spcAft>
                <a:spcPts val="400"/>
              </a:spcAft>
              <a:buNone/>
            </a:pPr>
            <a:r>
              <a:rPr lang="en-US" sz="2400" dirty="0">
                <a:solidFill>
                  <a:srgbClr val="F3E8D2"/>
                </a:solidFill>
                <a:latin typeface="Calibri" pitchFamily="34" charset="0"/>
                <a:ea typeface="Calibri" pitchFamily="34" charset="-122"/>
                <a:cs typeface="Calibri" pitchFamily="34" charset="-120"/>
              </a:rPr>
              <a:t>   isu, alternatif, rekomendasi</a:t>
            </a:r>
            <a:endParaRPr lang="en-US" sz="2400" dirty="0"/>
          </a:p>
        </p:txBody>
      </p:sp>
      <p:sp>
        <p:nvSpPr>
          <p:cNvPr id="10" name="Text 4"/>
          <p:cNvSpPr txBox="1"/>
          <p:nvPr/>
        </p:nvSpPr>
        <p:spPr>
          <a:xfrm>
            <a:off x="502920" y="6108192"/>
            <a:ext cx="10515600" cy="502920"/>
          </a:xfrm>
          <a:prstGeom prst="rect">
            <a:avLst/>
          </a:prstGeom>
          <a:noFill/>
          <a:ln/>
          <a:effectLst>
            <a:outerShdw sx="100000" sy="100000" kx="0" ky="0" algn="bl" rotWithShape="0" blurRad="2.707009369640755e+33" dist="1.3535046848203775e+33" dir="7.558272e+39">
              <a:srgbClr val="000000">
                <a:alpha val="7e+39"/>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Tahap 1 dimulai dengan mengenal AirAsia lebih dulu.</a:t>
            </a:r>
            <a:endParaRPr lang="en-US" sz="2200" dirty="0"/>
          </a:p>
        </p:txBody>
      </p:sp>
      <p:sp>
        <p:nvSpPr>
          <p:cNvPr id="11" name="Text 5"/>
          <p:cNvSpPr txBox="1"/>
          <p:nvPr/>
        </p:nvSpPr>
        <p:spPr>
          <a:xfrm>
            <a:off x="11247120" y="6309360"/>
            <a:ext cx="548640" cy="365760"/>
          </a:xfrm>
          <a:prstGeom prst="rect">
            <a:avLst/>
          </a:prstGeom>
          <a:noFill/>
          <a:ln/>
          <a:effectLst>
            <a:outerShdw sx="100000" sy="100000" kx="0" ky="0" algn="bl" rotWithShape="0" blurRad="3.437901899443759e+37" dist="1.7189509497218795e+37" dir="4.5349632000000006e+44">
              <a:srgbClr val="000000">
                <a:alpha val="7.000000000000001e+44"/>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glance.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top.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red.png">    </p:cNvPr>
          <p:cNvPicPr>
            <a:picLocks noChangeAspect="1"/>
          </p:cNvPicPr>
          <p:nvPr/>
        </p:nvPicPr>
        <p:blipFill>
          <a:blip r:embed="rId4"/>
          <a:stretch>
            <a:fillRect/>
          </a:stretch>
        </p:blipFill>
        <p:spPr>
          <a:xfrm rot="-90000">
            <a:off x="274320" y="228600"/>
            <a:ext cx="6492240" cy="1051560"/>
          </a:xfrm>
          <a:prstGeom prst="rect">
            <a:avLst/>
          </a:prstGeom>
        </p:spPr>
      </p:pic>
      <p:sp>
        <p:nvSpPr>
          <p:cNvPr id="6" name="Text 0"/>
          <p:cNvSpPr txBox="1"/>
          <p:nvPr/>
        </p:nvSpPr>
        <p:spPr>
          <a:xfrm rot="-90000">
            <a:off x="274320" y="228600"/>
            <a:ext cx="6492240" cy="1051560"/>
          </a:xfrm>
          <a:prstGeom prst="rect">
            <a:avLst/>
          </a:prstGeom>
          <a:noFill/>
          <a:ln/>
        </p:spPr>
        <p:txBody>
          <a:bodyPr wrap="square" lIns="0" tIns="4445" rIns="4445" bIns="0" rtlCol="0" anchor="ctr"/>
          <a:lstStyle/>
          <a:p>
            <a:pPr algn="ctr" indent="0" marL="0">
              <a:buNone/>
            </a:pPr>
            <a:r>
              <a:rPr lang="en-US" sz="3800" b="1" dirty="0">
                <a:solidFill>
                  <a:srgbClr val="F3E8D2"/>
                </a:solidFill>
                <a:latin typeface="Cambria" pitchFamily="34" charset="0"/>
                <a:ea typeface="Cambria" pitchFamily="34" charset="-122"/>
                <a:cs typeface="Cambria" pitchFamily="34" charset="-120"/>
              </a:rPr>
              <a:t>AirAsia at a glance</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4.366135412293574e+41" dist="2.183067706146787e+41" dir="2.72097792e+49">
              <a:srgbClr val="000000">
                <a:alpha val="7.000000000000001e+49"/>
              </a:srgbClr>
            </a:outerShdw>
          </a:effectLst>
        </p:spPr>
        <p:txBody>
          <a:bodyPr wrap="square" lIns="0" tIns="0" rIns="0" bIns="0" rtlCol="0" anchor="ctr"/>
          <a:lstStyle/>
          <a:p>
            <a:pPr indent="0" marL="0">
              <a:buNone/>
            </a:pPr>
            <a:r>
              <a:rPr lang="en-US" sz="1500" b="1" dirty="0">
                <a:solidFill>
                  <a:srgbClr val="D8B15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28800"/>
            <a:ext cx="2651760" cy="731520"/>
          </a:xfrm>
          <a:prstGeom prst="rect">
            <a:avLst/>
          </a:prstGeom>
          <a:noFill/>
          <a:ln/>
          <a:effectLst>
            <a:outerShdw sx="100000" sy="100000" kx="0" ky="0" algn="bl" rotWithShape="0" blurRad="5.544991973612839e+45" dist="2.7724959868064195e+45" dir="1.6325867520000003e+54">
              <a:srgbClr val="000000">
                <a:alpha val="7e+54"/>
              </a:srgbClr>
            </a:outerShdw>
          </a:effectLst>
        </p:spPr>
        <p:txBody>
          <a:bodyPr wrap="square" lIns="0" tIns="0" rIns="0" bIns="0" rtlCol="0" anchor="ctr"/>
          <a:lstStyle/>
          <a:p>
            <a:pPr indent="0" marL="0">
              <a:buNone/>
            </a:pPr>
            <a:r>
              <a:rPr lang="en-US" sz="4400" b="1" dirty="0">
                <a:solidFill>
                  <a:srgbClr val="D8B15E"/>
                </a:solidFill>
                <a:latin typeface="Cambria" pitchFamily="34" charset="0"/>
                <a:ea typeface="Cambria" pitchFamily="34" charset="-122"/>
                <a:cs typeface="Cambria" pitchFamily="34" charset="-120"/>
              </a:rPr>
              <a:t>79</a:t>
            </a:r>
            <a:endParaRPr lang="en-US" sz="4400" dirty="0"/>
          </a:p>
        </p:txBody>
      </p:sp>
      <p:sp>
        <p:nvSpPr>
          <p:cNvPr id="9" name="Text 3"/>
          <p:cNvSpPr txBox="1"/>
          <p:nvPr/>
        </p:nvSpPr>
        <p:spPr>
          <a:xfrm>
            <a:off x="548640" y="2560320"/>
            <a:ext cx="2651760" cy="457200"/>
          </a:xfrm>
          <a:prstGeom prst="rect">
            <a:avLst/>
          </a:prstGeom>
          <a:noFill/>
          <a:ln/>
          <a:effectLst>
            <a:outerShdw sx="100000" sy="100000" kx="0" ky="0" algn="bl" rotWithShape="0" blurRad="7.042139806488305e+49" dist="3.5210699032441527e+49" dir="9.795520512000002e+58">
              <a:srgbClr val="000000">
                <a:alpha val="7e+59"/>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pesawat (2009)</a:t>
            </a:r>
            <a:endParaRPr lang="en-US" sz="2400" dirty="0"/>
          </a:p>
        </p:txBody>
      </p:sp>
      <p:sp>
        <p:nvSpPr>
          <p:cNvPr id="10" name="Text 4"/>
          <p:cNvSpPr txBox="1"/>
          <p:nvPr/>
        </p:nvSpPr>
        <p:spPr>
          <a:xfrm>
            <a:off x="3383280" y="1828800"/>
            <a:ext cx="2651760" cy="731520"/>
          </a:xfrm>
          <a:prstGeom prst="rect">
            <a:avLst/>
          </a:prstGeom>
          <a:noFill/>
          <a:ln/>
          <a:effectLst>
            <a:outerShdw sx="100000" sy="100000" kx="0" ky="0" algn="bl" rotWithShape="0" blurRad="8.943517554240149e+53" dist="4.471758777120074e+53" dir="5.877312307200001e+63">
              <a:srgbClr val="000000">
                <a:alpha val="7.000000000000001e+64"/>
              </a:srgbClr>
            </a:outerShdw>
          </a:effectLst>
        </p:spPr>
        <p:txBody>
          <a:bodyPr wrap="square" lIns="0" tIns="0" rIns="0" bIns="0" rtlCol="0" anchor="ctr"/>
          <a:lstStyle/>
          <a:p>
            <a:pPr indent="0" marL="0">
              <a:buNone/>
            </a:pPr>
            <a:r>
              <a:rPr lang="en-US" sz="4400" b="1" dirty="0">
                <a:solidFill>
                  <a:srgbClr val="D8B15E"/>
                </a:solidFill>
                <a:latin typeface="Cambria" pitchFamily="34" charset="0"/>
                <a:ea typeface="Cambria" pitchFamily="34" charset="-122"/>
                <a:cs typeface="Cambria" pitchFamily="34" charset="-120"/>
              </a:rPr>
              <a:t>11,8 juta</a:t>
            </a:r>
            <a:endParaRPr lang="en-US" sz="4400" dirty="0"/>
          </a:p>
        </p:txBody>
      </p:sp>
      <p:sp>
        <p:nvSpPr>
          <p:cNvPr id="11" name="Text 5"/>
          <p:cNvSpPr txBox="1"/>
          <p:nvPr/>
        </p:nvSpPr>
        <p:spPr>
          <a:xfrm>
            <a:off x="3383280" y="2560320"/>
            <a:ext cx="2651760" cy="457200"/>
          </a:xfrm>
          <a:prstGeom prst="rect">
            <a:avLst/>
          </a:prstGeom>
          <a:noFill/>
          <a:ln/>
          <a:effectLst>
            <a:outerShdw sx="100000" sy="100000" kx="0" ky="0" algn="bl" rotWithShape="0" blurRad="1.1358267293884988e+58" dist="5.679133646942494e+57" dir="3.526387384320001e+68">
              <a:srgbClr val="000000">
                <a:alpha val="7.000000000000001e+69"/>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penumpang</a:t>
            </a:r>
            <a:endParaRPr lang="en-US" sz="2400" dirty="0"/>
          </a:p>
        </p:txBody>
      </p:sp>
      <p:sp>
        <p:nvSpPr>
          <p:cNvPr id="12" name="Text 6"/>
          <p:cNvSpPr txBox="1"/>
          <p:nvPr/>
        </p:nvSpPr>
        <p:spPr>
          <a:xfrm>
            <a:off x="6217920" y="1828800"/>
            <a:ext cx="2651760" cy="731520"/>
          </a:xfrm>
          <a:prstGeom prst="rect">
            <a:avLst/>
          </a:prstGeom>
          <a:noFill/>
          <a:ln/>
          <a:effectLst>
            <a:outerShdw sx="100000" sy="100000" kx="0" ky="0" algn="bl" rotWithShape="0" blurRad="1.4424999463233936e+62" dist="7.212499731616968e+61" dir="2.1158324305920003e+73">
              <a:srgbClr val="000000">
                <a:alpha val="7.000000000000001e+74"/>
              </a:srgbClr>
            </a:outerShdw>
          </a:effectLst>
        </p:spPr>
        <p:txBody>
          <a:bodyPr wrap="square" lIns="0" tIns="0" rIns="0" bIns="0" rtlCol="0" anchor="ctr"/>
          <a:lstStyle/>
          <a:p>
            <a:pPr indent="0" marL="0">
              <a:buNone/>
            </a:pPr>
            <a:r>
              <a:rPr lang="en-US" sz="4400" b="1" dirty="0">
                <a:solidFill>
                  <a:srgbClr val="D8B15E"/>
                </a:solidFill>
                <a:latin typeface="Cambria" pitchFamily="34" charset="0"/>
                <a:ea typeface="Cambria" pitchFamily="34" charset="-122"/>
                <a:cs typeface="Cambria" pitchFamily="34" charset="-120"/>
              </a:rPr>
              <a:t>10 negara</a:t>
            </a:r>
            <a:endParaRPr lang="en-US" sz="4400" dirty="0"/>
          </a:p>
        </p:txBody>
      </p:sp>
      <p:sp>
        <p:nvSpPr>
          <p:cNvPr id="13" name="Text 7"/>
          <p:cNvSpPr txBox="1"/>
          <p:nvPr/>
        </p:nvSpPr>
        <p:spPr>
          <a:xfrm>
            <a:off x="6217920" y="2560320"/>
            <a:ext cx="2651760" cy="457200"/>
          </a:xfrm>
          <a:prstGeom prst="rect">
            <a:avLst/>
          </a:prstGeom>
          <a:noFill/>
          <a:ln/>
          <a:effectLst>
            <a:outerShdw sx="100000" sy="100000" kx="0" ky="0" algn="bl" rotWithShape="0" blurRad="1.83197493183071e+66" dist="9.15987465915355e+65" dir="1.2694994583552002e+78">
              <a:srgbClr val="000000">
                <a:alpha val="7.000000000000001e+79"/>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dilayani</a:t>
            </a:r>
            <a:endParaRPr lang="en-US" sz="2400" dirty="0"/>
          </a:p>
        </p:txBody>
      </p:sp>
      <p:sp>
        <p:nvSpPr>
          <p:cNvPr id="14" name="Text 8"/>
          <p:cNvSpPr txBox="1"/>
          <p:nvPr/>
        </p:nvSpPr>
        <p:spPr>
          <a:xfrm>
            <a:off x="9052560" y="1828800"/>
            <a:ext cx="2651760" cy="731520"/>
          </a:xfrm>
          <a:prstGeom prst="rect">
            <a:avLst/>
          </a:prstGeom>
          <a:noFill/>
          <a:ln/>
          <a:effectLst>
            <a:outerShdw sx="100000" sy="100000" kx="0" ky="0" algn="bl" rotWithShape="0" blurRad="2.3266081634250016e+70" dist="1.1633040817125008e+70" dir="7.616996750131201e+82">
              <a:srgbClr val="000000">
                <a:alpha val="7.000000000000001e+84"/>
              </a:srgbClr>
            </a:outerShdw>
          </a:effectLst>
        </p:spPr>
        <p:txBody>
          <a:bodyPr wrap="square" lIns="0" tIns="0" rIns="0" bIns="0" rtlCol="0" anchor="ctr"/>
          <a:lstStyle/>
          <a:p>
            <a:pPr indent="0" marL="0">
              <a:buNone/>
            </a:pPr>
            <a:r>
              <a:rPr lang="en-US" sz="4400" b="1" dirty="0">
                <a:solidFill>
                  <a:srgbClr val="D8B15E"/>
                </a:solidFill>
                <a:latin typeface="Cambria" pitchFamily="34" charset="0"/>
                <a:ea typeface="Cambria" pitchFamily="34" charset="-122"/>
                <a:cs typeface="Cambria" pitchFamily="34" charset="-120"/>
              </a:rPr>
              <a:t>RM 1</a:t>
            </a:r>
            <a:endParaRPr lang="en-US" sz="4400" dirty="0"/>
          </a:p>
        </p:txBody>
      </p:sp>
      <p:sp>
        <p:nvSpPr>
          <p:cNvPr id="15" name="Text 9"/>
          <p:cNvSpPr txBox="1"/>
          <p:nvPr/>
        </p:nvSpPr>
        <p:spPr>
          <a:xfrm>
            <a:off x="9052560" y="2560320"/>
            <a:ext cx="2651760" cy="457200"/>
          </a:xfrm>
          <a:prstGeom prst="rect">
            <a:avLst/>
          </a:prstGeom>
          <a:noFill/>
          <a:ln/>
          <a:effectLst>
            <a:outerShdw sx="100000" sy="100000" kx="0" ky="0" algn="bl" rotWithShape="0" blurRad="2.954792367549752e+74" dist="1.477396183774876e+74" dir="4.57019805007872e+87">
              <a:srgbClr val="000000">
                <a:alpha val="7e+89"/>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harga akuisisi</a:t>
            </a:r>
            <a:endParaRPr lang="en-US" sz="2400" dirty="0"/>
          </a:p>
        </p:txBody>
      </p:sp>
      <p:sp>
        <p:nvSpPr>
          <p:cNvPr id="16" name="Text 10"/>
          <p:cNvSpPr txBox="1"/>
          <p:nvPr/>
        </p:nvSpPr>
        <p:spPr>
          <a:xfrm>
            <a:off x="548640" y="3200400"/>
            <a:ext cx="5486400" cy="502920"/>
          </a:xfrm>
          <a:prstGeom prst="rect">
            <a:avLst/>
          </a:prstGeom>
          <a:noFill/>
          <a:ln/>
          <a:effectLst>
            <a:outerShdw sx="100000" sy="100000" kx="0" ky="0" algn="bl" rotWithShape="0" blurRad="3.752586306788185e+78" dist="1.8762931533940924e+78" dir="2.742118830047232e+92">
              <a:srgbClr val="000000">
                <a:alpha val="7e+94"/>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Milestones</a:t>
            </a:r>
            <a:endParaRPr lang="en-US" sz="2800" dirty="0"/>
          </a:p>
        </p:txBody>
      </p:sp>
      <p:sp>
        <p:nvSpPr>
          <p:cNvPr id="17" name="Text 11"/>
          <p:cNvSpPr txBox="1"/>
          <p:nvPr/>
        </p:nvSpPr>
        <p:spPr>
          <a:xfrm>
            <a:off x="548640" y="3703320"/>
            <a:ext cx="11155680" cy="2286000"/>
          </a:xfrm>
          <a:prstGeom prst="rect">
            <a:avLst/>
          </a:prstGeom>
          <a:noFill/>
          <a:ln/>
          <a:effectLst>
            <a:outerShdw sx="100000" sy="100000" kx="0" ky="0" algn="bl" rotWithShape="0" blurRad="4.765784609620995e+82" dist="2.3828923048104974e+82" dir="1.6452712980283393e+97">
              <a:srgbClr val="000000">
                <a:alpha val="7e+99"/>
              </a:srgbClr>
            </a:outerShdw>
          </a:effectLst>
        </p:spPr>
        <p:txBody>
          <a:bodyPr wrap="square" lIns="0" tIns="0" rIns="0" bIns="0" rtlCol="0" anchor="t"/>
          <a:lstStyle/>
          <a:p>
            <a:pPr indent="0" marL="0">
              <a:spcAft>
                <a:spcPts val="300"/>
              </a:spcAft>
              <a:buNone/>
            </a:pPr>
            <a:r>
              <a:rPr lang="en-US" sz="2400" b="1" dirty="0">
                <a:solidFill>
                  <a:srgbClr val="D8B15E"/>
                </a:solidFill>
                <a:latin typeface="Calibri" pitchFamily="34" charset="0"/>
                <a:ea typeface="Calibri" pitchFamily="34" charset="-122"/>
                <a:cs typeface="Calibri" pitchFamily="34" charset="-120"/>
              </a:rPr>
              <a:t>2001   </a:t>
            </a:r>
            <a:pPr indent="0" marL="0">
              <a:spcAft>
                <a:spcPts val="300"/>
              </a:spcAft>
              <a:buNone/>
            </a:pPr>
            <a:r>
              <a:rPr lang="en-US" sz="2400" dirty="0">
                <a:solidFill>
                  <a:srgbClr val="F3E8D2"/>
                </a:solidFill>
                <a:latin typeface="Calibri" pitchFamily="34" charset="0"/>
                <a:ea typeface="Calibri" pitchFamily="34" charset="-122"/>
                <a:cs typeface="Calibri" pitchFamily="34" charset="-120"/>
              </a:rPr>
              <a:t>Fernandes dan McCarthy mengambil alih AirAsia seharga RM 1</a:t>
            </a:r>
            <a:endParaRPr lang="en-US" sz="2400" dirty="0"/>
          </a:p>
          <a:p>
            <a:pPr indent="0" marL="0">
              <a:spcAft>
                <a:spcPts val="300"/>
              </a:spcAft>
              <a:buNone/>
            </a:pPr>
            <a:r>
              <a:rPr lang="en-US" sz="2400" b="1" dirty="0">
                <a:solidFill>
                  <a:srgbClr val="D8B15E"/>
                </a:solidFill>
                <a:latin typeface="Calibri" pitchFamily="34" charset="0"/>
                <a:ea typeface="Calibri" pitchFamily="34" charset="-122"/>
                <a:cs typeface="Calibri" pitchFamily="34" charset="-120"/>
              </a:rPr>
              <a:t>2002   </a:t>
            </a:r>
            <a:pPr indent="0" marL="0">
              <a:spcAft>
                <a:spcPts val="300"/>
              </a:spcAft>
              <a:buNone/>
            </a:pPr>
            <a:r>
              <a:rPr lang="en-US" sz="2400" dirty="0">
                <a:solidFill>
                  <a:srgbClr val="F3E8D2"/>
                </a:solidFill>
                <a:latin typeface="Calibri" pitchFamily="34" charset="0"/>
                <a:ea typeface="Calibri" pitchFamily="34" charset="-122"/>
                <a:cs typeface="Calibri" pitchFamily="34" charset="-120"/>
              </a:rPr>
              <a:t>Relaunch: operasi ala Ryanair, SDM ala Southwest, merek ala easyJet</a:t>
            </a:r>
            <a:endParaRPr lang="en-US" sz="2400" dirty="0"/>
          </a:p>
          <a:p>
            <a:pPr indent="0" marL="0">
              <a:spcAft>
                <a:spcPts val="300"/>
              </a:spcAft>
              <a:buNone/>
            </a:pPr>
            <a:r>
              <a:rPr lang="en-US" sz="2400" b="1" dirty="0">
                <a:solidFill>
                  <a:srgbClr val="D8B15E"/>
                </a:solidFill>
                <a:latin typeface="Calibri" pitchFamily="34" charset="0"/>
                <a:ea typeface="Calibri" pitchFamily="34" charset="-122"/>
                <a:cs typeface="Calibri" pitchFamily="34" charset="-120"/>
              </a:rPr>
              <a:t>2004   </a:t>
            </a:r>
            <a:pPr indent="0" marL="0">
              <a:spcAft>
                <a:spcPts val="300"/>
              </a:spcAft>
              <a:buNone/>
            </a:pPr>
            <a:r>
              <a:rPr lang="en-US" sz="2400" dirty="0">
                <a:solidFill>
                  <a:srgbClr val="F3E8D2"/>
                </a:solidFill>
                <a:latin typeface="Calibri" pitchFamily="34" charset="0"/>
                <a:ea typeface="Calibri" pitchFamily="34" charset="-122"/>
                <a:cs typeface="Calibri" pitchFamily="34" charset="-120"/>
              </a:rPr>
              <a:t>Rute internasional pertama, IPO RM 717 juta, JV Thailand dan Indonesia</a:t>
            </a:r>
            <a:endParaRPr lang="en-US" sz="2400" dirty="0"/>
          </a:p>
          <a:p>
            <a:pPr indent="0" marL="0">
              <a:spcAft>
                <a:spcPts val="300"/>
              </a:spcAft>
              <a:buNone/>
            </a:pPr>
            <a:r>
              <a:rPr lang="en-US" sz="2400" b="1" dirty="0">
                <a:solidFill>
                  <a:srgbClr val="D8B15E"/>
                </a:solidFill>
                <a:latin typeface="Calibri" pitchFamily="34" charset="0"/>
                <a:ea typeface="Calibri" pitchFamily="34" charset="-122"/>
                <a:cs typeface="Calibri" pitchFamily="34" charset="-120"/>
              </a:rPr>
              <a:t>2007   </a:t>
            </a:r>
            <a:pPr indent="0" marL="0">
              <a:spcAft>
                <a:spcPts val="300"/>
              </a:spcAft>
              <a:buNone/>
            </a:pPr>
            <a:r>
              <a:rPr lang="en-US" sz="2400" dirty="0">
                <a:solidFill>
                  <a:srgbClr val="F3E8D2"/>
                </a:solidFill>
                <a:latin typeface="Calibri" pitchFamily="34" charset="0"/>
                <a:ea typeface="Calibri" pitchFamily="34" charset="-122"/>
                <a:cs typeface="Calibri" pitchFamily="34" charset="-120"/>
              </a:rPr>
              <a:t>AirAsia X mulai terbang jarak jauh; 2009 membuka rute London</a:t>
            </a:r>
            <a:endParaRPr lang="en-US" sz="2400" dirty="0"/>
          </a:p>
          <a:p>
            <a:pPr indent="0" marL="0">
              <a:spcAft>
                <a:spcPts val="300"/>
              </a:spcAft>
              <a:buNone/>
            </a:pPr>
            <a:r>
              <a:rPr lang="en-US" sz="2400" b="1" dirty="0">
                <a:solidFill>
                  <a:srgbClr val="D8B15E"/>
                </a:solidFill>
                <a:latin typeface="Calibri" pitchFamily="34" charset="0"/>
                <a:ea typeface="Calibri" pitchFamily="34" charset="-122"/>
                <a:cs typeface="Calibri" pitchFamily="34" charset="-120"/>
              </a:rPr>
              <a:t>2009   </a:t>
            </a:r>
            <a:pPr indent="0" marL="0">
              <a:spcAft>
                <a:spcPts val="300"/>
              </a:spcAft>
              <a:buNone/>
            </a:pPr>
            <a:r>
              <a:rPr lang="en-US" sz="2400" dirty="0">
                <a:solidFill>
                  <a:srgbClr val="F3E8D2"/>
                </a:solidFill>
                <a:latin typeface="Calibri" pitchFamily="34" charset="0"/>
                <a:ea typeface="Calibri" pitchFamily="34" charset="-122"/>
                <a:cs typeface="Calibri" pitchFamily="34" charset="-120"/>
              </a:rPr>
              <a:t>Skytrax: World's Best Low Cost Airline; biaya per ASK terendah (UBS)</a:t>
            </a:r>
            <a:endParaRPr lang="en-US" sz="2400" dirty="0"/>
          </a:p>
        </p:txBody>
      </p:sp>
      <p:sp>
        <p:nvSpPr>
          <p:cNvPr id="18" name="Text 12"/>
          <p:cNvSpPr txBox="1"/>
          <p:nvPr/>
        </p:nvSpPr>
        <p:spPr>
          <a:xfrm>
            <a:off x="502920" y="6108192"/>
            <a:ext cx="10515600" cy="502920"/>
          </a:xfrm>
          <a:prstGeom prst="rect">
            <a:avLst/>
          </a:prstGeom>
          <a:noFill/>
          <a:ln/>
          <a:effectLst>
            <a:outerShdw sx="100000" sy="100000" kx="0" ky="0" algn="bl" rotWithShape="0" blurRad="6.052546454218663e+86" dist="3.0262732271093317e+86" dir="9.871627788170037e+101">
              <a:srgbClr val="000000">
                <a:alpha val="6.999999999999999e+104"/>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Dibangun di rute pendek. Rute jauh memunculkan masalah baru.</a:t>
            </a:r>
            <a:endParaRPr lang="en-US" sz="2200" dirty="0"/>
          </a:p>
        </p:txBody>
      </p:sp>
      <p:sp>
        <p:nvSpPr>
          <p:cNvPr id="19" name="Text 13"/>
          <p:cNvSpPr txBox="1"/>
          <p:nvPr/>
        </p:nvSpPr>
        <p:spPr>
          <a:xfrm>
            <a:off x="11247120" y="6309360"/>
            <a:ext cx="548640" cy="365760"/>
          </a:xfrm>
          <a:prstGeom prst="rect">
            <a:avLst/>
          </a:prstGeom>
          <a:noFill/>
          <a:ln/>
          <a:effectLst>
            <a:outerShdw sx="100000" sy="100000" kx="0" ky="0" algn="bl" rotWithShape="0" blurRad="7.6867339968577025e+90" dist="3.8433669984288512e+90" dir="5.9229766729020215e+106">
              <a:srgbClr val="000000">
                <a:alpha val="6.999999999999999e+109"/>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problem.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full.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7040880" cy="1143000"/>
          </a:xfrm>
          <a:prstGeom prst="rect">
            <a:avLst/>
          </a:prstGeom>
        </p:spPr>
      </p:pic>
      <p:sp>
        <p:nvSpPr>
          <p:cNvPr id="6" name="Text 0"/>
          <p:cNvSpPr txBox="1"/>
          <p:nvPr/>
        </p:nvSpPr>
        <p:spPr>
          <a:xfrm rot="-90000">
            <a:off x="274320" y="228600"/>
            <a:ext cx="704088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The strategic problem</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9.762152176009283e+94" dist="4.8810760880046414e+94" dir="3.553786003741213e+111">
              <a:srgbClr val="000000">
                <a:alpha val="6.999999999999999e+114"/>
              </a:srgbClr>
            </a:outerShdw>
          </a:effectLst>
        </p:spPr>
        <p:txBody>
          <a:bodyPr wrap="square" lIns="0" tIns="0" rIns="0" bIns="0" rtlCol="0" anchor="ctr"/>
          <a:lstStyle/>
          <a:p>
            <a:pPr indent="0" marL="0">
              <a:buNone/>
            </a:pPr>
            <a:r>
              <a:rPr lang="en-US" sz="1500" b="1" dirty="0">
                <a:solidFill>
                  <a:srgbClr val="D8B15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2788920"/>
            <a:ext cx="5120640" cy="502920"/>
          </a:xfrm>
          <a:prstGeom prst="rect">
            <a:avLst/>
          </a:prstGeom>
          <a:noFill/>
          <a:ln/>
          <a:effectLst>
            <a:outerShdw sx="100000" sy="100000" kx="0" ky="0" algn="bl" rotWithShape="0" blurRad="1.2397933263531789e+99" dist="6.198966631765894e+98" dir="2.1322716022447277e+116">
              <a:srgbClr val="000000">
                <a:alpha val="6.999999999999999e+119"/>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Tujuan (goals)</a:t>
            </a:r>
            <a:endParaRPr lang="en-US" sz="2800" dirty="0"/>
          </a:p>
        </p:txBody>
      </p:sp>
      <p:sp>
        <p:nvSpPr>
          <p:cNvPr id="9" name="Text 3"/>
          <p:cNvSpPr txBox="1"/>
          <p:nvPr/>
        </p:nvSpPr>
        <p:spPr>
          <a:xfrm>
            <a:off x="548640" y="3337560"/>
            <a:ext cx="5303520" cy="2651760"/>
          </a:xfrm>
          <a:prstGeom prst="rect">
            <a:avLst/>
          </a:prstGeom>
          <a:noFill/>
          <a:ln/>
          <a:effectLst>
            <a:outerShdw sx="100000" sy="100000" kx="0" ky="0" algn="bl" rotWithShape="0" blurRad="1.574537524468537e+103" dist="7.872687622342685e+102" dir="1.2793629613468366e+121">
              <a:srgbClr val="000000">
                <a:alpha val="6.999999999999998e+124"/>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Menjadi maskapai internasional, bukan hanya regional</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Tetap berbiaya terendah di setiap rute</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Tumbuh lewat rute gemuk (trunk routes) jarak jauh</a:t>
            </a:r>
            <a:endParaRPr lang="en-US" sz="2400" dirty="0"/>
          </a:p>
        </p:txBody>
      </p:sp>
      <p:sp>
        <p:nvSpPr>
          <p:cNvPr id="10" name="Text 4"/>
          <p:cNvSpPr txBox="1"/>
          <p:nvPr/>
        </p:nvSpPr>
        <p:spPr>
          <a:xfrm>
            <a:off x="6309360" y="2788920"/>
            <a:ext cx="5120640" cy="502920"/>
          </a:xfrm>
          <a:prstGeom prst="rect">
            <a:avLst/>
          </a:prstGeom>
          <a:noFill/>
          <a:ln/>
          <a:effectLst>
            <a:outerShdw sx="100000" sy="100000" kx="0" ky="0" algn="bl" rotWithShape="0" blurRad="1.9996626560750422e+107" dist="9.998313280375211e+106" dir="7.67617776808102e+125">
              <a:srgbClr val="000000">
                <a:alpha val="6.999999999999998e+129"/>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Hambatan (barriers)</a:t>
            </a:r>
            <a:endParaRPr lang="en-US" sz="2800" dirty="0"/>
          </a:p>
        </p:txBody>
      </p:sp>
      <p:sp>
        <p:nvSpPr>
          <p:cNvPr id="11" name="Text 5"/>
          <p:cNvSpPr txBox="1"/>
          <p:nvPr/>
        </p:nvSpPr>
        <p:spPr>
          <a:xfrm>
            <a:off x="6309360" y="3337560"/>
            <a:ext cx="5394960" cy="2651760"/>
          </a:xfrm>
          <a:prstGeom prst="rect">
            <a:avLst/>
          </a:prstGeom>
          <a:noFill/>
          <a:ln/>
          <a:effectLst>
            <a:outerShdw sx="100000" sy="100000" kx="0" ky="0" algn="bl" rotWithShape="0" blurRad="2.5395715732153033e+111" dist="1.2697857866076517e+111" dir="4.605706660848612e+130">
              <a:srgbClr val="000000">
                <a:alpha val="6.9999999999999984e+134"/>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Model LCC bertumpu pada rute pendek, satu tipe pesawat, layanan minimal</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Pesaing jarak jauh punya feeder, tiket terusan, subsidi silang</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Neraca 2008 lemah: utang RM 6,69 miliar, kas RM 153,8 juta</a:t>
            </a:r>
            <a:endParaRPr lang="en-US" sz="2400" dirty="0"/>
          </a:p>
        </p:txBody>
      </p:sp>
      <p:sp>
        <p:nvSpPr>
          <p:cNvPr id="12" name="Text 6"/>
          <p:cNvSpPr txBox="1"/>
          <p:nvPr/>
        </p:nvSpPr>
        <p:spPr>
          <a:xfrm>
            <a:off x="502920" y="6108192"/>
            <a:ext cx="10515600" cy="502920"/>
          </a:xfrm>
          <a:prstGeom prst="rect">
            <a:avLst/>
          </a:prstGeom>
          <a:noFill/>
          <a:ln/>
          <a:effectLst>
            <a:outerShdw sx="100000" sy="100000" kx="0" ky="0" algn="bl" rotWithShape="0" blurRad="3.2252558979834354e+115" dist="1.6126279489917177e+115" dir="2.763423996509167e+135">
              <a:srgbClr val="000000">
                <a:alpha val="6.999999999999999e+139"/>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Tujuan yang terhalang. Pertanyaannya dirumuskan di slide berikutnya.</a:t>
            </a:r>
            <a:endParaRPr lang="en-US" sz="2200" dirty="0"/>
          </a:p>
        </p:txBody>
      </p:sp>
      <p:sp>
        <p:nvSpPr>
          <p:cNvPr id="13" name="Text 7"/>
          <p:cNvSpPr txBox="1"/>
          <p:nvPr/>
        </p:nvSpPr>
        <p:spPr>
          <a:xfrm>
            <a:off x="11247120" y="6309360"/>
            <a:ext cx="548640" cy="365760"/>
          </a:xfrm>
          <a:prstGeom prst="rect">
            <a:avLst/>
          </a:prstGeom>
          <a:noFill/>
          <a:ln/>
          <a:effectLst>
            <a:outerShdw sx="100000" sy="100000" kx="0" ky="0" algn="bl" rotWithShape="0" blurRad="4.0960749904389626e+119" dist="2.0480374952194813e+119" dir="1.6580543979055002e+140">
              <a:srgbClr val="000000">
                <a:alpha val="6.999999999999998e+144"/>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question.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7315200" cy="1143000"/>
          </a:xfrm>
          <a:prstGeom prst="rect">
            <a:avLst/>
          </a:prstGeom>
        </p:spPr>
      </p:pic>
      <p:sp>
        <p:nvSpPr>
          <p:cNvPr id="6" name="Text 0"/>
          <p:cNvSpPr txBox="1"/>
          <p:nvPr/>
        </p:nvSpPr>
        <p:spPr>
          <a:xfrm rot="-90000">
            <a:off x="274320" y="228600"/>
            <a:ext cx="731520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The strategic question</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5.2020152378574823e+123" dist="2.6010076189287412e+123" dir="9.948326387433002e+144">
              <a:srgbClr val="000000">
                <a:alpha val="6.999999999999998e+149"/>
              </a:srgbClr>
            </a:outerShdw>
          </a:effectLst>
        </p:spPr>
        <p:txBody>
          <a:bodyPr wrap="square" lIns="0" tIns="0" rIns="0" bIns="0" rtlCol="0" anchor="ctr"/>
          <a:lstStyle/>
          <a:p>
            <a:pPr indent="0" marL="0">
              <a:buNone/>
            </a:pPr>
            <a:r>
              <a:rPr lang="en-US" sz="1500" b="1" dirty="0">
                <a:solidFill>
                  <a:srgbClr val="D8B15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6583680" cy="2194560"/>
          </a:xfrm>
          <a:prstGeom prst="rect">
            <a:avLst/>
          </a:prstGeom>
          <a:noFill/>
          <a:ln/>
          <a:effectLst>
            <a:outerShdw sx="100000" sy="100000" kx="0" ky="0" algn="bl" rotWithShape="0" blurRad="6.606559352079002e+127" dist="3.303279676039501e+127" dir="5.968995832459801e+149">
              <a:srgbClr val="000000">
                <a:alpha val="6.999999999999998e+154"/>
              </a:srgbClr>
            </a:outerShdw>
          </a:effectLst>
        </p:spPr>
        <p:txBody>
          <a:bodyPr wrap="square" lIns="0" tIns="0" rIns="0" bIns="0" rtlCol="0" anchor="t"/>
          <a:lstStyle/>
          <a:p>
            <a:pPr indent="0" marL="0">
              <a:buNone/>
            </a:pPr>
            <a:r>
              <a:rPr lang="en-US" sz="2500" b="1" dirty="0">
                <a:solidFill>
                  <a:srgbClr val="F3E8D2"/>
                </a:solidFill>
                <a:latin typeface="Calibri" pitchFamily="34" charset="0"/>
                <a:ea typeface="Calibri" pitchFamily="34" charset="-122"/>
                <a:cs typeface="Calibri" pitchFamily="34" charset="-120"/>
              </a:rPr>
              <a:t>Apakah keunggulan biaya AirAsia dapat ditransfer ke rute jauh, dan bagaimana menata hubungan dengan AirAsia X agar eksplorasi (exploration) tidak mengganggu eksploitasi (exploitation)?</a:t>
            </a:r>
            <a:endParaRPr lang="en-US" sz="2500" dirty="0"/>
          </a:p>
        </p:txBody>
      </p:sp>
      <p:sp>
        <p:nvSpPr>
          <p:cNvPr id="9" name="Text 3"/>
          <p:cNvSpPr txBox="1"/>
          <p:nvPr/>
        </p:nvSpPr>
        <p:spPr>
          <a:xfrm>
            <a:off x="548640" y="4114800"/>
            <a:ext cx="6583680" cy="1828800"/>
          </a:xfrm>
          <a:prstGeom prst="rect">
            <a:avLst/>
          </a:prstGeom>
          <a:noFill/>
          <a:ln/>
          <a:effectLst>
            <a:outerShdw sx="100000" sy="100000" kx="0" ky="0" algn="bl" rotWithShape="0" blurRad="8.390330377140333e+131" dist="4.195165188570166e+131" dir="3.581397499475881e+154">
              <a:srgbClr val="000000">
                <a:alpha val="6.999999999999998e+159"/>
              </a:srgbClr>
            </a:outerShdw>
          </a:effectLst>
        </p:spPr>
        <p:txBody>
          <a:bodyPr wrap="square" lIns="0" tIns="0" rIns="0" bIns="0" rtlCol="0" anchor="t"/>
          <a:lstStyle/>
          <a:p>
            <a:pPr indent="0" marL="0">
              <a:spcAft>
                <a:spcPts val="200"/>
              </a:spcAft>
              <a:buNone/>
            </a:pPr>
            <a:r>
              <a:rPr lang="en-US" sz="2400" dirty="0">
                <a:solidFill>
                  <a:srgbClr val="D8B15E"/>
                </a:solidFill>
                <a:latin typeface="Calibri" pitchFamily="34" charset="0"/>
                <a:ea typeface="Calibri" pitchFamily="34" charset="-122"/>
                <a:cs typeface="Calibri" pitchFamily="34" charset="-120"/>
              </a:rPr>
              <a:t>Tiga pilihan manajemen, pertengahan 2009:</a:t>
            </a:r>
            <a:endParaRPr lang="en-US" sz="2400" dirty="0"/>
          </a:p>
          <a:p>
            <a:pPr marL="342900" indent="-342900">
              <a:spcAft>
                <a:spcPts val="200"/>
              </a:spcAft>
              <a:buSzPct val="100000"/>
              <a:buChar char="▪"/>
            </a:pPr>
            <a:r>
              <a:rPr lang="en-US" sz="2400" dirty="0">
                <a:solidFill>
                  <a:srgbClr val="F3E8D2"/>
                </a:solidFill>
                <a:latin typeface="Calibri" pitchFamily="34" charset="0"/>
                <a:ea typeface="Calibri" pitchFamily="34" charset="-122"/>
                <a:cs typeface="Calibri" pitchFamily="34" charset="-120"/>
              </a:rPr>
              <a:t>Merger AirAsia X ke dalam AirAsia</a:t>
            </a:r>
            <a:endParaRPr lang="en-US" sz="2400" dirty="0"/>
          </a:p>
          <a:p>
            <a:pPr marL="342900" indent="-342900">
              <a:spcAft>
                <a:spcPts val="200"/>
              </a:spcAft>
              <a:buSzPct val="100000"/>
              <a:buChar char="▪"/>
            </a:pPr>
            <a:r>
              <a:rPr lang="en-US" sz="2400" dirty="0">
                <a:solidFill>
                  <a:srgbClr val="F3E8D2"/>
                </a:solidFill>
                <a:latin typeface="Calibri" pitchFamily="34" charset="0"/>
                <a:ea typeface="Calibri" pitchFamily="34" charset="-122"/>
                <a:cs typeface="Calibri" pitchFamily="34" charset="-120"/>
              </a:rPr>
              <a:t>Tetap terpisah dengan kontrak layanan</a:t>
            </a:r>
            <a:endParaRPr lang="en-US" sz="2400" dirty="0"/>
          </a:p>
          <a:p>
            <a:pPr marL="342900" indent="-342900">
              <a:spcAft>
                <a:spcPts val="200"/>
              </a:spcAft>
              <a:buSzPct val="100000"/>
              <a:buChar char="▪"/>
            </a:pPr>
            <a:r>
              <a:rPr lang="en-US" sz="2400" dirty="0">
                <a:solidFill>
                  <a:srgbClr val="F3E8D2"/>
                </a:solidFill>
                <a:latin typeface="Calibri" pitchFamily="34" charset="0"/>
                <a:ea typeface="Calibri" pitchFamily="34" charset="-122"/>
                <a:cs typeface="Calibri" pitchFamily="34" charset="-120"/>
              </a:rPr>
              <a:t>Kembali fokus ke pasar regional</a:t>
            </a:r>
            <a:endParaRPr lang="en-US" sz="2400" dirty="0"/>
          </a:p>
        </p:txBody>
      </p:sp>
      <p:sp>
        <p:nvSpPr>
          <p:cNvPr id="10" name="Text 4"/>
          <p:cNvSpPr txBox="1"/>
          <p:nvPr/>
        </p:nvSpPr>
        <p:spPr>
          <a:xfrm>
            <a:off x="502920" y="6108192"/>
            <a:ext cx="10515600" cy="502920"/>
          </a:xfrm>
          <a:prstGeom prst="rect">
            <a:avLst/>
          </a:prstGeom>
          <a:noFill/>
          <a:ln/>
          <a:effectLst>
            <a:outerShdw sx="100000" sy="100000" kx="0" ky="0" algn="bl" rotWithShape="0" blurRad="1.0655719578968222e+136" dist="5.327859789484111e+135" dir="2.1488384996855287e+159">
              <a:srgbClr val="000000">
                <a:alpha val="6.999999999999998e+164"/>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Tahap 2: membaca lingkungan eksternal lebih dulu.</a:t>
            </a:r>
            <a:endParaRPr lang="en-US" sz="2200" dirty="0"/>
          </a:p>
        </p:txBody>
      </p:sp>
      <p:sp>
        <p:nvSpPr>
          <p:cNvPr id="11" name="Text 5"/>
          <p:cNvSpPr txBox="1"/>
          <p:nvPr/>
        </p:nvSpPr>
        <p:spPr>
          <a:xfrm>
            <a:off x="11247120" y="6309360"/>
            <a:ext cx="548640" cy="365760"/>
          </a:xfrm>
          <a:prstGeom prst="rect">
            <a:avLst/>
          </a:prstGeom>
          <a:noFill/>
          <a:ln/>
          <a:effectLst>
            <a:outerShdw sx="100000" sy="100000" kx="0" ky="0" algn="bl" rotWithShape="0" blurRad="1.3532763865289643e+140" dist="6.766381932644821e+139" dir="1.2893030998113172e+164">
              <a:srgbClr val="000000">
                <a:alpha val="6.999999999999999e+169"/>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pestel1.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top.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red.png">    </p:cNvPr>
          <p:cNvPicPr>
            <a:picLocks noChangeAspect="1"/>
          </p:cNvPicPr>
          <p:nvPr/>
        </p:nvPicPr>
        <p:blipFill>
          <a:blip r:embed="rId4"/>
          <a:stretch>
            <a:fillRect/>
          </a:stretch>
        </p:blipFill>
        <p:spPr>
          <a:xfrm rot="-90000">
            <a:off x="274320" y="228600"/>
            <a:ext cx="5394960" cy="1051560"/>
          </a:xfrm>
          <a:prstGeom prst="rect">
            <a:avLst/>
          </a:prstGeom>
        </p:spPr>
      </p:pic>
      <p:sp>
        <p:nvSpPr>
          <p:cNvPr id="6" name="Text 0"/>
          <p:cNvSpPr txBox="1"/>
          <p:nvPr/>
        </p:nvSpPr>
        <p:spPr>
          <a:xfrm rot="-90000">
            <a:off x="274320" y="228600"/>
            <a:ext cx="5394960" cy="1051560"/>
          </a:xfrm>
          <a:prstGeom prst="rect">
            <a:avLst/>
          </a:prstGeom>
          <a:noFill/>
          <a:ln/>
        </p:spPr>
        <p:txBody>
          <a:bodyPr wrap="square" lIns="0" tIns="4445" rIns="4445" bIns="0" rtlCol="0" anchor="ctr"/>
          <a:lstStyle/>
          <a:p>
            <a:pPr algn="ctr" indent="0" marL="0">
              <a:buNone/>
            </a:pPr>
            <a:r>
              <a:rPr lang="en-US" sz="3800" b="1" dirty="0">
                <a:solidFill>
                  <a:srgbClr val="F3E8D2"/>
                </a:solidFill>
                <a:latin typeface="Cambria" pitchFamily="34" charset="0"/>
                <a:ea typeface="Cambria" pitchFamily="34" charset="-122"/>
                <a:cs typeface="Cambria" pitchFamily="34" charset="-120"/>
              </a:rPr>
              <a:t>PESTEL analysis</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1.7186610108917847e+144" dist="8.593305054458923e+143" dir="7.735818598867904e+168">
              <a:srgbClr val="000000">
                <a:alpha val="6.999999999999999e+174"/>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Shape 2"/>
          <p:cNvSpPr/>
          <p:nvPr/>
        </p:nvSpPr>
        <p:spPr>
          <a:xfrm>
            <a:off x="548640" y="1947672"/>
            <a:ext cx="502920" cy="502920"/>
          </a:xfrm>
          <a:prstGeom prst="ellipse">
            <a:avLst/>
          </a:prstGeom>
          <a:solidFill>
            <a:srgbClr val="9E1B1B"/>
          </a:solidFill>
          <a:ln w="12700">
            <a:solidFill>
              <a:srgbClr val="F3E8D2"/>
            </a:solidFill>
            <a:prstDash val="solid"/>
          </a:ln>
        </p:spPr>
      </p:sp>
      <p:sp>
        <p:nvSpPr>
          <p:cNvPr id="9" name="Text 3"/>
          <p:cNvSpPr txBox="1"/>
          <p:nvPr/>
        </p:nvSpPr>
        <p:spPr>
          <a:xfrm>
            <a:off x="548640" y="1947672"/>
            <a:ext cx="502920" cy="502920"/>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P</a:t>
            </a:r>
            <a:endParaRPr lang="en-US" sz="2200" dirty="0"/>
          </a:p>
        </p:txBody>
      </p:sp>
      <p:sp>
        <p:nvSpPr>
          <p:cNvPr id="10" name="Text 4"/>
          <p:cNvSpPr txBox="1"/>
          <p:nvPr/>
        </p:nvSpPr>
        <p:spPr>
          <a:xfrm>
            <a:off x="1234440" y="1874520"/>
            <a:ext cx="10424160" cy="640080"/>
          </a:xfrm>
          <a:prstGeom prst="rect">
            <a:avLst/>
          </a:prstGeom>
          <a:noFill/>
          <a:ln/>
          <a:effectLst>
            <a:outerShdw sx="100000" sy="100000" kx="0" ky="0" algn="bl" rotWithShape="0" blurRad="2.1826994838325667e+148" dist="1.0913497419162833e+148" dir="4.6414911593207425e+173">
              <a:srgbClr val="000000">
                <a:alpha val="6.999999999999999e+179"/>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Politik   </a:t>
            </a:r>
            <a:pPr indent="0" marL="0">
              <a:buNone/>
            </a:pPr>
            <a:r>
              <a:rPr lang="en-US" sz="2400" dirty="0">
                <a:solidFill>
                  <a:srgbClr val="F3E8D2"/>
                </a:solidFill>
                <a:latin typeface="Calibri" pitchFamily="34" charset="0"/>
                <a:ea typeface="Calibri" pitchFamily="34" charset="-122"/>
                <a:cs typeface="Calibri" pitchFamily="34" charset="-120"/>
              </a:rPr>
              <a:t>Dukungan pemerintah; rute jauh berhadapan dengan MAS</a:t>
            </a:r>
            <a:endParaRPr lang="en-US" sz="2400" dirty="0"/>
          </a:p>
        </p:txBody>
      </p:sp>
      <p:sp>
        <p:nvSpPr>
          <p:cNvPr id="11" name="Shape 5"/>
          <p:cNvSpPr/>
          <p:nvPr/>
        </p:nvSpPr>
        <p:spPr>
          <a:xfrm>
            <a:off x="548640" y="2615184"/>
            <a:ext cx="502920" cy="502920"/>
          </a:xfrm>
          <a:prstGeom prst="ellipse">
            <a:avLst/>
          </a:prstGeom>
          <a:solidFill>
            <a:srgbClr val="9E1B1B"/>
          </a:solidFill>
          <a:ln w="12700">
            <a:solidFill>
              <a:srgbClr val="F3E8D2"/>
            </a:solidFill>
            <a:prstDash val="solid"/>
          </a:ln>
        </p:spPr>
      </p:sp>
      <p:sp>
        <p:nvSpPr>
          <p:cNvPr id="12" name="Text 6"/>
          <p:cNvSpPr txBox="1"/>
          <p:nvPr/>
        </p:nvSpPr>
        <p:spPr>
          <a:xfrm>
            <a:off x="548640" y="2615184"/>
            <a:ext cx="502920" cy="502920"/>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E</a:t>
            </a:r>
            <a:endParaRPr lang="en-US" sz="2200" dirty="0"/>
          </a:p>
        </p:txBody>
      </p:sp>
      <p:sp>
        <p:nvSpPr>
          <p:cNvPr id="13" name="Text 7"/>
          <p:cNvSpPr txBox="1"/>
          <p:nvPr/>
        </p:nvSpPr>
        <p:spPr>
          <a:xfrm>
            <a:off x="1234440" y="2542032"/>
            <a:ext cx="10424160" cy="640080"/>
          </a:xfrm>
          <a:prstGeom prst="rect">
            <a:avLst/>
          </a:prstGeom>
          <a:noFill/>
          <a:ln/>
          <a:effectLst>
            <a:outerShdw sx="100000" sy="100000" kx="0" ky="0" algn="bl" rotWithShape="0" blurRad="2.77202834446736e+152" dist="1.38601417223368e+152" dir="2.7848946955924455e+178">
              <a:srgbClr val="000000">
                <a:alpha val="7e+184"/>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Ekonomi   </a:t>
            </a:r>
            <a:pPr indent="0" marL="0">
              <a:buNone/>
            </a:pPr>
            <a:r>
              <a:rPr lang="en-US" sz="2400" dirty="0">
                <a:solidFill>
                  <a:srgbClr val="F3E8D2"/>
                </a:solidFill>
                <a:latin typeface="Calibri" pitchFamily="34" charset="0"/>
                <a:ea typeface="Calibri" pitchFamily="34" charset="-122"/>
                <a:cs typeface="Calibri" pitchFamily="34" charset="-120"/>
              </a:rPr>
              <a:t>500 juta penduduk dalam 3,5 jam terbang; BBM 47% biaya</a:t>
            </a:r>
            <a:endParaRPr lang="en-US" sz="2400" dirty="0"/>
          </a:p>
        </p:txBody>
      </p:sp>
      <p:sp>
        <p:nvSpPr>
          <p:cNvPr id="14" name="Shape 8"/>
          <p:cNvSpPr/>
          <p:nvPr/>
        </p:nvSpPr>
        <p:spPr>
          <a:xfrm>
            <a:off x="548640" y="3282696"/>
            <a:ext cx="502920" cy="502920"/>
          </a:xfrm>
          <a:prstGeom prst="ellipse">
            <a:avLst/>
          </a:prstGeom>
          <a:solidFill>
            <a:srgbClr val="9E1B1B"/>
          </a:solidFill>
          <a:ln w="12700">
            <a:solidFill>
              <a:srgbClr val="F3E8D2"/>
            </a:solidFill>
            <a:prstDash val="solid"/>
          </a:ln>
        </p:spPr>
      </p:sp>
      <p:sp>
        <p:nvSpPr>
          <p:cNvPr id="15" name="Text 9"/>
          <p:cNvSpPr txBox="1"/>
          <p:nvPr/>
        </p:nvSpPr>
        <p:spPr>
          <a:xfrm>
            <a:off x="548640" y="3282696"/>
            <a:ext cx="502920" cy="502920"/>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S</a:t>
            </a:r>
            <a:endParaRPr lang="en-US" sz="2200" dirty="0"/>
          </a:p>
        </p:txBody>
      </p:sp>
      <p:sp>
        <p:nvSpPr>
          <p:cNvPr id="16" name="Text 10"/>
          <p:cNvSpPr txBox="1"/>
          <p:nvPr/>
        </p:nvSpPr>
        <p:spPr>
          <a:xfrm>
            <a:off x="1234440" y="3209544"/>
            <a:ext cx="10424160" cy="640080"/>
          </a:xfrm>
          <a:prstGeom prst="rect">
            <a:avLst/>
          </a:prstGeom>
          <a:noFill/>
          <a:ln/>
          <a:effectLst>
            <a:outerShdw sx="100000" sy="100000" kx="0" ky="0" algn="bl" rotWithShape="0" blurRad="3.520475997473547e+156" dist="1.7602379987367734e+156" dir="1.6709368173554673e+183">
              <a:srgbClr val="000000">
                <a:alpha val="7e+189"/>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Sosial   </a:t>
            </a:r>
            <a:pPr indent="0" marL="0">
              <a:buNone/>
            </a:pPr>
            <a:r>
              <a:rPr lang="en-US" sz="2400" dirty="0">
                <a:solidFill>
                  <a:srgbClr val="F3E8D2"/>
                </a:solidFill>
                <a:latin typeface="Calibri" pitchFamily="34" charset="0"/>
                <a:ea typeface="Calibri" pitchFamily="34" charset="-122"/>
                <a:cs typeface="Calibri" pitchFamily="34" charset="-120"/>
              </a:rPr>
              <a:t>Segmen menengah kurang terlayani; pasar diperluas</a:t>
            </a:r>
            <a:endParaRPr lang="en-US" sz="2400" dirty="0"/>
          </a:p>
        </p:txBody>
      </p:sp>
      <p:sp>
        <p:nvSpPr>
          <p:cNvPr id="17" name="Shape 11"/>
          <p:cNvSpPr/>
          <p:nvPr/>
        </p:nvSpPr>
        <p:spPr>
          <a:xfrm>
            <a:off x="548640" y="3950208"/>
            <a:ext cx="502920" cy="502920"/>
          </a:xfrm>
          <a:prstGeom prst="ellipse">
            <a:avLst/>
          </a:prstGeom>
          <a:solidFill>
            <a:srgbClr val="9E1B1B"/>
          </a:solidFill>
          <a:ln w="12700">
            <a:solidFill>
              <a:srgbClr val="F3E8D2"/>
            </a:solidFill>
            <a:prstDash val="solid"/>
          </a:ln>
        </p:spPr>
      </p:sp>
      <p:sp>
        <p:nvSpPr>
          <p:cNvPr id="18" name="Text 12"/>
          <p:cNvSpPr txBox="1"/>
          <p:nvPr/>
        </p:nvSpPr>
        <p:spPr>
          <a:xfrm>
            <a:off x="548640" y="3950208"/>
            <a:ext cx="502920" cy="502920"/>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T</a:t>
            </a:r>
            <a:endParaRPr lang="en-US" sz="2200" dirty="0"/>
          </a:p>
        </p:txBody>
      </p:sp>
      <p:sp>
        <p:nvSpPr>
          <p:cNvPr id="19" name="Text 13"/>
          <p:cNvSpPr txBox="1"/>
          <p:nvPr/>
        </p:nvSpPr>
        <p:spPr>
          <a:xfrm>
            <a:off x="1234440" y="3877056"/>
            <a:ext cx="10424160" cy="640080"/>
          </a:xfrm>
          <a:prstGeom prst="rect">
            <a:avLst/>
          </a:prstGeom>
          <a:noFill/>
          <a:ln/>
          <a:effectLst>
            <a:outerShdw sx="100000" sy="100000" kx="0" ky="0" algn="bl" rotWithShape="0" blurRad="4.471004516791404e+160" dist="2.235502258395702e+160" dir="1.0025620904132804e+188">
              <a:srgbClr val="000000">
                <a:alpha val="7e+194"/>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Teknologi   </a:t>
            </a:r>
            <a:pPr indent="0" marL="0">
              <a:buNone/>
            </a:pPr>
            <a:r>
              <a:rPr lang="en-US" sz="2400" dirty="0">
                <a:solidFill>
                  <a:srgbClr val="F3E8D2"/>
                </a:solidFill>
                <a:latin typeface="Calibri" pitchFamily="34" charset="0"/>
                <a:ea typeface="Calibri" pitchFamily="34" charset="-122"/>
                <a:cs typeface="Calibri" pitchFamily="34" charset="-120"/>
              </a:rPr>
              <a:t>Navitaire, yield management, ponsel; tanpa agen</a:t>
            </a:r>
            <a:endParaRPr lang="en-US" sz="2400" dirty="0"/>
          </a:p>
        </p:txBody>
      </p:sp>
      <p:sp>
        <p:nvSpPr>
          <p:cNvPr id="20" name="Shape 14"/>
          <p:cNvSpPr/>
          <p:nvPr/>
        </p:nvSpPr>
        <p:spPr>
          <a:xfrm>
            <a:off x="548640" y="4617720"/>
            <a:ext cx="502920" cy="502920"/>
          </a:xfrm>
          <a:prstGeom prst="ellipse">
            <a:avLst/>
          </a:prstGeom>
          <a:solidFill>
            <a:srgbClr val="9E1B1B"/>
          </a:solidFill>
          <a:ln w="12700">
            <a:solidFill>
              <a:srgbClr val="F3E8D2"/>
            </a:solidFill>
            <a:prstDash val="solid"/>
          </a:ln>
        </p:spPr>
      </p:sp>
      <p:sp>
        <p:nvSpPr>
          <p:cNvPr id="21" name="Text 15"/>
          <p:cNvSpPr txBox="1"/>
          <p:nvPr/>
        </p:nvSpPr>
        <p:spPr>
          <a:xfrm>
            <a:off x="548640" y="4617720"/>
            <a:ext cx="502920" cy="502920"/>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E</a:t>
            </a:r>
            <a:endParaRPr lang="en-US" sz="2200" dirty="0"/>
          </a:p>
        </p:txBody>
      </p:sp>
      <p:sp>
        <p:nvSpPr>
          <p:cNvPr id="22" name="Text 16"/>
          <p:cNvSpPr txBox="1"/>
          <p:nvPr/>
        </p:nvSpPr>
        <p:spPr>
          <a:xfrm>
            <a:off x="1234440" y="4544568"/>
            <a:ext cx="10424160" cy="640080"/>
          </a:xfrm>
          <a:prstGeom prst="rect">
            <a:avLst/>
          </a:prstGeom>
          <a:noFill/>
          <a:ln/>
          <a:effectLst>
            <a:outerShdw sx="100000" sy="100000" kx="0" ky="0" algn="bl" rotWithShape="0" blurRad="5.678175736325083e+164" dist="2.8390878681625417e+164" dir="6.015372542479682e+192">
              <a:srgbClr val="000000">
                <a:alpha val="7e+199"/>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Lingkungan   </a:t>
            </a:r>
            <a:pPr indent="0" marL="0">
              <a:buNone/>
            </a:pPr>
            <a:r>
              <a:rPr lang="en-US" sz="2400" dirty="0">
                <a:solidFill>
                  <a:srgbClr val="F3E8D2"/>
                </a:solidFill>
                <a:latin typeface="Calibri" pitchFamily="34" charset="0"/>
                <a:ea typeface="Calibri" pitchFamily="34" charset="-122"/>
                <a:cs typeface="Calibri" pitchFamily="34" charset="-120"/>
              </a:rPr>
              <a:t>A320 baru hemat BBM; A340 boros di rute jauh</a:t>
            </a:r>
            <a:endParaRPr lang="en-US" sz="2400" dirty="0"/>
          </a:p>
        </p:txBody>
      </p:sp>
      <p:sp>
        <p:nvSpPr>
          <p:cNvPr id="23" name="Shape 17"/>
          <p:cNvSpPr/>
          <p:nvPr/>
        </p:nvSpPr>
        <p:spPr>
          <a:xfrm>
            <a:off x="548640" y="5285232"/>
            <a:ext cx="502920" cy="502920"/>
          </a:xfrm>
          <a:prstGeom prst="ellipse">
            <a:avLst/>
          </a:prstGeom>
          <a:solidFill>
            <a:srgbClr val="9E1B1B"/>
          </a:solidFill>
          <a:ln w="12700">
            <a:solidFill>
              <a:srgbClr val="F3E8D2"/>
            </a:solidFill>
            <a:prstDash val="solid"/>
          </a:ln>
        </p:spPr>
      </p:sp>
      <p:sp>
        <p:nvSpPr>
          <p:cNvPr id="24" name="Text 18"/>
          <p:cNvSpPr txBox="1"/>
          <p:nvPr/>
        </p:nvSpPr>
        <p:spPr>
          <a:xfrm>
            <a:off x="548640" y="5285232"/>
            <a:ext cx="502920" cy="502920"/>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L</a:t>
            </a:r>
            <a:endParaRPr lang="en-US" sz="2200" dirty="0"/>
          </a:p>
        </p:txBody>
      </p:sp>
      <p:sp>
        <p:nvSpPr>
          <p:cNvPr id="25" name="Text 19"/>
          <p:cNvSpPr txBox="1"/>
          <p:nvPr/>
        </p:nvSpPr>
        <p:spPr>
          <a:xfrm>
            <a:off x="1234440" y="5212080"/>
            <a:ext cx="10424160" cy="640080"/>
          </a:xfrm>
          <a:prstGeom prst="rect">
            <a:avLst/>
          </a:prstGeom>
          <a:noFill/>
          <a:ln/>
          <a:effectLst>
            <a:outerShdw sx="100000" sy="100000" kx="0" ky="0" algn="bl" rotWithShape="0" blurRad="7.211283185132856e+168" dist="3.605641592566428e+168" dir="3.6092235254878095e+197">
              <a:srgbClr val="000000">
                <a:alpha val="7e+204"/>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Legal   </a:t>
            </a:r>
            <a:pPr indent="0" marL="0">
              <a:buNone/>
            </a:pPr>
            <a:r>
              <a:rPr lang="en-US" sz="2400" dirty="0">
                <a:solidFill>
                  <a:srgbClr val="F3E8D2"/>
                </a:solidFill>
                <a:latin typeface="Calibri" pitchFamily="34" charset="0"/>
                <a:ea typeface="Calibri" pitchFamily="34" charset="-122"/>
                <a:cs typeface="Calibri" pitchFamily="34" charset="-120"/>
              </a:rPr>
              <a:t>Deregulasi rute lintas negara; kepemilikan asing dibatasi</a:t>
            </a:r>
            <a:endParaRPr lang="en-US" sz="2400" dirty="0"/>
          </a:p>
        </p:txBody>
      </p:sp>
      <p:sp>
        <p:nvSpPr>
          <p:cNvPr id="26" name="Text 20"/>
          <p:cNvSpPr txBox="1"/>
          <p:nvPr/>
        </p:nvSpPr>
        <p:spPr>
          <a:xfrm>
            <a:off x="502920" y="6108192"/>
            <a:ext cx="10515600" cy="502920"/>
          </a:xfrm>
          <a:prstGeom prst="rect">
            <a:avLst/>
          </a:prstGeom>
          <a:noFill/>
          <a:ln/>
          <a:effectLst>
            <a:outerShdw sx="100000" sy="100000" kx="0" ky="0" algn="bl" rotWithShape="0" blurRad="9.158329645118728e+172" dist="4.579164822559364e+172" dir="2.1655341152926858e+202">
              <a:srgbClr val="000000">
                <a:alpha val="7e+209"/>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Peluang makro terbuka. Bisakah menjadi laba? Lihat struktur industrinya.</a:t>
            </a:r>
            <a:endParaRPr lang="en-US" sz="2200" dirty="0"/>
          </a:p>
        </p:txBody>
      </p:sp>
      <p:sp>
        <p:nvSpPr>
          <p:cNvPr id="27" name="Text 21"/>
          <p:cNvSpPr txBox="1"/>
          <p:nvPr/>
        </p:nvSpPr>
        <p:spPr>
          <a:xfrm>
            <a:off x="11247120" y="6309360"/>
            <a:ext cx="548640" cy="365760"/>
          </a:xfrm>
          <a:prstGeom prst="rect">
            <a:avLst/>
          </a:prstGeom>
          <a:noFill/>
          <a:ln/>
          <a:effectLst>
            <a:outerShdw sx="100000" sy="100000" kx="0" ky="0" algn="bl" rotWithShape="0" blurRad="1.1631078649300784e+177" dist="5.815539324650392e+176" dir="1.2993204691756116e+207">
              <a:srgbClr val="000000">
                <a:alpha val="7.000000000000001e+214"/>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fiveforces.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6766560" cy="1143000"/>
          </a:xfrm>
          <a:prstGeom prst="rect">
            <a:avLst/>
          </a:prstGeom>
        </p:spPr>
      </p:pic>
      <p:sp>
        <p:nvSpPr>
          <p:cNvPr id="6" name="Text 0"/>
          <p:cNvSpPr txBox="1"/>
          <p:nvPr/>
        </p:nvSpPr>
        <p:spPr>
          <a:xfrm rot="-90000">
            <a:off x="274320" y="228600"/>
            <a:ext cx="676656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Five Forces analysis</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1.4771469884611996e+181" dist="7.385734942305998e+180" dir="7.795922815053669e+211">
              <a:srgbClr val="000000">
                <a:alpha val="7.000000000000001e+219"/>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3291840" cy="640080"/>
          </a:xfrm>
          <a:prstGeom prst="rect">
            <a:avLst/>
          </a:prstGeom>
          <a:noFill/>
          <a:ln/>
          <a:effectLst>
            <a:outerShdw sx="100000" sy="100000" kx="0" ky="0" algn="bl" rotWithShape="0" blurRad="1.8759766753457235e+185" dist="9.379883376728618e+184" dir="4.677553689032201e+216">
              <a:srgbClr val="000000">
                <a:alpha val="7.000000000000002e+224"/>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Rivalitas antar pemain</a:t>
            </a:r>
            <a:endParaRPr lang="en-US" sz="2400" dirty="0"/>
          </a:p>
        </p:txBody>
      </p:sp>
      <p:sp>
        <p:nvSpPr>
          <p:cNvPr id="9" name="Shape 3"/>
          <p:cNvSpPr/>
          <p:nvPr/>
        </p:nvSpPr>
        <p:spPr>
          <a:xfrm>
            <a:off x="3931920" y="1965960"/>
            <a:ext cx="2286000" cy="457200"/>
          </a:xfrm>
          <a:prstGeom prst="roundRect">
            <a:avLst>
              <a:gd name="adj" fmla="val 20000"/>
            </a:avLst>
          </a:prstGeom>
          <a:solidFill>
            <a:srgbClr val="9E1B1B"/>
          </a:solidFill>
          <a:ln w="12700">
            <a:solidFill>
              <a:srgbClr val="9E1B1B"/>
            </a:solidFill>
            <a:prstDash val="solid"/>
          </a:ln>
        </p:spPr>
      </p:sp>
      <p:sp>
        <p:nvSpPr>
          <p:cNvPr id="10" name="Text 4"/>
          <p:cNvSpPr txBox="1"/>
          <p:nvPr/>
        </p:nvSpPr>
        <p:spPr>
          <a:xfrm>
            <a:off x="3931920" y="1965960"/>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TINGGI</a:t>
            </a:r>
            <a:endParaRPr lang="en-US" sz="2000" dirty="0"/>
          </a:p>
        </p:txBody>
      </p:sp>
      <p:sp>
        <p:nvSpPr>
          <p:cNvPr id="11" name="Text 5"/>
          <p:cNvSpPr txBox="1"/>
          <p:nvPr/>
        </p:nvSpPr>
        <p:spPr>
          <a:xfrm>
            <a:off x="548640" y="2587752"/>
            <a:ext cx="3291840" cy="640080"/>
          </a:xfrm>
          <a:prstGeom prst="rect">
            <a:avLst/>
          </a:prstGeom>
          <a:noFill/>
          <a:ln/>
          <a:effectLst>
            <a:outerShdw sx="100000" sy="100000" kx="0" ky="0" algn="bl" rotWithShape="0" blurRad="2.382490377689069e+189" dist="1.1912451888445345e+189" dir="2.806532213419321e+221">
              <a:srgbClr val="000000">
                <a:alpha val="7.000000000000002e+229"/>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Daya tawar pemasok</a:t>
            </a:r>
            <a:endParaRPr lang="en-US" sz="2400" dirty="0"/>
          </a:p>
        </p:txBody>
      </p:sp>
      <p:sp>
        <p:nvSpPr>
          <p:cNvPr id="12" name="Shape 6"/>
          <p:cNvSpPr/>
          <p:nvPr/>
        </p:nvSpPr>
        <p:spPr>
          <a:xfrm>
            <a:off x="3931920" y="2679192"/>
            <a:ext cx="2286000" cy="457200"/>
          </a:xfrm>
          <a:prstGeom prst="roundRect">
            <a:avLst>
              <a:gd name="adj" fmla="val 20000"/>
            </a:avLst>
          </a:prstGeom>
          <a:solidFill>
            <a:srgbClr val="9E1B1B"/>
          </a:solidFill>
          <a:ln w="12700">
            <a:solidFill>
              <a:srgbClr val="9E1B1B"/>
            </a:solidFill>
            <a:prstDash val="solid"/>
          </a:ln>
        </p:spPr>
      </p:sp>
      <p:sp>
        <p:nvSpPr>
          <p:cNvPr id="13" name="Text 7"/>
          <p:cNvSpPr txBox="1"/>
          <p:nvPr/>
        </p:nvSpPr>
        <p:spPr>
          <a:xfrm>
            <a:off x="3931920" y="2679192"/>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TINGGI</a:t>
            </a:r>
            <a:endParaRPr lang="en-US" sz="2000" dirty="0"/>
          </a:p>
        </p:txBody>
      </p:sp>
      <p:sp>
        <p:nvSpPr>
          <p:cNvPr id="14" name="Text 8"/>
          <p:cNvSpPr txBox="1"/>
          <p:nvPr/>
        </p:nvSpPr>
        <p:spPr>
          <a:xfrm>
            <a:off x="548640" y="3300984"/>
            <a:ext cx="3291840" cy="640080"/>
          </a:xfrm>
          <a:prstGeom prst="rect">
            <a:avLst/>
          </a:prstGeom>
          <a:noFill/>
          <a:ln/>
          <a:effectLst>
            <a:outerShdw sx="100000" sy="100000" kx="0" ky="0" algn="bl" rotWithShape="0" blurRad="3.0257627796651175e+193" dist="1.5128813898325588e+193" dir="1.6839193280515925e+226">
              <a:srgbClr val="000000">
                <a:alpha val="7.000000000000002e+234"/>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Daya tawar pembeli</a:t>
            </a:r>
            <a:endParaRPr lang="en-US" sz="2400" dirty="0"/>
          </a:p>
        </p:txBody>
      </p:sp>
      <p:sp>
        <p:nvSpPr>
          <p:cNvPr id="15" name="Shape 9"/>
          <p:cNvSpPr/>
          <p:nvPr/>
        </p:nvSpPr>
        <p:spPr>
          <a:xfrm>
            <a:off x="3931920" y="3392424"/>
            <a:ext cx="2286000" cy="457200"/>
          </a:xfrm>
          <a:prstGeom prst="roundRect">
            <a:avLst>
              <a:gd name="adj" fmla="val 20000"/>
            </a:avLst>
          </a:prstGeom>
          <a:solidFill>
            <a:srgbClr val="9E1B1B"/>
          </a:solidFill>
          <a:ln w="12700">
            <a:solidFill>
              <a:srgbClr val="9E1B1B"/>
            </a:solidFill>
            <a:prstDash val="solid"/>
          </a:ln>
        </p:spPr>
      </p:sp>
      <p:sp>
        <p:nvSpPr>
          <p:cNvPr id="16" name="Text 10"/>
          <p:cNvSpPr txBox="1"/>
          <p:nvPr/>
        </p:nvSpPr>
        <p:spPr>
          <a:xfrm>
            <a:off x="3931920" y="3392424"/>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TINGGI</a:t>
            </a:r>
            <a:endParaRPr lang="en-US" sz="2000" dirty="0"/>
          </a:p>
        </p:txBody>
      </p:sp>
      <p:sp>
        <p:nvSpPr>
          <p:cNvPr id="17" name="Text 11"/>
          <p:cNvSpPr txBox="1"/>
          <p:nvPr/>
        </p:nvSpPr>
        <p:spPr>
          <a:xfrm>
            <a:off x="548640" y="4014216"/>
            <a:ext cx="3291840" cy="640080"/>
          </a:xfrm>
          <a:prstGeom prst="rect">
            <a:avLst/>
          </a:prstGeom>
          <a:noFill/>
          <a:ln/>
          <a:effectLst>
            <a:outerShdw sx="100000" sy="100000" kx="0" ky="0" algn="bl" rotWithShape="0" blurRad="3.8427187301746993e+197" dist="1.9213593650873497e+197" dir="1.0103515968309554e+231">
              <a:srgbClr val="000000">
                <a:alpha val="7.000000000000002e+239"/>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Pendatang baru</a:t>
            </a:r>
            <a:endParaRPr lang="en-US" sz="2400" dirty="0"/>
          </a:p>
        </p:txBody>
      </p:sp>
      <p:sp>
        <p:nvSpPr>
          <p:cNvPr id="18" name="Shape 12"/>
          <p:cNvSpPr/>
          <p:nvPr/>
        </p:nvSpPr>
        <p:spPr>
          <a:xfrm>
            <a:off x="3931920" y="4105656"/>
            <a:ext cx="2286000" cy="457200"/>
          </a:xfrm>
          <a:prstGeom prst="roundRect">
            <a:avLst>
              <a:gd name="adj" fmla="val 20000"/>
            </a:avLst>
          </a:prstGeom>
          <a:solidFill>
            <a:srgbClr val="B8791A"/>
          </a:solidFill>
          <a:ln w="12700">
            <a:solidFill>
              <a:srgbClr val="B8791A"/>
            </a:solidFill>
            <a:prstDash val="solid"/>
          </a:ln>
        </p:spPr>
      </p:sp>
      <p:sp>
        <p:nvSpPr>
          <p:cNvPr id="19" name="Text 13"/>
          <p:cNvSpPr txBox="1"/>
          <p:nvPr/>
        </p:nvSpPr>
        <p:spPr>
          <a:xfrm>
            <a:off x="3931920" y="4105656"/>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SEDANG</a:t>
            </a:r>
            <a:endParaRPr lang="en-US" sz="2000" dirty="0"/>
          </a:p>
        </p:txBody>
      </p:sp>
      <p:sp>
        <p:nvSpPr>
          <p:cNvPr id="20" name="Text 14"/>
          <p:cNvSpPr txBox="1"/>
          <p:nvPr/>
        </p:nvSpPr>
        <p:spPr>
          <a:xfrm>
            <a:off x="548640" y="4727448"/>
            <a:ext cx="3291840" cy="640080"/>
          </a:xfrm>
          <a:prstGeom prst="rect">
            <a:avLst/>
          </a:prstGeom>
          <a:noFill/>
          <a:ln/>
          <a:effectLst>
            <a:outerShdw sx="100000" sy="100000" kx="0" ky="0" algn="bl" rotWithShape="0" blurRad="4.880252787321868e+201" dist="2.440126393660934e+201" dir="6.062109580985733e+235">
              <a:srgbClr val="000000">
                <a:alpha val="7.000000000000002e+244"/>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Substitusi (pendek/jauh)</a:t>
            </a:r>
            <a:endParaRPr lang="en-US" sz="2400" dirty="0"/>
          </a:p>
        </p:txBody>
      </p:sp>
      <p:sp>
        <p:nvSpPr>
          <p:cNvPr id="21" name="Shape 15"/>
          <p:cNvSpPr/>
          <p:nvPr/>
        </p:nvSpPr>
        <p:spPr>
          <a:xfrm>
            <a:off x="3931920" y="4818888"/>
            <a:ext cx="2286000" cy="457200"/>
          </a:xfrm>
          <a:prstGeom prst="roundRect">
            <a:avLst>
              <a:gd name="adj" fmla="val 20000"/>
            </a:avLst>
          </a:prstGeom>
          <a:solidFill>
            <a:srgbClr val="B8791A"/>
          </a:solidFill>
          <a:ln w="12700">
            <a:solidFill>
              <a:srgbClr val="B8791A"/>
            </a:solidFill>
            <a:prstDash val="solid"/>
          </a:ln>
        </p:spPr>
      </p:sp>
      <p:sp>
        <p:nvSpPr>
          <p:cNvPr id="22" name="Text 16"/>
          <p:cNvSpPr txBox="1"/>
          <p:nvPr/>
        </p:nvSpPr>
        <p:spPr>
          <a:xfrm>
            <a:off x="3931920" y="4818888"/>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SEDANG / RENDAH</a:t>
            </a:r>
            <a:endParaRPr lang="en-US" sz="2000" dirty="0"/>
          </a:p>
        </p:txBody>
      </p:sp>
      <p:sp>
        <p:nvSpPr>
          <p:cNvPr id="23" name="Text 17"/>
          <p:cNvSpPr txBox="1"/>
          <p:nvPr/>
        </p:nvSpPr>
        <p:spPr>
          <a:xfrm>
            <a:off x="6766560" y="4480560"/>
            <a:ext cx="4937760" cy="1463040"/>
          </a:xfrm>
          <a:prstGeom prst="rect">
            <a:avLst/>
          </a:prstGeom>
          <a:noFill/>
          <a:ln/>
          <a:effectLst>
            <a:outerShdw sx="100000" sy="100000" kx="0" ky="0" algn="bl" rotWithShape="0" blurRad="6.197921039898773e+205" dist="3.0989605199493864e+205" dir="3.63726574859144e+240">
              <a:srgbClr val="000000">
                <a:alpha val="7.000000000000002e+249"/>
              </a:srgbClr>
            </a:outerShdw>
          </a:effectLst>
        </p:spPr>
        <p:txBody>
          <a:bodyPr wrap="square" lIns="0" tIns="0" rIns="0" bIns="0" rtlCol="0" anchor="b"/>
          <a:lstStyle/>
          <a:p>
            <a:pPr indent="0" marL="0">
              <a:buNone/>
            </a:pPr>
            <a:r>
              <a:rPr lang="en-US" sz="2400" i="1" dirty="0">
                <a:solidFill>
                  <a:srgbClr val="F3E8D2"/>
                </a:solidFill>
                <a:latin typeface="Calibri" pitchFamily="34" charset="0"/>
                <a:ea typeface="Calibri" pitchFamily="34" charset="-122"/>
                <a:cs typeface="Calibri" pitchFamily="34" charset="-120"/>
              </a:rPr>
              <a:t>Industri kurang atraktif. Laba lahir dari posisi biaya perusahaan, sesuai logika Structure Conduct Performance.</a:t>
            </a:r>
            <a:endParaRPr lang="en-US" sz="2400" dirty="0"/>
          </a:p>
        </p:txBody>
      </p:sp>
      <p:sp>
        <p:nvSpPr>
          <p:cNvPr id="24" name="Text 18"/>
          <p:cNvSpPr txBox="1"/>
          <p:nvPr/>
        </p:nvSpPr>
        <p:spPr>
          <a:xfrm>
            <a:off x="502920" y="6108192"/>
            <a:ext cx="10515600" cy="502920"/>
          </a:xfrm>
          <a:prstGeom prst="rect">
            <a:avLst/>
          </a:prstGeom>
          <a:noFill/>
          <a:ln/>
          <a:effectLst>
            <a:outerShdw sx="100000" sy="100000" kx="0" ky="0" algn="bl" rotWithShape="0" blurRad="7.871359720671441e+209" dist="3.9356798603357206e+209" dir="2.182359449154864e+245">
              <a:srgbClr val="000000">
                <a:alpha val="7.000000000000001e+254"/>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Laba langka. Apa yang mengubah struktur ini, dan siapa yang menang?</a:t>
            </a:r>
            <a:endParaRPr lang="en-US" sz="2200" dirty="0"/>
          </a:p>
        </p:txBody>
      </p:sp>
      <p:sp>
        <p:nvSpPr>
          <p:cNvPr id="25" name="Text 19"/>
          <p:cNvSpPr txBox="1"/>
          <p:nvPr/>
        </p:nvSpPr>
        <p:spPr>
          <a:xfrm>
            <a:off x="11247120" y="6309360"/>
            <a:ext cx="548640" cy="365760"/>
          </a:xfrm>
          <a:prstGeom prst="rect">
            <a:avLst/>
          </a:prstGeom>
          <a:noFill/>
          <a:ln/>
          <a:effectLst>
            <a:outerShdw sx="100000" sy="100000" kx="0" ky="0" algn="bl" rotWithShape="0" blurRad="9.996626845252731e+213" dist="4.9983134226263654e+213" dir="1.3094156694929184e+250">
              <a:srgbClr val="000000">
                <a:alpha val="7.000000000000001e+259"/>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driving.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9875520" cy="1143000"/>
          </a:xfrm>
          <a:prstGeom prst="rect">
            <a:avLst/>
          </a:prstGeom>
        </p:spPr>
      </p:pic>
      <p:sp>
        <p:nvSpPr>
          <p:cNvPr id="6" name="Text 0"/>
          <p:cNvSpPr txBox="1"/>
          <p:nvPr/>
        </p:nvSpPr>
        <p:spPr>
          <a:xfrm rot="-90000">
            <a:off x="274320" y="228600"/>
            <a:ext cx="9875520" cy="1143000"/>
          </a:xfrm>
          <a:prstGeom prst="rect">
            <a:avLst/>
          </a:prstGeom>
          <a:noFill/>
          <a:ln/>
        </p:spPr>
        <p:txBody>
          <a:bodyPr wrap="square" lIns="0" tIns="4445" rIns="4445" bIns="0" rtlCol="0" anchor="ctr"/>
          <a:lstStyle/>
          <a:p>
            <a:pPr algn="ctr" indent="0" marL="0">
              <a:buNone/>
            </a:pPr>
            <a:r>
              <a:rPr lang="en-US" sz="3400" b="1" dirty="0">
                <a:solidFill>
                  <a:srgbClr val="9E1B1B"/>
                </a:solidFill>
                <a:latin typeface="Cambria" pitchFamily="34" charset="0"/>
                <a:ea typeface="Cambria" pitchFamily="34" charset="-122"/>
                <a:cs typeface="Cambria" pitchFamily="34" charset="-120"/>
              </a:rPr>
              <a:t>Driving forces and key success factors</a:t>
            </a:r>
            <a:endParaRPr lang="en-US" sz="3400" dirty="0"/>
          </a:p>
        </p:txBody>
      </p:sp>
      <p:sp>
        <p:nvSpPr>
          <p:cNvPr id="7" name="Text 1"/>
          <p:cNvSpPr txBox="1"/>
          <p:nvPr/>
        </p:nvSpPr>
        <p:spPr>
          <a:xfrm>
            <a:off x="502920" y="1371600"/>
            <a:ext cx="8229600" cy="365760"/>
          </a:xfrm>
          <a:prstGeom prst="rect">
            <a:avLst/>
          </a:prstGeom>
          <a:noFill/>
          <a:ln/>
          <a:effectLst>
            <a:outerShdw sx="100000" sy="100000" kx="0" ky="0" algn="bl" rotWithShape="0" blurRad="1.2695716093470969e+218" dist="6.347858046735484e+217" dir="7.85649401695751e+254">
              <a:srgbClr val="000000">
                <a:alpha val="7.000000000000001e+264"/>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3474720" cy="502920"/>
          </a:xfrm>
          <a:prstGeom prst="rect">
            <a:avLst/>
          </a:prstGeom>
          <a:noFill/>
          <a:ln/>
          <a:effectLst>
            <a:outerShdw sx="100000" sy="100000" kx="0" ky="0" algn="bl" rotWithShape="0" blurRad="1.612355943870813e+222" dist="8.061779719354066e+221" dir="4.713896410174506e+259">
              <a:srgbClr val="000000">
                <a:alpha val="7e+269"/>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Kekuatan pendorong</a:t>
            </a:r>
            <a:endParaRPr lang="en-US" sz="2800" dirty="0"/>
          </a:p>
        </p:txBody>
      </p:sp>
      <p:sp>
        <p:nvSpPr>
          <p:cNvPr id="9" name="Text 3"/>
          <p:cNvSpPr txBox="1"/>
          <p:nvPr/>
        </p:nvSpPr>
        <p:spPr>
          <a:xfrm>
            <a:off x="548640" y="2423160"/>
            <a:ext cx="3383280" cy="3474720"/>
          </a:xfrm>
          <a:prstGeom prst="rect">
            <a:avLst/>
          </a:prstGeom>
          <a:noFill/>
          <a:ln/>
          <a:effectLst>
            <a:outerShdw sx="100000" sy="100000" kx="0" ky="0" algn="bl" rotWithShape="0" blurRad="2.0476920487159326e+226" dist="1.0238460243579663e+226" dir="2.8283378461047036e+264">
              <a:srgbClr val="000000">
                <a:alpha val="7.000000000000001e+274"/>
              </a:srgbClr>
            </a:outerShdw>
          </a:effectLst>
        </p:spPr>
        <p:txBody>
          <a:bodyPr wrap="square" lIns="0" tIns="0" rIns="0" bIns="0" rtlCol="0" anchor="t"/>
          <a:lstStyle/>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Deregulasi regional</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Distribusi langsung</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Harga bahan bakar</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Kelas menengah Asia</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LCC ke rute jauh</a:t>
            </a:r>
            <a:endParaRPr lang="en-US" sz="2400" dirty="0"/>
          </a:p>
        </p:txBody>
      </p:sp>
      <p:sp>
        <p:nvSpPr>
          <p:cNvPr id="10" name="Text 4"/>
          <p:cNvSpPr txBox="1"/>
          <p:nvPr/>
        </p:nvSpPr>
        <p:spPr>
          <a:xfrm>
            <a:off x="4206240" y="1874520"/>
            <a:ext cx="3291840" cy="502920"/>
          </a:xfrm>
          <a:prstGeom prst="rect">
            <a:avLst/>
          </a:prstGeom>
          <a:noFill/>
          <a:ln/>
          <a:effectLst>
            <a:outerShdw sx="100000" sy="100000" kx="0" ky="0" algn="bl" rotWithShape="0" blurRad="2.6005689018692344e+230" dist="1.3002844509346172e+230" dir="1.6970027076628222e+269">
              <a:srgbClr val="000000">
                <a:alpha val="7.000000000000001e+279"/>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Faktor kunci</a:t>
            </a:r>
            <a:endParaRPr lang="en-US" sz="2800" dirty="0"/>
          </a:p>
        </p:txBody>
      </p:sp>
      <p:sp>
        <p:nvSpPr>
          <p:cNvPr id="11" name="Text 5"/>
          <p:cNvSpPr txBox="1"/>
          <p:nvPr/>
        </p:nvSpPr>
        <p:spPr>
          <a:xfrm>
            <a:off x="4206240" y="2423160"/>
            <a:ext cx="3291840" cy="3474720"/>
          </a:xfrm>
          <a:prstGeom prst="rect">
            <a:avLst/>
          </a:prstGeom>
          <a:noFill/>
          <a:ln/>
          <a:effectLst>
            <a:outerShdw sx="100000" sy="100000" kx="0" ky="0" algn="bl" rotWithShape="0" blurRad="3.3027225053739275e+234" dist="1.6513612526869638e+234" dir="1.0182016245976934e+274">
              <a:srgbClr val="000000">
                <a:alpha val="7e+284"/>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Biaya per ASK terendah</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Utilisasi tinggi</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Load factor tinggi</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Operasi sederhana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Merek dipercaya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SDM produktif</a:t>
            </a:r>
            <a:endParaRPr lang="en-US" sz="2400" dirty="0"/>
          </a:p>
        </p:txBody>
      </p:sp>
      <p:sp>
        <p:nvSpPr>
          <p:cNvPr id="12" name="Text 6"/>
          <p:cNvSpPr txBox="1"/>
          <p:nvPr/>
        </p:nvSpPr>
        <p:spPr>
          <a:xfrm>
            <a:off x="502920" y="6108192"/>
            <a:ext cx="10515600" cy="502920"/>
          </a:xfrm>
          <a:prstGeom prst="rect">
            <a:avLst/>
          </a:prstGeom>
          <a:noFill/>
          <a:ln/>
          <a:effectLst>
            <a:outerShdw sx="100000" sy="100000" kx="0" ky="0" algn="bl" rotWithShape="0" blurRad="4.194457581824888e+238" dist="2.097228790912444e+238" dir="6.10920974758616e+278">
              <a:srgbClr val="000000">
                <a:alpha val="7e+289"/>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Tolok ukur siap. Di kelompok pesaing mana AirAsia dan AirAsia X berada?</a:t>
            </a:r>
            <a:endParaRPr lang="en-US" sz="2200" dirty="0"/>
          </a:p>
        </p:txBody>
      </p:sp>
      <p:sp>
        <p:nvSpPr>
          <p:cNvPr id="13" name="Text 7"/>
          <p:cNvSpPr txBox="1"/>
          <p:nvPr/>
        </p:nvSpPr>
        <p:spPr>
          <a:xfrm>
            <a:off x="11247120" y="6309360"/>
            <a:ext cx="548640" cy="365760"/>
          </a:xfrm>
          <a:prstGeom prst="rect">
            <a:avLst/>
          </a:prstGeom>
          <a:noFill/>
          <a:ln/>
          <a:effectLst>
            <a:outerShdw sx="100000" sy="100000" kx="0" ky="0" algn="bl" rotWithShape="0" blurRad="5.326961128917608e+242" dist="2.663480564458804e+242" dir="3.6655258485516963e+283">
              <a:srgbClr val="000000">
                <a:alpha val="7e+294"/>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groupmap.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full.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right.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scrim_bottom.png">    </p:cNvPr>
          <p:cNvPicPr>
            <a:picLocks noChangeAspect="1"/>
          </p:cNvPicPr>
          <p:nvPr/>
        </p:nvPicPr>
        <p:blipFill>
          <a:blip r:embed="rId4"/>
          <a:stretch>
            <a:fillRect/>
          </a:stretch>
        </p:blipFill>
        <p:spPr>
          <a:xfrm>
            <a:off x="0" y="0"/>
            <a:ext cx="12188952" cy="6858000"/>
          </a:xfrm>
          <a:prstGeom prst="rect">
            <a:avLst/>
          </a:prstGeom>
        </p:spPr>
      </p:pic>
      <p:pic>
        <p:nvPicPr>
          <p:cNvPr id="6" name="Image 4" descr="/tmp/claude-0/-home-user-Dom-Manipulation/a70c4110-05d8-512e-ae11-d08dee025a7a/scratchpad/img/band_cream.png">    </p:cNvPr>
          <p:cNvPicPr>
            <a:picLocks noChangeAspect="1"/>
          </p:cNvPicPr>
          <p:nvPr/>
        </p:nvPicPr>
        <p:blipFill>
          <a:blip r:embed="rId5"/>
          <a:stretch>
            <a:fillRect/>
          </a:stretch>
        </p:blipFill>
        <p:spPr>
          <a:xfrm rot="-90000">
            <a:off x="274320" y="228600"/>
            <a:ext cx="6492240" cy="1143000"/>
          </a:xfrm>
          <a:prstGeom prst="rect">
            <a:avLst/>
          </a:prstGeom>
        </p:spPr>
      </p:pic>
      <p:sp>
        <p:nvSpPr>
          <p:cNvPr id="7" name="Text 0"/>
          <p:cNvSpPr txBox="1"/>
          <p:nvPr/>
        </p:nvSpPr>
        <p:spPr>
          <a:xfrm rot="-90000">
            <a:off x="274320" y="228600"/>
            <a:ext cx="649224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Strategic group map</a:t>
            </a:r>
            <a:endParaRPr lang="en-US" sz="3800" dirty="0"/>
          </a:p>
        </p:txBody>
      </p:sp>
      <p:sp>
        <p:nvSpPr>
          <p:cNvPr id="8" name="Text 1"/>
          <p:cNvSpPr txBox="1"/>
          <p:nvPr/>
        </p:nvSpPr>
        <p:spPr>
          <a:xfrm>
            <a:off x="502920" y="1371600"/>
            <a:ext cx="8229600" cy="365760"/>
          </a:xfrm>
          <a:prstGeom prst="rect">
            <a:avLst/>
          </a:prstGeom>
          <a:noFill/>
          <a:ln/>
          <a:effectLst>
            <a:outerShdw sx="100000" sy="100000" kx="0" ky="0" algn="bl" rotWithShape="0" blurRad="6.765240633725363e+246" dist="3.3826203168626813e+246" dir="2.1993155091310177e+288">
              <a:srgbClr val="000000">
                <a:alpha val="7e+299"/>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9" name="Shape 2"/>
          <p:cNvSpPr/>
          <p:nvPr/>
        </p:nvSpPr>
        <p:spPr>
          <a:xfrm>
            <a:off x="548640" y="3749040"/>
            <a:ext cx="6766560" cy="0"/>
          </a:xfrm>
          <a:prstGeom prst="line">
            <a:avLst/>
          </a:prstGeom>
          <a:noFill/>
          <a:ln w="15875">
            <a:solidFill>
              <a:srgbClr val="F3E8D2"/>
            </a:solidFill>
            <a:prstDash val="dash"/>
          </a:ln>
        </p:spPr>
      </p:sp>
      <p:sp>
        <p:nvSpPr>
          <p:cNvPr id="10" name="Shape 3"/>
          <p:cNvSpPr/>
          <p:nvPr/>
        </p:nvSpPr>
        <p:spPr>
          <a:xfrm>
            <a:off x="3931920" y="1828800"/>
            <a:ext cx="0" cy="3840480"/>
          </a:xfrm>
          <a:prstGeom prst="line">
            <a:avLst/>
          </a:prstGeom>
          <a:noFill/>
          <a:ln w="15875">
            <a:solidFill>
              <a:srgbClr val="F3E8D2"/>
            </a:solidFill>
            <a:prstDash val="dash"/>
          </a:ln>
        </p:spPr>
      </p:sp>
      <p:sp>
        <p:nvSpPr>
          <p:cNvPr id="11" name="Text 4"/>
          <p:cNvSpPr txBox="1"/>
          <p:nvPr/>
        </p:nvSpPr>
        <p:spPr>
          <a:xfrm>
            <a:off x="548640" y="5687568"/>
            <a:ext cx="2743200" cy="365760"/>
          </a:xfrm>
          <a:prstGeom prst="rect">
            <a:avLst/>
          </a:prstGeom>
          <a:noFill/>
          <a:ln/>
          <a:effectLst>
            <a:outerShdw sx="100000" sy="100000" kx="0" ky="0" algn="bl" rotWithShape="0" blurRad="8.59185560483121e+250" dist="4.295927802415605e+250" dir="1.3195893054786106e+293">
              <a:srgbClr val="000000">
                <a:alpha val="7.000000000000001e+304"/>
              </a:srgbClr>
            </a:outerShdw>
          </a:effectLst>
        </p:spPr>
        <p:txBody>
          <a:bodyPr wrap="square" lIns="0" tIns="0" rIns="0" bIns="0" rtlCol="0" anchor="ctr"/>
          <a:lstStyle/>
          <a:p>
            <a:pPr algn="l" indent="0" marL="0">
              <a:buNone/>
            </a:pPr>
            <a:r>
              <a:rPr lang="en-US" sz="1800" b="1" dirty="0">
                <a:solidFill>
                  <a:srgbClr val="F3E8D2"/>
                </a:solidFill>
                <a:latin typeface="Calibri" pitchFamily="34" charset="0"/>
                <a:ea typeface="Calibri" pitchFamily="34" charset="-122"/>
                <a:cs typeface="Calibri" pitchFamily="34" charset="-120"/>
              </a:rPr>
              <a:t>Regional</a:t>
            </a:r>
            <a:endParaRPr lang="en-US" sz="1800" dirty="0"/>
          </a:p>
        </p:txBody>
      </p:sp>
      <p:sp>
        <p:nvSpPr>
          <p:cNvPr id="12" name="Text 5"/>
          <p:cNvSpPr txBox="1"/>
          <p:nvPr/>
        </p:nvSpPr>
        <p:spPr>
          <a:xfrm>
            <a:off x="4572000" y="5687568"/>
            <a:ext cx="2743200" cy="365760"/>
          </a:xfrm>
          <a:prstGeom prst="rect">
            <a:avLst/>
          </a:prstGeom>
          <a:noFill/>
          <a:ln/>
          <a:effectLst>
            <a:outerShdw sx="100000" sy="100000" kx="0" ky="0" algn="bl" rotWithShape="0" blurRad="1.0911656618135637e+255" dist="5.455828309067819e+254" dir="7.917535832871664e+297">
              <a:srgbClr val="000000">
                <a:alpha val="Infinity"/>
              </a:srgbClr>
            </a:outerShdw>
          </a:effectLst>
        </p:spPr>
        <p:txBody>
          <a:bodyPr wrap="square" lIns="0" tIns="0" rIns="0" bIns="0" rtlCol="0" anchor="ctr"/>
          <a:lstStyle/>
          <a:p>
            <a:pPr algn="r" indent="0" marL="0">
              <a:buNone/>
            </a:pPr>
            <a:r>
              <a:rPr lang="en-US" sz="1800" b="1" dirty="0">
                <a:solidFill>
                  <a:srgbClr val="F3E8D2"/>
                </a:solidFill>
                <a:latin typeface="Calibri" pitchFamily="34" charset="0"/>
                <a:ea typeface="Calibri" pitchFamily="34" charset="-122"/>
                <a:cs typeface="Calibri" pitchFamily="34" charset="-120"/>
              </a:rPr>
              <a:t>Jarak jauh</a:t>
            </a:r>
            <a:endParaRPr lang="en-US" sz="1800" dirty="0"/>
          </a:p>
        </p:txBody>
      </p:sp>
      <p:sp>
        <p:nvSpPr>
          <p:cNvPr id="13" name="Text 6"/>
          <p:cNvSpPr txBox="1"/>
          <p:nvPr/>
        </p:nvSpPr>
        <p:spPr>
          <a:xfrm>
            <a:off x="548640" y="1847088"/>
            <a:ext cx="3200400" cy="365760"/>
          </a:xfrm>
          <a:prstGeom prst="rect">
            <a:avLst/>
          </a:prstGeom>
          <a:noFill/>
          <a:ln/>
          <a:effectLst>
            <a:outerShdw sx="100000" sy="100000" kx="0" ky="0" algn="bl" rotWithShape="0" blurRad="1.3857803905032259e+259" dist="6.928901952516129e+258" dir="4.750521499722998e+302">
              <a:srgbClr val="000000">
                <a:alpha val="Infinity"/>
              </a:srgbClr>
            </a:outerShdw>
          </a:effectLst>
        </p:spPr>
        <p:txBody>
          <a:bodyPr wrap="square" lIns="0" tIns="0" rIns="0" bIns="0" rtlCol="0" anchor="ctr"/>
          <a:lstStyle/>
          <a:p>
            <a:pPr algn="l" indent="0" marL="0">
              <a:buNone/>
            </a:pPr>
            <a:r>
              <a:rPr lang="en-US" sz="1800" b="1" dirty="0">
                <a:solidFill>
                  <a:srgbClr val="F3E8D2"/>
                </a:solidFill>
                <a:latin typeface="Calibri" pitchFamily="34" charset="0"/>
                <a:ea typeface="Calibri" pitchFamily="34" charset="-122"/>
                <a:cs typeface="Calibri" pitchFamily="34" charset="-120"/>
              </a:rPr>
              <a:t>Layanan dan biaya tinggi</a:t>
            </a:r>
            <a:endParaRPr lang="en-US" sz="1800" dirty="0"/>
          </a:p>
        </p:txBody>
      </p:sp>
      <p:sp>
        <p:nvSpPr>
          <p:cNvPr id="14" name="Shape 7"/>
          <p:cNvSpPr/>
          <p:nvPr/>
        </p:nvSpPr>
        <p:spPr>
          <a:xfrm>
            <a:off x="4114800" y="2103120"/>
            <a:ext cx="2926080" cy="1188720"/>
          </a:xfrm>
          <a:prstGeom prst="ellipse">
            <a:avLst/>
          </a:prstGeom>
          <a:solidFill>
            <a:srgbClr val="6E6259"/>
          </a:solidFill>
          <a:ln w="19050">
            <a:solidFill>
              <a:srgbClr val="F3E8D2"/>
            </a:solidFill>
            <a:prstDash val="solid"/>
          </a:ln>
          <a:effectLst>
            <a:outerShdw sx="100000" sy="100000" kx="0" ky="0" algn="bl" rotWithShape="0" blurRad="76200" dist="38100" dir="2700000">
              <a:srgbClr val="000000">
                <a:alpha val="50000"/>
              </a:srgbClr>
            </a:outerShdw>
          </a:effectLst>
        </p:spPr>
      </p:sp>
      <p:sp>
        <p:nvSpPr>
          <p:cNvPr id="15" name="Text 8"/>
          <p:cNvSpPr txBox="1"/>
          <p:nvPr/>
        </p:nvSpPr>
        <p:spPr>
          <a:xfrm>
            <a:off x="4251960" y="2148840"/>
            <a:ext cx="2651760" cy="109728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Network carriers</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Emirates, BA, MAS</a:t>
            </a:r>
            <a:endParaRPr lang="en-US" sz="2200" dirty="0"/>
          </a:p>
        </p:txBody>
      </p:sp>
      <p:sp>
        <p:nvSpPr>
          <p:cNvPr id="16" name="Shape 9"/>
          <p:cNvSpPr/>
          <p:nvPr/>
        </p:nvSpPr>
        <p:spPr>
          <a:xfrm>
            <a:off x="731520" y="2286000"/>
            <a:ext cx="2926080" cy="1097280"/>
          </a:xfrm>
          <a:prstGeom prst="ellipse">
            <a:avLst/>
          </a:prstGeom>
          <a:solidFill>
            <a:srgbClr val="A69B8C"/>
          </a:solidFill>
          <a:ln w="19050">
            <a:solidFill>
              <a:srgbClr val="F3E8D2"/>
            </a:solidFill>
            <a:prstDash val="solid"/>
          </a:ln>
          <a:effectLst>
            <a:outerShdw sx="100000" sy="100000" kx="0" ky="0" algn="bl" rotWithShape="0" blurRad="76200" dist="38100" dir="2700000">
              <a:srgbClr val="000000">
                <a:alpha val="50000"/>
              </a:srgbClr>
            </a:outerShdw>
          </a:effectLst>
        </p:spPr>
      </p:sp>
      <p:sp>
        <p:nvSpPr>
          <p:cNvPr id="17" name="Text 10"/>
          <p:cNvSpPr txBox="1"/>
          <p:nvPr/>
        </p:nvSpPr>
        <p:spPr>
          <a:xfrm>
            <a:off x="868680" y="2331720"/>
            <a:ext cx="2651760" cy="100584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Full service regional</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MAS domestik, SIA</a:t>
            </a:r>
            <a:endParaRPr lang="en-US" sz="2200" dirty="0"/>
          </a:p>
        </p:txBody>
      </p:sp>
      <p:sp>
        <p:nvSpPr>
          <p:cNvPr id="18" name="Shape 11"/>
          <p:cNvSpPr/>
          <p:nvPr/>
        </p:nvSpPr>
        <p:spPr>
          <a:xfrm>
            <a:off x="731520" y="4343400"/>
            <a:ext cx="2926080" cy="1188720"/>
          </a:xfrm>
          <a:prstGeom prst="ellipse">
            <a:avLst/>
          </a:prstGeom>
          <a:solidFill>
            <a:srgbClr val="9E1B1B"/>
          </a:solidFill>
          <a:ln w="19050">
            <a:solidFill>
              <a:srgbClr val="F3E8D2"/>
            </a:solidFill>
            <a:prstDash val="solid"/>
          </a:ln>
          <a:effectLst>
            <a:outerShdw sx="100000" sy="100000" kx="0" ky="0" algn="bl" rotWithShape="0" blurRad="76200" dist="38100" dir="2700000">
              <a:srgbClr val="000000">
                <a:alpha val="50000"/>
              </a:srgbClr>
            </a:outerShdw>
          </a:effectLst>
        </p:spPr>
      </p:sp>
      <p:sp>
        <p:nvSpPr>
          <p:cNvPr id="19" name="Text 12"/>
          <p:cNvSpPr txBox="1"/>
          <p:nvPr/>
        </p:nvSpPr>
        <p:spPr>
          <a:xfrm>
            <a:off x="868680" y="4389120"/>
            <a:ext cx="2651760" cy="109728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LCC regional</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AirAsia, Tiger, Cebu</a:t>
            </a:r>
            <a:endParaRPr lang="en-US" sz="2200" dirty="0"/>
          </a:p>
        </p:txBody>
      </p:sp>
      <p:sp>
        <p:nvSpPr>
          <p:cNvPr id="20" name="Shape 13"/>
          <p:cNvSpPr/>
          <p:nvPr/>
        </p:nvSpPr>
        <p:spPr>
          <a:xfrm>
            <a:off x="4114800" y="4251960"/>
            <a:ext cx="2926080" cy="1188720"/>
          </a:xfrm>
          <a:prstGeom prst="ellipse">
            <a:avLst/>
          </a:prstGeom>
          <a:solidFill>
            <a:srgbClr val="6B1414"/>
          </a:solidFill>
          <a:ln w="19050">
            <a:solidFill>
              <a:srgbClr val="F3E8D2"/>
            </a:solidFill>
            <a:prstDash val="solid"/>
          </a:ln>
          <a:effectLst>
            <a:outerShdw sx="100000" sy="100000" kx="0" ky="0" algn="bl" rotWithShape="0" blurRad="76200" dist="38100" dir="2700000">
              <a:srgbClr val="000000">
                <a:alpha val="50000"/>
              </a:srgbClr>
            </a:outerShdw>
          </a:effectLst>
        </p:spPr>
      </p:sp>
      <p:sp>
        <p:nvSpPr>
          <p:cNvPr id="21" name="Text 14"/>
          <p:cNvSpPr txBox="1"/>
          <p:nvPr/>
        </p:nvSpPr>
        <p:spPr>
          <a:xfrm>
            <a:off x="4251960" y="4297680"/>
            <a:ext cx="2651760" cy="109728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LCC jarak jauh</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AirAsia X</a:t>
            </a:r>
            <a:endParaRPr lang="en-US" sz="2200" dirty="0"/>
          </a:p>
        </p:txBody>
      </p:sp>
      <p:sp>
        <p:nvSpPr>
          <p:cNvPr id="22" name="Shape 15"/>
          <p:cNvSpPr/>
          <p:nvPr/>
        </p:nvSpPr>
        <p:spPr>
          <a:xfrm>
            <a:off x="3657600" y="4663440"/>
            <a:ext cx="457200" cy="365760"/>
          </a:xfrm>
          <a:prstGeom prst="rightArrow">
            <a:avLst/>
          </a:prstGeom>
          <a:solidFill>
            <a:srgbClr val="2A1E14"/>
          </a:solidFill>
          <a:ln w="12700">
            <a:solidFill>
              <a:srgbClr val="2A1E14"/>
            </a:solidFill>
            <a:prstDash val="solid"/>
          </a:ln>
        </p:spPr>
      </p:sp>
      <p:sp>
        <p:nvSpPr>
          <p:cNvPr id="23" name="Text 16"/>
          <p:cNvSpPr txBox="1"/>
          <p:nvPr/>
        </p:nvSpPr>
        <p:spPr>
          <a:xfrm>
            <a:off x="7772400" y="2011680"/>
            <a:ext cx="3931920" cy="3840480"/>
          </a:xfrm>
          <a:prstGeom prst="rect">
            <a:avLst/>
          </a:prstGeom>
          <a:noFill/>
          <a:ln/>
          <a:effectLst>
            <a:outerShdw sx="100000" sy="100000" kx="0" ky="0" algn="bl" rotWithShape="0" blurRad="1.759941095939097e+263" dist="8.799705479695485e+262" dir="2.850312899833799e+307">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AirAsia X pindah kelompok. Lawannya bukan LCC lain, melainkan network carriers yang mampu mensubsidi harga ekonomi dari kelas premium.</a:t>
            </a:r>
            <a:endParaRPr lang="en-US" sz="2400" dirty="0"/>
          </a:p>
        </p:txBody>
      </p:sp>
      <p:sp>
        <p:nvSpPr>
          <p:cNvPr id="24" name="Text 17"/>
          <p:cNvSpPr txBox="1"/>
          <p:nvPr/>
        </p:nvSpPr>
        <p:spPr>
          <a:xfrm>
            <a:off x="502920" y="6108192"/>
            <a:ext cx="10515600" cy="502920"/>
          </a:xfrm>
          <a:prstGeom prst="rect">
            <a:avLst/>
          </a:prstGeom>
          <a:noFill/>
          <a:ln/>
          <a:effectLst>
            <a:outerShdw sx="100000" sy="100000" kx="0" ky="0" algn="bl" rotWithShape="0" blurRad="2.235125191842653e+267" dist="1.1175625959213265e+267"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Tahap 2 selesai. Tahap 3: seberapa kuat posisi biaya AirAsia sendiri?</a:t>
            </a:r>
            <a:endParaRPr lang="en-US" sz="2200" dirty="0"/>
          </a:p>
        </p:txBody>
      </p:sp>
      <p:sp>
        <p:nvSpPr>
          <p:cNvPr id="25" name="Text 18"/>
          <p:cNvSpPr txBox="1"/>
          <p:nvPr/>
        </p:nvSpPr>
        <p:spPr>
          <a:xfrm>
            <a:off x="11247120" y="6309360"/>
            <a:ext cx="548640" cy="365760"/>
          </a:xfrm>
          <a:prstGeom prst="rect">
            <a:avLst/>
          </a:prstGeom>
          <a:noFill/>
          <a:ln/>
          <a:effectLst>
            <a:outerShdw sx="100000" sy="100000" kx="0" ky="0" algn="bl" rotWithShape="0" blurRad="2.8386089936401693e+271" dist="1.4193044968200846e+271"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benchmark.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bottom.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band_red.png">    </p:cNvPr>
          <p:cNvPicPr>
            <a:picLocks noChangeAspect="1"/>
          </p:cNvPicPr>
          <p:nvPr/>
        </p:nvPicPr>
        <p:blipFill>
          <a:blip r:embed="rId3"/>
          <a:stretch>
            <a:fillRect/>
          </a:stretch>
        </p:blipFill>
        <p:spPr>
          <a:xfrm rot="-90000">
            <a:off x="274320" y="228600"/>
            <a:ext cx="5943600" cy="1051560"/>
          </a:xfrm>
          <a:prstGeom prst="rect">
            <a:avLst/>
          </a:prstGeom>
        </p:spPr>
      </p:pic>
      <p:sp>
        <p:nvSpPr>
          <p:cNvPr id="5" name="Text 0"/>
          <p:cNvSpPr txBox="1"/>
          <p:nvPr/>
        </p:nvSpPr>
        <p:spPr>
          <a:xfrm rot="-90000">
            <a:off x="274320" y="228600"/>
            <a:ext cx="5943600" cy="1051560"/>
          </a:xfrm>
          <a:prstGeom prst="rect">
            <a:avLst/>
          </a:prstGeom>
          <a:noFill/>
          <a:ln/>
        </p:spPr>
        <p:txBody>
          <a:bodyPr wrap="square" lIns="0" tIns="4445" rIns="4445" bIns="0" rtlCol="0" anchor="ctr"/>
          <a:lstStyle/>
          <a:p>
            <a:pPr algn="ctr" indent="0" marL="0">
              <a:buNone/>
            </a:pPr>
            <a:r>
              <a:rPr lang="en-US" sz="3800" b="1" dirty="0">
                <a:solidFill>
                  <a:srgbClr val="F3E8D2"/>
                </a:solidFill>
                <a:latin typeface="Cambria" pitchFamily="34" charset="0"/>
                <a:ea typeface="Cambria" pitchFamily="34" charset="-122"/>
                <a:cs typeface="Cambria" pitchFamily="34" charset="-120"/>
              </a:rPr>
              <a:t>Cost benchmarking</a:t>
            </a:r>
            <a:endParaRPr lang="en-US" sz="3800" dirty="0"/>
          </a:p>
        </p:txBody>
      </p:sp>
      <p:sp>
        <p:nvSpPr>
          <p:cNvPr id="6" name="Text 1"/>
          <p:cNvSpPr txBox="1"/>
          <p:nvPr/>
        </p:nvSpPr>
        <p:spPr>
          <a:xfrm>
            <a:off x="502920" y="1371600"/>
            <a:ext cx="8229600" cy="365760"/>
          </a:xfrm>
          <a:prstGeom prst="rect">
            <a:avLst/>
          </a:prstGeom>
          <a:noFill/>
          <a:ln/>
          <a:effectLst>
            <a:outerShdw sx="100000" sy="100000" kx="0" ky="0" algn="bl" rotWithShape="0" blurRad="3.605033421923015e+275" dist="1.8025167109615074e+275"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pic>
        <p:nvPicPr>
          <p:cNvPr id="7" name="Image 3" descr="/tmp/claude-0/-home-user-Dom-Manipulation/a70c4110-05d8-512e-ae11-d08dee025a7a/scratchpad/img/sheet.png">    </p:cNvPr>
          <p:cNvPicPr>
            <a:picLocks noChangeAspect="1"/>
          </p:cNvPicPr>
          <p:nvPr/>
        </p:nvPicPr>
        <p:blipFill>
          <a:blip r:embed="rId4"/>
          <a:stretch>
            <a:fillRect/>
          </a:stretch>
        </p:blipFill>
        <p:spPr>
          <a:xfrm rot="-90000">
            <a:off x="320040" y="1691640"/>
            <a:ext cx="6675120" cy="4297680"/>
          </a:xfrm>
          <a:prstGeom prst="rect">
            <a:avLst/>
          </a:prstGeom>
        </p:spPr>
      </p:pic>
      <p:graphicFrame>
        <p:nvGraphicFramePr>
          <p:cNvPr id="8" name="Chart 0" descr=""/>
          <p:cNvGraphicFramePr/>
          <p:nvPr/>
        </p:nvGraphicFramePr>
        <p:xfrm>
          <a:off x="731520" y="1920240"/>
          <a:ext cx="5852160" cy="3794760"/>
        </p:xfrm>
        <a:graphic xmlns:a="http://schemas.openxmlformats.org/drawingml/2006/main">
          <a:graphicData uri="http://schemas.openxmlformats.org/drawingml/2006/chart">
            <c:chart xmlns:c="http://schemas.openxmlformats.org/drawingml/2006/chart" r:id="rId5"/>
          </a:graphicData>
        </a:graphic>
      </p:graphicFrame>
      <p:sp>
        <p:nvSpPr>
          <p:cNvPr id="9" name="Text 2"/>
          <p:cNvSpPr txBox="1"/>
          <p:nvPr/>
        </p:nvSpPr>
        <p:spPr>
          <a:xfrm>
            <a:off x="7406640" y="3931920"/>
            <a:ext cx="2743200" cy="548640"/>
          </a:xfrm>
          <a:prstGeom prst="rect">
            <a:avLst/>
          </a:prstGeom>
          <a:noFill/>
          <a:ln/>
          <a:effectLst>
            <a:outerShdw sx="100000" sy="100000" kx="0" ky="0" algn="bl" rotWithShape="0" blurRad="4.578392445842229e+279" dist="2.2891962229211143e+279" dir="Infinity">
              <a:srgbClr val="000000">
                <a:alpha val="Infinity"/>
              </a:srgbClr>
            </a:outerShdw>
          </a:effectLst>
        </p:spPr>
        <p:txBody>
          <a:bodyPr wrap="square" lIns="0" tIns="0" rIns="0" bIns="0" rtlCol="0" anchor="ctr"/>
          <a:lstStyle/>
          <a:p>
            <a:pPr indent="0" marL="0">
              <a:buNone/>
            </a:pPr>
            <a:r>
              <a:rPr lang="en-US" sz="3000" b="1" dirty="0">
                <a:solidFill>
                  <a:srgbClr val="D8B15E"/>
                </a:solidFill>
                <a:latin typeface="Cambria" pitchFamily="34" charset="0"/>
                <a:ea typeface="Cambria" pitchFamily="34" charset="-122"/>
                <a:cs typeface="Cambria" pitchFamily="34" charset="-120"/>
              </a:rPr>
              <a:t>49 vs 175</a:t>
            </a:r>
            <a:endParaRPr lang="en-US" sz="3000" dirty="0"/>
          </a:p>
        </p:txBody>
      </p:sp>
      <p:sp>
        <p:nvSpPr>
          <p:cNvPr id="10" name="Text 3"/>
          <p:cNvSpPr txBox="1"/>
          <p:nvPr/>
        </p:nvSpPr>
        <p:spPr>
          <a:xfrm>
            <a:off x="7406640" y="4480560"/>
            <a:ext cx="4206240" cy="457200"/>
          </a:xfrm>
          <a:prstGeom prst="rect">
            <a:avLst/>
          </a:prstGeom>
          <a:noFill/>
          <a:ln/>
          <a:effectLst>
            <a:outerShdw sx="100000" sy="100000" kx="0" ky="0" algn="bl" rotWithShape="0" blurRad="5.8145584062196306e+283" dist="2.9072792031098153e+283" dir="Infinity">
              <a:srgbClr val="000000">
                <a:alpha val="Infinity"/>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karyawan per pesawat</a:t>
            </a:r>
            <a:endParaRPr lang="en-US" sz="2400" dirty="0"/>
          </a:p>
        </p:txBody>
      </p:sp>
      <p:sp>
        <p:nvSpPr>
          <p:cNvPr id="11" name="Text 4"/>
          <p:cNvSpPr txBox="1"/>
          <p:nvPr/>
        </p:nvSpPr>
        <p:spPr>
          <a:xfrm>
            <a:off x="7406640" y="4983480"/>
            <a:ext cx="2743200" cy="548640"/>
          </a:xfrm>
          <a:prstGeom prst="rect">
            <a:avLst/>
          </a:prstGeom>
          <a:noFill/>
          <a:ln/>
          <a:effectLst>
            <a:outerShdw sx="100000" sy="100000" kx="0" ky="0" algn="bl" rotWithShape="0" blurRad="7.384489175898931e+287" dist="3.6922445879494656e+287" dir="Infinity">
              <a:srgbClr val="000000">
                <a:alpha val="Infinity"/>
              </a:srgbClr>
            </a:outerShdw>
          </a:effectLst>
        </p:spPr>
        <p:txBody>
          <a:bodyPr wrap="square" lIns="0" tIns="0" rIns="0" bIns="0" rtlCol="0" anchor="ctr"/>
          <a:lstStyle/>
          <a:p>
            <a:pPr indent="0" marL="0">
              <a:buNone/>
            </a:pPr>
            <a:r>
              <a:rPr lang="en-US" sz="3000" b="1" dirty="0">
                <a:solidFill>
                  <a:srgbClr val="D8B15E"/>
                </a:solidFill>
                <a:latin typeface="Cambria" pitchFamily="34" charset="0"/>
                <a:ea typeface="Cambria" pitchFamily="34" charset="-122"/>
                <a:cs typeface="Cambria" pitchFamily="34" charset="-120"/>
              </a:rPr>
              <a:t>75% vs 67,8%</a:t>
            </a:r>
            <a:endParaRPr lang="en-US" sz="3000" dirty="0"/>
          </a:p>
        </p:txBody>
      </p:sp>
      <p:sp>
        <p:nvSpPr>
          <p:cNvPr id="12" name="Text 5"/>
          <p:cNvSpPr txBox="1"/>
          <p:nvPr/>
        </p:nvSpPr>
        <p:spPr>
          <a:xfrm>
            <a:off x="7406640" y="5532120"/>
            <a:ext cx="4206240" cy="457200"/>
          </a:xfrm>
          <a:prstGeom prst="rect">
            <a:avLst/>
          </a:prstGeom>
          <a:noFill/>
          <a:ln/>
          <a:effectLst>
            <a:outerShdw sx="100000" sy="100000" kx="0" ky="0" algn="bl" rotWithShape="0" blurRad="9.378301253391643e+291" dist="4.6891506266958215e+291" dir="Infinity">
              <a:srgbClr val="000000">
                <a:alpha val="Infinity"/>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load factor 2008</a:t>
            </a:r>
            <a:endParaRPr lang="en-US" sz="2400" dirty="0"/>
          </a:p>
        </p:txBody>
      </p:sp>
      <p:sp>
        <p:nvSpPr>
          <p:cNvPr id="13" name="Text 6"/>
          <p:cNvSpPr txBox="1"/>
          <p:nvPr/>
        </p:nvSpPr>
        <p:spPr>
          <a:xfrm>
            <a:off x="502920" y="6108192"/>
            <a:ext cx="10515600" cy="502920"/>
          </a:xfrm>
          <a:prstGeom prst="rect">
            <a:avLst/>
          </a:prstGeom>
          <a:noFill/>
          <a:ln/>
          <a:effectLst>
            <a:outerShdw sx="100000" sy="100000" kx="0" ky="0" algn="bl" rotWithShape="0" blurRad="1.1910442591807386e+296" dist="5.955221295903693e+295"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Separuh biaya MAS. Dari mana keunggulan itu berasal?</a:t>
            </a:r>
            <a:endParaRPr lang="en-US" sz="2200" dirty="0"/>
          </a:p>
        </p:txBody>
      </p:sp>
      <p:sp>
        <p:nvSpPr>
          <p:cNvPr id="14" name="Text 7"/>
          <p:cNvSpPr txBox="1"/>
          <p:nvPr/>
        </p:nvSpPr>
        <p:spPr>
          <a:xfrm>
            <a:off x="11247120" y="6309360"/>
            <a:ext cx="548640" cy="365760"/>
          </a:xfrm>
          <a:prstGeom prst="rect">
            <a:avLst/>
          </a:prstGeom>
          <a:noFill/>
          <a:ln/>
          <a:effectLst>
            <a:outerShdw sx="100000" sy="100000" kx="0" ky="0" algn="bl" rotWithShape="0" blurRad="1.512626209159538e+300" dist="7.56313104579769e+299"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sources.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top.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8138160" cy="1143000"/>
          </a:xfrm>
          <a:prstGeom prst="rect">
            <a:avLst/>
          </a:prstGeom>
        </p:spPr>
      </p:pic>
      <p:sp>
        <p:nvSpPr>
          <p:cNvPr id="6" name="Text 0"/>
          <p:cNvSpPr txBox="1"/>
          <p:nvPr/>
        </p:nvSpPr>
        <p:spPr>
          <a:xfrm rot="-90000">
            <a:off x="274320" y="228600"/>
            <a:ext cx="813816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Sources of cost advantage</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1.9210352856326135e+304" dist="9.605176428163068e+303"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3566160" cy="502920"/>
          </a:xfrm>
          <a:prstGeom prst="rect">
            <a:avLst/>
          </a:prstGeom>
          <a:noFill/>
          <a:ln/>
          <a:effectLst>
            <a:outerShdw sx="100000" sy="100000" kx="0" ky="0" algn="bl" rotWithShape="0" blurRad="Infinity" dist="1.2198574063767096e+308" dir="Infinity">
              <a:srgbClr val="000000">
                <a:alpha val="Infinity"/>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Operasi ala Ryanair</a:t>
            </a:r>
            <a:endParaRPr lang="en-US" sz="2800" dirty="0"/>
          </a:p>
        </p:txBody>
      </p:sp>
      <p:sp>
        <p:nvSpPr>
          <p:cNvPr id="9" name="Text 3"/>
          <p:cNvSpPr txBox="1"/>
          <p:nvPr/>
        </p:nvSpPr>
        <p:spPr>
          <a:xfrm>
            <a:off x="548640" y="2423160"/>
            <a:ext cx="3566160" cy="21945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Satu tipe pesawat (A320)</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Satu kelas, no frills</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Titik ke titik, 25 menit</a:t>
            </a:r>
            <a:endParaRPr lang="en-US" sz="2400" dirty="0"/>
          </a:p>
        </p:txBody>
      </p:sp>
      <p:sp>
        <p:nvSpPr>
          <p:cNvPr id="10" name="Text 4"/>
          <p:cNvSpPr txBox="1"/>
          <p:nvPr/>
        </p:nvSpPr>
        <p:spPr>
          <a:xfrm>
            <a:off x="4297680" y="1874520"/>
            <a:ext cx="356616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SDM ala Southwest</a:t>
            </a:r>
            <a:endParaRPr lang="en-US" sz="2800" dirty="0"/>
          </a:p>
        </p:txBody>
      </p:sp>
      <p:sp>
        <p:nvSpPr>
          <p:cNvPr id="11" name="Text 5"/>
          <p:cNvSpPr txBox="1"/>
          <p:nvPr/>
        </p:nvSpPr>
        <p:spPr>
          <a:xfrm>
            <a:off x="4297680" y="2423160"/>
            <a:ext cx="3566160" cy="21945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Karyawan multi-skill</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Insentif produktivitas</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Budaya tanpa hierarki</a:t>
            </a:r>
            <a:endParaRPr lang="en-US" sz="2400" dirty="0"/>
          </a:p>
        </p:txBody>
      </p:sp>
      <p:sp>
        <p:nvSpPr>
          <p:cNvPr id="12" name="Text 6"/>
          <p:cNvSpPr txBox="1"/>
          <p:nvPr/>
        </p:nvSpPr>
        <p:spPr>
          <a:xfrm>
            <a:off x="8046720" y="1874520"/>
            <a:ext cx="356616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800" b="1" dirty="0">
                <a:solidFill>
                  <a:srgbClr val="D8B15E"/>
                </a:solidFill>
                <a:latin typeface="Cambria" pitchFamily="34" charset="0"/>
                <a:ea typeface="Cambria" pitchFamily="34" charset="-122"/>
                <a:cs typeface="Cambria" pitchFamily="34" charset="-120"/>
              </a:rPr>
              <a:t>Merek ala easyJet</a:t>
            </a:r>
            <a:endParaRPr lang="en-US" sz="2800" dirty="0"/>
          </a:p>
        </p:txBody>
      </p:sp>
      <p:sp>
        <p:nvSpPr>
          <p:cNvPr id="13" name="Text 7"/>
          <p:cNvSpPr txBox="1"/>
          <p:nvPr/>
        </p:nvSpPr>
        <p:spPr>
          <a:xfrm>
            <a:off x="8046720" y="2423160"/>
            <a:ext cx="3566160" cy="21945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Iklan kontra-siklus</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Co-branding, sponsorship</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Distribusi langsung, IT</a:t>
            </a:r>
            <a:endParaRPr lang="en-US" sz="2400" dirty="0"/>
          </a:p>
        </p:txBody>
      </p:sp>
      <p:sp>
        <p:nvSpPr>
          <p:cNvPr id="14" name="Text 8"/>
          <p:cNvSpPr txBox="1"/>
          <p:nvPr/>
        </p:nvSpPr>
        <p:spPr>
          <a:xfrm>
            <a:off x="548640" y="5212080"/>
            <a:ext cx="11155680" cy="64008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i="1" dirty="0">
                <a:solidFill>
                  <a:srgbClr val="D8B15E"/>
                </a:solidFill>
                <a:latin typeface="Calibri" pitchFamily="34" charset="0"/>
                <a:ea typeface="Calibri" pitchFamily="34" charset="-122"/>
                <a:cs typeface="Calibri" pitchFamily="34" charset="-120"/>
              </a:rPr>
              <a:t>Ketiganya saling menopang: sebuah sistem, bukan satu kebijakan tunggal.</a:t>
            </a:r>
            <a:endParaRPr lang="en-US" sz="2400" dirty="0"/>
          </a:p>
        </p:txBody>
      </p:sp>
      <p:sp>
        <p:nvSpPr>
          <p:cNvPr id="15" name="Text 9"/>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Mana yang ikut ke rute jauh, mana yang tertinggal?</a:t>
            </a:r>
            <a:endParaRPr lang="en-US" sz="2200" dirty="0"/>
          </a:p>
        </p:txBody>
      </p:sp>
      <p:sp>
        <p:nvSpPr>
          <p:cNvPr id="16" name="Text 10"/>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transfers.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full.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6766560" cy="1143000"/>
          </a:xfrm>
          <a:prstGeom prst="rect">
            <a:avLst/>
          </a:prstGeom>
        </p:spPr>
      </p:pic>
      <p:sp>
        <p:nvSpPr>
          <p:cNvPr id="6" name="Text 0"/>
          <p:cNvSpPr txBox="1"/>
          <p:nvPr/>
        </p:nvSpPr>
        <p:spPr>
          <a:xfrm rot="-90000">
            <a:off x="274320" y="228600"/>
            <a:ext cx="676656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Transferability test</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2331720"/>
            <a:ext cx="512064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800" b="1" dirty="0">
                <a:solidFill>
                  <a:srgbClr val="7FC97F"/>
                </a:solidFill>
                <a:latin typeface="Cambria" pitchFamily="34" charset="0"/>
                <a:ea typeface="Cambria" pitchFamily="34" charset="-122"/>
                <a:cs typeface="Cambria" pitchFamily="34" charset="-120"/>
              </a:rPr>
              <a:t>Ikut terbawa</a:t>
            </a:r>
            <a:endParaRPr lang="en-US" sz="2800" dirty="0"/>
          </a:p>
        </p:txBody>
      </p:sp>
      <p:sp>
        <p:nvSpPr>
          <p:cNvPr id="9" name="Shape 3"/>
          <p:cNvSpPr/>
          <p:nvPr/>
        </p:nvSpPr>
        <p:spPr>
          <a:xfrm>
            <a:off x="548640" y="2926080"/>
            <a:ext cx="1417320" cy="420624"/>
          </a:xfrm>
          <a:prstGeom prst="roundRect">
            <a:avLst>
              <a:gd name="adj" fmla="val 21739"/>
            </a:avLst>
          </a:prstGeom>
          <a:solidFill>
            <a:srgbClr val="3E8A3E"/>
          </a:solidFill>
          <a:ln w="12700">
            <a:solidFill>
              <a:srgbClr val="3E8A3E"/>
            </a:solidFill>
            <a:prstDash val="solid"/>
          </a:ln>
        </p:spPr>
      </p:sp>
      <p:sp>
        <p:nvSpPr>
          <p:cNvPr id="10" name="Text 4"/>
          <p:cNvSpPr txBox="1"/>
          <p:nvPr/>
        </p:nvSpPr>
        <p:spPr>
          <a:xfrm>
            <a:off x="548640" y="2926080"/>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11" name="Text 5"/>
          <p:cNvSpPr txBox="1"/>
          <p:nvPr/>
        </p:nvSpPr>
        <p:spPr>
          <a:xfrm>
            <a:off x="2103120" y="2880360"/>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Merek dan reputasi</a:t>
            </a:r>
            <a:endParaRPr lang="en-US" sz="2400" dirty="0"/>
          </a:p>
        </p:txBody>
      </p:sp>
      <p:sp>
        <p:nvSpPr>
          <p:cNvPr id="12" name="Shape 6"/>
          <p:cNvSpPr/>
          <p:nvPr/>
        </p:nvSpPr>
        <p:spPr>
          <a:xfrm>
            <a:off x="548640" y="3447288"/>
            <a:ext cx="1417320" cy="420624"/>
          </a:xfrm>
          <a:prstGeom prst="roundRect">
            <a:avLst>
              <a:gd name="adj" fmla="val 21739"/>
            </a:avLst>
          </a:prstGeom>
          <a:solidFill>
            <a:srgbClr val="3E8A3E"/>
          </a:solidFill>
          <a:ln w="12700">
            <a:solidFill>
              <a:srgbClr val="3E8A3E"/>
            </a:solidFill>
            <a:prstDash val="solid"/>
          </a:ln>
        </p:spPr>
      </p:sp>
      <p:sp>
        <p:nvSpPr>
          <p:cNvPr id="13" name="Text 7"/>
          <p:cNvSpPr txBox="1"/>
          <p:nvPr/>
        </p:nvSpPr>
        <p:spPr>
          <a:xfrm>
            <a:off x="548640" y="3447288"/>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14" name="Text 8"/>
          <p:cNvSpPr txBox="1"/>
          <p:nvPr/>
        </p:nvSpPr>
        <p:spPr>
          <a:xfrm>
            <a:off x="2103120" y="3401568"/>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Distribusi langsung dan IT</a:t>
            </a:r>
            <a:endParaRPr lang="en-US" sz="2400" dirty="0"/>
          </a:p>
        </p:txBody>
      </p:sp>
      <p:sp>
        <p:nvSpPr>
          <p:cNvPr id="15" name="Shape 9"/>
          <p:cNvSpPr/>
          <p:nvPr/>
        </p:nvSpPr>
        <p:spPr>
          <a:xfrm>
            <a:off x="548640" y="3968496"/>
            <a:ext cx="1417320" cy="420624"/>
          </a:xfrm>
          <a:prstGeom prst="roundRect">
            <a:avLst>
              <a:gd name="adj" fmla="val 21739"/>
            </a:avLst>
          </a:prstGeom>
          <a:solidFill>
            <a:srgbClr val="3E8A3E"/>
          </a:solidFill>
          <a:ln w="12700">
            <a:solidFill>
              <a:srgbClr val="3E8A3E"/>
            </a:solidFill>
            <a:prstDash val="solid"/>
          </a:ln>
        </p:spPr>
      </p:sp>
      <p:sp>
        <p:nvSpPr>
          <p:cNvPr id="16" name="Text 10"/>
          <p:cNvSpPr txBox="1"/>
          <p:nvPr/>
        </p:nvSpPr>
        <p:spPr>
          <a:xfrm>
            <a:off x="548640" y="3968496"/>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17" name="Text 11"/>
          <p:cNvSpPr txBox="1"/>
          <p:nvPr/>
        </p:nvSpPr>
        <p:spPr>
          <a:xfrm>
            <a:off x="2103120" y="3922776"/>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SDM dan budaya biaya</a:t>
            </a:r>
            <a:endParaRPr lang="en-US" sz="2400" dirty="0"/>
          </a:p>
        </p:txBody>
      </p:sp>
      <p:sp>
        <p:nvSpPr>
          <p:cNvPr id="18" name="Shape 12"/>
          <p:cNvSpPr/>
          <p:nvPr/>
        </p:nvSpPr>
        <p:spPr>
          <a:xfrm>
            <a:off x="548640" y="4489704"/>
            <a:ext cx="1417320" cy="420624"/>
          </a:xfrm>
          <a:prstGeom prst="roundRect">
            <a:avLst>
              <a:gd name="adj" fmla="val 21739"/>
            </a:avLst>
          </a:prstGeom>
          <a:solidFill>
            <a:srgbClr val="3E8A3E"/>
          </a:solidFill>
          <a:ln w="12700">
            <a:solidFill>
              <a:srgbClr val="3E8A3E"/>
            </a:solidFill>
            <a:prstDash val="solid"/>
          </a:ln>
        </p:spPr>
      </p:sp>
      <p:sp>
        <p:nvSpPr>
          <p:cNvPr id="19" name="Text 13"/>
          <p:cNvSpPr txBox="1"/>
          <p:nvPr/>
        </p:nvSpPr>
        <p:spPr>
          <a:xfrm>
            <a:off x="548640" y="4489704"/>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20" name="Text 14"/>
          <p:cNvSpPr txBox="1"/>
          <p:nvPr/>
        </p:nvSpPr>
        <p:spPr>
          <a:xfrm>
            <a:off x="2103120" y="4443984"/>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Bandara sekunder (Stansted)</a:t>
            </a:r>
            <a:endParaRPr lang="en-US" sz="2400" dirty="0"/>
          </a:p>
        </p:txBody>
      </p:sp>
      <p:sp>
        <p:nvSpPr>
          <p:cNvPr id="21" name="Shape 15"/>
          <p:cNvSpPr/>
          <p:nvPr/>
        </p:nvSpPr>
        <p:spPr>
          <a:xfrm>
            <a:off x="548640" y="5010912"/>
            <a:ext cx="1417320" cy="420624"/>
          </a:xfrm>
          <a:prstGeom prst="roundRect">
            <a:avLst>
              <a:gd name="adj" fmla="val 21739"/>
            </a:avLst>
          </a:prstGeom>
          <a:solidFill>
            <a:srgbClr val="3E8A3E"/>
          </a:solidFill>
          <a:ln w="12700">
            <a:solidFill>
              <a:srgbClr val="3E8A3E"/>
            </a:solidFill>
            <a:prstDash val="solid"/>
          </a:ln>
        </p:spPr>
      </p:sp>
      <p:sp>
        <p:nvSpPr>
          <p:cNvPr id="22" name="Text 16"/>
          <p:cNvSpPr txBox="1"/>
          <p:nvPr/>
        </p:nvSpPr>
        <p:spPr>
          <a:xfrm>
            <a:off x="548640" y="501091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23" name="Text 17"/>
          <p:cNvSpPr txBox="1"/>
          <p:nvPr/>
        </p:nvSpPr>
        <p:spPr>
          <a:xfrm>
            <a:off x="2103120" y="4965192"/>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Outsourcing perawatan</a:t>
            </a:r>
            <a:endParaRPr lang="en-US" sz="2400" dirty="0"/>
          </a:p>
        </p:txBody>
      </p:sp>
      <p:sp>
        <p:nvSpPr>
          <p:cNvPr id="24" name="Shape 18"/>
          <p:cNvSpPr/>
          <p:nvPr/>
        </p:nvSpPr>
        <p:spPr>
          <a:xfrm>
            <a:off x="548640" y="5532120"/>
            <a:ext cx="1417320" cy="420624"/>
          </a:xfrm>
          <a:prstGeom prst="roundRect">
            <a:avLst>
              <a:gd name="adj" fmla="val 21739"/>
            </a:avLst>
          </a:prstGeom>
          <a:solidFill>
            <a:srgbClr val="B8791A"/>
          </a:solidFill>
          <a:ln w="12700">
            <a:solidFill>
              <a:srgbClr val="B8791A"/>
            </a:solidFill>
            <a:prstDash val="solid"/>
          </a:ln>
        </p:spPr>
      </p:sp>
      <p:sp>
        <p:nvSpPr>
          <p:cNvPr id="25" name="Text 19"/>
          <p:cNvSpPr txBox="1"/>
          <p:nvPr/>
        </p:nvSpPr>
        <p:spPr>
          <a:xfrm>
            <a:off x="548640" y="5532120"/>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SEBAGIAN</a:t>
            </a:r>
            <a:endParaRPr lang="en-US" sz="2000" dirty="0"/>
          </a:p>
        </p:txBody>
      </p:sp>
      <p:sp>
        <p:nvSpPr>
          <p:cNvPr id="26" name="Text 20"/>
          <p:cNvSpPr txBox="1"/>
          <p:nvPr/>
        </p:nvSpPr>
        <p:spPr>
          <a:xfrm>
            <a:off x="2103120" y="5486400"/>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Pesawat hemat bahan bakar</a:t>
            </a:r>
            <a:endParaRPr lang="en-US" sz="2400" dirty="0"/>
          </a:p>
        </p:txBody>
      </p:sp>
      <p:sp>
        <p:nvSpPr>
          <p:cNvPr id="27" name="Text 21"/>
          <p:cNvSpPr txBox="1"/>
          <p:nvPr/>
        </p:nvSpPr>
        <p:spPr>
          <a:xfrm>
            <a:off x="6309360" y="2331720"/>
            <a:ext cx="512064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800" b="1" dirty="0">
                <a:solidFill>
                  <a:srgbClr val="F0A0A0"/>
                </a:solidFill>
                <a:latin typeface="Cambria" pitchFamily="34" charset="0"/>
                <a:ea typeface="Cambria" pitchFamily="34" charset="-122"/>
                <a:cs typeface="Cambria" pitchFamily="34" charset="-120"/>
              </a:rPr>
              <a:t>Tidak terbawa</a:t>
            </a:r>
            <a:endParaRPr lang="en-US" sz="2800" dirty="0"/>
          </a:p>
        </p:txBody>
      </p:sp>
      <p:sp>
        <p:nvSpPr>
          <p:cNvPr id="28" name="Shape 22"/>
          <p:cNvSpPr/>
          <p:nvPr/>
        </p:nvSpPr>
        <p:spPr>
          <a:xfrm>
            <a:off x="6309360" y="2926080"/>
            <a:ext cx="1417320" cy="420624"/>
          </a:xfrm>
          <a:prstGeom prst="roundRect">
            <a:avLst>
              <a:gd name="adj" fmla="val 21739"/>
            </a:avLst>
          </a:prstGeom>
          <a:solidFill>
            <a:srgbClr val="9E1B1B"/>
          </a:solidFill>
          <a:ln w="12700">
            <a:solidFill>
              <a:srgbClr val="9E1B1B"/>
            </a:solidFill>
            <a:prstDash val="solid"/>
          </a:ln>
        </p:spPr>
      </p:sp>
      <p:sp>
        <p:nvSpPr>
          <p:cNvPr id="29" name="Text 23"/>
          <p:cNvSpPr txBox="1"/>
          <p:nvPr/>
        </p:nvSpPr>
        <p:spPr>
          <a:xfrm>
            <a:off x="6309360" y="2926080"/>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0" name="Text 24"/>
          <p:cNvSpPr txBox="1"/>
          <p:nvPr/>
        </p:nvSpPr>
        <p:spPr>
          <a:xfrm>
            <a:off x="7863840" y="2880360"/>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Satu tipe pesawat</a:t>
            </a:r>
            <a:endParaRPr lang="en-US" sz="2400" dirty="0"/>
          </a:p>
        </p:txBody>
      </p:sp>
      <p:sp>
        <p:nvSpPr>
          <p:cNvPr id="31" name="Shape 25"/>
          <p:cNvSpPr/>
          <p:nvPr/>
        </p:nvSpPr>
        <p:spPr>
          <a:xfrm>
            <a:off x="6309360" y="3447288"/>
            <a:ext cx="1417320" cy="420624"/>
          </a:xfrm>
          <a:prstGeom prst="roundRect">
            <a:avLst>
              <a:gd name="adj" fmla="val 21739"/>
            </a:avLst>
          </a:prstGeom>
          <a:solidFill>
            <a:srgbClr val="9E1B1B"/>
          </a:solidFill>
          <a:ln w="12700">
            <a:solidFill>
              <a:srgbClr val="9E1B1B"/>
            </a:solidFill>
            <a:prstDash val="solid"/>
          </a:ln>
        </p:spPr>
      </p:sp>
      <p:sp>
        <p:nvSpPr>
          <p:cNvPr id="32" name="Text 26"/>
          <p:cNvSpPr txBox="1"/>
          <p:nvPr/>
        </p:nvSpPr>
        <p:spPr>
          <a:xfrm>
            <a:off x="6309360" y="3447288"/>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3" name="Text 27"/>
          <p:cNvSpPr txBox="1"/>
          <p:nvPr/>
        </p:nvSpPr>
        <p:spPr>
          <a:xfrm>
            <a:off x="7863840" y="3401568"/>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Turnaround 25 menit</a:t>
            </a:r>
            <a:endParaRPr lang="en-US" sz="2400" dirty="0"/>
          </a:p>
        </p:txBody>
      </p:sp>
      <p:sp>
        <p:nvSpPr>
          <p:cNvPr id="34" name="Shape 28"/>
          <p:cNvSpPr/>
          <p:nvPr/>
        </p:nvSpPr>
        <p:spPr>
          <a:xfrm>
            <a:off x="6309360" y="3968496"/>
            <a:ext cx="1417320" cy="420624"/>
          </a:xfrm>
          <a:prstGeom prst="roundRect">
            <a:avLst>
              <a:gd name="adj" fmla="val 21739"/>
            </a:avLst>
          </a:prstGeom>
          <a:solidFill>
            <a:srgbClr val="9E1B1B"/>
          </a:solidFill>
          <a:ln w="12700">
            <a:solidFill>
              <a:srgbClr val="9E1B1B"/>
            </a:solidFill>
            <a:prstDash val="solid"/>
          </a:ln>
        </p:spPr>
      </p:sp>
      <p:sp>
        <p:nvSpPr>
          <p:cNvPr id="35" name="Text 29"/>
          <p:cNvSpPr txBox="1"/>
          <p:nvPr/>
        </p:nvSpPr>
        <p:spPr>
          <a:xfrm>
            <a:off x="6309360" y="3968496"/>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6" name="Text 30"/>
          <p:cNvSpPr txBox="1"/>
          <p:nvPr/>
        </p:nvSpPr>
        <p:spPr>
          <a:xfrm>
            <a:off x="7863840" y="3922776"/>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Satu kelas tanpa layanan</a:t>
            </a:r>
            <a:endParaRPr lang="en-US" sz="2400" dirty="0"/>
          </a:p>
        </p:txBody>
      </p:sp>
      <p:sp>
        <p:nvSpPr>
          <p:cNvPr id="37" name="Shape 31"/>
          <p:cNvSpPr/>
          <p:nvPr/>
        </p:nvSpPr>
        <p:spPr>
          <a:xfrm>
            <a:off x="6309360" y="4489704"/>
            <a:ext cx="1417320" cy="420624"/>
          </a:xfrm>
          <a:prstGeom prst="roundRect">
            <a:avLst>
              <a:gd name="adj" fmla="val 21739"/>
            </a:avLst>
          </a:prstGeom>
          <a:solidFill>
            <a:srgbClr val="9E1B1B"/>
          </a:solidFill>
          <a:ln w="12700">
            <a:solidFill>
              <a:srgbClr val="9E1B1B"/>
            </a:solidFill>
            <a:prstDash val="solid"/>
          </a:ln>
        </p:spPr>
      </p:sp>
      <p:sp>
        <p:nvSpPr>
          <p:cNvPr id="38" name="Text 32"/>
          <p:cNvSpPr txBox="1"/>
          <p:nvPr/>
        </p:nvSpPr>
        <p:spPr>
          <a:xfrm>
            <a:off x="6309360" y="4489704"/>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9" name="Text 33"/>
          <p:cNvSpPr txBox="1"/>
          <p:nvPr/>
        </p:nvSpPr>
        <p:spPr>
          <a:xfrm>
            <a:off x="7863840" y="4443984"/>
            <a:ext cx="3840480" cy="512064"/>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Jaringan titik ke titik</a:t>
            </a:r>
            <a:endParaRPr lang="en-US" sz="2400" dirty="0"/>
          </a:p>
        </p:txBody>
      </p:sp>
      <p:sp>
        <p:nvSpPr>
          <p:cNvPr id="40" name="Text 34"/>
          <p:cNvSpPr txBox="1"/>
          <p:nvPr/>
        </p:nvSpPr>
        <p:spPr>
          <a:xfrm>
            <a:off x="6309360" y="5029200"/>
            <a:ext cx="5394960" cy="8229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i="1" dirty="0">
                <a:solidFill>
                  <a:srgbClr val="D8B15E"/>
                </a:solidFill>
                <a:latin typeface="Calibri" pitchFamily="34" charset="0"/>
                <a:ea typeface="Calibri" pitchFamily="34" charset="-122"/>
                <a:cs typeface="Calibri" pitchFamily="34" charset="-120"/>
              </a:rPr>
              <a:t>Yang hilang justru inti model LCC klasik.</a:t>
            </a:r>
            <a:endParaRPr lang="en-US" sz="2400" dirty="0"/>
          </a:p>
        </p:txBody>
      </p:sp>
      <p:sp>
        <p:nvSpPr>
          <p:cNvPr id="41" name="Text 35"/>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Yang terbawa bersifat organisasional. Apa kata angka di rute KL London?</a:t>
            </a:r>
            <a:endParaRPr lang="en-US" sz="2200" dirty="0"/>
          </a:p>
        </p:txBody>
      </p:sp>
      <p:sp>
        <p:nvSpPr>
          <p:cNvPr id="42" name="Text 36"/>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london.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bottom.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band_cream.png">    </p:cNvPr>
          <p:cNvPicPr>
            <a:picLocks noChangeAspect="1"/>
          </p:cNvPicPr>
          <p:nvPr/>
        </p:nvPicPr>
        <p:blipFill>
          <a:blip r:embed="rId3"/>
          <a:stretch>
            <a:fillRect/>
          </a:stretch>
        </p:blipFill>
        <p:spPr>
          <a:xfrm rot="-90000">
            <a:off x="274320" y="228600"/>
            <a:ext cx="8412480" cy="1143000"/>
          </a:xfrm>
          <a:prstGeom prst="rect">
            <a:avLst/>
          </a:prstGeom>
        </p:spPr>
      </p:pic>
      <p:sp>
        <p:nvSpPr>
          <p:cNvPr id="5" name="Text 0"/>
          <p:cNvSpPr txBox="1"/>
          <p:nvPr/>
        </p:nvSpPr>
        <p:spPr>
          <a:xfrm rot="-90000">
            <a:off x="274320" y="228600"/>
            <a:ext cx="841248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Evidence from KL to London</a:t>
            </a:r>
            <a:endParaRPr lang="en-US" sz="3800" dirty="0"/>
          </a:p>
        </p:txBody>
      </p:sp>
      <p:sp>
        <p:nvSpPr>
          <p:cNvPr id="6"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4 Choice</a:t>
            </a:r>
            <a:endParaRPr lang="en-US" sz="1500" dirty="0"/>
          </a:p>
        </p:txBody>
      </p:sp>
      <p:pic>
        <p:nvPicPr>
          <p:cNvPr id="7" name="Image 3" descr="/tmp/claude-0/-home-user-Dom-Manipulation/a70c4110-05d8-512e-ae11-d08dee025a7a/scratchpad/img/sheet.png">    </p:cNvPr>
          <p:cNvPicPr>
            <a:picLocks noChangeAspect="1"/>
          </p:cNvPicPr>
          <p:nvPr/>
        </p:nvPicPr>
        <p:blipFill>
          <a:blip r:embed="rId4"/>
          <a:stretch>
            <a:fillRect/>
          </a:stretch>
        </p:blipFill>
        <p:spPr>
          <a:xfrm rot="72000">
            <a:off x="320040" y="1691640"/>
            <a:ext cx="6858000" cy="4297680"/>
          </a:xfrm>
          <a:prstGeom prst="rect">
            <a:avLst/>
          </a:prstGeom>
        </p:spPr>
      </p:pic>
      <p:graphicFrame>
        <p:nvGraphicFramePr>
          <p:cNvPr id="8" name="Chart 0" descr=""/>
          <p:cNvGraphicFramePr/>
          <p:nvPr/>
        </p:nvGraphicFramePr>
        <p:xfrm>
          <a:off x="777240" y="1965960"/>
          <a:ext cx="5943600" cy="3749040"/>
        </p:xfrm>
        <a:graphic xmlns:a="http://schemas.openxmlformats.org/drawingml/2006/main">
          <a:graphicData uri="http://schemas.openxmlformats.org/drawingml/2006/chart">
            <c:chart xmlns:c="http://schemas.openxmlformats.org/drawingml/2006/chart" r:id="rId5"/>
          </a:graphicData>
        </a:graphic>
      </p:graphicFrame>
      <p:sp>
        <p:nvSpPr>
          <p:cNvPr id="9" name="Text 2"/>
          <p:cNvSpPr txBox="1"/>
          <p:nvPr/>
        </p:nvSpPr>
        <p:spPr>
          <a:xfrm>
            <a:off x="7589520" y="3931920"/>
            <a:ext cx="2743200" cy="5486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3200" b="1" dirty="0">
                <a:solidFill>
                  <a:srgbClr val="D8B15E"/>
                </a:solidFill>
                <a:latin typeface="Cambria" pitchFamily="34" charset="0"/>
                <a:ea typeface="Cambria" pitchFamily="34" charset="-122"/>
                <a:cs typeface="Cambria" pitchFamily="34" charset="-120"/>
              </a:rPr>
              <a:t>36,5%</a:t>
            </a:r>
            <a:endParaRPr lang="en-US" sz="3200" dirty="0"/>
          </a:p>
        </p:txBody>
      </p:sp>
      <p:sp>
        <p:nvSpPr>
          <p:cNvPr id="10" name="Text 3"/>
          <p:cNvSpPr txBox="1"/>
          <p:nvPr/>
        </p:nvSpPr>
        <p:spPr>
          <a:xfrm>
            <a:off x="7589520" y="4480560"/>
            <a:ext cx="4114800" cy="45720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lebih murah dari pesaing</a:t>
            </a:r>
            <a:endParaRPr lang="en-US" sz="2400" dirty="0"/>
          </a:p>
        </p:txBody>
      </p:sp>
      <p:sp>
        <p:nvSpPr>
          <p:cNvPr id="11" name="Text 4"/>
          <p:cNvSpPr txBox="1"/>
          <p:nvPr/>
        </p:nvSpPr>
        <p:spPr>
          <a:xfrm>
            <a:off x="7589520" y="4983480"/>
            <a:ext cx="2743200" cy="5486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3200" b="1" dirty="0">
                <a:solidFill>
                  <a:srgbClr val="D8B15E"/>
                </a:solidFill>
                <a:latin typeface="Cambria" pitchFamily="34" charset="0"/>
                <a:ea typeface="Cambria" pitchFamily="34" charset="-122"/>
                <a:cs typeface="Cambria" pitchFamily="34" charset="-120"/>
              </a:rPr>
              <a:t>&gt; 90%</a:t>
            </a:r>
            <a:endParaRPr lang="en-US" sz="3200" dirty="0"/>
          </a:p>
        </p:txBody>
      </p:sp>
      <p:sp>
        <p:nvSpPr>
          <p:cNvPr id="12" name="Text 5"/>
          <p:cNvSpPr txBox="1"/>
          <p:nvPr/>
        </p:nvSpPr>
        <p:spPr>
          <a:xfrm>
            <a:off x="7589520" y="5532120"/>
            <a:ext cx="4114800" cy="45720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dirty="0">
                <a:solidFill>
                  <a:srgbClr val="F3E8D2"/>
                </a:solidFill>
                <a:latin typeface="Calibri" pitchFamily="34" charset="0"/>
                <a:ea typeface="Calibri" pitchFamily="34" charset="-122"/>
                <a:cs typeface="Calibri" pitchFamily="34" charset="-120"/>
              </a:rPr>
              <a:t>load factor AirAsia X</a:t>
            </a:r>
            <a:endParaRPr lang="en-US" sz="2400" dirty="0"/>
          </a:p>
        </p:txBody>
      </p:sp>
      <p:sp>
        <p:nvSpPr>
          <p:cNvPr id="13" name="Text 6"/>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Selisih nyata, tetapi lebih tipis: tabel belum memuat kru, perawatan, katering.</a:t>
            </a:r>
            <a:endParaRPr lang="en-US" sz="2200" dirty="0"/>
          </a:p>
        </p:txBody>
      </p:sp>
      <p:sp>
        <p:nvSpPr>
          <p:cNvPr id="14" name="Text 7"/>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issues.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top.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red.png">    </p:cNvPr>
          <p:cNvPicPr>
            <a:picLocks noChangeAspect="1"/>
          </p:cNvPicPr>
          <p:nvPr/>
        </p:nvPicPr>
        <p:blipFill>
          <a:blip r:embed="rId4"/>
          <a:stretch>
            <a:fillRect/>
          </a:stretch>
        </p:blipFill>
        <p:spPr>
          <a:xfrm rot="-90000">
            <a:off x="274320" y="228600"/>
            <a:ext cx="4023360" cy="1051560"/>
          </a:xfrm>
          <a:prstGeom prst="rect">
            <a:avLst/>
          </a:prstGeom>
        </p:spPr>
      </p:pic>
      <p:sp>
        <p:nvSpPr>
          <p:cNvPr id="6" name="Text 0"/>
          <p:cNvSpPr txBox="1"/>
          <p:nvPr/>
        </p:nvSpPr>
        <p:spPr>
          <a:xfrm rot="-90000">
            <a:off x="274320" y="228600"/>
            <a:ext cx="4023360" cy="1051560"/>
          </a:xfrm>
          <a:prstGeom prst="rect">
            <a:avLst/>
          </a:prstGeom>
          <a:noFill/>
          <a:ln/>
        </p:spPr>
        <p:txBody>
          <a:bodyPr wrap="square" lIns="0" tIns="4445" rIns="4445" bIns="0" rtlCol="0" anchor="ctr"/>
          <a:lstStyle/>
          <a:p>
            <a:pPr algn="ctr" indent="0" marL="0">
              <a:buNone/>
            </a:pPr>
            <a:r>
              <a:rPr lang="en-US" sz="3800" b="1" dirty="0">
                <a:solidFill>
                  <a:srgbClr val="F3E8D2"/>
                </a:solidFill>
                <a:latin typeface="Cambria" pitchFamily="34" charset="0"/>
                <a:ea typeface="Cambria" pitchFamily="34" charset="-122"/>
                <a:cs typeface="Cambria" pitchFamily="34" charset="-120"/>
              </a:rPr>
              <a:t>Key issues</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11155680" cy="246888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Apakah pasar LCC jarak jauh cukup besar dan benar-benar kurang terlayani?</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Bagaimana network carriers akan membalas?</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Seberapa besar toleransi finansial AirAsia terhadap kegagalan?</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Bisakah eksploitasi dan eksplorasi berjalan dalam satu organisasi?</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Apakah tata kelola AirAsia X selaras dengan kepentingan AirAsia?</a:t>
            </a:r>
            <a:endParaRPr lang="en-US" sz="2400" dirty="0"/>
          </a:p>
        </p:txBody>
      </p:sp>
      <p:sp>
        <p:nvSpPr>
          <p:cNvPr id="9" name="Text 3"/>
          <p:cNvSpPr txBox="1"/>
          <p:nvPr/>
        </p:nvSpPr>
        <p:spPr>
          <a:xfrm>
            <a:off x="548640" y="4846320"/>
            <a:ext cx="11155680" cy="10058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b="1" dirty="0">
                <a:solidFill>
                  <a:srgbClr val="D8B15E"/>
                </a:solidFill>
                <a:latin typeface="Calibri" pitchFamily="34" charset="0"/>
                <a:ea typeface="Calibri" pitchFamily="34" charset="-122"/>
                <a:cs typeface="Calibri" pitchFamily="34" charset="-120"/>
              </a:rPr>
              <a:t>Intisari.  </a:t>
            </a:r>
            <a:pPr indent="0" marL="0">
              <a:buNone/>
            </a:pPr>
            <a:r>
              <a:rPr lang="en-US" sz="2400" i="1" dirty="0">
                <a:solidFill>
                  <a:srgbClr val="F3E8D2"/>
                </a:solidFill>
                <a:latin typeface="Calibri" pitchFamily="34" charset="0"/>
                <a:ea typeface="Calibri" pitchFamily="34" charset="-122"/>
                <a:cs typeface="Calibri" pitchFamily="34" charset="-120"/>
              </a:rPr>
              <a:t>Isu 1 dan 2 dari lingkungan eksternal, isu 3 dari posisi biaya, isu 4 dan 5 soal organisasi dan tata kelola.</a:t>
            </a:r>
            <a:endParaRPr lang="en-US" sz="2400" dirty="0"/>
          </a:p>
        </p:txBody>
      </p:sp>
      <p:sp>
        <p:nvSpPr>
          <p:cNvPr id="10" name="Text 4"/>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Lima pertanyaan ini menjadi kriteria untuk menilai tiga alternatif.</a:t>
            </a:r>
            <a:endParaRPr lang="en-US" sz="2200" dirty="0"/>
          </a:p>
        </p:txBody>
      </p:sp>
      <p:sp>
        <p:nvSpPr>
          <p:cNvPr id="11" name="Text 5"/>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altC.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bottom.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band_cream.png">    </p:cNvPr>
          <p:cNvPicPr>
            <a:picLocks noChangeAspect="1"/>
          </p:cNvPicPr>
          <p:nvPr/>
        </p:nvPicPr>
        <p:blipFill>
          <a:blip r:embed="rId3"/>
          <a:stretch>
            <a:fillRect/>
          </a:stretch>
        </p:blipFill>
        <p:spPr>
          <a:xfrm rot="-90000">
            <a:off x="274320" y="228600"/>
            <a:ext cx="7315200" cy="1143000"/>
          </a:xfrm>
          <a:prstGeom prst="rect">
            <a:avLst/>
          </a:prstGeom>
        </p:spPr>
      </p:pic>
      <p:sp>
        <p:nvSpPr>
          <p:cNvPr id="5" name="Text 0"/>
          <p:cNvSpPr txBox="1"/>
          <p:nvPr/>
        </p:nvSpPr>
        <p:spPr>
          <a:xfrm rot="-90000">
            <a:off x="274320" y="228600"/>
            <a:ext cx="731520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Strategic alternatives</a:t>
            </a:r>
            <a:endParaRPr lang="en-US" sz="3800" dirty="0"/>
          </a:p>
        </p:txBody>
      </p:sp>
      <p:sp>
        <p:nvSpPr>
          <p:cNvPr id="6"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4 Choice</a:t>
            </a:r>
            <a:endParaRPr lang="en-US" sz="1500" dirty="0"/>
          </a:p>
        </p:txBody>
      </p:sp>
      <p:sp>
        <p:nvSpPr>
          <p:cNvPr id="7" name="Shape 2"/>
          <p:cNvSpPr/>
          <p:nvPr/>
        </p:nvSpPr>
        <p:spPr>
          <a:xfrm>
            <a:off x="548640" y="2651760"/>
            <a:ext cx="548640" cy="548640"/>
          </a:xfrm>
          <a:prstGeom prst="ellipse">
            <a:avLst/>
          </a:prstGeom>
          <a:solidFill>
            <a:srgbClr val="F3E8D2"/>
          </a:solidFill>
          <a:ln w="12700">
            <a:solidFill>
              <a:srgbClr val="F3E8D2"/>
            </a:solidFill>
            <a:prstDash val="solid"/>
          </a:ln>
        </p:spPr>
      </p:sp>
      <p:sp>
        <p:nvSpPr>
          <p:cNvPr id="8" name="Text 3"/>
          <p:cNvSpPr txBox="1"/>
          <p:nvPr/>
        </p:nvSpPr>
        <p:spPr>
          <a:xfrm>
            <a:off x="548640" y="2651760"/>
            <a:ext cx="548640" cy="548640"/>
          </a:xfrm>
          <a:prstGeom prst="rect">
            <a:avLst/>
          </a:prstGeom>
          <a:noFill/>
          <a:ln/>
        </p:spPr>
        <p:txBody>
          <a:bodyPr wrap="square" lIns="0" tIns="0" rIns="0" bIns="0" rtlCol="0" anchor="ctr"/>
          <a:lstStyle/>
          <a:p>
            <a:pPr algn="ctr" indent="0" marL="0">
              <a:buNone/>
            </a:pPr>
            <a:r>
              <a:rPr lang="en-US" sz="2400" b="1" dirty="0">
                <a:solidFill>
                  <a:srgbClr val="2A1E14"/>
                </a:solidFill>
                <a:latin typeface="Cambria" pitchFamily="34" charset="0"/>
                <a:ea typeface="Cambria" pitchFamily="34" charset="-122"/>
                <a:cs typeface="Cambria" pitchFamily="34" charset="-120"/>
              </a:rPr>
              <a:t>A</a:t>
            </a:r>
            <a:endParaRPr lang="en-US" sz="2400" dirty="0"/>
          </a:p>
        </p:txBody>
      </p:sp>
      <p:sp>
        <p:nvSpPr>
          <p:cNvPr id="9" name="Text 4"/>
          <p:cNvSpPr txBox="1"/>
          <p:nvPr/>
        </p:nvSpPr>
        <p:spPr>
          <a:xfrm>
            <a:off x="1234440" y="2606040"/>
            <a:ext cx="2926080" cy="64008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b="1" dirty="0">
                <a:solidFill>
                  <a:srgbClr val="D8B15E"/>
                </a:solidFill>
                <a:latin typeface="Cambria" pitchFamily="34" charset="0"/>
                <a:ea typeface="Cambria" pitchFamily="34" charset="-122"/>
                <a:cs typeface="Cambria" pitchFamily="34" charset="-120"/>
              </a:rPr>
              <a:t>Fokus Regional</a:t>
            </a:r>
            <a:endParaRPr lang="en-US" sz="2400" dirty="0"/>
          </a:p>
        </p:txBody>
      </p:sp>
      <p:sp>
        <p:nvSpPr>
          <p:cNvPr id="10" name="Text 5"/>
          <p:cNvSpPr txBox="1"/>
          <p:nvPr/>
        </p:nvSpPr>
        <p:spPr>
          <a:xfrm>
            <a:off x="548640" y="3337560"/>
            <a:ext cx="3474720" cy="17373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AirAsia X tetap terpisah</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Fokus pasar 3,5 jam terbang</a:t>
            </a:r>
            <a:endParaRPr lang="en-US" sz="2400" dirty="0"/>
          </a:p>
        </p:txBody>
      </p:sp>
      <p:sp>
        <p:nvSpPr>
          <p:cNvPr id="11" name="Text 6"/>
          <p:cNvSpPr txBox="1"/>
          <p:nvPr/>
        </p:nvSpPr>
        <p:spPr>
          <a:xfrm>
            <a:off x="548640" y="4983480"/>
            <a:ext cx="3474720" cy="10058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b="1" dirty="0">
                <a:solidFill>
                  <a:srgbClr val="D8B15E"/>
                </a:solidFill>
                <a:latin typeface="Calibri" pitchFamily="34" charset="0"/>
                <a:ea typeface="Calibri" pitchFamily="34" charset="-122"/>
                <a:cs typeface="Calibri" pitchFamily="34" charset="-120"/>
              </a:rPr>
              <a:t>Sudut pandang.  </a:t>
            </a:r>
            <a:pPr indent="0" marL="0">
              <a:buNone/>
            </a:pPr>
            <a:r>
              <a:rPr lang="en-US" sz="2400" i="1" dirty="0">
                <a:solidFill>
                  <a:srgbClr val="F3E8D2"/>
                </a:solidFill>
                <a:latin typeface="Calibri" pitchFamily="34" charset="0"/>
                <a:ea typeface="Calibri" pitchFamily="34" charset="-122"/>
                <a:cs typeface="Calibri" pitchFamily="34" charset="-120"/>
              </a:rPr>
              <a:t>eksploitasi murni</a:t>
            </a:r>
            <a:endParaRPr lang="en-US" sz="2400" dirty="0"/>
          </a:p>
        </p:txBody>
      </p:sp>
      <p:sp>
        <p:nvSpPr>
          <p:cNvPr id="12" name="Shape 7"/>
          <p:cNvSpPr/>
          <p:nvPr/>
        </p:nvSpPr>
        <p:spPr>
          <a:xfrm>
            <a:off x="4343400" y="2651760"/>
            <a:ext cx="548640" cy="548640"/>
          </a:xfrm>
          <a:prstGeom prst="ellipse">
            <a:avLst/>
          </a:prstGeom>
          <a:solidFill>
            <a:srgbClr val="F3E8D2"/>
          </a:solidFill>
          <a:ln w="12700">
            <a:solidFill>
              <a:srgbClr val="F3E8D2"/>
            </a:solidFill>
            <a:prstDash val="solid"/>
          </a:ln>
        </p:spPr>
      </p:sp>
      <p:sp>
        <p:nvSpPr>
          <p:cNvPr id="13" name="Text 8"/>
          <p:cNvSpPr txBox="1"/>
          <p:nvPr/>
        </p:nvSpPr>
        <p:spPr>
          <a:xfrm>
            <a:off x="4343400" y="2651760"/>
            <a:ext cx="548640" cy="548640"/>
          </a:xfrm>
          <a:prstGeom prst="rect">
            <a:avLst/>
          </a:prstGeom>
          <a:noFill/>
          <a:ln/>
        </p:spPr>
        <p:txBody>
          <a:bodyPr wrap="square" lIns="0" tIns="0" rIns="0" bIns="0" rtlCol="0" anchor="ctr"/>
          <a:lstStyle/>
          <a:p>
            <a:pPr algn="ctr" indent="0" marL="0">
              <a:buNone/>
            </a:pPr>
            <a:r>
              <a:rPr lang="en-US" sz="2400" b="1" dirty="0">
                <a:solidFill>
                  <a:srgbClr val="2A1E14"/>
                </a:solidFill>
                <a:latin typeface="Cambria" pitchFamily="34" charset="0"/>
                <a:ea typeface="Cambria" pitchFamily="34" charset="-122"/>
                <a:cs typeface="Cambria" pitchFamily="34" charset="-120"/>
              </a:rPr>
              <a:t>B</a:t>
            </a:r>
            <a:endParaRPr lang="en-US" sz="2400" dirty="0"/>
          </a:p>
        </p:txBody>
      </p:sp>
      <p:sp>
        <p:nvSpPr>
          <p:cNvPr id="14" name="Text 9"/>
          <p:cNvSpPr txBox="1"/>
          <p:nvPr/>
        </p:nvSpPr>
        <p:spPr>
          <a:xfrm>
            <a:off x="5029200" y="2606040"/>
            <a:ext cx="2926080" cy="64008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b="1" dirty="0">
                <a:solidFill>
                  <a:srgbClr val="D8B15E"/>
                </a:solidFill>
                <a:latin typeface="Cambria" pitchFamily="34" charset="0"/>
                <a:ea typeface="Cambria" pitchFamily="34" charset="-122"/>
                <a:cs typeface="Cambria" pitchFamily="34" charset="-120"/>
              </a:rPr>
              <a:t>Integrasi Penuh</a:t>
            </a:r>
            <a:endParaRPr lang="en-US" sz="2400" dirty="0"/>
          </a:p>
        </p:txBody>
      </p:sp>
      <p:sp>
        <p:nvSpPr>
          <p:cNvPr id="15" name="Text 10"/>
          <p:cNvSpPr txBox="1"/>
          <p:nvPr/>
        </p:nvSpPr>
        <p:spPr>
          <a:xfrm>
            <a:off x="4343400" y="3337560"/>
            <a:ext cx="3474720" cy="17373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Merger AirAsia X ke AirAsia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Feeder KL, ekspansi sesuai rencana</a:t>
            </a:r>
            <a:endParaRPr lang="en-US" sz="2400" dirty="0"/>
          </a:p>
        </p:txBody>
      </p:sp>
      <p:sp>
        <p:nvSpPr>
          <p:cNvPr id="16" name="Text 11"/>
          <p:cNvSpPr txBox="1"/>
          <p:nvPr/>
        </p:nvSpPr>
        <p:spPr>
          <a:xfrm>
            <a:off x="4343400" y="4983480"/>
            <a:ext cx="3474720" cy="10058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b="1" dirty="0">
                <a:solidFill>
                  <a:srgbClr val="D8B15E"/>
                </a:solidFill>
                <a:latin typeface="Calibri" pitchFamily="34" charset="0"/>
                <a:ea typeface="Calibri" pitchFamily="34" charset="-122"/>
                <a:cs typeface="Calibri" pitchFamily="34" charset="-120"/>
              </a:rPr>
              <a:t>Sudut pandang.  </a:t>
            </a:r>
            <a:pPr indent="0" marL="0">
              <a:buNone/>
            </a:pPr>
            <a:r>
              <a:rPr lang="en-US" sz="2400" i="1" dirty="0">
                <a:solidFill>
                  <a:srgbClr val="F3E8D2"/>
                </a:solidFill>
                <a:latin typeface="Calibri" pitchFamily="34" charset="0"/>
                <a:ea typeface="Calibri" pitchFamily="34" charset="-122"/>
                <a:cs typeface="Calibri" pitchFamily="34" charset="-120"/>
              </a:rPr>
              <a:t>ambidexterity kontekstual</a:t>
            </a:r>
            <a:endParaRPr lang="en-US" sz="2400" dirty="0"/>
          </a:p>
        </p:txBody>
      </p:sp>
      <p:sp>
        <p:nvSpPr>
          <p:cNvPr id="17" name="Shape 12"/>
          <p:cNvSpPr/>
          <p:nvPr/>
        </p:nvSpPr>
        <p:spPr>
          <a:xfrm>
            <a:off x="8138160" y="2651760"/>
            <a:ext cx="548640" cy="548640"/>
          </a:xfrm>
          <a:prstGeom prst="ellipse">
            <a:avLst/>
          </a:prstGeom>
          <a:solidFill>
            <a:srgbClr val="9E1B1B"/>
          </a:solidFill>
          <a:ln w="12700">
            <a:solidFill>
              <a:srgbClr val="F3E8D2"/>
            </a:solidFill>
            <a:prstDash val="solid"/>
          </a:ln>
        </p:spPr>
      </p:sp>
      <p:sp>
        <p:nvSpPr>
          <p:cNvPr id="18" name="Text 13"/>
          <p:cNvSpPr txBox="1"/>
          <p:nvPr/>
        </p:nvSpPr>
        <p:spPr>
          <a:xfrm>
            <a:off x="8138160" y="2651760"/>
            <a:ext cx="548640" cy="548640"/>
          </a:xfrm>
          <a:prstGeom prst="rect">
            <a:avLst/>
          </a:prstGeom>
          <a:noFill/>
          <a:ln/>
        </p:spPr>
        <p:txBody>
          <a:bodyPr wrap="square" lIns="0" tIns="0" rIns="0" bIns="0" rtlCol="0" anchor="ctr"/>
          <a:lstStyle/>
          <a:p>
            <a:pPr algn="ctr" indent="0" marL="0">
              <a:buNone/>
            </a:pPr>
            <a:r>
              <a:rPr lang="en-US" sz="2400" b="1" dirty="0">
                <a:solidFill>
                  <a:srgbClr val="F3E8D2"/>
                </a:solidFill>
                <a:latin typeface="Cambria" pitchFamily="34" charset="0"/>
                <a:ea typeface="Cambria" pitchFamily="34" charset="-122"/>
                <a:cs typeface="Cambria" pitchFamily="34" charset="-120"/>
              </a:rPr>
              <a:t>C</a:t>
            </a:r>
            <a:endParaRPr lang="en-US" sz="2400" dirty="0"/>
          </a:p>
        </p:txBody>
      </p:sp>
      <p:sp>
        <p:nvSpPr>
          <p:cNvPr id="19" name="Text 14"/>
          <p:cNvSpPr txBox="1"/>
          <p:nvPr/>
        </p:nvSpPr>
        <p:spPr>
          <a:xfrm>
            <a:off x="8823960" y="2606040"/>
            <a:ext cx="2926080" cy="64008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400" b="1" dirty="0">
                <a:solidFill>
                  <a:srgbClr val="D8B15E"/>
                </a:solidFill>
                <a:latin typeface="Cambria" pitchFamily="34" charset="0"/>
                <a:ea typeface="Cambria" pitchFamily="34" charset="-122"/>
                <a:cs typeface="Cambria" pitchFamily="34" charset="-120"/>
              </a:rPr>
              <a:t>Integrasi Bertahap</a:t>
            </a:r>
            <a:endParaRPr lang="en-US" sz="2400" dirty="0"/>
          </a:p>
        </p:txBody>
      </p:sp>
      <p:sp>
        <p:nvSpPr>
          <p:cNvPr id="20" name="Text 15"/>
          <p:cNvSpPr txBox="1"/>
          <p:nvPr/>
        </p:nvSpPr>
        <p:spPr>
          <a:xfrm>
            <a:off x="8138160" y="3337560"/>
            <a:ext cx="3474720" cy="17373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Kendali 30 persen, neraca terpisah</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Rute 4 sampai 8 jam, merger menunggu bukti</a:t>
            </a:r>
            <a:endParaRPr lang="en-US" sz="2400" dirty="0"/>
          </a:p>
        </p:txBody>
      </p:sp>
      <p:sp>
        <p:nvSpPr>
          <p:cNvPr id="21" name="Text 16"/>
          <p:cNvSpPr txBox="1"/>
          <p:nvPr/>
        </p:nvSpPr>
        <p:spPr>
          <a:xfrm>
            <a:off x="8138160" y="4983480"/>
            <a:ext cx="3474720" cy="10058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b="1" dirty="0">
                <a:solidFill>
                  <a:srgbClr val="D8B15E"/>
                </a:solidFill>
                <a:latin typeface="Calibri" pitchFamily="34" charset="0"/>
                <a:ea typeface="Calibri" pitchFamily="34" charset="-122"/>
                <a:cs typeface="Calibri" pitchFamily="34" charset="-120"/>
              </a:rPr>
              <a:t>Sudut pandang.  </a:t>
            </a:r>
            <a:pPr indent="0" marL="0">
              <a:buNone/>
            </a:pPr>
            <a:r>
              <a:rPr lang="en-US" sz="2400" i="1" dirty="0">
                <a:solidFill>
                  <a:srgbClr val="F3E8D2"/>
                </a:solidFill>
                <a:latin typeface="Calibri" pitchFamily="34" charset="0"/>
                <a:ea typeface="Calibri" pitchFamily="34" charset="-122"/>
                <a:cs typeface="Calibri" pitchFamily="34" charset="-120"/>
              </a:rPr>
              <a:t>ambidexterity struktural, tata kelola hibrida</a:t>
            </a:r>
            <a:endParaRPr lang="en-US" sz="2400" dirty="0"/>
          </a:p>
        </p:txBody>
      </p:sp>
      <p:sp>
        <p:nvSpPr>
          <p:cNvPr id="22" name="Text 17"/>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Ketiganya diuji dengan lima kriteria dari isu kunci.</a:t>
            </a:r>
            <a:endParaRPr lang="en-US" sz="2200" dirty="0"/>
          </a:p>
        </p:txBody>
      </p:sp>
      <p:sp>
        <p:nvSpPr>
          <p:cNvPr id="23" name="Text 18"/>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scorecard.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bottom.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band_cream.png">    </p:cNvPr>
          <p:cNvPicPr>
            <a:picLocks noChangeAspect="1"/>
          </p:cNvPicPr>
          <p:nvPr/>
        </p:nvPicPr>
        <p:blipFill>
          <a:blip r:embed="rId3"/>
          <a:stretch>
            <a:fillRect/>
          </a:stretch>
        </p:blipFill>
        <p:spPr>
          <a:xfrm rot="-90000">
            <a:off x="274320" y="228600"/>
            <a:ext cx="3749040" cy="1143000"/>
          </a:xfrm>
          <a:prstGeom prst="rect">
            <a:avLst/>
          </a:prstGeom>
        </p:spPr>
      </p:pic>
      <p:sp>
        <p:nvSpPr>
          <p:cNvPr id="5" name="Text 0"/>
          <p:cNvSpPr txBox="1"/>
          <p:nvPr/>
        </p:nvSpPr>
        <p:spPr>
          <a:xfrm rot="-90000">
            <a:off x="274320" y="228600"/>
            <a:ext cx="374904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Scorecard</a:t>
            </a:r>
            <a:endParaRPr lang="en-US" sz="3800" dirty="0"/>
          </a:p>
        </p:txBody>
      </p:sp>
      <p:sp>
        <p:nvSpPr>
          <p:cNvPr id="6"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4 Choice</a:t>
            </a:r>
            <a:endParaRPr lang="en-US" sz="1500" dirty="0"/>
          </a:p>
        </p:txBody>
      </p:sp>
      <p:pic>
        <p:nvPicPr>
          <p:cNvPr id="7" name="Image 3" descr="/tmp/claude-0/-home-user-Dom-Manipulation/a70c4110-05d8-512e-ae11-d08dee025a7a/scratchpad/img/sheet.png">    </p:cNvPr>
          <p:cNvPicPr>
            <a:picLocks noChangeAspect="1"/>
          </p:cNvPicPr>
          <p:nvPr/>
        </p:nvPicPr>
        <p:blipFill>
          <a:blip r:embed="rId4"/>
          <a:stretch>
            <a:fillRect/>
          </a:stretch>
        </p:blipFill>
        <p:spPr>
          <a:xfrm rot="-48000">
            <a:off x="-91440" y="1554480"/>
            <a:ext cx="12344400" cy="393192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2960" y="1965960"/>
          <a:ext cx="10515600" cy="914400"/>
        </p:xfrm>
        <a:graphic>
          <a:graphicData uri="http://schemas.openxmlformats.org/drawingml/2006/table">
            <a:tbl>
              <a:tblPr/>
              <a:tblGrid>
                <a:gridCol w="4297680"/>
                <a:gridCol w="2103120"/>
                <a:gridCol w="2011680"/>
                <a:gridCol w="2103120"/>
              </a:tblGrid>
              <a:tr h="512064">
                <a:tc>
                  <a:txBody>
                    <a:bodyPr/>
                    <a:lstStyle/>
                    <a:p>
                      <a:pPr algn="l" indent="0" marL="0">
                        <a:buNone/>
                      </a:pPr>
                      <a:r>
                        <a:rPr lang="en-US" sz="2200" b="1" dirty="0">
                          <a:solidFill>
                            <a:srgbClr val="F3E8D2"/>
                          </a:solidFill>
                          <a:latin typeface="Calibri" pitchFamily="34" charset="0"/>
                          <a:ea typeface="Calibri" pitchFamily="34" charset="-122"/>
                          <a:cs typeface="Calibri" pitchFamily="34" charset="-120"/>
                        </a:rPr>
                        <a:t>Kriteria</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2A1E14"/>
                    </a:solidFill>
                  </a:tcPr>
                </a:tc>
                <a:tc>
                  <a:txBody>
                    <a:bodyPr/>
                    <a:lstStyle/>
                    <a:p>
                      <a:pPr algn="ctr" indent="0" marL="0">
                        <a:buNone/>
                      </a:pPr>
                      <a:r>
                        <a:rPr lang="en-US" sz="2200" b="1" dirty="0">
                          <a:solidFill>
                            <a:srgbClr val="F3E8D2"/>
                          </a:solidFill>
                          <a:latin typeface="Calibri" pitchFamily="34" charset="0"/>
                          <a:ea typeface="Calibri" pitchFamily="34" charset="-122"/>
                          <a:cs typeface="Calibri" pitchFamily="34" charset="-120"/>
                        </a:rPr>
                        <a:t>A. Regional</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2A1E14"/>
                    </a:solidFill>
                  </a:tcPr>
                </a:tc>
                <a:tc>
                  <a:txBody>
                    <a:bodyPr/>
                    <a:lstStyle/>
                    <a:p>
                      <a:pPr algn="ctr" indent="0" marL="0">
                        <a:buNone/>
                      </a:pPr>
                      <a:r>
                        <a:rPr lang="en-US" sz="2200" b="1" dirty="0">
                          <a:solidFill>
                            <a:srgbClr val="F3E8D2"/>
                          </a:solidFill>
                          <a:latin typeface="Calibri" pitchFamily="34" charset="0"/>
                          <a:ea typeface="Calibri" pitchFamily="34" charset="-122"/>
                          <a:cs typeface="Calibri" pitchFamily="34" charset="-120"/>
                        </a:rPr>
                        <a:t>B. Penuh</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2A1E14"/>
                    </a:solidFill>
                  </a:tcPr>
                </a:tc>
                <a:tc>
                  <a:txBody>
                    <a:bodyPr/>
                    <a:lstStyle/>
                    <a:p>
                      <a:pPr algn="ctr" indent="0" marL="0">
                        <a:buNone/>
                      </a:pPr>
                      <a:r>
                        <a:rPr lang="en-US" sz="2200" b="1" dirty="0">
                          <a:solidFill>
                            <a:srgbClr val="F3E8D2"/>
                          </a:solidFill>
                          <a:latin typeface="Calibri" pitchFamily="34" charset="0"/>
                          <a:ea typeface="Calibri" pitchFamily="34" charset="-122"/>
                          <a:cs typeface="Calibri" pitchFamily="34" charset="-120"/>
                        </a:rPr>
                        <a:t>C. Bertahap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9E1B1B"/>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Peluang pasar jarak jauh</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3E8A3E"/>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B8791A"/>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Daya tahan vs network carriers</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3E8A3E"/>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B8791A"/>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Keamanan finansial</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3E8A3E"/>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B8791A"/>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Eksploitasi dan eksplorasi</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B8791A"/>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3E8A3E"/>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Tata kelola dan pemegang saham</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B8791A"/>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B8791A"/>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3E8A3E"/>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B9A98C"/>
                      </a:solidFill>
                      <a:prstDash val="solid"/>
                      <a:round/>
                      <a:headEnd type="none" w="med" len="med"/>
                      <a:tailEnd type="none" w="med" len="med"/>
                    </a:lnL>
                    <a:lnR w="12700" cap="flat" cmpd="sng" algn="ctr">
                      <a:solidFill>
                        <a:srgbClr val="B9A98C"/>
                      </a:solidFill>
                      <a:prstDash val="solid"/>
                      <a:round/>
                      <a:headEnd type="none" w="med" len="med"/>
                      <a:tailEnd type="none" w="med" len="med"/>
                    </a:lnR>
                    <a:lnT w="12700" cap="flat" cmpd="sng" algn="ctr">
                      <a:solidFill>
                        <a:srgbClr val="B9A98C"/>
                      </a:solidFill>
                      <a:prstDash val="solid"/>
                      <a:round/>
                      <a:headEnd type="none" w="med" len="med"/>
                      <a:tailEnd type="none" w="med" len="med"/>
                    </a:lnT>
                    <a:lnB w="12700" cap="flat" cmpd="sng" algn="ctr">
                      <a:solidFill>
                        <a:srgbClr val="B9A98C"/>
                      </a:solidFill>
                      <a:prstDash val="solid"/>
                      <a:round/>
                      <a:headEnd type="none" w="med" len="med"/>
                      <a:tailEnd type="none" w="med" len="med"/>
                    </a:lnB>
                    <a:solidFill>
                      <a:srgbClr val="F3E8D2"/>
                    </a:solidFill>
                  </a:tcPr>
                </a:tc>
              </a:tr>
            </a:tbl>
          </a:graphicData>
        </a:graphic>
      </p:graphicFrame>
      <p:sp>
        <p:nvSpPr>
          <p:cNvPr id="9" name="Text 2"/>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Alternatif C tanpa satu pun kriteria lemah. Itulah rekomendasi kami.</a:t>
            </a:r>
            <a:endParaRPr lang="en-US" sz="2200" dirty="0"/>
          </a:p>
        </p:txBody>
      </p:sp>
      <p:sp>
        <p:nvSpPr>
          <p:cNvPr id="10" name="Text 3"/>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recommendation.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red.png">    </p:cNvPr>
          <p:cNvPicPr>
            <a:picLocks noChangeAspect="1"/>
          </p:cNvPicPr>
          <p:nvPr/>
        </p:nvPicPr>
        <p:blipFill>
          <a:blip r:embed="rId4"/>
          <a:stretch>
            <a:fillRect/>
          </a:stretch>
        </p:blipFill>
        <p:spPr>
          <a:xfrm rot="-90000">
            <a:off x="274320" y="228600"/>
            <a:ext cx="5120640" cy="1051560"/>
          </a:xfrm>
          <a:prstGeom prst="rect">
            <a:avLst/>
          </a:prstGeom>
        </p:spPr>
      </p:pic>
      <p:sp>
        <p:nvSpPr>
          <p:cNvPr id="6" name="Text 0"/>
          <p:cNvSpPr txBox="1"/>
          <p:nvPr/>
        </p:nvSpPr>
        <p:spPr>
          <a:xfrm rot="-90000">
            <a:off x="274320" y="228600"/>
            <a:ext cx="5120640" cy="1051560"/>
          </a:xfrm>
          <a:prstGeom prst="rect">
            <a:avLst/>
          </a:prstGeom>
          <a:noFill/>
          <a:ln/>
        </p:spPr>
        <p:txBody>
          <a:bodyPr wrap="square" lIns="0" tIns="4445" rIns="4445" bIns="0" rtlCol="0" anchor="ctr"/>
          <a:lstStyle/>
          <a:p>
            <a:pPr algn="ctr" indent="0" marL="0">
              <a:buNone/>
            </a:pPr>
            <a:r>
              <a:rPr lang="en-US" sz="3800" b="1" dirty="0">
                <a:solidFill>
                  <a:srgbClr val="F3E8D2"/>
                </a:solidFill>
                <a:latin typeface="Cambria" pitchFamily="34" charset="0"/>
                <a:ea typeface="Cambria" pitchFamily="34" charset="-122"/>
                <a:cs typeface="Cambria" pitchFamily="34" charset="-120"/>
              </a:rPr>
              <a:t>Recommendation</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6400800" cy="12801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700" b="1" dirty="0">
                <a:solidFill>
                  <a:srgbClr val="D8B15E"/>
                </a:solidFill>
                <a:latin typeface="Calibri" pitchFamily="34" charset="0"/>
                <a:ea typeface="Calibri" pitchFamily="34" charset="-122"/>
                <a:cs typeface="Calibri" pitchFamily="34" charset="-120"/>
              </a:rPr>
              <a:t>Integrasi bertahap: kendalikan AirAsia X, batasi rute, buktikan dulu, baru merger.</a:t>
            </a:r>
            <a:endParaRPr lang="en-US" sz="2700" dirty="0"/>
          </a:p>
        </p:txBody>
      </p:sp>
      <p:sp>
        <p:nvSpPr>
          <p:cNvPr id="9" name="Text 3"/>
          <p:cNvSpPr txBox="1"/>
          <p:nvPr/>
        </p:nvSpPr>
        <p:spPr>
          <a:xfrm>
            <a:off x="548640" y="3246120"/>
            <a:ext cx="6400800" cy="2651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Eksekusi opsi 30 persen dan tempatkan manajemen AirAsia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Rute 4 sampai 8 jam dengan A330 sampai A350 tiba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Merger hanya setelah empat kuartal laba dan arus kas positif</a:t>
            </a:r>
            <a:endParaRPr lang="en-US" sz="2400" dirty="0"/>
          </a:p>
        </p:txBody>
      </p:sp>
      <p:sp>
        <p:nvSpPr>
          <p:cNvPr id="10" name="Text 4"/>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Rencana implementasinya: KPI, waktu, penanggung jawab.</a:t>
            </a:r>
            <a:endParaRPr lang="en-US" sz="2200" dirty="0"/>
          </a:p>
        </p:txBody>
      </p:sp>
      <p:sp>
        <p:nvSpPr>
          <p:cNvPr id="11" name="Text 5"/>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implementation.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bottom.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full.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6492240" cy="1143000"/>
          </a:xfrm>
          <a:prstGeom prst="rect">
            <a:avLst/>
          </a:prstGeom>
        </p:spPr>
      </p:pic>
      <p:sp>
        <p:nvSpPr>
          <p:cNvPr id="6" name="Text 0"/>
          <p:cNvSpPr txBox="1"/>
          <p:nvPr/>
        </p:nvSpPr>
        <p:spPr>
          <a:xfrm rot="-90000">
            <a:off x="274320" y="228600"/>
            <a:ext cx="649224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Implementation plan</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6126480" cy="45720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Inisiatif dan KPI</a:t>
            </a:r>
            <a:endParaRPr lang="en-US" sz="2200" dirty="0"/>
          </a:p>
        </p:txBody>
      </p:sp>
      <p:sp>
        <p:nvSpPr>
          <p:cNvPr id="9" name="Text 3"/>
          <p:cNvSpPr txBox="1"/>
          <p:nvPr/>
        </p:nvSpPr>
        <p:spPr>
          <a:xfrm>
            <a:off x="6858000" y="1874520"/>
            <a:ext cx="2286000" cy="45720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Waktu</a:t>
            </a:r>
            <a:endParaRPr lang="en-US" sz="2200" dirty="0"/>
          </a:p>
        </p:txBody>
      </p:sp>
      <p:sp>
        <p:nvSpPr>
          <p:cNvPr id="10" name="Text 4"/>
          <p:cNvSpPr txBox="1"/>
          <p:nvPr/>
        </p:nvSpPr>
        <p:spPr>
          <a:xfrm>
            <a:off x="9235440" y="1874520"/>
            <a:ext cx="2468880" cy="45720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Penanggung jawab</a:t>
            </a:r>
            <a:endParaRPr lang="en-US" sz="2200" dirty="0"/>
          </a:p>
        </p:txBody>
      </p:sp>
      <p:sp>
        <p:nvSpPr>
          <p:cNvPr id="11" name="Shape 5"/>
          <p:cNvSpPr/>
          <p:nvPr/>
        </p:nvSpPr>
        <p:spPr>
          <a:xfrm>
            <a:off x="548640" y="2395728"/>
            <a:ext cx="11155680" cy="0"/>
          </a:xfrm>
          <a:prstGeom prst="line">
            <a:avLst/>
          </a:prstGeom>
          <a:noFill/>
          <a:ln w="6350">
            <a:solidFill>
              <a:srgbClr val="F3E8D2">
                <a:alpha val="45000"/>
              </a:srgbClr>
            </a:solidFill>
            <a:prstDash val="solid"/>
          </a:ln>
        </p:spPr>
      </p:sp>
      <p:sp>
        <p:nvSpPr>
          <p:cNvPr id="12" name="Text 6"/>
          <p:cNvSpPr txBox="1"/>
          <p:nvPr/>
        </p:nvSpPr>
        <p:spPr>
          <a:xfrm>
            <a:off x="548640" y="2395728"/>
            <a:ext cx="61264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1  Opsi 30 persen dan tim manajemen gabungan</a:t>
            </a:r>
            <a:endParaRPr lang="en-US" sz="2200" dirty="0"/>
          </a:p>
        </p:txBody>
      </p:sp>
      <p:sp>
        <p:nvSpPr>
          <p:cNvPr id="13" name="Text 7"/>
          <p:cNvSpPr txBox="1"/>
          <p:nvPr/>
        </p:nvSpPr>
        <p:spPr>
          <a:xfrm>
            <a:off x="6858000" y="2395728"/>
            <a:ext cx="228600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Q4 2009</a:t>
            </a:r>
            <a:endParaRPr lang="en-US" sz="2200" dirty="0"/>
          </a:p>
        </p:txBody>
      </p:sp>
      <p:sp>
        <p:nvSpPr>
          <p:cNvPr id="14" name="Text 8"/>
          <p:cNvSpPr txBox="1"/>
          <p:nvPr/>
        </p:nvSpPr>
        <p:spPr>
          <a:xfrm>
            <a:off x="9235440" y="2395728"/>
            <a:ext cx="24688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CEO dan Dewan</a:t>
            </a:r>
            <a:endParaRPr lang="en-US" sz="2200" dirty="0"/>
          </a:p>
        </p:txBody>
      </p:sp>
      <p:sp>
        <p:nvSpPr>
          <p:cNvPr id="15" name="Shape 9"/>
          <p:cNvSpPr/>
          <p:nvPr/>
        </p:nvSpPr>
        <p:spPr>
          <a:xfrm>
            <a:off x="548640" y="2980944"/>
            <a:ext cx="11155680" cy="0"/>
          </a:xfrm>
          <a:prstGeom prst="line">
            <a:avLst/>
          </a:prstGeom>
          <a:noFill/>
          <a:ln w="6350">
            <a:solidFill>
              <a:srgbClr val="F3E8D2">
                <a:alpha val="45000"/>
              </a:srgbClr>
            </a:solidFill>
            <a:prstDash val="solid"/>
          </a:ln>
        </p:spPr>
      </p:sp>
      <p:sp>
        <p:nvSpPr>
          <p:cNvPr id="16" name="Text 10"/>
          <p:cNvSpPr txBox="1"/>
          <p:nvPr/>
        </p:nvSpPr>
        <p:spPr>
          <a:xfrm>
            <a:off x="548640" y="2980944"/>
            <a:ext cx="61264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2  Rute 4 sampai 8 jam; load factor di atas 85 persen</a:t>
            </a:r>
            <a:endParaRPr lang="en-US" sz="2200" dirty="0"/>
          </a:p>
        </p:txBody>
      </p:sp>
      <p:sp>
        <p:nvSpPr>
          <p:cNvPr id="17" name="Text 11"/>
          <p:cNvSpPr txBox="1"/>
          <p:nvPr/>
        </p:nvSpPr>
        <p:spPr>
          <a:xfrm>
            <a:off x="6858000" y="2980944"/>
            <a:ext cx="228600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2010 sampai 2011</a:t>
            </a:r>
            <a:endParaRPr lang="en-US" sz="2200" dirty="0"/>
          </a:p>
        </p:txBody>
      </p:sp>
      <p:sp>
        <p:nvSpPr>
          <p:cNvPr id="18" name="Text 12"/>
          <p:cNvSpPr txBox="1"/>
          <p:nvPr/>
        </p:nvSpPr>
        <p:spPr>
          <a:xfrm>
            <a:off x="9235440" y="2980944"/>
            <a:ext cx="24688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CEO AirAsia X</a:t>
            </a:r>
            <a:endParaRPr lang="en-US" sz="2200" dirty="0"/>
          </a:p>
        </p:txBody>
      </p:sp>
      <p:sp>
        <p:nvSpPr>
          <p:cNvPr id="19" name="Shape 13"/>
          <p:cNvSpPr/>
          <p:nvPr/>
        </p:nvSpPr>
        <p:spPr>
          <a:xfrm>
            <a:off x="548640" y="3566160"/>
            <a:ext cx="11155680" cy="0"/>
          </a:xfrm>
          <a:prstGeom prst="line">
            <a:avLst/>
          </a:prstGeom>
          <a:noFill/>
          <a:ln w="6350">
            <a:solidFill>
              <a:srgbClr val="F3E8D2">
                <a:alpha val="45000"/>
              </a:srgbClr>
            </a:solidFill>
            <a:prstDash val="solid"/>
          </a:ln>
        </p:spPr>
      </p:sp>
      <p:sp>
        <p:nvSpPr>
          <p:cNvPr id="20" name="Text 14"/>
          <p:cNvSpPr txBox="1"/>
          <p:nvPr/>
        </p:nvSpPr>
        <p:spPr>
          <a:xfrm>
            <a:off x="548640" y="3566160"/>
            <a:ext cx="61264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3  Feeder terbatas di KL; transit di atas 25 persen</a:t>
            </a:r>
            <a:endParaRPr lang="en-US" sz="2200" dirty="0"/>
          </a:p>
        </p:txBody>
      </p:sp>
      <p:sp>
        <p:nvSpPr>
          <p:cNvPr id="21" name="Text 15"/>
          <p:cNvSpPr txBox="1"/>
          <p:nvPr/>
        </p:nvSpPr>
        <p:spPr>
          <a:xfrm>
            <a:off x="6858000" y="3566160"/>
            <a:ext cx="228600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2010</a:t>
            </a:r>
            <a:endParaRPr lang="en-US" sz="2200" dirty="0"/>
          </a:p>
        </p:txBody>
      </p:sp>
      <p:sp>
        <p:nvSpPr>
          <p:cNvPr id="22" name="Text 16"/>
          <p:cNvSpPr txBox="1"/>
          <p:nvPr/>
        </p:nvSpPr>
        <p:spPr>
          <a:xfrm>
            <a:off x="9235440" y="3566160"/>
            <a:ext cx="24688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Direktur Komersial</a:t>
            </a:r>
            <a:endParaRPr lang="en-US" sz="2200" dirty="0"/>
          </a:p>
        </p:txBody>
      </p:sp>
      <p:sp>
        <p:nvSpPr>
          <p:cNvPr id="23" name="Shape 17"/>
          <p:cNvSpPr/>
          <p:nvPr/>
        </p:nvSpPr>
        <p:spPr>
          <a:xfrm>
            <a:off x="548640" y="4151376"/>
            <a:ext cx="11155680" cy="0"/>
          </a:xfrm>
          <a:prstGeom prst="line">
            <a:avLst/>
          </a:prstGeom>
          <a:noFill/>
          <a:ln w="6350">
            <a:solidFill>
              <a:srgbClr val="F3E8D2">
                <a:alpha val="45000"/>
              </a:srgbClr>
            </a:solidFill>
            <a:prstDash val="solid"/>
          </a:ln>
        </p:spPr>
      </p:sp>
      <p:sp>
        <p:nvSpPr>
          <p:cNvPr id="24" name="Text 18"/>
          <p:cNvSpPr txBox="1"/>
          <p:nvPr/>
        </p:nvSpPr>
        <p:spPr>
          <a:xfrm>
            <a:off x="548640" y="4151376"/>
            <a:ext cx="61264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4  Hedging bahan bakar 30 sampai 50 persen</a:t>
            </a:r>
            <a:endParaRPr lang="en-US" sz="2200" dirty="0"/>
          </a:p>
        </p:txBody>
      </p:sp>
      <p:sp>
        <p:nvSpPr>
          <p:cNvPr id="25" name="Text 19"/>
          <p:cNvSpPr txBox="1"/>
          <p:nvPr/>
        </p:nvSpPr>
        <p:spPr>
          <a:xfrm>
            <a:off x="6858000" y="4151376"/>
            <a:ext cx="228600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Segera</a:t>
            </a:r>
            <a:endParaRPr lang="en-US" sz="2200" dirty="0"/>
          </a:p>
        </p:txBody>
      </p:sp>
      <p:sp>
        <p:nvSpPr>
          <p:cNvPr id="26" name="Text 20"/>
          <p:cNvSpPr txBox="1"/>
          <p:nvPr/>
        </p:nvSpPr>
        <p:spPr>
          <a:xfrm>
            <a:off x="9235440" y="4151376"/>
            <a:ext cx="24688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CFO, Komite Risiko</a:t>
            </a:r>
            <a:endParaRPr lang="en-US" sz="2200" dirty="0"/>
          </a:p>
        </p:txBody>
      </p:sp>
      <p:sp>
        <p:nvSpPr>
          <p:cNvPr id="27" name="Shape 21"/>
          <p:cNvSpPr/>
          <p:nvPr/>
        </p:nvSpPr>
        <p:spPr>
          <a:xfrm>
            <a:off x="548640" y="4736592"/>
            <a:ext cx="11155680" cy="0"/>
          </a:xfrm>
          <a:prstGeom prst="line">
            <a:avLst/>
          </a:prstGeom>
          <a:noFill/>
          <a:ln w="6350">
            <a:solidFill>
              <a:srgbClr val="F3E8D2">
                <a:alpha val="45000"/>
              </a:srgbClr>
            </a:solidFill>
            <a:prstDash val="solid"/>
          </a:ln>
        </p:spPr>
      </p:sp>
      <p:sp>
        <p:nvSpPr>
          <p:cNvPr id="28" name="Text 22"/>
          <p:cNvSpPr txBox="1"/>
          <p:nvPr/>
        </p:nvSpPr>
        <p:spPr>
          <a:xfrm>
            <a:off x="548640" y="4736592"/>
            <a:ext cx="61264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5  Utang/ekuitas di bawah 3 kali sebelum A350</a:t>
            </a:r>
            <a:endParaRPr lang="en-US" sz="2200" dirty="0"/>
          </a:p>
        </p:txBody>
      </p:sp>
      <p:sp>
        <p:nvSpPr>
          <p:cNvPr id="29" name="Text 23"/>
          <p:cNvSpPr txBox="1"/>
          <p:nvPr/>
        </p:nvSpPr>
        <p:spPr>
          <a:xfrm>
            <a:off x="6858000" y="4736592"/>
            <a:ext cx="228600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2010 sampai 2015</a:t>
            </a:r>
            <a:endParaRPr lang="en-US" sz="2200" dirty="0"/>
          </a:p>
        </p:txBody>
      </p:sp>
      <p:sp>
        <p:nvSpPr>
          <p:cNvPr id="30" name="Text 24"/>
          <p:cNvSpPr txBox="1"/>
          <p:nvPr/>
        </p:nvSpPr>
        <p:spPr>
          <a:xfrm>
            <a:off x="9235440" y="4736592"/>
            <a:ext cx="24688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CFO</a:t>
            </a:r>
            <a:endParaRPr lang="en-US" sz="2200" dirty="0"/>
          </a:p>
        </p:txBody>
      </p:sp>
      <p:sp>
        <p:nvSpPr>
          <p:cNvPr id="31" name="Shape 25"/>
          <p:cNvSpPr/>
          <p:nvPr/>
        </p:nvSpPr>
        <p:spPr>
          <a:xfrm>
            <a:off x="548640" y="5321808"/>
            <a:ext cx="11155680" cy="0"/>
          </a:xfrm>
          <a:prstGeom prst="line">
            <a:avLst/>
          </a:prstGeom>
          <a:noFill/>
          <a:ln w="6350">
            <a:solidFill>
              <a:srgbClr val="F3E8D2">
                <a:alpha val="45000"/>
              </a:srgbClr>
            </a:solidFill>
            <a:prstDash val="solid"/>
          </a:ln>
        </p:spPr>
      </p:sp>
      <p:sp>
        <p:nvSpPr>
          <p:cNvPr id="32" name="Text 26"/>
          <p:cNvSpPr txBox="1"/>
          <p:nvPr/>
        </p:nvSpPr>
        <p:spPr>
          <a:xfrm>
            <a:off x="548640" y="5321808"/>
            <a:ext cx="61264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6  Gerbang merger: empat kuartal laba positif</a:t>
            </a:r>
            <a:endParaRPr lang="en-US" sz="2200" dirty="0"/>
          </a:p>
        </p:txBody>
      </p:sp>
      <p:sp>
        <p:nvSpPr>
          <p:cNvPr id="33" name="Text 27"/>
          <p:cNvSpPr txBox="1"/>
          <p:nvPr/>
        </p:nvSpPr>
        <p:spPr>
          <a:xfrm>
            <a:off x="6858000" y="5321808"/>
            <a:ext cx="228600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Evaluasi 2011</a:t>
            </a:r>
            <a:endParaRPr lang="en-US" sz="2200" dirty="0"/>
          </a:p>
        </p:txBody>
      </p:sp>
      <p:sp>
        <p:nvSpPr>
          <p:cNvPr id="34" name="Text 28"/>
          <p:cNvSpPr txBox="1"/>
          <p:nvPr/>
        </p:nvSpPr>
        <p:spPr>
          <a:xfrm>
            <a:off x="9235440" y="5321808"/>
            <a:ext cx="2468880" cy="566928"/>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dirty="0">
                <a:solidFill>
                  <a:srgbClr val="F3E8D2"/>
                </a:solidFill>
                <a:latin typeface="Calibri" pitchFamily="34" charset="0"/>
                <a:ea typeface="Calibri" pitchFamily="34" charset="-122"/>
                <a:cs typeface="Calibri" pitchFamily="34" charset="-120"/>
              </a:rPr>
              <a:t>Dewan Komisaris</a:t>
            </a:r>
            <a:endParaRPr lang="en-US" sz="2200" dirty="0"/>
          </a:p>
        </p:txBody>
      </p:sp>
      <p:sp>
        <p:nvSpPr>
          <p:cNvPr id="35" name="Text 29"/>
          <p:cNvSpPr txBox="1"/>
          <p:nvPr/>
        </p:nvSpPr>
        <p:spPr>
          <a:xfrm>
            <a:off x="502920" y="6108192"/>
            <a:ext cx="10515600" cy="50292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200" b="1" dirty="0">
                <a:solidFill>
                  <a:srgbClr val="D8B15E"/>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Rekomendasi ini menjawab pertanyaan di slide 5. Apa pelajarannya?</a:t>
            </a:r>
            <a:endParaRPr lang="en-US" sz="2200" dirty="0"/>
          </a:p>
        </p:txBody>
      </p:sp>
      <p:sp>
        <p:nvSpPr>
          <p:cNvPr id="36" name="Text 30"/>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lessons.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pic>
        <p:nvPicPr>
          <p:cNvPr id="4" name="Image 2" descr="/tmp/claude-0/-home-user-Dom-Manipulation/a70c4110-05d8-512e-ae11-d08dee025a7a/scratchpad/img/scrim_bottom.png">    </p:cNvPr>
          <p:cNvPicPr>
            <a:picLocks noChangeAspect="1"/>
          </p:cNvPicPr>
          <p:nvPr/>
        </p:nvPicPr>
        <p:blipFill>
          <a:blip r:embed="rId3"/>
          <a:stretch>
            <a:fillRect/>
          </a:stretch>
        </p:blipFill>
        <p:spPr>
          <a:xfrm>
            <a:off x="0" y="0"/>
            <a:ext cx="12188952" cy="6858000"/>
          </a:xfrm>
          <a:prstGeom prst="rect">
            <a:avLst/>
          </a:prstGeom>
        </p:spPr>
      </p:pic>
      <p:pic>
        <p:nvPicPr>
          <p:cNvPr id="5" name="Image 3" descr="/tmp/claude-0/-home-user-Dom-Manipulation/a70c4110-05d8-512e-ae11-d08dee025a7a/scratchpad/img/band_cream.png">    </p:cNvPr>
          <p:cNvPicPr>
            <a:picLocks noChangeAspect="1"/>
          </p:cNvPicPr>
          <p:nvPr/>
        </p:nvPicPr>
        <p:blipFill>
          <a:blip r:embed="rId4"/>
          <a:stretch>
            <a:fillRect/>
          </a:stretch>
        </p:blipFill>
        <p:spPr>
          <a:xfrm rot="-90000">
            <a:off x="274320" y="228600"/>
            <a:ext cx="7040880" cy="1143000"/>
          </a:xfrm>
          <a:prstGeom prst="rect">
            <a:avLst/>
          </a:prstGeom>
        </p:spPr>
      </p:pic>
      <p:sp>
        <p:nvSpPr>
          <p:cNvPr id="6" name="Text 0"/>
          <p:cNvSpPr txBox="1"/>
          <p:nvPr/>
        </p:nvSpPr>
        <p:spPr>
          <a:xfrm rot="-90000">
            <a:off x="274320" y="228600"/>
            <a:ext cx="7040880" cy="1143000"/>
          </a:xfrm>
          <a:prstGeom prst="rect">
            <a:avLst/>
          </a:prstGeom>
          <a:noFill/>
          <a:ln/>
        </p:spPr>
        <p:txBody>
          <a:bodyPr wrap="square" lIns="0" tIns="4445" rIns="4445" bIns="0" rtlCol="0" anchor="ctr"/>
          <a:lstStyle/>
          <a:p>
            <a:pPr algn="ctr" indent="0" marL="0">
              <a:buNone/>
            </a:pPr>
            <a:r>
              <a:rPr lang="en-US" sz="3800" b="1" dirty="0">
                <a:solidFill>
                  <a:srgbClr val="9E1B1B"/>
                </a:solidFill>
                <a:latin typeface="Cambria" pitchFamily="34" charset="0"/>
                <a:ea typeface="Cambria" pitchFamily="34" charset="-122"/>
                <a:cs typeface="Cambria" pitchFamily="34" charset="-120"/>
              </a:rPr>
              <a:t>Lessons for Chapter 3</a:t>
            </a:r>
            <a:endParaRPr lang="en-US" sz="3800" dirty="0"/>
          </a:p>
        </p:txBody>
      </p:sp>
      <p:sp>
        <p:nvSpPr>
          <p:cNvPr id="7" name="Text 1"/>
          <p:cNvSpPr txBox="1"/>
          <p:nvPr/>
        </p:nvSpPr>
        <p:spPr>
          <a:xfrm>
            <a:off x="502920" y="1371600"/>
            <a:ext cx="822960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1500" dirty="0">
                <a:solidFill>
                  <a:srgbClr val="CFC3AE"/>
                </a:solidFill>
                <a:latin typeface="Calibri" pitchFamily="34" charset="0"/>
                <a:ea typeface="Calibri" pitchFamily="34" charset="-122"/>
                <a:cs typeface="Calibri" pitchFamily="34" charset="-120"/>
              </a:rPr>
              <a:t>1 Problem</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2 External environment</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dirty="0">
                <a:solidFill>
                  <a:srgbClr val="CFC3AE"/>
                </a:solidFill>
                <a:latin typeface="Calibri" pitchFamily="34" charset="0"/>
                <a:ea typeface="Calibri" pitchFamily="34" charset="-122"/>
                <a:cs typeface="Calibri" pitchFamily="34" charset="-120"/>
              </a:rPr>
              <a:t>3 Cost position</a:t>
            </a:r>
            <a:pPr indent="0" marL="0">
              <a:buNone/>
            </a:pPr>
            <a:r>
              <a:rPr lang="en-US" sz="1500" dirty="0">
                <a:solidFill>
                  <a:srgbClr val="CFC3AE"/>
                </a:solidFill>
                <a:latin typeface="Calibri" pitchFamily="34" charset="0"/>
                <a:ea typeface="Calibri" pitchFamily="34" charset="-122"/>
                <a:cs typeface="Calibri" pitchFamily="34" charset="-120"/>
              </a:rPr>
              <a:t>   ·   </a:t>
            </a:r>
            <a:pPr indent="0" marL="0">
              <a:buNone/>
            </a:pPr>
            <a:r>
              <a:rPr lang="en-US" sz="1500" b="1" dirty="0">
                <a:solidFill>
                  <a:srgbClr val="D8B15E"/>
                </a:solidFill>
                <a:latin typeface="Calibri" pitchFamily="34" charset="0"/>
                <a:ea typeface="Calibri" pitchFamily="34" charset="-122"/>
                <a:cs typeface="Calibri" pitchFamily="34" charset="-120"/>
              </a:rPr>
              <a:t>4 Choice</a:t>
            </a:r>
            <a:endParaRPr lang="en-US" sz="1500" dirty="0"/>
          </a:p>
        </p:txBody>
      </p:sp>
      <p:sp>
        <p:nvSpPr>
          <p:cNvPr id="8" name="Text 2"/>
          <p:cNvSpPr txBox="1"/>
          <p:nvPr/>
        </p:nvSpPr>
        <p:spPr>
          <a:xfrm>
            <a:off x="548640" y="1874520"/>
            <a:ext cx="6583680" cy="329184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Struktur industri menjelaskan mengapa laba langka, bukan siapa yang meraihnya.</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Keunggulan biaya adalah sistem yang saling menopang.</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Pindah kelompok strategis berarti melawan model laba yang berbeda.</a:t>
            </a:r>
            <a:endParaRPr lang="en-US" sz="2400" dirty="0"/>
          </a:p>
          <a:p>
            <a:pPr marL="342900" indent="-342900">
              <a:spcAft>
                <a:spcPts val="800"/>
              </a:spcAft>
              <a:buSzPct val="100000"/>
              <a:buFont typeface="+mj-lt"/>
              <a:buAutoNum type="arabicPeriod" startAt="1"/>
            </a:pPr>
            <a:r>
              <a:rPr lang="en-US" sz="2400" dirty="0">
                <a:solidFill>
                  <a:srgbClr val="F3E8D2"/>
                </a:solidFill>
                <a:latin typeface="Calibri" pitchFamily="34" charset="0"/>
                <a:ea typeface="Calibri" pitchFamily="34" charset="-122"/>
                <a:cs typeface="Calibri" pitchFamily="34" charset="-120"/>
              </a:rPr>
              <a:t>Eksplorasi butuh unit terpisah yang tetap dikendalikan induk.</a:t>
            </a:r>
            <a:endParaRPr lang="en-US" sz="2400" dirty="0"/>
          </a:p>
        </p:txBody>
      </p:sp>
      <p:sp>
        <p:nvSpPr>
          <p:cNvPr id="9" name="Text 3"/>
          <p:cNvSpPr txBox="1"/>
          <p:nvPr/>
        </p:nvSpPr>
        <p:spPr>
          <a:xfrm>
            <a:off x="548640" y="5212080"/>
            <a:ext cx="6583680" cy="5943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2600" b="1" i="1" dirty="0">
                <a:solidFill>
                  <a:srgbClr val="D8B15E"/>
                </a:solidFill>
                <a:latin typeface="Cambria" pitchFamily="34" charset="0"/>
                <a:ea typeface="Cambria" pitchFamily="34" charset="-122"/>
                <a:cs typeface="Cambria" pitchFamily="34" charset="-120"/>
              </a:rPr>
              <a:t>Dalam satu kata: transferabilitas.</a:t>
            </a:r>
            <a:endParaRPr lang="en-US" sz="2600" dirty="0"/>
          </a:p>
        </p:txBody>
      </p:sp>
      <p:sp>
        <p:nvSpPr>
          <p:cNvPr id="10" name="Text 4"/>
          <p:cNvSpPr txBox="1"/>
          <p:nvPr/>
        </p:nvSpPr>
        <p:spPr>
          <a:xfrm>
            <a:off x="7589520" y="3017520"/>
            <a:ext cx="4114800" cy="292608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b"/>
          <a:lstStyle/>
          <a:p>
            <a:pPr indent="0" marL="0">
              <a:buNone/>
            </a:pPr>
            <a:r>
              <a:rPr lang="en-US" sz="2400" b="1" dirty="0">
                <a:solidFill>
                  <a:srgbClr val="D8B15E"/>
                </a:solidFill>
                <a:latin typeface="Calibri" pitchFamily="34" charset="0"/>
                <a:ea typeface="Calibri" pitchFamily="34" charset="-122"/>
                <a:cs typeface="Calibri" pitchFamily="34" charset="-120"/>
              </a:rPr>
              <a:t>Untuk didiskusikan</a:t>
            </a:r>
            <a:endParaRPr lang="en-US" sz="2400" dirty="0"/>
          </a:p>
          <a:p>
            <a:pPr indent="0" marL="0">
              <a:buNone/>
            </a:pPr>
            <a:r>
              <a:rPr lang="en-US" sz="2400" dirty="0">
                <a:solidFill>
                  <a:srgbClr val="F3E8D2"/>
                </a:solidFill>
                <a:latin typeface="Calibri" pitchFamily="34" charset="0"/>
                <a:ea typeface="Calibri" pitchFamily="34" charset="-122"/>
                <a:cs typeface="Calibri" pitchFamily="34" charset="-120"/>
              </a:rPr>
              <a:t>Jika Anda Tony Fernandes pada Juli 2009 dengan kas RM 153,8 juta, setujui merger sekarang, atau tunggu bukti empat kuartal? Apa yang hilang jika menunggu?</a:t>
            </a:r>
            <a:endParaRPr lang="en-US" sz="2400" dirty="0"/>
          </a:p>
        </p:txBody>
      </p:sp>
      <p:sp>
        <p:nvSpPr>
          <p:cNvPr id="11" name="Text 5"/>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0E0A"/>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thanks.jpg">    </p:cNvPr>
          <p:cNvPicPr>
            <a:picLocks noChangeAspect="1"/>
          </p:cNvPicPr>
          <p:nvPr/>
        </p:nvPicPr>
        <p:blipFill>
          <a:blip r:embed="rId1"/>
          <a:stretch>
            <a:fillRect/>
          </a:stretch>
        </p:blipFill>
        <p:spPr>
          <a:xfrm>
            <a:off x="0" y="0"/>
            <a:ext cx="12188952" cy="6858000"/>
          </a:xfrm>
          <a:prstGeom prst="rect">
            <a:avLst/>
          </a:prstGeom>
        </p:spPr>
      </p:pic>
      <p:pic>
        <p:nvPicPr>
          <p:cNvPr id="3" name="Image 1" descr="/tmp/claude-0/-home-user-Dom-Manipulation/a70c4110-05d8-512e-ae11-d08dee025a7a/scratchpad/img/scrim_left.png">    </p:cNvPr>
          <p:cNvPicPr>
            <a:picLocks noChangeAspect="1"/>
          </p:cNvPicPr>
          <p:nvPr/>
        </p:nvPicPr>
        <p:blipFill>
          <a:blip r:embed="rId2"/>
          <a:stretch>
            <a:fillRect/>
          </a:stretch>
        </p:blipFill>
        <p:spPr>
          <a:xfrm>
            <a:off x="0" y="0"/>
            <a:ext cx="12188952" cy="6858000"/>
          </a:xfrm>
          <a:prstGeom prst="rect">
            <a:avLst/>
          </a:prstGeom>
        </p:spPr>
      </p:pic>
      <p:sp>
        <p:nvSpPr>
          <p:cNvPr id="4" name="Text 0"/>
          <p:cNvSpPr txBox="1"/>
          <p:nvPr/>
        </p:nvSpPr>
        <p:spPr>
          <a:xfrm>
            <a:off x="640080" y="1828800"/>
            <a:ext cx="5943600" cy="12801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indent="0" marL="0">
              <a:buNone/>
            </a:pPr>
            <a:r>
              <a:rPr lang="en-US" sz="6600" b="1" dirty="0">
                <a:solidFill>
                  <a:srgbClr val="F3E8D2"/>
                </a:solidFill>
                <a:latin typeface="Cambria" pitchFamily="34" charset="0"/>
                <a:ea typeface="Cambria" pitchFamily="34" charset="-122"/>
                <a:cs typeface="Cambria" pitchFamily="34" charset="-120"/>
              </a:rPr>
              <a:t>Thank you</a:t>
            </a:r>
            <a:endParaRPr lang="en-US" sz="6600" dirty="0"/>
          </a:p>
        </p:txBody>
      </p:sp>
      <p:sp>
        <p:nvSpPr>
          <p:cNvPr id="5" name="Text 1"/>
          <p:cNvSpPr txBox="1"/>
          <p:nvPr/>
        </p:nvSpPr>
        <p:spPr>
          <a:xfrm>
            <a:off x="640080" y="3154680"/>
            <a:ext cx="5486400" cy="91440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400" dirty="0">
                <a:solidFill>
                  <a:srgbClr val="D8B15E"/>
                </a:solidFill>
                <a:latin typeface="Calibri" pitchFamily="34" charset="0"/>
                <a:ea typeface="Calibri" pitchFamily="34" charset="-122"/>
                <a:cs typeface="Calibri" pitchFamily="34" charset="-120"/>
              </a:rPr>
              <a:t>Terima kasih. Kami terbuka untuk pertanyaan dan diskusi.</a:t>
            </a:r>
            <a:endParaRPr lang="en-US" sz="2400" dirty="0"/>
          </a:p>
        </p:txBody>
      </p:sp>
      <p:sp>
        <p:nvSpPr>
          <p:cNvPr id="6" name="Text 2"/>
          <p:cNvSpPr txBox="1"/>
          <p:nvPr/>
        </p:nvSpPr>
        <p:spPr>
          <a:xfrm>
            <a:off x="640080" y="4754880"/>
            <a:ext cx="5669280" cy="12801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t"/>
          <a:lstStyle/>
          <a:p>
            <a:pPr indent="0" marL="0">
              <a:buNone/>
            </a:pPr>
            <a:r>
              <a:rPr lang="en-US" sz="2600" b="1" dirty="0">
                <a:solidFill>
                  <a:srgbClr val="D8B15E"/>
                </a:solidFill>
                <a:latin typeface="Calibri" pitchFamily="34" charset="0"/>
                <a:ea typeface="Calibri" pitchFamily="34" charset="-122"/>
                <a:cs typeface="Calibri" pitchFamily="34" charset="-120"/>
              </a:rPr>
              <a:t>Kelompok 3</a:t>
            </a:r>
            <a:endParaRPr lang="en-US" sz="2400" dirty="0"/>
          </a:p>
          <a:p>
            <a:pPr indent="0" marL="0">
              <a:buNone/>
            </a:pPr>
            <a:r>
              <a:rPr lang="en-US" sz="2000" dirty="0">
                <a:solidFill>
                  <a:srgbClr val="F3E8D2"/>
                </a:solidFill>
                <a:latin typeface="Calibri" pitchFamily="34" charset="0"/>
                <a:ea typeface="Calibri" pitchFamily="34" charset="-122"/>
                <a:cs typeface="Calibri" pitchFamily="34" charset="-120"/>
              </a:rPr>
              <a:t>Tifani Puspita  |  Dara Astrini Rahayu K  |  Happy Dinithasari  |  Aslih Abnuri</a:t>
            </a:r>
            <a:endParaRPr lang="en-US" sz="2400" dirty="0"/>
          </a:p>
        </p:txBody>
      </p:sp>
      <p:sp>
        <p:nvSpPr>
          <p:cNvPr id="7" name="Text 3"/>
          <p:cNvSpPr txBox="1"/>
          <p:nvPr/>
        </p:nvSpPr>
        <p:spPr>
          <a:xfrm>
            <a:off x="11247120" y="6309360"/>
            <a:ext cx="548640" cy="365760"/>
          </a:xfrm>
          <a:prstGeom prst="rect">
            <a:avLst/>
          </a:prstGeom>
          <a:noFill/>
          <a:ln/>
          <a:effectLst>
            <a:outerShdw sx="100000" sy="100000" kx="0" ky="0" algn="bl" rotWithShape="0" blurRad="Infinity" dist="Infinity" dir="Infinity">
              <a:srgbClr val="000000">
                <a:alpha val="Infinity"/>
              </a:srgbClr>
            </a:outerShdw>
          </a:effectLst>
        </p:spPr>
        <p:txBody>
          <a:bodyPr wrap="square" lIns="0" tIns="0" rIns="0" bIns="0" rtlCol="0" anchor="ctr"/>
          <a:lstStyle/>
          <a:p>
            <a:pPr algn="r" indent="0" marL="0">
              <a:buNone/>
            </a:pPr>
            <a:r>
              <a:rPr lang="en-US" sz="1400" b="1" dirty="0">
                <a:solidFill>
                  <a:srgbClr val="F3E8D2"/>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2026-09-07T10:26:39Z</dcterms:created>
  <dcterms:modified xsi:type="dcterms:W3CDTF">2026-09-07T10:26:39Z</dcterms:modified>
</cp:coreProperties>
</file>