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materi di deck ini diambil dari toni.black.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utama: satu warna itu keputusan desain, bukan keterbatasan stok.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angka ini yang paling sering ditanya calon pembeli.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ModalCloud dipakai di hampir semua produk. FlowLite hanya di loose boxer.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hal ini yang membedakan produknya. Dua kain, satu konstruksi.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Harga di atas harga satuan. Multipack ada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Multipack adalah cara paling mudah menaikkan nilai 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Lab ada di toni.black/pages/sizing-guide.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langkah ini yang dipakai affiliate saat menjawab pertanyaan ukuran.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Waistband adalah alasan paling sering disebut pembeli yang repeat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produk, tiga momen. Ini cara paling gampang menjelaskan rangenya.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Harga di deck ini harga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BLACKLIST adalah nama program affiliate Toni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instruction sama untuk semua produk. Sumber: halaman produk toni.black.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0911810" cy="5852160"/>
          </a:xfrm>
          <a:prstGeom prst="roundRect">
            <a:avLst>
              <a:gd name="adj" fmla="val 2188"/>
            </a:avLst>
          </a:prstGeom>
          <a:solidFill>
            <a:srgbClr val="282828"/>
          </a:solidFill>
          <a:ln w="12700">
            <a:solidFill>
              <a:srgbClr val="282828"/>
            </a:solidFill>
            <a:prstDash val="solid"/>
          </a:ln>
        </p:spPr>
      </p:sp>
      <p:pic>
        <p:nvPicPr>
          <p:cNvPr id="3" name="Image 0" descr="/home/user/Dom-Manipulation/toni-black/product-knowledge/source/img/cover.png">    </p:cNvPr>
          <p:cNvPicPr>
            <a:picLocks noChangeAspect="1"/>
          </p:cNvPicPr>
          <p:nvPr/>
        </p:nvPicPr>
        <p:blipFill>
          <a:blip r:embed="rId1"/>
          <a:stretch>
            <a:fillRect/>
          </a:stretch>
        </p:blipFill>
        <p:spPr>
          <a:xfrm>
            <a:off x="5434554" y="722376"/>
            <a:ext cx="5897880" cy="5413248"/>
          </a:xfrm>
          <a:prstGeom prst="rect">
            <a:avLst/>
          </a:prstGeom>
        </p:spPr>
      </p:pic>
      <p:pic>
        <p:nvPicPr>
          <p:cNvPr id="4" name="Image 1" descr="/home/user/Dom-Manipulation/toni-black/product-knowledge/source/logo_white.png">    </p:cNvPr>
          <p:cNvPicPr>
            <a:picLocks noChangeAspect="1"/>
          </p:cNvPicPr>
          <p:nvPr/>
        </p:nvPicPr>
        <p:blipFill>
          <a:blip r:embed="rId2"/>
          <a:stretch>
            <a:fillRect/>
          </a:stretch>
        </p:blipFill>
        <p:spPr>
          <a:xfrm>
            <a:off x="1143000" y="1005840"/>
            <a:ext cx="1783080" cy="269755"/>
          </a:xfrm>
          <a:prstGeom prst="rect">
            <a:avLst/>
          </a:prstGeom>
        </p:spPr>
      </p:pic>
      <p:sp>
        <p:nvSpPr>
          <p:cNvPr id="5" name="Text 1"/>
          <p:cNvSpPr/>
          <p:nvPr/>
        </p:nvSpPr>
        <p:spPr>
          <a:xfrm>
            <a:off x="1143000" y="2011680"/>
            <a:ext cx="3886200"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PRODUCT KNOWLEDGE  ·  2026</a:t>
            </a:r>
            <a:endParaRPr lang="en-US" sz="950" dirty="0"/>
          </a:p>
        </p:txBody>
      </p:sp>
      <p:sp>
        <p:nvSpPr>
          <p:cNvPr id="6" name="Text 2"/>
          <p:cNvSpPr/>
          <p:nvPr/>
        </p:nvSpPr>
        <p:spPr>
          <a:xfrm>
            <a:off x="1143000" y="2395728"/>
            <a:ext cx="3886200" cy="1554480"/>
          </a:xfrm>
          <a:prstGeom prst="rect">
            <a:avLst/>
          </a:prstGeom>
          <a:noFill/>
          <a:ln/>
        </p:spPr>
        <p:txBody>
          <a:bodyPr wrap="square" lIns="0" tIns="0" rIns="0" bIns="0" rtlCol="0" anchor="ctr"/>
          <a:lstStyle/>
          <a:p>
            <a:pPr indent="0" marL="0">
              <a:lnSpc>
                <a:spcPts val="3500"/>
              </a:lnSpc>
              <a:buNone/>
            </a:pPr>
            <a:r>
              <a:rPr lang="en-US" sz="3200" b="1" dirty="0">
                <a:solidFill>
                  <a:srgbClr val="FFFFFF"/>
                </a:solidFill>
                <a:latin typeface="Zalando Sans Expanded" pitchFamily="34" charset="0"/>
                <a:ea typeface="Zalando Sans Expanded" pitchFamily="34" charset="-122"/>
                <a:cs typeface="Zalando Sans Expanded" pitchFamily="34" charset="-120"/>
              </a:rPr>
              <a:t>Engineered for</a:t>
            </a:r>
            <a:endParaRPr lang="en-US" sz="3200" dirty="0"/>
          </a:p>
          <a:p>
            <a:pPr indent="0" marL="0">
              <a:lnSpc>
                <a:spcPts val="3500"/>
              </a:lnSpc>
              <a:buNone/>
            </a:pPr>
            <a:r>
              <a:rPr lang="en-US" sz="3200" b="1" dirty="0">
                <a:solidFill>
                  <a:srgbClr val="FFFFFF"/>
                </a:solidFill>
                <a:latin typeface="Zalando Sans Expanded" pitchFamily="34" charset="0"/>
                <a:ea typeface="Zalando Sans Expanded" pitchFamily="34" charset="-122"/>
                <a:cs typeface="Zalando Sans Expanded" pitchFamily="34" charset="-120"/>
              </a:rPr>
              <a:t>Every Body</a:t>
            </a:r>
            <a:endParaRPr lang="en-US" sz="3200" dirty="0"/>
          </a:p>
        </p:txBody>
      </p:sp>
      <p:sp>
        <p:nvSpPr>
          <p:cNvPr id="7" name="Text 3"/>
          <p:cNvSpPr/>
          <p:nvPr/>
        </p:nvSpPr>
        <p:spPr>
          <a:xfrm>
            <a:off x="1143000" y="4069080"/>
            <a:ext cx="3886200" cy="960120"/>
          </a:xfrm>
          <a:prstGeom prst="rect">
            <a:avLst/>
          </a:prstGeom>
          <a:noFill/>
          <a:ln/>
        </p:spPr>
        <p:txBody>
          <a:bodyPr wrap="square" lIns="0" tIns="0" rIns="0" bIns="0" rtlCol="0" anchor="t"/>
          <a:lstStyle/>
          <a:p>
            <a:pPr indent="0" marL="0">
              <a:lnSpc>
                <a:spcPts val="1668"/>
              </a:lnSpc>
              <a:buNone/>
            </a:pPr>
            <a:r>
              <a:rPr lang="en-US" sz="1150" dirty="0">
                <a:solidFill>
                  <a:srgbClr val="CCCCCC"/>
                </a:solidFill>
                <a:latin typeface="Arimo" pitchFamily="34" charset="0"/>
                <a:ea typeface="Arimo" pitchFamily="34" charset="-122"/>
                <a:cs typeface="Arimo" pitchFamily="34" charset="-120"/>
              </a:rPr>
              <a:t>Tailored essentials for everyday comfort. What the product is, what it is made of, and how to size it.</a:t>
            </a:r>
            <a:endParaRPr lang="en-US" sz="1150" dirty="0"/>
          </a:p>
        </p:txBody>
      </p:sp>
      <p:sp>
        <p:nvSpPr>
          <p:cNvPr id="8" name="Shape 4"/>
          <p:cNvSpPr/>
          <p:nvPr/>
        </p:nvSpPr>
        <p:spPr>
          <a:xfrm>
            <a:off x="1143000" y="5193792"/>
            <a:ext cx="1497147" cy="274320"/>
          </a:xfrm>
          <a:prstGeom prst="roundRect">
            <a:avLst>
              <a:gd name="adj" fmla="val 50000"/>
            </a:avLst>
          </a:prstGeom>
          <a:solidFill>
            <a:srgbClr val="FFFFFF"/>
          </a:solidFill>
          <a:ln w="12700">
            <a:solidFill>
              <a:srgbClr val="FFFFFF"/>
            </a:solidFill>
            <a:prstDash val="solid"/>
          </a:ln>
        </p:spPr>
      </p:sp>
      <p:sp>
        <p:nvSpPr>
          <p:cNvPr id="9" name="Text 5"/>
          <p:cNvSpPr/>
          <p:nvPr/>
        </p:nvSpPr>
        <p:spPr>
          <a:xfrm>
            <a:off x="1143000" y="5193792"/>
            <a:ext cx="1497147" cy="274320"/>
          </a:xfrm>
          <a:prstGeom prst="rect">
            <a:avLst/>
          </a:prstGeom>
          <a:noFill/>
          <a:ln/>
        </p:spPr>
        <p:txBody>
          <a:bodyPr wrap="square" lIns="0" tIns="0" rIns="0" bIns="0" rtlCol="0" anchor="ctr"/>
          <a:lstStyle/>
          <a:p>
            <a:pPr algn="ctr" indent="0" marL="0">
              <a:buNone/>
            </a:pPr>
            <a:r>
              <a:rPr lang="en-US" sz="800" b="1" spc="130" kern="0" dirty="0">
                <a:solidFill>
                  <a:srgbClr val="282828"/>
                </a:solidFill>
                <a:latin typeface="Zalando Sans Expanded" pitchFamily="34" charset="0"/>
                <a:ea typeface="Zalando Sans Expanded" pitchFamily="34" charset="-122"/>
                <a:cs typeface="Zalando Sans Expanded" pitchFamily="34" charset="-120"/>
              </a:rPr>
              <a:t>MODALCLOUD™</a:t>
            </a:r>
            <a:endParaRPr lang="en-US" sz="800" dirty="0"/>
          </a:p>
        </p:txBody>
      </p:sp>
      <p:sp>
        <p:nvSpPr>
          <p:cNvPr id="10" name="Shape 6"/>
          <p:cNvSpPr/>
          <p:nvPr/>
        </p:nvSpPr>
        <p:spPr>
          <a:xfrm>
            <a:off x="2749875" y="5193792"/>
            <a:ext cx="1196492" cy="274320"/>
          </a:xfrm>
          <a:prstGeom prst="roundRect">
            <a:avLst>
              <a:gd name="adj" fmla="val 50000"/>
            </a:avLst>
          </a:prstGeom>
          <a:solidFill>
            <a:srgbClr val="FFFFFF"/>
          </a:solidFill>
          <a:ln w="12700">
            <a:solidFill>
              <a:srgbClr val="FFFFFF"/>
            </a:solidFill>
            <a:prstDash val="solid"/>
          </a:ln>
        </p:spPr>
      </p:sp>
      <p:sp>
        <p:nvSpPr>
          <p:cNvPr id="11" name="Text 7"/>
          <p:cNvSpPr/>
          <p:nvPr/>
        </p:nvSpPr>
        <p:spPr>
          <a:xfrm>
            <a:off x="2749875" y="5193792"/>
            <a:ext cx="1196492" cy="274320"/>
          </a:xfrm>
          <a:prstGeom prst="rect">
            <a:avLst/>
          </a:prstGeom>
          <a:noFill/>
          <a:ln/>
        </p:spPr>
        <p:txBody>
          <a:bodyPr wrap="square" lIns="0" tIns="0" rIns="0" bIns="0" rtlCol="0" anchor="ctr"/>
          <a:lstStyle/>
          <a:p>
            <a:pPr algn="ctr" indent="0" marL="0">
              <a:buNone/>
            </a:pPr>
            <a:r>
              <a:rPr lang="en-US" sz="800" b="1" spc="130" kern="0" dirty="0">
                <a:solidFill>
                  <a:srgbClr val="282828"/>
                </a:solidFill>
                <a:latin typeface="Zalando Sans Expanded" pitchFamily="34" charset="0"/>
                <a:ea typeface="Zalando Sans Expanded" pitchFamily="34" charset="-122"/>
                <a:cs typeface="Zalando Sans Expanded" pitchFamily="34" charset="-120"/>
              </a:rPr>
              <a:t>FLOWLITE™</a:t>
            </a:r>
            <a:endParaRPr lang="en-US" sz="800" dirty="0"/>
          </a:p>
        </p:txBody>
      </p:sp>
      <p:sp>
        <p:nvSpPr>
          <p:cNvPr id="12" name="Shape 8"/>
          <p:cNvSpPr/>
          <p:nvPr/>
        </p:nvSpPr>
        <p:spPr>
          <a:xfrm>
            <a:off x="4056096" y="5193792"/>
            <a:ext cx="875629" cy="274320"/>
          </a:xfrm>
          <a:prstGeom prst="roundRect">
            <a:avLst>
              <a:gd name="adj" fmla="val 50000"/>
            </a:avLst>
          </a:prstGeom>
          <a:solidFill>
            <a:srgbClr val="FFFFFF"/>
          </a:solidFill>
          <a:ln w="12700">
            <a:solidFill>
              <a:srgbClr val="FFFFFF"/>
            </a:solidFill>
            <a:prstDash val="solid"/>
          </a:ln>
        </p:spPr>
      </p:sp>
      <p:sp>
        <p:nvSpPr>
          <p:cNvPr id="13" name="Text 9"/>
          <p:cNvSpPr/>
          <p:nvPr/>
        </p:nvSpPr>
        <p:spPr>
          <a:xfrm>
            <a:off x="4056096" y="5193792"/>
            <a:ext cx="875629" cy="274320"/>
          </a:xfrm>
          <a:prstGeom prst="rect">
            <a:avLst/>
          </a:prstGeom>
          <a:noFill/>
          <a:ln/>
        </p:spPr>
        <p:txBody>
          <a:bodyPr wrap="square" lIns="0" tIns="0" rIns="0" bIns="0" rtlCol="0" anchor="ctr"/>
          <a:lstStyle/>
          <a:p>
            <a:pPr algn="ctr" indent="0" marL="0">
              <a:buNone/>
            </a:pPr>
            <a:r>
              <a:rPr lang="en-US" sz="800" b="1" spc="130" kern="0" dirty="0">
                <a:solidFill>
                  <a:srgbClr val="282828"/>
                </a:solidFill>
                <a:latin typeface="Zalando Sans Expanded" pitchFamily="34" charset="0"/>
                <a:ea typeface="Zalando Sans Expanded" pitchFamily="34" charset="-122"/>
                <a:cs typeface="Zalando Sans Expanded" pitchFamily="34" charset="-120"/>
              </a:rPr>
              <a:t>FIT LAB</a:t>
            </a:r>
            <a:endParaRPr lang="en-US" sz="800" dirty="0"/>
          </a:p>
        </p:txBody>
      </p:sp>
      <p:sp>
        <p:nvSpPr>
          <p:cNvPr id="14" name="Text 10"/>
          <p:cNvSpPr/>
          <p:nvPr/>
        </p:nvSpPr>
        <p:spPr>
          <a:xfrm>
            <a:off x="1143000" y="5742432"/>
            <a:ext cx="1828800" cy="256032"/>
          </a:xfrm>
          <a:prstGeom prst="rect">
            <a:avLst/>
          </a:prstGeom>
          <a:noFill/>
          <a:ln/>
        </p:spPr>
        <p:txBody>
          <a:bodyPr wrap="square" lIns="0" tIns="0" rIns="0" bIns="0" rtlCol="0" anchor="ctr"/>
          <a:lstStyle/>
          <a:p>
            <a:pPr indent="0" marL="0">
              <a:buNone/>
            </a:pPr>
            <a:r>
              <a:rPr lang="en-US" sz="1050" dirty="0">
                <a:solidFill>
                  <a:srgbClr val="CCCCCC"/>
                </a:solidFill>
                <a:latin typeface="Arimo" pitchFamily="34" charset="0"/>
                <a:ea typeface="Arimo" pitchFamily="34" charset="-122"/>
                <a:cs typeface="Arimo" pitchFamily="34" charset="-120"/>
              </a:rPr>
              <a:t>toni.black</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243584"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243584"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01   Brand</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5120640" cy="1298448"/>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Tailored essentials,</a:t>
            </a:r>
            <a:endParaRPr lang="en-US" sz="3000" dirty="0"/>
          </a:p>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nothing extra</a:t>
            </a:r>
            <a:endParaRPr lang="en-US" sz="3000" dirty="0"/>
          </a:p>
        </p:txBody>
      </p:sp>
      <p:sp>
        <p:nvSpPr>
          <p:cNvPr id="6" name="Text 4"/>
          <p:cNvSpPr/>
          <p:nvPr/>
        </p:nvSpPr>
        <p:spPr>
          <a:xfrm>
            <a:off x="6263640" y="1097280"/>
            <a:ext cx="5285232" cy="1188720"/>
          </a:xfrm>
          <a:prstGeom prst="rect">
            <a:avLst/>
          </a:prstGeom>
          <a:noFill/>
          <a:ln/>
        </p:spPr>
        <p:txBody>
          <a:bodyPr wrap="square" lIns="0" tIns="0" rIns="0" bIns="0" rtlCol="0" anchor="t"/>
          <a:lstStyle/>
          <a:p>
            <a:pPr indent="0" marL="0">
              <a:lnSpc>
                <a:spcPts val="1668"/>
              </a:lnSpc>
              <a:buNone/>
            </a:pPr>
            <a:r>
              <a:rPr lang="en-US" sz="1150" dirty="0">
                <a:solidFill>
                  <a:srgbClr val="4F5052"/>
                </a:solidFill>
                <a:latin typeface="Arimo" pitchFamily="34" charset="0"/>
                <a:ea typeface="Arimo" pitchFamily="34" charset="-122"/>
                <a:cs typeface="Arimo" pitchFamily="34" charset="-120"/>
              </a:rPr>
              <a:t>Toni Black makes everyday underwear for men across Asia-Pacific. The work goes into what you actually feel: the waistband, the fabric, the stretch, the support.</a:t>
            </a:r>
            <a:endParaRPr lang="en-US" sz="1150" dirty="0"/>
          </a:p>
        </p:txBody>
      </p:sp>
      <p:sp>
        <p:nvSpPr>
          <p:cNvPr id="7" name="Shape 5"/>
          <p:cNvSpPr/>
          <p:nvPr/>
        </p:nvSpPr>
        <p:spPr>
          <a:xfrm>
            <a:off x="640080" y="2788920"/>
            <a:ext cx="5327889" cy="2606040"/>
          </a:xfrm>
          <a:prstGeom prst="roundRect">
            <a:avLst>
              <a:gd name="adj" fmla="val 2807"/>
            </a:avLst>
          </a:prstGeom>
          <a:solidFill>
            <a:srgbClr val="F2F2F3"/>
          </a:solidFill>
          <a:ln w="12700">
            <a:solidFill>
              <a:srgbClr val="F2F2F3"/>
            </a:solidFill>
            <a:prstDash val="solid"/>
          </a:ln>
        </p:spPr>
      </p:sp>
      <p:sp>
        <p:nvSpPr>
          <p:cNvPr id="8" name="Text 6"/>
          <p:cNvSpPr/>
          <p:nvPr/>
        </p:nvSpPr>
        <p:spPr>
          <a:xfrm>
            <a:off x="932688" y="3017520"/>
            <a:ext cx="4742673"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THE BLACK-FIRST RULE</a:t>
            </a:r>
            <a:endParaRPr lang="en-US" sz="950" dirty="0"/>
          </a:p>
        </p:txBody>
      </p:sp>
      <p:sp>
        <p:nvSpPr>
          <p:cNvPr id="9" name="Text 7"/>
          <p:cNvSpPr/>
          <p:nvPr/>
        </p:nvSpPr>
        <p:spPr>
          <a:xfrm>
            <a:off x="932688" y="3337560"/>
            <a:ext cx="4742673" cy="868680"/>
          </a:xfrm>
          <a:prstGeom prst="rect">
            <a:avLst/>
          </a:prstGeom>
          <a:noFill/>
          <a:ln/>
        </p:spPr>
        <p:txBody>
          <a:bodyPr wrap="square" lIns="0" tIns="0" rIns="0" bIns="0" rtlCol="0" anchor="ctr"/>
          <a:lstStyle/>
          <a:p>
            <a:pPr indent="0" marL="0">
              <a:lnSpc>
                <a:spcPts val="2100"/>
              </a:lnSpc>
              <a:buNone/>
            </a:pPr>
            <a:r>
              <a:rPr lang="en-US" sz="1600" b="1" dirty="0">
                <a:solidFill>
                  <a:srgbClr val="282828"/>
                </a:solidFill>
                <a:latin typeface="Zalando Sans Expanded" pitchFamily="34" charset="0"/>
                <a:ea typeface="Zalando Sans Expanded" pitchFamily="34" charset="-122"/>
                <a:cs typeface="Zalando Sans Expanded" pitchFamily="34" charset="-120"/>
              </a:rPr>
              <a:t>Black is not a colour choice.</a:t>
            </a:r>
            <a:endParaRPr lang="en-US" sz="1600" dirty="0"/>
          </a:p>
          <a:p>
            <a:pPr indent="0" marL="0">
              <a:lnSpc>
                <a:spcPts val="2100"/>
              </a:lnSpc>
              <a:buNone/>
            </a:pPr>
            <a:r>
              <a:rPr lang="en-US" sz="1600" b="1" dirty="0">
                <a:solidFill>
                  <a:srgbClr val="282828"/>
                </a:solidFill>
                <a:latin typeface="Zalando Sans Expanded" pitchFamily="34" charset="0"/>
                <a:ea typeface="Zalando Sans Expanded" pitchFamily="34" charset="-122"/>
                <a:cs typeface="Zalando Sans Expanded" pitchFamily="34" charset="-120"/>
              </a:rPr>
              <a:t>It is a design discipline.</a:t>
            </a:r>
            <a:endParaRPr lang="en-US" sz="1600" dirty="0"/>
          </a:p>
        </p:txBody>
      </p:sp>
      <p:sp>
        <p:nvSpPr>
          <p:cNvPr id="10" name="Text 8"/>
          <p:cNvSpPr/>
          <p:nvPr/>
        </p:nvSpPr>
        <p:spPr>
          <a:xfrm>
            <a:off x="932688" y="4315968"/>
            <a:ext cx="4742673" cy="54864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One colour means fewer lines, less overproduction, less waste.</a:t>
            </a:r>
            <a:endParaRPr lang="en-US" sz="1050" dirty="0"/>
          </a:p>
        </p:txBody>
      </p:sp>
      <p:sp>
        <p:nvSpPr>
          <p:cNvPr id="11" name="Shape 9"/>
          <p:cNvSpPr/>
          <p:nvPr/>
        </p:nvSpPr>
        <p:spPr>
          <a:xfrm>
            <a:off x="6224001" y="2788920"/>
            <a:ext cx="5327889" cy="2606040"/>
          </a:xfrm>
          <a:prstGeom prst="roundRect">
            <a:avLst>
              <a:gd name="adj" fmla="val 2807"/>
            </a:avLst>
          </a:prstGeom>
          <a:solidFill>
            <a:srgbClr val="282828"/>
          </a:solidFill>
          <a:ln w="12700">
            <a:solidFill>
              <a:srgbClr val="282828"/>
            </a:solidFill>
            <a:prstDash val="solid"/>
          </a:ln>
        </p:spPr>
      </p:sp>
      <p:pic>
        <p:nvPicPr>
          <p:cNvPr id="12" name="Image 0" descr="/home/user/Dom-Manipulation/toni-black/product-knowledge/source/img/brand.png">    </p:cNvPr>
          <p:cNvPicPr>
            <a:picLocks noChangeAspect="1"/>
          </p:cNvPicPr>
          <p:nvPr/>
        </p:nvPicPr>
        <p:blipFill>
          <a:blip r:embed="rId1"/>
          <a:stretch>
            <a:fillRect/>
          </a:stretch>
        </p:blipFill>
        <p:spPr>
          <a:xfrm>
            <a:off x="6452601" y="3017520"/>
            <a:ext cx="3090672" cy="2148840"/>
          </a:xfrm>
          <a:prstGeom prst="rect">
            <a:avLst/>
          </a:prstGeom>
        </p:spPr>
      </p:pic>
      <p:sp>
        <p:nvSpPr>
          <p:cNvPr id="13" name="Shape 10"/>
          <p:cNvSpPr/>
          <p:nvPr/>
        </p:nvSpPr>
        <p:spPr>
          <a:xfrm>
            <a:off x="9817593" y="3017520"/>
            <a:ext cx="1505697" cy="1005840"/>
          </a:xfrm>
          <a:prstGeom prst="roundRect">
            <a:avLst>
              <a:gd name="adj" fmla="val 5455"/>
            </a:avLst>
          </a:prstGeom>
          <a:solidFill>
            <a:srgbClr val="282828"/>
          </a:solidFill>
          <a:ln w="12700">
            <a:solidFill>
              <a:srgbClr val="282828"/>
            </a:solidFill>
            <a:prstDash val="solid"/>
          </a:ln>
        </p:spPr>
      </p:sp>
      <p:sp>
        <p:nvSpPr>
          <p:cNvPr id="14" name="Text 11"/>
          <p:cNvSpPr/>
          <p:nvPr/>
        </p:nvSpPr>
        <p:spPr>
          <a:xfrm>
            <a:off x="10055337" y="3172968"/>
            <a:ext cx="1030209"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MARKETS</a:t>
            </a:r>
            <a:endParaRPr lang="en-US" sz="950" dirty="0"/>
          </a:p>
        </p:txBody>
      </p:sp>
      <p:sp>
        <p:nvSpPr>
          <p:cNvPr id="15" name="Text 12"/>
          <p:cNvSpPr/>
          <p:nvPr/>
        </p:nvSpPr>
        <p:spPr>
          <a:xfrm>
            <a:off x="10055337" y="3401568"/>
            <a:ext cx="1030209" cy="548640"/>
          </a:xfrm>
          <a:prstGeom prst="rect">
            <a:avLst/>
          </a:prstGeom>
          <a:noFill/>
          <a:ln/>
        </p:spPr>
        <p:txBody>
          <a:bodyPr wrap="square" lIns="0" tIns="0" rIns="0" bIns="0" rtlCol="0" anchor="ctr"/>
          <a:lstStyle/>
          <a:p>
            <a:pPr indent="0" marL="0">
              <a:buNone/>
            </a:pPr>
            <a:r>
              <a:rPr lang="en-US" sz="2400" b="1" dirty="0">
                <a:solidFill>
                  <a:srgbClr val="FFFFFF"/>
                </a:solidFill>
                <a:latin typeface="Zalando Sans Expanded" pitchFamily="34" charset="0"/>
                <a:ea typeface="Zalando Sans Expanded" pitchFamily="34" charset="-122"/>
                <a:cs typeface="Zalando Sans Expanded" pitchFamily="34" charset="-120"/>
              </a:rPr>
              <a:t>5</a:t>
            </a:r>
            <a:endParaRPr lang="en-US" sz="2400" dirty="0"/>
          </a:p>
        </p:txBody>
      </p:sp>
      <p:sp>
        <p:nvSpPr>
          <p:cNvPr id="16" name="Shape 13"/>
          <p:cNvSpPr/>
          <p:nvPr/>
        </p:nvSpPr>
        <p:spPr>
          <a:xfrm>
            <a:off x="9817593" y="4160520"/>
            <a:ext cx="1505697" cy="1005840"/>
          </a:xfrm>
          <a:prstGeom prst="roundRect">
            <a:avLst>
              <a:gd name="adj" fmla="val 5455"/>
            </a:avLst>
          </a:prstGeom>
          <a:solidFill>
            <a:srgbClr val="282828"/>
          </a:solidFill>
          <a:ln w="12700">
            <a:solidFill>
              <a:srgbClr val="282828"/>
            </a:solidFill>
            <a:prstDash val="solid"/>
          </a:ln>
        </p:spPr>
      </p:sp>
      <p:sp>
        <p:nvSpPr>
          <p:cNvPr id="17" name="Text 14"/>
          <p:cNvSpPr/>
          <p:nvPr/>
        </p:nvSpPr>
        <p:spPr>
          <a:xfrm>
            <a:off x="10055337" y="4315968"/>
            <a:ext cx="1030209"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COLOUR</a:t>
            </a:r>
            <a:endParaRPr lang="en-US" sz="950" dirty="0"/>
          </a:p>
        </p:txBody>
      </p:sp>
      <p:sp>
        <p:nvSpPr>
          <p:cNvPr id="18" name="Text 15"/>
          <p:cNvSpPr/>
          <p:nvPr/>
        </p:nvSpPr>
        <p:spPr>
          <a:xfrm>
            <a:off x="10055337" y="4544568"/>
            <a:ext cx="1030209" cy="548640"/>
          </a:xfrm>
          <a:prstGeom prst="rect">
            <a:avLst/>
          </a:prstGeom>
          <a:noFill/>
          <a:ln/>
        </p:spPr>
        <p:txBody>
          <a:bodyPr wrap="square" lIns="0" tIns="0" rIns="0" bIns="0" rtlCol="0" anchor="ctr"/>
          <a:lstStyle/>
          <a:p>
            <a:pPr indent="0" marL="0">
              <a:buNone/>
            </a:pPr>
            <a:r>
              <a:rPr lang="en-US" sz="2400" b="1" dirty="0">
                <a:solidFill>
                  <a:srgbClr val="FFFFFF"/>
                </a:solidFill>
                <a:latin typeface="Zalando Sans Expanded" pitchFamily="34" charset="0"/>
                <a:ea typeface="Zalando Sans Expanded" pitchFamily="34" charset="-122"/>
                <a:cs typeface="Zalando Sans Expanded" pitchFamily="34" charset="-120"/>
              </a:rPr>
              <a:t>1</a:t>
            </a:r>
            <a:endParaRPr lang="en-US" sz="2400" dirty="0"/>
          </a:p>
        </p:txBody>
      </p:sp>
      <p:sp>
        <p:nvSpPr>
          <p:cNvPr id="19" name="Text 16"/>
          <p:cNvSpPr/>
          <p:nvPr/>
        </p:nvSpPr>
        <p:spPr>
          <a:xfrm>
            <a:off x="640080" y="5669280"/>
            <a:ext cx="10911810" cy="310896"/>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Singapore   ·   Malaysia   ·   Australia   ·   New Zealand   ·   Indonesia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523299"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523299"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02   Numbers</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The product in four numbers</a:t>
            </a:r>
            <a:endParaRPr lang="en-US" sz="3000" dirty="0"/>
          </a:p>
        </p:txBody>
      </p:sp>
      <p:sp>
        <p:nvSpPr>
          <p:cNvPr id="6" name="Shape 4"/>
          <p:cNvSpPr/>
          <p:nvPr/>
        </p:nvSpPr>
        <p:spPr>
          <a:xfrm>
            <a:off x="640080" y="2103120"/>
            <a:ext cx="2577076" cy="1280160"/>
          </a:xfrm>
          <a:prstGeom prst="roundRect">
            <a:avLst>
              <a:gd name="adj" fmla="val 5714"/>
            </a:avLst>
          </a:prstGeom>
          <a:solidFill>
            <a:srgbClr val="282828"/>
          </a:solidFill>
          <a:ln w="12700">
            <a:solidFill>
              <a:srgbClr val="282828"/>
            </a:solidFill>
            <a:prstDash val="solid"/>
          </a:ln>
        </p:spPr>
      </p:sp>
      <p:sp>
        <p:nvSpPr>
          <p:cNvPr id="7" name="Text 5"/>
          <p:cNvSpPr/>
          <p:nvPr/>
        </p:nvSpPr>
        <p:spPr>
          <a:xfrm>
            <a:off x="877824" y="2258568"/>
            <a:ext cx="2101588"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MODAL</a:t>
            </a:r>
            <a:endParaRPr lang="en-US" sz="950" dirty="0"/>
          </a:p>
        </p:txBody>
      </p:sp>
      <p:sp>
        <p:nvSpPr>
          <p:cNvPr id="8" name="Text 6"/>
          <p:cNvSpPr/>
          <p:nvPr/>
        </p:nvSpPr>
        <p:spPr>
          <a:xfrm>
            <a:off x="877824" y="2487168"/>
            <a:ext cx="2101588" cy="822960"/>
          </a:xfrm>
          <a:prstGeom prst="rect">
            <a:avLst/>
          </a:prstGeom>
          <a:noFill/>
          <a:ln/>
        </p:spPr>
        <p:txBody>
          <a:bodyPr wrap="square" lIns="0" tIns="0" rIns="0" bIns="0" rtlCol="0" anchor="ctr"/>
          <a:lstStyle/>
          <a:p>
            <a:pPr indent="0" marL="0">
              <a:buNone/>
            </a:pPr>
            <a:r>
              <a:rPr lang="en-US" sz="2400" b="1" dirty="0">
                <a:solidFill>
                  <a:srgbClr val="FFFFFF"/>
                </a:solidFill>
                <a:latin typeface="Zalando Sans Expanded" pitchFamily="34" charset="0"/>
                <a:ea typeface="Zalando Sans Expanded" pitchFamily="34" charset="-122"/>
                <a:cs typeface="Zalando Sans Expanded" pitchFamily="34" charset="-120"/>
              </a:rPr>
              <a:t>91%</a:t>
            </a:r>
            <a:endParaRPr lang="en-US" sz="2400" dirty="0"/>
          </a:p>
        </p:txBody>
      </p:sp>
      <p:sp>
        <p:nvSpPr>
          <p:cNvPr id="9" name="Shape 7"/>
          <p:cNvSpPr/>
          <p:nvPr/>
        </p:nvSpPr>
        <p:spPr>
          <a:xfrm>
            <a:off x="3418324" y="2103120"/>
            <a:ext cx="2577076" cy="1280160"/>
          </a:xfrm>
          <a:prstGeom prst="roundRect">
            <a:avLst>
              <a:gd name="adj" fmla="val 5714"/>
            </a:avLst>
          </a:prstGeom>
          <a:solidFill>
            <a:srgbClr val="F2F2F3"/>
          </a:solidFill>
          <a:ln w="12700">
            <a:solidFill>
              <a:srgbClr val="F2F2F3"/>
            </a:solidFill>
            <a:prstDash val="solid"/>
          </a:ln>
        </p:spPr>
      </p:sp>
      <p:sp>
        <p:nvSpPr>
          <p:cNvPr id="10" name="Text 8"/>
          <p:cNvSpPr/>
          <p:nvPr/>
        </p:nvSpPr>
        <p:spPr>
          <a:xfrm>
            <a:off x="3656068" y="2258568"/>
            <a:ext cx="2101588"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ELASTANE</a:t>
            </a:r>
            <a:endParaRPr lang="en-US" sz="950" dirty="0"/>
          </a:p>
        </p:txBody>
      </p:sp>
      <p:sp>
        <p:nvSpPr>
          <p:cNvPr id="11" name="Text 9"/>
          <p:cNvSpPr/>
          <p:nvPr/>
        </p:nvSpPr>
        <p:spPr>
          <a:xfrm>
            <a:off x="3656068" y="2487168"/>
            <a:ext cx="2101588" cy="822960"/>
          </a:xfrm>
          <a:prstGeom prst="rect">
            <a:avLst/>
          </a:prstGeom>
          <a:noFill/>
          <a:ln/>
        </p:spPr>
        <p:txBody>
          <a:bodyPr wrap="square" lIns="0" tIns="0" rIns="0" bIns="0" rtlCol="0" anchor="ctr"/>
          <a:lstStyle/>
          <a:p>
            <a:pPr indent="0" marL="0">
              <a:buNone/>
            </a:pPr>
            <a:r>
              <a:rPr lang="en-US" sz="2400" b="1" dirty="0">
                <a:solidFill>
                  <a:srgbClr val="282828"/>
                </a:solidFill>
                <a:latin typeface="Zalando Sans Expanded" pitchFamily="34" charset="0"/>
                <a:ea typeface="Zalando Sans Expanded" pitchFamily="34" charset="-122"/>
                <a:cs typeface="Zalando Sans Expanded" pitchFamily="34" charset="-120"/>
              </a:rPr>
              <a:t>9%</a:t>
            </a:r>
            <a:endParaRPr lang="en-US" sz="2400" dirty="0"/>
          </a:p>
        </p:txBody>
      </p:sp>
      <p:sp>
        <p:nvSpPr>
          <p:cNvPr id="12" name="Shape 10"/>
          <p:cNvSpPr/>
          <p:nvPr/>
        </p:nvSpPr>
        <p:spPr>
          <a:xfrm>
            <a:off x="6196569" y="2103120"/>
            <a:ext cx="2577076" cy="1280160"/>
          </a:xfrm>
          <a:prstGeom prst="roundRect">
            <a:avLst>
              <a:gd name="adj" fmla="val 5714"/>
            </a:avLst>
          </a:prstGeom>
          <a:solidFill>
            <a:srgbClr val="F2F2F3"/>
          </a:solidFill>
          <a:ln w="12700">
            <a:solidFill>
              <a:srgbClr val="F2F2F3"/>
            </a:solidFill>
            <a:prstDash val="solid"/>
          </a:ln>
        </p:spPr>
      </p:sp>
      <p:sp>
        <p:nvSpPr>
          <p:cNvPr id="13" name="Text 11"/>
          <p:cNvSpPr/>
          <p:nvPr/>
        </p:nvSpPr>
        <p:spPr>
          <a:xfrm>
            <a:off x="6434313" y="2258568"/>
            <a:ext cx="2101588"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SIZES</a:t>
            </a:r>
            <a:endParaRPr lang="en-US" sz="950" dirty="0"/>
          </a:p>
        </p:txBody>
      </p:sp>
      <p:sp>
        <p:nvSpPr>
          <p:cNvPr id="14" name="Text 12"/>
          <p:cNvSpPr/>
          <p:nvPr/>
        </p:nvSpPr>
        <p:spPr>
          <a:xfrm>
            <a:off x="6434313" y="2487168"/>
            <a:ext cx="2101588" cy="822960"/>
          </a:xfrm>
          <a:prstGeom prst="rect">
            <a:avLst/>
          </a:prstGeom>
          <a:noFill/>
          <a:ln/>
        </p:spPr>
        <p:txBody>
          <a:bodyPr wrap="square" lIns="0" tIns="0" rIns="0" bIns="0" rtlCol="0" anchor="ctr"/>
          <a:lstStyle/>
          <a:p>
            <a:pPr indent="0" marL="0">
              <a:buNone/>
            </a:pPr>
            <a:r>
              <a:rPr lang="en-US" sz="2400" b="1" dirty="0">
                <a:solidFill>
                  <a:srgbClr val="282828"/>
                </a:solidFill>
                <a:latin typeface="Zalando Sans Expanded" pitchFamily="34" charset="0"/>
                <a:ea typeface="Zalando Sans Expanded" pitchFamily="34" charset="-122"/>
                <a:cs typeface="Zalando Sans Expanded" pitchFamily="34" charset="-120"/>
              </a:rPr>
              <a:t>S – 3XL</a:t>
            </a:r>
            <a:endParaRPr lang="en-US" sz="2400" dirty="0"/>
          </a:p>
        </p:txBody>
      </p:sp>
      <p:sp>
        <p:nvSpPr>
          <p:cNvPr id="15" name="Shape 13"/>
          <p:cNvSpPr/>
          <p:nvPr/>
        </p:nvSpPr>
        <p:spPr>
          <a:xfrm>
            <a:off x="8974813" y="2103120"/>
            <a:ext cx="2577076" cy="1280160"/>
          </a:xfrm>
          <a:prstGeom prst="roundRect">
            <a:avLst>
              <a:gd name="adj" fmla="val 5714"/>
            </a:avLst>
          </a:prstGeom>
          <a:solidFill>
            <a:srgbClr val="F2F2F3"/>
          </a:solidFill>
          <a:ln w="12700">
            <a:solidFill>
              <a:srgbClr val="F2F2F3"/>
            </a:solidFill>
            <a:prstDash val="solid"/>
          </a:ln>
        </p:spPr>
      </p:sp>
      <p:sp>
        <p:nvSpPr>
          <p:cNvPr id="16" name="Text 14"/>
          <p:cNvSpPr/>
          <p:nvPr/>
        </p:nvSpPr>
        <p:spPr>
          <a:xfrm>
            <a:off x="9212557" y="2258568"/>
            <a:ext cx="2101588"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COLOUR</a:t>
            </a:r>
            <a:endParaRPr lang="en-US" sz="950" dirty="0"/>
          </a:p>
        </p:txBody>
      </p:sp>
      <p:sp>
        <p:nvSpPr>
          <p:cNvPr id="17" name="Text 15"/>
          <p:cNvSpPr/>
          <p:nvPr/>
        </p:nvSpPr>
        <p:spPr>
          <a:xfrm>
            <a:off x="9212557" y="2487168"/>
            <a:ext cx="2101588" cy="822960"/>
          </a:xfrm>
          <a:prstGeom prst="rect">
            <a:avLst/>
          </a:prstGeom>
          <a:noFill/>
          <a:ln/>
        </p:spPr>
        <p:txBody>
          <a:bodyPr wrap="square" lIns="0" tIns="0" rIns="0" bIns="0" rtlCol="0" anchor="ctr"/>
          <a:lstStyle/>
          <a:p>
            <a:pPr indent="0" marL="0">
              <a:buNone/>
            </a:pPr>
            <a:r>
              <a:rPr lang="en-US" sz="2400" b="1" dirty="0">
                <a:solidFill>
                  <a:srgbClr val="282828"/>
                </a:solidFill>
                <a:latin typeface="Zalando Sans Expanded" pitchFamily="34" charset="0"/>
                <a:ea typeface="Zalando Sans Expanded" pitchFamily="34" charset="-122"/>
                <a:cs typeface="Zalando Sans Expanded" pitchFamily="34" charset="-120"/>
              </a:rPr>
              <a:t>Black</a:t>
            </a:r>
            <a:endParaRPr lang="en-US" sz="2400" dirty="0"/>
          </a:p>
        </p:txBody>
      </p:sp>
      <p:sp>
        <p:nvSpPr>
          <p:cNvPr id="18" name="Shape 16"/>
          <p:cNvSpPr/>
          <p:nvPr/>
        </p:nvSpPr>
        <p:spPr>
          <a:xfrm>
            <a:off x="640080" y="3657600"/>
            <a:ext cx="3478774" cy="2331720"/>
          </a:xfrm>
          <a:prstGeom prst="roundRect">
            <a:avLst>
              <a:gd name="adj" fmla="val 3137"/>
            </a:avLst>
          </a:prstGeom>
          <a:solidFill>
            <a:srgbClr val="F2F2F3"/>
          </a:solidFill>
          <a:ln w="12700">
            <a:solidFill>
              <a:srgbClr val="F2F2F3"/>
            </a:solidFill>
            <a:prstDash val="solid"/>
          </a:ln>
        </p:spPr>
      </p:sp>
      <p:sp>
        <p:nvSpPr>
          <p:cNvPr id="19" name="Text 17"/>
          <p:cNvSpPr/>
          <p:nvPr/>
        </p:nvSpPr>
        <p:spPr>
          <a:xfrm>
            <a:off x="932688" y="3895344"/>
            <a:ext cx="2893558"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SIZING</a:t>
            </a:r>
            <a:endParaRPr lang="en-US" sz="950" dirty="0"/>
          </a:p>
        </p:txBody>
      </p:sp>
      <p:sp>
        <p:nvSpPr>
          <p:cNvPr id="20" name="Text 18"/>
          <p:cNvSpPr/>
          <p:nvPr/>
        </p:nvSpPr>
        <p:spPr>
          <a:xfrm>
            <a:off x="932688" y="4187952"/>
            <a:ext cx="2893558" cy="457200"/>
          </a:xfrm>
          <a:prstGeom prst="rect">
            <a:avLst/>
          </a:prstGeom>
          <a:noFill/>
          <a:ln/>
        </p:spPr>
        <p:txBody>
          <a:bodyPr wrap="square" lIns="0" tIns="0" rIns="0" bIns="0" rtlCol="0" anchor="ctr"/>
          <a:lstStyle/>
          <a:p>
            <a:pPr indent="0" marL="0">
              <a:buNone/>
            </a:pPr>
            <a:r>
              <a:rPr lang="en-US" sz="1900" b="1" dirty="0">
                <a:solidFill>
                  <a:srgbClr val="282828"/>
                </a:solidFill>
                <a:latin typeface="Zalando Sans Expanded" pitchFamily="34" charset="0"/>
                <a:ea typeface="Zalando Sans Expanded" pitchFamily="34" charset="-122"/>
                <a:cs typeface="Zalando Sans Expanded" pitchFamily="34" charset="-120"/>
              </a:rPr>
              <a:t>Fit Lab</a:t>
            </a:r>
            <a:endParaRPr lang="en-US" sz="1900" dirty="0"/>
          </a:p>
        </p:txBody>
      </p:sp>
      <p:sp>
        <p:nvSpPr>
          <p:cNvPr id="21" name="Text 19"/>
          <p:cNvSpPr/>
          <p:nvPr/>
        </p:nvSpPr>
        <p:spPr>
          <a:xfrm>
            <a:off x="932688" y="4718304"/>
            <a:ext cx="2893558" cy="1005840"/>
          </a:xfrm>
          <a:prstGeom prst="rect">
            <a:avLst/>
          </a:prstGeom>
          <a:noFill/>
          <a:ln/>
        </p:spPr>
        <p:txBody>
          <a:bodyPr wrap="square" lIns="0" tIns="0" rIns="0" bIns="0" rtlCol="0" anchor="t"/>
          <a:lstStyle/>
          <a:p>
            <a:pPr indent="0" marL="0">
              <a:lnSpc>
                <a:spcPts val="1595"/>
              </a:lnSpc>
              <a:buNone/>
            </a:pPr>
            <a:r>
              <a:rPr lang="en-US" sz="1100" dirty="0">
                <a:solidFill>
                  <a:srgbClr val="4F5052"/>
                </a:solidFill>
                <a:latin typeface="Arimo" pitchFamily="34" charset="0"/>
                <a:ea typeface="Arimo" pitchFamily="34" charset="-122"/>
                <a:cs typeface="Arimo" pitchFamily="34" charset="-120"/>
              </a:rPr>
              <a:t>Two inputs — height and weight. One confident answer, built on real garment measurements and real bodies.</a:t>
            </a:r>
            <a:endParaRPr lang="en-US" sz="1100" dirty="0"/>
          </a:p>
        </p:txBody>
      </p:sp>
      <p:pic>
        <p:nvPicPr>
          <p:cNvPr id="22" name="Image 0" descr="/home/user/Dom-Manipulation/toni-black/product-knowledge/source/img/impact.png">    </p:cNvPr>
          <p:cNvPicPr>
            <a:picLocks noChangeAspect="1"/>
          </p:cNvPicPr>
          <p:nvPr/>
        </p:nvPicPr>
        <p:blipFill>
          <a:blip r:embed="rId1"/>
          <a:stretch>
            <a:fillRect/>
          </a:stretch>
        </p:blipFill>
        <p:spPr>
          <a:xfrm>
            <a:off x="4356598" y="3657600"/>
            <a:ext cx="3478774" cy="2331720"/>
          </a:xfrm>
          <a:prstGeom prst="rect">
            <a:avLst/>
          </a:prstGeom>
        </p:spPr>
      </p:pic>
      <p:sp>
        <p:nvSpPr>
          <p:cNvPr id="23" name="Shape 20"/>
          <p:cNvSpPr/>
          <p:nvPr/>
        </p:nvSpPr>
        <p:spPr>
          <a:xfrm>
            <a:off x="8073116" y="3657600"/>
            <a:ext cx="3478774" cy="2331720"/>
          </a:xfrm>
          <a:prstGeom prst="roundRect">
            <a:avLst>
              <a:gd name="adj" fmla="val 3137"/>
            </a:avLst>
          </a:prstGeom>
          <a:solidFill>
            <a:srgbClr val="282828"/>
          </a:solidFill>
          <a:ln w="12700">
            <a:solidFill>
              <a:srgbClr val="282828"/>
            </a:solidFill>
            <a:prstDash val="solid"/>
          </a:ln>
        </p:spPr>
      </p:sp>
      <p:sp>
        <p:nvSpPr>
          <p:cNvPr id="24" name="Text 21"/>
          <p:cNvSpPr/>
          <p:nvPr/>
        </p:nvSpPr>
        <p:spPr>
          <a:xfrm>
            <a:off x="8365724" y="3895344"/>
            <a:ext cx="2893558"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TRIAL</a:t>
            </a:r>
            <a:endParaRPr lang="en-US" sz="950" dirty="0"/>
          </a:p>
        </p:txBody>
      </p:sp>
      <p:sp>
        <p:nvSpPr>
          <p:cNvPr id="25" name="Text 22"/>
          <p:cNvSpPr/>
          <p:nvPr/>
        </p:nvSpPr>
        <p:spPr>
          <a:xfrm>
            <a:off x="8365724" y="4187952"/>
            <a:ext cx="2893558" cy="822960"/>
          </a:xfrm>
          <a:prstGeom prst="rect">
            <a:avLst/>
          </a:prstGeom>
          <a:noFill/>
          <a:ln/>
        </p:spPr>
        <p:txBody>
          <a:bodyPr wrap="square" lIns="0" tIns="0" rIns="0" bIns="0" rtlCol="0" anchor="ctr"/>
          <a:lstStyle/>
          <a:p>
            <a:pPr indent="0" marL="0">
              <a:lnSpc>
                <a:spcPts val="2300"/>
              </a:lnSpc>
              <a:buNone/>
            </a:pPr>
            <a:r>
              <a:rPr lang="en-US" sz="1900" b="1" dirty="0">
                <a:solidFill>
                  <a:srgbClr val="FFFFFF"/>
                </a:solidFill>
                <a:latin typeface="Zalando Sans Expanded" pitchFamily="34" charset="0"/>
                <a:ea typeface="Zalando Sans Expanded" pitchFamily="34" charset="-122"/>
                <a:cs typeface="Zalando Sans Expanded" pitchFamily="34" charset="-120"/>
              </a:rPr>
              <a:t>First Pair</a:t>
            </a:r>
            <a:endParaRPr lang="en-US" sz="1900" dirty="0"/>
          </a:p>
          <a:p>
            <a:pPr indent="0" marL="0">
              <a:lnSpc>
                <a:spcPts val="2300"/>
              </a:lnSpc>
              <a:buNone/>
            </a:pPr>
            <a:r>
              <a:rPr lang="en-US" sz="1900" b="1" dirty="0">
                <a:solidFill>
                  <a:srgbClr val="FFFFFF"/>
                </a:solidFill>
                <a:latin typeface="Zalando Sans Expanded" pitchFamily="34" charset="0"/>
                <a:ea typeface="Zalando Sans Expanded" pitchFamily="34" charset="-122"/>
                <a:cs typeface="Zalando Sans Expanded" pitchFamily="34" charset="-120"/>
              </a:rPr>
              <a:t>Guarantee</a:t>
            </a:r>
            <a:endParaRPr lang="en-US" sz="1900" dirty="0"/>
          </a:p>
        </p:txBody>
      </p:sp>
      <p:sp>
        <p:nvSpPr>
          <p:cNvPr id="26" name="Text 23"/>
          <p:cNvSpPr/>
          <p:nvPr/>
        </p:nvSpPr>
        <p:spPr>
          <a:xfrm>
            <a:off x="8365724" y="5102352"/>
            <a:ext cx="2893558" cy="777240"/>
          </a:xfrm>
          <a:prstGeom prst="rect">
            <a:avLst/>
          </a:prstGeom>
          <a:noFill/>
          <a:ln/>
        </p:spPr>
        <p:txBody>
          <a:bodyPr wrap="square" lIns="0" tIns="0" rIns="0" bIns="0" rtlCol="0" anchor="t"/>
          <a:lstStyle/>
          <a:p>
            <a:pPr indent="0" marL="0">
              <a:lnSpc>
                <a:spcPts val="1595"/>
              </a:lnSpc>
              <a:buNone/>
            </a:pPr>
            <a:r>
              <a:rPr lang="en-US" sz="1100" dirty="0">
                <a:solidFill>
                  <a:srgbClr val="CCCCCC"/>
                </a:solidFill>
                <a:latin typeface="Arimo" pitchFamily="34" charset="0"/>
                <a:ea typeface="Arimo" pitchFamily="34" charset="-122"/>
                <a:cs typeface="Arimo" pitchFamily="34" charset="-120"/>
              </a:rPr>
              <a:t>If the first pair misses on fit, comfort or quality, contact support. One claim per customer.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320576"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320576"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03   Fabric</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ModalCloud™</a:t>
            </a:r>
            <a:endParaRPr lang="en-US" sz="3000" dirty="0"/>
          </a:p>
        </p:txBody>
      </p:sp>
      <p:sp>
        <p:nvSpPr>
          <p:cNvPr id="6" name="Text 4"/>
          <p:cNvSpPr/>
          <p:nvPr/>
        </p:nvSpPr>
        <p:spPr>
          <a:xfrm>
            <a:off x="640080" y="1792224"/>
            <a:ext cx="4572000"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THE SIGNATURE FABRIC</a:t>
            </a:r>
            <a:endParaRPr lang="en-US" sz="950" dirty="0"/>
          </a:p>
        </p:txBody>
      </p:sp>
      <p:sp>
        <p:nvSpPr>
          <p:cNvPr id="7" name="Text 5"/>
          <p:cNvSpPr/>
          <p:nvPr/>
        </p:nvSpPr>
        <p:spPr>
          <a:xfrm>
            <a:off x="640080" y="2194560"/>
            <a:ext cx="3840480" cy="868680"/>
          </a:xfrm>
          <a:prstGeom prst="rect">
            <a:avLst/>
          </a:prstGeom>
          <a:noFill/>
          <a:ln/>
        </p:spPr>
        <p:txBody>
          <a:bodyPr wrap="square" lIns="0" tIns="0" rIns="0" bIns="0" rtlCol="0" anchor="t"/>
          <a:lstStyle/>
          <a:p>
            <a:pPr indent="0" marL="0">
              <a:lnSpc>
                <a:spcPts val="1668"/>
              </a:lnSpc>
              <a:buNone/>
            </a:pPr>
            <a:r>
              <a:rPr lang="en-US" sz="1150" dirty="0">
                <a:solidFill>
                  <a:srgbClr val="4F5052"/>
                </a:solidFill>
                <a:latin typeface="Arimo" pitchFamily="34" charset="0"/>
                <a:ea typeface="Arimo" pitchFamily="34" charset="-122"/>
                <a:cs typeface="Arimo" pitchFamily="34" charset="-120"/>
              </a:rPr>
              <a:t>Cloud-like comfort from MicroModal. Soft, breathable, light, and it moves naturally with the body.</a:t>
            </a:r>
            <a:endParaRPr lang="en-US" sz="1150" dirty="0"/>
          </a:p>
        </p:txBody>
      </p:sp>
      <p:sp>
        <p:nvSpPr>
          <p:cNvPr id="8" name="Shape 6"/>
          <p:cNvSpPr/>
          <p:nvPr/>
        </p:nvSpPr>
        <p:spPr>
          <a:xfrm>
            <a:off x="640080" y="3291840"/>
            <a:ext cx="1104687" cy="274320"/>
          </a:xfrm>
          <a:prstGeom prst="roundRect">
            <a:avLst>
              <a:gd name="adj" fmla="val 50000"/>
            </a:avLst>
          </a:prstGeom>
          <a:solidFill>
            <a:srgbClr val="282828"/>
          </a:solidFill>
          <a:ln w="12700">
            <a:solidFill>
              <a:srgbClr val="282828"/>
            </a:solidFill>
            <a:prstDash val="solid"/>
          </a:ln>
        </p:spPr>
      </p:sp>
      <p:sp>
        <p:nvSpPr>
          <p:cNvPr id="9" name="Text 7"/>
          <p:cNvSpPr/>
          <p:nvPr/>
        </p:nvSpPr>
        <p:spPr>
          <a:xfrm>
            <a:off x="640080" y="3291840"/>
            <a:ext cx="1104687" cy="274320"/>
          </a:xfrm>
          <a:prstGeom prst="rect">
            <a:avLst/>
          </a:prstGeom>
          <a:noFill/>
          <a:ln/>
        </p:spPr>
        <p:txBody>
          <a:bodyPr wrap="square" lIns="0" tIns="0" rIns="0" bIns="0" rtlCol="0" anchor="ctr"/>
          <a:lstStyle/>
          <a:p>
            <a:pPr algn="ctr" indent="0" marL="0">
              <a:buNone/>
            </a:pPr>
            <a:r>
              <a:rPr lang="en-US" sz="800" b="1" spc="130" kern="0" dirty="0">
                <a:solidFill>
                  <a:srgbClr val="FFFFFF"/>
                </a:solidFill>
                <a:latin typeface="Zalando Sans Expanded" pitchFamily="34" charset="0"/>
                <a:ea typeface="Zalando Sans Expanded" pitchFamily="34" charset="-122"/>
                <a:cs typeface="Zalando Sans Expanded" pitchFamily="34" charset="-120"/>
              </a:rPr>
              <a:t>EVERYDAY</a:t>
            </a:r>
            <a:endParaRPr lang="en-US" sz="800" dirty="0"/>
          </a:p>
        </p:txBody>
      </p:sp>
      <p:sp>
        <p:nvSpPr>
          <p:cNvPr id="10" name="Shape 8"/>
          <p:cNvSpPr/>
          <p:nvPr/>
        </p:nvSpPr>
        <p:spPr>
          <a:xfrm>
            <a:off x="1854495" y="3291840"/>
            <a:ext cx="747888" cy="274320"/>
          </a:xfrm>
          <a:prstGeom prst="roundRect">
            <a:avLst>
              <a:gd name="adj" fmla="val 50000"/>
            </a:avLst>
          </a:prstGeom>
          <a:solidFill>
            <a:srgbClr val="282828"/>
          </a:solidFill>
          <a:ln w="12700">
            <a:solidFill>
              <a:srgbClr val="282828"/>
            </a:solidFill>
            <a:prstDash val="solid"/>
          </a:ln>
        </p:spPr>
      </p:sp>
      <p:sp>
        <p:nvSpPr>
          <p:cNvPr id="11" name="Text 9"/>
          <p:cNvSpPr/>
          <p:nvPr/>
        </p:nvSpPr>
        <p:spPr>
          <a:xfrm>
            <a:off x="1854495" y="3291840"/>
            <a:ext cx="747888" cy="274320"/>
          </a:xfrm>
          <a:prstGeom prst="rect">
            <a:avLst/>
          </a:prstGeom>
          <a:noFill/>
          <a:ln/>
        </p:spPr>
        <p:txBody>
          <a:bodyPr wrap="square" lIns="0" tIns="0" rIns="0" bIns="0" rtlCol="0" anchor="ctr"/>
          <a:lstStyle/>
          <a:p>
            <a:pPr algn="ctr" indent="0" marL="0">
              <a:buNone/>
            </a:pPr>
            <a:r>
              <a:rPr lang="en-US" sz="800" b="1" spc="130" kern="0" dirty="0">
                <a:solidFill>
                  <a:srgbClr val="FFFFFF"/>
                </a:solidFill>
                <a:latin typeface="Zalando Sans Expanded" pitchFamily="34" charset="0"/>
                <a:ea typeface="Zalando Sans Expanded" pitchFamily="34" charset="-122"/>
                <a:cs typeface="Zalando Sans Expanded" pitchFamily="34" charset="-120"/>
              </a:rPr>
              <a:t>WORK</a:t>
            </a:r>
            <a:endParaRPr lang="en-US" sz="800" dirty="0"/>
          </a:p>
        </p:txBody>
      </p:sp>
      <p:sp>
        <p:nvSpPr>
          <p:cNvPr id="12" name="Shape 10"/>
          <p:cNvSpPr/>
          <p:nvPr/>
        </p:nvSpPr>
        <p:spPr>
          <a:xfrm>
            <a:off x="2712110" y="3291840"/>
            <a:ext cx="884956" cy="274320"/>
          </a:xfrm>
          <a:prstGeom prst="roundRect">
            <a:avLst>
              <a:gd name="adj" fmla="val 50000"/>
            </a:avLst>
          </a:prstGeom>
          <a:solidFill>
            <a:srgbClr val="282828"/>
          </a:solidFill>
          <a:ln w="12700">
            <a:solidFill>
              <a:srgbClr val="282828"/>
            </a:solidFill>
            <a:prstDash val="solid"/>
          </a:ln>
        </p:spPr>
      </p:sp>
      <p:sp>
        <p:nvSpPr>
          <p:cNvPr id="13" name="Text 11"/>
          <p:cNvSpPr/>
          <p:nvPr/>
        </p:nvSpPr>
        <p:spPr>
          <a:xfrm>
            <a:off x="2712110" y="3291840"/>
            <a:ext cx="884956" cy="274320"/>
          </a:xfrm>
          <a:prstGeom prst="rect">
            <a:avLst/>
          </a:prstGeom>
          <a:noFill/>
          <a:ln/>
        </p:spPr>
        <p:txBody>
          <a:bodyPr wrap="square" lIns="0" tIns="0" rIns="0" bIns="0" rtlCol="0" anchor="ctr"/>
          <a:lstStyle/>
          <a:p>
            <a:pPr algn="ctr" indent="0" marL="0">
              <a:buNone/>
            </a:pPr>
            <a:r>
              <a:rPr lang="en-US" sz="800" b="1" spc="130" kern="0" dirty="0">
                <a:solidFill>
                  <a:srgbClr val="FFFFFF"/>
                </a:solidFill>
                <a:latin typeface="Zalando Sans Expanded" pitchFamily="34" charset="0"/>
                <a:ea typeface="Zalando Sans Expanded" pitchFamily="34" charset="-122"/>
                <a:cs typeface="Zalando Sans Expanded" pitchFamily="34" charset="-120"/>
              </a:rPr>
              <a:t>TRAVEL</a:t>
            </a:r>
            <a:endParaRPr lang="en-US" sz="800" dirty="0"/>
          </a:p>
        </p:txBody>
      </p:sp>
      <p:sp>
        <p:nvSpPr>
          <p:cNvPr id="14" name="Shape 12"/>
          <p:cNvSpPr/>
          <p:nvPr/>
        </p:nvSpPr>
        <p:spPr>
          <a:xfrm>
            <a:off x="640080" y="3931920"/>
            <a:ext cx="3840480" cy="2103120"/>
          </a:xfrm>
          <a:prstGeom prst="roundRect">
            <a:avLst>
              <a:gd name="adj" fmla="val 3478"/>
            </a:avLst>
          </a:prstGeom>
          <a:solidFill>
            <a:srgbClr val="F2F2F3"/>
          </a:solidFill>
          <a:ln w="12700">
            <a:solidFill>
              <a:srgbClr val="F2F2F3"/>
            </a:solidFill>
            <a:prstDash val="solid"/>
          </a:ln>
        </p:spPr>
      </p:sp>
      <p:sp>
        <p:nvSpPr>
          <p:cNvPr id="15" name="Text 13"/>
          <p:cNvSpPr/>
          <p:nvPr/>
        </p:nvSpPr>
        <p:spPr>
          <a:xfrm>
            <a:off x="932688" y="4151376"/>
            <a:ext cx="3255264"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USED IN</a:t>
            </a:r>
            <a:endParaRPr lang="en-US" sz="950" dirty="0"/>
          </a:p>
        </p:txBody>
      </p:sp>
      <p:sp>
        <p:nvSpPr>
          <p:cNvPr id="16" name="Shape 14"/>
          <p:cNvSpPr/>
          <p:nvPr/>
        </p:nvSpPr>
        <p:spPr>
          <a:xfrm>
            <a:off x="932688" y="4622292"/>
            <a:ext cx="128016" cy="27432"/>
          </a:xfrm>
          <a:prstGeom prst="rect">
            <a:avLst/>
          </a:prstGeom>
          <a:solidFill>
            <a:srgbClr val="818284"/>
          </a:solidFill>
          <a:ln w="12700">
            <a:solidFill>
              <a:srgbClr val="818284"/>
            </a:solidFill>
            <a:prstDash val="solid"/>
          </a:ln>
        </p:spPr>
      </p:sp>
      <p:sp>
        <p:nvSpPr>
          <p:cNvPr id="17" name="Text 15"/>
          <p:cNvSpPr/>
          <p:nvPr/>
        </p:nvSpPr>
        <p:spPr>
          <a:xfrm>
            <a:off x="1207008" y="4498848"/>
            <a:ext cx="2980944"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Brief</a:t>
            </a:r>
            <a:endParaRPr lang="en-US" sz="1100" dirty="0"/>
          </a:p>
        </p:txBody>
      </p:sp>
      <p:sp>
        <p:nvSpPr>
          <p:cNvPr id="18" name="Shape 16"/>
          <p:cNvSpPr/>
          <p:nvPr/>
        </p:nvSpPr>
        <p:spPr>
          <a:xfrm>
            <a:off x="932688" y="4969764"/>
            <a:ext cx="128016" cy="27432"/>
          </a:xfrm>
          <a:prstGeom prst="rect">
            <a:avLst/>
          </a:prstGeom>
          <a:solidFill>
            <a:srgbClr val="818284"/>
          </a:solidFill>
          <a:ln w="12700">
            <a:solidFill>
              <a:srgbClr val="818284"/>
            </a:solidFill>
            <a:prstDash val="solid"/>
          </a:ln>
        </p:spPr>
      </p:sp>
      <p:sp>
        <p:nvSpPr>
          <p:cNvPr id="19" name="Text 17"/>
          <p:cNvSpPr/>
          <p:nvPr/>
        </p:nvSpPr>
        <p:spPr>
          <a:xfrm>
            <a:off x="1207008" y="4846320"/>
            <a:ext cx="2980944"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Boxer Brief 5"</a:t>
            </a:r>
            <a:endParaRPr lang="en-US" sz="1100" dirty="0"/>
          </a:p>
        </p:txBody>
      </p:sp>
      <p:sp>
        <p:nvSpPr>
          <p:cNvPr id="20" name="Shape 18"/>
          <p:cNvSpPr/>
          <p:nvPr/>
        </p:nvSpPr>
        <p:spPr>
          <a:xfrm>
            <a:off x="932688" y="5317236"/>
            <a:ext cx="128016" cy="27432"/>
          </a:xfrm>
          <a:prstGeom prst="rect">
            <a:avLst/>
          </a:prstGeom>
          <a:solidFill>
            <a:srgbClr val="818284"/>
          </a:solidFill>
          <a:ln w="12700">
            <a:solidFill>
              <a:srgbClr val="818284"/>
            </a:solidFill>
            <a:prstDash val="solid"/>
          </a:ln>
        </p:spPr>
      </p:sp>
      <p:sp>
        <p:nvSpPr>
          <p:cNvPr id="21" name="Text 19"/>
          <p:cNvSpPr/>
          <p:nvPr/>
        </p:nvSpPr>
        <p:spPr>
          <a:xfrm>
            <a:off x="1207008" y="5193792"/>
            <a:ext cx="2980944"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Inner Singlet</a:t>
            </a:r>
            <a:endParaRPr lang="en-US" sz="1100" dirty="0"/>
          </a:p>
        </p:txBody>
      </p:sp>
      <p:sp>
        <p:nvSpPr>
          <p:cNvPr id="22" name="Shape 20"/>
          <p:cNvSpPr/>
          <p:nvPr/>
        </p:nvSpPr>
        <p:spPr>
          <a:xfrm>
            <a:off x="932688" y="5664708"/>
            <a:ext cx="128016" cy="27432"/>
          </a:xfrm>
          <a:prstGeom prst="rect">
            <a:avLst/>
          </a:prstGeom>
          <a:solidFill>
            <a:srgbClr val="818284"/>
          </a:solidFill>
          <a:ln w="12700">
            <a:solidFill>
              <a:srgbClr val="818284"/>
            </a:solidFill>
            <a:prstDash val="solid"/>
          </a:ln>
        </p:spPr>
      </p:sp>
      <p:sp>
        <p:nvSpPr>
          <p:cNvPr id="23" name="Text 21"/>
          <p:cNvSpPr/>
          <p:nvPr/>
        </p:nvSpPr>
        <p:spPr>
          <a:xfrm>
            <a:off x="1207008" y="5541264"/>
            <a:ext cx="2980944"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Inner Crewneck T</a:t>
            </a:r>
            <a:endParaRPr lang="en-US" sz="1100" dirty="0"/>
          </a:p>
        </p:txBody>
      </p:sp>
      <p:pic>
        <p:nvPicPr>
          <p:cNvPr id="24" name="Image 0" descr="/home/user/Dom-Manipulation/toni-black/product-knowledge/source/img/modal.png">    </p:cNvPr>
          <p:cNvPicPr>
            <a:picLocks noChangeAspect="1"/>
          </p:cNvPicPr>
          <p:nvPr/>
        </p:nvPicPr>
        <p:blipFill>
          <a:blip r:embed="rId1"/>
          <a:stretch>
            <a:fillRect/>
          </a:stretch>
        </p:blipFill>
        <p:spPr>
          <a:xfrm>
            <a:off x="4846320" y="2103120"/>
            <a:ext cx="2514600" cy="3931920"/>
          </a:xfrm>
          <a:prstGeom prst="rect">
            <a:avLst/>
          </a:prstGeom>
        </p:spPr>
      </p:pic>
      <p:sp>
        <p:nvSpPr>
          <p:cNvPr id="25" name="Shape 22"/>
          <p:cNvSpPr/>
          <p:nvPr/>
        </p:nvSpPr>
        <p:spPr>
          <a:xfrm>
            <a:off x="7726680" y="2103120"/>
            <a:ext cx="3825210" cy="1874520"/>
          </a:xfrm>
          <a:prstGeom prst="roundRect">
            <a:avLst>
              <a:gd name="adj" fmla="val 3902"/>
            </a:avLst>
          </a:prstGeom>
          <a:solidFill>
            <a:srgbClr val="F2F2F3"/>
          </a:solidFill>
          <a:ln w="12700">
            <a:solidFill>
              <a:srgbClr val="F2F2F3"/>
            </a:solidFill>
            <a:prstDash val="solid"/>
          </a:ln>
        </p:spPr>
      </p:sp>
      <p:sp>
        <p:nvSpPr>
          <p:cNvPr id="26" name="Text 23"/>
          <p:cNvSpPr/>
          <p:nvPr/>
        </p:nvSpPr>
        <p:spPr>
          <a:xfrm>
            <a:off x="8019288" y="2340864"/>
            <a:ext cx="3239994"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COMPOSITION</a:t>
            </a:r>
            <a:endParaRPr lang="en-US" sz="950" dirty="0"/>
          </a:p>
        </p:txBody>
      </p:sp>
      <p:sp>
        <p:nvSpPr>
          <p:cNvPr id="27" name="Text 24"/>
          <p:cNvSpPr/>
          <p:nvPr/>
        </p:nvSpPr>
        <p:spPr>
          <a:xfrm>
            <a:off x="8019288" y="2633472"/>
            <a:ext cx="3239994" cy="420624"/>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Modal 91%  ·  Elastane 9%</a:t>
            </a:r>
            <a:endParaRPr lang="en-US" sz="1600" dirty="0"/>
          </a:p>
        </p:txBody>
      </p:sp>
      <p:sp>
        <p:nvSpPr>
          <p:cNvPr id="28" name="Text 25"/>
          <p:cNvSpPr/>
          <p:nvPr/>
        </p:nvSpPr>
        <p:spPr>
          <a:xfrm>
            <a:off x="8019288" y="3108960"/>
            <a:ext cx="3239994" cy="50292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The elastane is what gives it 4-way stretch and recovery.</a:t>
            </a:r>
            <a:endParaRPr lang="en-US" sz="1050" dirty="0"/>
          </a:p>
        </p:txBody>
      </p:sp>
      <p:sp>
        <p:nvSpPr>
          <p:cNvPr id="29" name="Shape 26"/>
          <p:cNvSpPr/>
          <p:nvPr/>
        </p:nvSpPr>
        <p:spPr>
          <a:xfrm>
            <a:off x="7726680" y="4160520"/>
            <a:ext cx="3825210" cy="1874520"/>
          </a:xfrm>
          <a:prstGeom prst="roundRect">
            <a:avLst>
              <a:gd name="adj" fmla="val 3902"/>
            </a:avLst>
          </a:prstGeom>
          <a:solidFill>
            <a:srgbClr val="282828"/>
          </a:solidFill>
          <a:ln w="12700">
            <a:solidFill>
              <a:srgbClr val="282828"/>
            </a:solidFill>
            <a:prstDash val="solid"/>
          </a:ln>
        </p:spPr>
      </p:sp>
      <p:sp>
        <p:nvSpPr>
          <p:cNvPr id="30" name="Text 27"/>
          <p:cNvSpPr/>
          <p:nvPr/>
        </p:nvSpPr>
        <p:spPr>
          <a:xfrm>
            <a:off x="8019288" y="4416552"/>
            <a:ext cx="3239994"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MOISTURE</a:t>
            </a:r>
            <a:endParaRPr lang="en-US" sz="950" dirty="0"/>
          </a:p>
        </p:txBody>
      </p:sp>
      <p:sp>
        <p:nvSpPr>
          <p:cNvPr id="31" name="Text 28"/>
          <p:cNvSpPr/>
          <p:nvPr/>
        </p:nvSpPr>
        <p:spPr>
          <a:xfrm>
            <a:off x="8019288" y="4727448"/>
            <a:ext cx="3239994" cy="420624"/>
          </a:xfrm>
          <a:prstGeom prst="rect">
            <a:avLst/>
          </a:prstGeom>
          <a:noFill/>
          <a:ln/>
        </p:spPr>
        <p:txBody>
          <a:bodyPr wrap="square" lIns="0" tIns="0" rIns="0" bIns="0" rtlCol="0" anchor="ctr"/>
          <a:lstStyle/>
          <a:p>
            <a:pPr indent="0" marL="0">
              <a:buNone/>
            </a:pPr>
            <a:r>
              <a:rPr lang="en-US" sz="1600" b="1" dirty="0">
                <a:solidFill>
                  <a:srgbClr val="FFFFFF"/>
                </a:solidFill>
                <a:latin typeface="Zalando Sans Expanded" pitchFamily="34" charset="0"/>
                <a:ea typeface="Zalando Sans Expanded" pitchFamily="34" charset="-122"/>
                <a:cs typeface="Zalando Sans Expanded" pitchFamily="34" charset="-120"/>
              </a:rPr>
              <a:t>50% more than cotton</a:t>
            </a:r>
            <a:endParaRPr lang="en-US" sz="1600" dirty="0"/>
          </a:p>
        </p:txBody>
      </p:sp>
      <p:sp>
        <p:nvSpPr>
          <p:cNvPr id="32" name="Text 29"/>
          <p:cNvSpPr/>
          <p:nvPr/>
        </p:nvSpPr>
        <p:spPr>
          <a:xfrm>
            <a:off x="8019288" y="5230368"/>
            <a:ext cx="3239994" cy="566928"/>
          </a:xfrm>
          <a:prstGeom prst="rect">
            <a:avLst/>
          </a:prstGeom>
          <a:noFill/>
          <a:ln/>
        </p:spPr>
        <p:txBody>
          <a:bodyPr wrap="square" lIns="0" tIns="0" rIns="0" bIns="0" rtlCol="0" anchor="t"/>
          <a:lstStyle/>
          <a:p>
            <a:pPr indent="0" marL="0">
              <a:lnSpc>
                <a:spcPts val="1523"/>
              </a:lnSpc>
              <a:buNone/>
            </a:pPr>
            <a:r>
              <a:rPr lang="en-US" sz="1050" dirty="0">
                <a:solidFill>
                  <a:srgbClr val="CCCCCC"/>
                </a:solidFill>
                <a:latin typeface="Arimo" pitchFamily="34" charset="0"/>
                <a:ea typeface="Arimo" pitchFamily="34" charset="-122"/>
                <a:cs typeface="Arimo" pitchFamily="34" charset="-120"/>
              </a:rPr>
              <a:t>Absorbs more, releases it faster, and resists yellowing over washes.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212129"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212129"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04   Build</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Built from three things</a:t>
            </a:r>
            <a:endParaRPr lang="en-US" sz="3000" dirty="0"/>
          </a:p>
        </p:txBody>
      </p:sp>
      <p:sp>
        <p:nvSpPr>
          <p:cNvPr id="6" name="Shape 4"/>
          <p:cNvSpPr/>
          <p:nvPr/>
        </p:nvSpPr>
        <p:spPr>
          <a:xfrm>
            <a:off x="640080" y="2148840"/>
            <a:ext cx="3478774" cy="3977640"/>
          </a:xfrm>
          <a:prstGeom prst="roundRect">
            <a:avLst>
              <a:gd name="adj" fmla="val 2103"/>
            </a:avLst>
          </a:prstGeom>
          <a:solidFill>
            <a:srgbClr val="F2F2F3"/>
          </a:solidFill>
          <a:ln w="12700">
            <a:solidFill>
              <a:srgbClr val="F2F2F3"/>
            </a:solidFill>
            <a:prstDash val="solid"/>
          </a:ln>
        </p:spPr>
      </p:sp>
      <p:pic>
        <p:nvPicPr>
          <p:cNvPr id="7" name="Image 0" descr="/home/user/Dom-Manipulation/toni-black/product-knowledge/source/img/built1.png">    </p:cNvPr>
          <p:cNvPicPr>
            <a:picLocks noChangeAspect="1"/>
          </p:cNvPicPr>
          <p:nvPr/>
        </p:nvPicPr>
        <p:blipFill>
          <a:blip r:embed="rId1"/>
          <a:stretch>
            <a:fillRect/>
          </a:stretch>
        </p:blipFill>
        <p:spPr>
          <a:xfrm>
            <a:off x="870707" y="2377440"/>
            <a:ext cx="3017520" cy="1371600"/>
          </a:xfrm>
          <a:prstGeom prst="rect">
            <a:avLst/>
          </a:prstGeom>
        </p:spPr>
      </p:pic>
      <p:sp>
        <p:nvSpPr>
          <p:cNvPr id="8" name="Text 5"/>
          <p:cNvSpPr/>
          <p:nvPr/>
        </p:nvSpPr>
        <p:spPr>
          <a:xfrm>
            <a:off x="932688" y="3913632"/>
            <a:ext cx="914400" cy="237744"/>
          </a:xfrm>
          <a:prstGeom prst="rect">
            <a:avLst/>
          </a:prstGeom>
          <a:noFill/>
          <a:ln/>
        </p:spPr>
        <p:txBody>
          <a:bodyPr wrap="square" lIns="0" tIns="0" rIns="0" bIns="0" rtlCol="0" anchor="ctr"/>
          <a:lstStyle/>
          <a:p>
            <a:pPr indent="0" marL="0">
              <a:buNone/>
            </a:pPr>
            <a:r>
              <a:rPr lang="en-US" sz="1050" b="1" spc="260" kern="0" dirty="0">
                <a:solidFill>
                  <a:srgbClr val="4F5052"/>
                </a:solidFill>
                <a:latin typeface="Zalando Sans Expanded" pitchFamily="34" charset="0"/>
                <a:ea typeface="Zalando Sans Expanded" pitchFamily="34" charset="-122"/>
                <a:cs typeface="Zalando Sans Expanded" pitchFamily="34" charset="-120"/>
              </a:rPr>
              <a:t>01</a:t>
            </a:r>
            <a:endParaRPr lang="en-US" sz="1050" dirty="0"/>
          </a:p>
        </p:txBody>
      </p:sp>
      <p:sp>
        <p:nvSpPr>
          <p:cNvPr id="9" name="Text 6"/>
          <p:cNvSpPr/>
          <p:nvPr/>
        </p:nvSpPr>
        <p:spPr>
          <a:xfrm>
            <a:off x="932688" y="4187952"/>
            <a:ext cx="2893558" cy="475488"/>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ModalCloud™</a:t>
            </a:r>
            <a:endParaRPr lang="en-US" sz="1600" dirty="0"/>
          </a:p>
        </p:txBody>
      </p:sp>
      <p:sp>
        <p:nvSpPr>
          <p:cNvPr id="10" name="Text 7"/>
          <p:cNvSpPr/>
          <p:nvPr/>
        </p:nvSpPr>
        <p:spPr>
          <a:xfrm>
            <a:off x="932688" y="4700016"/>
            <a:ext cx="2893558" cy="91440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MicroModal with a touch of elastane. Soft, breathable, light. The fabric behind most of the range.</a:t>
            </a:r>
            <a:endParaRPr lang="en-US" sz="1050" dirty="0"/>
          </a:p>
        </p:txBody>
      </p:sp>
      <p:sp>
        <p:nvSpPr>
          <p:cNvPr id="11" name="Shape 8"/>
          <p:cNvSpPr/>
          <p:nvPr/>
        </p:nvSpPr>
        <p:spPr>
          <a:xfrm>
            <a:off x="932688" y="5632704"/>
            <a:ext cx="850575" cy="274320"/>
          </a:xfrm>
          <a:prstGeom prst="roundRect">
            <a:avLst>
              <a:gd name="adj" fmla="val 50000"/>
            </a:avLst>
          </a:prstGeom>
          <a:solidFill>
            <a:srgbClr val="282828"/>
          </a:solidFill>
          <a:ln w="12700">
            <a:solidFill>
              <a:srgbClr val="282828"/>
            </a:solidFill>
            <a:prstDash val="solid"/>
          </a:ln>
        </p:spPr>
      </p:sp>
      <p:sp>
        <p:nvSpPr>
          <p:cNvPr id="12" name="Text 9"/>
          <p:cNvSpPr/>
          <p:nvPr/>
        </p:nvSpPr>
        <p:spPr>
          <a:xfrm>
            <a:off x="932688" y="5632704"/>
            <a:ext cx="850575" cy="274320"/>
          </a:xfrm>
          <a:prstGeom prst="rect">
            <a:avLst/>
          </a:prstGeom>
          <a:noFill/>
          <a:ln/>
        </p:spPr>
        <p:txBody>
          <a:bodyPr wrap="square" lIns="0" tIns="0" rIns="0" bIns="0" rtlCol="0" anchor="ctr"/>
          <a:lstStyle/>
          <a:p>
            <a:pPr algn="ctr" indent="0" marL="0">
              <a:buNone/>
            </a:pPr>
            <a:r>
              <a:rPr lang="en-US" sz="800" b="1" spc="130" kern="0" dirty="0">
                <a:solidFill>
                  <a:srgbClr val="FFFFFF"/>
                </a:solidFill>
                <a:latin typeface="Zalando Sans Expanded" pitchFamily="34" charset="0"/>
                <a:ea typeface="Zalando Sans Expanded" pitchFamily="34" charset="-122"/>
                <a:cs typeface="Zalando Sans Expanded" pitchFamily="34" charset="-120"/>
              </a:rPr>
              <a:t>FABRIC</a:t>
            </a:r>
            <a:endParaRPr lang="en-US" sz="800" dirty="0"/>
          </a:p>
        </p:txBody>
      </p:sp>
      <p:sp>
        <p:nvSpPr>
          <p:cNvPr id="13" name="Shape 10"/>
          <p:cNvSpPr/>
          <p:nvPr/>
        </p:nvSpPr>
        <p:spPr>
          <a:xfrm>
            <a:off x="4356598" y="2148840"/>
            <a:ext cx="3478774" cy="3977640"/>
          </a:xfrm>
          <a:prstGeom prst="roundRect">
            <a:avLst>
              <a:gd name="adj" fmla="val 2103"/>
            </a:avLst>
          </a:prstGeom>
          <a:solidFill>
            <a:srgbClr val="F2F2F3"/>
          </a:solidFill>
          <a:ln w="12700">
            <a:solidFill>
              <a:srgbClr val="F2F2F3"/>
            </a:solidFill>
            <a:prstDash val="solid"/>
          </a:ln>
        </p:spPr>
      </p:sp>
      <p:pic>
        <p:nvPicPr>
          <p:cNvPr id="14" name="Image 1" descr="/home/user/Dom-Manipulation/toni-black/product-knowledge/source/img/built2.png">    </p:cNvPr>
          <p:cNvPicPr>
            <a:picLocks noChangeAspect="1"/>
          </p:cNvPicPr>
          <p:nvPr/>
        </p:nvPicPr>
        <p:blipFill>
          <a:blip r:embed="rId2"/>
          <a:stretch>
            <a:fillRect/>
          </a:stretch>
        </p:blipFill>
        <p:spPr>
          <a:xfrm>
            <a:off x="4587225" y="2377440"/>
            <a:ext cx="3017520" cy="1371600"/>
          </a:xfrm>
          <a:prstGeom prst="rect">
            <a:avLst/>
          </a:prstGeom>
        </p:spPr>
      </p:pic>
      <p:sp>
        <p:nvSpPr>
          <p:cNvPr id="15" name="Text 11"/>
          <p:cNvSpPr/>
          <p:nvPr/>
        </p:nvSpPr>
        <p:spPr>
          <a:xfrm>
            <a:off x="4649206" y="3913632"/>
            <a:ext cx="914400" cy="237744"/>
          </a:xfrm>
          <a:prstGeom prst="rect">
            <a:avLst/>
          </a:prstGeom>
          <a:noFill/>
          <a:ln/>
        </p:spPr>
        <p:txBody>
          <a:bodyPr wrap="square" lIns="0" tIns="0" rIns="0" bIns="0" rtlCol="0" anchor="ctr"/>
          <a:lstStyle/>
          <a:p>
            <a:pPr indent="0" marL="0">
              <a:buNone/>
            </a:pPr>
            <a:r>
              <a:rPr lang="en-US" sz="1050" b="1" spc="260" kern="0" dirty="0">
                <a:solidFill>
                  <a:srgbClr val="4F5052"/>
                </a:solidFill>
                <a:latin typeface="Zalando Sans Expanded" pitchFamily="34" charset="0"/>
                <a:ea typeface="Zalando Sans Expanded" pitchFamily="34" charset="-122"/>
                <a:cs typeface="Zalando Sans Expanded" pitchFamily="34" charset="-120"/>
              </a:rPr>
              <a:t>02</a:t>
            </a:r>
            <a:endParaRPr lang="en-US" sz="1050" dirty="0"/>
          </a:p>
        </p:txBody>
      </p:sp>
      <p:sp>
        <p:nvSpPr>
          <p:cNvPr id="16" name="Text 12"/>
          <p:cNvSpPr/>
          <p:nvPr/>
        </p:nvSpPr>
        <p:spPr>
          <a:xfrm>
            <a:off x="4649206" y="4187952"/>
            <a:ext cx="2893558" cy="475488"/>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FlowLite™</a:t>
            </a:r>
            <a:endParaRPr lang="en-US" sz="1600" dirty="0"/>
          </a:p>
        </p:txBody>
      </p:sp>
      <p:sp>
        <p:nvSpPr>
          <p:cNvPr id="17" name="Text 13"/>
          <p:cNvSpPr/>
          <p:nvPr/>
        </p:nvSpPr>
        <p:spPr>
          <a:xfrm>
            <a:off x="4649206" y="4700016"/>
            <a:ext cx="2893558" cy="91440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A lyocell-based fibre, finer and more fluid than modal. The lightest fabric Toni Black makes.</a:t>
            </a:r>
            <a:endParaRPr lang="en-US" sz="1050" dirty="0"/>
          </a:p>
        </p:txBody>
      </p:sp>
      <p:sp>
        <p:nvSpPr>
          <p:cNvPr id="18" name="Shape 14"/>
          <p:cNvSpPr/>
          <p:nvPr/>
        </p:nvSpPr>
        <p:spPr>
          <a:xfrm>
            <a:off x="4649206" y="5632704"/>
            <a:ext cx="850575" cy="274320"/>
          </a:xfrm>
          <a:prstGeom prst="roundRect">
            <a:avLst>
              <a:gd name="adj" fmla="val 50000"/>
            </a:avLst>
          </a:prstGeom>
          <a:solidFill>
            <a:srgbClr val="282828"/>
          </a:solidFill>
          <a:ln w="12700">
            <a:solidFill>
              <a:srgbClr val="282828"/>
            </a:solidFill>
            <a:prstDash val="solid"/>
          </a:ln>
        </p:spPr>
      </p:sp>
      <p:sp>
        <p:nvSpPr>
          <p:cNvPr id="19" name="Text 15"/>
          <p:cNvSpPr/>
          <p:nvPr/>
        </p:nvSpPr>
        <p:spPr>
          <a:xfrm>
            <a:off x="4649206" y="5632704"/>
            <a:ext cx="850575" cy="274320"/>
          </a:xfrm>
          <a:prstGeom prst="rect">
            <a:avLst/>
          </a:prstGeom>
          <a:noFill/>
          <a:ln/>
        </p:spPr>
        <p:txBody>
          <a:bodyPr wrap="square" lIns="0" tIns="0" rIns="0" bIns="0" rtlCol="0" anchor="ctr"/>
          <a:lstStyle/>
          <a:p>
            <a:pPr algn="ctr" indent="0" marL="0">
              <a:buNone/>
            </a:pPr>
            <a:r>
              <a:rPr lang="en-US" sz="800" b="1" spc="130" kern="0" dirty="0">
                <a:solidFill>
                  <a:srgbClr val="FFFFFF"/>
                </a:solidFill>
                <a:latin typeface="Zalando Sans Expanded" pitchFamily="34" charset="0"/>
                <a:ea typeface="Zalando Sans Expanded" pitchFamily="34" charset="-122"/>
                <a:cs typeface="Zalando Sans Expanded" pitchFamily="34" charset="-120"/>
              </a:rPr>
              <a:t>FABRIC</a:t>
            </a:r>
            <a:endParaRPr lang="en-US" sz="800" dirty="0"/>
          </a:p>
        </p:txBody>
      </p:sp>
      <p:sp>
        <p:nvSpPr>
          <p:cNvPr id="20" name="Shape 16"/>
          <p:cNvSpPr/>
          <p:nvPr/>
        </p:nvSpPr>
        <p:spPr>
          <a:xfrm>
            <a:off x="8073116" y="2148840"/>
            <a:ext cx="3478774" cy="3977640"/>
          </a:xfrm>
          <a:prstGeom prst="roundRect">
            <a:avLst>
              <a:gd name="adj" fmla="val 2103"/>
            </a:avLst>
          </a:prstGeom>
          <a:solidFill>
            <a:srgbClr val="F2F2F3"/>
          </a:solidFill>
          <a:ln w="12700">
            <a:solidFill>
              <a:srgbClr val="F2F2F3"/>
            </a:solidFill>
            <a:prstDash val="solid"/>
          </a:ln>
        </p:spPr>
      </p:sp>
      <p:pic>
        <p:nvPicPr>
          <p:cNvPr id="21" name="Image 2" descr="/home/user/Dom-Manipulation/toni-black/product-knowledge/source/img/built3.png">    </p:cNvPr>
          <p:cNvPicPr>
            <a:picLocks noChangeAspect="1"/>
          </p:cNvPicPr>
          <p:nvPr/>
        </p:nvPicPr>
        <p:blipFill>
          <a:blip r:embed="rId3"/>
          <a:stretch>
            <a:fillRect/>
          </a:stretch>
        </p:blipFill>
        <p:spPr>
          <a:xfrm>
            <a:off x="8303743" y="2377440"/>
            <a:ext cx="3017520" cy="1371600"/>
          </a:xfrm>
          <a:prstGeom prst="rect">
            <a:avLst/>
          </a:prstGeom>
        </p:spPr>
      </p:pic>
      <p:sp>
        <p:nvSpPr>
          <p:cNvPr id="22" name="Text 17"/>
          <p:cNvSpPr/>
          <p:nvPr/>
        </p:nvSpPr>
        <p:spPr>
          <a:xfrm>
            <a:off x="8365724" y="3913632"/>
            <a:ext cx="914400" cy="237744"/>
          </a:xfrm>
          <a:prstGeom prst="rect">
            <a:avLst/>
          </a:prstGeom>
          <a:noFill/>
          <a:ln/>
        </p:spPr>
        <p:txBody>
          <a:bodyPr wrap="square" lIns="0" tIns="0" rIns="0" bIns="0" rtlCol="0" anchor="ctr"/>
          <a:lstStyle/>
          <a:p>
            <a:pPr indent="0" marL="0">
              <a:buNone/>
            </a:pPr>
            <a:r>
              <a:rPr lang="en-US" sz="1050" b="1" spc="260" kern="0" dirty="0">
                <a:solidFill>
                  <a:srgbClr val="4F5052"/>
                </a:solidFill>
                <a:latin typeface="Zalando Sans Expanded" pitchFamily="34" charset="0"/>
                <a:ea typeface="Zalando Sans Expanded" pitchFamily="34" charset="-122"/>
                <a:cs typeface="Zalando Sans Expanded" pitchFamily="34" charset="-120"/>
              </a:rPr>
              <a:t>03</a:t>
            </a:r>
            <a:endParaRPr lang="en-US" sz="1050" dirty="0"/>
          </a:p>
        </p:txBody>
      </p:sp>
      <p:sp>
        <p:nvSpPr>
          <p:cNvPr id="23" name="Text 18"/>
          <p:cNvSpPr/>
          <p:nvPr/>
        </p:nvSpPr>
        <p:spPr>
          <a:xfrm>
            <a:off x="8365724" y="4187952"/>
            <a:ext cx="2893558" cy="475488"/>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Soft Elastic Waistband</a:t>
            </a:r>
            <a:endParaRPr lang="en-US" sz="1600" dirty="0"/>
          </a:p>
        </p:txBody>
      </p:sp>
      <p:sp>
        <p:nvSpPr>
          <p:cNvPr id="24" name="Text 19"/>
          <p:cNvSpPr/>
          <p:nvPr/>
        </p:nvSpPr>
        <p:spPr>
          <a:xfrm>
            <a:off x="8365724" y="4700016"/>
            <a:ext cx="2893558" cy="91440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A secure hold without harsh pressure. Follows the natural waistline. Minimal branding.</a:t>
            </a:r>
            <a:endParaRPr lang="en-US" sz="1050" dirty="0"/>
          </a:p>
        </p:txBody>
      </p:sp>
      <p:sp>
        <p:nvSpPr>
          <p:cNvPr id="25" name="Shape 20"/>
          <p:cNvSpPr/>
          <p:nvPr/>
        </p:nvSpPr>
        <p:spPr>
          <a:xfrm>
            <a:off x="8365724" y="5632704"/>
            <a:ext cx="1518087" cy="274320"/>
          </a:xfrm>
          <a:prstGeom prst="roundRect">
            <a:avLst>
              <a:gd name="adj" fmla="val 50000"/>
            </a:avLst>
          </a:prstGeom>
          <a:solidFill>
            <a:srgbClr val="282828"/>
          </a:solidFill>
          <a:ln w="12700">
            <a:solidFill>
              <a:srgbClr val="282828"/>
            </a:solidFill>
            <a:prstDash val="solid"/>
          </a:ln>
        </p:spPr>
      </p:sp>
      <p:sp>
        <p:nvSpPr>
          <p:cNvPr id="26" name="Text 21"/>
          <p:cNvSpPr/>
          <p:nvPr/>
        </p:nvSpPr>
        <p:spPr>
          <a:xfrm>
            <a:off x="8365724" y="5632704"/>
            <a:ext cx="1518087" cy="274320"/>
          </a:xfrm>
          <a:prstGeom prst="rect">
            <a:avLst/>
          </a:prstGeom>
          <a:noFill/>
          <a:ln/>
        </p:spPr>
        <p:txBody>
          <a:bodyPr wrap="square" lIns="0" tIns="0" rIns="0" bIns="0" rtlCol="0" anchor="ctr"/>
          <a:lstStyle/>
          <a:p>
            <a:pPr algn="ctr" indent="0" marL="0">
              <a:buNone/>
            </a:pPr>
            <a:r>
              <a:rPr lang="en-US" sz="800" b="1" spc="130" kern="0" dirty="0">
                <a:solidFill>
                  <a:srgbClr val="FFFFFF"/>
                </a:solidFill>
                <a:latin typeface="Zalando Sans Expanded" pitchFamily="34" charset="0"/>
                <a:ea typeface="Zalando Sans Expanded" pitchFamily="34" charset="-122"/>
                <a:cs typeface="Zalando Sans Expanded" pitchFamily="34" charset="-120"/>
              </a:rPr>
              <a:t>CONSTRUCTION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310610"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310610"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05   Range</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The men's range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11810" cy="914400"/>
        </p:xfrm>
        <a:graphic>
          <a:graphicData uri="http://schemas.openxmlformats.org/drawingml/2006/table">
            <a:tbl>
              <a:tblPr/>
              <a:tblGrid>
                <a:gridCol w="2788920"/>
                <a:gridCol w="2148840"/>
                <a:gridCol w="4328130"/>
                <a:gridCol w="1645920"/>
              </a:tblGrid>
              <a:tr h="530352">
                <a:tc>
                  <a:txBody>
                    <a:bodyPr/>
                    <a:lstStyle/>
                    <a:p>
                      <a:pPr algn="l" indent="0" marL="0">
                        <a:buNone/>
                      </a:pPr>
                      <a:r>
                        <a:rPr lang="en-US" sz="1000" b="1" spc="140" kern="0" dirty="0">
                          <a:solidFill>
                            <a:srgbClr val="FFFFFF"/>
                          </a:solidFill>
                          <a:latin typeface="Zalando Sans Expanded" pitchFamily="34" charset="0"/>
                          <a:ea typeface="Zalando Sans Expanded" pitchFamily="34" charset="-122"/>
                          <a:cs typeface="Zalando Sans Expanded" pitchFamily="34" charset="-120"/>
                        </a:rPr>
                        <a:t>Style</a:t>
                      </a:r>
                      <a:endParaRPr lang="en-US" sz="10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82828"/>
                    </a:solidFill>
                  </a:tcPr>
                </a:tc>
                <a:tc>
                  <a:txBody>
                    <a:bodyPr/>
                    <a:lstStyle/>
                    <a:p>
                      <a:pPr algn="l" indent="0" marL="0">
                        <a:buNone/>
                      </a:pPr>
                      <a:r>
                        <a:rPr lang="en-US" sz="1000" b="1" spc="140" kern="0" dirty="0">
                          <a:solidFill>
                            <a:srgbClr val="FFFFFF"/>
                          </a:solidFill>
                          <a:latin typeface="Zalando Sans Expanded" pitchFamily="34" charset="0"/>
                          <a:ea typeface="Zalando Sans Expanded" pitchFamily="34" charset="-122"/>
                          <a:cs typeface="Zalando Sans Expanded" pitchFamily="34" charset="-120"/>
                        </a:rPr>
                        <a:t>Fabric</a:t>
                      </a:r>
                      <a:endParaRPr lang="en-US" sz="10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82828"/>
                    </a:solidFill>
                  </a:tcPr>
                </a:tc>
                <a:tc>
                  <a:txBody>
                    <a:bodyPr/>
                    <a:lstStyle/>
                    <a:p>
                      <a:pPr algn="l" indent="0" marL="0">
                        <a:buNone/>
                      </a:pPr>
                      <a:r>
                        <a:rPr lang="en-US" sz="1000" b="1" spc="140" kern="0" dirty="0">
                          <a:solidFill>
                            <a:srgbClr val="FFFFFF"/>
                          </a:solidFill>
                          <a:latin typeface="Zalando Sans Expanded" pitchFamily="34" charset="0"/>
                          <a:ea typeface="Zalando Sans Expanded" pitchFamily="34" charset="-122"/>
                          <a:cs typeface="Zalando Sans Expanded" pitchFamily="34" charset="-120"/>
                        </a:rPr>
                        <a:t>Cut</a:t>
                      </a:r>
                      <a:endParaRPr lang="en-US" sz="10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82828"/>
                    </a:solidFill>
                  </a:tcPr>
                </a:tc>
                <a:tc>
                  <a:txBody>
                    <a:bodyPr/>
                    <a:lstStyle/>
                    <a:p>
                      <a:pPr algn="r" indent="0" marL="0">
                        <a:buNone/>
                      </a:pPr>
                      <a:r>
                        <a:rPr lang="en-US" sz="1000" b="1" spc="140" kern="0" dirty="0">
                          <a:solidFill>
                            <a:srgbClr val="FFFFFF"/>
                          </a:solidFill>
                          <a:latin typeface="Zalando Sans Expanded" pitchFamily="34" charset="0"/>
                          <a:ea typeface="Zalando Sans Expanded" pitchFamily="34" charset="-122"/>
                          <a:cs typeface="Zalando Sans Expanded" pitchFamily="34" charset="-120"/>
                        </a:rPr>
                        <a:t>From</a:t>
                      </a:r>
                      <a:endParaRPr lang="en-US" sz="10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82828"/>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Brief</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ModalCloud™</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Minimal leg coverage. Under fitted trousers.</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algn="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Rp 79.000</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Boxer Brief 5"</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ModalCloud™</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Balanced coverage. Work, travel, light activity.</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Rp 99.000</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Loose Fit Boxer</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FlowLite™</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Relaxed and low compression. Sleep and home.</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algn="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Rp 109.000</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Inner Singlet</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ModalCloud™</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Base layer under a shirt. White.</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Rp 109.000</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Inner Crewneck T</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ModalCloud™</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indent="0" marL="0">
                        <a:buNone/>
                      </a:pPr>
                      <a:r>
                        <a:rPr lang="en-US" sz="1100" dirty="0">
                          <a:solidFill>
                            <a:srgbClr val="4F5052"/>
                          </a:solidFill>
                          <a:latin typeface="Arimo" pitchFamily="34" charset="0"/>
                          <a:ea typeface="Arimo" pitchFamily="34" charset="-122"/>
                          <a:cs typeface="Arimo" pitchFamily="34" charset="-120"/>
                        </a:rPr>
                        <a:t>Covers the underarm under a work shirt. White.</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algn="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Rp 149.000</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r>
            </a:tbl>
          </a:graphicData>
        </a:graphic>
      </p:graphicFrame>
      <p:sp>
        <p:nvSpPr>
          <p:cNvPr id="7" name="Text 4"/>
          <p:cNvSpPr/>
          <p:nvPr/>
        </p:nvSpPr>
        <p:spPr>
          <a:xfrm>
            <a:off x="640080" y="5577840"/>
            <a:ext cx="10911810" cy="310896"/>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Every style comes in S, M, L, XL, 2XL and 3XL. Black, except the two white inner layers.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891894"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891894"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06   Packs &amp; Kids</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Buy more, pay less per pair</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6355080" cy="914400"/>
        </p:xfrm>
        <a:graphic>
          <a:graphicData uri="http://schemas.openxmlformats.org/drawingml/2006/table">
            <a:tbl>
              <a:tblPr/>
              <a:tblGrid>
                <a:gridCol w="2697480"/>
                <a:gridCol w="1828800"/>
                <a:gridCol w="1828800"/>
              </a:tblGrid>
              <a:tr h="530352">
                <a:tc>
                  <a:txBody>
                    <a:bodyPr/>
                    <a:lstStyle/>
                    <a:p>
                      <a:pPr algn="l" indent="0" marL="0">
                        <a:buNone/>
                      </a:pPr>
                      <a:r>
                        <a:rPr lang="en-US" sz="1000" b="1" spc="140" kern="0" dirty="0">
                          <a:solidFill>
                            <a:srgbClr val="FFFFFF"/>
                          </a:solidFill>
                          <a:latin typeface="Zalando Sans Expanded" pitchFamily="34" charset="0"/>
                          <a:ea typeface="Zalando Sans Expanded" pitchFamily="34" charset="-122"/>
                          <a:cs typeface="Zalando Sans Expanded" pitchFamily="34" charset="-120"/>
                        </a:rPr>
                        <a:t>Pack</a:t>
                      </a:r>
                      <a:endParaRPr lang="en-US" sz="10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82828"/>
                    </a:solidFill>
                  </a:tcPr>
                </a:tc>
                <a:tc>
                  <a:txBody>
                    <a:bodyPr/>
                    <a:lstStyle/>
                    <a:p>
                      <a:pPr algn="r" indent="0" marL="0">
                        <a:buNone/>
                      </a:pPr>
                      <a:r>
                        <a:rPr lang="en-US" sz="1000" b="1" spc="140" kern="0" dirty="0">
                          <a:solidFill>
                            <a:srgbClr val="FFFFFF"/>
                          </a:solidFill>
                          <a:latin typeface="Zalando Sans Expanded" pitchFamily="34" charset="0"/>
                          <a:ea typeface="Zalando Sans Expanded" pitchFamily="34" charset="-122"/>
                          <a:cs typeface="Zalando Sans Expanded" pitchFamily="34" charset="-120"/>
                        </a:rPr>
                        <a:t>Brief</a:t>
                      </a:r>
                      <a:endParaRPr lang="en-US" sz="10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82828"/>
                    </a:solidFill>
                  </a:tcPr>
                </a:tc>
                <a:tc>
                  <a:txBody>
                    <a:bodyPr/>
                    <a:lstStyle/>
                    <a:p>
                      <a:pPr algn="r" indent="0" marL="0">
                        <a:buNone/>
                      </a:pPr>
                      <a:r>
                        <a:rPr lang="en-US" sz="1000" b="1" spc="140" kern="0" dirty="0">
                          <a:solidFill>
                            <a:srgbClr val="FFFFFF"/>
                          </a:solidFill>
                          <a:latin typeface="Zalando Sans Expanded" pitchFamily="34" charset="0"/>
                          <a:ea typeface="Zalando Sans Expanded" pitchFamily="34" charset="-122"/>
                          <a:cs typeface="Zalando Sans Expanded" pitchFamily="34" charset="-120"/>
                        </a:rPr>
                        <a:t>Boxer Brief 5"</a:t>
                      </a:r>
                      <a:endParaRPr lang="en-US" sz="10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82828"/>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Single</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algn="r" indent="0" marL="0">
                        <a:buNone/>
                      </a:pPr>
                      <a:r>
                        <a:rPr lang="en-US" sz="1100" dirty="0">
                          <a:solidFill>
                            <a:srgbClr val="4F5052"/>
                          </a:solidFill>
                          <a:latin typeface="Arimo" pitchFamily="34" charset="0"/>
                          <a:ea typeface="Arimo" pitchFamily="34" charset="-122"/>
                          <a:cs typeface="Arimo" pitchFamily="34" charset="-120"/>
                        </a:rPr>
                        <a:t>Rp 79.000</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algn="r" indent="0" marL="0">
                        <a:buNone/>
                      </a:pPr>
                      <a:r>
                        <a:rPr lang="en-US" sz="1100" dirty="0">
                          <a:solidFill>
                            <a:srgbClr val="4F5052"/>
                          </a:solidFill>
                          <a:latin typeface="Arimo" pitchFamily="34" charset="0"/>
                          <a:ea typeface="Arimo" pitchFamily="34" charset="-122"/>
                          <a:cs typeface="Arimo" pitchFamily="34" charset="-120"/>
                        </a:rPr>
                        <a:t>Rp 99.000</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3 Pack</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F5052"/>
                          </a:solidFill>
                          <a:latin typeface="Arimo" pitchFamily="34" charset="0"/>
                          <a:ea typeface="Arimo" pitchFamily="34" charset="-122"/>
                          <a:cs typeface="Arimo" pitchFamily="34" charset="-120"/>
                        </a:rPr>
                        <a:t>Rp 199.000</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F5052"/>
                          </a:solidFill>
                          <a:latin typeface="Arimo" pitchFamily="34" charset="0"/>
                          <a:ea typeface="Arimo" pitchFamily="34" charset="-122"/>
                          <a:cs typeface="Arimo" pitchFamily="34" charset="-120"/>
                        </a:rPr>
                        <a:t>Rp 249.000</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530352">
                <a:tc>
                  <a:txBody>
                    <a:bodyPr/>
                    <a:lstStyle/>
                    <a:p>
                      <a:pPr indent="0" marL="0">
                        <a:buNone/>
                      </a:pPr>
                      <a:r>
                        <a:rPr lang="en-US" sz="1100" b="1" dirty="0">
                          <a:solidFill>
                            <a:srgbClr val="282828"/>
                          </a:solidFill>
                          <a:latin typeface="Zalando Sans Expanded" pitchFamily="34" charset="0"/>
                          <a:ea typeface="Zalando Sans Expanded" pitchFamily="34" charset="-122"/>
                          <a:cs typeface="Zalando Sans Expanded" pitchFamily="34" charset="-120"/>
                        </a:rPr>
                        <a:t>6 Pack</a:t>
                      </a:r>
                      <a:endParaRPr lang="en-US" sz="1100" dirty="0">
                        <a:latin typeface="Zalando Sans Expanded" charset="0"/>
                        <a:ea typeface="Zalando Sans Expanded" charset="0"/>
                        <a:cs typeface="Zalando Sans Expanded"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algn="r" indent="0" marL="0">
                        <a:buNone/>
                      </a:pPr>
                      <a:r>
                        <a:rPr lang="en-US" sz="1100" dirty="0">
                          <a:solidFill>
                            <a:srgbClr val="4F5052"/>
                          </a:solidFill>
                          <a:latin typeface="Arimo" pitchFamily="34" charset="0"/>
                          <a:ea typeface="Arimo" pitchFamily="34" charset="-122"/>
                          <a:cs typeface="Arimo" pitchFamily="34" charset="-120"/>
                        </a:rPr>
                        <a:t>Rp 379.000</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c>
                  <a:txBody>
                    <a:bodyPr/>
                    <a:lstStyle/>
                    <a:p>
                      <a:pPr algn="r" indent="0" marL="0">
                        <a:buNone/>
                      </a:pPr>
                      <a:r>
                        <a:rPr lang="en-US" sz="1100" dirty="0">
                          <a:solidFill>
                            <a:srgbClr val="4F5052"/>
                          </a:solidFill>
                          <a:latin typeface="Arimo" pitchFamily="34" charset="0"/>
                          <a:ea typeface="Arimo" pitchFamily="34" charset="-122"/>
                          <a:cs typeface="Arimo" pitchFamily="34" charset="-120"/>
                        </a:rPr>
                        <a:t>Rp 469.000</a:t>
                      </a:r>
                      <a:endParaRPr lang="en-US" sz="1100" dirty="0">
                        <a:latin typeface="Arimo" charset="0"/>
                        <a:ea typeface="Arimo" charset="0"/>
                        <a:cs typeface="Arimo" charset="0"/>
                      </a:endParaRPr>
                    </a:p>
                  </a:txBody>
                  <a:tcPr marL="146304" marR="146304"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3"/>
                    </a:solidFill>
                  </a:tcPr>
                </a:tc>
              </a:tr>
            </a:tbl>
          </a:graphicData>
        </a:graphic>
      </p:graphicFrame>
      <p:sp>
        <p:nvSpPr>
          <p:cNvPr id="7" name="Text 4"/>
          <p:cNvSpPr/>
          <p:nvPr/>
        </p:nvSpPr>
        <p:spPr>
          <a:xfrm>
            <a:off x="640080" y="4407408"/>
            <a:ext cx="6355080" cy="310896"/>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A 6 Pack Brief works out at Rp 63.200 a pair — 20% under the single price.</a:t>
            </a:r>
            <a:endParaRPr lang="en-US" sz="1100" dirty="0"/>
          </a:p>
        </p:txBody>
      </p:sp>
      <p:sp>
        <p:nvSpPr>
          <p:cNvPr id="8" name="Shape 5"/>
          <p:cNvSpPr/>
          <p:nvPr/>
        </p:nvSpPr>
        <p:spPr>
          <a:xfrm>
            <a:off x="640080" y="4846320"/>
            <a:ext cx="6355080" cy="1280160"/>
          </a:xfrm>
          <a:prstGeom prst="roundRect">
            <a:avLst>
              <a:gd name="adj" fmla="val 5714"/>
            </a:avLst>
          </a:prstGeom>
          <a:solidFill>
            <a:srgbClr val="F2F2F3"/>
          </a:solidFill>
          <a:ln w="12700">
            <a:solidFill>
              <a:srgbClr val="F2F2F3"/>
            </a:solidFill>
            <a:prstDash val="solid"/>
          </a:ln>
        </p:spPr>
      </p:sp>
      <p:sp>
        <p:nvSpPr>
          <p:cNvPr id="9" name="Text 6"/>
          <p:cNvSpPr/>
          <p:nvPr/>
        </p:nvSpPr>
        <p:spPr>
          <a:xfrm>
            <a:off x="932688" y="5047488"/>
            <a:ext cx="5769864"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ALSO IN THE PACK RANGE</a:t>
            </a:r>
            <a:endParaRPr lang="en-US" sz="950" dirty="0"/>
          </a:p>
        </p:txBody>
      </p:sp>
      <p:sp>
        <p:nvSpPr>
          <p:cNvPr id="10" name="Text 7"/>
          <p:cNvSpPr/>
          <p:nvPr/>
        </p:nvSpPr>
        <p:spPr>
          <a:xfrm>
            <a:off x="932688" y="5340096"/>
            <a:ext cx="5769864" cy="713232"/>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Loose Fit Boxer: 2 Pack Rp 179.000, 4 Pack Rp 339.000.</a:t>
            </a:r>
            <a:endParaRPr lang="en-US" sz="1050" dirty="0"/>
          </a:p>
          <a:p>
            <a:pPr indent="0" marL="0">
              <a:lnSpc>
                <a:spcPts val="1523"/>
              </a:lnSpc>
              <a:buNone/>
            </a:pPr>
            <a:r>
              <a:rPr lang="en-US" sz="1050" dirty="0">
                <a:solidFill>
                  <a:srgbClr val="4F5052"/>
                </a:solidFill>
                <a:latin typeface="Arimo" pitchFamily="34" charset="0"/>
                <a:ea typeface="Arimo" pitchFamily="34" charset="-122"/>
                <a:cs typeface="Arimo" pitchFamily="34" charset="-120"/>
              </a:rPr>
              <a:t>Inner Singlet: 2 Pack Rp 199.000, 4 Pack Rp 349.000. Crewneck T: 2 Pack Rp 249.000, 4 Pack Rp 479.000.</a:t>
            </a:r>
            <a:endParaRPr lang="en-US" sz="1050" dirty="0"/>
          </a:p>
        </p:txBody>
      </p:sp>
      <p:sp>
        <p:nvSpPr>
          <p:cNvPr id="11" name="Shape 8"/>
          <p:cNvSpPr/>
          <p:nvPr/>
        </p:nvSpPr>
        <p:spPr>
          <a:xfrm>
            <a:off x="7315200" y="2148840"/>
            <a:ext cx="4236690" cy="3977640"/>
          </a:xfrm>
          <a:prstGeom prst="roundRect">
            <a:avLst>
              <a:gd name="adj" fmla="val 1839"/>
            </a:avLst>
          </a:prstGeom>
          <a:solidFill>
            <a:srgbClr val="282828"/>
          </a:solidFill>
          <a:ln w="12700">
            <a:solidFill>
              <a:srgbClr val="282828"/>
            </a:solidFill>
            <a:prstDash val="solid"/>
          </a:ln>
        </p:spPr>
      </p:sp>
      <p:pic>
        <p:nvPicPr>
          <p:cNvPr id="12" name="Image 0" descr="/home/user/Dom-Manipulation/toni-black/product-knowledge/source/img/kids.png">    </p:cNvPr>
          <p:cNvPicPr>
            <a:picLocks noChangeAspect="1"/>
          </p:cNvPicPr>
          <p:nvPr/>
        </p:nvPicPr>
        <p:blipFill>
          <a:blip r:embed="rId1"/>
          <a:stretch>
            <a:fillRect/>
          </a:stretch>
        </p:blipFill>
        <p:spPr>
          <a:xfrm>
            <a:off x="7924785" y="2377440"/>
            <a:ext cx="3017520" cy="2103120"/>
          </a:xfrm>
          <a:prstGeom prst="rect">
            <a:avLst/>
          </a:prstGeom>
        </p:spPr>
      </p:pic>
      <p:sp>
        <p:nvSpPr>
          <p:cNvPr id="13" name="Text 9"/>
          <p:cNvSpPr/>
          <p:nvPr/>
        </p:nvSpPr>
        <p:spPr>
          <a:xfrm>
            <a:off x="7607808" y="4645152"/>
            <a:ext cx="3651474"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KIDS</a:t>
            </a:r>
            <a:endParaRPr lang="en-US" sz="950" dirty="0"/>
          </a:p>
        </p:txBody>
      </p:sp>
      <p:sp>
        <p:nvSpPr>
          <p:cNvPr id="14" name="Text 10"/>
          <p:cNvSpPr/>
          <p:nvPr/>
        </p:nvSpPr>
        <p:spPr>
          <a:xfrm>
            <a:off x="7607808" y="4919472"/>
            <a:ext cx="3651474" cy="438912"/>
          </a:xfrm>
          <a:prstGeom prst="rect">
            <a:avLst/>
          </a:prstGeom>
          <a:noFill/>
          <a:ln/>
        </p:spPr>
        <p:txBody>
          <a:bodyPr wrap="square" lIns="0" tIns="0" rIns="0" bIns="0" rtlCol="0" anchor="ctr"/>
          <a:lstStyle/>
          <a:p>
            <a:pPr indent="0" marL="0">
              <a:buNone/>
            </a:pPr>
            <a:r>
              <a:rPr lang="en-US" sz="1900" b="1" dirty="0">
                <a:solidFill>
                  <a:srgbClr val="FFFFFF"/>
                </a:solidFill>
                <a:latin typeface="Zalando Sans Expanded" pitchFamily="34" charset="0"/>
                <a:ea typeface="Zalando Sans Expanded" pitchFamily="34" charset="-122"/>
                <a:cs typeface="Zalando Sans Expanded" pitchFamily="34" charset="-120"/>
              </a:rPr>
              <a:t>Boys</a:t>
            </a:r>
            <a:endParaRPr lang="en-US" sz="1900" dirty="0"/>
          </a:p>
        </p:txBody>
      </p:sp>
      <p:sp>
        <p:nvSpPr>
          <p:cNvPr id="15" name="Text 11"/>
          <p:cNvSpPr/>
          <p:nvPr/>
        </p:nvSpPr>
        <p:spPr>
          <a:xfrm>
            <a:off x="7607808" y="5413248"/>
            <a:ext cx="3651474" cy="640080"/>
          </a:xfrm>
          <a:prstGeom prst="rect">
            <a:avLst/>
          </a:prstGeom>
          <a:noFill/>
          <a:ln/>
        </p:spPr>
        <p:txBody>
          <a:bodyPr wrap="square" lIns="0" tIns="0" rIns="0" bIns="0" rtlCol="0" anchor="t"/>
          <a:lstStyle/>
          <a:p>
            <a:pPr indent="0" marL="0">
              <a:lnSpc>
                <a:spcPts val="1523"/>
              </a:lnSpc>
              <a:buNone/>
            </a:pPr>
            <a:r>
              <a:rPr lang="en-US" sz="1050" dirty="0">
                <a:solidFill>
                  <a:srgbClr val="CCCCCC"/>
                </a:solidFill>
                <a:latin typeface="Arimo" pitchFamily="34" charset="0"/>
                <a:ea typeface="Arimo" pitchFamily="34" charset="-122"/>
                <a:cs typeface="Arimo" pitchFamily="34" charset="-120"/>
              </a:rPr>
              <a:t>Brief from Rp 59.900, Boxer Brief from Rp 69.900. Sizes 8, 10, 12 and 14.</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369314"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369314"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07   Fit Lab</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4937760" cy="1298448"/>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Two inputs.</a:t>
            </a:r>
            <a:endParaRPr lang="en-US" sz="3000" dirty="0"/>
          </a:p>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One answer.</a:t>
            </a:r>
            <a:endParaRPr lang="en-US" sz="3000" dirty="0"/>
          </a:p>
        </p:txBody>
      </p:sp>
      <p:sp>
        <p:nvSpPr>
          <p:cNvPr id="6" name="Text 4"/>
          <p:cNvSpPr/>
          <p:nvPr/>
        </p:nvSpPr>
        <p:spPr>
          <a:xfrm>
            <a:off x="640080" y="2606040"/>
            <a:ext cx="5760720" cy="2011680"/>
          </a:xfrm>
          <a:prstGeom prst="rect">
            <a:avLst/>
          </a:prstGeom>
          <a:noFill/>
          <a:ln/>
        </p:spPr>
        <p:txBody>
          <a:bodyPr wrap="square" lIns="0" tIns="0" rIns="0" bIns="0" rtlCol="0" anchor="t"/>
          <a:lstStyle/>
          <a:p>
            <a:pPr indent="0" marL="0">
              <a:lnSpc>
                <a:spcPts val="1668"/>
              </a:lnSpc>
              <a:buNone/>
            </a:pPr>
            <a:r>
              <a:rPr lang="en-US" sz="1150" dirty="0">
                <a:solidFill>
                  <a:srgbClr val="4F5052"/>
                </a:solidFill>
                <a:latin typeface="Arimo" pitchFamily="34" charset="0"/>
                <a:ea typeface="Arimo" pitchFamily="34" charset="-122"/>
                <a:cs typeface="Arimo" pitchFamily="34" charset="-120"/>
              </a:rPr>
              <a:t>Fit Lab is built on real garment measurements and real bodies. Enter height and weight, and it returns one size — calibrated against Toni Black's own garments and customer fit tests.</a:t>
            </a:r>
            <a:endParaRPr lang="en-US" sz="1150" dirty="0"/>
          </a:p>
          <a:p>
            <a:pPr indent="0" marL="0">
              <a:lnSpc>
                <a:spcPts val="1668"/>
              </a:lnSpc>
              <a:buNone/>
            </a:pPr>
            <a:endParaRPr lang="en-US" sz="1150" dirty="0"/>
          </a:p>
          <a:p>
            <a:pPr indent="0" marL="0">
              <a:lnSpc>
                <a:spcPts val="1668"/>
              </a:lnSpc>
              <a:buNone/>
            </a:pPr>
            <a:r>
              <a:rPr lang="en-US" sz="1150" dirty="0">
                <a:solidFill>
                  <a:srgbClr val="4F5052"/>
                </a:solidFill>
                <a:latin typeface="Arimo" pitchFamily="34" charset="0"/>
                <a:ea typeface="Arimo" pitchFamily="34" charset="-122"/>
                <a:cs typeface="Arimo" pitchFamily="34" charset="-120"/>
              </a:rPr>
              <a:t>The waistband has high stretch and full recovery, so the answer holds.</a:t>
            </a:r>
            <a:endParaRPr lang="en-US" sz="1150" dirty="0"/>
          </a:p>
        </p:txBody>
      </p:sp>
      <p:sp>
        <p:nvSpPr>
          <p:cNvPr id="7" name="Shape 5"/>
          <p:cNvSpPr/>
          <p:nvPr/>
        </p:nvSpPr>
        <p:spPr>
          <a:xfrm>
            <a:off x="640080" y="4846320"/>
            <a:ext cx="2770632" cy="1051560"/>
          </a:xfrm>
          <a:prstGeom prst="roundRect">
            <a:avLst>
              <a:gd name="adj" fmla="val 6957"/>
            </a:avLst>
          </a:prstGeom>
          <a:solidFill>
            <a:srgbClr val="F2F2F3"/>
          </a:solidFill>
          <a:ln w="12700">
            <a:solidFill>
              <a:srgbClr val="F2F2F3"/>
            </a:solidFill>
            <a:prstDash val="solid"/>
          </a:ln>
        </p:spPr>
      </p:sp>
      <p:sp>
        <p:nvSpPr>
          <p:cNvPr id="8" name="Text 6"/>
          <p:cNvSpPr/>
          <p:nvPr/>
        </p:nvSpPr>
        <p:spPr>
          <a:xfrm>
            <a:off x="877824" y="5001768"/>
            <a:ext cx="2295144"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INPUTS</a:t>
            </a:r>
            <a:endParaRPr lang="en-US" sz="950" dirty="0"/>
          </a:p>
        </p:txBody>
      </p:sp>
      <p:sp>
        <p:nvSpPr>
          <p:cNvPr id="9" name="Text 7"/>
          <p:cNvSpPr/>
          <p:nvPr/>
        </p:nvSpPr>
        <p:spPr>
          <a:xfrm>
            <a:off x="877824" y="5230368"/>
            <a:ext cx="2295144" cy="594360"/>
          </a:xfrm>
          <a:prstGeom prst="rect">
            <a:avLst/>
          </a:prstGeom>
          <a:noFill/>
          <a:ln/>
        </p:spPr>
        <p:txBody>
          <a:bodyPr wrap="square" lIns="0" tIns="0" rIns="0" bIns="0" rtlCol="0" anchor="ctr"/>
          <a:lstStyle/>
          <a:p>
            <a:pPr indent="0" marL="0">
              <a:buNone/>
            </a:pPr>
            <a:r>
              <a:rPr lang="en-US" sz="1500" b="1" dirty="0">
                <a:solidFill>
                  <a:srgbClr val="282828"/>
                </a:solidFill>
                <a:latin typeface="Zalando Sans Expanded" pitchFamily="34" charset="0"/>
                <a:ea typeface="Zalando Sans Expanded" pitchFamily="34" charset="-122"/>
                <a:cs typeface="Zalando Sans Expanded" pitchFamily="34" charset="-120"/>
              </a:rPr>
              <a:t>Height + weight</a:t>
            </a:r>
            <a:endParaRPr lang="en-US" sz="1500" dirty="0"/>
          </a:p>
        </p:txBody>
      </p:sp>
      <p:sp>
        <p:nvSpPr>
          <p:cNvPr id="10" name="Shape 8"/>
          <p:cNvSpPr/>
          <p:nvPr/>
        </p:nvSpPr>
        <p:spPr>
          <a:xfrm>
            <a:off x="3630168" y="4846320"/>
            <a:ext cx="2770632" cy="1051560"/>
          </a:xfrm>
          <a:prstGeom prst="roundRect">
            <a:avLst>
              <a:gd name="adj" fmla="val 6957"/>
            </a:avLst>
          </a:prstGeom>
          <a:solidFill>
            <a:srgbClr val="282828"/>
          </a:solidFill>
          <a:ln w="12700">
            <a:solidFill>
              <a:srgbClr val="282828"/>
            </a:solidFill>
            <a:prstDash val="solid"/>
          </a:ln>
        </p:spPr>
      </p:sp>
      <p:sp>
        <p:nvSpPr>
          <p:cNvPr id="11" name="Text 9"/>
          <p:cNvSpPr/>
          <p:nvPr/>
        </p:nvSpPr>
        <p:spPr>
          <a:xfrm>
            <a:off x="3867912" y="5001768"/>
            <a:ext cx="2295144"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SIZES</a:t>
            </a:r>
            <a:endParaRPr lang="en-US" sz="950" dirty="0"/>
          </a:p>
        </p:txBody>
      </p:sp>
      <p:sp>
        <p:nvSpPr>
          <p:cNvPr id="12" name="Text 10"/>
          <p:cNvSpPr/>
          <p:nvPr/>
        </p:nvSpPr>
        <p:spPr>
          <a:xfrm>
            <a:off x="3867912" y="5230368"/>
            <a:ext cx="2295144" cy="594360"/>
          </a:xfrm>
          <a:prstGeom prst="rect">
            <a:avLst/>
          </a:prstGeom>
          <a:noFill/>
          <a:ln/>
        </p:spPr>
        <p:txBody>
          <a:bodyPr wrap="square" lIns="0" tIns="0" rIns="0" bIns="0" rtlCol="0" anchor="ctr"/>
          <a:lstStyle/>
          <a:p>
            <a:pPr indent="0" marL="0">
              <a:buNone/>
            </a:pPr>
            <a:r>
              <a:rPr lang="en-US" sz="1500" b="1" dirty="0">
                <a:solidFill>
                  <a:srgbClr val="FFFFFF"/>
                </a:solidFill>
                <a:latin typeface="Zalando Sans Expanded" pitchFamily="34" charset="0"/>
                <a:ea typeface="Zalando Sans Expanded" pitchFamily="34" charset="-122"/>
                <a:cs typeface="Zalando Sans Expanded" pitchFamily="34" charset="-120"/>
              </a:rPr>
              <a:t>S – 3XL</a:t>
            </a:r>
            <a:endParaRPr lang="en-US" sz="1500" dirty="0"/>
          </a:p>
        </p:txBody>
      </p:sp>
      <p:pic>
        <p:nvPicPr>
          <p:cNvPr id="13" name="Image 0" descr="/home/user/Dom-Manipulation/toni-black/product-knowledge/source/img/fitlab.png">    </p:cNvPr>
          <p:cNvPicPr>
            <a:picLocks noChangeAspect="1"/>
          </p:cNvPicPr>
          <p:nvPr/>
        </p:nvPicPr>
        <p:blipFill>
          <a:blip r:embed="rId1"/>
          <a:stretch>
            <a:fillRect/>
          </a:stretch>
        </p:blipFill>
        <p:spPr>
          <a:xfrm>
            <a:off x="6934170" y="1920240"/>
            <a:ext cx="4617720" cy="3017520"/>
          </a:xfrm>
          <a:prstGeom prst="rect">
            <a:avLst/>
          </a:prstGeom>
        </p:spPr>
      </p:pic>
      <p:sp>
        <p:nvSpPr>
          <p:cNvPr id="14" name="Shape 11"/>
          <p:cNvSpPr/>
          <p:nvPr/>
        </p:nvSpPr>
        <p:spPr>
          <a:xfrm>
            <a:off x="6934170" y="5138928"/>
            <a:ext cx="4617720" cy="868680"/>
          </a:xfrm>
          <a:prstGeom prst="roundRect">
            <a:avLst>
              <a:gd name="adj" fmla="val 8421"/>
            </a:avLst>
          </a:prstGeom>
          <a:solidFill>
            <a:srgbClr val="F2F2F3"/>
          </a:solidFill>
          <a:ln w="12700">
            <a:solidFill>
              <a:srgbClr val="F2F2F3"/>
            </a:solidFill>
            <a:prstDash val="solid"/>
          </a:ln>
        </p:spPr>
      </p:sp>
      <p:sp>
        <p:nvSpPr>
          <p:cNvPr id="15" name="Text 12"/>
          <p:cNvSpPr/>
          <p:nvPr/>
        </p:nvSpPr>
        <p:spPr>
          <a:xfrm>
            <a:off x="7226778" y="5138928"/>
            <a:ext cx="4032504" cy="868680"/>
          </a:xfrm>
          <a:prstGeom prst="rect">
            <a:avLst/>
          </a:prstGeom>
          <a:noFill/>
          <a:ln/>
        </p:spPr>
        <p:txBody>
          <a:bodyPr wrap="square" lIns="0" tIns="0" rIns="0" bIns="0" rtlCol="0" anchor="ctr"/>
          <a:lstStyle/>
          <a:p>
            <a:pPr indent="0" marL="0">
              <a:buNone/>
            </a:pPr>
            <a:r>
              <a:rPr lang="en-US" sz="1150" dirty="0">
                <a:solidFill>
                  <a:srgbClr val="282828"/>
                </a:solidFill>
                <a:latin typeface="Arimo" pitchFamily="34" charset="0"/>
                <a:ea typeface="Arimo" pitchFamily="34" charset="-122"/>
                <a:cs typeface="Arimo" pitchFamily="34" charset="-120"/>
              </a:rPr>
              <a:t>Between two sizes, most customers take the smaller one.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303934"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303934"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08   Sizing</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How a customer finds their size</a:t>
            </a:r>
            <a:endParaRPr lang="en-US" sz="3000" dirty="0"/>
          </a:p>
        </p:txBody>
      </p:sp>
      <p:sp>
        <p:nvSpPr>
          <p:cNvPr id="6" name="Shape 4"/>
          <p:cNvSpPr/>
          <p:nvPr/>
        </p:nvSpPr>
        <p:spPr>
          <a:xfrm>
            <a:off x="640080" y="2148840"/>
            <a:ext cx="3478774" cy="2331720"/>
          </a:xfrm>
          <a:prstGeom prst="roundRect">
            <a:avLst>
              <a:gd name="adj" fmla="val 3137"/>
            </a:avLst>
          </a:prstGeom>
          <a:solidFill>
            <a:srgbClr val="282828"/>
          </a:solidFill>
          <a:ln w="12700">
            <a:solidFill>
              <a:srgbClr val="282828"/>
            </a:solidFill>
            <a:prstDash val="solid"/>
          </a:ln>
        </p:spPr>
      </p:sp>
      <p:sp>
        <p:nvSpPr>
          <p:cNvPr id="7" name="Text 5"/>
          <p:cNvSpPr/>
          <p:nvPr/>
        </p:nvSpPr>
        <p:spPr>
          <a:xfrm>
            <a:off x="932688" y="2377440"/>
            <a:ext cx="1097280" cy="566928"/>
          </a:xfrm>
          <a:prstGeom prst="rect">
            <a:avLst/>
          </a:prstGeom>
          <a:noFill/>
          <a:ln/>
        </p:spPr>
        <p:txBody>
          <a:bodyPr wrap="square" lIns="0" tIns="0" rIns="0" bIns="0" rtlCol="0" anchor="ctr"/>
          <a:lstStyle/>
          <a:p>
            <a:pPr indent="0" marL="0">
              <a:buNone/>
            </a:pPr>
            <a:r>
              <a:rPr lang="en-US" sz="2600" b="1" dirty="0">
                <a:solidFill>
                  <a:srgbClr val="FFFFFF"/>
                </a:solidFill>
                <a:latin typeface="Zalando Sans Expanded" pitchFamily="34" charset="0"/>
                <a:ea typeface="Zalando Sans Expanded" pitchFamily="34" charset="-122"/>
                <a:cs typeface="Zalando Sans Expanded" pitchFamily="34" charset="-120"/>
              </a:rPr>
              <a:t>01</a:t>
            </a:r>
            <a:endParaRPr lang="en-US" sz="2600" dirty="0"/>
          </a:p>
        </p:txBody>
      </p:sp>
      <p:sp>
        <p:nvSpPr>
          <p:cNvPr id="8" name="Text 6"/>
          <p:cNvSpPr/>
          <p:nvPr/>
        </p:nvSpPr>
        <p:spPr>
          <a:xfrm>
            <a:off x="932688" y="3035808"/>
            <a:ext cx="2893558" cy="512064"/>
          </a:xfrm>
          <a:prstGeom prst="rect">
            <a:avLst/>
          </a:prstGeom>
          <a:noFill/>
          <a:ln/>
        </p:spPr>
        <p:txBody>
          <a:bodyPr wrap="square" lIns="0" tIns="0" rIns="0" bIns="0" rtlCol="0" anchor="ctr"/>
          <a:lstStyle/>
          <a:p>
            <a:pPr indent="0" marL="0">
              <a:buNone/>
            </a:pPr>
            <a:r>
              <a:rPr lang="en-US" sz="1500" b="1" dirty="0">
                <a:solidFill>
                  <a:srgbClr val="FFFFFF"/>
                </a:solidFill>
                <a:latin typeface="Zalando Sans Expanded" pitchFamily="34" charset="0"/>
                <a:ea typeface="Zalando Sans Expanded" pitchFamily="34" charset="-122"/>
                <a:cs typeface="Zalando Sans Expanded" pitchFamily="34" charset="-120"/>
              </a:rPr>
              <a:t>Open Fit Lab</a:t>
            </a:r>
            <a:endParaRPr lang="en-US" sz="1500" dirty="0"/>
          </a:p>
        </p:txBody>
      </p:sp>
      <p:sp>
        <p:nvSpPr>
          <p:cNvPr id="9" name="Text 7"/>
          <p:cNvSpPr/>
          <p:nvPr/>
        </p:nvSpPr>
        <p:spPr>
          <a:xfrm>
            <a:off x="932688" y="3602736"/>
            <a:ext cx="2893558" cy="731520"/>
          </a:xfrm>
          <a:prstGeom prst="rect">
            <a:avLst/>
          </a:prstGeom>
          <a:noFill/>
          <a:ln/>
        </p:spPr>
        <p:txBody>
          <a:bodyPr wrap="square" lIns="0" tIns="0" rIns="0" bIns="0" rtlCol="0" anchor="t"/>
          <a:lstStyle/>
          <a:p>
            <a:pPr indent="0" marL="0">
              <a:lnSpc>
                <a:spcPts val="1523"/>
              </a:lnSpc>
              <a:buNone/>
            </a:pPr>
            <a:r>
              <a:rPr lang="en-US" sz="1050" dirty="0">
                <a:solidFill>
                  <a:srgbClr val="CCCCCC"/>
                </a:solidFill>
                <a:latin typeface="Arimo" pitchFamily="34" charset="0"/>
                <a:ea typeface="Arimo" pitchFamily="34" charset="-122"/>
                <a:cs typeface="Arimo" pitchFamily="34" charset="-120"/>
              </a:rPr>
              <a:t>On toni.black, under Sizing Guide. No tape measure needed.</a:t>
            </a:r>
            <a:endParaRPr lang="en-US" sz="1050" dirty="0"/>
          </a:p>
        </p:txBody>
      </p:sp>
      <p:sp>
        <p:nvSpPr>
          <p:cNvPr id="10" name="Shape 8"/>
          <p:cNvSpPr/>
          <p:nvPr/>
        </p:nvSpPr>
        <p:spPr>
          <a:xfrm>
            <a:off x="4356598" y="2148840"/>
            <a:ext cx="3478774" cy="2331720"/>
          </a:xfrm>
          <a:prstGeom prst="roundRect">
            <a:avLst>
              <a:gd name="adj" fmla="val 3137"/>
            </a:avLst>
          </a:prstGeom>
          <a:solidFill>
            <a:srgbClr val="F2F2F3"/>
          </a:solidFill>
          <a:ln w="12700">
            <a:solidFill>
              <a:srgbClr val="F2F2F3"/>
            </a:solidFill>
            <a:prstDash val="solid"/>
          </a:ln>
        </p:spPr>
      </p:sp>
      <p:sp>
        <p:nvSpPr>
          <p:cNvPr id="11" name="Text 9"/>
          <p:cNvSpPr/>
          <p:nvPr/>
        </p:nvSpPr>
        <p:spPr>
          <a:xfrm>
            <a:off x="4649206" y="2377440"/>
            <a:ext cx="1097280" cy="566928"/>
          </a:xfrm>
          <a:prstGeom prst="rect">
            <a:avLst/>
          </a:prstGeom>
          <a:noFill/>
          <a:ln/>
        </p:spPr>
        <p:txBody>
          <a:bodyPr wrap="square" lIns="0" tIns="0" rIns="0" bIns="0" rtlCol="0" anchor="ctr"/>
          <a:lstStyle/>
          <a:p>
            <a:pPr indent="0" marL="0">
              <a:buNone/>
            </a:pPr>
            <a:r>
              <a:rPr lang="en-US" sz="2600" b="1" dirty="0">
                <a:solidFill>
                  <a:srgbClr val="282828"/>
                </a:solidFill>
                <a:latin typeface="Zalando Sans Expanded" pitchFamily="34" charset="0"/>
                <a:ea typeface="Zalando Sans Expanded" pitchFamily="34" charset="-122"/>
                <a:cs typeface="Zalando Sans Expanded" pitchFamily="34" charset="-120"/>
              </a:rPr>
              <a:t>02</a:t>
            </a:r>
            <a:endParaRPr lang="en-US" sz="2600" dirty="0"/>
          </a:p>
        </p:txBody>
      </p:sp>
      <p:sp>
        <p:nvSpPr>
          <p:cNvPr id="12" name="Text 10"/>
          <p:cNvSpPr/>
          <p:nvPr/>
        </p:nvSpPr>
        <p:spPr>
          <a:xfrm>
            <a:off x="4649206" y="3035808"/>
            <a:ext cx="2893558" cy="512064"/>
          </a:xfrm>
          <a:prstGeom prst="rect">
            <a:avLst/>
          </a:prstGeom>
          <a:noFill/>
          <a:ln/>
        </p:spPr>
        <p:txBody>
          <a:bodyPr wrap="square" lIns="0" tIns="0" rIns="0" bIns="0" rtlCol="0" anchor="ctr"/>
          <a:lstStyle/>
          <a:p>
            <a:pPr indent="0" marL="0">
              <a:buNone/>
            </a:pPr>
            <a:r>
              <a:rPr lang="en-US" sz="1500" b="1" dirty="0">
                <a:solidFill>
                  <a:srgbClr val="282828"/>
                </a:solidFill>
                <a:latin typeface="Zalando Sans Expanded" pitchFamily="34" charset="0"/>
                <a:ea typeface="Zalando Sans Expanded" pitchFamily="34" charset="-122"/>
                <a:cs typeface="Zalando Sans Expanded" pitchFamily="34" charset="-120"/>
              </a:rPr>
              <a:t>Enter height and weight</a:t>
            </a:r>
            <a:endParaRPr lang="en-US" sz="1500" dirty="0"/>
          </a:p>
        </p:txBody>
      </p:sp>
      <p:sp>
        <p:nvSpPr>
          <p:cNvPr id="13" name="Text 11"/>
          <p:cNvSpPr/>
          <p:nvPr/>
        </p:nvSpPr>
        <p:spPr>
          <a:xfrm>
            <a:off x="4649206" y="3602736"/>
            <a:ext cx="2893558" cy="73152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Two inputs. Nothing else to fill in.</a:t>
            </a:r>
            <a:endParaRPr lang="en-US" sz="1050" dirty="0"/>
          </a:p>
        </p:txBody>
      </p:sp>
      <p:sp>
        <p:nvSpPr>
          <p:cNvPr id="14" name="Shape 12"/>
          <p:cNvSpPr/>
          <p:nvPr/>
        </p:nvSpPr>
        <p:spPr>
          <a:xfrm>
            <a:off x="8073116" y="2148840"/>
            <a:ext cx="3478774" cy="2331720"/>
          </a:xfrm>
          <a:prstGeom prst="roundRect">
            <a:avLst>
              <a:gd name="adj" fmla="val 3137"/>
            </a:avLst>
          </a:prstGeom>
          <a:solidFill>
            <a:srgbClr val="F2F2F3"/>
          </a:solidFill>
          <a:ln w="12700">
            <a:solidFill>
              <a:srgbClr val="F2F2F3"/>
            </a:solidFill>
            <a:prstDash val="solid"/>
          </a:ln>
        </p:spPr>
      </p:sp>
      <p:sp>
        <p:nvSpPr>
          <p:cNvPr id="15" name="Text 13"/>
          <p:cNvSpPr/>
          <p:nvPr/>
        </p:nvSpPr>
        <p:spPr>
          <a:xfrm>
            <a:off x="8365724" y="2377440"/>
            <a:ext cx="1097280" cy="566928"/>
          </a:xfrm>
          <a:prstGeom prst="rect">
            <a:avLst/>
          </a:prstGeom>
          <a:noFill/>
          <a:ln/>
        </p:spPr>
        <p:txBody>
          <a:bodyPr wrap="square" lIns="0" tIns="0" rIns="0" bIns="0" rtlCol="0" anchor="ctr"/>
          <a:lstStyle/>
          <a:p>
            <a:pPr indent="0" marL="0">
              <a:buNone/>
            </a:pPr>
            <a:r>
              <a:rPr lang="en-US" sz="2600" b="1" dirty="0">
                <a:solidFill>
                  <a:srgbClr val="282828"/>
                </a:solidFill>
                <a:latin typeface="Zalando Sans Expanded" pitchFamily="34" charset="0"/>
                <a:ea typeface="Zalando Sans Expanded" pitchFamily="34" charset="-122"/>
                <a:cs typeface="Zalando Sans Expanded" pitchFamily="34" charset="-120"/>
              </a:rPr>
              <a:t>03</a:t>
            </a:r>
            <a:endParaRPr lang="en-US" sz="2600" dirty="0"/>
          </a:p>
        </p:txBody>
      </p:sp>
      <p:sp>
        <p:nvSpPr>
          <p:cNvPr id="16" name="Text 14"/>
          <p:cNvSpPr/>
          <p:nvPr/>
        </p:nvSpPr>
        <p:spPr>
          <a:xfrm>
            <a:off x="8365724" y="3035808"/>
            <a:ext cx="2893558" cy="512064"/>
          </a:xfrm>
          <a:prstGeom prst="rect">
            <a:avLst/>
          </a:prstGeom>
          <a:noFill/>
          <a:ln/>
        </p:spPr>
        <p:txBody>
          <a:bodyPr wrap="square" lIns="0" tIns="0" rIns="0" bIns="0" rtlCol="0" anchor="ctr"/>
          <a:lstStyle/>
          <a:p>
            <a:pPr indent="0" marL="0">
              <a:buNone/>
            </a:pPr>
            <a:r>
              <a:rPr lang="en-US" sz="1500" b="1" dirty="0">
                <a:solidFill>
                  <a:srgbClr val="282828"/>
                </a:solidFill>
                <a:latin typeface="Zalando Sans Expanded" pitchFamily="34" charset="0"/>
                <a:ea typeface="Zalando Sans Expanded" pitchFamily="34" charset="-122"/>
                <a:cs typeface="Zalando Sans Expanded" pitchFamily="34" charset="-120"/>
              </a:rPr>
              <a:t>Take the answer</a:t>
            </a:r>
            <a:endParaRPr lang="en-US" sz="1500" dirty="0"/>
          </a:p>
        </p:txBody>
      </p:sp>
      <p:sp>
        <p:nvSpPr>
          <p:cNvPr id="17" name="Text 15"/>
          <p:cNvSpPr/>
          <p:nvPr/>
        </p:nvSpPr>
        <p:spPr>
          <a:xfrm>
            <a:off x="8365724" y="3602736"/>
            <a:ext cx="2893558" cy="73152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One size back. Between two, most customers take the smaller.</a:t>
            </a:r>
            <a:endParaRPr lang="en-US" sz="1050" dirty="0"/>
          </a:p>
        </p:txBody>
      </p:sp>
      <p:sp>
        <p:nvSpPr>
          <p:cNvPr id="18" name="Shape 16"/>
          <p:cNvSpPr/>
          <p:nvPr/>
        </p:nvSpPr>
        <p:spPr>
          <a:xfrm>
            <a:off x="640080" y="4736592"/>
            <a:ext cx="10911810" cy="1389888"/>
          </a:xfrm>
          <a:prstGeom prst="roundRect">
            <a:avLst>
              <a:gd name="adj" fmla="val 5263"/>
            </a:avLst>
          </a:prstGeom>
          <a:solidFill>
            <a:srgbClr val="F2F2F3"/>
          </a:solidFill>
          <a:ln w="12700">
            <a:solidFill>
              <a:srgbClr val="F2F2F3"/>
            </a:solidFill>
            <a:prstDash val="solid"/>
          </a:ln>
        </p:spPr>
      </p:sp>
      <p:sp>
        <p:nvSpPr>
          <p:cNvPr id="19" name="Text 17"/>
          <p:cNvSpPr/>
          <p:nvPr/>
        </p:nvSpPr>
        <p:spPr>
          <a:xfrm>
            <a:off x="950976" y="4956048"/>
            <a:ext cx="5486400"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WHEN THE ANSWER IS WRONG</a:t>
            </a:r>
            <a:endParaRPr lang="en-US" sz="950" dirty="0"/>
          </a:p>
        </p:txBody>
      </p:sp>
      <p:sp>
        <p:nvSpPr>
          <p:cNvPr id="20" name="Text 18"/>
          <p:cNvSpPr/>
          <p:nvPr/>
        </p:nvSpPr>
        <p:spPr>
          <a:xfrm>
            <a:off x="950976" y="5248656"/>
            <a:ext cx="10290018" cy="731520"/>
          </a:xfrm>
          <a:prstGeom prst="rect">
            <a:avLst/>
          </a:prstGeom>
          <a:noFill/>
          <a:ln/>
        </p:spPr>
        <p:txBody>
          <a:bodyPr wrap="square" lIns="0" tIns="0" rIns="0" bIns="0" rtlCol="0" anchor="t"/>
          <a:lstStyle/>
          <a:p>
            <a:pPr indent="0" marL="0">
              <a:lnSpc>
                <a:spcPts val="1595"/>
              </a:lnSpc>
              <a:buNone/>
            </a:pPr>
            <a:r>
              <a:rPr lang="en-US" sz="1100" dirty="0">
                <a:solidFill>
                  <a:srgbClr val="4F5052"/>
                </a:solidFill>
                <a:latin typeface="Arimo" pitchFamily="34" charset="0"/>
                <a:ea typeface="Arimo" pitchFamily="34" charset="-122"/>
                <a:cs typeface="Arimo" pitchFamily="34" charset="-120"/>
              </a:rPr>
              <a:t>The First Pair Guarantee covers it. If the first pair misses on fit, comfort or quality, the customer contacts support within the guarantee period. One claim per customer, item unworn and unwashed.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676552"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676552"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09   Waistband</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The part you feel all day</a:t>
            </a:r>
            <a:endParaRPr lang="en-US" sz="3000" dirty="0"/>
          </a:p>
        </p:txBody>
      </p:sp>
      <p:pic>
        <p:nvPicPr>
          <p:cNvPr id="6" name="Image 0" descr="/home/user/Dom-Manipulation/toni-black/product-knowledge/source/img/band.png">    </p:cNvPr>
          <p:cNvPicPr>
            <a:picLocks noChangeAspect="1"/>
          </p:cNvPicPr>
          <p:nvPr/>
        </p:nvPicPr>
        <p:blipFill>
          <a:blip r:embed="rId1"/>
          <a:stretch>
            <a:fillRect/>
          </a:stretch>
        </p:blipFill>
        <p:spPr>
          <a:xfrm>
            <a:off x="640080" y="1965960"/>
            <a:ext cx="2651760" cy="4069080"/>
          </a:xfrm>
          <a:prstGeom prst="rect">
            <a:avLst/>
          </a:prstGeom>
        </p:spPr>
      </p:pic>
      <p:sp>
        <p:nvSpPr>
          <p:cNvPr id="7" name="Text 4"/>
          <p:cNvSpPr/>
          <p:nvPr/>
        </p:nvSpPr>
        <p:spPr>
          <a:xfrm>
            <a:off x="3703320" y="1965960"/>
            <a:ext cx="7848570" cy="566928"/>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The waistband is one of the most important parts of underwear.</a:t>
            </a:r>
            <a:endParaRPr lang="en-US" sz="1600" dirty="0"/>
          </a:p>
        </p:txBody>
      </p:sp>
      <p:sp>
        <p:nvSpPr>
          <p:cNvPr id="8" name="Shape 5"/>
          <p:cNvSpPr/>
          <p:nvPr/>
        </p:nvSpPr>
        <p:spPr>
          <a:xfrm>
            <a:off x="3703320" y="2912364"/>
            <a:ext cx="128016" cy="27432"/>
          </a:xfrm>
          <a:prstGeom prst="rect">
            <a:avLst/>
          </a:prstGeom>
          <a:solidFill>
            <a:srgbClr val="818284"/>
          </a:solidFill>
          <a:ln w="12700">
            <a:solidFill>
              <a:srgbClr val="818284"/>
            </a:solidFill>
            <a:prstDash val="solid"/>
          </a:ln>
        </p:spPr>
      </p:sp>
      <p:sp>
        <p:nvSpPr>
          <p:cNvPr id="9" name="Text 6"/>
          <p:cNvSpPr/>
          <p:nvPr/>
        </p:nvSpPr>
        <p:spPr>
          <a:xfrm>
            <a:off x="3977640" y="2788920"/>
            <a:ext cx="3521949"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Smooth elastic feel</a:t>
            </a:r>
            <a:endParaRPr lang="en-US" sz="1100" dirty="0"/>
          </a:p>
        </p:txBody>
      </p:sp>
      <p:sp>
        <p:nvSpPr>
          <p:cNvPr id="10" name="Shape 7"/>
          <p:cNvSpPr/>
          <p:nvPr/>
        </p:nvSpPr>
        <p:spPr>
          <a:xfrm>
            <a:off x="3703320" y="3332988"/>
            <a:ext cx="128016" cy="27432"/>
          </a:xfrm>
          <a:prstGeom prst="rect">
            <a:avLst/>
          </a:prstGeom>
          <a:solidFill>
            <a:srgbClr val="818284"/>
          </a:solidFill>
          <a:ln w="12700">
            <a:solidFill>
              <a:srgbClr val="818284"/>
            </a:solidFill>
            <a:prstDash val="solid"/>
          </a:ln>
        </p:spPr>
      </p:sp>
      <p:sp>
        <p:nvSpPr>
          <p:cNvPr id="11" name="Text 8"/>
          <p:cNvSpPr/>
          <p:nvPr/>
        </p:nvSpPr>
        <p:spPr>
          <a:xfrm>
            <a:off x="3977640" y="3209544"/>
            <a:ext cx="3521949"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Secure hold without harsh pressure</a:t>
            </a:r>
            <a:endParaRPr lang="en-US" sz="1100" dirty="0"/>
          </a:p>
        </p:txBody>
      </p:sp>
      <p:sp>
        <p:nvSpPr>
          <p:cNvPr id="12" name="Shape 9"/>
          <p:cNvSpPr/>
          <p:nvPr/>
        </p:nvSpPr>
        <p:spPr>
          <a:xfrm>
            <a:off x="3703320" y="3753612"/>
            <a:ext cx="128016" cy="27432"/>
          </a:xfrm>
          <a:prstGeom prst="rect">
            <a:avLst/>
          </a:prstGeom>
          <a:solidFill>
            <a:srgbClr val="818284"/>
          </a:solidFill>
          <a:ln w="12700">
            <a:solidFill>
              <a:srgbClr val="818284"/>
            </a:solidFill>
            <a:prstDash val="solid"/>
          </a:ln>
        </p:spPr>
      </p:sp>
      <p:sp>
        <p:nvSpPr>
          <p:cNvPr id="13" name="Text 10"/>
          <p:cNvSpPr/>
          <p:nvPr/>
        </p:nvSpPr>
        <p:spPr>
          <a:xfrm>
            <a:off x="3977640" y="3630168"/>
            <a:ext cx="3521949"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Follows the natural waistline</a:t>
            </a:r>
            <a:endParaRPr lang="en-US" sz="1100" dirty="0"/>
          </a:p>
        </p:txBody>
      </p:sp>
      <p:sp>
        <p:nvSpPr>
          <p:cNvPr id="14" name="Shape 11"/>
          <p:cNvSpPr/>
          <p:nvPr/>
        </p:nvSpPr>
        <p:spPr>
          <a:xfrm>
            <a:off x="7755621" y="2912364"/>
            <a:ext cx="128016" cy="27432"/>
          </a:xfrm>
          <a:prstGeom prst="rect">
            <a:avLst/>
          </a:prstGeom>
          <a:solidFill>
            <a:srgbClr val="818284"/>
          </a:solidFill>
          <a:ln w="12700">
            <a:solidFill>
              <a:srgbClr val="818284"/>
            </a:solidFill>
            <a:prstDash val="solid"/>
          </a:ln>
        </p:spPr>
      </p:sp>
      <p:sp>
        <p:nvSpPr>
          <p:cNvPr id="15" name="Text 12"/>
          <p:cNvSpPr/>
          <p:nvPr/>
        </p:nvSpPr>
        <p:spPr>
          <a:xfrm>
            <a:off x="8029941" y="2788920"/>
            <a:ext cx="3521949"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Built for daily movement</a:t>
            </a:r>
            <a:endParaRPr lang="en-US" sz="1100" dirty="0"/>
          </a:p>
        </p:txBody>
      </p:sp>
      <p:sp>
        <p:nvSpPr>
          <p:cNvPr id="16" name="Shape 13"/>
          <p:cNvSpPr/>
          <p:nvPr/>
        </p:nvSpPr>
        <p:spPr>
          <a:xfrm>
            <a:off x="7755621" y="3332988"/>
            <a:ext cx="128016" cy="27432"/>
          </a:xfrm>
          <a:prstGeom prst="rect">
            <a:avLst/>
          </a:prstGeom>
          <a:solidFill>
            <a:srgbClr val="818284"/>
          </a:solidFill>
          <a:ln w="12700">
            <a:solidFill>
              <a:srgbClr val="818284"/>
            </a:solidFill>
            <a:prstDash val="solid"/>
          </a:ln>
        </p:spPr>
      </p:sp>
      <p:sp>
        <p:nvSpPr>
          <p:cNvPr id="17" name="Text 14"/>
          <p:cNvSpPr/>
          <p:nvPr/>
        </p:nvSpPr>
        <p:spPr>
          <a:xfrm>
            <a:off x="8029941" y="3209544"/>
            <a:ext cx="3521949"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Minimal visual branding, for a cleaner look</a:t>
            </a:r>
            <a:endParaRPr lang="en-US" sz="1100" dirty="0"/>
          </a:p>
        </p:txBody>
      </p:sp>
      <p:sp>
        <p:nvSpPr>
          <p:cNvPr id="18" name="Shape 15"/>
          <p:cNvSpPr/>
          <p:nvPr/>
        </p:nvSpPr>
        <p:spPr>
          <a:xfrm>
            <a:off x="3703320" y="4343400"/>
            <a:ext cx="3796269" cy="1691640"/>
          </a:xfrm>
          <a:prstGeom prst="roundRect">
            <a:avLst>
              <a:gd name="adj" fmla="val 4324"/>
            </a:avLst>
          </a:prstGeom>
          <a:solidFill>
            <a:srgbClr val="282828"/>
          </a:solidFill>
          <a:ln w="12700">
            <a:solidFill>
              <a:srgbClr val="282828"/>
            </a:solidFill>
            <a:prstDash val="solid"/>
          </a:ln>
        </p:spPr>
      </p:sp>
      <p:sp>
        <p:nvSpPr>
          <p:cNvPr id="19" name="Text 16"/>
          <p:cNvSpPr/>
          <p:nvPr/>
        </p:nvSpPr>
        <p:spPr>
          <a:xfrm>
            <a:off x="3995928" y="4343400"/>
            <a:ext cx="3211053" cy="1691640"/>
          </a:xfrm>
          <a:prstGeom prst="rect">
            <a:avLst/>
          </a:prstGeom>
          <a:noFill/>
          <a:ln/>
        </p:spPr>
        <p:txBody>
          <a:bodyPr wrap="square" lIns="0" tIns="0" rIns="0" bIns="0" rtlCol="0" anchor="ctr"/>
          <a:lstStyle/>
          <a:p>
            <a:pPr indent="0" marL="0">
              <a:buNone/>
            </a:pPr>
            <a:r>
              <a:rPr lang="en-US" sz="1150" dirty="0">
                <a:solidFill>
                  <a:srgbClr val="FFFFFF"/>
                </a:solidFill>
                <a:latin typeface="Arimo" pitchFamily="34" charset="0"/>
                <a:ea typeface="Arimo" pitchFamily="34" charset="-122"/>
                <a:cs typeface="Arimo" pitchFamily="34" charset="-120"/>
              </a:rPr>
              <a:t>Less pressure at the waist means a cleaner hold — and less adjusting through the day.</a:t>
            </a:r>
            <a:endParaRPr lang="en-US" sz="1150" dirty="0"/>
          </a:p>
        </p:txBody>
      </p:sp>
      <p:sp>
        <p:nvSpPr>
          <p:cNvPr id="20" name="Shape 17"/>
          <p:cNvSpPr/>
          <p:nvPr/>
        </p:nvSpPr>
        <p:spPr>
          <a:xfrm>
            <a:off x="7755621" y="4343400"/>
            <a:ext cx="3796269" cy="1691640"/>
          </a:xfrm>
          <a:prstGeom prst="roundRect">
            <a:avLst>
              <a:gd name="adj" fmla="val 4324"/>
            </a:avLst>
          </a:prstGeom>
          <a:solidFill>
            <a:srgbClr val="F2F2F3"/>
          </a:solidFill>
          <a:ln w="12700">
            <a:solidFill>
              <a:srgbClr val="F2F2F3"/>
            </a:solidFill>
            <a:prstDash val="solid"/>
          </a:ln>
        </p:spPr>
      </p:sp>
      <p:sp>
        <p:nvSpPr>
          <p:cNvPr id="21" name="Text 18"/>
          <p:cNvSpPr/>
          <p:nvPr/>
        </p:nvSpPr>
        <p:spPr>
          <a:xfrm>
            <a:off x="8048229" y="4590288"/>
            <a:ext cx="3211053"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ON THE LOOSE FIT BOXER</a:t>
            </a:r>
            <a:endParaRPr lang="en-US" sz="950" dirty="0"/>
          </a:p>
        </p:txBody>
      </p:sp>
      <p:sp>
        <p:nvSpPr>
          <p:cNvPr id="22" name="Text 19"/>
          <p:cNvSpPr/>
          <p:nvPr/>
        </p:nvSpPr>
        <p:spPr>
          <a:xfrm>
            <a:off x="8048229" y="4901184"/>
            <a:ext cx="3211053" cy="914400"/>
          </a:xfrm>
          <a:prstGeom prst="rect">
            <a:avLst/>
          </a:prstGeom>
          <a:noFill/>
          <a:ln/>
        </p:spPr>
        <p:txBody>
          <a:bodyPr wrap="square" lIns="0" tIns="0" rIns="0" bIns="0" rtlCol="0" anchor="t"/>
          <a:lstStyle/>
          <a:p>
            <a:pPr indent="0" marL="0">
              <a:lnSpc>
                <a:spcPts val="1595"/>
              </a:lnSpc>
              <a:buNone/>
            </a:pPr>
            <a:r>
              <a:rPr lang="en-US" sz="1100" dirty="0">
                <a:solidFill>
                  <a:srgbClr val="4F5052"/>
                </a:solidFill>
                <a:latin typeface="Arimo" pitchFamily="34" charset="0"/>
                <a:ea typeface="Arimo" pitchFamily="34" charset="-122"/>
                <a:cs typeface="Arimo" pitchFamily="34" charset="-120"/>
              </a:rPr>
              <a:t>FlowLite™ uses a covered soft waistband — no exposed elastic edge at all.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058052"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058052"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10   Use</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Work, workout, rest</a:t>
            </a:r>
            <a:endParaRPr lang="en-US" sz="3000" dirty="0"/>
          </a:p>
        </p:txBody>
      </p:sp>
      <p:pic>
        <p:nvPicPr>
          <p:cNvPr id="6" name="Image 0" descr="/home/user/Dom-Manipulation/toni-black/product-knowledge/source/img/allday.png">    </p:cNvPr>
          <p:cNvPicPr>
            <a:picLocks noChangeAspect="1"/>
          </p:cNvPicPr>
          <p:nvPr/>
        </p:nvPicPr>
        <p:blipFill>
          <a:blip r:embed="rId1"/>
          <a:stretch>
            <a:fillRect/>
          </a:stretch>
        </p:blipFill>
        <p:spPr>
          <a:xfrm>
            <a:off x="640080" y="1828800"/>
            <a:ext cx="10911810" cy="2788920"/>
          </a:xfrm>
          <a:prstGeom prst="rect">
            <a:avLst/>
          </a:prstGeom>
        </p:spPr>
      </p:pic>
      <p:sp>
        <p:nvSpPr>
          <p:cNvPr id="7" name="Shape 4"/>
          <p:cNvSpPr/>
          <p:nvPr/>
        </p:nvSpPr>
        <p:spPr>
          <a:xfrm>
            <a:off x="640080" y="4800600"/>
            <a:ext cx="3478774" cy="1463040"/>
          </a:xfrm>
          <a:prstGeom prst="roundRect">
            <a:avLst>
              <a:gd name="adj" fmla="val 5000"/>
            </a:avLst>
          </a:prstGeom>
          <a:solidFill>
            <a:srgbClr val="282828"/>
          </a:solidFill>
          <a:ln w="12700">
            <a:solidFill>
              <a:srgbClr val="282828"/>
            </a:solidFill>
            <a:prstDash val="solid"/>
          </a:ln>
        </p:spPr>
      </p:sp>
      <p:sp>
        <p:nvSpPr>
          <p:cNvPr id="8" name="Text 5"/>
          <p:cNvSpPr/>
          <p:nvPr/>
        </p:nvSpPr>
        <p:spPr>
          <a:xfrm>
            <a:off x="914400" y="4974336"/>
            <a:ext cx="2930134"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WORK</a:t>
            </a:r>
            <a:endParaRPr lang="en-US" sz="950" dirty="0"/>
          </a:p>
        </p:txBody>
      </p:sp>
      <p:sp>
        <p:nvSpPr>
          <p:cNvPr id="9" name="Text 6"/>
          <p:cNvSpPr/>
          <p:nvPr/>
        </p:nvSpPr>
        <p:spPr>
          <a:xfrm>
            <a:off x="914400" y="5230368"/>
            <a:ext cx="2930134" cy="329184"/>
          </a:xfrm>
          <a:prstGeom prst="rect">
            <a:avLst/>
          </a:prstGeom>
          <a:noFill/>
          <a:ln/>
        </p:spPr>
        <p:txBody>
          <a:bodyPr wrap="square" lIns="0" tIns="0" rIns="0" bIns="0" rtlCol="0" anchor="ctr"/>
          <a:lstStyle/>
          <a:p>
            <a:pPr indent="0" marL="0">
              <a:buNone/>
            </a:pPr>
            <a:r>
              <a:rPr lang="en-US" sz="1300" b="1" dirty="0">
                <a:solidFill>
                  <a:srgbClr val="FFFFFF"/>
                </a:solidFill>
                <a:latin typeface="Zalando Sans Expanded" pitchFamily="34" charset="0"/>
                <a:ea typeface="Zalando Sans Expanded" pitchFamily="34" charset="-122"/>
                <a:cs typeface="Zalando Sans Expanded" pitchFamily="34" charset="-120"/>
              </a:rPr>
              <a:t>Boxer Brief 5"</a:t>
            </a:r>
            <a:endParaRPr lang="en-US" sz="1300" dirty="0"/>
          </a:p>
        </p:txBody>
      </p:sp>
      <p:sp>
        <p:nvSpPr>
          <p:cNvPr id="10" name="Text 7"/>
          <p:cNvSpPr/>
          <p:nvPr/>
        </p:nvSpPr>
        <p:spPr>
          <a:xfrm>
            <a:off x="914400" y="5577840"/>
            <a:ext cx="2930134" cy="603504"/>
          </a:xfrm>
          <a:prstGeom prst="rect">
            <a:avLst/>
          </a:prstGeom>
          <a:noFill/>
          <a:ln/>
        </p:spPr>
        <p:txBody>
          <a:bodyPr wrap="square" lIns="0" tIns="0" rIns="0" bIns="0" rtlCol="0" anchor="t"/>
          <a:lstStyle/>
          <a:p>
            <a:pPr indent="0" marL="0">
              <a:lnSpc>
                <a:spcPts val="1378"/>
              </a:lnSpc>
              <a:buNone/>
            </a:pPr>
            <a:r>
              <a:rPr lang="en-US" sz="950" dirty="0">
                <a:solidFill>
                  <a:srgbClr val="CCCCCC"/>
                </a:solidFill>
                <a:latin typeface="Arimo" pitchFamily="34" charset="0"/>
                <a:ea typeface="Arimo" pitchFamily="34" charset="-122"/>
                <a:cs typeface="Arimo" pitchFamily="34" charset="-120"/>
              </a:rPr>
              <a:t>Balanced coverage under trousers, jeans or a uniform. Smooth, supportive front shape.</a:t>
            </a:r>
            <a:endParaRPr lang="en-US" sz="950" dirty="0"/>
          </a:p>
        </p:txBody>
      </p:sp>
      <p:sp>
        <p:nvSpPr>
          <p:cNvPr id="11" name="Shape 8"/>
          <p:cNvSpPr/>
          <p:nvPr/>
        </p:nvSpPr>
        <p:spPr>
          <a:xfrm>
            <a:off x="4356598" y="4800600"/>
            <a:ext cx="3478774" cy="1463040"/>
          </a:xfrm>
          <a:prstGeom prst="roundRect">
            <a:avLst>
              <a:gd name="adj" fmla="val 5000"/>
            </a:avLst>
          </a:prstGeom>
          <a:solidFill>
            <a:srgbClr val="F2F2F3"/>
          </a:solidFill>
          <a:ln w="12700">
            <a:solidFill>
              <a:srgbClr val="F2F2F3"/>
            </a:solidFill>
            <a:prstDash val="solid"/>
          </a:ln>
        </p:spPr>
      </p:sp>
      <p:sp>
        <p:nvSpPr>
          <p:cNvPr id="12" name="Text 9"/>
          <p:cNvSpPr/>
          <p:nvPr/>
        </p:nvSpPr>
        <p:spPr>
          <a:xfrm>
            <a:off x="4630918" y="4974336"/>
            <a:ext cx="2930134"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WORKOUT</a:t>
            </a:r>
            <a:endParaRPr lang="en-US" sz="950" dirty="0"/>
          </a:p>
        </p:txBody>
      </p:sp>
      <p:sp>
        <p:nvSpPr>
          <p:cNvPr id="13" name="Text 10"/>
          <p:cNvSpPr/>
          <p:nvPr/>
        </p:nvSpPr>
        <p:spPr>
          <a:xfrm>
            <a:off x="4630918" y="5230368"/>
            <a:ext cx="2930134" cy="329184"/>
          </a:xfrm>
          <a:prstGeom prst="rect">
            <a:avLst/>
          </a:prstGeom>
          <a:noFill/>
          <a:ln/>
        </p:spPr>
        <p:txBody>
          <a:bodyPr wrap="square" lIns="0" tIns="0" rIns="0" bIns="0" rtlCol="0" anchor="ctr"/>
          <a:lstStyle/>
          <a:p>
            <a:pPr indent="0" marL="0">
              <a:buNone/>
            </a:pPr>
            <a:r>
              <a:rPr lang="en-US" sz="1300" b="1" dirty="0">
                <a:solidFill>
                  <a:srgbClr val="282828"/>
                </a:solidFill>
                <a:latin typeface="Zalando Sans Expanded" pitchFamily="34" charset="0"/>
                <a:ea typeface="Zalando Sans Expanded" pitchFamily="34" charset="-122"/>
                <a:cs typeface="Zalando Sans Expanded" pitchFamily="34" charset="-120"/>
              </a:rPr>
              <a:t>4-way stretch</a:t>
            </a:r>
            <a:endParaRPr lang="en-US" sz="1300" dirty="0"/>
          </a:p>
        </p:txBody>
      </p:sp>
      <p:sp>
        <p:nvSpPr>
          <p:cNvPr id="14" name="Text 11"/>
          <p:cNvSpPr/>
          <p:nvPr/>
        </p:nvSpPr>
        <p:spPr>
          <a:xfrm>
            <a:off x="4630918" y="5577840"/>
            <a:ext cx="2930134" cy="603504"/>
          </a:xfrm>
          <a:prstGeom prst="rect">
            <a:avLst/>
          </a:prstGeom>
          <a:noFill/>
          <a:ln/>
        </p:spPr>
        <p:txBody>
          <a:bodyPr wrap="square" lIns="0" tIns="0" rIns="0" bIns="0" rtlCol="0" anchor="t"/>
          <a:lstStyle/>
          <a:p>
            <a:pPr indent="0" marL="0">
              <a:lnSpc>
                <a:spcPts val="1378"/>
              </a:lnSpc>
              <a:buNone/>
            </a:pPr>
            <a:r>
              <a:rPr lang="en-US" sz="950" dirty="0">
                <a:solidFill>
                  <a:srgbClr val="4F5052"/>
                </a:solidFill>
                <a:latin typeface="Arimo" pitchFamily="34" charset="0"/>
                <a:ea typeface="Arimo" pitchFamily="34" charset="-122"/>
                <a:cs typeface="Arimo" pitchFamily="34" charset="-120"/>
              </a:rPr>
              <a:t>Modal with 9% elastane moves with the body and recovers its shape after.</a:t>
            </a:r>
            <a:endParaRPr lang="en-US" sz="950" dirty="0"/>
          </a:p>
        </p:txBody>
      </p:sp>
      <p:sp>
        <p:nvSpPr>
          <p:cNvPr id="15" name="Shape 12"/>
          <p:cNvSpPr/>
          <p:nvPr/>
        </p:nvSpPr>
        <p:spPr>
          <a:xfrm>
            <a:off x="8073116" y="4800600"/>
            <a:ext cx="3478774" cy="1463040"/>
          </a:xfrm>
          <a:prstGeom prst="roundRect">
            <a:avLst>
              <a:gd name="adj" fmla="val 5000"/>
            </a:avLst>
          </a:prstGeom>
          <a:solidFill>
            <a:srgbClr val="F2F2F3"/>
          </a:solidFill>
          <a:ln w="12700">
            <a:solidFill>
              <a:srgbClr val="F2F2F3"/>
            </a:solidFill>
            <a:prstDash val="solid"/>
          </a:ln>
        </p:spPr>
      </p:sp>
      <p:sp>
        <p:nvSpPr>
          <p:cNvPr id="16" name="Text 13"/>
          <p:cNvSpPr/>
          <p:nvPr/>
        </p:nvSpPr>
        <p:spPr>
          <a:xfrm>
            <a:off x="8347436" y="4974336"/>
            <a:ext cx="2930134"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REST</a:t>
            </a:r>
            <a:endParaRPr lang="en-US" sz="950" dirty="0"/>
          </a:p>
        </p:txBody>
      </p:sp>
      <p:sp>
        <p:nvSpPr>
          <p:cNvPr id="17" name="Text 14"/>
          <p:cNvSpPr/>
          <p:nvPr/>
        </p:nvSpPr>
        <p:spPr>
          <a:xfrm>
            <a:off x="8347436" y="5230368"/>
            <a:ext cx="2930134" cy="329184"/>
          </a:xfrm>
          <a:prstGeom prst="rect">
            <a:avLst/>
          </a:prstGeom>
          <a:noFill/>
          <a:ln/>
        </p:spPr>
        <p:txBody>
          <a:bodyPr wrap="square" lIns="0" tIns="0" rIns="0" bIns="0" rtlCol="0" anchor="ctr"/>
          <a:lstStyle/>
          <a:p>
            <a:pPr indent="0" marL="0">
              <a:buNone/>
            </a:pPr>
            <a:r>
              <a:rPr lang="en-US" sz="1300" b="1" dirty="0">
                <a:solidFill>
                  <a:srgbClr val="282828"/>
                </a:solidFill>
                <a:latin typeface="Zalando Sans Expanded" pitchFamily="34" charset="0"/>
                <a:ea typeface="Zalando Sans Expanded" pitchFamily="34" charset="-122"/>
                <a:cs typeface="Zalando Sans Expanded" pitchFamily="34" charset="-120"/>
              </a:rPr>
              <a:t>FlowLite™ Loose Fit</a:t>
            </a:r>
            <a:endParaRPr lang="en-US" sz="1300" dirty="0"/>
          </a:p>
        </p:txBody>
      </p:sp>
      <p:sp>
        <p:nvSpPr>
          <p:cNvPr id="18" name="Text 15"/>
          <p:cNvSpPr/>
          <p:nvPr/>
        </p:nvSpPr>
        <p:spPr>
          <a:xfrm>
            <a:off x="8347436" y="5577840"/>
            <a:ext cx="2930134" cy="603504"/>
          </a:xfrm>
          <a:prstGeom prst="rect">
            <a:avLst/>
          </a:prstGeom>
          <a:noFill/>
          <a:ln/>
        </p:spPr>
        <p:txBody>
          <a:bodyPr wrap="square" lIns="0" tIns="0" rIns="0" bIns="0" rtlCol="0" anchor="t"/>
          <a:lstStyle/>
          <a:p>
            <a:pPr indent="0" marL="0">
              <a:lnSpc>
                <a:spcPts val="1378"/>
              </a:lnSpc>
              <a:buNone/>
            </a:pPr>
            <a:r>
              <a:rPr lang="en-US" sz="950" dirty="0">
                <a:solidFill>
                  <a:srgbClr val="4F5052"/>
                </a:solidFill>
                <a:latin typeface="Arimo" pitchFamily="34" charset="0"/>
                <a:ea typeface="Arimo" pitchFamily="34" charset="-122"/>
                <a:cs typeface="Arimo" pitchFamily="34" charset="-120"/>
              </a:rPr>
              <a:t>Looser leg, lower compression, the lightest fabric in the range. For the hours the body is still.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385682"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385682"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11   Markets</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Five markets, one product</a:t>
            </a:r>
            <a:endParaRPr lang="en-US" sz="3000" dirty="0"/>
          </a:p>
        </p:txBody>
      </p:sp>
      <p:sp>
        <p:nvSpPr>
          <p:cNvPr id="6" name="Text 4"/>
          <p:cNvSpPr/>
          <p:nvPr/>
        </p:nvSpPr>
        <p:spPr>
          <a:xfrm>
            <a:off x="640080" y="1783080"/>
            <a:ext cx="6035040" cy="822960"/>
          </a:xfrm>
          <a:prstGeom prst="rect">
            <a:avLst/>
          </a:prstGeom>
          <a:noFill/>
          <a:ln/>
        </p:spPr>
        <p:txBody>
          <a:bodyPr wrap="square" lIns="0" tIns="0" rIns="0" bIns="0" rtlCol="0" anchor="t"/>
          <a:lstStyle/>
          <a:p>
            <a:pPr indent="0" marL="0">
              <a:lnSpc>
                <a:spcPts val="1668"/>
              </a:lnSpc>
              <a:buNone/>
            </a:pPr>
            <a:r>
              <a:rPr lang="en-US" sz="1150" dirty="0">
                <a:solidFill>
                  <a:srgbClr val="4F5052"/>
                </a:solidFill>
                <a:latin typeface="Arimo" pitchFamily="34" charset="0"/>
                <a:ea typeface="Arimo" pitchFamily="34" charset="-122"/>
                <a:cs typeface="Arimo" pitchFamily="34" charset="-120"/>
              </a:rPr>
              <a:t>Toni Black sells across Asia-Pacific. The same fabric, the same fit system and the same single colour in every market.</a:t>
            </a:r>
            <a:endParaRPr lang="en-US" sz="1150" dirty="0"/>
          </a:p>
        </p:txBody>
      </p:sp>
      <p:sp>
        <p:nvSpPr>
          <p:cNvPr id="7" name="Shape 5"/>
          <p:cNvSpPr/>
          <p:nvPr/>
        </p:nvSpPr>
        <p:spPr>
          <a:xfrm>
            <a:off x="640080" y="2834640"/>
            <a:ext cx="1383176" cy="1691640"/>
          </a:xfrm>
          <a:prstGeom prst="roundRect">
            <a:avLst>
              <a:gd name="adj" fmla="val 5289"/>
            </a:avLst>
          </a:prstGeom>
          <a:solidFill>
            <a:srgbClr val="F2F2F3"/>
          </a:solidFill>
          <a:ln w="12700">
            <a:solidFill>
              <a:srgbClr val="F2F2F3"/>
            </a:solidFill>
            <a:prstDash val="solid"/>
          </a:ln>
        </p:spPr>
      </p:sp>
      <p:sp>
        <p:nvSpPr>
          <p:cNvPr id="8" name="Text 6"/>
          <p:cNvSpPr/>
          <p:nvPr/>
        </p:nvSpPr>
        <p:spPr>
          <a:xfrm>
            <a:off x="822960" y="3035808"/>
            <a:ext cx="1017416" cy="274320"/>
          </a:xfrm>
          <a:prstGeom prst="rect">
            <a:avLst/>
          </a:prstGeom>
          <a:noFill/>
          <a:ln/>
        </p:spPr>
        <p:txBody>
          <a:bodyPr wrap="square" lIns="0" tIns="0" rIns="0" bIns="0" rtlCol="0" anchor="ctr"/>
          <a:lstStyle/>
          <a:p>
            <a:pPr indent="0" marL="0">
              <a:buNone/>
            </a:pPr>
            <a:r>
              <a:rPr lang="en-US" sz="1000" b="1" spc="140" kern="0" dirty="0">
                <a:solidFill>
                  <a:srgbClr val="4F5052"/>
                </a:solidFill>
                <a:latin typeface="Zalando Sans Expanded" pitchFamily="34" charset="0"/>
                <a:ea typeface="Zalando Sans Expanded" pitchFamily="34" charset="-122"/>
                <a:cs typeface="Zalando Sans Expanded" pitchFamily="34" charset="-120"/>
              </a:rPr>
              <a:t>01</a:t>
            </a:r>
            <a:endParaRPr lang="en-US" sz="1000" dirty="0"/>
          </a:p>
        </p:txBody>
      </p:sp>
      <p:sp>
        <p:nvSpPr>
          <p:cNvPr id="9" name="Text 7"/>
          <p:cNvSpPr/>
          <p:nvPr/>
        </p:nvSpPr>
        <p:spPr>
          <a:xfrm>
            <a:off x="822960" y="3639312"/>
            <a:ext cx="1017416" cy="685800"/>
          </a:xfrm>
          <a:prstGeom prst="rect">
            <a:avLst/>
          </a:prstGeom>
          <a:noFill/>
          <a:ln/>
        </p:spPr>
        <p:txBody>
          <a:bodyPr wrap="square" lIns="0" tIns="0" rIns="0" bIns="0" rtlCol="0" anchor="ctr"/>
          <a:lstStyle/>
          <a:p>
            <a:pPr indent="0" marL="0">
              <a:lnSpc>
                <a:spcPts val="1500"/>
              </a:lnSpc>
              <a:buNone/>
            </a:pPr>
            <a:r>
              <a:rPr lang="en-US" sz="1200" b="1" dirty="0">
                <a:solidFill>
                  <a:srgbClr val="282828"/>
                </a:solidFill>
                <a:latin typeface="Zalando Sans Expanded" pitchFamily="34" charset="0"/>
                <a:ea typeface="Zalando Sans Expanded" pitchFamily="34" charset="-122"/>
                <a:cs typeface="Zalando Sans Expanded" pitchFamily="34" charset="-120"/>
              </a:rPr>
              <a:t>Singapore</a:t>
            </a:r>
            <a:endParaRPr lang="en-US" sz="1200" dirty="0"/>
          </a:p>
        </p:txBody>
      </p:sp>
      <p:sp>
        <p:nvSpPr>
          <p:cNvPr id="10" name="Shape 8"/>
          <p:cNvSpPr/>
          <p:nvPr/>
        </p:nvSpPr>
        <p:spPr>
          <a:xfrm>
            <a:off x="2187848" y="2834640"/>
            <a:ext cx="1383176" cy="1691640"/>
          </a:xfrm>
          <a:prstGeom prst="roundRect">
            <a:avLst>
              <a:gd name="adj" fmla="val 5289"/>
            </a:avLst>
          </a:prstGeom>
          <a:solidFill>
            <a:srgbClr val="F2F2F3"/>
          </a:solidFill>
          <a:ln w="12700">
            <a:solidFill>
              <a:srgbClr val="F2F2F3"/>
            </a:solidFill>
            <a:prstDash val="solid"/>
          </a:ln>
        </p:spPr>
      </p:sp>
      <p:sp>
        <p:nvSpPr>
          <p:cNvPr id="11" name="Text 9"/>
          <p:cNvSpPr/>
          <p:nvPr/>
        </p:nvSpPr>
        <p:spPr>
          <a:xfrm>
            <a:off x="2370728" y="3035808"/>
            <a:ext cx="1017416" cy="274320"/>
          </a:xfrm>
          <a:prstGeom prst="rect">
            <a:avLst/>
          </a:prstGeom>
          <a:noFill/>
          <a:ln/>
        </p:spPr>
        <p:txBody>
          <a:bodyPr wrap="square" lIns="0" tIns="0" rIns="0" bIns="0" rtlCol="0" anchor="ctr"/>
          <a:lstStyle/>
          <a:p>
            <a:pPr indent="0" marL="0">
              <a:buNone/>
            </a:pPr>
            <a:r>
              <a:rPr lang="en-US" sz="1000" b="1" spc="140" kern="0" dirty="0">
                <a:solidFill>
                  <a:srgbClr val="4F5052"/>
                </a:solidFill>
                <a:latin typeface="Zalando Sans Expanded" pitchFamily="34" charset="0"/>
                <a:ea typeface="Zalando Sans Expanded" pitchFamily="34" charset="-122"/>
                <a:cs typeface="Zalando Sans Expanded" pitchFamily="34" charset="-120"/>
              </a:rPr>
              <a:t>02</a:t>
            </a:r>
            <a:endParaRPr lang="en-US" sz="1000" dirty="0"/>
          </a:p>
        </p:txBody>
      </p:sp>
      <p:sp>
        <p:nvSpPr>
          <p:cNvPr id="12" name="Text 10"/>
          <p:cNvSpPr/>
          <p:nvPr/>
        </p:nvSpPr>
        <p:spPr>
          <a:xfrm>
            <a:off x="2370728" y="3639312"/>
            <a:ext cx="1017416" cy="685800"/>
          </a:xfrm>
          <a:prstGeom prst="rect">
            <a:avLst/>
          </a:prstGeom>
          <a:noFill/>
          <a:ln/>
        </p:spPr>
        <p:txBody>
          <a:bodyPr wrap="square" lIns="0" tIns="0" rIns="0" bIns="0" rtlCol="0" anchor="ctr"/>
          <a:lstStyle/>
          <a:p>
            <a:pPr indent="0" marL="0">
              <a:lnSpc>
                <a:spcPts val="1500"/>
              </a:lnSpc>
              <a:buNone/>
            </a:pPr>
            <a:r>
              <a:rPr lang="en-US" sz="1200" b="1" dirty="0">
                <a:solidFill>
                  <a:srgbClr val="282828"/>
                </a:solidFill>
                <a:latin typeface="Zalando Sans Expanded" pitchFamily="34" charset="0"/>
                <a:ea typeface="Zalando Sans Expanded" pitchFamily="34" charset="-122"/>
                <a:cs typeface="Zalando Sans Expanded" pitchFamily="34" charset="-120"/>
              </a:rPr>
              <a:t>Malaysia</a:t>
            </a:r>
            <a:endParaRPr lang="en-US" sz="1200" dirty="0"/>
          </a:p>
        </p:txBody>
      </p:sp>
      <p:sp>
        <p:nvSpPr>
          <p:cNvPr id="13" name="Shape 11"/>
          <p:cNvSpPr/>
          <p:nvPr/>
        </p:nvSpPr>
        <p:spPr>
          <a:xfrm>
            <a:off x="3735617" y="2834640"/>
            <a:ext cx="1383176" cy="1691640"/>
          </a:xfrm>
          <a:prstGeom prst="roundRect">
            <a:avLst>
              <a:gd name="adj" fmla="val 5289"/>
            </a:avLst>
          </a:prstGeom>
          <a:solidFill>
            <a:srgbClr val="F2F2F3"/>
          </a:solidFill>
          <a:ln w="12700">
            <a:solidFill>
              <a:srgbClr val="F2F2F3"/>
            </a:solidFill>
            <a:prstDash val="solid"/>
          </a:ln>
        </p:spPr>
      </p:sp>
      <p:sp>
        <p:nvSpPr>
          <p:cNvPr id="14" name="Text 12"/>
          <p:cNvSpPr/>
          <p:nvPr/>
        </p:nvSpPr>
        <p:spPr>
          <a:xfrm>
            <a:off x="3918497" y="3035808"/>
            <a:ext cx="1017416" cy="274320"/>
          </a:xfrm>
          <a:prstGeom prst="rect">
            <a:avLst/>
          </a:prstGeom>
          <a:noFill/>
          <a:ln/>
        </p:spPr>
        <p:txBody>
          <a:bodyPr wrap="square" lIns="0" tIns="0" rIns="0" bIns="0" rtlCol="0" anchor="ctr"/>
          <a:lstStyle/>
          <a:p>
            <a:pPr indent="0" marL="0">
              <a:buNone/>
            </a:pPr>
            <a:r>
              <a:rPr lang="en-US" sz="1000" b="1" spc="140" kern="0" dirty="0">
                <a:solidFill>
                  <a:srgbClr val="4F5052"/>
                </a:solidFill>
                <a:latin typeface="Zalando Sans Expanded" pitchFamily="34" charset="0"/>
                <a:ea typeface="Zalando Sans Expanded" pitchFamily="34" charset="-122"/>
                <a:cs typeface="Zalando Sans Expanded" pitchFamily="34" charset="-120"/>
              </a:rPr>
              <a:t>03</a:t>
            </a:r>
            <a:endParaRPr lang="en-US" sz="1000" dirty="0"/>
          </a:p>
        </p:txBody>
      </p:sp>
      <p:sp>
        <p:nvSpPr>
          <p:cNvPr id="15" name="Text 13"/>
          <p:cNvSpPr/>
          <p:nvPr/>
        </p:nvSpPr>
        <p:spPr>
          <a:xfrm>
            <a:off x="3918497" y="3639312"/>
            <a:ext cx="1017416" cy="685800"/>
          </a:xfrm>
          <a:prstGeom prst="rect">
            <a:avLst/>
          </a:prstGeom>
          <a:noFill/>
          <a:ln/>
        </p:spPr>
        <p:txBody>
          <a:bodyPr wrap="square" lIns="0" tIns="0" rIns="0" bIns="0" rtlCol="0" anchor="ctr"/>
          <a:lstStyle/>
          <a:p>
            <a:pPr indent="0" marL="0">
              <a:lnSpc>
                <a:spcPts val="1500"/>
              </a:lnSpc>
              <a:buNone/>
            </a:pPr>
            <a:r>
              <a:rPr lang="en-US" sz="1200" b="1" dirty="0">
                <a:solidFill>
                  <a:srgbClr val="282828"/>
                </a:solidFill>
                <a:latin typeface="Zalando Sans Expanded" pitchFamily="34" charset="0"/>
                <a:ea typeface="Zalando Sans Expanded" pitchFamily="34" charset="-122"/>
                <a:cs typeface="Zalando Sans Expanded" pitchFamily="34" charset="-120"/>
              </a:rPr>
              <a:t>Australia</a:t>
            </a:r>
            <a:endParaRPr lang="en-US" sz="1200" dirty="0"/>
          </a:p>
        </p:txBody>
      </p:sp>
      <p:sp>
        <p:nvSpPr>
          <p:cNvPr id="16" name="Shape 14"/>
          <p:cNvSpPr/>
          <p:nvPr/>
        </p:nvSpPr>
        <p:spPr>
          <a:xfrm>
            <a:off x="5283385" y="2834640"/>
            <a:ext cx="1383176" cy="1691640"/>
          </a:xfrm>
          <a:prstGeom prst="roundRect">
            <a:avLst>
              <a:gd name="adj" fmla="val 5289"/>
            </a:avLst>
          </a:prstGeom>
          <a:solidFill>
            <a:srgbClr val="F2F2F3"/>
          </a:solidFill>
          <a:ln w="12700">
            <a:solidFill>
              <a:srgbClr val="F2F2F3"/>
            </a:solidFill>
            <a:prstDash val="solid"/>
          </a:ln>
        </p:spPr>
      </p:sp>
      <p:sp>
        <p:nvSpPr>
          <p:cNvPr id="17" name="Text 15"/>
          <p:cNvSpPr/>
          <p:nvPr/>
        </p:nvSpPr>
        <p:spPr>
          <a:xfrm>
            <a:off x="5466265" y="3035808"/>
            <a:ext cx="1017416" cy="274320"/>
          </a:xfrm>
          <a:prstGeom prst="rect">
            <a:avLst/>
          </a:prstGeom>
          <a:noFill/>
          <a:ln/>
        </p:spPr>
        <p:txBody>
          <a:bodyPr wrap="square" lIns="0" tIns="0" rIns="0" bIns="0" rtlCol="0" anchor="ctr"/>
          <a:lstStyle/>
          <a:p>
            <a:pPr indent="0" marL="0">
              <a:buNone/>
            </a:pPr>
            <a:r>
              <a:rPr lang="en-US" sz="1000" b="1" spc="140" kern="0" dirty="0">
                <a:solidFill>
                  <a:srgbClr val="4F5052"/>
                </a:solidFill>
                <a:latin typeface="Zalando Sans Expanded" pitchFamily="34" charset="0"/>
                <a:ea typeface="Zalando Sans Expanded" pitchFamily="34" charset="-122"/>
                <a:cs typeface="Zalando Sans Expanded" pitchFamily="34" charset="-120"/>
              </a:rPr>
              <a:t>04</a:t>
            </a:r>
            <a:endParaRPr lang="en-US" sz="1000" dirty="0"/>
          </a:p>
        </p:txBody>
      </p:sp>
      <p:sp>
        <p:nvSpPr>
          <p:cNvPr id="18" name="Text 16"/>
          <p:cNvSpPr/>
          <p:nvPr/>
        </p:nvSpPr>
        <p:spPr>
          <a:xfrm>
            <a:off x="5466265" y="3639312"/>
            <a:ext cx="1017416" cy="685800"/>
          </a:xfrm>
          <a:prstGeom prst="rect">
            <a:avLst/>
          </a:prstGeom>
          <a:noFill/>
          <a:ln/>
        </p:spPr>
        <p:txBody>
          <a:bodyPr wrap="square" lIns="0" tIns="0" rIns="0" bIns="0" rtlCol="0" anchor="ctr"/>
          <a:lstStyle/>
          <a:p>
            <a:pPr indent="0" marL="0">
              <a:lnSpc>
                <a:spcPts val="1500"/>
              </a:lnSpc>
              <a:buNone/>
            </a:pPr>
            <a:r>
              <a:rPr lang="en-US" sz="1200" b="1" dirty="0">
                <a:solidFill>
                  <a:srgbClr val="282828"/>
                </a:solidFill>
                <a:latin typeface="Zalando Sans Expanded" pitchFamily="34" charset="0"/>
                <a:ea typeface="Zalando Sans Expanded" pitchFamily="34" charset="-122"/>
                <a:cs typeface="Zalando Sans Expanded" pitchFamily="34" charset="-120"/>
              </a:rPr>
              <a:t>New Zealand</a:t>
            </a:r>
            <a:endParaRPr lang="en-US" sz="1200" dirty="0"/>
          </a:p>
        </p:txBody>
      </p:sp>
      <p:sp>
        <p:nvSpPr>
          <p:cNvPr id="19" name="Shape 17"/>
          <p:cNvSpPr/>
          <p:nvPr/>
        </p:nvSpPr>
        <p:spPr>
          <a:xfrm>
            <a:off x="6831153" y="2834640"/>
            <a:ext cx="1383176" cy="1691640"/>
          </a:xfrm>
          <a:prstGeom prst="roundRect">
            <a:avLst>
              <a:gd name="adj" fmla="val 5289"/>
            </a:avLst>
          </a:prstGeom>
          <a:solidFill>
            <a:srgbClr val="282828"/>
          </a:solidFill>
          <a:ln w="12700">
            <a:solidFill>
              <a:srgbClr val="282828"/>
            </a:solidFill>
            <a:prstDash val="solid"/>
          </a:ln>
        </p:spPr>
      </p:sp>
      <p:sp>
        <p:nvSpPr>
          <p:cNvPr id="20" name="Text 18"/>
          <p:cNvSpPr/>
          <p:nvPr/>
        </p:nvSpPr>
        <p:spPr>
          <a:xfrm>
            <a:off x="7014033" y="3035808"/>
            <a:ext cx="1017416" cy="274320"/>
          </a:xfrm>
          <a:prstGeom prst="rect">
            <a:avLst/>
          </a:prstGeom>
          <a:noFill/>
          <a:ln/>
        </p:spPr>
        <p:txBody>
          <a:bodyPr wrap="square" lIns="0" tIns="0" rIns="0" bIns="0" rtlCol="0" anchor="ctr"/>
          <a:lstStyle/>
          <a:p>
            <a:pPr indent="0" marL="0">
              <a:buNone/>
            </a:pPr>
            <a:r>
              <a:rPr lang="en-US" sz="1000" b="1" spc="140" kern="0" dirty="0">
                <a:solidFill>
                  <a:srgbClr val="CCCCCC"/>
                </a:solidFill>
                <a:latin typeface="Zalando Sans Expanded" pitchFamily="34" charset="0"/>
                <a:ea typeface="Zalando Sans Expanded" pitchFamily="34" charset="-122"/>
                <a:cs typeface="Zalando Sans Expanded" pitchFamily="34" charset="-120"/>
              </a:rPr>
              <a:t>05</a:t>
            </a:r>
            <a:endParaRPr lang="en-US" sz="1000" dirty="0"/>
          </a:p>
        </p:txBody>
      </p:sp>
      <p:sp>
        <p:nvSpPr>
          <p:cNvPr id="21" name="Text 19"/>
          <p:cNvSpPr/>
          <p:nvPr/>
        </p:nvSpPr>
        <p:spPr>
          <a:xfrm>
            <a:off x="7014033" y="3639312"/>
            <a:ext cx="1017416" cy="685800"/>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Zalando Sans Expanded" pitchFamily="34" charset="0"/>
                <a:ea typeface="Zalando Sans Expanded" pitchFamily="34" charset="-122"/>
                <a:cs typeface="Zalando Sans Expanded" pitchFamily="34" charset="-120"/>
              </a:rPr>
              <a:t>Indonesia</a:t>
            </a:r>
            <a:endParaRPr lang="en-US" sz="1200" dirty="0"/>
          </a:p>
        </p:txBody>
      </p:sp>
      <p:sp>
        <p:nvSpPr>
          <p:cNvPr id="22" name="Shape 20"/>
          <p:cNvSpPr/>
          <p:nvPr/>
        </p:nvSpPr>
        <p:spPr>
          <a:xfrm>
            <a:off x="640080" y="4754880"/>
            <a:ext cx="3677397" cy="1188720"/>
          </a:xfrm>
          <a:prstGeom prst="roundRect">
            <a:avLst>
              <a:gd name="adj" fmla="val 6154"/>
            </a:avLst>
          </a:prstGeom>
          <a:solidFill>
            <a:srgbClr val="F2F2F3"/>
          </a:solidFill>
          <a:ln w="12700">
            <a:solidFill>
              <a:srgbClr val="F2F2F3"/>
            </a:solidFill>
            <a:prstDash val="solid"/>
          </a:ln>
        </p:spPr>
      </p:sp>
      <p:sp>
        <p:nvSpPr>
          <p:cNvPr id="23" name="Text 21"/>
          <p:cNvSpPr/>
          <p:nvPr/>
        </p:nvSpPr>
        <p:spPr>
          <a:xfrm>
            <a:off x="877824" y="4910328"/>
            <a:ext cx="3201909"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MARKETS</a:t>
            </a:r>
            <a:endParaRPr lang="en-US" sz="950" dirty="0"/>
          </a:p>
        </p:txBody>
      </p:sp>
      <p:sp>
        <p:nvSpPr>
          <p:cNvPr id="24" name="Text 22"/>
          <p:cNvSpPr/>
          <p:nvPr/>
        </p:nvSpPr>
        <p:spPr>
          <a:xfrm>
            <a:off x="877824" y="5138928"/>
            <a:ext cx="3201909" cy="731520"/>
          </a:xfrm>
          <a:prstGeom prst="rect">
            <a:avLst/>
          </a:prstGeom>
          <a:noFill/>
          <a:ln/>
        </p:spPr>
        <p:txBody>
          <a:bodyPr wrap="square" lIns="0" tIns="0" rIns="0" bIns="0" rtlCol="0" anchor="ctr"/>
          <a:lstStyle/>
          <a:p>
            <a:pPr indent="0" marL="0">
              <a:buNone/>
            </a:pPr>
            <a:r>
              <a:rPr lang="en-US" sz="2600" b="1" dirty="0">
                <a:solidFill>
                  <a:srgbClr val="282828"/>
                </a:solidFill>
                <a:latin typeface="Zalando Sans Expanded" pitchFamily="34" charset="0"/>
                <a:ea typeface="Zalando Sans Expanded" pitchFamily="34" charset="-122"/>
                <a:cs typeface="Zalando Sans Expanded" pitchFamily="34" charset="-120"/>
              </a:rPr>
              <a:t>5</a:t>
            </a:r>
            <a:endParaRPr lang="en-US" sz="2600" dirty="0"/>
          </a:p>
        </p:txBody>
      </p:sp>
      <p:sp>
        <p:nvSpPr>
          <p:cNvPr id="25" name="Shape 23"/>
          <p:cNvSpPr/>
          <p:nvPr/>
        </p:nvSpPr>
        <p:spPr>
          <a:xfrm>
            <a:off x="4536933" y="4754880"/>
            <a:ext cx="3677397" cy="1188720"/>
          </a:xfrm>
          <a:prstGeom prst="roundRect">
            <a:avLst>
              <a:gd name="adj" fmla="val 6154"/>
            </a:avLst>
          </a:prstGeom>
          <a:solidFill>
            <a:srgbClr val="F2F2F3"/>
          </a:solidFill>
          <a:ln w="12700">
            <a:solidFill>
              <a:srgbClr val="F2F2F3"/>
            </a:solidFill>
            <a:prstDash val="solid"/>
          </a:ln>
        </p:spPr>
      </p:sp>
      <p:sp>
        <p:nvSpPr>
          <p:cNvPr id="26" name="Text 24"/>
          <p:cNvSpPr/>
          <p:nvPr/>
        </p:nvSpPr>
        <p:spPr>
          <a:xfrm>
            <a:off x="4774677" y="4910328"/>
            <a:ext cx="3201909"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SIZES, EVERY MARKET</a:t>
            </a:r>
            <a:endParaRPr lang="en-US" sz="950" dirty="0"/>
          </a:p>
        </p:txBody>
      </p:sp>
      <p:sp>
        <p:nvSpPr>
          <p:cNvPr id="27" name="Text 25"/>
          <p:cNvSpPr/>
          <p:nvPr/>
        </p:nvSpPr>
        <p:spPr>
          <a:xfrm>
            <a:off x="4774677" y="5138928"/>
            <a:ext cx="3201909" cy="731520"/>
          </a:xfrm>
          <a:prstGeom prst="rect">
            <a:avLst/>
          </a:prstGeom>
          <a:noFill/>
          <a:ln/>
        </p:spPr>
        <p:txBody>
          <a:bodyPr wrap="square" lIns="0" tIns="0" rIns="0" bIns="0" rtlCol="0" anchor="ctr"/>
          <a:lstStyle/>
          <a:p>
            <a:pPr indent="0" marL="0">
              <a:buNone/>
            </a:pPr>
            <a:r>
              <a:rPr lang="en-US" sz="2000" b="1" dirty="0">
                <a:solidFill>
                  <a:srgbClr val="282828"/>
                </a:solidFill>
                <a:latin typeface="Zalando Sans Expanded" pitchFamily="34" charset="0"/>
                <a:ea typeface="Zalando Sans Expanded" pitchFamily="34" charset="-122"/>
                <a:cs typeface="Zalando Sans Expanded" pitchFamily="34" charset="-120"/>
              </a:rPr>
              <a:t>S – 3XL</a:t>
            </a:r>
            <a:endParaRPr lang="en-US" sz="2000" dirty="0"/>
          </a:p>
        </p:txBody>
      </p:sp>
      <p:pic>
        <p:nvPicPr>
          <p:cNvPr id="28" name="Image 0" descr="/home/user/Dom-Manipulation/toni-black/product-knowledge/source/img/markets.png">    </p:cNvPr>
          <p:cNvPicPr>
            <a:picLocks noChangeAspect="1"/>
          </p:cNvPicPr>
          <p:nvPr/>
        </p:nvPicPr>
        <p:blipFill>
          <a:blip r:embed="rId1"/>
          <a:stretch>
            <a:fillRect/>
          </a:stretch>
        </p:blipFill>
        <p:spPr>
          <a:xfrm>
            <a:off x="8534370" y="1828800"/>
            <a:ext cx="3017520" cy="2103120"/>
          </a:xfrm>
          <a:prstGeom prst="rect">
            <a:avLst/>
          </a:prstGeom>
        </p:spPr>
      </p:pic>
      <p:sp>
        <p:nvSpPr>
          <p:cNvPr id="29" name="Shape 26"/>
          <p:cNvSpPr/>
          <p:nvPr/>
        </p:nvSpPr>
        <p:spPr>
          <a:xfrm>
            <a:off x="8534370" y="4114800"/>
            <a:ext cx="3017520" cy="1828800"/>
          </a:xfrm>
          <a:prstGeom prst="roundRect">
            <a:avLst>
              <a:gd name="adj" fmla="val 4000"/>
            </a:avLst>
          </a:prstGeom>
          <a:solidFill>
            <a:srgbClr val="282828"/>
          </a:solidFill>
          <a:ln w="12700">
            <a:solidFill>
              <a:srgbClr val="282828"/>
            </a:solidFill>
            <a:prstDash val="solid"/>
          </a:ln>
        </p:spPr>
      </p:sp>
      <p:sp>
        <p:nvSpPr>
          <p:cNvPr id="30" name="Text 27"/>
          <p:cNvSpPr/>
          <p:nvPr/>
        </p:nvSpPr>
        <p:spPr>
          <a:xfrm>
            <a:off x="8808690" y="4334256"/>
            <a:ext cx="2468880"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HOME MARKET</a:t>
            </a:r>
            <a:endParaRPr lang="en-US" sz="950" dirty="0"/>
          </a:p>
        </p:txBody>
      </p:sp>
      <p:sp>
        <p:nvSpPr>
          <p:cNvPr id="31" name="Text 28"/>
          <p:cNvSpPr/>
          <p:nvPr/>
        </p:nvSpPr>
        <p:spPr>
          <a:xfrm>
            <a:off x="8808690" y="4608576"/>
            <a:ext cx="2468880" cy="402336"/>
          </a:xfrm>
          <a:prstGeom prst="rect">
            <a:avLst/>
          </a:prstGeom>
          <a:noFill/>
          <a:ln/>
        </p:spPr>
        <p:txBody>
          <a:bodyPr wrap="square" lIns="0" tIns="0" rIns="0" bIns="0" rtlCol="0" anchor="ctr"/>
          <a:lstStyle/>
          <a:p>
            <a:pPr indent="0" marL="0">
              <a:buNone/>
            </a:pPr>
            <a:r>
              <a:rPr lang="en-US" sz="1700" b="1" dirty="0">
                <a:solidFill>
                  <a:srgbClr val="FFFFFF"/>
                </a:solidFill>
                <a:latin typeface="Zalando Sans Expanded" pitchFamily="34" charset="0"/>
                <a:ea typeface="Zalando Sans Expanded" pitchFamily="34" charset="-122"/>
                <a:cs typeface="Zalando Sans Expanded" pitchFamily="34" charset="-120"/>
              </a:rPr>
              <a:t>Indonesia</a:t>
            </a:r>
            <a:endParaRPr lang="en-US" sz="1700" dirty="0"/>
          </a:p>
        </p:txBody>
      </p:sp>
      <p:sp>
        <p:nvSpPr>
          <p:cNvPr id="32" name="Text 29"/>
          <p:cNvSpPr/>
          <p:nvPr/>
        </p:nvSpPr>
        <p:spPr>
          <a:xfrm>
            <a:off x="8808690" y="5084064"/>
            <a:ext cx="2468880" cy="640080"/>
          </a:xfrm>
          <a:prstGeom prst="rect">
            <a:avLst/>
          </a:prstGeom>
          <a:noFill/>
          <a:ln/>
        </p:spPr>
        <p:txBody>
          <a:bodyPr wrap="square" lIns="0" tIns="0" rIns="0" bIns="0" rtlCol="0" anchor="t"/>
          <a:lstStyle/>
          <a:p>
            <a:pPr indent="0" marL="0">
              <a:lnSpc>
                <a:spcPts val="1450"/>
              </a:lnSpc>
              <a:buNone/>
            </a:pPr>
            <a:r>
              <a:rPr lang="en-US" sz="1000" dirty="0">
                <a:solidFill>
                  <a:srgbClr val="CCCCCC"/>
                </a:solidFill>
                <a:latin typeface="Arimo" pitchFamily="34" charset="0"/>
                <a:ea typeface="Arimo" pitchFamily="34" charset="-122"/>
                <a:cs typeface="Arimo" pitchFamily="34" charset="-120"/>
              </a:rPr>
              <a:t>Prices in this deck are the Indonesian list prices.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519733"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519733"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12   Channels</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Where people buy it</a:t>
            </a:r>
            <a:endParaRPr lang="en-US" sz="3000" dirty="0"/>
          </a:p>
        </p:txBody>
      </p:sp>
      <p:sp>
        <p:nvSpPr>
          <p:cNvPr id="6" name="Shape 4"/>
          <p:cNvSpPr/>
          <p:nvPr/>
        </p:nvSpPr>
        <p:spPr>
          <a:xfrm>
            <a:off x="640080" y="2148840"/>
            <a:ext cx="2563360" cy="2011680"/>
          </a:xfrm>
          <a:prstGeom prst="roundRect">
            <a:avLst>
              <a:gd name="adj" fmla="val 3636"/>
            </a:avLst>
          </a:prstGeom>
          <a:solidFill>
            <a:srgbClr val="282828"/>
          </a:solidFill>
          <a:ln w="12700">
            <a:solidFill>
              <a:srgbClr val="282828"/>
            </a:solidFill>
            <a:prstDash val="solid"/>
          </a:ln>
        </p:spPr>
      </p:sp>
      <p:sp>
        <p:nvSpPr>
          <p:cNvPr id="7" name="Text 5"/>
          <p:cNvSpPr/>
          <p:nvPr/>
        </p:nvSpPr>
        <p:spPr>
          <a:xfrm>
            <a:off x="914400" y="2377440"/>
            <a:ext cx="2014720" cy="237744"/>
          </a:xfrm>
          <a:prstGeom prst="rect">
            <a:avLst/>
          </a:prstGeom>
          <a:noFill/>
          <a:ln/>
        </p:spPr>
        <p:txBody>
          <a:bodyPr wrap="square" lIns="0" tIns="0" rIns="0" bIns="0" rtlCol="0" anchor="ctr"/>
          <a:lstStyle/>
          <a:p>
            <a:pP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OWN SITE</a:t>
            </a:r>
            <a:endParaRPr lang="en-US" sz="850" dirty="0"/>
          </a:p>
        </p:txBody>
      </p:sp>
      <p:sp>
        <p:nvSpPr>
          <p:cNvPr id="8" name="Text 6"/>
          <p:cNvSpPr/>
          <p:nvPr/>
        </p:nvSpPr>
        <p:spPr>
          <a:xfrm>
            <a:off x="914400" y="2688336"/>
            <a:ext cx="2014720" cy="457200"/>
          </a:xfrm>
          <a:prstGeom prst="rect">
            <a:avLst/>
          </a:prstGeom>
          <a:noFill/>
          <a:ln/>
        </p:spPr>
        <p:txBody>
          <a:bodyPr wrap="square" lIns="0" tIns="0" rIns="0" bIns="0" rtlCol="0" anchor="ctr"/>
          <a:lstStyle/>
          <a:p>
            <a:pPr indent="0" marL="0">
              <a:buNone/>
            </a:pPr>
            <a:r>
              <a:rPr lang="en-US" sz="1600" b="1" dirty="0">
                <a:solidFill>
                  <a:srgbClr val="FFFFFF"/>
                </a:solidFill>
                <a:latin typeface="Zalando Sans Expanded" pitchFamily="34" charset="0"/>
                <a:ea typeface="Zalando Sans Expanded" pitchFamily="34" charset="-122"/>
                <a:cs typeface="Zalando Sans Expanded" pitchFamily="34" charset="-120"/>
              </a:rPr>
              <a:t>toni.black</a:t>
            </a:r>
            <a:endParaRPr lang="en-US" sz="1600" dirty="0"/>
          </a:p>
        </p:txBody>
      </p:sp>
      <p:sp>
        <p:nvSpPr>
          <p:cNvPr id="9" name="Text 7"/>
          <p:cNvSpPr/>
          <p:nvPr/>
        </p:nvSpPr>
        <p:spPr>
          <a:xfrm>
            <a:off x="914400" y="3218688"/>
            <a:ext cx="2014720" cy="640080"/>
          </a:xfrm>
          <a:prstGeom prst="rect">
            <a:avLst/>
          </a:prstGeom>
          <a:noFill/>
          <a:ln/>
        </p:spPr>
        <p:txBody>
          <a:bodyPr wrap="square" lIns="0" tIns="0" rIns="0" bIns="0" rtlCol="0" anchor="t"/>
          <a:lstStyle/>
          <a:p>
            <a:pPr indent="0" marL="0">
              <a:lnSpc>
                <a:spcPts val="1523"/>
              </a:lnSpc>
              <a:buNone/>
            </a:pPr>
            <a:r>
              <a:rPr lang="en-US" sz="1050" dirty="0">
                <a:solidFill>
                  <a:srgbClr val="CCCCCC"/>
                </a:solidFill>
                <a:latin typeface="Arimo" pitchFamily="34" charset="0"/>
                <a:ea typeface="Arimo" pitchFamily="34" charset="-122"/>
                <a:cs typeface="Arimo" pitchFamily="34" charset="-120"/>
              </a:rPr>
              <a:t>The full range and Fit Lab.</a:t>
            </a:r>
            <a:endParaRPr lang="en-US" sz="1050" dirty="0"/>
          </a:p>
        </p:txBody>
      </p:sp>
      <p:sp>
        <p:nvSpPr>
          <p:cNvPr id="10" name="Shape 8"/>
          <p:cNvSpPr/>
          <p:nvPr/>
        </p:nvSpPr>
        <p:spPr>
          <a:xfrm>
            <a:off x="3422896" y="2148840"/>
            <a:ext cx="2563360" cy="2011680"/>
          </a:xfrm>
          <a:prstGeom prst="roundRect">
            <a:avLst>
              <a:gd name="adj" fmla="val 3636"/>
            </a:avLst>
          </a:prstGeom>
          <a:solidFill>
            <a:srgbClr val="F2F2F3"/>
          </a:solidFill>
          <a:ln w="12700">
            <a:solidFill>
              <a:srgbClr val="F2F2F3"/>
            </a:solidFill>
            <a:prstDash val="solid"/>
          </a:ln>
        </p:spPr>
      </p:sp>
      <p:sp>
        <p:nvSpPr>
          <p:cNvPr id="11" name="Text 9"/>
          <p:cNvSpPr/>
          <p:nvPr/>
        </p:nvSpPr>
        <p:spPr>
          <a:xfrm>
            <a:off x="3697216" y="2377440"/>
            <a:ext cx="2014720" cy="237744"/>
          </a:xfrm>
          <a:prstGeom prst="rect">
            <a:avLst/>
          </a:prstGeom>
          <a:noFill/>
          <a:ln/>
        </p:spPr>
        <p:txBody>
          <a:bodyPr wrap="square" lIns="0" tIns="0" rIns="0" bIns="0" rtlCol="0" anchor="ctr"/>
          <a:lstStyle/>
          <a:p>
            <a:pPr indent="0" marL="0">
              <a:buNone/>
            </a:pPr>
            <a:r>
              <a:rPr lang="en-US" sz="850" b="1" spc="260" kern="0" dirty="0">
                <a:solidFill>
                  <a:srgbClr val="4F5052"/>
                </a:solidFill>
                <a:latin typeface="Zalando Sans Expanded" pitchFamily="34" charset="0"/>
                <a:ea typeface="Zalando Sans Expanded" pitchFamily="34" charset="-122"/>
                <a:cs typeface="Zalando Sans Expanded" pitchFamily="34" charset="-120"/>
              </a:rPr>
              <a:t>MARKETPLACE</a:t>
            </a:r>
            <a:endParaRPr lang="en-US" sz="850" dirty="0"/>
          </a:p>
        </p:txBody>
      </p:sp>
      <p:sp>
        <p:nvSpPr>
          <p:cNvPr id="12" name="Text 10"/>
          <p:cNvSpPr/>
          <p:nvPr/>
        </p:nvSpPr>
        <p:spPr>
          <a:xfrm>
            <a:off x="3697216" y="2688336"/>
            <a:ext cx="2014720" cy="457200"/>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Shopee</a:t>
            </a:r>
            <a:endParaRPr lang="en-US" sz="1600" dirty="0"/>
          </a:p>
        </p:txBody>
      </p:sp>
      <p:sp>
        <p:nvSpPr>
          <p:cNvPr id="13" name="Text 11"/>
          <p:cNvSpPr/>
          <p:nvPr/>
        </p:nvSpPr>
        <p:spPr>
          <a:xfrm>
            <a:off x="3697216" y="3218688"/>
            <a:ext cx="2014720" cy="64008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Official store.</a:t>
            </a:r>
            <a:endParaRPr lang="en-US" sz="1050" dirty="0"/>
          </a:p>
        </p:txBody>
      </p:sp>
      <p:sp>
        <p:nvSpPr>
          <p:cNvPr id="14" name="Shape 12"/>
          <p:cNvSpPr/>
          <p:nvPr/>
        </p:nvSpPr>
        <p:spPr>
          <a:xfrm>
            <a:off x="6205713" y="2148840"/>
            <a:ext cx="2563360" cy="2011680"/>
          </a:xfrm>
          <a:prstGeom prst="roundRect">
            <a:avLst>
              <a:gd name="adj" fmla="val 3636"/>
            </a:avLst>
          </a:prstGeom>
          <a:solidFill>
            <a:srgbClr val="F2F2F3"/>
          </a:solidFill>
          <a:ln w="12700">
            <a:solidFill>
              <a:srgbClr val="F2F2F3"/>
            </a:solidFill>
            <a:prstDash val="solid"/>
          </a:ln>
        </p:spPr>
      </p:sp>
      <p:sp>
        <p:nvSpPr>
          <p:cNvPr id="15" name="Text 13"/>
          <p:cNvSpPr/>
          <p:nvPr/>
        </p:nvSpPr>
        <p:spPr>
          <a:xfrm>
            <a:off x="6480033" y="2377440"/>
            <a:ext cx="2014720" cy="237744"/>
          </a:xfrm>
          <a:prstGeom prst="rect">
            <a:avLst/>
          </a:prstGeom>
          <a:noFill/>
          <a:ln/>
        </p:spPr>
        <p:txBody>
          <a:bodyPr wrap="square" lIns="0" tIns="0" rIns="0" bIns="0" rtlCol="0" anchor="ctr"/>
          <a:lstStyle/>
          <a:p>
            <a:pPr indent="0" marL="0">
              <a:buNone/>
            </a:pPr>
            <a:r>
              <a:rPr lang="en-US" sz="850" b="1" spc="260" kern="0" dirty="0">
                <a:solidFill>
                  <a:srgbClr val="4F5052"/>
                </a:solidFill>
                <a:latin typeface="Zalando Sans Expanded" pitchFamily="34" charset="0"/>
                <a:ea typeface="Zalando Sans Expanded" pitchFamily="34" charset="-122"/>
                <a:cs typeface="Zalando Sans Expanded" pitchFamily="34" charset="-120"/>
              </a:rPr>
              <a:t>SOCIAL COMMERCE</a:t>
            </a:r>
            <a:endParaRPr lang="en-US" sz="850" dirty="0"/>
          </a:p>
        </p:txBody>
      </p:sp>
      <p:sp>
        <p:nvSpPr>
          <p:cNvPr id="16" name="Text 14"/>
          <p:cNvSpPr/>
          <p:nvPr/>
        </p:nvSpPr>
        <p:spPr>
          <a:xfrm>
            <a:off x="6480033" y="2688336"/>
            <a:ext cx="2014720" cy="457200"/>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TikTok Shop</a:t>
            </a:r>
            <a:endParaRPr lang="en-US" sz="1600" dirty="0"/>
          </a:p>
        </p:txBody>
      </p:sp>
      <p:sp>
        <p:nvSpPr>
          <p:cNvPr id="17" name="Text 15"/>
          <p:cNvSpPr/>
          <p:nvPr/>
        </p:nvSpPr>
        <p:spPr>
          <a:xfrm>
            <a:off x="6480033" y="3218688"/>
            <a:ext cx="2014720" cy="64008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Live selling and short video.</a:t>
            </a:r>
            <a:endParaRPr lang="en-US" sz="1050" dirty="0"/>
          </a:p>
        </p:txBody>
      </p:sp>
      <p:sp>
        <p:nvSpPr>
          <p:cNvPr id="18" name="Shape 16"/>
          <p:cNvSpPr/>
          <p:nvPr/>
        </p:nvSpPr>
        <p:spPr>
          <a:xfrm>
            <a:off x="8988529" y="2148840"/>
            <a:ext cx="2563360" cy="2011680"/>
          </a:xfrm>
          <a:prstGeom prst="roundRect">
            <a:avLst>
              <a:gd name="adj" fmla="val 3636"/>
            </a:avLst>
          </a:prstGeom>
          <a:solidFill>
            <a:srgbClr val="F2F2F3"/>
          </a:solidFill>
          <a:ln w="12700">
            <a:solidFill>
              <a:srgbClr val="F2F2F3"/>
            </a:solidFill>
            <a:prstDash val="solid"/>
          </a:ln>
        </p:spPr>
      </p:sp>
      <p:sp>
        <p:nvSpPr>
          <p:cNvPr id="19" name="Text 17"/>
          <p:cNvSpPr/>
          <p:nvPr/>
        </p:nvSpPr>
        <p:spPr>
          <a:xfrm>
            <a:off x="9262849" y="2377440"/>
            <a:ext cx="2014720" cy="237744"/>
          </a:xfrm>
          <a:prstGeom prst="rect">
            <a:avLst/>
          </a:prstGeom>
          <a:noFill/>
          <a:ln/>
        </p:spPr>
        <p:txBody>
          <a:bodyPr wrap="square" lIns="0" tIns="0" rIns="0" bIns="0" rtlCol="0" anchor="ctr"/>
          <a:lstStyle/>
          <a:p>
            <a:pPr indent="0" marL="0">
              <a:buNone/>
            </a:pPr>
            <a:r>
              <a:rPr lang="en-US" sz="850" b="1" spc="260" kern="0" dirty="0">
                <a:solidFill>
                  <a:srgbClr val="4F5052"/>
                </a:solidFill>
                <a:latin typeface="Zalando Sans Expanded" pitchFamily="34" charset="0"/>
                <a:ea typeface="Zalando Sans Expanded" pitchFamily="34" charset="-122"/>
                <a:cs typeface="Zalando Sans Expanded" pitchFamily="34" charset="-120"/>
              </a:rPr>
              <a:t>AFFILIATE</a:t>
            </a:r>
            <a:endParaRPr lang="en-US" sz="850" dirty="0"/>
          </a:p>
        </p:txBody>
      </p:sp>
      <p:sp>
        <p:nvSpPr>
          <p:cNvPr id="20" name="Text 18"/>
          <p:cNvSpPr/>
          <p:nvPr/>
        </p:nvSpPr>
        <p:spPr>
          <a:xfrm>
            <a:off x="9262849" y="2688336"/>
            <a:ext cx="2014720" cy="457200"/>
          </a:xfrm>
          <a:prstGeom prst="rect">
            <a:avLst/>
          </a:prstGeom>
          <a:noFill/>
          <a:ln/>
        </p:spPr>
        <p:txBody>
          <a:bodyPr wrap="square" lIns="0" tIns="0" rIns="0" bIns="0" rtlCol="0" anchor="ctr"/>
          <a:lstStyle/>
          <a:p>
            <a:pPr indent="0" marL="0">
              <a:buNone/>
            </a:pPr>
            <a:r>
              <a:rPr lang="en-US" sz="1600" b="1" dirty="0">
                <a:solidFill>
                  <a:srgbClr val="282828"/>
                </a:solidFill>
                <a:latin typeface="Zalando Sans Expanded" pitchFamily="34" charset="0"/>
                <a:ea typeface="Zalando Sans Expanded" pitchFamily="34" charset="-122"/>
                <a:cs typeface="Zalando Sans Expanded" pitchFamily="34" charset="-120"/>
              </a:rPr>
              <a:t>BLACKLIST</a:t>
            </a:r>
            <a:endParaRPr lang="en-US" sz="1600" dirty="0"/>
          </a:p>
        </p:txBody>
      </p:sp>
      <p:sp>
        <p:nvSpPr>
          <p:cNvPr id="21" name="Text 19"/>
          <p:cNvSpPr/>
          <p:nvPr/>
        </p:nvSpPr>
        <p:spPr>
          <a:xfrm>
            <a:off x="9262849" y="3218688"/>
            <a:ext cx="2014720" cy="640080"/>
          </a:xfrm>
          <a:prstGeom prst="rect">
            <a:avLst/>
          </a:prstGeom>
          <a:noFill/>
          <a:ln/>
        </p:spPr>
        <p:txBody>
          <a:bodyPr wrap="square" lIns="0" tIns="0" rIns="0" bIns="0" rtlCol="0" anchor="t"/>
          <a:lstStyle/>
          <a:p>
            <a:pPr indent="0" marL="0">
              <a:lnSpc>
                <a:spcPts val="1523"/>
              </a:lnSpc>
              <a:buNone/>
            </a:pPr>
            <a:r>
              <a:rPr lang="en-US" sz="1050" dirty="0">
                <a:solidFill>
                  <a:srgbClr val="4F5052"/>
                </a:solidFill>
                <a:latin typeface="Arimo" pitchFamily="34" charset="0"/>
                <a:ea typeface="Arimo" pitchFamily="34" charset="-122"/>
                <a:cs typeface="Arimo" pitchFamily="34" charset="-120"/>
              </a:rPr>
              <a:t>The affiliate programme.</a:t>
            </a:r>
            <a:endParaRPr lang="en-US" sz="1050" dirty="0"/>
          </a:p>
        </p:txBody>
      </p:sp>
      <p:sp>
        <p:nvSpPr>
          <p:cNvPr id="22" name="Shape 20"/>
          <p:cNvSpPr/>
          <p:nvPr/>
        </p:nvSpPr>
        <p:spPr>
          <a:xfrm>
            <a:off x="640080" y="4480560"/>
            <a:ext cx="10911810" cy="1645920"/>
          </a:xfrm>
          <a:prstGeom prst="roundRect">
            <a:avLst>
              <a:gd name="adj" fmla="val 4444"/>
            </a:avLst>
          </a:prstGeom>
          <a:solidFill>
            <a:srgbClr val="F2F2F3"/>
          </a:solidFill>
          <a:ln w="12700">
            <a:solidFill>
              <a:srgbClr val="F2F2F3"/>
            </a:solidFill>
            <a:prstDash val="solid"/>
          </a:ln>
        </p:spPr>
      </p:sp>
      <p:sp>
        <p:nvSpPr>
          <p:cNvPr id="23" name="Text 21"/>
          <p:cNvSpPr/>
          <p:nvPr/>
        </p:nvSpPr>
        <p:spPr>
          <a:xfrm>
            <a:off x="950976" y="4718304"/>
            <a:ext cx="3657600"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SOCIAL</a:t>
            </a:r>
            <a:endParaRPr lang="en-US" sz="950" dirty="0"/>
          </a:p>
        </p:txBody>
      </p:sp>
      <p:sp>
        <p:nvSpPr>
          <p:cNvPr id="24" name="Text 22"/>
          <p:cNvSpPr/>
          <p:nvPr/>
        </p:nvSpPr>
        <p:spPr>
          <a:xfrm>
            <a:off x="950976" y="5010912"/>
            <a:ext cx="5486400" cy="420624"/>
          </a:xfrm>
          <a:prstGeom prst="rect">
            <a:avLst/>
          </a:prstGeom>
          <a:noFill/>
          <a:ln/>
        </p:spPr>
        <p:txBody>
          <a:bodyPr wrap="square" lIns="0" tIns="0" rIns="0" bIns="0" rtlCol="0" anchor="ctr"/>
          <a:lstStyle/>
          <a:p>
            <a:pPr indent="0" marL="0">
              <a:buNone/>
            </a:pPr>
            <a:r>
              <a:rPr lang="en-US" sz="1700" b="1" dirty="0">
                <a:solidFill>
                  <a:srgbClr val="282828"/>
                </a:solidFill>
                <a:latin typeface="Zalando Sans Expanded" pitchFamily="34" charset="0"/>
                <a:ea typeface="Zalando Sans Expanded" pitchFamily="34" charset="-122"/>
                <a:cs typeface="Zalando Sans Expanded" pitchFamily="34" charset="-120"/>
              </a:rPr>
              <a:t>Instagram   ·   TikTok   ·   Facebook</a:t>
            </a:r>
            <a:endParaRPr lang="en-US" sz="1700" dirty="0"/>
          </a:p>
        </p:txBody>
      </p:sp>
      <p:sp>
        <p:nvSpPr>
          <p:cNvPr id="25" name="Text 23"/>
          <p:cNvSpPr/>
          <p:nvPr/>
        </p:nvSpPr>
        <p:spPr>
          <a:xfrm>
            <a:off x="950976" y="5504688"/>
            <a:ext cx="6400800" cy="402336"/>
          </a:xfrm>
          <a:prstGeom prst="rect">
            <a:avLst/>
          </a:prstGeom>
          <a:noFill/>
          <a:ln/>
        </p:spPr>
        <p:txBody>
          <a:bodyPr wrap="square" lIns="0" tIns="0" rIns="0" bIns="0" rtlCol="0" anchor="t"/>
          <a:lstStyle/>
          <a:p>
            <a:pPr indent="0" marL="0">
              <a:lnSpc>
                <a:spcPts val="1595"/>
              </a:lnSpc>
              <a:buNone/>
            </a:pPr>
            <a:r>
              <a:rPr lang="en-US" sz="1100" dirty="0">
                <a:solidFill>
                  <a:srgbClr val="4F5052"/>
                </a:solidFill>
                <a:latin typeface="Arimo" pitchFamily="34" charset="0"/>
                <a:ea typeface="Arimo" pitchFamily="34" charset="-122"/>
                <a:cs typeface="Arimo" pitchFamily="34" charset="-120"/>
              </a:rPr>
              <a:t>Same product, same prices. The affiliate commission is 15% plus ads.</a:t>
            </a:r>
            <a:endParaRPr lang="en-US" sz="1100" dirty="0"/>
          </a:p>
        </p:txBody>
      </p:sp>
      <p:sp>
        <p:nvSpPr>
          <p:cNvPr id="26" name="Text 24"/>
          <p:cNvSpPr/>
          <p:nvPr/>
        </p:nvSpPr>
        <p:spPr>
          <a:xfrm>
            <a:off x="7583394" y="5010912"/>
            <a:ext cx="3657600" cy="420624"/>
          </a:xfrm>
          <a:prstGeom prst="rect">
            <a:avLst/>
          </a:prstGeom>
          <a:noFill/>
          <a:ln/>
        </p:spPr>
        <p:txBody>
          <a:bodyPr wrap="square" lIns="0" tIns="0" rIns="0" bIns="0" rtlCol="0" anchor="ctr"/>
          <a:lstStyle/>
          <a:p>
            <a:pPr algn="r" indent="0" marL="0">
              <a:buNone/>
            </a:pPr>
            <a:r>
              <a:rPr lang="en-US" sz="1700" b="1" dirty="0">
                <a:solidFill>
                  <a:srgbClr val="4F5052"/>
                </a:solidFill>
                <a:latin typeface="Zalando Sans Expanded" pitchFamily="34" charset="0"/>
                <a:ea typeface="Zalando Sans Expanded" pitchFamily="34" charset="-122"/>
                <a:cs typeface="Zalando Sans Expanded" pitchFamily="34" charset="-120"/>
              </a:rPr>
              <a:t>toni.black</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139434" cy="310896"/>
          </a:xfrm>
          <a:prstGeom prst="roundRect">
            <a:avLst>
              <a:gd name="adj" fmla="val 50000"/>
            </a:avLst>
          </a:prstGeom>
          <a:solidFill>
            <a:srgbClr val="282828"/>
          </a:solidFill>
          <a:ln w="12700">
            <a:solidFill>
              <a:srgbClr val="282828"/>
            </a:solidFill>
            <a:prstDash val="solid"/>
          </a:ln>
        </p:spPr>
      </p:sp>
      <p:sp>
        <p:nvSpPr>
          <p:cNvPr id="3" name="Text 1"/>
          <p:cNvSpPr/>
          <p:nvPr/>
        </p:nvSpPr>
        <p:spPr>
          <a:xfrm>
            <a:off x="640080" y="475488"/>
            <a:ext cx="1139434"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Zalando Sans Expanded" pitchFamily="34" charset="0"/>
                <a:ea typeface="Zalando Sans Expanded" pitchFamily="34" charset="-122"/>
                <a:cs typeface="Zalando Sans Expanded" pitchFamily="34" charset="-120"/>
              </a:rPr>
              <a:t>13   Care</a:t>
            </a:r>
            <a:endParaRPr lang="en-US" sz="900" dirty="0"/>
          </a:p>
        </p:txBody>
      </p:sp>
      <p:sp>
        <p:nvSpPr>
          <p:cNvPr id="4" name="Text 2"/>
          <p:cNvSpPr/>
          <p:nvPr/>
        </p:nvSpPr>
        <p:spPr>
          <a:xfrm>
            <a:off x="8625810" y="475488"/>
            <a:ext cx="2926080" cy="310896"/>
          </a:xfrm>
          <a:prstGeom prst="rect">
            <a:avLst/>
          </a:prstGeom>
          <a:noFill/>
          <a:ln/>
        </p:spPr>
        <p:txBody>
          <a:bodyPr wrap="square" lIns="0" tIns="0" rIns="0" bIns="0" rtlCol="0" anchor="ctr"/>
          <a:lstStyle/>
          <a:p>
            <a:pPr algn="r" indent="0" marL="0">
              <a:buNone/>
            </a:pPr>
            <a:r>
              <a:rPr lang="en-US" sz="850" b="1" spc="240" kern="0" dirty="0">
                <a:solidFill>
                  <a:srgbClr val="4F5052"/>
                </a:solidFill>
                <a:latin typeface="Zalando Sans Expanded" pitchFamily="34" charset="0"/>
                <a:ea typeface="Zalando Sans Expanded" pitchFamily="34" charset="-122"/>
                <a:cs typeface="Zalando Sans Expanded" pitchFamily="34" charset="-120"/>
              </a:rPr>
              <a:t>PRODUCT KNOWLEDGE</a:t>
            </a:r>
            <a:endParaRPr lang="en-US" sz="850" dirty="0"/>
          </a:p>
        </p:txBody>
      </p:sp>
      <p:sp>
        <p:nvSpPr>
          <p:cNvPr id="5" name="Text 3"/>
          <p:cNvSpPr/>
          <p:nvPr/>
        </p:nvSpPr>
        <p:spPr>
          <a:xfrm>
            <a:off x="640080" y="932688"/>
            <a:ext cx="8595360" cy="713232"/>
          </a:xfrm>
          <a:prstGeom prst="rect">
            <a:avLst/>
          </a:prstGeom>
          <a:noFill/>
          <a:ln/>
        </p:spPr>
        <p:txBody>
          <a:bodyPr wrap="square" lIns="0" tIns="0" rIns="0" bIns="0" rtlCol="0" anchor="ctr"/>
          <a:lstStyle/>
          <a:p>
            <a:pPr indent="0" marL="0">
              <a:lnSpc>
                <a:spcPts val="3180"/>
              </a:lnSpc>
              <a:buNone/>
            </a:pPr>
            <a:r>
              <a:rPr lang="en-US" sz="3000" b="1" dirty="0">
                <a:solidFill>
                  <a:srgbClr val="282828"/>
                </a:solidFill>
                <a:latin typeface="Zalando Sans Expanded" pitchFamily="34" charset="0"/>
                <a:ea typeface="Zalando Sans Expanded" pitchFamily="34" charset="-122"/>
                <a:cs typeface="Zalando Sans Expanded" pitchFamily="34" charset="-120"/>
              </a:rPr>
              <a:t>Care, returns, guarantee</a:t>
            </a:r>
            <a:endParaRPr lang="en-US" sz="3000" dirty="0"/>
          </a:p>
        </p:txBody>
      </p:sp>
      <p:sp>
        <p:nvSpPr>
          <p:cNvPr id="6" name="Shape 4"/>
          <p:cNvSpPr/>
          <p:nvPr/>
        </p:nvSpPr>
        <p:spPr>
          <a:xfrm>
            <a:off x="640080" y="2148840"/>
            <a:ext cx="5318745" cy="3977640"/>
          </a:xfrm>
          <a:prstGeom prst="roundRect">
            <a:avLst>
              <a:gd name="adj" fmla="val 1839"/>
            </a:avLst>
          </a:prstGeom>
          <a:solidFill>
            <a:srgbClr val="F2F2F3"/>
          </a:solidFill>
          <a:ln w="12700">
            <a:solidFill>
              <a:srgbClr val="F2F2F3"/>
            </a:solidFill>
            <a:prstDash val="solid"/>
          </a:ln>
        </p:spPr>
      </p:sp>
      <p:pic>
        <p:nvPicPr>
          <p:cNvPr id="7" name="Image 0" descr="/home/user/Dom-Manipulation/toni-black/product-knowledge/source/img/care1.png">    </p:cNvPr>
          <p:cNvPicPr>
            <a:picLocks noChangeAspect="1"/>
          </p:cNvPicPr>
          <p:nvPr/>
        </p:nvPicPr>
        <p:blipFill>
          <a:blip r:embed="rId1"/>
          <a:stretch>
            <a:fillRect/>
          </a:stretch>
        </p:blipFill>
        <p:spPr>
          <a:xfrm>
            <a:off x="914400" y="2395728"/>
            <a:ext cx="2331720" cy="1417320"/>
          </a:xfrm>
          <a:prstGeom prst="rect">
            <a:avLst/>
          </a:prstGeom>
        </p:spPr>
      </p:pic>
      <p:sp>
        <p:nvSpPr>
          <p:cNvPr id="8" name="Text 5"/>
          <p:cNvSpPr/>
          <p:nvPr/>
        </p:nvSpPr>
        <p:spPr>
          <a:xfrm>
            <a:off x="3429000" y="2487168"/>
            <a:ext cx="2255505" cy="237744"/>
          </a:xfrm>
          <a:prstGeom prst="rect">
            <a:avLst/>
          </a:prstGeom>
          <a:noFill/>
          <a:ln/>
        </p:spPr>
        <p:txBody>
          <a:bodyPr wrap="square" lIns="0" tIns="0" rIns="0" bIns="0" rtlCol="0" anchor="ctr"/>
          <a:lstStyle/>
          <a:p>
            <a:pPr indent="0" marL="0">
              <a:buNone/>
            </a:pPr>
            <a:r>
              <a:rPr lang="en-US" sz="950" b="1" spc="260" kern="0" dirty="0">
                <a:solidFill>
                  <a:srgbClr val="4F5052"/>
                </a:solidFill>
                <a:latin typeface="Zalando Sans Expanded" pitchFamily="34" charset="0"/>
                <a:ea typeface="Zalando Sans Expanded" pitchFamily="34" charset="-122"/>
                <a:cs typeface="Zalando Sans Expanded" pitchFamily="34" charset="-120"/>
              </a:rPr>
              <a:t>CARE</a:t>
            </a:r>
            <a:endParaRPr lang="en-US" sz="950" dirty="0"/>
          </a:p>
        </p:txBody>
      </p:sp>
      <p:sp>
        <p:nvSpPr>
          <p:cNvPr id="9" name="Text 6"/>
          <p:cNvSpPr/>
          <p:nvPr/>
        </p:nvSpPr>
        <p:spPr>
          <a:xfrm>
            <a:off x="3429000" y="2761488"/>
            <a:ext cx="2255505" cy="731520"/>
          </a:xfrm>
          <a:prstGeom prst="rect">
            <a:avLst/>
          </a:prstGeom>
          <a:noFill/>
          <a:ln/>
        </p:spPr>
        <p:txBody>
          <a:bodyPr wrap="square" lIns="0" tIns="0" rIns="0" bIns="0" rtlCol="0" anchor="ctr"/>
          <a:lstStyle/>
          <a:p>
            <a:pPr indent="0" marL="0">
              <a:lnSpc>
                <a:spcPts val="1900"/>
              </a:lnSpc>
              <a:buNone/>
            </a:pPr>
            <a:r>
              <a:rPr lang="en-US" sz="1500" b="1" dirty="0">
                <a:solidFill>
                  <a:srgbClr val="282828"/>
                </a:solidFill>
                <a:latin typeface="Zalando Sans Expanded" pitchFamily="34" charset="0"/>
                <a:ea typeface="Zalando Sans Expanded" pitchFamily="34" charset="-122"/>
                <a:cs typeface="Zalando Sans Expanded" pitchFamily="34" charset="-120"/>
              </a:rPr>
              <a:t>The same for every style</a:t>
            </a:r>
            <a:endParaRPr lang="en-US" sz="1500" dirty="0"/>
          </a:p>
        </p:txBody>
      </p:sp>
      <p:sp>
        <p:nvSpPr>
          <p:cNvPr id="10" name="Shape 7"/>
          <p:cNvSpPr/>
          <p:nvPr/>
        </p:nvSpPr>
        <p:spPr>
          <a:xfrm>
            <a:off x="914400" y="4165092"/>
            <a:ext cx="128016" cy="27432"/>
          </a:xfrm>
          <a:prstGeom prst="rect">
            <a:avLst/>
          </a:prstGeom>
          <a:solidFill>
            <a:srgbClr val="818284"/>
          </a:solidFill>
          <a:ln w="12700">
            <a:solidFill>
              <a:srgbClr val="818284"/>
            </a:solidFill>
            <a:prstDash val="solid"/>
          </a:ln>
        </p:spPr>
      </p:sp>
      <p:sp>
        <p:nvSpPr>
          <p:cNvPr id="11" name="Text 8"/>
          <p:cNvSpPr/>
          <p:nvPr/>
        </p:nvSpPr>
        <p:spPr>
          <a:xfrm>
            <a:off x="1188720" y="4041648"/>
            <a:ext cx="4495785"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Machine wash cold, gentle cycle</a:t>
            </a:r>
            <a:endParaRPr lang="en-US" sz="1100" dirty="0"/>
          </a:p>
        </p:txBody>
      </p:sp>
      <p:sp>
        <p:nvSpPr>
          <p:cNvPr id="12" name="Shape 9"/>
          <p:cNvSpPr/>
          <p:nvPr/>
        </p:nvSpPr>
        <p:spPr>
          <a:xfrm>
            <a:off x="914400" y="4567428"/>
            <a:ext cx="128016" cy="27432"/>
          </a:xfrm>
          <a:prstGeom prst="rect">
            <a:avLst/>
          </a:prstGeom>
          <a:solidFill>
            <a:srgbClr val="818284"/>
          </a:solidFill>
          <a:ln w="12700">
            <a:solidFill>
              <a:srgbClr val="818284"/>
            </a:solidFill>
            <a:prstDash val="solid"/>
          </a:ln>
        </p:spPr>
      </p:sp>
      <p:sp>
        <p:nvSpPr>
          <p:cNvPr id="13" name="Text 10"/>
          <p:cNvSpPr/>
          <p:nvPr/>
        </p:nvSpPr>
        <p:spPr>
          <a:xfrm>
            <a:off x="1188720" y="4443984"/>
            <a:ext cx="4495785"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Non-chlorine bleach only when needed</a:t>
            </a:r>
            <a:endParaRPr lang="en-US" sz="1100" dirty="0"/>
          </a:p>
        </p:txBody>
      </p:sp>
      <p:sp>
        <p:nvSpPr>
          <p:cNvPr id="14" name="Shape 11"/>
          <p:cNvSpPr/>
          <p:nvPr/>
        </p:nvSpPr>
        <p:spPr>
          <a:xfrm>
            <a:off x="914400" y="4969764"/>
            <a:ext cx="128016" cy="27432"/>
          </a:xfrm>
          <a:prstGeom prst="rect">
            <a:avLst/>
          </a:prstGeom>
          <a:solidFill>
            <a:srgbClr val="818284"/>
          </a:solidFill>
          <a:ln w="12700">
            <a:solidFill>
              <a:srgbClr val="818284"/>
            </a:solidFill>
            <a:prstDash val="solid"/>
          </a:ln>
        </p:spPr>
      </p:sp>
      <p:sp>
        <p:nvSpPr>
          <p:cNvPr id="15" name="Text 12"/>
          <p:cNvSpPr/>
          <p:nvPr/>
        </p:nvSpPr>
        <p:spPr>
          <a:xfrm>
            <a:off x="1188720" y="4846320"/>
            <a:ext cx="4495785"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Tumble dry low</a:t>
            </a:r>
            <a:endParaRPr lang="en-US" sz="1100" dirty="0"/>
          </a:p>
        </p:txBody>
      </p:sp>
      <p:sp>
        <p:nvSpPr>
          <p:cNvPr id="16" name="Shape 13"/>
          <p:cNvSpPr/>
          <p:nvPr/>
        </p:nvSpPr>
        <p:spPr>
          <a:xfrm>
            <a:off x="914400" y="5372100"/>
            <a:ext cx="128016" cy="27432"/>
          </a:xfrm>
          <a:prstGeom prst="rect">
            <a:avLst/>
          </a:prstGeom>
          <a:solidFill>
            <a:srgbClr val="818284"/>
          </a:solidFill>
          <a:ln w="12700">
            <a:solidFill>
              <a:srgbClr val="818284"/>
            </a:solidFill>
            <a:prstDash val="solid"/>
          </a:ln>
        </p:spPr>
      </p:sp>
      <p:sp>
        <p:nvSpPr>
          <p:cNvPr id="17" name="Text 14"/>
          <p:cNvSpPr/>
          <p:nvPr/>
        </p:nvSpPr>
        <p:spPr>
          <a:xfrm>
            <a:off x="1188720" y="5248656"/>
            <a:ext cx="4495785" cy="274320"/>
          </a:xfrm>
          <a:prstGeom prst="rect">
            <a:avLst/>
          </a:prstGeom>
          <a:noFill/>
          <a:ln/>
        </p:spPr>
        <p:txBody>
          <a:bodyPr wrap="square" lIns="0" tIns="0" rIns="0" bIns="0" rtlCol="0" anchor="ctr"/>
          <a:lstStyle/>
          <a:p>
            <a:pPr indent="0" marL="0">
              <a:buNone/>
            </a:pPr>
            <a:r>
              <a:rPr lang="en-US" sz="1100" dirty="0">
                <a:solidFill>
                  <a:srgbClr val="4F5052"/>
                </a:solidFill>
                <a:latin typeface="Arimo" pitchFamily="34" charset="0"/>
                <a:ea typeface="Arimo" pitchFamily="34" charset="-122"/>
                <a:cs typeface="Arimo" pitchFamily="34" charset="-120"/>
              </a:rPr>
              <a:t>Iron low</a:t>
            </a:r>
            <a:endParaRPr lang="en-US" sz="1100" dirty="0"/>
          </a:p>
        </p:txBody>
      </p:sp>
      <p:sp>
        <p:nvSpPr>
          <p:cNvPr id="18" name="Shape 15"/>
          <p:cNvSpPr/>
          <p:nvPr/>
        </p:nvSpPr>
        <p:spPr>
          <a:xfrm>
            <a:off x="6233145" y="2148840"/>
            <a:ext cx="5318745" cy="3977640"/>
          </a:xfrm>
          <a:prstGeom prst="roundRect">
            <a:avLst>
              <a:gd name="adj" fmla="val 1839"/>
            </a:avLst>
          </a:prstGeom>
          <a:solidFill>
            <a:srgbClr val="282828"/>
          </a:solidFill>
          <a:ln w="12700">
            <a:solidFill>
              <a:srgbClr val="282828"/>
            </a:solidFill>
            <a:prstDash val="solid"/>
          </a:ln>
        </p:spPr>
      </p:sp>
      <p:pic>
        <p:nvPicPr>
          <p:cNvPr id="19" name="Image 1" descr="/home/user/Dom-Manipulation/toni-black/product-knowledge/source/img/care2.png">    </p:cNvPr>
          <p:cNvPicPr>
            <a:picLocks noChangeAspect="1"/>
          </p:cNvPicPr>
          <p:nvPr/>
        </p:nvPicPr>
        <p:blipFill>
          <a:blip r:embed="rId2"/>
          <a:stretch>
            <a:fillRect/>
          </a:stretch>
        </p:blipFill>
        <p:spPr>
          <a:xfrm>
            <a:off x="6507465" y="2395728"/>
            <a:ext cx="2331720" cy="1417320"/>
          </a:xfrm>
          <a:prstGeom prst="rect">
            <a:avLst/>
          </a:prstGeom>
        </p:spPr>
      </p:pic>
      <p:sp>
        <p:nvSpPr>
          <p:cNvPr id="20" name="Text 16"/>
          <p:cNvSpPr/>
          <p:nvPr/>
        </p:nvSpPr>
        <p:spPr>
          <a:xfrm>
            <a:off x="9022065" y="2487168"/>
            <a:ext cx="2255505"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GUARANTEE</a:t>
            </a:r>
            <a:endParaRPr lang="en-US" sz="950" dirty="0"/>
          </a:p>
        </p:txBody>
      </p:sp>
      <p:sp>
        <p:nvSpPr>
          <p:cNvPr id="21" name="Text 17"/>
          <p:cNvSpPr/>
          <p:nvPr/>
        </p:nvSpPr>
        <p:spPr>
          <a:xfrm>
            <a:off x="9022065" y="2761488"/>
            <a:ext cx="2255505" cy="7315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Zalando Sans Expanded" pitchFamily="34" charset="0"/>
                <a:ea typeface="Zalando Sans Expanded" pitchFamily="34" charset="-122"/>
                <a:cs typeface="Zalando Sans Expanded" pitchFamily="34" charset="-120"/>
              </a:rPr>
              <a:t>First Pair Guarantee</a:t>
            </a:r>
            <a:endParaRPr lang="en-US" sz="1500" dirty="0"/>
          </a:p>
        </p:txBody>
      </p:sp>
      <p:sp>
        <p:nvSpPr>
          <p:cNvPr id="22" name="Text 18"/>
          <p:cNvSpPr/>
          <p:nvPr/>
        </p:nvSpPr>
        <p:spPr>
          <a:xfrm>
            <a:off x="6507465" y="4041648"/>
            <a:ext cx="4770105" cy="1005840"/>
          </a:xfrm>
          <a:prstGeom prst="rect">
            <a:avLst/>
          </a:prstGeom>
          <a:noFill/>
          <a:ln/>
        </p:spPr>
        <p:txBody>
          <a:bodyPr wrap="square" lIns="0" tIns="0" rIns="0" bIns="0" rtlCol="0" anchor="t"/>
          <a:lstStyle/>
          <a:p>
            <a:pPr indent="0" marL="0">
              <a:lnSpc>
                <a:spcPts val="1595"/>
              </a:lnSpc>
              <a:buNone/>
            </a:pPr>
            <a:r>
              <a:rPr lang="en-US" sz="1100" dirty="0">
                <a:solidFill>
                  <a:srgbClr val="CCCCCC"/>
                </a:solidFill>
                <a:latin typeface="Arimo" pitchFamily="34" charset="0"/>
                <a:ea typeface="Arimo" pitchFamily="34" charset="-122"/>
                <a:cs typeface="Arimo" pitchFamily="34" charset="-120"/>
              </a:rPr>
              <a:t>If the first pair does not meet expectations for fit, comfort or quality, the customer contacts support within the guarantee period. One claim per customer.</a:t>
            </a:r>
            <a:endParaRPr lang="en-US" sz="1100" dirty="0"/>
          </a:p>
        </p:txBody>
      </p:sp>
      <p:sp>
        <p:nvSpPr>
          <p:cNvPr id="23" name="Text 19"/>
          <p:cNvSpPr/>
          <p:nvPr/>
        </p:nvSpPr>
        <p:spPr>
          <a:xfrm>
            <a:off x="6507465" y="5175504"/>
            <a:ext cx="4770105" cy="237744"/>
          </a:xfrm>
          <a:prstGeom prst="rect">
            <a:avLst/>
          </a:prstGeom>
          <a:noFill/>
          <a:ln/>
        </p:spPr>
        <p:txBody>
          <a:bodyPr wrap="square" lIns="0" tIns="0" rIns="0" bIns="0" rtlCol="0" anchor="ctr"/>
          <a:lstStyle/>
          <a:p>
            <a:pPr indent="0" marL="0">
              <a:buNone/>
            </a:pPr>
            <a:r>
              <a:rPr lang="en-US" sz="950" b="1" spc="260" kern="0" dirty="0">
                <a:solidFill>
                  <a:srgbClr val="CCCCCC"/>
                </a:solidFill>
                <a:latin typeface="Zalando Sans Expanded" pitchFamily="34" charset="0"/>
                <a:ea typeface="Zalando Sans Expanded" pitchFamily="34" charset="-122"/>
                <a:cs typeface="Zalando Sans Expanded" pitchFamily="34" charset="-120"/>
              </a:rPr>
              <a:t>RETURNS</a:t>
            </a:r>
            <a:endParaRPr lang="en-US" sz="950" dirty="0"/>
          </a:p>
        </p:txBody>
      </p:sp>
      <p:sp>
        <p:nvSpPr>
          <p:cNvPr id="24" name="Text 20"/>
          <p:cNvSpPr/>
          <p:nvPr/>
        </p:nvSpPr>
        <p:spPr>
          <a:xfrm>
            <a:off x="6507465" y="5449824"/>
            <a:ext cx="4770105" cy="548640"/>
          </a:xfrm>
          <a:prstGeom prst="rect">
            <a:avLst/>
          </a:prstGeom>
          <a:noFill/>
          <a:ln/>
        </p:spPr>
        <p:txBody>
          <a:bodyPr wrap="square" lIns="0" tIns="0" rIns="0" bIns="0" rtlCol="0" anchor="t"/>
          <a:lstStyle/>
          <a:p>
            <a:pPr indent="0" marL="0">
              <a:lnSpc>
                <a:spcPts val="1523"/>
              </a:lnSpc>
              <a:buNone/>
            </a:pPr>
            <a:r>
              <a:rPr lang="en-US" sz="1050" dirty="0">
                <a:solidFill>
                  <a:srgbClr val="CCCCCC"/>
                </a:solidFill>
                <a:latin typeface="Arimo" pitchFamily="34" charset="0"/>
                <a:ea typeface="Arimo" pitchFamily="34" charset="-122"/>
                <a:cs typeface="Arimo" pitchFamily="34" charset="-120"/>
              </a:rPr>
              <a:t>Unworn, unwashed, in original packaging, within the stated return period.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Toni Black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Knowledge</dc:title>
  <dc:subject>PptxGenJS Presentation</dc:subject>
  <dc:creator>Toni Black</dc:creator>
  <cp:lastModifiedBy>Toni Black</cp:lastModifiedBy>
  <cp:revision>1</cp:revision>
  <dcterms:created xsi:type="dcterms:W3CDTF">2026-08-26T08:59:13Z</dcterms:created>
  <dcterms:modified xsi:type="dcterms:W3CDTF">2026-08-26T08:59:13Z</dcterms:modified>
</cp:coreProperties>
</file>