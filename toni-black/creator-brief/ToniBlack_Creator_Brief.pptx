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untuk creator. Headline Inggris, isi Bahasa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di brief ini pemantik, bukan skrip.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Bukan pemula. Dia sudah tahu bedanya bahan bagus dan tidak.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kegagalan ini yang paling sering disebut pembeli.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Modal itu serat alami. Ini pembeda utamanya, bukan klaim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manfaat ini boleh dipakai sebagai struktur voiceover.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menjelekkan bahan sintetis. Toni Black mungkin memakainya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satu close-up kain. Sisanya opsional.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Pakai kata-kata kamu sendiri. Hook di sini cuma pemantik.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ide ini boleh digabung, tidak harus dibuat semua.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spesifik jauh lebih meyakinkan daripada kata sifat umum.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CTA lembut. Hard sell justru menurunkan kepercayaan.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ada kebutuhan usage di luar ini, bicarakan sebelum syuting.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Dorong creator bertanya sebelum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1_cover.jpg">    </p:cNvPr>
          <p:cNvPicPr>
            <a:picLocks noChangeAspect="1"/>
          </p:cNvPicPr>
          <p:nvPr/>
        </p:nvPicPr>
        <p:blipFill>
          <a:blip r:embed="rId1"/>
          <a:stretch>
            <a:fillRect/>
          </a:stretch>
        </p:blipFill>
        <p:spPr>
          <a:xfrm>
            <a:off x="0" y="0"/>
            <a:ext cx="12191970" cy="6858000"/>
          </a:xfrm>
          <a:prstGeom prst="rect">
            <a:avLst/>
          </a:prstGeom>
        </p:spPr>
      </p:pic>
      <p:sp>
        <p:nvSpPr>
          <p:cNvPr id="3" name="Text 0"/>
          <p:cNvSpPr/>
          <p:nvPr/>
        </p:nvSpPr>
        <p:spPr>
          <a:xfrm>
            <a:off x="658368" y="512064"/>
            <a:ext cx="3657600"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4" name="Text 1"/>
          <p:cNvSpPr/>
          <p:nvPr/>
        </p:nvSpPr>
        <p:spPr>
          <a:xfrm>
            <a:off x="658368" y="2834640"/>
            <a:ext cx="9692640" cy="2103120"/>
          </a:xfrm>
          <a:prstGeom prst="rect">
            <a:avLst/>
          </a:prstGeom>
          <a:noFill/>
          <a:ln/>
        </p:spPr>
        <p:txBody>
          <a:bodyPr wrap="square" lIns="0" tIns="0" rIns="0" bIns="0" rtlCol="0" anchor="ctr"/>
          <a:lstStyle/>
          <a:p>
            <a:pPr algn="l" indent="0" marL="0">
              <a:lnSpc>
                <a:spcPts val="5192"/>
              </a:lnSpc>
              <a:buNone/>
            </a:pPr>
            <a:r>
              <a:rPr lang="en-US" sz="4400" b="1" spc="700" kern="0" dirty="0">
                <a:solidFill>
                  <a:srgbClr val="FFFFFF"/>
                </a:solidFill>
                <a:latin typeface="Zalando Sans Expanded" pitchFamily="34" charset="0"/>
                <a:ea typeface="Zalando Sans Expanded" pitchFamily="34" charset="-122"/>
                <a:cs typeface="Zalando Sans Expanded" pitchFamily="34" charset="-120"/>
              </a:rPr>
              <a:t>CONTENT</a:t>
            </a:r>
            <a:endParaRPr lang="en-US" sz="4400" dirty="0"/>
          </a:p>
          <a:p>
            <a:pPr algn="l" indent="0" marL="0">
              <a:lnSpc>
                <a:spcPts val="5192"/>
              </a:lnSpc>
              <a:buNone/>
            </a:pPr>
            <a:r>
              <a:rPr lang="en-US" sz="4400" b="1" spc="700" kern="0" dirty="0">
                <a:solidFill>
                  <a:srgbClr val="FFFFFF"/>
                </a:solidFill>
                <a:latin typeface="Zalando Sans Expanded" pitchFamily="34" charset="0"/>
                <a:ea typeface="Zalando Sans Expanded" pitchFamily="34" charset="-122"/>
                <a:cs typeface="Zalando Sans Expanded" pitchFamily="34" charset="-120"/>
              </a:rPr>
              <a:t>CREATOR BRIEF</a:t>
            </a:r>
            <a:endParaRPr lang="en-US" sz="4400" dirty="0"/>
          </a:p>
        </p:txBody>
      </p:sp>
      <p:sp>
        <p:nvSpPr>
          <p:cNvPr id="5" name="Shape 2"/>
          <p:cNvSpPr/>
          <p:nvPr/>
        </p:nvSpPr>
        <p:spPr>
          <a:xfrm>
            <a:off x="658368" y="5175504"/>
            <a:ext cx="2834640" cy="10973"/>
          </a:xfrm>
          <a:prstGeom prst="rect">
            <a:avLst/>
          </a:prstGeom>
          <a:solidFill>
            <a:srgbClr val="CCCCCC"/>
          </a:solidFill>
          <a:ln w="12700">
            <a:solidFill>
              <a:srgbClr val="CCCCCC"/>
            </a:solidFill>
            <a:prstDash val="solid"/>
          </a:ln>
        </p:spPr>
      </p:sp>
      <p:sp>
        <p:nvSpPr>
          <p:cNvPr id="6" name="Text 3"/>
          <p:cNvSpPr/>
          <p:nvPr/>
        </p:nvSpPr>
        <p:spPr>
          <a:xfrm>
            <a:off x="658368" y="5376672"/>
            <a:ext cx="5852160" cy="365760"/>
          </a:xfrm>
          <a:prstGeom prst="rect">
            <a:avLst/>
          </a:prstGeom>
          <a:noFill/>
          <a:ln/>
        </p:spPr>
        <p:txBody>
          <a:bodyPr wrap="square" lIns="0" tIns="0" rIns="0" bIns="0" rtlCol="0" anchor="t"/>
          <a:lstStyle/>
          <a:p>
            <a:pPr indent="0" marL="0">
              <a:lnSpc>
                <a:spcPts val="1620"/>
              </a:lnSpc>
              <a:buNone/>
            </a:pPr>
            <a:r>
              <a:rPr lang="en-US" sz="1000" dirty="0">
                <a:solidFill>
                  <a:srgbClr val="FFFFFF"/>
                </a:solidFill>
                <a:latin typeface="Arimo" pitchFamily="34" charset="0"/>
                <a:ea typeface="Arimo" pitchFamily="34" charset="-122"/>
                <a:cs typeface="Arimo" pitchFamily="34" charset="-120"/>
              </a:rPr>
              <a:t>Panduan singkat sebelum kamu mulai syuting.</a:t>
            </a:r>
            <a:endParaRPr lang="en-US" sz="1000" dirty="0"/>
          </a:p>
        </p:txBody>
      </p:sp>
      <p:sp>
        <p:nvSpPr>
          <p:cNvPr id="7" name="Text 4"/>
          <p:cNvSpPr/>
          <p:nvPr/>
        </p:nvSpPr>
        <p:spPr>
          <a:xfrm>
            <a:off x="8790402" y="5376672"/>
            <a:ext cx="2743200" cy="365760"/>
          </a:xfrm>
          <a:prstGeom prst="rect">
            <a:avLst/>
          </a:prstGeom>
          <a:noFill/>
          <a:ln/>
        </p:spPr>
        <p:txBody>
          <a:bodyPr wrap="square" lIns="0" tIns="0" rIns="0" bIns="0" rtlCol="0" anchor="ctr"/>
          <a:lstStyle/>
          <a:p>
            <a:pPr algn="r" indent="0" marL="0">
              <a:buNone/>
            </a:pPr>
            <a:r>
              <a:rPr lang="en-US" sz="1000" b="1" spc="220" kern="0" dirty="0">
                <a:solidFill>
                  <a:srgbClr val="FFFFFF"/>
                </a:solidFill>
                <a:latin typeface="Zalando Sans Expanded" pitchFamily="34" charset="0"/>
                <a:ea typeface="Zalando Sans Expanded" pitchFamily="34" charset="-122"/>
                <a:cs typeface="Zalando Sans Expanded" pitchFamily="34" charset="-120"/>
              </a:rPr>
              <a:t>2026</a:t>
            </a:r>
            <a:endParaRPr lang="en-US" sz="1000" dirty="0"/>
          </a:p>
        </p:txBody>
      </p:sp>
      <p:sp>
        <p:nvSpPr>
          <p:cNvPr id="8" name="Shape 5"/>
          <p:cNvSpPr/>
          <p:nvPr/>
        </p:nvSpPr>
        <p:spPr>
          <a:xfrm>
            <a:off x="658368" y="6272784"/>
            <a:ext cx="10875234" cy="10973"/>
          </a:xfrm>
          <a:prstGeom prst="rect">
            <a:avLst/>
          </a:prstGeom>
          <a:solidFill>
            <a:srgbClr val="818284"/>
          </a:solidFill>
          <a:ln w="12700">
            <a:solidFill>
              <a:srgbClr val="818284"/>
            </a:solidFill>
            <a:prstDash val="solid"/>
          </a:ln>
        </p:spPr>
      </p:sp>
      <p:sp>
        <p:nvSpPr>
          <p:cNvPr id="9" name="Text 6"/>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10" name="Text 7"/>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2_intro.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01</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5577840" y="1207008"/>
            <a:ext cx="5955762"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BRIEF</a:t>
            </a:r>
            <a:endParaRPr lang="en-US" sz="850" dirty="0"/>
          </a:p>
        </p:txBody>
      </p:sp>
      <p:sp>
        <p:nvSpPr>
          <p:cNvPr id="9" name="Text 6"/>
          <p:cNvSpPr/>
          <p:nvPr/>
        </p:nvSpPr>
        <p:spPr>
          <a:xfrm>
            <a:off x="5577840" y="1517904"/>
            <a:ext cx="5955762"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INTRO</a:t>
            </a:r>
            <a:endParaRPr lang="en-US" sz="2700" dirty="0"/>
          </a:p>
        </p:txBody>
      </p:sp>
      <p:sp>
        <p:nvSpPr>
          <p:cNvPr id="10" name="Shape 7"/>
          <p:cNvSpPr/>
          <p:nvPr/>
        </p:nvSpPr>
        <p:spPr>
          <a:xfrm>
            <a:off x="5577840" y="2414016"/>
            <a:ext cx="5955762" cy="10973"/>
          </a:xfrm>
          <a:prstGeom prst="rect">
            <a:avLst/>
          </a:prstGeom>
          <a:solidFill>
            <a:srgbClr val="818284"/>
          </a:solidFill>
          <a:ln w="12700">
            <a:solidFill>
              <a:srgbClr val="818284"/>
            </a:solidFill>
            <a:prstDash val="solid"/>
          </a:ln>
        </p:spPr>
      </p:sp>
      <p:sp>
        <p:nvSpPr>
          <p:cNvPr id="11" name="Text 8"/>
          <p:cNvSpPr/>
          <p:nvPr/>
        </p:nvSpPr>
        <p:spPr>
          <a:xfrm>
            <a:off x="5577840" y="2670048"/>
            <a:ext cx="5955762" cy="274320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Brief ini berisi siapa yang kita ajak bicara, masalah apa yang dia hadapi, dan apa yang membuat Toni Black terasa berbeda di kulit.</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Baca sekali, simpan, lalu bikin dengan cara kamu sendiri. Semua contoh di sini bahan mentah — bukan naskah yang harus dibacakan ulang.</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Yang kami cari satu: konten jujur dari orang yang benar-benar memakainya.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3_customer.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02</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5577840" y="1207008"/>
            <a:ext cx="5955762"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WHO WE ARE TALKING TO</a:t>
            </a:r>
            <a:endParaRPr lang="en-US" sz="850" dirty="0"/>
          </a:p>
        </p:txBody>
      </p:sp>
      <p:sp>
        <p:nvSpPr>
          <p:cNvPr id="9" name="Text 6"/>
          <p:cNvSpPr/>
          <p:nvPr/>
        </p:nvSpPr>
        <p:spPr>
          <a:xfrm>
            <a:off x="5577840" y="1517904"/>
            <a:ext cx="5955762"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CUSTOMER</a:t>
            </a:r>
            <a:endParaRPr lang="en-US" sz="2700" dirty="0"/>
          </a:p>
        </p:txBody>
      </p:sp>
      <p:sp>
        <p:nvSpPr>
          <p:cNvPr id="10" name="Shape 7"/>
          <p:cNvSpPr/>
          <p:nvPr/>
        </p:nvSpPr>
        <p:spPr>
          <a:xfrm>
            <a:off x="5577840" y="2414016"/>
            <a:ext cx="5955762" cy="10973"/>
          </a:xfrm>
          <a:prstGeom prst="rect">
            <a:avLst/>
          </a:prstGeom>
          <a:solidFill>
            <a:srgbClr val="818284"/>
          </a:solidFill>
          <a:ln w="12700">
            <a:solidFill>
              <a:srgbClr val="818284"/>
            </a:solidFill>
            <a:prstDash val="solid"/>
          </a:ln>
        </p:spPr>
      </p:sp>
      <p:sp>
        <p:nvSpPr>
          <p:cNvPr id="11" name="Text 8"/>
          <p:cNvSpPr/>
          <p:nvPr/>
        </p:nvSpPr>
        <p:spPr>
          <a:xfrm>
            <a:off x="5577840" y="2670048"/>
            <a:ext cx="5955762" cy="301752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Dia menaruh kualitas di atas jumlah, dan menuntut lebih dari barang yang dipakai seharian. Kenyamanan, potongan, dan mutu itu penting buat dia.</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Harinya bergerak terus: kantor, urusan di luar, perjalanan, gym. Dia capek dengan celana dalam yang berbulu, melar, hilang bentuk, dan mengunci panas di cuaca Indonesia.</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Mungkin dia sudah memakai brand mahal. Sekarang dia mencari yang harganya lebih masuk akal, tanpa turun di kenyamanan, potongan, atau kualitas. Dia tahu pilihan bagus itu ada — dia belum tentu tahu Toni Black.</a:t>
            </a:r>
            <a:endParaRPr lang="en-US" sz="950" dirty="0"/>
          </a:p>
        </p:txBody>
      </p:sp>
      <p:sp>
        <p:nvSpPr>
          <p:cNvPr id="12" name="Text 9"/>
          <p:cNvSpPr/>
          <p:nvPr/>
        </p:nvSpPr>
        <p:spPr>
          <a:xfrm>
            <a:off x="5577840" y="5669280"/>
            <a:ext cx="5955762" cy="256032"/>
          </a:xfrm>
          <a:prstGeom prst="rect">
            <a:avLst/>
          </a:prstGeom>
          <a:noFill/>
          <a:ln/>
        </p:spPr>
        <p:txBody>
          <a:bodyPr wrap="square" lIns="0" tIns="0" rIns="0" bIns="0" rtlCol="0" anchor="ctr"/>
          <a:lstStyle/>
          <a:p>
            <a:pPr algn="r" indent="0" marL="0">
              <a:buNone/>
            </a:pPr>
            <a:r>
              <a:rPr lang="en-US" sz="850" b="1" spc="220" kern="0" dirty="0">
                <a:solidFill>
                  <a:srgbClr val="FFFFFF"/>
                </a:solidFill>
                <a:latin typeface="Zalando Sans Expanded" pitchFamily="34" charset="0"/>
                <a:ea typeface="Zalando Sans Expanded" pitchFamily="34" charset="-122"/>
                <a:cs typeface="Zalando Sans Expanded" pitchFamily="34" charset="-120"/>
              </a:rPr>
              <a:t>KANTOR      KOMUTER      GYM</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4_problem.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03</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5577840" y="1207008"/>
            <a:ext cx="5955762"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WHAT IS BROKEN</a:t>
            </a:r>
            <a:endParaRPr lang="en-US" sz="850" dirty="0"/>
          </a:p>
        </p:txBody>
      </p:sp>
      <p:sp>
        <p:nvSpPr>
          <p:cNvPr id="9" name="Text 6"/>
          <p:cNvSpPr/>
          <p:nvPr/>
        </p:nvSpPr>
        <p:spPr>
          <a:xfrm>
            <a:off x="5577840" y="1517904"/>
            <a:ext cx="5955762"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PROBLEM</a:t>
            </a:r>
            <a:endParaRPr lang="en-US" sz="2700" dirty="0"/>
          </a:p>
        </p:txBody>
      </p:sp>
      <p:sp>
        <p:nvSpPr>
          <p:cNvPr id="10" name="Shape 7"/>
          <p:cNvSpPr/>
          <p:nvPr/>
        </p:nvSpPr>
        <p:spPr>
          <a:xfrm>
            <a:off x="5577840" y="2414016"/>
            <a:ext cx="5955762" cy="10973"/>
          </a:xfrm>
          <a:prstGeom prst="rect">
            <a:avLst/>
          </a:prstGeom>
          <a:solidFill>
            <a:srgbClr val="818284"/>
          </a:solidFill>
          <a:ln w="12700">
            <a:solidFill>
              <a:srgbClr val="818284"/>
            </a:solidFill>
            <a:prstDash val="solid"/>
          </a:ln>
        </p:spPr>
      </p:sp>
      <p:sp>
        <p:nvSpPr>
          <p:cNvPr id="11" name="Text 8"/>
          <p:cNvSpPr/>
          <p:nvPr/>
        </p:nvSpPr>
        <p:spPr>
          <a:xfrm>
            <a:off x="5577840" y="2670048"/>
            <a:ext cx="5955762" cy="329184"/>
          </a:xfrm>
          <a:prstGeom prst="rect">
            <a:avLst/>
          </a:prstGeom>
          <a:noFill/>
          <a:ln/>
        </p:spPr>
        <p:txBody>
          <a:bodyPr wrap="square" lIns="0" tIns="0" rIns="0" bIns="0" rtlCol="0" anchor="t"/>
          <a:lstStyle/>
          <a:p>
            <a:pPr indent="0" marL="0">
              <a:lnSpc>
                <a:spcPts val="1620"/>
              </a:lnSpc>
              <a:buNone/>
            </a:pPr>
            <a:r>
              <a:rPr lang="en-US" sz="1000" dirty="0">
                <a:solidFill>
                  <a:srgbClr val="FFFFFF"/>
                </a:solidFill>
                <a:latin typeface="Arimo" pitchFamily="34" charset="0"/>
                <a:ea typeface="Arimo" pitchFamily="34" charset="-122"/>
                <a:cs typeface="Arimo" pitchFamily="34" charset="-120"/>
              </a:rPr>
              <a:t>Kebanyakan celana dalam pria gagal di dua titik yang sama.</a:t>
            </a:r>
            <a:endParaRPr lang="en-US" sz="1000" dirty="0"/>
          </a:p>
        </p:txBody>
      </p:sp>
      <p:sp>
        <p:nvSpPr>
          <p:cNvPr id="12" name="Text 9"/>
          <p:cNvSpPr/>
          <p:nvPr/>
        </p:nvSpPr>
        <p:spPr>
          <a:xfrm>
            <a:off x="5577840" y="3328416"/>
            <a:ext cx="512064" cy="274320"/>
          </a:xfrm>
          <a:prstGeom prst="rect">
            <a:avLst/>
          </a:prstGeom>
          <a:noFill/>
          <a:ln/>
        </p:spPr>
        <p:txBody>
          <a:bodyPr wrap="square" lIns="0" tIns="0" rIns="0" bIns="0" rtlCol="0" anchor="ctr"/>
          <a:lstStyle/>
          <a:p>
            <a:pPr indent="0" marL="0">
              <a:buNone/>
            </a:pPr>
            <a:r>
              <a:rPr lang="en-US" sz="1000" b="1" spc="160" kern="0" dirty="0">
                <a:solidFill>
                  <a:srgbClr val="FFFFFF"/>
                </a:solidFill>
                <a:latin typeface="Zalando Sans Expanded" pitchFamily="34" charset="0"/>
                <a:ea typeface="Zalando Sans Expanded" pitchFamily="34" charset="-122"/>
                <a:cs typeface="Zalando Sans Expanded" pitchFamily="34" charset="-120"/>
              </a:rPr>
              <a:t>01</a:t>
            </a:r>
            <a:endParaRPr lang="en-US" sz="1000" dirty="0"/>
          </a:p>
        </p:txBody>
      </p:sp>
      <p:sp>
        <p:nvSpPr>
          <p:cNvPr id="13" name="Text 10"/>
          <p:cNvSpPr/>
          <p:nvPr/>
        </p:nvSpPr>
        <p:spPr>
          <a:xfrm>
            <a:off x="6163056" y="3328416"/>
            <a:ext cx="5370546" cy="274320"/>
          </a:xfrm>
          <a:prstGeom prst="rect">
            <a:avLst/>
          </a:prstGeom>
          <a:noFill/>
          <a:ln/>
        </p:spPr>
        <p:txBody>
          <a:bodyPr wrap="square" lIns="0" tIns="0" rIns="0" bIns="0" rtlCol="0" anchor="ctr"/>
          <a:lstStyle/>
          <a:p>
            <a:pPr indent="0" marL="0">
              <a:buNone/>
            </a:pPr>
            <a:r>
              <a:rPr lang="en-US" sz="1300" b="1" dirty="0">
                <a:solidFill>
                  <a:srgbClr val="FFFFFF"/>
                </a:solidFill>
                <a:latin typeface="Zalando Sans Expanded" pitchFamily="34" charset="0"/>
                <a:ea typeface="Zalando Sans Expanded" pitchFamily="34" charset="-122"/>
                <a:cs typeface="Zalando Sans Expanded" pitchFamily="34" charset="-120"/>
              </a:rPr>
              <a:t>Ukuran berhenti di large</a:t>
            </a:r>
            <a:endParaRPr lang="en-US" sz="1300" dirty="0"/>
          </a:p>
        </p:txBody>
      </p:sp>
      <p:sp>
        <p:nvSpPr>
          <p:cNvPr id="14" name="Shape 11"/>
          <p:cNvSpPr/>
          <p:nvPr/>
        </p:nvSpPr>
        <p:spPr>
          <a:xfrm>
            <a:off x="5577840" y="3694176"/>
            <a:ext cx="5955762" cy="10973"/>
          </a:xfrm>
          <a:prstGeom prst="rect">
            <a:avLst/>
          </a:prstGeom>
          <a:solidFill>
            <a:srgbClr val="4F5052"/>
          </a:solidFill>
          <a:ln w="12700">
            <a:solidFill>
              <a:srgbClr val="4F5052"/>
            </a:solidFill>
            <a:prstDash val="solid"/>
          </a:ln>
        </p:spPr>
      </p:sp>
      <p:sp>
        <p:nvSpPr>
          <p:cNvPr id="15" name="Text 12"/>
          <p:cNvSpPr/>
          <p:nvPr/>
        </p:nvSpPr>
        <p:spPr>
          <a:xfrm>
            <a:off x="5577840" y="3822192"/>
            <a:ext cx="5955762" cy="82296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Badan yang lebih besar tidak kebagian. Tidak ada yang benar-benar muat, jadi dia terpaksa memakai yang kekecilan.</a:t>
            </a:r>
            <a:endParaRPr lang="en-US" sz="950" dirty="0"/>
          </a:p>
        </p:txBody>
      </p:sp>
      <p:sp>
        <p:nvSpPr>
          <p:cNvPr id="16" name="Text 13"/>
          <p:cNvSpPr/>
          <p:nvPr/>
        </p:nvSpPr>
        <p:spPr>
          <a:xfrm>
            <a:off x="5577840" y="4809744"/>
            <a:ext cx="512064" cy="274320"/>
          </a:xfrm>
          <a:prstGeom prst="rect">
            <a:avLst/>
          </a:prstGeom>
          <a:noFill/>
          <a:ln/>
        </p:spPr>
        <p:txBody>
          <a:bodyPr wrap="square" lIns="0" tIns="0" rIns="0" bIns="0" rtlCol="0" anchor="ctr"/>
          <a:lstStyle/>
          <a:p>
            <a:pPr indent="0" marL="0">
              <a:buNone/>
            </a:pPr>
            <a:r>
              <a:rPr lang="en-US" sz="1000" b="1" spc="160" kern="0" dirty="0">
                <a:solidFill>
                  <a:srgbClr val="FFFFFF"/>
                </a:solidFill>
                <a:latin typeface="Zalando Sans Expanded" pitchFamily="34" charset="0"/>
                <a:ea typeface="Zalando Sans Expanded" pitchFamily="34" charset="-122"/>
                <a:cs typeface="Zalando Sans Expanded" pitchFamily="34" charset="-120"/>
              </a:rPr>
              <a:t>02</a:t>
            </a:r>
            <a:endParaRPr lang="en-US" sz="1000" dirty="0"/>
          </a:p>
        </p:txBody>
      </p:sp>
      <p:sp>
        <p:nvSpPr>
          <p:cNvPr id="17" name="Text 14"/>
          <p:cNvSpPr/>
          <p:nvPr/>
        </p:nvSpPr>
        <p:spPr>
          <a:xfrm>
            <a:off x="6163056" y="4809744"/>
            <a:ext cx="5370546" cy="274320"/>
          </a:xfrm>
          <a:prstGeom prst="rect">
            <a:avLst/>
          </a:prstGeom>
          <a:noFill/>
          <a:ln/>
        </p:spPr>
        <p:txBody>
          <a:bodyPr wrap="square" lIns="0" tIns="0" rIns="0" bIns="0" rtlCol="0" anchor="ctr"/>
          <a:lstStyle/>
          <a:p>
            <a:pPr indent="0" marL="0">
              <a:buNone/>
            </a:pPr>
            <a:r>
              <a:rPr lang="en-US" sz="1300" b="1" dirty="0">
                <a:solidFill>
                  <a:srgbClr val="FFFFFF"/>
                </a:solidFill>
                <a:latin typeface="Zalando Sans Expanded" pitchFamily="34" charset="0"/>
                <a:ea typeface="Zalando Sans Expanded" pitchFamily="34" charset="-122"/>
                <a:cs typeface="Zalando Sans Expanded" pitchFamily="34" charset="-120"/>
              </a:rPr>
              <a:t>Bahan sintetis murah</a:t>
            </a:r>
            <a:endParaRPr lang="en-US" sz="1300" dirty="0"/>
          </a:p>
        </p:txBody>
      </p:sp>
      <p:sp>
        <p:nvSpPr>
          <p:cNvPr id="18" name="Shape 15"/>
          <p:cNvSpPr/>
          <p:nvPr/>
        </p:nvSpPr>
        <p:spPr>
          <a:xfrm>
            <a:off x="5577840" y="5175504"/>
            <a:ext cx="5955762" cy="10973"/>
          </a:xfrm>
          <a:prstGeom prst="rect">
            <a:avLst/>
          </a:prstGeom>
          <a:solidFill>
            <a:srgbClr val="4F5052"/>
          </a:solidFill>
          <a:ln w="12700">
            <a:solidFill>
              <a:srgbClr val="4F5052"/>
            </a:solidFill>
            <a:prstDash val="solid"/>
          </a:ln>
        </p:spPr>
      </p:sp>
      <p:sp>
        <p:nvSpPr>
          <p:cNvPr id="19" name="Text 16"/>
          <p:cNvSpPr/>
          <p:nvPr/>
        </p:nvSpPr>
        <p:spPr>
          <a:xfrm>
            <a:off x="5577840" y="5303520"/>
            <a:ext cx="5955762" cy="82296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Panas dan lembap terkunci di dalam. Di cuaca Indonesia hasilnya lecet, bau, dan tidak nyaman seharian — dari duduk di meja sampai latihan.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5_product.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04</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5577840" y="1207008"/>
            <a:ext cx="5955762"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WHY IT FEELS DIFFERENT</a:t>
            </a:r>
            <a:endParaRPr lang="en-US" sz="850" dirty="0"/>
          </a:p>
        </p:txBody>
      </p:sp>
      <p:sp>
        <p:nvSpPr>
          <p:cNvPr id="9" name="Text 6"/>
          <p:cNvSpPr/>
          <p:nvPr/>
        </p:nvSpPr>
        <p:spPr>
          <a:xfrm>
            <a:off x="5577840" y="1517904"/>
            <a:ext cx="5955762"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PRODUCT</a:t>
            </a:r>
            <a:endParaRPr lang="en-US" sz="2700" dirty="0"/>
          </a:p>
        </p:txBody>
      </p:sp>
      <p:sp>
        <p:nvSpPr>
          <p:cNvPr id="10" name="Shape 7"/>
          <p:cNvSpPr/>
          <p:nvPr/>
        </p:nvSpPr>
        <p:spPr>
          <a:xfrm>
            <a:off x="5577840" y="2414016"/>
            <a:ext cx="5955762" cy="10973"/>
          </a:xfrm>
          <a:prstGeom prst="rect">
            <a:avLst/>
          </a:prstGeom>
          <a:solidFill>
            <a:srgbClr val="818284"/>
          </a:solidFill>
          <a:ln w="12700">
            <a:solidFill>
              <a:srgbClr val="818284"/>
            </a:solidFill>
            <a:prstDash val="solid"/>
          </a:ln>
        </p:spPr>
      </p:sp>
      <p:sp>
        <p:nvSpPr>
          <p:cNvPr id="11" name="Text 8"/>
          <p:cNvSpPr/>
          <p:nvPr/>
        </p:nvSpPr>
        <p:spPr>
          <a:xfrm>
            <a:off x="5577840" y="2670048"/>
            <a:ext cx="5955762" cy="237744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Toni Black dibuat dari Modal — serat alami dari tumbuhan yang adem dan ringan dari sananya, bukan karena diberi perlakuan kimia.</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Melar ke empat arah, jadi potongannya mengikuti badan, bukan melawan badan.</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Didukung R&amp;D sendiri: ukuran S sampai XL, dicocokkan dan diuji untuk pria 60 kg sampai 150 kg. Jadi “ukuran gue nggak ada” bukan lagi masalah.</a:t>
            </a:r>
            <a:endParaRPr lang="en-US" sz="950" dirty="0"/>
          </a:p>
        </p:txBody>
      </p:sp>
      <p:sp>
        <p:nvSpPr>
          <p:cNvPr id="12" name="Shape 9"/>
          <p:cNvSpPr/>
          <p:nvPr/>
        </p:nvSpPr>
        <p:spPr>
          <a:xfrm>
            <a:off x="5577840" y="5358384"/>
            <a:ext cx="1838950" cy="10973"/>
          </a:xfrm>
          <a:prstGeom prst="rect">
            <a:avLst/>
          </a:prstGeom>
          <a:solidFill>
            <a:srgbClr val="4F5052"/>
          </a:solidFill>
          <a:ln w="12700">
            <a:solidFill>
              <a:srgbClr val="4F5052"/>
            </a:solidFill>
            <a:prstDash val="solid"/>
          </a:ln>
        </p:spPr>
      </p:sp>
      <p:sp>
        <p:nvSpPr>
          <p:cNvPr id="13" name="Text 10"/>
          <p:cNvSpPr/>
          <p:nvPr/>
        </p:nvSpPr>
        <p:spPr>
          <a:xfrm>
            <a:off x="5577840" y="5449824"/>
            <a:ext cx="1838950" cy="292608"/>
          </a:xfrm>
          <a:prstGeom prst="rect">
            <a:avLst/>
          </a:prstGeom>
          <a:noFill/>
          <a:ln/>
        </p:spPr>
        <p:txBody>
          <a:bodyPr wrap="square" lIns="0" tIns="0" rIns="0" bIns="0" rtlCol="0" anchor="ctr"/>
          <a:lstStyle/>
          <a:p>
            <a:pPr indent="0" marL="0">
              <a:buNone/>
            </a:pPr>
            <a:r>
              <a:rPr lang="en-US" sz="1200" b="1" dirty="0">
                <a:solidFill>
                  <a:srgbClr val="FFFFFF"/>
                </a:solidFill>
                <a:latin typeface="Zalando Sans Expanded" pitchFamily="34" charset="0"/>
                <a:ea typeface="Zalando Sans Expanded" pitchFamily="34" charset="-122"/>
                <a:cs typeface="Zalando Sans Expanded" pitchFamily="34" charset="-120"/>
              </a:rPr>
              <a:t>MODAL</a:t>
            </a:r>
            <a:endParaRPr lang="en-US" sz="1200" dirty="0"/>
          </a:p>
        </p:txBody>
      </p:sp>
      <p:sp>
        <p:nvSpPr>
          <p:cNvPr id="14" name="Text 11"/>
          <p:cNvSpPr/>
          <p:nvPr/>
        </p:nvSpPr>
        <p:spPr>
          <a:xfrm>
            <a:off x="5577840" y="5760720"/>
            <a:ext cx="1838950" cy="256032"/>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Serat alami</a:t>
            </a:r>
            <a:endParaRPr lang="en-US" sz="850" dirty="0"/>
          </a:p>
        </p:txBody>
      </p:sp>
      <p:sp>
        <p:nvSpPr>
          <p:cNvPr id="15" name="Shape 12"/>
          <p:cNvSpPr/>
          <p:nvPr/>
        </p:nvSpPr>
        <p:spPr>
          <a:xfrm>
            <a:off x="7636246" y="5358384"/>
            <a:ext cx="1838950" cy="10973"/>
          </a:xfrm>
          <a:prstGeom prst="rect">
            <a:avLst/>
          </a:prstGeom>
          <a:solidFill>
            <a:srgbClr val="4F5052"/>
          </a:solidFill>
          <a:ln w="12700">
            <a:solidFill>
              <a:srgbClr val="4F5052"/>
            </a:solidFill>
            <a:prstDash val="solid"/>
          </a:ln>
        </p:spPr>
      </p:sp>
      <p:sp>
        <p:nvSpPr>
          <p:cNvPr id="16" name="Text 13"/>
          <p:cNvSpPr/>
          <p:nvPr/>
        </p:nvSpPr>
        <p:spPr>
          <a:xfrm>
            <a:off x="7636246" y="5449824"/>
            <a:ext cx="1838950" cy="292608"/>
          </a:xfrm>
          <a:prstGeom prst="rect">
            <a:avLst/>
          </a:prstGeom>
          <a:noFill/>
          <a:ln/>
        </p:spPr>
        <p:txBody>
          <a:bodyPr wrap="square" lIns="0" tIns="0" rIns="0" bIns="0" rtlCol="0" anchor="ctr"/>
          <a:lstStyle/>
          <a:p>
            <a:pPr indent="0" marL="0">
              <a:buNone/>
            </a:pPr>
            <a:r>
              <a:rPr lang="en-US" sz="1200" b="1" dirty="0">
                <a:solidFill>
                  <a:srgbClr val="FFFFFF"/>
                </a:solidFill>
                <a:latin typeface="Zalando Sans Expanded" pitchFamily="34" charset="0"/>
                <a:ea typeface="Zalando Sans Expanded" pitchFamily="34" charset="-122"/>
                <a:cs typeface="Zalando Sans Expanded" pitchFamily="34" charset="-120"/>
              </a:rPr>
              <a:t>4-WAY</a:t>
            </a:r>
            <a:endParaRPr lang="en-US" sz="1200" dirty="0"/>
          </a:p>
        </p:txBody>
      </p:sp>
      <p:sp>
        <p:nvSpPr>
          <p:cNvPr id="17" name="Text 14"/>
          <p:cNvSpPr/>
          <p:nvPr/>
        </p:nvSpPr>
        <p:spPr>
          <a:xfrm>
            <a:off x="7636246" y="5760720"/>
            <a:ext cx="1838950" cy="256032"/>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Empat arah</a:t>
            </a:r>
            <a:endParaRPr lang="en-US" sz="850" dirty="0"/>
          </a:p>
        </p:txBody>
      </p:sp>
      <p:sp>
        <p:nvSpPr>
          <p:cNvPr id="18" name="Shape 15"/>
          <p:cNvSpPr/>
          <p:nvPr/>
        </p:nvSpPr>
        <p:spPr>
          <a:xfrm>
            <a:off x="9694652" y="5358384"/>
            <a:ext cx="1838950" cy="10973"/>
          </a:xfrm>
          <a:prstGeom prst="rect">
            <a:avLst/>
          </a:prstGeom>
          <a:solidFill>
            <a:srgbClr val="4F5052"/>
          </a:solidFill>
          <a:ln w="12700">
            <a:solidFill>
              <a:srgbClr val="4F5052"/>
            </a:solidFill>
            <a:prstDash val="solid"/>
          </a:ln>
        </p:spPr>
      </p:sp>
      <p:sp>
        <p:nvSpPr>
          <p:cNvPr id="19" name="Text 16"/>
          <p:cNvSpPr/>
          <p:nvPr/>
        </p:nvSpPr>
        <p:spPr>
          <a:xfrm>
            <a:off x="9694652" y="5449824"/>
            <a:ext cx="1838950" cy="292608"/>
          </a:xfrm>
          <a:prstGeom prst="rect">
            <a:avLst/>
          </a:prstGeom>
          <a:noFill/>
          <a:ln/>
        </p:spPr>
        <p:txBody>
          <a:bodyPr wrap="square" lIns="0" tIns="0" rIns="0" bIns="0" rtlCol="0" anchor="ctr"/>
          <a:lstStyle/>
          <a:p>
            <a:pPr indent="0" marL="0">
              <a:buNone/>
            </a:pPr>
            <a:r>
              <a:rPr lang="en-US" sz="1200" b="1" dirty="0">
                <a:solidFill>
                  <a:srgbClr val="FFFFFF"/>
                </a:solidFill>
                <a:latin typeface="Zalando Sans Expanded" pitchFamily="34" charset="0"/>
                <a:ea typeface="Zalando Sans Expanded" pitchFamily="34" charset="-122"/>
                <a:cs typeface="Zalando Sans Expanded" pitchFamily="34" charset="-120"/>
              </a:rPr>
              <a:t>60–150 KG</a:t>
            </a:r>
            <a:endParaRPr lang="en-US" sz="1200" dirty="0"/>
          </a:p>
        </p:txBody>
      </p:sp>
      <p:sp>
        <p:nvSpPr>
          <p:cNvPr id="20" name="Text 17"/>
          <p:cNvSpPr/>
          <p:nvPr/>
        </p:nvSpPr>
        <p:spPr>
          <a:xfrm>
            <a:off x="9694652" y="5760720"/>
            <a:ext cx="1838950" cy="256032"/>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Diuji nyata</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6_benefits.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05</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658368" y="1207008"/>
            <a:ext cx="10875234"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WHAT HE ACTUALLY FEELS</a:t>
            </a:r>
            <a:endParaRPr lang="en-US" sz="850" dirty="0"/>
          </a:p>
        </p:txBody>
      </p:sp>
      <p:sp>
        <p:nvSpPr>
          <p:cNvPr id="9" name="Text 6"/>
          <p:cNvSpPr/>
          <p:nvPr/>
        </p:nvSpPr>
        <p:spPr>
          <a:xfrm>
            <a:off x="658368" y="1517904"/>
            <a:ext cx="10875234"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BENEFITS</a:t>
            </a:r>
            <a:endParaRPr lang="en-US" sz="2700" dirty="0"/>
          </a:p>
        </p:txBody>
      </p:sp>
      <p:sp>
        <p:nvSpPr>
          <p:cNvPr id="10" name="Shape 7"/>
          <p:cNvSpPr/>
          <p:nvPr/>
        </p:nvSpPr>
        <p:spPr>
          <a:xfrm>
            <a:off x="658368" y="4828032"/>
            <a:ext cx="2513068" cy="10973"/>
          </a:xfrm>
          <a:prstGeom prst="rect">
            <a:avLst/>
          </a:prstGeom>
          <a:solidFill>
            <a:srgbClr val="CCCCCC"/>
          </a:solidFill>
          <a:ln w="12700">
            <a:solidFill>
              <a:srgbClr val="CCCCCC"/>
            </a:solidFill>
            <a:prstDash val="solid"/>
          </a:ln>
        </p:spPr>
      </p:sp>
      <p:sp>
        <p:nvSpPr>
          <p:cNvPr id="11" name="Text 8"/>
          <p:cNvSpPr/>
          <p:nvPr/>
        </p:nvSpPr>
        <p:spPr>
          <a:xfrm>
            <a:off x="658368" y="4937760"/>
            <a:ext cx="2513068" cy="292608"/>
          </a:xfrm>
          <a:prstGeom prst="rect">
            <a:avLst/>
          </a:prstGeom>
          <a:noFill/>
          <a:ln/>
        </p:spPr>
        <p:txBody>
          <a:bodyPr wrap="square" lIns="0" tIns="0" rIns="0" bIns="0" rtlCol="0" anchor="ctr"/>
          <a:lstStyle/>
          <a:p>
            <a:pPr indent="0" marL="0">
              <a:buNone/>
            </a:pPr>
            <a:r>
              <a:rPr lang="en-US" sz="1100" b="1" spc="140" kern="0" dirty="0">
                <a:solidFill>
                  <a:srgbClr val="FFFFFF"/>
                </a:solidFill>
                <a:latin typeface="Zalando Sans Expanded" pitchFamily="34" charset="0"/>
                <a:ea typeface="Zalando Sans Expanded" pitchFamily="34" charset="-122"/>
                <a:cs typeface="Zalando Sans Expanded" pitchFamily="34" charset="-120"/>
              </a:rPr>
              <a:t>BREATHABLE</a:t>
            </a:r>
            <a:endParaRPr lang="en-US" sz="1100" dirty="0"/>
          </a:p>
        </p:txBody>
      </p:sp>
      <p:sp>
        <p:nvSpPr>
          <p:cNvPr id="12" name="Text 9"/>
          <p:cNvSpPr/>
          <p:nvPr/>
        </p:nvSpPr>
        <p:spPr>
          <a:xfrm>
            <a:off x="658368" y="5285232"/>
            <a:ext cx="2513068" cy="786384"/>
          </a:xfrm>
          <a:prstGeom prst="rect">
            <a:avLst/>
          </a:prstGeom>
          <a:noFill/>
          <a:ln/>
        </p:spPr>
        <p:txBody>
          <a:bodyPr wrap="square" lIns="0" tIns="0" rIns="0" bIns="0" rtlCol="0" anchor="t"/>
          <a:lstStyle/>
          <a:p>
            <a:pPr indent="0" marL="0">
              <a:lnSpc>
                <a:spcPts val="1458"/>
              </a:lnSpc>
              <a:buNone/>
            </a:pPr>
            <a:r>
              <a:rPr lang="en-US" sz="900" dirty="0">
                <a:solidFill>
                  <a:srgbClr val="CCCCCC"/>
                </a:solidFill>
                <a:latin typeface="Arimo" pitchFamily="34" charset="0"/>
                <a:ea typeface="Arimo" pitchFamily="34" charset="-122"/>
                <a:cs typeface="Arimo" pitchFamily="34" charset="-120"/>
              </a:rPr>
              <a:t>Dibuat untuk panas dan lembap Indonesia, bukan sekadar diklaim begitu.</a:t>
            </a:r>
            <a:endParaRPr lang="en-US" sz="900" dirty="0"/>
          </a:p>
        </p:txBody>
      </p:sp>
      <p:sp>
        <p:nvSpPr>
          <p:cNvPr id="13" name="Shape 10"/>
          <p:cNvSpPr/>
          <p:nvPr/>
        </p:nvSpPr>
        <p:spPr>
          <a:xfrm>
            <a:off x="3445756" y="4828032"/>
            <a:ext cx="2513068" cy="10973"/>
          </a:xfrm>
          <a:prstGeom prst="rect">
            <a:avLst/>
          </a:prstGeom>
          <a:solidFill>
            <a:srgbClr val="CCCCCC"/>
          </a:solidFill>
          <a:ln w="12700">
            <a:solidFill>
              <a:srgbClr val="CCCCCC"/>
            </a:solidFill>
            <a:prstDash val="solid"/>
          </a:ln>
        </p:spPr>
      </p:sp>
      <p:sp>
        <p:nvSpPr>
          <p:cNvPr id="14" name="Text 11"/>
          <p:cNvSpPr/>
          <p:nvPr/>
        </p:nvSpPr>
        <p:spPr>
          <a:xfrm>
            <a:off x="3445756" y="4937760"/>
            <a:ext cx="2513068" cy="292608"/>
          </a:xfrm>
          <a:prstGeom prst="rect">
            <a:avLst/>
          </a:prstGeom>
          <a:noFill/>
          <a:ln/>
        </p:spPr>
        <p:txBody>
          <a:bodyPr wrap="square" lIns="0" tIns="0" rIns="0" bIns="0" rtlCol="0" anchor="ctr"/>
          <a:lstStyle/>
          <a:p>
            <a:pPr indent="0" marL="0">
              <a:buNone/>
            </a:pPr>
            <a:r>
              <a:rPr lang="en-US" sz="1100" b="1" spc="140" kern="0" dirty="0">
                <a:solidFill>
                  <a:srgbClr val="FFFFFF"/>
                </a:solidFill>
                <a:latin typeface="Zalando Sans Expanded" pitchFamily="34" charset="0"/>
                <a:ea typeface="Zalando Sans Expanded" pitchFamily="34" charset="-122"/>
                <a:cs typeface="Zalando Sans Expanded" pitchFamily="34" charset="-120"/>
              </a:rPr>
              <a:t>LIGHTWEIGHT</a:t>
            </a:r>
            <a:endParaRPr lang="en-US" sz="1100" dirty="0"/>
          </a:p>
        </p:txBody>
      </p:sp>
      <p:sp>
        <p:nvSpPr>
          <p:cNvPr id="15" name="Text 12"/>
          <p:cNvSpPr/>
          <p:nvPr/>
        </p:nvSpPr>
        <p:spPr>
          <a:xfrm>
            <a:off x="3445756" y="5285232"/>
            <a:ext cx="2513068" cy="786384"/>
          </a:xfrm>
          <a:prstGeom prst="rect">
            <a:avLst/>
          </a:prstGeom>
          <a:noFill/>
          <a:ln/>
        </p:spPr>
        <p:txBody>
          <a:bodyPr wrap="square" lIns="0" tIns="0" rIns="0" bIns="0" rtlCol="0" anchor="t"/>
          <a:lstStyle/>
          <a:p>
            <a:pPr indent="0" marL="0">
              <a:lnSpc>
                <a:spcPts val="1458"/>
              </a:lnSpc>
              <a:buNone/>
            </a:pPr>
            <a:r>
              <a:rPr lang="en-US" sz="900" dirty="0">
                <a:solidFill>
                  <a:srgbClr val="CCCCCC"/>
                </a:solidFill>
                <a:latin typeface="Arimo" pitchFamily="34" charset="0"/>
                <a:ea typeface="Arimo" pitchFamily="34" charset="-122"/>
                <a:cs typeface="Arimo" pitchFamily="34" charset="-120"/>
              </a:rPr>
              <a:t>Ringan sampai hampir tidak terasa, dari pagi sampai malam.</a:t>
            </a:r>
            <a:endParaRPr lang="en-US" sz="900" dirty="0"/>
          </a:p>
        </p:txBody>
      </p:sp>
      <p:sp>
        <p:nvSpPr>
          <p:cNvPr id="16" name="Shape 13"/>
          <p:cNvSpPr/>
          <p:nvPr/>
        </p:nvSpPr>
        <p:spPr>
          <a:xfrm>
            <a:off x="6233145" y="4828032"/>
            <a:ext cx="2513068" cy="10973"/>
          </a:xfrm>
          <a:prstGeom prst="rect">
            <a:avLst/>
          </a:prstGeom>
          <a:solidFill>
            <a:srgbClr val="CCCCCC"/>
          </a:solidFill>
          <a:ln w="12700">
            <a:solidFill>
              <a:srgbClr val="CCCCCC"/>
            </a:solidFill>
            <a:prstDash val="solid"/>
          </a:ln>
        </p:spPr>
      </p:sp>
      <p:sp>
        <p:nvSpPr>
          <p:cNvPr id="17" name="Text 14"/>
          <p:cNvSpPr/>
          <p:nvPr/>
        </p:nvSpPr>
        <p:spPr>
          <a:xfrm>
            <a:off x="6233145" y="4937760"/>
            <a:ext cx="2513068" cy="292608"/>
          </a:xfrm>
          <a:prstGeom prst="rect">
            <a:avLst/>
          </a:prstGeom>
          <a:noFill/>
          <a:ln/>
        </p:spPr>
        <p:txBody>
          <a:bodyPr wrap="square" lIns="0" tIns="0" rIns="0" bIns="0" rtlCol="0" anchor="ctr"/>
          <a:lstStyle/>
          <a:p>
            <a:pPr indent="0" marL="0">
              <a:buNone/>
            </a:pPr>
            <a:r>
              <a:rPr lang="en-US" sz="1100" b="1" spc="140" kern="0" dirty="0">
                <a:solidFill>
                  <a:srgbClr val="FFFFFF"/>
                </a:solidFill>
                <a:latin typeface="Zalando Sans Expanded" pitchFamily="34" charset="0"/>
                <a:ea typeface="Zalando Sans Expanded" pitchFamily="34" charset="-122"/>
                <a:cs typeface="Zalando Sans Expanded" pitchFamily="34" charset="-120"/>
              </a:rPr>
              <a:t>4-WAY STRETCH</a:t>
            </a:r>
            <a:endParaRPr lang="en-US" sz="1100" dirty="0"/>
          </a:p>
        </p:txBody>
      </p:sp>
      <p:sp>
        <p:nvSpPr>
          <p:cNvPr id="18" name="Text 15"/>
          <p:cNvSpPr/>
          <p:nvPr/>
        </p:nvSpPr>
        <p:spPr>
          <a:xfrm>
            <a:off x="6233145" y="5285232"/>
            <a:ext cx="2513068" cy="786384"/>
          </a:xfrm>
          <a:prstGeom prst="rect">
            <a:avLst/>
          </a:prstGeom>
          <a:noFill/>
          <a:ln/>
        </p:spPr>
        <p:txBody>
          <a:bodyPr wrap="square" lIns="0" tIns="0" rIns="0" bIns="0" rtlCol="0" anchor="t"/>
          <a:lstStyle/>
          <a:p>
            <a:pPr indent="0" marL="0">
              <a:lnSpc>
                <a:spcPts val="1458"/>
              </a:lnSpc>
              <a:buNone/>
            </a:pPr>
            <a:r>
              <a:rPr lang="en-US" sz="900" dirty="0">
                <a:solidFill>
                  <a:srgbClr val="CCCCCC"/>
                </a:solidFill>
                <a:latin typeface="Arimo" pitchFamily="34" charset="0"/>
                <a:ea typeface="Arimo" pitchFamily="34" charset="-122"/>
                <a:cs typeface="Arimo" pitchFamily="34" charset="-120"/>
              </a:rPr>
              <a:t>Ikut gerak. Tidak naik, tidak menekan, tidak perlu dibetulkan.</a:t>
            </a:r>
            <a:endParaRPr lang="en-US" sz="900" dirty="0"/>
          </a:p>
        </p:txBody>
      </p:sp>
      <p:sp>
        <p:nvSpPr>
          <p:cNvPr id="19" name="Shape 16"/>
          <p:cNvSpPr/>
          <p:nvPr/>
        </p:nvSpPr>
        <p:spPr>
          <a:xfrm>
            <a:off x="9020533" y="4828032"/>
            <a:ext cx="2513068" cy="10973"/>
          </a:xfrm>
          <a:prstGeom prst="rect">
            <a:avLst/>
          </a:prstGeom>
          <a:solidFill>
            <a:srgbClr val="CCCCCC"/>
          </a:solidFill>
          <a:ln w="12700">
            <a:solidFill>
              <a:srgbClr val="CCCCCC"/>
            </a:solidFill>
            <a:prstDash val="solid"/>
          </a:ln>
        </p:spPr>
      </p:sp>
      <p:sp>
        <p:nvSpPr>
          <p:cNvPr id="20" name="Text 17"/>
          <p:cNvSpPr/>
          <p:nvPr/>
        </p:nvSpPr>
        <p:spPr>
          <a:xfrm>
            <a:off x="9020533" y="4937760"/>
            <a:ext cx="2513068" cy="292608"/>
          </a:xfrm>
          <a:prstGeom prst="rect">
            <a:avLst/>
          </a:prstGeom>
          <a:noFill/>
          <a:ln/>
        </p:spPr>
        <p:txBody>
          <a:bodyPr wrap="square" lIns="0" tIns="0" rIns="0" bIns="0" rtlCol="0" anchor="ctr"/>
          <a:lstStyle/>
          <a:p>
            <a:pPr indent="0" marL="0">
              <a:buNone/>
            </a:pPr>
            <a:r>
              <a:rPr lang="en-US" sz="1100" b="1" spc="140" kern="0" dirty="0">
                <a:solidFill>
                  <a:srgbClr val="FFFFFF"/>
                </a:solidFill>
                <a:latin typeface="Zalando Sans Expanded" pitchFamily="34" charset="0"/>
                <a:ea typeface="Zalando Sans Expanded" pitchFamily="34" charset="-122"/>
                <a:cs typeface="Zalando Sans Expanded" pitchFamily="34" charset="-120"/>
              </a:rPr>
              <a:t>COMFORT FIRST</a:t>
            </a:r>
            <a:endParaRPr lang="en-US" sz="1100" dirty="0"/>
          </a:p>
        </p:txBody>
      </p:sp>
      <p:sp>
        <p:nvSpPr>
          <p:cNvPr id="21" name="Text 18"/>
          <p:cNvSpPr/>
          <p:nvPr/>
        </p:nvSpPr>
        <p:spPr>
          <a:xfrm>
            <a:off x="9020533" y="5285232"/>
            <a:ext cx="2513068" cy="786384"/>
          </a:xfrm>
          <a:prstGeom prst="rect">
            <a:avLst/>
          </a:prstGeom>
          <a:noFill/>
          <a:ln/>
        </p:spPr>
        <p:txBody>
          <a:bodyPr wrap="square" lIns="0" tIns="0" rIns="0" bIns="0" rtlCol="0" anchor="t"/>
          <a:lstStyle/>
          <a:p>
            <a:pPr indent="0" marL="0">
              <a:lnSpc>
                <a:spcPts val="1458"/>
              </a:lnSpc>
              <a:buNone/>
            </a:pPr>
            <a:r>
              <a:rPr lang="en-US" sz="900" dirty="0">
                <a:solidFill>
                  <a:srgbClr val="CCCCCC"/>
                </a:solidFill>
                <a:latin typeface="Arimo" pitchFamily="34" charset="0"/>
                <a:ea typeface="Arimo" pitchFamily="34" charset="-122"/>
                <a:cs typeface="Arimo" pitchFamily="34" charset="-120"/>
              </a:rPr>
              <a:t>Bukan cuma berfungsi. Memang nyaman dipakai.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7_object.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06</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658368" y="1207008"/>
            <a:ext cx="10875234"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WHEN SOMEONE PUSHES BACK</a:t>
            </a:r>
            <a:endParaRPr lang="en-US" sz="850" dirty="0"/>
          </a:p>
        </p:txBody>
      </p:sp>
      <p:sp>
        <p:nvSpPr>
          <p:cNvPr id="9" name="Text 6"/>
          <p:cNvSpPr/>
          <p:nvPr/>
        </p:nvSpPr>
        <p:spPr>
          <a:xfrm>
            <a:off x="658368" y="1517904"/>
            <a:ext cx="10875234"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OBJECTIONS</a:t>
            </a:r>
            <a:endParaRPr lang="en-US" sz="2700" dirty="0"/>
          </a:p>
        </p:txBody>
      </p:sp>
      <p:sp>
        <p:nvSpPr>
          <p:cNvPr id="10" name="Shape 7"/>
          <p:cNvSpPr/>
          <p:nvPr/>
        </p:nvSpPr>
        <p:spPr>
          <a:xfrm>
            <a:off x="658368" y="4041648"/>
            <a:ext cx="5117577" cy="10973"/>
          </a:xfrm>
          <a:prstGeom prst="rect">
            <a:avLst/>
          </a:prstGeom>
          <a:solidFill>
            <a:srgbClr val="CCCCCC"/>
          </a:solidFill>
          <a:ln w="12700">
            <a:solidFill>
              <a:srgbClr val="CCCCCC"/>
            </a:solidFill>
            <a:prstDash val="solid"/>
          </a:ln>
        </p:spPr>
      </p:sp>
      <p:sp>
        <p:nvSpPr>
          <p:cNvPr id="11" name="Text 8"/>
          <p:cNvSpPr/>
          <p:nvPr/>
        </p:nvSpPr>
        <p:spPr>
          <a:xfrm>
            <a:off x="658368" y="4169664"/>
            <a:ext cx="5117577"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KEBERATAN</a:t>
            </a:r>
            <a:endParaRPr lang="en-US" sz="850" dirty="0"/>
          </a:p>
        </p:txBody>
      </p:sp>
      <p:sp>
        <p:nvSpPr>
          <p:cNvPr id="12" name="Text 9"/>
          <p:cNvSpPr/>
          <p:nvPr/>
        </p:nvSpPr>
        <p:spPr>
          <a:xfrm>
            <a:off x="658368" y="4462272"/>
            <a:ext cx="5117577" cy="694944"/>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Zalando Sans Expanded" pitchFamily="34" charset="0"/>
                <a:ea typeface="Zalando Sans Expanded" pitchFamily="34" charset="-122"/>
                <a:cs typeface="Zalando Sans Expanded" pitchFamily="34" charset="-120"/>
              </a:rPr>
              <a:t>“Toni Black mahal”</a:t>
            </a:r>
            <a:endParaRPr lang="en-US" sz="1500" dirty="0"/>
          </a:p>
        </p:txBody>
      </p:sp>
      <p:sp>
        <p:nvSpPr>
          <p:cNvPr id="13" name="Text 10"/>
          <p:cNvSpPr/>
          <p:nvPr/>
        </p:nvSpPr>
        <p:spPr>
          <a:xfrm>
            <a:off x="658368" y="5266944"/>
            <a:ext cx="5117577"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JAWAB BEGINI</a:t>
            </a:r>
            <a:endParaRPr lang="en-US" sz="850" dirty="0"/>
          </a:p>
        </p:txBody>
      </p:sp>
      <p:sp>
        <p:nvSpPr>
          <p:cNvPr id="14" name="Text 11"/>
          <p:cNvSpPr/>
          <p:nvPr/>
        </p:nvSpPr>
        <p:spPr>
          <a:xfrm>
            <a:off x="658368" y="5541264"/>
            <a:ext cx="5117577" cy="73152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Ubah hitungannya jadi biaya per pakai. Celana dalam murah cepat rusak, dan tidak nyaman selama kamu memilikinya. Toni Black bertahan lebih lama dan terasa lebih enak tiap kali dipakai. Di situ nilainya.</a:t>
            </a:r>
            <a:endParaRPr lang="en-US" sz="950" dirty="0"/>
          </a:p>
        </p:txBody>
      </p:sp>
      <p:sp>
        <p:nvSpPr>
          <p:cNvPr id="15" name="Shape 12"/>
          <p:cNvSpPr/>
          <p:nvPr/>
        </p:nvSpPr>
        <p:spPr>
          <a:xfrm>
            <a:off x="6416025" y="4041648"/>
            <a:ext cx="5117577" cy="10973"/>
          </a:xfrm>
          <a:prstGeom prst="rect">
            <a:avLst/>
          </a:prstGeom>
          <a:solidFill>
            <a:srgbClr val="CCCCCC"/>
          </a:solidFill>
          <a:ln w="12700">
            <a:solidFill>
              <a:srgbClr val="CCCCCC"/>
            </a:solidFill>
            <a:prstDash val="solid"/>
          </a:ln>
        </p:spPr>
      </p:sp>
      <p:sp>
        <p:nvSpPr>
          <p:cNvPr id="16" name="Text 13"/>
          <p:cNvSpPr/>
          <p:nvPr/>
        </p:nvSpPr>
        <p:spPr>
          <a:xfrm>
            <a:off x="6416025" y="4169664"/>
            <a:ext cx="5117577"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KEBERATAN</a:t>
            </a:r>
            <a:endParaRPr lang="en-US" sz="850" dirty="0"/>
          </a:p>
        </p:txBody>
      </p:sp>
      <p:sp>
        <p:nvSpPr>
          <p:cNvPr id="17" name="Text 14"/>
          <p:cNvSpPr/>
          <p:nvPr/>
        </p:nvSpPr>
        <p:spPr>
          <a:xfrm>
            <a:off x="6416025" y="4462272"/>
            <a:ext cx="5117577" cy="694944"/>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Zalando Sans Expanded" pitchFamily="34" charset="0"/>
                <a:ea typeface="Zalando Sans Expanded" pitchFamily="34" charset="-122"/>
                <a:cs typeface="Zalando Sans Expanded" pitchFamily="34" charset="-120"/>
              </a:rPr>
              <a:t>“Bukan polyester — emang lebih bagus?”</a:t>
            </a:r>
            <a:endParaRPr lang="en-US" sz="1500" dirty="0"/>
          </a:p>
        </p:txBody>
      </p:sp>
      <p:sp>
        <p:nvSpPr>
          <p:cNvPr id="18" name="Text 15"/>
          <p:cNvSpPr/>
          <p:nvPr/>
        </p:nvSpPr>
        <p:spPr>
          <a:xfrm>
            <a:off x="6416025" y="5266944"/>
            <a:ext cx="5117577"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JAWAB BEGINI</a:t>
            </a:r>
            <a:endParaRPr lang="en-US" sz="850" dirty="0"/>
          </a:p>
        </p:txBody>
      </p:sp>
      <p:sp>
        <p:nvSpPr>
          <p:cNvPr id="19" name="Text 16"/>
          <p:cNvSpPr/>
          <p:nvPr/>
        </p:nvSpPr>
        <p:spPr>
          <a:xfrm>
            <a:off x="6416025" y="5541264"/>
            <a:ext cx="5117577" cy="73152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Bahas Modal sebagai serat alami yang adem. Jangan menjelekkan bahan sintetis — Toni Black bisa memakainya untuk lini activewear nanti. Cukup tunjukkan apa yang membuat Modal terasa berbeda di kulit.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8_t1.jpg">    </p:cNvPr>
          <p:cNvPicPr>
            <a:picLocks noChangeAspect="1"/>
          </p:cNvPicPr>
          <p:nvPr/>
        </p:nvPicPr>
        <p:blipFill>
          <a:blip r:embed="rId1"/>
          <a:stretch>
            <a:fillRect/>
          </a:stretch>
        </p:blipFill>
        <p:spPr>
          <a:xfrm>
            <a:off x="0" y="0"/>
            <a:ext cx="4015222" cy="6858000"/>
          </a:xfrm>
          <a:prstGeom prst="rect">
            <a:avLst/>
          </a:prstGeom>
        </p:spPr>
      </p:pic>
      <p:pic>
        <p:nvPicPr>
          <p:cNvPr id="3" name="Image 1" descr="/home/user/Dom-Manipulation/toni-black/creator-brief/source/frames/s08_t2.jpg">    </p:cNvPr>
          <p:cNvPicPr>
            <a:picLocks noChangeAspect="1"/>
          </p:cNvPicPr>
          <p:nvPr/>
        </p:nvPicPr>
        <p:blipFill>
          <a:blip r:embed="rId2"/>
          <a:stretch>
            <a:fillRect/>
          </a:stretch>
        </p:blipFill>
        <p:spPr>
          <a:xfrm>
            <a:off x="4088374" y="0"/>
            <a:ext cx="4015222" cy="6858000"/>
          </a:xfrm>
          <a:prstGeom prst="rect">
            <a:avLst/>
          </a:prstGeom>
        </p:spPr>
      </p:pic>
      <p:pic>
        <p:nvPicPr>
          <p:cNvPr id="4" name="Image 2" descr="/home/user/Dom-Manipulation/toni-black/creator-brief/source/frames/s08_t3.jpg">    </p:cNvPr>
          <p:cNvPicPr>
            <a:picLocks noChangeAspect="1"/>
          </p:cNvPicPr>
          <p:nvPr/>
        </p:nvPicPr>
        <p:blipFill>
          <a:blip r:embed="rId3"/>
          <a:stretch>
            <a:fillRect/>
          </a:stretch>
        </p:blipFill>
        <p:spPr>
          <a:xfrm>
            <a:off x="8176748" y="0"/>
            <a:ext cx="4015222" cy="6858000"/>
          </a:xfrm>
          <a:prstGeom prst="rect">
            <a:avLst/>
          </a:prstGeom>
        </p:spPr>
      </p:pic>
      <p:sp>
        <p:nvSpPr>
          <p:cNvPr id="5" name="Shape 0"/>
          <p:cNvSpPr/>
          <p:nvPr/>
        </p:nvSpPr>
        <p:spPr>
          <a:xfrm>
            <a:off x="11222706" y="457200"/>
            <a:ext cx="310896" cy="310896"/>
          </a:xfrm>
          <a:prstGeom prst="ellipse">
            <a:avLst/>
          </a:prstGeom>
          <a:ln w="7620">
            <a:solidFill>
              <a:srgbClr val="FFFFFF"/>
            </a:solidFill>
            <a:prstDash val="solid"/>
          </a:ln>
        </p:spPr>
      </p:sp>
      <p:sp>
        <p:nvSpPr>
          <p:cNvPr id="6"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07</a:t>
            </a:r>
            <a:endParaRPr lang="en-US" sz="850" dirty="0"/>
          </a:p>
        </p:txBody>
      </p:sp>
      <p:sp>
        <p:nvSpPr>
          <p:cNvPr id="7"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8"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9"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10" name="Text 5"/>
          <p:cNvSpPr/>
          <p:nvPr/>
        </p:nvSpPr>
        <p:spPr>
          <a:xfrm>
            <a:off x="658368" y="1207008"/>
            <a:ext cx="10875234"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SHOW, DO NOT JUST SAY</a:t>
            </a:r>
            <a:endParaRPr lang="en-US" sz="850" dirty="0"/>
          </a:p>
        </p:txBody>
      </p:sp>
      <p:sp>
        <p:nvSpPr>
          <p:cNvPr id="11" name="Text 6"/>
          <p:cNvSpPr/>
          <p:nvPr/>
        </p:nvSpPr>
        <p:spPr>
          <a:xfrm>
            <a:off x="658368" y="1517904"/>
            <a:ext cx="10875234"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DEMONSTRATIONS</a:t>
            </a:r>
            <a:endParaRPr lang="en-US" sz="2700" dirty="0"/>
          </a:p>
        </p:txBody>
      </p:sp>
      <p:sp>
        <p:nvSpPr>
          <p:cNvPr id="12" name="Shape 7"/>
          <p:cNvSpPr/>
          <p:nvPr/>
        </p:nvSpPr>
        <p:spPr>
          <a:xfrm>
            <a:off x="310896" y="4773168"/>
            <a:ext cx="3393430" cy="10973"/>
          </a:xfrm>
          <a:prstGeom prst="rect">
            <a:avLst/>
          </a:prstGeom>
          <a:solidFill>
            <a:srgbClr val="CCCCCC"/>
          </a:solidFill>
          <a:ln w="12700">
            <a:solidFill>
              <a:srgbClr val="CCCCCC"/>
            </a:solidFill>
            <a:prstDash val="solid"/>
          </a:ln>
        </p:spPr>
      </p:sp>
      <p:sp>
        <p:nvSpPr>
          <p:cNvPr id="13" name="Text 8"/>
          <p:cNvSpPr/>
          <p:nvPr/>
        </p:nvSpPr>
        <p:spPr>
          <a:xfrm>
            <a:off x="310896" y="4901184"/>
            <a:ext cx="457200" cy="237744"/>
          </a:xfrm>
          <a:prstGeom prst="rect">
            <a:avLst/>
          </a:prstGeom>
          <a:noFill/>
          <a:ln/>
        </p:spPr>
        <p:txBody>
          <a:bodyPr wrap="square" lIns="0" tIns="0" rIns="0" bIns="0" rtlCol="0" anchor="ctr"/>
          <a:lstStyle/>
          <a:p>
            <a:pPr indent="0" marL="0">
              <a:buNone/>
            </a:pPr>
            <a:r>
              <a:rPr lang="en-US" sz="950" b="1" spc="160" kern="0" dirty="0">
                <a:solidFill>
                  <a:srgbClr val="FFFFFF"/>
                </a:solidFill>
                <a:latin typeface="Zalando Sans Expanded" pitchFamily="34" charset="0"/>
                <a:ea typeface="Zalando Sans Expanded" pitchFamily="34" charset="-122"/>
                <a:cs typeface="Zalando Sans Expanded" pitchFamily="34" charset="-120"/>
              </a:rPr>
              <a:t>01</a:t>
            </a:r>
            <a:endParaRPr lang="en-US" sz="950" dirty="0"/>
          </a:p>
        </p:txBody>
      </p:sp>
      <p:sp>
        <p:nvSpPr>
          <p:cNvPr id="14" name="Text 9"/>
          <p:cNvSpPr/>
          <p:nvPr/>
        </p:nvSpPr>
        <p:spPr>
          <a:xfrm>
            <a:off x="786384" y="4901184"/>
            <a:ext cx="2917942" cy="237744"/>
          </a:xfrm>
          <a:prstGeom prst="rect">
            <a:avLst/>
          </a:prstGeom>
          <a:noFill/>
          <a:ln/>
        </p:spPr>
        <p:txBody>
          <a:bodyPr wrap="square" lIns="0" tIns="0" rIns="0" bIns="0" rtlCol="0" anchor="ctr"/>
          <a:lstStyle/>
          <a:p>
            <a:pPr indent="0" marL="0">
              <a:buNone/>
            </a:pPr>
            <a:r>
              <a:rPr lang="en-US" sz="1100" b="1" dirty="0">
                <a:solidFill>
                  <a:srgbClr val="FFFFFF"/>
                </a:solidFill>
                <a:latin typeface="Zalando Sans Expanded" pitchFamily="34" charset="0"/>
                <a:ea typeface="Zalando Sans Expanded" pitchFamily="34" charset="-122"/>
                <a:cs typeface="Zalando Sans Expanded" pitchFamily="34" charset="-120"/>
              </a:rPr>
              <a:t>Waistband di atas celana</a:t>
            </a:r>
            <a:endParaRPr lang="en-US" sz="1100" dirty="0"/>
          </a:p>
        </p:txBody>
      </p:sp>
      <p:sp>
        <p:nvSpPr>
          <p:cNvPr id="15" name="Text 10"/>
          <p:cNvSpPr/>
          <p:nvPr/>
        </p:nvSpPr>
        <p:spPr>
          <a:xfrm>
            <a:off x="310896" y="5248656"/>
            <a:ext cx="3393430" cy="786384"/>
          </a:xfrm>
          <a:prstGeom prst="rect">
            <a:avLst/>
          </a:prstGeom>
          <a:noFill/>
          <a:ln/>
        </p:spPr>
        <p:txBody>
          <a:bodyPr wrap="square" lIns="0" tIns="0" rIns="0" bIns="0" rtlCol="0" anchor="t"/>
          <a:lstStyle/>
          <a:p>
            <a:pPr indent="0" marL="0">
              <a:lnSpc>
                <a:spcPts val="1458"/>
              </a:lnSpc>
              <a:buNone/>
            </a:pPr>
            <a:r>
              <a:rPr lang="en-US" sz="900" dirty="0">
                <a:solidFill>
                  <a:srgbClr val="CCCCCC"/>
                </a:solidFill>
                <a:latin typeface="Arimo" pitchFamily="34" charset="0"/>
                <a:ea typeface="Arimo" pitchFamily="34" charset="-122"/>
                <a:cs typeface="Arimo" pitchFamily="34" charset="-120"/>
              </a:rPr>
              <a:t>Kalau kamu nyaman, ambil shot memakai produknya. Pinggang yang terlihat di atas celana itu opsi paling aman.</a:t>
            </a:r>
            <a:endParaRPr lang="en-US" sz="900" dirty="0"/>
          </a:p>
        </p:txBody>
      </p:sp>
      <p:sp>
        <p:nvSpPr>
          <p:cNvPr id="16" name="Shape 11"/>
          <p:cNvSpPr/>
          <p:nvPr/>
        </p:nvSpPr>
        <p:spPr>
          <a:xfrm>
            <a:off x="4399270" y="4773168"/>
            <a:ext cx="3393430" cy="10973"/>
          </a:xfrm>
          <a:prstGeom prst="rect">
            <a:avLst/>
          </a:prstGeom>
          <a:solidFill>
            <a:srgbClr val="CCCCCC"/>
          </a:solidFill>
          <a:ln w="12700">
            <a:solidFill>
              <a:srgbClr val="CCCCCC"/>
            </a:solidFill>
            <a:prstDash val="solid"/>
          </a:ln>
        </p:spPr>
      </p:sp>
      <p:sp>
        <p:nvSpPr>
          <p:cNvPr id="17" name="Text 12"/>
          <p:cNvSpPr/>
          <p:nvPr/>
        </p:nvSpPr>
        <p:spPr>
          <a:xfrm>
            <a:off x="4399270" y="4901184"/>
            <a:ext cx="457200" cy="237744"/>
          </a:xfrm>
          <a:prstGeom prst="rect">
            <a:avLst/>
          </a:prstGeom>
          <a:noFill/>
          <a:ln/>
        </p:spPr>
        <p:txBody>
          <a:bodyPr wrap="square" lIns="0" tIns="0" rIns="0" bIns="0" rtlCol="0" anchor="ctr"/>
          <a:lstStyle/>
          <a:p>
            <a:pPr indent="0" marL="0">
              <a:buNone/>
            </a:pPr>
            <a:r>
              <a:rPr lang="en-US" sz="950" b="1" spc="160" kern="0" dirty="0">
                <a:solidFill>
                  <a:srgbClr val="FFFFFF"/>
                </a:solidFill>
                <a:latin typeface="Zalando Sans Expanded" pitchFamily="34" charset="0"/>
                <a:ea typeface="Zalando Sans Expanded" pitchFamily="34" charset="-122"/>
                <a:cs typeface="Zalando Sans Expanded" pitchFamily="34" charset="-120"/>
              </a:rPr>
              <a:t>02</a:t>
            </a:r>
            <a:endParaRPr lang="en-US" sz="950" dirty="0"/>
          </a:p>
        </p:txBody>
      </p:sp>
      <p:sp>
        <p:nvSpPr>
          <p:cNvPr id="18" name="Text 13"/>
          <p:cNvSpPr/>
          <p:nvPr/>
        </p:nvSpPr>
        <p:spPr>
          <a:xfrm>
            <a:off x="4874758" y="4901184"/>
            <a:ext cx="2917942" cy="237744"/>
          </a:xfrm>
          <a:prstGeom prst="rect">
            <a:avLst/>
          </a:prstGeom>
          <a:noFill/>
          <a:ln/>
        </p:spPr>
        <p:txBody>
          <a:bodyPr wrap="square" lIns="0" tIns="0" rIns="0" bIns="0" rtlCol="0" anchor="ctr"/>
          <a:lstStyle/>
          <a:p>
            <a:pPr indent="0" marL="0">
              <a:buNone/>
            </a:pPr>
            <a:r>
              <a:rPr lang="en-US" sz="1100" b="1" dirty="0">
                <a:solidFill>
                  <a:srgbClr val="FFFFFF"/>
                </a:solidFill>
                <a:latin typeface="Zalando Sans Expanded" pitchFamily="34" charset="0"/>
                <a:ea typeface="Zalando Sans Expanded" pitchFamily="34" charset="-122"/>
                <a:cs typeface="Zalando Sans Expanded" pitchFamily="34" charset="-120"/>
              </a:rPr>
              <a:t>Close-up kain</a:t>
            </a:r>
            <a:endParaRPr lang="en-US" sz="1100" dirty="0"/>
          </a:p>
        </p:txBody>
      </p:sp>
      <p:sp>
        <p:nvSpPr>
          <p:cNvPr id="19" name="Text 14"/>
          <p:cNvSpPr/>
          <p:nvPr/>
        </p:nvSpPr>
        <p:spPr>
          <a:xfrm>
            <a:off x="4399270" y="5248656"/>
            <a:ext cx="3393430" cy="786384"/>
          </a:xfrm>
          <a:prstGeom prst="rect">
            <a:avLst/>
          </a:prstGeom>
          <a:noFill/>
          <a:ln/>
        </p:spPr>
        <p:txBody>
          <a:bodyPr wrap="square" lIns="0" tIns="0" rIns="0" bIns="0" rtlCol="0" anchor="t"/>
          <a:lstStyle/>
          <a:p>
            <a:pPr indent="0" marL="0">
              <a:lnSpc>
                <a:spcPts val="1458"/>
              </a:lnSpc>
              <a:buNone/>
            </a:pPr>
            <a:r>
              <a:rPr lang="en-US" sz="900" dirty="0">
                <a:solidFill>
                  <a:srgbClr val="CCCCCC"/>
                </a:solidFill>
                <a:latin typeface="Arimo" pitchFamily="34" charset="0"/>
                <a:ea typeface="Arimo" pitchFamily="34" charset="-122"/>
                <a:cs typeface="Arimo" pitchFamily="34" charset="-120"/>
              </a:rPr>
              <a:t>Satu momen dekat ke bahannya. Tekstur, kehalusan, dan cara cahaya jatuh di permukaannya.</a:t>
            </a:r>
            <a:endParaRPr lang="en-US" sz="900" dirty="0"/>
          </a:p>
        </p:txBody>
      </p:sp>
      <p:sp>
        <p:nvSpPr>
          <p:cNvPr id="20" name="Shape 15"/>
          <p:cNvSpPr/>
          <p:nvPr/>
        </p:nvSpPr>
        <p:spPr>
          <a:xfrm>
            <a:off x="8487644" y="4773168"/>
            <a:ext cx="3393430" cy="10973"/>
          </a:xfrm>
          <a:prstGeom prst="rect">
            <a:avLst/>
          </a:prstGeom>
          <a:solidFill>
            <a:srgbClr val="CCCCCC"/>
          </a:solidFill>
          <a:ln w="12700">
            <a:solidFill>
              <a:srgbClr val="CCCCCC"/>
            </a:solidFill>
            <a:prstDash val="solid"/>
          </a:ln>
        </p:spPr>
      </p:sp>
      <p:sp>
        <p:nvSpPr>
          <p:cNvPr id="21" name="Text 16"/>
          <p:cNvSpPr/>
          <p:nvPr/>
        </p:nvSpPr>
        <p:spPr>
          <a:xfrm>
            <a:off x="8487644" y="4901184"/>
            <a:ext cx="457200" cy="237744"/>
          </a:xfrm>
          <a:prstGeom prst="rect">
            <a:avLst/>
          </a:prstGeom>
          <a:noFill/>
          <a:ln/>
        </p:spPr>
        <p:txBody>
          <a:bodyPr wrap="square" lIns="0" tIns="0" rIns="0" bIns="0" rtlCol="0" anchor="ctr"/>
          <a:lstStyle/>
          <a:p>
            <a:pPr indent="0" marL="0">
              <a:buNone/>
            </a:pPr>
            <a:r>
              <a:rPr lang="en-US" sz="950" b="1" spc="160" kern="0" dirty="0">
                <a:solidFill>
                  <a:srgbClr val="FFFFFF"/>
                </a:solidFill>
                <a:latin typeface="Zalando Sans Expanded" pitchFamily="34" charset="0"/>
                <a:ea typeface="Zalando Sans Expanded" pitchFamily="34" charset="-122"/>
                <a:cs typeface="Zalando Sans Expanded" pitchFamily="34" charset="-120"/>
              </a:rPr>
              <a:t>03</a:t>
            </a:r>
            <a:endParaRPr lang="en-US" sz="950" dirty="0"/>
          </a:p>
        </p:txBody>
      </p:sp>
      <p:sp>
        <p:nvSpPr>
          <p:cNvPr id="22" name="Text 17"/>
          <p:cNvSpPr/>
          <p:nvPr/>
        </p:nvSpPr>
        <p:spPr>
          <a:xfrm>
            <a:off x="8963132" y="4901184"/>
            <a:ext cx="2917942" cy="237744"/>
          </a:xfrm>
          <a:prstGeom prst="rect">
            <a:avLst/>
          </a:prstGeom>
          <a:noFill/>
          <a:ln/>
        </p:spPr>
        <p:txBody>
          <a:bodyPr wrap="square" lIns="0" tIns="0" rIns="0" bIns="0" rtlCol="0" anchor="ctr"/>
          <a:lstStyle/>
          <a:p>
            <a:pPr indent="0" marL="0">
              <a:buNone/>
            </a:pPr>
            <a:r>
              <a:rPr lang="en-US" sz="1100" b="1" dirty="0">
                <a:solidFill>
                  <a:srgbClr val="FFFFFF"/>
                </a:solidFill>
                <a:latin typeface="Zalando Sans Expanded" pitchFamily="34" charset="0"/>
                <a:ea typeface="Zalando Sans Expanded" pitchFamily="34" charset="-122"/>
                <a:cs typeface="Zalando Sans Expanded" pitchFamily="34" charset="-120"/>
              </a:rPr>
              <a:t>Momen gerak</a:t>
            </a:r>
            <a:endParaRPr lang="en-US" sz="1100" dirty="0"/>
          </a:p>
        </p:txBody>
      </p:sp>
      <p:sp>
        <p:nvSpPr>
          <p:cNvPr id="23" name="Text 18"/>
          <p:cNvSpPr/>
          <p:nvPr/>
        </p:nvSpPr>
        <p:spPr>
          <a:xfrm>
            <a:off x="8487644" y="5248656"/>
            <a:ext cx="3393430" cy="786384"/>
          </a:xfrm>
          <a:prstGeom prst="rect">
            <a:avLst/>
          </a:prstGeom>
          <a:noFill/>
          <a:ln/>
        </p:spPr>
        <p:txBody>
          <a:bodyPr wrap="square" lIns="0" tIns="0" rIns="0" bIns="0" rtlCol="0" anchor="t"/>
          <a:lstStyle/>
          <a:p>
            <a:pPr indent="0" marL="0">
              <a:lnSpc>
                <a:spcPts val="1458"/>
              </a:lnSpc>
              <a:buNone/>
            </a:pPr>
            <a:r>
              <a:rPr lang="en-US" sz="900" dirty="0">
                <a:solidFill>
                  <a:srgbClr val="CCCCCC"/>
                </a:solidFill>
                <a:latin typeface="Arimo" pitchFamily="34" charset="0"/>
                <a:ea typeface="Arimo" pitchFamily="34" charset="-122"/>
                <a:cs typeface="Arimo" pitchFamily="34" charset="-120"/>
              </a:rPr>
              <a:t>Opsional. Duduk, meregang, olahraga, jalan — apa pun yang kamu kerjakan hari itu.</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09_hooks.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08</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4846320" y="1207008"/>
            <a:ext cx="6687282"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PICK ONE OR RIFF ON IT</a:t>
            </a:r>
            <a:endParaRPr lang="en-US" sz="850" dirty="0"/>
          </a:p>
        </p:txBody>
      </p:sp>
      <p:sp>
        <p:nvSpPr>
          <p:cNvPr id="9" name="Text 6"/>
          <p:cNvSpPr/>
          <p:nvPr/>
        </p:nvSpPr>
        <p:spPr>
          <a:xfrm>
            <a:off x="4846320" y="1517904"/>
            <a:ext cx="6687282"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HOOKS</a:t>
            </a:r>
            <a:endParaRPr lang="en-US" sz="2700" dirty="0"/>
          </a:p>
        </p:txBody>
      </p:sp>
      <p:sp>
        <p:nvSpPr>
          <p:cNvPr id="10" name="Shape 7"/>
          <p:cNvSpPr/>
          <p:nvPr/>
        </p:nvSpPr>
        <p:spPr>
          <a:xfrm>
            <a:off x="4846320" y="2395728"/>
            <a:ext cx="6687282" cy="10973"/>
          </a:xfrm>
          <a:prstGeom prst="rect">
            <a:avLst/>
          </a:prstGeom>
          <a:solidFill>
            <a:srgbClr val="818284"/>
          </a:solidFill>
          <a:ln w="12700">
            <a:solidFill>
              <a:srgbClr val="818284"/>
            </a:solidFill>
            <a:prstDash val="solid"/>
          </a:ln>
        </p:spPr>
      </p:sp>
      <p:sp>
        <p:nvSpPr>
          <p:cNvPr id="11" name="Text 8"/>
          <p:cNvSpPr/>
          <p:nvPr/>
        </p:nvSpPr>
        <p:spPr>
          <a:xfrm>
            <a:off x="4846320" y="2651760"/>
            <a:ext cx="420624" cy="274320"/>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01</a:t>
            </a:r>
            <a:endParaRPr lang="en-US" sz="900" dirty="0"/>
          </a:p>
        </p:txBody>
      </p:sp>
      <p:sp>
        <p:nvSpPr>
          <p:cNvPr id="12" name="Text 9"/>
          <p:cNvSpPr/>
          <p:nvPr/>
        </p:nvSpPr>
        <p:spPr>
          <a:xfrm>
            <a:off x="5358384" y="2651760"/>
            <a:ext cx="617521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“Celana dalem yang selalu gw pake setiap hari”</a:t>
            </a:r>
            <a:endParaRPr lang="en-US" sz="1050" dirty="0"/>
          </a:p>
        </p:txBody>
      </p:sp>
      <p:sp>
        <p:nvSpPr>
          <p:cNvPr id="13" name="Shape 10"/>
          <p:cNvSpPr/>
          <p:nvPr/>
        </p:nvSpPr>
        <p:spPr>
          <a:xfrm>
            <a:off x="4846320" y="3072384"/>
            <a:ext cx="6687282" cy="10973"/>
          </a:xfrm>
          <a:prstGeom prst="rect">
            <a:avLst/>
          </a:prstGeom>
          <a:solidFill>
            <a:srgbClr val="4F5052"/>
          </a:solidFill>
          <a:ln w="12700">
            <a:solidFill>
              <a:srgbClr val="4F5052"/>
            </a:solidFill>
            <a:prstDash val="solid"/>
          </a:ln>
        </p:spPr>
      </p:sp>
      <p:sp>
        <p:nvSpPr>
          <p:cNvPr id="14" name="Text 11"/>
          <p:cNvSpPr/>
          <p:nvPr/>
        </p:nvSpPr>
        <p:spPr>
          <a:xfrm>
            <a:off x="4846320" y="3255264"/>
            <a:ext cx="420624" cy="274320"/>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02</a:t>
            </a:r>
            <a:endParaRPr lang="en-US" sz="900" dirty="0"/>
          </a:p>
        </p:txBody>
      </p:sp>
      <p:sp>
        <p:nvSpPr>
          <p:cNvPr id="15" name="Text 12"/>
          <p:cNvSpPr/>
          <p:nvPr/>
        </p:nvSpPr>
        <p:spPr>
          <a:xfrm>
            <a:off x="5358384" y="3255264"/>
            <a:ext cx="617521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“POV: ukuran besar akhirnya ada yang muat dan nyaman”</a:t>
            </a:r>
            <a:endParaRPr lang="en-US" sz="1050" dirty="0"/>
          </a:p>
        </p:txBody>
      </p:sp>
      <p:sp>
        <p:nvSpPr>
          <p:cNvPr id="16" name="Shape 13"/>
          <p:cNvSpPr/>
          <p:nvPr/>
        </p:nvSpPr>
        <p:spPr>
          <a:xfrm>
            <a:off x="4846320" y="3675888"/>
            <a:ext cx="6687282" cy="10973"/>
          </a:xfrm>
          <a:prstGeom prst="rect">
            <a:avLst/>
          </a:prstGeom>
          <a:solidFill>
            <a:srgbClr val="4F5052"/>
          </a:solidFill>
          <a:ln w="12700">
            <a:solidFill>
              <a:srgbClr val="4F5052"/>
            </a:solidFill>
            <a:prstDash val="solid"/>
          </a:ln>
        </p:spPr>
      </p:sp>
      <p:sp>
        <p:nvSpPr>
          <p:cNvPr id="17" name="Text 14"/>
          <p:cNvSpPr/>
          <p:nvPr/>
        </p:nvSpPr>
        <p:spPr>
          <a:xfrm>
            <a:off x="4846320" y="3858768"/>
            <a:ext cx="420624" cy="274320"/>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03</a:t>
            </a:r>
            <a:endParaRPr lang="en-US" sz="900" dirty="0"/>
          </a:p>
        </p:txBody>
      </p:sp>
      <p:sp>
        <p:nvSpPr>
          <p:cNvPr id="18" name="Text 15"/>
          <p:cNvSpPr/>
          <p:nvPr/>
        </p:nvSpPr>
        <p:spPr>
          <a:xfrm>
            <a:off x="5358384" y="3858768"/>
            <a:ext cx="617521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“Gw kira semua celana dalem sama aja, sampai gw coba yang ini”</a:t>
            </a:r>
            <a:endParaRPr lang="en-US" sz="1050" dirty="0"/>
          </a:p>
        </p:txBody>
      </p:sp>
      <p:sp>
        <p:nvSpPr>
          <p:cNvPr id="19" name="Shape 16"/>
          <p:cNvSpPr/>
          <p:nvPr/>
        </p:nvSpPr>
        <p:spPr>
          <a:xfrm>
            <a:off x="4846320" y="4279392"/>
            <a:ext cx="6687282" cy="10973"/>
          </a:xfrm>
          <a:prstGeom prst="rect">
            <a:avLst/>
          </a:prstGeom>
          <a:solidFill>
            <a:srgbClr val="4F5052"/>
          </a:solidFill>
          <a:ln w="12700">
            <a:solidFill>
              <a:srgbClr val="4F5052"/>
            </a:solidFill>
            <a:prstDash val="solid"/>
          </a:ln>
        </p:spPr>
      </p:sp>
      <p:sp>
        <p:nvSpPr>
          <p:cNvPr id="20" name="Text 17"/>
          <p:cNvSpPr/>
          <p:nvPr/>
        </p:nvSpPr>
        <p:spPr>
          <a:xfrm>
            <a:off x="4846320" y="4462272"/>
            <a:ext cx="420624" cy="274320"/>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04</a:t>
            </a:r>
            <a:endParaRPr lang="en-US" sz="900" dirty="0"/>
          </a:p>
        </p:txBody>
      </p:sp>
      <p:sp>
        <p:nvSpPr>
          <p:cNvPr id="21" name="Text 18"/>
          <p:cNvSpPr/>
          <p:nvPr/>
        </p:nvSpPr>
        <p:spPr>
          <a:xfrm>
            <a:off x="5358384" y="4462272"/>
            <a:ext cx="617521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“Ini alasan gw nggak balik lagi ke brand lama gw”</a:t>
            </a:r>
            <a:endParaRPr lang="en-US" sz="1050" dirty="0"/>
          </a:p>
        </p:txBody>
      </p:sp>
      <p:sp>
        <p:nvSpPr>
          <p:cNvPr id="22" name="Shape 19"/>
          <p:cNvSpPr/>
          <p:nvPr/>
        </p:nvSpPr>
        <p:spPr>
          <a:xfrm>
            <a:off x="4846320" y="4882896"/>
            <a:ext cx="6687282" cy="10973"/>
          </a:xfrm>
          <a:prstGeom prst="rect">
            <a:avLst/>
          </a:prstGeom>
          <a:solidFill>
            <a:srgbClr val="4F5052"/>
          </a:solidFill>
          <a:ln w="12700">
            <a:solidFill>
              <a:srgbClr val="4F5052"/>
            </a:solidFill>
            <a:prstDash val="solid"/>
          </a:ln>
        </p:spPr>
      </p:sp>
      <p:sp>
        <p:nvSpPr>
          <p:cNvPr id="23" name="Text 20"/>
          <p:cNvSpPr/>
          <p:nvPr/>
        </p:nvSpPr>
        <p:spPr>
          <a:xfrm>
            <a:off x="4846320" y="5065776"/>
            <a:ext cx="420624" cy="274320"/>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05</a:t>
            </a:r>
            <a:endParaRPr lang="en-US" sz="900" dirty="0"/>
          </a:p>
        </p:txBody>
      </p:sp>
      <p:sp>
        <p:nvSpPr>
          <p:cNvPr id="24" name="Text 21"/>
          <p:cNvSpPr/>
          <p:nvPr/>
        </p:nvSpPr>
        <p:spPr>
          <a:xfrm>
            <a:off x="5358384" y="5065776"/>
            <a:ext cx="617521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“Cerita jujur setelah 24 jam pakai underwear ini di cuaca Jakarta”</a:t>
            </a:r>
            <a:endParaRPr lang="en-US" sz="1050" dirty="0"/>
          </a:p>
        </p:txBody>
      </p:sp>
      <p:sp>
        <p:nvSpPr>
          <p:cNvPr id="25" name="Shape 22"/>
          <p:cNvSpPr/>
          <p:nvPr/>
        </p:nvSpPr>
        <p:spPr>
          <a:xfrm>
            <a:off x="4846320" y="5486400"/>
            <a:ext cx="6687282" cy="10973"/>
          </a:xfrm>
          <a:prstGeom prst="rect">
            <a:avLst/>
          </a:prstGeom>
          <a:solidFill>
            <a:srgbClr val="4F5052"/>
          </a:solidFill>
          <a:ln w="12700">
            <a:solidFill>
              <a:srgbClr val="4F5052"/>
            </a:solidFill>
            <a:prstDash val="solid"/>
          </a:ln>
        </p:spPr>
      </p:sp>
      <p:sp>
        <p:nvSpPr>
          <p:cNvPr id="26" name="Text 23"/>
          <p:cNvSpPr/>
          <p:nvPr/>
        </p:nvSpPr>
        <p:spPr>
          <a:xfrm>
            <a:off x="4846320" y="5669280"/>
            <a:ext cx="420624" cy="274320"/>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06</a:t>
            </a:r>
            <a:endParaRPr lang="en-US" sz="900" dirty="0"/>
          </a:p>
        </p:txBody>
      </p:sp>
      <p:sp>
        <p:nvSpPr>
          <p:cNvPr id="27" name="Text 24"/>
          <p:cNvSpPr/>
          <p:nvPr/>
        </p:nvSpPr>
        <p:spPr>
          <a:xfrm>
            <a:off x="5358384" y="5669280"/>
            <a:ext cx="617521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“Gak nyangka bahannya senyaman ini buat cuaca panas”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10_t1.jpg">    </p:cNvPr>
          <p:cNvPicPr>
            <a:picLocks noChangeAspect="1"/>
          </p:cNvPicPr>
          <p:nvPr/>
        </p:nvPicPr>
        <p:blipFill>
          <a:blip r:embed="rId1"/>
          <a:stretch>
            <a:fillRect/>
          </a:stretch>
        </p:blipFill>
        <p:spPr>
          <a:xfrm>
            <a:off x="0" y="0"/>
            <a:ext cx="2394539" cy="6858000"/>
          </a:xfrm>
          <a:prstGeom prst="rect">
            <a:avLst/>
          </a:prstGeom>
        </p:spPr>
      </p:pic>
      <p:pic>
        <p:nvPicPr>
          <p:cNvPr id="3" name="Image 1" descr="/home/user/Dom-Manipulation/toni-black/creator-brief/source/frames/s10_t2.jpg">    </p:cNvPr>
          <p:cNvPicPr>
            <a:picLocks noChangeAspect="1"/>
          </p:cNvPicPr>
          <p:nvPr/>
        </p:nvPicPr>
        <p:blipFill>
          <a:blip r:embed="rId2"/>
          <a:stretch>
            <a:fillRect/>
          </a:stretch>
        </p:blipFill>
        <p:spPr>
          <a:xfrm>
            <a:off x="2449403" y="0"/>
            <a:ext cx="2394539" cy="6858000"/>
          </a:xfrm>
          <a:prstGeom prst="rect">
            <a:avLst/>
          </a:prstGeom>
        </p:spPr>
      </p:pic>
      <p:pic>
        <p:nvPicPr>
          <p:cNvPr id="4" name="Image 2" descr="/home/user/Dom-Manipulation/toni-black/creator-brief/source/frames/s10_t3.jpg">    </p:cNvPr>
          <p:cNvPicPr>
            <a:picLocks noChangeAspect="1"/>
          </p:cNvPicPr>
          <p:nvPr/>
        </p:nvPicPr>
        <p:blipFill>
          <a:blip r:embed="rId3"/>
          <a:stretch>
            <a:fillRect/>
          </a:stretch>
        </p:blipFill>
        <p:spPr>
          <a:xfrm>
            <a:off x="4898807" y="0"/>
            <a:ext cx="2394539" cy="6858000"/>
          </a:xfrm>
          <a:prstGeom prst="rect">
            <a:avLst/>
          </a:prstGeom>
        </p:spPr>
      </p:pic>
      <p:pic>
        <p:nvPicPr>
          <p:cNvPr id="5" name="Image 3" descr="/home/user/Dom-Manipulation/toni-black/creator-brief/source/frames/s10_t4.jpg">    </p:cNvPr>
          <p:cNvPicPr>
            <a:picLocks noChangeAspect="1"/>
          </p:cNvPicPr>
          <p:nvPr/>
        </p:nvPicPr>
        <p:blipFill>
          <a:blip r:embed="rId4"/>
          <a:stretch>
            <a:fillRect/>
          </a:stretch>
        </p:blipFill>
        <p:spPr>
          <a:xfrm>
            <a:off x="7348210" y="0"/>
            <a:ext cx="2394539" cy="6858000"/>
          </a:xfrm>
          <a:prstGeom prst="rect">
            <a:avLst/>
          </a:prstGeom>
        </p:spPr>
      </p:pic>
      <p:pic>
        <p:nvPicPr>
          <p:cNvPr id="6" name="Image 4" descr="/home/user/Dom-Manipulation/toni-black/creator-brief/source/frames/s10_t5.jpg">    </p:cNvPr>
          <p:cNvPicPr>
            <a:picLocks noChangeAspect="1"/>
          </p:cNvPicPr>
          <p:nvPr/>
        </p:nvPicPr>
        <p:blipFill>
          <a:blip r:embed="rId5"/>
          <a:stretch>
            <a:fillRect/>
          </a:stretch>
        </p:blipFill>
        <p:spPr>
          <a:xfrm>
            <a:off x="9797613" y="0"/>
            <a:ext cx="2394539" cy="6858000"/>
          </a:xfrm>
          <a:prstGeom prst="rect">
            <a:avLst/>
          </a:prstGeom>
        </p:spPr>
      </p:pic>
      <p:sp>
        <p:nvSpPr>
          <p:cNvPr id="7" name="Shape 0"/>
          <p:cNvSpPr/>
          <p:nvPr/>
        </p:nvSpPr>
        <p:spPr>
          <a:xfrm>
            <a:off x="11222706" y="457200"/>
            <a:ext cx="310896" cy="310896"/>
          </a:xfrm>
          <a:prstGeom prst="ellipse">
            <a:avLst/>
          </a:prstGeom>
          <a:ln w="7620">
            <a:solidFill>
              <a:srgbClr val="FFFFFF"/>
            </a:solidFill>
            <a:prstDash val="solid"/>
          </a:ln>
        </p:spPr>
      </p:sp>
      <p:sp>
        <p:nvSpPr>
          <p:cNvPr id="8"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09</a:t>
            </a:r>
            <a:endParaRPr lang="en-US" sz="850" dirty="0"/>
          </a:p>
        </p:txBody>
      </p:sp>
      <p:sp>
        <p:nvSpPr>
          <p:cNvPr id="9"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10"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11"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12" name="Text 5"/>
          <p:cNvSpPr/>
          <p:nvPr/>
        </p:nvSpPr>
        <p:spPr>
          <a:xfrm>
            <a:off x="658368" y="1207008"/>
            <a:ext cx="10875234"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FIVE WAYS INTO IT  ·  TIKTOK</a:t>
            </a:r>
            <a:endParaRPr lang="en-US" sz="850" dirty="0"/>
          </a:p>
        </p:txBody>
      </p:sp>
      <p:sp>
        <p:nvSpPr>
          <p:cNvPr id="13" name="Text 6"/>
          <p:cNvSpPr/>
          <p:nvPr/>
        </p:nvSpPr>
        <p:spPr>
          <a:xfrm>
            <a:off x="658368" y="1517904"/>
            <a:ext cx="10875234" cy="804672"/>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CONTENT IDEAS</a:t>
            </a:r>
            <a:endParaRPr lang="en-US" sz="2700" dirty="0"/>
          </a:p>
        </p:txBody>
      </p:sp>
      <p:sp>
        <p:nvSpPr>
          <p:cNvPr id="14" name="Shape 7"/>
          <p:cNvSpPr/>
          <p:nvPr/>
        </p:nvSpPr>
        <p:spPr>
          <a:xfrm>
            <a:off x="274320" y="4590288"/>
            <a:ext cx="1845899" cy="10973"/>
          </a:xfrm>
          <a:prstGeom prst="rect">
            <a:avLst/>
          </a:prstGeom>
          <a:solidFill>
            <a:srgbClr val="CCCCCC"/>
          </a:solidFill>
          <a:ln w="12700">
            <a:solidFill>
              <a:srgbClr val="CCCCCC"/>
            </a:solidFill>
            <a:prstDash val="solid"/>
          </a:ln>
        </p:spPr>
      </p:sp>
      <p:sp>
        <p:nvSpPr>
          <p:cNvPr id="15" name="Text 8"/>
          <p:cNvSpPr/>
          <p:nvPr/>
        </p:nvSpPr>
        <p:spPr>
          <a:xfrm>
            <a:off x="274320" y="4700016"/>
            <a:ext cx="1845899" cy="237744"/>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01</a:t>
            </a:r>
            <a:endParaRPr lang="en-US" sz="900" dirty="0"/>
          </a:p>
        </p:txBody>
      </p:sp>
      <p:sp>
        <p:nvSpPr>
          <p:cNvPr id="16" name="Text 9"/>
          <p:cNvSpPr/>
          <p:nvPr/>
        </p:nvSpPr>
        <p:spPr>
          <a:xfrm>
            <a:off x="274320" y="4956048"/>
            <a:ext cx="1845899" cy="256032"/>
          </a:xfrm>
          <a:prstGeom prst="rect">
            <a:avLst/>
          </a:prstGeom>
          <a:noFill/>
          <a:ln/>
        </p:spPr>
        <p:txBody>
          <a:bodyPr wrap="square" lIns="0" tIns="0" rIns="0" bIns="0" rtlCol="0" anchor="ctr"/>
          <a:lstStyle/>
          <a:p>
            <a:pPr indent="0" marL="0">
              <a:buNone/>
            </a:pPr>
            <a:r>
              <a:rPr lang="en-US" sz="1050" b="1" dirty="0">
                <a:solidFill>
                  <a:srgbClr val="FFFFFF"/>
                </a:solidFill>
                <a:latin typeface="Zalando Sans Expanded" pitchFamily="34" charset="0"/>
                <a:ea typeface="Zalando Sans Expanded" pitchFamily="34" charset="-122"/>
                <a:cs typeface="Zalando Sans Expanded" pitchFamily="34" charset="-120"/>
              </a:rPr>
              <a:t>Sizing test</a:t>
            </a:r>
            <a:endParaRPr lang="en-US" sz="1050" dirty="0"/>
          </a:p>
        </p:txBody>
      </p:sp>
      <p:sp>
        <p:nvSpPr>
          <p:cNvPr id="17" name="Text 10"/>
          <p:cNvSpPr/>
          <p:nvPr/>
        </p:nvSpPr>
        <p:spPr>
          <a:xfrm>
            <a:off x="274320" y="5266944"/>
            <a:ext cx="1845899" cy="859536"/>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Try-on (pinggang saja) yang menunjukkan potongannya di badan berbeda-beda, ditutup reaksi jujur kamu.</a:t>
            </a:r>
            <a:endParaRPr lang="en-US" sz="850" dirty="0"/>
          </a:p>
        </p:txBody>
      </p:sp>
      <p:sp>
        <p:nvSpPr>
          <p:cNvPr id="18" name="Shape 11"/>
          <p:cNvSpPr/>
          <p:nvPr/>
        </p:nvSpPr>
        <p:spPr>
          <a:xfrm>
            <a:off x="2723723" y="4590288"/>
            <a:ext cx="1845899" cy="10973"/>
          </a:xfrm>
          <a:prstGeom prst="rect">
            <a:avLst/>
          </a:prstGeom>
          <a:solidFill>
            <a:srgbClr val="CCCCCC"/>
          </a:solidFill>
          <a:ln w="12700">
            <a:solidFill>
              <a:srgbClr val="CCCCCC"/>
            </a:solidFill>
            <a:prstDash val="solid"/>
          </a:ln>
        </p:spPr>
      </p:sp>
      <p:sp>
        <p:nvSpPr>
          <p:cNvPr id="19" name="Text 12"/>
          <p:cNvSpPr/>
          <p:nvPr/>
        </p:nvSpPr>
        <p:spPr>
          <a:xfrm>
            <a:off x="2723723" y="4700016"/>
            <a:ext cx="1845899" cy="237744"/>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02</a:t>
            </a:r>
            <a:endParaRPr lang="en-US" sz="900" dirty="0"/>
          </a:p>
        </p:txBody>
      </p:sp>
      <p:sp>
        <p:nvSpPr>
          <p:cNvPr id="20" name="Text 13"/>
          <p:cNvSpPr/>
          <p:nvPr/>
        </p:nvSpPr>
        <p:spPr>
          <a:xfrm>
            <a:off x="2723723" y="4956048"/>
            <a:ext cx="1845899" cy="256032"/>
          </a:xfrm>
          <a:prstGeom prst="rect">
            <a:avLst/>
          </a:prstGeom>
          <a:noFill/>
          <a:ln/>
        </p:spPr>
        <p:txBody>
          <a:bodyPr wrap="square" lIns="0" tIns="0" rIns="0" bIns="0" rtlCol="0" anchor="ctr"/>
          <a:lstStyle/>
          <a:p>
            <a:pPr indent="0" marL="0">
              <a:buNone/>
            </a:pPr>
            <a:r>
              <a:rPr lang="en-US" sz="1050" b="1" dirty="0">
                <a:solidFill>
                  <a:srgbClr val="FFFFFF"/>
                </a:solidFill>
                <a:latin typeface="Zalando Sans Expanded" pitchFamily="34" charset="0"/>
                <a:ea typeface="Zalando Sans Expanded" pitchFamily="34" charset="-122"/>
                <a:cs typeface="Zalando Sans Expanded" pitchFamily="34" charset="-120"/>
              </a:rPr>
              <a:t>Gym vs desk day</a:t>
            </a:r>
            <a:endParaRPr lang="en-US" sz="1050" dirty="0"/>
          </a:p>
        </p:txBody>
      </p:sp>
      <p:sp>
        <p:nvSpPr>
          <p:cNvPr id="21" name="Text 14"/>
          <p:cNvSpPr/>
          <p:nvPr/>
        </p:nvSpPr>
        <p:spPr>
          <a:xfrm>
            <a:off x="2723723" y="5266944"/>
            <a:ext cx="1845899" cy="859536"/>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Satu celana dipakai untuk latihan dan seharian di meja. Ceritakan bagaimana dia bertahan.</a:t>
            </a:r>
            <a:endParaRPr lang="en-US" sz="850" dirty="0"/>
          </a:p>
        </p:txBody>
      </p:sp>
      <p:sp>
        <p:nvSpPr>
          <p:cNvPr id="22" name="Shape 15"/>
          <p:cNvSpPr/>
          <p:nvPr/>
        </p:nvSpPr>
        <p:spPr>
          <a:xfrm>
            <a:off x="5173127" y="4590288"/>
            <a:ext cx="1845899" cy="10973"/>
          </a:xfrm>
          <a:prstGeom prst="rect">
            <a:avLst/>
          </a:prstGeom>
          <a:solidFill>
            <a:srgbClr val="CCCCCC"/>
          </a:solidFill>
          <a:ln w="12700">
            <a:solidFill>
              <a:srgbClr val="CCCCCC"/>
            </a:solidFill>
            <a:prstDash val="solid"/>
          </a:ln>
        </p:spPr>
      </p:sp>
      <p:sp>
        <p:nvSpPr>
          <p:cNvPr id="23" name="Text 16"/>
          <p:cNvSpPr/>
          <p:nvPr/>
        </p:nvSpPr>
        <p:spPr>
          <a:xfrm>
            <a:off x="5173127" y="4700016"/>
            <a:ext cx="1845899" cy="237744"/>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03</a:t>
            </a:r>
            <a:endParaRPr lang="en-US" sz="900" dirty="0"/>
          </a:p>
        </p:txBody>
      </p:sp>
      <p:sp>
        <p:nvSpPr>
          <p:cNvPr id="24" name="Text 17"/>
          <p:cNvSpPr/>
          <p:nvPr/>
        </p:nvSpPr>
        <p:spPr>
          <a:xfrm>
            <a:off x="5173127" y="4956048"/>
            <a:ext cx="1845899" cy="256032"/>
          </a:xfrm>
          <a:prstGeom prst="rect">
            <a:avLst/>
          </a:prstGeom>
          <a:noFill/>
          <a:ln/>
        </p:spPr>
        <p:txBody>
          <a:bodyPr wrap="square" lIns="0" tIns="0" rIns="0" bIns="0" rtlCol="0" anchor="ctr"/>
          <a:lstStyle/>
          <a:p>
            <a:pPr indent="0" marL="0">
              <a:buNone/>
            </a:pPr>
            <a:r>
              <a:rPr lang="en-US" sz="1050" b="1" dirty="0">
                <a:solidFill>
                  <a:srgbClr val="FFFFFF"/>
                </a:solidFill>
                <a:latin typeface="Zalando Sans Expanded" pitchFamily="34" charset="0"/>
                <a:ea typeface="Zalando Sans Expanded" pitchFamily="34" charset="-122"/>
                <a:cs typeface="Zalando Sans Expanded" pitchFamily="34" charset="-120"/>
              </a:rPr>
              <a:t>Fabric close-up</a:t>
            </a:r>
            <a:endParaRPr lang="en-US" sz="1050" dirty="0"/>
          </a:p>
        </p:txBody>
      </p:sp>
      <p:sp>
        <p:nvSpPr>
          <p:cNvPr id="25" name="Text 18"/>
          <p:cNvSpPr/>
          <p:nvPr/>
        </p:nvSpPr>
        <p:spPr>
          <a:xfrm>
            <a:off x="5173127" y="5266944"/>
            <a:ext cx="1845899" cy="859536"/>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Regangan dan tekstur dalam gerak lambat, dengan voiceover kenapa Modal terasa beda.</a:t>
            </a:r>
            <a:endParaRPr lang="en-US" sz="850" dirty="0"/>
          </a:p>
        </p:txBody>
      </p:sp>
      <p:sp>
        <p:nvSpPr>
          <p:cNvPr id="26" name="Shape 19"/>
          <p:cNvSpPr/>
          <p:nvPr/>
        </p:nvSpPr>
        <p:spPr>
          <a:xfrm>
            <a:off x="7622530" y="4590288"/>
            <a:ext cx="1845899" cy="10973"/>
          </a:xfrm>
          <a:prstGeom prst="rect">
            <a:avLst/>
          </a:prstGeom>
          <a:solidFill>
            <a:srgbClr val="CCCCCC"/>
          </a:solidFill>
          <a:ln w="12700">
            <a:solidFill>
              <a:srgbClr val="CCCCCC"/>
            </a:solidFill>
            <a:prstDash val="solid"/>
          </a:ln>
        </p:spPr>
      </p:sp>
      <p:sp>
        <p:nvSpPr>
          <p:cNvPr id="27" name="Text 20"/>
          <p:cNvSpPr/>
          <p:nvPr/>
        </p:nvSpPr>
        <p:spPr>
          <a:xfrm>
            <a:off x="7622530" y="4700016"/>
            <a:ext cx="1845899" cy="237744"/>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04</a:t>
            </a:r>
            <a:endParaRPr lang="en-US" sz="900" dirty="0"/>
          </a:p>
        </p:txBody>
      </p:sp>
      <p:sp>
        <p:nvSpPr>
          <p:cNvPr id="28" name="Text 21"/>
          <p:cNvSpPr/>
          <p:nvPr/>
        </p:nvSpPr>
        <p:spPr>
          <a:xfrm>
            <a:off x="7622530" y="4956048"/>
            <a:ext cx="1845899" cy="256032"/>
          </a:xfrm>
          <a:prstGeom prst="rect">
            <a:avLst/>
          </a:prstGeom>
          <a:noFill/>
          <a:ln/>
        </p:spPr>
        <p:txBody>
          <a:bodyPr wrap="square" lIns="0" tIns="0" rIns="0" bIns="0" rtlCol="0" anchor="ctr"/>
          <a:lstStyle/>
          <a:p>
            <a:pPr indent="0" marL="0">
              <a:buNone/>
            </a:pPr>
            <a:r>
              <a:rPr lang="en-US" sz="1050" b="1" dirty="0">
                <a:solidFill>
                  <a:srgbClr val="FFFFFF"/>
                </a:solidFill>
                <a:latin typeface="Zalando Sans Expanded" pitchFamily="34" charset="0"/>
                <a:ea typeface="Zalando Sans Expanded" pitchFamily="34" charset="-122"/>
                <a:cs typeface="Zalando Sans Expanded" pitchFamily="34" charset="-120"/>
              </a:rPr>
              <a:t>Brand switch story</a:t>
            </a:r>
            <a:endParaRPr lang="en-US" sz="1050" dirty="0"/>
          </a:p>
        </p:txBody>
      </p:sp>
      <p:sp>
        <p:nvSpPr>
          <p:cNvPr id="29" name="Text 22"/>
          <p:cNvSpPr/>
          <p:nvPr/>
        </p:nvSpPr>
        <p:spPr>
          <a:xfrm>
            <a:off x="7622530" y="5266944"/>
            <a:ext cx="1845899" cy="859536"/>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Perbandingan jujur, dibingkai sebagai perjalanan kamu sendiri pindah brand.</a:t>
            </a:r>
            <a:endParaRPr lang="en-US" sz="850" dirty="0"/>
          </a:p>
        </p:txBody>
      </p:sp>
      <p:sp>
        <p:nvSpPr>
          <p:cNvPr id="30" name="Shape 23"/>
          <p:cNvSpPr/>
          <p:nvPr/>
        </p:nvSpPr>
        <p:spPr>
          <a:xfrm>
            <a:off x="10071933" y="4590288"/>
            <a:ext cx="1845899" cy="10973"/>
          </a:xfrm>
          <a:prstGeom prst="rect">
            <a:avLst/>
          </a:prstGeom>
          <a:solidFill>
            <a:srgbClr val="CCCCCC"/>
          </a:solidFill>
          <a:ln w="12700">
            <a:solidFill>
              <a:srgbClr val="CCCCCC"/>
            </a:solidFill>
            <a:prstDash val="solid"/>
          </a:ln>
        </p:spPr>
      </p:sp>
      <p:sp>
        <p:nvSpPr>
          <p:cNvPr id="31" name="Text 24"/>
          <p:cNvSpPr/>
          <p:nvPr/>
        </p:nvSpPr>
        <p:spPr>
          <a:xfrm>
            <a:off x="10071933" y="4700016"/>
            <a:ext cx="1845899" cy="237744"/>
          </a:xfrm>
          <a:prstGeom prst="rect">
            <a:avLst/>
          </a:prstGeom>
          <a:noFill/>
          <a:ln/>
        </p:spPr>
        <p:txBody>
          <a:bodyPr wrap="square" lIns="0" tIns="0" rIns="0" bIns="0" rtlCol="0" anchor="ctr"/>
          <a:lstStyle/>
          <a:p>
            <a:pPr indent="0" marL="0">
              <a:buNone/>
            </a:pPr>
            <a:r>
              <a:rPr lang="en-US" sz="900" b="1" spc="160" kern="0" dirty="0">
                <a:solidFill>
                  <a:srgbClr val="FFFFFF"/>
                </a:solidFill>
                <a:latin typeface="Zalando Sans Expanded" pitchFamily="34" charset="0"/>
                <a:ea typeface="Zalando Sans Expanded" pitchFamily="34" charset="-122"/>
                <a:cs typeface="Zalando Sans Expanded" pitchFamily="34" charset="-120"/>
              </a:rPr>
              <a:t>05</a:t>
            </a:r>
            <a:endParaRPr lang="en-US" sz="900" dirty="0"/>
          </a:p>
        </p:txBody>
      </p:sp>
      <p:sp>
        <p:nvSpPr>
          <p:cNvPr id="32" name="Text 25"/>
          <p:cNvSpPr/>
          <p:nvPr/>
        </p:nvSpPr>
        <p:spPr>
          <a:xfrm>
            <a:off x="10071933" y="4956048"/>
            <a:ext cx="1845899" cy="256032"/>
          </a:xfrm>
          <a:prstGeom prst="rect">
            <a:avLst/>
          </a:prstGeom>
          <a:noFill/>
          <a:ln/>
        </p:spPr>
        <p:txBody>
          <a:bodyPr wrap="square" lIns="0" tIns="0" rIns="0" bIns="0" rtlCol="0" anchor="ctr"/>
          <a:lstStyle/>
          <a:p>
            <a:pPr indent="0" marL="0">
              <a:buNone/>
            </a:pPr>
            <a:r>
              <a:rPr lang="en-US" sz="1050" b="1" dirty="0">
                <a:solidFill>
                  <a:srgbClr val="FFFFFF"/>
                </a:solidFill>
                <a:latin typeface="Zalando Sans Expanded" pitchFamily="34" charset="0"/>
                <a:ea typeface="Zalando Sans Expanded" pitchFamily="34" charset="-122"/>
                <a:cs typeface="Zalando Sans Expanded" pitchFamily="34" charset="-120"/>
              </a:rPr>
              <a:t>What's in my drawer</a:t>
            </a:r>
            <a:endParaRPr lang="en-US" sz="1050" dirty="0"/>
          </a:p>
        </p:txBody>
      </p:sp>
      <p:sp>
        <p:nvSpPr>
          <p:cNvPr id="33" name="Text 26"/>
          <p:cNvSpPr/>
          <p:nvPr/>
        </p:nvSpPr>
        <p:spPr>
          <a:xfrm>
            <a:off x="10071933" y="5266944"/>
            <a:ext cx="1845899" cy="859536"/>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Ringan dan dekat: Toni Black di sebelah brand lama kamu, plus alasan kenapa dia menang.</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11_proof.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10</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658368" y="1207008"/>
            <a:ext cx="5760720"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BE SPECIFIC, NOT GENERIC</a:t>
            </a:r>
            <a:endParaRPr lang="en-US" sz="850" dirty="0"/>
          </a:p>
        </p:txBody>
      </p:sp>
      <p:sp>
        <p:nvSpPr>
          <p:cNvPr id="9" name="Text 6"/>
          <p:cNvSpPr/>
          <p:nvPr/>
        </p:nvSpPr>
        <p:spPr>
          <a:xfrm>
            <a:off x="658368" y="1517904"/>
            <a:ext cx="5760720" cy="804672"/>
          </a:xfrm>
          <a:prstGeom prst="rect">
            <a:avLst/>
          </a:prstGeom>
          <a:noFill/>
          <a:ln/>
        </p:spPr>
        <p:txBody>
          <a:bodyPr wrap="square" lIns="0" tIns="0" rIns="0" bIns="0" rtlCol="0" anchor="ctr"/>
          <a:lstStyle/>
          <a:p>
            <a:pPr algn="l"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PROOF</a:t>
            </a:r>
            <a:endParaRPr lang="en-US" sz="2700" dirty="0"/>
          </a:p>
        </p:txBody>
      </p:sp>
      <p:sp>
        <p:nvSpPr>
          <p:cNvPr id="10" name="Shape 7"/>
          <p:cNvSpPr/>
          <p:nvPr/>
        </p:nvSpPr>
        <p:spPr>
          <a:xfrm>
            <a:off x="658368" y="2395728"/>
            <a:ext cx="5760720" cy="10973"/>
          </a:xfrm>
          <a:prstGeom prst="rect">
            <a:avLst/>
          </a:prstGeom>
          <a:solidFill>
            <a:srgbClr val="818284"/>
          </a:solidFill>
          <a:ln w="12700">
            <a:solidFill>
              <a:srgbClr val="818284"/>
            </a:solidFill>
            <a:prstDash val="solid"/>
          </a:ln>
        </p:spPr>
      </p:sp>
      <p:sp>
        <p:nvSpPr>
          <p:cNvPr id="11" name="Text 8"/>
          <p:cNvSpPr/>
          <p:nvPr/>
        </p:nvSpPr>
        <p:spPr>
          <a:xfrm>
            <a:off x="658368" y="2651760"/>
            <a:ext cx="5760720" cy="155448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Berikan review jujur dan spesifik setelah memakainya seharian penuh. Kalau relevan, bandingkan dengan brand yang dulu kamu pakai — tapi samarkan namanya. Sebut “Brand C” atau “Brand U”, jangan disebut langsung.</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Lewati pujian umum seperti “adem” atau “breathable”. Masuk ke detailnya.</a:t>
            </a:r>
            <a:endParaRPr lang="en-US" sz="950" dirty="0"/>
          </a:p>
        </p:txBody>
      </p:sp>
      <p:sp>
        <p:nvSpPr>
          <p:cNvPr id="12" name="Shape 9"/>
          <p:cNvSpPr/>
          <p:nvPr/>
        </p:nvSpPr>
        <p:spPr>
          <a:xfrm>
            <a:off x="658368" y="4590288"/>
            <a:ext cx="182880" cy="10973"/>
          </a:xfrm>
          <a:prstGeom prst="rect">
            <a:avLst/>
          </a:prstGeom>
          <a:solidFill>
            <a:srgbClr val="CCCCCC"/>
          </a:solidFill>
          <a:ln w="12700">
            <a:solidFill>
              <a:srgbClr val="CCCCCC"/>
            </a:solidFill>
            <a:prstDash val="solid"/>
          </a:ln>
        </p:spPr>
      </p:sp>
      <p:sp>
        <p:nvSpPr>
          <p:cNvPr id="13" name="Text 10"/>
          <p:cNvSpPr/>
          <p:nvPr/>
        </p:nvSpPr>
        <p:spPr>
          <a:xfrm>
            <a:off x="1005840" y="4443984"/>
            <a:ext cx="541324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Jam ke-8 rasanya bagaimana?</a:t>
            </a:r>
            <a:endParaRPr lang="en-US" sz="1050" dirty="0"/>
          </a:p>
        </p:txBody>
      </p:sp>
      <p:sp>
        <p:nvSpPr>
          <p:cNvPr id="14" name="Shape 11"/>
          <p:cNvSpPr/>
          <p:nvPr/>
        </p:nvSpPr>
        <p:spPr>
          <a:xfrm>
            <a:off x="658368" y="5102352"/>
            <a:ext cx="182880" cy="10973"/>
          </a:xfrm>
          <a:prstGeom prst="rect">
            <a:avLst/>
          </a:prstGeom>
          <a:solidFill>
            <a:srgbClr val="CCCCCC"/>
          </a:solidFill>
          <a:ln w="12700">
            <a:solidFill>
              <a:srgbClr val="CCCCCC"/>
            </a:solidFill>
            <a:prstDash val="solid"/>
          </a:ln>
        </p:spPr>
      </p:sp>
      <p:sp>
        <p:nvSpPr>
          <p:cNvPr id="15" name="Text 12"/>
          <p:cNvSpPr/>
          <p:nvPr/>
        </p:nvSpPr>
        <p:spPr>
          <a:xfrm>
            <a:off x="1005840" y="4956048"/>
            <a:ext cx="541324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Bertahan waktu latihan atau di perjalanan?</a:t>
            </a:r>
            <a:endParaRPr lang="en-US" sz="1050" dirty="0"/>
          </a:p>
        </p:txBody>
      </p:sp>
      <p:sp>
        <p:nvSpPr>
          <p:cNvPr id="16" name="Shape 13"/>
          <p:cNvSpPr/>
          <p:nvPr/>
        </p:nvSpPr>
        <p:spPr>
          <a:xfrm>
            <a:off x="658368" y="5614416"/>
            <a:ext cx="182880" cy="10973"/>
          </a:xfrm>
          <a:prstGeom prst="rect">
            <a:avLst/>
          </a:prstGeom>
          <a:solidFill>
            <a:srgbClr val="CCCCCC"/>
          </a:solidFill>
          <a:ln w="12700">
            <a:solidFill>
              <a:srgbClr val="CCCCCC"/>
            </a:solidFill>
            <a:prstDash val="solid"/>
          </a:ln>
        </p:spPr>
      </p:sp>
      <p:sp>
        <p:nvSpPr>
          <p:cNvPr id="17" name="Text 14"/>
          <p:cNvSpPr/>
          <p:nvPr/>
        </p:nvSpPr>
        <p:spPr>
          <a:xfrm>
            <a:off x="1005840" y="5468112"/>
            <a:ext cx="5413248" cy="310896"/>
          </a:xfrm>
          <a:prstGeom prst="rect">
            <a:avLst/>
          </a:prstGeom>
          <a:noFill/>
          <a:ln/>
        </p:spPr>
        <p:txBody>
          <a:bodyPr wrap="square" lIns="0" tIns="0" rIns="0" bIns="0" rtlCol="0" anchor="t"/>
          <a:lstStyle/>
          <a:p>
            <a:pPr indent="0" marL="0">
              <a:lnSpc>
                <a:spcPts val="1701"/>
              </a:lnSpc>
              <a:buNone/>
            </a:pPr>
            <a:r>
              <a:rPr lang="en-US" sz="1050" dirty="0">
                <a:solidFill>
                  <a:srgbClr val="FFFFFF"/>
                </a:solidFill>
                <a:latin typeface="Arimo" pitchFamily="34" charset="0"/>
                <a:ea typeface="Arimo" pitchFamily="34" charset="-122"/>
                <a:cs typeface="Arimo" pitchFamily="34" charset="-120"/>
              </a:rPr>
              <a:t>Apa yang ternyata beda dari yang biasa kamu pakai?</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12_cta.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11</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5577840" y="1207008"/>
            <a:ext cx="5955762" cy="237744"/>
          </a:xfrm>
          <a:prstGeom prst="rect">
            <a:avLst/>
          </a:prstGeom>
          <a:noFill/>
          <a:ln/>
        </p:spPr>
        <p:txBody>
          <a:bodyPr wrap="square" lIns="0" tIns="0" rIns="0" bIns="0" rtlCol="0" anchor="ctr"/>
          <a:lstStyle/>
          <a:p>
            <a:pPr algn="r"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KEEP IT NATURAL</a:t>
            </a:r>
            <a:endParaRPr lang="en-US" sz="850" dirty="0"/>
          </a:p>
        </p:txBody>
      </p:sp>
      <p:sp>
        <p:nvSpPr>
          <p:cNvPr id="9" name="Text 6"/>
          <p:cNvSpPr/>
          <p:nvPr/>
        </p:nvSpPr>
        <p:spPr>
          <a:xfrm>
            <a:off x="5577840" y="1517904"/>
            <a:ext cx="5955762" cy="1280160"/>
          </a:xfrm>
          <a:prstGeom prst="rect">
            <a:avLst/>
          </a:prstGeom>
          <a:noFill/>
          <a:ln/>
        </p:spPr>
        <p:txBody>
          <a:bodyPr wrap="square" lIns="0" tIns="0" rIns="0" bIns="0" rtlCol="0" anchor="ctr"/>
          <a:lstStyle/>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THE CALL</a:t>
            </a:r>
            <a:endParaRPr lang="en-US" sz="2700" dirty="0"/>
          </a:p>
          <a:p>
            <a:pPr algn="r"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TO ACTION</a:t>
            </a:r>
            <a:endParaRPr lang="en-US" sz="2700" dirty="0"/>
          </a:p>
        </p:txBody>
      </p:sp>
      <p:sp>
        <p:nvSpPr>
          <p:cNvPr id="10" name="Shape 7"/>
          <p:cNvSpPr/>
          <p:nvPr/>
        </p:nvSpPr>
        <p:spPr>
          <a:xfrm>
            <a:off x="5577840" y="2926080"/>
            <a:ext cx="5955762" cy="10973"/>
          </a:xfrm>
          <a:prstGeom prst="rect">
            <a:avLst/>
          </a:prstGeom>
          <a:solidFill>
            <a:srgbClr val="818284"/>
          </a:solidFill>
          <a:ln w="12700">
            <a:solidFill>
              <a:srgbClr val="818284"/>
            </a:solidFill>
            <a:prstDash val="solid"/>
          </a:ln>
        </p:spPr>
      </p:sp>
      <p:sp>
        <p:nvSpPr>
          <p:cNvPr id="11" name="Text 8"/>
          <p:cNvSpPr/>
          <p:nvPr/>
        </p:nvSpPr>
        <p:spPr>
          <a:xfrm>
            <a:off x="5577840" y="3218688"/>
            <a:ext cx="5955762" cy="1005840"/>
          </a:xfrm>
          <a:prstGeom prst="rect">
            <a:avLst/>
          </a:prstGeom>
          <a:noFill/>
          <a:ln/>
        </p:spPr>
        <p:txBody>
          <a:bodyPr wrap="square" lIns="0" tIns="0" rIns="0" bIns="0" rtlCol="0" anchor="ctr"/>
          <a:lstStyle/>
          <a:p>
            <a:pPr algn="r" indent="0" marL="0">
              <a:lnSpc>
                <a:spcPts val="2300"/>
              </a:lnSpc>
              <a:buNone/>
            </a:pPr>
            <a:r>
              <a:rPr lang="en-US" sz="1700" b="1" dirty="0">
                <a:solidFill>
                  <a:srgbClr val="FFFFFF"/>
                </a:solidFill>
                <a:latin typeface="Zalando Sans Expanded" pitchFamily="34" charset="0"/>
                <a:ea typeface="Zalando Sans Expanded" pitchFamily="34" charset="-122"/>
                <a:cs typeface="Zalando Sans Expanded" pitchFamily="34" charset="-120"/>
              </a:rPr>
              <a:t>“Link ada di bio /</a:t>
            </a:r>
            <a:endParaRPr lang="en-US" sz="1700" dirty="0"/>
          </a:p>
          <a:p>
            <a:pPr algn="r" indent="0" marL="0">
              <a:lnSpc>
                <a:spcPts val="2300"/>
              </a:lnSpc>
              <a:buNone/>
            </a:pPr>
            <a:r>
              <a:rPr lang="en-US" sz="1700" b="1" dirty="0">
                <a:solidFill>
                  <a:srgbClr val="FFFFFF"/>
                </a:solidFill>
                <a:latin typeface="Zalando Sans Expanded" pitchFamily="34" charset="0"/>
                <a:ea typeface="Zalando Sans Expanded" pitchFamily="34" charset="-122"/>
                <a:cs typeface="Zalando Sans Expanded" pitchFamily="34" charset="-120"/>
              </a:rPr>
              <a:t>keranjang kuning”</a:t>
            </a:r>
            <a:endParaRPr lang="en-US" sz="1700" dirty="0"/>
          </a:p>
        </p:txBody>
      </p:sp>
      <p:sp>
        <p:nvSpPr>
          <p:cNvPr id="12" name="Shape 9"/>
          <p:cNvSpPr/>
          <p:nvPr/>
        </p:nvSpPr>
        <p:spPr>
          <a:xfrm>
            <a:off x="5577840" y="4407408"/>
            <a:ext cx="5955762" cy="10973"/>
          </a:xfrm>
          <a:prstGeom prst="rect">
            <a:avLst/>
          </a:prstGeom>
          <a:solidFill>
            <a:srgbClr val="4F5052"/>
          </a:solidFill>
          <a:ln w="12700">
            <a:solidFill>
              <a:srgbClr val="4F5052"/>
            </a:solidFill>
            <a:prstDash val="solid"/>
          </a:ln>
        </p:spPr>
      </p:sp>
      <p:sp>
        <p:nvSpPr>
          <p:cNvPr id="13" name="Text 10"/>
          <p:cNvSpPr/>
          <p:nvPr/>
        </p:nvSpPr>
        <p:spPr>
          <a:xfrm>
            <a:off x="5577840" y="4590288"/>
            <a:ext cx="5955762" cy="1463040"/>
          </a:xfrm>
          <a:prstGeom prst="rect">
            <a:avLst/>
          </a:prstGeom>
          <a:noFill/>
          <a:ln/>
        </p:spPr>
        <p:txBody>
          <a:bodyPr wrap="square" lIns="0" tIns="0" rIns="0" bIns="0" rtlCol="0" anchor="t"/>
          <a:lstStyle/>
          <a:p>
            <a:pPr indent="0" marL="0">
              <a:lnSpc>
                <a:spcPts val="1539"/>
              </a:lnSpc>
              <a:buNone/>
            </a:pPr>
            <a:r>
              <a:rPr lang="en-US" sz="950" dirty="0">
                <a:solidFill>
                  <a:srgbClr val="CCCCCC"/>
                </a:solidFill>
                <a:latin typeface="Arimo" pitchFamily="34" charset="0"/>
                <a:ea typeface="Arimo" pitchFamily="34" charset="-122"/>
                <a:cs typeface="Arimo" pitchFamily="34" charset="-120"/>
              </a:rPr>
              <a:t>Buat sewajarnya, jangan terdengar seperti jualan. Hindari kalimat keras seperti “beli sekarang”.</a:t>
            </a:r>
            <a:endParaRPr lang="en-US" sz="950" dirty="0"/>
          </a:p>
          <a:p>
            <a:pPr indent="0" marL="0">
              <a:lnSpc>
                <a:spcPts val="1539"/>
              </a:lnSpc>
              <a:buNone/>
            </a:pPr>
            <a:endParaRPr lang="en-US" sz="950" dirty="0"/>
          </a:p>
          <a:p>
            <a:pPr indent="0" marL="0">
              <a:lnSpc>
                <a:spcPts val="1539"/>
              </a:lnSpc>
              <a:buNone/>
            </a:pPr>
            <a:r>
              <a:rPr lang="en-US" sz="950" dirty="0">
                <a:solidFill>
                  <a:srgbClr val="CCCCCC"/>
                </a:solidFill>
                <a:latin typeface="Arimo" pitchFamily="34" charset="0"/>
                <a:ea typeface="Arimo" pitchFamily="34" charset="-122"/>
                <a:cs typeface="Arimo" pitchFamily="34" charset="-120"/>
              </a:rPr>
              <a:t>Biarkan kejujuran kontennya yang menjual. Kalau ceritanya benar, penontonnya akan mencari sendiri linknya.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13_deliver.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11222706" y="457200"/>
            <a:ext cx="310896" cy="310896"/>
          </a:xfrm>
          <a:prstGeom prst="ellipse">
            <a:avLst/>
          </a:prstGeom>
          <a:ln w="7620">
            <a:solidFill>
              <a:srgbClr val="FFFFFF"/>
            </a:solidFill>
            <a:prstDash val="solid"/>
          </a:ln>
        </p:spPr>
      </p:sp>
      <p:sp>
        <p:nvSpPr>
          <p:cNvPr id="4" name="Text 1"/>
          <p:cNvSpPr/>
          <p:nvPr/>
        </p:nvSpPr>
        <p:spPr>
          <a:xfrm>
            <a:off x="11222706" y="457200"/>
            <a:ext cx="310896" cy="310896"/>
          </a:xfrm>
          <a:prstGeom prst="rect">
            <a:avLst/>
          </a:prstGeom>
          <a:noFill/>
          <a:ln/>
        </p:spPr>
        <p:txBody>
          <a:bodyPr wrap="square" lIns="0" tIns="0" rIns="0" bIns="0" rtlCol="0" anchor="ctr"/>
          <a:lstStyle/>
          <a:p>
            <a:pPr algn="ctr" indent="0" marL="0">
              <a:buNone/>
            </a:pPr>
            <a:r>
              <a:rPr lang="en-US" sz="850" dirty="0">
                <a:solidFill>
                  <a:srgbClr val="FFFFFF"/>
                </a:solidFill>
                <a:latin typeface="Arimo" pitchFamily="34" charset="0"/>
                <a:ea typeface="Arimo" pitchFamily="34" charset="-122"/>
                <a:cs typeface="Arimo" pitchFamily="34" charset="-120"/>
              </a:rPr>
              <a:t>12</a:t>
            </a:r>
            <a:endParaRPr lang="en-US" sz="850" dirty="0"/>
          </a:p>
        </p:txBody>
      </p:sp>
      <p:sp>
        <p:nvSpPr>
          <p:cNvPr id="5" name="Shape 2"/>
          <p:cNvSpPr/>
          <p:nvPr/>
        </p:nvSpPr>
        <p:spPr>
          <a:xfrm>
            <a:off x="658368" y="6272784"/>
            <a:ext cx="10875234" cy="10973"/>
          </a:xfrm>
          <a:prstGeom prst="rect">
            <a:avLst/>
          </a:prstGeom>
          <a:solidFill>
            <a:srgbClr val="818284"/>
          </a:solidFill>
          <a:ln w="12700">
            <a:solidFill>
              <a:srgbClr val="818284"/>
            </a:solidFill>
            <a:prstDash val="solid"/>
          </a:ln>
        </p:spPr>
      </p:sp>
      <p:sp>
        <p:nvSpPr>
          <p:cNvPr id="6" name="Text 3"/>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7" name="Text 4"/>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8" name="Text 5"/>
          <p:cNvSpPr/>
          <p:nvPr/>
        </p:nvSpPr>
        <p:spPr>
          <a:xfrm>
            <a:off x="658368" y="1207008"/>
            <a:ext cx="5577840"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WHAT TO SEND BACK</a:t>
            </a:r>
            <a:endParaRPr lang="en-US" sz="850" dirty="0"/>
          </a:p>
        </p:txBody>
      </p:sp>
      <p:sp>
        <p:nvSpPr>
          <p:cNvPr id="9" name="Text 6"/>
          <p:cNvSpPr/>
          <p:nvPr/>
        </p:nvSpPr>
        <p:spPr>
          <a:xfrm>
            <a:off x="658368" y="1517904"/>
            <a:ext cx="5577840" cy="804672"/>
          </a:xfrm>
          <a:prstGeom prst="rect">
            <a:avLst/>
          </a:prstGeom>
          <a:noFill/>
          <a:ln/>
        </p:spPr>
        <p:txBody>
          <a:bodyPr wrap="square" lIns="0" tIns="0" rIns="0" bIns="0" rtlCol="0" anchor="ctr"/>
          <a:lstStyle/>
          <a:p>
            <a:pPr algn="l" indent="0" marL="0">
              <a:lnSpc>
                <a:spcPts val="3186"/>
              </a:lnSpc>
              <a:buNone/>
            </a:pPr>
            <a:r>
              <a:rPr lang="en-US" sz="2700" b="1" spc="500" kern="0" dirty="0">
                <a:solidFill>
                  <a:srgbClr val="FFFFFF"/>
                </a:solidFill>
                <a:latin typeface="Zalando Sans Expanded" pitchFamily="34" charset="0"/>
                <a:ea typeface="Zalando Sans Expanded" pitchFamily="34" charset="-122"/>
                <a:cs typeface="Zalando Sans Expanded" pitchFamily="34" charset="-120"/>
              </a:rPr>
              <a:t>DELIVERABLES</a:t>
            </a:r>
            <a:endParaRPr lang="en-US" sz="2700" dirty="0"/>
          </a:p>
        </p:txBody>
      </p:sp>
      <p:sp>
        <p:nvSpPr>
          <p:cNvPr id="10" name="Shape 7"/>
          <p:cNvSpPr/>
          <p:nvPr/>
        </p:nvSpPr>
        <p:spPr>
          <a:xfrm>
            <a:off x="658368" y="2395728"/>
            <a:ext cx="5577840" cy="10973"/>
          </a:xfrm>
          <a:prstGeom prst="rect">
            <a:avLst/>
          </a:prstGeom>
          <a:solidFill>
            <a:srgbClr val="818284"/>
          </a:solidFill>
          <a:ln w="12700">
            <a:solidFill>
              <a:srgbClr val="818284"/>
            </a:solidFill>
            <a:prstDash val="solid"/>
          </a:ln>
        </p:spPr>
      </p:sp>
      <p:sp>
        <p:nvSpPr>
          <p:cNvPr id="11" name="Text 8"/>
          <p:cNvSpPr/>
          <p:nvPr/>
        </p:nvSpPr>
        <p:spPr>
          <a:xfrm>
            <a:off x="658368" y="2688336"/>
            <a:ext cx="5577840"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DURASI</a:t>
            </a:r>
            <a:endParaRPr lang="en-US" sz="850" dirty="0"/>
          </a:p>
        </p:txBody>
      </p:sp>
      <p:sp>
        <p:nvSpPr>
          <p:cNvPr id="12" name="Text 9"/>
          <p:cNvSpPr/>
          <p:nvPr/>
        </p:nvSpPr>
        <p:spPr>
          <a:xfrm>
            <a:off x="658368" y="2944368"/>
            <a:ext cx="5577840" cy="310896"/>
          </a:xfrm>
          <a:prstGeom prst="rect">
            <a:avLst/>
          </a:prstGeom>
          <a:noFill/>
          <a:ln/>
        </p:spPr>
        <p:txBody>
          <a:bodyPr wrap="square" lIns="0" tIns="0" rIns="0" bIns="0" rtlCol="0" anchor="ctr"/>
          <a:lstStyle/>
          <a:p>
            <a:pPr indent="0" marL="0">
              <a:buNone/>
            </a:pPr>
            <a:r>
              <a:rPr lang="en-US" sz="1400" b="1" dirty="0">
                <a:solidFill>
                  <a:srgbClr val="FFFFFF"/>
                </a:solidFill>
                <a:latin typeface="Zalando Sans Expanded" pitchFamily="34" charset="0"/>
                <a:ea typeface="Zalando Sans Expanded" pitchFamily="34" charset="-122"/>
                <a:cs typeface="Zalando Sans Expanded" pitchFamily="34" charset="-120"/>
              </a:rPr>
              <a:t>30–45 detik</a:t>
            </a:r>
            <a:endParaRPr lang="en-US" sz="1400" dirty="0"/>
          </a:p>
        </p:txBody>
      </p:sp>
      <p:sp>
        <p:nvSpPr>
          <p:cNvPr id="13" name="Shape 10"/>
          <p:cNvSpPr/>
          <p:nvPr/>
        </p:nvSpPr>
        <p:spPr>
          <a:xfrm>
            <a:off x="658368" y="3346704"/>
            <a:ext cx="5577840" cy="10973"/>
          </a:xfrm>
          <a:prstGeom prst="rect">
            <a:avLst/>
          </a:prstGeom>
          <a:solidFill>
            <a:srgbClr val="4F5052"/>
          </a:solidFill>
          <a:ln w="12700">
            <a:solidFill>
              <a:srgbClr val="4F5052"/>
            </a:solidFill>
            <a:prstDash val="solid"/>
          </a:ln>
        </p:spPr>
      </p:sp>
      <p:sp>
        <p:nvSpPr>
          <p:cNvPr id="14" name="Text 11"/>
          <p:cNvSpPr/>
          <p:nvPr/>
        </p:nvSpPr>
        <p:spPr>
          <a:xfrm>
            <a:off x="658368" y="3493008"/>
            <a:ext cx="5577840"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RASIO</a:t>
            </a:r>
            <a:endParaRPr lang="en-US" sz="850" dirty="0"/>
          </a:p>
        </p:txBody>
      </p:sp>
      <p:sp>
        <p:nvSpPr>
          <p:cNvPr id="15" name="Text 12"/>
          <p:cNvSpPr/>
          <p:nvPr/>
        </p:nvSpPr>
        <p:spPr>
          <a:xfrm>
            <a:off x="658368" y="3749040"/>
            <a:ext cx="5577840" cy="310896"/>
          </a:xfrm>
          <a:prstGeom prst="rect">
            <a:avLst/>
          </a:prstGeom>
          <a:noFill/>
          <a:ln/>
        </p:spPr>
        <p:txBody>
          <a:bodyPr wrap="square" lIns="0" tIns="0" rIns="0" bIns="0" rtlCol="0" anchor="ctr"/>
          <a:lstStyle/>
          <a:p>
            <a:pPr indent="0" marL="0">
              <a:buNone/>
            </a:pPr>
            <a:r>
              <a:rPr lang="en-US" sz="1400" b="1" dirty="0">
                <a:solidFill>
                  <a:srgbClr val="FFFFFF"/>
                </a:solidFill>
                <a:latin typeface="Zalando Sans Expanded" pitchFamily="34" charset="0"/>
                <a:ea typeface="Zalando Sans Expanded" pitchFamily="34" charset="-122"/>
                <a:cs typeface="Zalando Sans Expanded" pitchFamily="34" charset="-120"/>
              </a:rPr>
              <a:t>9:16 vertikal</a:t>
            </a:r>
            <a:endParaRPr lang="en-US" sz="1400" dirty="0"/>
          </a:p>
        </p:txBody>
      </p:sp>
      <p:sp>
        <p:nvSpPr>
          <p:cNvPr id="16" name="Shape 13"/>
          <p:cNvSpPr/>
          <p:nvPr/>
        </p:nvSpPr>
        <p:spPr>
          <a:xfrm>
            <a:off x="658368" y="4151376"/>
            <a:ext cx="5577840" cy="10973"/>
          </a:xfrm>
          <a:prstGeom prst="rect">
            <a:avLst/>
          </a:prstGeom>
          <a:solidFill>
            <a:srgbClr val="4F5052"/>
          </a:solidFill>
          <a:ln w="12700">
            <a:solidFill>
              <a:srgbClr val="4F5052"/>
            </a:solidFill>
            <a:prstDash val="solid"/>
          </a:ln>
        </p:spPr>
      </p:sp>
      <p:sp>
        <p:nvSpPr>
          <p:cNvPr id="17" name="Text 14"/>
          <p:cNvSpPr/>
          <p:nvPr/>
        </p:nvSpPr>
        <p:spPr>
          <a:xfrm>
            <a:off x="658368" y="4297680"/>
            <a:ext cx="5577840"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REVISI</a:t>
            </a:r>
            <a:endParaRPr lang="en-US" sz="850" dirty="0"/>
          </a:p>
        </p:txBody>
      </p:sp>
      <p:sp>
        <p:nvSpPr>
          <p:cNvPr id="18" name="Text 15"/>
          <p:cNvSpPr/>
          <p:nvPr/>
        </p:nvSpPr>
        <p:spPr>
          <a:xfrm>
            <a:off x="658368" y="4553712"/>
            <a:ext cx="5577840" cy="310896"/>
          </a:xfrm>
          <a:prstGeom prst="rect">
            <a:avLst/>
          </a:prstGeom>
          <a:noFill/>
          <a:ln/>
        </p:spPr>
        <p:txBody>
          <a:bodyPr wrap="square" lIns="0" tIns="0" rIns="0" bIns="0" rtlCol="0" anchor="ctr"/>
          <a:lstStyle/>
          <a:p>
            <a:pPr indent="0" marL="0">
              <a:buNone/>
            </a:pPr>
            <a:r>
              <a:rPr lang="en-US" sz="1400" b="1" dirty="0">
                <a:solidFill>
                  <a:srgbClr val="FFFFFF"/>
                </a:solidFill>
                <a:latin typeface="Zalando Sans Expanded" pitchFamily="34" charset="0"/>
                <a:ea typeface="Zalando Sans Expanded" pitchFamily="34" charset="-122"/>
                <a:cs typeface="Zalando Sans Expanded" pitchFamily="34" charset="-120"/>
              </a:rPr>
              <a:t>Satu putaran</a:t>
            </a:r>
            <a:endParaRPr lang="en-US" sz="1400" dirty="0"/>
          </a:p>
        </p:txBody>
      </p:sp>
      <p:sp>
        <p:nvSpPr>
          <p:cNvPr id="19" name="Shape 16"/>
          <p:cNvSpPr/>
          <p:nvPr/>
        </p:nvSpPr>
        <p:spPr>
          <a:xfrm>
            <a:off x="658368" y="4956048"/>
            <a:ext cx="5577840" cy="10973"/>
          </a:xfrm>
          <a:prstGeom prst="rect">
            <a:avLst/>
          </a:prstGeom>
          <a:solidFill>
            <a:srgbClr val="4F5052"/>
          </a:solidFill>
          <a:ln w="12700">
            <a:solidFill>
              <a:srgbClr val="4F5052"/>
            </a:solidFill>
            <a:prstDash val="solid"/>
          </a:ln>
        </p:spPr>
      </p:sp>
      <p:sp>
        <p:nvSpPr>
          <p:cNvPr id="20" name="Text 17"/>
          <p:cNvSpPr/>
          <p:nvPr/>
        </p:nvSpPr>
        <p:spPr>
          <a:xfrm>
            <a:off x="658368" y="5102352"/>
            <a:ext cx="5577840" cy="237744"/>
          </a:xfrm>
          <a:prstGeom prst="rect">
            <a:avLst/>
          </a:prstGeom>
          <a:noFill/>
          <a:ln/>
        </p:spPr>
        <p:txBody>
          <a:bodyPr wrap="square" lIns="0" tIns="0" rIns="0" bIns="0" rtlCol="0" anchor="ctr"/>
          <a:lstStyle/>
          <a:p>
            <a:pPr algn="l" indent="0" marL="0">
              <a:buNone/>
            </a:pPr>
            <a:r>
              <a:rPr lang="en-US" sz="850" b="1" spc="260" kern="0" dirty="0">
                <a:solidFill>
                  <a:srgbClr val="CCCCCC"/>
                </a:solidFill>
                <a:latin typeface="Zalando Sans Expanded" pitchFamily="34" charset="0"/>
                <a:ea typeface="Zalando Sans Expanded" pitchFamily="34" charset="-122"/>
                <a:cs typeface="Zalando Sans Expanded" pitchFamily="34" charset="-120"/>
              </a:rPr>
              <a:t>USAGE</a:t>
            </a:r>
            <a:endParaRPr lang="en-US" sz="850" dirty="0"/>
          </a:p>
        </p:txBody>
      </p:sp>
      <p:sp>
        <p:nvSpPr>
          <p:cNvPr id="21" name="Text 18"/>
          <p:cNvSpPr/>
          <p:nvPr/>
        </p:nvSpPr>
        <p:spPr>
          <a:xfrm>
            <a:off x="658368" y="5358384"/>
            <a:ext cx="5577840" cy="310896"/>
          </a:xfrm>
          <a:prstGeom prst="rect">
            <a:avLst/>
          </a:prstGeom>
          <a:noFill/>
          <a:ln/>
        </p:spPr>
        <p:txBody>
          <a:bodyPr wrap="square" lIns="0" tIns="0" rIns="0" bIns="0" rtlCol="0" anchor="ctr"/>
          <a:lstStyle/>
          <a:p>
            <a:pPr indent="0" marL="0">
              <a:buNone/>
            </a:pPr>
            <a:r>
              <a:rPr lang="en-US" sz="1400" b="1" dirty="0">
                <a:solidFill>
                  <a:srgbClr val="FFFFFF"/>
                </a:solidFill>
                <a:latin typeface="Zalando Sans Expanded" pitchFamily="34" charset="0"/>
                <a:ea typeface="Zalando Sans Expanded" pitchFamily="34" charset="-122"/>
                <a:cs typeface="Zalando Sans Expanded" pitchFamily="34" charset="-120"/>
              </a:rPr>
              <a:t>Paid social + organic, 6 bulan</a:t>
            </a:r>
            <a:endParaRPr lang="en-US" sz="1400" dirty="0"/>
          </a:p>
        </p:txBody>
      </p:sp>
      <p:sp>
        <p:nvSpPr>
          <p:cNvPr id="22" name="Text 19"/>
          <p:cNvSpPr/>
          <p:nvPr/>
        </p:nvSpPr>
        <p:spPr>
          <a:xfrm>
            <a:off x="658368" y="5797296"/>
            <a:ext cx="5577840" cy="256032"/>
          </a:xfrm>
          <a:prstGeom prst="rect">
            <a:avLst/>
          </a:prstGeom>
          <a:noFill/>
          <a:ln/>
        </p:spPr>
        <p:txBody>
          <a:bodyPr wrap="square" lIns="0" tIns="0" rIns="0" bIns="0" rtlCol="0" anchor="t"/>
          <a:lstStyle/>
          <a:p>
            <a:pPr indent="0" marL="0">
              <a:lnSpc>
                <a:spcPts val="1377"/>
              </a:lnSpc>
              <a:buNone/>
            </a:pPr>
            <a:r>
              <a:rPr lang="en-US" sz="850" dirty="0">
                <a:solidFill>
                  <a:srgbClr val="CCCCCC"/>
                </a:solidFill>
                <a:latin typeface="Arimo" pitchFamily="34" charset="0"/>
                <a:ea typeface="Arimo" pitchFamily="34" charset="-122"/>
                <a:cs typeface="Arimo" pitchFamily="34" charset="-120"/>
              </a:rPr>
              <a:t>Kecuali disepakati lain di kontrak.</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82828"/>
        </a:solidFill>
      </p:bgPr>
    </p:bg>
    <p:spTree>
      <p:nvGrpSpPr>
        <p:cNvPr id="1" name=""/>
        <p:cNvGrpSpPr/>
        <p:nvPr/>
      </p:nvGrpSpPr>
      <p:grpSpPr>
        <a:xfrm>
          <a:off x="0" y="0"/>
          <a:ext cx="0" cy="0"/>
          <a:chOff x="0" y="0"/>
          <a:chExt cx="0" cy="0"/>
        </a:xfrm>
      </p:grpSpPr>
      <p:pic>
        <p:nvPicPr>
          <p:cNvPr id="2" name="Image 0" descr="/home/user/Dom-Manipulation/toni-black/creator-brief/source/frames/s14_closing.jpg">    </p:cNvPr>
          <p:cNvPicPr>
            <a:picLocks noChangeAspect="1"/>
          </p:cNvPicPr>
          <p:nvPr/>
        </p:nvPicPr>
        <p:blipFill>
          <a:blip r:embed="rId1"/>
          <a:stretch>
            <a:fillRect/>
          </a:stretch>
        </p:blipFill>
        <p:spPr>
          <a:xfrm>
            <a:off x="0" y="0"/>
            <a:ext cx="12191970" cy="6858000"/>
          </a:xfrm>
          <a:prstGeom prst="rect">
            <a:avLst/>
          </a:prstGeom>
        </p:spPr>
      </p:pic>
      <p:sp>
        <p:nvSpPr>
          <p:cNvPr id="3" name="Shape 0"/>
          <p:cNvSpPr/>
          <p:nvPr/>
        </p:nvSpPr>
        <p:spPr>
          <a:xfrm>
            <a:off x="658368" y="6272784"/>
            <a:ext cx="10875234" cy="10973"/>
          </a:xfrm>
          <a:prstGeom prst="rect">
            <a:avLst/>
          </a:prstGeom>
          <a:solidFill>
            <a:srgbClr val="818284"/>
          </a:solidFill>
          <a:ln w="12700">
            <a:solidFill>
              <a:srgbClr val="818284"/>
            </a:solidFill>
            <a:prstDash val="solid"/>
          </a:ln>
        </p:spPr>
      </p:sp>
      <p:sp>
        <p:nvSpPr>
          <p:cNvPr id="4" name="Text 1"/>
          <p:cNvSpPr/>
          <p:nvPr/>
        </p:nvSpPr>
        <p:spPr>
          <a:xfrm>
            <a:off x="658368" y="6345936"/>
            <a:ext cx="4572000" cy="237744"/>
          </a:xfrm>
          <a:prstGeom prst="rect">
            <a:avLst/>
          </a:prstGeom>
          <a:noFill/>
          <a:ln/>
        </p:spPr>
        <p:txBody>
          <a:bodyPr wrap="square" lIns="0" tIns="0" rIns="0" bIns="0" rtlCol="0" anchor="ctr"/>
          <a:lstStyle/>
          <a:p>
            <a:pPr indent="0" marL="0">
              <a:buNone/>
            </a:pPr>
            <a:r>
              <a:rPr lang="en-US" sz="850" dirty="0">
                <a:solidFill>
                  <a:srgbClr val="CCCCCC"/>
                </a:solidFill>
                <a:latin typeface="Arimo" pitchFamily="34" charset="0"/>
                <a:ea typeface="Arimo" pitchFamily="34" charset="-122"/>
                <a:cs typeface="Arimo" pitchFamily="34" charset="-120"/>
              </a:rPr>
              <a:t>Content Creator Brief</a:t>
            </a:r>
            <a:endParaRPr lang="en-US" sz="850" dirty="0"/>
          </a:p>
        </p:txBody>
      </p:sp>
      <p:sp>
        <p:nvSpPr>
          <p:cNvPr id="5" name="Text 2"/>
          <p:cNvSpPr/>
          <p:nvPr/>
        </p:nvSpPr>
        <p:spPr>
          <a:xfrm>
            <a:off x="6961602" y="6345936"/>
            <a:ext cx="4572000" cy="237744"/>
          </a:xfrm>
          <a:prstGeom prst="rect">
            <a:avLst/>
          </a:prstGeom>
          <a:noFill/>
          <a:ln/>
        </p:spPr>
        <p:txBody>
          <a:bodyPr wrap="square" lIns="0" tIns="0" rIns="0" bIns="0" rtlCol="0" anchor="ctr"/>
          <a:lstStyle/>
          <a:p>
            <a:pPr algn="r" indent="0" marL="0">
              <a:buNone/>
            </a:pPr>
            <a:r>
              <a:rPr lang="en-US" sz="850" b="1" spc="160" kern="0" dirty="0">
                <a:solidFill>
                  <a:srgbClr val="FFFFFF"/>
                </a:solidFill>
                <a:latin typeface="Zalando Sans Expanded" pitchFamily="34" charset="0"/>
                <a:ea typeface="Zalando Sans Expanded" pitchFamily="34" charset="-122"/>
                <a:cs typeface="Zalando Sans Expanded" pitchFamily="34" charset="-120"/>
              </a:rPr>
              <a:t>Toni Black</a:t>
            </a:r>
            <a:endParaRPr lang="en-US" sz="850" dirty="0"/>
          </a:p>
        </p:txBody>
      </p:sp>
      <p:sp>
        <p:nvSpPr>
          <p:cNvPr id="6" name="Text 3"/>
          <p:cNvSpPr/>
          <p:nvPr/>
        </p:nvSpPr>
        <p:spPr>
          <a:xfrm>
            <a:off x="658368" y="3840480"/>
            <a:ext cx="9692640" cy="1097280"/>
          </a:xfrm>
          <a:prstGeom prst="rect">
            <a:avLst/>
          </a:prstGeom>
          <a:noFill/>
          <a:ln/>
        </p:spPr>
        <p:txBody>
          <a:bodyPr wrap="square" lIns="0" tIns="0" rIns="0" bIns="0" rtlCol="0" anchor="ctr"/>
          <a:lstStyle/>
          <a:p>
            <a:pPr algn="l" indent="0" marL="0">
              <a:lnSpc>
                <a:spcPts val="5192"/>
              </a:lnSpc>
              <a:buNone/>
            </a:pPr>
            <a:r>
              <a:rPr lang="en-US" sz="4400" b="1" spc="700" kern="0" dirty="0">
                <a:solidFill>
                  <a:srgbClr val="FFFFFF"/>
                </a:solidFill>
                <a:latin typeface="Zalando Sans Expanded" pitchFamily="34" charset="0"/>
                <a:ea typeface="Zalando Sans Expanded" pitchFamily="34" charset="-122"/>
                <a:cs typeface="Zalando Sans Expanded" pitchFamily="34" charset="-120"/>
              </a:rPr>
              <a:t>THANK YOU</a:t>
            </a:r>
            <a:endParaRPr lang="en-US" sz="4400" dirty="0"/>
          </a:p>
        </p:txBody>
      </p:sp>
      <p:sp>
        <p:nvSpPr>
          <p:cNvPr id="7" name="Shape 4"/>
          <p:cNvSpPr/>
          <p:nvPr/>
        </p:nvSpPr>
        <p:spPr>
          <a:xfrm>
            <a:off x="658368" y="5047488"/>
            <a:ext cx="2834640" cy="10973"/>
          </a:xfrm>
          <a:prstGeom prst="rect">
            <a:avLst/>
          </a:prstGeom>
          <a:solidFill>
            <a:srgbClr val="CCCCCC"/>
          </a:solidFill>
          <a:ln w="12700">
            <a:solidFill>
              <a:srgbClr val="CCCCCC"/>
            </a:solidFill>
            <a:prstDash val="solid"/>
          </a:ln>
        </p:spPr>
      </p:sp>
      <p:sp>
        <p:nvSpPr>
          <p:cNvPr id="8" name="Text 5"/>
          <p:cNvSpPr/>
          <p:nvPr/>
        </p:nvSpPr>
        <p:spPr>
          <a:xfrm>
            <a:off x="658368" y="5248656"/>
            <a:ext cx="6217920" cy="731520"/>
          </a:xfrm>
          <a:prstGeom prst="rect">
            <a:avLst/>
          </a:prstGeom>
          <a:noFill/>
          <a:ln/>
        </p:spPr>
        <p:txBody>
          <a:bodyPr wrap="square" lIns="0" tIns="0" rIns="0" bIns="0" rtlCol="0" anchor="t"/>
          <a:lstStyle/>
          <a:p>
            <a:pPr indent="0" marL="0">
              <a:lnSpc>
                <a:spcPts val="1620"/>
              </a:lnSpc>
              <a:buNone/>
            </a:pPr>
            <a:r>
              <a:rPr lang="en-US" sz="1000" dirty="0">
                <a:solidFill>
                  <a:srgbClr val="FFFFFF"/>
                </a:solidFill>
                <a:latin typeface="Arimo" pitchFamily="34" charset="0"/>
                <a:ea typeface="Arimo" pitchFamily="34" charset="-122"/>
                <a:cs typeface="Arimo" pitchFamily="34" charset="-120"/>
              </a:rPr>
              <a:t>Ada yang mau ditanyakan sebelum mulai syuting? Hubungi tim Toni Black dulu — lebih enak dibereskan sebelum kamera menyala.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Toni Black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Creator Brief</dc:title>
  <dc:subject>PptxGenJS Presentation</dc:subject>
  <dc:creator>Toni Black</dc:creator>
  <cp:lastModifiedBy>Toni Black</cp:lastModifiedBy>
  <cp:revision>1</cp:revision>
  <dcterms:created xsi:type="dcterms:W3CDTF">2026-08-29T03:45:19Z</dcterms:created>
  <dcterms:modified xsi:type="dcterms:W3CDTF">2026-08-29T03:45:19Z</dcterms:modified>
</cp:coreProperties>
</file>