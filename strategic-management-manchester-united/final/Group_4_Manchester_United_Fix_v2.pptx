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jpg" ContentType="image/jpg"/>
  <Override PartName="/ppt/media/image4.jpg" ContentType="image/jpg"/>
  <Override PartName="/ppt/media/image6.jpg" ContentType="image/jpg"/>
  <Override PartName="/ppt/media/image7.jpg" ContentType="image/jpg"/>
  <Override PartName="/ppt/media/image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3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613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Sebutkan: hari ini kita bahas Chapter 4, yaitu cara menilai kekuatan sebuah perusahaan DARI DALAM. Chapter 3 kemarin menilai dari luar (industri dan pesaing); Chapter 4 menilai isi perusahaannya sendiri.
Lalu kita pakai kerangka itu untuk membedah satu kasus nyata: Manchester United pada Juli 2009, saat klub itu harus menyiapkan pengganti Sir Alex Ferguson.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Jelaskan pembagiannya: separuh pertama teori, separuh kedua praktik. Tekankan bahwa urutannya sengaja sama, supaya audiens bisa melihat framework mana dipakai untuk menjawab apa.</a:t>
            </a:r>
          </a:p>
          <a:p/>
          <a:p>
            <a:r>
              <a:t>Kalau waktu mepet, Bagian 1 bisa dipercepat di slide 5, 14 dan 15.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Ini peta jalan seluruh Bagian 1. Bacakan keenam pertanyaannya sekali, pelan, supaya audiens punya kerangka.</a:t>
            </a:r>
          </a:p>
          <a:p/>
          <a:p>
            <a:r>
              <a:t>Poin yang perlu ditekankan: urutannya bukan acak. Q1 mengukur HASIL. Q2 sampai Q4 mencari SEBABNYA di dalam perusahaan. Q5 membandingkan dengan pesaing. Q6 memutuskan apa yang harus dikerjakan lebih dulu.</a:t>
            </a:r>
          </a:p>
          <a:p/>
          <a:p>
            <a:r>
              <a:t>Catatan: banyak edisi lama buku ini hanya punya lima pertanyaan, dengan SWOT ditempel di dalam analisis resource. Edisi 2024 memisahkannya menjadi Q2 tersendiri.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Catatan: AirAsia adalah contoh kelompok kami, bukan contoh dari buku. Sebutkan itu kalau ditanya.</a:t>
            </a:r>
          </a:p>
          <a:p/>
          <a:p>
            <a:r>
              <a:t>Mulai dengan: sebelum menilai strategi, kita harus tahu dulu strateginya apa. Buku menampilkan Figure 4.1 yang memetakan komponen strategi sebuah perusahaan bisnis tunggal: langkah bersaing, strategi fungsional (R&amp;D, produksi, pemasaran, keuangan, SDM, IT), aliansi, cakupan geografis.</a:t>
            </a:r>
          </a:p>
          <a:p/>
          <a:p>
            <a:r>
              <a:t>Setelah itu baru diukur. Buku menyebut DUA indikator terbaik:</a:t>
            </a:r>
          </a:p>
          <a:p>
            <a:r>
              <a:t>(1) apakah perusahaan mencatat kenaikan kekuatan keuangan dan profitabilitas;</a:t>
            </a:r>
          </a:p>
          <a:p>
            <a:r>
              <a:t>(2) apakah kekuatan bersaing dan posisi pasarnya membaik.</a:t>
            </a:r>
          </a:p>
          <a:p/>
          <a:p>
            <a:r>
              <a:t>Enam indikator spesifik di slide ini diambil persis dari daftar buku. Perhatikan dua yang sering dilupakan: tingkat retensi pelanggan dan kecepatan akuisisi pelanggan baru. Keduanya sinyal awal, muncul sebelum angka laba berubah.</a:t>
            </a:r>
          </a:p>
          <a:p/>
          <a:p>
            <a:r>
              <a:t>Kalimat kunci buku: kinerja keuangan yang lesu dan pencapaian pasar yang biasa-biasa saja hampir selalu menandakan strategi lemah, eksekusi lemah, atau keduanya.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Jangan bacakan semua rasio satu per satu; audiens akan bosan. Cukup jelaskan logika keempat kelompoknya:
PROFITABILITAS menjawab: apakah bisnisnya menghasilkan uang?
LIKUIDITAS menjawab: apakah bisa bayar tagihan bulan depan?
LEVERAGE menjawab: seberapa banyak yang dibiayai utang, dan seberapa berisiko itu?
AKTIVITAS menjawab: apakah aset dipakai efisien?
Beberapa patokan dari buku yang enak dikutip:
- ROE 12–15% itu rata-rata.
- Long-term debt-to-capital di bawah 0,25 bagus; di atas 0,50 berarti terlalu bergantung pada utang jangka panjang.
- Times-interest-earned minimal 2,0; di atas 3,0 baru dianggap sehat.
- P/E di atas 20 berarti investor percaya prospeknya; di bawah 12 berarti laba masa depan dianggap berisiko.
Tekankan free cash flow: laba setelah pajak + depresiasi − belanja modal − dividen. Itu uang yang benar-benar bebas dipakai.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dari slide sebelumnya: angka keuangan memberi tahu APAKAH strategi bekerja, tapi tidak memberi tahu KENAPA. Di situlah SWOT masuk.
Definisi buku: SWOT adalah singkatan dari kekuatan dan kelemahan internal, peluang pasar, dan ancaman eksternal. Nama lainnya Situational Analysis.
Empat pertanyaan pemandu yang dikutip di kolom kanan itu langsung dari buku, dan itulah yang membedakan SWOT yang bagus dari sekadar daftar:
- Apakah kekuatan perusahaan cukup besar untuk menutup kelemahannya?
- Apakah strateginya sudah dibangun di atas kekuatan itu dan melindungi dari kelemahannya?
- Apakah kekuatannya melampaui kekuatan pesaing, atau justru kalah?
- Apakah strateginya efektif menangkal ancaman dan menangkap peluang?
Istilah 'neraca strategis' juga dari buku: kekuatan itu aset bersaing, kelemahan itu kewajiban bersaing. Kondisi ideal adalah asetnya jauh lebih berat dari kewajibannya.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konsep yang paling sering keliru dipakai mahasiswa, jadi pelan-pelan.
COMPETENCE: perusahaan sudah belajar mengerjakan suatu aktivitas dengan cakap. Buku menyebut ini 'a true capability'. Contoh: hampir semua produsen sereal punya kemampuan pemasaran yang memadai.
DISTINCTIVE COMPETENCE: kemampuan yang membuat perusahaan mengerjakan aktivitas itu lebih baik dari para pesaingnya. Kuncinya kata 'lebih baik dari rival'.
CORE COMPETENCE: aktivitas yang dikerjakan dengan cakap DAN berada di pusat strategi perusahaan, serta memberi kontribusi besar pada keberhasilan pasar dan profitabilitasnya. Biasanya juga distinctive.
Kenapa ini penting: core competence sering bisa dipakai membuka pasar baru atau permintaan produk baru — jadi mesin pertumbuhan. Contoh P&amp;G: kemampuan mengelola merek melahirkan portofolio produk pemimpin pasar yang terus bertambah.
Kalau ditanya bedanya dengan capability di Q3 nanti: capability itu istilah umum (buku bilang capability dan competence itu sama). Distinctive dan core adalah dua tingkat di atasnya.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utama slide ini: SWOT yang berhenti di empat daftar tidak menghasilkan keputusan apa pun. Kalimat buku: 'Simply listing a company's strengths, weaknesses, opportunities, and threats is not enough; the payoff comes from the conclusions and the implications for strategy improvement that flow from the four lists.'
Enam tindakan di bawah itu persis isi kotak kanan Figure 4.2. Sebutkan dua-tiga saja saat presentasi, sisanya biar audiens baca.
Tutup dengan pengakuan bukunya sendiri: keindahan SWOT adalah kesederhanaannya, tapi itu juga keterbatasan utamanya. Untuk analisis yang lebih dalam kita butuh alat berikutnya — dan itulah isi Q3 sampai Q5. Kalimat ini jembatan yang bagus ke slide berikutnya.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Definisi persis dari buku:
RESOURCE adalah aset bersaing yang dimiliki atau dikendalikan perusahaan.
CAPABILITY adalah kapasitas perusahaan mengerjakan suatu aktivitas internal dengan cakap. Buku menyebut capability bisa juga disebut competence.
Hubungannya: capability dibangun dan dijalankan lewat pengerahan resource. Contoh buku — kemampuan Nestlé mengelola lebih dari 2.000 merek bersandar pada pengetahuan manajer mereknya, keahlian departemen pemasarannya, dan relasinya dengan peritel di hampir 200 negara.
Soal Tabel 4.3: human assets sengaja ditaruh di kolom INTANGIBLE, meski orangnya nyata, karena yang bernilai adalah keahlian dan pengetahuannya. Teknologi sebaliknya ditaruh di TANGIBLE menurut konvensi, walaupun beberapa jenis seperti rahasia dagang sebetulnya lebih cocok intangible.
Pesan buku yang penting: yang penting bukan bagaimana sebuah resource dikategorikan, tapi bahwa tidak ada resource yang terlewat saat diinventarisasi. Kategori hanya alat bantu supaya tidak ada yang lolos.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Kenapa capability lebih sulit ditemukan: buku bilang capability itu entitas yang lebih kompleks dari resource, dan hampir semuanya berbasis pengetahuan — tinggal di kepala orang, di modal intelektual perusahaan, atau di proses dan sistem organisasi.
Contoh buku untuk cara 1: kemampuan pengiriman cepat Amazon bersandar pada pengetahuan manajer fulfillment center-nya, relasinya dengan UPS, dan pengalaman merchandiser-nya memprediksi arus persediaan.
Kelemahan cara 2 (pendekatan fungsional) adalah yang paling penting diingat: banyak capability terpenting justru bersifat lintas fungsi, sehingga tidak akan ketemu kalau kita hanya melihat per departemen.
Definisi resource bundle dari buku: 'a linked and closely integrated set of competitive assets centered around one or more cross-functional capabilities'.
Contoh PetSmart yang bagus untuk dikutip: kemampuan rantai pasok dan pemasarannya diimbangi Petco, tapi PetSmart tetap unggul lewat kemampuan layanan pelanggannya — grooming, layanan dokter hewan, dan penitipan.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 lengkapnya di buku: 'the VRIN tests for sustainable competitive advantage'.
Jelaskan pembagiannya dulu, baru satu per satu:
Dua tes pertama (V dan R) menentukan apakah sesuatu bisa MENJADI sumber keunggulan. Dua tes terakhir (I dan N) menentukan apakah keunggulan itu BERTAHAN.
Untuk tes I, dua istilah wajib dijelaskan:
SOCIAL COMPLEXITY — keunggulan melekat pada hal sosial: budaya perusahaan, hubungan antarmanajer, kepercayaan dengan pelanggan atau pemasok. Tidak bisa dibeli.
CAUSAL AMBIGUITY — sebab-akibatnya sendiri sulit diurai. Bahkan perusahaan pemiliknya tidak sepenuhnya tahu kenapa resource itu bekerja. Kalau sebabnya tidak jelas, pesaing tidak tahu apa yang harus ditiru.
Tes N adalah yang paling sulit dinilai, kata buku, karena substitusi lebih sulit dikenali. Caranya: cari resource lain, di perusahaan mana pun, yang bisa menjalankan FUNGSI yang sama.
HATI-HATI dengan salah kaprah yang paling umum: tes N BUKAN bertanya 'kalau resource ini hilang, bisakah perusahaan menggantinya?'. Tes N bertanya 'bisakah PESAING mencapai hasil yang sama dengan resource jenis lain?'. Definisi buku: 'invulnerable to the threat of substitution from different types of resources and capabilities'. Keunggulan bisa hilang 'if rivals possess equivalent substitute resources'. Jadi resource yang tidak punya pengganti setara di tangan pesaing justru LOLOS tes N.
Fakta penting untuk ditutup: sangat sedikit perusahaan punya resource yang lolos keempat tes. Kebanyakan hanya punya campuran — satu dua sangat berharga, beberapa bagus, banyak yang biasa saja. Contoh yang lolos keempatnya: Costco dan Lincoln Electric.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menutup celah VRIN. Keempat tes VRIN hanya menguji ancaman dari LUAR: apakah pesaing bisa meniru, atau mengakali dengan resource lain. VRIN tidak menguji ancaman dari DALAM: resource yang menyusut, usang, atau hilang dari perusahaan sendiri. Buku membahas ancaman dari dalam itu di sini, di bagian 'resources and capabilities must be managed dynamically'. Ini akan sangat penting di kasus Manchester United.
Kalimat pembuka yang bagus: bahkan Costco dan Lincoln Electric — dua perusahaan yang lolos keempat tes VRIN — tidak boleh berpuas diri.
Tiga risiko di kiri itu langsung dari buku. Frasa 'from diamonds to rust' layak dikutip: aset strategis bisa berubah dari berlian jadi karat kalau teknologi, selera pelanggan, atau jalur distribusi berubah.
Tantangan manajemen menurut buku ada dua:
(1) terus memodifikasi aset bersaing yang sudah ada;
(2) waspada mencari peluang membangun jenis capability yang benar-benar baru.
Definisi dynamic capability: kemampuan untuk memodifikasi, memperdalam, atau menambah resource dan capability perusahaan yang sudah ada.
Contoh tambahan kalau ditanya: BMW mengembangkan kemampuan baru di desain mesin hibrida sehingga bisa meluncurkan i4 dan iX. Bristol-Myers Squibb dengan strategi akuisisi 'string of pearls' mengganti paten yang habis masa berlakunya dengan paten dan kemampuan baru.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Definisi buku: rantai nilai adalah seluruh aktivitas yang dikerjakan perusahaan secara internal, yang digabungkan menciptakan nilai bagi pembeli.
Penting disampaikan: daftar aktivitas di Figure 4.3 itu ILUSTRATIF, bukan baku. Isinya berbeda-beda per industri. Contoh dari buku:
- Peritel seperti Nordstrom: pemilihan barang, tata letak toko, iklan, layanan pelanggan.
- Operator hotel seperti Marriott: reservasi dan operasi hotel.
- Supply chain management krusial bagi Boeing dan Amazon, tapi bukan komponen rantai nilai di Goldman Sachs atau WhatsApp.
- Pengiriman ke pelanggan krusial bagi Domino's, tidak penting bagi Starbucks.
Tiga selisih di bawah adalah bagian yang paling sering tertukar:
V − P: nilai yang dirasakan pembeli dikurangi harga yang ia bayar. Ini customer value proposition.
P − C: harga dikurangi biaya perusahaan. Ini margin laba, dan buku menekankan margin harus ikut dilacak — tanpa laba yang cukup, perusahaan tidak bisa bertahan lama walau nilainya bagus.
V − C: Total Economic Value, seluruh nilai ekonomi yang tercipta.
Illustration Capsule 4.1 di buku memberi contoh nyata: rincian biaya tiap aktivitas rantai nilai di Everlane Inc., peritel pakaian online Amerika.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Rantai nilai sistem kadang disebut juga vertical chain.
Kenapa rantai pemasok penting: biaya, mutu, dan fitur input yang mereka kirim langsung memengaruhi biaya dan kemampuan diferensiasi kita. Contoh buku — produsen mobil mendorong pemasok komponen membangun pabrik dekat pabrik perakitan supaya pengiriman just-in-time lancar dan biaya gudang turun. Contoh lain: perusahaan irigasi, pemasok alat panen anggur, dan pembuat tong, botol, tutup dan label semuanya berlokasi di wilayah anggur California, dekat 4.400 kilang yang mereka layani.
Kenapa rantai hilir penting: (1) biaya dan margin distributor ikut masuk ke harga yang dibayar konsumen akhir; (2) mutu kerja mereka memengaruhi volume penjualan dan kepuasan pelanggan.
Angka yang enak dikutip: lebih dari 80 persen perusahaan Fortune 500 dilaporkan memakai benchmarking.
Buku punya dua Illustration Capsule di bagian ini — 4.2 tentang benchmarking di industri tenaga surya, yang memakai ukuran Levelized Cost of Energy, dan 4.3 khusus tentang etika benchmarking.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area itu persis sama dengan tiga bagian rantai nilai sistem di slide sebelumnya — tunjukkan hubungannya, jangan biarkan audiens menebak.
Catatan dari buku untuk kolom 1: memperbaiki kerugian biaya internal dengan cara menekan pemasok atau mitra hilir adalah PILIHAN TERAKHIR, bukan langkah pertama.
Satu contoh konkret yang bagus: banyak peritel menemukan bahwa menyumbangkan barang retur ke lembaga amal lalu mengambil potongan pajaknya menghasilkan kerugian lebih kecil dibanding menanggung biaya logistik baliknya.
Untuk bagian hilir, contoh Walmart dan Target: keduanya mewajibkan pemasok tiba dalam jendela dua hari. Itu bukan cuma menaikkan efisiensi pusat distribusi, tapi juga memangkas waktu tunggu bongkar yang mahal bagi si pengirim. Win-win.
Tutup dengan dua jalur di kotak hitam. Tekankan bahwa keduanya menuntut usaha terus-menerus, bukan sekali jadi. Buku bilang reputasi dan merek unggul dibangun pelan-pelan lewat investasi dan pesan yang konsisten.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di slide ini menyalin Tabel 4.4 buku, dengan tiga baris terakhir digabung supaya muat. Baris yang digabung: technological skills, dealer network, dan new product innovation capability — bobot masing-masing 0,05.
Pelajaran paling penting dari contoh ini, dan sering ditanyakan:
ABC punya nilai tinggi di banyak hal — technological skills 10, dealer network 9, inovasi produk 9, mutu 8, reputasi 8. Tapi semua faktor itu bobotnya KECIL. Artinya ABC kuat di area yang tidak banyak berpengaruh di pasar.
Sebaliknya posisi biaya relatif berbobot 0,30, paling besar. Di situ ABC hanya 5 sementara Rival 1 dapat 10. Itulah sebabnya Rival 1 menang telak.
Implikasi strategisnya, langsung dari buku:
- ABC sebaiknya menyerang Rival 2, bukan Rival 1, karena skor Rival 2 jauh lebih rendah dan ABC unggul di lima area tempat Rival 2 lemah.
- Tapi ABC harus hati-hati memotong harga, karena Rival 1 bisa membalas dan pasti menang perang harga.
- Untuk bertahan, ABC perlu mengarahkan sebagian strateginya ke penurunan biaya.
Prinsipnya: kuat di faktor yang bobotnya kecil tidak menghasilkan kekuatan pasar.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buku yang paling tegas: 'The final and most important analytic step is to zero in on exactly what strategic issues company managers need to address — and resolve.'
Contoh isi priority list dari buku, bagus untuk dibacakan satu dua:
- bagaimana menahan serangan pesaing asing baru;
- bagaimana melawan diskon harga pesaing;
- bagaimana menurunkan biaya yang terlalu tinggi;
- bagaimana mempertahankan laju pertumbuhan ketika permintaan melambat;
- apakah perlu mengakuisisi pesaing untuk menutup kelemahan;
- apakah perlu masuk pasar luar negeri;
- apa yang harus dilakukan menghadapi produk substitusi;
- apa yang harus dilakukan menghadapi basis pelanggan yang menua.
Tekankan perangkap pertama: daftar ini berisi PERTANYAAN, bukan jawaban. Mahasiswa sering langsung menulis solusi di sini, dan itu keliru menurut buku.
Perangkap kedua adalah diagnosisnya: kalau isu-isunya relatif kecil, berarti strategi sekarang sudah pada jalurnya dan cukup disetel halus. Kalau isunya serius, berarti strategi sekarang tidak cocok untuk jalan ke depan, dan menyusun strategi baru harus jadi prioritas utama.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Buka dengan jujur soal sumber: kasus ini ditulis Robert M. Grant, bukan diambil dari buku Thompson. Yang kita pakai dari Thompson adalah KERANGKANYA, yaitu enam pertanyaan Chapter 4.</a:t>
            </a:r>
          </a:p>
          <a:p/>
          <a:p>
            <a:r>
              <a:t>Tegaskan waktunya: Juli 2009. Ferguson MASIH menjabat. Semua analisis kita berdiri di titik itu, bukan dengan pengetahuan hari ini.</a:t>
            </a:r>
          </a:p>
          <a:p/>
          <a:p>
            <a:r>
              <a:t>Ceritakan pembukanya (hlm. 572–573): David Gill ikut tur Asia bersama tim. Pertandingan di Malaysia, Indonesia, Korea, dan Cina resminya latihan pra-musim, tapi kasus menyebut tujuannya hampir seluruhnya komersial. Rutenya ditentukan kesepakatan sponsor: laga Kuala Lumpur adalah imbalan sponsor tur Telekom Malaysia senilai £2 juta.</a:t>
            </a:r>
          </a:p>
          <a:p/>
          <a:p>
            <a:r>
              <a:t>Tapi yang ada di kepala Gill bukan urusan komersial. Kasus menyebut masalah terbesarnya adalah pensiunnya Ferguson — arsitek utama sukses klub selama 23 tahun, yang sudah membangun seluruh infrastruktur pemanduan bakat, latihan, disiplin tim, serta taktik dan strategi.</a:t>
            </a:r>
          </a:p>
          <a:p/>
          <a:p>
            <a:r>
              <a:t>Dilema Gill dibahas di slide berikutnya. Perhatikan kata kasusnya (hlm. 588): manajer seperti Mourinho 'likely' — kemungkinan besar — membongkar 'much of' — sebagian besar — infrastruktur Ferguson. Bukan pasti, bukan seluruhnya.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Tegaskan setting waktunya: Juli 2009, saat tur pramusim Asia. Ferguson masih menjabat; kasus hanya menyebut ia akan berusia 68 tahun pada akhir 2009 dan Gill memperkirakan pensiun akhir musim 2009-10.</a:t>
            </a:r>
          </a:p>
          <a:p/>
          <a:p>
            <a:r>
              <a:t>Pengambil keputusannya David Gill, Chief Executive. Keputusan yang disiapkan: siapa pengganti Ferguson.</a:t>
            </a:r>
          </a:p>
          <a:p/>
          <a:p>
            <a:r>
              <a:t>Dilema inti (hlm. 588): orang dalam menjaga sistem tetap jalan tapi wibawanya diragukan; orang luar seperti Mourinho berarti membongkar dan membangun ulang infrastruktur Ferguson.</a:t>
            </a:r>
          </a:p>
          <a:p/>
          <a:p>
            <a:r>
              <a:t>Tutup dengan pertanyaan yang jadi benang merah Bagian 2: aset mana yang milik klub, aset mana yang milik satu orang.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ini satu: audiens paham bahwa sepakbola Eropa adalah industri yang besar tapi merugi. Itu penting, karena Q1 menilai kinerja RELATIF terhadap industri.
Angka 6 dari 10 dari Tabel 6.6 (hlm. 580), ukurannya laba sebelum pajak dibagi pendapatan. Yang merugi: Chelsea (minus 60,4%), Inter (minus 78,4%), Rangers, Juventus, Celtic, Liverpool. Yang untung: MU (12,6%), Arsenal (5,6%), Bayern (4,7%), dan Real Madrid yang nyaris nol (0,4%). Kasus sendiri menyebut hanya MU, Arsenal, dan Bayern yang mencetak laba signifikan.
Mekanisme 'yang kaya makin kaya' (hlm. 575): pendapatan Liga Champions dipakai membeli pemain kelas atas, dan itu memperlebar jurang antara empat klub teratas Inggris dan sisanya.
Kalau ditanya soal kontrak sponsor jersey (hlm. 578): Juventus–Tamoil €110 juta/5 tahun, Arsenal–Emirates £100 juta/15 tahun, MU–Aon £80 juta/4 tahun, Chelsea–Samsung £50 juta/5 tahun. Per tahun dalam pound: MU £20 juta, Chelsea £10 juta, Arsenal sekitar £6,7 juta. Juventus sekitar €22 juta per tahun, tapi tidak bisa dibandingkan langsung karena kasus tidak memberi kurs euro–pound.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angka: Table 6.2 (total poin Eropa), Table 6.1 (juara liga), hlm. 584 (Liga Champions), dan Table 6.7 untuk catatan ukuran dan usia skuad.</a:t>
            </a:r>
          </a:p>
          <a:p/>
          <a:p>
            <a:r>
              <a:t>Hati-hati dengan dua ukuran 'poin' di kasus, karena mudah tertukar:</a:t>
            </a:r>
          </a:p>
          <a:p>
            <a:r>
              <a:t>- Total poin 2000–09 (Table 6.2, yang ada di grafik slide ini): dihitung dari prestasi di liga domestik, piala domestik, Liga Champions, dan Intertoto Cup, disesuaikan dengan tingkat kesulitan liga. MU nomor satu, 1.460.</a:t>
            </a:r>
          </a:p>
          <a:p>
            <a:r>
              <a:t>- Poin performa 2000–09 (Table 6.7, dipakai di slide 23): ukuran yang disandingkan kasus dengan belanja transfer. Di sini MU nomor dua (192,5), tipis di bawah Barcelona (200,0).</a:t>
            </a:r>
          </a:p>
          <a:p>
            <a:r>
              <a:t>Kalau ditanya kenapa berbeda: dua tabel, dua metode; kasus tidak menjelaskan rumus poin performa.</a:t>
            </a:r>
          </a:p>
          <a:p/>
          <a:p>
            <a:r>
              <a:t>Soal kartu 2008: itu Liga Champions (European Cup) KEDUA di era Ferguson, setelah 1999. Jangan sebut 'gelar Eropa kedua', karena kasus hlm. 584 juga mencatat Piala Winners Eropa 1991.</a:t>
            </a:r>
          </a:p>
          <a:p/>
          <a:p>
            <a:r>
              <a:t>Soal ukuran skuad di bawah grafik: angkanya dari Table 6.7, dan klaimnya hanya berlaku untuk enam klub di grafik. Di Table 6.7 lengkap, Roma punya 46 pemain dan Lyon 34. Jadi jangan bilang skuad MU terbesar di Eropa. Strategi 'memadukan pemain muda dan berpengalaman' dikutip dari hlm. 583.</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memakai baris Turnover dari Appendix kasus (hlm. 589). Dua batang merah adalah dua tahun terakhir sebelum kasus ditulis.
Cara membacanya: bandingkan hanya di dalam periode yang sebanding. Dari 2006 ke 2008 pendapatan naik 53%, dari £167,8 juta ke £257,1 juta. Kasus hlm. 587 menyebut perluasan Old Trafford tahun 2006, terutama dari tambahan 7.500 kursi, memberi dorongan besar pada pendapatan. Penurunan 2004 ke 2005 jangan ditafsirkan sebagai kemunduran, karena di titik itulah akuntansi dan periode laporannya berubah.
Kalau ditanya kualitas laba: laba sebelum pajak 2008 (£66,4 juta) sudah termasuk keuntungan penjualan pemain £21,8 juta. Jadi sebagian laba datang dari menjual pemain — itu bagian dari model bisnis MU (slide 29).
PENTING dan sering ditanya dosen — kenapa data tidak sepenuhnya sebanding? Catatan kaki Appendix menyebut dua hal yang TERPISAH:
(1) Entitas pelapor: Manchester United plc untuk 2000–2005, Manchester United Limited untuk 2006–2008.
(2) Periode dan akuntansi: kolom 2000–2004 bertanda 12 bulan sampai 31 Juli, kolom 2005–2008 bertanda 11 bulan sampai 30 Juni, dan kasus menegaskan data 2000–4 tidak sebanding dengan 2005–8 karena perubahan akuntansi.
Karena itu angka laba di kartu pertama sengaja memakai 2006 dan 2008, dua-duanya di periode yang sebanding.
Soal 'tertinggi': Tabel 6.5 hanya memuat 15 klub besar Eropa dari daftar Forbes 2009. Jadi sebut 'tertinggi di tabel', bukan 'tertinggi di dunia'.
Soal utang £616 juta — siapkan jawaban ini. Appendix menampilkan ekuitas £294 juta dan tidak memuat utang sebesar itu. Penjelasan yang paling mungkin (ini dugaan kami, tidak ditulis di kasus): utang akuisisi Glazer berada di perusahaan induk, di atas Manchester United Limited. Yang pasti dari kasus hanya dua hal: akuisisinya dibiayai terutama dengan utang (hlm. 584), dan karena itu MU tidak mendapat suntikan dana pemilik seperti Chelsea atau Man City (hlm. 579).</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ini analisis kami sendiri, bukan tabel yang tercetak di kasus. KATAKAN ITU. Angka mentahnya dari Tabel 6.7; perbandingannya yang kami susun.</a:t>
            </a:r>
          </a:p>
          <a:p/>
          <a:p>
            <a:r>
              <a:t>Jelaskan pilihan klubnya supaya tidak terkesan memilih-milih: grafik memuat EMPAT klub dengan poin performa tertinggi di Tabel 6.7, yaitu Barcelona (200,0), MU (192,5), Real Madrid (183,0), dan Bayern (179,5). Di antara keempatnya, belanja bersih MU paling kecil.</a:t>
            </a:r>
          </a:p>
          <a:p/>
          <a:p>
            <a:r>
              <a:t>Jangan klaim MU paling hemat di seluruh tabel — itu tidak benar. Arsenal, Lyon, Juventus, Roma, dan Valencia belanja bersih lebih sedikit, sedangkan AC Milan, Porto, dan PSV malah penjual bersih. Kalimat kasus sendiri (hlm. 586): belanja bersih MU 'relatively modest compared to other leading European clubs'.</a:t>
            </a:r>
          </a:p>
          <a:p/>
          <a:p>
            <a:r>
              <a:t>Apa itu belanja transfer bersih: total uang untuk membeli pemain dikurangi total uang dari menjual pemain. MU belanja kotor £322 juta, tapi bersihnya £100 juta — artinya MU juga banyak menjual. Kasus: Ferguson mau menjual pemain yang dihargai lebih tinggi oleh klub lain.</a:t>
            </a:r>
          </a:p>
          <a:p/>
          <a:p>
            <a:r>
              <a:t>Kasus sendiri (hlm. 580) menyebut Real Madrid dan Chelsea 'distinguished by their massive expenditures on star players'. Itu yang membuat perbandingan 4,4 kali lipat relevan.</a:t>
            </a:r>
          </a:p>
          <a:p/>
          <a:p>
            <a:r>
              <a:t>Tutup dengan menyambung ke Q2 dan Q3: kalau bukan uang, lalu apa? Jawabannya ada di resource dan capability.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audiens: SWOT bukan bikin empat daftar. Setelah membacakan daftarnya sekilas, langsung masuk ke kesimpulan di kotak bawah — itu langkah 2 dari Figure 4.2.
Kesimpulannya diuraikan: kekuatan MU terpusat di sisi komersial dan pengembangan pemain. Peluang terbesarnya juga komersial, di Asia. Jadi kekuatan dan peluang cocok — sampai di sini bagus.
Masalahnya ada di kelemahan nomor satu: ketergantungan pada Ferguson. Itu menyerang sisi lapangan. Dan kasus hlm. 573 menyebut, bagi Gill, pendapatan komersial dari jersey, siaran, dan sponsor terus mengalir SELAMA tim menang dan bermain menarik. Jadi kalau sisi lapangan goyah, sisi komersial ikut terancam.
PENTING soal utang, karena sering salah: kasus hlm. 584 menyatakan ketakutan bahwa utang akan membatasi Ferguson membeli pemain 'proved groundless' — tidak terbukti. Jadi jangan bilang utang membatasi pembelian pemain. Yang benar (hlm. 579): karena akuisisinya dibiayai utang, MU tidak mendapat suntikan dana pemilik seperti yang dinikmati Chelsea dan Man City. Itu sebabnya poin itu ada di kolom Threats dalam bentuk 'tak dapat suntikan dana', sementara utangnya sendiri ada di Weaknesses.
Untuk langkah 3 (tindakan), sambungkan: itu yang akan kita bahas di slide priority list dan rekomendasi.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ke Tabel 4.3 di slide 9. Delapan kotak di slide ini mengikuti persis delapan kategori buku: fisik, finansial, teknologi, organisasional di kiri; human assets, merek dan reputasi, relasi, budaya dan insentif di kanan.
Bukti kekuatan merek yang layak diceritakan lengkap (hlm. 573): David Prosperi, VP Global Public Relations Aon, mengatakan bahwa setahun setelah sponsor AIG dimulai, AIG melompat dari luar daftar 100 merek dunia ke peringkat 47. Kalimatnya: Manchester United tidak ada tandingannya di dunia olahraga soal kesadaran merek global, khususnya di Asia. Itu bukan klaim MU, tapi kesaksian pihak yang membayar.
Kutipan Andy Anson, mantan direktur komersial (hlm. 587): 'We're not just a sports club, we are an international brand.' Sub-mereknya dibagi per usia: Fred the Red untuk anak, MUFC untuk remaja, Red Devil untuk dewasa.
Angka sponsor dari kasus hlm. 587: selain dua sponsor utama Nike dan AIG, ada Budweiser, Audi, Betfred, Hublot, Tri Indonesia, Bharti Airtel, plus tujuh sponsor lain — total 13.
Kalimat penutup slide penting: aset tak berwujud bisa pergi. Ronaldo sudah dijual. Ferguson akan pensiun. Stadion dan merek tidak ke mana-mana.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menerapkan tangga competence dari slide 7. Label CORE, DISTINCTIVE dan COMPETENCE adalah penilaian kelompok kami; jelaskan alasannya.
CORE — dikerjakan sangat baik DAN berada di jantung strategi:
- Mengenali dan mengembangkan bakat. Catatan jujur: kasus (hlm. 580) menyebut Bayern, Barcelona, Arsenal, dan Valencia juga menekankan pengembangan pemain sendiri. Jadi ini core bagi MU, tapi tidak unik. Yang khas MU menurut kasus (hlm. 583) adalah memadukan talenta muda dengan pemain berpengalaman.
- Membentuk dan merotasi tim. Kutipan Ferguson (hlm. 585): 'The best teams stand out because they are teams.' Ia juga disebut pelopor squad rotation.
- Mengubah merek jadi uang. Kasus menyebut MU dan Real Madrid klub paling fokus komersial di Eropa.
DISTINCTIVE — lebih baik dari pesaing, tapi bukan inti strategi:
- Disiplin transfer. Kasus (hlm. 586): Ferguson mau menjual pemain yang dihargai lebih tinggi klub lain — Beckham, Verón, van Nistelrooy, Ronaldo dengan rekor dunia £80 juta.
- Tata kelola. Kasus hlm. 587 menyebut MU salah satu klub Inggris pertama yang go public dan yang paling berhasil membangun tata kelola efektif. 'Paling berhasil' berarti lebih baik dari pesaing, jadi distinctive.
COMPETENCE — dikerjakan baik, tapi tidak membedakan:
- Mengelola stadion. Kasus hlm. 577 menyebut sebagian besar klub papan atas merenovasi stadionnya, dan Arsenal membangun stadion baru. Jadi ini wajar dimiliki klub besar.
Kalimat penutup di kotak bawah adalah jembatan ke slide VRIN.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paling penting di seluruh presentasi. Beri waktu lebih.
Jalankan baris per baris. Hasilnya sama di kedua kolom: empat-empatnya lolos. Itu menjelaskan kenapa MU mendominasi sepakbola Inggris dan Eropa selama dua dekade.
Baris Inimitable — kutip kasusnya langsung, karena ini hadiah dari penulis kasus (hlm. 583): 'the determinants of team performance remained a mystery … depends on a complex mix of factors that defies analysis.' Itu definisi causal ambiguity. Untuk social complexity, kutip Ferguson (hlm. 585): ia ingin membangun hubungan personal dengan semua orang di klub, termasuk pegawai kantor, juru masak, dan petugas binatu.
Baris Nonsubstitutable — jelaskan definisinya dulu, karena paling sering keliru. Tes N BUKAN bertanya 'kalau Ferguson pergi, bisakah MU menggantinya?'. Tes N bertanya 'bisakah PESAING mencapai hasil yang sama dengan resource JENIS LAIN?'. Buku: 'invulnerable to the threat of substitution from different types of resources and capabilities'.
Resource jenis lain yang dipakai pesaing adalah UANG untuk membeli bintang. Kasus menjawab sendiri bahwa jalan itu gagal: 'Real Madrid and Chelsea's lavishing of vast sums of money to build star-studded teams has yielded teams that have failed to achieve greatness.' Kasus juga bilang 'team performance is not simply a product of the quality of the players in the team.' Jadi uang bukan pengganti yang setara.
Catatan jujur kalau ditanya: Chelsea tetap juara liga 2005 dan 2006 (Tabel 6.1) dengan cara itu. Tapi ongkosnya return on sales minus 60,4% (Tabel 6.6). Substitusi bisa berhasil sesaat, tapi tidak setara dan tidak berkelanjutan.
Untuk merek, jalan lain pesaing adalah membeli superstar. Kasus hlm. 578 mengakui itu: Zidane, Beckham dan Ronaldo mendongkrak lisensi dan merchandise Real Madrid. Tapi itu pengganti parsial, karena pemain bisa pergi — Ronaldo sudah dijual MU. Basis fan melekat pada klub, dan Aon sendiri menyebut basis fan Asia sebagai faktor kunci kontrak £80 juta (hlm. 573). Jadi tetap LOLOS, dengan catatan itu.
KESIMPULAN YANG HARUS SAMPAI: kalau keduanya lolos VRIN, di mana masalah MU? Jawabannya ada di luar VRIN. VRIN hanya menguji ancaman dari pesaing. VRIN tidak menguji risiko perusahaan KEHILANGAN resource-nya sendiri. Merek dimiliki klub dan tidak bisa pensiun. Sistem Ferguson dibangun dan dipimpin satu orang yang akhir 2009 berusia 68 tahun. Buku membahas risiko ini di bagian 'resources must be managed dynamically' (slide 12) — dan itulah isi slide berikutnya.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ke slide 12: dynamic capability adalah kemampuan memperbarui resource dan capability secara terus-menerus, sampai memperbarui itu sendiri jadi rutinitas.
Tiga siklus di slide ini adalah buktinya. MU tidak sekadar beruntung punya satu generasi emas. MU membongkar dan membangun ulang tiga kali, dan setiap kali menghasilkan tim juara.
Siklus kedua: kasus hlm. 584 menyebut MU juara liga junior Inggris tahun 1990, dengan tim yang berisi Giggs, Beckham, Butt, Gary dan Phil Neville, serta Scholes. Pakai tahun 1990 sesuai kasus.
Siklus ketiga: kasus mencatat pemain inti tim 1999 dijual antara 2003 dan 2008. Ini menunjukkan MU berani melepas ikonnya sendiri.
INI TITIK SAMBUNG DENGAN SLIDE VRIN. Di slide sebelumnya, sistem Ferguson lolos keempat tes VRIN — artinya pesaing tidak bisa meniru atau mengakalinya. Tapi VRIN tidak menjawab pertanyaan di slide ini: apakah kemampuan memperbarui diri itu milik KLUB, atau milik FERGUSON? Buku membahas risiko ini di bagian 'resources and capabilities must be managed dynamically': resource bisa menyusut dan hilang.
Kasus memberi petunjuk yang tidak menyenangkan (hlm. 583): setelah Busby pensiun 1969, MU merosot dan Liverpool menjadi klub terkuat Inggris. Selama 18 tahun sebelum Ferguson datang, MU tidak memenangi satu pun gelar liga. Pola yang sama bisa terulang.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Terjemahkan Figure 4.3 ke bahasa sepakbola dulu, supaya audiens paham:
Supply chain di pabrik artinya membeli bahan baku. Di klub, 'bahan bakunya' adalah pemain — jadi supply chain MU adalah akademi dan pasar transfer.
Operations di pabrik artinya mengolah bahan jadi produk. Di klub, artinya latihan dan pertandingan.
Distribution artinya menyalurkan produk. Di klub, produknya tontonan, disalurkan lewat siaran televisi dan stadion.
Temuan utamanya: keunggulan biaya MU ada di HULU. MU tidak lebih hemat dalam melatih atau beriklan; MU lebih hemat dalam MENDAPATKAN pemain.
Angka gaji dari kasus hlm. 578: rata-rata Premier League 62%, Serie A 68%, La Liga 63%. Chelsea 81%, tertinggi di antara klub Inggris. MU dan Arsenal masing-masing membayar sekitar setengah pendapatannya untuk gaji.
Soal sponsor (hlm. 587): selain Nike dan AIG (yang diganti Aon 2010), ada Budweiser, Audi, Betfred, Hublot, Tri Indonesia, Bharti Airtel, plus tujuh sponsor lain — total 13. Hanya Tri Indonesia dan Bharti Airtel yang khusus satu negara.
Bedakan sumber dua kartu tengah. Akademi menekan kebutuhan MEMBELI: generasi Giggs dan Scholes menjadi inti tim 1994–2003 tanpa biaya transfer (hlm. 584). Penjualan menekan belanja BERSIH: kasus hlm. 586 menyebut Ferguson mau menjual pemain yang dinilai lebih tinggi oleh klub lain, dan 'as a result' belanja bersih MU relatif sederhana. Laba penjualan pemain di Appendix 2008 saja £21,8 juta. Jangan sebut 'menjual di puncak harga' — kasus tidak bilang begitu.
Jangan lupa yang melawan arah: amortisasi pemain naik hampir 50% dari 2005 ke 2008. Angka ini sengaja memakai periode 2005–2008 karena Appendix menyatakan data 2000–2004 tidak sebanding. Amortisasi adalah biaya akuntansi dari pembelian pemain, jadi MU juga makin banyak membeli.
Untuk customer value proposition, ingatkan rumus di slide 13: V dikurangi P. MU punya dua 'pelanggan' dengan V berbeda — pendukung dan sponsor.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ini menjawab bagian kedua Q4: apakah struktur biaya MU kompetitif? Caranya benchmarking, membandingkan hasil akhir yang sama untuk semua klub: berapa persen pendapatan yang tersisa sebagai laba.</a:t>
            </a:r>
          </a:p>
          <a:p/>
          <a:p>
            <a:r>
              <a:t>Dua ukuran dipakai:</a:t>
            </a:r>
          </a:p>
          <a:p>
            <a:r>
              <a:t>- Margin EBITDA, dihitung kami dari Table 6.5 (EBITDA dibagi pendapatan). Grafik memuat 10 klub berpendapatan terbesar di tabel itu. MU 31,4%, tertinggi di antara mereka.</a:t>
            </a:r>
          </a:p>
          <a:p>
            <a:r>
              <a:t>- Return on sales 2000–2006 dari Table 6.6, angka kasus sendiri. MU 12,6%, tertinggi dari 10 klub.</a:t>
            </a:r>
          </a:p>
          <a:p/>
          <a:p>
            <a:r>
              <a:t>Batas klaim, sebutkan sendiri sebelum ditanya: Table 6.5 memuat 15 klub. Dari 15 itu, Lyon punya margin EBITDA 38,5% (€59,9 jt dari €155,7 jt), di atas MU, tapi pendapatannya kurang dari separuh MU. Tottenham 30,8%, Roma 25,0%. Jadi kalimat yang benar adalah 'tertinggi di antara klub besar', bukan 'tertinggi di Eropa'.</a:t>
            </a:r>
          </a:p>
          <a:p/>
          <a:p>
            <a:r>
              <a:t>Kaitkan dengan dua jalan mendapat pemain (hlm. 580): membeli atau mengembangkan. Real Madrid dan Chelsea membeli, dan return on sales-nya 0,4% dan minus 60,4%. Bayern, Barcelona, Arsenal, dan Valencia disebut kasus menekankan pengembangan pemain sendiri; Bayern 4,7%, Arsenal 5,6%. MU memadukan keduanya (hlm. 583 dan 586): bakat akademi dipadukan dengan pemain berpengalaman, dan pemain dijual saat klub lain menilainya lebih tinggi. Hasilnya 12,6%.</a:t>
            </a:r>
          </a:p>
          <a:p/>
          <a:p>
            <a:r>
              <a:t>Jangan katakan benchmarking 'membuktikan VRIN'. Dua alat itu menjawab pertanyaan berbeda: VRIN (Q3) menguji apakah resource bisa ditiru atau digantikan pesaing; benchmarking (Q4) menguji apakah biaya dan hasil aktivitas kita lebih baik dari pesaing. Slide ini bukti untuk Q4.</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Bilang dari awal: bobot dan rating ini KAMI yang menentukan, berdasarkan data kasus. Itu memang cara kerja alat ini — buku pun memakai contoh hipotetis di Tabel 4.4.
Alasan beberapa rating yang mungkin ditanya:
- Kualitas skuad MU hanya 6, padahal juara. Sebabnya: Tabel 6.3 (peringkat pemain dunia FIFA 2008–09) hanya memuat satu pemain MU, yaitu Ronaldo — dan ia dijual ke Real Madrid sebelum akhir Juni 2009 (Tabel 6.4). Jadi per Juli 2009, MU tidak punya pemain di daftar itu. Barcelona punya empat (Messi, Xavi, Eto'o, Iniesta), ditambah Deco yang tercatat 'Barcelona and Chelsea'. Kasus hlm. 580 menyebut Barcelona dan Chelsea sebagai tim paling bertabur bintang. Real Madrid tetap 9 karena musim panas 2009 membeli Ronaldo, Kaká dan Benzema (Tabel 6.4).
- Kemampuan manajer MU 10, Real Madrid 5. Sebabnya: Ferguson punya masa jabatan di satu klub terpanjang di Tabel 6.8, sementara Real Madrid mengganti 10 pelatih kepala antara 2003 dan Juli 2009 (hlm. 581).
- Keleluasaan finansial MU hanya 4 karena utang £616 juta dan tidak ada suntikan dana pemilik (hlm. 579). Tapi jangan bilang utang membatasi belanja pemain — kasus hlm. 584 menyebut ketakutan itu 'proved groundless'. Arsenal 2 karena utangnya £896 juta, tertinggi di Tabel 6.5.
Sekarang bagian yang paling penting.
MU unggul dari Barcelona hanya 0,25 poin. Dari mana selisih itu? MU unggul di merek (+0,45), lalu di manajer, komersial, dan profitabilitas (masing-masing +0,30). MU kalah di kualitas skuad (−0,60) dan keleluasaan finansial (−0,50). Baris lainnya seri.
Dari semua baris itu, hanya satu yang diperkirakan berubah drastis dalam waktu dekat: baris manajer, karena Ferguson diperkirakan pensiun musim panas 2010 (hlm. 588).
Coba turunkan rating itu dari 10 ke 5, seolah penggantinya manajer rata-rata. Skor MU turun 0,75 menjadi 7,90 — langsung di bawah Barcelona.
Hitung titik impasnya, dengan asumsi baris lain tetap: MU tanpa baris manajer punya 7,15. Supaya totalnya kembali ke 8,40, baris manajer harus menyumbang 1,25. Dengan bobot 0,15, ratingnya minimal 8,3. Artinya penggantinya harus manajer kelas dunia, bukan sekadar bagus.
Ini menghubungkan Q5 kembali ke Q3: baris yang paling rapuh di matriks adalah resource yang lolos VRIN tapi melekat pada satu orang. Itu risiko yang tidak diukur VRIN — dan karena itulah slide 28 membahas dynamic capability.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Ingatkan aturan Q6 dari slide 17: priority list berisi PERTANYAAN, bukan jawaban. Keenam isu di slide ini berbentuk 'bagaimana', 'apakah perlu', dan 'apakah', persis pola buku (hlm. 118). Jangan menjawabnya di slide ini; jawaban ada di tahap penyusunan strategi.</a:t>
            </a:r>
          </a:p>
          <a:p/>
          <a:p>
            <a:r>
              <a:t>Sumber tiap isu:</a:t>
            </a:r>
          </a:p>
          <a:p>
            <a:r>
              <a:t>1. Suksesi: hlm. 573 (Ferguson belum menyatakan niat pensiun; Gill memperkirakan akhir musim 2009–10) dan hlm. 588 (dilema orang dalam vs orang luar, dan pentingnya mempertahankan sistem latihan, pemanduan bakat, dan pengembangan tim).</a:t>
            </a:r>
          </a:p>
          <a:p>
            <a:r>
              <a:t>2. Pasar transfer tanpa dana pemilik: hlm. 579 (karena akuisisi dibiayai utang, MU tidak mendapat suntikan dana seperti Chelsea dan Manchester City, yang belanja £185 juta pada 2008–09). PENTING: jangan bilang utang membatasi pembelian pemain. Hlm. 584 menyebut ketakutan itu 'proved groundless'.</a:t>
            </a:r>
          </a:p>
          <a:p>
            <a:r>
              <a:t>3. Skuad setelah Ronaldo: Table 6.3 (Ronaldo satu-satunya pemain MU di peringkat FIFA), Table 6.4 (dijual ke Real Madrid, rekor $93,1 juta), hlm. 588 (media menunggu apakah uangnya dipakai menawar Ribéry dari Bayern).</a:t>
            </a:r>
          </a:p>
          <a:p>
            <a:r>
              <a:t>4. Director of football: hlm. 573 (seluruh infrastruktur dibangun Ferguson) dan hlm. 581 (posisi ini lazim di Eropa daratan, tapi di Inggris sering memicu konflik dengan manajer, contohnya Chelsea dan Newcastle).</a:t>
            </a:r>
          </a:p>
          <a:p>
            <a:r>
              <a:t>5. Pendapatan komersial: hlm. 573, pandangan Gill bahwa pendapatan komersial mengalir selama tim menang dan bermain menarik.</a:t>
            </a:r>
          </a:p>
          <a:p>
            <a:r>
              <a:t>6. Sikap pemilik: hlm. 584 (Glazer memilih peran pasif; Ferguson dan Gill diberi kebebasan) dan hlm. 581 (di Chelsea, gesekan dengan Abramovich soal pembelian pemain dan pemilihan tim berujung pada kepergian Mourinho).</a:t>
            </a:r>
          </a:p>
          <a:p/>
          <a:p>
            <a:r>
              <a:t>Pembacaan di kotak bawah mengikuti diagnosis buku: kalau isunya berat, menyusun strategi baru harus jadi agenda utama. Isu 1 dan 4 berat karena menyangkut resource yang lolos VRIN tapi melekat pada satu orang. Isu lainnya bisa ditangani dengan menyempurnakan strategi yang ada.</a:t>
            </a:r>
          </a:p>
          <a:p/>
          <a:p>
            <a:r>
              <a:t>Kalau dosen bertanya 'jadi apa rekomendasi kalian?', jawab singkat, dan sebut bahwa ini sudah tahap penyusunan strategi, bukan Q6: (1) lembagakan sistem Ferguson menjadi prosedur klub sebelum ia pergi; (2) pilih penerus dari dalam dengan masa transisi, Ferguson mendampingi; (3) tolak opsi revolusi seperti Mourinho, karena kasus sendiri menyebut itu berarti membongkar sebagian besar infrastruktur Ferguson (hlm. 588); (4) lindungi mesin komersial yang melekat pada klub, terutama India dan Cina.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Pertanyaan yang paling mungkin muncul, dan jawabannya:</a:t>
            </a:r>
          </a:p>
          <a:p/>
          <a:p>
            <a:r>
              <a:t>1. Kenapa enam pertanyaan, bukan lima?</a:t>
            </a:r>
          </a:p>
          <a:p>
            <a:r>
              <a:t>Edisi lama buku ini memakai lima pertanyaan dengan SWOT diselipkan ke dalam analisis resource. Edisi 2024 memisahkan SWOT jadi Q2 tersendiri.</a:t>
            </a:r>
          </a:p>
          <a:p/>
          <a:p>
            <a:r>
              <a:t>2. Kenapa sistem Ferguson lolos Nonsubstitutable, padahal ia akan pensiun?</a:t>
            </a:r>
          </a:p>
          <a:p>
            <a:r>
              <a:t>Karena tes N bertanya apakah PESAING bisa mencapai hasil yang sama dengan resource jenis lain — bukan apakah MU bisa mengganti Ferguson. Jalan lain pesaing, membeli bintang dengan uang besar, tidak menyamai hasilnya: tim Real Madrid dan Chelsea 'failed to achieve greatness' (hlm. 583). Risiko pensiun itu nyata, tapi tempatnya di luar VRIN: resource harus dikelola secara dinamis (slide 12 dan 28).</a:t>
            </a:r>
          </a:p>
          <a:p/>
          <a:p>
            <a:r>
              <a:t>3. Kalau sistem Ferguson dan merek sama-sama lolos VRIN, kenapa MU tetap rentan?</a:t>
            </a:r>
          </a:p>
          <a:p>
            <a:r>
              <a:t>Karena VRIN menguji serangan dari pesaing, bukan kehilangan dari dalam. Sistem Ferguson dibangun dan dipimpin satu orang yang diperkirakan pensiun musim panas 2010. Selain itu, kedua keunggulan saling bergantung: menurut pandangan Gill, pendapatan komersial terus mengalir selama tim menang dan bermain menarik (hlm. 573).</a:t>
            </a:r>
          </a:p>
          <a:p/>
          <a:p>
            <a:r>
              <a:t>4. Kenapa laporan keuangan MU terlihat sehat padahal utangnya £616 juta?</a:t>
            </a:r>
          </a:p>
          <a:p>
            <a:r>
              <a:t>Angka £616 juta berasal dari Tabel 6.5 (data Forbes). Appendix memuat akun Manchester United plc (2000–2005) dan Manchester United Limited (2006–2008), dan tidak memuat utang sebesar itu — bunga bersih 2008 malah tercatat positif, £0,46 juta. Dugaan kami, dan ini tidak ditulis di kasus: utang akuisisi Glazer berada di perusahaan induk, di atas klub.</a:t>
            </a:r>
          </a:p>
          <a:p/>
          <a:p>
            <a:r>
              <a:t>5. Apakah akademi MU capability organisasi atau perpanjangan tangan Ferguson?</a:t>
            </a:r>
          </a:p>
          <a:p>
            <a:r>
              <a:t>Kasus tidak memberi jawaban pasti. Yang mendukung 'milik organisasi': ada akademi dan lebih dari 20 pemandu bakat. Yang mendukung 'milik Ferguson': seluruh infrastruktur itu ia yang membangun (hlm. 573), dan Gill menilai penting untuk mempertahankannya sebanyak mungkin (hlm. 588).</a:t>
            </a:r>
          </a:p>
          <a:p/>
          <a:p>
            <a:r>
              <a:t>6. Utang £616 juta itu weakness atau threat?</a:t>
            </a:r>
          </a:p>
          <a:p>
            <a:r>
              <a:t>Weakness, karena sumbernya internal: akuisisi Glazer dibiayai terutama dengan utang (hlm. 584). Threat adalah faktor dari luar. Tapi hati-hati: kasus yang sama menyebut kekhawatiran bahwa utang akan membatasi pembelian pemain 'proved groundless'. Kelemahannya ada di neraca dan di tidak adanya suntikan dana pemilik, bukan di belanja pemain yang terhambat.</a:t>
            </a:r>
          </a:p>
          <a:p/>
          <a:p>
            <a:r>
              <a:t>7. Jadi apa rekomendasi kelompok untuk Gill?</a:t>
            </a:r>
          </a:p>
          <a:p>
            <a:r>
              <a:t>Ini sudah tahap penyusunan strategi, di luar Chapter 4, tapi siapkan jawabannya: lembagakan sistem Ferguson menjadi prosedur klub; pilih penerus dari dalam dengan masa transisi; tolak opsi revolusi karena membongkar resource yang lolos VRIN (hlm. 588); dan lindungi mesin komersial yang melekat pada klub.</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grad_left.png"/>
          <p:cNvPicPr>
            <a:picLocks noChangeAspect="1"/>
          </p:cNvPicPr>
          <p:nvPr/>
        </p:nvPicPr>
        <p:blipFill>
          <a:blip r:embed="rId4"/>
          <a:stretch>
            <a:fillRect/>
          </a:stretch>
        </p:blipFill>
        <p:spPr>
          <a:xfrm>
            <a:off x="0" y="0"/>
            <a:ext cx="12191695" cy="6858000"/>
          </a:xfrm>
          <a:prstGeom prst="rect">
            <a:avLst/>
          </a:prstGeom>
        </p:spPr>
      </p:pic>
      <p:sp>
        <p:nvSpPr>
          <p:cNvPr id="4" name="Shape 0"/>
          <p:cNvSpPr/>
          <p:nvPr/>
        </p:nvSpPr>
        <p:spPr>
          <a:xfrm>
            <a:off x="640080" y="685800"/>
            <a:ext cx="365760" cy="64008"/>
          </a:xfrm>
          <a:prstGeom prst="rect">
            <a:avLst/>
          </a:prstGeom>
          <a:solidFill>
            <a:srgbClr val="FBE122"/>
          </a:solidFill>
          <a:ln w="12700">
            <a:solidFill>
              <a:srgbClr val="FBE122"/>
            </a:solidFill>
            <a:prstDash val="solid"/>
          </a:ln>
        </p:spPr>
      </p:sp>
      <p:sp>
        <p:nvSpPr>
          <p:cNvPr id="5" name="Text 1"/>
          <p:cNvSpPr/>
          <p:nvPr/>
        </p:nvSpPr>
        <p:spPr>
          <a:xfrm>
            <a:off x="1143000" y="640080"/>
            <a:ext cx="6400800" cy="320040"/>
          </a:xfrm>
          <a:prstGeom prst="rect">
            <a:avLst/>
          </a:prstGeom>
          <a:noFill/>
          <a:ln/>
        </p:spPr>
        <p:txBody>
          <a:bodyPr wrap="square" lIns="0" tIns="0" rIns="0" bIns="0" rtlCol="0" anchor="t"/>
          <a:lstStyle/>
          <a:p>
            <a:pPr marL="0" indent="0">
              <a:buNone/>
            </a:pPr>
            <a:r>
              <a:rPr lang="en-US" sz="1100" kern="0" spc="300" dirty="0">
                <a:solidFill>
                  <a:srgbClr val="FBE122"/>
                </a:solidFill>
                <a:latin typeface="Poppins SemiBold" pitchFamily="34" charset="0"/>
                <a:ea typeface="Poppins SemiBold" pitchFamily="34" charset="-122"/>
                <a:cs typeface="Poppins SemiBold" pitchFamily="34" charset="-120"/>
              </a:rPr>
              <a:t>STRATEGIC MANAGEMENT  ·  CHAPTER 4</a:t>
            </a:r>
            <a:endParaRPr lang="en-US" sz="1100" dirty="0"/>
          </a:p>
        </p:txBody>
      </p:sp>
      <p:sp>
        <p:nvSpPr>
          <p:cNvPr id="6" name="Text 2"/>
          <p:cNvSpPr/>
          <p:nvPr/>
        </p:nvSpPr>
        <p:spPr>
          <a:xfrm>
            <a:off x="640080" y="1051560"/>
            <a:ext cx="6858000" cy="2194560"/>
          </a:xfrm>
          <a:prstGeom prst="rect">
            <a:avLst/>
          </a:prstGeom>
          <a:noFill/>
          <a:ln/>
        </p:spPr>
        <p:txBody>
          <a:bodyPr wrap="square" lIns="0" tIns="0" rIns="0" bIns="0" rtlCol="0" anchor="t"/>
          <a:lstStyle/>
          <a:p>
            <a:pPr marL="0" indent="0">
              <a:lnSpc>
                <a:spcPct val="92000"/>
              </a:lnSpc>
              <a:buNone/>
            </a:pPr>
            <a:r>
              <a:rPr lang="en-US" sz="3600" dirty="0">
                <a:solidFill>
                  <a:srgbClr val="FFFFFF"/>
                </a:solidFill>
                <a:latin typeface="Poppins ExtraBold" pitchFamily="34" charset="0"/>
                <a:ea typeface="Poppins ExtraBold" pitchFamily="34" charset="-122"/>
                <a:cs typeface="Poppins ExtraBold" pitchFamily="34" charset="-120"/>
              </a:rPr>
              <a:t>EVALUATING A COMPANY'S RESOURCES, CAPABILITIES, AND COMPETITIVENESS</a:t>
            </a:r>
            <a:endParaRPr lang="en-US" sz="3600" dirty="0"/>
          </a:p>
        </p:txBody>
      </p:sp>
      <p:sp>
        <p:nvSpPr>
          <p:cNvPr id="8" name="Shape 4"/>
          <p:cNvSpPr/>
          <p:nvPr/>
        </p:nvSpPr>
        <p:spPr>
          <a:xfrm>
            <a:off x="640080" y="3840480"/>
            <a:ext cx="6858000" cy="1325880"/>
          </a:xfrm>
          <a:prstGeom prst="rect">
            <a:avLst/>
          </a:prstGeom>
          <a:solidFill>
            <a:srgbClr val="C8102E"/>
          </a:solidFill>
          <a:ln w="12700">
            <a:solidFill>
              <a:srgbClr val="C8102E"/>
            </a:solidFill>
            <a:prstDash val="solid"/>
          </a:ln>
        </p:spPr>
      </p:sp>
      <p:sp>
        <p:nvSpPr>
          <p:cNvPr id="9" name="Text 5"/>
          <p:cNvSpPr/>
          <p:nvPr/>
        </p:nvSpPr>
        <p:spPr>
          <a:xfrm>
            <a:off x="868680" y="4130040"/>
            <a:ext cx="2743200" cy="228600"/>
          </a:xfrm>
          <a:prstGeom prst="rect">
            <a:avLst/>
          </a:prstGeom>
          <a:noFill/>
          <a:ln/>
        </p:spPr>
        <p:txBody>
          <a:bodyPr wrap="square" lIns="0" tIns="0" rIns="0" bIns="0" rtlCol="0" anchor="t"/>
          <a:lstStyle/>
          <a:p>
            <a:pPr marL="0" indent="0">
              <a:buNone/>
            </a:pPr>
            <a:r>
              <a:rPr lang="en-US" sz="800" kern="0" spc="200" dirty="0">
                <a:solidFill>
                  <a:srgbClr val="FBE122"/>
                </a:solidFill>
                <a:latin typeface="Poppins SemiBold" pitchFamily="34" charset="0"/>
                <a:ea typeface="Poppins SemiBold" pitchFamily="34" charset="-122"/>
                <a:cs typeface="Poppins SemiBold" pitchFamily="34" charset="-120"/>
              </a:rPr>
              <a:t>STUDI KASUS</a:t>
            </a:r>
            <a:endParaRPr lang="en-US" sz="800" dirty="0"/>
          </a:p>
        </p:txBody>
      </p:sp>
      <p:sp>
        <p:nvSpPr>
          <p:cNvPr id="10" name="Text 6"/>
          <p:cNvSpPr/>
          <p:nvPr/>
        </p:nvSpPr>
        <p:spPr>
          <a:xfrm>
            <a:off x="868680" y="4343400"/>
            <a:ext cx="6400800" cy="457200"/>
          </a:xfrm>
          <a:prstGeom prst="rect">
            <a:avLst/>
          </a:prstGeom>
          <a:noFill/>
          <a:ln/>
        </p:spPr>
        <p:txBody>
          <a:bodyPr wrap="square" lIns="0" tIns="0" rIns="0" bIns="0" rtlCol="0" anchor="t"/>
          <a:lstStyle/>
          <a:p>
            <a:pPr marL="0" indent="0">
              <a:buNone/>
            </a:pPr>
            <a:r>
              <a:rPr lang="en-US" dirty="0">
                <a:solidFill>
                  <a:srgbClr val="FFFFFF"/>
                </a:solidFill>
                <a:latin typeface="Poppins ExtraBold" pitchFamily="34" charset="0"/>
                <a:ea typeface="Poppins ExtraBold" pitchFamily="34" charset="-122"/>
                <a:cs typeface="Poppins ExtraBold" pitchFamily="34" charset="-120"/>
              </a:rPr>
              <a:t>Manchester United: Preparing for Life without Ferguson</a:t>
            </a:r>
            <a:endParaRPr lang="en-US" dirty="0"/>
          </a:p>
        </p:txBody>
      </p:sp>
      <p:sp>
        <p:nvSpPr>
          <p:cNvPr id="12" name="Text 8"/>
          <p:cNvSpPr/>
          <p:nvPr/>
        </p:nvSpPr>
        <p:spPr>
          <a:xfrm>
            <a:off x="640080" y="5440680"/>
            <a:ext cx="2743200" cy="228600"/>
          </a:xfrm>
          <a:prstGeom prst="rect">
            <a:avLst/>
          </a:prstGeom>
          <a:noFill/>
          <a:ln/>
        </p:spPr>
        <p:txBody>
          <a:bodyPr wrap="square" lIns="0" tIns="0" rIns="0" bIns="0" rtlCol="0" anchor="t"/>
          <a:lstStyle/>
          <a:p>
            <a:pPr marL="0" indent="0">
              <a:buNone/>
            </a:pPr>
            <a:r>
              <a:rPr lang="en-US" sz="800" kern="0" spc="200" dirty="0">
                <a:solidFill>
                  <a:srgbClr val="FBE122"/>
                </a:solidFill>
                <a:latin typeface="Poppins SemiBold" pitchFamily="34" charset="0"/>
                <a:ea typeface="Poppins SemiBold" pitchFamily="34" charset="-122"/>
                <a:cs typeface="Poppins SemiBold" pitchFamily="34" charset="-120"/>
              </a:rPr>
              <a:t>DOSEN PENGAMPU</a:t>
            </a:r>
            <a:endParaRPr lang="en-US" sz="800" dirty="0"/>
          </a:p>
        </p:txBody>
      </p:sp>
      <p:sp>
        <p:nvSpPr>
          <p:cNvPr id="13" name="Text 9"/>
          <p:cNvSpPr/>
          <p:nvPr/>
        </p:nvSpPr>
        <p:spPr>
          <a:xfrm>
            <a:off x="640080" y="5669280"/>
            <a:ext cx="3657600" cy="274320"/>
          </a:xfrm>
          <a:prstGeom prst="rect">
            <a:avLst/>
          </a:prstGeom>
          <a:noFill/>
          <a:ln/>
        </p:spPr>
        <p:txBody>
          <a:bodyPr wrap="square" lIns="0" tIns="0" rIns="0" bIns="0" rtlCol="0" anchor="t"/>
          <a:lstStyle/>
          <a:p>
            <a:pPr marL="0" indent="0">
              <a:buNone/>
            </a:pPr>
            <a:r>
              <a:rPr lang="en-US" sz="1100" dirty="0">
                <a:solidFill>
                  <a:srgbClr val="FFFFFF"/>
                </a:solidFill>
                <a:latin typeface="Poppins Medium" pitchFamily="34" charset="0"/>
                <a:ea typeface="Poppins Medium" pitchFamily="34" charset="-122"/>
                <a:cs typeface="Poppins Medium" pitchFamily="34" charset="-120"/>
              </a:rPr>
              <a:t>Dr. Rangga Almahendra, S.T., M.M.</a:t>
            </a:r>
            <a:endParaRPr lang="en-US" sz="1100" dirty="0"/>
          </a:p>
        </p:txBody>
      </p:sp>
      <p:sp>
        <p:nvSpPr>
          <p:cNvPr id="14" name="Text 10"/>
          <p:cNvSpPr/>
          <p:nvPr/>
        </p:nvSpPr>
        <p:spPr>
          <a:xfrm>
            <a:off x="3931920" y="5440680"/>
            <a:ext cx="2743200" cy="228600"/>
          </a:xfrm>
          <a:prstGeom prst="rect">
            <a:avLst/>
          </a:prstGeom>
          <a:noFill/>
          <a:ln/>
        </p:spPr>
        <p:txBody>
          <a:bodyPr wrap="square" lIns="0" tIns="0" rIns="0" bIns="0" rtlCol="0" anchor="t"/>
          <a:lstStyle/>
          <a:p>
            <a:pPr marL="0" indent="0">
              <a:buNone/>
            </a:pPr>
            <a:r>
              <a:rPr lang="en-US" sz="800" kern="0" spc="200" dirty="0">
                <a:solidFill>
                  <a:srgbClr val="FBE122"/>
                </a:solidFill>
                <a:latin typeface="Poppins SemiBold" pitchFamily="34" charset="0"/>
                <a:ea typeface="Poppins SemiBold" pitchFamily="34" charset="-122"/>
                <a:cs typeface="Poppins SemiBold" pitchFamily="34" charset="-120"/>
              </a:rPr>
              <a:t>KELOMPOK 4</a:t>
            </a:r>
            <a:endParaRPr lang="en-US" sz="800" dirty="0"/>
          </a:p>
        </p:txBody>
      </p:sp>
      <p:sp>
        <p:nvSpPr>
          <p:cNvPr id="15" name="Text 11"/>
          <p:cNvSpPr/>
          <p:nvPr/>
        </p:nvSpPr>
        <p:spPr>
          <a:xfrm>
            <a:off x="3931920" y="5669280"/>
            <a:ext cx="5303520" cy="640080"/>
          </a:xfrm>
          <a:prstGeom prst="rect">
            <a:avLst/>
          </a:prstGeom>
          <a:noFill/>
          <a:ln/>
        </p:spPr>
        <p:txBody>
          <a:bodyPr wrap="square" lIns="0" tIns="0" rIns="0" bIns="0" rtlCol="0" anchor="t"/>
          <a:lstStyle/>
          <a:p>
            <a:pPr marL="0" indent="0">
              <a:lnSpc>
                <a:spcPct val="115000"/>
              </a:lnSpc>
              <a:buNone/>
            </a:pPr>
            <a:r>
              <a:rPr lang="en-US" sz="1100" dirty="0">
                <a:solidFill>
                  <a:srgbClr val="FFFFFF"/>
                </a:solidFill>
                <a:latin typeface="Poppins Medium" pitchFamily="34" charset="0"/>
                <a:ea typeface="Poppins Medium" pitchFamily="34" charset="-122"/>
                <a:cs typeface="Poppins Medium" pitchFamily="34" charset="-120"/>
              </a:rPr>
              <a:t>Fitra Aidila  ·  Aulia Sisca Rahmadiyanti  ·  Bagaskoro</a:t>
            </a:r>
            <a:endParaRPr lang="en-US" sz="1100" dirty="0"/>
          </a:p>
          <a:p>
            <a:pPr marL="0" indent="0">
              <a:lnSpc>
                <a:spcPct val="115000"/>
              </a:lnSpc>
              <a:buNone/>
            </a:pPr>
            <a:r>
              <a:rPr lang="en-US" sz="1100" dirty="0">
                <a:solidFill>
                  <a:srgbClr val="FFFFFF"/>
                </a:solidFill>
                <a:latin typeface="Poppins Medium" pitchFamily="34" charset="0"/>
                <a:ea typeface="Poppins Medium" pitchFamily="34" charset="-122"/>
                <a:cs typeface="Poppins Medium" pitchFamily="34" charset="-120"/>
              </a:rPr>
              <a:t>Imam Prayudha  ·  Tegar Awanto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681228"/>
            <a:ext cx="292608" cy="54864"/>
          </a:xfrm>
          <a:prstGeom prst="rect">
            <a:avLst/>
          </a:prstGeom>
          <a:solidFill>
            <a:srgbClr val="C8102E"/>
          </a:solidFill>
          <a:ln w="12700">
            <a:solidFill>
              <a:srgbClr val="C8102E"/>
            </a:solidFill>
            <a:prstDash val="solid"/>
          </a:ln>
        </p:spPr>
      </p:sp>
      <p:sp>
        <p:nvSpPr>
          <p:cNvPr id="3" name="Text 1"/>
          <p:cNvSpPr/>
          <p:nvPr/>
        </p:nvSpPr>
        <p:spPr>
          <a:xfrm>
            <a:off x="932688" y="625094"/>
            <a:ext cx="10728655" cy="18288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ALUR PRESENTASI</a:t>
            </a:r>
            <a:endParaRPr lang="en-US" sz="950" dirty="0"/>
          </a:p>
        </p:txBody>
      </p:sp>
      <p:sp>
        <p:nvSpPr>
          <p:cNvPr id="4" name="Text 2"/>
          <p:cNvSpPr/>
          <p:nvPr/>
        </p:nvSpPr>
        <p:spPr>
          <a:xfrm>
            <a:off x="548640" y="90982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AGENDA</a:t>
            </a:r>
            <a:endParaRPr lang="en-US" sz="260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02</a:t>
            </a:r>
            <a:endParaRPr lang="en-US" sz="900" dirty="0"/>
          </a:p>
        </p:txBody>
      </p:sp>
      <p:sp>
        <p:nvSpPr>
          <p:cNvPr id="10" name="Shape 7"/>
          <p:cNvSpPr/>
          <p:nvPr/>
        </p:nvSpPr>
        <p:spPr>
          <a:xfrm>
            <a:off x="548640" y="1755648"/>
            <a:ext cx="6309360" cy="960120"/>
          </a:xfrm>
          <a:prstGeom prst="rect">
            <a:avLst/>
          </a:prstGeom>
          <a:solidFill>
            <a:srgbClr val="27161A"/>
          </a:solidFill>
          <a:ln w="12700">
            <a:solidFill>
              <a:srgbClr val="27161A"/>
            </a:solidFill>
            <a:prstDash val="solid"/>
          </a:ln>
        </p:spPr>
      </p:sp>
      <p:sp>
        <p:nvSpPr>
          <p:cNvPr id="11" name="Shape 8"/>
          <p:cNvSpPr/>
          <p:nvPr/>
        </p:nvSpPr>
        <p:spPr>
          <a:xfrm>
            <a:off x="548640" y="1755648"/>
            <a:ext cx="54864" cy="960120"/>
          </a:xfrm>
          <a:prstGeom prst="rect">
            <a:avLst/>
          </a:prstGeom>
          <a:solidFill>
            <a:srgbClr val="FBE122"/>
          </a:solidFill>
          <a:ln w="12700">
            <a:solidFill>
              <a:srgbClr val="FBE122"/>
            </a:solidFill>
            <a:prstDash val="solid"/>
          </a:ln>
        </p:spPr>
      </p:sp>
      <p:sp>
        <p:nvSpPr>
          <p:cNvPr id="12" name="Text 9"/>
          <p:cNvSpPr/>
          <p:nvPr/>
        </p:nvSpPr>
        <p:spPr>
          <a:xfrm>
            <a:off x="777240" y="1865376"/>
            <a:ext cx="1005840" cy="731520"/>
          </a:xfrm>
          <a:prstGeom prst="rect">
            <a:avLst/>
          </a:prstGeom>
          <a:noFill/>
          <a:ln/>
        </p:spPr>
        <p:txBody>
          <a:bodyPr wrap="square" lIns="0" tIns="0" rIns="0" bIns="0" rtlCol="0" anchor="ctr"/>
          <a:lstStyle/>
          <a:p>
            <a:pPr marL="0" indent="0">
              <a:buNone/>
            </a:pPr>
            <a:r>
              <a:rPr lang="en-US" sz="3000" dirty="0">
                <a:solidFill>
                  <a:srgbClr val="FBE122"/>
                </a:solidFill>
                <a:latin typeface="Poppins ExtraBold" pitchFamily="34" charset="0"/>
                <a:ea typeface="Poppins ExtraBold" pitchFamily="34" charset="-122"/>
                <a:cs typeface="Poppins ExtraBold" pitchFamily="34" charset="-120"/>
              </a:rPr>
              <a:t>01</a:t>
            </a:r>
            <a:endParaRPr lang="en-US" sz="3000" dirty="0"/>
          </a:p>
        </p:txBody>
      </p:sp>
      <p:sp>
        <p:nvSpPr>
          <p:cNvPr id="13" name="Text 10"/>
          <p:cNvSpPr/>
          <p:nvPr/>
        </p:nvSpPr>
        <p:spPr>
          <a:xfrm>
            <a:off x="1828800" y="1951770"/>
            <a:ext cx="4297680" cy="274320"/>
          </a:xfrm>
          <a:prstGeom prst="rect">
            <a:avLst/>
          </a:prstGeom>
          <a:noFill/>
          <a:ln/>
        </p:spPr>
        <p:txBody>
          <a:bodyPr wrap="square" lIns="0" tIns="0" rIns="0" bIns="0" rtlCol="0" anchor="t"/>
          <a:lstStyle/>
          <a:p>
            <a:pPr marL="0" indent="0">
              <a:buNone/>
            </a:pPr>
            <a:r>
              <a:rPr lang="en-US" sz="1250" dirty="0">
                <a:solidFill>
                  <a:srgbClr val="FFFFFF"/>
                </a:solidFill>
                <a:latin typeface="Poppins SemiBold" pitchFamily="34" charset="0"/>
                <a:ea typeface="Poppins SemiBold" pitchFamily="34" charset="-122"/>
                <a:cs typeface="Poppins SemiBold" pitchFamily="34" charset="-120"/>
              </a:rPr>
              <a:t>Framework Chapter 4</a:t>
            </a:r>
            <a:endParaRPr lang="en-US" sz="1250" dirty="0"/>
          </a:p>
        </p:txBody>
      </p:sp>
      <p:sp>
        <p:nvSpPr>
          <p:cNvPr id="15" name="Text 12"/>
          <p:cNvSpPr/>
          <p:nvPr/>
        </p:nvSpPr>
        <p:spPr>
          <a:xfrm>
            <a:off x="1828800" y="2221687"/>
            <a:ext cx="4297680" cy="384048"/>
          </a:xfrm>
          <a:prstGeom prst="rect">
            <a:avLst/>
          </a:prstGeom>
          <a:noFill/>
          <a:ln/>
        </p:spPr>
        <p:txBody>
          <a:bodyPr wrap="square" lIns="0" tIns="0" rIns="0" bIns="0" rtlCol="0" anchor="t"/>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Enam pertanyaan analisis internal dan alat untuk menjawabnya: Table 4.1, SWOT, VRIN Test, Value Chain, Competitive Strength Assessment, Priority List.</a:t>
            </a:r>
            <a:endParaRPr lang="en-US" sz="850" dirty="0"/>
          </a:p>
        </p:txBody>
      </p:sp>
      <p:sp>
        <p:nvSpPr>
          <p:cNvPr id="16" name="Shape 13"/>
          <p:cNvSpPr/>
          <p:nvPr/>
        </p:nvSpPr>
        <p:spPr>
          <a:xfrm>
            <a:off x="548640" y="2825496"/>
            <a:ext cx="6309360" cy="960120"/>
          </a:xfrm>
          <a:prstGeom prst="rect">
            <a:avLst/>
          </a:prstGeom>
          <a:solidFill>
            <a:srgbClr val="32191E"/>
          </a:solidFill>
          <a:ln w="12700">
            <a:solidFill>
              <a:srgbClr val="32191E"/>
            </a:solidFill>
            <a:prstDash val="solid"/>
          </a:ln>
        </p:spPr>
      </p:sp>
      <p:sp>
        <p:nvSpPr>
          <p:cNvPr id="17" name="Shape 14"/>
          <p:cNvSpPr/>
          <p:nvPr/>
        </p:nvSpPr>
        <p:spPr>
          <a:xfrm>
            <a:off x="548640" y="2825496"/>
            <a:ext cx="54864" cy="960120"/>
          </a:xfrm>
          <a:prstGeom prst="rect">
            <a:avLst/>
          </a:prstGeom>
          <a:solidFill>
            <a:srgbClr val="C8102E"/>
          </a:solidFill>
          <a:ln w="12700">
            <a:solidFill>
              <a:srgbClr val="C8102E"/>
            </a:solidFill>
            <a:prstDash val="solid"/>
          </a:ln>
        </p:spPr>
      </p:sp>
      <p:sp>
        <p:nvSpPr>
          <p:cNvPr id="18" name="Text 15"/>
          <p:cNvSpPr/>
          <p:nvPr/>
        </p:nvSpPr>
        <p:spPr>
          <a:xfrm>
            <a:off x="777240" y="2935224"/>
            <a:ext cx="1005840" cy="731520"/>
          </a:xfrm>
          <a:prstGeom prst="rect">
            <a:avLst/>
          </a:prstGeom>
          <a:noFill/>
          <a:ln/>
        </p:spPr>
        <p:txBody>
          <a:bodyPr wrap="square" lIns="0" tIns="0" rIns="0" bIns="0" rtlCol="0" anchor="ctr"/>
          <a:lstStyle/>
          <a:p>
            <a:pPr marL="0" indent="0">
              <a:buNone/>
            </a:pPr>
            <a:r>
              <a:rPr lang="en-US" sz="3000" dirty="0">
                <a:solidFill>
                  <a:srgbClr val="C8102E"/>
                </a:solidFill>
                <a:latin typeface="Poppins ExtraBold" pitchFamily="34" charset="0"/>
                <a:ea typeface="Poppins ExtraBold" pitchFamily="34" charset="-122"/>
                <a:cs typeface="Poppins ExtraBold" pitchFamily="34" charset="-120"/>
              </a:rPr>
              <a:t>02</a:t>
            </a:r>
            <a:endParaRPr lang="en-US" sz="3000" dirty="0"/>
          </a:p>
        </p:txBody>
      </p:sp>
      <p:sp>
        <p:nvSpPr>
          <p:cNvPr id="19" name="Text 16"/>
          <p:cNvSpPr/>
          <p:nvPr/>
        </p:nvSpPr>
        <p:spPr>
          <a:xfrm>
            <a:off x="1828800" y="3012948"/>
            <a:ext cx="4297680" cy="274320"/>
          </a:xfrm>
          <a:prstGeom prst="rect">
            <a:avLst/>
          </a:prstGeom>
          <a:noFill/>
          <a:ln/>
        </p:spPr>
        <p:txBody>
          <a:bodyPr wrap="square" lIns="0" tIns="0" rIns="0" bIns="0" rtlCol="0" anchor="t"/>
          <a:lstStyle/>
          <a:p>
            <a:pPr marL="0" indent="0">
              <a:buNone/>
            </a:pPr>
            <a:r>
              <a:rPr lang="en-US" sz="1250" dirty="0">
                <a:solidFill>
                  <a:srgbClr val="FFFFFF"/>
                </a:solidFill>
                <a:latin typeface="Poppins SemiBold" pitchFamily="34" charset="0"/>
                <a:ea typeface="Poppins SemiBold" pitchFamily="34" charset="-122"/>
                <a:cs typeface="Poppins SemiBold" pitchFamily="34" charset="-120"/>
              </a:rPr>
              <a:t>Penerapan pada Manchester United</a:t>
            </a:r>
            <a:endParaRPr lang="en-US" sz="1250" dirty="0"/>
          </a:p>
        </p:txBody>
      </p:sp>
      <p:sp>
        <p:nvSpPr>
          <p:cNvPr id="21" name="Text 18"/>
          <p:cNvSpPr/>
          <p:nvPr/>
        </p:nvSpPr>
        <p:spPr>
          <a:xfrm>
            <a:off x="1828800" y="3319272"/>
            <a:ext cx="4297680" cy="384048"/>
          </a:xfrm>
          <a:prstGeom prst="rect">
            <a:avLst/>
          </a:prstGeom>
          <a:noFill/>
          <a:ln/>
        </p:spPr>
        <p:txBody>
          <a:bodyPr wrap="square" lIns="0" tIns="0" rIns="0" bIns="0" rtlCol="0" anchor="t"/>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Kinerja, SWOT, resource dan capability, VRIN Test, Value Chain, Benchmarking, dan Competitive Strength Assessment MU pada Juli 2009.</a:t>
            </a:r>
            <a:endParaRPr lang="en-US" sz="850" dirty="0"/>
          </a:p>
        </p:txBody>
      </p:sp>
      <p:sp>
        <p:nvSpPr>
          <p:cNvPr id="22" name="Shape 19"/>
          <p:cNvSpPr/>
          <p:nvPr/>
        </p:nvSpPr>
        <p:spPr>
          <a:xfrm>
            <a:off x="548640" y="3895344"/>
            <a:ext cx="6309360" cy="960120"/>
          </a:xfrm>
          <a:prstGeom prst="rect">
            <a:avLst/>
          </a:prstGeom>
          <a:solidFill>
            <a:srgbClr val="27161A"/>
          </a:solidFill>
          <a:ln w="12700">
            <a:solidFill>
              <a:srgbClr val="27161A"/>
            </a:solidFill>
            <a:prstDash val="solid"/>
          </a:ln>
        </p:spPr>
      </p:sp>
      <p:sp>
        <p:nvSpPr>
          <p:cNvPr id="23" name="Shape 20"/>
          <p:cNvSpPr/>
          <p:nvPr/>
        </p:nvSpPr>
        <p:spPr>
          <a:xfrm>
            <a:off x="548640" y="3895344"/>
            <a:ext cx="54864" cy="960120"/>
          </a:xfrm>
          <a:prstGeom prst="rect">
            <a:avLst/>
          </a:prstGeom>
          <a:solidFill>
            <a:srgbClr val="C8102E"/>
          </a:solidFill>
          <a:ln w="12700">
            <a:solidFill>
              <a:srgbClr val="C8102E"/>
            </a:solidFill>
            <a:prstDash val="solid"/>
          </a:ln>
        </p:spPr>
      </p:sp>
      <p:sp>
        <p:nvSpPr>
          <p:cNvPr id="24" name="Text 21"/>
          <p:cNvSpPr/>
          <p:nvPr/>
        </p:nvSpPr>
        <p:spPr>
          <a:xfrm>
            <a:off x="777240" y="4005072"/>
            <a:ext cx="1005840" cy="731520"/>
          </a:xfrm>
          <a:prstGeom prst="rect">
            <a:avLst/>
          </a:prstGeom>
          <a:noFill/>
          <a:ln/>
        </p:spPr>
        <p:txBody>
          <a:bodyPr wrap="square" lIns="0" tIns="0" rIns="0" bIns="0" rtlCol="0" anchor="ctr"/>
          <a:lstStyle/>
          <a:p>
            <a:pPr marL="0" indent="0">
              <a:buNone/>
            </a:pPr>
            <a:r>
              <a:rPr lang="en-US" sz="3000" dirty="0">
                <a:solidFill>
                  <a:srgbClr val="C8102E"/>
                </a:solidFill>
                <a:latin typeface="Poppins ExtraBold" pitchFamily="34" charset="0"/>
                <a:ea typeface="Poppins ExtraBold" pitchFamily="34" charset="-122"/>
                <a:cs typeface="Poppins ExtraBold" pitchFamily="34" charset="-120"/>
              </a:rPr>
              <a:t>03</a:t>
            </a:r>
            <a:endParaRPr lang="en-US" sz="3000" dirty="0"/>
          </a:p>
        </p:txBody>
      </p:sp>
      <p:sp>
        <p:nvSpPr>
          <p:cNvPr id="25" name="Text 22"/>
          <p:cNvSpPr/>
          <p:nvPr/>
        </p:nvSpPr>
        <p:spPr>
          <a:xfrm>
            <a:off x="1828800" y="4100136"/>
            <a:ext cx="4297680" cy="274320"/>
          </a:xfrm>
          <a:prstGeom prst="rect">
            <a:avLst/>
          </a:prstGeom>
          <a:noFill/>
          <a:ln/>
        </p:spPr>
        <p:txBody>
          <a:bodyPr wrap="square" lIns="0" tIns="0" rIns="0" bIns="0" rtlCol="0" anchor="t"/>
          <a:lstStyle/>
          <a:p>
            <a:pPr marL="0" indent="0">
              <a:buNone/>
            </a:pPr>
            <a:r>
              <a:rPr lang="en-US" sz="1250" dirty="0">
                <a:solidFill>
                  <a:srgbClr val="FFFFFF"/>
                </a:solidFill>
                <a:latin typeface="Poppins SemiBold" pitchFamily="34" charset="0"/>
                <a:ea typeface="Poppins SemiBold" pitchFamily="34" charset="-122"/>
                <a:cs typeface="Poppins SemiBold" pitchFamily="34" charset="-120"/>
              </a:rPr>
              <a:t>Priority List</a:t>
            </a:r>
            <a:endParaRPr lang="en-US" sz="1250" dirty="0"/>
          </a:p>
        </p:txBody>
      </p:sp>
      <p:sp>
        <p:nvSpPr>
          <p:cNvPr id="27" name="Text 24"/>
          <p:cNvSpPr/>
          <p:nvPr/>
        </p:nvSpPr>
        <p:spPr>
          <a:xfrm>
            <a:off x="1828800" y="4391491"/>
            <a:ext cx="4297680" cy="384048"/>
          </a:xfrm>
          <a:prstGeom prst="rect">
            <a:avLst/>
          </a:prstGeom>
          <a:noFill/>
          <a:ln/>
        </p:spPr>
        <p:txBody>
          <a:bodyPr wrap="square" lIns="0" tIns="0" rIns="0" bIns="0" rtlCol="0" anchor="t"/>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Enam isu yang harus ditangani David Gill, ditulis </a:t>
            </a:r>
            <a:r>
              <a:rPr lang="en-US" sz="850" dirty="0" err="1">
                <a:solidFill>
                  <a:srgbClr val="D9CFC7"/>
                </a:solidFill>
                <a:latin typeface="Poppins" pitchFamily="34" charset="0"/>
                <a:ea typeface="Poppins" pitchFamily="34" charset="-122"/>
                <a:cs typeface="Poppins" pitchFamily="34" charset="-120"/>
              </a:rPr>
              <a:t>sebagai</a:t>
            </a:r>
            <a:r>
              <a:rPr lang="en-US" sz="850" dirty="0">
                <a:solidFill>
                  <a:srgbClr val="D9CFC7"/>
                </a:solidFill>
                <a:latin typeface="Poppins" pitchFamily="34" charset="0"/>
                <a:ea typeface="Poppins" pitchFamily="34" charset="-122"/>
                <a:cs typeface="Poppins" pitchFamily="34" charset="-120"/>
              </a:rPr>
              <a:t> </a:t>
            </a:r>
            <a:r>
              <a:rPr lang="en-US" sz="850" dirty="0" err="1">
                <a:solidFill>
                  <a:srgbClr val="D9CFC7"/>
                </a:solidFill>
                <a:latin typeface="Poppins" pitchFamily="34" charset="0"/>
                <a:ea typeface="Poppins" pitchFamily="34" charset="-122"/>
                <a:cs typeface="Poppins" pitchFamily="34" charset="-120"/>
              </a:rPr>
              <a:t>pertanyaan</a:t>
            </a:r>
            <a:endParaRPr lang="en-US" sz="850" dirty="0"/>
          </a:p>
        </p:txBody>
      </p:sp>
      <p:sp>
        <p:nvSpPr>
          <p:cNvPr id="28" name="Shape 25"/>
          <p:cNvSpPr/>
          <p:nvPr/>
        </p:nvSpPr>
        <p:spPr>
          <a:xfrm>
            <a:off x="548640" y="4965192"/>
            <a:ext cx="6309360" cy="960120"/>
          </a:xfrm>
          <a:prstGeom prst="rect">
            <a:avLst/>
          </a:prstGeom>
          <a:solidFill>
            <a:srgbClr val="32191E"/>
          </a:solidFill>
          <a:ln w="12700">
            <a:solidFill>
              <a:srgbClr val="32191E"/>
            </a:solidFill>
            <a:prstDash val="solid"/>
          </a:ln>
        </p:spPr>
      </p:sp>
      <p:sp>
        <p:nvSpPr>
          <p:cNvPr id="29" name="Shape 26"/>
          <p:cNvSpPr/>
          <p:nvPr/>
        </p:nvSpPr>
        <p:spPr>
          <a:xfrm>
            <a:off x="548640" y="4965192"/>
            <a:ext cx="54864" cy="960120"/>
          </a:xfrm>
          <a:prstGeom prst="rect">
            <a:avLst/>
          </a:prstGeom>
          <a:solidFill>
            <a:srgbClr val="C8102E"/>
          </a:solidFill>
          <a:ln w="12700">
            <a:solidFill>
              <a:srgbClr val="C8102E"/>
            </a:solidFill>
            <a:prstDash val="solid"/>
          </a:ln>
        </p:spPr>
      </p:sp>
      <p:sp>
        <p:nvSpPr>
          <p:cNvPr id="30" name="Text 27"/>
          <p:cNvSpPr/>
          <p:nvPr/>
        </p:nvSpPr>
        <p:spPr>
          <a:xfrm>
            <a:off x="777240" y="5074920"/>
            <a:ext cx="1005840" cy="731520"/>
          </a:xfrm>
          <a:prstGeom prst="rect">
            <a:avLst/>
          </a:prstGeom>
          <a:noFill/>
          <a:ln/>
        </p:spPr>
        <p:txBody>
          <a:bodyPr wrap="square" lIns="0" tIns="0" rIns="0" bIns="0" rtlCol="0" anchor="ctr"/>
          <a:lstStyle/>
          <a:p>
            <a:pPr marL="0" indent="0">
              <a:buNone/>
            </a:pPr>
            <a:r>
              <a:rPr lang="en-US" sz="3000" dirty="0">
                <a:solidFill>
                  <a:srgbClr val="C8102E"/>
                </a:solidFill>
                <a:latin typeface="Poppins ExtraBold" pitchFamily="34" charset="0"/>
                <a:ea typeface="Poppins ExtraBold" pitchFamily="34" charset="-122"/>
                <a:cs typeface="Poppins ExtraBold" pitchFamily="34" charset="-120"/>
              </a:rPr>
              <a:t>04</a:t>
            </a:r>
            <a:endParaRPr lang="en-US" sz="3000" dirty="0"/>
          </a:p>
        </p:txBody>
      </p:sp>
      <p:sp>
        <p:nvSpPr>
          <p:cNvPr id="31" name="Text 28"/>
          <p:cNvSpPr/>
          <p:nvPr/>
        </p:nvSpPr>
        <p:spPr>
          <a:xfrm>
            <a:off x="1828800" y="5312664"/>
            <a:ext cx="4297680" cy="274320"/>
          </a:xfrm>
          <a:prstGeom prst="rect">
            <a:avLst/>
          </a:prstGeom>
          <a:noFill/>
          <a:ln/>
        </p:spPr>
        <p:txBody>
          <a:bodyPr wrap="square" lIns="0" tIns="0" rIns="0" bIns="0" rtlCol="0" anchor="t"/>
          <a:lstStyle/>
          <a:p>
            <a:pPr marL="0" indent="0">
              <a:buNone/>
            </a:pPr>
            <a:r>
              <a:rPr lang="en-US" sz="1250" dirty="0">
                <a:solidFill>
                  <a:srgbClr val="FFFFFF"/>
                </a:solidFill>
                <a:latin typeface="Poppins SemiBold" pitchFamily="34" charset="0"/>
                <a:ea typeface="Poppins SemiBold" pitchFamily="34" charset="-122"/>
                <a:cs typeface="Poppins SemiBold" pitchFamily="34" charset="-120"/>
              </a:rPr>
              <a:t>Diskusi</a:t>
            </a:r>
            <a:endParaRPr lang="en-US" sz="1250" dirty="0"/>
          </a:p>
        </p:txBody>
      </p:sp>
      <p:pic>
        <p:nvPicPr>
          <p:cNvPr id="34" name="Image 0" descr="manager.jpg"/>
          <p:cNvPicPr>
            <a:picLocks noChangeAspect="1"/>
          </p:cNvPicPr>
          <p:nvPr/>
        </p:nvPicPr>
        <p:blipFill>
          <a:blip r:embed="rId3"/>
          <a:stretch>
            <a:fillRect/>
          </a:stretch>
        </p:blipFill>
        <p:spPr>
          <a:xfrm>
            <a:off x="7132320" y="1755648"/>
            <a:ext cx="4510735" cy="3007157"/>
          </a:xfrm>
          <a:prstGeom prst="rect">
            <a:avLst/>
          </a:prstGeom>
        </p:spPr>
      </p:pic>
      <p:sp>
        <p:nvSpPr>
          <p:cNvPr id="35" name="Shape 31"/>
          <p:cNvSpPr/>
          <p:nvPr/>
        </p:nvSpPr>
        <p:spPr>
          <a:xfrm>
            <a:off x="7132320" y="4762805"/>
            <a:ext cx="4510735" cy="54864"/>
          </a:xfrm>
          <a:prstGeom prst="rect">
            <a:avLst/>
          </a:prstGeom>
          <a:solidFill>
            <a:srgbClr val="C8102E"/>
          </a:solidFill>
          <a:ln w="12700">
            <a:solidFill>
              <a:srgbClr val="C8102E"/>
            </a:solidFill>
            <a:prstDash val="solid"/>
          </a:ln>
        </p:spPr>
      </p:sp>
      <p:sp>
        <p:nvSpPr>
          <p:cNvPr id="36" name="Text 32"/>
          <p:cNvSpPr/>
          <p:nvPr/>
        </p:nvSpPr>
        <p:spPr>
          <a:xfrm>
            <a:off x="7132320" y="4927397"/>
            <a:ext cx="4510735" cy="640080"/>
          </a:xfrm>
          <a:prstGeom prst="rect">
            <a:avLst/>
          </a:prstGeom>
          <a:noFill/>
          <a:ln/>
        </p:spPr>
        <p:txBody>
          <a:bodyPr wrap="square" lIns="0" tIns="0" rIns="0" bIns="0" rtlCol="0" anchor="t"/>
          <a:lstStyle/>
          <a:p>
            <a:pPr marL="0" indent="0">
              <a:lnSpc>
                <a:spcPct val="108000"/>
              </a:lnSpc>
              <a:buNone/>
            </a:pPr>
            <a:r>
              <a:rPr lang="en-US" sz="900" dirty="0">
                <a:solidFill>
                  <a:srgbClr val="D9CFC7"/>
                </a:solidFill>
                <a:latin typeface="Poppins" pitchFamily="34" charset="0"/>
                <a:ea typeface="Poppins" pitchFamily="34" charset="-122"/>
                <a:cs typeface="Poppins" pitchFamily="34" charset="-120"/>
              </a:rPr>
              <a:t>Juli 2009. Ferguson masih di pinggir lapangan. Pertanyaannya: aset mana yang milik klub, dan aset mana yang milik satu orang?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39" y="660437"/>
            <a:ext cx="292608" cy="54864"/>
          </a:xfrm>
          <a:prstGeom prst="rect">
            <a:avLst/>
          </a:prstGeom>
          <a:solidFill>
            <a:srgbClr val="C8102E"/>
          </a:solidFill>
          <a:ln w="12700">
            <a:solidFill>
              <a:srgbClr val="C8102E"/>
            </a:solidFill>
            <a:prstDash val="solid"/>
          </a:ln>
        </p:spPr>
      </p:sp>
      <p:sp>
        <p:nvSpPr>
          <p:cNvPr id="3" name="Text 1"/>
          <p:cNvSpPr/>
          <p:nvPr/>
        </p:nvSpPr>
        <p:spPr>
          <a:xfrm>
            <a:off x="993647" y="609710"/>
            <a:ext cx="10728655" cy="192459"/>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BAGIAN 1  ·  FRAMEWORK CHAPTER 4</a:t>
            </a:r>
            <a:endParaRPr lang="en-US" sz="950" dirty="0"/>
          </a:p>
        </p:txBody>
      </p:sp>
      <p:sp>
        <p:nvSpPr>
          <p:cNvPr id="4" name="Text 2"/>
          <p:cNvSpPr/>
          <p:nvPr/>
        </p:nvSpPr>
        <p:spPr>
          <a:xfrm>
            <a:off x="548639" y="889037"/>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ENAM PERTANYAAN</a:t>
            </a:r>
            <a:endParaRPr lang="en-US" sz="260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03</a:t>
            </a:r>
            <a:endParaRPr lang="en-US" sz="900" dirty="0"/>
          </a:p>
        </p:txBody>
      </p:sp>
      <p:pic>
        <p:nvPicPr>
          <p:cNvPr id="10" name="Image 0" descr="strip.jpg"/>
          <p:cNvPicPr>
            <a:picLocks noChangeAspect="1"/>
          </p:cNvPicPr>
          <p:nvPr/>
        </p:nvPicPr>
        <p:blipFill>
          <a:blip r:embed="rId3"/>
          <a:stretch>
            <a:fillRect/>
          </a:stretch>
        </p:blipFill>
        <p:spPr>
          <a:xfrm>
            <a:off x="9438288" y="1755648"/>
            <a:ext cx="2204767" cy="3950208"/>
          </a:xfrm>
          <a:prstGeom prst="rect">
            <a:avLst/>
          </a:prstGeom>
        </p:spPr>
      </p:pic>
      <p:sp>
        <p:nvSpPr>
          <p:cNvPr id="11" name="Shape 7"/>
          <p:cNvSpPr/>
          <p:nvPr/>
        </p:nvSpPr>
        <p:spPr>
          <a:xfrm>
            <a:off x="548640" y="1755648"/>
            <a:ext cx="2719376" cy="1874520"/>
          </a:xfrm>
          <a:prstGeom prst="rect">
            <a:avLst/>
          </a:prstGeom>
          <a:solidFill>
            <a:srgbClr val="27161A"/>
          </a:solidFill>
          <a:ln w="12700">
            <a:solidFill>
              <a:srgbClr val="27161A"/>
            </a:solidFill>
            <a:prstDash val="solid"/>
          </a:ln>
        </p:spPr>
      </p:sp>
      <p:sp>
        <p:nvSpPr>
          <p:cNvPr id="12" name="Shape 8"/>
          <p:cNvSpPr/>
          <p:nvPr/>
        </p:nvSpPr>
        <p:spPr>
          <a:xfrm>
            <a:off x="548640" y="1755648"/>
            <a:ext cx="2719376" cy="54864"/>
          </a:xfrm>
          <a:prstGeom prst="rect">
            <a:avLst/>
          </a:prstGeom>
          <a:solidFill>
            <a:srgbClr val="C8102E"/>
          </a:solidFill>
          <a:ln w="12700">
            <a:solidFill>
              <a:srgbClr val="C8102E"/>
            </a:solidFill>
            <a:prstDash val="solid"/>
          </a:ln>
        </p:spPr>
      </p:sp>
      <p:sp>
        <p:nvSpPr>
          <p:cNvPr id="13" name="Text 9"/>
          <p:cNvSpPr/>
          <p:nvPr/>
        </p:nvSpPr>
        <p:spPr>
          <a:xfrm>
            <a:off x="749808" y="1865376"/>
            <a:ext cx="914400" cy="594360"/>
          </a:xfrm>
          <a:prstGeom prst="rect">
            <a:avLst/>
          </a:prstGeom>
          <a:noFill/>
          <a:ln/>
        </p:spPr>
        <p:txBody>
          <a:bodyPr wrap="square" lIns="0" tIns="0" rIns="0" bIns="0" rtlCol="0" anchor="t"/>
          <a:lstStyle/>
          <a:p>
            <a:pPr marL="0" indent="0">
              <a:buNone/>
            </a:pPr>
            <a:r>
              <a:rPr lang="en-US" sz="3000" dirty="0">
                <a:solidFill>
                  <a:srgbClr val="C8102E"/>
                </a:solidFill>
                <a:latin typeface="Poppins ExtraBold" pitchFamily="34" charset="0"/>
                <a:ea typeface="Poppins ExtraBold" pitchFamily="34" charset="-122"/>
                <a:cs typeface="Poppins ExtraBold" pitchFamily="34" charset="-120"/>
              </a:rPr>
              <a:t>1</a:t>
            </a:r>
            <a:endParaRPr lang="en-US" sz="3000" dirty="0"/>
          </a:p>
        </p:txBody>
      </p:sp>
      <p:sp>
        <p:nvSpPr>
          <p:cNvPr id="14" name="Text 10"/>
          <p:cNvSpPr/>
          <p:nvPr/>
        </p:nvSpPr>
        <p:spPr>
          <a:xfrm>
            <a:off x="749808" y="2487168"/>
            <a:ext cx="2353616" cy="731520"/>
          </a:xfrm>
          <a:prstGeom prst="rect">
            <a:avLst/>
          </a:prstGeom>
          <a:noFill/>
          <a:ln/>
        </p:spPr>
        <p:txBody>
          <a:bodyPr wrap="square" lIns="0" tIns="0" rIns="0" bIns="0" rtlCol="0" anchor="t"/>
          <a:lstStyle/>
          <a:p>
            <a:pPr marL="0" indent="0">
              <a:lnSpc>
                <a:spcPct val="100000"/>
              </a:lnSpc>
              <a:buNone/>
            </a:pPr>
            <a:r>
              <a:rPr lang="en-US" sz="1100" dirty="0">
                <a:solidFill>
                  <a:srgbClr val="FFFFFF"/>
                </a:solidFill>
                <a:latin typeface="Poppins SemiBold" pitchFamily="34" charset="0"/>
                <a:ea typeface="Poppins SemiBold" pitchFamily="34" charset="-122"/>
                <a:cs typeface="Poppins SemiBold" pitchFamily="34" charset="-120"/>
              </a:rPr>
              <a:t>Seberapa baik strategi yang sekarang bekerja?</a:t>
            </a:r>
            <a:endParaRPr lang="en-US" sz="1100" dirty="0"/>
          </a:p>
        </p:txBody>
      </p:sp>
      <p:sp>
        <p:nvSpPr>
          <p:cNvPr id="15" name="Text 11"/>
          <p:cNvSpPr/>
          <p:nvPr/>
        </p:nvSpPr>
        <p:spPr>
          <a:xfrm>
            <a:off x="749808" y="3246120"/>
            <a:ext cx="2353616" cy="274320"/>
          </a:xfrm>
          <a:prstGeom prst="rect">
            <a:avLst/>
          </a:prstGeom>
          <a:noFill/>
          <a:ln/>
        </p:spPr>
        <p:txBody>
          <a:bodyPr wrap="square" lIns="0" tIns="0" rIns="0" bIns="0" rtlCol="0" anchor="t"/>
          <a:lstStyle/>
          <a:p>
            <a:pPr marL="0" indent="0">
              <a:buNone/>
            </a:pPr>
            <a:r>
              <a:rPr lang="en-US" sz="850" dirty="0">
                <a:solidFill>
                  <a:srgbClr val="FBE122"/>
                </a:solidFill>
                <a:latin typeface="Poppins Medium" pitchFamily="34" charset="0"/>
                <a:ea typeface="Poppins Medium" pitchFamily="34" charset="-122"/>
                <a:cs typeface="Poppins Medium" pitchFamily="34" charset="-120"/>
              </a:rPr>
              <a:t>Performance indicators + Table 4.1</a:t>
            </a:r>
            <a:endParaRPr lang="en-US" sz="850" dirty="0"/>
          </a:p>
        </p:txBody>
      </p:sp>
      <p:sp>
        <p:nvSpPr>
          <p:cNvPr id="16" name="Shape 12"/>
          <p:cNvSpPr/>
          <p:nvPr/>
        </p:nvSpPr>
        <p:spPr>
          <a:xfrm>
            <a:off x="3496616" y="1755648"/>
            <a:ext cx="2719376" cy="1874520"/>
          </a:xfrm>
          <a:prstGeom prst="rect">
            <a:avLst/>
          </a:prstGeom>
          <a:solidFill>
            <a:srgbClr val="27161A"/>
          </a:solidFill>
          <a:ln w="12700">
            <a:solidFill>
              <a:srgbClr val="27161A"/>
            </a:solidFill>
            <a:prstDash val="solid"/>
          </a:ln>
        </p:spPr>
      </p:sp>
      <p:sp>
        <p:nvSpPr>
          <p:cNvPr id="17" name="Shape 13"/>
          <p:cNvSpPr/>
          <p:nvPr/>
        </p:nvSpPr>
        <p:spPr>
          <a:xfrm>
            <a:off x="3496616" y="1755648"/>
            <a:ext cx="2719376" cy="54864"/>
          </a:xfrm>
          <a:prstGeom prst="rect">
            <a:avLst/>
          </a:prstGeom>
          <a:solidFill>
            <a:srgbClr val="C8102E"/>
          </a:solidFill>
          <a:ln w="12700">
            <a:solidFill>
              <a:srgbClr val="C8102E"/>
            </a:solidFill>
            <a:prstDash val="solid"/>
          </a:ln>
        </p:spPr>
      </p:sp>
      <p:sp>
        <p:nvSpPr>
          <p:cNvPr id="18" name="Text 14"/>
          <p:cNvSpPr/>
          <p:nvPr/>
        </p:nvSpPr>
        <p:spPr>
          <a:xfrm>
            <a:off x="3697784" y="1865376"/>
            <a:ext cx="914400" cy="594360"/>
          </a:xfrm>
          <a:prstGeom prst="rect">
            <a:avLst/>
          </a:prstGeom>
          <a:noFill/>
          <a:ln/>
        </p:spPr>
        <p:txBody>
          <a:bodyPr wrap="square" lIns="0" tIns="0" rIns="0" bIns="0" rtlCol="0" anchor="t"/>
          <a:lstStyle/>
          <a:p>
            <a:pPr marL="0" indent="0">
              <a:buNone/>
            </a:pPr>
            <a:r>
              <a:rPr lang="en-US" sz="3000" dirty="0">
                <a:solidFill>
                  <a:srgbClr val="C8102E"/>
                </a:solidFill>
                <a:latin typeface="Poppins ExtraBold" pitchFamily="34" charset="0"/>
                <a:ea typeface="Poppins ExtraBold" pitchFamily="34" charset="-122"/>
                <a:cs typeface="Poppins ExtraBold" pitchFamily="34" charset="-120"/>
              </a:rPr>
              <a:t>2</a:t>
            </a:r>
            <a:endParaRPr lang="en-US" sz="3000" dirty="0"/>
          </a:p>
        </p:txBody>
      </p:sp>
      <p:sp>
        <p:nvSpPr>
          <p:cNvPr id="19" name="Text 15"/>
          <p:cNvSpPr/>
          <p:nvPr/>
        </p:nvSpPr>
        <p:spPr>
          <a:xfrm>
            <a:off x="3697784" y="2487168"/>
            <a:ext cx="2353616" cy="731520"/>
          </a:xfrm>
          <a:prstGeom prst="rect">
            <a:avLst/>
          </a:prstGeom>
          <a:noFill/>
          <a:ln/>
        </p:spPr>
        <p:txBody>
          <a:bodyPr wrap="square" lIns="0" tIns="0" rIns="0" bIns="0" rtlCol="0" anchor="t"/>
          <a:lstStyle/>
          <a:p>
            <a:pPr marL="0" indent="0">
              <a:lnSpc>
                <a:spcPct val="100000"/>
              </a:lnSpc>
              <a:buNone/>
            </a:pPr>
            <a:r>
              <a:rPr lang="en-US" sz="1100" dirty="0">
                <a:solidFill>
                  <a:srgbClr val="FFFFFF"/>
                </a:solidFill>
                <a:latin typeface="Poppins SemiBold" pitchFamily="34" charset="0"/>
                <a:ea typeface="Poppins SemiBold" pitchFamily="34" charset="-122"/>
                <a:cs typeface="Poppins SemiBold" pitchFamily="34" charset="-120"/>
              </a:rPr>
              <a:t>Apa kekuatan dan kelemahan kita, dihadapkan pada peluang dan ancaman?</a:t>
            </a:r>
            <a:endParaRPr lang="en-US" sz="1100" dirty="0"/>
          </a:p>
        </p:txBody>
      </p:sp>
      <p:sp>
        <p:nvSpPr>
          <p:cNvPr id="20" name="Text 16"/>
          <p:cNvSpPr/>
          <p:nvPr/>
        </p:nvSpPr>
        <p:spPr>
          <a:xfrm>
            <a:off x="3697784" y="3246120"/>
            <a:ext cx="2353616" cy="274320"/>
          </a:xfrm>
          <a:prstGeom prst="rect">
            <a:avLst/>
          </a:prstGeom>
          <a:noFill/>
          <a:ln/>
        </p:spPr>
        <p:txBody>
          <a:bodyPr wrap="square" lIns="0" tIns="0" rIns="0" bIns="0" rtlCol="0" anchor="t"/>
          <a:lstStyle/>
          <a:p>
            <a:pPr marL="0" indent="0">
              <a:buNone/>
            </a:pPr>
            <a:r>
              <a:rPr lang="en-US" sz="850" dirty="0">
                <a:solidFill>
                  <a:srgbClr val="FBE122"/>
                </a:solidFill>
                <a:latin typeface="Poppins Medium" pitchFamily="34" charset="0"/>
                <a:ea typeface="Poppins Medium" pitchFamily="34" charset="-122"/>
                <a:cs typeface="Poppins Medium" pitchFamily="34" charset="-120"/>
              </a:rPr>
              <a:t>SWOT Analysis</a:t>
            </a:r>
            <a:endParaRPr lang="en-US" sz="850" dirty="0"/>
          </a:p>
        </p:txBody>
      </p:sp>
      <p:sp>
        <p:nvSpPr>
          <p:cNvPr id="21" name="Shape 17"/>
          <p:cNvSpPr/>
          <p:nvPr/>
        </p:nvSpPr>
        <p:spPr>
          <a:xfrm>
            <a:off x="6444592" y="1755648"/>
            <a:ext cx="2719376" cy="1874520"/>
          </a:xfrm>
          <a:prstGeom prst="rect">
            <a:avLst/>
          </a:prstGeom>
          <a:solidFill>
            <a:srgbClr val="27161A"/>
          </a:solidFill>
          <a:ln w="12700">
            <a:solidFill>
              <a:srgbClr val="27161A"/>
            </a:solidFill>
            <a:prstDash val="solid"/>
          </a:ln>
        </p:spPr>
      </p:sp>
      <p:sp>
        <p:nvSpPr>
          <p:cNvPr id="22" name="Shape 18"/>
          <p:cNvSpPr/>
          <p:nvPr/>
        </p:nvSpPr>
        <p:spPr>
          <a:xfrm>
            <a:off x="6444592" y="1755648"/>
            <a:ext cx="2719376" cy="54864"/>
          </a:xfrm>
          <a:prstGeom prst="rect">
            <a:avLst/>
          </a:prstGeom>
          <a:solidFill>
            <a:srgbClr val="C8102E"/>
          </a:solidFill>
          <a:ln w="12700">
            <a:solidFill>
              <a:srgbClr val="C8102E"/>
            </a:solidFill>
            <a:prstDash val="solid"/>
          </a:ln>
        </p:spPr>
      </p:sp>
      <p:sp>
        <p:nvSpPr>
          <p:cNvPr id="23" name="Text 19"/>
          <p:cNvSpPr/>
          <p:nvPr/>
        </p:nvSpPr>
        <p:spPr>
          <a:xfrm>
            <a:off x="6645760" y="1865376"/>
            <a:ext cx="914400" cy="594360"/>
          </a:xfrm>
          <a:prstGeom prst="rect">
            <a:avLst/>
          </a:prstGeom>
          <a:noFill/>
          <a:ln/>
        </p:spPr>
        <p:txBody>
          <a:bodyPr wrap="square" lIns="0" tIns="0" rIns="0" bIns="0" rtlCol="0" anchor="t"/>
          <a:lstStyle/>
          <a:p>
            <a:pPr marL="0" indent="0">
              <a:buNone/>
            </a:pPr>
            <a:r>
              <a:rPr lang="en-US" sz="3000" dirty="0">
                <a:solidFill>
                  <a:srgbClr val="C8102E"/>
                </a:solidFill>
                <a:latin typeface="Poppins ExtraBold" pitchFamily="34" charset="0"/>
                <a:ea typeface="Poppins ExtraBold" pitchFamily="34" charset="-122"/>
                <a:cs typeface="Poppins ExtraBold" pitchFamily="34" charset="-120"/>
              </a:rPr>
              <a:t>3</a:t>
            </a:r>
            <a:endParaRPr lang="en-US" sz="3000" dirty="0"/>
          </a:p>
        </p:txBody>
      </p:sp>
      <p:sp>
        <p:nvSpPr>
          <p:cNvPr id="24" name="Text 20"/>
          <p:cNvSpPr/>
          <p:nvPr/>
        </p:nvSpPr>
        <p:spPr>
          <a:xfrm>
            <a:off x="6645760" y="2487168"/>
            <a:ext cx="2353616" cy="731520"/>
          </a:xfrm>
          <a:prstGeom prst="rect">
            <a:avLst/>
          </a:prstGeom>
          <a:noFill/>
          <a:ln/>
        </p:spPr>
        <p:txBody>
          <a:bodyPr wrap="square" lIns="0" tIns="0" rIns="0" bIns="0" rtlCol="0" anchor="t"/>
          <a:lstStyle/>
          <a:p>
            <a:pPr marL="0" indent="0">
              <a:lnSpc>
                <a:spcPct val="100000"/>
              </a:lnSpc>
              <a:buNone/>
            </a:pPr>
            <a:r>
              <a:rPr lang="en-US" sz="1100" dirty="0">
                <a:solidFill>
                  <a:srgbClr val="FFFFFF"/>
                </a:solidFill>
                <a:latin typeface="Poppins SemiBold" pitchFamily="34" charset="0"/>
                <a:ea typeface="Poppins SemiBold" pitchFamily="34" charset="-122"/>
                <a:cs typeface="Poppins SemiBold" pitchFamily="34" charset="-120"/>
              </a:rPr>
              <a:t>Resource dan capability apa yang paling penting, dan apakah tahan lama?</a:t>
            </a:r>
            <a:endParaRPr lang="en-US" sz="1100" dirty="0"/>
          </a:p>
        </p:txBody>
      </p:sp>
      <p:sp>
        <p:nvSpPr>
          <p:cNvPr id="25" name="Text 21"/>
          <p:cNvSpPr/>
          <p:nvPr/>
        </p:nvSpPr>
        <p:spPr>
          <a:xfrm>
            <a:off x="6645760" y="3246120"/>
            <a:ext cx="2353616" cy="274320"/>
          </a:xfrm>
          <a:prstGeom prst="rect">
            <a:avLst/>
          </a:prstGeom>
          <a:noFill/>
          <a:ln/>
        </p:spPr>
        <p:txBody>
          <a:bodyPr wrap="square" lIns="0" tIns="0" rIns="0" bIns="0" rtlCol="0" anchor="t"/>
          <a:lstStyle/>
          <a:p>
            <a:pPr marL="0" indent="0">
              <a:buNone/>
            </a:pPr>
            <a:r>
              <a:rPr lang="en-US" sz="850" dirty="0">
                <a:solidFill>
                  <a:srgbClr val="FBE122"/>
                </a:solidFill>
                <a:latin typeface="Poppins Medium" pitchFamily="34" charset="0"/>
                <a:ea typeface="Poppins Medium" pitchFamily="34" charset="-122"/>
                <a:cs typeface="Poppins Medium" pitchFamily="34" charset="-120"/>
              </a:rPr>
              <a:t>Table 4.3 + VRIN Test</a:t>
            </a:r>
            <a:endParaRPr lang="en-US" sz="850" dirty="0"/>
          </a:p>
        </p:txBody>
      </p:sp>
      <p:sp>
        <p:nvSpPr>
          <p:cNvPr id="26" name="Shape 22"/>
          <p:cNvSpPr/>
          <p:nvPr/>
        </p:nvSpPr>
        <p:spPr>
          <a:xfrm>
            <a:off x="548640" y="3831336"/>
            <a:ext cx="2719376" cy="1874520"/>
          </a:xfrm>
          <a:prstGeom prst="rect">
            <a:avLst/>
          </a:prstGeom>
          <a:solidFill>
            <a:srgbClr val="27161A"/>
          </a:solidFill>
          <a:ln w="12700">
            <a:solidFill>
              <a:srgbClr val="27161A"/>
            </a:solidFill>
            <a:prstDash val="solid"/>
          </a:ln>
        </p:spPr>
      </p:sp>
      <p:sp>
        <p:nvSpPr>
          <p:cNvPr id="27" name="Shape 23"/>
          <p:cNvSpPr/>
          <p:nvPr/>
        </p:nvSpPr>
        <p:spPr>
          <a:xfrm>
            <a:off x="548640" y="3831336"/>
            <a:ext cx="2719376" cy="54864"/>
          </a:xfrm>
          <a:prstGeom prst="rect">
            <a:avLst/>
          </a:prstGeom>
          <a:solidFill>
            <a:srgbClr val="C8102E"/>
          </a:solidFill>
          <a:ln w="12700">
            <a:solidFill>
              <a:srgbClr val="C8102E"/>
            </a:solidFill>
            <a:prstDash val="solid"/>
          </a:ln>
        </p:spPr>
      </p:sp>
      <p:sp>
        <p:nvSpPr>
          <p:cNvPr id="28" name="Text 24"/>
          <p:cNvSpPr/>
          <p:nvPr/>
        </p:nvSpPr>
        <p:spPr>
          <a:xfrm>
            <a:off x="749808" y="3941064"/>
            <a:ext cx="914400" cy="594360"/>
          </a:xfrm>
          <a:prstGeom prst="rect">
            <a:avLst/>
          </a:prstGeom>
          <a:noFill/>
          <a:ln/>
        </p:spPr>
        <p:txBody>
          <a:bodyPr wrap="square" lIns="0" tIns="0" rIns="0" bIns="0" rtlCol="0" anchor="t"/>
          <a:lstStyle/>
          <a:p>
            <a:pPr marL="0" indent="0">
              <a:buNone/>
            </a:pPr>
            <a:r>
              <a:rPr lang="en-US" sz="3000" dirty="0">
                <a:solidFill>
                  <a:srgbClr val="C8102E"/>
                </a:solidFill>
                <a:latin typeface="Poppins ExtraBold" pitchFamily="34" charset="0"/>
                <a:ea typeface="Poppins ExtraBold" pitchFamily="34" charset="-122"/>
                <a:cs typeface="Poppins ExtraBold" pitchFamily="34" charset="-120"/>
              </a:rPr>
              <a:t>4</a:t>
            </a:r>
            <a:endParaRPr lang="en-US" sz="3000" dirty="0"/>
          </a:p>
        </p:txBody>
      </p:sp>
      <p:sp>
        <p:nvSpPr>
          <p:cNvPr id="29" name="Text 25"/>
          <p:cNvSpPr/>
          <p:nvPr/>
        </p:nvSpPr>
        <p:spPr>
          <a:xfrm>
            <a:off x="749808" y="4562856"/>
            <a:ext cx="2353616" cy="731520"/>
          </a:xfrm>
          <a:prstGeom prst="rect">
            <a:avLst/>
          </a:prstGeom>
          <a:noFill/>
          <a:ln/>
        </p:spPr>
        <p:txBody>
          <a:bodyPr wrap="square" lIns="0" tIns="0" rIns="0" bIns="0" rtlCol="0" anchor="t"/>
          <a:lstStyle/>
          <a:p>
            <a:pPr marL="0" indent="0">
              <a:lnSpc>
                <a:spcPct val="100000"/>
              </a:lnSpc>
              <a:buNone/>
            </a:pPr>
            <a:r>
              <a:rPr lang="en-US" sz="1100" dirty="0">
                <a:solidFill>
                  <a:srgbClr val="FFFFFF"/>
                </a:solidFill>
                <a:latin typeface="Poppins SemiBold" pitchFamily="34" charset="0"/>
                <a:ea typeface="Poppins SemiBold" pitchFamily="34" charset="-122"/>
                <a:cs typeface="Poppins SemiBold" pitchFamily="34" charset="-120"/>
              </a:rPr>
              <a:t>Bagaimana aktivitas value chain memengaruhi biaya dan nilai pelanggan?</a:t>
            </a:r>
            <a:endParaRPr lang="en-US" sz="1100" dirty="0"/>
          </a:p>
        </p:txBody>
      </p:sp>
      <p:sp>
        <p:nvSpPr>
          <p:cNvPr id="30" name="Text 26"/>
          <p:cNvSpPr/>
          <p:nvPr/>
        </p:nvSpPr>
        <p:spPr>
          <a:xfrm>
            <a:off x="749808" y="5321808"/>
            <a:ext cx="2353616" cy="274320"/>
          </a:xfrm>
          <a:prstGeom prst="rect">
            <a:avLst/>
          </a:prstGeom>
          <a:noFill/>
          <a:ln/>
        </p:spPr>
        <p:txBody>
          <a:bodyPr wrap="square" lIns="0" tIns="0" rIns="0" bIns="0" rtlCol="0" anchor="t"/>
          <a:lstStyle/>
          <a:p>
            <a:pPr marL="0" indent="0">
              <a:buNone/>
            </a:pPr>
            <a:r>
              <a:rPr lang="en-US" sz="850" dirty="0">
                <a:solidFill>
                  <a:srgbClr val="FBE122"/>
                </a:solidFill>
                <a:latin typeface="Poppins Medium" pitchFamily="34" charset="0"/>
                <a:ea typeface="Poppins Medium" pitchFamily="34" charset="-122"/>
                <a:cs typeface="Poppins Medium" pitchFamily="34" charset="-120"/>
              </a:rPr>
              <a:t>Value Chain + Benchmarking</a:t>
            </a:r>
            <a:endParaRPr lang="en-US" sz="850" dirty="0"/>
          </a:p>
        </p:txBody>
      </p:sp>
      <p:sp>
        <p:nvSpPr>
          <p:cNvPr id="31" name="Shape 27"/>
          <p:cNvSpPr/>
          <p:nvPr/>
        </p:nvSpPr>
        <p:spPr>
          <a:xfrm>
            <a:off x="3496616" y="3831336"/>
            <a:ext cx="2719376" cy="1874520"/>
          </a:xfrm>
          <a:prstGeom prst="rect">
            <a:avLst/>
          </a:prstGeom>
          <a:solidFill>
            <a:srgbClr val="27161A"/>
          </a:solidFill>
          <a:ln w="12700">
            <a:solidFill>
              <a:srgbClr val="27161A"/>
            </a:solidFill>
            <a:prstDash val="solid"/>
          </a:ln>
        </p:spPr>
      </p:sp>
      <p:sp>
        <p:nvSpPr>
          <p:cNvPr id="32" name="Shape 28"/>
          <p:cNvSpPr/>
          <p:nvPr/>
        </p:nvSpPr>
        <p:spPr>
          <a:xfrm>
            <a:off x="3496616" y="3831336"/>
            <a:ext cx="2719376" cy="54864"/>
          </a:xfrm>
          <a:prstGeom prst="rect">
            <a:avLst/>
          </a:prstGeom>
          <a:solidFill>
            <a:srgbClr val="C8102E"/>
          </a:solidFill>
          <a:ln w="12700">
            <a:solidFill>
              <a:srgbClr val="C8102E"/>
            </a:solidFill>
            <a:prstDash val="solid"/>
          </a:ln>
        </p:spPr>
      </p:sp>
      <p:sp>
        <p:nvSpPr>
          <p:cNvPr id="33" name="Text 29"/>
          <p:cNvSpPr/>
          <p:nvPr/>
        </p:nvSpPr>
        <p:spPr>
          <a:xfrm>
            <a:off x="3697784" y="3941064"/>
            <a:ext cx="914400" cy="594360"/>
          </a:xfrm>
          <a:prstGeom prst="rect">
            <a:avLst/>
          </a:prstGeom>
          <a:noFill/>
          <a:ln/>
        </p:spPr>
        <p:txBody>
          <a:bodyPr wrap="square" lIns="0" tIns="0" rIns="0" bIns="0" rtlCol="0" anchor="t"/>
          <a:lstStyle/>
          <a:p>
            <a:pPr marL="0" indent="0">
              <a:buNone/>
            </a:pPr>
            <a:r>
              <a:rPr lang="en-US" sz="3000" dirty="0">
                <a:solidFill>
                  <a:srgbClr val="C8102E"/>
                </a:solidFill>
                <a:latin typeface="Poppins ExtraBold" pitchFamily="34" charset="0"/>
                <a:ea typeface="Poppins ExtraBold" pitchFamily="34" charset="-122"/>
                <a:cs typeface="Poppins ExtraBold" pitchFamily="34" charset="-120"/>
              </a:rPr>
              <a:t>5</a:t>
            </a:r>
            <a:endParaRPr lang="en-US" sz="3000" dirty="0"/>
          </a:p>
        </p:txBody>
      </p:sp>
      <p:sp>
        <p:nvSpPr>
          <p:cNvPr id="34" name="Text 30"/>
          <p:cNvSpPr/>
          <p:nvPr/>
        </p:nvSpPr>
        <p:spPr>
          <a:xfrm>
            <a:off x="3697784" y="4562856"/>
            <a:ext cx="2353616" cy="731520"/>
          </a:xfrm>
          <a:prstGeom prst="rect">
            <a:avLst/>
          </a:prstGeom>
          <a:noFill/>
          <a:ln/>
        </p:spPr>
        <p:txBody>
          <a:bodyPr wrap="square" lIns="0" tIns="0" rIns="0" bIns="0" rtlCol="0" anchor="t"/>
          <a:lstStyle/>
          <a:p>
            <a:pPr marL="0" indent="0">
              <a:lnSpc>
                <a:spcPct val="100000"/>
              </a:lnSpc>
              <a:buNone/>
            </a:pPr>
            <a:r>
              <a:rPr lang="en-US" sz="1100" dirty="0">
                <a:solidFill>
                  <a:srgbClr val="FFFFFF"/>
                </a:solidFill>
                <a:latin typeface="Poppins SemiBold" pitchFamily="34" charset="0"/>
                <a:ea typeface="Poppins SemiBold" pitchFamily="34" charset="-122"/>
                <a:cs typeface="Poppins SemiBold" pitchFamily="34" charset="-120"/>
              </a:rPr>
              <a:t>Kita lebih kuat atau lebih lemah dari pesaing utama?</a:t>
            </a:r>
            <a:endParaRPr lang="en-US" sz="1100" dirty="0"/>
          </a:p>
        </p:txBody>
      </p:sp>
      <p:sp>
        <p:nvSpPr>
          <p:cNvPr id="35" name="Text 31"/>
          <p:cNvSpPr/>
          <p:nvPr/>
        </p:nvSpPr>
        <p:spPr>
          <a:xfrm>
            <a:off x="3697784" y="5321808"/>
            <a:ext cx="2353616" cy="274320"/>
          </a:xfrm>
          <a:prstGeom prst="rect">
            <a:avLst/>
          </a:prstGeom>
          <a:noFill/>
          <a:ln/>
        </p:spPr>
        <p:txBody>
          <a:bodyPr wrap="square" lIns="0" tIns="0" rIns="0" bIns="0" rtlCol="0" anchor="t"/>
          <a:lstStyle/>
          <a:p>
            <a:pPr marL="0" indent="0">
              <a:buNone/>
            </a:pPr>
            <a:r>
              <a:rPr lang="en-US" sz="850" dirty="0">
                <a:solidFill>
                  <a:srgbClr val="FBE122"/>
                </a:solidFill>
                <a:latin typeface="Poppins Medium" pitchFamily="34" charset="0"/>
                <a:ea typeface="Poppins Medium" pitchFamily="34" charset="-122"/>
                <a:cs typeface="Poppins Medium" pitchFamily="34" charset="-120"/>
              </a:rPr>
              <a:t>Competitive Strength Assessment (Table 4.4)</a:t>
            </a:r>
            <a:endParaRPr lang="en-US" sz="850" dirty="0"/>
          </a:p>
        </p:txBody>
      </p:sp>
      <p:sp>
        <p:nvSpPr>
          <p:cNvPr id="36" name="Shape 32"/>
          <p:cNvSpPr/>
          <p:nvPr/>
        </p:nvSpPr>
        <p:spPr>
          <a:xfrm>
            <a:off x="6444592" y="3831336"/>
            <a:ext cx="2719376" cy="1874520"/>
          </a:xfrm>
          <a:prstGeom prst="rect">
            <a:avLst/>
          </a:prstGeom>
          <a:solidFill>
            <a:srgbClr val="27161A"/>
          </a:solidFill>
          <a:ln w="12700">
            <a:solidFill>
              <a:srgbClr val="27161A"/>
            </a:solidFill>
            <a:prstDash val="solid"/>
          </a:ln>
        </p:spPr>
      </p:sp>
      <p:sp>
        <p:nvSpPr>
          <p:cNvPr id="37" name="Shape 33"/>
          <p:cNvSpPr/>
          <p:nvPr/>
        </p:nvSpPr>
        <p:spPr>
          <a:xfrm>
            <a:off x="6444592" y="3831336"/>
            <a:ext cx="2719376" cy="54864"/>
          </a:xfrm>
          <a:prstGeom prst="rect">
            <a:avLst/>
          </a:prstGeom>
          <a:solidFill>
            <a:srgbClr val="FBE122"/>
          </a:solidFill>
          <a:ln w="12700">
            <a:solidFill>
              <a:srgbClr val="FBE122"/>
            </a:solidFill>
            <a:prstDash val="solid"/>
          </a:ln>
        </p:spPr>
      </p:sp>
      <p:sp>
        <p:nvSpPr>
          <p:cNvPr id="38" name="Text 34"/>
          <p:cNvSpPr/>
          <p:nvPr/>
        </p:nvSpPr>
        <p:spPr>
          <a:xfrm>
            <a:off x="6645760" y="3941064"/>
            <a:ext cx="914400" cy="594360"/>
          </a:xfrm>
          <a:prstGeom prst="rect">
            <a:avLst/>
          </a:prstGeom>
          <a:noFill/>
          <a:ln/>
        </p:spPr>
        <p:txBody>
          <a:bodyPr wrap="square" lIns="0" tIns="0" rIns="0" bIns="0" rtlCol="0" anchor="t"/>
          <a:lstStyle/>
          <a:p>
            <a:pPr marL="0" indent="0">
              <a:buNone/>
            </a:pPr>
            <a:r>
              <a:rPr lang="en-US" sz="3000" dirty="0">
                <a:solidFill>
                  <a:srgbClr val="C8102E"/>
                </a:solidFill>
                <a:latin typeface="Poppins ExtraBold" pitchFamily="34" charset="0"/>
                <a:ea typeface="Poppins ExtraBold" pitchFamily="34" charset="-122"/>
                <a:cs typeface="Poppins ExtraBold" pitchFamily="34" charset="-120"/>
              </a:rPr>
              <a:t>6</a:t>
            </a:r>
            <a:endParaRPr lang="en-US" sz="3000" dirty="0"/>
          </a:p>
        </p:txBody>
      </p:sp>
      <p:sp>
        <p:nvSpPr>
          <p:cNvPr id="39" name="Text 35"/>
          <p:cNvSpPr/>
          <p:nvPr/>
        </p:nvSpPr>
        <p:spPr>
          <a:xfrm>
            <a:off x="6645760" y="4562856"/>
            <a:ext cx="2353616" cy="731520"/>
          </a:xfrm>
          <a:prstGeom prst="rect">
            <a:avLst/>
          </a:prstGeom>
          <a:noFill/>
          <a:ln/>
        </p:spPr>
        <p:txBody>
          <a:bodyPr wrap="square" lIns="0" tIns="0" rIns="0" bIns="0" rtlCol="0" anchor="t"/>
          <a:lstStyle/>
          <a:p>
            <a:pPr marL="0" indent="0">
              <a:lnSpc>
                <a:spcPct val="100000"/>
              </a:lnSpc>
              <a:buNone/>
            </a:pPr>
            <a:r>
              <a:rPr lang="en-US" sz="1100" dirty="0">
                <a:solidFill>
                  <a:srgbClr val="FFFFFF"/>
                </a:solidFill>
                <a:latin typeface="Poppins SemiBold" pitchFamily="34" charset="0"/>
                <a:ea typeface="Poppins SemiBold" pitchFamily="34" charset="-122"/>
                <a:cs typeface="Poppins SemiBold" pitchFamily="34" charset="-120"/>
              </a:rPr>
              <a:t>Isu strategis apa yang harus ditangani lebih dulu?</a:t>
            </a:r>
            <a:endParaRPr lang="en-US" sz="1100" dirty="0"/>
          </a:p>
        </p:txBody>
      </p:sp>
      <p:sp>
        <p:nvSpPr>
          <p:cNvPr id="40" name="Text 36"/>
          <p:cNvSpPr/>
          <p:nvPr/>
        </p:nvSpPr>
        <p:spPr>
          <a:xfrm>
            <a:off x="6645760" y="5321808"/>
            <a:ext cx="2353616" cy="274320"/>
          </a:xfrm>
          <a:prstGeom prst="rect">
            <a:avLst/>
          </a:prstGeom>
          <a:noFill/>
          <a:ln/>
        </p:spPr>
        <p:txBody>
          <a:bodyPr wrap="square" lIns="0" tIns="0" rIns="0" bIns="0" rtlCol="0" anchor="t"/>
          <a:lstStyle/>
          <a:p>
            <a:pPr marL="0" indent="0">
              <a:buNone/>
            </a:pPr>
            <a:r>
              <a:rPr lang="en-US" sz="850" dirty="0">
                <a:solidFill>
                  <a:srgbClr val="FBE122"/>
                </a:solidFill>
                <a:latin typeface="Poppins Medium" pitchFamily="34" charset="0"/>
                <a:ea typeface="Poppins Medium" pitchFamily="34" charset="-122"/>
                <a:cs typeface="Poppins Medium" pitchFamily="34" charset="-120"/>
              </a:rPr>
              <a:t>Priority List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81435"/>
            <a:ext cx="10728655" cy="164592"/>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1</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KENALI DULU STRATEGI YANG SEDANG DIJALANKAN</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Sebelum menilai kinerja, pahami dulu komponen strategi perusahaan seperti dipetakan pada Figure 4.1.</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04</a:t>
            </a:r>
            <a:endParaRPr lang="en-US" sz="900" dirty="0"/>
          </a:p>
        </p:txBody>
      </p:sp>
      <p:sp>
        <p:nvSpPr>
          <p:cNvPr id="10" name="Shape 7"/>
          <p:cNvSpPr/>
          <p:nvPr/>
        </p:nvSpPr>
        <p:spPr>
          <a:xfrm>
            <a:off x="548640" y="1755648"/>
            <a:ext cx="6263640" cy="4681472"/>
          </a:xfrm>
          <a:prstGeom prst="rect">
            <a:avLst/>
          </a:prstGeom>
          <a:solidFill>
            <a:srgbClr val="FFFFFF"/>
          </a:solidFill>
          <a:ln w="12700">
            <a:solidFill>
              <a:srgbClr val="FFFFFF"/>
            </a:solidFill>
            <a:prstDash val="solid"/>
          </a:ln>
        </p:spPr>
      </p:sp>
      <p:pic>
        <p:nvPicPr>
          <p:cNvPr id="11" name="Image 0" descr="fig4_1.png"/>
          <p:cNvPicPr>
            <a:picLocks noChangeAspect="1"/>
          </p:cNvPicPr>
          <p:nvPr/>
        </p:nvPicPr>
        <p:blipFill>
          <a:blip r:embed="rId3"/>
          <a:stretch>
            <a:fillRect/>
          </a:stretch>
        </p:blipFill>
        <p:spPr>
          <a:xfrm>
            <a:off x="685800" y="1892808"/>
            <a:ext cx="5989320" cy="4407152"/>
          </a:xfrm>
          <a:prstGeom prst="rect">
            <a:avLst/>
          </a:prstGeom>
        </p:spPr>
      </p:pic>
      <p:sp>
        <p:nvSpPr>
          <p:cNvPr id="12" name="Shape 8"/>
          <p:cNvSpPr/>
          <p:nvPr/>
        </p:nvSpPr>
        <p:spPr>
          <a:xfrm>
            <a:off x="7086600" y="1755648"/>
            <a:ext cx="4526280" cy="1325880"/>
          </a:xfrm>
          <a:prstGeom prst="rect">
            <a:avLst/>
          </a:prstGeom>
          <a:solidFill>
            <a:srgbClr val="120A0B"/>
          </a:solidFill>
          <a:ln w="12700">
            <a:solidFill>
              <a:srgbClr val="120A0B"/>
            </a:solidFill>
            <a:prstDash val="solid"/>
          </a:ln>
        </p:spPr>
      </p:sp>
      <p:sp>
        <p:nvSpPr>
          <p:cNvPr id="13" name="Shape 9"/>
          <p:cNvSpPr/>
          <p:nvPr/>
        </p:nvSpPr>
        <p:spPr>
          <a:xfrm>
            <a:off x="7086600" y="1755648"/>
            <a:ext cx="54864" cy="1325880"/>
          </a:xfrm>
          <a:prstGeom prst="rect">
            <a:avLst/>
          </a:prstGeom>
          <a:solidFill>
            <a:srgbClr val="C8102E"/>
          </a:solidFill>
          <a:ln w="12700">
            <a:solidFill>
              <a:srgbClr val="C8102E"/>
            </a:solidFill>
            <a:prstDash val="solid"/>
          </a:ln>
        </p:spPr>
      </p:sp>
      <p:sp>
        <p:nvSpPr>
          <p:cNvPr id="14" name="Text 10"/>
          <p:cNvSpPr/>
          <p:nvPr/>
        </p:nvSpPr>
        <p:spPr>
          <a:xfrm>
            <a:off x="7306056" y="1901952"/>
            <a:ext cx="4160520" cy="228600"/>
          </a:xfrm>
          <a:prstGeom prst="rect">
            <a:avLst/>
          </a:prstGeom>
          <a:noFill/>
          <a:ln/>
        </p:spPr>
        <p:txBody>
          <a:bodyPr wrap="square" lIns="0" tIns="0" rIns="0" bIns="0" rtlCol="0" anchor="t"/>
          <a:lstStyle/>
          <a:p>
            <a:pPr marL="0" indent="0">
              <a:buNone/>
            </a:pPr>
            <a:r>
              <a:rPr lang="en-US" sz="800" kern="0" spc="150" dirty="0">
                <a:solidFill>
                  <a:srgbClr val="C8102E"/>
                </a:solidFill>
                <a:latin typeface="Poppins SemiBold" pitchFamily="34" charset="0"/>
                <a:ea typeface="Poppins SemiBold" pitchFamily="34" charset="-122"/>
                <a:cs typeface="Poppins SemiBold" pitchFamily="34" charset="-120"/>
              </a:rPr>
              <a:t>CONTOH KAMI: AIRASIA</a:t>
            </a:r>
            <a:endParaRPr lang="en-US" sz="800" dirty="0"/>
          </a:p>
        </p:txBody>
      </p:sp>
      <p:sp>
        <p:nvSpPr>
          <p:cNvPr id="15" name="Text 11"/>
          <p:cNvSpPr/>
          <p:nvPr/>
        </p:nvSpPr>
        <p:spPr>
          <a:xfrm>
            <a:off x="7306056" y="2148840"/>
            <a:ext cx="4160520" cy="82296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pitchFamily="34" charset="0"/>
                <a:ea typeface="Poppins" pitchFamily="34" charset="-122"/>
                <a:cs typeface="Poppins" pitchFamily="34" charset="-120"/>
              </a:rPr>
              <a:t>Strategi biaya rendah terlihat konsisten di setiap fungsi: satu tipe pesawat (keluarga A320) di operasi dan penjualan tiket langsung secara online di pemasaran.</a:t>
            </a:r>
            <a:endParaRPr lang="en-US" sz="1000" dirty="0"/>
          </a:p>
        </p:txBody>
      </p:sp>
      <p:sp>
        <p:nvSpPr>
          <p:cNvPr id="16" name="Shape 12"/>
          <p:cNvSpPr/>
          <p:nvPr/>
        </p:nvSpPr>
        <p:spPr>
          <a:xfrm>
            <a:off x="7086600" y="3264408"/>
            <a:ext cx="4526280" cy="1508760"/>
          </a:xfrm>
          <a:prstGeom prst="rect">
            <a:avLst/>
          </a:prstGeom>
          <a:solidFill>
            <a:srgbClr val="27161A"/>
          </a:solidFill>
          <a:ln w="12700">
            <a:solidFill>
              <a:srgbClr val="27161A"/>
            </a:solidFill>
            <a:prstDash val="solid"/>
          </a:ln>
        </p:spPr>
      </p:sp>
      <p:sp>
        <p:nvSpPr>
          <p:cNvPr id="17" name="Shape 13"/>
          <p:cNvSpPr/>
          <p:nvPr/>
        </p:nvSpPr>
        <p:spPr>
          <a:xfrm>
            <a:off x="7086600" y="3264408"/>
            <a:ext cx="54864" cy="1508760"/>
          </a:xfrm>
          <a:prstGeom prst="rect">
            <a:avLst/>
          </a:prstGeom>
          <a:solidFill>
            <a:srgbClr val="C8102E"/>
          </a:solidFill>
          <a:ln w="12700">
            <a:solidFill>
              <a:srgbClr val="C8102E"/>
            </a:solidFill>
            <a:prstDash val="solid"/>
          </a:ln>
        </p:spPr>
      </p:sp>
      <p:sp>
        <p:nvSpPr>
          <p:cNvPr id="18" name="Text 14"/>
          <p:cNvSpPr/>
          <p:nvPr/>
        </p:nvSpPr>
        <p:spPr>
          <a:xfrm>
            <a:off x="7306056" y="3410712"/>
            <a:ext cx="4160520"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Setelah strategi dikenali</a:t>
            </a:r>
            <a:endParaRPr lang="en-US" sz="1200" dirty="0"/>
          </a:p>
        </p:txBody>
      </p:sp>
      <p:sp>
        <p:nvSpPr>
          <p:cNvPr id="19" name="Text 15"/>
          <p:cNvSpPr/>
          <p:nvPr/>
        </p:nvSpPr>
        <p:spPr>
          <a:xfrm>
            <a:off x="7306056" y="3739896"/>
            <a:ext cx="4160520" cy="923544"/>
          </a:xfrm>
          <a:prstGeom prst="rect">
            <a:avLst/>
          </a:prstGeom>
          <a:noFill/>
          <a:ln/>
        </p:spPr>
        <p:txBody>
          <a:bodyPr wrap="square" lIns="0" tIns="0" rIns="0" bIns="0" rtlCol="0" anchor="t"/>
          <a:lstStyle/>
          <a:p>
            <a:pPr marL="0" indent="0">
              <a:lnSpc>
                <a:spcPct val="108000"/>
              </a:lnSpc>
              <a:buNone/>
            </a:pPr>
            <a:r>
              <a:rPr lang="en-US" sz="1000" dirty="0">
                <a:solidFill>
                  <a:srgbClr val="D9CFC7"/>
                </a:solidFill>
                <a:latin typeface="Poppins" pitchFamily="34" charset="0"/>
                <a:ea typeface="Poppins" pitchFamily="34" charset="-122"/>
                <a:cs typeface="Poppins" pitchFamily="34" charset="-120"/>
              </a:rPr>
              <a:t>Kinerjanya diukur lewat tren penjualan dan laba, harga saham, kekuatan keuangan, retensi pelanggan, pelanggan baru, dan perbaikan proses internal.</a:t>
            </a:r>
            <a:endParaRPr lang="en-US" sz="1000" dirty="0"/>
          </a:p>
        </p:txBody>
      </p:sp>
      <p:sp>
        <p:nvSpPr>
          <p:cNvPr id="20" name="Shape 16"/>
          <p:cNvSpPr/>
          <p:nvPr/>
        </p:nvSpPr>
        <p:spPr>
          <a:xfrm>
            <a:off x="7086600" y="4956048"/>
            <a:ext cx="4526280" cy="1188720"/>
          </a:xfrm>
          <a:prstGeom prst="rect">
            <a:avLst/>
          </a:prstGeom>
          <a:solidFill>
            <a:srgbClr val="C8102E"/>
          </a:solidFill>
          <a:ln w="12700">
            <a:solidFill>
              <a:srgbClr val="C8102E"/>
            </a:solidFill>
            <a:prstDash val="solid"/>
          </a:ln>
        </p:spPr>
      </p:sp>
      <p:sp>
        <p:nvSpPr>
          <p:cNvPr id="21" name="Text 17"/>
          <p:cNvSpPr/>
          <p:nvPr/>
        </p:nvSpPr>
        <p:spPr>
          <a:xfrm>
            <a:off x="7315200" y="5084064"/>
            <a:ext cx="4069080"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CARA PAKAI</a:t>
            </a:r>
            <a:endParaRPr lang="en-US" sz="800" dirty="0"/>
          </a:p>
        </p:txBody>
      </p:sp>
      <p:sp>
        <p:nvSpPr>
          <p:cNvPr id="22" name="Text 18"/>
          <p:cNvSpPr/>
          <p:nvPr/>
        </p:nvSpPr>
        <p:spPr>
          <a:xfrm>
            <a:off x="7315200" y="5321808"/>
            <a:ext cx="4069080" cy="73152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Isi setiap kotak dengan tindakan nyata perusahaan, lalu periksa apakah semuanya saling mendukung.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76646"/>
            <a:ext cx="10728655" cy="128016"/>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1</a:t>
            </a:r>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FINANCIAL RATIOS: ALAT UKURNYA</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Penilaian tadi perlu bukti angka. Buku mengelompokkan rasio ke dalam empat kategori, plus satu kelompok ukuran tambahan.</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05</a:t>
            </a:r>
            <a:endParaRPr lang="en-US" sz="900" dirty="0"/>
          </a:p>
        </p:txBody>
      </p:sp>
      <p:sp>
        <p:nvSpPr>
          <p:cNvPr id="10" name="Shape 7"/>
          <p:cNvSpPr/>
          <p:nvPr/>
        </p:nvSpPr>
        <p:spPr>
          <a:xfrm>
            <a:off x="548640" y="1755648"/>
            <a:ext cx="2602154" cy="3017520"/>
          </a:xfrm>
          <a:prstGeom prst="rect">
            <a:avLst/>
          </a:prstGeom>
          <a:solidFill>
            <a:srgbClr val="27161A"/>
          </a:solidFill>
          <a:ln w="12700">
            <a:solidFill>
              <a:srgbClr val="27161A"/>
            </a:solidFill>
            <a:prstDash val="solid"/>
          </a:ln>
        </p:spPr>
      </p:sp>
      <p:sp>
        <p:nvSpPr>
          <p:cNvPr id="11" name="Shape 8"/>
          <p:cNvSpPr/>
          <p:nvPr/>
        </p:nvSpPr>
        <p:spPr>
          <a:xfrm>
            <a:off x="548640" y="1755648"/>
            <a:ext cx="2602154" cy="54864"/>
          </a:xfrm>
          <a:prstGeom prst="rect">
            <a:avLst/>
          </a:prstGeom>
          <a:solidFill>
            <a:srgbClr val="C8102E"/>
          </a:solidFill>
          <a:ln w="12700">
            <a:solidFill>
              <a:srgbClr val="C8102E"/>
            </a:solidFill>
            <a:prstDash val="solid"/>
          </a:ln>
        </p:spPr>
      </p:sp>
      <p:sp>
        <p:nvSpPr>
          <p:cNvPr id="12" name="Text 9"/>
          <p:cNvSpPr/>
          <p:nvPr/>
        </p:nvSpPr>
        <p:spPr>
          <a:xfrm>
            <a:off x="749808" y="1938528"/>
            <a:ext cx="2236394" cy="320040"/>
          </a:xfrm>
          <a:prstGeom prst="rect">
            <a:avLst/>
          </a:prstGeom>
          <a:noFill/>
          <a:ln/>
        </p:spPr>
        <p:txBody>
          <a:bodyPr wrap="square" lIns="0" tIns="0" rIns="0" bIns="0" rtlCol="0" anchor="t"/>
          <a:lstStyle/>
          <a:p>
            <a:pPr marL="0" indent="0">
              <a:buNone/>
            </a:pPr>
            <a:r>
              <a:rPr lang="en-US" sz="1500" dirty="0">
                <a:solidFill>
                  <a:srgbClr val="FFFFFF"/>
                </a:solidFill>
                <a:latin typeface="Poppins ExtraBold" pitchFamily="34" charset="0"/>
                <a:ea typeface="Poppins ExtraBold" pitchFamily="34" charset="-122"/>
                <a:cs typeface="Poppins ExtraBold" pitchFamily="34" charset="-120"/>
              </a:rPr>
              <a:t>Profitability</a:t>
            </a:r>
            <a:endParaRPr lang="en-US" sz="1500" dirty="0"/>
          </a:p>
        </p:txBody>
      </p:sp>
      <p:sp>
        <p:nvSpPr>
          <p:cNvPr id="13" name="Text 10"/>
          <p:cNvSpPr/>
          <p:nvPr/>
        </p:nvSpPr>
        <p:spPr>
          <a:xfrm>
            <a:off x="749808" y="2286000"/>
            <a:ext cx="2236394" cy="411480"/>
          </a:xfrm>
          <a:prstGeom prst="rect">
            <a:avLst/>
          </a:prstGeom>
          <a:noFill/>
          <a:ln/>
        </p:spPr>
        <p:txBody>
          <a:bodyPr wrap="square" lIns="0" tIns="0" rIns="0" bIns="0" rtlCol="0" anchor="t"/>
          <a:lstStyle/>
          <a:p>
            <a:pPr marL="0" indent="0">
              <a:lnSpc>
                <a:spcPct val="105000"/>
              </a:lnSpc>
              <a:buNone/>
            </a:pPr>
            <a:r>
              <a:rPr lang="en-US" sz="900" dirty="0">
                <a:solidFill>
                  <a:srgbClr val="FBE122"/>
                </a:solidFill>
                <a:latin typeface="Poppins" pitchFamily="34" charset="0"/>
                <a:ea typeface="Poppins" pitchFamily="34" charset="-122"/>
                <a:cs typeface="Poppins" pitchFamily="34" charset="-120"/>
              </a:rPr>
              <a:t>Seberapa besar laba yang dihasilkan</a:t>
            </a:r>
            <a:endParaRPr lang="en-US" sz="900" dirty="0"/>
          </a:p>
        </p:txBody>
      </p:sp>
      <p:sp>
        <p:nvSpPr>
          <p:cNvPr id="14" name="Shape 11"/>
          <p:cNvSpPr/>
          <p:nvPr/>
        </p:nvSpPr>
        <p:spPr>
          <a:xfrm>
            <a:off x="749808" y="2743200"/>
            <a:ext cx="2199818" cy="9144"/>
          </a:xfrm>
          <a:prstGeom prst="rect">
            <a:avLst/>
          </a:prstGeom>
          <a:solidFill>
            <a:srgbClr val="46292D"/>
          </a:solidFill>
          <a:ln w="12700">
            <a:solidFill>
              <a:srgbClr val="46292D"/>
            </a:solidFill>
            <a:prstDash val="solid"/>
          </a:ln>
        </p:spPr>
      </p:sp>
      <p:sp>
        <p:nvSpPr>
          <p:cNvPr id="15" name="Text 12"/>
          <p:cNvSpPr/>
          <p:nvPr/>
        </p:nvSpPr>
        <p:spPr>
          <a:xfrm>
            <a:off x="749808" y="2852928"/>
            <a:ext cx="2236394" cy="182880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Gross profit margin</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Operating profit margin</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Net profit margin</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Total return on assets</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Net return on assets (ROA)</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Return on equity (ROE)</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Return on invested capital</a:t>
            </a:r>
            <a:endParaRPr lang="en-US" sz="1000" dirty="0"/>
          </a:p>
        </p:txBody>
      </p:sp>
      <p:sp>
        <p:nvSpPr>
          <p:cNvPr id="16" name="Shape 13"/>
          <p:cNvSpPr/>
          <p:nvPr/>
        </p:nvSpPr>
        <p:spPr>
          <a:xfrm>
            <a:off x="3379394" y="1755648"/>
            <a:ext cx="2602154" cy="3017520"/>
          </a:xfrm>
          <a:prstGeom prst="rect">
            <a:avLst/>
          </a:prstGeom>
          <a:solidFill>
            <a:srgbClr val="27161A"/>
          </a:solidFill>
          <a:ln w="12700">
            <a:solidFill>
              <a:srgbClr val="27161A"/>
            </a:solidFill>
            <a:prstDash val="solid"/>
          </a:ln>
        </p:spPr>
      </p:sp>
      <p:sp>
        <p:nvSpPr>
          <p:cNvPr id="17" name="Shape 14"/>
          <p:cNvSpPr/>
          <p:nvPr/>
        </p:nvSpPr>
        <p:spPr>
          <a:xfrm>
            <a:off x="3379394" y="1755648"/>
            <a:ext cx="2602154" cy="54864"/>
          </a:xfrm>
          <a:prstGeom prst="rect">
            <a:avLst/>
          </a:prstGeom>
          <a:solidFill>
            <a:srgbClr val="C8102E"/>
          </a:solidFill>
          <a:ln w="12700">
            <a:solidFill>
              <a:srgbClr val="C8102E"/>
            </a:solidFill>
            <a:prstDash val="solid"/>
          </a:ln>
        </p:spPr>
      </p:sp>
      <p:sp>
        <p:nvSpPr>
          <p:cNvPr id="18" name="Text 15"/>
          <p:cNvSpPr/>
          <p:nvPr/>
        </p:nvSpPr>
        <p:spPr>
          <a:xfrm>
            <a:off x="3580562" y="1938528"/>
            <a:ext cx="2236394" cy="320040"/>
          </a:xfrm>
          <a:prstGeom prst="rect">
            <a:avLst/>
          </a:prstGeom>
          <a:noFill/>
          <a:ln/>
        </p:spPr>
        <p:txBody>
          <a:bodyPr wrap="square" lIns="0" tIns="0" rIns="0" bIns="0" rtlCol="0" anchor="t"/>
          <a:lstStyle/>
          <a:p>
            <a:pPr marL="0" indent="0">
              <a:buNone/>
            </a:pPr>
            <a:r>
              <a:rPr lang="en-US" sz="1500" dirty="0">
                <a:solidFill>
                  <a:srgbClr val="FFFFFF"/>
                </a:solidFill>
                <a:latin typeface="Poppins ExtraBold" pitchFamily="34" charset="0"/>
                <a:ea typeface="Poppins ExtraBold" pitchFamily="34" charset="-122"/>
                <a:cs typeface="Poppins ExtraBold" pitchFamily="34" charset="-120"/>
              </a:rPr>
              <a:t>Liquidity</a:t>
            </a:r>
            <a:endParaRPr lang="en-US" sz="1500" dirty="0"/>
          </a:p>
        </p:txBody>
      </p:sp>
      <p:sp>
        <p:nvSpPr>
          <p:cNvPr id="19" name="Text 16"/>
          <p:cNvSpPr/>
          <p:nvPr/>
        </p:nvSpPr>
        <p:spPr>
          <a:xfrm>
            <a:off x="3580562" y="2286000"/>
            <a:ext cx="2236394" cy="411480"/>
          </a:xfrm>
          <a:prstGeom prst="rect">
            <a:avLst/>
          </a:prstGeom>
          <a:noFill/>
          <a:ln/>
        </p:spPr>
        <p:txBody>
          <a:bodyPr wrap="square" lIns="0" tIns="0" rIns="0" bIns="0" rtlCol="0" anchor="t"/>
          <a:lstStyle/>
          <a:p>
            <a:pPr marL="0" indent="0">
              <a:lnSpc>
                <a:spcPct val="105000"/>
              </a:lnSpc>
              <a:buNone/>
            </a:pPr>
            <a:r>
              <a:rPr lang="en-US" sz="900" dirty="0">
                <a:solidFill>
                  <a:srgbClr val="FBE122"/>
                </a:solidFill>
                <a:latin typeface="Poppins" pitchFamily="34" charset="0"/>
                <a:ea typeface="Poppins" pitchFamily="34" charset="-122"/>
                <a:cs typeface="Poppins" pitchFamily="34" charset="-120"/>
              </a:rPr>
              <a:t>Sanggup bayar kewajiban jangka pendek?</a:t>
            </a:r>
            <a:endParaRPr lang="en-US" sz="900" dirty="0"/>
          </a:p>
        </p:txBody>
      </p:sp>
      <p:sp>
        <p:nvSpPr>
          <p:cNvPr id="20" name="Shape 17"/>
          <p:cNvSpPr/>
          <p:nvPr/>
        </p:nvSpPr>
        <p:spPr>
          <a:xfrm>
            <a:off x="3580562" y="2743200"/>
            <a:ext cx="2199818" cy="9144"/>
          </a:xfrm>
          <a:prstGeom prst="rect">
            <a:avLst/>
          </a:prstGeom>
          <a:solidFill>
            <a:srgbClr val="46292D"/>
          </a:solidFill>
          <a:ln w="12700">
            <a:solidFill>
              <a:srgbClr val="46292D"/>
            </a:solidFill>
            <a:prstDash val="solid"/>
          </a:ln>
        </p:spPr>
      </p:sp>
      <p:sp>
        <p:nvSpPr>
          <p:cNvPr id="21" name="Text 18"/>
          <p:cNvSpPr/>
          <p:nvPr/>
        </p:nvSpPr>
        <p:spPr>
          <a:xfrm>
            <a:off x="3580562" y="2852928"/>
            <a:ext cx="2236394" cy="182880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Current ratio</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Working capital</a:t>
            </a:r>
            <a:endParaRPr lang="en-US" sz="1000" dirty="0"/>
          </a:p>
        </p:txBody>
      </p:sp>
      <p:sp>
        <p:nvSpPr>
          <p:cNvPr id="22" name="Shape 19"/>
          <p:cNvSpPr/>
          <p:nvPr/>
        </p:nvSpPr>
        <p:spPr>
          <a:xfrm>
            <a:off x="6210148" y="1755648"/>
            <a:ext cx="2602154" cy="3017520"/>
          </a:xfrm>
          <a:prstGeom prst="rect">
            <a:avLst/>
          </a:prstGeom>
          <a:solidFill>
            <a:srgbClr val="27161A"/>
          </a:solidFill>
          <a:ln w="12700">
            <a:solidFill>
              <a:srgbClr val="27161A"/>
            </a:solidFill>
            <a:prstDash val="solid"/>
          </a:ln>
        </p:spPr>
      </p:sp>
      <p:sp>
        <p:nvSpPr>
          <p:cNvPr id="23" name="Shape 20"/>
          <p:cNvSpPr/>
          <p:nvPr/>
        </p:nvSpPr>
        <p:spPr>
          <a:xfrm>
            <a:off x="6210148" y="1755648"/>
            <a:ext cx="2602154" cy="54864"/>
          </a:xfrm>
          <a:prstGeom prst="rect">
            <a:avLst/>
          </a:prstGeom>
          <a:solidFill>
            <a:srgbClr val="C8102E"/>
          </a:solidFill>
          <a:ln w="12700">
            <a:solidFill>
              <a:srgbClr val="C8102E"/>
            </a:solidFill>
            <a:prstDash val="solid"/>
          </a:ln>
        </p:spPr>
      </p:sp>
      <p:sp>
        <p:nvSpPr>
          <p:cNvPr id="24" name="Text 21"/>
          <p:cNvSpPr/>
          <p:nvPr/>
        </p:nvSpPr>
        <p:spPr>
          <a:xfrm>
            <a:off x="6411316" y="1938528"/>
            <a:ext cx="2236394" cy="320040"/>
          </a:xfrm>
          <a:prstGeom prst="rect">
            <a:avLst/>
          </a:prstGeom>
          <a:noFill/>
          <a:ln/>
        </p:spPr>
        <p:txBody>
          <a:bodyPr wrap="square" lIns="0" tIns="0" rIns="0" bIns="0" rtlCol="0" anchor="t"/>
          <a:lstStyle/>
          <a:p>
            <a:pPr marL="0" indent="0">
              <a:buNone/>
            </a:pPr>
            <a:r>
              <a:rPr lang="en-US" sz="1500" dirty="0">
                <a:solidFill>
                  <a:srgbClr val="FFFFFF"/>
                </a:solidFill>
                <a:latin typeface="Poppins ExtraBold" pitchFamily="34" charset="0"/>
                <a:ea typeface="Poppins ExtraBold" pitchFamily="34" charset="-122"/>
                <a:cs typeface="Poppins ExtraBold" pitchFamily="34" charset="-120"/>
              </a:rPr>
              <a:t>Leverage</a:t>
            </a:r>
            <a:endParaRPr lang="en-US" sz="1500" dirty="0"/>
          </a:p>
        </p:txBody>
      </p:sp>
      <p:sp>
        <p:nvSpPr>
          <p:cNvPr id="25" name="Text 22"/>
          <p:cNvSpPr/>
          <p:nvPr/>
        </p:nvSpPr>
        <p:spPr>
          <a:xfrm>
            <a:off x="6411316" y="2286000"/>
            <a:ext cx="2236394" cy="411480"/>
          </a:xfrm>
          <a:prstGeom prst="rect">
            <a:avLst/>
          </a:prstGeom>
          <a:noFill/>
          <a:ln/>
        </p:spPr>
        <p:txBody>
          <a:bodyPr wrap="square" lIns="0" tIns="0" rIns="0" bIns="0" rtlCol="0" anchor="t"/>
          <a:lstStyle/>
          <a:p>
            <a:pPr marL="0" indent="0">
              <a:lnSpc>
                <a:spcPct val="105000"/>
              </a:lnSpc>
              <a:buNone/>
            </a:pPr>
            <a:r>
              <a:rPr lang="en-US" sz="900" dirty="0">
                <a:solidFill>
                  <a:srgbClr val="FBE122"/>
                </a:solidFill>
                <a:latin typeface="Poppins" pitchFamily="34" charset="0"/>
                <a:ea typeface="Poppins" pitchFamily="34" charset="-122"/>
                <a:cs typeface="Poppins" pitchFamily="34" charset="-120"/>
              </a:rPr>
              <a:t>Seberapa berat beban utangnya</a:t>
            </a:r>
            <a:endParaRPr lang="en-US" sz="900" dirty="0"/>
          </a:p>
        </p:txBody>
      </p:sp>
      <p:sp>
        <p:nvSpPr>
          <p:cNvPr id="26" name="Shape 23"/>
          <p:cNvSpPr/>
          <p:nvPr/>
        </p:nvSpPr>
        <p:spPr>
          <a:xfrm>
            <a:off x="6411316" y="2743200"/>
            <a:ext cx="2199818" cy="9144"/>
          </a:xfrm>
          <a:prstGeom prst="rect">
            <a:avLst/>
          </a:prstGeom>
          <a:solidFill>
            <a:srgbClr val="46292D"/>
          </a:solidFill>
          <a:ln w="12700">
            <a:solidFill>
              <a:srgbClr val="46292D"/>
            </a:solidFill>
            <a:prstDash val="solid"/>
          </a:ln>
        </p:spPr>
      </p:sp>
      <p:sp>
        <p:nvSpPr>
          <p:cNvPr id="27" name="Text 24"/>
          <p:cNvSpPr/>
          <p:nvPr/>
        </p:nvSpPr>
        <p:spPr>
          <a:xfrm>
            <a:off x="6411316" y="2852928"/>
            <a:ext cx="2236394" cy="182880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Total debt-to-assets</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Long-term debt-to-capital</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Debt-to-equity</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Long-term debt-to-equity</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Times-interest-earned</a:t>
            </a:r>
            <a:endParaRPr lang="en-US" sz="1000" dirty="0"/>
          </a:p>
        </p:txBody>
      </p:sp>
      <p:sp>
        <p:nvSpPr>
          <p:cNvPr id="28" name="Shape 25"/>
          <p:cNvSpPr/>
          <p:nvPr/>
        </p:nvSpPr>
        <p:spPr>
          <a:xfrm>
            <a:off x="9040901" y="1755648"/>
            <a:ext cx="2602154" cy="3017520"/>
          </a:xfrm>
          <a:prstGeom prst="rect">
            <a:avLst/>
          </a:prstGeom>
          <a:solidFill>
            <a:srgbClr val="27161A"/>
          </a:solidFill>
          <a:ln w="12700">
            <a:solidFill>
              <a:srgbClr val="27161A"/>
            </a:solidFill>
            <a:prstDash val="solid"/>
          </a:ln>
        </p:spPr>
      </p:sp>
      <p:sp>
        <p:nvSpPr>
          <p:cNvPr id="29" name="Shape 26"/>
          <p:cNvSpPr/>
          <p:nvPr/>
        </p:nvSpPr>
        <p:spPr>
          <a:xfrm>
            <a:off x="9040901" y="1755648"/>
            <a:ext cx="2602154" cy="54864"/>
          </a:xfrm>
          <a:prstGeom prst="rect">
            <a:avLst/>
          </a:prstGeom>
          <a:solidFill>
            <a:srgbClr val="C8102E"/>
          </a:solidFill>
          <a:ln w="12700">
            <a:solidFill>
              <a:srgbClr val="C8102E"/>
            </a:solidFill>
            <a:prstDash val="solid"/>
          </a:ln>
        </p:spPr>
      </p:sp>
      <p:sp>
        <p:nvSpPr>
          <p:cNvPr id="30" name="Text 27"/>
          <p:cNvSpPr/>
          <p:nvPr/>
        </p:nvSpPr>
        <p:spPr>
          <a:xfrm>
            <a:off x="9242069" y="1938528"/>
            <a:ext cx="2236394" cy="320040"/>
          </a:xfrm>
          <a:prstGeom prst="rect">
            <a:avLst/>
          </a:prstGeom>
          <a:noFill/>
          <a:ln/>
        </p:spPr>
        <p:txBody>
          <a:bodyPr wrap="square" lIns="0" tIns="0" rIns="0" bIns="0" rtlCol="0" anchor="t"/>
          <a:lstStyle/>
          <a:p>
            <a:pPr marL="0" indent="0">
              <a:buNone/>
            </a:pPr>
            <a:r>
              <a:rPr lang="en-US" sz="1500" dirty="0">
                <a:solidFill>
                  <a:srgbClr val="FFFFFF"/>
                </a:solidFill>
                <a:latin typeface="Poppins ExtraBold" pitchFamily="34" charset="0"/>
                <a:ea typeface="Poppins ExtraBold" pitchFamily="34" charset="-122"/>
                <a:cs typeface="Poppins ExtraBold" pitchFamily="34" charset="-120"/>
              </a:rPr>
              <a:t>Activity</a:t>
            </a:r>
            <a:endParaRPr lang="en-US" sz="1500" dirty="0"/>
          </a:p>
        </p:txBody>
      </p:sp>
      <p:sp>
        <p:nvSpPr>
          <p:cNvPr id="31" name="Text 28"/>
          <p:cNvSpPr/>
          <p:nvPr/>
        </p:nvSpPr>
        <p:spPr>
          <a:xfrm>
            <a:off x="9242069" y="2286000"/>
            <a:ext cx="2236394" cy="411480"/>
          </a:xfrm>
          <a:prstGeom prst="rect">
            <a:avLst/>
          </a:prstGeom>
          <a:noFill/>
          <a:ln/>
        </p:spPr>
        <p:txBody>
          <a:bodyPr wrap="square" lIns="0" tIns="0" rIns="0" bIns="0" rtlCol="0" anchor="t"/>
          <a:lstStyle/>
          <a:p>
            <a:pPr marL="0" indent="0">
              <a:lnSpc>
                <a:spcPct val="105000"/>
              </a:lnSpc>
              <a:buNone/>
            </a:pPr>
            <a:r>
              <a:rPr lang="en-US" sz="900" dirty="0">
                <a:solidFill>
                  <a:srgbClr val="FBE122"/>
                </a:solidFill>
                <a:latin typeface="Poppins" pitchFamily="34" charset="0"/>
                <a:ea typeface="Poppins" pitchFamily="34" charset="-122"/>
                <a:cs typeface="Poppins" pitchFamily="34" charset="-120"/>
              </a:rPr>
              <a:t>Seberapa efisien aset dikelola</a:t>
            </a:r>
            <a:endParaRPr lang="en-US" sz="900" dirty="0"/>
          </a:p>
        </p:txBody>
      </p:sp>
      <p:sp>
        <p:nvSpPr>
          <p:cNvPr id="32" name="Shape 29"/>
          <p:cNvSpPr/>
          <p:nvPr/>
        </p:nvSpPr>
        <p:spPr>
          <a:xfrm>
            <a:off x="9242069" y="2743200"/>
            <a:ext cx="2199818" cy="9144"/>
          </a:xfrm>
          <a:prstGeom prst="rect">
            <a:avLst/>
          </a:prstGeom>
          <a:solidFill>
            <a:srgbClr val="46292D"/>
          </a:solidFill>
          <a:ln w="12700">
            <a:solidFill>
              <a:srgbClr val="46292D"/>
            </a:solidFill>
            <a:prstDash val="solid"/>
          </a:ln>
        </p:spPr>
      </p:sp>
      <p:sp>
        <p:nvSpPr>
          <p:cNvPr id="33" name="Text 30"/>
          <p:cNvSpPr/>
          <p:nvPr/>
        </p:nvSpPr>
        <p:spPr>
          <a:xfrm>
            <a:off x="9242069" y="2852928"/>
            <a:ext cx="2236394" cy="182880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Days of inventory</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Inventory turnover</a:t>
            </a:r>
            <a:endParaRPr lang="en-US" sz="1000" dirty="0"/>
          </a:p>
          <a:p>
            <a:pPr marL="152400" indent="-152400">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Average collection period</a:t>
            </a:r>
            <a:endParaRPr lang="en-US" sz="1000" dirty="0"/>
          </a:p>
        </p:txBody>
      </p:sp>
      <p:sp>
        <p:nvSpPr>
          <p:cNvPr id="34" name="Shape 31"/>
          <p:cNvSpPr/>
          <p:nvPr/>
        </p:nvSpPr>
        <p:spPr>
          <a:xfrm>
            <a:off x="548640" y="4956048"/>
            <a:ext cx="11094415" cy="868680"/>
          </a:xfrm>
          <a:prstGeom prst="rect">
            <a:avLst/>
          </a:prstGeom>
          <a:solidFill>
            <a:srgbClr val="32191E"/>
          </a:solidFill>
          <a:ln w="12700">
            <a:solidFill>
              <a:srgbClr val="32191E"/>
            </a:solidFill>
            <a:prstDash val="solid"/>
          </a:ln>
        </p:spPr>
      </p:sp>
      <p:sp>
        <p:nvSpPr>
          <p:cNvPr id="35" name="Text 32"/>
          <p:cNvSpPr/>
          <p:nvPr/>
        </p:nvSpPr>
        <p:spPr>
          <a:xfrm>
            <a:off x="777240" y="5084064"/>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UKURAN TAMBAHAN</a:t>
            </a:r>
            <a:endParaRPr lang="en-US" sz="800" dirty="0"/>
          </a:p>
        </p:txBody>
      </p:sp>
      <p:sp>
        <p:nvSpPr>
          <p:cNvPr id="36" name="Text 33"/>
          <p:cNvSpPr/>
          <p:nvPr/>
        </p:nvSpPr>
        <p:spPr>
          <a:xfrm>
            <a:off x="777240" y="5321808"/>
            <a:ext cx="10637215" cy="41148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Dividend yield, price-to-earnings ratio, dividend payout ratio, internal cash flow, dan free cash flow. Free cash flow paling penting, karena menunjukkan sisa kas untuk membiayai langkah strategis baru.</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71421"/>
            <a:ext cx="10728655" cy="18288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2</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SWOT ANALYSIS: KENAPA STRATEGI BERHASIL ATAU GAGAL</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Q1 memberi tahu apakah strategi bekerja, tapi tidak kenapa. SWOT adalah alat paling sederhana untuk mencari sebabnya.</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06</a:t>
            </a:r>
            <a:endParaRPr lang="en-US" sz="900" dirty="0"/>
          </a:p>
        </p:txBody>
      </p:sp>
      <p:sp>
        <p:nvSpPr>
          <p:cNvPr id="10" name="Shape 7"/>
          <p:cNvSpPr/>
          <p:nvPr/>
        </p:nvSpPr>
        <p:spPr>
          <a:xfrm>
            <a:off x="548640" y="1755648"/>
            <a:ext cx="2834640" cy="1481328"/>
          </a:xfrm>
          <a:prstGeom prst="rect">
            <a:avLst/>
          </a:prstGeom>
          <a:solidFill>
            <a:srgbClr val="C8102E"/>
          </a:solidFill>
          <a:ln w="12700">
            <a:solidFill>
              <a:srgbClr val="C8102E"/>
            </a:solidFill>
            <a:prstDash val="solid"/>
          </a:ln>
        </p:spPr>
      </p:sp>
      <p:sp>
        <p:nvSpPr>
          <p:cNvPr id="11" name="Text 8"/>
          <p:cNvSpPr/>
          <p:nvPr/>
        </p:nvSpPr>
        <p:spPr>
          <a:xfrm>
            <a:off x="749808" y="1847088"/>
            <a:ext cx="822960" cy="822960"/>
          </a:xfrm>
          <a:prstGeom prst="rect">
            <a:avLst/>
          </a:prstGeom>
          <a:noFill/>
          <a:ln/>
        </p:spPr>
        <p:txBody>
          <a:bodyPr wrap="square" lIns="0" tIns="0" rIns="0" bIns="0" rtlCol="0" anchor="t"/>
          <a:lstStyle/>
          <a:p>
            <a:pPr marL="0" indent="0">
              <a:buNone/>
            </a:pPr>
            <a:r>
              <a:rPr lang="en-US" sz="4000" dirty="0">
                <a:solidFill>
                  <a:srgbClr val="FBE122"/>
                </a:solidFill>
                <a:latin typeface="Poppins ExtraBold" pitchFamily="34" charset="0"/>
                <a:ea typeface="Poppins ExtraBold" pitchFamily="34" charset="-122"/>
                <a:cs typeface="Poppins ExtraBold" pitchFamily="34" charset="-120"/>
              </a:rPr>
              <a:t>S</a:t>
            </a:r>
            <a:endParaRPr lang="en-US" sz="4000" dirty="0"/>
          </a:p>
        </p:txBody>
      </p:sp>
      <p:sp>
        <p:nvSpPr>
          <p:cNvPr id="12" name="Text 9"/>
          <p:cNvSpPr/>
          <p:nvPr/>
        </p:nvSpPr>
        <p:spPr>
          <a:xfrm>
            <a:off x="1554480" y="1984248"/>
            <a:ext cx="1645920" cy="320040"/>
          </a:xfrm>
          <a:prstGeom prst="rect">
            <a:avLst/>
          </a:prstGeom>
          <a:noFill/>
          <a:ln/>
        </p:spPr>
        <p:txBody>
          <a:bodyPr wrap="square" lIns="0" tIns="0" rIns="0" bIns="0" rtlCol="0" anchor="t"/>
          <a:lstStyle/>
          <a:p>
            <a:pPr marL="0" indent="0">
              <a:buNone/>
            </a:pPr>
            <a:r>
              <a:rPr lang="en-US" sz="1300" dirty="0">
                <a:solidFill>
                  <a:srgbClr val="FFFFFF"/>
                </a:solidFill>
                <a:latin typeface="Poppins SemiBold" pitchFamily="34" charset="0"/>
                <a:ea typeface="Poppins SemiBold" pitchFamily="34" charset="-122"/>
                <a:cs typeface="Poppins SemiBold" pitchFamily="34" charset="-120"/>
              </a:rPr>
              <a:t>Strengths</a:t>
            </a:r>
            <a:endParaRPr lang="en-US" sz="1300" dirty="0"/>
          </a:p>
        </p:txBody>
      </p:sp>
      <p:sp>
        <p:nvSpPr>
          <p:cNvPr id="13" name="Text 10"/>
          <p:cNvSpPr/>
          <p:nvPr/>
        </p:nvSpPr>
        <p:spPr>
          <a:xfrm>
            <a:off x="1554480" y="2322576"/>
            <a:ext cx="1645920" cy="868680"/>
          </a:xfrm>
          <a:prstGeom prst="rect">
            <a:avLst/>
          </a:prstGeom>
          <a:noFill/>
          <a:ln/>
        </p:spPr>
        <p:txBody>
          <a:bodyPr wrap="square" lIns="0" tIns="0" rIns="0" bIns="0" rtlCol="0" anchor="t"/>
          <a:lstStyle/>
          <a:p>
            <a:pPr marL="0" indent="0">
              <a:lnSpc>
                <a:spcPct val="106000"/>
              </a:lnSpc>
              <a:buNone/>
            </a:pPr>
            <a:r>
              <a:rPr lang="en-US" sz="900" dirty="0">
                <a:solidFill>
                  <a:srgbClr val="FFFFFF"/>
                </a:solidFill>
                <a:latin typeface="Poppins" pitchFamily="34" charset="0"/>
                <a:ea typeface="Poppins" pitchFamily="34" charset="-122"/>
                <a:cs typeface="Poppins" pitchFamily="34" charset="-120"/>
              </a:rPr>
              <a:t>Yang perusahaan kuasai atau miliki, yang membuatnya lebih mampu bersaing</a:t>
            </a:r>
            <a:endParaRPr lang="en-US" sz="900" dirty="0"/>
          </a:p>
        </p:txBody>
      </p:sp>
      <p:sp>
        <p:nvSpPr>
          <p:cNvPr id="14" name="Shape 11"/>
          <p:cNvSpPr/>
          <p:nvPr/>
        </p:nvSpPr>
        <p:spPr>
          <a:xfrm>
            <a:off x="3566160" y="1755648"/>
            <a:ext cx="2834640" cy="1481328"/>
          </a:xfrm>
          <a:prstGeom prst="rect">
            <a:avLst/>
          </a:prstGeom>
          <a:solidFill>
            <a:srgbClr val="27161A"/>
          </a:solidFill>
          <a:ln w="12700">
            <a:solidFill>
              <a:srgbClr val="27161A"/>
            </a:solidFill>
            <a:prstDash val="solid"/>
          </a:ln>
        </p:spPr>
      </p:sp>
      <p:sp>
        <p:nvSpPr>
          <p:cNvPr id="15" name="Text 12"/>
          <p:cNvSpPr/>
          <p:nvPr/>
        </p:nvSpPr>
        <p:spPr>
          <a:xfrm>
            <a:off x="3767328" y="1847088"/>
            <a:ext cx="822960" cy="822960"/>
          </a:xfrm>
          <a:prstGeom prst="rect">
            <a:avLst/>
          </a:prstGeom>
          <a:noFill/>
          <a:ln/>
        </p:spPr>
        <p:txBody>
          <a:bodyPr wrap="square" lIns="0" tIns="0" rIns="0" bIns="0" rtlCol="0" anchor="t"/>
          <a:lstStyle/>
          <a:p>
            <a:pPr marL="0" indent="0">
              <a:buNone/>
            </a:pPr>
            <a:r>
              <a:rPr lang="en-US" sz="4000" dirty="0">
                <a:solidFill>
                  <a:srgbClr val="C8102E"/>
                </a:solidFill>
                <a:latin typeface="Poppins ExtraBold" pitchFamily="34" charset="0"/>
                <a:ea typeface="Poppins ExtraBold" pitchFamily="34" charset="-122"/>
                <a:cs typeface="Poppins ExtraBold" pitchFamily="34" charset="-120"/>
              </a:rPr>
              <a:t>W</a:t>
            </a:r>
            <a:endParaRPr lang="en-US" sz="4000" dirty="0"/>
          </a:p>
        </p:txBody>
      </p:sp>
      <p:sp>
        <p:nvSpPr>
          <p:cNvPr id="16" name="Text 13"/>
          <p:cNvSpPr/>
          <p:nvPr/>
        </p:nvSpPr>
        <p:spPr>
          <a:xfrm>
            <a:off x="4572000" y="1984248"/>
            <a:ext cx="1645920" cy="320040"/>
          </a:xfrm>
          <a:prstGeom prst="rect">
            <a:avLst/>
          </a:prstGeom>
          <a:noFill/>
          <a:ln/>
        </p:spPr>
        <p:txBody>
          <a:bodyPr wrap="square" lIns="0" tIns="0" rIns="0" bIns="0" rtlCol="0" anchor="t"/>
          <a:lstStyle/>
          <a:p>
            <a:pPr marL="0" indent="0">
              <a:buNone/>
            </a:pPr>
            <a:r>
              <a:rPr lang="en-US" sz="1300" dirty="0">
                <a:solidFill>
                  <a:srgbClr val="FFFFFF"/>
                </a:solidFill>
                <a:latin typeface="Poppins SemiBold" pitchFamily="34" charset="0"/>
                <a:ea typeface="Poppins SemiBold" pitchFamily="34" charset="-122"/>
                <a:cs typeface="Poppins SemiBold" pitchFamily="34" charset="-120"/>
              </a:rPr>
              <a:t>Weaknesses</a:t>
            </a:r>
            <a:endParaRPr lang="en-US" sz="1300" dirty="0"/>
          </a:p>
        </p:txBody>
      </p:sp>
      <p:sp>
        <p:nvSpPr>
          <p:cNvPr id="17" name="Text 14"/>
          <p:cNvSpPr/>
          <p:nvPr/>
        </p:nvSpPr>
        <p:spPr>
          <a:xfrm>
            <a:off x="4572000" y="2322576"/>
            <a:ext cx="1645920" cy="86868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Yang tidak dimiliki atau dikerjakan kurang baik dibanding pesaing</a:t>
            </a:r>
            <a:endParaRPr lang="en-US" sz="900" dirty="0"/>
          </a:p>
        </p:txBody>
      </p:sp>
      <p:sp>
        <p:nvSpPr>
          <p:cNvPr id="18" name="Shape 15"/>
          <p:cNvSpPr/>
          <p:nvPr/>
        </p:nvSpPr>
        <p:spPr>
          <a:xfrm>
            <a:off x="548640" y="3419856"/>
            <a:ext cx="2834640" cy="1481328"/>
          </a:xfrm>
          <a:prstGeom prst="rect">
            <a:avLst/>
          </a:prstGeom>
          <a:solidFill>
            <a:srgbClr val="27161A"/>
          </a:solidFill>
          <a:ln w="12700">
            <a:solidFill>
              <a:srgbClr val="27161A"/>
            </a:solidFill>
            <a:prstDash val="solid"/>
          </a:ln>
        </p:spPr>
      </p:sp>
      <p:sp>
        <p:nvSpPr>
          <p:cNvPr id="19" name="Text 16"/>
          <p:cNvSpPr/>
          <p:nvPr/>
        </p:nvSpPr>
        <p:spPr>
          <a:xfrm>
            <a:off x="749808" y="3511296"/>
            <a:ext cx="822960" cy="822960"/>
          </a:xfrm>
          <a:prstGeom prst="rect">
            <a:avLst/>
          </a:prstGeom>
          <a:noFill/>
          <a:ln/>
        </p:spPr>
        <p:txBody>
          <a:bodyPr wrap="square" lIns="0" tIns="0" rIns="0" bIns="0" rtlCol="0" anchor="t"/>
          <a:lstStyle/>
          <a:p>
            <a:pPr marL="0" indent="0">
              <a:buNone/>
            </a:pPr>
            <a:r>
              <a:rPr lang="en-US" sz="4000" dirty="0">
                <a:solidFill>
                  <a:srgbClr val="C8102E"/>
                </a:solidFill>
                <a:latin typeface="Poppins ExtraBold" pitchFamily="34" charset="0"/>
                <a:ea typeface="Poppins ExtraBold" pitchFamily="34" charset="-122"/>
                <a:cs typeface="Poppins ExtraBold" pitchFamily="34" charset="-120"/>
              </a:rPr>
              <a:t>O</a:t>
            </a:r>
            <a:endParaRPr lang="en-US" sz="4000" dirty="0"/>
          </a:p>
        </p:txBody>
      </p:sp>
      <p:sp>
        <p:nvSpPr>
          <p:cNvPr id="20" name="Text 17"/>
          <p:cNvSpPr/>
          <p:nvPr/>
        </p:nvSpPr>
        <p:spPr>
          <a:xfrm>
            <a:off x="1554480" y="3648456"/>
            <a:ext cx="1645920" cy="320040"/>
          </a:xfrm>
          <a:prstGeom prst="rect">
            <a:avLst/>
          </a:prstGeom>
          <a:noFill/>
          <a:ln/>
        </p:spPr>
        <p:txBody>
          <a:bodyPr wrap="square" lIns="0" tIns="0" rIns="0" bIns="0" rtlCol="0" anchor="t"/>
          <a:lstStyle/>
          <a:p>
            <a:pPr marL="0" indent="0">
              <a:buNone/>
            </a:pPr>
            <a:r>
              <a:rPr lang="en-US" sz="1300" dirty="0">
                <a:solidFill>
                  <a:srgbClr val="FFFFFF"/>
                </a:solidFill>
                <a:latin typeface="Poppins SemiBold" pitchFamily="34" charset="0"/>
                <a:ea typeface="Poppins SemiBold" pitchFamily="34" charset="-122"/>
                <a:cs typeface="Poppins SemiBold" pitchFamily="34" charset="-120"/>
              </a:rPr>
              <a:t>Opportunities</a:t>
            </a:r>
            <a:endParaRPr lang="en-US" sz="1300" dirty="0"/>
          </a:p>
        </p:txBody>
      </p:sp>
      <p:sp>
        <p:nvSpPr>
          <p:cNvPr id="21" name="Text 18"/>
          <p:cNvSpPr/>
          <p:nvPr/>
        </p:nvSpPr>
        <p:spPr>
          <a:xfrm>
            <a:off x="1554480" y="3986784"/>
            <a:ext cx="1645920" cy="86868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Peluang pasar: apa yang bisa diambil dari luar</a:t>
            </a:r>
            <a:endParaRPr lang="en-US" sz="900" dirty="0"/>
          </a:p>
        </p:txBody>
      </p:sp>
      <p:sp>
        <p:nvSpPr>
          <p:cNvPr id="22" name="Shape 19"/>
          <p:cNvSpPr/>
          <p:nvPr/>
        </p:nvSpPr>
        <p:spPr>
          <a:xfrm>
            <a:off x="3566160" y="3419856"/>
            <a:ext cx="2834640" cy="1481328"/>
          </a:xfrm>
          <a:prstGeom prst="rect">
            <a:avLst/>
          </a:prstGeom>
          <a:solidFill>
            <a:srgbClr val="C8102E"/>
          </a:solidFill>
          <a:ln w="12700">
            <a:solidFill>
              <a:srgbClr val="C8102E"/>
            </a:solidFill>
            <a:prstDash val="solid"/>
          </a:ln>
        </p:spPr>
      </p:sp>
      <p:sp>
        <p:nvSpPr>
          <p:cNvPr id="23" name="Text 20"/>
          <p:cNvSpPr/>
          <p:nvPr/>
        </p:nvSpPr>
        <p:spPr>
          <a:xfrm>
            <a:off x="3767328" y="3511296"/>
            <a:ext cx="822960" cy="822960"/>
          </a:xfrm>
          <a:prstGeom prst="rect">
            <a:avLst/>
          </a:prstGeom>
          <a:noFill/>
          <a:ln/>
        </p:spPr>
        <p:txBody>
          <a:bodyPr wrap="square" lIns="0" tIns="0" rIns="0" bIns="0" rtlCol="0" anchor="t"/>
          <a:lstStyle/>
          <a:p>
            <a:pPr marL="0" indent="0">
              <a:buNone/>
            </a:pPr>
            <a:r>
              <a:rPr lang="en-US" sz="4000" dirty="0">
                <a:solidFill>
                  <a:srgbClr val="FBE122"/>
                </a:solidFill>
                <a:latin typeface="Poppins ExtraBold" pitchFamily="34" charset="0"/>
                <a:ea typeface="Poppins ExtraBold" pitchFamily="34" charset="-122"/>
                <a:cs typeface="Poppins ExtraBold" pitchFamily="34" charset="-120"/>
              </a:rPr>
              <a:t>T</a:t>
            </a:r>
            <a:endParaRPr lang="en-US" sz="4000" dirty="0"/>
          </a:p>
        </p:txBody>
      </p:sp>
      <p:sp>
        <p:nvSpPr>
          <p:cNvPr id="24" name="Text 21"/>
          <p:cNvSpPr/>
          <p:nvPr/>
        </p:nvSpPr>
        <p:spPr>
          <a:xfrm>
            <a:off x="4572000" y="3648456"/>
            <a:ext cx="1645920" cy="320040"/>
          </a:xfrm>
          <a:prstGeom prst="rect">
            <a:avLst/>
          </a:prstGeom>
          <a:noFill/>
          <a:ln/>
        </p:spPr>
        <p:txBody>
          <a:bodyPr wrap="square" lIns="0" tIns="0" rIns="0" bIns="0" rtlCol="0" anchor="t"/>
          <a:lstStyle/>
          <a:p>
            <a:pPr marL="0" indent="0">
              <a:buNone/>
            </a:pPr>
            <a:r>
              <a:rPr lang="en-US" sz="1300" dirty="0">
                <a:solidFill>
                  <a:srgbClr val="FFFFFF"/>
                </a:solidFill>
                <a:latin typeface="Poppins SemiBold" pitchFamily="34" charset="0"/>
                <a:ea typeface="Poppins SemiBold" pitchFamily="34" charset="-122"/>
                <a:cs typeface="Poppins SemiBold" pitchFamily="34" charset="-120"/>
              </a:rPr>
              <a:t>Threats</a:t>
            </a:r>
            <a:endParaRPr lang="en-US" sz="1300" dirty="0"/>
          </a:p>
        </p:txBody>
      </p:sp>
      <p:sp>
        <p:nvSpPr>
          <p:cNvPr id="25" name="Text 22"/>
          <p:cNvSpPr/>
          <p:nvPr/>
        </p:nvSpPr>
        <p:spPr>
          <a:xfrm>
            <a:off x="4572000" y="3986784"/>
            <a:ext cx="1645920" cy="868680"/>
          </a:xfrm>
          <a:prstGeom prst="rect">
            <a:avLst/>
          </a:prstGeom>
          <a:noFill/>
          <a:ln/>
        </p:spPr>
        <p:txBody>
          <a:bodyPr wrap="square" lIns="0" tIns="0" rIns="0" bIns="0" rtlCol="0" anchor="t"/>
          <a:lstStyle/>
          <a:p>
            <a:pPr marL="0" indent="0">
              <a:lnSpc>
                <a:spcPct val="106000"/>
              </a:lnSpc>
              <a:buNone/>
            </a:pPr>
            <a:r>
              <a:rPr lang="en-US" sz="900" dirty="0">
                <a:solidFill>
                  <a:srgbClr val="FFFFFF"/>
                </a:solidFill>
                <a:latin typeface="Poppins" pitchFamily="34" charset="0"/>
                <a:ea typeface="Poppins" pitchFamily="34" charset="-122"/>
                <a:cs typeface="Poppins" pitchFamily="34" charset="-120"/>
              </a:rPr>
              <a:t>Ancaman dari luar yang bisa menggerus laba dan posisi</a:t>
            </a:r>
            <a:endParaRPr lang="en-US" sz="900" dirty="0"/>
          </a:p>
        </p:txBody>
      </p:sp>
      <p:sp>
        <p:nvSpPr>
          <p:cNvPr id="26" name="Text 23"/>
          <p:cNvSpPr/>
          <p:nvPr/>
        </p:nvSpPr>
        <p:spPr>
          <a:xfrm>
            <a:off x="6675120" y="1737360"/>
            <a:ext cx="365760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CARA MEMBACANYA</a:t>
            </a:r>
            <a:endParaRPr lang="en-US" sz="850" dirty="0"/>
          </a:p>
        </p:txBody>
      </p:sp>
      <p:sp>
        <p:nvSpPr>
          <p:cNvPr id="27" name="Shape 24"/>
          <p:cNvSpPr/>
          <p:nvPr/>
        </p:nvSpPr>
        <p:spPr>
          <a:xfrm>
            <a:off x="6675120" y="2029968"/>
            <a:ext cx="4937760" cy="713232"/>
          </a:xfrm>
          <a:prstGeom prst="rect">
            <a:avLst/>
          </a:prstGeom>
          <a:solidFill>
            <a:srgbClr val="27161A"/>
          </a:solidFill>
          <a:ln w="12700">
            <a:solidFill>
              <a:srgbClr val="27161A"/>
            </a:solidFill>
            <a:prstDash val="solid"/>
          </a:ln>
        </p:spPr>
      </p:sp>
      <p:sp>
        <p:nvSpPr>
          <p:cNvPr id="28" name="Shape 25"/>
          <p:cNvSpPr/>
          <p:nvPr/>
        </p:nvSpPr>
        <p:spPr>
          <a:xfrm>
            <a:off x="6675120" y="2029968"/>
            <a:ext cx="54864" cy="713232"/>
          </a:xfrm>
          <a:prstGeom prst="rect">
            <a:avLst/>
          </a:prstGeom>
          <a:solidFill>
            <a:srgbClr val="C8102E"/>
          </a:solidFill>
          <a:ln w="12700">
            <a:solidFill>
              <a:srgbClr val="C8102E"/>
            </a:solidFill>
            <a:prstDash val="solid"/>
          </a:ln>
        </p:spPr>
      </p:sp>
      <p:sp>
        <p:nvSpPr>
          <p:cNvPr id="29" name="Text 26"/>
          <p:cNvSpPr/>
          <p:nvPr/>
        </p:nvSpPr>
        <p:spPr>
          <a:xfrm>
            <a:off x="6894576" y="2176272"/>
            <a:ext cx="4572000" cy="274320"/>
          </a:xfrm>
          <a:prstGeom prst="rect">
            <a:avLst/>
          </a:prstGeom>
          <a:noFill/>
          <a:ln/>
        </p:spPr>
        <p:txBody>
          <a:bodyPr wrap="square" lIns="0" tIns="0" rIns="0" bIns="0" rtlCol="0" anchor="t"/>
          <a:lstStyle/>
          <a:p>
            <a:pPr marL="0" indent="0">
              <a:lnSpc>
                <a:spcPct val="95000"/>
              </a:lnSpc>
              <a:buNone/>
            </a:pPr>
            <a:r>
              <a:rPr lang="en-US" sz="1100" dirty="0">
                <a:solidFill>
                  <a:srgbClr val="FFFFFF"/>
                </a:solidFill>
                <a:latin typeface="Poppins SemiBold" pitchFamily="34" charset="0"/>
                <a:ea typeface="Poppins SemiBold" pitchFamily="34" charset="-122"/>
                <a:cs typeface="Poppins SemiBold" pitchFamily="34" charset="-120"/>
              </a:rPr>
              <a:t>Nama lain SWOT</a:t>
            </a:r>
            <a:endParaRPr lang="en-US" sz="1100" dirty="0"/>
          </a:p>
        </p:txBody>
      </p:sp>
      <p:sp>
        <p:nvSpPr>
          <p:cNvPr id="30" name="Text 27"/>
          <p:cNvSpPr/>
          <p:nvPr/>
        </p:nvSpPr>
        <p:spPr>
          <a:xfrm>
            <a:off x="6894576" y="2505456"/>
            <a:ext cx="4572000" cy="128016"/>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Situational Analysis, analisis situasi.</a:t>
            </a:r>
            <a:endParaRPr lang="en-US" sz="950" dirty="0"/>
          </a:p>
        </p:txBody>
      </p:sp>
      <p:sp>
        <p:nvSpPr>
          <p:cNvPr id="31" name="Shape 28"/>
          <p:cNvSpPr/>
          <p:nvPr/>
        </p:nvSpPr>
        <p:spPr>
          <a:xfrm>
            <a:off x="6675120" y="2852928"/>
            <a:ext cx="4937760" cy="914400"/>
          </a:xfrm>
          <a:prstGeom prst="rect">
            <a:avLst/>
          </a:prstGeom>
          <a:solidFill>
            <a:srgbClr val="27161A"/>
          </a:solidFill>
          <a:ln w="12700">
            <a:solidFill>
              <a:srgbClr val="27161A"/>
            </a:solidFill>
            <a:prstDash val="solid"/>
          </a:ln>
        </p:spPr>
      </p:sp>
      <p:sp>
        <p:nvSpPr>
          <p:cNvPr id="32" name="Shape 29"/>
          <p:cNvSpPr/>
          <p:nvPr/>
        </p:nvSpPr>
        <p:spPr>
          <a:xfrm>
            <a:off x="6675120" y="2852928"/>
            <a:ext cx="54864" cy="914400"/>
          </a:xfrm>
          <a:prstGeom prst="rect">
            <a:avLst/>
          </a:prstGeom>
          <a:solidFill>
            <a:srgbClr val="C8102E"/>
          </a:solidFill>
          <a:ln w="12700">
            <a:solidFill>
              <a:srgbClr val="C8102E"/>
            </a:solidFill>
            <a:prstDash val="solid"/>
          </a:ln>
        </p:spPr>
      </p:sp>
      <p:sp>
        <p:nvSpPr>
          <p:cNvPr id="33" name="Text 30"/>
          <p:cNvSpPr/>
          <p:nvPr/>
        </p:nvSpPr>
        <p:spPr>
          <a:xfrm>
            <a:off x="6894576" y="2999232"/>
            <a:ext cx="4572000" cy="274320"/>
          </a:xfrm>
          <a:prstGeom prst="rect">
            <a:avLst/>
          </a:prstGeom>
          <a:noFill/>
          <a:ln/>
        </p:spPr>
        <p:txBody>
          <a:bodyPr wrap="square" lIns="0" tIns="0" rIns="0" bIns="0" rtlCol="0" anchor="t"/>
          <a:lstStyle/>
          <a:p>
            <a:pPr marL="0" indent="0">
              <a:lnSpc>
                <a:spcPct val="95000"/>
              </a:lnSpc>
              <a:buNone/>
            </a:pPr>
            <a:r>
              <a:rPr lang="en-US" sz="1100" dirty="0">
                <a:solidFill>
                  <a:srgbClr val="FFFFFF"/>
                </a:solidFill>
                <a:latin typeface="Poppins SemiBold" pitchFamily="34" charset="0"/>
                <a:ea typeface="Poppins SemiBold" pitchFamily="34" charset="-122"/>
                <a:cs typeface="Poppins SemiBold" pitchFamily="34" charset="-120"/>
              </a:rPr>
              <a:t>Neraca strategis</a:t>
            </a:r>
            <a:endParaRPr lang="en-US" sz="1100" dirty="0"/>
          </a:p>
        </p:txBody>
      </p:sp>
      <p:sp>
        <p:nvSpPr>
          <p:cNvPr id="34" name="Text 31"/>
          <p:cNvSpPr/>
          <p:nvPr/>
        </p:nvSpPr>
        <p:spPr>
          <a:xfrm>
            <a:off x="6894576" y="3328416"/>
            <a:ext cx="4572000" cy="329184"/>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Kekuatan = aset bersaing. Kelemahan = kewajiban bersaing. Idealnya asetnya jauh lebih berat.</a:t>
            </a:r>
            <a:endParaRPr lang="en-US" sz="950" dirty="0"/>
          </a:p>
        </p:txBody>
      </p:sp>
      <p:sp>
        <p:nvSpPr>
          <p:cNvPr id="35" name="Shape 32"/>
          <p:cNvSpPr/>
          <p:nvPr/>
        </p:nvSpPr>
        <p:spPr>
          <a:xfrm>
            <a:off x="6675120" y="3877056"/>
            <a:ext cx="4937760" cy="1024128"/>
          </a:xfrm>
          <a:prstGeom prst="rect">
            <a:avLst/>
          </a:prstGeom>
          <a:solidFill>
            <a:srgbClr val="27161A"/>
          </a:solidFill>
          <a:ln w="12700">
            <a:solidFill>
              <a:srgbClr val="27161A"/>
            </a:solidFill>
            <a:prstDash val="solid"/>
          </a:ln>
        </p:spPr>
      </p:sp>
      <p:sp>
        <p:nvSpPr>
          <p:cNvPr id="36" name="Shape 33"/>
          <p:cNvSpPr/>
          <p:nvPr/>
        </p:nvSpPr>
        <p:spPr>
          <a:xfrm>
            <a:off x="6675120" y="3877056"/>
            <a:ext cx="54864" cy="1024128"/>
          </a:xfrm>
          <a:prstGeom prst="rect">
            <a:avLst/>
          </a:prstGeom>
          <a:solidFill>
            <a:srgbClr val="C8102E"/>
          </a:solidFill>
          <a:ln w="12700">
            <a:solidFill>
              <a:srgbClr val="C8102E"/>
            </a:solidFill>
            <a:prstDash val="solid"/>
          </a:ln>
        </p:spPr>
      </p:sp>
      <p:sp>
        <p:nvSpPr>
          <p:cNvPr id="37" name="Text 34"/>
          <p:cNvSpPr/>
          <p:nvPr/>
        </p:nvSpPr>
        <p:spPr>
          <a:xfrm>
            <a:off x="6894576" y="4023360"/>
            <a:ext cx="4572000" cy="274320"/>
          </a:xfrm>
          <a:prstGeom prst="rect">
            <a:avLst/>
          </a:prstGeom>
          <a:noFill/>
          <a:ln/>
        </p:spPr>
        <p:txBody>
          <a:bodyPr wrap="square" lIns="0" tIns="0" rIns="0" bIns="0" rtlCol="0" anchor="t"/>
          <a:lstStyle/>
          <a:p>
            <a:pPr marL="0" indent="0">
              <a:lnSpc>
                <a:spcPct val="95000"/>
              </a:lnSpc>
              <a:buNone/>
            </a:pPr>
            <a:r>
              <a:rPr lang="en-US" sz="1100" dirty="0">
                <a:solidFill>
                  <a:srgbClr val="FFFFFF"/>
                </a:solidFill>
                <a:latin typeface="Poppins SemiBold" pitchFamily="34" charset="0"/>
                <a:ea typeface="Poppins SemiBold" pitchFamily="34" charset="-122"/>
                <a:cs typeface="Poppins SemiBold" pitchFamily="34" charset="-120"/>
              </a:rPr>
              <a:t>Empat pertanyaan pemandu</a:t>
            </a:r>
            <a:endParaRPr lang="en-US" sz="1100" dirty="0"/>
          </a:p>
        </p:txBody>
      </p:sp>
      <p:sp>
        <p:nvSpPr>
          <p:cNvPr id="38" name="Text 35"/>
          <p:cNvSpPr/>
          <p:nvPr/>
        </p:nvSpPr>
        <p:spPr>
          <a:xfrm>
            <a:off x="6894576" y="4352544"/>
            <a:ext cx="4572000" cy="438912"/>
          </a:xfrm>
          <a:prstGeom prst="rect">
            <a:avLst/>
          </a:prstGeom>
          <a:noFill/>
          <a:ln/>
        </p:spPr>
        <p:txBody>
          <a:bodyPr wrap="square" lIns="0" tIns="0" rIns="0" bIns="0" rtlCol="0" anchor="t"/>
          <a:lstStyle/>
          <a:p>
            <a:pPr marL="0" indent="0">
              <a:lnSpc>
                <a:spcPct val="108000"/>
              </a:lnSpc>
              <a:buNone/>
            </a:pPr>
            <a:r>
              <a:rPr lang="en-US" sz="900" dirty="0">
                <a:solidFill>
                  <a:srgbClr val="D9CFC7"/>
                </a:solidFill>
                <a:latin typeface="Poppins" pitchFamily="34" charset="0"/>
                <a:ea typeface="Poppins" pitchFamily="34" charset="-122"/>
                <a:cs typeface="Poppins" pitchFamily="34" charset="-120"/>
              </a:rPr>
              <a:t>Apakah kekuatan cukup menutup kelemahan? Apakah strategi sudah bertumpu pada kekuatan itu? Apakah kekuatan kita melampaui pesaing? Apakah strategi berhasil menangkal ancaman?</a:t>
            </a:r>
            <a:endParaRPr lang="en-US" sz="900" dirty="0"/>
          </a:p>
        </p:txBody>
      </p:sp>
      <p:sp>
        <p:nvSpPr>
          <p:cNvPr id="39" name="Shape 36"/>
          <p:cNvSpPr/>
          <p:nvPr/>
        </p:nvSpPr>
        <p:spPr>
          <a:xfrm>
            <a:off x="548640" y="5102352"/>
            <a:ext cx="11064240" cy="777240"/>
          </a:xfrm>
          <a:prstGeom prst="rect">
            <a:avLst/>
          </a:prstGeom>
          <a:solidFill>
            <a:srgbClr val="32191E"/>
          </a:solidFill>
          <a:ln w="12700">
            <a:solidFill>
              <a:srgbClr val="32191E"/>
            </a:solidFill>
            <a:prstDash val="solid"/>
          </a:ln>
        </p:spPr>
      </p:sp>
      <p:sp>
        <p:nvSpPr>
          <p:cNvPr id="40" name="Text 37"/>
          <p:cNvSpPr/>
          <p:nvPr/>
        </p:nvSpPr>
        <p:spPr>
          <a:xfrm>
            <a:off x="777240" y="5230368"/>
            <a:ext cx="10607040"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KENAPA SWOT POPULER</a:t>
            </a:r>
            <a:endParaRPr lang="en-US" sz="800" dirty="0"/>
          </a:p>
        </p:txBody>
      </p:sp>
      <p:sp>
        <p:nvSpPr>
          <p:cNvPr id="41" name="Text 38"/>
          <p:cNvSpPr/>
          <p:nvPr/>
        </p:nvSpPr>
        <p:spPr>
          <a:xfrm>
            <a:off x="777240" y="5468112"/>
            <a:ext cx="10607040" cy="32004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Mudah dipakai, dan bisa dipakai dua arah: menilai strategi yang sedang berjalan, dan menyusun strategi baru dari nol. Dipakai perusahaan besar sampai sekolah dan lembaga nirlaba.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88620"/>
            <a:ext cx="10728655" cy="173736"/>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2  ·  KONSEP INTI</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COMPETENCE, DISTINCTIVE COMPETENCE, CORE COMPETENCE</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Buku memakai tiga tingkatan yang berbeda. Jangan disamakan: hanya tingkat ketiga yang benar-benar berharga.</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07</a:t>
            </a:r>
            <a:endParaRPr lang="en-US" sz="900" dirty="0"/>
          </a:p>
        </p:txBody>
      </p:sp>
      <p:sp>
        <p:nvSpPr>
          <p:cNvPr id="10" name="Shape 7"/>
          <p:cNvSpPr/>
          <p:nvPr/>
        </p:nvSpPr>
        <p:spPr>
          <a:xfrm>
            <a:off x="548640" y="2670048"/>
            <a:ext cx="3545738" cy="2011680"/>
          </a:xfrm>
          <a:prstGeom prst="rect">
            <a:avLst/>
          </a:prstGeom>
          <a:solidFill>
            <a:srgbClr val="27161A"/>
          </a:solidFill>
          <a:ln w="12700">
            <a:solidFill>
              <a:srgbClr val="27161A"/>
            </a:solidFill>
            <a:prstDash val="solid"/>
          </a:ln>
        </p:spPr>
      </p:sp>
      <p:sp>
        <p:nvSpPr>
          <p:cNvPr id="11" name="Shape 8"/>
          <p:cNvSpPr/>
          <p:nvPr/>
        </p:nvSpPr>
        <p:spPr>
          <a:xfrm>
            <a:off x="548640" y="2670048"/>
            <a:ext cx="3545738" cy="54864"/>
          </a:xfrm>
          <a:prstGeom prst="rect">
            <a:avLst/>
          </a:prstGeom>
          <a:solidFill>
            <a:srgbClr val="C8102E"/>
          </a:solidFill>
          <a:ln w="12700">
            <a:solidFill>
              <a:srgbClr val="C8102E"/>
            </a:solidFill>
            <a:prstDash val="solid"/>
          </a:ln>
        </p:spPr>
      </p:sp>
      <p:sp>
        <p:nvSpPr>
          <p:cNvPr id="12" name="Text 9"/>
          <p:cNvSpPr/>
          <p:nvPr/>
        </p:nvSpPr>
        <p:spPr>
          <a:xfrm>
            <a:off x="749808" y="2779776"/>
            <a:ext cx="914400" cy="640080"/>
          </a:xfrm>
          <a:prstGeom prst="rect">
            <a:avLst/>
          </a:prstGeom>
          <a:noFill/>
          <a:ln/>
        </p:spPr>
        <p:txBody>
          <a:bodyPr wrap="square" lIns="0" tIns="0" rIns="0" bIns="0" rtlCol="0" anchor="t"/>
          <a:lstStyle/>
          <a:p>
            <a:pPr marL="0" indent="0">
              <a:buNone/>
            </a:pPr>
            <a:r>
              <a:rPr lang="en-US" sz="3400" dirty="0">
                <a:solidFill>
                  <a:srgbClr val="C8102E"/>
                </a:solidFill>
                <a:latin typeface="Poppins ExtraBold" pitchFamily="34" charset="0"/>
                <a:ea typeface="Poppins ExtraBold" pitchFamily="34" charset="-122"/>
                <a:cs typeface="Poppins ExtraBold" pitchFamily="34" charset="-120"/>
              </a:rPr>
              <a:t>1</a:t>
            </a:r>
            <a:endParaRPr lang="en-US" sz="3400" dirty="0"/>
          </a:p>
        </p:txBody>
      </p:sp>
      <p:sp>
        <p:nvSpPr>
          <p:cNvPr id="13" name="Text 10"/>
          <p:cNvSpPr/>
          <p:nvPr/>
        </p:nvSpPr>
        <p:spPr>
          <a:xfrm>
            <a:off x="749808" y="3447288"/>
            <a:ext cx="3179978" cy="320040"/>
          </a:xfrm>
          <a:prstGeom prst="rect">
            <a:avLst/>
          </a:prstGeom>
          <a:noFill/>
          <a:ln/>
        </p:spPr>
        <p:txBody>
          <a:bodyPr wrap="square" lIns="0" tIns="0" rIns="0" bIns="0" rtlCol="0" anchor="t"/>
          <a:lstStyle/>
          <a:p>
            <a:pPr marL="0" indent="0">
              <a:buNone/>
            </a:pPr>
            <a:r>
              <a:rPr lang="en-US" sz="1300" dirty="0">
                <a:solidFill>
                  <a:srgbClr val="FFFFFF"/>
                </a:solidFill>
                <a:latin typeface="Poppins SemiBold" pitchFamily="34" charset="0"/>
                <a:ea typeface="Poppins SemiBold" pitchFamily="34" charset="-122"/>
                <a:cs typeface="Poppins SemiBold" pitchFamily="34" charset="-120"/>
              </a:rPr>
              <a:t>Competence</a:t>
            </a:r>
            <a:endParaRPr lang="en-US" sz="1300" dirty="0"/>
          </a:p>
        </p:txBody>
      </p:sp>
      <p:sp>
        <p:nvSpPr>
          <p:cNvPr id="14" name="Text 11"/>
          <p:cNvSpPr/>
          <p:nvPr/>
        </p:nvSpPr>
        <p:spPr>
          <a:xfrm>
            <a:off x="749808" y="3785616"/>
            <a:ext cx="3179978" cy="685800"/>
          </a:xfrm>
          <a:prstGeom prst="rect">
            <a:avLst/>
          </a:prstGeom>
          <a:noFill/>
          <a:ln/>
        </p:spPr>
        <p:txBody>
          <a:bodyPr wrap="square" lIns="0" tIns="0" rIns="0" bIns="0" rtlCol="0" anchor="t"/>
          <a:lstStyle/>
          <a:p>
            <a:pPr marL="0" indent="0">
              <a:lnSpc>
                <a:spcPct val="106000"/>
              </a:lnSpc>
              <a:buNone/>
            </a:pPr>
            <a:r>
              <a:rPr lang="en-US" sz="950" dirty="0">
                <a:solidFill>
                  <a:srgbClr val="D9CFC7"/>
                </a:solidFill>
                <a:latin typeface="Poppins" pitchFamily="34" charset="0"/>
                <a:ea typeface="Poppins" pitchFamily="34" charset="-122"/>
                <a:cs typeface="Poppins" pitchFamily="34" charset="-120"/>
              </a:rPr>
              <a:t>Aktivitas yang sudah dikuasai perusahaan, dikerjakan konsisten baik dan dengan biaya wajar.</a:t>
            </a:r>
            <a:endParaRPr lang="en-US" sz="950" dirty="0"/>
          </a:p>
        </p:txBody>
      </p:sp>
      <p:sp>
        <p:nvSpPr>
          <p:cNvPr id="15" name="Text 12"/>
          <p:cNvSpPr/>
          <p:nvPr/>
        </p:nvSpPr>
        <p:spPr>
          <a:xfrm>
            <a:off x="749808" y="4297680"/>
            <a:ext cx="3179978" cy="320040"/>
          </a:xfrm>
          <a:prstGeom prst="rect">
            <a:avLst/>
          </a:prstGeom>
          <a:noFill/>
          <a:ln/>
        </p:spPr>
        <p:txBody>
          <a:bodyPr wrap="square" lIns="0" tIns="0" rIns="0" bIns="0" rtlCol="0" anchor="t"/>
          <a:lstStyle/>
          <a:p>
            <a:pPr marL="0" indent="0">
              <a:buNone/>
            </a:pPr>
            <a:r>
              <a:rPr lang="en-US" sz="850" dirty="0">
                <a:solidFill>
                  <a:srgbClr val="FBE122"/>
                </a:solidFill>
                <a:latin typeface="Poppins Medium" pitchFamily="34" charset="0"/>
                <a:ea typeface="Poppins Medium" pitchFamily="34" charset="-122"/>
                <a:cs typeface="Poppins Medium" pitchFamily="34" charset="-120"/>
              </a:rPr>
              <a:t>Kemampuan biasa. Banyak perusahaan punya.</a:t>
            </a:r>
            <a:endParaRPr lang="en-US" sz="850" dirty="0"/>
          </a:p>
        </p:txBody>
      </p:sp>
      <p:sp>
        <p:nvSpPr>
          <p:cNvPr id="16" name="Shape 13"/>
          <p:cNvSpPr/>
          <p:nvPr/>
        </p:nvSpPr>
        <p:spPr>
          <a:xfrm>
            <a:off x="4322978" y="2212848"/>
            <a:ext cx="3545738" cy="2468880"/>
          </a:xfrm>
          <a:prstGeom prst="rect">
            <a:avLst/>
          </a:prstGeom>
          <a:solidFill>
            <a:srgbClr val="27161A"/>
          </a:solidFill>
          <a:ln w="12700">
            <a:solidFill>
              <a:srgbClr val="27161A"/>
            </a:solidFill>
            <a:prstDash val="solid"/>
          </a:ln>
        </p:spPr>
      </p:sp>
      <p:sp>
        <p:nvSpPr>
          <p:cNvPr id="17" name="Shape 14"/>
          <p:cNvSpPr/>
          <p:nvPr/>
        </p:nvSpPr>
        <p:spPr>
          <a:xfrm>
            <a:off x="4322978" y="2212848"/>
            <a:ext cx="3545738" cy="54864"/>
          </a:xfrm>
          <a:prstGeom prst="rect">
            <a:avLst/>
          </a:prstGeom>
          <a:solidFill>
            <a:srgbClr val="C8102E"/>
          </a:solidFill>
          <a:ln w="12700">
            <a:solidFill>
              <a:srgbClr val="C8102E"/>
            </a:solidFill>
            <a:prstDash val="solid"/>
          </a:ln>
        </p:spPr>
      </p:sp>
      <p:sp>
        <p:nvSpPr>
          <p:cNvPr id="18" name="Text 15"/>
          <p:cNvSpPr/>
          <p:nvPr/>
        </p:nvSpPr>
        <p:spPr>
          <a:xfrm>
            <a:off x="4524146" y="2322576"/>
            <a:ext cx="914400" cy="640080"/>
          </a:xfrm>
          <a:prstGeom prst="rect">
            <a:avLst/>
          </a:prstGeom>
          <a:noFill/>
          <a:ln/>
        </p:spPr>
        <p:txBody>
          <a:bodyPr wrap="square" lIns="0" tIns="0" rIns="0" bIns="0" rtlCol="0" anchor="t"/>
          <a:lstStyle/>
          <a:p>
            <a:pPr marL="0" indent="0">
              <a:buNone/>
            </a:pPr>
            <a:r>
              <a:rPr lang="en-US" sz="3400" dirty="0">
                <a:solidFill>
                  <a:srgbClr val="C8102E"/>
                </a:solidFill>
                <a:latin typeface="Poppins ExtraBold" pitchFamily="34" charset="0"/>
                <a:ea typeface="Poppins ExtraBold" pitchFamily="34" charset="-122"/>
                <a:cs typeface="Poppins ExtraBold" pitchFamily="34" charset="-120"/>
              </a:rPr>
              <a:t>2</a:t>
            </a:r>
            <a:endParaRPr lang="en-US" sz="3400" dirty="0"/>
          </a:p>
        </p:txBody>
      </p:sp>
      <p:sp>
        <p:nvSpPr>
          <p:cNvPr id="19" name="Text 16"/>
          <p:cNvSpPr/>
          <p:nvPr/>
        </p:nvSpPr>
        <p:spPr>
          <a:xfrm>
            <a:off x="4524146" y="2990088"/>
            <a:ext cx="3179978" cy="320040"/>
          </a:xfrm>
          <a:prstGeom prst="rect">
            <a:avLst/>
          </a:prstGeom>
          <a:noFill/>
          <a:ln/>
        </p:spPr>
        <p:txBody>
          <a:bodyPr wrap="square" lIns="0" tIns="0" rIns="0" bIns="0" rtlCol="0" anchor="t"/>
          <a:lstStyle/>
          <a:p>
            <a:pPr marL="0" indent="0">
              <a:buNone/>
            </a:pPr>
            <a:r>
              <a:rPr lang="en-US" sz="1300" dirty="0">
                <a:solidFill>
                  <a:srgbClr val="FFFFFF"/>
                </a:solidFill>
                <a:latin typeface="Poppins SemiBold" pitchFamily="34" charset="0"/>
                <a:ea typeface="Poppins SemiBold" pitchFamily="34" charset="-122"/>
                <a:cs typeface="Poppins SemiBold" pitchFamily="34" charset="-120"/>
              </a:rPr>
              <a:t>Distinctive Competence</a:t>
            </a:r>
            <a:endParaRPr lang="en-US" sz="1300" dirty="0"/>
          </a:p>
        </p:txBody>
      </p:sp>
      <p:sp>
        <p:nvSpPr>
          <p:cNvPr id="20" name="Text 17"/>
          <p:cNvSpPr/>
          <p:nvPr/>
        </p:nvSpPr>
        <p:spPr>
          <a:xfrm>
            <a:off x="4524146" y="3328416"/>
            <a:ext cx="3179978" cy="685800"/>
          </a:xfrm>
          <a:prstGeom prst="rect">
            <a:avLst/>
          </a:prstGeom>
          <a:noFill/>
          <a:ln/>
        </p:spPr>
        <p:txBody>
          <a:bodyPr wrap="square" lIns="0" tIns="0" rIns="0" bIns="0" rtlCol="0" anchor="t"/>
          <a:lstStyle/>
          <a:p>
            <a:pPr marL="0" indent="0">
              <a:lnSpc>
                <a:spcPct val="106000"/>
              </a:lnSpc>
              <a:buNone/>
            </a:pPr>
            <a:r>
              <a:rPr lang="en-US" sz="950" dirty="0">
                <a:solidFill>
                  <a:srgbClr val="D9CFC7"/>
                </a:solidFill>
                <a:latin typeface="Poppins" pitchFamily="34" charset="0"/>
                <a:ea typeface="Poppins" pitchFamily="34" charset="-122"/>
                <a:cs typeface="Poppins" pitchFamily="34" charset="-120"/>
              </a:rPr>
              <a:t>Kemampuan yang membuat perusahaan mengerjakan aktivitas itu LEBIH BAIK dari pesaingnya.</a:t>
            </a:r>
            <a:endParaRPr lang="en-US" sz="950" dirty="0"/>
          </a:p>
        </p:txBody>
      </p:sp>
      <p:sp>
        <p:nvSpPr>
          <p:cNvPr id="21" name="Text 18"/>
          <p:cNvSpPr/>
          <p:nvPr/>
        </p:nvSpPr>
        <p:spPr>
          <a:xfrm>
            <a:off x="4524146" y="4297680"/>
            <a:ext cx="3179978" cy="320040"/>
          </a:xfrm>
          <a:prstGeom prst="rect">
            <a:avLst/>
          </a:prstGeom>
          <a:noFill/>
          <a:ln/>
        </p:spPr>
        <p:txBody>
          <a:bodyPr wrap="square" lIns="0" tIns="0" rIns="0" bIns="0" rtlCol="0" anchor="t"/>
          <a:lstStyle/>
          <a:p>
            <a:pPr marL="0" indent="0">
              <a:buNone/>
            </a:pPr>
            <a:r>
              <a:rPr lang="en-US" sz="850" dirty="0">
                <a:solidFill>
                  <a:srgbClr val="FBE122"/>
                </a:solidFill>
                <a:latin typeface="Poppins Medium" pitchFamily="34" charset="0"/>
                <a:ea typeface="Poppins Medium" pitchFamily="34" charset="-122"/>
                <a:cs typeface="Poppins Medium" pitchFamily="34" charset="-120"/>
              </a:rPr>
              <a:t>Sudah membedakan, tapi belum tentu inti strategi.</a:t>
            </a:r>
            <a:endParaRPr lang="en-US" sz="850" dirty="0"/>
          </a:p>
        </p:txBody>
      </p:sp>
      <p:sp>
        <p:nvSpPr>
          <p:cNvPr id="22" name="Shape 19"/>
          <p:cNvSpPr/>
          <p:nvPr/>
        </p:nvSpPr>
        <p:spPr>
          <a:xfrm>
            <a:off x="8097317" y="1755648"/>
            <a:ext cx="3545738" cy="2926080"/>
          </a:xfrm>
          <a:prstGeom prst="rect">
            <a:avLst/>
          </a:prstGeom>
          <a:solidFill>
            <a:srgbClr val="C8102E"/>
          </a:solidFill>
          <a:ln w="12700">
            <a:solidFill>
              <a:srgbClr val="C8102E"/>
            </a:solidFill>
            <a:prstDash val="solid"/>
          </a:ln>
        </p:spPr>
      </p:sp>
      <p:sp>
        <p:nvSpPr>
          <p:cNvPr id="23" name="Shape 20"/>
          <p:cNvSpPr/>
          <p:nvPr/>
        </p:nvSpPr>
        <p:spPr>
          <a:xfrm>
            <a:off x="8097317" y="1755648"/>
            <a:ext cx="3545738" cy="54864"/>
          </a:xfrm>
          <a:prstGeom prst="rect">
            <a:avLst/>
          </a:prstGeom>
          <a:solidFill>
            <a:srgbClr val="FBE122"/>
          </a:solidFill>
          <a:ln w="12700">
            <a:solidFill>
              <a:srgbClr val="FBE122"/>
            </a:solidFill>
            <a:prstDash val="solid"/>
          </a:ln>
        </p:spPr>
      </p:sp>
      <p:sp>
        <p:nvSpPr>
          <p:cNvPr id="24" name="Text 21"/>
          <p:cNvSpPr/>
          <p:nvPr/>
        </p:nvSpPr>
        <p:spPr>
          <a:xfrm>
            <a:off x="8298485" y="1865376"/>
            <a:ext cx="914400" cy="640080"/>
          </a:xfrm>
          <a:prstGeom prst="rect">
            <a:avLst/>
          </a:prstGeom>
          <a:noFill/>
          <a:ln/>
        </p:spPr>
        <p:txBody>
          <a:bodyPr wrap="square" lIns="0" tIns="0" rIns="0" bIns="0" rtlCol="0" anchor="t"/>
          <a:lstStyle/>
          <a:p>
            <a:pPr marL="0" indent="0">
              <a:buNone/>
            </a:pPr>
            <a:r>
              <a:rPr lang="en-US" sz="3400" dirty="0">
                <a:solidFill>
                  <a:srgbClr val="FBE122"/>
                </a:solidFill>
                <a:latin typeface="Poppins ExtraBold" pitchFamily="34" charset="0"/>
                <a:ea typeface="Poppins ExtraBold" pitchFamily="34" charset="-122"/>
                <a:cs typeface="Poppins ExtraBold" pitchFamily="34" charset="-120"/>
              </a:rPr>
              <a:t>3</a:t>
            </a:r>
            <a:endParaRPr lang="en-US" sz="3400" dirty="0"/>
          </a:p>
        </p:txBody>
      </p:sp>
      <p:sp>
        <p:nvSpPr>
          <p:cNvPr id="25" name="Text 22"/>
          <p:cNvSpPr/>
          <p:nvPr/>
        </p:nvSpPr>
        <p:spPr>
          <a:xfrm>
            <a:off x="8298485" y="2532888"/>
            <a:ext cx="3179978" cy="320040"/>
          </a:xfrm>
          <a:prstGeom prst="rect">
            <a:avLst/>
          </a:prstGeom>
          <a:noFill/>
          <a:ln/>
        </p:spPr>
        <p:txBody>
          <a:bodyPr wrap="square" lIns="0" tIns="0" rIns="0" bIns="0" rtlCol="0" anchor="t"/>
          <a:lstStyle/>
          <a:p>
            <a:pPr marL="0" indent="0">
              <a:buNone/>
            </a:pPr>
            <a:r>
              <a:rPr lang="en-US" sz="1300" dirty="0">
                <a:solidFill>
                  <a:srgbClr val="FFFFFF"/>
                </a:solidFill>
                <a:latin typeface="Poppins SemiBold" pitchFamily="34" charset="0"/>
                <a:ea typeface="Poppins SemiBold" pitchFamily="34" charset="-122"/>
                <a:cs typeface="Poppins SemiBold" pitchFamily="34" charset="-120"/>
              </a:rPr>
              <a:t>Core Competence</a:t>
            </a:r>
            <a:endParaRPr lang="en-US" sz="1300" dirty="0"/>
          </a:p>
        </p:txBody>
      </p:sp>
      <p:sp>
        <p:nvSpPr>
          <p:cNvPr id="26" name="Text 23"/>
          <p:cNvSpPr/>
          <p:nvPr/>
        </p:nvSpPr>
        <p:spPr>
          <a:xfrm>
            <a:off x="8298485" y="2871216"/>
            <a:ext cx="3179978" cy="685800"/>
          </a:xfrm>
          <a:prstGeom prst="rect">
            <a:avLst/>
          </a:prstGeom>
          <a:noFill/>
          <a:ln/>
        </p:spPr>
        <p:txBody>
          <a:bodyPr wrap="square" lIns="0" tIns="0" rIns="0" bIns="0" rtlCol="0" anchor="t"/>
          <a:lstStyle/>
          <a:p>
            <a:pPr marL="0" indent="0">
              <a:lnSpc>
                <a:spcPct val="106000"/>
              </a:lnSpc>
              <a:buNone/>
            </a:pPr>
            <a:r>
              <a:rPr lang="en-US" sz="950" dirty="0">
                <a:solidFill>
                  <a:srgbClr val="FFFFFF"/>
                </a:solidFill>
                <a:latin typeface="Poppins" pitchFamily="34" charset="0"/>
                <a:ea typeface="Poppins" pitchFamily="34" charset="-122"/>
                <a:cs typeface="Poppins" pitchFamily="34" charset="-120"/>
              </a:rPr>
              <a:t>Aktivitas yang dikuasai dengan baik DAN berada di jantung strategi perusahaan.</a:t>
            </a:r>
            <a:endParaRPr lang="en-US" sz="950" dirty="0"/>
          </a:p>
        </p:txBody>
      </p:sp>
      <p:sp>
        <p:nvSpPr>
          <p:cNvPr id="27" name="Text 24"/>
          <p:cNvSpPr/>
          <p:nvPr/>
        </p:nvSpPr>
        <p:spPr>
          <a:xfrm>
            <a:off x="8298485" y="4297680"/>
            <a:ext cx="3179978" cy="320040"/>
          </a:xfrm>
          <a:prstGeom prst="rect">
            <a:avLst/>
          </a:prstGeom>
          <a:noFill/>
          <a:ln/>
        </p:spPr>
        <p:txBody>
          <a:bodyPr wrap="square" lIns="0" tIns="0" rIns="0" bIns="0" rtlCol="0" anchor="t"/>
          <a:lstStyle/>
          <a:p>
            <a:pPr marL="0" indent="0">
              <a:buNone/>
            </a:pPr>
            <a:r>
              <a:rPr lang="en-US" sz="850" dirty="0">
                <a:solidFill>
                  <a:srgbClr val="FBE122"/>
                </a:solidFill>
                <a:latin typeface="Poppins Medium" pitchFamily="34" charset="0"/>
                <a:ea typeface="Poppins Medium" pitchFamily="34" charset="-122"/>
                <a:cs typeface="Poppins Medium" pitchFamily="34" charset="-120"/>
              </a:rPr>
              <a:t>Paling berharga. Sering jadi mesin pertumbuhan.</a:t>
            </a:r>
            <a:endParaRPr lang="en-US" sz="850" dirty="0"/>
          </a:p>
        </p:txBody>
      </p:sp>
      <p:sp>
        <p:nvSpPr>
          <p:cNvPr id="28" name="Text 25"/>
          <p:cNvSpPr/>
          <p:nvPr/>
        </p:nvSpPr>
        <p:spPr>
          <a:xfrm>
            <a:off x="548640" y="4864608"/>
            <a:ext cx="365760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CONTOH DARI BUKU</a:t>
            </a:r>
            <a:endParaRPr lang="en-US" sz="850" dirty="0"/>
          </a:p>
        </p:txBody>
      </p:sp>
      <p:sp>
        <p:nvSpPr>
          <p:cNvPr id="29" name="Shape 26"/>
          <p:cNvSpPr/>
          <p:nvPr/>
        </p:nvSpPr>
        <p:spPr>
          <a:xfrm>
            <a:off x="548640" y="5138928"/>
            <a:ext cx="3545738" cy="868680"/>
          </a:xfrm>
          <a:prstGeom prst="rect">
            <a:avLst/>
          </a:prstGeom>
          <a:solidFill>
            <a:srgbClr val="27161A"/>
          </a:solidFill>
          <a:ln w="12700">
            <a:solidFill>
              <a:srgbClr val="27161A"/>
            </a:solidFill>
            <a:prstDash val="solid"/>
          </a:ln>
        </p:spPr>
      </p:sp>
      <p:sp>
        <p:nvSpPr>
          <p:cNvPr id="30" name="Shape 27"/>
          <p:cNvSpPr/>
          <p:nvPr/>
        </p:nvSpPr>
        <p:spPr>
          <a:xfrm>
            <a:off x="548640" y="5138928"/>
            <a:ext cx="54864" cy="868680"/>
          </a:xfrm>
          <a:prstGeom prst="rect">
            <a:avLst/>
          </a:prstGeom>
          <a:solidFill>
            <a:srgbClr val="C8102E"/>
          </a:solidFill>
          <a:ln w="12700">
            <a:solidFill>
              <a:srgbClr val="C8102E"/>
            </a:solidFill>
            <a:prstDash val="solid"/>
          </a:ln>
        </p:spPr>
      </p:sp>
      <p:sp>
        <p:nvSpPr>
          <p:cNvPr id="31" name="Text 28"/>
          <p:cNvSpPr/>
          <p:nvPr/>
        </p:nvSpPr>
        <p:spPr>
          <a:xfrm>
            <a:off x="768096" y="5285232"/>
            <a:ext cx="3179978" cy="274320"/>
          </a:xfrm>
          <a:prstGeom prst="rect">
            <a:avLst/>
          </a:prstGeom>
          <a:noFill/>
          <a:ln/>
        </p:spPr>
        <p:txBody>
          <a:bodyPr wrap="square" lIns="0" tIns="0" rIns="0" bIns="0" rtlCol="0" anchor="t"/>
          <a:lstStyle/>
          <a:p>
            <a:pPr marL="0" indent="0">
              <a:lnSpc>
                <a:spcPct val="95000"/>
              </a:lnSpc>
              <a:buNone/>
            </a:pPr>
            <a:r>
              <a:rPr lang="en-US" sz="1100" dirty="0">
                <a:solidFill>
                  <a:srgbClr val="FFFFFF"/>
                </a:solidFill>
                <a:latin typeface="Poppins SemiBold" pitchFamily="34" charset="0"/>
                <a:ea typeface="Poppins SemiBold" pitchFamily="34" charset="-122"/>
                <a:cs typeface="Poppins SemiBold" pitchFamily="34" charset="-120"/>
              </a:rPr>
              <a:t>Procter &amp; Gamble</a:t>
            </a:r>
            <a:endParaRPr lang="en-US" sz="1100" dirty="0"/>
          </a:p>
        </p:txBody>
      </p:sp>
      <p:sp>
        <p:nvSpPr>
          <p:cNvPr id="32" name="Text 29"/>
          <p:cNvSpPr/>
          <p:nvPr/>
        </p:nvSpPr>
        <p:spPr>
          <a:xfrm>
            <a:off x="768096" y="5614416"/>
            <a:ext cx="3179978" cy="283464"/>
          </a:xfrm>
          <a:prstGeom prst="rect">
            <a:avLst/>
          </a:prstGeom>
          <a:noFill/>
          <a:ln/>
        </p:spPr>
        <p:txBody>
          <a:bodyPr wrap="square" lIns="0" tIns="0" rIns="0" bIns="0" rtlCol="0" anchor="t"/>
          <a:lstStyle/>
          <a:p>
            <a:pPr marL="0" indent="0">
              <a:lnSpc>
                <a:spcPct val="108000"/>
              </a:lnSpc>
              <a:buNone/>
            </a:pPr>
            <a:r>
              <a:rPr lang="en-US" sz="900" dirty="0">
                <a:solidFill>
                  <a:srgbClr val="D9CFC7"/>
                </a:solidFill>
                <a:latin typeface="Poppins" pitchFamily="34" charset="0"/>
                <a:ea typeface="Poppins" pitchFamily="34" charset="-122"/>
                <a:cs typeface="Poppins" pitchFamily="34" charset="-120"/>
              </a:rPr>
              <a:t>Core competence di manajemen merek, melahirkan Tide, Crest, Pampers, Olay, Febreze.</a:t>
            </a:r>
            <a:endParaRPr lang="en-US" sz="900" dirty="0"/>
          </a:p>
        </p:txBody>
      </p:sp>
      <p:sp>
        <p:nvSpPr>
          <p:cNvPr id="33" name="Shape 30"/>
          <p:cNvSpPr/>
          <p:nvPr/>
        </p:nvSpPr>
        <p:spPr>
          <a:xfrm>
            <a:off x="4322978" y="5138928"/>
            <a:ext cx="3545738" cy="868680"/>
          </a:xfrm>
          <a:prstGeom prst="rect">
            <a:avLst/>
          </a:prstGeom>
          <a:solidFill>
            <a:srgbClr val="27161A"/>
          </a:solidFill>
          <a:ln w="12700">
            <a:solidFill>
              <a:srgbClr val="27161A"/>
            </a:solidFill>
            <a:prstDash val="solid"/>
          </a:ln>
        </p:spPr>
      </p:sp>
      <p:sp>
        <p:nvSpPr>
          <p:cNvPr id="34" name="Shape 31"/>
          <p:cNvSpPr/>
          <p:nvPr/>
        </p:nvSpPr>
        <p:spPr>
          <a:xfrm>
            <a:off x="4322978" y="5138928"/>
            <a:ext cx="54864" cy="868680"/>
          </a:xfrm>
          <a:prstGeom prst="rect">
            <a:avLst/>
          </a:prstGeom>
          <a:solidFill>
            <a:srgbClr val="C8102E"/>
          </a:solidFill>
          <a:ln w="12700">
            <a:solidFill>
              <a:srgbClr val="C8102E"/>
            </a:solidFill>
            <a:prstDash val="solid"/>
          </a:ln>
        </p:spPr>
      </p:sp>
      <p:sp>
        <p:nvSpPr>
          <p:cNvPr id="35" name="Text 32"/>
          <p:cNvSpPr/>
          <p:nvPr/>
        </p:nvSpPr>
        <p:spPr>
          <a:xfrm>
            <a:off x="4542434" y="5285232"/>
            <a:ext cx="3179978" cy="274320"/>
          </a:xfrm>
          <a:prstGeom prst="rect">
            <a:avLst/>
          </a:prstGeom>
          <a:noFill/>
          <a:ln/>
        </p:spPr>
        <p:txBody>
          <a:bodyPr wrap="square" lIns="0" tIns="0" rIns="0" bIns="0" rtlCol="0" anchor="t"/>
          <a:lstStyle/>
          <a:p>
            <a:pPr marL="0" indent="0">
              <a:lnSpc>
                <a:spcPct val="95000"/>
              </a:lnSpc>
              <a:buNone/>
            </a:pPr>
            <a:r>
              <a:rPr lang="en-US" sz="1100" dirty="0">
                <a:solidFill>
                  <a:srgbClr val="FFFFFF"/>
                </a:solidFill>
                <a:latin typeface="Poppins SemiBold" pitchFamily="34" charset="0"/>
                <a:ea typeface="Poppins SemiBold" pitchFamily="34" charset="-122"/>
                <a:cs typeface="Poppins SemiBold" pitchFamily="34" charset="-120"/>
              </a:rPr>
              <a:t>Nike</a:t>
            </a:r>
            <a:endParaRPr lang="en-US" sz="1100" dirty="0"/>
          </a:p>
        </p:txBody>
      </p:sp>
      <p:sp>
        <p:nvSpPr>
          <p:cNvPr id="36" name="Text 33"/>
          <p:cNvSpPr/>
          <p:nvPr/>
        </p:nvSpPr>
        <p:spPr>
          <a:xfrm>
            <a:off x="4542434" y="5614416"/>
            <a:ext cx="3179978" cy="283464"/>
          </a:xfrm>
          <a:prstGeom prst="rect">
            <a:avLst/>
          </a:prstGeom>
          <a:noFill/>
          <a:ln/>
        </p:spPr>
        <p:txBody>
          <a:bodyPr wrap="square" lIns="0" tIns="0" rIns="0" bIns="0" rtlCol="0" anchor="t"/>
          <a:lstStyle/>
          <a:p>
            <a:pPr marL="0" indent="0">
              <a:lnSpc>
                <a:spcPct val="108000"/>
              </a:lnSpc>
              <a:buNone/>
            </a:pPr>
            <a:r>
              <a:rPr lang="en-US" sz="900" dirty="0">
                <a:solidFill>
                  <a:srgbClr val="D9CFC7"/>
                </a:solidFill>
                <a:latin typeface="Poppins" pitchFamily="34" charset="0"/>
                <a:ea typeface="Poppins" pitchFamily="34" charset="-122"/>
                <a:cs typeface="Poppins" pitchFamily="34" charset="-120"/>
              </a:rPr>
              <a:t>Core competence di desain dan pemasaran sepatu serta apparel olahraga.</a:t>
            </a:r>
            <a:endParaRPr lang="en-US" sz="900" dirty="0"/>
          </a:p>
        </p:txBody>
      </p:sp>
      <p:sp>
        <p:nvSpPr>
          <p:cNvPr id="37" name="Shape 34"/>
          <p:cNvSpPr/>
          <p:nvPr/>
        </p:nvSpPr>
        <p:spPr>
          <a:xfrm>
            <a:off x="8097317" y="5138928"/>
            <a:ext cx="3545738" cy="868680"/>
          </a:xfrm>
          <a:prstGeom prst="rect">
            <a:avLst/>
          </a:prstGeom>
          <a:solidFill>
            <a:srgbClr val="27161A"/>
          </a:solidFill>
          <a:ln w="12700">
            <a:solidFill>
              <a:srgbClr val="27161A"/>
            </a:solidFill>
            <a:prstDash val="solid"/>
          </a:ln>
        </p:spPr>
      </p:sp>
      <p:sp>
        <p:nvSpPr>
          <p:cNvPr id="38" name="Shape 35"/>
          <p:cNvSpPr/>
          <p:nvPr/>
        </p:nvSpPr>
        <p:spPr>
          <a:xfrm>
            <a:off x="8097317" y="5138928"/>
            <a:ext cx="54864" cy="868680"/>
          </a:xfrm>
          <a:prstGeom prst="rect">
            <a:avLst/>
          </a:prstGeom>
          <a:solidFill>
            <a:srgbClr val="C8102E"/>
          </a:solidFill>
          <a:ln w="12700">
            <a:solidFill>
              <a:srgbClr val="C8102E"/>
            </a:solidFill>
            <a:prstDash val="solid"/>
          </a:ln>
        </p:spPr>
      </p:sp>
      <p:sp>
        <p:nvSpPr>
          <p:cNvPr id="39" name="Text 36"/>
          <p:cNvSpPr/>
          <p:nvPr/>
        </p:nvSpPr>
        <p:spPr>
          <a:xfrm>
            <a:off x="8316773" y="5285232"/>
            <a:ext cx="3179978" cy="274320"/>
          </a:xfrm>
          <a:prstGeom prst="rect">
            <a:avLst/>
          </a:prstGeom>
          <a:noFill/>
          <a:ln/>
        </p:spPr>
        <p:txBody>
          <a:bodyPr wrap="square" lIns="0" tIns="0" rIns="0" bIns="0" rtlCol="0" anchor="t"/>
          <a:lstStyle/>
          <a:p>
            <a:pPr marL="0" indent="0">
              <a:lnSpc>
                <a:spcPct val="95000"/>
              </a:lnSpc>
              <a:buNone/>
            </a:pPr>
            <a:r>
              <a:rPr lang="en-US" sz="1100" dirty="0">
                <a:solidFill>
                  <a:srgbClr val="FFFFFF"/>
                </a:solidFill>
                <a:latin typeface="Poppins SemiBold" pitchFamily="34" charset="0"/>
                <a:ea typeface="Poppins SemiBold" pitchFamily="34" charset="-122"/>
                <a:cs typeface="Poppins SemiBold" pitchFamily="34" charset="-120"/>
              </a:rPr>
              <a:t>Kellogg</a:t>
            </a:r>
            <a:endParaRPr lang="en-US" sz="1100" dirty="0"/>
          </a:p>
        </p:txBody>
      </p:sp>
      <p:sp>
        <p:nvSpPr>
          <p:cNvPr id="40" name="Text 37"/>
          <p:cNvSpPr/>
          <p:nvPr/>
        </p:nvSpPr>
        <p:spPr>
          <a:xfrm>
            <a:off x="8316773" y="5614416"/>
            <a:ext cx="3179978" cy="283464"/>
          </a:xfrm>
          <a:prstGeom prst="rect">
            <a:avLst/>
          </a:prstGeom>
          <a:noFill/>
          <a:ln/>
        </p:spPr>
        <p:txBody>
          <a:bodyPr wrap="square" lIns="0" tIns="0" rIns="0" bIns="0" rtlCol="0" anchor="t"/>
          <a:lstStyle/>
          <a:p>
            <a:pPr marL="0" indent="0">
              <a:lnSpc>
                <a:spcPct val="108000"/>
              </a:lnSpc>
              <a:buNone/>
            </a:pPr>
            <a:r>
              <a:rPr lang="en-US" sz="900" dirty="0">
                <a:solidFill>
                  <a:srgbClr val="D9CFC7"/>
                </a:solidFill>
                <a:latin typeface="Poppins" pitchFamily="34" charset="0"/>
                <a:ea typeface="Poppins" pitchFamily="34" charset="-122"/>
                <a:cs typeface="Poppins" pitchFamily="34" charset="-120"/>
              </a:rPr>
              <a:t>Core competence di pengembangan, produksi, dan pemasaran sereal sarapan.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80129"/>
            <a:ext cx="10728655" cy="173736"/>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2 </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SWOT BUKAN BIKIN EMPAT DAFTAR</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Nilai SWOT ada pada kesimpulan yang ditarik dari daftarnya, bukan pada daftarnya. Buku menggambarkannya sebagai tiga langkah.</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08</a:t>
            </a:r>
            <a:endParaRPr lang="en-US" sz="900" dirty="0"/>
          </a:p>
        </p:txBody>
      </p:sp>
      <p:sp>
        <p:nvSpPr>
          <p:cNvPr id="10" name="Shape 7"/>
          <p:cNvSpPr/>
          <p:nvPr/>
        </p:nvSpPr>
        <p:spPr>
          <a:xfrm>
            <a:off x="548640" y="1755648"/>
            <a:ext cx="5120640" cy="960120"/>
          </a:xfrm>
          <a:prstGeom prst="rect">
            <a:avLst/>
          </a:prstGeom>
          <a:solidFill>
            <a:srgbClr val="27161A"/>
          </a:solidFill>
          <a:ln w="12700">
            <a:solidFill>
              <a:srgbClr val="27161A"/>
            </a:solidFill>
            <a:prstDash val="solid"/>
          </a:ln>
        </p:spPr>
      </p:sp>
      <p:sp>
        <p:nvSpPr>
          <p:cNvPr id="11" name="Shape 8"/>
          <p:cNvSpPr/>
          <p:nvPr/>
        </p:nvSpPr>
        <p:spPr>
          <a:xfrm>
            <a:off x="731520" y="2002536"/>
            <a:ext cx="457200" cy="457200"/>
          </a:xfrm>
          <a:prstGeom prst="ellipse">
            <a:avLst/>
          </a:prstGeom>
          <a:solidFill>
            <a:srgbClr val="C8102E"/>
          </a:solidFill>
          <a:ln w="12700">
            <a:solidFill>
              <a:srgbClr val="C8102E"/>
            </a:solidFill>
            <a:prstDash val="solid"/>
          </a:ln>
        </p:spPr>
      </p:sp>
      <p:sp>
        <p:nvSpPr>
          <p:cNvPr id="12" name="Text 9"/>
          <p:cNvSpPr/>
          <p:nvPr/>
        </p:nvSpPr>
        <p:spPr>
          <a:xfrm>
            <a:off x="731520" y="2002536"/>
            <a:ext cx="457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ExtraBold" pitchFamily="34" charset="0"/>
                <a:ea typeface="Poppins ExtraBold" pitchFamily="34" charset="-122"/>
                <a:cs typeface="Poppins ExtraBold" pitchFamily="34" charset="-120"/>
              </a:rPr>
              <a:t>1</a:t>
            </a:r>
            <a:endParaRPr lang="en-US" sz="1200" dirty="0"/>
          </a:p>
        </p:txBody>
      </p:sp>
      <p:sp>
        <p:nvSpPr>
          <p:cNvPr id="13" name="Text 10"/>
          <p:cNvSpPr/>
          <p:nvPr/>
        </p:nvSpPr>
        <p:spPr>
          <a:xfrm>
            <a:off x="1371600" y="1892808"/>
            <a:ext cx="4114800" cy="274320"/>
          </a:xfrm>
          <a:prstGeom prst="rect">
            <a:avLst/>
          </a:prstGeom>
          <a:noFill/>
          <a:ln/>
        </p:spPr>
        <p:txBody>
          <a:bodyPr wrap="square" lIns="0" tIns="0" rIns="0" bIns="0" rtlCol="0" anchor="t"/>
          <a:lstStyle/>
          <a:p>
            <a:pPr marL="0" indent="0">
              <a:buNone/>
            </a:pPr>
            <a:r>
              <a:rPr lang="en-US" sz="1200" dirty="0">
                <a:solidFill>
                  <a:srgbClr val="FFFFFF"/>
                </a:solidFill>
                <a:latin typeface="Poppins SemiBold" pitchFamily="34" charset="0"/>
                <a:ea typeface="Poppins SemiBold" pitchFamily="34" charset="-122"/>
                <a:cs typeface="Poppins SemiBold" pitchFamily="34" charset="-120"/>
              </a:rPr>
              <a:t>Identifikasi</a:t>
            </a:r>
            <a:endParaRPr lang="en-US" sz="1200" dirty="0"/>
          </a:p>
        </p:txBody>
      </p:sp>
      <p:sp>
        <p:nvSpPr>
          <p:cNvPr id="14" name="Text 11"/>
          <p:cNvSpPr/>
          <p:nvPr/>
        </p:nvSpPr>
        <p:spPr>
          <a:xfrm>
            <a:off x="1371600" y="2167128"/>
            <a:ext cx="4114800" cy="530352"/>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Susun keempat daftar berdasarkan bukti, bukan opini. Table 4.2 di buku memberi contoh isi masing-masing.</a:t>
            </a:r>
            <a:endParaRPr lang="en-US" sz="900" dirty="0"/>
          </a:p>
        </p:txBody>
      </p:sp>
      <p:sp>
        <p:nvSpPr>
          <p:cNvPr id="15" name="Shape 12"/>
          <p:cNvSpPr/>
          <p:nvPr/>
        </p:nvSpPr>
        <p:spPr>
          <a:xfrm>
            <a:off x="548640" y="2852928"/>
            <a:ext cx="5120640" cy="960120"/>
          </a:xfrm>
          <a:prstGeom prst="rect">
            <a:avLst/>
          </a:prstGeom>
          <a:solidFill>
            <a:srgbClr val="27161A"/>
          </a:solidFill>
          <a:ln w="12700">
            <a:solidFill>
              <a:srgbClr val="27161A"/>
            </a:solidFill>
            <a:prstDash val="solid"/>
          </a:ln>
        </p:spPr>
      </p:sp>
      <p:sp>
        <p:nvSpPr>
          <p:cNvPr id="16" name="Shape 13"/>
          <p:cNvSpPr/>
          <p:nvPr/>
        </p:nvSpPr>
        <p:spPr>
          <a:xfrm>
            <a:off x="731520" y="3099816"/>
            <a:ext cx="457200" cy="457200"/>
          </a:xfrm>
          <a:prstGeom prst="ellipse">
            <a:avLst/>
          </a:prstGeom>
          <a:solidFill>
            <a:srgbClr val="C8102E"/>
          </a:solidFill>
          <a:ln w="12700">
            <a:solidFill>
              <a:srgbClr val="C8102E"/>
            </a:solidFill>
            <a:prstDash val="solid"/>
          </a:ln>
        </p:spPr>
      </p:sp>
      <p:sp>
        <p:nvSpPr>
          <p:cNvPr id="17" name="Text 14"/>
          <p:cNvSpPr/>
          <p:nvPr/>
        </p:nvSpPr>
        <p:spPr>
          <a:xfrm>
            <a:off x="731520" y="3099816"/>
            <a:ext cx="457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ExtraBold" pitchFamily="34" charset="0"/>
                <a:ea typeface="Poppins ExtraBold" pitchFamily="34" charset="-122"/>
                <a:cs typeface="Poppins ExtraBold" pitchFamily="34" charset="-120"/>
              </a:rPr>
              <a:t>2</a:t>
            </a:r>
            <a:endParaRPr lang="en-US" sz="1200" dirty="0"/>
          </a:p>
        </p:txBody>
      </p:sp>
      <p:sp>
        <p:nvSpPr>
          <p:cNvPr id="18" name="Text 15"/>
          <p:cNvSpPr/>
          <p:nvPr/>
        </p:nvSpPr>
        <p:spPr>
          <a:xfrm>
            <a:off x="1371600" y="2990088"/>
            <a:ext cx="4114800" cy="274320"/>
          </a:xfrm>
          <a:prstGeom prst="rect">
            <a:avLst/>
          </a:prstGeom>
          <a:noFill/>
          <a:ln/>
        </p:spPr>
        <p:txBody>
          <a:bodyPr wrap="square" lIns="0" tIns="0" rIns="0" bIns="0" rtlCol="0" anchor="t"/>
          <a:lstStyle/>
          <a:p>
            <a:pPr marL="0" indent="0">
              <a:buNone/>
            </a:pPr>
            <a:r>
              <a:rPr lang="en-US" sz="1200" dirty="0">
                <a:solidFill>
                  <a:srgbClr val="FFFFFF"/>
                </a:solidFill>
                <a:latin typeface="Poppins SemiBold" pitchFamily="34" charset="0"/>
                <a:ea typeface="Poppins SemiBold" pitchFamily="34" charset="-122"/>
                <a:cs typeface="Poppins SemiBold" pitchFamily="34" charset="-120"/>
              </a:rPr>
              <a:t>Tarik kesimpulan</a:t>
            </a:r>
            <a:endParaRPr lang="en-US" sz="1200" dirty="0"/>
          </a:p>
        </p:txBody>
      </p:sp>
      <p:sp>
        <p:nvSpPr>
          <p:cNvPr id="19" name="Text 16"/>
          <p:cNvSpPr/>
          <p:nvPr/>
        </p:nvSpPr>
        <p:spPr>
          <a:xfrm>
            <a:off x="1371600" y="3264408"/>
            <a:ext cx="4114800" cy="530352"/>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Dua pertanyaan: apa sebab berhasil atau gagalnya strategi? Sisi mana dari situasi perusahaan yang menarik, sisi mana yang tidak?</a:t>
            </a:r>
            <a:endParaRPr lang="en-US" sz="900" dirty="0"/>
          </a:p>
        </p:txBody>
      </p:sp>
      <p:sp>
        <p:nvSpPr>
          <p:cNvPr id="20" name="Shape 17"/>
          <p:cNvSpPr/>
          <p:nvPr/>
        </p:nvSpPr>
        <p:spPr>
          <a:xfrm>
            <a:off x="548640" y="3950208"/>
            <a:ext cx="5120640" cy="960120"/>
          </a:xfrm>
          <a:prstGeom prst="rect">
            <a:avLst/>
          </a:prstGeom>
          <a:solidFill>
            <a:srgbClr val="27161A"/>
          </a:solidFill>
          <a:ln w="12700">
            <a:solidFill>
              <a:srgbClr val="27161A"/>
            </a:solidFill>
            <a:prstDash val="solid"/>
          </a:ln>
        </p:spPr>
      </p:sp>
      <p:sp>
        <p:nvSpPr>
          <p:cNvPr id="21" name="Shape 18"/>
          <p:cNvSpPr/>
          <p:nvPr/>
        </p:nvSpPr>
        <p:spPr>
          <a:xfrm>
            <a:off x="731520" y="4197096"/>
            <a:ext cx="457200" cy="457200"/>
          </a:xfrm>
          <a:prstGeom prst="ellipse">
            <a:avLst/>
          </a:prstGeom>
          <a:solidFill>
            <a:srgbClr val="C8102E"/>
          </a:solidFill>
          <a:ln w="12700">
            <a:solidFill>
              <a:srgbClr val="C8102E"/>
            </a:solidFill>
            <a:prstDash val="solid"/>
          </a:ln>
        </p:spPr>
      </p:sp>
      <p:sp>
        <p:nvSpPr>
          <p:cNvPr id="22" name="Text 19"/>
          <p:cNvSpPr/>
          <p:nvPr/>
        </p:nvSpPr>
        <p:spPr>
          <a:xfrm>
            <a:off x="731520" y="4197096"/>
            <a:ext cx="457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ExtraBold" pitchFamily="34" charset="0"/>
                <a:ea typeface="Poppins ExtraBold" pitchFamily="34" charset="-122"/>
                <a:cs typeface="Poppins ExtraBold" pitchFamily="34" charset="-120"/>
              </a:rPr>
              <a:t>3</a:t>
            </a:r>
            <a:endParaRPr lang="en-US" sz="1200" dirty="0"/>
          </a:p>
        </p:txBody>
      </p:sp>
      <p:sp>
        <p:nvSpPr>
          <p:cNvPr id="23" name="Text 20"/>
          <p:cNvSpPr/>
          <p:nvPr/>
        </p:nvSpPr>
        <p:spPr>
          <a:xfrm>
            <a:off x="1371600" y="4087368"/>
            <a:ext cx="4114800" cy="274320"/>
          </a:xfrm>
          <a:prstGeom prst="rect">
            <a:avLst/>
          </a:prstGeom>
          <a:noFill/>
          <a:ln/>
        </p:spPr>
        <p:txBody>
          <a:bodyPr wrap="square" lIns="0" tIns="0" rIns="0" bIns="0" rtlCol="0" anchor="t"/>
          <a:lstStyle/>
          <a:p>
            <a:pPr marL="0" indent="0">
              <a:buNone/>
            </a:pPr>
            <a:r>
              <a:rPr lang="en-US" sz="1200" dirty="0">
                <a:solidFill>
                  <a:srgbClr val="FFFFFF"/>
                </a:solidFill>
                <a:latin typeface="Poppins SemiBold" pitchFamily="34" charset="0"/>
                <a:ea typeface="Poppins SemiBold" pitchFamily="34" charset="-122"/>
                <a:cs typeface="Poppins SemiBold" pitchFamily="34" charset="-120"/>
              </a:rPr>
              <a:t>Terjemahkan jadi tindakan</a:t>
            </a:r>
            <a:endParaRPr lang="en-US" sz="1200" dirty="0"/>
          </a:p>
        </p:txBody>
      </p:sp>
      <p:sp>
        <p:nvSpPr>
          <p:cNvPr id="24" name="Text 21"/>
          <p:cNvSpPr/>
          <p:nvPr/>
        </p:nvSpPr>
        <p:spPr>
          <a:xfrm>
            <a:off x="1371600" y="4361688"/>
            <a:ext cx="4114800" cy="530352"/>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Ubah kesimpulan itu menjadi langkah strategis yang konkret.</a:t>
            </a:r>
            <a:endParaRPr lang="en-US" sz="900" dirty="0"/>
          </a:p>
        </p:txBody>
      </p:sp>
      <p:sp>
        <p:nvSpPr>
          <p:cNvPr id="25" name="Shape 22"/>
          <p:cNvSpPr/>
          <p:nvPr/>
        </p:nvSpPr>
        <p:spPr>
          <a:xfrm>
            <a:off x="5943600" y="1755648"/>
            <a:ext cx="5669280" cy="3154680"/>
          </a:xfrm>
          <a:prstGeom prst="rect">
            <a:avLst/>
          </a:prstGeom>
          <a:solidFill>
            <a:srgbClr val="32191E"/>
          </a:solidFill>
          <a:ln w="12700">
            <a:solidFill>
              <a:srgbClr val="32191E"/>
            </a:solidFill>
            <a:prstDash val="solid"/>
          </a:ln>
        </p:spPr>
      </p:sp>
      <p:sp>
        <p:nvSpPr>
          <p:cNvPr id="26" name="Shape 23"/>
          <p:cNvSpPr/>
          <p:nvPr/>
        </p:nvSpPr>
        <p:spPr>
          <a:xfrm>
            <a:off x="5943600" y="1755648"/>
            <a:ext cx="54864" cy="3154680"/>
          </a:xfrm>
          <a:prstGeom prst="rect">
            <a:avLst/>
          </a:prstGeom>
          <a:solidFill>
            <a:srgbClr val="FBE122"/>
          </a:solidFill>
          <a:ln w="12700">
            <a:solidFill>
              <a:srgbClr val="FBE122"/>
            </a:solidFill>
            <a:prstDash val="solid"/>
          </a:ln>
        </p:spPr>
      </p:sp>
      <p:sp>
        <p:nvSpPr>
          <p:cNvPr id="27" name="Text 24"/>
          <p:cNvSpPr/>
          <p:nvPr/>
        </p:nvSpPr>
        <p:spPr>
          <a:xfrm>
            <a:off x="6199632" y="1920240"/>
            <a:ext cx="5212080" cy="274320"/>
          </a:xfrm>
          <a:prstGeom prst="rect">
            <a:avLst/>
          </a:prstGeom>
          <a:noFill/>
          <a:ln/>
        </p:spPr>
        <p:txBody>
          <a:bodyPr wrap="square" lIns="0" tIns="0" rIns="0" bIns="0" rtlCol="0" anchor="t"/>
          <a:lstStyle/>
          <a:p>
            <a:pPr marL="0" indent="0">
              <a:buNone/>
            </a:pPr>
            <a:r>
              <a:rPr lang="en-US" sz="900" kern="0" spc="120" dirty="0">
                <a:solidFill>
                  <a:srgbClr val="FBE122"/>
                </a:solidFill>
                <a:latin typeface="Poppins SemiBold" pitchFamily="34" charset="0"/>
                <a:ea typeface="Poppins SemiBold" pitchFamily="34" charset="-122"/>
                <a:cs typeface="Poppins SemiBold" pitchFamily="34" charset="-120"/>
              </a:rPr>
              <a:t>ENAM TINDAKAN YANG BISA LAHIR DARI LANGKAH 3</a:t>
            </a:r>
            <a:endParaRPr lang="en-US" sz="900" dirty="0"/>
          </a:p>
        </p:txBody>
      </p:sp>
      <p:sp>
        <p:nvSpPr>
          <p:cNvPr id="28" name="Text 25"/>
          <p:cNvSpPr/>
          <p:nvPr/>
        </p:nvSpPr>
        <p:spPr>
          <a:xfrm>
            <a:off x="6199632" y="2304288"/>
            <a:ext cx="5212080" cy="256032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Jadikan kekuatan sebagai fondasi strategi</a:t>
            </a:r>
            <a:endParaRPr lang="en-US" sz="1000" dirty="0"/>
          </a:p>
          <a:p>
            <a:pPr marL="152400" indent="-152400">
              <a:lnSpc>
                <a:spcPct val="110000"/>
              </a:lnSpc>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Perbaiki kelemahan yang menghambat strategi</a:t>
            </a:r>
            <a:endParaRPr lang="en-US" sz="1000" dirty="0"/>
          </a:p>
          <a:p>
            <a:pPr marL="152400" indent="-152400">
              <a:lnSpc>
                <a:spcPct val="110000"/>
              </a:lnSpc>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Pakai kekuatan untuk meredam ancaman besar</a:t>
            </a:r>
            <a:endParaRPr lang="en-US" sz="1000" dirty="0"/>
          </a:p>
          <a:p>
            <a:pPr marL="152400" indent="-152400">
              <a:lnSpc>
                <a:spcPct val="110000"/>
              </a:lnSpc>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Kejar peluang yang paling cocok dengan kekuatan</a:t>
            </a:r>
            <a:endParaRPr lang="en-US" sz="1000" dirty="0"/>
          </a:p>
          <a:p>
            <a:pPr marL="152400" indent="-152400">
              <a:lnSpc>
                <a:spcPct val="110000"/>
              </a:lnSpc>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Benahi kelemahan yang menghalangi peluang penting</a:t>
            </a:r>
            <a:endParaRPr lang="en-US" sz="1000" dirty="0"/>
          </a:p>
          <a:p>
            <a:pPr marL="152400" indent="-152400">
              <a:lnSpc>
                <a:spcPct val="110000"/>
              </a:lnSpc>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Tutup kelemahan yang membuat rentan pada ancaman</a:t>
            </a:r>
            <a:endParaRPr lang="en-US" sz="1000" dirty="0"/>
          </a:p>
        </p:txBody>
      </p:sp>
      <p:sp>
        <p:nvSpPr>
          <p:cNvPr id="29" name="Shape 26"/>
          <p:cNvSpPr/>
          <p:nvPr/>
        </p:nvSpPr>
        <p:spPr>
          <a:xfrm>
            <a:off x="548640" y="5138928"/>
            <a:ext cx="11064240" cy="844972"/>
          </a:xfrm>
          <a:prstGeom prst="rect">
            <a:avLst/>
          </a:prstGeom>
          <a:solidFill>
            <a:srgbClr val="C8102E"/>
          </a:solidFill>
          <a:ln w="12700">
            <a:solidFill>
              <a:srgbClr val="C8102E"/>
            </a:solidFill>
            <a:prstDash val="solid"/>
          </a:ln>
        </p:spPr>
      </p:sp>
      <p:sp>
        <p:nvSpPr>
          <p:cNvPr id="30" name="Text 27"/>
          <p:cNvSpPr/>
          <p:nvPr/>
        </p:nvSpPr>
        <p:spPr>
          <a:xfrm>
            <a:off x="777240" y="5266944"/>
            <a:ext cx="10607040"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KETERBATASAN SWOT</a:t>
            </a:r>
            <a:endParaRPr lang="en-US" sz="800" dirty="0"/>
          </a:p>
        </p:txBody>
      </p:sp>
      <p:sp>
        <p:nvSpPr>
          <p:cNvPr id="31" name="Text 28"/>
          <p:cNvSpPr/>
          <p:nvPr/>
        </p:nvSpPr>
        <p:spPr>
          <a:xfrm>
            <a:off x="777240" y="5504688"/>
            <a:ext cx="10607040" cy="27432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Kekuatannya ada pada kesederhanaan, dan itu juga batasnya. Untuk pemahaman yang lebih dalam dibutuhkan alat yang lebih canggih, yaitu Q3 sampai Q5 berikutnya.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78291"/>
            <a:ext cx="10728655" cy="164592"/>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3</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RESOURCE DAN CAPABILITY: DUA HAL BERBEDA</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Resource itu sesuatu yang perusahaan PUNYA. Capability itu sesuatu yang perusahaan BISA KERJAKAN. Capability dibangun dengan mengerahkan resource.</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09</a:t>
            </a:r>
            <a:endParaRPr lang="en-US" sz="900" dirty="0"/>
          </a:p>
        </p:txBody>
      </p:sp>
      <p:sp>
        <p:nvSpPr>
          <p:cNvPr id="10" name="Shape 7"/>
          <p:cNvSpPr/>
          <p:nvPr/>
        </p:nvSpPr>
        <p:spPr>
          <a:xfrm>
            <a:off x="548640" y="1755648"/>
            <a:ext cx="5432908" cy="960120"/>
          </a:xfrm>
          <a:prstGeom prst="rect">
            <a:avLst/>
          </a:prstGeom>
          <a:solidFill>
            <a:srgbClr val="27161A"/>
          </a:solidFill>
          <a:ln w="12700">
            <a:solidFill>
              <a:srgbClr val="27161A"/>
            </a:solidFill>
            <a:prstDash val="solid"/>
          </a:ln>
        </p:spPr>
      </p:sp>
      <p:sp>
        <p:nvSpPr>
          <p:cNvPr id="11" name="Shape 8"/>
          <p:cNvSpPr/>
          <p:nvPr/>
        </p:nvSpPr>
        <p:spPr>
          <a:xfrm>
            <a:off x="548640" y="1755648"/>
            <a:ext cx="54864" cy="960120"/>
          </a:xfrm>
          <a:prstGeom prst="rect">
            <a:avLst/>
          </a:prstGeom>
          <a:solidFill>
            <a:srgbClr val="C8102E"/>
          </a:solidFill>
          <a:ln w="12700">
            <a:solidFill>
              <a:srgbClr val="C8102E"/>
            </a:solidFill>
            <a:prstDash val="solid"/>
          </a:ln>
        </p:spPr>
      </p:sp>
      <p:sp>
        <p:nvSpPr>
          <p:cNvPr id="12" name="Text 9"/>
          <p:cNvSpPr/>
          <p:nvPr/>
        </p:nvSpPr>
        <p:spPr>
          <a:xfrm>
            <a:off x="768096" y="1901952"/>
            <a:ext cx="5067148" cy="274320"/>
          </a:xfrm>
          <a:prstGeom prst="rect">
            <a:avLst/>
          </a:prstGeom>
          <a:noFill/>
          <a:ln/>
        </p:spPr>
        <p:txBody>
          <a:bodyPr wrap="square" lIns="0" tIns="0" rIns="0" bIns="0" rtlCol="0" anchor="t"/>
          <a:lstStyle/>
          <a:p>
            <a:pPr marL="0" indent="0">
              <a:lnSpc>
                <a:spcPct val="95000"/>
              </a:lnSpc>
              <a:buNone/>
            </a:pPr>
            <a:r>
              <a:rPr lang="en-US" sz="1300" dirty="0">
                <a:solidFill>
                  <a:srgbClr val="FFFFFF"/>
                </a:solidFill>
                <a:latin typeface="Poppins SemiBold" pitchFamily="34" charset="0"/>
                <a:ea typeface="Poppins SemiBold" pitchFamily="34" charset="-122"/>
                <a:cs typeface="Poppins SemiBold" pitchFamily="34" charset="-120"/>
              </a:rPr>
              <a:t>Resource</a:t>
            </a:r>
            <a:endParaRPr lang="en-US" sz="1300" dirty="0"/>
          </a:p>
        </p:txBody>
      </p:sp>
      <p:sp>
        <p:nvSpPr>
          <p:cNvPr id="13" name="Text 10"/>
          <p:cNvSpPr/>
          <p:nvPr/>
        </p:nvSpPr>
        <p:spPr>
          <a:xfrm>
            <a:off x="768096" y="2231136"/>
            <a:ext cx="5067148" cy="374904"/>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Aset bersaing yang dimiliki atau dikendalikan perusahaan. Contoh: merek, pabrik, kas, paten, tim R&amp;D.</a:t>
            </a:r>
            <a:endParaRPr lang="en-US" sz="950" dirty="0"/>
          </a:p>
        </p:txBody>
      </p:sp>
      <p:sp>
        <p:nvSpPr>
          <p:cNvPr id="14" name="Shape 11"/>
          <p:cNvSpPr/>
          <p:nvPr/>
        </p:nvSpPr>
        <p:spPr>
          <a:xfrm>
            <a:off x="6210148" y="1755648"/>
            <a:ext cx="5432908" cy="960120"/>
          </a:xfrm>
          <a:prstGeom prst="rect">
            <a:avLst/>
          </a:prstGeom>
          <a:solidFill>
            <a:srgbClr val="27161A"/>
          </a:solidFill>
          <a:ln w="12700">
            <a:solidFill>
              <a:srgbClr val="27161A"/>
            </a:solidFill>
            <a:prstDash val="solid"/>
          </a:ln>
        </p:spPr>
      </p:sp>
      <p:sp>
        <p:nvSpPr>
          <p:cNvPr id="15" name="Shape 12"/>
          <p:cNvSpPr/>
          <p:nvPr/>
        </p:nvSpPr>
        <p:spPr>
          <a:xfrm>
            <a:off x="6210148" y="1755648"/>
            <a:ext cx="54864" cy="960120"/>
          </a:xfrm>
          <a:prstGeom prst="rect">
            <a:avLst/>
          </a:prstGeom>
          <a:solidFill>
            <a:srgbClr val="FBE122"/>
          </a:solidFill>
          <a:ln w="12700">
            <a:solidFill>
              <a:srgbClr val="FBE122"/>
            </a:solidFill>
            <a:prstDash val="solid"/>
          </a:ln>
        </p:spPr>
      </p:sp>
      <p:sp>
        <p:nvSpPr>
          <p:cNvPr id="16" name="Text 13"/>
          <p:cNvSpPr/>
          <p:nvPr/>
        </p:nvSpPr>
        <p:spPr>
          <a:xfrm>
            <a:off x="6429604" y="1901952"/>
            <a:ext cx="5067148" cy="274320"/>
          </a:xfrm>
          <a:prstGeom prst="rect">
            <a:avLst/>
          </a:prstGeom>
          <a:noFill/>
          <a:ln/>
        </p:spPr>
        <p:txBody>
          <a:bodyPr wrap="square" lIns="0" tIns="0" rIns="0" bIns="0" rtlCol="0" anchor="t"/>
          <a:lstStyle/>
          <a:p>
            <a:pPr marL="0" indent="0">
              <a:lnSpc>
                <a:spcPct val="95000"/>
              </a:lnSpc>
              <a:buNone/>
            </a:pPr>
            <a:r>
              <a:rPr lang="en-US" sz="1300" dirty="0">
                <a:solidFill>
                  <a:srgbClr val="FFFFFF"/>
                </a:solidFill>
                <a:latin typeface="Poppins SemiBold" pitchFamily="34" charset="0"/>
                <a:ea typeface="Poppins SemiBold" pitchFamily="34" charset="-122"/>
                <a:cs typeface="Poppins SemiBold" pitchFamily="34" charset="-120"/>
              </a:rPr>
              <a:t>Capability</a:t>
            </a:r>
            <a:endParaRPr lang="en-US" sz="1300" dirty="0"/>
          </a:p>
        </p:txBody>
      </p:sp>
      <p:sp>
        <p:nvSpPr>
          <p:cNvPr id="17" name="Text 14"/>
          <p:cNvSpPr/>
          <p:nvPr/>
        </p:nvSpPr>
        <p:spPr>
          <a:xfrm>
            <a:off x="6429604" y="2231136"/>
            <a:ext cx="5067148" cy="374904"/>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Kemampuan perusahaan mengerjakan suatu aktivitas internal dengan baik. Disebut juga competence. Contoh: kemampuan Starbucks mengelola dan melatih karyawan.</a:t>
            </a:r>
            <a:endParaRPr lang="en-US" sz="950" dirty="0"/>
          </a:p>
        </p:txBody>
      </p:sp>
      <p:sp>
        <p:nvSpPr>
          <p:cNvPr id="18" name="Text 15"/>
          <p:cNvSpPr/>
          <p:nvPr/>
        </p:nvSpPr>
        <p:spPr>
          <a:xfrm>
            <a:off x="548640" y="2944368"/>
            <a:ext cx="548640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TABLE 4.3  ·  TIPE RESOURCE</a:t>
            </a:r>
            <a:endParaRPr lang="en-US" sz="850" dirty="0"/>
          </a:p>
        </p:txBody>
      </p:sp>
      <p:sp>
        <p:nvSpPr>
          <p:cNvPr id="19" name="Shape 16"/>
          <p:cNvSpPr/>
          <p:nvPr/>
        </p:nvSpPr>
        <p:spPr>
          <a:xfrm>
            <a:off x="548640" y="3236976"/>
            <a:ext cx="5432908" cy="457200"/>
          </a:xfrm>
          <a:prstGeom prst="rect">
            <a:avLst/>
          </a:prstGeom>
          <a:solidFill>
            <a:srgbClr val="C8102E"/>
          </a:solidFill>
          <a:ln w="12700">
            <a:solidFill>
              <a:srgbClr val="C8102E"/>
            </a:solidFill>
            <a:prstDash val="solid"/>
          </a:ln>
        </p:spPr>
      </p:sp>
      <p:sp>
        <p:nvSpPr>
          <p:cNvPr id="20" name="Text 17"/>
          <p:cNvSpPr/>
          <p:nvPr/>
        </p:nvSpPr>
        <p:spPr>
          <a:xfrm>
            <a:off x="768096" y="3328416"/>
            <a:ext cx="1828800" cy="274320"/>
          </a:xfrm>
          <a:prstGeom prst="rect">
            <a:avLst/>
          </a:prstGeom>
          <a:noFill/>
          <a:ln/>
        </p:spPr>
        <p:txBody>
          <a:bodyPr wrap="square" lIns="0" tIns="0" rIns="0" bIns="0" rtlCol="0" anchor="t"/>
          <a:lstStyle/>
          <a:p>
            <a:pPr marL="0" indent="0">
              <a:buNone/>
            </a:pPr>
            <a:r>
              <a:rPr lang="en-US" sz="1300" dirty="0">
                <a:solidFill>
                  <a:srgbClr val="FFFFFF"/>
                </a:solidFill>
                <a:latin typeface="Poppins ExtraBold" pitchFamily="34" charset="0"/>
                <a:ea typeface="Poppins ExtraBold" pitchFamily="34" charset="-122"/>
                <a:cs typeface="Poppins ExtraBold" pitchFamily="34" charset="-120"/>
              </a:rPr>
              <a:t>Tangible</a:t>
            </a:r>
            <a:endParaRPr lang="en-US" sz="1300" dirty="0"/>
          </a:p>
        </p:txBody>
      </p:sp>
      <p:sp>
        <p:nvSpPr>
          <p:cNvPr id="21" name="Text 18"/>
          <p:cNvSpPr/>
          <p:nvPr/>
        </p:nvSpPr>
        <p:spPr>
          <a:xfrm>
            <a:off x="2377440" y="3364992"/>
            <a:ext cx="3421228" cy="274320"/>
          </a:xfrm>
          <a:prstGeom prst="rect">
            <a:avLst/>
          </a:prstGeom>
          <a:noFill/>
          <a:ln/>
        </p:spPr>
        <p:txBody>
          <a:bodyPr wrap="square" lIns="0" tIns="0" rIns="0" bIns="0" rtlCol="0" anchor="t"/>
          <a:lstStyle/>
          <a:p>
            <a:pPr marL="0" indent="0">
              <a:buNone/>
            </a:pPr>
            <a:r>
              <a:rPr lang="en-US" sz="900" dirty="0">
                <a:solidFill>
                  <a:srgbClr val="FFFFFF"/>
                </a:solidFill>
                <a:latin typeface="Poppins" pitchFamily="34" charset="0"/>
                <a:ea typeface="Poppins" pitchFamily="34" charset="-122"/>
                <a:cs typeface="Poppins" pitchFamily="34" charset="-120"/>
              </a:rPr>
              <a:t>bisa disentuh atau dihitung</a:t>
            </a:r>
            <a:endParaRPr lang="en-US" sz="900" dirty="0"/>
          </a:p>
        </p:txBody>
      </p:sp>
      <p:sp>
        <p:nvSpPr>
          <p:cNvPr id="22" name="Shape 19"/>
          <p:cNvSpPr/>
          <p:nvPr/>
        </p:nvSpPr>
        <p:spPr>
          <a:xfrm>
            <a:off x="548640" y="3694176"/>
            <a:ext cx="5432908" cy="566928"/>
          </a:xfrm>
          <a:prstGeom prst="rect">
            <a:avLst/>
          </a:prstGeom>
          <a:solidFill>
            <a:srgbClr val="27161A"/>
          </a:solidFill>
          <a:ln w="12700">
            <a:solidFill>
              <a:srgbClr val="27161A"/>
            </a:solidFill>
            <a:prstDash val="solid"/>
          </a:ln>
        </p:spPr>
      </p:sp>
      <p:sp>
        <p:nvSpPr>
          <p:cNvPr id="23" name="Text 20"/>
          <p:cNvSpPr/>
          <p:nvPr/>
        </p:nvSpPr>
        <p:spPr>
          <a:xfrm>
            <a:off x="768096" y="3785616"/>
            <a:ext cx="1737360" cy="36576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Fisik</a:t>
            </a:r>
            <a:endParaRPr lang="en-US" sz="1000" dirty="0"/>
          </a:p>
        </p:txBody>
      </p:sp>
      <p:sp>
        <p:nvSpPr>
          <p:cNvPr id="24" name="Text 21"/>
          <p:cNvSpPr/>
          <p:nvPr/>
        </p:nvSpPr>
        <p:spPr>
          <a:xfrm>
            <a:off x="2468880" y="3785616"/>
            <a:ext cx="3329788" cy="411480"/>
          </a:xfrm>
          <a:prstGeom prst="rect">
            <a:avLst/>
          </a:prstGeom>
          <a:noFill/>
          <a:ln/>
        </p:spPr>
        <p:txBody>
          <a:bodyPr wrap="square" lIns="0" tIns="0" rIns="0" bIns="0" rtlCol="0" anchor="ctr"/>
          <a:lstStyle/>
          <a:p>
            <a:pPr marL="0" indent="0">
              <a:lnSpc>
                <a:spcPct val="104000"/>
              </a:lnSpc>
              <a:buNone/>
            </a:pPr>
            <a:r>
              <a:rPr lang="en-US" sz="900" dirty="0">
                <a:solidFill>
                  <a:srgbClr val="D9CFC7"/>
                </a:solidFill>
                <a:latin typeface="Poppins" pitchFamily="34" charset="0"/>
                <a:ea typeface="Poppins" pitchFamily="34" charset="-122"/>
                <a:cs typeface="Poppins" pitchFamily="34" charset="-120"/>
              </a:rPr>
              <a:t>tanah, pabrik, peralatan, lokasi, sumber daya alam</a:t>
            </a:r>
            <a:endParaRPr lang="en-US" sz="900" dirty="0"/>
          </a:p>
        </p:txBody>
      </p:sp>
      <p:sp>
        <p:nvSpPr>
          <p:cNvPr id="25" name="Shape 22"/>
          <p:cNvSpPr/>
          <p:nvPr/>
        </p:nvSpPr>
        <p:spPr>
          <a:xfrm>
            <a:off x="548640" y="4297680"/>
            <a:ext cx="5432908" cy="566928"/>
          </a:xfrm>
          <a:prstGeom prst="rect">
            <a:avLst/>
          </a:prstGeom>
          <a:solidFill>
            <a:srgbClr val="32191E"/>
          </a:solidFill>
          <a:ln w="12700">
            <a:solidFill>
              <a:srgbClr val="32191E"/>
            </a:solidFill>
            <a:prstDash val="solid"/>
          </a:ln>
        </p:spPr>
      </p:sp>
      <p:sp>
        <p:nvSpPr>
          <p:cNvPr id="26" name="Text 23"/>
          <p:cNvSpPr/>
          <p:nvPr/>
        </p:nvSpPr>
        <p:spPr>
          <a:xfrm>
            <a:off x="768096" y="4389120"/>
            <a:ext cx="1737360" cy="36576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Finansial</a:t>
            </a:r>
            <a:endParaRPr lang="en-US" sz="1000" dirty="0"/>
          </a:p>
        </p:txBody>
      </p:sp>
      <p:sp>
        <p:nvSpPr>
          <p:cNvPr id="27" name="Text 24"/>
          <p:cNvSpPr/>
          <p:nvPr/>
        </p:nvSpPr>
        <p:spPr>
          <a:xfrm>
            <a:off x="2468880" y="4389120"/>
            <a:ext cx="3329788" cy="411480"/>
          </a:xfrm>
          <a:prstGeom prst="rect">
            <a:avLst/>
          </a:prstGeom>
          <a:noFill/>
          <a:ln/>
        </p:spPr>
        <p:txBody>
          <a:bodyPr wrap="square" lIns="0" tIns="0" rIns="0" bIns="0" rtlCol="0" anchor="ctr"/>
          <a:lstStyle/>
          <a:p>
            <a:pPr marL="0" indent="0">
              <a:lnSpc>
                <a:spcPct val="104000"/>
              </a:lnSpc>
              <a:buNone/>
            </a:pPr>
            <a:r>
              <a:rPr lang="en-US" sz="900" dirty="0">
                <a:solidFill>
                  <a:srgbClr val="D9CFC7"/>
                </a:solidFill>
                <a:latin typeface="Poppins" pitchFamily="34" charset="0"/>
                <a:ea typeface="Poppins" pitchFamily="34" charset="-122"/>
                <a:cs typeface="Poppins" pitchFamily="34" charset="-120"/>
              </a:rPr>
              <a:t>kas, surat berharga, peringkat kredit</a:t>
            </a:r>
            <a:endParaRPr lang="en-US" sz="900" dirty="0"/>
          </a:p>
        </p:txBody>
      </p:sp>
      <p:sp>
        <p:nvSpPr>
          <p:cNvPr id="28" name="Shape 25"/>
          <p:cNvSpPr/>
          <p:nvPr/>
        </p:nvSpPr>
        <p:spPr>
          <a:xfrm>
            <a:off x="548640" y="4901184"/>
            <a:ext cx="5432908" cy="566928"/>
          </a:xfrm>
          <a:prstGeom prst="rect">
            <a:avLst/>
          </a:prstGeom>
          <a:solidFill>
            <a:srgbClr val="27161A"/>
          </a:solidFill>
          <a:ln w="12700">
            <a:solidFill>
              <a:srgbClr val="27161A"/>
            </a:solidFill>
            <a:prstDash val="solid"/>
          </a:ln>
        </p:spPr>
      </p:sp>
      <p:sp>
        <p:nvSpPr>
          <p:cNvPr id="29" name="Text 26"/>
          <p:cNvSpPr/>
          <p:nvPr/>
        </p:nvSpPr>
        <p:spPr>
          <a:xfrm>
            <a:off x="768096" y="4992624"/>
            <a:ext cx="1737360" cy="36576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Teknologi</a:t>
            </a:r>
            <a:endParaRPr lang="en-US" sz="1000" dirty="0"/>
          </a:p>
        </p:txBody>
      </p:sp>
      <p:sp>
        <p:nvSpPr>
          <p:cNvPr id="30" name="Text 27"/>
          <p:cNvSpPr/>
          <p:nvPr/>
        </p:nvSpPr>
        <p:spPr>
          <a:xfrm>
            <a:off x="2468880" y="4992624"/>
            <a:ext cx="3329788" cy="411480"/>
          </a:xfrm>
          <a:prstGeom prst="rect">
            <a:avLst/>
          </a:prstGeom>
          <a:noFill/>
          <a:ln/>
        </p:spPr>
        <p:txBody>
          <a:bodyPr wrap="square" lIns="0" tIns="0" rIns="0" bIns="0" rtlCol="0" anchor="ctr"/>
          <a:lstStyle/>
          <a:p>
            <a:pPr marL="0" indent="0">
              <a:lnSpc>
                <a:spcPct val="104000"/>
              </a:lnSpc>
              <a:buNone/>
            </a:pPr>
            <a:r>
              <a:rPr lang="en-US" sz="900" dirty="0">
                <a:solidFill>
                  <a:srgbClr val="D9CFC7"/>
                </a:solidFill>
                <a:latin typeface="Poppins" pitchFamily="34" charset="0"/>
                <a:ea typeface="Poppins" pitchFamily="34" charset="-122"/>
                <a:cs typeface="Poppins" pitchFamily="34" charset="-120"/>
              </a:rPr>
              <a:t>paten, hak cipta, teknologi produksi dan inovasi</a:t>
            </a:r>
            <a:endParaRPr lang="en-US" sz="900" dirty="0"/>
          </a:p>
        </p:txBody>
      </p:sp>
      <p:sp>
        <p:nvSpPr>
          <p:cNvPr id="31" name="Shape 28"/>
          <p:cNvSpPr/>
          <p:nvPr/>
        </p:nvSpPr>
        <p:spPr>
          <a:xfrm>
            <a:off x="548640" y="5504688"/>
            <a:ext cx="5432908" cy="566928"/>
          </a:xfrm>
          <a:prstGeom prst="rect">
            <a:avLst/>
          </a:prstGeom>
          <a:solidFill>
            <a:srgbClr val="32191E"/>
          </a:solidFill>
          <a:ln w="12700">
            <a:solidFill>
              <a:srgbClr val="32191E"/>
            </a:solidFill>
            <a:prstDash val="solid"/>
          </a:ln>
        </p:spPr>
      </p:sp>
      <p:sp>
        <p:nvSpPr>
          <p:cNvPr id="32" name="Text 29"/>
          <p:cNvSpPr/>
          <p:nvPr/>
        </p:nvSpPr>
        <p:spPr>
          <a:xfrm>
            <a:off x="768096" y="5596128"/>
            <a:ext cx="1737360" cy="36576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Organisasional</a:t>
            </a:r>
            <a:endParaRPr lang="en-US" sz="1000" dirty="0"/>
          </a:p>
        </p:txBody>
      </p:sp>
      <p:sp>
        <p:nvSpPr>
          <p:cNvPr id="33" name="Text 30"/>
          <p:cNvSpPr/>
          <p:nvPr/>
        </p:nvSpPr>
        <p:spPr>
          <a:xfrm>
            <a:off x="2468880" y="5596128"/>
            <a:ext cx="3329788" cy="411480"/>
          </a:xfrm>
          <a:prstGeom prst="rect">
            <a:avLst/>
          </a:prstGeom>
          <a:noFill/>
          <a:ln/>
        </p:spPr>
        <p:txBody>
          <a:bodyPr wrap="square" lIns="0" tIns="0" rIns="0" bIns="0" rtlCol="0" anchor="ctr"/>
          <a:lstStyle/>
          <a:p>
            <a:pPr marL="0" indent="0">
              <a:lnSpc>
                <a:spcPct val="104000"/>
              </a:lnSpc>
              <a:buNone/>
            </a:pPr>
            <a:r>
              <a:rPr lang="en-US" sz="900" dirty="0">
                <a:solidFill>
                  <a:srgbClr val="D9CFC7"/>
                </a:solidFill>
                <a:latin typeface="Poppins" pitchFamily="34" charset="0"/>
                <a:ea typeface="Poppins" pitchFamily="34" charset="-122"/>
                <a:cs typeface="Poppins" pitchFamily="34" charset="-120"/>
              </a:rPr>
              <a:t>sistem IT, sistem kendali, struktur organisasi</a:t>
            </a:r>
            <a:endParaRPr lang="en-US" sz="900" dirty="0"/>
          </a:p>
        </p:txBody>
      </p:sp>
      <p:sp>
        <p:nvSpPr>
          <p:cNvPr id="34" name="Shape 31"/>
          <p:cNvSpPr/>
          <p:nvPr/>
        </p:nvSpPr>
        <p:spPr>
          <a:xfrm>
            <a:off x="6210148" y="3236976"/>
            <a:ext cx="5432908" cy="457200"/>
          </a:xfrm>
          <a:prstGeom prst="rect">
            <a:avLst/>
          </a:prstGeom>
          <a:solidFill>
            <a:srgbClr val="FBE122"/>
          </a:solidFill>
          <a:ln w="12700">
            <a:solidFill>
              <a:srgbClr val="FBE122"/>
            </a:solidFill>
            <a:prstDash val="solid"/>
          </a:ln>
        </p:spPr>
      </p:sp>
      <p:sp>
        <p:nvSpPr>
          <p:cNvPr id="35" name="Text 32"/>
          <p:cNvSpPr/>
          <p:nvPr/>
        </p:nvSpPr>
        <p:spPr>
          <a:xfrm>
            <a:off x="6429604" y="3328416"/>
            <a:ext cx="1828800" cy="274320"/>
          </a:xfrm>
          <a:prstGeom prst="rect">
            <a:avLst/>
          </a:prstGeom>
          <a:noFill/>
          <a:ln/>
        </p:spPr>
        <p:txBody>
          <a:bodyPr wrap="square" lIns="0" tIns="0" rIns="0" bIns="0" rtlCol="0" anchor="t"/>
          <a:lstStyle/>
          <a:p>
            <a:pPr marL="0" indent="0">
              <a:buNone/>
            </a:pPr>
            <a:r>
              <a:rPr lang="en-US" sz="1300" dirty="0">
                <a:solidFill>
                  <a:srgbClr val="1B0F10"/>
                </a:solidFill>
                <a:latin typeface="Poppins ExtraBold" pitchFamily="34" charset="0"/>
                <a:ea typeface="Poppins ExtraBold" pitchFamily="34" charset="-122"/>
                <a:cs typeface="Poppins ExtraBold" pitchFamily="34" charset="-120"/>
              </a:rPr>
              <a:t>Intangible</a:t>
            </a:r>
            <a:endParaRPr lang="en-US" sz="1300" dirty="0"/>
          </a:p>
        </p:txBody>
      </p:sp>
      <p:sp>
        <p:nvSpPr>
          <p:cNvPr id="36" name="Text 33"/>
          <p:cNvSpPr/>
          <p:nvPr/>
        </p:nvSpPr>
        <p:spPr>
          <a:xfrm>
            <a:off x="8038948" y="3364992"/>
            <a:ext cx="3421228" cy="274320"/>
          </a:xfrm>
          <a:prstGeom prst="rect">
            <a:avLst/>
          </a:prstGeom>
          <a:noFill/>
          <a:ln/>
        </p:spPr>
        <p:txBody>
          <a:bodyPr wrap="square" lIns="0" tIns="0" rIns="0" bIns="0" rtlCol="0" anchor="t"/>
          <a:lstStyle/>
          <a:p>
            <a:pPr marL="0" indent="0">
              <a:buNone/>
            </a:pPr>
            <a:r>
              <a:rPr lang="en-US" sz="900" dirty="0">
                <a:solidFill>
                  <a:srgbClr val="1B0F10"/>
                </a:solidFill>
                <a:latin typeface="Poppins" pitchFamily="34" charset="0"/>
                <a:ea typeface="Poppins" pitchFamily="34" charset="-122"/>
                <a:cs typeface="Poppins" pitchFamily="34" charset="-120"/>
              </a:rPr>
              <a:t>tidak berwujud</a:t>
            </a:r>
            <a:endParaRPr lang="en-US" sz="900" dirty="0"/>
          </a:p>
        </p:txBody>
      </p:sp>
      <p:sp>
        <p:nvSpPr>
          <p:cNvPr id="37" name="Shape 34"/>
          <p:cNvSpPr/>
          <p:nvPr/>
        </p:nvSpPr>
        <p:spPr>
          <a:xfrm>
            <a:off x="6210148" y="3694176"/>
            <a:ext cx="5432908" cy="566928"/>
          </a:xfrm>
          <a:prstGeom prst="rect">
            <a:avLst/>
          </a:prstGeom>
          <a:solidFill>
            <a:srgbClr val="27161A"/>
          </a:solidFill>
          <a:ln w="12700">
            <a:solidFill>
              <a:srgbClr val="27161A"/>
            </a:solidFill>
            <a:prstDash val="solid"/>
          </a:ln>
        </p:spPr>
      </p:sp>
      <p:sp>
        <p:nvSpPr>
          <p:cNvPr id="38" name="Text 35"/>
          <p:cNvSpPr/>
          <p:nvPr/>
        </p:nvSpPr>
        <p:spPr>
          <a:xfrm>
            <a:off x="6429604" y="3785616"/>
            <a:ext cx="1737360" cy="36576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Human assets</a:t>
            </a:r>
            <a:endParaRPr lang="en-US" sz="1000" dirty="0"/>
          </a:p>
        </p:txBody>
      </p:sp>
      <p:sp>
        <p:nvSpPr>
          <p:cNvPr id="39" name="Text 36"/>
          <p:cNvSpPr/>
          <p:nvPr/>
        </p:nvSpPr>
        <p:spPr>
          <a:xfrm>
            <a:off x="8130388" y="3785616"/>
            <a:ext cx="3329788" cy="411480"/>
          </a:xfrm>
          <a:prstGeom prst="rect">
            <a:avLst/>
          </a:prstGeom>
          <a:noFill/>
          <a:ln/>
        </p:spPr>
        <p:txBody>
          <a:bodyPr wrap="square" lIns="0" tIns="0" rIns="0" bIns="0" rtlCol="0" anchor="ctr"/>
          <a:lstStyle/>
          <a:p>
            <a:pPr marL="0" indent="0">
              <a:lnSpc>
                <a:spcPct val="104000"/>
              </a:lnSpc>
              <a:buNone/>
            </a:pPr>
            <a:r>
              <a:rPr lang="en-US" sz="900" dirty="0">
                <a:solidFill>
                  <a:srgbClr val="D9CFC7"/>
                </a:solidFill>
                <a:latin typeface="Poppins" pitchFamily="34" charset="0"/>
                <a:ea typeface="Poppins" pitchFamily="34" charset="-122"/>
                <a:cs typeface="Poppins" pitchFamily="34" charset="-120"/>
              </a:rPr>
              <a:t>pendidikan, pengalaman, bakat, pengetahuan</a:t>
            </a:r>
            <a:endParaRPr lang="en-US" sz="900" dirty="0"/>
          </a:p>
        </p:txBody>
      </p:sp>
      <p:sp>
        <p:nvSpPr>
          <p:cNvPr id="40" name="Shape 37"/>
          <p:cNvSpPr/>
          <p:nvPr/>
        </p:nvSpPr>
        <p:spPr>
          <a:xfrm>
            <a:off x="6210148" y="4297680"/>
            <a:ext cx="5432908" cy="566928"/>
          </a:xfrm>
          <a:prstGeom prst="rect">
            <a:avLst/>
          </a:prstGeom>
          <a:solidFill>
            <a:srgbClr val="32191E"/>
          </a:solidFill>
          <a:ln w="12700">
            <a:solidFill>
              <a:srgbClr val="32191E"/>
            </a:solidFill>
            <a:prstDash val="solid"/>
          </a:ln>
        </p:spPr>
      </p:sp>
      <p:sp>
        <p:nvSpPr>
          <p:cNvPr id="41" name="Text 38"/>
          <p:cNvSpPr/>
          <p:nvPr/>
        </p:nvSpPr>
        <p:spPr>
          <a:xfrm>
            <a:off x="6429604" y="4389120"/>
            <a:ext cx="1737360" cy="36576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Merek &amp; reputasi</a:t>
            </a:r>
            <a:endParaRPr lang="en-US" sz="1000" dirty="0"/>
          </a:p>
        </p:txBody>
      </p:sp>
      <p:sp>
        <p:nvSpPr>
          <p:cNvPr id="42" name="Text 39"/>
          <p:cNvSpPr/>
          <p:nvPr/>
        </p:nvSpPr>
        <p:spPr>
          <a:xfrm>
            <a:off x="8130388" y="4389120"/>
            <a:ext cx="3329788" cy="411480"/>
          </a:xfrm>
          <a:prstGeom prst="rect">
            <a:avLst/>
          </a:prstGeom>
          <a:noFill/>
          <a:ln/>
        </p:spPr>
        <p:txBody>
          <a:bodyPr wrap="square" lIns="0" tIns="0" rIns="0" bIns="0" rtlCol="0" anchor="ctr"/>
          <a:lstStyle/>
          <a:p>
            <a:pPr marL="0" indent="0">
              <a:lnSpc>
                <a:spcPct val="104000"/>
              </a:lnSpc>
              <a:buNone/>
            </a:pPr>
            <a:r>
              <a:rPr lang="en-US" sz="900" dirty="0">
                <a:solidFill>
                  <a:srgbClr val="D9CFC7"/>
                </a:solidFill>
                <a:latin typeface="Poppins" pitchFamily="34" charset="0"/>
                <a:ea typeface="Poppins" pitchFamily="34" charset="-122"/>
                <a:cs typeface="Poppins" pitchFamily="34" charset="-120"/>
              </a:rPr>
              <a:t>nama merek, citra, loyalitas, reputasi mutu</a:t>
            </a:r>
            <a:endParaRPr lang="en-US" sz="900" dirty="0"/>
          </a:p>
        </p:txBody>
      </p:sp>
      <p:sp>
        <p:nvSpPr>
          <p:cNvPr id="43" name="Shape 40"/>
          <p:cNvSpPr/>
          <p:nvPr/>
        </p:nvSpPr>
        <p:spPr>
          <a:xfrm>
            <a:off x="6210148" y="4901184"/>
            <a:ext cx="5432908" cy="566928"/>
          </a:xfrm>
          <a:prstGeom prst="rect">
            <a:avLst/>
          </a:prstGeom>
          <a:solidFill>
            <a:srgbClr val="27161A"/>
          </a:solidFill>
          <a:ln w="12700">
            <a:solidFill>
              <a:srgbClr val="27161A"/>
            </a:solidFill>
            <a:prstDash val="solid"/>
          </a:ln>
        </p:spPr>
      </p:sp>
      <p:sp>
        <p:nvSpPr>
          <p:cNvPr id="44" name="Text 41"/>
          <p:cNvSpPr/>
          <p:nvPr/>
        </p:nvSpPr>
        <p:spPr>
          <a:xfrm>
            <a:off x="6429604" y="4992624"/>
            <a:ext cx="1737360" cy="36576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Relasi</a:t>
            </a:r>
            <a:endParaRPr lang="en-US" sz="1000" dirty="0"/>
          </a:p>
        </p:txBody>
      </p:sp>
      <p:sp>
        <p:nvSpPr>
          <p:cNvPr id="45" name="Text 42"/>
          <p:cNvSpPr/>
          <p:nvPr/>
        </p:nvSpPr>
        <p:spPr>
          <a:xfrm>
            <a:off x="8130388" y="4992624"/>
            <a:ext cx="3329788" cy="411480"/>
          </a:xfrm>
          <a:prstGeom prst="rect">
            <a:avLst/>
          </a:prstGeom>
          <a:noFill/>
          <a:ln/>
        </p:spPr>
        <p:txBody>
          <a:bodyPr wrap="square" lIns="0" tIns="0" rIns="0" bIns="0" rtlCol="0" anchor="ctr"/>
          <a:lstStyle/>
          <a:p>
            <a:pPr marL="0" indent="0">
              <a:lnSpc>
                <a:spcPct val="104000"/>
              </a:lnSpc>
              <a:buNone/>
            </a:pPr>
            <a:r>
              <a:rPr lang="en-US" sz="900" dirty="0">
                <a:solidFill>
                  <a:srgbClr val="D9CFC7"/>
                </a:solidFill>
                <a:latin typeface="Poppins" pitchFamily="34" charset="0"/>
                <a:ea typeface="Poppins" pitchFamily="34" charset="-122"/>
                <a:cs typeface="Poppins" pitchFamily="34" charset="-120"/>
              </a:rPr>
              <a:t>aliansi, joint venture, jaringan dealer</a:t>
            </a:r>
            <a:endParaRPr lang="en-US" sz="900" dirty="0"/>
          </a:p>
        </p:txBody>
      </p:sp>
      <p:sp>
        <p:nvSpPr>
          <p:cNvPr id="46" name="Shape 43"/>
          <p:cNvSpPr/>
          <p:nvPr/>
        </p:nvSpPr>
        <p:spPr>
          <a:xfrm>
            <a:off x="6210148" y="5504688"/>
            <a:ext cx="5432908" cy="566928"/>
          </a:xfrm>
          <a:prstGeom prst="rect">
            <a:avLst/>
          </a:prstGeom>
          <a:solidFill>
            <a:srgbClr val="32191E"/>
          </a:solidFill>
          <a:ln w="12700">
            <a:solidFill>
              <a:srgbClr val="32191E"/>
            </a:solidFill>
            <a:prstDash val="solid"/>
          </a:ln>
        </p:spPr>
      </p:sp>
      <p:sp>
        <p:nvSpPr>
          <p:cNvPr id="47" name="Text 44"/>
          <p:cNvSpPr/>
          <p:nvPr/>
        </p:nvSpPr>
        <p:spPr>
          <a:xfrm>
            <a:off x="6429604" y="5596128"/>
            <a:ext cx="1737360" cy="36576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Budaya &amp; insentif</a:t>
            </a:r>
            <a:endParaRPr lang="en-US" sz="1000" dirty="0"/>
          </a:p>
        </p:txBody>
      </p:sp>
      <p:sp>
        <p:nvSpPr>
          <p:cNvPr id="48" name="Text 45"/>
          <p:cNvSpPr/>
          <p:nvPr/>
        </p:nvSpPr>
        <p:spPr>
          <a:xfrm>
            <a:off x="8130388" y="5596128"/>
            <a:ext cx="3329788" cy="411480"/>
          </a:xfrm>
          <a:prstGeom prst="rect">
            <a:avLst/>
          </a:prstGeom>
          <a:noFill/>
          <a:ln/>
        </p:spPr>
        <p:txBody>
          <a:bodyPr wrap="square" lIns="0" tIns="0" rIns="0" bIns="0" rtlCol="0" anchor="ctr"/>
          <a:lstStyle/>
          <a:p>
            <a:pPr marL="0" indent="0">
              <a:lnSpc>
                <a:spcPct val="104000"/>
              </a:lnSpc>
              <a:buNone/>
            </a:pPr>
            <a:r>
              <a:rPr lang="en-US" sz="900" dirty="0">
                <a:solidFill>
                  <a:srgbClr val="D9CFC7"/>
                </a:solidFill>
                <a:latin typeface="Poppins" pitchFamily="34" charset="0"/>
                <a:ea typeface="Poppins" pitchFamily="34" charset="-122"/>
                <a:cs typeface="Poppins" pitchFamily="34" charset="-120"/>
              </a:rPr>
              <a:t>norma perilaku, keyakinan bersama, kompensasi</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67115"/>
            <a:ext cx="10728655" cy="164592"/>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3</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CARA MENEMUKAN CAPABILITY PERUSAHAAN</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Capability lebih sulit ditemukan daripada resource, karena wujudnya tidak kelihatan. Buku memberi dua cara.</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10</a:t>
            </a:r>
            <a:endParaRPr lang="en-US" sz="900" dirty="0"/>
          </a:p>
        </p:txBody>
      </p:sp>
      <p:pic>
        <p:nvPicPr>
          <p:cNvPr id="10" name="Image 0" descr="trophy_icon.jpg"/>
          <p:cNvPicPr>
            <a:picLocks noChangeAspect="1"/>
          </p:cNvPicPr>
          <p:nvPr/>
        </p:nvPicPr>
        <p:blipFill>
          <a:blip r:embed="rId3"/>
          <a:stretch>
            <a:fillRect/>
          </a:stretch>
        </p:blipFill>
        <p:spPr>
          <a:xfrm>
            <a:off x="9555480" y="2258568"/>
            <a:ext cx="2148840" cy="2148840"/>
          </a:xfrm>
          <a:prstGeom prst="rect">
            <a:avLst/>
          </a:prstGeom>
        </p:spPr>
      </p:pic>
      <p:sp>
        <p:nvSpPr>
          <p:cNvPr id="11" name="Text 7"/>
          <p:cNvSpPr/>
          <p:nvPr/>
        </p:nvSpPr>
        <p:spPr>
          <a:xfrm>
            <a:off x="9555480" y="4544568"/>
            <a:ext cx="2148840" cy="1188720"/>
          </a:xfrm>
          <a:prstGeom prst="rect">
            <a:avLst/>
          </a:prstGeom>
          <a:noFill/>
          <a:ln/>
        </p:spPr>
        <p:txBody>
          <a:bodyPr wrap="square" lIns="0" tIns="0" rIns="0" bIns="0" rtlCol="0" anchor="t"/>
          <a:lstStyle/>
          <a:p>
            <a:pPr marL="0" indent="0" algn="ctr">
              <a:lnSpc>
                <a:spcPct val="108000"/>
              </a:lnSpc>
              <a:buNone/>
            </a:pPr>
            <a:r>
              <a:rPr lang="en-US" sz="850" dirty="0">
                <a:solidFill>
                  <a:srgbClr val="A08F8B"/>
                </a:solidFill>
                <a:latin typeface="Poppins" pitchFamily="34" charset="0"/>
                <a:ea typeface="Poppins" pitchFamily="34" charset="-122"/>
                <a:cs typeface="Poppins" pitchFamily="34" charset="-120"/>
              </a:rPr>
              <a:t>Capability yang lolos semua saringan adalah yang membawa gelar. Alat ujinya di slide berikutnya: VRIN Test.</a:t>
            </a:r>
            <a:endParaRPr lang="en-US" sz="850" dirty="0"/>
          </a:p>
        </p:txBody>
      </p:sp>
      <p:sp>
        <p:nvSpPr>
          <p:cNvPr id="12" name="Shape 8"/>
          <p:cNvSpPr/>
          <p:nvPr/>
        </p:nvSpPr>
        <p:spPr>
          <a:xfrm>
            <a:off x="548640" y="1755648"/>
            <a:ext cx="4274820" cy="1554480"/>
          </a:xfrm>
          <a:prstGeom prst="rect">
            <a:avLst/>
          </a:prstGeom>
          <a:solidFill>
            <a:srgbClr val="27161A"/>
          </a:solidFill>
          <a:ln w="12700">
            <a:solidFill>
              <a:srgbClr val="27161A"/>
            </a:solidFill>
            <a:prstDash val="solid"/>
          </a:ln>
        </p:spPr>
      </p:sp>
      <p:sp>
        <p:nvSpPr>
          <p:cNvPr id="13" name="Shape 9"/>
          <p:cNvSpPr/>
          <p:nvPr/>
        </p:nvSpPr>
        <p:spPr>
          <a:xfrm>
            <a:off x="548640" y="1755648"/>
            <a:ext cx="54864" cy="1554480"/>
          </a:xfrm>
          <a:prstGeom prst="rect">
            <a:avLst/>
          </a:prstGeom>
          <a:solidFill>
            <a:srgbClr val="C8102E"/>
          </a:solidFill>
          <a:ln w="12700">
            <a:solidFill>
              <a:srgbClr val="C8102E"/>
            </a:solidFill>
            <a:prstDash val="solid"/>
          </a:ln>
        </p:spPr>
      </p:sp>
      <p:sp>
        <p:nvSpPr>
          <p:cNvPr id="14" name="Text 10"/>
          <p:cNvSpPr/>
          <p:nvPr/>
        </p:nvSpPr>
        <p:spPr>
          <a:xfrm>
            <a:off x="768096" y="1901952"/>
            <a:ext cx="3909060"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CARA 1</a:t>
            </a:r>
            <a:endParaRPr lang="en-US" sz="800" dirty="0"/>
          </a:p>
        </p:txBody>
      </p:sp>
      <p:sp>
        <p:nvSpPr>
          <p:cNvPr id="15" name="Text 11"/>
          <p:cNvSpPr/>
          <p:nvPr/>
        </p:nvSpPr>
        <p:spPr>
          <a:xfrm>
            <a:off x="768096" y="2148840"/>
            <a:ext cx="3909060"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Berangkat dari daftar resource</a:t>
            </a:r>
            <a:endParaRPr lang="en-US" sz="1200" dirty="0"/>
          </a:p>
        </p:txBody>
      </p:sp>
      <p:sp>
        <p:nvSpPr>
          <p:cNvPr id="16" name="Text 12"/>
          <p:cNvSpPr/>
          <p:nvPr/>
        </p:nvSpPr>
        <p:spPr>
          <a:xfrm>
            <a:off x="768096" y="2478024"/>
            <a:ext cx="3909060" cy="722376"/>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Lihat daftar resource, lalu tanya: kemampuan apa yang mungkin tumbuh dari sini? Armada truk dan pusat distribusi otomatis menandakan kemampuan logistik yang matang.</a:t>
            </a:r>
            <a:endParaRPr lang="en-US" sz="950" dirty="0"/>
          </a:p>
        </p:txBody>
      </p:sp>
      <p:sp>
        <p:nvSpPr>
          <p:cNvPr id="17" name="Shape 13"/>
          <p:cNvSpPr/>
          <p:nvPr/>
        </p:nvSpPr>
        <p:spPr>
          <a:xfrm>
            <a:off x="5052060" y="1755648"/>
            <a:ext cx="4274820" cy="1554480"/>
          </a:xfrm>
          <a:prstGeom prst="rect">
            <a:avLst/>
          </a:prstGeom>
          <a:solidFill>
            <a:srgbClr val="27161A"/>
          </a:solidFill>
          <a:ln w="12700">
            <a:solidFill>
              <a:srgbClr val="27161A"/>
            </a:solidFill>
            <a:prstDash val="solid"/>
          </a:ln>
        </p:spPr>
      </p:sp>
      <p:sp>
        <p:nvSpPr>
          <p:cNvPr id="18" name="Shape 14"/>
          <p:cNvSpPr/>
          <p:nvPr/>
        </p:nvSpPr>
        <p:spPr>
          <a:xfrm>
            <a:off x="5052060" y="1755648"/>
            <a:ext cx="54864" cy="1554480"/>
          </a:xfrm>
          <a:prstGeom prst="rect">
            <a:avLst/>
          </a:prstGeom>
          <a:solidFill>
            <a:srgbClr val="C8102E"/>
          </a:solidFill>
          <a:ln w="12700">
            <a:solidFill>
              <a:srgbClr val="C8102E"/>
            </a:solidFill>
            <a:prstDash val="solid"/>
          </a:ln>
        </p:spPr>
      </p:sp>
      <p:sp>
        <p:nvSpPr>
          <p:cNvPr id="19" name="Text 15"/>
          <p:cNvSpPr/>
          <p:nvPr/>
        </p:nvSpPr>
        <p:spPr>
          <a:xfrm>
            <a:off x="5271516" y="1901952"/>
            <a:ext cx="3909060"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CARA 2</a:t>
            </a:r>
            <a:endParaRPr lang="en-US" sz="800" dirty="0"/>
          </a:p>
        </p:txBody>
      </p:sp>
      <p:sp>
        <p:nvSpPr>
          <p:cNvPr id="20" name="Text 16"/>
          <p:cNvSpPr/>
          <p:nvPr/>
        </p:nvSpPr>
        <p:spPr>
          <a:xfrm>
            <a:off x="5271516" y="2148840"/>
            <a:ext cx="3909060"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Berangkat dari fungsi perusahaan</a:t>
            </a:r>
            <a:endParaRPr lang="en-US" sz="1200" dirty="0"/>
          </a:p>
        </p:txBody>
      </p:sp>
      <p:sp>
        <p:nvSpPr>
          <p:cNvPr id="21" name="Text 17"/>
          <p:cNvSpPr/>
          <p:nvPr/>
        </p:nvSpPr>
        <p:spPr>
          <a:xfrm>
            <a:off x="5271516" y="2478024"/>
            <a:ext cx="3909060" cy="722376"/>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Telusuri tiap fungsi. Injection molding dan metal stamping di produksi; direct selling dan database marketing di penjualan; riset dasar dan pengembangan produk baru di R&amp;D.</a:t>
            </a:r>
            <a:endParaRPr lang="en-US" sz="950" dirty="0"/>
          </a:p>
        </p:txBody>
      </p:sp>
      <p:sp>
        <p:nvSpPr>
          <p:cNvPr id="22" name="Shape 18"/>
          <p:cNvSpPr/>
          <p:nvPr/>
        </p:nvSpPr>
        <p:spPr>
          <a:xfrm>
            <a:off x="548640" y="3493008"/>
            <a:ext cx="8778240" cy="1051560"/>
          </a:xfrm>
          <a:prstGeom prst="rect">
            <a:avLst/>
          </a:prstGeom>
          <a:solidFill>
            <a:srgbClr val="27161A"/>
          </a:solidFill>
          <a:ln w="12700">
            <a:solidFill>
              <a:srgbClr val="27161A"/>
            </a:solidFill>
            <a:prstDash val="solid"/>
          </a:ln>
        </p:spPr>
      </p:sp>
      <p:sp>
        <p:nvSpPr>
          <p:cNvPr id="23" name="Shape 19"/>
          <p:cNvSpPr/>
          <p:nvPr/>
        </p:nvSpPr>
        <p:spPr>
          <a:xfrm>
            <a:off x="548640" y="3493008"/>
            <a:ext cx="54864" cy="1051560"/>
          </a:xfrm>
          <a:prstGeom prst="rect">
            <a:avLst/>
          </a:prstGeom>
          <a:solidFill>
            <a:srgbClr val="FBE122"/>
          </a:solidFill>
          <a:ln w="12700">
            <a:solidFill>
              <a:srgbClr val="FBE122"/>
            </a:solidFill>
            <a:prstDash val="solid"/>
          </a:ln>
        </p:spPr>
      </p:sp>
      <p:sp>
        <p:nvSpPr>
          <p:cNvPr id="24" name="Text 20"/>
          <p:cNvSpPr/>
          <p:nvPr/>
        </p:nvSpPr>
        <p:spPr>
          <a:xfrm>
            <a:off x="768096" y="3639312"/>
            <a:ext cx="8412480"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Masalahnya: capability terpenting justru lintas fungsi</a:t>
            </a:r>
            <a:endParaRPr lang="en-US" sz="1200" dirty="0"/>
          </a:p>
        </p:txBody>
      </p:sp>
      <p:sp>
        <p:nvSpPr>
          <p:cNvPr id="25" name="Text 21"/>
          <p:cNvSpPr/>
          <p:nvPr/>
        </p:nvSpPr>
        <p:spPr>
          <a:xfrm>
            <a:off x="768096" y="3968496"/>
            <a:ext cx="8412480" cy="466344"/>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Cara 2 gagal menangkap kemampuan yang lahir dari kerja sama antarbagian. Kemampuan desain Warby Parker bukan cuma karena desainernya, tapi juga riset pasar, rekayasa, dan relasi dengan pemasok serta pabrik.</a:t>
            </a:r>
            <a:endParaRPr lang="en-US" sz="950" dirty="0"/>
          </a:p>
        </p:txBody>
      </p:sp>
      <p:sp>
        <p:nvSpPr>
          <p:cNvPr id="26" name="Shape 22"/>
          <p:cNvSpPr/>
          <p:nvPr/>
        </p:nvSpPr>
        <p:spPr>
          <a:xfrm>
            <a:off x="548640" y="4727448"/>
            <a:ext cx="8778240" cy="1188720"/>
          </a:xfrm>
          <a:prstGeom prst="rect">
            <a:avLst/>
          </a:prstGeom>
          <a:solidFill>
            <a:srgbClr val="C8102E"/>
          </a:solidFill>
          <a:ln w="12700">
            <a:solidFill>
              <a:srgbClr val="C8102E"/>
            </a:solidFill>
            <a:prstDash val="solid"/>
          </a:ln>
        </p:spPr>
      </p:sp>
      <p:sp>
        <p:nvSpPr>
          <p:cNvPr id="27" name="Text 23"/>
          <p:cNvSpPr/>
          <p:nvPr/>
        </p:nvSpPr>
        <p:spPr>
          <a:xfrm>
            <a:off x="777240" y="4855464"/>
            <a:ext cx="8321040"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RESOURCE BUNDLE</a:t>
            </a:r>
            <a:endParaRPr lang="en-US" sz="800" dirty="0"/>
          </a:p>
        </p:txBody>
      </p:sp>
      <p:sp>
        <p:nvSpPr>
          <p:cNvPr id="28" name="Text 24"/>
          <p:cNvSpPr/>
          <p:nvPr/>
        </p:nvSpPr>
        <p:spPr>
          <a:xfrm>
            <a:off x="777240" y="5093208"/>
            <a:ext cx="8321040" cy="73152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Kumpulan aset bersaing yang saling terkait erat di sekitar satu atau beberapa kemampuan lintas fungsi. Bundle bisa lolos VRIN Test meski komponen-komponennya sendiri tidak. Paket Nike (keahlian styling, riset pasar, endorsement atlet, nama merek, kecakapan manajerial) membuatnya nomor satu di sepatu olahraga lebih dari 20 tahun.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61188"/>
            <a:ext cx="10728655" cy="18288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3  ·  FRAMEWORK INTI</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VRIN TEST: EMPAT SARINGAN</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Punya resource saja belum berarti unggul. VRIN Test menguji apakah sebuah resource atau capability benar-benar memberi keunggulan, dan apakah keunggulan itu bisa bertahan.</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11</a:t>
            </a:r>
            <a:endParaRPr lang="en-US" sz="900" dirty="0"/>
          </a:p>
        </p:txBody>
      </p:sp>
      <p:sp>
        <p:nvSpPr>
          <p:cNvPr id="10" name="Shape 7"/>
          <p:cNvSpPr/>
          <p:nvPr/>
        </p:nvSpPr>
        <p:spPr>
          <a:xfrm>
            <a:off x="548640" y="1755648"/>
            <a:ext cx="2602154" cy="3017520"/>
          </a:xfrm>
          <a:prstGeom prst="rect">
            <a:avLst/>
          </a:prstGeom>
          <a:solidFill>
            <a:srgbClr val="27161A"/>
          </a:solidFill>
          <a:ln w="12700">
            <a:solidFill>
              <a:srgbClr val="27161A"/>
            </a:solidFill>
            <a:prstDash val="solid"/>
          </a:ln>
        </p:spPr>
      </p:sp>
      <p:sp>
        <p:nvSpPr>
          <p:cNvPr id="11" name="Shape 8"/>
          <p:cNvSpPr/>
          <p:nvPr/>
        </p:nvSpPr>
        <p:spPr>
          <a:xfrm>
            <a:off x="548640" y="1755648"/>
            <a:ext cx="2602154" cy="54864"/>
          </a:xfrm>
          <a:prstGeom prst="rect">
            <a:avLst/>
          </a:prstGeom>
          <a:solidFill>
            <a:srgbClr val="C8102E"/>
          </a:solidFill>
          <a:ln w="12700">
            <a:solidFill>
              <a:srgbClr val="C8102E"/>
            </a:solidFill>
            <a:prstDash val="solid"/>
          </a:ln>
        </p:spPr>
      </p:sp>
      <p:sp>
        <p:nvSpPr>
          <p:cNvPr id="12" name="Text 9"/>
          <p:cNvSpPr/>
          <p:nvPr/>
        </p:nvSpPr>
        <p:spPr>
          <a:xfrm>
            <a:off x="749808" y="1847088"/>
            <a:ext cx="1097280" cy="777240"/>
          </a:xfrm>
          <a:prstGeom prst="rect">
            <a:avLst/>
          </a:prstGeom>
          <a:noFill/>
          <a:ln/>
        </p:spPr>
        <p:txBody>
          <a:bodyPr wrap="square" lIns="0" tIns="0" rIns="0" bIns="0" rtlCol="0" anchor="t"/>
          <a:lstStyle/>
          <a:p>
            <a:pPr marL="0" indent="0">
              <a:buNone/>
            </a:pPr>
            <a:r>
              <a:rPr lang="en-US" sz="4400" dirty="0">
                <a:solidFill>
                  <a:srgbClr val="C8102E"/>
                </a:solidFill>
                <a:latin typeface="Poppins ExtraBold" pitchFamily="34" charset="0"/>
                <a:ea typeface="Poppins ExtraBold" pitchFamily="34" charset="-122"/>
                <a:cs typeface="Poppins ExtraBold" pitchFamily="34" charset="-120"/>
              </a:rPr>
              <a:t>V</a:t>
            </a:r>
            <a:endParaRPr lang="en-US" sz="4400" dirty="0"/>
          </a:p>
        </p:txBody>
      </p:sp>
      <p:sp>
        <p:nvSpPr>
          <p:cNvPr id="13" name="Text 10"/>
          <p:cNvSpPr/>
          <p:nvPr/>
        </p:nvSpPr>
        <p:spPr>
          <a:xfrm>
            <a:off x="749808" y="2670048"/>
            <a:ext cx="2236394" cy="292608"/>
          </a:xfrm>
          <a:prstGeom prst="rect">
            <a:avLst/>
          </a:prstGeom>
          <a:noFill/>
          <a:ln/>
        </p:spPr>
        <p:txBody>
          <a:bodyPr wrap="square" lIns="0" tIns="0" rIns="0" bIns="0" rtlCol="0" anchor="t"/>
          <a:lstStyle/>
          <a:p>
            <a:pPr marL="0" indent="0">
              <a:buNone/>
            </a:pPr>
            <a:r>
              <a:rPr lang="en-US" sz="1300" dirty="0">
                <a:solidFill>
                  <a:srgbClr val="FFFFFF"/>
                </a:solidFill>
                <a:latin typeface="Poppins SemiBold" pitchFamily="34" charset="0"/>
                <a:ea typeface="Poppins SemiBold" pitchFamily="34" charset="-122"/>
                <a:cs typeface="Poppins SemiBold" pitchFamily="34" charset="-120"/>
              </a:rPr>
              <a:t>Valuable</a:t>
            </a:r>
            <a:endParaRPr lang="en-US" sz="1300" dirty="0"/>
          </a:p>
        </p:txBody>
      </p:sp>
      <p:sp>
        <p:nvSpPr>
          <p:cNvPr id="14" name="Text 11"/>
          <p:cNvSpPr/>
          <p:nvPr/>
        </p:nvSpPr>
        <p:spPr>
          <a:xfrm>
            <a:off x="749808" y="2962656"/>
            <a:ext cx="2236394" cy="274320"/>
          </a:xfrm>
          <a:prstGeom prst="rect">
            <a:avLst/>
          </a:prstGeom>
          <a:noFill/>
          <a:ln/>
        </p:spPr>
        <p:txBody>
          <a:bodyPr wrap="square" lIns="0" tIns="0" rIns="0" bIns="0" rtlCol="0" anchor="t"/>
          <a:lstStyle/>
          <a:p>
            <a:pPr marL="0" indent="0">
              <a:buNone/>
            </a:pPr>
            <a:r>
              <a:rPr lang="en-US" sz="900" dirty="0">
                <a:solidFill>
                  <a:srgbClr val="FBE122"/>
                </a:solidFill>
                <a:latin typeface="Poppins Medium" pitchFamily="34" charset="0"/>
                <a:ea typeface="Poppins Medium" pitchFamily="34" charset="-122"/>
                <a:cs typeface="Poppins Medium" pitchFamily="34" charset="-120"/>
              </a:rPr>
              <a:t>Bernilai untuk bersaing?</a:t>
            </a:r>
            <a:endParaRPr lang="en-US" sz="900" dirty="0"/>
          </a:p>
        </p:txBody>
      </p:sp>
      <p:sp>
        <p:nvSpPr>
          <p:cNvPr id="15" name="Text 12"/>
          <p:cNvSpPr/>
          <p:nvPr/>
        </p:nvSpPr>
        <p:spPr>
          <a:xfrm>
            <a:off x="749808" y="3291840"/>
            <a:ext cx="2236394" cy="141732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Harus langsung menopang strategi dan membuat perusahaan lebih efektif bersaing. Google Wallet gagal meski memakai resource teknologi yang membuat Google nomor satu di mesin pencari.</a:t>
            </a:r>
            <a:endParaRPr lang="en-US" sz="900" dirty="0"/>
          </a:p>
        </p:txBody>
      </p:sp>
      <p:sp>
        <p:nvSpPr>
          <p:cNvPr id="16" name="Shape 13"/>
          <p:cNvSpPr/>
          <p:nvPr/>
        </p:nvSpPr>
        <p:spPr>
          <a:xfrm>
            <a:off x="3379394" y="1755648"/>
            <a:ext cx="2602154" cy="3017520"/>
          </a:xfrm>
          <a:prstGeom prst="rect">
            <a:avLst/>
          </a:prstGeom>
          <a:solidFill>
            <a:srgbClr val="27161A"/>
          </a:solidFill>
          <a:ln w="12700">
            <a:solidFill>
              <a:srgbClr val="27161A"/>
            </a:solidFill>
            <a:prstDash val="solid"/>
          </a:ln>
        </p:spPr>
      </p:sp>
      <p:sp>
        <p:nvSpPr>
          <p:cNvPr id="17" name="Shape 14"/>
          <p:cNvSpPr/>
          <p:nvPr/>
        </p:nvSpPr>
        <p:spPr>
          <a:xfrm>
            <a:off x="3379394" y="1755648"/>
            <a:ext cx="2602154" cy="54864"/>
          </a:xfrm>
          <a:prstGeom prst="rect">
            <a:avLst/>
          </a:prstGeom>
          <a:solidFill>
            <a:srgbClr val="C8102E"/>
          </a:solidFill>
          <a:ln w="12700">
            <a:solidFill>
              <a:srgbClr val="C8102E"/>
            </a:solidFill>
            <a:prstDash val="solid"/>
          </a:ln>
        </p:spPr>
      </p:sp>
      <p:sp>
        <p:nvSpPr>
          <p:cNvPr id="18" name="Text 15"/>
          <p:cNvSpPr/>
          <p:nvPr/>
        </p:nvSpPr>
        <p:spPr>
          <a:xfrm>
            <a:off x="3580562" y="1847088"/>
            <a:ext cx="1097280" cy="777240"/>
          </a:xfrm>
          <a:prstGeom prst="rect">
            <a:avLst/>
          </a:prstGeom>
          <a:noFill/>
          <a:ln/>
        </p:spPr>
        <p:txBody>
          <a:bodyPr wrap="square" lIns="0" tIns="0" rIns="0" bIns="0" rtlCol="0" anchor="t"/>
          <a:lstStyle/>
          <a:p>
            <a:pPr marL="0" indent="0">
              <a:buNone/>
            </a:pPr>
            <a:r>
              <a:rPr lang="en-US" sz="4400" dirty="0">
                <a:solidFill>
                  <a:srgbClr val="C8102E"/>
                </a:solidFill>
                <a:latin typeface="Poppins ExtraBold" pitchFamily="34" charset="0"/>
                <a:ea typeface="Poppins ExtraBold" pitchFamily="34" charset="-122"/>
                <a:cs typeface="Poppins ExtraBold" pitchFamily="34" charset="-120"/>
              </a:rPr>
              <a:t>R</a:t>
            </a:r>
            <a:endParaRPr lang="en-US" sz="4400" dirty="0"/>
          </a:p>
        </p:txBody>
      </p:sp>
      <p:sp>
        <p:nvSpPr>
          <p:cNvPr id="19" name="Text 16"/>
          <p:cNvSpPr/>
          <p:nvPr/>
        </p:nvSpPr>
        <p:spPr>
          <a:xfrm>
            <a:off x="3580562" y="2670048"/>
            <a:ext cx="2236394" cy="292608"/>
          </a:xfrm>
          <a:prstGeom prst="rect">
            <a:avLst/>
          </a:prstGeom>
          <a:noFill/>
          <a:ln/>
        </p:spPr>
        <p:txBody>
          <a:bodyPr wrap="square" lIns="0" tIns="0" rIns="0" bIns="0" rtlCol="0" anchor="t"/>
          <a:lstStyle/>
          <a:p>
            <a:pPr marL="0" indent="0">
              <a:buNone/>
            </a:pPr>
            <a:r>
              <a:rPr lang="en-US" sz="1300" dirty="0">
                <a:solidFill>
                  <a:srgbClr val="FFFFFF"/>
                </a:solidFill>
                <a:latin typeface="Poppins SemiBold" pitchFamily="34" charset="0"/>
                <a:ea typeface="Poppins SemiBold" pitchFamily="34" charset="-122"/>
                <a:cs typeface="Poppins SemiBold" pitchFamily="34" charset="-120"/>
              </a:rPr>
              <a:t>Rare</a:t>
            </a:r>
            <a:endParaRPr lang="en-US" sz="1300" dirty="0"/>
          </a:p>
        </p:txBody>
      </p:sp>
      <p:sp>
        <p:nvSpPr>
          <p:cNvPr id="20" name="Text 17"/>
          <p:cNvSpPr/>
          <p:nvPr/>
        </p:nvSpPr>
        <p:spPr>
          <a:xfrm>
            <a:off x="3580562" y="2962656"/>
            <a:ext cx="2236394" cy="274320"/>
          </a:xfrm>
          <a:prstGeom prst="rect">
            <a:avLst/>
          </a:prstGeom>
          <a:noFill/>
          <a:ln/>
        </p:spPr>
        <p:txBody>
          <a:bodyPr wrap="square" lIns="0" tIns="0" rIns="0" bIns="0" rtlCol="0" anchor="t"/>
          <a:lstStyle/>
          <a:p>
            <a:pPr marL="0" indent="0">
              <a:buNone/>
            </a:pPr>
            <a:r>
              <a:rPr lang="en-US" sz="900" dirty="0">
                <a:solidFill>
                  <a:srgbClr val="FBE122"/>
                </a:solidFill>
                <a:latin typeface="Poppins Medium" pitchFamily="34" charset="0"/>
                <a:ea typeface="Poppins Medium" pitchFamily="34" charset="-122"/>
                <a:cs typeface="Poppins Medium" pitchFamily="34" charset="-120"/>
              </a:rPr>
              <a:t>Langka, tidak dimiliki pesaing?</a:t>
            </a:r>
            <a:endParaRPr lang="en-US" sz="900" dirty="0"/>
          </a:p>
        </p:txBody>
      </p:sp>
      <p:sp>
        <p:nvSpPr>
          <p:cNvPr id="21" name="Text 18"/>
          <p:cNvSpPr/>
          <p:nvPr/>
        </p:nvSpPr>
        <p:spPr>
          <a:xfrm>
            <a:off x="3580562" y="3291840"/>
            <a:ext cx="2236394" cy="141732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Kalau semua pesaing punya, itu syarat ikut bermain, bukan pembeda. Semua produsen sereal punya kemampuan pemasaran; kekuatan merek Oreo tidak umum.</a:t>
            </a:r>
            <a:endParaRPr lang="en-US" sz="900" dirty="0"/>
          </a:p>
        </p:txBody>
      </p:sp>
      <p:sp>
        <p:nvSpPr>
          <p:cNvPr id="22" name="Shape 19"/>
          <p:cNvSpPr/>
          <p:nvPr/>
        </p:nvSpPr>
        <p:spPr>
          <a:xfrm>
            <a:off x="6210148" y="1755648"/>
            <a:ext cx="2602154" cy="3017520"/>
          </a:xfrm>
          <a:prstGeom prst="rect">
            <a:avLst/>
          </a:prstGeom>
          <a:solidFill>
            <a:srgbClr val="32191E"/>
          </a:solidFill>
          <a:ln w="12700">
            <a:solidFill>
              <a:srgbClr val="32191E"/>
            </a:solidFill>
            <a:prstDash val="solid"/>
          </a:ln>
        </p:spPr>
      </p:sp>
      <p:sp>
        <p:nvSpPr>
          <p:cNvPr id="23" name="Shape 20"/>
          <p:cNvSpPr/>
          <p:nvPr/>
        </p:nvSpPr>
        <p:spPr>
          <a:xfrm>
            <a:off x="6210148" y="1755648"/>
            <a:ext cx="2602154" cy="54864"/>
          </a:xfrm>
          <a:prstGeom prst="rect">
            <a:avLst/>
          </a:prstGeom>
          <a:solidFill>
            <a:srgbClr val="FBE122"/>
          </a:solidFill>
          <a:ln w="12700">
            <a:solidFill>
              <a:srgbClr val="FBE122"/>
            </a:solidFill>
            <a:prstDash val="solid"/>
          </a:ln>
        </p:spPr>
      </p:sp>
      <p:sp>
        <p:nvSpPr>
          <p:cNvPr id="24" name="Text 21"/>
          <p:cNvSpPr/>
          <p:nvPr/>
        </p:nvSpPr>
        <p:spPr>
          <a:xfrm>
            <a:off x="6411316" y="1847088"/>
            <a:ext cx="1097280" cy="777240"/>
          </a:xfrm>
          <a:prstGeom prst="rect">
            <a:avLst/>
          </a:prstGeom>
          <a:noFill/>
          <a:ln/>
        </p:spPr>
        <p:txBody>
          <a:bodyPr wrap="square" lIns="0" tIns="0" rIns="0" bIns="0" rtlCol="0" anchor="t"/>
          <a:lstStyle/>
          <a:p>
            <a:pPr marL="0" indent="0">
              <a:buNone/>
            </a:pPr>
            <a:r>
              <a:rPr lang="en-US" sz="4400" dirty="0">
                <a:solidFill>
                  <a:srgbClr val="FBE122"/>
                </a:solidFill>
                <a:latin typeface="Poppins ExtraBold" pitchFamily="34" charset="0"/>
                <a:ea typeface="Poppins ExtraBold" pitchFamily="34" charset="-122"/>
                <a:cs typeface="Poppins ExtraBold" pitchFamily="34" charset="-120"/>
              </a:rPr>
              <a:t>I</a:t>
            </a:r>
            <a:endParaRPr lang="en-US" sz="4400" dirty="0"/>
          </a:p>
        </p:txBody>
      </p:sp>
      <p:sp>
        <p:nvSpPr>
          <p:cNvPr id="25" name="Text 22"/>
          <p:cNvSpPr/>
          <p:nvPr/>
        </p:nvSpPr>
        <p:spPr>
          <a:xfrm>
            <a:off x="6411316" y="2670048"/>
            <a:ext cx="2236394" cy="292608"/>
          </a:xfrm>
          <a:prstGeom prst="rect">
            <a:avLst/>
          </a:prstGeom>
          <a:noFill/>
          <a:ln/>
        </p:spPr>
        <p:txBody>
          <a:bodyPr wrap="square" lIns="0" tIns="0" rIns="0" bIns="0" rtlCol="0" anchor="t"/>
          <a:lstStyle/>
          <a:p>
            <a:pPr marL="0" indent="0">
              <a:buNone/>
            </a:pPr>
            <a:r>
              <a:rPr lang="en-US" sz="1300" dirty="0">
                <a:solidFill>
                  <a:srgbClr val="FFFFFF"/>
                </a:solidFill>
                <a:latin typeface="Poppins SemiBold" pitchFamily="34" charset="0"/>
                <a:ea typeface="Poppins SemiBold" pitchFamily="34" charset="-122"/>
                <a:cs typeface="Poppins SemiBold" pitchFamily="34" charset="-120"/>
              </a:rPr>
              <a:t>Inimitable</a:t>
            </a:r>
            <a:endParaRPr lang="en-US" sz="1300" dirty="0"/>
          </a:p>
        </p:txBody>
      </p:sp>
      <p:sp>
        <p:nvSpPr>
          <p:cNvPr id="26" name="Text 23"/>
          <p:cNvSpPr/>
          <p:nvPr/>
        </p:nvSpPr>
        <p:spPr>
          <a:xfrm>
            <a:off x="6411316" y="2962656"/>
            <a:ext cx="2236394" cy="274320"/>
          </a:xfrm>
          <a:prstGeom prst="rect">
            <a:avLst/>
          </a:prstGeom>
          <a:noFill/>
          <a:ln/>
        </p:spPr>
        <p:txBody>
          <a:bodyPr wrap="square" lIns="0" tIns="0" rIns="0" bIns="0" rtlCol="0" anchor="t"/>
          <a:lstStyle/>
          <a:p>
            <a:pPr marL="0" indent="0">
              <a:buNone/>
            </a:pPr>
            <a:r>
              <a:rPr lang="en-US" sz="900" dirty="0">
                <a:solidFill>
                  <a:srgbClr val="FBE122"/>
                </a:solidFill>
                <a:latin typeface="Poppins Medium" pitchFamily="34" charset="0"/>
                <a:ea typeface="Poppins Medium" pitchFamily="34" charset="-122"/>
                <a:cs typeface="Poppins Medium" pitchFamily="34" charset="-120"/>
              </a:rPr>
              <a:t>Sulit ditiru?</a:t>
            </a:r>
            <a:endParaRPr lang="en-US" sz="900" dirty="0"/>
          </a:p>
        </p:txBody>
      </p:sp>
      <p:sp>
        <p:nvSpPr>
          <p:cNvPr id="27" name="Text 24"/>
          <p:cNvSpPr/>
          <p:nvPr/>
        </p:nvSpPr>
        <p:spPr>
          <a:xfrm>
            <a:off x="6411316" y="3291840"/>
            <a:ext cx="2236394" cy="141732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Sulit ditiru kalau unik, harus dibangun bertahun-tahun, butuh biaya sangat besar, atau melibatkan social complexity dan causal ambiguity.</a:t>
            </a:r>
            <a:endParaRPr lang="en-US" sz="900" dirty="0"/>
          </a:p>
        </p:txBody>
      </p:sp>
      <p:sp>
        <p:nvSpPr>
          <p:cNvPr id="28" name="Shape 25"/>
          <p:cNvSpPr/>
          <p:nvPr/>
        </p:nvSpPr>
        <p:spPr>
          <a:xfrm>
            <a:off x="9040901" y="1755648"/>
            <a:ext cx="2602154" cy="3017520"/>
          </a:xfrm>
          <a:prstGeom prst="rect">
            <a:avLst/>
          </a:prstGeom>
          <a:solidFill>
            <a:srgbClr val="32191E"/>
          </a:solidFill>
          <a:ln w="12700">
            <a:solidFill>
              <a:srgbClr val="32191E"/>
            </a:solidFill>
            <a:prstDash val="solid"/>
          </a:ln>
        </p:spPr>
      </p:sp>
      <p:sp>
        <p:nvSpPr>
          <p:cNvPr id="29" name="Shape 26"/>
          <p:cNvSpPr/>
          <p:nvPr/>
        </p:nvSpPr>
        <p:spPr>
          <a:xfrm>
            <a:off x="9040901" y="1755648"/>
            <a:ext cx="2602154" cy="54864"/>
          </a:xfrm>
          <a:prstGeom prst="rect">
            <a:avLst/>
          </a:prstGeom>
          <a:solidFill>
            <a:srgbClr val="FBE122"/>
          </a:solidFill>
          <a:ln w="12700">
            <a:solidFill>
              <a:srgbClr val="FBE122"/>
            </a:solidFill>
            <a:prstDash val="solid"/>
          </a:ln>
        </p:spPr>
      </p:sp>
      <p:sp>
        <p:nvSpPr>
          <p:cNvPr id="30" name="Text 27"/>
          <p:cNvSpPr/>
          <p:nvPr/>
        </p:nvSpPr>
        <p:spPr>
          <a:xfrm>
            <a:off x="9242069" y="1847088"/>
            <a:ext cx="1097280" cy="777240"/>
          </a:xfrm>
          <a:prstGeom prst="rect">
            <a:avLst/>
          </a:prstGeom>
          <a:noFill/>
          <a:ln/>
        </p:spPr>
        <p:txBody>
          <a:bodyPr wrap="square" lIns="0" tIns="0" rIns="0" bIns="0" rtlCol="0" anchor="t"/>
          <a:lstStyle/>
          <a:p>
            <a:pPr marL="0" indent="0">
              <a:buNone/>
            </a:pPr>
            <a:r>
              <a:rPr lang="en-US" sz="4400" dirty="0">
                <a:solidFill>
                  <a:srgbClr val="FBE122"/>
                </a:solidFill>
                <a:latin typeface="Poppins ExtraBold" pitchFamily="34" charset="0"/>
                <a:ea typeface="Poppins ExtraBold" pitchFamily="34" charset="-122"/>
                <a:cs typeface="Poppins ExtraBold" pitchFamily="34" charset="-120"/>
              </a:rPr>
              <a:t>N</a:t>
            </a:r>
            <a:endParaRPr lang="en-US" sz="4400" dirty="0"/>
          </a:p>
        </p:txBody>
      </p:sp>
      <p:sp>
        <p:nvSpPr>
          <p:cNvPr id="31" name="Text 28"/>
          <p:cNvSpPr/>
          <p:nvPr/>
        </p:nvSpPr>
        <p:spPr>
          <a:xfrm>
            <a:off x="9242069" y="2670048"/>
            <a:ext cx="2236394" cy="292608"/>
          </a:xfrm>
          <a:prstGeom prst="rect">
            <a:avLst/>
          </a:prstGeom>
          <a:noFill/>
          <a:ln/>
        </p:spPr>
        <p:txBody>
          <a:bodyPr wrap="square" lIns="0" tIns="0" rIns="0" bIns="0" rtlCol="0" anchor="t"/>
          <a:lstStyle/>
          <a:p>
            <a:pPr marL="0" indent="0">
              <a:buNone/>
            </a:pPr>
            <a:r>
              <a:rPr lang="en-US" sz="1300" dirty="0">
                <a:solidFill>
                  <a:srgbClr val="FFFFFF"/>
                </a:solidFill>
                <a:latin typeface="Poppins SemiBold" pitchFamily="34" charset="0"/>
                <a:ea typeface="Poppins SemiBold" pitchFamily="34" charset="-122"/>
                <a:cs typeface="Poppins SemiBold" pitchFamily="34" charset="-120"/>
              </a:rPr>
              <a:t>Nonsubstitutable</a:t>
            </a:r>
            <a:endParaRPr lang="en-US" sz="1300" dirty="0"/>
          </a:p>
        </p:txBody>
      </p:sp>
      <p:sp>
        <p:nvSpPr>
          <p:cNvPr id="32" name="Text 29"/>
          <p:cNvSpPr/>
          <p:nvPr/>
        </p:nvSpPr>
        <p:spPr>
          <a:xfrm>
            <a:off x="9242069" y="2962656"/>
            <a:ext cx="2236394" cy="274320"/>
          </a:xfrm>
          <a:prstGeom prst="rect">
            <a:avLst/>
          </a:prstGeom>
          <a:noFill/>
          <a:ln/>
        </p:spPr>
        <p:txBody>
          <a:bodyPr wrap="square" lIns="0" tIns="0" rIns="0" bIns="0" rtlCol="0" anchor="t"/>
          <a:lstStyle/>
          <a:p>
            <a:pPr marL="0" indent="0">
              <a:buNone/>
            </a:pPr>
            <a:r>
              <a:rPr lang="en-US" sz="900" dirty="0">
                <a:solidFill>
                  <a:srgbClr val="FBE122"/>
                </a:solidFill>
                <a:latin typeface="Poppins Medium" pitchFamily="34" charset="0"/>
                <a:ea typeface="Poppins Medium" pitchFamily="34" charset="-122"/>
                <a:cs typeface="Poppins Medium" pitchFamily="34" charset="-120"/>
              </a:rPr>
              <a:t>Pesaing tak punya jalan lain?</a:t>
            </a:r>
            <a:endParaRPr lang="en-US" sz="900" dirty="0"/>
          </a:p>
        </p:txBody>
      </p:sp>
      <p:sp>
        <p:nvSpPr>
          <p:cNvPr id="33" name="Text 30"/>
          <p:cNvSpPr/>
          <p:nvPr/>
        </p:nvSpPr>
        <p:spPr>
          <a:xfrm>
            <a:off x="9242069" y="3291840"/>
            <a:ext cx="2236394" cy="141732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Pesaing tidak meniru, tapi memakai resource JENIS LAIN untuk hasil yang sama. Keunggulan otomasi bisa dibatalkan pesaing yang memakai tenaga kerja murah di luar negeri.</a:t>
            </a:r>
            <a:endParaRPr lang="en-US" sz="900" dirty="0"/>
          </a:p>
        </p:txBody>
      </p:sp>
      <p:sp>
        <p:nvSpPr>
          <p:cNvPr id="34" name="Shape 31"/>
          <p:cNvSpPr/>
          <p:nvPr/>
        </p:nvSpPr>
        <p:spPr>
          <a:xfrm>
            <a:off x="548640" y="4956048"/>
            <a:ext cx="5432908" cy="868680"/>
          </a:xfrm>
          <a:prstGeom prst="rect">
            <a:avLst/>
          </a:prstGeom>
          <a:solidFill>
            <a:srgbClr val="C8102E"/>
          </a:solidFill>
          <a:ln w="12700">
            <a:solidFill>
              <a:srgbClr val="C8102E"/>
            </a:solidFill>
            <a:prstDash val="solid"/>
          </a:ln>
        </p:spPr>
      </p:sp>
      <p:sp>
        <p:nvSpPr>
          <p:cNvPr id="35" name="Text 32"/>
          <p:cNvSpPr/>
          <p:nvPr/>
        </p:nvSpPr>
        <p:spPr>
          <a:xfrm>
            <a:off x="777240" y="5084064"/>
            <a:ext cx="4975708"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V + R</a:t>
            </a:r>
            <a:endParaRPr lang="en-US" sz="800" dirty="0"/>
          </a:p>
        </p:txBody>
      </p:sp>
      <p:sp>
        <p:nvSpPr>
          <p:cNvPr id="36" name="Text 33"/>
          <p:cNvSpPr/>
          <p:nvPr/>
        </p:nvSpPr>
        <p:spPr>
          <a:xfrm>
            <a:off x="777240" y="5321808"/>
            <a:ext cx="4975708" cy="41148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Menjawab apakah resource bisa MENCIPTAKAN keunggulan bersaing.</a:t>
            </a:r>
            <a:endParaRPr lang="en-US" sz="1000" dirty="0"/>
          </a:p>
        </p:txBody>
      </p:sp>
      <p:sp>
        <p:nvSpPr>
          <p:cNvPr id="37" name="Shape 34"/>
          <p:cNvSpPr/>
          <p:nvPr/>
        </p:nvSpPr>
        <p:spPr>
          <a:xfrm>
            <a:off x="6210148" y="4956048"/>
            <a:ext cx="5432908" cy="868680"/>
          </a:xfrm>
          <a:prstGeom prst="rect">
            <a:avLst/>
          </a:prstGeom>
          <a:solidFill>
            <a:srgbClr val="32191E"/>
          </a:solidFill>
          <a:ln w="12700">
            <a:solidFill>
              <a:srgbClr val="32191E"/>
            </a:solidFill>
            <a:prstDash val="solid"/>
          </a:ln>
        </p:spPr>
      </p:sp>
      <p:sp>
        <p:nvSpPr>
          <p:cNvPr id="38" name="Text 35"/>
          <p:cNvSpPr/>
          <p:nvPr/>
        </p:nvSpPr>
        <p:spPr>
          <a:xfrm>
            <a:off x="6438748" y="5084064"/>
            <a:ext cx="4975708"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I + N</a:t>
            </a:r>
            <a:endParaRPr lang="en-US" sz="800" dirty="0"/>
          </a:p>
        </p:txBody>
      </p:sp>
      <p:sp>
        <p:nvSpPr>
          <p:cNvPr id="39" name="Text 36"/>
          <p:cNvSpPr/>
          <p:nvPr/>
        </p:nvSpPr>
        <p:spPr>
          <a:xfrm>
            <a:off x="6438748" y="5321808"/>
            <a:ext cx="4975708" cy="41148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Menjawab apakah keunggulan itu BISA BERTAHAN menghadapi serangan pesaing.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70332"/>
            <a:ext cx="10728655" cy="164592"/>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3</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RESOURCE HARUS DIKELOLA SECARA DINAMIS</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VRIN Test menguji serangan dari pesaing. Tapi resource juga bisa menyusut, bahkan hilang, dari dalam perusahaan sendiri.</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12</a:t>
            </a:r>
            <a:endParaRPr lang="en-US" sz="900" dirty="0"/>
          </a:p>
        </p:txBody>
      </p:sp>
      <p:sp>
        <p:nvSpPr>
          <p:cNvPr id="10" name="Shape 7"/>
          <p:cNvSpPr/>
          <p:nvPr/>
        </p:nvSpPr>
        <p:spPr>
          <a:xfrm>
            <a:off x="548640" y="1755648"/>
            <a:ext cx="3545738" cy="1234440"/>
          </a:xfrm>
          <a:prstGeom prst="rect">
            <a:avLst/>
          </a:prstGeom>
          <a:solidFill>
            <a:srgbClr val="27161A"/>
          </a:solidFill>
          <a:ln w="12700">
            <a:solidFill>
              <a:srgbClr val="27161A"/>
            </a:solidFill>
            <a:prstDash val="solid"/>
          </a:ln>
        </p:spPr>
      </p:sp>
      <p:sp>
        <p:nvSpPr>
          <p:cNvPr id="11" name="Shape 8"/>
          <p:cNvSpPr/>
          <p:nvPr/>
        </p:nvSpPr>
        <p:spPr>
          <a:xfrm>
            <a:off x="548640" y="1755648"/>
            <a:ext cx="54864" cy="1234440"/>
          </a:xfrm>
          <a:prstGeom prst="rect">
            <a:avLst/>
          </a:prstGeom>
          <a:solidFill>
            <a:srgbClr val="C8102E"/>
          </a:solidFill>
          <a:ln w="12700">
            <a:solidFill>
              <a:srgbClr val="C8102E"/>
            </a:solidFill>
            <a:prstDash val="solid"/>
          </a:ln>
        </p:spPr>
      </p:sp>
      <p:sp>
        <p:nvSpPr>
          <p:cNvPr id="12" name="Text 9"/>
          <p:cNvSpPr/>
          <p:nvPr/>
        </p:nvSpPr>
        <p:spPr>
          <a:xfrm>
            <a:off x="768096" y="1901952"/>
            <a:ext cx="3179978"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Pesaing menyusul</a:t>
            </a:r>
            <a:endParaRPr lang="en-US" sz="1200" dirty="0"/>
          </a:p>
        </p:txBody>
      </p:sp>
      <p:sp>
        <p:nvSpPr>
          <p:cNvPr id="13" name="Text 10"/>
          <p:cNvSpPr/>
          <p:nvPr/>
        </p:nvSpPr>
        <p:spPr>
          <a:xfrm>
            <a:off x="768096" y="2231136"/>
            <a:ext cx="3179978" cy="649224"/>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Yang awalnya tidak bisa meniru, lama-lama menemukan pengganti yang makin baik.</a:t>
            </a:r>
            <a:endParaRPr lang="en-US" sz="950" dirty="0"/>
          </a:p>
        </p:txBody>
      </p:sp>
      <p:sp>
        <p:nvSpPr>
          <p:cNvPr id="14" name="Shape 11"/>
          <p:cNvSpPr/>
          <p:nvPr/>
        </p:nvSpPr>
        <p:spPr>
          <a:xfrm>
            <a:off x="4322978" y="1755648"/>
            <a:ext cx="3545738" cy="1234440"/>
          </a:xfrm>
          <a:prstGeom prst="rect">
            <a:avLst/>
          </a:prstGeom>
          <a:solidFill>
            <a:srgbClr val="27161A"/>
          </a:solidFill>
          <a:ln w="12700">
            <a:solidFill>
              <a:srgbClr val="27161A"/>
            </a:solidFill>
            <a:prstDash val="solid"/>
          </a:ln>
        </p:spPr>
      </p:sp>
      <p:sp>
        <p:nvSpPr>
          <p:cNvPr id="15" name="Shape 12"/>
          <p:cNvSpPr/>
          <p:nvPr/>
        </p:nvSpPr>
        <p:spPr>
          <a:xfrm>
            <a:off x="4322978" y="1755648"/>
            <a:ext cx="54864" cy="1234440"/>
          </a:xfrm>
          <a:prstGeom prst="rect">
            <a:avLst/>
          </a:prstGeom>
          <a:solidFill>
            <a:srgbClr val="C8102E"/>
          </a:solidFill>
          <a:ln w="12700">
            <a:solidFill>
              <a:srgbClr val="C8102E"/>
            </a:solidFill>
            <a:prstDash val="solid"/>
          </a:ln>
        </p:spPr>
      </p:sp>
      <p:sp>
        <p:nvSpPr>
          <p:cNvPr id="16" name="Text 13"/>
          <p:cNvSpPr/>
          <p:nvPr/>
        </p:nvSpPr>
        <p:spPr>
          <a:xfrm>
            <a:off x="4542434" y="1901952"/>
            <a:ext cx="3179978"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Aset menyusut sendiri</a:t>
            </a:r>
            <a:endParaRPr lang="en-US" sz="1200" dirty="0"/>
          </a:p>
        </p:txBody>
      </p:sp>
      <p:sp>
        <p:nvSpPr>
          <p:cNvPr id="17" name="Text 14"/>
          <p:cNvSpPr/>
          <p:nvPr/>
        </p:nvSpPr>
        <p:spPr>
          <a:xfrm>
            <a:off x="4542434" y="2231136"/>
            <a:ext cx="3179978" cy="649224"/>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Resource bisa terdepresiasi seperti aset lain kalau dibiarkan tanpa perhatian.</a:t>
            </a:r>
            <a:endParaRPr lang="en-US" sz="950" dirty="0"/>
          </a:p>
        </p:txBody>
      </p:sp>
      <p:sp>
        <p:nvSpPr>
          <p:cNvPr id="18" name="Shape 15"/>
          <p:cNvSpPr/>
          <p:nvPr/>
        </p:nvSpPr>
        <p:spPr>
          <a:xfrm>
            <a:off x="8097317" y="1755648"/>
            <a:ext cx="3545738" cy="1234440"/>
          </a:xfrm>
          <a:prstGeom prst="rect">
            <a:avLst/>
          </a:prstGeom>
          <a:solidFill>
            <a:srgbClr val="27161A"/>
          </a:solidFill>
          <a:ln w="12700">
            <a:solidFill>
              <a:srgbClr val="27161A"/>
            </a:solidFill>
            <a:prstDash val="solid"/>
          </a:ln>
        </p:spPr>
      </p:sp>
      <p:sp>
        <p:nvSpPr>
          <p:cNvPr id="19" name="Shape 16"/>
          <p:cNvSpPr/>
          <p:nvPr/>
        </p:nvSpPr>
        <p:spPr>
          <a:xfrm>
            <a:off x="8097317" y="1755648"/>
            <a:ext cx="54864" cy="1234440"/>
          </a:xfrm>
          <a:prstGeom prst="rect">
            <a:avLst/>
          </a:prstGeom>
          <a:solidFill>
            <a:srgbClr val="C8102E"/>
          </a:solidFill>
          <a:ln w="12700">
            <a:solidFill>
              <a:srgbClr val="C8102E"/>
            </a:solidFill>
            <a:prstDash val="solid"/>
          </a:ln>
        </p:spPr>
      </p:sp>
      <p:sp>
        <p:nvSpPr>
          <p:cNvPr id="20" name="Text 17"/>
          <p:cNvSpPr/>
          <p:nvPr/>
        </p:nvSpPr>
        <p:spPr>
          <a:xfrm>
            <a:off x="8316773" y="1901952"/>
            <a:ext cx="3179978"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Pasar berubah</a:t>
            </a:r>
            <a:endParaRPr lang="en-US" sz="1200" dirty="0"/>
          </a:p>
        </p:txBody>
      </p:sp>
      <p:sp>
        <p:nvSpPr>
          <p:cNvPr id="21" name="Text 18"/>
          <p:cNvSpPr/>
          <p:nvPr/>
        </p:nvSpPr>
        <p:spPr>
          <a:xfrm>
            <a:off x="8316773" y="2231136"/>
            <a:ext cx="3179978" cy="649224"/>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Perubahan teknologi, selera pelanggan, atau jalur distribusi bisa mengubah aset strategis "dari berlian jadi karat".</a:t>
            </a:r>
            <a:endParaRPr lang="en-US" sz="950" dirty="0"/>
          </a:p>
        </p:txBody>
      </p:sp>
      <p:sp>
        <p:nvSpPr>
          <p:cNvPr id="22" name="Shape 19"/>
          <p:cNvSpPr/>
          <p:nvPr/>
        </p:nvSpPr>
        <p:spPr>
          <a:xfrm>
            <a:off x="548640" y="3218688"/>
            <a:ext cx="6766560" cy="2651760"/>
          </a:xfrm>
          <a:prstGeom prst="rect">
            <a:avLst/>
          </a:prstGeom>
          <a:solidFill>
            <a:srgbClr val="C8102E"/>
          </a:solidFill>
          <a:ln w="12700">
            <a:solidFill>
              <a:srgbClr val="C8102E"/>
            </a:solidFill>
            <a:prstDash val="solid"/>
          </a:ln>
        </p:spPr>
      </p:sp>
      <p:sp>
        <p:nvSpPr>
          <p:cNvPr id="23" name="Text 20"/>
          <p:cNvSpPr/>
          <p:nvPr/>
        </p:nvSpPr>
        <p:spPr>
          <a:xfrm>
            <a:off x="777240" y="3383280"/>
            <a:ext cx="4572000" cy="274320"/>
          </a:xfrm>
          <a:prstGeom prst="rect">
            <a:avLst/>
          </a:prstGeom>
          <a:noFill/>
          <a:ln/>
        </p:spPr>
        <p:txBody>
          <a:bodyPr wrap="square" lIns="0" tIns="0" rIns="0" bIns="0" rtlCol="0" anchor="t"/>
          <a:lstStyle/>
          <a:p>
            <a:pPr marL="0" indent="0">
              <a:buNone/>
            </a:pPr>
            <a:r>
              <a:rPr lang="en-US" sz="900" kern="0" spc="200" dirty="0">
                <a:solidFill>
                  <a:srgbClr val="FBE122"/>
                </a:solidFill>
                <a:latin typeface="Poppins SemiBold" pitchFamily="34" charset="0"/>
                <a:ea typeface="Poppins SemiBold" pitchFamily="34" charset="-122"/>
                <a:cs typeface="Poppins SemiBold" pitchFamily="34" charset="-120"/>
              </a:rPr>
              <a:t>DYNAMIC CAPABILITY</a:t>
            </a:r>
            <a:endParaRPr lang="en-US" sz="900" dirty="0"/>
          </a:p>
        </p:txBody>
      </p:sp>
      <p:sp>
        <p:nvSpPr>
          <p:cNvPr id="24" name="Text 21"/>
          <p:cNvSpPr/>
          <p:nvPr/>
        </p:nvSpPr>
        <p:spPr>
          <a:xfrm>
            <a:off x="777240" y="3675888"/>
            <a:ext cx="6309360" cy="685800"/>
          </a:xfrm>
          <a:prstGeom prst="rect">
            <a:avLst/>
          </a:prstGeom>
          <a:noFill/>
          <a:ln/>
        </p:spPr>
        <p:txBody>
          <a:bodyPr wrap="square" lIns="0" tIns="0" rIns="0" bIns="0" rtlCol="0" anchor="t"/>
          <a:lstStyle/>
          <a:p>
            <a:pPr marL="0" indent="0">
              <a:lnSpc>
                <a:spcPct val="102000"/>
              </a:lnSpc>
              <a:buNone/>
            </a:pPr>
            <a:r>
              <a:rPr lang="en-US" sz="1300" dirty="0">
                <a:solidFill>
                  <a:srgbClr val="FFFFFF"/>
                </a:solidFill>
                <a:latin typeface="Poppins SemiBold" pitchFamily="34" charset="0"/>
                <a:ea typeface="Poppins SemiBold" pitchFamily="34" charset="-122"/>
                <a:cs typeface="Poppins SemiBold" pitchFamily="34" charset="-120"/>
              </a:rPr>
              <a:t>Kemampuan yang terus berjalan untuk memperbaiki, memperdalam, atau menambah resource dan capability yang sudah ada.</a:t>
            </a:r>
            <a:endParaRPr lang="en-US" sz="1300" dirty="0"/>
          </a:p>
        </p:txBody>
      </p:sp>
      <p:sp>
        <p:nvSpPr>
          <p:cNvPr id="25" name="Text 22"/>
          <p:cNvSpPr/>
          <p:nvPr/>
        </p:nvSpPr>
        <p:spPr>
          <a:xfrm>
            <a:off x="777240" y="4453128"/>
            <a:ext cx="4572000"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DUA BENTUKNYA</a:t>
            </a:r>
            <a:endParaRPr lang="en-US" sz="800" dirty="0"/>
          </a:p>
        </p:txBody>
      </p:sp>
      <p:sp>
        <p:nvSpPr>
          <p:cNvPr id="26" name="Text 23"/>
          <p:cNvSpPr/>
          <p:nvPr/>
        </p:nvSpPr>
        <p:spPr>
          <a:xfrm>
            <a:off x="777240" y="4700016"/>
            <a:ext cx="6309360" cy="1097280"/>
          </a:xfrm>
          <a:prstGeom prst="rect">
            <a:avLst/>
          </a:prstGeom>
          <a:noFill/>
          <a:ln/>
        </p:spPr>
        <p:txBody>
          <a:bodyPr wrap="square" lIns="0" tIns="0" rIns="0" bIns="0" rtlCol="0" anchor="t"/>
          <a:lstStyle/>
          <a:p>
            <a:pPr marL="152400" indent="-152400">
              <a:lnSpc>
                <a:spcPct val="106000"/>
              </a:lnSpc>
              <a:spcAft>
                <a:spcPts val="300"/>
              </a:spcAft>
              <a:buSzPct val="100000"/>
              <a:buChar char="•"/>
            </a:pPr>
            <a:r>
              <a:rPr lang="en-US" sz="1000" dirty="0">
                <a:solidFill>
                  <a:srgbClr val="FFFFFF"/>
                </a:solidFill>
                <a:latin typeface="Poppins" pitchFamily="34" charset="0"/>
                <a:ea typeface="Poppins" pitchFamily="34" charset="-122"/>
                <a:cs typeface="Poppins" pitchFamily="34" charset="-120"/>
              </a:rPr>
              <a:t>Memperbaiki yang ada sedikit demi sedikit. Toyota terus menyempurnakan mesin hibrida dan Toyota Production System.</a:t>
            </a:r>
            <a:endParaRPr lang="en-US" sz="1000" dirty="0"/>
          </a:p>
          <a:p>
            <a:pPr marL="152400" indent="-152400">
              <a:lnSpc>
                <a:spcPct val="106000"/>
              </a:lnSpc>
              <a:spcAft>
                <a:spcPts val="300"/>
              </a:spcAft>
              <a:buSzPct val="100000"/>
              <a:buChar char="•"/>
            </a:pPr>
            <a:r>
              <a:rPr lang="en-US" sz="1000" dirty="0">
                <a:solidFill>
                  <a:srgbClr val="FFFFFF"/>
                </a:solidFill>
                <a:latin typeface="Poppins" pitchFamily="34" charset="0"/>
                <a:ea typeface="Poppins" pitchFamily="34" charset="-122"/>
                <a:cs typeface="Poppins" pitchFamily="34" charset="-120"/>
              </a:rPr>
              <a:t>Menambah yang baru lewat aliansi atau akuisisi. GM bermitra dengan LG dan mendahului Tesla meluncurkan Chevy Bolt EV.</a:t>
            </a:r>
            <a:endParaRPr lang="en-US" sz="1000" dirty="0"/>
          </a:p>
        </p:txBody>
      </p:sp>
      <p:sp>
        <p:nvSpPr>
          <p:cNvPr id="27" name="Shape 24"/>
          <p:cNvSpPr/>
          <p:nvPr/>
        </p:nvSpPr>
        <p:spPr>
          <a:xfrm>
            <a:off x="7543800" y="3218688"/>
            <a:ext cx="4069080" cy="2651760"/>
          </a:xfrm>
          <a:prstGeom prst="rect">
            <a:avLst/>
          </a:prstGeom>
          <a:solidFill>
            <a:srgbClr val="27161A"/>
          </a:solidFill>
          <a:ln w="12700">
            <a:solidFill>
              <a:srgbClr val="27161A"/>
            </a:solidFill>
            <a:prstDash val="solid"/>
          </a:ln>
        </p:spPr>
      </p:sp>
      <p:sp>
        <p:nvSpPr>
          <p:cNvPr id="28" name="Shape 25"/>
          <p:cNvSpPr/>
          <p:nvPr/>
        </p:nvSpPr>
        <p:spPr>
          <a:xfrm>
            <a:off x="7543800" y="3218688"/>
            <a:ext cx="54864" cy="2651760"/>
          </a:xfrm>
          <a:prstGeom prst="rect">
            <a:avLst/>
          </a:prstGeom>
          <a:solidFill>
            <a:srgbClr val="FBE122"/>
          </a:solidFill>
          <a:ln w="12700">
            <a:solidFill>
              <a:srgbClr val="FBE122"/>
            </a:solidFill>
            <a:prstDash val="solid"/>
          </a:ln>
        </p:spPr>
      </p:sp>
      <p:sp>
        <p:nvSpPr>
          <p:cNvPr id="29" name="Text 26"/>
          <p:cNvSpPr/>
          <p:nvPr/>
        </p:nvSpPr>
        <p:spPr>
          <a:xfrm>
            <a:off x="7763256" y="3364992"/>
            <a:ext cx="3703320"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Inti dynamic capability</a:t>
            </a:r>
            <a:endParaRPr lang="en-US" sz="1200" dirty="0"/>
          </a:p>
        </p:txBody>
      </p:sp>
      <p:sp>
        <p:nvSpPr>
          <p:cNvPr id="30" name="Text 27"/>
          <p:cNvSpPr/>
          <p:nvPr/>
        </p:nvSpPr>
        <p:spPr>
          <a:xfrm>
            <a:off x="7763256" y="3694176"/>
            <a:ext cx="3703320" cy="2066544"/>
          </a:xfrm>
          <a:prstGeom prst="rect">
            <a:avLst/>
          </a:prstGeom>
          <a:noFill/>
          <a:ln/>
        </p:spPr>
        <p:txBody>
          <a:bodyPr wrap="square" lIns="0" tIns="0" rIns="0" bIns="0" rtlCol="0" anchor="t"/>
          <a:lstStyle/>
          <a:p>
            <a:pPr marL="0" indent="0">
              <a:lnSpc>
                <a:spcPct val="108000"/>
              </a:lnSpc>
              <a:buNone/>
            </a:pPr>
            <a:r>
              <a:rPr lang="en-US" sz="1000" dirty="0">
                <a:solidFill>
                  <a:srgbClr val="D9CFC7"/>
                </a:solidFill>
                <a:latin typeface="Poppins" pitchFamily="34" charset="0"/>
                <a:ea typeface="Poppins" pitchFamily="34" charset="-122"/>
                <a:cs typeface="Poppins" pitchFamily="34" charset="-120"/>
              </a:rPr>
              <a:t>Ketika kegiatan memperbarui aset dilakukan terus-menerus sampai menjadi rutinitas manajemen, kemampuan memperbarui itu sendiri berubah menjadi sebuah capability. Di titik itulah ia disebut dynamic capability.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70332"/>
            <a:ext cx="10728655" cy="155448"/>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4</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VALUE CHAIN PERUSAHAAN</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Setiap bisnis adalah kumpulan aktivitas. Value chain memecah perusahaan menjadi aktivitas-aktivitas itu, supaya biaya dan nilai bisa dilacak satu per satu.</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13</a:t>
            </a:r>
            <a:endParaRPr lang="en-US" sz="900" dirty="0"/>
          </a:p>
        </p:txBody>
      </p:sp>
      <p:sp>
        <p:nvSpPr>
          <p:cNvPr id="10" name="Text 7"/>
          <p:cNvSpPr/>
          <p:nvPr/>
        </p:nvSpPr>
        <p:spPr>
          <a:xfrm>
            <a:off x="548640" y="1755648"/>
            <a:ext cx="731520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PRIMARY ACTIVITIES  ·  aktivitas utama pencipta nilai</a:t>
            </a:r>
            <a:endParaRPr lang="en-US" sz="850" dirty="0"/>
          </a:p>
        </p:txBody>
      </p:sp>
      <p:sp>
        <p:nvSpPr>
          <p:cNvPr id="11" name="Shape 8"/>
          <p:cNvSpPr/>
          <p:nvPr/>
        </p:nvSpPr>
        <p:spPr>
          <a:xfrm>
            <a:off x="548640" y="2048256"/>
            <a:ext cx="1807403" cy="1417320"/>
          </a:xfrm>
          <a:prstGeom prst="rect">
            <a:avLst/>
          </a:prstGeom>
          <a:solidFill>
            <a:srgbClr val="27161A"/>
          </a:solidFill>
          <a:ln w="12700">
            <a:solidFill>
              <a:srgbClr val="27161A"/>
            </a:solidFill>
            <a:prstDash val="solid"/>
          </a:ln>
        </p:spPr>
      </p:sp>
      <p:sp>
        <p:nvSpPr>
          <p:cNvPr id="12" name="Shape 9"/>
          <p:cNvSpPr/>
          <p:nvPr/>
        </p:nvSpPr>
        <p:spPr>
          <a:xfrm>
            <a:off x="548640" y="2048256"/>
            <a:ext cx="1807403" cy="54864"/>
          </a:xfrm>
          <a:prstGeom prst="rect">
            <a:avLst/>
          </a:prstGeom>
          <a:solidFill>
            <a:srgbClr val="C8102E"/>
          </a:solidFill>
          <a:ln w="12700">
            <a:solidFill>
              <a:srgbClr val="C8102E"/>
            </a:solidFill>
            <a:prstDash val="solid"/>
          </a:ln>
        </p:spPr>
      </p:sp>
      <p:sp>
        <p:nvSpPr>
          <p:cNvPr id="13" name="Text 10"/>
          <p:cNvSpPr/>
          <p:nvPr/>
        </p:nvSpPr>
        <p:spPr>
          <a:xfrm>
            <a:off x="685800" y="2185416"/>
            <a:ext cx="1533083" cy="502920"/>
          </a:xfrm>
          <a:prstGeom prst="rect">
            <a:avLst/>
          </a:prstGeom>
          <a:noFill/>
          <a:ln/>
        </p:spPr>
        <p:txBody>
          <a:bodyPr wrap="square" lIns="0" tIns="0" rIns="0" bIns="0" rtlCol="0" anchor="t"/>
          <a:lstStyle/>
          <a:p>
            <a:pPr marL="0" indent="0">
              <a:lnSpc>
                <a:spcPct val="98000"/>
              </a:lnSpc>
              <a:buNone/>
            </a:pPr>
            <a:r>
              <a:rPr lang="en-US" sz="1050" dirty="0">
                <a:solidFill>
                  <a:srgbClr val="FFFFFF"/>
                </a:solidFill>
                <a:latin typeface="Poppins SemiBold" pitchFamily="34" charset="0"/>
                <a:ea typeface="Poppins SemiBold" pitchFamily="34" charset="-122"/>
                <a:cs typeface="Poppins SemiBold" pitchFamily="34" charset="-120"/>
              </a:rPr>
              <a:t>Supply Chain Management</a:t>
            </a:r>
            <a:endParaRPr lang="en-US" sz="1050" dirty="0"/>
          </a:p>
        </p:txBody>
      </p:sp>
      <p:sp>
        <p:nvSpPr>
          <p:cNvPr id="14" name="Text 11"/>
          <p:cNvSpPr/>
          <p:nvPr/>
        </p:nvSpPr>
        <p:spPr>
          <a:xfrm>
            <a:off x="685800" y="2734056"/>
            <a:ext cx="1533083" cy="685800"/>
          </a:xfrm>
          <a:prstGeom prst="rect">
            <a:avLst/>
          </a:prstGeom>
          <a:noFill/>
          <a:ln/>
        </p:spPr>
        <p:txBody>
          <a:bodyPr wrap="square" lIns="0" tIns="0" rIns="0" bIns="0" rtlCol="0" anchor="t"/>
          <a:lstStyle/>
          <a:p>
            <a:pPr marL="0" indent="0">
              <a:lnSpc>
                <a:spcPct val="105000"/>
              </a:lnSpc>
              <a:buNone/>
            </a:pPr>
            <a:r>
              <a:rPr lang="en-US" sz="850" dirty="0">
                <a:solidFill>
                  <a:srgbClr val="D9CFC7"/>
                </a:solidFill>
                <a:latin typeface="Poppins" pitchFamily="34" charset="0"/>
                <a:ea typeface="Poppins" pitchFamily="34" charset="-122"/>
                <a:cs typeface="Poppins" pitchFamily="34" charset="-120"/>
              </a:rPr>
              <a:t>Membeli, menerima, menyimpan, dan menyalurkan input</a:t>
            </a:r>
            <a:endParaRPr lang="en-US" sz="850" dirty="0"/>
          </a:p>
        </p:txBody>
      </p:sp>
      <p:sp>
        <p:nvSpPr>
          <p:cNvPr id="15" name="Shape 12"/>
          <p:cNvSpPr/>
          <p:nvPr/>
        </p:nvSpPr>
        <p:spPr>
          <a:xfrm>
            <a:off x="2493203" y="2048256"/>
            <a:ext cx="1807403" cy="1417320"/>
          </a:xfrm>
          <a:prstGeom prst="rect">
            <a:avLst/>
          </a:prstGeom>
          <a:solidFill>
            <a:srgbClr val="27161A"/>
          </a:solidFill>
          <a:ln w="12700">
            <a:solidFill>
              <a:srgbClr val="27161A"/>
            </a:solidFill>
            <a:prstDash val="solid"/>
          </a:ln>
        </p:spPr>
      </p:sp>
      <p:sp>
        <p:nvSpPr>
          <p:cNvPr id="16" name="Shape 13"/>
          <p:cNvSpPr/>
          <p:nvPr/>
        </p:nvSpPr>
        <p:spPr>
          <a:xfrm>
            <a:off x="2493203" y="2048256"/>
            <a:ext cx="1807403" cy="54864"/>
          </a:xfrm>
          <a:prstGeom prst="rect">
            <a:avLst/>
          </a:prstGeom>
          <a:solidFill>
            <a:srgbClr val="C8102E"/>
          </a:solidFill>
          <a:ln w="12700">
            <a:solidFill>
              <a:srgbClr val="C8102E"/>
            </a:solidFill>
            <a:prstDash val="solid"/>
          </a:ln>
        </p:spPr>
      </p:sp>
      <p:sp>
        <p:nvSpPr>
          <p:cNvPr id="17" name="Text 14"/>
          <p:cNvSpPr/>
          <p:nvPr/>
        </p:nvSpPr>
        <p:spPr>
          <a:xfrm>
            <a:off x="2630363" y="2185416"/>
            <a:ext cx="1533083" cy="502920"/>
          </a:xfrm>
          <a:prstGeom prst="rect">
            <a:avLst/>
          </a:prstGeom>
          <a:noFill/>
          <a:ln/>
        </p:spPr>
        <p:txBody>
          <a:bodyPr wrap="square" lIns="0" tIns="0" rIns="0" bIns="0" rtlCol="0" anchor="t"/>
          <a:lstStyle/>
          <a:p>
            <a:pPr marL="0" indent="0">
              <a:lnSpc>
                <a:spcPct val="98000"/>
              </a:lnSpc>
              <a:buNone/>
            </a:pPr>
            <a:r>
              <a:rPr lang="en-US" sz="1050" dirty="0">
                <a:solidFill>
                  <a:srgbClr val="FFFFFF"/>
                </a:solidFill>
                <a:latin typeface="Poppins SemiBold" pitchFamily="34" charset="0"/>
                <a:ea typeface="Poppins SemiBold" pitchFamily="34" charset="-122"/>
                <a:cs typeface="Poppins SemiBold" pitchFamily="34" charset="-120"/>
              </a:rPr>
              <a:t>Operations</a:t>
            </a:r>
            <a:endParaRPr lang="en-US" sz="1050" dirty="0"/>
          </a:p>
        </p:txBody>
      </p:sp>
      <p:sp>
        <p:nvSpPr>
          <p:cNvPr id="18" name="Text 15"/>
          <p:cNvSpPr/>
          <p:nvPr/>
        </p:nvSpPr>
        <p:spPr>
          <a:xfrm>
            <a:off x="2630363" y="2734056"/>
            <a:ext cx="1533083" cy="685800"/>
          </a:xfrm>
          <a:prstGeom prst="rect">
            <a:avLst/>
          </a:prstGeom>
          <a:noFill/>
          <a:ln/>
        </p:spPr>
        <p:txBody>
          <a:bodyPr wrap="square" lIns="0" tIns="0" rIns="0" bIns="0" rtlCol="0" anchor="t"/>
          <a:lstStyle/>
          <a:p>
            <a:pPr marL="0" indent="0">
              <a:lnSpc>
                <a:spcPct val="105000"/>
              </a:lnSpc>
              <a:buNone/>
            </a:pPr>
            <a:r>
              <a:rPr lang="en-US" sz="850" dirty="0">
                <a:solidFill>
                  <a:srgbClr val="D9CFC7"/>
                </a:solidFill>
                <a:latin typeface="Poppins" pitchFamily="34" charset="0"/>
                <a:ea typeface="Poppins" pitchFamily="34" charset="-122"/>
                <a:cs typeface="Poppins" pitchFamily="34" charset="-120"/>
              </a:rPr>
              <a:t>Mengubah input jadi produk jadi</a:t>
            </a:r>
            <a:endParaRPr lang="en-US" sz="850" dirty="0"/>
          </a:p>
        </p:txBody>
      </p:sp>
      <p:sp>
        <p:nvSpPr>
          <p:cNvPr id="19" name="Shape 16"/>
          <p:cNvSpPr/>
          <p:nvPr/>
        </p:nvSpPr>
        <p:spPr>
          <a:xfrm>
            <a:off x="4437766" y="2048256"/>
            <a:ext cx="1807403" cy="1417320"/>
          </a:xfrm>
          <a:prstGeom prst="rect">
            <a:avLst/>
          </a:prstGeom>
          <a:solidFill>
            <a:srgbClr val="27161A"/>
          </a:solidFill>
          <a:ln w="12700">
            <a:solidFill>
              <a:srgbClr val="27161A"/>
            </a:solidFill>
            <a:prstDash val="solid"/>
          </a:ln>
        </p:spPr>
      </p:sp>
      <p:sp>
        <p:nvSpPr>
          <p:cNvPr id="20" name="Shape 17"/>
          <p:cNvSpPr/>
          <p:nvPr/>
        </p:nvSpPr>
        <p:spPr>
          <a:xfrm>
            <a:off x="4437766" y="2048256"/>
            <a:ext cx="1807403" cy="54864"/>
          </a:xfrm>
          <a:prstGeom prst="rect">
            <a:avLst/>
          </a:prstGeom>
          <a:solidFill>
            <a:srgbClr val="C8102E"/>
          </a:solidFill>
          <a:ln w="12700">
            <a:solidFill>
              <a:srgbClr val="C8102E"/>
            </a:solidFill>
            <a:prstDash val="solid"/>
          </a:ln>
        </p:spPr>
      </p:sp>
      <p:sp>
        <p:nvSpPr>
          <p:cNvPr id="21" name="Text 18"/>
          <p:cNvSpPr/>
          <p:nvPr/>
        </p:nvSpPr>
        <p:spPr>
          <a:xfrm>
            <a:off x="4574926" y="2185416"/>
            <a:ext cx="1533083" cy="502920"/>
          </a:xfrm>
          <a:prstGeom prst="rect">
            <a:avLst/>
          </a:prstGeom>
          <a:noFill/>
          <a:ln/>
        </p:spPr>
        <p:txBody>
          <a:bodyPr wrap="square" lIns="0" tIns="0" rIns="0" bIns="0" rtlCol="0" anchor="t"/>
          <a:lstStyle/>
          <a:p>
            <a:pPr marL="0" indent="0">
              <a:lnSpc>
                <a:spcPct val="98000"/>
              </a:lnSpc>
              <a:buNone/>
            </a:pPr>
            <a:r>
              <a:rPr lang="en-US" sz="1050" dirty="0">
                <a:solidFill>
                  <a:srgbClr val="FFFFFF"/>
                </a:solidFill>
                <a:latin typeface="Poppins SemiBold" pitchFamily="34" charset="0"/>
                <a:ea typeface="Poppins SemiBold" pitchFamily="34" charset="-122"/>
                <a:cs typeface="Poppins SemiBold" pitchFamily="34" charset="-120"/>
              </a:rPr>
              <a:t>Distribution</a:t>
            </a:r>
            <a:endParaRPr lang="en-US" sz="1050" dirty="0"/>
          </a:p>
        </p:txBody>
      </p:sp>
      <p:sp>
        <p:nvSpPr>
          <p:cNvPr id="22" name="Text 19"/>
          <p:cNvSpPr/>
          <p:nvPr/>
        </p:nvSpPr>
        <p:spPr>
          <a:xfrm>
            <a:off x="4574926" y="2734056"/>
            <a:ext cx="1533083" cy="685800"/>
          </a:xfrm>
          <a:prstGeom prst="rect">
            <a:avLst/>
          </a:prstGeom>
          <a:noFill/>
          <a:ln/>
        </p:spPr>
        <p:txBody>
          <a:bodyPr wrap="square" lIns="0" tIns="0" rIns="0" bIns="0" rtlCol="0" anchor="t"/>
          <a:lstStyle/>
          <a:p>
            <a:pPr marL="0" indent="0">
              <a:lnSpc>
                <a:spcPct val="105000"/>
              </a:lnSpc>
              <a:buNone/>
            </a:pPr>
            <a:r>
              <a:rPr lang="en-US" sz="850" dirty="0">
                <a:solidFill>
                  <a:srgbClr val="D9CFC7"/>
                </a:solidFill>
                <a:latin typeface="Poppins" pitchFamily="34" charset="0"/>
                <a:ea typeface="Poppins" pitchFamily="34" charset="-122"/>
                <a:cs typeface="Poppins" pitchFamily="34" charset="-120"/>
              </a:rPr>
              <a:t>Menyimpan dan mengirim ke pembeli</a:t>
            </a:r>
            <a:endParaRPr lang="en-US" sz="850" dirty="0"/>
          </a:p>
        </p:txBody>
      </p:sp>
      <p:sp>
        <p:nvSpPr>
          <p:cNvPr id="23" name="Shape 20"/>
          <p:cNvSpPr/>
          <p:nvPr/>
        </p:nvSpPr>
        <p:spPr>
          <a:xfrm>
            <a:off x="6382329" y="2048256"/>
            <a:ext cx="1807403" cy="1417320"/>
          </a:xfrm>
          <a:prstGeom prst="rect">
            <a:avLst/>
          </a:prstGeom>
          <a:solidFill>
            <a:srgbClr val="27161A"/>
          </a:solidFill>
          <a:ln w="12700">
            <a:solidFill>
              <a:srgbClr val="27161A"/>
            </a:solidFill>
            <a:prstDash val="solid"/>
          </a:ln>
        </p:spPr>
      </p:sp>
      <p:sp>
        <p:nvSpPr>
          <p:cNvPr id="24" name="Shape 21"/>
          <p:cNvSpPr/>
          <p:nvPr/>
        </p:nvSpPr>
        <p:spPr>
          <a:xfrm>
            <a:off x="6382329" y="2048256"/>
            <a:ext cx="1807403" cy="54864"/>
          </a:xfrm>
          <a:prstGeom prst="rect">
            <a:avLst/>
          </a:prstGeom>
          <a:solidFill>
            <a:srgbClr val="C8102E"/>
          </a:solidFill>
          <a:ln w="12700">
            <a:solidFill>
              <a:srgbClr val="C8102E"/>
            </a:solidFill>
            <a:prstDash val="solid"/>
          </a:ln>
        </p:spPr>
      </p:sp>
      <p:sp>
        <p:nvSpPr>
          <p:cNvPr id="25" name="Text 22"/>
          <p:cNvSpPr/>
          <p:nvPr/>
        </p:nvSpPr>
        <p:spPr>
          <a:xfrm>
            <a:off x="6519489" y="2185416"/>
            <a:ext cx="1533083" cy="502920"/>
          </a:xfrm>
          <a:prstGeom prst="rect">
            <a:avLst/>
          </a:prstGeom>
          <a:noFill/>
          <a:ln/>
        </p:spPr>
        <p:txBody>
          <a:bodyPr wrap="square" lIns="0" tIns="0" rIns="0" bIns="0" rtlCol="0" anchor="t"/>
          <a:lstStyle/>
          <a:p>
            <a:pPr marL="0" indent="0">
              <a:lnSpc>
                <a:spcPct val="98000"/>
              </a:lnSpc>
              <a:buNone/>
            </a:pPr>
            <a:r>
              <a:rPr lang="en-US" sz="1050" dirty="0">
                <a:solidFill>
                  <a:srgbClr val="FFFFFF"/>
                </a:solidFill>
                <a:latin typeface="Poppins SemiBold" pitchFamily="34" charset="0"/>
                <a:ea typeface="Poppins SemiBold" pitchFamily="34" charset="-122"/>
                <a:cs typeface="Poppins SemiBold" pitchFamily="34" charset="-120"/>
              </a:rPr>
              <a:t>Sales &amp; Marketing</a:t>
            </a:r>
            <a:endParaRPr lang="en-US" sz="1050" dirty="0"/>
          </a:p>
        </p:txBody>
      </p:sp>
      <p:sp>
        <p:nvSpPr>
          <p:cNvPr id="26" name="Text 23"/>
          <p:cNvSpPr/>
          <p:nvPr/>
        </p:nvSpPr>
        <p:spPr>
          <a:xfrm>
            <a:off x="6519489" y="2734056"/>
            <a:ext cx="1533083" cy="685800"/>
          </a:xfrm>
          <a:prstGeom prst="rect">
            <a:avLst/>
          </a:prstGeom>
          <a:noFill/>
          <a:ln/>
        </p:spPr>
        <p:txBody>
          <a:bodyPr wrap="square" lIns="0" tIns="0" rIns="0" bIns="0" rtlCol="0" anchor="t"/>
          <a:lstStyle/>
          <a:p>
            <a:pPr marL="0" indent="0">
              <a:lnSpc>
                <a:spcPct val="105000"/>
              </a:lnSpc>
              <a:buNone/>
            </a:pPr>
            <a:r>
              <a:rPr lang="en-US" sz="850" dirty="0">
                <a:solidFill>
                  <a:srgbClr val="D9CFC7"/>
                </a:solidFill>
                <a:latin typeface="Poppins" pitchFamily="34" charset="0"/>
                <a:ea typeface="Poppins" pitchFamily="34" charset="-122"/>
                <a:cs typeface="Poppins" pitchFamily="34" charset="-120"/>
              </a:rPr>
              <a:t>Tenaga jual, iklan, promosi, dukungan dealer</a:t>
            </a:r>
            <a:endParaRPr lang="en-US" sz="850" dirty="0"/>
          </a:p>
        </p:txBody>
      </p:sp>
      <p:sp>
        <p:nvSpPr>
          <p:cNvPr id="27" name="Shape 24"/>
          <p:cNvSpPr/>
          <p:nvPr/>
        </p:nvSpPr>
        <p:spPr>
          <a:xfrm>
            <a:off x="8326892" y="2048256"/>
            <a:ext cx="1807403" cy="1417320"/>
          </a:xfrm>
          <a:prstGeom prst="rect">
            <a:avLst/>
          </a:prstGeom>
          <a:solidFill>
            <a:srgbClr val="27161A"/>
          </a:solidFill>
          <a:ln w="12700">
            <a:solidFill>
              <a:srgbClr val="27161A"/>
            </a:solidFill>
            <a:prstDash val="solid"/>
          </a:ln>
        </p:spPr>
      </p:sp>
      <p:sp>
        <p:nvSpPr>
          <p:cNvPr id="28" name="Shape 25"/>
          <p:cNvSpPr/>
          <p:nvPr/>
        </p:nvSpPr>
        <p:spPr>
          <a:xfrm>
            <a:off x="8326892" y="2048256"/>
            <a:ext cx="1807403" cy="54864"/>
          </a:xfrm>
          <a:prstGeom prst="rect">
            <a:avLst/>
          </a:prstGeom>
          <a:solidFill>
            <a:srgbClr val="C8102E"/>
          </a:solidFill>
          <a:ln w="12700">
            <a:solidFill>
              <a:srgbClr val="C8102E"/>
            </a:solidFill>
            <a:prstDash val="solid"/>
          </a:ln>
        </p:spPr>
      </p:sp>
      <p:sp>
        <p:nvSpPr>
          <p:cNvPr id="29" name="Text 26"/>
          <p:cNvSpPr/>
          <p:nvPr/>
        </p:nvSpPr>
        <p:spPr>
          <a:xfrm>
            <a:off x="8464052" y="2185416"/>
            <a:ext cx="1533083" cy="502920"/>
          </a:xfrm>
          <a:prstGeom prst="rect">
            <a:avLst/>
          </a:prstGeom>
          <a:noFill/>
          <a:ln/>
        </p:spPr>
        <p:txBody>
          <a:bodyPr wrap="square" lIns="0" tIns="0" rIns="0" bIns="0" rtlCol="0" anchor="t"/>
          <a:lstStyle/>
          <a:p>
            <a:pPr marL="0" indent="0">
              <a:lnSpc>
                <a:spcPct val="98000"/>
              </a:lnSpc>
              <a:buNone/>
            </a:pPr>
            <a:r>
              <a:rPr lang="en-US" sz="1050" dirty="0">
                <a:solidFill>
                  <a:srgbClr val="FFFFFF"/>
                </a:solidFill>
                <a:latin typeface="Poppins SemiBold" pitchFamily="34" charset="0"/>
                <a:ea typeface="Poppins SemiBold" pitchFamily="34" charset="-122"/>
                <a:cs typeface="Poppins SemiBold" pitchFamily="34" charset="-120"/>
              </a:rPr>
              <a:t>Service</a:t>
            </a:r>
            <a:endParaRPr lang="en-US" sz="1050" dirty="0"/>
          </a:p>
        </p:txBody>
      </p:sp>
      <p:sp>
        <p:nvSpPr>
          <p:cNvPr id="30" name="Text 27"/>
          <p:cNvSpPr/>
          <p:nvPr/>
        </p:nvSpPr>
        <p:spPr>
          <a:xfrm>
            <a:off x="8464052" y="2734056"/>
            <a:ext cx="1533083" cy="685800"/>
          </a:xfrm>
          <a:prstGeom prst="rect">
            <a:avLst/>
          </a:prstGeom>
          <a:noFill/>
          <a:ln/>
        </p:spPr>
        <p:txBody>
          <a:bodyPr wrap="square" lIns="0" tIns="0" rIns="0" bIns="0" rtlCol="0" anchor="t"/>
          <a:lstStyle/>
          <a:p>
            <a:pPr marL="0" indent="0">
              <a:lnSpc>
                <a:spcPct val="105000"/>
              </a:lnSpc>
              <a:buNone/>
            </a:pPr>
            <a:r>
              <a:rPr lang="en-US" sz="850" dirty="0">
                <a:solidFill>
                  <a:srgbClr val="D9CFC7"/>
                </a:solidFill>
                <a:latin typeface="Poppins" pitchFamily="34" charset="0"/>
                <a:ea typeface="Poppins" pitchFamily="34" charset="-122"/>
                <a:cs typeface="Poppins" pitchFamily="34" charset="-120"/>
              </a:rPr>
              <a:t>Pemasangan, perbaikan, suku cadang, layanan pelanggan</a:t>
            </a:r>
            <a:endParaRPr lang="en-US" sz="850" dirty="0"/>
          </a:p>
        </p:txBody>
      </p:sp>
      <p:sp>
        <p:nvSpPr>
          <p:cNvPr id="31" name="Shape 28"/>
          <p:cNvSpPr/>
          <p:nvPr/>
        </p:nvSpPr>
        <p:spPr>
          <a:xfrm>
            <a:off x="10271455" y="2048256"/>
            <a:ext cx="1371600" cy="1417320"/>
          </a:xfrm>
          <a:prstGeom prst="rect">
            <a:avLst/>
          </a:prstGeom>
          <a:solidFill>
            <a:srgbClr val="C8102E"/>
          </a:solidFill>
          <a:ln w="12700">
            <a:solidFill>
              <a:srgbClr val="C8102E"/>
            </a:solidFill>
            <a:prstDash val="solid"/>
          </a:ln>
        </p:spPr>
      </p:sp>
      <p:sp>
        <p:nvSpPr>
          <p:cNvPr id="32" name="Text 29"/>
          <p:cNvSpPr/>
          <p:nvPr/>
        </p:nvSpPr>
        <p:spPr>
          <a:xfrm>
            <a:off x="10381183" y="2231136"/>
            <a:ext cx="1152144" cy="502920"/>
          </a:xfrm>
          <a:prstGeom prst="rect">
            <a:avLst/>
          </a:prstGeom>
          <a:noFill/>
          <a:ln/>
        </p:spPr>
        <p:txBody>
          <a:bodyPr wrap="square" lIns="0" tIns="0" rIns="0" bIns="0" rtlCol="0" anchor="t"/>
          <a:lstStyle/>
          <a:p>
            <a:pPr marL="0" indent="0" algn="ctr">
              <a:lnSpc>
                <a:spcPct val="98000"/>
              </a:lnSpc>
              <a:buNone/>
            </a:pPr>
            <a:r>
              <a:rPr lang="en-US" sz="1100" dirty="0">
                <a:solidFill>
                  <a:srgbClr val="FFFFFF"/>
                </a:solidFill>
                <a:latin typeface="Poppins SemiBold" pitchFamily="34" charset="0"/>
                <a:ea typeface="Poppins SemiBold" pitchFamily="34" charset="-122"/>
                <a:cs typeface="Poppins SemiBold" pitchFamily="34" charset="-120"/>
              </a:rPr>
              <a:t>Profit Margin</a:t>
            </a:r>
            <a:endParaRPr lang="en-US" sz="1100" dirty="0"/>
          </a:p>
        </p:txBody>
      </p:sp>
      <p:sp>
        <p:nvSpPr>
          <p:cNvPr id="33" name="Text 30"/>
          <p:cNvSpPr/>
          <p:nvPr/>
        </p:nvSpPr>
        <p:spPr>
          <a:xfrm>
            <a:off x="10381183" y="2779776"/>
            <a:ext cx="1152144" cy="457200"/>
          </a:xfrm>
          <a:prstGeom prst="rect">
            <a:avLst/>
          </a:prstGeom>
          <a:noFill/>
          <a:ln/>
        </p:spPr>
        <p:txBody>
          <a:bodyPr wrap="square" lIns="0" tIns="0" rIns="0" bIns="0" rtlCol="0" anchor="t"/>
          <a:lstStyle/>
          <a:p>
            <a:pPr marL="0" indent="0" algn="ctr">
              <a:buNone/>
            </a:pPr>
            <a:r>
              <a:rPr lang="en-US" sz="2000" dirty="0">
                <a:solidFill>
                  <a:srgbClr val="FBE122"/>
                </a:solidFill>
                <a:latin typeface="Poppins ExtraBold" pitchFamily="34" charset="0"/>
                <a:ea typeface="Poppins ExtraBold" pitchFamily="34" charset="-122"/>
                <a:cs typeface="Poppins ExtraBold" pitchFamily="34" charset="-120"/>
              </a:rPr>
              <a:t>P − C</a:t>
            </a:r>
            <a:endParaRPr lang="en-US" sz="2000" dirty="0"/>
          </a:p>
        </p:txBody>
      </p:sp>
      <p:sp>
        <p:nvSpPr>
          <p:cNvPr id="34" name="Text 31"/>
          <p:cNvSpPr/>
          <p:nvPr/>
        </p:nvSpPr>
        <p:spPr>
          <a:xfrm>
            <a:off x="548640" y="3694176"/>
            <a:ext cx="731520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SUPPORT ACTIVITIES  ·  aktivitas pendukung</a:t>
            </a:r>
            <a:endParaRPr lang="en-US" sz="850" dirty="0"/>
          </a:p>
        </p:txBody>
      </p:sp>
      <p:sp>
        <p:nvSpPr>
          <p:cNvPr id="35" name="Shape 32"/>
          <p:cNvSpPr/>
          <p:nvPr/>
        </p:nvSpPr>
        <p:spPr>
          <a:xfrm>
            <a:off x="548640" y="3986784"/>
            <a:ext cx="3545738" cy="868680"/>
          </a:xfrm>
          <a:prstGeom prst="rect">
            <a:avLst/>
          </a:prstGeom>
          <a:solidFill>
            <a:srgbClr val="32191E"/>
          </a:solidFill>
          <a:ln w="12700">
            <a:solidFill>
              <a:srgbClr val="32191E"/>
            </a:solidFill>
            <a:prstDash val="solid"/>
          </a:ln>
        </p:spPr>
      </p:sp>
      <p:sp>
        <p:nvSpPr>
          <p:cNvPr id="36" name="Shape 33"/>
          <p:cNvSpPr/>
          <p:nvPr/>
        </p:nvSpPr>
        <p:spPr>
          <a:xfrm>
            <a:off x="548640" y="3986784"/>
            <a:ext cx="54864" cy="868680"/>
          </a:xfrm>
          <a:prstGeom prst="rect">
            <a:avLst/>
          </a:prstGeom>
          <a:solidFill>
            <a:srgbClr val="FBE122"/>
          </a:solidFill>
          <a:ln w="12700">
            <a:solidFill>
              <a:srgbClr val="FBE122"/>
            </a:solidFill>
            <a:prstDash val="solid"/>
          </a:ln>
        </p:spPr>
      </p:sp>
      <p:sp>
        <p:nvSpPr>
          <p:cNvPr id="37" name="Text 34"/>
          <p:cNvSpPr/>
          <p:nvPr/>
        </p:nvSpPr>
        <p:spPr>
          <a:xfrm>
            <a:off x="777240" y="4096512"/>
            <a:ext cx="3179978" cy="292608"/>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Product R&amp;D, Technology &amp; Systems Development</a:t>
            </a:r>
            <a:endParaRPr lang="en-US" sz="1050" dirty="0"/>
          </a:p>
        </p:txBody>
      </p:sp>
      <p:sp>
        <p:nvSpPr>
          <p:cNvPr id="38" name="Text 35"/>
          <p:cNvSpPr/>
          <p:nvPr/>
        </p:nvSpPr>
        <p:spPr>
          <a:xfrm>
            <a:off x="777240" y="4425696"/>
            <a:ext cx="3179978" cy="365760"/>
          </a:xfrm>
          <a:prstGeom prst="rect">
            <a:avLst/>
          </a:prstGeom>
          <a:noFill/>
          <a:ln/>
        </p:spPr>
        <p:txBody>
          <a:bodyPr wrap="square" lIns="0" tIns="0" rIns="0" bIns="0" rtlCol="0" anchor="t"/>
          <a:lstStyle/>
          <a:p>
            <a:pPr marL="0" indent="0">
              <a:buNone/>
            </a:pPr>
            <a:r>
              <a:rPr lang="en-US" sz="900" dirty="0">
                <a:solidFill>
                  <a:srgbClr val="D9CFC7"/>
                </a:solidFill>
                <a:latin typeface="Poppins" pitchFamily="34" charset="0"/>
                <a:ea typeface="Poppins" pitchFamily="34" charset="-122"/>
                <a:cs typeface="Poppins" pitchFamily="34" charset="-120"/>
              </a:rPr>
              <a:t>Riset produk dan proses, desain, otomasi</a:t>
            </a:r>
            <a:endParaRPr lang="en-US" sz="900" dirty="0"/>
          </a:p>
        </p:txBody>
      </p:sp>
      <p:sp>
        <p:nvSpPr>
          <p:cNvPr id="39" name="Shape 36"/>
          <p:cNvSpPr/>
          <p:nvPr/>
        </p:nvSpPr>
        <p:spPr>
          <a:xfrm>
            <a:off x="4322978" y="3986784"/>
            <a:ext cx="3545738" cy="868680"/>
          </a:xfrm>
          <a:prstGeom prst="rect">
            <a:avLst/>
          </a:prstGeom>
          <a:solidFill>
            <a:srgbClr val="32191E"/>
          </a:solidFill>
          <a:ln w="12700">
            <a:solidFill>
              <a:srgbClr val="32191E"/>
            </a:solidFill>
            <a:prstDash val="solid"/>
          </a:ln>
        </p:spPr>
      </p:sp>
      <p:sp>
        <p:nvSpPr>
          <p:cNvPr id="40" name="Shape 37"/>
          <p:cNvSpPr/>
          <p:nvPr/>
        </p:nvSpPr>
        <p:spPr>
          <a:xfrm>
            <a:off x="4322978" y="3986784"/>
            <a:ext cx="54864" cy="868680"/>
          </a:xfrm>
          <a:prstGeom prst="rect">
            <a:avLst/>
          </a:prstGeom>
          <a:solidFill>
            <a:srgbClr val="FBE122"/>
          </a:solidFill>
          <a:ln w="12700">
            <a:solidFill>
              <a:srgbClr val="FBE122"/>
            </a:solidFill>
            <a:prstDash val="solid"/>
          </a:ln>
        </p:spPr>
      </p:sp>
      <p:sp>
        <p:nvSpPr>
          <p:cNvPr id="41" name="Text 38"/>
          <p:cNvSpPr/>
          <p:nvPr/>
        </p:nvSpPr>
        <p:spPr>
          <a:xfrm>
            <a:off x="4551578" y="4096512"/>
            <a:ext cx="3179978" cy="292608"/>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Human Resource Management</a:t>
            </a:r>
            <a:endParaRPr lang="en-US" sz="1050" dirty="0"/>
          </a:p>
        </p:txBody>
      </p:sp>
      <p:sp>
        <p:nvSpPr>
          <p:cNvPr id="42" name="Text 39"/>
          <p:cNvSpPr/>
          <p:nvPr/>
        </p:nvSpPr>
        <p:spPr>
          <a:xfrm>
            <a:off x="4551578" y="4425696"/>
            <a:ext cx="3179978" cy="365760"/>
          </a:xfrm>
          <a:prstGeom prst="rect">
            <a:avLst/>
          </a:prstGeom>
          <a:noFill/>
          <a:ln/>
        </p:spPr>
        <p:txBody>
          <a:bodyPr wrap="square" lIns="0" tIns="0" rIns="0" bIns="0" rtlCol="0" anchor="t"/>
          <a:lstStyle/>
          <a:p>
            <a:pPr marL="0" indent="0">
              <a:buNone/>
            </a:pPr>
            <a:r>
              <a:rPr lang="en-US" sz="900" dirty="0">
                <a:solidFill>
                  <a:srgbClr val="D9CFC7"/>
                </a:solidFill>
                <a:latin typeface="Poppins" pitchFamily="34" charset="0"/>
                <a:ea typeface="Poppins" pitchFamily="34" charset="-122"/>
                <a:cs typeface="Poppins" pitchFamily="34" charset="-120"/>
              </a:rPr>
              <a:t>Rekrutmen, pelatihan, kompensasi</a:t>
            </a:r>
            <a:endParaRPr lang="en-US" sz="900" dirty="0"/>
          </a:p>
        </p:txBody>
      </p:sp>
      <p:sp>
        <p:nvSpPr>
          <p:cNvPr id="43" name="Shape 40"/>
          <p:cNvSpPr/>
          <p:nvPr/>
        </p:nvSpPr>
        <p:spPr>
          <a:xfrm>
            <a:off x="8097317" y="3986784"/>
            <a:ext cx="3545738" cy="868680"/>
          </a:xfrm>
          <a:prstGeom prst="rect">
            <a:avLst/>
          </a:prstGeom>
          <a:solidFill>
            <a:srgbClr val="32191E"/>
          </a:solidFill>
          <a:ln w="12700">
            <a:solidFill>
              <a:srgbClr val="32191E"/>
            </a:solidFill>
            <a:prstDash val="solid"/>
          </a:ln>
        </p:spPr>
      </p:sp>
      <p:sp>
        <p:nvSpPr>
          <p:cNvPr id="44" name="Shape 41"/>
          <p:cNvSpPr/>
          <p:nvPr/>
        </p:nvSpPr>
        <p:spPr>
          <a:xfrm>
            <a:off x="8097317" y="3986784"/>
            <a:ext cx="54864" cy="868680"/>
          </a:xfrm>
          <a:prstGeom prst="rect">
            <a:avLst/>
          </a:prstGeom>
          <a:solidFill>
            <a:srgbClr val="FBE122"/>
          </a:solidFill>
          <a:ln w="12700">
            <a:solidFill>
              <a:srgbClr val="FBE122"/>
            </a:solidFill>
            <a:prstDash val="solid"/>
          </a:ln>
        </p:spPr>
      </p:sp>
      <p:sp>
        <p:nvSpPr>
          <p:cNvPr id="45" name="Text 42"/>
          <p:cNvSpPr/>
          <p:nvPr/>
        </p:nvSpPr>
        <p:spPr>
          <a:xfrm>
            <a:off x="8325917" y="4096512"/>
            <a:ext cx="3179978" cy="292608"/>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General Administration</a:t>
            </a:r>
            <a:endParaRPr lang="en-US" sz="1050" dirty="0"/>
          </a:p>
        </p:txBody>
      </p:sp>
      <p:sp>
        <p:nvSpPr>
          <p:cNvPr id="46" name="Text 43"/>
          <p:cNvSpPr/>
          <p:nvPr/>
        </p:nvSpPr>
        <p:spPr>
          <a:xfrm>
            <a:off x="8325917" y="4425696"/>
            <a:ext cx="3179978" cy="365760"/>
          </a:xfrm>
          <a:prstGeom prst="rect">
            <a:avLst/>
          </a:prstGeom>
          <a:noFill/>
          <a:ln/>
        </p:spPr>
        <p:txBody>
          <a:bodyPr wrap="square" lIns="0" tIns="0" rIns="0" bIns="0" rtlCol="0" anchor="t"/>
          <a:lstStyle/>
          <a:p>
            <a:pPr marL="0" indent="0">
              <a:buNone/>
            </a:pPr>
            <a:r>
              <a:rPr lang="en-US" sz="900" dirty="0">
                <a:solidFill>
                  <a:srgbClr val="D9CFC7"/>
                </a:solidFill>
                <a:latin typeface="Poppins" pitchFamily="34" charset="0"/>
                <a:ea typeface="Poppins" pitchFamily="34" charset="-122"/>
                <a:cs typeface="Poppins" pitchFamily="34" charset="-120"/>
              </a:rPr>
              <a:t>Akuntansi, keuangan, hukum, sistem informasi</a:t>
            </a:r>
            <a:endParaRPr lang="en-US" sz="900" dirty="0"/>
          </a:p>
        </p:txBody>
      </p:sp>
      <p:sp>
        <p:nvSpPr>
          <p:cNvPr id="47" name="Shape 44"/>
          <p:cNvSpPr/>
          <p:nvPr/>
        </p:nvSpPr>
        <p:spPr>
          <a:xfrm>
            <a:off x="548640" y="5065776"/>
            <a:ext cx="11094415" cy="822960"/>
          </a:xfrm>
          <a:prstGeom prst="rect">
            <a:avLst/>
          </a:prstGeom>
          <a:solidFill>
            <a:srgbClr val="C8102E"/>
          </a:solidFill>
          <a:ln w="12700">
            <a:solidFill>
              <a:srgbClr val="C8102E"/>
            </a:solidFill>
            <a:prstDash val="solid"/>
          </a:ln>
        </p:spPr>
      </p:sp>
      <p:sp>
        <p:nvSpPr>
          <p:cNvPr id="48" name="Text 45"/>
          <p:cNvSpPr/>
          <p:nvPr/>
        </p:nvSpPr>
        <p:spPr>
          <a:xfrm>
            <a:off x="777240" y="5193792"/>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TIGA SELISIH YANG HARUS DIBEDAKAN</a:t>
            </a:r>
            <a:endParaRPr lang="en-US" sz="800" dirty="0"/>
          </a:p>
        </p:txBody>
      </p:sp>
      <p:sp>
        <p:nvSpPr>
          <p:cNvPr id="49" name="Text 46"/>
          <p:cNvSpPr/>
          <p:nvPr/>
        </p:nvSpPr>
        <p:spPr>
          <a:xfrm>
            <a:off x="777240" y="5431536"/>
            <a:ext cx="10637215" cy="36576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V − P = nilai yang diterima pelanggan (customer value proposition).   P − C = margin laba perusahaan.   V − C = Total Economic Value, seluruh nilai ekonomi yang diciptakan perusahaan.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88620"/>
            <a:ext cx="10728655" cy="155448"/>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4</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VALUE CHAIN SYSTEM DAN BENCHMARKING</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Biaya dan mutu yang sampai ke pembeli tidak hanya ditentukan perusahaan sendiri, tapi oleh seluruh rantai dari pemasok sampai penjual akhir.</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14</a:t>
            </a:r>
            <a:endParaRPr lang="en-US" sz="900" dirty="0"/>
          </a:p>
        </p:txBody>
      </p:sp>
      <p:sp>
        <p:nvSpPr>
          <p:cNvPr id="10" name="Shape 7"/>
          <p:cNvSpPr/>
          <p:nvPr/>
        </p:nvSpPr>
        <p:spPr>
          <a:xfrm>
            <a:off x="548640" y="1755648"/>
            <a:ext cx="2567864" cy="914400"/>
          </a:xfrm>
          <a:prstGeom prst="rect">
            <a:avLst/>
          </a:prstGeom>
          <a:solidFill>
            <a:srgbClr val="27161A"/>
          </a:solidFill>
          <a:ln w="12700">
            <a:solidFill>
              <a:srgbClr val="27161A"/>
            </a:solidFill>
            <a:prstDash val="solid"/>
          </a:ln>
        </p:spPr>
      </p:sp>
      <p:sp>
        <p:nvSpPr>
          <p:cNvPr id="11" name="Text 8"/>
          <p:cNvSpPr/>
          <p:nvPr/>
        </p:nvSpPr>
        <p:spPr>
          <a:xfrm>
            <a:off x="731520" y="1883664"/>
            <a:ext cx="2247824"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Value chain PEMASOK</a:t>
            </a:r>
            <a:endParaRPr lang="en-US" sz="1050" dirty="0"/>
          </a:p>
        </p:txBody>
      </p:sp>
      <p:sp>
        <p:nvSpPr>
          <p:cNvPr id="12" name="Text 9"/>
          <p:cNvSpPr/>
          <p:nvPr/>
        </p:nvSpPr>
        <p:spPr>
          <a:xfrm>
            <a:off x="731520" y="2212848"/>
            <a:ext cx="2247824" cy="411480"/>
          </a:xfrm>
          <a:prstGeom prst="rect">
            <a:avLst/>
          </a:prstGeom>
          <a:noFill/>
          <a:ln/>
        </p:spPr>
        <p:txBody>
          <a:bodyPr wrap="square" lIns="0" tIns="0" rIns="0" bIns="0" rtlCol="0" anchor="t"/>
          <a:lstStyle/>
          <a:p>
            <a:pPr marL="0" indent="0">
              <a:buNone/>
            </a:pPr>
            <a:r>
              <a:rPr lang="en-US" sz="850" dirty="0">
                <a:solidFill>
                  <a:srgbClr val="D9CFC7"/>
                </a:solidFill>
                <a:latin typeface="Poppins" pitchFamily="34" charset="0"/>
                <a:ea typeface="Poppins" pitchFamily="34" charset="-122"/>
                <a:cs typeface="Poppins" pitchFamily="34" charset="-120"/>
              </a:rPr>
              <a:t>Biaya dan mutu input yang masuk</a:t>
            </a:r>
            <a:endParaRPr lang="en-US" sz="850" dirty="0"/>
          </a:p>
        </p:txBody>
      </p:sp>
      <p:sp>
        <p:nvSpPr>
          <p:cNvPr id="13" name="Shape 10"/>
          <p:cNvSpPr/>
          <p:nvPr/>
        </p:nvSpPr>
        <p:spPr>
          <a:xfrm rot="5400000">
            <a:off x="3180512" y="2139696"/>
            <a:ext cx="146304" cy="164592"/>
          </a:xfrm>
          <a:prstGeom prst="triangle">
            <a:avLst/>
          </a:prstGeom>
          <a:solidFill>
            <a:srgbClr val="FBE122"/>
          </a:solidFill>
          <a:ln w="12700">
            <a:solidFill>
              <a:srgbClr val="FBE122"/>
            </a:solidFill>
            <a:prstDash val="solid"/>
          </a:ln>
        </p:spPr>
      </p:sp>
      <p:sp>
        <p:nvSpPr>
          <p:cNvPr id="14" name="Shape 11"/>
          <p:cNvSpPr/>
          <p:nvPr/>
        </p:nvSpPr>
        <p:spPr>
          <a:xfrm>
            <a:off x="3390824" y="1755648"/>
            <a:ext cx="2567864" cy="914400"/>
          </a:xfrm>
          <a:prstGeom prst="rect">
            <a:avLst/>
          </a:prstGeom>
          <a:solidFill>
            <a:srgbClr val="27161A"/>
          </a:solidFill>
          <a:ln w="12700">
            <a:solidFill>
              <a:srgbClr val="27161A"/>
            </a:solidFill>
            <a:prstDash val="solid"/>
          </a:ln>
        </p:spPr>
      </p:sp>
      <p:sp>
        <p:nvSpPr>
          <p:cNvPr id="15" name="Text 12"/>
          <p:cNvSpPr/>
          <p:nvPr/>
        </p:nvSpPr>
        <p:spPr>
          <a:xfrm>
            <a:off x="3573704" y="1883664"/>
            <a:ext cx="2247824"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Value chain PERUSAHAAN</a:t>
            </a:r>
            <a:endParaRPr lang="en-US" sz="1050" dirty="0"/>
          </a:p>
        </p:txBody>
      </p:sp>
      <p:sp>
        <p:nvSpPr>
          <p:cNvPr id="16" name="Text 13"/>
          <p:cNvSpPr/>
          <p:nvPr/>
        </p:nvSpPr>
        <p:spPr>
          <a:xfrm>
            <a:off x="3573704" y="2212848"/>
            <a:ext cx="2247824" cy="411480"/>
          </a:xfrm>
          <a:prstGeom prst="rect">
            <a:avLst/>
          </a:prstGeom>
          <a:noFill/>
          <a:ln/>
        </p:spPr>
        <p:txBody>
          <a:bodyPr wrap="square" lIns="0" tIns="0" rIns="0" bIns="0" rtlCol="0" anchor="t"/>
          <a:lstStyle/>
          <a:p>
            <a:pPr marL="0" indent="0">
              <a:buNone/>
            </a:pPr>
            <a:r>
              <a:rPr lang="en-US" sz="850" dirty="0">
                <a:solidFill>
                  <a:srgbClr val="D9CFC7"/>
                </a:solidFill>
                <a:latin typeface="Poppins" pitchFamily="34" charset="0"/>
                <a:ea typeface="Poppins" pitchFamily="34" charset="-122"/>
                <a:cs typeface="Poppins" pitchFamily="34" charset="-120"/>
              </a:rPr>
              <a:t>Aktivitas internal sendiri</a:t>
            </a:r>
            <a:endParaRPr lang="en-US" sz="850" dirty="0"/>
          </a:p>
        </p:txBody>
      </p:sp>
      <p:sp>
        <p:nvSpPr>
          <p:cNvPr id="17" name="Shape 14"/>
          <p:cNvSpPr/>
          <p:nvPr/>
        </p:nvSpPr>
        <p:spPr>
          <a:xfrm rot="5400000">
            <a:off x="6022696" y="2139696"/>
            <a:ext cx="146304" cy="164592"/>
          </a:xfrm>
          <a:prstGeom prst="triangle">
            <a:avLst/>
          </a:prstGeom>
          <a:solidFill>
            <a:srgbClr val="FBE122"/>
          </a:solidFill>
          <a:ln w="12700">
            <a:solidFill>
              <a:srgbClr val="FBE122"/>
            </a:solidFill>
            <a:prstDash val="solid"/>
          </a:ln>
        </p:spPr>
      </p:sp>
      <p:sp>
        <p:nvSpPr>
          <p:cNvPr id="18" name="Shape 15"/>
          <p:cNvSpPr/>
          <p:nvPr/>
        </p:nvSpPr>
        <p:spPr>
          <a:xfrm>
            <a:off x="6233008" y="1755648"/>
            <a:ext cx="2567864" cy="914400"/>
          </a:xfrm>
          <a:prstGeom prst="rect">
            <a:avLst/>
          </a:prstGeom>
          <a:solidFill>
            <a:srgbClr val="27161A"/>
          </a:solidFill>
          <a:ln w="12700">
            <a:solidFill>
              <a:srgbClr val="27161A"/>
            </a:solidFill>
            <a:prstDash val="solid"/>
          </a:ln>
        </p:spPr>
      </p:sp>
      <p:sp>
        <p:nvSpPr>
          <p:cNvPr id="19" name="Text 16"/>
          <p:cNvSpPr/>
          <p:nvPr/>
        </p:nvSpPr>
        <p:spPr>
          <a:xfrm>
            <a:off x="6415888" y="1883664"/>
            <a:ext cx="2247824"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Value chain MITRA HILIR</a:t>
            </a:r>
            <a:endParaRPr lang="en-US" sz="1050" dirty="0"/>
          </a:p>
        </p:txBody>
      </p:sp>
      <p:sp>
        <p:nvSpPr>
          <p:cNvPr id="20" name="Text 17"/>
          <p:cNvSpPr/>
          <p:nvPr/>
        </p:nvSpPr>
        <p:spPr>
          <a:xfrm>
            <a:off x="6415888" y="2212848"/>
            <a:ext cx="2247824" cy="411480"/>
          </a:xfrm>
          <a:prstGeom prst="rect">
            <a:avLst/>
          </a:prstGeom>
          <a:noFill/>
          <a:ln/>
        </p:spPr>
        <p:txBody>
          <a:bodyPr wrap="square" lIns="0" tIns="0" rIns="0" bIns="0" rtlCol="0" anchor="t"/>
          <a:lstStyle/>
          <a:p>
            <a:pPr marL="0" indent="0">
              <a:buNone/>
            </a:pPr>
            <a:r>
              <a:rPr lang="en-US" sz="850" dirty="0">
                <a:solidFill>
                  <a:srgbClr val="D9CFC7"/>
                </a:solidFill>
                <a:latin typeface="Poppins" pitchFamily="34" charset="0"/>
                <a:ea typeface="Poppins" pitchFamily="34" charset="-122"/>
                <a:cs typeface="Poppins" pitchFamily="34" charset="-120"/>
              </a:rPr>
              <a:t>Distributor, dealer, mitra strategis</a:t>
            </a:r>
            <a:endParaRPr lang="en-US" sz="850" dirty="0"/>
          </a:p>
        </p:txBody>
      </p:sp>
      <p:sp>
        <p:nvSpPr>
          <p:cNvPr id="21" name="Shape 18"/>
          <p:cNvSpPr/>
          <p:nvPr/>
        </p:nvSpPr>
        <p:spPr>
          <a:xfrm rot="5400000">
            <a:off x="8864879" y="2139696"/>
            <a:ext cx="146304" cy="164592"/>
          </a:xfrm>
          <a:prstGeom prst="triangle">
            <a:avLst/>
          </a:prstGeom>
          <a:solidFill>
            <a:srgbClr val="FBE122"/>
          </a:solidFill>
          <a:ln w="12700">
            <a:solidFill>
              <a:srgbClr val="FBE122"/>
            </a:solidFill>
            <a:prstDash val="solid"/>
          </a:ln>
        </p:spPr>
      </p:sp>
      <p:sp>
        <p:nvSpPr>
          <p:cNvPr id="22" name="Shape 19"/>
          <p:cNvSpPr/>
          <p:nvPr/>
        </p:nvSpPr>
        <p:spPr>
          <a:xfrm>
            <a:off x="9075191" y="1755648"/>
            <a:ext cx="2567864" cy="914400"/>
          </a:xfrm>
          <a:prstGeom prst="rect">
            <a:avLst/>
          </a:prstGeom>
          <a:solidFill>
            <a:srgbClr val="C8102E"/>
          </a:solidFill>
          <a:ln w="12700">
            <a:solidFill>
              <a:srgbClr val="C8102E"/>
            </a:solidFill>
            <a:prstDash val="solid"/>
          </a:ln>
        </p:spPr>
      </p:sp>
      <p:sp>
        <p:nvSpPr>
          <p:cNvPr id="23" name="Text 20"/>
          <p:cNvSpPr/>
          <p:nvPr/>
        </p:nvSpPr>
        <p:spPr>
          <a:xfrm>
            <a:off x="9258071" y="1883664"/>
            <a:ext cx="2247824"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PEMBELI / PENGGUNA AKHIR</a:t>
            </a:r>
            <a:endParaRPr lang="en-US" sz="1050" dirty="0"/>
          </a:p>
        </p:txBody>
      </p:sp>
      <p:sp>
        <p:nvSpPr>
          <p:cNvPr id="24" name="Text 21"/>
          <p:cNvSpPr/>
          <p:nvPr/>
        </p:nvSpPr>
        <p:spPr>
          <a:xfrm>
            <a:off x="9258071" y="2212848"/>
            <a:ext cx="2247824" cy="411480"/>
          </a:xfrm>
          <a:prstGeom prst="rect">
            <a:avLst/>
          </a:prstGeom>
          <a:noFill/>
          <a:ln/>
        </p:spPr>
        <p:txBody>
          <a:bodyPr wrap="square" lIns="0" tIns="0" rIns="0" bIns="0" rtlCol="0" anchor="t"/>
          <a:lstStyle/>
          <a:p>
            <a:pPr marL="0" indent="0">
              <a:buNone/>
            </a:pPr>
            <a:r>
              <a:rPr lang="en-US" sz="850" dirty="0">
                <a:solidFill>
                  <a:srgbClr val="FFFFFF"/>
                </a:solidFill>
                <a:latin typeface="Poppins" pitchFamily="34" charset="0"/>
                <a:ea typeface="Poppins" pitchFamily="34" charset="-122"/>
                <a:cs typeface="Poppins" pitchFamily="34" charset="-120"/>
              </a:rPr>
              <a:t>Nilai yang akhirnya dirasakan</a:t>
            </a:r>
            <a:endParaRPr lang="en-US" sz="850" dirty="0"/>
          </a:p>
        </p:txBody>
      </p:sp>
      <p:sp>
        <p:nvSpPr>
          <p:cNvPr id="25" name="Shape 22"/>
          <p:cNvSpPr/>
          <p:nvPr/>
        </p:nvSpPr>
        <p:spPr>
          <a:xfrm>
            <a:off x="548640" y="2871216"/>
            <a:ext cx="5120640" cy="2331720"/>
          </a:xfrm>
          <a:prstGeom prst="rect">
            <a:avLst/>
          </a:prstGeom>
          <a:solidFill>
            <a:srgbClr val="27161A"/>
          </a:solidFill>
          <a:ln w="12700">
            <a:solidFill>
              <a:srgbClr val="27161A"/>
            </a:solidFill>
            <a:prstDash val="solid"/>
          </a:ln>
        </p:spPr>
      </p:sp>
      <p:sp>
        <p:nvSpPr>
          <p:cNvPr id="26" name="Shape 23"/>
          <p:cNvSpPr/>
          <p:nvPr/>
        </p:nvSpPr>
        <p:spPr>
          <a:xfrm>
            <a:off x="548640" y="2871216"/>
            <a:ext cx="54864" cy="2331720"/>
          </a:xfrm>
          <a:prstGeom prst="rect">
            <a:avLst/>
          </a:prstGeom>
          <a:solidFill>
            <a:srgbClr val="C8102E"/>
          </a:solidFill>
          <a:ln w="12700">
            <a:solidFill>
              <a:srgbClr val="C8102E"/>
            </a:solidFill>
            <a:prstDash val="solid"/>
          </a:ln>
        </p:spPr>
      </p:sp>
      <p:sp>
        <p:nvSpPr>
          <p:cNvPr id="27" name="Text 24"/>
          <p:cNvSpPr/>
          <p:nvPr/>
        </p:nvSpPr>
        <p:spPr>
          <a:xfrm>
            <a:off x="804672" y="3008376"/>
            <a:ext cx="4663440" cy="320040"/>
          </a:xfrm>
          <a:prstGeom prst="rect">
            <a:avLst/>
          </a:prstGeom>
          <a:noFill/>
          <a:ln/>
        </p:spPr>
        <p:txBody>
          <a:bodyPr wrap="square" lIns="0" tIns="0" rIns="0" bIns="0" rtlCol="0" anchor="t"/>
          <a:lstStyle/>
          <a:p>
            <a:pPr marL="0" indent="0">
              <a:buNone/>
            </a:pPr>
            <a:r>
              <a:rPr lang="en-US" sz="1400" dirty="0">
                <a:solidFill>
                  <a:srgbClr val="FFFFFF"/>
                </a:solidFill>
                <a:latin typeface="Poppins ExtraBold" pitchFamily="34" charset="0"/>
                <a:ea typeface="Poppins ExtraBold" pitchFamily="34" charset="-122"/>
                <a:cs typeface="Poppins ExtraBold" pitchFamily="34" charset="-120"/>
              </a:rPr>
              <a:t>Benchmarking</a:t>
            </a:r>
            <a:endParaRPr lang="en-US" sz="1400" dirty="0"/>
          </a:p>
        </p:txBody>
      </p:sp>
      <p:sp>
        <p:nvSpPr>
          <p:cNvPr id="28" name="Text 25"/>
          <p:cNvSpPr/>
          <p:nvPr/>
        </p:nvSpPr>
        <p:spPr>
          <a:xfrm>
            <a:off x="804672" y="3374136"/>
            <a:ext cx="4663440" cy="868680"/>
          </a:xfrm>
          <a:prstGeom prst="rect">
            <a:avLst/>
          </a:prstGeom>
          <a:noFill/>
          <a:ln/>
        </p:spPr>
        <p:txBody>
          <a:bodyPr wrap="square" lIns="0" tIns="0" rIns="0" bIns="0" rtlCol="0" anchor="t"/>
          <a:lstStyle/>
          <a:p>
            <a:pPr marL="0" indent="0">
              <a:lnSpc>
                <a:spcPct val="106000"/>
              </a:lnSpc>
              <a:buNone/>
            </a:pPr>
            <a:r>
              <a:rPr lang="en-US" sz="950" dirty="0">
                <a:solidFill>
                  <a:srgbClr val="D9CFC7"/>
                </a:solidFill>
                <a:latin typeface="Poppins" pitchFamily="34" charset="0"/>
                <a:ea typeface="Poppins" pitchFamily="34" charset="-122"/>
                <a:cs typeface="Poppins" pitchFamily="34" charset="-120"/>
              </a:rPr>
              <a:t>Membandingkan cara perusahaan lain mengerjakan aktivitas yang sama, lalu menirukan cara terbaiknya. Bisa dengan pesaing di industri yang sama, bisa juga dengan industri lain sama sekali.</a:t>
            </a:r>
            <a:endParaRPr lang="en-US" sz="950" dirty="0"/>
          </a:p>
        </p:txBody>
      </p:sp>
      <p:sp>
        <p:nvSpPr>
          <p:cNvPr id="29" name="Text 26"/>
          <p:cNvSpPr/>
          <p:nvPr/>
        </p:nvSpPr>
        <p:spPr>
          <a:xfrm>
            <a:off x="804672" y="4288536"/>
            <a:ext cx="4663440" cy="868680"/>
          </a:xfrm>
          <a:prstGeom prst="rect">
            <a:avLst/>
          </a:prstGeom>
          <a:noFill/>
          <a:ln/>
        </p:spPr>
        <p:txBody>
          <a:bodyPr wrap="square" lIns="0" tIns="0" rIns="0" bIns="0" rtlCol="0" anchor="t"/>
          <a:lstStyle/>
          <a:p>
            <a:pPr marL="0" indent="0">
              <a:lnSpc>
                <a:spcPct val="106000"/>
              </a:lnSpc>
              <a:buNone/>
            </a:pPr>
            <a:r>
              <a:rPr lang="en-US" sz="950" dirty="0">
                <a:solidFill>
                  <a:srgbClr val="FBE122"/>
                </a:solidFill>
                <a:latin typeface="Poppins SemiBold" pitchFamily="34" charset="0"/>
                <a:ea typeface="Poppins SemiBold" pitchFamily="34" charset="-122"/>
                <a:cs typeface="Poppins SemiBold" pitchFamily="34" charset="-120"/>
              </a:rPr>
              <a:t>Best practice </a:t>
            </a:r>
            <a:r>
              <a:rPr lang="en-US" sz="950" dirty="0">
                <a:solidFill>
                  <a:srgbClr val="D9CFC7"/>
                </a:solidFill>
                <a:latin typeface="Poppins" pitchFamily="34" charset="0"/>
                <a:ea typeface="Poppins" pitchFamily="34" charset="-122"/>
                <a:cs typeface="Poppins" pitchFamily="34" charset="-120"/>
              </a:rPr>
              <a:t>= cara mengerjakan suatu aktivitas yang terbukti konsisten memberi hasil lebih baik dibanding cara lain. Harus sudah dibuktikan minimal oleh satu perusahaan.</a:t>
            </a:r>
            <a:endParaRPr lang="en-US" sz="950" dirty="0"/>
          </a:p>
        </p:txBody>
      </p:sp>
      <p:sp>
        <p:nvSpPr>
          <p:cNvPr id="30" name="Text 27"/>
          <p:cNvSpPr/>
          <p:nvPr/>
        </p:nvSpPr>
        <p:spPr>
          <a:xfrm>
            <a:off x="5897880" y="2852928"/>
            <a:ext cx="365760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TIGA CONTOH YANG TERKENAL</a:t>
            </a:r>
            <a:endParaRPr lang="en-US" sz="850" dirty="0"/>
          </a:p>
        </p:txBody>
      </p:sp>
      <p:sp>
        <p:nvSpPr>
          <p:cNvPr id="31" name="Shape 28"/>
          <p:cNvSpPr/>
          <p:nvPr/>
        </p:nvSpPr>
        <p:spPr>
          <a:xfrm>
            <a:off x="5897880" y="3145536"/>
            <a:ext cx="5745175" cy="640080"/>
          </a:xfrm>
          <a:prstGeom prst="rect">
            <a:avLst/>
          </a:prstGeom>
          <a:solidFill>
            <a:srgbClr val="27161A"/>
          </a:solidFill>
          <a:ln w="12700">
            <a:solidFill>
              <a:srgbClr val="27161A"/>
            </a:solidFill>
            <a:prstDash val="solid"/>
          </a:ln>
        </p:spPr>
      </p:sp>
      <p:sp>
        <p:nvSpPr>
          <p:cNvPr id="32" name="Text 29"/>
          <p:cNvSpPr/>
          <p:nvPr/>
        </p:nvSpPr>
        <p:spPr>
          <a:xfrm>
            <a:off x="6080760" y="3218688"/>
            <a:ext cx="1600200" cy="502920"/>
          </a:xfrm>
          <a:prstGeom prst="rect">
            <a:avLst/>
          </a:prstGeom>
          <a:noFill/>
          <a:ln/>
        </p:spPr>
        <p:txBody>
          <a:bodyPr wrap="square" lIns="0" tIns="0" rIns="0" bIns="0" rtlCol="0" anchor="ctr"/>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Xerox</a:t>
            </a:r>
            <a:endParaRPr lang="en-US" sz="1050" dirty="0"/>
          </a:p>
        </p:txBody>
      </p:sp>
      <p:sp>
        <p:nvSpPr>
          <p:cNvPr id="33" name="Text 30"/>
          <p:cNvSpPr/>
          <p:nvPr/>
        </p:nvSpPr>
        <p:spPr>
          <a:xfrm>
            <a:off x="7680960" y="3200400"/>
            <a:ext cx="3824935" cy="54864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Pelopornya. Tidak membatasi diri pada pesaing mesin kantor, tapi ke perusahaan mana pun yang kelas dunia.</a:t>
            </a:r>
            <a:endParaRPr lang="en-US" sz="850" dirty="0"/>
          </a:p>
        </p:txBody>
      </p:sp>
      <p:sp>
        <p:nvSpPr>
          <p:cNvPr id="34" name="Shape 31"/>
          <p:cNvSpPr/>
          <p:nvPr/>
        </p:nvSpPr>
        <p:spPr>
          <a:xfrm>
            <a:off x="5897880" y="3858768"/>
            <a:ext cx="5745175" cy="640080"/>
          </a:xfrm>
          <a:prstGeom prst="rect">
            <a:avLst/>
          </a:prstGeom>
          <a:solidFill>
            <a:srgbClr val="32191E"/>
          </a:solidFill>
          <a:ln w="12700">
            <a:solidFill>
              <a:srgbClr val="32191E"/>
            </a:solidFill>
            <a:prstDash val="solid"/>
          </a:ln>
        </p:spPr>
      </p:sp>
      <p:sp>
        <p:nvSpPr>
          <p:cNvPr id="35" name="Text 32"/>
          <p:cNvSpPr/>
          <p:nvPr/>
        </p:nvSpPr>
        <p:spPr>
          <a:xfrm>
            <a:off x="6080760" y="3931920"/>
            <a:ext cx="1600200" cy="502920"/>
          </a:xfrm>
          <a:prstGeom prst="rect">
            <a:avLst/>
          </a:prstGeom>
          <a:noFill/>
          <a:ln/>
        </p:spPr>
        <p:txBody>
          <a:bodyPr wrap="square" lIns="0" tIns="0" rIns="0" bIns="0" rtlCol="0" anchor="ctr"/>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Toyota</a:t>
            </a:r>
            <a:endParaRPr lang="en-US" sz="1050" dirty="0"/>
          </a:p>
        </p:txBody>
      </p:sp>
      <p:sp>
        <p:nvSpPr>
          <p:cNvPr id="36" name="Text 33"/>
          <p:cNvSpPr/>
          <p:nvPr/>
        </p:nvSpPr>
        <p:spPr>
          <a:xfrm>
            <a:off x="7680960" y="3913632"/>
            <a:ext cx="3824935" cy="54864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Ide just-in-time datang dari mengamati cara supermarket Amerika mengisi ulang raknya.</a:t>
            </a:r>
            <a:endParaRPr lang="en-US" sz="850" dirty="0"/>
          </a:p>
        </p:txBody>
      </p:sp>
      <p:sp>
        <p:nvSpPr>
          <p:cNvPr id="37" name="Shape 34"/>
          <p:cNvSpPr/>
          <p:nvPr/>
        </p:nvSpPr>
        <p:spPr>
          <a:xfrm>
            <a:off x="5897880" y="4572000"/>
            <a:ext cx="5745175" cy="640080"/>
          </a:xfrm>
          <a:prstGeom prst="rect">
            <a:avLst/>
          </a:prstGeom>
          <a:solidFill>
            <a:srgbClr val="27161A"/>
          </a:solidFill>
          <a:ln w="12700">
            <a:solidFill>
              <a:srgbClr val="27161A"/>
            </a:solidFill>
            <a:prstDash val="solid"/>
          </a:ln>
        </p:spPr>
      </p:sp>
      <p:sp>
        <p:nvSpPr>
          <p:cNvPr id="38" name="Text 35"/>
          <p:cNvSpPr/>
          <p:nvPr/>
        </p:nvSpPr>
        <p:spPr>
          <a:xfrm>
            <a:off x="6080760" y="4645152"/>
            <a:ext cx="1600200" cy="502920"/>
          </a:xfrm>
          <a:prstGeom prst="rect">
            <a:avLst/>
          </a:prstGeom>
          <a:noFill/>
          <a:ln/>
        </p:spPr>
        <p:txBody>
          <a:bodyPr wrap="square" lIns="0" tIns="0" rIns="0" bIns="0" rtlCol="0" anchor="ctr"/>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Southwest Airlines</a:t>
            </a:r>
            <a:endParaRPr lang="en-US" sz="1050" dirty="0"/>
          </a:p>
        </p:txBody>
      </p:sp>
      <p:sp>
        <p:nvSpPr>
          <p:cNvPr id="39" name="Text 36"/>
          <p:cNvSpPr/>
          <p:nvPr/>
        </p:nvSpPr>
        <p:spPr>
          <a:xfrm>
            <a:off x="7680960" y="4626864"/>
            <a:ext cx="3824935" cy="54864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Memangkas waktu parkir pesawat dengan mempelajari kru pit balap mobil.</a:t>
            </a:r>
            <a:endParaRPr lang="en-US" sz="850" dirty="0"/>
          </a:p>
        </p:txBody>
      </p:sp>
      <p:sp>
        <p:nvSpPr>
          <p:cNvPr id="40" name="Shape 37"/>
          <p:cNvSpPr/>
          <p:nvPr/>
        </p:nvSpPr>
        <p:spPr>
          <a:xfrm>
            <a:off x="548640" y="5385816"/>
            <a:ext cx="11094415" cy="731520"/>
          </a:xfrm>
          <a:prstGeom prst="rect">
            <a:avLst/>
          </a:prstGeom>
          <a:solidFill>
            <a:srgbClr val="32191E"/>
          </a:solidFill>
          <a:ln w="12700">
            <a:solidFill>
              <a:srgbClr val="32191E"/>
            </a:solidFill>
            <a:prstDash val="solid"/>
          </a:ln>
        </p:spPr>
      </p:sp>
      <p:sp>
        <p:nvSpPr>
          <p:cNvPr id="41" name="Text 38"/>
          <p:cNvSpPr/>
          <p:nvPr/>
        </p:nvSpPr>
        <p:spPr>
          <a:xfrm>
            <a:off x="777240" y="5513832"/>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BAGIAN SULITNYA BUKAN MEMUTUSKAN, TAPI MENDAPAT DATANYA</a:t>
            </a:r>
            <a:endParaRPr lang="en-US" sz="800" dirty="0"/>
          </a:p>
        </p:txBody>
      </p:sp>
      <p:sp>
        <p:nvSpPr>
          <p:cNvPr id="42" name="Text 39"/>
          <p:cNvSpPr/>
          <p:nvPr/>
        </p:nvSpPr>
        <p:spPr>
          <a:xfrm>
            <a:off x="777240" y="5751576"/>
            <a:ext cx="10637215" cy="274320"/>
          </a:xfrm>
          <a:prstGeom prst="rect">
            <a:avLst/>
          </a:prstGeom>
          <a:noFill/>
          <a:ln/>
        </p:spPr>
        <p:txBody>
          <a:bodyPr wrap="square" lIns="0" tIns="0" rIns="0" bIns="0" rtlCol="0" anchor="t"/>
          <a:lstStyle/>
          <a:p>
            <a:pPr marL="0" indent="0">
              <a:lnSpc>
                <a:spcPct val="108000"/>
              </a:lnSpc>
              <a:buNone/>
            </a:pPr>
            <a:r>
              <a:rPr lang="en-US" sz="950" dirty="0">
                <a:solidFill>
                  <a:srgbClr val="FFFFFF"/>
                </a:solidFill>
                <a:latin typeface="Poppins Medium" pitchFamily="34" charset="0"/>
                <a:ea typeface="Poppins Medium" pitchFamily="34" charset="-122"/>
                <a:cs typeface="Poppins Medium" pitchFamily="34" charset="-120"/>
              </a:rPr>
              <a:t>Sumber yang sah: laporan publik, asosiasi dagang, firma riset, kunjungan lapangan, dan konsultan pihak ketiga yang mengumpulkan data secara anonim. Bukan pengumpulan intelijen yang melanggar hukum.</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65760"/>
            <a:ext cx="10728655" cy="128016"/>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4  ·  TINDAKAN</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KALAU BIAYA ATAU NILAINYA KALAH, APA YANG DILAKUKAN</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Analisis value chain dan benchmarking bisa menunjukkan kita kalah biaya atau kalah nilai. Buku menunjuk tiga area perbaikan.</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15</a:t>
            </a:r>
            <a:endParaRPr lang="en-US" sz="900" dirty="0"/>
          </a:p>
        </p:txBody>
      </p:sp>
      <p:sp>
        <p:nvSpPr>
          <p:cNvPr id="10" name="Shape 7"/>
          <p:cNvSpPr/>
          <p:nvPr/>
        </p:nvSpPr>
        <p:spPr>
          <a:xfrm>
            <a:off x="548640" y="1755648"/>
            <a:ext cx="3545738" cy="3063240"/>
          </a:xfrm>
          <a:prstGeom prst="rect">
            <a:avLst/>
          </a:prstGeom>
          <a:solidFill>
            <a:srgbClr val="27161A"/>
          </a:solidFill>
          <a:ln w="12700">
            <a:solidFill>
              <a:srgbClr val="27161A"/>
            </a:solidFill>
            <a:prstDash val="solid"/>
          </a:ln>
        </p:spPr>
      </p:sp>
      <p:sp>
        <p:nvSpPr>
          <p:cNvPr id="11" name="Shape 8"/>
          <p:cNvSpPr/>
          <p:nvPr/>
        </p:nvSpPr>
        <p:spPr>
          <a:xfrm>
            <a:off x="548640" y="1755648"/>
            <a:ext cx="3545738" cy="54864"/>
          </a:xfrm>
          <a:prstGeom prst="rect">
            <a:avLst/>
          </a:prstGeom>
          <a:solidFill>
            <a:srgbClr val="C8102E"/>
          </a:solidFill>
          <a:ln w="12700">
            <a:solidFill>
              <a:srgbClr val="C8102E"/>
            </a:solidFill>
            <a:prstDash val="solid"/>
          </a:ln>
        </p:spPr>
      </p:sp>
      <p:sp>
        <p:nvSpPr>
          <p:cNvPr id="12" name="Text 9"/>
          <p:cNvSpPr/>
          <p:nvPr/>
        </p:nvSpPr>
        <p:spPr>
          <a:xfrm>
            <a:off x="749808" y="1920240"/>
            <a:ext cx="3179978" cy="320040"/>
          </a:xfrm>
          <a:prstGeom prst="rect">
            <a:avLst/>
          </a:prstGeom>
          <a:noFill/>
          <a:ln/>
        </p:spPr>
        <p:txBody>
          <a:bodyPr wrap="square" lIns="0" tIns="0" rIns="0" bIns="0" rtlCol="0" anchor="t"/>
          <a:lstStyle/>
          <a:p>
            <a:pPr marL="0" indent="0">
              <a:buNone/>
            </a:pPr>
            <a:r>
              <a:rPr lang="en-US" sz="1200" dirty="0">
                <a:solidFill>
                  <a:srgbClr val="FFFFFF"/>
                </a:solidFill>
                <a:latin typeface="Poppins SemiBold" pitchFamily="34" charset="0"/>
                <a:ea typeface="Poppins SemiBold" pitchFamily="34" charset="-122"/>
                <a:cs typeface="Poppins SemiBold" pitchFamily="34" charset="-120"/>
              </a:rPr>
              <a:t>1. Aktivitas internal sendiri</a:t>
            </a:r>
            <a:endParaRPr lang="en-US" sz="1200" dirty="0"/>
          </a:p>
        </p:txBody>
      </p:sp>
      <p:sp>
        <p:nvSpPr>
          <p:cNvPr id="13" name="Text 10"/>
          <p:cNvSpPr/>
          <p:nvPr/>
        </p:nvSpPr>
        <p:spPr>
          <a:xfrm>
            <a:off x="749808" y="2322576"/>
            <a:ext cx="3179978" cy="2423160"/>
          </a:xfrm>
          <a:prstGeom prst="rect">
            <a:avLst/>
          </a:prstGeom>
          <a:noFill/>
          <a:ln/>
        </p:spPr>
        <p:txBody>
          <a:bodyPr wrap="square" lIns="0" tIns="0" rIns="0" bIns="0" rtlCol="0" anchor="t"/>
          <a:lstStyle/>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Terapkan best practice, terutama di aktivitas mahal</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Hapus aktivitas yang tidak perlu dengan merombak value chain</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Pindahkan aktivitas mahal ke wilayah berbiaya lebih rendah</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Serahkan ke pihak luar (outsourcing) jika mereka lebih murah</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Investasi teknologi yang menaikkan produktivitas</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Rancang ulang produk agar lebih murah dibuat</a:t>
            </a:r>
            <a:endParaRPr lang="en-US" sz="1000" dirty="0"/>
          </a:p>
        </p:txBody>
      </p:sp>
      <p:sp>
        <p:nvSpPr>
          <p:cNvPr id="14" name="Shape 11"/>
          <p:cNvSpPr/>
          <p:nvPr/>
        </p:nvSpPr>
        <p:spPr>
          <a:xfrm>
            <a:off x="4322978" y="1755648"/>
            <a:ext cx="3545738" cy="3063240"/>
          </a:xfrm>
          <a:prstGeom prst="rect">
            <a:avLst/>
          </a:prstGeom>
          <a:solidFill>
            <a:srgbClr val="27161A"/>
          </a:solidFill>
          <a:ln w="12700">
            <a:solidFill>
              <a:srgbClr val="27161A"/>
            </a:solidFill>
            <a:prstDash val="solid"/>
          </a:ln>
        </p:spPr>
      </p:sp>
      <p:sp>
        <p:nvSpPr>
          <p:cNvPr id="15" name="Shape 12"/>
          <p:cNvSpPr/>
          <p:nvPr/>
        </p:nvSpPr>
        <p:spPr>
          <a:xfrm>
            <a:off x="4322978" y="1755648"/>
            <a:ext cx="3545738" cy="54864"/>
          </a:xfrm>
          <a:prstGeom prst="rect">
            <a:avLst/>
          </a:prstGeom>
          <a:solidFill>
            <a:srgbClr val="FBE122"/>
          </a:solidFill>
          <a:ln w="12700">
            <a:solidFill>
              <a:srgbClr val="FBE122"/>
            </a:solidFill>
            <a:prstDash val="solid"/>
          </a:ln>
        </p:spPr>
      </p:sp>
      <p:sp>
        <p:nvSpPr>
          <p:cNvPr id="16" name="Text 13"/>
          <p:cNvSpPr/>
          <p:nvPr/>
        </p:nvSpPr>
        <p:spPr>
          <a:xfrm>
            <a:off x="4524146" y="1920240"/>
            <a:ext cx="3179978" cy="320040"/>
          </a:xfrm>
          <a:prstGeom prst="rect">
            <a:avLst/>
          </a:prstGeom>
          <a:noFill/>
          <a:ln/>
        </p:spPr>
        <p:txBody>
          <a:bodyPr wrap="square" lIns="0" tIns="0" rIns="0" bIns="0" rtlCol="0" anchor="t"/>
          <a:lstStyle/>
          <a:p>
            <a:pPr marL="0" indent="0">
              <a:buNone/>
            </a:pPr>
            <a:r>
              <a:rPr lang="en-US" sz="1200" dirty="0">
                <a:solidFill>
                  <a:srgbClr val="FFFFFF"/>
                </a:solidFill>
                <a:latin typeface="Poppins SemiBold" pitchFamily="34" charset="0"/>
                <a:ea typeface="Poppins SemiBold" pitchFamily="34" charset="-122"/>
                <a:cs typeface="Poppins SemiBold" pitchFamily="34" charset="-120"/>
              </a:rPr>
              <a:t>2. Bagian pemasok</a:t>
            </a:r>
            <a:endParaRPr lang="en-US" sz="1200" dirty="0"/>
          </a:p>
        </p:txBody>
      </p:sp>
      <p:sp>
        <p:nvSpPr>
          <p:cNvPr id="17" name="Text 14"/>
          <p:cNvSpPr/>
          <p:nvPr/>
        </p:nvSpPr>
        <p:spPr>
          <a:xfrm>
            <a:off x="4524146" y="2322576"/>
            <a:ext cx="3179978" cy="2423160"/>
          </a:xfrm>
          <a:prstGeom prst="rect">
            <a:avLst/>
          </a:prstGeom>
          <a:noFill/>
          <a:ln/>
        </p:spPr>
        <p:txBody>
          <a:bodyPr wrap="square" lIns="0" tIns="0" rIns="0" bIns="0" rtlCol="0" anchor="t"/>
          <a:lstStyle/>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Tekan harga beli ke pemasok</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Ganti ke input substitusi yang lebih murah</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Kerja sama erat mencari penghematan bersama</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Integrasi ke belakang: produksi sendiri</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Untuk menaikkan nilai: pilih pemasok bermutu tinggi dan libatkan mereka sejak tahap desain</a:t>
            </a:r>
            <a:endParaRPr lang="en-US" sz="1000" dirty="0"/>
          </a:p>
        </p:txBody>
      </p:sp>
      <p:sp>
        <p:nvSpPr>
          <p:cNvPr id="18" name="Shape 15"/>
          <p:cNvSpPr/>
          <p:nvPr/>
        </p:nvSpPr>
        <p:spPr>
          <a:xfrm>
            <a:off x="8097317" y="1755648"/>
            <a:ext cx="3545738" cy="3063240"/>
          </a:xfrm>
          <a:prstGeom prst="rect">
            <a:avLst/>
          </a:prstGeom>
          <a:solidFill>
            <a:srgbClr val="27161A"/>
          </a:solidFill>
          <a:ln w="12700">
            <a:solidFill>
              <a:srgbClr val="27161A"/>
            </a:solidFill>
            <a:prstDash val="solid"/>
          </a:ln>
        </p:spPr>
      </p:sp>
      <p:sp>
        <p:nvSpPr>
          <p:cNvPr id="19" name="Shape 16"/>
          <p:cNvSpPr/>
          <p:nvPr/>
        </p:nvSpPr>
        <p:spPr>
          <a:xfrm>
            <a:off x="8097317" y="1755648"/>
            <a:ext cx="3545738" cy="54864"/>
          </a:xfrm>
          <a:prstGeom prst="rect">
            <a:avLst/>
          </a:prstGeom>
          <a:solidFill>
            <a:srgbClr val="C8102E"/>
          </a:solidFill>
          <a:ln w="12700">
            <a:solidFill>
              <a:srgbClr val="C8102E"/>
            </a:solidFill>
            <a:prstDash val="solid"/>
          </a:ln>
        </p:spPr>
      </p:sp>
      <p:sp>
        <p:nvSpPr>
          <p:cNvPr id="20" name="Text 17"/>
          <p:cNvSpPr/>
          <p:nvPr/>
        </p:nvSpPr>
        <p:spPr>
          <a:xfrm>
            <a:off x="8298485" y="1920240"/>
            <a:ext cx="3179978" cy="320040"/>
          </a:xfrm>
          <a:prstGeom prst="rect">
            <a:avLst/>
          </a:prstGeom>
          <a:noFill/>
          <a:ln/>
        </p:spPr>
        <p:txBody>
          <a:bodyPr wrap="square" lIns="0" tIns="0" rIns="0" bIns="0" rtlCol="0" anchor="t"/>
          <a:lstStyle/>
          <a:p>
            <a:pPr marL="0" indent="0">
              <a:buNone/>
            </a:pPr>
            <a:r>
              <a:rPr lang="en-US" sz="1200" dirty="0">
                <a:solidFill>
                  <a:srgbClr val="FFFFFF"/>
                </a:solidFill>
                <a:latin typeface="Poppins SemiBold" pitchFamily="34" charset="0"/>
                <a:ea typeface="Poppins SemiBold" pitchFamily="34" charset="-122"/>
                <a:cs typeface="Poppins SemiBold" pitchFamily="34" charset="-120"/>
              </a:rPr>
              <a:t>3. Bagian mitra hilir</a:t>
            </a:r>
            <a:endParaRPr lang="en-US" sz="1200" dirty="0"/>
          </a:p>
        </p:txBody>
      </p:sp>
      <p:sp>
        <p:nvSpPr>
          <p:cNvPr id="21" name="Text 18"/>
          <p:cNvSpPr/>
          <p:nvPr/>
        </p:nvSpPr>
        <p:spPr>
          <a:xfrm>
            <a:off x="8298485" y="2322576"/>
            <a:ext cx="3179978" cy="2423160"/>
          </a:xfrm>
          <a:prstGeom prst="rect">
            <a:avLst/>
          </a:prstGeom>
          <a:noFill/>
          <a:ln/>
        </p:spPr>
        <p:txBody>
          <a:bodyPr wrap="square" lIns="0" tIns="0" rIns="0" bIns="0" rtlCol="0" anchor="t"/>
          <a:lstStyle/>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Tekan biaya dan markup distributor serta dealer</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Kerja sama mencari penghematan yang saling menguntungkan</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Ubah jalur distribusi, termasuk jualan langsung lewat internet</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Integrasi ke depan: buka gerai sendiri</a:t>
            </a:r>
            <a:endParaRPr lang="en-US" sz="1000" dirty="0"/>
          </a:p>
          <a:p>
            <a:pPr marL="152400" indent="-152400">
              <a:lnSpc>
                <a:spcPct val="106000"/>
              </a:lnSpc>
              <a:spcAft>
                <a:spcPts val="300"/>
              </a:spcAft>
              <a:buSzPct val="100000"/>
              <a:buChar char="•"/>
            </a:pPr>
            <a:r>
              <a:rPr lang="en-US" sz="950" dirty="0">
                <a:solidFill>
                  <a:srgbClr val="D9CFC7"/>
                </a:solidFill>
                <a:latin typeface="Poppins" pitchFamily="34" charset="0"/>
                <a:ea typeface="Poppins" pitchFamily="34" charset="-122"/>
                <a:cs typeface="Poppins" pitchFamily="34" charset="-120"/>
              </a:rPr>
              <a:t>Untuk menaikkan nilai: iklan bersama, perjanjian eksklusif, dan pelatihan mitra</a:t>
            </a:r>
            <a:endParaRPr lang="en-US" sz="1000" dirty="0"/>
          </a:p>
        </p:txBody>
      </p:sp>
      <p:sp>
        <p:nvSpPr>
          <p:cNvPr id="22" name="Shape 19"/>
          <p:cNvSpPr/>
          <p:nvPr/>
        </p:nvSpPr>
        <p:spPr>
          <a:xfrm>
            <a:off x="548640" y="5001768"/>
            <a:ext cx="11094415" cy="868680"/>
          </a:xfrm>
          <a:prstGeom prst="rect">
            <a:avLst/>
          </a:prstGeom>
          <a:solidFill>
            <a:srgbClr val="C8102E"/>
          </a:solidFill>
          <a:ln w="12700">
            <a:solidFill>
              <a:srgbClr val="C8102E"/>
            </a:solidFill>
            <a:prstDash val="solid"/>
          </a:ln>
        </p:spPr>
      </p:sp>
      <p:sp>
        <p:nvSpPr>
          <p:cNvPr id="23" name="Text 20"/>
          <p:cNvSpPr/>
          <p:nvPr/>
        </p:nvSpPr>
        <p:spPr>
          <a:xfrm>
            <a:off x="777240" y="5129784"/>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HANYA ADA DUA JALAN MENGUBAH KERJA VALUE CHAIN JADI KEUNGGULAN BERSAING</a:t>
            </a:r>
            <a:endParaRPr lang="en-US" sz="800" dirty="0"/>
          </a:p>
        </p:txBody>
      </p:sp>
      <p:sp>
        <p:nvSpPr>
          <p:cNvPr id="24" name="Text 21"/>
          <p:cNvSpPr/>
          <p:nvPr/>
        </p:nvSpPr>
        <p:spPr>
          <a:xfrm>
            <a:off x="777240" y="5367528"/>
            <a:ext cx="10637215" cy="41148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(1) Lebih efisien sehingga biayanya lebih rendah dari pesaing: Ryanair, Nucor, TJX.   (2) Menjadi dasar diferensiasi sehingga pelanggan mau membayar lebih: Rolex (status), Braun (desain), L.L. Bean (layanan), FedEx (keandalan).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1024127" y="379476"/>
            <a:ext cx="10728655" cy="155448"/>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5</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COMPETITIVE STRENGTH ASSESSMENT</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Alat untuk mengubah penilaian yang serba kualitatif menjadi satu angka yang bisa langsung dibandingkan dengan pesaing.</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16</a:t>
            </a:r>
            <a:endParaRPr lang="en-US" sz="900" dirty="0"/>
          </a:p>
        </p:txBody>
      </p:sp>
      <p:sp>
        <p:nvSpPr>
          <p:cNvPr id="10" name="Shape 7"/>
          <p:cNvSpPr/>
          <p:nvPr/>
        </p:nvSpPr>
        <p:spPr>
          <a:xfrm>
            <a:off x="548640" y="1755648"/>
            <a:ext cx="2109155" cy="822960"/>
          </a:xfrm>
          <a:prstGeom prst="rect">
            <a:avLst/>
          </a:prstGeom>
          <a:solidFill>
            <a:srgbClr val="27161A"/>
          </a:solidFill>
          <a:ln w="12700">
            <a:solidFill>
              <a:srgbClr val="27161A"/>
            </a:solidFill>
            <a:prstDash val="solid"/>
          </a:ln>
        </p:spPr>
      </p:sp>
      <p:sp>
        <p:nvSpPr>
          <p:cNvPr id="11" name="Shape 8"/>
          <p:cNvSpPr/>
          <p:nvPr/>
        </p:nvSpPr>
        <p:spPr>
          <a:xfrm>
            <a:off x="685800" y="1938528"/>
            <a:ext cx="420624" cy="420624"/>
          </a:xfrm>
          <a:prstGeom prst="ellipse">
            <a:avLst/>
          </a:prstGeom>
          <a:solidFill>
            <a:srgbClr val="C8102E"/>
          </a:solidFill>
          <a:ln w="12700">
            <a:solidFill>
              <a:srgbClr val="C8102E"/>
            </a:solidFill>
            <a:prstDash val="solid"/>
          </a:ln>
        </p:spPr>
      </p:sp>
      <p:sp>
        <p:nvSpPr>
          <p:cNvPr id="12" name="Text 9"/>
          <p:cNvSpPr/>
          <p:nvPr/>
        </p:nvSpPr>
        <p:spPr>
          <a:xfrm>
            <a:off x="685800" y="1938528"/>
            <a:ext cx="420624" cy="420624"/>
          </a:xfrm>
          <a:prstGeom prst="rect">
            <a:avLst/>
          </a:prstGeom>
          <a:noFill/>
          <a:ln/>
        </p:spPr>
        <p:txBody>
          <a:bodyPr wrap="square" lIns="0" tIns="0" rIns="0" bIns="0" rtlCol="0" anchor="ctr"/>
          <a:lstStyle/>
          <a:p>
            <a:pPr marL="0" indent="0" algn="ctr">
              <a:buNone/>
            </a:pPr>
            <a:r>
              <a:rPr lang="en-US" sz="1104" dirty="0">
                <a:solidFill>
                  <a:srgbClr val="FFFFFF"/>
                </a:solidFill>
                <a:latin typeface="Poppins ExtraBold" pitchFamily="34" charset="0"/>
                <a:ea typeface="Poppins ExtraBold" pitchFamily="34" charset="-122"/>
                <a:cs typeface="Poppins ExtraBold" pitchFamily="34" charset="-120"/>
              </a:rPr>
              <a:t>1</a:t>
            </a:r>
            <a:endParaRPr lang="en-US" sz="1104" dirty="0"/>
          </a:p>
        </p:txBody>
      </p:sp>
      <p:sp>
        <p:nvSpPr>
          <p:cNvPr id="13" name="Text 10"/>
          <p:cNvSpPr/>
          <p:nvPr/>
        </p:nvSpPr>
        <p:spPr>
          <a:xfrm>
            <a:off x="1207008" y="1865376"/>
            <a:ext cx="1377635"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Daftar KSF</a:t>
            </a:r>
            <a:endParaRPr lang="en-US" sz="1050" dirty="0"/>
          </a:p>
        </p:txBody>
      </p:sp>
      <p:sp>
        <p:nvSpPr>
          <p:cNvPr id="14" name="Text 11"/>
          <p:cNvSpPr/>
          <p:nvPr/>
        </p:nvSpPr>
        <p:spPr>
          <a:xfrm>
            <a:off x="1207008" y="2121408"/>
            <a:ext cx="1377635" cy="457200"/>
          </a:xfrm>
          <a:prstGeom prst="rect">
            <a:avLst/>
          </a:prstGeom>
          <a:noFill/>
          <a:ln/>
        </p:spPr>
        <p:txBody>
          <a:bodyPr wrap="square" lIns="0" tIns="0" rIns="0" bIns="0" rtlCol="0" anchor="t"/>
          <a:lstStyle/>
          <a:p>
            <a:pPr marL="0" indent="0">
              <a:lnSpc>
                <a:spcPct val="104000"/>
              </a:lnSpc>
              <a:buNone/>
            </a:pPr>
            <a:r>
              <a:rPr lang="en-US" sz="800" dirty="0">
                <a:solidFill>
                  <a:srgbClr val="D9CFC7"/>
                </a:solidFill>
                <a:latin typeface="Poppins" pitchFamily="34" charset="0"/>
                <a:ea typeface="Poppins" pitchFamily="34" charset="-122"/>
                <a:cs typeface="Poppins" pitchFamily="34" charset="-120"/>
              </a:rPr>
              <a:t>Susun key success factor industri</a:t>
            </a:r>
            <a:endParaRPr lang="en-US" sz="800" dirty="0"/>
          </a:p>
        </p:txBody>
      </p:sp>
      <p:sp>
        <p:nvSpPr>
          <p:cNvPr id="15" name="Shape 12"/>
          <p:cNvSpPr/>
          <p:nvPr/>
        </p:nvSpPr>
        <p:spPr>
          <a:xfrm>
            <a:off x="2794955" y="1755648"/>
            <a:ext cx="2109155" cy="822960"/>
          </a:xfrm>
          <a:prstGeom prst="rect">
            <a:avLst/>
          </a:prstGeom>
          <a:solidFill>
            <a:srgbClr val="27161A"/>
          </a:solidFill>
          <a:ln w="12700">
            <a:solidFill>
              <a:srgbClr val="27161A"/>
            </a:solidFill>
            <a:prstDash val="solid"/>
          </a:ln>
        </p:spPr>
      </p:sp>
      <p:sp>
        <p:nvSpPr>
          <p:cNvPr id="16" name="Shape 13"/>
          <p:cNvSpPr/>
          <p:nvPr/>
        </p:nvSpPr>
        <p:spPr>
          <a:xfrm>
            <a:off x="2932115" y="1938528"/>
            <a:ext cx="420624" cy="420624"/>
          </a:xfrm>
          <a:prstGeom prst="ellipse">
            <a:avLst/>
          </a:prstGeom>
          <a:solidFill>
            <a:srgbClr val="C8102E"/>
          </a:solidFill>
          <a:ln w="12700">
            <a:solidFill>
              <a:srgbClr val="C8102E"/>
            </a:solidFill>
            <a:prstDash val="solid"/>
          </a:ln>
        </p:spPr>
      </p:sp>
      <p:sp>
        <p:nvSpPr>
          <p:cNvPr id="17" name="Text 14"/>
          <p:cNvSpPr/>
          <p:nvPr/>
        </p:nvSpPr>
        <p:spPr>
          <a:xfrm>
            <a:off x="2932115" y="1938528"/>
            <a:ext cx="420624" cy="420624"/>
          </a:xfrm>
          <a:prstGeom prst="rect">
            <a:avLst/>
          </a:prstGeom>
          <a:noFill/>
          <a:ln/>
        </p:spPr>
        <p:txBody>
          <a:bodyPr wrap="square" lIns="0" tIns="0" rIns="0" bIns="0" rtlCol="0" anchor="ctr"/>
          <a:lstStyle/>
          <a:p>
            <a:pPr marL="0" indent="0" algn="ctr">
              <a:buNone/>
            </a:pPr>
            <a:r>
              <a:rPr lang="en-US" sz="1104" dirty="0">
                <a:solidFill>
                  <a:srgbClr val="FFFFFF"/>
                </a:solidFill>
                <a:latin typeface="Poppins ExtraBold" pitchFamily="34" charset="0"/>
                <a:ea typeface="Poppins ExtraBold" pitchFamily="34" charset="-122"/>
                <a:cs typeface="Poppins ExtraBold" pitchFamily="34" charset="-120"/>
              </a:rPr>
              <a:t>2</a:t>
            </a:r>
            <a:endParaRPr lang="en-US" sz="1104" dirty="0"/>
          </a:p>
        </p:txBody>
      </p:sp>
      <p:sp>
        <p:nvSpPr>
          <p:cNvPr id="18" name="Text 15"/>
          <p:cNvSpPr/>
          <p:nvPr/>
        </p:nvSpPr>
        <p:spPr>
          <a:xfrm>
            <a:off x="3453323" y="1865376"/>
            <a:ext cx="1377635"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Beri bobot</a:t>
            </a:r>
            <a:endParaRPr lang="en-US" sz="1050" dirty="0"/>
          </a:p>
        </p:txBody>
      </p:sp>
      <p:sp>
        <p:nvSpPr>
          <p:cNvPr id="19" name="Text 16"/>
          <p:cNvSpPr/>
          <p:nvPr/>
        </p:nvSpPr>
        <p:spPr>
          <a:xfrm>
            <a:off x="3453323" y="2121408"/>
            <a:ext cx="1377635" cy="457200"/>
          </a:xfrm>
          <a:prstGeom prst="rect">
            <a:avLst/>
          </a:prstGeom>
          <a:noFill/>
          <a:ln/>
        </p:spPr>
        <p:txBody>
          <a:bodyPr wrap="square" lIns="0" tIns="0" rIns="0" bIns="0" rtlCol="0" anchor="t"/>
          <a:lstStyle/>
          <a:p>
            <a:pPr marL="0" indent="0">
              <a:lnSpc>
                <a:spcPct val="104000"/>
              </a:lnSpc>
              <a:buNone/>
            </a:pPr>
            <a:r>
              <a:rPr lang="en-US" sz="800" dirty="0">
                <a:solidFill>
                  <a:srgbClr val="D9CFC7"/>
                </a:solidFill>
                <a:latin typeface="Poppins" pitchFamily="34" charset="0"/>
                <a:ea typeface="Poppins" pitchFamily="34" charset="-122"/>
                <a:cs typeface="Poppins" pitchFamily="34" charset="-120"/>
              </a:rPr>
              <a:t>Sesuai tingkat kepentingan; total harus 1,00</a:t>
            </a:r>
            <a:endParaRPr lang="en-US" sz="800" dirty="0"/>
          </a:p>
        </p:txBody>
      </p:sp>
      <p:sp>
        <p:nvSpPr>
          <p:cNvPr id="20" name="Shape 17"/>
          <p:cNvSpPr/>
          <p:nvPr/>
        </p:nvSpPr>
        <p:spPr>
          <a:xfrm>
            <a:off x="5041270" y="1755648"/>
            <a:ext cx="2109155" cy="822960"/>
          </a:xfrm>
          <a:prstGeom prst="rect">
            <a:avLst/>
          </a:prstGeom>
          <a:solidFill>
            <a:srgbClr val="27161A"/>
          </a:solidFill>
          <a:ln w="12700">
            <a:solidFill>
              <a:srgbClr val="27161A"/>
            </a:solidFill>
            <a:prstDash val="solid"/>
          </a:ln>
        </p:spPr>
      </p:sp>
      <p:sp>
        <p:nvSpPr>
          <p:cNvPr id="21" name="Shape 18"/>
          <p:cNvSpPr/>
          <p:nvPr/>
        </p:nvSpPr>
        <p:spPr>
          <a:xfrm>
            <a:off x="5178430" y="1938528"/>
            <a:ext cx="420624" cy="420624"/>
          </a:xfrm>
          <a:prstGeom prst="ellipse">
            <a:avLst/>
          </a:prstGeom>
          <a:solidFill>
            <a:srgbClr val="C8102E"/>
          </a:solidFill>
          <a:ln w="12700">
            <a:solidFill>
              <a:srgbClr val="C8102E"/>
            </a:solidFill>
            <a:prstDash val="solid"/>
          </a:ln>
        </p:spPr>
      </p:sp>
      <p:sp>
        <p:nvSpPr>
          <p:cNvPr id="22" name="Text 19"/>
          <p:cNvSpPr/>
          <p:nvPr/>
        </p:nvSpPr>
        <p:spPr>
          <a:xfrm>
            <a:off x="5178430" y="1938528"/>
            <a:ext cx="420624" cy="420624"/>
          </a:xfrm>
          <a:prstGeom prst="rect">
            <a:avLst/>
          </a:prstGeom>
          <a:noFill/>
          <a:ln/>
        </p:spPr>
        <p:txBody>
          <a:bodyPr wrap="square" lIns="0" tIns="0" rIns="0" bIns="0" rtlCol="0" anchor="ctr"/>
          <a:lstStyle/>
          <a:p>
            <a:pPr marL="0" indent="0" algn="ctr">
              <a:buNone/>
            </a:pPr>
            <a:r>
              <a:rPr lang="en-US" sz="1104" dirty="0">
                <a:solidFill>
                  <a:srgbClr val="FFFFFF"/>
                </a:solidFill>
                <a:latin typeface="Poppins ExtraBold" pitchFamily="34" charset="0"/>
                <a:ea typeface="Poppins ExtraBold" pitchFamily="34" charset="-122"/>
                <a:cs typeface="Poppins ExtraBold" pitchFamily="34" charset="-120"/>
              </a:rPr>
              <a:t>3</a:t>
            </a:r>
            <a:endParaRPr lang="en-US" sz="1104" dirty="0"/>
          </a:p>
        </p:txBody>
      </p:sp>
      <p:sp>
        <p:nvSpPr>
          <p:cNvPr id="23" name="Text 20"/>
          <p:cNvSpPr/>
          <p:nvPr/>
        </p:nvSpPr>
        <p:spPr>
          <a:xfrm>
            <a:off x="5699638" y="1865376"/>
            <a:ext cx="1377635"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Beri rating</a:t>
            </a:r>
            <a:endParaRPr lang="en-US" sz="1050" dirty="0"/>
          </a:p>
        </p:txBody>
      </p:sp>
      <p:sp>
        <p:nvSpPr>
          <p:cNvPr id="24" name="Text 21"/>
          <p:cNvSpPr/>
          <p:nvPr/>
        </p:nvSpPr>
        <p:spPr>
          <a:xfrm>
            <a:off x="5699638" y="2121408"/>
            <a:ext cx="1377635" cy="457200"/>
          </a:xfrm>
          <a:prstGeom prst="rect">
            <a:avLst/>
          </a:prstGeom>
          <a:noFill/>
          <a:ln/>
        </p:spPr>
        <p:txBody>
          <a:bodyPr wrap="square" lIns="0" tIns="0" rIns="0" bIns="0" rtlCol="0" anchor="t"/>
          <a:lstStyle/>
          <a:p>
            <a:pPr marL="0" indent="0">
              <a:lnSpc>
                <a:spcPct val="104000"/>
              </a:lnSpc>
              <a:buNone/>
            </a:pPr>
            <a:r>
              <a:rPr lang="en-US" sz="800" dirty="0">
                <a:solidFill>
                  <a:srgbClr val="D9CFC7"/>
                </a:solidFill>
                <a:latin typeface="Poppins" pitchFamily="34" charset="0"/>
                <a:ea typeface="Poppins" pitchFamily="34" charset="-122"/>
                <a:cs typeface="Poppins" pitchFamily="34" charset="-120"/>
              </a:rPr>
              <a:t>Skala 1–10. 1 sangat lemah, 10 sangat kuat</a:t>
            </a:r>
            <a:endParaRPr lang="en-US" sz="800" dirty="0"/>
          </a:p>
        </p:txBody>
      </p:sp>
      <p:sp>
        <p:nvSpPr>
          <p:cNvPr id="25" name="Shape 22"/>
          <p:cNvSpPr/>
          <p:nvPr/>
        </p:nvSpPr>
        <p:spPr>
          <a:xfrm>
            <a:off x="7287585" y="1755648"/>
            <a:ext cx="2109155" cy="822960"/>
          </a:xfrm>
          <a:prstGeom prst="rect">
            <a:avLst/>
          </a:prstGeom>
          <a:solidFill>
            <a:srgbClr val="27161A"/>
          </a:solidFill>
          <a:ln w="12700">
            <a:solidFill>
              <a:srgbClr val="27161A"/>
            </a:solidFill>
            <a:prstDash val="solid"/>
          </a:ln>
        </p:spPr>
      </p:sp>
      <p:sp>
        <p:nvSpPr>
          <p:cNvPr id="26" name="Shape 23"/>
          <p:cNvSpPr/>
          <p:nvPr/>
        </p:nvSpPr>
        <p:spPr>
          <a:xfrm>
            <a:off x="7424745" y="1938528"/>
            <a:ext cx="420624" cy="420624"/>
          </a:xfrm>
          <a:prstGeom prst="ellipse">
            <a:avLst/>
          </a:prstGeom>
          <a:solidFill>
            <a:srgbClr val="C8102E"/>
          </a:solidFill>
          <a:ln w="12700">
            <a:solidFill>
              <a:srgbClr val="C8102E"/>
            </a:solidFill>
            <a:prstDash val="solid"/>
          </a:ln>
        </p:spPr>
      </p:sp>
      <p:sp>
        <p:nvSpPr>
          <p:cNvPr id="27" name="Text 24"/>
          <p:cNvSpPr/>
          <p:nvPr/>
        </p:nvSpPr>
        <p:spPr>
          <a:xfrm>
            <a:off x="7424745" y="1938528"/>
            <a:ext cx="420624" cy="420624"/>
          </a:xfrm>
          <a:prstGeom prst="rect">
            <a:avLst/>
          </a:prstGeom>
          <a:noFill/>
          <a:ln/>
        </p:spPr>
        <p:txBody>
          <a:bodyPr wrap="square" lIns="0" tIns="0" rIns="0" bIns="0" rtlCol="0" anchor="ctr"/>
          <a:lstStyle/>
          <a:p>
            <a:pPr marL="0" indent="0" algn="ctr">
              <a:buNone/>
            </a:pPr>
            <a:r>
              <a:rPr lang="en-US" sz="1104" dirty="0">
                <a:solidFill>
                  <a:srgbClr val="FFFFFF"/>
                </a:solidFill>
                <a:latin typeface="Poppins ExtraBold" pitchFamily="34" charset="0"/>
                <a:ea typeface="Poppins ExtraBold" pitchFamily="34" charset="-122"/>
                <a:cs typeface="Poppins ExtraBold" pitchFamily="34" charset="-120"/>
              </a:rPr>
              <a:t>4</a:t>
            </a:r>
            <a:endParaRPr lang="en-US" sz="1104" dirty="0"/>
          </a:p>
        </p:txBody>
      </p:sp>
      <p:sp>
        <p:nvSpPr>
          <p:cNvPr id="28" name="Text 25"/>
          <p:cNvSpPr/>
          <p:nvPr/>
        </p:nvSpPr>
        <p:spPr>
          <a:xfrm>
            <a:off x="7945953" y="1865376"/>
            <a:ext cx="1377635"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Kalikan</a:t>
            </a:r>
            <a:endParaRPr lang="en-US" sz="1050" dirty="0"/>
          </a:p>
        </p:txBody>
      </p:sp>
      <p:sp>
        <p:nvSpPr>
          <p:cNvPr id="29" name="Text 26"/>
          <p:cNvSpPr/>
          <p:nvPr/>
        </p:nvSpPr>
        <p:spPr>
          <a:xfrm>
            <a:off x="7945953" y="2121408"/>
            <a:ext cx="1377635" cy="457200"/>
          </a:xfrm>
          <a:prstGeom prst="rect">
            <a:avLst/>
          </a:prstGeom>
          <a:noFill/>
          <a:ln/>
        </p:spPr>
        <p:txBody>
          <a:bodyPr wrap="square" lIns="0" tIns="0" rIns="0" bIns="0" rtlCol="0" anchor="t"/>
          <a:lstStyle/>
          <a:p>
            <a:pPr marL="0" indent="0">
              <a:lnSpc>
                <a:spcPct val="104000"/>
              </a:lnSpc>
              <a:buNone/>
            </a:pPr>
            <a:r>
              <a:rPr lang="en-US" sz="800" dirty="0">
                <a:solidFill>
                  <a:srgbClr val="D9CFC7"/>
                </a:solidFill>
                <a:latin typeface="Poppins" pitchFamily="34" charset="0"/>
                <a:ea typeface="Poppins" pitchFamily="34" charset="-122"/>
                <a:cs typeface="Poppins" pitchFamily="34" charset="-120"/>
              </a:rPr>
              <a:t>Rating × bobot = skor tertimbang</a:t>
            </a:r>
            <a:endParaRPr lang="en-US" sz="800" dirty="0"/>
          </a:p>
        </p:txBody>
      </p:sp>
      <p:sp>
        <p:nvSpPr>
          <p:cNvPr id="30" name="Shape 27"/>
          <p:cNvSpPr/>
          <p:nvPr/>
        </p:nvSpPr>
        <p:spPr>
          <a:xfrm>
            <a:off x="9533900" y="1755648"/>
            <a:ext cx="2109155" cy="822960"/>
          </a:xfrm>
          <a:prstGeom prst="rect">
            <a:avLst/>
          </a:prstGeom>
          <a:solidFill>
            <a:srgbClr val="27161A"/>
          </a:solidFill>
          <a:ln w="12700">
            <a:solidFill>
              <a:srgbClr val="27161A"/>
            </a:solidFill>
            <a:prstDash val="solid"/>
          </a:ln>
        </p:spPr>
      </p:sp>
      <p:sp>
        <p:nvSpPr>
          <p:cNvPr id="31" name="Shape 28"/>
          <p:cNvSpPr/>
          <p:nvPr/>
        </p:nvSpPr>
        <p:spPr>
          <a:xfrm>
            <a:off x="9671060" y="1938528"/>
            <a:ext cx="420624" cy="420624"/>
          </a:xfrm>
          <a:prstGeom prst="ellipse">
            <a:avLst/>
          </a:prstGeom>
          <a:solidFill>
            <a:srgbClr val="C8102E"/>
          </a:solidFill>
          <a:ln w="12700">
            <a:solidFill>
              <a:srgbClr val="C8102E"/>
            </a:solidFill>
            <a:prstDash val="solid"/>
          </a:ln>
        </p:spPr>
      </p:sp>
      <p:sp>
        <p:nvSpPr>
          <p:cNvPr id="32" name="Text 29"/>
          <p:cNvSpPr/>
          <p:nvPr/>
        </p:nvSpPr>
        <p:spPr>
          <a:xfrm>
            <a:off x="9671060" y="1938528"/>
            <a:ext cx="420624" cy="420624"/>
          </a:xfrm>
          <a:prstGeom prst="rect">
            <a:avLst/>
          </a:prstGeom>
          <a:noFill/>
          <a:ln/>
        </p:spPr>
        <p:txBody>
          <a:bodyPr wrap="square" lIns="0" tIns="0" rIns="0" bIns="0" rtlCol="0" anchor="ctr"/>
          <a:lstStyle/>
          <a:p>
            <a:pPr marL="0" indent="0" algn="ctr">
              <a:buNone/>
            </a:pPr>
            <a:r>
              <a:rPr lang="en-US" sz="1104" dirty="0">
                <a:solidFill>
                  <a:srgbClr val="FFFFFF"/>
                </a:solidFill>
                <a:latin typeface="Poppins ExtraBold" pitchFamily="34" charset="0"/>
                <a:ea typeface="Poppins ExtraBold" pitchFamily="34" charset="-122"/>
                <a:cs typeface="Poppins ExtraBold" pitchFamily="34" charset="-120"/>
              </a:rPr>
              <a:t>5</a:t>
            </a:r>
            <a:endParaRPr lang="en-US" sz="1104" dirty="0"/>
          </a:p>
        </p:txBody>
      </p:sp>
      <p:sp>
        <p:nvSpPr>
          <p:cNvPr id="33" name="Text 30"/>
          <p:cNvSpPr/>
          <p:nvPr/>
        </p:nvSpPr>
        <p:spPr>
          <a:xfrm>
            <a:off x="10192268" y="1865376"/>
            <a:ext cx="1377635"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Jumlahkan</a:t>
            </a:r>
            <a:endParaRPr lang="en-US" sz="1050" dirty="0"/>
          </a:p>
        </p:txBody>
      </p:sp>
      <p:sp>
        <p:nvSpPr>
          <p:cNvPr id="34" name="Text 31"/>
          <p:cNvSpPr/>
          <p:nvPr/>
        </p:nvSpPr>
        <p:spPr>
          <a:xfrm>
            <a:off x="10192268" y="2121408"/>
            <a:ext cx="1377635" cy="457200"/>
          </a:xfrm>
          <a:prstGeom prst="rect">
            <a:avLst/>
          </a:prstGeom>
          <a:noFill/>
          <a:ln/>
        </p:spPr>
        <p:txBody>
          <a:bodyPr wrap="square" lIns="0" tIns="0" rIns="0" bIns="0" rtlCol="0" anchor="t"/>
          <a:lstStyle/>
          <a:p>
            <a:pPr marL="0" indent="0">
              <a:lnSpc>
                <a:spcPct val="104000"/>
              </a:lnSpc>
              <a:buNone/>
            </a:pPr>
            <a:r>
              <a:rPr lang="en-US" sz="800" dirty="0">
                <a:solidFill>
                  <a:srgbClr val="D9CFC7"/>
                </a:solidFill>
                <a:latin typeface="Poppins" pitchFamily="34" charset="0"/>
                <a:ea typeface="Poppins" pitchFamily="34" charset="-122"/>
                <a:cs typeface="Poppins" pitchFamily="34" charset="-120"/>
              </a:rPr>
              <a:t>Totalnya jadi ukuran kekuatan keseluruhan</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761488"/>
          <a:ext cx="7223760" cy="2715768"/>
        </p:xfrm>
        <a:graphic>
          <a:graphicData uri="http://schemas.openxmlformats.org/drawingml/2006/table">
            <a:tbl>
              <a:tblPr/>
              <a:tblGrid>
                <a:gridCol w="26517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252728">
                  <a:extLst>
                    <a:ext uri="{9D8B030D-6E8A-4147-A177-3AD203B41FA5}">
                      <a16:colId xmlns:a16="http://schemas.microsoft.com/office/drawing/2014/main" val="20002"/>
                    </a:ext>
                  </a:extLst>
                </a:gridCol>
                <a:gridCol w="1252728">
                  <a:extLst>
                    <a:ext uri="{9D8B030D-6E8A-4147-A177-3AD203B41FA5}">
                      <a16:colId xmlns:a16="http://schemas.microsoft.com/office/drawing/2014/main" val="20003"/>
                    </a:ext>
                  </a:extLst>
                </a:gridCol>
                <a:gridCol w="1243584">
                  <a:extLst>
                    <a:ext uri="{9D8B030D-6E8A-4147-A177-3AD203B41FA5}">
                      <a16:colId xmlns:a16="http://schemas.microsoft.com/office/drawing/2014/main" val="20004"/>
                    </a:ext>
                  </a:extLst>
                </a:gridCol>
              </a:tblGrid>
              <a:tr h="301752">
                <a:tc>
                  <a:txBody>
                    <a:bodyPr/>
                    <a:lstStyle/>
                    <a:p>
                      <a:pPr marL="0" indent="0" algn="l">
                        <a:buNone/>
                      </a:pPr>
                      <a:r>
                        <a:rPr lang="en-US" sz="900" dirty="0">
                          <a:solidFill>
                            <a:srgbClr val="FFFFFF"/>
                          </a:solidFill>
                          <a:latin typeface="Poppins SemiBold" pitchFamily="34" charset="0"/>
                          <a:ea typeface="Poppins SemiBold" pitchFamily="34" charset="-122"/>
                          <a:cs typeface="Poppins SemiBold" pitchFamily="34" charset="-120"/>
                        </a:rPr>
                        <a:t>Key Success Factor</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ctr">
                        <a:buNone/>
                      </a:pPr>
                      <a:r>
                        <a:rPr lang="en-US" sz="900" dirty="0">
                          <a:solidFill>
                            <a:srgbClr val="FFFFFF"/>
                          </a:solidFill>
                          <a:latin typeface="Poppins SemiBold" pitchFamily="34" charset="0"/>
                          <a:ea typeface="Poppins SemiBold" pitchFamily="34" charset="-122"/>
                          <a:cs typeface="Poppins SemiBold" pitchFamily="34" charset="-120"/>
                        </a:rPr>
                        <a:t>Bobot</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ctr">
                        <a:buNone/>
                      </a:pPr>
                      <a:r>
                        <a:rPr lang="en-US" sz="900" dirty="0">
                          <a:solidFill>
                            <a:srgbClr val="FFFFFF"/>
                          </a:solidFill>
                          <a:latin typeface="Poppins SemiBold" pitchFamily="34" charset="0"/>
                          <a:ea typeface="Poppins SemiBold" pitchFamily="34" charset="-122"/>
                          <a:cs typeface="Poppins SemiBold" pitchFamily="34" charset="-120"/>
                        </a:rPr>
                        <a:t>ABC Co.</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ctr">
                        <a:buNone/>
                      </a:pPr>
                      <a:r>
                        <a:rPr lang="en-US" sz="900" dirty="0">
                          <a:solidFill>
                            <a:srgbClr val="FFFFFF"/>
                          </a:solidFill>
                          <a:latin typeface="Poppins SemiBold" pitchFamily="34" charset="0"/>
                          <a:ea typeface="Poppins SemiBold" pitchFamily="34" charset="-122"/>
                          <a:cs typeface="Poppins SemiBold" pitchFamily="34" charset="-120"/>
                        </a:rPr>
                        <a:t>Rival 1</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ctr">
                        <a:buNone/>
                      </a:pPr>
                      <a:r>
                        <a:rPr lang="en-US" sz="900" dirty="0">
                          <a:solidFill>
                            <a:srgbClr val="FFFFFF"/>
                          </a:solidFill>
                          <a:latin typeface="Poppins SemiBold" pitchFamily="34" charset="0"/>
                          <a:ea typeface="Poppins SemiBold" pitchFamily="34" charset="-122"/>
                          <a:cs typeface="Poppins SemiBold" pitchFamily="34" charset="-120"/>
                        </a:rPr>
                        <a:t>Rival 2</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extLst>
                  <a:ext uri="{0D108BD9-81ED-4DB2-BD59-A6C34878D82A}">
                    <a16:rowId xmlns:a16="http://schemas.microsoft.com/office/drawing/2014/main" val="10000"/>
                  </a:ext>
                </a:extLst>
              </a:tr>
              <a:tr h="301752">
                <a:tc>
                  <a:txBody>
                    <a:bodyP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Mutu / performa produk</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0,10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8 / 0,80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5 / 0,50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1 / 0,10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extLst>
                  <a:ext uri="{0D108BD9-81ED-4DB2-BD59-A6C34878D82A}">
                    <a16:rowId xmlns:a16="http://schemas.microsoft.com/office/drawing/2014/main" val="10001"/>
                  </a:ext>
                </a:extLst>
              </a:tr>
              <a:tr h="301752">
                <a:tc>
                  <a:txBody>
                    <a:bodyP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Reputasi dan citra</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0,10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8 / 0,80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7 / 0,70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1 / 0,10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extLst>
                  <a:ext uri="{0D108BD9-81ED-4DB2-BD59-A6C34878D82A}">
                    <a16:rowId xmlns:a16="http://schemas.microsoft.com/office/drawing/2014/main" val="10002"/>
                  </a:ext>
                </a:extLst>
              </a:tr>
              <a:tr h="301752">
                <a:tc>
                  <a:txBody>
                    <a:bodyP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Kemampuan produksi</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0,10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2 / 0,20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10 / 1,00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5 / 0,50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extLst>
                  <a:ext uri="{0D108BD9-81ED-4DB2-BD59-A6C34878D82A}">
                    <a16:rowId xmlns:a16="http://schemas.microsoft.com/office/drawing/2014/main" val="10003"/>
                  </a:ext>
                </a:extLst>
              </a:tr>
              <a:tr h="301752">
                <a:tc>
                  <a:txBody>
                    <a:bodyP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Sumber daya keuangan</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0,10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5 / 0,50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10 / 1,00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3 / 0,30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extLst>
                  <a:ext uri="{0D108BD9-81ED-4DB2-BD59-A6C34878D82A}">
                    <a16:rowId xmlns:a16="http://schemas.microsoft.com/office/drawing/2014/main" val="10004"/>
                  </a:ext>
                </a:extLst>
              </a:tr>
              <a:tr h="301752">
                <a:tc>
                  <a:txBody>
                    <a:bodyP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Posisi biaya relatif</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0,30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5 / 1,50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10 / 3,00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1 / 0,30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extLst>
                  <a:ext uri="{0D108BD9-81ED-4DB2-BD59-A6C34878D82A}">
                    <a16:rowId xmlns:a16="http://schemas.microsoft.com/office/drawing/2014/main" val="10005"/>
                  </a:ext>
                </a:extLst>
              </a:tr>
              <a:tr h="301752">
                <a:tc>
                  <a:txBody>
                    <a:bodyP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Layanan pelanggan</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0,15</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5 / 0,75</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7 / 1,05</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1 / 0,15</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extLst>
                  <a:ext uri="{0D108BD9-81ED-4DB2-BD59-A6C34878D82A}">
                    <a16:rowId xmlns:a16="http://schemas.microsoft.com/office/drawing/2014/main" val="10006"/>
                  </a:ext>
                </a:extLst>
              </a:tr>
              <a:tr h="301752">
                <a:tc>
                  <a:txBody>
                    <a:bodyP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Faktor lain (tiga baris)</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0,15</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1,40</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0,45</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900" dirty="0">
                          <a:solidFill>
                            <a:srgbClr val="D9CFC7"/>
                          </a:solidFill>
                          <a:latin typeface="Poppins" pitchFamily="34" charset="0"/>
                          <a:ea typeface="Poppins" pitchFamily="34" charset="-122"/>
                          <a:cs typeface="Poppins" pitchFamily="34" charset="-120"/>
                        </a:rPr>
                        <a:t>0,65</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extLst>
                  <a:ext uri="{0D108BD9-81ED-4DB2-BD59-A6C34878D82A}">
                    <a16:rowId xmlns:a16="http://schemas.microsoft.com/office/drawing/2014/main" val="10007"/>
                  </a:ext>
                </a:extLst>
              </a:tr>
              <a:tr h="301752">
                <a:tc>
                  <a:txBody>
                    <a:bodyPr/>
                    <a:lstStyle/>
                    <a:p>
                      <a:pPr marL="0" indent="0" algn="l">
                        <a:buNone/>
                      </a:pPr>
                      <a:r>
                        <a:rPr lang="en-US" sz="900" dirty="0">
                          <a:solidFill>
                            <a:srgbClr val="FFFFFF"/>
                          </a:solidFill>
                          <a:latin typeface="Poppins SemiBold" pitchFamily="34" charset="0"/>
                          <a:ea typeface="Poppins SemiBold" pitchFamily="34" charset="-122"/>
                          <a:cs typeface="Poppins SemiBold" pitchFamily="34" charset="-120"/>
                        </a:rPr>
                        <a:t>TOTAL SKOR TERTIMBANG</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tc>
                  <a:txBody>
                    <a:bodyPr/>
                    <a:lstStyle/>
                    <a:p>
                      <a:pPr marL="0" indent="0" algn="ctr">
                        <a:buNone/>
                      </a:pPr>
                      <a:r>
                        <a:rPr lang="en-US" sz="900" dirty="0">
                          <a:solidFill>
                            <a:srgbClr val="FFFFFF"/>
                          </a:solidFill>
                          <a:latin typeface="Poppins SemiBold" pitchFamily="34" charset="0"/>
                          <a:ea typeface="Poppins SemiBold" pitchFamily="34" charset="-122"/>
                          <a:cs typeface="Poppins SemiBold" pitchFamily="34" charset="-120"/>
                        </a:rPr>
                        <a:t>1,00</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tc>
                  <a:txBody>
                    <a:bodyPr/>
                    <a:lstStyle/>
                    <a:p>
                      <a:pPr marL="0" indent="0" algn="ctr">
                        <a:buNone/>
                      </a:pPr>
                      <a:r>
                        <a:rPr lang="en-US" sz="900" dirty="0">
                          <a:solidFill>
                            <a:srgbClr val="FFFFFF"/>
                          </a:solidFill>
                          <a:latin typeface="Poppins SemiBold" pitchFamily="34" charset="0"/>
                          <a:ea typeface="Poppins SemiBold" pitchFamily="34" charset="-122"/>
                          <a:cs typeface="Poppins SemiBold" pitchFamily="34" charset="-120"/>
                        </a:rPr>
                        <a:t>5,95</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tc>
                  <a:txBody>
                    <a:bodyPr/>
                    <a:lstStyle/>
                    <a:p>
                      <a:pPr marL="0" indent="0" algn="ctr">
                        <a:buNone/>
                      </a:pPr>
                      <a:r>
                        <a:rPr lang="en-US" sz="900" dirty="0">
                          <a:solidFill>
                            <a:srgbClr val="FFFFFF"/>
                          </a:solidFill>
                          <a:latin typeface="Poppins SemiBold" pitchFamily="34" charset="0"/>
                          <a:ea typeface="Poppins SemiBold" pitchFamily="34" charset="-122"/>
                          <a:cs typeface="Poppins SemiBold" pitchFamily="34" charset="-120"/>
                        </a:rPr>
                        <a:t>7,70</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tc>
                  <a:txBody>
                    <a:bodyPr/>
                    <a:lstStyle/>
                    <a:p>
                      <a:pPr marL="0" indent="0" algn="ctr">
                        <a:buNone/>
                      </a:pPr>
                      <a:r>
                        <a:rPr lang="en-US" sz="900" dirty="0">
                          <a:solidFill>
                            <a:srgbClr val="FFFFFF"/>
                          </a:solidFill>
                          <a:latin typeface="Poppins SemiBold" pitchFamily="34" charset="0"/>
                          <a:ea typeface="Poppins SemiBold" pitchFamily="34" charset="-122"/>
                          <a:cs typeface="Poppins SemiBold" pitchFamily="34" charset="-120"/>
                        </a:rPr>
                        <a:t>2,10</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extLst>
                  <a:ext uri="{0D108BD9-81ED-4DB2-BD59-A6C34878D82A}">
                    <a16:rowId xmlns:a16="http://schemas.microsoft.com/office/drawing/2014/main" val="10008"/>
                  </a:ext>
                </a:extLst>
              </a:tr>
            </a:tbl>
          </a:graphicData>
        </a:graphic>
      </p:graphicFrame>
      <p:sp>
        <p:nvSpPr>
          <p:cNvPr id="36" name="Text 32"/>
          <p:cNvSpPr/>
          <p:nvPr/>
        </p:nvSpPr>
        <p:spPr>
          <a:xfrm>
            <a:off x="548640" y="5550408"/>
            <a:ext cx="7223760" cy="228600"/>
          </a:xfrm>
          <a:prstGeom prst="rect">
            <a:avLst/>
          </a:prstGeom>
          <a:noFill/>
          <a:ln/>
        </p:spPr>
        <p:txBody>
          <a:bodyPr wrap="square" lIns="0" tIns="0" rIns="0" bIns="0" rtlCol="0" anchor="t"/>
          <a:lstStyle/>
          <a:p>
            <a:pPr marL="0" indent="0">
              <a:buNone/>
            </a:pPr>
            <a:r>
              <a:rPr lang="en-US" sz="800" dirty="0">
                <a:solidFill>
                  <a:srgbClr val="A08F8B"/>
                </a:solidFill>
                <a:latin typeface="Poppins" pitchFamily="34" charset="0"/>
                <a:ea typeface="Poppins" pitchFamily="34" charset="-122"/>
                <a:cs typeface="Poppins" pitchFamily="34" charset="-120"/>
              </a:rPr>
              <a:t>Contoh dari Table 4.4 buku. Isi sel: rating / skor tertimbang.</a:t>
            </a:r>
            <a:endParaRPr lang="en-US" sz="800" dirty="0"/>
          </a:p>
        </p:txBody>
      </p:sp>
      <p:sp>
        <p:nvSpPr>
          <p:cNvPr id="37" name="Text 33"/>
          <p:cNvSpPr/>
          <p:nvPr/>
        </p:nvSpPr>
        <p:spPr>
          <a:xfrm>
            <a:off x="8046720" y="2743200"/>
            <a:ext cx="3596335"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APA YANG BISA DIBACA DARI ANGKANYA</a:t>
            </a:r>
            <a:endParaRPr lang="en-US" sz="850" dirty="0"/>
          </a:p>
        </p:txBody>
      </p:sp>
      <p:sp>
        <p:nvSpPr>
          <p:cNvPr id="38" name="Shape 34"/>
          <p:cNvSpPr/>
          <p:nvPr/>
        </p:nvSpPr>
        <p:spPr>
          <a:xfrm>
            <a:off x="8046720" y="3035808"/>
            <a:ext cx="3596335" cy="804672"/>
          </a:xfrm>
          <a:prstGeom prst="rect">
            <a:avLst/>
          </a:prstGeom>
          <a:solidFill>
            <a:srgbClr val="8E0B20"/>
          </a:solidFill>
          <a:ln w="12700">
            <a:solidFill>
              <a:srgbClr val="8E0B20"/>
            </a:solidFill>
            <a:prstDash val="solid"/>
          </a:ln>
        </p:spPr>
      </p:sp>
      <p:sp>
        <p:nvSpPr>
          <p:cNvPr id="39" name="Shape 35"/>
          <p:cNvSpPr/>
          <p:nvPr/>
        </p:nvSpPr>
        <p:spPr>
          <a:xfrm>
            <a:off x="8046720" y="3035808"/>
            <a:ext cx="54864" cy="804672"/>
          </a:xfrm>
          <a:prstGeom prst="rect">
            <a:avLst/>
          </a:prstGeom>
          <a:solidFill>
            <a:srgbClr val="C8102E"/>
          </a:solidFill>
          <a:ln w="12700">
            <a:solidFill>
              <a:srgbClr val="C8102E"/>
            </a:solidFill>
            <a:prstDash val="solid"/>
          </a:ln>
        </p:spPr>
      </p:sp>
      <p:sp>
        <p:nvSpPr>
          <p:cNvPr id="40" name="Text 36"/>
          <p:cNvSpPr/>
          <p:nvPr/>
        </p:nvSpPr>
        <p:spPr>
          <a:xfrm>
            <a:off x="8266176" y="3182112"/>
            <a:ext cx="3230575" cy="274320"/>
          </a:xfrm>
          <a:prstGeom prst="rect">
            <a:avLst/>
          </a:prstGeom>
          <a:noFill/>
          <a:ln/>
        </p:spPr>
        <p:txBody>
          <a:bodyPr wrap="square" lIns="0" tIns="0" rIns="0" bIns="0" rtlCol="0" anchor="t"/>
          <a:lstStyle/>
          <a:p>
            <a:pPr marL="0" indent="0">
              <a:lnSpc>
                <a:spcPct val="95000"/>
              </a:lnSpc>
              <a:buNone/>
            </a:pPr>
            <a:r>
              <a:rPr lang="en-US" sz="1050" dirty="0">
                <a:solidFill>
                  <a:srgbClr val="FFFFFF"/>
                </a:solidFill>
                <a:latin typeface="Poppins SemiBold" pitchFamily="34" charset="0"/>
                <a:ea typeface="Poppins SemiBold" pitchFamily="34" charset="-122"/>
                <a:cs typeface="Poppins SemiBold" pitchFamily="34" charset="-120"/>
              </a:rPr>
              <a:t>Selisih total skor</a:t>
            </a:r>
            <a:endParaRPr lang="en-US" sz="1050" dirty="0"/>
          </a:p>
        </p:txBody>
      </p:sp>
      <p:sp>
        <p:nvSpPr>
          <p:cNvPr id="41" name="Text 37"/>
          <p:cNvSpPr/>
          <p:nvPr/>
        </p:nvSpPr>
        <p:spPr>
          <a:xfrm>
            <a:off x="8266176" y="3511296"/>
            <a:ext cx="3230575" cy="219456"/>
          </a:xfrm>
          <a:prstGeom prst="rect">
            <a:avLst/>
          </a:prstGeom>
          <a:noFill/>
          <a:ln/>
        </p:spPr>
        <p:txBody>
          <a:bodyPr wrap="square" lIns="0" tIns="0" rIns="0" bIns="0" rtlCol="0" anchor="t"/>
          <a:lstStyle/>
          <a:p>
            <a:pPr marL="0" indent="0">
              <a:lnSpc>
                <a:spcPct val="108000"/>
              </a:lnSpc>
              <a:buNone/>
            </a:pPr>
            <a:r>
              <a:rPr lang="en-US" sz="850" dirty="0">
                <a:solidFill>
                  <a:srgbClr val="D9CFC7"/>
                </a:solidFill>
                <a:latin typeface="Poppins" pitchFamily="34" charset="0"/>
                <a:ea typeface="Poppins" pitchFamily="34" charset="-122"/>
                <a:cs typeface="Poppins" pitchFamily="34" charset="-120"/>
              </a:rPr>
              <a:t>Besarnya net competitive advantage. Rival 1 (7,70) unggul jauh atas Rival 2 (2,10).</a:t>
            </a:r>
            <a:endParaRPr lang="en-US" sz="850" dirty="0"/>
          </a:p>
        </p:txBody>
      </p:sp>
      <p:sp>
        <p:nvSpPr>
          <p:cNvPr id="42" name="Shape 38"/>
          <p:cNvSpPr/>
          <p:nvPr/>
        </p:nvSpPr>
        <p:spPr>
          <a:xfrm>
            <a:off x="8046720" y="3931920"/>
            <a:ext cx="3596335" cy="804672"/>
          </a:xfrm>
          <a:prstGeom prst="rect">
            <a:avLst/>
          </a:prstGeom>
          <a:solidFill>
            <a:srgbClr val="27161A"/>
          </a:solidFill>
          <a:ln w="12700">
            <a:solidFill>
              <a:srgbClr val="27161A"/>
            </a:solidFill>
            <a:prstDash val="solid"/>
          </a:ln>
        </p:spPr>
      </p:sp>
      <p:sp>
        <p:nvSpPr>
          <p:cNvPr id="43" name="Shape 39"/>
          <p:cNvSpPr/>
          <p:nvPr/>
        </p:nvSpPr>
        <p:spPr>
          <a:xfrm>
            <a:off x="8046720" y="3931920"/>
            <a:ext cx="54864" cy="804672"/>
          </a:xfrm>
          <a:prstGeom prst="rect">
            <a:avLst/>
          </a:prstGeom>
          <a:solidFill>
            <a:srgbClr val="27161A"/>
          </a:solidFill>
          <a:ln w="12700">
            <a:solidFill>
              <a:srgbClr val="27161A"/>
            </a:solidFill>
            <a:prstDash val="solid"/>
          </a:ln>
        </p:spPr>
      </p:sp>
      <p:sp>
        <p:nvSpPr>
          <p:cNvPr id="44" name="Text 40"/>
          <p:cNvSpPr/>
          <p:nvPr/>
        </p:nvSpPr>
        <p:spPr>
          <a:xfrm>
            <a:off x="8266176" y="4078224"/>
            <a:ext cx="3230575" cy="274320"/>
          </a:xfrm>
          <a:prstGeom prst="rect">
            <a:avLst/>
          </a:prstGeom>
          <a:noFill/>
          <a:ln/>
        </p:spPr>
        <p:txBody>
          <a:bodyPr wrap="square" lIns="0" tIns="0" rIns="0" bIns="0" rtlCol="0" anchor="t"/>
          <a:lstStyle/>
          <a:p>
            <a:pPr marL="0" indent="0">
              <a:lnSpc>
                <a:spcPct val="95000"/>
              </a:lnSpc>
              <a:buNone/>
            </a:pPr>
            <a:r>
              <a:rPr lang="en-US" sz="1050" dirty="0">
                <a:solidFill>
                  <a:srgbClr val="FFFFFF"/>
                </a:solidFill>
                <a:latin typeface="Poppins SemiBold" pitchFamily="34" charset="0"/>
                <a:ea typeface="Poppins SemiBold" pitchFamily="34" charset="-122"/>
                <a:cs typeface="Poppins SemiBold" pitchFamily="34" charset="-120"/>
              </a:rPr>
              <a:t>Serang di mana</a:t>
            </a:r>
            <a:endParaRPr lang="en-US" sz="1050" dirty="0"/>
          </a:p>
        </p:txBody>
      </p:sp>
      <p:sp>
        <p:nvSpPr>
          <p:cNvPr id="45" name="Text 41"/>
          <p:cNvSpPr/>
          <p:nvPr/>
        </p:nvSpPr>
        <p:spPr>
          <a:xfrm>
            <a:off x="8266176" y="4407408"/>
            <a:ext cx="3230575" cy="219456"/>
          </a:xfrm>
          <a:prstGeom prst="rect">
            <a:avLst/>
          </a:prstGeom>
          <a:noFill/>
          <a:ln/>
        </p:spPr>
        <p:txBody>
          <a:bodyPr wrap="square" lIns="0" tIns="0" rIns="0" bIns="0" rtlCol="0" anchor="t"/>
          <a:lstStyle/>
          <a:p>
            <a:pPr marL="0" indent="0">
              <a:lnSpc>
                <a:spcPct val="108000"/>
              </a:lnSpc>
              <a:buNone/>
            </a:pPr>
            <a:r>
              <a:rPr lang="en-US" sz="850" dirty="0">
                <a:solidFill>
                  <a:srgbClr val="D9CFC7"/>
                </a:solidFill>
                <a:latin typeface="Poppins" pitchFamily="34" charset="0"/>
                <a:ea typeface="Poppins" pitchFamily="34" charset="-122"/>
                <a:cs typeface="Poppins" pitchFamily="34" charset="-120"/>
              </a:rPr>
              <a:t>Serang pesaing yang skornya lebih rendah, di faktor tempat kita kuat dan dia lemah.</a:t>
            </a:r>
            <a:endParaRPr lang="en-US" sz="850" dirty="0"/>
          </a:p>
        </p:txBody>
      </p:sp>
      <p:sp>
        <p:nvSpPr>
          <p:cNvPr id="46" name="Shape 42"/>
          <p:cNvSpPr/>
          <p:nvPr/>
        </p:nvSpPr>
        <p:spPr>
          <a:xfrm>
            <a:off x="8046720" y="4828032"/>
            <a:ext cx="3596335" cy="804672"/>
          </a:xfrm>
          <a:prstGeom prst="rect">
            <a:avLst/>
          </a:prstGeom>
          <a:solidFill>
            <a:srgbClr val="27161A"/>
          </a:solidFill>
          <a:ln w="12700">
            <a:solidFill>
              <a:srgbClr val="27161A"/>
            </a:solidFill>
            <a:prstDash val="solid"/>
          </a:ln>
        </p:spPr>
      </p:sp>
      <p:sp>
        <p:nvSpPr>
          <p:cNvPr id="47" name="Shape 43"/>
          <p:cNvSpPr/>
          <p:nvPr/>
        </p:nvSpPr>
        <p:spPr>
          <a:xfrm>
            <a:off x="8046720" y="4828032"/>
            <a:ext cx="54864" cy="804672"/>
          </a:xfrm>
          <a:prstGeom prst="rect">
            <a:avLst/>
          </a:prstGeom>
          <a:solidFill>
            <a:srgbClr val="27161A"/>
          </a:solidFill>
          <a:ln w="12700">
            <a:solidFill>
              <a:srgbClr val="27161A"/>
            </a:solidFill>
            <a:prstDash val="solid"/>
          </a:ln>
        </p:spPr>
      </p:sp>
      <p:sp>
        <p:nvSpPr>
          <p:cNvPr id="48" name="Text 44"/>
          <p:cNvSpPr/>
          <p:nvPr/>
        </p:nvSpPr>
        <p:spPr>
          <a:xfrm>
            <a:off x="8266176" y="4974336"/>
            <a:ext cx="3230575" cy="274320"/>
          </a:xfrm>
          <a:prstGeom prst="rect">
            <a:avLst/>
          </a:prstGeom>
          <a:noFill/>
          <a:ln/>
        </p:spPr>
        <p:txBody>
          <a:bodyPr wrap="square" lIns="0" tIns="0" rIns="0" bIns="0" rtlCol="0" anchor="t"/>
          <a:lstStyle/>
          <a:p>
            <a:pPr marL="0" indent="0">
              <a:lnSpc>
                <a:spcPct val="95000"/>
              </a:lnSpc>
              <a:buNone/>
            </a:pPr>
            <a:r>
              <a:rPr lang="en-US" sz="1050" dirty="0">
                <a:solidFill>
                  <a:srgbClr val="FFFFFF"/>
                </a:solidFill>
                <a:latin typeface="Poppins SemiBold" pitchFamily="34" charset="0"/>
                <a:ea typeface="Poppins SemiBold" pitchFamily="34" charset="-122"/>
                <a:cs typeface="Poppins SemiBold" pitchFamily="34" charset="-120"/>
              </a:rPr>
              <a:t>Bertahan di mana</a:t>
            </a:r>
            <a:endParaRPr lang="en-US" sz="1050" dirty="0"/>
          </a:p>
        </p:txBody>
      </p:sp>
      <p:sp>
        <p:nvSpPr>
          <p:cNvPr id="49" name="Text 45"/>
          <p:cNvSpPr/>
          <p:nvPr/>
        </p:nvSpPr>
        <p:spPr>
          <a:xfrm>
            <a:off x="8266176" y="5303520"/>
            <a:ext cx="3230575" cy="219456"/>
          </a:xfrm>
          <a:prstGeom prst="rect">
            <a:avLst/>
          </a:prstGeom>
          <a:noFill/>
          <a:ln/>
        </p:spPr>
        <p:txBody>
          <a:bodyPr wrap="square" lIns="0" tIns="0" rIns="0" bIns="0" rtlCol="0" anchor="t"/>
          <a:lstStyle/>
          <a:p>
            <a:pPr marL="0" indent="0">
              <a:lnSpc>
                <a:spcPct val="108000"/>
              </a:lnSpc>
              <a:buNone/>
            </a:pPr>
            <a:r>
              <a:rPr lang="en-US" sz="850" dirty="0">
                <a:solidFill>
                  <a:srgbClr val="D9CFC7"/>
                </a:solidFill>
                <a:latin typeface="Poppins" pitchFamily="34" charset="0"/>
                <a:ea typeface="Poppins" pitchFamily="34" charset="-122"/>
                <a:cs typeface="Poppins" pitchFamily="34" charset="-120"/>
              </a:rPr>
              <a:t>Kalau kita lemah di faktor tempat pesaing kuat, siapkan langkah bertahan lebih dulu.</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70332"/>
            <a:ext cx="10728655" cy="18288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6</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ISU APA YANG HARUS DITANGANI LEBIH DULU?</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Langkah terakhir dan paling penting. Semua temuan dari Q1 sampai Q5, ditambah analisis industri dari Chapter 3, dikerucutkan jadi satu daftar prioritas.</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Thompson, Peteraf, Gamble &amp; Strickland, Crafting &amp; Executing Strategy, 2024 Release ISE, Chapter 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17</a:t>
            </a:r>
            <a:endParaRPr lang="en-US" sz="900" dirty="0"/>
          </a:p>
        </p:txBody>
      </p:sp>
      <p:sp>
        <p:nvSpPr>
          <p:cNvPr id="10" name="Shape 7"/>
          <p:cNvSpPr/>
          <p:nvPr/>
        </p:nvSpPr>
        <p:spPr>
          <a:xfrm>
            <a:off x="548640" y="1755648"/>
            <a:ext cx="5120640" cy="3017520"/>
          </a:xfrm>
          <a:prstGeom prst="rect">
            <a:avLst/>
          </a:prstGeom>
          <a:solidFill>
            <a:srgbClr val="C8102E"/>
          </a:solidFill>
          <a:ln w="12700">
            <a:solidFill>
              <a:srgbClr val="C8102E"/>
            </a:solidFill>
            <a:prstDash val="solid"/>
          </a:ln>
        </p:spPr>
      </p:sp>
      <p:sp>
        <p:nvSpPr>
          <p:cNvPr id="11" name="Text 8"/>
          <p:cNvSpPr/>
          <p:nvPr/>
        </p:nvSpPr>
        <p:spPr>
          <a:xfrm>
            <a:off x="777240" y="1938528"/>
            <a:ext cx="3657600" cy="274320"/>
          </a:xfrm>
          <a:prstGeom prst="rect">
            <a:avLst/>
          </a:prstGeom>
          <a:noFill/>
          <a:ln/>
        </p:spPr>
        <p:txBody>
          <a:bodyPr wrap="square" lIns="0" tIns="0" rIns="0" bIns="0" rtlCol="0" anchor="t"/>
          <a:lstStyle/>
          <a:p>
            <a:pPr marL="0" indent="0">
              <a:buNone/>
            </a:pPr>
            <a:r>
              <a:rPr lang="en-US" sz="900" kern="0" spc="200" dirty="0">
                <a:solidFill>
                  <a:srgbClr val="FBE122"/>
                </a:solidFill>
                <a:latin typeface="Poppins SemiBold" pitchFamily="34" charset="0"/>
                <a:ea typeface="Poppins SemiBold" pitchFamily="34" charset="-122"/>
                <a:cs typeface="Poppins SemiBold" pitchFamily="34" charset="-120"/>
              </a:rPr>
              <a:t>PRIORITY LIST</a:t>
            </a:r>
            <a:endParaRPr lang="en-US" sz="900" dirty="0"/>
          </a:p>
        </p:txBody>
      </p:sp>
      <p:sp>
        <p:nvSpPr>
          <p:cNvPr id="12" name="Text 9"/>
          <p:cNvSpPr/>
          <p:nvPr/>
        </p:nvSpPr>
        <p:spPr>
          <a:xfrm>
            <a:off x="777240" y="2258568"/>
            <a:ext cx="4663440" cy="1188720"/>
          </a:xfrm>
          <a:prstGeom prst="rect">
            <a:avLst/>
          </a:prstGeom>
          <a:noFill/>
          <a:ln/>
        </p:spPr>
        <p:txBody>
          <a:bodyPr wrap="square" lIns="0" tIns="0" rIns="0" bIns="0" rtlCol="0" anchor="t"/>
          <a:lstStyle/>
          <a:p>
            <a:pPr marL="0" indent="0">
              <a:lnSpc>
                <a:spcPct val="102000"/>
              </a:lnSpc>
              <a:buNone/>
            </a:pPr>
            <a:r>
              <a:rPr lang="en-US" sz="1300" dirty="0">
                <a:solidFill>
                  <a:srgbClr val="FFFFFF"/>
                </a:solidFill>
                <a:latin typeface="Poppins SemiBold" pitchFamily="34" charset="0"/>
                <a:ea typeface="Poppins SemiBold" pitchFamily="34" charset="-122"/>
                <a:cs typeface="Poppins SemiBold" pitchFamily="34" charset="-120"/>
              </a:rPr>
              <a:t>Daftar isu dan masalah yang harus dituntaskan manajemen agar perusahaan lebih berhasil, secara keuangan maupun secara bersaing, di tahun-tahun mendatang.</a:t>
            </a:r>
            <a:endParaRPr lang="en-US" sz="1300" dirty="0"/>
          </a:p>
        </p:txBody>
      </p:sp>
      <p:sp>
        <p:nvSpPr>
          <p:cNvPr id="13" name="Text 10"/>
          <p:cNvSpPr/>
          <p:nvPr/>
        </p:nvSpPr>
        <p:spPr>
          <a:xfrm>
            <a:off x="777240" y="3584448"/>
            <a:ext cx="4663440" cy="1005840"/>
          </a:xfrm>
          <a:prstGeom prst="rect">
            <a:avLst/>
          </a:prstGeom>
          <a:noFill/>
          <a:ln/>
        </p:spPr>
        <p:txBody>
          <a:bodyPr wrap="square" lIns="0" tIns="0" rIns="0" bIns="0" rtlCol="0" anchor="t"/>
          <a:lstStyle/>
          <a:p>
            <a:pPr marL="0" indent="0">
              <a:lnSpc>
                <a:spcPct val="106000"/>
              </a:lnSpc>
              <a:buNone/>
            </a:pPr>
            <a:r>
              <a:rPr lang="en-US" sz="1100" dirty="0">
                <a:solidFill>
                  <a:srgbClr val="FFFFFF"/>
                </a:solidFill>
                <a:latin typeface="Poppins" pitchFamily="34" charset="0"/>
                <a:ea typeface="Poppins" pitchFamily="34" charset="-122"/>
                <a:cs typeface="Poppins" pitchFamily="34" charset="-120"/>
              </a:rPr>
              <a:t>Isinya selalu berbentuk "bagaimana caranya…", "apa yang harus dilakukan soal…", dan "apakah perlu…".</a:t>
            </a:r>
            <a:endParaRPr lang="en-US" sz="1100" dirty="0"/>
          </a:p>
        </p:txBody>
      </p:sp>
      <p:sp>
        <p:nvSpPr>
          <p:cNvPr id="14" name="Text 11"/>
          <p:cNvSpPr/>
          <p:nvPr/>
        </p:nvSpPr>
        <p:spPr>
          <a:xfrm>
            <a:off x="5943600" y="1737360"/>
            <a:ext cx="365760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DUA HAL YANG SERING KELIRU</a:t>
            </a:r>
            <a:endParaRPr lang="en-US" sz="850" dirty="0"/>
          </a:p>
        </p:txBody>
      </p:sp>
      <p:sp>
        <p:nvSpPr>
          <p:cNvPr id="15" name="Shape 12"/>
          <p:cNvSpPr/>
          <p:nvPr/>
        </p:nvSpPr>
        <p:spPr>
          <a:xfrm>
            <a:off x="5943600" y="2029968"/>
            <a:ext cx="5699455" cy="1280160"/>
          </a:xfrm>
          <a:prstGeom prst="rect">
            <a:avLst/>
          </a:prstGeom>
          <a:solidFill>
            <a:srgbClr val="27161A"/>
          </a:solidFill>
          <a:ln w="12700">
            <a:solidFill>
              <a:srgbClr val="27161A"/>
            </a:solidFill>
            <a:prstDash val="solid"/>
          </a:ln>
        </p:spPr>
      </p:sp>
      <p:sp>
        <p:nvSpPr>
          <p:cNvPr id="16" name="Shape 13"/>
          <p:cNvSpPr/>
          <p:nvPr/>
        </p:nvSpPr>
        <p:spPr>
          <a:xfrm>
            <a:off x="5943600" y="2029968"/>
            <a:ext cx="54864" cy="1280160"/>
          </a:xfrm>
          <a:prstGeom prst="rect">
            <a:avLst/>
          </a:prstGeom>
          <a:solidFill>
            <a:srgbClr val="C8102E"/>
          </a:solidFill>
          <a:ln w="12700">
            <a:solidFill>
              <a:srgbClr val="C8102E"/>
            </a:solidFill>
            <a:prstDash val="solid"/>
          </a:ln>
        </p:spPr>
      </p:sp>
      <p:sp>
        <p:nvSpPr>
          <p:cNvPr id="17" name="Text 14"/>
          <p:cNvSpPr/>
          <p:nvPr/>
        </p:nvSpPr>
        <p:spPr>
          <a:xfrm>
            <a:off x="6163056" y="2176272"/>
            <a:ext cx="5333695"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Ini bukan daftar solusi</a:t>
            </a:r>
            <a:endParaRPr lang="en-US" sz="1200" dirty="0"/>
          </a:p>
        </p:txBody>
      </p:sp>
      <p:sp>
        <p:nvSpPr>
          <p:cNvPr id="18" name="Text 15"/>
          <p:cNvSpPr/>
          <p:nvPr/>
        </p:nvSpPr>
        <p:spPr>
          <a:xfrm>
            <a:off x="6163056" y="2505456"/>
            <a:ext cx="5333695" cy="694944"/>
          </a:xfrm>
          <a:prstGeom prst="rect">
            <a:avLst/>
          </a:prstGeom>
          <a:noFill/>
          <a:ln/>
        </p:spPr>
        <p:txBody>
          <a:bodyPr wrap="square" lIns="0" tIns="0" rIns="0" bIns="0" rtlCol="0" anchor="t"/>
          <a:lstStyle/>
          <a:p>
            <a:pPr marL="0" indent="0">
              <a:lnSpc>
                <a:spcPct val="108000"/>
              </a:lnSpc>
              <a:buNone/>
            </a:pPr>
            <a:r>
              <a:rPr lang="en-US" sz="1000" dirty="0">
                <a:solidFill>
                  <a:srgbClr val="D9CFC7"/>
                </a:solidFill>
                <a:latin typeface="Poppins" pitchFamily="34" charset="0"/>
                <a:ea typeface="Poppins" pitchFamily="34" charset="-122"/>
                <a:cs typeface="Poppins" pitchFamily="34" charset="-120"/>
              </a:rPr>
              <a:t>Tujuannya mengidentifikasi ISU yang harus ditangani, bukan memutuskan tindakan apa yang diambil. Keputusan tindakan datang belakangan, saat menyusun strategi.</a:t>
            </a:r>
            <a:endParaRPr lang="en-US" sz="1000" dirty="0"/>
          </a:p>
        </p:txBody>
      </p:sp>
      <p:sp>
        <p:nvSpPr>
          <p:cNvPr id="19" name="Shape 16"/>
          <p:cNvSpPr/>
          <p:nvPr/>
        </p:nvSpPr>
        <p:spPr>
          <a:xfrm>
            <a:off x="5943600" y="3493008"/>
            <a:ext cx="5699455" cy="1280160"/>
          </a:xfrm>
          <a:prstGeom prst="rect">
            <a:avLst/>
          </a:prstGeom>
          <a:solidFill>
            <a:srgbClr val="27161A"/>
          </a:solidFill>
          <a:ln w="12700">
            <a:solidFill>
              <a:srgbClr val="27161A"/>
            </a:solidFill>
            <a:prstDash val="solid"/>
          </a:ln>
        </p:spPr>
      </p:sp>
      <p:sp>
        <p:nvSpPr>
          <p:cNvPr id="20" name="Shape 17"/>
          <p:cNvSpPr/>
          <p:nvPr/>
        </p:nvSpPr>
        <p:spPr>
          <a:xfrm>
            <a:off x="5943600" y="3493008"/>
            <a:ext cx="54864" cy="1280160"/>
          </a:xfrm>
          <a:prstGeom prst="rect">
            <a:avLst/>
          </a:prstGeom>
          <a:solidFill>
            <a:srgbClr val="FBE122"/>
          </a:solidFill>
          <a:ln w="12700">
            <a:solidFill>
              <a:srgbClr val="FBE122"/>
            </a:solidFill>
            <a:prstDash val="solid"/>
          </a:ln>
        </p:spPr>
      </p:sp>
      <p:sp>
        <p:nvSpPr>
          <p:cNvPr id="21" name="Text 18"/>
          <p:cNvSpPr/>
          <p:nvPr/>
        </p:nvSpPr>
        <p:spPr>
          <a:xfrm>
            <a:off x="6163056" y="3639312"/>
            <a:ext cx="5333695"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Panjang daftar itu diagnosis</a:t>
            </a:r>
            <a:endParaRPr lang="en-US" sz="1200" dirty="0"/>
          </a:p>
        </p:txBody>
      </p:sp>
      <p:sp>
        <p:nvSpPr>
          <p:cNvPr id="22" name="Text 19"/>
          <p:cNvSpPr/>
          <p:nvPr/>
        </p:nvSpPr>
        <p:spPr>
          <a:xfrm>
            <a:off x="6163056" y="3968496"/>
            <a:ext cx="5333695" cy="694944"/>
          </a:xfrm>
          <a:prstGeom prst="rect">
            <a:avLst/>
          </a:prstGeom>
          <a:noFill/>
          <a:ln/>
        </p:spPr>
        <p:txBody>
          <a:bodyPr wrap="square" lIns="0" tIns="0" rIns="0" bIns="0" rtlCol="0" anchor="t"/>
          <a:lstStyle/>
          <a:p>
            <a:pPr marL="0" indent="0">
              <a:lnSpc>
                <a:spcPct val="108000"/>
              </a:lnSpc>
              <a:buNone/>
            </a:pPr>
            <a:r>
              <a:rPr lang="en-US" sz="1000" dirty="0">
                <a:solidFill>
                  <a:srgbClr val="D9CFC7"/>
                </a:solidFill>
                <a:latin typeface="Poppins" pitchFamily="34" charset="0"/>
                <a:ea typeface="Poppins" pitchFamily="34" charset="-122"/>
                <a:cs typeface="Poppins" pitchFamily="34" charset="-120"/>
              </a:rPr>
              <a:t>Kalau isinya ringan, strategi sekarang sudah cukup dan tinggal disetel halus. Kalau isinya berat, menyusun strategi baru harus jadi agenda nomor satu manajemen.</a:t>
            </a:r>
            <a:endParaRPr lang="en-US" sz="1000" dirty="0"/>
          </a:p>
        </p:txBody>
      </p:sp>
      <p:sp>
        <p:nvSpPr>
          <p:cNvPr id="23" name="Shape 20"/>
          <p:cNvSpPr/>
          <p:nvPr/>
        </p:nvSpPr>
        <p:spPr>
          <a:xfrm>
            <a:off x="548640" y="5001768"/>
            <a:ext cx="11094415" cy="822960"/>
          </a:xfrm>
          <a:prstGeom prst="rect">
            <a:avLst/>
          </a:prstGeom>
          <a:solidFill>
            <a:srgbClr val="32191E"/>
          </a:solidFill>
          <a:ln w="12700">
            <a:solidFill>
              <a:srgbClr val="32191E"/>
            </a:solidFill>
            <a:prstDash val="solid"/>
          </a:ln>
        </p:spPr>
      </p:sp>
      <p:sp>
        <p:nvSpPr>
          <p:cNvPr id="24" name="Text 21"/>
          <p:cNvSpPr/>
          <p:nvPr/>
        </p:nvSpPr>
        <p:spPr>
          <a:xfrm>
            <a:off x="777240" y="5129784"/>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UJI AKHIR CHAPTER 4</a:t>
            </a:r>
            <a:endParaRPr lang="en-US" sz="800" dirty="0"/>
          </a:p>
        </p:txBody>
      </p:sp>
      <p:sp>
        <p:nvSpPr>
          <p:cNvPr id="25" name="Text 22"/>
          <p:cNvSpPr/>
          <p:nvPr/>
        </p:nvSpPr>
        <p:spPr>
          <a:xfrm>
            <a:off x="777240" y="5367528"/>
            <a:ext cx="10637215" cy="365760"/>
          </a:xfrm>
          <a:prstGeom prst="rect">
            <a:avLst/>
          </a:prstGeom>
          <a:noFill/>
          <a:ln/>
        </p:spPr>
        <p:txBody>
          <a:bodyPr wrap="square" lIns="0" tIns="0" rIns="0" bIns="0" rtlCol="0" anchor="t"/>
          <a:lstStyle/>
          <a:p>
            <a:pPr marL="0" indent="0">
              <a:lnSpc>
                <a:spcPct val="108000"/>
              </a:lnSpc>
              <a:buNone/>
            </a:pPr>
            <a:r>
              <a:rPr lang="en-US" sz="1050" dirty="0">
                <a:solidFill>
                  <a:srgbClr val="FFFFFF"/>
                </a:solidFill>
                <a:latin typeface="Poppins Medium" pitchFamily="34" charset="0"/>
                <a:ea typeface="Poppins Medium" pitchFamily="34" charset="-122"/>
                <a:cs typeface="Poppins Medium" pitchFamily="34" charset="-120"/>
              </a:rPr>
              <a:t>Strategi yang baik wajib memuat cara menangani SEMUA isu dan hambatan pada daftar prioritas itu. Di sinilah analisis berhenti dan penyusunan strategi dimulai.</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0F10"/>
        </a:solidFill>
        <a:effectLst/>
      </p:bgPr>
    </p:bg>
    <p:spTree>
      <p:nvGrpSpPr>
        <p:cNvPr id="1" name=""/>
        <p:cNvGrpSpPr/>
        <p:nvPr/>
      </p:nvGrpSpPr>
      <p:grpSpPr>
        <a:xfrm>
          <a:off x="0" y="0"/>
          <a:ext cx="0" cy="0"/>
          <a:chOff x="0" y="0"/>
          <a:chExt cx="0" cy="0"/>
        </a:xfrm>
      </p:grpSpPr>
      <p:pic>
        <p:nvPicPr>
          <p:cNvPr id="2" name="Image 0" descr="band.jpg"/>
          <p:cNvPicPr>
            <a:picLocks noChangeAspect="1"/>
          </p:cNvPicPr>
          <p:nvPr/>
        </p:nvPicPr>
        <p:blipFill>
          <a:blip r:embed="rId3"/>
          <a:stretch>
            <a:fillRect/>
          </a:stretch>
        </p:blipFill>
        <p:spPr>
          <a:xfrm>
            <a:off x="0" y="0"/>
            <a:ext cx="12191695" cy="5172234"/>
          </a:xfrm>
          <a:prstGeom prst="rect">
            <a:avLst/>
          </a:prstGeom>
        </p:spPr>
      </p:pic>
      <p:sp>
        <p:nvSpPr>
          <p:cNvPr id="3" name="Shape 0"/>
          <p:cNvSpPr/>
          <p:nvPr/>
        </p:nvSpPr>
        <p:spPr>
          <a:xfrm>
            <a:off x="0" y="5172234"/>
            <a:ext cx="12191695" cy="1685766"/>
          </a:xfrm>
          <a:prstGeom prst="rect">
            <a:avLst/>
          </a:prstGeom>
          <a:solidFill>
            <a:srgbClr val="C8102E"/>
          </a:solidFill>
          <a:ln w="12700">
            <a:solidFill>
              <a:srgbClr val="C8102E"/>
            </a:solidFill>
            <a:prstDash val="solid"/>
          </a:ln>
        </p:spPr>
      </p:sp>
      <p:sp>
        <p:nvSpPr>
          <p:cNvPr id="4" name="Shape 1"/>
          <p:cNvSpPr/>
          <p:nvPr/>
        </p:nvSpPr>
        <p:spPr>
          <a:xfrm>
            <a:off x="640080" y="5501418"/>
            <a:ext cx="365760" cy="64008"/>
          </a:xfrm>
          <a:prstGeom prst="rect">
            <a:avLst/>
          </a:prstGeom>
          <a:solidFill>
            <a:srgbClr val="FBE122"/>
          </a:solidFill>
          <a:ln w="12700">
            <a:solidFill>
              <a:srgbClr val="FBE122"/>
            </a:solidFill>
            <a:prstDash val="solid"/>
          </a:ln>
        </p:spPr>
      </p:sp>
      <p:sp>
        <p:nvSpPr>
          <p:cNvPr id="5" name="Text 2"/>
          <p:cNvSpPr/>
          <p:nvPr/>
        </p:nvSpPr>
        <p:spPr>
          <a:xfrm>
            <a:off x="1143000" y="5373402"/>
            <a:ext cx="5486400" cy="320040"/>
          </a:xfrm>
          <a:prstGeom prst="rect">
            <a:avLst/>
          </a:prstGeom>
          <a:noFill/>
          <a:ln/>
        </p:spPr>
        <p:txBody>
          <a:bodyPr wrap="square" lIns="0" tIns="0" rIns="0" bIns="0" rtlCol="0" anchor="t"/>
          <a:lstStyle/>
          <a:p>
            <a:pPr marL="0" indent="0">
              <a:buNone/>
            </a:pPr>
            <a:r>
              <a:rPr lang="en-US" sz="1000" kern="0" spc="300" dirty="0">
                <a:solidFill>
                  <a:srgbClr val="FBE122"/>
                </a:solidFill>
                <a:latin typeface="Poppins SemiBold" pitchFamily="34" charset="0"/>
                <a:ea typeface="Poppins SemiBold" pitchFamily="34" charset="-122"/>
                <a:cs typeface="Poppins SemiBold" pitchFamily="34" charset="-120"/>
              </a:rPr>
              <a:t>BAGIAN 2  ·  STUDI KASUS</a:t>
            </a:r>
            <a:endParaRPr lang="en-US" sz="1000" dirty="0"/>
          </a:p>
        </p:txBody>
      </p:sp>
      <p:sp>
        <p:nvSpPr>
          <p:cNvPr id="6" name="Text 3"/>
          <p:cNvSpPr/>
          <p:nvPr/>
        </p:nvSpPr>
        <p:spPr>
          <a:xfrm>
            <a:off x="640080" y="5720874"/>
            <a:ext cx="7772400" cy="685800"/>
          </a:xfrm>
          <a:prstGeom prst="rect">
            <a:avLst/>
          </a:prstGeom>
          <a:noFill/>
          <a:ln/>
        </p:spPr>
        <p:txBody>
          <a:bodyPr wrap="square" lIns="0" tIns="0" rIns="0" bIns="0" rtlCol="0" anchor="t"/>
          <a:lstStyle/>
          <a:p>
            <a:pPr marL="0" indent="0">
              <a:buNone/>
            </a:pPr>
            <a:r>
              <a:rPr lang="en-US" sz="3600" dirty="0">
                <a:solidFill>
                  <a:srgbClr val="FFFFFF"/>
                </a:solidFill>
                <a:latin typeface="Poppins ExtraBold" pitchFamily="34" charset="0"/>
                <a:ea typeface="Poppins ExtraBold" pitchFamily="34" charset="-122"/>
                <a:cs typeface="Poppins ExtraBold" pitchFamily="34" charset="-120"/>
              </a:rPr>
              <a:t>MANCHESTER UNITED</a:t>
            </a:r>
            <a:endParaRPr lang="en-US" sz="3600" dirty="0"/>
          </a:p>
        </p:txBody>
      </p:sp>
      <p:sp>
        <p:nvSpPr>
          <p:cNvPr id="7" name="Text 4"/>
          <p:cNvSpPr/>
          <p:nvPr/>
        </p:nvSpPr>
        <p:spPr>
          <a:xfrm>
            <a:off x="640080" y="6360954"/>
            <a:ext cx="7772400" cy="365760"/>
          </a:xfrm>
          <a:prstGeom prst="rect">
            <a:avLst/>
          </a:prstGeom>
          <a:noFill/>
          <a:ln/>
        </p:spPr>
        <p:txBody>
          <a:bodyPr wrap="square" lIns="0" tIns="0" rIns="0" bIns="0" rtlCol="0" anchor="t"/>
          <a:lstStyle/>
          <a:p>
            <a:pPr marL="0" indent="0">
              <a:buNone/>
            </a:pPr>
            <a:r>
              <a:rPr lang="en-US" sz="1500" dirty="0">
                <a:solidFill>
                  <a:srgbClr val="FFFFFF"/>
                </a:solidFill>
                <a:latin typeface="Poppins Medium" pitchFamily="34" charset="0"/>
                <a:ea typeface="Poppins Medium" pitchFamily="34" charset="-122"/>
                <a:cs typeface="Poppins Medium" pitchFamily="34" charset="-120"/>
              </a:rPr>
              <a:t>Preparing for Life without Ferguson</a:t>
            </a:r>
            <a:endParaRPr lang="en-US" sz="1500" dirty="0"/>
          </a:p>
        </p:txBody>
      </p:sp>
      <p:sp>
        <p:nvSpPr>
          <p:cNvPr id="8" name="Text 5"/>
          <p:cNvSpPr/>
          <p:nvPr/>
        </p:nvSpPr>
        <p:spPr>
          <a:xfrm>
            <a:off x="8503920" y="5492274"/>
            <a:ext cx="3108960" cy="1280160"/>
          </a:xfrm>
          <a:prstGeom prst="rect">
            <a:avLst/>
          </a:prstGeom>
          <a:noFill/>
          <a:ln/>
        </p:spPr>
        <p:txBody>
          <a:bodyPr wrap="square" lIns="0" tIns="0" rIns="0" bIns="0" rtlCol="0" anchor="t"/>
          <a:lstStyle/>
          <a:p>
            <a:pPr marL="0" indent="0">
              <a:lnSpc>
                <a:spcPct val="108000"/>
              </a:lnSpc>
              <a:buNone/>
            </a:pPr>
            <a:r>
              <a:rPr lang="en-US" sz="850" dirty="0">
                <a:solidFill>
                  <a:srgbClr val="FFFFFF"/>
                </a:solidFill>
                <a:latin typeface="Poppins" pitchFamily="34" charset="0"/>
                <a:ea typeface="Poppins" pitchFamily="34" charset="-122"/>
                <a:cs typeface="Poppins" pitchFamily="34" charset="-120"/>
              </a:rPr>
              <a:t>Ditulis Robert M. Grant, dibantu Simon I. Peck, Christopher Carr dan Timothy Smith. © 2010. Kasus ini bukan dari buku Thompson; kami pakai kerangka Chapter 4 untuk membedahnya.</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01752"/>
            <a:ext cx="10728655" cy="32004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KASUS  ·  SITUASI</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JULI 2009: KEPUTUSAN YANG DIHADAPI DAVID GILL</a:t>
            </a:r>
            <a:endParaRPr lang="en-US" sz="2600" dirty="0"/>
          </a:p>
        </p:txBody>
      </p:sp>
      <p:sp>
        <p:nvSpPr>
          <p:cNvPr id="5" name="Shape 3"/>
          <p:cNvSpPr/>
          <p:nvPr/>
        </p:nvSpPr>
        <p:spPr>
          <a:xfrm>
            <a:off x="548640" y="6382512"/>
            <a:ext cx="11094415" cy="9144"/>
          </a:xfrm>
          <a:prstGeom prst="rect">
            <a:avLst/>
          </a:prstGeom>
          <a:solidFill>
            <a:srgbClr val="46292D"/>
          </a:solidFill>
          <a:ln w="12700">
            <a:solidFill>
              <a:srgbClr val="46292D"/>
            </a:solidFill>
            <a:prstDash val="solid"/>
          </a:ln>
        </p:spPr>
      </p:sp>
      <p:sp>
        <p:nvSpPr>
          <p:cNvPr id="6" name="Text 4"/>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 hlm. 573 dan 588.</a:t>
            </a:r>
            <a:endParaRPr lang="en-US" sz="750" dirty="0"/>
          </a:p>
        </p:txBody>
      </p:sp>
      <p:sp>
        <p:nvSpPr>
          <p:cNvPr id="7" name="Text 5"/>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19</a:t>
            </a:r>
            <a:endParaRPr lang="en-US" sz="900" dirty="0"/>
          </a:p>
        </p:txBody>
      </p:sp>
      <p:sp>
        <p:nvSpPr>
          <p:cNvPr id="9" name="Shape 6"/>
          <p:cNvSpPr/>
          <p:nvPr/>
        </p:nvSpPr>
        <p:spPr>
          <a:xfrm>
            <a:off x="548640" y="1234440"/>
            <a:ext cx="2514600" cy="2011680"/>
          </a:xfrm>
          <a:prstGeom prst="rect">
            <a:avLst/>
          </a:prstGeom>
          <a:solidFill>
            <a:srgbClr val="27161A"/>
          </a:solidFill>
          <a:ln w="12700">
            <a:solidFill>
              <a:srgbClr val="27161A"/>
            </a:solidFill>
            <a:prstDash val="solid"/>
          </a:ln>
        </p:spPr>
      </p:sp>
      <p:sp>
        <p:nvSpPr>
          <p:cNvPr id="10" name="Shape 7"/>
          <p:cNvSpPr/>
          <p:nvPr/>
        </p:nvSpPr>
        <p:spPr>
          <a:xfrm>
            <a:off x="548640" y="1234440"/>
            <a:ext cx="54864" cy="2011680"/>
          </a:xfrm>
          <a:prstGeom prst="rect">
            <a:avLst/>
          </a:prstGeom>
          <a:solidFill>
            <a:srgbClr val="C8102E"/>
          </a:solidFill>
          <a:ln w="12700">
            <a:solidFill>
              <a:srgbClr val="C8102E"/>
            </a:solidFill>
            <a:prstDash val="solid"/>
          </a:ln>
        </p:spPr>
      </p:sp>
      <p:sp>
        <p:nvSpPr>
          <p:cNvPr id="11" name="Text 8"/>
          <p:cNvSpPr/>
          <p:nvPr/>
        </p:nvSpPr>
        <p:spPr>
          <a:xfrm>
            <a:off x="768096" y="1380744"/>
            <a:ext cx="2148840"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Waktu</a:t>
            </a:r>
            <a:endParaRPr lang="en-US" sz="1200" dirty="0"/>
          </a:p>
        </p:txBody>
      </p:sp>
      <p:sp>
        <p:nvSpPr>
          <p:cNvPr id="12" name="Text 9"/>
          <p:cNvSpPr/>
          <p:nvPr/>
        </p:nvSpPr>
        <p:spPr>
          <a:xfrm>
            <a:off x="768096" y="1709928"/>
            <a:ext cx="2148840" cy="1426464"/>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Juli 2009, tur pramusim ke Malaysia, Indonesia, Korea, dan China. Skuad pulang 28 Juli 2009.</a:t>
            </a:r>
            <a:endParaRPr lang="en-US" sz="950" dirty="0"/>
          </a:p>
        </p:txBody>
      </p:sp>
      <p:sp>
        <p:nvSpPr>
          <p:cNvPr id="13" name="Shape 10"/>
          <p:cNvSpPr/>
          <p:nvPr/>
        </p:nvSpPr>
        <p:spPr>
          <a:xfrm>
            <a:off x="3246120" y="1234440"/>
            <a:ext cx="2514600" cy="2011680"/>
          </a:xfrm>
          <a:prstGeom prst="rect">
            <a:avLst/>
          </a:prstGeom>
          <a:solidFill>
            <a:srgbClr val="27161A"/>
          </a:solidFill>
          <a:ln w="12700">
            <a:solidFill>
              <a:srgbClr val="27161A"/>
            </a:solidFill>
            <a:prstDash val="solid"/>
          </a:ln>
        </p:spPr>
      </p:sp>
      <p:sp>
        <p:nvSpPr>
          <p:cNvPr id="14" name="Shape 11"/>
          <p:cNvSpPr/>
          <p:nvPr/>
        </p:nvSpPr>
        <p:spPr>
          <a:xfrm>
            <a:off x="3246120" y="1234440"/>
            <a:ext cx="54864" cy="2011680"/>
          </a:xfrm>
          <a:prstGeom prst="rect">
            <a:avLst/>
          </a:prstGeom>
          <a:solidFill>
            <a:srgbClr val="C8102E"/>
          </a:solidFill>
          <a:ln w="12700">
            <a:solidFill>
              <a:srgbClr val="C8102E"/>
            </a:solidFill>
            <a:prstDash val="solid"/>
          </a:ln>
        </p:spPr>
      </p:sp>
      <p:sp>
        <p:nvSpPr>
          <p:cNvPr id="15" name="Text 12"/>
          <p:cNvSpPr/>
          <p:nvPr/>
        </p:nvSpPr>
        <p:spPr>
          <a:xfrm>
            <a:off x="3465576" y="1380744"/>
            <a:ext cx="2148840"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Pengambil keputusan</a:t>
            </a:r>
            <a:endParaRPr lang="en-US" sz="1200" dirty="0"/>
          </a:p>
        </p:txBody>
      </p:sp>
      <p:sp>
        <p:nvSpPr>
          <p:cNvPr id="16" name="Text 13"/>
          <p:cNvSpPr/>
          <p:nvPr/>
        </p:nvSpPr>
        <p:spPr>
          <a:xfrm>
            <a:off x="3465576" y="1709928"/>
            <a:ext cx="2148840" cy="1426464"/>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David Gill, Chief Executive Manchester United Football Club Limited.</a:t>
            </a:r>
            <a:endParaRPr lang="en-US" sz="950" dirty="0"/>
          </a:p>
        </p:txBody>
      </p:sp>
      <p:sp>
        <p:nvSpPr>
          <p:cNvPr id="17" name="Shape 14"/>
          <p:cNvSpPr/>
          <p:nvPr/>
        </p:nvSpPr>
        <p:spPr>
          <a:xfrm>
            <a:off x="5943600" y="1234440"/>
            <a:ext cx="2514600" cy="2011680"/>
          </a:xfrm>
          <a:prstGeom prst="rect">
            <a:avLst/>
          </a:prstGeom>
          <a:solidFill>
            <a:srgbClr val="27161A"/>
          </a:solidFill>
          <a:ln w="12700">
            <a:solidFill>
              <a:srgbClr val="27161A"/>
            </a:solidFill>
            <a:prstDash val="solid"/>
          </a:ln>
        </p:spPr>
      </p:sp>
      <p:sp>
        <p:nvSpPr>
          <p:cNvPr id="18" name="Shape 15"/>
          <p:cNvSpPr/>
          <p:nvPr/>
        </p:nvSpPr>
        <p:spPr>
          <a:xfrm>
            <a:off x="5943600" y="1234440"/>
            <a:ext cx="54864" cy="2011680"/>
          </a:xfrm>
          <a:prstGeom prst="rect">
            <a:avLst/>
          </a:prstGeom>
          <a:solidFill>
            <a:srgbClr val="FBE122"/>
          </a:solidFill>
          <a:ln w="12700">
            <a:solidFill>
              <a:srgbClr val="FBE122"/>
            </a:solidFill>
            <a:prstDash val="solid"/>
          </a:ln>
        </p:spPr>
      </p:sp>
      <p:sp>
        <p:nvSpPr>
          <p:cNvPr id="19" name="Text 16"/>
          <p:cNvSpPr/>
          <p:nvPr/>
        </p:nvSpPr>
        <p:spPr>
          <a:xfrm>
            <a:off x="6163056" y="1380744"/>
            <a:ext cx="2148840"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Keputusan</a:t>
            </a:r>
            <a:endParaRPr lang="en-US" sz="1200" dirty="0"/>
          </a:p>
        </p:txBody>
      </p:sp>
      <p:sp>
        <p:nvSpPr>
          <p:cNvPr id="20" name="Text 17"/>
          <p:cNvSpPr/>
          <p:nvPr/>
        </p:nvSpPr>
        <p:spPr>
          <a:xfrm>
            <a:off x="6163056" y="1709928"/>
            <a:ext cx="2148840" cy="1426464"/>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Menyiapkan pengganti Sir Alex Ferguson. Kasus: "at the end of 2009 Ferguson would be 68 years old". Gill memperkirakan ia pensiun akhir musim 2009–10.</a:t>
            </a:r>
            <a:endParaRPr lang="en-US" sz="950" dirty="0"/>
          </a:p>
        </p:txBody>
      </p:sp>
      <p:pic>
        <p:nvPicPr>
          <p:cNvPr id="21" name="Image 0" descr="stadium.jpg"/>
          <p:cNvPicPr>
            <a:picLocks noChangeAspect="1"/>
          </p:cNvPicPr>
          <p:nvPr/>
        </p:nvPicPr>
        <p:blipFill>
          <a:blip r:embed="rId3"/>
          <a:stretch>
            <a:fillRect/>
          </a:stretch>
        </p:blipFill>
        <p:spPr>
          <a:xfrm>
            <a:off x="8732520" y="1234440"/>
            <a:ext cx="2880360" cy="1920240"/>
          </a:xfrm>
          <a:prstGeom prst="rect">
            <a:avLst/>
          </a:prstGeom>
        </p:spPr>
      </p:pic>
      <p:sp>
        <p:nvSpPr>
          <p:cNvPr id="22" name="Text 18"/>
          <p:cNvSpPr/>
          <p:nvPr/>
        </p:nvSpPr>
        <p:spPr>
          <a:xfrm>
            <a:off x="8732520" y="3182112"/>
            <a:ext cx="2880360" cy="22860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Foto ilustrasi stadion, bukan Old Trafford</a:t>
            </a:r>
            <a:endParaRPr lang="en-US" sz="750" dirty="0"/>
          </a:p>
        </p:txBody>
      </p:sp>
      <p:sp>
        <p:nvSpPr>
          <p:cNvPr id="23" name="Shape 19"/>
          <p:cNvSpPr/>
          <p:nvPr/>
        </p:nvSpPr>
        <p:spPr>
          <a:xfrm>
            <a:off x="548640" y="3474720"/>
            <a:ext cx="11064240" cy="2331720"/>
          </a:xfrm>
          <a:prstGeom prst="rect">
            <a:avLst/>
          </a:prstGeom>
          <a:solidFill>
            <a:srgbClr val="32191E"/>
          </a:solidFill>
          <a:ln w="12700">
            <a:solidFill>
              <a:srgbClr val="32191E"/>
            </a:solidFill>
            <a:prstDash val="solid"/>
          </a:ln>
        </p:spPr>
      </p:sp>
      <p:sp>
        <p:nvSpPr>
          <p:cNvPr id="24" name="Shape 20"/>
          <p:cNvSpPr/>
          <p:nvPr/>
        </p:nvSpPr>
        <p:spPr>
          <a:xfrm>
            <a:off x="548640" y="3474720"/>
            <a:ext cx="54864" cy="2331720"/>
          </a:xfrm>
          <a:prstGeom prst="rect">
            <a:avLst/>
          </a:prstGeom>
          <a:solidFill>
            <a:srgbClr val="C8102E"/>
          </a:solidFill>
          <a:ln w="12700">
            <a:solidFill>
              <a:srgbClr val="C8102E"/>
            </a:solidFill>
            <a:prstDash val="solid"/>
          </a:ln>
        </p:spPr>
      </p:sp>
      <p:sp>
        <p:nvSpPr>
          <p:cNvPr id="25" name="Text 21"/>
          <p:cNvSpPr/>
          <p:nvPr/>
        </p:nvSpPr>
        <p:spPr>
          <a:xfrm>
            <a:off x="804672" y="3611880"/>
            <a:ext cx="457200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DILEMA INTI  ·  KASUS HLM. 588</a:t>
            </a:r>
            <a:endParaRPr lang="en-US" sz="850" dirty="0"/>
          </a:p>
        </p:txBody>
      </p:sp>
      <p:sp>
        <p:nvSpPr>
          <p:cNvPr id="26" name="Text 22"/>
          <p:cNvSpPr/>
          <p:nvPr/>
        </p:nvSpPr>
        <p:spPr>
          <a:xfrm>
            <a:off x="804672" y="3913632"/>
            <a:ext cx="5212080" cy="1097280"/>
          </a:xfrm>
          <a:prstGeom prst="rect">
            <a:avLst/>
          </a:prstGeom>
          <a:noFill/>
          <a:ln/>
        </p:spPr>
        <p:txBody>
          <a:bodyPr wrap="square" lIns="0" tIns="0" rIns="0" bIns="0" rtlCol="0" anchor="t"/>
          <a:lstStyle/>
          <a:p>
            <a:pPr marL="0" indent="0">
              <a:lnSpc>
                <a:spcPct val="106000"/>
              </a:lnSpc>
              <a:buNone/>
            </a:pPr>
            <a:r>
              <a:rPr lang="en-US" sz="1000" dirty="0">
                <a:solidFill>
                  <a:srgbClr val="FFFFFF"/>
                </a:solidFill>
                <a:latin typeface="Poppins SemiBold" pitchFamily="34" charset="0"/>
                <a:ea typeface="Poppins SemiBold" pitchFamily="34" charset="-122"/>
                <a:cs typeface="Poppins SemiBold" pitchFamily="34" charset="-120"/>
              </a:rPr>
              <a:t>Pilih orang dalam </a:t>
            </a:r>
            <a:r>
              <a:rPr lang="en-US" sz="1000" dirty="0">
                <a:solidFill>
                  <a:srgbClr val="D9CFC7"/>
                </a:solidFill>
                <a:latin typeface="Poppins" pitchFamily="34" charset="0"/>
                <a:ea typeface="Poppins" pitchFamily="34" charset="-122"/>
                <a:cs typeface="Poppins" pitchFamily="34" charset="-120"/>
              </a:rPr>
              <a:t>(Queiroz, Phelan, Solskjær, McClair): sistem latihan, pemanduan bakat, dan pengembangan tim tetap jalan. Tetapi apakah mereka cukup berwibawa di depan pemain bintang?</a:t>
            </a:r>
            <a:endParaRPr lang="en-US" sz="1000" dirty="0"/>
          </a:p>
        </p:txBody>
      </p:sp>
      <p:sp>
        <p:nvSpPr>
          <p:cNvPr id="27" name="Text 23"/>
          <p:cNvSpPr/>
          <p:nvPr/>
        </p:nvSpPr>
        <p:spPr>
          <a:xfrm>
            <a:off x="6263640" y="3913632"/>
            <a:ext cx="5120640" cy="1097280"/>
          </a:xfrm>
          <a:prstGeom prst="rect">
            <a:avLst/>
          </a:prstGeom>
          <a:noFill/>
          <a:ln/>
        </p:spPr>
        <p:txBody>
          <a:bodyPr wrap="square" lIns="0" tIns="0" rIns="0" bIns="0" rtlCol="0" anchor="t"/>
          <a:lstStyle/>
          <a:p>
            <a:pPr marL="0" indent="0">
              <a:lnSpc>
                <a:spcPct val="106000"/>
              </a:lnSpc>
              <a:buNone/>
            </a:pPr>
            <a:r>
              <a:rPr lang="en-US" sz="1000" dirty="0">
                <a:solidFill>
                  <a:srgbClr val="FFFFFF"/>
                </a:solidFill>
                <a:latin typeface="Poppins SemiBold" pitchFamily="34" charset="0"/>
                <a:ea typeface="Poppins SemiBold" pitchFamily="34" charset="-122"/>
                <a:cs typeface="Poppins SemiBold" pitchFamily="34" charset="-120"/>
              </a:rPr>
              <a:t>Pilih orang luar berwibawa </a:t>
            </a:r>
            <a:r>
              <a:rPr lang="en-US" sz="1000" dirty="0">
                <a:solidFill>
                  <a:srgbClr val="D9CFC7"/>
                </a:solidFill>
                <a:latin typeface="Poppins" pitchFamily="34" charset="0"/>
                <a:ea typeface="Poppins" pitchFamily="34" charset="-122"/>
                <a:cs typeface="Poppins" pitchFamily="34" charset="-120"/>
              </a:rPr>
              <a:t>seperti Mourinho: kasus menyebut ini "a revolutionary change in coaching strategy in which much of Ferguson's infrastructure would be taken down and rebuilt".</a:t>
            </a:r>
            <a:endParaRPr lang="en-US" sz="1000" dirty="0"/>
          </a:p>
        </p:txBody>
      </p:sp>
      <p:sp>
        <p:nvSpPr>
          <p:cNvPr id="28" name="Shape 24"/>
          <p:cNvSpPr/>
          <p:nvPr/>
        </p:nvSpPr>
        <p:spPr>
          <a:xfrm>
            <a:off x="804672" y="5102352"/>
            <a:ext cx="10515600" cy="548640"/>
          </a:xfrm>
          <a:prstGeom prst="rect">
            <a:avLst/>
          </a:prstGeom>
          <a:solidFill>
            <a:srgbClr val="C8102E"/>
          </a:solidFill>
          <a:ln w="12700">
            <a:solidFill>
              <a:srgbClr val="C8102E"/>
            </a:solidFill>
            <a:prstDash val="solid"/>
          </a:ln>
        </p:spPr>
      </p:sp>
      <p:sp>
        <p:nvSpPr>
          <p:cNvPr id="29" name="Text 25"/>
          <p:cNvSpPr/>
          <p:nvPr/>
        </p:nvSpPr>
        <p:spPr>
          <a:xfrm>
            <a:off x="987552" y="5102352"/>
            <a:ext cx="10241280" cy="548640"/>
          </a:xfrm>
          <a:prstGeom prst="rect">
            <a:avLst/>
          </a:prstGeom>
          <a:noFill/>
          <a:ln/>
        </p:spPr>
        <p:txBody>
          <a:bodyPr wrap="square" lIns="0" tIns="0" rIns="0" bIns="0" rtlCol="0" anchor="ctr"/>
          <a:lstStyle/>
          <a:p>
            <a:pPr marL="0" indent="0">
              <a:buNone/>
            </a:pPr>
            <a:r>
              <a:rPr lang="en-US" sz="1100" dirty="0">
                <a:solidFill>
                  <a:srgbClr val="FFFFFF"/>
                </a:solidFill>
                <a:latin typeface="Poppins SemiBold" pitchFamily="34" charset="0"/>
                <a:ea typeface="Poppins SemiBold" pitchFamily="34" charset="-122"/>
                <a:cs typeface="Poppins SemiBold" pitchFamily="34" charset="-120"/>
              </a:rPr>
              <a:t>Pertanyaan Chapter 4 di baliknya: aset mana yang milik klub, dan aset mana yang milik satu orang?</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01752"/>
            <a:ext cx="10728655" cy="32004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KONTEKS</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SEPAKBOLA EROPA SEBAGAI INDUSTRI</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Q1 menuntut perbandingan dengan pesaing. Jadi kita perlu tahu dulu industrinya seperti apa.</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20</a:t>
            </a:r>
            <a:endParaRPr lang="en-US" sz="900" dirty="0"/>
          </a:p>
        </p:txBody>
      </p:sp>
      <p:sp>
        <p:nvSpPr>
          <p:cNvPr id="10" name="Shape 7"/>
          <p:cNvSpPr/>
          <p:nvPr/>
        </p:nvSpPr>
        <p:spPr>
          <a:xfrm>
            <a:off x="548640" y="1755648"/>
            <a:ext cx="3545738" cy="1417320"/>
          </a:xfrm>
          <a:prstGeom prst="rect">
            <a:avLst/>
          </a:prstGeom>
          <a:solidFill>
            <a:srgbClr val="27161A"/>
          </a:solidFill>
          <a:ln w="12700">
            <a:solidFill>
              <a:srgbClr val="27161A"/>
            </a:solidFill>
            <a:prstDash val="solid"/>
          </a:ln>
        </p:spPr>
      </p:sp>
      <p:sp>
        <p:nvSpPr>
          <p:cNvPr id="11" name="Shape 8"/>
          <p:cNvSpPr/>
          <p:nvPr/>
        </p:nvSpPr>
        <p:spPr>
          <a:xfrm>
            <a:off x="548640" y="1755648"/>
            <a:ext cx="3545738" cy="54864"/>
          </a:xfrm>
          <a:prstGeom prst="rect">
            <a:avLst/>
          </a:prstGeom>
          <a:solidFill>
            <a:srgbClr val="C8102E"/>
          </a:solidFill>
          <a:ln w="12700">
            <a:solidFill>
              <a:srgbClr val="C8102E"/>
            </a:solidFill>
            <a:prstDash val="solid"/>
          </a:ln>
        </p:spPr>
      </p:sp>
      <p:sp>
        <p:nvSpPr>
          <p:cNvPr id="12" name="Text 9"/>
          <p:cNvSpPr/>
          <p:nvPr/>
        </p:nvSpPr>
        <p:spPr>
          <a:xfrm>
            <a:off x="768096" y="1938528"/>
            <a:ext cx="3179978" cy="502920"/>
          </a:xfrm>
          <a:prstGeom prst="rect">
            <a:avLst/>
          </a:prstGeom>
          <a:noFill/>
          <a:ln/>
        </p:spPr>
        <p:txBody>
          <a:bodyPr wrap="square" lIns="0" tIns="0" rIns="0" bIns="0" rtlCol="0" anchor="t"/>
          <a:lstStyle/>
          <a:p>
            <a:pPr marL="0" indent="0">
              <a:buNone/>
            </a:pPr>
            <a:r>
              <a:rPr lang="en-US" sz="2600" dirty="0">
                <a:solidFill>
                  <a:srgbClr val="FFFFFF"/>
                </a:solidFill>
                <a:latin typeface="Poppins ExtraBold" pitchFamily="34" charset="0"/>
                <a:ea typeface="Poppins ExtraBold" pitchFamily="34" charset="-122"/>
                <a:cs typeface="Poppins ExtraBold" pitchFamily="34" charset="-120"/>
              </a:rPr>
              <a:t>€2,4 M</a:t>
            </a:r>
            <a:endParaRPr lang="en-US" sz="2600" dirty="0"/>
          </a:p>
        </p:txBody>
      </p:sp>
      <p:sp>
        <p:nvSpPr>
          <p:cNvPr id="13" name="Text 10"/>
          <p:cNvSpPr/>
          <p:nvPr/>
        </p:nvSpPr>
        <p:spPr>
          <a:xfrm>
            <a:off x="768096" y="2487168"/>
            <a:ext cx="3179978" cy="274320"/>
          </a:xfrm>
          <a:prstGeom prst="rect">
            <a:avLst/>
          </a:prstGeom>
          <a:noFill/>
          <a:ln/>
        </p:spPr>
        <p:txBody>
          <a:bodyPr wrap="square" lIns="0" tIns="0" rIns="0" bIns="0" rtlCol="0" anchor="t"/>
          <a:lstStyle/>
          <a:p>
            <a:pPr marL="0" indent="0">
              <a:buNone/>
            </a:pPr>
            <a:r>
              <a:rPr lang="en-US" sz="1000" dirty="0">
                <a:solidFill>
                  <a:srgbClr val="FBE122"/>
                </a:solidFill>
                <a:latin typeface="Poppins SemiBold" pitchFamily="34" charset="0"/>
                <a:ea typeface="Poppins SemiBold" pitchFamily="34" charset="-122"/>
                <a:cs typeface="Poppins SemiBold" pitchFamily="34" charset="-120"/>
              </a:rPr>
              <a:t>Pendapatan Premier League 2007–08</a:t>
            </a:r>
            <a:endParaRPr lang="en-US" sz="1000" dirty="0"/>
          </a:p>
        </p:txBody>
      </p:sp>
      <p:sp>
        <p:nvSpPr>
          <p:cNvPr id="14" name="Text 11"/>
          <p:cNvSpPr/>
          <p:nvPr/>
        </p:nvSpPr>
        <p:spPr>
          <a:xfrm>
            <a:off x="768096" y="2761488"/>
            <a:ext cx="3179978" cy="32004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Terbesar di Eropa. Serie A, La Liga dan Bundesliga masing-masing sekitar €1,4 miliar.</a:t>
            </a:r>
            <a:endParaRPr lang="en-US" sz="900" dirty="0"/>
          </a:p>
        </p:txBody>
      </p:sp>
      <p:sp>
        <p:nvSpPr>
          <p:cNvPr id="15" name="Shape 12"/>
          <p:cNvSpPr/>
          <p:nvPr/>
        </p:nvSpPr>
        <p:spPr>
          <a:xfrm>
            <a:off x="4322978" y="1755648"/>
            <a:ext cx="3545738" cy="1417320"/>
          </a:xfrm>
          <a:prstGeom prst="rect">
            <a:avLst/>
          </a:prstGeom>
          <a:solidFill>
            <a:srgbClr val="27161A"/>
          </a:solidFill>
          <a:ln w="12700">
            <a:solidFill>
              <a:srgbClr val="27161A"/>
            </a:solidFill>
            <a:prstDash val="solid"/>
          </a:ln>
        </p:spPr>
      </p:sp>
      <p:sp>
        <p:nvSpPr>
          <p:cNvPr id="16" name="Shape 13"/>
          <p:cNvSpPr/>
          <p:nvPr/>
        </p:nvSpPr>
        <p:spPr>
          <a:xfrm>
            <a:off x="4322978" y="1755648"/>
            <a:ext cx="3545738" cy="54864"/>
          </a:xfrm>
          <a:prstGeom prst="rect">
            <a:avLst/>
          </a:prstGeom>
          <a:solidFill>
            <a:srgbClr val="C8102E"/>
          </a:solidFill>
          <a:ln w="12700">
            <a:solidFill>
              <a:srgbClr val="C8102E"/>
            </a:solidFill>
            <a:prstDash val="solid"/>
          </a:ln>
        </p:spPr>
      </p:sp>
      <p:sp>
        <p:nvSpPr>
          <p:cNvPr id="17" name="Text 14"/>
          <p:cNvSpPr/>
          <p:nvPr/>
        </p:nvSpPr>
        <p:spPr>
          <a:xfrm>
            <a:off x="4542434" y="1938528"/>
            <a:ext cx="3179978" cy="502920"/>
          </a:xfrm>
          <a:prstGeom prst="rect">
            <a:avLst/>
          </a:prstGeom>
          <a:noFill/>
          <a:ln/>
        </p:spPr>
        <p:txBody>
          <a:bodyPr wrap="square" lIns="0" tIns="0" rIns="0" bIns="0" rtlCol="0" anchor="t"/>
          <a:lstStyle/>
          <a:p>
            <a:pPr marL="0" indent="0">
              <a:buNone/>
            </a:pPr>
            <a:r>
              <a:rPr lang="en-US" sz="2600" dirty="0">
                <a:solidFill>
                  <a:srgbClr val="FFFFFF"/>
                </a:solidFill>
                <a:latin typeface="Poppins ExtraBold" pitchFamily="34" charset="0"/>
                <a:ea typeface="Poppins ExtraBold" pitchFamily="34" charset="-122"/>
                <a:cs typeface="Poppins ExtraBold" pitchFamily="34" charset="-120"/>
              </a:rPr>
              <a:t>62%</a:t>
            </a:r>
            <a:endParaRPr lang="en-US" sz="2600" dirty="0"/>
          </a:p>
        </p:txBody>
      </p:sp>
      <p:sp>
        <p:nvSpPr>
          <p:cNvPr id="18" name="Text 15"/>
          <p:cNvSpPr/>
          <p:nvPr/>
        </p:nvSpPr>
        <p:spPr>
          <a:xfrm>
            <a:off x="4542434" y="2487168"/>
            <a:ext cx="3179978" cy="274320"/>
          </a:xfrm>
          <a:prstGeom prst="rect">
            <a:avLst/>
          </a:prstGeom>
          <a:noFill/>
          <a:ln/>
        </p:spPr>
        <p:txBody>
          <a:bodyPr wrap="square" lIns="0" tIns="0" rIns="0" bIns="0" rtlCol="0" anchor="t"/>
          <a:lstStyle/>
          <a:p>
            <a:pPr marL="0" indent="0">
              <a:buNone/>
            </a:pPr>
            <a:r>
              <a:rPr lang="en-US" sz="1000" dirty="0">
                <a:solidFill>
                  <a:srgbClr val="FBE122"/>
                </a:solidFill>
                <a:latin typeface="Poppins SemiBold" pitchFamily="34" charset="0"/>
                <a:ea typeface="Poppins SemiBold" pitchFamily="34" charset="-122"/>
                <a:cs typeface="Poppins SemiBold" pitchFamily="34" charset="-120"/>
              </a:rPr>
              <a:t>Porsi gaji terhadap pendapatan</a:t>
            </a:r>
            <a:endParaRPr lang="en-US" sz="1000" dirty="0"/>
          </a:p>
        </p:txBody>
      </p:sp>
      <p:sp>
        <p:nvSpPr>
          <p:cNvPr id="19" name="Text 16"/>
          <p:cNvSpPr/>
          <p:nvPr/>
        </p:nvSpPr>
        <p:spPr>
          <a:xfrm>
            <a:off x="4542434" y="2761488"/>
            <a:ext cx="3179978" cy="32004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Premier League. Serie A 68%, La Liga 63%. Gaji adalah pos biaya terbesar klub Eropa.</a:t>
            </a:r>
            <a:endParaRPr lang="en-US" sz="900" dirty="0"/>
          </a:p>
        </p:txBody>
      </p:sp>
      <p:sp>
        <p:nvSpPr>
          <p:cNvPr id="20" name="Shape 17"/>
          <p:cNvSpPr/>
          <p:nvPr/>
        </p:nvSpPr>
        <p:spPr>
          <a:xfrm>
            <a:off x="8097317" y="1755648"/>
            <a:ext cx="3545738" cy="1417320"/>
          </a:xfrm>
          <a:prstGeom prst="rect">
            <a:avLst/>
          </a:prstGeom>
          <a:solidFill>
            <a:srgbClr val="27161A"/>
          </a:solidFill>
          <a:ln w="12700">
            <a:solidFill>
              <a:srgbClr val="27161A"/>
            </a:solidFill>
            <a:prstDash val="solid"/>
          </a:ln>
        </p:spPr>
      </p:sp>
      <p:sp>
        <p:nvSpPr>
          <p:cNvPr id="21" name="Shape 18"/>
          <p:cNvSpPr/>
          <p:nvPr/>
        </p:nvSpPr>
        <p:spPr>
          <a:xfrm>
            <a:off x="8097317" y="1755648"/>
            <a:ext cx="3545738" cy="54864"/>
          </a:xfrm>
          <a:prstGeom prst="rect">
            <a:avLst/>
          </a:prstGeom>
          <a:solidFill>
            <a:srgbClr val="FBE122"/>
          </a:solidFill>
          <a:ln w="12700">
            <a:solidFill>
              <a:srgbClr val="FBE122"/>
            </a:solidFill>
            <a:prstDash val="solid"/>
          </a:ln>
        </p:spPr>
      </p:sp>
      <p:sp>
        <p:nvSpPr>
          <p:cNvPr id="22" name="Text 19"/>
          <p:cNvSpPr/>
          <p:nvPr/>
        </p:nvSpPr>
        <p:spPr>
          <a:xfrm>
            <a:off x="8316773" y="1938528"/>
            <a:ext cx="3179978" cy="502920"/>
          </a:xfrm>
          <a:prstGeom prst="rect">
            <a:avLst/>
          </a:prstGeom>
          <a:noFill/>
          <a:ln/>
        </p:spPr>
        <p:txBody>
          <a:bodyPr wrap="square" lIns="0" tIns="0" rIns="0" bIns="0" rtlCol="0" anchor="t"/>
          <a:lstStyle/>
          <a:p>
            <a:pPr marL="0" indent="0">
              <a:buNone/>
            </a:pPr>
            <a:r>
              <a:rPr lang="en-US" sz="2600" dirty="0">
                <a:solidFill>
                  <a:srgbClr val="FFFFFF"/>
                </a:solidFill>
                <a:latin typeface="Poppins ExtraBold" pitchFamily="34" charset="0"/>
                <a:ea typeface="Poppins ExtraBold" pitchFamily="34" charset="-122"/>
                <a:cs typeface="Poppins ExtraBold" pitchFamily="34" charset="-120"/>
              </a:rPr>
              <a:t>6 dari 10</a:t>
            </a:r>
            <a:endParaRPr lang="en-US" sz="2600" dirty="0"/>
          </a:p>
        </p:txBody>
      </p:sp>
      <p:sp>
        <p:nvSpPr>
          <p:cNvPr id="23" name="Text 20"/>
          <p:cNvSpPr/>
          <p:nvPr/>
        </p:nvSpPr>
        <p:spPr>
          <a:xfrm>
            <a:off x="8316773" y="2487168"/>
            <a:ext cx="3179978" cy="274320"/>
          </a:xfrm>
          <a:prstGeom prst="rect">
            <a:avLst/>
          </a:prstGeom>
          <a:noFill/>
          <a:ln/>
        </p:spPr>
        <p:txBody>
          <a:bodyPr wrap="square" lIns="0" tIns="0" rIns="0" bIns="0" rtlCol="0" anchor="t"/>
          <a:lstStyle/>
          <a:p>
            <a:pPr marL="0" indent="0">
              <a:buNone/>
            </a:pPr>
            <a:r>
              <a:rPr lang="en-US" sz="1000" dirty="0">
                <a:solidFill>
                  <a:srgbClr val="FBE122"/>
                </a:solidFill>
                <a:latin typeface="Poppins SemiBold" pitchFamily="34" charset="0"/>
                <a:ea typeface="Poppins SemiBold" pitchFamily="34" charset="-122"/>
                <a:cs typeface="Poppins SemiBold" pitchFamily="34" charset="-120"/>
              </a:rPr>
              <a:t>Klub besar di Table 6.6 merugi</a:t>
            </a:r>
            <a:endParaRPr lang="en-US" sz="1000" dirty="0"/>
          </a:p>
        </p:txBody>
      </p:sp>
      <p:sp>
        <p:nvSpPr>
          <p:cNvPr id="24" name="Text 21"/>
          <p:cNvSpPr/>
          <p:nvPr/>
        </p:nvSpPr>
        <p:spPr>
          <a:xfrm>
            <a:off x="8316773" y="2761488"/>
            <a:ext cx="3179978" cy="32004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Selama 2000–2006. Industri ini tumbuh pesat, tapi sangat tidak menguntungkan.</a:t>
            </a:r>
            <a:endParaRPr lang="en-US" sz="900" dirty="0"/>
          </a:p>
        </p:txBody>
      </p:sp>
      <p:sp>
        <p:nvSpPr>
          <p:cNvPr id="25" name="Text 22"/>
          <p:cNvSpPr/>
          <p:nvPr/>
        </p:nvSpPr>
        <p:spPr>
          <a:xfrm>
            <a:off x="548640" y="3401568"/>
            <a:ext cx="585216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TIGA SUMBER PENDAPATAN KLUB  ·  PREMIER LEAGUE 2007–08</a:t>
            </a:r>
            <a:endParaRPr lang="en-US" sz="850" dirty="0"/>
          </a:p>
        </p:txBody>
      </p:sp>
      <p:sp>
        <p:nvSpPr>
          <p:cNvPr id="26" name="Shape 23"/>
          <p:cNvSpPr/>
          <p:nvPr/>
        </p:nvSpPr>
        <p:spPr>
          <a:xfrm>
            <a:off x="548640" y="3675888"/>
            <a:ext cx="5852160" cy="685800"/>
          </a:xfrm>
          <a:prstGeom prst="rect">
            <a:avLst/>
          </a:prstGeom>
          <a:solidFill>
            <a:srgbClr val="27161A"/>
          </a:solidFill>
          <a:ln w="12700">
            <a:solidFill>
              <a:srgbClr val="27161A"/>
            </a:solidFill>
            <a:prstDash val="solid"/>
          </a:ln>
        </p:spPr>
      </p:sp>
      <p:sp>
        <p:nvSpPr>
          <p:cNvPr id="27" name="Text 24"/>
          <p:cNvSpPr/>
          <p:nvPr/>
        </p:nvSpPr>
        <p:spPr>
          <a:xfrm>
            <a:off x="731520" y="3749040"/>
            <a:ext cx="1371600"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Matchday</a:t>
            </a:r>
            <a:endParaRPr lang="en-US" sz="1050" dirty="0"/>
          </a:p>
        </p:txBody>
      </p:sp>
      <p:sp>
        <p:nvSpPr>
          <p:cNvPr id="28" name="Text 25"/>
          <p:cNvSpPr/>
          <p:nvPr/>
        </p:nvSpPr>
        <p:spPr>
          <a:xfrm>
            <a:off x="731520" y="4005072"/>
            <a:ext cx="1371600" cy="274320"/>
          </a:xfrm>
          <a:prstGeom prst="rect">
            <a:avLst/>
          </a:prstGeom>
          <a:noFill/>
          <a:ln/>
        </p:spPr>
        <p:txBody>
          <a:bodyPr wrap="square" lIns="0" tIns="0" rIns="0" bIns="0" rtlCol="0" anchor="t"/>
          <a:lstStyle/>
          <a:p>
            <a:pPr marL="0" indent="0">
              <a:buNone/>
            </a:pPr>
            <a:r>
              <a:rPr lang="en-US" sz="1200" dirty="0">
                <a:solidFill>
                  <a:srgbClr val="FBE122"/>
                </a:solidFill>
                <a:latin typeface="Poppins ExtraBold" pitchFamily="34" charset="0"/>
                <a:ea typeface="Poppins ExtraBold" pitchFamily="34" charset="-122"/>
                <a:cs typeface="Poppins ExtraBold" pitchFamily="34" charset="-120"/>
              </a:rPr>
              <a:t>£554 jt</a:t>
            </a:r>
            <a:endParaRPr lang="en-US" sz="1200" dirty="0"/>
          </a:p>
        </p:txBody>
      </p:sp>
      <p:sp>
        <p:nvSpPr>
          <p:cNvPr id="29" name="Text 26"/>
          <p:cNvSpPr/>
          <p:nvPr/>
        </p:nvSpPr>
        <p:spPr>
          <a:xfrm>
            <a:off x="2148840" y="3730752"/>
            <a:ext cx="3566160" cy="59436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Tiket dan hospitality. Dibatasi kapasitas stadion; itu sebabnya klub besar merenovasi atau membangun stadion baru.</a:t>
            </a:r>
            <a:endParaRPr lang="en-US" sz="850" dirty="0"/>
          </a:p>
        </p:txBody>
      </p:sp>
      <p:sp>
        <p:nvSpPr>
          <p:cNvPr id="30" name="Shape 27"/>
          <p:cNvSpPr/>
          <p:nvPr/>
        </p:nvSpPr>
        <p:spPr>
          <a:xfrm>
            <a:off x="548640" y="4434840"/>
            <a:ext cx="5852160" cy="685800"/>
          </a:xfrm>
          <a:prstGeom prst="rect">
            <a:avLst/>
          </a:prstGeom>
          <a:solidFill>
            <a:srgbClr val="32191E"/>
          </a:solidFill>
          <a:ln w="12700">
            <a:solidFill>
              <a:srgbClr val="32191E"/>
            </a:solidFill>
            <a:prstDash val="solid"/>
          </a:ln>
        </p:spPr>
      </p:sp>
      <p:sp>
        <p:nvSpPr>
          <p:cNvPr id="31" name="Text 28"/>
          <p:cNvSpPr/>
          <p:nvPr/>
        </p:nvSpPr>
        <p:spPr>
          <a:xfrm>
            <a:off x="731520" y="4507992"/>
            <a:ext cx="1371600"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Broadcasting</a:t>
            </a:r>
            <a:endParaRPr lang="en-US" sz="1050" dirty="0"/>
          </a:p>
        </p:txBody>
      </p:sp>
      <p:sp>
        <p:nvSpPr>
          <p:cNvPr id="32" name="Text 29"/>
          <p:cNvSpPr/>
          <p:nvPr/>
        </p:nvSpPr>
        <p:spPr>
          <a:xfrm>
            <a:off x="731520" y="4764024"/>
            <a:ext cx="1371600" cy="274320"/>
          </a:xfrm>
          <a:prstGeom prst="rect">
            <a:avLst/>
          </a:prstGeom>
          <a:noFill/>
          <a:ln/>
        </p:spPr>
        <p:txBody>
          <a:bodyPr wrap="square" lIns="0" tIns="0" rIns="0" bIns="0" rtlCol="0" anchor="t"/>
          <a:lstStyle/>
          <a:p>
            <a:pPr marL="0" indent="0">
              <a:buNone/>
            </a:pPr>
            <a:r>
              <a:rPr lang="en-US" sz="1200" dirty="0">
                <a:solidFill>
                  <a:srgbClr val="FBE122"/>
                </a:solidFill>
                <a:latin typeface="Poppins ExtraBold" pitchFamily="34" charset="0"/>
                <a:ea typeface="Poppins ExtraBold" pitchFamily="34" charset="-122"/>
                <a:cs typeface="Poppins ExtraBold" pitchFamily="34" charset="-120"/>
              </a:rPr>
              <a:t>£931 jt</a:t>
            </a:r>
            <a:endParaRPr lang="en-US" sz="1200" dirty="0"/>
          </a:p>
        </p:txBody>
      </p:sp>
      <p:sp>
        <p:nvSpPr>
          <p:cNvPr id="33" name="Text 30"/>
          <p:cNvSpPr/>
          <p:nvPr/>
        </p:nvSpPr>
        <p:spPr>
          <a:xfrm>
            <a:off x="2148840" y="4489704"/>
            <a:ext cx="3566160" cy="59436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Hak siar dinegosiasikan Premier League. Kontrak 2006 bernilai £2,7 miliar; tiap klub dapat rata-rata £45 juta per tahun.</a:t>
            </a:r>
            <a:endParaRPr lang="en-US" sz="850" dirty="0"/>
          </a:p>
        </p:txBody>
      </p:sp>
      <p:sp>
        <p:nvSpPr>
          <p:cNvPr id="34" name="Shape 31"/>
          <p:cNvSpPr/>
          <p:nvPr/>
        </p:nvSpPr>
        <p:spPr>
          <a:xfrm>
            <a:off x="548640" y="5193792"/>
            <a:ext cx="5852160" cy="685800"/>
          </a:xfrm>
          <a:prstGeom prst="rect">
            <a:avLst/>
          </a:prstGeom>
          <a:solidFill>
            <a:srgbClr val="27161A"/>
          </a:solidFill>
          <a:ln w="12700">
            <a:solidFill>
              <a:srgbClr val="27161A"/>
            </a:solidFill>
            <a:prstDash val="solid"/>
          </a:ln>
        </p:spPr>
      </p:sp>
      <p:sp>
        <p:nvSpPr>
          <p:cNvPr id="35" name="Text 32"/>
          <p:cNvSpPr/>
          <p:nvPr/>
        </p:nvSpPr>
        <p:spPr>
          <a:xfrm>
            <a:off x="731520" y="5266944"/>
            <a:ext cx="1371600" cy="274320"/>
          </a:xfrm>
          <a:prstGeom prst="rect">
            <a:avLst/>
          </a:prstGeom>
          <a:noFill/>
          <a:ln/>
        </p:spPr>
        <p:txBody>
          <a:bodyPr wrap="square" lIns="0" tIns="0" rIns="0" bIns="0" rtlCol="0" anchor="t"/>
          <a:lstStyle/>
          <a:p>
            <a:pPr marL="0" indent="0">
              <a:buNone/>
            </a:pPr>
            <a:r>
              <a:rPr lang="en-US" sz="1050" dirty="0">
                <a:solidFill>
                  <a:srgbClr val="FFFFFF"/>
                </a:solidFill>
                <a:latin typeface="Poppins SemiBold" pitchFamily="34" charset="0"/>
                <a:ea typeface="Poppins SemiBold" pitchFamily="34" charset="-122"/>
                <a:cs typeface="Poppins SemiBold" pitchFamily="34" charset="-120"/>
              </a:rPr>
              <a:t>Commercial</a:t>
            </a:r>
            <a:endParaRPr lang="en-US" sz="1050" dirty="0"/>
          </a:p>
        </p:txBody>
      </p:sp>
      <p:sp>
        <p:nvSpPr>
          <p:cNvPr id="36" name="Text 33"/>
          <p:cNvSpPr/>
          <p:nvPr/>
        </p:nvSpPr>
        <p:spPr>
          <a:xfrm>
            <a:off x="731520" y="5522976"/>
            <a:ext cx="1371600" cy="274320"/>
          </a:xfrm>
          <a:prstGeom prst="rect">
            <a:avLst/>
          </a:prstGeom>
          <a:noFill/>
          <a:ln/>
        </p:spPr>
        <p:txBody>
          <a:bodyPr wrap="square" lIns="0" tIns="0" rIns="0" bIns="0" rtlCol="0" anchor="t"/>
          <a:lstStyle/>
          <a:p>
            <a:pPr marL="0" indent="0">
              <a:buNone/>
            </a:pPr>
            <a:r>
              <a:rPr lang="en-US" sz="1200" dirty="0">
                <a:solidFill>
                  <a:srgbClr val="FBE122"/>
                </a:solidFill>
                <a:latin typeface="Poppins ExtraBold" pitchFamily="34" charset="0"/>
                <a:ea typeface="Poppins ExtraBold" pitchFamily="34" charset="-122"/>
                <a:cs typeface="Poppins ExtraBold" pitchFamily="34" charset="-120"/>
              </a:rPr>
              <a:t>£447 jt</a:t>
            </a:r>
            <a:endParaRPr lang="en-US" sz="1200" dirty="0"/>
          </a:p>
        </p:txBody>
      </p:sp>
      <p:sp>
        <p:nvSpPr>
          <p:cNvPr id="37" name="Text 34"/>
          <p:cNvSpPr/>
          <p:nvPr/>
        </p:nvSpPr>
        <p:spPr>
          <a:xfrm>
            <a:off x="2148840" y="5248656"/>
            <a:ext cx="3566160" cy="59436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Sponsor, lisensi merchandise, iklan. Terpusat di sedikit klub; Real Madrid dan Barcelona meraup lebih dari 60% sponsor La Liga.</a:t>
            </a:r>
            <a:endParaRPr lang="en-US" sz="850" dirty="0"/>
          </a:p>
        </p:txBody>
      </p:sp>
      <p:sp>
        <p:nvSpPr>
          <p:cNvPr id="38" name="Text 35"/>
          <p:cNvSpPr/>
          <p:nvPr/>
        </p:nvSpPr>
        <p:spPr>
          <a:xfrm>
            <a:off x="6675120" y="3401568"/>
            <a:ext cx="4967935"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ATURAN MAIN DAN LOGIKA EKONOMINYA</a:t>
            </a:r>
            <a:endParaRPr lang="en-US" sz="850" dirty="0"/>
          </a:p>
        </p:txBody>
      </p:sp>
      <p:sp>
        <p:nvSpPr>
          <p:cNvPr id="39" name="Shape 36"/>
          <p:cNvSpPr/>
          <p:nvPr/>
        </p:nvSpPr>
        <p:spPr>
          <a:xfrm>
            <a:off x="6675120" y="3675888"/>
            <a:ext cx="4967935" cy="685800"/>
          </a:xfrm>
          <a:prstGeom prst="rect">
            <a:avLst/>
          </a:prstGeom>
          <a:solidFill>
            <a:srgbClr val="27161A"/>
          </a:solidFill>
          <a:ln w="12700">
            <a:solidFill>
              <a:srgbClr val="27161A"/>
            </a:solidFill>
            <a:prstDash val="solid"/>
          </a:ln>
        </p:spPr>
      </p:sp>
      <p:sp>
        <p:nvSpPr>
          <p:cNvPr id="40" name="Shape 37"/>
          <p:cNvSpPr/>
          <p:nvPr/>
        </p:nvSpPr>
        <p:spPr>
          <a:xfrm>
            <a:off x="6675120" y="3675888"/>
            <a:ext cx="54864" cy="685800"/>
          </a:xfrm>
          <a:prstGeom prst="rect">
            <a:avLst/>
          </a:prstGeom>
          <a:solidFill>
            <a:srgbClr val="C8102E"/>
          </a:solidFill>
          <a:ln w="12700">
            <a:solidFill>
              <a:srgbClr val="C8102E"/>
            </a:solidFill>
            <a:prstDash val="solid"/>
          </a:ln>
        </p:spPr>
      </p:sp>
      <p:sp>
        <p:nvSpPr>
          <p:cNvPr id="41" name="Text 38"/>
          <p:cNvSpPr/>
          <p:nvPr/>
        </p:nvSpPr>
        <p:spPr>
          <a:xfrm>
            <a:off x="6903720" y="3749040"/>
            <a:ext cx="4602175" cy="228600"/>
          </a:xfrm>
          <a:prstGeom prst="rect">
            <a:avLst/>
          </a:prstGeom>
          <a:noFill/>
          <a:ln/>
        </p:spPr>
        <p:txBody>
          <a:bodyPr wrap="square" lIns="0" tIns="0" rIns="0" bIns="0" rtlCol="0" anchor="t"/>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Struktur kompetisi</a:t>
            </a:r>
            <a:endParaRPr lang="en-US" sz="1000" dirty="0"/>
          </a:p>
        </p:txBody>
      </p:sp>
      <p:sp>
        <p:nvSpPr>
          <p:cNvPr id="42" name="Text 39"/>
          <p:cNvSpPr/>
          <p:nvPr/>
        </p:nvSpPr>
        <p:spPr>
          <a:xfrm>
            <a:off x="6903720" y="3977640"/>
            <a:ext cx="4602175" cy="384048"/>
          </a:xfrm>
          <a:prstGeom prst="rect">
            <a:avLst/>
          </a:prstGeom>
          <a:noFill/>
          <a:ln/>
        </p:spPr>
        <p:txBody>
          <a:bodyPr wrap="square" lIns="0" tIns="0" rIns="0" bIns="0" rtlCol="0" anchor="t"/>
          <a:lstStyle/>
          <a:p>
            <a:pPr marL="0" indent="0">
              <a:lnSpc>
                <a:spcPct val="103000"/>
              </a:lnSpc>
              <a:buNone/>
            </a:pPr>
            <a:r>
              <a:rPr lang="en-US" sz="800" dirty="0">
                <a:solidFill>
                  <a:srgbClr val="D9CFC7"/>
                </a:solidFill>
                <a:latin typeface="Poppins" pitchFamily="34" charset="0"/>
                <a:ea typeface="Poppins" pitchFamily="34" charset="-122"/>
                <a:cs typeface="Poppins" pitchFamily="34" charset="-120"/>
              </a:rPr>
              <a:t>20 klub Premier League, tiga terbawah turun kasta. Empat teratas lolos Champions League, kompetisi 32 klub terbaik Eropa.</a:t>
            </a:r>
            <a:endParaRPr lang="en-US" sz="800" dirty="0"/>
          </a:p>
        </p:txBody>
      </p:sp>
      <p:sp>
        <p:nvSpPr>
          <p:cNvPr id="43" name="Shape 40"/>
          <p:cNvSpPr/>
          <p:nvPr/>
        </p:nvSpPr>
        <p:spPr>
          <a:xfrm>
            <a:off x="6675120" y="4434840"/>
            <a:ext cx="4967935" cy="685800"/>
          </a:xfrm>
          <a:prstGeom prst="rect">
            <a:avLst/>
          </a:prstGeom>
          <a:solidFill>
            <a:srgbClr val="32191E"/>
          </a:solidFill>
          <a:ln w="12700">
            <a:solidFill>
              <a:srgbClr val="32191E"/>
            </a:solidFill>
            <a:prstDash val="solid"/>
          </a:ln>
        </p:spPr>
      </p:sp>
      <p:sp>
        <p:nvSpPr>
          <p:cNvPr id="44" name="Shape 41"/>
          <p:cNvSpPr/>
          <p:nvPr/>
        </p:nvSpPr>
        <p:spPr>
          <a:xfrm>
            <a:off x="6675120" y="4434840"/>
            <a:ext cx="54864" cy="685800"/>
          </a:xfrm>
          <a:prstGeom prst="rect">
            <a:avLst/>
          </a:prstGeom>
          <a:solidFill>
            <a:srgbClr val="C8102E"/>
          </a:solidFill>
          <a:ln w="12700">
            <a:solidFill>
              <a:srgbClr val="C8102E"/>
            </a:solidFill>
            <a:prstDash val="solid"/>
          </a:ln>
        </p:spPr>
      </p:sp>
      <p:sp>
        <p:nvSpPr>
          <p:cNvPr id="45" name="Text 42"/>
          <p:cNvSpPr/>
          <p:nvPr/>
        </p:nvSpPr>
        <p:spPr>
          <a:xfrm>
            <a:off x="6903720" y="4507992"/>
            <a:ext cx="4602175" cy="228600"/>
          </a:xfrm>
          <a:prstGeom prst="rect">
            <a:avLst/>
          </a:prstGeom>
          <a:noFill/>
          <a:ln/>
        </p:spPr>
        <p:txBody>
          <a:bodyPr wrap="square" lIns="0" tIns="0" rIns="0" bIns="0" rtlCol="0" anchor="t"/>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Yang kaya makin kaya</a:t>
            </a:r>
            <a:endParaRPr lang="en-US" sz="1000" dirty="0"/>
          </a:p>
        </p:txBody>
      </p:sp>
      <p:sp>
        <p:nvSpPr>
          <p:cNvPr id="46" name="Text 43"/>
          <p:cNvSpPr/>
          <p:nvPr/>
        </p:nvSpPr>
        <p:spPr>
          <a:xfrm>
            <a:off x="6903720" y="4736592"/>
            <a:ext cx="4602175" cy="384048"/>
          </a:xfrm>
          <a:prstGeom prst="rect">
            <a:avLst/>
          </a:prstGeom>
          <a:noFill/>
          <a:ln/>
        </p:spPr>
        <p:txBody>
          <a:bodyPr wrap="square" lIns="0" tIns="0" rIns="0" bIns="0" rtlCol="0" anchor="t"/>
          <a:lstStyle/>
          <a:p>
            <a:pPr marL="0" indent="0">
              <a:lnSpc>
                <a:spcPct val="103000"/>
              </a:lnSpc>
              <a:buNone/>
            </a:pPr>
            <a:r>
              <a:rPr lang="en-US" sz="800" dirty="0">
                <a:solidFill>
                  <a:srgbClr val="D9CFC7"/>
                </a:solidFill>
                <a:latin typeface="Poppins" pitchFamily="34" charset="0"/>
                <a:ea typeface="Poppins" pitchFamily="34" charset="-122"/>
                <a:cs typeface="Poppins" pitchFamily="34" charset="-120"/>
              </a:rPr>
              <a:t>Sejak UCL dimulai 1992, muncul jurang keuangan antara MU, Chelsea, Liverpool, Arsenal dan sisanya. Uang Eropa membeli pemain bagus.</a:t>
            </a:r>
            <a:endParaRPr lang="en-US" sz="800" dirty="0"/>
          </a:p>
        </p:txBody>
      </p:sp>
      <p:sp>
        <p:nvSpPr>
          <p:cNvPr id="47" name="Shape 44"/>
          <p:cNvSpPr/>
          <p:nvPr/>
        </p:nvSpPr>
        <p:spPr>
          <a:xfrm>
            <a:off x="6675120" y="5193792"/>
            <a:ext cx="4967935" cy="685800"/>
          </a:xfrm>
          <a:prstGeom prst="rect">
            <a:avLst/>
          </a:prstGeom>
          <a:solidFill>
            <a:srgbClr val="27161A"/>
          </a:solidFill>
          <a:ln w="12700">
            <a:solidFill>
              <a:srgbClr val="27161A"/>
            </a:solidFill>
            <a:prstDash val="solid"/>
          </a:ln>
        </p:spPr>
      </p:sp>
      <p:sp>
        <p:nvSpPr>
          <p:cNvPr id="48" name="Shape 45"/>
          <p:cNvSpPr/>
          <p:nvPr/>
        </p:nvSpPr>
        <p:spPr>
          <a:xfrm>
            <a:off x="6675120" y="5193792"/>
            <a:ext cx="54864" cy="685800"/>
          </a:xfrm>
          <a:prstGeom prst="rect">
            <a:avLst/>
          </a:prstGeom>
          <a:solidFill>
            <a:srgbClr val="C8102E"/>
          </a:solidFill>
          <a:ln w="12700">
            <a:solidFill>
              <a:srgbClr val="C8102E"/>
            </a:solidFill>
            <a:prstDash val="solid"/>
          </a:ln>
        </p:spPr>
      </p:sp>
      <p:sp>
        <p:nvSpPr>
          <p:cNvPr id="49" name="Text 46"/>
          <p:cNvSpPr/>
          <p:nvPr/>
        </p:nvSpPr>
        <p:spPr>
          <a:xfrm>
            <a:off x="6903720" y="5266944"/>
            <a:ext cx="4602175" cy="228600"/>
          </a:xfrm>
          <a:prstGeom prst="rect">
            <a:avLst/>
          </a:prstGeom>
          <a:noFill/>
          <a:ln/>
        </p:spPr>
        <p:txBody>
          <a:bodyPr wrap="square" lIns="0" tIns="0" rIns="0" bIns="0" rtlCol="0" anchor="t"/>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Harga pemain meledak</a:t>
            </a:r>
            <a:endParaRPr lang="en-US" sz="1000" dirty="0"/>
          </a:p>
        </p:txBody>
      </p:sp>
      <p:sp>
        <p:nvSpPr>
          <p:cNvPr id="50" name="Text 47"/>
          <p:cNvSpPr/>
          <p:nvPr/>
        </p:nvSpPr>
        <p:spPr>
          <a:xfrm>
            <a:off x="6903720" y="5495544"/>
            <a:ext cx="4602175" cy="384048"/>
          </a:xfrm>
          <a:prstGeom prst="rect">
            <a:avLst/>
          </a:prstGeom>
          <a:noFill/>
          <a:ln/>
        </p:spPr>
        <p:txBody>
          <a:bodyPr wrap="square" lIns="0" tIns="0" rIns="0" bIns="0" rtlCol="0" anchor="t"/>
          <a:lstStyle/>
          <a:p>
            <a:pPr marL="0" indent="0">
              <a:lnSpc>
                <a:spcPct val="103000"/>
              </a:lnSpc>
              <a:buNone/>
            </a:pPr>
            <a:r>
              <a:rPr lang="en-US" sz="800" dirty="0">
                <a:solidFill>
                  <a:srgbClr val="D9CFC7"/>
                </a:solidFill>
                <a:latin typeface="Poppins" pitchFamily="34" charset="0"/>
                <a:ea typeface="Poppins" pitchFamily="34" charset="-122"/>
                <a:cs typeface="Poppins" pitchFamily="34" charset="-120"/>
              </a:rPr>
              <a:t>Rekor transfer baru tercipta musim panas 2009 meski resesi. Pendorongnya: Real Madrid, lalu Chelsea, lalu Manchester City.</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45032" y="377419"/>
            <a:ext cx="10728655" cy="141275"/>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1  ·  DITERAPKAN</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DI LAPANGAN: JELAS DI ATAS RATA-RATA</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Indikator kedua Thompson: apakah posisi bersaing MU membaik? Data kompetisi di kasus menjawabnya.</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57107"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21</a:t>
            </a:r>
            <a:endParaRPr lang="en-US" sz="900" dirty="0"/>
          </a:p>
        </p:txBody>
      </p:sp>
      <p:sp>
        <p:nvSpPr>
          <p:cNvPr id="10" name="Shape 7"/>
          <p:cNvSpPr/>
          <p:nvPr/>
        </p:nvSpPr>
        <p:spPr>
          <a:xfrm>
            <a:off x="548640" y="1755648"/>
            <a:ext cx="4114800" cy="1234440"/>
          </a:xfrm>
          <a:prstGeom prst="rect">
            <a:avLst/>
          </a:prstGeom>
          <a:solidFill>
            <a:srgbClr val="27161A"/>
          </a:solidFill>
          <a:ln w="12700">
            <a:solidFill>
              <a:srgbClr val="27161A"/>
            </a:solidFill>
            <a:prstDash val="solid"/>
          </a:ln>
        </p:spPr>
      </p:sp>
      <p:sp>
        <p:nvSpPr>
          <p:cNvPr id="11" name="Shape 8"/>
          <p:cNvSpPr/>
          <p:nvPr/>
        </p:nvSpPr>
        <p:spPr>
          <a:xfrm>
            <a:off x="548640" y="1755648"/>
            <a:ext cx="4114800" cy="54864"/>
          </a:xfrm>
          <a:prstGeom prst="rect">
            <a:avLst/>
          </a:prstGeom>
          <a:solidFill>
            <a:srgbClr val="C8102E"/>
          </a:solidFill>
          <a:ln w="12700">
            <a:solidFill>
              <a:srgbClr val="C8102E"/>
            </a:solidFill>
            <a:prstDash val="solid"/>
          </a:ln>
        </p:spPr>
      </p:sp>
      <p:sp>
        <p:nvSpPr>
          <p:cNvPr id="12" name="Text 9"/>
          <p:cNvSpPr/>
          <p:nvPr/>
        </p:nvSpPr>
        <p:spPr>
          <a:xfrm>
            <a:off x="768096" y="1938528"/>
            <a:ext cx="3749040" cy="502920"/>
          </a:xfrm>
          <a:prstGeom prst="rect">
            <a:avLst/>
          </a:prstGeom>
          <a:noFill/>
          <a:ln/>
        </p:spPr>
        <p:txBody>
          <a:bodyPr wrap="square" lIns="0" tIns="0" rIns="0" bIns="0" rtlCol="0" anchor="t"/>
          <a:lstStyle/>
          <a:p>
            <a:pPr marL="0" indent="0">
              <a:buNone/>
            </a:pPr>
            <a:r>
              <a:rPr lang="en-US" sz="2400" dirty="0">
                <a:solidFill>
                  <a:srgbClr val="FFFFFF"/>
                </a:solidFill>
                <a:latin typeface="Poppins ExtraBold" pitchFamily="34" charset="0"/>
                <a:ea typeface="Poppins ExtraBold" pitchFamily="34" charset="-122"/>
                <a:cs typeface="Poppins ExtraBold" pitchFamily="34" charset="-120"/>
              </a:rPr>
              <a:t>1.460</a:t>
            </a:r>
            <a:endParaRPr lang="en-US" sz="2400" dirty="0"/>
          </a:p>
        </p:txBody>
      </p:sp>
      <p:sp>
        <p:nvSpPr>
          <p:cNvPr id="13" name="Text 10"/>
          <p:cNvSpPr/>
          <p:nvPr/>
        </p:nvSpPr>
        <p:spPr>
          <a:xfrm>
            <a:off x="768096" y="2487168"/>
            <a:ext cx="3749040" cy="274320"/>
          </a:xfrm>
          <a:prstGeom prst="rect">
            <a:avLst/>
          </a:prstGeom>
          <a:noFill/>
          <a:ln/>
        </p:spPr>
        <p:txBody>
          <a:bodyPr wrap="square" lIns="0" tIns="0" rIns="0" bIns="0" rtlCol="0" anchor="t"/>
          <a:lstStyle/>
          <a:p>
            <a:pPr marL="0" indent="0">
              <a:buNone/>
            </a:pPr>
            <a:r>
              <a:rPr lang="en-US" sz="1000" dirty="0">
                <a:solidFill>
                  <a:srgbClr val="FBE122"/>
                </a:solidFill>
                <a:latin typeface="Poppins SemiBold" pitchFamily="34" charset="0"/>
                <a:ea typeface="Poppins SemiBold" pitchFamily="34" charset="-122"/>
                <a:cs typeface="Poppins SemiBold" pitchFamily="34" charset="-120"/>
              </a:rPr>
              <a:t>Poin Eropa 2000–2009, tertinggi  ·  Table 6.2</a:t>
            </a:r>
            <a:endParaRPr lang="en-US" sz="1000" dirty="0"/>
          </a:p>
        </p:txBody>
      </p:sp>
      <p:sp>
        <p:nvSpPr>
          <p:cNvPr id="14" name="Text 11"/>
          <p:cNvSpPr/>
          <p:nvPr/>
        </p:nvSpPr>
        <p:spPr>
          <a:xfrm>
            <a:off x="768096" y="2761488"/>
            <a:ext cx="3749040" cy="13716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Barcelona 1.411  ·  Real Madrid 1.314  ·  Arsenal 1.310</a:t>
            </a:r>
            <a:endParaRPr lang="en-US" sz="900" dirty="0"/>
          </a:p>
        </p:txBody>
      </p:sp>
      <p:sp>
        <p:nvSpPr>
          <p:cNvPr id="15" name="Shape 12"/>
          <p:cNvSpPr/>
          <p:nvPr/>
        </p:nvSpPr>
        <p:spPr>
          <a:xfrm>
            <a:off x="548640" y="3127248"/>
            <a:ext cx="4114800" cy="1234440"/>
          </a:xfrm>
          <a:prstGeom prst="rect">
            <a:avLst/>
          </a:prstGeom>
          <a:solidFill>
            <a:srgbClr val="27161A"/>
          </a:solidFill>
          <a:ln w="12700">
            <a:solidFill>
              <a:srgbClr val="27161A"/>
            </a:solidFill>
            <a:prstDash val="solid"/>
          </a:ln>
        </p:spPr>
      </p:sp>
      <p:sp>
        <p:nvSpPr>
          <p:cNvPr id="16" name="Shape 13"/>
          <p:cNvSpPr/>
          <p:nvPr/>
        </p:nvSpPr>
        <p:spPr>
          <a:xfrm>
            <a:off x="548640" y="3127248"/>
            <a:ext cx="4114800" cy="54864"/>
          </a:xfrm>
          <a:prstGeom prst="rect">
            <a:avLst/>
          </a:prstGeom>
          <a:solidFill>
            <a:srgbClr val="C8102E"/>
          </a:solidFill>
          <a:ln w="12700">
            <a:solidFill>
              <a:srgbClr val="C8102E"/>
            </a:solidFill>
            <a:prstDash val="solid"/>
          </a:ln>
        </p:spPr>
      </p:sp>
      <p:sp>
        <p:nvSpPr>
          <p:cNvPr id="17" name="Text 14"/>
          <p:cNvSpPr/>
          <p:nvPr/>
        </p:nvSpPr>
        <p:spPr>
          <a:xfrm>
            <a:off x="768096" y="3310128"/>
            <a:ext cx="3749040" cy="502920"/>
          </a:xfrm>
          <a:prstGeom prst="rect">
            <a:avLst/>
          </a:prstGeom>
          <a:noFill/>
          <a:ln/>
        </p:spPr>
        <p:txBody>
          <a:bodyPr wrap="square" lIns="0" tIns="0" rIns="0" bIns="0" rtlCol="0" anchor="t"/>
          <a:lstStyle/>
          <a:p>
            <a:pPr marL="0" indent="0">
              <a:buNone/>
            </a:pPr>
            <a:r>
              <a:rPr lang="en-US" sz="2400" dirty="0">
                <a:solidFill>
                  <a:srgbClr val="FFFFFF"/>
                </a:solidFill>
                <a:latin typeface="Poppins ExtraBold" pitchFamily="34" charset="0"/>
                <a:ea typeface="Poppins ExtraBold" pitchFamily="34" charset="-122"/>
                <a:cs typeface="Poppins ExtraBold" pitchFamily="34" charset="-120"/>
              </a:rPr>
              <a:t>3</a:t>
            </a:r>
            <a:endParaRPr lang="en-US" sz="2400" dirty="0"/>
          </a:p>
        </p:txBody>
      </p:sp>
      <p:sp>
        <p:nvSpPr>
          <p:cNvPr id="18" name="Text 15"/>
          <p:cNvSpPr/>
          <p:nvPr/>
        </p:nvSpPr>
        <p:spPr>
          <a:xfrm>
            <a:off x="768096" y="3858768"/>
            <a:ext cx="3749040" cy="274320"/>
          </a:xfrm>
          <a:prstGeom prst="rect">
            <a:avLst/>
          </a:prstGeom>
          <a:noFill/>
          <a:ln/>
        </p:spPr>
        <p:txBody>
          <a:bodyPr wrap="square" lIns="0" tIns="0" rIns="0" bIns="0" rtlCol="0" anchor="t"/>
          <a:lstStyle/>
          <a:p>
            <a:pPr marL="0" indent="0">
              <a:buNone/>
            </a:pPr>
            <a:r>
              <a:rPr lang="en-US" sz="1000" dirty="0">
                <a:solidFill>
                  <a:srgbClr val="FBE122"/>
                </a:solidFill>
                <a:latin typeface="Poppins SemiBold" pitchFamily="34" charset="0"/>
                <a:ea typeface="Poppins SemiBold" pitchFamily="34" charset="-122"/>
                <a:cs typeface="Poppins SemiBold" pitchFamily="34" charset="-120"/>
              </a:rPr>
              <a:t>Gelar liga beruntun 2007, 2008, 2009  ·  Table 6.1</a:t>
            </a:r>
            <a:endParaRPr lang="en-US" sz="1000" dirty="0"/>
          </a:p>
        </p:txBody>
      </p:sp>
      <p:sp>
        <p:nvSpPr>
          <p:cNvPr id="19" name="Text 16"/>
          <p:cNvSpPr/>
          <p:nvPr/>
        </p:nvSpPr>
        <p:spPr>
          <a:xfrm>
            <a:off x="768096" y="4133088"/>
            <a:ext cx="3749040" cy="13716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Total 11 gelar liga sejak 1993 dalam rentang kasus</a:t>
            </a:r>
            <a:endParaRPr lang="en-US" sz="900" dirty="0"/>
          </a:p>
        </p:txBody>
      </p:sp>
      <p:sp>
        <p:nvSpPr>
          <p:cNvPr id="20" name="Shape 17"/>
          <p:cNvSpPr/>
          <p:nvPr/>
        </p:nvSpPr>
        <p:spPr>
          <a:xfrm>
            <a:off x="548640" y="4498848"/>
            <a:ext cx="4114800" cy="1234440"/>
          </a:xfrm>
          <a:prstGeom prst="rect">
            <a:avLst/>
          </a:prstGeom>
          <a:solidFill>
            <a:srgbClr val="27161A"/>
          </a:solidFill>
          <a:ln w="12700">
            <a:solidFill>
              <a:srgbClr val="27161A"/>
            </a:solidFill>
            <a:prstDash val="solid"/>
          </a:ln>
        </p:spPr>
      </p:sp>
      <p:sp>
        <p:nvSpPr>
          <p:cNvPr id="21" name="Shape 18"/>
          <p:cNvSpPr/>
          <p:nvPr/>
        </p:nvSpPr>
        <p:spPr>
          <a:xfrm>
            <a:off x="548640" y="4498848"/>
            <a:ext cx="4114800" cy="54864"/>
          </a:xfrm>
          <a:prstGeom prst="rect">
            <a:avLst/>
          </a:prstGeom>
          <a:solidFill>
            <a:srgbClr val="FBE122"/>
          </a:solidFill>
          <a:ln w="12700">
            <a:solidFill>
              <a:srgbClr val="FBE122"/>
            </a:solidFill>
            <a:prstDash val="solid"/>
          </a:ln>
        </p:spPr>
      </p:sp>
      <p:sp>
        <p:nvSpPr>
          <p:cNvPr id="22" name="Text 19"/>
          <p:cNvSpPr/>
          <p:nvPr/>
        </p:nvSpPr>
        <p:spPr>
          <a:xfrm>
            <a:off x="768096" y="4681728"/>
            <a:ext cx="3749040" cy="502920"/>
          </a:xfrm>
          <a:prstGeom prst="rect">
            <a:avLst/>
          </a:prstGeom>
          <a:noFill/>
          <a:ln/>
        </p:spPr>
        <p:txBody>
          <a:bodyPr wrap="square" lIns="0" tIns="0" rIns="0" bIns="0" rtlCol="0" anchor="t"/>
          <a:lstStyle/>
          <a:p>
            <a:pPr marL="0" indent="0">
              <a:buNone/>
            </a:pPr>
            <a:r>
              <a:rPr lang="en-US" sz="2400" dirty="0">
                <a:solidFill>
                  <a:srgbClr val="FFFFFF"/>
                </a:solidFill>
                <a:latin typeface="Poppins ExtraBold" pitchFamily="34" charset="0"/>
                <a:ea typeface="Poppins ExtraBold" pitchFamily="34" charset="-122"/>
                <a:cs typeface="Poppins ExtraBold" pitchFamily="34" charset="-120"/>
              </a:rPr>
              <a:t>2008</a:t>
            </a:r>
            <a:endParaRPr lang="en-US" sz="2400" dirty="0"/>
          </a:p>
        </p:txBody>
      </p:sp>
      <p:sp>
        <p:nvSpPr>
          <p:cNvPr id="23" name="Text 20"/>
          <p:cNvSpPr/>
          <p:nvPr/>
        </p:nvSpPr>
        <p:spPr>
          <a:xfrm>
            <a:off x="768096" y="5230368"/>
            <a:ext cx="3749040" cy="274320"/>
          </a:xfrm>
          <a:prstGeom prst="rect">
            <a:avLst/>
          </a:prstGeom>
          <a:noFill/>
          <a:ln/>
        </p:spPr>
        <p:txBody>
          <a:bodyPr wrap="square" lIns="0" tIns="0" rIns="0" bIns="0" rtlCol="0" anchor="t"/>
          <a:lstStyle/>
          <a:p>
            <a:pPr marL="0" indent="0">
              <a:buNone/>
            </a:pPr>
            <a:r>
              <a:rPr lang="en-US" sz="1000" dirty="0">
                <a:solidFill>
                  <a:srgbClr val="FBE122"/>
                </a:solidFill>
                <a:latin typeface="Poppins SemiBold" pitchFamily="34" charset="0"/>
                <a:ea typeface="Poppins SemiBold" pitchFamily="34" charset="-122"/>
                <a:cs typeface="Poppins SemiBold" pitchFamily="34" charset="-120"/>
              </a:rPr>
              <a:t>Liga Champions kedua di era Ferguson  ·  hlm. 584</a:t>
            </a:r>
            <a:endParaRPr lang="en-US" sz="1000" dirty="0"/>
          </a:p>
        </p:txBody>
      </p:sp>
      <p:sp>
        <p:nvSpPr>
          <p:cNvPr id="24" name="Text 21"/>
          <p:cNvSpPr/>
          <p:nvPr/>
        </p:nvSpPr>
        <p:spPr>
          <a:xfrm>
            <a:off x="768096" y="5504688"/>
            <a:ext cx="3749040" cy="13716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Yang pertama 1999, bersama gelar liga dan FA Cup</a:t>
            </a:r>
            <a:endParaRPr lang="en-US" sz="900" dirty="0"/>
          </a:p>
        </p:txBody>
      </p:sp>
      <p:sp>
        <p:nvSpPr>
          <p:cNvPr id="25" name="Shape 22"/>
          <p:cNvSpPr/>
          <p:nvPr/>
        </p:nvSpPr>
        <p:spPr>
          <a:xfrm>
            <a:off x="4937760" y="1755648"/>
            <a:ext cx="6675120" cy="3977640"/>
          </a:xfrm>
          <a:prstGeom prst="rect">
            <a:avLst/>
          </a:prstGeom>
          <a:solidFill>
            <a:srgbClr val="27161A"/>
          </a:solidFill>
          <a:ln w="12700">
            <a:solidFill>
              <a:srgbClr val="27161A"/>
            </a:solidFill>
            <a:prstDash val="solid"/>
          </a:ln>
        </p:spPr>
      </p:sp>
      <p:sp>
        <p:nvSpPr>
          <p:cNvPr id="26" name="Text 23"/>
          <p:cNvSpPr/>
          <p:nvPr/>
        </p:nvSpPr>
        <p:spPr>
          <a:xfrm>
            <a:off x="5166360" y="1892808"/>
            <a:ext cx="621792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TOTAL POIN EROPA 2000–09  ·  TABLE 6.2</a:t>
            </a:r>
            <a:endParaRPr lang="en-US" sz="850" dirty="0"/>
          </a:p>
        </p:txBody>
      </p:sp>
      <p:sp>
        <p:nvSpPr>
          <p:cNvPr id="27" name="Text 24"/>
          <p:cNvSpPr/>
          <p:nvPr/>
        </p:nvSpPr>
        <p:spPr>
          <a:xfrm>
            <a:off x="5166360" y="2272741"/>
            <a:ext cx="1143000" cy="291694"/>
          </a:xfrm>
          <a:prstGeom prst="rect">
            <a:avLst/>
          </a:prstGeom>
          <a:noFill/>
          <a:ln/>
        </p:spPr>
        <p:txBody>
          <a:bodyPr wrap="square" lIns="0" tIns="0" rIns="0" bIns="0" rtlCol="0" anchor="ctr"/>
          <a:lstStyle/>
          <a:p>
            <a:pPr marL="0" indent="0" algn="r">
              <a:buNone/>
            </a:pPr>
            <a:r>
              <a:rPr lang="en-US" sz="900" dirty="0">
                <a:solidFill>
                  <a:srgbClr val="FFFFFF"/>
                </a:solidFill>
                <a:latin typeface="Poppins SemiBold" pitchFamily="34" charset="0"/>
                <a:ea typeface="Poppins SemiBold" pitchFamily="34" charset="-122"/>
                <a:cs typeface="Poppins SemiBold" pitchFamily="34" charset="-120"/>
              </a:rPr>
              <a:t>Man United</a:t>
            </a:r>
            <a:endParaRPr lang="en-US" sz="900" dirty="0"/>
          </a:p>
        </p:txBody>
      </p:sp>
      <p:sp>
        <p:nvSpPr>
          <p:cNvPr id="28" name="Shape 25"/>
          <p:cNvSpPr/>
          <p:nvPr/>
        </p:nvSpPr>
        <p:spPr>
          <a:xfrm>
            <a:off x="6446520" y="2291029"/>
            <a:ext cx="4160520" cy="255118"/>
          </a:xfrm>
          <a:prstGeom prst="rect">
            <a:avLst/>
          </a:prstGeom>
          <a:solidFill>
            <a:srgbClr val="C8102E"/>
          </a:solidFill>
          <a:ln w="12700">
            <a:solidFill>
              <a:srgbClr val="C8102E"/>
            </a:solidFill>
            <a:prstDash val="solid"/>
          </a:ln>
        </p:spPr>
      </p:sp>
      <p:sp>
        <p:nvSpPr>
          <p:cNvPr id="29" name="Text 26"/>
          <p:cNvSpPr/>
          <p:nvPr/>
        </p:nvSpPr>
        <p:spPr>
          <a:xfrm>
            <a:off x="10680192" y="2272741"/>
            <a:ext cx="685800" cy="291694"/>
          </a:xfrm>
          <a:prstGeom prst="rect">
            <a:avLst/>
          </a:prstGeom>
          <a:noFill/>
          <a:ln/>
        </p:spPr>
        <p:txBody>
          <a:bodyPr wrap="square" lIns="0" tIns="0" rIns="0" bIns="0" rtlCol="0" anchor="ctr"/>
          <a:lstStyle/>
          <a:p>
            <a:pPr marL="0" indent="0" algn="l">
              <a:buNone/>
            </a:pPr>
            <a:r>
              <a:rPr lang="en-US" sz="900" dirty="0">
                <a:solidFill>
                  <a:srgbClr val="FBE122"/>
                </a:solidFill>
                <a:latin typeface="Poppins SemiBold" pitchFamily="34" charset="0"/>
                <a:ea typeface="Poppins SemiBold" pitchFamily="34" charset="-122"/>
                <a:cs typeface="Poppins SemiBold" pitchFamily="34" charset="-120"/>
              </a:rPr>
              <a:t>1.460</a:t>
            </a:r>
            <a:endParaRPr lang="en-US" sz="900" dirty="0"/>
          </a:p>
        </p:txBody>
      </p:sp>
      <p:sp>
        <p:nvSpPr>
          <p:cNvPr id="30" name="Text 27"/>
          <p:cNvSpPr/>
          <p:nvPr/>
        </p:nvSpPr>
        <p:spPr>
          <a:xfrm>
            <a:off x="5166360" y="2684221"/>
            <a:ext cx="1143000" cy="291694"/>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Barcelona</a:t>
            </a:r>
            <a:endParaRPr lang="en-US" sz="900" dirty="0"/>
          </a:p>
        </p:txBody>
      </p:sp>
      <p:sp>
        <p:nvSpPr>
          <p:cNvPr id="31" name="Shape 28"/>
          <p:cNvSpPr/>
          <p:nvPr/>
        </p:nvSpPr>
        <p:spPr>
          <a:xfrm>
            <a:off x="6446520" y="2702509"/>
            <a:ext cx="4020886" cy="255118"/>
          </a:xfrm>
          <a:prstGeom prst="rect">
            <a:avLst/>
          </a:prstGeom>
          <a:solidFill>
            <a:srgbClr val="46292D"/>
          </a:solidFill>
          <a:ln w="12700">
            <a:solidFill>
              <a:srgbClr val="46292D"/>
            </a:solidFill>
            <a:prstDash val="solid"/>
          </a:ln>
        </p:spPr>
      </p:sp>
      <p:sp>
        <p:nvSpPr>
          <p:cNvPr id="32" name="Text 29"/>
          <p:cNvSpPr/>
          <p:nvPr/>
        </p:nvSpPr>
        <p:spPr>
          <a:xfrm>
            <a:off x="10540558" y="2684221"/>
            <a:ext cx="685800" cy="291694"/>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1.411</a:t>
            </a:r>
            <a:endParaRPr lang="en-US" sz="900" dirty="0"/>
          </a:p>
        </p:txBody>
      </p:sp>
      <p:sp>
        <p:nvSpPr>
          <p:cNvPr id="33" name="Text 30"/>
          <p:cNvSpPr/>
          <p:nvPr/>
        </p:nvSpPr>
        <p:spPr>
          <a:xfrm>
            <a:off x="5166360" y="3095701"/>
            <a:ext cx="1143000" cy="291694"/>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Real Madrid</a:t>
            </a:r>
            <a:endParaRPr lang="en-US" sz="900" dirty="0"/>
          </a:p>
        </p:txBody>
      </p:sp>
      <p:sp>
        <p:nvSpPr>
          <p:cNvPr id="34" name="Shape 31"/>
          <p:cNvSpPr/>
          <p:nvPr/>
        </p:nvSpPr>
        <p:spPr>
          <a:xfrm>
            <a:off x="6446520" y="3113989"/>
            <a:ext cx="3744468" cy="255118"/>
          </a:xfrm>
          <a:prstGeom prst="rect">
            <a:avLst/>
          </a:prstGeom>
          <a:solidFill>
            <a:srgbClr val="46292D"/>
          </a:solidFill>
          <a:ln w="12700">
            <a:solidFill>
              <a:srgbClr val="46292D"/>
            </a:solidFill>
            <a:prstDash val="solid"/>
          </a:ln>
        </p:spPr>
      </p:sp>
      <p:sp>
        <p:nvSpPr>
          <p:cNvPr id="35" name="Text 32"/>
          <p:cNvSpPr/>
          <p:nvPr/>
        </p:nvSpPr>
        <p:spPr>
          <a:xfrm>
            <a:off x="10264140" y="3095701"/>
            <a:ext cx="685800" cy="291694"/>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1.314</a:t>
            </a:r>
            <a:endParaRPr lang="en-US" sz="900" dirty="0"/>
          </a:p>
        </p:txBody>
      </p:sp>
      <p:sp>
        <p:nvSpPr>
          <p:cNvPr id="36" name="Text 33"/>
          <p:cNvSpPr/>
          <p:nvPr/>
        </p:nvSpPr>
        <p:spPr>
          <a:xfrm>
            <a:off x="5166360" y="3507181"/>
            <a:ext cx="1143000" cy="291694"/>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Bayern</a:t>
            </a:r>
            <a:endParaRPr lang="en-US" sz="900" dirty="0"/>
          </a:p>
        </p:txBody>
      </p:sp>
      <p:sp>
        <p:nvSpPr>
          <p:cNvPr id="37" name="Shape 34"/>
          <p:cNvSpPr/>
          <p:nvPr/>
        </p:nvSpPr>
        <p:spPr>
          <a:xfrm>
            <a:off x="6446520" y="3525469"/>
            <a:ext cx="3744468" cy="255118"/>
          </a:xfrm>
          <a:prstGeom prst="rect">
            <a:avLst/>
          </a:prstGeom>
          <a:solidFill>
            <a:srgbClr val="46292D"/>
          </a:solidFill>
          <a:ln w="12700">
            <a:solidFill>
              <a:srgbClr val="46292D"/>
            </a:solidFill>
            <a:prstDash val="solid"/>
          </a:ln>
        </p:spPr>
      </p:sp>
      <p:sp>
        <p:nvSpPr>
          <p:cNvPr id="38" name="Text 35"/>
          <p:cNvSpPr/>
          <p:nvPr/>
        </p:nvSpPr>
        <p:spPr>
          <a:xfrm>
            <a:off x="10264140" y="3507181"/>
            <a:ext cx="685800" cy="291694"/>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1.314</a:t>
            </a:r>
            <a:endParaRPr lang="en-US" sz="900" dirty="0"/>
          </a:p>
        </p:txBody>
      </p:sp>
      <p:sp>
        <p:nvSpPr>
          <p:cNvPr id="39" name="Text 36"/>
          <p:cNvSpPr/>
          <p:nvPr/>
        </p:nvSpPr>
        <p:spPr>
          <a:xfrm>
            <a:off x="5166360" y="3918661"/>
            <a:ext cx="1143000" cy="291694"/>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Arsenal</a:t>
            </a:r>
            <a:endParaRPr lang="en-US" sz="900" dirty="0"/>
          </a:p>
        </p:txBody>
      </p:sp>
      <p:sp>
        <p:nvSpPr>
          <p:cNvPr id="40" name="Shape 37"/>
          <p:cNvSpPr/>
          <p:nvPr/>
        </p:nvSpPr>
        <p:spPr>
          <a:xfrm>
            <a:off x="6446520" y="3936949"/>
            <a:ext cx="3733069" cy="255118"/>
          </a:xfrm>
          <a:prstGeom prst="rect">
            <a:avLst/>
          </a:prstGeom>
          <a:solidFill>
            <a:srgbClr val="46292D"/>
          </a:solidFill>
          <a:ln w="12700">
            <a:solidFill>
              <a:srgbClr val="46292D"/>
            </a:solidFill>
            <a:prstDash val="solid"/>
          </a:ln>
        </p:spPr>
      </p:sp>
      <p:sp>
        <p:nvSpPr>
          <p:cNvPr id="41" name="Text 38"/>
          <p:cNvSpPr/>
          <p:nvPr/>
        </p:nvSpPr>
        <p:spPr>
          <a:xfrm>
            <a:off x="10252741" y="3918661"/>
            <a:ext cx="685800" cy="291694"/>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1.310</a:t>
            </a:r>
            <a:endParaRPr lang="en-US" sz="900" dirty="0"/>
          </a:p>
        </p:txBody>
      </p:sp>
      <p:sp>
        <p:nvSpPr>
          <p:cNvPr id="42" name="Text 39"/>
          <p:cNvSpPr/>
          <p:nvPr/>
        </p:nvSpPr>
        <p:spPr>
          <a:xfrm>
            <a:off x="5166360" y="4330141"/>
            <a:ext cx="1143000" cy="291694"/>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Chelsea</a:t>
            </a:r>
            <a:endParaRPr lang="en-US" sz="900" dirty="0"/>
          </a:p>
        </p:txBody>
      </p:sp>
      <p:sp>
        <p:nvSpPr>
          <p:cNvPr id="43" name="Shape 40"/>
          <p:cNvSpPr/>
          <p:nvPr/>
        </p:nvSpPr>
        <p:spPr>
          <a:xfrm>
            <a:off x="6446520" y="4348429"/>
            <a:ext cx="3636180" cy="255118"/>
          </a:xfrm>
          <a:prstGeom prst="rect">
            <a:avLst/>
          </a:prstGeom>
          <a:solidFill>
            <a:srgbClr val="46292D"/>
          </a:solidFill>
          <a:ln w="12700">
            <a:solidFill>
              <a:srgbClr val="46292D"/>
            </a:solidFill>
            <a:prstDash val="solid"/>
          </a:ln>
        </p:spPr>
      </p:sp>
      <p:sp>
        <p:nvSpPr>
          <p:cNvPr id="44" name="Text 41"/>
          <p:cNvSpPr/>
          <p:nvPr/>
        </p:nvSpPr>
        <p:spPr>
          <a:xfrm>
            <a:off x="10155852" y="4330141"/>
            <a:ext cx="685800" cy="291694"/>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1.276</a:t>
            </a:r>
            <a:endParaRPr lang="en-US" sz="900" dirty="0"/>
          </a:p>
        </p:txBody>
      </p:sp>
      <p:sp>
        <p:nvSpPr>
          <p:cNvPr id="45" name="Shape 42"/>
          <p:cNvSpPr/>
          <p:nvPr/>
        </p:nvSpPr>
        <p:spPr>
          <a:xfrm>
            <a:off x="6446520" y="2212848"/>
            <a:ext cx="9144" cy="2468880"/>
          </a:xfrm>
          <a:prstGeom prst="rect">
            <a:avLst/>
          </a:prstGeom>
          <a:solidFill>
            <a:srgbClr val="A08F8B"/>
          </a:solidFill>
          <a:ln w="12700">
            <a:solidFill>
              <a:srgbClr val="A08F8B"/>
            </a:solidFill>
            <a:prstDash val="solid"/>
          </a:ln>
        </p:spPr>
      </p:sp>
      <p:sp>
        <p:nvSpPr>
          <p:cNvPr id="46" name="Text 43"/>
          <p:cNvSpPr/>
          <p:nvPr/>
        </p:nvSpPr>
        <p:spPr>
          <a:xfrm>
            <a:off x="5166360" y="4818888"/>
            <a:ext cx="6217920" cy="82296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Di antara enam klub ini, skuad MU paling besar (34 pemain) dan termuda kedua (25,6 tahun) setelah Arsenal (Table 6.7). Cocok dengan strategi memadukan pemain muda dan pemain berpengalaman (hlm. 583).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79476"/>
            <a:ext cx="10728655" cy="128016"/>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1  ·  DITERAPKAN</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DI KEUANGAN: PALING UNTUNG DI ANTARA KLUB BESAR</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Indikator pertama Thompson: apakah kekuatan keuangan dan laba MU membaik? Appendix kasus menjawabnya.</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 Appendix hlm. 589, Table 6.5 dan 6.6.</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22</a:t>
            </a:r>
            <a:endParaRPr lang="en-US" sz="900" dirty="0"/>
          </a:p>
        </p:txBody>
      </p:sp>
      <p:sp>
        <p:nvSpPr>
          <p:cNvPr id="10" name="Shape 7"/>
          <p:cNvSpPr/>
          <p:nvPr/>
        </p:nvSpPr>
        <p:spPr>
          <a:xfrm>
            <a:off x="548640" y="1755648"/>
            <a:ext cx="6766560" cy="3246120"/>
          </a:xfrm>
          <a:prstGeom prst="rect">
            <a:avLst/>
          </a:prstGeom>
          <a:solidFill>
            <a:srgbClr val="27161A"/>
          </a:solidFill>
          <a:ln w="12700">
            <a:solidFill>
              <a:srgbClr val="27161A"/>
            </a:solidFill>
            <a:prstDash val="solid"/>
          </a:ln>
        </p:spPr>
      </p:sp>
      <p:sp>
        <p:nvSpPr>
          <p:cNvPr id="11" name="Text 8"/>
          <p:cNvSpPr/>
          <p:nvPr/>
        </p:nvSpPr>
        <p:spPr>
          <a:xfrm>
            <a:off x="777240" y="1892808"/>
            <a:ext cx="630936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PENDAPATAN MU, £ JUTA  ·  NAIK 53% DARI 2006 KE 2008</a:t>
            </a:r>
            <a:endParaRPr lang="en-US" sz="850" dirty="0"/>
          </a:p>
        </p:txBody>
      </p:sp>
      <p:sp>
        <p:nvSpPr>
          <p:cNvPr id="12" name="Shape 9"/>
          <p:cNvSpPr/>
          <p:nvPr/>
        </p:nvSpPr>
        <p:spPr>
          <a:xfrm>
            <a:off x="910438" y="3357128"/>
            <a:ext cx="434645" cy="730240"/>
          </a:xfrm>
          <a:prstGeom prst="rect">
            <a:avLst/>
          </a:prstGeom>
          <a:solidFill>
            <a:srgbClr val="46292D"/>
          </a:solidFill>
          <a:ln w="12700">
            <a:solidFill>
              <a:srgbClr val="46292D"/>
            </a:solidFill>
            <a:prstDash val="solid"/>
          </a:ln>
        </p:spPr>
      </p:sp>
      <p:sp>
        <p:nvSpPr>
          <p:cNvPr id="13" name="Text 10"/>
          <p:cNvSpPr/>
          <p:nvPr/>
        </p:nvSpPr>
        <p:spPr>
          <a:xfrm>
            <a:off x="727558" y="3101096"/>
            <a:ext cx="800405" cy="256032"/>
          </a:xfrm>
          <a:prstGeom prst="rect">
            <a:avLst/>
          </a:prstGeom>
          <a:noFill/>
          <a:ln/>
        </p:spPr>
        <p:txBody>
          <a:bodyPr wrap="square" lIns="0" tIns="0" rIns="0" bIns="0" rtlCol="0" anchor="b"/>
          <a:lstStyle/>
          <a:p>
            <a:pPr marL="0" indent="0" algn="ctr">
              <a:buNone/>
            </a:pPr>
            <a:r>
              <a:rPr lang="en-US" sz="850" dirty="0">
                <a:solidFill>
                  <a:srgbClr val="D9CFC7"/>
                </a:solidFill>
                <a:latin typeface="Poppins SemiBold" pitchFamily="34" charset="0"/>
                <a:ea typeface="Poppins SemiBold" pitchFamily="34" charset="-122"/>
                <a:cs typeface="Poppins SemiBold" pitchFamily="34" charset="-120"/>
              </a:rPr>
              <a:t>116,0</a:t>
            </a:r>
            <a:endParaRPr lang="en-US" sz="850" dirty="0"/>
          </a:p>
        </p:txBody>
      </p:sp>
      <p:sp>
        <p:nvSpPr>
          <p:cNvPr id="14" name="Text 11"/>
          <p:cNvSpPr/>
          <p:nvPr/>
        </p:nvSpPr>
        <p:spPr>
          <a:xfrm>
            <a:off x="727558" y="4133088"/>
            <a:ext cx="800405" cy="274320"/>
          </a:xfrm>
          <a:prstGeom prst="rect">
            <a:avLst/>
          </a:prstGeom>
          <a:noFill/>
          <a:ln/>
        </p:spPr>
        <p:txBody>
          <a:bodyPr wrap="square" lIns="0" tIns="0" rIns="0" bIns="0" rtlCol="0" anchor="t"/>
          <a:lstStyle/>
          <a:p>
            <a:pPr marL="0" indent="0" algn="ctr">
              <a:buNone/>
            </a:pPr>
            <a:r>
              <a:rPr lang="en-US" sz="850" dirty="0">
                <a:solidFill>
                  <a:srgbClr val="D9CFC7"/>
                </a:solidFill>
                <a:latin typeface="Poppins" pitchFamily="34" charset="0"/>
                <a:ea typeface="Poppins" pitchFamily="34" charset="-122"/>
                <a:cs typeface="Poppins" pitchFamily="34" charset="-120"/>
              </a:rPr>
              <a:t>2000</a:t>
            </a:r>
            <a:endParaRPr lang="en-US" sz="850" dirty="0"/>
          </a:p>
        </p:txBody>
      </p:sp>
      <p:sp>
        <p:nvSpPr>
          <p:cNvPr id="15" name="Shape 12"/>
          <p:cNvSpPr/>
          <p:nvPr/>
        </p:nvSpPr>
        <p:spPr>
          <a:xfrm>
            <a:off x="1611478" y="3271514"/>
            <a:ext cx="434645" cy="815854"/>
          </a:xfrm>
          <a:prstGeom prst="rect">
            <a:avLst/>
          </a:prstGeom>
          <a:solidFill>
            <a:srgbClr val="46292D"/>
          </a:solidFill>
          <a:ln w="12700">
            <a:solidFill>
              <a:srgbClr val="46292D"/>
            </a:solidFill>
            <a:prstDash val="solid"/>
          </a:ln>
        </p:spPr>
      </p:sp>
      <p:sp>
        <p:nvSpPr>
          <p:cNvPr id="16" name="Text 13"/>
          <p:cNvSpPr/>
          <p:nvPr/>
        </p:nvSpPr>
        <p:spPr>
          <a:xfrm>
            <a:off x="1428598" y="3015482"/>
            <a:ext cx="800405" cy="256032"/>
          </a:xfrm>
          <a:prstGeom prst="rect">
            <a:avLst/>
          </a:prstGeom>
          <a:noFill/>
          <a:ln/>
        </p:spPr>
        <p:txBody>
          <a:bodyPr wrap="square" lIns="0" tIns="0" rIns="0" bIns="0" rtlCol="0" anchor="b"/>
          <a:lstStyle/>
          <a:p>
            <a:pPr marL="0" indent="0" algn="ctr">
              <a:buNone/>
            </a:pPr>
            <a:r>
              <a:rPr lang="en-US" sz="850" dirty="0">
                <a:solidFill>
                  <a:srgbClr val="D9CFC7"/>
                </a:solidFill>
                <a:latin typeface="Poppins SemiBold" pitchFamily="34" charset="0"/>
                <a:ea typeface="Poppins SemiBold" pitchFamily="34" charset="-122"/>
                <a:cs typeface="Poppins SemiBold" pitchFamily="34" charset="-120"/>
              </a:rPr>
              <a:t>129,6</a:t>
            </a:r>
            <a:endParaRPr lang="en-US" sz="850" dirty="0"/>
          </a:p>
        </p:txBody>
      </p:sp>
      <p:sp>
        <p:nvSpPr>
          <p:cNvPr id="17" name="Text 14"/>
          <p:cNvSpPr/>
          <p:nvPr/>
        </p:nvSpPr>
        <p:spPr>
          <a:xfrm>
            <a:off x="1428598" y="4133088"/>
            <a:ext cx="800405" cy="274320"/>
          </a:xfrm>
          <a:prstGeom prst="rect">
            <a:avLst/>
          </a:prstGeom>
          <a:noFill/>
          <a:ln/>
        </p:spPr>
        <p:txBody>
          <a:bodyPr wrap="square" lIns="0" tIns="0" rIns="0" bIns="0" rtlCol="0" anchor="t"/>
          <a:lstStyle/>
          <a:p>
            <a:pPr marL="0" indent="0" algn="ctr">
              <a:buNone/>
            </a:pPr>
            <a:r>
              <a:rPr lang="en-US" sz="850" dirty="0">
                <a:solidFill>
                  <a:srgbClr val="D9CFC7"/>
                </a:solidFill>
                <a:latin typeface="Poppins" pitchFamily="34" charset="0"/>
                <a:ea typeface="Poppins" pitchFamily="34" charset="-122"/>
                <a:cs typeface="Poppins" pitchFamily="34" charset="-120"/>
              </a:rPr>
              <a:t>2001</a:t>
            </a:r>
            <a:endParaRPr lang="en-US" sz="850" dirty="0"/>
          </a:p>
        </p:txBody>
      </p:sp>
      <p:sp>
        <p:nvSpPr>
          <p:cNvPr id="18" name="Shape 15"/>
          <p:cNvSpPr/>
          <p:nvPr/>
        </p:nvSpPr>
        <p:spPr>
          <a:xfrm>
            <a:off x="2312518" y="3167644"/>
            <a:ext cx="434645" cy="919724"/>
          </a:xfrm>
          <a:prstGeom prst="rect">
            <a:avLst/>
          </a:prstGeom>
          <a:solidFill>
            <a:srgbClr val="46292D"/>
          </a:solidFill>
          <a:ln w="12700">
            <a:solidFill>
              <a:srgbClr val="46292D"/>
            </a:solidFill>
            <a:prstDash val="solid"/>
          </a:ln>
        </p:spPr>
      </p:sp>
      <p:sp>
        <p:nvSpPr>
          <p:cNvPr id="19" name="Text 16"/>
          <p:cNvSpPr/>
          <p:nvPr/>
        </p:nvSpPr>
        <p:spPr>
          <a:xfrm>
            <a:off x="2129638" y="2911612"/>
            <a:ext cx="800405" cy="256032"/>
          </a:xfrm>
          <a:prstGeom prst="rect">
            <a:avLst/>
          </a:prstGeom>
          <a:noFill/>
          <a:ln/>
        </p:spPr>
        <p:txBody>
          <a:bodyPr wrap="square" lIns="0" tIns="0" rIns="0" bIns="0" rtlCol="0" anchor="b"/>
          <a:lstStyle/>
          <a:p>
            <a:pPr marL="0" indent="0" algn="ctr">
              <a:buNone/>
            </a:pPr>
            <a:r>
              <a:rPr lang="en-US" sz="850" dirty="0">
                <a:solidFill>
                  <a:srgbClr val="D9CFC7"/>
                </a:solidFill>
                <a:latin typeface="Poppins SemiBold" pitchFamily="34" charset="0"/>
                <a:ea typeface="Poppins SemiBold" pitchFamily="34" charset="-122"/>
                <a:cs typeface="Poppins SemiBold" pitchFamily="34" charset="-120"/>
              </a:rPr>
              <a:t>146,1</a:t>
            </a:r>
            <a:endParaRPr lang="en-US" sz="850" dirty="0"/>
          </a:p>
        </p:txBody>
      </p:sp>
      <p:sp>
        <p:nvSpPr>
          <p:cNvPr id="20" name="Text 17"/>
          <p:cNvSpPr/>
          <p:nvPr/>
        </p:nvSpPr>
        <p:spPr>
          <a:xfrm>
            <a:off x="2129638" y="4133088"/>
            <a:ext cx="800405" cy="274320"/>
          </a:xfrm>
          <a:prstGeom prst="rect">
            <a:avLst/>
          </a:prstGeom>
          <a:noFill/>
          <a:ln/>
        </p:spPr>
        <p:txBody>
          <a:bodyPr wrap="square" lIns="0" tIns="0" rIns="0" bIns="0" rtlCol="0" anchor="t"/>
          <a:lstStyle/>
          <a:p>
            <a:pPr marL="0" indent="0" algn="ctr">
              <a:buNone/>
            </a:pPr>
            <a:r>
              <a:rPr lang="en-US" sz="850" dirty="0">
                <a:solidFill>
                  <a:srgbClr val="D9CFC7"/>
                </a:solidFill>
                <a:latin typeface="Poppins" pitchFamily="34" charset="0"/>
                <a:ea typeface="Poppins" pitchFamily="34" charset="-122"/>
                <a:cs typeface="Poppins" pitchFamily="34" charset="-120"/>
              </a:rPr>
              <a:t>2002</a:t>
            </a:r>
            <a:endParaRPr lang="en-US" sz="850" dirty="0"/>
          </a:p>
        </p:txBody>
      </p:sp>
      <p:sp>
        <p:nvSpPr>
          <p:cNvPr id="21" name="Shape 18"/>
          <p:cNvSpPr/>
          <p:nvPr/>
        </p:nvSpPr>
        <p:spPr>
          <a:xfrm>
            <a:off x="3013558" y="2998304"/>
            <a:ext cx="434645" cy="1089064"/>
          </a:xfrm>
          <a:prstGeom prst="rect">
            <a:avLst/>
          </a:prstGeom>
          <a:solidFill>
            <a:srgbClr val="46292D"/>
          </a:solidFill>
          <a:ln w="12700">
            <a:solidFill>
              <a:srgbClr val="46292D"/>
            </a:solidFill>
            <a:prstDash val="solid"/>
          </a:ln>
        </p:spPr>
      </p:sp>
      <p:sp>
        <p:nvSpPr>
          <p:cNvPr id="22" name="Text 19"/>
          <p:cNvSpPr/>
          <p:nvPr/>
        </p:nvSpPr>
        <p:spPr>
          <a:xfrm>
            <a:off x="2830678" y="2742272"/>
            <a:ext cx="800405" cy="256032"/>
          </a:xfrm>
          <a:prstGeom prst="rect">
            <a:avLst/>
          </a:prstGeom>
          <a:noFill/>
          <a:ln/>
        </p:spPr>
        <p:txBody>
          <a:bodyPr wrap="square" lIns="0" tIns="0" rIns="0" bIns="0" rtlCol="0" anchor="b"/>
          <a:lstStyle/>
          <a:p>
            <a:pPr marL="0" indent="0" algn="ctr">
              <a:buNone/>
            </a:pPr>
            <a:r>
              <a:rPr lang="en-US" sz="850" dirty="0">
                <a:solidFill>
                  <a:srgbClr val="D9CFC7"/>
                </a:solidFill>
                <a:latin typeface="Poppins SemiBold" pitchFamily="34" charset="0"/>
                <a:ea typeface="Poppins SemiBold" pitchFamily="34" charset="-122"/>
                <a:cs typeface="Poppins SemiBold" pitchFamily="34" charset="-120"/>
              </a:rPr>
              <a:t>173,0</a:t>
            </a:r>
            <a:endParaRPr lang="en-US" sz="850" dirty="0"/>
          </a:p>
        </p:txBody>
      </p:sp>
      <p:sp>
        <p:nvSpPr>
          <p:cNvPr id="23" name="Text 20"/>
          <p:cNvSpPr/>
          <p:nvPr/>
        </p:nvSpPr>
        <p:spPr>
          <a:xfrm>
            <a:off x="2830678" y="4133088"/>
            <a:ext cx="800405" cy="274320"/>
          </a:xfrm>
          <a:prstGeom prst="rect">
            <a:avLst/>
          </a:prstGeom>
          <a:noFill/>
          <a:ln/>
        </p:spPr>
        <p:txBody>
          <a:bodyPr wrap="square" lIns="0" tIns="0" rIns="0" bIns="0" rtlCol="0" anchor="t"/>
          <a:lstStyle/>
          <a:p>
            <a:pPr marL="0" indent="0" algn="ctr">
              <a:buNone/>
            </a:pPr>
            <a:r>
              <a:rPr lang="en-US" sz="850" dirty="0">
                <a:solidFill>
                  <a:srgbClr val="D9CFC7"/>
                </a:solidFill>
                <a:latin typeface="Poppins" pitchFamily="34" charset="0"/>
                <a:ea typeface="Poppins" pitchFamily="34" charset="-122"/>
                <a:cs typeface="Poppins" pitchFamily="34" charset="-120"/>
              </a:rPr>
              <a:t>2003</a:t>
            </a:r>
            <a:endParaRPr lang="en-US" sz="850" dirty="0"/>
          </a:p>
        </p:txBody>
      </p:sp>
      <p:sp>
        <p:nvSpPr>
          <p:cNvPr id="24" name="Shape 21"/>
          <p:cNvSpPr/>
          <p:nvPr/>
        </p:nvSpPr>
        <p:spPr>
          <a:xfrm>
            <a:off x="3714598" y="3022855"/>
            <a:ext cx="434645" cy="1064513"/>
          </a:xfrm>
          <a:prstGeom prst="rect">
            <a:avLst/>
          </a:prstGeom>
          <a:solidFill>
            <a:srgbClr val="46292D"/>
          </a:solidFill>
          <a:ln w="12700">
            <a:solidFill>
              <a:srgbClr val="46292D"/>
            </a:solidFill>
            <a:prstDash val="solid"/>
          </a:ln>
        </p:spPr>
      </p:sp>
      <p:sp>
        <p:nvSpPr>
          <p:cNvPr id="25" name="Text 22"/>
          <p:cNvSpPr/>
          <p:nvPr/>
        </p:nvSpPr>
        <p:spPr>
          <a:xfrm>
            <a:off x="3531718" y="2766823"/>
            <a:ext cx="800405" cy="256032"/>
          </a:xfrm>
          <a:prstGeom prst="rect">
            <a:avLst/>
          </a:prstGeom>
          <a:noFill/>
          <a:ln/>
        </p:spPr>
        <p:txBody>
          <a:bodyPr wrap="square" lIns="0" tIns="0" rIns="0" bIns="0" rtlCol="0" anchor="b"/>
          <a:lstStyle/>
          <a:p>
            <a:pPr marL="0" indent="0" algn="ctr">
              <a:buNone/>
            </a:pPr>
            <a:r>
              <a:rPr lang="en-US" sz="850" dirty="0">
                <a:solidFill>
                  <a:srgbClr val="D9CFC7"/>
                </a:solidFill>
                <a:latin typeface="Poppins SemiBold" pitchFamily="34" charset="0"/>
                <a:ea typeface="Poppins SemiBold" pitchFamily="34" charset="-122"/>
                <a:cs typeface="Poppins SemiBold" pitchFamily="34" charset="-120"/>
              </a:rPr>
              <a:t>169,1</a:t>
            </a:r>
            <a:endParaRPr lang="en-US" sz="850" dirty="0"/>
          </a:p>
        </p:txBody>
      </p:sp>
      <p:sp>
        <p:nvSpPr>
          <p:cNvPr id="26" name="Text 23"/>
          <p:cNvSpPr/>
          <p:nvPr/>
        </p:nvSpPr>
        <p:spPr>
          <a:xfrm>
            <a:off x="3531718" y="4133088"/>
            <a:ext cx="800405" cy="274320"/>
          </a:xfrm>
          <a:prstGeom prst="rect">
            <a:avLst/>
          </a:prstGeom>
          <a:noFill/>
          <a:ln/>
        </p:spPr>
        <p:txBody>
          <a:bodyPr wrap="square" lIns="0" tIns="0" rIns="0" bIns="0" rtlCol="0" anchor="t"/>
          <a:lstStyle/>
          <a:p>
            <a:pPr marL="0" indent="0" algn="ctr">
              <a:buNone/>
            </a:pPr>
            <a:r>
              <a:rPr lang="en-US" sz="850" dirty="0">
                <a:solidFill>
                  <a:srgbClr val="D9CFC7"/>
                </a:solidFill>
                <a:latin typeface="Poppins" pitchFamily="34" charset="0"/>
                <a:ea typeface="Poppins" pitchFamily="34" charset="-122"/>
                <a:cs typeface="Poppins" pitchFamily="34" charset="-120"/>
              </a:rPr>
              <a:t>2004</a:t>
            </a:r>
            <a:endParaRPr lang="en-US" sz="850" dirty="0"/>
          </a:p>
        </p:txBody>
      </p:sp>
      <p:sp>
        <p:nvSpPr>
          <p:cNvPr id="27" name="Shape 24"/>
          <p:cNvSpPr/>
          <p:nvPr/>
        </p:nvSpPr>
        <p:spPr>
          <a:xfrm>
            <a:off x="4415638" y="3097767"/>
            <a:ext cx="434645" cy="989601"/>
          </a:xfrm>
          <a:prstGeom prst="rect">
            <a:avLst/>
          </a:prstGeom>
          <a:solidFill>
            <a:srgbClr val="46292D"/>
          </a:solidFill>
          <a:ln w="12700">
            <a:solidFill>
              <a:srgbClr val="46292D"/>
            </a:solidFill>
            <a:prstDash val="solid"/>
          </a:ln>
        </p:spPr>
      </p:sp>
      <p:sp>
        <p:nvSpPr>
          <p:cNvPr id="28" name="Text 25"/>
          <p:cNvSpPr/>
          <p:nvPr/>
        </p:nvSpPr>
        <p:spPr>
          <a:xfrm>
            <a:off x="4232758" y="2841735"/>
            <a:ext cx="800405" cy="256032"/>
          </a:xfrm>
          <a:prstGeom prst="rect">
            <a:avLst/>
          </a:prstGeom>
          <a:noFill/>
          <a:ln/>
        </p:spPr>
        <p:txBody>
          <a:bodyPr wrap="square" lIns="0" tIns="0" rIns="0" bIns="0" rtlCol="0" anchor="b"/>
          <a:lstStyle/>
          <a:p>
            <a:pPr marL="0" indent="0" algn="ctr">
              <a:buNone/>
            </a:pPr>
            <a:r>
              <a:rPr lang="en-US" sz="850" dirty="0">
                <a:solidFill>
                  <a:srgbClr val="D9CFC7"/>
                </a:solidFill>
                <a:latin typeface="Poppins SemiBold" pitchFamily="34" charset="0"/>
                <a:ea typeface="Poppins SemiBold" pitchFamily="34" charset="-122"/>
                <a:cs typeface="Poppins SemiBold" pitchFamily="34" charset="-120"/>
              </a:rPr>
              <a:t>157,2</a:t>
            </a:r>
            <a:endParaRPr lang="en-US" sz="850" dirty="0"/>
          </a:p>
        </p:txBody>
      </p:sp>
      <p:sp>
        <p:nvSpPr>
          <p:cNvPr id="29" name="Text 26"/>
          <p:cNvSpPr/>
          <p:nvPr/>
        </p:nvSpPr>
        <p:spPr>
          <a:xfrm>
            <a:off x="4232758" y="4133088"/>
            <a:ext cx="800405" cy="274320"/>
          </a:xfrm>
          <a:prstGeom prst="rect">
            <a:avLst/>
          </a:prstGeom>
          <a:noFill/>
          <a:ln/>
        </p:spPr>
        <p:txBody>
          <a:bodyPr wrap="square" lIns="0" tIns="0" rIns="0" bIns="0" rtlCol="0" anchor="t"/>
          <a:lstStyle/>
          <a:p>
            <a:pPr marL="0" indent="0" algn="ctr">
              <a:buNone/>
            </a:pPr>
            <a:r>
              <a:rPr lang="en-US" sz="850" dirty="0">
                <a:solidFill>
                  <a:srgbClr val="D9CFC7"/>
                </a:solidFill>
                <a:latin typeface="Poppins" pitchFamily="34" charset="0"/>
                <a:ea typeface="Poppins" pitchFamily="34" charset="-122"/>
                <a:cs typeface="Poppins" pitchFamily="34" charset="-120"/>
              </a:rPr>
              <a:t>2005</a:t>
            </a:r>
            <a:endParaRPr lang="en-US" sz="850" dirty="0"/>
          </a:p>
        </p:txBody>
      </p:sp>
      <p:sp>
        <p:nvSpPr>
          <p:cNvPr id="30" name="Shape 27"/>
          <p:cNvSpPr/>
          <p:nvPr/>
        </p:nvSpPr>
        <p:spPr>
          <a:xfrm>
            <a:off x="5116678" y="3031039"/>
            <a:ext cx="434645" cy="1056329"/>
          </a:xfrm>
          <a:prstGeom prst="rect">
            <a:avLst/>
          </a:prstGeom>
          <a:solidFill>
            <a:srgbClr val="46292D"/>
          </a:solidFill>
          <a:ln w="12700">
            <a:solidFill>
              <a:srgbClr val="46292D"/>
            </a:solidFill>
            <a:prstDash val="solid"/>
          </a:ln>
        </p:spPr>
      </p:sp>
      <p:sp>
        <p:nvSpPr>
          <p:cNvPr id="31" name="Text 28"/>
          <p:cNvSpPr/>
          <p:nvPr/>
        </p:nvSpPr>
        <p:spPr>
          <a:xfrm>
            <a:off x="4933798" y="2775007"/>
            <a:ext cx="800405" cy="256032"/>
          </a:xfrm>
          <a:prstGeom prst="rect">
            <a:avLst/>
          </a:prstGeom>
          <a:noFill/>
          <a:ln/>
        </p:spPr>
        <p:txBody>
          <a:bodyPr wrap="square" lIns="0" tIns="0" rIns="0" bIns="0" rtlCol="0" anchor="b"/>
          <a:lstStyle/>
          <a:p>
            <a:pPr marL="0" indent="0" algn="ctr">
              <a:buNone/>
            </a:pPr>
            <a:r>
              <a:rPr lang="en-US" sz="850" dirty="0">
                <a:solidFill>
                  <a:srgbClr val="D9CFC7"/>
                </a:solidFill>
                <a:latin typeface="Poppins SemiBold" pitchFamily="34" charset="0"/>
                <a:ea typeface="Poppins SemiBold" pitchFamily="34" charset="-122"/>
                <a:cs typeface="Poppins SemiBold" pitchFamily="34" charset="-120"/>
              </a:rPr>
              <a:t>167,8</a:t>
            </a:r>
            <a:endParaRPr lang="en-US" sz="850" dirty="0"/>
          </a:p>
        </p:txBody>
      </p:sp>
      <p:sp>
        <p:nvSpPr>
          <p:cNvPr id="32" name="Text 29"/>
          <p:cNvSpPr/>
          <p:nvPr/>
        </p:nvSpPr>
        <p:spPr>
          <a:xfrm>
            <a:off x="4933798" y="4133088"/>
            <a:ext cx="800405" cy="274320"/>
          </a:xfrm>
          <a:prstGeom prst="rect">
            <a:avLst/>
          </a:prstGeom>
          <a:noFill/>
          <a:ln/>
        </p:spPr>
        <p:txBody>
          <a:bodyPr wrap="square" lIns="0" tIns="0" rIns="0" bIns="0" rtlCol="0" anchor="t"/>
          <a:lstStyle/>
          <a:p>
            <a:pPr marL="0" indent="0" algn="ctr">
              <a:buNone/>
            </a:pPr>
            <a:r>
              <a:rPr lang="en-US" sz="850" dirty="0">
                <a:solidFill>
                  <a:srgbClr val="D9CFC7"/>
                </a:solidFill>
                <a:latin typeface="Poppins" pitchFamily="34" charset="0"/>
                <a:ea typeface="Poppins" pitchFamily="34" charset="-122"/>
                <a:cs typeface="Poppins" pitchFamily="34" charset="-120"/>
              </a:rPr>
              <a:t>2006</a:t>
            </a:r>
            <a:endParaRPr lang="en-US" sz="850" dirty="0"/>
          </a:p>
        </p:txBody>
      </p:sp>
      <p:sp>
        <p:nvSpPr>
          <p:cNvPr id="33" name="Shape 30"/>
          <p:cNvSpPr/>
          <p:nvPr/>
        </p:nvSpPr>
        <p:spPr>
          <a:xfrm>
            <a:off x="5817718" y="2751533"/>
            <a:ext cx="434645" cy="1335835"/>
          </a:xfrm>
          <a:prstGeom prst="rect">
            <a:avLst/>
          </a:prstGeom>
          <a:solidFill>
            <a:srgbClr val="C8102E"/>
          </a:solidFill>
          <a:ln w="12700">
            <a:solidFill>
              <a:srgbClr val="C8102E"/>
            </a:solidFill>
            <a:prstDash val="solid"/>
          </a:ln>
        </p:spPr>
      </p:sp>
      <p:sp>
        <p:nvSpPr>
          <p:cNvPr id="34" name="Text 31"/>
          <p:cNvSpPr/>
          <p:nvPr/>
        </p:nvSpPr>
        <p:spPr>
          <a:xfrm>
            <a:off x="5634838" y="2495501"/>
            <a:ext cx="800405" cy="256032"/>
          </a:xfrm>
          <a:prstGeom prst="rect">
            <a:avLst/>
          </a:prstGeom>
          <a:noFill/>
          <a:ln/>
        </p:spPr>
        <p:txBody>
          <a:bodyPr wrap="square" lIns="0" tIns="0" rIns="0" bIns="0" rtlCol="0" anchor="b"/>
          <a:lstStyle/>
          <a:p>
            <a:pPr marL="0" indent="0" algn="ctr">
              <a:buNone/>
            </a:pPr>
            <a:r>
              <a:rPr lang="en-US" sz="850" dirty="0">
                <a:solidFill>
                  <a:srgbClr val="FBE122"/>
                </a:solidFill>
                <a:latin typeface="Poppins SemiBold" pitchFamily="34" charset="0"/>
                <a:ea typeface="Poppins SemiBold" pitchFamily="34" charset="-122"/>
                <a:cs typeface="Poppins SemiBold" pitchFamily="34" charset="-120"/>
              </a:rPr>
              <a:t>212,2</a:t>
            </a:r>
            <a:endParaRPr lang="en-US" sz="850" dirty="0"/>
          </a:p>
        </p:txBody>
      </p:sp>
      <p:sp>
        <p:nvSpPr>
          <p:cNvPr id="35" name="Text 32"/>
          <p:cNvSpPr/>
          <p:nvPr/>
        </p:nvSpPr>
        <p:spPr>
          <a:xfrm>
            <a:off x="5634838" y="4133088"/>
            <a:ext cx="800405" cy="274320"/>
          </a:xfrm>
          <a:prstGeom prst="rect">
            <a:avLst/>
          </a:prstGeom>
          <a:noFill/>
          <a:ln/>
        </p:spPr>
        <p:txBody>
          <a:bodyPr wrap="square" lIns="0" tIns="0" rIns="0" bIns="0" rtlCol="0" anchor="t"/>
          <a:lstStyle/>
          <a:p>
            <a:pPr marL="0" indent="0" algn="ctr">
              <a:buNone/>
            </a:pPr>
            <a:r>
              <a:rPr lang="en-US" sz="850" dirty="0">
                <a:solidFill>
                  <a:srgbClr val="D9CFC7"/>
                </a:solidFill>
                <a:latin typeface="Poppins" pitchFamily="34" charset="0"/>
                <a:ea typeface="Poppins" pitchFamily="34" charset="-122"/>
                <a:cs typeface="Poppins" pitchFamily="34" charset="-120"/>
              </a:rPr>
              <a:t>2007</a:t>
            </a:r>
            <a:endParaRPr lang="en-US" sz="850" dirty="0"/>
          </a:p>
        </p:txBody>
      </p:sp>
      <p:sp>
        <p:nvSpPr>
          <p:cNvPr id="36" name="Shape 33"/>
          <p:cNvSpPr/>
          <p:nvPr/>
        </p:nvSpPr>
        <p:spPr>
          <a:xfrm>
            <a:off x="6518758" y="2468880"/>
            <a:ext cx="434645" cy="1618488"/>
          </a:xfrm>
          <a:prstGeom prst="rect">
            <a:avLst/>
          </a:prstGeom>
          <a:solidFill>
            <a:srgbClr val="C8102E"/>
          </a:solidFill>
          <a:ln w="12700">
            <a:solidFill>
              <a:srgbClr val="C8102E"/>
            </a:solidFill>
            <a:prstDash val="solid"/>
          </a:ln>
        </p:spPr>
      </p:sp>
      <p:sp>
        <p:nvSpPr>
          <p:cNvPr id="37" name="Text 34"/>
          <p:cNvSpPr/>
          <p:nvPr/>
        </p:nvSpPr>
        <p:spPr>
          <a:xfrm>
            <a:off x="6335878" y="2212848"/>
            <a:ext cx="800405" cy="256032"/>
          </a:xfrm>
          <a:prstGeom prst="rect">
            <a:avLst/>
          </a:prstGeom>
          <a:noFill/>
          <a:ln/>
        </p:spPr>
        <p:txBody>
          <a:bodyPr wrap="square" lIns="0" tIns="0" rIns="0" bIns="0" rtlCol="0" anchor="b"/>
          <a:lstStyle/>
          <a:p>
            <a:pPr marL="0" indent="0" algn="ctr">
              <a:buNone/>
            </a:pPr>
            <a:r>
              <a:rPr lang="en-US" sz="850" dirty="0">
                <a:solidFill>
                  <a:srgbClr val="FBE122"/>
                </a:solidFill>
                <a:latin typeface="Poppins SemiBold" pitchFamily="34" charset="0"/>
                <a:ea typeface="Poppins SemiBold" pitchFamily="34" charset="-122"/>
                <a:cs typeface="Poppins SemiBold" pitchFamily="34" charset="-120"/>
              </a:rPr>
              <a:t>257,1</a:t>
            </a:r>
            <a:endParaRPr lang="en-US" sz="850" dirty="0"/>
          </a:p>
        </p:txBody>
      </p:sp>
      <p:sp>
        <p:nvSpPr>
          <p:cNvPr id="38" name="Text 35"/>
          <p:cNvSpPr/>
          <p:nvPr/>
        </p:nvSpPr>
        <p:spPr>
          <a:xfrm>
            <a:off x="6335878" y="4133088"/>
            <a:ext cx="800405" cy="274320"/>
          </a:xfrm>
          <a:prstGeom prst="rect">
            <a:avLst/>
          </a:prstGeom>
          <a:noFill/>
          <a:ln/>
        </p:spPr>
        <p:txBody>
          <a:bodyPr wrap="square" lIns="0" tIns="0" rIns="0" bIns="0" rtlCol="0" anchor="t"/>
          <a:lstStyle/>
          <a:p>
            <a:pPr marL="0" indent="0" algn="ctr">
              <a:buNone/>
            </a:pPr>
            <a:r>
              <a:rPr lang="en-US" sz="850" dirty="0">
                <a:solidFill>
                  <a:srgbClr val="D9CFC7"/>
                </a:solidFill>
                <a:latin typeface="Poppins" pitchFamily="34" charset="0"/>
                <a:ea typeface="Poppins" pitchFamily="34" charset="-122"/>
                <a:cs typeface="Poppins" pitchFamily="34" charset="-120"/>
              </a:rPr>
              <a:t>2008</a:t>
            </a:r>
            <a:endParaRPr lang="en-US" sz="850" dirty="0"/>
          </a:p>
        </p:txBody>
      </p:sp>
      <p:sp>
        <p:nvSpPr>
          <p:cNvPr id="39" name="Shape 36"/>
          <p:cNvSpPr/>
          <p:nvPr/>
        </p:nvSpPr>
        <p:spPr>
          <a:xfrm>
            <a:off x="777240" y="4087368"/>
            <a:ext cx="6309360" cy="9144"/>
          </a:xfrm>
          <a:prstGeom prst="rect">
            <a:avLst/>
          </a:prstGeom>
          <a:solidFill>
            <a:srgbClr val="A08F8B"/>
          </a:solidFill>
          <a:ln w="12700">
            <a:solidFill>
              <a:srgbClr val="A08F8B"/>
            </a:solidFill>
            <a:prstDash val="solid"/>
          </a:ln>
        </p:spPr>
      </p:sp>
      <p:sp>
        <p:nvSpPr>
          <p:cNvPr id="40" name="Text 37"/>
          <p:cNvSpPr/>
          <p:nvPr/>
        </p:nvSpPr>
        <p:spPr>
          <a:xfrm>
            <a:off x="777240" y="4453128"/>
            <a:ext cx="6309360" cy="502920"/>
          </a:xfrm>
          <a:prstGeom prst="rect">
            <a:avLst/>
          </a:prstGeom>
          <a:noFill/>
          <a:ln/>
        </p:spPr>
        <p:txBody>
          <a:bodyPr wrap="square" lIns="0" tIns="0" rIns="0" bIns="0" rtlCol="0" anchor="t"/>
          <a:lstStyle/>
          <a:p>
            <a:pPr marL="0" indent="0">
              <a:lnSpc>
                <a:spcPct val="104000"/>
              </a:lnSpc>
              <a:buNone/>
            </a:pPr>
            <a:r>
              <a:rPr lang="en-US" sz="750" dirty="0">
                <a:solidFill>
                  <a:srgbClr val="A08F8B"/>
                </a:solidFill>
                <a:latin typeface="Poppins" pitchFamily="34" charset="0"/>
                <a:ea typeface="Poppins" pitchFamily="34" charset="-122"/>
                <a:cs typeface="Poppins" pitchFamily="34" charset="-120"/>
              </a:rPr>
              <a:t>Entitas: plc untuk 2000–2005, Limited untuk 2006–2008. Tahun buku 2000–04 sampai 31 Juli, 2005–08 sampai 30 Juni. Kasus: data 2000–04 tidak sebanding dengan 2005–08 karena perubahan akuntansi.</a:t>
            </a:r>
            <a:endParaRPr lang="en-US" sz="750" dirty="0"/>
          </a:p>
        </p:txBody>
      </p:sp>
      <p:sp>
        <p:nvSpPr>
          <p:cNvPr id="41" name="Text 38"/>
          <p:cNvSpPr/>
          <p:nvPr/>
        </p:nvSpPr>
        <p:spPr>
          <a:xfrm>
            <a:off x="7543800" y="1737360"/>
            <a:ext cx="4099255"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BUKTI PENDUKUNG</a:t>
            </a:r>
            <a:endParaRPr lang="en-US" sz="850" dirty="0"/>
          </a:p>
        </p:txBody>
      </p:sp>
      <p:sp>
        <p:nvSpPr>
          <p:cNvPr id="42" name="Shape 39"/>
          <p:cNvSpPr/>
          <p:nvPr/>
        </p:nvSpPr>
        <p:spPr>
          <a:xfrm>
            <a:off x="7543800" y="2029968"/>
            <a:ext cx="4099255" cy="676656"/>
          </a:xfrm>
          <a:prstGeom prst="rect">
            <a:avLst/>
          </a:prstGeom>
          <a:solidFill>
            <a:srgbClr val="27161A"/>
          </a:solidFill>
          <a:ln w="12700">
            <a:solidFill>
              <a:srgbClr val="27161A"/>
            </a:solidFill>
            <a:prstDash val="solid"/>
          </a:ln>
        </p:spPr>
      </p:sp>
      <p:sp>
        <p:nvSpPr>
          <p:cNvPr id="43" name="Text 40"/>
          <p:cNvSpPr/>
          <p:nvPr/>
        </p:nvSpPr>
        <p:spPr>
          <a:xfrm>
            <a:off x="7726680" y="2075688"/>
            <a:ext cx="1325880" cy="585216"/>
          </a:xfrm>
          <a:prstGeom prst="rect">
            <a:avLst/>
          </a:prstGeom>
          <a:noFill/>
          <a:ln/>
        </p:spPr>
        <p:txBody>
          <a:bodyPr wrap="square" lIns="0" tIns="0" rIns="0" bIns="0" rtlCol="0" anchor="ctr"/>
          <a:lstStyle/>
          <a:p>
            <a:pPr marL="0" indent="0">
              <a:buNone/>
            </a:pPr>
            <a:r>
              <a:rPr lang="en-US" sz="1400" dirty="0">
                <a:solidFill>
                  <a:srgbClr val="FBE122"/>
                </a:solidFill>
                <a:latin typeface="Poppins ExtraBold" pitchFamily="34" charset="0"/>
                <a:ea typeface="Poppins ExtraBold" pitchFamily="34" charset="-122"/>
                <a:cs typeface="Poppins ExtraBold" pitchFamily="34" charset="-120"/>
              </a:rPr>
              <a:t>×2,2</a:t>
            </a:r>
            <a:endParaRPr lang="en-US" sz="1400" dirty="0"/>
          </a:p>
        </p:txBody>
      </p:sp>
      <p:sp>
        <p:nvSpPr>
          <p:cNvPr id="44" name="Text 41"/>
          <p:cNvSpPr/>
          <p:nvPr/>
        </p:nvSpPr>
        <p:spPr>
          <a:xfrm>
            <a:off x="9098280" y="2075688"/>
            <a:ext cx="2407615" cy="585216"/>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Laba bersih naik dari £21,6 jt (2006) ke £46,8 jt (2008). Margin bersih 2008: 18,2%</a:t>
            </a:r>
            <a:endParaRPr lang="en-US" sz="850" dirty="0"/>
          </a:p>
        </p:txBody>
      </p:sp>
      <p:sp>
        <p:nvSpPr>
          <p:cNvPr id="45" name="Shape 42"/>
          <p:cNvSpPr/>
          <p:nvPr/>
        </p:nvSpPr>
        <p:spPr>
          <a:xfrm>
            <a:off x="7543800" y="2779776"/>
            <a:ext cx="4099255" cy="676656"/>
          </a:xfrm>
          <a:prstGeom prst="rect">
            <a:avLst/>
          </a:prstGeom>
          <a:solidFill>
            <a:srgbClr val="32191E"/>
          </a:solidFill>
          <a:ln w="12700">
            <a:solidFill>
              <a:srgbClr val="32191E"/>
            </a:solidFill>
            <a:prstDash val="solid"/>
          </a:ln>
        </p:spPr>
      </p:sp>
      <p:sp>
        <p:nvSpPr>
          <p:cNvPr id="46" name="Text 43"/>
          <p:cNvSpPr/>
          <p:nvPr/>
        </p:nvSpPr>
        <p:spPr>
          <a:xfrm>
            <a:off x="7726680" y="2825496"/>
            <a:ext cx="1325880" cy="585216"/>
          </a:xfrm>
          <a:prstGeom prst="rect">
            <a:avLst/>
          </a:prstGeom>
          <a:noFill/>
          <a:ln/>
        </p:spPr>
        <p:txBody>
          <a:bodyPr wrap="square" lIns="0" tIns="0" rIns="0" bIns="0" rtlCol="0" anchor="ctr"/>
          <a:lstStyle/>
          <a:p>
            <a:pPr marL="0" indent="0">
              <a:buNone/>
            </a:pPr>
            <a:r>
              <a:rPr lang="en-US" sz="1400" dirty="0">
                <a:solidFill>
                  <a:srgbClr val="FBE122"/>
                </a:solidFill>
                <a:latin typeface="Poppins ExtraBold" pitchFamily="34" charset="0"/>
                <a:ea typeface="Poppins ExtraBold" pitchFamily="34" charset="-122"/>
                <a:cs typeface="Poppins ExtraBold" pitchFamily="34" charset="-120"/>
              </a:rPr>
              <a:t>12,6%</a:t>
            </a:r>
            <a:endParaRPr lang="en-US" sz="1400" dirty="0"/>
          </a:p>
        </p:txBody>
      </p:sp>
      <p:sp>
        <p:nvSpPr>
          <p:cNvPr id="47" name="Text 44"/>
          <p:cNvSpPr/>
          <p:nvPr/>
        </p:nvSpPr>
        <p:spPr>
          <a:xfrm>
            <a:off x="9098280" y="2825496"/>
            <a:ext cx="2407615" cy="585216"/>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Return on sales 2000–2006 (Table 6.6), tertinggi dari 10 klub; Real Madrid hanya 0,4%</a:t>
            </a:r>
            <a:endParaRPr lang="en-US" sz="850" dirty="0"/>
          </a:p>
        </p:txBody>
      </p:sp>
      <p:sp>
        <p:nvSpPr>
          <p:cNvPr id="48" name="Shape 45"/>
          <p:cNvSpPr/>
          <p:nvPr/>
        </p:nvSpPr>
        <p:spPr>
          <a:xfrm>
            <a:off x="7543800" y="3529584"/>
            <a:ext cx="4099255" cy="676656"/>
          </a:xfrm>
          <a:prstGeom prst="rect">
            <a:avLst/>
          </a:prstGeom>
          <a:solidFill>
            <a:srgbClr val="27161A"/>
          </a:solidFill>
          <a:ln w="12700">
            <a:solidFill>
              <a:srgbClr val="27161A"/>
            </a:solidFill>
            <a:prstDash val="solid"/>
          </a:ln>
        </p:spPr>
      </p:sp>
      <p:sp>
        <p:nvSpPr>
          <p:cNvPr id="49" name="Text 46"/>
          <p:cNvSpPr/>
          <p:nvPr/>
        </p:nvSpPr>
        <p:spPr>
          <a:xfrm>
            <a:off x="7726680" y="3575304"/>
            <a:ext cx="1325880" cy="585216"/>
          </a:xfrm>
          <a:prstGeom prst="rect">
            <a:avLst/>
          </a:prstGeom>
          <a:noFill/>
          <a:ln/>
        </p:spPr>
        <p:txBody>
          <a:bodyPr wrap="square" lIns="0" tIns="0" rIns="0" bIns="0" rtlCol="0" anchor="ctr"/>
          <a:lstStyle/>
          <a:p>
            <a:pPr marL="0" indent="0">
              <a:buNone/>
            </a:pPr>
            <a:r>
              <a:rPr lang="en-US" sz="1400" dirty="0">
                <a:solidFill>
                  <a:srgbClr val="FBE122"/>
                </a:solidFill>
                <a:latin typeface="Poppins ExtraBold" pitchFamily="34" charset="0"/>
                <a:ea typeface="Poppins ExtraBold" pitchFamily="34" charset="-122"/>
                <a:cs typeface="Poppins ExtraBold" pitchFamily="34" charset="-120"/>
              </a:rPr>
              <a:t>€101,9 jt</a:t>
            </a:r>
            <a:endParaRPr lang="en-US" sz="1400" dirty="0"/>
          </a:p>
        </p:txBody>
      </p:sp>
      <p:sp>
        <p:nvSpPr>
          <p:cNvPr id="50" name="Text 47"/>
          <p:cNvSpPr/>
          <p:nvPr/>
        </p:nvSpPr>
        <p:spPr>
          <a:xfrm>
            <a:off x="9098280" y="3575304"/>
            <a:ext cx="2407615" cy="585216"/>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EBITDA tertinggi di Table 6.5 (data Forbes 2009). Margin 31,4% vs Barcelona 22,3%, Real Madrid 14,1%</a:t>
            </a:r>
            <a:endParaRPr lang="en-US" sz="850" dirty="0"/>
          </a:p>
        </p:txBody>
      </p:sp>
      <p:sp>
        <p:nvSpPr>
          <p:cNvPr id="51" name="Shape 48"/>
          <p:cNvSpPr/>
          <p:nvPr/>
        </p:nvSpPr>
        <p:spPr>
          <a:xfrm>
            <a:off x="7543800" y="4279392"/>
            <a:ext cx="4099255" cy="676656"/>
          </a:xfrm>
          <a:prstGeom prst="rect">
            <a:avLst/>
          </a:prstGeom>
          <a:solidFill>
            <a:srgbClr val="32191E"/>
          </a:solidFill>
          <a:ln w="12700">
            <a:solidFill>
              <a:srgbClr val="32191E"/>
            </a:solidFill>
            <a:prstDash val="solid"/>
          </a:ln>
        </p:spPr>
      </p:sp>
      <p:sp>
        <p:nvSpPr>
          <p:cNvPr id="52" name="Text 49"/>
          <p:cNvSpPr/>
          <p:nvPr/>
        </p:nvSpPr>
        <p:spPr>
          <a:xfrm>
            <a:off x="7726680" y="4325112"/>
            <a:ext cx="1325880" cy="585216"/>
          </a:xfrm>
          <a:prstGeom prst="rect">
            <a:avLst/>
          </a:prstGeom>
          <a:noFill/>
          <a:ln/>
        </p:spPr>
        <p:txBody>
          <a:bodyPr wrap="square" lIns="0" tIns="0" rIns="0" bIns="0" rtlCol="0" anchor="ctr"/>
          <a:lstStyle/>
          <a:p>
            <a:pPr marL="0" indent="0">
              <a:buNone/>
            </a:pPr>
            <a:r>
              <a:rPr lang="en-US" sz="1400" dirty="0">
                <a:solidFill>
                  <a:srgbClr val="FBE122"/>
                </a:solidFill>
                <a:latin typeface="Poppins ExtraBold" pitchFamily="34" charset="0"/>
                <a:ea typeface="Poppins ExtraBold" pitchFamily="34" charset="-122"/>
                <a:cs typeface="Poppins ExtraBold" pitchFamily="34" charset="-120"/>
              </a:rPr>
              <a:t>£1,14 M</a:t>
            </a:r>
            <a:endParaRPr lang="en-US" sz="1400" dirty="0"/>
          </a:p>
        </p:txBody>
      </p:sp>
      <p:sp>
        <p:nvSpPr>
          <p:cNvPr id="53" name="Text 50"/>
          <p:cNvSpPr/>
          <p:nvPr/>
        </p:nvSpPr>
        <p:spPr>
          <a:xfrm>
            <a:off x="9098280" y="4325112"/>
            <a:ext cx="2407615" cy="585216"/>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Nilai klub tertinggi di Table 6.5, di atas Barcelona £960 jt dan Real Madrid £850 jt</a:t>
            </a:r>
            <a:endParaRPr lang="en-US" sz="850" dirty="0"/>
          </a:p>
        </p:txBody>
      </p:sp>
      <p:sp>
        <p:nvSpPr>
          <p:cNvPr id="54" name="Shape 51"/>
          <p:cNvSpPr/>
          <p:nvPr/>
        </p:nvSpPr>
        <p:spPr>
          <a:xfrm>
            <a:off x="548640" y="5184648"/>
            <a:ext cx="11094415" cy="731520"/>
          </a:xfrm>
          <a:prstGeom prst="rect">
            <a:avLst/>
          </a:prstGeom>
          <a:solidFill>
            <a:srgbClr val="C8102E"/>
          </a:solidFill>
          <a:ln w="12700">
            <a:solidFill>
              <a:srgbClr val="C8102E"/>
            </a:solidFill>
            <a:prstDash val="solid"/>
          </a:ln>
        </p:spPr>
      </p:sp>
      <p:sp>
        <p:nvSpPr>
          <p:cNvPr id="55" name="Text 52"/>
          <p:cNvSpPr/>
          <p:nvPr/>
        </p:nvSpPr>
        <p:spPr>
          <a:xfrm>
            <a:off x="777240" y="5312664"/>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SATU ANGKA YANG MERUSAK GAMBARAN INI</a:t>
            </a:r>
            <a:endParaRPr lang="en-US" sz="800" dirty="0"/>
          </a:p>
        </p:txBody>
      </p:sp>
      <p:sp>
        <p:nvSpPr>
          <p:cNvPr id="56" name="Text 53"/>
          <p:cNvSpPr/>
          <p:nvPr/>
        </p:nvSpPr>
        <p:spPr>
          <a:xfrm>
            <a:off x="777240" y="5550408"/>
            <a:ext cx="10637215" cy="27432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Utang £616 juta, tertinggi kedua di Table 6.5 setelah Arsenal (£896 juta). Kasus mencatat akuisisi Glazer 2005 dibiayai terutama </a:t>
            </a:r>
            <a:r>
              <a:rPr lang="en-US" sz="1000" dirty="0" err="1">
                <a:solidFill>
                  <a:srgbClr val="FFFFFF"/>
                </a:solidFill>
                <a:latin typeface="Poppins Medium" pitchFamily="34" charset="0"/>
                <a:ea typeface="Poppins Medium" pitchFamily="34" charset="-122"/>
                <a:cs typeface="Poppins Medium" pitchFamily="34" charset="-120"/>
              </a:rPr>
              <a:t>dengan</a:t>
            </a:r>
            <a:r>
              <a:rPr lang="en-US" sz="1000" dirty="0">
                <a:solidFill>
                  <a:srgbClr val="FFFFFF"/>
                </a:solidFill>
                <a:latin typeface="Poppins Medium" pitchFamily="34" charset="0"/>
                <a:ea typeface="Poppins Medium" pitchFamily="34" charset="-122"/>
                <a:cs typeface="Poppins Medium" pitchFamily="34" charset="-120"/>
              </a:rPr>
              <a:t> utang.</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45032" y="351816"/>
            <a:ext cx="10728655" cy="137388"/>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1  ·  KESIMPULAN</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PRESTASI PUNCAK, BELANJA RELATIF HEMAT</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Dari empat klub berprestasi tertinggi, belanja bersih MU yang paling kecil.</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 Table 6.7; perbandingan disusun kelompok.</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23</a:t>
            </a:r>
            <a:endParaRPr lang="en-US" sz="900" dirty="0"/>
          </a:p>
        </p:txBody>
      </p:sp>
      <p:sp>
        <p:nvSpPr>
          <p:cNvPr id="10" name="Shape 7"/>
          <p:cNvSpPr/>
          <p:nvPr/>
        </p:nvSpPr>
        <p:spPr>
          <a:xfrm>
            <a:off x="548640" y="1755648"/>
            <a:ext cx="6766560" cy="3246120"/>
          </a:xfrm>
          <a:prstGeom prst="rect">
            <a:avLst/>
          </a:prstGeom>
          <a:solidFill>
            <a:srgbClr val="27161A"/>
          </a:solidFill>
          <a:ln w="12700">
            <a:solidFill>
              <a:srgbClr val="27161A"/>
            </a:solidFill>
            <a:prstDash val="solid"/>
          </a:ln>
        </p:spPr>
        <p:txBody>
          <a:bodyPr/>
          <a:lstStyle/>
          <a:p>
            <a:endParaRPr lang="en-ID" dirty="0"/>
          </a:p>
        </p:txBody>
      </p:sp>
      <p:sp>
        <p:nvSpPr>
          <p:cNvPr id="11" name="Text 8"/>
          <p:cNvSpPr/>
          <p:nvPr/>
        </p:nvSpPr>
        <p:spPr>
          <a:xfrm>
            <a:off x="777240" y="1892808"/>
            <a:ext cx="6309360" cy="228600"/>
          </a:xfrm>
          <a:prstGeom prst="rect">
            <a:avLst/>
          </a:prstGeom>
          <a:noFill/>
          <a:ln/>
        </p:spPr>
        <p:txBody>
          <a:bodyPr wrap="square" lIns="0" tIns="0" rIns="0" bIns="0" rtlCol="0" anchor="t"/>
          <a:lstStyle/>
          <a:p>
            <a:pPr marL="0" indent="0">
              <a:buNone/>
            </a:pPr>
            <a:r>
              <a:rPr lang="en-US" sz="850" kern="0" spc="120" dirty="0">
                <a:solidFill>
                  <a:srgbClr val="FBE122"/>
                </a:solidFill>
                <a:latin typeface="Poppins SemiBold" pitchFamily="34" charset="0"/>
                <a:ea typeface="Poppins SemiBold" pitchFamily="34" charset="-122"/>
                <a:cs typeface="Poppins SemiBold" pitchFamily="34" charset="-120"/>
              </a:rPr>
              <a:t>BELANJA TRANSFER BERSIH 2003–09, £ JUTA  ·  EMPAT KLUB DENGAN POIN PERFORMA TERTINGGI</a:t>
            </a:r>
            <a:endParaRPr lang="en-US" sz="850" dirty="0"/>
          </a:p>
        </p:txBody>
      </p:sp>
      <p:sp>
        <p:nvSpPr>
          <p:cNvPr id="12" name="Text 9"/>
          <p:cNvSpPr/>
          <p:nvPr/>
        </p:nvSpPr>
        <p:spPr>
          <a:xfrm>
            <a:off x="777240" y="2331491"/>
            <a:ext cx="2240280" cy="334213"/>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Real Madrid (183,0 poin)</a:t>
            </a:r>
            <a:endParaRPr lang="en-US" sz="900" dirty="0"/>
          </a:p>
        </p:txBody>
      </p:sp>
      <p:sp>
        <p:nvSpPr>
          <p:cNvPr id="13" name="Shape 10"/>
          <p:cNvSpPr/>
          <p:nvPr/>
        </p:nvSpPr>
        <p:spPr>
          <a:xfrm>
            <a:off x="3154680" y="2349779"/>
            <a:ext cx="3154680" cy="297637"/>
          </a:xfrm>
          <a:prstGeom prst="rect">
            <a:avLst/>
          </a:prstGeom>
          <a:solidFill>
            <a:srgbClr val="46292D"/>
          </a:solidFill>
          <a:ln w="12700">
            <a:solidFill>
              <a:srgbClr val="46292D"/>
            </a:solidFill>
            <a:prstDash val="solid"/>
          </a:ln>
        </p:spPr>
      </p:sp>
      <p:sp>
        <p:nvSpPr>
          <p:cNvPr id="14" name="Text 11"/>
          <p:cNvSpPr/>
          <p:nvPr/>
        </p:nvSpPr>
        <p:spPr>
          <a:xfrm>
            <a:off x="6382512" y="2331491"/>
            <a:ext cx="685800" cy="334213"/>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438</a:t>
            </a:r>
            <a:endParaRPr lang="en-US" sz="900" dirty="0"/>
          </a:p>
        </p:txBody>
      </p:sp>
      <p:sp>
        <p:nvSpPr>
          <p:cNvPr id="15" name="Text 12"/>
          <p:cNvSpPr/>
          <p:nvPr/>
        </p:nvSpPr>
        <p:spPr>
          <a:xfrm>
            <a:off x="777240" y="2811551"/>
            <a:ext cx="2240280" cy="334213"/>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Barcelona (200,0 poin)</a:t>
            </a:r>
            <a:endParaRPr lang="en-US" sz="900" dirty="0"/>
          </a:p>
        </p:txBody>
      </p:sp>
      <p:sp>
        <p:nvSpPr>
          <p:cNvPr id="16" name="Shape 13"/>
          <p:cNvSpPr/>
          <p:nvPr/>
        </p:nvSpPr>
        <p:spPr>
          <a:xfrm>
            <a:off x="3154680" y="2829839"/>
            <a:ext cx="1793414" cy="297637"/>
          </a:xfrm>
          <a:prstGeom prst="rect">
            <a:avLst/>
          </a:prstGeom>
          <a:solidFill>
            <a:srgbClr val="46292D"/>
          </a:solidFill>
          <a:ln w="12700">
            <a:solidFill>
              <a:srgbClr val="46292D"/>
            </a:solidFill>
            <a:prstDash val="solid"/>
          </a:ln>
        </p:spPr>
        <p:txBody>
          <a:bodyPr/>
          <a:lstStyle/>
          <a:p>
            <a:endParaRPr lang="en-ID" dirty="0"/>
          </a:p>
        </p:txBody>
      </p:sp>
      <p:sp>
        <p:nvSpPr>
          <p:cNvPr id="17" name="Text 14"/>
          <p:cNvSpPr/>
          <p:nvPr/>
        </p:nvSpPr>
        <p:spPr>
          <a:xfrm>
            <a:off x="5021246" y="2811551"/>
            <a:ext cx="685800" cy="334213"/>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249</a:t>
            </a:r>
            <a:endParaRPr lang="en-US" sz="900" dirty="0"/>
          </a:p>
        </p:txBody>
      </p:sp>
      <p:sp>
        <p:nvSpPr>
          <p:cNvPr id="18" name="Text 15"/>
          <p:cNvSpPr/>
          <p:nvPr/>
        </p:nvSpPr>
        <p:spPr>
          <a:xfrm>
            <a:off x="777240" y="3291611"/>
            <a:ext cx="2240280" cy="334213"/>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Bayern München (179,5 poin)</a:t>
            </a:r>
            <a:endParaRPr lang="en-US" sz="900" dirty="0"/>
          </a:p>
        </p:txBody>
      </p:sp>
      <p:sp>
        <p:nvSpPr>
          <p:cNvPr id="19" name="Shape 16"/>
          <p:cNvSpPr/>
          <p:nvPr/>
        </p:nvSpPr>
        <p:spPr>
          <a:xfrm>
            <a:off x="3154680" y="3309899"/>
            <a:ext cx="878701" cy="297637"/>
          </a:xfrm>
          <a:prstGeom prst="rect">
            <a:avLst/>
          </a:prstGeom>
          <a:solidFill>
            <a:srgbClr val="46292D"/>
          </a:solidFill>
          <a:ln w="12700">
            <a:solidFill>
              <a:srgbClr val="46292D"/>
            </a:solidFill>
            <a:prstDash val="solid"/>
          </a:ln>
        </p:spPr>
      </p:sp>
      <p:sp>
        <p:nvSpPr>
          <p:cNvPr id="20" name="Text 17"/>
          <p:cNvSpPr/>
          <p:nvPr/>
        </p:nvSpPr>
        <p:spPr>
          <a:xfrm>
            <a:off x="4106533" y="3291611"/>
            <a:ext cx="685800" cy="334213"/>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122</a:t>
            </a:r>
            <a:endParaRPr lang="en-US" sz="900" dirty="0"/>
          </a:p>
        </p:txBody>
      </p:sp>
      <p:sp>
        <p:nvSpPr>
          <p:cNvPr id="21" name="Text 18"/>
          <p:cNvSpPr/>
          <p:nvPr/>
        </p:nvSpPr>
        <p:spPr>
          <a:xfrm>
            <a:off x="777240" y="3771671"/>
            <a:ext cx="2240280" cy="334213"/>
          </a:xfrm>
          <a:prstGeom prst="rect">
            <a:avLst/>
          </a:prstGeom>
          <a:noFill/>
          <a:ln/>
        </p:spPr>
        <p:txBody>
          <a:bodyPr wrap="square" lIns="0" tIns="0" rIns="0" bIns="0" rtlCol="0" anchor="ctr"/>
          <a:lstStyle/>
          <a:p>
            <a:pPr marL="0" indent="0" algn="r">
              <a:buNone/>
            </a:pPr>
            <a:r>
              <a:rPr lang="en-US" sz="900" dirty="0">
                <a:solidFill>
                  <a:srgbClr val="FFFFFF"/>
                </a:solidFill>
                <a:latin typeface="Poppins SemiBold" pitchFamily="34" charset="0"/>
                <a:ea typeface="Poppins SemiBold" pitchFamily="34" charset="-122"/>
                <a:cs typeface="Poppins SemiBold" pitchFamily="34" charset="-120"/>
              </a:rPr>
              <a:t>Manchester United (192,5 poin)</a:t>
            </a:r>
            <a:endParaRPr lang="en-US" sz="900" dirty="0"/>
          </a:p>
        </p:txBody>
      </p:sp>
      <p:sp>
        <p:nvSpPr>
          <p:cNvPr id="22" name="Shape 19"/>
          <p:cNvSpPr/>
          <p:nvPr/>
        </p:nvSpPr>
        <p:spPr>
          <a:xfrm>
            <a:off x="3154680" y="3789959"/>
            <a:ext cx="720247" cy="297637"/>
          </a:xfrm>
          <a:prstGeom prst="rect">
            <a:avLst/>
          </a:prstGeom>
          <a:solidFill>
            <a:srgbClr val="C8102E"/>
          </a:solidFill>
          <a:ln w="12700">
            <a:solidFill>
              <a:srgbClr val="C8102E"/>
            </a:solidFill>
            <a:prstDash val="solid"/>
          </a:ln>
        </p:spPr>
      </p:sp>
      <p:sp>
        <p:nvSpPr>
          <p:cNvPr id="23" name="Text 20"/>
          <p:cNvSpPr/>
          <p:nvPr/>
        </p:nvSpPr>
        <p:spPr>
          <a:xfrm>
            <a:off x="3948079" y="3771671"/>
            <a:ext cx="685800" cy="334213"/>
          </a:xfrm>
          <a:prstGeom prst="rect">
            <a:avLst/>
          </a:prstGeom>
          <a:noFill/>
          <a:ln/>
        </p:spPr>
        <p:txBody>
          <a:bodyPr wrap="square" lIns="0" tIns="0" rIns="0" bIns="0" rtlCol="0" anchor="ctr"/>
          <a:lstStyle/>
          <a:p>
            <a:pPr marL="0" indent="0" algn="l">
              <a:buNone/>
            </a:pPr>
            <a:r>
              <a:rPr lang="en-US" sz="900" dirty="0">
                <a:solidFill>
                  <a:srgbClr val="FBE122"/>
                </a:solidFill>
                <a:latin typeface="Poppins SemiBold" pitchFamily="34" charset="0"/>
                <a:ea typeface="Poppins SemiBold" pitchFamily="34" charset="-122"/>
                <a:cs typeface="Poppins SemiBold" pitchFamily="34" charset="-120"/>
              </a:rPr>
              <a:t>100</a:t>
            </a:r>
            <a:endParaRPr lang="en-US" sz="900" dirty="0"/>
          </a:p>
        </p:txBody>
      </p:sp>
      <p:sp>
        <p:nvSpPr>
          <p:cNvPr id="24" name="Shape 21"/>
          <p:cNvSpPr/>
          <p:nvPr/>
        </p:nvSpPr>
        <p:spPr>
          <a:xfrm>
            <a:off x="3154680" y="2258568"/>
            <a:ext cx="9144" cy="1920240"/>
          </a:xfrm>
          <a:prstGeom prst="rect">
            <a:avLst/>
          </a:prstGeom>
          <a:solidFill>
            <a:srgbClr val="A08F8B"/>
          </a:solidFill>
          <a:ln w="12700">
            <a:solidFill>
              <a:srgbClr val="A08F8B"/>
            </a:solidFill>
            <a:prstDash val="solid"/>
          </a:ln>
        </p:spPr>
      </p:sp>
      <p:sp>
        <p:nvSpPr>
          <p:cNvPr id="25" name="Text 22"/>
          <p:cNvSpPr/>
          <p:nvPr/>
        </p:nvSpPr>
        <p:spPr>
          <a:xfrm>
            <a:off x="777240" y="4315968"/>
            <a:ext cx="6309360" cy="640080"/>
          </a:xfrm>
          <a:prstGeom prst="rect">
            <a:avLst/>
          </a:prstGeom>
          <a:noFill/>
          <a:ln/>
        </p:spPr>
        <p:txBody>
          <a:bodyPr wrap="square" lIns="0" tIns="0" rIns="0" bIns="0" rtlCol="0" anchor="t"/>
          <a:lstStyle/>
          <a:p>
            <a:pPr marL="0" indent="0">
              <a:lnSpc>
                <a:spcPct val="104000"/>
              </a:lnSpc>
              <a:buNone/>
            </a:pPr>
            <a:r>
              <a:rPr lang="en-US" sz="850" dirty="0">
                <a:solidFill>
                  <a:srgbClr val="A08F8B"/>
                </a:solidFill>
                <a:latin typeface="Poppins" pitchFamily="34" charset="0"/>
                <a:ea typeface="Poppins" pitchFamily="34" charset="-122"/>
                <a:cs typeface="Poppins" pitchFamily="34" charset="-120"/>
              </a:rPr>
              <a:t>Klub lain ada yang belanja lebih sedikit: Arsenal £22 jt, AC Milan justru penjual bersih (−£66 jt). Tapi poinnya 162,0 dan 169,0, di bawah MU.</a:t>
            </a:r>
            <a:endParaRPr lang="en-US" sz="850" dirty="0"/>
          </a:p>
        </p:txBody>
      </p:sp>
      <p:sp>
        <p:nvSpPr>
          <p:cNvPr id="26" name="Shape 23"/>
          <p:cNvSpPr/>
          <p:nvPr/>
        </p:nvSpPr>
        <p:spPr>
          <a:xfrm>
            <a:off x="7543800" y="1755648"/>
            <a:ext cx="4099255" cy="1325880"/>
          </a:xfrm>
          <a:prstGeom prst="rect">
            <a:avLst/>
          </a:prstGeom>
          <a:solidFill>
            <a:srgbClr val="C8102E"/>
          </a:solidFill>
          <a:ln w="12700">
            <a:solidFill>
              <a:srgbClr val="C8102E"/>
            </a:solidFill>
            <a:prstDash val="solid"/>
          </a:ln>
        </p:spPr>
      </p:sp>
      <p:sp>
        <p:nvSpPr>
          <p:cNvPr id="27" name="Text 24"/>
          <p:cNvSpPr/>
          <p:nvPr/>
        </p:nvSpPr>
        <p:spPr>
          <a:xfrm>
            <a:off x="7726680" y="1847088"/>
            <a:ext cx="1828800" cy="548640"/>
          </a:xfrm>
          <a:prstGeom prst="rect">
            <a:avLst/>
          </a:prstGeom>
          <a:noFill/>
          <a:ln/>
        </p:spPr>
        <p:txBody>
          <a:bodyPr wrap="square" lIns="0" tIns="0" rIns="0" bIns="0" rtlCol="0" anchor="t"/>
          <a:lstStyle/>
          <a:p>
            <a:pPr marL="0" indent="0">
              <a:buNone/>
            </a:pPr>
            <a:r>
              <a:rPr lang="en-US" sz="2800" dirty="0">
                <a:solidFill>
                  <a:srgbClr val="FBE122"/>
                </a:solidFill>
                <a:latin typeface="Poppins ExtraBold" pitchFamily="34" charset="0"/>
                <a:ea typeface="Poppins ExtraBold" pitchFamily="34" charset="-122"/>
                <a:cs typeface="Poppins ExtraBold" pitchFamily="34" charset="-120"/>
              </a:rPr>
              <a:t>4,4×</a:t>
            </a:r>
            <a:endParaRPr lang="en-US" sz="2800" dirty="0"/>
          </a:p>
        </p:txBody>
      </p:sp>
      <p:sp>
        <p:nvSpPr>
          <p:cNvPr id="28" name="Text 25"/>
          <p:cNvSpPr/>
          <p:nvPr/>
        </p:nvSpPr>
        <p:spPr>
          <a:xfrm>
            <a:off x="7726680" y="2377440"/>
            <a:ext cx="3733495" cy="685800"/>
          </a:xfrm>
          <a:prstGeom prst="rect">
            <a:avLst/>
          </a:prstGeom>
          <a:noFill/>
          <a:ln/>
        </p:spPr>
        <p:txBody>
          <a:bodyPr wrap="square" lIns="0" tIns="0" rIns="0" bIns="0" rtlCol="0" anchor="t"/>
          <a:lstStyle/>
          <a:p>
            <a:pPr marL="0" indent="0">
              <a:lnSpc>
                <a:spcPct val="105000"/>
              </a:lnSpc>
              <a:buNone/>
            </a:pPr>
            <a:r>
              <a:rPr lang="en-US" sz="900" dirty="0">
                <a:solidFill>
                  <a:srgbClr val="FFFFFF"/>
                </a:solidFill>
                <a:latin typeface="Poppins Medium" pitchFamily="34" charset="0"/>
                <a:ea typeface="Poppins Medium" pitchFamily="34" charset="-122"/>
                <a:cs typeface="Poppins Medium" pitchFamily="34" charset="-120"/>
              </a:rPr>
              <a:t>Real Madrid membelanjakan 4,4 kali lipat belanja bersih MU (£438 jt vs £100 jt), tapi poin performanya lebih rendah: 183,0 vs 192,5.</a:t>
            </a:r>
            <a:endParaRPr lang="en-US" sz="900" dirty="0"/>
          </a:p>
        </p:txBody>
      </p:sp>
      <p:sp>
        <p:nvSpPr>
          <p:cNvPr id="29" name="Shape 26"/>
          <p:cNvSpPr/>
          <p:nvPr/>
        </p:nvSpPr>
        <p:spPr>
          <a:xfrm>
            <a:off x="7543800" y="3218688"/>
            <a:ext cx="4099255" cy="548640"/>
          </a:xfrm>
          <a:prstGeom prst="rect">
            <a:avLst/>
          </a:prstGeom>
          <a:solidFill>
            <a:srgbClr val="27161A"/>
          </a:solidFill>
          <a:ln w="12700">
            <a:solidFill>
              <a:srgbClr val="27161A"/>
            </a:solidFill>
            <a:prstDash val="solid"/>
          </a:ln>
        </p:spPr>
      </p:sp>
      <p:sp>
        <p:nvSpPr>
          <p:cNvPr id="30" name="Text 27"/>
          <p:cNvSpPr/>
          <p:nvPr/>
        </p:nvSpPr>
        <p:spPr>
          <a:xfrm>
            <a:off x="7726680" y="3264408"/>
            <a:ext cx="1371600" cy="457200"/>
          </a:xfrm>
          <a:prstGeom prst="rect">
            <a:avLst/>
          </a:prstGeom>
          <a:noFill/>
          <a:ln/>
        </p:spPr>
        <p:txBody>
          <a:bodyPr wrap="square" lIns="0" tIns="0" rIns="0" bIns="0" rtlCol="0" anchor="ctr"/>
          <a:lstStyle/>
          <a:p>
            <a:pPr marL="0" indent="0">
              <a:buNone/>
            </a:pPr>
            <a:r>
              <a:rPr lang="en-US" sz="950" dirty="0">
                <a:solidFill>
                  <a:srgbClr val="FFFFFF"/>
                </a:solidFill>
                <a:latin typeface="Poppins SemiBold" pitchFamily="34" charset="0"/>
                <a:ea typeface="Poppins SemiBold" pitchFamily="34" charset="-122"/>
                <a:cs typeface="Poppins SemiBold" pitchFamily="34" charset="-120"/>
              </a:rPr>
              <a:t>Chelsea</a:t>
            </a:r>
            <a:endParaRPr lang="en-US" sz="950" dirty="0"/>
          </a:p>
        </p:txBody>
      </p:sp>
      <p:sp>
        <p:nvSpPr>
          <p:cNvPr id="31" name="Text 28"/>
          <p:cNvSpPr/>
          <p:nvPr/>
        </p:nvSpPr>
        <p:spPr>
          <a:xfrm>
            <a:off x="9098280" y="3264408"/>
            <a:ext cx="2407615" cy="457200"/>
          </a:xfrm>
          <a:prstGeom prst="rect">
            <a:avLst/>
          </a:prstGeom>
          <a:noFill/>
          <a:ln/>
        </p:spPr>
        <p:txBody>
          <a:bodyPr wrap="square" lIns="0" tIns="0" rIns="0" bIns="0" rtlCol="0" anchor="ctr"/>
          <a:lstStyle/>
          <a:p>
            <a:pPr marL="0" indent="0">
              <a:lnSpc>
                <a:spcPct val="103000"/>
              </a:lnSpc>
              <a:buNone/>
            </a:pPr>
            <a:r>
              <a:rPr lang="en-US" sz="850" dirty="0">
                <a:solidFill>
                  <a:srgbClr val="D9CFC7"/>
                </a:solidFill>
                <a:latin typeface="Poppins" pitchFamily="34" charset="0"/>
                <a:ea typeface="Poppins" pitchFamily="34" charset="-122"/>
                <a:cs typeface="Poppins" pitchFamily="34" charset="-120"/>
              </a:rPr>
              <a:t>£430 jt belanja bersih, hanya 144,5 poin.</a:t>
            </a:r>
            <a:endParaRPr lang="en-US" sz="850" dirty="0"/>
          </a:p>
        </p:txBody>
      </p:sp>
      <p:sp>
        <p:nvSpPr>
          <p:cNvPr id="32" name="Shape 29"/>
          <p:cNvSpPr/>
          <p:nvPr/>
        </p:nvSpPr>
        <p:spPr>
          <a:xfrm>
            <a:off x="7543800" y="3831336"/>
            <a:ext cx="4099255" cy="548640"/>
          </a:xfrm>
          <a:prstGeom prst="rect">
            <a:avLst/>
          </a:prstGeom>
          <a:solidFill>
            <a:srgbClr val="32191E"/>
          </a:solidFill>
          <a:ln w="12700">
            <a:solidFill>
              <a:srgbClr val="32191E"/>
            </a:solidFill>
            <a:prstDash val="solid"/>
          </a:ln>
        </p:spPr>
      </p:sp>
      <p:sp>
        <p:nvSpPr>
          <p:cNvPr id="33" name="Text 30"/>
          <p:cNvSpPr/>
          <p:nvPr/>
        </p:nvSpPr>
        <p:spPr>
          <a:xfrm>
            <a:off x="7726680" y="3877056"/>
            <a:ext cx="1371600" cy="457200"/>
          </a:xfrm>
          <a:prstGeom prst="rect">
            <a:avLst/>
          </a:prstGeom>
          <a:noFill/>
          <a:ln/>
        </p:spPr>
        <p:txBody>
          <a:bodyPr wrap="square" lIns="0" tIns="0" rIns="0" bIns="0" rtlCol="0" anchor="ctr"/>
          <a:lstStyle/>
          <a:p>
            <a:pPr marL="0" indent="0">
              <a:buNone/>
            </a:pPr>
            <a:r>
              <a:rPr lang="en-US" sz="950" dirty="0">
                <a:solidFill>
                  <a:srgbClr val="FFFFFF"/>
                </a:solidFill>
                <a:latin typeface="Poppins SemiBold" pitchFamily="34" charset="0"/>
                <a:ea typeface="Poppins SemiBold" pitchFamily="34" charset="-122"/>
                <a:cs typeface="Poppins SemiBold" pitchFamily="34" charset="-120"/>
              </a:rPr>
              <a:t>Barcelona</a:t>
            </a:r>
            <a:endParaRPr lang="en-US" sz="950" dirty="0"/>
          </a:p>
        </p:txBody>
      </p:sp>
      <p:sp>
        <p:nvSpPr>
          <p:cNvPr id="34" name="Text 31"/>
          <p:cNvSpPr/>
          <p:nvPr/>
        </p:nvSpPr>
        <p:spPr>
          <a:xfrm>
            <a:off x="9098280" y="3877056"/>
            <a:ext cx="2407615" cy="457200"/>
          </a:xfrm>
          <a:prstGeom prst="rect">
            <a:avLst/>
          </a:prstGeom>
          <a:noFill/>
          <a:ln/>
        </p:spPr>
        <p:txBody>
          <a:bodyPr wrap="square" lIns="0" tIns="0" rIns="0" bIns="0" rtlCol="0" anchor="ctr"/>
          <a:lstStyle/>
          <a:p>
            <a:pPr marL="0" indent="0">
              <a:lnSpc>
                <a:spcPct val="103000"/>
              </a:lnSpc>
              <a:buNone/>
            </a:pPr>
            <a:r>
              <a:rPr lang="en-US" sz="850" dirty="0">
                <a:solidFill>
                  <a:srgbClr val="D9CFC7"/>
                </a:solidFill>
                <a:latin typeface="Poppins" pitchFamily="34" charset="0"/>
                <a:ea typeface="Poppins" pitchFamily="34" charset="-122"/>
                <a:cs typeface="Poppins" pitchFamily="34" charset="-120"/>
              </a:rPr>
              <a:t>Satu-satunya yang mengungguli MU, dengan belanja 2,5× lipat.</a:t>
            </a:r>
            <a:endParaRPr lang="en-US" sz="850" dirty="0"/>
          </a:p>
        </p:txBody>
      </p:sp>
      <p:sp>
        <p:nvSpPr>
          <p:cNvPr id="35" name="Shape 32"/>
          <p:cNvSpPr/>
          <p:nvPr/>
        </p:nvSpPr>
        <p:spPr>
          <a:xfrm>
            <a:off x="7543800" y="4443984"/>
            <a:ext cx="4099255" cy="548640"/>
          </a:xfrm>
          <a:prstGeom prst="rect">
            <a:avLst/>
          </a:prstGeom>
          <a:solidFill>
            <a:srgbClr val="27161A"/>
          </a:solidFill>
          <a:ln w="12700">
            <a:solidFill>
              <a:srgbClr val="27161A"/>
            </a:solidFill>
            <a:prstDash val="solid"/>
          </a:ln>
        </p:spPr>
      </p:sp>
      <p:sp>
        <p:nvSpPr>
          <p:cNvPr id="36" name="Text 33"/>
          <p:cNvSpPr/>
          <p:nvPr/>
        </p:nvSpPr>
        <p:spPr>
          <a:xfrm>
            <a:off x="7726680" y="4489704"/>
            <a:ext cx="1371600" cy="457200"/>
          </a:xfrm>
          <a:prstGeom prst="rect">
            <a:avLst/>
          </a:prstGeom>
          <a:noFill/>
          <a:ln/>
        </p:spPr>
        <p:txBody>
          <a:bodyPr wrap="square" lIns="0" tIns="0" rIns="0" bIns="0" rtlCol="0" anchor="ctr"/>
          <a:lstStyle/>
          <a:p>
            <a:pPr marL="0" indent="0">
              <a:buNone/>
            </a:pPr>
            <a:r>
              <a:rPr lang="en-US" sz="950" dirty="0">
                <a:solidFill>
                  <a:srgbClr val="FFFFFF"/>
                </a:solidFill>
                <a:latin typeface="Poppins SemiBold" pitchFamily="34" charset="0"/>
                <a:ea typeface="Poppins SemiBold" pitchFamily="34" charset="-122"/>
                <a:cs typeface="Poppins SemiBold" pitchFamily="34" charset="-120"/>
              </a:rPr>
              <a:t>Kata kasus sendiri</a:t>
            </a:r>
            <a:endParaRPr lang="en-US" sz="950" dirty="0"/>
          </a:p>
        </p:txBody>
      </p:sp>
      <p:sp>
        <p:nvSpPr>
          <p:cNvPr id="37" name="Text 34"/>
          <p:cNvSpPr/>
          <p:nvPr/>
        </p:nvSpPr>
        <p:spPr>
          <a:xfrm>
            <a:off x="9098280" y="4489704"/>
            <a:ext cx="2407615" cy="457200"/>
          </a:xfrm>
          <a:prstGeom prst="rect">
            <a:avLst/>
          </a:prstGeom>
          <a:noFill/>
          <a:ln/>
        </p:spPr>
        <p:txBody>
          <a:bodyPr wrap="square" lIns="0" tIns="0" rIns="0" bIns="0" rtlCol="0" anchor="ctr"/>
          <a:lstStyle/>
          <a:p>
            <a:pPr marL="0" indent="0">
              <a:lnSpc>
                <a:spcPct val="103000"/>
              </a:lnSpc>
              <a:buNone/>
            </a:pPr>
            <a:r>
              <a:rPr lang="en-US" sz="850" dirty="0">
                <a:solidFill>
                  <a:srgbClr val="D9CFC7"/>
                </a:solidFill>
                <a:latin typeface="Poppins" pitchFamily="34" charset="0"/>
                <a:ea typeface="Poppins" pitchFamily="34" charset="-122"/>
                <a:cs typeface="Poppins" pitchFamily="34" charset="-120"/>
              </a:rPr>
              <a:t>Belanja bersih MU "relatif sederhana" (hlm. 586).</a:t>
            </a:r>
            <a:endParaRPr lang="en-US" sz="850" dirty="0"/>
          </a:p>
        </p:txBody>
      </p:sp>
      <p:sp>
        <p:nvSpPr>
          <p:cNvPr id="38" name="Shape 35"/>
          <p:cNvSpPr/>
          <p:nvPr/>
        </p:nvSpPr>
        <p:spPr>
          <a:xfrm>
            <a:off x="548640" y="5184648"/>
            <a:ext cx="11094415" cy="863880"/>
          </a:xfrm>
          <a:prstGeom prst="rect">
            <a:avLst/>
          </a:prstGeom>
          <a:solidFill>
            <a:srgbClr val="C8102E"/>
          </a:solidFill>
          <a:ln w="12700">
            <a:solidFill>
              <a:srgbClr val="C8102E"/>
            </a:solidFill>
            <a:prstDash val="solid"/>
          </a:ln>
        </p:spPr>
      </p:sp>
      <p:sp>
        <p:nvSpPr>
          <p:cNvPr id="39" name="Text 36"/>
          <p:cNvSpPr/>
          <p:nvPr/>
        </p:nvSpPr>
        <p:spPr>
          <a:xfrm>
            <a:off x="777240" y="5312664"/>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JAWABAN Q1</a:t>
            </a:r>
            <a:endParaRPr lang="en-US" sz="800" dirty="0"/>
          </a:p>
        </p:txBody>
      </p:sp>
      <p:sp>
        <p:nvSpPr>
          <p:cNvPr id="40" name="Text 37"/>
          <p:cNvSpPr/>
          <p:nvPr/>
        </p:nvSpPr>
        <p:spPr>
          <a:xfrm>
            <a:off x="777240" y="5550408"/>
            <a:ext cx="10637215" cy="27432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Strategi MU bekerja sangat baik. Kedua indikator Thompson terpenuhi sekaligus, di industri yang mayoritas pelakunya merugi. Yang harus dijelaskan pertanyaan berikutnya: kenapa bisa begitu.</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69147"/>
            <a:ext cx="10728655" cy="155448"/>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2  ·  DITERAPKAN</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SWOT MANCHESTER UNITED, JULI 2009</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Semua temuan Q1 dirangkum, lalu ditarik kesimpulan sesuai langkah 2 dan 3, bukan berhenti di daftar.</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24</a:t>
            </a:r>
            <a:endParaRPr lang="en-US" sz="900" dirty="0"/>
          </a:p>
        </p:txBody>
      </p:sp>
      <p:sp>
        <p:nvSpPr>
          <p:cNvPr id="10" name="Shape 7"/>
          <p:cNvSpPr/>
          <p:nvPr/>
        </p:nvSpPr>
        <p:spPr>
          <a:xfrm>
            <a:off x="548640" y="1755648"/>
            <a:ext cx="5432908" cy="1572768"/>
          </a:xfrm>
          <a:prstGeom prst="rect">
            <a:avLst/>
          </a:prstGeom>
          <a:solidFill>
            <a:srgbClr val="C8102E"/>
          </a:solidFill>
          <a:ln w="12700">
            <a:solidFill>
              <a:srgbClr val="C8102E"/>
            </a:solidFill>
            <a:prstDash val="solid"/>
          </a:ln>
        </p:spPr>
      </p:sp>
      <p:sp>
        <p:nvSpPr>
          <p:cNvPr id="11" name="Text 8"/>
          <p:cNvSpPr/>
          <p:nvPr/>
        </p:nvSpPr>
        <p:spPr>
          <a:xfrm>
            <a:off x="731520" y="1828800"/>
            <a:ext cx="822960" cy="731520"/>
          </a:xfrm>
          <a:prstGeom prst="rect">
            <a:avLst/>
          </a:prstGeom>
          <a:noFill/>
          <a:ln/>
        </p:spPr>
        <p:txBody>
          <a:bodyPr wrap="square" lIns="0" tIns="0" rIns="0" bIns="0" rtlCol="0" anchor="t"/>
          <a:lstStyle/>
          <a:p>
            <a:pPr marL="0" indent="0">
              <a:buNone/>
            </a:pPr>
            <a:r>
              <a:rPr lang="en-US" sz="3600" dirty="0">
                <a:solidFill>
                  <a:srgbClr val="FBE122"/>
                </a:solidFill>
                <a:latin typeface="Poppins ExtraBold" pitchFamily="34" charset="0"/>
                <a:ea typeface="Poppins ExtraBold" pitchFamily="34" charset="-122"/>
                <a:cs typeface="Poppins ExtraBold" pitchFamily="34" charset="-120"/>
              </a:rPr>
              <a:t>S</a:t>
            </a:r>
            <a:endParaRPr lang="en-US" sz="3600" dirty="0"/>
          </a:p>
        </p:txBody>
      </p:sp>
      <p:sp>
        <p:nvSpPr>
          <p:cNvPr id="12" name="Text 9"/>
          <p:cNvSpPr/>
          <p:nvPr/>
        </p:nvSpPr>
        <p:spPr>
          <a:xfrm>
            <a:off x="1508760" y="1883664"/>
            <a:ext cx="2743200" cy="274320"/>
          </a:xfrm>
          <a:prstGeom prst="rect">
            <a:avLst/>
          </a:prstGeom>
          <a:noFill/>
          <a:ln/>
        </p:spPr>
        <p:txBody>
          <a:bodyPr wrap="square" lIns="0" tIns="0" rIns="0" bIns="0" rtlCol="0" anchor="t"/>
          <a:lstStyle/>
          <a:p>
            <a:pPr marL="0" indent="0">
              <a:buNone/>
            </a:pPr>
            <a:r>
              <a:rPr lang="en-US" sz="1200" dirty="0">
                <a:solidFill>
                  <a:srgbClr val="FFFFFF"/>
                </a:solidFill>
                <a:latin typeface="Poppins SemiBold" pitchFamily="34" charset="0"/>
                <a:ea typeface="Poppins SemiBold" pitchFamily="34" charset="-122"/>
                <a:cs typeface="Poppins SemiBold" pitchFamily="34" charset="-120"/>
              </a:rPr>
              <a:t>Strengths</a:t>
            </a:r>
            <a:endParaRPr lang="en-US" sz="1200" dirty="0"/>
          </a:p>
        </p:txBody>
      </p:sp>
      <p:sp>
        <p:nvSpPr>
          <p:cNvPr id="13" name="Text 10"/>
          <p:cNvSpPr/>
          <p:nvPr/>
        </p:nvSpPr>
        <p:spPr>
          <a:xfrm>
            <a:off x="1508760" y="2167128"/>
            <a:ext cx="4289908" cy="1115568"/>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900" dirty="0">
                <a:solidFill>
                  <a:srgbClr val="FFFFFF"/>
                </a:solidFill>
                <a:latin typeface="Poppins" pitchFamily="34" charset="0"/>
                <a:ea typeface="Poppins" pitchFamily="34" charset="-122"/>
                <a:cs typeface="Poppins" pitchFamily="34" charset="-120"/>
              </a:rPr>
              <a:t>Merek global dengan 80 juta pendukung di Asia</a:t>
            </a:r>
            <a:endParaRPr lang="en-US" sz="1000" dirty="0"/>
          </a:p>
          <a:p>
            <a:pPr marL="152400" indent="-152400">
              <a:lnSpc>
                <a:spcPct val="102000"/>
              </a:lnSpc>
              <a:spcAft>
                <a:spcPts val="300"/>
              </a:spcAft>
              <a:buSzPct val="100000"/>
              <a:buChar char="•"/>
            </a:pPr>
            <a:r>
              <a:rPr lang="en-US" sz="900" dirty="0">
                <a:solidFill>
                  <a:srgbClr val="FFFFFF"/>
                </a:solidFill>
                <a:latin typeface="Poppins" pitchFamily="34" charset="0"/>
                <a:ea typeface="Poppins" pitchFamily="34" charset="-122"/>
                <a:cs typeface="Poppins" pitchFamily="34" charset="-120"/>
              </a:rPr>
              <a:t>Laba tertinggi di antara klub besar: EBITDA €101,9 jt, RoS 12,6%</a:t>
            </a:r>
            <a:endParaRPr lang="en-US" sz="1000" dirty="0"/>
          </a:p>
          <a:p>
            <a:pPr marL="152400" indent="-152400">
              <a:lnSpc>
                <a:spcPct val="102000"/>
              </a:lnSpc>
              <a:spcAft>
                <a:spcPts val="300"/>
              </a:spcAft>
              <a:buSzPct val="100000"/>
              <a:buChar char="•"/>
            </a:pPr>
            <a:r>
              <a:rPr lang="en-US" sz="900" dirty="0">
                <a:solidFill>
                  <a:srgbClr val="FFFFFF"/>
                </a:solidFill>
                <a:latin typeface="Poppins" pitchFamily="34" charset="0"/>
                <a:ea typeface="Poppins" pitchFamily="34" charset="-122"/>
                <a:cs typeface="Poppins" pitchFamily="34" charset="-120"/>
              </a:rPr>
              <a:t>Akademi dan jaringan pemandu bakat yang matang</a:t>
            </a:r>
            <a:endParaRPr lang="en-US" sz="1000" dirty="0"/>
          </a:p>
          <a:p>
            <a:pPr marL="152400" indent="-152400">
              <a:lnSpc>
                <a:spcPct val="102000"/>
              </a:lnSpc>
              <a:spcAft>
                <a:spcPts val="300"/>
              </a:spcAft>
              <a:buSzPct val="100000"/>
              <a:buChar char="•"/>
            </a:pPr>
            <a:r>
              <a:rPr lang="en-US" sz="900" dirty="0">
                <a:solidFill>
                  <a:srgbClr val="FFFFFF"/>
                </a:solidFill>
                <a:latin typeface="Poppins" pitchFamily="34" charset="0"/>
                <a:ea typeface="Poppins" pitchFamily="34" charset="-122"/>
                <a:cs typeface="Poppins" pitchFamily="34" charset="-120"/>
              </a:rPr>
              <a:t>Disiplin transfer: belanja bersih hanya £100 jt</a:t>
            </a:r>
            <a:endParaRPr lang="en-US" sz="1000" dirty="0"/>
          </a:p>
        </p:txBody>
      </p:sp>
      <p:sp>
        <p:nvSpPr>
          <p:cNvPr id="14" name="Shape 11"/>
          <p:cNvSpPr/>
          <p:nvPr/>
        </p:nvSpPr>
        <p:spPr>
          <a:xfrm>
            <a:off x="6210148" y="1755648"/>
            <a:ext cx="5432908" cy="1572768"/>
          </a:xfrm>
          <a:prstGeom prst="rect">
            <a:avLst/>
          </a:prstGeom>
          <a:solidFill>
            <a:srgbClr val="27161A"/>
          </a:solidFill>
          <a:ln w="12700">
            <a:solidFill>
              <a:srgbClr val="27161A"/>
            </a:solidFill>
            <a:prstDash val="solid"/>
          </a:ln>
        </p:spPr>
      </p:sp>
      <p:sp>
        <p:nvSpPr>
          <p:cNvPr id="15" name="Text 12"/>
          <p:cNvSpPr/>
          <p:nvPr/>
        </p:nvSpPr>
        <p:spPr>
          <a:xfrm>
            <a:off x="6393028" y="1828800"/>
            <a:ext cx="822960" cy="731520"/>
          </a:xfrm>
          <a:prstGeom prst="rect">
            <a:avLst/>
          </a:prstGeom>
          <a:noFill/>
          <a:ln/>
        </p:spPr>
        <p:txBody>
          <a:bodyPr wrap="square" lIns="0" tIns="0" rIns="0" bIns="0" rtlCol="0" anchor="t"/>
          <a:lstStyle/>
          <a:p>
            <a:pPr marL="0" indent="0">
              <a:buNone/>
            </a:pPr>
            <a:r>
              <a:rPr lang="en-US" sz="3600" dirty="0">
                <a:solidFill>
                  <a:srgbClr val="C8102E"/>
                </a:solidFill>
                <a:latin typeface="Poppins ExtraBold" pitchFamily="34" charset="0"/>
                <a:ea typeface="Poppins ExtraBold" pitchFamily="34" charset="-122"/>
                <a:cs typeface="Poppins ExtraBold" pitchFamily="34" charset="-120"/>
              </a:rPr>
              <a:t>W</a:t>
            </a:r>
            <a:endParaRPr lang="en-US" sz="3600" dirty="0"/>
          </a:p>
        </p:txBody>
      </p:sp>
      <p:sp>
        <p:nvSpPr>
          <p:cNvPr id="16" name="Text 13"/>
          <p:cNvSpPr/>
          <p:nvPr/>
        </p:nvSpPr>
        <p:spPr>
          <a:xfrm>
            <a:off x="7170268" y="1883664"/>
            <a:ext cx="2743200" cy="274320"/>
          </a:xfrm>
          <a:prstGeom prst="rect">
            <a:avLst/>
          </a:prstGeom>
          <a:noFill/>
          <a:ln/>
        </p:spPr>
        <p:txBody>
          <a:bodyPr wrap="square" lIns="0" tIns="0" rIns="0" bIns="0" rtlCol="0" anchor="t"/>
          <a:lstStyle/>
          <a:p>
            <a:pPr marL="0" indent="0">
              <a:buNone/>
            </a:pPr>
            <a:r>
              <a:rPr lang="en-US" sz="1200" dirty="0">
                <a:solidFill>
                  <a:srgbClr val="FFFFFF"/>
                </a:solidFill>
                <a:latin typeface="Poppins SemiBold" pitchFamily="34" charset="0"/>
                <a:ea typeface="Poppins SemiBold" pitchFamily="34" charset="-122"/>
                <a:cs typeface="Poppins SemiBold" pitchFamily="34" charset="-120"/>
              </a:rPr>
              <a:t>Weaknesses</a:t>
            </a:r>
            <a:endParaRPr lang="en-US" sz="1200" dirty="0"/>
          </a:p>
        </p:txBody>
      </p:sp>
      <p:sp>
        <p:nvSpPr>
          <p:cNvPr id="17" name="Text 14"/>
          <p:cNvSpPr/>
          <p:nvPr/>
        </p:nvSpPr>
        <p:spPr>
          <a:xfrm>
            <a:off x="7170268" y="2167128"/>
            <a:ext cx="4289908" cy="1115568"/>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900" dirty="0">
                <a:solidFill>
                  <a:srgbClr val="D9CFC7"/>
                </a:solidFill>
                <a:latin typeface="Poppins" pitchFamily="34" charset="0"/>
                <a:ea typeface="Poppins" pitchFamily="34" charset="-122"/>
                <a:cs typeface="Poppins" pitchFamily="34" charset="-120"/>
              </a:rPr>
              <a:t>Bergantung pada satu orang yang akhir 2009 berusia 68 tahun</a:t>
            </a:r>
            <a:endParaRPr lang="en-US" sz="1000" dirty="0"/>
          </a:p>
          <a:p>
            <a:pPr marL="152400" indent="-152400">
              <a:lnSpc>
                <a:spcPct val="102000"/>
              </a:lnSpc>
              <a:spcAft>
                <a:spcPts val="300"/>
              </a:spcAft>
              <a:buSzPct val="100000"/>
              <a:buChar char="•"/>
            </a:pPr>
            <a:r>
              <a:rPr lang="en-US" sz="900" dirty="0">
                <a:solidFill>
                  <a:srgbClr val="D9CFC7"/>
                </a:solidFill>
                <a:latin typeface="Poppins" pitchFamily="34" charset="0"/>
                <a:ea typeface="Poppins" pitchFamily="34" charset="-122"/>
                <a:cs typeface="Poppins" pitchFamily="34" charset="-120"/>
              </a:rPr>
              <a:t>Belum ada keputusan suksesi; Ferguson belum menyatakan niat pensiun</a:t>
            </a:r>
            <a:endParaRPr lang="en-US" sz="1000" dirty="0"/>
          </a:p>
          <a:p>
            <a:pPr marL="152400" indent="-152400">
              <a:lnSpc>
                <a:spcPct val="102000"/>
              </a:lnSpc>
              <a:spcAft>
                <a:spcPts val="300"/>
              </a:spcAft>
              <a:buSzPct val="100000"/>
              <a:buChar char="•"/>
            </a:pPr>
            <a:r>
              <a:rPr lang="en-US" sz="900" dirty="0">
                <a:solidFill>
                  <a:srgbClr val="D9CFC7"/>
                </a:solidFill>
                <a:latin typeface="Poppins" pitchFamily="34" charset="0"/>
                <a:ea typeface="Poppins" pitchFamily="34" charset="-122"/>
                <a:cs typeface="Poppins" pitchFamily="34" charset="-120"/>
              </a:rPr>
              <a:t>Ronaldo, satu-satunya pemain MU di peringkat FIFA, baru dijual</a:t>
            </a:r>
            <a:endParaRPr lang="en-US" sz="1000" dirty="0"/>
          </a:p>
          <a:p>
            <a:pPr marL="152400" indent="-152400">
              <a:lnSpc>
                <a:spcPct val="102000"/>
              </a:lnSpc>
              <a:spcAft>
                <a:spcPts val="300"/>
              </a:spcAft>
              <a:buSzPct val="100000"/>
              <a:buChar char="•"/>
            </a:pPr>
            <a:r>
              <a:rPr lang="en-US" sz="900" dirty="0">
                <a:solidFill>
                  <a:srgbClr val="D9CFC7"/>
                </a:solidFill>
                <a:latin typeface="Poppins" pitchFamily="34" charset="0"/>
                <a:ea typeface="Poppins" pitchFamily="34" charset="-122"/>
                <a:cs typeface="Poppins" pitchFamily="34" charset="-120"/>
              </a:rPr>
              <a:t>Utang £616 jt; akuisisi Glazer 2005 dibiayai utang</a:t>
            </a:r>
            <a:endParaRPr lang="en-US" sz="1000" dirty="0"/>
          </a:p>
        </p:txBody>
      </p:sp>
      <p:sp>
        <p:nvSpPr>
          <p:cNvPr id="18" name="Shape 15"/>
          <p:cNvSpPr/>
          <p:nvPr/>
        </p:nvSpPr>
        <p:spPr>
          <a:xfrm>
            <a:off x="548640" y="3511296"/>
            <a:ext cx="5432908" cy="1572768"/>
          </a:xfrm>
          <a:prstGeom prst="rect">
            <a:avLst/>
          </a:prstGeom>
          <a:solidFill>
            <a:srgbClr val="27161A"/>
          </a:solidFill>
          <a:ln w="12700">
            <a:solidFill>
              <a:srgbClr val="27161A"/>
            </a:solidFill>
            <a:prstDash val="solid"/>
          </a:ln>
        </p:spPr>
      </p:sp>
      <p:sp>
        <p:nvSpPr>
          <p:cNvPr id="19" name="Text 16"/>
          <p:cNvSpPr/>
          <p:nvPr/>
        </p:nvSpPr>
        <p:spPr>
          <a:xfrm>
            <a:off x="731520" y="3584448"/>
            <a:ext cx="822960" cy="731520"/>
          </a:xfrm>
          <a:prstGeom prst="rect">
            <a:avLst/>
          </a:prstGeom>
          <a:noFill/>
          <a:ln/>
        </p:spPr>
        <p:txBody>
          <a:bodyPr wrap="square" lIns="0" tIns="0" rIns="0" bIns="0" rtlCol="0" anchor="t"/>
          <a:lstStyle/>
          <a:p>
            <a:pPr marL="0" indent="0">
              <a:buNone/>
            </a:pPr>
            <a:r>
              <a:rPr lang="en-US" sz="3600" dirty="0">
                <a:solidFill>
                  <a:srgbClr val="C8102E"/>
                </a:solidFill>
                <a:latin typeface="Poppins ExtraBold" pitchFamily="34" charset="0"/>
                <a:ea typeface="Poppins ExtraBold" pitchFamily="34" charset="-122"/>
                <a:cs typeface="Poppins ExtraBold" pitchFamily="34" charset="-120"/>
              </a:rPr>
              <a:t>O</a:t>
            </a:r>
            <a:endParaRPr lang="en-US" sz="3600" dirty="0"/>
          </a:p>
        </p:txBody>
      </p:sp>
      <p:sp>
        <p:nvSpPr>
          <p:cNvPr id="20" name="Text 17"/>
          <p:cNvSpPr/>
          <p:nvPr/>
        </p:nvSpPr>
        <p:spPr>
          <a:xfrm>
            <a:off x="1508760" y="3639312"/>
            <a:ext cx="2743200" cy="274320"/>
          </a:xfrm>
          <a:prstGeom prst="rect">
            <a:avLst/>
          </a:prstGeom>
          <a:noFill/>
          <a:ln/>
        </p:spPr>
        <p:txBody>
          <a:bodyPr wrap="square" lIns="0" tIns="0" rIns="0" bIns="0" rtlCol="0" anchor="t"/>
          <a:lstStyle/>
          <a:p>
            <a:pPr marL="0" indent="0">
              <a:buNone/>
            </a:pPr>
            <a:r>
              <a:rPr lang="en-US" sz="1200" dirty="0">
                <a:solidFill>
                  <a:srgbClr val="FFFFFF"/>
                </a:solidFill>
                <a:latin typeface="Poppins SemiBold" pitchFamily="34" charset="0"/>
                <a:ea typeface="Poppins SemiBold" pitchFamily="34" charset="-122"/>
                <a:cs typeface="Poppins SemiBold" pitchFamily="34" charset="-120"/>
              </a:rPr>
              <a:t>Opportunities</a:t>
            </a:r>
            <a:endParaRPr lang="en-US" sz="1200" dirty="0"/>
          </a:p>
        </p:txBody>
      </p:sp>
      <p:sp>
        <p:nvSpPr>
          <p:cNvPr id="21" name="Text 18"/>
          <p:cNvSpPr/>
          <p:nvPr/>
        </p:nvSpPr>
        <p:spPr>
          <a:xfrm>
            <a:off x="1508760" y="3922776"/>
            <a:ext cx="4289908" cy="1115568"/>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900" dirty="0">
                <a:solidFill>
                  <a:srgbClr val="D9CFC7"/>
                </a:solidFill>
                <a:latin typeface="Poppins" pitchFamily="34" charset="0"/>
                <a:ea typeface="Poppins" pitchFamily="34" charset="-122"/>
                <a:cs typeface="Poppins" pitchFamily="34" charset="-120"/>
              </a:rPr>
              <a:t>Pasar Asia: India dan Cina disebut Aon sebagai target utama</a:t>
            </a:r>
            <a:endParaRPr lang="en-US" sz="1000" dirty="0"/>
          </a:p>
          <a:p>
            <a:pPr marL="152400" indent="-152400">
              <a:lnSpc>
                <a:spcPct val="102000"/>
              </a:lnSpc>
              <a:spcAft>
                <a:spcPts val="300"/>
              </a:spcAft>
              <a:buSzPct val="100000"/>
              <a:buChar char="•"/>
            </a:pPr>
            <a:r>
              <a:rPr lang="en-US" sz="900" dirty="0">
                <a:solidFill>
                  <a:srgbClr val="D9CFC7"/>
                </a:solidFill>
                <a:latin typeface="Poppins" pitchFamily="34" charset="0"/>
                <a:ea typeface="Poppins" pitchFamily="34" charset="-122"/>
                <a:cs typeface="Poppins" pitchFamily="34" charset="-120"/>
              </a:rPr>
              <a:t>Sponsor khusus per negara masih bisa diperbanyak</a:t>
            </a:r>
            <a:endParaRPr lang="en-US" sz="1000" dirty="0"/>
          </a:p>
          <a:p>
            <a:pPr marL="152400" indent="-152400">
              <a:lnSpc>
                <a:spcPct val="102000"/>
              </a:lnSpc>
              <a:spcAft>
                <a:spcPts val="300"/>
              </a:spcAft>
              <a:buSzPct val="100000"/>
              <a:buChar char="•"/>
            </a:pPr>
            <a:r>
              <a:rPr lang="en-US" sz="900" dirty="0">
                <a:solidFill>
                  <a:srgbClr val="D9CFC7"/>
                </a:solidFill>
                <a:latin typeface="Poppins" pitchFamily="34" charset="0"/>
                <a:ea typeface="Poppins" pitchFamily="34" charset="-122"/>
                <a:cs typeface="Poppins" pitchFamily="34" charset="-120"/>
              </a:rPr>
              <a:t>Pendapatan siaran Premier League naik 43% dalam setahun</a:t>
            </a:r>
            <a:endParaRPr lang="en-US" sz="1000" dirty="0"/>
          </a:p>
          <a:p>
            <a:pPr marL="152400" indent="-152400">
              <a:lnSpc>
                <a:spcPct val="102000"/>
              </a:lnSpc>
              <a:spcAft>
                <a:spcPts val="300"/>
              </a:spcAft>
              <a:buSzPct val="100000"/>
              <a:buChar char="•"/>
            </a:pPr>
            <a:r>
              <a:rPr lang="en-US" sz="900" dirty="0">
                <a:solidFill>
                  <a:srgbClr val="D9CFC7"/>
                </a:solidFill>
                <a:latin typeface="Poppins" pitchFamily="34" charset="0"/>
                <a:ea typeface="Poppins" pitchFamily="34" charset="-122"/>
                <a:cs typeface="Poppins" pitchFamily="34" charset="-120"/>
              </a:rPr>
              <a:t>Kanal digital: MUTV, MU Mobile, toko online</a:t>
            </a:r>
            <a:endParaRPr lang="en-US" sz="1000" dirty="0"/>
          </a:p>
        </p:txBody>
      </p:sp>
      <p:sp>
        <p:nvSpPr>
          <p:cNvPr id="22" name="Shape 19"/>
          <p:cNvSpPr/>
          <p:nvPr/>
        </p:nvSpPr>
        <p:spPr>
          <a:xfrm>
            <a:off x="6210148" y="3511296"/>
            <a:ext cx="5432908" cy="1572768"/>
          </a:xfrm>
          <a:prstGeom prst="rect">
            <a:avLst/>
          </a:prstGeom>
          <a:solidFill>
            <a:srgbClr val="C8102E"/>
          </a:solidFill>
          <a:ln w="12700">
            <a:solidFill>
              <a:srgbClr val="C8102E"/>
            </a:solidFill>
            <a:prstDash val="solid"/>
          </a:ln>
        </p:spPr>
      </p:sp>
      <p:sp>
        <p:nvSpPr>
          <p:cNvPr id="23" name="Text 20"/>
          <p:cNvSpPr/>
          <p:nvPr/>
        </p:nvSpPr>
        <p:spPr>
          <a:xfrm>
            <a:off x="6393028" y="3584448"/>
            <a:ext cx="822960" cy="731520"/>
          </a:xfrm>
          <a:prstGeom prst="rect">
            <a:avLst/>
          </a:prstGeom>
          <a:noFill/>
          <a:ln/>
        </p:spPr>
        <p:txBody>
          <a:bodyPr wrap="square" lIns="0" tIns="0" rIns="0" bIns="0" rtlCol="0" anchor="t"/>
          <a:lstStyle/>
          <a:p>
            <a:pPr marL="0" indent="0">
              <a:buNone/>
            </a:pPr>
            <a:r>
              <a:rPr lang="en-US" sz="3600" dirty="0">
                <a:solidFill>
                  <a:srgbClr val="FBE122"/>
                </a:solidFill>
                <a:latin typeface="Poppins ExtraBold" pitchFamily="34" charset="0"/>
                <a:ea typeface="Poppins ExtraBold" pitchFamily="34" charset="-122"/>
                <a:cs typeface="Poppins ExtraBold" pitchFamily="34" charset="-120"/>
              </a:rPr>
              <a:t>T</a:t>
            </a:r>
            <a:endParaRPr lang="en-US" sz="3600" dirty="0"/>
          </a:p>
        </p:txBody>
      </p:sp>
      <p:sp>
        <p:nvSpPr>
          <p:cNvPr id="24" name="Text 21"/>
          <p:cNvSpPr/>
          <p:nvPr/>
        </p:nvSpPr>
        <p:spPr>
          <a:xfrm>
            <a:off x="7170268" y="3639312"/>
            <a:ext cx="2743200" cy="274320"/>
          </a:xfrm>
          <a:prstGeom prst="rect">
            <a:avLst/>
          </a:prstGeom>
          <a:noFill/>
          <a:ln/>
        </p:spPr>
        <p:txBody>
          <a:bodyPr wrap="square" lIns="0" tIns="0" rIns="0" bIns="0" rtlCol="0" anchor="t"/>
          <a:lstStyle/>
          <a:p>
            <a:pPr marL="0" indent="0">
              <a:buNone/>
            </a:pPr>
            <a:r>
              <a:rPr lang="en-US" sz="1200" dirty="0">
                <a:solidFill>
                  <a:srgbClr val="FFFFFF"/>
                </a:solidFill>
                <a:latin typeface="Poppins SemiBold" pitchFamily="34" charset="0"/>
                <a:ea typeface="Poppins SemiBold" pitchFamily="34" charset="-122"/>
                <a:cs typeface="Poppins SemiBold" pitchFamily="34" charset="-120"/>
              </a:rPr>
              <a:t>Threats</a:t>
            </a:r>
            <a:endParaRPr lang="en-US" sz="1200" dirty="0"/>
          </a:p>
        </p:txBody>
      </p:sp>
      <p:sp>
        <p:nvSpPr>
          <p:cNvPr id="25" name="Text 22"/>
          <p:cNvSpPr/>
          <p:nvPr/>
        </p:nvSpPr>
        <p:spPr>
          <a:xfrm>
            <a:off x="7170268" y="3922776"/>
            <a:ext cx="4289908" cy="1115568"/>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900" dirty="0">
                <a:solidFill>
                  <a:srgbClr val="FFFFFF"/>
                </a:solidFill>
                <a:latin typeface="Poppins" pitchFamily="34" charset="0"/>
                <a:ea typeface="Poppins" pitchFamily="34" charset="-122"/>
                <a:cs typeface="Poppins" pitchFamily="34" charset="-120"/>
              </a:rPr>
              <a:t>Harga pemain meledak, didorong Manchester City (£185 jt)</a:t>
            </a:r>
            <a:endParaRPr lang="en-US" sz="1000" dirty="0"/>
          </a:p>
          <a:p>
            <a:pPr marL="152400" indent="-152400">
              <a:lnSpc>
                <a:spcPct val="102000"/>
              </a:lnSpc>
              <a:spcAft>
                <a:spcPts val="300"/>
              </a:spcAft>
              <a:buSzPct val="100000"/>
              <a:buChar char="•"/>
            </a:pPr>
            <a:r>
              <a:rPr lang="en-US" sz="900" dirty="0">
                <a:solidFill>
                  <a:srgbClr val="FFFFFF"/>
                </a:solidFill>
                <a:latin typeface="Poppins" pitchFamily="34" charset="0"/>
                <a:ea typeface="Poppins" pitchFamily="34" charset="-122"/>
                <a:cs typeface="Poppins" pitchFamily="34" charset="-120"/>
              </a:rPr>
              <a:t>Pesaing berpemilik sangat kaya: Abramovich, Sheikh Mansour</a:t>
            </a:r>
            <a:endParaRPr lang="en-US" sz="1000" dirty="0"/>
          </a:p>
          <a:p>
            <a:pPr marL="152400" indent="-152400">
              <a:lnSpc>
                <a:spcPct val="102000"/>
              </a:lnSpc>
              <a:spcAft>
                <a:spcPts val="300"/>
              </a:spcAft>
              <a:buSzPct val="100000"/>
              <a:buChar char="•"/>
            </a:pPr>
            <a:r>
              <a:rPr lang="en-US" sz="900" dirty="0">
                <a:solidFill>
                  <a:srgbClr val="FFFFFF"/>
                </a:solidFill>
                <a:latin typeface="Poppins" pitchFamily="34" charset="0"/>
                <a:ea typeface="Poppins" pitchFamily="34" charset="-122"/>
                <a:cs typeface="Poppins" pitchFamily="34" charset="-120"/>
              </a:rPr>
              <a:t>MU tak dapat suntikan dana pemilik seperti Chelsea dan City</a:t>
            </a:r>
            <a:endParaRPr lang="en-US" sz="1000" dirty="0"/>
          </a:p>
          <a:p>
            <a:pPr marL="152400" indent="-152400">
              <a:lnSpc>
                <a:spcPct val="102000"/>
              </a:lnSpc>
              <a:spcAft>
                <a:spcPts val="300"/>
              </a:spcAft>
              <a:buSzPct val="100000"/>
              <a:buChar char="•"/>
            </a:pPr>
            <a:r>
              <a:rPr lang="en-US" sz="900" dirty="0">
                <a:solidFill>
                  <a:srgbClr val="FFFFFF"/>
                </a:solidFill>
                <a:latin typeface="Poppins" pitchFamily="34" charset="0"/>
                <a:ea typeface="Poppins" pitchFamily="34" charset="-122"/>
                <a:cs typeface="Poppins" pitchFamily="34" charset="-120"/>
              </a:rPr>
              <a:t>Barcelona unggul poin performa (200,0 vs 192,5)</a:t>
            </a:r>
            <a:endParaRPr lang="en-US" sz="1000" dirty="0"/>
          </a:p>
        </p:txBody>
      </p:sp>
      <p:sp>
        <p:nvSpPr>
          <p:cNvPr id="26" name="Shape 23"/>
          <p:cNvSpPr/>
          <p:nvPr/>
        </p:nvSpPr>
        <p:spPr>
          <a:xfrm>
            <a:off x="548640" y="5266944"/>
            <a:ext cx="11094415" cy="777240"/>
          </a:xfrm>
          <a:prstGeom prst="rect">
            <a:avLst/>
          </a:prstGeom>
          <a:solidFill>
            <a:srgbClr val="32191E"/>
          </a:solidFill>
          <a:ln w="12700">
            <a:solidFill>
              <a:srgbClr val="32191E"/>
            </a:solidFill>
            <a:prstDash val="solid"/>
          </a:ln>
        </p:spPr>
      </p:sp>
      <p:sp>
        <p:nvSpPr>
          <p:cNvPr id="27" name="Text 24"/>
          <p:cNvSpPr/>
          <p:nvPr/>
        </p:nvSpPr>
        <p:spPr>
          <a:xfrm>
            <a:off x="777240" y="5394960"/>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KESIMPULAN  ·  LANGKAH 2</a:t>
            </a:r>
            <a:endParaRPr lang="en-US" sz="800" dirty="0"/>
          </a:p>
        </p:txBody>
      </p:sp>
      <p:sp>
        <p:nvSpPr>
          <p:cNvPr id="28" name="Text 25"/>
          <p:cNvSpPr/>
          <p:nvPr/>
        </p:nvSpPr>
        <p:spPr>
          <a:xfrm>
            <a:off x="777240" y="5632704"/>
            <a:ext cx="10637215" cy="32004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Kekuatan MU cukup untuk menangkap peluang komersial di Asia. Tapi kelemahan terbesarnya, ketergantungan pada Ferguson, menyerang sisi lapangan, padahal bagi Gill sisi lapangan adalah syarat mengalirnya pendapatan komersial.</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61188"/>
            <a:ext cx="10728655" cy="146304"/>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3  ·  DITERAPKAN</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INVENTARISASI RESOURCE MANCHESTER UNITED</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Langkah pertama Q3: mendaftar aset bersaing klub memakai </a:t>
            </a:r>
            <a:r>
              <a:rPr lang="en-US" sz="1150" dirty="0" err="1">
                <a:solidFill>
                  <a:srgbClr val="D9CFC7"/>
                </a:solidFill>
                <a:latin typeface="Poppins" pitchFamily="34" charset="0"/>
                <a:ea typeface="Poppins" pitchFamily="34" charset="-122"/>
                <a:cs typeface="Poppins" pitchFamily="34" charset="-120"/>
              </a:rPr>
              <a:t>delapan</a:t>
            </a:r>
            <a:r>
              <a:rPr lang="en-US" sz="1150" dirty="0">
                <a:solidFill>
                  <a:srgbClr val="D9CFC7"/>
                </a:solidFill>
                <a:latin typeface="Poppins" pitchFamily="34" charset="0"/>
                <a:ea typeface="Poppins" pitchFamily="34" charset="-122"/>
                <a:cs typeface="Poppins" pitchFamily="34" charset="-120"/>
              </a:rPr>
              <a:t> </a:t>
            </a:r>
            <a:r>
              <a:rPr lang="en-US" sz="1150" dirty="0" err="1">
                <a:solidFill>
                  <a:srgbClr val="D9CFC7"/>
                </a:solidFill>
                <a:latin typeface="Poppins" pitchFamily="34" charset="0"/>
                <a:ea typeface="Poppins" pitchFamily="34" charset="-122"/>
                <a:cs typeface="Poppins" pitchFamily="34" charset="-120"/>
              </a:rPr>
              <a:t>kategori</a:t>
            </a:r>
            <a:r>
              <a:rPr lang="en-US" sz="1150" dirty="0">
                <a:solidFill>
                  <a:srgbClr val="D9CFC7"/>
                </a:solidFill>
                <a:latin typeface="Poppins" pitchFamily="34" charset="0"/>
                <a:ea typeface="Poppins" pitchFamily="34" charset="-122"/>
                <a:cs typeface="Poppins" pitchFamily="34" charset="-120"/>
              </a:rPr>
              <a:t>, semuanya berdasarkan bukti dari kasus.</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25</a:t>
            </a:r>
            <a:endParaRPr lang="en-US" sz="900" dirty="0"/>
          </a:p>
        </p:txBody>
      </p:sp>
      <p:sp>
        <p:nvSpPr>
          <p:cNvPr id="10" name="Shape 7"/>
          <p:cNvSpPr/>
          <p:nvPr/>
        </p:nvSpPr>
        <p:spPr>
          <a:xfrm>
            <a:off x="548640" y="1755648"/>
            <a:ext cx="5432908" cy="384048"/>
          </a:xfrm>
          <a:prstGeom prst="rect">
            <a:avLst/>
          </a:prstGeom>
          <a:solidFill>
            <a:srgbClr val="C8102E"/>
          </a:solidFill>
          <a:ln w="12700">
            <a:solidFill>
              <a:srgbClr val="C8102E"/>
            </a:solidFill>
            <a:prstDash val="solid"/>
          </a:ln>
        </p:spPr>
      </p:sp>
      <p:sp>
        <p:nvSpPr>
          <p:cNvPr id="11" name="Text 8"/>
          <p:cNvSpPr/>
          <p:nvPr/>
        </p:nvSpPr>
        <p:spPr>
          <a:xfrm>
            <a:off x="768096" y="1755648"/>
            <a:ext cx="5432908" cy="384048"/>
          </a:xfrm>
          <a:prstGeom prst="rect">
            <a:avLst/>
          </a:prstGeom>
          <a:noFill/>
          <a:ln/>
        </p:spPr>
        <p:txBody>
          <a:bodyPr wrap="square" lIns="0" tIns="0" rIns="0" bIns="0" rtlCol="0" anchor="ctr"/>
          <a:lstStyle/>
          <a:p>
            <a:pPr marL="0" indent="0">
              <a:buNone/>
            </a:pPr>
            <a:r>
              <a:rPr lang="en-US" sz="1200" kern="0" spc="200" dirty="0">
                <a:solidFill>
                  <a:srgbClr val="FFFFFF"/>
                </a:solidFill>
                <a:latin typeface="Poppins ExtraBold" pitchFamily="34" charset="0"/>
                <a:ea typeface="Poppins ExtraBold" pitchFamily="34" charset="-122"/>
                <a:cs typeface="Poppins ExtraBold" pitchFamily="34" charset="-120"/>
              </a:rPr>
              <a:t>TANGIBLE</a:t>
            </a:r>
            <a:endParaRPr lang="en-US" sz="1200" dirty="0"/>
          </a:p>
        </p:txBody>
      </p:sp>
      <p:sp>
        <p:nvSpPr>
          <p:cNvPr id="12" name="Shape 9"/>
          <p:cNvSpPr/>
          <p:nvPr/>
        </p:nvSpPr>
        <p:spPr>
          <a:xfrm>
            <a:off x="548640" y="2139696"/>
            <a:ext cx="5432908" cy="694944"/>
          </a:xfrm>
          <a:prstGeom prst="rect">
            <a:avLst/>
          </a:prstGeom>
          <a:solidFill>
            <a:srgbClr val="27161A"/>
          </a:solidFill>
          <a:ln w="12700">
            <a:solidFill>
              <a:srgbClr val="27161A"/>
            </a:solidFill>
            <a:prstDash val="solid"/>
          </a:ln>
        </p:spPr>
      </p:sp>
      <p:sp>
        <p:nvSpPr>
          <p:cNvPr id="13" name="Text 10"/>
          <p:cNvSpPr/>
          <p:nvPr/>
        </p:nvSpPr>
        <p:spPr>
          <a:xfrm>
            <a:off x="768096" y="2212848"/>
            <a:ext cx="1554480" cy="54864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Finansial</a:t>
            </a:r>
            <a:endParaRPr lang="en-US" sz="1000" dirty="0"/>
          </a:p>
        </p:txBody>
      </p:sp>
      <p:sp>
        <p:nvSpPr>
          <p:cNvPr id="14" name="Text 11"/>
          <p:cNvSpPr/>
          <p:nvPr/>
        </p:nvSpPr>
        <p:spPr>
          <a:xfrm>
            <a:off x="2331720" y="2194560"/>
            <a:ext cx="3466948" cy="59436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EBITDA €101,9 jt, tertinggi di Table 6.5; laba bersih 2008 £46,8 jt; ekuitas £294 jt.</a:t>
            </a:r>
            <a:endParaRPr lang="en-US" sz="850" dirty="0"/>
          </a:p>
        </p:txBody>
      </p:sp>
      <p:sp>
        <p:nvSpPr>
          <p:cNvPr id="15" name="Shape 12"/>
          <p:cNvSpPr/>
          <p:nvPr/>
        </p:nvSpPr>
        <p:spPr>
          <a:xfrm>
            <a:off x="548640" y="2852928"/>
            <a:ext cx="5432908" cy="694944"/>
          </a:xfrm>
          <a:prstGeom prst="rect">
            <a:avLst/>
          </a:prstGeom>
          <a:solidFill>
            <a:srgbClr val="32191E"/>
          </a:solidFill>
          <a:ln w="12700">
            <a:solidFill>
              <a:srgbClr val="32191E"/>
            </a:solidFill>
            <a:prstDash val="solid"/>
          </a:ln>
        </p:spPr>
      </p:sp>
      <p:sp>
        <p:nvSpPr>
          <p:cNvPr id="16" name="Text 13"/>
          <p:cNvSpPr/>
          <p:nvPr/>
        </p:nvSpPr>
        <p:spPr>
          <a:xfrm>
            <a:off x="768096" y="2926080"/>
            <a:ext cx="1554480" cy="54864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Fisik</a:t>
            </a:r>
            <a:endParaRPr lang="en-US" sz="1000" dirty="0"/>
          </a:p>
        </p:txBody>
      </p:sp>
      <p:sp>
        <p:nvSpPr>
          <p:cNvPr id="17" name="Text 14"/>
          <p:cNvSpPr/>
          <p:nvPr/>
        </p:nvSpPr>
        <p:spPr>
          <a:xfrm>
            <a:off x="2331720" y="2907792"/>
            <a:ext cx="3466948" cy="59436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Old Trafford, diperluas 2006 dengan tambahan 7.500 kursi; museum, tur stadion, suite dan ballroom.</a:t>
            </a:r>
            <a:endParaRPr lang="en-US" sz="850" dirty="0"/>
          </a:p>
        </p:txBody>
      </p:sp>
      <p:sp>
        <p:nvSpPr>
          <p:cNvPr id="18" name="Shape 15"/>
          <p:cNvSpPr/>
          <p:nvPr/>
        </p:nvSpPr>
        <p:spPr>
          <a:xfrm>
            <a:off x="548640" y="3566160"/>
            <a:ext cx="5432908" cy="694944"/>
          </a:xfrm>
          <a:prstGeom prst="rect">
            <a:avLst/>
          </a:prstGeom>
          <a:solidFill>
            <a:srgbClr val="27161A"/>
          </a:solidFill>
          <a:ln w="12700">
            <a:solidFill>
              <a:srgbClr val="27161A"/>
            </a:solidFill>
            <a:prstDash val="solid"/>
          </a:ln>
        </p:spPr>
      </p:sp>
      <p:sp>
        <p:nvSpPr>
          <p:cNvPr id="19" name="Text 16"/>
          <p:cNvSpPr/>
          <p:nvPr/>
        </p:nvSpPr>
        <p:spPr>
          <a:xfrm>
            <a:off x="768096" y="3639312"/>
            <a:ext cx="1554480" cy="54864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Teknologi</a:t>
            </a:r>
            <a:endParaRPr lang="en-US" sz="1000" dirty="0"/>
          </a:p>
        </p:txBody>
      </p:sp>
      <p:sp>
        <p:nvSpPr>
          <p:cNvPr id="20" name="Text 17"/>
          <p:cNvSpPr/>
          <p:nvPr/>
        </p:nvSpPr>
        <p:spPr>
          <a:xfrm>
            <a:off x="2331720" y="3621024"/>
            <a:ext cx="3466948" cy="59436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MUTV (siaran web), MU Mobile (SMS dan video), toko online store.manutd.com.</a:t>
            </a:r>
            <a:endParaRPr lang="en-US" sz="850" dirty="0"/>
          </a:p>
        </p:txBody>
      </p:sp>
      <p:sp>
        <p:nvSpPr>
          <p:cNvPr id="21" name="Shape 18"/>
          <p:cNvSpPr/>
          <p:nvPr/>
        </p:nvSpPr>
        <p:spPr>
          <a:xfrm>
            <a:off x="548640" y="4279392"/>
            <a:ext cx="5432908" cy="694944"/>
          </a:xfrm>
          <a:prstGeom prst="rect">
            <a:avLst/>
          </a:prstGeom>
          <a:solidFill>
            <a:srgbClr val="32191E"/>
          </a:solidFill>
          <a:ln w="12700">
            <a:solidFill>
              <a:srgbClr val="32191E"/>
            </a:solidFill>
            <a:prstDash val="solid"/>
          </a:ln>
        </p:spPr>
      </p:sp>
      <p:sp>
        <p:nvSpPr>
          <p:cNvPr id="22" name="Text 19"/>
          <p:cNvSpPr/>
          <p:nvPr/>
        </p:nvSpPr>
        <p:spPr>
          <a:xfrm>
            <a:off x="768096" y="4352544"/>
            <a:ext cx="1554480" cy="54864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Organisasional</a:t>
            </a:r>
            <a:endParaRPr lang="en-US" sz="1000" dirty="0"/>
          </a:p>
        </p:txBody>
      </p:sp>
      <p:sp>
        <p:nvSpPr>
          <p:cNvPr id="23" name="Text 20"/>
          <p:cNvSpPr/>
          <p:nvPr/>
        </p:nvSpPr>
        <p:spPr>
          <a:xfrm>
            <a:off x="2331720" y="4334256"/>
            <a:ext cx="3466948" cy="59436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Urusan tim (Ferguson) terpisah dari komersial (Gill; direktur komersial Richard Arnold); MU International.</a:t>
            </a:r>
            <a:endParaRPr lang="en-US" sz="850" dirty="0"/>
          </a:p>
        </p:txBody>
      </p:sp>
      <p:sp>
        <p:nvSpPr>
          <p:cNvPr id="24" name="Shape 21"/>
          <p:cNvSpPr/>
          <p:nvPr/>
        </p:nvSpPr>
        <p:spPr>
          <a:xfrm>
            <a:off x="6210148" y="1755648"/>
            <a:ext cx="5432908" cy="384048"/>
          </a:xfrm>
          <a:prstGeom prst="rect">
            <a:avLst/>
          </a:prstGeom>
          <a:solidFill>
            <a:srgbClr val="FBE122"/>
          </a:solidFill>
          <a:ln w="12700">
            <a:solidFill>
              <a:srgbClr val="FBE122"/>
            </a:solidFill>
            <a:prstDash val="solid"/>
          </a:ln>
        </p:spPr>
      </p:sp>
      <p:sp>
        <p:nvSpPr>
          <p:cNvPr id="25" name="Text 22"/>
          <p:cNvSpPr/>
          <p:nvPr/>
        </p:nvSpPr>
        <p:spPr>
          <a:xfrm>
            <a:off x="6429604" y="1755648"/>
            <a:ext cx="5432908" cy="384048"/>
          </a:xfrm>
          <a:prstGeom prst="rect">
            <a:avLst/>
          </a:prstGeom>
          <a:noFill/>
          <a:ln/>
        </p:spPr>
        <p:txBody>
          <a:bodyPr wrap="square" lIns="0" tIns="0" rIns="0" bIns="0" rtlCol="0" anchor="ctr"/>
          <a:lstStyle/>
          <a:p>
            <a:pPr marL="0" indent="0">
              <a:buNone/>
            </a:pPr>
            <a:r>
              <a:rPr lang="en-US" sz="1200" kern="0" spc="200" dirty="0">
                <a:solidFill>
                  <a:srgbClr val="1B0F10"/>
                </a:solidFill>
                <a:latin typeface="Poppins ExtraBold" pitchFamily="34" charset="0"/>
                <a:ea typeface="Poppins ExtraBold" pitchFamily="34" charset="-122"/>
                <a:cs typeface="Poppins ExtraBold" pitchFamily="34" charset="-120"/>
              </a:rPr>
              <a:t>INTANGIBLE</a:t>
            </a:r>
            <a:endParaRPr lang="en-US" sz="1200" dirty="0"/>
          </a:p>
        </p:txBody>
      </p:sp>
      <p:sp>
        <p:nvSpPr>
          <p:cNvPr id="26" name="Shape 23"/>
          <p:cNvSpPr/>
          <p:nvPr/>
        </p:nvSpPr>
        <p:spPr>
          <a:xfrm>
            <a:off x="6210148" y="2139696"/>
            <a:ext cx="5432908" cy="694944"/>
          </a:xfrm>
          <a:prstGeom prst="rect">
            <a:avLst/>
          </a:prstGeom>
          <a:solidFill>
            <a:srgbClr val="27161A"/>
          </a:solidFill>
          <a:ln w="12700">
            <a:solidFill>
              <a:srgbClr val="27161A"/>
            </a:solidFill>
            <a:prstDash val="solid"/>
          </a:ln>
        </p:spPr>
      </p:sp>
      <p:sp>
        <p:nvSpPr>
          <p:cNvPr id="27" name="Text 24"/>
          <p:cNvSpPr/>
          <p:nvPr/>
        </p:nvSpPr>
        <p:spPr>
          <a:xfrm>
            <a:off x="6429604" y="2212848"/>
            <a:ext cx="1554480" cy="54864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Human assets</a:t>
            </a:r>
            <a:endParaRPr lang="en-US" sz="1000" dirty="0"/>
          </a:p>
        </p:txBody>
      </p:sp>
      <p:sp>
        <p:nvSpPr>
          <p:cNvPr id="28" name="Text 25"/>
          <p:cNvSpPr/>
          <p:nvPr/>
        </p:nvSpPr>
        <p:spPr>
          <a:xfrm>
            <a:off x="7993228" y="2194560"/>
            <a:ext cx="3466948" cy="59436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Ferguson sejak 1986; skuad 34 pemain; lebih dari 20 pemandu bakat. Ronaldo, peringkat 1 FIFA, dijual 2009.</a:t>
            </a:r>
            <a:endParaRPr lang="en-US" sz="850" dirty="0"/>
          </a:p>
        </p:txBody>
      </p:sp>
      <p:sp>
        <p:nvSpPr>
          <p:cNvPr id="29" name="Shape 26"/>
          <p:cNvSpPr/>
          <p:nvPr/>
        </p:nvSpPr>
        <p:spPr>
          <a:xfrm>
            <a:off x="6210148" y="2852928"/>
            <a:ext cx="5432908" cy="694944"/>
          </a:xfrm>
          <a:prstGeom prst="rect">
            <a:avLst/>
          </a:prstGeom>
          <a:solidFill>
            <a:srgbClr val="32191E"/>
          </a:solidFill>
          <a:ln w="12700">
            <a:solidFill>
              <a:srgbClr val="32191E"/>
            </a:solidFill>
            <a:prstDash val="solid"/>
          </a:ln>
        </p:spPr>
      </p:sp>
      <p:sp>
        <p:nvSpPr>
          <p:cNvPr id="30" name="Text 27"/>
          <p:cNvSpPr/>
          <p:nvPr/>
        </p:nvSpPr>
        <p:spPr>
          <a:xfrm>
            <a:off x="6429604" y="2926080"/>
            <a:ext cx="1554480" cy="54864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Merek &amp; reputasi</a:t>
            </a:r>
            <a:endParaRPr lang="en-US" sz="1000" dirty="0"/>
          </a:p>
        </p:txBody>
      </p:sp>
      <p:sp>
        <p:nvSpPr>
          <p:cNvPr id="31" name="Text 28"/>
          <p:cNvSpPr/>
          <p:nvPr/>
        </p:nvSpPr>
        <p:spPr>
          <a:xfrm>
            <a:off x="7993228" y="2907792"/>
            <a:ext cx="3466948" cy="59436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80 juta pendukung di Asia; sub-merek Fred the Red, MUFC, Red Devil. Menurut Aon, tak tertandingi di dunia olahraga.</a:t>
            </a:r>
            <a:endParaRPr lang="en-US" sz="850" dirty="0"/>
          </a:p>
        </p:txBody>
      </p:sp>
      <p:sp>
        <p:nvSpPr>
          <p:cNvPr id="32" name="Shape 29"/>
          <p:cNvSpPr/>
          <p:nvPr/>
        </p:nvSpPr>
        <p:spPr>
          <a:xfrm>
            <a:off x="6210148" y="3566160"/>
            <a:ext cx="5432908" cy="694944"/>
          </a:xfrm>
          <a:prstGeom prst="rect">
            <a:avLst/>
          </a:prstGeom>
          <a:solidFill>
            <a:srgbClr val="27161A"/>
          </a:solidFill>
          <a:ln w="12700">
            <a:solidFill>
              <a:srgbClr val="27161A"/>
            </a:solidFill>
            <a:prstDash val="solid"/>
          </a:ln>
        </p:spPr>
      </p:sp>
      <p:sp>
        <p:nvSpPr>
          <p:cNvPr id="33" name="Text 30"/>
          <p:cNvSpPr/>
          <p:nvPr/>
        </p:nvSpPr>
        <p:spPr>
          <a:xfrm>
            <a:off x="6429604" y="3639312"/>
            <a:ext cx="1554480" cy="54864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Relasi</a:t>
            </a:r>
            <a:endParaRPr lang="en-US" sz="1000" dirty="0"/>
          </a:p>
        </p:txBody>
      </p:sp>
      <p:sp>
        <p:nvSpPr>
          <p:cNvPr id="34" name="Text 31"/>
          <p:cNvSpPr/>
          <p:nvPr/>
        </p:nvSpPr>
        <p:spPr>
          <a:xfrm>
            <a:off x="7993228" y="3621024"/>
            <a:ext cx="3466948" cy="59436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Nike dan AIG (diganti Aon, £80 jt/4 tahun), ditambah 13 sponsor lain, termasuk Tri Indonesia dan Bharti Airtel.</a:t>
            </a:r>
            <a:endParaRPr lang="en-US" sz="850" dirty="0"/>
          </a:p>
        </p:txBody>
      </p:sp>
      <p:sp>
        <p:nvSpPr>
          <p:cNvPr id="35" name="Shape 32"/>
          <p:cNvSpPr/>
          <p:nvPr/>
        </p:nvSpPr>
        <p:spPr>
          <a:xfrm>
            <a:off x="6210148" y="4279392"/>
            <a:ext cx="5432908" cy="694944"/>
          </a:xfrm>
          <a:prstGeom prst="rect">
            <a:avLst/>
          </a:prstGeom>
          <a:solidFill>
            <a:srgbClr val="32191E"/>
          </a:solidFill>
          <a:ln w="12700">
            <a:solidFill>
              <a:srgbClr val="32191E"/>
            </a:solidFill>
            <a:prstDash val="solid"/>
          </a:ln>
        </p:spPr>
      </p:sp>
      <p:sp>
        <p:nvSpPr>
          <p:cNvPr id="36" name="Text 33"/>
          <p:cNvSpPr/>
          <p:nvPr/>
        </p:nvSpPr>
        <p:spPr>
          <a:xfrm>
            <a:off x="6429604" y="4352544"/>
            <a:ext cx="1554480" cy="548640"/>
          </a:xfrm>
          <a:prstGeom prst="rect">
            <a:avLst/>
          </a:prstGeom>
          <a:noFill/>
          <a:ln/>
        </p:spPr>
        <p:txBody>
          <a:bodyPr wrap="square" lIns="0" tIns="0" rIns="0" bIns="0" rtlCol="0" anchor="ctr"/>
          <a:lstStyle/>
          <a:p>
            <a:pPr marL="0" indent="0">
              <a:buNone/>
            </a:pPr>
            <a:r>
              <a:rPr lang="en-US" sz="1000" dirty="0">
                <a:solidFill>
                  <a:srgbClr val="FFFFFF"/>
                </a:solidFill>
                <a:latin typeface="Poppins SemiBold" pitchFamily="34" charset="0"/>
                <a:ea typeface="Poppins SemiBold" pitchFamily="34" charset="-122"/>
                <a:cs typeface="Poppins SemiBold" pitchFamily="34" charset="-120"/>
              </a:rPr>
              <a:t>Budaya &amp; insentif</a:t>
            </a:r>
            <a:endParaRPr lang="en-US" sz="1000" dirty="0"/>
          </a:p>
        </p:txBody>
      </p:sp>
      <p:sp>
        <p:nvSpPr>
          <p:cNvPr id="37" name="Text 34"/>
          <p:cNvSpPr/>
          <p:nvPr/>
        </p:nvSpPr>
        <p:spPr>
          <a:xfrm>
            <a:off x="7993228" y="4334256"/>
            <a:ext cx="3466948" cy="594360"/>
          </a:xfrm>
          <a:prstGeom prst="rect">
            <a:avLst/>
          </a:prstGeom>
          <a:noFill/>
          <a:ln/>
        </p:spPr>
        <p:txBody>
          <a:bodyPr wrap="square" lIns="0" tIns="0" rIns="0" bIns="0" rtlCol="0" anchor="ctr"/>
          <a:lstStyle/>
          <a:p>
            <a:pPr marL="0" indent="0">
              <a:lnSpc>
                <a:spcPct val="104000"/>
              </a:lnSpc>
              <a:buNone/>
            </a:pPr>
            <a:r>
              <a:rPr lang="en-US" sz="850" dirty="0">
                <a:solidFill>
                  <a:srgbClr val="D9CFC7"/>
                </a:solidFill>
                <a:latin typeface="Poppins" pitchFamily="34" charset="0"/>
                <a:ea typeface="Poppins" pitchFamily="34" charset="-122"/>
                <a:cs typeface="Poppins" pitchFamily="34" charset="-120"/>
              </a:rPr>
              <a:t>Disiplin latihan ketat, perang terhadap alkohol, prinsip "tidak ada pemain yang lebih besar dari klub".</a:t>
            </a:r>
            <a:endParaRPr lang="en-US" sz="850" dirty="0"/>
          </a:p>
        </p:txBody>
      </p:sp>
      <p:sp>
        <p:nvSpPr>
          <p:cNvPr id="38" name="Shape 35"/>
          <p:cNvSpPr/>
          <p:nvPr/>
        </p:nvSpPr>
        <p:spPr>
          <a:xfrm>
            <a:off x="548640" y="5184648"/>
            <a:ext cx="11094415" cy="859196"/>
          </a:xfrm>
          <a:prstGeom prst="rect">
            <a:avLst/>
          </a:prstGeom>
          <a:solidFill>
            <a:srgbClr val="C8102E"/>
          </a:solidFill>
          <a:ln w="12700">
            <a:solidFill>
              <a:srgbClr val="C8102E"/>
            </a:solidFill>
            <a:prstDash val="solid"/>
          </a:ln>
        </p:spPr>
      </p:sp>
      <p:sp>
        <p:nvSpPr>
          <p:cNvPr id="39" name="Text 36"/>
          <p:cNvSpPr/>
          <p:nvPr/>
        </p:nvSpPr>
        <p:spPr>
          <a:xfrm>
            <a:off x="777240" y="5312664"/>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PERHATIKAN KOMPOSISINYA</a:t>
            </a:r>
            <a:endParaRPr lang="en-US" sz="800" dirty="0"/>
          </a:p>
        </p:txBody>
      </p:sp>
      <p:sp>
        <p:nvSpPr>
          <p:cNvPr id="40" name="Text 37"/>
          <p:cNvSpPr/>
          <p:nvPr/>
        </p:nvSpPr>
        <p:spPr>
          <a:xfrm>
            <a:off x="777240" y="5550408"/>
            <a:ext cx="10637215" cy="27432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Aset yang paling membedakan MU ada di kolom kanan, yang tidak berwujud. Itu yang membuat klub ini unggul, dan sekaligus rapuh, karena sebagian aset tak berwujud melekat pada orang, dan orang bisa pergi.</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792" y="619506"/>
            <a:ext cx="292608" cy="54864"/>
          </a:xfrm>
          <a:prstGeom prst="rect">
            <a:avLst/>
          </a:prstGeom>
          <a:solidFill>
            <a:srgbClr val="C8102E"/>
          </a:solidFill>
          <a:ln w="12700">
            <a:solidFill>
              <a:srgbClr val="C8102E"/>
            </a:solidFill>
            <a:prstDash val="solid"/>
          </a:ln>
        </p:spPr>
      </p:sp>
      <p:sp>
        <p:nvSpPr>
          <p:cNvPr id="3" name="Text 1"/>
          <p:cNvSpPr/>
          <p:nvPr/>
        </p:nvSpPr>
        <p:spPr>
          <a:xfrm>
            <a:off x="932840" y="578358"/>
            <a:ext cx="10728655" cy="32004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3  ·  DITERAPKAN</a:t>
            </a:r>
            <a:endParaRPr lang="en-US" sz="950" dirty="0"/>
          </a:p>
        </p:txBody>
      </p:sp>
      <p:sp>
        <p:nvSpPr>
          <p:cNvPr id="4" name="Text 2"/>
          <p:cNvSpPr/>
          <p:nvPr/>
        </p:nvSpPr>
        <p:spPr>
          <a:xfrm>
            <a:off x="548792" y="848106"/>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CAPABILITY MU, DAN MANA YANG CORE COMPETENCE</a:t>
            </a:r>
            <a:endParaRPr lang="en-US" sz="260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26</a:t>
            </a:r>
            <a:endParaRPr lang="en-US" sz="900" dirty="0"/>
          </a:p>
        </p:txBody>
      </p:sp>
      <p:sp>
        <p:nvSpPr>
          <p:cNvPr id="10" name="Shape 7"/>
          <p:cNvSpPr/>
          <p:nvPr/>
        </p:nvSpPr>
        <p:spPr>
          <a:xfrm>
            <a:off x="548640" y="1755648"/>
            <a:ext cx="3545738" cy="1481328"/>
          </a:xfrm>
          <a:prstGeom prst="rect">
            <a:avLst/>
          </a:prstGeom>
          <a:solidFill>
            <a:srgbClr val="C8102E"/>
          </a:solidFill>
          <a:ln w="12700">
            <a:solidFill>
              <a:srgbClr val="C8102E"/>
            </a:solidFill>
            <a:prstDash val="solid"/>
          </a:ln>
        </p:spPr>
      </p:sp>
      <p:sp>
        <p:nvSpPr>
          <p:cNvPr id="11" name="Shape 8"/>
          <p:cNvSpPr/>
          <p:nvPr/>
        </p:nvSpPr>
        <p:spPr>
          <a:xfrm>
            <a:off x="548640" y="1755648"/>
            <a:ext cx="54864" cy="1481328"/>
          </a:xfrm>
          <a:prstGeom prst="rect">
            <a:avLst/>
          </a:prstGeom>
          <a:solidFill>
            <a:srgbClr val="FBE122"/>
          </a:solidFill>
          <a:ln w="12700">
            <a:solidFill>
              <a:srgbClr val="FBE122"/>
            </a:solidFill>
            <a:prstDash val="solid"/>
          </a:ln>
        </p:spPr>
      </p:sp>
      <p:sp>
        <p:nvSpPr>
          <p:cNvPr id="12" name="Text 9"/>
          <p:cNvSpPr/>
          <p:nvPr/>
        </p:nvSpPr>
        <p:spPr>
          <a:xfrm>
            <a:off x="768096" y="1901952"/>
            <a:ext cx="3179978"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CORE COMPETENCE</a:t>
            </a:r>
            <a:endParaRPr lang="en-US" sz="800" dirty="0"/>
          </a:p>
        </p:txBody>
      </p:sp>
      <p:sp>
        <p:nvSpPr>
          <p:cNvPr id="13" name="Text 10"/>
          <p:cNvSpPr/>
          <p:nvPr/>
        </p:nvSpPr>
        <p:spPr>
          <a:xfrm>
            <a:off x="768096" y="2148840"/>
            <a:ext cx="3179978" cy="274320"/>
          </a:xfrm>
          <a:prstGeom prst="rect">
            <a:avLst/>
          </a:prstGeom>
          <a:noFill/>
          <a:ln/>
        </p:spPr>
        <p:txBody>
          <a:bodyPr wrap="square" lIns="0" tIns="0" rIns="0" bIns="0" rtlCol="0" anchor="t"/>
          <a:lstStyle/>
          <a:p>
            <a:pPr marL="0" indent="0">
              <a:lnSpc>
                <a:spcPct val="95000"/>
              </a:lnSpc>
              <a:buNone/>
            </a:pPr>
            <a:r>
              <a:rPr lang="en-US" sz="1150" dirty="0">
                <a:solidFill>
                  <a:srgbClr val="FFFFFF"/>
                </a:solidFill>
                <a:latin typeface="Poppins SemiBold" pitchFamily="34" charset="0"/>
                <a:ea typeface="Poppins SemiBold" pitchFamily="34" charset="-122"/>
                <a:cs typeface="Poppins SemiBold" pitchFamily="34" charset="-120"/>
              </a:rPr>
              <a:t>Mengenali dan mengembangkan bakat</a:t>
            </a:r>
            <a:endParaRPr lang="en-US" sz="1150" dirty="0"/>
          </a:p>
        </p:txBody>
      </p:sp>
      <p:sp>
        <p:nvSpPr>
          <p:cNvPr id="14" name="Text 11"/>
          <p:cNvSpPr/>
          <p:nvPr/>
        </p:nvSpPr>
        <p:spPr>
          <a:xfrm>
            <a:off x="768096" y="2478024"/>
            <a:ext cx="3179978" cy="649224"/>
          </a:xfrm>
          <a:prstGeom prst="rect">
            <a:avLst/>
          </a:prstGeom>
          <a:noFill/>
          <a:ln/>
        </p:spPr>
        <p:txBody>
          <a:bodyPr wrap="square" lIns="0" tIns="0" rIns="0" bIns="0" rtlCol="0" anchor="t"/>
          <a:lstStyle/>
          <a:p>
            <a:pPr marL="0" indent="0">
              <a:lnSpc>
                <a:spcPct val="108000"/>
              </a:lnSpc>
              <a:buNone/>
            </a:pPr>
            <a:r>
              <a:rPr lang="en-US" sz="850" dirty="0">
                <a:solidFill>
                  <a:srgbClr val="FFFFFF"/>
                </a:solidFill>
                <a:latin typeface="Poppins" pitchFamily="34" charset="0"/>
                <a:ea typeface="Poppins" pitchFamily="34" charset="-122"/>
                <a:cs typeface="Poppins" pitchFamily="34" charset="-120"/>
              </a:rPr>
              <a:t>Pemandu bakat dari 5 jadi lebih dari 20 orang; Youth Academy; dua pemandu bakat penuh waktu di Brasil sejak 2008.</a:t>
            </a:r>
            <a:endParaRPr lang="en-US" sz="850" dirty="0"/>
          </a:p>
        </p:txBody>
      </p:sp>
      <p:sp>
        <p:nvSpPr>
          <p:cNvPr id="15" name="Shape 12"/>
          <p:cNvSpPr/>
          <p:nvPr/>
        </p:nvSpPr>
        <p:spPr>
          <a:xfrm>
            <a:off x="4322978" y="1755648"/>
            <a:ext cx="3545738" cy="1481328"/>
          </a:xfrm>
          <a:prstGeom prst="rect">
            <a:avLst/>
          </a:prstGeom>
          <a:solidFill>
            <a:srgbClr val="C8102E"/>
          </a:solidFill>
          <a:ln w="12700">
            <a:solidFill>
              <a:srgbClr val="C8102E"/>
            </a:solidFill>
            <a:prstDash val="solid"/>
          </a:ln>
        </p:spPr>
      </p:sp>
      <p:sp>
        <p:nvSpPr>
          <p:cNvPr id="16" name="Shape 13"/>
          <p:cNvSpPr/>
          <p:nvPr/>
        </p:nvSpPr>
        <p:spPr>
          <a:xfrm>
            <a:off x="4322978" y="1755648"/>
            <a:ext cx="54864" cy="1481328"/>
          </a:xfrm>
          <a:prstGeom prst="rect">
            <a:avLst/>
          </a:prstGeom>
          <a:solidFill>
            <a:srgbClr val="FBE122"/>
          </a:solidFill>
          <a:ln w="12700">
            <a:solidFill>
              <a:srgbClr val="FBE122"/>
            </a:solidFill>
            <a:prstDash val="solid"/>
          </a:ln>
        </p:spPr>
      </p:sp>
      <p:sp>
        <p:nvSpPr>
          <p:cNvPr id="17" name="Text 14"/>
          <p:cNvSpPr/>
          <p:nvPr/>
        </p:nvSpPr>
        <p:spPr>
          <a:xfrm>
            <a:off x="4542434" y="1901952"/>
            <a:ext cx="3179978"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CORE COMPETENCE</a:t>
            </a:r>
            <a:endParaRPr lang="en-US" sz="800" dirty="0"/>
          </a:p>
        </p:txBody>
      </p:sp>
      <p:sp>
        <p:nvSpPr>
          <p:cNvPr id="18" name="Text 15"/>
          <p:cNvSpPr/>
          <p:nvPr/>
        </p:nvSpPr>
        <p:spPr>
          <a:xfrm>
            <a:off x="4542434" y="2148840"/>
            <a:ext cx="3179978" cy="274320"/>
          </a:xfrm>
          <a:prstGeom prst="rect">
            <a:avLst/>
          </a:prstGeom>
          <a:noFill/>
          <a:ln/>
        </p:spPr>
        <p:txBody>
          <a:bodyPr wrap="square" lIns="0" tIns="0" rIns="0" bIns="0" rtlCol="0" anchor="t"/>
          <a:lstStyle/>
          <a:p>
            <a:pPr marL="0" indent="0">
              <a:lnSpc>
                <a:spcPct val="95000"/>
              </a:lnSpc>
              <a:buNone/>
            </a:pPr>
            <a:r>
              <a:rPr lang="en-US" sz="1150" dirty="0">
                <a:solidFill>
                  <a:srgbClr val="FFFFFF"/>
                </a:solidFill>
                <a:latin typeface="Poppins SemiBold" pitchFamily="34" charset="0"/>
                <a:ea typeface="Poppins SemiBold" pitchFamily="34" charset="-122"/>
                <a:cs typeface="Poppins SemiBold" pitchFamily="34" charset="-120"/>
              </a:rPr>
              <a:t>Membentuk dan merotasi tim</a:t>
            </a:r>
            <a:endParaRPr lang="en-US" sz="1150" dirty="0"/>
          </a:p>
        </p:txBody>
      </p:sp>
      <p:sp>
        <p:nvSpPr>
          <p:cNvPr id="19" name="Text 16"/>
          <p:cNvSpPr/>
          <p:nvPr/>
        </p:nvSpPr>
        <p:spPr>
          <a:xfrm>
            <a:off x="4542434" y="2478024"/>
            <a:ext cx="3179978" cy="649224"/>
          </a:xfrm>
          <a:prstGeom prst="rect">
            <a:avLst/>
          </a:prstGeom>
          <a:noFill/>
          <a:ln/>
        </p:spPr>
        <p:txBody>
          <a:bodyPr wrap="square" lIns="0" tIns="0" rIns="0" bIns="0" rtlCol="0" anchor="t"/>
          <a:lstStyle/>
          <a:p>
            <a:pPr marL="0" indent="0">
              <a:lnSpc>
                <a:spcPct val="108000"/>
              </a:lnSpc>
              <a:buNone/>
            </a:pPr>
            <a:r>
              <a:rPr lang="en-US" sz="850" dirty="0">
                <a:solidFill>
                  <a:srgbClr val="FFFFFF"/>
                </a:solidFill>
                <a:latin typeface="Poppins" pitchFamily="34" charset="0"/>
                <a:ea typeface="Poppins" pitchFamily="34" charset="-122"/>
                <a:cs typeface="Poppins" pitchFamily="34" charset="-120"/>
              </a:rPr>
              <a:t>Memadukan pemain muda dengan pemain berpengalaman. Kasus menyebut Ferguson pelopor rotasi skuad.</a:t>
            </a:r>
            <a:endParaRPr lang="en-US" sz="850" dirty="0"/>
          </a:p>
        </p:txBody>
      </p:sp>
      <p:sp>
        <p:nvSpPr>
          <p:cNvPr id="20" name="Shape 17"/>
          <p:cNvSpPr/>
          <p:nvPr/>
        </p:nvSpPr>
        <p:spPr>
          <a:xfrm>
            <a:off x="8097317" y="1755648"/>
            <a:ext cx="3545738" cy="1481328"/>
          </a:xfrm>
          <a:prstGeom prst="rect">
            <a:avLst/>
          </a:prstGeom>
          <a:solidFill>
            <a:srgbClr val="C8102E"/>
          </a:solidFill>
          <a:ln w="12700">
            <a:solidFill>
              <a:srgbClr val="C8102E"/>
            </a:solidFill>
            <a:prstDash val="solid"/>
          </a:ln>
        </p:spPr>
      </p:sp>
      <p:sp>
        <p:nvSpPr>
          <p:cNvPr id="21" name="Shape 18"/>
          <p:cNvSpPr/>
          <p:nvPr/>
        </p:nvSpPr>
        <p:spPr>
          <a:xfrm>
            <a:off x="8097317" y="1755648"/>
            <a:ext cx="54864" cy="1481328"/>
          </a:xfrm>
          <a:prstGeom prst="rect">
            <a:avLst/>
          </a:prstGeom>
          <a:solidFill>
            <a:srgbClr val="FBE122"/>
          </a:solidFill>
          <a:ln w="12700">
            <a:solidFill>
              <a:srgbClr val="FBE122"/>
            </a:solidFill>
            <a:prstDash val="solid"/>
          </a:ln>
        </p:spPr>
      </p:sp>
      <p:sp>
        <p:nvSpPr>
          <p:cNvPr id="22" name="Text 19"/>
          <p:cNvSpPr/>
          <p:nvPr/>
        </p:nvSpPr>
        <p:spPr>
          <a:xfrm>
            <a:off x="8316773" y="1901952"/>
            <a:ext cx="3179978"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CORE COMPETENCE</a:t>
            </a:r>
            <a:endParaRPr lang="en-US" sz="800" dirty="0"/>
          </a:p>
        </p:txBody>
      </p:sp>
      <p:sp>
        <p:nvSpPr>
          <p:cNvPr id="23" name="Text 20"/>
          <p:cNvSpPr/>
          <p:nvPr/>
        </p:nvSpPr>
        <p:spPr>
          <a:xfrm>
            <a:off x="8316773" y="2148840"/>
            <a:ext cx="3179978" cy="274320"/>
          </a:xfrm>
          <a:prstGeom prst="rect">
            <a:avLst/>
          </a:prstGeom>
          <a:noFill/>
          <a:ln/>
        </p:spPr>
        <p:txBody>
          <a:bodyPr wrap="square" lIns="0" tIns="0" rIns="0" bIns="0" rtlCol="0" anchor="t"/>
          <a:lstStyle/>
          <a:p>
            <a:pPr marL="0" indent="0">
              <a:lnSpc>
                <a:spcPct val="95000"/>
              </a:lnSpc>
              <a:buNone/>
            </a:pPr>
            <a:r>
              <a:rPr lang="en-US" sz="1150" dirty="0">
                <a:solidFill>
                  <a:srgbClr val="FFFFFF"/>
                </a:solidFill>
                <a:latin typeface="Poppins SemiBold" pitchFamily="34" charset="0"/>
                <a:ea typeface="Poppins SemiBold" pitchFamily="34" charset="-122"/>
                <a:cs typeface="Poppins SemiBold" pitchFamily="34" charset="-120"/>
              </a:rPr>
              <a:t>Mengubah merek jadi uang</a:t>
            </a:r>
            <a:endParaRPr lang="en-US" sz="1150" dirty="0"/>
          </a:p>
        </p:txBody>
      </p:sp>
      <p:sp>
        <p:nvSpPr>
          <p:cNvPr id="24" name="Text 21"/>
          <p:cNvSpPr/>
          <p:nvPr/>
        </p:nvSpPr>
        <p:spPr>
          <a:xfrm>
            <a:off x="8316773" y="2478024"/>
            <a:ext cx="3179978" cy="649224"/>
          </a:xfrm>
          <a:prstGeom prst="rect">
            <a:avLst/>
          </a:prstGeom>
          <a:noFill/>
          <a:ln/>
        </p:spPr>
        <p:txBody>
          <a:bodyPr wrap="square" lIns="0" tIns="0" rIns="0" bIns="0" rtlCol="0" anchor="t"/>
          <a:lstStyle/>
          <a:p>
            <a:pPr marL="0" indent="0">
              <a:lnSpc>
                <a:spcPct val="108000"/>
              </a:lnSpc>
              <a:buNone/>
            </a:pPr>
            <a:r>
              <a:rPr lang="en-US" sz="850" dirty="0">
                <a:solidFill>
                  <a:srgbClr val="FFFFFF"/>
                </a:solidFill>
                <a:latin typeface="Poppins" pitchFamily="34" charset="0"/>
                <a:ea typeface="Poppins" pitchFamily="34" charset="-122"/>
                <a:cs typeface="Poppins" pitchFamily="34" charset="-120"/>
              </a:rPr>
              <a:t>Sponsor khusus Indonesia dan India, sub-merek per usia, MU Finance, MU Mobile, MUTV, Soccer Schools, tur Asia.</a:t>
            </a:r>
            <a:endParaRPr lang="en-US" sz="850" dirty="0"/>
          </a:p>
        </p:txBody>
      </p:sp>
      <p:sp>
        <p:nvSpPr>
          <p:cNvPr id="25" name="Shape 22"/>
          <p:cNvSpPr/>
          <p:nvPr/>
        </p:nvSpPr>
        <p:spPr>
          <a:xfrm>
            <a:off x="548640" y="3419856"/>
            <a:ext cx="3545738" cy="1481328"/>
          </a:xfrm>
          <a:prstGeom prst="rect">
            <a:avLst/>
          </a:prstGeom>
          <a:solidFill>
            <a:srgbClr val="27161A"/>
          </a:solidFill>
          <a:ln w="12700">
            <a:solidFill>
              <a:srgbClr val="27161A"/>
            </a:solidFill>
            <a:prstDash val="solid"/>
          </a:ln>
        </p:spPr>
      </p:sp>
      <p:sp>
        <p:nvSpPr>
          <p:cNvPr id="26" name="Shape 23"/>
          <p:cNvSpPr/>
          <p:nvPr/>
        </p:nvSpPr>
        <p:spPr>
          <a:xfrm>
            <a:off x="548640" y="3419856"/>
            <a:ext cx="54864" cy="1481328"/>
          </a:xfrm>
          <a:prstGeom prst="rect">
            <a:avLst/>
          </a:prstGeom>
          <a:solidFill>
            <a:srgbClr val="C8102E"/>
          </a:solidFill>
          <a:ln w="12700">
            <a:solidFill>
              <a:srgbClr val="C8102E"/>
            </a:solidFill>
            <a:prstDash val="solid"/>
          </a:ln>
        </p:spPr>
      </p:sp>
      <p:sp>
        <p:nvSpPr>
          <p:cNvPr id="27" name="Text 24"/>
          <p:cNvSpPr/>
          <p:nvPr/>
        </p:nvSpPr>
        <p:spPr>
          <a:xfrm>
            <a:off x="768096" y="3566160"/>
            <a:ext cx="3179978" cy="228600"/>
          </a:xfrm>
          <a:prstGeom prst="rect">
            <a:avLst/>
          </a:prstGeom>
          <a:noFill/>
          <a:ln/>
        </p:spPr>
        <p:txBody>
          <a:bodyPr wrap="square" lIns="0" tIns="0" rIns="0" bIns="0" rtlCol="0" anchor="t"/>
          <a:lstStyle/>
          <a:p>
            <a:pPr marL="0" indent="0">
              <a:buNone/>
            </a:pPr>
            <a:r>
              <a:rPr lang="en-US" sz="800" kern="0" spc="150" dirty="0">
                <a:solidFill>
                  <a:srgbClr val="C8102E"/>
                </a:solidFill>
                <a:latin typeface="Poppins SemiBold" pitchFamily="34" charset="0"/>
                <a:ea typeface="Poppins SemiBold" pitchFamily="34" charset="-122"/>
                <a:cs typeface="Poppins SemiBold" pitchFamily="34" charset="-120"/>
              </a:rPr>
              <a:t>DISTINCTIVE COMPETENCE</a:t>
            </a:r>
            <a:endParaRPr lang="en-US" sz="800" dirty="0"/>
          </a:p>
        </p:txBody>
      </p:sp>
      <p:sp>
        <p:nvSpPr>
          <p:cNvPr id="28" name="Text 25"/>
          <p:cNvSpPr/>
          <p:nvPr/>
        </p:nvSpPr>
        <p:spPr>
          <a:xfrm>
            <a:off x="768096" y="3813048"/>
            <a:ext cx="3179978" cy="274320"/>
          </a:xfrm>
          <a:prstGeom prst="rect">
            <a:avLst/>
          </a:prstGeom>
          <a:noFill/>
          <a:ln/>
        </p:spPr>
        <p:txBody>
          <a:bodyPr wrap="square" lIns="0" tIns="0" rIns="0" bIns="0" rtlCol="0" anchor="t"/>
          <a:lstStyle/>
          <a:p>
            <a:pPr marL="0" indent="0">
              <a:lnSpc>
                <a:spcPct val="95000"/>
              </a:lnSpc>
              <a:buNone/>
            </a:pPr>
            <a:r>
              <a:rPr lang="en-US" sz="1150" dirty="0">
                <a:solidFill>
                  <a:srgbClr val="FFFFFF"/>
                </a:solidFill>
                <a:latin typeface="Poppins SemiBold" pitchFamily="34" charset="0"/>
                <a:ea typeface="Poppins SemiBold" pitchFamily="34" charset="-122"/>
                <a:cs typeface="Poppins SemiBold" pitchFamily="34" charset="-120"/>
              </a:rPr>
              <a:t>Disiplin di pasar transfer</a:t>
            </a:r>
            <a:endParaRPr lang="en-US" sz="1150" dirty="0"/>
          </a:p>
        </p:txBody>
      </p:sp>
      <p:sp>
        <p:nvSpPr>
          <p:cNvPr id="29" name="Text 26"/>
          <p:cNvSpPr/>
          <p:nvPr/>
        </p:nvSpPr>
        <p:spPr>
          <a:xfrm>
            <a:off x="768096" y="4142232"/>
            <a:ext cx="3179978" cy="649224"/>
          </a:xfrm>
          <a:prstGeom prst="rect">
            <a:avLst/>
          </a:prstGeom>
          <a:noFill/>
          <a:ln/>
        </p:spPr>
        <p:txBody>
          <a:bodyPr wrap="square" lIns="0" tIns="0" rIns="0" bIns="0" rtlCol="0" anchor="t"/>
          <a:lstStyle/>
          <a:p>
            <a:pPr marL="0" indent="0">
              <a:lnSpc>
                <a:spcPct val="108000"/>
              </a:lnSpc>
              <a:buNone/>
            </a:pPr>
            <a:r>
              <a:rPr lang="en-US" sz="850" dirty="0">
                <a:solidFill>
                  <a:srgbClr val="D9CFC7"/>
                </a:solidFill>
                <a:latin typeface="Poppins" pitchFamily="34" charset="0"/>
                <a:ea typeface="Poppins" pitchFamily="34" charset="-122"/>
                <a:cs typeface="Poppins" pitchFamily="34" charset="-120"/>
              </a:rPr>
              <a:t>Belanja kotor £322 jt, bersih £100 jt. Mau menjual pemain yang dihargai lebih tinggi klub lain, seperti Ronaldo (£80 jt).</a:t>
            </a:r>
            <a:endParaRPr lang="en-US" sz="850" dirty="0"/>
          </a:p>
        </p:txBody>
      </p:sp>
      <p:sp>
        <p:nvSpPr>
          <p:cNvPr id="30" name="Shape 27"/>
          <p:cNvSpPr/>
          <p:nvPr/>
        </p:nvSpPr>
        <p:spPr>
          <a:xfrm>
            <a:off x="4322978" y="3419856"/>
            <a:ext cx="3545738" cy="1481328"/>
          </a:xfrm>
          <a:prstGeom prst="rect">
            <a:avLst/>
          </a:prstGeom>
          <a:solidFill>
            <a:srgbClr val="27161A"/>
          </a:solidFill>
          <a:ln w="12700">
            <a:solidFill>
              <a:srgbClr val="27161A"/>
            </a:solidFill>
            <a:prstDash val="solid"/>
          </a:ln>
        </p:spPr>
      </p:sp>
      <p:sp>
        <p:nvSpPr>
          <p:cNvPr id="31" name="Shape 28"/>
          <p:cNvSpPr/>
          <p:nvPr/>
        </p:nvSpPr>
        <p:spPr>
          <a:xfrm>
            <a:off x="4322978" y="3419856"/>
            <a:ext cx="54864" cy="1481328"/>
          </a:xfrm>
          <a:prstGeom prst="rect">
            <a:avLst/>
          </a:prstGeom>
          <a:solidFill>
            <a:srgbClr val="C8102E"/>
          </a:solidFill>
          <a:ln w="12700">
            <a:solidFill>
              <a:srgbClr val="C8102E"/>
            </a:solidFill>
            <a:prstDash val="solid"/>
          </a:ln>
        </p:spPr>
      </p:sp>
      <p:sp>
        <p:nvSpPr>
          <p:cNvPr id="32" name="Text 29"/>
          <p:cNvSpPr/>
          <p:nvPr/>
        </p:nvSpPr>
        <p:spPr>
          <a:xfrm>
            <a:off x="4542434" y="3566160"/>
            <a:ext cx="3179978" cy="228600"/>
          </a:xfrm>
          <a:prstGeom prst="rect">
            <a:avLst/>
          </a:prstGeom>
          <a:noFill/>
          <a:ln/>
        </p:spPr>
        <p:txBody>
          <a:bodyPr wrap="square" lIns="0" tIns="0" rIns="0" bIns="0" rtlCol="0" anchor="t"/>
          <a:lstStyle/>
          <a:p>
            <a:pPr marL="0" indent="0">
              <a:buNone/>
            </a:pPr>
            <a:r>
              <a:rPr lang="en-US" sz="800" kern="0" spc="150" dirty="0">
                <a:solidFill>
                  <a:srgbClr val="C8102E"/>
                </a:solidFill>
                <a:latin typeface="Poppins SemiBold" pitchFamily="34" charset="0"/>
                <a:ea typeface="Poppins SemiBold" pitchFamily="34" charset="-122"/>
                <a:cs typeface="Poppins SemiBold" pitchFamily="34" charset="-120"/>
              </a:rPr>
              <a:t>DISTINCTIVE COMPETENCE</a:t>
            </a:r>
            <a:endParaRPr lang="en-US" sz="800" dirty="0"/>
          </a:p>
        </p:txBody>
      </p:sp>
      <p:sp>
        <p:nvSpPr>
          <p:cNvPr id="33" name="Text 30"/>
          <p:cNvSpPr/>
          <p:nvPr/>
        </p:nvSpPr>
        <p:spPr>
          <a:xfrm>
            <a:off x="4542434" y="3813048"/>
            <a:ext cx="3179978" cy="274320"/>
          </a:xfrm>
          <a:prstGeom prst="rect">
            <a:avLst/>
          </a:prstGeom>
          <a:noFill/>
          <a:ln/>
        </p:spPr>
        <p:txBody>
          <a:bodyPr wrap="square" lIns="0" tIns="0" rIns="0" bIns="0" rtlCol="0" anchor="t"/>
          <a:lstStyle/>
          <a:p>
            <a:pPr marL="0" indent="0">
              <a:lnSpc>
                <a:spcPct val="95000"/>
              </a:lnSpc>
              <a:buNone/>
            </a:pPr>
            <a:r>
              <a:rPr lang="en-US" sz="1150" dirty="0">
                <a:solidFill>
                  <a:srgbClr val="FFFFFF"/>
                </a:solidFill>
                <a:latin typeface="Poppins SemiBold" pitchFamily="34" charset="0"/>
                <a:ea typeface="Poppins SemiBold" pitchFamily="34" charset="-122"/>
                <a:cs typeface="Poppins SemiBold" pitchFamily="34" charset="-120"/>
              </a:rPr>
              <a:t>Tata kelola klub</a:t>
            </a:r>
            <a:endParaRPr lang="en-US" sz="1150" dirty="0"/>
          </a:p>
        </p:txBody>
      </p:sp>
      <p:sp>
        <p:nvSpPr>
          <p:cNvPr id="34" name="Text 31"/>
          <p:cNvSpPr/>
          <p:nvPr/>
        </p:nvSpPr>
        <p:spPr>
          <a:xfrm>
            <a:off x="4542434" y="4142232"/>
            <a:ext cx="3179978" cy="649224"/>
          </a:xfrm>
          <a:prstGeom prst="rect">
            <a:avLst/>
          </a:prstGeom>
          <a:noFill/>
          <a:ln/>
        </p:spPr>
        <p:txBody>
          <a:bodyPr wrap="square" lIns="0" tIns="0" rIns="0" bIns="0" rtlCol="0" anchor="t"/>
          <a:lstStyle/>
          <a:p>
            <a:pPr marL="0" indent="0">
              <a:lnSpc>
                <a:spcPct val="108000"/>
              </a:lnSpc>
              <a:buNone/>
            </a:pPr>
            <a:r>
              <a:rPr lang="en-US" sz="850" dirty="0">
                <a:solidFill>
                  <a:srgbClr val="D9CFC7"/>
                </a:solidFill>
                <a:latin typeface="Poppins" pitchFamily="34" charset="0"/>
                <a:ea typeface="Poppins" pitchFamily="34" charset="-122"/>
                <a:cs typeface="Poppins" pitchFamily="34" charset="-120"/>
              </a:rPr>
              <a:t>Kasus: klub Inggris "paling berhasil membangun tata kelola yang efektif". Glazer memilih peran pasif.</a:t>
            </a:r>
            <a:endParaRPr lang="en-US" sz="850" dirty="0"/>
          </a:p>
        </p:txBody>
      </p:sp>
      <p:sp>
        <p:nvSpPr>
          <p:cNvPr id="35" name="Shape 32"/>
          <p:cNvSpPr/>
          <p:nvPr/>
        </p:nvSpPr>
        <p:spPr>
          <a:xfrm>
            <a:off x="8097317" y="3419856"/>
            <a:ext cx="3545738" cy="1481328"/>
          </a:xfrm>
          <a:prstGeom prst="rect">
            <a:avLst/>
          </a:prstGeom>
          <a:solidFill>
            <a:srgbClr val="27161A"/>
          </a:solidFill>
          <a:ln w="12700">
            <a:solidFill>
              <a:srgbClr val="27161A"/>
            </a:solidFill>
            <a:prstDash val="solid"/>
          </a:ln>
        </p:spPr>
      </p:sp>
      <p:sp>
        <p:nvSpPr>
          <p:cNvPr id="36" name="Shape 33"/>
          <p:cNvSpPr/>
          <p:nvPr/>
        </p:nvSpPr>
        <p:spPr>
          <a:xfrm>
            <a:off x="8097317" y="3419856"/>
            <a:ext cx="54864" cy="1481328"/>
          </a:xfrm>
          <a:prstGeom prst="rect">
            <a:avLst/>
          </a:prstGeom>
          <a:solidFill>
            <a:srgbClr val="A08F8B"/>
          </a:solidFill>
          <a:ln w="12700">
            <a:solidFill>
              <a:srgbClr val="A08F8B"/>
            </a:solidFill>
            <a:prstDash val="solid"/>
          </a:ln>
        </p:spPr>
      </p:sp>
      <p:sp>
        <p:nvSpPr>
          <p:cNvPr id="37" name="Text 34"/>
          <p:cNvSpPr/>
          <p:nvPr/>
        </p:nvSpPr>
        <p:spPr>
          <a:xfrm>
            <a:off x="8316773" y="3566160"/>
            <a:ext cx="3179978" cy="228600"/>
          </a:xfrm>
          <a:prstGeom prst="rect">
            <a:avLst/>
          </a:prstGeom>
          <a:noFill/>
          <a:ln/>
        </p:spPr>
        <p:txBody>
          <a:bodyPr wrap="square" lIns="0" tIns="0" rIns="0" bIns="0" rtlCol="0" anchor="t"/>
          <a:lstStyle/>
          <a:p>
            <a:pPr marL="0" indent="0">
              <a:buNone/>
            </a:pPr>
            <a:r>
              <a:rPr lang="en-US" sz="800" kern="0" spc="150" dirty="0">
                <a:solidFill>
                  <a:srgbClr val="A08F8B"/>
                </a:solidFill>
                <a:latin typeface="Poppins SemiBold" pitchFamily="34" charset="0"/>
                <a:ea typeface="Poppins SemiBold" pitchFamily="34" charset="-122"/>
                <a:cs typeface="Poppins SemiBold" pitchFamily="34" charset="-120"/>
              </a:rPr>
              <a:t>COMPETENCE</a:t>
            </a:r>
            <a:endParaRPr lang="en-US" sz="800" dirty="0"/>
          </a:p>
        </p:txBody>
      </p:sp>
      <p:sp>
        <p:nvSpPr>
          <p:cNvPr id="38" name="Text 35"/>
          <p:cNvSpPr/>
          <p:nvPr/>
        </p:nvSpPr>
        <p:spPr>
          <a:xfrm>
            <a:off x="8316773" y="3813048"/>
            <a:ext cx="3179978" cy="274320"/>
          </a:xfrm>
          <a:prstGeom prst="rect">
            <a:avLst/>
          </a:prstGeom>
          <a:noFill/>
          <a:ln/>
        </p:spPr>
        <p:txBody>
          <a:bodyPr wrap="square" lIns="0" tIns="0" rIns="0" bIns="0" rtlCol="0" anchor="t"/>
          <a:lstStyle/>
          <a:p>
            <a:pPr marL="0" indent="0">
              <a:lnSpc>
                <a:spcPct val="95000"/>
              </a:lnSpc>
              <a:buNone/>
            </a:pPr>
            <a:r>
              <a:rPr lang="en-US" sz="1150" dirty="0">
                <a:solidFill>
                  <a:srgbClr val="FFFFFF"/>
                </a:solidFill>
                <a:latin typeface="Poppins SemiBold" pitchFamily="34" charset="0"/>
                <a:ea typeface="Poppins SemiBold" pitchFamily="34" charset="-122"/>
                <a:cs typeface="Poppins SemiBold" pitchFamily="34" charset="-120"/>
              </a:rPr>
              <a:t>Mengelola stadion dan acara</a:t>
            </a:r>
            <a:endParaRPr lang="en-US" sz="1150" dirty="0"/>
          </a:p>
        </p:txBody>
      </p:sp>
      <p:sp>
        <p:nvSpPr>
          <p:cNvPr id="39" name="Text 36"/>
          <p:cNvSpPr/>
          <p:nvPr/>
        </p:nvSpPr>
        <p:spPr>
          <a:xfrm>
            <a:off x="8316773" y="4142232"/>
            <a:ext cx="3179978" cy="649224"/>
          </a:xfrm>
          <a:prstGeom prst="rect">
            <a:avLst/>
          </a:prstGeom>
          <a:noFill/>
          <a:ln/>
        </p:spPr>
        <p:txBody>
          <a:bodyPr wrap="square" lIns="0" tIns="0" rIns="0" bIns="0" rtlCol="0" anchor="t"/>
          <a:lstStyle/>
          <a:p>
            <a:pPr marL="0" indent="0">
              <a:lnSpc>
                <a:spcPct val="108000"/>
              </a:lnSpc>
              <a:buNone/>
            </a:pPr>
            <a:r>
              <a:rPr lang="en-US" sz="850" dirty="0">
                <a:solidFill>
                  <a:srgbClr val="D9CFC7"/>
                </a:solidFill>
                <a:latin typeface="Poppins" pitchFamily="34" charset="0"/>
                <a:ea typeface="Poppins" pitchFamily="34" charset="-122"/>
                <a:cs typeface="Poppins" pitchFamily="34" charset="-120"/>
              </a:rPr>
              <a:t>Old Trafford disewakan untuk konferensi dan pernikahan; museum dan tur. Dikerjakan baik, tapi klub besar lain juga melakukannya.</a:t>
            </a:r>
            <a:endParaRPr lang="en-US" sz="850" dirty="0"/>
          </a:p>
        </p:txBody>
      </p:sp>
      <p:sp>
        <p:nvSpPr>
          <p:cNvPr id="40" name="Shape 37"/>
          <p:cNvSpPr/>
          <p:nvPr/>
        </p:nvSpPr>
        <p:spPr>
          <a:xfrm>
            <a:off x="548640" y="5084064"/>
            <a:ext cx="11094415" cy="777240"/>
          </a:xfrm>
          <a:prstGeom prst="rect">
            <a:avLst/>
          </a:prstGeom>
          <a:solidFill>
            <a:srgbClr val="32191E"/>
          </a:solidFill>
          <a:ln w="12700">
            <a:solidFill>
              <a:srgbClr val="32191E"/>
            </a:solidFill>
            <a:prstDash val="solid"/>
          </a:ln>
        </p:spPr>
      </p:sp>
      <p:sp>
        <p:nvSpPr>
          <p:cNvPr id="41" name="Text 38"/>
          <p:cNvSpPr/>
          <p:nvPr/>
        </p:nvSpPr>
        <p:spPr>
          <a:xfrm>
            <a:off x="777240" y="5212080"/>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YANG PERLU DISADARI</a:t>
            </a:r>
            <a:endParaRPr lang="en-US" sz="800" dirty="0"/>
          </a:p>
        </p:txBody>
      </p:sp>
      <p:sp>
        <p:nvSpPr>
          <p:cNvPr id="42" name="Text 39"/>
          <p:cNvSpPr/>
          <p:nvPr/>
        </p:nvSpPr>
        <p:spPr>
          <a:xfrm>
            <a:off x="777240" y="5449824"/>
            <a:ext cx="10637215" cy="320040"/>
          </a:xfrm>
          <a:prstGeom prst="rect">
            <a:avLst/>
          </a:prstGeom>
          <a:noFill/>
          <a:ln/>
        </p:spPr>
        <p:txBody>
          <a:bodyPr wrap="square" lIns="0" tIns="0" rIns="0" bIns="0" rtlCol="0" anchor="t"/>
          <a:lstStyle/>
          <a:p>
            <a:pPr marL="0" indent="0">
              <a:lnSpc>
                <a:spcPct val="108000"/>
              </a:lnSpc>
              <a:buNone/>
            </a:pPr>
            <a:r>
              <a:rPr lang="en-US" sz="1050" dirty="0">
                <a:solidFill>
                  <a:srgbClr val="FFFFFF"/>
                </a:solidFill>
                <a:latin typeface="Poppins Medium" pitchFamily="34" charset="0"/>
                <a:ea typeface="Poppins Medium" pitchFamily="34" charset="-122"/>
                <a:cs typeface="Poppins Medium" pitchFamily="34" charset="-120"/>
              </a:rPr>
              <a:t>Tiga capability yang langsung menentukan prestasi lapangan (bakat, tim, dan transfer) dibangun dan diarahkan oleh Ferguson. Tiga lainnya berdiri di luar dirinya.</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62712"/>
            <a:ext cx="10728655" cy="32004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3  ·  VRIN TEST</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DUA KEUNGGULAN, SAMA-SAMA LOLOS VRIN TEST</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Kami uji dua hal dengan empat saringan yang sama: sistem Ferguson, dan merek beserta mesin komersialnya.</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 Table 6.5 dan 6.8; hlm. 573 sampai 588.</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27</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755648"/>
          <a:ext cx="11064240" cy="3182112"/>
        </p:xfrm>
        <a:graphic>
          <a:graphicData uri="http://schemas.openxmlformats.org/drawingml/2006/table">
            <a:tbl>
              <a:tblPr/>
              <a:tblGrid>
                <a:gridCol w="155448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29184">
                <a:tc>
                  <a:txBody>
                    <a:bodyPr/>
                    <a:lstStyle/>
                    <a:p>
                      <a:pPr marL="0" indent="0" algn="l">
                        <a:buNone/>
                      </a:pPr>
                      <a:r>
                        <a:rPr lang="en-US" sz="900" dirty="0">
                          <a:solidFill>
                            <a:srgbClr val="FFFFFF"/>
                          </a:solidFill>
                          <a:latin typeface="Poppins SemiBold" pitchFamily="34" charset="0"/>
                          <a:ea typeface="Poppins SemiBold" pitchFamily="34" charset="-122"/>
                          <a:cs typeface="Poppins SemiBold" pitchFamily="34" charset="-120"/>
                        </a:rPr>
                        <a:t>Tes</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l">
                        <a:buNone/>
                      </a:pPr>
                      <a:r>
                        <a:rPr lang="en-US" sz="900" dirty="0">
                          <a:solidFill>
                            <a:srgbClr val="FFFFFF"/>
                          </a:solidFill>
                          <a:latin typeface="Poppins SemiBold" pitchFamily="34" charset="0"/>
                          <a:ea typeface="Poppins SemiBold" pitchFamily="34" charset="-122"/>
                          <a:cs typeface="Poppins SemiBold" pitchFamily="34" charset="-120"/>
                        </a:rPr>
                        <a:t>Sistem Ferguson</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l">
                        <a:buNone/>
                      </a:pPr>
                      <a:r>
                        <a:rPr lang="en-US" sz="900" dirty="0">
                          <a:solidFill>
                            <a:srgbClr val="FFFFFF"/>
                          </a:solidFill>
                          <a:latin typeface="Poppins SemiBold" pitchFamily="34" charset="0"/>
                          <a:ea typeface="Poppins SemiBold" pitchFamily="34" charset="-122"/>
                          <a:cs typeface="Poppins SemiBold" pitchFamily="34" charset="-120"/>
                        </a:rPr>
                        <a:t>Merek &amp; mesin komersial</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extLst>
                  <a:ext uri="{0D108BD9-81ED-4DB2-BD59-A6C34878D82A}">
                    <a16:rowId xmlns:a16="http://schemas.microsoft.com/office/drawing/2014/main" val="10000"/>
                  </a:ext>
                </a:extLst>
              </a:tr>
              <a:tr h="713232">
                <a:tc>
                  <a:txBody>
                    <a:bodyP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Valuable</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l">
                        <a:buNone/>
                      </a:pPr>
                      <a:r>
                        <a:rPr lang="en-US" sz="900" dirty="0">
                          <a:solidFill>
                            <a:srgbClr val="D9CFC7"/>
                          </a:solidFill>
                          <a:latin typeface="Poppins" pitchFamily="34" charset="0"/>
                          <a:ea typeface="Poppins" pitchFamily="34" charset="-122"/>
                          <a:cs typeface="Poppins" pitchFamily="34" charset="-120"/>
                        </a:rPr>
                        <a:t>LOLOS. Poin Eropa tertinggi, tiga gelar liga beruntun, Liga Champions 2008. Ferguson memenangi lebih banyak gelar daripada seluruh sejarah klub sebelumnya.</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l">
                        <a:buNone/>
                      </a:pPr>
                      <a:r>
                        <a:rPr lang="en-US" sz="900" dirty="0">
                          <a:solidFill>
                            <a:srgbClr val="D9CFC7"/>
                          </a:solidFill>
                          <a:latin typeface="Poppins" pitchFamily="34" charset="0"/>
                          <a:ea typeface="Poppins" pitchFamily="34" charset="-122"/>
                          <a:cs typeface="Poppins" pitchFamily="34" charset="-120"/>
                        </a:rPr>
                        <a:t>LOLOS. Aon membayar £80 jt untuk 4 tahun, atau £20 jt per tahun, dua kali lipat Chelsea dan Samsung (£10 jt per tahun).</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extLst>
                  <a:ext uri="{0D108BD9-81ED-4DB2-BD59-A6C34878D82A}">
                    <a16:rowId xmlns:a16="http://schemas.microsoft.com/office/drawing/2014/main" val="10001"/>
                  </a:ext>
                </a:extLst>
              </a:tr>
              <a:tr h="713232">
                <a:tc>
                  <a:txBody>
                    <a:bodyP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Rare</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l">
                        <a:buNone/>
                      </a:pPr>
                      <a:r>
                        <a:rPr lang="en-US" sz="900" dirty="0">
                          <a:solidFill>
                            <a:srgbClr val="D9CFC7"/>
                          </a:solidFill>
                          <a:latin typeface="Poppins" pitchFamily="34" charset="0"/>
                          <a:ea typeface="Poppins" pitchFamily="34" charset="-122"/>
                          <a:cs typeface="Poppins" pitchFamily="34" charset="-120"/>
                        </a:rPr>
                        <a:t>LOLOS. Table 6.8 hanya memuat 15 pelatih paling dihormati dunia; Ferguson paling lama di satu klub, sejak 1986.</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l">
                        <a:buNone/>
                      </a:pPr>
                      <a:r>
                        <a:rPr lang="en-US" sz="900" dirty="0">
                          <a:solidFill>
                            <a:srgbClr val="D9CFC7"/>
                          </a:solidFill>
                          <a:latin typeface="Poppins" pitchFamily="34" charset="0"/>
                          <a:ea typeface="Poppins" pitchFamily="34" charset="-122"/>
                          <a:cs typeface="Poppins" pitchFamily="34" charset="-120"/>
                        </a:rPr>
                        <a:t>LOLOS. Kasus hanya menyebut MU dan Real Madrid sebagai pemimpin eksploitasi merek global. MU punya 80 juta pendukung di Asia.</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extLst>
                  <a:ext uri="{0D108BD9-81ED-4DB2-BD59-A6C34878D82A}">
                    <a16:rowId xmlns:a16="http://schemas.microsoft.com/office/drawing/2014/main" val="10002"/>
                  </a:ext>
                </a:extLst>
              </a:tr>
              <a:tr h="713232">
                <a:tc>
                  <a:txBody>
                    <a:bodyP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Inimitable</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l">
                        <a:buNone/>
                      </a:pPr>
                      <a:r>
                        <a:rPr lang="en-US" sz="900" dirty="0">
                          <a:solidFill>
                            <a:srgbClr val="D9CFC7"/>
                          </a:solidFill>
                          <a:latin typeface="Poppins" pitchFamily="34" charset="0"/>
                          <a:ea typeface="Poppins" pitchFamily="34" charset="-122"/>
                          <a:cs typeface="Poppins" pitchFamily="34" charset="-120"/>
                        </a:rPr>
                        <a:t>LOLOS. Kasus sendiri menyebut penentu performa tim "tetap misteri … menentang analisis": causal ambiguity. Ditambah 23 tahun akumulasi dan social complexity.</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l">
                        <a:buNone/>
                      </a:pPr>
                      <a:r>
                        <a:rPr lang="en-US" sz="900" dirty="0">
                          <a:solidFill>
                            <a:srgbClr val="D9CFC7"/>
                          </a:solidFill>
                          <a:latin typeface="Poppins" pitchFamily="34" charset="0"/>
                          <a:ea typeface="Poppins" pitchFamily="34" charset="-122"/>
                          <a:cs typeface="Poppins" pitchFamily="34" charset="-120"/>
                        </a:rPr>
                        <a:t>LOLOS. Dibangun sejak 1878 lewat sejarah dan prestasi panjang. Chelsea, meski belanja besar, pendapatannya masih di bawah MU: €268,9 jt vs €324,8 jt (Table 6.5).</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extLst>
                  <a:ext uri="{0D108BD9-81ED-4DB2-BD59-A6C34878D82A}">
                    <a16:rowId xmlns:a16="http://schemas.microsoft.com/office/drawing/2014/main" val="10003"/>
                  </a:ext>
                </a:extLst>
              </a:tr>
              <a:tr h="713232">
                <a:tc>
                  <a:txBody>
                    <a:bodyP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Nonsubstitutable</a:t>
                      </a:r>
                      <a:endParaRPr lang="en-US" sz="90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l">
                        <a:buNone/>
                      </a:pPr>
                      <a:r>
                        <a:rPr lang="en-US" sz="900" dirty="0">
                          <a:solidFill>
                            <a:srgbClr val="D9CFC7"/>
                          </a:solidFill>
                          <a:latin typeface="Poppins" pitchFamily="34" charset="0"/>
                          <a:ea typeface="Poppins" pitchFamily="34" charset="-122"/>
                          <a:cs typeface="Poppins" pitchFamily="34" charset="-120"/>
                        </a:rPr>
                        <a:t>LOLOS. Jalan lain pesaing, membeli bintang dengan uang besar, tidak menyamai hasilnya: tim bertabur bintang Real Madrid dan Chelsea "gagal mencapai kejayaan".</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l">
                        <a:buNone/>
                      </a:pPr>
                      <a:r>
                        <a:rPr lang="en-US" sz="900" dirty="0">
                          <a:solidFill>
                            <a:srgbClr val="D9CFC7"/>
                          </a:solidFill>
                          <a:latin typeface="Poppins" pitchFamily="34" charset="0"/>
                          <a:ea typeface="Poppins" pitchFamily="34" charset="-122"/>
                          <a:cs typeface="Poppins" pitchFamily="34" charset="-120"/>
                        </a:rPr>
                        <a:t>LOLOS. Superstar bisa mendongkrak penjualan merchandise, tapi pemain datang dan pergi. Basis fan tetap: Aon menyebut fan Asia MU faktor kunci kontraknya.</a:t>
                      </a:r>
                      <a:endParaRPr lang="en-US" sz="90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extLst>
                  <a:ext uri="{0D108BD9-81ED-4DB2-BD59-A6C34878D82A}">
                    <a16:rowId xmlns:a16="http://schemas.microsoft.com/office/drawing/2014/main" val="10004"/>
                  </a:ext>
                </a:extLst>
              </a:tr>
            </a:tbl>
          </a:graphicData>
        </a:graphic>
      </p:graphicFrame>
      <p:sp>
        <p:nvSpPr>
          <p:cNvPr id="11" name="Shape 7"/>
          <p:cNvSpPr/>
          <p:nvPr/>
        </p:nvSpPr>
        <p:spPr>
          <a:xfrm>
            <a:off x="548640" y="5138928"/>
            <a:ext cx="11094415" cy="777240"/>
          </a:xfrm>
          <a:prstGeom prst="rect">
            <a:avLst/>
          </a:prstGeom>
          <a:solidFill>
            <a:srgbClr val="C8102E"/>
          </a:solidFill>
          <a:ln w="12700">
            <a:solidFill>
              <a:srgbClr val="C8102E"/>
            </a:solidFill>
            <a:prstDash val="solid"/>
          </a:ln>
        </p:spPr>
      </p:sp>
      <p:sp>
        <p:nvSpPr>
          <p:cNvPr id="12" name="Text 8"/>
          <p:cNvSpPr/>
          <p:nvPr/>
        </p:nvSpPr>
        <p:spPr>
          <a:xfrm>
            <a:off x="777240" y="5266944"/>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KESIMPULAN Q3</a:t>
            </a:r>
            <a:endParaRPr lang="en-US" sz="800" dirty="0"/>
          </a:p>
        </p:txBody>
      </p:sp>
      <p:sp>
        <p:nvSpPr>
          <p:cNvPr id="13" name="Text 9"/>
          <p:cNvSpPr/>
          <p:nvPr/>
        </p:nvSpPr>
        <p:spPr>
          <a:xfrm>
            <a:off x="777240" y="5504688"/>
            <a:ext cx="10637215" cy="32004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Keduanya lolos VRIN Test, jadi keduanya tahan terhadap serangan PESAING. Bedanya ada di luar VRIN: merek melekat pada klub, sedangkan sistem Ferguson dibangun dan dipimpin satu orang yang akan segera pensiun.</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74904"/>
            <a:ext cx="10728655" cy="32004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3  ·  DYNAMIC CAPABILITY</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TIGA KALI MEMBANGUN ULANG TIM JUARA</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Inilah yang tidak diukur VRIN Test: apakah kemampuan memperbarui diri ini milik klub, atau milik satu orang.</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 hlm. 583 dan 584.</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28</a:t>
            </a:r>
            <a:endParaRPr lang="en-US" sz="900" dirty="0"/>
          </a:p>
        </p:txBody>
      </p:sp>
      <p:sp>
        <p:nvSpPr>
          <p:cNvPr id="10" name="Shape 7"/>
          <p:cNvSpPr/>
          <p:nvPr/>
        </p:nvSpPr>
        <p:spPr>
          <a:xfrm>
            <a:off x="548640" y="1865376"/>
            <a:ext cx="11094415" cy="27432"/>
          </a:xfrm>
          <a:prstGeom prst="rect">
            <a:avLst/>
          </a:prstGeom>
          <a:solidFill>
            <a:srgbClr val="C8102E"/>
          </a:solidFill>
          <a:ln w="12700">
            <a:solidFill>
              <a:srgbClr val="C8102E"/>
            </a:solidFill>
            <a:prstDash val="solid"/>
          </a:ln>
        </p:spPr>
      </p:sp>
      <p:sp>
        <p:nvSpPr>
          <p:cNvPr id="11" name="Shape 8"/>
          <p:cNvSpPr/>
          <p:nvPr/>
        </p:nvSpPr>
        <p:spPr>
          <a:xfrm>
            <a:off x="685800" y="1773936"/>
            <a:ext cx="201168" cy="201168"/>
          </a:xfrm>
          <a:prstGeom prst="ellipse">
            <a:avLst/>
          </a:prstGeom>
          <a:solidFill>
            <a:srgbClr val="FBE122"/>
          </a:solidFill>
          <a:ln w="12700">
            <a:solidFill>
              <a:srgbClr val="FBE122"/>
            </a:solidFill>
            <a:prstDash val="solid"/>
          </a:ln>
        </p:spPr>
      </p:sp>
      <p:sp>
        <p:nvSpPr>
          <p:cNvPr id="12" name="Shape 9"/>
          <p:cNvSpPr/>
          <p:nvPr/>
        </p:nvSpPr>
        <p:spPr>
          <a:xfrm>
            <a:off x="548640" y="2139696"/>
            <a:ext cx="3545738" cy="3017520"/>
          </a:xfrm>
          <a:prstGeom prst="rect">
            <a:avLst/>
          </a:prstGeom>
          <a:solidFill>
            <a:srgbClr val="27161A"/>
          </a:solidFill>
          <a:ln w="12700">
            <a:solidFill>
              <a:srgbClr val="27161A"/>
            </a:solidFill>
            <a:prstDash val="solid"/>
          </a:ln>
        </p:spPr>
      </p:sp>
      <p:sp>
        <p:nvSpPr>
          <p:cNvPr id="13" name="Text 10"/>
          <p:cNvSpPr/>
          <p:nvPr/>
        </p:nvSpPr>
        <p:spPr>
          <a:xfrm>
            <a:off x="749808" y="2286000"/>
            <a:ext cx="3179978" cy="411480"/>
          </a:xfrm>
          <a:prstGeom prst="rect">
            <a:avLst/>
          </a:prstGeom>
          <a:noFill/>
          <a:ln/>
        </p:spPr>
        <p:txBody>
          <a:bodyPr wrap="square" lIns="0" tIns="0" rIns="0" bIns="0" rtlCol="0" anchor="t"/>
          <a:lstStyle/>
          <a:p>
            <a:pPr marL="0" indent="0">
              <a:buNone/>
            </a:pPr>
            <a:r>
              <a:rPr lang="en-US" sz="2000" dirty="0">
                <a:solidFill>
                  <a:srgbClr val="C8102E"/>
                </a:solidFill>
                <a:latin typeface="Poppins ExtraBold" pitchFamily="34" charset="0"/>
                <a:ea typeface="Poppins ExtraBold" pitchFamily="34" charset="-122"/>
                <a:cs typeface="Poppins ExtraBold" pitchFamily="34" charset="-120"/>
              </a:rPr>
              <a:t>1986 – 1993</a:t>
            </a:r>
            <a:endParaRPr lang="en-US" sz="2000" dirty="0"/>
          </a:p>
        </p:txBody>
      </p:sp>
      <p:sp>
        <p:nvSpPr>
          <p:cNvPr id="14" name="Text 11"/>
          <p:cNvSpPr/>
          <p:nvPr/>
        </p:nvSpPr>
        <p:spPr>
          <a:xfrm>
            <a:off x="749808" y="2715768"/>
            <a:ext cx="3179978" cy="54864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Membersihkan dan membangun fondasi</a:t>
            </a:r>
            <a:endParaRPr lang="en-US" sz="1200" dirty="0"/>
          </a:p>
        </p:txBody>
      </p:sp>
      <p:sp>
        <p:nvSpPr>
          <p:cNvPr id="15" name="Text 12"/>
          <p:cNvSpPr/>
          <p:nvPr/>
        </p:nvSpPr>
        <p:spPr>
          <a:xfrm>
            <a:off x="749808" y="3291840"/>
            <a:ext cx="3179978" cy="118872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Ferguson menyingkirkan pemain yang dinilai kurang berbakat atau kurang berkomitmen, mempertahankan Bryan Robson, mendatangkan Hughes, Ince, Cantona, Keane. Ia juga menegakkan disiplin latihan.</a:t>
            </a:r>
            <a:endParaRPr lang="en-US" sz="900" dirty="0"/>
          </a:p>
        </p:txBody>
      </p:sp>
      <p:sp>
        <p:nvSpPr>
          <p:cNvPr id="16" name="Shape 13"/>
          <p:cNvSpPr/>
          <p:nvPr/>
        </p:nvSpPr>
        <p:spPr>
          <a:xfrm>
            <a:off x="749808" y="4453128"/>
            <a:ext cx="3143402" cy="9144"/>
          </a:xfrm>
          <a:prstGeom prst="rect">
            <a:avLst/>
          </a:prstGeom>
          <a:solidFill>
            <a:srgbClr val="46292D"/>
          </a:solidFill>
          <a:ln w="12700">
            <a:solidFill>
              <a:srgbClr val="46292D"/>
            </a:solidFill>
            <a:prstDash val="solid"/>
          </a:ln>
        </p:spPr>
      </p:sp>
      <p:sp>
        <p:nvSpPr>
          <p:cNvPr id="17" name="Text 14"/>
          <p:cNvSpPr/>
          <p:nvPr/>
        </p:nvSpPr>
        <p:spPr>
          <a:xfrm>
            <a:off x="749808" y="4544568"/>
            <a:ext cx="3179978" cy="548640"/>
          </a:xfrm>
          <a:prstGeom prst="rect">
            <a:avLst/>
          </a:prstGeom>
          <a:noFill/>
          <a:ln/>
        </p:spPr>
        <p:txBody>
          <a:bodyPr wrap="square" lIns="0" tIns="0" rIns="0" bIns="0" rtlCol="0" anchor="t"/>
          <a:lstStyle/>
          <a:p>
            <a:pPr marL="0" indent="0">
              <a:lnSpc>
                <a:spcPct val="104000"/>
              </a:lnSpc>
              <a:buNone/>
            </a:pPr>
            <a:r>
              <a:rPr lang="en-US" sz="850" dirty="0">
                <a:solidFill>
                  <a:srgbClr val="FBE122"/>
                </a:solidFill>
                <a:latin typeface="Poppins Medium" pitchFamily="34" charset="0"/>
                <a:ea typeface="Poppins Medium" pitchFamily="34" charset="-122"/>
                <a:cs typeface="Poppins Medium" pitchFamily="34" charset="-120"/>
              </a:rPr>
              <a:t>FA Cup 1990  ·  Piala Winners 1991  ·  liga pertama era Ferguson 1993</a:t>
            </a:r>
            <a:endParaRPr lang="en-US" sz="850" dirty="0"/>
          </a:p>
        </p:txBody>
      </p:sp>
      <p:sp>
        <p:nvSpPr>
          <p:cNvPr id="18" name="Shape 15"/>
          <p:cNvSpPr/>
          <p:nvPr/>
        </p:nvSpPr>
        <p:spPr>
          <a:xfrm>
            <a:off x="4460138" y="1773936"/>
            <a:ext cx="201168" cy="201168"/>
          </a:xfrm>
          <a:prstGeom prst="ellipse">
            <a:avLst/>
          </a:prstGeom>
          <a:solidFill>
            <a:srgbClr val="FBE122"/>
          </a:solidFill>
          <a:ln w="12700">
            <a:solidFill>
              <a:srgbClr val="FBE122"/>
            </a:solidFill>
            <a:prstDash val="solid"/>
          </a:ln>
        </p:spPr>
      </p:sp>
      <p:sp>
        <p:nvSpPr>
          <p:cNvPr id="19" name="Shape 16"/>
          <p:cNvSpPr/>
          <p:nvPr/>
        </p:nvSpPr>
        <p:spPr>
          <a:xfrm>
            <a:off x="4322978" y="2139696"/>
            <a:ext cx="3545738" cy="3017520"/>
          </a:xfrm>
          <a:prstGeom prst="rect">
            <a:avLst/>
          </a:prstGeom>
          <a:solidFill>
            <a:srgbClr val="27161A"/>
          </a:solidFill>
          <a:ln w="12700">
            <a:solidFill>
              <a:srgbClr val="27161A"/>
            </a:solidFill>
            <a:prstDash val="solid"/>
          </a:ln>
        </p:spPr>
      </p:sp>
      <p:sp>
        <p:nvSpPr>
          <p:cNvPr id="20" name="Text 17"/>
          <p:cNvSpPr/>
          <p:nvPr/>
        </p:nvSpPr>
        <p:spPr>
          <a:xfrm>
            <a:off x="4524146" y="2286000"/>
            <a:ext cx="3179978" cy="411480"/>
          </a:xfrm>
          <a:prstGeom prst="rect">
            <a:avLst/>
          </a:prstGeom>
          <a:noFill/>
          <a:ln/>
        </p:spPr>
        <p:txBody>
          <a:bodyPr wrap="square" lIns="0" tIns="0" rIns="0" bIns="0" rtlCol="0" anchor="t"/>
          <a:lstStyle/>
          <a:p>
            <a:pPr marL="0" indent="0">
              <a:buNone/>
            </a:pPr>
            <a:r>
              <a:rPr lang="en-US" sz="2000" dirty="0">
                <a:solidFill>
                  <a:srgbClr val="C8102E"/>
                </a:solidFill>
                <a:latin typeface="Poppins ExtraBold" pitchFamily="34" charset="0"/>
                <a:ea typeface="Poppins ExtraBold" pitchFamily="34" charset="-122"/>
                <a:cs typeface="Poppins ExtraBold" pitchFamily="34" charset="-120"/>
              </a:rPr>
              <a:t>1994 – 2003</a:t>
            </a:r>
            <a:endParaRPr lang="en-US" sz="2000" dirty="0"/>
          </a:p>
        </p:txBody>
      </p:sp>
      <p:sp>
        <p:nvSpPr>
          <p:cNvPr id="21" name="Text 18"/>
          <p:cNvSpPr/>
          <p:nvPr/>
        </p:nvSpPr>
        <p:spPr>
          <a:xfrm>
            <a:off x="4524146" y="2715768"/>
            <a:ext cx="3179978" cy="54864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Generasi akademi</a:t>
            </a:r>
            <a:endParaRPr lang="en-US" sz="1200" dirty="0"/>
          </a:p>
        </p:txBody>
      </p:sp>
      <p:sp>
        <p:nvSpPr>
          <p:cNvPr id="22" name="Text 19"/>
          <p:cNvSpPr/>
          <p:nvPr/>
        </p:nvSpPr>
        <p:spPr>
          <a:xfrm>
            <a:off x="4524146" y="3291840"/>
            <a:ext cx="3179978" cy="118872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Juara liga junior 1990 menghasilkan Giggs, Beckham, Butt, Gary dan Phil Neville, serta Scholes. Mereka jadi inti tim yang mendominasi sepakbola Inggris.</a:t>
            </a:r>
            <a:endParaRPr lang="en-US" sz="900" dirty="0"/>
          </a:p>
        </p:txBody>
      </p:sp>
      <p:sp>
        <p:nvSpPr>
          <p:cNvPr id="23" name="Shape 20"/>
          <p:cNvSpPr/>
          <p:nvPr/>
        </p:nvSpPr>
        <p:spPr>
          <a:xfrm>
            <a:off x="4524146" y="4453128"/>
            <a:ext cx="3143402" cy="9144"/>
          </a:xfrm>
          <a:prstGeom prst="rect">
            <a:avLst/>
          </a:prstGeom>
          <a:solidFill>
            <a:srgbClr val="46292D"/>
          </a:solidFill>
          <a:ln w="12700">
            <a:solidFill>
              <a:srgbClr val="46292D"/>
            </a:solidFill>
            <a:prstDash val="solid"/>
          </a:ln>
        </p:spPr>
      </p:sp>
      <p:sp>
        <p:nvSpPr>
          <p:cNvPr id="24" name="Text 21"/>
          <p:cNvSpPr/>
          <p:nvPr/>
        </p:nvSpPr>
        <p:spPr>
          <a:xfrm>
            <a:off x="4524146" y="4544568"/>
            <a:ext cx="3179978" cy="548640"/>
          </a:xfrm>
          <a:prstGeom prst="rect">
            <a:avLst/>
          </a:prstGeom>
          <a:noFill/>
          <a:ln/>
        </p:spPr>
        <p:txBody>
          <a:bodyPr wrap="square" lIns="0" tIns="0" rIns="0" bIns="0" rtlCol="0" anchor="t"/>
          <a:lstStyle/>
          <a:p>
            <a:pPr marL="0" indent="0">
              <a:lnSpc>
                <a:spcPct val="104000"/>
              </a:lnSpc>
              <a:buNone/>
            </a:pPr>
            <a:r>
              <a:rPr lang="en-US" sz="850" dirty="0">
                <a:solidFill>
                  <a:srgbClr val="FBE122"/>
                </a:solidFill>
                <a:latin typeface="Poppins Medium" pitchFamily="34" charset="0"/>
                <a:ea typeface="Poppins Medium" pitchFamily="34" charset="-122"/>
                <a:cs typeface="Poppins Medium" pitchFamily="34" charset="-120"/>
              </a:rPr>
              <a:t>Puncaknya 1999: liga, FA Cup, European Cup, Intercontinental Cup</a:t>
            </a:r>
            <a:endParaRPr lang="en-US" sz="850" dirty="0"/>
          </a:p>
        </p:txBody>
      </p:sp>
      <p:sp>
        <p:nvSpPr>
          <p:cNvPr id="25" name="Shape 22"/>
          <p:cNvSpPr/>
          <p:nvPr/>
        </p:nvSpPr>
        <p:spPr>
          <a:xfrm>
            <a:off x="8234477" y="1773936"/>
            <a:ext cx="201168" cy="201168"/>
          </a:xfrm>
          <a:prstGeom prst="ellipse">
            <a:avLst/>
          </a:prstGeom>
          <a:solidFill>
            <a:srgbClr val="FBE122"/>
          </a:solidFill>
          <a:ln w="12700">
            <a:solidFill>
              <a:srgbClr val="FBE122"/>
            </a:solidFill>
            <a:prstDash val="solid"/>
          </a:ln>
        </p:spPr>
      </p:sp>
      <p:sp>
        <p:nvSpPr>
          <p:cNvPr id="26" name="Shape 23"/>
          <p:cNvSpPr/>
          <p:nvPr/>
        </p:nvSpPr>
        <p:spPr>
          <a:xfrm>
            <a:off x="8097317" y="2139696"/>
            <a:ext cx="3545738" cy="3017520"/>
          </a:xfrm>
          <a:prstGeom prst="rect">
            <a:avLst/>
          </a:prstGeom>
          <a:solidFill>
            <a:srgbClr val="27161A"/>
          </a:solidFill>
          <a:ln w="12700">
            <a:solidFill>
              <a:srgbClr val="27161A"/>
            </a:solidFill>
            <a:prstDash val="solid"/>
          </a:ln>
        </p:spPr>
      </p:sp>
      <p:sp>
        <p:nvSpPr>
          <p:cNvPr id="27" name="Text 24"/>
          <p:cNvSpPr/>
          <p:nvPr/>
        </p:nvSpPr>
        <p:spPr>
          <a:xfrm>
            <a:off x="8298485" y="2286000"/>
            <a:ext cx="3179978" cy="411480"/>
          </a:xfrm>
          <a:prstGeom prst="rect">
            <a:avLst/>
          </a:prstGeom>
          <a:noFill/>
          <a:ln/>
        </p:spPr>
        <p:txBody>
          <a:bodyPr wrap="square" lIns="0" tIns="0" rIns="0" bIns="0" rtlCol="0" anchor="t"/>
          <a:lstStyle/>
          <a:p>
            <a:pPr marL="0" indent="0">
              <a:buNone/>
            </a:pPr>
            <a:r>
              <a:rPr lang="en-US" sz="2000" dirty="0">
                <a:solidFill>
                  <a:srgbClr val="C8102E"/>
                </a:solidFill>
                <a:latin typeface="Poppins ExtraBold" pitchFamily="34" charset="0"/>
                <a:ea typeface="Poppins ExtraBold" pitchFamily="34" charset="-122"/>
                <a:cs typeface="Poppins ExtraBold" pitchFamily="34" charset="-120"/>
              </a:rPr>
              <a:t>2003 – 2008</a:t>
            </a:r>
            <a:endParaRPr lang="en-US" sz="2000" dirty="0"/>
          </a:p>
        </p:txBody>
      </p:sp>
      <p:sp>
        <p:nvSpPr>
          <p:cNvPr id="28" name="Text 25"/>
          <p:cNvSpPr/>
          <p:nvPr/>
        </p:nvSpPr>
        <p:spPr>
          <a:xfrm>
            <a:off x="8298485" y="2715768"/>
            <a:ext cx="3179978" cy="54864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Regenerasi kedua</a:t>
            </a:r>
            <a:endParaRPr lang="en-US" sz="1200" dirty="0"/>
          </a:p>
        </p:txBody>
      </p:sp>
      <p:sp>
        <p:nvSpPr>
          <p:cNvPr id="29" name="Text 26"/>
          <p:cNvSpPr/>
          <p:nvPr/>
        </p:nvSpPr>
        <p:spPr>
          <a:xfrm>
            <a:off x="8298485" y="3291840"/>
            <a:ext cx="3179978" cy="1188720"/>
          </a:xfrm>
          <a:prstGeom prst="rect">
            <a:avLst/>
          </a:prstGeom>
          <a:noFill/>
          <a:ln/>
        </p:spPr>
        <p:txBody>
          <a:bodyPr wrap="square" lIns="0" tIns="0" rIns="0" bIns="0" rtlCol="0" anchor="t"/>
          <a:lstStyle/>
          <a:p>
            <a:pPr marL="0" indent="0">
              <a:lnSpc>
                <a:spcPct val="106000"/>
              </a:lnSpc>
              <a:buNone/>
            </a:pPr>
            <a:r>
              <a:rPr lang="en-US" sz="900" dirty="0">
                <a:solidFill>
                  <a:srgbClr val="D9CFC7"/>
                </a:solidFill>
                <a:latin typeface="Poppins" pitchFamily="34" charset="0"/>
                <a:ea typeface="Poppins" pitchFamily="34" charset="-122"/>
                <a:cs typeface="Poppins" pitchFamily="34" charset="-120"/>
              </a:rPr>
              <a:t>Kasus mencatat Beckham, Keane, Schmeichel, Cole, Sheringham, Stam dijual. Penggantinya antara lain Ferdinand, Ronaldo, Rooney, van der Sar, Evra, Vidić, Carrick.</a:t>
            </a:r>
            <a:endParaRPr lang="en-US" sz="900" dirty="0"/>
          </a:p>
        </p:txBody>
      </p:sp>
      <p:sp>
        <p:nvSpPr>
          <p:cNvPr id="30" name="Shape 27"/>
          <p:cNvSpPr/>
          <p:nvPr/>
        </p:nvSpPr>
        <p:spPr>
          <a:xfrm>
            <a:off x="8298485" y="4453128"/>
            <a:ext cx="3143402" cy="9144"/>
          </a:xfrm>
          <a:prstGeom prst="rect">
            <a:avLst/>
          </a:prstGeom>
          <a:solidFill>
            <a:srgbClr val="46292D"/>
          </a:solidFill>
          <a:ln w="12700">
            <a:solidFill>
              <a:srgbClr val="46292D"/>
            </a:solidFill>
            <a:prstDash val="solid"/>
          </a:ln>
        </p:spPr>
      </p:sp>
      <p:sp>
        <p:nvSpPr>
          <p:cNvPr id="31" name="Text 28"/>
          <p:cNvSpPr/>
          <p:nvPr/>
        </p:nvSpPr>
        <p:spPr>
          <a:xfrm>
            <a:off x="8298485" y="4544568"/>
            <a:ext cx="3179978" cy="548640"/>
          </a:xfrm>
          <a:prstGeom prst="rect">
            <a:avLst/>
          </a:prstGeom>
          <a:noFill/>
          <a:ln/>
        </p:spPr>
        <p:txBody>
          <a:bodyPr wrap="square" lIns="0" tIns="0" rIns="0" bIns="0" rtlCol="0" anchor="t"/>
          <a:lstStyle/>
          <a:p>
            <a:pPr marL="0" indent="0">
              <a:lnSpc>
                <a:spcPct val="104000"/>
              </a:lnSpc>
              <a:buNone/>
            </a:pPr>
            <a:r>
              <a:rPr lang="en-US" sz="850" dirty="0">
                <a:solidFill>
                  <a:srgbClr val="FBE122"/>
                </a:solidFill>
                <a:latin typeface="Poppins Medium" pitchFamily="34" charset="0"/>
                <a:ea typeface="Poppins Medium" pitchFamily="34" charset="-122"/>
                <a:cs typeface="Poppins Medium" pitchFamily="34" charset="-120"/>
              </a:rPr>
              <a:t>Liga Champions 2008  ·  tiga gelar liga beruntun 2007–2009</a:t>
            </a:r>
            <a:endParaRPr lang="en-US" sz="850" dirty="0"/>
          </a:p>
        </p:txBody>
      </p:sp>
      <p:sp>
        <p:nvSpPr>
          <p:cNvPr id="32" name="Shape 29"/>
          <p:cNvSpPr/>
          <p:nvPr/>
        </p:nvSpPr>
        <p:spPr>
          <a:xfrm>
            <a:off x="548640" y="5321807"/>
            <a:ext cx="11094415" cy="782659"/>
          </a:xfrm>
          <a:prstGeom prst="rect">
            <a:avLst/>
          </a:prstGeom>
          <a:solidFill>
            <a:srgbClr val="C8102E"/>
          </a:solidFill>
          <a:ln w="12700">
            <a:solidFill>
              <a:srgbClr val="C8102E"/>
            </a:solidFill>
            <a:prstDash val="solid"/>
          </a:ln>
        </p:spPr>
      </p:sp>
      <p:sp>
        <p:nvSpPr>
          <p:cNvPr id="33" name="Text 30"/>
          <p:cNvSpPr/>
          <p:nvPr/>
        </p:nvSpPr>
        <p:spPr>
          <a:xfrm>
            <a:off x="777240" y="5449824"/>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PRESEDEN DARI KASUS SENDIRI</a:t>
            </a:r>
            <a:endParaRPr lang="en-US" sz="800" dirty="0"/>
          </a:p>
        </p:txBody>
      </p:sp>
      <p:sp>
        <p:nvSpPr>
          <p:cNvPr id="34" name="Text 31"/>
          <p:cNvSpPr/>
          <p:nvPr/>
        </p:nvSpPr>
        <p:spPr>
          <a:xfrm>
            <a:off x="777240" y="5687568"/>
            <a:ext cx="10637215" cy="182880"/>
          </a:xfrm>
          <a:prstGeom prst="rect">
            <a:avLst/>
          </a:prstGeom>
          <a:noFill/>
          <a:ln/>
        </p:spPr>
        <p:txBody>
          <a:bodyPr wrap="square" lIns="0" tIns="0" rIns="0" bIns="0" rtlCol="0" anchor="t"/>
          <a:lstStyle/>
          <a:p>
            <a:pPr marL="0" indent="0">
              <a:lnSpc>
                <a:spcPct val="108000"/>
              </a:lnSpc>
              <a:buNone/>
            </a:pPr>
            <a:r>
              <a:rPr lang="en-US" sz="950" dirty="0">
                <a:solidFill>
                  <a:srgbClr val="FFFFFF"/>
                </a:solidFill>
                <a:latin typeface="Poppins Medium" pitchFamily="34" charset="0"/>
                <a:ea typeface="Poppins Medium" pitchFamily="34" charset="-122"/>
                <a:cs typeface="Poppins Medium" pitchFamily="34" charset="-120"/>
              </a:rPr>
              <a:t>Setelah Matt Busby pensiun 1969, MU merosot. Selama 18 tahun sebelum Ferguson datang, MU tidak memenangi satu pun gelar liga dan hanya sekali </a:t>
            </a:r>
            <a:r>
              <a:rPr lang="en-US" sz="950" dirty="0" err="1">
                <a:solidFill>
                  <a:srgbClr val="FFFFFF"/>
                </a:solidFill>
                <a:latin typeface="Poppins Medium" pitchFamily="34" charset="0"/>
                <a:ea typeface="Poppins Medium" pitchFamily="34" charset="-122"/>
                <a:cs typeface="Poppins Medium" pitchFamily="34" charset="-120"/>
              </a:rPr>
              <a:t>jadi</a:t>
            </a:r>
            <a:r>
              <a:rPr lang="en-US" sz="950" dirty="0">
                <a:solidFill>
                  <a:srgbClr val="FFFFFF"/>
                </a:solidFill>
                <a:latin typeface="Poppins Medium" pitchFamily="34" charset="0"/>
                <a:ea typeface="Poppins Medium" pitchFamily="34" charset="-122"/>
                <a:cs typeface="Poppins Medium" pitchFamily="34" charset="-120"/>
              </a:rPr>
              <a:t> runner-up.</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01752"/>
            <a:ext cx="10728655" cy="32004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4  ·  DITERAPKAN</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VALUE CHAIN DAN STRUKTUR BIAYA MU</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Kerangka Figure 4.3 dipetakan ke aktivitas nyata sebuah klub. Hasilnya: keunggulan biaya MU ada di HULU, di cara mendapatkan pemain.</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 hlm. 580, 583, 584, 586.</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29</a:t>
            </a:r>
            <a:endParaRPr lang="en-US" sz="900" dirty="0"/>
          </a:p>
        </p:txBody>
      </p:sp>
      <p:sp>
        <p:nvSpPr>
          <p:cNvPr id="10" name="Text 7"/>
          <p:cNvSpPr/>
          <p:nvPr/>
        </p:nvSpPr>
        <p:spPr>
          <a:xfrm>
            <a:off x="548640" y="1755648"/>
            <a:ext cx="365760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PRIMARY ACTIVITIES</a:t>
            </a:r>
            <a:endParaRPr lang="en-US" sz="850" dirty="0"/>
          </a:p>
        </p:txBody>
      </p:sp>
      <p:sp>
        <p:nvSpPr>
          <p:cNvPr id="11" name="Shape 8"/>
          <p:cNvSpPr/>
          <p:nvPr/>
        </p:nvSpPr>
        <p:spPr>
          <a:xfrm>
            <a:off x="548640" y="2029968"/>
            <a:ext cx="1335024" cy="1463040"/>
          </a:xfrm>
          <a:prstGeom prst="rect">
            <a:avLst/>
          </a:prstGeom>
          <a:solidFill>
            <a:srgbClr val="C8102E"/>
          </a:solidFill>
          <a:ln w="12700">
            <a:solidFill>
              <a:srgbClr val="C8102E"/>
            </a:solidFill>
            <a:prstDash val="solid"/>
          </a:ln>
        </p:spPr>
      </p:sp>
      <p:sp>
        <p:nvSpPr>
          <p:cNvPr id="12" name="Shape 9"/>
          <p:cNvSpPr/>
          <p:nvPr/>
        </p:nvSpPr>
        <p:spPr>
          <a:xfrm>
            <a:off x="548640" y="2029968"/>
            <a:ext cx="1335024" cy="45720"/>
          </a:xfrm>
          <a:prstGeom prst="rect">
            <a:avLst/>
          </a:prstGeom>
          <a:solidFill>
            <a:srgbClr val="FBE122"/>
          </a:solidFill>
          <a:ln w="12700">
            <a:solidFill>
              <a:srgbClr val="FBE122"/>
            </a:solidFill>
            <a:prstDash val="solid"/>
          </a:ln>
        </p:spPr>
      </p:sp>
      <p:sp>
        <p:nvSpPr>
          <p:cNvPr id="13" name="Text 10"/>
          <p:cNvSpPr/>
          <p:nvPr/>
        </p:nvSpPr>
        <p:spPr>
          <a:xfrm>
            <a:off x="658368" y="2139696"/>
            <a:ext cx="1115568" cy="274320"/>
          </a:xfrm>
          <a:prstGeom prst="rect">
            <a:avLst/>
          </a:prstGeom>
          <a:noFill/>
          <a:ln/>
        </p:spPr>
        <p:txBody>
          <a:bodyPr wrap="square" lIns="0" tIns="0" rIns="0" bIns="0" rtlCol="0" anchor="t"/>
          <a:lstStyle/>
          <a:p>
            <a:pPr marL="0" indent="0">
              <a:buNone/>
            </a:pPr>
            <a:r>
              <a:rPr lang="en-US" sz="800" dirty="0">
                <a:solidFill>
                  <a:srgbClr val="FBE122"/>
                </a:solidFill>
                <a:latin typeface="Poppins SemiBold" pitchFamily="34" charset="0"/>
                <a:ea typeface="Poppins SemiBold" pitchFamily="34" charset="-122"/>
                <a:cs typeface="Poppins SemiBold" pitchFamily="34" charset="-120"/>
              </a:rPr>
              <a:t>Supply Chain</a:t>
            </a:r>
            <a:endParaRPr lang="en-US" sz="800" dirty="0"/>
          </a:p>
        </p:txBody>
      </p:sp>
      <p:sp>
        <p:nvSpPr>
          <p:cNvPr id="14" name="Text 11"/>
          <p:cNvSpPr/>
          <p:nvPr/>
        </p:nvSpPr>
        <p:spPr>
          <a:xfrm>
            <a:off x="658368" y="2414016"/>
            <a:ext cx="1115568" cy="502920"/>
          </a:xfrm>
          <a:prstGeom prst="rect">
            <a:avLst/>
          </a:prstGeom>
          <a:noFill/>
          <a:ln/>
        </p:spPr>
        <p:txBody>
          <a:bodyPr wrap="square" lIns="0" tIns="0" rIns="0" bIns="0" rtlCol="0" anchor="t"/>
          <a:lstStyle/>
          <a:p>
            <a:pPr marL="0" indent="0">
              <a:lnSpc>
                <a:spcPct val="98000"/>
              </a:lnSpc>
              <a:buNone/>
            </a:pPr>
            <a:r>
              <a:rPr lang="en-US" sz="950" dirty="0">
                <a:solidFill>
                  <a:srgbClr val="FFFFFF"/>
                </a:solidFill>
                <a:latin typeface="Poppins SemiBold" pitchFamily="34" charset="0"/>
                <a:ea typeface="Poppins SemiBold" pitchFamily="34" charset="-122"/>
                <a:cs typeface="Poppins SemiBold" pitchFamily="34" charset="-120"/>
              </a:rPr>
              <a:t>Mendapatkan pemain</a:t>
            </a:r>
            <a:endParaRPr lang="en-US" sz="950" dirty="0"/>
          </a:p>
        </p:txBody>
      </p:sp>
      <p:sp>
        <p:nvSpPr>
          <p:cNvPr id="15" name="Text 12"/>
          <p:cNvSpPr/>
          <p:nvPr/>
        </p:nvSpPr>
        <p:spPr>
          <a:xfrm>
            <a:off x="658368" y="2926080"/>
            <a:ext cx="1115568" cy="548640"/>
          </a:xfrm>
          <a:prstGeom prst="rect">
            <a:avLst/>
          </a:prstGeom>
          <a:noFill/>
          <a:ln/>
        </p:spPr>
        <p:txBody>
          <a:bodyPr wrap="square" lIns="0" tIns="0" rIns="0" bIns="0" rtlCol="0" anchor="t"/>
          <a:lstStyle/>
          <a:p>
            <a:pPr marL="0" indent="0">
              <a:lnSpc>
                <a:spcPct val="103000"/>
              </a:lnSpc>
              <a:buNone/>
            </a:pPr>
            <a:r>
              <a:rPr lang="en-US" sz="750" dirty="0">
                <a:solidFill>
                  <a:srgbClr val="FFFFFF"/>
                </a:solidFill>
                <a:latin typeface="Poppins" pitchFamily="34" charset="0"/>
                <a:ea typeface="Poppins" pitchFamily="34" charset="-122"/>
                <a:cs typeface="Poppins" pitchFamily="34" charset="-120"/>
              </a:rPr>
              <a:t>Akademi, 20+ pemandu bakat, pasar transfer</a:t>
            </a:r>
            <a:endParaRPr lang="en-US" sz="750" dirty="0"/>
          </a:p>
        </p:txBody>
      </p:sp>
      <p:sp>
        <p:nvSpPr>
          <p:cNvPr id="16" name="Shape 13"/>
          <p:cNvSpPr/>
          <p:nvPr/>
        </p:nvSpPr>
        <p:spPr>
          <a:xfrm>
            <a:off x="1975104" y="2029968"/>
            <a:ext cx="1335024" cy="1463040"/>
          </a:xfrm>
          <a:prstGeom prst="rect">
            <a:avLst/>
          </a:prstGeom>
          <a:solidFill>
            <a:srgbClr val="27161A"/>
          </a:solidFill>
          <a:ln w="12700">
            <a:solidFill>
              <a:srgbClr val="27161A"/>
            </a:solidFill>
            <a:prstDash val="solid"/>
          </a:ln>
        </p:spPr>
      </p:sp>
      <p:sp>
        <p:nvSpPr>
          <p:cNvPr id="17" name="Shape 14"/>
          <p:cNvSpPr/>
          <p:nvPr/>
        </p:nvSpPr>
        <p:spPr>
          <a:xfrm>
            <a:off x="1975104" y="2029968"/>
            <a:ext cx="1335024" cy="45720"/>
          </a:xfrm>
          <a:prstGeom prst="rect">
            <a:avLst/>
          </a:prstGeom>
          <a:solidFill>
            <a:srgbClr val="C8102E"/>
          </a:solidFill>
          <a:ln w="12700">
            <a:solidFill>
              <a:srgbClr val="C8102E"/>
            </a:solidFill>
            <a:prstDash val="solid"/>
          </a:ln>
        </p:spPr>
      </p:sp>
      <p:sp>
        <p:nvSpPr>
          <p:cNvPr id="18" name="Text 15"/>
          <p:cNvSpPr/>
          <p:nvPr/>
        </p:nvSpPr>
        <p:spPr>
          <a:xfrm>
            <a:off x="2084832" y="2139696"/>
            <a:ext cx="1115568" cy="274320"/>
          </a:xfrm>
          <a:prstGeom prst="rect">
            <a:avLst/>
          </a:prstGeom>
          <a:noFill/>
          <a:ln/>
        </p:spPr>
        <p:txBody>
          <a:bodyPr wrap="square" lIns="0" tIns="0" rIns="0" bIns="0" rtlCol="0" anchor="t"/>
          <a:lstStyle/>
          <a:p>
            <a:pPr marL="0" indent="0">
              <a:buNone/>
            </a:pPr>
            <a:r>
              <a:rPr lang="en-US" sz="800" dirty="0">
                <a:solidFill>
                  <a:srgbClr val="FBE122"/>
                </a:solidFill>
                <a:latin typeface="Poppins SemiBold" pitchFamily="34" charset="0"/>
                <a:ea typeface="Poppins SemiBold" pitchFamily="34" charset="-122"/>
                <a:cs typeface="Poppins SemiBold" pitchFamily="34" charset="-120"/>
              </a:rPr>
              <a:t>Operations</a:t>
            </a:r>
            <a:endParaRPr lang="en-US" sz="800" dirty="0"/>
          </a:p>
        </p:txBody>
      </p:sp>
      <p:sp>
        <p:nvSpPr>
          <p:cNvPr id="19" name="Text 16"/>
          <p:cNvSpPr/>
          <p:nvPr/>
        </p:nvSpPr>
        <p:spPr>
          <a:xfrm>
            <a:off x="2084832" y="2414016"/>
            <a:ext cx="1115568" cy="502920"/>
          </a:xfrm>
          <a:prstGeom prst="rect">
            <a:avLst/>
          </a:prstGeom>
          <a:noFill/>
          <a:ln/>
        </p:spPr>
        <p:txBody>
          <a:bodyPr wrap="square" lIns="0" tIns="0" rIns="0" bIns="0" rtlCol="0" anchor="t"/>
          <a:lstStyle/>
          <a:p>
            <a:pPr marL="0" indent="0">
              <a:lnSpc>
                <a:spcPct val="98000"/>
              </a:lnSpc>
              <a:buNone/>
            </a:pPr>
            <a:r>
              <a:rPr lang="en-US" sz="950" dirty="0">
                <a:solidFill>
                  <a:srgbClr val="FFFFFF"/>
                </a:solidFill>
                <a:latin typeface="Poppins SemiBold" pitchFamily="34" charset="0"/>
                <a:ea typeface="Poppins SemiBold" pitchFamily="34" charset="-122"/>
                <a:cs typeface="Poppins SemiBold" pitchFamily="34" charset="-120"/>
              </a:rPr>
              <a:t>Latihan dan bertanding</a:t>
            </a:r>
            <a:endParaRPr lang="en-US" sz="950" dirty="0"/>
          </a:p>
        </p:txBody>
      </p:sp>
      <p:sp>
        <p:nvSpPr>
          <p:cNvPr id="20" name="Text 17"/>
          <p:cNvSpPr/>
          <p:nvPr/>
        </p:nvSpPr>
        <p:spPr>
          <a:xfrm>
            <a:off x="2084832" y="2926080"/>
            <a:ext cx="1115568" cy="548640"/>
          </a:xfrm>
          <a:prstGeom prst="rect">
            <a:avLst/>
          </a:prstGeom>
          <a:noFill/>
          <a:ln/>
        </p:spPr>
        <p:txBody>
          <a:bodyPr wrap="square" lIns="0" tIns="0" rIns="0" bIns="0" rtlCol="0" anchor="t"/>
          <a:lstStyle/>
          <a:p>
            <a:pPr marL="0" indent="0">
              <a:lnSpc>
                <a:spcPct val="103000"/>
              </a:lnSpc>
              <a:buNone/>
            </a:pPr>
            <a:r>
              <a:rPr lang="en-US" sz="750" dirty="0">
                <a:solidFill>
                  <a:srgbClr val="D9CFC7"/>
                </a:solidFill>
                <a:latin typeface="Poppins" pitchFamily="34" charset="0"/>
                <a:ea typeface="Poppins" pitchFamily="34" charset="-122"/>
                <a:cs typeface="Poppins" pitchFamily="34" charset="-120"/>
              </a:rPr>
              <a:t>Disiplin latihan, rotasi skuad, taktik</a:t>
            </a:r>
            <a:endParaRPr lang="en-US" sz="750" dirty="0"/>
          </a:p>
        </p:txBody>
      </p:sp>
      <p:sp>
        <p:nvSpPr>
          <p:cNvPr id="21" name="Shape 18"/>
          <p:cNvSpPr/>
          <p:nvPr/>
        </p:nvSpPr>
        <p:spPr>
          <a:xfrm>
            <a:off x="3401568" y="2029968"/>
            <a:ext cx="1335024" cy="1463040"/>
          </a:xfrm>
          <a:prstGeom prst="rect">
            <a:avLst/>
          </a:prstGeom>
          <a:solidFill>
            <a:srgbClr val="27161A"/>
          </a:solidFill>
          <a:ln w="12700">
            <a:solidFill>
              <a:srgbClr val="27161A"/>
            </a:solidFill>
            <a:prstDash val="solid"/>
          </a:ln>
        </p:spPr>
      </p:sp>
      <p:sp>
        <p:nvSpPr>
          <p:cNvPr id="22" name="Shape 19"/>
          <p:cNvSpPr/>
          <p:nvPr/>
        </p:nvSpPr>
        <p:spPr>
          <a:xfrm>
            <a:off x="3401568" y="2029968"/>
            <a:ext cx="1335024" cy="45720"/>
          </a:xfrm>
          <a:prstGeom prst="rect">
            <a:avLst/>
          </a:prstGeom>
          <a:solidFill>
            <a:srgbClr val="C8102E"/>
          </a:solidFill>
          <a:ln w="12700">
            <a:solidFill>
              <a:srgbClr val="C8102E"/>
            </a:solidFill>
            <a:prstDash val="solid"/>
          </a:ln>
        </p:spPr>
      </p:sp>
      <p:sp>
        <p:nvSpPr>
          <p:cNvPr id="23" name="Text 20"/>
          <p:cNvSpPr/>
          <p:nvPr/>
        </p:nvSpPr>
        <p:spPr>
          <a:xfrm>
            <a:off x="3511296" y="2139696"/>
            <a:ext cx="1115568" cy="274320"/>
          </a:xfrm>
          <a:prstGeom prst="rect">
            <a:avLst/>
          </a:prstGeom>
          <a:noFill/>
          <a:ln/>
        </p:spPr>
        <p:txBody>
          <a:bodyPr wrap="square" lIns="0" tIns="0" rIns="0" bIns="0" rtlCol="0" anchor="t"/>
          <a:lstStyle/>
          <a:p>
            <a:pPr marL="0" indent="0">
              <a:buNone/>
            </a:pPr>
            <a:r>
              <a:rPr lang="en-US" sz="800" dirty="0">
                <a:solidFill>
                  <a:srgbClr val="FBE122"/>
                </a:solidFill>
                <a:latin typeface="Poppins SemiBold" pitchFamily="34" charset="0"/>
                <a:ea typeface="Poppins SemiBold" pitchFamily="34" charset="-122"/>
                <a:cs typeface="Poppins SemiBold" pitchFamily="34" charset="-120"/>
              </a:rPr>
              <a:t>Distribution</a:t>
            </a:r>
            <a:endParaRPr lang="en-US" sz="800" dirty="0"/>
          </a:p>
        </p:txBody>
      </p:sp>
      <p:sp>
        <p:nvSpPr>
          <p:cNvPr id="24" name="Text 21"/>
          <p:cNvSpPr/>
          <p:nvPr/>
        </p:nvSpPr>
        <p:spPr>
          <a:xfrm>
            <a:off x="3511296" y="2414016"/>
            <a:ext cx="1115568" cy="502920"/>
          </a:xfrm>
          <a:prstGeom prst="rect">
            <a:avLst/>
          </a:prstGeom>
          <a:noFill/>
          <a:ln/>
        </p:spPr>
        <p:txBody>
          <a:bodyPr wrap="square" lIns="0" tIns="0" rIns="0" bIns="0" rtlCol="0" anchor="t"/>
          <a:lstStyle/>
          <a:p>
            <a:pPr marL="0" indent="0">
              <a:lnSpc>
                <a:spcPct val="98000"/>
              </a:lnSpc>
              <a:buNone/>
            </a:pPr>
            <a:r>
              <a:rPr lang="en-US" sz="950" dirty="0">
                <a:solidFill>
                  <a:srgbClr val="FFFFFF"/>
                </a:solidFill>
                <a:latin typeface="Poppins SemiBold" pitchFamily="34" charset="0"/>
                <a:ea typeface="Poppins SemiBold" pitchFamily="34" charset="-122"/>
                <a:cs typeface="Poppins SemiBold" pitchFamily="34" charset="-120"/>
              </a:rPr>
              <a:t>Menyalurkan tontonan</a:t>
            </a:r>
            <a:endParaRPr lang="en-US" sz="950" dirty="0"/>
          </a:p>
        </p:txBody>
      </p:sp>
      <p:sp>
        <p:nvSpPr>
          <p:cNvPr id="25" name="Text 22"/>
          <p:cNvSpPr/>
          <p:nvPr/>
        </p:nvSpPr>
        <p:spPr>
          <a:xfrm>
            <a:off x="3511296" y="2926080"/>
            <a:ext cx="1115568" cy="548640"/>
          </a:xfrm>
          <a:prstGeom prst="rect">
            <a:avLst/>
          </a:prstGeom>
          <a:noFill/>
          <a:ln/>
        </p:spPr>
        <p:txBody>
          <a:bodyPr wrap="square" lIns="0" tIns="0" rIns="0" bIns="0" rtlCol="0" anchor="t"/>
          <a:lstStyle/>
          <a:p>
            <a:pPr marL="0" indent="0">
              <a:lnSpc>
                <a:spcPct val="103000"/>
              </a:lnSpc>
              <a:buNone/>
            </a:pPr>
            <a:r>
              <a:rPr lang="en-US" sz="750" dirty="0">
                <a:solidFill>
                  <a:srgbClr val="D9CFC7"/>
                </a:solidFill>
                <a:latin typeface="Poppins" pitchFamily="34" charset="0"/>
                <a:ea typeface="Poppins" pitchFamily="34" charset="-122"/>
                <a:cs typeface="Poppins" pitchFamily="34" charset="-120"/>
              </a:rPr>
              <a:t>Hak siar liga dan UEFA, MUTV, Old Trafford</a:t>
            </a:r>
            <a:endParaRPr lang="en-US" sz="750" dirty="0"/>
          </a:p>
        </p:txBody>
      </p:sp>
      <p:sp>
        <p:nvSpPr>
          <p:cNvPr id="26" name="Shape 23"/>
          <p:cNvSpPr/>
          <p:nvPr/>
        </p:nvSpPr>
        <p:spPr>
          <a:xfrm>
            <a:off x="4828032" y="2029968"/>
            <a:ext cx="1335024" cy="1463040"/>
          </a:xfrm>
          <a:prstGeom prst="rect">
            <a:avLst/>
          </a:prstGeom>
          <a:solidFill>
            <a:srgbClr val="27161A"/>
          </a:solidFill>
          <a:ln w="12700">
            <a:solidFill>
              <a:srgbClr val="27161A"/>
            </a:solidFill>
            <a:prstDash val="solid"/>
          </a:ln>
        </p:spPr>
      </p:sp>
      <p:sp>
        <p:nvSpPr>
          <p:cNvPr id="27" name="Shape 24"/>
          <p:cNvSpPr/>
          <p:nvPr/>
        </p:nvSpPr>
        <p:spPr>
          <a:xfrm>
            <a:off x="4828032" y="2029968"/>
            <a:ext cx="1335024" cy="45720"/>
          </a:xfrm>
          <a:prstGeom prst="rect">
            <a:avLst/>
          </a:prstGeom>
          <a:solidFill>
            <a:srgbClr val="C8102E"/>
          </a:solidFill>
          <a:ln w="12700">
            <a:solidFill>
              <a:srgbClr val="C8102E"/>
            </a:solidFill>
            <a:prstDash val="solid"/>
          </a:ln>
        </p:spPr>
      </p:sp>
      <p:sp>
        <p:nvSpPr>
          <p:cNvPr id="28" name="Text 25"/>
          <p:cNvSpPr/>
          <p:nvPr/>
        </p:nvSpPr>
        <p:spPr>
          <a:xfrm>
            <a:off x="4937760" y="2139696"/>
            <a:ext cx="1115568" cy="274320"/>
          </a:xfrm>
          <a:prstGeom prst="rect">
            <a:avLst/>
          </a:prstGeom>
          <a:noFill/>
          <a:ln/>
        </p:spPr>
        <p:txBody>
          <a:bodyPr wrap="square" lIns="0" tIns="0" rIns="0" bIns="0" rtlCol="0" anchor="t"/>
          <a:lstStyle/>
          <a:p>
            <a:pPr marL="0" indent="0">
              <a:buNone/>
            </a:pPr>
            <a:r>
              <a:rPr lang="en-US" sz="800" dirty="0">
                <a:solidFill>
                  <a:srgbClr val="FBE122"/>
                </a:solidFill>
                <a:latin typeface="Poppins SemiBold" pitchFamily="34" charset="0"/>
                <a:ea typeface="Poppins SemiBold" pitchFamily="34" charset="-122"/>
                <a:cs typeface="Poppins SemiBold" pitchFamily="34" charset="-120"/>
              </a:rPr>
              <a:t>Sales &amp; Marketing</a:t>
            </a:r>
            <a:endParaRPr lang="en-US" sz="800" dirty="0"/>
          </a:p>
        </p:txBody>
      </p:sp>
      <p:sp>
        <p:nvSpPr>
          <p:cNvPr id="29" name="Text 26"/>
          <p:cNvSpPr/>
          <p:nvPr/>
        </p:nvSpPr>
        <p:spPr>
          <a:xfrm>
            <a:off x="4937760" y="2414016"/>
            <a:ext cx="1115568" cy="502920"/>
          </a:xfrm>
          <a:prstGeom prst="rect">
            <a:avLst/>
          </a:prstGeom>
          <a:noFill/>
          <a:ln/>
        </p:spPr>
        <p:txBody>
          <a:bodyPr wrap="square" lIns="0" tIns="0" rIns="0" bIns="0" rtlCol="0" anchor="t"/>
          <a:lstStyle/>
          <a:p>
            <a:pPr marL="0" indent="0">
              <a:lnSpc>
                <a:spcPct val="98000"/>
              </a:lnSpc>
              <a:buNone/>
            </a:pPr>
            <a:r>
              <a:rPr lang="en-US" sz="950" dirty="0">
                <a:solidFill>
                  <a:srgbClr val="FFFFFF"/>
                </a:solidFill>
                <a:latin typeface="Poppins SemiBold" pitchFamily="34" charset="0"/>
                <a:ea typeface="Poppins SemiBold" pitchFamily="34" charset="-122"/>
                <a:cs typeface="Poppins SemiBold" pitchFamily="34" charset="-120"/>
              </a:rPr>
              <a:t>Menjual merek</a:t>
            </a:r>
            <a:endParaRPr lang="en-US" sz="950" dirty="0"/>
          </a:p>
        </p:txBody>
      </p:sp>
      <p:sp>
        <p:nvSpPr>
          <p:cNvPr id="30" name="Text 27"/>
          <p:cNvSpPr/>
          <p:nvPr/>
        </p:nvSpPr>
        <p:spPr>
          <a:xfrm>
            <a:off x="4937760" y="2926080"/>
            <a:ext cx="1115568" cy="548640"/>
          </a:xfrm>
          <a:prstGeom prst="rect">
            <a:avLst/>
          </a:prstGeom>
          <a:noFill/>
          <a:ln/>
        </p:spPr>
        <p:txBody>
          <a:bodyPr wrap="square" lIns="0" tIns="0" rIns="0" bIns="0" rtlCol="0" anchor="t"/>
          <a:lstStyle/>
          <a:p>
            <a:pPr marL="0" indent="0">
              <a:lnSpc>
                <a:spcPct val="103000"/>
              </a:lnSpc>
              <a:buNone/>
            </a:pPr>
            <a:r>
              <a:rPr lang="en-US" sz="750" dirty="0">
                <a:solidFill>
                  <a:srgbClr val="D9CFC7"/>
                </a:solidFill>
                <a:latin typeface="Poppins" pitchFamily="34" charset="0"/>
                <a:ea typeface="Poppins" pitchFamily="34" charset="-122"/>
                <a:cs typeface="Poppins" pitchFamily="34" charset="-120"/>
              </a:rPr>
              <a:t>Nike, AIG/Aon, 13 sponsor lain, tur Asia</a:t>
            </a:r>
            <a:endParaRPr lang="en-US" sz="750" dirty="0"/>
          </a:p>
        </p:txBody>
      </p:sp>
      <p:sp>
        <p:nvSpPr>
          <p:cNvPr id="31" name="Shape 28"/>
          <p:cNvSpPr/>
          <p:nvPr/>
        </p:nvSpPr>
        <p:spPr>
          <a:xfrm>
            <a:off x="6254496" y="2029968"/>
            <a:ext cx="1335024" cy="1463040"/>
          </a:xfrm>
          <a:prstGeom prst="rect">
            <a:avLst/>
          </a:prstGeom>
          <a:solidFill>
            <a:srgbClr val="27161A"/>
          </a:solidFill>
          <a:ln w="12700">
            <a:solidFill>
              <a:srgbClr val="27161A"/>
            </a:solidFill>
            <a:prstDash val="solid"/>
          </a:ln>
        </p:spPr>
      </p:sp>
      <p:sp>
        <p:nvSpPr>
          <p:cNvPr id="32" name="Shape 29"/>
          <p:cNvSpPr/>
          <p:nvPr/>
        </p:nvSpPr>
        <p:spPr>
          <a:xfrm>
            <a:off x="6254496" y="2029968"/>
            <a:ext cx="1335024" cy="45720"/>
          </a:xfrm>
          <a:prstGeom prst="rect">
            <a:avLst/>
          </a:prstGeom>
          <a:solidFill>
            <a:srgbClr val="C8102E"/>
          </a:solidFill>
          <a:ln w="12700">
            <a:solidFill>
              <a:srgbClr val="C8102E"/>
            </a:solidFill>
            <a:prstDash val="solid"/>
          </a:ln>
        </p:spPr>
      </p:sp>
      <p:sp>
        <p:nvSpPr>
          <p:cNvPr id="33" name="Text 30"/>
          <p:cNvSpPr/>
          <p:nvPr/>
        </p:nvSpPr>
        <p:spPr>
          <a:xfrm>
            <a:off x="6364224" y="2139696"/>
            <a:ext cx="1115568" cy="274320"/>
          </a:xfrm>
          <a:prstGeom prst="rect">
            <a:avLst/>
          </a:prstGeom>
          <a:noFill/>
          <a:ln/>
        </p:spPr>
        <p:txBody>
          <a:bodyPr wrap="square" lIns="0" tIns="0" rIns="0" bIns="0" rtlCol="0" anchor="t"/>
          <a:lstStyle/>
          <a:p>
            <a:pPr marL="0" indent="0">
              <a:buNone/>
            </a:pPr>
            <a:r>
              <a:rPr lang="en-US" sz="800" dirty="0">
                <a:solidFill>
                  <a:srgbClr val="FBE122"/>
                </a:solidFill>
                <a:latin typeface="Poppins SemiBold" pitchFamily="34" charset="0"/>
                <a:ea typeface="Poppins SemiBold" pitchFamily="34" charset="-122"/>
                <a:cs typeface="Poppins SemiBold" pitchFamily="34" charset="-120"/>
              </a:rPr>
              <a:t>Service</a:t>
            </a:r>
            <a:endParaRPr lang="en-US" sz="800" dirty="0"/>
          </a:p>
        </p:txBody>
      </p:sp>
      <p:sp>
        <p:nvSpPr>
          <p:cNvPr id="34" name="Text 31"/>
          <p:cNvSpPr/>
          <p:nvPr/>
        </p:nvSpPr>
        <p:spPr>
          <a:xfrm>
            <a:off x="6364224" y="2414016"/>
            <a:ext cx="1115568" cy="502920"/>
          </a:xfrm>
          <a:prstGeom prst="rect">
            <a:avLst/>
          </a:prstGeom>
          <a:noFill/>
          <a:ln/>
        </p:spPr>
        <p:txBody>
          <a:bodyPr wrap="square" lIns="0" tIns="0" rIns="0" bIns="0" rtlCol="0" anchor="t"/>
          <a:lstStyle/>
          <a:p>
            <a:pPr marL="0" indent="0">
              <a:lnSpc>
                <a:spcPct val="98000"/>
              </a:lnSpc>
              <a:buNone/>
            </a:pPr>
            <a:r>
              <a:rPr lang="en-US" sz="950" dirty="0">
                <a:solidFill>
                  <a:srgbClr val="FFFFFF"/>
                </a:solidFill>
                <a:latin typeface="Poppins SemiBold" pitchFamily="34" charset="0"/>
                <a:ea typeface="Poppins SemiBold" pitchFamily="34" charset="-122"/>
                <a:cs typeface="Poppins SemiBold" pitchFamily="34" charset="-120"/>
              </a:rPr>
              <a:t>Melayani pendukung</a:t>
            </a:r>
            <a:endParaRPr lang="en-US" sz="950" dirty="0"/>
          </a:p>
        </p:txBody>
      </p:sp>
      <p:sp>
        <p:nvSpPr>
          <p:cNvPr id="35" name="Text 32"/>
          <p:cNvSpPr/>
          <p:nvPr/>
        </p:nvSpPr>
        <p:spPr>
          <a:xfrm>
            <a:off x="6364224" y="2926080"/>
            <a:ext cx="1115568" cy="548640"/>
          </a:xfrm>
          <a:prstGeom prst="rect">
            <a:avLst/>
          </a:prstGeom>
          <a:noFill/>
          <a:ln/>
        </p:spPr>
        <p:txBody>
          <a:bodyPr wrap="square" lIns="0" tIns="0" rIns="0" bIns="0" rtlCol="0" anchor="t"/>
          <a:lstStyle/>
          <a:p>
            <a:pPr marL="0" indent="0">
              <a:lnSpc>
                <a:spcPct val="103000"/>
              </a:lnSpc>
              <a:buNone/>
            </a:pPr>
            <a:r>
              <a:rPr lang="en-US" sz="750" dirty="0">
                <a:solidFill>
                  <a:srgbClr val="D9CFC7"/>
                </a:solidFill>
                <a:latin typeface="Poppins" pitchFamily="34" charset="0"/>
                <a:ea typeface="Poppins" pitchFamily="34" charset="-122"/>
                <a:cs typeface="Poppins" pitchFamily="34" charset="-120"/>
              </a:rPr>
              <a:t>Superstore, museum, Soccer Schools, MU Mobile</a:t>
            </a:r>
            <a:endParaRPr lang="en-US" sz="750" dirty="0"/>
          </a:p>
        </p:txBody>
      </p:sp>
      <p:sp>
        <p:nvSpPr>
          <p:cNvPr id="36" name="Text 33"/>
          <p:cNvSpPr/>
          <p:nvPr/>
        </p:nvSpPr>
        <p:spPr>
          <a:xfrm>
            <a:off x="548640" y="3657600"/>
            <a:ext cx="365760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SUPPORT ACTIVITIES</a:t>
            </a:r>
            <a:endParaRPr lang="en-US" sz="850" dirty="0"/>
          </a:p>
        </p:txBody>
      </p:sp>
      <p:sp>
        <p:nvSpPr>
          <p:cNvPr id="37" name="Shape 34"/>
          <p:cNvSpPr/>
          <p:nvPr/>
        </p:nvSpPr>
        <p:spPr>
          <a:xfrm>
            <a:off x="548640" y="3931920"/>
            <a:ext cx="2286000" cy="868680"/>
          </a:xfrm>
          <a:prstGeom prst="rect">
            <a:avLst/>
          </a:prstGeom>
          <a:solidFill>
            <a:srgbClr val="32191E"/>
          </a:solidFill>
          <a:ln w="12700">
            <a:solidFill>
              <a:srgbClr val="32191E"/>
            </a:solidFill>
            <a:prstDash val="solid"/>
          </a:ln>
        </p:spPr>
      </p:sp>
      <p:sp>
        <p:nvSpPr>
          <p:cNvPr id="38" name="Shape 35"/>
          <p:cNvSpPr/>
          <p:nvPr/>
        </p:nvSpPr>
        <p:spPr>
          <a:xfrm>
            <a:off x="548640" y="3931920"/>
            <a:ext cx="45720" cy="868680"/>
          </a:xfrm>
          <a:prstGeom prst="rect">
            <a:avLst/>
          </a:prstGeom>
          <a:solidFill>
            <a:srgbClr val="FBE122"/>
          </a:solidFill>
          <a:ln w="12700">
            <a:solidFill>
              <a:srgbClr val="FBE122"/>
            </a:solidFill>
            <a:prstDash val="solid"/>
          </a:ln>
        </p:spPr>
      </p:sp>
      <p:sp>
        <p:nvSpPr>
          <p:cNvPr id="39" name="Text 36"/>
          <p:cNvSpPr/>
          <p:nvPr/>
        </p:nvSpPr>
        <p:spPr>
          <a:xfrm>
            <a:off x="731520" y="4023360"/>
            <a:ext cx="2011680" cy="274320"/>
          </a:xfrm>
          <a:prstGeom prst="rect">
            <a:avLst/>
          </a:prstGeom>
          <a:noFill/>
          <a:ln/>
        </p:spPr>
        <p:txBody>
          <a:bodyPr wrap="square" lIns="0" tIns="0" rIns="0" bIns="0" rtlCol="0" anchor="t"/>
          <a:lstStyle/>
          <a:p>
            <a:pPr marL="0" indent="0">
              <a:buNone/>
            </a:pPr>
            <a:r>
              <a:rPr lang="en-US" sz="900" dirty="0">
                <a:solidFill>
                  <a:srgbClr val="FFFFFF"/>
                </a:solidFill>
                <a:latin typeface="Poppins SemiBold" pitchFamily="34" charset="0"/>
                <a:ea typeface="Poppins SemiBold" pitchFamily="34" charset="-122"/>
                <a:cs typeface="Poppins SemiBold" pitchFamily="34" charset="-120"/>
              </a:rPr>
              <a:t>Product R&amp;D &amp; Systems</a:t>
            </a:r>
            <a:endParaRPr lang="en-US" sz="900" dirty="0"/>
          </a:p>
        </p:txBody>
      </p:sp>
      <p:sp>
        <p:nvSpPr>
          <p:cNvPr id="40" name="Text 37"/>
          <p:cNvSpPr/>
          <p:nvPr/>
        </p:nvSpPr>
        <p:spPr>
          <a:xfrm>
            <a:off x="731520" y="4315968"/>
            <a:ext cx="2011680" cy="457200"/>
          </a:xfrm>
          <a:prstGeom prst="rect">
            <a:avLst/>
          </a:prstGeom>
          <a:noFill/>
          <a:ln/>
        </p:spPr>
        <p:txBody>
          <a:bodyPr wrap="square" lIns="0" tIns="0" rIns="0" bIns="0" rtlCol="0" anchor="t"/>
          <a:lstStyle/>
          <a:p>
            <a:pPr marL="0" indent="0">
              <a:lnSpc>
                <a:spcPct val="103000"/>
              </a:lnSpc>
              <a:buNone/>
            </a:pPr>
            <a:r>
              <a:rPr lang="en-US" sz="750" dirty="0">
                <a:solidFill>
                  <a:srgbClr val="D9CFC7"/>
                </a:solidFill>
                <a:latin typeface="Poppins" pitchFamily="34" charset="0"/>
                <a:ea typeface="Poppins" pitchFamily="34" charset="-122"/>
                <a:cs typeface="Poppins" pitchFamily="34" charset="-120"/>
              </a:rPr>
              <a:t>Metodologi akademi, inovasi rotasi skuad, MUTV</a:t>
            </a:r>
            <a:endParaRPr lang="en-US" sz="750" dirty="0"/>
          </a:p>
        </p:txBody>
      </p:sp>
      <p:sp>
        <p:nvSpPr>
          <p:cNvPr id="41" name="Shape 38"/>
          <p:cNvSpPr/>
          <p:nvPr/>
        </p:nvSpPr>
        <p:spPr>
          <a:xfrm>
            <a:off x="2926080" y="3931920"/>
            <a:ext cx="2286000" cy="868680"/>
          </a:xfrm>
          <a:prstGeom prst="rect">
            <a:avLst/>
          </a:prstGeom>
          <a:solidFill>
            <a:srgbClr val="32191E"/>
          </a:solidFill>
          <a:ln w="12700">
            <a:solidFill>
              <a:srgbClr val="32191E"/>
            </a:solidFill>
            <a:prstDash val="solid"/>
          </a:ln>
        </p:spPr>
      </p:sp>
      <p:sp>
        <p:nvSpPr>
          <p:cNvPr id="42" name="Shape 39"/>
          <p:cNvSpPr/>
          <p:nvPr/>
        </p:nvSpPr>
        <p:spPr>
          <a:xfrm>
            <a:off x="2926080" y="3931920"/>
            <a:ext cx="45720" cy="868680"/>
          </a:xfrm>
          <a:prstGeom prst="rect">
            <a:avLst/>
          </a:prstGeom>
          <a:solidFill>
            <a:srgbClr val="FBE122"/>
          </a:solidFill>
          <a:ln w="12700">
            <a:solidFill>
              <a:srgbClr val="FBE122"/>
            </a:solidFill>
            <a:prstDash val="solid"/>
          </a:ln>
        </p:spPr>
      </p:sp>
      <p:sp>
        <p:nvSpPr>
          <p:cNvPr id="43" name="Text 40"/>
          <p:cNvSpPr/>
          <p:nvPr/>
        </p:nvSpPr>
        <p:spPr>
          <a:xfrm>
            <a:off x="3108960" y="4023360"/>
            <a:ext cx="2011680" cy="274320"/>
          </a:xfrm>
          <a:prstGeom prst="rect">
            <a:avLst/>
          </a:prstGeom>
          <a:noFill/>
          <a:ln/>
        </p:spPr>
        <p:txBody>
          <a:bodyPr wrap="square" lIns="0" tIns="0" rIns="0" bIns="0" rtlCol="0" anchor="t"/>
          <a:lstStyle/>
          <a:p>
            <a:pPr marL="0" indent="0">
              <a:buNone/>
            </a:pPr>
            <a:r>
              <a:rPr lang="en-US" sz="900" dirty="0">
                <a:solidFill>
                  <a:srgbClr val="FFFFFF"/>
                </a:solidFill>
                <a:latin typeface="Poppins SemiBold" pitchFamily="34" charset="0"/>
                <a:ea typeface="Poppins SemiBold" pitchFamily="34" charset="-122"/>
                <a:cs typeface="Poppins SemiBold" pitchFamily="34" charset="-120"/>
              </a:rPr>
              <a:t>Human Resource Management</a:t>
            </a:r>
            <a:endParaRPr lang="en-US" sz="900" dirty="0"/>
          </a:p>
        </p:txBody>
      </p:sp>
      <p:sp>
        <p:nvSpPr>
          <p:cNvPr id="44" name="Text 41"/>
          <p:cNvSpPr/>
          <p:nvPr/>
        </p:nvSpPr>
        <p:spPr>
          <a:xfrm>
            <a:off x="3108960" y="4315968"/>
            <a:ext cx="2011680" cy="457200"/>
          </a:xfrm>
          <a:prstGeom prst="rect">
            <a:avLst/>
          </a:prstGeom>
          <a:noFill/>
          <a:ln/>
        </p:spPr>
        <p:txBody>
          <a:bodyPr wrap="square" lIns="0" tIns="0" rIns="0" bIns="0" rtlCol="0" anchor="t"/>
          <a:lstStyle/>
          <a:p>
            <a:pPr marL="0" indent="0">
              <a:lnSpc>
                <a:spcPct val="103000"/>
              </a:lnSpc>
              <a:buNone/>
            </a:pPr>
            <a:r>
              <a:rPr lang="en-US" sz="750" dirty="0">
                <a:solidFill>
                  <a:srgbClr val="D9CFC7"/>
                </a:solidFill>
                <a:latin typeface="Poppins" pitchFamily="34" charset="0"/>
                <a:ea typeface="Poppins" pitchFamily="34" charset="-122"/>
                <a:cs typeface="Poppins" pitchFamily="34" charset="-120"/>
              </a:rPr>
              <a:t>Rekrutmen, struktur gaji, penegakan disiplin</a:t>
            </a:r>
            <a:endParaRPr lang="en-US" sz="750" dirty="0"/>
          </a:p>
        </p:txBody>
      </p:sp>
      <p:sp>
        <p:nvSpPr>
          <p:cNvPr id="45" name="Shape 42"/>
          <p:cNvSpPr/>
          <p:nvPr/>
        </p:nvSpPr>
        <p:spPr>
          <a:xfrm>
            <a:off x="5303520" y="3931920"/>
            <a:ext cx="2286000" cy="868680"/>
          </a:xfrm>
          <a:prstGeom prst="rect">
            <a:avLst/>
          </a:prstGeom>
          <a:solidFill>
            <a:srgbClr val="32191E"/>
          </a:solidFill>
          <a:ln w="12700">
            <a:solidFill>
              <a:srgbClr val="32191E"/>
            </a:solidFill>
            <a:prstDash val="solid"/>
          </a:ln>
        </p:spPr>
      </p:sp>
      <p:sp>
        <p:nvSpPr>
          <p:cNvPr id="46" name="Shape 43"/>
          <p:cNvSpPr/>
          <p:nvPr/>
        </p:nvSpPr>
        <p:spPr>
          <a:xfrm>
            <a:off x="5303520" y="3931920"/>
            <a:ext cx="45720" cy="868680"/>
          </a:xfrm>
          <a:prstGeom prst="rect">
            <a:avLst/>
          </a:prstGeom>
          <a:solidFill>
            <a:srgbClr val="FBE122"/>
          </a:solidFill>
          <a:ln w="12700">
            <a:solidFill>
              <a:srgbClr val="FBE122"/>
            </a:solidFill>
            <a:prstDash val="solid"/>
          </a:ln>
        </p:spPr>
      </p:sp>
      <p:sp>
        <p:nvSpPr>
          <p:cNvPr id="47" name="Text 44"/>
          <p:cNvSpPr/>
          <p:nvPr/>
        </p:nvSpPr>
        <p:spPr>
          <a:xfrm>
            <a:off x="5486400" y="4023360"/>
            <a:ext cx="2011680" cy="274320"/>
          </a:xfrm>
          <a:prstGeom prst="rect">
            <a:avLst/>
          </a:prstGeom>
          <a:noFill/>
          <a:ln/>
        </p:spPr>
        <p:txBody>
          <a:bodyPr wrap="square" lIns="0" tIns="0" rIns="0" bIns="0" rtlCol="0" anchor="t"/>
          <a:lstStyle/>
          <a:p>
            <a:pPr marL="0" indent="0">
              <a:buNone/>
            </a:pPr>
            <a:r>
              <a:rPr lang="en-US" sz="900" dirty="0">
                <a:solidFill>
                  <a:srgbClr val="FFFFFF"/>
                </a:solidFill>
                <a:latin typeface="Poppins SemiBold" pitchFamily="34" charset="0"/>
                <a:ea typeface="Poppins SemiBold" pitchFamily="34" charset="-122"/>
                <a:cs typeface="Poppins SemiBold" pitchFamily="34" charset="-120"/>
              </a:rPr>
              <a:t>General Administration</a:t>
            </a:r>
            <a:endParaRPr lang="en-US" sz="900" dirty="0"/>
          </a:p>
        </p:txBody>
      </p:sp>
      <p:sp>
        <p:nvSpPr>
          <p:cNvPr id="48" name="Text 45"/>
          <p:cNvSpPr/>
          <p:nvPr/>
        </p:nvSpPr>
        <p:spPr>
          <a:xfrm>
            <a:off x="5486400" y="4315968"/>
            <a:ext cx="2011680" cy="457200"/>
          </a:xfrm>
          <a:prstGeom prst="rect">
            <a:avLst/>
          </a:prstGeom>
          <a:noFill/>
          <a:ln/>
        </p:spPr>
        <p:txBody>
          <a:bodyPr wrap="square" lIns="0" tIns="0" rIns="0" bIns="0" rtlCol="0" anchor="t"/>
          <a:lstStyle/>
          <a:p>
            <a:pPr marL="0" indent="0">
              <a:lnSpc>
                <a:spcPct val="103000"/>
              </a:lnSpc>
              <a:buNone/>
            </a:pPr>
            <a:r>
              <a:rPr lang="en-US" sz="750" dirty="0">
                <a:solidFill>
                  <a:srgbClr val="D9CFC7"/>
                </a:solidFill>
                <a:latin typeface="Poppins" pitchFamily="34" charset="0"/>
                <a:ea typeface="Poppins" pitchFamily="34" charset="-122"/>
                <a:cs typeface="Poppins" pitchFamily="34" charset="-120"/>
              </a:rPr>
              <a:t>Pemisahan peran Gill dan Ferguson; MU International</a:t>
            </a:r>
            <a:endParaRPr lang="en-US" sz="750" dirty="0"/>
          </a:p>
        </p:txBody>
      </p:sp>
      <p:sp>
        <p:nvSpPr>
          <p:cNvPr id="49" name="Text 46"/>
          <p:cNvSpPr/>
          <p:nvPr/>
        </p:nvSpPr>
        <p:spPr>
          <a:xfrm>
            <a:off x="7863840" y="1755648"/>
            <a:ext cx="3779215"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DI MANA LETAK KEUNGGULAN BIAYANYA</a:t>
            </a:r>
            <a:endParaRPr lang="en-US" sz="850" dirty="0"/>
          </a:p>
        </p:txBody>
      </p:sp>
      <p:sp>
        <p:nvSpPr>
          <p:cNvPr id="50" name="Shape 47"/>
          <p:cNvSpPr/>
          <p:nvPr/>
        </p:nvSpPr>
        <p:spPr>
          <a:xfrm>
            <a:off x="7863840" y="2029968"/>
            <a:ext cx="3779215" cy="640080"/>
          </a:xfrm>
          <a:prstGeom prst="rect">
            <a:avLst/>
          </a:prstGeom>
          <a:solidFill>
            <a:srgbClr val="27161A"/>
          </a:solidFill>
          <a:ln w="12700">
            <a:solidFill>
              <a:srgbClr val="27161A"/>
            </a:solidFill>
            <a:prstDash val="solid"/>
          </a:ln>
        </p:spPr>
      </p:sp>
      <p:sp>
        <p:nvSpPr>
          <p:cNvPr id="51" name="Shape 48"/>
          <p:cNvSpPr/>
          <p:nvPr/>
        </p:nvSpPr>
        <p:spPr>
          <a:xfrm>
            <a:off x="7863840" y="2029968"/>
            <a:ext cx="45720" cy="640080"/>
          </a:xfrm>
          <a:prstGeom prst="rect">
            <a:avLst/>
          </a:prstGeom>
          <a:solidFill>
            <a:srgbClr val="C8102E"/>
          </a:solidFill>
          <a:ln w="12700">
            <a:solidFill>
              <a:srgbClr val="C8102E"/>
            </a:solidFill>
            <a:prstDash val="solid"/>
          </a:ln>
        </p:spPr>
      </p:sp>
      <p:sp>
        <p:nvSpPr>
          <p:cNvPr id="52" name="Text 49"/>
          <p:cNvSpPr/>
          <p:nvPr/>
        </p:nvSpPr>
        <p:spPr>
          <a:xfrm>
            <a:off x="8046720" y="2093976"/>
            <a:ext cx="3504895" cy="228600"/>
          </a:xfrm>
          <a:prstGeom prst="rect">
            <a:avLst/>
          </a:prstGeom>
          <a:noFill/>
          <a:ln/>
        </p:spPr>
        <p:txBody>
          <a:bodyPr wrap="square" lIns="0" tIns="0" rIns="0" bIns="0" rtlCol="0" anchor="t"/>
          <a:lstStyle/>
          <a:p>
            <a:pPr marL="0" indent="0">
              <a:buNone/>
            </a:pPr>
            <a:r>
              <a:rPr lang="en-US" sz="950" dirty="0">
                <a:solidFill>
                  <a:srgbClr val="FFFFFF"/>
                </a:solidFill>
                <a:latin typeface="Poppins SemiBold" pitchFamily="34" charset="0"/>
                <a:ea typeface="Poppins SemiBold" pitchFamily="34" charset="-122"/>
                <a:cs typeface="Poppins SemiBold" pitchFamily="34" charset="-120"/>
              </a:rPr>
              <a:t>Gaji hanya ± 50% pendapatan</a:t>
            </a:r>
            <a:endParaRPr lang="en-US" sz="950" dirty="0"/>
          </a:p>
        </p:txBody>
      </p:sp>
      <p:sp>
        <p:nvSpPr>
          <p:cNvPr id="53" name="Text 50"/>
          <p:cNvSpPr/>
          <p:nvPr/>
        </p:nvSpPr>
        <p:spPr>
          <a:xfrm>
            <a:off x="8046720" y="2322576"/>
            <a:ext cx="3504895" cy="347472"/>
          </a:xfrm>
          <a:prstGeom prst="rect">
            <a:avLst/>
          </a:prstGeom>
          <a:noFill/>
          <a:ln/>
        </p:spPr>
        <p:txBody>
          <a:bodyPr wrap="square" lIns="0" tIns="0" rIns="0" bIns="0" rtlCol="0" anchor="t"/>
          <a:lstStyle/>
          <a:p>
            <a:pPr marL="0" indent="0">
              <a:lnSpc>
                <a:spcPct val="103000"/>
              </a:lnSpc>
              <a:buNone/>
            </a:pPr>
            <a:r>
              <a:rPr lang="en-US" sz="750" dirty="0">
                <a:solidFill>
                  <a:srgbClr val="D9CFC7"/>
                </a:solidFill>
                <a:latin typeface="Poppins" pitchFamily="34" charset="0"/>
                <a:ea typeface="Poppins" pitchFamily="34" charset="-122"/>
                <a:cs typeface="Poppins" pitchFamily="34" charset="-120"/>
              </a:rPr>
              <a:t>Rata-rata Premier League 62%, Serie A 68%, Chelsea 81%. Selisih 31 poin dengan Chelsea.</a:t>
            </a:r>
            <a:endParaRPr lang="en-US" sz="750" dirty="0"/>
          </a:p>
        </p:txBody>
      </p:sp>
      <p:sp>
        <p:nvSpPr>
          <p:cNvPr id="54" name="Shape 51"/>
          <p:cNvSpPr/>
          <p:nvPr/>
        </p:nvSpPr>
        <p:spPr>
          <a:xfrm>
            <a:off x="7863840" y="2734056"/>
            <a:ext cx="3779215" cy="640080"/>
          </a:xfrm>
          <a:prstGeom prst="rect">
            <a:avLst/>
          </a:prstGeom>
          <a:solidFill>
            <a:srgbClr val="32191E"/>
          </a:solidFill>
          <a:ln w="12700">
            <a:solidFill>
              <a:srgbClr val="32191E"/>
            </a:solidFill>
            <a:prstDash val="solid"/>
          </a:ln>
        </p:spPr>
      </p:sp>
      <p:sp>
        <p:nvSpPr>
          <p:cNvPr id="55" name="Shape 52"/>
          <p:cNvSpPr/>
          <p:nvPr/>
        </p:nvSpPr>
        <p:spPr>
          <a:xfrm>
            <a:off x="7863840" y="2734056"/>
            <a:ext cx="45720" cy="640080"/>
          </a:xfrm>
          <a:prstGeom prst="rect">
            <a:avLst/>
          </a:prstGeom>
          <a:solidFill>
            <a:srgbClr val="C8102E"/>
          </a:solidFill>
          <a:ln w="12700">
            <a:solidFill>
              <a:srgbClr val="C8102E"/>
            </a:solidFill>
            <a:prstDash val="solid"/>
          </a:ln>
        </p:spPr>
      </p:sp>
      <p:sp>
        <p:nvSpPr>
          <p:cNvPr id="56" name="Text 53"/>
          <p:cNvSpPr/>
          <p:nvPr/>
        </p:nvSpPr>
        <p:spPr>
          <a:xfrm>
            <a:off x="8046720" y="2798064"/>
            <a:ext cx="3504895" cy="228600"/>
          </a:xfrm>
          <a:prstGeom prst="rect">
            <a:avLst/>
          </a:prstGeom>
          <a:noFill/>
          <a:ln/>
        </p:spPr>
        <p:txBody>
          <a:bodyPr wrap="square" lIns="0" tIns="0" rIns="0" bIns="0" rtlCol="0" anchor="t"/>
          <a:lstStyle/>
          <a:p>
            <a:pPr marL="0" indent="0">
              <a:buNone/>
            </a:pPr>
            <a:r>
              <a:rPr lang="en-US" sz="950" dirty="0">
                <a:solidFill>
                  <a:srgbClr val="FFFFFF"/>
                </a:solidFill>
                <a:latin typeface="Poppins SemiBold" pitchFamily="34" charset="0"/>
                <a:ea typeface="Poppins SemiBold" pitchFamily="34" charset="-122"/>
                <a:cs typeface="Poppins SemiBold" pitchFamily="34" charset="-120"/>
              </a:rPr>
              <a:t>Akademi: pemain tanpa biaya transfer</a:t>
            </a:r>
            <a:endParaRPr lang="en-US" sz="950" dirty="0"/>
          </a:p>
        </p:txBody>
      </p:sp>
      <p:sp>
        <p:nvSpPr>
          <p:cNvPr id="57" name="Text 54"/>
          <p:cNvSpPr/>
          <p:nvPr/>
        </p:nvSpPr>
        <p:spPr>
          <a:xfrm>
            <a:off x="8046720" y="3026664"/>
            <a:ext cx="3504895" cy="347472"/>
          </a:xfrm>
          <a:prstGeom prst="rect">
            <a:avLst/>
          </a:prstGeom>
          <a:noFill/>
          <a:ln/>
        </p:spPr>
        <p:txBody>
          <a:bodyPr wrap="square" lIns="0" tIns="0" rIns="0" bIns="0" rtlCol="0" anchor="t"/>
          <a:lstStyle/>
          <a:p>
            <a:pPr marL="0" indent="0">
              <a:lnSpc>
                <a:spcPct val="103000"/>
              </a:lnSpc>
              <a:buNone/>
            </a:pPr>
            <a:r>
              <a:rPr lang="en-US" sz="750" dirty="0">
                <a:solidFill>
                  <a:srgbClr val="D9CFC7"/>
                </a:solidFill>
                <a:latin typeface="Poppins" pitchFamily="34" charset="0"/>
                <a:ea typeface="Poppins" pitchFamily="34" charset="-122"/>
                <a:cs typeface="Poppins" pitchFamily="34" charset="-120"/>
              </a:rPr>
              <a:t>Giggs, Beckham, Butt, Neville bersaudara, Scholes: inti tim 1994–2003 (hlm. 584).</a:t>
            </a:r>
            <a:endParaRPr lang="en-US" sz="750" dirty="0"/>
          </a:p>
        </p:txBody>
      </p:sp>
      <p:sp>
        <p:nvSpPr>
          <p:cNvPr id="58" name="Shape 55"/>
          <p:cNvSpPr/>
          <p:nvPr/>
        </p:nvSpPr>
        <p:spPr>
          <a:xfrm>
            <a:off x="7863840" y="3438144"/>
            <a:ext cx="3779215" cy="640080"/>
          </a:xfrm>
          <a:prstGeom prst="rect">
            <a:avLst/>
          </a:prstGeom>
          <a:solidFill>
            <a:srgbClr val="27161A"/>
          </a:solidFill>
          <a:ln w="12700">
            <a:solidFill>
              <a:srgbClr val="27161A"/>
            </a:solidFill>
            <a:prstDash val="solid"/>
          </a:ln>
        </p:spPr>
      </p:sp>
      <p:sp>
        <p:nvSpPr>
          <p:cNvPr id="59" name="Shape 56"/>
          <p:cNvSpPr/>
          <p:nvPr/>
        </p:nvSpPr>
        <p:spPr>
          <a:xfrm>
            <a:off x="7863840" y="3438144"/>
            <a:ext cx="45720" cy="640080"/>
          </a:xfrm>
          <a:prstGeom prst="rect">
            <a:avLst/>
          </a:prstGeom>
          <a:solidFill>
            <a:srgbClr val="C8102E"/>
          </a:solidFill>
          <a:ln w="12700">
            <a:solidFill>
              <a:srgbClr val="C8102E"/>
            </a:solidFill>
            <a:prstDash val="solid"/>
          </a:ln>
        </p:spPr>
      </p:sp>
      <p:sp>
        <p:nvSpPr>
          <p:cNvPr id="60" name="Text 57"/>
          <p:cNvSpPr/>
          <p:nvPr/>
        </p:nvSpPr>
        <p:spPr>
          <a:xfrm>
            <a:off x="8046720" y="3502152"/>
            <a:ext cx="3504895" cy="228600"/>
          </a:xfrm>
          <a:prstGeom prst="rect">
            <a:avLst/>
          </a:prstGeom>
          <a:noFill/>
          <a:ln/>
        </p:spPr>
        <p:txBody>
          <a:bodyPr wrap="square" lIns="0" tIns="0" rIns="0" bIns="0" rtlCol="0" anchor="t"/>
          <a:lstStyle/>
          <a:p>
            <a:pPr marL="0" indent="0">
              <a:buNone/>
            </a:pPr>
            <a:r>
              <a:rPr lang="en-US" sz="950" dirty="0">
                <a:solidFill>
                  <a:srgbClr val="FFFFFF"/>
                </a:solidFill>
                <a:latin typeface="Poppins SemiBold" pitchFamily="34" charset="0"/>
                <a:ea typeface="Poppins SemiBold" pitchFamily="34" charset="-122"/>
                <a:cs typeface="Poppins SemiBold" pitchFamily="34" charset="-120"/>
              </a:rPr>
              <a:t>Menjual pemain yang dihargai tinggi</a:t>
            </a:r>
            <a:endParaRPr lang="en-US" sz="950" dirty="0"/>
          </a:p>
        </p:txBody>
      </p:sp>
      <p:sp>
        <p:nvSpPr>
          <p:cNvPr id="61" name="Text 58"/>
          <p:cNvSpPr/>
          <p:nvPr/>
        </p:nvSpPr>
        <p:spPr>
          <a:xfrm>
            <a:off x="8046720" y="3730752"/>
            <a:ext cx="3504895" cy="347472"/>
          </a:xfrm>
          <a:prstGeom prst="rect">
            <a:avLst/>
          </a:prstGeom>
          <a:noFill/>
          <a:ln/>
        </p:spPr>
        <p:txBody>
          <a:bodyPr wrap="square" lIns="0" tIns="0" rIns="0" bIns="0" rtlCol="0" anchor="t"/>
          <a:lstStyle/>
          <a:p>
            <a:pPr marL="0" indent="0">
              <a:lnSpc>
                <a:spcPct val="103000"/>
              </a:lnSpc>
              <a:buNone/>
            </a:pPr>
            <a:r>
              <a:rPr lang="en-US" sz="750" dirty="0">
                <a:solidFill>
                  <a:srgbClr val="D9CFC7"/>
                </a:solidFill>
                <a:latin typeface="Poppins" pitchFamily="34" charset="0"/>
                <a:ea typeface="Poppins" pitchFamily="34" charset="-122"/>
                <a:cs typeface="Poppins" pitchFamily="34" charset="-120"/>
              </a:rPr>
              <a:t>Kotor £322 jt, bersih hanya £100 jt (2003–09). Ronaldo dilepas £80 jt, rekor dunia.</a:t>
            </a:r>
            <a:endParaRPr lang="en-US" sz="750" dirty="0"/>
          </a:p>
        </p:txBody>
      </p:sp>
      <p:sp>
        <p:nvSpPr>
          <p:cNvPr id="62" name="Shape 59"/>
          <p:cNvSpPr/>
          <p:nvPr/>
        </p:nvSpPr>
        <p:spPr>
          <a:xfrm>
            <a:off x="7863840" y="4142232"/>
            <a:ext cx="3779215" cy="640080"/>
          </a:xfrm>
          <a:prstGeom prst="rect">
            <a:avLst/>
          </a:prstGeom>
          <a:solidFill>
            <a:srgbClr val="32191E"/>
          </a:solidFill>
          <a:ln w="12700">
            <a:solidFill>
              <a:srgbClr val="32191E"/>
            </a:solidFill>
            <a:prstDash val="solid"/>
          </a:ln>
        </p:spPr>
      </p:sp>
      <p:sp>
        <p:nvSpPr>
          <p:cNvPr id="63" name="Shape 60"/>
          <p:cNvSpPr/>
          <p:nvPr/>
        </p:nvSpPr>
        <p:spPr>
          <a:xfrm>
            <a:off x="7863840" y="4142232"/>
            <a:ext cx="45720" cy="640080"/>
          </a:xfrm>
          <a:prstGeom prst="rect">
            <a:avLst/>
          </a:prstGeom>
          <a:solidFill>
            <a:srgbClr val="FBE122"/>
          </a:solidFill>
          <a:ln w="12700">
            <a:solidFill>
              <a:srgbClr val="FBE122"/>
            </a:solidFill>
            <a:prstDash val="solid"/>
          </a:ln>
        </p:spPr>
      </p:sp>
      <p:sp>
        <p:nvSpPr>
          <p:cNvPr id="64" name="Text 61"/>
          <p:cNvSpPr/>
          <p:nvPr/>
        </p:nvSpPr>
        <p:spPr>
          <a:xfrm>
            <a:off x="8046720" y="4206240"/>
            <a:ext cx="3504895" cy="228600"/>
          </a:xfrm>
          <a:prstGeom prst="rect">
            <a:avLst/>
          </a:prstGeom>
          <a:noFill/>
          <a:ln/>
        </p:spPr>
        <p:txBody>
          <a:bodyPr wrap="square" lIns="0" tIns="0" rIns="0" bIns="0" rtlCol="0" anchor="t"/>
          <a:lstStyle/>
          <a:p>
            <a:pPr marL="0" indent="0">
              <a:buNone/>
            </a:pPr>
            <a:r>
              <a:rPr lang="en-US" sz="950" dirty="0">
                <a:solidFill>
                  <a:srgbClr val="FFFFFF"/>
                </a:solidFill>
                <a:latin typeface="Poppins SemiBold" pitchFamily="34" charset="0"/>
                <a:ea typeface="Poppins SemiBold" pitchFamily="34" charset="-122"/>
                <a:cs typeface="Poppins SemiBold" pitchFamily="34" charset="-120"/>
              </a:rPr>
              <a:t>Yang melawan arah</a:t>
            </a:r>
            <a:endParaRPr lang="en-US" sz="950" dirty="0"/>
          </a:p>
        </p:txBody>
      </p:sp>
      <p:sp>
        <p:nvSpPr>
          <p:cNvPr id="65" name="Text 62"/>
          <p:cNvSpPr/>
          <p:nvPr/>
        </p:nvSpPr>
        <p:spPr>
          <a:xfrm>
            <a:off x="8046720" y="4434840"/>
            <a:ext cx="3504895" cy="347472"/>
          </a:xfrm>
          <a:prstGeom prst="rect">
            <a:avLst/>
          </a:prstGeom>
          <a:noFill/>
          <a:ln/>
        </p:spPr>
        <p:txBody>
          <a:bodyPr wrap="square" lIns="0" tIns="0" rIns="0" bIns="0" rtlCol="0" anchor="t"/>
          <a:lstStyle/>
          <a:p>
            <a:pPr marL="0" indent="0">
              <a:lnSpc>
                <a:spcPct val="103000"/>
              </a:lnSpc>
              <a:buNone/>
            </a:pPr>
            <a:r>
              <a:rPr lang="en-US" sz="750" dirty="0">
                <a:solidFill>
                  <a:srgbClr val="D9CFC7"/>
                </a:solidFill>
                <a:latin typeface="Poppins" pitchFamily="34" charset="0"/>
                <a:ea typeface="Poppins" pitchFamily="34" charset="-122"/>
                <a:cs typeface="Poppins" pitchFamily="34" charset="-120"/>
              </a:rPr>
              <a:t>Amortisasi pemain naik dari £24,2 jt (2005) ke £35,5 jt (2008).</a:t>
            </a:r>
            <a:endParaRPr lang="en-US" sz="750" dirty="0"/>
          </a:p>
        </p:txBody>
      </p:sp>
      <p:sp>
        <p:nvSpPr>
          <p:cNvPr id="66" name="Shape 63"/>
          <p:cNvSpPr/>
          <p:nvPr/>
        </p:nvSpPr>
        <p:spPr>
          <a:xfrm>
            <a:off x="548640" y="5001768"/>
            <a:ext cx="11094415" cy="868680"/>
          </a:xfrm>
          <a:prstGeom prst="rect">
            <a:avLst/>
          </a:prstGeom>
          <a:solidFill>
            <a:srgbClr val="C8102E"/>
          </a:solidFill>
          <a:ln w="12700">
            <a:solidFill>
              <a:srgbClr val="C8102E"/>
            </a:solidFill>
            <a:prstDash val="solid"/>
          </a:ln>
        </p:spPr>
      </p:sp>
      <p:sp>
        <p:nvSpPr>
          <p:cNvPr id="67" name="Text 64"/>
          <p:cNvSpPr/>
          <p:nvPr/>
        </p:nvSpPr>
        <p:spPr>
          <a:xfrm>
            <a:off x="777240" y="5129784"/>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NILAI BAGI DUA PIHAK BERBEDA</a:t>
            </a:r>
            <a:endParaRPr lang="en-US" sz="800" dirty="0"/>
          </a:p>
        </p:txBody>
      </p:sp>
      <p:sp>
        <p:nvSpPr>
          <p:cNvPr id="68" name="Text 65"/>
          <p:cNvSpPr/>
          <p:nvPr/>
        </p:nvSpPr>
        <p:spPr>
          <a:xfrm>
            <a:off x="777240" y="5367528"/>
            <a:ext cx="10637215" cy="411480"/>
          </a:xfrm>
          <a:prstGeom prst="rect">
            <a:avLst/>
          </a:prstGeom>
          <a:noFill/>
          <a:ln/>
        </p:spPr>
        <p:txBody>
          <a:bodyPr wrap="square" lIns="0" tIns="0" rIns="0" bIns="0" rtlCol="0" anchor="t"/>
          <a:lstStyle/>
          <a:p>
            <a:pPr marL="0" indent="0">
              <a:lnSpc>
                <a:spcPct val="108000"/>
              </a:lnSpc>
              <a:buNone/>
            </a:pPr>
            <a:r>
              <a:rPr lang="en-US" sz="950" dirty="0">
                <a:solidFill>
                  <a:srgbClr val="FFFFFF"/>
                </a:solidFill>
                <a:latin typeface="Poppins Medium" pitchFamily="34" charset="0"/>
                <a:ea typeface="Poppins Medium" pitchFamily="34" charset="-122"/>
                <a:cs typeface="Poppins Medium" pitchFamily="34" charset="-120"/>
              </a:rPr>
              <a:t>Bagi pendukung: prestasi, sejarah, dan pengalaman Old Trafford. Bagi sponsor: akses ke 80 juta pendukung Asia, ditambah bukti bahwa akses itu bekerja, yaitu lompatan AIG ke peringkat 47 merek dunia dalam satu tahun.</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71155"/>
            <a:ext cx="10728655" cy="32004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4  ·  BENCHMARKING DITERAPKAN</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YANG DIBANDINGKAN BUKAN PENDAPATAN, TETAPI MARGIN</a:t>
            </a:r>
            <a:endParaRPr lang="en-US" sz="26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Benchmarking untuk Q4: seberapa kompetitif struktur biaya MU? Ukurannya bukan besar pendapatan, tapi berapa yang tersisa sebagai laba.</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 Table 6.5 (Forbes 2009) dan Table 6.6; margin dihitung dari EBITDA dibagi pendapatan.</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30</a:t>
            </a:r>
            <a:endParaRPr lang="en-US" sz="900" dirty="0"/>
          </a:p>
        </p:txBody>
      </p:sp>
      <p:sp>
        <p:nvSpPr>
          <p:cNvPr id="10" name="Shape 7"/>
          <p:cNvSpPr/>
          <p:nvPr/>
        </p:nvSpPr>
        <p:spPr>
          <a:xfrm>
            <a:off x="548640" y="1755648"/>
            <a:ext cx="6126480" cy="4160520"/>
          </a:xfrm>
          <a:prstGeom prst="rect">
            <a:avLst/>
          </a:prstGeom>
          <a:solidFill>
            <a:srgbClr val="27161A"/>
          </a:solidFill>
          <a:ln w="12700">
            <a:solidFill>
              <a:srgbClr val="27161A"/>
            </a:solidFill>
            <a:prstDash val="solid"/>
          </a:ln>
        </p:spPr>
      </p:sp>
      <p:sp>
        <p:nvSpPr>
          <p:cNvPr id="11" name="Text 8"/>
          <p:cNvSpPr/>
          <p:nvPr/>
        </p:nvSpPr>
        <p:spPr>
          <a:xfrm>
            <a:off x="777240" y="1892808"/>
            <a:ext cx="5669280" cy="228600"/>
          </a:xfrm>
          <a:prstGeom prst="rect">
            <a:avLst/>
          </a:prstGeom>
          <a:noFill/>
          <a:ln/>
        </p:spPr>
        <p:txBody>
          <a:bodyPr wrap="square" lIns="0" tIns="0" rIns="0" bIns="0" rtlCol="0" anchor="t"/>
          <a:lstStyle/>
          <a:p>
            <a:pPr marL="0" indent="0">
              <a:buNone/>
            </a:pPr>
            <a:r>
              <a:rPr lang="en-US" sz="850" kern="0" spc="150" dirty="0">
                <a:solidFill>
                  <a:srgbClr val="FBE122"/>
                </a:solidFill>
                <a:latin typeface="Poppins SemiBold" pitchFamily="34" charset="0"/>
                <a:ea typeface="Poppins SemiBold" pitchFamily="34" charset="-122"/>
                <a:cs typeface="Poppins SemiBold" pitchFamily="34" charset="-120"/>
              </a:rPr>
              <a:t>MARGIN EBITDA, %  ·  10 KLUB BERPENDAPATAN TERBESAR DI TABLE 6.5</a:t>
            </a:r>
            <a:endParaRPr lang="en-US" sz="850" dirty="0"/>
          </a:p>
        </p:txBody>
      </p:sp>
      <p:sp>
        <p:nvSpPr>
          <p:cNvPr id="12" name="Text 9"/>
          <p:cNvSpPr/>
          <p:nvPr/>
        </p:nvSpPr>
        <p:spPr>
          <a:xfrm>
            <a:off x="777240" y="2262317"/>
            <a:ext cx="1234440" cy="257678"/>
          </a:xfrm>
          <a:prstGeom prst="rect">
            <a:avLst/>
          </a:prstGeom>
          <a:noFill/>
          <a:ln/>
        </p:spPr>
        <p:txBody>
          <a:bodyPr wrap="square" lIns="0" tIns="0" rIns="0" bIns="0" rtlCol="0" anchor="ctr"/>
          <a:lstStyle/>
          <a:p>
            <a:pPr marL="0" indent="0" algn="r">
              <a:buNone/>
            </a:pPr>
            <a:r>
              <a:rPr lang="en-US" sz="900" dirty="0">
                <a:solidFill>
                  <a:srgbClr val="FFFFFF"/>
                </a:solidFill>
                <a:latin typeface="Poppins SemiBold" pitchFamily="34" charset="0"/>
                <a:ea typeface="Poppins SemiBold" pitchFamily="34" charset="-122"/>
                <a:cs typeface="Poppins SemiBold" pitchFamily="34" charset="-120"/>
              </a:rPr>
              <a:t>Man United</a:t>
            </a:r>
            <a:endParaRPr lang="en-US" sz="900" dirty="0"/>
          </a:p>
        </p:txBody>
      </p:sp>
      <p:sp>
        <p:nvSpPr>
          <p:cNvPr id="13" name="Shape 10"/>
          <p:cNvSpPr/>
          <p:nvPr/>
        </p:nvSpPr>
        <p:spPr>
          <a:xfrm>
            <a:off x="2468880" y="2280605"/>
            <a:ext cx="3200400" cy="221102"/>
          </a:xfrm>
          <a:prstGeom prst="rect">
            <a:avLst/>
          </a:prstGeom>
          <a:solidFill>
            <a:srgbClr val="C8102E"/>
          </a:solidFill>
          <a:ln w="12700">
            <a:solidFill>
              <a:srgbClr val="C8102E"/>
            </a:solidFill>
            <a:prstDash val="solid"/>
          </a:ln>
        </p:spPr>
      </p:sp>
      <p:sp>
        <p:nvSpPr>
          <p:cNvPr id="14" name="Text 11"/>
          <p:cNvSpPr/>
          <p:nvPr/>
        </p:nvSpPr>
        <p:spPr>
          <a:xfrm>
            <a:off x="5742432" y="2262317"/>
            <a:ext cx="685800" cy="257678"/>
          </a:xfrm>
          <a:prstGeom prst="rect">
            <a:avLst/>
          </a:prstGeom>
          <a:noFill/>
          <a:ln/>
        </p:spPr>
        <p:txBody>
          <a:bodyPr wrap="square" lIns="0" tIns="0" rIns="0" bIns="0" rtlCol="0" anchor="ctr"/>
          <a:lstStyle/>
          <a:p>
            <a:pPr marL="0" indent="0" algn="l">
              <a:buNone/>
            </a:pPr>
            <a:r>
              <a:rPr lang="en-US" sz="900" dirty="0">
                <a:solidFill>
                  <a:srgbClr val="FBE122"/>
                </a:solidFill>
                <a:latin typeface="Poppins SemiBold" pitchFamily="34" charset="0"/>
                <a:ea typeface="Poppins SemiBold" pitchFamily="34" charset="-122"/>
                <a:cs typeface="Poppins SemiBold" pitchFamily="34" charset="-120"/>
              </a:rPr>
              <a:t>31,4</a:t>
            </a:r>
            <a:endParaRPr lang="en-US" sz="900" dirty="0"/>
          </a:p>
        </p:txBody>
      </p:sp>
      <p:sp>
        <p:nvSpPr>
          <p:cNvPr id="15" name="Text 12"/>
          <p:cNvSpPr/>
          <p:nvPr/>
        </p:nvSpPr>
        <p:spPr>
          <a:xfrm>
            <a:off x="777240" y="2618933"/>
            <a:ext cx="1234440" cy="257678"/>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Roma</a:t>
            </a:r>
            <a:endParaRPr lang="en-US" sz="900" dirty="0"/>
          </a:p>
        </p:txBody>
      </p:sp>
      <p:sp>
        <p:nvSpPr>
          <p:cNvPr id="16" name="Shape 13"/>
          <p:cNvSpPr/>
          <p:nvPr/>
        </p:nvSpPr>
        <p:spPr>
          <a:xfrm>
            <a:off x="2468880" y="2637221"/>
            <a:ext cx="2548089" cy="221102"/>
          </a:xfrm>
          <a:prstGeom prst="rect">
            <a:avLst/>
          </a:prstGeom>
          <a:solidFill>
            <a:srgbClr val="46292D"/>
          </a:solidFill>
          <a:ln w="12700">
            <a:solidFill>
              <a:srgbClr val="46292D"/>
            </a:solidFill>
            <a:prstDash val="solid"/>
          </a:ln>
        </p:spPr>
      </p:sp>
      <p:sp>
        <p:nvSpPr>
          <p:cNvPr id="17" name="Text 14"/>
          <p:cNvSpPr/>
          <p:nvPr/>
        </p:nvSpPr>
        <p:spPr>
          <a:xfrm>
            <a:off x="5090121" y="2618933"/>
            <a:ext cx="685800" cy="257678"/>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25,0</a:t>
            </a:r>
            <a:endParaRPr lang="en-US" sz="900" dirty="0"/>
          </a:p>
        </p:txBody>
      </p:sp>
      <p:sp>
        <p:nvSpPr>
          <p:cNvPr id="18" name="Text 15"/>
          <p:cNvSpPr/>
          <p:nvPr/>
        </p:nvSpPr>
        <p:spPr>
          <a:xfrm>
            <a:off x="777240" y="2975549"/>
            <a:ext cx="1234440" cy="257678"/>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Barcelona</a:t>
            </a:r>
            <a:endParaRPr lang="en-US" sz="900" dirty="0"/>
          </a:p>
        </p:txBody>
      </p:sp>
      <p:sp>
        <p:nvSpPr>
          <p:cNvPr id="19" name="Shape 16"/>
          <p:cNvSpPr/>
          <p:nvPr/>
        </p:nvSpPr>
        <p:spPr>
          <a:xfrm>
            <a:off x="2468880" y="2993837"/>
            <a:ext cx="2272895" cy="221102"/>
          </a:xfrm>
          <a:prstGeom prst="rect">
            <a:avLst/>
          </a:prstGeom>
          <a:solidFill>
            <a:srgbClr val="46292D"/>
          </a:solidFill>
          <a:ln w="12700">
            <a:solidFill>
              <a:srgbClr val="46292D"/>
            </a:solidFill>
            <a:prstDash val="solid"/>
          </a:ln>
        </p:spPr>
      </p:sp>
      <p:sp>
        <p:nvSpPr>
          <p:cNvPr id="20" name="Text 17"/>
          <p:cNvSpPr/>
          <p:nvPr/>
        </p:nvSpPr>
        <p:spPr>
          <a:xfrm>
            <a:off x="4814927" y="2975549"/>
            <a:ext cx="685800" cy="257678"/>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22,3</a:t>
            </a:r>
            <a:endParaRPr lang="en-US" sz="900" dirty="0"/>
          </a:p>
        </p:txBody>
      </p:sp>
      <p:sp>
        <p:nvSpPr>
          <p:cNvPr id="21" name="Text 18"/>
          <p:cNvSpPr/>
          <p:nvPr/>
        </p:nvSpPr>
        <p:spPr>
          <a:xfrm>
            <a:off x="777240" y="3332165"/>
            <a:ext cx="1234440" cy="257678"/>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Arsenal</a:t>
            </a:r>
            <a:endParaRPr lang="en-US" sz="900" dirty="0"/>
          </a:p>
        </p:txBody>
      </p:sp>
      <p:sp>
        <p:nvSpPr>
          <p:cNvPr id="22" name="Shape 19"/>
          <p:cNvSpPr/>
          <p:nvPr/>
        </p:nvSpPr>
        <p:spPr>
          <a:xfrm>
            <a:off x="2468880" y="3350453"/>
            <a:ext cx="1967124" cy="221102"/>
          </a:xfrm>
          <a:prstGeom prst="rect">
            <a:avLst/>
          </a:prstGeom>
          <a:solidFill>
            <a:srgbClr val="46292D"/>
          </a:solidFill>
          <a:ln w="12700">
            <a:solidFill>
              <a:srgbClr val="46292D"/>
            </a:solidFill>
            <a:prstDash val="solid"/>
          </a:ln>
        </p:spPr>
      </p:sp>
      <p:sp>
        <p:nvSpPr>
          <p:cNvPr id="23" name="Text 20"/>
          <p:cNvSpPr/>
          <p:nvPr/>
        </p:nvSpPr>
        <p:spPr>
          <a:xfrm>
            <a:off x="4509156" y="3332165"/>
            <a:ext cx="685800" cy="257678"/>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19,3</a:t>
            </a:r>
            <a:endParaRPr lang="en-US" sz="900" dirty="0"/>
          </a:p>
        </p:txBody>
      </p:sp>
      <p:sp>
        <p:nvSpPr>
          <p:cNvPr id="24" name="Text 21"/>
          <p:cNvSpPr/>
          <p:nvPr/>
        </p:nvSpPr>
        <p:spPr>
          <a:xfrm>
            <a:off x="777240" y="3688781"/>
            <a:ext cx="1234440" cy="257678"/>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AC Milan</a:t>
            </a:r>
            <a:endParaRPr lang="en-US" sz="900" dirty="0"/>
          </a:p>
        </p:txBody>
      </p:sp>
      <p:sp>
        <p:nvSpPr>
          <p:cNvPr id="25" name="Shape 22"/>
          <p:cNvSpPr/>
          <p:nvPr/>
        </p:nvSpPr>
        <p:spPr>
          <a:xfrm>
            <a:off x="2468880" y="3707069"/>
            <a:ext cx="1793854" cy="221102"/>
          </a:xfrm>
          <a:prstGeom prst="rect">
            <a:avLst/>
          </a:prstGeom>
          <a:solidFill>
            <a:srgbClr val="46292D"/>
          </a:solidFill>
          <a:ln w="12700">
            <a:solidFill>
              <a:srgbClr val="46292D"/>
            </a:solidFill>
            <a:prstDash val="solid"/>
          </a:ln>
        </p:spPr>
      </p:sp>
      <p:sp>
        <p:nvSpPr>
          <p:cNvPr id="26" name="Text 23"/>
          <p:cNvSpPr/>
          <p:nvPr/>
        </p:nvSpPr>
        <p:spPr>
          <a:xfrm>
            <a:off x="4335886" y="3688781"/>
            <a:ext cx="685800" cy="257678"/>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17,6</a:t>
            </a:r>
            <a:endParaRPr lang="en-US" sz="900" dirty="0"/>
          </a:p>
        </p:txBody>
      </p:sp>
      <p:sp>
        <p:nvSpPr>
          <p:cNvPr id="27" name="Text 24"/>
          <p:cNvSpPr/>
          <p:nvPr/>
        </p:nvSpPr>
        <p:spPr>
          <a:xfrm>
            <a:off x="777240" y="4045397"/>
            <a:ext cx="1234440" cy="257678"/>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Liverpool</a:t>
            </a:r>
            <a:endParaRPr lang="en-US" sz="900" dirty="0"/>
          </a:p>
        </p:txBody>
      </p:sp>
      <p:sp>
        <p:nvSpPr>
          <p:cNvPr id="28" name="Shape 25"/>
          <p:cNvSpPr/>
          <p:nvPr/>
        </p:nvSpPr>
        <p:spPr>
          <a:xfrm>
            <a:off x="2468880" y="4063685"/>
            <a:ext cx="1610392" cy="221102"/>
          </a:xfrm>
          <a:prstGeom prst="rect">
            <a:avLst/>
          </a:prstGeom>
          <a:solidFill>
            <a:srgbClr val="46292D"/>
          </a:solidFill>
          <a:ln w="12700">
            <a:solidFill>
              <a:srgbClr val="46292D"/>
            </a:solidFill>
            <a:prstDash val="solid"/>
          </a:ln>
        </p:spPr>
      </p:sp>
      <p:sp>
        <p:nvSpPr>
          <p:cNvPr id="29" name="Text 26"/>
          <p:cNvSpPr/>
          <p:nvPr/>
        </p:nvSpPr>
        <p:spPr>
          <a:xfrm>
            <a:off x="4152424" y="4045397"/>
            <a:ext cx="685800" cy="257678"/>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15,8</a:t>
            </a:r>
            <a:endParaRPr lang="en-US" sz="900" dirty="0"/>
          </a:p>
        </p:txBody>
      </p:sp>
      <p:sp>
        <p:nvSpPr>
          <p:cNvPr id="30" name="Text 27"/>
          <p:cNvSpPr/>
          <p:nvPr/>
        </p:nvSpPr>
        <p:spPr>
          <a:xfrm>
            <a:off x="777240" y="4402013"/>
            <a:ext cx="1234440" cy="257678"/>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Real Madrid</a:t>
            </a:r>
            <a:endParaRPr lang="en-US" sz="900" dirty="0"/>
          </a:p>
        </p:txBody>
      </p:sp>
      <p:sp>
        <p:nvSpPr>
          <p:cNvPr id="31" name="Shape 28"/>
          <p:cNvSpPr/>
          <p:nvPr/>
        </p:nvSpPr>
        <p:spPr>
          <a:xfrm>
            <a:off x="2468880" y="4420301"/>
            <a:ext cx="1437122" cy="221102"/>
          </a:xfrm>
          <a:prstGeom prst="rect">
            <a:avLst/>
          </a:prstGeom>
          <a:solidFill>
            <a:srgbClr val="46292D"/>
          </a:solidFill>
          <a:ln w="12700">
            <a:solidFill>
              <a:srgbClr val="46292D"/>
            </a:solidFill>
            <a:prstDash val="solid"/>
          </a:ln>
        </p:spPr>
      </p:sp>
      <p:sp>
        <p:nvSpPr>
          <p:cNvPr id="32" name="Text 29"/>
          <p:cNvSpPr/>
          <p:nvPr/>
        </p:nvSpPr>
        <p:spPr>
          <a:xfrm>
            <a:off x="3979154" y="4402013"/>
            <a:ext cx="685800" cy="257678"/>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14,1</a:t>
            </a:r>
            <a:endParaRPr lang="en-US" sz="900" dirty="0"/>
          </a:p>
        </p:txBody>
      </p:sp>
      <p:sp>
        <p:nvSpPr>
          <p:cNvPr id="33" name="Text 30"/>
          <p:cNvSpPr/>
          <p:nvPr/>
        </p:nvSpPr>
        <p:spPr>
          <a:xfrm>
            <a:off x="777240" y="4758629"/>
            <a:ext cx="1234440" cy="257678"/>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Bayern</a:t>
            </a:r>
            <a:endParaRPr lang="en-US" sz="900" dirty="0"/>
          </a:p>
        </p:txBody>
      </p:sp>
      <p:sp>
        <p:nvSpPr>
          <p:cNvPr id="34" name="Shape 31"/>
          <p:cNvSpPr/>
          <p:nvPr/>
        </p:nvSpPr>
        <p:spPr>
          <a:xfrm>
            <a:off x="2468880" y="4776917"/>
            <a:ext cx="1294429" cy="221102"/>
          </a:xfrm>
          <a:prstGeom prst="rect">
            <a:avLst/>
          </a:prstGeom>
          <a:solidFill>
            <a:srgbClr val="46292D"/>
          </a:solidFill>
          <a:ln w="12700">
            <a:solidFill>
              <a:srgbClr val="46292D"/>
            </a:solidFill>
            <a:prstDash val="solid"/>
          </a:ln>
        </p:spPr>
      </p:sp>
      <p:sp>
        <p:nvSpPr>
          <p:cNvPr id="35" name="Text 32"/>
          <p:cNvSpPr/>
          <p:nvPr/>
        </p:nvSpPr>
        <p:spPr>
          <a:xfrm>
            <a:off x="3836461" y="4758629"/>
            <a:ext cx="685800" cy="257678"/>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12,7</a:t>
            </a:r>
            <a:endParaRPr lang="en-US" sz="900" dirty="0"/>
          </a:p>
        </p:txBody>
      </p:sp>
      <p:sp>
        <p:nvSpPr>
          <p:cNvPr id="36" name="Text 33"/>
          <p:cNvSpPr/>
          <p:nvPr/>
        </p:nvSpPr>
        <p:spPr>
          <a:xfrm>
            <a:off x="777240" y="5115245"/>
            <a:ext cx="1234440" cy="257678"/>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Inter</a:t>
            </a:r>
            <a:endParaRPr lang="en-US" sz="900" dirty="0"/>
          </a:p>
        </p:txBody>
      </p:sp>
      <p:sp>
        <p:nvSpPr>
          <p:cNvPr id="37" name="Shape 34"/>
          <p:cNvSpPr/>
          <p:nvPr/>
        </p:nvSpPr>
        <p:spPr>
          <a:xfrm>
            <a:off x="2468880" y="5133533"/>
            <a:ext cx="1009043" cy="221102"/>
          </a:xfrm>
          <a:prstGeom prst="rect">
            <a:avLst/>
          </a:prstGeom>
          <a:solidFill>
            <a:srgbClr val="46292D"/>
          </a:solidFill>
          <a:ln w="12700">
            <a:solidFill>
              <a:srgbClr val="46292D"/>
            </a:solidFill>
            <a:prstDash val="solid"/>
          </a:ln>
        </p:spPr>
      </p:sp>
      <p:sp>
        <p:nvSpPr>
          <p:cNvPr id="38" name="Text 35"/>
          <p:cNvSpPr/>
          <p:nvPr/>
        </p:nvSpPr>
        <p:spPr>
          <a:xfrm>
            <a:off x="3551075" y="5115245"/>
            <a:ext cx="685800" cy="257678"/>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9,9</a:t>
            </a:r>
            <a:endParaRPr lang="en-US" sz="900" dirty="0"/>
          </a:p>
        </p:txBody>
      </p:sp>
      <p:sp>
        <p:nvSpPr>
          <p:cNvPr id="39" name="Text 36"/>
          <p:cNvSpPr/>
          <p:nvPr/>
        </p:nvSpPr>
        <p:spPr>
          <a:xfrm>
            <a:off x="777240" y="5471861"/>
            <a:ext cx="1234440" cy="257678"/>
          </a:xfrm>
          <a:prstGeom prst="rect">
            <a:avLst/>
          </a:prstGeom>
          <a:noFill/>
          <a:ln/>
        </p:spPr>
        <p:txBody>
          <a:bodyPr wrap="square" lIns="0" tIns="0" rIns="0" bIns="0" rtlCol="0" anchor="ctr"/>
          <a:lstStyle/>
          <a:p>
            <a:pPr marL="0" indent="0" algn="r">
              <a:buNone/>
            </a:pPr>
            <a:r>
              <a:rPr lang="en-US" sz="900" dirty="0">
                <a:solidFill>
                  <a:srgbClr val="D9CFC7"/>
                </a:solidFill>
                <a:latin typeface="Poppins" pitchFamily="34" charset="0"/>
                <a:ea typeface="Poppins" pitchFamily="34" charset="-122"/>
                <a:cs typeface="Poppins" pitchFamily="34" charset="-120"/>
              </a:rPr>
              <a:t>Chelsea</a:t>
            </a:r>
            <a:endParaRPr lang="en-US" sz="900" dirty="0"/>
          </a:p>
        </p:txBody>
      </p:sp>
      <p:sp>
        <p:nvSpPr>
          <p:cNvPr id="40" name="Shape 37"/>
          <p:cNvSpPr/>
          <p:nvPr/>
        </p:nvSpPr>
        <p:spPr>
          <a:xfrm>
            <a:off x="2152916" y="5490149"/>
            <a:ext cx="315963" cy="221102"/>
          </a:xfrm>
          <a:prstGeom prst="rect">
            <a:avLst/>
          </a:prstGeom>
          <a:solidFill>
            <a:srgbClr val="46292D"/>
          </a:solidFill>
          <a:ln w="12700">
            <a:solidFill>
              <a:srgbClr val="46292D"/>
            </a:solidFill>
            <a:prstDash val="solid"/>
          </a:ln>
        </p:spPr>
      </p:sp>
      <p:sp>
        <p:nvSpPr>
          <p:cNvPr id="41" name="Text 38"/>
          <p:cNvSpPr/>
          <p:nvPr/>
        </p:nvSpPr>
        <p:spPr>
          <a:xfrm>
            <a:off x="2542032" y="5471861"/>
            <a:ext cx="685800" cy="257678"/>
          </a:xfrm>
          <a:prstGeom prst="rect">
            <a:avLst/>
          </a:prstGeom>
          <a:noFill/>
          <a:ln/>
        </p:spPr>
        <p:txBody>
          <a:bodyPr wrap="square" lIns="0" tIns="0" rIns="0" bIns="0" rtlCol="0" anchor="ctr"/>
          <a:lstStyle/>
          <a:p>
            <a:pPr marL="0" indent="0" algn="l">
              <a:buNone/>
            </a:pPr>
            <a:r>
              <a:rPr lang="en-US" sz="900" dirty="0">
                <a:solidFill>
                  <a:srgbClr val="D9CFC7"/>
                </a:solidFill>
                <a:latin typeface="Poppins SemiBold" pitchFamily="34" charset="0"/>
                <a:ea typeface="Poppins SemiBold" pitchFamily="34" charset="-122"/>
                <a:cs typeface="Poppins SemiBold" pitchFamily="34" charset="-120"/>
              </a:rPr>
              <a:t>−3,1</a:t>
            </a:r>
            <a:endParaRPr lang="en-US" sz="900" dirty="0"/>
          </a:p>
        </p:txBody>
      </p:sp>
      <p:sp>
        <p:nvSpPr>
          <p:cNvPr id="42" name="Shape 39"/>
          <p:cNvSpPr/>
          <p:nvPr/>
        </p:nvSpPr>
        <p:spPr>
          <a:xfrm>
            <a:off x="2465169" y="2212848"/>
            <a:ext cx="9144" cy="3566160"/>
          </a:xfrm>
          <a:prstGeom prst="rect">
            <a:avLst/>
          </a:prstGeom>
          <a:solidFill>
            <a:srgbClr val="A08F8B"/>
          </a:solidFill>
          <a:ln w="12700">
            <a:solidFill>
              <a:srgbClr val="A08F8B"/>
            </a:solidFill>
            <a:prstDash val="solid"/>
          </a:ln>
        </p:spPr>
      </p:sp>
      <p:sp>
        <p:nvSpPr>
          <p:cNvPr id="43" name="Shape 40"/>
          <p:cNvSpPr/>
          <p:nvPr/>
        </p:nvSpPr>
        <p:spPr>
          <a:xfrm>
            <a:off x="6903720" y="1755648"/>
            <a:ext cx="4739335" cy="2057400"/>
          </a:xfrm>
          <a:prstGeom prst="rect">
            <a:avLst/>
          </a:prstGeom>
          <a:solidFill>
            <a:srgbClr val="27161A"/>
          </a:solidFill>
          <a:ln w="12700">
            <a:solidFill>
              <a:srgbClr val="27161A"/>
            </a:solidFill>
            <a:prstDash val="solid"/>
          </a:ln>
        </p:spPr>
      </p:sp>
      <p:sp>
        <p:nvSpPr>
          <p:cNvPr id="44" name="Shape 41"/>
          <p:cNvSpPr/>
          <p:nvPr/>
        </p:nvSpPr>
        <p:spPr>
          <a:xfrm>
            <a:off x="6903720" y="1755648"/>
            <a:ext cx="54864" cy="2057400"/>
          </a:xfrm>
          <a:prstGeom prst="rect">
            <a:avLst/>
          </a:prstGeom>
          <a:solidFill>
            <a:srgbClr val="C8102E"/>
          </a:solidFill>
          <a:ln w="12700">
            <a:solidFill>
              <a:srgbClr val="C8102E"/>
            </a:solidFill>
            <a:prstDash val="solid"/>
          </a:ln>
        </p:spPr>
      </p:sp>
      <p:sp>
        <p:nvSpPr>
          <p:cNvPr id="45" name="Text 42"/>
          <p:cNvSpPr/>
          <p:nvPr/>
        </p:nvSpPr>
        <p:spPr>
          <a:xfrm>
            <a:off x="7123176" y="1901952"/>
            <a:ext cx="4373575" cy="274320"/>
          </a:xfrm>
          <a:prstGeom prst="rect">
            <a:avLst/>
          </a:prstGeom>
          <a:noFill/>
          <a:ln/>
        </p:spPr>
        <p:txBody>
          <a:bodyPr wrap="square" lIns="0" tIns="0" rIns="0" bIns="0" rtlCol="0" anchor="t"/>
          <a:lstStyle/>
          <a:p>
            <a:pPr marL="0" indent="0">
              <a:lnSpc>
                <a:spcPct val="95000"/>
              </a:lnSpc>
              <a:buNone/>
            </a:pPr>
            <a:r>
              <a:rPr lang="en-US" sz="1200" dirty="0">
                <a:solidFill>
                  <a:srgbClr val="FFFFFF"/>
                </a:solidFill>
                <a:latin typeface="Poppins SemiBold" pitchFamily="34" charset="0"/>
                <a:ea typeface="Poppins SemiBold" pitchFamily="34" charset="-122"/>
                <a:cs typeface="Poppins SemiBold" pitchFamily="34" charset="-120"/>
              </a:rPr>
              <a:t>Dua jalan mendapat pemain (hlm. 580)</a:t>
            </a:r>
            <a:endParaRPr lang="en-US" sz="1200" dirty="0"/>
          </a:p>
        </p:txBody>
      </p:sp>
      <p:sp>
        <p:nvSpPr>
          <p:cNvPr id="46" name="Text 43"/>
          <p:cNvSpPr/>
          <p:nvPr/>
        </p:nvSpPr>
        <p:spPr>
          <a:xfrm>
            <a:off x="7123176" y="2231136"/>
            <a:ext cx="4373575" cy="1472184"/>
          </a:xfrm>
          <a:prstGeom prst="rect">
            <a:avLst/>
          </a:prstGeom>
          <a:noFill/>
          <a:ln/>
        </p:spPr>
        <p:txBody>
          <a:bodyPr wrap="square" lIns="0" tIns="0" rIns="0" bIns="0" rtlCol="0" anchor="t"/>
          <a:lstStyle/>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Membeli bintang: Real Madrid, Chelsea. Return on sales 0,4% dan −60,4% (Table 6.6).</a:t>
            </a:r>
            <a:endParaRPr lang="en-US" sz="950" dirty="0"/>
          </a:p>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Mengembangkan sendiri: Bayern, Barcelona, Arsenal, Valencia. Bayern 4,7%, Arsenal 5,6%.</a:t>
            </a:r>
            <a:endParaRPr lang="en-US" sz="950" dirty="0"/>
          </a:p>
          <a:p>
            <a:pPr marL="0" indent="0">
              <a:lnSpc>
                <a:spcPct val="108000"/>
              </a:lnSpc>
              <a:buNone/>
            </a:pPr>
            <a:r>
              <a:rPr lang="en-US" sz="950" dirty="0">
                <a:solidFill>
                  <a:srgbClr val="D9CFC7"/>
                </a:solidFill>
                <a:latin typeface="Poppins" pitchFamily="34" charset="0"/>
                <a:ea typeface="Poppins" pitchFamily="34" charset="-122"/>
                <a:cs typeface="Poppins" pitchFamily="34" charset="-120"/>
              </a:rPr>
              <a:t>MU memadukan keduanya: bakat akademi dipadukan pemain berpengalaman, lalu pemain dijual saat klub lain menilai lebih tinggi (hlm. 583, 586). Return on sales 12,6%, tertinggi di Table 6.6.</a:t>
            </a:r>
            <a:endParaRPr lang="en-US" sz="950" dirty="0"/>
          </a:p>
        </p:txBody>
      </p:sp>
      <p:sp>
        <p:nvSpPr>
          <p:cNvPr id="47" name="Shape 44"/>
          <p:cNvSpPr/>
          <p:nvPr/>
        </p:nvSpPr>
        <p:spPr>
          <a:xfrm>
            <a:off x="6903720" y="3995928"/>
            <a:ext cx="4739335" cy="1920240"/>
          </a:xfrm>
          <a:prstGeom prst="rect">
            <a:avLst/>
          </a:prstGeom>
          <a:solidFill>
            <a:srgbClr val="C8102E"/>
          </a:solidFill>
          <a:ln w="12700">
            <a:solidFill>
              <a:srgbClr val="C8102E"/>
            </a:solidFill>
            <a:prstDash val="solid"/>
          </a:ln>
        </p:spPr>
      </p:sp>
      <p:sp>
        <p:nvSpPr>
          <p:cNvPr id="48" name="Text 45"/>
          <p:cNvSpPr/>
          <p:nvPr/>
        </p:nvSpPr>
        <p:spPr>
          <a:xfrm>
            <a:off x="7132320" y="4123944"/>
            <a:ext cx="428213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BATAS KLAIM INI</a:t>
            </a:r>
            <a:endParaRPr lang="en-US" sz="800" dirty="0"/>
          </a:p>
        </p:txBody>
      </p:sp>
      <p:sp>
        <p:nvSpPr>
          <p:cNvPr id="49" name="Text 46"/>
          <p:cNvSpPr/>
          <p:nvPr/>
        </p:nvSpPr>
        <p:spPr>
          <a:xfrm>
            <a:off x="7132320" y="4361688"/>
            <a:ext cx="4282135" cy="1463040"/>
          </a:xfrm>
          <a:prstGeom prst="rect">
            <a:avLst/>
          </a:prstGeom>
          <a:noFill/>
          <a:ln/>
        </p:spPr>
        <p:txBody>
          <a:bodyPr wrap="square" lIns="0" tIns="0" rIns="0" bIns="0" rtlCol="0" anchor="t"/>
          <a:lstStyle/>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Margin MU tertinggi di antara klub besar. Dari 15 klub di Table 6.5, hanya Lyon (38,5%) yang lebih tinggi, dengan pendapatan kurang dari separuh MU.</a:t>
            </a:r>
            <a:endParaRPr lang="en-US" sz="1000" dirty="0"/>
          </a:p>
          <a:p>
            <a:pPr marL="0" indent="0">
              <a:lnSpc>
                <a:spcPct val="108000"/>
              </a:lnSpc>
              <a:buNone/>
            </a:pPr>
            <a:endParaRPr lang="en-US" sz="1000" dirty="0"/>
          </a:p>
          <a:p>
            <a:pPr marL="0" indent="0">
              <a:lnSpc>
                <a:spcPct val="108000"/>
              </a:lnSpc>
              <a:buNone/>
            </a:pPr>
            <a:r>
              <a:rPr lang="en-US" sz="1000" dirty="0">
                <a:solidFill>
                  <a:srgbClr val="FFFFFF"/>
                </a:solidFill>
                <a:latin typeface="Poppins Medium" pitchFamily="34" charset="0"/>
                <a:ea typeface="Poppins Medium" pitchFamily="34" charset="-122"/>
                <a:cs typeface="Poppins Medium" pitchFamily="34" charset="-120"/>
              </a:rPr>
              <a:t>Benchmarking menguji biaya dan hasil aktivitas (Q4). VRIN Test menguji resource (Q3). Dua alat, dua pertanyaan berbeda.</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48640" y="429768"/>
            <a:ext cx="292608" cy="54864"/>
          </a:xfrm>
          <a:prstGeom prst="rect">
            <a:avLst/>
          </a:prstGeom>
          <a:solidFill>
            <a:srgbClr val="C8102E"/>
          </a:solidFill>
          <a:ln w="12700">
            <a:solidFill>
              <a:srgbClr val="C8102E"/>
            </a:solidFill>
            <a:prstDash val="solid"/>
          </a:ln>
        </p:spPr>
      </p:sp>
      <p:sp>
        <p:nvSpPr>
          <p:cNvPr id="3" name="Text 1"/>
          <p:cNvSpPr/>
          <p:nvPr/>
        </p:nvSpPr>
        <p:spPr>
          <a:xfrm>
            <a:off x="932688" y="365760"/>
            <a:ext cx="10728655" cy="32004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5  ·  DITERAPKAN</a:t>
            </a:r>
            <a:endParaRPr lang="en-US" sz="950" dirty="0"/>
          </a:p>
        </p:txBody>
      </p:sp>
      <p:sp>
        <p:nvSpPr>
          <p:cNvPr id="4" name="Text 2"/>
          <p:cNvSpPr/>
          <p:nvPr/>
        </p:nvSpPr>
        <p:spPr>
          <a:xfrm>
            <a:off x="548640" y="658368"/>
            <a:ext cx="11094415" cy="502920"/>
          </a:xfrm>
          <a:prstGeom prst="rect">
            <a:avLst/>
          </a:prstGeom>
          <a:noFill/>
          <a:ln/>
        </p:spPr>
        <p:txBody>
          <a:bodyPr wrap="square" lIns="0" tIns="0" rIns="0" bIns="0" rtlCol="0" anchor="t"/>
          <a:lstStyle/>
          <a:p>
            <a:pPr marL="0" indent="0">
              <a:lnSpc>
                <a:spcPct val="92000"/>
              </a:lnSpc>
              <a:buNone/>
            </a:pPr>
            <a:r>
              <a:rPr lang="en-US" sz="2500" dirty="0">
                <a:solidFill>
                  <a:srgbClr val="FFFFFF"/>
                </a:solidFill>
                <a:latin typeface="Poppins ExtraBold" pitchFamily="34" charset="0"/>
                <a:ea typeface="Poppins ExtraBold" pitchFamily="34" charset="-122"/>
                <a:cs typeface="Poppins ExtraBold" pitchFamily="34" charset="-120"/>
              </a:rPr>
              <a:t>COMPETITIVE STRENGTH ASSESSMENT MANCHESTER UNITED</a:t>
            </a:r>
            <a:endParaRPr lang="en-US" sz="2500" dirty="0"/>
          </a:p>
        </p:txBody>
      </p:sp>
      <p:sp>
        <p:nvSpPr>
          <p:cNvPr id="5" name="Text 3"/>
          <p:cNvSpPr/>
          <p:nvPr/>
        </p:nvSpPr>
        <p:spPr>
          <a:xfrm>
            <a:off x="548640" y="1188720"/>
            <a:ext cx="11094415" cy="457200"/>
          </a:xfrm>
          <a:prstGeom prst="rect">
            <a:avLst/>
          </a:prstGeom>
          <a:noFill/>
          <a:ln/>
        </p:spPr>
        <p:txBody>
          <a:bodyPr wrap="square" lIns="0" tIns="0" rIns="0" bIns="0" rtlCol="0" anchor="t"/>
          <a:lstStyle/>
          <a:p>
            <a:pPr marL="0" indent="0">
              <a:lnSpc>
                <a:spcPct val="105000"/>
              </a:lnSpc>
              <a:buNone/>
            </a:pPr>
            <a:r>
              <a:rPr lang="en-US" sz="1150" dirty="0">
                <a:solidFill>
                  <a:srgbClr val="D9CFC7"/>
                </a:solidFill>
                <a:latin typeface="Poppins" pitchFamily="34" charset="0"/>
                <a:ea typeface="Poppins" pitchFamily="34" charset="-122"/>
                <a:cs typeface="Poppins" pitchFamily="34" charset="-120"/>
              </a:rPr>
              <a:t>Bobot dan rating disusun kelompok kami berdasarkan Table 6.2, 6.3, 6.5, 6.6 dan 6.7 kasus. Isi sel: rating (1–10) / skor tertimbang.</a:t>
            </a:r>
            <a:endParaRPr lang="en-US" sz="115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 Bobot dan rating adalah penilaian kelompok.</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31</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755648"/>
          <a:ext cx="11064240" cy="2916936"/>
        </p:xfrm>
        <a:graphic>
          <a:graphicData uri="http://schemas.openxmlformats.org/drawingml/2006/table">
            <a:tbl>
              <a:tblPr/>
              <a:tblGrid>
                <a:gridCol w="27432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499616">
                  <a:extLst>
                    <a:ext uri="{9D8B030D-6E8A-4147-A177-3AD203B41FA5}">
                      <a16:colId xmlns:a16="http://schemas.microsoft.com/office/drawing/2014/main" val="20002"/>
                    </a:ext>
                  </a:extLst>
                </a:gridCol>
                <a:gridCol w="1499616">
                  <a:extLst>
                    <a:ext uri="{9D8B030D-6E8A-4147-A177-3AD203B41FA5}">
                      <a16:colId xmlns:a16="http://schemas.microsoft.com/office/drawing/2014/main" val="20003"/>
                    </a:ext>
                  </a:extLst>
                </a:gridCol>
                <a:gridCol w="1499616">
                  <a:extLst>
                    <a:ext uri="{9D8B030D-6E8A-4147-A177-3AD203B41FA5}">
                      <a16:colId xmlns:a16="http://schemas.microsoft.com/office/drawing/2014/main" val="20004"/>
                    </a:ext>
                  </a:extLst>
                </a:gridCol>
                <a:gridCol w="1499616">
                  <a:extLst>
                    <a:ext uri="{9D8B030D-6E8A-4147-A177-3AD203B41FA5}">
                      <a16:colId xmlns:a16="http://schemas.microsoft.com/office/drawing/2014/main" val="20005"/>
                    </a:ext>
                  </a:extLst>
                </a:gridCol>
                <a:gridCol w="1499616">
                  <a:extLst>
                    <a:ext uri="{9D8B030D-6E8A-4147-A177-3AD203B41FA5}">
                      <a16:colId xmlns:a16="http://schemas.microsoft.com/office/drawing/2014/main" val="20006"/>
                    </a:ext>
                  </a:extLst>
                </a:gridCol>
              </a:tblGrid>
              <a:tr h="265176">
                <a:tc>
                  <a:txBody>
                    <a:bodyPr/>
                    <a:lstStyle/>
                    <a:p>
                      <a:pPr marL="0" indent="0" algn="l">
                        <a:buNone/>
                      </a:pPr>
                      <a:r>
                        <a:rPr lang="en-US" sz="850" dirty="0">
                          <a:solidFill>
                            <a:srgbClr val="FFFFFF"/>
                          </a:solidFill>
                          <a:latin typeface="Poppins SemiBold" pitchFamily="34" charset="0"/>
                          <a:ea typeface="Poppins SemiBold" pitchFamily="34" charset="-122"/>
                          <a:cs typeface="Poppins SemiBold" pitchFamily="34" charset="-120"/>
                        </a:rPr>
                        <a:t>Key Success Factor</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ctr">
                        <a:buNone/>
                      </a:pPr>
                      <a:r>
                        <a:rPr lang="en-US" sz="850" dirty="0">
                          <a:solidFill>
                            <a:srgbClr val="FFFFFF"/>
                          </a:solidFill>
                          <a:latin typeface="Poppins SemiBold" pitchFamily="34" charset="0"/>
                          <a:ea typeface="Poppins SemiBold" pitchFamily="34" charset="-122"/>
                          <a:cs typeface="Poppins SemiBold" pitchFamily="34" charset="-120"/>
                        </a:rPr>
                        <a:t>Bobot</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ctr">
                        <a:buNone/>
                      </a:pPr>
                      <a:r>
                        <a:rPr lang="en-US" sz="850" dirty="0">
                          <a:solidFill>
                            <a:srgbClr val="FFFFFF"/>
                          </a:solidFill>
                          <a:latin typeface="Poppins SemiBold" pitchFamily="34" charset="0"/>
                          <a:ea typeface="Poppins SemiBold" pitchFamily="34" charset="-122"/>
                          <a:cs typeface="Poppins SemiBold" pitchFamily="34" charset="-120"/>
                        </a:rPr>
                        <a:t>Man United</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ctr">
                        <a:buNone/>
                      </a:pPr>
                      <a:r>
                        <a:rPr lang="en-US" sz="850" dirty="0">
                          <a:solidFill>
                            <a:srgbClr val="FFFFFF"/>
                          </a:solidFill>
                          <a:latin typeface="Poppins SemiBold" pitchFamily="34" charset="0"/>
                          <a:ea typeface="Poppins SemiBold" pitchFamily="34" charset="-122"/>
                          <a:cs typeface="Poppins SemiBold" pitchFamily="34" charset="-120"/>
                        </a:rPr>
                        <a:t>Real Madrid</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ctr">
                        <a:buNone/>
                      </a:pPr>
                      <a:r>
                        <a:rPr lang="en-US" sz="850" dirty="0">
                          <a:solidFill>
                            <a:srgbClr val="FFFFFF"/>
                          </a:solidFill>
                          <a:latin typeface="Poppins SemiBold" pitchFamily="34" charset="0"/>
                          <a:ea typeface="Poppins SemiBold" pitchFamily="34" charset="-122"/>
                          <a:cs typeface="Poppins SemiBold" pitchFamily="34" charset="-120"/>
                        </a:rPr>
                        <a:t>Barcelona</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ctr">
                        <a:buNone/>
                      </a:pPr>
                      <a:r>
                        <a:rPr lang="en-US" sz="850" dirty="0">
                          <a:solidFill>
                            <a:srgbClr val="FFFFFF"/>
                          </a:solidFill>
                          <a:latin typeface="Poppins SemiBold" pitchFamily="34" charset="0"/>
                          <a:ea typeface="Poppins SemiBold" pitchFamily="34" charset="-122"/>
                          <a:cs typeface="Poppins SemiBold" pitchFamily="34" charset="-120"/>
                        </a:rPr>
                        <a:t>Chelsea</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tc>
                  <a:txBody>
                    <a:bodyPr/>
                    <a:lstStyle/>
                    <a:p>
                      <a:pPr marL="0" indent="0" algn="ctr">
                        <a:buNone/>
                      </a:pPr>
                      <a:r>
                        <a:rPr lang="en-US" sz="850" dirty="0">
                          <a:solidFill>
                            <a:srgbClr val="FFFFFF"/>
                          </a:solidFill>
                          <a:latin typeface="Poppins SemiBold" pitchFamily="34" charset="0"/>
                          <a:ea typeface="Poppins SemiBold" pitchFamily="34" charset="-122"/>
                          <a:cs typeface="Poppins SemiBold" pitchFamily="34" charset="-120"/>
                        </a:rPr>
                        <a:t>Arsenal</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C8102E"/>
                    </a:solidFill>
                  </a:tcPr>
                </a:tc>
                <a:extLst>
                  <a:ext uri="{0D108BD9-81ED-4DB2-BD59-A6C34878D82A}">
                    <a16:rowId xmlns:a16="http://schemas.microsoft.com/office/drawing/2014/main" val="10000"/>
                  </a:ext>
                </a:extLst>
              </a:tr>
              <a:tr h="265176">
                <a:tc>
                  <a:txBody>
                    <a:bodyPr/>
                    <a:lstStyle/>
                    <a:p>
                      <a:pPr marL="0" indent="0" algn="l">
                        <a:buNone/>
                      </a:pPr>
                      <a:r>
                        <a:rPr lang="en-US" sz="850" dirty="0">
                          <a:solidFill>
                            <a:srgbClr val="D9CFC7"/>
                          </a:solidFill>
                          <a:latin typeface="Poppins SemiBold" pitchFamily="34" charset="0"/>
                          <a:ea typeface="Poppins SemiBold" pitchFamily="34" charset="-122"/>
                          <a:cs typeface="Poppins SemiBold" pitchFamily="34" charset="-120"/>
                        </a:rPr>
                        <a:t>Kualitas skuad</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0,15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FFFFFF"/>
                          </a:solidFill>
                          <a:latin typeface="Poppins" pitchFamily="34" charset="0"/>
                          <a:ea typeface="Poppins" pitchFamily="34" charset="-122"/>
                          <a:cs typeface="Poppins" pitchFamily="34" charset="-120"/>
                        </a:rPr>
                        <a:t>6 / 0,90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E1620"/>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9 / 1,35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10 / 1,50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9 / 1,35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6 / 0,90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extLst>
                  <a:ext uri="{0D108BD9-81ED-4DB2-BD59-A6C34878D82A}">
                    <a16:rowId xmlns:a16="http://schemas.microsoft.com/office/drawing/2014/main" val="10001"/>
                  </a:ext>
                </a:extLst>
              </a:tr>
              <a:tr h="265176">
                <a:tc>
                  <a:txBody>
                    <a:bodyPr/>
                    <a:lstStyle/>
                    <a:p>
                      <a:pPr marL="0" indent="0" algn="l">
                        <a:buNone/>
                      </a:pPr>
                      <a:r>
                        <a:rPr lang="en-US" sz="850" dirty="0">
                          <a:solidFill>
                            <a:srgbClr val="D9CFC7"/>
                          </a:solidFill>
                          <a:latin typeface="Poppins SemiBold" pitchFamily="34" charset="0"/>
                          <a:ea typeface="Poppins SemiBold" pitchFamily="34" charset="-122"/>
                          <a:cs typeface="Poppins SemiBold" pitchFamily="34" charset="-120"/>
                        </a:rPr>
                        <a:t>Kemampuan manajer</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0,15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FFFFFF"/>
                          </a:solidFill>
                          <a:latin typeface="Poppins" pitchFamily="34" charset="0"/>
                          <a:ea typeface="Poppins" pitchFamily="34" charset="-122"/>
                          <a:cs typeface="Poppins" pitchFamily="34" charset="-120"/>
                        </a:rPr>
                        <a:t>10 / 1,50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E1620"/>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5 / 0,75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8 / 1,20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6 / 0,90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8 / 1,20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extLst>
                  <a:ext uri="{0D108BD9-81ED-4DB2-BD59-A6C34878D82A}">
                    <a16:rowId xmlns:a16="http://schemas.microsoft.com/office/drawing/2014/main" val="10002"/>
                  </a:ext>
                </a:extLst>
              </a:tr>
              <a:tr h="265176">
                <a:tc>
                  <a:txBody>
                    <a:bodyPr/>
                    <a:lstStyle/>
                    <a:p>
                      <a:pPr marL="0" indent="0" algn="l">
                        <a:buNone/>
                      </a:pPr>
                      <a:r>
                        <a:rPr lang="en-US" sz="850" dirty="0">
                          <a:solidFill>
                            <a:srgbClr val="D9CFC7"/>
                          </a:solidFill>
                          <a:latin typeface="Poppins SemiBold" pitchFamily="34" charset="0"/>
                          <a:ea typeface="Poppins SemiBold" pitchFamily="34" charset="-122"/>
                          <a:cs typeface="Poppins SemiBold" pitchFamily="34" charset="-120"/>
                        </a:rPr>
                        <a:t>Akademi &amp; pemandu bakat</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0,10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FFFFFF"/>
                          </a:solidFill>
                          <a:latin typeface="Poppins" pitchFamily="34" charset="0"/>
                          <a:ea typeface="Poppins" pitchFamily="34" charset="-122"/>
                          <a:cs typeface="Poppins" pitchFamily="34" charset="-120"/>
                        </a:rPr>
                        <a:t>9 / 0,90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E1620"/>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3 / 0,30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9 / 0,90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3 / 0,30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8 / 0,80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extLst>
                  <a:ext uri="{0D108BD9-81ED-4DB2-BD59-A6C34878D82A}">
                    <a16:rowId xmlns:a16="http://schemas.microsoft.com/office/drawing/2014/main" val="10003"/>
                  </a:ext>
                </a:extLst>
              </a:tr>
              <a:tr h="265176">
                <a:tc>
                  <a:txBody>
                    <a:bodyPr/>
                    <a:lstStyle/>
                    <a:p>
                      <a:pPr marL="0" indent="0" algn="l">
                        <a:buNone/>
                      </a:pPr>
                      <a:r>
                        <a:rPr lang="en-US" sz="850" dirty="0">
                          <a:solidFill>
                            <a:srgbClr val="D9CFC7"/>
                          </a:solidFill>
                          <a:latin typeface="Poppins SemiBold" pitchFamily="34" charset="0"/>
                          <a:ea typeface="Poppins SemiBold" pitchFamily="34" charset="-122"/>
                          <a:cs typeface="Poppins SemiBold" pitchFamily="34" charset="-120"/>
                        </a:rPr>
                        <a:t>Merek &amp; basis pendukung</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0,15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FFFFFF"/>
                          </a:solidFill>
                          <a:latin typeface="Poppins" pitchFamily="34" charset="0"/>
                          <a:ea typeface="Poppins" pitchFamily="34" charset="-122"/>
                          <a:cs typeface="Poppins" pitchFamily="34" charset="-120"/>
                        </a:rPr>
                        <a:t>10 / 1,50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E1620"/>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9 / 1,35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7 / 1,05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5 / 0,75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6 / 0,90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extLst>
                  <a:ext uri="{0D108BD9-81ED-4DB2-BD59-A6C34878D82A}">
                    <a16:rowId xmlns:a16="http://schemas.microsoft.com/office/drawing/2014/main" val="10004"/>
                  </a:ext>
                </a:extLst>
              </a:tr>
              <a:tr h="265176">
                <a:tc>
                  <a:txBody>
                    <a:bodyPr/>
                    <a:lstStyle/>
                    <a:p>
                      <a:pPr marL="0" indent="0" algn="l">
                        <a:buNone/>
                      </a:pPr>
                      <a:r>
                        <a:rPr lang="en-US" sz="850" dirty="0">
                          <a:solidFill>
                            <a:srgbClr val="D9CFC7"/>
                          </a:solidFill>
                          <a:latin typeface="Poppins SemiBold" pitchFamily="34" charset="0"/>
                          <a:ea typeface="Poppins SemiBold" pitchFamily="34" charset="-122"/>
                          <a:cs typeface="Poppins SemiBold" pitchFamily="34" charset="-120"/>
                        </a:rPr>
                        <a:t>Kemampuan komersial</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0,10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FFFFFF"/>
                          </a:solidFill>
                          <a:latin typeface="Poppins" pitchFamily="34" charset="0"/>
                          <a:ea typeface="Poppins" pitchFamily="34" charset="-122"/>
                          <a:cs typeface="Poppins" pitchFamily="34" charset="-120"/>
                        </a:rPr>
                        <a:t>10 / 1,00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E1620"/>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9 / 0,90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7 / 0,70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5 / 0,50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6 / 0,60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extLst>
                  <a:ext uri="{0D108BD9-81ED-4DB2-BD59-A6C34878D82A}">
                    <a16:rowId xmlns:a16="http://schemas.microsoft.com/office/drawing/2014/main" val="10005"/>
                  </a:ext>
                </a:extLst>
              </a:tr>
              <a:tr h="265176">
                <a:tc>
                  <a:txBody>
                    <a:bodyPr/>
                    <a:lstStyle/>
                    <a:p>
                      <a:pPr marL="0" indent="0" algn="l">
                        <a:buNone/>
                      </a:pPr>
                      <a:r>
                        <a:rPr lang="en-US" sz="850" dirty="0">
                          <a:solidFill>
                            <a:srgbClr val="D9CFC7"/>
                          </a:solidFill>
                          <a:latin typeface="Poppins SemiBold" pitchFamily="34" charset="0"/>
                          <a:ea typeface="Poppins SemiBold" pitchFamily="34" charset="-122"/>
                          <a:cs typeface="Poppins SemiBold" pitchFamily="34" charset="-120"/>
                        </a:rPr>
                        <a:t>Profitabilitas</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0,10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FFFFFF"/>
                          </a:solidFill>
                          <a:latin typeface="Poppins" pitchFamily="34" charset="0"/>
                          <a:ea typeface="Poppins" pitchFamily="34" charset="-122"/>
                          <a:cs typeface="Poppins" pitchFamily="34" charset="-120"/>
                        </a:rPr>
                        <a:t>10 / 1,00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E1620"/>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5 / 0,50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7 / 0,70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1 / 0,10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6 / 0,60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extLst>
                  <a:ext uri="{0D108BD9-81ED-4DB2-BD59-A6C34878D82A}">
                    <a16:rowId xmlns:a16="http://schemas.microsoft.com/office/drawing/2014/main" val="10006"/>
                  </a:ext>
                </a:extLst>
              </a:tr>
              <a:tr h="265176">
                <a:tc>
                  <a:txBody>
                    <a:bodyPr/>
                    <a:lstStyle/>
                    <a:p>
                      <a:pPr marL="0" indent="0" algn="l">
                        <a:buNone/>
                      </a:pPr>
                      <a:r>
                        <a:rPr lang="en-US" sz="850" dirty="0">
                          <a:solidFill>
                            <a:srgbClr val="D9CFC7"/>
                          </a:solidFill>
                          <a:latin typeface="Poppins SemiBold" pitchFamily="34" charset="0"/>
                          <a:ea typeface="Poppins SemiBold" pitchFamily="34" charset="-122"/>
                          <a:cs typeface="Poppins SemiBold" pitchFamily="34" charset="-120"/>
                        </a:rPr>
                        <a:t>Keleluasaan finansial (utang)</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0,10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FFFFFF"/>
                          </a:solidFill>
                          <a:latin typeface="Poppins" pitchFamily="34" charset="0"/>
                          <a:ea typeface="Poppins" pitchFamily="34" charset="-122"/>
                          <a:cs typeface="Poppins" pitchFamily="34" charset="-120"/>
                        </a:rPr>
                        <a:t>4 / 0,40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E1620"/>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7 / 0,70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9 / 0,90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5 / 0,50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2 / 0,20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extLst>
                  <a:ext uri="{0D108BD9-81ED-4DB2-BD59-A6C34878D82A}">
                    <a16:rowId xmlns:a16="http://schemas.microsoft.com/office/drawing/2014/main" val="10007"/>
                  </a:ext>
                </a:extLst>
              </a:tr>
              <a:tr h="265176">
                <a:tc>
                  <a:txBody>
                    <a:bodyPr/>
                    <a:lstStyle/>
                    <a:p>
                      <a:pPr marL="0" indent="0" algn="l">
                        <a:buNone/>
                      </a:pPr>
                      <a:r>
                        <a:rPr lang="en-US" sz="850" dirty="0">
                          <a:solidFill>
                            <a:srgbClr val="D9CFC7"/>
                          </a:solidFill>
                          <a:latin typeface="Poppins SemiBold" pitchFamily="34" charset="0"/>
                          <a:ea typeface="Poppins SemiBold" pitchFamily="34" charset="-122"/>
                          <a:cs typeface="Poppins SemiBold" pitchFamily="34" charset="-120"/>
                        </a:rPr>
                        <a:t>Stadion &amp; matchday</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0,05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FFFFFF"/>
                          </a:solidFill>
                          <a:latin typeface="Poppins" pitchFamily="34" charset="0"/>
                          <a:ea typeface="Poppins" pitchFamily="34" charset="-122"/>
                          <a:cs typeface="Poppins" pitchFamily="34" charset="-120"/>
                        </a:rPr>
                        <a:t>9 / 0,45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E1620"/>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8 / 0,40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9 / 0,45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5 / 0,25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9 / 0,45</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2191E"/>
                    </a:solidFill>
                  </a:tcPr>
                </a:tc>
                <a:extLst>
                  <a:ext uri="{0D108BD9-81ED-4DB2-BD59-A6C34878D82A}">
                    <a16:rowId xmlns:a16="http://schemas.microsoft.com/office/drawing/2014/main" val="10008"/>
                  </a:ext>
                </a:extLst>
              </a:tr>
              <a:tr h="265176">
                <a:tc>
                  <a:txBody>
                    <a:bodyPr/>
                    <a:lstStyle/>
                    <a:p>
                      <a:pPr marL="0" indent="0" algn="l">
                        <a:buNone/>
                      </a:pPr>
                      <a:r>
                        <a:rPr lang="en-US" sz="850" dirty="0">
                          <a:solidFill>
                            <a:srgbClr val="D9CFC7"/>
                          </a:solidFill>
                          <a:latin typeface="Poppins SemiBold" pitchFamily="34" charset="0"/>
                          <a:ea typeface="Poppins SemiBold" pitchFamily="34" charset="-122"/>
                          <a:cs typeface="Poppins SemiBold" pitchFamily="34" charset="-120"/>
                        </a:rPr>
                        <a:t>Rekam jejak prestasi</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0,10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FFFFFF"/>
                          </a:solidFill>
                          <a:latin typeface="Poppins" pitchFamily="34" charset="0"/>
                          <a:ea typeface="Poppins" pitchFamily="34" charset="-122"/>
                          <a:cs typeface="Poppins" pitchFamily="34" charset="-120"/>
                        </a:rPr>
                        <a:t>10 / 1,00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3E1620"/>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9 / 0,90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10 / 1,00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9 / 0,90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tc>
                  <a:txBody>
                    <a:bodyPr/>
                    <a:lstStyle/>
                    <a:p>
                      <a:pPr marL="0" indent="0" algn="ctr">
                        <a:buNone/>
                      </a:pPr>
                      <a:r>
                        <a:rPr lang="en-US" sz="850" dirty="0">
                          <a:solidFill>
                            <a:srgbClr val="D9CFC7"/>
                          </a:solidFill>
                          <a:latin typeface="Poppins" pitchFamily="34" charset="0"/>
                          <a:ea typeface="Poppins" pitchFamily="34" charset="-122"/>
                          <a:cs typeface="Poppins" pitchFamily="34" charset="-120"/>
                        </a:rPr>
                        <a:t>9 / 0,90</a:t>
                      </a:r>
                      <a:endParaRPr lang="en-US" sz="850" dirty="0">
                        <a:latin typeface="Poppins" charset="0"/>
                        <a:ea typeface="Poppins" charset="0"/>
                        <a:cs typeface="Poppins"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27161A"/>
                    </a:solidFill>
                  </a:tcPr>
                </a:tc>
                <a:extLst>
                  <a:ext uri="{0D108BD9-81ED-4DB2-BD59-A6C34878D82A}">
                    <a16:rowId xmlns:a16="http://schemas.microsoft.com/office/drawing/2014/main" val="10009"/>
                  </a:ext>
                </a:extLst>
              </a:tr>
              <a:tr h="265176">
                <a:tc>
                  <a:txBody>
                    <a:bodyPr/>
                    <a:lstStyle/>
                    <a:p>
                      <a:pPr marL="0" indent="0" algn="l">
                        <a:buNone/>
                      </a:pPr>
                      <a:r>
                        <a:rPr lang="en-US" sz="850" dirty="0">
                          <a:solidFill>
                            <a:srgbClr val="FFFFFF"/>
                          </a:solidFill>
                          <a:latin typeface="Poppins SemiBold" pitchFamily="34" charset="0"/>
                          <a:ea typeface="Poppins SemiBold" pitchFamily="34" charset="-122"/>
                          <a:cs typeface="Poppins SemiBold" pitchFamily="34" charset="-120"/>
                        </a:rPr>
                        <a:t>TOTAL SKOR TERTIMBANG</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tc>
                  <a:txBody>
                    <a:bodyPr/>
                    <a:lstStyle/>
                    <a:p>
                      <a:pPr marL="0" indent="0" algn="ctr">
                        <a:buNone/>
                      </a:pPr>
                      <a:r>
                        <a:rPr lang="en-US" sz="850" dirty="0">
                          <a:solidFill>
                            <a:srgbClr val="FFFFFF"/>
                          </a:solidFill>
                          <a:latin typeface="Poppins SemiBold" pitchFamily="34" charset="0"/>
                          <a:ea typeface="Poppins SemiBold" pitchFamily="34" charset="-122"/>
                          <a:cs typeface="Poppins SemiBold" pitchFamily="34" charset="-120"/>
                        </a:rPr>
                        <a:t>1,00</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tc>
                  <a:txBody>
                    <a:bodyPr/>
                    <a:lstStyle/>
                    <a:p>
                      <a:pPr marL="0" indent="0" algn="ctr">
                        <a:buNone/>
                      </a:pPr>
                      <a:r>
                        <a:rPr lang="en-US" sz="850" dirty="0">
                          <a:solidFill>
                            <a:srgbClr val="FBE122"/>
                          </a:solidFill>
                          <a:latin typeface="Poppins SemiBold" pitchFamily="34" charset="0"/>
                          <a:ea typeface="Poppins SemiBold" pitchFamily="34" charset="-122"/>
                          <a:cs typeface="Poppins SemiBold" pitchFamily="34" charset="-120"/>
                        </a:rPr>
                        <a:t>8,65</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tc>
                  <a:txBody>
                    <a:bodyPr/>
                    <a:lstStyle/>
                    <a:p>
                      <a:pPr marL="0" indent="0" algn="ctr">
                        <a:buNone/>
                      </a:pPr>
                      <a:r>
                        <a:rPr lang="en-US" sz="850" dirty="0">
                          <a:solidFill>
                            <a:srgbClr val="FFFFFF"/>
                          </a:solidFill>
                          <a:latin typeface="Poppins SemiBold" pitchFamily="34" charset="0"/>
                          <a:ea typeface="Poppins SemiBold" pitchFamily="34" charset="-122"/>
                          <a:cs typeface="Poppins SemiBold" pitchFamily="34" charset="-120"/>
                        </a:rPr>
                        <a:t>7,15</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tc>
                  <a:txBody>
                    <a:bodyPr/>
                    <a:lstStyle/>
                    <a:p>
                      <a:pPr marL="0" indent="0" algn="ctr">
                        <a:buNone/>
                      </a:pPr>
                      <a:r>
                        <a:rPr lang="en-US" sz="850" dirty="0">
                          <a:solidFill>
                            <a:srgbClr val="FFFFFF"/>
                          </a:solidFill>
                          <a:latin typeface="Poppins SemiBold" pitchFamily="34" charset="0"/>
                          <a:ea typeface="Poppins SemiBold" pitchFamily="34" charset="-122"/>
                          <a:cs typeface="Poppins SemiBold" pitchFamily="34" charset="-120"/>
                        </a:rPr>
                        <a:t>8,40</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tc>
                  <a:txBody>
                    <a:bodyPr/>
                    <a:lstStyle/>
                    <a:p>
                      <a:pPr marL="0" indent="0" algn="ctr">
                        <a:buNone/>
                      </a:pPr>
                      <a:r>
                        <a:rPr lang="en-US" sz="850" dirty="0">
                          <a:solidFill>
                            <a:srgbClr val="FFFFFF"/>
                          </a:solidFill>
                          <a:latin typeface="Poppins SemiBold" pitchFamily="34" charset="0"/>
                          <a:ea typeface="Poppins SemiBold" pitchFamily="34" charset="-122"/>
                          <a:cs typeface="Poppins SemiBold" pitchFamily="34" charset="-120"/>
                        </a:rPr>
                        <a:t>5,55</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tc>
                  <a:txBody>
                    <a:bodyPr/>
                    <a:lstStyle/>
                    <a:p>
                      <a:pPr marL="0" indent="0" algn="ctr">
                        <a:buNone/>
                      </a:pPr>
                      <a:r>
                        <a:rPr lang="en-US" sz="850" dirty="0">
                          <a:solidFill>
                            <a:srgbClr val="FFFFFF"/>
                          </a:solidFill>
                          <a:latin typeface="Poppins SemiBold" pitchFamily="34" charset="0"/>
                          <a:ea typeface="Poppins SemiBold" pitchFamily="34" charset="-122"/>
                          <a:cs typeface="Poppins SemiBold" pitchFamily="34" charset="-120"/>
                        </a:rPr>
                        <a:t>6,55</a:t>
                      </a:r>
                      <a:endParaRPr lang="en-US" sz="850" dirty="0">
                        <a:latin typeface="Poppins SemiBold" charset="0"/>
                        <a:ea typeface="Poppins SemiBold" charset="0"/>
                        <a:cs typeface="Poppins SemiBold" charset="0"/>
                      </a:endParaRPr>
                    </a:p>
                  </a:txBody>
                  <a:tcPr marL="63500" marR="63500" marT="38100" marB="38100" anchor="ctr">
                    <a:lnL w="9525" cap="flat" cmpd="sng" algn="ctr">
                      <a:solidFill>
                        <a:srgbClr val="1B0F10"/>
                      </a:solidFill>
                      <a:prstDash val="solid"/>
                      <a:round/>
                      <a:headEnd type="none" w="med" len="med"/>
                      <a:tailEnd type="none" w="med" len="med"/>
                    </a:lnL>
                    <a:lnR w="9525" cap="flat" cmpd="sng" algn="ctr">
                      <a:solidFill>
                        <a:srgbClr val="1B0F10"/>
                      </a:solidFill>
                      <a:prstDash val="solid"/>
                      <a:round/>
                      <a:headEnd type="none" w="med" len="med"/>
                      <a:tailEnd type="none" w="med" len="med"/>
                    </a:lnR>
                    <a:lnT w="9525" cap="flat" cmpd="sng" algn="ctr">
                      <a:solidFill>
                        <a:srgbClr val="1B0F10"/>
                      </a:solidFill>
                      <a:prstDash val="solid"/>
                      <a:round/>
                      <a:headEnd type="none" w="med" len="med"/>
                      <a:tailEnd type="none" w="med" len="med"/>
                    </a:lnT>
                    <a:lnB w="9525" cap="flat" cmpd="sng" algn="ctr">
                      <a:solidFill>
                        <a:srgbClr val="1B0F10"/>
                      </a:solidFill>
                      <a:prstDash val="solid"/>
                      <a:round/>
                      <a:headEnd type="none" w="med" len="med"/>
                      <a:tailEnd type="none" w="med" len="med"/>
                    </a:lnB>
                    <a:solidFill>
                      <a:srgbClr val="120A0B"/>
                    </a:solidFill>
                  </a:tcPr>
                </a:tc>
                <a:extLst>
                  <a:ext uri="{0D108BD9-81ED-4DB2-BD59-A6C34878D82A}">
                    <a16:rowId xmlns:a16="http://schemas.microsoft.com/office/drawing/2014/main" val="10010"/>
                  </a:ext>
                </a:extLst>
              </a:tr>
            </a:tbl>
          </a:graphicData>
        </a:graphic>
      </p:graphicFrame>
      <p:sp>
        <p:nvSpPr>
          <p:cNvPr id="11" name="Shape 7"/>
          <p:cNvSpPr/>
          <p:nvPr/>
        </p:nvSpPr>
        <p:spPr>
          <a:xfrm>
            <a:off x="548640" y="4873752"/>
            <a:ext cx="3545738" cy="914400"/>
          </a:xfrm>
          <a:prstGeom prst="rect">
            <a:avLst/>
          </a:prstGeom>
          <a:solidFill>
            <a:srgbClr val="C8102E"/>
          </a:solidFill>
          <a:ln w="12700">
            <a:solidFill>
              <a:srgbClr val="C8102E"/>
            </a:solidFill>
            <a:prstDash val="solid"/>
          </a:ln>
        </p:spPr>
      </p:sp>
      <p:sp>
        <p:nvSpPr>
          <p:cNvPr id="12" name="Text 8"/>
          <p:cNvSpPr/>
          <p:nvPr/>
        </p:nvSpPr>
        <p:spPr>
          <a:xfrm>
            <a:off x="749808" y="4965192"/>
            <a:ext cx="3179978" cy="320040"/>
          </a:xfrm>
          <a:prstGeom prst="rect">
            <a:avLst/>
          </a:prstGeom>
          <a:noFill/>
          <a:ln/>
        </p:spPr>
        <p:txBody>
          <a:bodyPr wrap="square" lIns="0" tIns="0" rIns="0" bIns="0" rtlCol="0" anchor="t"/>
          <a:lstStyle/>
          <a:p>
            <a:pPr marL="0" indent="0">
              <a:buNone/>
            </a:pPr>
            <a:r>
              <a:rPr lang="en-US" sz="1400" dirty="0">
                <a:solidFill>
                  <a:srgbClr val="FBE122"/>
                </a:solidFill>
                <a:latin typeface="Poppins ExtraBold" pitchFamily="34" charset="0"/>
                <a:ea typeface="Poppins ExtraBold" pitchFamily="34" charset="-122"/>
                <a:cs typeface="Poppins ExtraBold" pitchFamily="34" charset="-120"/>
              </a:rPr>
              <a:t>Unggul 0,25 poin</a:t>
            </a:r>
            <a:endParaRPr lang="en-US" sz="1400" dirty="0"/>
          </a:p>
        </p:txBody>
      </p:sp>
      <p:sp>
        <p:nvSpPr>
          <p:cNvPr id="13" name="Text 9"/>
          <p:cNvSpPr/>
          <p:nvPr/>
        </p:nvSpPr>
        <p:spPr>
          <a:xfrm>
            <a:off x="749808" y="5285232"/>
            <a:ext cx="3179978" cy="502920"/>
          </a:xfrm>
          <a:prstGeom prst="rect">
            <a:avLst/>
          </a:prstGeom>
          <a:noFill/>
          <a:ln/>
        </p:spPr>
        <p:txBody>
          <a:bodyPr wrap="square" lIns="0" tIns="0" rIns="0" bIns="0" rtlCol="0" anchor="t"/>
          <a:lstStyle/>
          <a:p>
            <a:pPr marL="0" indent="0">
              <a:lnSpc>
                <a:spcPct val="104000"/>
              </a:lnSpc>
              <a:buNone/>
            </a:pPr>
            <a:r>
              <a:rPr lang="en-US" sz="900" dirty="0">
                <a:solidFill>
                  <a:srgbClr val="FFFFFF"/>
                </a:solidFill>
                <a:latin typeface="Poppins" pitchFamily="34" charset="0"/>
                <a:ea typeface="Poppins" pitchFamily="34" charset="-122"/>
                <a:cs typeface="Poppins" pitchFamily="34" charset="-120"/>
              </a:rPr>
              <a:t>MU 8,65 vs Barcelona 8,40. Tipis: cukup satu baris turun untuk menghapusnya.</a:t>
            </a:r>
            <a:endParaRPr lang="en-US" sz="900" dirty="0"/>
          </a:p>
        </p:txBody>
      </p:sp>
      <p:sp>
        <p:nvSpPr>
          <p:cNvPr id="14" name="Shape 10"/>
          <p:cNvSpPr/>
          <p:nvPr/>
        </p:nvSpPr>
        <p:spPr>
          <a:xfrm>
            <a:off x="4322978" y="4873752"/>
            <a:ext cx="3545738" cy="914400"/>
          </a:xfrm>
          <a:prstGeom prst="rect">
            <a:avLst/>
          </a:prstGeom>
          <a:solidFill>
            <a:srgbClr val="27161A"/>
          </a:solidFill>
          <a:ln w="12700">
            <a:solidFill>
              <a:srgbClr val="27161A"/>
            </a:solidFill>
            <a:prstDash val="solid"/>
          </a:ln>
        </p:spPr>
      </p:sp>
      <p:sp>
        <p:nvSpPr>
          <p:cNvPr id="15" name="Text 11"/>
          <p:cNvSpPr/>
          <p:nvPr/>
        </p:nvSpPr>
        <p:spPr>
          <a:xfrm>
            <a:off x="4524146" y="4965192"/>
            <a:ext cx="3179978" cy="320040"/>
          </a:xfrm>
          <a:prstGeom prst="rect">
            <a:avLst/>
          </a:prstGeom>
          <a:noFill/>
          <a:ln/>
        </p:spPr>
        <p:txBody>
          <a:bodyPr wrap="square" lIns="0" tIns="0" rIns="0" bIns="0" rtlCol="0" anchor="t"/>
          <a:lstStyle/>
          <a:p>
            <a:pPr marL="0" indent="0">
              <a:buNone/>
            </a:pPr>
            <a:r>
              <a:rPr lang="en-US" sz="1400" dirty="0">
                <a:solidFill>
                  <a:srgbClr val="FFFFFF"/>
                </a:solidFill>
                <a:latin typeface="Poppins ExtraBold" pitchFamily="34" charset="0"/>
                <a:ea typeface="Poppins ExtraBold" pitchFamily="34" charset="-122"/>
                <a:cs typeface="Poppins ExtraBold" pitchFamily="34" charset="-120"/>
              </a:rPr>
              <a:t>Turun ke 7,90</a:t>
            </a:r>
            <a:endParaRPr lang="en-US" sz="1400" dirty="0"/>
          </a:p>
        </p:txBody>
      </p:sp>
      <p:sp>
        <p:nvSpPr>
          <p:cNvPr id="16" name="Text 12"/>
          <p:cNvSpPr/>
          <p:nvPr/>
        </p:nvSpPr>
        <p:spPr>
          <a:xfrm>
            <a:off x="4524146" y="5285232"/>
            <a:ext cx="3179978" cy="502920"/>
          </a:xfrm>
          <a:prstGeom prst="rect">
            <a:avLst/>
          </a:prstGeom>
          <a:noFill/>
          <a:ln/>
        </p:spPr>
        <p:txBody>
          <a:bodyPr wrap="square" lIns="0" tIns="0" rIns="0" bIns="0" rtlCol="0" anchor="t"/>
          <a:lstStyle/>
          <a:p>
            <a:pPr marL="0" indent="0">
              <a:lnSpc>
                <a:spcPct val="104000"/>
              </a:lnSpc>
              <a:buNone/>
            </a:pPr>
            <a:r>
              <a:rPr lang="en-US" sz="900" dirty="0">
                <a:solidFill>
                  <a:srgbClr val="D9CFC7"/>
                </a:solidFill>
                <a:latin typeface="Poppins" pitchFamily="34" charset="0"/>
                <a:ea typeface="Poppins" pitchFamily="34" charset="-122"/>
                <a:cs typeface="Poppins" pitchFamily="34" charset="-120"/>
              </a:rPr>
              <a:t>Kalau rating manajer jatuh dari 10 ke 5 karena ganti pelatih, MU langsung di bawah Barcelona.</a:t>
            </a:r>
            <a:endParaRPr lang="en-US" sz="900" dirty="0"/>
          </a:p>
        </p:txBody>
      </p:sp>
      <p:sp>
        <p:nvSpPr>
          <p:cNvPr id="17" name="Shape 13"/>
          <p:cNvSpPr/>
          <p:nvPr/>
        </p:nvSpPr>
        <p:spPr>
          <a:xfrm>
            <a:off x="8097317" y="4873752"/>
            <a:ext cx="3545738" cy="914400"/>
          </a:xfrm>
          <a:prstGeom prst="rect">
            <a:avLst/>
          </a:prstGeom>
          <a:solidFill>
            <a:srgbClr val="27161A"/>
          </a:solidFill>
          <a:ln w="12700">
            <a:solidFill>
              <a:srgbClr val="27161A"/>
            </a:solidFill>
            <a:prstDash val="solid"/>
          </a:ln>
        </p:spPr>
      </p:sp>
      <p:sp>
        <p:nvSpPr>
          <p:cNvPr id="18" name="Text 14"/>
          <p:cNvSpPr/>
          <p:nvPr/>
        </p:nvSpPr>
        <p:spPr>
          <a:xfrm>
            <a:off x="8298485" y="4965192"/>
            <a:ext cx="3179978" cy="320040"/>
          </a:xfrm>
          <a:prstGeom prst="rect">
            <a:avLst/>
          </a:prstGeom>
          <a:noFill/>
          <a:ln/>
        </p:spPr>
        <p:txBody>
          <a:bodyPr wrap="square" lIns="0" tIns="0" rIns="0" bIns="0" rtlCol="0" anchor="t"/>
          <a:lstStyle/>
          <a:p>
            <a:pPr marL="0" indent="0">
              <a:buNone/>
            </a:pPr>
            <a:r>
              <a:rPr lang="en-US" sz="1400" dirty="0">
                <a:solidFill>
                  <a:srgbClr val="FFFFFF"/>
                </a:solidFill>
                <a:latin typeface="Poppins ExtraBold" pitchFamily="34" charset="0"/>
                <a:ea typeface="Poppins ExtraBold" pitchFamily="34" charset="-122"/>
                <a:cs typeface="Poppins ExtraBold" pitchFamily="34" charset="-120"/>
              </a:rPr>
              <a:t>Butuh minimal 8,3</a:t>
            </a:r>
            <a:endParaRPr lang="en-US" sz="1400" dirty="0"/>
          </a:p>
        </p:txBody>
      </p:sp>
      <p:sp>
        <p:nvSpPr>
          <p:cNvPr id="19" name="Text 15"/>
          <p:cNvSpPr/>
          <p:nvPr/>
        </p:nvSpPr>
        <p:spPr>
          <a:xfrm>
            <a:off x="8298485" y="5285232"/>
            <a:ext cx="3179978" cy="502920"/>
          </a:xfrm>
          <a:prstGeom prst="rect">
            <a:avLst/>
          </a:prstGeom>
          <a:noFill/>
          <a:ln/>
        </p:spPr>
        <p:txBody>
          <a:bodyPr wrap="square" lIns="0" tIns="0" rIns="0" bIns="0" rtlCol="0" anchor="t"/>
          <a:lstStyle/>
          <a:p>
            <a:pPr marL="0" indent="0">
              <a:lnSpc>
                <a:spcPct val="104000"/>
              </a:lnSpc>
              <a:buNone/>
            </a:pPr>
            <a:r>
              <a:rPr lang="en-US" sz="900" dirty="0">
                <a:solidFill>
                  <a:srgbClr val="D9CFC7"/>
                </a:solidFill>
                <a:latin typeface="Poppins" pitchFamily="34" charset="0"/>
                <a:ea typeface="Poppins" pitchFamily="34" charset="-122"/>
                <a:cs typeface="Poppins" pitchFamily="34" charset="-120"/>
              </a:rPr>
              <a:t>Rating yang harus dicapai pengganti Ferguson supaya MU sekadar bertahan sejajar Barcelona.</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0F10"/>
        </a:solidFill>
        <a:effectLst/>
      </p:bgPr>
    </p:bg>
    <p:spTree>
      <p:nvGrpSpPr>
        <p:cNvPr id="1" name=""/>
        <p:cNvGrpSpPr/>
        <p:nvPr/>
      </p:nvGrpSpPr>
      <p:grpSpPr>
        <a:xfrm>
          <a:off x="0" y="0"/>
          <a:ext cx="0" cy="0"/>
          <a:chOff x="0" y="0"/>
          <a:chExt cx="0" cy="0"/>
        </a:xfrm>
      </p:grpSpPr>
      <p:sp>
        <p:nvSpPr>
          <p:cNvPr id="2" name="Shape 0"/>
          <p:cNvSpPr/>
          <p:nvPr/>
        </p:nvSpPr>
        <p:spPr>
          <a:xfrm>
            <a:off x="566928" y="624078"/>
            <a:ext cx="292608" cy="54864"/>
          </a:xfrm>
          <a:prstGeom prst="rect">
            <a:avLst/>
          </a:prstGeom>
          <a:solidFill>
            <a:srgbClr val="C8102E"/>
          </a:solidFill>
          <a:ln w="12700">
            <a:solidFill>
              <a:srgbClr val="C8102E"/>
            </a:solidFill>
            <a:prstDash val="solid"/>
          </a:ln>
        </p:spPr>
      </p:sp>
      <p:sp>
        <p:nvSpPr>
          <p:cNvPr id="3" name="Text 1"/>
          <p:cNvSpPr/>
          <p:nvPr/>
        </p:nvSpPr>
        <p:spPr>
          <a:xfrm>
            <a:off x="950976" y="555498"/>
            <a:ext cx="10728655" cy="320040"/>
          </a:xfrm>
          <a:prstGeom prst="rect">
            <a:avLst/>
          </a:prstGeom>
          <a:noFill/>
          <a:ln/>
        </p:spPr>
        <p:txBody>
          <a:bodyPr wrap="square" lIns="0" tIns="0" rIns="0" bIns="0" rtlCol="0" anchor="t"/>
          <a:lstStyle/>
          <a:p>
            <a:pPr marL="0" indent="0">
              <a:buNone/>
            </a:pPr>
            <a:r>
              <a:rPr lang="en-US" sz="950" kern="0" spc="200" dirty="0">
                <a:solidFill>
                  <a:srgbClr val="C8102E"/>
                </a:solidFill>
                <a:latin typeface="Poppins SemiBold" pitchFamily="34" charset="0"/>
                <a:ea typeface="Poppins SemiBold" pitchFamily="34" charset="-122"/>
                <a:cs typeface="Poppins SemiBold" pitchFamily="34" charset="-120"/>
              </a:rPr>
              <a:t>PERTANYAAN 6  ·  PRIORITY LIST DITERAPKAN</a:t>
            </a:r>
            <a:endParaRPr lang="en-US" sz="950" dirty="0"/>
          </a:p>
        </p:txBody>
      </p:sp>
      <p:sp>
        <p:nvSpPr>
          <p:cNvPr id="4" name="Text 2"/>
          <p:cNvSpPr/>
          <p:nvPr/>
        </p:nvSpPr>
        <p:spPr>
          <a:xfrm>
            <a:off x="566928" y="852678"/>
            <a:ext cx="11094415" cy="502920"/>
          </a:xfrm>
          <a:prstGeom prst="rect">
            <a:avLst/>
          </a:prstGeom>
          <a:noFill/>
          <a:ln/>
        </p:spPr>
        <p:txBody>
          <a:bodyPr wrap="square" lIns="0" tIns="0" rIns="0" bIns="0" rtlCol="0" anchor="t"/>
          <a:lstStyle/>
          <a:p>
            <a:pPr marL="0" indent="0">
              <a:lnSpc>
                <a:spcPct val="92000"/>
              </a:lnSpc>
              <a:buNone/>
            </a:pPr>
            <a:r>
              <a:rPr lang="en-US" sz="2600" dirty="0">
                <a:solidFill>
                  <a:srgbClr val="FFFFFF"/>
                </a:solidFill>
                <a:latin typeface="Poppins ExtraBold" pitchFamily="34" charset="0"/>
                <a:ea typeface="Poppins ExtraBold" pitchFamily="34" charset="-122"/>
                <a:cs typeface="Poppins ExtraBold" pitchFamily="34" charset="-120"/>
              </a:rPr>
              <a:t>ENAM ISU UNTUK DAVID GILL</a:t>
            </a:r>
            <a:endParaRPr lang="en-US" sz="2600" dirty="0"/>
          </a:p>
        </p:txBody>
      </p:sp>
      <p:sp>
        <p:nvSpPr>
          <p:cNvPr id="6" name="Shape 4"/>
          <p:cNvSpPr/>
          <p:nvPr/>
        </p:nvSpPr>
        <p:spPr>
          <a:xfrm>
            <a:off x="548640" y="6382512"/>
            <a:ext cx="11094415" cy="9144"/>
          </a:xfrm>
          <a:prstGeom prst="rect">
            <a:avLst/>
          </a:prstGeom>
          <a:solidFill>
            <a:srgbClr val="46292D"/>
          </a:solidFill>
          <a:ln w="12700">
            <a:solidFill>
              <a:srgbClr val="46292D"/>
            </a:solidFill>
            <a:prstDash val="solid"/>
          </a:ln>
        </p:spPr>
      </p:sp>
      <p:sp>
        <p:nvSpPr>
          <p:cNvPr id="7" name="Text 5"/>
          <p:cNvSpPr/>
          <p:nvPr/>
        </p:nvSpPr>
        <p:spPr>
          <a:xfrm>
            <a:off x="548640" y="6455664"/>
            <a:ext cx="10180015" cy="274320"/>
          </a:xfrm>
          <a:prstGeom prst="rect">
            <a:avLst/>
          </a:prstGeom>
          <a:noFill/>
          <a:ln/>
        </p:spPr>
        <p:txBody>
          <a:bodyPr wrap="square" lIns="0" tIns="0" rIns="0" bIns="0" rtlCol="0" anchor="t"/>
          <a:lstStyle/>
          <a:p>
            <a:pPr marL="0" indent="0">
              <a:buNone/>
            </a:pPr>
            <a:r>
              <a:rPr lang="en-US" sz="750" dirty="0">
                <a:solidFill>
                  <a:srgbClr val="A08F8B"/>
                </a:solidFill>
                <a:latin typeface="Poppins" pitchFamily="34" charset="0"/>
                <a:ea typeface="Poppins" pitchFamily="34" charset="-122"/>
                <a:cs typeface="Poppins" pitchFamily="34" charset="-120"/>
              </a:rPr>
              <a:t>Sumber: Grant (2010), Case 6 "Manchester United: Preparing for Life without Ferguson". Rumusan mengikuti Thompson dkk. (2024) hlm. 118.</a:t>
            </a:r>
            <a:endParaRPr lang="en-US" sz="750" dirty="0"/>
          </a:p>
        </p:txBody>
      </p:sp>
      <p:sp>
        <p:nvSpPr>
          <p:cNvPr id="8" name="Text 6"/>
          <p:cNvSpPr/>
          <p:nvPr/>
        </p:nvSpPr>
        <p:spPr>
          <a:xfrm>
            <a:off x="10911535" y="6428232"/>
            <a:ext cx="731520" cy="274320"/>
          </a:xfrm>
          <a:prstGeom prst="rect">
            <a:avLst/>
          </a:prstGeom>
          <a:noFill/>
          <a:ln/>
        </p:spPr>
        <p:txBody>
          <a:bodyPr wrap="square" lIns="0" tIns="0" rIns="0" bIns="0" rtlCol="0" anchor="t"/>
          <a:lstStyle/>
          <a:p>
            <a:pPr marL="0" indent="0" algn="r">
              <a:buNone/>
            </a:pPr>
            <a:r>
              <a:rPr lang="en-US" sz="900" dirty="0">
                <a:solidFill>
                  <a:srgbClr val="C8102E"/>
                </a:solidFill>
                <a:latin typeface="Poppins SemiBold" pitchFamily="34" charset="0"/>
                <a:ea typeface="Poppins SemiBold" pitchFamily="34" charset="-122"/>
                <a:cs typeface="Poppins SemiBold" pitchFamily="34" charset="-120"/>
              </a:rPr>
              <a:t>32</a:t>
            </a:r>
            <a:endParaRPr lang="en-US" sz="900" dirty="0"/>
          </a:p>
        </p:txBody>
      </p:sp>
      <p:sp>
        <p:nvSpPr>
          <p:cNvPr id="10" name="Shape 7"/>
          <p:cNvSpPr/>
          <p:nvPr/>
        </p:nvSpPr>
        <p:spPr>
          <a:xfrm>
            <a:off x="548640" y="1755648"/>
            <a:ext cx="5432908" cy="1024128"/>
          </a:xfrm>
          <a:prstGeom prst="rect">
            <a:avLst/>
          </a:prstGeom>
          <a:solidFill>
            <a:srgbClr val="C8102E"/>
          </a:solidFill>
          <a:ln w="12700">
            <a:solidFill>
              <a:srgbClr val="C8102E"/>
            </a:solidFill>
            <a:prstDash val="solid"/>
          </a:ln>
        </p:spPr>
      </p:sp>
      <p:sp>
        <p:nvSpPr>
          <p:cNvPr id="11" name="Shape 8"/>
          <p:cNvSpPr/>
          <p:nvPr/>
        </p:nvSpPr>
        <p:spPr>
          <a:xfrm>
            <a:off x="731520" y="2029968"/>
            <a:ext cx="457200" cy="457200"/>
          </a:xfrm>
          <a:prstGeom prst="ellipse">
            <a:avLst/>
          </a:prstGeom>
          <a:solidFill>
            <a:srgbClr val="FBE122"/>
          </a:solidFill>
          <a:ln w="12700">
            <a:solidFill>
              <a:srgbClr val="FBE122"/>
            </a:solidFill>
            <a:prstDash val="solid"/>
          </a:ln>
        </p:spPr>
      </p:sp>
      <p:sp>
        <p:nvSpPr>
          <p:cNvPr id="12" name="Text 9"/>
          <p:cNvSpPr/>
          <p:nvPr/>
        </p:nvSpPr>
        <p:spPr>
          <a:xfrm>
            <a:off x="731520" y="2029968"/>
            <a:ext cx="457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ExtraBold" pitchFamily="34" charset="0"/>
                <a:ea typeface="Poppins ExtraBold" pitchFamily="34" charset="-122"/>
                <a:cs typeface="Poppins ExtraBold" pitchFamily="34" charset="-120"/>
              </a:rPr>
              <a:t>1</a:t>
            </a:r>
            <a:endParaRPr lang="en-US" sz="1200" dirty="0"/>
          </a:p>
        </p:txBody>
      </p:sp>
      <p:sp>
        <p:nvSpPr>
          <p:cNvPr id="13" name="Text 10"/>
          <p:cNvSpPr/>
          <p:nvPr/>
        </p:nvSpPr>
        <p:spPr>
          <a:xfrm>
            <a:off x="1371600" y="1865376"/>
            <a:ext cx="4427068" cy="457200"/>
          </a:xfrm>
          <a:prstGeom prst="rect">
            <a:avLst/>
          </a:prstGeom>
          <a:noFill/>
          <a:ln/>
        </p:spPr>
        <p:txBody>
          <a:bodyPr wrap="square" lIns="0" tIns="0" rIns="0" bIns="0" rtlCol="0" anchor="t"/>
          <a:lstStyle/>
          <a:p>
            <a:pPr marL="0" indent="0">
              <a:lnSpc>
                <a:spcPct val="98000"/>
              </a:lnSpc>
              <a:buNone/>
            </a:pPr>
            <a:r>
              <a:rPr lang="en-US" sz="1100" dirty="0">
                <a:solidFill>
                  <a:srgbClr val="FFFFFF"/>
                </a:solidFill>
                <a:latin typeface="Poppins SemiBold" pitchFamily="34" charset="0"/>
                <a:ea typeface="Poppins SemiBold" pitchFamily="34" charset="-122"/>
                <a:cs typeface="Poppins SemiBold" pitchFamily="34" charset="-120"/>
              </a:rPr>
              <a:t>Bagaimana mengganti Ferguson tanpa merusak sistemnya?</a:t>
            </a:r>
            <a:endParaRPr lang="en-US" sz="1100" dirty="0"/>
          </a:p>
        </p:txBody>
      </p:sp>
      <p:sp>
        <p:nvSpPr>
          <p:cNvPr id="14" name="Text 11"/>
          <p:cNvSpPr/>
          <p:nvPr/>
        </p:nvSpPr>
        <p:spPr>
          <a:xfrm>
            <a:off x="1371600" y="2304288"/>
            <a:ext cx="4427068" cy="457200"/>
          </a:xfrm>
          <a:prstGeom prst="rect">
            <a:avLst/>
          </a:prstGeom>
          <a:noFill/>
          <a:ln/>
        </p:spPr>
        <p:txBody>
          <a:bodyPr wrap="square" lIns="0" tIns="0" rIns="0" bIns="0" rtlCol="0" anchor="t"/>
          <a:lstStyle/>
          <a:p>
            <a:pPr marL="0" indent="0">
              <a:lnSpc>
                <a:spcPct val="103000"/>
              </a:lnSpc>
              <a:buNone/>
            </a:pPr>
            <a:r>
              <a:rPr lang="en-US" sz="850" dirty="0">
                <a:solidFill>
                  <a:srgbClr val="FFFFFF"/>
                </a:solidFill>
                <a:latin typeface="Poppins" pitchFamily="34" charset="0"/>
                <a:ea typeface="Poppins" pitchFamily="34" charset="-122"/>
                <a:cs typeface="Poppins" pitchFamily="34" charset="-120"/>
              </a:rPr>
              <a:t>Gill belum memutuskan; Ferguson belum mengumumkan pensiun (hlm. 573, 588).</a:t>
            </a:r>
            <a:endParaRPr lang="en-US" sz="850" dirty="0"/>
          </a:p>
        </p:txBody>
      </p:sp>
      <p:sp>
        <p:nvSpPr>
          <p:cNvPr id="15" name="Shape 12"/>
          <p:cNvSpPr/>
          <p:nvPr/>
        </p:nvSpPr>
        <p:spPr>
          <a:xfrm>
            <a:off x="6210148" y="1755648"/>
            <a:ext cx="5432908" cy="1024128"/>
          </a:xfrm>
          <a:prstGeom prst="rect">
            <a:avLst/>
          </a:prstGeom>
          <a:solidFill>
            <a:srgbClr val="27161A"/>
          </a:solidFill>
          <a:ln w="12700">
            <a:solidFill>
              <a:srgbClr val="27161A"/>
            </a:solidFill>
            <a:prstDash val="solid"/>
          </a:ln>
        </p:spPr>
      </p:sp>
      <p:sp>
        <p:nvSpPr>
          <p:cNvPr id="16" name="Shape 13"/>
          <p:cNvSpPr/>
          <p:nvPr/>
        </p:nvSpPr>
        <p:spPr>
          <a:xfrm>
            <a:off x="6393028" y="2029968"/>
            <a:ext cx="457200" cy="457200"/>
          </a:xfrm>
          <a:prstGeom prst="ellipse">
            <a:avLst/>
          </a:prstGeom>
          <a:solidFill>
            <a:srgbClr val="C8102E"/>
          </a:solidFill>
          <a:ln w="12700">
            <a:solidFill>
              <a:srgbClr val="C8102E"/>
            </a:solidFill>
            <a:prstDash val="solid"/>
          </a:ln>
        </p:spPr>
      </p:sp>
      <p:sp>
        <p:nvSpPr>
          <p:cNvPr id="17" name="Text 14"/>
          <p:cNvSpPr/>
          <p:nvPr/>
        </p:nvSpPr>
        <p:spPr>
          <a:xfrm>
            <a:off x="6393028" y="2029968"/>
            <a:ext cx="457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ExtraBold" pitchFamily="34" charset="0"/>
                <a:ea typeface="Poppins ExtraBold" pitchFamily="34" charset="-122"/>
                <a:cs typeface="Poppins ExtraBold" pitchFamily="34" charset="-120"/>
              </a:rPr>
              <a:t>2</a:t>
            </a:r>
            <a:endParaRPr lang="en-US" sz="1200" dirty="0"/>
          </a:p>
        </p:txBody>
      </p:sp>
      <p:sp>
        <p:nvSpPr>
          <p:cNvPr id="18" name="Text 15"/>
          <p:cNvSpPr/>
          <p:nvPr/>
        </p:nvSpPr>
        <p:spPr>
          <a:xfrm>
            <a:off x="7033108" y="1865376"/>
            <a:ext cx="4427068" cy="457200"/>
          </a:xfrm>
          <a:prstGeom prst="rect">
            <a:avLst/>
          </a:prstGeom>
          <a:noFill/>
          <a:ln/>
        </p:spPr>
        <p:txBody>
          <a:bodyPr wrap="square" lIns="0" tIns="0" rIns="0" bIns="0" rtlCol="0" anchor="t"/>
          <a:lstStyle/>
          <a:p>
            <a:pPr marL="0" indent="0">
              <a:lnSpc>
                <a:spcPct val="98000"/>
              </a:lnSpc>
              <a:buNone/>
            </a:pPr>
            <a:r>
              <a:rPr lang="en-US" sz="1100" dirty="0">
                <a:solidFill>
                  <a:srgbClr val="FFFFFF"/>
                </a:solidFill>
                <a:latin typeface="Poppins SemiBold" pitchFamily="34" charset="0"/>
                <a:ea typeface="Poppins SemiBold" pitchFamily="34" charset="-122"/>
                <a:cs typeface="Poppins SemiBold" pitchFamily="34" charset="-120"/>
              </a:rPr>
              <a:t>Bagaimana bersaing di bursa transfer tanpa dana pemilik?</a:t>
            </a:r>
            <a:endParaRPr lang="en-US" sz="1100" dirty="0"/>
          </a:p>
        </p:txBody>
      </p:sp>
      <p:sp>
        <p:nvSpPr>
          <p:cNvPr id="19" name="Text 16"/>
          <p:cNvSpPr/>
          <p:nvPr/>
        </p:nvSpPr>
        <p:spPr>
          <a:xfrm>
            <a:off x="7033108" y="2304288"/>
            <a:ext cx="4427068" cy="457200"/>
          </a:xfrm>
          <a:prstGeom prst="rect">
            <a:avLst/>
          </a:prstGeom>
          <a:noFill/>
          <a:ln/>
        </p:spPr>
        <p:txBody>
          <a:bodyPr wrap="square" lIns="0" tIns="0" rIns="0" bIns="0" rtlCol="0" anchor="t"/>
          <a:lstStyle/>
          <a:p>
            <a:pPr marL="0" indent="0">
              <a:lnSpc>
                <a:spcPct val="103000"/>
              </a:lnSpc>
              <a:buNone/>
            </a:pPr>
            <a:r>
              <a:rPr lang="en-US" sz="850" dirty="0">
                <a:solidFill>
                  <a:srgbClr val="D9CFC7"/>
                </a:solidFill>
                <a:latin typeface="Poppins" pitchFamily="34" charset="0"/>
                <a:ea typeface="Poppins" pitchFamily="34" charset="-122"/>
                <a:cs typeface="Poppins" pitchFamily="34" charset="-120"/>
              </a:rPr>
              <a:t>Utang £616 jt tidak menghambat belanja pemain ('proved groundless', hlm. 584), tapi MU tak dapat dana pemilik seperti City yang belanja £185 jt (hlm. 579).</a:t>
            </a:r>
            <a:endParaRPr lang="en-US" sz="850" dirty="0"/>
          </a:p>
        </p:txBody>
      </p:sp>
      <p:sp>
        <p:nvSpPr>
          <p:cNvPr id="20" name="Shape 17"/>
          <p:cNvSpPr/>
          <p:nvPr/>
        </p:nvSpPr>
        <p:spPr>
          <a:xfrm>
            <a:off x="548640" y="2916936"/>
            <a:ext cx="5432908" cy="1024128"/>
          </a:xfrm>
          <a:prstGeom prst="rect">
            <a:avLst/>
          </a:prstGeom>
          <a:solidFill>
            <a:srgbClr val="27161A"/>
          </a:solidFill>
          <a:ln w="12700">
            <a:solidFill>
              <a:srgbClr val="27161A"/>
            </a:solidFill>
            <a:prstDash val="solid"/>
          </a:ln>
        </p:spPr>
      </p:sp>
      <p:sp>
        <p:nvSpPr>
          <p:cNvPr id="21" name="Shape 18"/>
          <p:cNvSpPr/>
          <p:nvPr/>
        </p:nvSpPr>
        <p:spPr>
          <a:xfrm>
            <a:off x="731520" y="3191256"/>
            <a:ext cx="457200" cy="457200"/>
          </a:xfrm>
          <a:prstGeom prst="ellipse">
            <a:avLst/>
          </a:prstGeom>
          <a:solidFill>
            <a:srgbClr val="C8102E"/>
          </a:solidFill>
          <a:ln w="12700">
            <a:solidFill>
              <a:srgbClr val="C8102E"/>
            </a:solidFill>
            <a:prstDash val="solid"/>
          </a:ln>
        </p:spPr>
      </p:sp>
      <p:sp>
        <p:nvSpPr>
          <p:cNvPr id="22" name="Text 19"/>
          <p:cNvSpPr/>
          <p:nvPr/>
        </p:nvSpPr>
        <p:spPr>
          <a:xfrm>
            <a:off x="731520" y="3191256"/>
            <a:ext cx="457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ExtraBold" pitchFamily="34" charset="0"/>
                <a:ea typeface="Poppins ExtraBold" pitchFamily="34" charset="-122"/>
                <a:cs typeface="Poppins ExtraBold" pitchFamily="34" charset="-120"/>
              </a:rPr>
              <a:t>3</a:t>
            </a:r>
            <a:endParaRPr lang="en-US" sz="1200" dirty="0"/>
          </a:p>
        </p:txBody>
      </p:sp>
      <p:sp>
        <p:nvSpPr>
          <p:cNvPr id="23" name="Text 20"/>
          <p:cNvSpPr/>
          <p:nvPr/>
        </p:nvSpPr>
        <p:spPr>
          <a:xfrm>
            <a:off x="1371600" y="3026664"/>
            <a:ext cx="4427068" cy="457200"/>
          </a:xfrm>
          <a:prstGeom prst="rect">
            <a:avLst/>
          </a:prstGeom>
          <a:noFill/>
          <a:ln/>
        </p:spPr>
        <p:txBody>
          <a:bodyPr wrap="square" lIns="0" tIns="0" rIns="0" bIns="0" rtlCol="0" anchor="t"/>
          <a:lstStyle/>
          <a:p>
            <a:pPr marL="0" indent="0">
              <a:lnSpc>
                <a:spcPct val="98000"/>
              </a:lnSpc>
              <a:buNone/>
            </a:pPr>
            <a:r>
              <a:rPr lang="en-US" sz="1100" dirty="0">
                <a:solidFill>
                  <a:srgbClr val="FFFFFF"/>
                </a:solidFill>
                <a:latin typeface="Poppins SemiBold" pitchFamily="34" charset="0"/>
                <a:ea typeface="Poppins SemiBold" pitchFamily="34" charset="-122"/>
                <a:cs typeface="Poppins SemiBold" pitchFamily="34" charset="-120"/>
              </a:rPr>
              <a:t>Bagaimana menambal skuad setelah Ronaldo pergi?</a:t>
            </a:r>
            <a:endParaRPr lang="en-US" sz="1100" dirty="0"/>
          </a:p>
        </p:txBody>
      </p:sp>
      <p:sp>
        <p:nvSpPr>
          <p:cNvPr id="24" name="Text 21"/>
          <p:cNvSpPr/>
          <p:nvPr/>
        </p:nvSpPr>
        <p:spPr>
          <a:xfrm>
            <a:off x="1371600" y="3465576"/>
            <a:ext cx="4427068" cy="457200"/>
          </a:xfrm>
          <a:prstGeom prst="rect">
            <a:avLst/>
          </a:prstGeom>
          <a:noFill/>
          <a:ln/>
        </p:spPr>
        <p:txBody>
          <a:bodyPr wrap="square" lIns="0" tIns="0" rIns="0" bIns="0" rtlCol="0" anchor="t"/>
          <a:lstStyle/>
          <a:p>
            <a:pPr marL="0" indent="0">
              <a:lnSpc>
                <a:spcPct val="103000"/>
              </a:lnSpc>
              <a:buNone/>
            </a:pPr>
            <a:r>
              <a:rPr lang="en-US" sz="850" dirty="0">
                <a:solidFill>
                  <a:srgbClr val="D9CFC7"/>
                </a:solidFill>
                <a:latin typeface="Poppins" pitchFamily="34" charset="0"/>
                <a:ea typeface="Poppins" pitchFamily="34" charset="-122"/>
                <a:cs typeface="Poppins" pitchFamily="34" charset="-120"/>
              </a:rPr>
              <a:t>Tidak ada lagi pemain MU di peringkat FIFA Table 6.3. Media menunggu apakah kas Ronaldo dipakai membeli Ribéry (hlm. 588).</a:t>
            </a:r>
            <a:endParaRPr lang="en-US" sz="850" dirty="0"/>
          </a:p>
        </p:txBody>
      </p:sp>
      <p:sp>
        <p:nvSpPr>
          <p:cNvPr id="25" name="Shape 22"/>
          <p:cNvSpPr/>
          <p:nvPr/>
        </p:nvSpPr>
        <p:spPr>
          <a:xfrm>
            <a:off x="6210148" y="2916936"/>
            <a:ext cx="5432908" cy="1024128"/>
          </a:xfrm>
          <a:prstGeom prst="rect">
            <a:avLst/>
          </a:prstGeom>
          <a:solidFill>
            <a:srgbClr val="C8102E"/>
          </a:solidFill>
          <a:ln w="12700">
            <a:solidFill>
              <a:srgbClr val="C8102E"/>
            </a:solidFill>
            <a:prstDash val="solid"/>
          </a:ln>
        </p:spPr>
      </p:sp>
      <p:sp>
        <p:nvSpPr>
          <p:cNvPr id="26" name="Shape 23"/>
          <p:cNvSpPr/>
          <p:nvPr/>
        </p:nvSpPr>
        <p:spPr>
          <a:xfrm>
            <a:off x="6393028" y="3191256"/>
            <a:ext cx="457200" cy="457200"/>
          </a:xfrm>
          <a:prstGeom prst="ellipse">
            <a:avLst/>
          </a:prstGeom>
          <a:solidFill>
            <a:srgbClr val="FBE122"/>
          </a:solidFill>
          <a:ln w="12700">
            <a:solidFill>
              <a:srgbClr val="FBE122"/>
            </a:solidFill>
            <a:prstDash val="solid"/>
          </a:ln>
        </p:spPr>
      </p:sp>
      <p:sp>
        <p:nvSpPr>
          <p:cNvPr id="27" name="Text 24"/>
          <p:cNvSpPr/>
          <p:nvPr/>
        </p:nvSpPr>
        <p:spPr>
          <a:xfrm>
            <a:off x="6393028" y="3191256"/>
            <a:ext cx="457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ExtraBold" pitchFamily="34" charset="0"/>
                <a:ea typeface="Poppins ExtraBold" pitchFamily="34" charset="-122"/>
                <a:cs typeface="Poppins ExtraBold" pitchFamily="34" charset="-120"/>
              </a:rPr>
              <a:t>4</a:t>
            </a:r>
            <a:endParaRPr lang="en-US" sz="1200" dirty="0"/>
          </a:p>
        </p:txBody>
      </p:sp>
      <p:sp>
        <p:nvSpPr>
          <p:cNvPr id="28" name="Text 25"/>
          <p:cNvSpPr/>
          <p:nvPr/>
        </p:nvSpPr>
        <p:spPr>
          <a:xfrm>
            <a:off x="7033108" y="3026664"/>
            <a:ext cx="4427068" cy="457200"/>
          </a:xfrm>
          <a:prstGeom prst="rect">
            <a:avLst/>
          </a:prstGeom>
          <a:noFill/>
          <a:ln/>
        </p:spPr>
        <p:txBody>
          <a:bodyPr wrap="square" lIns="0" tIns="0" rIns="0" bIns="0" rtlCol="0" anchor="t"/>
          <a:lstStyle/>
          <a:p>
            <a:pPr marL="0" indent="0">
              <a:lnSpc>
                <a:spcPct val="98000"/>
              </a:lnSpc>
              <a:buNone/>
            </a:pPr>
            <a:r>
              <a:rPr lang="en-US" sz="1100" dirty="0">
                <a:solidFill>
                  <a:srgbClr val="FFFFFF"/>
                </a:solidFill>
                <a:latin typeface="Poppins SemiBold" pitchFamily="34" charset="0"/>
                <a:ea typeface="Poppins SemiBold" pitchFamily="34" charset="-122"/>
                <a:cs typeface="Poppins SemiBold" pitchFamily="34" charset="-120"/>
              </a:rPr>
              <a:t>Apakah perlu director of football untuk menopang sistem?</a:t>
            </a:r>
            <a:endParaRPr lang="en-US" sz="1100" dirty="0"/>
          </a:p>
        </p:txBody>
      </p:sp>
      <p:sp>
        <p:nvSpPr>
          <p:cNvPr id="29" name="Text 26"/>
          <p:cNvSpPr/>
          <p:nvPr/>
        </p:nvSpPr>
        <p:spPr>
          <a:xfrm>
            <a:off x="7033108" y="3465576"/>
            <a:ext cx="4427068" cy="457200"/>
          </a:xfrm>
          <a:prstGeom prst="rect">
            <a:avLst/>
          </a:prstGeom>
          <a:noFill/>
          <a:ln/>
        </p:spPr>
        <p:txBody>
          <a:bodyPr wrap="square" lIns="0" tIns="0" rIns="0" bIns="0" rtlCol="0" anchor="t"/>
          <a:lstStyle/>
          <a:p>
            <a:pPr marL="0" indent="0">
              <a:lnSpc>
                <a:spcPct val="103000"/>
              </a:lnSpc>
              <a:buNone/>
            </a:pPr>
            <a:r>
              <a:rPr lang="en-US" sz="850" dirty="0">
                <a:solidFill>
                  <a:srgbClr val="FFFFFF"/>
                </a:solidFill>
                <a:latin typeface="Poppins" pitchFamily="34" charset="0"/>
                <a:ea typeface="Poppins" pitchFamily="34" charset="-122"/>
                <a:cs typeface="Poppins" pitchFamily="34" charset="-120"/>
              </a:rPr>
              <a:t>Seluruh sistem pemanduan bakat, latihan, dan taktik dibangun satu orang (hlm. 573). Di Inggris posisi ini sering memicu konflik dengan manajer (hlm. 581).</a:t>
            </a:r>
            <a:endParaRPr lang="en-US" sz="850" dirty="0"/>
          </a:p>
        </p:txBody>
      </p:sp>
      <p:sp>
        <p:nvSpPr>
          <p:cNvPr id="30" name="Shape 27"/>
          <p:cNvSpPr/>
          <p:nvPr/>
        </p:nvSpPr>
        <p:spPr>
          <a:xfrm>
            <a:off x="548640" y="4078224"/>
            <a:ext cx="5432908" cy="1024128"/>
          </a:xfrm>
          <a:prstGeom prst="rect">
            <a:avLst/>
          </a:prstGeom>
          <a:solidFill>
            <a:srgbClr val="27161A"/>
          </a:solidFill>
          <a:ln w="12700">
            <a:solidFill>
              <a:srgbClr val="27161A"/>
            </a:solidFill>
            <a:prstDash val="solid"/>
          </a:ln>
        </p:spPr>
      </p:sp>
      <p:sp>
        <p:nvSpPr>
          <p:cNvPr id="31" name="Shape 28"/>
          <p:cNvSpPr/>
          <p:nvPr/>
        </p:nvSpPr>
        <p:spPr>
          <a:xfrm>
            <a:off x="731520" y="4352544"/>
            <a:ext cx="457200" cy="457200"/>
          </a:xfrm>
          <a:prstGeom prst="ellipse">
            <a:avLst/>
          </a:prstGeom>
          <a:solidFill>
            <a:srgbClr val="C8102E"/>
          </a:solidFill>
          <a:ln w="12700">
            <a:solidFill>
              <a:srgbClr val="C8102E"/>
            </a:solidFill>
            <a:prstDash val="solid"/>
          </a:ln>
        </p:spPr>
      </p:sp>
      <p:sp>
        <p:nvSpPr>
          <p:cNvPr id="32" name="Text 29"/>
          <p:cNvSpPr/>
          <p:nvPr/>
        </p:nvSpPr>
        <p:spPr>
          <a:xfrm>
            <a:off x="731520" y="4352544"/>
            <a:ext cx="457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ExtraBold" pitchFamily="34" charset="0"/>
                <a:ea typeface="Poppins ExtraBold" pitchFamily="34" charset="-122"/>
                <a:cs typeface="Poppins ExtraBold" pitchFamily="34" charset="-120"/>
              </a:rPr>
              <a:t>5</a:t>
            </a:r>
            <a:endParaRPr lang="en-US" sz="1200" dirty="0"/>
          </a:p>
        </p:txBody>
      </p:sp>
      <p:sp>
        <p:nvSpPr>
          <p:cNvPr id="33" name="Text 30"/>
          <p:cNvSpPr/>
          <p:nvPr/>
        </p:nvSpPr>
        <p:spPr>
          <a:xfrm>
            <a:off x="1371600" y="4187952"/>
            <a:ext cx="4427068" cy="457200"/>
          </a:xfrm>
          <a:prstGeom prst="rect">
            <a:avLst/>
          </a:prstGeom>
          <a:noFill/>
          <a:ln/>
        </p:spPr>
        <p:txBody>
          <a:bodyPr wrap="square" lIns="0" tIns="0" rIns="0" bIns="0" rtlCol="0" anchor="t"/>
          <a:lstStyle/>
          <a:p>
            <a:pPr marL="0" indent="0">
              <a:lnSpc>
                <a:spcPct val="98000"/>
              </a:lnSpc>
              <a:buNone/>
            </a:pPr>
            <a:r>
              <a:rPr lang="en-US" sz="1100" dirty="0">
                <a:solidFill>
                  <a:srgbClr val="FFFFFF"/>
                </a:solidFill>
                <a:latin typeface="Poppins SemiBold" pitchFamily="34" charset="0"/>
                <a:ea typeface="Poppins SemiBold" pitchFamily="34" charset="-122"/>
                <a:cs typeface="Poppins SemiBold" pitchFamily="34" charset="-120"/>
              </a:rPr>
              <a:t>Bagaimana menjaga pendapatan komersial kalau prestasi turun?</a:t>
            </a:r>
            <a:endParaRPr lang="en-US" sz="1100" dirty="0"/>
          </a:p>
        </p:txBody>
      </p:sp>
      <p:sp>
        <p:nvSpPr>
          <p:cNvPr id="34" name="Text 31"/>
          <p:cNvSpPr/>
          <p:nvPr/>
        </p:nvSpPr>
        <p:spPr>
          <a:xfrm>
            <a:off x="1371600" y="4626864"/>
            <a:ext cx="4427068" cy="457200"/>
          </a:xfrm>
          <a:prstGeom prst="rect">
            <a:avLst/>
          </a:prstGeom>
          <a:noFill/>
          <a:ln/>
        </p:spPr>
        <p:txBody>
          <a:bodyPr wrap="square" lIns="0" tIns="0" rIns="0" bIns="0" rtlCol="0" anchor="t"/>
          <a:lstStyle/>
          <a:p>
            <a:pPr marL="0" indent="0">
              <a:lnSpc>
                <a:spcPct val="103000"/>
              </a:lnSpc>
              <a:buNone/>
            </a:pPr>
            <a:r>
              <a:rPr lang="en-US" sz="850" dirty="0">
                <a:solidFill>
                  <a:srgbClr val="D9CFC7"/>
                </a:solidFill>
                <a:latin typeface="Poppins" pitchFamily="34" charset="0"/>
                <a:ea typeface="Poppins" pitchFamily="34" charset="-122"/>
                <a:cs typeface="Poppins" pitchFamily="34" charset="-120"/>
              </a:rPr>
              <a:t>Gill: "So long as the team kept winning games … the commercial revenues … would continue to flow" (hlm. 573).</a:t>
            </a:r>
            <a:endParaRPr lang="en-US" sz="850" dirty="0"/>
          </a:p>
        </p:txBody>
      </p:sp>
      <p:sp>
        <p:nvSpPr>
          <p:cNvPr id="35" name="Shape 32"/>
          <p:cNvSpPr/>
          <p:nvPr/>
        </p:nvSpPr>
        <p:spPr>
          <a:xfrm>
            <a:off x="6210148" y="4078224"/>
            <a:ext cx="5432908" cy="1024128"/>
          </a:xfrm>
          <a:prstGeom prst="rect">
            <a:avLst/>
          </a:prstGeom>
          <a:solidFill>
            <a:srgbClr val="27161A"/>
          </a:solidFill>
          <a:ln w="12700">
            <a:solidFill>
              <a:srgbClr val="27161A"/>
            </a:solidFill>
            <a:prstDash val="solid"/>
          </a:ln>
        </p:spPr>
      </p:sp>
      <p:sp>
        <p:nvSpPr>
          <p:cNvPr id="36" name="Shape 33"/>
          <p:cNvSpPr/>
          <p:nvPr/>
        </p:nvSpPr>
        <p:spPr>
          <a:xfrm>
            <a:off x="6393028" y="4352544"/>
            <a:ext cx="457200" cy="457200"/>
          </a:xfrm>
          <a:prstGeom prst="ellipse">
            <a:avLst/>
          </a:prstGeom>
          <a:solidFill>
            <a:srgbClr val="C8102E"/>
          </a:solidFill>
          <a:ln w="12700">
            <a:solidFill>
              <a:srgbClr val="C8102E"/>
            </a:solidFill>
            <a:prstDash val="solid"/>
          </a:ln>
        </p:spPr>
      </p:sp>
      <p:sp>
        <p:nvSpPr>
          <p:cNvPr id="37" name="Text 34"/>
          <p:cNvSpPr/>
          <p:nvPr/>
        </p:nvSpPr>
        <p:spPr>
          <a:xfrm>
            <a:off x="6393028" y="4352544"/>
            <a:ext cx="45720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Poppins ExtraBold" pitchFamily="34" charset="0"/>
                <a:ea typeface="Poppins ExtraBold" pitchFamily="34" charset="-122"/>
                <a:cs typeface="Poppins ExtraBold" pitchFamily="34" charset="-120"/>
              </a:rPr>
              <a:t>6</a:t>
            </a:r>
            <a:endParaRPr lang="en-US" sz="1200" dirty="0"/>
          </a:p>
        </p:txBody>
      </p:sp>
      <p:sp>
        <p:nvSpPr>
          <p:cNvPr id="38" name="Text 35"/>
          <p:cNvSpPr/>
          <p:nvPr/>
        </p:nvSpPr>
        <p:spPr>
          <a:xfrm>
            <a:off x="7033108" y="4187952"/>
            <a:ext cx="4427068" cy="457200"/>
          </a:xfrm>
          <a:prstGeom prst="rect">
            <a:avLst/>
          </a:prstGeom>
          <a:noFill/>
          <a:ln/>
        </p:spPr>
        <p:txBody>
          <a:bodyPr wrap="square" lIns="0" tIns="0" rIns="0" bIns="0" rtlCol="0" anchor="t"/>
          <a:lstStyle/>
          <a:p>
            <a:pPr marL="0" indent="0">
              <a:lnSpc>
                <a:spcPct val="98000"/>
              </a:lnSpc>
              <a:buNone/>
            </a:pPr>
            <a:r>
              <a:rPr lang="en-US" sz="1100" dirty="0">
                <a:solidFill>
                  <a:srgbClr val="FFFFFF"/>
                </a:solidFill>
                <a:latin typeface="Poppins SemiBold" pitchFamily="34" charset="0"/>
                <a:ea typeface="Poppins SemiBold" pitchFamily="34" charset="-122"/>
                <a:cs typeface="Poppins SemiBold" pitchFamily="34" charset="-120"/>
              </a:rPr>
              <a:t>Apakah pemilik tetap pasif setelah Ferguson pergi?</a:t>
            </a:r>
            <a:endParaRPr lang="en-US" sz="1100" dirty="0"/>
          </a:p>
        </p:txBody>
      </p:sp>
      <p:sp>
        <p:nvSpPr>
          <p:cNvPr id="39" name="Text 36"/>
          <p:cNvSpPr/>
          <p:nvPr/>
        </p:nvSpPr>
        <p:spPr>
          <a:xfrm>
            <a:off x="7033108" y="4626864"/>
            <a:ext cx="4427068" cy="457200"/>
          </a:xfrm>
          <a:prstGeom prst="rect">
            <a:avLst/>
          </a:prstGeom>
          <a:noFill/>
          <a:ln/>
        </p:spPr>
        <p:txBody>
          <a:bodyPr wrap="square" lIns="0" tIns="0" rIns="0" bIns="0" rtlCol="0" anchor="t"/>
          <a:lstStyle/>
          <a:p>
            <a:pPr marL="0" indent="0">
              <a:lnSpc>
                <a:spcPct val="103000"/>
              </a:lnSpc>
              <a:buNone/>
            </a:pPr>
            <a:r>
              <a:rPr lang="en-US" sz="850" dirty="0">
                <a:solidFill>
                  <a:srgbClr val="D9CFC7"/>
                </a:solidFill>
                <a:latin typeface="Poppins" pitchFamily="34" charset="0"/>
                <a:ea typeface="Poppins" pitchFamily="34" charset="-122"/>
                <a:cs typeface="Poppins" pitchFamily="34" charset="-120"/>
              </a:rPr>
              <a:t>Peran pasif Glazer berjalan karena Ferguson dan Gill diberi kebebasan (hlm. 584). Di Chelsea, campur tangan pemilik memicu kepergian Mourinho (hlm. 581).</a:t>
            </a:r>
            <a:endParaRPr lang="en-US" sz="850" dirty="0"/>
          </a:p>
        </p:txBody>
      </p:sp>
      <p:sp>
        <p:nvSpPr>
          <p:cNvPr id="40" name="Shape 37"/>
          <p:cNvSpPr/>
          <p:nvPr/>
        </p:nvSpPr>
        <p:spPr>
          <a:xfrm>
            <a:off x="548640" y="5239512"/>
            <a:ext cx="11094415" cy="640080"/>
          </a:xfrm>
          <a:prstGeom prst="rect">
            <a:avLst/>
          </a:prstGeom>
          <a:solidFill>
            <a:srgbClr val="32191E"/>
          </a:solidFill>
          <a:ln w="12700">
            <a:solidFill>
              <a:srgbClr val="32191E"/>
            </a:solidFill>
            <a:prstDash val="solid"/>
          </a:ln>
        </p:spPr>
      </p:sp>
      <p:sp>
        <p:nvSpPr>
          <p:cNvPr id="41" name="Text 38"/>
          <p:cNvSpPr/>
          <p:nvPr/>
        </p:nvSpPr>
        <p:spPr>
          <a:xfrm>
            <a:off x="777240" y="5367528"/>
            <a:ext cx="10637215" cy="228600"/>
          </a:xfrm>
          <a:prstGeom prst="rect">
            <a:avLst/>
          </a:prstGeom>
          <a:noFill/>
          <a:ln/>
        </p:spPr>
        <p:txBody>
          <a:bodyPr wrap="square" lIns="0" tIns="0" rIns="0" bIns="0" rtlCol="0" anchor="t"/>
          <a:lstStyle/>
          <a:p>
            <a:pPr marL="0" indent="0">
              <a:buNone/>
            </a:pPr>
            <a:r>
              <a:rPr lang="en-US" sz="800" kern="0" spc="150" dirty="0">
                <a:solidFill>
                  <a:srgbClr val="FBE122"/>
                </a:solidFill>
                <a:latin typeface="Poppins SemiBold" pitchFamily="34" charset="0"/>
                <a:ea typeface="Poppins SemiBold" pitchFamily="34" charset="-122"/>
                <a:cs typeface="Poppins SemiBold" pitchFamily="34" charset="-120"/>
              </a:rPr>
              <a:t>PEMBACAAN</a:t>
            </a:r>
            <a:endParaRPr lang="en-US" sz="800" dirty="0"/>
          </a:p>
        </p:txBody>
      </p:sp>
      <p:sp>
        <p:nvSpPr>
          <p:cNvPr id="42" name="Text 39"/>
          <p:cNvSpPr/>
          <p:nvPr/>
        </p:nvSpPr>
        <p:spPr>
          <a:xfrm>
            <a:off x="777240" y="5605272"/>
            <a:ext cx="10637215" cy="182880"/>
          </a:xfrm>
          <a:prstGeom prst="rect">
            <a:avLst/>
          </a:prstGeom>
          <a:noFill/>
          <a:ln/>
        </p:spPr>
        <p:txBody>
          <a:bodyPr wrap="square" lIns="0" tIns="0" rIns="0" bIns="0" rtlCol="0" anchor="t"/>
          <a:lstStyle/>
          <a:p>
            <a:pPr marL="0" indent="0">
              <a:lnSpc>
                <a:spcPct val="108000"/>
              </a:lnSpc>
              <a:buNone/>
            </a:pPr>
            <a:r>
              <a:rPr lang="en-US" sz="1050" dirty="0">
                <a:solidFill>
                  <a:srgbClr val="FFFFFF"/>
                </a:solidFill>
                <a:latin typeface="Poppins Medium" pitchFamily="34" charset="0"/>
                <a:ea typeface="Poppins Medium" pitchFamily="34" charset="-122"/>
                <a:cs typeface="Poppins Medium" pitchFamily="34" charset="-120"/>
              </a:rPr>
              <a:t>Isu 1 dan 4 (merah) serius dan butuh strategi baru. Isu 2, 3, 5, 6 bisa ditangani dengan menyempurnakan strategi yang ada.</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grad_left.png"/>
          <p:cNvPicPr>
            <a:picLocks noChangeAspect="1"/>
          </p:cNvPicPr>
          <p:nvPr/>
        </p:nvPicPr>
        <p:blipFill>
          <a:blip r:embed="rId4"/>
          <a:stretch>
            <a:fillRect/>
          </a:stretch>
        </p:blipFill>
        <p:spPr>
          <a:xfrm>
            <a:off x="0" y="0"/>
            <a:ext cx="12191695" cy="6858000"/>
          </a:xfrm>
          <a:prstGeom prst="rect">
            <a:avLst/>
          </a:prstGeom>
        </p:spPr>
      </p:pic>
      <p:sp>
        <p:nvSpPr>
          <p:cNvPr id="4" name="Shape 0"/>
          <p:cNvSpPr/>
          <p:nvPr/>
        </p:nvSpPr>
        <p:spPr>
          <a:xfrm>
            <a:off x="640080" y="1600200"/>
            <a:ext cx="365760" cy="64008"/>
          </a:xfrm>
          <a:prstGeom prst="rect">
            <a:avLst/>
          </a:prstGeom>
          <a:solidFill>
            <a:srgbClr val="FBE122"/>
          </a:solidFill>
          <a:ln w="12700">
            <a:solidFill>
              <a:srgbClr val="FBE122"/>
            </a:solidFill>
            <a:prstDash val="solid"/>
          </a:ln>
        </p:spPr>
      </p:sp>
      <p:sp>
        <p:nvSpPr>
          <p:cNvPr id="5" name="Text 1"/>
          <p:cNvSpPr/>
          <p:nvPr/>
        </p:nvSpPr>
        <p:spPr>
          <a:xfrm>
            <a:off x="1143000" y="1577340"/>
            <a:ext cx="6400800" cy="320040"/>
          </a:xfrm>
          <a:prstGeom prst="rect">
            <a:avLst/>
          </a:prstGeom>
          <a:noFill/>
          <a:ln/>
        </p:spPr>
        <p:txBody>
          <a:bodyPr wrap="square" lIns="0" tIns="0" rIns="0" bIns="0" rtlCol="0" anchor="t"/>
          <a:lstStyle/>
          <a:p>
            <a:pPr marL="0" indent="0">
              <a:buNone/>
            </a:pPr>
            <a:r>
              <a:rPr lang="en-US" sz="1100" kern="0" spc="300" dirty="0">
                <a:solidFill>
                  <a:srgbClr val="FBE122"/>
                </a:solidFill>
                <a:latin typeface="Poppins SemiBold" pitchFamily="34" charset="0"/>
                <a:ea typeface="Poppins SemiBold" pitchFamily="34" charset="-122"/>
                <a:cs typeface="Poppins SemiBold" pitchFamily="34" charset="-120"/>
              </a:rPr>
              <a:t>STRATEGIC MANAGEMENT  ·  CHAPTER 4</a:t>
            </a:r>
            <a:endParaRPr lang="en-US" sz="1100" dirty="0"/>
          </a:p>
        </p:txBody>
      </p:sp>
      <p:sp>
        <p:nvSpPr>
          <p:cNvPr id="6" name="Text 2"/>
          <p:cNvSpPr/>
          <p:nvPr/>
        </p:nvSpPr>
        <p:spPr>
          <a:xfrm>
            <a:off x="640080" y="1965960"/>
            <a:ext cx="7040880" cy="1097280"/>
          </a:xfrm>
          <a:prstGeom prst="rect">
            <a:avLst/>
          </a:prstGeom>
          <a:noFill/>
          <a:ln/>
        </p:spPr>
        <p:txBody>
          <a:bodyPr wrap="square" lIns="0" tIns="0" rIns="0" bIns="0" rtlCol="0" anchor="t"/>
          <a:lstStyle/>
          <a:p>
            <a:pPr marL="0" indent="0">
              <a:buNone/>
            </a:pPr>
            <a:r>
              <a:rPr lang="en-US" sz="5200" dirty="0">
                <a:solidFill>
                  <a:srgbClr val="FFFFFF"/>
                </a:solidFill>
                <a:latin typeface="Poppins ExtraBold" pitchFamily="34" charset="0"/>
                <a:ea typeface="Poppins ExtraBold" pitchFamily="34" charset="-122"/>
                <a:cs typeface="Poppins ExtraBold" pitchFamily="34" charset="-120"/>
              </a:rPr>
              <a:t>TERIMA KASIH</a:t>
            </a:r>
            <a:endParaRPr lang="en-US" sz="5200" dirty="0"/>
          </a:p>
        </p:txBody>
      </p:sp>
      <p:sp>
        <p:nvSpPr>
          <p:cNvPr id="8" name="Shape 4"/>
          <p:cNvSpPr/>
          <p:nvPr/>
        </p:nvSpPr>
        <p:spPr>
          <a:xfrm>
            <a:off x="640080" y="3931920"/>
            <a:ext cx="6858000" cy="1234440"/>
          </a:xfrm>
          <a:prstGeom prst="rect">
            <a:avLst/>
          </a:prstGeom>
          <a:solidFill>
            <a:srgbClr val="C8102E"/>
          </a:solidFill>
          <a:ln w="12700">
            <a:solidFill>
              <a:srgbClr val="C8102E"/>
            </a:solidFill>
            <a:prstDash val="solid"/>
          </a:ln>
        </p:spPr>
      </p:sp>
      <p:sp>
        <p:nvSpPr>
          <p:cNvPr id="9" name="Text 5"/>
          <p:cNvSpPr/>
          <p:nvPr/>
        </p:nvSpPr>
        <p:spPr>
          <a:xfrm>
            <a:off x="868680" y="4069080"/>
            <a:ext cx="2743200" cy="228600"/>
          </a:xfrm>
          <a:prstGeom prst="rect">
            <a:avLst/>
          </a:prstGeom>
          <a:noFill/>
          <a:ln/>
        </p:spPr>
        <p:txBody>
          <a:bodyPr wrap="square" lIns="0" tIns="0" rIns="0" bIns="0" rtlCol="0" anchor="t"/>
          <a:lstStyle/>
          <a:p>
            <a:pPr marL="0" indent="0">
              <a:buNone/>
            </a:pPr>
            <a:r>
              <a:rPr lang="en-US" sz="800" kern="0" spc="200" dirty="0">
                <a:solidFill>
                  <a:srgbClr val="FBE122"/>
                </a:solidFill>
                <a:latin typeface="Poppins SemiBold" pitchFamily="34" charset="0"/>
                <a:ea typeface="Poppins SemiBold" pitchFamily="34" charset="-122"/>
                <a:cs typeface="Poppins SemiBold" pitchFamily="34" charset="-120"/>
              </a:rPr>
              <a:t>KELOMPOK 4</a:t>
            </a:r>
            <a:endParaRPr lang="en-US" sz="800" dirty="0"/>
          </a:p>
        </p:txBody>
      </p:sp>
      <p:sp>
        <p:nvSpPr>
          <p:cNvPr id="10" name="Text 6"/>
          <p:cNvSpPr/>
          <p:nvPr/>
        </p:nvSpPr>
        <p:spPr>
          <a:xfrm>
            <a:off x="868680" y="4315968"/>
            <a:ext cx="6492240" cy="731520"/>
          </a:xfrm>
          <a:prstGeom prst="rect">
            <a:avLst/>
          </a:prstGeom>
          <a:noFill/>
          <a:ln/>
        </p:spPr>
        <p:txBody>
          <a:bodyPr wrap="square" lIns="0" tIns="0" rIns="0" bIns="0" rtlCol="0" anchor="t"/>
          <a:lstStyle/>
          <a:p>
            <a:pPr marL="0" indent="0">
              <a:lnSpc>
                <a:spcPct val="110000"/>
              </a:lnSpc>
              <a:buNone/>
            </a:pPr>
            <a:r>
              <a:rPr lang="en-US" sz="1100" dirty="0">
                <a:solidFill>
                  <a:srgbClr val="FFFFFF"/>
                </a:solidFill>
                <a:latin typeface="Poppins SemiBold" pitchFamily="34" charset="0"/>
                <a:ea typeface="Poppins SemiBold" pitchFamily="34" charset="-122"/>
                <a:cs typeface="Poppins SemiBold" pitchFamily="34" charset="-120"/>
              </a:rPr>
              <a:t>Fitra Aidila  ·  Aulia Sisca Rahmadiyanti  ·  Bagaskoro  ·  Imam Prayudha  ·  Tegar Awanto</a:t>
            </a:r>
            <a:endParaRPr lang="en-US" sz="1100" dirty="0"/>
          </a:p>
        </p:txBody>
      </p:sp>
      <p:sp>
        <p:nvSpPr>
          <p:cNvPr id="11" name="Text 7"/>
          <p:cNvSpPr/>
          <p:nvPr/>
        </p:nvSpPr>
        <p:spPr>
          <a:xfrm>
            <a:off x="640080" y="5440680"/>
            <a:ext cx="7132320" cy="731520"/>
          </a:xfrm>
          <a:prstGeom prst="rect">
            <a:avLst/>
          </a:prstGeom>
          <a:noFill/>
          <a:ln/>
        </p:spPr>
        <p:txBody>
          <a:bodyPr wrap="square" lIns="0" tIns="0" rIns="0" bIns="0" rtlCol="0" anchor="t"/>
          <a:lstStyle/>
          <a:p>
            <a:pPr marL="0" indent="0">
              <a:lnSpc>
                <a:spcPct val="115000"/>
              </a:lnSpc>
              <a:buNone/>
            </a:pPr>
            <a:r>
              <a:rPr lang="en-US" sz="900" dirty="0">
                <a:solidFill>
                  <a:srgbClr val="D9CFC7"/>
                </a:solidFill>
                <a:latin typeface="Poppins" pitchFamily="34" charset="0"/>
                <a:ea typeface="Poppins" pitchFamily="34" charset="-122"/>
                <a:cs typeface="Poppins" pitchFamily="34" charset="-120"/>
              </a:rPr>
              <a:t>Strategic Management  ·  Dr. Rangga Almahendra, S.T., M.M.</a:t>
            </a:r>
            <a:endParaRPr lang="en-US" sz="900" dirty="0"/>
          </a:p>
          <a:p>
            <a:pPr marL="0" indent="0">
              <a:lnSpc>
                <a:spcPct val="115000"/>
              </a:lnSpc>
              <a:buNone/>
            </a:pPr>
            <a:r>
              <a:rPr lang="en-US" sz="900" dirty="0">
                <a:solidFill>
                  <a:srgbClr val="D9CFC7"/>
                </a:solidFill>
                <a:latin typeface="Poppins" pitchFamily="34" charset="0"/>
                <a:ea typeface="Poppins" pitchFamily="34" charset="-122"/>
                <a:cs typeface="Poppins" pitchFamily="34" charset="-120"/>
              </a:rPr>
              <a:t>Chapter 4: Thompson, Peteraf, Gamble &amp; Strickland, 2024 Release ISE   |   Kasus: Manchester United, Robert M. Grant (2010)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14090</Words>
  <Application>Microsoft Office PowerPoint</Application>
  <PresentationFormat>Widescreen</PresentationFormat>
  <Paragraphs>934</Paragraphs>
  <Slides>33</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Poppins</vt:lpstr>
      <vt:lpstr>Poppins ExtraBold</vt:lpstr>
      <vt:lpstr>Poppins Medium</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 Manchester United</dc:title>
  <dc:subject>PptxGenJS Presentation</dc:subject>
  <dc:creator>Kelompok 4</dc:creator>
  <cp:lastModifiedBy>Aulia Sisca</cp:lastModifiedBy>
  <cp:revision>6</cp:revision>
  <dcterms:created xsi:type="dcterms:W3CDTF">2026-09-30T06:56:19Z</dcterms:created>
  <dcterms:modified xsi:type="dcterms:W3CDTF">2026-09-30T11:33:42Z</dcterms:modified>
</cp:coreProperties>
</file>