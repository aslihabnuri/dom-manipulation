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Turnover</c:v>
                </c:pt>
              </c:strCache>
            </c:strRef>
          </c:tx>
          <c:spPr>
            <a:solidFill>
              <a:srgbClr val="8C837E"/>
            </a:solidFill>
            <a:ln>
              <a:noFill/>
            </a:ln>
          </c:spPr>
          <c:dPt>
            <c:idx val="7"/>
            <c:spPr>
              <a:solidFill>
                <a:srgbClr val="DA291C"/>
              </a:solidFill>
              <a:ln>
                <a:noFill/>
              </a:ln>
            </c:spPr>
          </c:dPt>
          <c:dPt>
            <c:idx val="8"/>
            <c:spPr>
              <a:solidFill>
                <a:srgbClr val="DA291C"/>
              </a:solidFill>
              <a:ln>
                <a:noFill/>
              </a:ln>
            </c:spPr>
          </c:dPt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116.0</c:v>
                </c:pt>
                <c:pt idx="1">
                  <c:v>129.6</c:v>
                </c:pt>
                <c:pt idx="2">
                  <c:v>146.1</c:v>
                </c:pt>
                <c:pt idx="3">
                  <c:v>173.0</c:v>
                </c:pt>
                <c:pt idx="4">
                  <c:v>169.1</c:v>
                </c:pt>
                <c:pt idx="5">
                  <c:v>157.2</c:v>
                </c:pt>
                <c:pt idx="6">
                  <c:v>167.8</c:v>
                </c:pt>
                <c:pt idx="7">
                  <c:v>212.2</c:v>
                </c:pt>
                <c:pt idx="8">
                  <c:v>257.1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 b="1">
                  <a:solidFill>
                    <a:srgbClr val="4A433F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4DFDA"/>
            </a:solidFill>
          </a:ln>
        </c:spPr>
        <c:txPr>
          <a:bodyPr/>
          <a:lstStyle/>
          <a:p>
            <a:pPr>
              <a:defRPr sz="1000" b="0">
                <a:solidFill>
                  <a:srgbClr val="4A433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transfer fees</c:v>
                </c:pt>
              </c:strCache>
            </c:strRef>
          </c:tx>
          <c:spPr>
            <a:solidFill>
              <a:srgbClr val="8C837E"/>
            </a:solidFill>
            <a:ln>
              <a:noFill/>
            </a:ln>
          </c:spPr>
          <c:dPt>
            <c:idx val="1"/>
            <c:spPr>
              <a:solidFill>
                <a:srgbClr val="DA291C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Arsenal</c:v>
                </c:pt>
                <c:pt idx="1">
                  <c:v>Manchester United</c:v>
                </c:pt>
                <c:pt idx="2">
                  <c:v>Bayern München</c:v>
                </c:pt>
                <c:pt idx="3">
                  <c:v>Liverpool</c:v>
                </c:pt>
                <c:pt idx="4">
                  <c:v>Barcelona</c:v>
                </c:pt>
                <c:pt idx="5">
                  <c:v>Chelsea</c:v>
                </c:pt>
                <c:pt idx="6">
                  <c:v>Real Madrid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100</c:v>
                </c:pt>
                <c:pt idx="2">
                  <c:v>122</c:v>
                </c:pt>
                <c:pt idx="3">
                  <c:v>157</c:v>
                </c:pt>
                <c:pt idx="4">
                  <c:v>249</c:v>
                </c:pt>
                <c:pt idx="5">
                  <c:v>430</c:v>
                </c:pt>
                <c:pt idx="6">
                  <c:v>438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>
                  <a:solidFill>
                    <a:srgbClr val="4A433F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4DFDA"/>
            </a:solidFill>
          </a:ln>
        </c:spPr>
        <c:txPr>
          <a:bodyPr/>
          <a:lstStyle/>
          <a:p>
            <a:pPr>
              <a:defRPr sz="1050" b="0">
                <a:solidFill>
                  <a:srgbClr val="1A1614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9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31175" y="0"/>
            <a:ext cx="4160520" cy="6858000"/>
          </a:xfrm>
          <a:prstGeom prst="rect">
            <a:avLst/>
          </a:prstGeom>
          <a:solidFill>
            <a:srgbClr val="22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1175" y="0"/>
            <a:ext cx="10972" cy="6858000"/>
          </a:xfrm>
          <a:prstGeom prst="rect">
            <a:avLst/>
          </a:prstGeom>
          <a:solidFill>
            <a:srgbClr val="3A3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932688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DA291C"/>
                </a:solidFill>
                <a:latin typeface="Calibri"/>
              </a:rPr>
              <a:t>Strategic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389888"/>
            <a:ext cx="64008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Evaluating a Company's
Resources and
Competitive Position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986784"/>
            <a:ext cx="1371600" cy="320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24528"/>
            <a:ext cx="6400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Chapter 4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 i="0">
                <a:solidFill>
                  <a:srgbClr val="A89F99"/>
                </a:solidFill>
                <a:latin typeface="Calibri"/>
              </a:rPr>
              <a:t>Thompson · Peteraf · Gamble · Strickland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 i="1">
                <a:solidFill>
                  <a:srgbClr val="8C837E"/>
                </a:solidFill>
                <a:latin typeface="Calibri"/>
              </a:rPr>
              <a:t>Crafting &amp; Executing Strategy: The Quest for Competitive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66944"/>
            <a:ext cx="6400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Studi Kasus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Manchester United: Preparing for Life without Ferguson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 i="0">
                <a:solidFill>
                  <a:srgbClr val="8C837E"/>
                </a:solidFill>
                <a:latin typeface="Calibri"/>
              </a:rPr>
              <a:t>Robert M. Grant (2010)  ·  setting Juli 2009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8103" y="10789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8C837E"/>
                </a:solidFill>
                <a:latin typeface="Calibri"/>
              </a:rPr>
              <a:t>Dosen Pengampu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8103" y="137160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Dr. Rangga Almahendra, S.T., M.M.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8103" y="2212848"/>
            <a:ext cx="3017520" cy="10972"/>
          </a:xfrm>
          <a:prstGeom prst="rect">
            <a:avLst/>
          </a:prstGeom>
          <a:solidFill>
            <a:srgbClr val="3A3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03" y="246888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8C837E"/>
                </a:solidFill>
                <a:latin typeface="Calibri"/>
              </a:rPr>
              <a:t>Kelompok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8103" y="2798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DA291C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8999" y="2798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Fitra Aidila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8103" y="3200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DA291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8999" y="3200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Aulia Sisca Rahmadiyanti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8103" y="36027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DA291C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8999" y="36027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Bagaskoro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8103" y="40050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DA291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8999" y="4005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Imam Prayudha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8103" y="4407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DA291C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8999" y="44074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Tegar Awanto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Alur Presentasi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Kami bahas kerangka teorinya lebih dulu sampai tuntas, baru menerapkannya ke kasus. Setiap framework di Bagian A punya slide pasangannya di Bagian B.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5231739" cy="33467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57984"/>
            <a:ext cx="5231739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414015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1" i="0">
                <a:solidFill>
                  <a:srgbClr val="DA291C"/>
                </a:solidFill>
                <a:latin typeface="Georgia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505456"/>
            <a:ext cx="3951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A1614"/>
                </a:solidFill>
                <a:latin typeface="Calibri"/>
              </a:rPr>
              <a:t>Kerangka Chapter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834639"/>
            <a:ext cx="3951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cap="all">
                <a:solidFill>
                  <a:srgbClr val="8C837E"/>
                </a:solidFill>
                <a:latin typeface="Calibri"/>
              </a:rPr>
              <a:t>Slide 3 –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" y="3291839"/>
            <a:ext cx="4609947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493008"/>
            <a:ext cx="460994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DA291C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Lima pertanyaan evaluasi internal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DA291C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Rasio keuangan &amp; indikator kinerja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DA291C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Resources, capabilities, uji VRIN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DA291C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Dynamic capabilities &amp; SWOT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DA291C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Value chain analysis &amp; benchmarking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DA291C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Weighted competitive strength assessment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1587" y="2157984"/>
            <a:ext cx="5231739" cy="33467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1587" y="2157984"/>
            <a:ext cx="5231739" cy="5029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2483" y="2414015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1" i="0">
                <a:solidFill>
                  <a:srgbClr val="1A1614"/>
                </a:solidFill>
                <a:latin typeface="Georgia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9139" y="2505456"/>
            <a:ext cx="3951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A1614"/>
                </a:solidFill>
                <a:latin typeface="Calibri"/>
              </a:rPr>
              <a:t>Penerapan: Manchester United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9139" y="2834639"/>
            <a:ext cx="3951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cap="all">
                <a:solidFill>
                  <a:srgbClr val="8C837E"/>
                </a:solidFill>
                <a:latin typeface="Calibri"/>
              </a:rPr>
              <a:t>Slide 16 – 31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12483" y="3291839"/>
            <a:ext cx="4609947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2483" y="3493008"/>
            <a:ext cx="460994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1A1614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Profil kasus &amp; konteks industri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1A1614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Q1: kinerja sporting dan finansial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1A1614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Q2: inventarisasi resource &amp; uji VRIN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1A1614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Q3: rantai nilai dan struktur biaya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1A1614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Q4: matriks kekuatan kompetitif</a:t>
            </a:r>
          </a:p>
          <a:p>
            <a:pPr marL="237744" indent="-237744">
              <a:lnSpc>
                <a:spcPct val="116000"/>
              </a:lnSpc>
              <a:spcAft>
                <a:spcPts val="800"/>
              </a:spcAft>
            </a:pPr>
            <a:r>
              <a:rPr sz="1250" b="1">
                <a:solidFill>
                  <a:srgbClr val="1A1614"/>
                </a:solidFill>
                <a:latin typeface="Calibri"/>
              </a:rPr>
              <a:t>·  </a:t>
            </a:r>
            <a:r>
              <a:rPr sz="1250">
                <a:solidFill>
                  <a:srgbClr val="4A433F"/>
                </a:solidFill>
                <a:latin typeface="Calibri"/>
              </a:rPr>
              <a:t>Q5: worry list &amp; rekomendasi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DA291C"/>
                </a:solidFill>
                <a:latin typeface="Calibri"/>
              </a:rPr>
              <a:t>Bagian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298448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Kerangka
Chapter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46704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A89F99"/>
                </a:solidFill>
                <a:latin typeface="Calibri"/>
              </a:rPr>
              <a:t>Chapter 4 bukan kumpulan framework yang berdiri sendiri. Isinya adalah satu alur diagnosis internal yang disusun sebagai lima pertanyaan berurutan — jawaban pertanyaan sebelumnya menjadi input pertanyaan berikutnya.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1024128"/>
            <a:ext cx="5074920" cy="896112"/>
          </a:xfrm>
          <a:prstGeom prst="rect">
            <a:avLst/>
          </a:prstGeom>
          <a:solidFill>
            <a:srgbClr val="22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024128"/>
            <a:ext cx="41148" cy="89611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207008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A291C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161288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Seberapa baik strategi yang dijalankan saat ini?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59105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C837E"/>
                </a:solidFill>
                <a:latin typeface="Calibri"/>
              </a:rPr>
              <a:t>Indikator kinerja + rasio keuangan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20824"/>
            <a:ext cx="5074920" cy="896112"/>
          </a:xfrm>
          <a:prstGeom prst="rect">
            <a:avLst/>
          </a:prstGeom>
          <a:solidFill>
            <a:srgbClr val="22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2020824"/>
            <a:ext cx="41148" cy="89611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203704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A291C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2904" y="215798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Apakah resource &amp; capability perusahaan kompetitif?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8775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C837E"/>
                </a:solidFill>
                <a:latin typeface="Calibri"/>
              </a:rPr>
              <a:t>VRIN · dynamic capabilities · SWOT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017520"/>
            <a:ext cx="5074920" cy="896112"/>
          </a:xfrm>
          <a:prstGeom prst="rect">
            <a:avLst/>
          </a:prstGeom>
          <a:solidFill>
            <a:srgbClr val="22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3017520"/>
            <a:ext cx="41148" cy="89611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20040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A291C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3154679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Apakah struktur biaya dan nilai pelanggannya kompetitif?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3584448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C837E"/>
                </a:solidFill>
                <a:latin typeface="Calibri"/>
              </a:rPr>
              <a:t>Value chain analysis · benchmarking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4014215"/>
            <a:ext cx="5074920" cy="896112"/>
          </a:xfrm>
          <a:prstGeom prst="rect">
            <a:avLst/>
          </a:prstGeom>
          <a:solidFill>
            <a:srgbClr val="22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4014215"/>
            <a:ext cx="41148" cy="89611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41970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A291C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4151376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Seberapa kuat posisi kompetitif vs pesaing?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2904" y="4581144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C837E"/>
                </a:solidFill>
                <a:latin typeface="Calibri"/>
              </a:rPr>
              <a:t>Weighted competitive strength assessment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5010912"/>
            <a:ext cx="5074920" cy="896112"/>
          </a:xfrm>
          <a:prstGeom prst="rect">
            <a:avLst/>
          </a:prstGeom>
          <a:solidFill>
            <a:srgbClr val="22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5010912"/>
            <a:ext cx="41148" cy="89611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519379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DA291C"/>
                </a:solidFill>
                <a:latin typeface="Georg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5148072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Isu strategis apa yang butuh perhatian manajemen?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557784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C837E"/>
                </a:solidFill>
                <a:latin typeface="Calibri"/>
              </a:rPr>
              <a:t>Worry 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Seberapa baik strategi saat ini bekerja?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Titik awal evaluasi internal bukan aset perusahaan, melainkan hasil. Thompson menyebut dua indikator terbaik untuk menilainya.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5245455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45720" cy="179222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665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A291C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377440"/>
            <a:ext cx="464195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A1614"/>
                </a:solidFill>
                <a:latin typeface="Calibri"/>
              </a:rPr>
              <a:t>Apakah perusahaan mencapai sasaran
finansial dan strategis yang ditetapkan?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962656"/>
            <a:ext cx="464195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4A433F"/>
                </a:solidFill>
                <a:latin typeface="Calibri"/>
              </a:rPr>
              <a:t>Sasaran finansial (laba, margin, ROI) dan sasaran strategis (pangsa pasar, reputasi, posisi teknologi) dinilai terpisah — perusahaan bisa untung tetapi kalah posisi.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7871" y="1883664"/>
            <a:ext cx="5245455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87871" y="1883664"/>
            <a:ext cx="45720" cy="179222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0479" y="20665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A291C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0479" y="2377440"/>
            <a:ext cx="464195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A1614"/>
                </a:solidFill>
                <a:latin typeface="Calibri"/>
              </a:rPr>
              <a:t>Apakah kinerjanya di atas
rata-rata industri?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0479" y="2962656"/>
            <a:ext cx="464195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4A433F"/>
                </a:solidFill>
                <a:latin typeface="Calibri"/>
              </a:rPr>
              <a:t>Kinerja hanya bermakna relatif. Naik 8% saat industri naik 20% berarti strateginya sedang kalah, bukan menang.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Indikator operasional yang dipantau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325112"/>
            <a:ext cx="91440" cy="914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242816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>Tren penjualan dan laba bersih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4325112"/>
            <a:ext cx="91440" cy="914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4242816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>Tren harga saham &amp; imbal hasil pemegang saham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672584"/>
            <a:ext cx="91440" cy="914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590288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>Kekuatan finansial dan peringkat kredit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672584"/>
            <a:ext cx="91440" cy="914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2191" y="4590288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>Tren margin laba bersih dan ROI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020056"/>
            <a:ext cx="91440" cy="914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937760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>Tren pangsa pasar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4447" y="5020056"/>
            <a:ext cx="91440" cy="914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2191" y="4937760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>Citra, reputasi, dan kepemimpinan teknologi atau layanan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Prinsip: </a:t>
            </a:r>
            <a:r>
              <a:rPr sz="1200" b="0">
                <a:solidFill>
                  <a:srgbClr val="1A1614"/>
                </a:solidFill>
                <a:latin typeface="Calibri"/>
              </a:rPr>
              <a:t>strategi yang berjalan baik menghasilkan perbaikan kinerja yang konsisten. Kemerosotan yang terus-menerus atau hasil yang jauh di bawah target adalah bukti kuat strateginya lemah, eksekusinya buruk, atau keduanya.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1 · Alat Ukur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Rasio keuangan sebagai bukti kuantitatif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Penilaian kualitatif tadi perlu diuji dengan angka. Thompson mengelompokkan rasio ke dalam empat kategori diagnosis.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2512999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2512999" cy="45720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02536"/>
            <a:ext cx="2147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Profitabilitas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68880"/>
            <a:ext cx="21472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8C837E"/>
                </a:solidFill>
                <a:latin typeface="Calibri"/>
              </a:rPr>
              <a:t>Kemampuan menghasilkan laba dari penjualan dan modal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21411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4553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Gross profit 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348843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1985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Operating profit margin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376275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Net profit margin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03707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6849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Return on assets (ROA)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" y="431139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4281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Return on equity (ROE)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7" y="458571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51713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Return on invested 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7" y="486003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791455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Earnings per share (EPS)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45687" y="1883664"/>
            <a:ext cx="2512999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45687" y="1883664"/>
            <a:ext cx="2512999" cy="45720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28567" y="2002536"/>
            <a:ext cx="2147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Likuiditas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2468880"/>
            <a:ext cx="21472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8C837E"/>
                </a:solidFill>
                <a:latin typeface="Calibri"/>
              </a:rPr>
              <a:t>Kemampuan memenuhi kewajiban jangka pendek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28567" y="321411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3159" y="314553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Current ratio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28567" y="348843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3159" y="341985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Quick ratio (acid test)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28567" y="376275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3159" y="369417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Working capital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3007" y="1883664"/>
            <a:ext cx="2512999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3007" y="1883664"/>
            <a:ext cx="2512999" cy="45720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2002536"/>
            <a:ext cx="2147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Leverage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5887" y="2468880"/>
            <a:ext cx="21472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8C837E"/>
                </a:solidFill>
                <a:latin typeface="Calibri"/>
              </a:rPr>
              <a:t>Beban utang dan risiko struktur modal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15887" y="321411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0479" y="314553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Total debt-to-assets 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15887" y="348843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0479" y="341985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Long-term debt-to-capital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15887" y="376275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0479" y="369417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Debt-to-equity ratio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15887" y="403707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0479" y="396849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Times-interest-earned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0327" y="1883664"/>
            <a:ext cx="2512999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20327" y="1883664"/>
            <a:ext cx="2512999" cy="45720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03207" y="2002536"/>
            <a:ext cx="2147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Aktivitas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03207" y="2468880"/>
            <a:ext cx="21472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8C837E"/>
                </a:solidFill>
                <a:latin typeface="Calibri"/>
              </a:rPr>
              <a:t>Efisiensi pengelolaan aset operasional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03207" y="321411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7799" y="314553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Days of inventory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03207" y="348843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7799" y="341985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Inventory turnover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03207" y="3762756"/>
            <a:ext cx="64008" cy="640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67799" y="3694176"/>
            <a:ext cx="1982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A1614"/>
                </a:solidFill>
                <a:latin typeface="Calibri"/>
              </a:rPr>
              <a:t>Average collection period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Ukuran tambahan: </a:t>
            </a:r>
            <a:r>
              <a:rPr sz="1200" b="0">
                <a:solidFill>
                  <a:srgbClr val="1A1614"/>
                </a:solidFill>
                <a:latin typeface="Calibri"/>
              </a:rPr>
              <a:t>dividend yield, price-earnings ratio, dividend payout ratio, internal cash flow, dan </a:t>
            </a:r>
            <a:r>
              <a:rPr sz="1200" b="1">
                <a:solidFill>
                  <a:srgbClr val="1A1614"/>
                </a:solidFill>
                <a:latin typeface="Calibri"/>
              </a:rPr>
              <a:t>free cash flow</a:t>
            </a:r>
            <a:r>
              <a:rPr sz="1200" b="0">
                <a:solidFill>
                  <a:srgbClr val="1A1614"/>
                </a:solidFill>
                <a:latin typeface="Calibri"/>
              </a:rPr>
              <a:t> — yang terakhir paling penting karena menunjukkan kas yang benar-benar tersedia untuk investasi baru.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Resources dan capabilities: dua hal berbeda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Kesalahan analisis paling umum adalah mencampur keduanya. Perbedaannya menentukan apakah keunggulan bisa bertahan saat satu aset hilang.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5254599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57984"/>
            <a:ext cx="45720" cy="14264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4705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DA291C"/>
                </a:solidFill>
                <a:latin typeface="Calibri"/>
              </a:rPr>
              <a:t>Resource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33472"/>
            <a:ext cx="4705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>Aset kompetitif yang dimiliki atau dikendalikan perusahaan.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291839"/>
            <a:ext cx="4705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8C837E"/>
                </a:solidFill>
                <a:latin typeface="Calibri"/>
              </a:rPr>
              <a:t>Kata kuncinya: sesuatu yang perusahaan PUNYA.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157984"/>
            <a:ext cx="5254599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8727" y="2157984"/>
            <a:ext cx="45720" cy="142646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304288"/>
            <a:ext cx="4705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A1614"/>
                </a:solidFill>
                <a:latin typeface="Calibri"/>
              </a:rPr>
              <a:t>Capability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633472"/>
            <a:ext cx="4705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>Kapasitas perusahaan menjalankan suatu aktivitas secara cakap; disebut juga competence. Lahir dari resource bundle — kombinasi beberapa resource yang bekerja bersama, sering lintas fungsi.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291839"/>
            <a:ext cx="4705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8C837E"/>
                </a:solidFill>
                <a:latin typeface="Calibri"/>
              </a:rPr>
              <a:t>Kata kuncinya: sesuatu yang perusahaan BISA LAKUKAN.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749039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Klasifikasi resource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005072"/>
            <a:ext cx="5254599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05072"/>
            <a:ext cx="5254599" cy="402336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105655"/>
            <a:ext cx="485226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Tangible — berwujud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49884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Fisik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7168" y="4498848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pabrik, lokasi, jaringan distribusi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84632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Finansial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7168" y="4846320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kas, kapasitas pinjam, portofolio investasi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19379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Teknologi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5193792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paten, hak cipta, teknologi produksi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54126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Organisasional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5541264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sistem IT, struktur pelaporan, kontrol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8727" y="4005072"/>
            <a:ext cx="5254599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78727" y="4005072"/>
            <a:ext cx="5254599" cy="4023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895" y="4105655"/>
            <a:ext cx="485226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Intangible — tak berwujud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895" y="449884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Human assets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7527" y="4498848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keahlian, pengalaman, modal intelektual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9895" y="484632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Brand &amp; reputasi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07527" y="4846320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merek, citra, kepercayaan pelanggan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9895" y="519379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Relasi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07527" y="5193792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aliansi, kemitraan, loyalitas pemasok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9895" y="554126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Budaya &amp; insentif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07527" y="5541264"/>
            <a:ext cx="3206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norma kerja, nilai bersama, penghargaan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Framework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Uji VRIN: empat tes kekuatan kompetitif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VRIN adalah saringan empat lapis untuk memisahkan aset biasa dari sumber keunggulan bersaing yang sejati.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25404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2540431" cy="7772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02536"/>
            <a:ext cx="25404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98064"/>
            <a:ext cx="22478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A1614"/>
                </a:solidFill>
                <a:latin typeface="Calibri"/>
              </a:rPr>
              <a:t>Valuable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27248"/>
            <a:ext cx="228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1">
                <a:solidFill>
                  <a:srgbClr val="DA291C"/>
                </a:solidFill>
                <a:latin typeface="Calibri"/>
              </a:rPr>
              <a:t>Apakah secara kompetitif bernilai?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657600"/>
            <a:ext cx="217467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Resource harus membantu perusahaan menciptakan nilai bagi pelanggan atau menurunkan biaya. Aset mahal yang tidak memengaruhi posisi bersaing tidak lolos tes ini.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6543" y="1883664"/>
            <a:ext cx="25404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6543" y="1883664"/>
            <a:ext cx="2540431" cy="77724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6543" y="2002536"/>
            <a:ext cx="25404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2847" y="2798064"/>
            <a:ext cx="22478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A1614"/>
                </a:solidFill>
                <a:latin typeface="Calibri"/>
              </a:rPr>
              <a:t>Rare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4559" y="3127248"/>
            <a:ext cx="228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1">
                <a:solidFill>
                  <a:srgbClr val="DA291C"/>
                </a:solidFill>
                <a:latin typeface="Calibri"/>
              </a:rPr>
              <a:t>Apakah langka, tidak dimiliki pesaing?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423" y="3657600"/>
            <a:ext cx="217467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Jika semua pesaing memilikinya, resource itu adalah syarat untuk ikut bermain (table stake), bukan pembeda.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4719" y="1883664"/>
            <a:ext cx="25404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4719" y="1883664"/>
            <a:ext cx="2540431" cy="77724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4719" y="2002536"/>
            <a:ext cx="25404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1023" y="2798064"/>
            <a:ext cx="22478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A1614"/>
                </a:solidFill>
                <a:latin typeface="Calibri"/>
              </a:rPr>
              <a:t>Inimitable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2735" y="3127248"/>
            <a:ext cx="228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1">
                <a:solidFill>
                  <a:srgbClr val="DA291C"/>
                </a:solidFill>
                <a:latin typeface="Calibri"/>
              </a:rPr>
              <a:t>Apakah sulit ditiru?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7599" y="3657600"/>
            <a:ext cx="217467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Diuji lewat path dependency, causal ambiguity, dan social complexity. Makin sulit pesaing memahami asal-usulnya, makin awet keunggulannya.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92895" y="1883664"/>
            <a:ext cx="2540431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2895" y="1883664"/>
            <a:ext cx="2540431" cy="77724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92895" y="2002536"/>
            <a:ext cx="25404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9199" y="2798064"/>
            <a:ext cx="22478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A1614"/>
                </a:solidFill>
                <a:latin typeface="Calibri"/>
              </a:rPr>
              <a:t>Non-substitutable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0911" y="3127248"/>
            <a:ext cx="228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1">
                <a:solidFill>
                  <a:srgbClr val="DA291C"/>
                </a:solidFill>
                <a:latin typeface="Calibri"/>
              </a:rPr>
              <a:t>Apakah tidak mudah digantikan?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5775" y="3657600"/>
            <a:ext cx="217467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Pesaing bisa saja tidak meniru, tetapi menemukan cara lain untuk hasil yang sama. Substitusi mematikan keunggulan tanpa perlu imitasi.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31536"/>
            <a:ext cx="525459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568696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DA291C"/>
                </a:solidFill>
                <a:latin typeface="Calibri"/>
              </a:rPr>
              <a:t>Tes 1 + 2 (V, R)  →  </a:t>
            </a:r>
            <a:r>
              <a:rPr sz="1200" b="0">
                <a:solidFill>
                  <a:srgbClr val="1A1614"/>
                </a:solidFill>
                <a:latin typeface="Calibri"/>
              </a:rPr>
              <a:t>menentukan apakah resource dapat MENCIPTAKAN keunggulan bersaing.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8727" y="5431536"/>
            <a:ext cx="525459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78727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3047" y="5568696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Tes 3 + 4 (I, N)  →  </a:t>
            </a:r>
            <a:r>
              <a:rPr sz="1200" b="0">
                <a:solidFill>
                  <a:srgbClr val="FFFFFF"/>
                </a:solidFill>
                <a:latin typeface="Calibri"/>
              </a:rPr>
              <a:t>menentukan apakah keunggulan itu BERTAHAN (sustainable).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Lanjutan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Penghalang imitasi &amp; dynamic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Tes ketiga VRIN perlu dibongkar: apa yang membuat sesuatu sulit ditiru, dan bagaimana keunggulan dijaga agar tidak usang.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59812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45720" cy="9144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A291C"/>
                </a:solidFill>
                <a:latin typeface="Calibri"/>
              </a:rPr>
              <a:t>Path 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46916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Resource terbentuk lewat akumulasi bertahun-tahun yang tidak bisa dipercepat dengan uang. Pesaing harus menempuh jalan yang sama panjangnya.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89504"/>
            <a:ext cx="59812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889504"/>
            <a:ext cx="45720" cy="9144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9923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A291C"/>
                </a:solidFill>
                <a:latin typeface="Calibri"/>
              </a:rPr>
              <a:t>Causal ambiguity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73552"/>
            <a:ext cx="546916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Bahkan perusahaan pemiliknya tidak sepenuhnya tahu mengapa resource itu bekerja. Jika sebabnya tidak jelas, apa yang harus ditiru juga tidak jelas.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895344"/>
            <a:ext cx="59812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45720" cy="9144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A291C"/>
                </a:solidFill>
                <a:latin typeface="Calibri"/>
              </a:rPr>
              <a:t>Social complexity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79392"/>
            <a:ext cx="546916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Keunggulan melekat pada hubungan antarmanusia, budaya, dan kepercayaan — hal yang tidak bisa dibeli atau direkrut satuan.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05355" y="1883664"/>
            <a:ext cx="4527971" cy="292608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7963" y="2157984"/>
            <a:ext cx="39427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Dynamic Capability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97963" y="2596896"/>
            <a:ext cx="1097280" cy="320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7963" y="2798064"/>
            <a:ext cx="394275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Kapasitas berkelanjutan untuk memodifikasi resource dan capability yang ada, atau menciptakan yang baru.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7963" y="3675887"/>
            <a:ext cx="39427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A89F99"/>
                </a:solidFill>
                <a:latin typeface="Calibri"/>
              </a:rPr>
              <a:t>Mengapa wajib ada: setiap resource terdepresiasi. Tanpa pembaruan, aset yang hari ini lolos VRIN akan menjadi komoditas biasa dalam beberapa tahun karena pesaing menyusul.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Implikasi untuk analisis kasus: </a:t>
            </a:r>
            <a:r>
              <a:rPr sz="1200" b="0">
                <a:solidFill>
                  <a:srgbClr val="1A1614"/>
                </a:solidFill>
                <a:latin typeface="Calibri"/>
              </a:rPr>
              <a:t>keunggulan yang bersumber dari satu individu selalu rapuh pada tes I dan N. Individu bisa sangat sulit ditiru, tetapi kepergiannya menghapus keunggulan seketika — tidak demikian pada keunggulan yang melekat pada sistem.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Sintesis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SWOT — dan cara memakainya yang benar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SWOT menggabungkan temuan internal (resource &amp; capability) dengan kondisi eksternal. Nilainya bukan pada daftarnya, melainkan pada kesimpulannya.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2926116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57984"/>
            <a:ext cx="2926116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359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Georgia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395728"/>
            <a:ext cx="2103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816352"/>
            <a:ext cx="248720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Resource dan capability yang lolos uji VRIN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22228" y="2157984"/>
            <a:ext cx="2926116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22228" y="2157984"/>
            <a:ext cx="2926116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41684" y="2359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Georgia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732" y="2395728"/>
            <a:ext cx="2103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Weaknesses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84" y="2816352"/>
            <a:ext cx="248720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Kekurangan internal yang melemahkan posisi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675887"/>
            <a:ext cx="2926116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2926116" cy="457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877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A1614"/>
                </a:solidFill>
                <a:latin typeface="Georgia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913631"/>
            <a:ext cx="2103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Opportunities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4334255"/>
            <a:ext cx="248720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Kondisi eksternal yang cocok dengan kekuatan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22228" y="3675887"/>
            <a:ext cx="2926116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22228" y="3675887"/>
            <a:ext cx="2926116" cy="457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41684" y="3877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A1614"/>
                </a:solidFill>
                <a:latin typeface="Georgia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732" y="3913631"/>
            <a:ext cx="21031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Threats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84" y="4334255"/>
            <a:ext cx="248720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Faktor eksternal yang mengancam profitabilitas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105" y="2121408"/>
            <a:ext cx="44192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Tiga langkah SWOT menurut Thompson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14105" y="2468879"/>
            <a:ext cx="441922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14105" y="2468879"/>
            <a:ext cx="45720" cy="84124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849" y="265176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DA291C"/>
                </a:solidFill>
                <a:latin typeface="Georgia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609" y="2596896"/>
            <a:ext cx="35962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Identifikasi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609" y="2871215"/>
            <a:ext cx="35779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Susun keempat daftar berdasarkan bukti, bukan opini.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14105" y="3401568"/>
            <a:ext cx="441922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4105" y="3401568"/>
            <a:ext cx="45720" cy="84124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849" y="3584448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DA291C"/>
                </a:solidFill>
                <a:latin typeface="Georgia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609" y="3529584"/>
            <a:ext cx="35962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Tarik kesimpulan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609" y="3803904"/>
            <a:ext cx="35779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Nilai posisi keseluruhan: apakah kekuatan cukup untuk menangkap peluang dan menahan ancaman?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4105" y="4334256"/>
            <a:ext cx="441922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14105" y="4334256"/>
            <a:ext cx="45720" cy="84124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51849" y="4517136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DA291C"/>
                </a:solidFill>
                <a:latin typeface="Georgia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17609" y="4462272"/>
            <a:ext cx="35962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Terjemahkan jadi tindakan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17609" y="4736592"/>
            <a:ext cx="357797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Ubah kesimpulan menjadi keputusan strategis yang konkret.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Kesalahan yang paling sering terjadi: </a:t>
            </a:r>
            <a:r>
              <a:rPr sz="1200" b="0">
                <a:solidFill>
                  <a:srgbClr val="FFFFFF"/>
                </a:solidFill>
                <a:latin typeface="Calibri"/>
              </a:rPr>
              <a:t>berhenti di langkah 1. SWOT yang hanya berupa empat daftar tidak menghasilkan keputusan apa pun. Seluruh nilainya ada pada langkah 2 dan 3.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Value Chain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Untuk tahu apakah struktur biaya kompetitif, perusahaan harus dipecah menjadi aktivitas-aktivitas pembentuk biaya dan nilai. Dari situ terlihat aktivitas mana yang menciptakan nilai dan mana yang hanya menyerap biaya.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57984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Primary Activities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8879"/>
            <a:ext cx="177448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468879"/>
            <a:ext cx="1774484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615184"/>
            <a:ext cx="14818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Supply Chain
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00400"/>
            <a:ext cx="14818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Pengadaan, penerimaan, penyimpanan, distribusi 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9156" y="2468879"/>
            <a:ext cx="177448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79156" y="2468879"/>
            <a:ext cx="1774484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5460" y="2615184"/>
            <a:ext cx="14818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5460" y="3200400"/>
            <a:ext cx="14818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Mengubah input menjadi produk atau jasa akhir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99945" y="2468879"/>
            <a:ext cx="177448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99945" y="2468879"/>
            <a:ext cx="1774484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6249" y="2615184"/>
            <a:ext cx="14818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6249" y="3200400"/>
            <a:ext cx="14818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Pergudangan dan pengiriman ke pembeli atau distributor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20733" y="2468879"/>
            <a:ext cx="177448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0733" y="2468879"/>
            <a:ext cx="1774484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7037" y="2615184"/>
            <a:ext cx="14818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Sales &amp;
Marketing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7037" y="3200400"/>
            <a:ext cx="14818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Tenaga penjual, iklan, promosi, dukungan dealer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41522" y="2468879"/>
            <a:ext cx="177448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1522" y="2468879"/>
            <a:ext cx="1774484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87826" y="2615184"/>
            <a:ext cx="14818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7826" y="3200400"/>
            <a:ext cx="14818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Instalasi, perbaikan, suku cadang, dukungan pelanggan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62311" y="2468879"/>
            <a:ext cx="1417320" cy="16459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08615" y="2962656"/>
            <a:ext cx="1124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Profit
Margin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352544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1A1614"/>
                </a:solidFill>
                <a:latin typeface="Calibri"/>
              </a:rPr>
              <a:t>Support Activities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663440"/>
            <a:ext cx="3490874" cy="1225296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663440"/>
            <a:ext cx="45720" cy="1225296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91456"/>
            <a:ext cx="303367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Product R&amp;D, Technology &amp;
Systems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285231"/>
            <a:ext cx="303367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Riset produk &amp; proses, desain, sistem telekomunikasi, otomasi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50410" y="4663440"/>
            <a:ext cx="3490874" cy="1225296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0410" y="4663440"/>
            <a:ext cx="45720" cy="1225296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88154" y="4791456"/>
            <a:ext cx="303367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Human Resources
Management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8154" y="5285231"/>
            <a:ext cx="303367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Rekrutmen, pelatihan, pengembangan, kompensasi, hubungan kerja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2452" y="4663440"/>
            <a:ext cx="3490874" cy="1225296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2452" y="4663440"/>
            <a:ext cx="45720" cy="1225296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80196" y="4791456"/>
            <a:ext cx="303367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General
Administration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0196" y="5285231"/>
            <a:ext cx="303367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Akuntansi, keuangan, hukum, regulasi, keselamatan, sistem informasi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3 · Lanjutan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Value chain system dan 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Biaya dan nilai yang sampai ke pembeli ditentukan oleh seluruh rantai dari hulu ke hilir, bukan oleh perusahaan sendiri saja.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2362123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2362123" cy="45720"/>
          </a:xfrm>
          <a:prstGeom prst="rect">
            <a:avLst/>
          </a:prstGeom>
          <a:solidFill>
            <a:srgbClr val="8C8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20329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Rantai nilai
PEMASOK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20329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Biaya dan kualitas input yang masuk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355" y="22677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5979" y="1883664"/>
            <a:ext cx="2362123" cy="1188720"/>
          </a:xfrm>
          <a:prstGeom prst="rect">
            <a:avLst/>
          </a:prstGeom>
          <a:solidFill>
            <a:srgbClr val="FAEC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95979" y="1883664"/>
            <a:ext cx="2362123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0571" y="2103120"/>
            <a:ext cx="20329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DA291C"/>
                </a:solidFill>
                <a:latin typeface="Calibri"/>
              </a:rPr>
              <a:t>Rantai nilai
PERUSAHAAN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2670048"/>
            <a:ext cx="20329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Aktivitas primer dan pendukung internal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2967" y="22677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3591" y="1883664"/>
            <a:ext cx="2362123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33591" y="1883664"/>
            <a:ext cx="2362123" cy="45720"/>
          </a:xfrm>
          <a:prstGeom prst="rect">
            <a:avLst/>
          </a:prstGeom>
          <a:solidFill>
            <a:srgbClr val="8C8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2103120"/>
            <a:ext cx="20329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Rantai nilai
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2670048"/>
            <a:ext cx="20329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Distributor, dealer, mitra hilir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579" y="22677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71203" y="1883664"/>
            <a:ext cx="2362123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71203" y="1883664"/>
            <a:ext cx="2362123" cy="457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35795" y="2103120"/>
            <a:ext cx="20329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PEMBELI /
PENGGUNA AKHIR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5795" y="2670048"/>
            <a:ext cx="20329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Nilai yang akhirnya dirasakan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364992"/>
            <a:ext cx="5254599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364992"/>
            <a:ext cx="5254599" cy="42062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3456432"/>
            <a:ext cx="4797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Benchmarking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913632"/>
            <a:ext cx="479739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>Membandingkan biaya per aktivitas dengan pesaing atau dengan pelaku terbaik di luar industri, untuk mengetahui apakah biaya perusahaan wajar atau tidak.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681728"/>
            <a:ext cx="479739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8C837E"/>
                </a:solidFill>
                <a:latin typeface="Calibri"/>
              </a:rPr>
              <a:t>Sumber data yang etis: laporan publik, kunjungan industri, asosiasi dagang, dan firma konsultan pihak ketiga yang mengumpulkan data secara anonim. Benchmarking tidak boleh menjadi pengumpulan intelijen ilegal.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8727" y="3364992"/>
            <a:ext cx="5254599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8727" y="3364992"/>
            <a:ext cx="5254599" cy="42062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183" y="3456432"/>
            <a:ext cx="4797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Tiga sumber cost disadvantage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8183" y="3950208"/>
            <a:ext cx="47973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Aktivitas internal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8183" y="4187952"/>
            <a:ext cx="4797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biaya di dalam rantai nilai perusahaan sendiri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8183" y="4443984"/>
            <a:ext cx="47973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Bagian pemasok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8183" y="4681728"/>
            <a:ext cx="4797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harga input terlalu mahal dibanding pesaing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8183" y="4937760"/>
            <a:ext cx="47973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Bagian forward channel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8183" y="5175504"/>
            <a:ext cx="47973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margin distributor atau biaya distribusi terlalu besar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3 · Tindakan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Memperbaiki posisi biaya dan nilai pelanggan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Thompson memberi tiga kelompok opsi perbaikan, sesuai dengan tiga sumber cost disadvantage tadi.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346649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3466490" cy="42062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975104"/>
            <a:ext cx="3064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Aktivitas 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68880"/>
            <a:ext cx="3064154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DA291C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Sederhanakan operasi, hapus aktivitas bernilai rendah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DA291C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Relokasi aktivitas berbiaya tinggi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DA291C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Outsource aktivitas yang lebih murah dikerjakan pihak lain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DA291C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Investasi teknologi hemat biaya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DA291C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Sederhanakan desain produk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DA291C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Rekayasa ulang proses bisnis inti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2602" y="1883664"/>
            <a:ext cx="346649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2602" y="1883664"/>
            <a:ext cx="3466490" cy="42062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3770" y="1975104"/>
            <a:ext cx="3064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Bagian pemasok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770" y="2468880"/>
            <a:ext cx="3064154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Negosiasi harga yang lebih menguntungkan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Beralih ke input substitusi yang lebih murah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Kolaborasi erat dengan pemasok untuk efisiensi bersama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Integrasi ke belakang (backward integration)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6836" y="1883664"/>
            <a:ext cx="346649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6836" y="1883664"/>
            <a:ext cx="3466490" cy="42062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8004" y="1975104"/>
            <a:ext cx="3064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Bagian forward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2468880"/>
            <a:ext cx="3064154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Tekan margin distributor dan dealer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Kolaborasi dengan mitra hilir untuk menurunkan biaya bersama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Ubah strategi distribusi, termasuk penjualan langsung atau online</a:t>
            </a:r>
          </a:p>
          <a:p>
            <a:pPr marL="237744" indent="-237744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A1614"/>
                </a:solidFill>
                <a:latin typeface="Calibri"/>
              </a:rPr>
              <a:t>·  </a:t>
            </a:r>
            <a:r>
              <a:rPr sz="1100">
                <a:solidFill>
                  <a:srgbClr val="1A1614"/>
                </a:solidFill>
                <a:latin typeface="Calibri"/>
              </a:rPr>
              <a:t>Integrasi ke depan (forward integration)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26864"/>
            <a:ext cx="10874959" cy="106070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4626864"/>
            <a:ext cx="45720" cy="10607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73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Customer Value Proposition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5120640"/>
            <a:ext cx="1023487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614"/>
                </a:solidFill>
                <a:latin typeface="Calibri"/>
              </a:rPr>
              <a:t/>
            </a:r>
            <a:r>
              <a:rPr sz="1250" b="0">
                <a:solidFill>
                  <a:srgbClr val="A89F99"/>
                </a:solidFill>
                <a:latin typeface="Calibri"/>
              </a:rPr>
              <a:t>Nilai yang diterima pelanggan = </a:t>
            </a:r>
            <a:r>
              <a:rPr sz="1250" b="1">
                <a:solidFill>
                  <a:srgbClr val="FFFFFF"/>
                </a:solidFill>
                <a:latin typeface="Calibri"/>
              </a:rPr>
              <a:t>V (nilai yang dipersepsikan) − P (harga yang dibayar)</a:t>
            </a:r>
            <a:r>
              <a:rPr sz="1250" b="0">
                <a:solidFill>
                  <a:srgbClr val="A89F99"/>
                </a:solidFill>
                <a:latin typeface="Calibri"/>
              </a:rPr>
              <a:t>.  Karena itu hanya ada dua jalur memperbaikinya: </a:t>
            </a:r>
            <a:r>
              <a:rPr sz="1250" b="1">
                <a:solidFill>
                  <a:srgbClr val="FF8A7A"/>
                </a:solidFill>
                <a:latin typeface="Calibri"/>
              </a:rPr>
              <a:t>turunkan biaya sehingga P bisa ditekan</a:t>
            </a:r>
            <a:r>
              <a:rPr sz="1250" b="0">
                <a:solidFill>
                  <a:srgbClr val="A89F99"/>
                </a:solidFill>
                <a:latin typeface="Calibri"/>
              </a:rPr>
              <a:t>, atau </a:t>
            </a:r>
            <a:r>
              <a:rPr sz="1250" b="1">
                <a:solidFill>
                  <a:srgbClr val="FF8A7A"/>
                </a:solidFill>
                <a:latin typeface="Calibri"/>
              </a:rPr>
              <a:t>perkuat aktivitas yang menaikkan V</a:t>
            </a:r>
            <a:r>
              <a:rPr sz="1250" b="0">
                <a:solidFill>
                  <a:srgbClr val="A89F99"/>
                </a:solidFill>
                <a:latin typeface="Calibri"/>
              </a:rPr>
              <a:t> — kualitas, fitur, merek, dan layanan.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Weighted Competitive Strength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Alat untuk mengubah penilaian kualitatif menjadi satu angka yang bisa dibandingkan langsung dengan pesaing, sekaligus menunjukkan di mana menyerang dan di mana bertahan.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2043318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57984"/>
            <a:ext cx="204331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04288"/>
            <a:ext cx="365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DA291C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88336"/>
            <a:ext cx="17141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Daftar KSF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962656"/>
            <a:ext cx="171413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Susun key success factor yang relevan bagi industri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6278" y="2157984"/>
            <a:ext cx="2043318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66278" y="2157984"/>
            <a:ext cx="204331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0870" y="2304288"/>
            <a:ext cx="365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DA291C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0870" y="2688336"/>
            <a:ext cx="17141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Beri bobot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0870" y="2962656"/>
            <a:ext cx="171413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Bobot mencerminkan kepentingan relatif; total 1,00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188" y="2157984"/>
            <a:ext cx="2043318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188" y="2157984"/>
            <a:ext cx="204331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80" y="2304288"/>
            <a:ext cx="365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DA291C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80" y="2688336"/>
            <a:ext cx="17141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Beri rating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80" y="2962656"/>
            <a:ext cx="171413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Nilai perusahaan dan tiap pesaing pada skala 1–10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82098" y="2157984"/>
            <a:ext cx="2043318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82098" y="2157984"/>
            <a:ext cx="204331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6690" y="2304288"/>
            <a:ext cx="365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DA291C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6690" y="2688336"/>
            <a:ext cx="17141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Kalikan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6690" y="2962656"/>
            <a:ext cx="171413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Rating × bobot = skor tertimbang per faktor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90008" y="2157984"/>
            <a:ext cx="2043318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90008" y="2157984"/>
            <a:ext cx="204331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54600" y="2304288"/>
            <a:ext cx="365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DA291C"/>
                </a:solidFill>
                <a:latin typeface="Georg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4600" y="2688336"/>
            <a:ext cx="171413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Jumlahkan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4600" y="2962656"/>
            <a:ext cx="171413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Total skor = kekuatan kompetitif keseluruhan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58368" y="3675887"/>
          <a:ext cx="6524973" cy="1609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18491"/>
                <a:gridCol w="782997"/>
                <a:gridCol w="1174495"/>
                <a:gridCol w="1174495"/>
                <a:gridCol w="117449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Key Success Factor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Bobot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Perusahaan 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Pesaing B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Pesaing C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Contoh: kualitas produk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8  /  1,60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6  /  1,20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9  /  1,80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Contoh: jaringan distribusi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9  /  2,70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5  /  1,50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4  /  1,20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Contoh: posisi biaya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6  /  3,00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9  /  4,50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5  /  2,50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Total skor tertimbang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7,30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7,20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5,50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58368" y="5358383"/>
            <a:ext cx="65249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C837E"/>
                </a:solidFill>
                <a:latin typeface="Calibri"/>
              </a:rPr>
              <a:t>Format matriks (angka ilustratif) — rating / skor tertimbang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7391" y="3639311"/>
            <a:ext cx="39659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Cara membaca hasilnya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67391" y="3950207"/>
            <a:ext cx="3965935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7391" y="3950207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6847" y="4041647"/>
            <a:ext cx="35087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Total skor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6847" y="4297679"/>
            <a:ext cx="3508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Posisi kompetitif keseluruhan relatif terhadap pesaing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67391" y="4718303"/>
            <a:ext cx="3965935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67391" y="4718303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86847" y="4809743"/>
            <a:ext cx="35087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Selisih skor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86847" y="5065775"/>
            <a:ext cx="3508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Besarnya net competitive advantage atau disadvantage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67391" y="5486399"/>
            <a:ext cx="3965935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67391" y="5486399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86847" y="5577839"/>
            <a:ext cx="35087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Baris per-KSF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86847" y="5833871"/>
            <a:ext cx="3508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Di faktor mana menyerang pesaing, dan faktor mana yang harus dipertahankan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Isu strategis apa yang butuh perhatian manajemen?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Pertanyaan penutup Chapter 4. Semua temuan dari empat pertanyaan sebelumnya dikerucutkan menjadi agenda kerja manajemen.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5654978" cy="2395728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39696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Worry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578608"/>
            <a:ext cx="1097280" cy="320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79776"/>
            <a:ext cx="50331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Daftar hambatan, masalah, dan isu yang menghalangi keberhasilan perusahaan — disusun langsung dari bukti yang ditemukan pada Q1 sampai Q4.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584448"/>
            <a:ext cx="50331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A89F99"/>
                </a:solidFill>
                <a:latin typeface="Calibri"/>
              </a:rPr>
              <a:t>Pertanyaan yang dijawab di tahap ini bukan “apa solusinya”, melainkan “apa yang harus masuk agenda manajemen”. Perumusan solusi baru dikerjakan pada bab-bab berikutnya.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9106" y="1847088"/>
            <a:ext cx="48542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Sumber isu pada worry 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9106" y="2194560"/>
            <a:ext cx="48542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0274" y="235915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Dari 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8098" y="2286000"/>
            <a:ext cx="35557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614"/>
                </a:solidFill>
                <a:latin typeface="Calibri"/>
              </a:rPr>
              <a:t>Target yang tidak tercapai, tren kinerja yang memburuk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9106" y="2834639"/>
            <a:ext cx="48542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0274" y="299923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Dari 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8098" y="2926079"/>
            <a:ext cx="35557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614"/>
                </a:solidFill>
                <a:latin typeface="Calibri"/>
              </a:rPr>
              <a:t>Resource yang gagal uji VRIN, capability yang mulai usang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9106" y="3474720"/>
            <a:ext cx="48542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274" y="363931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Dari 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8098" y="3566160"/>
            <a:ext cx="35557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614"/>
                </a:solidFill>
                <a:latin typeface="Calibri"/>
              </a:rPr>
              <a:t>Aktivitas berbiaya tinggi, nilai pelanggan yang tertinggal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9106" y="4114800"/>
            <a:ext cx="48542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80274" y="4279392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Dari 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8098" y="4206240"/>
            <a:ext cx="35557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614"/>
                </a:solidFill>
                <a:latin typeface="Calibri"/>
              </a:rPr>
              <a:t>KSF dengan rating rendah dibanding pesaing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Uji akhir Chapter 4: </a:t>
            </a:r>
            <a:r>
              <a:rPr sz="1200" b="0">
                <a:solidFill>
                  <a:srgbClr val="1A1614"/>
                </a:solidFill>
                <a:latin typeface="Calibri"/>
              </a:rPr>
              <a:t>jika worry list kosong, strategi yang berjalan sekarang sudah memadai. Jika terisi, setiap isu di dalamnya wajib dijawab oleh strategi berikutnya — inilah jembatan dari analisis ke perumusan strategi.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Ringkasan Bagian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Peta lengkap Chapter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Lima pertanyaan, framework yang dipakai di masing-masing, dan output yang dihasilkan. Struktur inilah yang kami pakai untuk membedah kasus Manchester United di Bagian B.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57984"/>
          <a:ext cx="10872216" cy="3127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"/>
                <a:gridCol w="2834640"/>
                <a:gridCol w="4160520"/>
                <a:gridCol w="349300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Pertanyaan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Framework / alat utama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Output yang dihasilkan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500" b="1">
                          <a:solidFill>
                            <a:srgbClr val="DA291C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Seberapa baik strategi saat ini bekerja?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Indikator kinerja strategis &amp; finansial; rasio profitabilitas, likuiditas, leverage, aktivitas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Penilaian apakah strategi berhasil atau gagal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500" b="1">
                          <a:solidFill>
                            <a:srgbClr val="DA291C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Apakah resource &amp; capability kompetitif?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Klasifikasi tangible/intangible; uji VRIN; dynamic capabilities; SWOT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Sumber keunggulan dan daya tahannya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500" b="1">
                          <a:solidFill>
                            <a:srgbClr val="DA291C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Apakah biaya &amp; nilai pelanggan kompetitif?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Value chain analysis; value chain system; benchmarking; customer value proposition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Titik keunggulan dan kelemahan biaya per aktivitas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500" b="1">
                          <a:solidFill>
                            <a:srgbClr val="DA291C"/>
                          </a:solidFill>
                          <a:latin typeface="Georgia"/>
                        </a:rPr>
                        <a:t>4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Seberapa kuat posisi vs pesaing?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Weighted competitive strength assessment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Skor kekuatan kompetitif dan net advantage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500" b="1">
                          <a:solidFill>
                            <a:srgbClr val="DA291C"/>
                          </a:solidFill>
                          <a:latin typeface="Georgia"/>
                        </a:rPr>
                        <a:t>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Isu apa yang butuh perhatian manajemen?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Worry list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Agenda strategis untuk manajemen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Logika berurutannya: </a:t>
            </a:r>
            <a:r>
              <a:rPr sz="1200" b="0">
                <a:solidFill>
                  <a:srgbClr val="FFFFFF"/>
                </a:solidFill>
                <a:latin typeface="Calibri"/>
              </a:rPr>
              <a:t>Q1 mengukur hasil → Q2 dan Q3 mencari penyebabnya di dalam perusahaan → Q4 membandingkannya dengan pesaing → Q5 memutuskan apa yang harus dikerjakan. Melompati satu tahap membuat kesimpulannya tidak berdasar.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Chapter 4  ·  Evaluating a Company's Resources and Competitive 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8F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8412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FFBFB6"/>
                </a:solidFill>
                <a:latin typeface="Calibri"/>
              </a:rPr>
              <a:t>Bagian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70432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Manchester
United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26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FFBFB6"/>
                </a:solidFill>
                <a:latin typeface="Georgia"/>
              </a:rPr>
              <a:t>Preparing for Life without Ferguson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456432"/>
            <a:ext cx="137160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675887"/>
            <a:ext cx="4846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 i="0">
                <a:solidFill>
                  <a:srgbClr val="FFBFB6"/>
                </a:solidFill>
                <a:latin typeface="Calibri"/>
              </a:rPr>
              <a:t>Ditulis oleh Robert M. Grant, dengan bantuan Simon I. Peck, Christopher Carr dan Timothy Smith.  © 2010.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841248"/>
            <a:ext cx="5074920" cy="932688"/>
          </a:xfrm>
          <a:prstGeom prst="rect">
            <a:avLst/>
          </a:prstGeom>
          <a:solidFill>
            <a:srgbClr val="76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6520" y="841248"/>
            <a:ext cx="41148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987552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 cap="all">
                <a:solidFill>
                  <a:srgbClr val="FFBFB6"/>
                </a:solidFill>
                <a:latin typeface="Calibri"/>
              </a:rPr>
              <a:t>Waktu kasus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280160"/>
            <a:ext cx="45262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Juli 2009 — tur pra-musim Asia; skuad kembali 28 Juli 2009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901952"/>
            <a:ext cx="5074920" cy="987552"/>
          </a:xfrm>
          <a:prstGeom prst="rect">
            <a:avLst/>
          </a:prstGeom>
          <a:solidFill>
            <a:srgbClr val="76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1901952"/>
            <a:ext cx="41148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048256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 cap="all">
                <a:solidFill>
                  <a:srgbClr val="FFBFB6"/>
                </a:solidFill>
                <a:latin typeface="Calibri"/>
              </a:rPr>
              <a:t>Protagonis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40864"/>
            <a:ext cx="4526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David Gill, Chief Executive Manchester United Football Club 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017520"/>
            <a:ext cx="5074920" cy="1207008"/>
          </a:xfrm>
          <a:prstGeom prst="rect">
            <a:avLst/>
          </a:prstGeom>
          <a:solidFill>
            <a:srgbClr val="76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3017520"/>
            <a:ext cx="41148" cy="1207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163824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 cap="all">
                <a:solidFill>
                  <a:srgbClr val="FFBFB6"/>
                </a:solidFill>
                <a:latin typeface="Calibri"/>
              </a:rPr>
              <a:t>Keputusan yang dihadapi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456432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Menyiapkan suksesi Sir Alex Ferguson, yang pada akhir 2009 berusia 68 tahun dan diperkirakan pensiun pada akhir musim 2009–10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4352544"/>
            <a:ext cx="5074920" cy="1700784"/>
          </a:xfrm>
          <a:prstGeom prst="rect">
            <a:avLst/>
          </a:prstGeom>
          <a:solidFill>
            <a:srgbClr val="761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46520" y="4352544"/>
            <a:ext cx="41148" cy="1700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4498848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 cap="all">
                <a:solidFill>
                  <a:srgbClr val="FFBFB6"/>
                </a:solidFill>
                <a:latin typeface="Calibri"/>
              </a:rPr>
              <a:t>Dilema inti kasus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791456"/>
            <a:ext cx="45262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Menunjuk penerus dari lingkaran dalam agar sistem Ferguson terjaga, tetapi berisiko kurang berwibawa di hadapan pemain bintang — atau menunjuk manajer berwibawa seperti Mourinho, yang hampir pasti membongkar infrastruktur yang dibangun Ferguson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Konteks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Sepakbola Eropa sebagai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Sebelum menilai Manchester United, kita perlu tahu industrinya — Q1 menuntut perbandingan dengan rata-rata industri.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3454298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66544"/>
            <a:ext cx="30153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 i="0">
                <a:solidFill>
                  <a:srgbClr val="DA291C"/>
                </a:solidFill>
                <a:latin typeface="Georgia"/>
              </a:rPr>
              <a:t>€2,4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596896"/>
            <a:ext cx="301538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Pendapatan Premier League 2007–08, terbesar di Eropa; Serie A, La Liga dan Bundesliga masing-masing sekitar €1,4 miliar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698" y="1883664"/>
            <a:ext cx="3454298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8154" y="2066544"/>
            <a:ext cx="30153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 i="0">
                <a:solidFill>
                  <a:srgbClr val="DA291C"/>
                </a:solidFill>
                <a:latin typeface="Georgia"/>
              </a:rPr>
              <a:t>62%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154" y="2596896"/>
            <a:ext cx="301538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Gaji sebagai persentase pendapatan di Premier League; Serie A 68%, La Liga 63%. Gaji adalah pos biaya terbesar klub Eropa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83664"/>
            <a:ext cx="3454298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902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484" y="2066544"/>
            <a:ext cx="30153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 i="0">
                <a:solidFill>
                  <a:srgbClr val="DA291C"/>
                </a:solidFill>
                <a:latin typeface="Georgia"/>
              </a:rPr>
              <a:t>8 dari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8484" y="2596896"/>
            <a:ext cx="301538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Klub besar Eropa merugi (return on sales negatif) selama 2000–2006. Industri ini tumbuh pesat tetapi tidak menguntungkan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74720"/>
            <a:ext cx="52545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Tiga sumber pendapatan klub (Premier League 2007–08)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767328"/>
            <a:ext cx="525459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767328"/>
            <a:ext cx="45720" cy="7498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858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Matchday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367" y="3840480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£554 jt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133088"/>
            <a:ext cx="4779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Tiket, season ticket, corporate box dan hospitality. Dibatasi kapasitas stadion — karena itu klub besar merenovasi atau membangun stadion baru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572000"/>
            <a:ext cx="525459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572000"/>
            <a:ext cx="45720" cy="7498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66344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Broadcasting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1367" y="4645152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£931 jt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937760"/>
            <a:ext cx="4779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Hak siar dinegosiasikan kolektif oleh Premier League. Kontrak 2006 bernilai £2,7 miliar; tiap klub menerima rata-rata £45 juta per tahun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376672"/>
            <a:ext cx="525459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376672"/>
            <a:ext cx="45720" cy="74980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46811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Commercial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1367" y="5449824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£447 jt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742432"/>
            <a:ext cx="47791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Sponsorship, lisensi merchandise, iklan stadion. Terkonsentrasi pada sedikit klub — Real Madrid dan Barcelona menguasai &gt;60% sponsorship La Liga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727" y="3474720"/>
            <a:ext cx="52545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1A1614"/>
                </a:solidFill>
                <a:latin typeface="Calibri"/>
              </a:rPr>
              <a:t>Struktur kompetisi dan logika ekonominya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727" y="3767328"/>
            <a:ext cx="52545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Premier League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8727" y="3986784"/>
            <a:ext cx="525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20 klub, 3 poin per kemenangan, tiga klub terbawah terdegradasi.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8727" y="4370832"/>
            <a:ext cx="52545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Champions League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8727" y="4590288"/>
            <a:ext cx="525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32 klub terbaik Eropa; empat klub teratas Inggris lolos. Musim 2008–09 MU, Barcelona, Chelsea dan Bayern masing-masing menerima lebih dari €30 juta.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8727" y="4974336"/>
            <a:ext cx="52545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Efek kesenjangan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8727" y="5193792"/>
            <a:ext cx="525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Sejak UCL dimulai 1992, muncul jurang finansial antara MU, Chelsea, Liverpool dan Arsenal dengan klub lain — pendapatan Eropa membiayai pemain kelas atas.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8727" y="5577840"/>
            <a:ext cx="52545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Inflasi transfer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8727" y="5797296"/>
            <a:ext cx="5254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Biaya transfer mencapai rekor baru pada musim panas 2009 meski resesi global. Pendorongnya: Real Madrid (2000–02), Chelsea (2004–06), Man City (2008–09).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1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Kinerja sporting: jelas di atas rata-rata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Indikator pertama Thompson — apakah sasaran strategis tercapai — dijawab dengan data kompetisi Tabel 6.1, 6.2 dan 6.7.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345429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84832"/>
            <a:ext cx="199125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800" b="1" i="0">
                <a:solidFill>
                  <a:srgbClr val="DA291C"/>
                </a:solidFill>
                <a:latin typeface="Georgia"/>
              </a:rPr>
              <a:t>1.460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4218" y="2121408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 cap="all">
                <a:solidFill>
                  <a:srgbClr val="8C837E"/>
                </a:solidFill>
                <a:latin typeface="Calibri"/>
              </a:rPr>
              <a:t>Tabel 6.2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4320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Poin performa Eropa 2000–2009, tertinggi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18688"/>
            <a:ext cx="299709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Barcelona 1.411 · Real Madrid 1.314 · Arsenal 1.310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8698" y="1883664"/>
            <a:ext cx="345429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6442" y="2084832"/>
            <a:ext cx="199125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800" b="1" i="0">
                <a:solidFill>
                  <a:srgbClr val="DA291C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548" y="2121408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 cap="all">
                <a:solidFill>
                  <a:srgbClr val="8C837E"/>
                </a:solidFill>
                <a:latin typeface="Calibri"/>
              </a:rPr>
              <a:t>Tabel 6.1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6442" y="274320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Gelar Premier League beruntun 2007, 2008, 2009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6442" y="3218688"/>
            <a:ext cx="299709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Total 11 gelar liga sejak 1993 dalam rentang kasus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9028" y="1883664"/>
            <a:ext cx="345429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902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6772" y="2084832"/>
            <a:ext cx="199125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800" b="1" i="0">
                <a:solidFill>
                  <a:srgbClr val="DA291C"/>
                </a:solidFill>
                <a:latin typeface="Georgia"/>
              </a:rPr>
              <a:t>2008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34879" y="2121408"/>
            <a:ext cx="10607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 cap="all">
                <a:solidFill>
                  <a:srgbClr val="8C837E"/>
                </a:solidFill>
                <a:latin typeface="Calibri"/>
              </a:rPr>
              <a:t>Halaman 584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274320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Juara Liga Champions, gelar Eropa kedua Ferguson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218688"/>
            <a:ext cx="299709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Setelah treble 1999: liga, FA Cup, European Cup, Intercontinental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58368" y="3840480"/>
          <a:ext cx="10908792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2194560"/>
                <a:gridCol w="2194560"/>
                <a:gridCol w="1920240"/>
                <a:gridCol w="1993392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Klub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Poin Eropa 2000–09 (T6.2)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Poin performa (T6.7)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Ukuran skuad Juli 2009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Usia rata-rata skuad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Manchester United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DA291C"/>
                      </a:solidFill>
                    </a:lnL>
                    <a:lnR w="9525" cap="flat" cmpd="sng" algn="ctr">
                      <a:solidFill>
                        <a:srgbClr val="DA291C"/>
                      </a:solidFill>
                    </a:lnR>
                    <a:lnT w="9525" cap="flat" cmpd="sng" algn="ctr">
                      <a:solidFill>
                        <a:srgbClr val="DA291C"/>
                      </a:solidFill>
                    </a:lnT>
                    <a:lnB w="9525" cap="flat" cmpd="sng" algn="ctr">
                      <a:solidFill>
                        <a:srgbClr val="DA291C"/>
                      </a:solidFill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1.460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DA291C"/>
                      </a:solidFill>
                    </a:lnL>
                    <a:lnR w="9525" cap="flat" cmpd="sng" algn="ctr">
                      <a:solidFill>
                        <a:srgbClr val="DA291C"/>
                      </a:solidFill>
                    </a:lnR>
                    <a:lnT w="9525" cap="flat" cmpd="sng" algn="ctr">
                      <a:solidFill>
                        <a:srgbClr val="DA291C"/>
                      </a:solidFill>
                    </a:lnT>
                    <a:lnB w="9525" cap="flat" cmpd="sng" algn="ctr">
                      <a:solidFill>
                        <a:srgbClr val="DA291C"/>
                      </a:solidFill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192,5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DA291C"/>
                      </a:solidFill>
                    </a:lnL>
                    <a:lnR w="9525" cap="flat" cmpd="sng" algn="ctr">
                      <a:solidFill>
                        <a:srgbClr val="DA291C"/>
                      </a:solidFill>
                    </a:lnR>
                    <a:lnT w="9525" cap="flat" cmpd="sng" algn="ctr">
                      <a:solidFill>
                        <a:srgbClr val="DA291C"/>
                      </a:solidFill>
                    </a:lnT>
                    <a:lnB w="9525" cap="flat" cmpd="sng" algn="ctr">
                      <a:solidFill>
                        <a:srgbClr val="DA291C"/>
                      </a:solidFill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DA291C"/>
                      </a:solidFill>
                    </a:lnL>
                    <a:lnR w="9525" cap="flat" cmpd="sng" algn="ctr">
                      <a:solidFill>
                        <a:srgbClr val="DA291C"/>
                      </a:solidFill>
                    </a:lnR>
                    <a:lnT w="9525" cap="flat" cmpd="sng" algn="ctr">
                      <a:solidFill>
                        <a:srgbClr val="DA291C"/>
                      </a:solidFill>
                    </a:lnT>
                    <a:lnB w="9525" cap="flat" cmpd="sng" algn="ctr">
                      <a:solidFill>
                        <a:srgbClr val="DA291C"/>
                      </a:solidFill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25,6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DA291C"/>
                      </a:solidFill>
                    </a:lnL>
                    <a:lnR w="9525" cap="flat" cmpd="sng" algn="ctr">
                      <a:solidFill>
                        <a:srgbClr val="DA291C"/>
                      </a:solidFill>
                    </a:lnR>
                    <a:lnT w="9525" cap="flat" cmpd="sng" algn="ctr">
                      <a:solidFill>
                        <a:srgbClr val="DA291C"/>
                      </a:solidFill>
                    </a:lnT>
                    <a:lnB w="9525" cap="flat" cmpd="sng" algn="ctr">
                      <a:solidFill>
                        <a:srgbClr val="DA291C"/>
                      </a:solidFill>
                    </a:lnB>
                    <a:solidFill>
                      <a:srgbClr val="DA291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Barcelona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1.411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200,0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26,8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Real Madrid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1.314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183,0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26,2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Bayern München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1.314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179,5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26,5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Arsenal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1.310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162,0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23,3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1A1614"/>
                          </a:solidFill>
                          <a:latin typeface="Calibri"/>
                        </a:rPr>
                        <a:t>Chelsea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1.276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144,5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0">
                          <a:solidFill>
                            <a:srgbClr val="1A1614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58368" y="596188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C837E"/>
                </a:solidFill>
                <a:latin typeface="Calibri"/>
              </a:rPr>
              <a:t>Skuad MU terbesar (34 pemain) sekaligus salah satu termuda (25,6 tahun) — konsisten dengan strategi memadukan talenta muda dan pemain berpengalaman.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1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Kinerja finansial: paling menguntungkan di Eropa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Indikator kedua Thompson — kinerja di atas rata-rata industri — dijawab dengan Appendix kasus serta Tabel 6.5 dan 6.6.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59268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Turnover Manchester United, £ juta — naik 121% sejak 2000 (CAGR ≈ 10,5%)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58368" y="2194560"/>
          <a:ext cx="592685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846320"/>
            <a:ext cx="59268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0" i="1">
                <a:solidFill>
                  <a:srgbClr val="8C837E"/>
                </a:solidFill>
                <a:latin typeface="Calibri"/>
              </a:rPr>
              <a:t>2000–2004 = Manchester United plc, 12 bulan hingga 31 Juli. 2005–2008 = Manchester United Limited, 11 bulan hingga 30 Juni. Kasus menyatakan kedua periode tidak sepenuhnya sebanding karena perubahan akuntansi.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9268" y="1883664"/>
            <a:ext cx="4564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Bukti pendukung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9268" y="2194560"/>
            <a:ext cx="456405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69268" y="2194560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88724" y="2395728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DA291C"/>
                </a:solidFill>
                <a:latin typeface="Georgia"/>
              </a:rPr>
              <a:t>18,2%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3476" y="2276856"/>
            <a:ext cx="26803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Net profit margin 2008 — laba bersih £46,8 jt atas turnover £257,1 jt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9268" y="2999232"/>
            <a:ext cx="456405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69268" y="2999232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88724" y="320040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DA291C"/>
                </a:solidFill>
                <a:latin typeface="Georgia"/>
              </a:rPr>
              <a:t>12,6%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3476" y="3081527"/>
            <a:ext cx="26803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Return on sales 2000–2006 (Tabel 6.6), tertinggi dari 10 klub besar Eropa; Real Madrid hanya 0,4%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9268" y="3803904"/>
            <a:ext cx="456405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69268" y="3803904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8724" y="4005072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DA291C"/>
                </a:solidFill>
                <a:latin typeface="Georgia"/>
              </a:rPr>
              <a:t>€101,9 jt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3476" y="3886200"/>
            <a:ext cx="26803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EBITDA 2009 (Tabel 6.5), tertinggi di Eropa. Margin EBITDA 31,4% vs Barcelona 22,3% dan Real Madrid 14,1%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9268" y="4608576"/>
            <a:ext cx="456405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69268" y="4608576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88724" y="4809744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DA291C"/>
                </a:solidFill>
                <a:latin typeface="Georgia"/>
              </a:rPr>
              <a:t>£1,14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3476" y="4690872"/>
            <a:ext cx="26803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Nilai klub (Forbes 2009), peringkat 1 dunia — di atas Barcelona £960 jt dan Real Madrid £850 jt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Satu angka yang merusak gambaran ini: </a:t>
            </a:r>
            <a:r>
              <a:rPr sz="1200" b="0">
                <a:solidFill>
                  <a:srgbClr val="FFFFFF"/>
                </a:solidFill>
                <a:latin typeface="Calibri"/>
              </a:rPr>
              <a:t>utang £616 juta (Tabel 6.5) — tertinggi kedua di Eropa setelah Arsenal (£896 juta). Utang ini berasal dari akuisisi Glazer 2005 yang dibiayai pinjaman, bukan dari operasi klub.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1 ·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Efisiensi modal: prestasi puncak, belanja paling hemat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Analisis turunan kami dari Tabel 6.7: bukti terkuat bahwa keunggulan MU bersifat kapabilitas, bukan sekadar daya beli.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59812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Belanja transfer bersih 2003–2009, £ juta (Tabel 6.7)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58368" y="2194560"/>
          <a:ext cx="5981227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023643" y="1883664"/>
            <a:ext cx="4509683" cy="1389888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23643" y="1883664"/>
            <a:ext cx="45720" cy="1389888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7963" y="202996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F8A7A"/>
                </a:solidFill>
                <a:latin typeface="Georgia"/>
              </a:rPr>
              <a:t>4,4×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7963" y="2560320"/>
            <a:ext cx="394275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Real Madrid membelanjakan 4,4 kali lipat belanja bersih MU (£438 jt vs £100 jt) namun poin performanya lebih rendah: 183,0 vs 192,5.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3643" y="3456432"/>
            <a:ext cx="4509683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4811" y="3529584"/>
            <a:ext cx="41073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Chelsea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4811" y="3739896"/>
            <a:ext cx="41073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£430 jt belanja bersih, hanya 144,5 poin performa.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3643" y="4059936"/>
            <a:ext cx="4509683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4811" y="4133088"/>
            <a:ext cx="41073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Barcelona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4811" y="4343400"/>
            <a:ext cx="41073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£249 jt → 200,0 poin; satu-satunya yang mengungguli MU.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3643" y="4663440"/>
            <a:ext cx="4509683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4811" y="4736592"/>
            <a:ext cx="41073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A291C"/>
                </a:solidFill>
                <a:latin typeface="Calibri"/>
              </a:rPr>
              <a:t>Arsenal &amp; Bayern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4811" y="4946904"/>
            <a:ext cx="41073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Lebih hemat (£22 jt, £122 jt) tetapi poinnya di bawah MU.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Jawaban Q1: </a:t>
            </a:r>
            <a:r>
              <a:rPr sz="1200" b="0">
                <a:solidFill>
                  <a:srgbClr val="1A1614"/>
                </a:solidFill>
                <a:latin typeface="Calibri"/>
              </a:rPr>
              <a:t>strategi Manchester United bekerja sangat baik — memenuhi kedua indikator Thompson sekaligus, dan berkinerja jauh di atas industri yang mayoritas pelakunya merugi. Yang harus dijelaskan Q2: resource dan capability apa yang menghasilkannya.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Inventarisasi resource Manchester United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Langkah pertama Q2: mendaftar aset kompetitif yang dimiliki klub, dipisahkan antara yang berwujud dan yang tak berwujud, semuanya berdasarkan bukti dari kasus.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57984"/>
            <a:ext cx="5254599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57984"/>
            <a:ext cx="5254599" cy="42062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49424"/>
            <a:ext cx="4797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Tangible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24912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Finansial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953512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EBITDA €101,9 jt — tertinggi di Eropa; laba bersih £46,8 jt (2008); ekuitas £294 jt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383280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Fisik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1880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Old Trafford, diperluas 2006 dengan tambahan 7.500 kursi; museum dan tur stadion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Organisasional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270248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Pemisahan manajemen tim (Ferguson) dan komersial (Gill, Arnold); MU International (1998)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700016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Kontraktual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928616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Kontrak 34 pemain; portofolio hak sponsorship berjangka panjang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2157984"/>
            <a:ext cx="5254599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2157984"/>
            <a:ext cx="5254599" cy="42062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183" y="2249424"/>
            <a:ext cx="4797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Intangible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183" y="2724912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Brand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8183" y="2953512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“Kami bukan sekadar klub olahraga, kami adalah merek internasional” — Andy Anson. Sub-merek Fred the Red, MUFC, Red Devil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8183" y="3383280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Basis fan global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3611880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80 juta pendukung di Asia; 1,2 juta pemegang kartu kredit MU di Korea Selatan saja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8183" y="4041648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Human capital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8183" y="4270248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Sir Alex Ferguson sejak 1986; Cristiano Ronaldo (peringkat 1 FIFA 2008–09, dijual Juni 2009); lebih dari 20 pemandu bakat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8183" y="4700016"/>
            <a:ext cx="4797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Calibri"/>
              </a:rPr>
              <a:t>Reputasi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8183" y="4928616"/>
            <a:ext cx="47973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Aon: MU “tidak ada tandingannya dalam kesadaran merek global”; AIG melompat ke peringkat 47 merek dunia dalam setahun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Perhatikan komposisinya: </a:t>
            </a:r>
            <a:r>
              <a:rPr sz="1200" b="0">
                <a:solidFill>
                  <a:srgbClr val="1A1614"/>
                </a:solidFill>
                <a:latin typeface="Calibri"/>
              </a:rPr>
              <a:t>aset paling bernilai Manchester United hampir seluruhnya intangible. Inilah yang membuat klub ini menarik sebagai kasus RBV — dan sekaligus rapuh, karena aset intangible bisa pergi berjalan kaki keluar dari pintu.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Enam capability inti Manchester United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Resource saja tidak menjelaskan keunggulan. Yang menjelaskan adalah kemampuan menjalankan aktivitas lebih cakap dari pesaing.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346649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3466490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A291C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95728"/>
            <a:ext cx="302757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Identifikasi &amp; pengembangan bakat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43200"/>
            <a:ext cx="302757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Ferguson memperluas staf pemandu bakat dari 5 menjadi lebih dari 20 orang dan membangun Youth Academy. Dua pemandu bakat penuh waktu ditempatkan di Brasil pada 2008.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2602" y="1883664"/>
            <a:ext cx="346649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2602" y="1883664"/>
            <a:ext cx="3466490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2058" y="2048256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A291C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058" y="2395728"/>
            <a:ext cx="302757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Pembentukan tim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2058" y="2743200"/>
            <a:ext cx="302757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“Tim terbaik menonjol karena mereka benar-benar sebuah tim — anggotanya terintegrasi sedemikian rupa sehingga tim bergerak dengan satu semangat.”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6836" y="1883664"/>
            <a:ext cx="346649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6836" y="1883664"/>
            <a:ext cx="3466490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6292" y="2048256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A291C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292" y="2395728"/>
            <a:ext cx="302757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Rotasi skuad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2743200"/>
            <a:ext cx="302757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Kasus menyebut Ferguson pelopor squad rotation — menyusun ulang tim untuk mengistirahatkan pemain dan menyesuaikan taktik pada kelemahan lawan.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913632"/>
            <a:ext cx="346649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913632"/>
            <a:ext cx="3466490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07822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A291C"/>
                </a:solidFill>
                <a:latin typeface="Georgia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425696"/>
            <a:ext cx="302757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Disiplin pasar transfer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773168"/>
            <a:ext cx="302757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Belanja kotor £322 jt namun bersih hanya £100 jt (2003–09). Menjual di puncak nilai: Beckham, Verón, van Nistelrooy, dan Ronaldo dengan rekor dunia £80 jt.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2602" y="3913632"/>
            <a:ext cx="346649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2602" y="3913632"/>
            <a:ext cx="3466490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82058" y="407822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A291C"/>
                </a:solidFill>
                <a:latin typeface="Georgia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2058" y="4425696"/>
            <a:ext cx="302757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Komersialisasi merek global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2058" y="4773168"/>
            <a:ext cx="302757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Sponsorship spesifik per teritori (Tri Indonesia, Bharti Airtel), sub-merek per segmen usia, MU Finance, MU Mobile, MUTV, Soccer Schools, dan tur Asia yang dirancang mengikuti kesepakatan komersial.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6836" y="3913632"/>
            <a:ext cx="346649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6836" y="3913632"/>
            <a:ext cx="3466490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6292" y="407822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DA291C"/>
                </a:solidFill>
                <a:latin typeface="Georgia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292" y="4425696"/>
            <a:ext cx="302757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1A1614"/>
                </a:solidFill>
                <a:latin typeface="Calibri"/>
              </a:rPr>
              <a:t>Tata kelola &amp; pemisahan peran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6292" y="4773168"/>
            <a:ext cx="302757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Kasus menyebut MU “paling berhasil membangun tata kelola perusahaan yang efektif” di antara klub Inggris. Glazer memilih peran pasif; Ferguson dan Gill diberi kebebasan mengambil keputusan.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Uji VRIN 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Sistem Ferguson diuji dengan empat 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Inilah inti kasus. Capability nomor 1 sampai 4 di slide sebelumnya semuanya bermuara pada satu orang. Kami uji satu per satu dengan bukti dari kasus.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57984"/>
          <a:ext cx="10874959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7994599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Vonis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Bukti dari kasus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Valuable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8F1A11"/>
                          </a:solidFill>
                          <a:latin typeface="Calibri"/>
                        </a:rPr>
                        <a:t>LOLOS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Poin Eropa tertinggi (1.460), tiga gelar liga beruntun, Liga Champions 2008, profitabilitas tertinggi di Eropa. Ferguson memenangkan lebih banyak gelar daripada seluruh sejarah klub sebelum kedatangannya.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Rare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8F1A11"/>
                          </a:solidFill>
                          <a:latin typeface="Calibri"/>
                        </a:rPr>
                        <a:t>LOLOS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Tabel 6.8 hanya memuat 16 pelatih paling dihormati dunia. Ferguson memiliki masa jabatan terpanjang di satu klub dalam daftar itu — sejak 1986.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Inimitable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8F1A11"/>
                          </a:solidFill>
                          <a:latin typeface="Calibri"/>
                        </a:rPr>
                        <a:t>LOLOS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Kasus menyatakan sendiri: “faktor penentu performa tim tetap menjadi misteri … bergantung pada campuran faktor kompleks yang menentang analisis.” Itu causal ambiguity. Ditambah path dependency 23 tahun dan social complexity — Ferguson membangun “hubungan personal dengan semua orang di sekitar klub: bukan hanya pemain dan pelatih, tetapi juga pegawai kantor, juru masak dan petugas binatu.”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Non-substitutable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GAGAL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Tidak ada substitusi untuk Ferguson. Kasus menegaskan “pelatih yang sangat sukses di satu tim sering gagal total di tim lain”. Ketika ia pergi, capability itu tidak berpindah ke penerusnya.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Kesimpulan: </a:t>
            </a:r>
            <a:r>
              <a:rPr sz="1200" b="0">
                <a:solidFill>
                  <a:srgbClr val="FFFFFF"/>
                </a:solidFill>
                <a:latin typeface="Calibri"/>
              </a:rPr>
              <a:t>keunggulan MU nyata (lolos V dan R) tetapi tidak sustainable karena gagal tes N. Klub memperlakukan Ferguson sebagai resource, padahal yang dibutuhkan adalah capability yang melekat pada organisasi.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Uji VRIN (2)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Mesin komersial: keunggulan yang benar-benar bertahan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Uji yang sama pada capability nomor 5 memberi hasil berbeda — dan menunjukkan letak keunggulan jangka panjang MU.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74247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Merek + basis fan global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94560"/>
            <a:ext cx="6742474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194560"/>
            <a:ext cx="566928" cy="6217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04288"/>
            <a:ext cx="566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9572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8F1A11"/>
                </a:solidFill>
                <a:latin typeface="Calibri"/>
              </a:rPr>
              <a:t>Lolos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304288"/>
            <a:ext cx="496853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Aon membayar £80 jt untuk 4 tahun (£20 jt per tahun) — nilai per tahun tertinggi di antara kesepakatan yang disebut kasus.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889504"/>
            <a:ext cx="6742474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889504"/>
            <a:ext cx="566928" cy="6217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566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906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8F1A11"/>
                </a:solidFill>
                <a:latin typeface="Calibri"/>
              </a:rPr>
              <a:t>Lolos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2999232"/>
            <a:ext cx="496853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80 juta pendukung di Asia; kasus menyebut hanya Real Madrid yang setara sebagai pemimpin eksploitasi merek global.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4448"/>
            <a:ext cx="6742474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584448"/>
            <a:ext cx="566928" cy="6217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694176"/>
            <a:ext cx="566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78561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8F1A11"/>
                </a:solidFill>
                <a:latin typeface="Calibri"/>
              </a:rPr>
              <a:t>Lolos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3694176"/>
            <a:ext cx="496853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Basis fan terbentuk lewat puluhan tahun prestasi dan siaran televisi — path dependency murni; tidak bisa dibeli.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79392"/>
            <a:ext cx="6742474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279392"/>
            <a:ext cx="566928" cy="6217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89120"/>
            <a:ext cx="566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480559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cap="all">
                <a:solidFill>
                  <a:srgbClr val="8F1A11"/>
                </a:solidFill>
                <a:latin typeface="Calibri"/>
              </a:rPr>
              <a:t>Lolos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2848" y="4389120"/>
            <a:ext cx="496853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Tidak ada substitusi bagi loyalitas pendukung. Sponsor membeli akses ke basis fan itu, bukan ke stadion atau ke pemain tertentu.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84890" y="2194560"/>
            <a:ext cx="3748436" cy="270662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84890" y="2194560"/>
            <a:ext cx="45720" cy="270662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0922" y="2377440"/>
            <a:ext cx="3218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Dua keunggulan, dua nasib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0922" y="2816352"/>
            <a:ext cx="3218084" cy="731520"/>
          </a:xfrm>
          <a:prstGeom prst="rect">
            <a:avLst/>
          </a:prstGeom>
          <a:solidFill>
            <a:srgbClr val="2A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5514" y="2907792"/>
            <a:ext cx="28340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Sistem Ferguson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5514" y="315468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8A7A"/>
                </a:solidFill>
                <a:latin typeface="Calibri"/>
              </a:rPr>
              <a:t>V R I · gagal 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5514" y="3337560"/>
            <a:ext cx="28340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C837E"/>
                </a:solidFill>
                <a:latin typeface="Calibri"/>
              </a:rPr>
              <a:t>Melekat pada individu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0922" y="3657600"/>
            <a:ext cx="3218084" cy="731520"/>
          </a:xfrm>
          <a:prstGeom prst="rect">
            <a:avLst/>
          </a:prstGeom>
          <a:solidFill>
            <a:srgbClr val="2A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05514" y="3749039"/>
            <a:ext cx="28340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Merek &amp; mesin komersial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5514" y="399592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FD6A8"/>
                </a:solidFill>
                <a:latin typeface="Calibri"/>
              </a:rPr>
              <a:t>V R I 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5514" y="4178808"/>
            <a:ext cx="28340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C837E"/>
                </a:solidFill>
                <a:latin typeface="Calibri"/>
              </a:rPr>
              <a:t>Melekat pada organisasi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0922" y="4462272"/>
            <a:ext cx="32180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A89F99"/>
                </a:solidFill>
                <a:latin typeface="Calibri"/>
              </a:rPr>
              <a:t>Jika Ferguson pergi dan prestasi turun, mesin komersial adalah satu-satunya bantalan yang tersisa.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Tetapi ada syarat yang dinyatakan kasus sendiri. </a:t>
            </a:r>
            <a:r>
              <a:rPr sz="1200" b="0">
                <a:solidFill>
                  <a:srgbClr val="1A1614"/>
                </a:solidFill>
                <a:latin typeface="Calibri"/>
              </a:rPr>
              <a:t>David Gill: “Selama tim terus menang, pendapatan komersial akan terus mengalir.” Kalimat itu bersyarat — mesin komersial lolos VRIN, tetapi bergantung pada capability yang justru akan hilang.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Dynamic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Tiga kali membangun ulang tim juara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Bukti bahwa MU bukan sekadar punya satu skuad hebat, melainkan kemampuan memperbarui basis resource-nya berulang kali.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3454298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29788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1986 – 1993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50592"/>
            <a:ext cx="29788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Pembersihan dan fondasi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98064"/>
            <a:ext cx="297881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Ferguson menyingkirkan pemain yang dinilai kurang berbakat atau kurang berkomitmen, mempertahankan Bryan Robson, mendatangkan Mark Hughes, Paul Ince, Eric Cantona dan Roy Keane. Ia juga menegakkan disiplin latihan.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206240"/>
            <a:ext cx="2978810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352544"/>
            <a:ext cx="297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DA291C"/>
                </a:solidFill>
                <a:latin typeface="Calibri"/>
              </a:rPr>
              <a:t>FA Cup 1990 · Piala Winners 1991 · gelar Premier League pertama 1993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698" y="1883664"/>
            <a:ext cx="3454298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869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6442" y="2103120"/>
            <a:ext cx="29788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1994 – 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6442" y="2450592"/>
            <a:ext cx="29788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Generasi akademi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6442" y="2798064"/>
            <a:ext cx="297881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Juara liga junior Inggris 1990 menghasilkan Giggs, Beckham, Butt, Gary dan Phil Neville, serta Scholes. Mereka menjadi inti tim yang mendominasi sepakbola Inggris selama satu dekade.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06442" y="4206240"/>
            <a:ext cx="2978810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6442" y="4352544"/>
            <a:ext cx="297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DA291C"/>
                </a:solidFill>
                <a:latin typeface="Calibri"/>
              </a:rPr>
              <a:t>Puncaknya 1999: liga, FA Cup, European Cup, Intercontinental Cup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79028" y="1883664"/>
            <a:ext cx="3454298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9028" y="1883664"/>
            <a:ext cx="3454298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6772" y="2103120"/>
            <a:ext cx="29788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2003 – 2008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2450592"/>
            <a:ext cx="29788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Regenerasi kedua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6772" y="2798064"/>
            <a:ext cx="297881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b="0" i="0">
                <a:solidFill>
                  <a:srgbClr val="4A433F"/>
                </a:solidFill>
                <a:latin typeface="Calibri"/>
              </a:rPr>
              <a:t>Beckham, Keane, Schmeichel, Cole, Sheringham dan Stam dijual. Penggantinya Ferdinand, Ronaldo, Rooney, Saha, van der Sar, Evra, Vidić, Hargreaves dan Carrick.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16772" y="4206240"/>
            <a:ext cx="2978810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6772" y="4352544"/>
            <a:ext cx="29788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i="0">
                <a:solidFill>
                  <a:srgbClr val="DA291C"/>
                </a:solidFill>
                <a:latin typeface="Calibri"/>
              </a:rPr>
              <a:t>Liga Champions 2008 · tiga gelar liga beruntun 2007–2009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Pertanyaan yang menentukan seluruh kasus: </a:t>
            </a:r>
            <a:r>
              <a:rPr sz="1200" b="0">
                <a:solidFill>
                  <a:srgbClr val="FFFFFF"/>
                </a:solidFill>
                <a:latin typeface="Calibri"/>
              </a:rPr>
              <a:t>dynamic capability ini milik siapa — Ferguson atau klub? Setelah Matt Busby pensiun pada 1969, MU tidak memenangi satu pun gelar liga selama 18 tahun. Kasus menyediakan preseden itu sendiri, dan itu bukan kebetulan.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2 · Sintesis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SWOT Manchester United, Juli 2009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Seluruh temuan Q1 dan Q2 dirangkum, lalu ditarik kesimpulan — sesuai langkah 2 dan 3 kerangka SWOT, bukan berhenti di daftar.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530031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5300319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299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Georgia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06654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50592"/>
            <a:ext cx="486140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Merek global dengan 80 juta pendukung di Asia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EBITDA tertinggi di Eropa (€101,9 jt); RoS 12,6%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Sistem akademi dan pemandu bakat yang matang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Disiplin transfer: belanja bersih hanya £100 jt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883664"/>
            <a:ext cx="530031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883664"/>
            <a:ext cx="5300319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2463" y="20299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DA291C"/>
                </a:solidFill>
                <a:latin typeface="Georgia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6511" y="206654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Weaknesses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463" y="2450592"/>
            <a:ext cx="486140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Utang £616 jt warisan akuisisi Glazer 2005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Ketergantungan ekstrem pada satu individu berusia 67 tahun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Belum ada rencana suksesi saat kasus ditulis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DA291C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Ronaldo, satu-satunya pemain MU di peringkat FIFA, baru dijual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493008"/>
            <a:ext cx="530031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493008"/>
            <a:ext cx="5300319" cy="457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6393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A1614"/>
                </a:solidFill>
                <a:latin typeface="Georgia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Opportunities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4059936"/>
            <a:ext cx="486140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Pasar Asia — India dan Cina disebut Aon sebagai target utama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Sponsorship spesifik teritori yang masih bisa diperluas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Pendapatan siaran Premier League tumbuh 43% dalam setahun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Monetisasi digital: MUTV, MU Mobile, toko online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3493008"/>
            <a:ext cx="530031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3493008"/>
            <a:ext cx="5300319" cy="457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36393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A1614"/>
                </a:solidFill>
                <a:latin typeface="Georgia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6511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A1614"/>
                </a:solidFill>
                <a:latin typeface="Calibri"/>
              </a:rPr>
              <a:t>Threats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4059936"/>
            <a:ext cx="486140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Inflasi transfer didorong Manchester City (£185 jt)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Pesaing berpemilik kaya: Abramovich, Sheikh Mansour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Beban bunga membatasi kemampuan membeli pemain</a:t>
            </a:r>
          </a:p>
          <a:p>
            <a:pPr marL="237744" indent="-237744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A1614"/>
                </a:solidFill>
                <a:latin typeface="Calibri"/>
              </a:rPr>
              <a:t>·  </a:t>
            </a:r>
            <a:r>
              <a:rPr sz="1050">
                <a:solidFill>
                  <a:srgbClr val="4A433F"/>
                </a:solidFill>
                <a:latin typeface="Calibri"/>
              </a:rPr>
              <a:t>Barcelona unggul poin performa (200,0 vs 192,5)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FA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8F1A11"/>
                </a:solidFill>
                <a:latin typeface="Calibri"/>
              </a:rPr>
              <a:t>Kesimpulan SWOT (langkah 2): </a:t>
            </a:r>
            <a:r>
              <a:rPr sz="1200" b="0">
                <a:solidFill>
                  <a:srgbClr val="1A1614"/>
                </a:solidFill>
                <a:latin typeface="Calibri"/>
              </a:rPr>
              <a:t>kekuatan MU cukup untuk menangkap peluang komersial di Asia, tetapi tidak cukup menahan ancaman di pasar pemain — karena dua kelemahan terbesarnya menyerang sisi sporting yang justru menjadi syarat bagi seluruh pendapatan komersialnya.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3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Rantai nilai Manchester United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Kerangka Thompson dipetakan ke aktivitas nyata sebuah klub sepakbola, lengkap dengan bukti dari kasus untuk tiap aktivitas.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Primary Activities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180740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176272"/>
            <a:ext cx="1807403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04288"/>
            <a:ext cx="15147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8C837E"/>
                </a:solidFill>
                <a:latin typeface="Calibri"/>
              </a:rPr>
              <a:t>Supply Chain
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98064"/>
            <a:ext cx="15147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Akuisisi pemain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255264"/>
            <a:ext cx="151479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Akademi, 20+ pemandu bakat, 2 pemandu di Brasil, pasar transfer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93787" y="2176272"/>
            <a:ext cx="180740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3787" y="2176272"/>
            <a:ext cx="1807403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0091" y="2304288"/>
            <a:ext cx="15147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8C837E"/>
                </a:solidFill>
                <a:latin typeface="Calibri"/>
              </a:rPr>
              <a:t>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0091" y="2798064"/>
            <a:ext cx="15147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Latihan &amp; laga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0091" y="3255264"/>
            <a:ext cx="151479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Regim latihan ketat, disiplin, rotasi skuad, penguasaan lini tengah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9206" y="2176272"/>
            <a:ext cx="180740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9206" y="2176272"/>
            <a:ext cx="1807403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5510" y="2304288"/>
            <a:ext cx="15147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8C837E"/>
                </a:solidFill>
                <a:latin typeface="Calibri"/>
              </a:rPr>
              <a:t>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5510" y="2798064"/>
            <a:ext cx="15147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Penyaluran siaran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5510" y="3255264"/>
            <a:ext cx="151479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Hak siar Premier League &amp; UEFA, MUTV, Old Trafford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64625" y="2176272"/>
            <a:ext cx="180740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64625" y="2176272"/>
            <a:ext cx="1807403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0929" y="2304288"/>
            <a:ext cx="15147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8C837E"/>
                </a:solidFill>
                <a:latin typeface="Calibri"/>
              </a:rPr>
              <a:t>Sales &amp;
Marketing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0929" y="2798064"/>
            <a:ext cx="15147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Monetisasi merek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0929" y="3255264"/>
            <a:ext cx="151479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Aon £80 jt, Nike, 13+ sponsor teritorial, tur Asia, lisensi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00044" y="2176272"/>
            <a:ext cx="180740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00044" y="2176272"/>
            <a:ext cx="1807403" cy="457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6348" y="2304288"/>
            <a:ext cx="15147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8C837E"/>
                </a:solidFill>
                <a:latin typeface="Calibri"/>
              </a:rPr>
              <a:t>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6348" y="2798064"/>
            <a:ext cx="15147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A1614"/>
                </a:solidFill>
                <a:latin typeface="Calibri"/>
              </a:rPr>
              <a:t>Layanan pendukung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6348" y="3255264"/>
            <a:ext cx="151479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Superstore, museum &amp; tur, Soccer Schools, MU Finance, MU Mobile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35463" y="2176272"/>
            <a:ext cx="1325880" cy="182880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45191" y="2670048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Margin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5191" y="2999232"/>
            <a:ext cx="11064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FF8A7A"/>
                </a:solidFill>
                <a:latin typeface="Calibri"/>
              </a:rPr>
              <a:t>RoS 12,6%
2000–2006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261104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1A1614"/>
                </a:solidFill>
                <a:latin typeface="Calibri"/>
              </a:rPr>
              <a:t>Support Activities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4553712"/>
            <a:ext cx="3490874" cy="126187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4553712"/>
            <a:ext cx="45720" cy="126187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663440"/>
            <a:ext cx="303367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Product R&amp;D, Technology &amp;
Systems Development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" y="5157216"/>
            <a:ext cx="303367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Metodologi Youth Academy, inovasi rotasi skuad, desain taktik, MUTV dan platform digital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50410" y="4553712"/>
            <a:ext cx="3490874" cy="126187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50410" y="4553712"/>
            <a:ext cx="45720" cy="126187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88154" y="4663440"/>
            <a:ext cx="303367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Human Resources Management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8154" y="5157216"/>
            <a:ext cx="303367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Rekrutmen pemain dan staf, struktur gaji ≈ 50% pendapatan, penegakan disiplin, prinsip “tidak ada pemain yang lebih besar dari klub”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2452" y="4553712"/>
            <a:ext cx="3490874" cy="126187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2452" y="4553712"/>
            <a:ext cx="45720" cy="126187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80196" y="4663440"/>
            <a:ext cx="303367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1A1614"/>
                </a:solidFill>
                <a:latin typeface="Calibri"/>
              </a:rPr>
              <a:t>General Administration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0196" y="5157216"/>
            <a:ext cx="303367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Pemisahan peran Gill (komersial) dan Ferguson (tim); dewan direksi keluarga Glazer; MU International sebagai kendaraan ekspansi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3 · Struktur Biaya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Di mana letak keunggulan biaya 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Hasil pemetaan rantai nilai: keunggulan biaya MU terletak di HULU — pada akuisisi pemain, bukan operasi atau pemasaran.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883664"/>
          <a:ext cx="6720840" cy="2340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80"/>
                <a:gridCol w="155448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Klub / liga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Gaji / pendapatan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Implikasi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Manchester United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50" b="1">
                          <a:solidFill>
                            <a:srgbClr val="8F1A11"/>
                          </a:solidFill>
                          <a:latin typeface="Calibri"/>
                        </a:rPr>
                        <a:t>≈ 50%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Setengah pendapatan bebas untuk investasi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Arsenal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≈ 50%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Model serupa: andalkan pemain muda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Rata-rata Premier League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Acuan industri untuk benchmarking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La Liga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Sedikit di atas Premier League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Serie 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Tertinggi di antara liga besar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1">
                          <a:solidFill>
                            <a:srgbClr val="1A1614"/>
                          </a:solidFill>
                          <a:latin typeface="Calibri"/>
                        </a:rPr>
                        <a:t>Chelsea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50" b="1">
                          <a:solidFill>
                            <a:srgbClr val="8F1A11"/>
                          </a:solidFill>
                          <a:latin typeface="Calibri"/>
                        </a:rPr>
                        <a:t>81%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100" b="0">
                          <a:solidFill>
                            <a:srgbClr val="1A1614"/>
                          </a:solidFill>
                          <a:latin typeface="Calibri"/>
                        </a:rPr>
                        <a:t>Selisih 31 poin dari MU; RoS −60,4%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297680"/>
            <a:ext cx="6720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8C837E"/>
                </a:solidFill>
                <a:latin typeface="Calibri"/>
              </a:rPr>
              <a:t>Angka gaji musim 2007–08 (kasus, halaman 578). Return on sales 2000–2006 dari Tabel 6.6.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847088"/>
            <a:ext cx="3788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Sumber keunggulan biaya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44968" y="2157984"/>
            <a:ext cx="3788359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44968" y="2157984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64424" y="2249424"/>
            <a:ext cx="33494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Hulu: akademi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64424" y="2487168"/>
            <a:ext cx="33494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Akademi menghasilkan pemain tanpa biaya transfer. Belanja bersih 2003–09 hanya £100 jt.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4968" y="2962656"/>
            <a:ext cx="3788359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44968" y="2962656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64424" y="3054096"/>
            <a:ext cx="33494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Hulu: jual di puncak nilai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64424" y="3291839"/>
            <a:ext cx="33494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Ronaldo dilepas dengan rekor dunia £80 jt; laba penjualan pemain £21,8 jt pada 2008.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4968" y="3767328"/>
            <a:ext cx="3788359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44968" y="3767328"/>
            <a:ext cx="45720" cy="73152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4" y="3858768"/>
            <a:ext cx="33494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Internal: disiplin gaji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4424" y="4096512"/>
            <a:ext cx="33494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Prinsip “tidak ada pemain yang lebih besar dari klub” menahan eskalasi gaji.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4968" y="4572000"/>
            <a:ext cx="3788359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44968" y="4572000"/>
            <a:ext cx="45720" cy="73152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4663440"/>
            <a:ext cx="334944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Beban yang melawan arah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4901184"/>
            <a:ext cx="33494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Amortisasi pemain naik dari £13,1 jt (2000) ke £35,5 jt (2008).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431536"/>
            <a:ext cx="10874959" cy="69494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5431536"/>
            <a:ext cx="45720" cy="69494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568696"/>
            <a:ext cx="10308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614"/>
                </a:solidFill>
                <a:latin typeface="Calibri"/>
              </a:rPr>
              <a:t/>
            </a:r>
            <a:r>
              <a:rPr sz="1200" b="1">
                <a:solidFill>
                  <a:srgbClr val="FF8A7A"/>
                </a:solidFill>
                <a:latin typeface="Calibri"/>
              </a:rPr>
              <a:t>Customer value proposition MU ada dua lapis. </a:t>
            </a:r>
            <a:r>
              <a:rPr sz="1200" b="0">
                <a:solidFill>
                  <a:srgbClr val="FFFFFF"/>
                </a:solidFill>
                <a:latin typeface="Calibri"/>
              </a:rPr>
              <a:t>Bagi pendukung: prestasi, warisan sejarah, dan pengalaman Old Trafford. Bagi sponsor: akses ke 80 juta pendukung Asia — dan bukti bahwa akses itu bekerja, yaitu lompatan AIG ke peringkat 47 merek dunia dalam satu tahun.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02336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329184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4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800" b="1" i="0">
                <a:solidFill>
                  <a:srgbClr val="1A1614"/>
                </a:solidFill>
                <a:latin typeface="Calibri"/>
              </a:rPr>
              <a:t>Weighted Competitive Strength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33F"/>
                </a:solidFill>
                <a:latin typeface="Calibri"/>
              </a:rPr>
              <a:t>Bobot dan rating disusun kelompok berdasarkan data Tabel 6.2, 6.3, 6.5, 6.6 dan 6.7 kasus. Format sel: rating (1–10) / skor tertimbang.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63040"/>
          <a:ext cx="10890504" cy="3136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868680"/>
                <a:gridCol w="1389888"/>
                <a:gridCol w="1389888"/>
                <a:gridCol w="1389888"/>
                <a:gridCol w="137160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Key Success Factor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Bobot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 United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Real Madrid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Barcelona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Chelsea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Arsenal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Kualitas skuad (T6.3)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6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1,35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10 / 1,50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1,35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6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Kapabilitas manajer (T6.8)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10 / 1,50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5 / 0,75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8 / 1,20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6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8 / 1,20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Akademi &amp; pemandu bakat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3 / 0,30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3 / 0,30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8 / 0,80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Merek &amp; basis fan global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10 / 1,50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1,35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7 / 1,05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5 / 0,75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6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Monetisasi komersial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10 / 1,00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7 / 0,70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5 / 0,50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6 / 0,60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Profitabilitas (T6.5, T6.6)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10 / 1,00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5 / 0,50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7 / 0,70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1 / 0,10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6 / 0,60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Fleksibilitas finansial — utang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4 / 0,40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7 / 0,70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5 / 0,50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2 / 0,20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Stadion &amp; matchday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9 / 0,45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8 / 0,40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0,45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5 / 0,25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0,45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4EFE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1A1614"/>
                          </a:solidFill>
                          <a:latin typeface="Calibri"/>
                        </a:rPr>
                        <a:t>Rekam jejak sporting (T6.2)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8F1A11"/>
                          </a:solidFill>
                          <a:latin typeface="Calibri"/>
                        </a:rPr>
                        <a:t>10 / 1,00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A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10 / 1,00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0">
                          <a:solidFill>
                            <a:srgbClr val="1A1614"/>
                          </a:solidFill>
                          <a:latin typeface="Calibri"/>
                        </a:rPr>
                        <a:t>9 / 0,90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E4DFDA"/>
                      </a:solidFill>
                    </a:lnL>
                    <a:lnR w="9525" cap="flat" cmpd="sng" algn="ctr">
                      <a:solidFill>
                        <a:srgbClr val="E4DFDA"/>
                      </a:solidFill>
                    </a:lnR>
                    <a:lnT w="9525" cap="flat" cmpd="sng" algn="ctr">
                      <a:solidFill>
                        <a:srgbClr val="E4DFDA"/>
                      </a:solidFill>
                    </a:lnT>
                    <a:lnB w="9525" cap="flat" cmpd="sng" algn="ctr">
                      <a:solidFill>
                        <a:srgbClr val="E4DF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 SKOR TERTIMBANG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400" b="1">
                          <a:solidFill>
                            <a:srgbClr val="FF8A7A"/>
                          </a:solidFill>
                          <a:latin typeface="Georgia"/>
                        </a:rPr>
                        <a:t>8,65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7,15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8,40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5,55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6,55</a:t>
                      </a:r>
                    </a:p>
                  </a:txBody>
                  <a:tcPr marL="91440" marR="91440" marT="50292" marB="50292" anchor="ctr">
                    <a:lnL w="9525" cap="flat" cmpd="sng" algn="ctr">
                      <a:solidFill>
                        <a:srgbClr val="1A1614"/>
                      </a:solidFill>
                    </a:lnL>
                    <a:lnR w="9525" cap="flat" cmpd="sng" algn="ctr">
                      <a:solidFill>
                        <a:srgbClr val="1A1614"/>
                      </a:solidFill>
                    </a:lnR>
                    <a:lnT w="9525" cap="flat" cmpd="sng" algn="ctr">
                      <a:solidFill>
                        <a:srgbClr val="1A1614"/>
                      </a:solidFill>
                    </a:lnT>
                    <a:lnB w="9525" cap="flat" cmpd="sng" algn="ctr">
                      <a:solidFill>
                        <a:srgbClr val="1A1614"/>
                      </a:solidFill>
                    </a:lnB>
                    <a:solidFill>
                      <a:srgbClr val="1A1614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4818888"/>
            <a:ext cx="346649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4818888"/>
            <a:ext cx="45720" cy="10607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928616"/>
            <a:ext cx="300929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DA291C"/>
                </a:solidFill>
                <a:latin typeface="Georgia"/>
              </a:rPr>
              <a:t>8,65 vs 8,40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294375"/>
            <a:ext cx="30092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Net advantage MU atas Barcelona hanya 0,25 poin — tipis, dan bertumpu pada satu baris saja.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2602" y="4818888"/>
            <a:ext cx="3466490" cy="106070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2602" y="4818888"/>
            <a:ext cx="45720" cy="10607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0346" y="4928616"/>
            <a:ext cx="300929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8A7A"/>
                </a:solidFill>
                <a:latin typeface="Georgia"/>
              </a:rPr>
              <a:t>7,90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0346" y="5294375"/>
            <a:ext cx="30092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Jika rating manajer turun 10 ke 5, total MU jatuh ke 7,90 — di bawah Barcelona.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6836" y="4818888"/>
            <a:ext cx="3466490" cy="106070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6836" y="4818888"/>
            <a:ext cx="45720" cy="10607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4580" y="4928616"/>
            <a:ext cx="300929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8A7A"/>
                </a:solidFill>
                <a:latin typeface="Georgia"/>
              </a:rPr>
              <a:t>8,3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4580" y="5294375"/>
            <a:ext cx="30092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Rating minimum yang harus dicapai penerus Ferguson agar MU sekadar bertahan sejajar Barcelona.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Pertanyaan 5 · Diterapkan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Worry list dan rekomendasi kelompok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Keluaran akhir Chapter 4: isu yang wajib masuk agenda David Gill, beserta rekomendasi tindakan kami.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48937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Worry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8937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176272"/>
            <a:ext cx="45720" cy="6035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31720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249424"/>
            <a:ext cx="414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Suksesi Ferguson tanpa peta jalan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468879"/>
            <a:ext cx="41439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Gill belum punya keputusan; Ferguson belum mengumumkan niat pensiun.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852928"/>
            <a:ext cx="48937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852928"/>
            <a:ext cx="45720" cy="6035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00837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2926080"/>
            <a:ext cx="414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Beban utang £616 juta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145536"/>
            <a:ext cx="41439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Membatasi daya saing justru saat Manchester City belanja £185 jt.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29584"/>
            <a:ext cx="48937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529584"/>
            <a:ext cx="45720" cy="6035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3685032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19" y="3602736"/>
            <a:ext cx="414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Lubang di skuad pasca-Ronaldo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822192"/>
            <a:ext cx="41439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Tidak ada lagi pemain MU di peringkat FIFA Tabel 6.3.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06240"/>
            <a:ext cx="48937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206240"/>
            <a:ext cx="45720" cy="6035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361688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4279392"/>
            <a:ext cx="414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Tidak ada penyangga organisasi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19" y="4498848"/>
            <a:ext cx="41439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Tanpa director of football, semua fungsi melekat pada manajer tim.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882896"/>
            <a:ext cx="48937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882896"/>
            <a:ext cx="45720" cy="6035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03834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19" y="4956048"/>
            <a:ext cx="414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Pendapatan komersial yang bersyarat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5175504"/>
            <a:ext cx="41439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Gill menyatakan aliran pendapatan bergantung pada tim yang menang.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559552"/>
            <a:ext cx="48937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559552"/>
            <a:ext cx="45720" cy="60350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715000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19" y="5632704"/>
            <a:ext cx="414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A1614"/>
                </a:solidFill>
                <a:latin typeface="Calibri"/>
              </a:rPr>
              <a:t>Tata kelola bergantung dua orang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19" y="5852160"/>
            <a:ext cx="41439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Peran pasif Glazer berjalan karena ada Ferguson dan Gill.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7859" y="1883664"/>
            <a:ext cx="56154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1A1614"/>
                </a:solidFill>
                <a:latin typeface="Calibri"/>
              </a:rPr>
              <a:t>Rekomendasi kelompok 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17859" y="2176272"/>
            <a:ext cx="5615467" cy="71323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17859" y="2176272"/>
            <a:ext cx="45720" cy="71323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7315" y="2258568"/>
            <a:ext cx="51765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F1A11"/>
                </a:solidFill>
                <a:latin typeface="Calibri"/>
              </a:rPr>
              <a:t>Ubah resource menjadi capability sebelum Ferguson pergi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7315" y="2478024"/>
            <a:ext cx="51765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Kodifikasikan sistem pemanduan bakat, akademi dan rotasi skuad menjadi prosedur organisasi. Selama ini sistem itu hidup di kepala satu orang.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17859" y="2962656"/>
            <a:ext cx="5615467" cy="71323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17859" y="2962656"/>
            <a:ext cx="45720" cy="71323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37315" y="3044951"/>
            <a:ext cx="51765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F1A11"/>
                </a:solidFill>
                <a:latin typeface="Calibri"/>
              </a:rPr>
              <a:t>Tunjuk penerus dengan masa transisi yang tumpang tindih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7315" y="3264408"/>
            <a:ext cx="51765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Penerus dari lingkaran dalam menjaga sistem, dengan Ferguson sebagai mentor transisi untuk menutup kekurangan wibawa yang dikhawatirkan Gill.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17859" y="3749039"/>
            <a:ext cx="5615467" cy="71323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17859" y="3749039"/>
            <a:ext cx="45720" cy="71323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37315" y="3831335"/>
            <a:ext cx="51765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F1A11"/>
                </a:solidFill>
                <a:latin typeface="Calibri"/>
              </a:rPr>
              <a:t>Tolak opsi “revolusi”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7315" y="4050791"/>
            <a:ext cx="51765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Mourinho berkonflik dengan Abramovich; Real Madrid memecat 10 pelatih dalam enam tahun. Membongkar infrastruktur Ferguson menghancurkan aset paling sulit ditiru.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17859" y="4535424"/>
            <a:ext cx="5615467" cy="71323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17859" y="4535424"/>
            <a:ext cx="45720" cy="71323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7315" y="4617720"/>
            <a:ext cx="51765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F1A11"/>
                </a:solidFill>
                <a:latin typeface="Calibri"/>
              </a:rPr>
              <a:t>Lindungi dan percepat mesin komersial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7315" y="4837176"/>
            <a:ext cx="51765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Merek adalah satu-satunya keunggulan yang lolos keempat tes VRIN. Perkuat ekspansi India dan Cina sekarang, selagi prestasi masih tinggi.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17859" y="5321808"/>
            <a:ext cx="5615467" cy="713232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17859" y="5321808"/>
            <a:ext cx="45720" cy="713232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37315" y="5404104"/>
            <a:ext cx="51765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F1A11"/>
                </a:solidFill>
                <a:latin typeface="Calibri"/>
              </a:rPr>
              <a:t>Turunkan leverage untuk memulihkan fleksibilitas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7315" y="5623560"/>
            <a:ext cx="51765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4A433F"/>
                </a:solidFill>
                <a:latin typeface="Calibri"/>
              </a:rPr>
              <a:t>Fleksibilitas finansial adalah baris terlemah MU pada matriks Q4 (rating 4). Tanpa perbaikan, klub tidak bisa merespons saat transisi menuntut belanja besar.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B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475488"/>
            <a:ext cx="274320" cy="50292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02336"/>
            <a:ext cx="104909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A1614"/>
                </a:solidFill>
                <a:latin typeface="Calibri"/>
              </a:rPr>
              <a:t>Epilog dan bahan diskusi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4A433F"/>
                </a:solidFill>
                <a:latin typeface="Calibri"/>
              </a:rPr>
              <a:t>Satu slide di luar cakupan kasus, untuk menguji apakah kesimpulan analisis kami terbukti. Kasus berhenti pada Juli 2009; Ferguson akhirnya pensiun pada Mei 2013.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57984"/>
            <a:ext cx="56549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DA291C"/>
                </a:solidFill>
                <a:latin typeface="Calibri"/>
              </a:rPr>
              <a:t>Apa yang terjadi setelah kasus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50591"/>
            <a:ext cx="565497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450591"/>
            <a:ext cx="45720" cy="64008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2374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Georgia"/>
              </a:rPr>
              <a:t>2013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43199"/>
            <a:ext cx="52160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Ferguson pensiun setelah gelar liga ke-13. Penerusnya, David Moyes, adalah kandidat jalur kesinambungan dan direkomendasikan Ferguson sendiri.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63824"/>
            <a:ext cx="565497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163824"/>
            <a:ext cx="45720" cy="64008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236976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Georgia"/>
              </a:rPr>
              <a:t>2013–2024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456432"/>
            <a:ext cx="52160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Moyes dipecat setelah 10 bulan. Menyusul Van Gaal, Mourinho, Solskjær, Rangnick, Ten Hag, Amorim — tujuh manajer dalam sebelas tahun.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77056"/>
            <a:ext cx="565497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877056"/>
            <a:ext cx="45720" cy="64008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395020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Georgia"/>
              </a:rPr>
              <a:t>Hasil sporting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169664"/>
            <a:ext cx="52160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Tidak ada gelar Premier League sejak 2013, meski belanja transfer bersih menjadi salah satu yang terbesar di Eropa.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590288"/>
            <a:ext cx="565497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4590288"/>
            <a:ext cx="45720" cy="64008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A291C"/>
                </a:solidFill>
                <a:latin typeface="Georgia"/>
              </a:rPr>
              <a:t>Hasil komersial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82896"/>
            <a:ext cx="52160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33F"/>
                </a:solidFill>
                <a:latin typeface="Calibri"/>
              </a:rPr>
              <a:t>Pendapatan tetap tumbuh dan klub bertahan di papan atas Deloitte Football Money League bertahun-tahun setelah prestasi merosot.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376672"/>
            <a:ext cx="5654978" cy="786384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5376672"/>
            <a:ext cx="45720" cy="78638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468112"/>
            <a:ext cx="50880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614"/>
                </a:solidFill>
                <a:latin typeface="Calibri"/>
              </a:rPr>
              <a:t/>
            </a:r>
            <a:r>
              <a:rPr sz="1150" b="1">
                <a:solidFill>
                  <a:srgbClr val="FF8A7A"/>
                </a:solidFill>
                <a:latin typeface="Calibri"/>
              </a:rPr>
              <a:t>Yang dikonfirmasi epilog ini: </a:t>
            </a:r>
            <a:r>
              <a:rPr sz="1150" b="0">
                <a:solidFill>
                  <a:srgbClr val="FFFFFF"/>
                </a:solidFill>
                <a:latin typeface="Calibri"/>
              </a:rPr>
              <a:t>keunggulan yang gagal tes N hilang bersama orangnya, sementara yang lolos keempat tes VRIN bertahan meski prestasi runtuh — persis prediksi Chapter 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9106" y="2157984"/>
            <a:ext cx="48542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 cap="all">
                <a:solidFill>
                  <a:srgbClr val="1A1614"/>
                </a:solidFill>
                <a:latin typeface="Calibri"/>
              </a:rPr>
              <a:t>Pertanyaan untuk diskusi kelas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9106" y="2450591"/>
            <a:ext cx="4854220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0274" y="256946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9458" y="2532887"/>
            <a:ext cx="41227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1A1614"/>
                </a:solidFill>
                <a:latin typeface="Calibri"/>
              </a:rPr>
              <a:t>Apakah sistem akademi dan pemanduan bakat MU benar-benar capability organisasi, atau hanya perpanjangan tangan Ferguson? Bukti apa yang mendukung tiap posisi?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106" y="3200399"/>
            <a:ext cx="4854220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274" y="3319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9458" y="3282695"/>
            <a:ext cx="41227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1A1614"/>
                </a:solidFill>
                <a:latin typeface="Calibri"/>
              </a:rPr>
              <a:t>Jika keunggulan komersial MU lolos keempat tes VRIN, mengapa klub tetap rentan? Apa yang dilewatkan uji VRIN saat dua keunggulan saling bergantung?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9106" y="3950207"/>
            <a:ext cx="4854220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80274" y="40690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9458" y="4032503"/>
            <a:ext cx="41227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1A1614"/>
                </a:solidFill>
                <a:latin typeface="Calibri"/>
              </a:rPr>
              <a:t>Apakah utang £616 juta adalah weakness atau justru threat dalam SWOT? Perbedaan klasifikasi ini mengubah rekomendasi yang mana?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9106" y="4700016"/>
            <a:ext cx="4854220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80274" y="4818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09458" y="4782312"/>
            <a:ext cx="41227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1A1614"/>
                </a:solidFill>
                <a:latin typeface="Calibri"/>
              </a:rPr>
              <a:t>Dengan matriks Q4, faktor mana yang paling efektif diserang pesaing untuk menjatuhkan posisi MU, dan apa pertahanan yang tersedia?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9106" y="5449824"/>
            <a:ext cx="4854220" cy="694944"/>
          </a:xfrm>
          <a:prstGeom prst="rect">
            <a:avLst/>
          </a:prstGeom>
          <a:solidFill>
            <a:srgbClr val="F4EFEA"/>
          </a:solidFill>
          <a:ln w="9525">
            <a:solidFill>
              <a:srgbClr val="E4DF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80274" y="55686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DA291C"/>
                </a:solidFill>
                <a:latin typeface="Georgia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9458" y="5532120"/>
            <a:ext cx="41227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1A1614"/>
                </a:solidFill>
                <a:latin typeface="Calibri"/>
              </a:rPr>
              <a:t>Seandainya Anda menjadi David Gill pada Juli 2009, Anda pilih kesinambungan atau revolusi? Pertahankan jawaban Anda dengan uji VRIN.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291072"/>
            <a:ext cx="10874959" cy="10972"/>
          </a:xfrm>
          <a:prstGeom prst="rect">
            <a:avLst/>
          </a:prstGeom>
          <a:solidFill>
            <a:srgbClr val="E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28232"/>
            <a:ext cx="9777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 cap="all">
                <a:solidFill>
                  <a:srgbClr val="8C837E"/>
                </a:solidFill>
                <a:latin typeface="Calibri"/>
              </a:rPr>
              <a:t>Studi Kasus  ·  Manchester United: Preparing for Life without Ferguson (Grant, 2010)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8927" y="64282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837E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1A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0799" y="0"/>
            <a:ext cx="310896" cy="6858000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3218688"/>
            <a:ext cx="1554480" cy="3657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A89F99"/>
                </a:solidFill>
                <a:latin typeface="Calibri"/>
              </a:rPr>
              <a:t>Kami membuka sesi tanya jawab dan diskusi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261104"/>
            <a:ext cx="121916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 cap="all">
                <a:solidFill>
                  <a:srgbClr val="DA291C"/>
                </a:solidFill>
                <a:latin typeface="Calibri"/>
              </a:rPr>
              <a:t>Kelompok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535424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Fitra Aidila   ·   Aulia Sisca Rahmadiyanti   ·   Bagaskoro   ·   Imam Prayudha   ·   Tegar Awanto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047488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C837E"/>
                </a:solidFill>
                <a:latin typeface="Calibri"/>
              </a:rPr>
              <a:t>Strategic Management  ·  Dr. Rangga Almahendra, S.T., M.M.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A514D"/>
                </a:solidFill>
                <a:latin typeface="Calibri"/>
              </a:rPr>
              <a:t>Chapter 4 — Thompson, Peteraf, Gamble &amp; Strickland   |   Kasus: Manchester United, Robert M. Grant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a Company's Resources and Competitive Position</dc:title>
  <dc:subject>Strategic Management - Chapter 4 &amp; Manchester United case</dc:subject>
  <dc:creator>Kelompok 4</dc:creator>
  <cp:keywords/>
  <dc:description>Fitra Aidila, Aulia Sisca Rahmadiyanti, Bagaskoro, Imam Prayudha, Tegar Awanto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