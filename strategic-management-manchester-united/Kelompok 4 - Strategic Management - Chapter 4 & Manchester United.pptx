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Turnover</c:v>
                </c:pt>
              </c:strCache>
            </c:strRef>
          </c:tx>
          <c:spPr>
            <a:solidFill>
              <a:srgbClr val="8C837E"/>
            </a:solidFill>
            <a:ln>
              <a:noFill/>
            </a:ln>
          </c:spPr>
          <c:dPt>
            <c:idx val="7"/>
            <c:spPr>
              <a:solidFill>
                <a:srgbClr val="DA291C"/>
              </a:solidFill>
              <a:ln>
                <a:noFill/>
              </a:ln>
            </c:spPr>
          </c:dPt>
          <c:dPt>
            <c:idx val="8"/>
            <c:spPr>
              <a:solidFill>
                <a:srgbClr val="DA291C"/>
              </a:solidFill>
              <a:ln>
                <a:noFill/>
              </a:ln>
            </c:spPr>
          </c:dPt>
          <c:cat>
            <c:strRef>
              <c:f>Sheet1!$A$2:$A$10</c:f>
              <c:strCache>
                <c:ptCount val="9"/>
                <c:pt idx="0">
                  <c:v>2000</c:v>
                </c:pt>
                <c:pt idx="1">
                  <c:v>2001</c:v>
                </c:pt>
                <c:pt idx="2">
                  <c:v>2002</c:v>
                </c:pt>
                <c:pt idx="3">
                  <c:v>2003</c:v>
                </c:pt>
                <c:pt idx="4">
                  <c:v>2004</c:v>
                </c:pt>
                <c:pt idx="5">
                  <c:v>2005</c:v>
                </c:pt>
                <c:pt idx="6">
                  <c:v>2006</c:v>
                </c:pt>
                <c:pt idx="7">
                  <c:v>2007</c:v>
                </c:pt>
                <c:pt idx="8">
                  <c:v>2008</c:v>
                </c:pt>
              </c:strCache>
            </c:strRef>
          </c:cat>
          <c:val>
            <c:numRef>
              <c:f>Sheet1!$B$2:$B$10</c:f>
              <c:numCache>
                <c:formatCode>General</c:formatCode>
                <c:ptCount val="9"/>
                <c:pt idx="0">
                  <c:v>116.0</c:v>
                </c:pt>
                <c:pt idx="1">
                  <c:v>129.6</c:v>
                </c:pt>
                <c:pt idx="2">
                  <c:v>146.1</c:v>
                </c:pt>
                <c:pt idx="3">
                  <c:v>173.0</c:v>
                </c:pt>
                <c:pt idx="4">
                  <c:v>169.1</c:v>
                </c:pt>
                <c:pt idx="5">
                  <c:v>157.2</c:v>
                </c:pt>
                <c:pt idx="6">
                  <c:v>167.8</c:v>
                </c:pt>
                <c:pt idx="7">
                  <c:v>212.2</c:v>
                </c:pt>
                <c:pt idx="8">
                  <c:v>257.1</c:v>
                </c:pt>
              </c:numCache>
            </c:numRef>
          </c:val>
        </c:ser>
        <c:dLbls>
          <c:numFmt formatCode="0.0" sourceLinked="0"/>
          <c:txPr>
            <a:bodyPr/>
            <a:lstStyle/>
            <a:p>
              <a:pPr>
                <a:defRPr sz="950" b="1">
                  <a:solidFill>
                    <a:srgbClr val="4A433F"/>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E4DFDA"/>
            </a:solidFill>
          </a:ln>
        </c:spPr>
        <c:txPr>
          <a:bodyPr/>
          <a:lstStyle/>
          <a:p>
            <a:pPr>
              <a:defRPr sz="1000" b="0">
                <a:solidFill>
                  <a:srgbClr val="4A433F"/>
                </a:solidFill>
                <a:latin typeface="Calibri"/>
              </a:defRPr>
            </a:pPr>
          </a:p>
        </c:txPr>
        <c:crossAx val="-2113994440"/>
        <c:crosses val="autoZero"/>
        <c:auto val="1"/>
        <c:lblAlgn val="ctr"/>
        <c:lblOffset val="100"/>
        <c:noMultiLvlLbl val="0"/>
      </c:catAx>
      <c:valAx>
        <c:axId val="-2113994440"/>
        <c:scaling>
          <c:max val="3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Net transfer fees</c:v>
                </c:pt>
              </c:strCache>
            </c:strRef>
          </c:tx>
          <c:spPr>
            <a:solidFill>
              <a:srgbClr val="8C837E"/>
            </a:solidFill>
            <a:ln>
              <a:noFill/>
            </a:ln>
          </c:spPr>
          <c:dPt>
            <c:idx val="1"/>
            <c:spPr>
              <a:solidFill>
                <a:srgbClr val="DA291C"/>
              </a:solidFill>
              <a:ln>
                <a:noFill/>
              </a:ln>
            </c:spPr>
          </c:dPt>
          <c:cat>
            <c:strRef>
              <c:f>Sheet1!$A$2:$A$8</c:f>
              <c:strCache>
                <c:ptCount val="7"/>
                <c:pt idx="0">
                  <c:v>Arsenal</c:v>
                </c:pt>
                <c:pt idx="1">
                  <c:v>Manchester United</c:v>
                </c:pt>
                <c:pt idx="2">
                  <c:v>Bayern München</c:v>
                </c:pt>
                <c:pt idx="3">
                  <c:v>Liverpool</c:v>
                </c:pt>
                <c:pt idx="4">
                  <c:v>Barcelona</c:v>
                </c:pt>
                <c:pt idx="5">
                  <c:v>Chelsea</c:v>
                </c:pt>
                <c:pt idx="6">
                  <c:v>Real Madrid</c:v>
                </c:pt>
              </c:strCache>
            </c:strRef>
          </c:cat>
          <c:val>
            <c:numRef>
              <c:f>Sheet1!$B$2:$B$8</c:f>
              <c:numCache>
                <c:formatCode>General</c:formatCode>
                <c:ptCount val="7"/>
                <c:pt idx="0">
                  <c:v>22</c:v>
                </c:pt>
                <c:pt idx="1">
                  <c:v>100</c:v>
                </c:pt>
                <c:pt idx="2">
                  <c:v>122</c:v>
                </c:pt>
                <c:pt idx="3">
                  <c:v>157</c:v>
                </c:pt>
                <c:pt idx="4">
                  <c:v>249</c:v>
                </c:pt>
                <c:pt idx="5">
                  <c:v>430</c:v>
                </c:pt>
                <c:pt idx="6">
                  <c:v>438</c:v>
                </c:pt>
              </c:numCache>
            </c:numRef>
          </c:val>
        </c:ser>
        <c:dLbls>
          <c:numFmt formatCode="0" sourceLinked="0"/>
          <c:txPr>
            <a:bodyPr/>
            <a:lstStyle/>
            <a:p>
              <a:pPr>
                <a:defRPr sz="1000" b="1">
                  <a:solidFill>
                    <a:srgbClr val="4A433F"/>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E4DFDA"/>
            </a:solidFill>
          </a:ln>
        </c:spPr>
        <c:txPr>
          <a:bodyPr/>
          <a:lstStyle/>
          <a:p>
            <a:pPr>
              <a:defRPr sz="1050" b="0">
                <a:solidFill>
                  <a:srgbClr val="1A1614"/>
                </a:solidFill>
                <a:latin typeface="Calibri"/>
              </a:defRPr>
            </a:pPr>
          </a:p>
        </c:txPr>
        <c:crossAx val="-2113994440"/>
        <c:crosses val="autoZero"/>
        <c:auto val="1"/>
        <c:lblAlgn val="ctr"/>
        <c:lblOffset val="100"/>
        <c:noMultiLvlLbl val="0"/>
      </c:catAx>
      <c:valAx>
        <c:axId val="-2113994440"/>
        <c:scaling>
          <c:max val="49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Pembuka. Sebutkan: hari ini kita bahas Chapter 4, yaitu cara menilai kekuatan sebuah perusahaan DARI DALAM. Chapter 3 kemarin menilai dari luar (industri dan pesaing); Chapter 4 menilai isi perusahaannya sendiri.</a:t>
            </a:r>
          </a:p>
          <a:p/>
          <a:p>
            <a:r>
              <a:rPr sz="1200">
                <a:latin typeface="Calibri"/>
              </a:rPr>
              <a:t>Lalu kita pakai kerangka itu untuk membedah satu kasus nyata: Manchester United pada Juli 2009, saat klub itu harus menyiapkan pengganti Sir Alex Ferguson.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Jelaskan pembagiannya: separuh pertama teori, separuh kedua praktik. Tekankan bahwa urutannya sengaja sama, supaya audiens bisa melihat framework mana dipakai untuk menjawab apa.</a:t>
            </a:r>
          </a:p>
          <a:p/>
          <a:p>
            <a:r>
              <a:rPr sz="1200">
                <a:latin typeface="Calibri"/>
              </a:rPr>
              <a:t>Kalau waktu mepet, bagian A bisa dipercepat di slide 5, 14 dan 15.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Ini peta jalan seluruh bagian A. Bacakan keenam pertanyaannya sekali, pelan, supaya audiens punya kerangka.</a:t>
            </a:r>
          </a:p>
          <a:p/>
          <a:p>
            <a:r>
              <a:rPr sz="1200">
                <a:latin typeface="Calibri"/>
              </a:rPr>
              <a:t>Poin yang perlu ditekankan: urutannya bukan acak. Q1 mengukur HASIL. Q2 sampai Q4 mencari SEBABNYA di dalam perusahaan. Q5 membandingkan dengan pesaing. Q6 memutuskan apa yang harus dikerjakan lebih dulu.</a:t>
            </a:r>
          </a:p>
          <a:p/>
          <a:p>
            <a:r>
              <a:rPr sz="1200">
                <a:latin typeface="Calibri"/>
              </a:rPr>
              <a:t>Catatan: banyak edisi lama buku ini hanya punya lima pertanyaan, dengan SWOT ditempel di dalam analisis resource. Edisi 2024 memisahkannya menjadi Q2 tersendiri.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Mulai dengan: sebelum menilai strategi, kita harus tahu dulu strateginya apa. Buku menampilkan Figure 4.1 yang memetakan komponen strategi sebuah perusahaan bisnis tunggal: langkah bersaing, strategi fungsional (R&amp;D, produksi, pemasaran, keuangan, SDM, IT), aliansi, cakupan geografis.</a:t>
            </a:r>
          </a:p>
          <a:p/>
          <a:p>
            <a:r>
              <a:rPr sz="1200">
                <a:latin typeface="Calibri"/>
              </a:rPr>
              <a:t>Setelah itu baru diukur. Buku menyebut DUA indikator terbaik:</a:t>
            </a:r>
          </a:p>
          <a:p>
            <a:r>
              <a:rPr sz="1200">
                <a:latin typeface="Calibri"/>
              </a:rPr>
              <a:t>(1) apakah perusahaan mencatat kenaikan kekuatan keuangan dan profitabilitas;</a:t>
            </a:r>
          </a:p>
          <a:p>
            <a:r>
              <a:rPr sz="1200">
                <a:latin typeface="Calibri"/>
              </a:rPr>
              <a:t>(2) apakah kekuatan bersaing dan posisi pasarnya membaik.</a:t>
            </a:r>
          </a:p>
          <a:p/>
          <a:p>
            <a:r>
              <a:rPr sz="1200">
                <a:latin typeface="Calibri"/>
              </a:rPr>
              <a:t>Enam indikator spesifik di slide ini diambil persis dari daftar buku. Perhatikan dua yang sering dilupakan: tingkat retensi pelanggan dan kecepatan akuisisi pelanggan baru. Keduanya sinyal awal, muncul sebelum angka laba berubah.</a:t>
            </a:r>
          </a:p>
          <a:p/>
          <a:p>
            <a:r>
              <a:rPr sz="1200">
                <a:latin typeface="Calibri"/>
              </a:rPr>
              <a:t>Kalimat kunci buku: kinerja keuangan yang lesu dan pencapaian pasar yang biasa-biasa saja hampir selalu menandakan strategi lemah, eksekusi lemah, atau keduanya.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Jangan bacakan semua rasio satu per satu; audiens akan bosan. Cukup jelaskan logika keempat kelompoknya:</a:t>
            </a:r>
          </a:p>
          <a:p/>
          <a:p>
            <a:r>
              <a:rPr sz="1200">
                <a:latin typeface="Calibri"/>
              </a:rPr>
              <a:t>PROFITABILITAS menjawab: apakah bisnisnya menghasilkan uang?</a:t>
            </a:r>
          </a:p>
          <a:p>
            <a:r>
              <a:rPr sz="1200">
                <a:latin typeface="Calibri"/>
              </a:rPr>
              <a:t>LIKUIDITAS menjawab: apakah bisa bayar tagihan bulan depan?</a:t>
            </a:r>
          </a:p>
          <a:p>
            <a:r>
              <a:rPr sz="1200">
                <a:latin typeface="Calibri"/>
              </a:rPr>
              <a:t>LEVERAGE menjawab: seberapa banyak yang dibiayai utang, dan seberapa berisiko itu?</a:t>
            </a:r>
          </a:p>
          <a:p>
            <a:r>
              <a:rPr sz="1200">
                <a:latin typeface="Calibri"/>
              </a:rPr>
              <a:t>AKTIVITAS menjawab: apakah aset dipakai efisien?</a:t>
            </a:r>
          </a:p>
          <a:p/>
          <a:p>
            <a:r>
              <a:rPr sz="1200">
                <a:latin typeface="Calibri"/>
              </a:rPr>
              <a:t>Beberapa patokan dari buku yang enak dikutip:</a:t>
            </a:r>
          </a:p>
          <a:p>
            <a:r>
              <a:rPr sz="1200">
                <a:latin typeface="Calibri"/>
              </a:rPr>
              <a:t>- ROE 12–15% itu rata-rata.</a:t>
            </a:r>
          </a:p>
          <a:p>
            <a:r>
              <a:rPr sz="1200">
                <a:latin typeface="Calibri"/>
              </a:rPr>
              <a:t>- Long-term debt-to-capital di bawah 0,25 bagus; di atas 0,50 berarti terlalu bergantung pada utang jangka panjang.</a:t>
            </a:r>
          </a:p>
          <a:p>
            <a:r>
              <a:rPr sz="1200">
                <a:latin typeface="Calibri"/>
              </a:rPr>
              <a:t>- Times-interest-earned minimal 2,0; di atas 3,0 baru dianggap sehat.</a:t>
            </a:r>
          </a:p>
          <a:p>
            <a:r>
              <a:rPr sz="1200">
                <a:latin typeface="Calibri"/>
              </a:rPr>
              <a:t>- P/E di atas 20 berarti investor percaya prospeknya; di bawah 12 berarti laba masa depan dianggap berisiko.</a:t>
            </a:r>
          </a:p>
          <a:p/>
          <a:p>
            <a:r>
              <a:rPr sz="1200">
                <a:latin typeface="Calibri"/>
              </a:rPr>
              <a:t>Tekankan free cash flow: laba setelah pajak + depresiasi − belanja modal − dividen. Itu uang yang benar-benar bebas dipakai.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Sambungkan dari slide sebelumnya: angka keuangan memberi tahu APAKAH strategi bekerja, tapi tidak memberi tahu KENAPA. Di situlah SWOT masuk.</a:t>
            </a:r>
          </a:p>
          <a:p/>
          <a:p>
            <a:r>
              <a:rPr sz="1200">
                <a:latin typeface="Calibri"/>
              </a:rPr>
              <a:t>Definisi buku: SWOT adalah singkatan dari kekuatan dan kelemahan internal, peluang pasar, dan ancaman eksternal. Nama lainnya Situational Analysis.</a:t>
            </a:r>
          </a:p>
          <a:p/>
          <a:p>
            <a:r>
              <a:rPr sz="1200">
                <a:latin typeface="Calibri"/>
              </a:rPr>
              <a:t>Empat pertanyaan pemandu yang dikutip di kolom kanan itu langsung dari buku, dan itulah yang membedakan SWOT yang bagus dari sekadar daftar:</a:t>
            </a:r>
          </a:p>
          <a:p>
            <a:r>
              <a:rPr sz="1200">
                <a:latin typeface="Calibri"/>
              </a:rPr>
              <a:t>- Apakah kekuatan perusahaan cukup besar untuk menutup kelemahannya?</a:t>
            </a:r>
          </a:p>
          <a:p>
            <a:r>
              <a:rPr sz="1200">
                <a:latin typeface="Calibri"/>
              </a:rPr>
              <a:t>- Apakah strateginya sudah dibangun di atas kekuatan itu dan melindungi dari kelemahannya?</a:t>
            </a:r>
          </a:p>
          <a:p>
            <a:r>
              <a:rPr sz="1200">
                <a:latin typeface="Calibri"/>
              </a:rPr>
              <a:t>- Apakah kekuatannya melampaui kekuatan pesaing, atau justru kalah?</a:t>
            </a:r>
          </a:p>
          <a:p>
            <a:r>
              <a:rPr sz="1200">
                <a:latin typeface="Calibri"/>
              </a:rPr>
              <a:t>- Apakah strateginya efektif menangkal ancaman dan menangkap peluang?</a:t>
            </a:r>
          </a:p>
          <a:p/>
          <a:p>
            <a:r>
              <a:rPr sz="1200">
                <a:latin typeface="Calibri"/>
              </a:rPr>
              <a:t>Istilah 'neraca strategis' juga dari buku: kekuatan itu aset bersaing, kelemahan itu kewajiban bersaing. Kondisi ideal adalah asetnya jauh lebih berat dari kewajibannya.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Ini konsep yang paling sering keliru dipakai mahasiswa, jadi pelan-pelan.</a:t>
            </a:r>
          </a:p>
          <a:p/>
          <a:p>
            <a:r>
              <a:rPr sz="1200">
                <a:latin typeface="Calibri"/>
              </a:rPr>
              <a:t>COMPETENCE: perusahaan sudah belajar mengerjakan suatu aktivitas dengan cakap. Buku menyebut ini 'a true capability'. Contoh: hampir semua produsen sereal punya kemampuan pemasaran yang memadai.</a:t>
            </a:r>
          </a:p>
          <a:p/>
          <a:p>
            <a:r>
              <a:rPr sz="1200">
                <a:latin typeface="Calibri"/>
              </a:rPr>
              <a:t>DISTINCTIVE COMPETENCE: kemampuan yang membuat perusahaan mengerjakan aktivitas itu lebih baik dari para pesaingnya. Kuncinya kata 'lebih baik dari rival'.</a:t>
            </a:r>
          </a:p>
          <a:p/>
          <a:p>
            <a:r>
              <a:rPr sz="1200">
                <a:latin typeface="Calibri"/>
              </a:rPr>
              <a:t>CORE COMPETENCE: aktivitas yang dikerjakan dengan cakap DAN berada di pusat strategi perusahaan, serta memberi kontribusi besar pada keberhasilan pasar dan profitabilitasnya. Biasanya juga distinctive.</a:t>
            </a:r>
          </a:p>
          <a:p/>
          <a:p>
            <a:r>
              <a:rPr sz="1200">
                <a:latin typeface="Calibri"/>
              </a:rPr>
              <a:t>Kenapa ini penting: core competence sering bisa dipakai membuka pasar baru atau permintaan produk baru — jadi mesin pertumbuhan. Contoh P&amp;G: kemampuan mengelola merek melahirkan portofolio produk pemimpin pasar yang terus bertambah.</a:t>
            </a:r>
          </a:p>
          <a:p/>
          <a:p>
            <a:r>
              <a:rPr sz="1200">
                <a:latin typeface="Calibri"/>
              </a:rPr>
              <a:t>Kalau ditanya bedanya dengan capability di Q3 nanti: capability itu istilah umum (buku bilang capability dan competence itu sama). Distinctive dan core adalah dua tingkat di atasnya.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a:t>
            </a:r>
          </a:p>
          <a:p/>
          <a:p>
            <a:r>
              <a:rPr sz="1200">
                <a:latin typeface="Calibri"/>
              </a:rPr>
              <a:t>Enam tindakan di bawah itu persis isi kotak kanan Figure 4.2. Sebutkan dua-tiga saja saat presentasi, sisanya biar audiens baca.</a:t>
            </a:r>
          </a:p>
          <a:p/>
          <a:p>
            <a:r>
              <a:rPr sz="1200">
                <a:latin typeface="Calibri"/>
              </a:rPr>
              <a:t>Tutup dengan pengakuan bukunya sendiri: keindahan SWOT adalah kesederhanaannya, tapi itu juga keterbatasan utamanya. Untuk analisis yang lebih dalam kita butuh alat berikutnya — dan itulah isi Q3 sampai Q5. Kalimat ini jembatan yang bagus ke slide berikutnya.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Definisi persis dari buku:</a:t>
            </a:r>
          </a:p>
          <a:p>
            <a:r>
              <a:rPr sz="1200">
                <a:latin typeface="Calibri"/>
              </a:rPr>
              <a:t>RESOURCE adalah aset bersaing yang dimiliki atau dikendalikan perusahaan.</a:t>
            </a:r>
          </a:p>
          <a:p>
            <a:r>
              <a:rPr sz="1200">
                <a:latin typeface="Calibri"/>
              </a:rPr>
              <a:t>CAPABILITY adalah kapasitas perusahaan mengerjakan suatu aktivitas internal dengan cakap. Buku menyebut capability bisa juga disebut competence.</a:t>
            </a:r>
          </a:p>
          <a:p/>
          <a:p>
            <a:r>
              <a:rPr sz="1200">
                <a:latin typeface="Calibri"/>
              </a:rPr>
              <a:t>Hubungannya: capability dibangun dan dijalankan lewat pengerahan resource. Contoh buku — kemampuan Nestlé mengelola lebih dari 2.000 merek bersandar pada pengetahuan manajer mereknya, keahlian departemen pemasarannya, dan relasinya dengan peritel di hampir 200 negara.</a:t>
            </a:r>
          </a:p>
          <a:p/>
          <a:p>
            <a:r>
              <a:rPr sz="1200">
                <a:latin typeface="Calibri"/>
              </a:rPr>
              <a:t>Soal Tabel 4.3: human assets sengaja ditaruh di kolom INTANGIBLE, meski orangnya nyata, karena yang bernilai adalah keahlian dan pengetahuannya. Teknologi sebaliknya ditaruh di TANGIBLE menurut konvensi, walaupun beberapa jenis seperti rahasia dagang sebetulnya lebih cocok intangible.</a:t>
            </a:r>
          </a:p>
          <a:p/>
          <a:p>
            <a:r>
              <a:rPr sz="1200">
                <a:latin typeface="Calibri"/>
              </a:rPr>
              <a:t>Pesan buku yang penting: yang penting bukan bagaimana sebuah resource dikategorikan, tapi bahwa tidak ada resource yang terlewat saat diinventarisasi. Kategori hanya alat bantu supaya tidak ada yang lolos.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Kenapa capability lebih sulit ditemukan: buku bilang capability itu entitas yang lebih kompleks dari resource, dan hampir semuanya berbasis pengetahuan — tinggal di kepala orang, di modal intelektual perusahaan, atau di proses dan sistem organisasi.</a:t>
            </a:r>
          </a:p>
          <a:p/>
          <a:p>
            <a:r>
              <a:rPr sz="1200">
                <a:latin typeface="Calibri"/>
              </a:rPr>
              <a:t>Contoh buku untuk cara 1: kemampuan pengiriman cepat Amazon bersandar pada pengetahuan manajer fulfillment center-nya, relasinya dengan UPS, dan pengalaman merchandiser-nya memprediksi arus persediaan.</a:t>
            </a:r>
          </a:p>
          <a:p/>
          <a:p>
            <a:r>
              <a:rPr sz="1200">
                <a:latin typeface="Calibri"/>
              </a:rPr>
              <a:t>Kelemahan cara 2 (pendekatan fungsional) adalah yang paling penting diingat: banyak capability terpenting justru bersifat lintas fungsi, sehingga tidak akan ketemu kalau kita hanya melihat per departemen.</a:t>
            </a:r>
          </a:p>
          <a:p/>
          <a:p>
            <a:r>
              <a:rPr sz="1200">
                <a:latin typeface="Calibri"/>
              </a:rPr>
              <a:t>Definisi resource bundle dari buku: 'a linked and closely integrated set of competitive assets centered around one or more cross-functional capabilities'.</a:t>
            </a:r>
          </a:p>
          <a:p/>
          <a:p>
            <a:r>
              <a:rPr sz="1200">
                <a:latin typeface="Calibri"/>
              </a:rPr>
              <a:t>Contoh PetSmart yang bagus untuk dikutip: kemampuan rantai pasok dan pemasarannya diimbangi Petco, tapi PetSmart tetap unggul lewat kemampuan layanan pelanggannya — grooming, layanan dokter hewan, dan penitipan.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Nama lengkapnya di buku: 'the VRIN tests for sustainable competitive advantage'.</a:t>
            </a:r>
          </a:p>
          <a:p/>
          <a:p>
            <a:r>
              <a:rPr sz="1200">
                <a:latin typeface="Calibri"/>
              </a:rPr>
              <a:t>Jelaskan pembagiannya dulu, baru satu per satu:</a:t>
            </a:r>
          </a:p>
          <a:p>
            <a:r>
              <a:rPr sz="1200">
                <a:latin typeface="Calibri"/>
              </a:rPr>
              <a:t>Dua tes pertama (V dan R) menentukan apakah sesuatu bisa MENJADI sumber keunggulan. Dua tes terakhir (I dan N) menentukan apakah keunggulan itu BERTAHAN.</a:t>
            </a:r>
          </a:p>
          <a:p/>
          <a:p>
            <a:r>
              <a:rPr sz="1200">
                <a:latin typeface="Calibri"/>
              </a:rPr>
              <a:t>Untuk tes I, dua istilah wajib dijelaskan:</a:t>
            </a:r>
          </a:p>
          <a:p>
            <a:r>
              <a:rPr sz="1200">
                <a:latin typeface="Calibri"/>
              </a:rPr>
              <a:t>SOCIAL COMPLEXITY — keunggulan melekat pada hal sosial: budaya perusahaan, hubungan antarmanajer, kepercayaan dengan pelanggan atau pemasok. Tidak bisa dibeli.</a:t>
            </a:r>
          </a:p>
          <a:p>
            <a:r>
              <a:rPr sz="1200">
                <a:latin typeface="Calibri"/>
              </a:rPr>
              <a:t>CAUSAL AMBIGUITY — sebab-akibatnya sendiri sulit diurai. Bahkan perusahaan pemiliknya tidak sepenuhnya tahu kenapa resource itu bekerja. Kalau sebabnya tidak jelas, pesaing tidak tahu apa yang harus ditiru.</a:t>
            </a:r>
          </a:p>
          <a:p/>
          <a:p>
            <a:r>
              <a:rPr sz="1200">
                <a:latin typeface="Calibri"/>
              </a:rPr>
              <a:t>Tes N adalah yang paling sulit dinilai, kata buku, karena substitusi lebih sulit dikenali. Caranya: cari resource lain, di perusahaan mana pun, yang bisa menjalankan FUNGSI yang sama.</a:t>
            </a:r>
          </a:p>
          <a:p/>
          <a:p>
            <a:r>
              <a:rPr sz="1200">
                <a:latin typeface="Calibri"/>
              </a:rPr>
              <a:t>Fakta penting untuk ditutup: sangat sedikit perusahaan punya resource yang lolos keempat tes. Kebanyakan hanya punya campuran — satu dua sangat berharga, beberapa bagus, banyak yang biasa saja. Contoh yang lolos keempatnya: Costco dan Lincoln Electric.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Kalimat pembuka yang bagus: bahkan Costco dan Lincoln Electric — dua perusahaan yang lolos keempat tes VRIN — tidak boleh berpuas diri.</a:t>
            </a:r>
          </a:p>
          <a:p/>
          <a:p>
            <a:r>
              <a:rPr sz="1200">
                <a:latin typeface="Calibri"/>
              </a:rPr>
              <a:t>Tiga risiko di kiri itu langsung dari buku. Frasa 'from diamonds to rust' layak dikutip: aset strategis bisa berubah dari berlian jadi karat kalau teknologi, selera pelanggan, atau jalur distribusi berubah.</a:t>
            </a:r>
          </a:p>
          <a:p/>
          <a:p>
            <a:r>
              <a:rPr sz="1200">
                <a:latin typeface="Calibri"/>
              </a:rPr>
              <a:t>Tantangan manajemen menurut buku ada dua:</a:t>
            </a:r>
          </a:p>
          <a:p>
            <a:r>
              <a:rPr sz="1200">
                <a:latin typeface="Calibri"/>
              </a:rPr>
              <a:t>(1) terus memodifikasi aset bersaing yang sudah ada;</a:t>
            </a:r>
          </a:p>
          <a:p>
            <a:r>
              <a:rPr sz="1200">
                <a:latin typeface="Calibri"/>
              </a:rPr>
              <a:t>(2) waspada mencari peluang membangun jenis capability yang benar-benar baru.</a:t>
            </a:r>
          </a:p>
          <a:p/>
          <a:p>
            <a:r>
              <a:rPr sz="1200">
                <a:latin typeface="Calibri"/>
              </a:rPr>
              <a:t>Definisi dynamic capability: kemampuan untuk memodifikasi, memperdalam, atau menambah resource dan capability perusahaan yang sudah ada.</a:t>
            </a:r>
          </a:p>
          <a:p/>
          <a:p>
            <a:r>
              <a:rPr sz="1200">
                <a:latin typeface="Calibri"/>
              </a:rPr>
              <a:t>Contoh tambahan kalau ditanya: BMW mengembangkan kemampuan baru di desain mesin hibrida sehingga bisa meluncurkan i4 dan iX. Bristol-Myers Squibb dengan strategi akuisisi 'string of pearls' mengganti paten yang habis masa berlakunya dengan paten dan kemampuan baru.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Definisi buku: rantai nilai adalah seluruh aktivitas yang dikerjakan perusahaan secara internal, yang digabungkan menciptakan nilai bagi pembeli.</a:t>
            </a:r>
          </a:p>
          <a:p/>
          <a:p>
            <a:r>
              <a:rPr sz="1200">
                <a:latin typeface="Calibri"/>
              </a:rPr>
              <a:t>Penting disampaikan: daftar aktivitas di Figure 4.3 itu ILUSTRATIF, bukan baku. Isinya berbeda-beda per industri. Contoh dari buku:</a:t>
            </a:r>
          </a:p>
          <a:p>
            <a:r>
              <a:rPr sz="1200">
                <a:latin typeface="Calibri"/>
              </a:rPr>
              <a:t>- Peritel seperti Nordstrom: pemilihan barang, tata letak toko, iklan, layanan pelanggan.</a:t>
            </a:r>
          </a:p>
          <a:p>
            <a:r>
              <a:rPr sz="1200">
                <a:latin typeface="Calibri"/>
              </a:rPr>
              <a:t>- Operator hotel seperti Marriott: reservasi dan operasi hotel.</a:t>
            </a:r>
          </a:p>
          <a:p>
            <a:r>
              <a:rPr sz="1200">
                <a:latin typeface="Calibri"/>
              </a:rPr>
              <a:t>- Supply chain management krusial bagi Boeing dan Amazon, tapi bukan komponen rantai nilai di Goldman Sachs atau WhatsApp.</a:t>
            </a:r>
          </a:p>
          <a:p>
            <a:r>
              <a:rPr sz="1200">
                <a:latin typeface="Calibri"/>
              </a:rPr>
              <a:t>- Pengiriman ke pelanggan krusial bagi Domino's, tidak penting bagi Starbucks.</a:t>
            </a:r>
          </a:p>
          <a:p/>
          <a:p>
            <a:r>
              <a:rPr sz="1200">
                <a:latin typeface="Calibri"/>
              </a:rPr>
              <a:t>Tiga selisih di bawah adalah bagian yang paling sering tertukar:</a:t>
            </a:r>
          </a:p>
          <a:p>
            <a:r>
              <a:rPr sz="1200">
                <a:latin typeface="Calibri"/>
              </a:rPr>
              <a:t>V − P: nilai yang dirasakan pembeli dikurangi harga yang ia bayar. Ini customer value proposition.</a:t>
            </a:r>
          </a:p>
          <a:p>
            <a:r>
              <a:rPr sz="1200">
                <a:latin typeface="Calibri"/>
              </a:rPr>
              <a:t>P − C: harga dikurangi biaya perusahaan. Ini margin laba, dan buku menekankan margin harus ikut dilacak — tanpa laba yang cukup, perusahaan tidak bisa bertahan lama walau nilainya bagus.</a:t>
            </a:r>
          </a:p>
          <a:p>
            <a:r>
              <a:rPr sz="1200">
                <a:latin typeface="Calibri"/>
              </a:rPr>
              <a:t>V − C: Total Economic Value, seluruh nilai ekonomi yang tercipta.</a:t>
            </a:r>
          </a:p>
          <a:p/>
          <a:p>
            <a:r>
              <a:rPr sz="1200">
                <a:latin typeface="Calibri"/>
              </a:rPr>
              <a:t>Illustration Capsule 4.1 di buku memberi contoh nyata: rincian biaya tiap aktivitas rantai nilai di Everlane Inc., peritel pakaian online Amerika.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Rantai nilai sistem kadang disebut juga vertical chain.</a:t>
            </a:r>
          </a:p>
          <a:p/>
          <a:p>
            <a:r>
              <a:rPr sz="1200">
                <a:latin typeface="Calibri"/>
              </a:rPr>
              <a:t>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a:t>
            </a:r>
          </a:p>
          <a:p/>
          <a:p>
            <a:r>
              <a:rPr sz="1200">
                <a:latin typeface="Calibri"/>
              </a:rPr>
              <a:t>Kenapa rantai hilir penting: (1) biaya dan margin distributor ikut masuk ke harga yang dibayar konsumen akhir; (2) mutu kerja mereka memengaruhi volume penjualan dan kepuasan pelanggan.</a:t>
            </a:r>
          </a:p>
          <a:p/>
          <a:p>
            <a:r>
              <a:rPr sz="1200">
                <a:latin typeface="Calibri"/>
              </a:rPr>
              <a:t>Angka yang enak dikutip: lebih dari 80 persen perusahaan Fortune 500 dilaporkan memakai benchmarking.</a:t>
            </a:r>
          </a:p>
          <a:p/>
          <a:p>
            <a:r>
              <a:rPr sz="1200">
                <a:latin typeface="Calibri"/>
              </a:rPr>
              <a:t>Buku punya dua Illustration Capsule di bagian ini — 4.2 tentang benchmarking di industri tenaga surya, yang memakai ukuran Levelized Cost of Energy, dan 4.3 khusus tentang etika benchmarking.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area itu persis sama dengan tiga bagian rantai nilai sistem di slide sebelumnya — tunjukkan hubungannya, jangan biarkan audiens menebak.</a:t>
            </a:r>
          </a:p>
          <a:p/>
          <a:p>
            <a:r>
              <a:rPr sz="1200">
                <a:latin typeface="Calibri"/>
              </a:rPr>
              <a:t>Catatan dari buku untuk kolom 1: memperbaiki kerugian biaya internal dengan cara menekan pemasok atau mitra hilir adalah PILIHAN TERAKHIR, bukan langkah pertama.</a:t>
            </a:r>
          </a:p>
          <a:p/>
          <a:p>
            <a:r>
              <a:rPr sz="1200">
                <a:latin typeface="Calibri"/>
              </a:rPr>
              <a:t>Satu contoh konkret yang bagus: banyak peritel menemukan bahwa menyumbangkan barang retur ke lembaga amal lalu mengambil potongan pajaknya menghasilkan kerugian lebih kecil dibanding menanggung biaya logistik baliknya.</a:t>
            </a:r>
          </a:p>
          <a:p/>
          <a:p>
            <a:r>
              <a:rPr sz="1200">
                <a:latin typeface="Calibri"/>
              </a:rPr>
              <a:t>Untuk bagian hilir, contoh Walmart dan Target: keduanya mewajibkan pemasok tiba dalam jendela dua hari. Itu bukan cuma menaikkan efisiensi pusat distribusi, tapi juga memangkas waktu tunggu bongkar yang mahal bagi si pengirim. Win-win.</a:t>
            </a:r>
          </a:p>
          <a:p/>
          <a:p>
            <a:r>
              <a:rPr sz="1200">
                <a:latin typeface="Calibri"/>
              </a:rPr>
              <a:t>Tutup dengan dua jalur di kotak hitam. Tekankan bahwa keduanya menuntut usaha terus-menerus, bukan sekali jadi. Buku bilang reputasi dan merek unggul dibangun pelan-pelan lewat investasi dan pesan yang konsisten.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Tabel di slide ini menyalin Tabel 4.4 buku, dengan tiga baris terakhir digabung supaya muat. Baris yang digabung: technological skills, dealer network, dan new product innovation capability — bobot masing-masing 0,05.</a:t>
            </a:r>
          </a:p>
          <a:p/>
          <a:p>
            <a:r>
              <a:rPr sz="1200">
                <a:latin typeface="Calibri"/>
              </a:rPr>
              <a:t>Pelajaran paling penting dari contoh ini, dan sering ditanyakan:</a:t>
            </a:r>
          </a:p>
          <a:p>
            <a:r>
              <a:rPr sz="1200">
                <a:latin typeface="Calibri"/>
              </a:rPr>
              <a:t>ABC punya nilai tinggi di banyak hal — technological skills 10, dealer network 9, inovasi produk 9, mutu 8, reputasi 8. Tapi semua faktor itu bobotnya KECIL. Artinya ABC kuat di area yang tidak banyak berpengaruh di pasar.</a:t>
            </a:r>
          </a:p>
          <a:p/>
          <a:p>
            <a:r>
              <a:rPr sz="1200">
                <a:latin typeface="Calibri"/>
              </a:rPr>
              <a:t>Sebaliknya posisi biaya relatif berbobot 0,30, paling besar. Di situ ABC hanya 5 sementara Rival 1 dapat 10. Itulah sebabnya Rival 1 menang telak.</a:t>
            </a:r>
          </a:p>
          <a:p/>
          <a:p>
            <a:r>
              <a:rPr sz="1200">
                <a:latin typeface="Calibri"/>
              </a:rPr>
              <a:t>Implikasi strategisnya, langsung dari buku:</a:t>
            </a:r>
          </a:p>
          <a:p>
            <a:r>
              <a:rPr sz="1200">
                <a:latin typeface="Calibri"/>
              </a:rPr>
              <a:t>- ABC sebaiknya menyerang Rival 2, bukan Rival 1, karena skor Rival 2 jauh lebih rendah dan ABC unggul di lima area tempat Rival 2 lemah.</a:t>
            </a:r>
          </a:p>
          <a:p>
            <a:r>
              <a:rPr sz="1200">
                <a:latin typeface="Calibri"/>
              </a:rPr>
              <a:t>- Tapi ABC harus hati-hati memotong harga, karena Rival 1 bisa membalas dan pasti menang perang harga.</a:t>
            </a:r>
          </a:p>
          <a:p>
            <a:r>
              <a:rPr sz="1200">
                <a:latin typeface="Calibri"/>
              </a:rPr>
              <a:t>- Untuk bertahan, ABC perlu mengarahkan sebagian strateginya ke penurunan biaya.</a:t>
            </a:r>
          </a:p>
          <a:p/>
          <a:p>
            <a:r>
              <a:rPr sz="1200">
                <a:latin typeface="Calibri"/>
              </a:rPr>
              <a:t>Prinsipnya: kuat di faktor yang bobotnya kecil tidak menghasilkan kekuatan pasar.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Kalimat buku yang paling tegas: 'The final and most important analytic step is to zero in on exactly what strategic issues company managers need to address — and resolve.'</a:t>
            </a:r>
          </a:p>
          <a:p/>
          <a:p>
            <a:r>
              <a:rPr sz="1200">
                <a:latin typeface="Calibri"/>
              </a:rPr>
              <a:t>Contoh isi priority list dari buku, bagus untuk dibacakan satu dua:</a:t>
            </a:r>
          </a:p>
          <a:p>
            <a:r>
              <a:rPr sz="1200">
                <a:latin typeface="Calibri"/>
              </a:rPr>
              <a:t>- bagaimana menahan serangan pesaing asing baru;</a:t>
            </a:r>
          </a:p>
          <a:p>
            <a:r>
              <a:rPr sz="1200">
                <a:latin typeface="Calibri"/>
              </a:rPr>
              <a:t>- bagaimana melawan diskon harga pesaing;</a:t>
            </a:r>
          </a:p>
          <a:p>
            <a:r>
              <a:rPr sz="1200">
                <a:latin typeface="Calibri"/>
              </a:rPr>
              <a:t>- bagaimana menurunkan biaya yang terlalu tinggi;</a:t>
            </a:r>
          </a:p>
          <a:p>
            <a:r>
              <a:rPr sz="1200">
                <a:latin typeface="Calibri"/>
              </a:rPr>
              <a:t>- bagaimana mempertahankan laju pertumbuhan ketika permintaan melambat;</a:t>
            </a:r>
          </a:p>
          <a:p>
            <a:r>
              <a:rPr sz="1200">
                <a:latin typeface="Calibri"/>
              </a:rPr>
              <a:t>- apakah perlu mengakuisisi pesaing untuk menutup kelemahan;</a:t>
            </a:r>
          </a:p>
          <a:p>
            <a:r>
              <a:rPr sz="1200">
                <a:latin typeface="Calibri"/>
              </a:rPr>
              <a:t>- apakah perlu masuk pasar luar negeri;</a:t>
            </a:r>
          </a:p>
          <a:p>
            <a:r>
              <a:rPr sz="1200">
                <a:latin typeface="Calibri"/>
              </a:rPr>
              <a:t>- apa yang harus dilakukan menghadapi produk substitusi;</a:t>
            </a:r>
          </a:p>
          <a:p>
            <a:r>
              <a:rPr sz="1200">
                <a:latin typeface="Calibri"/>
              </a:rPr>
              <a:t>- apa yang harus dilakukan menghadapi basis pelanggan yang menua.</a:t>
            </a:r>
          </a:p>
          <a:p/>
          <a:p>
            <a:r>
              <a:rPr sz="1200">
                <a:latin typeface="Calibri"/>
              </a:rPr>
              <a:t>Tekankan perangkap pertama: daftar ini berisi PERTANYAAN, bukan jawaban. Mahasiswa sering langsung menulis solusi di sini, dan itu keliru menurut buku.</a:t>
            </a:r>
          </a:p>
          <a:p/>
          <a:p>
            <a:r>
              <a:rPr sz="1200">
                <a:latin typeface="Calibri"/>
              </a:rPr>
              <a:t>Perangkap kedua adalah diagnosisnya: kalau isu-isunya relatif kecil, berarti strategi sekarang sudah pada jalurnya dan cukup disetel halus. Kalau isunya serius, berarti strategi sekarang tidak cocok untuk jalan ke depan, dan menyusun strategi baru harus jadi prioritas utama.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Ini slide jembatan. Ulangi sekali lagi keenam pertanyaannya, lalu sambungkan ke bagian kasus.</a:t>
            </a:r>
          </a:p>
          <a:p/>
          <a:p>
            <a:r>
              <a:rPr sz="1200">
                <a:latin typeface="Calibri"/>
              </a:rPr>
              <a:t>Poin yang layak ditekankan: Q2 dan Q3 sama-sama melihat ke dalam perusahaan, tapi kedalamannya berbeda. SWOT itu alat cepat dan sederhana; analisis resource dan VRIN itu alat yang lebih dalam dan lebih ketat. Buku sendiri bilang kesederhanaan SWOT adalah kekuatan sekaligus keterbatasannya.</a:t>
            </a:r>
          </a:p>
          <a:p/>
          <a:p>
            <a:r>
              <a:rPr sz="1200">
                <a:latin typeface="Calibri"/>
              </a:rPr>
              <a:t>Kalau ada yang bertanya kenapa ada enam pertanyaan padahal di internet banyak yang menyebut lima: edisi lama buku ini memang memakai lima pertanyaan, dengan SWOT diselipkan di dalam analisis resource. Edisi 2024 memisahkan SWOT menjadi Q2 tersendiri, sehingga jumlahnya jadi enam.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Buka dengan jujur soal sumber: kasus ini ditulis Robert M. Grant, bukan diambil dari buku Thompson. Yang kita pakai dari Thompson adalah KERANGKANYA, yaitu enam pertanyaan Chapter 4.</a:t>
            </a:r>
          </a:p>
          <a:p/>
          <a:p>
            <a:r>
              <a:rPr sz="1200">
                <a:latin typeface="Calibri"/>
              </a:rPr>
              <a:t>Tegaskan waktunya: Juli 2009. Ferguson MASIH menjabat. Jadi semua analisis kita berdiri di titik itu, bukan dengan pengetahuan hari ini.</a:t>
            </a:r>
          </a:p>
          <a:p/>
          <a:p>
            <a:r>
              <a:rPr sz="1200">
                <a:latin typeface="Calibri"/>
              </a:rPr>
              <a:t>Ceritakan pembukanya supaya audiens masuk: David Gill sedang ikut tur Asia bersama tim. Pertandingan di Malaysia, Indonesia, Korea, dan Cina itu resminya latihan pra-musim, tapi kasus menyebut tujuannya hampir seluruhnya komersial. Rutenya bahkan ditentukan oleh kesepakatan sponsor yang sudah ada.</a:t>
            </a:r>
          </a:p>
          <a:p/>
          <a:p>
            <a:r>
              <a:rPr sz="1200">
                <a:latin typeface="Calibri"/>
              </a:rPr>
              <a:t>Tapi yang ada di kepala Gill bukan urusan komersial. Yang ada di kepalanya adalah: siapa yang akan menggantikan Ferguson.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Tujuan slide ini satu: membuat audiens paham bahwa sepakbola Eropa adalah industri yang besar tapi rugi. Itu penting, karena Q1 menilai kinerja RELATIF terhadap industri.</a:t>
            </a:r>
          </a:p>
          <a:p/>
          <a:p>
            <a:r>
              <a:rPr sz="1200">
                <a:latin typeface="Calibri"/>
              </a:rPr>
              <a:t>Angka 8 dari 10 klub merugi itu dari Tabel 6.6 kasus. Yang untung cuma Manchester United, Arsenal, Bayern, dan Real Madrid (nyaris nol, 0,4%). Chelsea minus 60,4% dan Inter Milan minus 78,4%.</a:t>
            </a:r>
          </a:p>
          <a:p/>
          <a:p>
            <a:r>
              <a:rPr sz="1200">
                <a:latin typeface="Calibri"/>
              </a:rPr>
              <a:t>Jelaskan mekanisme 'yang kaya makin kaya': lolos Champions League memberi uang besar, uang itu dipakai beli pemain bagus, pemain bagus membuat lolos lagi tahun depan. Lingkaran ini yang memisahkan empat klub teratas Inggris dari sisanya sejak 1992.</a:t>
            </a:r>
          </a:p>
          <a:p/>
          <a:p>
            <a:r>
              <a:rPr sz="1200">
                <a:latin typeface="Calibri"/>
              </a:rPr>
              <a:t>Kalau ditanya: nilai kontrak sponsor jersey yang disebut kasus — Juventus dengan Tamoil €110 juta untuk 5 tahun, Arsenal dengan Emirates £100 juta untuk 15 tahun, MU dengan Aon £80 juta untuk 4 tahun, Chelsea dengan Samsung £50 juta untuk 5 tahun. Kalau dihitung per tahun, MU paling mahal.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Sumber angka: Tabel 6.2 (poin Eropa), Tabel 6.1 (juara liga), dan Tabel 6.7 (poin performa, ukuran dan usia skuad) di kasus.</a:t>
            </a:r>
          </a:p>
          <a:p/>
          <a:p>
            <a:r>
              <a:rPr sz="1200">
                <a:latin typeface="Calibri"/>
              </a:rPr>
              <a:t>Bedakan dua kolom poin supaya tidak membingungkan:</a:t>
            </a:r>
          </a:p>
          <a:p>
            <a:r>
              <a:rPr sz="1200">
                <a:latin typeface="Calibri"/>
              </a:rPr>
              <a:t>- Poin Eropa 2000–09 (Tabel 6.2): akumulasi performa di liga domestik, piala domestik, dan Liga Champions, disesuaikan dengan tingkat kesulitan liga masing-masing. MU nomor satu.</a:t>
            </a:r>
          </a:p>
          <a:p>
            <a:r>
              <a:rPr sz="1200">
                <a:latin typeface="Calibri"/>
              </a:rPr>
              <a:t>- Poin performa (Tabel 6.7): ukuran serupa, dipakai kasus untuk dibandingkan dengan belanja transfer. Di sini MU nomor dua, tipis di bawah Barcelona.</a:t>
            </a:r>
          </a:p>
          <a:p/>
          <a:p>
            <a:r>
              <a:rPr sz="1200">
                <a:latin typeface="Calibri"/>
              </a:rPr>
              <a:t>Kalau ada yang tanya kenapa peringkatnya beda: keduanya memang ukuran yang berbeda dengan cakupan berbeda. Jangan dipaksa sama.</a:t>
            </a:r>
          </a:p>
          <a:p/>
          <a:p>
            <a:r>
              <a:rPr sz="1200">
                <a:latin typeface="Calibri"/>
              </a:rPr>
              <a:t>Catatan skuad di bawah tabel itu penting untuk slide capability nanti: skuad terbesar tapi termuda kedua. Itu bukti strategi mengembangkan pemain muda sendiri, bukan membeli pemain jadi.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Grafik ini memakai baris Turnover dari Appendix kasus. Dua batang merah adalah dua tahun terakhir sebelum kasus ditulis.</a:t>
            </a:r>
          </a:p>
          <a:p/>
          <a:p>
            <a:r>
              <a:rPr sz="1200">
                <a:latin typeface="Calibri"/>
              </a:rPr>
              <a:t>Jelaskan pola grafiknya, jangan cuma ditunjuk: naik terus sampai 2003, turun di 2004 dan 2005, lalu melonjak tajam 2007 dan 2008. Lonjakan itu sebagian datang dari perluasan Old Trafford tahun 2006 yang menambah 7.500 kursi, dan sebagian dari pendapatan Liga Champions.</a:t>
            </a:r>
          </a:p>
          <a:p/>
          <a:p>
            <a:r>
              <a:rPr sz="1200">
                <a:latin typeface="Calibri"/>
              </a:rPr>
              <a:t>PENTING dan sering ditanya dosen: kenapa periode 2000–2004 dan 2005–2008 tidak sepenuhnya sebanding? Karena entitas pelapornya berganti dari Manchester United plc menjadi Manchester United Limited, dan tahun bukunya berubah dari 12 bulan sampai 31 Juli menjadi 11 bulan sampai 30 Juni. Kasus menyatakan ini sendiri di catatan kaki Appendix.</a:t>
            </a:r>
          </a:p>
          <a:p/>
          <a:p>
            <a:r>
              <a:rPr sz="1200">
                <a:latin typeface="Calibri"/>
              </a:rPr>
              <a:t>Soal utang £616 juta — siapkan jawaban ini: Appendix kasus memperlihatkan ekuitas pemegang saham £294 juta dan TIDAK menampilkan utang itu sama sekali. Sebabnya, utang akuisisi Glazer berada di perusahaan induk, di atas Manchester United Limited. Jadi laporan anak usahanya terlihat sehat sementara grupnya berat.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analisis kami sendiri, bukan tabel yang tercetak di kasus. KATAKAN ITU. Angka mentahnya dari Tabel 6.7; perbandingannya yang kami susun.</a:t>
            </a:r>
          </a:p>
          <a:p/>
          <a:p>
            <a:r>
              <a:rPr sz="1200">
                <a:latin typeface="Calibri"/>
              </a:rPr>
              <a:t>Jelaskan dulu apa itu belanja transfer bersih: total uang keluar membeli pemain dikurangi total uang masuk menjual pemain. Jadi ini ukuran seberapa banyak uang baru yang benar-benar disuntikkan ke skuad.</a:t>
            </a:r>
          </a:p>
          <a:p/>
          <a:p>
            <a:r>
              <a:rPr sz="1200">
                <a:latin typeface="Calibri"/>
              </a:rPr>
              <a:t>Angka kotornya juga menarik: MU belanja kotor £322 juta, tapi bersihnya cuma £100 juta. Artinya MU juga menjual banyak, dan menjual mahal.</a:t>
            </a:r>
          </a:p>
          <a:p/>
          <a:p>
            <a:r>
              <a:rPr sz="1200">
                <a:latin typeface="Calibri"/>
              </a:rPr>
              <a:t>Cara paling mudah menyampaikan intinya: Real Madrid mengeluarkan uang empat kali lipat lebih banyak, dan hasilnya tetap kalah. Chelsea mengeluarkan empat kali lipat, hasilnya jauh lebih buruk lagi.</a:t>
            </a:r>
          </a:p>
          <a:p/>
          <a:p>
            <a:r>
              <a:rPr sz="1200">
                <a:latin typeface="Calibri"/>
              </a:rPr>
              <a:t>Jangan sembunyikan Barcelona. Barcelona memang mengungguli MU di poin performa, tapi dengan belanja 2,5 kali lipat. Kejujuran ini justru memperkuat argumen kita, dan menghindari pertanyaan menjebak.</a:t>
            </a:r>
          </a:p>
          <a:p/>
          <a:p>
            <a:r>
              <a:rPr sz="1200">
                <a:latin typeface="Calibri"/>
              </a:rPr>
              <a:t>Tutup dengan menyambung ke Q2 dan Q3: kalau bukan uang, lalu apa? Jawabannya ada di resource dan capability.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Ingatkan audiens: SWOT bukan bikin empat daftar. Jadi setelah membacakan daftarnya sekilas, langsung masuk ke kesimpulan di kotak bawah. Itu langkah 2 dari Figure 4.2.</a:t>
            </a:r>
          </a:p>
          <a:p/>
          <a:p>
            <a:r>
              <a:rPr sz="1200">
                <a:latin typeface="Calibri"/>
              </a:rPr>
              <a:t>Kesimpulannya, diuraikan: kekuatan MU terpusat di sisi komersial dan pengembangan pemain. Peluang terbesarnya juga komersial, di Asia. Jadi kekuatan dan peluang cocok — sampai sini bagus.</a:t>
            </a:r>
          </a:p>
          <a:p/>
          <a:p>
            <a:r>
              <a:rPr sz="1200">
                <a:latin typeface="Calibri"/>
              </a:rPr>
              <a:t>Masalahnya ada di sisi ancaman. Ancaman terbesar MU ada di pasar pemain: harga meledak, pesaing punya pemilik berkantong sangat dalam. Dan dua kelemahan terbesar MU — utang dan ketergantungan pada Ferguson — keduanya menyerang sisi lapangan, bukan sisi komersial.</a:t>
            </a:r>
          </a:p>
          <a:p/>
          <a:p>
            <a:r>
              <a:rPr sz="1200">
                <a:latin typeface="Calibri"/>
              </a:rPr>
              <a:t>Kenapa itu berbahaya: karena David Gill sendiri berkata pendapatan komersial mengalir SELAMA tim terus menang. Jadi kalau sisi lapangan runtuh, sisi komersial ikut terancam, walau tidak langsung.</a:t>
            </a:r>
          </a:p>
          <a:p/>
          <a:p>
            <a:r>
              <a:rPr sz="1200">
                <a:latin typeface="Calibri"/>
              </a:rPr>
              <a:t>Untuk langkah 3 (tindakan), sambungkan: itu yang akan kita bahas di slide terakhir sebagai rekomendasi.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Sambungkan ke Tabel 4.3 yang dibahas di slide 9: tangible dibagi fisik, finansial, teknologi, organisasional. Intangible dibagi human assets, merek dan reputasi, relasi, budaya dan insentif.</a:t>
            </a:r>
          </a:p>
          <a:p/>
          <a:p>
            <a:r>
              <a:rPr sz="1200">
                <a:latin typeface="Calibri"/>
              </a:rPr>
              <a:t>Tunjukkan bahwa MU punya isian di hampir semua kotak. Tapi yang benar-benar memberi keunggulan ada di kolom kanan.</a:t>
            </a:r>
          </a:p>
          <a:p/>
          <a:p>
            <a:r>
              <a:rPr sz="1200">
                <a:latin typeface="Calibri"/>
              </a:rPr>
              <a:t>Bukti kekuatan mereknya layak diceritakan lengkap, karena kuat sekali: David Prosperi, VP Global PR Aon, mengatakan bahwa di tahun pertama setelah kesepakatan sponsor AIG dimulai, AIG melompat dari tidak masuk daftar 100 merek dunia menjadi peringkat 47. Kalimatnya: Manchester United tidak ada tandingannya di dunia olahraga soal kesadaran merek global, khususnya di Asia.</a:t>
            </a:r>
          </a:p>
          <a:p/>
          <a:p>
            <a:r>
              <a:rPr sz="1200">
                <a:latin typeface="Calibri"/>
              </a:rPr>
              <a:t>Itu bukan klaim MU sendiri. Itu kesaksian pihak yang membayar. Jauh lebih kuat sebagai bukti.</a:t>
            </a:r>
          </a:p>
          <a:p/>
          <a:p>
            <a:r>
              <a:rPr sz="1200">
                <a:latin typeface="Calibri"/>
              </a:rPr>
              <a:t>Kalimat penutup slide penting untuk dijelaskan: aset tak berwujud bisa pergi. Ferguson bisa pensiun. Ronaldo sudah dijual. Itu yang membedakannya dari stadion, yang tidak bisa ke mana-mana.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menerapkan tangga competence dari slide 7. Jelaskan alasan penempatannya, jangan cuma dibacakan.</a:t>
            </a:r>
          </a:p>
          <a:p/>
          <a:p>
            <a:r>
              <a:rPr sz="1200">
                <a:latin typeface="Calibri"/>
              </a:rPr>
              <a:t>CORE COMPETENCE — dikerjakan sangat baik DAN ada di jantung strategi:</a:t>
            </a:r>
          </a:p>
          <a:p>
            <a:r>
              <a:rPr sz="1200">
                <a:latin typeface="Calibri"/>
              </a:rPr>
              <a:t>- Mengenali dan mengembangkan bakat: ini sumber pemain MU, langsung menentukan kekuatan tim.</a:t>
            </a:r>
          </a:p>
          <a:p>
            <a:r>
              <a:rPr sz="1200">
                <a:latin typeface="Calibri"/>
              </a:rPr>
              <a:t>- Membentuk tim: ini yang membedakan MU dari klub yang sekadar mengumpulkan bintang seperti Real Madrid.</a:t>
            </a:r>
          </a:p>
          <a:p>
            <a:r>
              <a:rPr sz="1200">
                <a:latin typeface="Calibri"/>
              </a:rPr>
              <a:t>- Mengubah merek jadi uang: ini mesin pendapatan klub.</a:t>
            </a:r>
          </a:p>
          <a:p/>
          <a:p>
            <a:r>
              <a:rPr sz="1200">
                <a:latin typeface="Calibri"/>
              </a:rPr>
              <a:t>DISTINCTIVE COMPETENCE — lebih baik dari pesaing, tapi bukan inti strategi:</a:t>
            </a:r>
          </a:p>
          <a:p>
            <a:r>
              <a:rPr sz="1200">
                <a:latin typeface="Calibri"/>
              </a:rPr>
              <a:t>- Disiplin transfer dan rotasi skuad. Keduanya nyata lebih baik dari pesaing, tapi sifatnya mendukung.</a:t>
            </a:r>
          </a:p>
          <a:p/>
          <a:p>
            <a:r>
              <a:rPr sz="1200">
                <a:latin typeface="Calibri"/>
              </a:rPr>
              <a:t>COMPETENCE biasa — dikerjakan baik, tapi tidak membedakan:</a:t>
            </a:r>
          </a:p>
          <a:p>
            <a:r>
              <a:rPr sz="1200">
                <a:latin typeface="Calibri"/>
              </a:rPr>
              <a:t>- Tata kelola. Kasus memang memuji MU sebagai klub Inggris yang paling berhasil membangun tata kelola efektif, tapi banyak klub lain juga punya struktur serupa.</a:t>
            </a:r>
          </a:p>
          <a:p/>
          <a:p>
            <a:r>
              <a:rPr sz="1200">
                <a:latin typeface="Calibri"/>
              </a:rPr>
              <a:t>Kalimat penutup di kotak bawah adalah jembatan ke slide VRIN. Ucapkan pelan: empat dari enam kemampuan ini bermuara pada satu orang. Itu pertanda bahaya, dan uji VRIN akan menunjukkan kenapa.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Ini slide paling penting di seluruh presentasi. Beri waktu lebih.</a:t>
            </a:r>
          </a:p>
          <a:p/>
          <a:p>
            <a:r>
              <a:rPr sz="1200">
                <a:latin typeface="Calibri"/>
              </a:rPr>
              <a:t>Jalankan baris per baris, bandingkan kiri dan kanan. Tiga baris pertama hasilnya SAMA: dua-duanya lolos. Baru di baris keempat hasilnya berpisah.</a:t>
            </a:r>
          </a:p>
          <a:p/>
          <a:p>
            <a:r>
              <a:rPr sz="1200">
                <a:latin typeface="Calibri"/>
              </a:rPr>
              <a:t>Untuk baris Inimitable, kutip kalimat kasusnya langsung, karena ini hadiah dari penulis kasus: 'the determinants of team performance remained a mystery … depends on a complex mix of factors that defies analysis.' Itu definisi causal ambiguity, ditulis oleh kasusnya sendiri.</a:t>
            </a:r>
          </a:p>
          <a:p/>
          <a:p>
            <a:r>
              <a:rPr sz="1200">
                <a:latin typeface="Calibri"/>
              </a:rPr>
              <a:t>Untuk social complexity, kutip Ferguson: ia ingin membangun hubungan personal dengan semua orang di klub — bukan hanya pemain dan pelatih, tapi juga pegawai kantor, juru masak, dan petugas binatu. Itu persis yang dimaksud social complexity di slide 11.</a:t>
            </a:r>
          </a:p>
          <a:p/>
          <a:p>
            <a:r>
              <a:rPr sz="1200">
                <a:latin typeface="Calibri"/>
              </a:rPr>
              <a:t>Untuk baris Nonsubstitutable, kutip: 'coaches that achieve outstanding success with one team are often dismal failures with another.' Artinya tidak ada mekanisme pengganti.</a:t>
            </a:r>
          </a:p>
          <a:p/>
          <a:p>
            <a:r>
              <a:rPr sz="1200">
                <a:latin typeface="Calibri"/>
              </a:rPr>
              <a:t>Kesimpulan yang harus sampai ke audiens: MU bingung membedakan resource dan capability. Ferguson adalah resource — aset yang dimiliki, dan bisa pergi. Yang dibutuhkan agar keunggulan bertahan adalah capability yang hidup di dalam organisasi, bukan di kepala satu orang.</a:t>
            </a:r>
          </a:p>
          <a:p/>
          <a:p>
            <a:r>
              <a:rPr sz="1200">
                <a:latin typeface="Calibri"/>
              </a:rPr>
              <a:t>Kalau ditanya 'tapi bukankah Ferguson membangun sistem?' — jawab: itulah pertanyaan inti kasus, dan kami bahas di slide berikutnya.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Sambungkan ke slide 12: dynamic capability adalah kemampuan memperbarui resource dan capability secara terus-menerus, sampai memperbarui itu sendiri jadi rutinitas.</a:t>
            </a:r>
          </a:p>
          <a:p/>
          <a:p>
            <a:r>
              <a:rPr sz="1200">
                <a:latin typeface="Calibri"/>
              </a:rPr>
              <a:t>Tiga siklus di slide ini adalah buktinya. MU tidak sekadar beruntung punya satu generasi emas. MU membongkar dan membangun ulang tiga kali, dan setiap kali menghasilkan tim juara.</a:t>
            </a:r>
          </a:p>
          <a:p/>
          <a:p>
            <a:r>
              <a:rPr sz="1200">
                <a:latin typeface="Calibri"/>
              </a:rPr>
              <a:t>Siklus kedua yang paling terkenal: juara liga junior 1990 melahirkan kelompok yang sering disebut Class of '92. Enam pemain dari satu angkatan akademi menjadi inti tim utama. Itu hasil dari capability nomor satu di slide sebelumnya.</a:t>
            </a:r>
          </a:p>
          <a:p/>
          <a:p>
            <a:r>
              <a:rPr sz="1200">
                <a:latin typeface="Calibri"/>
              </a:rPr>
              <a:t>Siklus ketiga membuktikan MU juga berani menjual legendanya sendiri. Beckham, Keane, Schmeichel semuanya dijual, padahal mereka ikon. Itu disiplin yang jarang dimiliki klub lain.</a:t>
            </a:r>
          </a:p>
          <a:p/>
          <a:p>
            <a:r>
              <a:rPr sz="1200">
                <a:latin typeface="Calibri"/>
              </a:rPr>
              <a:t>Sekarang pertanyaan pentingnya, dan sampaikan ini dengan tenang: apakah kemampuan memperbarui ini milik KLUB, atau milik FERGUSON?</a:t>
            </a:r>
          </a:p>
          <a:p/>
          <a:p>
            <a:r>
              <a:rPr sz="1200">
                <a:latin typeface="Calibri"/>
              </a:rPr>
              <a:t>Kasus memberi kita petunjuk yang tidak menyenangkan. Setelah Matt Busby pensiun pada 1969, MU merosot dan tidak memenangi satu pun gelar liga selama 18 tahun, dan hanya sekali jadi runner-up. Kasus menuliskan itu sendiri di bagian sejarah. Pola yang sama bisa terulang.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Terjemahkan Figure 4.3 ke bahasa sepakbola dulu, supaya audiens paham:</a:t>
            </a:r>
          </a:p>
          <a:p>
            <a:r>
              <a:rPr sz="1200">
                <a:latin typeface="Calibri"/>
              </a:rPr>
              <a:t>Supply chain di pabrik artinya membeli bahan baku. Di klub sepakbola, 'bahan bakunya' adalah pemain. Jadi supply chain MU adalah akademi dan pasar transfer.</a:t>
            </a:r>
          </a:p>
          <a:p>
            <a:r>
              <a:rPr sz="1200">
                <a:latin typeface="Calibri"/>
              </a:rPr>
              <a:t>Operations di pabrik artinya mengolah bahan jadi produk. Di klub, artinya latihan dan pertandingan.</a:t>
            </a:r>
          </a:p>
          <a:p>
            <a:r>
              <a:rPr sz="1200">
                <a:latin typeface="Calibri"/>
              </a:rPr>
              <a:t>Distribution artinya menyalurkan produknya. Di klub, produknya adalah tontonan, disalurkan lewat siaran televisi dan stadion.</a:t>
            </a:r>
          </a:p>
          <a:p/>
          <a:p>
            <a:r>
              <a:rPr sz="1200">
                <a:latin typeface="Calibri"/>
              </a:rPr>
              <a:t>Temuan utamanya: keunggulan biaya MU ada di HULU, bukan di operasi atau pemasaran. MU tidak lebih hemat dalam melatih atau beriklan. MU lebih hemat dalam MENDAPATKAN pemain.</a:t>
            </a:r>
          </a:p>
          <a:p/>
          <a:p>
            <a:r>
              <a:rPr sz="1200">
                <a:latin typeface="Calibri"/>
              </a:rPr>
              <a:t>Angka gaji dari kasus halaman 578: rata-rata Premier League 62%, Serie A 68%, La Liga 63%. Chelsea 81%, tertinggi di Inggris. MU dan Arsenal masing-masing sekitar setengah pendapatannya.</a:t>
            </a:r>
          </a:p>
          <a:p/>
          <a:p>
            <a:r>
              <a:rPr sz="1200">
                <a:latin typeface="Calibri"/>
              </a:rPr>
              <a:t>Jangan lupa menyebut yang melawan arah: amortisasi pemain naik hampir tiga kali lipat antara 2000 dan 2008. Itu biaya akuntansi dari pembelian pemain, dan artinya MU juga makin banyak membeli. Kejujuran ini penting.</a:t>
            </a:r>
          </a:p>
          <a:p/>
          <a:p>
            <a:r>
              <a:rPr sz="1200">
                <a:latin typeface="Calibri"/>
              </a:rPr>
              <a:t>Untuk customer value proposition, ingatkan rumus di slide 13: V dikurangi P. MU punya dua 'pelanggan' dengan V yang berbeda — pendukung dan sponsor.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Bilang dari awal: bobot dan rating ini KAMI yang menentukan, berdasarkan data kasus. Itu memang cara kerja alat ini — buku pun memakai contoh hipotetis di Tabel 4.4.</a:t>
            </a:r>
          </a:p>
          <a:p/>
          <a:p>
            <a:r>
              <a:rPr sz="1200">
                <a:latin typeface="Calibri"/>
              </a:rPr>
              <a:t>Alasan beberapa rating yang mungkin ditanya:</a:t>
            </a:r>
          </a:p>
          <a:p>
            <a:r>
              <a:rPr sz="1200">
                <a:latin typeface="Calibri"/>
              </a:rPr>
              <a:t>- Kualitas skuad MU hanya 6, padahal juara. Sebabnya: Tabel 6.3 memuat peringkat pemain dunia FIFA 2008–09, dan satu-satunya pemain MU di sana adalah Ronaldo — yang baru dijual Juni 2009. Jadi per Juli 2009, MU tidak punya pemain di daftar itu. Barcelona punya lima.</a:t>
            </a:r>
          </a:p>
          <a:p>
            <a:r>
              <a:rPr sz="1200">
                <a:latin typeface="Calibri"/>
              </a:rPr>
              <a:t>- Kemampuan manajer MU 10, Real Madrid 5. Sebabnya: Ferguson punya masa jabatan terpanjang di Tabel 6.8, sementara Real Madrid memecat 10 pelatih antara 2003 dan Juli 2009.</a:t>
            </a:r>
          </a:p>
          <a:p>
            <a:r>
              <a:rPr sz="1200">
                <a:latin typeface="Calibri"/>
              </a:rPr>
              <a:t>- Keleluasaan finansial MU hanya 4 karena utang £616 juta. Arsenal malah 2 karena utangnya £896 juta.</a:t>
            </a:r>
          </a:p>
          <a:p/>
          <a:p>
            <a:r>
              <a:rPr sz="1200">
                <a:latin typeface="Calibri"/>
              </a:rPr>
              <a:t>Sekarang bagian yang paling penting, dan ini poin puncak presentasi:</a:t>
            </a:r>
          </a:p>
          <a:p>
            <a:r>
              <a:rPr sz="1200">
                <a:latin typeface="Calibri"/>
              </a:rPr>
              <a:t>MU unggul dari Barcelona hanya 0,25 poin. Dan penyumbang terbesar keunggulan itu adalah baris 'kemampuan manajer', tempat MU dapat 10 sementara Barcelona 8.</a:t>
            </a:r>
          </a:p>
          <a:p/>
          <a:p>
            <a:r>
              <a:rPr sz="1200">
                <a:latin typeface="Calibri"/>
              </a:rPr>
              <a:t>Coba turunkan rating itu dari 10 ke 5, seolah penggantinya manajer rata-rata. Skor MU turun 0,75 menjadi 7,90 — langsung di bawah Barcelona.</a:t>
            </a:r>
          </a:p>
          <a:p/>
          <a:p>
            <a:r>
              <a:rPr sz="1200">
                <a:latin typeface="Calibri"/>
              </a:rPr>
              <a:t>Hitung titik impasnya: MU tanpa baris manajer punya 7,15. Supaya totalnya kembali ke 8,40, baris manajer harus menyumbang 1,25. Dengan bobot 0,15, berarti ratingnya minimal 8,3. Artinya penggantinya harus manajer kelas dunia, bukan sekadar bagus.</a:t>
            </a:r>
          </a:p>
          <a:p/>
          <a:p>
            <a:r>
              <a:rPr sz="1200">
                <a:latin typeface="Calibri"/>
              </a:rPr>
              <a:t>Ini menghubungkan Q5 kembali ke Q3: baris yang paling rapuh di matriks adalah justru resource yang gagal tes Nonsubstitutable.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Ingatkan aturan Q6 dari slide 17: priority list berisi PERTANYAAN, bukan jawaban. Itu sebabnya kolom kiri semuanya berbentuk 'bagaimana', 'apa yang harus dilakukan soal', dan 'apakah perlu'. Persis pola yang diminta buku.</a:t>
            </a:r>
          </a:p>
          <a:p/>
          <a:p>
            <a:r>
              <a:rPr sz="1200">
                <a:latin typeface="Calibri"/>
              </a:rPr>
              <a:t>Kolom kanan adalah rekomendasi kami, dan itu sudah masuk tahap berikutnya — penyusunan strategi. Pisahkan keduanya dengan jelas saat bicara, jangan dicampur.</a:t>
            </a:r>
          </a:p>
          <a:p/>
          <a:p>
            <a:r>
              <a:rPr sz="1200">
                <a:latin typeface="Calibri"/>
              </a:rPr>
              <a:t>Logika rekomendasi nomor satu, yang paling penting: seluruh analisis Q3 menunjukkan masalah MU bukan kekurangan resource, tapi kenyataan bahwa capability terpentingnya tidak melekat pada organisasi. Maka solusinya bukan membeli pemain, melainkan memindahkan sistem Ferguson dari kepalanya ke dalam prosedur klub.</a:t>
            </a:r>
          </a:p>
          <a:p/>
          <a:p>
            <a:r>
              <a:rPr sz="1200">
                <a:latin typeface="Calibri"/>
              </a:rPr>
              <a:t>Kenapa menolak Mourinho: kasus menyediakan dua buktinya sendiri. Pertama, kepergian Mourinho dari Chelsea disebabkan gesekan dengan Abramovich soal pembelian pemain, pemilihan pemain, dan gaya bermain. Kedua, Real Madrid yang presidennya ikut campur memecat 10 pelatih dalam enam tahun. Keduanya menunjukkan pola yang sama: campur tangan dan pergantian cepat merusak kesinambungan.</a:t>
            </a:r>
          </a:p>
          <a:p/>
          <a:p>
            <a:r>
              <a:rPr sz="1200">
                <a:latin typeface="Calibri"/>
              </a:rPr>
              <a:t>Kalau ada yang berargumen bahwa orang dalam terlalu lemah wibawanya — itu memang kekhawatiran Gill sendiri di kasus, dan kami tidak menyangkalnya. Justru itu sebabnya kami mengusulkan masa transisi dengan Ferguson tetap mendampingi.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Lima pertanyaan yang paling mungkin muncul, dan jawabannya:</a:t>
            </a:r>
          </a:p>
          <a:p/>
          <a:p>
            <a:r>
              <a:rPr sz="1200">
                <a:latin typeface="Calibri"/>
              </a:rPr>
              <a:t>1. Kenapa enam pertanyaan, bukan lima?</a:t>
            </a:r>
          </a:p>
          <a:p>
            <a:r>
              <a:rPr sz="1200">
                <a:latin typeface="Calibri"/>
              </a:rPr>
              <a:t>Edisi lama buku ini memakai lima pertanyaan dengan SWOT diselipkan ke dalam analisis resource. Edisi 2024 memisahkan SWOT jadi Q2 tersendiri.</a:t>
            </a:r>
          </a:p>
          <a:p/>
          <a:p>
            <a:r>
              <a:rPr sz="1200">
                <a:latin typeface="Calibri"/>
              </a:rPr>
              <a:t>2. Kenapa laporan keuangan MU terlihat sehat padahal utangnya £616 juta?</a:t>
            </a:r>
          </a:p>
          <a:p>
            <a:r>
              <a:rPr sz="1200">
                <a:latin typeface="Calibri"/>
              </a:rPr>
              <a:t>Karena Appendix kasus menampilkan akun Manchester United Limited, sedangkan utang akuisisi Glazer berada di perusahaan induk di atasnya.</a:t>
            </a:r>
          </a:p>
          <a:p/>
          <a:p>
            <a:r>
              <a:rPr sz="1200">
                <a:latin typeface="Calibri"/>
              </a:rPr>
              <a:t>3. Apakah akademi MU capability organisasi atau perpanjangan tangan Ferguson?</a:t>
            </a:r>
          </a:p>
          <a:p>
            <a:r>
              <a:rPr sz="1200">
                <a:latin typeface="Calibri"/>
              </a:rPr>
              <a:t>Ini pertanyaan inti kasus, dan jujur saja kasus tidak memberi jawaban pasti. Bukti yang mendukung 'milik organisasi': ada Youth Academy, lebih dari 20 pemandu bakat, struktur yang jelas. Bukti yang mendukung 'milik Ferguson': semuanya dibangun olehnya, dan Gill sendiri khawatir sistem itu ikut hilang.</a:t>
            </a:r>
          </a:p>
          <a:p/>
          <a:p>
            <a:r>
              <a:rPr sz="1200">
                <a:latin typeface="Calibri"/>
              </a:rPr>
              <a:t>4. Kalau merek MU lolos keempat tes VRIN, kenapa klubnya tetap rentan?</a:t>
            </a:r>
          </a:p>
          <a:p>
            <a:r>
              <a:rPr sz="1200">
                <a:latin typeface="Calibri"/>
              </a:rPr>
              <a:t>Karena dua keunggulan itu saling bergantung. Gill berkata pendapatan komersial mengalir SELAMA tim menang. Uji VRIN menilai satu resource pada satu waktu, dan tidak menangkap ketergantungan antar-keunggulan.</a:t>
            </a:r>
          </a:p>
          <a:p/>
          <a:p>
            <a:r>
              <a:rPr sz="1200">
                <a:latin typeface="Calibri"/>
              </a:rPr>
              <a:t>5. Utang £616 juta itu weakness atau threat?</a:t>
            </a:r>
          </a:p>
          <a:p>
            <a:r>
              <a:rPr sz="1200">
                <a:latin typeface="Calibri"/>
              </a:rPr>
              <a:t>Weakness, karena sumbernya internal — keputusan pemilik membiayai akuisisi dengan pinjaman. Threat adalah faktor dari luar. Bedanya penting: weakness bisa diperbaiki sendiri, threat hanya bisa diantisipasi.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685800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031175" y="0"/>
            <a:ext cx="4160520" cy="685800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8031175" y="0"/>
            <a:ext cx="10972" cy="6858000"/>
          </a:xfrm>
          <a:prstGeom prst="rect">
            <a:avLst/>
          </a:prstGeom>
          <a:solidFill>
            <a:srgbClr val="3A31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60120" y="932688"/>
            <a:ext cx="6035040" cy="274320"/>
          </a:xfrm>
          <a:prstGeom prst="rect">
            <a:avLst/>
          </a:prstGeom>
          <a:noFill/>
        </p:spPr>
        <p:txBody>
          <a:bodyPr wrap="square" lIns="0" rIns="0" tIns="0" bIns="0" anchor="t">
            <a:spAutoFit/>
          </a:bodyPr>
          <a:lstStyle/>
          <a:p>
            <a:pPr algn="l">
              <a:lnSpc>
                <a:spcPct val="100000"/>
              </a:lnSpc>
              <a:spcAft>
                <a:spcPts val="0"/>
              </a:spcAft>
            </a:pPr>
            <a:r>
              <a:rPr sz="1150" b="1" i="0" cap="all">
                <a:solidFill>
                  <a:srgbClr val="DA291C"/>
                </a:solidFill>
                <a:latin typeface="Calibri"/>
              </a:rPr>
              <a:t>Strategic Management</a:t>
            </a:r>
          </a:p>
        </p:txBody>
      </p:sp>
      <p:sp>
        <p:nvSpPr>
          <p:cNvPr id="7" name="TextBox 6"/>
          <p:cNvSpPr txBox="1"/>
          <p:nvPr/>
        </p:nvSpPr>
        <p:spPr>
          <a:xfrm>
            <a:off x="960120" y="1389888"/>
            <a:ext cx="6583680" cy="2468880"/>
          </a:xfrm>
          <a:prstGeom prst="rect">
            <a:avLst/>
          </a:prstGeom>
          <a:noFill/>
        </p:spPr>
        <p:txBody>
          <a:bodyPr wrap="square" lIns="0" rIns="0" tIns="0" bIns="0" anchor="t">
            <a:spAutoFit/>
          </a:bodyPr>
          <a:lstStyle/>
          <a:p>
            <a:pPr algn="l">
              <a:lnSpc>
                <a:spcPct val="96000"/>
              </a:lnSpc>
              <a:spcAft>
                <a:spcPts val="0"/>
              </a:spcAft>
            </a:pPr>
            <a:r>
              <a:rPr sz="3800" b="1" i="0">
                <a:solidFill>
                  <a:srgbClr val="FFFFFF"/>
                </a:solidFill>
                <a:latin typeface="Calibri"/>
              </a:rPr>
              <a:t>Evaluating a Company's
Resources, Capabilities,
and Competitiveness</a:t>
            </a:r>
          </a:p>
        </p:txBody>
      </p:sp>
      <p:sp>
        <p:nvSpPr>
          <p:cNvPr id="8" name="Rectangle 7"/>
          <p:cNvSpPr/>
          <p:nvPr/>
        </p:nvSpPr>
        <p:spPr>
          <a:xfrm>
            <a:off x="960120" y="3986784"/>
            <a:ext cx="1371600" cy="320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4224528"/>
            <a:ext cx="6400800" cy="841248"/>
          </a:xfrm>
          <a:prstGeom prst="rect">
            <a:avLst/>
          </a:prstGeom>
          <a:noFill/>
        </p:spPr>
        <p:txBody>
          <a:bodyPr wrap="square" lIns="0" rIns="0" tIns="0" bIns="0" anchor="t">
            <a:spAutoFit/>
          </a:bodyPr>
          <a:lstStyle/>
          <a:p>
            <a:pPr algn="l">
              <a:lnSpc>
                <a:spcPct val="100000"/>
              </a:lnSpc>
              <a:spcAft>
                <a:spcPts val="0"/>
              </a:spcAft>
            </a:pPr>
            <a:r>
              <a:rPr sz="1500" b="1" i="0">
                <a:solidFill>
                  <a:srgbClr val="FFFFFF"/>
                </a:solidFill>
                <a:latin typeface="Calibri"/>
              </a:rPr>
              <a:t>Chapter 4</a:t>
            </a:r>
          </a:p>
          <a:p>
            <a:pPr algn="l">
              <a:lnSpc>
                <a:spcPct val="100000"/>
              </a:lnSpc>
              <a:spcBef>
                <a:spcPts val="300"/>
              </a:spcBef>
              <a:spcAft>
                <a:spcPts val="0"/>
              </a:spcAft>
            </a:pPr>
            <a:r>
              <a:rPr sz="1300" b="0" i="0">
                <a:solidFill>
                  <a:srgbClr val="A89F99"/>
                </a:solidFill>
                <a:latin typeface="Calibri"/>
              </a:rPr>
              <a:t>Thompson · Peteraf · Gamble · Strickland</a:t>
            </a:r>
          </a:p>
          <a:p>
            <a:pPr algn="l">
              <a:lnSpc>
                <a:spcPct val="100000"/>
              </a:lnSpc>
              <a:spcBef>
                <a:spcPts val="200"/>
              </a:spcBef>
              <a:spcAft>
                <a:spcPts val="0"/>
              </a:spcAft>
            </a:pPr>
            <a:r>
              <a:rPr sz="1200" b="0" i="1">
                <a:solidFill>
                  <a:srgbClr val="8C837E"/>
                </a:solidFill>
                <a:latin typeface="Calibri"/>
              </a:rPr>
              <a:t>Crafting &amp; Executing Strategy — 2024 Release ISE</a:t>
            </a:r>
          </a:p>
        </p:txBody>
      </p:sp>
      <p:sp>
        <p:nvSpPr>
          <p:cNvPr id="10" name="TextBox 9"/>
          <p:cNvSpPr txBox="1"/>
          <p:nvPr/>
        </p:nvSpPr>
        <p:spPr>
          <a:xfrm>
            <a:off x="960120" y="5266944"/>
            <a:ext cx="6400800" cy="768096"/>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Studi Kasus</a:t>
            </a:r>
          </a:p>
          <a:p>
            <a:pPr algn="l">
              <a:lnSpc>
                <a:spcPct val="100000"/>
              </a:lnSpc>
              <a:spcBef>
                <a:spcPts val="500"/>
              </a:spcBef>
              <a:spcAft>
                <a:spcPts val="0"/>
              </a:spcAft>
            </a:pPr>
            <a:r>
              <a:rPr sz="1450" b="1" i="0">
                <a:solidFill>
                  <a:srgbClr val="FFFFFF"/>
                </a:solidFill>
                <a:latin typeface="Calibri"/>
              </a:rPr>
              <a:t>Manchester United: Preparing for Life without Ferguson</a:t>
            </a:r>
          </a:p>
          <a:p>
            <a:pPr algn="l">
              <a:lnSpc>
                <a:spcPct val="100000"/>
              </a:lnSpc>
              <a:spcBef>
                <a:spcPts val="200"/>
              </a:spcBef>
              <a:spcAft>
                <a:spcPts val="0"/>
              </a:spcAft>
            </a:pPr>
            <a:r>
              <a:rPr sz="1150" b="0" i="0">
                <a:solidFill>
                  <a:srgbClr val="8C837E"/>
                </a:solidFill>
                <a:latin typeface="Calibri"/>
              </a:rPr>
              <a:t>Robert M. Grant (2010)  ·  setting Juli 2009</a:t>
            </a:r>
          </a:p>
        </p:txBody>
      </p:sp>
      <p:sp>
        <p:nvSpPr>
          <p:cNvPr id="11" name="TextBox 10"/>
          <p:cNvSpPr txBox="1"/>
          <p:nvPr/>
        </p:nvSpPr>
        <p:spPr>
          <a:xfrm>
            <a:off x="8598103" y="1078992"/>
            <a:ext cx="3108960"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8C837E"/>
                </a:solidFill>
                <a:latin typeface="Calibri"/>
              </a:rPr>
              <a:t>Dosen Pengampu</a:t>
            </a:r>
          </a:p>
        </p:txBody>
      </p:sp>
      <p:sp>
        <p:nvSpPr>
          <p:cNvPr id="12" name="TextBox 11"/>
          <p:cNvSpPr txBox="1"/>
          <p:nvPr/>
        </p:nvSpPr>
        <p:spPr>
          <a:xfrm>
            <a:off x="8598103" y="1371600"/>
            <a:ext cx="3108960" cy="566928"/>
          </a:xfrm>
          <a:prstGeom prst="rect">
            <a:avLst/>
          </a:prstGeom>
          <a:noFill/>
        </p:spPr>
        <p:txBody>
          <a:bodyPr wrap="square" lIns="0" rIns="0" tIns="0" bIns="0" anchor="t">
            <a:spAutoFit/>
          </a:bodyPr>
          <a:lstStyle/>
          <a:p>
            <a:pPr algn="l">
              <a:lnSpc>
                <a:spcPct val="112000"/>
              </a:lnSpc>
              <a:spcAft>
                <a:spcPts val="0"/>
              </a:spcAft>
            </a:pPr>
            <a:r>
              <a:rPr sz="1450" b="1" i="0">
                <a:solidFill>
                  <a:srgbClr val="FFFFFF"/>
                </a:solidFill>
                <a:latin typeface="Calibri"/>
              </a:rPr>
              <a:t>Dr. Rangga Almahendra, S.T., M.M.</a:t>
            </a:r>
          </a:p>
        </p:txBody>
      </p:sp>
      <p:sp>
        <p:nvSpPr>
          <p:cNvPr id="13" name="Rectangle 12"/>
          <p:cNvSpPr/>
          <p:nvPr/>
        </p:nvSpPr>
        <p:spPr>
          <a:xfrm>
            <a:off x="8598103" y="2212848"/>
            <a:ext cx="3017520" cy="10972"/>
          </a:xfrm>
          <a:prstGeom prst="rect">
            <a:avLst/>
          </a:prstGeom>
          <a:solidFill>
            <a:srgbClr val="3A31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598103" y="2468880"/>
            <a:ext cx="3108960"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8C837E"/>
                </a:solidFill>
                <a:latin typeface="Calibri"/>
              </a:rPr>
              <a:t>Kelompok 4</a:t>
            </a:r>
          </a:p>
        </p:txBody>
      </p:sp>
      <p:sp>
        <p:nvSpPr>
          <p:cNvPr id="15" name="TextBox 14"/>
          <p:cNvSpPr txBox="1"/>
          <p:nvPr/>
        </p:nvSpPr>
        <p:spPr>
          <a:xfrm>
            <a:off x="8598103" y="2798064"/>
            <a:ext cx="2743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DA291C"/>
                </a:solidFill>
                <a:latin typeface="Calibri"/>
              </a:rPr>
              <a:t>1</a:t>
            </a:r>
          </a:p>
        </p:txBody>
      </p:sp>
      <p:sp>
        <p:nvSpPr>
          <p:cNvPr id="16" name="TextBox 15"/>
          <p:cNvSpPr txBox="1"/>
          <p:nvPr/>
        </p:nvSpPr>
        <p:spPr>
          <a:xfrm>
            <a:off x="8908999" y="2798064"/>
            <a:ext cx="2743200" cy="274320"/>
          </a:xfrm>
          <a:prstGeom prst="rect">
            <a:avLst/>
          </a:prstGeom>
          <a:noFill/>
        </p:spPr>
        <p:txBody>
          <a:bodyPr wrap="square" lIns="0" rIns="0" tIns="0" bIns="0" anchor="t">
            <a:spAutoFit/>
          </a:bodyPr>
          <a:lstStyle/>
          <a:p>
            <a:pPr algn="l">
              <a:lnSpc>
                <a:spcPct val="100000"/>
              </a:lnSpc>
              <a:spcAft>
                <a:spcPts val="0"/>
              </a:spcAft>
            </a:pPr>
            <a:r>
              <a:rPr sz="1350" b="0" i="0">
                <a:solidFill>
                  <a:srgbClr val="FFFFFF"/>
                </a:solidFill>
                <a:latin typeface="Calibri"/>
              </a:rPr>
              <a:t>Fitra Aidila</a:t>
            </a:r>
          </a:p>
        </p:txBody>
      </p:sp>
      <p:sp>
        <p:nvSpPr>
          <p:cNvPr id="17" name="TextBox 16"/>
          <p:cNvSpPr txBox="1"/>
          <p:nvPr/>
        </p:nvSpPr>
        <p:spPr>
          <a:xfrm>
            <a:off x="8598103" y="3200400"/>
            <a:ext cx="2743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DA291C"/>
                </a:solidFill>
                <a:latin typeface="Calibri"/>
              </a:rPr>
              <a:t>2</a:t>
            </a:r>
          </a:p>
        </p:txBody>
      </p:sp>
      <p:sp>
        <p:nvSpPr>
          <p:cNvPr id="18" name="TextBox 17"/>
          <p:cNvSpPr txBox="1"/>
          <p:nvPr/>
        </p:nvSpPr>
        <p:spPr>
          <a:xfrm>
            <a:off x="8908999" y="3200400"/>
            <a:ext cx="2743200" cy="274320"/>
          </a:xfrm>
          <a:prstGeom prst="rect">
            <a:avLst/>
          </a:prstGeom>
          <a:noFill/>
        </p:spPr>
        <p:txBody>
          <a:bodyPr wrap="square" lIns="0" rIns="0" tIns="0" bIns="0" anchor="t">
            <a:spAutoFit/>
          </a:bodyPr>
          <a:lstStyle/>
          <a:p>
            <a:pPr algn="l">
              <a:lnSpc>
                <a:spcPct val="100000"/>
              </a:lnSpc>
              <a:spcAft>
                <a:spcPts val="0"/>
              </a:spcAft>
            </a:pPr>
            <a:r>
              <a:rPr sz="1350" b="0" i="0">
                <a:solidFill>
                  <a:srgbClr val="FFFFFF"/>
                </a:solidFill>
                <a:latin typeface="Calibri"/>
              </a:rPr>
              <a:t>Aulia Sisca Rahmadiyanti</a:t>
            </a:r>
          </a:p>
        </p:txBody>
      </p:sp>
      <p:sp>
        <p:nvSpPr>
          <p:cNvPr id="19" name="TextBox 18"/>
          <p:cNvSpPr txBox="1"/>
          <p:nvPr/>
        </p:nvSpPr>
        <p:spPr>
          <a:xfrm>
            <a:off x="8598103" y="3602736"/>
            <a:ext cx="2743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DA291C"/>
                </a:solidFill>
                <a:latin typeface="Calibri"/>
              </a:rPr>
              <a:t>3</a:t>
            </a:r>
          </a:p>
        </p:txBody>
      </p:sp>
      <p:sp>
        <p:nvSpPr>
          <p:cNvPr id="20" name="TextBox 19"/>
          <p:cNvSpPr txBox="1"/>
          <p:nvPr/>
        </p:nvSpPr>
        <p:spPr>
          <a:xfrm>
            <a:off x="8908999" y="3602736"/>
            <a:ext cx="2743200" cy="274320"/>
          </a:xfrm>
          <a:prstGeom prst="rect">
            <a:avLst/>
          </a:prstGeom>
          <a:noFill/>
        </p:spPr>
        <p:txBody>
          <a:bodyPr wrap="square" lIns="0" rIns="0" tIns="0" bIns="0" anchor="t">
            <a:spAutoFit/>
          </a:bodyPr>
          <a:lstStyle/>
          <a:p>
            <a:pPr algn="l">
              <a:lnSpc>
                <a:spcPct val="100000"/>
              </a:lnSpc>
              <a:spcAft>
                <a:spcPts val="0"/>
              </a:spcAft>
            </a:pPr>
            <a:r>
              <a:rPr sz="1350" b="0" i="0">
                <a:solidFill>
                  <a:srgbClr val="FFFFFF"/>
                </a:solidFill>
                <a:latin typeface="Calibri"/>
              </a:rPr>
              <a:t>Bagaskoro</a:t>
            </a:r>
          </a:p>
        </p:txBody>
      </p:sp>
      <p:sp>
        <p:nvSpPr>
          <p:cNvPr id="21" name="TextBox 20"/>
          <p:cNvSpPr txBox="1"/>
          <p:nvPr/>
        </p:nvSpPr>
        <p:spPr>
          <a:xfrm>
            <a:off x="8598103" y="4005072"/>
            <a:ext cx="2743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DA291C"/>
                </a:solidFill>
                <a:latin typeface="Calibri"/>
              </a:rPr>
              <a:t>4</a:t>
            </a:r>
          </a:p>
        </p:txBody>
      </p:sp>
      <p:sp>
        <p:nvSpPr>
          <p:cNvPr id="22" name="TextBox 21"/>
          <p:cNvSpPr txBox="1"/>
          <p:nvPr/>
        </p:nvSpPr>
        <p:spPr>
          <a:xfrm>
            <a:off x="8908999" y="4005072"/>
            <a:ext cx="2743200" cy="274320"/>
          </a:xfrm>
          <a:prstGeom prst="rect">
            <a:avLst/>
          </a:prstGeom>
          <a:noFill/>
        </p:spPr>
        <p:txBody>
          <a:bodyPr wrap="square" lIns="0" rIns="0" tIns="0" bIns="0" anchor="t">
            <a:spAutoFit/>
          </a:bodyPr>
          <a:lstStyle/>
          <a:p>
            <a:pPr algn="l">
              <a:lnSpc>
                <a:spcPct val="100000"/>
              </a:lnSpc>
              <a:spcAft>
                <a:spcPts val="0"/>
              </a:spcAft>
            </a:pPr>
            <a:r>
              <a:rPr sz="1350" b="0" i="0">
                <a:solidFill>
                  <a:srgbClr val="FFFFFF"/>
                </a:solidFill>
                <a:latin typeface="Calibri"/>
              </a:rPr>
              <a:t>Imam Prayudha</a:t>
            </a:r>
          </a:p>
        </p:txBody>
      </p:sp>
      <p:sp>
        <p:nvSpPr>
          <p:cNvPr id="23" name="TextBox 22"/>
          <p:cNvSpPr txBox="1"/>
          <p:nvPr/>
        </p:nvSpPr>
        <p:spPr>
          <a:xfrm>
            <a:off x="8598103" y="4407408"/>
            <a:ext cx="274320" cy="274320"/>
          </a:xfrm>
          <a:prstGeom prst="rect">
            <a:avLst/>
          </a:prstGeom>
          <a:noFill/>
        </p:spPr>
        <p:txBody>
          <a:bodyPr wrap="square" lIns="0" rIns="0" tIns="0" bIns="0" anchor="t">
            <a:spAutoFit/>
          </a:bodyPr>
          <a:lstStyle/>
          <a:p>
            <a:pPr algn="l">
              <a:lnSpc>
                <a:spcPct val="100000"/>
              </a:lnSpc>
              <a:spcAft>
                <a:spcPts val="0"/>
              </a:spcAft>
            </a:pPr>
            <a:r>
              <a:rPr sz="1100" b="1" i="0">
                <a:solidFill>
                  <a:srgbClr val="DA291C"/>
                </a:solidFill>
                <a:latin typeface="Calibri"/>
              </a:rPr>
              <a:t>5</a:t>
            </a:r>
          </a:p>
        </p:txBody>
      </p:sp>
      <p:sp>
        <p:nvSpPr>
          <p:cNvPr id="24" name="TextBox 23"/>
          <p:cNvSpPr txBox="1"/>
          <p:nvPr/>
        </p:nvSpPr>
        <p:spPr>
          <a:xfrm>
            <a:off x="8908999" y="4407408"/>
            <a:ext cx="2743200" cy="274320"/>
          </a:xfrm>
          <a:prstGeom prst="rect">
            <a:avLst/>
          </a:prstGeom>
          <a:noFill/>
        </p:spPr>
        <p:txBody>
          <a:bodyPr wrap="square" lIns="0" rIns="0" tIns="0" bIns="0" anchor="t">
            <a:spAutoFit/>
          </a:bodyPr>
          <a:lstStyle/>
          <a:p>
            <a:pPr algn="l">
              <a:lnSpc>
                <a:spcPct val="100000"/>
              </a:lnSpc>
              <a:spcAft>
                <a:spcPts val="0"/>
              </a:spcAft>
            </a:pPr>
            <a:r>
              <a:rPr sz="1350" b="0" i="0">
                <a:solidFill>
                  <a:srgbClr val="FFFFFF"/>
                </a:solidFill>
                <a:latin typeface="Calibri"/>
              </a:rPr>
              <a:t>Tegar Awanto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Alur Presentasi</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Agenda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Kami bahas teorinya dulu sampai tuntas, baru masuk ke kasus. Setiap bagian teori punya slide pasangannya di bagian kasus.</a:t>
            </a:r>
          </a:p>
        </p:txBody>
      </p:sp>
      <p:sp>
        <p:nvSpPr>
          <p:cNvPr id="7" name="Rectangle 6"/>
          <p:cNvSpPr/>
          <p:nvPr/>
        </p:nvSpPr>
        <p:spPr>
          <a:xfrm>
            <a:off x="658368" y="1883664"/>
            <a:ext cx="5231739" cy="33832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5231739"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9264" y="2139696"/>
            <a:ext cx="640080" cy="685800"/>
          </a:xfrm>
          <a:prstGeom prst="rect">
            <a:avLst/>
          </a:prstGeom>
          <a:noFill/>
        </p:spPr>
        <p:txBody>
          <a:bodyPr wrap="square" lIns="0" rIns="0" tIns="0" bIns="0" anchor="t">
            <a:spAutoFit/>
          </a:bodyPr>
          <a:lstStyle/>
          <a:p>
            <a:pPr algn="l">
              <a:lnSpc>
                <a:spcPct val="90000"/>
              </a:lnSpc>
              <a:spcAft>
                <a:spcPts val="0"/>
              </a:spcAft>
            </a:pPr>
            <a:r>
              <a:rPr sz="4400" b="1" i="0">
                <a:solidFill>
                  <a:srgbClr val="DA291C"/>
                </a:solidFill>
                <a:latin typeface="Georgia"/>
              </a:rPr>
              <a:t>A</a:t>
            </a:r>
          </a:p>
        </p:txBody>
      </p:sp>
      <p:sp>
        <p:nvSpPr>
          <p:cNvPr id="10" name="TextBox 9"/>
          <p:cNvSpPr txBox="1"/>
          <p:nvPr/>
        </p:nvSpPr>
        <p:spPr>
          <a:xfrm>
            <a:off x="1645920" y="2231136"/>
            <a:ext cx="3951579" cy="365760"/>
          </a:xfrm>
          <a:prstGeom prst="rect">
            <a:avLst/>
          </a:prstGeom>
          <a:noFill/>
        </p:spPr>
        <p:txBody>
          <a:bodyPr wrap="square" lIns="0" rIns="0" tIns="0" bIns="0" anchor="t">
            <a:spAutoFit/>
          </a:bodyPr>
          <a:lstStyle/>
          <a:p>
            <a:pPr algn="l">
              <a:lnSpc>
                <a:spcPct val="100000"/>
              </a:lnSpc>
              <a:spcAft>
                <a:spcPts val="0"/>
              </a:spcAft>
            </a:pPr>
            <a:r>
              <a:rPr sz="1700" b="1" i="0">
                <a:solidFill>
                  <a:srgbClr val="1A1614"/>
                </a:solidFill>
                <a:latin typeface="Calibri"/>
              </a:rPr>
              <a:t>Kerangka Chapter 4</a:t>
            </a:r>
          </a:p>
        </p:txBody>
      </p:sp>
      <p:sp>
        <p:nvSpPr>
          <p:cNvPr id="11" name="TextBox 10"/>
          <p:cNvSpPr txBox="1"/>
          <p:nvPr/>
        </p:nvSpPr>
        <p:spPr>
          <a:xfrm>
            <a:off x="1645920" y="2560320"/>
            <a:ext cx="3951579" cy="274320"/>
          </a:xfrm>
          <a:prstGeom prst="rect">
            <a:avLst/>
          </a:prstGeom>
          <a:noFill/>
        </p:spPr>
        <p:txBody>
          <a:bodyPr wrap="square" lIns="0" rIns="0" tIns="0" bIns="0" anchor="t">
            <a:spAutoFit/>
          </a:bodyPr>
          <a:lstStyle/>
          <a:p>
            <a:pPr algn="l">
              <a:lnSpc>
                <a:spcPct val="100000"/>
              </a:lnSpc>
              <a:spcAft>
                <a:spcPts val="0"/>
              </a:spcAft>
            </a:pPr>
            <a:r>
              <a:rPr sz="1100" b="0" i="0" cap="all">
                <a:solidFill>
                  <a:srgbClr val="8C837E"/>
                </a:solidFill>
                <a:latin typeface="Calibri"/>
              </a:rPr>
              <a:t>Slide 3 – 18</a:t>
            </a:r>
          </a:p>
        </p:txBody>
      </p:sp>
      <p:sp>
        <p:nvSpPr>
          <p:cNvPr id="12" name="Rectangle 11"/>
          <p:cNvSpPr/>
          <p:nvPr/>
        </p:nvSpPr>
        <p:spPr>
          <a:xfrm>
            <a:off x="969264" y="3017520"/>
            <a:ext cx="4609947"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9264" y="3218688"/>
            <a:ext cx="4609947" cy="1920240"/>
          </a:xfrm>
          <a:prstGeom prst="rect">
            <a:avLst/>
          </a:prstGeom>
          <a:noFill/>
        </p:spPr>
        <p:txBody>
          <a:bodyPr wrap="square" lIns="0" rIns="0" tIns="0" bIns="0">
            <a:spAutoFit/>
          </a:bodyPr>
          <a:lstStyle/>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Enam pertanyaan evaluasi internal</a:t>
            </a:r>
          </a:p>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Rasio keuangan (Tabel 4.1)</a:t>
            </a:r>
          </a:p>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SWOT dan tangga competence</a:t>
            </a:r>
          </a:p>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Resource, capability, uji VRIN</a:t>
            </a:r>
          </a:p>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Value chain dan benchmarking</a:t>
            </a:r>
          </a:p>
          <a:p>
            <a:pPr marL="237744" indent="-237744">
              <a:lnSpc>
                <a:spcPct val="116000"/>
              </a:lnSpc>
              <a:spcAft>
                <a:spcPts val="800"/>
              </a:spcAft>
            </a:pPr>
            <a:r>
              <a:rPr sz="1250" b="1">
                <a:solidFill>
                  <a:srgbClr val="DA291C"/>
                </a:solidFill>
                <a:latin typeface="Calibri"/>
              </a:rPr>
              <a:t>·  </a:t>
            </a:r>
            <a:r>
              <a:rPr sz="1250">
                <a:solidFill>
                  <a:srgbClr val="4A433F"/>
                </a:solidFill>
                <a:latin typeface="Calibri"/>
              </a:rPr>
              <a:t>Matriks kekuatan kompetitif</a:t>
            </a:r>
          </a:p>
        </p:txBody>
      </p:sp>
      <p:sp>
        <p:nvSpPr>
          <p:cNvPr id="14" name="Rectangle 13"/>
          <p:cNvSpPr/>
          <p:nvPr/>
        </p:nvSpPr>
        <p:spPr>
          <a:xfrm>
            <a:off x="6301587" y="1883664"/>
            <a:ext cx="5231739" cy="33832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301587" y="1883664"/>
            <a:ext cx="5231739" cy="5029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12483" y="2139696"/>
            <a:ext cx="640080" cy="685800"/>
          </a:xfrm>
          <a:prstGeom prst="rect">
            <a:avLst/>
          </a:prstGeom>
          <a:noFill/>
        </p:spPr>
        <p:txBody>
          <a:bodyPr wrap="square" lIns="0" rIns="0" tIns="0" bIns="0" anchor="t">
            <a:spAutoFit/>
          </a:bodyPr>
          <a:lstStyle/>
          <a:p>
            <a:pPr algn="l">
              <a:lnSpc>
                <a:spcPct val="90000"/>
              </a:lnSpc>
              <a:spcAft>
                <a:spcPts val="0"/>
              </a:spcAft>
            </a:pPr>
            <a:r>
              <a:rPr sz="4400" b="1" i="0">
                <a:solidFill>
                  <a:srgbClr val="1A1614"/>
                </a:solidFill>
                <a:latin typeface="Georgia"/>
              </a:rPr>
              <a:t>B</a:t>
            </a:r>
          </a:p>
        </p:txBody>
      </p:sp>
      <p:sp>
        <p:nvSpPr>
          <p:cNvPr id="17" name="TextBox 16"/>
          <p:cNvSpPr txBox="1"/>
          <p:nvPr/>
        </p:nvSpPr>
        <p:spPr>
          <a:xfrm>
            <a:off x="7289139" y="2231136"/>
            <a:ext cx="3951579" cy="365760"/>
          </a:xfrm>
          <a:prstGeom prst="rect">
            <a:avLst/>
          </a:prstGeom>
          <a:noFill/>
        </p:spPr>
        <p:txBody>
          <a:bodyPr wrap="square" lIns="0" rIns="0" tIns="0" bIns="0" anchor="t">
            <a:spAutoFit/>
          </a:bodyPr>
          <a:lstStyle/>
          <a:p>
            <a:pPr algn="l">
              <a:lnSpc>
                <a:spcPct val="100000"/>
              </a:lnSpc>
              <a:spcAft>
                <a:spcPts val="0"/>
              </a:spcAft>
            </a:pPr>
            <a:r>
              <a:rPr sz="1700" b="1" i="0">
                <a:solidFill>
                  <a:srgbClr val="1A1614"/>
                </a:solidFill>
                <a:latin typeface="Calibri"/>
              </a:rPr>
              <a:t>Penerapan: Manchester United</a:t>
            </a:r>
          </a:p>
        </p:txBody>
      </p:sp>
      <p:sp>
        <p:nvSpPr>
          <p:cNvPr id="18" name="TextBox 17"/>
          <p:cNvSpPr txBox="1"/>
          <p:nvPr/>
        </p:nvSpPr>
        <p:spPr>
          <a:xfrm>
            <a:off x="7289139" y="2560320"/>
            <a:ext cx="3951579" cy="274320"/>
          </a:xfrm>
          <a:prstGeom prst="rect">
            <a:avLst/>
          </a:prstGeom>
          <a:noFill/>
        </p:spPr>
        <p:txBody>
          <a:bodyPr wrap="square" lIns="0" rIns="0" tIns="0" bIns="0" anchor="t">
            <a:spAutoFit/>
          </a:bodyPr>
          <a:lstStyle/>
          <a:p>
            <a:pPr algn="l">
              <a:lnSpc>
                <a:spcPct val="100000"/>
              </a:lnSpc>
              <a:spcAft>
                <a:spcPts val="0"/>
              </a:spcAft>
            </a:pPr>
            <a:r>
              <a:rPr sz="1100" b="0" i="0" cap="all">
                <a:solidFill>
                  <a:srgbClr val="8C837E"/>
                </a:solidFill>
                <a:latin typeface="Calibri"/>
              </a:rPr>
              <a:t>Slide 19 – 31</a:t>
            </a:r>
          </a:p>
        </p:txBody>
      </p:sp>
      <p:sp>
        <p:nvSpPr>
          <p:cNvPr id="19" name="Rectangle 18"/>
          <p:cNvSpPr/>
          <p:nvPr/>
        </p:nvSpPr>
        <p:spPr>
          <a:xfrm>
            <a:off x="6612483" y="3017520"/>
            <a:ext cx="4609947"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12483" y="3218688"/>
            <a:ext cx="4609947" cy="1920240"/>
          </a:xfrm>
          <a:prstGeom prst="rect">
            <a:avLst/>
          </a:prstGeom>
          <a:noFill/>
        </p:spPr>
        <p:txBody>
          <a:bodyPr wrap="square" lIns="0" rIns="0" tIns="0" bIns="0">
            <a:spAutoFit/>
          </a:bodyPr>
          <a:lstStyle/>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Profil kasus dan industrinya</a:t>
            </a:r>
          </a:p>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Q1: kinerja lapangan dan keuangan</a:t>
            </a:r>
          </a:p>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Q2: SWOT klub</a:t>
            </a:r>
          </a:p>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Q3: resource, capability, VRIN</a:t>
            </a:r>
          </a:p>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Q4: rantai nilai dan biaya</a:t>
            </a:r>
          </a:p>
          <a:p>
            <a:pPr marL="237744" indent="-237744">
              <a:lnSpc>
                <a:spcPct val="116000"/>
              </a:lnSpc>
              <a:spcAft>
                <a:spcPts val="800"/>
              </a:spcAft>
            </a:pPr>
            <a:r>
              <a:rPr sz="1250" b="1">
                <a:solidFill>
                  <a:srgbClr val="1A1614"/>
                </a:solidFill>
                <a:latin typeface="Calibri"/>
              </a:rPr>
              <a:t>·  </a:t>
            </a:r>
            <a:r>
              <a:rPr sz="1250">
                <a:solidFill>
                  <a:srgbClr val="4A433F"/>
                </a:solidFill>
                <a:latin typeface="Calibri"/>
              </a:rPr>
              <a:t>Q5 &amp; Q6: matriks dan rekomendasi</a:t>
            </a:r>
          </a:p>
        </p:txBody>
      </p:sp>
      <p:sp>
        <p:nvSpPr>
          <p:cNvPr id="21" name="Rectangle 20"/>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23" name="TextBox 22"/>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685800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896112"/>
            <a:ext cx="4572000" cy="274320"/>
          </a:xfrm>
          <a:prstGeom prst="rect">
            <a:avLst/>
          </a:prstGeom>
          <a:noFill/>
        </p:spPr>
        <p:txBody>
          <a:bodyPr wrap="square" lIns="0" rIns="0" tIns="0" bIns="0" anchor="t">
            <a:spAutoFit/>
          </a:bodyPr>
          <a:lstStyle/>
          <a:p>
            <a:pPr algn="l">
              <a:lnSpc>
                <a:spcPct val="100000"/>
              </a:lnSpc>
              <a:spcAft>
                <a:spcPts val="0"/>
              </a:spcAft>
            </a:pPr>
            <a:r>
              <a:rPr sz="1150" b="1" i="0" cap="all">
                <a:solidFill>
                  <a:srgbClr val="DA291C"/>
                </a:solidFill>
                <a:latin typeface="Calibri"/>
              </a:rPr>
              <a:t>Bagian A</a:t>
            </a:r>
          </a:p>
        </p:txBody>
      </p:sp>
      <p:sp>
        <p:nvSpPr>
          <p:cNvPr id="5" name="TextBox 4"/>
          <p:cNvSpPr txBox="1"/>
          <p:nvPr/>
        </p:nvSpPr>
        <p:spPr>
          <a:xfrm>
            <a:off x="1051560" y="1225296"/>
            <a:ext cx="5120640" cy="1828800"/>
          </a:xfrm>
          <a:prstGeom prst="rect">
            <a:avLst/>
          </a:prstGeom>
          <a:noFill/>
        </p:spPr>
        <p:txBody>
          <a:bodyPr wrap="square" lIns="0" rIns="0" tIns="0" bIns="0" anchor="t">
            <a:spAutoFit/>
          </a:bodyPr>
          <a:lstStyle/>
          <a:p>
            <a:pPr algn="l">
              <a:lnSpc>
                <a:spcPct val="94000"/>
              </a:lnSpc>
              <a:spcAft>
                <a:spcPts val="0"/>
              </a:spcAft>
            </a:pPr>
            <a:r>
              <a:rPr sz="4200" b="1" i="0">
                <a:solidFill>
                  <a:srgbClr val="FFFFFF"/>
                </a:solidFill>
                <a:latin typeface="Calibri"/>
              </a:rPr>
              <a:t>Enam
Pertanyaan</a:t>
            </a:r>
          </a:p>
        </p:txBody>
      </p:sp>
      <p:sp>
        <p:nvSpPr>
          <p:cNvPr id="6" name="TextBox 5"/>
          <p:cNvSpPr txBox="1"/>
          <p:nvPr/>
        </p:nvSpPr>
        <p:spPr>
          <a:xfrm>
            <a:off x="1051560" y="3200400"/>
            <a:ext cx="4846320" cy="1463040"/>
          </a:xfrm>
          <a:prstGeom prst="rect">
            <a:avLst/>
          </a:prstGeom>
          <a:noFill/>
        </p:spPr>
        <p:txBody>
          <a:bodyPr wrap="square" lIns="0" rIns="0" tIns="0" bIns="0" anchor="t">
            <a:spAutoFit/>
          </a:bodyPr>
          <a:lstStyle/>
          <a:p>
            <a:pPr algn="l">
              <a:lnSpc>
                <a:spcPct val="130000"/>
              </a:lnSpc>
              <a:spcAft>
                <a:spcPts val="0"/>
              </a:spcAft>
            </a:pPr>
            <a:r>
              <a:rPr sz="1350" b="0" i="0">
                <a:solidFill>
                  <a:srgbClr val="A89F99"/>
                </a:solidFill>
                <a:latin typeface="Calibri"/>
              </a:rPr>
              <a:t>Chapter 4 bukan kumpulan alat yang berdiri sendiri. Isinya satu alur pemeriksaan, disusun sebagai enam pertanyaan berurutan. Jawaban pertanyaan sebelumnya jadi bahan pertanyaan berikutnya.</a:t>
            </a:r>
          </a:p>
        </p:txBody>
      </p:sp>
      <p:sp>
        <p:nvSpPr>
          <p:cNvPr id="7" name="TextBox 6"/>
          <p:cNvSpPr txBox="1"/>
          <p:nvPr/>
        </p:nvSpPr>
        <p:spPr>
          <a:xfrm>
            <a:off x="1051560" y="4846320"/>
            <a:ext cx="4846320" cy="548640"/>
          </a:xfrm>
          <a:prstGeom prst="rect">
            <a:avLst/>
          </a:prstGeom>
          <a:noFill/>
        </p:spPr>
        <p:txBody>
          <a:bodyPr wrap="square" lIns="0" rIns="0" tIns="0" bIns="0" anchor="t">
            <a:spAutoFit/>
          </a:bodyPr>
          <a:lstStyle/>
          <a:p>
            <a:pPr algn="l">
              <a:lnSpc>
                <a:spcPct val="120000"/>
              </a:lnSpc>
              <a:spcAft>
                <a:spcPts val="0"/>
              </a:spcAft>
            </a:pPr>
            <a:r>
              <a:rPr sz="1050" b="0" i="0">
                <a:solidFill>
                  <a:srgbClr val="6B625D"/>
                </a:solidFill>
                <a:latin typeface="Calibri"/>
              </a:rPr>
              <a:t>Sumber: Thompson, Peteraf, Gamble &amp; Strickland, Crafting &amp; Executing Strategy, 2024 Release ISE, Chapter 4.</a:t>
            </a:r>
          </a:p>
        </p:txBody>
      </p:sp>
      <p:sp>
        <p:nvSpPr>
          <p:cNvPr id="8" name="Rectangle 7"/>
          <p:cNvSpPr/>
          <p:nvPr/>
        </p:nvSpPr>
        <p:spPr>
          <a:xfrm>
            <a:off x="6446520" y="841248"/>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46520" y="841248"/>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702552" y="1005840"/>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1</a:t>
            </a:r>
          </a:p>
        </p:txBody>
      </p:sp>
      <p:sp>
        <p:nvSpPr>
          <p:cNvPr id="11" name="TextBox 10"/>
          <p:cNvSpPr txBox="1"/>
          <p:nvPr/>
        </p:nvSpPr>
        <p:spPr>
          <a:xfrm>
            <a:off x="7196328" y="950976"/>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Seberapa baik strategi yang sekarang bekerja?</a:t>
            </a:r>
          </a:p>
        </p:txBody>
      </p:sp>
      <p:sp>
        <p:nvSpPr>
          <p:cNvPr id="12" name="TextBox 11"/>
          <p:cNvSpPr txBox="1"/>
          <p:nvPr/>
        </p:nvSpPr>
        <p:spPr>
          <a:xfrm>
            <a:off x="7196328" y="1371600"/>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Indikator kinerja + Tabel 4.1</a:t>
            </a:r>
          </a:p>
        </p:txBody>
      </p:sp>
      <p:sp>
        <p:nvSpPr>
          <p:cNvPr id="13" name="Rectangle 12"/>
          <p:cNvSpPr/>
          <p:nvPr/>
        </p:nvSpPr>
        <p:spPr>
          <a:xfrm>
            <a:off x="6446520" y="1737360"/>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446520" y="1737360"/>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02552" y="1901952"/>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2</a:t>
            </a:r>
          </a:p>
        </p:txBody>
      </p:sp>
      <p:sp>
        <p:nvSpPr>
          <p:cNvPr id="16" name="TextBox 15"/>
          <p:cNvSpPr txBox="1"/>
          <p:nvPr/>
        </p:nvSpPr>
        <p:spPr>
          <a:xfrm>
            <a:off x="7196328" y="1847088"/>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Apa kekuatan dan kelemahan kita, dihadapkan pada peluang dan ancaman?</a:t>
            </a:r>
          </a:p>
        </p:txBody>
      </p:sp>
      <p:sp>
        <p:nvSpPr>
          <p:cNvPr id="17" name="TextBox 16"/>
          <p:cNvSpPr txBox="1"/>
          <p:nvPr/>
        </p:nvSpPr>
        <p:spPr>
          <a:xfrm>
            <a:off x="7196328" y="2267712"/>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SWOT</a:t>
            </a:r>
          </a:p>
        </p:txBody>
      </p:sp>
      <p:sp>
        <p:nvSpPr>
          <p:cNvPr id="18" name="Rectangle 17"/>
          <p:cNvSpPr/>
          <p:nvPr/>
        </p:nvSpPr>
        <p:spPr>
          <a:xfrm>
            <a:off x="6446520" y="2633472"/>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446520" y="2633472"/>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02552" y="2798064"/>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3</a:t>
            </a:r>
          </a:p>
        </p:txBody>
      </p:sp>
      <p:sp>
        <p:nvSpPr>
          <p:cNvPr id="21" name="TextBox 20"/>
          <p:cNvSpPr txBox="1"/>
          <p:nvPr/>
        </p:nvSpPr>
        <p:spPr>
          <a:xfrm>
            <a:off x="7196328" y="2743200"/>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Resource dan capability apa yang paling penting, dan apakah tahan lama?</a:t>
            </a:r>
          </a:p>
        </p:txBody>
      </p:sp>
      <p:sp>
        <p:nvSpPr>
          <p:cNvPr id="22" name="TextBox 21"/>
          <p:cNvSpPr txBox="1"/>
          <p:nvPr/>
        </p:nvSpPr>
        <p:spPr>
          <a:xfrm>
            <a:off x="7196328" y="3163824"/>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Tabel 4.3 + uji VRIN</a:t>
            </a:r>
          </a:p>
        </p:txBody>
      </p:sp>
      <p:sp>
        <p:nvSpPr>
          <p:cNvPr id="23" name="Rectangle 22"/>
          <p:cNvSpPr/>
          <p:nvPr/>
        </p:nvSpPr>
        <p:spPr>
          <a:xfrm>
            <a:off x="6446520" y="3529584"/>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446520" y="3529584"/>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02552" y="3694176"/>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4</a:t>
            </a:r>
          </a:p>
        </p:txBody>
      </p:sp>
      <p:sp>
        <p:nvSpPr>
          <p:cNvPr id="26" name="TextBox 25"/>
          <p:cNvSpPr txBox="1"/>
          <p:nvPr/>
        </p:nvSpPr>
        <p:spPr>
          <a:xfrm>
            <a:off x="7196328" y="3639312"/>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Bagaimana aktivitas rantai nilai memengaruhi biaya dan nilai pelanggan?</a:t>
            </a:r>
          </a:p>
        </p:txBody>
      </p:sp>
      <p:sp>
        <p:nvSpPr>
          <p:cNvPr id="27" name="TextBox 26"/>
          <p:cNvSpPr txBox="1"/>
          <p:nvPr/>
        </p:nvSpPr>
        <p:spPr>
          <a:xfrm>
            <a:off x="7196328" y="4059935"/>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Value chain + benchmarking</a:t>
            </a:r>
          </a:p>
        </p:txBody>
      </p:sp>
      <p:sp>
        <p:nvSpPr>
          <p:cNvPr id="28" name="Rectangle 27"/>
          <p:cNvSpPr/>
          <p:nvPr/>
        </p:nvSpPr>
        <p:spPr>
          <a:xfrm>
            <a:off x="6446520" y="4425696"/>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446520" y="4425696"/>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02552" y="4590288"/>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5</a:t>
            </a:r>
          </a:p>
        </p:txBody>
      </p:sp>
      <p:sp>
        <p:nvSpPr>
          <p:cNvPr id="31" name="TextBox 30"/>
          <p:cNvSpPr txBox="1"/>
          <p:nvPr/>
        </p:nvSpPr>
        <p:spPr>
          <a:xfrm>
            <a:off x="7196328" y="4535424"/>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Kita lebih kuat atau lebih lemah dari pesaing utama?</a:t>
            </a:r>
          </a:p>
        </p:txBody>
      </p:sp>
      <p:sp>
        <p:nvSpPr>
          <p:cNvPr id="32" name="TextBox 31"/>
          <p:cNvSpPr txBox="1"/>
          <p:nvPr/>
        </p:nvSpPr>
        <p:spPr>
          <a:xfrm>
            <a:off x="7196328" y="4956048"/>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Matriks kekuatan (Tabel 4.4)</a:t>
            </a:r>
          </a:p>
        </p:txBody>
      </p:sp>
      <p:sp>
        <p:nvSpPr>
          <p:cNvPr id="33" name="Rectangle 32"/>
          <p:cNvSpPr/>
          <p:nvPr/>
        </p:nvSpPr>
        <p:spPr>
          <a:xfrm>
            <a:off x="6446520" y="5321808"/>
            <a:ext cx="5074920" cy="822960"/>
          </a:xfrm>
          <a:prstGeom prst="rect">
            <a:avLst/>
          </a:prstGeom>
          <a:solidFill>
            <a:srgbClr val="22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446520" y="5321808"/>
            <a:ext cx="41148" cy="82296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02552" y="5486400"/>
            <a:ext cx="457200" cy="493776"/>
          </a:xfrm>
          <a:prstGeom prst="rect">
            <a:avLst/>
          </a:prstGeom>
          <a:noFill/>
        </p:spPr>
        <p:txBody>
          <a:bodyPr wrap="square" lIns="0" rIns="0" tIns="0" bIns="0" anchor="t">
            <a:spAutoFit/>
          </a:bodyPr>
          <a:lstStyle/>
          <a:p>
            <a:pPr algn="l">
              <a:lnSpc>
                <a:spcPct val="100000"/>
              </a:lnSpc>
              <a:spcAft>
                <a:spcPts val="0"/>
              </a:spcAft>
            </a:pPr>
            <a:r>
              <a:rPr sz="2400" b="1" i="0">
                <a:solidFill>
                  <a:srgbClr val="DA291C"/>
                </a:solidFill>
                <a:latin typeface="Georgia"/>
              </a:rPr>
              <a:t>6</a:t>
            </a:r>
          </a:p>
        </p:txBody>
      </p:sp>
      <p:sp>
        <p:nvSpPr>
          <p:cNvPr id="36" name="TextBox 35"/>
          <p:cNvSpPr txBox="1"/>
          <p:nvPr/>
        </p:nvSpPr>
        <p:spPr>
          <a:xfrm>
            <a:off x="7196328" y="5431536"/>
            <a:ext cx="4160520" cy="420624"/>
          </a:xfrm>
          <a:prstGeom prst="rect">
            <a:avLst/>
          </a:prstGeom>
          <a:noFill/>
        </p:spPr>
        <p:txBody>
          <a:bodyPr wrap="square" lIns="0" rIns="0" tIns="0" bIns="0" anchor="t">
            <a:spAutoFit/>
          </a:bodyPr>
          <a:lstStyle/>
          <a:p>
            <a:pPr algn="l">
              <a:lnSpc>
                <a:spcPct val="106000"/>
              </a:lnSpc>
              <a:spcAft>
                <a:spcPts val="0"/>
              </a:spcAft>
            </a:pPr>
            <a:r>
              <a:rPr sz="1250" b="1" i="0">
                <a:solidFill>
                  <a:srgbClr val="FFFFFF"/>
                </a:solidFill>
                <a:latin typeface="Calibri"/>
              </a:rPr>
              <a:t>Isu strategis apa yang harus ditangani lebih dulu?</a:t>
            </a:r>
          </a:p>
        </p:txBody>
      </p:sp>
      <p:sp>
        <p:nvSpPr>
          <p:cNvPr id="37" name="TextBox 36"/>
          <p:cNvSpPr txBox="1"/>
          <p:nvPr/>
        </p:nvSpPr>
        <p:spPr>
          <a:xfrm>
            <a:off x="7196328" y="5852160"/>
            <a:ext cx="4160520" cy="237744"/>
          </a:xfrm>
          <a:prstGeom prst="rect">
            <a:avLst/>
          </a:prstGeom>
          <a:noFill/>
        </p:spPr>
        <p:txBody>
          <a:bodyPr wrap="square" lIns="0" rIns="0" tIns="0" bIns="0" anchor="t">
            <a:spAutoFit/>
          </a:bodyPr>
          <a:lstStyle/>
          <a:p>
            <a:pPr algn="l">
              <a:lnSpc>
                <a:spcPct val="100000"/>
              </a:lnSpc>
              <a:spcAft>
                <a:spcPts val="0"/>
              </a:spcAft>
            </a:pPr>
            <a:r>
              <a:rPr sz="1000" b="0" i="0">
                <a:solidFill>
                  <a:srgbClr val="8C837E"/>
                </a:solidFill>
                <a:latin typeface="Calibri"/>
              </a:rPr>
              <a:t>Priority 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1</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Seberapa baik strategi yang sekarang bekerja?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Sebelum menilai, pahami dulu strateginya seperti apa (Figure 4.1). Baru sesudah itu diukur hasilnya.</a:t>
            </a:r>
          </a:p>
        </p:txBody>
      </p:sp>
      <p:sp>
        <p:nvSpPr>
          <p:cNvPr id="7" name="Rectangle 6"/>
          <p:cNvSpPr/>
          <p:nvPr/>
        </p:nvSpPr>
        <p:spPr>
          <a:xfrm>
            <a:off x="658368" y="1883664"/>
            <a:ext cx="5245455" cy="177393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45720" cy="177393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50976" y="2066544"/>
            <a:ext cx="731520" cy="274320"/>
          </a:xfrm>
          <a:prstGeom prst="rect">
            <a:avLst/>
          </a:prstGeom>
          <a:noFill/>
        </p:spPr>
        <p:txBody>
          <a:bodyPr wrap="square" lIns="0" rIns="0" tIns="0" bIns="0" anchor="t">
            <a:spAutoFit/>
          </a:bodyPr>
          <a:lstStyle/>
          <a:p>
            <a:pPr algn="l">
              <a:lnSpc>
                <a:spcPct val="100000"/>
              </a:lnSpc>
              <a:spcAft>
                <a:spcPts val="0"/>
              </a:spcAft>
            </a:pPr>
            <a:r>
              <a:rPr sz="1300" b="1" i="0">
                <a:solidFill>
                  <a:srgbClr val="DA291C"/>
                </a:solidFill>
                <a:latin typeface="Georgia"/>
              </a:rPr>
              <a:t>01</a:t>
            </a:r>
          </a:p>
        </p:txBody>
      </p:sp>
      <p:sp>
        <p:nvSpPr>
          <p:cNvPr id="10" name="TextBox 9"/>
          <p:cNvSpPr txBox="1"/>
          <p:nvPr/>
        </p:nvSpPr>
        <p:spPr>
          <a:xfrm>
            <a:off x="950976" y="2377440"/>
            <a:ext cx="4641951" cy="566928"/>
          </a:xfrm>
          <a:prstGeom prst="rect">
            <a:avLst/>
          </a:prstGeom>
          <a:noFill/>
        </p:spPr>
        <p:txBody>
          <a:bodyPr wrap="square" lIns="0" rIns="0" tIns="0" bIns="0" anchor="t">
            <a:spAutoFit/>
          </a:bodyPr>
          <a:lstStyle/>
          <a:p>
            <a:pPr algn="l">
              <a:lnSpc>
                <a:spcPct val="108000"/>
              </a:lnSpc>
              <a:spcAft>
                <a:spcPts val="0"/>
              </a:spcAft>
            </a:pPr>
            <a:r>
              <a:rPr sz="1500" b="1" i="0">
                <a:solidFill>
                  <a:srgbClr val="1A1614"/>
                </a:solidFill>
                <a:latin typeface="Calibri"/>
              </a:rPr>
              <a:t>Apakah kekuatan keuangan dan
labanya membaik?</a:t>
            </a:r>
          </a:p>
        </p:txBody>
      </p:sp>
      <p:sp>
        <p:nvSpPr>
          <p:cNvPr id="11" name="TextBox 10"/>
          <p:cNvSpPr txBox="1"/>
          <p:nvPr/>
        </p:nvSpPr>
        <p:spPr>
          <a:xfrm>
            <a:off x="950976" y="2962656"/>
            <a:ext cx="4641951" cy="658368"/>
          </a:xfrm>
          <a:prstGeom prst="rect">
            <a:avLst/>
          </a:prstGeom>
          <a:noFill/>
        </p:spPr>
        <p:txBody>
          <a:bodyPr wrap="square" lIns="0" rIns="0" tIns="0" bIns="0" anchor="t">
            <a:spAutoFit/>
          </a:bodyPr>
          <a:lstStyle/>
          <a:p>
            <a:pPr algn="l">
              <a:lnSpc>
                <a:spcPct val="118000"/>
              </a:lnSpc>
              <a:spcAft>
                <a:spcPts val="0"/>
              </a:spcAft>
            </a:pPr>
            <a:r>
              <a:rPr sz="1200" b="0" i="0">
                <a:solidFill>
                  <a:srgbClr val="4A433F"/>
                </a:solidFill>
                <a:latin typeface="Calibri"/>
              </a:rPr>
              <a:t>Lihat trennya, bukan angka satu tahun. Penjualan, laba, dan kesehatan keuangan yang terus naik adalah tanda strateginya jalan.</a:t>
            </a:r>
          </a:p>
        </p:txBody>
      </p:sp>
      <p:sp>
        <p:nvSpPr>
          <p:cNvPr id="12" name="Rectangle 11"/>
          <p:cNvSpPr/>
          <p:nvPr/>
        </p:nvSpPr>
        <p:spPr>
          <a:xfrm>
            <a:off x="6287871" y="1883664"/>
            <a:ext cx="5245455" cy="177393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87871" y="1883664"/>
            <a:ext cx="45720" cy="177393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0479" y="2066544"/>
            <a:ext cx="731520" cy="274320"/>
          </a:xfrm>
          <a:prstGeom prst="rect">
            <a:avLst/>
          </a:prstGeom>
          <a:noFill/>
        </p:spPr>
        <p:txBody>
          <a:bodyPr wrap="square" lIns="0" rIns="0" tIns="0" bIns="0" anchor="t">
            <a:spAutoFit/>
          </a:bodyPr>
          <a:lstStyle/>
          <a:p>
            <a:pPr algn="l">
              <a:lnSpc>
                <a:spcPct val="100000"/>
              </a:lnSpc>
              <a:spcAft>
                <a:spcPts val="0"/>
              </a:spcAft>
            </a:pPr>
            <a:r>
              <a:rPr sz="1300" b="1" i="0">
                <a:solidFill>
                  <a:srgbClr val="DA291C"/>
                </a:solidFill>
                <a:latin typeface="Georgia"/>
              </a:rPr>
              <a:t>02</a:t>
            </a:r>
          </a:p>
        </p:txBody>
      </p:sp>
      <p:sp>
        <p:nvSpPr>
          <p:cNvPr id="15" name="TextBox 14"/>
          <p:cNvSpPr txBox="1"/>
          <p:nvPr/>
        </p:nvSpPr>
        <p:spPr>
          <a:xfrm>
            <a:off x="6580479" y="2377440"/>
            <a:ext cx="4641951" cy="566928"/>
          </a:xfrm>
          <a:prstGeom prst="rect">
            <a:avLst/>
          </a:prstGeom>
          <a:noFill/>
        </p:spPr>
        <p:txBody>
          <a:bodyPr wrap="square" lIns="0" rIns="0" tIns="0" bIns="0" anchor="t">
            <a:spAutoFit/>
          </a:bodyPr>
          <a:lstStyle/>
          <a:p>
            <a:pPr algn="l">
              <a:lnSpc>
                <a:spcPct val="108000"/>
              </a:lnSpc>
              <a:spcAft>
                <a:spcPts val="0"/>
              </a:spcAft>
            </a:pPr>
            <a:r>
              <a:rPr sz="1500" b="1" i="0">
                <a:solidFill>
                  <a:srgbClr val="1A1614"/>
                </a:solidFill>
                <a:latin typeface="Calibri"/>
              </a:rPr>
              <a:t>Apakah posisi dan kekuatan
bersaingnya membaik?</a:t>
            </a:r>
          </a:p>
        </p:txBody>
      </p:sp>
      <p:sp>
        <p:nvSpPr>
          <p:cNvPr id="16" name="TextBox 15"/>
          <p:cNvSpPr txBox="1"/>
          <p:nvPr/>
        </p:nvSpPr>
        <p:spPr>
          <a:xfrm>
            <a:off x="6580479" y="2962656"/>
            <a:ext cx="4641951" cy="658368"/>
          </a:xfrm>
          <a:prstGeom prst="rect">
            <a:avLst/>
          </a:prstGeom>
          <a:noFill/>
        </p:spPr>
        <p:txBody>
          <a:bodyPr wrap="square" lIns="0" rIns="0" tIns="0" bIns="0" anchor="t">
            <a:spAutoFit/>
          </a:bodyPr>
          <a:lstStyle/>
          <a:p>
            <a:pPr algn="l">
              <a:lnSpc>
                <a:spcPct val="118000"/>
              </a:lnSpc>
              <a:spcAft>
                <a:spcPts val="0"/>
              </a:spcAft>
            </a:pPr>
            <a:r>
              <a:rPr sz="1200" b="0" i="0">
                <a:solidFill>
                  <a:srgbClr val="4A433F"/>
                </a:solidFill>
                <a:latin typeface="Calibri"/>
              </a:rPr>
              <a:t>Untung saja belum cukup. Kalau posisi di pasar tergerus sementara pesaing menguat, strateginya tetap bermasalah.</a:t>
            </a:r>
          </a:p>
        </p:txBody>
      </p:sp>
      <p:sp>
        <p:nvSpPr>
          <p:cNvPr id="17" name="TextBox 16"/>
          <p:cNvSpPr txBox="1"/>
          <p:nvPr/>
        </p:nvSpPr>
        <p:spPr>
          <a:xfrm>
            <a:off x="658368" y="3840480"/>
            <a:ext cx="10874959"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Enam indikator yang dipantau</a:t>
            </a:r>
          </a:p>
        </p:txBody>
      </p:sp>
      <p:sp>
        <p:nvSpPr>
          <p:cNvPr id="18" name="Rectangle 17"/>
          <p:cNvSpPr/>
          <p:nvPr/>
        </p:nvSpPr>
        <p:spPr>
          <a:xfrm>
            <a:off x="658368" y="4306824"/>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6112" y="4224528"/>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Tren penjualan dan pertumbuhan laba</a:t>
            </a:r>
          </a:p>
        </p:txBody>
      </p:sp>
      <p:sp>
        <p:nvSpPr>
          <p:cNvPr id="20" name="Rectangle 19"/>
          <p:cNvSpPr/>
          <p:nvPr/>
        </p:nvSpPr>
        <p:spPr>
          <a:xfrm>
            <a:off x="6324447" y="4306824"/>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62191" y="4224528"/>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Tren harga saham</a:t>
            </a:r>
          </a:p>
        </p:txBody>
      </p:sp>
      <p:sp>
        <p:nvSpPr>
          <p:cNvPr id="22" name="Rectangle 21"/>
          <p:cNvSpPr/>
          <p:nvPr/>
        </p:nvSpPr>
        <p:spPr>
          <a:xfrm>
            <a:off x="658368" y="4654296"/>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96112" y="4572000"/>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Kekuatan keuangan secara keseluruhan</a:t>
            </a:r>
          </a:p>
        </p:txBody>
      </p:sp>
      <p:sp>
        <p:nvSpPr>
          <p:cNvPr id="24" name="Rectangle 23"/>
          <p:cNvSpPr/>
          <p:nvPr/>
        </p:nvSpPr>
        <p:spPr>
          <a:xfrm>
            <a:off x="6324447" y="4654296"/>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62191" y="4572000"/>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Tingkat pelanggan yang bertahan</a:t>
            </a:r>
          </a:p>
        </p:txBody>
      </p:sp>
      <p:sp>
        <p:nvSpPr>
          <p:cNvPr id="26" name="Rectangle 25"/>
          <p:cNvSpPr/>
          <p:nvPr/>
        </p:nvSpPr>
        <p:spPr>
          <a:xfrm>
            <a:off x="658368" y="5001768"/>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96112" y="4919472"/>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Kecepatan mendapat pelanggan baru</a:t>
            </a:r>
          </a:p>
        </p:txBody>
      </p:sp>
      <p:sp>
        <p:nvSpPr>
          <p:cNvPr id="28" name="Rectangle 27"/>
          <p:cNvSpPr/>
          <p:nvPr/>
        </p:nvSpPr>
        <p:spPr>
          <a:xfrm>
            <a:off x="6324447" y="5001768"/>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62191" y="4919472"/>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Perbaikan proses internal: cacat, waktu kirim, produktivitas</a:t>
            </a:r>
          </a:p>
        </p:txBody>
      </p:sp>
      <p:sp>
        <p:nvSpPr>
          <p:cNvPr id="30" name="Rectangle 29"/>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Aturannya sederhana: </a:t>
            </a:r>
            <a:r>
              <a:rPr sz="1200" b="0">
                <a:solidFill>
                  <a:srgbClr val="1A1614"/>
                </a:solidFill>
                <a:latin typeface="Calibri"/>
              </a:rPr>
              <a:t>makin kuat kinerja sekarang, makin kecil kebutuhan mengubah strategi. Makin lemah kinerjanya, makin besar kemungkinan strateginya memang salah, eksekusinya buruk, atau dua-duanya.</a:t>
            </a:r>
          </a:p>
        </p:txBody>
      </p:sp>
      <p:sp>
        <p:nvSpPr>
          <p:cNvPr id="33" name="Rectangle 32"/>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35" name="TextBox 34"/>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1 · Tabel 4.1</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Rasio keuangan: alat ukurnya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Penilaian tadi perlu bukti angka. Buku mengelompokkan rasio ke dalam empat kategori, plus satu kelompok ukuran tambahan.</a:t>
            </a:r>
          </a:p>
        </p:txBody>
      </p:sp>
      <p:sp>
        <p:nvSpPr>
          <p:cNvPr id="7" name="Rectangle 6"/>
          <p:cNvSpPr/>
          <p:nvPr/>
        </p:nvSpPr>
        <p:spPr>
          <a:xfrm>
            <a:off x="658368" y="1883664"/>
            <a:ext cx="2512999" cy="320040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2512999" cy="45720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2002536"/>
            <a:ext cx="2147239" cy="274320"/>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Profitabilitas</a:t>
            </a:r>
          </a:p>
        </p:txBody>
      </p:sp>
      <p:sp>
        <p:nvSpPr>
          <p:cNvPr id="10" name="TextBox 9"/>
          <p:cNvSpPr txBox="1"/>
          <p:nvPr/>
        </p:nvSpPr>
        <p:spPr>
          <a:xfrm>
            <a:off x="841247" y="2468880"/>
            <a:ext cx="2147239" cy="566928"/>
          </a:xfrm>
          <a:prstGeom prst="rect">
            <a:avLst/>
          </a:prstGeom>
          <a:noFill/>
        </p:spPr>
        <p:txBody>
          <a:bodyPr wrap="square" lIns="0" rIns="0" tIns="0" bIns="0" anchor="t">
            <a:spAutoFit/>
          </a:bodyPr>
          <a:lstStyle/>
          <a:p>
            <a:pPr algn="l">
              <a:lnSpc>
                <a:spcPct val="114000"/>
              </a:lnSpc>
              <a:spcAft>
                <a:spcPts val="0"/>
              </a:spcAft>
            </a:pPr>
            <a:r>
              <a:rPr sz="1100" b="0" i="0">
                <a:solidFill>
                  <a:srgbClr val="8C837E"/>
                </a:solidFill>
                <a:latin typeface="Calibri"/>
              </a:rPr>
              <a:t>Seberapa besar laba yang dihasilkan</a:t>
            </a:r>
          </a:p>
        </p:txBody>
      </p:sp>
      <p:sp>
        <p:nvSpPr>
          <p:cNvPr id="11" name="Rectangle 10"/>
          <p:cNvSpPr/>
          <p:nvPr/>
        </p:nvSpPr>
        <p:spPr>
          <a:xfrm>
            <a:off x="841247" y="321411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314553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Gross profit margin</a:t>
            </a:r>
          </a:p>
        </p:txBody>
      </p:sp>
      <p:sp>
        <p:nvSpPr>
          <p:cNvPr id="13" name="Rectangle 12"/>
          <p:cNvSpPr/>
          <p:nvPr/>
        </p:nvSpPr>
        <p:spPr>
          <a:xfrm>
            <a:off x="841247" y="348843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05840" y="341985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Operating profit margin</a:t>
            </a:r>
          </a:p>
        </p:txBody>
      </p:sp>
      <p:sp>
        <p:nvSpPr>
          <p:cNvPr id="15" name="Rectangle 14"/>
          <p:cNvSpPr/>
          <p:nvPr/>
        </p:nvSpPr>
        <p:spPr>
          <a:xfrm>
            <a:off x="841247" y="376275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369417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Net profit margin</a:t>
            </a:r>
          </a:p>
        </p:txBody>
      </p:sp>
      <p:sp>
        <p:nvSpPr>
          <p:cNvPr id="17" name="Rectangle 16"/>
          <p:cNvSpPr/>
          <p:nvPr/>
        </p:nvSpPr>
        <p:spPr>
          <a:xfrm>
            <a:off x="841247" y="403707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396849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Total return on assets</a:t>
            </a:r>
          </a:p>
        </p:txBody>
      </p:sp>
      <p:sp>
        <p:nvSpPr>
          <p:cNvPr id="19" name="Rectangle 18"/>
          <p:cNvSpPr/>
          <p:nvPr/>
        </p:nvSpPr>
        <p:spPr>
          <a:xfrm>
            <a:off x="841247" y="431139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05840" y="424281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Net return on assets (ROA)</a:t>
            </a:r>
          </a:p>
        </p:txBody>
      </p:sp>
      <p:sp>
        <p:nvSpPr>
          <p:cNvPr id="21" name="Rectangle 20"/>
          <p:cNvSpPr/>
          <p:nvPr/>
        </p:nvSpPr>
        <p:spPr>
          <a:xfrm>
            <a:off x="841247" y="458571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05840" y="451713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Return on equity (ROE)</a:t>
            </a:r>
          </a:p>
        </p:txBody>
      </p:sp>
      <p:sp>
        <p:nvSpPr>
          <p:cNvPr id="23" name="Rectangle 22"/>
          <p:cNvSpPr/>
          <p:nvPr/>
        </p:nvSpPr>
        <p:spPr>
          <a:xfrm>
            <a:off x="841247" y="486003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5840" y="4791455"/>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Return on invested capital</a:t>
            </a:r>
          </a:p>
        </p:txBody>
      </p:sp>
      <p:sp>
        <p:nvSpPr>
          <p:cNvPr id="25" name="Rectangle 24"/>
          <p:cNvSpPr/>
          <p:nvPr/>
        </p:nvSpPr>
        <p:spPr>
          <a:xfrm>
            <a:off x="3445687" y="1883664"/>
            <a:ext cx="2512999" cy="320040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3445687" y="1883664"/>
            <a:ext cx="2512999" cy="45720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28567" y="2002536"/>
            <a:ext cx="2147239" cy="274320"/>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Likuiditas</a:t>
            </a:r>
          </a:p>
        </p:txBody>
      </p:sp>
      <p:sp>
        <p:nvSpPr>
          <p:cNvPr id="28" name="TextBox 27"/>
          <p:cNvSpPr txBox="1"/>
          <p:nvPr/>
        </p:nvSpPr>
        <p:spPr>
          <a:xfrm>
            <a:off x="3628567" y="2468880"/>
            <a:ext cx="2147239" cy="566928"/>
          </a:xfrm>
          <a:prstGeom prst="rect">
            <a:avLst/>
          </a:prstGeom>
          <a:noFill/>
        </p:spPr>
        <p:txBody>
          <a:bodyPr wrap="square" lIns="0" rIns="0" tIns="0" bIns="0" anchor="t">
            <a:spAutoFit/>
          </a:bodyPr>
          <a:lstStyle/>
          <a:p>
            <a:pPr algn="l">
              <a:lnSpc>
                <a:spcPct val="114000"/>
              </a:lnSpc>
              <a:spcAft>
                <a:spcPts val="0"/>
              </a:spcAft>
            </a:pPr>
            <a:r>
              <a:rPr sz="1100" b="0" i="0">
                <a:solidFill>
                  <a:srgbClr val="8C837E"/>
                </a:solidFill>
                <a:latin typeface="Calibri"/>
              </a:rPr>
              <a:t>Sanggup bayar kewajiban jangka pendek?</a:t>
            </a:r>
          </a:p>
        </p:txBody>
      </p:sp>
      <p:sp>
        <p:nvSpPr>
          <p:cNvPr id="29" name="Rectangle 28"/>
          <p:cNvSpPr/>
          <p:nvPr/>
        </p:nvSpPr>
        <p:spPr>
          <a:xfrm>
            <a:off x="3628567" y="321411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793159" y="314553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Current ratio</a:t>
            </a:r>
          </a:p>
        </p:txBody>
      </p:sp>
      <p:sp>
        <p:nvSpPr>
          <p:cNvPr id="31" name="Rectangle 30"/>
          <p:cNvSpPr/>
          <p:nvPr/>
        </p:nvSpPr>
        <p:spPr>
          <a:xfrm>
            <a:off x="3628567" y="348843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93159" y="341985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Working capital</a:t>
            </a:r>
          </a:p>
        </p:txBody>
      </p:sp>
      <p:sp>
        <p:nvSpPr>
          <p:cNvPr id="33" name="Rectangle 32"/>
          <p:cNvSpPr/>
          <p:nvPr/>
        </p:nvSpPr>
        <p:spPr>
          <a:xfrm>
            <a:off x="6233007" y="1883664"/>
            <a:ext cx="2512999" cy="320040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33007" y="1883664"/>
            <a:ext cx="2512999" cy="45720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15887" y="2002536"/>
            <a:ext cx="2147239" cy="274320"/>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Leverage</a:t>
            </a:r>
          </a:p>
        </p:txBody>
      </p:sp>
      <p:sp>
        <p:nvSpPr>
          <p:cNvPr id="36" name="TextBox 35"/>
          <p:cNvSpPr txBox="1"/>
          <p:nvPr/>
        </p:nvSpPr>
        <p:spPr>
          <a:xfrm>
            <a:off x="6415887" y="2468880"/>
            <a:ext cx="2147239" cy="566928"/>
          </a:xfrm>
          <a:prstGeom prst="rect">
            <a:avLst/>
          </a:prstGeom>
          <a:noFill/>
        </p:spPr>
        <p:txBody>
          <a:bodyPr wrap="square" lIns="0" rIns="0" tIns="0" bIns="0" anchor="t">
            <a:spAutoFit/>
          </a:bodyPr>
          <a:lstStyle/>
          <a:p>
            <a:pPr algn="l">
              <a:lnSpc>
                <a:spcPct val="114000"/>
              </a:lnSpc>
              <a:spcAft>
                <a:spcPts val="0"/>
              </a:spcAft>
            </a:pPr>
            <a:r>
              <a:rPr sz="1100" b="0" i="0">
                <a:solidFill>
                  <a:srgbClr val="8C837E"/>
                </a:solidFill>
                <a:latin typeface="Calibri"/>
              </a:rPr>
              <a:t>Seberapa berat beban utangnya</a:t>
            </a:r>
          </a:p>
        </p:txBody>
      </p:sp>
      <p:sp>
        <p:nvSpPr>
          <p:cNvPr id="37" name="Rectangle 36"/>
          <p:cNvSpPr/>
          <p:nvPr/>
        </p:nvSpPr>
        <p:spPr>
          <a:xfrm>
            <a:off x="6415887" y="321411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0479" y="314553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Total debt-to-assets</a:t>
            </a:r>
          </a:p>
        </p:txBody>
      </p:sp>
      <p:sp>
        <p:nvSpPr>
          <p:cNvPr id="39" name="Rectangle 38"/>
          <p:cNvSpPr/>
          <p:nvPr/>
        </p:nvSpPr>
        <p:spPr>
          <a:xfrm>
            <a:off x="6415887" y="348843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80479" y="341985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Long-term debt-to-capital</a:t>
            </a:r>
          </a:p>
        </p:txBody>
      </p:sp>
      <p:sp>
        <p:nvSpPr>
          <p:cNvPr id="41" name="Rectangle 40"/>
          <p:cNvSpPr/>
          <p:nvPr/>
        </p:nvSpPr>
        <p:spPr>
          <a:xfrm>
            <a:off x="6415887" y="376275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0479" y="369417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Debt-to-equity</a:t>
            </a:r>
          </a:p>
        </p:txBody>
      </p:sp>
      <p:sp>
        <p:nvSpPr>
          <p:cNvPr id="43" name="Rectangle 42"/>
          <p:cNvSpPr/>
          <p:nvPr/>
        </p:nvSpPr>
        <p:spPr>
          <a:xfrm>
            <a:off x="6415887" y="403707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80479" y="396849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Long-term debt-to-equity</a:t>
            </a:r>
          </a:p>
        </p:txBody>
      </p:sp>
      <p:sp>
        <p:nvSpPr>
          <p:cNvPr id="45" name="Rectangle 44"/>
          <p:cNvSpPr/>
          <p:nvPr/>
        </p:nvSpPr>
        <p:spPr>
          <a:xfrm>
            <a:off x="6415887" y="431139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580479" y="424281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Times-interest-earned</a:t>
            </a:r>
          </a:p>
        </p:txBody>
      </p:sp>
      <p:sp>
        <p:nvSpPr>
          <p:cNvPr id="47" name="Rectangle 46"/>
          <p:cNvSpPr/>
          <p:nvPr/>
        </p:nvSpPr>
        <p:spPr>
          <a:xfrm>
            <a:off x="9020327" y="1883664"/>
            <a:ext cx="2512999" cy="320040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9020327" y="1883664"/>
            <a:ext cx="2512999" cy="45720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03207" y="2002536"/>
            <a:ext cx="2147239" cy="274320"/>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Aktivitas</a:t>
            </a:r>
          </a:p>
        </p:txBody>
      </p:sp>
      <p:sp>
        <p:nvSpPr>
          <p:cNvPr id="50" name="TextBox 49"/>
          <p:cNvSpPr txBox="1"/>
          <p:nvPr/>
        </p:nvSpPr>
        <p:spPr>
          <a:xfrm>
            <a:off x="9203207" y="2468880"/>
            <a:ext cx="2147239" cy="566928"/>
          </a:xfrm>
          <a:prstGeom prst="rect">
            <a:avLst/>
          </a:prstGeom>
          <a:noFill/>
        </p:spPr>
        <p:txBody>
          <a:bodyPr wrap="square" lIns="0" rIns="0" tIns="0" bIns="0" anchor="t">
            <a:spAutoFit/>
          </a:bodyPr>
          <a:lstStyle/>
          <a:p>
            <a:pPr algn="l">
              <a:lnSpc>
                <a:spcPct val="114000"/>
              </a:lnSpc>
              <a:spcAft>
                <a:spcPts val="0"/>
              </a:spcAft>
            </a:pPr>
            <a:r>
              <a:rPr sz="1100" b="0" i="0">
                <a:solidFill>
                  <a:srgbClr val="8C837E"/>
                </a:solidFill>
                <a:latin typeface="Calibri"/>
              </a:rPr>
              <a:t>Seberapa efisien aset dikelola</a:t>
            </a:r>
          </a:p>
        </p:txBody>
      </p:sp>
      <p:sp>
        <p:nvSpPr>
          <p:cNvPr id="51" name="Rectangle 50"/>
          <p:cNvSpPr/>
          <p:nvPr/>
        </p:nvSpPr>
        <p:spPr>
          <a:xfrm>
            <a:off x="9203207" y="321411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367799" y="314553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Days of inventory</a:t>
            </a:r>
          </a:p>
        </p:txBody>
      </p:sp>
      <p:sp>
        <p:nvSpPr>
          <p:cNvPr id="53" name="Rectangle 52"/>
          <p:cNvSpPr/>
          <p:nvPr/>
        </p:nvSpPr>
        <p:spPr>
          <a:xfrm>
            <a:off x="9203207" y="348843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9367799" y="341985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Inventory turnover</a:t>
            </a:r>
          </a:p>
        </p:txBody>
      </p:sp>
      <p:sp>
        <p:nvSpPr>
          <p:cNvPr id="55" name="Rectangle 54"/>
          <p:cNvSpPr/>
          <p:nvPr/>
        </p:nvSpPr>
        <p:spPr>
          <a:xfrm>
            <a:off x="9203207" y="3762756"/>
            <a:ext cx="64008" cy="640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367799" y="3694176"/>
            <a:ext cx="1982647" cy="237744"/>
          </a:xfrm>
          <a:prstGeom prst="rect">
            <a:avLst/>
          </a:prstGeom>
          <a:noFill/>
        </p:spPr>
        <p:txBody>
          <a:bodyPr wrap="square" lIns="0" rIns="0" tIns="0" bIns="0" anchor="t">
            <a:spAutoFit/>
          </a:bodyPr>
          <a:lstStyle/>
          <a:p>
            <a:pPr algn="l">
              <a:lnSpc>
                <a:spcPct val="104000"/>
              </a:lnSpc>
              <a:spcAft>
                <a:spcPts val="0"/>
              </a:spcAft>
            </a:pPr>
            <a:r>
              <a:rPr sz="1100" b="0" i="0">
                <a:solidFill>
                  <a:srgbClr val="1A1614"/>
                </a:solidFill>
                <a:latin typeface="Calibri"/>
              </a:rPr>
              <a:t>Average collection period</a:t>
            </a:r>
          </a:p>
        </p:txBody>
      </p:sp>
      <p:sp>
        <p:nvSpPr>
          <p:cNvPr id="57" name="Rectangle 56"/>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Ukuran tambahan: </a:t>
            </a:r>
            <a:r>
              <a:rPr sz="1200" b="0">
                <a:solidFill>
                  <a:srgbClr val="1A1614"/>
                </a:solidFill>
                <a:latin typeface="Calibri"/>
              </a:rPr>
              <a:t>dividend yield, price-to-earnings ratio, dividend payout ratio, internal cash flow, dan </a:t>
            </a:r>
            <a:r>
              <a:rPr sz="1200" b="1">
                <a:solidFill>
                  <a:srgbClr val="1A1614"/>
                </a:solidFill>
                <a:latin typeface="Calibri"/>
              </a:rPr>
              <a:t>free cash flow</a:t>
            </a:r>
            <a:r>
              <a:rPr sz="1200" b="0">
                <a:solidFill>
                  <a:srgbClr val="1A1614"/>
                </a:solidFill>
                <a:latin typeface="Calibri"/>
              </a:rPr>
              <a:t> — yang terakhir paling penting, karena menunjukkan sisa kas untuk membiayai langkah strategis baru.</a:t>
            </a:r>
          </a:p>
        </p:txBody>
      </p:sp>
      <p:sp>
        <p:nvSpPr>
          <p:cNvPr id="60" name="Rectangle 5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62" name="TextBox 6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2</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SWOT: kenapa strateginya berhasil atau gagal</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Q1 memberi tahu apakah strategi bekerja, tapi tidak kenapa. SWOT adalah alat paling sederhana untuk mencari sebabnya.</a:t>
            </a:r>
          </a:p>
        </p:txBody>
      </p:sp>
      <p:sp>
        <p:nvSpPr>
          <p:cNvPr id="7" name="Rectangle 6"/>
          <p:cNvSpPr/>
          <p:nvPr/>
        </p:nvSpPr>
        <p:spPr>
          <a:xfrm>
            <a:off x="658368" y="1883664"/>
            <a:ext cx="2926116"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2926116"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2066544"/>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DA291C"/>
                </a:solidFill>
                <a:latin typeface="Georgia"/>
              </a:rPr>
              <a:t>S</a:t>
            </a:r>
          </a:p>
        </p:txBody>
      </p:sp>
      <p:sp>
        <p:nvSpPr>
          <p:cNvPr id="10" name="TextBox 9"/>
          <p:cNvSpPr txBox="1"/>
          <p:nvPr/>
        </p:nvSpPr>
        <p:spPr>
          <a:xfrm>
            <a:off x="1261872" y="2103120"/>
            <a:ext cx="2103156"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Strengths</a:t>
            </a:r>
          </a:p>
        </p:txBody>
      </p:sp>
      <p:sp>
        <p:nvSpPr>
          <p:cNvPr id="11" name="TextBox 10"/>
          <p:cNvSpPr txBox="1"/>
          <p:nvPr/>
        </p:nvSpPr>
        <p:spPr>
          <a:xfrm>
            <a:off x="877824" y="2487168"/>
            <a:ext cx="2487204" cy="53035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Yang perusahaan kuasai atau miliki, yang membuatnya lebih mampu bersaing</a:t>
            </a:r>
          </a:p>
        </p:txBody>
      </p:sp>
      <p:sp>
        <p:nvSpPr>
          <p:cNvPr id="12" name="Rectangle 11"/>
          <p:cNvSpPr/>
          <p:nvPr/>
        </p:nvSpPr>
        <p:spPr>
          <a:xfrm>
            <a:off x="3822228" y="1883664"/>
            <a:ext cx="2926116"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822228" y="1883664"/>
            <a:ext cx="2926116"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041684" y="2066544"/>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DA291C"/>
                </a:solidFill>
                <a:latin typeface="Georgia"/>
              </a:rPr>
              <a:t>W</a:t>
            </a:r>
          </a:p>
        </p:txBody>
      </p:sp>
      <p:sp>
        <p:nvSpPr>
          <p:cNvPr id="15" name="TextBox 14"/>
          <p:cNvSpPr txBox="1"/>
          <p:nvPr/>
        </p:nvSpPr>
        <p:spPr>
          <a:xfrm>
            <a:off x="4425732" y="2103120"/>
            <a:ext cx="2103156"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Weaknesses</a:t>
            </a:r>
          </a:p>
        </p:txBody>
      </p:sp>
      <p:sp>
        <p:nvSpPr>
          <p:cNvPr id="16" name="TextBox 15"/>
          <p:cNvSpPr txBox="1"/>
          <p:nvPr/>
        </p:nvSpPr>
        <p:spPr>
          <a:xfrm>
            <a:off x="4041684" y="2487168"/>
            <a:ext cx="2487204" cy="53035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Yang tidak dimiliki atau dikerjakan kurang baik dibanding pesaing</a:t>
            </a:r>
          </a:p>
        </p:txBody>
      </p:sp>
      <p:sp>
        <p:nvSpPr>
          <p:cNvPr id="17" name="Rectangle 16"/>
          <p:cNvSpPr/>
          <p:nvPr/>
        </p:nvSpPr>
        <p:spPr>
          <a:xfrm>
            <a:off x="658368" y="3328416"/>
            <a:ext cx="2926116"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3328416"/>
            <a:ext cx="2926116"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11296"/>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1A1614"/>
                </a:solidFill>
                <a:latin typeface="Georgia"/>
              </a:rPr>
              <a:t>O</a:t>
            </a:r>
          </a:p>
        </p:txBody>
      </p:sp>
      <p:sp>
        <p:nvSpPr>
          <p:cNvPr id="20" name="TextBox 19"/>
          <p:cNvSpPr txBox="1"/>
          <p:nvPr/>
        </p:nvSpPr>
        <p:spPr>
          <a:xfrm>
            <a:off x="1261872" y="3547872"/>
            <a:ext cx="2103156"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Opportunities</a:t>
            </a:r>
          </a:p>
        </p:txBody>
      </p:sp>
      <p:sp>
        <p:nvSpPr>
          <p:cNvPr id="21" name="TextBox 20"/>
          <p:cNvSpPr txBox="1"/>
          <p:nvPr/>
        </p:nvSpPr>
        <p:spPr>
          <a:xfrm>
            <a:off x="877824" y="3931920"/>
            <a:ext cx="2487204" cy="53035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Peluang pasar: apa yang bisa diambil dari luar</a:t>
            </a:r>
          </a:p>
        </p:txBody>
      </p:sp>
      <p:sp>
        <p:nvSpPr>
          <p:cNvPr id="22" name="Rectangle 21"/>
          <p:cNvSpPr/>
          <p:nvPr/>
        </p:nvSpPr>
        <p:spPr>
          <a:xfrm>
            <a:off x="3822228" y="3328416"/>
            <a:ext cx="2926116"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822228" y="3328416"/>
            <a:ext cx="2926116"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041684" y="3511296"/>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1A1614"/>
                </a:solidFill>
                <a:latin typeface="Georgia"/>
              </a:rPr>
              <a:t>T</a:t>
            </a:r>
          </a:p>
        </p:txBody>
      </p:sp>
      <p:sp>
        <p:nvSpPr>
          <p:cNvPr id="25" name="TextBox 24"/>
          <p:cNvSpPr txBox="1"/>
          <p:nvPr/>
        </p:nvSpPr>
        <p:spPr>
          <a:xfrm>
            <a:off x="4425732" y="3547872"/>
            <a:ext cx="2103156"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Threats</a:t>
            </a:r>
          </a:p>
        </p:txBody>
      </p:sp>
      <p:sp>
        <p:nvSpPr>
          <p:cNvPr id="26" name="TextBox 25"/>
          <p:cNvSpPr txBox="1"/>
          <p:nvPr/>
        </p:nvSpPr>
        <p:spPr>
          <a:xfrm>
            <a:off x="4041684" y="3931920"/>
            <a:ext cx="2487204" cy="53035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Ancaman dari luar yang bisa menggerus laba dan posisi</a:t>
            </a:r>
          </a:p>
        </p:txBody>
      </p:sp>
      <p:sp>
        <p:nvSpPr>
          <p:cNvPr id="27" name="TextBox 26"/>
          <p:cNvSpPr txBox="1"/>
          <p:nvPr/>
        </p:nvSpPr>
        <p:spPr>
          <a:xfrm>
            <a:off x="7114105" y="1847088"/>
            <a:ext cx="4419222"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Cara membacanya</a:t>
            </a:r>
          </a:p>
        </p:txBody>
      </p:sp>
      <p:sp>
        <p:nvSpPr>
          <p:cNvPr id="28" name="Rectangle 27"/>
          <p:cNvSpPr/>
          <p:nvPr/>
        </p:nvSpPr>
        <p:spPr>
          <a:xfrm>
            <a:off x="7114105" y="2194560"/>
            <a:ext cx="4419222" cy="96926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114105" y="2194560"/>
            <a:ext cx="45720" cy="96926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333561" y="2304288"/>
            <a:ext cx="3980310" cy="237744"/>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Nama lain SWOT</a:t>
            </a:r>
          </a:p>
        </p:txBody>
      </p:sp>
      <p:sp>
        <p:nvSpPr>
          <p:cNvPr id="31" name="TextBox 30"/>
          <p:cNvSpPr txBox="1"/>
          <p:nvPr/>
        </p:nvSpPr>
        <p:spPr>
          <a:xfrm>
            <a:off x="7333561" y="2560320"/>
            <a:ext cx="3980310" cy="548640"/>
          </a:xfrm>
          <a:prstGeom prst="rect">
            <a:avLst/>
          </a:prstGeom>
          <a:noFill/>
        </p:spPr>
        <p:txBody>
          <a:bodyPr wrap="square" lIns="0" rIns="0" tIns="0" bIns="0" anchor="t">
            <a:spAutoFit/>
          </a:bodyPr>
          <a:lstStyle/>
          <a:p>
            <a:pPr algn="l">
              <a:lnSpc>
                <a:spcPct val="110000"/>
              </a:lnSpc>
              <a:spcAft>
                <a:spcPts val="0"/>
              </a:spcAft>
            </a:pPr>
            <a:r>
              <a:rPr sz="1100" b="0" i="0">
                <a:solidFill>
                  <a:srgbClr val="4A433F"/>
                </a:solidFill>
                <a:latin typeface="Calibri"/>
              </a:rPr>
              <a:t>Situational Analysis — analisis situasi.</a:t>
            </a:r>
          </a:p>
        </p:txBody>
      </p:sp>
      <p:sp>
        <p:nvSpPr>
          <p:cNvPr id="32" name="Rectangle 31"/>
          <p:cNvSpPr/>
          <p:nvPr/>
        </p:nvSpPr>
        <p:spPr>
          <a:xfrm>
            <a:off x="7114105" y="3255263"/>
            <a:ext cx="4419222" cy="96926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7114105" y="3255263"/>
            <a:ext cx="45720" cy="96926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33561" y="3364991"/>
            <a:ext cx="3980310" cy="237744"/>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Neraca strategis</a:t>
            </a:r>
          </a:p>
        </p:txBody>
      </p:sp>
      <p:sp>
        <p:nvSpPr>
          <p:cNvPr id="35" name="TextBox 34"/>
          <p:cNvSpPr txBox="1"/>
          <p:nvPr/>
        </p:nvSpPr>
        <p:spPr>
          <a:xfrm>
            <a:off x="7333561" y="3621023"/>
            <a:ext cx="3980310" cy="548640"/>
          </a:xfrm>
          <a:prstGeom prst="rect">
            <a:avLst/>
          </a:prstGeom>
          <a:noFill/>
        </p:spPr>
        <p:txBody>
          <a:bodyPr wrap="square" lIns="0" rIns="0" tIns="0" bIns="0" anchor="t">
            <a:spAutoFit/>
          </a:bodyPr>
          <a:lstStyle/>
          <a:p>
            <a:pPr algn="l">
              <a:lnSpc>
                <a:spcPct val="110000"/>
              </a:lnSpc>
              <a:spcAft>
                <a:spcPts val="0"/>
              </a:spcAft>
            </a:pPr>
            <a:r>
              <a:rPr sz="1100" b="0" i="0">
                <a:solidFill>
                  <a:srgbClr val="4A433F"/>
                </a:solidFill>
                <a:latin typeface="Calibri"/>
              </a:rPr>
              <a:t>Kekuatan = aset bersaing. Kelemahan = kewajiban bersaing. Idealnya asetnya jauh lebih berat.</a:t>
            </a:r>
          </a:p>
        </p:txBody>
      </p:sp>
      <p:sp>
        <p:nvSpPr>
          <p:cNvPr id="36" name="Rectangle 35"/>
          <p:cNvSpPr/>
          <p:nvPr/>
        </p:nvSpPr>
        <p:spPr>
          <a:xfrm>
            <a:off x="7114105" y="4315968"/>
            <a:ext cx="4419222" cy="96926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7114105" y="4315968"/>
            <a:ext cx="45720" cy="96926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333561" y="4425696"/>
            <a:ext cx="3980310" cy="237744"/>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Empat pertanyaan pemandu</a:t>
            </a:r>
          </a:p>
        </p:txBody>
      </p:sp>
      <p:sp>
        <p:nvSpPr>
          <p:cNvPr id="39" name="TextBox 38"/>
          <p:cNvSpPr txBox="1"/>
          <p:nvPr/>
        </p:nvSpPr>
        <p:spPr>
          <a:xfrm>
            <a:off x="7333561" y="4681728"/>
            <a:ext cx="3980310" cy="548640"/>
          </a:xfrm>
          <a:prstGeom prst="rect">
            <a:avLst/>
          </a:prstGeom>
          <a:noFill/>
        </p:spPr>
        <p:txBody>
          <a:bodyPr wrap="square" lIns="0" rIns="0" tIns="0" bIns="0" anchor="t">
            <a:spAutoFit/>
          </a:bodyPr>
          <a:lstStyle/>
          <a:p>
            <a:pPr algn="l">
              <a:lnSpc>
                <a:spcPct val="110000"/>
              </a:lnSpc>
              <a:spcAft>
                <a:spcPts val="0"/>
              </a:spcAft>
            </a:pPr>
            <a:r>
              <a:rPr sz="1100" b="0" i="0">
                <a:solidFill>
                  <a:srgbClr val="4A433F"/>
                </a:solidFill>
                <a:latin typeface="Calibri"/>
              </a:rPr>
              <a:t>Apakah kekuatan cukup menutup kelemahan? Apakah strategi sudah bertumpu pada kekuatan itu? Apakah kekuatan kita melampaui pesaing? Apakah strategi berhasil menangkal ancaman?</a:t>
            </a:r>
          </a:p>
        </p:txBody>
      </p:sp>
      <p:sp>
        <p:nvSpPr>
          <p:cNvPr id="40" name="Rectangle 39"/>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Kenapa SWOT populer: </a:t>
            </a:r>
            <a:r>
              <a:rPr sz="1200" b="0">
                <a:solidFill>
                  <a:srgbClr val="1A1614"/>
                </a:solidFill>
                <a:latin typeface="Calibri"/>
              </a:rPr>
              <a:t>mudah dipakai, dan bisa dipakai dua arah — untuk menilai strategi yang sedang berjalan, dan untuk menyusun strategi baru dari nol. Dipakai perusahaan besar sampai sekolah dan lembaga nirlaba.</a:t>
            </a:r>
          </a:p>
        </p:txBody>
      </p:sp>
      <p:sp>
        <p:nvSpPr>
          <p:cNvPr id="43" name="Rectangle 42"/>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5" name="TextBox 44"/>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2 · Konsep Inti</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Tangga kemampuan: dari bisa, jadi unggul</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Buku memakai tiga tingkatan yang berbeda. Jangan disamakan — hanya tingkat ketiga yang benar-benar berharga.</a:t>
            </a:r>
          </a:p>
        </p:txBody>
      </p:sp>
      <p:sp>
        <p:nvSpPr>
          <p:cNvPr id="7" name="Rectangle 6"/>
          <p:cNvSpPr/>
          <p:nvPr/>
        </p:nvSpPr>
        <p:spPr>
          <a:xfrm>
            <a:off x="658368" y="1883664"/>
            <a:ext cx="3454298" cy="22494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54298" cy="45720"/>
          </a:xfrm>
          <a:prstGeom prst="rect">
            <a:avLst/>
          </a:prstGeom>
          <a:solidFill>
            <a:srgbClr val="8C83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2066544"/>
            <a:ext cx="457200" cy="365760"/>
          </a:xfrm>
          <a:prstGeom prst="rect">
            <a:avLst/>
          </a:prstGeom>
          <a:noFill/>
        </p:spPr>
        <p:txBody>
          <a:bodyPr wrap="square" lIns="0" rIns="0" tIns="0" bIns="0" anchor="t">
            <a:spAutoFit/>
          </a:bodyPr>
          <a:lstStyle/>
          <a:p>
            <a:pPr algn="l">
              <a:lnSpc>
                <a:spcPct val="100000"/>
              </a:lnSpc>
              <a:spcAft>
                <a:spcPts val="0"/>
              </a:spcAft>
            </a:pPr>
            <a:r>
              <a:rPr sz="2200" b="1" i="0">
                <a:solidFill>
                  <a:srgbClr val="8C837E"/>
                </a:solidFill>
                <a:latin typeface="Georgia"/>
              </a:rPr>
              <a:t>1</a:t>
            </a:r>
          </a:p>
        </p:txBody>
      </p:sp>
      <p:sp>
        <p:nvSpPr>
          <p:cNvPr id="10" name="TextBox 9"/>
          <p:cNvSpPr txBox="1"/>
          <p:nvPr/>
        </p:nvSpPr>
        <p:spPr>
          <a:xfrm>
            <a:off x="896112" y="2487168"/>
            <a:ext cx="2978810" cy="292608"/>
          </a:xfrm>
          <a:prstGeom prst="rect">
            <a:avLst/>
          </a:prstGeom>
          <a:noFill/>
        </p:spPr>
        <p:txBody>
          <a:bodyPr wrap="square" lIns="0" rIns="0" tIns="0" bIns="0" anchor="t">
            <a:spAutoFit/>
          </a:bodyPr>
          <a:lstStyle/>
          <a:p>
            <a:pPr algn="l">
              <a:lnSpc>
                <a:spcPct val="100000"/>
              </a:lnSpc>
              <a:spcAft>
                <a:spcPts val="0"/>
              </a:spcAft>
            </a:pPr>
            <a:r>
              <a:rPr sz="1500" b="1" i="0">
                <a:solidFill>
                  <a:srgbClr val="1A1614"/>
                </a:solidFill>
                <a:latin typeface="Calibri"/>
              </a:rPr>
              <a:t>Competence</a:t>
            </a:r>
          </a:p>
        </p:txBody>
      </p:sp>
      <p:sp>
        <p:nvSpPr>
          <p:cNvPr id="11" name="TextBox 10"/>
          <p:cNvSpPr txBox="1"/>
          <p:nvPr/>
        </p:nvSpPr>
        <p:spPr>
          <a:xfrm>
            <a:off x="896112" y="2834640"/>
            <a:ext cx="2978810" cy="694944"/>
          </a:xfrm>
          <a:prstGeom prst="rect">
            <a:avLst/>
          </a:prstGeom>
          <a:noFill/>
        </p:spPr>
        <p:txBody>
          <a:bodyPr wrap="square" lIns="0" rIns="0" tIns="0" bIns="0" anchor="t">
            <a:spAutoFit/>
          </a:bodyPr>
          <a:lstStyle/>
          <a:p>
            <a:pPr algn="l">
              <a:lnSpc>
                <a:spcPct val="116000"/>
              </a:lnSpc>
              <a:spcAft>
                <a:spcPts val="0"/>
              </a:spcAft>
            </a:pPr>
            <a:r>
              <a:rPr sz="1150" b="0" i="0">
                <a:solidFill>
                  <a:srgbClr val="4A433F"/>
                </a:solidFill>
                <a:latin typeface="Calibri"/>
              </a:rPr>
              <a:t>Aktivitas yang sudah dikuasai perusahaan, dikerjakan konsisten baik dan dengan biaya wajar.</a:t>
            </a:r>
          </a:p>
        </p:txBody>
      </p:sp>
      <p:sp>
        <p:nvSpPr>
          <p:cNvPr id="12" name="Rectangle 11"/>
          <p:cNvSpPr/>
          <p:nvPr/>
        </p:nvSpPr>
        <p:spPr>
          <a:xfrm>
            <a:off x="896112" y="3584448"/>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3694176"/>
            <a:ext cx="2978810" cy="384048"/>
          </a:xfrm>
          <a:prstGeom prst="rect">
            <a:avLst/>
          </a:prstGeom>
          <a:noFill/>
        </p:spPr>
        <p:txBody>
          <a:bodyPr wrap="square" lIns="0" rIns="0" tIns="0" bIns="0" anchor="t">
            <a:spAutoFit/>
          </a:bodyPr>
          <a:lstStyle/>
          <a:p>
            <a:pPr algn="l">
              <a:lnSpc>
                <a:spcPct val="106000"/>
              </a:lnSpc>
              <a:spcAft>
                <a:spcPts val="0"/>
              </a:spcAft>
            </a:pPr>
            <a:r>
              <a:rPr sz="1050" b="1" i="0">
                <a:solidFill>
                  <a:srgbClr val="8C837E"/>
                </a:solidFill>
                <a:latin typeface="Calibri"/>
              </a:rPr>
              <a:t>Kemampuan biasa. Banyak perusahaan punya.</a:t>
            </a:r>
          </a:p>
        </p:txBody>
      </p:sp>
      <p:sp>
        <p:nvSpPr>
          <p:cNvPr id="14" name="Rectangle 13"/>
          <p:cNvSpPr/>
          <p:nvPr/>
        </p:nvSpPr>
        <p:spPr>
          <a:xfrm>
            <a:off x="4368698" y="1883664"/>
            <a:ext cx="3454298" cy="22494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6869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06442" y="2066544"/>
            <a:ext cx="457200" cy="365760"/>
          </a:xfrm>
          <a:prstGeom prst="rect">
            <a:avLst/>
          </a:prstGeom>
          <a:noFill/>
        </p:spPr>
        <p:txBody>
          <a:bodyPr wrap="square" lIns="0" rIns="0" tIns="0" bIns="0" anchor="t">
            <a:spAutoFit/>
          </a:bodyPr>
          <a:lstStyle/>
          <a:p>
            <a:pPr algn="l">
              <a:lnSpc>
                <a:spcPct val="100000"/>
              </a:lnSpc>
              <a:spcAft>
                <a:spcPts val="0"/>
              </a:spcAft>
            </a:pPr>
            <a:r>
              <a:rPr sz="2200" b="1" i="0">
                <a:solidFill>
                  <a:srgbClr val="DA291C"/>
                </a:solidFill>
                <a:latin typeface="Georgia"/>
              </a:rPr>
              <a:t>2</a:t>
            </a:r>
          </a:p>
        </p:txBody>
      </p:sp>
      <p:sp>
        <p:nvSpPr>
          <p:cNvPr id="17" name="TextBox 16"/>
          <p:cNvSpPr txBox="1"/>
          <p:nvPr/>
        </p:nvSpPr>
        <p:spPr>
          <a:xfrm>
            <a:off x="4606442" y="2487168"/>
            <a:ext cx="2978810" cy="292608"/>
          </a:xfrm>
          <a:prstGeom prst="rect">
            <a:avLst/>
          </a:prstGeom>
          <a:noFill/>
        </p:spPr>
        <p:txBody>
          <a:bodyPr wrap="square" lIns="0" rIns="0" tIns="0" bIns="0" anchor="t">
            <a:spAutoFit/>
          </a:bodyPr>
          <a:lstStyle/>
          <a:p>
            <a:pPr algn="l">
              <a:lnSpc>
                <a:spcPct val="100000"/>
              </a:lnSpc>
              <a:spcAft>
                <a:spcPts val="0"/>
              </a:spcAft>
            </a:pPr>
            <a:r>
              <a:rPr sz="1500" b="1" i="0">
                <a:solidFill>
                  <a:srgbClr val="1A1614"/>
                </a:solidFill>
                <a:latin typeface="Calibri"/>
              </a:rPr>
              <a:t>Distinctive competence</a:t>
            </a:r>
          </a:p>
        </p:txBody>
      </p:sp>
      <p:sp>
        <p:nvSpPr>
          <p:cNvPr id="18" name="TextBox 17"/>
          <p:cNvSpPr txBox="1"/>
          <p:nvPr/>
        </p:nvSpPr>
        <p:spPr>
          <a:xfrm>
            <a:off x="4606442" y="2834640"/>
            <a:ext cx="2978810" cy="694944"/>
          </a:xfrm>
          <a:prstGeom prst="rect">
            <a:avLst/>
          </a:prstGeom>
          <a:noFill/>
        </p:spPr>
        <p:txBody>
          <a:bodyPr wrap="square" lIns="0" rIns="0" tIns="0" bIns="0" anchor="t">
            <a:spAutoFit/>
          </a:bodyPr>
          <a:lstStyle/>
          <a:p>
            <a:pPr algn="l">
              <a:lnSpc>
                <a:spcPct val="116000"/>
              </a:lnSpc>
              <a:spcAft>
                <a:spcPts val="0"/>
              </a:spcAft>
            </a:pPr>
            <a:r>
              <a:rPr sz="1150" b="0" i="0">
                <a:solidFill>
                  <a:srgbClr val="4A433F"/>
                </a:solidFill>
                <a:latin typeface="Calibri"/>
              </a:rPr>
              <a:t>Kemampuan yang membuat perusahaan mengerjakan aktivitas itu LEBIH BAIK dari pesaingnya.</a:t>
            </a:r>
          </a:p>
        </p:txBody>
      </p:sp>
      <p:sp>
        <p:nvSpPr>
          <p:cNvPr id="19" name="Rectangle 18"/>
          <p:cNvSpPr/>
          <p:nvPr/>
        </p:nvSpPr>
        <p:spPr>
          <a:xfrm>
            <a:off x="4606442" y="3584448"/>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06442" y="3694176"/>
            <a:ext cx="2978810" cy="384048"/>
          </a:xfrm>
          <a:prstGeom prst="rect">
            <a:avLst/>
          </a:prstGeom>
          <a:noFill/>
        </p:spPr>
        <p:txBody>
          <a:bodyPr wrap="square" lIns="0" rIns="0" tIns="0" bIns="0" anchor="t">
            <a:spAutoFit/>
          </a:bodyPr>
          <a:lstStyle/>
          <a:p>
            <a:pPr algn="l">
              <a:lnSpc>
                <a:spcPct val="106000"/>
              </a:lnSpc>
              <a:spcAft>
                <a:spcPts val="0"/>
              </a:spcAft>
            </a:pPr>
            <a:r>
              <a:rPr sz="1050" b="1" i="0">
                <a:solidFill>
                  <a:srgbClr val="DA291C"/>
                </a:solidFill>
                <a:latin typeface="Calibri"/>
              </a:rPr>
              <a:t>Sudah membedakan, tapi belum tentu inti strategi.</a:t>
            </a:r>
          </a:p>
        </p:txBody>
      </p:sp>
      <p:sp>
        <p:nvSpPr>
          <p:cNvPr id="21" name="Rectangle 20"/>
          <p:cNvSpPr/>
          <p:nvPr/>
        </p:nvSpPr>
        <p:spPr>
          <a:xfrm>
            <a:off x="8079028" y="1883664"/>
            <a:ext cx="3454298" cy="22494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79028" y="1883664"/>
            <a:ext cx="3454298" cy="45720"/>
          </a:xfrm>
          <a:prstGeom prst="rect">
            <a:avLst/>
          </a:prstGeom>
          <a:solidFill>
            <a:srgbClr val="8F1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16772" y="2066544"/>
            <a:ext cx="457200" cy="365760"/>
          </a:xfrm>
          <a:prstGeom prst="rect">
            <a:avLst/>
          </a:prstGeom>
          <a:noFill/>
        </p:spPr>
        <p:txBody>
          <a:bodyPr wrap="square" lIns="0" rIns="0" tIns="0" bIns="0" anchor="t">
            <a:spAutoFit/>
          </a:bodyPr>
          <a:lstStyle/>
          <a:p>
            <a:pPr algn="l">
              <a:lnSpc>
                <a:spcPct val="100000"/>
              </a:lnSpc>
              <a:spcAft>
                <a:spcPts val="0"/>
              </a:spcAft>
            </a:pPr>
            <a:r>
              <a:rPr sz="2200" b="1" i="0">
                <a:solidFill>
                  <a:srgbClr val="8F1A11"/>
                </a:solidFill>
                <a:latin typeface="Georgia"/>
              </a:rPr>
              <a:t>3</a:t>
            </a:r>
          </a:p>
        </p:txBody>
      </p:sp>
      <p:sp>
        <p:nvSpPr>
          <p:cNvPr id="24" name="TextBox 23"/>
          <p:cNvSpPr txBox="1"/>
          <p:nvPr/>
        </p:nvSpPr>
        <p:spPr>
          <a:xfrm>
            <a:off x="8316772" y="2487168"/>
            <a:ext cx="2978810" cy="292608"/>
          </a:xfrm>
          <a:prstGeom prst="rect">
            <a:avLst/>
          </a:prstGeom>
          <a:noFill/>
        </p:spPr>
        <p:txBody>
          <a:bodyPr wrap="square" lIns="0" rIns="0" tIns="0" bIns="0" anchor="t">
            <a:spAutoFit/>
          </a:bodyPr>
          <a:lstStyle/>
          <a:p>
            <a:pPr algn="l">
              <a:lnSpc>
                <a:spcPct val="100000"/>
              </a:lnSpc>
              <a:spcAft>
                <a:spcPts val="0"/>
              </a:spcAft>
            </a:pPr>
            <a:r>
              <a:rPr sz="1500" b="1" i="0">
                <a:solidFill>
                  <a:srgbClr val="1A1614"/>
                </a:solidFill>
                <a:latin typeface="Calibri"/>
              </a:rPr>
              <a:t>Core competence</a:t>
            </a:r>
          </a:p>
        </p:txBody>
      </p:sp>
      <p:sp>
        <p:nvSpPr>
          <p:cNvPr id="25" name="TextBox 24"/>
          <p:cNvSpPr txBox="1"/>
          <p:nvPr/>
        </p:nvSpPr>
        <p:spPr>
          <a:xfrm>
            <a:off x="8316772" y="2834640"/>
            <a:ext cx="2978810" cy="694944"/>
          </a:xfrm>
          <a:prstGeom prst="rect">
            <a:avLst/>
          </a:prstGeom>
          <a:noFill/>
        </p:spPr>
        <p:txBody>
          <a:bodyPr wrap="square" lIns="0" rIns="0" tIns="0" bIns="0" anchor="t">
            <a:spAutoFit/>
          </a:bodyPr>
          <a:lstStyle/>
          <a:p>
            <a:pPr algn="l">
              <a:lnSpc>
                <a:spcPct val="116000"/>
              </a:lnSpc>
              <a:spcAft>
                <a:spcPts val="0"/>
              </a:spcAft>
            </a:pPr>
            <a:r>
              <a:rPr sz="1150" b="0" i="0">
                <a:solidFill>
                  <a:srgbClr val="4A433F"/>
                </a:solidFill>
                <a:latin typeface="Calibri"/>
              </a:rPr>
              <a:t>Aktivitas yang dikuasai dengan baik DAN berada di jantung strategi perusahaan.</a:t>
            </a:r>
          </a:p>
        </p:txBody>
      </p:sp>
      <p:sp>
        <p:nvSpPr>
          <p:cNvPr id="26" name="Rectangle 25"/>
          <p:cNvSpPr/>
          <p:nvPr/>
        </p:nvSpPr>
        <p:spPr>
          <a:xfrm>
            <a:off x="8316772" y="3584448"/>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16772" y="3694176"/>
            <a:ext cx="2978810" cy="384048"/>
          </a:xfrm>
          <a:prstGeom prst="rect">
            <a:avLst/>
          </a:prstGeom>
          <a:noFill/>
        </p:spPr>
        <p:txBody>
          <a:bodyPr wrap="square" lIns="0" rIns="0" tIns="0" bIns="0" anchor="t">
            <a:spAutoFit/>
          </a:bodyPr>
          <a:lstStyle/>
          <a:p>
            <a:pPr algn="l">
              <a:lnSpc>
                <a:spcPct val="106000"/>
              </a:lnSpc>
              <a:spcAft>
                <a:spcPts val="0"/>
              </a:spcAft>
            </a:pPr>
            <a:r>
              <a:rPr sz="1050" b="1" i="0">
                <a:solidFill>
                  <a:srgbClr val="8F1A11"/>
                </a:solidFill>
                <a:latin typeface="Calibri"/>
              </a:rPr>
              <a:t>Paling berharga. Sering jadi mesin pertumbuhan.</a:t>
            </a:r>
          </a:p>
        </p:txBody>
      </p:sp>
      <p:sp>
        <p:nvSpPr>
          <p:cNvPr id="28" name="TextBox 27"/>
          <p:cNvSpPr txBox="1"/>
          <p:nvPr/>
        </p:nvSpPr>
        <p:spPr>
          <a:xfrm>
            <a:off x="658368" y="4370832"/>
            <a:ext cx="1087495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Contoh dari buku</a:t>
            </a:r>
          </a:p>
        </p:txBody>
      </p:sp>
      <p:sp>
        <p:nvSpPr>
          <p:cNvPr id="29" name="Rectangle 28"/>
          <p:cNvSpPr/>
          <p:nvPr/>
        </p:nvSpPr>
        <p:spPr>
          <a:xfrm>
            <a:off x="658368" y="4663440"/>
            <a:ext cx="3466490"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59536" y="4754880"/>
            <a:ext cx="3064154"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Procter &amp; Gamble</a:t>
            </a:r>
          </a:p>
        </p:txBody>
      </p:sp>
      <p:sp>
        <p:nvSpPr>
          <p:cNvPr id="31" name="TextBox 30"/>
          <p:cNvSpPr txBox="1"/>
          <p:nvPr/>
        </p:nvSpPr>
        <p:spPr>
          <a:xfrm>
            <a:off x="859536" y="4974336"/>
            <a:ext cx="3064154"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Core competence di manajemen merek — melahirkan Tide, Crest, Pampers, Olay, Febreze.</a:t>
            </a:r>
          </a:p>
        </p:txBody>
      </p:sp>
      <p:sp>
        <p:nvSpPr>
          <p:cNvPr id="32" name="Rectangle 31"/>
          <p:cNvSpPr/>
          <p:nvPr/>
        </p:nvSpPr>
        <p:spPr>
          <a:xfrm>
            <a:off x="4362602" y="4663440"/>
            <a:ext cx="3466490"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563770" y="4754880"/>
            <a:ext cx="3064154"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Nike</a:t>
            </a:r>
          </a:p>
        </p:txBody>
      </p:sp>
      <p:sp>
        <p:nvSpPr>
          <p:cNvPr id="34" name="TextBox 33"/>
          <p:cNvSpPr txBox="1"/>
          <p:nvPr/>
        </p:nvSpPr>
        <p:spPr>
          <a:xfrm>
            <a:off x="4563770" y="4974336"/>
            <a:ext cx="3064154"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Core competence di desain dan pemasaran sepatu serta apparel olahraga.</a:t>
            </a:r>
          </a:p>
        </p:txBody>
      </p:sp>
      <p:sp>
        <p:nvSpPr>
          <p:cNvPr id="35" name="Rectangle 34"/>
          <p:cNvSpPr/>
          <p:nvPr/>
        </p:nvSpPr>
        <p:spPr>
          <a:xfrm>
            <a:off x="8066836" y="4663440"/>
            <a:ext cx="3466490"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68004" y="4754880"/>
            <a:ext cx="3064154"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Kellogg</a:t>
            </a:r>
          </a:p>
        </p:txBody>
      </p:sp>
      <p:sp>
        <p:nvSpPr>
          <p:cNvPr id="37" name="TextBox 36"/>
          <p:cNvSpPr txBox="1"/>
          <p:nvPr/>
        </p:nvSpPr>
        <p:spPr>
          <a:xfrm>
            <a:off x="8268004" y="4974336"/>
            <a:ext cx="3064154"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Core competence di pengembangan, produksi, dan pemasaran sereal sarapan.</a:t>
            </a:r>
          </a:p>
        </p:txBody>
      </p:sp>
      <p:sp>
        <p:nvSpPr>
          <p:cNvPr id="38" name="Rectangle 37"/>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0" name="TextBox 39"/>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2 · Figure 4.2</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SWOT bukan bikin empat daftar</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Nilai SWOT ada pada kesimpulan yang ditarik dari daftarnya, bukan pada daftarnya. Buku menggambarkannya sebagai tiga langkah.</a:t>
            </a:r>
          </a:p>
        </p:txBody>
      </p:sp>
      <p:sp>
        <p:nvSpPr>
          <p:cNvPr id="7" name="Rectangle 6"/>
          <p:cNvSpPr/>
          <p:nvPr/>
        </p:nvSpPr>
        <p:spPr>
          <a:xfrm>
            <a:off x="658368" y="1883664"/>
            <a:ext cx="3466490" cy="16642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66490"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2048256"/>
            <a:ext cx="365760" cy="365760"/>
          </a:xfrm>
          <a:prstGeom prst="rect">
            <a:avLst/>
          </a:prstGeom>
          <a:noFill/>
        </p:spPr>
        <p:txBody>
          <a:bodyPr wrap="square" lIns="0" rIns="0" tIns="0" bIns="0" anchor="t">
            <a:spAutoFit/>
          </a:bodyPr>
          <a:lstStyle/>
          <a:p>
            <a:pPr algn="l">
              <a:lnSpc>
                <a:spcPct val="100000"/>
              </a:lnSpc>
              <a:spcAft>
                <a:spcPts val="0"/>
              </a:spcAft>
            </a:pPr>
            <a:r>
              <a:rPr sz="2200" b="1" i="0">
                <a:solidFill>
                  <a:srgbClr val="DA291C"/>
                </a:solidFill>
                <a:latin typeface="Georgia"/>
              </a:rPr>
              <a:t>1</a:t>
            </a:r>
          </a:p>
        </p:txBody>
      </p:sp>
      <p:sp>
        <p:nvSpPr>
          <p:cNvPr id="10" name="TextBox 9"/>
          <p:cNvSpPr txBox="1"/>
          <p:nvPr/>
        </p:nvSpPr>
        <p:spPr>
          <a:xfrm>
            <a:off x="896112" y="2450592"/>
            <a:ext cx="2991002" cy="274320"/>
          </a:xfrm>
          <a:prstGeom prst="rect">
            <a:avLst/>
          </a:prstGeom>
          <a:noFill/>
        </p:spPr>
        <p:txBody>
          <a:bodyPr wrap="square" lIns="0" rIns="0" tIns="0" bIns="0" anchor="t">
            <a:spAutoFit/>
          </a:bodyPr>
          <a:lstStyle/>
          <a:p>
            <a:pPr algn="l">
              <a:lnSpc>
                <a:spcPct val="100000"/>
              </a:lnSpc>
              <a:spcAft>
                <a:spcPts val="0"/>
              </a:spcAft>
            </a:pPr>
            <a:r>
              <a:rPr sz="1400" b="1" i="0">
                <a:solidFill>
                  <a:srgbClr val="1A1614"/>
                </a:solidFill>
                <a:latin typeface="Calibri"/>
              </a:rPr>
              <a:t>Identifikasi</a:t>
            </a:r>
          </a:p>
        </p:txBody>
      </p:sp>
      <p:sp>
        <p:nvSpPr>
          <p:cNvPr id="11" name="TextBox 10"/>
          <p:cNvSpPr txBox="1"/>
          <p:nvPr/>
        </p:nvSpPr>
        <p:spPr>
          <a:xfrm>
            <a:off x="896112" y="2779776"/>
            <a:ext cx="2991002" cy="71323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Susun keempat daftar berdasarkan bukti, bukan opini. Tabel 4.2 di buku memberi contoh isi masing-masing.</a:t>
            </a:r>
          </a:p>
        </p:txBody>
      </p:sp>
      <p:sp>
        <p:nvSpPr>
          <p:cNvPr id="12" name="Rectangle 11"/>
          <p:cNvSpPr/>
          <p:nvPr/>
        </p:nvSpPr>
        <p:spPr>
          <a:xfrm>
            <a:off x="4362602" y="1883664"/>
            <a:ext cx="3466490" cy="16642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62602" y="1883664"/>
            <a:ext cx="3466490"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00346" y="2048256"/>
            <a:ext cx="365760" cy="365760"/>
          </a:xfrm>
          <a:prstGeom prst="rect">
            <a:avLst/>
          </a:prstGeom>
          <a:noFill/>
        </p:spPr>
        <p:txBody>
          <a:bodyPr wrap="square" lIns="0" rIns="0" tIns="0" bIns="0" anchor="t">
            <a:spAutoFit/>
          </a:bodyPr>
          <a:lstStyle/>
          <a:p>
            <a:pPr algn="l">
              <a:lnSpc>
                <a:spcPct val="100000"/>
              </a:lnSpc>
              <a:spcAft>
                <a:spcPts val="0"/>
              </a:spcAft>
            </a:pPr>
            <a:r>
              <a:rPr sz="2200" b="1" i="0">
                <a:solidFill>
                  <a:srgbClr val="DA291C"/>
                </a:solidFill>
                <a:latin typeface="Georgia"/>
              </a:rPr>
              <a:t>2</a:t>
            </a:r>
          </a:p>
        </p:txBody>
      </p:sp>
      <p:sp>
        <p:nvSpPr>
          <p:cNvPr id="15" name="TextBox 14"/>
          <p:cNvSpPr txBox="1"/>
          <p:nvPr/>
        </p:nvSpPr>
        <p:spPr>
          <a:xfrm>
            <a:off x="4600346" y="2450592"/>
            <a:ext cx="2991002" cy="274320"/>
          </a:xfrm>
          <a:prstGeom prst="rect">
            <a:avLst/>
          </a:prstGeom>
          <a:noFill/>
        </p:spPr>
        <p:txBody>
          <a:bodyPr wrap="square" lIns="0" rIns="0" tIns="0" bIns="0" anchor="t">
            <a:spAutoFit/>
          </a:bodyPr>
          <a:lstStyle/>
          <a:p>
            <a:pPr algn="l">
              <a:lnSpc>
                <a:spcPct val="100000"/>
              </a:lnSpc>
              <a:spcAft>
                <a:spcPts val="0"/>
              </a:spcAft>
            </a:pPr>
            <a:r>
              <a:rPr sz="1400" b="1" i="0">
                <a:solidFill>
                  <a:srgbClr val="1A1614"/>
                </a:solidFill>
                <a:latin typeface="Calibri"/>
              </a:rPr>
              <a:t>Tarik kesimpulan</a:t>
            </a:r>
          </a:p>
        </p:txBody>
      </p:sp>
      <p:sp>
        <p:nvSpPr>
          <p:cNvPr id="16" name="TextBox 15"/>
          <p:cNvSpPr txBox="1"/>
          <p:nvPr/>
        </p:nvSpPr>
        <p:spPr>
          <a:xfrm>
            <a:off x="4600346" y="2779776"/>
            <a:ext cx="2991002" cy="71323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Dua pertanyaan: apa sebab berhasil atau gagalnya strategi? Sisi mana dari situasi perusahaan yang menarik, sisi mana yang tidak?</a:t>
            </a:r>
          </a:p>
        </p:txBody>
      </p:sp>
      <p:sp>
        <p:nvSpPr>
          <p:cNvPr id="17" name="Rectangle 16"/>
          <p:cNvSpPr/>
          <p:nvPr/>
        </p:nvSpPr>
        <p:spPr>
          <a:xfrm>
            <a:off x="8066836" y="1883664"/>
            <a:ext cx="3466490" cy="16642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66836" y="1883664"/>
            <a:ext cx="3466490"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04580" y="2048256"/>
            <a:ext cx="365760" cy="365760"/>
          </a:xfrm>
          <a:prstGeom prst="rect">
            <a:avLst/>
          </a:prstGeom>
          <a:noFill/>
        </p:spPr>
        <p:txBody>
          <a:bodyPr wrap="square" lIns="0" rIns="0" tIns="0" bIns="0" anchor="t">
            <a:spAutoFit/>
          </a:bodyPr>
          <a:lstStyle/>
          <a:p>
            <a:pPr algn="l">
              <a:lnSpc>
                <a:spcPct val="100000"/>
              </a:lnSpc>
              <a:spcAft>
                <a:spcPts val="0"/>
              </a:spcAft>
            </a:pPr>
            <a:r>
              <a:rPr sz="2200" b="1" i="0">
                <a:solidFill>
                  <a:srgbClr val="1A1614"/>
                </a:solidFill>
                <a:latin typeface="Georgia"/>
              </a:rPr>
              <a:t>3</a:t>
            </a:r>
          </a:p>
        </p:txBody>
      </p:sp>
      <p:sp>
        <p:nvSpPr>
          <p:cNvPr id="20" name="TextBox 19"/>
          <p:cNvSpPr txBox="1"/>
          <p:nvPr/>
        </p:nvSpPr>
        <p:spPr>
          <a:xfrm>
            <a:off x="8304580" y="2450592"/>
            <a:ext cx="2991002" cy="274320"/>
          </a:xfrm>
          <a:prstGeom prst="rect">
            <a:avLst/>
          </a:prstGeom>
          <a:noFill/>
        </p:spPr>
        <p:txBody>
          <a:bodyPr wrap="square" lIns="0" rIns="0" tIns="0" bIns="0" anchor="t">
            <a:spAutoFit/>
          </a:bodyPr>
          <a:lstStyle/>
          <a:p>
            <a:pPr algn="l">
              <a:lnSpc>
                <a:spcPct val="100000"/>
              </a:lnSpc>
              <a:spcAft>
                <a:spcPts val="0"/>
              </a:spcAft>
            </a:pPr>
            <a:r>
              <a:rPr sz="1400" b="1" i="0">
                <a:solidFill>
                  <a:srgbClr val="1A1614"/>
                </a:solidFill>
                <a:latin typeface="Calibri"/>
              </a:rPr>
              <a:t>Terjemahkan jadi tindakan</a:t>
            </a:r>
          </a:p>
        </p:txBody>
      </p:sp>
      <p:sp>
        <p:nvSpPr>
          <p:cNvPr id="21" name="TextBox 20"/>
          <p:cNvSpPr txBox="1"/>
          <p:nvPr/>
        </p:nvSpPr>
        <p:spPr>
          <a:xfrm>
            <a:off x="8304580" y="2779776"/>
            <a:ext cx="2991002" cy="713232"/>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Ubah kesimpulan itu menjadi langkah strategis yang konkret.</a:t>
            </a:r>
          </a:p>
        </p:txBody>
      </p:sp>
      <p:sp>
        <p:nvSpPr>
          <p:cNvPr id="22" name="TextBox 21"/>
          <p:cNvSpPr txBox="1"/>
          <p:nvPr/>
        </p:nvSpPr>
        <p:spPr>
          <a:xfrm>
            <a:off x="658368" y="3785616"/>
            <a:ext cx="1087495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Enam tindakan yang bisa lahir dari langkah 3</a:t>
            </a:r>
          </a:p>
        </p:txBody>
      </p:sp>
      <p:sp>
        <p:nvSpPr>
          <p:cNvPr id="23" name="Rectangle 22"/>
          <p:cNvSpPr/>
          <p:nvPr/>
        </p:nvSpPr>
        <p:spPr>
          <a:xfrm>
            <a:off x="658368" y="4233672"/>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96112" y="4151376"/>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Jadikan kekuatan sebagai fondasi strategi</a:t>
            </a:r>
          </a:p>
        </p:txBody>
      </p:sp>
      <p:sp>
        <p:nvSpPr>
          <p:cNvPr id="25" name="Rectangle 24"/>
          <p:cNvSpPr/>
          <p:nvPr/>
        </p:nvSpPr>
        <p:spPr>
          <a:xfrm>
            <a:off x="6324447" y="4233672"/>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62191" y="4151376"/>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Perbaiki kelemahan yang menghambat strategi</a:t>
            </a:r>
          </a:p>
        </p:txBody>
      </p:sp>
      <p:sp>
        <p:nvSpPr>
          <p:cNvPr id="27" name="Rectangle 26"/>
          <p:cNvSpPr/>
          <p:nvPr/>
        </p:nvSpPr>
        <p:spPr>
          <a:xfrm>
            <a:off x="658368" y="4581144"/>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96112" y="4498848"/>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Pakai kekuatan untuk meredam ancaman besar</a:t>
            </a:r>
          </a:p>
        </p:txBody>
      </p:sp>
      <p:sp>
        <p:nvSpPr>
          <p:cNvPr id="29" name="Rectangle 28"/>
          <p:cNvSpPr/>
          <p:nvPr/>
        </p:nvSpPr>
        <p:spPr>
          <a:xfrm>
            <a:off x="6324447" y="4581144"/>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62191" y="4498848"/>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Kejar peluang yang paling cocok dengan kekuatan</a:t>
            </a:r>
          </a:p>
        </p:txBody>
      </p:sp>
      <p:sp>
        <p:nvSpPr>
          <p:cNvPr id="31" name="Rectangle 30"/>
          <p:cNvSpPr/>
          <p:nvPr/>
        </p:nvSpPr>
        <p:spPr>
          <a:xfrm>
            <a:off x="658368" y="4928616"/>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96112" y="4846320"/>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Benahi kelemahan yang menghalangi peluang penting</a:t>
            </a:r>
          </a:p>
        </p:txBody>
      </p:sp>
      <p:sp>
        <p:nvSpPr>
          <p:cNvPr id="33" name="Rectangle 32"/>
          <p:cNvSpPr/>
          <p:nvPr/>
        </p:nvSpPr>
        <p:spPr>
          <a:xfrm>
            <a:off x="6324447" y="4928616"/>
            <a:ext cx="91440" cy="9144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62191" y="4846320"/>
            <a:ext cx="4934559" cy="274320"/>
          </a:xfrm>
          <a:prstGeom prst="rect">
            <a:avLst/>
          </a:prstGeom>
          <a:noFill/>
        </p:spPr>
        <p:txBody>
          <a:bodyPr wrap="square" lIns="0" rIns="0" tIns="0" bIns="0" anchor="t">
            <a:spAutoFit/>
          </a:bodyPr>
          <a:lstStyle/>
          <a:p>
            <a:pPr algn="l">
              <a:lnSpc>
                <a:spcPct val="100000"/>
              </a:lnSpc>
              <a:spcAft>
                <a:spcPts val="0"/>
              </a:spcAft>
            </a:pPr>
            <a:r>
              <a:rPr sz="1200" b="0" i="0">
                <a:solidFill>
                  <a:srgbClr val="1A1614"/>
                </a:solidFill>
                <a:latin typeface="Calibri"/>
              </a:rPr>
              <a:t>Tutup kelemahan yang membuat rentan pada ancaman</a:t>
            </a:r>
          </a:p>
        </p:txBody>
      </p:sp>
      <p:sp>
        <p:nvSpPr>
          <p:cNvPr id="35" name="Rectangle 34"/>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Keterbatasan SWOT, diakui bukunya sendiri: </a:t>
            </a:r>
            <a:r>
              <a:rPr sz="1200" b="0">
                <a:solidFill>
                  <a:srgbClr val="1A1614"/>
                </a:solidFill>
                <a:latin typeface="Calibri"/>
              </a:rPr>
              <a:t>kekuatannya ada pada kesederhanaan, dan itu juga batasnya. Untuk pemahaman yang lebih dalam dibutuhkan alat yang lebih canggih — yaitu Q3 sampai Q5 berikutnya.</a:t>
            </a:r>
          </a:p>
        </p:txBody>
      </p:sp>
      <p:sp>
        <p:nvSpPr>
          <p:cNvPr id="38" name="Rectangle 37"/>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0" name="TextBox 39"/>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Resource dan capability: dua hal berbeda</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Resource itu sesuatu yang perusahaan PUNYA. Capability itu sesuatu yang perusahaan BISA KERJAKAN. Capability dibangun dengan mengerahkan resource.</a:t>
            </a:r>
          </a:p>
        </p:txBody>
      </p:sp>
      <p:sp>
        <p:nvSpPr>
          <p:cNvPr id="7" name="Rectangle 6"/>
          <p:cNvSpPr/>
          <p:nvPr/>
        </p:nvSpPr>
        <p:spPr>
          <a:xfrm>
            <a:off x="658368" y="2157984"/>
            <a:ext cx="5254599"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2157984"/>
            <a:ext cx="45720" cy="122529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32688" y="2286000"/>
            <a:ext cx="4705959" cy="274320"/>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Calibri"/>
              </a:rPr>
              <a:t>Resource</a:t>
            </a:r>
          </a:p>
        </p:txBody>
      </p:sp>
      <p:sp>
        <p:nvSpPr>
          <p:cNvPr id="10" name="TextBox 9"/>
          <p:cNvSpPr txBox="1"/>
          <p:nvPr/>
        </p:nvSpPr>
        <p:spPr>
          <a:xfrm>
            <a:off x="932688" y="2615184"/>
            <a:ext cx="4705959" cy="438912"/>
          </a:xfrm>
          <a:prstGeom prst="rect">
            <a:avLst/>
          </a:prstGeom>
          <a:noFill/>
        </p:spPr>
        <p:txBody>
          <a:bodyPr wrap="square" lIns="0" rIns="0" tIns="0" bIns="0" anchor="t">
            <a:spAutoFit/>
          </a:bodyPr>
          <a:lstStyle/>
          <a:p>
            <a:pPr algn="l">
              <a:lnSpc>
                <a:spcPct val="116000"/>
              </a:lnSpc>
              <a:spcAft>
                <a:spcPts val="0"/>
              </a:spcAft>
            </a:pPr>
            <a:r>
              <a:rPr sz="1200" b="0" i="0">
                <a:solidFill>
                  <a:srgbClr val="1A1614"/>
                </a:solidFill>
                <a:latin typeface="Calibri"/>
              </a:rPr>
              <a:t>Aset bersaing yang dimiliki atau dikendalikan perusahaan.</a:t>
            </a:r>
          </a:p>
        </p:txBody>
      </p:sp>
      <p:sp>
        <p:nvSpPr>
          <p:cNvPr id="11" name="TextBox 10"/>
          <p:cNvSpPr txBox="1"/>
          <p:nvPr/>
        </p:nvSpPr>
        <p:spPr>
          <a:xfrm>
            <a:off x="932688" y="3072384"/>
            <a:ext cx="4705959" cy="237744"/>
          </a:xfrm>
          <a:prstGeom prst="rect">
            <a:avLst/>
          </a:prstGeom>
          <a:noFill/>
        </p:spPr>
        <p:txBody>
          <a:bodyPr wrap="square" lIns="0" rIns="0" tIns="0" bIns="0" anchor="t">
            <a:spAutoFit/>
          </a:bodyPr>
          <a:lstStyle/>
          <a:p>
            <a:pPr algn="l">
              <a:lnSpc>
                <a:spcPct val="100000"/>
              </a:lnSpc>
              <a:spcAft>
                <a:spcPts val="0"/>
              </a:spcAft>
            </a:pPr>
            <a:r>
              <a:rPr sz="1100" b="0" i="1">
                <a:solidFill>
                  <a:srgbClr val="8C837E"/>
                </a:solidFill>
                <a:latin typeface="Calibri"/>
              </a:rPr>
              <a:t>Contoh: merek, pabrik, kas, paten, tim R&amp;D.</a:t>
            </a:r>
          </a:p>
        </p:txBody>
      </p:sp>
      <p:sp>
        <p:nvSpPr>
          <p:cNvPr id="12" name="Rectangle 11"/>
          <p:cNvSpPr/>
          <p:nvPr/>
        </p:nvSpPr>
        <p:spPr>
          <a:xfrm>
            <a:off x="6278727" y="2157984"/>
            <a:ext cx="5254599" cy="122529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8727" y="2157984"/>
            <a:ext cx="45720" cy="122529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53047" y="2286000"/>
            <a:ext cx="4705959" cy="274320"/>
          </a:xfrm>
          <a:prstGeom prst="rect">
            <a:avLst/>
          </a:prstGeom>
          <a:noFill/>
        </p:spPr>
        <p:txBody>
          <a:bodyPr wrap="square" lIns="0" rIns="0" tIns="0" bIns="0" anchor="t">
            <a:spAutoFit/>
          </a:bodyPr>
          <a:lstStyle/>
          <a:p>
            <a:pPr algn="l">
              <a:lnSpc>
                <a:spcPct val="100000"/>
              </a:lnSpc>
              <a:spcAft>
                <a:spcPts val="0"/>
              </a:spcAft>
            </a:pPr>
            <a:r>
              <a:rPr sz="1600" b="1" i="0">
                <a:solidFill>
                  <a:srgbClr val="1A1614"/>
                </a:solidFill>
                <a:latin typeface="Calibri"/>
              </a:rPr>
              <a:t>Capability</a:t>
            </a:r>
          </a:p>
        </p:txBody>
      </p:sp>
      <p:sp>
        <p:nvSpPr>
          <p:cNvPr id="15" name="TextBox 14"/>
          <p:cNvSpPr txBox="1"/>
          <p:nvPr/>
        </p:nvSpPr>
        <p:spPr>
          <a:xfrm>
            <a:off x="6553047" y="2615184"/>
            <a:ext cx="4705959" cy="438912"/>
          </a:xfrm>
          <a:prstGeom prst="rect">
            <a:avLst/>
          </a:prstGeom>
          <a:noFill/>
        </p:spPr>
        <p:txBody>
          <a:bodyPr wrap="square" lIns="0" rIns="0" tIns="0" bIns="0" anchor="t">
            <a:spAutoFit/>
          </a:bodyPr>
          <a:lstStyle/>
          <a:p>
            <a:pPr algn="l">
              <a:lnSpc>
                <a:spcPct val="116000"/>
              </a:lnSpc>
              <a:spcAft>
                <a:spcPts val="0"/>
              </a:spcAft>
            </a:pPr>
            <a:r>
              <a:rPr sz="1200" b="0" i="0">
                <a:solidFill>
                  <a:srgbClr val="1A1614"/>
                </a:solidFill>
                <a:latin typeface="Calibri"/>
              </a:rPr>
              <a:t>Kemampuan perusahaan mengerjakan suatu aktivitas internal dengan baik. Disebut juga competence.</a:t>
            </a:r>
          </a:p>
        </p:txBody>
      </p:sp>
      <p:sp>
        <p:nvSpPr>
          <p:cNvPr id="16" name="TextBox 15"/>
          <p:cNvSpPr txBox="1"/>
          <p:nvPr/>
        </p:nvSpPr>
        <p:spPr>
          <a:xfrm>
            <a:off x="6553047" y="3072384"/>
            <a:ext cx="4705959" cy="237744"/>
          </a:xfrm>
          <a:prstGeom prst="rect">
            <a:avLst/>
          </a:prstGeom>
          <a:noFill/>
        </p:spPr>
        <p:txBody>
          <a:bodyPr wrap="square" lIns="0" rIns="0" tIns="0" bIns="0" anchor="t">
            <a:spAutoFit/>
          </a:bodyPr>
          <a:lstStyle/>
          <a:p>
            <a:pPr algn="l">
              <a:lnSpc>
                <a:spcPct val="100000"/>
              </a:lnSpc>
              <a:spcAft>
                <a:spcPts val="0"/>
              </a:spcAft>
            </a:pPr>
            <a:r>
              <a:rPr sz="1100" b="0" i="1">
                <a:solidFill>
                  <a:srgbClr val="8C837E"/>
                </a:solidFill>
                <a:latin typeface="Calibri"/>
              </a:rPr>
              <a:t>Contoh: kemampuan Starbucks mengelola dan melatih karyawan.</a:t>
            </a:r>
          </a:p>
        </p:txBody>
      </p:sp>
      <p:sp>
        <p:nvSpPr>
          <p:cNvPr id="17" name="TextBox 16"/>
          <p:cNvSpPr txBox="1"/>
          <p:nvPr/>
        </p:nvSpPr>
        <p:spPr>
          <a:xfrm>
            <a:off x="658368" y="3584448"/>
            <a:ext cx="1087495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Tabel 4.3 — Tipe resource</a:t>
            </a:r>
          </a:p>
        </p:txBody>
      </p:sp>
      <p:sp>
        <p:nvSpPr>
          <p:cNvPr id="18" name="Rectangle 17"/>
          <p:cNvSpPr/>
          <p:nvPr/>
        </p:nvSpPr>
        <p:spPr>
          <a:xfrm>
            <a:off x="658368" y="3858768"/>
            <a:ext cx="5254599" cy="19202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3858768"/>
            <a:ext cx="5254599" cy="4023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9536" y="3959352"/>
            <a:ext cx="4852263" cy="256032"/>
          </a:xfrm>
          <a:prstGeom prst="rect">
            <a:avLst/>
          </a:prstGeom>
          <a:noFill/>
        </p:spPr>
        <p:txBody>
          <a:bodyPr wrap="square" lIns="0" rIns="0" tIns="0" bIns="0" anchor="t">
            <a:spAutoFit/>
          </a:bodyPr>
          <a:lstStyle/>
          <a:p>
            <a:pPr algn="l">
              <a:lnSpc>
                <a:spcPct val="100000"/>
              </a:lnSpc>
              <a:spcAft>
                <a:spcPts val="0"/>
              </a:spcAft>
            </a:pPr>
            <a:r>
              <a:rPr sz="1200" b="1" i="0">
                <a:solidFill>
                  <a:srgbClr val="FFFFFF"/>
                </a:solidFill>
                <a:latin typeface="Calibri"/>
              </a:rPr>
              <a:t>Tangible — bisa disentuh atau dihitung</a:t>
            </a:r>
          </a:p>
        </p:txBody>
      </p:sp>
      <p:sp>
        <p:nvSpPr>
          <p:cNvPr id="21" name="TextBox 20"/>
          <p:cNvSpPr txBox="1"/>
          <p:nvPr/>
        </p:nvSpPr>
        <p:spPr>
          <a:xfrm>
            <a:off x="859536" y="4334256"/>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Fisik</a:t>
            </a:r>
          </a:p>
        </p:txBody>
      </p:sp>
      <p:sp>
        <p:nvSpPr>
          <p:cNvPr id="22" name="TextBox 21"/>
          <p:cNvSpPr txBox="1"/>
          <p:nvPr/>
        </p:nvSpPr>
        <p:spPr>
          <a:xfrm>
            <a:off x="2395728" y="4334256"/>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tanah, pabrik, peralatan, lokasi, sumber daya alam</a:t>
            </a:r>
          </a:p>
        </p:txBody>
      </p:sp>
      <p:sp>
        <p:nvSpPr>
          <p:cNvPr id="23" name="TextBox 22"/>
          <p:cNvSpPr txBox="1"/>
          <p:nvPr/>
        </p:nvSpPr>
        <p:spPr>
          <a:xfrm>
            <a:off x="859536" y="4681728"/>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Finansial</a:t>
            </a:r>
          </a:p>
        </p:txBody>
      </p:sp>
      <p:sp>
        <p:nvSpPr>
          <p:cNvPr id="24" name="TextBox 23"/>
          <p:cNvSpPr txBox="1"/>
          <p:nvPr/>
        </p:nvSpPr>
        <p:spPr>
          <a:xfrm>
            <a:off x="2395728" y="4681728"/>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kas, surat berharga, peringkat kredit</a:t>
            </a:r>
          </a:p>
        </p:txBody>
      </p:sp>
      <p:sp>
        <p:nvSpPr>
          <p:cNvPr id="25" name="TextBox 24"/>
          <p:cNvSpPr txBox="1"/>
          <p:nvPr/>
        </p:nvSpPr>
        <p:spPr>
          <a:xfrm>
            <a:off x="859536" y="5029200"/>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Teknologi</a:t>
            </a:r>
          </a:p>
        </p:txBody>
      </p:sp>
      <p:sp>
        <p:nvSpPr>
          <p:cNvPr id="26" name="TextBox 25"/>
          <p:cNvSpPr txBox="1"/>
          <p:nvPr/>
        </p:nvSpPr>
        <p:spPr>
          <a:xfrm>
            <a:off x="2395728" y="5029200"/>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paten, hak cipta, teknologi produksi dan inovasi</a:t>
            </a:r>
          </a:p>
        </p:txBody>
      </p:sp>
      <p:sp>
        <p:nvSpPr>
          <p:cNvPr id="27" name="TextBox 26"/>
          <p:cNvSpPr txBox="1"/>
          <p:nvPr/>
        </p:nvSpPr>
        <p:spPr>
          <a:xfrm>
            <a:off x="859536" y="5376672"/>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Organisasional</a:t>
            </a:r>
          </a:p>
        </p:txBody>
      </p:sp>
      <p:sp>
        <p:nvSpPr>
          <p:cNvPr id="28" name="TextBox 27"/>
          <p:cNvSpPr txBox="1"/>
          <p:nvPr/>
        </p:nvSpPr>
        <p:spPr>
          <a:xfrm>
            <a:off x="2395728" y="5376672"/>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sistem IT, sistem kendali, struktur organisasi</a:t>
            </a:r>
          </a:p>
        </p:txBody>
      </p:sp>
      <p:sp>
        <p:nvSpPr>
          <p:cNvPr id="29" name="Rectangle 28"/>
          <p:cNvSpPr/>
          <p:nvPr/>
        </p:nvSpPr>
        <p:spPr>
          <a:xfrm>
            <a:off x="6278727" y="3858768"/>
            <a:ext cx="5254599" cy="19202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278727" y="3858768"/>
            <a:ext cx="5254599" cy="40233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79895" y="3959352"/>
            <a:ext cx="4852263" cy="256032"/>
          </a:xfrm>
          <a:prstGeom prst="rect">
            <a:avLst/>
          </a:prstGeom>
          <a:noFill/>
        </p:spPr>
        <p:txBody>
          <a:bodyPr wrap="square" lIns="0" rIns="0" tIns="0" bIns="0" anchor="t">
            <a:spAutoFit/>
          </a:bodyPr>
          <a:lstStyle/>
          <a:p>
            <a:pPr algn="l">
              <a:lnSpc>
                <a:spcPct val="100000"/>
              </a:lnSpc>
              <a:spcAft>
                <a:spcPts val="0"/>
              </a:spcAft>
            </a:pPr>
            <a:r>
              <a:rPr sz="1200" b="1" i="0">
                <a:solidFill>
                  <a:srgbClr val="FFFFFF"/>
                </a:solidFill>
                <a:latin typeface="Calibri"/>
              </a:rPr>
              <a:t>Intangible — tidak berwujud</a:t>
            </a:r>
          </a:p>
        </p:txBody>
      </p:sp>
      <p:sp>
        <p:nvSpPr>
          <p:cNvPr id="32" name="TextBox 31"/>
          <p:cNvSpPr txBox="1"/>
          <p:nvPr/>
        </p:nvSpPr>
        <p:spPr>
          <a:xfrm>
            <a:off x="6479895" y="4334256"/>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Human assets</a:t>
            </a:r>
          </a:p>
        </p:txBody>
      </p:sp>
      <p:sp>
        <p:nvSpPr>
          <p:cNvPr id="33" name="TextBox 32"/>
          <p:cNvSpPr txBox="1"/>
          <p:nvPr/>
        </p:nvSpPr>
        <p:spPr>
          <a:xfrm>
            <a:off x="8016087" y="4334256"/>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pendidikan, pengalaman, bakat, pengetahuan</a:t>
            </a:r>
          </a:p>
        </p:txBody>
      </p:sp>
      <p:sp>
        <p:nvSpPr>
          <p:cNvPr id="34" name="TextBox 33"/>
          <p:cNvSpPr txBox="1"/>
          <p:nvPr/>
        </p:nvSpPr>
        <p:spPr>
          <a:xfrm>
            <a:off x="6479895" y="4681728"/>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Merek &amp; reputasi</a:t>
            </a:r>
          </a:p>
        </p:txBody>
      </p:sp>
      <p:sp>
        <p:nvSpPr>
          <p:cNvPr id="35" name="TextBox 34"/>
          <p:cNvSpPr txBox="1"/>
          <p:nvPr/>
        </p:nvSpPr>
        <p:spPr>
          <a:xfrm>
            <a:off x="8016087" y="4681728"/>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nama merek, citra, loyalitas, reputasi mutu</a:t>
            </a:r>
          </a:p>
        </p:txBody>
      </p:sp>
      <p:sp>
        <p:nvSpPr>
          <p:cNvPr id="36" name="TextBox 35"/>
          <p:cNvSpPr txBox="1"/>
          <p:nvPr/>
        </p:nvSpPr>
        <p:spPr>
          <a:xfrm>
            <a:off x="6479895" y="5029200"/>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Relasi</a:t>
            </a:r>
          </a:p>
        </p:txBody>
      </p:sp>
      <p:sp>
        <p:nvSpPr>
          <p:cNvPr id="37" name="TextBox 36"/>
          <p:cNvSpPr txBox="1"/>
          <p:nvPr/>
        </p:nvSpPr>
        <p:spPr>
          <a:xfrm>
            <a:off x="8016087" y="5029200"/>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aliansi, joint venture, jaringan dealer</a:t>
            </a:r>
          </a:p>
        </p:txBody>
      </p:sp>
      <p:sp>
        <p:nvSpPr>
          <p:cNvPr id="38" name="TextBox 37"/>
          <p:cNvSpPr txBox="1"/>
          <p:nvPr/>
        </p:nvSpPr>
        <p:spPr>
          <a:xfrm>
            <a:off x="6479895" y="5376672"/>
            <a:ext cx="1463040" cy="237744"/>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Budaya &amp; insentif</a:t>
            </a:r>
          </a:p>
        </p:txBody>
      </p:sp>
      <p:sp>
        <p:nvSpPr>
          <p:cNvPr id="39" name="TextBox 38"/>
          <p:cNvSpPr txBox="1"/>
          <p:nvPr/>
        </p:nvSpPr>
        <p:spPr>
          <a:xfrm>
            <a:off x="8016087" y="5376672"/>
            <a:ext cx="3297783" cy="237744"/>
          </a:xfrm>
          <a:prstGeom prst="rect">
            <a:avLst/>
          </a:prstGeom>
          <a:noFill/>
        </p:spPr>
        <p:txBody>
          <a:bodyPr wrap="square" lIns="0" rIns="0" tIns="0" bIns="0" anchor="t">
            <a:spAutoFit/>
          </a:bodyPr>
          <a:lstStyle/>
          <a:p>
            <a:pPr algn="l">
              <a:lnSpc>
                <a:spcPct val="104000"/>
              </a:lnSpc>
              <a:spcAft>
                <a:spcPts val="0"/>
              </a:spcAft>
            </a:pPr>
            <a:r>
              <a:rPr sz="1050" b="0" i="0">
                <a:solidFill>
                  <a:srgbClr val="4A433F"/>
                </a:solidFill>
                <a:latin typeface="Calibri"/>
              </a:rPr>
              <a:t>norma perilaku, keyakinan bersama, kompensasi</a:t>
            </a:r>
          </a:p>
        </p:txBody>
      </p:sp>
      <p:sp>
        <p:nvSpPr>
          <p:cNvPr id="40" name="Rectangle 3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2" name="TextBox 4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Lanjutan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Cara menemukan capability perusahaan</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Capability lebih sulit ditemukan daripada resource, karena wujudnya tidak kelihatan. Buku memberi dua cara.</a:t>
            </a:r>
          </a:p>
        </p:txBody>
      </p:sp>
      <p:sp>
        <p:nvSpPr>
          <p:cNvPr id="7" name="Rectangle 6"/>
          <p:cNvSpPr/>
          <p:nvPr/>
        </p:nvSpPr>
        <p:spPr>
          <a:xfrm>
            <a:off x="658368" y="1883664"/>
            <a:ext cx="5254599" cy="15544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45720" cy="155448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32688" y="2029968"/>
            <a:ext cx="1463040"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Cara 1</a:t>
            </a:r>
          </a:p>
        </p:txBody>
      </p:sp>
      <p:sp>
        <p:nvSpPr>
          <p:cNvPr id="10" name="TextBox 9"/>
          <p:cNvSpPr txBox="1"/>
          <p:nvPr/>
        </p:nvSpPr>
        <p:spPr>
          <a:xfrm>
            <a:off x="932688" y="2304288"/>
            <a:ext cx="4705959" cy="274320"/>
          </a:xfrm>
          <a:prstGeom prst="rect">
            <a:avLst/>
          </a:prstGeom>
          <a:noFill/>
        </p:spPr>
        <p:txBody>
          <a:bodyPr wrap="square" lIns="0" rIns="0" tIns="0" bIns="0" anchor="t">
            <a:spAutoFit/>
          </a:bodyPr>
          <a:lstStyle/>
          <a:p>
            <a:pPr algn="l">
              <a:lnSpc>
                <a:spcPct val="100000"/>
              </a:lnSpc>
              <a:spcAft>
                <a:spcPts val="0"/>
              </a:spcAft>
            </a:pPr>
            <a:r>
              <a:rPr sz="1450" b="1" i="0">
                <a:solidFill>
                  <a:srgbClr val="1A1614"/>
                </a:solidFill>
                <a:latin typeface="Calibri"/>
              </a:rPr>
              <a:t>Berangkat dari daftar resource</a:t>
            </a:r>
          </a:p>
        </p:txBody>
      </p:sp>
      <p:sp>
        <p:nvSpPr>
          <p:cNvPr id="11" name="TextBox 10"/>
          <p:cNvSpPr txBox="1"/>
          <p:nvPr/>
        </p:nvSpPr>
        <p:spPr>
          <a:xfrm>
            <a:off x="932688" y="2651760"/>
            <a:ext cx="4705959" cy="694944"/>
          </a:xfrm>
          <a:prstGeom prst="rect">
            <a:avLst/>
          </a:prstGeom>
          <a:noFill/>
        </p:spPr>
        <p:txBody>
          <a:bodyPr wrap="square" lIns="0" rIns="0" tIns="0" bIns="0" anchor="t">
            <a:spAutoFit/>
          </a:bodyPr>
          <a:lstStyle/>
          <a:p>
            <a:pPr algn="l">
              <a:lnSpc>
                <a:spcPct val="116000"/>
              </a:lnSpc>
              <a:spcAft>
                <a:spcPts val="0"/>
              </a:spcAft>
            </a:pPr>
            <a:r>
              <a:rPr sz="1150" b="0" i="0">
                <a:solidFill>
                  <a:srgbClr val="4A433F"/>
                </a:solidFill>
                <a:latin typeface="Calibri"/>
              </a:rPr>
              <a:t>Lihat daftar resource, lalu tanya: kemampuan apa yang mungkin tumbuh dari sini? Armada truk dan pusat distribusi otomatis menandakan kemampuan logistik yang matang.</a:t>
            </a:r>
          </a:p>
        </p:txBody>
      </p:sp>
      <p:sp>
        <p:nvSpPr>
          <p:cNvPr id="12" name="Rectangle 11"/>
          <p:cNvSpPr/>
          <p:nvPr/>
        </p:nvSpPr>
        <p:spPr>
          <a:xfrm>
            <a:off x="6278727" y="1883664"/>
            <a:ext cx="5254599" cy="15544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8727" y="1883664"/>
            <a:ext cx="45720" cy="155448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53047" y="2029968"/>
            <a:ext cx="1463040"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Cara 2</a:t>
            </a:r>
          </a:p>
        </p:txBody>
      </p:sp>
      <p:sp>
        <p:nvSpPr>
          <p:cNvPr id="15" name="TextBox 14"/>
          <p:cNvSpPr txBox="1"/>
          <p:nvPr/>
        </p:nvSpPr>
        <p:spPr>
          <a:xfrm>
            <a:off x="6553047" y="2304288"/>
            <a:ext cx="4705959" cy="274320"/>
          </a:xfrm>
          <a:prstGeom prst="rect">
            <a:avLst/>
          </a:prstGeom>
          <a:noFill/>
        </p:spPr>
        <p:txBody>
          <a:bodyPr wrap="square" lIns="0" rIns="0" tIns="0" bIns="0" anchor="t">
            <a:spAutoFit/>
          </a:bodyPr>
          <a:lstStyle/>
          <a:p>
            <a:pPr algn="l">
              <a:lnSpc>
                <a:spcPct val="100000"/>
              </a:lnSpc>
              <a:spcAft>
                <a:spcPts val="0"/>
              </a:spcAft>
            </a:pPr>
            <a:r>
              <a:rPr sz="1450" b="1" i="0">
                <a:solidFill>
                  <a:srgbClr val="1A1614"/>
                </a:solidFill>
                <a:latin typeface="Calibri"/>
              </a:rPr>
              <a:t>Berangkat dari fungsi perusahaan</a:t>
            </a:r>
          </a:p>
        </p:txBody>
      </p:sp>
      <p:sp>
        <p:nvSpPr>
          <p:cNvPr id="16" name="TextBox 15"/>
          <p:cNvSpPr txBox="1"/>
          <p:nvPr/>
        </p:nvSpPr>
        <p:spPr>
          <a:xfrm>
            <a:off x="6553047" y="2651760"/>
            <a:ext cx="4705959" cy="694944"/>
          </a:xfrm>
          <a:prstGeom prst="rect">
            <a:avLst/>
          </a:prstGeom>
          <a:noFill/>
        </p:spPr>
        <p:txBody>
          <a:bodyPr wrap="square" lIns="0" rIns="0" tIns="0" bIns="0" anchor="t">
            <a:spAutoFit/>
          </a:bodyPr>
          <a:lstStyle/>
          <a:p>
            <a:pPr algn="l">
              <a:lnSpc>
                <a:spcPct val="116000"/>
              </a:lnSpc>
              <a:spcAft>
                <a:spcPts val="0"/>
              </a:spcAft>
            </a:pPr>
            <a:r>
              <a:rPr sz="1150" b="0" i="0">
                <a:solidFill>
                  <a:srgbClr val="4A433F"/>
                </a:solidFill>
                <a:latin typeface="Calibri"/>
              </a:rPr>
              <a:t>Telusuri tiap fungsi. Injection molding dan metal stamping di produksi; direct selling dan database marketing di penjualan; riset dasar dan pengembangan produk baru di R&amp;D.</a:t>
            </a:r>
          </a:p>
        </p:txBody>
      </p:sp>
      <p:sp>
        <p:nvSpPr>
          <p:cNvPr id="17" name="Rectangle 16"/>
          <p:cNvSpPr/>
          <p:nvPr/>
        </p:nvSpPr>
        <p:spPr>
          <a:xfrm>
            <a:off x="658368" y="3675887"/>
            <a:ext cx="10874959" cy="1572768"/>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3675887"/>
            <a:ext cx="45720" cy="157276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50976" y="3858768"/>
            <a:ext cx="10289743" cy="292608"/>
          </a:xfrm>
          <a:prstGeom prst="rect">
            <a:avLst/>
          </a:prstGeom>
          <a:noFill/>
        </p:spPr>
        <p:txBody>
          <a:bodyPr wrap="square" lIns="0" rIns="0" tIns="0" bIns="0" anchor="t">
            <a:spAutoFit/>
          </a:bodyPr>
          <a:lstStyle/>
          <a:p>
            <a:pPr algn="l">
              <a:lnSpc>
                <a:spcPct val="100000"/>
              </a:lnSpc>
              <a:spcAft>
                <a:spcPts val="0"/>
              </a:spcAft>
            </a:pPr>
            <a:r>
              <a:rPr sz="1500" b="1" i="0">
                <a:solidFill>
                  <a:srgbClr val="FFFFFF"/>
                </a:solidFill>
                <a:latin typeface="Calibri"/>
              </a:rPr>
              <a:t>Masalahnya: capability terpenting justru lintas fungsi</a:t>
            </a:r>
          </a:p>
        </p:txBody>
      </p:sp>
      <p:sp>
        <p:nvSpPr>
          <p:cNvPr id="20" name="TextBox 19"/>
          <p:cNvSpPr txBox="1"/>
          <p:nvPr/>
        </p:nvSpPr>
        <p:spPr>
          <a:xfrm>
            <a:off x="950976" y="4224527"/>
            <a:ext cx="10289743" cy="512064"/>
          </a:xfrm>
          <a:prstGeom prst="rect">
            <a:avLst/>
          </a:prstGeom>
          <a:noFill/>
        </p:spPr>
        <p:txBody>
          <a:bodyPr wrap="square" lIns="0" rIns="0" tIns="0" bIns="0" anchor="t">
            <a:spAutoFit/>
          </a:bodyPr>
          <a:lstStyle/>
          <a:p>
            <a:pPr algn="l">
              <a:lnSpc>
                <a:spcPct val="118000"/>
              </a:lnSpc>
              <a:spcAft>
                <a:spcPts val="0"/>
              </a:spcAft>
            </a:pPr>
            <a:r>
              <a:rPr sz="1200" b="0" i="0">
                <a:solidFill>
                  <a:srgbClr val="FFFFFF"/>
                </a:solidFill>
                <a:latin typeface="Calibri"/>
              </a:rPr>
              <a:t>Cara 2 gagal menangkap kemampuan yang lahir dari kerja sama antarbagian. Kemampuan desain Warby Parker bukan cuma karena desainernya, tapi juga riset pasar, rekayasa, dan relasi dengan pemasok serta pabrik.</a:t>
            </a:r>
          </a:p>
        </p:txBody>
      </p:sp>
      <p:sp>
        <p:nvSpPr>
          <p:cNvPr id="21" name="TextBox 20"/>
          <p:cNvSpPr txBox="1"/>
          <p:nvPr/>
        </p:nvSpPr>
        <p:spPr>
          <a:xfrm>
            <a:off x="950976" y="4773168"/>
            <a:ext cx="10289743" cy="36576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1A1614"/>
                </a:solidFill>
                <a:latin typeface="Calibri"/>
              </a:rPr>
              <a:t/>
            </a:r>
            <a:r>
              <a:rPr sz="1150" b="0">
                <a:solidFill>
                  <a:srgbClr val="A89F99"/>
                </a:solidFill>
                <a:latin typeface="Calibri"/>
              </a:rPr>
              <a:t>Kumpulan aset bersaing yang saling terkait erat di sekitar satu atau beberapa kemampuan lintas fungsi disebut </a:t>
            </a:r>
            <a:r>
              <a:rPr sz="1150" b="1">
                <a:solidFill>
                  <a:srgbClr val="FF8A7A"/>
                </a:solidFill>
                <a:latin typeface="Calibri"/>
              </a:rPr>
              <a:t>resource bundle</a:t>
            </a:r>
            <a:r>
              <a:rPr sz="1150" b="0">
                <a:solidFill>
                  <a:srgbClr val="A89F99"/>
                </a:solidFill>
                <a:latin typeface="Calibri"/>
              </a:rPr>
              <a:t>.</a:t>
            </a:r>
          </a:p>
        </p:txBody>
      </p:sp>
      <p:sp>
        <p:nvSpPr>
          <p:cNvPr id="22" name="Rectangle 21"/>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Kenapa resource bundle penting: </a:t>
            </a:r>
            <a:r>
              <a:rPr sz="1200" b="0">
                <a:solidFill>
                  <a:srgbClr val="1A1614"/>
                </a:solidFill>
                <a:latin typeface="Calibri"/>
              </a:rPr>
              <a:t>bundle bisa lolos uji VRIN meski komponen-komponennya sendiri tidak. Paket Nike — keahlian styling, riset pasar, endorsement atlet, nama merek, dan kecakapan manajerial — membuatnya nomor satu di sepatu olahraga lebih dari 20 tahun.</a:t>
            </a:r>
          </a:p>
        </p:txBody>
      </p:sp>
      <p:sp>
        <p:nvSpPr>
          <p:cNvPr id="25" name="Rectangle 24"/>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27" name="TextBox 26"/>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Framework Inti</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Uji VRIN: empat saringan</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Punya resource saja belum berarti unggul. VRIN menguji apakah sebuah resource atau capability benar-benar memberi keunggulan, dan apakah keunggulan itu bisa bertahan.</a:t>
            </a:r>
          </a:p>
        </p:txBody>
      </p:sp>
      <p:sp>
        <p:nvSpPr>
          <p:cNvPr id="7" name="Rectangle 6"/>
          <p:cNvSpPr/>
          <p:nvPr/>
        </p:nvSpPr>
        <p:spPr>
          <a:xfrm>
            <a:off x="658368" y="2157984"/>
            <a:ext cx="2540431" cy="2962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2157984"/>
            <a:ext cx="2540431" cy="7498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2267712"/>
            <a:ext cx="2540431" cy="530352"/>
          </a:xfrm>
          <a:prstGeom prst="rect">
            <a:avLst/>
          </a:prstGeom>
          <a:noFill/>
        </p:spPr>
        <p:txBody>
          <a:bodyPr wrap="square" lIns="0" rIns="0" tIns="0" bIns="0" anchor="t">
            <a:spAutoFit/>
          </a:bodyPr>
          <a:lstStyle/>
          <a:p>
            <a:pPr algn="ctr">
              <a:lnSpc>
                <a:spcPct val="100000"/>
              </a:lnSpc>
              <a:spcAft>
                <a:spcPts val="0"/>
              </a:spcAft>
            </a:pPr>
            <a:r>
              <a:rPr sz="3400" b="1" i="0">
                <a:solidFill>
                  <a:srgbClr val="FFFFFF"/>
                </a:solidFill>
                <a:latin typeface="Georgia"/>
              </a:rPr>
              <a:t>V</a:t>
            </a:r>
          </a:p>
        </p:txBody>
      </p:sp>
      <p:sp>
        <p:nvSpPr>
          <p:cNvPr id="10" name="TextBox 9"/>
          <p:cNvSpPr txBox="1"/>
          <p:nvPr/>
        </p:nvSpPr>
        <p:spPr>
          <a:xfrm>
            <a:off x="768096" y="3035808"/>
            <a:ext cx="2320975" cy="274320"/>
          </a:xfrm>
          <a:prstGeom prst="rect">
            <a:avLst/>
          </a:prstGeom>
          <a:noFill/>
        </p:spPr>
        <p:txBody>
          <a:bodyPr wrap="square" lIns="0" rIns="0" tIns="0" bIns="0" anchor="t">
            <a:spAutoFit/>
          </a:bodyPr>
          <a:lstStyle/>
          <a:p>
            <a:pPr algn="ctr">
              <a:lnSpc>
                <a:spcPct val="100000"/>
              </a:lnSpc>
              <a:spcAft>
                <a:spcPts val="0"/>
              </a:spcAft>
            </a:pPr>
            <a:r>
              <a:rPr sz="1350" b="1" i="0">
                <a:solidFill>
                  <a:srgbClr val="1A1614"/>
                </a:solidFill>
                <a:latin typeface="Calibri"/>
              </a:rPr>
              <a:t>Valuable</a:t>
            </a:r>
          </a:p>
        </p:txBody>
      </p:sp>
      <p:sp>
        <p:nvSpPr>
          <p:cNvPr id="11" name="TextBox 10"/>
          <p:cNvSpPr txBox="1"/>
          <p:nvPr/>
        </p:nvSpPr>
        <p:spPr>
          <a:xfrm>
            <a:off x="768096" y="3346704"/>
            <a:ext cx="2320975" cy="420624"/>
          </a:xfrm>
          <a:prstGeom prst="rect">
            <a:avLst/>
          </a:prstGeom>
          <a:noFill/>
        </p:spPr>
        <p:txBody>
          <a:bodyPr wrap="square" lIns="0" rIns="0" tIns="0" bIns="0" anchor="t">
            <a:spAutoFit/>
          </a:bodyPr>
          <a:lstStyle/>
          <a:p>
            <a:pPr algn="ctr">
              <a:lnSpc>
                <a:spcPct val="110000"/>
              </a:lnSpc>
              <a:spcAft>
                <a:spcPts val="0"/>
              </a:spcAft>
            </a:pPr>
            <a:r>
              <a:rPr sz="1100" b="0" i="1">
                <a:solidFill>
                  <a:srgbClr val="DA291C"/>
                </a:solidFill>
                <a:latin typeface="Calibri"/>
              </a:rPr>
              <a:t>Bernilai untuk bersaing?</a:t>
            </a:r>
          </a:p>
        </p:txBody>
      </p:sp>
      <p:sp>
        <p:nvSpPr>
          <p:cNvPr id="12" name="TextBox 11"/>
          <p:cNvSpPr txBox="1"/>
          <p:nvPr/>
        </p:nvSpPr>
        <p:spPr>
          <a:xfrm>
            <a:off x="841247" y="3840480"/>
            <a:ext cx="2174671" cy="1207008"/>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Harus langsung menopang strategi dan membuat perusahaan lebih efektif bersaing. Google Wallet gagal meski memakai resource teknologi yang membuat Google nomor satu di mesin pencari.</a:t>
            </a:r>
          </a:p>
        </p:txBody>
      </p:sp>
      <p:sp>
        <p:nvSpPr>
          <p:cNvPr id="13" name="Rectangle 12"/>
          <p:cNvSpPr/>
          <p:nvPr/>
        </p:nvSpPr>
        <p:spPr>
          <a:xfrm>
            <a:off x="3436543" y="2157984"/>
            <a:ext cx="2540431" cy="2962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36543" y="2157984"/>
            <a:ext cx="2540431" cy="7498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6543" y="2267712"/>
            <a:ext cx="2540431" cy="530352"/>
          </a:xfrm>
          <a:prstGeom prst="rect">
            <a:avLst/>
          </a:prstGeom>
          <a:noFill/>
        </p:spPr>
        <p:txBody>
          <a:bodyPr wrap="square" lIns="0" rIns="0" tIns="0" bIns="0" anchor="t">
            <a:spAutoFit/>
          </a:bodyPr>
          <a:lstStyle/>
          <a:p>
            <a:pPr algn="ctr">
              <a:lnSpc>
                <a:spcPct val="100000"/>
              </a:lnSpc>
              <a:spcAft>
                <a:spcPts val="0"/>
              </a:spcAft>
            </a:pPr>
            <a:r>
              <a:rPr sz="3400" b="1" i="0">
                <a:solidFill>
                  <a:srgbClr val="FFFFFF"/>
                </a:solidFill>
                <a:latin typeface="Georgia"/>
              </a:rPr>
              <a:t>R</a:t>
            </a:r>
          </a:p>
        </p:txBody>
      </p:sp>
      <p:sp>
        <p:nvSpPr>
          <p:cNvPr id="16" name="TextBox 15"/>
          <p:cNvSpPr txBox="1"/>
          <p:nvPr/>
        </p:nvSpPr>
        <p:spPr>
          <a:xfrm>
            <a:off x="3546271" y="3035808"/>
            <a:ext cx="2320975" cy="274320"/>
          </a:xfrm>
          <a:prstGeom prst="rect">
            <a:avLst/>
          </a:prstGeom>
          <a:noFill/>
        </p:spPr>
        <p:txBody>
          <a:bodyPr wrap="square" lIns="0" rIns="0" tIns="0" bIns="0" anchor="t">
            <a:spAutoFit/>
          </a:bodyPr>
          <a:lstStyle/>
          <a:p>
            <a:pPr algn="ctr">
              <a:lnSpc>
                <a:spcPct val="100000"/>
              </a:lnSpc>
              <a:spcAft>
                <a:spcPts val="0"/>
              </a:spcAft>
            </a:pPr>
            <a:r>
              <a:rPr sz="1350" b="1" i="0">
                <a:solidFill>
                  <a:srgbClr val="1A1614"/>
                </a:solidFill>
                <a:latin typeface="Calibri"/>
              </a:rPr>
              <a:t>Rare</a:t>
            </a:r>
          </a:p>
        </p:txBody>
      </p:sp>
      <p:sp>
        <p:nvSpPr>
          <p:cNvPr id="17" name="TextBox 16"/>
          <p:cNvSpPr txBox="1"/>
          <p:nvPr/>
        </p:nvSpPr>
        <p:spPr>
          <a:xfrm>
            <a:off x="3546271" y="3346704"/>
            <a:ext cx="2320975" cy="420624"/>
          </a:xfrm>
          <a:prstGeom prst="rect">
            <a:avLst/>
          </a:prstGeom>
          <a:noFill/>
        </p:spPr>
        <p:txBody>
          <a:bodyPr wrap="square" lIns="0" rIns="0" tIns="0" bIns="0" anchor="t">
            <a:spAutoFit/>
          </a:bodyPr>
          <a:lstStyle/>
          <a:p>
            <a:pPr algn="ctr">
              <a:lnSpc>
                <a:spcPct val="110000"/>
              </a:lnSpc>
              <a:spcAft>
                <a:spcPts val="0"/>
              </a:spcAft>
            </a:pPr>
            <a:r>
              <a:rPr sz="1100" b="0" i="1">
                <a:solidFill>
                  <a:srgbClr val="DA291C"/>
                </a:solidFill>
                <a:latin typeface="Calibri"/>
              </a:rPr>
              <a:t>Langka, tidak dimiliki pesaing?</a:t>
            </a:r>
          </a:p>
        </p:txBody>
      </p:sp>
      <p:sp>
        <p:nvSpPr>
          <p:cNvPr id="18" name="TextBox 17"/>
          <p:cNvSpPr txBox="1"/>
          <p:nvPr/>
        </p:nvSpPr>
        <p:spPr>
          <a:xfrm>
            <a:off x="3619423" y="3840480"/>
            <a:ext cx="2174671" cy="1207008"/>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Kalau semua pesaing punya, itu syarat ikut bermain, bukan pembeda. Semua produsen sereal punya kemampuan pemasaran; kekuatan merek Oreo tidak umum.</a:t>
            </a:r>
          </a:p>
        </p:txBody>
      </p:sp>
      <p:sp>
        <p:nvSpPr>
          <p:cNvPr id="19" name="Rectangle 18"/>
          <p:cNvSpPr/>
          <p:nvPr/>
        </p:nvSpPr>
        <p:spPr>
          <a:xfrm>
            <a:off x="6214719" y="2157984"/>
            <a:ext cx="2540431" cy="2962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14719" y="2157984"/>
            <a:ext cx="2540431" cy="749808"/>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4719" y="2267712"/>
            <a:ext cx="2540431" cy="530352"/>
          </a:xfrm>
          <a:prstGeom prst="rect">
            <a:avLst/>
          </a:prstGeom>
          <a:noFill/>
        </p:spPr>
        <p:txBody>
          <a:bodyPr wrap="square" lIns="0" rIns="0" tIns="0" bIns="0" anchor="t">
            <a:spAutoFit/>
          </a:bodyPr>
          <a:lstStyle/>
          <a:p>
            <a:pPr algn="ctr">
              <a:lnSpc>
                <a:spcPct val="100000"/>
              </a:lnSpc>
              <a:spcAft>
                <a:spcPts val="0"/>
              </a:spcAft>
            </a:pPr>
            <a:r>
              <a:rPr sz="3400" b="1" i="0">
                <a:solidFill>
                  <a:srgbClr val="FFFFFF"/>
                </a:solidFill>
                <a:latin typeface="Georgia"/>
              </a:rPr>
              <a:t>I</a:t>
            </a:r>
          </a:p>
        </p:txBody>
      </p:sp>
      <p:sp>
        <p:nvSpPr>
          <p:cNvPr id="22" name="TextBox 21"/>
          <p:cNvSpPr txBox="1"/>
          <p:nvPr/>
        </p:nvSpPr>
        <p:spPr>
          <a:xfrm>
            <a:off x="6324447" y="3035808"/>
            <a:ext cx="2320975" cy="274320"/>
          </a:xfrm>
          <a:prstGeom prst="rect">
            <a:avLst/>
          </a:prstGeom>
          <a:noFill/>
        </p:spPr>
        <p:txBody>
          <a:bodyPr wrap="square" lIns="0" rIns="0" tIns="0" bIns="0" anchor="t">
            <a:spAutoFit/>
          </a:bodyPr>
          <a:lstStyle/>
          <a:p>
            <a:pPr algn="ctr">
              <a:lnSpc>
                <a:spcPct val="100000"/>
              </a:lnSpc>
              <a:spcAft>
                <a:spcPts val="0"/>
              </a:spcAft>
            </a:pPr>
            <a:r>
              <a:rPr sz="1350" b="1" i="0">
                <a:solidFill>
                  <a:srgbClr val="1A1614"/>
                </a:solidFill>
                <a:latin typeface="Calibri"/>
              </a:rPr>
              <a:t>Inimitable</a:t>
            </a:r>
          </a:p>
        </p:txBody>
      </p:sp>
      <p:sp>
        <p:nvSpPr>
          <p:cNvPr id="23" name="TextBox 22"/>
          <p:cNvSpPr txBox="1"/>
          <p:nvPr/>
        </p:nvSpPr>
        <p:spPr>
          <a:xfrm>
            <a:off x="6324447" y="3346704"/>
            <a:ext cx="2320975" cy="420624"/>
          </a:xfrm>
          <a:prstGeom prst="rect">
            <a:avLst/>
          </a:prstGeom>
          <a:noFill/>
        </p:spPr>
        <p:txBody>
          <a:bodyPr wrap="square" lIns="0" rIns="0" tIns="0" bIns="0" anchor="t">
            <a:spAutoFit/>
          </a:bodyPr>
          <a:lstStyle/>
          <a:p>
            <a:pPr algn="ctr">
              <a:lnSpc>
                <a:spcPct val="110000"/>
              </a:lnSpc>
              <a:spcAft>
                <a:spcPts val="0"/>
              </a:spcAft>
            </a:pPr>
            <a:r>
              <a:rPr sz="1100" b="0" i="1">
                <a:solidFill>
                  <a:srgbClr val="DA291C"/>
                </a:solidFill>
                <a:latin typeface="Calibri"/>
              </a:rPr>
              <a:t>Sulit ditiru?</a:t>
            </a:r>
          </a:p>
        </p:txBody>
      </p:sp>
      <p:sp>
        <p:nvSpPr>
          <p:cNvPr id="24" name="TextBox 23"/>
          <p:cNvSpPr txBox="1"/>
          <p:nvPr/>
        </p:nvSpPr>
        <p:spPr>
          <a:xfrm>
            <a:off x="6397599" y="3840480"/>
            <a:ext cx="2174671" cy="1207008"/>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Sulit ditiru kalau unik, harus dibangun bertahun-tahun, butuh biaya sangat besar, atau melibatkan social complexity dan causal ambiguity.</a:t>
            </a:r>
          </a:p>
        </p:txBody>
      </p:sp>
      <p:sp>
        <p:nvSpPr>
          <p:cNvPr id="25" name="Rectangle 24"/>
          <p:cNvSpPr/>
          <p:nvPr/>
        </p:nvSpPr>
        <p:spPr>
          <a:xfrm>
            <a:off x="8992895" y="2157984"/>
            <a:ext cx="2540431" cy="2962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992895" y="2157984"/>
            <a:ext cx="2540431" cy="749808"/>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992895" y="2267712"/>
            <a:ext cx="2540431" cy="530352"/>
          </a:xfrm>
          <a:prstGeom prst="rect">
            <a:avLst/>
          </a:prstGeom>
          <a:noFill/>
        </p:spPr>
        <p:txBody>
          <a:bodyPr wrap="square" lIns="0" rIns="0" tIns="0" bIns="0" anchor="t">
            <a:spAutoFit/>
          </a:bodyPr>
          <a:lstStyle/>
          <a:p>
            <a:pPr algn="ctr">
              <a:lnSpc>
                <a:spcPct val="100000"/>
              </a:lnSpc>
              <a:spcAft>
                <a:spcPts val="0"/>
              </a:spcAft>
            </a:pPr>
            <a:r>
              <a:rPr sz="3400" b="1" i="0">
                <a:solidFill>
                  <a:srgbClr val="FFFFFF"/>
                </a:solidFill>
                <a:latin typeface="Georgia"/>
              </a:rPr>
              <a:t>N</a:t>
            </a:r>
          </a:p>
        </p:txBody>
      </p:sp>
      <p:sp>
        <p:nvSpPr>
          <p:cNvPr id="28" name="TextBox 27"/>
          <p:cNvSpPr txBox="1"/>
          <p:nvPr/>
        </p:nvSpPr>
        <p:spPr>
          <a:xfrm>
            <a:off x="9102623" y="3035808"/>
            <a:ext cx="2320975" cy="274320"/>
          </a:xfrm>
          <a:prstGeom prst="rect">
            <a:avLst/>
          </a:prstGeom>
          <a:noFill/>
        </p:spPr>
        <p:txBody>
          <a:bodyPr wrap="square" lIns="0" rIns="0" tIns="0" bIns="0" anchor="t">
            <a:spAutoFit/>
          </a:bodyPr>
          <a:lstStyle/>
          <a:p>
            <a:pPr algn="ctr">
              <a:lnSpc>
                <a:spcPct val="100000"/>
              </a:lnSpc>
              <a:spcAft>
                <a:spcPts val="0"/>
              </a:spcAft>
            </a:pPr>
            <a:r>
              <a:rPr sz="1350" b="1" i="0">
                <a:solidFill>
                  <a:srgbClr val="1A1614"/>
                </a:solidFill>
                <a:latin typeface="Calibri"/>
              </a:rPr>
              <a:t>Nonsubstitutable</a:t>
            </a:r>
          </a:p>
        </p:txBody>
      </p:sp>
      <p:sp>
        <p:nvSpPr>
          <p:cNvPr id="29" name="TextBox 28"/>
          <p:cNvSpPr txBox="1"/>
          <p:nvPr/>
        </p:nvSpPr>
        <p:spPr>
          <a:xfrm>
            <a:off x="9102623" y="3346704"/>
            <a:ext cx="2320975" cy="420624"/>
          </a:xfrm>
          <a:prstGeom prst="rect">
            <a:avLst/>
          </a:prstGeom>
          <a:noFill/>
        </p:spPr>
        <p:txBody>
          <a:bodyPr wrap="square" lIns="0" rIns="0" tIns="0" bIns="0" anchor="t">
            <a:spAutoFit/>
          </a:bodyPr>
          <a:lstStyle/>
          <a:p>
            <a:pPr algn="ctr">
              <a:lnSpc>
                <a:spcPct val="110000"/>
              </a:lnSpc>
              <a:spcAft>
                <a:spcPts val="0"/>
              </a:spcAft>
            </a:pPr>
            <a:r>
              <a:rPr sz="1100" b="0" i="1">
                <a:solidFill>
                  <a:srgbClr val="DA291C"/>
                </a:solidFill>
                <a:latin typeface="Calibri"/>
              </a:rPr>
              <a:t>Tidak ada penggantinya?</a:t>
            </a:r>
          </a:p>
        </p:txBody>
      </p:sp>
      <p:sp>
        <p:nvSpPr>
          <p:cNvPr id="30" name="TextBox 29"/>
          <p:cNvSpPr txBox="1"/>
          <p:nvPr/>
        </p:nvSpPr>
        <p:spPr>
          <a:xfrm>
            <a:off x="9175775" y="3840480"/>
            <a:ext cx="2174671" cy="1207008"/>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Pesaing bisa saja tidak meniru, tapi menemukan cara lain dengan hasil sama. Keunggulan otomasi bisa dibatalkan pesaing yang memakai tenaga kerja murah di luar negeri.</a:t>
            </a:r>
          </a:p>
        </p:txBody>
      </p:sp>
      <p:sp>
        <p:nvSpPr>
          <p:cNvPr id="31" name="Rectangle 30"/>
          <p:cNvSpPr/>
          <p:nvPr/>
        </p:nvSpPr>
        <p:spPr>
          <a:xfrm>
            <a:off x="658368" y="5431536"/>
            <a:ext cx="525459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32688" y="5568696"/>
            <a:ext cx="468767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DA291C"/>
                </a:solidFill>
                <a:latin typeface="Calibri"/>
              </a:rPr>
              <a:t>V + R  →  </a:t>
            </a:r>
            <a:r>
              <a:rPr sz="1200" b="0">
                <a:solidFill>
                  <a:srgbClr val="1A1614"/>
                </a:solidFill>
                <a:latin typeface="Calibri"/>
              </a:rPr>
              <a:t>apakah resource bisa MENCIPTAKAN keunggulan bersaing.</a:t>
            </a:r>
          </a:p>
        </p:txBody>
      </p:sp>
      <p:sp>
        <p:nvSpPr>
          <p:cNvPr id="34" name="Rectangle 33"/>
          <p:cNvSpPr/>
          <p:nvPr/>
        </p:nvSpPr>
        <p:spPr>
          <a:xfrm>
            <a:off x="6278727" y="5431536"/>
            <a:ext cx="5254599" cy="69494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278727"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53047" y="5568696"/>
            <a:ext cx="468767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FF8A7A"/>
                </a:solidFill>
                <a:latin typeface="Calibri"/>
              </a:rPr>
              <a:t>I + N  →  </a:t>
            </a:r>
            <a:r>
              <a:rPr sz="1200" b="0">
                <a:solidFill>
                  <a:srgbClr val="FFFFFF"/>
                </a:solidFill>
                <a:latin typeface="Calibri"/>
              </a:rPr>
              <a:t>apakah keunggulan itu BISA BERTAHAN menghadapi serangan pesaing.</a:t>
            </a:r>
          </a:p>
        </p:txBody>
      </p:sp>
      <p:sp>
        <p:nvSpPr>
          <p:cNvPr id="37" name="Rectangle 36"/>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39" name="TextBox 38"/>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Lanjutan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Resource harus dikelola secara dinamis</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Lolos VRIN hari ini tidak berarti aman selamanya. Resource bisa menyusut nilainya kalau dibiarkan.</a:t>
            </a:r>
          </a:p>
        </p:txBody>
      </p:sp>
      <p:sp>
        <p:nvSpPr>
          <p:cNvPr id="7" name="Rectangle 6"/>
          <p:cNvSpPr/>
          <p:nvPr/>
        </p:nvSpPr>
        <p:spPr>
          <a:xfrm>
            <a:off x="658368" y="1883664"/>
            <a:ext cx="5654978" cy="7863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993392"/>
            <a:ext cx="5142914" cy="237744"/>
          </a:xfrm>
          <a:prstGeom prst="rect">
            <a:avLst/>
          </a:prstGeom>
          <a:noFill/>
        </p:spPr>
        <p:txBody>
          <a:bodyPr wrap="square" lIns="0" rIns="0" tIns="0" bIns="0" anchor="t">
            <a:spAutoFit/>
          </a:bodyPr>
          <a:lstStyle/>
          <a:p>
            <a:pPr algn="l">
              <a:lnSpc>
                <a:spcPct val="100000"/>
              </a:lnSpc>
              <a:spcAft>
                <a:spcPts val="0"/>
              </a:spcAft>
            </a:pPr>
            <a:r>
              <a:rPr sz="1250" b="1" i="0">
                <a:solidFill>
                  <a:srgbClr val="DA291C"/>
                </a:solidFill>
                <a:latin typeface="Calibri"/>
              </a:rPr>
              <a:t>Pesaing menyusul</a:t>
            </a:r>
          </a:p>
        </p:txBody>
      </p:sp>
      <p:sp>
        <p:nvSpPr>
          <p:cNvPr id="10" name="TextBox 9"/>
          <p:cNvSpPr txBox="1"/>
          <p:nvPr/>
        </p:nvSpPr>
        <p:spPr>
          <a:xfrm>
            <a:off x="914400" y="2249424"/>
            <a:ext cx="5142914" cy="365760"/>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Yang awalnya tidak bisa meniru, lama-lama menemukan pengganti yang makin baik.</a:t>
            </a:r>
          </a:p>
        </p:txBody>
      </p:sp>
      <p:sp>
        <p:nvSpPr>
          <p:cNvPr id="11" name="Rectangle 10"/>
          <p:cNvSpPr/>
          <p:nvPr/>
        </p:nvSpPr>
        <p:spPr>
          <a:xfrm>
            <a:off x="658368" y="2761488"/>
            <a:ext cx="5654978" cy="7863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8368" y="2761488"/>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2871216"/>
            <a:ext cx="5142914" cy="237744"/>
          </a:xfrm>
          <a:prstGeom prst="rect">
            <a:avLst/>
          </a:prstGeom>
          <a:noFill/>
        </p:spPr>
        <p:txBody>
          <a:bodyPr wrap="square" lIns="0" rIns="0" tIns="0" bIns="0" anchor="t">
            <a:spAutoFit/>
          </a:bodyPr>
          <a:lstStyle/>
          <a:p>
            <a:pPr algn="l">
              <a:lnSpc>
                <a:spcPct val="100000"/>
              </a:lnSpc>
              <a:spcAft>
                <a:spcPts val="0"/>
              </a:spcAft>
            </a:pPr>
            <a:r>
              <a:rPr sz="1250" b="1" i="0">
                <a:solidFill>
                  <a:srgbClr val="DA291C"/>
                </a:solidFill>
                <a:latin typeface="Calibri"/>
              </a:rPr>
              <a:t>Aset menyusut sendiri</a:t>
            </a:r>
          </a:p>
        </p:txBody>
      </p:sp>
      <p:sp>
        <p:nvSpPr>
          <p:cNvPr id="14" name="TextBox 13"/>
          <p:cNvSpPr txBox="1"/>
          <p:nvPr/>
        </p:nvSpPr>
        <p:spPr>
          <a:xfrm>
            <a:off x="914400" y="3127248"/>
            <a:ext cx="5142914" cy="365760"/>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Resource bisa terdepresiasi seperti aset lain kalau dibiarkan tanpa perhatian.</a:t>
            </a:r>
          </a:p>
        </p:txBody>
      </p:sp>
      <p:sp>
        <p:nvSpPr>
          <p:cNvPr id="15" name="Rectangle 14"/>
          <p:cNvSpPr/>
          <p:nvPr/>
        </p:nvSpPr>
        <p:spPr>
          <a:xfrm>
            <a:off x="658368" y="3639312"/>
            <a:ext cx="5654978" cy="7863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58368" y="3639312"/>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49039"/>
            <a:ext cx="5142914" cy="237744"/>
          </a:xfrm>
          <a:prstGeom prst="rect">
            <a:avLst/>
          </a:prstGeom>
          <a:noFill/>
        </p:spPr>
        <p:txBody>
          <a:bodyPr wrap="square" lIns="0" rIns="0" tIns="0" bIns="0" anchor="t">
            <a:spAutoFit/>
          </a:bodyPr>
          <a:lstStyle/>
          <a:p>
            <a:pPr algn="l">
              <a:lnSpc>
                <a:spcPct val="100000"/>
              </a:lnSpc>
              <a:spcAft>
                <a:spcPts val="0"/>
              </a:spcAft>
            </a:pPr>
            <a:r>
              <a:rPr sz="1250" b="1" i="0">
                <a:solidFill>
                  <a:srgbClr val="DA291C"/>
                </a:solidFill>
                <a:latin typeface="Calibri"/>
              </a:rPr>
              <a:t>Pasar berubah</a:t>
            </a:r>
          </a:p>
        </p:txBody>
      </p:sp>
      <p:sp>
        <p:nvSpPr>
          <p:cNvPr id="18" name="TextBox 17"/>
          <p:cNvSpPr txBox="1"/>
          <p:nvPr/>
        </p:nvSpPr>
        <p:spPr>
          <a:xfrm>
            <a:off x="914400" y="4005072"/>
            <a:ext cx="5142914" cy="365760"/>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Perubahan teknologi, selera pelanggan, atau jalur distribusi bisa mengubah aset strategis “dari berlian jadi karat”.</a:t>
            </a:r>
          </a:p>
        </p:txBody>
      </p:sp>
      <p:sp>
        <p:nvSpPr>
          <p:cNvPr id="19" name="Rectangle 18"/>
          <p:cNvSpPr/>
          <p:nvPr/>
        </p:nvSpPr>
        <p:spPr>
          <a:xfrm>
            <a:off x="6679106" y="1883664"/>
            <a:ext cx="4854220" cy="25420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71714" y="2121408"/>
            <a:ext cx="4269004" cy="310896"/>
          </a:xfrm>
          <a:prstGeom prst="rect">
            <a:avLst/>
          </a:prstGeom>
          <a:noFill/>
        </p:spPr>
        <p:txBody>
          <a:bodyPr wrap="square" lIns="0" rIns="0" tIns="0" bIns="0" anchor="t">
            <a:spAutoFit/>
          </a:bodyPr>
          <a:lstStyle/>
          <a:p>
            <a:pPr algn="l">
              <a:lnSpc>
                <a:spcPct val="100000"/>
              </a:lnSpc>
              <a:spcAft>
                <a:spcPts val="0"/>
              </a:spcAft>
            </a:pPr>
            <a:r>
              <a:rPr sz="1700" b="1" i="0">
                <a:solidFill>
                  <a:srgbClr val="FFFFFF"/>
                </a:solidFill>
                <a:latin typeface="Calibri"/>
              </a:rPr>
              <a:t>Dynamic Capability</a:t>
            </a:r>
          </a:p>
        </p:txBody>
      </p:sp>
      <p:sp>
        <p:nvSpPr>
          <p:cNvPr id="21" name="Rectangle 20"/>
          <p:cNvSpPr/>
          <p:nvPr/>
        </p:nvSpPr>
        <p:spPr>
          <a:xfrm>
            <a:off x="6971714" y="2542032"/>
            <a:ext cx="1097280" cy="320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71714" y="2724912"/>
            <a:ext cx="4269004" cy="676656"/>
          </a:xfrm>
          <a:prstGeom prst="rect">
            <a:avLst/>
          </a:prstGeom>
          <a:noFill/>
        </p:spPr>
        <p:txBody>
          <a:bodyPr wrap="square" lIns="0" rIns="0" tIns="0" bIns="0" anchor="t">
            <a:spAutoFit/>
          </a:bodyPr>
          <a:lstStyle/>
          <a:p>
            <a:pPr algn="l">
              <a:lnSpc>
                <a:spcPct val="120000"/>
              </a:lnSpc>
              <a:spcAft>
                <a:spcPts val="0"/>
              </a:spcAft>
            </a:pPr>
            <a:r>
              <a:rPr sz="1250" b="0" i="0">
                <a:solidFill>
                  <a:srgbClr val="FFFFFF"/>
                </a:solidFill>
                <a:latin typeface="Calibri"/>
              </a:rPr>
              <a:t>Kemampuan yang terus berjalan untuk memperbaiki, memperdalam, atau menambah resource dan capability yang sudah ada.</a:t>
            </a:r>
          </a:p>
        </p:txBody>
      </p:sp>
      <p:sp>
        <p:nvSpPr>
          <p:cNvPr id="23" name="TextBox 22"/>
          <p:cNvSpPr txBox="1"/>
          <p:nvPr/>
        </p:nvSpPr>
        <p:spPr>
          <a:xfrm>
            <a:off x="6971714" y="3493008"/>
            <a:ext cx="4269004" cy="822960"/>
          </a:xfrm>
          <a:prstGeom prst="rect">
            <a:avLst/>
          </a:prstGeom>
          <a:noFill/>
        </p:spPr>
        <p:txBody>
          <a:bodyPr wrap="square" lIns="0" rIns="0" tIns="0" bIns="0" anchor="t">
            <a:spAutoFit/>
          </a:bodyPr>
          <a:lstStyle/>
          <a:p>
            <a:pPr algn="l">
              <a:lnSpc>
                <a:spcPct val="118000"/>
              </a:lnSpc>
              <a:spcAft>
                <a:spcPts val="0"/>
              </a:spcAft>
            </a:pPr>
            <a:r>
              <a:rPr sz="1050" b="0" i="0">
                <a:solidFill>
                  <a:srgbClr val="A89F99"/>
                </a:solidFill>
                <a:latin typeface="Calibri"/>
              </a:rPr>
              <a:t>Dua bentuknya:
•  Memperbaiki yang ada sedikit demi sedikit — Toyota terus menyempurnakan mesin hibrida dan Toyota Production System.
•  Menambah yang baru lewat aliansi atau akuisisi — GM bermitra dengan LG dan mendahului Tesla meluncurkan Chevy Bolt EV.</a:t>
            </a:r>
          </a:p>
        </p:txBody>
      </p:sp>
      <p:sp>
        <p:nvSpPr>
          <p:cNvPr id="24" name="Rectangle 23"/>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Inti dynamic capability: </a:t>
            </a:r>
            <a:r>
              <a:rPr sz="1200" b="0">
                <a:solidFill>
                  <a:srgbClr val="1A1614"/>
                </a:solidFill>
                <a:latin typeface="Calibri"/>
              </a:rPr>
              <a:t>ketika kegiatan memperbarui aset dilakukan terus-menerus sampai menjadi rutinitas manajemen, kemampuan memperbarui itu sendiri berubah menjadi sebuah capability. Di titik itulah ia disebut dynamic capability.</a:t>
            </a:r>
          </a:p>
        </p:txBody>
      </p:sp>
      <p:sp>
        <p:nvSpPr>
          <p:cNvPr id="27" name="Rectangle 26"/>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29" name="TextBox 28"/>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4 · Figure 4.3</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Rantai nilai perusahaan</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Setiap bisnis adalah kumpulan aktivitas. Rantai nilai memecah perusahaan menjadi aktivitas-aktivitas itu, supaya biaya dan nilai bisa dilacak satu per satu.</a:t>
            </a:r>
          </a:p>
        </p:txBody>
      </p:sp>
      <p:sp>
        <p:nvSpPr>
          <p:cNvPr id="7" name="TextBox 6"/>
          <p:cNvSpPr txBox="1"/>
          <p:nvPr/>
        </p:nvSpPr>
        <p:spPr>
          <a:xfrm>
            <a:off x="658368" y="2157984"/>
            <a:ext cx="1087495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Primary Activities — aktivitas utama pencipta nilai</a:t>
            </a:r>
          </a:p>
        </p:txBody>
      </p:sp>
      <p:sp>
        <p:nvSpPr>
          <p:cNvPr id="8" name="Rectangle 7"/>
          <p:cNvSpPr/>
          <p:nvPr/>
        </p:nvSpPr>
        <p:spPr>
          <a:xfrm>
            <a:off x="658368" y="2450591"/>
            <a:ext cx="1774484" cy="148132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2450591"/>
            <a:ext cx="1774484"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596896"/>
            <a:ext cx="1481876" cy="493776"/>
          </a:xfrm>
          <a:prstGeom prst="rect">
            <a:avLst/>
          </a:prstGeom>
          <a:noFill/>
        </p:spPr>
        <p:txBody>
          <a:bodyPr wrap="square" lIns="0" rIns="0" tIns="0" bIns="0" anchor="t">
            <a:spAutoFit/>
          </a:bodyPr>
          <a:lstStyle/>
          <a:p>
            <a:pPr algn="l">
              <a:lnSpc>
                <a:spcPct val="106000"/>
              </a:lnSpc>
              <a:spcAft>
                <a:spcPts val="0"/>
              </a:spcAft>
            </a:pPr>
            <a:r>
              <a:rPr sz="1200" b="1" i="0">
                <a:solidFill>
                  <a:srgbClr val="1A1614"/>
                </a:solidFill>
                <a:latin typeface="Calibri"/>
              </a:rPr>
              <a:t>Supply Chain
Management</a:t>
            </a:r>
          </a:p>
        </p:txBody>
      </p:sp>
      <p:sp>
        <p:nvSpPr>
          <p:cNvPr id="11" name="TextBox 10"/>
          <p:cNvSpPr txBox="1"/>
          <p:nvPr/>
        </p:nvSpPr>
        <p:spPr>
          <a:xfrm>
            <a:off x="804672" y="3145536"/>
            <a:ext cx="1481876" cy="713232"/>
          </a:xfrm>
          <a:prstGeom prst="rect">
            <a:avLst/>
          </a:prstGeom>
          <a:noFill/>
        </p:spPr>
        <p:txBody>
          <a:bodyPr wrap="square" lIns="0" rIns="0" tIns="0" bIns="0" anchor="t">
            <a:spAutoFit/>
          </a:bodyPr>
          <a:lstStyle/>
          <a:p>
            <a:pPr algn="l">
              <a:lnSpc>
                <a:spcPct val="112000"/>
              </a:lnSpc>
              <a:spcAft>
                <a:spcPts val="0"/>
              </a:spcAft>
            </a:pPr>
            <a:r>
              <a:rPr sz="1000" b="0" i="0">
                <a:solidFill>
                  <a:srgbClr val="4A433F"/>
                </a:solidFill>
                <a:latin typeface="Calibri"/>
              </a:rPr>
              <a:t>Membeli, menerima, menyimpan, dan menyalurkan input</a:t>
            </a:r>
          </a:p>
        </p:txBody>
      </p:sp>
      <p:sp>
        <p:nvSpPr>
          <p:cNvPr id="12" name="Rectangle 11"/>
          <p:cNvSpPr/>
          <p:nvPr/>
        </p:nvSpPr>
        <p:spPr>
          <a:xfrm>
            <a:off x="2579156" y="2450591"/>
            <a:ext cx="1774484" cy="148132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579156" y="2450591"/>
            <a:ext cx="1774484"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725460" y="2596896"/>
            <a:ext cx="1481876" cy="493776"/>
          </a:xfrm>
          <a:prstGeom prst="rect">
            <a:avLst/>
          </a:prstGeom>
          <a:noFill/>
        </p:spPr>
        <p:txBody>
          <a:bodyPr wrap="square" lIns="0" rIns="0" tIns="0" bIns="0" anchor="t">
            <a:spAutoFit/>
          </a:bodyPr>
          <a:lstStyle/>
          <a:p>
            <a:pPr algn="l">
              <a:lnSpc>
                <a:spcPct val="106000"/>
              </a:lnSpc>
              <a:spcAft>
                <a:spcPts val="0"/>
              </a:spcAft>
            </a:pPr>
            <a:r>
              <a:rPr sz="1200" b="1" i="0">
                <a:solidFill>
                  <a:srgbClr val="1A1614"/>
                </a:solidFill>
                <a:latin typeface="Calibri"/>
              </a:rPr>
              <a:t>Operations</a:t>
            </a:r>
          </a:p>
        </p:txBody>
      </p:sp>
      <p:sp>
        <p:nvSpPr>
          <p:cNvPr id="15" name="TextBox 14"/>
          <p:cNvSpPr txBox="1"/>
          <p:nvPr/>
        </p:nvSpPr>
        <p:spPr>
          <a:xfrm>
            <a:off x="2725460" y="3145536"/>
            <a:ext cx="1481876" cy="713232"/>
          </a:xfrm>
          <a:prstGeom prst="rect">
            <a:avLst/>
          </a:prstGeom>
          <a:noFill/>
        </p:spPr>
        <p:txBody>
          <a:bodyPr wrap="square" lIns="0" rIns="0" tIns="0" bIns="0" anchor="t">
            <a:spAutoFit/>
          </a:bodyPr>
          <a:lstStyle/>
          <a:p>
            <a:pPr algn="l">
              <a:lnSpc>
                <a:spcPct val="112000"/>
              </a:lnSpc>
              <a:spcAft>
                <a:spcPts val="0"/>
              </a:spcAft>
            </a:pPr>
            <a:r>
              <a:rPr sz="1000" b="0" i="0">
                <a:solidFill>
                  <a:srgbClr val="4A433F"/>
                </a:solidFill>
                <a:latin typeface="Calibri"/>
              </a:rPr>
              <a:t>Mengubah input jadi produk jadi</a:t>
            </a:r>
          </a:p>
        </p:txBody>
      </p:sp>
      <p:sp>
        <p:nvSpPr>
          <p:cNvPr id="16" name="Rectangle 15"/>
          <p:cNvSpPr/>
          <p:nvPr/>
        </p:nvSpPr>
        <p:spPr>
          <a:xfrm>
            <a:off x="4499945" y="2450591"/>
            <a:ext cx="1774484" cy="148132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499945" y="2450591"/>
            <a:ext cx="1774484"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6249" y="2596896"/>
            <a:ext cx="1481876" cy="493776"/>
          </a:xfrm>
          <a:prstGeom prst="rect">
            <a:avLst/>
          </a:prstGeom>
          <a:noFill/>
        </p:spPr>
        <p:txBody>
          <a:bodyPr wrap="square" lIns="0" rIns="0" tIns="0" bIns="0" anchor="t">
            <a:spAutoFit/>
          </a:bodyPr>
          <a:lstStyle/>
          <a:p>
            <a:pPr algn="l">
              <a:lnSpc>
                <a:spcPct val="106000"/>
              </a:lnSpc>
              <a:spcAft>
                <a:spcPts val="0"/>
              </a:spcAft>
            </a:pPr>
            <a:r>
              <a:rPr sz="1200" b="1" i="0">
                <a:solidFill>
                  <a:srgbClr val="1A1614"/>
                </a:solidFill>
                <a:latin typeface="Calibri"/>
              </a:rPr>
              <a:t>Distribution</a:t>
            </a:r>
          </a:p>
        </p:txBody>
      </p:sp>
      <p:sp>
        <p:nvSpPr>
          <p:cNvPr id="19" name="TextBox 18"/>
          <p:cNvSpPr txBox="1"/>
          <p:nvPr/>
        </p:nvSpPr>
        <p:spPr>
          <a:xfrm>
            <a:off x="4646249" y="3145536"/>
            <a:ext cx="1481876" cy="713232"/>
          </a:xfrm>
          <a:prstGeom prst="rect">
            <a:avLst/>
          </a:prstGeom>
          <a:noFill/>
        </p:spPr>
        <p:txBody>
          <a:bodyPr wrap="square" lIns="0" rIns="0" tIns="0" bIns="0" anchor="t">
            <a:spAutoFit/>
          </a:bodyPr>
          <a:lstStyle/>
          <a:p>
            <a:pPr algn="l">
              <a:lnSpc>
                <a:spcPct val="112000"/>
              </a:lnSpc>
              <a:spcAft>
                <a:spcPts val="0"/>
              </a:spcAft>
            </a:pPr>
            <a:r>
              <a:rPr sz="1000" b="0" i="0">
                <a:solidFill>
                  <a:srgbClr val="4A433F"/>
                </a:solidFill>
                <a:latin typeface="Calibri"/>
              </a:rPr>
              <a:t>Menyimpan dan mengirim ke pembeli</a:t>
            </a:r>
          </a:p>
        </p:txBody>
      </p:sp>
      <p:sp>
        <p:nvSpPr>
          <p:cNvPr id="20" name="Rectangle 19"/>
          <p:cNvSpPr/>
          <p:nvPr/>
        </p:nvSpPr>
        <p:spPr>
          <a:xfrm>
            <a:off x="6420733" y="2450591"/>
            <a:ext cx="1774484" cy="148132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20733" y="2450591"/>
            <a:ext cx="1774484"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67037" y="2596896"/>
            <a:ext cx="1481876" cy="493776"/>
          </a:xfrm>
          <a:prstGeom prst="rect">
            <a:avLst/>
          </a:prstGeom>
          <a:noFill/>
        </p:spPr>
        <p:txBody>
          <a:bodyPr wrap="square" lIns="0" rIns="0" tIns="0" bIns="0" anchor="t">
            <a:spAutoFit/>
          </a:bodyPr>
          <a:lstStyle/>
          <a:p>
            <a:pPr algn="l">
              <a:lnSpc>
                <a:spcPct val="106000"/>
              </a:lnSpc>
              <a:spcAft>
                <a:spcPts val="0"/>
              </a:spcAft>
            </a:pPr>
            <a:r>
              <a:rPr sz="1200" b="1" i="0">
                <a:solidFill>
                  <a:srgbClr val="1A1614"/>
                </a:solidFill>
                <a:latin typeface="Calibri"/>
              </a:rPr>
              <a:t>Sales &amp;
Marketing</a:t>
            </a:r>
          </a:p>
        </p:txBody>
      </p:sp>
      <p:sp>
        <p:nvSpPr>
          <p:cNvPr id="23" name="TextBox 22"/>
          <p:cNvSpPr txBox="1"/>
          <p:nvPr/>
        </p:nvSpPr>
        <p:spPr>
          <a:xfrm>
            <a:off x="6567037" y="3145536"/>
            <a:ext cx="1481876" cy="713232"/>
          </a:xfrm>
          <a:prstGeom prst="rect">
            <a:avLst/>
          </a:prstGeom>
          <a:noFill/>
        </p:spPr>
        <p:txBody>
          <a:bodyPr wrap="square" lIns="0" rIns="0" tIns="0" bIns="0" anchor="t">
            <a:spAutoFit/>
          </a:bodyPr>
          <a:lstStyle/>
          <a:p>
            <a:pPr algn="l">
              <a:lnSpc>
                <a:spcPct val="112000"/>
              </a:lnSpc>
              <a:spcAft>
                <a:spcPts val="0"/>
              </a:spcAft>
            </a:pPr>
            <a:r>
              <a:rPr sz="1000" b="0" i="0">
                <a:solidFill>
                  <a:srgbClr val="4A433F"/>
                </a:solidFill>
                <a:latin typeface="Calibri"/>
              </a:rPr>
              <a:t>Tenaga jual, iklan, promosi, dukungan dealer</a:t>
            </a:r>
          </a:p>
        </p:txBody>
      </p:sp>
      <p:sp>
        <p:nvSpPr>
          <p:cNvPr id="24" name="Rectangle 23"/>
          <p:cNvSpPr/>
          <p:nvPr/>
        </p:nvSpPr>
        <p:spPr>
          <a:xfrm>
            <a:off x="8341522" y="2450591"/>
            <a:ext cx="1774484" cy="148132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341522" y="2450591"/>
            <a:ext cx="1774484"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87826" y="2596896"/>
            <a:ext cx="1481876" cy="493776"/>
          </a:xfrm>
          <a:prstGeom prst="rect">
            <a:avLst/>
          </a:prstGeom>
          <a:noFill/>
        </p:spPr>
        <p:txBody>
          <a:bodyPr wrap="square" lIns="0" rIns="0" tIns="0" bIns="0" anchor="t">
            <a:spAutoFit/>
          </a:bodyPr>
          <a:lstStyle/>
          <a:p>
            <a:pPr algn="l">
              <a:lnSpc>
                <a:spcPct val="106000"/>
              </a:lnSpc>
              <a:spcAft>
                <a:spcPts val="0"/>
              </a:spcAft>
            </a:pPr>
            <a:r>
              <a:rPr sz="1200" b="1" i="0">
                <a:solidFill>
                  <a:srgbClr val="1A1614"/>
                </a:solidFill>
                <a:latin typeface="Calibri"/>
              </a:rPr>
              <a:t>Service</a:t>
            </a:r>
          </a:p>
        </p:txBody>
      </p:sp>
      <p:sp>
        <p:nvSpPr>
          <p:cNvPr id="27" name="TextBox 26"/>
          <p:cNvSpPr txBox="1"/>
          <p:nvPr/>
        </p:nvSpPr>
        <p:spPr>
          <a:xfrm>
            <a:off x="8487826" y="3145536"/>
            <a:ext cx="1481876" cy="713232"/>
          </a:xfrm>
          <a:prstGeom prst="rect">
            <a:avLst/>
          </a:prstGeom>
          <a:noFill/>
        </p:spPr>
        <p:txBody>
          <a:bodyPr wrap="square" lIns="0" rIns="0" tIns="0" bIns="0" anchor="t">
            <a:spAutoFit/>
          </a:bodyPr>
          <a:lstStyle/>
          <a:p>
            <a:pPr algn="l">
              <a:lnSpc>
                <a:spcPct val="112000"/>
              </a:lnSpc>
              <a:spcAft>
                <a:spcPts val="0"/>
              </a:spcAft>
            </a:pPr>
            <a:r>
              <a:rPr sz="1000" b="0" i="0">
                <a:solidFill>
                  <a:srgbClr val="4A433F"/>
                </a:solidFill>
                <a:latin typeface="Calibri"/>
              </a:rPr>
              <a:t>Pemasangan, perbaikan, suku cadang, layanan pelanggan</a:t>
            </a:r>
          </a:p>
        </p:txBody>
      </p:sp>
      <p:sp>
        <p:nvSpPr>
          <p:cNvPr id="28" name="Rectangle 27"/>
          <p:cNvSpPr/>
          <p:nvPr/>
        </p:nvSpPr>
        <p:spPr>
          <a:xfrm>
            <a:off x="10262311" y="2450591"/>
            <a:ext cx="1417320" cy="1481328"/>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390327" y="2816352"/>
            <a:ext cx="1161288" cy="548640"/>
          </a:xfrm>
          <a:prstGeom prst="rect">
            <a:avLst/>
          </a:prstGeom>
          <a:noFill/>
        </p:spPr>
        <p:txBody>
          <a:bodyPr wrap="square" lIns="0" rIns="0" tIns="0" bIns="0" anchor="t">
            <a:spAutoFit/>
          </a:bodyPr>
          <a:lstStyle/>
          <a:p>
            <a:pPr algn="ctr">
              <a:lnSpc>
                <a:spcPct val="106000"/>
              </a:lnSpc>
              <a:spcAft>
                <a:spcPts val="0"/>
              </a:spcAft>
            </a:pPr>
            <a:r>
              <a:rPr sz="1300" b="1" i="0">
                <a:solidFill>
                  <a:srgbClr val="FFFFFF"/>
                </a:solidFill>
                <a:latin typeface="Calibri"/>
              </a:rPr>
              <a:t>Profit
Margin</a:t>
            </a:r>
          </a:p>
        </p:txBody>
      </p:sp>
      <p:sp>
        <p:nvSpPr>
          <p:cNvPr id="30" name="TextBox 29"/>
          <p:cNvSpPr txBox="1"/>
          <p:nvPr/>
        </p:nvSpPr>
        <p:spPr>
          <a:xfrm>
            <a:off x="10390327" y="3456432"/>
            <a:ext cx="1161288" cy="274320"/>
          </a:xfrm>
          <a:prstGeom prst="rect">
            <a:avLst/>
          </a:prstGeom>
          <a:noFill/>
        </p:spPr>
        <p:txBody>
          <a:bodyPr wrap="square" lIns="0" rIns="0" tIns="0" bIns="0" anchor="t">
            <a:spAutoFit/>
          </a:bodyPr>
          <a:lstStyle/>
          <a:p>
            <a:pPr algn="ctr">
              <a:lnSpc>
                <a:spcPct val="100000"/>
              </a:lnSpc>
              <a:spcAft>
                <a:spcPts val="0"/>
              </a:spcAft>
            </a:pPr>
            <a:r>
              <a:rPr sz="1300" b="1" i="0">
                <a:solidFill>
                  <a:srgbClr val="FF8A7A"/>
                </a:solidFill>
                <a:latin typeface="Georgia"/>
              </a:rPr>
              <a:t>P − C</a:t>
            </a:r>
          </a:p>
        </p:txBody>
      </p:sp>
      <p:sp>
        <p:nvSpPr>
          <p:cNvPr id="31" name="TextBox 30"/>
          <p:cNvSpPr txBox="1"/>
          <p:nvPr/>
        </p:nvSpPr>
        <p:spPr>
          <a:xfrm>
            <a:off x="658368" y="4133087"/>
            <a:ext cx="1087495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1A1614"/>
                </a:solidFill>
                <a:latin typeface="Calibri"/>
              </a:rPr>
              <a:t>Support Activities — aktivitas pendukung</a:t>
            </a:r>
          </a:p>
        </p:txBody>
      </p:sp>
      <p:sp>
        <p:nvSpPr>
          <p:cNvPr id="32" name="Rectangle 31"/>
          <p:cNvSpPr/>
          <p:nvPr/>
        </p:nvSpPr>
        <p:spPr>
          <a:xfrm>
            <a:off x="658368" y="4425696"/>
            <a:ext cx="3490874" cy="96926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425696"/>
            <a:ext cx="45720" cy="96926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96112" y="4535424"/>
            <a:ext cx="3033674" cy="420624"/>
          </a:xfrm>
          <a:prstGeom prst="rect">
            <a:avLst/>
          </a:prstGeom>
          <a:noFill/>
        </p:spPr>
        <p:txBody>
          <a:bodyPr wrap="square" lIns="0" rIns="0" tIns="0" bIns="0" anchor="t">
            <a:spAutoFit/>
          </a:bodyPr>
          <a:lstStyle/>
          <a:p>
            <a:pPr algn="l">
              <a:lnSpc>
                <a:spcPct val="104000"/>
              </a:lnSpc>
              <a:spcAft>
                <a:spcPts val="0"/>
              </a:spcAft>
            </a:pPr>
            <a:r>
              <a:rPr sz="1150" b="1" i="0">
                <a:solidFill>
                  <a:srgbClr val="1A1614"/>
                </a:solidFill>
                <a:latin typeface="Calibri"/>
              </a:rPr>
              <a:t>Product R&amp;D, Technology &amp;
Systems Development</a:t>
            </a:r>
          </a:p>
        </p:txBody>
      </p:sp>
      <p:sp>
        <p:nvSpPr>
          <p:cNvPr id="35" name="TextBox 34"/>
          <p:cNvSpPr txBox="1"/>
          <p:nvPr/>
        </p:nvSpPr>
        <p:spPr>
          <a:xfrm>
            <a:off x="896112" y="4992623"/>
            <a:ext cx="3033674" cy="310896"/>
          </a:xfrm>
          <a:prstGeom prst="rect">
            <a:avLst/>
          </a:prstGeom>
          <a:noFill/>
        </p:spPr>
        <p:txBody>
          <a:bodyPr wrap="square" lIns="0" rIns="0" tIns="0" bIns="0" anchor="t">
            <a:spAutoFit/>
          </a:bodyPr>
          <a:lstStyle/>
          <a:p>
            <a:pPr algn="l">
              <a:lnSpc>
                <a:spcPct val="112000"/>
              </a:lnSpc>
              <a:spcAft>
                <a:spcPts val="0"/>
              </a:spcAft>
            </a:pPr>
            <a:r>
              <a:rPr sz="1050" b="0" i="0">
                <a:solidFill>
                  <a:srgbClr val="4A433F"/>
                </a:solidFill>
                <a:latin typeface="Calibri"/>
              </a:rPr>
              <a:t>Riset produk dan proses, desain, otomasi</a:t>
            </a:r>
          </a:p>
        </p:txBody>
      </p:sp>
      <p:sp>
        <p:nvSpPr>
          <p:cNvPr id="36" name="Rectangle 35"/>
          <p:cNvSpPr/>
          <p:nvPr/>
        </p:nvSpPr>
        <p:spPr>
          <a:xfrm>
            <a:off x="4350410" y="4425696"/>
            <a:ext cx="3490874" cy="96926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350410" y="4425696"/>
            <a:ext cx="45720" cy="96926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88154" y="4535424"/>
            <a:ext cx="3033674" cy="420624"/>
          </a:xfrm>
          <a:prstGeom prst="rect">
            <a:avLst/>
          </a:prstGeom>
          <a:noFill/>
        </p:spPr>
        <p:txBody>
          <a:bodyPr wrap="square" lIns="0" rIns="0" tIns="0" bIns="0" anchor="t">
            <a:spAutoFit/>
          </a:bodyPr>
          <a:lstStyle/>
          <a:p>
            <a:pPr algn="l">
              <a:lnSpc>
                <a:spcPct val="104000"/>
              </a:lnSpc>
              <a:spcAft>
                <a:spcPts val="0"/>
              </a:spcAft>
            </a:pPr>
            <a:r>
              <a:rPr sz="1150" b="1" i="0">
                <a:solidFill>
                  <a:srgbClr val="1A1614"/>
                </a:solidFill>
                <a:latin typeface="Calibri"/>
              </a:rPr>
              <a:t>Human Resource Management</a:t>
            </a:r>
          </a:p>
        </p:txBody>
      </p:sp>
      <p:sp>
        <p:nvSpPr>
          <p:cNvPr id="39" name="TextBox 38"/>
          <p:cNvSpPr txBox="1"/>
          <p:nvPr/>
        </p:nvSpPr>
        <p:spPr>
          <a:xfrm>
            <a:off x="4588154" y="4992623"/>
            <a:ext cx="3033674" cy="310896"/>
          </a:xfrm>
          <a:prstGeom prst="rect">
            <a:avLst/>
          </a:prstGeom>
          <a:noFill/>
        </p:spPr>
        <p:txBody>
          <a:bodyPr wrap="square" lIns="0" rIns="0" tIns="0" bIns="0" anchor="t">
            <a:spAutoFit/>
          </a:bodyPr>
          <a:lstStyle/>
          <a:p>
            <a:pPr algn="l">
              <a:lnSpc>
                <a:spcPct val="112000"/>
              </a:lnSpc>
              <a:spcAft>
                <a:spcPts val="0"/>
              </a:spcAft>
            </a:pPr>
            <a:r>
              <a:rPr sz="1050" b="0" i="0">
                <a:solidFill>
                  <a:srgbClr val="4A433F"/>
                </a:solidFill>
                <a:latin typeface="Calibri"/>
              </a:rPr>
              <a:t>Rekrutmen, pelatihan, kompensasi</a:t>
            </a:r>
          </a:p>
        </p:txBody>
      </p:sp>
      <p:sp>
        <p:nvSpPr>
          <p:cNvPr id="40" name="Rectangle 39"/>
          <p:cNvSpPr/>
          <p:nvPr/>
        </p:nvSpPr>
        <p:spPr>
          <a:xfrm>
            <a:off x="8042452" y="4425696"/>
            <a:ext cx="3490874" cy="96926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8042452" y="4425696"/>
            <a:ext cx="45720" cy="96926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280196" y="4535424"/>
            <a:ext cx="3033674" cy="420624"/>
          </a:xfrm>
          <a:prstGeom prst="rect">
            <a:avLst/>
          </a:prstGeom>
          <a:noFill/>
        </p:spPr>
        <p:txBody>
          <a:bodyPr wrap="square" lIns="0" rIns="0" tIns="0" bIns="0" anchor="t">
            <a:spAutoFit/>
          </a:bodyPr>
          <a:lstStyle/>
          <a:p>
            <a:pPr algn="l">
              <a:lnSpc>
                <a:spcPct val="104000"/>
              </a:lnSpc>
              <a:spcAft>
                <a:spcPts val="0"/>
              </a:spcAft>
            </a:pPr>
            <a:r>
              <a:rPr sz="1150" b="1" i="0">
                <a:solidFill>
                  <a:srgbClr val="1A1614"/>
                </a:solidFill>
                <a:latin typeface="Calibri"/>
              </a:rPr>
              <a:t>General Administration</a:t>
            </a:r>
          </a:p>
        </p:txBody>
      </p:sp>
      <p:sp>
        <p:nvSpPr>
          <p:cNvPr id="43" name="TextBox 42"/>
          <p:cNvSpPr txBox="1"/>
          <p:nvPr/>
        </p:nvSpPr>
        <p:spPr>
          <a:xfrm>
            <a:off x="8280196" y="4992623"/>
            <a:ext cx="3033674" cy="310896"/>
          </a:xfrm>
          <a:prstGeom prst="rect">
            <a:avLst/>
          </a:prstGeom>
          <a:noFill/>
        </p:spPr>
        <p:txBody>
          <a:bodyPr wrap="square" lIns="0" rIns="0" tIns="0" bIns="0" anchor="t">
            <a:spAutoFit/>
          </a:bodyPr>
          <a:lstStyle/>
          <a:p>
            <a:pPr algn="l">
              <a:lnSpc>
                <a:spcPct val="112000"/>
              </a:lnSpc>
              <a:spcAft>
                <a:spcPts val="0"/>
              </a:spcAft>
            </a:pPr>
            <a:r>
              <a:rPr sz="1050" b="0" i="0">
                <a:solidFill>
                  <a:srgbClr val="4A433F"/>
                </a:solidFill>
                <a:latin typeface="Calibri"/>
              </a:rPr>
              <a:t>Akuntansi, keuangan, hukum, sistem informasi</a:t>
            </a:r>
          </a:p>
        </p:txBody>
      </p:sp>
      <p:sp>
        <p:nvSpPr>
          <p:cNvPr id="44" name="Rectangle 43"/>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Tiga selisih yang harus dibedakan. </a:t>
            </a:r>
            <a:r>
              <a:rPr sz="1200" b="0">
                <a:solidFill>
                  <a:srgbClr val="1A1614"/>
                </a:solidFill>
                <a:latin typeface="Calibri"/>
              </a:rPr>
              <a:t>V − P = nilai yang diterima pelanggan (customer value proposition). P − C = margin laba perusahaan. V − C = </a:t>
            </a:r>
            <a:r>
              <a:rPr sz="1200" b="1">
                <a:solidFill>
                  <a:srgbClr val="1A1614"/>
                </a:solidFill>
                <a:latin typeface="Calibri"/>
              </a:rPr>
              <a:t>Total Economic Value</a:t>
            </a:r>
            <a:r>
              <a:rPr sz="1200" b="0">
                <a:solidFill>
                  <a:srgbClr val="1A1614"/>
                </a:solidFill>
                <a:latin typeface="Calibri"/>
              </a:rPr>
              <a:t>, yaitu seluruh nilai ekonomi yang diciptakan perusahaan.</a:t>
            </a:r>
          </a:p>
        </p:txBody>
      </p:sp>
      <p:sp>
        <p:nvSpPr>
          <p:cNvPr id="47" name="Rectangle 46"/>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9" name="TextBox 48"/>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4 · Figure 4.4</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Rantai nilai sistem dan benchmarking</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Biaya dan mutu yang sampai ke pembeli tidak hanya ditentukan perusahaan sendiri, tapi oleh seluruh rantai dari pemasok sampai penjual akhir.</a:t>
            </a:r>
          </a:p>
        </p:txBody>
      </p:sp>
      <p:sp>
        <p:nvSpPr>
          <p:cNvPr id="7" name="Rectangle 6"/>
          <p:cNvSpPr/>
          <p:nvPr/>
        </p:nvSpPr>
        <p:spPr>
          <a:xfrm>
            <a:off x="658368" y="2157984"/>
            <a:ext cx="2389555" cy="10058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2157984"/>
            <a:ext cx="2389555" cy="45720"/>
          </a:xfrm>
          <a:prstGeom prst="rect">
            <a:avLst/>
          </a:prstGeom>
          <a:solidFill>
            <a:srgbClr val="8C83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322576"/>
            <a:ext cx="2096947" cy="457200"/>
          </a:xfrm>
          <a:prstGeom prst="rect">
            <a:avLst/>
          </a:prstGeom>
          <a:noFill/>
        </p:spPr>
        <p:txBody>
          <a:bodyPr wrap="square" lIns="0" rIns="0" tIns="0" bIns="0" anchor="t">
            <a:spAutoFit/>
          </a:bodyPr>
          <a:lstStyle/>
          <a:p>
            <a:pPr algn="ctr">
              <a:lnSpc>
                <a:spcPct val="106000"/>
              </a:lnSpc>
              <a:spcAft>
                <a:spcPts val="0"/>
              </a:spcAft>
            </a:pPr>
            <a:r>
              <a:rPr sz="1250" b="1" i="0">
                <a:solidFill>
                  <a:srgbClr val="1A1614"/>
                </a:solidFill>
                <a:latin typeface="Calibri"/>
              </a:rPr>
              <a:t>Rantai nilai
PEMASOK</a:t>
            </a:r>
          </a:p>
        </p:txBody>
      </p:sp>
      <p:sp>
        <p:nvSpPr>
          <p:cNvPr id="10" name="TextBox 9"/>
          <p:cNvSpPr txBox="1"/>
          <p:nvPr/>
        </p:nvSpPr>
        <p:spPr>
          <a:xfrm>
            <a:off x="804672" y="2816352"/>
            <a:ext cx="2096947" cy="292608"/>
          </a:xfrm>
          <a:prstGeom prst="rect">
            <a:avLst/>
          </a:prstGeom>
          <a:noFill/>
        </p:spPr>
        <p:txBody>
          <a:bodyPr wrap="square" lIns="0" rIns="0" tIns="0" bIns="0" anchor="t">
            <a:spAutoFit/>
          </a:bodyPr>
          <a:lstStyle/>
          <a:p>
            <a:pPr algn="ctr">
              <a:lnSpc>
                <a:spcPct val="108000"/>
              </a:lnSpc>
              <a:spcAft>
                <a:spcPts val="0"/>
              </a:spcAft>
            </a:pPr>
            <a:r>
              <a:rPr sz="1000" b="0" i="0">
                <a:solidFill>
                  <a:srgbClr val="4A433F"/>
                </a:solidFill>
                <a:latin typeface="Calibri"/>
              </a:rPr>
              <a:t>Biaya dan mutu input yang masuk</a:t>
            </a:r>
          </a:p>
        </p:txBody>
      </p:sp>
      <p:sp>
        <p:nvSpPr>
          <p:cNvPr id="11" name="TextBox 10"/>
          <p:cNvSpPr txBox="1"/>
          <p:nvPr/>
        </p:nvSpPr>
        <p:spPr>
          <a:xfrm>
            <a:off x="3084499" y="2450591"/>
            <a:ext cx="365760" cy="365760"/>
          </a:xfrm>
          <a:prstGeom prst="rect">
            <a:avLst/>
          </a:prstGeom>
          <a:noFill/>
        </p:spPr>
        <p:txBody>
          <a:bodyPr wrap="square" lIns="0" rIns="0" tIns="0" bIns="0" anchor="t">
            <a:spAutoFit/>
          </a:bodyPr>
          <a:lstStyle/>
          <a:p>
            <a:pPr algn="ctr">
              <a:lnSpc>
                <a:spcPct val="100000"/>
              </a:lnSpc>
              <a:spcAft>
                <a:spcPts val="0"/>
              </a:spcAft>
            </a:pPr>
            <a:r>
              <a:rPr sz="2000" b="1" i="0">
                <a:solidFill>
                  <a:srgbClr val="DA291C"/>
                </a:solidFill>
                <a:latin typeface="Calibri"/>
              </a:rPr>
              <a:t>→</a:t>
            </a:r>
          </a:p>
        </p:txBody>
      </p:sp>
      <p:sp>
        <p:nvSpPr>
          <p:cNvPr id="12" name="Rectangle 11"/>
          <p:cNvSpPr/>
          <p:nvPr/>
        </p:nvSpPr>
        <p:spPr>
          <a:xfrm>
            <a:off x="3486835" y="2157984"/>
            <a:ext cx="2389555" cy="1005840"/>
          </a:xfrm>
          <a:prstGeom prst="rect">
            <a:avLst/>
          </a:prstGeom>
          <a:solidFill>
            <a:srgbClr val="FAEC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486835" y="2157984"/>
            <a:ext cx="2389555"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633139" y="2322576"/>
            <a:ext cx="2096947" cy="457200"/>
          </a:xfrm>
          <a:prstGeom prst="rect">
            <a:avLst/>
          </a:prstGeom>
          <a:noFill/>
        </p:spPr>
        <p:txBody>
          <a:bodyPr wrap="square" lIns="0" rIns="0" tIns="0" bIns="0" anchor="t">
            <a:spAutoFit/>
          </a:bodyPr>
          <a:lstStyle/>
          <a:p>
            <a:pPr algn="ctr">
              <a:lnSpc>
                <a:spcPct val="106000"/>
              </a:lnSpc>
              <a:spcAft>
                <a:spcPts val="0"/>
              </a:spcAft>
            </a:pPr>
            <a:r>
              <a:rPr sz="1250" b="1" i="0">
                <a:solidFill>
                  <a:srgbClr val="DA291C"/>
                </a:solidFill>
                <a:latin typeface="Calibri"/>
              </a:rPr>
              <a:t>Rantai nilai
PERUSAHAAN</a:t>
            </a:r>
          </a:p>
        </p:txBody>
      </p:sp>
      <p:sp>
        <p:nvSpPr>
          <p:cNvPr id="15" name="TextBox 14"/>
          <p:cNvSpPr txBox="1"/>
          <p:nvPr/>
        </p:nvSpPr>
        <p:spPr>
          <a:xfrm>
            <a:off x="3633139" y="2816352"/>
            <a:ext cx="2096947" cy="292608"/>
          </a:xfrm>
          <a:prstGeom prst="rect">
            <a:avLst/>
          </a:prstGeom>
          <a:noFill/>
        </p:spPr>
        <p:txBody>
          <a:bodyPr wrap="square" lIns="0" rIns="0" tIns="0" bIns="0" anchor="t">
            <a:spAutoFit/>
          </a:bodyPr>
          <a:lstStyle/>
          <a:p>
            <a:pPr algn="ctr">
              <a:lnSpc>
                <a:spcPct val="108000"/>
              </a:lnSpc>
              <a:spcAft>
                <a:spcPts val="0"/>
              </a:spcAft>
            </a:pPr>
            <a:r>
              <a:rPr sz="1000" b="0" i="0">
                <a:solidFill>
                  <a:srgbClr val="4A433F"/>
                </a:solidFill>
                <a:latin typeface="Calibri"/>
              </a:rPr>
              <a:t>Aktivitas internal sendiri</a:t>
            </a:r>
          </a:p>
        </p:txBody>
      </p:sp>
      <p:sp>
        <p:nvSpPr>
          <p:cNvPr id="16" name="TextBox 15"/>
          <p:cNvSpPr txBox="1"/>
          <p:nvPr/>
        </p:nvSpPr>
        <p:spPr>
          <a:xfrm>
            <a:off x="5912967" y="2450591"/>
            <a:ext cx="365760" cy="365760"/>
          </a:xfrm>
          <a:prstGeom prst="rect">
            <a:avLst/>
          </a:prstGeom>
          <a:noFill/>
        </p:spPr>
        <p:txBody>
          <a:bodyPr wrap="square" lIns="0" rIns="0" tIns="0" bIns="0" anchor="t">
            <a:spAutoFit/>
          </a:bodyPr>
          <a:lstStyle/>
          <a:p>
            <a:pPr algn="ctr">
              <a:lnSpc>
                <a:spcPct val="100000"/>
              </a:lnSpc>
              <a:spcAft>
                <a:spcPts val="0"/>
              </a:spcAft>
            </a:pPr>
            <a:r>
              <a:rPr sz="2000" b="1" i="0">
                <a:solidFill>
                  <a:srgbClr val="DA291C"/>
                </a:solidFill>
                <a:latin typeface="Calibri"/>
              </a:rPr>
              <a:t>→</a:t>
            </a:r>
          </a:p>
        </p:txBody>
      </p:sp>
      <p:sp>
        <p:nvSpPr>
          <p:cNvPr id="17" name="Rectangle 16"/>
          <p:cNvSpPr/>
          <p:nvPr/>
        </p:nvSpPr>
        <p:spPr>
          <a:xfrm>
            <a:off x="6315303" y="2157984"/>
            <a:ext cx="2389555" cy="10058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315303" y="2157984"/>
            <a:ext cx="2389555" cy="45720"/>
          </a:xfrm>
          <a:prstGeom prst="rect">
            <a:avLst/>
          </a:prstGeom>
          <a:solidFill>
            <a:srgbClr val="8C83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61607" y="2322576"/>
            <a:ext cx="2096947" cy="457200"/>
          </a:xfrm>
          <a:prstGeom prst="rect">
            <a:avLst/>
          </a:prstGeom>
          <a:noFill/>
        </p:spPr>
        <p:txBody>
          <a:bodyPr wrap="square" lIns="0" rIns="0" tIns="0" bIns="0" anchor="t">
            <a:spAutoFit/>
          </a:bodyPr>
          <a:lstStyle/>
          <a:p>
            <a:pPr algn="ctr">
              <a:lnSpc>
                <a:spcPct val="106000"/>
              </a:lnSpc>
              <a:spcAft>
                <a:spcPts val="0"/>
              </a:spcAft>
            </a:pPr>
            <a:r>
              <a:rPr sz="1250" b="1" i="0">
                <a:solidFill>
                  <a:srgbClr val="1A1614"/>
                </a:solidFill>
                <a:latin typeface="Calibri"/>
              </a:rPr>
              <a:t>Rantai nilai
MITRA HILIR</a:t>
            </a:r>
          </a:p>
        </p:txBody>
      </p:sp>
      <p:sp>
        <p:nvSpPr>
          <p:cNvPr id="20" name="TextBox 19"/>
          <p:cNvSpPr txBox="1"/>
          <p:nvPr/>
        </p:nvSpPr>
        <p:spPr>
          <a:xfrm>
            <a:off x="6461607" y="2816352"/>
            <a:ext cx="2096947" cy="292608"/>
          </a:xfrm>
          <a:prstGeom prst="rect">
            <a:avLst/>
          </a:prstGeom>
          <a:noFill/>
        </p:spPr>
        <p:txBody>
          <a:bodyPr wrap="square" lIns="0" rIns="0" tIns="0" bIns="0" anchor="t">
            <a:spAutoFit/>
          </a:bodyPr>
          <a:lstStyle/>
          <a:p>
            <a:pPr algn="ctr">
              <a:lnSpc>
                <a:spcPct val="108000"/>
              </a:lnSpc>
              <a:spcAft>
                <a:spcPts val="0"/>
              </a:spcAft>
            </a:pPr>
            <a:r>
              <a:rPr sz="1000" b="0" i="0">
                <a:solidFill>
                  <a:srgbClr val="4A433F"/>
                </a:solidFill>
                <a:latin typeface="Calibri"/>
              </a:rPr>
              <a:t>Distributor, dealer, mitra strategis</a:t>
            </a:r>
          </a:p>
        </p:txBody>
      </p:sp>
      <p:sp>
        <p:nvSpPr>
          <p:cNvPr id="21" name="TextBox 20"/>
          <p:cNvSpPr txBox="1"/>
          <p:nvPr/>
        </p:nvSpPr>
        <p:spPr>
          <a:xfrm>
            <a:off x="8741435" y="2450591"/>
            <a:ext cx="365760" cy="365760"/>
          </a:xfrm>
          <a:prstGeom prst="rect">
            <a:avLst/>
          </a:prstGeom>
          <a:noFill/>
        </p:spPr>
        <p:txBody>
          <a:bodyPr wrap="square" lIns="0" rIns="0" tIns="0" bIns="0" anchor="t">
            <a:spAutoFit/>
          </a:bodyPr>
          <a:lstStyle/>
          <a:p>
            <a:pPr algn="ctr">
              <a:lnSpc>
                <a:spcPct val="100000"/>
              </a:lnSpc>
              <a:spcAft>
                <a:spcPts val="0"/>
              </a:spcAft>
            </a:pPr>
            <a:r>
              <a:rPr sz="2000" b="1" i="0">
                <a:solidFill>
                  <a:srgbClr val="DA291C"/>
                </a:solidFill>
                <a:latin typeface="Calibri"/>
              </a:rPr>
              <a:t>→</a:t>
            </a:r>
          </a:p>
        </p:txBody>
      </p:sp>
      <p:sp>
        <p:nvSpPr>
          <p:cNvPr id="22" name="Rectangle 21"/>
          <p:cNvSpPr/>
          <p:nvPr/>
        </p:nvSpPr>
        <p:spPr>
          <a:xfrm>
            <a:off x="9143771" y="2157984"/>
            <a:ext cx="2389555" cy="10058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143771" y="2157984"/>
            <a:ext cx="2389555"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90075" y="2322576"/>
            <a:ext cx="2096947" cy="457200"/>
          </a:xfrm>
          <a:prstGeom prst="rect">
            <a:avLst/>
          </a:prstGeom>
          <a:noFill/>
        </p:spPr>
        <p:txBody>
          <a:bodyPr wrap="square" lIns="0" rIns="0" tIns="0" bIns="0" anchor="t">
            <a:spAutoFit/>
          </a:bodyPr>
          <a:lstStyle/>
          <a:p>
            <a:pPr algn="ctr">
              <a:lnSpc>
                <a:spcPct val="106000"/>
              </a:lnSpc>
              <a:spcAft>
                <a:spcPts val="0"/>
              </a:spcAft>
            </a:pPr>
            <a:r>
              <a:rPr sz="1250" b="1" i="0">
                <a:solidFill>
                  <a:srgbClr val="1A1614"/>
                </a:solidFill>
                <a:latin typeface="Calibri"/>
              </a:rPr>
              <a:t>PEMBELI /
PENGGUNA AKHIR</a:t>
            </a:r>
          </a:p>
        </p:txBody>
      </p:sp>
      <p:sp>
        <p:nvSpPr>
          <p:cNvPr id="25" name="TextBox 24"/>
          <p:cNvSpPr txBox="1"/>
          <p:nvPr/>
        </p:nvSpPr>
        <p:spPr>
          <a:xfrm>
            <a:off x="9290075" y="2816352"/>
            <a:ext cx="2096947" cy="292608"/>
          </a:xfrm>
          <a:prstGeom prst="rect">
            <a:avLst/>
          </a:prstGeom>
          <a:noFill/>
        </p:spPr>
        <p:txBody>
          <a:bodyPr wrap="square" lIns="0" rIns="0" tIns="0" bIns="0" anchor="t">
            <a:spAutoFit/>
          </a:bodyPr>
          <a:lstStyle/>
          <a:p>
            <a:pPr algn="ctr">
              <a:lnSpc>
                <a:spcPct val="108000"/>
              </a:lnSpc>
              <a:spcAft>
                <a:spcPts val="0"/>
              </a:spcAft>
            </a:pPr>
            <a:r>
              <a:rPr sz="1000" b="0" i="0">
                <a:solidFill>
                  <a:srgbClr val="4A433F"/>
                </a:solidFill>
                <a:latin typeface="Calibri"/>
              </a:rPr>
              <a:t>Nilai yang akhirnya dirasakan</a:t>
            </a:r>
          </a:p>
        </p:txBody>
      </p:sp>
      <p:sp>
        <p:nvSpPr>
          <p:cNvPr id="26" name="Rectangle 25"/>
          <p:cNvSpPr/>
          <p:nvPr/>
        </p:nvSpPr>
        <p:spPr>
          <a:xfrm>
            <a:off x="658368" y="3383280"/>
            <a:ext cx="5254599" cy="219456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58368" y="3383280"/>
            <a:ext cx="5254599" cy="4023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77824" y="3465576"/>
            <a:ext cx="4797399" cy="256032"/>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Benchmarking</a:t>
            </a:r>
          </a:p>
        </p:txBody>
      </p:sp>
      <p:sp>
        <p:nvSpPr>
          <p:cNvPr id="29" name="TextBox 28"/>
          <p:cNvSpPr txBox="1"/>
          <p:nvPr/>
        </p:nvSpPr>
        <p:spPr>
          <a:xfrm>
            <a:off x="877824" y="3913632"/>
            <a:ext cx="4797399" cy="694944"/>
          </a:xfrm>
          <a:prstGeom prst="rect">
            <a:avLst/>
          </a:prstGeom>
          <a:noFill/>
        </p:spPr>
        <p:txBody>
          <a:bodyPr wrap="square" lIns="0" rIns="0" tIns="0" bIns="0" anchor="t">
            <a:spAutoFit/>
          </a:bodyPr>
          <a:lstStyle/>
          <a:p>
            <a:pPr algn="l">
              <a:lnSpc>
                <a:spcPct val="116000"/>
              </a:lnSpc>
              <a:spcAft>
                <a:spcPts val="0"/>
              </a:spcAft>
            </a:pPr>
            <a:r>
              <a:rPr sz="1150" b="0" i="0">
                <a:solidFill>
                  <a:srgbClr val="1A1614"/>
                </a:solidFill>
                <a:latin typeface="Calibri"/>
              </a:rPr>
              <a:t>Membandingkan cara perusahaan lain mengerjakan aktivitas yang sama, lalu menirukan cara terbaiknya. Bisa dengan pesaing di industri yang sama, bisa juga dengan industri lain sama sekali.</a:t>
            </a:r>
          </a:p>
        </p:txBody>
      </p:sp>
      <p:sp>
        <p:nvSpPr>
          <p:cNvPr id="30" name="TextBox 29"/>
          <p:cNvSpPr txBox="1"/>
          <p:nvPr/>
        </p:nvSpPr>
        <p:spPr>
          <a:xfrm>
            <a:off x="877824" y="4663440"/>
            <a:ext cx="4797399" cy="786384"/>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1A1614"/>
                </a:solidFill>
                <a:latin typeface="Calibri"/>
              </a:rPr>
              <a:t/>
            </a:r>
            <a:r>
              <a:rPr sz="1100" b="1">
                <a:solidFill>
                  <a:srgbClr val="DA291C"/>
                </a:solidFill>
                <a:latin typeface="Calibri"/>
              </a:rPr>
              <a:t>Best practice</a:t>
            </a:r>
            <a:r>
              <a:rPr sz="1100" b="0">
                <a:solidFill>
                  <a:srgbClr val="4A433F"/>
                </a:solidFill>
                <a:latin typeface="Calibri"/>
              </a:rPr>
              <a:t> = cara mengerjakan suatu aktivitas yang terbukti konsisten memberi hasil lebih baik dibanding cara lain. Harus sudah dibuktikan minimal oleh satu perusahaan.</a:t>
            </a:r>
          </a:p>
        </p:txBody>
      </p:sp>
      <p:sp>
        <p:nvSpPr>
          <p:cNvPr id="31" name="Rectangle 30"/>
          <p:cNvSpPr/>
          <p:nvPr/>
        </p:nvSpPr>
        <p:spPr>
          <a:xfrm>
            <a:off x="6278727" y="3383280"/>
            <a:ext cx="5254599" cy="219456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78727" y="3383280"/>
            <a:ext cx="5254599" cy="40233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98183" y="3465576"/>
            <a:ext cx="4797399" cy="256032"/>
          </a:xfrm>
          <a:prstGeom prst="rect">
            <a:avLst/>
          </a:prstGeom>
          <a:noFill/>
        </p:spPr>
        <p:txBody>
          <a:bodyPr wrap="square" lIns="0" rIns="0" tIns="0" bIns="0" anchor="t">
            <a:spAutoFit/>
          </a:bodyPr>
          <a:lstStyle/>
          <a:p>
            <a:pPr algn="l">
              <a:lnSpc>
                <a:spcPct val="100000"/>
              </a:lnSpc>
              <a:spcAft>
                <a:spcPts val="0"/>
              </a:spcAft>
            </a:pPr>
            <a:r>
              <a:rPr sz="1300" b="1" i="0">
                <a:solidFill>
                  <a:srgbClr val="FFFFFF"/>
                </a:solidFill>
                <a:latin typeface="Calibri"/>
              </a:rPr>
              <a:t>Tiga contoh yang terkenal</a:t>
            </a:r>
          </a:p>
        </p:txBody>
      </p:sp>
      <p:sp>
        <p:nvSpPr>
          <p:cNvPr id="34" name="TextBox 33"/>
          <p:cNvSpPr txBox="1"/>
          <p:nvPr/>
        </p:nvSpPr>
        <p:spPr>
          <a:xfrm>
            <a:off x="6498183" y="3913632"/>
            <a:ext cx="4797399"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Xerox</a:t>
            </a:r>
          </a:p>
        </p:txBody>
      </p:sp>
      <p:sp>
        <p:nvSpPr>
          <p:cNvPr id="35" name="TextBox 34"/>
          <p:cNvSpPr txBox="1"/>
          <p:nvPr/>
        </p:nvSpPr>
        <p:spPr>
          <a:xfrm>
            <a:off x="6498183" y="4133088"/>
            <a:ext cx="4797399"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Pelopornya. Tidak membatasi diri pada pesaing mesin kantor, tapi ke perusahaan mana pun yang kelas dunia.</a:t>
            </a:r>
          </a:p>
        </p:txBody>
      </p:sp>
      <p:sp>
        <p:nvSpPr>
          <p:cNvPr id="36" name="TextBox 35"/>
          <p:cNvSpPr txBox="1"/>
          <p:nvPr/>
        </p:nvSpPr>
        <p:spPr>
          <a:xfrm>
            <a:off x="6498183" y="4480560"/>
            <a:ext cx="4797399"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Toyota</a:t>
            </a:r>
          </a:p>
        </p:txBody>
      </p:sp>
      <p:sp>
        <p:nvSpPr>
          <p:cNvPr id="37" name="TextBox 36"/>
          <p:cNvSpPr txBox="1"/>
          <p:nvPr/>
        </p:nvSpPr>
        <p:spPr>
          <a:xfrm>
            <a:off x="6498183" y="4700016"/>
            <a:ext cx="4797399"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Ide just-in-time datang dari mengamati cara supermarket Amerika mengisi ulang raknya.</a:t>
            </a:r>
          </a:p>
        </p:txBody>
      </p:sp>
      <p:sp>
        <p:nvSpPr>
          <p:cNvPr id="38" name="TextBox 37"/>
          <p:cNvSpPr txBox="1"/>
          <p:nvPr/>
        </p:nvSpPr>
        <p:spPr>
          <a:xfrm>
            <a:off x="6498183" y="5047488"/>
            <a:ext cx="4797399"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Southwest Airlines</a:t>
            </a:r>
          </a:p>
        </p:txBody>
      </p:sp>
      <p:sp>
        <p:nvSpPr>
          <p:cNvPr id="39" name="TextBox 38"/>
          <p:cNvSpPr txBox="1"/>
          <p:nvPr/>
        </p:nvSpPr>
        <p:spPr>
          <a:xfrm>
            <a:off x="6498183" y="5266944"/>
            <a:ext cx="4797399"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Memangkas waktu parkir pesawat dengan mempelajari kru pit balap mobil.</a:t>
            </a:r>
          </a:p>
        </p:txBody>
      </p:sp>
      <p:sp>
        <p:nvSpPr>
          <p:cNvPr id="40" name="TextBox 39"/>
          <p:cNvSpPr txBox="1"/>
          <p:nvPr/>
        </p:nvSpPr>
        <p:spPr>
          <a:xfrm>
            <a:off x="658368" y="5705856"/>
            <a:ext cx="10874959" cy="365760"/>
          </a:xfrm>
          <a:prstGeom prst="rect">
            <a:avLst/>
          </a:prstGeom>
          <a:noFill/>
        </p:spPr>
        <p:txBody>
          <a:bodyPr wrap="square" lIns="0" rIns="0" tIns="0" bIns="0" anchor="t">
            <a:spAutoFit/>
          </a:bodyPr>
          <a:lstStyle/>
          <a:p>
            <a:pPr algn="l">
              <a:lnSpc>
                <a:spcPct val="116000"/>
              </a:lnSpc>
              <a:spcAft>
                <a:spcPts val="0"/>
              </a:spcAft>
            </a:pPr>
            <a:r>
              <a:rPr sz="1000" b="0" i="1">
                <a:solidFill>
                  <a:srgbClr val="8C837E"/>
                </a:solidFill>
                <a:latin typeface="Calibri"/>
              </a:rPr>
              <a:t>Bagian sulit benchmarking bukan memutuskan melakukannya, tapi mendapat datanya. Sumber yang sah: laporan publik, asosiasi dagang, firma riset, kunjungan lapangan, dan konsultan pihak ketiga yang mengumpulkan data secara anonim — bukan pengumpulan intelijen yang melanggar hukum.</a:t>
            </a:r>
          </a:p>
        </p:txBody>
      </p:sp>
      <p:sp>
        <p:nvSpPr>
          <p:cNvPr id="41" name="Rectangle 40"/>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3" name="TextBox 42"/>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4 · Tindakan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Kalau biaya atau nilainya kalah, apa yang dilakukan</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Analisis rantai nilai dan benchmarking bisa menunjukkan kita kalah biaya atau kalah nilai. Buku menunjuk tiga area perbaikan.</a:t>
            </a:r>
          </a:p>
        </p:txBody>
      </p:sp>
      <p:sp>
        <p:nvSpPr>
          <p:cNvPr id="7" name="Rectangle 6"/>
          <p:cNvSpPr/>
          <p:nvPr/>
        </p:nvSpPr>
        <p:spPr>
          <a:xfrm>
            <a:off x="658368" y="1883664"/>
            <a:ext cx="3466490" cy="272491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66490" cy="40233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59536" y="1965960"/>
            <a:ext cx="3064154" cy="256032"/>
          </a:xfrm>
          <a:prstGeom prst="rect">
            <a:avLst/>
          </a:prstGeom>
          <a:noFill/>
        </p:spPr>
        <p:txBody>
          <a:bodyPr wrap="square" lIns="0" rIns="0" tIns="0" bIns="0" anchor="t">
            <a:spAutoFit/>
          </a:bodyPr>
          <a:lstStyle/>
          <a:p>
            <a:pPr algn="l">
              <a:lnSpc>
                <a:spcPct val="100000"/>
              </a:lnSpc>
              <a:spcAft>
                <a:spcPts val="0"/>
              </a:spcAft>
            </a:pPr>
            <a:r>
              <a:rPr sz="1250" b="1" i="0">
                <a:solidFill>
                  <a:srgbClr val="FFFFFF"/>
                </a:solidFill>
                <a:latin typeface="Calibri"/>
              </a:rPr>
              <a:t>1. Aktivitas internal sendiri</a:t>
            </a:r>
          </a:p>
        </p:txBody>
      </p:sp>
      <p:sp>
        <p:nvSpPr>
          <p:cNvPr id="10" name="TextBox 9"/>
          <p:cNvSpPr txBox="1"/>
          <p:nvPr/>
        </p:nvSpPr>
        <p:spPr>
          <a:xfrm>
            <a:off x="859536" y="2432304"/>
            <a:ext cx="3064154" cy="2048256"/>
          </a:xfrm>
          <a:prstGeom prst="rect">
            <a:avLst/>
          </a:prstGeom>
          <a:noFill/>
        </p:spPr>
        <p:txBody>
          <a:bodyPr wrap="square" lIns="0" rIns="0" tIns="0" bIns="0">
            <a:spAutoFit/>
          </a:bodyPr>
          <a:lstStyle/>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Terapkan best practice, terutama di aktivitas mahal</a:t>
            </a:r>
          </a:p>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Hapus aktivitas yang tidak perlu dengan merombak rantai nilai</a:t>
            </a:r>
          </a:p>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Pindahkan aktivitas mahal ke wilayah berbiaya lebih rendah</a:t>
            </a:r>
          </a:p>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Serahkan ke pihak luar jika mereka lebih murah</a:t>
            </a:r>
          </a:p>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Investasi teknologi yang menaikkan produktivitas</a:t>
            </a:r>
          </a:p>
          <a:p>
            <a:pPr marL="237744" indent="-237744">
              <a:lnSpc>
                <a:spcPct val="110000"/>
              </a:lnSpc>
              <a:spcAft>
                <a:spcPts val="500"/>
              </a:spcAft>
            </a:pPr>
            <a:r>
              <a:rPr sz="1050" b="1">
                <a:solidFill>
                  <a:srgbClr val="DA291C"/>
                </a:solidFill>
                <a:latin typeface="Calibri"/>
              </a:rPr>
              <a:t>·  </a:t>
            </a:r>
            <a:r>
              <a:rPr sz="1050">
                <a:solidFill>
                  <a:srgbClr val="1A1614"/>
                </a:solidFill>
                <a:latin typeface="Calibri"/>
              </a:rPr>
              <a:t>Rancang ulang produk agar lebih murah dibuat</a:t>
            </a:r>
          </a:p>
        </p:txBody>
      </p:sp>
      <p:sp>
        <p:nvSpPr>
          <p:cNvPr id="11" name="Rectangle 10"/>
          <p:cNvSpPr/>
          <p:nvPr/>
        </p:nvSpPr>
        <p:spPr>
          <a:xfrm>
            <a:off x="4362602" y="1883664"/>
            <a:ext cx="3466490" cy="272491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62602" y="1883664"/>
            <a:ext cx="3466490" cy="4023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63770" y="1965960"/>
            <a:ext cx="3064154" cy="256032"/>
          </a:xfrm>
          <a:prstGeom prst="rect">
            <a:avLst/>
          </a:prstGeom>
          <a:noFill/>
        </p:spPr>
        <p:txBody>
          <a:bodyPr wrap="square" lIns="0" rIns="0" tIns="0" bIns="0" anchor="t">
            <a:spAutoFit/>
          </a:bodyPr>
          <a:lstStyle/>
          <a:p>
            <a:pPr algn="l">
              <a:lnSpc>
                <a:spcPct val="100000"/>
              </a:lnSpc>
              <a:spcAft>
                <a:spcPts val="0"/>
              </a:spcAft>
            </a:pPr>
            <a:r>
              <a:rPr sz="1250" b="1" i="0">
                <a:solidFill>
                  <a:srgbClr val="FFFFFF"/>
                </a:solidFill>
                <a:latin typeface="Calibri"/>
              </a:rPr>
              <a:t>2. Bagian pemasok</a:t>
            </a:r>
          </a:p>
        </p:txBody>
      </p:sp>
      <p:sp>
        <p:nvSpPr>
          <p:cNvPr id="14" name="TextBox 13"/>
          <p:cNvSpPr txBox="1"/>
          <p:nvPr/>
        </p:nvSpPr>
        <p:spPr>
          <a:xfrm>
            <a:off x="4563770" y="2432304"/>
            <a:ext cx="3064154" cy="2048256"/>
          </a:xfrm>
          <a:prstGeom prst="rect">
            <a:avLst/>
          </a:prstGeom>
          <a:noFill/>
        </p:spPr>
        <p:txBody>
          <a:bodyPr wrap="square" lIns="0" rIns="0" tIns="0" bIns="0">
            <a:spAutoFit/>
          </a:bodyPr>
          <a:lstStyle/>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Tekan harga beli ke pemasok</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Ganti ke input substitusi yang lebih murah</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Kerja sama erat mencari penghematan bersama</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Integrasi ke belakang: produksi sendiri</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Untuk menaikkan nilai: pilih pemasok bermutu tinggi dan libatkan mereka sejak tahap desain</a:t>
            </a:r>
          </a:p>
        </p:txBody>
      </p:sp>
      <p:sp>
        <p:nvSpPr>
          <p:cNvPr id="15" name="Rectangle 14"/>
          <p:cNvSpPr/>
          <p:nvPr/>
        </p:nvSpPr>
        <p:spPr>
          <a:xfrm>
            <a:off x="8066836" y="1883664"/>
            <a:ext cx="3466490" cy="272491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66836" y="1883664"/>
            <a:ext cx="3466490" cy="4023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68004" y="1965960"/>
            <a:ext cx="3064154" cy="256032"/>
          </a:xfrm>
          <a:prstGeom prst="rect">
            <a:avLst/>
          </a:prstGeom>
          <a:noFill/>
        </p:spPr>
        <p:txBody>
          <a:bodyPr wrap="square" lIns="0" rIns="0" tIns="0" bIns="0" anchor="t">
            <a:spAutoFit/>
          </a:bodyPr>
          <a:lstStyle/>
          <a:p>
            <a:pPr algn="l">
              <a:lnSpc>
                <a:spcPct val="100000"/>
              </a:lnSpc>
              <a:spcAft>
                <a:spcPts val="0"/>
              </a:spcAft>
            </a:pPr>
            <a:r>
              <a:rPr sz="1250" b="1" i="0">
                <a:solidFill>
                  <a:srgbClr val="FFFFFF"/>
                </a:solidFill>
                <a:latin typeface="Calibri"/>
              </a:rPr>
              <a:t>3. Bagian mitra hilir</a:t>
            </a:r>
          </a:p>
        </p:txBody>
      </p:sp>
      <p:sp>
        <p:nvSpPr>
          <p:cNvPr id="18" name="TextBox 17"/>
          <p:cNvSpPr txBox="1"/>
          <p:nvPr/>
        </p:nvSpPr>
        <p:spPr>
          <a:xfrm>
            <a:off x="8268004" y="2432304"/>
            <a:ext cx="3064154" cy="2048256"/>
          </a:xfrm>
          <a:prstGeom prst="rect">
            <a:avLst/>
          </a:prstGeom>
          <a:noFill/>
        </p:spPr>
        <p:txBody>
          <a:bodyPr wrap="square" lIns="0" rIns="0" tIns="0" bIns="0">
            <a:spAutoFit/>
          </a:bodyPr>
          <a:lstStyle/>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Tekan biaya dan markup distributor serta dealer</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Kerja sama mencari penghematan yang saling menguntungkan</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Ubah jalur distribusi, termasuk jualan langsung lewat internet</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Integrasi ke depan: buka gerai sendiri</a:t>
            </a:r>
          </a:p>
          <a:p>
            <a:pPr marL="237744" indent="-237744">
              <a:lnSpc>
                <a:spcPct val="110000"/>
              </a:lnSpc>
              <a:spcAft>
                <a:spcPts val="500"/>
              </a:spcAft>
            </a:pPr>
            <a:r>
              <a:rPr sz="1050" b="1">
                <a:solidFill>
                  <a:srgbClr val="1A1614"/>
                </a:solidFill>
                <a:latin typeface="Calibri"/>
              </a:rPr>
              <a:t>·  </a:t>
            </a:r>
            <a:r>
              <a:rPr sz="1050">
                <a:solidFill>
                  <a:srgbClr val="1A1614"/>
                </a:solidFill>
                <a:latin typeface="Calibri"/>
              </a:rPr>
              <a:t>Untuk menaikkan nilai: iklan bersama, perjanjian eksklusif, dan pelatihan mitra</a:t>
            </a:r>
          </a:p>
        </p:txBody>
      </p:sp>
      <p:sp>
        <p:nvSpPr>
          <p:cNvPr id="19" name="Rectangle 18"/>
          <p:cNvSpPr/>
          <p:nvPr/>
        </p:nvSpPr>
        <p:spPr>
          <a:xfrm>
            <a:off x="658368" y="4864608"/>
            <a:ext cx="10874959" cy="95097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4864608"/>
            <a:ext cx="45720" cy="95097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50976" y="4992624"/>
            <a:ext cx="10289743" cy="256032"/>
          </a:xfrm>
          <a:prstGeom prst="rect">
            <a:avLst/>
          </a:prstGeom>
          <a:noFill/>
        </p:spPr>
        <p:txBody>
          <a:bodyPr wrap="square" lIns="0" rIns="0" tIns="0" bIns="0" anchor="t">
            <a:spAutoFit/>
          </a:bodyPr>
          <a:lstStyle/>
          <a:p>
            <a:pPr algn="l">
              <a:lnSpc>
                <a:spcPct val="100000"/>
              </a:lnSpc>
              <a:spcAft>
                <a:spcPts val="0"/>
              </a:spcAft>
            </a:pPr>
            <a:r>
              <a:rPr sz="1350" b="1" i="0">
                <a:solidFill>
                  <a:srgbClr val="FFFFFF"/>
                </a:solidFill>
                <a:latin typeface="Calibri"/>
              </a:rPr>
              <a:t>Hanya ada dua jalan mengubah kerja rantai nilai jadi keunggulan bersaing</a:t>
            </a:r>
          </a:p>
        </p:txBody>
      </p:sp>
      <p:sp>
        <p:nvSpPr>
          <p:cNvPr id="22" name="TextBox 21"/>
          <p:cNvSpPr txBox="1"/>
          <p:nvPr/>
        </p:nvSpPr>
        <p:spPr>
          <a:xfrm>
            <a:off x="950976" y="5303520"/>
            <a:ext cx="10289743" cy="457200"/>
          </a:xfrm>
          <a:prstGeom prst="rect">
            <a:avLst/>
          </a:prstGeom>
          <a:noFill/>
        </p:spPr>
        <p:txBody>
          <a:bodyPr wrap="square" lIns="0" rIns="0" tIns="0" bIns="0" anchor="t">
            <a:spAutoFit/>
          </a:bodyPr>
          <a:lstStyle/>
          <a:p>
            <a:pPr algn="l">
              <a:lnSpc>
                <a:spcPct val="118000"/>
              </a:lnSpc>
              <a:spcBef>
                <a:spcPts val="0"/>
              </a:spcBef>
              <a:spcAft>
                <a:spcPts val="0"/>
              </a:spcAft>
            </a:pPr>
            <a:r>
              <a:rPr sz="1150" b="0" i="0">
                <a:solidFill>
                  <a:srgbClr val="1A1614"/>
                </a:solidFill>
                <a:latin typeface="Calibri"/>
              </a:rPr>
              <a:t/>
            </a:r>
            <a:r>
              <a:rPr sz="1150" b="0">
                <a:solidFill>
                  <a:srgbClr val="A89F99"/>
                </a:solidFill>
                <a:latin typeface="Calibri"/>
              </a:rPr>
              <a:t>(1) Lebih efisien sehingga biayanya lebih rendah dari pesaing — Ryanair, Nucor, TJX.   </a:t>
            </a:r>
            <a:r>
              <a:rPr sz="1150" b="0">
                <a:solidFill>
                  <a:srgbClr val="A89F99"/>
                </a:solidFill>
                <a:latin typeface="Calibri"/>
              </a:rPr>
              <a:t>(2) Menjadi dasar diferensiasi sehingga pelanggan mau membayar lebih — Rolex (status), Braun (desain), L.L. Bean (layanan), FedEx (keandalan).</a:t>
            </a:r>
          </a:p>
        </p:txBody>
      </p:sp>
      <p:sp>
        <p:nvSpPr>
          <p:cNvPr id="23" name="Rectangle 22"/>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25" name="TextBox 24"/>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5 · Tabel 4.4</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Matriks kekuatan kompetitif</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Alat untuk mengubah penilaian yang serba kualitatif menjadi satu angka yang bisa langsung dibandingkan dengan pesaing.</a:t>
            </a:r>
          </a:p>
        </p:txBody>
      </p:sp>
      <p:sp>
        <p:nvSpPr>
          <p:cNvPr id="7" name="Rectangle 6"/>
          <p:cNvSpPr/>
          <p:nvPr/>
        </p:nvSpPr>
        <p:spPr>
          <a:xfrm>
            <a:off x="658368" y="1883664"/>
            <a:ext cx="2043318" cy="117043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204331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2011680"/>
            <a:ext cx="365760" cy="365760"/>
          </a:xfrm>
          <a:prstGeom prst="rect">
            <a:avLst/>
          </a:prstGeom>
          <a:noFill/>
        </p:spPr>
        <p:txBody>
          <a:bodyPr wrap="square" lIns="0" rIns="0" tIns="0" bIns="0" anchor="t">
            <a:spAutoFit/>
          </a:bodyPr>
          <a:lstStyle/>
          <a:p>
            <a:pPr algn="l">
              <a:lnSpc>
                <a:spcPct val="100000"/>
              </a:lnSpc>
              <a:spcAft>
                <a:spcPts val="0"/>
              </a:spcAft>
            </a:pPr>
            <a:r>
              <a:rPr sz="2100" b="1" i="0">
                <a:solidFill>
                  <a:srgbClr val="DA291C"/>
                </a:solidFill>
                <a:latin typeface="Georgia"/>
              </a:rPr>
              <a:t>1</a:t>
            </a:r>
          </a:p>
        </p:txBody>
      </p:sp>
      <p:sp>
        <p:nvSpPr>
          <p:cNvPr id="10" name="TextBox 9"/>
          <p:cNvSpPr txBox="1"/>
          <p:nvPr/>
        </p:nvSpPr>
        <p:spPr>
          <a:xfrm>
            <a:off x="822959" y="2377440"/>
            <a:ext cx="1714134"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Daftar KSF</a:t>
            </a:r>
          </a:p>
        </p:txBody>
      </p:sp>
      <p:sp>
        <p:nvSpPr>
          <p:cNvPr id="11" name="TextBox 10"/>
          <p:cNvSpPr txBox="1"/>
          <p:nvPr/>
        </p:nvSpPr>
        <p:spPr>
          <a:xfrm>
            <a:off x="822959" y="2633472"/>
            <a:ext cx="1714134" cy="38404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Susun key success factor industri</a:t>
            </a:r>
          </a:p>
        </p:txBody>
      </p:sp>
      <p:sp>
        <p:nvSpPr>
          <p:cNvPr id="12" name="Rectangle 11"/>
          <p:cNvSpPr/>
          <p:nvPr/>
        </p:nvSpPr>
        <p:spPr>
          <a:xfrm>
            <a:off x="2866278" y="1883664"/>
            <a:ext cx="2043318" cy="117043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866278" y="1883664"/>
            <a:ext cx="204331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0870" y="2011680"/>
            <a:ext cx="365760" cy="365760"/>
          </a:xfrm>
          <a:prstGeom prst="rect">
            <a:avLst/>
          </a:prstGeom>
          <a:noFill/>
        </p:spPr>
        <p:txBody>
          <a:bodyPr wrap="square" lIns="0" rIns="0" tIns="0" bIns="0" anchor="t">
            <a:spAutoFit/>
          </a:bodyPr>
          <a:lstStyle/>
          <a:p>
            <a:pPr algn="l">
              <a:lnSpc>
                <a:spcPct val="100000"/>
              </a:lnSpc>
              <a:spcAft>
                <a:spcPts val="0"/>
              </a:spcAft>
            </a:pPr>
            <a:r>
              <a:rPr sz="2100" b="1" i="0">
                <a:solidFill>
                  <a:srgbClr val="DA291C"/>
                </a:solidFill>
                <a:latin typeface="Georgia"/>
              </a:rPr>
              <a:t>2</a:t>
            </a:r>
          </a:p>
        </p:txBody>
      </p:sp>
      <p:sp>
        <p:nvSpPr>
          <p:cNvPr id="15" name="TextBox 14"/>
          <p:cNvSpPr txBox="1"/>
          <p:nvPr/>
        </p:nvSpPr>
        <p:spPr>
          <a:xfrm>
            <a:off x="3030870" y="2377440"/>
            <a:ext cx="1714134"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Beri bobot</a:t>
            </a:r>
          </a:p>
        </p:txBody>
      </p:sp>
      <p:sp>
        <p:nvSpPr>
          <p:cNvPr id="16" name="TextBox 15"/>
          <p:cNvSpPr txBox="1"/>
          <p:nvPr/>
        </p:nvSpPr>
        <p:spPr>
          <a:xfrm>
            <a:off x="3030870" y="2633472"/>
            <a:ext cx="1714134" cy="38404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Sesuai tingkat kepentingan; total harus 1,00</a:t>
            </a:r>
          </a:p>
        </p:txBody>
      </p:sp>
      <p:sp>
        <p:nvSpPr>
          <p:cNvPr id="17" name="Rectangle 16"/>
          <p:cNvSpPr/>
          <p:nvPr/>
        </p:nvSpPr>
        <p:spPr>
          <a:xfrm>
            <a:off x="5074188" y="1883664"/>
            <a:ext cx="2043318" cy="117043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074188" y="1883664"/>
            <a:ext cx="204331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238780" y="2011680"/>
            <a:ext cx="365760" cy="365760"/>
          </a:xfrm>
          <a:prstGeom prst="rect">
            <a:avLst/>
          </a:prstGeom>
          <a:noFill/>
        </p:spPr>
        <p:txBody>
          <a:bodyPr wrap="square" lIns="0" rIns="0" tIns="0" bIns="0" anchor="t">
            <a:spAutoFit/>
          </a:bodyPr>
          <a:lstStyle/>
          <a:p>
            <a:pPr algn="l">
              <a:lnSpc>
                <a:spcPct val="100000"/>
              </a:lnSpc>
              <a:spcAft>
                <a:spcPts val="0"/>
              </a:spcAft>
            </a:pPr>
            <a:r>
              <a:rPr sz="2100" b="1" i="0">
                <a:solidFill>
                  <a:srgbClr val="DA291C"/>
                </a:solidFill>
                <a:latin typeface="Georgia"/>
              </a:rPr>
              <a:t>3</a:t>
            </a:r>
          </a:p>
        </p:txBody>
      </p:sp>
      <p:sp>
        <p:nvSpPr>
          <p:cNvPr id="20" name="TextBox 19"/>
          <p:cNvSpPr txBox="1"/>
          <p:nvPr/>
        </p:nvSpPr>
        <p:spPr>
          <a:xfrm>
            <a:off x="5238780" y="2377440"/>
            <a:ext cx="1714134"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Beri rating</a:t>
            </a:r>
          </a:p>
        </p:txBody>
      </p:sp>
      <p:sp>
        <p:nvSpPr>
          <p:cNvPr id="21" name="TextBox 20"/>
          <p:cNvSpPr txBox="1"/>
          <p:nvPr/>
        </p:nvSpPr>
        <p:spPr>
          <a:xfrm>
            <a:off x="5238780" y="2633472"/>
            <a:ext cx="1714134" cy="38404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Skala 1–10. 1 sangat lemah, 10 sangat kuat</a:t>
            </a:r>
          </a:p>
        </p:txBody>
      </p:sp>
      <p:sp>
        <p:nvSpPr>
          <p:cNvPr id="22" name="Rectangle 21"/>
          <p:cNvSpPr/>
          <p:nvPr/>
        </p:nvSpPr>
        <p:spPr>
          <a:xfrm>
            <a:off x="7282098" y="1883664"/>
            <a:ext cx="2043318" cy="117043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282098" y="1883664"/>
            <a:ext cx="204331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46690" y="2011680"/>
            <a:ext cx="365760" cy="365760"/>
          </a:xfrm>
          <a:prstGeom prst="rect">
            <a:avLst/>
          </a:prstGeom>
          <a:noFill/>
        </p:spPr>
        <p:txBody>
          <a:bodyPr wrap="square" lIns="0" rIns="0" tIns="0" bIns="0" anchor="t">
            <a:spAutoFit/>
          </a:bodyPr>
          <a:lstStyle/>
          <a:p>
            <a:pPr algn="l">
              <a:lnSpc>
                <a:spcPct val="100000"/>
              </a:lnSpc>
              <a:spcAft>
                <a:spcPts val="0"/>
              </a:spcAft>
            </a:pPr>
            <a:r>
              <a:rPr sz="2100" b="1" i="0">
                <a:solidFill>
                  <a:srgbClr val="DA291C"/>
                </a:solidFill>
                <a:latin typeface="Georgia"/>
              </a:rPr>
              <a:t>4</a:t>
            </a:r>
          </a:p>
        </p:txBody>
      </p:sp>
      <p:sp>
        <p:nvSpPr>
          <p:cNvPr id="25" name="TextBox 24"/>
          <p:cNvSpPr txBox="1"/>
          <p:nvPr/>
        </p:nvSpPr>
        <p:spPr>
          <a:xfrm>
            <a:off x="7446690" y="2377440"/>
            <a:ext cx="1714134"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Kalikan</a:t>
            </a:r>
          </a:p>
        </p:txBody>
      </p:sp>
      <p:sp>
        <p:nvSpPr>
          <p:cNvPr id="26" name="TextBox 25"/>
          <p:cNvSpPr txBox="1"/>
          <p:nvPr/>
        </p:nvSpPr>
        <p:spPr>
          <a:xfrm>
            <a:off x="7446690" y="2633472"/>
            <a:ext cx="1714134" cy="38404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Rating × bobot = skor tertimbang</a:t>
            </a:r>
          </a:p>
        </p:txBody>
      </p:sp>
      <p:sp>
        <p:nvSpPr>
          <p:cNvPr id="27" name="Rectangle 26"/>
          <p:cNvSpPr/>
          <p:nvPr/>
        </p:nvSpPr>
        <p:spPr>
          <a:xfrm>
            <a:off x="9490008" y="1883664"/>
            <a:ext cx="2043318" cy="117043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490008" y="1883664"/>
            <a:ext cx="204331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654600" y="2011680"/>
            <a:ext cx="365760" cy="365760"/>
          </a:xfrm>
          <a:prstGeom prst="rect">
            <a:avLst/>
          </a:prstGeom>
          <a:noFill/>
        </p:spPr>
        <p:txBody>
          <a:bodyPr wrap="square" lIns="0" rIns="0" tIns="0" bIns="0" anchor="t">
            <a:spAutoFit/>
          </a:bodyPr>
          <a:lstStyle/>
          <a:p>
            <a:pPr algn="l">
              <a:lnSpc>
                <a:spcPct val="100000"/>
              </a:lnSpc>
              <a:spcAft>
                <a:spcPts val="0"/>
              </a:spcAft>
            </a:pPr>
            <a:r>
              <a:rPr sz="2100" b="1" i="0">
                <a:solidFill>
                  <a:srgbClr val="DA291C"/>
                </a:solidFill>
                <a:latin typeface="Georgia"/>
              </a:rPr>
              <a:t>5</a:t>
            </a:r>
          </a:p>
        </p:txBody>
      </p:sp>
      <p:sp>
        <p:nvSpPr>
          <p:cNvPr id="30" name="TextBox 29"/>
          <p:cNvSpPr txBox="1"/>
          <p:nvPr/>
        </p:nvSpPr>
        <p:spPr>
          <a:xfrm>
            <a:off x="9654600" y="2377440"/>
            <a:ext cx="1714134"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Jumlahkan</a:t>
            </a:r>
          </a:p>
        </p:txBody>
      </p:sp>
      <p:sp>
        <p:nvSpPr>
          <p:cNvPr id="31" name="TextBox 30"/>
          <p:cNvSpPr txBox="1"/>
          <p:nvPr/>
        </p:nvSpPr>
        <p:spPr>
          <a:xfrm>
            <a:off x="9654600" y="2633472"/>
            <a:ext cx="1714134" cy="38404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Totalnya jadi ukuran kekuatan keseluruhan</a:t>
            </a:r>
          </a:p>
        </p:txBody>
      </p:sp>
      <p:graphicFrame>
        <p:nvGraphicFramePr>
          <p:cNvPr id="32" name="Table 31"/>
          <p:cNvGraphicFramePr>
            <a:graphicFrameLocks noGrp="1"/>
          </p:cNvGraphicFramePr>
          <p:nvPr/>
        </p:nvGraphicFramePr>
        <p:xfrm>
          <a:off x="658368" y="3255264"/>
          <a:ext cx="6524973" cy="2487168"/>
        </p:xfrm>
        <a:graphic>
          <a:graphicData uri="http://schemas.openxmlformats.org/drawingml/2006/table">
            <a:tbl>
              <a:tblPr>
                <a:tableStyleId>{5C22544A-7EE6-4342-B048-85BDC9FD1C3A}</a:tableStyleId>
              </a:tblPr>
              <a:tblGrid>
                <a:gridCol w="2348991"/>
                <a:gridCol w="782997"/>
                <a:gridCol w="1128820"/>
                <a:gridCol w="1128820"/>
                <a:gridCol w="1135345"/>
              </a:tblGrid>
              <a:tr h="329184">
                <a:tc>
                  <a:txBody>
                    <a:bodyPr wrap="square"/>
                    <a:lstStyle/>
                    <a:p>
                      <a:pPr algn="l">
                        <a:lnSpc>
                          <a:spcPct val="106000"/>
                        </a:lnSpc>
                      </a:pPr>
                      <a:r>
                        <a:rPr sz="1000" b="1">
                          <a:solidFill>
                            <a:srgbClr val="FFFFFF"/>
                          </a:solidFill>
                          <a:latin typeface="Calibri"/>
                        </a:rPr>
                        <a:t>Key Success Factor</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Bobot</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ABC Co.</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Rival 1</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Rival 2</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r h="269748">
                <a:tc>
                  <a:txBody>
                    <a:bodyPr wrap="square"/>
                    <a:lstStyle/>
                    <a:p>
                      <a:pPr algn="l">
                        <a:lnSpc>
                          <a:spcPct val="106000"/>
                        </a:lnSpc>
                      </a:pPr>
                      <a:r>
                        <a:rPr sz="1050" b="1">
                          <a:solidFill>
                            <a:srgbClr val="1A1614"/>
                          </a:solidFill>
                          <a:latin typeface="Calibri"/>
                        </a:rPr>
                        <a:t>Mutu / performa produk</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8 / 0,80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 / 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69748">
                <a:tc>
                  <a:txBody>
                    <a:bodyPr wrap="square"/>
                    <a:lstStyle/>
                    <a:p>
                      <a:pPr algn="l">
                        <a:lnSpc>
                          <a:spcPct val="106000"/>
                        </a:lnSpc>
                      </a:pPr>
                      <a:r>
                        <a:rPr sz="1050" b="1">
                          <a:solidFill>
                            <a:srgbClr val="1A1614"/>
                          </a:solidFill>
                          <a:latin typeface="Calibri"/>
                        </a:rPr>
                        <a:t>Reputasi dan citra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8 / 0,80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7 / 0,70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1 / 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69748">
                <a:tc>
                  <a:txBody>
                    <a:bodyPr wrap="square"/>
                    <a:lstStyle/>
                    <a:p>
                      <a:pPr algn="l">
                        <a:lnSpc>
                          <a:spcPct val="106000"/>
                        </a:lnSpc>
                      </a:pPr>
                      <a:r>
                        <a:rPr sz="1050" b="1">
                          <a:solidFill>
                            <a:srgbClr val="1A1614"/>
                          </a:solidFill>
                          <a:latin typeface="Calibri"/>
                        </a:rPr>
                        <a:t>Kemampuan produksi</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2 / 0,20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69748">
                <a:tc>
                  <a:txBody>
                    <a:bodyPr wrap="square"/>
                    <a:lstStyle/>
                    <a:p>
                      <a:pPr algn="l">
                        <a:lnSpc>
                          <a:spcPct val="106000"/>
                        </a:lnSpc>
                      </a:pPr>
                      <a:r>
                        <a:rPr sz="1050" b="1">
                          <a:solidFill>
                            <a:srgbClr val="1A1614"/>
                          </a:solidFill>
                          <a:latin typeface="Calibri"/>
                        </a:rPr>
                        <a:t>Sumber daya keuangan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3 / 0,30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69748">
                <a:tc>
                  <a:txBody>
                    <a:bodyPr wrap="square"/>
                    <a:lstStyle/>
                    <a:p>
                      <a:pPr algn="l">
                        <a:lnSpc>
                          <a:spcPct val="106000"/>
                        </a:lnSpc>
                      </a:pPr>
                      <a:r>
                        <a:rPr sz="1050" b="1">
                          <a:solidFill>
                            <a:srgbClr val="1A1614"/>
                          </a:solidFill>
                          <a:latin typeface="Calibri"/>
                        </a:rPr>
                        <a:t>Posisi biaya relatif</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5 / 1,50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10 / 3,00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 / 0,30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69748">
                <a:tc>
                  <a:txBody>
                    <a:bodyPr wrap="square"/>
                    <a:lstStyle/>
                    <a:p>
                      <a:pPr algn="l">
                        <a:lnSpc>
                          <a:spcPct val="106000"/>
                        </a:lnSpc>
                      </a:pPr>
                      <a:r>
                        <a:rPr sz="1050" b="1">
                          <a:solidFill>
                            <a:srgbClr val="1A1614"/>
                          </a:solidFill>
                          <a:latin typeface="Calibri"/>
                        </a:rPr>
                        <a:t>Layanan pelanggan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5 / 0,75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7 / 1,05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1 / 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69748">
                <a:tc>
                  <a:txBody>
                    <a:bodyPr wrap="square"/>
                    <a:lstStyle/>
                    <a:p>
                      <a:pPr algn="l">
                        <a:lnSpc>
                          <a:spcPct val="106000"/>
                        </a:lnSpc>
                      </a:pPr>
                      <a:r>
                        <a:rPr sz="1050" b="1">
                          <a:solidFill>
                            <a:srgbClr val="1A1614"/>
                          </a:solidFill>
                          <a:latin typeface="Calibri"/>
                        </a:rPr>
                        <a:t>Faktor lain (tiga baris)</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 / 1,40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 / 0,45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 / 0,65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69748">
                <a:tc>
                  <a:txBody>
                    <a:bodyPr wrap="square"/>
                    <a:lstStyle/>
                    <a:p>
                      <a:pPr algn="l">
                        <a:lnSpc>
                          <a:spcPct val="106000"/>
                        </a:lnSpc>
                      </a:pPr>
                      <a:r>
                        <a:rPr sz="1100" b="1">
                          <a:solidFill>
                            <a:srgbClr val="FFFFFF"/>
                          </a:solidFill>
                          <a:latin typeface="Calibri"/>
                        </a:rPr>
                        <a:t>TOTAL SKOR TERTIMBANG</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100" b="1">
                          <a:solidFill>
                            <a:srgbClr val="FFFFFF"/>
                          </a:solidFill>
                          <a:latin typeface="Calibri"/>
                        </a:rPr>
                        <a:t>1,00</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100" b="1">
                          <a:solidFill>
                            <a:srgbClr val="FFFFFF"/>
                          </a:solidFill>
                          <a:latin typeface="Calibri"/>
                        </a:rPr>
                        <a:t>5,95</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100" b="1">
                          <a:solidFill>
                            <a:srgbClr val="FFFFFF"/>
                          </a:solidFill>
                          <a:latin typeface="Calibri"/>
                        </a:rPr>
                        <a:t>7,70</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100" b="1">
                          <a:solidFill>
                            <a:srgbClr val="FFFFFF"/>
                          </a:solidFill>
                          <a:latin typeface="Calibri"/>
                        </a:rPr>
                        <a:t>2,10</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bl>
          </a:graphicData>
        </a:graphic>
      </p:graphicFrame>
      <p:sp>
        <p:nvSpPr>
          <p:cNvPr id="33" name="TextBox 32"/>
          <p:cNvSpPr txBox="1"/>
          <p:nvPr/>
        </p:nvSpPr>
        <p:spPr>
          <a:xfrm>
            <a:off x="658368" y="5779008"/>
            <a:ext cx="6524975" cy="219456"/>
          </a:xfrm>
          <a:prstGeom prst="rect">
            <a:avLst/>
          </a:prstGeom>
          <a:noFill/>
        </p:spPr>
        <p:txBody>
          <a:bodyPr wrap="square" lIns="0" rIns="0" tIns="0" bIns="0" anchor="t">
            <a:spAutoFit/>
          </a:bodyPr>
          <a:lstStyle/>
          <a:p>
            <a:pPr algn="l">
              <a:lnSpc>
                <a:spcPct val="100000"/>
              </a:lnSpc>
              <a:spcAft>
                <a:spcPts val="0"/>
              </a:spcAft>
            </a:pPr>
            <a:r>
              <a:rPr sz="950" b="0" i="1">
                <a:solidFill>
                  <a:srgbClr val="8C837E"/>
                </a:solidFill>
                <a:latin typeface="Calibri"/>
              </a:rPr>
              <a:t>Contoh dari Tabel 4.4 buku. Rating / skor tertimbang.</a:t>
            </a:r>
          </a:p>
        </p:txBody>
      </p:sp>
      <p:sp>
        <p:nvSpPr>
          <p:cNvPr id="34" name="TextBox 33"/>
          <p:cNvSpPr txBox="1"/>
          <p:nvPr/>
        </p:nvSpPr>
        <p:spPr>
          <a:xfrm>
            <a:off x="7567391" y="3218688"/>
            <a:ext cx="3965935"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Apa yang bisa dibaca dari angkanya</a:t>
            </a:r>
          </a:p>
        </p:txBody>
      </p:sp>
      <p:sp>
        <p:nvSpPr>
          <p:cNvPr id="35" name="Rectangle 34"/>
          <p:cNvSpPr/>
          <p:nvPr/>
        </p:nvSpPr>
        <p:spPr>
          <a:xfrm>
            <a:off x="7567391" y="3511296"/>
            <a:ext cx="3965935" cy="78638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567391" y="3511296"/>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786847" y="3602736"/>
            <a:ext cx="3527023"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Selisih total skor</a:t>
            </a:r>
          </a:p>
        </p:txBody>
      </p:sp>
      <p:sp>
        <p:nvSpPr>
          <p:cNvPr id="38" name="TextBox 37"/>
          <p:cNvSpPr txBox="1"/>
          <p:nvPr/>
        </p:nvSpPr>
        <p:spPr>
          <a:xfrm>
            <a:off x="7786847" y="3840480"/>
            <a:ext cx="3527023" cy="42062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Besarnya net competitive advantage. Rival 1 (7,70) unggul jauh atas Rival 2 (2,10).</a:t>
            </a:r>
          </a:p>
        </p:txBody>
      </p:sp>
      <p:sp>
        <p:nvSpPr>
          <p:cNvPr id="39" name="Rectangle 38"/>
          <p:cNvSpPr/>
          <p:nvPr/>
        </p:nvSpPr>
        <p:spPr>
          <a:xfrm>
            <a:off x="7567391" y="4370831"/>
            <a:ext cx="3965935" cy="78638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7567391" y="4370831"/>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786847" y="4462271"/>
            <a:ext cx="3527023"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Serang di mana</a:t>
            </a:r>
          </a:p>
        </p:txBody>
      </p:sp>
      <p:sp>
        <p:nvSpPr>
          <p:cNvPr id="42" name="TextBox 41"/>
          <p:cNvSpPr txBox="1"/>
          <p:nvPr/>
        </p:nvSpPr>
        <p:spPr>
          <a:xfrm>
            <a:off x="7786847" y="4700016"/>
            <a:ext cx="3527023" cy="42062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Serang pesaing yang skornya lebih rendah, di faktor tempat kita kuat dan dia lemah.</a:t>
            </a:r>
          </a:p>
        </p:txBody>
      </p:sp>
      <p:sp>
        <p:nvSpPr>
          <p:cNvPr id="43" name="Rectangle 42"/>
          <p:cNvSpPr/>
          <p:nvPr/>
        </p:nvSpPr>
        <p:spPr>
          <a:xfrm>
            <a:off x="7567391" y="5230367"/>
            <a:ext cx="3965935" cy="786384"/>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7567391" y="5230367"/>
            <a:ext cx="45720" cy="78638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786847" y="5321807"/>
            <a:ext cx="3527023"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Bertahan di mana</a:t>
            </a:r>
          </a:p>
        </p:txBody>
      </p:sp>
      <p:sp>
        <p:nvSpPr>
          <p:cNvPr id="46" name="TextBox 45"/>
          <p:cNvSpPr txBox="1"/>
          <p:nvPr/>
        </p:nvSpPr>
        <p:spPr>
          <a:xfrm>
            <a:off x="7786847" y="5559551"/>
            <a:ext cx="3527023" cy="42062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Kalau kita lemah di faktor tempat pesaing kuat, siapkan langkah bertahan lebih dulu.</a:t>
            </a:r>
          </a:p>
        </p:txBody>
      </p:sp>
      <p:sp>
        <p:nvSpPr>
          <p:cNvPr id="47" name="Rectangle 46"/>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49" name="TextBox 48"/>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6</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Isu apa yang harus ditangani lebih dulu?</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Langkah terakhir dan paling penting. Semua temuan dari Q1 sampai Q5, ditambah analisis industri dari Chapter 3, dikerucutkan jadi satu daftar prioritas.</a:t>
            </a:r>
          </a:p>
        </p:txBody>
      </p:sp>
      <p:sp>
        <p:nvSpPr>
          <p:cNvPr id="7" name="Rectangle 6"/>
          <p:cNvSpPr/>
          <p:nvPr/>
        </p:nvSpPr>
        <p:spPr>
          <a:xfrm>
            <a:off x="658368" y="2157984"/>
            <a:ext cx="5437479" cy="21031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69264" y="2377439"/>
            <a:ext cx="3657600" cy="310896"/>
          </a:xfrm>
          <a:prstGeom prst="rect">
            <a:avLst/>
          </a:prstGeom>
          <a:noFill/>
        </p:spPr>
        <p:txBody>
          <a:bodyPr wrap="square" lIns="0" rIns="0" tIns="0" bIns="0" anchor="t">
            <a:spAutoFit/>
          </a:bodyPr>
          <a:lstStyle/>
          <a:p>
            <a:pPr algn="l">
              <a:lnSpc>
                <a:spcPct val="100000"/>
              </a:lnSpc>
              <a:spcAft>
                <a:spcPts val="0"/>
              </a:spcAft>
            </a:pPr>
            <a:r>
              <a:rPr sz="1900" b="1" i="0">
                <a:solidFill>
                  <a:srgbClr val="FFFFFF"/>
                </a:solidFill>
                <a:latin typeface="Calibri"/>
              </a:rPr>
              <a:t>Priority list</a:t>
            </a:r>
          </a:p>
        </p:txBody>
      </p:sp>
      <p:sp>
        <p:nvSpPr>
          <p:cNvPr id="9" name="Rectangle 8"/>
          <p:cNvSpPr/>
          <p:nvPr/>
        </p:nvSpPr>
        <p:spPr>
          <a:xfrm>
            <a:off x="969264" y="2779776"/>
            <a:ext cx="1097280" cy="320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9264" y="2962656"/>
            <a:ext cx="4815687" cy="713232"/>
          </a:xfrm>
          <a:prstGeom prst="rect">
            <a:avLst/>
          </a:prstGeom>
          <a:noFill/>
        </p:spPr>
        <p:txBody>
          <a:bodyPr wrap="square" lIns="0" rIns="0" tIns="0" bIns="0" anchor="t">
            <a:spAutoFit/>
          </a:bodyPr>
          <a:lstStyle/>
          <a:p>
            <a:pPr algn="l">
              <a:lnSpc>
                <a:spcPct val="120000"/>
              </a:lnSpc>
              <a:spcAft>
                <a:spcPts val="0"/>
              </a:spcAft>
            </a:pPr>
            <a:r>
              <a:rPr sz="1250" b="0" i="0">
                <a:solidFill>
                  <a:srgbClr val="FFFFFF"/>
                </a:solidFill>
                <a:latin typeface="Calibri"/>
              </a:rPr>
              <a:t>Daftar isu dan masalah yang harus dituntaskan manajemen agar perusahaan lebih berhasil, secara keuangan maupun secara bersaing, di tahun-tahun mendatang.</a:t>
            </a:r>
          </a:p>
        </p:txBody>
      </p:sp>
      <p:sp>
        <p:nvSpPr>
          <p:cNvPr id="11" name="TextBox 10"/>
          <p:cNvSpPr txBox="1"/>
          <p:nvPr/>
        </p:nvSpPr>
        <p:spPr>
          <a:xfrm>
            <a:off x="969264" y="3749039"/>
            <a:ext cx="4815687" cy="420624"/>
          </a:xfrm>
          <a:prstGeom prst="rect">
            <a:avLst/>
          </a:prstGeom>
          <a:noFill/>
        </p:spPr>
        <p:txBody>
          <a:bodyPr wrap="square" lIns="0" rIns="0" tIns="0" bIns="0" anchor="t">
            <a:spAutoFit/>
          </a:bodyPr>
          <a:lstStyle/>
          <a:p>
            <a:pPr algn="l">
              <a:lnSpc>
                <a:spcPct val="116000"/>
              </a:lnSpc>
              <a:spcAft>
                <a:spcPts val="0"/>
              </a:spcAft>
            </a:pPr>
            <a:r>
              <a:rPr sz="1100" b="0" i="0">
                <a:solidFill>
                  <a:srgbClr val="A89F99"/>
                </a:solidFill>
                <a:latin typeface="Calibri"/>
              </a:rPr>
              <a:t>Isinya selalu berbentuk “bagaimana caranya…”, “apa yang harus dilakukan soal…”, dan “apakah perlu…”.</a:t>
            </a:r>
          </a:p>
        </p:txBody>
      </p:sp>
      <p:sp>
        <p:nvSpPr>
          <p:cNvPr id="12" name="TextBox 11"/>
          <p:cNvSpPr txBox="1"/>
          <p:nvPr/>
        </p:nvSpPr>
        <p:spPr>
          <a:xfrm>
            <a:off x="6461607" y="2121408"/>
            <a:ext cx="5071719"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Dua hal yang sering keliru</a:t>
            </a:r>
          </a:p>
        </p:txBody>
      </p:sp>
      <p:sp>
        <p:nvSpPr>
          <p:cNvPr id="13" name="Rectangle 12"/>
          <p:cNvSpPr/>
          <p:nvPr/>
        </p:nvSpPr>
        <p:spPr>
          <a:xfrm>
            <a:off x="6461607" y="2432303"/>
            <a:ext cx="5071719" cy="107899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461607" y="2432303"/>
            <a:ext cx="45720" cy="10789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81063" y="2542032"/>
            <a:ext cx="4632807"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Ini bukan daftar solusi</a:t>
            </a:r>
          </a:p>
        </p:txBody>
      </p:sp>
      <p:sp>
        <p:nvSpPr>
          <p:cNvPr id="16" name="TextBox 15"/>
          <p:cNvSpPr txBox="1"/>
          <p:nvPr/>
        </p:nvSpPr>
        <p:spPr>
          <a:xfrm>
            <a:off x="6681063" y="2798063"/>
            <a:ext cx="4632807" cy="640080"/>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Tujuannya mengidentifikasi ISU yang harus ditangani, bukan memutuskan tindakan apa yang diambil. Keputusan tindakan datang belakangan, saat menyusun strategi.</a:t>
            </a:r>
          </a:p>
        </p:txBody>
      </p:sp>
      <p:sp>
        <p:nvSpPr>
          <p:cNvPr id="17" name="Rectangle 16"/>
          <p:cNvSpPr/>
          <p:nvPr/>
        </p:nvSpPr>
        <p:spPr>
          <a:xfrm>
            <a:off x="6461607" y="3621024"/>
            <a:ext cx="5071719" cy="107899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461607" y="3621024"/>
            <a:ext cx="45720" cy="10789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81063" y="3730752"/>
            <a:ext cx="4632807" cy="237744"/>
          </a:xfrm>
          <a:prstGeom prst="rect">
            <a:avLst/>
          </a:prstGeom>
          <a:noFill/>
        </p:spPr>
        <p:txBody>
          <a:bodyPr wrap="square" lIns="0" rIns="0" tIns="0" bIns="0" anchor="t">
            <a:spAutoFit/>
          </a:bodyPr>
          <a:lstStyle/>
          <a:p>
            <a:pPr algn="l">
              <a:lnSpc>
                <a:spcPct val="100000"/>
              </a:lnSpc>
              <a:spcAft>
                <a:spcPts val="0"/>
              </a:spcAft>
            </a:pPr>
            <a:r>
              <a:rPr sz="1250" b="1" i="0">
                <a:solidFill>
                  <a:srgbClr val="1A1614"/>
                </a:solidFill>
                <a:latin typeface="Calibri"/>
              </a:rPr>
              <a:t>Panjang daftar itu diagnosis</a:t>
            </a:r>
          </a:p>
        </p:txBody>
      </p:sp>
      <p:sp>
        <p:nvSpPr>
          <p:cNvPr id="20" name="TextBox 19"/>
          <p:cNvSpPr txBox="1"/>
          <p:nvPr/>
        </p:nvSpPr>
        <p:spPr>
          <a:xfrm>
            <a:off x="6681063" y="3986784"/>
            <a:ext cx="4632807" cy="640080"/>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Kalau isinya ringan, strategi sekarang sudah cukup dan tinggal disetel halus. Kalau isinya berat, menyusun strategi baru harus jadi agenda nomor satu manajemen.</a:t>
            </a:r>
          </a:p>
        </p:txBody>
      </p:sp>
      <p:sp>
        <p:nvSpPr>
          <p:cNvPr id="21" name="Rectangle 20"/>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Uji akhir Chapter 4: </a:t>
            </a:r>
            <a:r>
              <a:rPr sz="1200" b="0">
                <a:solidFill>
                  <a:srgbClr val="1A1614"/>
                </a:solidFill>
                <a:latin typeface="Calibri"/>
              </a:rPr>
              <a:t>strategi yang baik wajib memuat cara menangani SEMUA isu dan hambatan pada daftar prioritas itu. Di sinilah analisis berhenti dan penyusunan strategi dimulai.</a:t>
            </a:r>
          </a:p>
        </p:txBody>
      </p:sp>
      <p:sp>
        <p:nvSpPr>
          <p:cNvPr id="24" name="Rectangle 23"/>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26" name="TextBox 25"/>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Ringkasan Bagian A</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Peta lengkap Chapter 4</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Enam pertanyaan, alat yang dipakai di masing-masing, dan hasilnya. Struktur inilah yang kami pakai membedah Manchester United di Bagian B.</a:t>
            </a:r>
          </a:p>
        </p:txBody>
      </p:sp>
      <p:graphicFrame>
        <p:nvGraphicFramePr>
          <p:cNvPr id="7" name="Table 6"/>
          <p:cNvGraphicFramePr>
            <a:graphicFrameLocks noGrp="1"/>
          </p:cNvGraphicFramePr>
          <p:nvPr/>
        </p:nvGraphicFramePr>
        <p:xfrm>
          <a:off x="658368" y="2157984"/>
          <a:ext cx="10488168" cy="3108960"/>
        </p:xfrm>
        <a:graphic>
          <a:graphicData uri="http://schemas.openxmlformats.org/drawingml/2006/table">
            <a:tbl>
              <a:tblPr>
                <a:tableStyleId>{5C22544A-7EE6-4342-B048-85BDC9FD1C3A}</a:tableStyleId>
              </a:tblPr>
              <a:tblGrid>
                <a:gridCol w="384048"/>
                <a:gridCol w="3017520"/>
                <a:gridCol w="3840480"/>
                <a:gridCol w="3246120"/>
              </a:tblGrid>
              <a:tr h="365760">
                <a:tc>
                  <a:txBody>
                    <a:bodyPr wrap="square"/>
                    <a:lstStyle/>
                    <a:p>
                      <a:pPr algn="ctr">
                        <a:lnSpc>
                          <a:spcPct val="106000"/>
                        </a:lnSpc>
                      </a:pPr>
                      <a:r>
                        <a:rPr sz="1050" b="1">
                          <a:solidFill>
                            <a:srgbClr val="FFFFFF"/>
                          </a:solidFill>
                          <a:latin typeface="Calibri"/>
                        </a:rPr>
                        <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l">
                        <a:lnSpc>
                          <a:spcPct val="106000"/>
                        </a:lnSpc>
                      </a:pPr>
                      <a:r>
                        <a:rPr sz="1050" b="1">
                          <a:solidFill>
                            <a:srgbClr val="FFFFFF"/>
                          </a:solidFill>
                          <a:latin typeface="Calibri"/>
                        </a:rPr>
                        <a:t>Pertanyaan</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l">
                        <a:lnSpc>
                          <a:spcPct val="106000"/>
                        </a:lnSpc>
                      </a:pPr>
                      <a:r>
                        <a:rPr sz="1050" b="1">
                          <a:solidFill>
                            <a:srgbClr val="FFFFFF"/>
                          </a:solidFill>
                          <a:latin typeface="Calibri"/>
                        </a:rPr>
                        <a:t>Alat yang dipakai</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l">
                        <a:lnSpc>
                          <a:spcPct val="106000"/>
                        </a:lnSpc>
                      </a:pPr>
                      <a:r>
                        <a:rPr sz="1050" b="1">
                          <a:solidFill>
                            <a:srgbClr val="FFFFFF"/>
                          </a:solidFill>
                          <a:latin typeface="Calibri"/>
                        </a:rPr>
                        <a:t>Hasilnya</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r h="457200">
                <a:tc>
                  <a:txBody>
                    <a:bodyPr wrap="square"/>
                    <a:lstStyle/>
                    <a:p>
                      <a:pPr algn="ctr">
                        <a:lnSpc>
                          <a:spcPct val="106000"/>
                        </a:lnSpc>
                      </a:pPr>
                      <a:r>
                        <a:rPr sz="1500" b="1">
                          <a:solidFill>
                            <a:srgbClr val="DA291C"/>
                          </a:solidFill>
                          <a:latin typeface="Georgia"/>
                        </a:rPr>
                        <a:t>1</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Seberapa baik strategi sekarang bekerja?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Indikator kinerja; rasio keuangan (Tabel 4.1)</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Penilaian: strateginya berhasil atau gagal</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457200">
                <a:tc>
                  <a:txBody>
                    <a:bodyPr wrap="square"/>
                    <a:lstStyle/>
                    <a:p>
                      <a:pPr algn="ctr">
                        <a:lnSpc>
                          <a:spcPct val="106000"/>
                        </a:lnSpc>
                      </a:pPr>
                      <a:r>
                        <a:rPr sz="1500" b="1">
                          <a:solidFill>
                            <a:srgbClr val="DA291C"/>
                          </a:solidFill>
                          <a:latin typeface="Georgia"/>
                        </a:rPr>
                        <a:t>2</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Apa kekuatan dan kelemahan kita, dihadapkan pada peluang dan ancaman?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SWOT (Tabel 4.2, Figure 4.2); tangga competence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Sebab di balik berhasil atau gagalnya strategi</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457200">
                <a:tc>
                  <a:txBody>
                    <a:bodyPr wrap="square"/>
                    <a:lstStyle/>
                    <a:p>
                      <a:pPr algn="ctr">
                        <a:lnSpc>
                          <a:spcPct val="106000"/>
                        </a:lnSpc>
                      </a:pPr>
                      <a:r>
                        <a:rPr sz="1500" b="1">
                          <a:solidFill>
                            <a:srgbClr val="DA291C"/>
                          </a:solidFill>
                          <a:latin typeface="Georgia"/>
                        </a:rPr>
                        <a:t>3</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Resource dan capability apa yang penting, dan tahan lama?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Tipologi tangible/intangible (Tabel 4.3); uji VRIN; dynamic capability</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Sumber keunggulan dan daya tahannya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457200">
                <a:tc>
                  <a:txBody>
                    <a:bodyPr wrap="square"/>
                    <a:lstStyle/>
                    <a:p>
                      <a:pPr algn="ctr">
                        <a:lnSpc>
                          <a:spcPct val="106000"/>
                        </a:lnSpc>
                      </a:pPr>
                      <a:r>
                        <a:rPr sz="1500" b="1">
                          <a:solidFill>
                            <a:srgbClr val="DA291C"/>
                          </a:solidFill>
                          <a:latin typeface="Georgia"/>
                        </a:rPr>
                        <a:t>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Bagaimana rantai nilai memengaruhi biaya dan nilai pelanggan?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Value chain (Figure 4.3); value chain system; benchmarking</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Titik unggul dan titik kalah, per aktivitas</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457200">
                <a:tc>
                  <a:txBody>
                    <a:bodyPr wrap="square"/>
                    <a:lstStyle/>
                    <a:p>
                      <a:pPr algn="ctr">
                        <a:lnSpc>
                          <a:spcPct val="106000"/>
                        </a:lnSpc>
                      </a:pPr>
                      <a:r>
                        <a:rPr sz="1500" b="1">
                          <a:solidFill>
                            <a:srgbClr val="DA291C"/>
                          </a:solidFill>
                          <a:latin typeface="Georgia"/>
                        </a:rPr>
                        <a:t>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Kita lebih kuat atau lebih lemah dari pesaing?</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Matriks kekuatan kompetitif tertimbang (Tabel 4.4)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100" b="0">
                          <a:solidFill>
                            <a:srgbClr val="1A1614"/>
                          </a:solidFill>
                          <a:latin typeface="Calibri"/>
                        </a:rPr>
                        <a:t>Skor kekuatan dan net competitive advantage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457200">
                <a:tc>
                  <a:txBody>
                    <a:bodyPr wrap="square"/>
                    <a:lstStyle/>
                    <a:p>
                      <a:pPr algn="ctr">
                        <a:lnSpc>
                          <a:spcPct val="106000"/>
                        </a:lnSpc>
                      </a:pPr>
                      <a:r>
                        <a:rPr sz="1500" b="1">
                          <a:solidFill>
                            <a:srgbClr val="DA291C"/>
                          </a:solidFill>
                          <a:latin typeface="Georgia"/>
                        </a:rPr>
                        <a:t>6</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Isu apa yang harus ditangani lebih dulu?</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Priority list</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100" b="0">
                          <a:solidFill>
                            <a:srgbClr val="1A1614"/>
                          </a:solidFill>
                          <a:latin typeface="Calibri"/>
                        </a:rPr>
                        <a:t>Agenda kerja manajemen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bl>
          </a:graphicData>
        </a:graphic>
      </p:graphicFrame>
      <p:sp>
        <p:nvSpPr>
          <p:cNvPr id="8" name="Rectangle 7"/>
          <p:cNvSpPr/>
          <p:nvPr/>
        </p:nvSpPr>
        <p:spPr>
          <a:xfrm>
            <a:off x="658368" y="5431536"/>
            <a:ext cx="10874959" cy="69494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FF8A7A"/>
                </a:solidFill>
                <a:latin typeface="Calibri"/>
              </a:rPr>
              <a:t>Logika urutannya: </a:t>
            </a:r>
            <a:r>
              <a:rPr sz="1200" b="0">
                <a:solidFill>
                  <a:srgbClr val="FFFFFF"/>
                </a:solidFill>
                <a:latin typeface="Calibri"/>
              </a:rPr>
              <a:t>Q1 mengukur hasil → Q2 mencari sebabnya secara kasar → Q3 dan Q4 menggali sebabnya sampai dalam → Q5 membandingkan dengan pesaing → Q6 memutuskan apa yang dikerjakan lebih dulu.</a:t>
            </a:r>
          </a:p>
        </p:txBody>
      </p:sp>
      <p:sp>
        <p:nvSpPr>
          <p:cNvPr id="11" name="Rectangle 10"/>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Chapter 4  ·  Evaluating a Company's Resources, Capabilities, and Competitiveness</a:t>
            </a:r>
          </a:p>
        </p:txBody>
      </p:sp>
      <p:sp>
        <p:nvSpPr>
          <p:cNvPr id="13" name="TextBox 12"/>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8F1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685800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841248"/>
            <a:ext cx="5120640" cy="274320"/>
          </a:xfrm>
          <a:prstGeom prst="rect">
            <a:avLst/>
          </a:prstGeom>
          <a:noFill/>
        </p:spPr>
        <p:txBody>
          <a:bodyPr wrap="square" lIns="0" rIns="0" tIns="0" bIns="0" anchor="t">
            <a:spAutoFit/>
          </a:bodyPr>
          <a:lstStyle/>
          <a:p>
            <a:pPr algn="l">
              <a:lnSpc>
                <a:spcPct val="100000"/>
              </a:lnSpc>
              <a:spcAft>
                <a:spcPts val="0"/>
              </a:spcAft>
            </a:pPr>
            <a:r>
              <a:rPr sz="1150" b="1" i="0" cap="all">
                <a:solidFill>
                  <a:srgbClr val="FFBFB6"/>
                </a:solidFill>
                <a:latin typeface="Calibri"/>
              </a:rPr>
              <a:t>Bagian B</a:t>
            </a:r>
          </a:p>
        </p:txBody>
      </p:sp>
      <p:sp>
        <p:nvSpPr>
          <p:cNvPr id="5" name="TextBox 4"/>
          <p:cNvSpPr txBox="1"/>
          <p:nvPr/>
        </p:nvSpPr>
        <p:spPr>
          <a:xfrm>
            <a:off x="1051560" y="1170432"/>
            <a:ext cx="5120640" cy="1737360"/>
          </a:xfrm>
          <a:prstGeom prst="rect">
            <a:avLst/>
          </a:prstGeom>
          <a:noFill/>
        </p:spPr>
        <p:txBody>
          <a:bodyPr wrap="square" lIns="0" rIns="0" tIns="0" bIns="0" anchor="t">
            <a:spAutoFit/>
          </a:bodyPr>
          <a:lstStyle/>
          <a:p>
            <a:pPr algn="l">
              <a:lnSpc>
                <a:spcPct val="94000"/>
              </a:lnSpc>
              <a:spcAft>
                <a:spcPts val="0"/>
              </a:spcAft>
            </a:pPr>
            <a:r>
              <a:rPr sz="4200" b="1" i="0">
                <a:solidFill>
                  <a:srgbClr val="FFFFFF"/>
                </a:solidFill>
                <a:latin typeface="Calibri"/>
              </a:rPr>
              <a:t>Manchester
United</a:t>
            </a:r>
          </a:p>
        </p:txBody>
      </p:sp>
      <p:sp>
        <p:nvSpPr>
          <p:cNvPr id="6" name="TextBox 5"/>
          <p:cNvSpPr txBox="1"/>
          <p:nvPr/>
        </p:nvSpPr>
        <p:spPr>
          <a:xfrm>
            <a:off x="1051560" y="2926080"/>
            <a:ext cx="5120640" cy="365760"/>
          </a:xfrm>
          <a:prstGeom prst="rect">
            <a:avLst/>
          </a:prstGeom>
          <a:noFill/>
        </p:spPr>
        <p:txBody>
          <a:bodyPr wrap="square" lIns="0" rIns="0" tIns="0" bIns="0" anchor="t">
            <a:spAutoFit/>
          </a:bodyPr>
          <a:lstStyle/>
          <a:p>
            <a:pPr algn="l">
              <a:lnSpc>
                <a:spcPct val="100000"/>
              </a:lnSpc>
              <a:spcAft>
                <a:spcPts val="0"/>
              </a:spcAft>
            </a:pPr>
            <a:r>
              <a:rPr sz="1600" b="0" i="1">
                <a:solidFill>
                  <a:srgbClr val="FFBFB6"/>
                </a:solidFill>
                <a:latin typeface="Georgia"/>
              </a:rPr>
              <a:t>Preparing for Life without Ferguson</a:t>
            </a:r>
          </a:p>
        </p:txBody>
      </p:sp>
      <p:sp>
        <p:nvSpPr>
          <p:cNvPr id="7" name="Rectangle 6"/>
          <p:cNvSpPr/>
          <p:nvPr/>
        </p:nvSpPr>
        <p:spPr>
          <a:xfrm>
            <a:off x="1051560" y="3456432"/>
            <a:ext cx="137160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3675887"/>
            <a:ext cx="4846320" cy="914400"/>
          </a:xfrm>
          <a:prstGeom prst="rect">
            <a:avLst/>
          </a:prstGeom>
          <a:noFill/>
        </p:spPr>
        <p:txBody>
          <a:bodyPr wrap="square" lIns="0" rIns="0" tIns="0" bIns="0" anchor="t">
            <a:spAutoFit/>
          </a:bodyPr>
          <a:lstStyle/>
          <a:p>
            <a:pPr algn="l">
              <a:lnSpc>
                <a:spcPct val="122000"/>
              </a:lnSpc>
              <a:spcAft>
                <a:spcPts val="0"/>
              </a:spcAft>
            </a:pPr>
            <a:r>
              <a:rPr sz="1200" b="0" i="0">
                <a:solidFill>
                  <a:srgbClr val="FFBFB6"/>
                </a:solidFill>
                <a:latin typeface="Calibri"/>
              </a:rPr>
              <a:t>Ditulis Robert M. Grant, dibantu Simon I. Peck, Christopher Carr dan Timothy Smith.  © 2010. Kasus ini bukan dari buku Thompson; kami pakai kerangka Chapter 4 untuk membedahnya.</a:t>
            </a:r>
          </a:p>
        </p:txBody>
      </p:sp>
      <p:sp>
        <p:nvSpPr>
          <p:cNvPr id="9" name="Rectangle 8"/>
          <p:cNvSpPr/>
          <p:nvPr/>
        </p:nvSpPr>
        <p:spPr>
          <a:xfrm>
            <a:off x="6446520" y="841248"/>
            <a:ext cx="5074920" cy="932688"/>
          </a:xfrm>
          <a:prstGeom prst="rect">
            <a:avLst/>
          </a:prstGeom>
          <a:solidFill>
            <a:srgbClr val="7614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446520" y="841248"/>
            <a:ext cx="41148"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720840" y="987552"/>
            <a:ext cx="4480560" cy="237744"/>
          </a:xfrm>
          <a:prstGeom prst="rect">
            <a:avLst/>
          </a:prstGeom>
          <a:noFill/>
        </p:spPr>
        <p:txBody>
          <a:bodyPr wrap="square" lIns="0" rIns="0" tIns="0" bIns="0" anchor="t">
            <a:spAutoFit/>
          </a:bodyPr>
          <a:lstStyle/>
          <a:p>
            <a:pPr algn="l">
              <a:lnSpc>
                <a:spcPct val="100000"/>
              </a:lnSpc>
              <a:spcAft>
                <a:spcPts val="0"/>
              </a:spcAft>
            </a:pPr>
            <a:r>
              <a:rPr sz="1050" b="1" i="0" cap="all">
                <a:solidFill>
                  <a:srgbClr val="FFBFB6"/>
                </a:solidFill>
                <a:latin typeface="Calibri"/>
              </a:rPr>
              <a:t>Waktu kasus</a:t>
            </a:r>
          </a:p>
        </p:txBody>
      </p:sp>
      <p:sp>
        <p:nvSpPr>
          <p:cNvPr id="12" name="TextBox 11"/>
          <p:cNvSpPr txBox="1"/>
          <p:nvPr/>
        </p:nvSpPr>
        <p:spPr>
          <a:xfrm>
            <a:off x="6720840" y="1280160"/>
            <a:ext cx="4526280" cy="402336"/>
          </a:xfrm>
          <a:prstGeom prst="rect">
            <a:avLst/>
          </a:prstGeom>
          <a:noFill/>
        </p:spPr>
        <p:txBody>
          <a:bodyPr wrap="square" lIns="0" rIns="0" tIns="0" bIns="0" anchor="t">
            <a:spAutoFit/>
          </a:bodyPr>
          <a:lstStyle/>
          <a:p>
            <a:pPr algn="l">
              <a:lnSpc>
                <a:spcPct val="118000"/>
              </a:lnSpc>
              <a:spcAft>
                <a:spcPts val="0"/>
              </a:spcAft>
            </a:pPr>
            <a:r>
              <a:rPr sz="1250" b="0" i="0">
                <a:solidFill>
                  <a:srgbClr val="FFFFFF"/>
                </a:solidFill>
                <a:latin typeface="Calibri"/>
              </a:rPr>
              <a:t>Juli 2009 — tur pra-musim Asia; skuad pulang 28 Juli 2009</a:t>
            </a:r>
          </a:p>
        </p:txBody>
      </p:sp>
      <p:sp>
        <p:nvSpPr>
          <p:cNvPr id="13" name="Rectangle 12"/>
          <p:cNvSpPr/>
          <p:nvPr/>
        </p:nvSpPr>
        <p:spPr>
          <a:xfrm>
            <a:off x="6446520" y="1901952"/>
            <a:ext cx="5074920" cy="987552"/>
          </a:xfrm>
          <a:prstGeom prst="rect">
            <a:avLst/>
          </a:prstGeom>
          <a:solidFill>
            <a:srgbClr val="7614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446520" y="1901952"/>
            <a:ext cx="41148" cy="987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20840" y="2048256"/>
            <a:ext cx="4480560" cy="237744"/>
          </a:xfrm>
          <a:prstGeom prst="rect">
            <a:avLst/>
          </a:prstGeom>
          <a:noFill/>
        </p:spPr>
        <p:txBody>
          <a:bodyPr wrap="square" lIns="0" rIns="0" tIns="0" bIns="0" anchor="t">
            <a:spAutoFit/>
          </a:bodyPr>
          <a:lstStyle/>
          <a:p>
            <a:pPr algn="l">
              <a:lnSpc>
                <a:spcPct val="100000"/>
              </a:lnSpc>
              <a:spcAft>
                <a:spcPts val="0"/>
              </a:spcAft>
            </a:pPr>
            <a:r>
              <a:rPr sz="1050" b="1" i="0" cap="all">
                <a:solidFill>
                  <a:srgbClr val="FFBFB6"/>
                </a:solidFill>
                <a:latin typeface="Calibri"/>
              </a:rPr>
              <a:t>Yang harus memutuskan</a:t>
            </a:r>
          </a:p>
        </p:txBody>
      </p:sp>
      <p:sp>
        <p:nvSpPr>
          <p:cNvPr id="16" name="TextBox 15"/>
          <p:cNvSpPr txBox="1"/>
          <p:nvPr/>
        </p:nvSpPr>
        <p:spPr>
          <a:xfrm>
            <a:off x="6720840" y="2340864"/>
            <a:ext cx="4526280" cy="475488"/>
          </a:xfrm>
          <a:prstGeom prst="rect">
            <a:avLst/>
          </a:prstGeom>
          <a:noFill/>
        </p:spPr>
        <p:txBody>
          <a:bodyPr wrap="square" lIns="0" rIns="0" tIns="0" bIns="0" anchor="t">
            <a:spAutoFit/>
          </a:bodyPr>
          <a:lstStyle/>
          <a:p>
            <a:pPr algn="l">
              <a:lnSpc>
                <a:spcPct val="118000"/>
              </a:lnSpc>
              <a:spcAft>
                <a:spcPts val="0"/>
              </a:spcAft>
            </a:pPr>
            <a:r>
              <a:rPr sz="1250" b="0" i="0">
                <a:solidFill>
                  <a:srgbClr val="FFFFFF"/>
                </a:solidFill>
                <a:latin typeface="Calibri"/>
              </a:rPr>
              <a:t>David Gill, Chief Executive Manchester United Football Club Limited</a:t>
            </a:r>
          </a:p>
        </p:txBody>
      </p:sp>
      <p:sp>
        <p:nvSpPr>
          <p:cNvPr id="17" name="Rectangle 16"/>
          <p:cNvSpPr/>
          <p:nvPr/>
        </p:nvSpPr>
        <p:spPr>
          <a:xfrm>
            <a:off x="6446520" y="3017520"/>
            <a:ext cx="5074920" cy="1207008"/>
          </a:xfrm>
          <a:prstGeom prst="rect">
            <a:avLst/>
          </a:prstGeom>
          <a:solidFill>
            <a:srgbClr val="7614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446520" y="3017520"/>
            <a:ext cx="41148"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0840" y="3163824"/>
            <a:ext cx="4480560" cy="237744"/>
          </a:xfrm>
          <a:prstGeom prst="rect">
            <a:avLst/>
          </a:prstGeom>
          <a:noFill/>
        </p:spPr>
        <p:txBody>
          <a:bodyPr wrap="square" lIns="0" rIns="0" tIns="0" bIns="0" anchor="t">
            <a:spAutoFit/>
          </a:bodyPr>
          <a:lstStyle/>
          <a:p>
            <a:pPr algn="l">
              <a:lnSpc>
                <a:spcPct val="100000"/>
              </a:lnSpc>
              <a:spcAft>
                <a:spcPts val="0"/>
              </a:spcAft>
            </a:pPr>
            <a:r>
              <a:rPr sz="1050" b="1" i="0" cap="all">
                <a:solidFill>
                  <a:srgbClr val="FFBFB6"/>
                </a:solidFill>
                <a:latin typeface="Calibri"/>
              </a:rPr>
              <a:t>Keputusan yang dihadapi</a:t>
            </a:r>
          </a:p>
        </p:txBody>
      </p:sp>
      <p:sp>
        <p:nvSpPr>
          <p:cNvPr id="20" name="TextBox 19"/>
          <p:cNvSpPr txBox="1"/>
          <p:nvPr/>
        </p:nvSpPr>
        <p:spPr>
          <a:xfrm>
            <a:off x="6720840" y="3456432"/>
            <a:ext cx="4526280" cy="676656"/>
          </a:xfrm>
          <a:prstGeom prst="rect">
            <a:avLst/>
          </a:prstGeom>
          <a:noFill/>
        </p:spPr>
        <p:txBody>
          <a:bodyPr wrap="square" lIns="0" rIns="0" tIns="0" bIns="0" anchor="t">
            <a:spAutoFit/>
          </a:bodyPr>
          <a:lstStyle/>
          <a:p>
            <a:pPr algn="l">
              <a:lnSpc>
                <a:spcPct val="118000"/>
              </a:lnSpc>
              <a:spcAft>
                <a:spcPts val="0"/>
              </a:spcAft>
            </a:pPr>
            <a:r>
              <a:rPr sz="1250" b="0" i="0">
                <a:solidFill>
                  <a:srgbClr val="FFFFFF"/>
                </a:solidFill>
                <a:latin typeface="Calibri"/>
              </a:rPr>
              <a:t>Menyiapkan pengganti Sir Alex Ferguson, yang akhir 2009 berusia 68 tahun dan diperkirakan pensiun akhir musim 2009–10</a:t>
            </a:r>
          </a:p>
        </p:txBody>
      </p:sp>
      <p:sp>
        <p:nvSpPr>
          <p:cNvPr id="21" name="Rectangle 20"/>
          <p:cNvSpPr/>
          <p:nvPr/>
        </p:nvSpPr>
        <p:spPr>
          <a:xfrm>
            <a:off x="6446520" y="4352544"/>
            <a:ext cx="5074920" cy="1700784"/>
          </a:xfrm>
          <a:prstGeom prst="rect">
            <a:avLst/>
          </a:prstGeom>
          <a:solidFill>
            <a:srgbClr val="76140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446520" y="4352544"/>
            <a:ext cx="41148"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0840" y="4498848"/>
            <a:ext cx="4480560" cy="237744"/>
          </a:xfrm>
          <a:prstGeom prst="rect">
            <a:avLst/>
          </a:prstGeom>
          <a:noFill/>
        </p:spPr>
        <p:txBody>
          <a:bodyPr wrap="square" lIns="0" rIns="0" tIns="0" bIns="0" anchor="t">
            <a:spAutoFit/>
          </a:bodyPr>
          <a:lstStyle/>
          <a:p>
            <a:pPr algn="l">
              <a:lnSpc>
                <a:spcPct val="100000"/>
              </a:lnSpc>
              <a:spcAft>
                <a:spcPts val="0"/>
              </a:spcAft>
            </a:pPr>
            <a:r>
              <a:rPr sz="1050" b="1" i="0" cap="all">
                <a:solidFill>
                  <a:srgbClr val="FFBFB6"/>
                </a:solidFill>
                <a:latin typeface="Calibri"/>
              </a:rPr>
              <a:t>Dilema intinya</a:t>
            </a:r>
          </a:p>
        </p:txBody>
      </p:sp>
      <p:sp>
        <p:nvSpPr>
          <p:cNvPr id="24" name="TextBox 23"/>
          <p:cNvSpPr txBox="1"/>
          <p:nvPr/>
        </p:nvSpPr>
        <p:spPr>
          <a:xfrm>
            <a:off x="6720840" y="4791456"/>
            <a:ext cx="4526280" cy="1170432"/>
          </a:xfrm>
          <a:prstGeom prst="rect">
            <a:avLst/>
          </a:prstGeom>
          <a:noFill/>
        </p:spPr>
        <p:txBody>
          <a:bodyPr wrap="square" lIns="0" rIns="0" tIns="0" bIns="0" anchor="t">
            <a:spAutoFit/>
          </a:bodyPr>
          <a:lstStyle/>
          <a:p>
            <a:pPr algn="l">
              <a:lnSpc>
                <a:spcPct val="118000"/>
              </a:lnSpc>
              <a:spcAft>
                <a:spcPts val="0"/>
              </a:spcAft>
            </a:pPr>
            <a:r>
              <a:rPr sz="1250" b="0" i="0">
                <a:solidFill>
                  <a:srgbClr val="FFFFFF"/>
                </a:solidFill>
                <a:latin typeface="Calibri"/>
              </a:rPr>
              <a:t>Pilih orang dalam supaya sistem Ferguson tetap jalan, tapi berisiko kurang berwibawa di depan pemain bintang. Atau pilih manajer berwibawa seperti Mourinho, yang hampir pasti membongkar seluruh sistem itu.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Konteks</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Sepakbola Eropa sebagai industri</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Q1 menuntut perbandingan dengan pesaing. Jadi kita perlu tahu dulu industrinya seperti apa.</a:t>
            </a:r>
          </a:p>
        </p:txBody>
      </p:sp>
      <p:sp>
        <p:nvSpPr>
          <p:cNvPr id="7" name="Rectangle 6"/>
          <p:cNvSpPr/>
          <p:nvPr/>
        </p:nvSpPr>
        <p:spPr>
          <a:xfrm>
            <a:off x="658368" y="1883664"/>
            <a:ext cx="3454298" cy="13350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2066544"/>
            <a:ext cx="3015386" cy="457200"/>
          </a:xfrm>
          <a:prstGeom prst="rect">
            <a:avLst/>
          </a:prstGeom>
          <a:noFill/>
        </p:spPr>
        <p:txBody>
          <a:bodyPr wrap="square" lIns="0" rIns="0" tIns="0" bIns="0" anchor="t">
            <a:spAutoFit/>
          </a:bodyPr>
          <a:lstStyle/>
          <a:p>
            <a:pPr algn="l">
              <a:lnSpc>
                <a:spcPct val="95000"/>
              </a:lnSpc>
              <a:spcAft>
                <a:spcPts val="0"/>
              </a:spcAft>
            </a:pPr>
            <a:r>
              <a:rPr sz="2800" b="1" i="0">
                <a:solidFill>
                  <a:srgbClr val="DA291C"/>
                </a:solidFill>
                <a:latin typeface="Georgia"/>
              </a:rPr>
              <a:t>€2,4 M</a:t>
            </a:r>
          </a:p>
        </p:txBody>
      </p:sp>
      <p:sp>
        <p:nvSpPr>
          <p:cNvPr id="10" name="TextBox 9"/>
          <p:cNvSpPr txBox="1"/>
          <p:nvPr/>
        </p:nvSpPr>
        <p:spPr>
          <a:xfrm>
            <a:off x="877824" y="2596896"/>
            <a:ext cx="3015386" cy="566928"/>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Pendapatan Premier League 2007–08, terbesar di Eropa. Serie A, La Liga dan Bundesliga masing-masing sekitar €1,4 miliar</a:t>
            </a:r>
          </a:p>
        </p:txBody>
      </p:sp>
      <p:sp>
        <p:nvSpPr>
          <p:cNvPr id="11" name="Rectangle 10"/>
          <p:cNvSpPr/>
          <p:nvPr/>
        </p:nvSpPr>
        <p:spPr>
          <a:xfrm>
            <a:off x="4368698" y="1883664"/>
            <a:ext cx="3454298" cy="13350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6869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88154" y="2066544"/>
            <a:ext cx="3015386" cy="457200"/>
          </a:xfrm>
          <a:prstGeom prst="rect">
            <a:avLst/>
          </a:prstGeom>
          <a:noFill/>
        </p:spPr>
        <p:txBody>
          <a:bodyPr wrap="square" lIns="0" rIns="0" tIns="0" bIns="0" anchor="t">
            <a:spAutoFit/>
          </a:bodyPr>
          <a:lstStyle/>
          <a:p>
            <a:pPr algn="l">
              <a:lnSpc>
                <a:spcPct val="95000"/>
              </a:lnSpc>
              <a:spcAft>
                <a:spcPts val="0"/>
              </a:spcAft>
            </a:pPr>
            <a:r>
              <a:rPr sz="2800" b="1" i="0">
                <a:solidFill>
                  <a:srgbClr val="DA291C"/>
                </a:solidFill>
                <a:latin typeface="Georgia"/>
              </a:rPr>
              <a:t>62%</a:t>
            </a:r>
          </a:p>
        </p:txBody>
      </p:sp>
      <p:sp>
        <p:nvSpPr>
          <p:cNvPr id="14" name="TextBox 13"/>
          <p:cNvSpPr txBox="1"/>
          <p:nvPr/>
        </p:nvSpPr>
        <p:spPr>
          <a:xfrm>
            <a:off x="4588154" y="2596896"/>
            <a:ext cx="3015386" cy="566928"/>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Porsi gaji terhadap pendapatan di Premier League. Serie A 68%, La Liga 63%. Gaji adalah pos biaya terbesar klub Eropa</a:t>
            </a:r>
          </a:p>
        </p:txBody>
      </p:sp>
      <p:sp>
        <p:nvSpPr>
          <p:cNvPr id="15" name="Rectangle 14"/>
          <p:cNvSpPr/>
          <p:nvPr/>
        </p:nvSpPr>
        <p:spPr>
          <a:xfrm>
            <a:off x="8079028" y="1883664"/>
            <a:ext cx="3454298" cy="13350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7902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98484" y="2066544"/>
            <a:ext cx="3015386" cy="457200"/>
          </a:xfrm>
          <a:prstGeom prst="rect">
            <a:avLst/>
          </a:prstGeom>
          <a:noFill/>
        </p:spPr>
        <p:txBody>
          <a:bodyPr wrap="square" lIns="0" rIns="0" tIns="0" bIns="0" anchor="t">
            <a:spAutoFit/>
          </a:bodyPr>
          <a:lstStyle/>
          <a:p>
            <a:pPr algn="l">
              <a:lnSpc>
                <a:spcPct val="95000"/>
              </a:lnSpc>
              <a:spcAft>
                <a:spcPts val="0"/>
              </a:spcAft>
            </a:pPr>
            <a:r>
              <a:rPr sz="2800" b="1" i="0">
                <a:solidFill>
                  <a:srgbClr val="DA291C"/>
                </a:solidFill>
                <a:latin typeface="Georgia"/>
              </a:rPr>
              <a:t>8 dari 10</a:t>
            </a:r>
          </a:p>
        </p:txBody>
      </p:sp>
      <p:sp>
        <p:nvSpPr>
          <p:cNvPr id="18" name="TextBox 17"/>
          <p:cNvSpPr txBox="1"/>
          <p:nvPr/>
        </p:nvSpPr>
        <p:spPr>
          <a:xfrm>
            <a:off x="8298484" y="2596896"/>
            <a:ext cx="3015386" cy="566928"/>
          </a:xfrm>
          <a:prstGeom prst="rect">
            <a:avLst/>
          </a:prstGeom>
          <a:noFill/>
        </p:spPr>
        <p:txBody>
          <a:bodyPr wrap="square" lIns="0" rIns="0" tIns="0" bIns="0" anchor="t">
            <a:spAutoFit/>
          </a:bodyPr>
          <a:lstStyle/>
          <a:p>
            <a:pPr algn="l">
              <a:lnSpc>
                <a:spcPct val="114000"/>
              </a:lnSpc>
              <a:spcAft>
                <a:spcPts val="0"/>
              </a:spcAft>
            </a:pPr>
            <a:r>
              <a:rPr sz="1100" b="0" i="0">
                <a:solidFill>
                  <a:srgbClr val="4A433F"/>
                </a:solidFill>
                <a:latin typeface="Calibri"/>
              </a:rPr>
              <a:t>Klub besar Eropa merugi selama 2000–2006. Industri ini tumbuh pesat, tapi tidak menguntungkan</a:t>
            </a:r>
          </a:p>
        </p:txBody>
      </p:sp>
      <p:sp>
        <p:nvSpPr>
          <p:cNvPr id="19" name="TextBox 18"/>
          <p:cNvSpPr txBox="1"/>
          <p:nvPr/>
        </p:nvSpPr>
        <p:spPr>
          <a:xfrm>
            <a:off x="658368" y="3474720"/>
            <a:ext cx="5254599"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Tiga sumber pendapatan klub (Premier League 2007–08)</a:t>
            </a:r>
          </a:p>
        </p:txBody>
      </p:sp>
      <p:sp>
        <p:nvSpPr>
          <p:cNvPr id="20" name="Rectangle 19"/>
          <p:cNvSpPr/>
          <p:nvPr/>
        </p:nvSpPr>
        <p:spPr>
          <a:xfrm>
            <a:off x="658368" y="3767328"/>
            <a:ext cx="5254599" cy="7498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58368" y="3767328"/>
            <a:ext cx="45720" cy="7498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96112" y="3858768"/>
            <a:ext cx="1737360" cy="256032"/>
          </a:xfrm>
          <a:prstGeom prst="rect">
            <a:avLst/>
          </a:prstGeom>
          <a:noFill/>
        </p:spPr>
        <p:txBody>
          <a:bodyPr wrap="square" lIns="0" rIns="0" tIns="0" bIns="0" anchor="t">
            <a:spAutoFit/>
          </a:bodyPr>
          <a:lstStyle/>
          <a:p>
            <a:pPr algn="l">
              <a:lnSpc>
                <a:spcPct val="100000"/>
              </a:lnSpc>
              <a:spcAft>
                <a:spcPts val="0"/>
              </a:spcAft>
            </a:pPr>
            <a:r>
              <a:rPr sz="1300" b="1" i="0">
                <a:solidFill>
                  <a:srgbClr val="1A1614"/>
                </a:solidFill>
                <a:latin typeface="Calibri"/>
              </a:rPr>
              <a:t>Matchday</a:t>
            </a:r>
          </a:p>
        </p:txBody>
      </p:sp>
      <p:sp>
        <p:nvSpPr>
          <p:cNvPr id="23" name="TextBox 22"/>
          <p:cNvSpPr txBox="1"/>
          <p:nvPr/>
        </p:nvSpPr>
        <p:spPr>
          <a:xfrm>
            <a:off x="4541367" y="3840480"/>
            <a:ext cx="1152144" cy="274320"/>
          </a:xfrm>
          <a:prstGeom prst="rect">
            <a:avLst/>
          </a:prstGeom>
          <a:noFill/>
        </p:spPr>
        <p:txBody>
          <a:bodyPr wrap="square" lIns="0" rIns="0" tIns="0" bIns="0" anchor="t">
            <a:spAutoFit/>
          </a:bodyPr>
          <a:lstStyle/>
          <a:p>
            <a:pPr algn="r">
              <a:lnSpc>
                <a:spcPct val="100000"/>
              </a:lnSpc>
              <a:spcAft>
                <a:spcPts val="0"/>
              </a:spcAft>
            </a:pPr>
            <a:r>
              <a:rPr sz="1400" b="1" i="0">
                <a:solidFill>
                  <a:srgbClr val="DA291C"/>
                </a:solidFill>
                <a:latin typeface="Georgia"/>
              </a:rPr>
              <a:t>£554 jt</a:t>
            </a:r>
          </a:p>
        </p:txBody>
      </p:sp>
      <p:sp>
        <p:nvSpPr>
          <p:cNvPr id="24" name="TextBox 23"/>
          <p:cNvSpPr txBox="1"/>
          <p:nvPr/>
        </p:nvSpPr>
        <p:spPr>
          <a:xfrm>
            <a:off x="896112" y="4133088"/>
            <a:ext cx="4779111"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Tiket dan hospitality. Dibatasi kapasitas stadion — itu sebabnya klub besar merenovasi atau membangun stadion baru</a:t>
            </a:r>
          </a:p>
        </p:txBody>
      </p:sp>
      <p:sp>
        <p:nvSpPr>
          <p:cNvPr id="25" name="Rectangle 24"/>
          <p:cNvSpPr/>
          <p:nvPr/>
        </p:nvSpPr>
        <p:spPr>
          <a:xfrm>
            <a:off x="658368" y="4572000"/>
            <a:ext cx="5254599" cy="7498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58368" y="4572000"/>
            <a:ext cx="45720" cy="7498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96112" y="4663440"/>
            <a:ext cx="1737360" cy="256032"/>
          </a:xfrm>
          <a:prstGeom prst="rect">
            <a:avLst/>
          </a:prstGeom>
          <a:noFill/>
        </p:spPr>
        <p:txBody>
          <a:bodyPr wrap="square" lIns="0" rIns="0" tIns="0" bIns="0" anchor="t">
            <a:spAutoFit/>
          </a:bodyPr>
          <a:lstStyle/>
          <a:p>
            <a:pPr algn="l">
              <a:lnSpc>
                <a:spcPct val="100000"/>
              </a:lnSpc>
              <a:spcAft>
                <a:spcPts val="0"/>
              </a:spcAft>
            </a:pPr>
            <a:r>
              <a:rPr sz="1300" b="1" i="0">
                <a:solidFill>
                  <a:srgbClr val="1A1614"/>
                </a:solidFill>
                <a:latin typeface="Calibri"/>
              </a:rPr>
              <a:t>Broadcasting</a:t>
            </a:r>
          </a:p>
        </p:txBody>
      </p:sp>
      <p:sp>
        <p:nvSpPr>
          <p:cNvPr id="28" name="TextBox 27"/>
          <p:cNvSpPr txBox="1"/>
          <p:nvPr/>
        </p:nvSpPr>
        <p:spPr>
          <a:xfrm>
            <a:off x="4541367" y="4645152"/>
            <a:ext cx="1152144" cy="274320"/>
          </a:xfrm>
          <a:prstGeom prst="rect">
            <a:avLst/>
          </a:prstGeom>
          <a:noFill/>
        </p:spPr>
        <p:txBody>
          <a:bodyPr wrap="square" lIns="0" rIns="0" tIns="0" bIns="0" anchor="t">
            <a:spAutoFit/>
          </a:bodyPr>
          <a:lstStyle/>
          <a:p>
            <a:pPr algn="r">
              <a:lnSpc>
                <a:spcPct val="100000"/>
              </a:lnSpc>
              <a:spcAft>
                <a:spcPts val="0"/>
              </a:spcAft>
            </a:pPr>
            <a:r>
              <a:rPr sz="1400" b="1" i="0">
                <a:solidFill>
                  <a:srgbClr val="DA291C"/>
                </a:solidFill>
                <a:latin typeface="Georgia"/>
              </a:rPr>
              <a:t>£931 jt</a:t>
            </a:r>
          </a:p>
        </p:txBody>
      </p:sp>
      <p:sp>
        <p:nvSpPr>
          <p:cNvPr id="29" name="TextBox 28"/>
          <p:cNvSpPr txBox="1"/>
          <p:nvPr/>
        </p:nvSpPr>
        <p:spPr>
          <a:xfrm>
            <a:off x="896112" y="4937760"/>
            <a:ext cx="4779111"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Hak siar dijual kolektif oleh liga. Kontrak 2006 bernilai £2,7 miliar; tiap klub dapat rata-rata £45 juta per tahun</a:t>
            </a:r>
          </a:p>
        </p:txBody>
      </p:sp>
      <p:sp>
        <p:nvSpPr>
          <p:cNvPr id="30" name="Rectangle 29"/>
          <p:cNvSpPr/>
          <p:nvPr/>
        </p:nvSpPr>
        <p:spPr>
          <a:xfrm>
            <a:off x="658368" y="5376672"/>
            <a:ext cx="5254599" cy="749808"/>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58368" y="5376672"/>
            <a:ext cx="45720" cy="749808"/>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96112" y="5468112"/>
            <a:ext cx="1737360" cy="256032"/>
          </a:xfrm>
          <a:prstGeom prst="rect">
            <a:avLst/>
          </a:prstGeom>
          <a:noFill/>
        </p:spPr>
        <p:txBody>
          <a:bodyPr wrap="square" lIns="0" rIns="0" tIns="0" bIns="0" anchor="t">
            <a:spAutoFit/>
          </a:bodyPr>
          <a:lstStyle/>
          <a:p>
            <a:pPr algn="l">
              <a:lnSpc>
                <a:spcPct val="100000"/>
              </a:lnSpc>
              <a:spcAft>
                <a:spcPts val="0"/>
              </a:spcAft>
            </a:pPr>
            <a:r>
              <a:rPr sz="1300" b="1" i="0">
                <a:solidFill>
                  <a:srgbClr val="1A1614"/>
                </a:solidFill>
                <a:latin typeface="Calibri"/>
              </a:rPr>
              <a:t>Commercial</a:t>
            </a:r>
          </a:p>
        </p:txBody>
      </p:sp>
      <p:sp>
        <p:nvSpPr>
          <p:cNvPr id="33" name="TextBox 32"/>
          <p:cNvSpPr txBox="1"/>
          <p:nvPr/>
        </p:nvSpPr>
        <p:spPr>
          <a:xfrm>
            <a:off x="4541367" y="5449824"/>
            <a:ext cx="1152144" cy="274320"/>
          </a:xfrm>
          <a:prstGeom prst="rect">
            <a:avLst/>
          </a:prstGeom>
          <a:noFill/>
        </p:spPr>
        <p:txBody>
          <a:bodyPr wrap="square" lIns="0" rIns="0" tIns="0" bIns="0" anchor="t">
            <a:spAutoFit/>
          </a:bodyPr>
          <a:lstStyle/>
          <a:p>
            <a:pPr algn="r">
              <a:lnSpc>
                <a:spcPct val="100000"/>
              </a:lnSpc>
              <a:spcAft>
                <a:spcPts val="0"/>
              </a:spcAft>
            </a:pPr>
            <a:r>
              <a:rPr sz="1400" b="1" i="0">
                <a:solidFill>
                  <a:srgbClr val="DA291C"/>
                </a:solidFill>
                <a:latin typeface="Georgia"/>
              </a:rPr>
              <a:t>£447 jt</a:t>
            </a:r>
          </a:p>
        </p:txBody>
      </p:sp>
      <p:sp>
        <p:nvSpPr>
          <p:cNvPr id="34" name="TextBox 33"/>
          <p:cNvSpPr txBox="1"/>
          <p:nvPr/>
        </p:nvSpPr>
        <p:spPr>
          <a:xfrm>
            <a:off x="896112" y="5742432"/>
            <a:ext cx="4779111" cy="365760"/>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Sponsor, lisensi merchandise, iklan stadion. Terpusat di sedikit klub — Real Madrid dan Barcelona menguasai lebih dari 60% La Liga</a:t>
            </a:r>
          </a:p>
        </p:txBody>
      </p:sp>
      <p:sp>
        <p:nvSpPr>
          <p:cNvPr id="35" name="TextBox 34"/>
          <p:cNvSpPr txBox="1"/>
          <p:nvPr/>
        </p:nvSpPr>
        <p:spPr>
          <a:xfrm>
            <a:off x="6278727" y="3474720"/>
            <a:ext cx="5254599"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1A1614"/>
                </a:solidFill>
                <a:latin typeface="Calibri"/>
              </a:rPr>
              <a:t>Aturan main dan logika ekonominya</a:t>
            </a:r>
          </a:p>
        </p:txBody>
      </p:sp>
      <p:sp>
        <p:nvSpPr>
          <p:cNvPr id="36" name="TextBox 35"/>
          <p:cNvSpPr txBox="1"/>
          <p:nvPr/>
        </p:nvSpPr>
        <p:spPr>
          <a:xfrm>
            <a:off x="6278727" y="3767328"/>
            <a:ext cx="52545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Struktur kompetisi</a:t>
            </a:r>
          </a:p>
        </p:txBody>
      </p:sp>
      <p:sp>
        <p:nvSpPr>
          <p:cNvPr id="37" name="TextBox 36"/>
          <p:cNvSpPr txBox="1"/>
          <p:nvPr/>
        </p:nvSpPr>
        <p:spPr>
          <a:xfrm>
            <a:off x="6278727" y="3986784"/>
            <a:ext cx="5254599" cy="420624"/>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20 klub Premier League, tiga terbawah turun kasta. Empat teratas lolos Champions League bersama 31 klub terbaik Eropa lain.</a:t>
            </a:r>
          </a:p>
        </p:txBody>
      </p:sp>
      <p:sp>
        <p:nvSpPr>
          <p:cNvPr id="38" name="TextBox 37"/>
          <p:cNvSpPr txBox="1"/>
          <p:nvPr/>
        </p:nvSpPr>
        <p:spPr>
          <a:xfrm>
            <a:off x="6278727" y="4480560"/>
            <a:ext cx="52545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Yang kaya makin kaya</a:t>
            </a:r>
          </a:p>
        </p:txBody>
      </p:sp>
      <p:sp>
        <p:nvSpPr>
          <p:cNvPr id="39" name="TextBox 38"/>
          <p:cNvSpPr txBox="1"/>
          <p:nvPr/>
        </p:nvSpPr>
        <p:spPr>
          <a:xfrm>
            <a:off x="6278727" y="4700016"/>
            <a:ext cx="5254599" cy="420624"/>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Sejak UCL dimulai 1992, muncul jurang keuangan antara empat klub teratas Inggris dan sisanya. Uang Eropa dipakai membeli pemain bagus.</a:t>
            </a:r>
          </a:p>
        </p:txBody>
      </p:sp>
      <p:sp>
        <p:nvSpPr>
          <p:cNvPr id="40" name="TextBox 39"/>
          <p:cNvSpPr txBox="1"/>
          <p:nvPr/>
        </p:nvSpPr>
        <p:spPr>
          <a:xfrm>
            <a:off x="6278727" y="5193792"/>
            <a:ext cx="52545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Harga pemain meledak</a:t>
            </a:r>
          </a:p>
        </p:txBody>
      </p:sp>
      <p:sp>
        <p:nvSpPr>
          <p:cNvPr id="41" name="TextBox 40"/>
          <p:cNvSpPr txBox="1"/>
          <p:nvPr/>
        </p:nvSpPr>
        <p:spPr>
          <a:xfrm>
            <a:off x="6278727" y="5413248"/>
            <a:ext cx="5254599" cy="420624"/>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Rekor transfer baru tercipta musim panas 2009 meski resesi. Pendorongnya: Real Madrid, lalu Chelsea, lalu Manchester City.</a:t>
            </a:r>
          </a:p>
        </p:txBody>
      </p:sp>
      <p:sp>
        <p:nvSpPr>
          <p:cNvPr id="42" name="Rectangle 41"/>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44" name="TextBox 43"/>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1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Di lapangan: jelas di atas rata-rata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Indikator kedua Thompson — apakah posisi dan kekuatan bersaingnya membaik — dijawab data kompetisi kasus.</a:t>
            </a:r>
          </a:p>
        </p:txBody>
      </p:sp>
      <p:sp>
        <p:nvSpPr>
          <p:cNvPr id="7" name="Rectangle 6"/>
          <p:cNvSpPr/>
          <p:nvPr/>
        </p:nvSpPr>
        <p:spPr>
          <a:xfrm>
            <a:off x="658368" y="1883664"/>
            <a:ext cx="3454298"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2084832"/>
            <a:ext cx="1991258" cy="566928"/>
          </a:xfrm>
          <a:prstGeom prst="rect">
            <a:avLst/>
          </a:prstGeom>
          <a:noFill/>
        </p:spPr>
        <p:txBody>
          <a:bodyPr wrap="square" lIns="0" rIns="0" tIns="0" bIns="0" anchor="t">
            <a:spAutoFit/>
          </a:bodyPr>
          <a:lstStyle/>
          <a:p>
            <a:pPr algn="l">
              <a:lnSpc>
                <a:spcPct val="92000"/>
              </a:lnSpc>
              <a:spcAft>
                <a:spcPts val="0"/>
              </a:spcAft>
            </a:pPr>
            <a:r>
              <a:rPr sz="3800" b="1" i="0">
                <a:solidFill>
                  <a:srgbClr val="DA291C"/>
                </a:solidFill>
                <a:latin typeface="Georgia"/>
              </a:rPr>
              <a:t>1.460</a:t>
            </a:r>
          </a:p>
        </p:txBody>
      </p:sp>
      <p:sp>
        <p:nvSpPr>
          <p:cNvPr id="10" name="TextBox 9"/>
          <p:cNvSpPr txBox="1"/>
          <p:nvPr/>
        </p:nvSpPr>
        <p:spPr>
          <a:xfrm>
            <a:off x="2814218" y="2121408"/>
            <a:ext cx="1060704" cy="219456"/>
          </a:xfrm>
          <a:prstGeom prst="rect">
            <a:avLst/>
          </a:prstGeom>
          <a:noFill/>
        </p:spPr>
        <p:txBody>
          <a:bodyPr wrap="square" lIns="0" rIns="0" tIns="0" bIns="0" anchor="t">
            <a:spAutoFit/>
          </a:bodyPr>
          <a:lstStyle/>
          <a:p>
            <a:pPr algn="r">
              <a:lnSpc>
                <a:spcPct val="100000"/>
              </a:lnSpc>
              <a:spcAft>
                <a:spcPts val="0"/>
              </a:spcAft>
            </a:pPr>
            <a:r>
              <a:rPr sz="950" b="1" i="0" cap="all">
                <a:solidFill>
                  <a:srgbClr val="8C837E"/>
                </a:solidFill>
                <a:latin typeface="Calibri"/>
              </a:rPr>
              <a:t>Tabel 6.2</a:t>
            </a:r>
          </a:p>
        </p:txBody>
      </p:sp>
      <p:sp>
        <p:nvSpPr>
          <p:cNvPr id="11" name="TextBox 10"/>
          <p:cNvSpPr txBox="1"/>
          <p:nvPr/>
        </p:nvSpPr>
        <p:spPr>
          <a:xfrm>
            <a:off x="896112" y="2743200"/>
            <a:ext cx="2997098" cy="457200"/>
          </a:xfrm>
          <a:prstGeom prst="rect">
            <a:avLst/>
          </a:prstGeom>
          <a:noFill/>
        </p:spPr>
        <p:txBody>
          <a:bodyPr wrap="square" lIns="0" rIns="0" tIns="0" bIns="0" anchor="t">
            <a:spAutoFit/>
          </a:bodyPr>
          <a:lstStyle/>
          <a:p>
            <a:pPr algn="l">
              <a:lnSpc>
                <a:spcPct val="110000"/>
              </a:lnSpc>
              <a:spcAft>
                <a:spcPts val="0"/>
              </a:spcAft>
            </a:pPr>
            <a:r>
              <a:rPr sz="1250" b="1" i="0">
                <a:solidFill>
                  <a:srgbClr val="1A1614"/>
                </a:solidFill>
                <a:latin typeface="Calibri"/>
              </a:rPr>
              <a:t>Poin performa Eropa 2000–2009, tertinggi</a:t>
            </a:r>
          </a:p>
        </p:txBody>
      </p:sp>
      <p:sp>
        <p:nvSpPr>
          <p:cNvPr id="12" name="TextBox 11"/>
          <p:cNvSpPr txBox="1"/>
          <p:nvPr/>
        </p:nvSpPr>
        <p:spPr>
          <a:xfrm>
            <a:off x="896112" y="3218688"/>
            <a:ext cx="2997098"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Barcelona 1.411 · Real Madrid 1.314 · Arsenal 1.310</a:t>
            </a:r>
          </a:p>
        </p:txBody>
      </p:sp>
      <p:sp>
        <p:nvSpPr>
          <p:cNvPr id="13" name="Rectangle 12"/>
          <p:cNvSpPr/>
          <p:nvPr/>
        </p:nvSpPr>
        <p:spPr>
          <a:xfrm>
            <a:off x="4368698" y="1883664"/>
            <a:ext cx="3454298"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6869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06442" y="2084832"/>
            <a:ext cx="1991258" cy="566928"/>
          </a:xfrm>
          <a:prstGeom prst="rect">
            <a:avLst/>
          </a:prstGeom>
          <a:noFill/>
        </p:spPr>
        <p:txBody>
          <a:bodyPr wrap="square" lIns="0" rIns="0" tIns="0" bIns="0" anchor="t">
            <a:spAutoFit/>
          </a:bodyPr>
          <a:lstStyle/>
          <a:p>
            <a:pPr algn="l">
              <a:lnSpc>
                <a:spcPct val="92000"/>
              </a:lnSpc>
              <a:spcAft>
                <a:spcPts val="0"/>
              </a:spcAft>
            </a:pPr>
            <a:r>
              <a:rPr sz="3800" b="1" i="0">
                <a:solidFill>
                  <a:srgbClr val="DA291C"/>
                </a:solidFill>
                <a:latin typeface="Georgia"/>
              </a:rPr>
              <a:t>3</a:t>
            </a:r>
          </a:p>
        </p:txBody>
      </p:sp>
      <p:sp>
        <p:nvSpPr>
          <p:cNvPr id="16" name="TextBox 15"/>
          <p:cNvSpPr txBox="1"/>
          <p:nvPr/>
        </p:nvSpPr>
        <p:spPr>
          <a:xfrm>
            <a:off x="6524548" y="2121408"/>
            <a:ext cx="1060704" cy="219456"/>
          </a:xfrm>
          <a:prstGeom prst="rect">
            <a:avLst/>
          </a:prstGeom>
          <a:noFill/>
        </p:spPr>
        <p:txBody>
          <a:bodyPr wrap="square" lIns="0" rIns="0" tIns="0" bIns="0" anchor="t">
            <a:spAutoFit/>
          </a:bodyPr>
          <a:lstStyle/>
          <a:p>
            <a:pPr algn="r">
              <a:lnSpc>
                <a:spcPct val="100000"/>
              </a:lnSpc>
              <a:spcAft>
                <a:spcPts val="0"/>
              </a:spcAft>
            </a:pPr>
            <a:r>
              <a:rPr sz="950" b="1" i="0" cap="all">
                <a:solidFill>
                  <a:srgbClr val="8C837E"/>
                </a:solidFill>
                <a:latin typeface="Calibri"/>
              </a:rPr>
              <a:t>Tabel 6.1</a:t>
            </a:r>
          </a:p>
        </p:txBody>
      </p:sp>
      <p:sp>
        <p:nvSpPr>
          <p:cNvPr id="17" name="TextBox 16"/>
          <p:cNvSpPr txBox="1"/>
          <p:nvPr/>
        </p:nvSpPr>
        <p:spPr>
          <a:xfrm>
            <a:off x="4606442" y="2743200"/>
            <a:ext cx="2997098" cy="457200"/>
          </a:xfrm>
          <a:prstGeom prst="rect">
            <a:avLst/>
          </a:prstGeom>
          <a:noFill/>
        </p:spPr>
        <p:txBody>
          <a:bodyPr wrap="square" lIns="0" rIns="0" tIns="0" bIns="0" anchor="t">
            <a:spAutoFit/>
          </a:bodyPr>
          <a:lstStyle/>
          <a:p>
            <a:pPr algn="l">
              <a:lnSpc>
                <a:spcPct val="110000"/>
              </a:lnSpc>
              <a:spcAft>
                <a:spcPts val="0"/>
              </a:spcAft>
            </a:pPr>
            <a:r>
              <a:rPr sz="1250" b="1" i="0">
                <a:solidFill>
                  <a:srgbClr val="1A1614"/>
                </a:solidFill>
                <a:latin typeface="Calibri"/>
              </a:rPr>
              <a:t>Gelar liga beruntun 2007, 2008, 2009</a:t>
            </a:r>
          </a:p>
        </p:txBody>
      </p:sp>
      <p:sp>
        <p:nvSpPr>
          <p:cNvPr id="18" name="TextBox 17"/>
          <p:cNvSpPr txBox="1"/>
          <p:nvPr/>
        </p:nvSpPr>
        <p:spPr>
          <a:xfrm>
            <a:off x="4606442" y="3218688"/>
            <a:ext cx="2997098"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Total 11 gelar liga sejak 1993 dalam rentang kasus</a:t>
            </a:r>
          </a:p>
        </p:txBody>
      </p:sp>
      <p:sp>
        <p:nvSpPr>
          <p:cNvPr id="19" name="Rectangle 18"/>
          <p:cNvSpPr/>
          <p:nvPr/>
        </p:nvSpPr>
        <p:spPr>
          <a:xfrm>
            <a:off x="8079028" y="1883664"/>
            <a:ext cx="3454298"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7902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16772" y="2084832"/>
            <a:ext cx="1991258" cy="566928"/>
          </a:xfrm>
          <a:prstGeom prst="rect">
            <a:avLst/>
          </a:prstGeom>
          <a:noFill/>
        </p:spPr>
        <p:txBody>
          <a:bodyPr wrap="square" lIns="0" rIns="0" tIns="0" bIns="0" anchor="t">
            <a:spAutoFit/>
          </a:bodyPr>
          <a:lstStyle/>
          <a:p>
            <a:pPr algn="l">
              <a:lnSpc>
                <a:spcPct val="92000"/>
              </a:lnSpc>
              <a:spcAft>
                <a:spcPts val="0"/>
              </a:spcAft>
            </a:pPr>
            <a:r>
              <a:rPr sz="3800" b="1" i="0">
                <a:solidFill>
                  <a:srgbClr val="DA291C"/>
                </a:solidFill>
                <a:latin typeface="Georgia"/>
              </a:rPr>
              <a:t>2008</a:t>
            </a:r>
          </a:p>
        </p:txBody>
      </p:sp>
      <p:sp>
        <p:nvSpPr>
          <p:cNvPr id="22" name="TextBox 21"/>
          <p:cNvSpPr txBox="1"/>
          <p:nvPr/>
        </p:nvSpPr>
        <p:spPr>
          <a:xfrm>
            <a:off x="10234879" y="2121408"/>
            <a:ext cx="1060704" cy="219456"/>
          </a:xfrm>
          <a:prstGeom prst="rect">
            <a:avLst/>
          </a:prstGeom>
          <a:noFill/>
        </p:spPr>
        <p:txBody>
          <a:bodyPr wrap="square" lIns="0" rIns="0" tIns="0" bIns="0" anchor="t">
            <a:spAutoFit/>
          </a:bodyPr>
          <a:lstStyle/>
          <a:p>
            <a:pPr algn="r">
              <a:lnSpc>
                <a:spcPct val="100000"/>
              </a:lnSpc>
              <a:spcAft>
                <a:spcPts val="0"/>
              </a:spcAft>
            </a:pPr>
            <a:r>
              <a:rPr sz="950" b="1" i="0" cap="all">
                <a:solidFill>
                  <a:srgbClr val="8C837E"/>
                </a:solidFill>
                <a:latin typeface="Calibri"/>
              </a:rPr>
              <a:t>Halaman 584</a:t>
            </a:r>
          </a:p>
        </p:txBody>
      </p:sp>
      <p:sp>
        <p:nvSpPr>
          <p:cNvPr id="23" name="TextBox 22"/>
          <p:cNvSpPr txBox="1"/>
          <p:nvPr/>
        </p:nvSpPr>
        <p:spPr>
          <a:xfrm>
            <a:off x="8316772" y="2743200"/>
            <a:ext cx="2997098" cy="457200"/>
          </a:xfrm>
          <a:prstGeom prst="rect">
            <a:avLst/>
          </a:prstGeom>
          <a:noFill/>
        </p:spPr>
        <p:txBody>
          <a:bodyPr wrap="square" lIns="0" rIns="0" tIns="0" bIns="0" anchor="t">
            <a:spAutoFit/>
          </a:bodyPr>
          <a:lstStyle/>
          <a:p>
            <a:pPr algn="l">
              <a:lnSpc>
                <a:spcPct val="110000"/>
              </a:lnSpc>
              <a:spcAft>
                <a:spcPts val="0"/>
              </a:spcAft>
            </a:pPr>
            <a:r>
              <a:rPr sz="1250" b="1" i="0">
                <a:solidFill>
                  <a:srgbClr val="1A1614"/>
                </a:solidFill>
                <a:latin typeface="Calibri"/>
              </a:rPr>
              <a:t>Juara Liga Champions, gelar Eropa kedua Ferguson</a:t>
            </a:r>
          </a:p>
        </p:txBody>
      </p:sp>
      <p:sp>
        <p:nvSpPr>
          <p:cNvPr id="24" name="TextBox 23"/>
          <p:cNvSpPr txBox="1"/>
          <p:nvPr/>
        </p:nvSpPr>
        <p:spPr>
          <a:xfrm>
            <a:off x="8316772" y="3218688"/>
            <a:ext cx="2997098" cy="34747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Setelah 1999: liga, FA Cup, European Cup, Intercontinental</a:t>
            </a:r>
          </a:p>
        </p:txBody>
      </p:sp>
      <p:graphicFrame>
        <p:nvGraphicFramePr>
          <p:cNvPr id="25" name="Table 24"/>
          <p:cNvGraphicFramePr>
            <a:graphicFrameLocks noGrp="1"/>
          </p:cNvGraphicFramePr>
          <p:nvPr/>
        </p:nvGraphicFramePr>
        <p:xfrm>
          <a:off x="658368" y="3840480"/>
          <a:ext cx="10908792" cy="2103120"/>
        </p:xfrm>
        <a:graphic>
          <a:graphicData uri="http://schemas.openxmlformats.org/drawingml/2006/table">
            <a:tbl>
              <a:tblPr>
                <a:tableStyleId>{5C22544A-7EE6-4342-B048-85BDC9FD1C3A}</a:tableStyleId>
              </a:tblPr>
              <a:tblGrid>
                <a:gridCol w="2606040"/>
                <a:gridCol w="2194560"/>
                <a:gridCol w="2194560"/>
                <a:gridCol w="1920240"/>
                <a:gridCol w="1993392"/>
              </a:tblGrid>
              <a:tr h="347472">
                <a:tc>
                  <a:txBody>
                    <a:bodyPr wrap="square"/>
                    <a:lstStyle/>
                    <a:p>
                      <a:pPr algn="l">
                        <a:lnSpc>
                          <a:spcPct val="106000"/>
                        </a:lnSpc>
                      </a:pPr>
                      <a:r>
                        <a:rPr sz="1050" b="1">
                          <a:solidFill>
                            <a:srgbClr val="FFFFFF"/>
                          </a:solidFill>
                          <a:latin typeface="Calibri"/>
                        </a:rPr>
                        <a:t>Klub</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50" b="1">
                          <a:solidFill>
                            <a:srgbClr val="FFFFFF"/>
                          </a:solidFill>
                          <a:latin typeface="Calibri"/>
                        </a:rPr>
                        <a:t>Poin Eropa 2000–09</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50" b="1">
                          <a:solidFill>
                            <a:srgbClr val="FFFFFF"/>
                          </a:solidFill>
                          <a:latin typeface="Calibri"/>
                        </a:rPr>
                        <a:t>Poin performa</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50" b="1">
                          <a:solidFill>
                            <a:srgbClr val="FFFFFF"/>
                          </a:solidFill>
                          <a:latin typeface="Calibri"/>
                        </a:rPr>
                        <a:t>Ukuran skuad</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50" b="1">
                          <a:solidFill>
                            <a:srgbClr val="FFFFFF"/>
                          </a:solidFill>
                          <a:latin typeface="Calibri"/>
                        </a:rPr>
                        <a:t>Usia rata-rata</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r h="292608">
                <a:tc>
                  <a:txBody>
                    <a:bodyPr wrap="square"/>
                    <a:lstStyle/>
                    <a:p>
                      <a:pPr algn="l">
                        <a:lnSpc>
                          <a:spcPct val="106000"/>
                        </a:lnSpc>
                      </a:pPr>
                      <a:r>
                        <a:rPr sz="1150" b="1">
                          <a:solidFill>
                            <a:srgbClr val="FFFFFF"/>
                          </a:solidFill>
                          <a:latin typeface="Calibri"/>
                        </a:rPr>
                        <a:t>Manchester United</a:t>
                      </a:r>
                    </a:p>
                  </a:txBody>
                  <a:tcPr marL="91440" marR="91440" marT="50292" marB="50292" anchor="ctr">
                    <a:lnL w="9525" cap="flat" cmpd="sng" algn="ctr">
                      <a:solidFill>
                        <a:srgbClr val="DA291C"/>
                      </a:solidFill>
                    </a:lnL>
                    <a:lnR w="9525" cap="flat" cmpd="sng" algn="ctr">
                      <a:solidFill>
                        <a:srgbClr val="DA291C"/>
                      </a:solidFill>
                    </a:lnR>
                    <a:lnT w="9525" cap="flat" cmpd="sng" algn="ctr">
                      <a:solidFill>
                        <a:srgbClr val="DA291C"/>
                      </a:solidFill>
                    </a:lnT>
                    <a:lnB w="9525" cap="flat" cmpd="sng" algn="ctr">
                      <a:solidFill>
                        <a:srgbClr val="DA291C"/>
                      </a:solidFill>
                    </a:lnB>
                    <a:solidFill>
                      <a:srgbClr val="DA291C"/>
                    </a:solidFill>
                  </a:tcPr>
                </a:tc>
                <a:tc>
                  <a:txBody>
                    <a:bodyPr wrap="square"/>
                    <a:lstStyle/>
                    <a:p>
                      <a:pPr algn="ctr">
                        <a:lnSpc>
                          <a:spcPct val="106000"/>
                        </a:lnSpc>
                      </a:pPr>
                      <a:r>
                        <a:rPr sz="1150" b="1">
                          <a:solidFill>
                            <a:srgbClr val="FFFFFF"/>
                          </a:solidFill>
                          <a:latin typeface="Calibri"/>
                        </a:rPr>
                        <a:t>1.460</a:t>
                      </a:r>
                    </a:p>
                  </a:txBody>
                  <a:tcPr marL="91440" marR="91440" marT="50292" marB="50292" anchor="ctr">
                    <a:lnL w="9525" cap="flat" cmpd="sng" algn="ctr">
                      <a:solidFill>
                        <a:srgbClr val="DA291C"/>
                      </a:solidFill>
                    </a:lnL>
                    <a:lnR w="9525" cap="flat" cmpd="sng" algn="ctr">
                      <a:solidFill>
                        <a:srgbClr val="DA291C"/>
                      </a:solidFill>
                    </a:lnR>
                    <a:lnT w="9525" cap="flat" cmpd="sng" algn="ctr">
                      <a:solidFill>
                        <a:srgbClr val="DA291C"/>
                      </a:solidFill>
                    </a:lnT>
                    <a:lnB w="9525" cap="flat" cmpd="sng" algn="ctr">
                      <a:solidFill>
                        <a:srgbClr val="DA291C"/>
                      </a:solidFill>
                    </a:lnB>
                    <a:solidFill>
                      <a:srgbClr val="DA291C"/>
                    </a:solidFill>
                  </a:tcPr>
                </a:tc>
                <a:tc>
                  <a:txBody>
                    <a:bodyPr wrap="square"/>
                    <a:lstStyle/>
                    <a:p>
                      <a:pPr algn="ctr">
                        <a:lnSpc>
                          <a:spcPct val="106000"/>
                        </a:lnSpc>
                      </a:pPr>
                      <a:r>
                        <a:rPr sz="1150" b="1">
                          <a:solidFill>
                            <a:srgbClr val="FFFFFF"/>
                          </a:solidFill>
                          <a:latin typeface="Calibri"/>
                        </a:rPr>
                        <a:t>192,5</a:t>
                      </a:r>
                    </a:p>
                  </a:txBody>
                  <a:tcPr marL="91440" marR="91440" marT="50292" marB="50292" anchor="ctr">
                    <a:lnL w="9525" cap="flat" cmpd="sng" algn="ctr">
                      <a:solidFill>
                        <a:srgbClr val="DA291C"/>
                      </a:solidFill>
                    </a:lnL>
                    <a:lnR w="9525" cap="flat" cmpd="sng" algn="ctr">
                      <a:solidFill>
                        <a:srgbClr val="DA291C"/>
                      </a:solidFill>
                    </a:lnR>
                    <a:lnT w="9525" cap="flat" cmpd="sng" algn="ctr">
                      <a:solidFill>
                        <a:srgbClr val="DA291C"/>
                      </a:solidFill>
                    </a:lnT>
                    <a:lnB w="9525" cap="flat" cmpd="sng" algn="ctr">
                      <a:solidFill>
                        <a:srgbClr val="DA291C"/>
                      </a:solidFill>
                    </a:lnB>
                    <a:solidFill>
                      <a:srgbClr val="DA291C"/>
                    </a:solidFill>
                  </a:tcPr>
                </a:tc>
                <a:tc>
                  <a:txBody>
                    <a:bodyPr wrap="square"/>
                    <a:lstStyle/>
                    <a:p>
                      <a:pPr algn="ctr">
                        <a:lnSpc>
                          <a:spcPct val="106000"/>
                        </a:lnSpc>
                      </a:pPr>
                      <a:r>
                        <a:rPr sz="1150" b="1">
                          <a:solidFill>
                            <a:srgbClr val="FFFFFF"/>
                          </a:solidFill>
                          <a:latin typeface="Calibri"/>
                        </a:rPr>
                        <a:t>34</a:t>
                      </a:r>
                    </a:p>
                  </a:txBody>
                  <a:tcPr marL="91440" marR="91440" marT="50292" marB="50292" anchor="ctr">
                    <a:lnL w="9525" cap="flat" cmpd="sng" algn="ctr">
                      <a:solidFill>
                        <a:srgbClr val="DA291C"/>
                      </a:solidFill>
                    </a:lnL>
                    <a:lnR w="9525" cap="flat" cmpd="sng" algn="ctr">
                      <a:solidFill>
                        <a:srgbClr val="DA291C"/>
                      </a:solidFill>
                    </a:lnR>
                    <a:lnT w="9525" cap="flat" cmpd="sng" algn="ctr">
                      <a:solidFill>
                        <a:srgbClr val="DA291C"/>
                      </a:solidFill>
                    </a:lnT>
                    <a:lnB w="9525" cap="flat" cmpd="sng" algn="ctr">
                      <a:solidFill>
                        <a:srgbClr val="DA291C"/>
                      </a:solidFill>
                    </a:lnB>
                    <a:solidFill>
                      <a:srgbClr val="DA291C"/>
                    </a:solidFill>
                  </a:tcPr>
                </a:tc>
                <a:tc>
                  <a:txBody>
                    <a:bodyPr wrap="square"/>
                    <a:lstStyle/>
                    <a:p>
                      <a:pPr algn="ctr">
                        <a:lnSpc>
                          <a:spcPct val="106000"/>
                        </a:lnSpc>
                      </a:pPr>
                      <a:r>
                        <a:rPr sz="1150" b="1">
                          <a:solidFill>
                            <a:srgbClr val="FFFFFF"/>
                          </a:solidFill>
                          <a:latin typeface="Calibri"/>
                        </a:rPr>
                        <a:t>25,6</a:t>
                      </a:r>
                    </a:p>
                  </a:txBody>
                  <a:tcPr marL="91440" marR="91440" marT="50292" marB="50292" anchor="ctr">
                    <a:lnL w="9525" cap="flat" cmpd="sng" algn="ctr">
                      <a:solidFill>
                        <a:srgbClr val="DA291C"/>
                      </a:solidFill>
                    </a:lnL>
                    <a:lnR w="9525" cap="flat" cmpd="sng" algn="ctr">
                      <a:solidFill>
                        <a:srgbClr val="DA291C"/>
                      </a:solidFill>
                    </a:lnR>
                    <a:lnT w="9525" cap="flat" cmpd="sng" algn="ctr">
                      <a:solidFill>
                        <a:srgbClr val="DA291C"/>
                      </a:solidFill>
                    </a:lnT>
                    <a:lnB w="9525" cap="flat" cmpd="sng" algn="ctr">
                      <a:solidFill>
                        <a:srgbClr val="DA291C"/>
                      </a:solidFill>
                    </a:lnB>
                    <a:solidFill>
                      <a:srgbClr val="DA291C"/>
                    </a:solidFill>
                  </a:tcPr>
                </a:tc>
              </a:tr>
              <a:tr h="292608">
                <a:tc>
                  <a:txBody>
                    <a:bodyPr wrap="square"/>
                    <a:lstStyle/>
                    <a:p>
                      <a:pPr algn="l">
                        <a:lnSpc>
                          <a:spcPct val="106000"/>
                        </a:lnSpc>
                      </a:pPr>
                      <a:r>
                        <a:rPr sz="1150" b="1">
                          <a:solidFill>
                            <a:srgbClr val="1A1614"/>
                          </a:solidFill>
                          <a:latin typeface="Calibri"/>
                        </a:rPr>
                        <a:t>Barcelona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1.411</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200,0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26,8</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92608">
                <a:tc>
                  <a:txBody>
                    <a:bodyPr wrap="square"/>
                    <a:lstStyle/>
                    <a:p>
                      <a:pPr algn="l">
                        <a:lnSpc>
                          <a:spcPct val="106000"/>
                        </a:lnSpc>
                      </a:pPr>
                      <a:r>
                        <a:rPr sz="1150" b="1">
                          <a:solidFill>
                            <a:srgbClr val="1A1614"/>
                          </a:solidFill>
                          <a:latin typeface="Calibri"/>
                        </a:rPr>
                        <a:t>Real Madrid</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1.314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183,0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29</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26,2</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92608">
                <a:tc>
                  <a:txBody>
                    <a:bodyPr wrap="square"/>
                    <a:lstStyle/>
                    <a:p>
                      <a:pPr algn="l">
                        <a:lnSpc>
                          <a:spcPct val="106000"/>
                        </a:lnSpc>
                      </a:pPr>
                      <a:r>
                        <a:rPr sz="1150" b="1">
                          <a:solidFill>
                            <a:srgbClr val="1A1614"/>
                          </a:solidFill>
                          <a:latin typeface="Calibri"/>
                        </a:rPr>
                        <a:t>Bayern München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1.314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179,5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26,5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92608">
                <a:tc>
                  <a:txBody>
                    <a:bodyPr wrap="square"/>
                    <a:lstStyle/>
                    <a:p>
                      <a:pPr algn="l">
                        <a:lnSpc>
                          <a:spcPct val="106000"/>
                        </a:lnSpc>
                      </a:pPr>
                      <a:r>
                        <a:rPr sz="1150" b="1">
                          <a:solidFill>
                            <a:srgbClr val="1A1614"/>
                          </a:solidFill>
                          <a:latin typeface="Calibri"/>
                        </a:rPr>
                        <a:t>Arsenal</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1.310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162,0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31</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150" b="0">
                          <a:solidFill>
                            <a:srgbClr val="1A1614"/>
                          </a:solidFill>
                          <a:latin typeface="Calibri"/>
                        </a:rPr>
                        <a:t>23,3</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92608">
                <a:tc>
                  <a:txBody>
                    <a:bodyPr wrap="square"/>
                    <a:lstStyle/>
                    <a:p>
                      <a:pPr algn="l">
                        <a:lnSpc>
                          <a:spcPct val="106000"/>
                        </a:lnSpc>
                      </a:pPr>
                      <a:r>
                        <a:rPr sz="1150" b="1">
                          <a:solidFill>
                            <a:srgbClr val="1A1614"/>
                          </a:solidFill>
                          <a:latin typeface="Calibri"/>
                        </a:rPr>
                        <a:t>Chelsea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1.276</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144,5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29</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150" b="0">
                          <a:solidFill>
                            <a:srgbClr val="1A1614"/>
                          </a:solidFill>
                          <a:latin typeface="Calibri"/>
                        </a:rPr>
                        <a:t>27,4</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bl>
          </a:graphicData>
        </a:graphic>
      </p:graphicFrame>
      <p:sp>
        <p:nvSpPr>
          <p:cNvPr id="26" name="TextBox 25"/>
          <p:cNvSpPr txBox="1"/>
          <p:nvPr/>
        </p:nvSpPr>
        <p:spPr>
          <a:xfrm>
            <a:off x="658368" y="5961888"/>
            <a:ext cx="10874959" cy="237744"/>
          </a:xfrm>
          <a:prstGeom prst="rect">
            <a:avLst/>
          </a:prstGeom>
          <a:noFill/>
        </p:spPr>
        <p:txBody>
          <a:bodyPr wrap="square" lIns="0" rIns="0" tIns="0" bIns="0" anchor="t">
            <a:spAutoFit/>
          </a:bodyPr>
          <a:lstStyle/>
          <a:p>
            <a:pPr algn="l">
              <a:lnSpc>
                <a:spcPct val="100000"/>
              </a:lnSpc>
              <a:spcAft>
                <a:spcPts val="0"/>
              </a:spcAft>
            </a:pPr>
            <a:r>
              <a:rPr sz="1000" b="0" i="1">
                <a:solidFill>
                  <a:srgbClr val="8C837E"/>
                </a:solidFill>
                <a:latin typeface="Calibri"/>
              </a:rPr>
              <a:t>Skuad MU paling besar (34 pemain) sekaligus salah satu termuda (25,6 tahun) — cocok dengan strategi memadukan pemain muda dan pemain senior.</a:t>
            </a:r>
          </a:p>
        </p:txBody>
      </p:sp>
      <p:sp>
        <p:nvSpPr>
          <p:cNvPr id="27" name="Rectangle 26"/>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29" name="TextBox 28"/>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1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Di keuangan: paling untung di Eropa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Indikator pertama Thompson — apakah kekuatan keuangan dan labanya membaik — dijawab Appendix kasus dan Tabel 6.5 serta 6.6.</a:t>
            </a:r>
          </a:p>
        </p:txBody>
      </p:sp>
      <p:sp>
        <p:nvSpPr>
          <p:cNvPr id="7" name="TextBox 6"/>
          <p:cNvSpPr txBox="1"/>
          <p:nvPr/>
        </p:nvSpPr>
        <p:spPr>
          <a:xfrm>
            <a:off x="658368" y="1883664"/>
            <a:ext cx="5926852"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Pendapatan Manchester United, £ juta — naik 121% sejak 2000</a:t>
            </a:r>
          </a:p>
        </p:txBody>
      </p:sp>
      <p:graphicFrame>
        <p:nvGraphicFramePr>
          <p:cNvPr id="8" name="Chart 7"/>
          <p:cNvGraphicFramePr>
            <a:graphicFrameLocks noGrp="1"/>
          </p:cNvGraphicFramePr>
          <p:nvPr/>
        </p:nvGraphicFramePr>
        <p:xfrm>
          <a:off x="658368" y="2194560"/>
          <a:ext cx="5926852" cy="2560320"/>
        </p:xfrm>
        <a:graphic>
          <a:graphicData uri="http://schemas.openxmlformats.org/drawingml/2006/chart">
            <c:chart xmlns:c="http://schemas.openxmlformats.org/drawingml/2006/chart" r:id="rId2"/>
          </a:graphicData>
        </a:graphic>
      </p:graphicFrame>
      <p:sp>
        <p:nvSpPr>
          <p:cNvPr id="9" name="TextBox 8"/>
          <p:cNvSpPr txBox="1"/>
          <p:nvPr/>
        </p:nvSpPr>
        <p:spPr>
          <a:xfrm>
            <a:off x="658368" y="4846320"/>
            <a:ext cx="5926852" cy="493776"/>
          </a:xfrm>
          <a:prstGeom prst="rect">
            <a:avLst/>
          </a:prstGeom>
          <a:noFill/>
        </p:spPr>
        <p:txBody>
          <a:bodyPr wrap="square" lIns="0" rIns="0" tIns="0" bIns="0" anchor="t">
            <a:spAutoFit/>
          </a:bodyPr>
          <a:lstStyle/>
          <a:p>
            <a:pPr algn="l">
              <a:lnSpc>
                <a:spcPct val="114000"/>
              </a:lnSpc>
              <a:spcAft>
                <a:spcPts val="0"/>
              </a:spcAft>
            </a:pPr>
            <a:r>
              <a:rPr sz="950" b="0" i="1">
                <a:solidFill>
                  <a:srgbClr val="8C837E"/>
                </a:solidFill>
                <a:latin typeface="Calibri"/>
              </a:rPr>
              <a:t>2000–2004 = Manchester United plc, 12 bulan sampai 31 Juli. 2005–2008 = Manchester United Limited, 11 bulan sampai 30 Juni. Kasus menyatakan kedua periode tidak sepenuhnya sebanding.</a:t>
            </a:r>
          </a:p>
        </p:txBody>
      </p:sp>
      <p:sp>
        <p:nvSpPr>
          <p:cNvPr id="10" name="TextBox 9"/>
          <p:cNvSpPr txBox="1"/>
          <p:nvPr/>
        </p:nvSpPr>
        <p:spPr>
          <a:xfrm>
            <a:off x="6969268" y="1883664"/>
            <a:ext cx="4564058"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Bukti pendukung</a:t>
            </a:r>
          </a:p>
        </p:txBody>
      </p:sp>
      <p:sp>
        <p:nvSpPr>
          <p:cNvPr id="11" name="Rectangle 10"/>
          <p:cNvSpPr/>
          <p:nvPr/>
        </p:nvSpPr>
        <p:spPr>
          <a:xfrm>
            <a:off x="6969268" y="2194560"/>
            <a:ext cx="4564058" cy="73152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969268" y="2194560"/>
            <a:ext cx="45720" cy="7315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188724" y="2395728"/>
            <a:ext cx="1371600" cy="329184"/>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Georgia"/>
              </a:rPr>
              <a:t>18,2%</a:t>
            </a:r>
          </a:p>
        </p:txBody>
      </p:sp>
      <p:sp>
        <p:nvSpPr>
          <p:cNvPr id="14" name="TextBox 13"/>
          <p:cNvSpPr txBox="1"/>
          <p:nvPr/>
        </p:nvSpPr>
        <p:spPr>
          <a:xfrm>
            <a:off x="8633476" y="2276856"/>
            <a:ext cx="2680394" cy="56692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Net profit margin 2008 — laba bersih £46,8 jt atas pendapatan £257,1 jt</a:t>
            </a:r>
          </a:p>
        </p:txBody>
      </p:sp>
      <p:sp>
        <p:nvSpPr>
          <p:cNvPr id="15" name="Rectangle 14"/>
          <p:cNvSpPr/>
          <p:nvPr/>
        </p:nvSpPr>
        <p:spPr>
          <a:xfrm>
            <a:off x="6969268" y="2999232"/>
            <a:ext cx="4564058" cy="73152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969268" y="2999232"/>
            <a:ext cx="45720" cy="7315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188724" y="3200400"/>
            <a:ext cx="1371600" cy="329184"/>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Georgia"/>
              </a:rPr>
              <a:t>12,6%</a:t>
            </a:r>
          </a:p>
        </p:txBody>
      </p:sp>
      <p:sp>
        <p:nvSpPr>
          <p:cNvPr id="18" name="TextBox 17"/>
          <p:cNvSpPr txBox="1"/>
          <p:nvPr/>
        </p:nvSpPr>
        <p:spPr>
          <a:xfrm>
            <a:off x="8633476" y="3081527"/>
            <a:ext cx="2680394" cy="56692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Return on sales 2000–2006 (Tabel 6.6), tertinggi dari 10 klub besar Eropa; Real Madrid hanya 0,4%</a:t>
            </a:r>
          </a:p>
        </p:txBody>
      </p:sp>
      <p:sp>
        <p:nvSpPr>
          <p:cNvPr id="19" name="Rectangle 18"/>
          <p:cNvSpPr/>
          <p:nvPr/>
        </p:nvSpPr>
        <p:spPr>
          <a:xfrm>
            <a:off x="6969268" y="3803904"/>
            <a:ext cx="4564058" cy="73152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69268" y="3803904"/>
            <a:ext cx="45720" cy="7315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88724" y="4005072"/>
            <a:ext cx="1371600" cy="329184"/>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Georgia"/>
              </a:rPr>
              <a:t>€101,9 jt</a:t>
            </a:r>
          </a:p>
        </p:txBody>
      </p:sp>
      <p:sp>
        <p:nvSpPr>
          <p:cNvPr id="22" name="TextBox 21"/>
          <p:cNvSpPr txBox="1"/>
          <p:nvPr/>
        </p:nvSpPr>
        <p:spPr>
          <a:xfrm>
            <a:off x="8633476" y="3886200"/>
            <a:ext cx="2680394" cy="56692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EBITDA 2009 (Tabel 6.5), tertinggi di Eropa. Margin 31,4% vs Barcelona 22,3% dan Real Madrid 14,1%</a:t>
            </a:r>
          </a:p>
        </p:txBody>
      </p:sp>
      <p:sp>
        <p:nvSpPr>
          <p:cNvPr id="23" name="Rectangle 22"/>
          <p:cNvSpPr/>
          <p:nvPr/>
        </p:nvSpPr>
        <p:spPr>
          <a:xfrm>
            <a:off x="6969268" y="4608576"/>
            <a:ext cx="4564058" cy="73152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969268" y="4608576"/>
            <a:ext cx="45720" cy="7315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188724" y="4809744"/>
            <a:ext cx="1371600" cy="329184"/>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Georgia"/>
              </a:rPr>
              <a:t>£1,14 M</a:t>
            </a:r>
          </a:p>
        </p:txBody>
      </p:sp>
      <p:sp>
        <p:nvSpPr>
          <p:cNvPr id="26" name="TextBox 25"/>
          <p:cNvSpPr txBox="1"/>
          <p:nvPr/>
        </p:nvSpPr>
        <p:spPr>
          <a:xfrm>
            <a:off x="8633476" y="4690872"/>
            <a:ext cx="2680394" cy="566928"/>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Nilai klub (Forbes 2009), nomor 1 dunia — di atas Barcelona £960 jt dan Real Madrid £850 jt</a:t>
            </a:r>
          </a:p>
        </p:txBody>
      </p:sp>
      <p:sp>
        <p:nvSpPr>
          <p:cNvPr id="27" name="Rectangle 26"/>
          <p:cNvSpPr/>
          <p:nvPr/>
        </p:nvSpPr>
        <p:spPr>
          <a:xfrm>
            <a:off x="658368" y="5431536"/>
            <a:ext cx="10874959" cy="69494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FF8A7A"/>
                </a:solidFill>
                <a:latin typeface="Calibri"/>
              </a:rPr>
              <a:t>Satu angka yang merusak gambaran ini: </a:t>
            </a:r>
            <a:r>
              <a:rPr sz="1200" b="0">
                <a:solidFill>
                  <a:srgbClr val="FFFFFF"/>
                </a:solidFill>
                <a:latin typeface="Calibri"/>
              </a:rPr>
              <a:t>utang £616 juta (Tabel 6.5), tertinggi kedua di Eropa setelah Arsenal (£896 juta). Utang ini datang dari akuisisi Glazer 2005 yang dibiayai pinjaman, bukan dari operasi klub.</a:t>
            </a:r>
          </a:p>
        </p:txBody>
      </p:sp>
      <p:sp>
        <p:nvSpPr>
          <p:cNvPr id="30" name="Rectangle 2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32" name="TextBox 3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1 · Kesimpulan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Prestasi puncak, belanja paling hemat</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Analisis turunan kami dari Tabel 6.7: bukti terkuat bahwa keunggulan MU bukan soal uang.</a:t>
            </a:r>
          </a:p>
        </p:txBody>
      </p:sp>
      <p:sp>
        <p:nvSpPr>
          <p:cNvPr id="7" name="TextBox 6"/>
          <p:cNvSpPr txBox="1"/>
          <p:nvPr/>
        </p:nvSpPr>
        <p:spPr>
          <a:xfrm>
            <a:off x="658368" y="1883664"/>
            <a:ext cx="5981227" cy="256032"/>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Belanja transfer bersih 2003–2009, £ juta (Tabel 6.7)</a:t>
            </a:r>
          </a:p>
        </p:txBody>
      </p:sp>
      <p:graphicFrame>
        <p:nvGraphicFramePr>
          <p:cNvPr id="8" name="Chart 7"/>
          <p:cNvGraphicFramePr>
            <a:graphicFrameLocks noGrp="1"/>
          </p:cNvGraphicFramePr>
          <p:nvPr/>
        </p:nvGraphicFramePr>
        <p:xfrm>
          <a:off x="658368" y="2194560"/>
          <a:ext cx="5981227" cy="2743200"/>
        </p:xfrm>
        <a:graphic>
          <a:graphicData uri="http://schemas.openxmlformats.org/drawingml/2006/chart">
            <c:chart xmlns:c="http://schemas.openxmlformats.org/drawingml/2006/chart" r:id="rId2"/>
          </a:graphicData>
        </a:graphic>
      </p:graphicFrame>
      <p:sp>
        <p:nvSpPr>
          <p:cNvPr id="9" name="Rectangle 8"/>
          <p:cNvSpPr/>
          <p:nvPr/>
        </p:nvSpPr>
        <p:spPr>
          <a:xfrm>
            <a:off x="7023643" y="1883664"/>
            <a:ext cx="4509683" cy="140817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023643" y="1883664"/>
            <a:ext cx="45720" cy="140817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297963" y="2029968"/>
            <a:ext cx="1828800" cy="457200"/>
          </a:xfrm>
          <a:prstGeom prst="rect">
            <a:avLst/>
          </a:prstGeom>
          <a:noFill/>
        </p:spPr>
        <p:txBody>
          <a:bodyPr wrap="square" lIns="0" rIns="0" tIns="0" bIns="0" anchor="t">
            <a:spAutoFit/>
          </a:bodyPr>
          <a:lstStyle/>
          <a:p>
            <a:pPr algn="l">
              <a:lnSpc>
                <a:spcPct val="100000"/>
              </a:lnSpc>
              <a:spcAft>
                <a:spcPts val="0"/>
              </a:spcAft>
            </a:pPr>
            <a:r>
              <a:rPr sz="3200" b="1" i="0">
                <a:solidFill>
                  <a:srgbClr val="FF8A7A"/>
                </a:solidFill>
                <a:latin typeface="Georgia"/>
              </a:rPr>
              <a:t>4,4×</a:t>
            </a:r>
          </a:p>
        </p:txBody>
      </p:sp>
      <p:sp>
        <p:nvSpPr>
          <p:cNvPr id="12" name="TextBox 11"/>
          <p:cNvSpPr txBox="1"/>
          <p:nvPr/>
        </p:nvSpPr>
        <p:spPr>
          <a:xfrm>
            <a:off x="7297963" y="2560320"/>
            <a:ext cx="3942755" cy="694944"/>
          </a:xfrm>
          <a:prstGeom prst="rect">
            <a:avLst/>
          </a:prstGeom>
          <a:noFill/>
        </p:spPr>
        <p:txBody>
          <a:bodyPr wrap="square" lIns="0" rIns="0" tIns="0" bIns="0" anchor="t">
            <a:spAutoFit/>
          </a:bodyPr>
          <a:lstStyle/>
          <a:p>
            <a:pPr algn="l">
              <a:lnSpc>
                <a:spcPct val="118000"/>
              </a:lnSpc>
              <a:spcAft>
                <a:spcPts val="0"/>
              </a:spcAft>
            </a:pPr>
            <a:r>
              <a:rPr sz="1200" b="0" i="0">
                <a:solidFill>
                  <a:srgbClr val="FFFFFF"/>
                </a:solidFill>
                <a:latin typeface="Calibri"/>
              </a:rPr>
              <a:t>Real Madrid membelanjakan 4,4 kali lipat belanja bersih MU (£438 jt vs £100 jt), tapi poin performanya lebih rendah: 183,0 vs 192,5.</a:t>
            </a:r>
          </a:p>
        </p:txBody>
      </p:sp>
      <p:sp>
        <p:nvSpPr>
          <p:cNvPr id="13" name="Rectangle 12"/>
          <p:cNvSpPr/>
          <p:nvPr/>
        </p:nvSpPr>
        <p:spPr>
          <a:xfrm>
            <a:off x="7023643" y="3547872"/>
            <a:ext cx="4509683" cy="53035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224811" y="3621024"/>
            <a:ext cx="4107347"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Chelsea</a:t>
            </a:r>
          </a:p>
        </p:txBody>
      </p:sp>
      <p:sp>
        <p:nvSpPr>
          <p:cNvPr id="15" name="TextBox 14"/>
          <p:cNvSpPr txBox="1"/>
          <p:nvPr/>
        </p:nvSpPr>
        <p:spPr>
          <a:xfrm>
            <a:off x="7224811" y="3831335"/>
            <a:ext cx="4107347" cy="201168"/>
          </a:xfrm>
          <a:prstGeom prst="rect">
            <a:avLst/>
          </a:prstGeom>
          <a:noFill/>
        </p:spPr>
        <p:txBody>
          <a:bodyPr wrap="square" lIns="0" rIns="0" tIns="0" bIns="0" anchor="t">
            <a:spAutoFit/>
          </a:bodyPr>
          <a:lstStyle/>
          <a:p>
            <a:pPr algn="l">
              <a:lnSpc>
                <a:spcPct val="106000"/>
              </a:lnSpc>
              <a:spcAft>
                <a:spcPts val="0"/>
              </a:spcAft>
            </a:pPr>
            <a:r>
              <a:rPr sz="1050" b="0" i="0">
                <a:solidFill>
                  <a:srgbClr val="4A433F"/>
                </a:solidFill>
                <a:latin typeface="Calibri"/>
              </a:rPr>
              <a:t>£430 jt belanja bersih, hanya 144,5 poin.</a:t>
            </a:r>
          </a:p>
        </p:txBody>
      </p:sp>
      <p:sp>
        <p:nvSpPr>
          <p:cNvPr id="16" name="Rectangle 15"/>
          <p:cNvSpPr/>
          <p:nvPr/>
        </p:nvSpPr>
        <p:spPr>
          <a:xfrm>
            <a:off x="7023643" y="4151376"/>
            <a:ext cx="4509683" cy="53035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224811" y="4224528"/>
            <a:ext cx="4107347"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Barcelona</a:t>
            </a:r>
          </a:p>
        </p:txBody>
      </p:sp>
      <p:sp>
        <p:nvSpPr>
          <p:cNvPr id="18" name="TextBox 17"/>
          <p:cNvSpPr txBox="1"/>
          <p:nvPr/>
        </p:nvSpPr>
        <p:spPr>
          <a:xfrm>
            <a:off x="7224811" y="4434840"/>
            <a:ext cx="4107347" cy="201168"/>
          </a:xfrm>
          <a:prstGeom prst="rect">
            <a:avLst/>
          </a:prstGeom>
          <a:noFill/>
        </p:spPr>
        <p:txBody>
          <a:bodyPr wrap="square" lIns="0" rIns="0" tIns="0" bIns="0" anchor="t">
            <a:spAutoFit/>
          </a:bodyPr>
          <a:lstStyle/>
          <a:p>
            <a:pPr algn="l">
              <a:lnSpc>
                <a:spcPct val="106000"/>
              </a:lnSpc>
              <a:spcAft>
                <a:spcPts val="0"/>
              </a:spcAft>
            </a:pPr>
            <a:r>
              <a:rPr sz="1050" b="0" i="0">
                <a:solidFill>
                  <a:srgbClr val="4A433F"/>
                </a:solidFill>
                <a:latin typeface="Calibri"/>
              </a:rPr>
              <a:t>£249 jt → 200,0 poin; satu-satunya yang mengungguli MU.</a:t>
            </a:r>
          </a:p>
        </p:txBody>
      </p:sp>
      <p:sp>
        <p:nvSpPr>
          <p:cNvPr id="19" name="Rectangle 18"/>
          <p:cNvSpPr/>
          <p:nvPr/>
        </p:nvSpPr>
        <p:spPr>
          <a:xfrm>
            <a:off x="7023643" y="4754880"/>
            <a:ext cx="4509683" cy="530352"/>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224811" y="4828032"/>
            <a:ext cx="4107347" cy="219456"/>
          </a:xfrm>
          <a:prstGeom prst="rect">
            <a:avLst/>
          </a:prstGeom>
          <a:noFill/>
        </p:spPr>
        <p:txBody>
          <a:bodyPr wrap="square" lIns="0" rIns="0" tIns="0" bIns="0" anchor="t">
            <a:spAutoFit/>
          </a:bodyPr>
          <a:lstStyle/>
          <a:p>
            <a:pPr algn="l">
              <a:lnSpc>
                <a:spcPct val="100000"/>
              </a:lnSpc>
              <a:spcAft>
                <a:spcPts val="0"/>
              </a:spcAft>
            </a:pPr>
            <a:r>
              <a:rPr sz="1150" b="1" i="0">
                <a:solidFill>
                  <a:srgbClr val="DA291C"/>
                </a:solidFill>
                <a:latin typeface="Calibri"/>
              </a:rPr>
              <a:t>Arsenal &amp; Bayern</a:t>
            </a:r>
          </a:p>
        </p:txBody>
      </p:sp>
      <p:sp>
        <p:nvSpPr>
          <p:cNvPr id="21" name="TextBox 20"/>
          <p:cNvSpPr txBox="1"/>
          <p:nvPr/>
        </p:nvSpPr>
        <p:spPr>
          <a:xfrm>
            <a:off x="7224811" y="5038344"/>
            <a:ext cx="4107347" cy="201168"/>
          </a:xfrm>
          <a:prstGeom prst="rect">
            <a:avLst/>
          </a:prstGeom>
          <a:noFill/>
        </p:spPr>
        <p:txBody>
          <a:bodyPr wrap="square" lIns="0" rIns="0" tIns="0" bIns="0" anchor="t">
            <a:spAutoFit/>
          </a:bodyPr>
          <a:lstStyle/>
          <a:p>
            <a:pPr algn="l">
              <a:lnSpc>
                <a:spcPct val="106000"/>
              </a:lnSpc>
              <a:spcAft>
                <a:spcPts val="0"/>
              </a:spcAft>
            </a:pPr>
            <a:r>
              <a:rPr sz="1050" b="0" i="0">
                <a:solidFill>
                  <a:srgbClr val="4A433F"/>
                </a:solidFill>
                <a:latin typeface="Calibri"/>
              </a:rPr>
              <a:t>Lebih hemat, tapi poinnya di bawah MU.</a:t>
            </a:r>
          </a:p>
        </p:txBody>
      </p:sp>
      <p:sp>
        <p:nvSpPr>
          <p:cNvPr id="22" name="Rectangle 21"/>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Jawaban Q1: </a:t>
            </a:r>
            <a:r>
              <a:rPr sz="1200" b="0">
                <a:solidFill>
                  <a:srgbClr val="1A1614"/>
                </a:solidFill>
                <a:latin typeface="Calibri"/>
              </a:rPr>
              <a:t>strategi MU bekerja sangat baik. Kedua indikator Thompson terpenuhi sekaligus, di industri yang mayoritas pelakunya merugi. Yang harus dijelaskan pertanyaan berikutnya: kenapa bisa begitu.</a:t>
            </a:r>
          </a:p>
        </p:txBody>
      </p:sp>
      <p:sp>
        <p:nvSpPr>
          <p:cNvPr id="25" name="Rectangle 24"/>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27" name="TextBox 26"/>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2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SWOT Manchester United, Juli 2009</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Semua temuan Q1 dirangkum, lalu ditarik kesimpulan — sesuai langkah 2 dan 3 Figure 4.2, bukan berhenti di daftar.</a:t>
            </a:r>
          </a:p>
        </p:txBody>
      </p:sp>
      <p:sp>
        <p:nvSpPr>
          <p:cNvPr id="7" name="Rectangle 6"/>
          <p:cNvSpPr/>
          <p:nvPr/>
        </p:nvSpPr>
        <p:spPr>
          <a:xfrm>
            <a:off x="658368" y="1883664"/>
            <a:ext cx="5300319"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5300319"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2029968"/>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DA291C"/>
                </a:solidFill>
                <a:latin typeface="Georgia"/>
              </a:rPr>
              <a:t>S</a:t>
            </a:r>
          </a:p>
        </p:txBody>
      </p:sp>
      <p:sp>
        <p:nvSpPr>
          <p:cNvPr id="10" name="TextBox 9"/>
          <p:cNvSpPr txBox="1"/>
          <p:nvPr/>
        </p:nvSpPr>
        <p:spPr>
          <a:xfrm>
            <a:off x="1261872" y="2066544"/>
            <a:ext cx="2743200"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Strengths</a:t>
            </a:r>
          </a:p>
        </p:txBody>
      </p:sp>
      <p:sp>
        <p:nvSpPr>
          <p:cNvPr id="11" name="TextBox 10"/>
          <p:cNvSpPr txBox="1"/>
          <p:nvPr/>
        </p:nvSpPr>
        <p:spPr>
          <a:xfrm>
            <a:off x="877824" y="2450592"/>
            <a:ext cx="4861407" cy="877824"/>
          </a:xfrm>
          <a:prstGeom prst="rect">
            <a:avLst/>
          </a:prstGeom>
          <a:noFill/>
        </p:spPr>
        <p:txBody>
          <a:bodyPr wrap="square" lIns="0" rIns="0" tIns="0" bIns="0">
            <a:spAutoFit/>
          </a:bodyPr>
          <a:lstStyle/>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Merek global dengan 80 juta pendukung di Asia</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Laba tertinggi di Eropa: EBITDA €101,9 jt, RoS 12,6%</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Akademi dan jaringan pemandu bakat yang matang</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Disiplin transfer: belanja bersih hanya £100 jt</a:t>
            </a:r>
          </a:p>
        </p:txBody>
      </p:sp>
      <p:sp>
        <p:nvSpPr>
          <p:cNvPr id="12" name="Rectangle 11"/>
          <p:cNvSpPr/>
          <p:nvPr/>
        </p:nvSpPr>
        <p:spPr>
          <a:xfrm>
            <a:off x="6233007" y="1883664"/>
            <a:ext cx="5300319"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33007" y="1883664"/>
            <a:ext cx="5300319"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52463" y="2029968"/>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DA291C"/>
                </a:solidFill>
                <a:latin typeface="Georgia"/>
              </a:rPr>
              <a:t>W</a:t>
            </a:r>
          </a:p>
        </p:txBody>
      </p:sp>
      <p:sp>
        <p:nvSpPr>
          <p:cNvPr id="15" name="TextBox 14"/>
          <p:cNvSpPr txBox="1"/>
          <p:nvPr/>
        </p:nvSpPr>
        <p:spPr>
          <a:xfrm>
            <a:off x="6836511" y="2066544"/>
            <a:ext cx="2743200"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Weaknesses</a:t>
            </a:r>
          </a:p>
        </p:txBody>
      </p:sp>
      <p:sp>
        <p:nvSpPr>
          <p:cNvPr id="16" name="TextBox 15"/>
          <p:cNvSpPr txBox="1"/>
          <p:nvPr/>
        </p:nvSpPr>
        <p:spPr>
          <a:xfrm>
            <a:off x="6452463" y="2450592"/>
            <a:ext cx="4861407" cy="877824"/>
          </a:xfrm>
          <a:prstGeom prst="rect">
            <a:avLst/>
          </a:prstGeom>
          <a:noFill/>
        </p:spPr>
        <p:txBody>
          <a:bodyPr wrap="square" lIns="0" rIns="0" tIns="0" bIns="0">
            <a:spAutoFit/>
          </a:bodyPr>
          <a:lstStyle/>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Utang £616 jt warisan akuisisi Glazer 2005</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Bergantung pada satu orang berusia 67 tahun</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Belum ada rencana suksesi saat kasus ditulis</a:t>
            </a:r>
          </a:p>
          <a:p>
            <a:pPr marL="237744" indent="-237744">
              <a:lnSpc>
                <a:spcPct val="108000"/>
              </a:lnSpc>
              <a:spcAft>
                <a:spcPts val="300"/>
              </a:spcAft>
            </a:pPr>
            <a:r>
              <a:rPr sz="1050" b="1">
                <a:solidFill>
                  <a:srgbClr val="DA291C"/>
                </a:solidFill>
                <a:latin typeface="Calibri"/>
              </a:rPr>
              <a:t>·  </a:t>
            </a:r>
            <a:r>
              <a:rPr sz="1050">
                <a:solidFill>
                  <a:srgbClr val="4A433F"/>
                </a:solidFill>
                <a:latin typeface="Calibri"/>
              </a:rPr>
              <a:t>Ronaldo, satu-satunya pemain MU di peringkat FIFA, baru dijual</a:t>
            </a:r>
          </a:p>
        </p:txBody>
      </p:sp>
      <p:sp>
        <p:nvSpPr>
          <p:cNvPr id="17" name="Rectangle 16"/>
          <p:cNvSpPr/>
          <p:nvPr/>
        </p:nvSpPr>
        <p:spPr>
          <a:xfrm>
            <a:off x="658368" y="3493008"/>
            <a:ext cx="5300319"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3493008"/>
            <a:ext cx="5300319"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639312"/>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1A1614"/>
                </a:solidFill>
                <a:latin typeface="Georgia"/>
              </a:rPr>
              <a:t>O</a:t>
            </a:r>
          </a:p>
        </p:txBody>
      </p:sp>
      <p:sp>
        <p:nvSpPr>
          <p:cNvPr id="20" name="TextBox 19"/>
          <p:cNvSpPr txBox="1"/>
          <p:nvPr/>
        </p:nvSpPr>
        <p:spPr>
          <a:xfrm>
            <a:off x="1261872" y="3675888"/>
            <a:ext cx="2743200"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Opportunities</a:t>
            </a:r>
          </a:p>
        </p:txBody>
      </p:sp>
      <p:sp>
        <p:nvSpPr>
          <p:cNvPr id="21" name="TextBox 20"/>
          <p:cNvSpPr txBox="1"/>
          <p:nvPr/>
        </p:nvSpPr>
        <p:spPr>
          <a:xfrm>
            <a:off x="877824" y="4059936"/>
            <a:ext cx="4861407" cy="877824"/>
          </a:xfrm>
          <a:prstGeom prst="rect">
            <a:avLst/>
          </a:prstGeom>
          <a:noFill/>
        </p:spPr>
        <p:txBody>
          <a:bodyPr wrap="square" lIns="0" rIns="0" tIns="0" bIns="0">
            <a:spAutoFit/>
          </a:bodyPr>
          <a:lstStyle/>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Pasar Asia — India dan Cina disebut Aon sebagai target utama</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Sponsor per negara masih bisa diperbanyak</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Pendapatan siaran Premier League naik 43% dalam setahun</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Kanal digital: MUTV, MU Mobile, toko online</a:t>
            </a:r>
          </a:p>
        </p:txBody>
      </p:sp>
      <p:sp>
        <p:nvSpPr>
          <p:cNvPr id="22" name="Rectangle 21"/>
          <p:cNvSpPr/>
          <p:nvPr/>
        </p:nvSpPr>
        <p:spPr>
          <a:xfrm>
            <a:off x="6233007" y="3493008"/>
            <a:ext cx="5300319"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33007" y="3493008"/>
            <a:ext cx="5300319" cy="4572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463" y="3639312"/>
            <a:ext cx="365760" cy="365760"/>
          </a:xfrm>
          <a:prstGeom prst="rect">
            <a:avLst/>
          </a:prstGeom>
          <a:noFill/>
        </p:spPr>
        <p:txBody>
          <a:bodyPr wrap="square" lIns="0" rIns="0" tIns="0" bIns="0" anchor="t">
            <a:spAutoFit/>
          </a:bodyPr>
          <a:lstStyle/>
          <a:p>
            <a:pPr algn="l">
              <a:lnSpc>
                <a:spcPct val="100000"/>
              </a:lnSpc>
              <a:spcAft>
                <a:spcPts val="0"/>
              </a:spcAft>
            </a:pPr>
            <a:r>
              <a:rPr sz="2000" b="1" i="0">
                <a:solidFill>
                  <a:srgbClr val="1A1614"/>
                </a:solidFill>
                <a:latin typeface="Georgia"/>
              </a:rPr>
              <a:t>T</a:t>
            </a:r>
          </a:p>
        </p:txBody>
      </p:sp>
      <p:sp>
        <p:nvSpPr>
          <p:cNvPr id="25" name="TextBox 24"/>
          <p:cNvSpPr txBox="1"/>
          <p:nvPr/>
        </p:nvSpPr>
        <p:spPr>
          <a:xfrm>
            <a:off x="6836511" y="3675888"/>
            <a:ext cx="2743200" cy="274320"/>
          </a:xfrm>
          <a:prstGeom prst="rect">
            <a:avLst/>
          </a:prstGeom>
          <a:noFill/>
        </p:spPr>
        <p:txBody>
          <a:bodyPr wrap="square" lIns="0" rIns="0" tIns="0" bIns="0" anchor="t">
            <a:spAutoFit/>
          </a:bodyPr>
          <a:lstStyle/>
          <a:p>
            <a:pPr algn="l">
              <a:lnSpc>
                <a:spcPct val="100000"/>
              </a:lnSpc>
              <a:spcAft>
                <a:spcPts val="0"/>
              </a:spcAft>
            </a:pPr>
            <a:r>
              <a:rPr sz="1350" b="1" i="0">
                <a:solidFill>
                  <a:srgbClr val="1A1614"/>
                </a:solidFill>
                <a:latin typeface="Calibri"/>
              </a:rPr>
              <a:t>Threats</a:t>
            </a:r>
          </a:p>
        </p:txBody>
      </p:sp>
      <p:sp>
        <p:nvSpPr>
          <p:cNvPr id="26" name="TextBox 25"/>
          <p:cNvSpPr txBox="1"/>
          <p:nvPr/>
        </p:nvSpPr>
        <p:spPr>
          <a:xfrm>
            <a:off x="6452463" y="4059936"/>
            <a:ext cx="4861407" cy="877824"/>
          </a:xfrm>
          <a:prstGeom prst="rect">
            <a:avLst/>
          </a:prstGeom>
          <a:noFill/>
        </p:spPr>
        <p:txBody>
          <a:bodyPr wrap="square" lIns="0" rIns="0" tIns="0" bIns="0">
            <a:spAutoFit/>
          </a:bodyPr>
          <a:lstStyle/>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Harga pemain meledak, didorong Manchester City (£185 jt)</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Pesaing berpemilik sangat kaya: Abramovich, Sheikh Mansour</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Beban bunga membatasi kemampuan membeli pemain</a:t>
            </a:r>
          </a:p>
          <a:p>
            <a:pPr marL="237744" indent="-237744">
              <a:lnSpc>
                <a:spcPct val="108000"/>
              </a:lnSpc>
              <a:spcAft>
                <a:spcPts val="300"/>
              </a:spcAft>
            </a:pPr>
            <a:r>
              <a:rPr sz="1050" b="1">
                <a:solidFill>
                  <a:srgbClr val="1A1614"/>
                </a:solidFill>
                <a:latin typeface="Calibri"/>
              </a:rPr>
              <a:t>·  </a:t>
            </a:r>
            <a:r>
              <a:rPr sz="1050">
                <a:solidFill>
                  <a:srgbClr val="4A433F"/>
                </a:solidFill>
                <a:latin typeface="Calibri"/>
              </a:rPr>
              <a:t>Barcelona unggul poin performa (200,0 vs 192,5)</a:t>
            </a:r>
          </a:p>
        </p:txBody>
      </p:sp>
      <p:sp>
        <p:nvSpPr>
          <p:cNvPr id="27" name="Rectangle 26"/>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Kesimpulan (langkah 2): </a:t>
            </a:r>
            <a:r>
              <a:rPr sz="1200" b="0">
                <a:solidFill>
                  <a:srgbClr val="1A1614"/>
                </a:solidFill>
                <a:latin typeface="Calibri"/>
              </a:rPr>
              <a:t>kekuatan MU cukup untuk menangkap peluang komersial di Asia, tapi tidak cukup menahan ancaman di pasar pemain — karena dua kelemahan terbesarnya justru menyerang sisi lapangan, yang jadi syarat bagi seluruh pendapatan komersialnya.</a:t>
            </a:r>
          </a:p>
        </p:txBody>
      </p:sp>
      <p:sp>
        <p:nvSpPr>
          <p:cNvPr id="30" name="Rectangle 2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32" name="TextBox 3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Inventarisasi resource Manchester United</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Langkah pertama Q3: mendaftar aset bersaing klub memakai tipologi Tabel 4.3, semuanya berdasarkan bukti dari kasus.</a:t>
            </a:r>
          </a:p>
        </p:txBody>
      </p:sp>
      <p:sp>
        <p:nvSpPr>
          <p:cNvPr id="7" name="Rectangle 6"/>
          <p:cNvSpPr/>
          <p:nvPr/>
        </p:nvSpPr>
        <p:spPr>
          <a:xfrm>
            <a:off x="658368" y="1883664"/>
            <a:ext cx="5254599" cy="31638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5254599" cy="42062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1975104"/>
            <a:ext cx="4797399" cy="274320"/>
          </a:xfrm>
          <a:prstGeom prst="rect">
            <a:avLst/>
          </a:prstGeom>
          <a:noFill/>
        </p:spPr>
        <p:txBody>
          <a:bodyPr wrap="square" lIns="0" rIns="0" tIns="0" bIns="0" anchor="t">
            <a:spAutoFit/>
          </a:bodyPr>
          <a:lstStyle/>
          <a:p>
            <a:pPr algn="l">
              <a:lnSpc>
                <a:spcPct val="100000"/>
              </a:lnSpc>
              <a:spcAft>
                <a:spcPts val="0"/>
              </a:spcAft>
            </a:pPr>
            <a:r>
              <a:rPr sz="1350" b="1" i="0">
                <a:solidFill>
                  <a:srgbClr val="FFFFFF"/>
                </a:solidFill>
                <a:latin typeface="Calibri"/>
              </a:rPr>
              <a:t>Tangible</a:t>
            </a:r>
          </a:p>
        </p:txBody>
      </p:sp>
      <p:sp>
        <p:nvSpPr>
          <p:cNvPr id="10" name="TextBox 9"/>
          <p:cNvSpPr txBox="1"/>
          <p:nvPr/>
        </p:nvSpPr>
        <p:spPr>
          <a:xfrm>
            <a:off x="877824" y="2450592"/>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Finansial</a:t>
            </a:r>
          </a:p>
        </p:txBody>
      </p:sp>
      <p:sp>
        <p:nvSpPr>
          <p:cNvPr id="11" name="TextBox 10"/>
          <p:cNvSpPr txBox="1"/>
          <p:nvPr/>
        </p:nvSpPr>
        <p:spPr>
          <a:xfrm>
            <a:off x="877824" y="2679192"/>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EBITDA €101,9 jt tertinggi di Eropa; laba bersih £46,8 jt; ekuitas £294 jt</a:t>
            </a:r>
          </a:p>
        </p:txBody>
      </p:sp>
      <p:sp>
        <p:nvSpPr>
          <p:cNvPr id="12" name="TextBox 11"/>
          <p:cNvSpPr txBox="1"/>
          <p:nvPr/>
        </p:nvSpPr>
        <p:spPr>
          <a:xfrm>
            <a:off x="877824" y="3108960"/>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Fisik</a:t>
            </a:r>
          </a:p>
        </p:txBody>
      </p:sp>
      <p:sp>
        <p:nvSpPr>
          <p:cNvPr id="13" name="TextBox 12"/>
          <p:cNvSpPr txBox="1"/>
          <p:nvPr/>
        </p:nvSpPr>
        <p:spPr>
          <a:xfrm>
            <a:off x="877824" y="3337560"/>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Old Trafford, diperluas 2006 dengan tambahan 7.500 kursi; museum dan tur stadion</a:t>
            </a:r>
          </a:p>
        </p:txBody>
      </p:sp>
      <p:sp>
        <p:nvSpPr>
          <p:cNvPr id="14" name="TextBox 13"/>
          <p:cNvSpPr txBox="1"/>
          <p:nvPr/>
        </p:nvSpPr>
        <p:spPr>
          <a:xfrm>
            <a:off x="877824" y="3767328"/>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Organisasional</a:t>
            </a:r>
          </a:p>
        </p:txBody>
      </p:sp>
      <p:sp>
        <p:nvSpPr>
          <p:cNvPr id="15" name="TextBox 14"/>
          <p:cNvSpPr txBox="1"/>
          <p:nvPr/>
        </p:nvSpPr>
        <p:spPr>
          <a:xfrm>
            <a:off x="877824" y="3995928"/>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Pemisahan tegas urusan tim (Ferguson) dan komersial (Gill, Arnold); anak usaha MU International</a:t>
            </a:r>
          </a:p>
        </p:txBody>
      </p:sp>
      <p:sp>
        <p:nvSpPr>
          <p:cNvPr id="16" name="TextBox 15"/>
          <p:cNvSpPr txBox="1"/>
          <p:nvPr/>
        </p:nvSpPr>
        <p:spPr>
          <a:xfrm>
            <a:off x="877824" y="4425696"/>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1A1614"/>
                </a:solidFill>
                <a:latin typeface="Calibri"/>
              </a:rPr>
              <a:t>Teknologi &amp; kontrak</a:t>
            </a:r>
          </a:p>
        </p:txBody>
      </p:sp>
      <p:sp>
        <p:nvSpPr>
          <p:cNvPr id="17" name="TextBox 16"/>
          <p:cNvSpPr txBox="1"/>
          <p:nvPr/>
        </p:nvSpPr>
        <p:spPr>
          <a:xfrm>
            <a:off x="877824" y="4654296"/>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Kontrak 34 pemain; portofolio hak sponsor berjangka panjang</a:t>
            </a:r>
          </a:p>
        </p:txBody>
      </p:sp>
      <p:sp>
        <p:nvSpPr>
          <p:cNvPr id="18" name="Rectangle 17"/>
          <p:cNvSpPr/>
          <p:nvPr/>
        </p:nvSpPr>
        <p:spPr>
          <a:xfrm>
            <a:off x="6278727" y="1883664"/>
            <a:ext cx="5254599" cy="316382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8727" y="1883664"/>
            <a:ext cx="5254599" cy="42062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183" y="1975104"/>
            <a:ext cx="4797399" cy="274320"/>
          </a:xfrm>
          <a:prstGeom prst="rect">
            <a:avLst/>
          </a:prstGeom>
          <a:noFill/>
        </p:spPr>
        <p:txBody>
          <a:bodyPr wrap="square" lIns="0" rIns="0" tIns="0" bIns="0" anchor="t">
            <a:spAutoFit/>
          </a:bodyPr>
          <a:lstStyle/>
          <a:p>
            <a:pPr algn="l">
              <a:lnSpc>
                <a:spcPct val="100000"/>
              </a:lnSpc>
              <a:spcAft>
                <a:spcPts val="0"/>
              </a:spcAft>
            </a:pPr>
            <a:r>
              <a:rPr sz="1350" b="1" i="0">
                <a:solidFill>
                  <a:srgbClr val="FFFFFF"/>
                </a:solidFill>
                <a:latin typeface="Calibri"/>
              </a:rPr>
              <a:t>Intangible</a:t>
            </a:r>
          </a:p>
        </p:txBody>
      </p:sp>
      <p:sp>
        <p:nvSpPr>
          <p:cNvPr id="21" name="TextBox 20"/>
          <p:cNvSpPr txBox="1"/>
          <p:nvPr/>
        </p:nvSpPr>
        <p:spPr>
          <a:xfrm>
            <a:off x="6498183" y="2450592"/>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Merek</a:t>
            </a:r>
          </a:p>
        </p:txBody>
      </p:sp>
      <p:sp>
        <p:nvSpPr>
          <p:cNvPr id="22" name="TextBox 21"/>
          <p:cNvSpPr txBox="1"/>
          <p:nvPr/>
        </p:nvSpPr>
        <p:spPr>
          <a:xfrm>
            <a:off x="6498183" y="2679192"/>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“Kami bukan sekadar klub olahraga, kami merek internasional” — Andy Anson. Sub-merek Fred the Red, MUFC, Red Devil</a:t>
            </a:r>
          </a:p>
        </p:txBody>
      </p:sp>
      <p:sp>
        <p:nvSpPr>
          <p:cNvPr id="23" name="TextBox 22"/>
          <p:cNvSpPr txBox="1"/>
          <p:nvPr/>
        </p:nvSpPr>
        <p:spPr>
          <a:xfrm>
            <a:off x="6498183" y="3108960"/>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Basis pendukung</a:t>
            </a:r>
          </a:p>
        </p:txBody>
      </p:sp>
      <p:sp>
        <p:nvSpPr>
          <p:cNvPr id="24" name="TextBox 23"/>
          <p:cNvSpPr txBox="1"/>
          <p:nvPr/>
        </p:nvSpPr>
        <p:spPr>
          <a:xfrm>
            <a:off x="6498183" y="3337560"/>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80 juta pendukung di Asia; 1,2 juta pemegang kartu kredit MU di Korea Selatan saja</a:t>
            </a:r>
          </a:p>
        </p:txBody>
      </p:sp>
      <p:sp>
        <p:nvSpPr>
          <p:cNvPr id="25" name="TextBox 24"/>
          <p:cNvSpPr txBox="1"/>
          <p:nvPr/>
        </p:nvSpPr>
        <p:spPr>
          <a:xfrm>
            <a:off x="6498183" y="3767328"/>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Human assets</a:t>
            </a:r>
          </a:p>
        </p:txBody>
      </p:sp>
      <p:sp>
        <p:nvSpPr>
          <p:cNvPr id="26" name="TextBox 25"/>
          <p:cNvSpPr txBox="1"/>
          <p:nvPr/>
        </p:nvSpPr>
        <p:spPr>
          <a:xfrm>
            <a:off x="6498183" y="3995928"/>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Sir Alex Ferguson sejak 1986; Cristiano Ronaldo (peringkat 1 FIFA, dijual Juni 2009); lebih dari 20 pemandu bakat</a:t>
            </a:r>
          </a:p>
        </p:txBody>
      </p:sp>
      <p:sp>
        <p:nvSpPr>
          <p:cNvPr id="27" name="TextBox 26"/>
          <p:cNvSpPr txBox="1"/>
          <p:nvPr/>
        </p:nvSpPr>
        <p:spPr>
          <a:xfrm>
            <a:off x="6498183" y="4425696"/>
            <a:ext cx="4797399" cy="219456"/>
          </a:xfrm>
          <a:prstGeom prst="rect">
            <a:avLst/>
          </a:prstGeom>
          <a:noFill/>
        </p:spPr>
        <p:txBody>
          <a:bodyPr wrap="square" lIns="0" rIns="0" tIns="0" bIns="0" anchor="t">
            <a:spAutoFit/>
          </a:bodyPr>
          <a:lstStyle/>
          <a:p>
            <a:pPr algn="l">
              <a:lnSpc>
                <a:spcPct val="100000"/>
              </a:lnSpc>
              <a:spcAft>
                <a:spcPts val="0"/>
              </a:spcAft>
            </a:pPr>
            <a:r>
              <a:rPr sz="1200" b="1" i="0">
                <a:solidFill>
                  <a:srgbClr val="DA291C"/>
                </a:solidFill>
                <a:latin typeface="Calibri"/>
              </a:rPr>
              <a:t>Reputasi &amp; relasi</a:t>
            </a:r>
          </a:p>
        </p:txBody>
      </p:sp>
      <p:sp>
        <p:nvSpPr>
          <p:cNvPr id="28" name="TextBox 27"/>
          <p:cNvSpPr txBox="1"/>
          <p:nvPr/>
        </p:nvSpPr>
        <p:spPr>
          <a:xfrm>
            <a:off x="6498183" y="4654296"/>
            <a:ext cx="4797399" cy="402336"/>
          </a:xfrm>
          <a:prstGeom prst="rect">
            <a:avLst/>
          </a:prstGeom>
          <a:noFill/>
        </p:spPr>
        <p:txBody>
          <a:bodyPr wrap="square" lIns="0" rIns="0" tIns="0" bIns="0" anchor="t">
            <a:spAutoFit/>
          </a:bodyPr>
          <a:lstStyle/>
          <a:p>
            <a:pPr algn="l">
              <a:lnSpc>
                <a:spcPct val="112000"/>
              </a:lnSpc>
              <a:spcAft>
                <a:spcPts val="0"/>
              </a:spcAft>
            </a:pPr>
            <a:r>
              <a:rPr sz="1100" b="0" i="0">
                <a:solidFill>
                  <a:srgbClr val="4A433F"/>
                </a:solidFill>
                <a:latin typeface="Calibri"/>
              </a:rPr>
              <a:t>Aon: MU tak ada tandingannya dalam kesadaran merek global; AIG melompat ke peringkat 47 merek dunia dalam setahun</a:t>
            </a:r>
          </a:p>
        </p:txBody>
      </p:sp>
      <p:sp>
        <p:nvSpPr>
          <p:cNvPr id="29" name="Rectangle 28"/>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Perhatikan komposisinya: </a:t>
            </a:r>
            <a:r>
              <a:rPr sz="1200" b="0">
                <a:solidFill>
                  <a:srgbClr val="1A1614"/>
                </a:solidFill>
                <a:latin typeface="Calibri"/>
              </a:rPr>
              <a:t>aset paling berharga MU hampir seluruhnya ada di kolom kanan, yang tidak berwujud. Itu yang membuat klub ini menarik sebagai contoh — dan sekaligus rapuh, karena aset tak berwujud bisa berjalan keluar pintu.</a:t>
            </a:r>
          </a:p>
        </p:txBody>
      </p:sp>
      <p:sp>
        <p:nvSpPr>
          <p:cNvPr id="32" name="Rectangle 31"/>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34" name="TextBox 33"/>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Capability MU, dan mana yang core</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Kami pakai tangga di slide 7: mana yang sekadar competence, mana yang distinctive, dan mana yang benar-benar core competence.</a:t>
            </a:r>
          </a:p>
        </p:txBody>
      </p:sp>
      <p:sp>
        <p:nvSpPr>
          <p:cNvPr id="7" name="Rectangle 6"/>
          <p:cNvSpPr/>
          <p:nvPr/>
        </p:nvSpPr>
        <p:spPr>
          <a:xfrm>
            <a:off x="658368" y="2157984"/>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2157984"/>
            <a:ext cx="3466490" cy="45720"/>
          </a:xfrm>
          <a:prstGeom prst="rect">
            <a:avLst/>
          </a:prstGeom>
          <a:solidFill>
            <a:srgbClr val="8F1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59536" y="2304288"/>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8F1A11"/>
                </a:solidFill>
                <a:latin typeface="Calibri"/>
              </a:rPr>
              <a:t>CORE</a:t>
            </a:r>
          </a:p>
        </p:txBody>
      </p:sp>
      <p:sp>
        <p:nvSpPr>
          <p:cNvPr id="10" name="TextBox 9"/>
          <p:cNvSpPr txBox="1"/>
          <p:nvPr/>
        </p:nvSpPr>
        <p:spPr>
          <a:xfrm>
            <a:off x="859536" y="2542032"/>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Mengenali dan mengembangkan bakat</a:t>
            </a:r>
          </a:p>
        </p:txBody>
      </p:sp>
      <p:sp>
        <p:nvSpPr>
          <p:cNvPr id="11" name="TextBox 10"/>
          <p:cNvSpPr txBox="1"/>
          <p:nvPr/>
        </p:nvSpPr>
        <p:spPr>
          <a:xfrm>
            <a:off x="859536" y="2889504"/>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Pemandu bakat diperbanyak dari 5 jadi lebih dari 20 orang; Youth Academy; dua pemandu bakat penuh waktu di Brasil sejak 2008.</a:t>
            </a:r>
          </a:p>
        </p:txBody>
      </p:sp>
      <p:sp>
        <p:nvSpPr>
          <p:cNvPr id="12" name="Rectangle 11"/>
          <p:cNvSpPr/>
          <p:nvPr/>
        </p:nvSpPr>
        <p:spPr>
          <a:xfrm>
            <a:off x="4362602" y="2157984"/>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62602" y="2157984"/>
            <a:ext cx="3466490" cy="45720"/>
          </a:xfrm>
          <a:prstGeom prst="rect">
            <a:avLst/>
          </a:prstGeom>
          <a:solidFill>
            <a:srgbClr val="8F1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63770" y="2304288"/>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8F1A11"/>
                </a:solidFill>
                <a:latin typeface="Calibri"/>
              </a:rPr>
              <a:t>CORE</a:t>
            </a:r>
          </a:p>
        </p:txBody>
      </p:sp>
      <p:sp>
        <p:nvSpPr>
          <p:cNvPr id="15" name="TextBox 14"/>
          <p:cNvSpPr txBox="1"/>
          <p:nvPr/>
        </p:nvSpPr>
        <p:spPr>
          <a:xfrm>
            <a:off x="4563770" y="2542032"/>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Membentuk tim, bukan kumpulan bintang</a:t>
            </a:r>
          </a:p>
        </p:txBody>
      </p:sp>
      <p:sp>
        <p:nvSpPr>
          <p:cNvPr id="16" name="TextBox 15"/>
          <p:cNvSpPr txBox="1"/>
          <p:nvPr/>
        </p:nvSpPr>
        <p:spPr>
          <a:xfrm>
            <a:off x="4563770" y="2889504"/>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“Tim terbaik menonjol karena mereka benar-benar sebuah tim — anggotanya menyatu sehingga tim bergerak dengan satu semangat.”</a:t>
            </a:r>
          </a:p>
        </p:txBody>
      </p:sp>
      <p:sp>
        <p:nvSpPr>
          <p:cNvPr id="17" name="Rectangle 16"/>
          <p:cNvSpPr/>
          <p:nvPr/>
        </p:nvSpPr>
        <p:spPr>
          <a:xfrm>
            <a:off x="8066836" y="2157984"/>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66836" y="2157984"/>
            <a:ext cx="3466490"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68004" y="2304288"/>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DA291C"/>
                </a:solidFill>
                <a:latin typeface="Calibri"/>
              </a:rPr>
              <a:t>DISTINCTIVE</a:t>
            </a:r>
          </a:p>
        </p:txBody>
      </p:sp>
      <p:sp>
        <p:nvSpPr>
          <p:cNvPr id="20" name="TextBox 19"/>
          <p:cNvSpPr txBox="1"/>
          <p:nvPr/>
        </p:nvSpPr>
        <p:spPr>
          <a:xfrm>
            <a:off x="8268004" y="2542032"/>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Disiplin di pasar transfer</a:t>
            </a:r>
          </a:p>
        </p:txBody>
      </p:sp>
      <p:sp>
        <p:nvSpPr>
          <p:cNvPr id="21" name="TextBox 20"/>
          <p:cNvSpPr txBox="1"/>
          <p:nvPr/>
        </p:nvSpPr>
        <p:spPr>
          <a:xfrm>
            <a:off x="8268004" y="2889504"/>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Belanja kotor £322 jt, bersih hanya £100 jt. Menjual di puncak nilai: Beckham, Verón, van Nistelrooy, Ronaldo (£80 jt).</a:t>
            </a:r>
          </a:p>
        </p:txBody>
      </p:sp>
      <p:sp>
        <p:nvSpPr>
          <p:cNvPr id="22" name="Rectangle 21"/>
          <p:cNvSpPr/>
          <p:nvPr/>
        </p:nvSpPr>
        <p:spPr>
          <a:xfrm>
            <a:off x="658368" y="3767328"/>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58368" y="3767328"/>
            <a:ext cx="3466490" cy="45720"/>
          </a:xfrm>
          <a:prstGeom prst="rect">
            <a:avLst/>
          </a:prstGeom>
          <a:solidFill>
            <a:srgbClr val="8F1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59536" y="3913632"/>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8F1A11"/>
                </a:solidFill>
                <a:latin typeface="Calibri"/>
              </a:rPr>
              <a:t>CORE</a:t>
            </a:r>
          </a:p>
        </p:txBody>
      </p:sp>
      <p:sp>
        <p:nvSpPr>
          <p:cNvPr id="25" name="TextBox 24"/>
          <p:cNvSpPr txBox="1"/>
          <p:nvPr/>
        </p:nvSpPr>
        <p:spPr>
          <a:xfrm>
            <a:off x="859536" y="4151376"/>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Mengubah merek jadi uang</a:t>
            </a:r>
          </a:p>
        </p:txBody>
      </p:sp>
      <p:sp>
        <p:nvSpPr>
          <p:cNvPr id="26" name="TextBox 25"/>
          <p:cNvSpPr txBox="1"/>
          <p:nvPr/>
        </p:nvSpPr>
        <p:spPr>
          <a:xfrm>
            <a:off x="859536" y="4498848"/>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Sponsor khusus per negara (Tri Indonesia, Bharti Airtel), sub-merek per usia, MU Finance, MU Mobile, MUTV, Soccer Schools, tur Asia.</a:t>
            </a:r>
          </a:p>
        </p:txBody>
      </p:sp>
      <p:sp>
        <p:nvSpPr>
          <p:cNvPr id="27" name="Rectangle 26"/>
          <p:cNvSpPr/>
          <p:nvPr/>
        </p:nvSpPr>
        <p:spPr>
          <a:xfrm>
            <a:off x="4362602" y="3767328"/>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362602" y="3767328"/>
            <a:ext cx="3466490"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63770" y="3913632"/>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DA291C"/>
                </a:solidFill>
                <a:latin typeface="Calibri"/>
              </a:rPr>
              <a:t>DISTINCTIVE</a:t>
            </a:r>
          </a:p>
        </p:txBody>
      </p:sp>
      <p:sp>
        <p:nvSpPr>
          <p:cNvPr id="30" name="TextBox 29"/>
          <p:cNvSpPr txBox="1"/>
          <p:nvPr/>
        </p:nvSpPr>
        <p:spPr>
          <a:xfrm>
            <a:off x="4563770" y="4151376"/>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Rotasi skuad</a:t>
            </a:r>
          </a:p>
        </p:txBody>
      </p:sp>
      <p:sp>
        <p:nvSpPr>
          <p:cNvPr id="31" name="TextBox 30"/>
          <p:cNvSpPr txBox="1"/>
          <p:nvPr/>
        </p:nvSpPr>
        <p:spPr>
          <a:xfrm>
            <a:off x="4563770" y="4498848"/>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Kasus menyebut Ferguson pelopornya: menyusun ulang tim untuk mengistirahatkan pemain dan menyesuaikan taktik pada lawan.</a:t>
            </a:r>
          </a:p>
        </p:txBody>
      </p:sp>
      <p:sp>
        <p:nvSpPr>
          <p:cNvPr id="32" name="Rectangle 31"/>
          <p:cNvSpPr/>
          <p:nvPr/>
        </p:nvSpPr>
        <p:spPr>
          <a:xfrm>
            <a:off x="8066836" y="3767328"/>
            <a:ext cx="3466490" cy="146304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8066836" y="3767328"/>
            <a:ext cx="3466490" cy="45720"/>
          </a:xfrm>
          <a:prstGeom prst="rect">
            <a:avLst/>
          </a:prstGeom>
          <a:solidFill>
            <a:srgbClr val="8C83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8004" y="3913632"/>
            <a:ext cx="3064154" cy="201168"/>
          </a:xfrm>
          <a:prstGeom prst="rect">
            <a:avLst/>
          </a:prstGeom>
          <a:noFill/>
        </p:spPr>
        <p:txBody>
          <a:bodyPr wrap="square" lIns="0" rIns="0" tIns="0" bIns="0" anchor="t">
            <a:spAutoFit/>
          </a:bodyPr>
          <a:lstStyle/>
          <a:p>
            <a:pPr algn="l">
              <a:lnSpc>
                <a:spcPct val="100000"/>
              </a:lnSpc>
              <a:spcAft>
                <a:spcPts val="0"/>
              </a:spcAft>
            </a:pPr>
            <a:r>
              <a:rPr sz="950" b="1" i="0" cap="all">
                <a:solidFill>
                  <a:srgbClr val="8C837E"/>
                </a:solidFill>
                <a:latin typeface="Calibri"/>
              </a:rPr>
              <a:t>COMPETENCE</a:t>
            </a:r>
          </a:p>
        </p:txBody>
      </p:sp>
      <p:sp>
        <p:nvSpPr>
          <p:cNvPr id="35" name="TextBox 34"/>
          <p:cNvSpPr txBox="1"/>
          <p:nvPr/>
        </p:nvSpPr>
        <p:spPr>
          <a:xfrm>
            <a:off x="8268004" y="4151376"/>
            <a:ext cx="3064154" cy="310896"/>
          </a:xfrm>
          <a:prstGeom prst="rect">
            <a:avLst/>
          </a:prstGeom>
          <a:noFill/>
        </p:spPr>
        <p:txBody>
          <a:bodyPr wrap="square" lIns="0" rIns="0" tIns="0" bIns="0" anchor="t">
            <a:spAutoFit/>
          </a:bodyPr>
          <a:lstStyle/>
          <a:p>
            <a:pPr algn="l">
              <a:lnSpc>
                <a:spcPct val="106000"/>
              </a:lnSpc>
              <a:spcAft>
                <a:spcPts val="0"/>
              </a:spcAft>
            </a:pPr>
            <a:r>
              <a:rPr sz="1250" b="1" i="0">
                <a:solidFill>
                  <a:srgbClr val="1A1614"/>
                </a:solidFill>
                <a:latin typeface="Calibri"/>
              </a:rPr>
              <a:t>Tata kelola dan pemisahan peran</a:t>
            </a:r>
          </a:p>
        </p:txBody>
      </p:sp>
      <p:sp>
        <p:nvSpPr>
          <p:cNvPr id="36" name="TextBox 35"/>
          <p:cNvSpPr txBox="1"/>
          <p:nvPr/>
        </p:nvSpPr>
        <p:spPr>
          <a:xfrm>
            <a:off x="8268004" y="4498848"/>
            <a:ext cx="3064154" cy="658368"/>
          </a:xfrm>
          <a:prstGeom prst="rect">
            <a:avLst/>
          </a:prstGeom>
          <a:noFill/>
        </p:spPr>
        <p:txBody>
          <a:bodyPr wrap="square" lIns="0" rIns="0" tIns="0" bIns="0" anchor="t">
            <a:spAutoFit/>
          </a:bodyPr>
          <a:lstStyle/>
          <a:p>
            <a:pPr algn="l">
              <a:lnSpc>
                <a:spcPct val="114000"/>
              </a:lnSpc>
              <a:spcAft>
                <a:spcPts val="0"/>
              </a:spcAft>
            </a:pPr>
            <a:r>
              <a:rPr sz="1050" b="0" i="0">
                <a:solidFill>
                  <a:srgbClr val="4A433F"/>
                </a:solidFill>
                <a:latin typeface="Calibri"/>
              </a:rPr>
              <a:t>Glazer memilih peran pasif; Ferguson dan Gill diberi kebebasan memutuskan. Berjalan baik, tapi bukan pembeda dari pesaing.</a:t>
            </a:r>
          </a:p>
        </p:txBody>
      </p:sp>
      <p:sp>
        <p:nvSpPr>
          <p:cNvPr id="37" name="Rectangle 36"/>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Yang perlu disadari: </a:t>
            </a:r>
            <a:r>
              <a:rPr sz="1200" b="0">
                <a:solidFill>
                  <a:srgbClr val="1A1614"/>
                </a:solidFill>
                <a:latin typeface="Calibri"/>
              </a:rPr>
              <a:t>empat dari enam capability ini — bakat, pembentukan tim, disiplin transfer, rotasi skuad — semuanya bermuara pada satu orang yang sama. Hanya kemampuan komersial yang berdiri di luar Ferguson.</a:t>
            </a:r>
          </a:p>
        </p:txBody>
      </p:sp>
      <p:sp>
        <p:nvSpPr>
          <p:cNvPr id="40" name="Rectangle 3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42" name="TextBox 4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Uji VRIN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Dua keunggulan, dua hasil yang berbeda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Kami uji dua hal dengan empat saringan yang sama: sistem Ferguson, dan merek beserta mesin komersialnya.</a:t>
            </a:r>
          </a:p>
        </p:txBody>
      </p:sp>
      <p:graphicFrame>
        <p:nvGraphicFramePr>
          <p:cNvPr id="7" name="Table 6"/>
          <p:cNvGraphicFramePr>
            <a:graphicFrameLocks noGrp="1"/>
          </p:cNvGraphicFramePr>
          <p:nvPr/>
        </p:nvGraphicFramePr>
        <p:xfrm>
          <a:off x="658368" y="1883664"/>
          <a:ext cx="10874958" cy="2852928"/>
        </p:xfrm>
        <a:graphic>
          <a:graphicData uri="http://schemas.openxmlformats.org/drawingml/2006/table">
            <a:tbl>
              <a:tblPr>
                <a:tableStyleId>{5C22544A-7EE6-4342-B048-85BDC9FD1C3A}</a:tableStyleId>
              </a:tblPr>
              <a:tblGrid>
                <a:gridCol w="1554480"/>
                <a:gridCol w="4660239"/>
                <a:gridCol w="4660239"/>
              </a:tblGrid>
              <a:tr h="347472">
                <a:tc>
                  <a:txBody>
                    <a:bodyPr wrap="square"/>
                    <a:lstStyle/>
                    <a:p>
                      <a:pPr algn="l">
                        <a:lnSpc>
                          <a:spcPct val="106000"/>
                        </a:lnSpc>
                      </a:pPr>
                      <a:r>
                        <a:rPr sz="1050" b="1">
                          <a:solidFill>
                            <a:srgbClr val="FFFFFF"/>
                          </a:solidFill>
                          <a:latin typeface="Calibri"/>
                        </a:rPr>
                        <a:t>Tes</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l">
                        <a:lnSpc>
                          <a:spcPct val="106000"/>
                        </a:lnSpc>
                      </a:pPr>
                      <a:r>
                        <a:rPr sz="1050" b="1">
                          <a:solidFill>
                            <a:srgbClr val="FFFFFF"/>
                          </a:solidFill>
                          <a:latin typeface="Calibri"/>
                        </a:rPr>
                        <a:t>Sistem Ferguson</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l">
                        <a:lnSpc>
                          <a:spcPct val="106000"/>
                        </a:lnSpc>
                      </a:pPr>
                      <a:r>
                        <a:rPr sz="1050" b="1">
                          <a:solidFill>
                            <a:srgbClr val="FFFFFF"/>
                          </a:solidFill>
                          <a:latin typeface="Calibri"/>
                        </a:rPr>
                        <a:t>Merek &amp; mesin komersial</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r h="548640">
                <a:tc>
                  <a:txBody>
                    <a:bodyPr wrap="square"/>
                    <a:lstStyle/>
                    <a:p>
                      <a:pPr algn="l">
                        <a:lnSpc>
                          <a:spcPct val="106000"/>
                        </a:lnSpc>
                      </a:pPr>
                      <a:r>
                        <a:rPr sz="1050" b="1">
                          <a:solidFill>
                            <a:srgbClr val="1A1614"/>
                          </a:solidFill>
                          <a:latin typeface="Calibri"/>
                        </a:rPr>
                        <a:t>Valuable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050" b="0">
                          <a:solidFill>
                            <a:srgbClr val="1A1614"/>
                          </a:solidFill>
                          <a:latin typeface="Calibri"/>
                        </a:rPr>
                        <a:t>LOLOS. Poin Eropa tertinggi, tiga gelar liga beruntun, Liga Champions 2008, laba tertinggi di Eropa.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050" b="0">
                          <a:solidFill>
                            <a:srgbClr val="1A1614"/>
                          </a:solidFill>
                          <a:latin typeface="Calibri"/>
                        </a:rPr>
                        <a:t>LOLOS. Aon membayar £20 juta per tahun — nilai per tahun tertinggi di antara kesepakatan yang disebut kasus.</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548640">
                <a:tc>
                  <a:txBody>
                    <a:bodyPr wrap="square"/>
                    <a:lstStyle/>
                    <a:p>
                      <a:pPr algn="l">
                        <a:lnSpc>
                          <a:spcPct val="106000"/>
                        </a:lnSpc>
                      </a:pPr>
                      <a:r>
                        <a:rPr sz="1050" b="1">
                          <a:solidFill>
                            <a:srgbClr val="1A1614"/>
                          </a:solidFill>
                          <a:latin typeface="Calibri"/>
                        </a:rPr>
                        <a:t>Rare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050" b="0">
                          <a:solidFill>
                            <a:srgbClr val="1A1614"/>
                          </a:solidFill>
                          <a:latin typeface="Calibri"/>
                        </a:rPr>
                        <a:t>LOLOS. Tabel 6.8 hanya memuat 16 pelatih paling dihormati dunia; Ferguson punya masa jabatan terpanjang di satu klub.</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l">
                        <a:lnSpc>
                          <a:spcPct val="106000"/>
                        </a:lnSpc>
                      </a:pPr>
                      <a:r>
                        <a:rPr sz="1050" b="0">
                          <a:solidFill>
                            <a:srgbClr val="1A1614"/>
                          </a:solidFill>
                          <a:latin typeface="Calibri"/>
                        </a:rPr>
                        <a:t>LOLOS. 80 juta pendukung di Asia. Kasus menyebut hanya Real Madrid yang setara dalam mengeksploitasi merek global.</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786384">
                <a:tc>
                  <a:txBody>
                    <a:bodyPr wrap="square"/>
                    <a:lstStyle/>
                    <a:p>
                      <a:pPr algn="l">
                        <a:lnSpc>
                          <a:spcPct val="106000"/>
                        </a:lnSpc>
                      </a:pPr>
                      <a:r>
                        <a:rPr sz="1050" b="1">
                          <a:solidFill>
                            <a:srgbClr val="1A1614"/>
                          </a:solidFill>
                          <a:latin typeface="Calibri"/>
                        </a:rPr>
                        <a:t>Inimitable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050" b="0">
                          <a:solidFill>
                            <a:srgbClr val="1A1614"/>
                          </a:solidFill>
                          <a:latin typeface="Calibri"/>
                        </a:rPr>
                        <a:t>LOLOS. Kasus sendiri menyebut penentu performa tim “tetap misteri … menentang analisis” — causal ambiguity. Ditambah 23 tahun akumulasi dan social complexity.</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l">
                        <a:lnSpc>
                          <a:spcPct val="106000"/>
                        </a:lnSpc>
                      </a:pPr>
                      <a:r>
                        <a:rPr sz="1050" b="0">
                          <a:solidFill>
                            <a:srgbClr val="1A1614"/>
                          </a:solidFill>
                          <a:latin typeface="Calibri"/>
                        </a:rPr>
                        <a:t>LOLOS. Basis pendukung dibangun puluhan tahun lewat prestasi dan siaran televisi. Chelsea dan Manchester City dengan dana lebih besar pun tidak berhasil menyamainya.</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621792">
                <a:tc>
                  <a:txBody>
                    <a:bodyPr wrap="square"/>
                    <a:lstStyle/>
                    <a:p>
                      <a:pPr algn="l">
                        <a:lnSpc>
                          <a:spcPct val="106000"/>
                        </a:lnSpc>
                      </a:pPr>
                      <a:r>
                        <a:rPr sz="1050" b="1">
                          <a:solidFill>
                            <a:srgbClr val="FFFFFF"/>
                          </a:solidFill>
                          <a:latin typeface="Calibri"/>
                        </a:rPr>
                        <a:t>Nonsubstitutable</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DA291C"/>
                    </a:solidFill>
                  </a:tcPr>
                </a:tc>
                <a:tc>
                  <a:txBody>
                    <a:bodyPr wrap="square"/>
                    <a:lstStyle/>
                    <a:p>
                      <a:pPr algn="l">
                        <a:lnSpc>
                          <a:spcPct val="106000"/>
                        </a:lnSpc>
                      </a:pPr>
                      <a:r>
                        <a:rPr sz="1050" b="0">
                          <a:solidFill>
                            <a:srgbClr val="FFFFFF"/>
                          </a:solidFill>
                          <a:latin typeface="Calibri"/>
                        </a:rPr>
                        <a:t>GAGAL. Tidak ada penggantinya. Kasus menegaskan pelatih yang sangat sukses di satu tim sering gagal total di tim lain.</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DA291C"/>
                    </a:solidFill>
                  </a:tcPr>
                </a:tc>
                <a:tc>
                  <a:txBody>
                    <a:bodyPr wrap="square"/>
                    <a:lstStyle/>
                    <a:p>
                      <a:pPr algn="l">
                        <a:lnSpc>
                          <a:spcPct val="106000"/>
                        </a:lnSpc>
                      </a:pPr>
                      <a:r>
                        <a:rPr sz="1050" b="0">
                          <a:solidFill>
                            <a:srgbClr val="1A1614"/>
                          </a:solidFill>
                          <a:latin typeface="Calibri"/>
                        </a:rPr>
                        <a:t>LOLOS. Tidak ada pengganti bagi loyalitas pendukung. Sponsor membeli akses ke basis fan itu, bukan ke stadion atau pemain tertentu.</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r>
            </a:tbl>
          </a:graphicData>
        </a:graphic>
      </p:graphicFrame>
      <p:sp>
        <p:nvSpPr>
          <p:cNvPr id="8" name="Rectangle 7"/>
          <p:cNvSpPr/>
          <p:nvPr/>
        </p:nvSpPr>
        <p:spPr>
          <a:xfrm>
            <a:off x="658368" y="5431536"/>
            <a:ext cx="10874959" cy="69494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FF8A7A"/>
                </a:solidFill>
                <a:latin typeface="Calibri"/>
              </a:rPr>
              <a:t>Kesimpulan Q3: </a:t>
            </a:r>
            <a:r>
              <a:rPr sz="1200" b="0">
                <a:solidFill>
                  <a:srgbClr val="FFFFFF"/>
                </a:solidFill>
                <a:latin typeface="Calibri"/>
              </a:rPr>
              <a:t>keunggulan MU dari Ferguson itu nyata, tapi tidak tahan lama karena gagal tes terakhir. Klub memperlakukan Ferguson sebagai resource — sesuatu yang dimiliki — padahal yang dibutuhkan agar bertahan adalah capability yang melekat pada organisasi.</a:t>
            </a:r>
          </a:p>
        </p:txBody>
      </p:sp>
      <p:sp>
        <p:nvSpPr>
          <p:cNvPr id="11" name="Rectangle 10"/>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13" name="TextBox 12"/>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3 · Dynamic Capability</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Tiga kali membangun ulang tim juara</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MU bukan cuma punya satu skuad bagus. MU berulang kali membongkar dan menyusun ulang skuadnya — dan tetap juara.</a:t>
            </a:r>
          </a:p>
        </p:txBody>
      </p:sp>
      <p:sp>
        <p:nvSpPr>
          <p:cNvPr id="7" name="Rectangle 6"/>
          <p:cNvSpPr/>
          <p:nvPr/>
        </p:nvSpPr>
        <p:spPr>
          <a:xfrm>
            <a:off x="658368" y="1883664"/>
            <a:ext cx="3454298" cy="29260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2084832"/>
            <a:ext cx="2978810"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1986 – 1993</a:t>
            </a:r>
          </a:p>
        </p:txBody>
      </p:sp>
      <p:sp>
        <p:nvSpPr>
          <p:cNvPr id="10" name="TextBox 9"/>
          <p:cNvSpPr txBox="1"/>
          <p:nvPr/>
        </p:nvSpPr>
        <p:spPr>
          <a:xfrm>
            <a:off x="896112" y="2414016"/>
            <a:ext cx="2978810" cy="292608"/>
          </a:xfrm>
          <a:prstGeom prst="rect">
            <a:avLst/>
          </a:prstGeom>
          <a:noFill/>
        </p:spPr>
        <p:txBody>
          <a:bodyPr wrap="square" lIns="0" rIns="0" tIns="0" bIns="0" anchor="t">
            <a:spAutoFit/>
          </a:bodyPr>
          <a:lstStyle/>
          <a:p>
            <a:pPr algn="l">
              <a:lnSpc>
                <a:spcPct val="106000"/>
              </a:lnSpc>
              <a:spcAft>
                <a:spcPts val="0"/>
              </a:spcAft>
            </a:pPr>
            <a:r>
              <a:rPr sz="1350" b="1" i="0">
                <a:solidFill>
                  <a:srgbClr val="1A1614"/>
                </a:solidFill>
                <a:latin typeface="Calibri"/>
              </a:rPr>
              <a:t>Membersihkan dan membangun fondasi</a:t>
            </a:r>
          </a:p>
        </p:txBody>
      </p:sp>
      <p:sp>
        <p:nvSpPr>
          <p:cNvPr id="11" name="TextBox 10"/>
          <p:cNvSpPr txBox="1"/>
          <p:nvPr/>
        </p:nvSpPr>
        <p:spPr>
          <a:xfrm>
            <a:off x="896112" y="2761488"/>
            <a:ext cx="2978810" cy="1280160"/>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Ferguson menyingkirkan pemain yang dinilai kurang berbakat atau kurang berkomitmen, mempertahankan Bryan Robson, mendatangkan Hughes, Ince, Cantona, Keane. Ia juga menegakkan disiplin latihan.</a:t>
            </a:r>
          </a:p>
        </p:txBody>
      </p:sp>
      <p:sp>
        <p:nvSpPr>
          <p:cNvPr id="12" name="Rectangle 11"/>
          <p:cNvSpPr/>
          <p:nvPr/>
        </p:nvSpPr>
        <p:spPr>
          <a:xfrm>
            <a:off x="896112" y="4133087"/>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4261104"/>
            <a:ext cx="2978810" cy="457200"/>
          </a:xfrm>
          <a:prstGeom prst="rect">
            <a:avLst/>
          </a:prstGeom>
          <a:noFill/>
        </p:spPr>
        <p:txBody>
          <a:bodyPr wrap="square" lIns="0" rIns="0" tIns="0" bIns="0" anchor="t">
            <a:spAutoFit/>
          </a:bodyPr>
          <a:lstStyle/>
          <a:p>
            <a:pPr algn="l">
              <a:lnSpc>
                <a:spcPct val="112000"/>
              </a:lnSpc>
              <a:spcAft>
                <a:spcPts val="0"/>
              </a:spcAft>
            </a:pPr>
            <a:r>
              <a:rPr sz="1050" b="1" i="0">
                <a:solidFill>
                  <a:srgbClr val="DA291C"/>
                </a:solidFill>
                <a:latin typeface="Calibri"/>
              </a:rPr>
              <a:t>FA Cup 1990 · Piala Winners 1991 · gelar liga pertama 1993</a:t>
            </a:r>
          </a:p>
        </p:txBody>
      </p:sp>
      <p:sp>
        <p:nvSpPr>
          <p:cNvPr id="14" name="Rectangle 13"/>
          <p:cNvSpPr/>
          <p:nvPr/>
        </p:nvSpPr>
        <p:spPr>
          <a:xfrm>
            <a:off x="4368698" y="1883664"/>
            <a:ext cx="3454298" cy="29260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6869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06442" y="2084832"/>
            <a:ext cx="2978810"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1994 – 2003</a:t>
            </a:r>
          </a:p>
        </p:txBody>
      </p:sp>
      <p:sp>
        <p:nvSpPr>
          <p:cNvPr id="17" name="TextBox 16"/>
          <p:cNvSpPr txBox="1"/>
          <p:nvPr/>
        </p:nvSpPr>
        <p:spPr>
          <a:xfrm>
            <a:off x="4606442" y="2414016"/>
            <a:ext cx="2978810" cy="292608"/>
          </a:xfrm>
          <a:prstGeom prst="rect">
            <a:avLst/>
          </a:prstGeom>
          <a:noFill/>
        </p:spPr>
        <p:txBody>
          <a:bodyPr wrap="square" lIns="0" rIns="0" tIns="0" bIns="0" anchor="t">
            <a:spAutoFit/>
          </a:bodyPr>
          <a:lstStyle/>
          <a:p>
            <a:pPr algn="l">
              <a:lnSpc>
                <a:spcPct val="106000"/>
              </a:lnSpc>
              <a:spcAft>
                <a:spcPts val="0"/>
              </a:spcAft>
            </a:pPr>
            <a:r>
              <a:rPr sz="1350" b="1" i="0">
                <a:solidFill>
                  <a:srgbClr val="1A1614"/>
                </a:solidFill>
                <a:latin typeface="Calibri"/>
              </a:rPr>
              <a:t>Generasi akademi</a:t>
            </a:r>
          </a:p>
        </p:txBody>
      </p:sp>
      <p:sp>
        <p:nvSpPr>
          <p:cNvPr id="18" name="TextBox 17"/>
          <p:cNvSpPr txBox="1"/>
          <p:nvPr/>
        </p:nvSpPr>
        <p:spPr>
          <a:xfrm>
            <a:off x="4606442" y="2761488"/>
            <a:ext cx="2978810" cy="1280160"/>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Juara liga junior 1990 menghasilkan Giggs, Beckham, Butt, Gary dan Phil Neville, serta Scholes. Mereka jadi inti tim yang mendominasi sepakbola Inggris satu dekade.</a:t>
            </a:r>
          </a:p>
        </p:txBody>
      </p:sp>
      <p:sp>
        <p:nvSpPr>
          <p:cNvPr id="19" name="Rectangle 18"/>
          <p:cNvSpPr/>
          <p:nvPr/>
        </p:nvSpPr>
        <p:spPr>
          <a:xfrm>
            <a:off x="4606442" y="4133087"/>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06442" y="4261104"/>
            <a:ext cx="2978810" cy="457200"/>
          </a:xfrm>
          <a:prstGeom prst="rect">
            <a:avLst/>
          </a:prstGeom>
          <a:noFill/>
        </p:spPr>
        <p:txBody>
          <a:bodyPr wrap="square" lIns="0" rIns="0" tIns="0" bIns="0" anchor="t">
            <a:spAutoFit/>
          </a:bodyPr>
          <a:lstStyle/>
          <a:p>
            <a:pPr algn="l">
              <a:lnSpc>
                <a:spcPct val="112000"/>
              </a:lnSpc>
              <a:spcAft>
                <a:spcPts val="0"/>
              </a:spcAft>
            </a:pPr>
            <a:r>
              <a:rPr sz="1050" b="1" i="0">
                <a:solidFill>
                  <a:srgbClr val="DA291C"/>
                </a:solidFill>
                <a:latin typeface="Calibri"/>
              </a:rPr>
              <a:t>Puncaknya 1999: liga, FA Cup, European Cup, Intercontinental Cup</a:t>
            </a:r>
          </a:p>
        </p:txBody>
      </p:sp>
      <p:sp>
        <p:nvSpPr>
          <p:cNvPr id="21" name="Rectangle 20"/>
          <p:cNvSpPr/>
          <p:nvPr/>
        </p:nvSpPr>
        <p:spPr>
          <a:xfrm>
            <a:off x="8079028" y="1883664"/>
            <a:ext cx="3454298" cy="2926080"/>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79028" y="1883664"/>
            <a:ext cx="3454298"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16772" y="2084832"/>
            <a:ext cx="2978810"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2003 – 2008</a:t>
            </a:r>
          </a:p>
        </p:txBody>
      </p:sp>
      <p:sp>
        <p:nvSpPr>
          <p:cNvPr id="24" name="TextBox 23"/>
          <p:cNvSpPr txBox="1"/>
          <p:nvPr/>
        </p:nvSpPr>
        <p:spPr>
          <a:xfrm>
            <a:off x="8316772" y="2414016"/>
            <a:ext cx="2978810" cy="292608"/>
          </a:xfrm>
          <a:prstGeom prst="rect">
            <a:avLst/>
          </a:prstGeom>
          <a:noFill/>
        </p:spPr>
        <p:txBody>
          <a:bodyPr wrap="square" lIns="0" rIns="0" tIns="0" bIns="0" anchor="t">
            <a:spAutoFit/>
          </a:bodyPr>
          <a:lstStyle/>
          <a:p>
            <a:pPr algn="l">
              <a:lnSpc>
                <a:spcPct val="106000"/>
              </a:lnSpc>
              <a:spcAft>
                <a:spcPts val="0"/>
              </a:spcAft>
            </a:pPr>
            <a:r>
              <a:rPr sz="1350" b="1" i="0">
                <a:solidFill>
                  <a:srgbClr val="1A1614"/>
                </a:solidFill>
                <a:latin typeface="Calibri"/>
              </a:rPr>
              <a:t>Regenerasi kedua</a:t>
            </a:r>
          </a:p>
        </p:txBody>
      </p:sp>
      <p:sp>
        <p:nvSpPr>
          <p:cNvPr id="25" name="TextBox 24"/>
          <p:cNvSpPr txBox="1"/>
          <p:nvPr/>
        </p:nvSpPr>
        <p:spPr>
          <a:xfrm>
            <a:off x="8316772" y="2761488"/>
            <a:ext cx="2978810" cy="1280160"/>
          </a:xfrm>
          <a:prstGeom prst="rect">
            <a:avLst/>
          </a:prstGeom>
          <a:noFill/>
        </p:spPr>
        <p:txBody>
          <a:bodyPr wrap="square" lIns="0" rIns="0" tIns="0" bIns="0" anchor="t">
            <a:spAutoFit/>
          </a:bodyPr>
          <a:lstStyle/>
          <a:p>
            <a:pPr algn="l">
              <a:lnSpc>
                <a:spcPct val="116000"/>
              </a:lnSpc>
              <a:spcAft>
                <a:spcPts val="0"/>
              </a:spcAft>
            </a:pPr>
            <a:r>
              <a:rPr sz="1100" b="0" i="0">
                <a:solidFill>
                  <a:srgbClr val="4A433F"/>
                </a:solidFill>
                <a:latin typeface="Calibri"/>
              </a:rPr>
              <a:t>Beckham, Keane, Schmeichel, Cole, Sheringham, Stam dijual. Penggantinya Ferdinand, Ronaldo, Rooney, van der Sar, Evra, Vidić, Carrick.</a:t>
            </a:r>
          </a:p>
        </p:txBody>
      </p:sp>
      <p:sp>
        <p:nvSpPr>
          <p:cNvPr id="26" name="Rectangle 25"/>
          <p:cNvSpPr/>
          <p:nvPr/>
        </p:nvSpPr>
        <p:spPr>
          <a:xfrm>
            <a:off x="8316772" y="4133087"/>
            <a:ext cx="2978810"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16772" y="4261104"/>
            <a:ext cx="2978810" cy="457200"/>
          </a:xfrm>
          <a:prstGeom prst="rect">
            <a:avLst/>
          </a:prstGeom>
          <a:noFill/>
        </p:spPr>
        <p:txBody>
          <a:bodyPr wrap="square" lIns="0" rIns="0" tIns="0" bIns="0" anchor="t">
            <a:spAutoFit/>
          </a:bodyPr>
          <a:lstStyle/>
          <a:p>
            <a:pPr algn="l">
              <a:lnSpc>
                <a:spcPct val="112000"/>
              </a:lnSpc>
              <a:spcAft>
                <a:spcPts val="0"/>
              </a:spcAft>
            </a:pPr>
            <a:r>
              <a:rPr sz="1050" b="1" i="0">
                <a:solidFill>
                  <a:srgbClr val="DA291C"/>
                </a:solidFill>
                <a:latin typeface="Calibri"/>
              </a:rPr>
              <a:t>Liga Champions 2008 · tiga gelar liga beruntun 2007–2009</a:t>
            </a:r>
          </a:p>
        </p:txBody>
      </p:sp>
      <p:sp>
        <p:nvSpPr>
          <p:cNvPr id="28" name="Rectangle 27"/>
          <p:cNvSpPr/>
          <p:nvPr/>
        </p:nvSpPr>
        <p:spPr>
          <a:xfrm>
            <a:off x="658368" y="5431536"/>
            <a:ext cx="10874959" cy="69494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FF8A7A"/>
                </a:solidFill>
                <a:latin typeface="Calibri"/>
              </a:rPr>
              <a:t>Pertanyaan yang menentukan seluruh kasus: </a:t>
            </a:r>
            <a:r>
              <a:rPr sz="1200" b="0">
                <a:solidFill>
                  <a:srgbClr val="FFFFFF"/>
                </a:solidFill>
                <a:latin typeface="Calibri"/>
              </a:rPr>
              <a:t>kemampuan memperbarui diri ini milik siapa — Ferguson, atau klub? Setelah Matt Busby pensiun 1969, MU tidak juara liga selama 18 tahun. Kasus menyediakan sendiri presedennya.</a:t>
            </a:r>
          </a:p>
        </p:txBody>
      </p:sp>
      <p:sp>
        <p:nvSpPr>
          <p:cNvPr id="31" name="Rectangle 30"/>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33" name="TextBox 32"/>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4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Rantai nilai dan struktur biaya MU</a:t>
            </a:r>
          </a:p>
        </p:txBody>
      </p:sp>
      <p:sp>
        <p:nvSpPr>
          <p:cNvPr id="6" name="TextBox 5"/>
          <p:cNvSpPr txBox="1"/>
          <p:nvPr/>
        </p:nvSpPr>
        <p:spPr>
          <a:xfrm>
            <a:off x="658368" y="1371600"/>
            <a:ext cx="10509199" cy="54864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Kerangka Figure 4.3 dipetakan ke aktivitas nyata sebuah klub. Hasilnya: keunggulan biaya MU ada di HULU, di cara mendapatkan pemain.</a:t>
            </a:r>
          </a:p>
        </p:txBody>
      </p:sp>
      <p:sp>
        <p:nvSpPr>
          <p:cNvPr id="7" name="TextBox 6"/>
          <p:cNvSpPr txBox="1"/>
          <p:nvPr/>
        </p:nvSpPr>
        <p:spPr>
          <a:xfrm>
            <a:off x="658368" y="2157984"/>
            <a:ext cx="6742474"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Primary activities</a:t>
            </a:r>
          </a:p>
        </p:txBody>
      </p:sp>
      <p:sp>
        <p:nvSpPr>
          <p:cNvPr id="8" name="Rectangle 7"/>
          <p:cNvSpPr/>
          <p:nvPr/>
        </p:nvSpPr>
        <p:spPr>
          <a:xfrm>
            <a:off x="658368" y="2432303"/>
            <a:ext cx="1260712"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2432303"/>
            <a:ext cx="1260712"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2560320"/>
            <a:ext cx="1004680" cy="384048"/>
          </a:xfrm>
          <a:prstGeom prst="rect">
            <a:avLst/>
          </a:prstGeom>
          <a:noFill/>
        </p:spPr>
        <p:txBody>
          <a:bodyPr wrap="square" lIns="0" rIns="0" tIns="0" bIns="0" anchor="t">
            <a:spAutoFit/>
          </a:bodyPr>
          <a:lstStyle/>
          <a:p>
            <a:pPr algn="l">
              <a:lnSpc>
                <a:spcPct val="104000"/>
              </a:lnSpc>
              <a:spcAft>
                <a:spcPts val="0"/>
              </a:spcAft>
            </a:pPr>
            <a:r>
              <a:rPr sz="1050" b="1" i="0">
                <a:solidFill>
                  <a:srgbClr val="8C837E"/>
                </a:solidFill>
                <a:latin typeface="Calibri"/>
              </a:rPr>
              <a:t>Supply Chain</a:t>
            </a:r>
          </a:p>
        </p:txBody>
      </p:sp>
      <p:sp>
        <p:nvSpPr>
          <p:cNvPr id="11" name="TextBox 10"/>
          <p:cNvSpPr txBox="1"/>
          <p:nvPr/>
        </p:nvSpPr>
        <p:spPr>
          <a:xfrm>
            <a:off x="786384" y="2980944"/>
            <a:ext cx="1004680" cy="384048"/>
          </a:xfrm>
          <a:prstGeom prst="rect">
            <a:avLst/>
          </a:prstGeom>
          <a:noFill/>
        </p:spPr>
        <p:txBody>
          <a:bodyPr wrap="square" lIns="0" rIns="0" tIns="0" bIns="0" anchor="t">
            <a:spAutoFit/>
          </a:bodyPr>
          <a:lstStyle/>
          <a:p>
            <a:pPr algn="l">
              <a:lnSpc>
                <a:spcPct val="104000"/>
              </a:lnSpc>
              <a:spcAft>
                <a:spcPts val="0"/>
              </a:spcAft>
            </a:pPr>
            <a:r>
              <a:rPr sz="1200" b="1" i="0">
                <a:solidFill>
                  <a:srgbClr val="1A1614"/>
                </a:solidFill>
                <a:latin typeface="Calibri"/>
              </a:rPr>
              <a:t>Mendapatkan pemain</a:t>
            </a:r>
          </a:p>
        </p:txBody>
      </p:sp>
      <p:sp>
        <p:nvSpPr>
          <p:cNvPr id="12" name="TextBox 11"/>
          <p:cNvSpPr txBox="1"/>
          <p:nvPr/>
        </p:nvSpPr>
        <p:spPr>
          <a:xfrm>
            <a:off x="786384" y="3401568"/>
            <a:ext cx="1004680" cy="658368"/>
          </a:xfrm>
          <a:prstGeom prst="rect">
            <a:avLst/>
          </a:prstGeom>
          <a:noFill/>
        </p:spPr>
        <p:txBody>
          <a:bodyPr wrap="square" lIns="0" rIns="0" tIns="0" bIns="0" anchor="t">
            <a:spAutoFit/>
          </a:bodyPr>
          <a:lstStyle/>
          <a:p>
            <a:pPr algn="l">
              <a:lnSpc>
                <a:spcPct val="112000"/>
              </a:lnSpc>
              <a:spcAft>
                <a:spcPts val="0"/>
              </a:spcAft>
            </a:pPr>
            <a:r>
              <a:rPr sz="950" b="0" i="0">
                <a:solidFill>
                  <a:srgbClr val="4A433F"/>
                </a:solidFill>
                <a:latin typeface="Calibri"/>
              </a:rPr>
              <a:t>Akademi, 20+ pemandu bakat, pasar transfer</a:t>
            </a:r>
          </a:p>
        </p:txBody>
      </p:sp>
      <p:sp>
        <p:nvSpPr>
          <p:cNvPr id="13" name="Rectangle 12"/>
          <p:cNvSpPr/>
          <p:nvPr/>
        </p:nvSpPr>
        <p:spPr>
          <a:xfrm>
            <a:off x="2028808" y="2432303"/>
            <a:ext cx="1260712"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028808" y="2432303"/>
            <a:ext cx="1260712"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56824" y="2560320"/>
            <a:ext cx="1004680" cy="384048"/>
          </a:xfrm>
          <a:prstGeom prst="rect">
            <a:avLst/>
          </a:prstGeom>
          <a:noFill/>
        </p:spPr>
        <p:txBody>
          <a:bodyPr wrap="square" lIns="0" rIns="0" tIns="0" bIns="0" anchor="t">
            <a:spAutoFit/>
          </a:bodyPr>
          <a:lstStyle/>
          <a:p>
            <a:pPr algn="l">
              <a:lnSpc>
                <a:spcPct val="104000"/>
              </a:lnSpc>
              <a:spcAft>
                <a:spcPts val="0"/>
              </a:spcAft>
            </a:pPr>
            <a:r>
              <a:rPr sz="1050" b="1" i="0">
                <a:solidFill>
                  <a:srgbClr val="8C837E"/>
                </a:solidFill>
                <a:latin typeface="Calibri"/>
              </a:rPr>
              <a:t>Operations</a:t>
            </a:r>
          </a:p>
        </p:txBody>
      </p:sp>
      <p:sp>
        <p:nvSpPr>
          <p:cNvPr id="16" name="TextBox 15"/>
          <p:cNvSpPr txBox="1"/>
          <p:nvPr/>
        </p:nvSpPr>
        <p:spPr>
          <a:xfrm>
            <a:off x="2156824" y="2980944"/>
            <a:ext cx="1004680" cy="384048"/>
          </a:xfrm>
          <a:prstGeom prst="rect">
            <a:avLst/>
          </a:prstGeom>
          <a:noFill/>
        </p:spPr>
        <p:txBody>
          <a:bodyPr wrap="square" lIns="0" rIns="0" tIns="0" bIns="0" anchor="t">
            <a:spAutoFit/>
          </a:bodyPr>
          <a:lstStyle/>
          <a:p>
            <a:pPr algn="l">
              <a:lnSpc>
                <a:spcPct val="104000"/>
              </a:lnSpc>
              <a:spcAft>
                <a:spcPts val="0"/>
              </a:spcAft>
            </a:pPr>
            <a:r>
              <a:rPr sz="1200" b="1" i="0">
                <a:solidFill>
                  <a:srgbClr val="1A1614"/>
                </a:solidFill>
                <a:latin typeface="Calibri"/>
              </a:rPr>
              <a:t>Latihan dan bertanding</a:t>
            </a:r>
          </a:p>
        </p:txBody>
      </p:sp>
      <p:sp>
        <p:nvSpPr>
          <p:cNvPr id="17" name="TextBox 16"/>
          <p:cNvSpPr txBox="1"/>
          <p:nvPr/>
        </p:nvSpPr>
        <p:spPr>
          <a:xfrm>
            <a:off x="2156824" y="3401568"/>
            <a:ext cx="1004680" cy="658368"/>
          </a:xfrm>
          <a:prstGeom prst="rect">
            <a:avLst/>
          </a:prstGeom>
          <a:noFill/>
        </p:spPr>
        <p:txBody>
          <a:bodyPr wrap="square" lIns="0" rIns="0" tIns="0" bIns="0" anchor="t">
            <a:spAutoFit/>
          </a:bodyPr>
          <a:lstStyle/>
          <a:p>
            <a:pPr algn="l">
              <a:lnSpc>
                <a:spcPct val="112000"/>
              </a:lnSpc>
              <a:spcAft>
                <a:spcPts val="0"/>
              </a:spcAft>
            </a:pPr>
            <a:r>
              <a:rPr sz="950" b="0" i="0">
                <a:solidFill>
                  <a:srgbClr val="4A433F"/>
                </a:solidFill>
                <a:latin typeface="Calibri"/>
              </a:rPr>
              <a:t>Disiplin latihan, rotasi skuad, taktik</a:t>
            </a:r>
          </a:p>
        </p:txBody>
      </p:sp>
      <p:sp>
        <p:nvSpPr>
          <p:cNvPr id="18" name="Rectangle 17"/>
          <p:cNvSpPr/>
          <p:nvPr/>
        </p:nvSpPr>
        <p:spPr>
          <a:xfrm>
            <a:off x="3399249" y="2432303"/>
            <a:ext cx="1260712"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399249" y="2432303"/>
            <a:ext cx="1260712"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7265" y="2560320"/>
            <a:ext cx="1004680" cy="384048"/>
          </a:xfrm>
          <a:prstGeom prst="rect">
            <a:avLst/>
          </a:prstGeom>
          <a:noFill/>
        </p:spPr>
        <p:txBody>
          <a:bodyPr wrap="square" lIns="0" rIns="0" tIns="0" bIns="0" anchor="t">
            <a:spAutoFit/>
          </a:bodyPr>
          <a:lstStyle/>
          <a:p>
            <a:pPr algn="l">
              <a:lnSpc>
                <a:spcPct val="104000"/>
              </a:lnSpc>
              <a:spcAft>
                <a:spcPts val="0"/>
              </a:spcAft>
            </a:pPr>
            <a:r>
              <a:rPr sz="1050" b="1" i="0">
                <a:solidFill>
                  <a:srgbClr val="8C837E"/>
                </a:solidFill>
                <a:latin typeface="Calibri"/>
              </a:rPr>
              <a:t>Distribution</a:t>
            </a:r>
          </a:p>
        </p:txBody>
      </p:sp>
      <p:sp>
        <p:nvSpPr>
          <p:cNvPr id="21" name="TextBox 20"/>
          <p:cNvSpPr txBox="1"/>
          <p:nvPr/>
        </p:nvSpPr>
        <p:spPr>
          <a:xfrm>
            <a:off x="3527265" y="2980944"/>
            <a:ext cx="1004680" cy="384048"/>
          </a:xfrm>
          <a:prstGeom prst="rect">
            <a:avLst/>
          </a:prstGeom>
          <a:noFill/>
        </p:spPr>
        <p:txBody>
          <a:bodyPr wrap="square" lIns="0" rIns="0" tIns="0" bIns="0" anchor="t">
            <a:spAutoFit/>
          </a:bodyPr>
          <a:lstStyle/>
          <a:p>
            <a:pPr algn="l">
              <a:lnSpc>
                <a:spcPct val="104000"/>
              </a:lnSpc>
              <a:spcAft>
                <a:spcPts val="0"/>
              </a:spcAft>
            </a:pPr>
            <a:r>
              <a:rPr sz="1200" b="1" i="0">
                <a:solidFill>
                  <a:srgbClr val="1A1614"/>
                </a:solidFill>
                <a:latin typeface="Calibri"/>
              </a:rPr>
              <a:t>Menyalurkan tontonan</a:t>
            </a:r>
          </a:p>
        </p:txBody>
      </p:sp>
      <p:sp>
        <p:nvSpPr>
          <p:cNvPr id="22" name="TextBox 21"/>
          <p:cNvSpPr txBox="1"/>
          <p:nvPr/>
        </p:nvSpPr>
        <p:spPr>
          <a:xfrm>
            <a:off x="3527265" y="3401568"/>
            <a:ext cx="1004680" cy="658368"/>
          </a:xfrm>
          <a:prstGeom prst="rect">
            <a:avLst/>
          </a:prstGeom>
          <a:noFill/>
        </p:spPr>
        <p:txBody>
          <a:bodyPr wrap="square" lIns="0" rIns="0" tIns="0" bIns="0" anchor="t">
            <a:spAutoFit/>
          </a:bodyPr>
          <a:lstStyle/>
          <a:p>
            <a:pPr algn="l">
              <a:lnSpc>
                <a:spcPct val="112000"/>
              </a:lnSpc>
              <a:spcAft>
                <a:spcPts val="0"/>
              </a:spcAft>
            </a:pPr>
            <a:r>
              <a:rPr sz="950" b="0" i="0">
                <a:solidFill>
                  <a:srgbClr val="4A433F"/>
                </a:solidFill>
                <a:latin typeface="Calibri"/>
              </a:rPr>
              <a:t>Hak siar liga dan UEFA, MUTV, Old Trafford</a:t>
            </a:r>
          </a:p>
        </p:txBody>
      </p:sp>
      <p:sp>
        <p:nvSpPr>
          <p:cNvPr id="23" name="Rectangle 22"/>
          <p:cNvSpPr/>
          <p:nvPr/>
        </p:nvSpPr>
        <p:spPr>
          <a:xfrm>
            <a:off x="4769689" y="2432303"/>
            <a:ext cx="1260712"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769689" y="2432303"/>
            <a:ext cx="1260712"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897705" y="2560320"/>
            <a:ext cx="1004680" cy="384048"/>
          </a:xfrm>
          <a:prstGeom prst="rect">
            <a:avLst/>
          </a:prstGeom>
          <a:noFill/>
        </p:spPr>
        <p:txBody>
          <a:bodyPr wrap="square" lIns="0" rIns="0" tIns="0" bIns="0" anchor="t">
            <a:spAutoFit/>
          </a:bodyPr>
          <a:lstStyle/>
          <a:p>
            <a:pPr algn="l">
              <a:lnSpc>
                <a:spcPct val="104000"/>
              </a:lnSpc>
              <a:spcAft>
                <a:spcPts val="0"/>
              </a:spcAft>
            </a:pPr>
            <a:r>
              <a:rPr sz="1050" b="1" i="0">
                <a:solidFill>
                  <a:srgbClr val="8C837E"/>
                </a:solidFill>
                <a:latin typeface="Calibri"/>
              </a:rPr>
              <a:t>Sales &amp; Marketing</a:t>
            </a:r>
          </a:p>
        </p:txBody>
      </p:sp>
      <p:sp>
        <p:nvSpPr>
          <p:cNvPr id="26" name="TextBox 25"/>
          <p:cNvSpPr txBox="1"/>
          <p:nvPr/>
        </p:nvSpPr>
        <p:spPr>
          <a:xfrm>
            <a:off x="4897705" y="2980944"/>
            <a:ext cx="1004680" cy="384048"/>
          </a:xfrm>
          <a:prstGeom prst="rect">
            <a:avLst/>
          </a:prstGeom>
          <a:noFill/>
        </p:spPr>
        <p:txBody>
          <a:bodyPr wrap="square" lIns="0" rIns="0" tIns="0" bIns="0" anchor="t">
            <a:spAutoFit/>
          </a:bodyPr>
          <a:lstStyle/>
          <a:p>
            <a:pPr algn="l">
              <a:lnSpc>
                <a:spcPct val="104000"/>
              </a:lnSpc>
              <a:spcAft>
                <a:spcPts val="0"/>
              </a:spcAft>
            </a:pPr>
            <a:r>
              <a:rPr sz="1200" b="1" i="0">
                <a:solidFill>
                  <a:srgbClr val="1A1614"/>
                </a:solidFill>
                <a:latin typeface="Calibri"/>
              </a:rPr>
              <a:t>Menjual merek</a:t>
            </a:r>
          </a:p>
        </p:txBody>
      </p:sp>
      <p:sp>
        <p:nvSpPr>
          <p:cNvPr id="27" name="TextBox 26"/>
          <p:cNvSpPr txBox="1"/>
          <p:nvPr/>
        </p:nvSpPr>
        <p:spPr>
          <a:xfrm>
            <a:off x="4897705" y="3401568"/>
            <a:ext cx="1004680" cy="658368"/>
          </a:xfrm>
          <a:prstGeom prst="rect">
            <a:avLst/>
          </a:prstGeom>
          <a:noFill/>
        </p:spPr>
        <p:txBody>
          <a:bodyPr wrap="square" lIns="0" rIns="0" tIns="0" bIns="0" anchor="t">
            <a:spAutoFit/>
          </a:bodyPr>
          <a:lstStyle/>
          <a:p>
            <a:pPr algn="l">
              <a:lnSpc>
                <a:spcPct val="112000"/>
              </a:lnSpc>
              <a:spcAft>
                <a:spcPts val="0"/>
              </a:spcAft>
            </a:pPr>
            <a:r>
              <a:rPr sz="950" b="0" i="0">
                <a:solidFill>
                  <a:srgbClr val="4A433F"/>
                </a:solidFill>
                <a:latin typeface="Calibri"/>
              </a:rPr>
              <a:t>Aon, Nike, 13+ sponsor per negara, tur Asia</a:t>
            </a:r>
          </a:p>
        </p:txBody>
      </p:sp>
      <p:sp>
        <p:nvSpPr>
          <p:cNvPr id="28" name="Rectangle 27"/>
          <p:cNvSpPr/>
          <p:nvPr/>
        </p:nvSpPr>
        <p:spPr>
          <a:xfrm>
            <a:off x="6140130" y="2432303"/>
            <a:ext cx="1260712" cy="170078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40130" y="2432303"/>
            <a:ext cx="1260712" cy="4572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68146" y="2560320"/>
            <a:ext cx="1004680" cy="384048"/>
          </a:xfrm>
          <a:prstGeom prst="rect">
            <a:avLst/>
          </a:prstGeom>
          <a:noFill/>
        </p:spPr>
        <p:txBody>
          <a:bodyPr wrap="square" lIns="0" rIns="0" tIns="0" bIns="0" anchor="t">
            <a:spAutoFit/>
          </a:bodyPr>
          <a:lstStyle/>
          <a:p>
            <a:pPr algn="l">
              <a:lnSpc>
                <a:spcPct val="104000"/>
              </a:lnSpc>
              <a:spcAft>
                <a:spcPts val="0"/>
              </a:spcAft>
            </a:pPr>
            <a:r>
              <a:rPr sz="1050" b="1" i="0">
                <a:solidFill>
                  <a:srgbClr val="8C837E"/>
                </a:solidFill>
                <a:latin typeface="Calibri"/>
              </a:rPr>
              <a:t>Service</a:t>
            </a:r>
          </a:p>
        </p:txBody>
      </p:sp>
      <p:sp>
        <p:nvSpPr>
          <p:cNvPr id="31" name="TextBox 30"/>
          <p:cNvSpPr txBox="1"/>
          <p:nvPr/>
        </p:nvSpPr>
        <p:spPr>
          <a:xfrm>
            <a:off x="6268146" y="2980944"/>
            <a:ext cx="1004680" cy="384048"/>
          </a:xfrm>
          <a:prstGeom prst="rect">
            <a:avLst/>
          </a:prstGeom>
          <a:noFill/>
        </p:spPr>
        <p:txBody>
          <a:bodyPr wrap="square" lIns="0" rIns="0" tIns="0" bIns="0" anchor="t">
            <a:spAutoFit/>
          </a:bodyPr>
          <a:lstStyle/>
          <a:p>
            <a:pPr algn="l">
              <a:lnSpc>
                <a:spcPct val="104000"/>
              </a:lnSpc>
              <a:spcAft>
                <a:spcPts val="0"/>
              </a:spcAft>
            </a:pPr>
            <a:r>
              <a:rPr sz="1200" b="1" i="0">
                <a:solidFill>
                  <a:srgbClr val="1A1614"/>
                </a:solidFill>
                <a:latin typeface="Calibri"/>
              </a:rPr>
              <a:t>Melayani pendukung</a:t>
            </a:r>
          </a:p>
        </p:txBody>
      </p:sp>
      <p:sp>
        <p:nvSpPr>
          <p:cNvPr id="32" name="TextBox 31"/>
          <p:cNvSpPr txBox="1"/>
          <p:nvPr/>
        </p:nvSpPr>
        <p:spPr>
          <a:xfrm>
            <a:off x="6268146" y="3401568"/>
            <a:ext cx="1004680" cy="658368"/>
          </a:xfrm>
          <a:prstGeom prst="rect">
            <a:avLst/>
          </a:prstGeom>
          <a:noFill/>
        </p:spPr>
        <p:txBody>
          <a:bodyPr wrap="square" lIns="0" rIns="0" tIns="0" bIns="0" anchor="t">
            <a:spAutoFit/>
          </a:bodyPr>
          <a:lstStyle/>
          <a:p>
            <a:pPr algn="l">
              <a:lnSpc>
                <a:spcPct val="112000"/>
              </a:lnSpc>
              <a:spcAft>
                <a:spcPts val="0"/>
              </a:spcAft>
            </a:pPr>
            <a:r>
              <a:rPr sz="950" b="0" i="0">
                <a:solidFill>
                  <a:srgbClr val="4A433F"/>
                </a:solidFill>
                <a:latin typeface="Calibri"/>
              </a:rPr>
              <a:t>Superstore, museum, Soccer Schools, MU Mobile</a:t>
            </a:r>
          </a:p>
        </p:txBody>
      </p:sp>
      <p:sp>
        <p:nvSpPr>
          <p:cNvPr id="33" name="TextBox 32"/>
          <p:cNvSpPr txBox="1"/>
          <p:nvPr/>
        </p:nvSpPr>
        <p:spPr>
          <a:xfrm>
            <a:off x="7766602" y="2157984"/>
            <a:ext cx="3766724"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Di mana letak keunggulan biayanya</a:t>
            </a:r>
          </a:p>
        </p:txBody>
      </p:sp>
      <p:sp>
        <p:nvSpPr>
          <p:cNvPr id="34" name="Rectangle 33"/>
          <p:cNvSpPr/>
          <p:nvPr/>
        </p:nvSpPr>
        <p:spPr>
          <a:xfrm>
            <a:off x="7766602" y="2432303"/>
            <a:ext cx="3766724" cy="676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766602" y="2432303"/>
            <a:ext cx="45720" cy="67665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986058" y="2514599"/>
            <a:ext cx="3327812" cy="219456"/>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Gaji hanya ± 50% pendapatan</a:t>
            </a:r>
          </a:p>
        </p:txBody>
      </p:sp>
      <p:sp>
        <p:nvSpPr>
          <p:cNvPr id="37" name="TextBox 36"/>
          <p:cNvSpPr txBox="1"/>
          <p:nvPr/>
        </p:nvSpPr>
        <p:spPr>
          <a:xfrm>
            <a:off x="7986058" y="2734056"/>
            <a:ext cx="3327812" cy="32918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Rata-rata Premier League 62%, Serie A 68%, Chelsea 81%. Selisih 31 poin dengan Chelsea.</a:t>
            </a:r>
          </a:p>
        </p:txBody>
      </p:sp>
      <p:sp>
        <p:nvSpPr>
          <p:cNvPr id="38" name="Rectangle 37"/>
          <p:cNvSpPr/>
          <p:nvPr/>
        </p:nvSpPr>
        <p:spPr>
          <a:xfrm>
            <a:off x="7766602" y="3182111"/>
            <a:ext cx="3766724" cy="676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7766602" y="3182111"/>
            <a:ext cx="45720" cy="67665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986058" y="3264407"/>
            <a:ext cx="3327812" cy="219456"/>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Akademi menghasilkan pemain gratis</a:t>
            </a:r>
          </a:p>
        </p:txBody>
      </p:sp>
      <p:sp>
        <p:nvSpPr>
          <p:cNvPr id="41" name="TextBox 40"/>
          <p:cNvSpPr txBox="1"/>
          <p:nvPr/>
        </p:nvSpPr>
        <p:spPr>
          <a:xfrm>
            <a:off x="7986058" y="3483863"/>
            <a:ext cx="3327812" cy="32918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Tanpa biaya transfer. Belanja bersih 2003–09 hanya £100 jt.</a:t>
            </a:r>
          </a:p>
        </p:txBody>
      </p:sp>
      <p:sp>
        <p:nvSpPr>
          <p:cNvPr id="42" name="Rectangle 41"/>
          <p:cNvSpPr/>
          <p:nvPr/>
        </p:nvSpPr>
        <p:spPr>
          <a:xfrm>
            <a:off x="7766602" y="3931920"/>
            <a:ext cx="3766724" cy="676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7766602" y="3931920"/>
            <a:ext cx="45720" cy="67665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986058" y="4014215"/>
            <a:ext cx="3327812" cy="219456"/>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Menjual di puncak harga</a:t>
            </a:r>
          </a:p>
        </p:txBody>
      </p:sp>
      <p:sp>
        <p:nvSpPr>
          <p:cNvPr id="45" name="TextBox 44"/>
          <p:cNvSpPr txBox="1"/>
          <p:nvPr/>
        </p:nvSpPr>
        <p:spPr>
          <a:xfrm>
            <a:off x="7986058" y="4233672"/>
            <a:ext cx="3327812" cy="32918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Ronaldo dilepas dengan rekor dunia £80 jt; laba penjualan pemain £21,8 jt pada 2008 saja.</a:t>
            </a:r>
          </a:p>
        </p:txBody>
      </p:sp>
      <p:sp>
        <p:nvSpPr>
          <p:cNvPr id="46" name="Rectangle 45"/>
          <p:cNvSpPr/>
          <p:nvPr/>
        </p:nvSpPr>
        <p:spPr>
          <a:xfrm>
            <a:off x="7766602" y="4681728"/>
            <a:ext cx="3766724" cy="676656"/>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7766602" y="4681728"/>
            <a:ext cx="45720" cy="67665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986058" y="4764024"/>
            <a:ext cx="3327812" cy="219456"/>
          </a:xfrm>
          <a:prstGeom prst="rect">
            <a:avLst/>
          </a:prstGeom>
          <a:noFill/>
        </p:spPr>
        <p:txBody>
          <a:bodyPr wrap="square" lIns="0" rIns="0" tIns="0" bIns="0" anchor="t">
            <a:spAutoFit/>
          </a:bodyPr>
          <a:lstStyle/>
          <a:p>
            <a:pPr algn="l">
              <a:lnSpc>
                <a:spcPct val="100000"/>
              </a:lnSpc>
              <a:spcAft>
                <a:spcPts val="0"/>
              </a:spcAft>
            </a:pPr>
            <a:r>
              <a:rPr sz="1150" b="1" i="0">
                <a:solidFill>
                  <a:srgbClr val="1A1614"/>
                </a:solidFill>
                <a:latin typeface="Calibri"/>
              </a:rPr>
              <a:t>Yang melawan arah</a:t>
            </a:r>
          </a:p>
        </p:txBody>
      </p:sp>
      <p:sp>
        <p:nvSpPr>
          <p:cNvPr id="49" name="TextBox 48"/>
          <p:cNvSpPr txBox="1"/>
          <p:nvPr/>
        </p:nvSpPr>
        <p:spPr>
          <a:xfrm>
            <a:off x="7986058" y="4983480"/>
            <a:ext cx="3327812" cy="329184"/>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Amortisasi pemain naik dari £13,1 jt (2000) ke £35,5 jt (2008).</a:t>
            </a:r>
          </a:p>
        </p:txBody>
      </p:sp>
      <p:sp>
        <p:nvSpPr>
          <p:cNvPr id="50" name="TextBox 49"/>
          <p:cNvSpPr txBox="1"/>
          <p:nvPr/>
        </p:nvSpPr>
        <p:spPr>
          <a:xfrm>
            <a:off x="658368" y="4224527"/>
            <a:ext cx="6742474"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1A1614"/>
                </a:solidFill>
                <a:latin typeface="Calibri"/>
              </a:rPr>
              <a:t>Support activities</a:t>
            </a:r>
          </a:p>
        </p:txBody>
      </p:sp>
      <p:sp>
        <p:nvSpPr>
          <p:cNvPr id="51" name="Rectangle 50"/>
          <p:cNvSpPr/>
          <p:nvPr/>
        </p:nvSpPr>
        <p:spPr>
          <a:xfrm>
            <a:off x="658368" y="4498847"/>
            <a:ext cx="2149955" cy="859536"/>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58368" y="4498847"/>
            <a:ext cx="45720" cy="8595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7" y="4590288"/>
            <a:ext cx="1784195" cy="219456"/>
          </a:xfrm>
          <a:prstGeom prst="rect">
            <a:avLst/>
          </a:prstGeom>
          <a:noFill/>
        </p:spPr>
        <p:txBody>
          <a:bodyPr wrap="square" lIns="0" rIns="0" tIns="0" bIns="0" anchor="t">
            <a:spAutoFit/>
          </a:bodyPr>
          <a:lstStyle/>
          <a:p>
            <a:pPr algn="l">
              <a:lnSpc>
                <a:spcPct val="100000"/>
              </a:lnSpc>
              <a:spcAft>
                <a:spcPts val="0"/>
              </a:spcAft>
            </a:pPr>
            <a:r>
              <a:rPr sz="1050" b="1" i="0">
                <a:solidFill>
                  <a:srgbClr val="1A1614"/>
                </a:solidFill>
                <a:latin typeface="Calibri"/>
              </a:rPr>
              <a:t>Product R&amp;D &amp; Systems</a:t>
            </a:r>
          </a:p>
        </p:txBody>
      </p:sp>
      <p:sp>
        <p:nvSpPr>
          <p:cNvPr id="54" name="TextBox 53"/>
          <p:cNvSpPr txBox="1"/>
          <p:nvPr/>
        </p:nvSpPr>
        <p:spPr>
          <a:xfrm>
            <a:off x="841247" y="4828031"/>
            <a:ext cx="1784195" cy="438912"/>
          </a:xfrm>
          <a:prstGeom prst="rect">
            <a:avLst/>
          </a:prstGeom>
          <a:noFill/>
        </p:spPr>
        <p:txBody>
          <a:bodyPr wrap="square" lIns="0" rIns="0" tIns="0" bIns="0" anchor="t">
            <a:spAutoFit/>
          </a:bodyPr>
          <a:lstStyle/>
          <a:p>
            <a:pPr algn="l">
              <a:lnSpc>
                <a:spcPct val="110000"/>
              </a:lnSpc>
              <a:spcAft>
                <a:spcPts val="0"/>
              </a:spcAft>
            </a:pPr>
            <a:r>
              <a:rPr sz="950" b="0" i="0">
                <a:solidFill>
                  <a:srgbClr val="4A433F"/>
                </a:solidFill>
                <a:latin typeface="Calibri"/>
              </a:rPr>
              <a:t>Metodologi akademi, inovasi rotasi skuad, MUTV</a:t>
            </a:r>
          </a:p>
        </p:txBody>
      </p:sp>
      <p:sp>
        <p:nvSpPr>
          <p:cNvPr id="55" name="Rectangle 54"/>
          <p:cNvSpPr/>
          <p:nvPr/>
        </p:nvSpPr>
        <p:spPr>
          <a:xfrm>
            <a:off x="2954627" y="4498847"/>
            <a:ext cx="2149955" cy="859536"/>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2954627" y="4498847"/>
            <a:ext cx="45720" cy="8595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3137507" y="4590288"/>
            <a:ext cx="1784195" cy="219456"/>
          </a:xfrm>
          <a:prstGeom prst="rect">
            <a:avLst/>
          </a:prstGeom>
          <a:noFill/>
        </p:spPr>
        <p:txBody>
          <a:bodyPr wrap="square" lIns="0" rIns="0" tIns="0" bIns="0" anchor="t">
            <a:spAutoFit/>
          </a:bodyPr>
          <a:lstStyle/>
          <a:p>
            <a:pPr algn="l">
              <a:lnSpc>
                <a:spcPct val="100000"/>
              </a:lnSpc>
              <a:spcAft>
                <a:spcPts val="0"/>
              </a:spcAft>
            </a:pPr>
            <a:r>
              <a:rPr sz="1050" b="1" i="0">
                <a:solidFill>
                  <a:srgbClr val="1A1614"/>
                </a:solidFill>
                <a:latin typeface="Calibri"/>
              </a:rPr>
              <a:t>Human Resource Management</a:t>
            </a:r>
          </a:p>
        </p:txBody>
      </p:sp>
      <p:sp>
        <p:nvSpPr>
          <p:cNvPr id="58" name="TextBox 57"/>
          <p:cNvSpPr txBox="1"/>
          <p:nvPr/>
        </p:nvSpPr>
        <p:spPr>
          <a:xfrm>
            <a:off x="3137507" y="4828031"/>
            <a:ext cx="1784195" cy="438912"/>
          </a:xfrm>
          <a:prstGeom prst="rect">
            <a:avLst/>
          </a:prstGeom>
          <a:noFill/>
        </p:spPr>
        <p:txBody>
          <a:bodyPr wrap="square" lIns="0" rIns="0" tIns="0" bIns="0" anchor="t">
            <a:spAutoFit/>
          </a:bodyPr>
          <a:lstStyle/>
          <a:p>
            <a:pPr algn="l">
              <a:lnSpc>
                <a:spcPct val="110000"/>
              </a:lnSpc>
              <a:spcAft>
                <a:spcPts val="0"/>
              </a:spcAft>
            </a:pPr>
            <a:r>
              <a:rPr sz="950" b="0" i="0">
                <a:solidFill>
                  <a:srgbClr val="4A433F"/>
                </a:solidFill>
                <a:latin typeface="Calibri"/>
              </a:rPr>
              <a:t>Rekrutmen, struktur gaji, penegakan disiplin</a:t>
            </a:r>
          </a:p>
        </p:txBody>
      </p:sp>
      <p:sp>
        <p:nvSpPr>
          <p:cNvPr id="59" name="Rectangle 58"/>
          <p:cNvSpPr/>
          <p:nvPr/>
        </p:nvSpPr>
        <p:spPr>
          <a:xfrm>
            <a:off x="5250887" y="4498847"/>
            <a:ext cx="2149955" cy="859536"/>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5250887" y="4498847"/>
            <a:ext cx="45720" cy="859536"/>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5433767" y="4590288"/>
            <a:ext cx="1784195" cy="219456"/>
          </a:xfrm>
          <a:prstGeom prst="rect">
            <a:avLst/>
          </a:prstGeom>
          <a:noFill/>
        </p:spPr>
        <p:txBody>
          <a:bodyPr wrap="square" lIns="0" rIns="0" tIns="0" bIns="0" anchor="t">
            <a:spAutoFit/>
          </a:bodyPr>
          <a:lstStyle/>
          <a:p>
            <a:pPr algn="l">
              <a:lnSpc>
                <a:spcPct val="100000"/>
              </a:lnSpc>
              <a:spcAft>
                <a:spcPts val="0"/>
              </a:spcAft>
            </a:pPr>
            <a:r>
              <a:rPr sz="1050" b="1" i="0">
                <a:solidFill>
                  <a:srgbClr val="1A1614"/>
                </a:solidFill>
                <a:latin typeface="Calibri"/>
              </a:rPr>
              <a:t>General Administration</a:t>
            </a:r>
          </a:p>
        </p:txBody>
      </p:sp>
      <p:sp>
        <p:nvSpPr>
          <p:cNvPr id="62" name="TextBox 61"/>
          <p:cNvSpPr txBox="1"/>
          <p:nvPr/>
        </p:nvSpPr>
        <p:spPr>
          <a:xfrm>
            <a:off x="5433767" y="4828031"/>
            <a:ext cx="1784195" cy="438912"/>
          </a:xfrm>
          <a:prstGeom prst="rect">
            <a:avLst/>
          </a:prstGeom>
          <a:noFill/>
        </p:spPr>
        <p:txBody>
          <a:bodyPr wrap="square" lIns="0" rIns="0" tIns="0" bIns="0" anchor="t">
            <a:spAutoFit/>
          </a:bodyPr>
          <a:lstStyle/>
          <a:p>
            <a:pPr algn="l">
              <a:lnSpc>
                <a:spcPct val="110000"/>
              </a:lnSpc>
              <a:spcAft>
                <a:spcPts val="0"/>
              </a:spcAft>
            </a:pPr>
            <a:r>
              <a:rPr sz="950" b="0" i="0">
                <a:solidFill>
                  <a:srgbClr val="4A433F"/>
                </a:solidFill>
                <a:latin typeface="Calibri"/>
              </a:rPr>
              <a:t>Pemisahan peran Gill dan Ferguson; MU International</a:t>
            </a:r>
          </a:p>
        </p:txBody>
      </p:sp>
      <p:sp>
        <p:nvSpPr>
          <p:cNvPr id="63" name="Rectangle 62"/>
          <p:cNvSpPr/>
          <p:nvPr/>
        </p:nvSpPr>
        <p:spPr>
          <a:xfrm>
            <a:off x="658368" y="5431536"/>
            <a:ext cx="10874959" cy="694944"/>
          </a:xfrm>
          <a:prstGeom prst="rect">
            <a:avLst/>
          </a:prstGeom>
          <a:solidFill>
            <a:srgbClr val="FA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658368" y="5431536"/>
            <a:ext cx="45720" cy="69494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32688" y="5568696"/>
            <a:ext cx="10308031" cy="457200"/>
          </a:xfrm>
          <a:prstGeom prst="rect">
            <a:avLst/>
          </a:prstGeom>
          <a:noFill/>
        </p:spPr>
        <p:txBody>
          <a:bodyPr wrap="square" lIns="0" rIns="0" tIns="0" bIns="0" anchor="t">
            <a:spAutoFit/>
          </a:bodyPr>
          <a:lstStyle/>
          <a:p>
            <a:pPr algn="l">
              <a:lnSpc>
                <a:spcPct val="116000"/>
              </a:lnSpc>
              <a:spcBef>
                <a:spcPts val="0"/>
              </a:spcBef>
              <a:spcAft>
                <a:spcPts val="0"/>
              </a:spcAft>
            </a:pPr>
            <a:r>
              <a:rPr sz="1200" b="0" i="0">
                <a:solidFill>
                  <a:srgbClr val="1A1614"/>
                </a:solidFill>
                <a:latin typeface="Calibri"/>
              </a:rPr>
              <a:t/>
            </a:r>
            <a:r>
              <a:rPr sz="1200" b="1">
                <a:solidFill>
                  <a:srgbClr val="8F1A11"/>
                </a:solidFill>
                <a:latin typeface="Calibri"/>
              </a:rPr>
              <a:t>Nilai bagi dua pihak berbeda. </a:t>
            </a:r>
            <a:r>
              <a:rPr sz="1200" b="0">
                <a:solidFill>
                  <a:srgbClr val="1A1614"/>
                </a:solidFill>
                <a:latin typeface="Calibri"/>
              </a:rPr>
              <a:t>Bagi pendukung: prestasi, sejarah, dan pengalaman Old Trafford. Bagi sponsor: akses ke 80 juta pendukung Asia, ditambah bukti bahwa akses itu bekerja — lompatan AIG ke peringkat 47 merek dunia dalam satu tahun.</a:t>
            </a:r>
          </a:p>
        </p:txBody>
      </p:sp>
      <p:sp>
        <p:nvSpPr>
          <p:cNvPr id="66" name="Rectangle 65"/>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68" name="TextBox 67"/>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02336"/>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329184"/>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5 · Diterapkan</a:t>
            </a:r>
          </a:p>
        </p:txBody>
      </p:sp>
      <p:sp>
        <p:nvSpPr>
          <p:cNvPr id="5" name="TextBox 4"/>
          <p:cNvSpPr txBox="1"/>
          <p:nvPr/>
        </p:nvSpPr>
        <p:spPr>
          <a:xfrm>
            <a:off x="658368" y="621792"/>
            <a:ext cx="10874959" cy="457200"/>
          </a:xfrm>
          <a:prstGeom prst="rect">
            <a:avLst/>
          </a:prstGeom>
          <a:noFill/>
        </p:spPr>
        <p:txBody>
          <a:bodyPr wrap="square" lIns="0" rIns="0" tIns="0" bIns="0" anchor="t">
            <a:spAutoFit/>
          </a:bodyPr>
          <a:lstStyle/>
          <a:p>
            <a:pPr algn="l">
              <a:lnSpc>
                <a:spcPct val="98000"/>
              </a:lnSpc>
              <a:spcAft>
                <a:spcPts val="0"/>
              </a:spcAft>
            </a:pPr>
            <a:r>
              <a:rPr sz="2700" b="1" i="0">
                <a:solidFill>
                  <a:srgbClr val="1A1614"/>
                </a:solidFill>
                <a:latin typeface="Calibri"/>
              </a:rPr>
              <a:t>Matriks kekuatan kompetitif Manchester United</a:t>
            </a:r>
          </a:p>
        </p:txBody>
      </p:sp>
      <p:sp>
        <p:nvSpPr>
          <p:cNvPr id="6" name="TextBox 5"/>
          <p:cNvSpPr txBox="1"/>
          <p:nvPr/>
        </p:nvSpPr>
        <p:spPr>
          <a:xfrm>
            <a:off x="658368" y="1115568"/>
            <a:ext cx="10874959" cy="256032"/>
          </a:xfrm>
          <a:prstGeom prst="rect">
            <a:avLst/>
          </a:prstGeom>
          <a:noFill/>
        </p:spPr>
        <p:txBody>
          <a:bodyPr wrap="square" lIns="0" rIns="0" tIns="0" bIns="0" anchor="t">
            <a:spAutoFit/>
          </a:bodyPr>
          <a:lstStyle/>
          <a:p>
            <a:pPr algn="l">
              <a:lnSpc>
                <a:spcPct val="100000"/>
              </a:lnSpc>
              <a:spcAft>
                <a:spcPts val="0"/>
              </a:spcAft>
            </a:pPr>
            <a:r>
              <a:rPr sz="1150" b="0" i="0">
                <a:solidFill>
                  <a:srgbClr val="4A433F"/>
                </a:solidFill>
                <a:latin typeface="Calibri"/>
              </a:rPr>
              <a:t>Bobot dan rating disusun kelompok kami berdasarkan Tabel 6.2, 6.3, 6.5, 6.6 dan 6.7 kasus. Isi sel: rating (1–10) / skor tertimbang.</a:t>
            </a:r>
          </a:p>
        </p:txBody>
      </p:sp>
      <p:graphicFrame>
        <p:nvGraphicFramePr>
          <p:cNvPr id="7" name="Table 6"/>
          <p:cNvGraphicFramePr>
            <a:graphicFrameLocks noGrp="1"/>
          </p:cNvGraphicFramePr>
          <p:nvPr/>
        </p:nvGraphicFramePr>
        <p:xfrm>
          <a:off x="658368" y="1463040"/>
          <a:ext cx="10890504" cy="3136392"/>
        </p:xfrm>
        <a:graphic>
          <a:graphicData uri="http://schemas.openxmlformats.org/drawingml/2006/table">
            <a:tbl>
              <a:tblPr>
                <a:tableStyleId>{5C22544A-7EE6-4342-B048-85BDC9FD1C3A}</a:tableStyleId>
              </a:tblPr>
              <a:tblGrid>
                <a:gridCol w="3108960"/>
                <a:gridCol w="868680"/>
                <a:gridCol w="1389888"/>
                <a:gridCol w="1389888"/>
                <a:gridCol w="1389888"/>
                <a:gridCol w="1371600"/>
                <a:gridCol w="1371600"/>
              </a:tblGrid>
              <a:tr h="347472">
                <a:tc>
                  <a:txBody>
                    <a:bodyPr wrap="square"/>
                    <a:lstStyle/>
                    <a:p>
                      <a:pPr algn="l">
                        <a:lnSpc>
                          <a:spcPct val="106000"/>
                        </a:lnSpc>
                      </a:pPr>
                      <a:r>
                        <a:rPr sz="1000" b="1">
                          <a:solidFill>
                            <a:srgbClr val="FFFFFF"/>
                          </a:solidFill>
                          <a:latin typeface="Calibri"/>
                        </a:rPr>
                        <a:t>Key Success Factor</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Bobot</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Man United</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Real Madrid</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Barcelona</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Chelsea</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000" b="1">
                          <a:solidFill>
                            <a:srgbClr val="FFFFFF"/>
                          </a:solidFill>
                          <a:latin typeface="Calibri"/>
                        </a:rPr>
                        <a:t>Arsenal</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r h="278892">
                <a:tc>
                  <a:txBody>
                    <a:bodyPr wrap="square"/>
                    <a:lstStyle/>
                    <a:p>
                      <a:pPr algn="l">
                        <a:lnSpc>
                          <a:spcPct val="106000"/>
                        </a:lnSpc>
                      </a:pPr>
                      <a:r>
                        <a:rPr sz="1050" b="1">
                          <a:solidFill>
                            <a:srgbClr val="1A1614"/>
                          </a:solidFill>
                          <a:latin typeface="Calibri"/>
                        </a:rPr>
                        <a:t>Kualitas skuad</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1">
                          <a:solidFill>
                            <a:srgbClr val="8F1A11"/>
                          </a:solidFill>
                          <a:latin typeface="Calibri"/>
                        </a:rPr>
                        <a:t>6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9 / 1,35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10 / 1,50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9 / 1,35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6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78892">
                <a:tc>
                  <a:txBody>
                    <a:bodyPr wrap="square"/>
                    <a:lstStyle/>
                    <a:p>
                      <a:pPr algn="l">
                        <a:lnSpc>
                          <a:spcPct val="106000"/>
                        </a:lnSpc>
                      </a:pPr>
                      <a:r>
                        <a:rPr sz="1050" b="1">
                          <a:solidFill>
                            <a:srgbClr val="1A1614"/>
                          </a:solidFill>
                          <a:latin typeface="Calibri"/>
                        </a:rPr>
                        <a:t>Kemampuan manajer</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1">
                          <a:solidFill>
                            <a:srgbClr val="8F1A11"/>
                          </a:solidFill>
                          <a:latin typeface="Calibri"/>
                        </a:rPr>
                        <a:t>10 / 1,50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5 / 0,75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8 / 1,20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6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8 / 1,20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78892">
                <a:tc>
                  <a:txBody>
                    <a:bodyPr wrap="square"/>
                    <a:lstStyle/>
                    <a:p>
                      <a:pPr algn="l">
                        <a:lnSpc>
                          <a:spcPct val="106000"/>
                        </a:lnSpc>
                      </a:pPr>
                      <a:r>
                        <a:rPr sz="1050" b="1">
                          <a:solidFill>
                            <a:srgbClr val="1A1614"/>
                          </a:solidFill>
                          <a:latin typeface="Calibri"/>
                        </a:rPr>
                        <a:t>Akademi &amp; pemandu bakat</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1">
                          <a:solidFill>
                            <a:srgbClr val="8F1A11"/>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3 / 0,30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3 / 0,30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8 / 0,80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78892">
                <a:tc>
                  <a:txBody>
                    <a:bodyPr wrap="square"/>
                    <a:lstStyle/>
                    <a:p>
                      <a:pPr algn="l">
                        <a:lnSpc>
                          <a:spcPct val="106000"/>
                        </a:lnSpc>
                      </a:pPr>
                      <a:r>
                        <a:rPr sz="1050" b="1">
                          <a:solidFill>
                            <a:srgbClr val="1A1614"/>
                          </a:solidFill>
                          <a:latin typeface="Calibri"/>
                        </a:rPr>
                        <a:t>Merek &amp; basis pendukung</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1">
                          <a:solidFill>
                            <a:srgbClr val="8F1A11"/>
                          </a:solidFill>
                          <a:latin typeface="Calibri"/>
                        </a:rPr>
                        <a:t>10 / 1,50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9 / 1,35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7 / 1,05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5 / 0,75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6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78892">
                <a:tc>
                  <a:txBody>
                    <a:bodyPr wrap="square"/>
                    <a:lstStyle/>
                    <a:p>
                      <a:pPr algn="l">
                        <a:lnSpc>
                          <a:spcPct val="106000"/>
                        </a:lnSpc>
                      </a:pPr>
                      <a:r>
                        <a:rPr sz="1050" b="1">
                          <a:solidFill>
                            <a:srgbClr val="1A1614"/>
                          </a:solidFill>
                          <a:latin typeface="Calibri"/>
                        </a:rPr>
                        <a:t>Kemampuan komersial</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1">
                          <a:solidFill>
                            <a:srgbClr val="8F1A11"/>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7 / 0,70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6 / 0,60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78892">
                <a:tc>
                  <a:txBody>
                    <a:bodyPr wrap="square"/>
                    <a:lstStyle/>
                    <a:p>
                      <a:pPr algn="l">
                        <a:lnSpc>
                          <a:spcPct val="106000"/>
                        </a:lnSpc>
                      </a:pPr>
                      <a:r>
                        <a:rPr sz="1050" b="1">
                          <a:solidFill>
                            <a:srgbClr val="1A1614"/>
                          </a:solidFill>
                          <a:latin typeface="Calibri"/>
                        </a:rPr>
                        <a:t>Profitabilitas</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1">
                          <a:solidFill>
                            <a:srgbClr val="8F1A11"/>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7 / 0,70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1 / 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6 / 0,60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78892">
                <a:tc>
                  <a:txBody>
                    <a:bodyPr wrap="square"/>
                    <a:lstStyle/>
                    <a:p>
                      <a:pPr algn="l">
                        <a:lnSpc>
                          <a:spcPct val="106000"/>
                        </a:lnSpc>
                      </a:pPr>
                      <a:r>
                        <a:rPr sz="1050" b="1">
                          <a:solidFill>
                            <a:srgbClr val="1A1614"/>
                          </a:solidFill>
                          <a:latin typeface="Calibri"/>
                        </a:rPr>
                        <a:t>Keleluasaan finansial (utang)</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1">
                          <a:solidFill>
                            <a:srgbClr val="8F1A11"/>
                          </a:solidFill>
                          <a:latin typeface="Calibri"/>
                        </a:rPr>
                        <a:t>4 / 0,40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7 / 0,70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5 / 0,50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2 / 0,20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78892">
                <a:tc>
                  <a:txBody>
                    <a:bodyPr wrap="square"/>
                    <a:lstStyle/>
                    <a:p>
                      <a:pPr algn="l">
                        <a:lnSpc>
                          <a:spcPct val="106000"/>
                        </a:lnSpc>
                      </a:pPr>
                      <a:r>
                        <a:rPr sz="1050" b="1">
                          <a:solidFill>
                            <a:srgbClr val="1A1614"/>
                          </a:solidFill>
                          <a:latin typeface="Calibri"/>
                        </a:rPr>
                        <a:t>Stadion &amp; matchday</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0,05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1">
                          <a:solidFill>
                            <a:srgbClr val="8F1A11"/>
                          </a:solidFill>
                          <a:latin typeface="Calibri"/>
                        </a:rPr>
                        <a:t>9 / 0,45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8 / 0,40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9 / 0,45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5 / 0,25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c>
                  <a:txBody>
                    <a:bodyPr wrap="square"/>
                    <a:lstStyle/>
                    <a:p>
                      <a:pPr algn="ctr">
                        <a:lnSpc>
                          <a:spcPct val="106000"/>
                        </a:lnSpc>
                      </a:pPr>
                      <a:r>
                        <a:rPr sz="1050" b="0">
                          <a:solidFill>
                            <a:srgbClr val="1A1614"/>
                          </a:solidFill>
                          <a:latin typeface="Calibri"/>
                        </a:rPr>
                        <a:t>9 / 0,45</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4EFEA"/>
                    </a:solidFill>
                  </a:tcPr>
                </a:tc>
              </a:tr>
              <a:tr h="278892">
                <a:tc>
                  <a:txBody>
                    <a:bodyPr wrap="square"/>
                    <a:lstStyle/>
                    <a:p>
                      <a:pPr algn="l">
                        <a:lnSpc>
                          <a:spcPct val="106000"/>
                        </a:lnSpc>
                      </a:pPr>
                      <a:r>
                        <a:rPr sz="1050" b="1">
                          <a:solidFill>
                            <a:srgbClr val="1A1614"/>
                          </a:solidFill>
                          <a:latin typeface="Calibri"/>
                        </a:rPr>
                        <a:t>Rekam jejak prestasi</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0,10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1">
                          <a:solidFill>
                            <a:srgbClr val="8F1A11"/>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AECEA"/>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10 / 1,00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c>
                  <a:txBody>
                    <a:bodyPr wrap="square"/>
                    <a:lstStyle/>
                    <a:p>
                      <a:pPr algn="ctr">
                        <a:lnSpc>
                          <a:spcPct val="106000"/>
                        </a:lnSpc>
                      </a:pPr>
                      <a:r>
                        <a:rPr sz="1050" b="0">
                          <a:solidFill>
                            <a:srgbClr val="1A1614"/>
                          </a:solidFill>
                          <a:latin typeface="Calibri"/>
                        </a:rPr>
                        <a:t>9 / 0,90</a:t>
                      </a:r>
                    </a:p>
                  </a:txBody>
                  <a:tcPr marL="91440" marR="91440" marT="50292" marB="50292" anchor="ctr">
                    <a:lnL w="9525" cap="flat" cmpd="sng" algn="ctr">
                      <a:solidFill>
                        <a:srgbClr val="E4DFDA"/>
                      </a:solidFill>
                    </a:lnL>
                    <a:lnR w="9525" cap="flat" cmpd="sng" algn="ctr">
                      <a:solidFill>
                        <a:srgbClr val="E4DFDA"/>
                      </a:solidFill>
                    </a:lnR>
                    <a:lnT w="9525" cap="flat" cmpd="sng" algn="ctr">
                      <a:solidFill>
                        <a:srgbClr val="E4DFDA"/>
                      </a:solidFill>
                    </a:lnT>
                    <a:lnB w="9525" cap="flat" cmpd="sng" algn="ctr">
                      <a:solidFill>
                        <a:srgbClr val="E4DFDA"/>
                      </a:solidFill>
                    </a:lnB>
                    <a:solidFill>
                      <a:srgbClr val="FFFFFF"/>
                    </a:solidFill>
                  </a:tcPr>
                </a:tc>
              </a:tr>
              <a:tr h="278892">
                <a:tc>
                  <a:txBody>
                    <a:bodyPr wrap="square"/>
                    <a:lstStyle/>
                    <a:p>
                      <a:pPr algn="l">
                        <a:lnSpc>
                          <a:spcPct val="106000"/>
                        </a:lnSpc>
                      </a:pPr>
                      <a:r>
                        <a:rPr sz="1200" b="1">
                          <a:solidFill>
                            <a:srgbClr val="FFFFFF"/>
                          </a:solidFill>
                          <a:latin typeface="Calibri"/>
                        </a:rPr>
                        <a:t>TOTAL SKOR TERTIMBANG</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200" b="1">
                          <a:solidFill>
                            <a:srgbClr val="FFFFFF"/>
                          </a:solidFill>
                          <a:latin typeface="Calibri"/>
                        </a:rPr>
                        <a:t>1,00</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400" b="1">
                          <a:solidFill>
                            <a:srgbClr val="FF8A7A"/>
                          </a:solidFill>
                          <a:latin typeface="Georgia"/>
                        </a:rPr>
                        <a:t>8,65</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200" b="1">
                          <a:solidFill>
                            <a:srgbClr val="FFFFFF"/>
                          </a:solidFill>
                          <a:latin typeface="Calibri"/>
                        </a:rPr>
                        <a:t>7,15</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200" b="1">
                          <a:solidFill>
                            <a:srgbClr val="FFFFFF"/>
                          </a:solidFill>
                          <a:latin typeface="Calibri"/>
                        </a:rPr>
                        <a:t>8,40</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200" b="1">
                          <a:solidFill>
                            <a:srgbClr val="FFFFFF"/>
                          </a:solidFill>
                          <a:latin typeface="Calibri"/>
                        </a:rPr>
                        <a:t>5,55</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c>
                  <a:txBody>
                    <a:bodyPr wrap="square"/>
                    <a:lstStyle/>
                    <a:p>
                      <a:pPr algn="ctr">
                        <a:lnSpc>
                          <a:spcPct val="106000"/>
                        </a:lnSpc>
                      </a:pPr>
                      <a:r>
                        <a:rPr sz="1200" b="1">
                          <a:solidFill>
                            <a:srgbClr val="FFFFFF"/>
                          </a:solidFill>
                          <a:latin typeface="Calibri"/>
                        </a:rPr>
                        <a:t>6,55</a:t>
                      </a:r>
                    </a:p>
                  </a:txBody>
                  <a:tcPr marL="91440" marR="91440" marT="50292" marB="50292" anchor="ctr">
                    <a:lnL w="9525" cap="flat" cmpd="sng" algn="ctr">
                      <a:solidFill>
                        <a:srgbClr val="1A1614"/>
                      </a:solidFill>
                    </a:lnL>
                    <a:lnR w="9525" cap="flat" cmpd="sng" algn="ctr">
                      <a:solidFill>
                        <a:srgbClr val="1A1614"/>
                      </a:solidFill>
                    </a:lnR>
                    <a:lnT w="9525" cap="flat" cmpd="sng" algn="ctr">
                      <a:solidFill>
                        <a:srgbClr val="1A1614"/>
                      </a:solidFill>
                    </a:lnT>
                    <a:lnB w="9525" cap="flat" cmpd="sng" algn="ctr">
                      <a:solidFill>
                        <a:srgbClr val="1A1614"/>
                      </a:solidFill>
                    </a:lnB>
                    <a:solidFill>
                      <a:srgbClr val="1A1614"/>
                    </a:solidFill>
                  </a:tcPr>
                </a:tc>
              </a:tr>
            </a:tbl>
          </a:graphicData>
        </a:graphic>
      </p:graphicFrame>
      <p:sp>
        <p:nvSpPr>
          <p:cNvPr id="8" name="Rectangle 7"/>
          <p:cNvSpPr/>
          <p:nvPr/>
        </p:nvSpPr>
        <p:spPr>
          <a:xfrm>
            <a:off x="658368" y="4818888"/>
            <a:ext cx="3466490" cy="10607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4818888"/>
            <a:ext cx="45720" cy="10607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96112" y="4928616"/>
            <a:ext cx="3009290" cy="310896"/>
          </a:xfrm>
          <a:prstGeom prst="rect">
            <a:avLst/>
          </a:prstGeom>
          <a:noFill/>
        </p:spPr>
        <p:txBody>
          <a:bodyPr wrap="square" lIns="0" rIns="0" tIns="0" bIns="0" anchor="t">
            <a:spAutoFit/>
          </a:bodyPr>
          <a:lstStyle/>
          <a:p>
            <a:pPr algn="l">
              <a:lnSpc>
                <a:spcPct val="100000"/>
              </a:lnSpc>
              <a:spcAft>
                <a:spcPts val="0"/>
              </a:spcAft>
            </a:pPr>
            <a:r>
              <a:rPr sz="1600" b="1" i="0">
                <a:solidFill>
                  <a:srgbClr val="DA291C"/>
                </a:solidFill>
                <a:latin typeface="Georgia"/>
              </a:rPr>
              <a:t>Unggul 0,25 poin</a:t>
            </a:r>
          </a:p>
        </p:txBody>
      </p:sp>
      <p:sp>
        <p:nvSpPr>
          <p:cNvPr id="11" name="TextBox 10"/>
          <p:cNvSpPr txBox="1"/>
          <p:nvPr/>
        </p:nvSpPr>
        <p:spPr>
          <a:xfrm>
            <a:off x="896112" y="5294375"/>
            <a:ext cx="3009290" cy="530352"/>
          </a:xfrm>
          <a:prstGeom prst="rect">
            <a:avLst/>
          </a:prstGeom>
          <a:noFill/>
        </p:spPr>
        <p:txBody>
          <a:bodyPr wrap="square" lIns="0" rIns="0" tIns="0" bIns="0" anchor="t">
            <a:spAutoFit/>
          </a:bodyPr>
          <a:lstStyle/>
          <a:p>
            <a:pPr algn="l">
              <a:lnSpc>
                <a:spcPct val="110000"/>
              </a:lnSpc>
              <a:spcAft>
                <a:spcPts val="0"/>
              </a:spcAft>
            </a:pPr>
            <a:r>
              <a:rPr sz="1050" b="0" i="0">
                <a:solidFill>
                  <a:srgbClr val="4A433F"/>
                </a:solidFill>
                <a:latin typeface="Calibri"/>
              </a:rPr>
              <a:t>MU 8,65 vs Barcelona 8,40. Tipis, dan seluruhnya bertumpu pada satu baris saja.</a:t>
            </a:r>
          </a:p>
        </p:txBody>
      </p:sp>
      <p:sp>
        <p:nvSpPr>
          <p:cNvPr id="12" name="Rectangle 11"/>
          <p:cNvSpPr/>
          <p:nvPr/>
        </p:nvSpPr>
        <p:spPr>
          <a:xfrm>
            <a:off x="4362602" y="4818888"/>
            <a:ext cx="3466490" cy="106070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62602" y="4818888"/>
            <a:ext cx="45720" cy="10607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600346" y="4928616"/>
            <a:ext cx="3009290" cy="310896"/>
          </a:xfrm>
          <a:prstGeom prst="rect">
            <a:avLst/>
          </a:prstGeom>
          <a:noFill/>
        </p:spPr>
        <p:txBody>
          <a:bodyPr wrap="square" lIns="0" rIns="0" tIns="0" bIns="0" anchor="t">
            <a:spAutoFit/>
          </a:bodyPr>
          <a:lstStyle/>
          <a:p>
            <a:pPr algn="l">
              <a:lnSpc>
                <a:spcPct val="100000"/>
              </a:lnSpc>
              <a:spcAft>
                <a:spcPts val="0"/>
              </a:spcAft>
            </a:pPr>
            <a:r>
              <a:rPr sz="1600" b="1" i="0">
                <a:solidFill>
                  <a:srgbClr val="FF8A7A"/>
                </a:solidFill>
                <a:latin typeface="Georgia"/>
              </a:rPr>
              <a:t>Turun ke 7,90</a:t>
            </a:r>
          </a:p>
        </p:txBody>
      </p:sp>
      <p:sp>
        <p:nvSpPr>
          <p:cNvPr id="15" name="TextBox 14"/>
          <p:cNvSpPr txBox="1"/>
          <p:nvPr/>
        </p:nvSpPr>
        <p:spPr>
          <a:xfrm>
            <a:off x="4600346" y="5294375"/>
            <a:ext cx="3009290" cy="530352"/>
          </a:xfrm>
          <a:prstGeom prst="rect">
            <a:avLst/>
          </a:prstGeom>
          <a:noFill/>
        </p:spPr>
        <p:txBody>
          <a:bodyPr wrap="square" lIns="0" rIns="0" tIns="0" bIns="0" anchor="t">
            <a:spAutoFit/>
          </a:bodyPr>
          <a:lstStyle/>
          <a:p>
            <a:pPr algn="l">
              <a:lnSpc>
                <a:spcPct val="110000"/>
              </a:lnSpc>
              <a:spcAft>
                <a:spcPts val="0"/>
              </a:spcAft>
            </a:pPr>
            <a:r>
              <a:rPr sz="1050" b="0" i="0">
                <a:solidFill>
                  <a:srgbClr val="FFFFFF"/>
                </a:solidFill>
                <a:latin typeface="Calibri"/>
              </a:rPr>
              <a:t>Kalau rating manajer jatuh dari 10 ke 5 karena ganti pelatih, MU langsung di bawah Barcelona.</a:t>
            </a:r>
          </a:p>
        </p:txBody>
      </p:sp>
      <p:sp>
        <p:nvSpPr>
          <p:cNvPr id="16" name="Rectangle 15"/>
          <p:cNvSpPr/>
          <p:nvPr/>
        </p:nvSpPr>
        <p:spPr>
          <a:xfrm>
            <a:off x="8066836" y="4818888"/>
            <a:ext cx="3466490" cy="1060704"/>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66836" y="4818888"/>
            <a:ext cx="45720" cy="10607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04580" y="4928616"/>
            <a:ext cx="3009290" cy="310896"/>
          </a:xfrm>
          <a:prstGeom prst="rect">
            <a:avLst/>
          </a:prstGeom>
          <a:noFill/>
        </p:spPr>
        <p:txBody>
          <a:bodyPr wrap="square" lIns="0" rIns="0" tIns="0" bIns="0" anchor="t">
            <a:spAutoFit/>
          </a:bodyPr>
          <a:lstStyle/>
          <a:p>
            <a:pPr algn="l">
              <a:lnSpc>
                <a:spcPct val="100000"/>
              </a:lnSpc>
              <a:spcAft>
                <a:spcPts val="0"/>
              </a:spcAft>
            </a:pPr>
            <a:r>
              <a:rPr sz="1600" b="1" i="0">
                <a:solidFill>
                  <a:srgbClr val="FF8A7A"/>
                </a:solidFill>
                <a:latin typeface="Georgia"/>
              </a:rPr>
              <a:t>Butuh minimal 8,3</a:t>
            </a:r>
          </a:p>
        </p:txBody>
      </p:sp>
      <p:sp>
        <p:nvSpPr>
          <p:cNvPr id="19" name="TextBox 18"/>
          <p:cNvSpPr txBox="1"/>
          <p:nvPr/>
        </p:nvSpPr>
        <p:spPr>
          <a:xfrm>
            <a:off x="8304580" y="5294375"/>
            <a:ext cx="3009290" cy="530352"/>
          </a:xfrm>
          <a:prstGeom prst="rect">
            <a:avLst/>
          </a:prstGeom>
          <a:noFill/>
        </p:spPr>
        <p:txBody>
          <a:bodyPr wrap="square" lIns="0" rIns="0" tIns="0" bIns="0" anchor="t">
            <a:spAutoFit/>
          </a:bodyPr>
          <a:lstStyle/>
          <a:p>
            <a:pPr algn="l">
              <a:lnSpc>
                <a:spcPct val="110000"/>
              </a:lnSpc>
              <a:spcAft>
                <a:spcPts val="0"/>
              </a:spcAft>
            </a:pPr>
            <a:r>
              <a:rPr sz="1050" b="0" i="0">
                <a:solidFill>
                  <a:srgbClr val="FFFFFF"/>
                </a:solidFill>
                <a:latin typeface="Calibri"/>
              </a:rPr>
              <a:t>Rating yang harus dicapai pengganti Ferguson supaya MU sekadar bertahan sejajar Barcelona.</a:t>
            </a:r>
          </a:p>
        </p:txBody>
      </p:sp>
      <p:sp>
        <p:nvSpPr>
          <p:cNvPr id="20" name="Rectangle 19"/>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22" name="TextBox 21"/>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FB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58368" y="475488"/>
            <a:ext cx="274320" cy="50292"/>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42415" y="402336"/>
            <a:ext cx="10490911" cy="237744"/>
          </a:xfrm>
          <a:prstGeom prst="rect">
            <a:avLst/>
          </a:prstGeom>
          <a:noFill/>
        </p:spPr>
        <p:txBody>
          <a:bodyPr wrap="square" lIns="0" rIns="0" tIns="0" bIns="0" anchor="t">
            <a:spAutoFit/>
          </a:bodyPr>
          <a:lstStyle/>
          <a:p>
            <a:pPr algn="l">
              <a:lnSpc>
                <a:spcPct val="100000"/>
              </a:lnSpc>
              <a:spcAft>
                <a:spcPts val="0"/>
              </a:spcAft>
            </a:pPr>
            <a:r>
              <a:rPr sz="1000" b="1" i="0" cap="all">
                <a:solidFill>
                  <a:srgbClr val="DA291C"/>
                </a:solidFill>
                <a:latin typeface="Calibri"/>
              </a:rPr>
              <a:t>Pertanyaan 6 · Diterapkan</a:t>
            </a:r>
          </a:p>
        </p:txBody>
      </p:sp>
      <p:sp>
        <p:nvSpPr>
          <p:cNvPr id="5" name="TextBox 4"/>
          <p:cNvSpPr txBox="1"/>
          <p:nvPr/>
        </p:nvSpPr>
        <p:spPr>
          <a:xfrm>
            <a:off x="658368" y="713232"/>
            <a:ext cx="10874959" cy="566928"/>
          </a:xfrm>
          <a:prstGeom prst="rect">
            <a:avLst/>
          </a:prstGeom>
          <a:noFill/>
        </p:spPr>
        <p:txBody>
          <a:bodyPr wrap="square" lIns="0" rIns="0" tIns="0" bIns="0" anchor="t">
            <a:spAutoFit/>
          </a:bodyPr>
          <a:lstStyle/>
          <a:p>
            <a:pPr algn="l">
              <a:lnSpc>
                <a:spcPct val="98000"/>
              </a:lnSpc>
              <a:spcAft>
                <a:spcPts val="0"/>
              </a:spcAft>
            </a:pPr>
            <a:r>
              <a:rPr sz="3000" b="1" i="0">
                <a:solidFill>
                  <a:srgbClr val="1A1614"/>
                </a:solidFill>
                <a:latin typeface="Calibri"/>
              </a:rPr>
              <a:t>Priority list dan rekomendasi kami</a:t>
            </a:r>
          </a:p>
        </p:txBody>
      </p:sp>
      <p:sp>
        <p:nvSpPr>
          <p:cNvPr id="6" name="TextBox 5"/>
          <p:cNvSpPr txBox="1"/>
          <p:nvPr/>
        </p:nvSpPr>
        <p:spPr>
          <a:xfrm>
            <a:off x="658368" y="1371600"/>
            <a:ext cx="10509199" cy="274320"/>
          </a:xfrm>
          <a:prstGeom prst="rect">
            <a:avLst/>
          </a:prstGeom>
          <a:noFill/>
        </p:spPr>
        <p:txBody>
          <a:bodyPr wrap="square" lIns="0" rIns="0" tIns="0" bIns="0" anchor="t">
            <a:spAutoFit/>
          </a:bodyPr>
          <a:lstStyle/>
          <a:p>
            <a:pPr algn="l">
              <a:lnSpc>
                <a:spcPct val="118000"/>
              </a:lnSpc>
              <a:spcAft>
                <a:spcPts val="0"/>
              </a:spcAft>
            </a:pPr>
            <a:r>
              <a:rPr sz="1350" b="0" i="0">
                <a:solidFill>
                  <a:srgbClr val="4A433F"/>
                </a:solidFill>
                <a:latin typeface="Calibri"/>
              </a:rPr>
              <a:t>Keluaran akhir Chapter 4: isu yang harus masuk meja David Gill, ditambah usulan tindakan dari kelompok kami.</a:t>
            </a:r>
          </a:p>
        </p:txBody>
      </p:sp>
      <p:sp>
        <p:nvSpPr>
          <p:cNvPr id="7" name="TextBox 6"/>
          <p:cNvSpPr txBox="1"/>
          <p:nvPr/>
        </p:nvSpPr>
        <p:spPr>
          <a:xfrm>
            <a:off x="658368" y="1883664"/>
            <a:ext cx="4893731"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DA291C"/>
                </a:solidFill>
                <a:latin typeface="Calibri"/>
              </a:rPr>
              <a:t>Priority list — berisi pertanyaan, bukan jawaban</a:t>
            </a:r>
          </a:p>
        </p:txBody>
      </p:sp>
      <p:sp>
        <p:nvSpPr>
          <p:cNvPr id="8" name="Rectangle 7"/>
          <p:cNvSpPr/>
          <p:nvPr/>
        </p:nvSpPr>
        <p:spPr>
          <a:xfrm>
            <a:off x="658368" y="2176272"/>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2176272"/>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2331720"/>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1</a:t>
            </a:r>
          </a:p>
        </p:txBody>
      </p:sp>
      <p:sp>
        <p:nvSpPr>
          <p:cNvPr id="11" name="TextBox 10"/>
          <p:cNvSpPr txBox="1"/>
          <p:nvPr/>
        </p:nvSpPr>
        <p:spPr>
          <a:xfrm>
            <a:off x="1188719" y="2240279"/>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Bagaimana mengganti Ferguson tanpa merusak sistemnya?</a:t>
            </a:r>
          </a:p>
        </p:txBody>
      </p:sp>
      <p:sp>
        <p:nvSpPr>
          <p:cNvPr id="12" name="TextBox 11"/>
          <p:cNvSpPr txBox="1"/>
          <p:nvPr/>
        </p:nvSpPr>
        <p:spPr>
          <a:xfrm>
            <a:off x="1188719" y="2487168"/>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Gill belum memutuskan; Ferguson belum mengumumkan niat pensiun.</a:t>
            </a:r>
          </a:p>
        </p:txBody>
      </p:sp>
      <p:sp>
        <p:nvSpPr>
          <p:cNvPr id="13" name="Rectangle 12"/>
          <p:cNvSpPr/>
          <p:nvPr/>
        </p:nvSpPr>
        <p:spPr>
          <a:xfrm>
            <a:off x="658368" y="2852928"/>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58368" y="2852928"/>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59536" y="3008376"/>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2</a:t>
            </a:r>
          </a:p>
        </p:txBody>
      </p:sp>
      <p:sp>
        <p:nvSpPr>
          <p:cNvPr id="16" name="TextBox 15"/>
          <p:cNvSpPr txBox="1"/>
          <p:nvPr/>
        </p:nvSpPr>
        <p:spPr>
          <a:xfrm>
            <a:off x="1188719" y="2916936"/>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Apa yang harus dilakukan soal utang £616 juta?</a:t>
            </a:r>
          </a:p>
        </p:txBody>
      </p:sp>
      <p:sp>
        <p:nvSpPr>
          <p:cNvPr id="17" name="TextBox 16"/>
          <p:cNvSpPr txBox="1"/>
          <p:nvPr/>
        </p:nvSpPr>
        <p:spPr>
          <a:xfrm>
            <a:off x="1188719" y="3163824"/>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Membatasi daya beli justru saat Manchester City belanja £185 jt.</a:t>
            </a:r>
          </a:p>
        </p:txBody>
      </p:sp>
      <p:sp>
        <p:nvSpPr>
          <p:cNvPr id="18" name="Rectangle 17"/>
          <p:cNvSpPr/>
          <p:nvPr/>
        </p:nvSpPr>
        <p:spPr>
          <a:xfrm>
            <a:off x="658368" y="3529584"/>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3529584"/>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9536" y="3685032"/>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3</a:t>
            </a:r>
          </a:p>
        </p:txBody>
      </p:sp>
      <p:sp>
        <p:nvSpPr>
          <p:cNvPr id="21" name="TextBox 20"/>
          <p:cNvSpPr txBox="1"/>
          <p:nvPr/>
        </p:nvSpPr>
        <p:spPr>
          <a:xfrm>
            <a:off x="1188719" y="3593592"/>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Bagaimana menambal skuad setelah Ronaldo pergi?</a:t>
            </a:r>
          </a:p>
        </p:txBody>
      </p:sp>
      <p:sp>
        <p:nvSpPr>
          <p:cNvPr id="22" name="TextBox 21"/>
          <p:cNvSpPr txBox="1"/>
          <p:nvPr/>
        </p:nvSpPr>
        <p:spPr>
          <a:xfrm>
            <a:off x="1188719" y="3840480"/>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Tidak ada lagi pemain MU di peringkat FIFA Tabel 6.3.</a:t>
            </a:r>
          </a:p>
        </p:txBody>
      </p:sp>
      <p:sp>
        <p:nvSpPr>
          <p:cNvPr id="23" name="Rectangle 22"/>
          <p:cNvSpPr/>
          <p:nvPr/>
        </p:nvSpPr>
        <p:spPr>
          <a:xfrm>
            <a:off x="658368" y="4206240"/>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4206240"/>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4361688"/>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4</a:t>
            </a:r>
          </a:p>
        </p:txBody>
      </p:sp>
      <p:sp>
        <p:nvSpPr>
          <p:cNvPr id="26" name="TextBox 25"/>
          <p:cNvSpPr txBox="1"/>
          <p:nvPr/>
        </p:nvSpPr>
        <p:spPr>
          <a:xfrm>
            <a:off x="1188719" y="4270248"/>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Apakah perlu membangun penyangga organisasi?</a:t>
            </a:r>
          </a:p>
        </p:txBody>
      </p:sp>
      <p:sp>
        <p:nvSpPr>
          <p:cNvPr id="27" name="TextBox 26"/>
          <p:cNvSpPr txBox="1"/>
          <p:nvPr/>
        </p:nvSpPr>
        <p:spPr>
          <a:xfrm>
            <a:off x="1188719" y="4517136"/>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Tanpa director of football, semua fungsi menumpuk pada manajer tim.</a:t>
            </a:r>
          </a:p>
        </p:txBody>
      </p:sp>
      <p:sp>
        <p:nvSpPr>
          <p:cNvPr id="28" name="Rectangle 27"/>
          <p:cNvSpPr/>
          <p:nvPr/>
        </p:nvSpPr>
        <p:spPr>
          <a:xfrm>
            <a:off x="658368" y="4882896"/>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4882896"/>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59536" y="5038344"/>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5</a:t>
            </a:r>
          </a:p>
        </p:txBody>
      </p:sp>
      <p:sp>
        <p:nvSpPr>
          <p:cNvPr id="31" name="TextBox 30"/>
          <p:cNvSpPr txBox="1"/>
          <p:nvPr/>
        </p:nvSpPr>
        <p:spPr>
          <a:xfrm>
            <a:off x="1188719" y="4946904"/>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Bagaimana menjaga pendapatan komersial jika prestasi turun?</a:t>
            </a:r>
          </a:p>
        </p:txBody>
      </p:sp>
      <p:sp>
        <p:nvSpPr>
          <p:cNvPr id="32" name="TextBox 31"/>
          <p:cNvSpPr txBox="1"/>
          <p:nvPr/>
        </p:nvSpPr>
        <p:spPr>
          <a:xfrm>
            <a:off x="1188719" y="5193792"/>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Gill sendiri bilang uang mengalir selama tim menang.</a:t>
            </a:r>
          </a:p>
        </p:txBody>
      </p:sp>
      <p:sp>
        <p:nvSpPr>
          <p:cNvPr id="33" name="Rectangle 32"/>
          <p:cNvSpPr/>
          <p:nvPr/>
        </p:nvSpPr>
        <p:spPr>
          <a:xfrm>
            <a:off x="658368" y="5559552"/>
            <a:ext cx="4893731" cy="603504"/>
          </a:xfrm>
          <a:prstGeom prst="rect">
            <a:avLst/>
          </a:prstGeom>
          <a:solidFill>
            <a:srgbClr val="FFFFFF"/>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58368" y="5559552"/>
            <a:ext cx="45720" cy="603504"/>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59536" y="5715000"/>
            <a:ext cx="256032" cy="274320"/>
          </a:xfrm>
          <a:prstGeom prst="rect">
            <a:avLst/>
          </a:prstGeom>
          <a:noFill/>
        </p:spPr>
        <p:txBody>
          <a:bodyPr wrap="square" lIns="0" rIns="0" tIns="0" bIns="0" anchor="t">
            <a:spAutoFit/>
          </a:bodyPr>
          <a:lstStyle/>
          <a:p>
            <a:pPr algn="l">
              <a:lnSpc>
                <a:spcPct val="100000"/>
              </a:lnSpc>
              <a:spcAft>
                <a:spcPts val="0"/>
              </a:spcAft>
            </a:pPr>
            <a:r>
              <a:rPr sz="1400" b="1" i="0">
                <a:solidFill>
                  <a:srgbClr val="DA291C"/>
                </a:solidFill>
                <a:latin typeface="Georgia"/>
              </a:rPr>
              <a:t>6</a:t>
            </a:r>
          </a:p>
        </p:txBody>
      </p:sp>
      <p:sp>
        <p:nvSpPr>
          <p:cNvPr id="36" name="TextBox 35"/>
          <p:cNvSpPr txBox="1"/>
          <p:nvPr/>
        </p:nvSpPr>
        <p:spPr>
          <a:xfrm>
            <a:off x="1188719" y="5623560"/>
            <a:ext cx="4143923" cy="237744"/>
          </a:xfrm>
          <a:prstGeom prst="rect">
            <a:avLst/>
          </a:prstGeom>
          <a:noFill/>
        </p:spPr>
        <p:txBody>
          <a:bodyPr wrap="square" lIns="0" rIns="0" tIns="0" bIns="0" anchor="t">
            <a:spAutoFit/>
          </a:bodyPr>
          <a:lstStyle/>
          <a:p>
            <a:pPr algn="l">
              <a:lnSpc>
                <a:spcPct val="104000"/>
              </a:lnSpc>
              <a:spcAft>
                <a:spcPts val="0"/>
              </a:spcAft>
            </a:pPr>
            <a:r>
              <a:rPr sz="1100" b="1" i="0">
                <a:solidFill>
                  <a:srgbClr val="1A1614"/>
                </a:solidFill>
                <a:latin typeface="Calibri"/>
              </a:rPr>
              <a:t>Apakah tata kelola tetap aman tanpa Ferguson dan Gill?</a:t>
            </a:r>
          </a:p>
        </p:txBody>
      </p:sp>
      <p:sp>
        <p:nvSpPr>
          <p:cNvPr id="37" name="TextBox 36"/>
          <p:cNvSpPr txBox="1"/>
          <p:nvPr/>
        </p:nvSpPr>
        <p:spPr>
          <a:xfrm>
            <a:off x="1188719" y="5870448"/>
            <a:ext cx="4143923" cy="256032"/>
          </a:xfrm>
          <a:prstGeom prst="rect">
            <a:avLst/>
          </a:prstGeom>
          <a:noFill/>
        </p:spPr>
        <p:txBody>
          <a:bodyPr wrap="square" lIns="0" rIns="0" tIns="0" bIns="0" anchor="t">
            <a:spAutoFit/>
          </a:bodyPr>
          <a:lstStyle/>
          <a:p>
            <a:pPr algn="l">
              <a:lnSpc>
                <a:spcPct val="106000"/>
              </a:lnSpc>
              <a:spcAft>
                <a:spcPts val="0"/>
              </a:spcAft>
            </a:pPr>
            <a:r>
              <a:rPr sz="950" b="0" i="0">
                <a:solidFill>
                  <a:srgbClr val="4A433F"/>
                </a:solidFill>
                <a:latin typeface="Calibri"/>
              </a:rPr>
              <a:t>Peran pasif Glazer berjalan karena ada dua orang ini.</a:t>
            </a:r>
          </a:p>
        </p:txBody>
      </p:sp>
      <p:sp>
        <p:nvSpPr>
          <p:cNvPr id="38" name="TextBox 37"/>
          <p:cNvSpPr txBox="1"/>
          <p:nvPr/>
        </p:nvSpPr>
        <p:spPr>
          <a:xfrm>
            <a:off x="5917859" y="1883664"/>
            <a:ext cx="5615467" cy="237744"/>
          </a:xfrm>
          <a:prstGeom prst="rect">
            <a:avLst/>
          </a:prstGeom>
          <a:noFill/>
        </p:spPr>
        <p:txBody>
          <a:bodyPr wrap="square" lIns="0" rIns="0" tIns="0" bIns="0" anchor="t">
            <a:spAutoFit/>
          </a:bodyPr>
          <a:lstStyle/>
          <a:p>
            <a:pPr algn="l">
              <a:lnSpc>
                <a:spcPct val="100000"/>
              </a:lnSpc>
              <a:spcAft>
                <a:spcPts val="0"/>
              </a:spcAft>
            </a:pPr>
            <a:r>
              <a:rPr sz="1100" b="1" i="0" cap="all">
                <a:solidFill>
                  <a:srgbClr val="1A1614"/>
                </a:solidFill>
                <a:latin typeface="Calibri"/>
              </a:rPr>
              <a:t>Rekomendasi kelompok 4</a:t>
            </a:r>
          </a:p>
        </p:txBody>
      </p:sp>
      <p:sp>
        <p:nvSpPr>
          <p:cNvPr id="39" name="Rectangle 38"/>
          <p:cNvSpPr/>
          <p:nvPr/>
        </p:nvSpPr>
        <p:spPr>
          <a:xfrm>
            <a:off x="5917859" y="2176272"/>
            <a:ext cx="5615467"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917859" y="2176272"/>
            <a:ext cx="45720" cy="7132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7315" y="2258568"/>
            <a:ext cx="5176555" cy="219456"/>
          </a:xfrm>
          <a:prstGeom prst="rect">
            <a:avLst/>
          </a:prstGeom>
          <a:noFill/>
        </p:spPr>
        <p:txBody>
          <a:bodyPr wrap="square" lIns="0" rIns="0" tIns="0" bIns="0" anchor="t">
            <a:spAutoFit/>
          </a:bodyPr>
          <a:lstStyle/>
          <a:p>
            <a:pPr algn="l">
              <a:lnSpc>
                <a:spcPct val="100000"/>
              </a:lnSpc>
              <a:spcAft>
                <a:spcPts val="0"/>
              </a:spcAft>
            </a:pPr>
            <a:r>
              <a:rPr sz="1150" b="1" i="0">
                <a:solidFill>
                  <a:srgbClr val="8F1A11"/>
                </a:solidFill>
                <a:latin typeface="Calibri"/>
              </a:rPr>
              <a:t>Ubah resource jadi capability sebelum Ferguson pergi</a:t>
            </a:r>
          </a:p>
        </p:txBody>
      </p:sp>
      <p:sp>
        <p:nvSpPr>
          <p:cNvPr id="42" name="TextBox 41"/>
          <p:cNvSpPr txBox="1"/>
          <p:nvPr/>
        </p:nvSpPr>
        <p:spPr>
          <a:xfrm>
            <a:off x="6137315" y="2478024"/>
            <a:ext cx="5176555" cy="384048"/>
          </a:xfrm>
          <a:prstGeom prst="rect">
            <a:avLst/>
          </a:prstGeom>
          <a:noFill/>
        </p:spPr>
        <p:txBody>
          <a:bodyPr wrap="square" lIns="0" rIns="0" tIns="0" bIns="0" anchor="t">
            <a:spAutoFit/>
          </a:bodyPr>
          <a:lstStyle/>
          <a:p>
            <a:pPr algn="l">
              <a:lnSpc>
                <a:spcPct val="108000"/>
              </a:lnSpc>
              <a:spcAft>
                <a:spcPts val="0"/>
              </a:spcAft>
            </a:pPr>
            <a:r>
              <a:rPr sz="1000" b="0" i="0">
                <a:solidFill>
                  <a:srgbClr val="4A433F"/>
                </a:solidFill>
                <a:latin typeface="Calibri"/>
              </a:rPr>
              <a:t>Tuliskan sistem pemanduan bakat, akademi, dan rotasi skuad menjadi prosedur organisasi. Selama ini sistem itu hidup di kepala satu orang.</a:t>
            </a:r>
          </a:p>
        </p:txBody>
      </p:sp>
      <p:sp>
        <p:nvSpPr>
          <p:cNvPr id="43" name="Rectangle 42"/>
          <p:cNvSpPr/>
          <p:nvPr/>
        </p:nvSpPr>
        <p:spPr>
          <a:xfrm>
            <a:off x="5917859" y="2962656"/>
            <a:ext cx="5615467"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917859" y="2962656"/>
            <a:ext cx="45720" cy="7132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37315" y="3044951"/>
            <a:ext cx="5176555" cy="219456"/>
          </a:xfrm>
          <a:prstGeom prst="rect">
            <a:avLst/>
          </a:prstGeom>
          <a:noFill/>
        </p:spPr>
        <p:txBody>
          <a:bodyPr wrap="square" lIns="0" rIns="0" tIns="0" bIns="0" anchor="t">
            <a:spAutoFit/>
          </a:bodyPr>
          <a:lstStyle/>
          <a:p>
            <a:pPr algn="l">
              <a:lnSpc>
                <a:spcPct val="100000"/>
              </a:lnSpc>
              <a:spcAft>
                <a:spcPts val="0"/>
              </a:spcAft>
            </a:pPr>
            <a:r>
              <a:rPr sz="1150" b="1" i="0">
                <a:solidFill>
                  <a:srgbClr val="8F1A11"/>
                </a:solidFill>
                <a:latin typeface="Calibri"/>
              </a:rPr>
              <a:t>Pilih penerus dari dalam, dengan masa transisi</a:t>
            </a:r>
          </a:p>
        </p:txBody>
      </p:sp>
      <p:sp>
        <p:nvSpPr>
          <p:cNvPr id="46" name="TextBox 45"/>
          <p:cNvSpPr txBox="1"/>
          <p:nvPr/>
        </p:nvSpPr>
        <p:spPr>
          <a:xfrm>
            <a:off x="6137315" y="3264408"/>
            <a:ext cx="5176555" cy="384048"/>
          </a:xfrm>
          <a:prstGeom prst="rect">
            <a:avLst/>
          </a:prstGeom>
          <a:noFill/>
        </p:spPr>
        <p:txBody>
          <a:bodyPr wrap="square" lIns="0" rIns="0" tIns="0" bIns="0" anchor="t">
            <a:spAutoFit/>
          </a:bodyPr>
          <a:lstStyle/>
          <a:p>
            <a:pPr algn="l">
              <a:lnSpc>
                <a:spcPct val="108000"/>
              </a:lnSpc>
              <a:spcAft>
                <a:spcPts val="0"/>
              </a:spcAft>
            </a:pPr>
            <a:r>
              <a:rPr sz="1000" b="0" i="0">
                <a:solidFill>
                  <a:srgbClr val="4A433F"/>
                </a:solidFill>
                <a:latin typeface="Calibri"/>
              </a:rPr>
              <a:t>Orang dalam menjaga sistem tetap jalan. Ferguson tetap mendampingi sebagai mentor untuk menutup kekurangan wibawa yang dikhawatirkan Gill.</a:t>
            </a:r>
          </a:p>
        </p:txBody>
      </p:sp>
      <p:sp>
        <p:nvSpPr>
          <p:cNvPr id="47" name="Rectangle 46"/>
          <p:cNvSpPr/>
          <p:nvPr/>
        </p:nvSpPr>
        <p:spPr>
          <a:xfrm>
            <a:off x="5917859" y="3749039"/>
            <a:ext cx="5615467"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5917859" y="3749039"/>
            <a:ext cx="45720" cy="7132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7315" y="3831335"/>
            <a:ext cx="5176555" cy="219456"/>
          </a:xfrm>
          <a:prstGeom prst="rect">
            <a:avLst/>
          </a:prstGeom>
          <a:noFill/>
        </p:spPr>
        <p:txBody>
          <a:bodyPr wrap="square" lIns="0" rIns="0" tIns="0" bIns="0" anchor="t">
            <a:spAutoFit/>
          </a:bodyPr>
          <a:lstStyle/>
          <a:p>
            <a:pPr algn="l">
              <a:lnSpc>
                <a:spcPct val="100000"/>
              </a:lnSpc>
              <a:spcAft>
                <a:spcPts val="0"/>
              </a:spcAft>
            </a:pPr>
            <a:r>
              <a:rPr sz="1150" b="1" i="0">
                <a:solidFill>
                  <a:srgbClr val="8F1A11"/>
                </a:solidFill>
                <a:latin typeface="Calibri"/>
              </a:rPr>
              <a:t>Tolak opsi revolusi</a:t>
            </a:r>
          </a:p>
        </p:txBody>
      </p:sp>
      <p:sp>
        <p:nvSpPr>
          <p:cNvPr id="50" name="TextBox 49"/>
          <p:cNvSpPr txBox="1"/>
          <p:nvPr/>
        </p:nvSpPr>
        <p:spPr>
          <a:xfrm>
            <a:off x="6137315" y="4050791"/>
            <a:ext cx="5176555" cy="384048"/>
          </a:xfrm>
          <a:prstGeom prst="rect">
            <a:avLst/>
          </a:prstGeom>
          <a:noFill/>
        </p:spPr>
        <p:txBody>
          <a:bodyPr wrap="square" lIns="0" rIns="0" tIns="0" bIns="0" anchor="t">
            <a:spAutoFit/>
          </a:bodyPr>
          <a:lstStyle/>
          <a:p>
            <a:pPr algn="l">
              <a:lnSpc>
                <a:spcPct val="108000"/>
              </a:lnSpc>
              <a:spcAft>
                <a:spcPts val="0"/>
              </a:spcAft>
            </a:pPr>
            <a:r>
              <a:rPr sz="1000" b="0" i="0">
                <a:solidFill>
                  <a:srgbClr val="4A433F"/>
                </a:solidFill>
                <a:latin typeface="Calibri"/>
              </a:rPr>
              <a:t>Mourinho berkonflik dengan Abramovich. Real Madrid memecat 10 pelatih dalam enam tahun. Membongkar sistem Ferguson menghancurkan aset yang paling sulit ditiru.</a:t>
            </a:r>
          </a:p>
        </p:txBody>
      </p:sp>
      <p:sp>
        <p:nvSpPr>
          <p:cNvPr id="51" name="Rectangle 50"/>
          <p:cNvSpPr/>
          <p:nvPr/>
        </p:nvSpPr>
        <p:spPr>
          <a:xfrm>
            <a:off x="5917859" y="4535424"/>
            <a:ext cx="5615467"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5917859" y="4535424"/>
            <a:ext cx="45720" cy="7132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137315" y="4617720"/>
            <a:ext cx="5176555" cy="219456"/>
          </a:xfrm>
          <a:prstGeom prst="rect">
            <a:avLst/>
          </a:prstGeom>
          <a:noFill/>
        </p:spPr>
        <p:txBody>
          <a:bodyPr wrap="square" lIns="0" rIns="0" tIns="0" bIns="0" anchor="t">
            <a:spAutoFit/>
          </a:bodyPr>
          <a:lstStyle/>
          <a:p>
            <a:pPr algn="l">
              <a:lnSpc>
                <a:spcPct val="100000"/>
              </a:lnSpc>
              <a:spcAft>
                <a:spcPts val="0"/>
              </a:spcAft>
            </a:pPr>
            <a:r>
              <a:rPr sz="1150" b="1" i="0">
                <a:solidFill>
                  <a:srgbClr val="8F1A11"/>
                </a:solidFill>
                <a:latin typeface="Calibri"/>
              </a:rPr>
              <a:t>Lindungi dan percepat mesin komersial</a:t>
            </a:r>
          </a:p>
        </p:txBody>
      </p:sp>
      <p:sp>
        <p:nvSpPr>
          <p:cNvPr id="54" name="TextBox 53"/>
          <p:cNvSpPr txBox="1"/>
          <p:nvPr/>
        </p:nvSpPr>
        <p:spPr>
          <a:xfrm>
            <a:off x="6137315" y="4837176"/>
            <a:ext cx="5176555" cy="384048"/>
          </a:xfrm>
          <a:prstGeom prst="rect">
            <a:avLst/>
          </a:prstGeom>
          <a:noFill/>
        </p:spPr>
        <p:txBody>
          <a:bodyPr wrap="square" lIns="0" rIns="0" tIns="0" bIns="0" anchor="t">
            <a:spAutoFit/>
          </a:bodyPr>
          <a:lstStyle/>
          <a:p>
            <a:pPr algn="l">
              <a:lnSpc>
                <a:spcPct val="108000"/>
              </a:lnSpc>
              <a:spcAft>
                <a:spcPts val="0"/>
              </a:spcAft>
            </a:pPr>
            <a:r>
              <a:rPr sz="1000" b="0" i="0">
                <a:solidFill>
                  <a:srgbClr val="4A433F"/>
                </a:solidFill>
                <a:latin typeface="Calibri"/>
              </a:rPr>
              <a:t>Merek adalah satu-satunya keunggulan yang lolos keempat tes VRIN. Perkuat India dan Cina sekarang, selagi prestasi masih tinggi.</a:t>
            </a:r>
          </a:p>
        </p:txBody>
      </p:sp>
      <p:sp>
        <p:nvSpPr>
          <p:cNvPr id="55" name="Rectangle 54"/>
          <p:cNvSpPr/>
          <p:nvPr/>
        </p:nvSpPr>
        <p:spPr>
          <a:xfrm>
            <a:off x="5917859" y="5321808"/>
            <a:ext cx="5615467" cy="713232"/>
          </a:xfrm>
          <a:prstGeom prst="rect">
            <a:avLst/>
          </a:prstGeom>
          <a:solidFill>
            <a:srgbClr val="F4EFEA"/>
          </a:solidFill>
          <a:ln w="9525">
            <a:solidFill>
              <a:srgbClr val="E4DFD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5917859" y="5321808"/>
            <a:ext cx="45720" cy="713232"/>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137315" y="5404104"/>
            <a:ext cx="5176555" cy="219456"/>
          </a:xfrm>
          <a:prstGeom prst="rect">
            <a:avLst/>
          </a:prstGeom>
          <a:noFill/>
        </p:spPr>
        <p:txBody>
          <a:bodyPr wrap="square" lIns="0" rIns="0" tIns="0" bIns="0" anchor="t">
            <a:spAutoFit/>
          </a:bodyPr>
          <a:lstStyle/>
          <a:p>
            <a:pPr algn="l">
              <a:lnSpc>
                <a:spcPct val="100000"/>
              </a:lnSpc>
              <a:spcAft>
                <a:spcPts val="0"/>
              </a:spcAft>
            </a:pPr>
            <a:r>
              <a:rPr sz="1150" b="1" i="0">
                <a:solidFill>
                  <a:srgbClr val="8F1A11"/>
                </a:solidFill>
                <a:latin typeface="Calibri"/>
              </a:rPr>
              <a:t>Turunkan utang untuk memulihkan keleluasaan</a:t>
            </a:r>
          </a:p>
        </p:txBody>
      </p:sp>
      <p:sp>
        <p:nvSpPr>
          <p:cNvPr id="58" name="TextBox 57"/>
          <p:cNvSpPr txBox="1"/>
          <p:nvPr/>
        </p:nvSpPr>
        <p:spPr>
          <a:xfrm>
            <a:off x="6137315" y="5623560"/>
            <a:ext cx="5176555" cy="384048"/>
          </a:xfrm>
          <a:prstGeom prst="rect">
            <a:avLst/>
          </a:prstGeom>
          <a:noFill/>
        </p:spPr>
        <p:txBody>
          <a:bodyPr wrap="square" lIns="0" rIns="0" tIns="0" bIns="0" anchor="t">
            <a:spAutoFit/>
          </a:bodyPr>
          <a:lstStyle/>
          <a:p>
            <a:pPr algn="l">
              <a:lnSpc>
                <a:spcPct val="108000"/>
              </a:lnSpc>
              <a:spcAft>
                <a:spcPts val="0"/>
              </a:spcAft>
            </a:pPr>
            <a:r>
              <a:rPr sz="1000" b="0" i="0">
                <a:solidFill>
                  <a:srgbClr val="4A433F"/>
                </a:solidFill>
                <a:latin typeface="Calibri"/>
              </a:rPr>
              <a:t>Keleluasaan finansial adalah baris terlemah MU di matriks Q5. Tanpa perbaikan, klub tidak bisa bereaksi saat transisi menuntut belanja besar.</a:t>
            </a:r>
          </a:p>
        </p:txBody>
      </p:sp>
      <p:sp>
        <p:nvSpPr>
          <p:cNvPr id="59" name="Rectangle 58"/>
          <p:cNvSpPr/>
          <p:nvPr/>
        </p:nvSpPr>
        <p:spPr>
          <a:xfrm>
            <a:off x="658368" y="6291072"/>
            <a:ext cx="10874959" cy="10972"/>
          </a:xfrm>
          <a:prstGeom prst="rect">
            <a:avLst/>
          </a:prstGeom>
          <a:solidFill>
            <a:srgbClr val="E4D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58368" y="6428232"/>
            <a:ext cx="9777679" cy="256032"/>
          </a:xfrm>
          <a:prstGeom prst="rect">
            <a:avLst/>
          </a:prstGeom>
          <a:noFill/>
        </p:spPr>
        <p:txBody>
          <a:bodyPr wrap="square" lIns="0" rIns="0" tIns="0" bIns="0" anchor="t">
            <a:spAutoFit/>
          </a:bodyPr>
          <a:lstStyle/>
          <a:p>
            <a:pPr algn="l">
              <a:lnSpc>
                <a:spcPct val="100000"/>
              </a:lnSpc>
              <a:spcAft>
                <a:spcPts val="0"/>
              </a:spcAft>
            </a:pPr>
            <a:r>
              <a:rPr sz="950" b="0" i="0" cap="all">
                <a:solidFill>
                  <a:srgbClr val="8C837E"/>
                </a:solidFill>
                <a:latin typeface="Calibri"/>
              </a:rPr>
              <a:t>Studi Kasus  ·  Manchester United: Preparing for Life without Ferguson (Grant, 2010)</a:t>
            </a:r>
          </a:p>
        </p:txBody>
      </p:sp>
      <p:sp>
        <p:nvSpPr>
          <p:cNvPr id="61" name="TextBox 60"/>
          <p:cNvSpPr txBox="1"/>
          <p:nvPr/>
        </p:nvSpPr>
        <p:spPr>
          <a:xfrm>
            <a:off x="10618927" y="6428232"/>
            <a:ext cx="914400" cy="256032"/>
          </a:xfrm>
          <a:prstGeom prst="rect">
            <a:avLst/>
          </a:prstGeom>
          <a:noFill/>
        </p:spPr>
        <p:txBody>
          <a:bodyPr wrap="square" lIns="0" rIns="0" tIns="0" bIns="0" anchor="t">
            <a:spAutoFit/>
          </a:bodyPr>
          <a:lstStyle/>
          <a:p>
            <a:pPr algn="r">
              <a:lnSpc>
                <a:spcPct val="100000"/>
              </a:lnSpc>
              <a:spcAft>
                <a:spcPts val="0"/>
              </a:spcAft>
            </a:pPr>
            <a:r>
              <a:rPr sz="950" b="1" i="0">
                <a:solidFill>
                  <a:srgbClr val="8C837E"/>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283135" cy="6949440"/>
          </a:xfrm>
          <a:prstGeom prst="rect">
            <a:avLst/>
          </a:prstGeom>
          <a:solidFill>
            <a:srgbClr val="1A16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10896" cy="685800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880799" y="0"/>
            <a:ext cx="310896" cy="6858000"/>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0" y="2103120"/>
            <a:ext cx="12191695" cy="914400"/>
          </a:xfrm>
          <a:prstGeom prst="rect">
            <a:avLst/>
          </a:prstGeom>
          <a:noFill/>
        </p:spPr>
        <p:txBody>
          <a:bodyPr wrap="square" lIns="0" rIns="0" tIns="0" bIns="0" anchor="t">
            <a:spAutoFit/>
          </a:bodyPr>
          <a:lstStyle/>
          <a:p>
            <a:pPr algn="ctr">
              <a:lnSpc>
                <a:spcPct val="100000"/>
              </a:lnSpc>
              <a:spcAft>
                <a:spcPts val="0"/>
              </a:spcAft>
            </a:pPr>
            <a:r>
              <a:rPr sz="5200" b="1" i="0">
                <a:solidFill>
                  <a:srgbClr val="FFFFFF"/>
                </a:solidFill>
                <a:latin typeface="Calibri"/>
              </a:rPr>
              <a:t>Terima kasih</a:t>
            </a:r>
          </a:p>
        </p:txBody>
      </p:sp>
      <p:sp>
        <p:nvSpPr>
          <p:cNvPr id="6" name="Rectangle 5"/>
          <p:cNvSpPr/>
          <p:nvPr/>
        </p:nvSpPr>
        <p:spPr>
          <a:xfrm>
            <a:off x="5318607" y="3218688"/>
            <a:ext cx="1554480" cy="36576"/>
          </a:xfrm>
          <a:prstGeom prst="rect">
            <a:avLst/>
          </a:prstGeom>
          <a:solidFill>
            <a:srgbClr val="DA2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0" y="3493008"/>
            <a:ext cx="12191695" cy="365760"/>
          </a:xfrm>
          <a:prstGeom prst="rect">
            <a:avLst/>
          </a:prstGeom>
          <a:noFill/>
        </p:spPr>
        <p:txBody>
          <a:bodyPr wrap="square" lIns="0" rIns="0" tIns="0" bIns="0" anchor="t">
            <a:spAutoFit/>
          </a:bodyPr>
          <a:lstStyle/>
          <a:p>
            <a:pPr algn="ctr">
              <a:lnSpc>
                <a:spcPct val="100000"/>
              </a:lnSpc>
              <a:spcAft>
                <a:spcPts val="0"/>
              </a:spcAft>
            </a:pPr>
            <a:r>
              <a:rPr sz="1500" b="0" i="0">
                <a:solidFill>
                  <a:srgbClr val="A89F99"/>
                </a:solidFill>
                <a:latin typeface="Calibri"/>
              </a:rPr>
              <a:t>Kami membuka sesi tanya jawab dan diskusi</a:t>
            </a:r>
          </a:p>
        </p:txBody>
      </p:sp>
      <p:sp>
        <p:nvSpPr>
          <p:cNvPr id="8" name="TextBox 7"/>
          <p:cNvSpPr txBox="1"/>
          <p:nvPr/>
        </p:nvSpPr>
        <p:spPr>
          <a:xfrm>
            <a:off x="0" y="4261104"/>
            <a:ext cx="12191695" cy="256032"/>
          </a:xfrm>
          <a:prstGeom prst="rect">
            <a:avLst/>
          </a:prstGeom>
          <a:noFill/>
        </p:spPr>
        <p:txBody>
          <a:bodyPr wrap="square" lIns="0" rIns="0" tIns="0" bIns="0" anchor="t">
            <a:spAutoFit/>
          </a:bodyPr>
          <a:lstStyle/>
          <a:p>
            <a:pPr algn="ctr">
              <a:lnSpc>
                <a:spcPct val="100000"/>
              </a:lnSpc>
              <a:spcAft>
                <a:spcPts val="0"/>
              </a:spcAft>
            </a:pPr>
            <a:r>
              <a:rPr sz="1000" b="1" i="0" cap="all">
                <a:solidFill>
                  <a:srgbClr val="DA291C"/>
                </a:solidFill>
                <a:latin typeface="Calibri"/>
              </a:rPr>
              <a:t>Kelompok 4</a:t>
            </a:r>
          </a:p>
        </p:txBody>
      </p:sp>
      <p:sp>
        <p:nvSpPr>
          <p:cNvPr id="9" name="TextBox 8"/>
          <p:cNvSpPr txBox="1"/>
          <p:nvPr/>
        </p:nvSpPr>
        <p:spPr>
          <a:xfrm>
            <a:off x="0" y="4535424"/>
            <a:ext cx="12191695" cy="365760"/>
          </a:xfrm>
          <a:prstGeom prst="rect">
            <a:avLst/>
          </a:prstGeom>
          <a:noFill/>
        </p:spPr>
        <p:txBody>
          <a:bodyPr wrap="square" lIns="0" rIns="0" tIns="0" bIns="0" anchor="t">
            <a:spAutoFit/>
          </a:bodyPr>
          <a:lstStyle/>
          <a:p>
            <a:pPr algn="ctr">
              <a:lnSpc>
                <a:spcPct val="100000"/>
              </a:lnSpc>
              <a:spcAft>
                <a:spcPts val="0"/>
              </a:spcAft>
            </a:pPr>
            <a:r>
              <a:rPr sz="1400" b="0" i="0">
                <a:solidFill>
                  <a:srgbClr val="FFFFFF"/>
                </a:solidFill>
                <a:latin typeface="Calibri"/>
              </a:rPr>
              <a:t>Fitra Aidila   ·   Aulia Sisca Rahmadiyanti   ·   Bagaskoro   ·   Imam Prayudha   ·   Tegar Awanto</a:t>
            </a:r>
          </a:p>
        </p:txBody>
      </p:sp>
      <p:sp>
        <p:nvSpPr>
          <p:cNvPr id="10" name="TextBox 9"/>
          <p:cNvSpPr txBox="1"/>
          <p:nvPr/>
        </p:nvSpPr>
        <p:spPr>
          <a:xfrm>
            <a:off x="0" y="5047488"/>
            <a:ext cx="12191695" cy="274320"/>
          </a:xfrm>
          <a:prstGeom prst="rect">
            <a:avLst/>
          </a:prstGeom>
          <a:noFill/>
        </p:spPr>
        <p:txBody>
          <a:bodyPr wrap="square" lIns="0" rIns="0" tIns="0" bIns="0" anchor="t">
            <a:spAutoFit/>
          </a:bodyPr>
          <a:lstStyle/>
          <a:p>
            <a:pPr algn="ctr">
              <a:lnSpc>
                <a:spcPct val="100000"/>
              </a:lnSpc>
              <a:spcAft>
                <a:spcPts val="0"/>
              </a:spcAft>
            </a:pPr>
            <a:r>
              <a:rPr sz="1150" b="0" i="0">
                <a:solidFill>
                  <a:srgbClr val="8C837E"/>
                </a:solidFill>
                <a:latin typeface="Calibri"/>
              </a:rPr>
              <a:t>Strategic Management  ·  Dr. Rangga Almahendra, S.T., M.M.</a:t>
            </a:r>
          </a:p>
        </p:txBody>
      </p:sp>
      <p:sp>
        <p:nvSpPr>
          <p:cNvPr id="11" name="TextBox 10"/>
          <p:cNvSpPr txBox="1"/>
          <p:nvPr/>
        </p:nvSpPr>
        <p:spPr>
          <a:xfrm>
            <a:off x="0" y="5852160"/>
            <a:ext cx="12191695" cy="274320"/>
          </a:xfrm>
          <a:prstGeom prst="rect">
            <a:avLst/>
          </a:prstGeom>
          <a:noFill/>
        </p:spPr>
        <p:txBody>
          <a:bodyPr wrap="square" lIns="0" rIns="0" tIns="0" bIns="0" anchor="t">
            <a:spAutoFit/>
          </a:bodyPr>
          <a:lstStyle/>
          <a:p>
            <a:pPr algn="ctr">
              <a:lnSpc>
                <a:spcPct val="100000"/>
              </a:lnSpc>
              <a:spcAft>
                <a:spcPts val="0"/>
              </a:spcAft>
            </a:pPr>
            <a:r>
              <a:rPr sz="1000" b="0" i="0">
                <a:solidFill>
                  <a:srgbClr val="5A514D"/>
                </a:solidFill>
                <a:latin typeface="Calibri"/>
              </a:rPr>
              <a:t>Chapter 4 — Thompson, Peteraf, Gamble &amp; Strickland, 2024 Release ISE   |   Kasus: Manchester United, Robert M. Grant (2010)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 Company's Resources and Competitive Position</dc:title>
  <dc:subject>Strategic Management - Chapter 4 &amp; Manchester United case</dc:subject>
  <dc:creator>Kelompok 4</dc:creator>
  <cp:keywords/>
  <dc:description>Fitra Aidila, Aulia Sisca Rahmadiyanti, Bagaskoro, Imam Prayudha, Tegar Awanto</dc:description>
  <cp:lastModifiedBy>Steve Canny</cp:lastModifiedBy>
  <cp:revision>1</cp:revision>
  <dcterms:created xsi:type="dcterms:W3CDTF">2013-01-27T09:14:16Z</dcterms:created>
  <dcterms:modified xsi:type="dcterms:W3CDTF">2013-01-27T09:15:58Z</dcterms:modified>
  <cp:category/>
</cp:coreProperties>
</file>