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Rencana 24 bulan, disusun sebagai rangkaian fase, bukan daftar buku.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penguinrandomhouse.com/books/208668/good-strategy-bad-strategy-by-richard-rumelt/" TargetMode="External"/><Relationship Id="rId2" Type="http://schemas.openxmlformats.org/officeDocument/2006/relationships/hyperlink" Target="https://store.hbr.org/product/playing-to-win-expanded-with-bonus-hbr-articles-how-strategy-really-works/10852" TargetMode="External"/><Relationship Id="rId3" Type="http://schemas.openxmlformats.org/officeDocument/2006/relationships/hyperlink" Target="https://hbr.org/1996/11/what-is-strategy" TargetMode="External"/><Relationship Id="rId4" Type="http://schemas.openxmlformats.org/officeDocument/2006/relationships/hyperlink" Target="https://hbr.org/2008/01/the-five-competitive-forces-that-shape-strategy" TargetMode="External"/><Relationship Id="rId5" Type="http://schemas.openxmlformats.org/officeDocument/2006/relationships/hyperlink" Target="https://www.wiley.com/en-us/Contemporary+Strategy+Analysis,+12th+Edition-p-9781394251568R150" TargetMode="External"/><Relationship Id="rId6" Type="http://schemas.openxmlformats.org/officeDocument/2006/relationships/hyperlink" Target="https://www.gutenberg.org/ebooks/132" TargetMode="External"/><Relationship Id="rId7" Type="http://schemas.openxmlformats.org/officeDocument/2006/relationships/hyperlink" Target="https://www.amazon.com/Competitive-Strategy-Techniques-Industries-Competitors-ebook/dp/B001CB34J0" TargetMode="External"/><Relationship Id="rId8" Type="http://schemas.openxmlformats.org/officeDocument/2006/relationships/hyperlink" Target="https://www.amazon.com/7-Powers-Foundations-Business-Strategy-ebook/dp/B01MRLFFQ7" TargetMode="External"/><Relationship Id="rId9" Type="http://schemas.openxmlformats.org/officeDocument/2006/relationships/hyperlink" Target="https://store.hbr.org/product/blue-ocean-strategy-expanded-edition-how-to-create-uncontested-market-space-and-make-the-competition-irrelevant/13892" TargetMode="External"/><Relationship Id="rId10" Type="http://schemas.openxmlformats.org/officeDocument/2006/relationships/hyperlink" Target="https://store.hbr.org/product/the-innovator-s-dilemma-with-a-new-foreword-when-new-technologies-cause-great-firms-to-fail/10706" TargetMode="External"/><Relationship Id="rId11" Type="http://schemas.openxmlformats.org/officeDocument/2006/relationships/hyperlink" Target="https://wwnorton.com/books/9780393310351" TargetMode="External"/><Relationship Id="rId12" Type="http://schemas.openxmlformats.org/officeDocument/2006/relationships/hyperlink" Target="https://www.amazon.com/Thinking-Fast-Slow-Daniel-Kahneman-ebook/dp/B00555X8OA" TargetMode="External"/><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hachettebookgroup.com/titles/richard-p-rumelt/the-crux/9781541701267/" TargetMode="External"/><Relationship Id="rId2" Type="http://schemas.openxmlformats.org/officeDocument/2006/relationships/hyperlink" Target="https://www.amazon.com/Strategist-Leader-Your-Business-Needs-ebook/dp/B006ID01OS" TargetMode="External"/><Relationship Id="rId3" Type="http://schemas.openxmlformats.org/officeDocument/2006/relationships/hyperlink" Target="https://www.penguinrandomhouse.com/books/16316/execution-by-larry-bossidy-and-ram-charan/" TargetMode="External"/><Relationship Id="rId4" Type="http://schemas.openxmlformats.org/officeDocument/2006/relationships/hyperlink" Target="https://www.penguinrandomhouse.com/books/546304/measure-what-matters-by-john-doerr-foreword-by-larry-page/" TargetMode="External"/><Relationship Id="rId5" Type="http://schemas.openxmlformats.org/officeDocument/2006/relationships/hyperlink" Target="https://www.penguinrandomhouse.com/books/227815/superforecasting-by-philip-e-tetlock-and-dan-gardner/" TargetMode="External"/><Relationship Id="rId6" Type="http://schemas.openxmlformats.org/officeDocument/2006/relationships/hyperlink" Target="https://www.penguinrandomhouse.com/books/552885/thinking-in-bets-by-annie-duke/" TargetMode="External"/><Relationship Id="rId7" Type="http://schemas.openxmlformats.org/officeDocument/2006/relationships/hyperlink" Target="https://www.amazon.com/dp/B000FC0V0W" TargetMode="External"/><Relationship Id="rId8" Type="http://schemas.openxmlformats.org/officeDocument/2006/relationships/hyperlink" Target="https://www.amazon.com/Opposable-Mind-Successful-Integrative-Thinking-ebook/dp/B004OC077G" TargetMode="External"/><Relationship Id="rId9" Type="http://schemas.openxmlformats.org/officeDocument/2006/relationships/hyperlink" Target="https://archive.org/details/pyramidprinciple0000mint" TargetMode="External"/><Relationship Id="rId10" Type="http://schemas.openxmlformats.org/officeDocument/2006/relationships/hyperlink" Target="https://www.amazon.com/Good-Great-Some-Companies-Others-ebook/dp/B0058DRUV6" TargetMode="External"/><Relationship Id="rId11" Type="http://schemas.openxmlformats.org/officeDocument/2006/relationships/hyperlink" Target="https://ebooks.gramedia.com/id/buku/disruption" TargetMode="External"/><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lib.ugm.ac.id/en/e-books/" TargetMode="External"/><Relationship Id="rId2" Type="http://schemas.openxmlformats.org/officeDocument/2006/relationships/hyperlink" Target="https://lib.ugm.ac.id/en/access-to-e-journals-databases-e-books/" TargetMode="External"/><Relationship Id="rId3" Type="http://schemas.openxmlformats.org/officeDocument/2006/relationships/hyperlink" Target="https://ebookcentral.proquest.com/lib/ugm-ebooks" TargetMode="External"/><Relationship Id="rId4" Type="http://schemas.openxmlformats.org/officeDocument/2006/relationships/hyperlink" Target="https://ipusnas.id/" TargetMode="External"/><Relationship Id="rId5" Type="http://schemas.openxmlformats.org/officeDocument/2006/relationships/hyperlink" Target="https://play.google.com/store/apps/details?id=mam.reader.ipusnas" TargetMode="External"/><Relationship Id="rId6" Type="http://schemas.openxmlformats.org/officeDocument/2006/relationships/hyperlink" Target="https://openlibrary.org/works/OL8980380W" TargetMode="External"/><Relationship Id="rId7" Type="http://schemas.openxmlformats.org/officeDocument/2006/relationships/hyperlink" Target="https://openlibrary.org/works/OL16149072W" TargetMode="External"/><Relationship Id="rId8" Type="http://schemas.openxmlformats.org/officeDocument/2006/relationships/hyperlink" Target="https://www.mckinsey.com/capabilities/strategy-and-corporate-finance/our-insights/the-perils-of-bad-strategy" TargetMode="External"/><Relationship Id="rId9" Type="http://schemas.openxmlformats.org/officeDocument/2006/relationships/hyperlink" Target="https://www.gutenberg.org/ebooks/132" TargetMode="External"/><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A"/>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8A97B0"/>
                </a:solidFill>
                <a:latin typeface="Calibri" pitchFamily="34" charset="0"/>
                <a:ea typeface="Calibri" pitchFamily="34" charset="-122"/>
                <a:cs typeface="Calibri" pitchFamily="34" charset="-120"/>
              </a:rPr>
              <a:t>1</a:t>
            </a:r>
            <a:endParaRPr lang="en-US" sz="1000" dirty="0"/>
          </a:p>
        </p:txBody>
      </p:sp>
      <p:sp>
        <p:nvSpPr>
          <p:cNvPr id="3" name="Shape 1"/>
          <p:cNvSpPr/>
          <p:nvPr/>
        </p:nvSpPr>
        <p:spPr>
          <a:xfrm>
            <a:off x="8595360" y="-1463040"/>
            <a:ext cx="4937760" cy="4937760"/>
          </a:xfrm>
          <a:prstGeom prst="ellipse">
            <a:avLst/>
          </a:prstGeom>
          <a:solidFill>
            <a:srgbClr val="1B2F52"/>
          </a:solidFill>
          <a:ln w="12700">
            <a:solidFill>
              <a:srgbClr val="1B2F52"/>
            </a:solidFill>
            <a:prstDash val="solid"/>
          </a:ln>
        </p:spPr>
      </p:sp>
      <p:sp>
        <p:nvSpPr>
          <p:cNvPr id="4" name="Shape 2"/>
          <p:cNvSpPr/>
          <p:nvPr/>
        </p:nvSpPr>
        <p:spPr>
          <a:xfrm>
            <a:off x="731520" y="1188720"/>
            <a:ext cx="1005840" cy="1005840"/>
          </a:xfrm>
          <a:prstGeom prst="ellipse">
            <a:avLst/>
          </a:prstGeom>
          <a:solidFill>
            <a:srgbClr val="C9A227"/>
          </a:solidFill>
          <a:ln w="12700">
            <a:solidFill>
              <a:srgbClr val="C9A227"/>
            </a:solidFill>
            <a:prstDash val="solid"/>
          </a:ln>
        </p:spPr>
      </p:sp>
      <p:pic>
        <p:nvPicPr>
          <p:cNvPr id="5" name="Image 0" descr="preencoded.png">    </p:cNvPr>
          <p:cNvPicPr>
            <a:picLocks noChangeAspect="1"/>
          </p:cNvPicPr>
          <p:nvPr/>
        </p:nvPicPr>
        <p:blipFill>
          <a:blip r:embed="rId1"/>
          <a:stretch>
            <a:fillRect/>
          </a:stretch>
        </p:blipFill>
        <p:spPr>
          <a:xfrm>
            <a:off x="993038" y="1450238"/>
            <a:ext cx="482803" cy="482803"/>
          </a:xfrm>
          <a:prstGeom prst="rect">
            <a:avLst/>
          </a:prstGeom>
        </p:spPr>
      </p:pic>
      <p:sp>
        <p:nvSpPr>
          <p:cNvPr id="6" name="Text 3"/>
          <p:cNvSpPr txBox="1"/>
          <p:nvPr/>
        </p:nvSpPr>
        <p:spPr>
          <a:xfrm>
            <a:off x="731520" y="2377440"/>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Blueprint Ahli Strategi</a:t>
            </a:r>
            <a:endParaRPr lang="en-US" sz="4400" dirty="0"/>
          </a:p>
        </p:txBody>
      </p:sp>
      <p:sp>
        <p:nvSpPr>
          <p:cNvPr id="7" name="Text 4"/>
          <p:cNvSpPr txBox="1"/>
          <p:nvPr/>
        </p:nvSpPr>
        <p:spPr>
          <a:xfrm>
            <a:off x="731520" y="3291840"/>
            <a:ext cx="7772400" cy="822960"/>
          </a:xfrm>
          <a:prstGeom prst="rect">
            <a:avLst/>
          </a:prstGeom>
          <a:noFill/>
          <a:ln/>
        </p:spPr>
        <p:txBody>
          <a:bodyPr wrap="square" lIns="0" tIns="0" rIns="0" bIns="0" rtlCol="0" anchor="ctr"/>
          <a:lstStyle/>
          <a:p>
            <a:pPr indent="0" marL="0">
              <a:buNone/>
            </a:pPr>
            <a:r>
              <a:rPr lang="en-US" sz="1800" dirty="0">
                <a:solidFill>
                  <a:srgbClr val="B9C3D6"/>
                </a:solidFill>
                <a:latin typeface="Calibri" pitchFamily="34" charset="0"/>
                <a:ea typeface="Calibri" pitchFamily="34" charset="-122"/>
                <a:cs typeface="Calibri" pitchFamily="34" charset="-120"/>
              </a:rPr>
              <a:t>Rencana pengembangan diri 24 bulan untuk menjadi praktisi strategi yang benar-benar dipakai perusahaan</a:t>
            </a:r>
            <a:endParaRPr lang="en-US" sz="1800" dirty="0"/>
          </a:p>
        </p:txBody>
      </p:sp>
      <p:sp>
        <p:nvSpPr>
          <p:cNvPr id="8" name="Text 5"/>
          <p:cNvSpPr txBox="1"/>
          <p:nvPr/>
        </p:nvSpPr>
        <p:spPr>
          <a:xfrm>
            <a:off x="731520" y="5394960"/>
            <a:ext cx="9144000" cy="365760"/>
          </a:xfrm>
          <a:prstGeom prst="rect">
            <a:avLst/>
          </a:prstGeom>
          <a:noFill/>
          <a:ln/>
        </p:spPr>
        <p:txBody>
          <a:bodyPr wrap="square" lIns="0" tIns="0" rIns="0" bIns="0" rtlCol="0" anchor="ctr"/>
          <a:lstStyle/>
          <a:p>
            <a:pPr indent="0" marL="0">
              <a:buNone/>
            </a:pPr>
            <a:r>
              <a:rPr lang="en-US" sz="1300" dirty="0">
                <a:solidFill>
                  <a:srgbClr val="C9A227"/>
                </a:solidFill>
                <a:latin typeface="Calibri" pitchFamily="34" charset="0"/>
                <a:ea typeface="Calibri" pitchFamily="34" charset="-122"/>
                <a:cs typeface="Calibri" pitchFamily="34" charset="-120"/>
              </a:rPr>
              <a:t>MBA Universitas Gadjah Mada  ·  Konsentrasi Strategic Management  ·  September 2026</a:t>
            </a:r>
            <a:endParaRPr lang="en-US" sz="1300" dirty="0"/>
          </a:p>
        </p:txBody>
      </p:sp>
      <p:sp>
        <p:nvSpPr>
          <p:cNvPr id="9" name="Text 6"/>
          <p:cNvSpPr txBox="1"/>
          <p:nvPr/>
        </p:nvSpPr>
        <p:spPr>
          <a:xfrm>
            <a:off x="731520" y="5760720"/>
            <a:ext cx="9144000" cy="365760"/>
          </a:xfrm>
          <a:prstGeom prst="rect">
            <a:avLst/>
          </a:prstGeom>
          <a:noFill/>
          <a:ln/>
        </p:spPr>
        <p:txBody>
          <a:bodyPr wrap="square" lIns="0" tIns="0" rIns="0" bIns="0" rtlCol="0" anchor="ctr"/>
          <a:lstStyle/>
          <a:p>
            <a:pPr indent="0" marL="0">
              <a:buNone/>
            </a:pPr>
            <a:r>
              <a:rPr lang="en-US" sz="1100" dirty="0">
                <a:solidFill>
                  <a:srgbClr val="8A97B0"/>
                </a:solidFill>
                <a:latin typeface="Calibri" pitchFamily="34" charset="0"/>
                <a:ea typeface="Calibri" pitchFamily="34" charset="-122"/>
                <a:cs typeface="Calibri" pitchFamily="34" charset="-120"/>
              </a:rPr>
              <a:t>Dokumen rencana pribadi, dibuat untuk pemakaian sendiri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Tiga kebenaran yang tidak nyaman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Dibaca dulu sebelum rencananya, supaya rencananya tidak salah arah</a:t>
            </a:r>
            <a:endParaRPr lang="en-US" sz="1400" dirty="0"/>
          </a:p>
        </p:txBody>
      </p:sp>
      <p:sp>
        <p:nvSpPr>
          <p:cNvPr id="5" name="Shape 3"/>
          <p:cNvSpPr/>
          <p:nvPr/>
        </p:nvSpPr>
        <p:spPr>
          <a:xfrm>
            <a:off x="548640" y="1645920"/>
            <a:ext cx="3520440" cy="3291840"/>
          </a:xfrm>
          <a:prstGeom prst="roundRect">
            <a:avLst>
              <a:gd name="adj" fmla="val 3333"/>
            </a:avLst>
          </a:prstGeom>
          <a:solidFill>
            <a:srgbClr val="EEF2F8"/>
          </a:solidFill>
          <a:ln w="12700">
            <a:solidFill>
              <a:srgbClr val="EEF2F8"/>
            </a:solidFill>
            <a:prstDash val="solid"/>
          </a:ln>
        </p:spPr>
      </p:sp>
      <p:sp>
        <p:nvSpPr>
          <p:cNvPr id="6" name="Shape 4"/>
          <p:cNvSpPr/>
          <p:nvPr/>
        </p:nvSpPr>
        <p:spPr>
          <a:xfrm>
            <a:off x="822960" y="1920240"/>
            <a:ext cx="640080" cy="640080"/>
          </a:xfrm>
          <a:prstGeom prst="ellipse">
            <a:avLst/>
          </a:prstGeom>
          <a:solidFill>
            <a:srgbClr val="12213A"/>
          </a:solidFill>
          <a:ln w="12700">
            <a:solidFill>
              <a:srgbClr val="12213A"/>
            </a:solidFill>
            <a:prstDash val="solid"/>
          </a:ln>
        </p:spPr>
      </p:sp>
      <p:pic>
        <p:nvPicPr>
          <p:cNvPr id="7" name="Image 0" descr="preencoded.png">    </p:cNvPr>
          <p:cNvPicPr>
            <a:picLocks noChangeAspect="1"/>
          </p:cNvPicPr>
          <p:nvPr/>
        </p:nvPicPr>
        <p:blipFill>
          <a:blip r:embed="rId1"/>
          <a:stretch>
            <a:fillRect/>
          </a:stretch>
        </p:blipFill>
        <p:spPr>
          <a:xfrm>
            <a:off x="989381" y="2086661"/>
            <a:ext cx="307238" cy="307238"/>
          </a:xfrm>
          <a:prstGeom prst="rect">
            <a:avLst/>
          </a:prstGeom>
        </p:spPr>
      </p:pic>
      <p:sp>
        <p:nvSpPr>
          <p:cNvPr id="8" name="Text 5"/>
          <p:cNvSpPr txBox="1"/>
          <p:nvPr/>
        </p:nvSpPr>
        <p:spPr>
          <a:xfrm>
            <a:off x="822960" y="2697480"/>
            <a:ext cx="2971800" cy="822960"/>
          </a:xfrm>
          <a:prstGeom prst="rect">
            <a:avLst/>
          </a:prstGeom>
          <a:noFill/>
          <a:ln/>
        </p:spPr>
        <p:txBody>
          <a:bodyPr wrap="square" lIns="0" tIns="0" rIns="0" bIns="0" rtlCol="0" anchor="t"/>
          <a:lstStyle/>
          <a:p>
            <a:pPr indent="0" marL="0">
              <a:buNone/>
            </a:pPr>
            <a:r>
              <a:rPr lang="en-US" sz="1600" b="1" dirty="0">
                <a:solidFill>
                  <a:srgbClr val="12213A"/>
                </a:solidFill>
                <a:latin typeface="Cambria" pitchFamily="34" charset="0"/>
                <a:ea typeface="Cambria" pitchFamily="34" charset="-122"/>
                <a:cs typeface="Cambria" pitchFamily="34" charset="-120"/>
              </a:rPr>
              <a:t>MBA tidak mencetak ahli strategi</a:t>
            </a:r>
            <a:endParaRPr lang="en-US" sz="1600" dirty="0"/>
          </a:p>
        </p:txBody>
      </p:sp>
      <p:sp>
        <p:nvSpPr>
          <p:cNvPr id="9" name="Text 6"/>
          <p:cNvSpPr txBox="1"/>
          <p:nvPr/>
        </p:nvSpPr>
        <p:spPr>
          <a:xfrm>
            <a:off x="822960" y="3566160"/>
            <a:ext cx="2971800" cy="12801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Kuliah memberi bahasa dan kerangka. Yang mencetak keahlian adalah ratusan jam mendiagnosis kasus nyata dan menerima umpan balik keras dari praktisi.</a:t>
            </a:r>
            <a:endParaRPr lang="en-US" sz="1250" dirty="0"/>
          </a:p>
        </p:txBody>
      </p:sp>
      <p:sp>
        <p:nvSpPr>
          <p:cNvPr id="10" name="Shape 7"/>
          <p:cNvSpPr/>
          <p:nvPr/>
        </p:nvSpPr>
        <p:spPr>
          <a:xfrm>
            <a:off x="4297680" y="1645920"/>
            <a:ext cx="3520440" cy="3291840"/>
          </a:xfrm>
          <a:prstGeom prst="roundRect">
            <a:avLst>
              <a:gd name="adj" fmla="val 3333"/>
            </a:avLst>
          </a:prstGeom>
          <a:solidFill>
            <a:srgbClr val="EEF2F8"/>
          </a:solidFill>
          <a:ln w="12700">
            <a:solidFill>
              <a:srgbClr val="EEF2F8"/>
            </a:solidFill>
            <a:prstDash val="solid"/>
          </a:ln>
        </p:spPr>
      </p:sp>
      <p:sp>
        <p:nvSpPr>
          <p:cNvPr id="11" name="Shape 8"/>
          <p:cNvSpPr/>
          <p:nvPr/>
        </p:nvSpPr>
        <p:spPr>
          <a:xfrm>
            <a:off x="4572000" y="1920240"/>
            <a:ext cx="640080" cy="640080"/>
          </a:xfrm>
          <a:prstGeom prst="ellipse">
            <a:avLst/>
          </a:prstGeom>
          <a:solidFill>
            <a:srgbClr val="12213A"/>
          </a:solidFill>
          <a:ln w="12700">
            <a:solidFill>
              <a:srgbClr val="12213A"/>
            </a:solidFill>
            <a:prstDash val="solid"/>
          </a:ln>
        </p:spPr>
      </p:sp>
      <p:pic>
        <p:nvPicPr>
          <p:cNvPr id="12" name="Image 1" descr="preencoded.png">    </p:cNvPr>
          <p:cNvPicPr>
            <a:picLocks noChangeAspect="1"/>
          </p:cNvPicPr>
          <p:nvPr/>
        </p:nvPicPr>
        <p:blipFill>
          <a:blip r:embed="rId2"/>
          <a:stretch>
            <a:fillRect/>
          </a:stretch>
        </p:blipFill>
        <p:spPr>
          <a:xfrm>
            <a:off x="4738421" y="2086661"/>
            <a:ext cx="307238" cy="307238"/>
          </a:xfrm>
          <a:prstGeom prst="rect">
            <a:avLst/>
          </a:prstGeom>
        </p:spPr>
      </p:pic>
      <p:sp>
        <p:nvSpPr>
          <p:cNvPr id="13" name="Text 9"/>
          <p:cNvSpPr txBox="1"/>
          <p:nvPr/>
        </p:nvSpPr>
        <p:spPr>
          <a:xfrm>
            <a:off x="4572000" y="2697480"/>
            <a:ext cx="2971800" cy="822960"/>
          </a:xfrm>
          <a:prstGeom prst="rect">
            <a:avLst/>
          </a:prstGeom>
          <a:noFill/>
          <a:ln/>
        </p:spPr>
        <p:txBody>
          <a:bodyPr wrap="square" lIns="0" tIns="0" rIns="0" bIns="0" rtlCol="0" anchor="t"/>
          <a:lstStyle/>
          <a:p>
            <a:pPr indent="0" marL="0">
              <a:buNone/>
            </a:pPr>
            <a:r>
              <a:rPr lang="en-US" sz="1600" b="1" dirty="0">
                <a:solidFill>
                  <a:srgbClr val="12213A"/>
                </a:solidFill>
                <a:latin typeface="Cambria" pitchFamily="34" charset="0"/>
                <a:ea typeface="Cambria" pitchFamily="34" charset="-122"/>
                <a:cs typeface="Cambria" pitchFamily="34" charset="-120"/>
              </a:rPr>
              <a:t>Membaca 20 buku tanpa menulis 20 memo = kolektor framework</a:t>
            </a:r>
            <a:endParaRPr lang="en-US" sz="1600" dirty="0"/>
          </a:p>
        </p:txBody>
      </p:sp>
      <p:sp>
        <p:nvSpPr>
          <p:cNvPr id="14" name="Text 10"/>
          <p:cNvSpPr txBox="1"/>
          <p:nvPr/>
        </p:nvSpPr>
        <p:spPr>
          <a:xfrm>
            <a:off x="4572000" y="3566160"/>
            <a:ext cx="2971800" cy="12801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Setiap buku di rencana ini dipasangkan dengan latihan tertulis. Tanpa output, bacaan menguap dalam 3 bulan.</a:t>
            </a:r>
            <a:endParaRPr lang="en-US" sz="1250" dirty="0"/>
          </a:p>
        </p:txBody>
      </p:sp>
      <p:sp>
        <p:nvSpPr>
          <p:cNvPr id="15" name="Shape 11"/>
          <p:cNvSpPr/>
          <p:nvPr/>
        </p:nvSpPr>
        <p:spPr>
          <a:xfrm>
            <a:off x="8046720" y="1645920"/>
            <a:ext cx="3520440" cy="3291840"/>
          </a:xfrm>
          <a:prstGeom prst="roundRect">
            <a:avLst>
              <a:gd name="adj" fmla="val 3333"/>
            </a:avLst>
          </a:prstGeom>
          <a:solidFill>
            <a:srgbClr val="EEF2F8"/>
          </a:solidFill>
          <a:ln w="12700">
            <a:solidFill>
              <a:srgbClr val="EEF2F8"/>
            </a:solidFill>
            <a:prstDash val="solid"/>
          </a:ln>
        </p:spPr>
      </p:sp>
      <p:sp>
        <p:nvSpPr>
          <p:cNvPr id="16" name="Shape 12"/>
          <p:cNvSpPr/>
          <p:nvPr/>
        </p:nvSpPr>
        <p:spPr>
          <a:xfrm>
            <a:off x="8321040" y="1920240"/>
            <a:ext cx="640080" cy="640080"/>
          </a:xfrm>
          <a:prstGeom prst="ellipse">
            <a:avLst/>
          </a:prstGeom>
          <a:solidFill>
            <a:srgbClr val="12213A"/>
          </a:solidFill>
          <a:ln w="12700">
            <a:solidFill>
              <a:srgbClr val="12213A"/>
            </a:solidFill>
            <a:prstDash val="solid"/>
          </a:ln>
        </p:spPr>
      </p:sp>
      <p:pic>
        <p:nvPicPr>
          <p:cNvPr id="17" name="Image 2" descr="preencoded.png">    </p:cNvPr>
          <p:cNvPicPr>
            <a:picLocks noChangeAspect="1"/>
          </p:cNvPicPr>
          <p:nvPr/>
        </p:nvPicPr>
        <p:blipFill>
          <a:blip r:embed="rId3"/>
          <a:stretch>
            <a:fillRect/>
          </a:stretch>
        </p:blipFill>
        <p:spPr>
          <a:xfrm>
            <a:off x="8487461" y="2086661"/>
            <a:ext cx="307238" cy="307238"/>
          </a:xfrm>
          <a:prstGeom prst="rect">
            <a:avLst/>
          </a:prstGeom>
        </p:spPr>
      </p:pic>
      <p:sp>
        <p:nvSpPr>
          <p:cNvPr id="18" name="Text 13"/>
          <p:cNvSpPr txBox="1"/>
          <p:nvPr/>
        </p:nvSpPr>
        <p:spPr>
          <a:xfrm>
            <a:off x="8321040" y="2697480"/>
            <a:ext cx="2971800" cy="822960"/>
          </a:xfrm>
          <a:prstGeom prst="rect">
            <a:avLst/>
          </a:prstGeom>
          <a:noFill/>
          <a:ln/>
        </p:spPr>
        <p:txBody>
          <a:bodyPr wrap="square" lIns="0" tIns="0" rIns="0" bIns="0" rtlCol="0" anchor="t"/>
          <a:lstStyle/>
          <a:p>
            <a:pPr indent="0" marL="0">
              <a:buNone/>
            </a:pPr>
            <a:r>
              <a:rPr lang="en-US" sz="1600" b="1" dirty="0">
                <a:solidFill>
                  <a:srgbClr val="12213A"/>
                </a:solidFill>
                <a:latin typeface="Cambria" pitchFamily="34" charset="0"/>
                <a:ea typeface="Cambria" pitchFamily="34" charset="-122"/>
                <a:cs typeface="Cambria" pitchFamily="34" charset="-120"/>
              </a:rPr>
              <a:t>Keunggulan Anda ada di konteks Indonesia</a:t>
            </a:r>
            <a:endParaRPr lang="en-US" sz="1600" dirty="0"/>
          </a:p>
        </p:txBody>
      </p:sp>
      <p:sp>
        <p:nvSpPr>
          <p:cNvPr id="19" name="Text 14"/>
          <p:cNvSpPr txBox="1"/>
          <p:nvPr/>
        </p:nvSpPr>
        <p:spPr>
          <a:xfrm>
            <a:off x="8321040" y="3566160"/>
            <a:ext cx="2971800" cy="12801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Porter bisa dibaca siapa saja. Yang langka: orang yang paham BUMN, konglomerat keluarga, UMKM, regulasi, dan bisa menerjemahkan teori ke sana.</a:t>
            </a:r>
            <a:endParaRPr lang="en-US" sz="1250" dirty="0"/>
          </a:p>
        </p:txBody>
      </p:sp>
      <p:sp>
        <p:nvSpPr>
          <p:cNvPr id="20" name="Shape 15"/>
          <p:cNvSpPr/>
          <p:nvPr/>
        </p:nvSpPr>
        <p:spPr>
          <a:xfrm>
            <a:off x="548640" y="5212080"/>
            <a:ext cx="11064240" cy="1051560"/>
          </a:xfrm>
          <a:prstGeom prst="roundRect">
            <a:avLst>
              <a:gd name="adj" fmla="val 10435"/>
            </a:avLst>
          </a:prstGeom>
          <a:solidFill>
            <a:srgbClr val="12213A"/>
          </a:solidFill>
          <a:ln w="12700">
            <a:solidFill>
              <a:srgbClr val="12213A"/>
            </a:solidFill>
            <a:prstDash val="solid"/>
          </a:ln>
        </p:spPr>
      </p:sp>
      <p:sp>
        <p:nvSpPr>
          <p:cNvPr id="21" name="Text 16"/>
          <p:cNvSpPr txBox="1"/>
          <p:nvPr/>
        </p:nvSpPr>
        <p:spPr>
          <a:xfrm>
            <a:off x="822960" y="5303520"/>
            <a:ext cx="10515600" cy="86868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Definisi kerja "ahli strategi" di dokumen ini:  </a:t>
            </a:r>
            <a:pPr indent="0" marL="0">
              <a:buNone/>
            </a:pPr>
            <a:r>
              <a:rPr lang="en-US" sz="1300" dirty="0">
                <a:solidFill>
                  <a:srgbClr val="FFFFFF"/>
                </a:solidFill>
                <a:latin typeface="Calibri" pitchFamily="34" charset="0"/>
                <a:ea typeface="Calibri" pitchFamily="34" charset="-122"/>
                <a:cs typeface="Calibri" pitchFamily="34" charset="-120"/>
              </a:rPr>
              <a:t>orang yang bisa mendiagnosis masalah inti sebuah organisasi, merumuskan kebijakan pengarah, menurunkannya menjadi aksi yang koheren (kernel Rumelt), lalu meyakinkan orang lain untuk mengeksekusinya. Semua fase di bawah mengejar empat kemampuan itu.</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Enam pilar kompetensi yang harus dibangun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Rencana ini menilai kemajuan per pilar, bukan per buku yang selesai</a:t>
            </a:r>
            <a:endParaRPr lang="en-US" sz="1400" dirty="0"/>
          </a:p>
        </p:txBody>
      </p:sp>
      <p:sp>
        <p:nvSpPr>
          <p:cNvPr id="5" name="Shape 3"/>
          <p:cNvSpPr/>
          <p:nvPr/>
        </p:nvSpPr>
        <p:spPr>
          <a:xfrm>
            <a:off x="548640" y="1600200"/>
            <a:ext cx="3520440" cy="2148840"/>
          </a:xfrm>
          <a:prstGeom prst="roundRect">
            <a:avLst>
              <a:gd name="adj" fmla="val 5106"/>
            </a:avLst>
          </a:prstGeom>
          <a:solidFill>
            <a:srgbClr val="F7F9FC"/>
          </a:solidFill>
          <a:ln w="12700">
            <a:solidFill>
              <a:srgbClr val="F7F9FC"/>
            </a:solidFill>
            <a:prstDash val="solid"/>
          </a:ln>
        </p:spPr>
      </p:sp>
      <p:sp>
        <p:nvSpPr>
          <p:cNvPr id="6" name="Shape 4"/>
          <p:cNvSpPr/>
          <p:nvPr/>
        </p:nvSpPr>
        <p:spPr>
          <a:xfrm>
            <a:off x="777240" y="1828800"/>
            <a:ext cx="594360" cy="59436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31774" y="1983334"/>
            <a:ext cx="285293" cy="285293"/>
          </a:xfrm>
          <a:prstGeom prst="rect">
            <a:avLst/>
          </a:prstGeom>
        </p:spPr>
      </p:pic>
      <p:sp>
        <p:nvSpPr>
          <p:cNvPr id="8" name="Text 5"/>
          <p:cNvSpPr txBox="1"/>
          <p:nvPr/>
        </p:nvSpPr>
        <p:spPr>
          <a:xfrm>
            <a:off x="1508760" y="180136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Analisis industri &amp; ekonomi kompetitif</a:t>
            </a:r>
            <a:endParaRPr lang="en-US" sz="1450" dirty="0"/>
          </a:p>
        </p:txBody>
      </p:sp>
      <p:sp>
        <p:nvSpPr>
          <p:cNvPr id="9" name="Text 6"/>
          <p:cNvSpPr txBox="1"/>
          <p:nvPr/>
        </p:nvSpPr>
        <p:spPr>
          <a:xfrm>
            <a:off x="777240" y="260604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Five Forces, rantai nilai, 7 Powers, struktur biaya, sumber keunggulan yang bertahan.</a:t>
            </a:r>
            <a:endParaRPr lang="en-US" sz="1200" dirty="0"/>
          </a:p>
        </p:txBody>
      </p:sp>
      <p:sp>
        <p:nvSpPr>
          <p:cNvPr id="10" name="Shape 7"/>
          <p:cNvSpPr/>
          <p:nvPr/>
        </p:nvSpPr>
        <p:spPr>
          <a:xfrm>
            <a:off x="4297680" y="1600200"/>
            <a:ext cx="3520440" cy="2148840"/>
          </a:xfrm>
          <a:prstGeom prst="roundRect">
            <a:avLst>
              <a:gd name="adj" fmla="val 5106"/>
            </a:avLst>
          </a:prstGeom>
          <a:solidFill>
            <a:srgbClr val="F7F9FC"/>
          </a:solidFill>
          <a:ln w="12700">
            <a:solidFill>
              <a:srgbClr val="F7F9FC"/>
            </a:solidFill>
            <a:prstDash val="solid"/>
          </a:ln>
        </p:spPr>
      </p:sp>
      <p:sp>
        <p:nvSpPr>
          <p:cNvPr id="11" name="Shape 8"/>
          <p:cNvSpPr/>
          <p:nvPr/>
        </p:nvSpPr>
        <p:spPr>
          <a:xfrm>
            <a:off x="4526280" y="1828800"/>
            <a:ext cx="594360" cy="59436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4680814" y="1983334"/>
            <a:ext cx="285293" cy="285293"/>
          </a:xfrm>
          <a:prstGeom prst="rect">
            <a:avLst/>
          </a:prstGeom>
        </p:spPr>
      </p:pic>
      <p:sp>
        <p:nvSpPr>
          <p:cNvPr id="13" name="Text 9"/>
          <p:cNvSpPr txBox="1"/>
          <p:nvPr/>
        </p:nvSpPr>
        <p:spPr>
          <a:xfrm>
            <a:off x="5257800" y="180136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Diagnosis &amp; pemikiran strategis</a:t>
            </a:r>
            <a:endParaRPr lang="en-US" sz="1450" dirty="0"/>
          </a:p>
        </p:txBody>
      </p:sp>
      <p:sp>
        <p:nvSpPr>
          <p:cNvPr id="14" name="Text 10"/>
          <p:cNvSpPr txBox="1"/>
          <p:nvPr/>
        </p:nvSpPr>
        <p:spPr>
          <a:xfrm>
            <a:off x="4526280" y="260604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Menemukan "the crux", memisahkan tujuan dari strategi, berpikir integratif, menolak strategi buruk.</a:t>
            </a:r>
            <a:endParaRPr lang="en-US" sz="1200" dirty="0"/>
          </a:p>
        </p:txBody>
      </p:sp>
      <p:sp>
        <p:nvSpPr>
          <p:cNvPr id="15" name="Shape 11"/>
          <p:cNvSpPr/>
          <p:nvPr/>
        </p:nvSpPr>
        <p:spPr>
          <a:xfrm>
            <a:off x="8046720" y="1600200"/>
            <a:ext cx="3520440" cy="2148840"/>
          </a:xfrm>
          <a:prstGeom prst="roundRect">
            <a:avLst>
              <a:gd name="adj" fmla="val 5106"/>
            </a:avLst>
          </a:prstGeom>
          <a:solidFill>
            <a:srgbClr val="F7F9FC"/>
          </a:solidFill>
          <a:ln w="12700">
            <a:solidFill>
              <a:srgbClr val="F7F9FC"/>
            </a:solidFill>
            <a:prstDash val="solid"/>
          </a:ln>
        </p:spPr>
      </p:sp>
      <p:sp>
        <p:nvSpPr>
          <p:cNvPr id="16" name="Shape 12"/>
          <p:cNvSpPr/>
          <p:nvPr/>
        </p:nvSpPr>
        <p:spPr>
          <a:xfrm>
            <a:off x="8275320" y="1828800"/>
            <a:ext cx="594360" cy="594360"/>
          </a:xfrm>
          <a:prstGeom prst="ellipse">
            <a:avLst/>
          </a:prstGeom>
          <a:solidFill>
            <a:srgbClr val="C9A227"/>
          </a:solidFill>
          <a:ln w="1270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8429854" y="1983334"/>
            <a:ext cx="285293" cy="285293"/>
          </a:xfrm>
          <a:prstGeom prst="rect">
            <a:avLst/>
          </a:prstGeom>
        </p:spPr>
      </p:pic>
      <p:sp>
        <p:nvSpPr>
          <p:cNvPr id="18" name="Text 13"/>
          <p:cNvSpPr txBox="1"/>
          <p:nvPr/>
        </p:nvSpPr>
        <p:spPr>
          <a:xfrm>
            <a:off x="9006840" y="180136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Keuangan &amp; penciptaan nilai</a:t>
            </a:r>
            <a:endParaRPr lang="en-US" sz="1450" dirty="0"/>
          </a:p>
        </p:txBody>
      </p:sp>
      <p:sp>
        <p:nvSpPr>
          <p:cNvPr id="19" name="Text 14"/>
          <p:cNvSpPr txBox="1"/>
          <p:nvPr/>
        </p:nvSpPr>
        <p:spPr>
          <a:xfrm>
            <a:off x="8275320" y="260604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Unit economics, ROIC vs WACC, DCF, membaca laporan keuangan sebagai cerita strategi.</a:t>
            </a:r>
            <a:endParaRPr lang="en-US" sz="1200" dirty="0"/>
          </a:p>
        </p:txBody>
      </p:sp>
      <p:sp>
        <p:nvSpPr>
          <p:cNvPr id="20" name="Shape 15"/>
          <p:cNvSpPr/>
          <p:nvPr/>
        </p:nvSpPr>
        <p:spPr>
          <a:xfrm>
            <a:off x="548640" y="3977640"/>
            <a:ext cx="3520440" cy="2148840"/>
          </a:xfrm>
          <a:prstGeom prst="roundRect">
            <a:avLst>
              <a:gd name="adj" fmla="val 5106"/>
            </a:avLst>
          </a:prstGeom>
          <a:solidFill>
            <a:srgbClr val="F7F9FC"/>
          </a:solidFill>
          <a:ln w="12700">
            <a:solidFill>
              <a:srgbClr val="F7F9FC"/>
            </a:solidFill>
            <a:prstDash val="solid"/>
          </a:ln>
        </p:spPr>
      </p:sp>
      <p:sp>
        <p:nvSpPr>
          <p:cNvPr id="21" name="Shape 16"/>
          <p:cNvSpPr/>
          <p:nvPr/>
        </p:nvSpPr>
        <p:spPr>
          <a:xfrm>
            <a:off x="777240" y="4206240"/>
            <a:ext cx="594360" cy="594360"/>
          </a:xfrm>
          <a:prstGeom prst="ellipse">
            <a:avLst/>
          </a:prstGeom>
          <a:solidFill>
            <a:srgbClr val="C9A227"/>
          </a:solidFill>
          <a:ln w="12700">
            <a:solidFill>
              <a:srgbClr val="C9A227"/>
            </a:solidFill>
            <a:prstDash val="solid"/>
          </a:ln>
        </p:spPr>
      </p:sp>
      <p:pic>
        <p:nvPicPr>
          <p:cNvPr id="22" name="Image 3" descr="preencoded.png">    </p:cNvPr>
          <p:cNvPicPr>
            <a:picLocks noChangeAspect="1"/>
          </p:cNvPicPr>
          <p:nvPr/>
        </p:nvPicPr>
        <p:blipFill>
          <a:blip r:embed="rId4"/>
          <a:stretch>
            <a:fillRect/>
          </a:stretch>
        </p:blipFill>
        <p:spPr>
          <a:xfrm>
            <a:off x="931774" y="4360774"/>
            <a:ext cx="285293" cy="285293"/>
          </a:xfrm>
          <a:prstGeom prst="rect">
            <a:avLst/>
          </a:prstGeom>
        </p:spPr>
      </p:pic>
      <p:sp>
        <p:nvSpPr>
          <p:cNvPr id="23" name="Text 17"/>
          <p:cNvSpPr txBox="1"/>
          <p:nvPr/>
        </p:nvSpPr>
        <p:spPr>
          <a:xfrm>
            <a:off x="1508760" y="417880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Keputusan dalam ketidakpastian</a:t>
            </a:r>
            <a:endParaRPr lang="en-US" sz="1450" dirty="0"/>
          </a:p>
        </p:txBody>
      </p:sp>
      <p:sp>
        <p:nvSpPr>
          <p:cNvPr id="24" name="Text 18"/>
          <p:cNvSpPr txBox="1"/>
          <p:nvPr/>
        </p:nvSpPr>
        <p:spPr>
          <a:xfrm>
            <a:off x="777240" y="498348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Berpikir probabilistik, skenario, teori permainan, kalibrasi prediksi, bias kognitif.</a:t>
            </a:r>
            <a:endParaRPr lang="en-US" sz="1200" dirty="0"/>
          </a:p>
        </p:txBody>
      </p:sp>
      <p:sp>
        <p:nvSpPr>
          <p:cNvPr id="25" name="Shape 19"/>
          <p:cNvSpPr/>
          <p:nvPr/>
        </p:nvSpPr>
        <p:spPr>
          <a:xfrm>
            <a:off x="4297680" y="3977640"/>
            <a:ext cx="3520440" cy="2148840"/>
          </a:xfrm>
          <a:prstGeom prst="roundRect">
            <a:avLst>
              <a:gd name="adj" fmla="val 5106"/>
            </a:avLst>
          </a:prstGeom>
          <a:solidFill>
            <a:srgbClr val="F7F9FC"/>
          </a:solidFill>
          <a:ln w="12700">
            <a:solidFill>
              <a:srgbClr val="F7F9FC"/>
            </a:solidFill>
            <a:prstDash val="solid"/>
          </a:ln>
        </p:spPr>
      </p:sp>
      <p:sp>
        <p:nvSpPr>
          <p:cNvPr id="26" name="Shape 20"/>
          <p:cNvSpPr/>
          <p:nvPr/>
        </p:nvSpPr>
        <p:spPr>
          <a:xfrm>
            <a:off x="4526280" y="4206240"/>
            <a:ext cx="594360" cy="594360"/>
          </a:xfrm>
          <a:prstGeom prst="ellipse">
            <a:avLst/>
          </a:prstGeom>
          <a:solidFill>
            <a:srgbClr val="C9A227"/>
          </a:solidFill>
          <a:ln w="12700">
            <a:solidFill>
              <a:srgbClr val="C9A227"/>
            </a:solidFill>
            <a:prstDash val="solid"/>
          </a:ln>
        </p:spPr>
      </p:sp>
      <p:pic>
        <p:nvPicPr>
          <p:cNvPr id="27" name="Image 4" descr="preencoded.png">    </p:cNvPr>
          <p:cNvPicPr>
            <a:picLocks noChangeAspect="1"/>
          </p:cNvPicPr>
          <p:nvPr/>
        </p:nvPicPr>
        <p:blipFill>
          <a:blip r:embed="rId5"/>
          <a:stretch>
            <a:fillRect/>
          </a:stretch>
        </p:blipFill>
        <p:spPr>
          <a:xfrm>
            <a:off x="4680814" y="4360774"/>
            <a:ext cx="285293" cy="285293"/>
          </a:xfrm>
          <a:prstGeom prst="rect">
            <a:avLst/>
          </a:prstGeom>
        </p:spPr>
      </p:pic>
      <p:sp>
        <p:nvSpPr>
          <p:cNvPr id="28" name="Text 21"/>
          <p:cNvSpPr txBox="1"/>
          <p:nvPr/>
        </p:nvSpPr>
        <p:spPr>
          <a:xfrm>
            <a:off x="5257800" y="417880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Eksekusi &amp; organisasi</a:t>
            </a:r>
            <a:endParaRPr lang="en-US" sz="1450" dirty="0"/>
          </a:p>
        </p:txBody>
      </p:sp>
      <p:sp>
        <p:nvSpPr>
          <p:cNvPr id="29" name="Text 22"/>
          <p:cNvSpPr txBox="1"/>
          <p:nvPr/>
        </p:nvSpPr>
        <p:spPr>
          <a:xfrm>
            <a:off x="4526280" y="498348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OKR, desain struktur, insentif, budaya, manajemen perubahan. Strategi tanpa ini hanya slide.</a:t>
            </a:r>
            <a:endParaRPr lang="en-US" sz="1200" dirty="0"/>
          </a:p>
        </p:txBody>
      </p:sp>
      <p:sp>
        <p:nvSpPr>
          <p:cNvPr id="30" name="Shape 23"/>
          <p:cNvSpPr/>
          <p:nvPr/>
        </p:nvSpPr>
        <p:spPr>
          <a:xfrm>
            <a:off x="8046720" y="3977640"/>
            <a:ext cx="3520440" cy="2148840"/>
          </a:xfrm>
          <a:prstGeom prst="roundRect">
            <a:avLst>
              <a:gd name="adj" fmla="val 5106"/>
            </a:avLst>
          </a:prstGeom>
          <a:solidFill>
            <a:srgbClr val="F7F9FC"/>
          </a:solidFill>
          <a:ln w="12700">
            <a:solidFill>
              <a:srgbClr val="F7F9FC"/>
            </a:solidFill>
            <a:prstDash val="solid"/>
          </a:ln>
        </p:spPr>
      </p:sp>
      <p:sp>
        <p:nvSpPr>
          <p:cNvPr id="31" name="Shape 24"/>
          <p:cNvSpPr/>
          <p:nvPr/>
        </p:nvSpPr>
        <p:spPr>
          <a:xfrm>
            <a:off x="8275320" y="4206240"/>
            <a:ext cx="594360" cy="594360"/>
          </a:xfrm>
          <a:prstGeom prst="ellipse">
            <a:avLst/>
          </a:prstGeom>
          <a:solidFill>
            <a:srgbClr val="C9A227"/>
          </a:solidFill>
          <a:ln w="12700">
            <a:solidFill>
              <a:srgbClr val="C9A227"/>
            </a:solidFill>
            <a:prstDash val="solid"/>
          </a:ln>
        </p:spPr>
      </p:sp>
      <p:pic>
        <p:nvPicPr>
          <p:cNvPr id="32" name="Image 5" descr="preencoded.png">    </p:cNvPr>
          <p:cNvPicPr>
            <a:picLocks noChangeAspect="1"/>
          </p:cNvPicPr>
          <p:nvPr/>
        </p:nvPicPr>
        <p:blipFill>
          <a:blip r:embed="rId6"/>
          <a:stretch>
            <a:fillRect/>
          </a:stretch>
        </p:blipFill>
        <p:spPr>
          <a:xfrm>
            <a:off x="8429854" y="4360774"/>
            <a:ext cx="285293" cy="285293"/>
          </a:xfrm>
          <a:prstGeom prst="rect">
            <a:avLst/>
          </a:prstGeom>
        </p:spPr>
      </p:pic>
      <p:sp>
        <p:nvSpPr>
          <p:cNvPr id="33" name="Text 25"/>
          <p:cNvSpPr txBox="1"/>
          <p:nvPr/>
        </p:nvSpPr>
        <p:spPr>
          <a:xfrm>
            <a:off x="9006840" y="4178808"/>
            <a:ext cx="2377440" cy="685800"/>
          </a:xfrm>
          <a:prstGeom prst="rect">
            <a:avLst/>
          </a:prstGeom>
          <a:noFill/>
          <a:ln/>
        </p:spPr>
        <p:txBody>
          <a:bodyPr wrap="square" lIns="0" tIns="0" rIns="0" bIns="0" rtlCol="0" anchor="ctr"/>
          <a:lstStyle/>
          <a:p>
            <a:pPr indent="0" marL="0">
              <a:buNone/>
            </a:pPr>
            <a:r>
              <a:rPr lang="en-US" sz="1450" b="1" dirty="0">
                <a:solidFill>
                  <a:srgbClr val="12213A"/>
                </a:solidFill>
                <a:latin typeface="Cambria" pitchFamily="34" charset="0"/>
                <a:ea typeface="Cambria" pitchFamily="34" charset="-122"/>
                <a:cs typeface="Cambria" pitchFamily="34" charset="-120"/>
              </a:rPr>
              <a:t>Komunikasi &amp; persuasi</a:t>
            </a:r>
            <a:endParaRPr lang="en-US" sz="1450" dirty="0"/>
          </a:p>
        </p:txBody>
      </p:sp>
      <p:sp>
        <p:nvSpPr>
          <p:cNvPr id="34" name="Text 26"/>
          <p:cNvSpPr txBox="1"/>
          <p:nvPr/>
        </p:nvSpPr>
        <p:spPr>
          <a:xfrm>
            <a:off x="8275320" y="4983480"/>
            <a:ext cx="3063240" cy="10515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Pyramid Principle, memo satu halaman, presentasi untuk direksi, mengelola pemangku kepentingan.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Peta jalan 24 bulan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Empat fase berurutan, tiap fase punya buku, latihan, dan output yang bisa diukur</a:t>
            </a:r>
            <a:endParaRPr lang="en-US" sz="1400" dirty="0"/>
          </a:p>
        </p:txBody>
      </p:sp>
      <p:sp>
        <p:nvSpPr>
          <p:cNvPr id="5" name="Shape 3"/>
          <p:cNvSpPr/>
          <p:nvPr/>
        </p:nvSpPr>
        <p:spPr>
          <a:xfrm>
            <a:off x="1188720" y="2606040"/>
            <a:ext cx="9814255" cy="0"/>
          </a:xfrm>
          <a:prstGeom prst="line">
            <a:avLst/>
          </a:prstGeom>
          <a:noFill/>
          <a:ln w="25400">
            <a:solidFill>
              <a:srgbClr val="D6DCE6"/>
            </a:solidFill>
            <a:prstDash val="solid"/>
          </a:ln>
        </p:spPr>
      </p:sp>
      <p:sp>
        <p:nvSpPr>
          <p:cNvPr id="6" name="Shape 4"/>
          <p:cNvSpPr/>
          <p:nvPr/>
        </p:nvSpPr>
        <p:spPr>
          <a:xfrm>
            <a:off x="1417320" y="2148840"/>
            <a:ext cx="914400" cy="914400"/>
          </a:xfrm>
          <a:prstGeom prst="ellipse">
            <a:avLst/>
          </a:prstGeom>
          <a:solidFill>
            <a:srgbClr val="12213A"/>
          </a:solidFill>
          <a:ln w="12700">
            <a:solidFill>
              <a:srgbClr val="12213A"/>
            </a:solidFill>
            <a:prstDash val="solid"/>
          </a:ln>
        </p:spPr>
      </p:sp>
      <p:pic>
        <p:nvPicPr>
          <p:cNvPr id="7" name="Image 0" descr="preencoded.png">    </p:cNvPr>
          <p:cNvPicPr>
            <a:picLocks noChangeAspect="1"/>
          </p:cNvPicPr>
          <p:nvPr/>
        </p:nvPicPr>
        <p:blipFill>
          <a:blip r:embed="rId1"/>
          <a:stretch>
            <a:fillRect/>
          </a:stretch>
        </p:blipFill>
        <p:spPr>
          <a:xfrm>
            <a:off x="1655064" y="2386584"/>
            <a:ext cx="438912" cy="438912"/>
          </a:xfrm>
          <a:prstGeom prst="rect">
            <a:avLst/>
          </a:prstGeom>
        </p:spPr>
      </p:pic>
      <p:sp>
        <p:nvSpPr>
          <p:cNvPr id="8" name="Text 5"/>
          <p:cNvSpPr txBox="1"/>
          <p:nvPr/>
        </p:nvSpPr>
        <p:spPr>
          <a:xfrm>
            <a:off x="548640" y="1600200"/>
            <a:ext cx="2651760" cy="36576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Bulan 1–6</a:t>
            </a:r>
            <a:endParaRPr lang="en-US" sz="1200" dirty="0"/>
          </a:p>
        </p:txBody>
      </p:sp>
      <p:sp>
        <p:nvSpPr>
          <p:cNvPr id="9" name="Text 6"/>
          <p:cNvSpPr txBox="1"/>
          <p:nvPr/>
        </p:nvSpPr>
        <p:spPr>
          <a:xfrm>
            <a:off x="548640" y="3200400"/>
            <a:ext cx="2651760" cy="685800"/>
          </a:xfrm>
          <a:prstGeom prst="rect">
            <a:avLst/>
          </a:prstGeom>
          <a:noFill/>
          <a:ln/>
        </p:spPr>
        <p:txBody>
          <a:bodyPr wrap="square" lIns="0" tIns="0" rIns="0" bIns="0" rtlCol="0" anchor="t"/>
          <a:lstStyle/>
          <a:p>
            <a:pPr algn="ctr" indent="0" marL="0">
              <a:buNone/>
            </a:pPr>
            <a:r>
              <a:rPr lang="en-US" sz="1600" b="1" dirty="0">
                <a:solidFill>
                  <a:srgbClr val="12213A"/>
                </a:solidFill>
                <a:latin typeface="Cambria" pitchFamily="34" charset="0"/>
                <a:ea typeface="Cambria" pitchFamily="34" charset="-122"/>
                <a:cs typeface="Cambria" pitchFamily="34" charset="-120"/>
              </a:rPr>
              <a:t>Fase 1: Fondasi</a:t>
            </a:r>
            <a:endParaRPr lang="en-US" sz="1600" dirty="0"/>
          </a:p>
        </p:txBody>
      </p:sp>
      <p:sp>
        <p:nvSpPr>
          <p:cNvPr id="10" name="Text 7"/>
          <p:cNvSpPr txBox="1"/>
          <p:nvPr/>
        </p:nvSpPr>
        <p:spPr>
          <a:xfrm>
            <a:off x="685800" y="3886200"/>
            <a:ext cx="2377440" cy="10972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Menguasai bahasa dan kernel strategi. Mulai kebiasaan menulis memo.</a:t>
            </a:r>
            <a:endParaRPr lang="en-US" sz="1200" dirty="0"/>
          </a:p>
        </p:txBody>
      </p:sp>
      <p:sp>
        <p:nvSpPr>
          <p:cNvPr id="11" name="Shape 8"/>
          <p:cNvSpPr/>
          <p:nvPr/>
        </p:nvSpPr>
        <p:spPr>
          <a:xfrm>
            <a:off x="4233672" y="2148840"/>
            <a:ext cx="914400" cy="914400"/>
          </a:xfrm>
          <a:prstGeom prst="ellipse">
            <a:avLst/>
          </a:prstGeom>
          <a:solidFill>
            <a:srgbClr val="12213A"/>
          </a:solidFill>
          <a:ln w="12700">
            <a:solidFill>
              <a:srgbClr val="12213A"/>
            </a:solidFill>
            <a:prstDash val="solid"/>
          </a:ln>
        </p:spPr>
      </p:sp>
      <p:pic>
        <p:nvPicPr>
          <p:cNvPr id="12" name="Image 1" descr="preencoded.png">    </p:cNvPr>
          <p:cNvPicPr>
            <a:picLocks noChangeAspect="1"/>
          </p:cNvPicPr>
          <p:nvPr/>
        </p:nvPicPr>
        <p:blipFill>
          <a:blip r:embed="rId2"/>
          <a:stretch>
            <a:fillRect/>
          </a:stretch>
        </p:blipFill>
        <p:spPr>
          <a:xfrm>
            <a:off x="4471416" y="2386584"/>
            <a:ext cx="438912" cy="438912"/>
          </a:xfrm>
          <a:prstGeom prst="rect">
            <a:avLst/>
          </a:prstGeom>
        </p:spPr>
      </p:pic>
      <p:sp>
        <p:nvSpPr>
          <p:cNvPr id="13" name="Text 9"/>
          <p:cNvSpPr txBox="1"/>
          <p:nvPr/>
        </p:nvSpPr>
        <p:spPr>
          <a:xfrm>
            <a:off x="3364992" y="1600200"/>
            <a:ext cx="2651760" cy="36576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Bulan 7–12</a:t>
            </a:r>
            <a:endParaRPr lang="en-US" sz="1200" dirty="0"/>
          </a:p>
        </p:txBody>
      </p:sp>
      <p:sp>
        <p:nvSpPr>
          <p:cNvPr id="14" name="Text 10"/>
          <p:cNvSpPr txBox="1"/>
          <p:nvPr/>
        </p:nvSpPr>
        <p:spPr>
          <a:xfrm>
            <a:off x="3364992" y="3200400"/>
            <a:ext cx="2651760" cy="685800"/>
          </a:xfrm>
          <a:prstGeom prst="rect">
            <a:avLst/>
          </a:prstGeom>
          <a:noFill/>
          <a:ln/>
        </p:spPr>
        <p:txBody>
          <a:bodyPr wrap="square" lIns="0" tIns="0" rIns="0" bIns="0" rtlCol="0" anchor="t"/>
          <a:lstStyle/>
          <a:p>
            <a:pPr algn="ctr" indent="0" marL="0">
              <a:buNone/>
            </a:pPr>
            <a:r>
              <a:rPr lang="en-US" sz="1600" b="1" dirty="0">
                <a:solidFill>
                  <a:srgbClr val="12213A"/>
                </a:solidFill>
                <a:latin typeface="Cambria" pitchFamily="34" charset="0"/>
                <a:ea typeface="Cambria" pitchFamily="34" charset="-122"/>
                <a:cs typeface="Cambria" pitchFamily="34" charset="-120"/>
              </a:rPr>
              <a:t>Fase 2: Pendalaman</a:t>
            </a:r>
            <a:endParaRPr lang="en-US" sz="1600" dirty="0"/>
          </a:p>
        </p:txBody>
      </p:sp>
      <p:sp>
        <p:nvSpPr>
          <p:cNvPr id="15" name="Text 11"/>
          <p:cNvSpPr txBox="1"/>
          <p:nvPr/>
        </p:nvSpPr>
        <p:spPr>
          <a:xfrm>
            <a:off x="3502152" y="3886200"/>
            <a:ext cx="2377440" cy="10972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Ekonomi kompetitif, keuangan, dan cara berpikir probabilistik.</a:t>
            </a:r>
            <a:endParaRPr lang="en-US" sz="1200" dirty="0"/>
          </a:p>
        </p:txBody>
      </p:sp>
      <p:sp>
        <p:nvSpPr>
          <p:cNvPr id="16" name="Shape 12"/>
          <p:cNvSpPr/>
          <p:nvPr/>
        </p:nvSpPr>
        <p:spPr>
          <a:xfrm>
            <a:off x="7050024" y="2148840"/>
            <a:ext cx="914400" cy="914400"/>
          </a:xfrm>
          <a:prstGeom prst="ellipse">
            <a:avLst/>
          </a:prstGeom>
          <a:solidFill>
            <a:srgbClr val="12213A"/>
          </a:solidFill>
          <a:ln w="12700">
            <a:solidFill>
              <a:srgbClr val="12213A"/>
            </a:solidFill>
            <a:prstDash val="solid"/>
          </a:ln>
        </p:spPr>
      </p:sp>
      <p:pic>
        <p:nvPicPr>
          <p:cNvPr id="17" name="Image 2" descr="preencoded.png">    </p:cNvPr>
          <p:cNvPicPr>
            <a:picLocks noChangeAspect="1"/>
          </p:cNvPicPr>
          <p:nvPr/>
        </p:nvPicPr>
        <p:blipFill>
          <a:blip r:embed="rId3"/>
          <a:stretch>
            <a:fillRect/>
          </a:stretch>
        </p:blipFill>
        <p:spPr>
          <a:xfrm>
            <a:off x="7287768" y="2386584"/>
            <a:ext cx="438912" cy="438912"/>
          </a:xfrm>
          <a:prstGeom prst="rect">
            <a:avLst/>
          </a:prstGeom>
        </p:spPr>
      </p:pic>
      <p:sp>
        <p:nvSpPr>
          <p:cNvPr id="18" name="Text 13"/>
          <p:cNvSpPr txBox="1"/>
          <p:nvPr/>
        </p:nvSpPr>
        <p:spPr>
          <a:xfrm>
            <a:off x="6181344" y="1600200"/>
            <a:ext cx="2651760" cy="36576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Bulan 13–18</a:t>
            </a:r>
            <a:endParaRPr lang="en-US" sz="1200" dirty="0"/>
          </a:p>
        </p:txBody>
      </p:sp>
      <p:sp>
        <p:nvSpPr>
          <p:cNvPr id="19" name="Text 14"/>
          <p:cNvSpPr txBox="1"/>
          <p:nvPr/>
        </p:nvSpPr>
        <p:spPr>
          <a:xfrm>
            <a:off x="6181344" y="3200400"/>
            <a:ext cx="2651760" cy="685800"/>
          </a:xfrm>
          <a:prstGeom prst="rect">
            <a:avLst/>
          </a:prstGeom>
          <a:noFill/>
          <a:ln/>
        </p:spPr>
        <p:txBody>
          <a:bodyPr wrap="square" lIns="0" tIns="0" rIns="0" bIns="0" rtlCol="0" anchor="t"/>
          <a:lstStyle/>
          <a:p>
            <a:pPr algn="ctr" indent="0" marL="0">
              <a:buNone/>
            </a:pPr>
            <a:r>
              <a:rPr lang="en-US" sz="1600" b="1" dirty="0">
                <a:solidFill>
                  <a:srgbClr val="12213A"/>
                </a:solidFill>
                <a:latin typeface="Cambria" pitchFamily="34" charset="0"/>
                <a:ea typeface="Cambria" pitchFamily="34" charset="-122"/>
                <a:cs typeface="Cambria" pitchFamily="34" charset="-120"/>
              </a:rPr>
              <a:t>Fase 3: Aplikasi</a:t>
            </a:r>
            <a:endParaRPr lang="en-US" sz="1600" dirty="0"/>
          </a:p>
        </p:txBody>
      </p:sp>
      <p:sp>
        <p:nvSpPr>
          <p:cNvPr id="20" name="Text 15"/>
          <p:cNvSpPr txBox="1"/>
          <p:nvPr/>
        </p:nvSpPr>
        <p:spPr>
          <a:xfrm>
            <a:off x="6318504" y="3886200"/>
            <a:ext cx="2377440" cy="10972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Kasus nyata, kompetisi kasus, proyek konsultasi, magang strategi.</a:t>
            </a:r>
            <a:endParaRPr lang="en-US" sz="1200" dirty="0"/>
          </a:p>
        </p:txBody>
      </p:sp>
      <p:sp>
        <p:nvSpPr>
          <p:cNvPr id="21" name="Shape 16"/>
          <p:cNvSpPr/>
          <p:nvPr/>
        </p:nvSpPr>
        <p:spPr>
          <a:xfrm>
            <a:off x="9866376" y="2148840"/>
            <a:ext cx="914400" cy="914400"/>
          </a:xfrm>
          <a:prstGeom prst="ellipse">
            <a:avLst/>
          </a:prstGeom>
          <a:solidFill>
            <a:srgbClr val="C9A227"/>
          </a:solidFill>
          <a:ln w="12700">
            <a:solidFill>
              <a:srgbClr val="C9A227"/>
            </a:solidFill>
            <a:prstDash val="solid"/>
          </a:ln>
        </p:spPr>
      </p:sp>
      <p:pic>
        <p:nvPicPr>
          <p:cNvPr id="22" name="Image 3" descr="preencoded.png">    </p:cNvPr>
          <p:cNvPicPr>
            <a:picLocks noChangeAspect="1"/>
          </p:cNvPicPr>
          <p:nvPr/>
        </p:nvPicPr>
        <p:blipFill>
          <a:blip r:embed="rId4"/>
          <a:stretch>
            <a:fillRect/>
          </a:stretch>
        </p:blipFill>
        <p:spPr>
          <a:xfrm>
            <a:off x="10104120" y="2386584"/>
            <a:ext cx="438912" cy="438912"/>
          </a:xfrm>
          <a:prstGeom prst="rect">
            <a:avLst/>
          </a:prstGeom>
        </p:spPr>
      </p:pic>
      <p:sp>
        <p:nvSpPr>
          <p:cNvPr id="23" name="Text 17"/>
          <p:cNvSpPr txBox="1"/>
          <p:nvPr/>
        </p:nvSpPr>
        <p:spPr>
          <a:xfrm>
            <a:off x="8997696" y="1600200"/>
            <a:ext cx="2651760" cy="365760"/>
          </a:xfrm>
          <a:prstGeom prst="rect">
            <a:avLst/>
          </a:prstGeom>
          <a:noFill/>
          <a:ln/>
        </p:spPr>
        <p:txBody>
          <a:bodyPr wrap="square" lIns="0" tIns="0" rIns="0" bIns="0" rtlCol="0" anchor="ctr"/>
          <a:lstStyle/>
          <a:p>
            <a:pPr algn="ctr" indent="0" marL="0">
              <a:buNone/>
            </a:pPr>
            <a:r>
              <a:rPr lang="en-US" sz="1200" b="1" dirty="0">
                <a:solidFill>
                  <a:srgbClr val="6B7280"/>
                </a:solidFill>
                <a:latin typeface="Calibri" pitchFamily="34" charset="0"/>
                <a:ea typeface="Calibri" pitchFamily="34" charset="-122"/>
                <a:cs typeface="Calibri" pitchFamily="34" charset="-120"/>
              </a:rPr>
              <a:t>Bulan 19–24</a:t>
            </a:r>
            <a:endParaRPr lang="en-US" sz="1200" dirty="0"/>
          </a:p>
        </p:txBody>
      </p:sp>
      <p:sp>
        <p:nvSpPr>
          <p:cNvPr id="24" name="Text 18"/>
          <p:cNvSpPr txBox="1"/>
          <p:nvPr/>
        </p:nvSpPr>
        <p:spPr>
          <a:xfrm>
            <a:off x="8997696" y="3200400"/>
            <a:ext cx="2651760" cy="685800"/>
          </a:xfrm>
          <a:prstGeom prst="rect">
            <a:avLst/>
          </a:prstGeom>
          <a:noFill/>
          <a:ln/>
        </p:spPr>
        <p:txBody>
          <a:bodyPr wrap="square" lIns="0" tIns="0" rIns="0" bIns="0" rtlCol="0" anchor="t"/>
          <a:lstStyle/>
          <a:p>
            <a:pPr algn="ctr" indent="0" marL="0">
              <a:buNone/>
            </a:pPr>
            <a:r>
              <a:rPr lang="en-US" sz="1600" b="1" dirty="0">
                <a:solidFill>
                  <a:srgbClr val="12213A"/>
                </a:solidFill>
                <a:latin typeface="Cambria" pitchFamily="34" charset="0"/>
                <a:ea typeface="Cambria" pitchFamily="34" charset="-122"/>
                <a:cs typeface="Cambria" pitchFamily="34" charset="-120"/>
              </a:rPr>
              <a:t>Fase 4: Spesialisasi &amp; portofolio</a:t>
            </a:r>
            <a:endParaRPr lang="en-US" sz="1600" dirty="0"/>
          </a:p>
        </p:txBody>
      </p:sp>
      <p:sp>
        <p:nvSpPr>
          <p:cNvPr id="25" name="Text 19"/>
          <p:cNvSpPr txBox="1"/>
          <p:nvPr/>
        </p:nvSpPr>
        <p:spPr>
          <a:xfrm>
            <a:off x="9134856" y="3886200"/>
            <a:ext cx="2377440" cy="109728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Pilih arena, bangun bukti kerja, tesis yang dipakai orang.</a:t>
            </a:r>
            <a:endParaRPr lang="en-US" sz="1200" dirty="0"/>
          </a:p>
        </p:txBody>
      </p:sp>
      <p:sp>
        <p:nvSpPr>
          <p:cNvPr id="26" name="Shape 20"/>
          <p:cNvSpPr/>
          <p:nvPr/>
        </p:nvSpPr>
        <p:spPr>
          <a:xfrm>
            <a:off x="548640" y="5212080"/>
            <a:ext cx="11064240" cy="1051560"/>
          </a:xfrm>
          <a:prstGeom prst="roundRect">
            <a:avLst>
              <a:gd name="adj" fmla="val 10435"/>
            </a:avLst>
          </a:prstGeom>
          <a:solidFill>
            <a:srgbClr val="EEF2F8"/>
          </a:solidFill>
          <a:ln w="12700">
            <a:solidFill>
              <a:srgbClr val="EEF2F8"/>
            </a:solidFill>
            <a:prstDash val="solid"/>
          </a:ln>
        </p:spPr>
      </p:sp>
      <p:sp>
        <p:nvSpPr>
          <p:cNvPr id="27" name="Text 21"/>
          <p:cNvSpPr txBox="1"/>
          <p:nvPr/>
        </p:nvSpPr>
        <p:spPr>
          <a:xfrm>
            <a:off x="822960" y="5303520"/>
            <a:ext cx="10515600" cy="86868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Beban yang realistis:  </a:t>
            </a:r>
            <a:pPr indent="0" marL="0">
              <a:buNone/>
            </a:pPr>
            <a:r>
              <a:rPr lang="en-US" sz="1300" dirty="0">
                <a:solidFill>
                  <a:srgbClr val="1F2937"/>
                </a:solidFill>
                <a:latin typeface="Calibri" pitchFamily="34" charset="0"/>
                <a:ea typeface="Calibri" pitchFamily="34" charset="-122"/>
                <a:cs typeface="Calibri" pitchFamily="34" charset="-120"/>
              </a:rPr>
              <a:t>10–12 jam per minggu di luar kuliah. Sekitar 1 judul per bulan (22 judul dalam 24 bulan, 15 di antaranya wajib), 1 memo strategi tiap 2 minggu, 1 proyek nyata per semester. Kalau jadwal kerja Anda padat, potong buku opsional dulu, jangan potong latihan menulis.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Fase 1 · Fondasi</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Bulan 1–6  ·  menguasai bahasa strategi dan kebiasaan menulis</a:t>
            </a:r>
            <a:endParaRPr lang="en-US" sz="1400" dirty="0"/>
          </a:p>
        </p:txBody>
      </p:sp>
      <p:sp>
        <p:nvSpPr>
          <p:cNvPr id="5" name="Shape 3"/>
          <p:cNvSpPr/>
          <p:nvPr/>
        </p:nvSpPr>
        <p:spPr>
          <a:xfrm>
            <a:off x="548640" y="1600200"/>
            <a:ext cx="3520440" cy="4160520"/>
          </a:xfrm>
          <a:prstGeom prst="roundRect">
            <a:avLst>
              <a:gd name="adj" fmla="val 3117"/>
            </a:avLst>
          </a:prstGeom>
          <a:solidFill>
            <a:srgbClr val="F7F9FC"/>
          </a:solidFill>
          <a:ln w="12700">
            <a:solidFill>
              <a:srgbClr val="F7F9FC"/>
            </a:solidFill>
            <a:prstDash val="solid"/>
          </a:ln>
        </p:spPr>
      </p:sp>
      <p:sp>
        <p:nvSpPr>
          <p:cNvPr id="6" name="Shape 4"/>
          <p:cNvSpPr/>
          <p:nvPr/>
        </p:nvSpPr>
        <p:spPr>
          <a:xfrm>
            <a:off x="777240" y="1783080"/>
            <a:ext cx="502920" cy="50292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07999" y="1913839"/>
            <a:ext cx="241402" cy="241402"/>
          </a:xfrm>
          <a:prstGeom prst="rect">
            <a:avLst/>
          </a:prstGeom>
        </p:spPr>
      </p:pic>
      <p:sp>
        <p:nvSpPr>
          <p:cNvPr id="8" name="Text 5"/>
          <p:cNvSpPr txBox="1"/>
          <p:nvPr/>
        </p:nvSpPr>
        <p:spPr>
          <a:xfrm>
            <a:off x="141732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Bacaan</a:t>
            </a:r>
            <a:endParaRPr lang="en-US" sz="1400" dirty="0"/>
          </a:p>
        </p:txBody>
      </p:sp>
      <p:sp>
        <p:nvSpPr>
          <p:cNvPr id="9" name="Text 6"/>
          <p:cNvSpPr txBox="1"/>
          <p:nvPr/>
        </p:nvSpPr>
        <p:spPr>
          <a:xfrm>
            <a:off x="77724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Rumelt, Good Strategy/Bad Strategy (wajib, baca pertama)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Lafley &amp; Martin, Playing to Win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Porter, artikel HBR "What Is Strategy?" dan "The Five Competitive Forces"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Grant, Contemporary Strategy Analysis (buku teks pendamping, baca bab sesuai kuliah)</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Sun Tzu, The Art of War (opsional, gratis, untuk cara berpikir, bukan framework)</a:t>
            </a:r>
            <a:endParaRPr lang="en-US" sz="1150" dirty="0"/>
          </a:p>
        </p:txBody>
      </p:sp>
      <p:sp>
        <p:nvSpPr>
          <p:cNvPr id="10" name="Shape 7"/>
          <p:cNvSpPr/>
          <p:nvPr/>
        </p:nvSpPr>
        <p:spPr>
          <a:xfrm>
            <a:off x="4297680" y="1600200"/>
            <a:ext cx="3520440" cy="4160520"/>
          </a:xfrm>
          <a:prstGeom prst="roundRect">
            <a:avLst>
              <a:gd name="adj" fmla="val 3117"/>
            </a:avLst>
          </a:prstGeom>
          <a:solidFill>
            <a:srgbClr val="F7F9FC"/>
          </a:solidFill>
          <a:ln w="12700">
            <a:solidFill>
              <a:srgbClr val="F7F9FC"/>
            </a:solidFill>
            <a:prstDash val="solid"/>
          </a:ln>
        </p:spPr>
      </p:sp>
      <p:sp>
        <p:nvSpPr>
          <p:cNvPr id="11" name="Shape 8"/>
          <p:cNvSpPr/>
          <p:nvPr/>
        </p:nvSpPr>
        <p:spPr>
          <a:xfrm>
            <a:off x="4526280" y="1783080"/>
            <a:ext cx="502920" cy="50292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4657039" y="1913839"/>
            <a:ext cx="241402" cy="241402"/>
          </a:xfrm>
          <a:prstGeom prst="rect">
            <a:avLst/>
          </a:prstGeom>
        </p:spPr>
      </p:pic>
      <p:sp>
        <p:nvSpPr>
          <p:cNvPr id="13" name="Text 9"/>
          <p:cNvSpPr txBox="1"/>
          <p:nvPr/>
        </p:nvSpPr>
        <p:spPr>
          <a:xfrm>
            <a:off x="516636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Latihan (deliberate practice)</a:t>
            </a:r>
            <a:endParaRPr lang="en-US" sz="1400" dirty="0"/>
          </a:p>
        </p:txBody>
      </p:sp>
      <p:sp>
        <p:nvSpPr>
          <p:cNvPr id="14" name="Text 10"/>
          <p:cNvSpPr txBox="1"/>
          <p:nvPr/>
        </p:nvSpPr>
        <p:spPr>
          <a:xfrm>
            <a:off x="452628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Tiap 2 minggu: memo strategi 1 halaman tentang 1 emiten IDX (diagnosis, kebijakan pengarah, aksi koheren)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Tiap memo: minta 1 orang mengkritik (dosen, senior, praktisi)</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Terapkan 5 pilihan Playing to Win ke perusahaan tempat Anda bekerja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Buat "kamus strategi buruk": kumpulkan contoh nyata dari berita (target tanpa strategi, fluff, jargon)</a:t>
            </a:r>
            <a:endParaRPr lang="en-US" sz="1150" dirty="0"/>
          </a:p>
        </p:txBody>
      </p:sp>
      <p:sp>
        <p:nvSpPr>
          <p:cNvPr id="15" name="Shape 11"/>
          <p:cNvSpPr/>
          <p:nvPr/>
        </p:nvSpPr>
        <p:spPr>
          <a:xfrm>
            <a:off x="8046720" y="1600200"/>
            <a:ext cx="3520440" cy="4160520"/>
          </a:xfrm>
          <a:prstGeom prst="roundRect">
            <a:avLst>
              <a:gd name="adj" fmla="val 3117"/>
            </a:avLst>
          </a:prstGeom>
          <a:solidFill>
            <a:srgbClr val="EEF2F8"/>
          </a:solidFill>
          <a:ln w="12700">
            <a:solidFill>
              <a:srgbClr val="EEF2F8"/>
            </a:solidFill>
            <a:prstDash val="solid"/>
          </a:ln>
        </p:spPr>
      </p:sp>
      <p:sp>
        <p:nvSpPr>
          <p:cNvPr id="16" name="Shape 12"/>
          <p:cNvSpPr/>
          <p:nvPr/>
        </p:nvSpPr>
        <p:spPr>
          <a:xfrm>
            <a:off x="8275320" y="1783080"/>
            <a:ext cx="502920" cy="502920"/>
          </a:xfrm>
          <a:prstGeom prst="ellipse">
            <a:avLst/>
          </a:prstGeom>
          <a:solidFill>
            <a:srgbClr val="C9A227"/>
          </a:solidFill>
          <a:ln w="1270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8406079" y="1913839"/>
            <a:ext cx="241402" cy="241402"/>
          </a:xfrm>
          <a:prstGeom prst="rect">
            <a:avLst/>
          </a:prstGeom>
        </p:spPr>
      </p:pic>
      <p:sp>
        <p:nvSpPr>
          <p:cNvPr id="18" name="Text 13"/>
          <p:cNvSpPr txBox="1"/>
          <p:nvPr/>
        </p:nvSpPr>
        <p:spPr>
          <a:xfrm>
            <a:off x="891540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Output terukur di akhir fase</a:t>
            </a:r>
            <a:endParaRPr lang="en-US" sz="1400" dirty="0"/>
          </a:p>
        </p:txBody>
      </p:sp>
      <p:sp>
        <p:nvSpPr>
          <p:cNvPr id="19" name="Text 14"/>
          <p:cNvSpPr txBox="1"/>
          <p:nvPr/>
        </p:nvSpPr>
        <p:spPr>
          <a:xfrm>
            <a:off x="827532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12 memo strategi tersimpan di 1 folder, dengan komentar reviewer</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1 analisis industri lengkap (Five Forces + rantai nilai) untuk industri Indonesia pilihan Anda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Bisa menjelaskan perbedaan strategi vs. tujuan vs. rencana dalam 2 menit tanpa catatan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Reading log: 4–5 buku selesai</a:t>
            </a:r>
            <a:endParaRPr lang="en-US" sz="1150" dirty="0"/>
          </a:p>
        </p:txBody>
      </p:sp>
      <p:sp>
        <p:nvSpPr>
          <p:cNvPr id="20" name="Text 15"/>
          <p:cNvSpPr txBox="1"/>
          <p:nvPr/>
        </p:nvSpPr>
        <p:spPr>
          <a:xfrm>
            <a:off x="548640" y="5897880"/>
            <a:ext cx="11064240" cy="548640"/>
          </a:xfrm>
          <a:prstGeom prst="rect">
            <a:avLst/>
          </a:prstGeom>
          <a:noFill/>
          <a:ln/>
        </p:spPr>
        <p:txBody>
          <a:bodyPr wrap="square" lIns="0" tIns="0" rIns="0" bIns="0" rtlCol="0" anchor="t"/>
          <a:lstStyle/>
          <a:p>
            <a:pPr indent="0" marL="0">
              <a:buNone/>
            </a:pPr>
            <a:r>
              <a:rPr lang="en-US" sz="1200" b="1" i="1" dirty="0">
                <a:solidFill>
                  <a:srgbClr val="12213A"/>
                </a:solidFill>
                <a:latin typeface="Calibri" pitchFamily="34" charset="0"/>
                <a:ea typeface="Calibri" pitchFamily="34" charset="-122"/>
                <a:cs typeface="Calibri" pitchFamily="34" charset="-120"/>
              </a:rPr>
              <a:t>Catatan:  </a:t>
            </a:r>
            <a:pPr indent="0" marL="0">
              <a:buNone/>
            </a:pPr>
            <a:r>
              <a:rPr lang="en-US" sz="1200" i="1" dirty="0">
                <a:solidFill>
                  <a:srgbClr val="1F2937"/>
                </a:solidFill>
                <a:latin typeface="Calibri" pitchFamily="34" charset="0"/>
                <a:ea typeface="Calibri" pitchFamily="34" charset="-122"/>
                <a:cs typeface="Calibri" pitchFamily="34" charset="-120"/>
              </a:rPr>
              <a:t>Kalau hanya sanggup 2 buku di fase ini, pilih Rumelt dan Playing to Win. Dua itu 80% fondasi.</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Fase 2 · Pendalaman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Bulan 7–12  ·  ekonomi kompetitif, keuangan, dan berpikir probabilistik</a:t>
            </a:r>
            <a:endParaRPr lang="en-US" sz="1400" dirty="0"/>
          </a:p>
        </p:txBody>
      </p:sp>
      <p:sp>
        <p:nvSpPr>
          <p:cNvPr id="5" name="Shape 3"/>
          <p:cNvSpPr/>
          <p:nvPr/>
        </p:nvSpPr>
        <p:spPr>
          <a:xfrm>
            <a:off x="548640" y="1600200"/>
            <a:ext cx="3520440" cy="4160520"/>
          </a:xfrm>
          <a:prstGeom prst="roundRect">
            <a:avLst>
              <a:gd name="adj" fmla="val 3117"/>
            </a:avLst>
          </a:prstGeom>
          <a:solidFill>
            <a:srgbClr val="F7F9FC"/>
          </a:solidFill>
          <a:ln w="12700">
            <a:solidFill>
              <a:srgbClr val="F7F9FC"/>
            </a:solidFill>
            <a:prstDash val="solid"/>
          </a:ln>
        </p:spPr>
      </p:sp>
      <p:sp>
        <p:nvSpPr>
          <p:cNvPr id="6" name="Shape 4"/>
          <p:cNvSpPr/>
          <p:nvPr/>
        </p:nvSpPr>
        <p:spPr>
          <a:xfrm>
            <a:off x="777240" y="1783080"/>
            <a:ext cx="502920" cy="50292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07999" y="1913839"/>
            <a:ext cx="241402" cy="241402"/>
          </a:xfrm>
          <a:prstGeom prst="rect">
            <a:avLst/>
          </a:prstGeom>
        </p:spPr>
      </p:pic>
      <p:sp>
        <p:nvSpPr>
          <p:cNvPr id="8" name="Text 5"/>
          <p:cNvSpPr txBox="1"/>
          <p:nvPr/>
        </p:nvSpPr>
        <p:spPr>
          <a:xfrm>
            <a:off x="141732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Bacaan</a:t>
            </a:r>
            <a:endParaRPr lang="en-US" sz="1400" dirty="0"/>
          </a:p>
        </p:txBody>
      </p:sp>
      <p:sp>
        <p:nvSpPr>
          <p:cNvPr id="9" name="Text 6"/>
          <p:cNvSpPr txBox="1"/>
          <p:nvPr/>
        </p:nvSpPr>
        <p:spPr>
          <a:xfrm>
            <a:off x="77724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Porter, Competitive Strategy (wajib, baca bab 1–3, 7–8 dulu)</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Helmer, 7 Powers (wajib, ringkas dan tajam)</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Kim &amp; Mauborgne, Blue Ocean Strategy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Christensen, The Innovator's Dilemma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Dixit &amp; Nalebuff, Thinking Strategically (teori permainan tanpa matematika berat)</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Kahneman, Thinking, Fast and Slow (baca bagian 1–3, sisanya opsional)</a:t>
            </a:r>
            <a:endParaRPr lang="en-US" sz="1150" dirty="0"/>
          </a:p>
        </p:txBody>
      </p:sp>
      <p:sp>
        <p:nvSpPr>
          <p:cNvPr id="10" name="Shape 7"/>
          <p:cNvSpPr/>
          <p:nvPr/>
        </p:nvSpPr>
        <p:spPr>
          <a:xfrm>
            <a:off x="4297680" y="1600200"/>
            <a:ext cx="3520440" cy="4160520"/>
          </a:xfrm>
          <a:prstGeom prst="roundRect">
            <a:avLst>
              <a:gd name="adj" fmla="val 3117"/>
            </a:avLst>
          </a:prstGeom>
          <a:solidFill>
            <a:srgbClr val="F7F9FC"/>
          </a:solidFill>
          <a:ln w="12700">
            <a:solidFill>
              <a:srgbClr val="F7F9FC"/>
            </a:solidFill>
            <a:prstDash val="solid"/>
          </a:ln>
        </p:spPr>
      </p:sp>
      <p:sp>
        <p:nvSpPr>
          <p:cNvPr id="11" name="Shape 8"/>
          <p:cNvSpPr/>
          <p:nvPr/>
        </p:nvSpPr>
        <p:spPr>
          <a:xfrm>
            <a:off x="4526280" y="1783080"/>
            <a:ext cx="502920" cy="50292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4657039" y="1913839"/>
            <a:ext cx="241402" cy="241402"/>
          </a:xfrm>
          <a:prstGeom prst="rect">
            <a:avLst/>
          </a:prstGeom>
        </p:spPr>
      </p:pic>
      <p:sp>
        <p:nvSpPr>
          <p:cNvPr id="13" name="Text 9"/>
          <p:cNvSpPr txBox="1"/>
          <p:nvPr/>
        </p:nvSpPr>
        <p:spPr>
          <a:xfrm>
            <a:off x="516636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Latihan (deliberate practice)</a:t>
            </a:r>
            <a:endParaRPr lang="en-US" sz="1400" dirty="0"/>
          </a:p>
        </p:txBody>
      </p:sp>
      <p:sp>
        <p:nvSpPr>
          <p:cNvPr id="14" name="Text 10"/>
          <p:cNvSpPr txBox="1"/>
          <p:nvPr/>
        </p:nvSpPr>
        <p:spPr>
          <a:xfrm>
            <a:off x="452628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Petakan 7 Powers untuk 5 perusahaan Indonesia (misal: BCA, Gojek/GoTo, Indomaret, Telkomsel, Sido Muncul)</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Bangun model keuangan sederhana 3 perusahaan: ROIC vs WACC, unit economics, sensitivitas</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Scenario planning 1 industri yang sedang bergolak (nikel/EV, fintech, energi terbarukan, ritel modern)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Mulai forecast journal: 20 prediksi bisnis berjangka 3–6 bulan, dengan probabilitas</a:t>
            </a:r>
            <a:endParaRPr lang="en-US" sz="1150" dirty="0"/>
          </a:p>
        </p:txBody>
      </p:sp>
      <p:sp>
        <p:nvSpPr>
          <p:cNvPr id="15" name="Shape 11"/>
          <p:cNvSpPr/>
          <p:nvPr/>
        </p:nvSpPr>
        <p:spPr>
          <a:xfrm>
            <a:off x="8046720" y="1600200"/>
            <a:ext cx="3520440" cy="4160520"/>
          </a:xfrm>
          <a:prstGeom prst="roundRect">
            <a:avLst>
              <a:gd name="adj" fmla="val 3117"/>
            </a:avLst>
          </a:prstGeom>
          <a:solidFill>
            <a:srgbClr val="EEF2F8"/>
          </a:solidFill>
          <a:ln w="12700">
            <a:solidFill>
              <a:srgbClr val="EEF2F8"/>
            </a:solidFill>
            <a:prstDash val="solid"/>
          </a:ln>
        </p:spPr>
      </p:sp>
      <p:sp>
        <p:nvSpPr>
          <p:cNvPr id="16" name="Shape 12"/>
          <p:cNvSpPr/>
          <p:nvPr/>
        </p:nvSpPr>
        <p:spPr>
          <a:xfrm>
            <a:off x="8275320" y="1783080"/>
            <a:ext cx="502920" cy="502920"/>
          </a:xfrm>
          <a:prstGeom prst="ellipse">
            <a:avLst/>
          </a:prstGeom>
          <a:solidFill>
            <a:srgbClr val="C9A227"/>
          </a:solidFill>
          <a:ln w="1270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8406079" y="1913839"/>
            <a:ext cx="241402" cy="241402"/>
          </a:xfrm>
          <a:prstGeom prst="rect">
            <a:avLst/>
          </a:prstGeom>
        </p:spPr>
      </p:pic>
      <p:sp>
        <p:nvSpPr>
          <p:cNvPr id="18" name="Text 13"/>
          <p:cNvSpPr txBox="1"/>
          <p:nvPr/>
        </p:nvSpPr>
        <p:spPr>
          <a:xfrm>
            <a:off x="891540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Output terukur di akhir fase</a:t>
            </a:r>
            <a:endParaRPr lang="en-US" sz="1400" dirty="0"/>
          </a:p>
        </p:txBody>
      </p:sp>
      <p:sp>
        <p:nvSpPr>
          <p:cNvPr id="19" name="Text 14"/>
          <p:cNvSpPr txBox="1"/>
          <p:nvPr/>
        </p:nvSpPr>
        <p:spPr>
          <a:xfrm>
            <a:off x="827532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5 peta 7 Powers + 1 esai: "keunggulan mana yang bertahan 10 tahun?"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3 model keuangan yang dipakai di memo strategi (angka masuk ke argumen)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1 dokumen skenario (3–4 skenario, indikator awal, implikasi strategis)</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12 memo tambahan (total 24), kualitas terlihat naik dari umpan balik</a:t>
            </a:r>
            <a:endParaRPr lang="en-US" sz="1150" dirty="0"/>
          </a:p>
        </p:txBody>
      </p:sp>
      <p:sp>
        <p:nvSpPr>
          <p:cNvPr id="20" name="Text 15"/>
          <p:cNvSpPr txBox="1"/>
          <p:nvPr/>
        </p:nvSpPr>
        <p:spPr>
          <a:xfrm>
            <a:off x="548640" y="5897880"/>
            <a:ext cx="11064240" cy="548640"/>
          </a:xfrm>
          <a:prstGeom prst="rect">
            <a:avLst/>
          </a:prstGeom>
          <a:noFill/>
          <a:ln/>
        </p:spPr>
        <p:txBody>
          <a:bodyPr wrap="square" lIns="0" tIns="0" rIns="0" bIns="0" rtlCol="0" anchor="t"/>
          <a:lstStyle/>
          <a:p>
            <a:pPr indent="0" marL="0">
              <a:buNone/>
            </a:pPr>
            <a:r>
              <a:rPr lang="en-US" sz="1200" b="1" i="1" dirty="0">
                <a:solidFill>
                  <a:srgbClr val="12213A"/>
                </a:solidFill>
                <a:latin typeface="Calibri" pitchFamily="34" charset="0"/>
                <a:ea typeface="Calibri" pitchFamily="34" charset="-122"/>
                <a:cs typeface="Calibri" pitchFamily="34" charset="-120"/>
              </a:rPr>
              <a:t>Catatan:  </a:t>
            </a:r>
            <a:pPr indent="0" marL="0">
              <a:buNone/>
            </a:pPr>
            <a:r>
              <a:rPr lang="en-US" sz="1200" i="1" dirty="0">
                <a:solidFill>
                  <a:srgbClr val="1F2937"/>
                </a:solidFill>
                <a:latin typeface="Calibri" pitchFamily="34" charset="0"/>
                <a:ea typeface="Calibri" pitchFamily="34" charset="-122"/>
                <a:cs typeface="Calibri" pitchFamily="34" charset="-120"/>
              </a:rPr>
              <a:t>Fase ini yang memisahkan ahli strategi dari "orang framework": argumen harus punya angka.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Fase 3 · Aplikasi</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Bulan 13–18  ·  kasus nyata, tekanan waktu, klien sungguhan</a:t>
            </a:r>
            <a:endParaRPr lang="en-US" sz="1400" dirty="0"/>
          </a:p>
        </p:txBody>
      </p:sp>
      <p:sp>
        <p:nvSpPr>
          <p:cNvPr id="5" name="Shape 3"/>
          <p:cNvSpPr/>
          <p:nvPr/>
        </p:nvSpPr>
        <p:spPr>
          <a:xfrm>
            <a:off x="548640" y="1600200"/>
            <a:ext cx="3520440" cy="4160520"/>
          </a:xfrm>
          <a:prstGeom prst="roundRect">
            <a:avLst>
              <a:gd name="adj" fmla="val 3117"/>
            </a:avLst>
          </a:prstGeom>
          <a:solidFill>
            <a:srgbClr val="F7F9FC"/>
          </a:solidFill>
          <a:ln w="12700">
            <a:solidFill>
              <a:srgbClr val="F7F9FC"/>
            </a:solidFill>
            <a:prstDash val="solid"/>
          </a:ln>
        </p:spPr>
      </p:sp>
      <p:sp>
        <p:nvSpPr>
          <p:cNvPr id="6" name="Shape 4"/>
          <p:cNvSpPr/>
          <p:nvPr/>
        </p:nvSpPr>
        <p:spPr>
          <a:xfrm>
            <a:off x="777240" y="1783080"/>
            <a:ext cx="502920" cy="50292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07999" y="1913839"/>
            <a:ext cx="241402" cy="241402"/>
          </a:xfrm>
          <a:prstGeom prst="rect">
            <a:avLst/>
          </a:prstGeom>
        </p:spPr>
      </p:pic>
      <p:sp>
        <p:nvSpPr>
          <p:cNvPr id="8" name="Text 5"/>
          <p:cNvSpPr txBox="1"/>
          <p:nvPr/>
        </p:nvSpPr>
        <p:spPr>
          <a:xfrm>
            <a:off x="141732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Bacaan</a:t>
            </a:r>
            <a:endParaRPr lang="en-US" sz="1400" dirty="0"/>
          </a:p>
        </p:txBody>
      </p:sp>
      <p:sp>
        <p:nvSpPr>
          <p:cNvPr id="9" name="Text 6"/>
          <p:cNvSpPr txBox="1"/>
          <p:nvPr/>
        </p:nvSpPr>
        <p:spPr>
          <a:xfrm>
            <a:off x="77724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Rumelt, The Crux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Montgomery, The Strategist (wajib, singkat)</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Bossidy &amp; Charan, Execution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Doerr, Measure What Matters (OKR, cepat dibaca)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Tetlock &amp; Gardner, Superforecasting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Duke, Thinking in Bets (opsional, pelengkap Tetlock)</a:t>
            </a:r>
            <a:endParaRPr lang="en-US" sz="1150" dirty="0"/>
          </a:p>
        </p:txBody>
      </p:sp>
      <p:sp>
        <p:nvSpPr>
          <p:cNvPr id="10" name="Shape 7"/>
          <p:cNvSpPr/>
          <p:nvPr/>
        </p:nvSpPr>
        <p:spPr>
          <a:xfrm>
            <a:off x="4297680" y="1600200"/>
            <a:ext cx="3520440" cy="4160520"/>
          </a:xfrm>
          <a:prstGeom prst="roundRect">
            <a:avLst>
              <a:gd name="adj" fmla="val 3117"/>
            </a:avLst>
          </a:prstGeom>
          <a:solidFill>
            <a:srgbClr val="F7F9FC"/>
          </a:solidFill>
          <a:ln w="12700">
            <a:solidFill>
              <a:srgbClr val="F7F9FC"/>
            </a:solidFill>
            <a:prstDash val="solid"/>
          </a:ln>
        </p:spPr>
      </p:sp>
      <p:sp>
        <p:nvSpPr>
          <p:cNvPr id="11" name="Shape 8"/>
          <p:cNvSpPr/>
          <p:nvPr/>
        </p:nvSpPr>
        <p:spPr>
          <a:xfrm>
            <a:off x="4526280" y="1783080"/>
            <a:ext cx="502920" cy="50292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4657039" y="1913839"/>
            <a:ext cx="241402" cy="241402"/>
          </a:xfrm>
          <a:prstGeom prst="rect">
            <a:avLst/>
          </a:prstGeom>
        </p:spPr>
      </p:pic>
      <p:sp>
        <p:nvSpPr>
          <p:cNvPr id="13" name="Text 9"/>
          <p:cNvSpPr txBox="1"/>
          <p:nvPr/>
        </p:nvSpPr>
        <p:spPr>
          <a:xfrm>
            <a:off x="516636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Latihan (deliberate practice)</a:t>
            </a:r>
            <a:endParaRPr lang="en-US" sz="1400" dirty="0"/>
          </a:p>
        </p:txBody>
      </p:sp>
      <p:sp>
        <p:nvSpPr>
          <p:cNvPr id="14" name="Text 10"/>
          <p:cNvSpPr txBox="1"/>
          <p:nvPr/>
        </p:nvSpPr>
        <p:spPr>
          <a:xfrm>
            <a:off x="452628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Ikut minimal 1 kompetisi kasus bisnis (tim UGM, kompetisi nasional/regional)</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Proyek konsultasi nyata: UMKM, startup, koperasi, atau unit di perusahaan Anda sendiri; minimal 8 minggu, ada deliverable</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Magang/proyek paruh waktu di corporate strategy, PMO, atau firma konsultan bila memungkinkan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Lanjutkan forecast journal; hitung skor Brier tiap 3 bulan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Latih presentasi 10 menit ke "board" (teman/dosen) dengan format Pyramid Principle</a:t>
            </a:r>
            <a:endParaRPr lang="en-US" sz="1150" dirty="0"/>
          </a:p>
        </p:txBody>
      </p:sp>
      <p:sp>
        <p:nvSpPr>
          <p:cNvPr id="15" name="Shape 11"/>
          <p:cNvSpPr/>
          <p:nvPr/>
        </p:nvSpPr>
        <p:spPr>
          <a:xfrm>
            <a:off x="8046720" y="1600200"/>
            <a:ext cx="3520440" cy="4160520"/>
          </a:xfrm>
          <a:prstGeom prst="roundRect">
            <a:avLst>
              <a:gd name="adj" fmla="val 3117"/>
            </a:avLst>
          </a:prstGeom>
          <a:solidFill>
            <a:srgbClr val="EEF2F8"/>
          </a:solidFill>
          <a:ln w="12700">
            <a:solidFill>
              <a:srgbClr val="EEF2F8"/>
            </a:solidFill>
            <a:prstDash val="solid"/>
          </a:ln>
        </p:spPr>
      </p:sp>
      <p:sp>
        <p:nvSpPr>
          <p:cNvPr id="16" name="Shape 12"/>
          <p:cNvSpPr/>
          <p:nvPr/>
        </p:nvSpPr>
        <p:spPr>
          <a:xfrm>
            <a:off x="8275320" y="1783080"/>
            <a:ext cx="502920" cy="502920"/>
          </a:xfrm>
          <a:prstGeom prst="ellipse">
            <a:avLst/>
          </a:prstGeom>
          <a:solidFill>
            <a:srgbClr val="C9A227"/>
          </a:solidFill>
          <a:ln w="1270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8406079" y="1913839"/>
            <a:ext cx="241402" cy="241402"/>
          </a:xfrm>
          <a:prstGeom prst="rect">
            <a:avLst/>
          </a:prstGeom>
        </p:spPr>
      </p:pic>
      <p:sp>
        <p:nvSpPr>
          <p:cNvPr id="18" name="Text 13"/>
          <p:cNvSpPr txBox="1"/>
          <p:nvPr/>
        </p:nvSpPr>
        <p:spPr>
          <a:xfrm>
            <a:off x="891540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Output terukur di akhir fase</a:t>
            </a:r>
            <a:endParaRPr lang="en-US" sz="1400" dirty="0"/>
          </a:p>
        </p:txBody>
      </p:sp>
      <p:sp>
        <p:nvSpPr>
          <p:cNvPr id="19" name="Text 14"/>
          <p:cNvSpPr txBox="1"/>
          <p:nvPr/>
        </p:nvSpPr>
        <p:spPr>
          <a:xfrm>
            <a:off x="827532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1 laporan konsultasi lengkap dengan rekomendasi yang dijalankan klien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Bukti kompetisi kasus (apa pun hasilnya, simpan deck dan umpan balik juri)</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Skor forecast yang terukur dan membaik</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3 studi kasus versi Anda sendiri tentang perusahaan Indonesia (bisa jadi bahan tesis)</a:t>
            </a:r>
            <a:endParaRPr lang="en-US" sz="1150" dirty="0"/>
          </a:p>
        </p:txBody>
      </p:sp>
      <p:sp>
        <p:nvSpPr>
          <p:cNvPr id="20" name="Text 15"/>
          <p:cNvSpPr txBox="1"/>
          <p:nvPr/>
        </p:nvSpPr>
        <p:spPr>
          <a:xfrm>
            <a:off x="548640" y="5897880"/>
            <a:ext cx="11064240" cy="548640"/>
          </a:xfrm>
          <a:prstGeom prst="rect">
            <a:avLst/>
          </a:prstGeom>
          <a:noFill/>
          <a:ln/>
        </p:spPr>
        <p:txBody>
          <a:bodyPr wrap="square" lIns="0" tIns="0" rIns="0" bIns="0" rtlCol="0" anchor="t"/>
          <a:lstStyle/>
          <a:p>
            <a:pPr indent="0" marL="0">
              <a:buNone/>
            </a:pPr>
            <a:r>
              <a:rPr lang="en-US" sz="1200" b="1" i="1" dirty="0">
                <a:solidFill>
                  <a:srgbClr val="12213A"/>
                </a:solidFill>
                <a:latin typeface="Calibri" pitchFamily="34" charset="0"/>
                <a:ea typeface="Calibri" pitchFamily="34" charset="-122"/>
                <a:cs typeface="Calibri" pitchFamily="34" charset="-120"/>
              </a:rPr>
              <a:t>Catatan:  </a:t>
            </a:r>
            <a:pPr indent="0" marL="0">
              <a:buNone/>
            </a:pPr>
            <a:r>
              <a:rPr lang="en-US" sz="1200" i="1" dirty="0">
                <a:solidFill>
                  <a:srgbClr val="1F2937"/>
                </a:solidFill>
                <a:latin typeface="Calibri" pitchFamily="34" charset="0"/>
                <a:ea typeface="Calibri" pitchFamily="34" charset="-122"/>
                <a:cs typeface="Calibri" pitchFamily="34" charset="-120"/>
              </a:rPr>
              <a:t>Di fase ini bacaan turun, praktik naik. Kalau harus memilih, pilih proyek nyata daripada buku ke-6.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Fase 4 · Spesialisasi &amp; portofolio</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Bulan 19–24  ·  memilih arena dan membangun bukti kerja</a:t>
            </a:r>
            <a:endParaRPr lang="en-US" sz="1400" dirty="0"/>
          </a:p>
        </p:txBody>
      </p:sp>
      <p:sp>
        <p:nvSpPr>
          <p:cNvPr id="5" name="Shape 3"/>
          <p:cNvSpPr/>
          <p:nvPr/>
        </p:nvSpPr>
        <p:spPr>
          <a:xfrm>
            <a:off x="548640" y="1600200"/>
            <a:ext cx="3520440" cy="4160520"/>
          </a:xfrm>
          <a:prstGeom prst="roundRect">
            <a:avLst>
              <a:gd name="adj" fmla="val 3117"/>
            </a:avLst>
          </a:prstGeom>
          <a:solidFill>
            <a:srgbClr val="F7F9FC"/>
          </a:solidFill>
          <a:ln w="12700">
            <a:solidFill>
              <a:srgbClr val="F7F9FC"/>
            </a:solidFill>
            <a:prstDash val="solid"/>
          </a:ln>
        </p:spPr>
      </p:sp>
      <p:sp>
        <p:nvSpPr>
          <p:cNvPr id="6" name="Shape 4"/>
          <p:cNvSpPr/>
          <p:nvPr/>
        </p:nvSpPr>
        <p:spPr>
          <a:xfrm>
            <a:off x="777240" y="1783080"/>
            <a:ext cx="502920" cy="50292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07999" y="1913839"/>
            <a:ext cx="241402" cy="241402"/>
          </a:xfrm>
          <a:prstGeom prst="rect">
            <a:avLst/>
          </a:prstGeom>
        </p:spPr>
      </p:pic>
      <p:sp>
        <p:nvSpPr>
          <p:cNvPr id="8" name="Text 5"/>
          <p:cNvSpPr txBox="1"/>
          <p:nvPr/>
        </p:nvSpPr>
        <p:spPr>
          <a:xfrm>
            <a:off x="141732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Bacaan</a:t>
            </a:r>
            <a:endParaRPr lang="en-US" sz="1400" dirty="0"/>
          </a:p>
        </p:txBody>
      </p:sp>
      <p:sp>
        <p:nvSpPr>
          <p:cNvPr id="9" name="Text 6"/>
          <p:cNvSpPr txBox="1"/>
          <p:nvPr/>
        </p:nvSpPr>
        <p:spPr>
          <a:xfrm>
            <a:off x="77724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Mintzberg dkk., Strategy Safari (wajib, supaya tahu batas tiap aliran)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Martin, The Opposable Mind (wajib)</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Minto, The Pyramid Principle (wajib, dibaca ulang tiap menulis)</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Collins, Good to Great (baca kritis: banyak temuannya tidak tahan uji)</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Kasali, Disruption (konteks Indonesia, opsional)</a:t>
            </a:r>
            <a:endParaRPr lang="en-US" sz="1150" dirty="0"/>
          </a:p>
        </p:txBody>
      </p:sp>
      <p:sp>
        <p:nvSpPr>
          <p:cNvPr id="10" name="Shape 7"/>
          <p:cNvSpPr/>
          <p:nvPr/>
        </p:nvSpPr>
        <p:spPr>
          <a:xfrm>
            <a:off x="4297680" y="1600200"/>
            <a:ext cx="3520440" cy="4160520"/>
          </a:xfrm>
          <a:prstGeom prst="roundRect">
            <a:avLst>
              <a:gd name="adj" fmla="val 3117"/>
            </a:avLst>
          </a:prstGeom>
          <a:solidFill>
            <a:srgbClr val="F7F9FC"/>
          </a:solidFill>
          <a:ln w="12700">
            <a:solidFill>
              <a:srgbClr val="F7F9FC"/>
            </a:solidFill>
            <a:prstDash val="solid"/>
          </a:ln>
        </p:spPr>
      </p:sp>
      <p:sp>
        <p:nvSpPr>
          <p:cNvPr id="11" name="Shape 8"/>
          <p:cNvSpPr/>
          <p:nvPr/>
        </p:nvSpPr>
        <p:spPr>
          <a:xfrm>
            <a:off x="4526280" y="1783080"/>
            <a:ext cx="502920" cy="50292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4657039" y="1913839"/>
            <a:ext cx="241402" cy="241402"/>
          </a:xfrm>
          <a:prstGeom prst="rect">
            <a:avLst/>
          </a:prstGeom>
        </p:spPr>
      </p:pic>
      <p:sp>
        <p:nvSpPr>
          <p:cNvPr id="13" name="Text 9"/>
          <p:cNvSpPr txBox="1"/>
          <p:nvPr/>
        </p:nvSpPr>
        <p:spPr>
          <a:xfrm>
            <a:off x="516636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Latihan (deliberate practice)</a:t>
            </a:r>
            <a:endParaRPr lang="en-US" sz="1400" dirty="0"/>
          </a:p>
        </p:txBody>
      </p:sp>
      <p:sp>
        <p:nvSpPr>
          <p:cNvPr id="14" name="Text 10"/>
          <p:cNvSpPr txBox="1"/>
          <p:nvPr/>
        </p:nvSpPr>
        <p:spPr>
          <a:xfrm>
            <a:off x="452628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Pilih arena: corporate strategy, konsultan, BUMN/publik, atau founder. Wawancara 5 orang di arena itu</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Tesis MBA yang menjawab pertanyaan strategis nyata satu organisasi, bukan literatur semata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Rapikan portofolio: 5 kasus terbaik, 1 halaman ringkasan tiap kasus</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Tulis dan publikasikan 4–6 analisis strategi (LinkedIn, blog, opini media) untuk umpan balik publik</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Cari 1 mentor praktisi yang mau mengulas kerja Anda tiap bulan</a:t>
            </a:r>
            <a:endParaRPr lang="en-US" sz="1150" dirty="0"/>
          </a:p>
        </p:txBody>
      </p:sp>
      <p:sp>
        <p:nvSpPr>
          <p:cNvPr id="15" name="Shape 11"/>
          <p:cNvSpPr/>
          <p:nvPr/>
        </p:nvSpPr>
        <p:spPr>
          <a:xfrm>
            <a:off x="8046720" y="1600200"/>
            <a:ext cx="3520440" cy="4160520"/>
          </a:xfrm>
          <a:prstGeom prst="roundRect">
            <a:avLst>
              <a:gd name="adj" fmla="val 3117"/>
            </a:avLst>
          </a:prstGeom>
          <a:solidFill>
            <a:srgbClr val="EEF2F8"/>
          </a:solidFill>
          <a:ln w="12700">
            <a:solidFill>
              <a:srgbClr val="EEF2F8"/>
            </a:solidFill>
            <a:prstDash val="solid"/>
          </a:ln>
        </p:spPr>
      </p:sp>
      <p:sp>
        <p:nvSpPr>
          <p:cNvPr id="16" name="Shape 12"/>
          <p:cNvSpPr/>
          <p:nvPr/>
        </p:nvSpPr>
        <p:spPr>
          <a:xfrm>
            <a:off x="8275320" y="1783080"/>
            <a:ext cx="502920" cy="502920"/>
          </a:xfrm>
          <a:prstGeom prst="ellipse">
            <a:avLst/>
          </a:prstGeom>
          <a:solidFill>
            <a:srgbClr val="C9A227"/>
          </a:solidFill>
          <a:ln w="12700">
            <a:solidFill>
              <a:srgbClr val="C9A227"/>
            </a:solidFill>
            <a:prstDash val="solid"/>
          </a:ln>
        </p:spPr>
      </p:sp>
      <p:pic>
        <p:nvPicPr>
          <p:cNvPr id="17" name="Image 2" descr="preencoded.png">    </p:cNvPr>
          <p:cNvPicPr>
            <a:picLocks noChangeAspect="1"/>
          </p:cNvPicPr>
          <p:nvPr/>
        </p:nvPicPr>
        <p:blipFill>
          <a:blip r:embed="rId3"/>
          <a:stretch>
            <a:fillRect/>
          </a:stretch>
        </p:blipFill>
        <p:spPr>
          <a:xfrm>
            <a:off x="8406079" y="1913839"/>
            <a:ext cx="241402" cy="241402"/>
          </a:xfrm>
          <a:prstGeom prst="rect">
            <a:avLst/>
          </a:prstGeom>
        </p:spPr>
      </p:pic>
      <p:sp>
        <p:nvSpPr>
          <p:cNvPr id="18" name="Text 13"/>
          <p:cNvSpPr txBox="1"/>
          <p:nvPr/>
        </p:nvSpPr>
        <p:spPr>
          <a:xfrm>
            <a:off x="8915400" y="1783080"/>
            <a:ext cx="256032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Output terukur di akhir fase</a:t>
            </a:r>
            <a:endParaRPr lang="en-US" sz="1400" dirty="0"/>
          </a:p>
        </p:txBody>
      </p:sp>
      <p:sp>
        <p:nvSpPr>
          <p:cNvPr id="19" name="Text 14"/>
          <p:cNvSpPr txBox="1"/>
          <p:nvPr/>
        </p:nvSpPr>
        <p:spPr>
          <a:xfrm>
            <a:off x="8275320" y="2423160"/>
            <a:ext cx="3108960" cy="3246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Portofolio 5 kasus yang bisa dikirim ke pewawancara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Tesis dengan rekomendasi yang diakui organisasi objek penelitian</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Jaringan: 10+ praktisi strategi yang tahu kerja Anda</a:t>
            </a:r>
            <a:endParaRPr lang="en-US" sz="1150" dirty="0"/>
          </a:p>
          <a:p>
            <a:pPr marL="152400" indent="-1524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Keputusan arena karier yang jelas dan langkah 12 bulan berikutnya</a:t>
            </a:r>
            <a:endParaRPr lang="en-US" sz="1150" dirty="0"/>
          </a:p>
        </p:txBody>
      </p:sp>
      <p:sp>
        <p:nvSpPr>
          <p:cNvPr id="20" name="Text 15"/>
          <p:cNvSpPr txBox="1"/>
          <p:nvPr/>
        </p:nvSpPr>
        <p:spPr>
          <a:xfrm>
            <a:off x="548640" y="5897880"/>
            <a:ext cx="11064240" cy="548640"/>
          </a:xfrm>
          <a:prstGeom prst="rect">
            <a:avLst/>
          </a:prstGeom>
          <a:noFill/>
          <a:ln/>
        </p:spPr>
        <p:txBody>
          <a:bodyPr wrap="square" lIns="0" tIns="0" rIns="0" bIns="0" rtlCol="0" anchor="t"/>
          <a:lstStyle/>
          <a:p>
            <a:pPr indent="0" marL="0">
              <a:buNone/>
            </a:pPr>
            <a:r>
              <a:rPr lang="en-US" sz="1200" b="1" i="1" dirty="0">
                <a:solidFill>
                  <a:srgbClr val="12213A"/>
                </a:solidFill>
                <a:latin typeface="Calibri" pitchFamily="34" charset="0"/>
                <a:ea typeface="Calibri" pitchFamily="34" charset="-122"/>
                <a:cs typeface="Calibri" pitchFamily="34" charset="-120"/>
              </a:rPr>
              <a:t>Catatan:  </a:t>
            </a:r>
            <a:pPr indent="0" marL="0">
              <a:buNone/>
            </a:pPr>
            <a:r>
              <a:rPr lang="en-US" sz="1200" i="1" dirty="0">
                <a:solidFill>
                  <a:srgbClr val="1F2937"/>
                </a:solidFill>
                <a:latin typeface="Calibri" pitchFamily="34" charset="0"/>
                <a:ea typeface="Calibri" pitchFamily="34" charset="-122"/>
                <a:cs typeface="Calibri" pitchFamily="34" charset="-120"/>
              </a:rPr>
              <a:t>Portofolio lebih meyakinkan pemberi kerja daripada IPK atau daftar buku yang sudah dibaca.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Rutinitas mingguan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Sekitar 10–12 jam per minggu di luar kuliah, dibagi tetap. Inilah yang menjaga rencana ini hidup</a:t>
            </a:r>
            <a:endParaRPr lang="en-US" sz="1400" dirty="0"/>
          </a:p>
        </p:txBody>
      </p:sp>
      <p:sp>
        <p:nvSpPr>
          <p:cNvPr id="5" name="Shape 3"/>
          <p:cNvSpPr/>
          <p:nvPr/>
        </p:nvSpPr>
        <p:spPr>
          <a:xfrm>
            <a:off x="548640" y="1600200"/>
            <a:ext cx="11064240" cy="804672"/>
          </a:xfrm>
          <a:prstGeom prst="roundRect">
            <a:avLst>
              <a:gd name="adj" fmla="val 13636"/>
            </a:avLst>
          </a:prstGeom>
          <a:solidFill>
            <a:srgbClr val="EEF2F8"/>
          </a:solidFill>
          <a:ln w="12700">
            <a:solidFill>
              <a:srgbClr val="EEF2F8"/>
            </a:solidFill>
            <a:prstDash val="solid"/>
          </a:ln>
        </p:spPr>
      </p:sp>
      <p:sp>
        <p:nvSpPr>
          <p:cNvPr id="6" name="Shape 4"/>
          <p:cNvSpPr/>
          <p:nvPr/>
        </p:nvSpPr>
        <p:spPr>
          <a:xfrm>
            <a:off x="731520" y="1746504"/>
            <a:ext cx="512064" cy="512064"/>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864657" y="1879641"/>
            <a:ext cx="245791" cy="245791"/>
          </a:xfrm>
          <a:prstGeom prst="rect">
            <a:avLst/>
          </a:prstGeom>
        </p:spPr>
      </p:pic>
      <p:sp>
        <p:nvSpPr>
          <p:cNvPr id="8" name="Text 5"/>
          <p:cNvSpPr txBox="1"/>
          <p:nvPr/>
        </p:nvSpPr>
        <p:spPr>
          <a:xfrm>
            <a:off x="1417320" y="1600200"/>
            <a:ext cx="1554480" cy="804672"/>
          </a:xfrm>
          <a:prstGeom prst="rect">
            <a:avLst/>
          </a:prstGeom>
          <a:noFill/>
          <a:ln/>
        </p:spPr>
        <p:txBody>
          <a:bodyPr wrap="square" lIns="0" tIns="0" rIns="0" bIns="0" rtlCol="0" anchor="ctr"/>
          <a:lstStyle/>
          <a:p>
            <a:pPr indent="0" marL="0">
              <a:buNone/>
            </a:pPr>
            <a:r>
              <a:rPr lang="en-US" sz="1600" b="1" dirty="0">
                <a:solidFill>
                  <a:srgbClr val="12213A"/>
                </a:solidFill>
                <a:latin typeface="Cambria" pitchFamily="34" charset="0"/>
                <a:ea typeface="Cambria" pitchFamily="34" charset="-122"/>
                <a:cs typeface="Cambria" pitchFamily="34" charset="-120"/>
              </a:rPr>
              <a:t>4 jam</a:t>
            </a:r>
            <a:endParaRPr lang="en-US" sz="1600" dirty="0"/>
          </a:p>
        </p:txBody>
      </p:sp>
      <p:sp>
        <p:nvSpPr>
          <p:cNvPr id="9" name="Text 6"/>
          <p:cNvSpPr txBox="1"/>
          <p:nvPr/>
        </p:nvSpPr>
        <p:spPr>
          <a:xfrm>
            <a:off x="3017520" y="1600200"/>
            <a:ext cx="2377440" cy="804672"/>
          </a:xfrm>
          <a:prstGeom prst="rect">
            <a:avLst/>
          </a:prstGeom>
          <a:noFill/>
          <a:ln/>
        </p:spPr>
        <p:txBody>
          <a:bodyPr wrap="square" lIns="0" tIns="0" rIns="0" bIns="0" rtlCol="0" anchor="ctr"/>
          <a:lstStyle/>
          <a:p>
            <a:pPr indent="0" marL="0">
              <a:buNone/>
            </a:pPr>
            <a:r>
              <a:rPr lang="en-US" sz="1350" b="1" dirty="0">
                <a:solidFill>
                  <a:srgbClr val="12213A"/>
                </a:solidFill>
                <a:latin typeface="Calibri" pitchFamily="34" charset="0"/>
                <a:ea typeface="Calibri" pitchFamily="34" charset="-122"/>
                <a:cs typeface="Calibri" pitchFamily="34" charset="-120"/>
              </a:rPr>
              <a:t>Membaca</a:t>
            </a:r>
            <a:endParaRPr lang="en-US" sz="1350" dirty="0"/>
          </a:p>
        </p:txBody>
      </p:sp>
      <p:sp>
        <p:nvSpPr>
          <p:cNvPr id="10" name="Text 7"/>
          <p:cNvSpPr txBox="1"/>
          <p:nvPr/>
        </p:nvSpPr>
        <p:spPr>
          <a:xfrm>
            <a:off x="5486400" y="1600200"/>
            <a:ext cx="5943600" cy="80467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Satu buku aktif pada satu waktu. Catat 3 ide per bab dalam kata-kata sendiri, bukan kutipan.</a:t>
            </a:r>
            <a:endParaRPr lang="en-US" sz="1200" dirty="0"/>
          </a:p>
        </p:txBody>
      </p:sp>
      <p:sp>
        <p:nvSpPr>
          <p:cNvPr id="11" name="Shape 8"/>
          <p:cNvSpPr/>
          <p:nvPr/>
        </p:nvSpPr>
        <p:spPr>
          <a:xfrm>
            <a:off x="548640" y="2514600"/>
            <a:ext cx="11064240" cy="804672"/>
          </a:xfrm>
          <a:prstGeom prst="roundRect">
            <a:avLst>
              <a:gd name="adj" fmla="val 13636"/>
            </a:avLst>
          </a:prstGeom>
          <a:solidFill>
            <a:srgbClr val="F7F9FC"/>
          </a:solidFill>
          <a:ln w="12700">
            <a:solidFill>
              <a:srgbClr val="F7F9FC"/>
            </a:solidFill>
            <a:prstDash val="solid"/>
          </a:ln>
        </p:spPr>
      </p:sp>
      <p:sp>
        <p:nvSpPr>
          <p:cNvPr id="12" name="Shape 9"/>
          <p:cNvSpPr/>
          <p:nvPr/>
        </p:nvSpPr>
        <p:spPr>
          <a:xfrm>
            <a:off x="731520" y="2660904"/>
            <a:ext cx="512064" cy="512064"/>
          </a:xfrm>
          <a:prstGeom prst="ellipse">
            <a:avLst/>
          </a:prstGeom>
          <a:solidFill>
            <a:srgbClr val="C9A227"/>
          </a:solidFill>
          <a:ln w="12700">
            <a:solidFill>
              <a:srgbClr val="C9A227"/>
            </a:solidFill>
            <a:prstDash val="solid"/>
          </a:ln>
        </p:spPr>
      </p:sp>
      <p:pic>
        <p:nvPicPr>
          <p:cNvPr id="13" name="Image 1" descr="preencoded.png">    </p:cNvPr>
          <p:cNvPicPr>
            <a:picLocks noChangeAspect="1"/>
          </p:cNvPicPr>
          <p:nvPr/>
        </p:nvPicPr>
        <p:blipFill>
          <a:blip r:embed="rId2"/>
          <a:stretch>
            <a:fillRect/>
          </a:stretch>
        </p:blipFill>
        <p:spPr>
          <a:xfrm>
            <a:off x="864657" y="2794041"/>
            <a:ext cx="245791" cy="245791"/>
          </a:xfrm>
          <a:prstGeom prst="rect">
            <a:avLst/>
          </a:prstGeom>
        </p:spPr>
      </p:pic>
      <p:sp>
        <p:nvSpPr>
          <p:cNvPr id="14" name="Text 10"/>
          <p:cNvSpPr txBox="1"/>
          <p:nvPr/>
        </p:nvSpPr>
        <p:spPr>
          <a:xfrm>
            <a:off x="1417320" y="2514600"/>
            <a:ext cx="1554480" cy="804672"/>
          </a:xfrm>
          <a:prstGeom prst="rect">
            <a:avLst/>
          </a:prstGeom>
          <a:noFill/>
          <a:ln/>
        </p:spPr>
        <p:txBody>
          <a:bodyPr wrap="square" lIns="0" tIns="0" rIns="0" bIns="0" rtlCol="0" anchor="ctr"/>
          <a:lstStyle/>
          <a:p>
            <a:pPr indent="0" marL="0">
              <a:buNone/>
            </a:pPr>
            <a:r>
              <a:rPr lang="en-US" sz="1600" b="1" dirty="0">
                <a:solidFill>
                  <a:srgbClr val="12213A"/>
                </a:solidFill>
                <a:latin typeface="Cambria" pitchFamily="34" charset="0"/>
                <a:ea typeface="Cambria" pitchFamily="34" charset="-122"/>
                <a:cs typeface="Cambria" pitchFamily="34" charset="-120"/>
              </a:rPr>
              <a:t>3 jam</a:t>
            </a:r>
            <a:endParaRPr lang="en-US" sz="1600" dirty="0"/>
          </a:p>
        </p:txBody>
      </p:sp>
      <p:sp>
        <p:nvSpPr>
          <p:cNvPr id="15" name="Text 11"/>
          <p:cNvSpPr txBox="1"/>
          <p:nvPr/>
        </p:nvSpPr>
        <p:spPr>
          <a:xfrm>
            <a:off x="3017520" y="2514600"/>
            <a:ext cx="2377440" cy="804672"/>
          </a:xfrm>
          <a:prstGeom prst="rect">
            <a:avLst/>
          </a:prstGeom>
          <a:noFill/>
          <a:ln/>
        </p:spPr>
        <p:txBody>
          <a:bodyPr wrap="square" lIns="0" tIns="0" rIns="0" bIns="0" rtlCol="0" anchor="ctr"/>
          <a:lstStyle/>
          <a:p>
            <a:pPr indent="0" marL="0">
              <a:buNone/>
            </a:pPr>
            <a:r>
              <a:rPr lang="en-US" sz="1350" b="1" dirty="0">
                <a:solidFill>
                  <a:srgbClr val="12213A"/>
                </a:solidFill>
                <a:latin typeface="Calibri" pitchFamily="34" charset="0"/>
                <a:ea typeface="Calibri" pitchFamily="34" charset="-122"/>
                <a:cs typeface="Calibri" pitchFamily="34" charset="-120"/>
              </a:rPr>
              <a:t>Analisis kasus</a:t>
            </a:r>
            <a:endParaRPr lang="en-US" sz="1350" dirty="0"/>
          </a:p>
        </p:txBody>
      </p:sp>
      <p:sp>
        <p:nvSpPr>
          <p:cNvPr id="16" name="Text 12"/>
          <p:cNvSpPr txBox="1"/>
          <p:nvPr/>
        </p:nvSpPr>
        <p:spPr>
          <a:xfrm>
            <a:off x="5486400" y="2514600"/>
            <a:ext cx="5943600" cy="80467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Kasus kuliah atau perusahaan Indonesia. Selalu sampai rekomendasi, bukan berhenti di analisis.</a:t>
            </a:r>
            <a:endParaRPr lang="en-US" sz="1200" dirty="0"/>
          </a:p>
        </p:txBody>
      </p:sp>
      <p:sp>
        <p:nvSpPr>
          <p:cNvPr id="17" name="Shape 13"/>
          <p:cNvSpPr/>
          <p:nvPr/>
        </p:nvSpPr>
        <p:spPr>
          <a:xfrm>
            <a:off x="548640" y="3429000"/>
            <a:ext cx="11064240" cy="804672"/>
          </a:xfrm>
          <a:prstGeom prst="roundRect">
            <a:avLst>
              <a:gd name="adj" fmla="val 13636"/>
            </a:avLst>
          </a:prstGeom>
          <a:solidFill>
            <a:srgbClr val="EEF2F8"/>
          </a:solidFill>
          <a:ln w="12700">
            <a:solidFill>
              <a:srgbClr val="EEF2F8"/>
            </a:solidFill>
            <a:prstDash val="solid"/>
          </a:ln>
        </p:spPr>
      </p:sp>
      <p:sp>
        <p:nvSpPr>
          <p:cNvPr id="18" name="Shape 14"/>
          <p:cNvSpPr/>
          <p:nvPr/>
        </p:nvSpPr>
        <p:spPr>
          <a:xfrm>
            <a:off x="731520" y="3575304"/>
            <a:ext cx="512064" cy="512064"/>
          </a:xfrm>
          <a:prstGeom prst="ellipse">
            <a:avLst/>
          </a:prstGeom>
          <a:solidFill>
            <a:srgbClr val="C9A227"/>
          </a:solidFill>
          <a:ln w="12700">
            <a:solidFill>
              <a:srgbClr val="C9A227"/>
            </a:solidFill>
            <a:prstDash val="solid"/>
          </a:ln>
        </p:spPr>
      </p:sp>
      <p:pic>
        <p:nvPicPr>
          <p:cNvPr id="19" name="Image 2" descr="preencoded.png">    </p:cNvPr>
          <p:cNvPicPr>
            <a:picLocks noChangeAspect="1"/>
          </p:cNvPicPr>
          <p:nvPr/>
        </p:nvPicPr>
        <p:blipFill>
          <a:blip r:embed="rId3"/>
          <a:stretch>
            <a:fillRect/>
          </a:stretch>
        </p:blipFill>
        <p:spPr>
          <a:xfrm>
            <a:off x="864657" y="3708441"/>
            <a:ext cx="245791" cy="245791"/>
          </a:xfrm>
          <a:prstGeom prst="rect">
            <a:avLst/>
          </a:prstGeom>
        </p:spPr>
      </p:pic>
      <p:sp>
        <p:nvSpPr>
          <p:cNvPr id="20" name="Text 15"/>
          <p:cNvSpPr txBox="1"/>
          <p:nvPr/>
        </p:nvSpPr>
        <p:spPr>
          <a:xfrm>
            <a:off x="1417320" y="3429000"/>
            <a:ext cx="1554480" cy="804672"/>
          </a:xfrm>
          <a:prstGeom prst="rect">
            <a:avLst/>
          </a:prstGeom>
          <a:noFill/>
          <a:ln/>
        </p:spPr>
        <p:txBody>
          <a:bodyPr wrap="square" lIns="0" tIns="0" rIns="0" bIns="0" rtlCol="0" anchor="ctr"/>
          <a:lstStyle/>
          <a:p>
            <a:pPr indent="0" marL="0">
              <a:buNone/>
            </a:pPr>
            <a:r>
              <a:rPr lang="en-US" sz="1600" b="1" dirty="0">
                <a:solidFill>
                  <a:srgbClr val="12213A"/>
                </a:solidFill>
                <a:latin typeface="Cambria" pitchFamily="34" charset="0"/>
                <a:ea typeface="Cambria" pitchFamily="34" charset="-122"/>
                <a:cs typeface="Cambria" pitchFamily="34" charset="-120"/>
              </a:rPr>
              <a:t>2 jam</a:t>
            </a:r>
            <a:endParaRPr lang="en-US" sz="1600" dirty="0"/>
          </a:p>
        </p:txBody>
      </p:sp>
      <p:sp>
        <p:nvSpPr>
          <p:cNvPr id="21" name="Text 16"/>
          <p:cNvSpPr txBox="1"/>
          <p:nvPr/>
        </p:nvSpPr>
        <p:spPr>
          <a:xfrm>
            <a:off x="3017520" y="3429000"/>
            <a:ext cx="2377440" cy="804672"/>
          </a:xfrm>
          <a:prstGeom prst="rect">
            <a:avLst/>
          </a:prstGeom>
          <a:noFill/>
          <a:ln/>
        </p:spPr>
        <p:txBody>
          <a:bodyPr wrap="square" lIns="0" tIns="0" rIns="0" bIns="0" rtlCol="0" anchor="ctr"/>
          <a:lstStyle/>
          <a:p>
            <a:pPr indent="0" marL="0">
              <a:buNone/>
            </a:pPr>
            <a:r>
              <a:rPr lang="en-US" sz="1350" b="1" dirty="0">
                <a:solidFill>
                  <a:srgbClr val="12213A"/>
                </a:solidFill>
                <a:latin typeface="Calibri" pitchFamily="34" charset="0"/>
                <a:ea typeface="Calibri" pitchFamily="34" charset="-122"/>
                <a:cs typeface="Calibri" pitchFamily="34" charset="-120"/>
              </a:rPr>
              <a:t>Menulis</a:t>
            </a:r>
            <a:endParaRPr lang="en-US" sz="1350" dirty="0"/>
          </a:p>
        </p:txBody>
      </p:sp>
      <p:sp>
        <p:nvSpPr>
          <p:cNvPr id="22" name="Text 17"/>
          <p:cNvSpPr txBox="1"/>
          <p:nvPr/>
        </p:nvSpPr>
        <p:spPr>
          <a:xfrm>
            <a:off x="5486400" y="3429000"/>
            <a:ext cx="5943600" cy="80467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Memo strategi, forecast journal, atau draf publikasi. Menulis adalah cara berpikir, bukan pelaporan.</a:t>
            </a:r>
            <a:endParaRPr lang="en-US" sz="1200" dirty="0"/>
          </a:p>
        </p:txBody>
      </p:sp>
      <p:sp>
        <p:nvSpPr>
          <p:cNvPr id="23" name="Shape 18"/>
          <p:cNvSpPr/>
          <p:nvPr/>
        </p:nvSpPr>
        <p:spPr>
          <a:xfrm>
            <a:off x="548640" y="4343400"/>
            <a:ext cx="11064240" cy="804672"/>
          </a:xfrm>
          <a:prstGeom prst="roundRect">
            <a:avLst>
              <a:gd name="adj" fmla="val 13636"/>
            </a:avLst>
          </a:prstGeom>
          <a:solidFill>
            <a:srgbClr val="F7F9FC"/>
          </a:solidFill>
          <a:ln w="12700">
            <a:solidFill>
              <a:srgbClr val="F7F9FC"/>
            </a:solidFill>
            <a:prstDash val="solid"/>
          </a:ln>
        </p:spPr>
      </p:sp>
      <p:sp>
        <p:nvSpPr>
          <p:cNvPr id="24" name="Shape 19"/>
          <p:cNvSpPr/>
          <p:nvPr/>
        </p:nvSpPr>
        <p:spPr>
          <a:xfrm>
            <a:off x="731520" y="4489704"/>
            <a:ext cx="512064" cy="512064"/>
          </a:xfrm>
          <a:prstGeom prst="ellipse">
            <a:avLst/>
          </a:prstGeom>
          <a:solidFill>
            <a:srgbClr val="C9A227"/>
          </a:solidFill>
          <a:ln w="12700">
            <a:solidFill>
              <a:srgbClr val="C9A227"/>
            </a:solidFill>
            <a:prstDash val="solid"/>
          </a:ln>
        </p:spPr>
      </p:sp>
      <p:pic>
        <p:nvPicPr>
          <p:cNvPr id="25" name="Image 3" descr="preencoded.png">    </p:cNvPr>
          <p:cNvPicPr>
            <a:picLocks noChangeAspect="1"/>
          </p:cNvPicPr>
          <p:nvPr/>
        </p:nvPicPr>
        <p:blipFill>
          <a:blip r:embed="rId4"/>
          <a:stretch>
            <a:fillRect/>
          </a:stretch>
        </p:blipFill>
        <p:spPr>
          <a:xfrm>
            <a:off x="864657" y="4622841"/>
            <a:ext cx="245791" cy="245791"/>
          </a:xfrm>
          <a:prstGeom prst="rect">
            <a:avLst/>
          </a:prstGeom>
        </p:spPr>
      </p:pic>
      <p:sp>
        <p:nvSpPr>
          <p:cNvPr id="26" name="Text 20"/>
          <p:cNvSpPr txBox="1"/>
          <p:nvPr/>
        </p:nvSpPr>
        <p:spPr>
          <a:xfrm>
            <a:off x="1417320" y="4343400"/>
            <a:ext cx="1554480" cy="804672"/>
          </a:xfrm>
          <a:prstGeom prst="rect">
            <a:avLst/>
          </a:prstGeom>
          <a:noFill/>
          <a:ln/>
        </p:spPr>
        <p:txBody>
          <a:bodyPr wrap="square" lIns="0" tIns="0" rIns="0" bIns="0" rtlCol="0" anchor="ctr"/>
          <a:lstStyle/>
          <a:p>
            <a:pPr indent="0" marL="0">
              <a:buNone/>
            </a:pPr>
            <a:r>
              <a:rPr lang="en-US" sz="1600" b="1" dirty="0">
                <a:solidFill>
                  <a:srgbClr val="12213A"/>
                </a:solidFill>
                <a:latin typeface="Cambria" pitchFamily="34" charset="0"/>
                <a:ea typeface="Cambria" pitchFamily="34" charset="-122"/>
                <a:cs typeface="Cambria" pitchFamily="34" charset="-120"/>
              </a:rPr>
              <a:t>1–2 jam</a:t>
            </a:r>
            <a:endParaRPr lang="en-US" sz="1600" dirty="0"/>
          </a:p>
        </p:txBody>
      </p:sp>
      <p:sp>
        <p:nvSpPr>
          <p:cNvPr id="27" name="Text 21"/>
          <p:cNvSpPr txBox="1"/>
          <p:nvPr/>
        </p:nvSpPr>
        <p:spPr>
          <a:xfrm>
            <a:off x="3017520" y="4343400"/>
            <a:ext cx="2377440" cy="804672"/>
          </a:xfrm>
          <a:prstGeom prst="rect">
            <a:avLst/>
          </a:prstGeom>
          <a:noFill/>
          <a:ln/>
        </p:spPr>
        <p:txBody>
          <a:bodyPr wrap="square" lIns="0" tIns="0" rIns="0" bIns="0" rtlCol="0" anchor="ctr"/>
          <a:lstStyle/>
          <a:p>
            <a:pPr indent="0" marL="0">
              <a:buNone/>
            </a:pPr>
            <a:r>
              <a:rPr lang="en-US" sz="1350" b="1" dirty="0">
                <a:solidFill>
                  <a:srgbClr val="12213A"/>
                </a:solidFill>
                <a:latin typeface="Calibri" pitchFamily="34" charset="0"/>
                <a:ea typeface="Calibri" pitchFamily="34" charset="-122"/>
                <a:cs typeface="Calibri" pitchFamily="34" charset="-120"/>
              </a:rPr>
              <a:t>Diskusi &amp; umpan balik</a:t>
            </a:r>
            <a:endParaRPr lang="en-US" sz="1350" dirty="0"/>
          </a:p>
        </p:txBody>
      </p:sp>
      <p:sp>
        <p:nvSpPr>
          <p:cNvPr id="28" name="Text 22"/>
          <p:cNvSpPr txBox="1"/>
          <p:nvPr/>
        </p:nvSpPr>
        <p:spPr>
          <a:xfrm>
            <a:off x="5486400" y="4343400"/>
            <a:ext cx="5943600" cy="80467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Bahas memo dengan teman/dosen/mentor. Cari orang yang tidak setuju dengan Anda.</a:t>
            </a:r>
            <a:endParaRPr lang="en-US" sz="1200" dirty="0"/>
          </a:p>
        </p:txBody>
      </p:sp>
      <p:sp>
        <p:nvSpPr>
          <p:cNvPr id="29" name="Shape 23"/>
          <p:cNvSpPr/>
          <p:nvPr/>
        </p:nvSpPr>
        <p:spPr>
          <a:xfrm>
            <a:off x="548640" y="5257800"/>
            <a:ext cx="11064240" cy="804672"/>
          </a:xfrm>
          <a:prstGeom prst="roundRect">
            <a:avLst>
              <a:gd name="adj" fmla="val 13636"/>
            </a:avLst>
          </a:prstGeom>
          <a:solidFill>
            <a:srgbClr val="EEF2F8"/>
          </a:solidFill>
          <a:ln w="12700">
            <a:solidFill>
              <a:srgbClr val="EEF2F8"/>
            </a:solidFill>
            <a:prstDash val="solid"/>
          </a:ln>
        </p:spPr>
      </p:sp>
      <p:sp>
        <p:nvSpPr>
          <p:cNvPr id="30" name="Shape 24"/>
          <p:cNvSpPr/>
          <p:nvPr/>
        </p:nvSpPr>
        <p:spPr>
          <a:xfrm>
            <a:off x="731520" y="5404104"/>
            <a:ext cx="512064" cy="512064"/>
          </a:xfrm>
          <a:prstGeom prst="ellipse">
            <a:avLst/>
          </a:prstGeom>
          <a:solidFill>
            <a:srgbClr val="C9A227"/>
          </a:solidFill>
          <a:ln w="12700">
            <a:solidFill>
              <a:srgbClr val="C9A227"/>
            </a:solidFill>
            <a:prstDash val="solid"/>
          </a:ln>
        </p:spPr>
      </p:sp>
      <p:pic>
        <p:nvPicPr>
          <p:cNvPr id="31" name="Image 4" descr="preencoded.png">    </p:cNvPr>
          <p:cNvPicPr>
            <a:picLocks noChangeAspect="1"/>
          </p:cNvPicPr>
          <p:nvPr/>
        </p:nvPicPr>
        <p:blipFill>
          <a:blip r:embed="rId5"/>
          <a:stretch>
            <a:fillRect/>
          </a:stretch>
        </p:blipFill>
        <p:spPr>
          <a:xfrm>
            <a:off x="864657" y="5537241"/>
            <a:ext cx="245791" cy="245791"/>
          </a:xfrm>
          <a:prstGeom prst="rect">
            <a:avLst/>
          </a:prstGeom>
        </p:spPr>
      </p:pic>
      <p:sp>
        <p:nvSpPr>
          <p:cNvPr id="32" name="Text 25"/>
          <p:cNvSpPr txBox="1"/>
          <p:nvPr/>
        </p:nvSpPr>
        <p:spPr>
          <a:xfrm>
            <a:off x="1417320" y="5257800"/>
            <a:ext cx="1554480" cy="804672"/>
          </a:xfrm>
          <a:prstGeom prst="rect">
            <a:avLst/>
          </a:prstGeom>
          <a:noFill/>
          <a:ln/>
        </p:spPr>
        <p:txBody>
          <a:bodyPr wrap="square" lIns="0" tIns="0" rIns="0" bIns="0" rtlCol="0" anchor="ctr"/>
          <a:lstStyle/>
          <a:p>
            <a:pPr indent="0" marL="0">
              <a:buNone/>
            </a:pPr>
            <a:r>
              <a:rPr lang="en-US" sz="1600" b="1" dirty="0">
                <a:solidFill>
                  <a:srgbClr val="12213A"/>
                </a:solidFill>
                <a:latin typeface="Cambria" pitchFamily="34" charset="0"/>
                <a:ea typeface="Cambria" pitchFamily="34" charset="-122"/>
                <a:cs typeface="Cambria" pitchFamily="34" charset="-120"/>
              </a:rPr>
              <a:t>30 menit/hari</a:t>
            </a:r>
            <a:endParaRPr lang="en-US" sz="1600" dirty="0"/>
          </a:p>
        </p:txBody>
      </p:sp>
      <p:sp>
        <p:nvSpPr>
          <p:cNvPr id="33" name="Text 26"/>
          <p:cNvSpPr txBox="1"/>
          <p:nvPr/>
        </p:nvSpPr>
        <p:spPr>
          <a:xfrm>
            <a:off x="3017520" y="5257800"/>
            <a:ext cx="2377440" cy="804672"/>
          </a:xfrm>
          <a:prstGeom prst="rect">
            <a:avLst/>
          </a:prstGeom>
          <a:noFill/>
          <a:ln/>
        </p:spPr>
        <p:txBody>
          <a:bodyPr wrap="square" lIns="0" tIns="0" rIns="0" bIns="0" rtlCol="0" anchor="ctr"/>
          <a:lstStyle/>
          <a:p>
            <a:pPr indent="0" marL="0">
              <a:buNone/>
            </a:pPr>
            <a:r>
              <a:rPr lang="en-US" sz="1350" b="1" dirty="0">
                <a:solidFill>
                  <a:srgbClr val="12213A"/>
                </a:solidFill>
                <a:latin typeface="Calibri" pitchFamily="34" charset="0"/>
                <a:ea typeface="Calibri" pitchFamily="34" charset="-122"/>
                <a:cs typeface="Calibri" pitchFamily="34" charset="-120"/>
              </a:rPr>
              <a:t>Berita dengan lensa strategi</a:t>
            </a:r>
            <a:endParaRPr lang="en-US" sz="1350" dirty="0"/>
          </a:p>
        </p:txBody>
      </p:sp>
      <p:sp>
        <p:nvSpPr>
          <p:cNvPr id="34" name="Text 27"/>
          <p:cNvSpPr txBox="1"/>
          <p:nvPr/>
        </p:nvSpPr>
        <p:spPr>
          <a:xfrm>
            <a:off x="5486400" y="5257800"/>
            <a:ext cx="5943600" cy="804672"/>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Kontan, Bisnis Indonesia, The Economist, FT. Pertanyaan tetap: "apa diagnosis mereka, dan apa yang mereka lewatkan?"</a:t>
            </a:r>
            <a:endParaRPr lang="en-US" sz="1200" dirty="0"/>
          </a:p>
        </p:txBody>
      </p:sp>
      <p:sp>
        <p:nvSpPr>
          <p:cNvPr id="35" name="Text 28"/>
          <p:cNvSpPr txBox="1"/>
          <p:nvPr/>
        </p:nvSpPr>
        <p:spPr>
          <a:xfrm>
            <a:off x="548640" y="6217920"/>
            <a:ext cx="1106424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Aturan minimum saat minggu kacau: tetap tulis 1 halaman. Membaca bisa diundur, menulis tidak.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Daftar bacaan (1/2): fondasi dan pendalaman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11 judul untuk 12 bulan pertama: 8 wajib, sisanya pendamping atau opsional</a:t>
            </a:r>
            <a:endParaRPr lang="en-US" sz="1400" dirty="0"/>
          </a:p>
        </p:txBody>
      </p:sp>
      <p:sp>
        <p:nvSpPr>
          <p:cNvPr id="5" name="Text 3"/>
          <p:cNvSpPr txBox="1"/>
          <p:nvPr/>
        </p:nvSpPr>
        <p:spPr>
          <a:xfrm>
            <a:off x="548640" y="1508760"/>
            <a:ext cx="10972800" cy="320040"/>
          </a:xfrm>
          <a:prstGeom prst="rect">
            <a:avLst/>
          </a:prstGeom>
          <a:noFill/>
          <a:ln/>
        </p:spPr>
        <p:txBody>
          <a:bodyPr wrap="square" lIns="0" tIns="0" rIns="0" bIns="0"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Tier 1 · Fondasi (Fase 1)</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56232"/>
          <a:ext cx="11064240" cy="914400"/>
        </p:xfrm>
        <a:graphic>
          <a:graphicData uri="http://schemas.openxmlformats.org/drawingml/2006/table">
            <a:tbl>
              <a:tblPr/>
              <a:tblGrid>
                <a:gridCol w="2743200"/>
                <a:gridCol w="2194560"/>
                <a:gridCol w="5212080"/>
                <a:gridCol w="9144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Judul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Penulis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Kenapa dibaca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Good Strategy/Bad Strategy</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Richard Rumelt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Kernel strategi: diagnosis, kebijakan pengarah, aksi koheren. Buku pertama yang harus dibaca.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Playing to Win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A.G. Lafley &amp; Roger Martin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Lima pilihan strategi yang saling bertaut. Paling praktis untuk dipakai di kantor.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"What Is Strategy?" &amp; "Five Forces" (HBR)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Michael Porter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Dua artikel klasik. Fondasi posisi strategis dan struktur industri.</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Contemporary Strategy Analysis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Robert Grant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Buku teks paling rapi untuk MBA. Pendamping kuliah, bukan bacaan tuntas.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Teks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Art of War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Sun Tzu</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Domain publik, gratis. Baca untuk pola pikir, bukan framework.</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Opsional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bl>
          </a:graphicData>
        </a:graphic>
      </p:graphicFrame>
      <p:sp>
        <p:nvSpPr>
          <p:cNvPr id="7" name="Text 4"/>
          <p:cNvSpPr txBox="1"/>
          <p:nvPr/>
        </p:nvSpPr>
        <p:spPr>
          <a:xfrm>
            <a:off x="548640" y="3931920"/>
            <a:ext cx="10972800" cy="320040"/>
          </a:xfrm>
          <a:prstGeom prst="rect">
            <a:avLst/>
          </a:prstGeom>
          <a:noFill/>
          <a:ln/>
        </p:spPr>
        <p:txBody>
          <a:bodyPr wrap="square" lIns="0" tIns="0" rIns="0" bIns="0"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Tier 2 · Pendalaman (Fase 2)</a:t>
            </a:r>
            <a:endParaRPr lang="en-US" sz="1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 y="4279392"/>
          <a:ext cx="11064240" cy="914400"/>
        </p:xfrm>
        <a:graphic>
          <a:graphicData uri="http://schemas.openxmlformats.org/drawingml/2006/table">
            <a:tbl>
              <a:tblPr/>
              <a:tblGrid>
                <a:gridCol w="2743200"/>
                <a:gridCol w="2194560"/>
                <a:gridCol w="5212080"/>
                <a:gridCol w="9144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Judul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Penulis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Kenapa dibaca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Competitive Strategy</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Michael Porter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Sumber asli Five Forces dan strategi generik. Padat, baca selektif.</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7 Powers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Hamilton Helmer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Tujuh sumber keunggulan yang bertahan. Ringkas, tajam, sangat dipakai praktisi.</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Blue Ocean Strategy</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W. Chan Kim &amp; Renée Mauborgne</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Inovasi nilai dan kanvas strategi. Baca kritis: tidak semua industri punya samudra biru.</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Innovator's Dilemma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Clayton Christensen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Mengapa perusahaan bagus kalah oleh disrupsi. Penting untuk konteks digital Indonesia.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Thinking Strategically</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Avinash Dixit &amp; Barry Nalebuff</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Teori permainan untuk pengambil keputusan, tanpa matematika berat.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Thinking, Fast and Slow</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Daniel Kahneman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Bias kognitif yang merusak keputusan strategis. Bagian 1–3 cukup.</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Sebagian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Daftar bacaan (2/2): aplikasi dan komunikasi</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11 judul untuk 12 bulan kedua: 7 wajib. Total 22 judul, 15 wajib</a:t>
            </a:r>
            <a:endParaRPr lang="en-US" sz="1400" dirty="0"/>
          </a:p>
        </p:txBody>
      </p:sp>
      <p:sp>
        <p:nvSpPr>
          <p:cNvPr id="5" name="Text 3"/>
          <p:cNvSpPr txBox="1"/>
          <p:nvPr/>
        </p:nvSpPr>
        <p:spPr>
          <a:xfrm>
            <a:off x="548640" y="1508760"/>
            <a:ext cx="10972800" cy="320040"/>
          </a:xfrm>
          <a:prstGeom prst="rect">
            <a:avLst/>
          </a:prstGeom>
          <a:noFill/>
          <a:ln/>
        </p:spPr>
        <p:txBody>
          <a:bodyPr wrap="square" lIns="0" tIns="0" rIns="0" bIns="0"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Tier 3 · Aplikasi &amp; keputusan (Fase 3)</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56232"/>
          <a:ext cx="11064240" cy="914400"/>
        </p:xfrm>
        <a:graphic>
          <a:graphicData uri="http://schemas.openxmlformats.org/drawingml/2006/table">
            <a:tbl>
              <a:tblPr/>
              <a:tblGrid>
                <a:gridCol w="2743200"/>
                <a:gridCol w="2194560"/>
                <a:gridCol w="5212080"/>
                <a:gridCol w="9144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Judul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Penulis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Kenapa dibaca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Crux</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Richard Rumelt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Lanjutan GSBS: cara menemukan masalah inti yang bisa diselesaikan.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Strategist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Cynthia Montgomery</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Strategi sebagai tanggung jawab pemimpin, bukan departemen. Singkat.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Execution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Larry Bossidy &amp; Ram Charan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Disiplin menjalankan strategi: orang, strategi, operasi.</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Measure What Matters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John Doerr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OKR untuk menerjemahkan strategi menjadi target tim.</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Cepat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Superforecasting</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Philip Tetlock &amp; Dan Gardner</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Cara berpikir probabilistik dan kalibrasi. Dasar forecast journal.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Thinking in Bets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Annie Duke</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Memisahkan kualitas keputusan dari kualitas hasil.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Opsional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224528"/>
            <a:ext cx="10972800" cy="320040"/>
          </a:xfrm>
          <a:prstGeom prst="rect">
            <a:avLst/>
          </a:prstGeom>
          <a:noFill/>
          <a:ln/>
        </p:spPr>
        <p:txBody>
          <a:bodyPr wrap="square" lIns="0" tIns="0" rIns="0" bIns="0"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Tier 4 · Spesialisasi &amp; komunikasi (Fase 4)</a:t>
            </a:r>
            <a:endParaRPr lang="en-US" sz="14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4572000"/>
          <a:ext cx="11064240" cy="914400"/>
        </p:xfrm>
        <a:graphic>
          <a:graphicData uri="http://schemas.openxmlformats.org/drawingml/2006/table">
            <a:tbl>
              <a:tblPr/>
              <a:tblGrid>
                <a:gridCol w="2743200"/>
                <a:gridCol w="2194560"/>
                <a:gridCol w="5212080"/>
                <a:gridCol w="91440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Judul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Penulis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Kenapa dibaca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Strategy Safari</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Mintzberg, Ahlstrand &amp; Lampel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Sepuluh aliran pemikiran strategi dan batas masing-masing.</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Opposable Mind</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Roger Martin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Berpikir integratif: menahan dua model yang bertentangan sekaligus.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The Pyramid Principle</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Barbara Minto</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Standar penulisan konsultan: kesimpulan dulu, lalu argumen berjenjang.</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5B"/>
                          </a:solidFill>
                          <a:latin typeface="Calibri" pitchFamily="34" charset="0"/>
                          <a:ea typeface="Calibri" pitchFamily="34" charset="-122"/>
                          <a:cs typeface="Calibri" pitchFamily="34" charset="-120"/>
                        </a:rPr>
                        <a:t>Wajib</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Good to Great</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Jim Collins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Populer di kalangan eksekutif; baca dengan skeptis terhadap metodologinya.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Kritis</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12213A"/>
                          </a:solidFill>
                          <a:latin typeface="Calibri" pitchFamily="34" charset="0"/>
                          <a:ea typeface="Calibri" pitchFamily="34" charset="-122"/>
                          <a:cs typeface="Calibri" pitchFamily="34" charset="-120"/>
                        </a:rPr>
                        <a:t>Disruption</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Rhenald Kasali</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Perspektif Indonesia tentang perubahan lanskap bisnis. Bahasa Indonesia.</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6B7280"/>
                          </a:solidFill>
                          <a:latin typeface="Calibri" pitchFamily="34" charset="0"/>
                          <a:ea typeface="Calibri" pitchFamily="34" charset="-122"/>
                          <a:cs typeface="Calibri" pitchFamily="34" charset="-120"/>
                        </a:rPr>
                        <a:t>Opsional</a:t>
                      </a:r>
                      <a:endParaRPr lang="en-US" sz="1050" dirty="0">
                        <a:latin typeface="Calibri" charset="0"/>
                        <a:ea typeface="Calibri" charset="0"/>
                        <a:cs typeface="Calibri" charset="0"/>
                      </a:endParaRPr>
                    </a:p>
                  </a:txBody>
                  <a:tcPr marL="45720" marR="45720" marT="45720" marB="45720"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Toolkit yang harus bisa dipakai tanpa contekan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Dan, sama pentingnya, tahu kapan alat ini tidak cocok dipakai</a:t>
            </a:r>
            <a:endParaRPr lang="en-US" sz="1400" dirty="0"/>
          </a:p>
        </p:txBody>
      </p:sp>
      <p:sp>
        <p:nvSpPr>
          <p:cNvPr id="5" name="Shape 3"/>
          <p:cNvSpPr/>
          <p:nvPr/>
        </p:nvSpPr>
        <p:spPr>
          <a:xfrm>
            <a:off x="548640" y="1554480"/>
            <a:ext cx="3520440" cy="822960"/>
          </a:xfrm>
          <a:prstGeom prst="roundRect">
            <a:avLst>
              <a:gd name="adj" fmla="val 13333"/>
            </a:avLst>
          </a:prstGeom>
          <a:solidFill>
            <a:srgbClr val="F7F9FC"/>
          </a:solidFill>
          <a:ln w="12700">
            <a:solidFill>
              <a:srgbClr val="F7F9FC"/>
            </a:solidFill>
            <a:prstDash val="solid"/>
          </a:ln>
        </p:spPr>
      </p:sp>
      <p:sp>
        <p:nvSpPr>
          <p:cNvPr id="6" name="Shape 4"/>
          <p:cNvSpPr/>
          <p:nvPr/>
        </p:nvSpPr>
        <p:spPr>
          <a:xfrm>
            <a:off x="731520" y="1783080"/>
            <a:ext cx="365760" cy="365760"/>
          </a:xfrm>
          <a:prstGeom prst="ellipse">
            <a:avLst/>
          </a:prstGeom>
          <a:solidFill>
            <a:srgbClr val="C9A227"/>
          </a:solidFill>
          <a:ln w="12700">
            <a:solidFill>
              <a:srgbClr val="C9A227"/>
            </a:solidFill>
            <a:prstDash val="solid"/>
          </a:ln>
        </p:spPr>
      </p:sp>
      <p:sp>
        <p:nvSpPr>
          <p:cNvPr id="7" name="Text 5"/>
          <p:cNvSpPr txBox="1"/>
          <p:nvPr/>
        </p:nvSpPr>
        <p:spPr>
          <a:xfrm>
            <a:off x="731520" y="1783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234440" y="155448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Five Forces &amp; struktur industri</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Porter</a:t>
            </a:r>
            <a:endParaRPr lang="en-US" sz="1200" dirty="0"/>
          </a:p>
        </p:txBody>
      </p:sp>
      <p:sp>
        <p:nvSpPr>
          <p:cNvPr id="9" name="Shape 7"/>
          <p:cNvSpPr/>
          <p:nvPr/>
        </p:nvSpPr>
        <p:spPr>
          <a:xfrm>
            <a:off x="4297680" y="1554480"/>
            <a:ext cx="3520440" cy="822960"/>
          </a:xfrm>
          <a:prstGeom prst="roundRect">
            <a:avLst>
              <a:gd name="adj" fmla="val 13333"/>
            </a:avLst>
          </a:prstGeom>
          <a:solidFill>
            <a:srgbClr val="F7F9FC"/>
          </a:solidFill>
          <a:ln w="12700">
            <a:solidFill>
              <a:srgbClr val="F7F9FC"/>
            </a:solidFill>
            <a:prstDash val="solid"/>
          </a:ln>
        </p:spPr>
      </p:sp>
      <p:sp>
        <p:nvSpPr>
          <p:cNvPr id="10" name="Shape 8"/>
          <p:cNvSpPr/>
          <p:nvPr/>
        </p:nvSpPr>
        <p:spPr>
          <a:xfrm>
            <a:off x="4480560" y="1783080"/>
            <a:ext cx="365760" cy="365760"/>
          </a:xfrm>
          <a:prstGeom prst="ellipse">
            <a:avLst/>
          </a:prstGeom>
          <a:solidFill>
            <a:srgbClr val="C9A227"/>
          </a:solidFill>
          <a:ln w="12700">
            <a:solidFill>
              <a:srgbClr val="C9A227"/>
            </a:solidFill>
            <a:prstDash val="solid"/>
          </a:ln>
        </p:spPr>
      </p:sp>
      <p:sp>
        <p:nvSpPr>
          <p:cNvPr id="11" name="Text 9"/>
          <p:cNvSpPr txBox="1"/>
          <p:nvPr/>
        </p:nvSpPr>
        <p:spPr>
          <a:xfrm>
            <a:off x="4480560" y="1783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4983480" y="155448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Rantai nilai &amp; sistem aktivitas</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Porter</a:t>
            </a:r>
            <a:endParaRPr lang="en-US" sz="1200" dirty="0"/>
          </a:p>
        </p:txBody>
      </p:sp>
      <p:sp>
        <p:nvSpPr>
          <p:cNvPr id="13" name="Shape 11"/>
          <p:cNvSpPr/>
          <p:nvPr/>
        </p:nvSpPr>
        <p:spPr>
          <a:xfrm>
            <a:off x="8046720" y="1554480"/>
            <a:ext cx="3520440" cy="822960"/>
          </a:xfrm>
          <a:prstGeom prst="roundRect">
            <a:avLst>
              <a:gd name="adj" fmla="val 13333"/>
            </a:avLst>
          </a:prstGeom>
          <a:solidFill>
            <a:srgbClr val="F7F9FC"/>
          </a:solidFill>
          <a:ln w="12700">
            <a:solidFill>
              <a:srgbClr val="F7F9FC"/>
            </a:solidFill>
            <a:prstDash val="solid"/>
          </a:ln>
        </p:spPr>
      </p:sp>
      <p:sp>
        <p:nvSpPr>
          <p:cNvPr id="14" name="Shape 12"/>
          <p:cNvSpPr/>
          <p:nvPr/>
        </p:nvSpPr>
        <p:spPr>
          <a:xfrm>
            <a:off x="8229600" y="1783080"/>
            <a:ext cx="365760" cy="365760"/>
          </a:xfrm>
          <a:prstGeom prst="ellipse">
            <a:avLst/>
          </a:prstGeom>
          <a:solidFill>
            <a:srgbClr val="C9A227"/>
          </a:solidFill>
          <a:ln w="12700">
            <a:solidFill>
              <a:srgbClr val="C9A227"/>
            </a:solidFill>
            <a:prstDash val="solid"/>
          </a:ln>
        </p:spPr>
      </p:sp>
      <p:sp>
        <p:nvSpPr>
          <p:cNvPr id="15" name="Text 13"/>
          <p:cNvSpPr txBox="1"/>
          <p:nvPr/>
        </p:nvSpPr>
        <p:spPr>
          <a:xfrm>
            <a:off x="8229600" y="1783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8732520" y="155448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VRIO / resource-based view</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Barney, Grant</a:t>
            </a:r>
            <a:endParaRPr lang="en-US" sz="1200" dirty="0"/>
          </a:p>
        </p:txBody>
      </p:sp>
      <p:sp>
        <p:nvSpPr>
          <p:cNvPr id="17" name="Shape 15"/>
          <p:cNvSpPr/>
          <p:nvPr/>
        </p:nvSpPr>
        <p:spPr>
          <a:xfrm>
            <a:off x="548640" y="2514600"/>
            <a:ext cx="3520440" cy="822960"/>
          </a:xfrm>
          <a:prstGeom prst="roundRect">
            <a:avLst>
              <a:gd name="adj" fmla="val 13333"/>
            </a:avLst>
          </a:prstGeom>
          <a:solidFill>
            <a:srgbClr val="F7F9FC"/>
          </a:solidFill>
          <a:ln w="12700">
            <a:solidFill>
              <a:srgbClr val="F7F9FC"/>
            </a:solidFill>
            <a:prstDash val="solid"/>
          </a:ln>
        </p:spPr>
      </p:sp>
      <p:sp>
        <p:nvSpPr>
          <p:cNvPr id="18" name="Shape 16"/>
          <p:cNvSpPr/>
          <p:nvPr/>
        </p:nvSpPr>
        <p:spPr>
          <a:xfrm>
            <a:off x="731520" y="2743200"/>
            <a:ext cx="365760" cy="365760"/>
          </a:xfrm>
          <a:prstGeom prst="ellipse">
            <a:avLst/>
          </a:prstGeom>
          <a:solidFill>
            <a:srgbClr val="C9A227"/>
          </a:solidFill>
          <a:ln w="12700">
            <a:solidFill>
              <a:srgbClr val="C9A227"/>
            </a:solidFill>
            <a:prstDash val="solid"/>
          </a:ln>
        </p:spPr>
      </p:sp>
      <p:sp>
        <p:nvSpPr>
          <p:cNvPr id="19" name="Text 17"/>
          <p:cNvSpPr txBox="1"/>
          <p:nvPr/>
        </p:nvSpPr>
        <p:spPr>
          <a:xfrm>
            <a:off x="731520" y="27432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1234440" y="251460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7 Powers</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Helmer</a:t>
            </a:r>
            <a:endParaRPr lang="en-US" sz="1200" dirty="0"/>
          </a:p>
        </p:txBody>
      </p:sp>
      <p:sp>
        <p:nvSpPr>
          <p:cNvPr id="21" name="Shape 19"/>
          <p:cNvSpPr/>
          <p:nvPr/>
        </p:nvSpPr>
        <p:spPr>
          <a:xfrm>
            <a:off x="4297680" y="2514600"/>
            <a:ext cx="3520440" cy="822960"/>
          </a:xfrm>
          <a:prstGeom prst="roundRect">
            <a:avLst>
              <a:gd name="adj" fmla="val 13333"/>
            </a:avLst>
          </a:prstGeom>
          <a:solidFill>
            <a:srgbClr val="F7F9FC"/>
          </a:solidFill>
          <a:ln w="12700">
            <a:solidFill>
              <a:srgbClr val="F7F9FC"/>
            </a:solidFill>
            <a:prstDash val="solid"/>
          </a:ln>
        </p:spPr>
      </p:sp>
      <p:sp>
        <p:nvSpPr>
          <p:cNvPr id="22" name="Shape 20"/>
          <p:cNvSpPr/>
          <p:nvPr/>
        </p:nvSpPr>
        <p:spPr>
          <a:xfrm>
            <a:off x="4480560" y="2743200"/>
            <a:ext cx="365760" cy="365760"/>
          </a:xfrm>
          <a:prstGeom prst="ellipse">
            <a:avLst/>
          </a:prstGeom>
          <a:solidFill>
            <a:srgbClr val="C9A227"/>
          </a:solidFill>
          <a:ln w="12700">
            <a:solidFill>
              <a:srgbClr val="C9A227"/>
            </a:solidFill>
            <a:prstDash val="solid"/>
          </a:ln>
        </p:spPr>
      </p:sp>
      <p:sp>
        <p:nvSpPr>
          <p:cNvPr id="23" name="Text 21"/>
          <p:cNvSpPr txBox="1"/>
          <p:nvPr/>
        </p:nvSpPr>
        <p:spPr>
          <a:xfrm>
            <a:off x="4480560" y="27432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txBox="1"/>
          <p:nvPr/>
        </p:nvSpPr>
        <p:spPr>
          <a:xfrm>
            <a:off x="4983480" y="251460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Kernel strategi (diagnosis–kebijakan–aksi)</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Rumelt</a:t>
            </a:r>
            <a:endParaRPr lang="en-US" sz="1200" dirty="0"/>
          </a:p>
        </p:txBody>
      </p:sp>
      <p:sp>
        <p:nvSpPr>
          <p:cNvPr id="25" name="Shape 23"/>
          <p:cNvSpPr/>
          <p:nvPr/>
        </p:nvSpPr>
        <p:spPr>
          <a:xfrm>
            <a:off x="8046720" y="2514600"/>
            <a:ext cx="3520440" cy="822960"/>
          </a:xfrm>
          <a:prstGeom prst="roundRect">
            <a:avLst>
              <a:gd name="adj" fmla="val 13333"/>
            </a:avLst>
          </a:prstGeom>
          <a:solidFill>
            <a:srgbClr val="F7F9FC"/>
          </a:solidFill>
          <a:ln w="12700">
            <a:solidFill>
              <a:srgbClr val="F7F9FC"/>
            </a:solidFill>
            <a:prstDash val="solid"/>
          </a:ln>
        </p:spPr>
      </p:sp>
      <p:sp>
        <p:nvSpPr>
          <p:cNvPr id="26" name="Shape 24"/>
          <p:cNvSpPr/>
          <p:nvPr/>
        </p:nvSpPr>
        <p:spPr>
          <a:xfrm>
            <a:off x="8229600" y="2743200"/>
            <a:ext cx="365760" cy="365760"/>
          </a:xfrm>
          <a:prstGeom prst="ellipse">
            <a:avLst/>
          </a:prstGeom>
          <a:solidFill>
            <a:srgbClr val="C9A227"/>
          </a:solidFill>
          <a:ln w="12700">
            <a:solidFill>
              <a:srgbClr val="C9A227"/>
            </a:solidFill>
            <a:prstDash val="solid"/>
          </a:ln>
        </p:spPr>
      </p:sp>
      <p:sp>
        <p:nvSpPr>
          <p:cNvPr id="27" name="Text 25"/>
          <p:cNvSpPr txBox="1"/>
          <p:nvPr/>
        </p:nvSpPr>
        <p:spPr>
          <a:xfrm>
            <a:off x="8229600" y="27432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6"/>
          <p:cNvSpPr txBox="1"/>
          <p:nvPr/>
        </p:nvSpPr>
        <p:spPr>
          <a:xfrm>
            <a:off x="8732520" y="251460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Kaskade 5 pilihan Playing to Win</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Lafley &amp; Martin</a:t>
            </a:r>
            <a:endParaRPr lang="en-US" sz="1200" dirty="0"/>
          </a:p>
        </p:txBody>
      </p:sp>
      <p:sp>
        <p:nvSpPr>
          <p:cNvPr id="29" name="Shape 27"/>
          <p:cNvSpPr/>
          <p:nvPr/>
        </p:nvSpPr>
        <p:spPr>
          <a:xfrm>
            <a:off x="548640" y="3474720"/>
            <a:ext cx="3520440" cy="822960"/>
          </a:xfrm>
          <a:prstGeom prst="roundRect">
            <a:avLst>
              <a:gd name="adj" fmla="val 13333"/>
            </a:avLst>
          </a:prstGeom>
          <a:solidFill>
            <a:srgbClr val="F7F9FC"/>
          </a:solidFill>
          <a:ln w="12700">
            <a:solidFill>
              <a:srgbClr val="F7F9FC"/>
            </a:solidFill>
            <a:prstDash val="solid"/>
          </a:ln>
        </p:spPr>
      </p:sp>
      <p:sp>
        <p:nvSpPr>
          <p:cNvPr id="30" name="Shape 28"/>
          <p:cNvSpPr/>
          <p:nvPr/>
        </p:nvSpPr>
        <p:spPr>
          <a:xfrm>
            <a:off x="731520" y="3703320"/>
            <a:ext cx="365760" cy="365760"/>
          </a:xfrm>
          <a:prstGeom prst="ellipse">
            <a:avLst/>
          </a:prstGeom>
          <a:solidFill>
            <a:srgbClr val="C9A227"/>
          </a:solidFill>
          <a:ln w="12700">
            <a:solidFill>
              <a:srgbClr val="C9A227"/>
            </a:solidFill>
            <a:prstDash val="solid"/>
          </a:ln>
        </p:spPr>
      </p:sp>
      <p:sp>
        <p:nvSpPr>
          <p:cNvPr id="31" name="Text 29"/>
          <p:cNvSpPr txBox="1"/>
          <p:nvPr/>
        </p:nvSpPr>
        <p:spPr>
          <a:xfrm>
            <a:off x="731520" y="3703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30"/>
          <p:cNvSpPr txBox="1"/>
          <p:nvPr/>
        </p:nvSpPr>
        <p:spPr>
          <a:xfrm>
            <a:off x="1234440" y="347472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Kanvas strategi &amp; ERRC grid</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Kim &amp; Mauborgne</a:t>
            </a:r>
            <a:endParaRPr lang="en-US" sz="1200" dirty="0"/>
          </a:p>
        </p:txBody>
      </p:sp>
      <p:sp>
        <p:nvSpPr>
          <p:cNvPr id="33" name="Shape 31"/>
          <p:cNvSpPr/>
          <p:nvPr/>
        </p:nvSpPr>
        <p:spPr>
          <a:xfrm>
            <a:off x="4297680" y="3474720"/>
            <a:ext cx="3520440" cy="822960"/>
          </a:xfrm>
          <a:prstGeom prst="roundRect">
            <a:avLst>
              <a:gd name="adj" fmla="val 13333"/>
            </a:avLst>
          </a:prstGeom>
          <a:solidFill>
            <a:srgbClr val="F7F9FC"/>
          </a:solidFill>
          <a:ln w="12700">
            <a:solidFill>
              <a:srgbClr val="F7F9FC"/>
            </a:solidFill>
            <a:prstDash val="solid"/>
          </a:ln>
        </p:spPr>
      </p:sp>
      <p:sp>
        <p:nvSpPr>
          <p:cNvPr id="34" name="Shape 32"/>
          <p:cNvSpPr/>
          <p:nvPr/>
        </p:nvSpPr>
        <p:spPr>
          <a:xfrm>
            <a:off x="4480560" y="3703320"/>
            <a:ext cx="365760" cy="365760"/>
          </a:xfrm>
          <a:prstGeom prst="ellipse">
            <a:avLst/>
          </a:prstGeom>
          <a:solidFill>
            <a:srgbClr val="C9A227"/>
          </a:solidFill>
          <a:ln w="12700">
            <a:solidFill>
              <a:srgbClr val="C9A227"/>
            </a:solidFill>
            <a:prstDash val="solid"/>
          </a:ln>
        </p:spPr>
      </p:sp>
      <p:sp>
        <p:nvSpPr>
          <p:cNvPr id="35" name="Text 33"/>
          <p:cNvSpPr txBox="1"/>
          <p:nvPr/>
        </p:nvSpPr>
        <p:spPr>
          <a:xfrm>
            <a:off x="4480560" y="3703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4"/>
          <p:cNvSpPr txBox="1"/>
          <p:nvPr/>
        </p:nvSpPr>
        <p:spPr>
          <a:xfrm>
            <a:off x="4983480" y="347472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Scenario planning</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Shell / Schwartz</a:t>
            </a:r>
            <a:endParaRPr lang="en-US" sz="1200" dirty="0"/>
          </a:p>
        </p:txBody>
      </p:sp>
      <p:sp>
        <p:nvSpPr>
          <p:cNvPr id="37" name="Shape 35"/>
          <p:cNvSpPr/>
          <p:nvPr/>
        </p:nvSpPr>
        <p:spPr>
          <a:xfrm>
            <a:off x="8046720" y="3474720"/>
            <a:ext cx="3520440" cy="822960"/>
          </a:xfrm>
          <a:prstGeom prst="roundRect">
            <a:avLst>
              <a:gd name="adj" fmla="val 13333"/>
            </a:avLst>
          </a:prstGeom>
          <a:solidFill>
            <a:srgbClr val="F7F9FC"/>
          </a:solidFill>
          <a:ln w="12700">
            <a:solidFill>
              <a:srgbClr val="F7F9FC"/>
            </a:solidFill>
            <a:prstDash val="solid"/>
          </a:ln>
        </p:spPr>
      </p:sp>
      <p:sp>
        <p:nvSpPr>
          <p:cNvPr id="38" name="Shape 36"/>
          <p:cNvSpPr/>
          <p:nvPr/>
        </p:nvSpPr>
        <p:spPr>
          <a:xfrm>
            <a:off x="8229600" y="3703320"/>
            <a:ext cx="365760" cy="365760"/>
          </a:xfrm>
          <a:prstGeom prst="ellipse">
            <a:avLst/>
          </a:prstGeom>
          <a:solidFill>
            <a:srgbClr val="C9A227"/>
          </a:solidFill>
          <a:ln w="12700">
            <a:solidFill>
              <a:srgbClr val="C9A227"/>
            </a:solidFill>
            <a:prstDash val="solid"/>
          </a:ln>
        </p:spPr>
      </p:sp>
      <p:sp>
        <p:nvSpPr>
          <p:cNvPr id="39" name="Text 37"/>
          <p:cNvSpPr txBox="1"/>
          <p:nvPr/>
        </p:nvSpPr>
        <p:spPr>
          <a:xfrm>
            <a:off x="8229600" y="3703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0" name="Text 38"/>
          <p:cNvSpPr txBox="1"/>
          <p:nvPr/>
        </p:nvSpPr>
        <p:spPr>
          <a:xfrm>
            <a:off x="8732520" y="347472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Teori permainan dasar</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Dixit &amp; Nalebuff</a:t>
            </a:r>
            <a:endParaRPr lang="en-US" sz="1200" dirty="0"/>
          </a:p>
        </p:txBody>
      </p:sp>
      <p:sp>
        <p:nvSpPr>
          <p:cNvPr id="41" name="Shape 39"/>
          <p:cNvSpPr/>
          <p:nvPr/>
        </p:nvSpPr>
        <p:spPr>
          <a:xfrm>
            <a:off x="548640" y="4434840"/>
            <a:ext cx="3520440" cy="822960"/>
          </a:xfrm>
          <a:prstGeom prst="roundRect">
            <a:avLst>
              <a:gd name="adj" fmla="val 13333"/>
            </a:avLst>
          </a:prstGeom>
          <a:solidFill>
            <a:srgbClr val="F7F9FC"/>
          </a:solidFill>
          <a:ln w="12700">
            <a:solidFill>
              <a:srgbClr val="F7F9FC"/>
            </a:solidFill>
            <a:prstDash val="solid"/>
          </a:ln>
        </p:spPr>
      </p:sp>
      <p:sp>
        <p:nvSpPr>
          <p:cNvPr id="42" name="Shape 40"/>
          <p:cNvSpPr/>
          <p:nvPr/>
        </p:nvSpPr>
        <p:spPr>
          <a:xfrm>
            <a:off x="731520" y="4663440"/>
            <a:ext cx="365760" cy="365760"/>
          </a:xfrm>
          <a:prstGeom prst="ellipse">
            <a:avLst/>
          </a:prstGeom>
          <a:solidFill>
            <a:srgbClr val="C9A227"/>
          </a:solidFill>
          <a:ln w="12700">
            <a:solidFill>
              <a:srgbClr val="C9A227"/>
            </a:solidFill>
            <a:prstDash val="solid"/>
          </a:ln>
        </p:spPr>
      </p:sp>
      <p:sp>
        <p:nvSpPr>
          <p:cNvPr id="43" name="Text 41"/>
          <p:cNvSpPr txBox="1"/>
          <p:nvPr/>
        </p:nvSpPr>
        <p:spPr>
          <a:xfrm>
            <a:off x="731520" y="46634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4" name="Text 42"/>
          <p:cNvSpPr txBox="1"/>
          <p:nvPr/>
        </p:nvSpPr>
        <p:spPr>
          <a:xfrm>
            <a:off x="1234440" y="443484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Unit economics, ROIC vs WACC, DCF</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Keuangan korporat</a:t>
            </a:r>
            <a:endParaRPr lang="en-US" sz="1200" dirty="0"/>
          </a:p>
        </p:txBody>
      </p:sp>
      <p:sp>
        <p:nvSpPr>
          <p:cNvPr id="45" name="Shape 43"/>
          <p:cNvSpPr/>
          <p:nvPr/>
        </p:nvSpPr>
        <p:spPr>
          <a:xfrm>
            <a:off x="4297680" y="4434840"/>
            <a:ext cx="3520440" cy="822960"/>
          </a:xfrm>
          <a:prstGeom prst="roundRect">
            <a:avLst>
              <a:gd name="adj" fmla="val 13333"/>
            </a:avLst>
          </a:prstGeom>
          <a:solidFill>
            <a:srgbClr val="F7F9FC"/>
          </a:solidFill>
          <a:ln w="12700">
            <a:solidFill>
              <a:srgbClr val="F7F9FC"/>
            </a:solidFill>
            <a:prstDash val="solid"/>
          </a:ln>
        </p:spPr>
      </p:sp>
      <p:sp>
        <p:nvSpPr>
          <p:cNvPr id="46" name="Shape 44"/>
          <p:cNvSpPr/>
          <p:nvPr/>
        </p:nvSpPr>
        <p:spPr>
          <a:xfrm>
            <a:off x="4480560" y="4663440"/>
            <a:ext cx="365760" cy="365760"/>
          </a:xfrm>
          <a:prstGeom prst="ellipse">
            <a:avLst/>
          </a:prstGeom>
          <a:solidFill>
            <a:srgbClr val="C9A227"/>
          </a:solidFill>
          <a:ln w="12700">
            <a:solidFill>
              <a:srgbClr val="C9A227"/>
            </a:solidFill>
            <a:prstDash val="solid"/>
          </a:ln>
        </p:spPr>
      </p:sp>
      <p:sp>
        <p:nvSpPr>
          <p:cNvPr id="47" name="Text 45"/>
          <p:cNvSpPr txBox="1"/>
          <p:nvPr/>
        </p:nvSpPr>
        <p:spPr>
          <a:xfrm>
            <a:off x="4480560" y="46634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4983480" y="443484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Real options &amp; staged bets</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Keuangan / Duke</a:t>
            </a:r>
            <a:endParaRPr lang="en-US" sz="1200" dirty="0"/>
          </a:p>
        </p:txBody>
      </p:sp>
      <p:sp>
        <p:nvSpPr>
          <p:cNvPr id="49" name="Shape 47"/>
          <p:cNvSpPr/>
          <p:nvPr/>
        </p:nvSpPr>
        <p:spPr>
          <a:xfrm>
            <a:off x="8046720" y="4434840"/>
            <a:ext cx="3520440" cy="822960"/>
          </a:xfrm>
          <a:prstGeom prst="roundRect">
            <a:avLst>
              <a:gd name="adj" fmla="val 13333"/>
            </a:avLst>
          </a:prstGeom>
          <a:solidFill>
            <a:srgbClr val="F7F9FC"/>
          </a:solidFill>
          <a:ln w="12700">
            <a:solidFill>
              <a:srgbClr val="F7F9FC"/>
            </a:solidFill>
            <a:prstDash val="solid"/>
          </a:ln>
        </p:spPr>
      </p:sp>
      <p:sp>
        <p:nvSpPr>
          <p:cNvPr id="50" name="Shape 48"/>
          <p:cNvSpPr/>
          <p:nvPr/>
        </p:nvSpPr>
        <p:spPr>
          <a:xfrm>
            <a:off x="8229600" y="4663440"/>
            <a:ext cx="365760" cy="365760"/>
          </a:xfrm>
          <a:prstGeom prst="ellipse">
            <a:avLst/>
          </a:prstGeom>
          <a:solidFill>
            <a:srgbClr val="C9A227"/>
          </a:solidFill>
          <a:ln w="12700">
            <a:solidFill>
              <a:srgbClr val="C9A227"/>
            </a:solidFill>
            <a:prstDash val="solid"/>
          </a:ln>
        </p:spPr>
      </p:sp>
      <p:sp>
        <p:nvSpPr>
          <p:cNvPr id="51" name="Text 49"/>
          <p:cNvSpPr txBox="1"/>
          <p:nvPr/>
        </p:nvSpPr>
        <p:spPr>
          <a:xfrm>
            <a:off x="8229600" y="46634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2" name="Text 50"/>
          <p:cNvSpPr txBox="1"/>
          <p:nvPr/>
        </p:nvSpPr>
        <p:spPr>
          <a:xfrm>
            <a:off x="8732520" y="4434840"/>
            <a:ext cx="2743200" cy="822960"/>
          </a:xfrm>
          <a:prstGeom prst="rect">
            <a:avLst/>
          </a:prstGeom>
          <a:noFill/>
          <a:ln/>
        </p:spPr>
        <p:txBody>
          <a:bodyPr wrap="square" lIns="0" tIns="0" rIns="0" bIns="0" rtlCol="0" anchor="ctr"/>
          <a:lstStyle/>
          <a:p>
            <a:pPr indent="0" marL="0">
              <a:buNone/>
            </a:pPr>
            <a:r>
              <a:rPr lang="en-US" sz="1200" b="1" dirty="0">
                <a:solidFill>
                  <a:srgbClr val="12213A"/>
                </a:solidFill>
                <a:latin typeface="Calibri" pitchFamily="34" charset="0"/>
                <a:ea typeface="Calibri" pitchFamily="34" charset="-122"/>
                <a:cs typeface="Calibri" pitchFamily="34" charset="-120"/>
              </a:rPr>
              <a:t>OKR &amp; kaskade eksekusi</a:t>
            </a:r>
            <a:endParaRPr lang="en-US" sz="1200" dirty="0"/>
          </a:p>
          <a:p>
            <a:pPr indent="0" marL="0">
              <a:buNone/>
            </a:pPr>
            <a:r>
              <a:rPr lang="en-US" sz="1000" dirty="0">
                <a:solidFill>
                  <a:srgbClr val="6B7280"/>
                </a:solidFill>
                <a:latin typeface="Calibri" pitchFamily="34" charset="0"/>
                <a:ea typeface="Calibri" pitchFamily="34" charset="-122"/>
                <a:cs typeface="Calibri" pitchFamily="34" charset="-120"/>
              </a:rPr>
              <a:t>Doerr, Bossidy</a:t>
            </a:r>
            <a:endParaRPr lang="en-US" sz="1200" dirty="0"/>
          </a:p>
        </p:txBody>
      </p:sp>
      <p:sp>
        <p:nvSpPr>
          <p:cNvPr id="53" name="Shape 51"/>
          <p:cNvSpPr/>
          <p:nvPr/>
        </p:nvSpPr>
        <p:spPr>
          <a:xfrm>
            <a:off x="548640" y="5486400"/>
            <a:ext cx="11064240" cy="868680"/>
          </a:xfrm>
          <a:prstGeom prst="roundRect">
            <a:avLst>
              <a:gd name="adj" fmla="val 12632"/>
            </a:avLst>
          </a:prstGeom>
          <a:solidFill>
            <a:srgbClr val="12213A"/>
          </a:solidFill>
          <a:ln w="12700">
            <a:solidFill>
              <a:srgbClr val="12213A"/>
            </a:solidFill>
            <a:prstDash val="solid"/>
          </a:ln>
        </p:spPr>
      </p:sp>
      <p:sp>
        <p:nvSpPr>
          <p:cNvPr id="54" name="Text 52"/>
          <p:cNvSpPr txBox="1"/>
          <p:nvPr/>
        </p:nvSpPr>
        <p:spPr>
          <a:xfrm>
            <a:off x="822960" y="5577840"/>
            <a:ext cx="10515600" cy="685800"/>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Ujian penguasaan:  </a:t>
            </a:r>
            <a:pPr indent="0" marL="0">
              <a:buNone/>
            </a:pPr>
            <a:r>
              <a:rPr lang="en-US" sz="1300" dirty="0">
                <a:solidFill>
                  <a:srgbClr val="FFFFFF"/>
                </a:solidFill>
                <a:latin typeface="Calibri" pitchFamily="34" charset="0"/>
                <a:ea typeface="Calibri" pitchFamily="34" charset="-122"/>
                <a:cs typeface="Calibri" pitchFamily="34" charset="-120"/>
              </a:rPr>
              <a:t>untuk tiap alat, Anda bisa menyebut 1 kasus Indonesia di mana alat itu memberi jawaban yang salah, dan kenapa. Kalau belum bisa, Anda baru hafal, belum menguasai.</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Alat latihan utama: memo satu halaman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Format tetap, dipakai 48 kali dalam 24 bulan. Inilah cara latihan yang benar, bukan sekadar membaca</a:t>
            </a:r>
            <a:endParaRPr lang="en-US" sz="1400" dirty="0"/>
          </a:p>
        </p:txBody>
      </p:sp>
      <p:sp>
        <p:nvSpPr>
          <p:cNvPr id="5" name="Shape 3"/>
          <p:cNvSpPr/>
          <p:nvPr/>
        </p:nvSpPr>
        <p:spPr>
          <a:xfrm>
            <a:off x="548640" y="1600200"/>
            <a:ext cx="6766560" cy="822960"/>
          </a:xfrm>
          <a:prstGeom prst="roundRect">
            <a:avLst>
              <a:gd name="adj" fmla="val 13333"/>
            </a:avLst>
          </a:prstGeom>
          <a:solidFill>
            <a:srgbClr val="EEF2F8"/>
          </a:solidFill>
          <a:ln w="12700">
            <a:solidFill>
              <a:srgbClr val="EEF2F8"/>
            </a:solidFill>
            <a:prstDash val="solid"/>
          </a:ln>
        </p:spPr>
      </p:sp>
      <p:sp>
        <p:nvSpPr>
          <p:cNvPr id="6" name="Shape 4"/>
          <p:cNvSpPr/>
          <p:nvPr/>
        </p:nvSpPr>
        <p:spPr>
          <a:xfrm>
            <a:off x="777240" y="1783080"/>
            <a:ext cx="457200" cy="457200"/>
          </a:xfrm>
          <a:prstGeom prst="ellipse">
            <a:avLst/>
          </a:prstGeom>
          <a:solidFill>
            <a:srgbClr val="12213A"/>
          </a:solidFill>
          <a:ln w="12700">
            <a:solidFill>
              <a:srgbClr val="12213A"/>
            </a:solidFill>
            <a:prstDash val="solid"/>
          </a:ln>
        </p:spPr>
      </p:sp>
      <p:sp>
        <p:nvSpPr>
          <p:cNvPr id="7" name="Text 5"/>
          <p:cNvSpPr txBox="1"/>
          <p:nvPr/>
        </p:nvSpPr>
        <p:spPr>
          <a:xfrm>
            <a:off x="777240" y="1783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463040" y="1600200"/>
            <a:ext cx="5669280" cy="82296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Situasi &amp; diagnosis</a:t>
            </a: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Apa yang sebenarnya terjadi? Satu paragraf, ada angka. Apa masalah intinya (the crux), bukan gejalanya?</a:t>
            </a:r>
            <a:endParaRPr lang="en-US" sz="1250" dirty="0"/>
          </a:p>
        </p:txBody>
      </p:sp>
      <p:sp>
        <p:nvSpPr>
          <p:cNvPr id="9" name="Shape 7"/>
          <p:cNvSpPr/>
          <p:nvPr/>
        </p:nvSpPr>
        <p:spPr>
          <a:xfrm>
            <a:off x="548640" y="2532888"/>
            <a:ext cx="6766560" cy="822960"/>
          </a:xfrm>
          <a:prstGeom prst="roundRect">
            <a:avLst>
              <a:gd name="adj" fmla="val 13333"/>
            </a:avLst>
          </a:prstGeom>
          <a:solidFill>
            <a:srgbClr val="F7F9FC"/>
          </a:solidFill>
          <a:ln w="12700">
            <a:solidFill>
              <a:srgbClr val="F7F9FC"/>
            </a:solidFill>
            <a:prstDash val="solid"/>
          </a:ln>
        </p:spPr>
      </p:sp>
      <p:sp>
        <p:nvSpPr>
          <p:cNvPr id="10" name="Shape 8"/>
          <p:cNvSpPr/>
          <p:nvPr/>
        </p:nvSpPr>
        <p:spPr>
          <a:xfrm>
            <a:off x="777240" y="2715768"/>
            <a:ext cx="457200" cy="457200"/>
          </a:xfrm>
          <a:prstGeom prst="ellipse">
            <a:avLst/>
          </a:prstGeom>
          <a:solidFill>
            <a:srgbClr val="12213A"/>
          </a:solidFill>
          <a:ln w="12700">
            <a:solidFill>
              <a:srgbClr val="12213A"/>
            </a:solidFill>
            <a:prstDash val="solid"/>
          </a:ln>
        </p:spPr>
      </p:sp>
      <p:sp>
        <p:nvSpPr>
          <p:cNvPr id="11" name="Text 9"/>
          <p:cNvSpPr txBox="1"/>
          <p:nvPr/>
        </p:nvSpPr>
        <p:spPr>
          <a:xfrm>
            <a:off x="777240" y="2715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463040" y="2532888"/>
            <a:ext cx="5669280" cy="82296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Kebijakan pengarah</a:t>
            </a: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Pendekatan umum untuk mengatasi masalah inti. Satu kalimat. Harus mengecualikan pilihan lain.</a:t>
            </a:r>
            <a:endParaRPr lang="en-US" sz="1250" dirty="0"/>
          </a:p>
        </p:txBody>
      </p:sp>
      <p:sp>
        <p:nvSpPr>
          <p:cNvPr id="13" name="Shape 11"/>
          <p:cNvSpPr/>
          <p:nvPr/>
        </p:nvSpPr>
        <p:spPr>
          <a:xfrm>
            <a:off x="548640" y="3465576"/>
            <a:ext cx="6766560" cy="822960"/>
          </a:xfrm>
          <a:prstGeom prst="roundRect">
            <a:avLst>
              <a:gd name="adj" fmla="val 13333"/>
            </a:avLst>
          </a:prstGeom>
          <a:solidFill>
            <a:srgbClr val="EEF2F8"/>
          </a:solidFill>
          <a:ln w="12700">
            <a:solidFill>
              <a:srgbClr val="EEF2F8"/>
            </a:solidFill>
            <a:prstDash val="solid"/>
          </a:ln>
        </p:spPr>
      </p:sp>
      <p:sp>
        <p:nvSpPr>
          <p:cNvPr id="14" name="Shape 12"/>
          <p:cNvSpPr/>
          <p:nvPr/>
        </p:nvSpPr>
        <p:spPr>
          <a:xfrm>
            <a:off x="777240" y="3648456"/>
            <a:ext cx="457200" cy="457200"/>
          </a:xfrm>
          <a:prstGeom prst="ellipse">
            <a:avLst/>
          </a:prstGeom>
          <a:solidFill>
            <a:srgbClr val="12213A"/>
          </a:solidFill>
          <a:ln w="12700">
            <a:solidFill>
              <a:srgbClr val="12213A"/>
            </a:solidFill>
            <a:prstDash val="solid"/>
          </a:ln>
        </p:spPr>
      </p:sp>
      <p:sp>
        <p:nvSpPr>
          <p:cNvPr id="15" name="Text 13"/>
          <p:cNvSpPr txBox="1"/>
          <p:nvPr/>
        </p:nvSpPr>
        <p:spPr>
          <a:xfrm>
            <a:off x="777240" y="36484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463040" y="3465576"/>
            <a:ext cx="5669280" cy="82296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Aksi koheren</a:t>
            </a: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3–5 tindakan yang saling memperkuat, dengan urutan dan pemilik. Bukan daftar keinginan.</a:t>
            </a:r>
            <a:endParaRPr lang="en-US" sz="1250" dirty="0"/>
          </a:p>
        </p:txBody>
      </p:sp>
      <p:sp>
        <p:nvSpPr>
          <p:cNvPr id="17" name="Shape 15"/>
          <p:cNvSpPr/>
          <p:nvPr/>
        </p:nvSpPr>
        <p:spPr>
          <a:xfrm>
            <a:off x="548640" y="4398264"/>
            <a:ext cx="6766560" cy="822960"/>
          </a:xfrm>
          <a:prstGeom prst="roundRect">
            <a:avLst>
              <a:gd name="adj" fmla="val 13333"/>
            </a:avLst>
          </a:prstGeom>
          <a:solidFill>
            <a:srgbClr val="F7F9FC"/>
          </a:solidFill>
          <a:ln w="12700">
            <a:solidFill>
              <a:srgbClr val="F7F9FC"/>
            </a:solidFill>
            <a:prstDash val="solid"/>
          </a:ln>
        </p:spPr>
      </p:sp>
      <p:sp>
        <p:nvSpPr>
          <p:cNvPr id="18" name="Shape 16"/>
          <p:cNvSpPr/>
          <p:nvPr/>
        </p:nvSpPr>
        <p:spPr>
          <a:xfrm>
            <a:off x="777240" y="4581144"/>
            <a:ext cx="457200" cy="457200"/>
          </a:xfrm>
          <a:prstGeom prst="ellipse">
            <a:avLst/>
          </a:prstGeom>
          <a:solidFill>
            <a:srgbClr val="12213A"/>
          </a:solidFill>
          <a:ln w="12700">
            <a:solidFill>
              <a:srgbClr val="12213A"/>
            </a:solidFill>
            <a:prstDash val="solid"/>
          </a:ln>
        </p:spPr>
      </p:sp>
      <p:sp>
        <p:nvSpPr>
          <p:cNvPr id="19" name="Text 17"/>
          <p:cNvSpPr txBox="1"/>
          <p:nvPr/>
        </p:nvSpPr>
        <p:spPr>
          <a:xfrm>
            <a:off x="777240" y="45811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txBox="1"/>
          <p:nvPr/>
        </p:nvSpPr>
        <p:spPr>
          <a:xfrm>
            <a:off x="1463040" y="4398264"/>
            <a:ext cx="5669280" cy="82296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Apa yang bisa salah</a:t>
            </a:r>
            <a:endParaRPr lang="en-US" sz="1250" dirty="0"/>
          </a:p>
          <a:p>
            <a:pPr indent="0" marL="0">
              <a:buNone/>
            </a:pPr>
            <a:r>
              <a:rPr lang="en-US" sz="1100" dirty="0">
                <a:solidFill>
                  <a:srgbClr val="1F2937"/>
                </a:solidFill>
                <a:latin typeface="Calibri" pitchFamily="34" charset="0"/>
                <a:ea typeface="Calibri" pitchFamily="34" charset="-122"/>
                <a:cs typeface="Calibri" pitchFamily="34" charset="-120"/>
              </a:rPr>
              <a:t>Asumsi paling rapuh, sinyal awal kegagalan, dan apa yang akan Anda ubah jika sinyal itu muncul.</a:t>
            </a:r>
            <a:endParaRPr lang="en-US" sz="1250" dirty="0"/>
          </a:p>
        </p:txBody>
      </p:sp>
      <p:sp>
        <p:nvSpPr>
          <p:cNvPr id="21" name="Shape 19"/>
          <p:cNvSpPr/>
          <p:nvPr/>
        </p:nvSpPr>
        <p:spPr>
          <a:xfrm>
            <a:off x="7589520" y="1600200"/>
            <a:ext cx="4023360" cy="3639312"/>
          </a:xfrm>
          <a:prstGeom prst="roundRect">
            <a:avLst>
              <a:gd name="adj" fmla="val 3015"/>
            </a:avLst>
          </a:prstGeom>
          <a:solidFill>
            <a:srgbClr val="12213A"/>
          </a:solidFill>
          <a:ln w="12700">
            <a:solidFill>
              <a:srgbClr val="12213A"/>
            </a:solidFill>
            <a:prstDash val="solid"/>
          </a:ln>
        </p:spPr>
      </p:sp>
      <p:sp>
        <p:nvSpPr>
          <p:cNvPr id="22" name="Shape 20"/>
          <p:cNvSpPr/>
          <p:nvPr/>
        </p:nvSpPr>
        <p:spPr>
          <a:xfrm>
            <a:off x="7863840" y="1828800"/>
            <a:ext cx="548640" cy="548640"/>
          </a:xfrm>
          <a:prstGeom prst="ellipse">
            <a:avLst/>
          </a:prstGeom>
          <a:solidFill>
            <a:srgbClr val="C9A227"/>
          </a:solidFill>
          <a:ln w="12700">
            <a:solidFill>
              <a:srgbClr val="C9A227"/>
            </a:solidFill>
            <a:prstDash val="solid"/>
          </a:ln>
        </p:spPr>
      </p:sp>
      <p:pic>
        <p:nvPicPr>
          <p:cNvPr id="23" name="Image 0" descr="preencoded.png">    </p:cNvPr>
          <p:cNvPicPr>
            <a:picLocks noChangeAspect="1"/>
          </p:cNvPicPr>
          <p:nvPr/>
        </p:nvPicPr>
        <p:blipFill>
          <a:blip r:embed="rId1"/>
          <a:stretch>
            <a:fillRect/>
          </a:stretch>
        </p:blipFill>
        <p:spPr>
          <a:xfrm>
            <a:off x="8006486" y="1971446"/>
            <a:ext cx="263347" cy="263347"/>
          </a:xfrm>
          <a:prstGeom prst="rect">
            <a:avLst/>
          </a:prstGeom>
        </p:spPr>
      </p:pic>
      <p:sp>
        <p:nvSpPr>
          <p:cNvPr id="24" name="Text 21"/>
          <p:cNvSpPr txBox="1"/>
          <p:nvPr/>
        </p:nvSpPr>
        <p:spPr>
          <a:xfrm>
            <a:off x="8549640" y="1828800"/>
            <a:ext cx="29260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Empat aturan latihan</a:t>
            </a:r>
            <a:endParaRPr lang="en-US" sz="1500" dirty="0"/>
          </a:p>
        </p:txBody>
      </p:sp>
      <p:sp>
        <p:nvSpPr>
          <p:cNvPr id="25" name="Text 22"/>
          <p:cNvSpPr txBox="1"/>
          <p:nvPr/>
        </p:nvSpPr>
        <p:spPr>
          <a:xfrm>
            <a:off x="7863840" y="2514600"/>
            <a:ext cx="3520440" cy="265176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Selalu tentang organisasi nyata, idealnya emiten IDX atau tempat Anda bekerja, supaya datanya ada</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Selalu ada pembaca yang memberi kritik. Tanpa umpan balik bukan deliberate practice</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Prediksi dulu, lalu cek 3–6 bulan kemudian. Simpan skornya</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Ajarkan ke orang lain (teach-back). Kalau tidak bisa dijelaskan sederhana, belum paham</a:t>
            </a:r>
            <a:endParaRPr lang="en-US" sz="1150" dirty="0"/>
          </a:p>
        </p:txBody>
      </p:sp>
      <p:sp>
        <p:nvSpPr>
          <p:cNvPr id="26" name="Text 23"/>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Sumber kasus: laporan tahunan emiten IDX, prospektus IPO, HBS/Ivey cases lewat perpustakaan UGM, dan berita korporasi harian.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Indikator kemajuan per 6 bulan</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Ukur output, bukan aktivitas. Kalau tidak tercapai, ubah rencananya, jangan turunkan target diam-diam</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498080" cy="914400"/>
        </p:xfrm>
        <a:graphic>
          <a:graphicData uri="http://schemas.openxmlformats.org/drawingml/2006/table">
            <a:tbl>
              <a:tblPr/>
              <a:tblGrid>
                <a:gridCol w="3840480"/>
                <a:gridCol w="914400"/>
                <a:gridCol w="914400"/>
                <a:gridCol w="914400"/>
                <a:gridCol w="914400"/>
              </a:tblGrid>
              <a:tr h="45720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Indikator</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Bulan 6</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Bulan 12</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Bulan 18</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Bulan 24</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Buku wajib selesai (kumulatif, dari 15)</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Memo strategi 1 halaman (kumulatif)</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36</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Analisis industri / peta 7 Powers</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Model keuangan yang dipakai di memo</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Proyek nyata (klien / kompetisi / magang)</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Prediksi tercatat &amp; skor Brier dihitung</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Tulisan dipublikasikan</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457200">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Praktisi strategi yang mengenal kerja Anda</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221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54864" marB="54864"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bl>
          </a:graphicData>
        </a:graphic>
      </p:graphicFrame>
      <p:sp>
        <p:nvSpPr>
          <p:cNvPr id="6" name="Shape 3"/>
          <p:cNvSpPr/>
          <p:nvPr/>
        </p:nvSpPr>
        <p:spPr>
          <a:xfrm>
            <a:off x="8321040" y="1600200"/>
            <a:ext cx="3291840" cy="4114800"/>
          </a:xfrm>
          <a:prstGeom prst="roundRect">
            <a:avLst>
              <a:gd name="adj" fmla="val 3333"/>
            </a:avLst>
          </a:prstGeom>
          <a:solidFill>
            <a:srgbClr val="EEF2F8"/>
          </a:solidFill>
          <a:ln w="12700">
            <a:solidFill>
              <a:srgbClr val="EEF2F8"/>
            </a:solidFill>
            <a:prstDash val="solid"/>
          </a:ln>
        </p:spPr>
      </p:sp>
      <p:sp>
        <p:nvSpPr>
          <p:cNvPr id="7" name="Shape 4"/>
          <p:cNvSpPr/>
          <p:nvPr/>
        </p:nvSpPr>
        <p:spPr>
          <a:xfrm>
            <a:off x="8549640" y="1828800"/>
            <a:ext cx="502920" cy="502920"/>
          </a:xfrm>
          <a:prstGeom prst="ellipse">
            <a:avLst/>
          </a:prstGeom>
          <a:solidFill>
            <a:srgbClr val="C9A227"/>
          </a:solidFill>
          <a:ln w="12700">
            <a:solidFill>
              <a:srgbClr val="C9A227"/>
            </a:solidFill>
            <a:prstDash val="solid"/>
          </a:ln>
        </p:spPr>
      </p:sp>
      <p:pic>
        <p:nvPicPr>
          <p:cNvPr id="8" name="Image 0" descr="preencoded.png">    </p:cNvPr>
          <p:cNvPicPr>
            <a:picLocks noChangeAspect="1"/>
          </p:cNvPicPr>
          <p:nvPr/>
        </p:nvPicPr>
        <p:blipFill>
          <a:blip r:embed="rId1"/>
          <a:stretch>
            <a:fillRect/>
          </a:stretch>
        </p:blipFill>
        <p:spPr>
          <a:xfrm>
            <a:off x="8680399" y="1959559"/>
            <a:ext cx="241402" cy="241402"/>
          </a:xfrm>
          <a:prstGeom prst="rect">
            <a:avLst/>
          </a:prstGeom>
        </p:spPr>
      </p:pic>
      <p:sp>
        <p:nvSpPr>
          <p:cNvPr id="9" name="Text 5"/>
          <p:cNvSpPr txBox="1"/>
          <p:nvPr/>
        </p:nvSpPr>
        <p:spPr>
          <a:xfrm>
            <a:off x="9189720" y="1828800"/>
            <a:ext cx="2286000" cy="502920"/>
          </a:xfrm>
          <a:prstGeom prst="rect">
            <a:avLst/>
          </a:prstGeom>
          <a:noFill/>
          <a:ln/>
        </p:spPr>
        <p:txBody>
          <a:bodyPr wrap="square" lIns="0" tIns="0" rIns="0" bIns="0" rtlCol="0" anchor="ctr"/>
          <a:lstStyle/>
          <a:p>
            <a:pPr indent="0" marL="0">
              <a:buNone/>
            </a:pPr>
            <a:r>
              <a:rPr lang="en-US" sz="1400" b="1" dirty="0">
                <a:solidFill>
                  <a:srgbClr val="12213A"/>
                </a:solidFill>
                <a:latin typeface="Cambria" pitchFamily="34" charset="0"/>
                <a:ea typeface="Cambria" pitchFamily="34" charset="-122"/>
                <a:cs typeface="Cambria" pitchFamily="34" charset="-120"/>
              </a:rPr>
              <a:t>Tinjauan tiap 6 bulan</a:t>
            </a:r>
            <a:endParaRPr lang="en-US" sz="1400" dirty="0"/>
          </a:p>
        </p:txBody>
      </p:sp>
      <p:sp>
        <p:nvSpPr>
          <p:cNvPr id="10" name="Text 6"/>
          <p:cNvSpPr txBox="1"/>
          <p:nvPr/>
        </p:nvSpPr>
        <p:spPr>
          <a:xfrm>
            <a:off x="8549640" y="2468880"/>
            <a:ext cx="2834640" cy="256032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Baca ulang 3 memo tertua vs 3 terbaru. Apa yang berubah?</a:t>
            </a:r>
            <a:endParaRPr lang="en-US" sz="1150" dirty="0"/>
          </a:p>
          <a:p>
            <a:pPr marL="152400" indent="-1524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Nilai diri 1–5 di tiap pilar, minta mentor menilai juga</a:t>
            </a:r>
            <a:endParaRPr lang="en-US" sz="1150" dirty="0"/>
          </a:p>
          <a:p>
            <a:pPr marL="152400" indent="-1524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Hapus buku opsional yang tidak lagi relevan dengan arena pilihan</a:t>
            </a:r>
            <a:endParaRPr lang="en-US" sz="1150" dirty="0"/>
          </a:p>
          <a:p>
            <a:pPr marL="152400" indent="-1524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Tetapkan 1 kelemahan pilar untuk diserang 6 bulan berikutnya</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Enam jebakan yang menggagalkan rencana ini</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Semua ini lazim terjadi pada mahasiswa MBA yang pintar, justru karena pintar</a:t>
            </a:r>
            <a:endParaRPr lang="en-US" sz="1400" dirty="0"/>
          </a:p>
        </p:txBody>
      </p:sp>
      <p:sp>
        <p:nvSpPr>
          <p:cNvPr id="5" name="Shape 3"/>
          <p:cNvSpPr/>
          <p:nvPr/>
        </p:nvSpPr>
        <p:spPr>
          <a:xfrm>
            <a:off x="548640" y="1600200"/>
            <a:ext cx="5394960" cy="1298448"/>
          </a:xfrm>
          <a:prstGeom prst="roundRect">
            <a:avLst>
              <a:gd name="adj" fmla="val 8451"/>
            </a:avLst>
          </a:prstGeom>
          <a:solidFill>
            <a:srgbClr val="F7F9FC"/>
          </a:solidFill>
          <a:ln w="12700">
            <a:solidFill>
              <a:srgbClr val="F7F9FC"/>
            </a:solidFill>
            <a:prstDash val="solid"/>
          </a:ln>
        </p:spPr>
      </p:sp>
      <p:sp>
        <p:nvSpPr>
          <p:cNvPr id="6" name="Shape 4"/>
          <p:cNvSpPr/>
          <p:nvPr/>
        </p:nvSpPr>
        <p:spPr>
          <a:xfrm>
            <a:off x="777240" y="1828800"/>
            <a:ext cx="502920" cy="502920"/>
          </a:xfrm>
          <a:prstGeom prst="ellipse">
            <a:avLst/>
          </a:prstGeom>
          <a:solidFill>
            <a:srgbClr val="B3412F"/>
          </a:solidFill>
          <a:ln w="12700">
            <a:solidFill>
              <a:srgbClr val="B3412F"/>
            </a:solidFill>
            <a:prstDash val="solid"/>
          </a:ln>
        </p:spPr>
      </p:sp>
      <p:pic>
        <p:nvPicPr>
          <p:cNvPr id="7" name="Image 0" descr="preencoded.png">    </p:cNvPr>
          <p:cNvPicPr>
            <a:picLocks noChangeAspect="1"/>
          </p:cNvPicPr>
          <p:nvPr/>
        </p:nvPicPr>
        <p:blipFill>
          <a:blip r:embed="rId1"/>
          <a:stretch>
            <a:fillRect/>
          </a:stretch>
        </p:blipFill>
        <p:spPr>
          <a:xfrm>
            <a:off x="907999" y="1959559"/>
            <a:ext cx="241402" cy="241402"/>
          </a:xfrm>
          <a:prstGeom prst="rect">
            <a:avLst/>
          </a:prstGeom>
        </p:spPr>
      </p:pic>
      <p:sp>
        <p:nvSpPr>
          <p:cNvPr id="8" name="Text 5"/>
          <p:cNvSpPr txBox="1"/>
          <p:nvPr/>
        </p:nvSpPr>
        <p:spPr>
          <a:xfrm>
            <a:off x="1463040" y="169164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Kolektor framework</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Hafal 30 alat, tidak pernah membuat satu pun rekomendasi yang dijalankan orang. Penawar: rasio 1 buku : 2 memo.</a:t>
            </a:r>
            <a:endParaRPr lang="en-US" sz="1300" dirty="0"/>
          </a:p>
        </p:txBody>
      </p:sp>
      <p:sp>
        <p:nvSpPr>
          <p:cNvPr id="9" name="Shape 6"/>
          <p:cNvSpPr/>
          <p:nvPr/>
        </p:nvSpPr>
        <p:spPr>
          <a:xfrm>
            <a:off x="6217920" y="1600200"/>
            <a:ext cx="5394960" cy="1298448"/>
          </a:xfrm>
          <a:prstGeom prst="roundRect">
            <a:avLst>
              <a:gd name="adj" fmla="val 8451"/>
            </a:avLst>
          </a:prstGeom>
          <a:solidFill>
            <a:srgbClr val="F7F9FC"/>
          </a:solidFill>
          <a:ln w="12700">
            <a:solidFill>
              <a:srgbClr val="F7F9FC"/>
            </a:solidFill>
            <a:prstDash val="solid"/>
          </a:ln>
        </p:spPr>
      </p:sp>
      <p:sp>
        <p:nvSpPr>
          <p:cNvPr id="10" name="Shape 7"/>
          <p:cNvSpPr/>
          <p:nvPr/>
        </p:nvSpPr>
        <p:spPr>
          <a:xfrm>
            <a:off x="6446520" y="1828800"/>
            <a:ext cx="502920" cy="502920"/>
          </a:xfrm>
          <a:prstGeom prst="ellipse">
            <a:avLst/>
          </a:prstGeom>
          <a:solidFill>
            <a:srgbClr val="B3412F"/>
          </a:solidFill>
          <a:ln w="12700">
            <a:solidFill>
              <a:srgbClr val="B3412F"/>
            </a:solidFill>
            <a:prstDash val="solid"/>
          </a:ln>
        </p:spPr>
      </p:sp>
      <p:pic>
        <p:nvPicPr>
          <p:cNvPr id="11" name="Image 1" descr="preencoded.png">    </p:cNvPr>
          <p:cNvPicPr>
            <a:picLocks noChangeAspect="1"/>
          </p:cNvPicPr>
          <p:nvPr/>
        </p:nvPicPr>
        <p:blipFill>
          <a:blip r:embed="rId2"/>
          <a:stretch>
            <a:fillRect/>
          </a:stretch>
        </p:blipFill>
        <p:spPr>
          <a:xfrm>
            <a:off x="6577279" y="1959559"/>
            <a:ext cx="241402" cy="241402"/>
          </a:xfrm>
          <a:prstGeom prst="rect">
            <a:avLst/>
          </a:prstGeom>
        </p:spPr>
      </p:pic>
      <p:sp>
        <p:nvSpPr>
          <p:cNvPr id="12" name="Text 8"/>
          <p:cNvSpPr txBox="1"/>
          <p:nvPr/>
        </p:nvSpPr>
        <p:spPr>
          <a:xfrm>
            <a:off x="7132320" y="169164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Strategi tanpa angka</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Analisis kualitatif indah, tapi tidak tahu apakah rencananya menghasilkan nilai. Penawar: setiap memo memuat minimal 1 model keuangan.</a:t>
            </a:r>
            <a:endParaRPr lang="en-US" sz="1300" dirty="0"/>
          </a:p>
        </p:txBody>
      </p:sp>
      <p:sp>
        <p:nvSpPr>
          <p:cNvPr id="13" name="Shape 9"/>
          <p:cNvSpPr/>
          <p:nvPr/>
        </p:nvSpPr>
        <p:spPr>
          <a:xfrm>
            <a:off x="548640" y="3063240"/>
            <a:ext cx="5394960" cy="1298448"/>
          </a:xfrm>
          <a:prstGeom prst="roundRect">
            <a:avLst>
              <a:gd name="adj" fmla="val 8451"/>
            </a:avLst>
          </a:prstGeom>
          <a:solidFill>
            <a:srgbClr val="F7F9FC"/>
          </a:solidFill>
          <a:ln w="12700">
            <a:solidFill>
              <a:srgbClr val="F7F9FC"/>
            </a:solidFill>
            <a:prstDash val="solid"/>
          </a:ln>
        </p:spPr>
      </p:sp>
      <p:sp>
        <p:nvSpPr>
          <p:cNvPr id="14" name="Shape 10"/>
          <p:cNvSpPr/>
          <p:nvPr/>
        </p:nvSpPr>
        <p:spPr>
          <a:xfrm>
            <a:off x="777240" y="3291840"/>
            <a:ext cx="502920" cy="502920"/>
          </a:xfrm>
          <a:prstGeom prst="ellipse">
            <a:avLst/>
          </a:prstGeom>
          <a:solidFill>
            <a:srgbClr val="B3412F"/>
          </a:solidFill>
          <a:ln w="12700">
            <a:solidFill>
              <a:srgbClr val="B3412F"/>
            </a:solidFill>
            <a:prstDash val="solid"/>
          </a:ln>
        </p:spPr>
      </p:sp>
      <p:pic>
        <p:nvPicPr>
          <p:cNvPr id="15" name="Image 2" descr="preencoded.png">    </p:cNvPr>
          <p:cNvPicPr>
            <a:picLocks noChangeAspect="1"/>
          </p:cNvPicPr>
          <p:nvPr/>
        </p:nvPicPr>
        <p:blipFill>
          <a:blip r:embed="rId3"/>
          <a:stretch>
            <a:fillRect/>
          </a:stretch>
        </p:blipFill>
        <p:spPr>
          <a:xfrm>
            <a:off x="907999" y="3422599"/>
            <a:ext cx="241402" cy="241402"/>
          </a:xfrm>
          <a:prstGeom prst="rect">
            <a:avLst/>
          </a:prstGeom>
        </p:spPr>
      </p:pic>
      <p:sp>
        <p:nvSpPr>
          <p:cNvPr id="16" name="Text 11"/>
          <p:cNvSpPr txBox="1"/>
          <p:nvPr/>
        </p:nvSpPr>
        <p:spPr>
          <a:xfrm>
            <a:off x="1463040" y="315468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Menyamakan strategi dengan target</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Rumelt menyebutnya bad strategy: "tumbuh 20%" bukan strategi. Penawar: kernel tiga bagian selalu lengkap.</a:t>
            </a:r>
            <a:endParaRPr lang="en-US" sz="1300" dirty="0"/>
          </a:p>
        </p:txBody>
      </p:sp>
      <p:sp>
        <p:nvSpPr>
          <p:cNvPr id="17" name="Shape 12"/>
          <p:cNvSpPr/>
          <p:nvPr/>
        </p:nvSpPr>
        <p:spPr>
          <a:xfrm>
            <a:off x="6217920" y="3063240"/>
            <a:ext cx="5394960" cy="1298448"/>
          </a:xfrm>
          <a:prstGeom prst="roundRect">
            <a:avLst>
              <a:gd name="adj" fmla="val 8451"/>
            </a:avLst>
          </a:prstGeom>
          <a:solidFill>
            <a:srgbClr val="F7F9FC"/>
          </a:solidFill>
          <a:ln w="12700">
            <a:solidFill>
              <a:srgbClr val="F7F9FC"/>
            </a:solidFill>
            <a:prstDash val="solid"/>
          </a:ln>
        </p:spPr>
      </p:sp>
      <p:sp>
        <p:nvSpPr>
          <p:cNvPr id="18" name="Shape 13"/>
          <p:cNvSpPr/>
          <p:nvPr/>
        </p:nvSpPr>
        <p:spPr>
          <a:xfrm>
            <a:off x="6446520" y="3291840"/>
            <a:ext cx="502920" cy="502920"/>
          </a:xfrm>
          <a:prstGeom prst="ellipse">
            <a:avLst/>
          </a:prstGeom>
          <a:solidFill>
            <a:srgbClr val="B3412F"/>
          </a:solidFill>
          <a:ln w="12700">
            <a:solidFill>
              <a:srgbClr val="B3412F"/>
            </a:solidFill>
            <a:prstDash val="solid"/>
          </a:ln>
        </p:spPr>
      </p:sp>
      <p:pic>
        <p:nvPicPr>
          <p:cNvPr id="19" name="Image 3" descr="preencoded.png">    </p:cNvPr>
          <p:cNvPicPr>
            <a:picLocks noChangeAspect="1"/>
          </p:cNvPicPr>
          <p:nvPr/>
        </p:nvPicPr>
        <p:blipFill>
          <a:blip r:embed="rId4"/>
          <a:stretch>
            <a:fillRect/>
          </a:stretch>
        </p:blipFill>
        <p:spPr>
          <a:xfrm>
            <a:off x="6577279" y="3422599"/>
            <a:ext cx="241402" cy="241402"/>
          </a:xfrm>
          <a:prstGeom prst="rect">
            <a:avLst/>
          </a:prstGeom>
        </p:spPr>
      </p:pic>
      <p:sp>
        <p:nvSpPr>
          <p:cNvPr id="20" name="Text 14"/>
          <p:cNvSpPr txBox="1"/>
          <p:nvPr/>
        </p:nvSpPr>
        <p:spPr>
          <a:xfrm>
            <a:off x="7132320" y="315468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Hanya kasus Amerika</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Fasih soal Apple dan Netflix, gagap soal Astra, Bank Mandiri, atau koperasi. Penawar: 70% memo tentang organisasi Indonesia.</a:t>
            </a:r>
            <a:endParaRPr lang="en-US" sz="1300" dirty="0"/>
          </a:p>
        </p:txBody>
      </p:sp>
      <p:sp>
        <p:nvSpPr>
          <p:cNvPr id="21" name="Shape 15"/>
          <p:cNvSpPr/>
          <p:nvPr/>
        </p:nvSpPr>
        <p:spPr>
          <a:xfrm>
            <a:off x="548640" y="4526280"/>
            <a:ext cx="5394960" cy="1298448"/>
          </a:xfrm>
          <a:prstGeom prst="roundRect">
            <a:avLst>
              <a:gd name="adj" fmla="val 8451"/>
            </a:avLst>
          </a:prstGeom>
          <a:solidFill>
            <a:srgbClr val="F7F9FC"/>
          </a:solidFill>
          <a:ln w="12700">
            <a:solidFill>
              <a:srgbClr val="F7F9FC"/>
            </a:solidFill>
            <a:prstDash val="solid"/>
          </a:ln>
        </p:spPr>
      </p:sp>
      <p:sp>
        <p:nvSpPr>
          <p:cNvPr id="22" name="Shape 16"/>
          <p:cNvSpPr/>
          <p:nvPr/>
        </p:nvSpPr>
        <p:spPr>
          <a:xfrm>
            <a:off x="777240" y="4754880"/>
            <a:ext cx="502920" cy="502920"/>
          </a:xfrm>
          <a:prstGeom prst="ellipse">
            <a:avLst/>
          </a:prstGeom>
          <a:solidFill>
            <a:srgbClr val="B3412F"/>
          </a:solidFill>
          <a:ln w="12700">
            <a:solidFill>
              <a:srgbClr val="B3412F"/>
            </a:solidFill>
            <a:prstDash val="solid"/>
          </a:ln>
        </p:spPr>
      </p:sp>
      <p:pic>
        <p:nvPicPr>
          <p:cNvPr id="23" name="Image 4" descr="preencoded.png">    </p:cNvPr>
          <p:cNvPicPr>
            <a:picLocks noChangeAspect="1"/>
          </p:cNvPicPr>
          <p:nvPr/>
        </p:nvPicPr>
        <p:blipFill>
          <a:blip r:embed="rId5"/>
          <a:stretch>
            <a:fillRect/>
          </a:stretch>
        </p:blipFill>
        <p:spPr>
          <a:xfrm>
            <a:off x="907999" y="4885639"/>
            <a:ext cx="241402" cy="241402"/>
          </a:xfrm>
          <a:prstGeom prst="rect">
            <a:avLst/>
          </a:prstGeom>
        </p:spPr>
      </p:pic>
      <p:sp>
        <p:nvSpPr>
          <p:cNvPr id="24" name="Text 17"/>
          <p:cNvSpPr txBox="1"/>
          <p:nvPr/>
        </p:nvSpPr>
        <p:spPr>
          <a:xfrm>
            <a:off x="1463040" y="461772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Baca tanpa umpan balik</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Merasa paham karena kalimatnya mudah. Penawar: reviewer wajib untuk tiap memo, sekalipun hanya teman sekelas.</a:t>
            </a:r>
            <a:endParaRPr lang="en-US" sz="1300" dirty="0"/>
          </a:p>
        </p:txBody>
      </p:sp>
      <p:sp>
        <p:nvSpPr>
          <p:cNvPr id="25" name="Shape 18"/>
          <p:cNvSpPr/>
          <p:nvPr/>
        </p:nvSpPr>
        <p:spPr>
          <a:xfrm>
            <a:off x="6217920" y="4526280"/>
            <a:ext cx="5394960" cy="1298448"/>
          </a:xfrm>
          <a:prstGeom prst="roundRect">
            <a:avLst>
              <a:gd name="adj" fmla="val 8451"/>
            </a:avLst>
          </a:prstGeom>
          <a:solidFill>
            <a:srgbClr val="F7F9FC"/>
          </a:solidFill>
          <a:ln w="12700">
            <a:solidFill>
              <a:srgbClr val="F7F9FC"/>
            </a:solidFill>
            <a:prstDash val="solid"/>
          </a:ln>
        </p:spPr>
      </p:sp>
      <p:sp>
        <p:nvSpPr>
          <p:cNvPr id="26" name="Shape 19"/>
          <p:cNvSpPr/>
          <p:nvPr/>
        </p:nvSpPr>
        <p:spPr>
          <a:xfrm>
            <a:off x="6446520" y="4754880"/>
            <a:ext cx="502920" cy="502920"/>
          </a:xfrm>
          <a:prstGeom prst="ellipse">
            <a:avLst/>
          </a:prstGeom>
          <a:solidFill>
            <a:srgbClr val="B3412F"/>
          </a:solidFill>
          <a:ln w="12700">
            <a:solidFill>
              <a:srgbClr val="B3412F"/>
            </a:solidFill>
            <a:prstDash val="solid"/>
          </a:ln>
        </p:spPr>
      </p:sp>
      <p:pic>
        <p:nvPicPr>
          <p:cNvPr id="27" name="Image 5" descr="preencoded.png">    </p:cNvPr>
          <p:cNvPicPr>
            <a:picLocks noChangeAspect="1"/>
          </p:cNvPicPr>
          <p:nvPr/>
        </p:nvPicPr>
        <p:blipFill>
          <a:blip r:embed="rId6"/>
          <a:stretch>
            <a:fillRect/>
          </a:stretch>
        </p:blipFill>
        <p:spPr>
          <a:xfrm>
            <a:off x="6577279" y="4885639"/>
            <a:ext cx="241402" cy="241402"/>
          </a:xfrm>
          <a:prstGeom prst="rect">
            <a:avLst/>
          </a:prstGeom>
        </p:spPr>
      </p:pic>
      <p:sp>
        <p:nvSpPr>
          <p:cNvPr id="28" name="Text 20"/>
          <p:cNvSpPr txBox="1"/>
          <p:nvPr/>
        </p:nvSpPr>
        <p:spPr>
          <a:xfrm>
            <a:off x="7132320" y="4617720"/>
            <a:ext cx="4297680" cy="1143000"/>
          </a:xfrm>
          <a:prstGeom prst="rect">
            <a:avLst/>
          </a:prstGeom>
          <a:noFill/>
          <a:ln/>
        </p:spPr>
        <p:txBody>
          <a:bodyPr wrap="square" lIns="0" tIns="0" rIns="0" bIns="0" rtlCol="0" anchor="ctr"/>
          <a:lstStyle/>
          <a:p>
            <a:pPr indent="0" marL="0">
              <a:buNone/>
            </a:pPr>
            <a:r>
              <a:rPr lang="en-US" sz="1300" b="1" dirty="0">
                <a:solidFill>
                  <a:srgbClr val="12213A"/>
                </a:solidFill>
                <a:latin typeface="Calibri" pitchFamily="34" charset="0"/>
                <a:ea typeface="Calibri" pitchFamily="34" charset="-122"/>
                <a:cs typeface="Calibri" pitchFamily="34" charset="-120"/>
              </a:rPr>
              <a:t>Menunggu "siap" untuk praktik</a:t>
            </a:r>
            <a:endParaRPr lang="en-US" sz="1300" dirty="0"/>
          </a:p>
          <a:p>
            <a:pPr indent="0" marL="0">
              <a:buNone/>
            </a:pPr>
            <a:r>
              <a:rPr lang="en-US" sz="1100" dirty="0">
                <a:solidFill>
                  <a:srgbClr val="1F2937"/>
                </a:solidFill>
                <a:latin typeface="Calibri" pitchFamily="34" charset="0"/>
                <a:ea typeface="Calibri" pitchFamily="34" charset="-122"/>
                <a:cs typeface="Calibri" pitchFamily="34" charset="-120"/>
              </a:rPr>
              <a:t>Proyek nyata ditunda sampai semua buku selesai. Penawar: proyek pertama di bulan 13 apa pun kondisinya.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E-book: hanya sumber resmi, ini alasannya</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Situs bajakan adalah jalur masuk malware paling umum lewat PDF/EPUB, dan file dari sana tidak bisa diverifikasi</a:t>
            </a:r>
            <a:endParaRPr lang="en-US" sz="1400" dirty="0"/>
          </a:p>
        </p:txBody>
      </p:sp>
      <p:sp>
        <p:nvSpPr>
          <p:cNvPr id="5" name="Shape 3"/>
          <p:cNvSpPr/>
          <p:nvPr/>
        </p:nvSpPr>
        <p:spPr>
          <a:xfrm>
            <a:off x="548640" y="1600200"/>
            <a:ext cx="5394960" cy="4480560"/>
          </a:xfrm>
          <a:prstGeom prst="roundRect">
            <a:avLst>
              <a:gd name="adj" fmla="val 2449"/>
            </a:avLst>
          </a:prstGeom>
          <a:solidFill>
            <a:srgbClr val="12213A"/>
          </a:solidFill>
          <a:ln w="12700">
            <a:solidFill>
              <a:srgbClr val="12213A"/>
            </a:solidFill>
            <a:prstDash val="solid"/>
          </a:ln>
        </p:spPr>
      </p:sp>
      <p:sp>
        <p:nvSpPr>
          <p:cNvPr id="6" name="Shape 4"/>
          <p:cNvSpPr/>
          <p:nvPr/>
        </p:nvSpPr>
        <p:spPr>
          <a:xfrm>
            <a:off x="822960" y="1828800"/>
            <a:ext cx="548640" cy="54864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65606" y="1971446"/>
            <a:ext cx="263347" cy="263347"/>
          </a:xfrm>
          <a:prstGeom prst="rect">
            <a:avLst/>
          </a:prstGeom>
        </p:spPr>
      </p:pic>
      <p:sp>
        <p:nvSpPr>
          <p:cNvPr id="8" name="Text 5"/>
          <p:cNvSpPr txBox="1"/>
          <p:nvPr/>
        </p:nvSpPr>
        <p:spPr>
          <a:xfrm>
            <a:off x="1508760" y="1828800"/>
            <a:ext cx="420624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Aturan aman yang saya sarankan</a:t>
            </a:r>
            <a:endParaRPr lang="en-US" sz="1500" dirty="0"/>
          </a:p>
        </p:txBody>
      </p:sp>
      <p:sp>
        <p:nvSpPr>
          <p:cNvPr id="9" name="Text 6"/>
          <p:cNvSpPr txBox="1"/>
          <p:nvPr/>
        </p:nvSpPr>
        <p:spPr>
          <a:xfrm>
            <a:off x="822960" y="2514600"/>
            <a:ext cx="4846320" cy="347472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Beli atau pinjam hanya dari penerbit, toko resmi (Kindle, Google Play Books, Kobo, Gramedia Digital), atau perpustakaan resmi (UGM, iPusnas, Open Library)</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Baca di aplikasi resmi toko/perpustakaan. File tidak pernah menyentuh disk sebagai PDF lepas, jadi tidak ada yang bisa dieksekusi</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Jika terpaksa menerima file: ekstensi harus .pdf/.epub asli, bukan .exe, .scr, .zip, .pdf.exe. Ukuran wajar (buku teks 2–30 MB)</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Scan file di VirusTotal sebelum dibuka; buka PDF dengan JavaScript dinonaktifkan; jangan pernah "aktifkan konten" atau instal "reader khusus"</a:t>
            </a:r>
            <a:endParaRPr lang="en-US" sz="1150" dirty="0"/>
          </a:p>
          <a:p>
            <a:pPr marL="152400" indent="-152400">
              <a:spcAft>
                <a:spcPts val="600"/>
              </a:spcAft>
              <a:buSzPct val="100000"/>
              <a:buChar char="•"/>
            </a:pPr>
            <a:r>
              <a:rPr lang="en-US" sz="1150" dirty="0">
                <a:solidFill>
                  <a:srgbClr val="E3E8F1"/>
                </a:solidFill>
                <a:latin typeface="Calibri" pitchFamily="34" charset="0"/>
                <a:ea typeface="Calibri" pitchFamily="34" charset="-122"/>
                <a:cs typeface="Calibri" pitchFamily="34" charset="-120"/>
              </a:rPr>
              <a:t>Jangan pakai kredensial kampus/toko di situs mirror; phishing lebih sering terjadi daripada malware</a:t>
            </a:r>
            <a:endParaRPr lang="en-US" sz="1150" dirty="0"/>
          </a:p>
        </p:txBody>
      </p:sp>
      <p:sp>
        <p:nvSpPr>
          <p:cNvPr id="10" name="Shape 7"/>
          <p:cNvSpPr/>
          <p:nvPr/>
        </p:nvSpPr>
        <p:spPr>
          <a:xfrm>
            <a:off x="6217920" y="1600200"/>
            <a:ext cx="5394960" cy="1371600"/>
          </a:xfrm>
          <a:prstGeom prst="roundRect">
            <a:avLst>
              <a:gd name="adj" fmla="val 8000"/>
            </a:avLst>
          </a:prstGeom>
          <a:solidFill>
            <a:srgbClr val="F7F9FC"/>
          </a:solidFill>
          <a:ln w="12700">
            <a:solidFill>
              <a:srgbClr val="F7F9FC"/>
            </a:solidFill>
            <a:prstDash val="solid"/>
          </a:ln>
        </p:spPr>
      </p:sp>
      <p:sp>
        <p:nvSpPr>
          <p:cNvPr id="11" name="Shape 8"/>
          <p:cNvSpPr/>
          <p:nvPr/>
        </p:nvSpPr>
        <p:spPr>
          <a:xfrm>
            <a:off x="6446520" y="1801368"/>
            <a:ext cx="502920" cy="502920"/>
          </a:xfrm>
          <a:prstGeom prst="ellipse">
            <a:avLst/>
          </a:prstGeom>
          <a:solidFill>
            <a:srgbClr val="C9A227"/>
          </a:solidFill>
          <a:ln w="12700">
            <a:solidFill>
              <a:srgbClr val="C9A227"/>
            </a:solidFill>
            <a:prstDash val="solid"/>
          </a:ln>
        </p:spPr>
      </p:sp>
      <p:pic>
        <p:nvPicPr>
          <p:cNvPr id="12" name="Image 1" descr="preencoded.png">    </p:cNvPr>
          <p:cNvPicPr>
            <a:picLocks noChangeAspect="1"/>
          </p:cNvPicPr>
          <p:nvPr/>
        </p:nvPicPr>
        <p:blipFill>
          <a:blip r:embed="rId2"/>
          <a:stretch>
            <a:fillRect/>
          </a:stretch>
        </p:blipFill>
        <p:spPr>
          <a:xfrm>
            <a:off x="6577279" y="1932127"/>
            <a:ext cx="241402" cy="241402"/>
          </a:xfrm>
          <a:prstGeom prst="rect">
            <a:avLst/>
          </a:prstGeom>
        </p:spPr>
      </p:pic>
      <p:sp>
        <p:nvSpPr>
          <p:cNvPr id="13" name="Text 9"/>
          <p:cNvSpPr txBox="1"/>
          <p:nvPr/>
        </p:nvSpPr>
        <p:spPr>
          <a:xfrm>
            <a:off x="7132320" y="1673352"/>
            <a:ext cx="4297680" cy="123444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Yang tidak saya berikan</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Tautan ke Library Genesis, Z-Library, PDFDrive, Anna's Archive, dan sejenisnya. Selain melanggar hak cipta, situs mirror-nya sering menyisipkan file palsu dan saya tidak bisa memindai isinya.</a:t>
            </a:r>
            <a:endParaRPr lang="en-US" sz="1250" dirty="0"/>
          </a:p>
        </p:txBody>
      </p:sp>
      <p:sp>
        <p:nvSpPr>
          <p:cNvPr id="14" name="Shape 10"/>
          <p:cNvSpPr/>
          <p:nvPr/>
        </p:nvSpPr>
        <p:spPr>
          <a:xfrm>
            <a:off x="6217920" y="3136392"/>
            <a:ext cx="5394960" cy="1371600"/>
          </a:xfrm>
          <a:prstGeom prst="roundRect">
            <a:avLst>
              <a:gd name="adj" fmla="val 8000"/>
            </a:avLst>
          </a:prstGeom>
          <a:solidFill>
            <a:srgbClr val="F7F9FC"/>
          </a:solidFill>
          <a:ln w="12700">
            <a:solidFill>
              <a:srgbClr val="F7F9FC"/>
            </a:solidFill>
            <a:prstDash val="solid"/>
          </a:ln>
        </p:spPr>
      </p:sp>
      <p:sp>
        <p:nvSpPr>
          <p:cNvPr id="15" name="Shape 11"/>
          <p:cNvSpPr/>
          <p:nvPr/>
        </p:nvSpPr>
        <p:spPr>
          <a:xfrm>
            <a:off x="6446520" y="3337560"/>
            <a:ext cx="502920" cy="502920"/>
          </a:xfrm>
          <a:prstGeom prst="ellipse">
            <a:avLst/>
          </a:prstGeom>
          <a:solidFill>
            <a:srgbClr val="C9A227"/>
          </a:solidFill>
          <a:ln w="12700">
            <a:solidFill>
              <a:srgbClr val="C9A227"/>
            </a:solidFill>
            <a:prstDash val="solid"/>
          </a:ln>
        </p:spPr>
      </p:sp>
      <p:pic>
        <p:nvPicPr>
          <p:cNvPr id="16" name="Image 2" descr="preencoded.png">    </p:cNvPr>
          <p:cNvPicPr>
            <a:picLocks noChangeAspect="1"/>
          </p:cNvPicPr>
          <p:nvPr/>
        </p:nvPicPr>
        <p:blipFill>
          <a:blip r:embed="rId3"/>
          <a:stretch>
            <a:fillRect/>
          </a:stretch>
        </p:blipFill>
        <p:spPr>
          <a:xfrm>
            <a:off x="6577279" y="3468319"/>
            <a:ext cx="241402" cy="241402"/>
          </a:xfrm>
          <a:prstGeom prst="rect">
            <a:avLst/>
          </a:prstGeom>
        </p:spPr>
      </p:pic>
      <p:sp>
        <p:nvSpPr>
          <p:cNvPr id="17" name="Text 12"/>
          <p:cNvSpPr txBox="1"/>
          <p:nvPr/>
        </p:nvSpPr>
        <p:spPr>
          <a:xfrm>
            <a:off x="7132320" y="3209544"/>
            <a:ext cx="4297680" cy="123444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Yang saya verifikasi</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Untuk tiap tautan di slide berikutnya: domain adalah milik penerbit/toko/perpustakaan resmi dan halamannya aktif saat dicek (September 2026). Itu batas verifikasi saya; saya tidak bisa memindai file yang nanti Anda unduh.</a:t>
            </a:r>
            <a:endParaRPr lang="en-US" sz="1250" dirty="0"/>
          </a:p>
        </p:txBody>
      </p:sp>
      <p:sp>
        <p:nvSpPr>
          <p:cNvPr id="18" name="Shape 13"/>
          <p:cNvSpPr/>
          <p:nvPr/>
        </p:nvSpPr>
        <p:spPr>
          <a:xfrm>
            <a:off x="6217920" y="4672584"/>
            <a:ext cx="5394960" cy="1371600"/>
          </a:xfrm>
          <a:prstGeom prst="roundRect">
            <a:avLst>
              <a:gd name="adj" fmla="val 8000"/>
            </a:avLst>
          </a:prstGeom>
          <a:solidFill>
            <a:srgbClr val="F7F9FC"/>
          </a:solidFill>
          <a:ln w="12700">
            <a:solidFill>
              <a:srgbClr val="F7F9FC"/>
            </a:solidFill>
            <a:prstDash val="solid"/>
          </a:ln>
        </p:spPr>
      </p:sp>
      <p:sp>
        <p:nvSpPr>
          <p:cNvPr id="19" name="Shape 14"/>
          <p:cNvSpPr/>
          <p:nvPr/>
        </p:nvSpPr>
        <p:spPr>
          <a:xfrm>
            <a:off x="6446520" y="4873752"/>
            <a:ext cx="502920" cy="502920"/>
          </a:xfrm>
          <a:prstGeom prst="ellipse">
            <a:avLst/>
          </a:prstGeom>
          <a:solidFill>
            <a:srgbClr val="C9A227"/>
          </a:solidFill>
          <a:ln w="12700">
            <a:solidFill>
              <a:srgbClr val="C9A227"/>
            </a:solidFill>
            <a:prstDash val="solid"/>
          </a:ln>
        </p:spPr>
      </p:sp>
      <p:pic>
        <p:nvPicPr>
          <p:cNvPr id="20" name="Image 3" descr="preencoded.png">    </p:cNvPr>
          <p:cNvPicPr>
            <a:picLocks noChangeAspect="1"/>
          </p:cNvPicPr>
          <p:nvPr/>
        </p:nvPicPr>
        <p:blipFill>
          <a:blip r:embed="rId4"/>
          <a:stretch>
            <a:fillRect/>
          </a:stretch>
        </p:blipFill>
        <p:spPr>
          <a:xfrm>
            <a:off x="6577279" y="5004511"/>
            <a:ext cx="241402" cy="241402"/>
          </a:xfrm>
          <a:prstGeom prst="rect">
            <a:avLst/>
          </a:prstGeom>
        </p:spPr>
      </p:pic>
      <p:sp>
        <p:nvSpPr>
          <p:cNvPr id="21" name="Text 15"/>
          <p:cNvSpPr txBox="1"/>
          <p:nvPr/>
        </p:nvSpPr>
        <p:spPr>
          <a:xfrm>
            <a:off x="7132320" y="4745736"/>
            <a:ext cx="4297680" cy="1234440"/>
          </a:xfrm>
          <a:prstGeom prst="rect">
            <a:avLst/>
          </a:prstGeom>
          <a:noFill/>
          <a:ln/>
        </p:spPr>
        <p:txBody>
          <a:bodyPr wrap="square" lIns="0" tIns="0" rIns="0" bIns="0" rtlCol="0" anchor="ctr"/>
          <a:lstStyle/>
          <a:p>
            <a:pPr indent="0" marL="0">
              <a:buNone/>
            </a:pPr>
            <a:r>
              <a:rPr lang="en-US" sz="1250" b="1" dirty="0">
                <a:solidFill>
                  <a:srgbClr val="12213A"/>
                </a:solidFill>
                <a:latin typeface="Calibri" pitchFamily="34" charset="0"/>
                <a:ea typeface="Calibri" pitchFamily="34" charset="-122"/>
                <a:cs typeface="Calibri" pitchFamily="34" charset="-120"/>
              </a:rPr>
              <a:t>Cara paling murah dan legal</a:t>
            </a:r>
            <a:endParaRPr lang="en-US" sz="1250" dirty="0"/>
          </a:p>
          <a:p>
            <a:pPr indent="0" marL="0">
              <a:buNone/>
            </a:pPr>
            <a:r>
              <a:rPr lang="en-US" sz="1050" dirty="0">
                <a:solidFill>
                  <a:srgbClr val="1F2937"/>
                </a:solidFill>
                <a:latin typeface="Calibri" pitchFamily="34" charset="0"/>
                <a:ea typeface="Calibri" pitchFamily="34" charset="-122"/>
                <a:cs typeface="Calibri" pitchFamily="34" charset="-120"/>
              </a:rPr>
              <a:t>Perpustakaan UGM (basis data e-book), iPusnas dari Perpusnas (gratis, aplikasi resmi), dan Open Library (pinjam digital). Banyak judul di daftar tersedia tanpa biaya.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Sumber e-book resmi (1/2): Tier 1 dan 2</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Halaman penerbit atau toko resmi. Tautan aktif di PDF ini. Cek dulu perpustakaan UGM dan iPusnas sebelum membeli</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2286000"/>
                <a:gridCol w="4754880"/>
                <a:gridCol w="137160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Judul</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Sumber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Tautan (diverifikasi)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Ket.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Good Strategy/Bad 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Penguin Random House (halaman resmi, tautan e-book ke toko)</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penguinrandomhouse.com/books/208668/good-strategy-bad-strategy-by-richar…</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Playing to Win (Expanded Ed.)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HBR Store (e-book resmi PDF/ePub)</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store.hbr.org/product/playing-to-win-expanded-with-bonus-hbr-articles-ho…</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±USD 32</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"What Is Strategy?" (Porter, HBR 1996)</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hbr.org (artikel; kuota gratis terbatas/berlangganan)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hbr.org/1996/11/what-is-strategy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Five Competitive Forces" (Porter, HBR 2008)</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hbr.org (artikel)</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hbr.org/2008/01/the-five-competitive-forces-that-shape-strategy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Contemporary Strategy Analysis, 12th ed.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Wiley (e-text resmi); cek dulu Wiley Online Books via UGM</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wiley.com/en-us/Contemporary+Strategy+Analysis,+12th+Edition-p-978139425…</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Art of War</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Project Gutenberg (domain publik, gratis, EPUB/Kindle)</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gutenberg.org/ebooks/132</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gratis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Competitive 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(halaman Simon &amp; Schuster memblokir pengecekan otomatis)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amazon.com/Competitive-Strategy-Techniques-Industries-Competitors-ebook/…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7 Powers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(kanal resmi utama penulis)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amazon.com/7-Powers-Foundations-Business-Strategy-ebook/dp/B01MRLFFQ7</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Blue Ocean Strategy (Expanded Ed.)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HBR Store (e-book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store.hbr.org/product/blue-ocean-strategy-expanded-edition-how-to-create…</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±USD 32</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Innovator's Dilemma</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HBR Store (e-book resmi, edisi 2024)</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store.hbr.org/product/the-innovator-s-dilemma-with-a-new-foreword-when-n…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±USD 35</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Thinking Strategically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W. W. Norton (penerbit); Kindle: amazon.com/dp/B002OJIBLU</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wwnorton.com/books/9780393310351</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Thinking, Fast and Slow</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(halaman Macmillan memblokir pengecekan otomatis)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amazon.com/Thinking-Fast-Slow-Daniel-Kahneman-ebook/dp/B00555X8OA</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Sumber e-book resmi (2/2): Tier 3 dan 4</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Domain resmi dan status halaman dicek 9 September 2026. Harga berubah sewaktu-waktu</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2286000"/>
                <a:gridCol w="4754880"/>
                <a:gridCol w="137160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Judul</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Sumber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Tautan (diverifikasi)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Ket.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Crux</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Hachette Book Group (e-book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hachettebookgroup.com/titles/richard-p-rumelt/the-crux/9781541701267/</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±USD 19</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Strategist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(HarperCollins memblokir pengecekan otomatis)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amazon.com/Strategist-Leader-Your-Business-Needs-ebook/dp/B006ID01OS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Execution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Penguin Random House (halaman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penguinrandomhouse.com/books/16316/execution-by-larry-bossidy-and-ram-ch…</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Measure What Matters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Penguin Random House (halaman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penguinrandomhouse.com/books/546304/measure-what-matters-by-john-doerr-f…</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Superforecasting</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Penguin Random House (halaman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penguinrandomhouse.com/books/227815/superforecasting-by-philip-e-tetlock…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Thinking in Bets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Penguin Random House (halaman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penguinrandomhouse.com/books/552885/thinking-in-bets-by-annie-duke/</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Strategy Safari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(Simon &amp; Schuster memblokir pengecekan otomatis)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amazon.com/dp/B000FC0V0W</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Opposable Mind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(tidak ditemukan di HBR Store)</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amazon.com/Opposable-Mind-Successful-Integrative-Thinking-ebook/dp/B004O…</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The Pyramid Principle</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Internet Archive (pinjam digital resmi; e-book jual resmi tidak ditemukan)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archive.org/details/pyramidprinciple0000mint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pinjam</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Good to Great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Amazon Kindle (HarperCollins memblokir pengecekan otomatis)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amazon.com/Good-Great-Some-Companies-Others-ebook/dp/B0058DRUV6</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Disruption (Rhenald Kasali)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Gramedia Digital (e-book resmi, Bahasa Indonesia)</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ebooks.gramedia.com/id/buku/disruption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12213A"/>
                </a:solidFill>
                <a:latin typeface="Cambria" pitchFamily="34" charset="0"/>
                <a:ea typeface="Cambria" pitchFamily="34" charset="-122"/>
                <a:cs typeface="Cambria" pitchFamily="34" charset="-120"/>
              </a:rPr>
              <a:t>Sumber gratis dan legal</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Prioritaskan ini sebelum membeli. Perpustakaan UGM mencakup basis data e-book yang berisi sebagian besar judul</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2286000"/>
                <a:gridCol w="4754880"/>
                <a:gridCol w="137160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Judul</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Sumber resmi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Tautan (diverifikasi)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Ket.</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12213A"/>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Perpustakaan UGM: daftar basis data e-book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lib.ugm.ac.id (ProQuest Ebook Central, EBSCO eBooks, Wiley Online Books, Springer, Taylor &amp; Francis, Cambridge Core, Emerald)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lib.ugm.ac.id/en/e-books/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gratis (mahasiswa)</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Perpustakaan UGM: akses dari luar kampus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lib.ugm.ac.id (petunjuk login proxy akses.lib.ugm.ac.id)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lib.ugm.ac.id/en/access-to-e-journals-databases-e-books/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ProQuest Ebook Central (koleksi UGM)</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ebookcentral.proquest.com; login dengan akun UGM</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ebookcentral.proquest.com/lib/ugm-ebooks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302 ke halaman login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iPusnas (Perpustakaan Nasional RI)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ipusnas.id + aplikasi resmi Android/iOS; gratis dengan akun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ipusnas.id/</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gratis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iPusnas di Google Play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play.google.com (aplikasi resmi Perpusnas)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play.google.com/store/apps/details?id=mam.reader.ipusnas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Open Library: Blue Ocean 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openlibrary.org (pinjam digital; edisi yang bisa dipinjam saat dicek berbahasa Mandarin)</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openlibrary.org/works/OL8980380W</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cek edisi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Open Library: Good Strategy/Bad 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openlibrary.org (saat dicek: hanya preview, belum bisa dipinjam)</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openlibrary.org/works/OL16149072W</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Rumelt, "The perils of bad strategy" (McKinsey Quarterly 2011)</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mckinsey.com (artikel gratis, ringkasan Good Strategy/Bad Strategy)</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mckinsey.com/capabilities/strategy-and-corporate-finance/our-insights/th…</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Tidak bisa dicek dari sini</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FFFFF"/>
                    </a:solidFill>
                  </a:tcPr>
                </a:tc>
              </a:tr>
              <a:tr h="347472">
                <a:tc>
                  <a:txBody>
                    <a:bodyPr/>
                    <a:lstStyle/>
                    <a:p>
                      <a:pPr indent="0" marL="0">
                        <a:buNone/>
                      </a:pPr>
                      <a:r>
                        <a:rPr lang="en-US" sz="900" b="1" dirty="0">
                          <a:solidFill>
                            <a:srgbClr val="12213A"/>
                          </a:solidFill>
                          <a:latin typeface="Calibri" pitchFamily="34" charset="0"/>
                          <a:ea typeface="Calibri" pitchFamily="34" charset="-122"/>
                          <a:cs typeface="Calibri" pitchFamily="34" charset="-120"/>
                        </a:rPr>
                        <a:t>Sun Tzu, The Art of War</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gutenberg.org (domain publik)</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u="sng" dirty="0">
                          <a:solidFill>
                            <a:srgbClr val="1A56A8"/>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gutenberg.org/ebooks/132</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200 OK, gratis</a:t>
                      </a:r>
                      <a:endParaRPr lang="en-US" sz="900" dirty="0">
                        <a:latin typeface="Calibri" charset="0"/>
                        <a:ea typeface="Calibri" charset="0"/>
                        <a:cs typeface="Calibri" charset="0"/>
                      </a:endParaRPr>
                    </a:p>
                  </a:txBody>
                  <a:tcPr marL="36576" marR="36576" marT="36576" marB="36576" anchor="ctr">
                    <a:lnL w="6350" cap="flat" cmpd="sng" algn="ctr">
                      <a:solidFill>
                        <a:srgbClr val="D6DCE6"/>
                      </a:solidFill>
                      <a:prstDash val="solid"/>
                      <a:round/>
                      <a:headEnd type="none" w="med" len="med"/>
                      <a:tailEnd type="none" w="med" len="med"/>
                    </a:lnL>
                    <a:lnR w="6350" cap="flat" cmpd="sng" algn="ctr">
                      <a:solidFill>
                        <a:srgbClr val="D6DCE6"/>
                      </a:solidFill>
                      <a:prstDash val="solid"/>
                      <a:round/>
                      <a:headEnd type="none" w="med" len="med"/>
                      <a:tailEnd type="none" w="med" len="med"/>
                    </a:lnR>
                    <a:lnT w="6350" cap="flat" cmpd="sng" algn="ctr">
                      <a:solidFill>
                        <a:srgbClr val="D6DCE6"/>
                      </a:solidFill>
                      <a:prstDash val="solid"/>
                      <a:round/>
                      <a:headEnd type="none" w="med" len="med"/>
                      <a:tailEnd type="none" w="med" len="med"/>
                    </a:lnT>
                    <a:lnB w="6350" cap="flat" cmpd="sng" algn="ctr">
                      <a:solidFill>
                        <a:srgbClr val="D6DCE6"/>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13A"/>
        </a:solidFill>
      </p:bgPr>
    </p:bg>
    <p:spTree>
      <p:nvGrpSpPr>
        <p:cNvPr id="1" name=""/>
        <p:cNvGrpSpPr/>
        <p:nvPr/>
      </p:nvGrpSpPr>
      <p:grpSpPr>
        <a:xfrm>
          <a:off x="0" y="0"/>
          <a:ext cx="0" cy="0"/>
          <a:chOff x="0" y="0"/>
          <a:chExt cx="0" cy="0"/>
        </a:xfrm>
      </p:grpSpPr>
      <p:sp>
        <p:nvSpPr>
          <p:cNvPr id="2" name="Text 0"/>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8A97B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65760"/>
            <a:ext cx="1109441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30 hari pertama: mulai dari sini</a:t>
            </a:r>
            <a:endParaRPr lang="en-US" sz="3200" dirty="0"/>
          </a:p>
        </p:txBody>
      </p:sp>
      <p:sp>
        <p:nvSpPr>
          <p:cNvPr id="4" name="Text 2"/>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400" i="1" dirty="0">
                <a:solidFill>
                  <a:srgbClr val="B9C3D6"/>
                </a:solidFill>
                <a:latin typeface="Calibri" pitchFamily="34" charset="0"/>
                <a:ea typeface="Calibri" pitchFamily="34" charset="-122"/>
                <a:cs typeface="Calibri" pitchFamily="34" charset="-120"/>
              </a:rPr>
              <a:t>Kalau hanya satu slide yang Anda ingat, ini slidenya</a:t>
            </a:r>
            <a:endParaRPr lang="en-US" sz="1400" dirty="0"/>
          </a:p>
        </p:txBody>
      </p:sp>
      <p:sp>
        <p:nvSpPr>
          <p:cNvPr id="5" name="Shape 3"/>
          <p:cNvSpPr/>
          <p:nvPr/>
        </p:nvSpPr>
        <p:spPr>
          <a:xfrm>
            <a:off x="548640" y="1554480"/>
            <a:ext cx="5394960" cy="1261872"/>
          </a:xfrm>
          <a:prstGeom prst="roundRect">
            <a:avLst>
              <a:gd name="adj" fmla="val 8696"/>
            </a:avLst>
          </a:prstGeom>
          <a:solidFill>
            <a:srgbClr val="1B2F52"/>
          </a:solidFill>
          <a:ln w="12700">
            <a:solidFill>
              <a:srgbClr val="1B2F52"/>
            </a:solidFill>
            <a:prstDash val="solid"/>
          </a:ln>
        </p:spPr>
      </p:sp>
      <p:sp>
        <p:nvSpPr>
          <p:cNvPr id="6" name="Shape 4"/>
          <p:cNvSpPr/>
          <p:nvPr/>
        </p:nvSpPr>
        <p:spPr>
          <a:xfrm>
            <a:off x="777240" y="1755648"/>
            <a:ext cx="502920" cy="502920"/>
          </a:xfrm>
          <a:prstGeom prst="ellipse">
            <a:avLst/>
          </a:prstGeom>
          <a:solidFill>
            <a:srgbClr val="C9A227"/>
          </a:solidFill>
          <a:ln w="12700">
            <a:solidFill>
              <a:srgbClr val="C9A227"/>
            </a:solidFill>
            <a:prstDash val="solid"/>
          </a:ln>
        </p:spPr>
      </p:sp>
      <p:pic>
        <p:nvPicPr>
          <p:cNvPr id="7" name="Image 0" descr="preencoded.png">    </p:cNvPr>
          <p:cNvPicPr>
            <a:picLocks noChangeAspect="1"/>
          </p:cNvPicPr>
          <p:nvPr/>
        </p:nvPicPr>
        <p:blipFill>
          <a:blip r:embed="rId1"/>
          <a:stretch>
            <a:fillRect/>
          </a:stretch>
        </p:blipFill>
        <p:spPr>
          <a:xfrm>
            <a:off x="907999" y="1886407"/>
            <a:ext cx="241402" cy="241402"/>
          </a:xfrm>
          <a:prstGeom prst="rect">
            <a:avLst/>
          </a:prstGeom>
        </p:spPr>
      </p:pic>
      <p:sp>
        <p:nvSpPr>
          <p:cNvPr id="8" name="Text 5"/>
          <p:cNvSpPr txBox="1"/>
          <p:nvPr/>
        </p:nvSpPr>
        <p:spPr>
          <a:xfrm>
            <a:off x="1463040" y="162763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Minggu 1</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Aktifkan akses e-resources perpustakaan UGM dan instal iPusnas. Dapatkan Good Strategy/Bad Strategy (pinjam atau beli).</a:t>
            </a:r>
            <a:endParaRPr lang="en-US" sz="1300" dirty="0"/>
          </a:p>
        </p:txBody>
      </p:sp>
      <p:sp>
        <p:nvSpPr>
          <p:cNvPr id="9" name="Shape 6"/>
          <p:cNvSpPr/>
          <p:nvPr/>
        </p:nvSpPr>
        <p:spPr>
          <a:xfrm>
            <a:off x="6217920" y="1554480"/>
            <a:ext cx="5394960" cy="1261872"/>
          </a:xfrm>
          <a:prstGeom prst="roundRect">
            <a:avLst>
              <a:gd name="adj" fmla="val 8696"/>
            </a:avLst>
          </a:prstGeom>
          <a:solidFill>
            <a:srgbClr val="1B2F52"/>
          </a:solidFill>
          <a:ln w="12700">
            <a:solidFill>
              <a:srgbClr val="1B2F52"/>
            </a:solidFill>
            <a:prstDash val="solid"/>
          </a:ln>
        </p:spPr>
      </p:sp>
      <p:sp>
        <p:nvSpPr>
          <p:cNvPr id="10" name="Shape 7"/>
          <p:cNvSpPr/>
          <p:nvPr/>
        </p:nvSpPr>
        <p:spPr>
          <a:xfrm>
            <a:off x="6446520" y="1755648"/>
            <a:ext cx="502920" cy="502920"/>
          </a:xfrm>
          <a:prstGeom prst="ellipse">
            <a:avLst/>
          </a:prstGeom>
          <a:solidFill>
            <a:srgbClr val="C9A227"/>
          </a:solidFill>
          <a:ln w="12700">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6577279" y="1886407"/>
            <a:ext cx="241402" cy="241402"/>
          </a:xfrm>
          <a:prstGeom prst="rect">
            <a:avLst/>
          </a:prstGeom>
        </p:spPr>
      </p:pic>
      <p:sp>
        <p:nvSpPr>
          <p:cNvPr id="12" name="Text 8"/>
          <p:cNvSpPr txBox="1"/>
          <p:nvPr/>
        </p:nvSpPr>
        <p:spPr>
          <a:xfrm>
            <a:off x="7132320" y="162763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Minggu 1–3</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Baca Rumelt bab 1–9. Tulis 1 paragraf per bab: satu contoh Indonesia untuk tiap konsep.</a:t>
            </a:r>
            <a:endParaRPr lang="en-US" sz="1300" dirty="0"/>
          </a:p>
        </p:txBody>
      </p:sp>
      <p:sp>
        <p:nvSpPr>
          <p:cNvPr id="13" name="Shape 9"/>
          <p:cNvSpPr/>
          <p:nvPr/>
        </p:nvSpPr>
        <p:spPr>
          <a:xfrm>
            <a:off x="548640" y="2971800"/>
            <a:ext cx="5394960" cy="1261872"/>
          </a:xfrm>
          <a:prstGeom prst="roundRect">
            <a:avLst>
              <a:gd name="adj" fmla="val 8696"/>
            </a:avLst>
          </a:prstGeom>
          <a:solidFill>
            <a:srgbClr val="1B2F52"/>
          </a:solidFill>
          <a:ln w="12700">
            <a:solidFill>
              <a:srgbClr val="1B2F52"/>
            </a:solidFill>
            <a:prstDash val="solid"/>
          </a:ln>
        </p:spPr>
      </p:sp>
      <p:sp>
        <p:nvSpPr>
          <p:cNvPr id="14" name="Shape 10"/>
          <p:cNvSpPr/>
          <p:nvPr/>
        </p:nvSpPr>
        <p:spPr>
          <a:xfrm>
            <a:off x="777240" y="3172968"/>
            <a:ext cx="502920" cy="502920"/>
          </a:xfrm>
          <a:prstGeom prst="ellipse">
            <a:avLst/>
          </a:prstGeom>
          <a:solidFill>
            <a:srgbClr val="C9A227"/>
          </a:solidFill>
          <a:ln w="12700">
            <a:solidFill>
              <a:srgbClr val="C9A227"/>
            </a:solidFill>
            <a:prstDash val="solid"/>
          </a:ln>
        </p:spPr>
      </p:sp>
      <p:pic>
        <p:nvPicPr>
          <p:cNvPr id="15" name="Image 2" descr="preencoded.png">    </p:cNvPr>
          <p:cNvPicPr>
            <a:picLocks noChangeAspect="1"/>
          </p:cNvPicPr>
          <p:nvPr/>
        </p:nvPicPr>
        <p:blipFill>
          <a:blip r:embed="rId3"/>
          <a:stretch>
            <a:fillRect/>
          </a:stretch>
        </p:blipFill>
        <p:spPr>
          <a:xfrm>
            <a:off x="907999" y="3303727"/>
            <a:ext cx="241402" cy="241402"/>
          </a:xfrm>
          <a:prstGeom prst="rect">
            <a:avLst/>
          </a:prstGeom>
        </p:spPr>
      </p:pic>
      <p:sp>
        <p:nvSpPr>
          <p:cNvPr id="16" name="Text 11"/>
          <p:cNvSpPr txBox="1"/>
          <p:nvPr/>
        </p:nvSpPr>
        <p:spPr>
          <a:xfrm>
            <a:off x="1463040" y="304495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Minggu 2</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Memo pertama: pilih 1 emiten IDX yang Anda kenal. Pakai format 4 bagian. Kirim ke 1 orang untuk dikritik.</a:t>
            </a:r>
            <a:endParaRPr lang="en-US" sz="1300" dirty="0"/>
          </a:p>
        </p:txBody>
      </p:sp>
      <p:sp>
        <p:nvSpPr>
          <p:cNvPr id="17" name="Shape 12"/>
          <p:cNvSpPr/>
          <p:nvPr/>
        </p:nvSpPr>
        <p:spPr>
          <a:xfrm>
            <a:off x="6217920" y="2971800"/>
            <a:ext cx="5394960" cy="1261872"/>
          </a:xfrm>
          <a:prstGeom prst="roundRect">
            <a:avLst>
              <a:gd name="adj" fmla="val 8696"/>
            </a:avLst>
          </a:prstGeom>
          <a:solidFill>
            <a:srgbClr val="1B2F52"/>
          </a:solidFill>
          <a:ln w="12700">
            <a:solidFill>
              <a:srgbClr val="1B2F52"/>
            </a:solidFill>
            <a:prstDash val="solid"/>
          </a:ln>
        </p:spPr>
      </p:sp>
      <p:sp>
        <p:nvSpPr>
          <p:cNvPr id="18" name="Shape 13"/>
          <p:cNvSpPr/>
          <p:nvPr/>
        </p:nvSpPr>
        <p:spPr>
          <a:xfrm>
            <a:off x="6446520" y="3172968"/>
            <a:ext cx="502920" cy="502920"/>
          </a:xfrm>
          <a:prstGeom prst="ellipse">
            <a:avLst/>
          </a:prstGeom>
          <a:solidFill>
            <a:srgbClr val="C9A227"/>
          </a:solidFill>
          <a:ln w="12700">
            <a:solidFill>
              <a:srgbClr val="C9A227"/>
            </a:solidFill>
            <a:prstDash val="solid"/>
          </a:ln>
        </p:spPr>
      </p:sp>
      <p:pic>
        <p:nvPicPr>
          <p:cNvPr id="19" name="Image 3" descr="preencoded.png">    </p:cNvPr>
          <p:cNvPicPr>
            <a:picLocks noChangeAspect="1"/>
          </p:cNvPicPr>
          <p:nvPr/>
        </p:nvPicPr>
        <p:blipFill>
          <a:blip r:embed="rId4"/>
          <a:stretch>
            <a:fillRect/>
          </a:stretch>
        </p:blipFill>
        <p:spPr>
          <a:xfrm>
            <a:off x="6577279" y="3303727"/>
            <a:ext cx="241402" cy="241402"/>
          </a:xfrm>
          <a:prstGeom prst="rect">
            <a:avLst/>
          </a:prstGeom>
        </p:spPr>
      </p:pic>
      <p:sp>
        <p:nvSpPr>
          <p:cNvPr id="20" name="Text 14"/>
          <p:cNvSpPr txBox="1"/>
          <p:nvPr/>
        </p:nvSpPr>
        <p:spPr>
          <a:xfrm>
            <a:off x="7132320" y="304495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Minggu 3</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Identifikasi 3 calon mentor/praktisi strategi (alumni MBA UGM, kolega, LinkedIn). Hubungi satu.</a:t>
            </a:r>
            <a:endParaRPr lang="en-US" sz="1300" dirty="0"/>
          </a:p>
        </p:txBody>
      </p:sp>
      <p:sp>
        <p:nvSpPr>
          <p:cNvPr id="21" name="Shape 15"/>
          <p:cNvSpPr/>
          <p:nvPr/>
        </p:nvSpPr>
        <p:spPr>
          <a:xfrm>
            <a:off x="548640" y="4389120"/>
            <a:ext cx="5394960" cy="1261872"/>
          </a:xfrm>
          <a:prstGeom prst="roundRect">
            <a:avLst>
              <a:gd name="adj" fmla="val 8696"/>
            </a:avLst>
          </a:prstGeom>
          <a:solidFill>
            <a:srgbClr val="1B2F52"/>
          </a:solidFill>
          <a:ln w="12700">
            <a:solidFill>
              <a:srgbClr val="1B2F52"/>
            </a:solidFill>
            <a:prstDash val="solid"/>
          </a:ln>
        </p:spPr>
      </p:sp>
      <p:sp>
        <p:nvSpPr>
          <p:cNvPr id="22" name="Shape 16"/>
          <p:cNvSpPr/>
          <p:nvPr/>
        </p:nvSpPr>
        <p:spPr>
          <a:xfrm>
            <a:off x="777240" y="4590288"/>
            <a:ext cx="502920" cy="502920"/>
          </a:xfrm>
          <a:prstGeom prst="ellipse">
            <a:avLst/>
          </a:prstGeom>
          <a:solidFill>
            <a:srgbClr val="C9A227"/>
          </a:solidFill>
          <a:ln w="12700">
            <a:solidFill>
              <a:srgbClr val="C9A227"/>
            </a:solidFill>
            <a:prstDash val="solid"/>
          </a:ln>
        </p:spPr>
      </p:sp>
      <p:pic>
        <p:nvPicPr>
          <p:cNvPr id="23" name="Image 4" descr="preencoded.png">    </p:cNvPr>
          <p:cNvPicPr>
            <a:picLocks noChangeAspect="1"/>
          </p:cNvPicPr>
          <p:nvPr/>
        </p:nvPicPr>
        <p:blipFill>
          <a:blip r:embed="rId5"/>
          <a:stretch>
            <a:fillRect/>
          </a:stretch>
        </p:blipFill>
        <p:spPr>
          <a:xfrm>
            <a:off x="907999" y="4721047"/>
            <a:ext cx="241402" cy="241402"/>
          </a:xfrm>
          <a:prstGeom prst="rect">
            <a:avLst/>
          </a:prstGeom>
        </p:spPr>
      </p:pic>
      <p:sp>
        <p:nvSpPr>
          <p:cNvPr id="24" name="Text 17"/>
          <p:cNvSpPr txBox="1"/>
          <p:nvPr/>
        </p:nvSpPr>
        <p:spPr>
          <a:xfrm>
            <a:off x="1463040" y="446227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Minggu 4</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Cari tim kompetisi kasus di kampus. Mulai forecast journal dengan 5 prediksi pertama.</a:t>
            </a:r>
            <a:endParaRPr lang="en-US" sz="1300" dirty="0"/>
          </a:p>
        </p:txBody>
      </p:sp>
      <p:sp>
        <p:nvSpPr>
          <p:cNvPr id="25" name="Shape 18"/>
          <p:cNvSpPr/>
          <p:nvPr/>
        </p:nvSpPr>
        <p:spPr>
          <a:xfrm>
            <a:off x="6217920" y="4389120"/>
            <a:ext cx="5394960" cy="1261872"/>
          </a:xfrm>
          <a:prstGeom prst="roundRect">
            <a:avLst>
              <a:gd name="adj" fmla="val 8696"/>
            </a:avLst>
          </a:prstGeom>
          <a:solidFill>
            <a:srgbClr val="1B2F52"/>
          </a:solidFill>
          <a:ln w="12700">
            <a:solidFill>
              <a:srgbClr val="1B2F52"/>
            </a:solidFill>
            <a:prstDash val="solid"/>
          </a:ln>
        </p:spPr>
      </p:sp>
      <p:sp>
        <p:nvSpPr>
          <p:cNvPr id="26" name="Shape 19"/>
          <p:cNvSpPr/>
          <p:nvPr/>
        </p:nvSpPr>
        <p:spPr>
          <a:xfrm>
            <a:off x="6446520" y="4590288"/>
            <a:ext cx="502920" cy="502920"/>
          </a:xfrm>
          <a:prstGeom prst="ellipse">
            <a:avLst/>
          </a:prstGeom>
          <a:solidFill>
            <a:srgbClr val="C9A227"/>
          </a:solidFill>
          <a:ln w="12700">
            <a:solidFill>
              <a:srgbClr val="C9A227"/>
            </a:solidFill>
            <a:prstDash val="solid"/>
          </a:ln>
        </p:spPr>
      </p:sp>
      <p:pic>
        <p:nvPicPr>
          <p:cNvPr id="27" name="Image 5" descr="preencoded.png">    </p:cNvPr>
          <p:cNvPicPr>
            <a:picLocks noChangeAspect="1"/>
          </p:cNvPicPr>
          <p:nvPr/>
        </p:nvPicPr>
        <p:blipFill>
          <a:blip r:embed="rId6"/>
          <a:stretch>
            <a:fillRect/>
          </a:stretch>
        </p:blipFill>
        <p:spPr>
          <a:xfrm>
            <a:off x="6577279" y="4721047"/>
            <a:ext cx="241402" cy="241402"/>
          </a:xfrm>
          <a:prstGeom prst="rect">
            <a:avLst/>
          </a:prstGeom>
        </p:spPr>
      </p:pic>
      <p:sp>
        <p:nvSpPr>
          <p:cNvPr id="28" name="Text 20"/>
          <p:cNvSpPr txBox="1"/>
          <p:nvPr/>
        </p:nvSpPr>
        <p:spPr>
          <a:xfrm>
            <a:off x="7132320" y="4462272"/>
            <a:ext cx="4297680" cy="1115568"/>
          </a:xfrm>
          <a:prstGeom prst="rect">
            <a:avLst/>
          </a:prstGeom>
          <a:noFill/>
          <a:ln/>
        </p:spPr>
        <p:txBody>
          <a:bodyPr wrap="square" lIns="0" tIns="0" rIns="0" bIns="0" rtlCol="0" anchor="ctr"/>
          <a:lstStyle/>
          <a:p>
            <a:pPr indent="0" marL="0">
              <a:buNone/>
            </a:pPr>
            <a:r>
              <a:rPr lang="en-US" sz="1300" b="1" dirty="0">
                <a:solidFill>
                  <a:srgbClr val="C9A227"/>
                </a:solidFill>
                <a:latin typeface="Calibri" pitchFamily="34" charset="0"/>
                <a:ea typeface="Calibri" pitchFamily="34" charset="-122"/>
                <a:cs typeface="Calibri" pitchFamily="34" charset="-120"/>
              </a:rPr>
              <a:t>Hari ke-30</a:t>
            </a:r>
            <a:endParaRPr lang="en-US" sz="1300" dirty="0"/>
          </a:p>
          <a:p>
            <a:pPr indent="0" marL="0">
              <a:buNone/>
            </a:pPr>
            <a:r>
              <a:rPr lang="en-US" sz="1100" dirty="0">
                <a:solidFill>
                  <a:srgbClr val="E3E8F1"/>
                </a:solidFill>
                <a:latin typeface="Calibri" pitchFamily="34" charset="0"/>
                <a:ea typeface="Calibri" pitchFamily="34" charset="-122"/>
                <a:cs typeface="Calibri" pitchFamily="34" charset="-120"/>
              </a:rPr>
              <a:t>Tinjau: 1 buku selesai, 2 memo tertulis, 1 mentor merespons. Kalau belum, perbaiki jadwal, jangan perbaiki alasan.</a:t>
            </a:r>
            <a:endParaRPr lang="en-US" sz="1300" dirty="0"/>
          </a:p>
        </p:txBody>
      </p:sp>
      <p:sp>
        <p:nvSpPr>
          <p:cNvPr id="29" name="Text 21"/>
          <p:cNvSpPr txBox="1"/>
          <p:nvPr/>
        </p:nvSpPr>
        <p:spPr>
          <a:xfrm>
            <a:off x="548640" y="5943600"/>
            <a:ext cx="11064240" cy="457200"/>
          </a:xfrm>
          <a:prstGeom prst="rect">
            <a:avLst/>
          </a:prstGeom>
          <a:noFill/>
          <a:ln/>
        </p:spPr>
        <p:txBody>
          <a:bodyPr wrap="square" lIns="0" tIns="0" rIns="0" bIns="0" rtlCol="0" anchor="ctr"/>
          <a:lstStyle/>
          <a:p>
            <a:pPr indent="0" marL="0">
              <a:buNone/>
            </a:pPr>
            <a:r>
              <a:rPr lang="en-US" sz="1400" i="1" dirty="0">
                <a:solidFill>
                  <a:srgbClr val="B9C3D6"/>
                </a:solidFill>
                <a:latin typeface="Cambria" pitchFamily="34" charset="0"/>
                <a:ea typeface="Cambria" pitchFamily="34" charset="-122"/>
                <a:cs typeface="Cambria" pitchFamily="34" charset="-120"/>
              </a:rPr>
              <a:t>Rencana ini akan salah di beberapa bagian. Itu wajar. Yang tidak boleh: berhenti menulis memo.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Blueprint Ahli Strategi</dc:title>
  <dc:subject>PptxGenJS Presentation</dc:subject>
  <dc:creator>Rencana Pengembangan Diri</dc:creator>
  <cp:lastModifiedBy>Rencana Pengembangan Diri</cp:lastModifiedBy>
  <cp:revision>1</cp:revision>
  <dcterms:created xsi:type="dcterms:W3CDTF">2026-09-09T06:58:09Z</dcterms:created>
  <dcterms:modified xsi:type="dcterms:W3CDTF">2026-09-09T06:58:09Z</dcterms:modified>
</cp:coreProperties>
</file>