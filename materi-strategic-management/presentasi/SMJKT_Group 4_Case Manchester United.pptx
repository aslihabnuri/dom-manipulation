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4.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Arial"/>
              </a:defRPr>
            </a:pPr>
            <a:r>
              <a:rPr sz="1100" b="0" i="0" u="none" strike="noStrike">
                <a:solidFill>
                  <a:srgbClr val="2B2B2B"/>
                </a:solidFill>
                <a:latin typeface="Arial"/>
              </a:rPr>
              <a:t>Poin performa Eropa 2000–2009 (Table 6.2)</a:t>
            </a:r>
          </a:p>
        </c:rich>
      </c:tx>
      <c:layout/>
      <c:overlay val="0"/>
    </c:title>
    <c:autoTitleDeleted val="0"/>
    <c:plotArea>
      <c:layout/>
      <c:barChart>
        <c:barDir val="bar"/>
        <c:grouping val="clustered"/>
        <c:varyColors val="0"/>
        <c:ser>
          <c:idx val="0"/>
          <c:order val="0"/>
          <c:tx>
            <c:strRef>
              <c:f>Sheet1!$B$1</c:f>
              <c:strCache>
                <c:ptCount val="1"/>
                <c:pt idx="0">
                  <c:v>Poin Eropa 2000–09</c:v>
                </c:pt>
              </c:strCache>
            </c:strRef>
          </c:tx>
          <c:spPr>
            <a:solidFill>
              <a:srgbClr val="8C1D2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Man United</c:v>
                  </c:pt>
                  <c:pt idx="1">
                    <c:v>Barcelona</c:v>
                  </c:pt>
                  <c:pt idx="2">
                    <c:v>Real Madrid</c:v>
                  </c:pt>
                  <c:pt idx="3">
                    <c:v>Bayern</c:v>
                  </c:pt>
                  <c:pt idx="4">
                    <c:v>Arsenal</c:v>
                  </c:pt>
                  <c:pt idx="5">
                    <c:v>Chelsea</c:v>
                  </c:pt>
                </c:lvl>
              </c:multiLvlStrCache>
            </c:multiLvlStrRef>
          </c:cat>
          <c:val>
            <c:numRef>
              <c:f>Sheet1!$B$2:$B$7</c:f>
              <c:numCache>
                <c:formatCode>General</c:formatCode>
                <c:ptCount val="6"/>
                <c:pt idx="0">
                  <c:v>1460</c:v>
                </c:pt>
                <c:pt idx="1">
                  <c:v>1411</c:v>
                </c:pt>
                <c:pt idx="2">
                  <c:v>1314</c:v>
                </c:pt>
                <c:pt idx="3">
                  <c:v>1314</c:v>
                </c:pt>
                <c:pt idx="4">
                  <c:v>1310</c:v>
                </c:pt>
                <c:pt idx="5">
                  <c:v>1276</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00"/>
          <c:min val="1200"/>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Arial"/>
              </a:defRPr>
            </a:pPr>
            <a:r>
              <a:rPr sz="1100" b="0" i="0" u="none" strike="noStrike">
                <a:solidFill>
                  <a:srgbClr val="2B2B2B"/>
                </a:solidFill>
                <a:latin typeface="Arial"/>
              </a:rPr>
              <a:t>Pendapatan Manchester United, £ juta (Appendix kasus)</a:t>
            </a:r>
          </a:p>
        </c:rich>
      </c:tx>
      <c:layout/>
      <c:overlay val="0"/>
    </c:title>
    <c:autoTitleDeleted val="0"/>
    <c:plotArea>
      <c:layout/>
      <c:barChart>
        <c:barDir val="col"/>
        <c:grouping val="clustered"/>
        <c:varyColors val="0"/>
        <c:ser>
          <c:idx val="0"/>
          <c:order val="0"/>
          <c:tx>
            <c:strRef>
              <c:f>Sheet1!$B$1</c:f>
              <c:strCache>
                <c:ptCount val="1"/>
                <c:pt idx="0">
                  <c:v>Pendapatan (£ juta)</c:v>
                </c:pt>
              </c:strCache>
            </c:strRef>
          </c:tx>
          <c:spPr>
            <a:solidFill>
              <a:srgbClr val="8C1D2B"/>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2000</c:v>
                  </c:pt>
                  <c:pt idx="1">
                    <c:v>2001</c:v>
                  </c:pt>
                  <c:pt idx="2">
                    <c:v>2002</c:v>
                  </c:pt>
                  <c:pt idx="3">
                    <c:v>2003</c:v>
                  </c:pt>
                  <c:pt idx="4">
                    <c:v>2004</c:v>
                  </c:pt>
                  <c:pt idx="5">
                    <c:v>2005</c:v>
                  </c:pt>
                  <c:pt idx="6">
                    <c:v>2006</c:v>
                  </c:pt>
                  <c:pt idx="7">
                    <c:v>2007</c:v>
                  </c:pt>
                  <c:pt idx="8">
                    <c:v>2008</c:v>
                  </c:pt>
                </c:lvl>
              </c:multiLvlStrCache>
            </c:multiLvlStrRef>
          </c:cat>
          <c:val>
            <c:numRef>
              <c:f>Sheet1!$B$2:$B$10</c:f>
              <c:numCache>
                <c:formatCode>General</c:formatCode>
                <c:ptCount val="9"/>
                <c:pt idx="0">
                  <c:v>116</c:v>
                </c:pt>
                <c:pt idx="1">
                  <c:v>129.6</c:v>
                </c:pt>
                <c:pt idx="2">
                  <c:v>146.1</c:v>
                </c:pt>
                <c:pt idx="3">
                  <c:v>173</c:v>
                </c:pt>
                <c:pt idx="4">
                  <c:v>169.1</c:v>
                </c:pt>
                <c:pt idx="5">
                  <c:v>157.2</c:v>
                </c:pt>
                <c:pt idx="6">
                  <c:v>167.8</c:v>
                </c:pt>
                <c:pt idx="7">
                  <c:v>212.2</c:v>
                </c:pt>
                <c:pt idx="8">
                  <c:v>257.1</c:v>
                </c:pt>
              </c:numCache>
            </c:numRef>
          </c:val>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Arial"/>
              </a:defRPr>
            </a:pPr>
            <a:r>
              <a:rPr sz="1100" b="0" i="0" u="none" strike="noStrike">
                <a:solidFill>
                  <a:srgbClr val="2B2B2B"/>
                </a:solidFill>
                <a:latin typeface="Arial"/>
              </a:rPr>
              <a:t>Belanja transfer bersih 2003–2009, £ juta (Table 6.7)</a:t>
            </a:r>
          </a:p>
        </c:rich>
      </c:tx>
      <c:layout/>
      <c:overlay val="0"/>
    </c:title>
    <c:autoTitleDeleted val="0"/>
    <c:plotArea>
      <c:layout/>
      <c:barChart>
        <c:barDir val="bar"/>
        <c:grouping val="clustered"/>
        <c:varyColors val="0"/>
        <c:ser>
          <c:idx val="0"/>
          <c:order val="0"/>
          <c:tx>
            <c:strRef>
              <c:f>Sheet1!$B$1</c:f>
              <c:strCache>
                <c:ptCount val="1"/>
                <c:pt idx="0">
                  <c:v>Belanja transfer bersih 2003–09 (£ juta)</c:v>
                </c:pt>
              </c:strCache>
            </c:strRef>
          </c:tx>
          <c:spPr>
            <a:solidFill>
              <a:srgbClr val="8C1D2B"/>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Real Madrid</c:v>
                  </c:pt>
                  <c:pt idx="1">
                    <c:v>Chelsea</c:v>
                  </c:pt>
                  <c:pt idx="2">
                    <c:v>Barcelona</c:v>
                  </c:pt>
                  <c:pt idx="3">
                    <c:v>Liverpool</c:v>
                  </c:pt>
                  <c:pt idx="4">
                    <c:v>Bayern</c:v>
                  </c:pt>
                  <c:pt idx="5">
                    <c:v>Man United</c:v>
                  </c:pt>
                  <c:pt idx="6">
                    <c:v>Arsenal</c:v>
                  </c:pt>
                </c:lvl>
              </c:multiLvlStrCache>
            </c:multiLvlStrRef>
          </c:cat>
          <c:val>
            <c:numRef>
              <c:f>Sheet1!$B$2:$B$8</c:f>
              <c:numCache>
                <c:formatCode>General</c:formatCode>
                <c:ptCount val="7"/>
                <c:pt idx="0">
                  <c:v>438</c:v>
                </c:pt>
                <c:pt idx="1">
                  <c:v>430</c:v>
                </c:pt>
                <c:pt idx="2">
                  <c:v>249</c:v>
                </c:pt>
                <c:pt idx="3">
                  <c:v>157</c:v>
                </c:pt>
                <c:pt idx="4">
                  <c:v>122</c:v>
                </c:pt>
                <c:pt idx="5">
                  <c:v>100</c:v>
                </c:pt>
                <c:pt idx="6">
                  <c:v>22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Arial"/>
              </a:defRPr>
            </a:pPr>
            <a:r>
              <a:rPr sz="1100" b="0" i="0" u="none" strike="noStrike">
                <a:solidFill>
                  <a:srgbClr val="2B2B2B"/>
                </a:solidFill>
                <a:latin typeface="Arial"/>
              </a:rPr>
              <a:t>Margin EBITDA klub Eropa, % (dihitung dari Table 6.5)</a:t>
            </a:r>
          </a:p>
        </c:rich>
      </c:tx>
      <c:layout/>
      <c:overlay val="0"/>
    </c:title>
    <c:autoTitleDeleted val="0"/>
    <c:plotArea>
      <c:layout/>
      <c:barChart>
        <c:barDir val="bar"/>
        <c:grouping val="clustered"/>
        <c:varyColors val="0"/>
        <c:ser>
          <c:idx val="0"/>
          <c:order val="0"/>
          <c:tx>
            <c:strRef>
              <c:f>Sheet1!$B$1</c:f>
              <c:strCache>
                <c:ptCount val="1"/>
                <c:pt idx="0">
                  <c:v>Margin EBITDA (%)</c:v>
                </c:pt>
              </c:strCache>
            </c:strRef>
          </c:tx>
          <c:spPr>
            <a:solidFill>
              <a:srgbClr val="8C1D2B"/>
            </a:solidFill>
            <a:effectLst/>
          </c:spPr>
          <c:invertIfNegative val="0"/>
          <c:dLbls>
            <c:numFmt formatCode="#,##0" sourceLinked="0"/>
            <c:txPr>
              <a:bodyPr/>
              <a:lstStyle/>
              <a:p>
                <a:pPr>
                  <a:defRPr b="0" i="0" strike="noStrike" sz="950" u="none">
                    <a:solidFill>
                      <a:srgbClr val="000000"/>
                    </a:solidFill>
                    <a:latin typeface="Arial"/>
                  </a:defRPr>
                </a:pPr>
              </a:p>
            </c:txPr>
            <c:showLegendKey val="0"/>
            <c:showVal val="1"/>
            <c:showCatName val="0"/>
            <c:showSerName val="0"/>
            <c:showPercent val="0"/>
            <c:showBubbleSize val="0"/>
            <c:showLeaderLines val="0"/>
          </c:dLbls>
          <c:cat>
            <c:multiLvlStrRef>
              <c:f>Sheet1!$A$2:$A$11</c:f>
              <c:multiLvlStrCache>
                <c:ptCount val="10"/>
                <c:lvl>
                  <c:pt idx="0">
                    <c:v>Man United</c:v>
                  </c:pt>
                  <c:pt idx="1">
                    <c:v>Barcelona</c:v>
                  </c:pt>
                  <c:pt idx="2">
                    <c:v>Arsenal</c:v>
                  </c:pt>
                  <c:pt idx="3">
                    <c:v>AC Milan</c:v>
                  </c:pt>
                  <c:pt idx="4">
                    <c:v>Juventus</c:v>
                  </c:pt>
                  <c:pt idx="5">
                    <c:v>Liverpool</c:v>
                  </c:pt>
                  <c:pt idx="6">
                    <c:v>Real Madrid</c:v>
                  </c:pt>
                  <c:pt idx="7">
                    <c:v>Bayern</c:v>
                  </c:pt>
                  <c:pt idx="8">
                    <c:v>Inter</c:v>
                  </c:pt>
                  <c:pt idx="9">
                    <c:v>Chelsea</c:v>
                  </c:pt>
                </c:lvl>
              </c:multiLvlStrCache>
            </c:multiLvlStrRef>
          </c:cat>
          <c:val>
            <c:numRef>
              <c:f>Sheet1!$B$2:$B$11</c:f>
              <c:numCache>
                <c:formatCode>General</c:formatCode>
                <c:ptCount val="10"/>
                <c:pt idx="0">
                  <c:v>31.4</c:v>
                </c:pt>
                <c:pt idx="1">
                  <c:v>22.3</c:v>
                </c:pt>
                <c:pt idx="2">
                  <c:v>19.3</c:v>
                </c:pt>
                <c:pt idx="3">
                  <c:v>17.6</c:v>
                </c:pt>
                <c:pt idx="4">
                  <c:v>17.5</c:v>
                </c:pt>
                <c:pt idx="5">
                  <c:v>15.8</c:v>
                </c:pt>
                <c:pt idx="6">
                  <c:v>14.1</c:v>
                </c:pt>
                <c:pt idx="7">
                  <c:v>12.7</c:v>
                </c:pt>
                <c:pt idx="8">
                  <c:v>9.9</c:v>
                </c:pt>
                <c:pt idx="9">
                  <c:v>-3.1</c:v>
                </c:pt>
              </c:numCache>
            </c:numRef>
          </c:val>
        </c:ser>
        <c:dLbls>
          <c:numFmt formatCode="#,##0" sourceLinked="0"/>
          <c:txPr>
            <a:bodyPr/>
            <a:lstStyle/>
            <a:p>
              <a:pPr>
                <a:defRPr b="0" i="0" strike="noStrike" sz="95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
          <c:min val="-5"/>
        </c:scaling>
        <c:delete val="0"/>
        <c:axPos val="b"/>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1D2B"/>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36576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STRATEGIC MANAGEMENT · MAN 5422 · SESI 5</a:t>
            </a:r>
            <a:endParaRPr lang="en-US" sz="1300" dirty="0"/>
          </a:p>
        </p:txBody>
      </p:sp>
      <p:sp>
        <p:nvSpPr>
          <p:cNvPr id="3" name="Text 1"/>
          <p:cNvSpPr txBox="1"/>
          <p:nvPr/>
        </p:nvSpPr>
        <p:spPr>
          <a:xfrm>
            <a:off x="731520" y="1280160"/>
            <a:ext cx="10515600" cy="18288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Chapter 4</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Evaluating a Company’s Resources, Capabilities, and Competitiveness</a:t>
            </a:r>
            <a:endParaRPr lang="en-US" sz="3600" dirty="0"/>
          </a:p>
        </p:txBody>
      </p:sp>
      <p:sp>
        <p:nvSpPr>
          <p:cNvPr id="4" name="Text 2"/>
          <p:cNvSpPr txBox="1"/>
          <p:nvPr/>
        </p:nvSpPr>
        <p:spPr>
          <a:xfrm>
            <a:off x="731520" y="3291840"/>
            <a:ext cx="10515600" cy="548640"/>
          </a:xfrm>
          <a:prstGeom prst="rect">
            <a:avLst/>
          </a:prstGeom>
          <a:noFill/>
          <a:ln/>
        </p:spPr>
        <p:txBody>
          <a:bodyPr wrap="square" lIns="0" tIns="0" rIns="0" bIns="0" rtlCol="0" anchor="ctr"/>
          <a:lstStyle/>
          <a:p>
            <a:pPr indent="0" marL="0">
              <a:buNone/>
            </a:pPr>
            <a:r>
              <a:rPr lang="en-US" sz="1600" dirty="0">
                <a:solidFill>
                  <a:srgbClr val="F3DCDF"/>
                </a:solidFill>
                <a:latin typeface="Calibri" pitchFamily="34" charset="0"/>
                <a:ea typeface="Calibri" pitchFamily="34" charset="-122"/>
                <a:cs typeface="Calibri" pitchFamily="34" charset="-120"/>
              </a:rPr>
              <a:t>Studi kasus: Manchester United, Preparing for Life without Ferguson (Grant, 2010; setting Juli 2009)</a:t>
            </a:r>
            <a:endParaRPr lang="en-US" sz="1600" dirty="0"/>
          </a:p>
        </p:txBody>
      </p:sp>
      <p:sp>
        <p:nvSpPr>
          <p:cNvPr id="5" name="Shape 3"/>
          <p:cNvSpPr/>
          <p:nvPr/>
        </p:nvSpPr>
        <p:spPr>
          <a:xfrm>
            <a:off x="731520" y="4206240"/>
            <a:ext cx="5120640" cy="1920240"/>
          </a:xfrm>
          <a:prstGeom prst="roundRect">
            <a:avLst>
              <a:gd name="adj" fmla="val 3810"/>
            </a:avLst>
          </a:prstGeom>
          <a:solidFill>
            <a:srgbClr val="A3303E"/>
          </a:solidFill>
          <a:ln w="12700">
            <a:solidFill>
              <a:srgbClr val="A3303E"/>
            </a:solidFill>
            <a:prstDash val="solid"/>
          </a:ln>
        </p:spPr>
      </p:sp>
      <p:sp>
        <p:nvSpPr>
          <p:cNvPr id="6" name="Text 4"/>
          <p:cNvSpPr txBox="1"/>
          <p:nvPr/>
        </p:nvSpPr>
        <p:spPr>
          <a:xfrm>
            <a:off x="914400" y="4343400"/>
            <a:ext cx="4754880" cy="1645920"/>
          </a:xfrm>
          <a:prstGeom prst="rect">
            <a:avLst/>
          </a:prstGeom>
          <a:noFill/>
          <a:ln/>
        </p:spPr>
        <p:txBody>
          <a:bodyPr wrap="square" lIns="0" tIns="0" rIns="0" bIns="0" rtlCol="0" anchor="t"/>
          <a:lstStyle/>
          <a:p>
            <a:pPr indent="0" marL="0">
              <a:spcAft>
                <a:spcPts val="600"/>
              </a:spcAft>
              <a:buNone/>
            </a:pPr>
            <a:r>
              <a:rPr lang="en-US" sz="1100" b="1" dirty="0">
                <a:solidFill>
                  <a:srgbClr val="C9A227"/>
                </a:solidFill>
                <a:latin typeface="Calibri" pitchFamily="34" charset="0"/>
                <a:ea typeface="Calibri" pitchFamily="34" charset="-122"/>
                <a:cs typeface="Calibri" pitchFamily="34" charset="-120"/>
              </a:rPr>
              <a:t>KELOMPOK 4</a:t>
            </a:r>
            <a:endParaRPr lang="en-US" sz="1100" dirty="0"/>
          </a:p>
          <a:p>
            <a:pPr indent="0" marL="0">
              <a:spcAft>
                <a:spcPts val="600"/>
              </a:spcAft>
              <a:buNone/>
            </a:pPr>
            <a:r>
              <a:rPr lang="en-US" sz="1400" dirty="0">
                <a:solidFill>
                  <a:srgbClr val="FFFFFF"/>
                </a:solidFill>
                <a:latin typeface="Calibri" pitchFamily="34" charset="0"/>
                <a:ea typeface="Calibri" pitchFamily="34" charset="-122"/>
                <a:cs typeface="Calibri" pitchFamily="34" charset="-120"/>
              </a:rPr>
              <a:t>Fitra Aidila · Aulia Sisca Rahmadiyanti · Bagaskoro · Imam Prayudha · Tegar Awanto</a:t>
            </a:r>
            <a:endParaRPr lang="en-US" sz="1100" dirty="0"/>
          </a:p>
        </p:txBody>
      </p:sp>
      <p:sp>
        <p:nvSpPr>
          <p:cNvPr id="7" name="Shape 5"/>
          <p:cNvSpPr/>
          <p:nvPr/>
        </p:nvSpPr>
        <p:spPr>
          <a:xfrm>
            <a:off x="6217920" y="4206240"/>
            <a:ext cx="5212080" cy="1920240"/>
          </a:xfrm>
          <a:prstGeom prst="roundRect">
            <a:avLst>
              <a:gd name="adj" fmla="val 3810"/>
            </a:avLst>
          </a:prstGeom>
          <a:solidFill>
            <a:srgbClr val="A3303E"/>
          </a:solidFill>
          <a:ln w="12700">
            <a:solidFill>
              <a:srgbClr val="A3303E"/>
            </a:solidFill>
            <a:prstDash val="solid"/>
          </a:ln>
        </p:spPr>
      </p:sp>
      <p:sp>
        <p:nvSpPr>
          <p:cNvPr id="8" name="Text 6"/>
          <p:cNvSpPr txBox="1"/>
          <p:nvPr/>
        </p:nvSpPr>
        <p:spPr>
          <a:xfrm>
            <a:off x="6400800" y="4343400"/>
            <a:ext cx="4846320" cy="1645920"/>
          </a:xfrm>
          <a:prstGeom prst="rect">
            <a:avLst/>
          </a:prstGeom>
          <a:noFill/>
          <a:ln/>
        </p:spPr>
        <p:txBody>
          <a:bodyPr wrap="square" lIns="0" tIns="0" rIns="0" bIns="0" rtlCol="0" anchor="t"/>
          <a:lstStyle/>
          <a:p>
            <a:pPr indent="0" marL="0">
              <a:spcAft>
                <a:spcPts val="600"/>
              </a:spcAft>
              <a:buNone/>
            </a:pPr>
            <a:r>
              <a:rPr lang="en-US" sz="1100" b="1" dirty="0">
                <a:solidFill>
                  <a:srgbClr val="C9A227"/>
                </a:solidFill>
                <a:latin typeface="Calibri" pitchFamily="34" charset="0"/>
                <a:ea typeface="Calibri" pitchFamily="34" charset="-122"/>
                <a:cs typeface="Calibri" pitchFamily="34" charset="-120"/>
              </a:rPr>
              <a:t>DOSEN PENGAMPU</a:t>
            </a:r>
            <a:endParaRPr lang="en-US" sz="1100" dirty="0"/>
          </a:p>
          <a:p>
            <a:pPr indent="0" marL="0">
              <a:spcAft>
                <a:spcPts val="600"/>
              </a:spcAft>
              <a:buNone/>
            </a:pPr>
            <a:r>
              <a:rPr lang="en-US" sz="1400" dirty="0">
                <a:solidFill>
                  <a:srgbClr val="FFFFFF"/>
                </a:solidFill>
                <a:latin typeface="Calibri" pitchFamily="34" charset="0"/>
                <a:ea typeface="Calibri" pitchFamily="34" charset="-122"/>
                <a:cs typeface="Calibri" pitchFamily="34" charset="-120"/>
              </a:rPr>
              <a:t>Dr. Rangga Almahendra, S.T., M.M.</a:t>
            </a:r>
            <a:endParaRPr lang="en-US" sz="1100" dirty="0"/>
          </a:p>
          <a:p>
            <a:pPr indent="0" marL="0">
              <a:spcAft>
                <a:spcPts val="600"/>
              </a:spcAft>
              <a:buNone/>
            </a:pPr>
            <a:r>
              <a:rPr lang="en-US" sz="1200" dirty="0">
                <a:solidFill>
                  <a:srgbClr val="F3DCDF"/>
                </a:solidFill>
                <a:latin typeface="Calibri" pitchFamily="34" charset="0"/>
                <a:ea typeface="Calibri" pitchFamily="34" charset="-122"/>
                <a:cs typeface="Calibri" pitchFamily="34" charset="-120"/>
              </a:rPr>
              <a:t>MM UGM Jakarta · SEMBA · 2 Oktober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ALUR PRESENTASI</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Teori dulu, lalu kasus, lalu keputusan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Struktur analisis kasus mengikuti Appendix 3 silabus: Problem, Alternatives, Issues, Conclusion.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645920"/>
            <a:ext cx="2651760" cy="4206240"/>
          </a:xfrm>
          <a:prstGeom prst="roundRect">
            <a:avLst>
              <a:gd name="adj" fmla="val 2759"/>
            </a:avLst>
          </a:prstGeom>
          <a:solidFill>
            <a:srgbClr val="F7EEEF"/>
          </a:solidFill>
          <a:ln w="12700">
            <a:solidFill>
              <a:srgbClr val="F7EEEF"/>
            </a:solidFill>
            <a:prstDash val="solid"/>
          </a:ln>
        </p:spPr>
      </p:sp>
      <p:sp>
        <p:nvSpPr>
          <p:cNvPr id="7" name="Shape 5"/>
          <p:cNvSpPr/>
          <p:nvPr/>
        </p:nvSpPr>
        <p:spPr>
          <a:xfrm>
            <a:off x="731520" y="1828800"/>
            <a:ext cx="548640" cy="548640"/>
          </a:xfrm>
          <a:prstGeom prst="ellipse">
            <a:avLst/>
          </a:prstGeom>
          <a:solidFill>
            <a:srgbClr val="8C1D2B"/>
          </a:solidFill>
          <a:ln w="12700">
            <a:solidFill>
              <a:srgbClr val="8C1D2B"/>
            </a:solidFill>
            <a:prstDash val="solid"/>
          </a:ln>
        </p:spPr>
      </p:sp>
      <p:sp>
        <p:nvSpPr>
          <p:cNvPr id="8" name="Text 6"/>
          <p:cNvSpPr txBox="1"/>
          <p:nvPr/>
        </p:nvSpPr>
        <p:spPr>
          <a:xfrm>
            <a:off x="731520"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9" name="Text 7"/>
          <p:cNvSpPr txBox="1"/>
          <p:nvPr/>
        </p:nvSpPr>
        <p:spPr>
          <a:xfrm>
            <a:off x="731520" y="2560320"/>
            <a:ext cx="2286000" cy="822960"/>
          </a:xfrm>
          <a:prstGeom prst="rect">
            <a:avLst/>
          </a:prstGeom>
          <a:noFill/>
          <a:ln/>
        </p:spPr>
        <p:txBody>
          <a:bodyPr wrap="square" lIns="0" tIns="0" rIns="0" bIns="0" rtlCol="0" anchor="t"/>
          <a:lstStyle/>
          <a:p>
            <a:pPr indent="0" marL="0">
              <a:buNone/>
            </a:pPr>
            <a:r>
              <a:rPr lang="en-US" sz="1600" b="1" dirty="0">
                <a:solidFill>
                  <a:srgbClr val="2B2B2B"/>
                </a:solidFill>
                <a:latin typeface="Cambria" pitchFamily="34" charset="0"/>
                <a:ea typeface="Cambria" pitchFamily="34" charset="-122"/>
                <a:cs typeface="Cambria" pitchFamily="34" charset="-120"/>
              </a:rPr>
              <a:t>Framework Chapter 4</a:t>
            </a:r>
            <a:endParaRPr lang="en-US" sz="1600" dirty="0"/>
          </a:p>
        </p:txBody>
      </p:sp>
      <p:sp>
        <p:nvSpPr>
          <p:cNvPr id="10" name="Text 8"/>
          <p:cNvSpPr txBox="1"/>
          <p:nvPr/>
        </p:nvSpPr>
        <p:spPr>
          <a:xfrm>
            <a:off x="731520" y="3383280"/>
            <a:ext cx="2286000" cy="17373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Enam pertanyaan analisis internal dan alat untuk menjawabnya, dengan gambar asli dari buku.</a:t>
            </a:r>
            <a:endParaRPr lang="en-US" sz="1200" dirty="0"/>
          </a:p>
        </p:txBody>
      </p:sp>
      <p:sp>
        <p:nvSpPr>
          <p:cNvPr id="11" name="Text 9"/>
          <p:cNvSpPr txBox="1"/>
          <p:nvPr/>
        </p:nvSpPr>
        <p:spPr>
          <a:xfrm>
            <a:off x="731520" y="5303520"/>
            <a:ext cx="2286000" cy="365760"/>
          </a:xfrm>
          <a:prstGeom prst="rect">
            <a:avLst/>
          </a:prstGeom>
          <a:noFill/>
          <a:ln/>
        </p:spPr>
        <p:txBody>
          <a:bodyPr wrap="square" lIns="0" tIns="0" rIns="0" bIns="0" rtlCol="0" anchor="t"/>
          <a:lstStyle/>
          <a:p>
            <a:pPr indent="0" marL="0">
              <a:buNone/>
            </a:pPr>
            <a:r>
              <a:rPr lang="en-US" sz="1100" b="1" dirty="0">
                <a:solidFill>
                  <a:srgbClr val="8C1D2B"/>
                </a:solidFill>
                <a:latin typeface="Calibri" pitchFamily="34" charset="0"/>
                <a:ea typeface="Calibri" pitchFamily="34" charset="-122"/>
                <a:cs typeface="Calibri" pitchFamily="34" charset="-120"/>
              </a:rPr>
              <a:t>Slide 3–18</a:t>
            </a:r>
            <a:endParaRPr lang="en-US" sz="1100" dirty="0"/>
          </a:p>
        </p:txBody>
      </p:sp>
      <p:sp>
        <p:nvSpPr>
          <p:cNvPr id="12" name="Shape 10"/>
          <p:cNvSpPr/>
          <p:nvPr/>
        </p:nvSpPr>
        <p:spPr>
          <a:xfrm>
            <a:off x="3383280" y="1645920"/>
            <a:ext cx="2651760" cy="4206240"/>
          </a:xfrm>
          <a:prstGeom prst="roundRect">
            <a:avLst>
              <a:gd name="adj" fmla="val 2759"/>
            </a:avLst>
          </a:prstGeom>
          <a:solidFill>
            <a:srgbClr val="F7EEEF"/>
          </a:solidFill>
          <a:ln w="12700">
            <a:solidFill>
              <a:srgbClr val="F7EEEF"/>
            </a:solidFill>
            <a:prstDash val="solid"/>
          </a:ln>
        </p:spPr>
      </p:sp>
      <p:sp>
        <p:nvSpPr>
          <p:cNvPr id="13" name="Shape 11"/>
          <p:cNvSpPr/>
          <p:nvPr/>
        </p:nvSpPr>
        <p:spPr>
          <a:xfrm>
            <a:off x="3566160" y="1828800"/>
            <a:ext cx="548640" cy="548640"/>
          </a:xfrm>
          <a:prstGeom prst="ellipse">
            <a:avLst/>
          </a:prstGeom>
          <a:solidFill>
            <a:srgbClr val="8C1D2B"/>
          </a:solidFill>
          <a:ln w="12700">
            <a:solidFill>
              <a:srgbClr val="8C1D2B"/>
            </a:solidFill>
            <a:prstDash val="solid"/>
          </a:ln>
        </p:spPr>
      </p:sp>
      <p:sp>
        <p:nvSpPr>
          <p:cNvPr id="14" name="Text 12"/>
          <p:cNvSpPr txBox="1"/>
          <p:nvPr/>
        </p:nvSpPr>
        <p:spPr>
          <a:xfrm>
            <a:off x="3566160"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5" name="Text 13"/>
          <p:cNvSpPr txBox="1"/>
          <p:nvPr/>
        </p:nvSpPr>
        <p:spPr>
          <a:xfrm>
            <a:off x="3566160" y="2560320"/>
            <a:ext cx="2286000" cy="822960"/>
          </a:xfrm>
          <a:prstGeom prst="rect">
            <a:avLst/>
          </a:prstGeom>
          <a:noFill/>
          <a:ln/>
        </p:spPr>
        <p:txBody>
          <a:bodyPr wrap="square" lIns="0" tIns="0" rIns="0" bIns="0" rtlCol="0" anchor="t"/>
          <a:lstStyle/>
          <a:p>
            <a:pPr indent="0" marL="0">
              <a:buNone/>
            </a:pPr>
            <a:r>
              <a:rPr lang="en-US" sz="1600" b="1" dirty="0">
                <a:solidFill>
                  <a:srgbClr val="2B2B2B"/>
                </a:solidFill>
                <a:latin typeface="Cambria" pitchFamily="34" charset="0"/>
                <a:ea typeface="Cambria" pitchFamily="34" charset="-122"/>
                <a:cs typeface="Cambria" pitchFamily="34" charset="-120"/>
              </a:rPr>
              <a:t>Penerapan pada Manchester United</a:t>
            </a:r>
            <a:endParaRPr lang="en-US" sz="1600" dirty="0"/>
          </a:p>
        </p:txBody>
      </p:sp>
      <p:sp>
        <p:nvSpPr>
          <p:cNvPr id="16" name="Text 14"/>
          <p:cNvSpPr txBox="1"/>
          <p:nvPr/>
        </p:nvSpPr>
        <p:spPr>
          <a:xfrm>
            <a:off x="3566160" y="3383280"/>
            <a:ext cx="2286000" cy="17373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Kinerja, SWOT, resource dan capability, VRIN, rantai nilai, benchmarking, matriks kekuatan, priority list.</a:t>
            </a:r>
            <a:endParaRPr lang="en-US" sz="1200" dirty="0"/>
          </a:p>
        </p:txBody>
      </p:sp>
      <p:sp>
        <p:nvSpPr>
          <p:cNvPr id="17" name="Text 15"/>
          <p:cNvSpPr txBox="1"/>
          <p:nvPr/>
        </p:nvSpPr>
        <p:spPr>
          <a:xfrm>
            <a:off x="3566160" y="5303520"/>
            <a:ext cx="2286000" cy="365760"/>
          </a:xfrm>
          <a:prstGeom prst="rect">
            <a:avLst/>
          </a:prstGeom>
          <a:noFill/>
          <a:ln/>
        </p:spPr>
        <p:txBody>
          <a:bodyPr wrap="square" lIns="0" tIns="0" rIns="0" bIns="0" rtlCol="0" anchor="t"/>
          <a:lstStyle/>
          <a:p>
            <a:pPr indent="0" marL="0">
              <a:buNone/>
            </a:pPr>
            <a:r>
              <a:rPr lang="en-US" sz="1100" b="1" dirty="0">
                <a:solidFill>
                  <a:srgbClr val="8C1D2B"/>
                </a:solidFill>
                <a:latin typeface="Calibri" pitchFamily="34" charset="0"/>
                <a:ea typeface="Calibri" pitchFamily="34" charset="-122"/>
                <a:cs typeface="Calibri" pitchFamily="34" charset="-120"/>
              </a:rPr>
              <a:t>Slide 20–31</a:t>
            </a:r>
            <a:endParaRPr lang="en-US" sz="1100" dirty="0"/>
          </a:p>
        </p:txBody>
      </p:sp>
      <p:sp>
        <p:nvSpPr>
          <p:cNvPr id="18" name="Shape 16"/>
          <p:cNvSpPr/>
          <p:nvPr/>
        </p:nvSpPr>
        <p:spPr>
          <a:xfrm>
            <a:off x="6217920" y="1645920"/>
            <a:ext cx="2651760" cy="4206240"/>
          </a:xfrm>
          <a:prstGeom prst="roundRect">
            <a:avLst>
              <a:gd name="adj" fmla="val 2759"/>
            </a:avLst>
          </a:prstGeom>
          <a:solidFill>
            <a:srgbClr val="F7EEEF"/>
          </a:solidFill>
          <a:ln w="12700">
            <a:solidFill>
              <a:srgbClr val="F7EEEF"/>
            </a:solidFill>
            <a:prstDash val="solid"/>
          </a:ln>
        </p:spPr>
      </p:sp>
      <p:sp>
        <p:nvSpPr>
          <p:cNvPr id="19" name="Shape 17"/>
          <p:cNvSpPr/>
          <p:nvPr/>
        </p:nvSpPr>
        <p:spPr>
          <a:xfrm>
            <a:off x="6400800" y="1828800"/>
            <a:ext cx="548640" cy="548640"/>
          </a:xfrm>
          <a:prstGeom prst="ellipse">
            <a:avLst/>
          </a:prstGeom>
          <a:solidFill>
            <a:srgbClr val="8C1D2B"/>
          </a:solidFill>
          <a:ln w="12700">
            <a:solidFill>
              <a:srgbClr val="8C1D2B"/>
            </a:solidFill>
            <a:prstDash val="solid"/>
          </a:ln>
        </p:spPr>
      </p:sp>
      <p:sp>
        <p:nvSpPr>
          <p:cNvPr id="20" name="Text 18"/>
          <p:cNvSpPr txBox="1"/>
          <p:nvPr/>
        </p:nvSpPr>
        <p:spPr>
          <a:xfrm>
            <a:off x="6400800"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21" name="Text 19"/>
          <p:cNvSpPr txBox="1"/>
          <p:nvPr/>
        </p:nvSpPr>
        <p:spPr>
          <a:xfrm>
            <a:off x="6400800" y="2560320"/>
            <a:ext cx="2286000" cy="822960"/>
          </a:xfrm>
          <a:prstGeom prst="rect">
            <a:avLst/>
          </a:prstGeom>
          <a:noFill/>
          <a:ln/>
        </p:spPr>
        <p:txBody>
          <a:bodyPr wrap="square" lIns="0" tIns="0" rIns="0" bIns="0" rtlCol="0" anchor="t"/>
          <a:lstStyle/>
          <a:p>
            <a:pPr indent="0" marL="0">
              <a:buNone/>
            </a:pPr>
            <a:r>
              <a:rPr lang="en-US" sz="1600" b="1" dirty="0">
                <a:solidFill>
                  <a:srgbClr val="2B2B2B"/>
                </a:solidFill>
                <a:latin typeface="Cambria" pitchFamily="34" charset="0"/>
                <a:ea typeface="Cambria" pitchFamily="34" charset="-122"/>
                <a:cs typeface="Cambria" pitchFamily="34" charset="-120"/>
              </a:rPr>
              <a:t>Keputusan: pola analisis kasus</a:t>
            </a:r>
            <a:endParaRPr lang="en-US" sz="1600" dirty="0"/>
          </a:p>
        </p:txBody>
      </p:sp>
      <p:sp>
        <p:nvSpPr>
          <p:cNvPr id="22" name="Text 20"/>
          <p:cNvSpPr txBox="1"/>
          <p:nvPr/>
        </p:nvSpPr>
        <p:spPr>
          <a:xfrm>
            <a:off x="6400800" y="3383280"/>
            <a:ext cx="2286000" cy="17373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Masalah, tiga alternatif, isu sebagai pertanyaan, argumen tandingan, simpulan deduktif, rencana implementasi.</a:t>
            </a:r>
            <a:endParaRPr lang="en-US" sz="1200" dirty="0"/>
          </a:p>
        </p:txBody>
      </p:sp>
      <p:sp>
        <p:nvSpPr>
          <p:cNvPr id="23" name="Text 21"/>
          <p:cNvSpPr txBox="1"/>
          <p:nvPr/>
        </p:nvSpPr>
        <p:spPr>
          <a:xfrm>
            <a:off x="6400800" y="5303520"/>
            <a:ext cx="2286000" cy="365760"/>
          </a:xfrm>
          <a:prstGeom prst="rect">
            <a:avLst/>
          </a:prstGeom>
          <a:noFill/>
          <a:ln/>
        </p:spPr>
        <p:txBody>
          <a:bodyPr wrap="square" lIns="0" tIns="0" rIns="0" bIns="0" rtlCol="0" anchor="t"/>
          <a:lstStyle/>
          <a:p>
            <a:pPr indent="0" marL="0">
              <a:buNone/>
            </a:pPr>
            <a:r>
              <a:rPr lang="en-US" sz="1100" b="1" dirty="0">
                <a:solidFill>
                  <a:srgbClr val="8C1D2B"/>
                </a:solidFill>
                <a:latin typeface="Calibri" pitchFamily="34" charset="0"/>
                <a:ea typeface="Calibri" pitchFamily="34" charset="-122"/>
                <a:cs typeface="Calibri" pitchFamily="34" charset="-120"/>
              </a:rPr>
              <a:t>Slide 32–37</a:t>
            </a:r>
            <a:endParaRPr lang="en-US" sz="1100" dirty="0"/>
          </a:p>
        </p:txBody>
      </p:sp>
      <p:sp>
        <p:nvSpPr>
          <p:cNvPr id="24" name="Shape 22"/>
          <p:cNvSpPr/>
          <p:nvPr/>
        </p:nvSpPr>
        <p:spPr>
          <a:xfrm>
            <a:off x="9052560" y="1645920"/>
            <a:ext cx="2651760" cy="4206240"/>
          </a:xfrm>
          <a:prstGeom prst="roundRect">
            <a:avLst>
              <a:gd name="adj" fmla="val 2759"/>
            </a:avLst>
          </a:prstGeom>
          <a:solidFill>
            <a:srgbClr val="F7EEEF"/>
          </a:solidFill>
          <a:ln w="12700">
            <a:solidFill>
              <a:srgbClr val="F7EEEF"/>
            </a:solidFill>
            <a:prstDash val="solid"/>
          </a:ln>
        </p:spPr>
      </p:sp>
      <p:sp>
        <p:nvSpPr>
          <p:cNvPr id="25" name="Shape 23"/>
          <p:cNvSpPr/>
          <p:nvPr/>
        </p:nvSpPr>
        <p:spPr>
          <a:xfrm>
            <a:off x="9235440" y="1828800"/>
            <a:ext cx="548640" cy="548640"/>
          </a:xfrm>
          <a:prstGeom prst="ellipse">
            <a:avLst/>
          </a:prstGeom>
          <a:solidFill>
            <a:srgbClr val="8C1D2B"/>
          </a:solidFill>
          <a:ln w="12700">
            <a:solidFill>
              <a:srgbClr val="8C1D2B"/>
            </a:solidFill>
            <a:prstDash val="solid"/>
          </a:ln>
        </p:spPr>
      </p:sp>
      <p:sp>
        <p:nvSpPr>
          <p:cNvPr id="26" name="Text 24"/>
          <p:cNvSpPr txBox="1"/>
          <p:nvPr/>
        </p:nvSpPr>
        <p:spPr>
          <a:xfrm>
            <a:off x="9235440" y="182880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7" name="Text 25"/>
          <p:cNvSpPr txBox="1"/>
          <p:nvPr/>
        </p:nvSpPr>
        <p:spPr>
          <a:xfrm>
            <a:off x="9235440" y="2560320"/>
            <a:ext cx="2286000" cy="822960"/>
          </a:xfrm>
          <a:prstGeom prst="rect">
            <a:avLst/>
          </a:prstGeom>
          <a:noFill/>
          <a:ln/>
        </p:spPr>
        <p:txBody>
          <a:bodyPr wrap="square" lIns="0" tIns="0" rIns="0" bIns="0" rtlCol="0" anchor="t"/>
          <a:lstStyle/>
          <a:p>
            <a:pPr indent="0" marL="0">
              <a:buNone/>
            </a:pPr>
            <a:r>
              <a:rPr lang="en-US" sz="1600" b="1" dirty="0">
                <a:solidFill>
                  <a:srgbClr val="2B2B2B"/>
                </a:solidFill>
                <a:latin typeface="Cambria" pitchFamily="34" charset="0"/>
                <a:ea typeface="Cambria" pitchFamily="34" charset="-122"/>
                <a:cs typeface="Cambria" pitchFamily="34" charset="-120"/>
              </a:rPr>
              <a:t>Sumber dan diskusi</a:t>
            </a:r>
            <a:endParaRPr lang="en-US" sz="1600" dirty="0"/>
          </a:p>
        </p:txBody>
      </p:sp>
      <p:sp>
        <p:nvSpPr>
          <p:cNvPr id="28" name="Text 26"/>
          <p:cNvSpPr txBox="1"/>
          <p:nvPr/>
        </p:nvSpPr>
        <p:spPr>
          <a:xfrm>
            <a:off x="9235440" y="3383280"/>
            <a:ext cx="2286000" cy="173736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Peta sumber data per tabel kasus, catatan verifikasi, tanya jawab.</a:t>
            </a:r>
            <a:endParaRPr lang="en-US" sz="1200" dirty="0"/>
          </a:p>
        </p:txBody>
      </p:sp>
      <p:sp>
        <p:nvSpPr>
          <p:cNvPr id="29" name="Text 27"/>
          <p:cNvSpPr txBox="1"/>
          <p:nvPr/>
        </p:nvSpPr>
        <p:spPr>
          <a:xfrm>
            <a:off x="9235440" y="5303520"/>
            <a:ext cx="2286000" cy="365760"/>
          </a:xfrm>
          <a:prstGeom prst="rect">
            <a:avLst/>
          </a:prstGeom>
          <a:noFill/>
          <a:ln/>
        </p:spPr>
        <p:txBody>
          <a:bodyPr wrap="square" lIns="0" tIns="0" rIns="0" bIns="0" rtlCol="0" anchor="t"/>
          <a:lstStyle/>
          <a:p>
            <a:pPr indent="0" marL="0">
              <a:buNone/>
            </a:pPr>
            <a:r>
              <a:rPr lang="en-US" sz="1100" b="1" dirty="0">
                <a:solidFill>
                  <a:srgbClr val="8C1D2B"/>
                </a:solidFill>
                <a:latin typeface="Calibri" pitchFamily="34" charset="0"/>
                <a:ea typeface="Calibri" pitchFamily="34" charset="-122"/>
                <a:cs typeface="Calibri" pitchFamily="34" charset="-120"/>
              </a:rPr>
              <a:t>Slide 38–39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BAGIAN A · FRAMEWORK CHAPTER 4</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Enam pertanyaan yang berurutan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88–89.</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325880"/>
            <a:ext cx="10972800" cy="640080"/>
          </a:xfrm>
          <a:prstGeom prst="rect">
            <a:avLst/>
          </a:prstGeom>
          <a:noFill/>
          <a:ln/>
        </p:spPr>
        <p:txBody>
          <a:bodyPr wrap="square" lIns="0" tIns="0" rIns="0" bIns="0" rtlCol="0" anchor="t"/>
          <a:lstStyle/>
          <a:p>
            <a:pPr indent="0" marL="0">
              <a:buNone/>
            </a:pPr>
            <a:r>
              <a:rPr lang="en-US" sz="1300" dirty="0">
                <a:solidFill>
                  <a:srgbClr val="6B6B6B"/>
                </a:solidFill>
                <a:latin typeface="Calibri" pitchFamily="34" charset="0"/>
                <a:ea typeface="Calibri" pitchFamily="34" charset="-122"/>
                <a:cs typeface="Calibri" pitchFamily="34" charset="-120"/>
              </a:rPr>
              <a:t>Jawaban setiap pertanyaan menjadi bahan bagi pertanyaan berikutnya: Q1 mengukur hasil, Q2 mencari sebab secara kasar, Q3 dan Q4 menggali sebab sampai dalam, Q5 membandingkan dengan pesaing, Q6 menyusun agenda.</a:t>
            </a:r>
            <a:endParaRPr lang="en-US" sz="1300" dirty="0"/>
          </a:p>
        </p:txBody>
      </p:sp>
      <p:sp>
        <p:nvSpPr>
          <p:cNvPr id="7" name="Shape 5"/>
          <p:cNvSpPr/>
          <p:nvPr/>
        </p:nvSpPr>
        <p:spPr>
          <a:xfrm>
            <a:off x="548640" y="2103120"/>
            <a:ext cx="3566160" cy="1920240"/>
          </a:xfrm>
          <a:prstGeom prst="roundRect">
            <a:avLst>
              <a:gd name="adj" fmla="val 3810"/>
            </a:avLst>
          </a:prstGeom>
          <a:solidFill>
            <a:srgbClr val="F7EEEF"/>
          </a:solidFill>
          <a:ln w="12700">
            <a:solidFill>
              <a:srgbClr val="F7EEEF"/>
            </a:solidFill>
            <a:prstDash val="solid"/>
          </a:ln>
        </p:spPr>
      </p:sp>
      <p:sp>
        <p:nvSpPr>
          <p:cNvPr id="8" name="Shape 6"/>
          <p:cNvSpPr/>
          <p:nvPr/>
        </p:nvSpPr>
        <p:spPr>
          <a:xfrm>
            <a:off x="731520" y="2286000"/>
            <a:ext cx="457200" cy="457200"/>
          </a:xfrm>
          <a:prstGeom prst="ellipse">
            <a:avLst/>
          </a:prstGeom>
          <a:solidFill>
            <a:srgbClr val="8C1D2B"/>
          </a:solidFill>
          <a:ln w="12700">
            <a:solidFill>
              <a:srgbClr val="8C1D2B"/>
            </a:solidFill>
            <a:prstDash val="solid"/>
          </a:ln>
        </p:spPr>
      </p:sp>
      <p:sp>
        <p:nvSpPr>
          <p:cNvPr id="9" name="Text 7"/>
          <p:cNvSpPr txBox="1"/>
          <p:nvPr/>
        </p:nvSpPr>
        <p:spPr>
          <a:xfrm>
            <a:off x="731520" y="2286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8"/>
          <p:cNvSpPr txBox="1"/>
          <p:nvPr/>
        </p:nvSpPr>
        <p:spPr>
          <a:xfrm>
            <a:off x="1325880" y="224028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Seberapa baik strategi yang sekarang bekerja?</a:t>
            </a:r>
            <a:endParaRPr lang="en-US" sz="1300" dirty="0"/>
          </a:p>
        </p:txBody>
      </p:sp>
      <p:sp>
        <p:nvSpPr>
          <p:cNvPr id="11" name="Text 9"/>
          <p:cNvSpPr txBox="1"/>
          <p:nvPr/>
        </p:nvSpPr>
        <p:spPr>
          <a:xfrm>
            <a:off x="1325880" y="333756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Indikator kinerja + Table 4.1</a:t>
            </a:r>
            <a:endParaRPr lang="en-US" sz="1150" dirty="0"/>
          </a:p>
        </p:txBody>
      </p:sp>
      <p:sp>
        <p:nvSpPr>
          <p:cNvPr id="12" name="Shape 10"/>
          <p:cNvSpPr/>
          <p:nvPr/>
        </p:nvSpPr>
        <p:spPr>
          <a:xfrm>
            <a:off x="4297680" y="2103120"/>
            <a:ext cx="3566160" cy="1920240"/>
          </a:xfrm>
          <a:prstGeom prst="roundRect">
            <a:avLst>
              <a:gd name="adj" fmla="val 3810"/>
            </a:avLst>
          </a:prstGeom>
          <a:solidFill>
            <a:srgbClr val="F7EEEF"/>
          </a:solidFill>
          <a:ln w="12700">
            <a:solidFill>
              <a:srgbClr val="F7EEEF"/>
            </a:solidFill>
            <a:prstDash val="solid"/>
          </a:ln>
        </p:spPr>
      </p:sp>
      <p:sp>
        <p:nvSpPr>
          <p:cNvPr id="13" name="Shape 11"/>
          <p:cNvSpPr/>
          <p:nvPr/>
        </p:nvSpPr>
        <p:spPr>
          <a:xfrm>
            <a:off x="4480560" y="2286000"/>
            <a:ext cx="457200" cy="457200"/>
          </a:xfrm>
          <a:prstGeom prst="ellipse">
            <a:avLst/>
          </a:prstGeom>
          <a:solidFill>
            <a:srgbClr val="8C1D2B"/>
          </a:solidFill>
          <a:ln w="12700">
            <a:solidFill>
              <a:srgbClr val="8C1D2B"/>
            </a:solidFill>
            <a:prstDash val="solid"/>
          </a:ln>
        </p:spPr>
      </p:sp>
      <p:sp>
        <p:nvSpPr>
          <p:cNvPr id="14" name="Text 12"/>
          <p:cNvSpPr txBox="1"/>
          <p:nvPr/>
        </p:nvSpPr>
        <p:spPr>
          <a:xfrm>
            <a:off x="4480560" y="2286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5074920" y="224028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Apa kekuatan dan kelemahan kita dihadapkan pada peluang dan ancaman?</a:t>
            </a:r>
            <a:endParaRPr lang="en-US" sz="1300" dirty="0"/>
          </a:p>
        </p:txBody>
      </p:sp>
      <p:sp>
        <p:nvSpPr>
          <p:cNvPr id="16" name="Text 14"/>
          <p:cNvSpPr txBox="1"/>
          <p:nvPr/>
        </p:nvSpPr>
        <p:spPr>
          <a:xfrm>
            <a:off x="5074920" y="333756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SWOT: Table 4.2, Figure 4.2</a:t>
            </a:r>
            <a:endParaRPr lang="en-US" sz="1150" dirty="0"/>
          </a:p>
        </p:txBody>
      </p:sp>
      <p:sp>
        <p:nvSpPr>
          <p:cNvPr id="17" name="Shape 15"/>
          <p:cNvSpPr/>
          <p:nvPr/>
        </p:nvSpPr>
        <p:spPr>
          <a:xfrm>
            <a:off x="8046720" y="2103120"/>
            <a:ext cx="3566160" cy="1920240"/>
          </a:xfrm>
          <a:prstGeom prst="roundRect">
            <a:avLst>
              <a:gd name="adj" fmla="val 3810"/>
            </a:avLst>
          </a:prstGeom>
          <a:solidFill>
            <a:srgbClr val="F7EEEF"/>
          </a:solidFill>
          <a:ln w="12700">
            <a:solidFill>
              <a:srgbClr val="F7EEEF"/>
            </a:solidFill>
            <a:prstDash val="solid"/>
          </a:ln>
        </p:spPr>
      </p:sp>
      <p:sp>
        <p:nvSpPr>
          <p:cNvPr id="18" name="Shape 16"/>
          <p:cNvSpPr/>
          <p:nvPr/>
        </p:nvSpPr>
        <p:spPr>
          <a:xfrm>
            <a:off x="8229600" y="2286000"/>
            <a:ext cx="457200" cy="457200"/>
          </a:xfrm>
          <a:prstGeom prst="ellipse">
            <a:avLst/>
          </a:prstGeom>
          <a:solidFill>
            <a:srgbClr val="8C1D2B"/>
          </a:solidFill>
          <a:ln w="12700">
            <a:solidFill>
              <a:srgbClr val="8C1D2B"/>
            </a:solidFill>
            <a:prstDash val="solid"/>
          </a:ln>
        </p:spPr>
      </p:sp>
      <p:sp>
        <p:nvSpPr>
          <p:cNvPr id="19" name="Text 17"/>
          <p:cNvSpPr txBox="1"/>
          <p:nvPr/>
        </p:nvSpPr>
        <p:spPr>
          <a:xfrm>
            <a:off x="8229600" y="2286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0" name="Text 18"/>
          <p:cNvSpPr txBox="1"/>
          <p:nvPr/>
        </p:nvSpPr>
        <p:spPr>
          <a:xfrm>
            <a:off x="8823960" y="224028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Resource dan capability apa yang paling penting, dan apakah tahan lama?</a:t>
            </a:r>
            <a:endParaRPr lang="en-US" sz="1300" dirty="0"/>
          </a:p>
        </p:txBody>
      </p:sp>
      <p:sp>
        <p:nvSpPr>
          <p:cNvPr id="21" name="Text 19"/>
          <p:cNvSpPr txBox="1"/>
          <p:nvPr/>
        </p:nvSpPr>
        <p:spPr>
          <a:xfrm>
            <a:off x="8823960" y="333756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Table 4.3 + uji VRIN + dynamic capability</a:t>
            </a:r>
            <a:endParaRPr lang="en-US" sz="1150" dirty="0"/>
          </a:p>
        </p:txBody>
      </p:sp>
      <p:sp>
        <p:nvSpPr>
          <p:cNvPr id="22" name="Shape 20"/>
          <p:cNvSpPr/>
          <p:nvPr/>
        </p:nvSpPr>
        <p:spPr>
          <a:xfrm>
            <a:off x="548640" y="4206240"/>
            <a:ext cx="3566160" cy="1920240"/>
          </a:xfrm>
          <a:prstGeom prst="roundRect">
            <a:avLst>
              <a:gd name="adj" fmla="val 3810"/>
            </a:avLst>
          </a:prstGeom>
          <a:solidFill>
            <a:srgbClr val="F7EEEF"/>
          </a:solidFill>
          <a:ln w="12700">
            <a:solidFill>
              <a:srgbClr val="F7EEEF"/>
            </a:solidFill>
            <a:prstDash val="solid"/>
          </a:ln>
        </p:spPr>
      </p:sp>
      <p:sp>
        <p:nvSpPr>
          <p:cNvPr id="23" name="Shape 21"/>
          <p:cNvSpPr/>
          <p:nvPr/>
        </p:nvSpPr>
        <p:spPr>
          <a:xfrm>
            <a:off x="731520" y="4389120"/>
            <a:ext cx="457200" cy="457200"/>
          </a:xfrm>
          <a:prstGeom prst="ellipse">
            <a:avLst/>
          </a:prstGeom>
          <a:solidFill>
            <a:srgbClr val="8C1D2B"/>
          </a:solidFill>
          <a:ln w="12700">
            <a:solidFill>
              <a:srgbClr val="8C1D2B"/>
            </a:solidFill>
            <a:prstDash val="solid"/>
          </a:ln>
        </p:spPr>
      </p:sp>
      <p:sp>
        <p:nvSpPr>
          <p:cNvPr id="24" name="Text 22"/>
          <p:cNvSpPr txBox="1"/>
          <p:nvPr/>
        </p:nvSpPr>
        <p:spPr>
          <a:xfrm>
            <a:off x="731520" y="4389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5" name="Text 23"/>
          <p:cNvSpPr txBox="1"/>
          <p:nvPr/>
        </p:nvSpPr>
        <p:spPr>
          <a:xfrm>
            <a:off x="1325880" y="434340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Bagaimana aktivitas rantai nilai memengaruhi biaya dan nilai pelanggan?</a:t>
            </a:r>
            <a:endParaRPr lang="en-US" sz="1300" dirty="0"/>
          </a:p>
        </p:txBody>
      </p:sp>
      <p:sp>
        <p:nvSpPr>
          <p:cNvPr id="26" name="Text 24"/>
          <p:cNvSpPr txBox="1"/>
          <p:nvPr/>
        </p:nvSpPr>
        <p:spPr>
          <a:xfrm>
            <a:off x="1325880" y="544068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Figure 4.3, 4.4 + benchmarking</a:t>
            </a:r>
            <a:endParaRPr lang="en-US" sz="1150" dirty="0"/>
          </a:p>
        </p:txBody>
      </p:sp>
      <p:sp>
        <p:nvSpPr>
          <p:cNvPr id="27" name="Shape 25"/>
          <p:cNvSpPr/>
          <p:nvPr/>
        </p:nvSpPr>
        <p:spPr>
          <a:xfrm>
            <a:off x="4297680" y="4206240"/>
            <a:ext cx="3566160" cy="1920240"/>
          </a:xfrm>
          <a:prstGeom prst="roundRect">
            <a:avLst>
              <a:gd name="adj" fmla="val 3810"/>
            </a:avLst>
          </a:prstGeom>
          <a:solidFill>
            <a:srgbClr val="F7EEEF"/>
          </a:solidFill>
          <a:ln w="12700">
            <a:solidFill>
              <a:srgbClr val="F7EEEF"/>
            </a:solidFill>
            <a:prstDash val="solid"/>
          </a:ln>
        </p:spPr>
      </p:sp>
      <p:sp>
        <p:nvSpPr>
          <p:cNvPr id="28" name="Shape 26"/>
          <p:cNvSpPr/>
          <p:nvPr/>
        </p:nvSpPr>
        <p:spPr>
          <a:xfrm>
            <a:off x="4480560" y="4389120"/>
            <a:ext cx="457200" cy="457200"/>
          </a:xfrm>
          <a:prstGeom prst="ellipse">
            <a:avLst/>
          </a:prstGeom>
          <a:solidFill>
            <a:srgbClr val="8C1D2B"/>
          </a:solidFill>
          <a:ln w="12700">
            <a:solidFill>
              <a:srgbClr val="8C1D2B"/>
            </a:solidFill>
            <a:prstDash val="solid"/>
          </a:ln>
        </p:spPr>
      </p:sp>
      <p:sp>
        <p:nvSpPr>
          <p:cNvPr id="29" name="Text 27"/>
          <p:cNvSpPr txBox="1"/>
          <p:nvPr/>
        </p:nvSpPr>
        <p:spPr>
          <a:xfrm>
            <a:off x="4480560" y="4389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0" name="Text 28"/>
          <p:cNvSpPr txBox="1"/>
          <p:nvPr/>
        </p:nvSpPr>
        <p:spPr>
          <a:xfrm>
            <a:off x="5074920" y="434340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Kita lebih kuat atau lebih lemah dari pesaing utama?</a:t>
            </a:r>
            <a:endParaRPr lang="en-US" sz="1300" dirty="0"/>
          </a:p>
        </p:txBody>
      </p:sp>
      <p:sp>
        <p:nvSpPr>
          <p:cNvPr id="31" name="Text 29"/>
          <p:cNvSpPr txBox="1"/>
          <p:nvPr/>
        </p:nvSpPr>
        <p:spPr>
          <a:xfrm>
            <a:off x="5074920" y="544068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Matriks kekuatan kompetitif, Table 4.4</a:t>
            </a:r>
            <a:endParaRPr lang="en-US" sz="1150" dirty="0"/>
          </a:p>
        </p:txBody>
      </p:sp>
      <p:sp>
        <p:nvSpPr>
          <p:cNvPr id="32" name="Shape 30"/>
          <p:cNvSpPr/>
          <p:nvPr/>
        </p:nvSpPr>
        <p:spPr>
          <a:xfrm>
            <a:off x="8046720" y="4206240"/>
            <a:ext cx="3566160" cy="1920240"/>
          </a:xfrm>
          <a:prstGeom prst="roundRect">
            <a:avLst>
              <a:gd name="adj" fmla="val 3810"/>
            </a:avLst>
          </a:prstGeom>
          <a:solidFill>
            <a:srgbClr val="F7EEEF"/>
          </a:solidFill>
          <a:ln w="12700">
            <a:solidFill>
              <a:srgbClr val="F7EEEF"/>
            </a:solidFill>
            <a:prstDash val="solid"/>
          </a:ln>
        </p:spPr>
      </p:sp>
      <p:sp>
        <p:nvSpPr>
          <p:cNvPr id="33" name="Shape 31"/>
          <p:cNvSpPr/>
          <p:nvPr/>
        </p:nvSpPr>
        <p:spPr>
          <a:xfrm>
            <a:off x="8229600" y="4389120"/>
            <a:ext cx="457200" cy="457200"/>
          </a:xfrm>
          <a:prstGeom prst="ellipse">
            <a:avLst/>
          </a:prstGeom>
          <a:solidFill>
            <a:srgbClr val="8C1D2B"/>
          </a:solidFill>
          <a:ln w="12700">
            <a:solidFill>
              <a:srgbClr val="8C1D2B"/>
            </a:solidFill>
            <a:prstDash val="solid"/>
          </a:ln>
        </p:spPr>
      </p:sp>
      <p:sp>
        <p:nvSpPr>
          <p:cNvPr id="34" name="Text 32"/>
          <p:cNvSpPr txBox="1"/>
          <p:nvPr/>
        </p:nvSpPr>
        <p:spPr>
          <a:xfrm>
            <a:off x="8229600" y="4389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5" name="Text 33"/>
          <p:cNvSpPr txBox="1"/>
          <p:nvPr/>
        </p:nvSpPr>
        <p:spPr>
          <a:xfrm>
            <a:off x="8823960" y="4343400"/>
            <a:ext cx="2651760" cy="100584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Isu strategis apa yang harus ditangani lebih dulu?</a:t>
            </a:r>
            <a:endParaRPr lang="en-US" sz="1300" dirty="0"/>
          </a:p>
        </p:txBody>
      </p:sp>
      <p:sp>
        <p:nvSpPr>
          <p:cNvPr id="36" name="Text 34"/>
          <p:cNvSpPr txBox="1"/>
          <p:nvPr/>
        </p:nvSpPr>
        <p:spPr>
          <a:xfrm>
            <a:off x="8823960" y="5440680"/>
            <a:ext cx="2651760" cy="548640"/>
          </a:xfrm>
          <a:prstGeom prst="rect">
            <a:avLst/>
          </a:prstGeom>
          <a:noFill/>
          <a:ln/>
        </p:spPr>
        <p:txBody>
          <a:bodyPr wrap="square" lIns="0" tIns="0" rIns="0" bIns="0" rtlCol="0" anchor="t"/>
          <a:lstStyle/>
          <a:p>
            <a:pPr indent="0" marL="0">
              <a:buNone/>
            </a:pPr>
            <a:r>
              <a:rPr lang="en-US" sz="1150" dirty="0">
                <a:solidFill>
                  <a:srgbClr val="8C1D2B"/>
                </a:solidFill>
                <a:latin typeface="Calibri" pitchFamily="34" charset="0"/>
                <a:ea typeface="Calibri" pitchFamily="34" charset="-122"/>
                <a:cs typeface="Calibri" pitchFamily="34" charset="-120"/>
              </a:rPr>
              <a:t>Priority list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1</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Kenali dulu strategi yang sedang dijalankan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Figure 4.1 hlm. 90; indikator kinerja hlm. 91.</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pic>
        <p:nvPicPr>
          <p:cNvPr id="6" name="Image 0" descr="fig4_1.png">    </p:cNvPr>
          <p:cNvPicPr>
            <a:picLocks noChangeAspect="1"/>
          </p:cNvPicPr>
          <p:nvPr/>
        </p:nvPicPr>
        <p:blipFill>
          <a:blip r:embed="rId1"/>
          <a:stretch>
            <a:fillRect/>
          </a:stretch>
        </p:blipFill>
        <p:spPr>
          <a:xfrm>
            <a:off x="548640" y="1371600"/>
            <a:ext cx="6035040" cy="4442164"/>
          </a:xfrm>
          <a:prstGeom prst="rect">
            <a:avLst/>
          </a:prstGeom>
        </p:spPr>
      </p:pic>
      <p:sp>
        <p:nvSpPr>
          <p:cNvPr id="7" name="Shape 4"/>
          <p:cNvSpPr/>
          <p:nvPr/>
        </p:nvSpPr>
        <p:spPr>
          <a:xfrm>
            <a:off x="6858000" y="1371600"/>
            <a:ext cx="4754880" cy="1737360"/>
          </a:xfrm>
          <a:prstGeom prst="roundRect">
            <a:avLst>
              <a:gd name="adj" fmla="val 4211"/>
            </a:avLst>
          </a:prstGeom>
          <a:solidFill>
            <a:srgbClr val="F7EEEF"/>
          </a:solidFill>
          <a:ln w="12700">
            <a:solidFill>
              <a:srgbClr val="F7EEEF"/>
            </a:solidFill>
            <a:prstDash val="solid"/>
          </a:ln>
        </p:spPr>
      </p:sp>
      <p:sp>
        <p:nvSpPr>
          <p:cNvPr id="8" name="Text 5"/>
          <p:cNvSpPr txBox="1"/>
          <p:nvPr/>
        </p:nvSpPr>
        <p:spPr>
          <a:xfrm>
            <a:off x="6995160" y="1463040"/>
            <a:ext cx="4480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Cara memakai Figure 4.1</a:t>
            </a:r>
            <a:endParaRPr lang="en-US" sz="1300" dirty="0"/>
          </a:p>
        </p:txBody>
      </p:sp>
      <p:sp>
        <p:nvSpPr>
          <p:cNvPr id="9" name="Text 6"/>
          <p:cNvSpPr txBox="1"/>
          <p:nvPr/>
        </p:nvSpPr>
        <p:spPr>
          <a:xfrm>
            <a:off x="6995160" y="1783080"/>
            <a:ext cx="4480560" cy="12344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Isi setiap kotak dengan tindakan nyata perusahaan, lalu periksa apakah tindakan itu saling mendukung. Strategi bisnis di tengah ditopang tujuh strategi fungsional di sekelilingnya.</a:t>
            </a:r>
            <a:endParaRPr lang="en-US" sz="1150" dirty="0"/>
          </a:p>
        </p:txBody>
      </p:sp>
      <p:sp>
        <p:nvSpPr>
          <p:cNvPr id="10" name="Shape 7"/>
          <p:cNvSpPr/>
          <p:nvPr/>
        </p:nvSpPr>
        <p:spPr>
          <a:xfrm>
            <a:off x="6858000" y="3246120"/>
            <a:ext cx="4754880" cy="2926080"/>
          </a:xfrm>
          <a:prstGeom prst="roundRect">
            <a:avLst>
              <a:gd name="adj" fmla="val 2500"/>
            </a:avLst>
          </a:prstGeom>
          <a:solidFill>
            <a:srgbClr val="F7EEEF"/>
          </a:solidFill>
          <a:ln w="12700">
            <a:solidFill>
              <a:srgbClr val="F7EEEF"/>
            </a:solidFill>
            <a:prstDash val="solid"/>
          </a:ln>
        </p:spPr>
      </p:sp>
      <p:sp>
        <p:nvSpPr>
          <p:cNvPr id="11" name="Text 8"/>
          <p:cNvSpPr txBox="1"/>
          <p:nvPr/>
        </p:nvSpPr>
        <p:spPr>
          <a:xfrm>
            <a:off x="6995160" y="3337560"/>
            <a:ext cx="4480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Kinerja lalu diukur dengan</a:t>
            </a:r>
            <a:endParaRPr lang="en-US" sz="1300" dirty="0"/>
          </a:p>
        </p:txBody>
      </p:sp>
      <p:sp>
        <p:nvSpPr>
          <p:cNvPr id="12" name="Text 9"/>
          <p:cNvSpPr txBox="1"/>
          <p:nvPr/>
        </p:nvSpPr>
        <p:spPr>
          <a:xfrm>
            <a:off x="6995160" y="3657600"/>
            <a:ext cx="4480560" cy="242316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Tren penjualan dan laba</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Tren harga saham</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Kekuatan keuangan keseluruhan</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Tingkat retensi pelanggan dan laju pelanggan baru</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Perbaikan proses internal (cacat, waktu kirim, produktivitas)</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Buku: kinerja keuangan yang lesu dan posisi pasar kelas dua hampir selalu menandakan strategi lemah, eksekusi lemah, atau keduanya.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1 · TABLE 4.1</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Rasio keuangan: alat ukurnya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Table 4.1 hlm. 91–93. Lanjutan tabel (likuiditas, leverage, aktivitas, ukuran lain) ada di lampiran.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pic>
        <p:nvPicPr>
          <p:cNvPr id="6" name="Image 0" descr="tab4_1a.png">    </p:cNvPr>
          <p:cNvPicPr>
            <a:picLocks noChangeAspect="1"/>
          </p:cNvPicPr>
          <p:nvPr/>
        </p:nvPicPr>
        <p:blipFill>
          <a:blip r:embed="rId1"/>
          <a:stretch>
            <a:fillRect/>
          </a:stretch>
        </p:blipFill>
        <p:spPr>
          <a:xfrm>
            <a:off x="631319" y="1371600"/>
            <a:ext cx="5869682" cy="4846320"/>
          </a:xfrm>
          <a:prstGeom prst="rect">
            <a:avLst/>
          </a:prstGeom>
        </p:spPr>
      </p:pic>
      <p:sp>
        <p:nvSpPr>
          <p:cNvPr id="7" name="Shape 4"/>
          <p:cNvSpPr/>
          <p:nvPr/>
        </p:nvSpPr>
        <p:spPr>
          <a:xfrm>
            <a:off x="6858000" y="1371600"/>
            <a:ext cx="4754880" cy="4846320"/>
          </a:xfrm>
          <a:prstGeom prst="roundRect">
            <a:avLst>
              <a:gd name="adj" fmla="val 1538"/>
            </a:avLst>
          </a:prstGeom>
          <a:solidFill>
            <a:srgbClr val="F7EEEF"/>
          </a:solidFill>
          <a:ln w="12700">
            <a:solidFill>
              <a:srgbClr val="F7EEEF"/>
            </a:solidFill>
            <a:prstDash val="solid"/>
          </a:ln>
        </p:spPr>
      </p:sp>
      <p:sp>
        <p:nvSpPr>
          <p:cNvPr id="8" name="Text 5"/>
          <p:cNvSpPr txBox="1"/>
          <p:nvPr/>
        </p:nvSpPr>
        <p:spPr>
          <a:xfrm>
            <a:off x="6995160" y="1463040"/>
            <a:ext cx="4480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Lima kelompok rasio</a:t>
            </a:r>
            <a:endParaRPr lang="en-US" sz="1300" dirty="0"/>
          </a:p>
        </p:txBody>
      </p:sp>
      <p:sp>
        <p:nvSpPr>
          <p:cNvPr id="9" name="Text 6"/>
          <p:cNvSpPr txBox="1"/>
          <p:nvPr/>
        </p:nvSpPr>
        <p:spPr>
          <a:xfrm>
            <a:off x="6995160" y="1783080"/>
            <a:ext cx="4480560" cy="43434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Profitabilitas: gross, operating, dan net profit margin; return on assets; return on equity (rata-rata 12–15%); return on invested capital.</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Likuiditas: current ratio, working capital.</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Leverage: debt-to-assets, long-term debt-to-capital, debt-to-equity, times-interest-earned.</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Aktivitas: days of inventory, inventory turnover, average collection period.</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Ukuran lain: dividend yield, P/E, payout ratio, internal cash flow, free cash flow.</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Untuk klub sepak bola, rasio yang paling menjelaskan model bisnis adalah rasio upah terhadap pendapatan, yang tidak ada di tabel tetapi disediakan kasus.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2 · SWOT</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SWOT: kekuatan dan kelemahan vs peluang dan ancaman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94–96; Table 4.2 hlm. 96.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pic>
        <p:nvPicPr>
          <p:cNvPr id="6" name="Image 0" descr="tab4_2.png">    </p:cNvPr>
          <p:cNvPicPr>
            <a:picLocks noChangeAspect="1"/>
          </p:cNvPicPr>
          <p:nvPr/>
        </p:nvPicPr>
        <p:blipFill>
          <a:blip r:embed="rId1"/>
          <a:stretch>
            <a:fillRect/>
          </a:stretch>
        </p:blipFill>
        <p:spPr>
          <a:xfrm>
            <a:off x="1011012" y="1371600"/>
            <a:ext cx="4561656" cy="4846320"/>
          </a:xfrm>
          <a:prstGeom prst="rect">
            <a:avLst/>
          </a:prstGeom>
        </p:spPr>
      </p:pic>
      <p:sp>
        <p:nvSpPr>
          <p:cNvPr id="7" name="Shape 4"/>
          <p:cNvSpPr/>
          <p:nvPr/>
        </p:nvSpPr>
        <p:spPr>
          <a:xfrm>
            <a:off x="6309360" y="1371600"/>
            <a:ext cx="5303520" cy="2194560"/>
          </a:xfrm>
          <a:prstGeom prst="roundRect">
            <a:avLst>
              <a:gd name="adj" fmla="val 3333"/>
            </a:avLst>
          </a:prstGeom>
          <a:solidFill>
            <a:srgbClr val="F7EEEF"/>
          </a:solidFill>
          <a:ln w="12700">
            <a:solidFill>
              <a:srgbClr val="F7EEEF"/>
            </a:solidFill>
            <a:prstDash val="solid"/>
          </a:ln>
        </p:spPr>
      </p:sp>
      <p:sp>
        <p:nvSpPr>
          <p:cNvPr id="8" name="Text 5"/>
          <p:cNvSpPr txBox="1"/>
          <p:nvPr/>
        </p:nvSpPr>
        <p:spPr>
          <a:xfrm>
            <a:off x="6446520" y="1463040"/>
            <a:ext cx="502920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Tangga kemampuan (hlm. 94–95)</a:t>
            </a:r>
            <a:endParaRPr lang="en-US" sz="1300" dirty="0"/>
          </a:p>
        </p:txBody>
      </p:sp>
      <p:sp>
        <p:nvSpPr>
          <p:cNvPr id="9" name="Text 6"/>
          <p:cNvSpPr txBox="1"/>
          <p:nvPr/>
        </p:nvSpPr>
        <p:spPr>
          <a:xfrm>
            <a:off x="6446520" y="1783080"/>
            <a:ext cx="502920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Competence: aktivitas yang dikuasai dan dikerjakan konsisten baik pada biaya wajar.</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Distinctive competence: dikerjakan lebih baik daripada pesaing.</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Core competence: mahir dan berada di jantung strategi; contoh buku: manajemen merek Procter &amp; Gamble.</a:t>
            </a:r>
            <a:endParaRPr lang="en-US" sz="1150" dirty="0"/>
          </a:p>
        </p:txBody>
      </p:sp>
      <p:sp>
        <p:nvSpPr>
          <p:cNvPr id="10" name="Shape 7"/>
          <p:cNvSpPr/>
          <p:nvPr/>
        </p:nvSpPr>
        <p:spPr>
          <a:xfrm>
            <a:off x="6309360" y="3703320"/>
            <a:ext cx="5303520" cy="2514600"/>
          </a:xfrm>
          <a:prstGeom prst="roundRect">
            <a:avLst>
              <a:gd name="adj" fmla="val 2909"/>
            </a:avLst>
          </a:prstGeom>
          <a:solidFill>
            <a:srgbClr val="F7EEEF"/>
          </a:solidFill>
          <a:ln w="12700">
            <a:solidFill>
              <a:srgbClr val="F7EEEF"/>
            </a:solidFill>
            <a:prstDash val="solid"/>
          </a:ln>
        </p:spPr>
      </p:sp>
      <p:sp>
        <p:nvSpPr>
          <p:cNvPr id="11" name="Text 8"/>
          <p:cNvSpPr txBox="1"/>
          <p:nvPr/>
        </p:nvSpPr>
        <p:spPr>
          <a:xfrm>
            <a:off x="6446520" y="3794760"/>
            <a:ext cx="502920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Empat pertanyaan pemandu SWOT</a:t>
            </a:r>
            <a:endParaRPr lang="en-US" sz="1300" dirty="0"/>
          </a:p>
        </p:txBody>
      </p:sp>
      <p:sp>
        <p:nvSpPr>
          <p:cNvPr id="12" name="Text 9"/>
          <p:cNvSpPr txBox="1"/>
          <p:nvPr/>
        </p:nvSpPr>
        <p:spPr>
          <a:xfrm>
            <a:off x="6446520" y="4114800"/>
            <a:ext cx="5029200" cy="201168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Apakah kekuatan cukup menutup kelemahan? Apakah strategi sudah bertumpu pada kekuatan itu? Apakah kekuatan kita melampaui pesaing? Apakah strategi berhasil menangkal ancaman?</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Peluang yang relevan hanyalah yang cocok dengan sumber daya perusahaan, bukan setiap peluang di industri.</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2 · FIGURE 4.2</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SWOT tidak berhenti pada empat daftar</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Figure 4.2 hlm. 97.</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pic>
        <p:nvPicPr>
          <p:cNvPr id="6" name="Image 0" descr="fig4_2.png">    </p:cNvPr>
          <p:cNvPicPr>
            <a:picLocks noChangeAspect="1"/>
          </p:cNvPicPr>
          <p:nvPr/>
        </p:nvPicPr>
        <p:blipFill>
          <a:blip r:embed="rId1"/>
          <a:stretch>
            <a:fillRect/>
          </a:stretch>
        </p:blipFill>
        <p:spPr>
          <a:xfrm>
            <a:off x="787289" y="1371600"/>
            <a:ext cx="5374862" cy="4846320"/>
          </a:xfrm>
          <a:prstGeom prst="rect">
            <a:avLst/>
          </a:prstGeom>
        </p:spPr>
      </p:pic>
      <p:sp>
        <p:nvSpPr>
          <p:cNvPr id="7" name="Shape 4"/>
          <p:cNvSpPr/>
          <p:nvPr/>
        </p:nvSpPr>
        <p:spPr>
          <a:xfrm>
            <a:off x="6675120" y="1463040"/>
            <a:ext cx="457200" cy="457200"/>
          </a:xfrm>
          <a:prstGeom prst="ellipse">
            <a:avLst/>
          </a:prstGeom>
          <a:solidFill>
            <a:srgbClr val="8C1D2B"/>
          </a:solidFill>
          <a:ln w="12700">
            <a:solidFill>
              <a:srgbClr val="8C1D2B"/>
            </a:solidFill>
            <a:prstDash val="solid"/>
          </a:ln>
        </p:spPr>
      </p:sp>
      <p:sp>
        <p:nvSpPr>
          <p:cNvPr id="8" name="Text 5"/>
          <p:cNvSpPr txBox="1"/>
          <p:nvPr/>
        </p:nvSpPr>
        <p:spPr>
          <a:xfrm>
            <a:off x="667512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Shape 6"/>
          <p:cNvSpPr/>
          <p:nvPr/>
        </p:nvSpPr>
        <p:spPr>
          <a:xfrm>
            <a:off x="7269480" y="1371600"/>
            <a:ext cx="4343400" cy="1280160"/>
          </a:xfrm>
          <a:prstGeom prst="roundRect">
            <a:avLst>
              <a:gd name="adj" fmla="val 5714"/>
            </a:avLst>
          </a:prstGeom>
          <a:solidFill>
            <a:srgbClr val="F7EEEF"/>
          </a:solidFill>
          <a:ln w="12700">
            <a:solidFill>
              <a:srgbClr val="F7EEEF"/>
            </a:solidFill>
            <a:prstDash val="solid"/>
          </a:ln>
        </p:spPr>
      </p:sp>
      <p:sp>
        <p:nvSpPr>
          <p:cNvPr id="10" name="Text 7"/>
          <p:cNvSpPr txBox="1"/>
          <p:nvPr/>
        </p:nvSpPr>
        <p:spPr>
          <a:xfrm>
            <a:off x="7406640" y="1463040"/>
            <a:ext cx="4069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Identifikasi</a:t>
            </a:r>
            <a:endParaRPr lang="en-US" sz="1300" dirty="0"/>
          </a:p>
        </p:txBody>
      </p:sp>
      <p:sp>
        <p:nvSpPr>
          <p:cNvPr id="11" name="Text 8"/>
          <p:cNvSpPr txBox="1"/>
          <p:nvPr/>
        </p:nvSpPr>
        <p:spPr>
          <a:xfrm>
            <a:off x="7406640" y="1783080"/>
            <a:ext cx="4069080" cy="7772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Susun empat daftar berdasarkan bukti, dengan Table 4.2 sebagai pemandu.</a:t>
            </a:r>
            <a:endParaRPr lang="en-US" sz="1150" dirty="0"/>
          </a:p>
        </p:txBody>
      </p:sp>
      <p:sp>
        <p:nvSpPr>
          <p:cNvPr id="12" name="Shape 9"/>
          <p:cNvSpPr/>
          <p:nvPr/>
        </p:nvSpPr>
        <p:spPr>
          <a:xfrm>
            <a:off x="6675120" y="2880360"/>
            <a:ext cx="457200" cy="457200"/>
          </a:xfrm>
          <a:prstGeom prst="ellipse">
            <a:avLst/>
          </a:prstGeom>
          <a:solidFill>
            <a:srgbClr val="8C1D2B"/>
          </a:solidFill>
          <a:ln w="12700">
            <a:solidFill>
              <a:srgbClr val="8C1D2B"/>
            </a:solidFill>
            <a:prstDash val="solid"/>
          </a:ln>
        </p:spPr>
      </p:sp>
      <p:sp>
        <p:nvSpPr>
          <p:cNvPr id="13" name="Text 10"/>
          <p:cNvSpPr txBox="1"/>
          <p:nvPr/>
        </p:nvSpPr>
        <p:spPr>
          <a:xfrm>
            <a:off x="6675120" y="2880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4" name="Shape 11"/>
          <p:cNvSpPr/>
          <p:nvPr/>
        </p:nvSpPr>
        <p:spPr>
          <a:xfrm>
            <a:off x="7269480" y="2788920"/>
            <a:ext cx="4343400" cy="1280160"/>
          </a:xfrm>
          <a:prstGeom prst="roundRect">
            <a:avLst>
              <a:gd name="adj" fmla="val 5714"/>
            </a:avLst>
          </a:prstGeom>
          <a:solidFill>
            <a:srgbClr val="F7EEEF"/>
          </a:solidFill>
          <a:ln w="12700">
            <a:solidFill>
              <a:srgbClr val="F7EEEF"/>
            </a:solidFill>
            <a:prstDash val="solid"/>
          </a:ln>
        </p:spPr>
      </p:sp>
      <p:sp>
        <p:nvSpPr>
          <p:cNvPr id="15" name="Text 12"/>
          <p:cNvSpPr txBox="1"/>
          <p:nvPr/>
        </p:nvSpPr>
        <p:spPr>
          <a:xfrm>
            <a:off x="7406640" y="2880360"/>
            <a:ext cx="4069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Tarik simpulan</a:t>
            </a:r>
            <a:endParaRPr lang="en-US" sz="1300" dirty="0"/>
          </a:p>
        </p:txBody>
      </p:sp>
      <p:sp>
        <p:nvSpPr>
          <p:cNvPr id="16" name="Text 13"/>
          <p:cNvSpPr txBox="1"/>
          <p:nvPr/>
        </p:nvSpPr>
        <p:spPr>
          <a:xfrm>
            <a:off x="7406640" y="3200400"/>
            <a:ext cx="4069080" cy="7772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Apa sebab berhasil atau gagalnya strategi? Sisi mana dari situasi yang menarik dan mana yang mengkhawatirkan?</a:t>
            </a:r>
            <a:endParaRPr lang="en-US" sz="1150" dirty="0"/>
          </a:p>
        </p:txBody>
      </p:sp>
      <p:sp>
        <p:nvSpPr>
          <p:cNvPr id="17" name="Shape 14"/>
          <p:cNvSpPr/>
          <p:nvPr/>
        </p:nvSpPr>
        <p:spPr>
          <a:xfrm>
            <a:off x="6675120" y="4297680"/>
            <a:ext cx="457200" cy="457200"/>
          </a:xfrm>
          <a:prstGeom prst="ellipse">
            <a:avLst/>
          </a:prstGeom>
          <a:solidFill>
            <a:srgbClr val="8C1D2B"/>
          </a:solidFill>
          <a:ln w="12700">
            <a:solidFill>
              <a:srgbClr val="8C1D2B"/>
            </a:solidFill>
            <a:prstDash val="solid"/>
          </a:ln>
        </p:spPr>
      </p:sp>
      <p:sp>
        <p:nvSpPr>
          <p:cNvPr id="18" name="Text 15"/>
          <p:cNvSpPr txBox="1"/>
          <p:nvPr/>
        </p:nvSpPr>
        <p:spPr>
          <a:xfrm>
            <a:off x="667512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9" name="Shape 16"/>
          <p:cNvSpPr/>
          <p:nvPr/>
        </p:nvSpPr>
        <p:spPr>
          <a:xfrm>
            <a:off x="7269480" y="4206240"/>
            <a:ext cx="4343400" cy="1280160"/>
          </a:xfrm>
          <a:prstGeom prst="roundRect">
            <a:avLst>
              <a:gd name="adj" fmla="val 5714"/>
            </a:avLst>
          </a:prstGeom>
          <a:solidFill>
            <a:srgbClr val="F7EEEF"/>
          </a:solidFill>
          <a:ln w="12700">
            <a:solidFill>
              <a:srgbClr val="F7EEEF"/>
            </a:solidFill>
            <a:prstDash val="solid"/>
          </a:ln>
        </p:spPr>
      </p:sp>
      <p:sp>
        <p:nvSpPr>
          <p:cNvPr id="20" name="Text 17"/>
          <p:cNvSpPr txBox="1"/>
          <p:nvPr/>
        </p:nvSpPr>
        <p:spPr>
          <a:xfrm>
            <a:off x="7406640" y="4297680"/>
            <a:ext cx="4069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Terjemahkan jadi tindakan</a:t>
            </a:r>
            <a:endParaRPr lang="en-US" sz="1300" dirty="0"/>
          </a:p>
        </p:txBody>
      </p:sp>
      <p:sp>
        <p:nvSpPr>
          <p:cNvPr id="21" name="Text 18"/>
          <p:cNvSpPr txBox="1"/>
          <p:nvPr/>
        </p:nvSpPr>
        <p:spPr>
          <a:xfrm>
            <a:off x="7406640" y="4617720"/>
            <a:ext cx="4069080" cy="7772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Pakai kekuatan sebagai fondasi, perbaiki kelemahan yang menghambat, kejar peluang yang paling cocok, bertahan dari ancaman.</a:t>
            </a:r>
            <a:endParaRPr lang="en-US" sz="1150" dirty="0"/>
          </a:p>
        </p:txBody>
      </p:sp>
      <p:sp>
        <p:nvSpPr>
          <p:cNvPr id="22" name="Shape 19"/>
          <p:cNvSpPr/>
          <p:nvPr/>
        </p:nvSpPr>
        <p:spPr>
          <a:xfrm>
            <a:off x="6675120" y="5669280"/>
            <a:ext cx="4937760" cy="548640"/>
          </a:xfrm>
          <a:prstGeom prst="roundRect">
            <a:avLst>
              <a:gd name="adj" fmla="val 13333"/>
            </a:avLst>
          </a:prstGeom>
          <a:solidFill>
            <a:srgbClr val="FBEBD0"/>
          </a:solidFill>
          <a:ln w="12700">
            <a:solidFill>
              <a:srgbClr val="FBEBD0"/>
            </a:solidFill>
            <a:prstDash val="solid"/>
          </a:ln>
        </p:spPr>
      </p:sp>
      <p:sp>
        <p:nvSpPr>
          <p:cNvPr id="23" name="Text 20"/>
          <p:cNvSpPr txBox="1"/>
          <p:nvPr/>
        </p:nvSpPr>
        <p:spPr>
          <a:xfrm>
            <a:off x="6812280" y="5779008"/>
            <a:ext cx="4663440" cy="329184"/>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Yang dinilai bukan daftarnya, melainkan simpulan dan tindakannya.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TABLE 4.3</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Resource dan capability: dua hal yang berbeda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98–100; Table 4.3 hlm. 99.</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pic>
        <p:nvPicPr>
          <p:cNvPr id="6" name="Image 0" descr="tab4_3.png">    </p:cNvPr>
          <p:cNvPicPr>
            <a:picLocks noChangeAspect="1"/>
          </p:cNvPicPr>
          <p:nvPr/>
        </p:nvPicPr>
        <p:blipFill>
          <a:blip r:embed="rId1"/>
          <a:stretch>
            <a:fillRect/>
          </a:stretch>
        </p:blipFill>
        <p:spPr>
          <a:xfrm>
            <a:off x="548640" y="1371600"/>
            <a:ext cx="6400800" cy="4359038"/>
          </a:xfrm>
          <a:prstGeom prst="rect">
            <a:avLst/>
          </a:prstGeom>
        </p:spPr>
      </p:pic>
      <p:sp>
        <p:nvSpPr>
          <p:cNvPr id="7" name="Shape 4"/>
          <p:cNvSpPr/>
          <p:nvPr/>
        </p:nvSpPr>
        <p:spPr>
          <a:xfrm>
            <a:off x="7223760" y="1371600"/>
            <a:ext cx="4389120" cy="2103120"/>
          </a:xfrm>
          <a:prstGeom prst="roundRect">
            <a:avLst>
              <a:gd name="adj" fmla="val 3478"/>
            </a:avLst>
          </a:prstGeom>
          <a:solidFill>
            <a:srgbClr val="F7EEEF"/>
          </a:solidFill>
          <a:ln w="12700">
            <a:solidFill>
              <a:srgbClr val="F7EEEF"/>
            </a:solidFill>
            <a:prstDash val="solid"/>
          </a:ln>
        </p:spPr>
      </p:sp>
      <p:sp>
        <p:nvSpPr>
          <p:cNvPr id="8" name="Text 5"/>
          <p:cNvSpPr txBox="1"/>
          <p:nvPr/>
        </p:nvSpPr>
        <p:spPr>
          <a:xfrm>
            <a:off x="7360920" y="1463040"/>
            <a:ext cx="411480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Resource</a:t>
            </a:r>
            <a:endParaRPr lang="en-US" sz="1300" dirty="0"/>
          </a:p>
        </p:txBody>
      </p:sp>
      <p:sp>
        <p:nvSpPr>
          <p:cNvPr id="9" name="Text 6"/>
          <p:cNvSpPr txBox="1"/>
          <p:nvPr/>
        </p:nvSpPr>
        <p:spPr>
          <a:xfrm>
            <a:off x="7360920" y="1783080"/>
            <a:ext cx="4114800" cy="16002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Aset bersaing yang dimiliki atau dikendalikan perusahaan: merek, stadion, kas, kontrak, jaringan.</a:t>
            </a:r>
            <a:endParaRPr lang="en-US" sz="1150" dirty="0"/>
          </a:p>
        </p:txBody>
      </p:sp>
      <p:sp>
        <p:nvSpPr>
          <p:cNvPr id="10" name="Shape 7"/>
          <p:cNvSpPr/>
          <p:nvPr/>
        </p:nvSpPr>
        <p:spPr>
          <a:xfrm>
            <a:off x="7223760" y="3611880"/>
            <a:ext cx="4389120" cy="2606040"/>
          </a:xfrm>
          <a:prstGeom prst="roundRect">
            <a:avLst>
              <a:gd name="adj" fmla="val 2807"/>
            </a:avLst>
          </a:prstGeom>
          <a:solidFill>
            <a:srgbClr val="F7EEEF"/>
          </a:solidFill>
          <a:ln w="12700">
            <a:solidFill>
              <a:srgbClr val="F7EEEF"/>
            </a:solidFill>
            <a:prstDash val="solid"/>
          </a:ln>
        </p:spPr>
      </p:sp>
      <p:sp>
        <p:nvSpPr>
          <p:cNvPr id="11" name="Text 8"/>
          <p:cNvSpPr txBox="1"/>
          <p:nvPr/>
        </p:nvSpPr>
        <p:spPr>
          <a:xfrm>
            <a:off x="7360920" y="3703320"/>
            <a:ext cx="411480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Capability</a:t>
            </a:r>
            <a:endParaRPr lang="en-US" sz="1300" dirty="0"/>
          </a:p>
        </p:txBody>
      </p:sp>
      <p:sp>
        <p:nvSpPr>
          <p:cNvPr id="12" name="Text 9"/>
          <p:cNvSpPr txBox="1"/>
          <p:nvPr/>
        </p:nvSpPr>
        <p:spPr>
          <a:xfrm>
            <a:off x="7360920" y="4023360"/>
            <a:ext cx="4114800" cy="210312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Kapasitas perusahaan mengerjakan suatu aktivitas internal dengan kompeten. Dibangun dengan mengerahkan resource.</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Buku memasukkan sumber daya manusia ke kelompok tak berwujud untuk menekankan bahwa nilainya ada pada keterampilan dan pengetahuan, bukan pada jumlah orang.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LANJUTAN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Menemukan capability dan resource bundle</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100–101.</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371600"/>
            <a:ext cx="5486400" cy="2194560"/>
          </a:xfrm>
          <a:prstGeom prst="roundRect">
            <a:avLst>
              <a:gd name="adj" fmla="val 3333"/>
            </a:avLst>
          </a:prstGeom>
          <a:solidFill>
            <a:srgbClr val="F7EEEF"/>
          </a:solidFill>
          <a:ln w="12700">
            <a:solidFill>
              <a:srgbClr val="F7EEEF"/>
            </a:solidFill>
            <a:prstDash val="solid"/>
          </a:ln>
        </p:spPr>
      </p:sp>
      <p:sp>
        <p:nvSpPr>
          <p:cNvPr id="7" name="Text 5"/>
          <p:cNvSpPr txBox="1"/>
          <p:nvPr/>
        </p:nvSpPr>
        <p:spPr>
          <a:xfrm>
            <a:off x="68580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Cara 1: berangkat dari daftar resource</a:t>
            </a:r>
            <a:endParaRPr lang="en-US" sz="1300" dirty="0"/>
          </a:p>
        </p:txBody>
      </p:sp>
      <p:sp>
        <p:nvSpPr>
          <p:cNvPr id="8" name="Text 6"/>
          <p:cNvSpPr txBox="1"/>
          <p:nvPr/>
        </p:nvSpPr>
        <p:spPr>
          <a:xfrm>
            <a:off x="685800" y="1783080"/>
            <a:ext cx="521208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Lihat resource, lalu tanya kemampuan apa yang tumbuh darinya. Armada truk dan pusat distribusi otomatis menandakan kemampuan logistik.</a:t>
            </a:r>
            <a:endParaRPr lang="en-US" sz="1150" dirty="0"/>
          </a:p>
        </p:txBody>
      </p:sp>
      <p:sp>
        <p:nvSpPr>
          <p:cNvPr id="9" name="Shape 7"/>
          <p:cNvSpPr/>
          <p:nvPr/>
        </p:nvSpPr>
        <p:spPr>
          <a:xfrm>
            <a:off x="6172200" y="1371600"/>
            <a:ext cx="5486400" cy="2194560"/>
          </a:xfrm>
          <a:prstGeom prst="roundRect">
            <a:avLst>
              <a:gd name="adj" fmla="val 3333"/>
            </a:avLst>
          </a:prstGeom>
          <a:solidFill>
            <a:srgbClr val="F7EEEF"/>
          </a:solidFill>
          <a:ln w="12700">
            <a:solidFill>
              <a:srgbClr val="F7EEEF"/>
            </a:solidFill>
            <a:prstDash val="solid"/>
          </a:ln>
        </p:spPr>
      </p:sp>
      <p:sp>
        <p:nvSpPr>
          <p:cNvPr id="10" name="Text 8"/>
          <p:cNvSpPr txBox="1"/>
          <p:nvPr/>
        </p:nvSpPr>
        <p:spPr>
          <a:xfrm>
            <a:off x="630936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Cara 2: berangkat dari fungsi perusahaan</a:t>
            </a:r>
            <a:endParaRPr lang="en-US" sz="1300" dirty="0"/>
          </a:p>
        </p:txBody>
      </p:sp>
      <p:sp>
        <p:nvSpPr>
          <p:cNvPr id="11" name="Text 9"/>
          <p:cNvSpPr txBox="1"/>
          <p:nvPr/>
        </p:nvSpPr>
        <p:spPr>
          <a:xfrm>
            <a:off x="6309360" y="1783080"/>
            <a:ext cx="521208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Telusuri tiap fungsi: produksi, penjualan, riset. Kelemahannya: capability terpenting sering lintas fungsi, seperti desain Warby Parker yang lahir dari desainer, riset pasar, rekayasa, dan relasi pemasok.</a:t>
            </a:r>
            <a:endParaRPr lang="en-US" sz="1150" dirty="0"/>
          </a:p>
        </p:txBody>
      </p:sp>
      <p:sp>
        <p:nvSpPr>
          <p:cNvPr id="12" name="Shape 10"/>
          <p:cNvSpPr/>
          <p:nvPr/>
        </p:nvSpPr>
        <p:spPr>
          <a:xfrm>
            <a:off x="548640" y="3749040"/>
            <a:ext cx="11109960" cy="2468880"/>
          </a:xfrm>
          <a:prstGeom prst="roundRect">
            <a:avLst>
              <a:gd name="adj" fmla="val 2963"/>
            </a:avLst>
          </a:prstGeom>
          <a:solidFill>
            <a:srgbClr val="F7EEEF"/>
          </a:solidFill>
          <a:ln w="12700">
            <a:solidFill>
              <a:srgbClr val="F7EEEF"/>
            </a:solidFill>
            <a:prstDash val="solid"/>
          </a:ln>
        </p:spPr>
      </p:sp>
      <p:sp>
        <p:nvSpPr>
          <p:cNvPr id="13" name="Text 11"/>
          <p:cNvSpPr txBox="1"/>
          <p:nvPr/>
        </p:nvSpPr>
        <p:spPr>
          <a:xfrm>
            <a:off x="685800" y="3840480"/>
            <a:ext cx="10835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Resource bundle</a:t>
            </a:r>
            <a:endParaRPr lang="en-US" sz="1300" dirty="0"/>
          </a:p>
        </p:txBody>
      </p:sp>
      <p:sp>
        <p:nvSpPr>
          <p:cNvPr id="14" name="Text 12"/>
          <p:cNvSpPr txBox="1"/>
          <p:nvPr/>
        </p:nvSpPr>
        <p:spPr>
          <a:xfrm>
            <a:off x="685800" y="4160520"/>
            <a:ext cx="10835640" cy="1965960"/>
          </a:xfrm>
          <a:prstGeom prst="rect">
            <a:avLst/>
          </a:prstGeom>
          <a:noFill/>
          <a:ln/>
        </p:spPr>
        <p:txBody>
          <a:bodyPr wrap="square" lIns="0" tIns="0" rIns="0" bIns="0" rtlCol="0" anchor="t"/>
          <a:lstStyle/>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Kumpulan aset bersaing yang saling terkait erat di sekitar satu atau beberapa capability lintas fungsi. Bundle bisa lolos uji VRIN walaupun komponennya sendiri tidak lolos. Contoh buku: gabungan keahlian styling, riset pasar, endorsement atlet, nama merek, dan kecakapan manajerial membuat Nike nomor satu lebih dari 20 tahun.</a:t>
            </a:r>
            <a:endParaRPr lang="en-US" sz="1300" dirty="0"/>
          </a:p>
          <a:p>
            <a:pPr indent="0" marL="0">
              <a:spcAft>
                <a:spcPts val="300"/>
              </a:spcAft>
              <a:buNone/>
            </a:pPr>
            <a:endParaRPr lang="en-US" sz="1300" dirty="0"/>
          </a:p>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Konsep inilah yang paling menentukan untuk Manchester United: jaringan pemandu bakat, akademi, disiplin latihan, rotasi skuad, dan kebijakan transfer masing-masing dapat ditiru, tetapi ikatannya sebagai satu sistem tidak.</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UJI VRIN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Empat saringan daya kompetitif sebuah resource</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101–103. Definisi tes N dikutip persis dari buku karena sering salah dibaca.</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371600"/>
            <a:ext cx="2651760" cy="4114800"/>
          </a:xfrm>
          <a:prstGeom prst="roundRect">
            <a:avLst>
              <a:gd name="adj" fmla="val 2759"/>
            </a:avLst>
          </a:prstGeom>
          <a:solidFill>
            <a:srgbClr val="F7EEEF"/>
          </a:solidFill>
          <a:ln w="12700">
            <a:solidFill>
              <a:srgbClr val="F7EEEF"/>
            </a:solidFill>
            <a:prstDash val="solid"/>
          </a:ln>
        </p:spPr>
      </p:sp>
      <p:sp>
        <p:nvSpPr>
          <p:cNvPr id="7" name="Text 5"/>
          <p:cNvSpPr txBox="1"/>
          <p:nvPr/>
        </p:nvSpPr>
        <p:spPr>
          <a:xfrm>
            <a:off x="685800" y="1463040"/>
            <a:ext cx="822960" cy="822960"/>
          </a:xfrm>
          <a:prstGeom prst="rect">
            <a:avLst/>
          </a:prstGeom>
          <a:noFill/>
          <a:ln/>
        </p:spPr>
        <p:txBody>
          <a:bodyPr wrap="square" lIns="0" tIns="0" rIns="0" bIns="0" rtlCol="0" anchor="ctr"/>
          <a:lstStyle/>
          <a:p>
            <a:pPr indent="0" marL="0">
              <a:buNone/>
            </a:pPr>
            <a:r>
              <a:rPr lang="en-US" sz="4400" b="1" dirty="0">
                <a:solidFill>
                  <a:srgbClr val="8C1D2B"/>
                </a:solidFill>
                <a:latin typeface="Cambria" pitchFamily="34" charset="0"/>
                <a:ea typeface="Cambria" pitchFamily="34" charset="-122"/>
                <a:cs typeface="Cambria" pitchFamily="34" charset="-120"/>
              </a:rPr>
              <a:t>V</a:t>
            </a:r>
            <a:endParaRPr lang="en-US" sz="4400" dirty="0"/>
          </a:p>
        </p:txBody>
      </p:sp>
      <p:sp>
        <p:nvSpPr>
          <p:cNvPr id="8" name="Text 6"/>
          <p:cNvSpPr txBox="1"/>
          <p:nvPr/>
        </p:nvSpPr>
        <p:spPr>
          <a:xfrm>
            <a:off x="685800" y="2240280"/>
            <a:ext cx="2377440" cy="36576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Valuable</a:t>
            </a:r>
            <a:endParaRPr lang="en-US" sz="1400" dirty="0"/>
          </a:p>
        </p:txBody>
      </p:sp>
      <p:sp>
        <p:nvSpPr>
          <p:cNvPr id="9" name="Text 7"/>
          <p:cNvSpPr txBox="1"/>
          <p:nvPr/>
        </p:nvSpPr>
        <p:spPr>
          <a:xfrm>
            <a:off x="685800" y="2651760"/>
            <a:ext cx="2377440" cy="2788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Relevan langsung dengan strategi dan membuat perusahaan lebih efektif bersaing. Google Wallet gagal meski memakai resource teknologi Google.</a:t>
            </a:r>
            <a:endParaRPr lang="en-US" sz="1100" dirty="0"/>
          </a:p>
        </p:txBody>
      </p:sp>
      <p:sp>
        <p:nvSpPr>
          <p:cNvPr id="10" name="Shape 8"/>
          <p:cNvSpPr/>
          <p:nvPr/>
        </p:nvSpPr>
        <p:spPr>
          <a:xfrm>
            <a:off x="3364992" y="1371600"/>
            <a:ext cx="2651760" cy="4114800"/>
          </a:xfrm>
          <a:prstGeom prst="roundRect">
            <a:avLst>
              <a:gd name="adj" fmla="val 2759"/>
            </a:avLst>
          </a:prstGeom>
          <a:solidFill>
            <a:srgbClr val="F7EEEF"/>
          </a:solidFill>
          <a:ln w="12700">
            <a:solidFill>
              <a:srgbClr val="F7EEEF"/>
            </a:solidFill>
            <a:prstDash val="solid"/>
          </a:ln>
        </p:spPr>
      </p:sp>
      <p:sp>
        <p:nvSpPr>
          <p:cNvPr id="11" name="Text 9"/>
          <p:cNvSpPr txBox="1"/>
          <p:nvPr/>
        </p:nvSpPr>
        <p:spPr>
          <a:xfrm>
            <a:off x="3502152" y="1463040"/>
            <a:ext cx="822960" cy="822960"/>
          </a:xfrm>
          <a:prstGeom prst="rect">
            <a:avLst/>
          </a:prstGeom>
          <a:noFill/>
          <a:ln/>
        </p:spPr>
        <p:txBody>
          <a:bodyPr wrap="square" lIns="0" tIns="0" rIns="0" bIns="0" rtlCol="0" anchor="ctr"/>
          <a:lstStyle/>
          <a:p>
            <a:pPr indent="0" marL="0">
              <a:buNone/>
            </a:pPr>
            <a:r>
              <a:rPr lang="en-US" sz="4400" b="1" dirty="0">
                <a:solidFill>
                  <a:srgbClr val="8C1D2B"/>
                </a:solidFill>
                <a:latin typeface="Cambria" pitchFamily="34" charset="0"/>
                <a:ea typeface="Cambria" pitchFamily="34" charset="-122"/>
                <a:cs typeface="Cambria" pitchFamily="34" charset="-120"/>
              </a:rPr>
              <a:t>R</a:t>
            </a:r>
            <a:endParaRPr lang="en-US" sz="4400" dirty="0"/>
          </a:p>
        </p:txBody>
      </p:sp>
      <p:sp>
        <p:nvSpPr>
          <p:cNvPr id="12" name="Text 10"/>
          <p:cNvSpPr txBox="1"/>
          <p:nvPr/>
        </p:nvSpPr>
        <p:spPr>
          <a:xfrm>
            <a:off x="3502152" y="2240280"/>
            <a:ext cx="2377440" cy="36576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Rare</a:t>
            </a:r>
            <a:endParaRPr lang="en-US" sz="1400" dirty="0"/>
          </a:p>
        </p:txBody>
      </p:sp>
      <p:sp>
        <p:nvSpPr>
          <p:cNvPr id="13" name="Text 11"/>
          <p:cNvSpPr txBox="1"/>
          <p:nvPr/>
        </p:nvSpPr>
        <p:spPr>
          <a:xfrm>
            <a:off x="3502152" y="2651760"/>
            <a:ext cx="2377440" cy="2788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Dimiliki hanya sebagian kecil perusahaan. Semua produsen sereal punya kemampuan pemasaran; kekuatan merek Oreo tidak umum.</a:t>
            </a:r>
            <a:endParaRPr lang="en-US" sz="1100" dirty="0"/>
          </a:p>
        </p:txBody>
      </p:sp>
      <p:sp>
        <p:nvSpPr>
          <p:cNvPr id="14" name="Shape 12"/>
          <p:cNvSpPr/>
          <p:nvPr/>
        </p:nvSpPr>
        <p:spPr>
          <a:xfrm>
            <a:off x="6181344" y="1371600"/>
            <a:ext cx="2651760" cy="4114800"/>
          </a:xfrm>
          <a:prstGeom prst="roundRect">
            <a:avLst>
              <a:gd name="adj" fmla="val 2759"/>
            </a:avLst>
          </a:prstGeom>
          <a:solidFill>
            <a:srgbClr val="F7EEEF"/>
          </a:solidFill>
          <a:ln w="12700">
            <a:solidFill>
              <a:srgbClr val="F7EEEF"/>
            </a:solidFill>
            <a:prstDash val="solid"/>
          </a:ln>
        </p:spPr>
      </p:sp>
      <p:sp>
        <p:nvSpPr>
          <p:cNvPr id="15" name="Text 13"/>
          <p:cNvSpPr txBox="1"/>
          <p:nvPr/>
        </p:nvSpPr>
        <p:spPr>
          <a:xfrm>
            <a:off x="6318504" y="1463040"/>
            <a:ext cx="822960" cy="822960"/>
          </a:xfrm>
          <a:prstGeom prst="rect">
            <a:avLst/>
          </a:prstGeom>
          <a:noFill/>
          <a:ln/>
        </p:spPr>
        <p:txBody>
          <a:bodyPr wrap="square" lIns="0" tIns="0" rIns="0" bIns="0" rtlCol="0" anchor="ctr"/>
          <a:lstStyle/>
          <a:p>
            <a:pPr indent="0" marL="0">
              <a:buNone/>
            </a:pPr>
            <a:r>
              <a:rPr lang="en-US" sz="4400" b="1" dirty="0">
                <a:solidFill>
                  <a:srgbClr val="8C1D2B"/>
                </a:solidFill>
                <a:latin typeface="Cambria" pitchFamily="34" charset="0"/>
                <a:ea typeface="Cambria" pitchFamily="34" charset="-122"/>
                <a:cs typeface="Cambria" pitchFamily="34" charset="-120"/>
              </a:rPr>
              <a:t>I</a:t>
            </a:r>
            <a:endParaRPr lang="en-US" sz="4400" dirty="0"/>
          </a:p>
        </p:txBody>
      </p:sp>
      <p:sp>
        <p:nvSpPr>
          <p:cNvPr id="16" name="Text 14"/>
          <p:cNvSpPr txBox="1"/>
          <p:nvPr/>
        </p:nvSpPr>
        <p:spPr>
          <a:xfrm>
            <a:off x="6318504" y="2240280"/>
            <a:ext cx="2377440" cy="36576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Inimitable</a:t>
            </a:r>
            <a:endParaRPr lang="en-US" sz="1400" dirty="0"/>
          </a:p>
        </p:txBody>
      </p:sp>
      <p:sp>
        <p:nvSpPr>
          <p:cNvPr id="17" name="Text 15"/>
          <p:cNvSpPr txBox="1"/>
          <p:nvPr/>
        </p:nvSpPr>
        <p:spPr>
          <a:xfrm>
            <a:off x="6318504" y="2651760"/>
            <a:ext cx="2377440" cy="2788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Sulit ditiru bila unik, dibangun bertahun-tahun, butuh biaya besar, atau punya social complexity dan causal ambiguity.</a:t>
            </a:r>
            <a:endParaRPr lang="en-US" sz="1100" dirty="0"/>
          </a:p>
        </p:txBody>
      </p:sp>
      <p:sp>
        <p:nvSpPr>
          <p:cNvPr id="18" name="Shape 16"/>
          <p:cNvSpPr/>
          <p:nvPr/>
        </p:nvSpPr>
        <p:spPr>
          <a:xfrm>
            <a:off x="8997696" y="1371600"/>
            <a:ext cx="2651760" cy="4114800"/>
          </a:xfrm>
          <a:prstGeom prst="roundRect">
            <a:avLst>
              <a:gd name="adj" fmla="val 2759"/>
            </a:avLst>
          </a:prstGeom>
          <a:solidFill>
            <a:srgbClr val="F7EEEF"/>
          </a:solidFill>
          <a:ln w="12700">
            <a:solidFill>
              <a:srgbClr val="F7EEEF"/>
            </a:solidFill>
            <a:prstDash val="solid"/>
          </a:ln>
        </p:spPr>
      </p:sp>
      <p:sp>
        <p:nvSpPr>
          <p:cNvPr id="19" name="Text 17"/>
          <p:cNvSpPr txBox="1"/>
          <p:nvPr/>
        </p:nvSpPr>
        <p:spPr>
          <a:xfrm>
            <a:off x="9134856" y="1463040"/>
            <a:ext cx="822960" cy="822960"/>
          </a:xfrm>
          <a:prstGeom prst="rect">
            <a:avLst/>
          </a:prstGeom>
          <a:noFill/>
          <a:ln/>
        </p:spPr>
        <p:txBody>
          <a:bodyPr wrap="square" lIns="0" tIns="0" rIns="0" bIns="0" rtlCol="0" anchor="ctr"/>
          <a:lstStyle/>
          <a:p>
            <a:pPr indent="0" marL="0">
              <a:buNone/>
            </a:pPr>
            <a:r>
              <a:rPr lang="en-US" sz="4400" b="1" dirty="0">
                <a:solidFill>
                  <a:srgbClr val="8C1D2B"/>
                </a:solidFill>
                <a:latin typeface="Cambria" pitchFamily="34" charset="0"/>
                <a:ea typeface="Cambria" pitchFamily="34" charset="-122"/>
                <a:cs typeface="Cambria" pitchFamily="34" charset="-120"/>
              </a:rPr>
              <a:t>N</a:t>
            </a:r>
            <a:endParaRPr lang="en-US" sz="4400" dirty="0"/>
          </a:p>
        </p:txBody>
      </p:sp>
      <p:sp>
        <p:nvSpPr>
          <p:cNvPr id="20" name="Text 18"/>
          <p:cNvSpPr txBox="1"/>
          <p:nvPr/>
        </p:nvSpPr>
        <p:spPr>
          <a:xfrm>
            <a:off x="9134856" y="2240280"/>
            <a:ext cx="2377440" cy="36576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Nonsubstitutable</a:t>
            </a:r>
            <a:endParaRPr lang="en-US" sz="1400" dirty="0"/>
          </a:p>
        </p:txBody>
      </p:sp>
      <p:sp>
        <p:nvSpPr>
          <p:cNvPr id="21" name="Text 19"/>
          <p:cNvSpPr txBox="1"/>
          <p:nvPr/>
        </p:nvSpPr>
        <p:spPr>
          <a:xfrm>
            <a:off x="9134856" y="2651760"/>
            <a:ext cx="2377440" cy="278892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Buku: "is it invulnerable to the threat of substitution from different types of resources and capabilities?" Lolos bila pesaing tidak dapat mencapai hasil sama lewat resource lain. Otomasi bisa dibatalkan oleh tenaga kerja murah di luar negeri.</a:t>
            </a:r>
            <a:endParaRPr lang="en-US" sz="1100" dirty="0"/>
          </a:p>
        </p:txBody>
      </p:sp>
      <p:sp>
        <p:nvSpPr>
          <p:cNvPr id="22" name="Shape 20"/>
          <p:cNvSpPr/>
          <p:nvPr/>
        </p:nvSpPr>
        <p:spPr>
          <a:xfrm>
            <a:off x="548640" y="5623560"/>
            <a:ext cx="11109960" cy="640080"/>
          </a:xfrm>
          <a:prstGeom prst="roundRect">
            <a:avLst>
              <a:gd name="adj" fmla="val 11429"/>
            </a:avLst>
          </a:prstGeom>
          <a:solidFill>
            <a:srgbClr val="FBEBD0"/>
          </a:solidFill>
          <a:ln w="12700">
            <a:solidFill>
              <a:srgbClr val="FBEBD0"/>
            </a:solidFill>
            <a:prstDash val="solid"/>
          </a:ln>
        </p:spPr>
      </p:sp>
      <p:sp>
        <p:nvSpPr>
          <p:cNvPr id="23" name="Text 21"/>
          <p:cNvSpPr txBox="1"/>
          <p:nvPr/>
        </p:nvSpPr>
        <p:spPr>
          <a:xfrm>
            <a:off x="685800" y="5733288"/>
            <a:ext cx="10835640" cy="420624"/>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V + R menentukan apakah resource bisa memberi keunggulan. I + N menentukan apakah keunggulan itu bertahan. Sebagian besar perusahaan hanya punya satu atau dua aset yang lolos semuanya.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LANJUTAN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Resource harus dikelola secara dinamis</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103–104.</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48640" y="1371600"/>
            <a:ext cx="3566160" cy="1554480"/>
          </a:xfrm>
          <a:prstGeom prst="roundRect">
            <a:avLst>
              <a:gd name="adj" fmla="val 4706"/>
            </a:avLst>
          </a:prstGeom>
          <a:solidFill>
            <a:srgbClr val="F7EEEF"/>
          </a:solidFill>
          <a:ln w="12700">
            <a:solidFill>
              <a:srgbClr val="F7EEEF"/>
            </a:solidFill>
            <a:prstDash val="solid"/>
          </a:ln>
        </p:spPr>
      </p:sp>
      <p:sp>
        <p:nvSpPr>
          <p:cNvPr id="7" name="Text 5"/>
          <p:cNvSpPr txBox="1"/>
          <p:nvPr/>
        </p:nvSpPr>
        <p:spPr>
          <a:xfrm>
            <a:off x="685800" y="1463040"/>
            <a:ext cx="32918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Pesaing menyusul</a:t>
            </a:r>
            <a:endParaRPr lang="en-US" sz="1300" dirty="0"/>
          </a:p>
        </p:txBody>
      </p:sp>
      <p:sp>
        <p:nvSpPr>
          <p:cNvPr id="8" name="Text 6"/>
          <p:cNvSpPr txBox="1"/>
          <p:nvPr/>
        </p:nvSpPr>
        <p:spPr>
          <a:xfrm>
            <a:off x="685800" y="1783080"/>
            <a:ext cx="3291840" cy="105156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Yang semula tidak bisa meniru lama-lama menemukan pengganti yang makin baik.</a:t>
            </a:r>
            <a:endParaRPr lang="en-US" sz="1150" dirty="0"/>
          </a:p>
        </p:txBody>
      </p:sp>
      <p:sp>
        <p:nvSpPr>
          <p:cNvPr id="9" name="Shape 7"/>
          <p:cNvSpPr/>
          <p:nvPr/>
        </p:nvSpPr>
        <p:spPr>
          <a:xfrm>
            <a:off x="4297680" y="1371600"/>
            <a:ext cx="3566160" cy="1554480"/>
          </a:xfrm>
          <a:prstGeom prst="roundRect">
            <a:avLst>
              <a:gd name="adj" fmla="val 4706"/>
            </a:avLst>
          </a:prstGeom>
          <a:solidFill>
            <a:srgbClr val="F7EEEF"/>
          </a:solidFill>
          <a:ln w="12700">
            <a:solidFill>
              <a:srgbClr val="F7EEEF"/>
            </a:solidFill>
            <a:prstDash val="solid"/>
          </a:ln>
        </p:spPr>
      </p:sp>
      <p:sp>
        <p:nvSpPr>
          <p:cNvPr id="10" name="Text 8"/>
          <p:cNvSpPr txBox="1"/>
          <p:nvPr/>
        </p:nvSpPr>
        <p:spPr>
          <a:xfrm>
            <a:off x="4434840" y="1463040"/>
            <a:ext cx="32918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Aset menyusut sendiri</a:t>
            </a:r>
            <a:endParaRPr lang="en-US" sz="1300" dirty="0"/>
          </a:p>
        </p:txBody>
      </p:sp>
      <p:sp>
        <p:nvSpPr>
          <p:cNvPr id="11" name="Text 9"/>
          <p:cNvSpPr txBox="1"/>
          <p:nvPr/>
        </p:nvSpPr>
        <p:spPr>
          <a:xfrm>
            <a:off x="4434840" y="1783080"/>
            <a:ext cx="3291840" cy="105156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Resource terdepresiasi seperti aset lain kalau dibiarkan tanpa perhatian.</a:t>
            </a:r>
            <a:endParaRPr lang="en-US" sz="1150" dirty="0"/>
          </a:p>
        </p:txBody>
      </p:sp>
      <p:sp>
        <p:nvSpPr>
          <p:cNvPr id="12" name="Shape 10"/>
          <p:cNvSpPr/>
          <p:nvPr/>
        </p:nvSpPr>
        <p:spPr>
          <a:xfrm>
            <a:off x="8046720" y="1371600"/>
            <a:ext cx="3566160" cy="1554480"/>
          </a:xfrm>
          <a:prstGeom prst="roundRect">
            <a:avLst>
              <a:gd name="adj" fmla="val 4706"/>
            </a:avLst>
          </a:prstGeom>
          <a:solidFill>
            <a:srgbClr val="F7EEEF"/>
          </a:solidFill>
          <a:ln w="12700">
            <a:solidFill>
              <a:srgbClr val="F7EEEF"/>
            </a:solidFill>
            <a:prstDash val="solid"/>
          </a:ln>
        </p:spPr>
      </p:sp>
      <p:sp>
        <p:nvSpPr>
          <p:cNvPr id="13" name="Text 11"/>
          <p:cNvSpPr txBox="1"/>
          <p:nvPr/>
        </p:nvSpPr>
        <p:spPr>
          <a:xfrm>
            <a:off x="8183880" y="1463040"/>
            <a:ext cx="32918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Pasar berubah</a:t>
            </a:r>
            <a:endParaRPr lang="en-US" sz="1300" dirty="0"/>
          </a:p>
        </p:txBody>
      </p:sp>
      <p:sp>
        <p:nvSpPr>
          <p:cNvPr id="14" name="Text 12"/>
          <p:cNvSpPr txBox="1"/>
          <p:nvPr/>
        </p:nvSpPr>
        <p:spPr>
          <a:xfrm>
            <a:off x="8183880" y="1783080"/>
            <a:ext cx="3291840" cy="105156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Teknologi, selera, atau jalur distribusi dapat mengubah aset strategis "dari berlian jadi karat".</a:t>
            </a:r>
            <a:endParaRPr lang="en-US" sz="1150" dirty="0"/>
          </a:p>
        </p:txBody>
      </p:sp>
      <p:sp>
        <p:nvSpPr>
          <p:cNvPr id="15" name="Shape 13"/>
          <p:cNvSpPr/>
          <p:nvPr/>
        </p:nvSpPr>
        <p:spPr>
          <a:xfrm>
            <a:off x="548640" y="3108960"/>
            <a:ext cx="11109960" cy="3108960"/>
          </a:xfrm>
          <a:prstGeom prst="roundRect">
            <a:avLst>
              <a:gd name="adj" fmla="val 2353"/>
            </a:avLst>
          </a:prstGeom>
          <a:solidFill>
            <a:srgbClr val="F7EEEF"/>
          </a:solidFill>
          <a:ln w="12700">
            <a:solidFill>
              <a:srgbClr val="F7EEEF"/>
            </a:solidFill>
            <a:prstDash val="solid"/>
          </a:ln>
        </p:spPr>
      </p:sp>
      <p:sp>
        <p:nvSpPr>
          <p:cNvPr id="16" name="Text 14"/>
          <p:cNvSpPr txBox="1"/>
          <p:nvPr/>
        </p:nvSpPr>
        <p:spPr>
          <a:xfrm>
            <a:off x="685800" y="3200400"/>
            <a:ext cx="10835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Dynamic capability</a:t>
            </a:r>
            <a:endParaRPr lang="en-US" sz="1300" dirty="0"/>
          </a:p>
        </p:txBody>
      </p:sp>
      <p:sp>
        <p:nvSpPr>
          <p:cNvPr id="17" name="Text 15"/>
          <p:cNvSpPr txBox="1"/>
          <p:nvPr/>
        </p:nvSpPr>
        <p:spPr>
          <a:xfrm>
            <a:off x="685800" y="3520440"/>
            <a:ext cx="10835640" cy="2606040"/>
          </a:xfrm>
          <a:prstGeom prst="rect">
            <a:avLst/>
          </a:prstGeom>
          <a:noFill/>
          <a:ln/>
        </p:spPr>
        <p:txBody>
          <a:bodyPr wrap="square" lIns="0" tIns="0" rIns="0" bIns="0" rtlCol="0" anchor="t"/>
          <a:lstStyle/>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Kapasitas berkelanjutan untuk memodifikasi resource dan capability yang ada atau menciptakan yang baru. Ia menjadi capability tersendiri ketika kegiatan memperbarui aset sudah menjadi rutinitas manajemen.</a:t>
            </a:r>
            <a:endParaRPr lang="en-US" sz="1300" dirty="0"/>
          </a:p>
          <a:p>
            <a:pPr indent="0" marL="0">
              <a:spcAft>
                <a:spcPts val="300"/>
              </a:spcAft>
              <a:buNone/>
            </a:pPr>
            <a:endParaRPr lang="en-US" sz="1300" dirty="0"/>
          </a:p>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Dua jalurnya: memperbaiki yang ada sedikit demi sedikit (Toyota terus menyempurnakan sistem produksinya; BMW mengembangkan kapabilitas mesin hibrida menjadi mobil listrik) dan menambah yang baru lewat aliansi atau akuisisi (GM bermitra dengan LG untuk platform mobil listrik; Bristol-Myers Squibb mengganti paten kedaluwarsa lewat akuisisi).</a:t>
            </a:r>
            <a:endParaRPr lang="en-US" sz="1300" dirty="0"/>
          </a:p>
          <a:p>
            <a:pPr indent="0" marL="0">
              <a:spcAft>
                <a:spcPts val="300"/>
              </a:spcAft>
              <a:buNone/>
            </a:pPr>
            <a:endParaRPr lang="en-US" sz="1300" dirty="0"/>
          </a:p>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Pertanyaan untuk kasus: kemampuan Manchester United membangun ulang skuad tiga kali tanpa kehilangan prestasi, milik klub atau milik Ferguson?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4 · FIGURE 4.3</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Rantai nilai perusahaan dan tiga selisih</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104–107; Figure 4.3 hlm. 106; Illustration Capsule 4.1 hlm. 107.</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pic>
        <p:nvPicPr>
          <p:cNvPr id="6" name="Image 0" descr="fig4_3.png">    </p:cNvPr>
          <p:cNvPicPr>
            <a:picLocks noChangeAspect="1"/>
          </p:cNvPicPr>
          <p:nvPr/>
        </p:nvPicPr>
        <p:blipFill>
          <a:blip r:embed="rId1"/>
          <a:stretch>
            <a:fillRect/>
          </a:stretch>
        </p:blipFill>
        <p:spPr>
          <a:xfrm>
            <a:off x="635145" y="1371600"/>
            <a:ext cx="3758910" cy="4846320"/>
          </a:xfrm>
          <a:prstGeom prst="rect">
            <a:avLst/>
          </a:prstGeom>
        </p:spPr>
      </p:pic>
      <p:pic>
        <p:nvPicPr>
          <p:cNvPr id="7" name="Image 1" descr="cap4_1.png">    </p:cNvPr>
          <p:cNvPicPr>
            <a:picLocks noChangeAspect="1"/>
          </p:cNvPicPr>
          <p:nvPr/>
        </p:nvPicPr>
        <p:blipFill>
          <a:blip r:embed="rId2"/>
          <a:stretch>
            <a:fillRect/>
          </a:stretch>
        </p:blipFill>
        <p:spPr>
          <a:xfrm>
            <a:off x="4663440" y="1371600"/>
            <a:ext cx="4206240" cy="2708516"/>
          </a:xfrm>
          <a:prstGeom prst="rect">
            <a:avLst/>
          </a:prstGeom>
        </p:spPr>
      </p:pic>
      <p:sp>
        <p:nvSpPr>
          <p:cNvPr id="8" name="Shape 4"/>
          <p:cNvSpPr/>
          <p:nvPr/>
        </p:nvSpPr>
        <p:spPr>
          <a:xfrm>
            <a:off x="4663440" y="4251960"/>
            <a:ext cx="4206240" cy="1965960"/>
          </a:xfrm>
          <a:prstGeom prst="roundRect">
            <a:avLst>
              <a:gd name="adj" fmla="val 3721"/>
            </a:avLst>
          </a:prstGeom>
          <a:solidFill>
            <a:srgbClr val="F7EEEF"/>
          </a:solidFill>
          <a:ln w="12700">
            <a:solidFill>
              <a:srgbClr val="F7EEEF"/>
            </a:solidFill>
            <a:prstDash val="solid"/>
          </a:ln>
        </p:spPr>
      </p:sp>
      <p:sp>
        <p:nvSpPr>
          <p:cNvPr id="9" name="Text 5"/>
          <p:cNvSpPr txBox="1"/>
          <p:nvPr/>
        </p:nvSpPr>
        <p:spPr>
          <a:xfrm>
            <a:off x="4800600" y="4343400"/>
            <a:ext cx="39319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Contoh angka dari Capsule 4.1</a:t>
            </a:r>
            <a:endParaRPr lang="en-US" sz="1300" dirty="0"/>
          </a:p>
        </p:txBody>
      </p:sp>
      <p:sp>
        <p:nvSpPr>
          <p:cNvPr id="10" name="Text 6"/>
          <p:cNvSpPr txBox="1"/>
          <p:nvPr/>
        </p:nvSpPr>
        <p:spPr>
          <a:xfrm>
            <a:off x="4800600" y="4663440"/>
            <a:ext cx="3931920" cy="14630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Sepasang jeans Everlane: biaya total $19,60; harga jual $88; margin $68,40; harga peritel tradisional $103. Inilah wujud activity-based costing yang dituntut buku.</a:t>
            </a:r>
            <a:endParaRPr lang="en-US" sz="1150" dirty="0"/>
          </a:p>
        </p:txBody>
      </p:sp>
      <p:sp>
        <p:nvSpPr>
          <p:cNvPr id="11" name="Shape 7"/>
          <p:cNvSpPr/>
          <p:nvPr/>
        </p:nvSpPr>
        <p:spPr>
          <a:xfrm>
            <a:off x="9052560" y="1371600"/>
            <a:ext cx="2560320" cy="4846320"/>
          </a:xfrm>
          <a:prstGeom prst="roundRect">
            <a:avLst>
              <a:gd name="adj" fmla="val 2857"/>
            </a:avLst>
          </a:prstGeom>
          <a:solidFill>
            <a:srgbClr val="F7EEEF"/>
          </a:solidFill>
          <a:ln w="12700">
            <a:solidFill>
              <a:srgbClr val="F7EEEF"/>
            </a:solidFill>
            <a:prstDash val="solid"/>
          </a:ln>
        </p:spPr>
      </p:sp>
      <p:sp>
        <p:nvSpPr>
          <p:cNvPr id="12" name="Text 8"/>
          <p:cNvSpPr txBox="1"/>
          <p:nvPr/>
        </p:nvSpPr>
        <p:spPr>
          <a:xfrm>
            <a:off x="9189720" y="1463040"/>
            <a:ext cx="228600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Tiga selisih</a:t>
            </a:r>
            <a:endParaRPr lang="en-US" sz="1300" dirty="0"/>
          </a:p>
        </p:txBody>
      </p:sp>
      <p:sp>
        <p:nvSpPr>
          <p:cNvPr id="13" name="Text 9"/>
          <p:cNvSpPr txBox="1"/>
          <p:nvPr/>
        </p:nvSpPr>
        <p:spPr>
          <a:xfrm>
            <a:off x="9189720" y="1783080"/>
            <a:ext cx="2286000" cy="43434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V − P: nilai yang diterima pelanggan (customer value proposition).</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P − C: margin laba perusahaan.</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V − C: total economic value.</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Daftar aktivitas Figure 4.3 ilustratif, bukan definitif: rantai pasok krusial bagi Boeing, tidak ada pada Goldman Sachs. Aktivitas utama klub sepak bola harus dirumuskan ulang.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4 · FIGURE 4.4</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Sistem rantai nilai dan benchmarking</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Figure 4.4 hlm. 109; benchmarking hlm. 109–111; Illustration Capsule 4.3 hlm. 111.</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pic>
        <p:nvPicPr>
          <p:cNvPr id="6" name="Image 0" descr="fig4_4.png">    </p:cNvPr>
          <p:cNvPicPr>
            <a:picLocks noChangeAspect="1"/>
          </p:cNvPicPr>
          <p:nvPr/>
        </p:nvPicPr>
        <p:blipFill>
          <a:blip r:embed="rId1"/>
          <a:stretch>
            <a:fillRect/>
          </a:stretch>
        </p:blipFill>
        <p:spPr>
          <a:xfrm>
            <a:off x="548640" y="1371600"/>
            <a:ext cx="6583680" cy="2866929"/>
          </a:xfrm>
          <a:prstGeom prst="rect">
            <a:avLst/>
          </a:prstGeom>
        </p:spPr>
      </p:pic>
      <p:sp>
        <p:nvSpPr>
          <p:cNvPr id="7" name="Shape 4"/>
          <p:cNvSpPr/>
          <p:nvPr/>
        </p:nvSpPr>
        <p:spPr>
          <a:xfrm>
            <a:off x="548640" y="4434840"/>
            <a:ext cx="6583680" cy="1783080"/>
          </a:xfrm>
          <a:prstGeom prst="roundRect">
            <a:avLst>
              <a:gd name="adj" fmla="val 4103"/>
            </a:avLst>
          </a:prstGeom>
          <a:solidFill>
            <a:srgbClr val="F7EEEF"/>
          </a:solidFill>
          <a:ln w="12700">
            <a:solidFill>
              <a:srgbClr val="F7EEEF"/>
            </a:solidFill>
            <a:prstDash val="solid"/>
          </a:ln>
        </p:spPr>
      </p:sp>
      <p:sp>
        <p:nvSpPr>
          <p:cNvPr id="8" name="Text 5"/>
          <p:cNvSpPr txBox="1"/>
          <p:nvPr/>
        </p:nvSpPr>
        <p:spPr>
          <a:xfrm>
            <a:off x="685800" y="4526280"/>
            <a:ext cx="63093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Sistem rantai nilai</a:t>
            </a:r>
            <a:endParaRPr lang="en-US" sz="1300" dirty="0"/>
          </a:p>
        </p:txBody>
      </p:sp>
      <p:sp>
        <p:nvSpPr>
          <p:cNvPr id="9" name="Text 6"/>
          <p:cNvSpPr txBox="1"/>
          <p:nvPr/>
        </p:nvSpPr>
        <p:spPr>
          <a:xfrm>
            <a:off x="685800" y="4846320"/>
            <a:ext cx="6309360" cy="128016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Biaya dan mutu yang sampai ke pembeli ditentukan seluruh rantai: pemasok, perusahaan, mitra hilir, pengguna akhir. Kerugian biaya dapat diatasi di ketiga mata rantai, bukan hanya di dalam perusahaan.</a:t>
            </a:r>
            <a:endParaRPr lang="en-US" sz="1150" dirty="0"/>
          </a:p>
        </p:txBody>
      </p:sp>
      <p:sp>
        <p:nvSpPr>
          <p:cNvPr id="10" name="Shape 7"/>
          <p:cNvSpPr/>
          <p:nvPr/>
        </p:nvSpPr>
        <p:spPr>
          <a:xfrm>
            <a:off x="7315200" y="1371600"/>
            <a:ext cx="4297680" cy="2834640"/>
          </a:xfrm>
          <a:prstGeom prst="roundRect">
            <a:avLst>
              <a:gd name="adj" fmla="val 2581"/>
            </a:avLst>
          </a:prstGeom>
          <a:solidFill>
            <a:srgbClr val="F7EEEF"/>
          </a:solidFill>
          <a:ln w="12700">
            <a:solidFill>
              <a:srgbClr val="F7EEEF"/>
            </a:solidFill>
            <a:prstDash val="solid"/>
          </a:ln>
        </p:spPr>
      </p:sp>
      <p:sp>
        <p:nvSpPr>
          <p:cNvPr id="11" name="Text 8"/>
          <p:cNvSpPr txBox="1"/>
          <p:nvPr/>
        </p:nvSpPr>
        <p:spPr>
          <a:xfrm>
            <a:off x="7452360" y="1463040"/>
            <a:ext cx="40233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Benchmarking dan best practice</a:t>
            </a:r>
            <a:endParaRPr lang="en-US" sz="1300" dirty="0"/>
          </a:p>
        </p:txBody>
      </p:sp>
      <p:sp>
        <p:nvSpPr>
          <p:cNvPr id="12" name="Text 9"/>
          <p:cNvSpPr txBox="1"/>
          <p:nvPr/>
        </p:nvSpPr>
        <p:spPr>
          <a:xfrm>
            <a:off x="7452360" y="1783080"/>
            <a:ext cx="4023360" cy="233172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Membandingkan cara dan biaya perusahaan lain mengerjakan aktivitas yang sama, lalu meniru cara terbaiknya. Best practice harus sudah terbukti konsisten lebih baik pada sekurang-kurangnya satu perusahaan.</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Xerox pelopornya; Toyota meniru pengisian rak supermarket; Southwest meniru kru pit balap mobil.</a:t>
            </a:r>
            <a:endParaRPr lang="en-US" sz="1150" dirty="0"/>
          </a:p>
        </p:txBody>
      </p:sp>
      <p:sp>
        <p:nvSpPr>
          <p:cNvPr id="13" name="Shape 10"/>
          <p:cNvSpPr/>
          <p:nvPr/>
        </p:nvSpPr>
        <p:spPr>
          <a:xfrm>
            <a:off x="7315200" y="4343400"/>
            <a:ext cx="4297680" cy="1874520"/>
          </a:xfrm>
          <a:prstGeom prst="roundRect">
            <a:avLst>
              <a:gd name="adj" fmla="val 3902"/>
            </a:avLst>
          </a:prstGeom>
          <a:solidFill>
            <a:srgbClr val="F7EEEF"/>
          </a:solidFill>
          <a:ln w="12700">
            <a:solidFill>
              <a:srgbClr val="F7EEEF"/>
            </a:solidFill>
            <a:prstDash val="solid"/>
          </a:ln>
        </p:spPr>
      </p:sp>
      <p:sp>
        <p:nvSpPr>
          <p:cNvPr id="14" name="Text 11"/>
          <p:cNvSpPr txBox="1"/>
          <p:nvPr/>
        </p:nvSpPr>
        <p:spPr>
          <a:xfrm>
            <a:off x="7452360" y="4434840"/>
            <a:ext cx="40233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Etika benchmarking (Capsule 4.3)</a:t>
            </a:r>
            <a:endParaRPr lang="en-US" sz="1300" dirty="0"/>
          </a:p>
        </p:txBody>
      </p:sp>
      <p:sp>
        <p:nvSpPr>
          <p:cNvPr id="15" name="Text 12"/>
          <p:cNvSpPr txBox="1"/>
          <p:nvPr/>
        </p:nvSpPr>
        <p:spPr>
          <a:xfrm>
            <a:off x="7452360" y="4754880"/>
            <a:ext cx="4023360" cy="13716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Jangan membicarakan biaya dengan pesaing bila biaya adalah unsur harga. Data diperoleh dari laporan publik, asosiasi, kunjungan lapangan, atau konsultan yang menyamarkan nama perusahaan.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4 · TINDAKAN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Kalau biaya atau nilainya kalah, apa yang dilakukan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112–114.</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371600"/>
            <a:ext cx="3611880" cy="3931920"/>
          </a:xfrm>
          <a:prstGeom prst="roundRect">
            <a:avLst>
              <a:gd name="adj" fmla="val 2025"/>
            </a:avLst>
          </a:prstGeom>
          <a:solidFill>
            <a:srgbClr val="F7EEEF"/>
          </a:solidFill>
          <a:ln w="12700">
            <a:solidFill>
              <a:srgbClr val="F7EEEF"/>
            </a:solidFill>
            <a:prstDash val="solid"/>
          </a:ln>
        </p:spPr>
      </p:sp>
      <p:sp>
        <p:nvSpPr>
          <p:cNvPr id="7" name="Text 5"/>
          <p:cNvSpPr txBox="1"/>
          <p:nvPr/>
        </p:nvSpPr>
        <p:spPr>
          <a:xfrm>
            <a:off x="685800" y="1463040"/>
            <a:ext cx="3337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1. Aktivitas internal</a:t>
            </a:r>
            <a:endParaRPr lang="en-US" sz="1300" dirty="0"/>
          </a:p>
        </p:txBody>
      </p:sp>
      <p:sp>
        <p:nvSpPr>
          <p:cNvPr id="8" name="Text 6"/>
          <p:cNvSpPr txBox="1"/>
          <p:nvPr/>
        </p:nvSpPr>
        <p:spPr>
          <a:xfrm>
            <a:off x="685800" y="1783080"/>
            <a:ext cx="3337560" cy="34290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Terapkan best practice di aktivitas mahal</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Hapus aktivitas dengan merombak rantai nilai</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Relokasi ke wilayah berbiaya rendah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Alih daya bila vendor lebih murah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Investasi teknologi penghemat biaya</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Cari jalan memutar aktivitas mahal</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Rancang ulang produk</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Untuk nilai: best practice pada desain, mutu, layanan, merek; realokasi sumber daya</a:t>
            </a:r>
            <a:endParaRPr lang="en-US" sz="1150" dirty="0"/>
          </a:p>
        </p:txBody>
      </p:sp>
      <p:sp>
        <p:nvSpPr>
          <p:cNvPr id="9" name="Shape 7"/>
          <p:cNvSpPr/>
          <p:nvPr/>
        </p:nvSpPr>
        <p:spPr>
          <a:xfrm>
            <a:off x="4297680" y="1371600"/>
            <a:ext cx="3611880" cy="3931920"/>
          </a:xfrm>
          <a:prstGeom prst="roundRect">
            <a:avLst>
              <a:gd name="adj" fmla="val 2025"/>
            </a:avLst>
          </a:prstGeom>
          <a:solidFill>
            <a:srgbClr val="F7EEEF"/>
          </a:solidFill>
          <a:ln w="12700">
            <a:solidFill>
              <a:srgbClr val="F7EEEF"/>
            </a:solidFill>
            <a:prstDash val="solid"/>
          </a:ln>
        </p:spPr>
      </p:sp>
      <p:sp>
        <p:nvSpPr>
          <p:cNvPr id="10" name="Text 8"/>
          <p:cNvSpPr txBox="1"/>
          <p:nvPr/>
        </p:nvSpPr>
        <p:spPr>
          <a:xfrm>
            <a:off x="4434840" y="1463040"/>
            <a:ext cx="3337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2. Bagian pemasok</a:t>
            </a:r>
            <a:endParaRPr lang="en-US" sz="1300" dirty="0"/>
          </a:p>
        </p:txBody>
      </p:sp>
      <p:sp>
        <p:nvSpPr>
          <p:cNvPr id="11" name="Text 9"/>
          <p:cNvSpPr txBox="1"/>
          <p:nvPr/>
        </p:nvSpPr>
        <p:spPr>
          <a:xfrm>
            <a:off x="4434840" y="1783080"/>
            <a:ext cx="3337560" cy="34290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Tekan harga beli</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Ganti ke input pengganti yang lebih murah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Kolaborasi mencari penghematan bersama (just-in-time)</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Integrasi ke belakang bila lebih murah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Untuk nilai: pilih pemasok bermutu tinggi, libatkan sejak desain</a:t>
            </a:r>
            <a:endParaRPr lang="en-US" sz="1150" dirty="0"/>
          </a:p>
        </p:txBody>
      </p:sp>
      <p:sp>
        <p:nvSpPr>
          <p:cNvPr id="12" name="Shape 10"/>
          <p:cNvSpPr/>
          <p:nvPr/>
        </p:nvSpPr>
        <p:spPr>
          <a:xfrm>
            <a:off x="8046720" y="1371600"/>
            <a:ext cx="3566160" cy="3931920"/>
          </a:xfrm>
          <a:prstGeom prst="roundRect">
            <a:avLst>
              <a:gd name="adj" fmla="val 2051"/>
            </a:avLst>
          </a:prstGeom>
          <a:solidFill>
            <a:srgbClr val="F7EEEF"/>
          </a:solidFill>
          <a:ln w="12700">
            <a:solidFill>
              <a:srgbClr val="F7EEEF"/>
            </a:solidFill>
            <a:prstDash val="solid"/>
          </a:ln>
        </p:spPr>
      </p:sp>
      <p:sp>
        <p:nvSpPr>
          <p:cNvPr id="13" name="Text 11"/>
          <p:cNvSpPr txBox="1"/>
          <p:nvPr/>
        </p:nvSpPr>
        <p:spPr>
          <a:xfrm>
            <a:off x="8183880" y="1463040"/>
            <a:ext cx="32918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3. Mitra hilir</a:t>
            </a:r>
            <a:endParaRPr lang="en-US" sz="1300" dirty="0"/>
          </a:p>
        </p:txBody>
      </p:sp>
      <p:sp>
        <p:nvSpPr>
          <p:cNvPr id="14" name="Text 12"/>
          <p:cNvSpPr txBox="1"/>
          <p:nvPr/>
        </p:nvSpPr>
        <p:spPr>
          <a:xfrm>
            <a:off x="8183880" y="1783080"/>
            <a:ext cx="3291840" cy="34290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Tekan biaya dan markup distributor</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Kolaborasi win-win (jendela kirim dua hari Walmart dan Target)</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Ubah jalur distribusi, termasuk jual langsung lewat internet</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Integrasi ke depan: gerai sendiri</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Untuk nilai: iklan bersama, perjanjian eksklusif, pelatihan mitra</a:t>
            </a:r>
            <a:endParaRPr lang="en-US" sz="1150" dirty="0"/>
          </a:p>
        </p:txBody>
      </p:sp>
      <p:sp>
        <p:nvSpPr>
          <p:cNvPr id="15" name="Shape 13"/>
          <p:cNvSpPr/>
          <p:nvPr/>
        </p:nvSpPr>
        <p:spPr>
          <a:xfrm>
            <a:off x="548640" y="5486400"/>
            <a:ext cx="11064240" cy="777240"/>
          </a:xfrm>
          <a:prstGeom prst="roundRect">
            <a:avLst>
              <a:gd name="adj" fmla="val 9412"/>
            </a:avLst>
          </a:prstGeom>
          <a:solidFill>
            <a:srgbClr val="FBEBD0"/>
          </a:solidFill>
          <a:ln w="12700">
            <a:solidFill>
              <a:srgbClr val="FBEBD0"/>
            </a:solidFill>
            <a:prstDash val="solid"/>
          </a:ln>
        </p:spPr>
      </p:sp>
      <p:sp>
        <p:nvSpPr>
          <p:cNvPr id="16" name="Text 14"/>
          <p:cNvSpPr txBox="1"/>
          <p:nvPr/>
        </p:nvSpPr>
        <p:spPr>
          <a:xfrm>
            <a:off x="685800" y="5596128"/>
            <a:ext cx="10789920" cy="557784"/>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Dua cara mengubah kerja rantai nilai menjadi keunggulan: lebih efisien sehingga biaya lebih rendah (Ryanair, Nucor, TJX), atau menjadi dasar diferensiasi sehingga pelanggan membayar lebih (Rolex, Braun, L.L. Bean, FedEx).</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5 · TABLE 4.4</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Matriks kekuatan kompetitif tertimbang</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115–118; Table 4.4 hlm. 116.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pic>
        <p:nvPicPr>
          <p:cNvPr id="6" name="Image 0" descr="tab4_4.png">    </p:cNvPr>
          <p:cNvPicPr>
            <a:picLocks noChangeAspect="1"/>
          </p:cNvPicPr>
          <p:nvPr/>
        </p:nvPicPr>
        <p:blipFill>
          <a:blip r:embed="rId1"/>
          <a:stretch>
            <a:fillRect/>
          </a:stretch>
        </p:blipFill>
        <p:spPr>
          <a:xfrm>
            <a:off x="674830" y="1371600"/>
            <a:ext cx="5508339" cy="4846320"/>
          </a:xfrm>
          <a:prstGeom prst="rect">
            <a:avLst/>
          </a:prstGeom>
        </p:spPr>
      </p:pic>
      <p:sp>
        <p:nvSpPr>
          <p:cNvPr id="7" name="Shape 4"/>
          <p:cNvSpPr/>
          <p:nvPr/>
        </p:nvSpPr>
        <p:spPr>
          <a:xfrm>
            <a:off x="6583680" y="1508760"/>
            <a:ext cx="411480" cy="411480"/>
          </a:xfrm>
          <a:prstGeom prst="ellipse">
            <a:avLst/>
          </a:prstGeom>
          <a:solidFill>
            <a:srgbClr val="8C1D2B"/>
          </a:solidFill>
          <a:ln w="12700">
            <a:solidFill>
              <a:srgbClr val="8C1D2B"/>
            </a:solidFill>
            <a:prstDash val="solid"/>
          </a:ln>
        </p:spPr>
      </p:sp>
      <p:sp>
        <p:nvSpPr>
          <p:cNvPr id="8" name="Text 5"/>
          <p:cNvSpPr txBox="1"/>
          <p:nvPr/>
        </p:nvSpPr>
        <p:spPr>
          <a:xfrm>
            <a:off x="6583680" y="15087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Text 6"/>
          <p:cNvSpPr txBox="1"/>
          <p:nvPr/>
        </p:nvSpPr>
        <p:spPr>
          <a:xfrm>
            <a:off x="7132320" y="1371600"/>
            <a:ext cx="4480560" cy="731520"/>
          </a:xfrm>
          <a:prstGeom prst="rect">
            <a:avLst/>
          </a:prstGeom>
          <a:noFill/>
          <a:ln/>
        </p:spPr>
        <p:txBody>
          <a:bodyPr wrap="square" lIns="0" tIns="0" rIns="0" bIns="0" rtlCol="0" anchor="t"/>
          <a:lstStyle/>
          <a:p>
            <a:pPr indent="0" marL="0">
              <a:buNone/>
            </a:pPr>
            <a:r>
              <a:rPr lang="en-US" sz="1250" b="1" dirty="0">
                <a:solidFill>
                  <a:srgbClr val="8C1D2B"/>
                </a:solidFill>
                <a:latin typeface="Calibri" pitchFamily="34" charset="0"/>
                <a:ea typeface="Calibri" pitchFamily="34" charset="-122"/>
                <a:cs typeface="Calibri" pitchFamily="34" charset="-120"/>
              </a:rPr>
              <a:t>Daftar KSF. </a:t>
            </a:r>
            <a:pPr indent="0" marL="0">
              <a:buNone/>
            </a:pPr>
            <a:r>
              <a:rPr lang="en-US" sz="1250" dirty="0">
                <a:solidFill>
                  <a:srgbClr val="2B2B2B"/>
                </a:solidFill>
                <a:latin typeface="Calibri" pitchFamily="34" charset="0"/>
                <a:ea typeface="Calibri" pitchFamily="34" charset="-122"/>
                <a:cs typeface="Calibri" pitchFamily="34" charset="-120"/>
              </a:rPr>
              <a:t>Susun 6–10 faktor kunci keberhasilan dan ukuran kekuatan lain.</a:t>
            </a:r>
            <a:endParaRPr lang="en-US" sz="1250" dirty="0"/>
          </a:p>
        </p:txBody>
      </p:sp>
      <p:sp>
        <p:nvSpPr>
          <p:cNvPr id="10" name="Shape 7"/>
          <p:cNvSpPr/>
          <p:nvPr/>
        </p:nvSpPr>
        <p:spPr>
          <a:xfrm>
            <a:off x="6583680" y="2331720"/>
            <a:ext cx="411480" cy="411480"/>
          </a:xfrm>
          <a:prstGeom prst="ellipse">
            <a:avLst/>
          </a:prstGeom>
          <a:solidFill>
            <a:srgbClr val="8C1D2B"/>
          </a:solidFill>
          <a:ln w="12700">
            <a:solidFill>
              <a:srgbClr val="8C1D2B"/>
            </a:solidFill>
            <a:prstDash val="solid"/>
          </a:ln>
        </p:spPr>
      </p:sp>
      <p:sp>
        <p:nvSpPr>
          <p:cNvPr id="11" name="Text 8"/>
          <p:cNvSpPr txBox="1"/>
          <p:nvPr/>
        </p:nvSpPr>
        <p:spPr>
          <a:xfrm>
            <a:off x="6583680" y="233172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2" name="Text 9"/>
          <p:cNvSpPr txBox="1"/>
          <p:nvPr/>
        </p:nvSpPr>
        <p:spPr>
          <a:xfrm>
            <a:off x="7132320" y="2194560"/>
            <a:ext cx="4480560" cy="731520"/>
          </a:xfrm>
          <a:prstGeom prst="rect">
            <a:avLst/>
          </a:prstGeom>
          <a:noFill/>
          <a:ln/>
        </p:spPr>
        <p:txBody>
          <a:bodyPr wrap="square" lIns="0" tIns="0" rIns="0" bIns="0" rtlCol="0" anchor="t"/>
          <a:lstStyle/>
          <a:p>
            <a:pPr indent="0" marL="0">
              <a:buNone/>
            </a:pPr>
            <a:r>
              <a:rPr lang="en-US" sz="1250" b="1" dirty="0">
                <a:solidFill>
                  <a:srgbClr val="8C1D2B"/>
                </a:solidFill>
                <a:latin typeface="Calibri" pitchFamily="34" charset="0"/>
                <a:ea typeface="Calibri" pitchFamily="34" charset="-122"/>
                <a:cs typeface="Calibri" pitchFamily="34" charset="-120"/>
              </a:rPr>
              <a:t>Beri bobot. </a:t>
            </a:r>
            <a:pPr indent="0" marL="0">
              <a:buNone/>
            </a:pPr>
            <a:r>
              <a:rPr lang="en-US" sz="1250" dirty="0">
                <a:solidFill>
                  <a:srgbClr val="2B2B2B"/>
                </a:solidFill>
                <a:latin typeface="Calibri" pitchFamily="34" charset="0"/>
                <a:ea typeface="Calibri" pitchFamily="34" charset="-122"/>
                <a:cs typeface="Calibri" pitchFamily="34" charset="-120"/>
              </a:rPr>
              <a:t>Sesuai kepentingan; jumlah bobot harus 1,00.</a:t>
            </a:r>
            <a:endParaRPr lang="en-US" sz="1250" dirty="0"/>
          </a:p>
        </p:txBody>
      </p:sp>
      <p:sp>
        <p:nvSpPr>
          <p:cNvPr id="13" name="Shape 10"/>
          <p:cNvSpPr/>
          <p:nvPr/>
        </p:nvSpPr>
        <p:spPr>
          <a:xfrm>
            <a:off x="6583680" y="3154680"/>
            <a:ext cx="411480" cy="411480"/>
          </a:xfrm>
          <a:prstGeom prst="ellipse">
            <a:avLst/>
          </a:prstGeom>
          <a:solidFill>
            <a:srgbClr val="8C1D2B"/>
          </a:solidFill>
          <a:ln w="12700">
            <a:solidFill>
              <a:srgbClr val="8C1D2B"/>
            </a:solidFill>
            <a:prstDash val="solid"/>
          </a:ln>
        </p:spPr>
      </p:sp>
      <p:sp>
        <p:nvSpPr>
          <p:cNvPr id="14" name="Text 11"/>
          <p:cNvSpPr txBox="1"/>
          <p:nvPr/>
        </p:nvSpPr>
        <p:spPr>
          <a:xfrm>
            <a:off x="6583680" y="315468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5" name="Text 12"/>
          <p:cNvSpPr txBox="1"/>
          <p:nvPr/>
        </p:nvSpPr>
        <p:spPr>
          <a:xfrm>
            <a:off x="7132320" y="3017520"/>
            <a:ext cx="4480560" cy="731520"/>
          </a:xfrm>
          <a:prstGeom prst="rect">
            <a:avLst/>
          </a:prstGeom>
          <a:noFill/>
          <a:ln/>
        </p:spPr>
        <p:txBody>
          <a:bodyPr wrap="square" lIns="0" tIns="0" rIns="0" bIns="0" rtlCol="0" anchor="t"/>
          <a:lstStyle/>
          <a:p>
            <a:pPr indent="0" marL="0">
              <a:buNone/>
            </a:pPr>
            <a:r>
              <a:rPr lang="en-US" sz="1250" b="1" dirty="0">
                <a:solidFill>
                  <a:srgbClr val="8C1D2B"/>
                </a:solidFill>
                <a:latin typeface="Calibri" pitchFamily="34" charset="0"/>
                <a:ea typeface="Calibri" pitchFamily="34" charset="-122"/>
                <a:cs typeface="Calibri" pitchFamily="34" charset="-120"/>
              </a:rPr>
              <a:t>Beri rating. </a:t>
            </a:r>
            <a:pPr indent="0" marL="0">
              <a:buNone/>
            </a:pPr>
            <a:r>
              <a:rPr lang="en-US" sz="1250" dirty="0">
                <a:solidFill>
                  <a:srgbClr val="2B2B2B"/>
                </a:solidFill>
                <a:latin typeface="Calibri" pitchFamily="34" charset="0"/>
                <a:ea typeface="Calibri" pitchFamily="34" charset="-122"/>
                <a:cs typeface="Calibri" pitchFamily="34" charset="-120"/>
              </a:rPr>
              <a:t>Skala 1 sampai 10 untuk setiap pesaing.</a:t>
            </a:r>
            <a:endParaRPr lang="en-US" sz="1250" dirty="0"/>
          </a:p>
        </p:txBody>
      </p:sp>
      <p:sp>
        <p:nvSpPr>
          <p:cNvPr id="16" name="Shape 13"/>
          <p:cNvSpPr/>
          <p:nvPr/>
        </p:nvSpPr>
        <p:spPr>
          <a:xfrm>
            <a:off x="6583680" y="3977640"/>
            <a:ext cx="411480" cy="411480"/>
          </a:xfrm>
          <a:prstGeom prst="ellipse">
            <a:avLst/>
          </a:prstGeom>
          <a:solidFill>
            <a:srgbClr val="8C1D2B"/>
          </a:solidFill>
          <a:ln w="12700">
            <a:solidFill>
              <a:srgbClr val="8C1D2B"/>
            </a:solidFill>
            <a:prstDash val="solid"/>
          </a:ln>
        </p:spPr>
      </p:sp>
      <p:sp>
        <p:nvSpPr>
          <p:cNvPr id="17" name="Text 14"/>
          <p:cNvSpPr txBox="1"/>
          <p:nvPr/>
        </p:nvSpPr>
        <p:spPr>
          <a:xfrm>
            <a:off x="6583680" y="397764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18" name="Text 15"/>
          <p:cNvSpPr txBox="1"/>
          <p:nvPr/>
        </p:nvSpPr>
        <p:spPr>
          <a:xfrm>
            <a:off x="7132320" y="3840480"/>
            <a:ext cx="4480560" cy="731520"/>
          </a:xfrm>
          <a:prstGeom prst="rect">
            <a:avLst/>
          </a:prstGeom>
          <a:noFill/>
          <a:ln/>
        </p:spPr>
        <p:txBody>
          <a:bodyPr wrap="square" lIns="0" tIns="0" rIns="0" bIns="0" rtlCol="0" anchor="t"/>
          <a:lstStyle/>
          <a:p>
            <a:pPr indent="0" marL="0">
              <a:buNone/>
            </a:pPr>
            <a:r>
              <a:rPr lang="en-US" sz="1250" b="1" dirty="0">
                <a:solidFill>
                  <a:srgbClr val="8C1D2B"/>
                </a:solidFill>
                <a:latin typeface="Calibri" pitchFamily="34" charset="0"/>
                <a:ea typeface="Calibri" pitchFamily="34" charset="-122"/>
                <a:cs typeface="Calibri" pitchFamily="34" charset="-120"/>
              </a:rPr>
              <a:t>Kalikan dan jumlahkan. </a:t>
            </a:r>
            <a:pPr indent="0" marL="0">
              <a:buNone/>
            </a:pPr>
            <a:r>
              <a:rPr lang="en-US" sz="1250" dirty="0">
                <a:solidFill>
                  <a:srgbClr val="2B2B2B"/>
                </a:solidFill>
                <a:latin typeface="Calibri" pitchFamily="34" charset="0"/>
                <a:ea typeface="Calibri" pitchFamily="34" charset="-122"/>
                <a:cs typeface="Calibri" pitchFamily="34" charset="-120"/>
              </a:rPr>
              <a:t>Rating × bobot, lalu jumlahkan per perusahaan.</a:t>
            </a:r>
            <a:endParaRPr lang="en-US" sz="1250" dirty="0"/>
          </a:p>
        </p:txBody>
      </p:sp>
      <p:sp>
        <p:nvSpPr>
          <p:cNvPr id="19" name="Shape 16"/>
          <p:cNvSpPr/>
          <p:nvPr/>
        </p:nvSpPr>
        <p:spPr>
          <a:xfrm>
            <a:off x="6583680" y="4800600"/>
            <a:ext cx="411480" cy="411480"/>
          </a:xfrm>
          <a:prstGeom prst="ellipse">
            <a:avLst/>
          </a:prstGeom>
          <a:solidFill>
            <a:srgbClr val="8C1D2B"/>
          </a:solidFill>
          <a:ln w="12700">
            <a:solidFill>
              <a:srgbClr val="8C1D2B"/>
            </a:solidFill>
            <a:prstDash val="solid"/>
          </a:ln>
        </p:spPr>
      </p:sp>
      <p:sp>
        <p:nvSpPr>
          <p:cNvPr id="20" name="Text 17"/>
          <p:cNvSpPr txBox="1"/>
          <p:nvPr/>
        </p:nvSpPr>
        <p:spPr>
          <a:xfrm>
            <a:off x="6583680" y="480060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1" name="Text 18"/>
          <p:cNvSpPr txBox="1"/>
          <p:nvPr/>
        </p:nvSpPr>
        <p:spPr>
          <a:xfrm>
            <a:off x="7132320" y="4663440"/>
            <a:ext cx="4480560" cy="731520"/>
          </a:xfrm>
          <a:prstGeom prst="rect">
            <a:avLst/>
          </a:prstGeom>
          <a:noFill/>
          <a:ln/>
        </p:spPr>
        <p:txBody>
          <a:bodyPr wrap="square" lIns="0" tIns="0" rIns="0" bIns="0" rtlCol="0" anchor="t"/>
          <a:lstStyle/>
          <a:p>
            <a:pPr indent="0" marL="0">
              <a:buNone/>
            </a:pPr>
            <a:r>
              <a:rPr lang="en-US" sz="1250" b="1" dirty="0">
                <a:solidFill>
                  <a:srgbClr val="8C1D2B"/>
                </a:solidFill>
                <a:latin typeface="Calibri" pitchFamily="34" charset="0"/>
                <a:ea typeface="Calibri" pitchFamily="34" charset="-122"/>
                <a:cs typeface="Calibri" pitchFamily="34" charset="-120"/>
              </a:rPr>
              <a:t>Tarik simpulan. </a:t>
            </a:r>
            <a:pPr indent="0" marL="0">
              <a:buNone/>
            </a:pPr>
            <a:r>
              <a:rPr lang="en-US" sz="1250" dirty="0">
                <a:solidFill>
                  <a:srgbClr val="2B2B2B"/>
                </a:solidFill>
                <a:latin typeface="Calibri" pitchFamily="34" charset="0"/>
                <a:ea typeface="Calibri" pitchFamily="34" charset="-122"/>
                <a:cs typeface="Calibri" pitchFamily="34" charset="-120"/>
              </a:rPr>
              <a:t>Besar keunggulan atau kerugian bersih; area kuat dan lemah.</a:t>
            </a:r>
            <a:endParaRPr lang="en-US" sz="1250" dirty="0"/>
          </a:p>
        </p:txBody>
      </p:sp>
      <p:sp>
        <p:nvSpPr>
          <p:cNvPr id="22" name="Shape 19"/>
          <p:cNvSpPr/>
          <p:nvPr/>
        </p:nvSpPr>
        <p:spPr>
          <a:xfrm>
            <a:off x="6583680" y="5532120"/>
            <a:ext cx="5029200" cy="731520"/>
          </a:xfrm>
          <a:prstGeom prst="roundRect">
            <a:avLst>
              <a:gd name="adj" fmla="val 10000"/>
            </a:avLst>
          </a:prstGeom>
          <a:solidFill>
            <a:srgbClr val="FBEBD0"/>
          </a:solidFill>
          <a:ln w="12700">
            <a:solidFill>
              <a:srgbClr val="FBEBD0"/>
            </a:solidFill>
            <a:prstDash val="solid"/>
          </a:ln>
        </p:spPr>
      </p:sp>
      <p:sp>
        <p:nvSpPr>
          <p:cNvPr id="23" name="Text 20"/>
          <p:cNvSpPr txBox="1"/>
          <p:nvPr/>
        </p:nvSpPr>
        <p:spPr>
          <a:xfrm>
            <a:off x="6720840" y="5641848"/>
            <a:ext cx="4754880" cy="512064"/>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Serang di faktor tempat kita kuat dan pesaing lemah; bertahan di faktor tempat pesaing kuat dan kita lemah.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6</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Isu apa yang harus ditangani lebih dulu?</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hlm. 118.</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371600"/>
            <a:ext cx="5486400" cy="4846320"/>
          </a:xfrm>
          <a:prstGeom prst="roundRect">
            <a:avLst>
              <a:gd name="adj" fmla="val 1509"/>
            </a:avLst>
          </a:prstGeom>
          <a:solidFill>
            <a:srgbClr val="F7EEEF"/>
          </a:solidFill>
          <a:ln w="12700">
            <a:solidFill>
              <a:srgbClr val="F7EEEF"/>
            </a:solidFill>
            <a:prstDash val="solid"/>
          </a:ln>
        </p:spPr>
      </p:sp>
      <p:sp>
        <p:nvSpPr>
          <p:cNvPr id="7" name="Text 5"/>
          <p:cNvSpPr txBox="1"/>
          <p:nvPr/>
        </p:nvSpPr>
        <p:spPr>
          <a:xfrm>
            <a:off x="68580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Priority list</a:t>
            </a:r>
            <a:endParaRPr lang="en-US" sz="1300" dirty="0"/>
          </a:p>
        </p:txBody>
      </p:sp>
      <p:sp>
        <p:nvSpPr>
          <p:cNvPr id="8" name="Text 6"/>
          <p:cNvSpPr txBox="1"/>
          <p:nvPr/>
        </p:nvSpPr>
        <p:spPr>
          <a:xfrm>
            <a:off x="685800" y="1783080"/>
            <a:ext cx="5212080" cy="4343400"/>
          </a:xfrm>
          <a:prstGeom prst="rect">
            <a:avLst/>
          </a:prstGeom>
          <a:noFill/>
          <a:ln/>
        </p:spPr>
        <p:txBody>
          <a:bodyPr wrap="square" lIns="0" tIns="0" rIns="0" bIns="0" rtlCol="0" anchor="t"/>
          <a:lstStyle/>
          <a:p>
            <a:pPr indent="0" marL="0">
              <a:spcAft>
                <a:spcPts val="300"/>
              </a:spcAft>
              <a:buNone/>
            </a:pPr>
            <a:r>
              <a:rPr lang="en-US" sz="1350" dirty="0">
                <a:solidFill>
                  <a:srgbClr val="2B2B2B"/>
                </a:solidFill>
                <a:latin typeface="Calibri" pitchFamily="34" charset="0"/>
                <a:ea typeface="Calibri" pitchFamily="34" charset="-122"/>
                <a:cs typeface="Calibri" pitchFamily="34" charset="-120"/>
              </a:rPr>
              <a:t>Daftar isu dan masalah yang harus dituntaskan manajemen agar perusahaan lebih berhasil secara keuangan dan bersaing.</a:t>
            </a:r>
            <a:endParaRPr lang="en-US" sz="1350" dirty="0"/>
          </a:p>
          <a:p>
            <a:pPr indent="0" marL="0">
              <a:spcAft>
                <a:spcPts val="300"/>
              </a:spcAft>
              <a:buNone/>
            </a:pPr>
            <a:endParaRPr lang="en-US" sz="1350" dirty="0"/>
          </a:p>
          <a:p>
            <a:pPr indent="0" marL="0">
              <a:spcAft>
                <a:spcPts val="300"/>
              </a:spcAft>
              <a:buNone/>
            </a:pPr>
            <a:r>
              <a:rPr lang="en-US" sz="1350" dirty="0">
                <a:solidFill>
                  <a:srgbClr val="2B2B2B"/>
                </a:solidFill>
                <a:latin typeface="Calibri" pitchFamily="34" charset="0"/>
                <a:ea typeface="Calibri" pitchFamily="34" charset="-122"/>
                <a:cs typeface="Calibri" pitchFamily="34" charset="-120"/>
              </a:rPr>
              <a:t>Isinya selalu berbentuk "bagaimana caranya…", "apa yang harus dilakukan soal…", dan "apakah perlu…".</a:t>
            </a:r>
            <a:endParaRPr lang="en-US" sz="1350" dirty="0"/>
          </a:p>
          <a:p>
            <a:pPr indent="0" marL="0">
              <a:spcAft>
                <a:spcPts val="300"/>
              </a:spcAft>
              <a:buNone/>
            </a:pPr>
            <a:endParaRPr lang="en-US" sz="1350" dirty="0"/>
          </a:p>
          <a:p>
            <a:pPr indent="0" marL="0">
              <a:spcAft>
                <a:spcPts val="300"/>
              </a:spcAft>
              <a:buNone/>
            </a:pPr>
            <a:r>
              <a:rPr lang="en-US" sz="1350" dirty="0">
                <a:solidFill>
                  <a:srgbClr val="2B2B2B"/>
                </a:solidFill>
                <a:latin typeface="Calibri" pitchFamily="34" charset="0"/>
                <a:ea typeface="Calibri" pitchFamily="34" charset="-122"/>
                <a:cs typeface="Calibri" pitchFamily="34" charset="-120"/>
              </a:rPr>
              <a:t>Menggabungkan hasil Q1 sampai Q5 dengan analisis industri dari Chapter 3.</a:t>
            </a:r>
            <a:endParaRPr lang="en-US" sz="1350" dirty="0"/>
          </a:p>
        </p:txBody>
      </p:sp>
      <p:sp>
        <p:nvSpPr>
          <p:cNvPr id="9" name="Shape 7"/>
          <p:cNvSpPr/>
          <p:nvPr/>
        </p:nvSpPr>
        <p:spPr>
          <a:xfrm>
            <a:off x="6172200" y="1371600"/>
            <a:ext cx="5486400" cy="2286000"/>
          </a:xfrm>
          <a:prstGeom prst="roundRect">
            <a:avLst>
              <a:gd name="adj" fmla="val 3200"/>
            </a:avLst>
          </a:prstGeom>
          <a:solidFill>
            <a:srgbClr val="F7EEEF"/>
          </a:solidFill>
          <a:ln w="12700">
            <a:solidFill>
              <a:srgbClr val="F7EEEF"/>
            </a:solidFill>
            <a:prstDash val="solid"/>
          </a:ln>
        </p:spPr>
      </p:sp>
      <p:sp>
        <p:nvSpPr>
          <p:cNvPr id="10" name="Text 8"/>
          <p:cNvSpPr txBox="1"/>
          <p:nvPr/>
        </p:nvSpPr>
        <p:spPr>
          <a:xfrm>
            <a:off x="630936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Keliru 1: daftar ini berisi isu, belum solusi</a:t>
            </a:r>
            <a:endParaRPr lang="en-US" sz="1300" dirty="0"/>
          </a:p>
        </p:txBody>
      </p:sp>
      <p:sp>
        <p:nvSpPr>
          <p:cNvPr id="11" name="Text 9"/>
          <p:cNvSpPr txBox="1"/>
          <p:nvPr/>
        </p:nvSpPr>
        <p:spPr>
          <a:xfrm>
            <a:off x="6309360" y="1783080"/>
            <a:ext cx="5212080" cy="178308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Tujuannya mengidentifikasi isu. Keputusan tindakan datang belakangan saat menyusun strategi. Inilah sebabnya kami memisahkan priority list (slide 31) dari alternatif dan simpulan (slide 32–36).</a:t>
            </a:r>
            <a:endParaRPr lang="en-US" sz="1250" dirty="0"/>
          </a:p>
        </p:txBody>
      </p:sp>
      <p:sp>
        <p:nvSpPr>
          <p:cNvPr id="12" name="Shape 10"/>
          <p:cNvSpPr/>
          <p:nvPr/>
        </p:nvSpPr>
        <p:spPr>
          <a:xfrm>
            <a:off x="6172200" y="3794760"/>
            <a:ext cx="5486400" cy="2423160"/>
          </a:xfrm>
          <a:prstGeom prst="roundRect">
            <a:avLst>
              <a:gd name="adj" fmla="val 3019"/>
            </a:avLst>
          </a:prstGeom>
          <a:solidFill>
            <a:srgbClr val="F7EEEF"/>
          </a:solidFill>
          <a:ln w="12700">
            <a:solidFill>
              <a:srgbClr val="F7EEEF"/>
            </a:solidFill>
            <a:prstDash val="solid"/>
          </a:ln>
        </p:spPr>
      </p:sp>
      <p:sp>
        <p:nvSpPr>
          <p:cNvPr id="13" name="Text 11"/>
          <p:cNvSpPr txBox="1"/>
          <p:nvPr/>
        </p:nvSpPr>
        <p:spPr>
          <a:xfrm>
            <a:off x="6309360" y="388620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Keliru 2: isi daftar menunjukkan kondisi strategi</a:t>
            </a:r>
            <a:endParaRPr lang="en-US" sz="1300" dirty="0"/>
          </a:p>
        </p:txBody>
      </p:sp>
      <p:sp>
        <p:nvSpPr>
          <p:cNvPr id="14" name="Text 12"/>
          <p:cNvSpPr txBox="1"/>
          <p:nvPr/>
        </p:nvSpPr>
        <p:spPr>
          <a:xfrm>
            <a:off x="6309360" y="4206240"/>
            <a:ext cx="5212080" cy="192024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Kalau isinya ringan, strategi cukup disempurnakan. Kalau isinya berat, menyusun strategi baru menjadi agenda utama. Strategi yang baik harus memuat cara menangani semua isu dalam daftar.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RINGKASAN BAGIAN A</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Peta lengkap Chapter 4</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4206240"/>
                <a:gridCol w="292608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Pertanyaan</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Alat yang dipakai</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Hasilnya</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  Seberapa baik strategi sekarang bekerja?</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Indikator kinerja; rasio keuangan (Table 4.1)</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Strategi berhasil atau gagal</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  Kekuatan dan kelemahan vs peluang dan ancaman?</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SWOT (Table 4.2, Figure 4.2); tangga competence</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Sebab di balik berhasil atau gagalnya strategi</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3  Resource dan capability apa yang penting dan tahan lama?</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Tipologi Table 4.3; resource bundle; uji VRIN; dynamic capability</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Sumber keunggulan dan daya tahannya</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4  Bagaimana rantai nilai memengaruhi biaya dan nilai?</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Value chain (Figure 4.3), value chain system (Figure 4.4), benchmarking</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Titik unggul dan titik kalah per aktivitas</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5  Lebih kuat atau lebih lemah dari pesaing?</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Matriks kekuatan tertimbang (Table 4.4)</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Skor kekuatan dan net competitive advantage</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54864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6  Isu apa yang ditangani lebih dulu?</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Priority list</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Agenda kerja manajemen</a:t>
                      </a:r>
                      <a:endParaRPr lang="en-US" sz="12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C1D2B"/>
        </a:solidFill>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BAGIAN B · STUDI KASUS</a:t>
            </a:r>
            <a:endParaRPr lang="en-US" sz="1300" dirty="0"/>
          </a:p>
        </p:txBody>
      </p:sp>
      <p:sp>
        <p:nvSpPr>
          <p:cNvPr id="3" name="Text 1"/>
          <p:cNvSpPr txBox="1"/>
          <p:nvPr/>
        </p:nvSpPr>
        <p:spPr>
          <a:xfrm>
            <a:off x="731520" y="2560320"/>
            <a:ext cx="1051560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Manchester United: Preparing for Life without Ferguson</a:t>
            </a:r>
            <a:endParaRPr lang="en-US" sz="4000" dirty="0"/>
          </a:p>
        </p:txBody>
      </p:sp>
      <p:sp>
        <p:nvSpPr>
          <p:cNvPr id="4" name="Text 2"/>
          <p:cNvSpPr txBox="1"/>
          <p:nvPr/>
        </p:nvSpPr>
        <p:spPr>
          <a:xfrm>
            <a:off x="731520" y="3931920"/>
            <a:ext cx="10058400" cy="1371600"/>
          </a:xfrm>
          <a:prstGeom prst="rect">
            <a:avLst/>
          </a:prstGeom>
          <a:noFill/>
          <a:ln/>
        </p:spPr>
        <p:txBody>
          <a:bodyPr wrap="square" lIns="0" tIns="0" rIns="0" bIns="0" rtlCol="0" anchor="t"/>
          <a:lstStyle/>
          <a:p>
            <a:pPr indent="0" marL="0">
              <a:buNone/>
            </a:pPr>
            <a:r>
              <a:rPr lang="en-US" sz="1500" dirty="0">
                <a:solidFill>
                  <a:srgbClr val="F3DCDF"/>
                </a:solidFill>
                <a:latin typeface="Calibri" pitchFamily="34" charset="0"/>
                <a:ea typeface="Calibri" pitchFamily="34" charset="-122"/>
                <a:cs typeface="Calibri" pitchFamily="34" charset="-120"/>
              </a:rPr>
              <a:t>Robert M. Grant (2010), dengan Simon I. Peck, Christopher Carr, dan Timothy Smith. Kasus berasal dari luar buku Thompson dan dianalisis dengan enam pertanyaan Chapter 4.</a:t>
            </a:r>
            <a:endParaRPr lang="en-US" sz="15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F3DCDF"/>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KASUS · SITUASI</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Juli 2009: keputusan yang dihadapi David Gill</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573 dan 588.</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371600"/>
            <a:ext cx="3611880" cy="2194560"/>
          </a:xfrm>
          <a:prstGeom prst="roundRect">
            <a:avLst>
              <a:gd name="adj" fmla="val 3333"/>
            </a:avLst>
          </a:prstGeom>
          <a:solidFill>
            <a:srgbClr val="F7EEEF"/>
          </a:solidFill>
          <a:ln w="12700">
            <a:solidFill>
              <a:srgbClr val="F7EEEF"/>
            </a:solidFill>
            <a:prstDash val="solid"/>
          </a:ln>
        </p:spPr>
      </p:sp>
      <p:sp>
        <p:nvSpPr>
          <p:cNvPr id="7" name="Text 5"/>
          <p:cNvSpPr txBox="1"/>
          <p:nvPr/>
        </p:nvSpPr>
        <p:spPr>
          <a:xfrm>
            <a:off x="685800" y="1463040"/>
            <a:ext cx="3337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Waktu</a:t>
            </a:r>
            <a:endParaRPr lang="en-US" sz="1300" dirty="0"/>
          </a:p>
        </p:txBody>
      </p:sp>
      <p:sp>
        <p:nvSpPr>
          <p:cNvPr id="8" name="Text 6"/>
          <p:cNvSpPr txBox="1"/>
          <p:nvPr/>
        </p:nvSpPr>
        <p:spPr>
          <a:xfrm>
            <a:off x="685800" y="1783080"/>
            <a:ext cx="333756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Juli 2009, tur pramusim Asia (Malaysia, Indonesia, Korea, China). Skuad pulang 28 Juli 2009.</a:t>
            </a:r>
            <a:endParaRPr lang="en-US" sz="1150" dirty="0"/>
          </a:p>
        </p:txBody>
      </p:sp>
      <p:sp>
        <p:nvSpPr>
          <p:cNvPr id="9" name="Shape 7"/>
          <p:cNvSpPr/>
          <p:nvPr/>
        </p:nvSpPr>
        <p:spPr>
          <a:xfrm>
            <a:off x="4297680" y="1371600"/>
            <a:ext cx="3611880" cy="2194560"/>
          </a:xfrm>
          <a:prstGeom prst="roundRect">
            <a:avLst>
              <a:gd name="adj" fmla="val 3333"/>
            </a:avLst>
          </a:prstGeom>
          <a:solidFill>
            <a:srgbClr val="F7EEEF"/>
          </a:solidFill>
          <a:ln w="12700">
            <a:solidFill>
              <a:srgbClr val="F7EEEF"/>
            </a:solidFill>
            <a:prstDash val="solid"/>
          </a:ln>
        </p:spPr>
      </p:sp>
      <p:sp>
        <p:nvSpPr>
          <p:cNvPr id="10" name="Text 8"/>
          <p:cNvSpPr txBox="1"/>
          <p:nvPr/>
        </p:nvSpPr>
        <p:spPr>
          <a:xfrm>
            <a:off x="4434840" y="1463040"/>
            <a:ext cx="33375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Pengambil keputusan</a:t>
            </a:r>
            <a:endParaRPr lang="en-US" sz="1300" dirty="0"/>
          </a:p>
        </p:txBody>
      </p:sp>
      <p:sp>
        <p:nvSpPr>
          <p:cNvPr id="11" name="Text 9"/>
          <p:cNvSpPr txBox="1"/>
          <p:nvPr/>
        </p:nvSpPr>
        <p:spPr>
          <a:xfrm>
            <a:off x="4434840" y="1783080"/>
            <a:ext cx="333756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David Gill, Chief Executive Manchester United Football Club Limited.</a:t>
            </a:r>
            <a:endParaRPr lang="en-US" sz="1150" dirty="0"/>
          </a:p>
        </p:txBody>
      </p:sp>
      <p:sp>
        <p:nvSpPr>
          <p:cNvPr id="12" name="Shape 10"/>
          <p:cNvSpPr/>
          <p:nvPr/>
        </p:nvSpPr>
        <p:spPr>
          <a:xfrm>
            <a:off x="8046720" y="1371600"/>
            <a:ext cx="3566160" cy="2194560"/>
          </a:xfrm>
          <a:prstGeom prst="roundRect">
            <a:avLst>
              <a:gd name="adj" fmla="val 3333"/>
            </a:avLst>
          </a:prstGeom>
          <a:solidFill>
            <a:srgbClr val="F7EEEF"/>
          </a:solidFill>
          <a:ln w="12700">
            <a:solidFill>
              <a:srgbClr val="F7EEEF"/>
            </a:solidFill>
            <a:prstDash val="solid"/>
          </a:ln>
        </p:spPr>
      </p:sp>
      <p:sp>
        <p:nvSpPr>
          <p:cNvPr id="13" name="Text 11"/>
          <p:cNvSpPr txBox="1"/>
          <p:nvPr/>
        </p:nvSpPr>
        <p:spPr>
          <a:xfrm>
            <a:off x="8183880" y="1463040"/>
            <a:ext cx="32918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Keputusan</a:t>
            </a:r>
            <a:endParaRPr lang="en-US" sz="1300" dirty="0"/>
          </a:p>
        </p:txBody>
      </p:sp>
      <p:sp>
        <p:nvSpPr>
          <p:cNvPr id="14" name="Text 12"/>
          <p:cNvSpPr txBox="1"/>
          <p:nvPr/>
        </p:nvSpPr>
        <p:spPr>
          <a:xfrm>
            <a:off x="8183880" y="1783080"/>
            <a:ext cx="3291840" cy="16916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Menyiapkan pengganti Sir Alex Ferguson. Kasus: "at the end of 2009 Ferguson would be 68 years old"; Gill memperkirakan ia pensiun akhir musim 2009–10.</a:t>
            </a:r>
            <a:endParaRPr lang="en-US" sz="1150" dirty="0"/>
          </a:p>
        </p:txBody>
      </p:sp>
      <p:sp>
        <p:nvSpPr>
          <p:cNvPr id="15" name="Shape 13"/>
          <p:cNvSpPr/>
          <p:nvPr/>
        </p:nvSpPr>
        <p:spPr>
          <a:xfrm>
            <a:off x="548640" y="3749040"/>
            <a:ext cx="11064240" cy="2468880"/>
          </a:xfrm>
          <a:prstGeom prst="roundRect">
            <a:avLst>
              <a:gd name="adj" fmla="val 2963"/>
            </a:avLst>
          </a:prstGeom>
          <a:solidFill>
            <a:srgbClr val="F7EEEF"/>
          </a:solidFill>
          <a:ln w="12700">
            <a:solidFill>
              <a:srgbClr val="F7EEEF"/>
            </a:solidFill>
            <a:prstDash val="solid"/>
          </a:ln>
        </p:spPr>
      </p:sp>
      <p:sp>
        <p:nvSpPr>
          <p:cNvPr id="16" name="Text 14"/>
          <p:cNvSpPr txBox="1"/>
          <p:nvPr/>
        </p:nvSpPr>
        <p:spPr>
          <a:xfrm>
            <a:off x="685800" y="3840480"/>
            <a:ext cx="107899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Dilema inti (kasus hlm. 588)</a:t>
            </a:r>
            <a:endParaRPr lang="en-US" sz="1300" dirty="0"/>
          </a:p>
        </p:txBody>
      </p:sp>
      <p:sp>
        <p:nvSpPr>
          <p:cNvPr id="17" name="Text 15"/>
          <p:cNvSpPr txBox="1"/>
          <p:nvPr/>
        </p:nvSpPr>
        <p:spPr>
          <a:xfrm>
            <a:off x="685800" y="4160520"/>
            <a:ext cx="10789920" cy="1965960"/>
          </a:xfrm>
          <a:prstGeom prst="rect">
            <a:avLst/>
          </a:prstGeom>
          <a:noFill/>
          <a:ln/>
        </p:spPr>
        <p:txBody>
          <a:bodyPr wrap="square" lIns="0" tIns="0" rIns="0" bIns="0" rtlCol="0" anchor="t"/>
          <a:lstStyle/>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Orang dalam (Queiroz, Phelan, Solskjær, McClair) menjaga "the system of training, scouting, and team development that Sir Alex had put in place", tetapi diragukan "presence and strength of personality" untuk memimpin bintang. Orang luar berwibawa seperti Mourinho "would involve a revolutionary change in coaching strategy in which much of Ferguson’s infrastructure would be taken down and rebuilt".</a:t>
            </a:r>
            <a:endParaRPr lang="en-US" sz="1300" dirty="0"/>
          </a:p>
          <a:p>
            <a:pPr indent="0" marL="0">
              <a:spcAft>
                <a:spcPts val="300"/>
              </a:spcAft>
              <a:buNone/>
            </a:pPr>
            <a:endParaRPr lang="en-US" sz="1300" dirty="0"/>
          </a:p>
          <a:p>
            <a:pPr indent="0" marL="0">
              <a:spcAft>
                <a:spcPts val="300"/>
              </a:spcAft>
              <a:buNone/>
            </a:pPr>
            <a:r>
              <a:rPr lang="en-US" sz="1300" dirty="0">
                <a:solidFill>
                  <a:srgbClr val="2B2B2B"/>
                </a:solidFill>
                <a:latin typeface="Calibri" pitchFamily="34" charset="0"/>
                <a:ea typeface="Calibri" pitchFamily="34" charset="-122"/>
                <a:cs typeface="Calibri" pitchFamily="34" charset="-120"/>
              </a:rPr>
              <a:t>Pertanyaan Chapter 4 di baliknya: aset mana yang melekat pada klub, dan aset mana yang melekat pada satu orang?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KONTEKS</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Sepak bola Eropa: pendapatan besar, laba langka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577–580; Table 6.5 dan 6.6.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548640" y="1371600"/>
            <a:ext cx="3566160" cy="2011680"/>
          </a:xfrm>
          <a:prstGeom prst="roundRect">
            <a:avLst>
              <a:gd name="adj" fmla="val 3636"/>
            </a:avLst>
          </a:prstGeom>
          <a:solidFill>
            <a:srgbClr val="F7EEEF"/>
          </a:solidFill>
          <a:ln w="12700">
            <a:solidFill>
              <a:srgbClr val="F7EEEF"/>
            </a:solidFill>
            <a:prstDash val="solid"/>
          </a:ln>
        </p:spPr>
      </p:sp>
      <p:sp>
        <p:nvSpPr>
          <p:cNvPr id="7" name="Text 5"/>
          <p:cNvSpPr txBox="1"/>
          <p:nvPr/>
        </p:nvSpPr>
        <p:spPr>
          <a:xfrm>
            <a:off x="68580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€2,4 M</a:t>
            </a:r>
            <a:endParaRPr lang="en-US" sz="3400" dirty="0"/>
          </a:p>
        </p:txBody>
      </p:sp>
      <p:sp>
        <p:nvSpPr>
          <p:cNvPr id="8" name="Text 6"/>
          <p:cNvSpPr txBox="1"/>
          <p:nvPr/>
        </p:nvSpPr>
        <p:spPr>
          <a:xfrm>
            <a:off x="685800" y="2194560"/>
            <a:ext cx="3291840" cy="11430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Pendapatan Premier League 2007–08, terbesar di Eropa; Serie A, La Liga, Bundesliga sekitar €1,4 miliar</a:t>
            </a:r>
            <a:endParaRPr lang="en-US" sz="1150" dirty="0"/>
          </a:p>
        </p:txBody>
      </p:sp>
      <p:sp>
        <p:nvSpPr>
          <p:cNvPr id="9" name="Shape 7"/>
          <p:cNvSpPr/>
          <p:nvPr/>
        </p:nvSpPr>
        <p:spPr>
          <a:xfrm>
            <a:off x="4297680" y="1371600"/>
            <a:ext cx="3566160" cy="2011680"/>
          </a:xfrm>
          <a:prstGeom prst="roundRect">
            <a:avLst>
              <a:gd name="adj" fmla="val 3636"/>
            </a:avLst>
          </a:prstGeom>
          <a:solidFill>
            <a:srgbClr val="F7EEEF"/>
          </a:solidFill>
          <a:ln w="12700">
            <a:solidFill>
              <a:srgbClr val="F7EEEF"/>
            </a:solidFill>
            <a:prstDash val="solid"/>
          </a:ln>
        </p:spPr>
      </p:sp>
      <p:sp>
        <p:nvSpPr>
          <p:cNvPr id="10" name="Text 8"/>
          <p:cNvSpPr txBox="1"/>
          <p:nvPr/>
        </p:nvSpPr>
        <p:spPr>
          <a:xfrm>
            <a:off x="443484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6 dari 10</a:t>
            </a:r>
            <a:endParaRPr lang="en-US" sz="3400" dirty="0"/>
          </a:p>
        </p:txBody>
      </p:sp>
      <p:sp>
        <p:nvSpPr>
          <p:cNvPr id="11" name="Text 9"/>
          <p:cNvSpPr txBox="1"/>
          <p:nvPr/>
        </p:nvSpPr>
        <p:spPr>
          <a:xfrm>
            <a:off x="4434840" y="2194560"/>
            <a:ext cx="3291840" cy="11430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Klub besar Eropa merugi 2000–2006 (Table 6.6). Hanya MU, Arsenal, dan Bayern yang labanya berarti menurut kasus</a:t>
            </a:r>
            <a:endParaRPr lang="en-US" sz="1150" dirty="0"/>
          </a:p>
        </p:txBody>
      </p:sp>
      <p:sp>
        <p:nvSpPr>
          <p:cNvPr id="12" name="Shape 10"/>
          <p:cNvSpPr/>
          <p:nvPr/>
        </p:nvSpPr>
        <p:spPr>
          <a:xfrm>
            <a:off x="8046720" y="1371600"/>
            <a:ext cx="3566160" cy="2011680"/>
          </a:xfrm>
          <a:prstGeom prst="roundRect">
            <a:avLst>
              <a:gd name="adj" fmla="val 3636"/>
            </a:avLst>
          </a:prstGeom>
          <a:solidFill>
            <a:srgbClr val="F7EEEF"/>
          </a:solidFill>
          <a:ln w="12700">
            <a:solidFill>
              <a:srgbClr val="F7EEEF"/>
            </a:solidFill>
            <a:prstDash val="solid"/>
          </a:ln>
        </p:spPr>
      </p:sp>
      <p:sp>
        <p:nvSpPr>
          <p:cNvPr id="13" name="Text 11"/>
          <p:cNvSpPr txBox="1"/>
          <p:nvPr/>
        </p:nvSpPr>
        <p:spPr>
          <a:xfrm>
            <a:off x="818388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62%</a:t>
            </a:r>
            <a:endParaRPr lang="en-US" sz="3400" dirty="0"/>
          </a:p>
        </p:txBody>
      </p:sp>
      <p:sp>
        <p:nvSpPr>
          <p:cNvPr id="14" name="Text 12"/>
          <p:cNvSpPr txBox="1"/>
          <p:nvPr/>
        </p:nvSpPr>
        <p:spPr>
          <a:xfrm>
            <a:off x="8183880" y="2194560"/>
            <a:ext cx="3291840" cy="11430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Porsi gaji terhadap pendapatan Premier League; Serie A 68%, La Liga 63%; Chelsea 81%; MU dan Arsenal sekitar 50%</a:t>
            </a:r>
            <a:endParaRPr lang="en-US" sz="1150" dirty="0"/>
          </a:p>
        </p:txBody>
      </p:sp>
      <p:sp>
        <p:nvSpPr>
          <p:cNvPr id="15" name="Shape 13"/>
          <p:cNvSpPr/>
          <p:nvPr/>
        </p:nvSpPr>
        <p:spPr>
          <a:xfrm>
            <a:off x="548640" y="3566160"/>
            <a:ext cx="5394960" cy="2651760"/>
          </a:xfrm>
          <a:prstGeom prst="roundRect">
            <a:avLst>
              <a:gd name="adj" fmla="val 2759"/>
            </a:avLst>
          </a:prstGeom>
          <a:solidFill>
            <a:srgbClr val="F7EEEF"/>
          </a:solidFill>
          <a:ln w="12700">
            <a:solidFill>
              <a:srgbClr val="F7EEEF"/>
            </a:solidFill>
            <a:prstDash val="solid"/>
          </a:ln>
        </p:spPr>
      </p:sp>
      <p:sp>
        <p:nvSpPr>
          <p:cNvPr id="16" name="Text 14"/>
          <p:cNvSpPr txBox="1"/>
          <p:nvPr/>
        </p:nvSpPr>
        <p:spPr>
          <a:xfrm>
            <a:off x="685800" y="3657600"/>
            <a:ext cx="5120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Tiga sumber pendapatan (Premier League 2007–08)</a:t>
            </a:r>
            <a:endParaRPr lang="en-US" sz="1300" dirty="0"/>
          </a:p>
        </p:txBody>
      </p:sp>
      <p:sp>
        <p:nvSpPr>
          <p:cNvPr id="17" name="Text 15"/>
          <p:cNvSpPr txBox="1"/>
          <p:nvPr/>
        </p:nvSpPr>
        <p:spPr>
          <a:xfrm>
            <a:off x="685800" y="3977640"/>
            <a:ext cx="5120640" cy="21488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Matchday £554 juta: dibatasi kapasitas stadion.</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Broadcasting £931 juta (naik 43%): kontrak 2006 £2,7 miliar, rata-rata £45 juta per klub per tahun; UEFA membayar lebih dari €30 juta ke tiap klub besar Liga Champions 2008–09.</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Commercial £447 juta: terpusat di sedikit klub.</a:t>
            </a:r>
            <a:endParaRPr lang="en-US" sz="1150" dirty="0"/>
          </a:p>
        </p:txBody>
      </p:sp>
      <p:sp>
        <p:nvSpPr>
          <p:cNvPr id="18" name="Shape 16"/>
          <p:cNvSpPr/>
          <p:nvPr/>
        </p:nvSpPr>
        <p:spPr>
          <a:xfrm>
            <a:off x="6126480" y="3566160"/>
            <a:ext cx="5486400" cy="2651760"/>
          </a:xfrm>
          <a:prstGeom prst="roundRect">
            <a:avLst>
              <a:gd name="adj" fmla="val 2759"/>
            </a:avLst>
          </a:prstGeom>
          <a:solidFill>
            <a:srgbClr val="F7EEEF"/>
          </a:solidFill>
          <a:ln w="12700">
            <a:solidFill>
              <a:srgbClr val="F7EEEF"/>
            </a:solidFill>
            <a:prstDash val="solid"/>
          </a:ln>
        </p:spPr>
      </p:sp>
      <p:sp>
        <p:nvSpPr>
          <p:cNvPr id="19" name="Text 17"/>
          <p:cNvSpPr txBox="1"/>
          <p:nvPr/>
        </p:nvSpPr>
        <p:spPr>
          <a:xfrm>
            <a:off x="6263640" y="365760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Aturan main dan logika ekonominya</a:t>
            </a:r>
            <a:endParaRPr lang="en-US" sz="1300" dirty="0"/>
          </a:p>
        </p:txBody>
      </p:sp>
      <p:sp>
        <p:nvSpPr>
          <p:cNvPr id="20" name="Text 18"/>
          <p:cNvSpPr txBox="1"/>
          <p:nvPr/>
        </p:nvSpPr>
        <p:spPr>
          <a:xfrm>
            <a:off x="6263640" y="3977640"/>
            <a:ext cx="5212080" cy="214884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Empat teratas Premier League lolos Liga Champions. Sejak 1992 muncul jurang keuangan antara empat klub teratas dan sisanya. Harga pemain meledak musim panas 2009 meski resesi; pendorongnya Real Madrid, lalu Chelsea, lalu Manchester City (£185 juta dalam satu musim). Pemilik asing kaya: Abramovich (Chelsea), Sheikh Mansour (Manchester City). MU dan Liverpool dibeli dengan utang, sehingga tidak menerima suntikan kas seperti itu.</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1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Di lapangan: posisi bersaing di atas rata-rata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Table 6.1, 6.2; hlm. 584. Ukuran skuad dan usia rata-rata dari tabel kasus yang dirujuk kelompok.</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48640" y="1371600"/>
            <a:ext cx="3566160" cy="2194560"/>
          </a:xfrm>
          <a:prstGeom prst="roundRect">
            <a:avLst>
              <a:gd name="adj" fmla="val 3333"/>
            </a:avLst>
          </a:prstGeom>
          <a:solidFill>
            <a:srgbClr val="F7EEEF"/>
          </a:solidFill>
          <a:ln w="12700">
            <a:solidFill>
              <a:srgbClr val="F7EEEF"/>
            </a:solidFill>
            <a:prstDash val="solid"/>
          </a:ln>
        </p:spPr>
      </p:sp>
      <p:sp>
        <p:nvSpPr>
          <p:cNvPr id="7" name="Text 5"/>
          <p:cNvSpPr txBox="1"/>
          <p:nvPr/>
        </p:nvSpPr>
        <p:spPr>
          <a:xfrm>
            <a:off x="68580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1.460</a:t>
            </a:r>
            <a:endParaRPr lang="en-US" sz="3400" dirty="0"/>
          </a:p>
        </p:txBody>
      </p:sp>
      <p:sp>
        <p:nvSpPr>
          <p:cNvPr id="8" name="Text 6"/>
          <p:cNvSpPr txBox="1"/>
          <p:nvPr/>
        </p:nvSpPr>
        <p:spPr>
          <a:xfrm>
            <a:off x="685800" y="2194560"/>
            <a:ext cx="3291840" cy="132588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Poin performa Eropa 2000–2009, tertinggi (Table 6.2). Barcelona 1.411, Real Madrid dan Bayern 1.314, Arsenal 1.310, Chelsea 1.276</a:t>
            </a:r>
            <a:endParaRPr lang="en-US" sz="1150" dirty="0"/>
          </a:p>
        </p:txBody>
      </p:sp>
      <p:sp>
        <p:nvSpPr>
          <p:cNvPr id="9" name="Shape 7"/>
          <p:cNvSpPr/>
          <p:nvPr/>
        </p:nvSpPr>
        <p:spPr>
          <a:xfrm>
            <a:off x="4297680" y="1371600"/>
            <a:ext cx="3566160" cy="2194560"/>
          </a:xfrm>
          <a:prstGeom prst="roundRect">
            <a:avLst>
              <a:gd name="adj" fmla="val 3333"/>
            </a:avLst>
          </a:prstGeom>
          <a:solidFill>
            <a:srgbClr val="F7EEEF"/>
          </a:solidFill>
          <a:ln w="12700">
            <a:solidFill>
              <a:srgbClr val="F7EEEF"/>
            </a:solidFill>
            <a:prstDash val="solid"/>
          </a:ln>
        </p:spPr>
      </p:sp>
      <p:sp>
        <p:nvSpPr>
          <p:cNvPr id="10" name="Text 8"/>
          <p:cNvSpPr txBox="1"/>
          <p:nvPr/>
        </p:nvSpPr>
        <p:spPr>
          <a:xfrm>
            <a:off x="443484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11</a:t>
            </a:r>
            <a:endParaRPr lang="en-US" sz="3400" dirty="0"/>
          </a:p>
        </p:txBody>
      </p:sp>
      <p:sp>
        <p:nvSpPr>
          <p:cNvPr id="11" name="Text 9"/>
          <p:cNvSpPr txBox="1"/>
          <p:nvPr/>
        </p:nvSpPr>
        <p:spPr>
          <a:xfrm>
            <a:off x="4434840" y="2194560"/>
            <a:ext cx="3291840" cy="132588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Gelar liga Inggris 1993–2009 (Table 6.1), termasuk tiga beruntun 2007, 2008, 2009</a:t>
            </a:r>
            <a:endParaRPr lang="en-US" sz="1150" dirty="0"/>
          </a:p>
        </p:txBody>
      </p:sp>
      <p:sp>
        <p:nvSpPr>
          <p:cNvPr id="12" name="Shape 10"/>
          <p:cNvSpPr/>
          <p:nvPr/>
        </p:nvSpPr>
        <p:spPr>
          <a:xfrm>
            <a:off x="8046720" y="1371600"/>
            <a:ext cx="3566160" cy="2194560"/>
          </a:xfrm>
          <a:prstGeom prst="roundRect">
            <a:avLst>
              <a:gd name="adj" fmla="val 3333"/>
            </a:avLst>
          </a:prstGeom>
          <a:solidFill>
            <a:srgbClr val="F7EEEF"/>
          </a:solidFill>
          <a:ln w="12700">
            <a:solidFill>
              <a:srgbClr val="F7EEEF"/>
            </a:solidFill>
            <a:prstDash val="solid"/>
          </a:ln>
        </p:spPr>
      </p:sp>
      <p:sp>
        <p:nvSpPr>
          <p:cNvPr id="13" name="Text 11"/>
          <p:cNvSpPr txBox="1"/>
          <p:nvPr/>
        </p:nvSpPr>
        <p:spPr>
          <a:xfrm>
            <a:off x="8183880" y="1417320"/>
            <a:ext cx="3291840" cy="731520"/>
          </a:xfrm>
          <a:prstGeom prst="rect">
            <a:avLst/>
          </a:prstGeom>
          <a:noFill/>
          <a:ln/>
        </p:spPr>
        <p:txBody>
          <a:bodyPr wrap="square" lIns="0" tIns="0" rIns="0" bIns="0" rtlCol="0" anchor="ctr"/>
          <a:lstStyle/>
          <a:p>
            <a:pPr indent="0" marL="0">
              <a:buNone/>
            </a:pPr>
            <a:r>
              <a:rPr lang="en-US" sz="3400" b="1" dirty="0">
                <a:solidFill>
                  <a:srgbClr val="8C1D2B"/>
                </a:solidFill>
                <a:latin typeface="Cambria" pitchFamily="34" charset="0"/>
                <a:ea typeface="Cambria" pitchFamily="34" charset="-122"/>
                <a:cs typeface="Cambria" pitchFamily="34" charset="-120"/>
              </a:rPr>
              <a:t>2008</a:t>
            </a:r>
            <a:endParaRPr lang="en-US" sz="3400" dirty="0"/>
          </a:p>
        </p:txBody>
      </p:sp>
      <p:sp>
        <p:nvSpPr>
          <p:cNvPr id="14" name="Text 12"/>
          <p:cNvSpPr txBox="1"/>
          <p:nvPr/>
        </p:nvSpPr>
        <p:spPr>
          <a:xfrm>
            <a:off x="8183880" y="2194560"/>
            <a:ext cx="3291840" cy="132588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Juara Liga Champions, gelar Eropa kedua era Ferguson setelah 1999 (liga, FA Cup, European Cup, Intercontinental Cup)</a:t>
            </a:r>
            <a:endParaRPr lang="en-US" sz="1150" dirty="0"/>
          </a:p>
        </p:txBody>
      </p:sp>
      <p:graphicFrame>
        <p:nvGraphicFramePr>
          <p:cNvPr id="15" name="Chart 0" descr=""/>
          <p:cNvGraphicFramePr/>
          <p:nvPr/>
        </p:nvGraphicFramePr>
        <p:xfrm>
          <a:off x="548640" y="3749040"/>
          <a:ext cx="6766560" cy="256032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0" y="3749040"/>
            <a:ext cx="4114800" cy="2560320"/>
          </a:xfrm>
          <a:prstGeom prst="roundRect">
            <a:avLst>
              <a:gd name="adj" fmla="val 2857"/>
            </a:avLst>
          </a:prstGeom>
          <a:solidFill>
            <a:srgbClr val="F7EEEF"/>
          </a:solidFill>
          <a:ln w="12700">
            <a:solidFill>
              <a:srgbClr val="F7EEEF"/>
            </a:solidFill>
            <a:prstDash val="solid"/>
          </a:ln>
        </p:spPr>
      </p:sp>
      <p:sp>
        <p:nvSpPr>
          <p:cNvPr id="17" name="Text 14"/>
          <p:cNvSpPr txBox="1"/>
          <p:nvPr/>
        </p:nvSpPr>
        <p:spPr>
          <a:xfrm>
            <a:off x="7635240" y="3840480"/>
            <a:ext cx="38404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Indikator kedua Thompson terpenuhi</a:t>
            </a:r>
            <a:endParaRPr lang="en-US" sz="1300" dirty="0"/>
          </a:p>
        </p:txBody>
      </p:sp>
      <p:sp>
        <p:nvSpPr>
          <p:cNvPr id="18" name="Text 15"/>
          <p:cNvSpPr txBox="1"/>
          <p:nvPr/>
        </p:nvSpPr>
        <p:spPr>
          <a:xfrm>
            <a:off x="7635240" y="4160520"/>
            <a:ext cx="3840480" cy="205740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Posisi dan kekuatan bersaing membaik: tiga gelar beruntun dan poin Eropa tertinggi. Kasus: MU "emphasized the development of outstanding young talent and blending it with mature, highly experienced players" (hlm. 583).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1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Keuangan: paling untung di Eropa, tetapi berutang</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Appendix (laporan keuangan 2000–2008), Table 6.5 (Forbes 2009), Table 6.6.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22</a:t>
            </a:r>
            <a:endParaRPr lang="en-US" sz="900" dirty="0"/>
          </a:p>
        </p:txBody>
      </p:sp>
      <p:graphicFrame>
        <p:nvGraphicFramePr>
          <p:cNvPr id="6" name="Chart 0" descr=""/>
          <p:cNvGraphicFramePr/>
          <p:nvPr/>
        </p:nvGraphicFramePr>
        <p:xfrm>
          <a:off x="548640" y="1371600"/>
          <a:ext cx="6766560" cy="3108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4526280"/>
            <a:ext cx="6766560" cy="54864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2000–2004: Manchester United plc, 12 bulan sampai 31 Juli. 2005–2008: Manchester United Limited, 11 bulan sampai 30 Juni. Kasus menyatakan kedua periode tidak sepenuhnya sebanding.</a:t>
            </a:r>
            <a:endParaRPr lang="en-US" sz="1000" dirty="0"/>
          </a:p>
        </p:txBody>
      </p:sp>
      <p:sp>
        <p:nvSpPr>
          <p:cNvPr id="8" name="Shape 5"/>
          <p:cNvSpPr/>
          <p:nvPr/>
        </p:nvSpPr>
        <p:spPr>
          <a:xfrm>
            <a:off x="7498080" y="1371600"/>
            <a:ext cx="4114800" cy="1097280"/>
          </a:xfrm>
          <a:prstGeom prst="roundRect">
            <a:avLst>
              <a:gd name="adj" fmla="val 6667"/>
            </a:avLst>
          </a:prstGeom>
          <a:solidFill>
            <a:srgbClr val="F7EEEF"/>
          </a:solidFill>
          <a:ln w="12700">
            <a:solidFill>
              <a:srgbClr val="F7EEEF"/>
            </a:solidFill>
            <a:prstDash val="solid"/>
          </a:ln>
        </p:spPr>
      </p:sp>
      <p:sp>
        <p:nvSpPr>
          <p:cNvPr id="9" name="Text 6"/>
          <p:cNvSpPr txBox="1"/>
          <p:nvPr/>
        </p:nvSpPr>
        <p:spPr>
          <a:xfrm>
            <a:off x="7635240" y="1444752"/>
            <a:ext cx="14630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18,2%</a:t>
            </a:r>
            <a:endParaRPr lang="en-US" sz="2000" dirty="0"/>
          </a:p>
        </p:txBody>
      </p:sp>
      <p:sp>
        <p:nvSpPr>
          <p:cNvPr id="10" name="Text 7"/>
          <p:cNvSpPr txBox="1"/>
          <p:nvPr/>
        </p:nvSpPr>
        <p:spPr>
          <a:xfrm>
            <a:off x="9144000" y="1463040"/>
            <a:ext cx="2377440" cy="9601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Net profit margin 2008: laba £46,8 juta atas pendapatan £257,1 juta (Appendix)</a:t>
            </a:r>
            <a:endParaRPr lang="en-US" sz="1050" dirty="0"/>
          </a:p>
        </p:txBody>
      </p:sp>
      <p:sp>
        <p:nvSpPr>
          <p:cNvPr id="11" name="Shape 8"/>
          <p:cNvSpPr/>
          <p:nvPr/>
        </p:nvSpPr>
        <p:spPr>
          <a:xfrm>
            <a:off x="7498080" y="2606040"/>
            <a:ext cx="4114800" cy="1097280"/>
          </a:xfrm>
          <a:prstGeom prst="roundRect">
            <a:avLst>
              <a:gd name="adj" fmla="val 6667"/>
            </a:avLst>
          </a:prstGeom>
          <a:solidFill>
            <a:srgbClr val="F7EEEF"/>
          </a:solidFill>
          <a:ln w="12700">
            <a:solidFill>
              <a:srgbClr val="F7EEEF"/>
            </a:solidFill>
            <a:prstDash val="solid"/>
          </a:ln>
        </p:spPr>
      </p:sp>
      <p:sp>
        <p:nvSpPr>
          <p:cNvPr id="12" name="Text 9"/>
          <p:cNvSpPr txBox="1"/>
          <p:nvPr/>
        </p:nvSpPr>
        <p:spPr>
          <a:xfrm>
            <a:off x="7635240" y="2679192"/>
            <a:ext cx="14630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12,6%</a:t>
            </a:r>
            <a:endParaRPr lang="en-US" sz="2000" dirty="0"/>
          </a:p>
        </p:txBody>
      </p:sp>
      <p:sp>
        <p:nvSpPr>
          <p:cNvPr id="13" name="Text 10"/>
          <p:cNvSpPr txBox="1"/>
          <p:nvPr/>
        </p:nvSpPr>
        <p:spPr>
          <a:xfrm>
            <a:off x="9144000" y="2697480"/>
            <a:ext cx="2377440" cy="9601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Return on sales 2000–2006 (Table 6.6), tertinggi dari 10 klub; Arsenal 5,6%, Bayern 4,7%, Real Madrid 0,4%</a:t>
            </a:r>
            <a:endParaRPr lang="en-US" sz="1050" dirty="0"/>
          </a:p>
        </p:txBody>
      </p:sp>
      <p:sp>
        <p:nvSpPr>
          <p:cNvPr id="14" name="Shape 11"/>
          <p:cNvSpPr/>
          <p:nvPr/>
        </p:nvSpPr>
        <p:spPr>
          <a:xfrm>
            <a:off x="7498080" y="3840480"/>
            <a:ext cx="4114800" cy="1097280"/>
          </a:xfrm>
          <a:prstGeom prst="roundRect">
            <a:avLst>
              <a:gd name="adj" fmla="val 6667"/>
            </a:avLst>
          </a:prstGeom>
          <a:solidFill>
            <a:srgbClr val="F7EEEF"/>
          </a:solidFill>
          <a:ln w="12700">
            <a:solidFill>
              <a:srgbClr val="F7EEEF"/>
            </a:solidFill>
            <a:prstDash val="solid"/>
          </a:ln>
        </p:spPr>
      </p:sp>
      <p:sp>
        <p:nvSpPr>
          <p:cNvPr id="15" name="Text 12"/>
          <p:cNvSpPr txBox="1"/>
          <p:nvPr/>
        </p:nvSpPr>
        <p:spPr>
          <a:xfrm>
            <a:off x="7635240" y="3913632"/>
            <a:ext cx="14630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€101,9 jt</a:t>
            </a:r>
            <a:endParaRPr lang="en-US" sz="2000" dirty="0"/>
          </a:p>
        </p:txBody>
      </p:sp>
      <p:sp>
        <p:nvSpPr>
          <p:cNvPr id="16" name="Text 13"/>
          <p:cNvSpPr txBox="1"/>
          <p:nvPr/>
        </p:nvSpPr>
        <p:spPr>
          <a:xfrm>
            <a:off x="9144000" y="3931920"/>
            <a:ext cx="2377440" cy="9601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EBITDA menurut Forbes 2009 (Table 6.5), tertinggi di Eropa. Margin 31,4% vs Barcelona 22,3%, Real Madrid 14,1%</a:t>
            </a:r>
            <a:endParaRPr lang="en-US" sz="1050" dirty="0"/>
          </a:p>
        </p:txBody>
      </p:sp>
      <p:sp>
        <p:nvSpPr>
          <p:cNvPr id="17" name="Shape 14"/>
          <p:cNvSpPr/>
          <p:nvPr/>
        </p:nvSpPr>
        <p:spPr>
          <a:xfrm>
            <a:off x="7498080" y="5074920"/>
            <a:ext cx="4114800" cy="1097280"/>
          </a:xfrm>
          <a:prstGeom prst="roundRect">
            <a:avLst>
              <a:gd name="adj" fmla="val 6667"/>
            </a:avLst>
          </a:prstGeom>
          <a:solidFill>
            <a:srgbClr val="F7EEEF"/>
          </a:solidFill>
          <a:ln w="12700">
            <a:solidFill>
              <a:srgbClr val="F7EEEF"/>
            </a:solidFill>
            <a:prstDash val="solid"/>
          </a:ln>
        </p:spPr>
      </p:sp>
      <p:sp>
        <p:nvSpPr>
          <p:cNvPr id="18" name="Text 15"/>
          <p:cNvSpPr txBox="1"/>
          <p:nvPr/>
        </p:nvSpPr>
        <p:spPr>
          <a:xfrm>
            <a:off x="7635240" y="5148072"/>
            <a:ext cx="14630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£616 jt</a:t>
            </a:r>
            <a:endParaRPr lang="en-US" sz="2000" dirty="0"/>
          </a:p>
        </p:txBody>
      </p:sp>
      <p:sp>
        <p:nvSpPr>
          <p:cNvPr id="19" name="Text 16"/>
          <p:cNvSpPr txBox="1"/>
          <p:nvPr/>
        </p:nvSpPr>
        <p:spPr>
          <a:xfrm>
            <a:off x="9144000" y="5166360"/>
            <a:ext cx="2377440" cy="96012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Utang (Table 6.5), tertinggi kedua setelah Arsenal £896 juta; berasal dari akuisisi Glazer 2005 yang dibiayai pinjaman (hlm. 579, 584)</a:t>
            </a:r>
            <a:endParaRPr lang="en-US" sz="1050" dirty="0"/>
          </a:p>
        </p:txBody>
      </p:sp>
      <p:sp>
        <p:nvSpPr>
          <p:cNvPr id="20" name="Shape 17"/>
          <p:cNvSpPr/>
          <p:nvPr/>
        </p:nvSpPr>
        <p:spPr>
          <a:xfrm>
            <a:off x="548640" y="5212080"/>
            <a:ext cx="6766560" cy="1051560"/>
          </a:xfrm>
          <a:prstGeom prst="roundRect">
            <a:avLst>
              <a:gd name="adj" fmla="val 6957"/>
            </a:avLst>
          </a:prstGeom>
          <a:solidFill>
            <a:srgbClr val="FBEBD0"/>
          </a:solidFill>
          <a:ln w="12700">
            <a:solidFill>
              <a:srgbClr val="FBEBD0"/>
            </a:solidFill>
            <a:prstDash val="solid"/>
          </a:ln>
        </p:spPr>
      </p:sp>
      <p:sp>
        <p:nvSpPr>
          <p:cNvPr id="21" name="Text 18"/>
          <p:cNvSpPr txBox="1"/>
          <p:nvPr/>
        </p:nvSpPr>
        <p:spPr>
          <a:xfrm>
            <a:off x="685800" y="5321808"/>
            <a:ext cx="6492240" cy="832104"/>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Ekuitas pemegang saham £294 juta (2008). Laba penjualan pemain £21,8 juta pada 2008. Amortisasi kontrak pemain naik dari £13,1 juta (2000) ke £35,5 juta (2008).</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1 · KESIMPULAN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Prestasi puncak, belanja transfer bersih moderat</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580 dan 586; angka belanja bersih 2003–2009 dari Table 6.7 kasus sebagaimana dirujuk kelompok.</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23</a:t>
            </a:r>
            <a:endParaRPr lang="en-US" sz="900" dirty="0"/>
          </a:p>
        </p:txBody>
      </p:sp>
      <p:graphicFrame>
        <p:nvGraphicFramePr>
          <p:cNvPr id="6" name="Chart 0" descr=""/>
          <p:cNvGraphicFramePr/>
          <p:nvPr/>
        </p:nvGraphicFramePr>
        <p:xfrm>
          <a:off x="548640" y="137160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132320" y="1371600"/>
            <a:ext cx="4480560" cy="2194560"/>
          </a:xfrm>
          <a:prstGeom prst="roundRect">
            <a:avLst>
              <a:gd name="adj" fmla="val 3333"/>
            </a:avLst>
          </a:prstGeom>
          <a:solidFill>
            <a:srgbClr val="F7EEEF"/>
          </a:solidFill>
          <a:ln w="12700">
            <a:solidFill>
              <a:srgbClr val="F7EEEF"/>
            </a:solidFill>
            <a:prstDash val="solid"/>
          </a:ln>
        </p:spPr>
      </p:sp>
      <p:sp>
        <p:nvSpPr>
          <p:cNvPr id="8" name="Text 5"/>
          <p:cNvSpPr txBox="1"/>
          <p:nvPr/>
        </p:nvSpPr>
        <p:spPr>
          <a:xfrm>
            <a:off x="7269480" y="1463040"/>
            <a:ext cx="42062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Apa kata kasus</a:t>
            </a:r>
            <a:endParaRPr lang="en-US" sz="1300" dirty="0"/>
          </a:p>
        </p:txBody>
      </p:sp>
      <p:sp>
        <p:nvSpPr>
          <p:cNvPr id="9" name="Text 6"/>
          <p:cNvSpPr txBox="1"/>
          <p:nvPr/>
        </p:nvSpPr>
        <p:spPr>
          <a:xfrm>
            <a:off x="7269480" y="1783080"/>
            <a:ext cx="4206240" cy="169164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"Manchester United’s net expenditure on player transfers has been relatively modest compared to other leading European clubs" (hlm. 586). "Real Madrid and Chelsea were distinguished by their massive expenditures on star players" (hlm. 580).</a:t>
            </a:r>
            <a:endParaRPr lang="en-US" sz="1200" dirty="0"/>
          </a:p>
        </p:txBody>
      </p:sp>
      <p:sp>
        <p:nvSpPr>
          <p:cNvPr id="10" name="Shape 7"/>
          <p:cNvSpPr/>
          <p:nvPr/>
        </p:nvSpPr>
        <p:spPr>
          <a:xfrm>
            <a:off x="7132320" y="3703320"/>
            <a:ext cx="4480560" cy="2514600"/>
          </a:xfrm>
          <a:prstGeom prst="roundRect">
            <a:avLst>
              <a:gd name="adj" fmla="val 2909"/>
            </a:avLst>
          </a:prstGeom>
          <a:solidFill>
            <a:srgbClr val="F7EEEF"/>
          </a:solidFill>
          <a:ln w="12700">
            <a:solidFill>
              <a:srgbClr val="F7EEEF"/>
            </a:solidFill>
            <a:prstDash val="solid"/>
          </a:ln>
        </p:spPr>
      </p:sp>
      <p:sp>
        <p:nvSpPr>
          <p:cNvPr id="11" name="Text 8"/>
          <p:cNvSpPr txBox="1"/>
          <p:nvPr/>
        </p:nvSpPr>
        <p:spPr>
          <a:xfrm>
            <a:off x="7269480" y="3794760"/>
            <a:ext cx="42062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Jawaban Q1</a:t>
            </a:r>
            <a:endParaRPr lang="en-US" sz="1300" dirty="0"/>
          </a:p>
        </p:txBody>
      </p:sp>
      <p:sp>
        <p:nvSpPr>
          <p:cNvPr id="12" name="Text 9"/>
          <p:cNvSpPr txBox="1"/>
          <p:nvPr/>
        </p:nvSpPr>
        <p:spPr>
          <a:xfrm>
            <a:off x="7269480" y="4114800"/>
            <a:ext cx="4206240" cy="201168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Strategi MU bekerja sangat baik: kedua indikator Thompson terpenuhi di industri yang sebagian besar pelakunya merugi. Real Madrid membelanjakan sekitar 4,4 kali belanja bersih MU dengan poin Eropa lebih rendah. Pertanyaan berikutnya: apa penyebabnya, dan apakah penyebab itu bertahan tanpa Ferguson.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2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SWOT Manchester United Juli 2009, sampai simpulan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573, 579, 584–587; Table 6.3, 6.5, 6.6.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371600"/>
            <a:ext cx="5486400" cy="2011680"/>
          </a:xfrm>
          <a:prstGeom prst="roundRect">
            <a:avLst>
              <a:gd name="adj" fmla="val 3636"/>
            </a:avLst>
          </a:prstGeom>
          <a:solidFill>
            <a:srgbClr val="F7EEEF"/>
          </a:solidFill>
          <a:ln w="12700">
            <a:solidFill>
              <a:srgbClr val="F7EEEF"/>
            </a:solidFill>
            <a:prstDash val="solid"/>
          </a:ln>
        </p:spPr>
      </p:sp>
      <p:sp>
        <p:nvSpPr>
          <p:cNvPr id="7" name="Text 5"/>
          <p:cNvSpPr txBox="1"/>
          <p:nvPr/>
        </p:nvSpPr>
        <p:spPr>
          <a:xfrm>
            <a:off x="685800" y="1463040"/>
            <a:ext cx="548640" cy="548640"/>
          </a:xfrm>
          <a:prstGeom prst="rect">
            <a:avLst/>
          </a:prstGeom>
          <a:noFill/>
          <a:ln/>
        </p:spPr>
        <p:txBody>
          <a:bodyPr wrap="square" lIns="0" tIns="0" rIns="0" bIns="0" rtlCol="0" anchor="ctr"/>
          <a:lstStyle/>
          <a:p>
            <a:pPr indent="0" marL="0">
              <a:buNone/>
            </a:pPr>
            <a:r>
              <a:rPr lang="en-US" sz="2600" b="1" dirty="0">
                <a:solidFill>
                  <a:srgbClr val="8C1D2B"/>
                </a:solidFill>
                <a:latin typeface="Cambria" pitchFamily="34" charset="0"/>
                <a:ea typeface="Cambria" pitchFamily="34" charset="-122"/>
                <a:cs typeface="Cambria" pitchFamily="34" charset="-120"/>
              </a:rPr>
              <a:t>S</a:t>
            </a:r>
            <a:endParaRPr lang="en-US" sz="2600" dirty="0"/>
          </a:p>
        </p:txBody>
      </p:sp>
      <p:sp>
        <p:nvSpPr>
          <p:cNvPr id="8" name="Text 6"/>
          <p:cNvSpPr txBox="1"/>
          <p:nvPr/>
        </p:nvSpPr>
        <p:spPr>
          <a:xfrm>
            <a:off x="1234440" y="1572768"/>
            <a:ext cx="1828800" cy="36576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Strengths</a:t>
            </a:r>
            <a:endParaRPr lang="en-US" sz="1300" dirty="0"/>
          </a:p>
        </p:txBody>
      </p:sp>
      <p:sp>
        <p:nvSpPr>
          <p:cNvPr id="9" name="Text 7"/>
          <p:cNvSpPr txBox="1"/>
          <p:nvPr/>
        </p:nvSpPr>
        <p:spPr>
          <a:xfrm>
            <a:off x="685800" y="2011680"/>
            <a:ext cx="5212080" cy="13716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 Merek global: 80 juta pendukung di Asia; 1,2 juta pemegang kartu kredit MU di Korea Selatan</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Laba tertinggi di Eropa: EBITDA €101,9 juta; RoS 12,6%</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Akademi dan lebih dari 20 pemandu bakat</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Disiplin transfer: menjual di puncak nilai (Ronaldo £80 juta)</a:t>
            </a:r>
            <a:endParaRPr lang="en-US" sz="1050" dirty="0"/>
          </a:p>
        </p:txBody>
      </p:sp>
      <p:sp>
        <p:nvSpPr>
          <p:cNvPr id="10" name="Shape 8"/>
          <p:cNvSpPr/>
          <p:nvPr/>
        </p:nvSpPr>
        <p:spPr>
          <a:xfrm>
            <a:off x="6172200" y="1371600"/>
            <a:ext cx="5486400" cy="2011680"/>
          </a:xfrm>
          <a:prstGeom prst="roundRect">
            <a:avLst>
              <a:gd name="adj" fmla="val 3636"/>
            </a:avLst>
          </a:prstGeom>
          <a:solidFill>
            <a:srgbClr val="F7EEEF"/>
          </a:solidFill>
          <a:ln w="12700">
            <a:solidFill>
              <a:srgbClr val="F7EEEF"/>
            </a:solidFill>
            <a:prstDash val="solid"/>
          </a:ln>
        </p:spPr>
      </p:sp>
      <p:sp>
        <p:nvSpPr>
          <p:cNvPr id="11" name="Text 9"/>
          <p:cNvSpPr txBox="1"/>
          <p:nvPr/>
        </p:nvSpPr>
        <p:spPr>
          <a:xfrm>
            <a:off x="6309360" y="1463040"/>
            <a:ext cx="548640" cy="548640"/>
          </a:xfrm>
          <a:prstGeom prst="rect">
            <a:avLst/>
          </a:prstGeom>
          <a:noFill/>
          <a:ln/>
        </p:spPr>
        <p:txBody>
          <a:bodyPr wrap="square" lIns="0" tIns="0" rIns="0" bIns="0" rtlCol="0" anchor="ctr"/>
          <a:lstStyle/>
          <a:p>
            <a:pPr indent="0" marL="0">
              <a:buNone/>
            </a:pPr>
            <a:r>
              <a:rPr lang="en-US" sz="2600" b="1" dirty="0">
                <a:solidFill>
                  <a:srgbClr val="8C1D2B"/>
                </a:solidFill>
                <a:latin typeface="Cambria" pitchFamily="34" charset="0"/>
                <a:ea typeface="Cambria" pitchFamily="34" charset="-122"/>
                <a:cs typeface="Cambria" pitchFamily="34" charset="-120"/>
              </a:rPr>
              <a:t>W</a:t>
            </a:r>
            <a:endParaRPr lang="en-US" sz="2600" dirty="0"/>
          </a:p>
        </p:txBody>
      </p:sp>
      <p:sp>
        <p:nvSpPr>
          <p:cNvPr id="12" name="Text 10"/>
          <p:cNvSpPr txBox="1"/>
          <p:nvPr/>
        </p:nvSpPr>
        <p:spPr>
          <a:xfrm>
            <a:off x="6858000" y="1572768"/>
            <a:ext cx="1828800" cy="36576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Weaknesses</a:t>
            </a:r>
            <a:endParaRPr lang="en-US" sz="1300" dirty="0"/>
          </a:p>
        </p:txBody>
      </p:sp>
      <p:sp>
        <p:nvSpPr>
          <p:cNvPr id="13" name="Text 11"/>
          <p:cNvSpPr txBox="1"/>
          <p:nvPr/>
        </p:nvSpPr>
        <p:spPr>
          <a:xfrm>
            <a:off x="6309360" y="2011680"/>
            <a:ext cx="5212080" cy="13716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 Utang £616 juta warisan akuisisi Glazer 2005</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Sistem olahraga bergantung pada Ferguson, 68 tahun pada akhir 2009</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Belum ada pengganti; Ferguson belum mengumumkan pensiun</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Dewan terdiri atas enam anak Glazer (hlm. 584)</a:t>
            </a:r>
            <a:endParaRPr lang="en-US" sz="1050" dirty="0"/>
          </a:p>
        </p:txBody>
      </p:sp>
      <p:sp>
        <p:nvSpPr>
          <p:cNvPr id="14" name="Shape 12"/>
          <p:cNvSpPr/>
          <p:nvPr/>
        </p:nvSpPr>
        <p:spPr>
          <a:xfrm>
            <a:off x="548640" y="3520440"/>
            <a:ext cx="5486400" cy="2011680"/>
          </a:xfrm>
          <a:prstGeom prst="roundRect">
            <a:avLst>
              <a:gd name="adj" fmla="val 3636"/>
            </a:avLst>
          </a:prstGeom>
          <a:solidFill>
            <a:srgbClr val="F7EEEF"/>
          </a:solidFill>
          <a:ln w="12700">
            <a:solidFill>
              <a:srgbClr val="F7EEEF"/>
            </a:solidFill>
            <a:prstDash val="solid"/>
          </a:ln>
        </p:spPr>
      </p:sp>
      <p:sp>
        <p:nvSpPr>
          <p:cNvPr id="15" name="Text 13"/>
          <p:cNvSpPr txBox="1"/>
          <p:nvPr/>
        </p:nvSpPr>
        <p:spPr>
          <a:xfrm>
            <a:off x="685800" y="3611880"/>
            <a:ext cx="548640" cy="548640"/>
          </a:xfrm>
          <a:prstGeom prst="rect">
            <a:avLst/>
          </a:prstGeom>
          <a:noFill/>
          <a:ln/>
        </p:spPr>
        <p:txBody>
          <a:bodyPr wrap="square" lIns="0" tIns="0" rIns="0" bIns="0" rtlCol="0" anchor="ctr"/>
          <a:lstStyle/>
          <a:p>
            <a:pPr indent="0" marL="0">
              <a:buNone/>
            </a:pPr>
            <a:r>
              <a:rPr lang="en-US" sz="2600" b="1" dirty="0">
                <a:solidFill>
                  <a:srgbClr val="8C1D2B"/>
                </a:solidFill>
                <a:latin typeface="Cambria" pitchFamily="34" charset="0"/>
                <a:ea typeface="Cambria" pitchFamily="34" charset="-122"/>
                <a:cs typeface="Cambria" pitchFamily="34" charset="-120"/>
              </a:rPr>
              <a:t>O</a:t>
            </a:r>
            <a:endParaRPr lang="en-US" sz="2600" dirty="0"/>
          </a:p>
        </p:txBody>
      </p:sp>
      <p:sp>
        <p:nvSpPr>
          <p:cNvPr id="16" name="Text 14"/>
          <p:cNvSpPr txBox="1"/>
          <p:nvPr/>
        </p:nvSpPr>
        <p:spPr>
          <a:xfrm>
            <a:off x="1234440" y="3721608"/>
            <a:ext cx="1828800" cy="36576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Opportunities</a:t>
            </a:r>
            <a:endParaRPr lang="en-US" sz="1300" dirty="0"/>
          </a:p>
        </p:txBody>
      </p:sp>
      <p:sp>
        <p:nvSpPr>
          <p:cNvPr id="17" name="Text 15"/>
          <p:cNvSpPr txBox="1"/>
          <p:nvPr/>
        </p:nvSpPr>
        <p:spPr>
          <a:xfrm>
            <a:off x="685800" y="4160520"/>
            <a:ext cx="5212080" cy="13716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 Aon: "Asia, particularly India and China, are prime targets"</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Sponsor per negara masih dapat diperbanyak (Tri Indonesia, Bharti Airtel)</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Hak siar Premier League naik 43% dalam setahun</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Kanal sendiri: MUTV, MU Mobile, toko daring</a:t>
            </a:r>
            <a:endParaRPr lang="en-US" sz="1050" dirty="0"/>
          </a:p>
        </p:txBody>
      </p:sp>
      <p:sp>
        <p:nvSpPr>
          <p:cNvPr id="18" name="Shape 16"/>
          <p:cNvSpPr/>
          <p:nvPr/>
        </p:nvSpPr>
        <p:spPr>
          <a:xfrm>
            <a:off x="6172200" y="3520440"/>
            <a:ext cx="5486400" cy="2011680"/>
          </a:xfrm>
          <a:prstGeom prst="roundRect">
            <a:avLst>
              <a:gd name="adj" fmla="val 3636"/>
            </a:avLst>
          </a:prstGeom>
          <a:solidFill>
            <a:srgbClr val="F7EEEF"/>
          </a:solidFill>
          <a:ln w="12700">
            <a:solidFill>
              <a:srgbClr val="F7EEEF"/>
            </a:solidFill>
            <a:prstDash val="solid"/>
          </a:ln>
        </p:spPr>
      </p:sp>
      <p:sp>
        <p:nvSpPr>
          <p:cNvPr id="19" name="Text 17"/>
          <p:cNvSpPr txBox="1"/>
          <p:nvPr/>
        </p:nvSpPr>
        <p:spPr>
          <a:xfrm>
            <a:off x="6309360" y="3611880"/>
            <a:ext cx="548640" cy="548640"/>
          </a:xfrm>
          <a:prstGeom prst="rect">
            <a:avLst/>
          </a:prstGeom>
          <a:noFill/>
          <a:ln/>
        </p:spPr>
        <p:txBody>
          <a:bodyPr wrap="square" lIns="0" tIns="0" rIns="0" bIns="0" rtlCol="0" anchor="ctr"/>
          <a:lstStyle/>
          <a:p>
            <a:pPr indent="0" marL="0">
              <a:buNone/>
            </a:pPr>
            <a:r>
              <a:rPr lang="en-US" sz="2600" b="1" dirty="0">
                <a:solidFill>
                  <a:srgbClr val="8C1D2B"/>
                </a:solidFill>
                <a:latin typeface="Cambria" pitchFamily="34" charset="0"/>
                <a:ea typeface="Cambria" pitchFamily="34" charset="-122"/>
                <a:cs typeface="Cambria" pitchFamily="34" charset="-120"/>
              </a:rPr>
              <a:t>T</a:t>
            </a:r>
            <a:endParaRPr lang="en-US" sz="2600" dirty="0"/>
          </a:p>
        </p:txBody>
      </p:sp>
      <p:sp>
        <p:nvSpPr>
          <p:cNvPr id="20" name="Text 18"/>
          <p:cNvSpPr txBox="1"/>
          <p:nvPr/>
        </p:nvSpPr>
        <p:spPr>
          <a:xfrm>
            <a:off x="6858000" y="3721608"/>
            <a:ext cx="1828800" cy="36576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Threats</a:t>
            </a:r>
            <a:endParaRPr lang="en-US" sz="1300" dirty="0"/>
          </a:p>
        </p:txBody>
      </p:sp>
      <p:sp>
        <p:nvSpPr>
          <p:cNvPr id="21" name="Text 19"/>
          <p:cNvSpPr txBox="1"/>
          <p:nvPr/>
        </p:nvSpPr>
        <p:spPr>
          <a:xfrm>
            <a:off x="6309360" y="4160520"/>
            <a:ext cx="5212080" cy="13716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 Harga pemain meledak; Manchester City £185 juta</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Pemilik sangat kaya di Chelsea dan Manchester City</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Beban bunga membatasi daya beli</a:t>
            </a:r>
            <a:endParaRPr lang="en-US" sz="1050" dirty="0"/>
          </a:p>
          <a:p>
            <a:pPr indent="0" marL="0">
              <a:buNone/>
            </a:pPr>
            <a:r>
              <a:rPr lang="en-US" sz="1050" dirty="0">
                <a:solidFill>
                  <a:srgbClr val="2B2B2B"/>
                </a:solidFill>
                <a:latin typeface="Calibri" pitchFamily="34" charset="0"/>
                <a:ea typeface="Calibri" pitchFamily="34" charset="-122"/>
                <a:cs typeface="Calibri" pitchFamily="34" charset="-120"/>
              </a:rPr>
              <a:t>• Ronaldo, satu-satunya pemain MU di peringkat FIFA (Table 6.3), sudah dijual</a:t>
            </a:r>
            <a:endParaRPr lang="en-US" sz="1050" dirty="0"/>
          </a:p>
        </p:txBody>
      </p:sp>
      <p:sp>
        <p:nvSpPr>
          <p:cNvPr id="22" name="Shape 20"/>
          <p:cNvSpPr/>
          <p:nvPr/>
        </p:nvSpPr>
        <p:spPr>
          <a:xfrm>
            <a:off x="548640" y="5715000"/>
            <a:ext cx="11109960" cy="548640"/>
          </a:xfrm>
          <a:prstGeom prst="roundRect">
            <a:avLst>
              <a:gd name="adj" fmla="val 13333"/>
            </a:avLst>
          </a:prstGeom>
          <a:solidFill>
            <a:srgbClr val="FBEBD0"/>
          </a:solidFill>
          <a:ln w="12700">
            <a:solidFill>
              <a:srgbClr val="FBEBD0"/>
            </a:solidFill>
            <a:prstDash val="solid"/>
          </a:ln>
        </p:spPr>
      </p:sp>
      <p:sp>
        <p:nvSpPr>
          <p:cNvPr id="23" name="Text 21"/>
          <p:cNvSpPr txBox="1"/>
          <p:nvPr/>
        </p:nvSpPr>
        <p:spPr>
          <a:xfrm>
            <a:off x="685800" y="5824728"/>
            <a:ext cx="10835640" cy="329184"/>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Simpulan (langkah 2 Figure 4.2): kekuatan cukup untuk menangkap peluang komersial Asia, tetapi tidak cukup menutup kelemahan ketergantungan pada Ferguson, karena kekuatan itu sendiri sebagian besar hasil kerjanya.</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Inventarisasi resource MU dengan tipologi Table 4.3</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573, 584–587; Appendix.</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548640" y="1371600"/>
            <a:ext cx="5486400" cy="4846320"/>
          </a:xfrm>
          <a:prstGeom prst="roundRect">
            <a:avLst>
              <a:gd name="adj" fmla="val 1509"/>
            </a:avLst>
          </a:prstGeom>
          <a:solidFill>
            <a:srgbClr val="F7EEEF"/>
          </a:solidFill>
          <a:ln w="12700">
            <a:solidFill>
              <a:srgbClr val="F7EEEF"/>
            </a:solidFill>
            <a:prstDash val="solid"/>
          </a:ln>
        </p:spPr>
      </p:sp>
      <p:sp>
        <p:nvSpPr>
          <p:cNvPr id="7" name="Text 5"/>
          <p:cNvSpPr txBox="1"/>
          <p:nvPr/>
        </p:nvSpPr>
        <p:spPr>
          <a:xfrm>
            <a:off x="68580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Tangible</a:t>
            </a:r>
            <a:endParaRPr lang="en-US" sz="1300" dirty="0"/>
          </a:p>
        </p:txBody>
      </p:sp>
      <p:sp>
        <p:nvSpPr>
          <p:cNvPr id="8" name="Text 6"/>
          <p:cNvSpPr txBox="1"/>
          <p:nvPr/>
        </p:nvSpPr>
        <p:spPr>
          <a:xfrm>
            <a:off x="685800" y="1783080"/>
            <a:ext cx="5212080" cy="434340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Finansial: EBITDA €101,9 juta; laba bersih £46,8 juta; ekuitas £294 juta; kas dari penjualan Ronaldo £80 juta.</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Fisik: Old Trafford, diperluas 7.500 kursi pada 2006; museum, tur stadion, suite dan ballroom yang disewakan.</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Organisasional: pemisahan urusan tim (Ferguson) dan komersial (Gill, Arnold); anak usaha Manchester United International sejak 1998.</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Kontrak: kontrak pemain; portofolio sponsor (Nike, Aon mulai 2010, Budweiser, Audi, Hublot, dan lainnya).</a:t>
            </a:r>
            <a:endParaRPr lang="en-US" sz="1250" dirty="0"/>
          </a:p>
        </p:txBody>
      </p:sp>
      <p:sp>
        <p:nvSpPr>
          <p:cNvPr id="9" name="Shape 7"/>
          <p:cNvSpPr/>
          <p:nvPr/>
        </p:nvSpPr>
        <p:spPr>
          <a:xfrm>
            <a:off x="6172200" y="1371600"/>
            <a:ext cx="5486400" cy="4846320"/>
          </a:xfrm>
          <a:prstGeom prst="roundRect">
            <a:avLst>
              <a:gd name="adj" fmla="val 1509"/>
            </a:avLst>
          </a:prstGeom>
          <a:solidFill>
            <a:srgbClr val="F7EEEF"/>
          </a:solidFill>
          <a:ln w="12700">
            <a:solidFill>
              <a:srgbClr val="F7EEEF"/>
            </a:solidFill>
            <a:prstDash val="solid"/>
          </a:ln>
        </p:spPr>
      </p:sp>
      <p:sp>
        <p:nvSpPr>
          <p:cNvPr id="10" name="Text 8"/>
          <p:cNvSpPr txBox="1"/>
          <p:nvPr/>
        </p:nvSpPr>
        <p:spPr>
          <a:xfrm>
            <a:off x="630936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Intangible</a:t>
            </a:r>
            <a:endParaRPr lang="en-US" sz="1300" dirty="0"/>
          </a:p>
        </p:txBody>
      </p:sp>
      <p:sp>
        <p:nvSpPr>
          <p:cNvPr id="11" name="Text 9"/>
          <p:cNvSpPr txBox="1"/>
          <p:nvPr/>
        </p:nvSpPr>
        <p:spPr>
          <a:xfrm>
            <a:off x="6309360" y="1783080"/>
            <a:ext cx="5212080" cy="434340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Merek: "We’re not just a sports club, we are an international brand" (Andy Anson). Sub-merek Fred the Red, MUFC, Red Devil.</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Basis pendukung: 80 juta di Asia; 1,2 juta pemegang kartu kredit MU di Korea Selatan.</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Human assets: Ferguson sejak 1986; lebih dari 20 pemandu bakat; dua pemandu penuh waktu di Brasil sejak 2008.</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Reputasi dan relasi: Aon menyebut MU "has no equal in sports when it comes to global brand awareness"; AIG melompat ke peringkat 47 merek dunia dalam setahun.</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Aset paling berharga hampir seluruhnya tak berwujud, dan sebagian melekat pada orang yang bisa pergi.</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Capability MU: core, distinctive, atau competence</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584–587.</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26</a:t>
            </a:r>
            <a:endParaRPr lang="en-US" sz="900" dirty="0"/>
          </a:p>
        </p:txBody>
      </p:sp>
      <p:sp>
        <p:nvSpPr>
          <p:cNvPr id="6" name="Shape 4"/>
          <p:cNvSpPr/>
          <p:nvPr/>
        </p:nvSpPr>
        <p:spPr>
          <a:xfrm>
            <a:off x="548640" y="1371600"/>
            <a:ext cx="3566160" cy="2103120"/>
          </a:xfrm>
          <a:prstGeom prst="roundRect">
            <a:avLst>
              <a:gd name="adj" fmla="val 3478"/>
            </a:avLst>
          </a:prstGeom>
          <a:solidFill>
            <a:srgbClr val="F7EEEF"/>
          </a:solidFill>
          <a:ln w="12700">
            <a:solidFill>
              <a:srgbClr val="F7EEEF"/>
            </a:solidFill>
            <a:prstDash val="solid"/>
          </a:ln>
        </p:spPr>
      </p:sp>
      <p:sp>
        <p:nvSpPr>
          <p:cNvPr id="7" name="Text 5"/>
          <p:cNvSpPr txBox="1"/>
          <p:nvPr/>
        </p:nvSpPr>
        <p:spPr>
          <a:xfrm>
            <a:off x="685800" y="1463040"/>
            <a:ext cx="3291840" cy="274320"/>
          </a:xfrm>
          <a:prstGeom prst="rect">
            <a:avLst/>
          </a:prstGeom>
          <a:noFill/>
          <a:ln/>
        </p:spPr>
        <p:txBody>
          <a:bodyPr wrap="square" lIns="0" tIns="0" rIns="0" bIns="0" rtlCol="0" anchor="ctr"/>
          <a:lstStyle/>
          <a:p>
            <a:pPr indent="0" marL="0">
              <a:buNone/>
            </a:pPr>
            <a:r>
              <a:rPr lang="en-US" sz="1000" b="1" spc="200" kern="0" dirty="0">
                <a:solidFill>
                  <a:srgbClr val="8C1D2B"/>
                </a:solidFill>
                <a:latin typeface="Calibri" pitchFamily="34" charset="0"/>
                <a:ea typeface="Calibri" pitchFamily="34" charset="-122"/>
                <a:cs typeface="Calibri" pitchFamily="34" charset="-120"/>
              </a:rPr>
              <a:t>CORE</a:t>
            </a:r>
            <a:endParaRPr lang="en-US" sz="1000" dirty="0"/>
          </a:p>
        </p:txBody>
      </p:sp>
      <p:sp>
        <p:nvSpPr>
          <p:cNvPr id="8" name="Text 6"/>
          <p:cNvSpPr txBox="1"/>
          <p:nvPr/>
        </p:nvSpPr>
        <p:spPr>
          <a:xfrm>
            <a:off x="685800" y="173736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Mengenali dan mengembangkan bakat</a:t>
            </a:r>
            <a:endParaRPr lang="en-US" sz="1300" dirty="0"/>
          </a:p>
        </p:txBody>
      </p:sp>
      <p:sp>
        <p:nvSpPr>
          <p:cNvPr id="9" name="Text 7"/>
          <p:cNvSpPr txBox="1"/>
          <p:nvPr/>
        </p:nvSpPr>
        <p:spPr>
          <a:xfrm>
            <a:off x="685800" y="228600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Pemandu bakat dari 5 menjadi lebih dari 20; Youth Academy "the finest youth coaching program in the country"; generasi 1992 (Giggs, Beckham, Scholes, Neville).</a:t>
            </a:r>
            <a:endParaRPr lang="en-US" sz="1050" dirty="0"/>
          </a:p>
        </p:txBody>
      </p:sp>
      <p:sp>
        <p:nvSpPr>
          <p:cNvPr id="10" name="Shape 8"/>
          <p:cNvSpPr/>
          <p:nvPr/>
        </p:nvSpPr>
        <p:spPr>
          <a:xfrm>
            <a:off x="4297680" y="1371600"/>
            <a:ext cx="3566160" cy="2103120"/>
          </a:xfrm>
          <a:prstGeom prst="roundRect">
            <a:avLst>
              <a:gd name="adj" fmla="val 3478"/>
            </a:avLst>
          </a:prstGeom>
          <a:solidFill>
            <a:srgbClr val="F7EEEF"/>
          </a:solidFill>
          <a:ln w="12700">
            <a:solidFill>
              <a:srgbClr val="F7EEEF"/>
            </a:solidFill>
            <a:prstDash val="solid"/>
          </a:ln>
        </p:spPr>
      </p:sp>
      <p:sp>
        <p:nvSpPr>
          <p:cNvPr id="11" name="Text 9"/>
          <p:cNvSpPr txBox="1"/>
          <p:nvPr/>
        </p:nvSpPr>
        <p:spPr>
          <a:xfrm>
            <a:off x="4434840" y="1463040"/>
            <a:ext cx="3291840" cy="274320"/>
          </a:xfrm>
          <a:prstGeom prst="rect">
            <a:avLst/>
          </a:prstGeom>
          <a:noFill/>
          <a:ln/>
        </p:spPr>
        <p:txBody>
          <a:bodyPr wrap="square" lIns="0" tIns="0" rIns="0" bIns="0" rtlCol="0" anchor="ctr"/>
          <a:lstStyle/>
          <a:p>
            <a:pPr indent="0" marL="0">
              <a:buNone/>
            </a:pPr>
            <a:r>
              <a:rPr lang="en-US" sz="1000" b="1" spc="200" kern="0" dirty="0">
                <a:solidFill>
                  <a:srgbClr val="8C1D2B"/>
                </a:solidFill>
                <a:latin typeface="Calibri" pitchFamily="34" charset="0"/>
                <a:ea typeface="Calibri" pitchFamily="34" charset="-122"/>
                <a:cs typeface="Calibri" pitchFamily="34" charset="-120"/>
              </a:rPr>
              <a:t>CORE</a:t>
            </a:r>
            <a:endParaRPr lang="en-US" sz="1000" dirty="0"/>
          </a:p>
        </p:txBody>
      </p:sp>
      <p:sp>
        <p:nvSpPr>
          <p:cNvPr id="12" name="Text 10"/>
          <p:cNvSpPr txBox="1"/>
          <p:nvPr/>
        </p:nvSpPr>
        <p:spPr>
          <a:xfrm>
            <a:off x="4434840" y="173736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Membentuk tim, bukan kumpulan bintang</a:t>
            </a:r>
            <a:endParaRPr lang="en-US" sz="1300" dirty="0"/>
          </a:p>
        </p:txBody>
      </p:sp>
      <p:sp>
        <p:nvSpPr>
          <p:cNvPr id="13" name="Text 11"/>
          <p:cNvSpPr txBox="1"/>
          <p:nvPr/>
        </p:nvSpPr>
        <p:spPr>
          <a:xfrm>
            <a:off x="4434840" y="228600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"The best teams stand out because they are teams"; prinsip tidak ada pemain lebih besar dari klub.</a:t>
            </a:r>
            <a:endParaRPr lang="en-US" sz="1050" dirty="0"/>
          </a:p>
        </p:txBody>
      </p:sp>
      <p:sp>
        <p:nvSpPr>
          <p:cNvPr id="14" name="Shape 12"/>
          <p:cNvSpPr/>
          <p:nvPr/>
        </p:nvSpPr>
        <p:spPr>
          <a:xfrm>
            <a:off x="8046720" y="1371600"/>
            <a:ext cx="3566160" cy="2103120"/>
          </a:xfrm>
          <a:prstGeom prst="roundRect">
            <a:avLst>
              <a:gd name="adj" fmla="val 3478"/>
            </a:avLst>
          </a:prstGeom>
          <a:solidFill>
            <a:srgbClr val="F7EEEF"/>
          </a:solidFill>
          <a:ln w="12700">
            <a:solidFill>
              <a:srgbClr val="F7EEEF"/>
            </a:solidFill>
            <a:prstDash val="solid"/>
          </a:ln>
        </p:spPr>
      </p:sp>
      <p:sp>
        <p:nvSpPr>
          <p:cNvPr id="15" name="Text 13"/>
          <p:cNvSpPr txBox="1"/>
          <p:nvPr/>
        </p:nvSpPr>
        <p:spPr>
          <a:xfrm>
            <a:off x="8183880" y="1463040"/>
            <a:ext cx="3291840" cy="274320"/>
          </a:xfrm>
          <a:prstGeom prst="rect">
            <a:avLst/>
          </a:prstGeom>
          <a:noFill/>
          <a:ln/>
        </p:spPr>
        <p:txBody>
          <a:bodyPr wrap="square" lIns="0" tIns="0" rIns="0" bIns="0" rtlCol="0" anchor="ctr"/>
          <a:lstStyle/>
          <a:p>
            <a:pPr indent="0" marL="0">
              <a:buNone/>
            </a:pPr>
            <a:r>
              <a:rPr lang="en-US" sz="1000" b="1" spc="200" kern="0" dirty="0">
                <a:solidFill>
                  <a:srgbClr val="8C1D2B"/>
                </a:solidFill>
                <a:latin typeface="Calibri" pitchFamily="34" charset="0"/>
                <a:ea typeface="Calibri" pitchFamily="34" charset="-122"/>
                <a:cs typeface="Calibri" pitchFamily="34" charset="-120"/>
              </a:rPr>
              <a:t>CORE</a:t>
            </a:r>
            <a:endParaRPr lang="en-US" sz="1000" dirty="0"/>
          </a:p>
        </p:txBody>
      </p:sp>
      <p:sp>
        <p:nvSpPr>
          <p:cNvPr id="16" name="Text 14"/>
          <p:cNvSpPr txBox="1"/>
          <p:nvPr/>
        </p:nvSpPr>
        <p:spPr>
          <a:xfrm>
            <a:off x="8183880" y="173736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Mengubah merek jadi uang</a:t>
            </a:r>
            <a:endParaRPr lang="en-US" sz="1300" dirty="0"/>
          </a:p>
        </p:txBody>
      </p:sp>
      <p:sp>
        <p:nvSpPr>
          <p:cNvPr id="17" name="Text 15"/>
          <p:cNvSpPr txBox="1"/>
          <p:nvPr/>
        </p:nvSpPr>
        <p:spPr>
          <a:xfrm>
            <a:off x="8183880" y="228600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Sponsor per negara, sub-merek per usia, MU Finance, MU Mobile, MUTV, Soccer Schools, tur Asia.</a:t>
            </a:r>
            <a:endParaRPr lang="en-US" sz="1050" dirty="0"/>
          </a:p>
        </p:txBody>
      </p:sp>
      <p:sp>
        <p:nvSpPr>
          <p:cNvPr id="18" name="Shape 16"/>
          <p:cNvSpPr/>
          <p:nvPr/>
        </p:nvSpPr>
        <p:spPr>
          <a:xfrm>
            <a:off x="548640" y="3611880"/>
            <a:ext cx="3566160" cy="2103120"/>
          </a:xfrm>
          <a:prstGeom prst="roundRect">
            <a:avLst>
              <a:gd name="adj" fmla="val 3478"/>
            </a:avLst>
          </a:prstGeom>
          <a:solidFill>
            <a:srgbClr val="F7EEEF"/>
          </a:solidFill>
          <a:ln w="12700">
            <a:solidFill>
              <a:srgbClr val="F7EEEF"/>
            </a:solidFill>
            <a:prstDash val="solid"/>
          </a:ln>
        </p:spPr>
      </p:sp>
      <p:sp>
        <p:nvSpPr>
          <p:cNvPr id="19" name="Text 17"/>
          <p:cNvSpPr txBox="1"/>
          <p:nvPr/>
        </p:nvSpPr>
        <p:spPr>
          <a:xfrm>
            <a:off x="685800" y="3703320"/>
            <a:ext cx="329184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DISTINCTIVE</a:t>
            </a:r>
            <a:endParaRPr lang="en-US" sz="1000" dirty="0"/>
          </a:p>
        </p:txBody>
      </p:sp>
      <p:sp>
        <p:nvSpPr>
          <p:cNvPr id="20" name="Text 18"/>
          <p:cNvSpPr txBox="1"/>
          <p:nvPr/>
        </p:nvSpPr>
        <p:spPr>
          <a:xfrm>
            <a:off x="685800" y="397764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Disiplin di pasar transfer</a:t>
            </a:r>
            <a:endParaRPr lang="en-US" sz="1300" dirty="0"/>
          </a:p>
        </p:txBody>
      </p:sp>
      <p:sp>
        <p:nvSpPr>
          <p:cNvPr id="21" name="Text 19"/>
          <p:cNvSpPr txBox="1"/>
          <p:nvPr/>
        </p:nvSpPr>
        <p:spPr>
          <a:xfrm>
            <a:off x="685800" y="452628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Menjual di puncak nilai: Beckham, Verón, van Nistelrooy, Ronaldo (£80 juta). Belanja bersih moderat.</a:t>
            </a:r>
            <a:endParaRPr lang="en-US" sz="1050" dirty="0"/>
          </a:p>
        </p:txBody>
      </p:sp>
      <p:sp>
        <p:nvSpPr>
          <p:cNvPr id="22" name="Shape 20"/>
          <p:cNvSpPr/>
          <p:nvPr/>
        </p:nvSpPr>
        <p:spPr>
          <a:xfrm>
            <a:off x="4297680" y="3611880"/>
            <a:ext cx="3566160" cy="2103120"/>
          </a:xfrm>
          <a:prstGeom prst="roundRect">
            <a:avLst>
              <a:gd name="adj" fmla="val 3478"/>
            </a:avLst>
          </a:prstGeom>
          <a:solidFill>
            <a:srgbClr val="F7EEEF"/>
          </a:solidFill>
          <a:ln w="12700">
            <a:solidFill>
              <a:srgbClr val="F7EEEF"/>
            </a:solidFill>
            <a:prstDash val="solid"/>
          </a:ln>
        </p:spPr>
      </p:sp>
      <p:sp>
        <p:nvSpPr>
          <p:cNvPr id="23" name="Text 21"/>
          <p:cNvSpPr txBox="1"/>
          <p:nvPr/>
        </p:nvSpPr>
        <p:spPr>
          <a:xfrm>
            <a:off x="4434840" y="3703320"/>
            <a:ext cx="3291840" cy="274320"/>
          </a:xfrm>
          <a:prstGeom prst="rect">
            <a:avLst/>
          </a:prstGeom>
          <a:noFill/>
          <a:ln/>
        </p:spPr>
        <p:txBody>
          <a:bodyPr wrap="square" lIns="0" tIns="0" rIns="0" bIns="0" rtlCol="0" anchor="ctr"/>
          <a:lstStyle/>
          <a:p>
            <a:pPr indent="0" marL="0">
              <a:buNone/>
            </a:pPr>
            <a:r>
              <a:rPr lang="en-US" sz="1000" b="1" spc="200" kern="0" dirty="0">
                <a:solidFill>
                  <a:srgbClr val="C9A227"/>
                </a:solidFill>
                <a:latin typeface="Calibri" pitchFamily="34" charset="0"/>
                <a:ea typeface="Calibri" pitchFamily="34" charset="-122"/>
                <a:cs typeface="Calibri" pitchFamily="34" charset="-120"/>
              </a:rPr>
              <a:t>DISTINCTIVE</a:t>
            </a:r>
            <a:endParaRPr lang="en-US" sz="1000" dirty="0"/>
          </a:p>
        </p:txBody>
      </p:sp>
      <p:sp>
        <p:nvSpPr>
          <p:cNvPr id="24" name="Text 22"/>
          <p:cNvSpPr txBox="1"/>
          <p:nvPr/>
        </p:nvSpPr>
        <p:spPr>
          <a:xfrm>
            <a:off x="4434840" y="397764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Rotasi skuad</a:t>
            </a:r>
            <a:endParaRPr lang="en-US" sz="1300" dirty="0"/>
          </a:p>
        </p:txBody>
      </p:sp>
      <p:sp>
        <p:nvSpPr>
          <p:cNvPr id="25" name="Text 23"/>
          <p:cNvSpPr txBox="1"/>
          <p:nvPr/>
        </p:nvSpPr>
        <p:spPr>
          <a:xfrm>
            <a:off x="4434840" y="452628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Kasus menyebut Ferguson "a pioneering exponent of squad rotation".</a:t>
            </a:r>
            <a:endParaRPr lang="en-US" sz="1050" dirty="0"/>
          </a:p>
        </p:txBody>
      </p:sp>
      <p:sp>
        <p:nvSpPr>
          <p:cNvPr id="26" name="Shape 24"/>
          <p:cNvSpPr/>
          <p:nvPr/>
        </p:nvSpPr>
        <p:spPr>
          <a:xfrm>
            <a:off x="8046720" y="3611880"/>
            <a:ext cx="3566160" cy="2103120"/>
          </a:xfrm>
          <a:prstGeom prst="roundRect">
            <a:avLst>
              <a:gd name="adj" fmla="val 3478"/>
            </a:avLst>
          </a:prstGeom>
          <a:solidFill>
            <a:srgbClr val="F7EEEF"/>
          </a:solidFill>
          <a:ln w="12700">
            <a:solidFill>
              <a:srgbClr val="F7EEEF"/>
            </a:solidFill>
            <a:prstDash val="solid"/>
          </a:ln>
        </p:spPr>
      </p:sp>
      <p:sp>
        <p:nvSpPr>
          <p:cNvPr id="27" name="Text 25"/>
          <p:cNvSpPr txBox="1"/>
          <p:nvPr/>
        </p:nvSpPr>
        <p:spPr>
          <a:xfrm>
            <a:off x="8183880" y="3703320"/>
            <a:ext cx="3291840" cy="274320"/>
          </a:xfrm>
          <a:prstGeom prst="rect">
            <a:avLst/>
          </a:prstGeom>
          <a:noFill/>
          <a:ln/>
        </p:spPr>
        <p:txBody>
          <a:bodyPr wrap="square" lIns="0" tIns="0" rIns="0" bIns="0" rtlCol="0" anchor="ctr"/>
          <a:lstStyle/>
          <a:p>
            <a:pPr indent="0" marL="0">
              <a:buNone/>
            </a:pPr>
            <a:r>
              <a:rPr lang="en-US" sz="1000" b="1" spc="200" kern="0" dirty="0">
                <a:solidFill>
                  <a:srgbClr val="6B6B6B"/>
                </a:solidFill>
                <a:latin typeface="Calibri" pitchFamily="34" charset="0"/>
                <a:ea typeface="Calibri" pitchFamily="34" charset="-122"/>
                <a:cs typeface="Calibri" pitchFamily="34" charset="-120"/>
              </a:rPr>
              <a:t>COMPETENCE</a:t>
            </a:r>
            <a:endParaRPr lang="en-US" sz="1000" dirty="0"/>
          </a:p>
        </p:txBody>
      </p:sp>
      <p:sp>
        <p:nvSpPr>
          <p:cNvPr id="28" name="Text 26"/>
          <p:cNvSpPr txBox="1"/>
          <p:nvPr/>
        </p:nvSpPr>
        <p:spPr>
          <a:xfrm>
            <a:off x="8183880" y="3977640"/>
            <a:ext cx="3291840" cy="502920"/>
          </a:xfrm>
          <a:prstGeom prst="rect">
            <a:avLst/>
          </a:prstGeom>
          <a:noFill/>
          <a:ln/>
        </p:spPr>
        <p:txBody>
          <a:bodyPr wrap="square" lIns="0" tIns="0" rIns="0" bIns="0" rtlCol="0" anchor="t"/>
          <a:lstStyle/>
          <a:p>
            <a:pPr indent="0" marL="0">
              <a:buNone/>
            </a:pPr>
            <a:r>
              <a:rPr lang="en-US" sz="1300" b="1" dirty="0">
                <a:solidFill>
                  <a:srgbClr val="2B2B2B"/>
                </a:solidFill>
                <a:latin typeface="Calibri" pitchFamily="34" charset="0"/>
                <a:ea typeface="Calibri" pitchFamily="34" charset="-122"/>
                <a:cs typeface="Calibri" pitchFamily="34" charset="-120"/>
              </a:rPr>
              <a:t>Tata kelola dan pemisahan peran</a:t>
            </a:r>
            <a:endParaRPr lang="en-US" sz="1300" dirty="0"/>
          </a:p>
        </p:txBody>
      </p:sp>
      <p:sp>
        <p:nvSpPr>
          <p:cNvPr id="29" name="Text 27"/>
          <p:cNvSpPr txBox="1"/>
          <p:nvPr/>
        </p:nvSpPr>
        <p:spPr>
          <a:xfrm>
            <a:off x="8183880" y="4526280"/>
            <a:ext cx="3291840" cy="114300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Glazer memilih peran pasif; Ferguson dan Gill diberi kebebasan. Berjalan baik, tetapi bukan pembeda.</a:t>
            </a:r>
            <a:endParaRPr lang="en-US" sz="1050" dirty="0"/>
          </a:p>
        </p:txBody>
      </p:sp>
      <p:sp>
        <p:nvSpPr>
          <p:cNvPr id="30" name="Text 28"/>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200" b="1" dirty="0">
                <a:solidFill>
                  <a:srgbClr val="8C1D2B"/>
                </a:solidFill>
                <a:latin typeface="Calibri" pitchFamily="34" charset="0"/>
                <a:ea typeface="Calibri" pitchFamily="34" charset="-122"/>
                <a:cs typeface="Calibri" pitchFamily="34" charset="-120"/>
              </a:rPr>
              <a:t>Empat dari enam capability (bakat, pembentukan tim, disiplin transfer, rotasi) bergantung pada orang yang sama. Hanya kemampuan komersial yang tidak bergantung pada Ferguson.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UJI VRIN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Dua keunggulan diuji: lolos empat tes, risiko berbeda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582–583, 586; Table 6.8. Definisi tes: Thompson, Peteraf, Gamble &amp; Strickland (2024), Crafting &amp; Executing Strategy, 24th ed., Ch. 4, hlm. 101–102. Konsep transferability: Grant, Contemporary Strategy Analysis (dalam daftar bacaan silabus).</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645920"/>
                <a:gridCol w="4709160"/>
                <a:gridCol w="470916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Tes</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Sistem Ferguson (resource bundle)</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Merek dan mesin komersial</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r>
              <a:tr h="0">
                <a:tc>
                  <a:txBody>
                    <a:bodyPr/>
                    <a:lstStyle/>
                    <a:p>
                      <a:pPr indent="0" marL="0">
                        <a:buNone/>
                      </a:pPr>
                      <a:r>
                        <a:rPr lang="en-US" sz="1050" b="1" dirty="0">
                          <a:solidFill>
                            <a:srgbClr val="2B2B2B"/>
                          </a:solidFill>
                          <a:latin typeface="Calibri" pitchFamily="34" charset="0"/>
                          <a:ea typeface="Calibri" pitchFamily="34" charset="-122"/>
                          <a:cs typeface="Calibri" pitchFamily="34" charset="-120"/>
                        </a:rPr>
                        <a:t>Valuable</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Poin Eropa tertinggi, tiga gelar beruntun, Liga Champions 2008, laba tertinggi di Eropa.</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Aon £80 juta per 4 tahun (£20 juta per tahun), tertinggi di antara klub Inggris yang disebut kasus; Arsenal–Emirates £100 juta per 15 tahun, Chelsea–Samsung £50 juta per 5 tahun.</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1050" b="1" dirty="0">
                          <a:solidFill>
                            <a:srgbClr val="2B2B2B"/>
                          </a:solidFill>
                          <a:latin typeface="Calibri" pitchFamily="34" charset="0"/>
                          <a:ea typeface="Calibri" pitchFamily="34" charset="-122"/>
                          <a:cs typeface="Calibri" pitchFamily="34" charset="-120"/>
                        </a:rPr>
                        <a:t>Rare</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Table 6.8 memuat sedikit pelatih paling dihormati dunia; Ferguson yang masa jabatannya terpanjang di satu klub.</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80 juta pendukung di Asia. Kasus: hanya Real Madrid yang setara dalam mengeksploitasi merek global.</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1050" b="1" dirty="0">
                          <a:solidFill>
                            <a:srgbClr val="2B2B2B"/>
                          </a:solidFill>
                          <a:latin typeface="Calibri" pitchFamily="34" charset="0"/>
                          <a:ea typeface="Calibri" pitchFamily="34" charset="-122"/>
                          <a:cs typeface="Calibri" pitchFamily="34" charset="-120"/>
                        </a:rPr>
                        <a:t>Inimitable</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Kasus: penentu performa tim "remained a mystery … defies analysis" (causal ambiguity); 23 tahun akumulasi; social complexity.</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Dibangun puluhan tahun lewat prestasi dan siaran. Chelsea dan Manchester City dengan dana lebih besar belum menyamainya.</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1050" b="1" dirty="0">
                          <a:solidFill>
                            <a:srgbClr val="2B2B2B"/>
                          </a:solidFill>
                          <a:latin typeface="Calibri" pitchFamily="34" charset="0"/>
                          <a:ea typeface="Calibri" pitchFamily="34" charset="-122"/>
                          <a:cs typeface="Calibri" pitchFamily="34" charset="-120"/>
                        </a:rPr>
                        <a:t>Nonsubstitutable</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Pesaing mencoba mengganti sistem dengan uang: "Real Madrid and Chelsea’s lavishing of vast sums of money … has yielded teams that have failed to achieve greatness" (hlm. 583).</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LOLOS. Tidak ada pengganti bagi loyalitas pendukung; sponsor membeli akses ke basis fan, bukan ke stadion atau pemain tertentu.</a:t>
                      </a:r>
                      <a:endParaRPr lang="en-US" sz="105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bl>
          </a:graphicData>
        </a:graphic>
      </p:graphicFrame>
      <p:sp>
        <p:nvSpPr>
          <p:cNvPr id="7" name="Shape 4"/>
          <p:cNvSpPr/>
          <p:nvPr/>
        </p:nvSpPr>
        <p:spPr>
          <a:xfrm>
            <a:off x="548640" y="5257800"/>
            <a:ext cx="11064240" cy="1005840"/>
          </a:xfrm>
          <a:prstGeom prst="roundRect">
            <a:avLst>
              <a:gd name="adj" fmla="val 7273"/>
            </a:avLst>
          </a:prstGeom>
          <a:solidFill>
            <a:srgbClr val="FBEBD0"/>
          </a:solidFill>
          <a:ln w="12700">
            <a:solidFill>
              <a:srgbClr val="FBEBD0"/>
            </a:solidFill>
            <a:prstDash val="solid"/>
          </a:ln>
        </p:spPr>
      </p:sp>
      <p:sp>
        <p:nvSpPr>
          <p:cNvPr id="8" name="Text 5"/>
          <p:cNvSpPr txBox="1"/>
          <p:nvPr/>
        </p:nvSpPr>
        <p:spPr>
          <a:xfrm>
            <a:off x="685800" y="5349240"/>
            <a:ext cx="107899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Kesimpulan Q3 (koreksi dari versi sebelumnya)</a:t>
            </a:r>
            <a:endParaRPr lang="en-US" sz="1300" dirty="0"/>
          </a:p>
        </p:txBody>
      </p:sp>
      <p:sp>
        <p:nvSpPr>
          <p:cNvPr id="9" name="Text 6"/>
          <p:cNvSpPr txBox="1"/>
          <p:nvPr/>
        </p:nvSpPr>
        <p:spPr>
          <a:xfrm>
            <a:off x="685800" y="5669280"/>
            <a:ext cx="10789920" cy="50292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Sistem Ferguson lolos keempat tes, jadi ia sumber keunggulan yang bertahan terhadap pesaing. Risikonya bukan substitusi, melainkan transferability: aset itu melekat pada satu orang, bukan pada organisasi. Klub memperlakukannya sebagai resource yang dimiliki, padahal ia harus menjadi capability yang melekat pada klub.</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3 · DYNAMIC CAPABILITY</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Tiga kali membangun ulang tim juara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583–584.</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548640" y="1371600"/>
            <a:ext cx="3566160" cy="4023360"/>
          </a:xfrm>
          <a:prstGeom prst="roundRect">
            <a:avLst>
              <a:gd name="adj" fmla="val 2051"/>
            </a:avLst>
          </a:prstGeom>
          <a:solidFill>
            <a:srgbClr val="F7EEEF"/>
          </a:solidFill>
          <a:ln w="12700">
            <a:solidFill>
              <a:srgbClr val="F7EEEF"/>
            </a:solidFill>
            <a:prstDash val="solid"/>
          </a:ln>
        </p:spPr>
      </p:sp>
      <p:sp>
        <p:nvSpPr>
          <p:cNvPr id="7" name="Text 5"/>
          <p:cNvSpPr txBox="1"/>
          <p:nvPr/>
        </p:nvSpPr>
        <p:spPr>
          <a:xfrm>
            <a:off x="685800" y="1463040"/>
            <a:ext cx="32918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1986–1993</a:t>
            </a:r>
            <a:endParaRPr lang="en-US" sz="2000" dirty="0"/>
          </a:p>
        </p:txBody>
      </p:sp>
      <p:sp>
        <p:nvSpPr>
          <p:cNvPr id="8" name="Text 6"/>
          <p:cNvSpPr txBox="1"/>
          <p:nvPr/>
        </p:nvSpPr>
        <p:spPr>
          <a:xfrm>
            <a:off x="685800" y="1965960"/>
            <a:ext cx="3291840" cy="45720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Membersihkan dan membangun fondasi</a:t>
            </a:r>
            <a:endParaRPr lang="en-US" sz="1300" dirty="0"/>
          </a:p>
        </p:txBody>
      </p:sp>
      <p:sp>
        <p:nvSpPr>
          <p:cNvPr id="9" name="Text 7"/>
          <p:cNvSpPr txBox="1"/>
          <p:nvPr/>
        </p:nvSpPr>
        <p:spPr>
          <a:xfrm>
            <a:off x="685800" y="2468880"/>
            <a:ext cx="3291840" cy="192024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Ferguson menyingkirkan pemain yang dinilai kurang berbakat atau berkomitmen, mempertahankan Bryan Robson, mendatangkan Hughes, Ince, Cantona, Keane; menegakkan disiplin latihan dan melarang alkohol.</a:t>
            </a:r>
            <a:endParaRPr lang="en-US" sz="1100" dirty="0"/>
          </a:p>
        </p:txBody>
      </p:sp>
      <p:sp>
        <p:nvSpPr>
          <p:cNvPr id="10" name="Text 8"/>
          <p:cNvSpPr txBox="1"/>
          <p:nvPr/>
        </p:nvSpPr>
        <p:spPr>
          <a:xfrm>
            <a:off x="685800" y="4480560"/>
            <a:ext cx="3291840" cy="822960"/>
          </a:xfrm>
          <a:prstGeom prst="rect">
            <a:avLst/>
          </a:prstGeom>
          <a:noFill/>
          <a:ln/>
        </p:spPr>
        <p:txBody>
          <a:bodyPr wrap="square" lIns="0" tIns="0" rIns="0" bIns="0" rtlCol="0" anchor="t"/>
          <a:lstStyle/>
          <a:p>
            <a:pPr indent="0" marL="0">
              <a:buNone/>
            </a:pPr>
            <a:r>
              <a:rPr lang="en-US" sz="1050" b="1" dirty="0">
                <a:solidFill>
                  <a:srgbClr val="8C1D2B"/>
                </a:solidFill>
                <a:latin typeface="Calibri" pitchFamily="34" charset="0"/>
                <a:ea typeface="Calibri" pitchFamily="34" charset="-122"/>
                <a:cs typeface="Calibri" pitchFamily="34" charset="-120"/>
              </a:rPr>
              <a:t>FA Cup 1990 · Cup Winners’ Cup 1991 · gelar liga 1993</a:t>
            </a:r>
            <a:endParaRPr lang="en-US" sz="1050" dirty="0"/>
          </a:p>
        </p:txBody>
      </p:sp>
      <p:sp>
        <p:nvSpPr>
          <p:cNvPr id="11" name="Shape 9"/>
          <p:cNvSpPr/>
          <p:nvPr/>
        </p:nvSpPr>
        <p:spPr>
          <a:xfrm>
            <a:off x="4297680" y="1371600"/>
            <a:ext cx="3566160" cy="4023360"/>
          </a:xfrm>
          <a:prstGeom prst="roundRect">
            <a:avLst>
              <a:gd name="adj" fmla="val 2051"/>
            </a:avLst>
          </a:prstGeom>
          <a:solidFill>
            <a:srgbClr val="F7EEEF"/>
          </a:solidFill>
          <a:ln w="12700">
            <a:solidFill>
              <a:srgbClr val="F7EEEF"/>
            </a:solidFill>
            <a:prstDash val="solid"/>
          </a:ln>
        </p:spPr>
      </p:sp>
      <p:sp>
        <p:nvSpPr>
          <p:cNvPr id="12" name="Text 10"/>
          <p:cNvSpPr txBox="1"/>
          <p:nvPr/>
        </p:nvSpPr>
        <p:spPr>
          <a:xfrm>
            <a:off x="4434840" y="1463040"/>
            <a:ext cx="32918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1994–2003</a:t>
            </a:r>
            <a:endParaRPr lang="en-US" sz="2000" dirty="0"/>
          </a:p>
        </p:txBody>
      </p:sp>
      <p:sp>
        <p:nvSpPr>
          <p:cNvPr id="13" name="Text 11"/>
          <p:cNvSpPr txBox="1"/>
          <p:nvPr/>
        </p:nvSpPr>
        <p:spPr>
          <a:xfrm>
            <a:off x="4434840" y="1965960"/>
            <a:ext cx="3291840" cy="45720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Generasi akademi</a:t>
            </a:r>
            <a:endParaRPr lang="en-US" sz="1300" dirty="0"/>
          </a:p>
        </p:txBody>
      </p:sp>
      <p:sp>
        <p:nvSpPr>
          <p:cNvPr id="14" name="Text 12"/>
          <p:cNvSpPr txBox="1"/>
          <p:nvPr/>
        </p:nvSpPr>
        <p:spPr>
          <a:xfrm>
            <a:off x="4434840" y="2468880"/>
            <a:ext cx="3291840" cy="192024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Juara liga junior 1990 menghasilkan Giggs, Beckham, Butt, Gary dan Phil Neville, Scholes; menjadi inti tim yang mendominasi Inggris.</a:t>
            </a:r>
            <a:endParaRPr lang="en-US" sz="1100" dirty="0"/>
          </a:p>
        </p:txBody>
      </p:sp>
      <p:sp>
        <p:nvSpPr>
          <p:cNvPr id="15" name="Text 13"/>
          <p:cNvSpPr txBox="1"/>
          <p:nvPr/>
        </p:nvSpPr>
        <p:spPr>
          <a:xfrm>
            <a:off x="4434840" y="4480560"/>
            <a:ext cx="3291840" cy="822960"/>
          </a:xfrm>
          <a:prstGeom prst="rect">
            <a:avLst/>
          </a:prstGeom>
          <a:noFill/>
          <a:ln/>
        </p:spPr>
        <p:txBody>
          <a:bodyPr wrap="square" lIns="0" tIns="0" rIns="0" bIns="0" rtlCol="0" anchor="t"/>
          <a:lstStyle/>
          <a:p>
            <a:pPr indent="0" marL="0">
              <a:buNone/>
            </a:pPr>
            <a:r>
              <a:rPr lang="en-US" sz="1050" b="1" dirty="0">
                <a:solidFill>
                  <a:srgbClr val="8C1D2B"/>
                </a:solidFill>
                <a:latin typeface="Calibri" pitchFamily="34" charset="0"/>
                <a:ea typeface="Calibri" pitchFamily="34" charset="-122"/>
                <a:cs typeface="Calibri" pitchFamily="34" charset="-120"/>
              </a:rPr>
              <a:t>Puncak 1999: liga, FA Cup, European Cup, Intercontinental Cup</a:t>
            </a:r>
            <a:endParaRPr lang="en-US" sz="1050" dirty="0"/>
          </a:p>
        </p:txBody>
      </p:sp>
      <p:sp>
        <p:nvSpPr>
          <p:cNvPr id="16" name="Shape 14"/>
          <p:cNvSpPr/>
          <p:nvPr/>
        </p:nvSpPr>
        <p:spPr>
          <a:xfrm>
            <a:off x="8046720" y="1371600"/>
            <a:ext cx="3566160" cy="4023360"/>
          </a:xfrm>
          <a:prstGeom prst="roundRect">
            <a:avLst>
              <a:gd name="adj" fmla="val 2051"/>
            </a:avLst>
          </a:prstGeom>
          <a:solidFill>
            <a:srgbClr val="F7EEEF"/>
          </a:solidFill>
          <a:ln w="12700">
            <a:solidFill>
              <a:srgbClr val="F7EEEF"/>
            </a:solidFill>
            <a:prstDash val="solid"/>
          </a:ln>
        </p:spPr>
      </p:sp>
      <p:sp>
        <p:nvSpPr>
          <p:cNvPr id="17" name="Text 15"/>
          <p:cNvSpPr txBox="1"/>
          <p:nvPr/>
        </p:nvSpPr>
        <p:spPr>
          <a:xfrm>
            <a:off x="8183880" y="1463040"/>
            <a:ext cx="3291840" cy="457200"/>
          </a:xfrm>
          <a:prstGeom prst="rect">
            <a:avLst/>
          </a:prstGeom>
          <a:noFill/>
          <a:ln/>
        </p:spPr>
        <p:txBody>
          <a:bodyPr wrap="square" lIns="0" tIns="0" rIns="0" bIns="0" rtlCol="0" anchor="ctr"/>
          <a:lstStyle/>
          <a:p>
            <a:pPr indent="0" marL="0">
              <a:buNone/>
            </a:pPr>
            <a:r>
              <a:rPr lang="en-US" sz="2000" b="1" dirty="0">
                <a:solidFill>
                  <a:srgbClr val="8C1D2B"/>
                </a:solidFill>
                <a:latin typeface="Cambria" pitchFamily="34" charset="0"/>
                <a:ea typeface="Cambria" pitchFamily="34" charset="-122"/>
                <a:cs typeface="Cambria" pitchFamily="34" charset="-120"/>
              </a:rPr>
              <a:t>2003–2008</a:t>
            </a:r>
            <a:endParaRPr lang="en-US" sz="2000" dirty="0"/>
          </a:p>
        </p:txBody>
      </p:sp>
      <p:sp>
        <p:nvSpPr>
          <p:cNvPr id="18" name="Text 16"/>
          <p:cNvSpPr txBox="1"/>
          <p:nvPr/>
        </p:nvSpPr>
        <p:spPr>
          <a:xfrm>
            <a:off x="8183880" y="1965960"/>
            <a:ext cx="3291840" cy="45720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Regenerasi kedua</a:t>
            </a:r>
            <a:endParaRPr lang="en-US" sz="1300" dirty="0"/>
          </a:p>
        </p:txBody>
      </p:sp>
      <p:sp>
        <p:nvSpPr>
          <p:cNvPr id="19" name="Text 17"/>
          <p:cNvSpPr txBox="1"/>
          <p:nvPr/>
        </p:nvSpPr>
        <p:spPr>
          <a:xfrm>
            <a:off x="8183880" y="2468880"/>
            <a:ext cx="3291840" cy="1920240"/>
          </a:xfrm>
          <a:prstGeom prst="rect">
            <a:avLst/>
          </a:prstGeom>
          <a:noFill/>
          <a:ln/>
        </p:spPr>
        <p:txBody>
          <a:bodyPr wrap="square" lIns="0" tIns="0" rIns="0" bIns="0" rtlCol="0" anchor="t"/>
          <a:lstStyle/>
          <a:p>
            <a:pPr indent="0" marL="0">
              <a:buNone/>
            </a:pPr>
            <a:r>
              <a:rPr lang="en-US" sz="1100" dirty="0">
                <a:solidFill>
                  <a:srgbClr val="2B2B2B"/>
                </a:solidFill>
                <a:latin typeface="Calibri" pitchFamily="34" charset="0"/>
                <a:ea typeface="Calibri" pitchFamily="34" charset="-122"/>
                <a:cs typeface="Calibri" pitchFamily="34" charset="-120"/>
              </a:rPr>
              <a:t>Beckham, Keane, Schmeichel, Cole, Sheringham, Stam dijual. Pengganti: Ferdinand, Ronaldo, Rooney, van der Sar, Evra, Vidić, Carrick.</a:t>
            </a:r>
            <a:endParaRPr lang="en-US" sz="1100" dirty="0"/>
          </a:p>
        </p:txBody>
      </p:sp>
      <p:sp>
        <p:nvSpPr>
          <p:cNvPr id="20" name="Text 18"/>
          <p:cNvSpPr txBox="1"/>
          <p:nvPr/>
        </p:nvSpPr>
        <p:spPr>
          <a:xfrm>
            <a:off x="8183880" y="4480560"/>
            <a:ext cx="3291840" cy="822960"/>
          </a:xfrm>
          <a:prstGeom prst="rect">
            <a:avLst/>
          </a:prstGeom>
          <a:noFill/>
          <a:ln/>
        </p:spPr>
        <p:txBody>
          <a:bodyPr wrap="square" lIns="0" tIns="0" rIns="0" bIns="0" rtlCol="0" anchor="t"/>
          <a:lstStyle/>
          <a:p>
            <a:pPr indent="0" marL="0">
              <a:buNone/>
            </a:pPr>
            <a:r>
              <a:rPr lang="en-US" sz="1050" b="1" dirty="0">
                <a:solidFill>
                  <a:srgbClr val="8C1D2B"/>
                </a:solidFill>
                <a:latin typeface="Calibri" pitchFamily="34" charset="0"/>
                <a:ea typeface="Calibri" pitchFamily="34" charset="-122"/>
                <a:cs typeface="Calibri" pitchFamily="34" charset="-120"/>
              </a:rPr>
              <a:t>Liga Champions 2008 · tiga gelar liga beruntun 2007–2009</a:t>
            </a:r>
            <a:endParaRPr lang="en-US" sz="1050" dirty="0"/>
          </a:p>
        </p:txBody>
      </p:sp>
      <p:sp>
        <p:nvSpPr>
          <p:cNvPr id="21" name="Shape 19"/>
          <p:cNvSpPr/>
          <p:nvPr/>
        </p:nvSpPr>
        <p:spPr>
          <a:xfrm>
            <a:off x="548640" y="5532120"/>
            <a:ext cx="11064240" cy="731520"/>
          </a:xfrm>
          <a:prstGeom prst="roundRect">
            <a:avLst>
              <a:gd name="adj" fmla="val 10000"/>
            </a:avLst>
          </a:prstGeom>
          <a:solidFill>
            <a:srgbClr val="FBEBD0"/>
          </a:solidFill>
          <a:ln w="12700">
            <a:solidFill>
              <a:srgbClr val="FBEBD0"/>
            </a:solidFill>
            <a:prstDash val="solid"/>
          </a:ln>
        </p:spPr>
      </p:sp>
      <p:sp>
        <p:nvSpPr>
          <p:cNvPr id="22" name="Text 20"/>
          <p:cNvSpPr txBox="1"/>
          <p:nvPr/>
        </p:nvSpPr>
        <p:spPr>
          <a:xfrm>
            <a:off x="685800" y="5641848"/>
            <a:ext cx="10789920" cy="512064"/>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Pertanyaan utama kasus: kemampuan memperbarui diri ini milik Ferguson atau milik klub? Setelah Matt Busby pensiun 1969, MU tidak juara liga selama 18 tahun sampai Ferguson datang (hlm. 583).</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4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Rantai nilai klub: keunggulan biaya MU ada di hulu</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hlm. 578, 585–587; Appendix. Aktivitas dirumuskan ulang sesuai anjuran buku hlm. 105.</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48640" y="1371600"/>
            <a:ext cx="2148840" cy="1600200"/>
          </a:xfrm>
          <a:prstGeom prst="roundRect">
            <a:avLst>
              <a:gd name="adj" fmla="val 4571"/>
            </a:avLst>
          </a:prstGeom>
          <a:solidFill>
            <a:srgbClr val="F2DADD"/>
          </a:solidFill>
          <a:ln w="12700">
            <a:solidFill>
              <a:srgbClr val="F2DADD"/>
            </a:solidFill>
            <a:prstDash val="solid"/>
          </a:ln>
        </p:spPr>
      </p:sp>
      <p:sp>
        <p:nvSpPr>
          <p:cNvPr id="7" name="Shape 5"/>
          <p:cNvSpPr/>
          <p:nvPr/>
        </p:nvSpPr>
        <p:spPr>
          <a:xfrm>
            <a:off x="685800" y="1481328"/>
            <a:ext cx="365760" cy="365760"/>
          </a:xfrm>
          <a:prstGeom prst="ellipse">
            <a:avLst/>
          </a:prstGeom>
          <a:solidFill>
            <a:srgbClr val="8C1D2B"/>
          </a:solidFill>
          <a:ln w="12700">
            <a:solidFill>
              <a:srgbClr val="8C1D2B"/>
            </a:solidFill>
            <a:prstDash val="solid"/>
          </a:ln>
        </p:spPr>
      </p:sp>
      <p:sp>
        <p:nvSpPr>
          <p:cNvPr id="8" name="Text 6"/>
          <p:cNvSpPr txBox="1"/>
          <p:nvPr/>
        </p:nvSpPr>
        <p:spPr>
          <a:xfrm>
            <a:off x="685800" y="1481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143000" y="1444752"/>
            <a:ext cx="1463040" cy="502920"/>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Mendapatkan pemain</a:t>
            </a:r>
            <a:endParaRPr lang="en-US" sz="1100" dirty="0"/>
          </a:p>
        </p:txBody>
      </p:sp>
      <p:sp>
        <p:nvSpPr>
          <p:cNvPr id="10" name="Text 8"/>
          <p:cNvSpPr txBox="1"/>
          <p:nvPr/>
        </p:nvSpPr>
        <p:spPr>
          <a:xfrm>
            <a:off x="685800" y="2011680"/>
            <a:ext cx="1874520" cy="914400"/>
          </a:xfrm>
          <a:prstGeom prst="rect">
            <a:avLst/>
          </a:prstGeom>
          <a:noFill/>
          <a:ln/>
        </p:spPr>
        <p:txBody>
          <a:bodyPr wrap="square" lIns="0" tIns="0" rIns="0" bIns="0" rtlCol="0" anchor="t"/>
          <a:lstStyle/>
          <a:p>
            <a:pPr indent="0" marL="0">
              <a:buNone/>
            </a:pPr>
            <a:r>
              <a:rPr lang="en-US" sz="950" dirty="0">
                <a:solidFill>
                  <a:srgbClr val="6B6B6B"/>
                </a:solidFill>
                <a:latin typeface="Calibri" pitchFamily="34" charset="0"/>
                <a:ea typeface="Calibri" pitchFamily="34" charset="-122"/>
                <a:cs typeface="Calibri" pitchFamily="34" charset="-120"/>
              </a:rPr>
              <a:t>Akademi, 20+ pemandu bakat, pasar transfer</a:t>
            </a:r>
            <a:endParaRPr lang="en-US" sz="950" dirty="0"/>
          </a:p>
        </p:txBody>
      </p:sp>
      <p:sp>
        <p:nvSpPr>
          <p:cNvPr id="11" name="Shape 9"/>
          <p:cNvSpPr/>
          <p:nvPr/>
        </p:nvSpPr>
        <p:spPr>
          <a:xfrm>
            <a:off x="2788920" y="1371600"/>
            <a:ext cx="2148840" cy="1600200"/>
          </a:xfrm>
          <a:prstGeom prst="roundRect">
            <a:avLst>
              <a:gd name="adj" fmla="val 4571"/>
            </a:avLst>
          </a:prstGeom>
          <a:solidFill>
            <a:srgbClr val="F7EEEF"/>
          </a:solidFill>
          <a:ln w="12700">
            <a:solidFill>
              <a:srgbClr val="F7EEEF"/>
            </a:solidFill>
            <a:prstDash val="solid"/>
          </a:ln>
        </p:spPr>
      </p:sp>
      <p:sp>
        <p:nvSpPr>
          <p:cNvPr id="12" name="Shape 10"/>
          <p:cNvSpPr/>
          <p:nvPr/>
        </p:nvSpPr>
        <p:spPr>
          <a:xfrm>
            <a:off x="2926080" y="1481328"/>
            <a:ext cx="365760" cy="365760"/>
          </a:xfrm>
          <a:prstGeom prst="ellipse">
            <a:avLst/>
          </a:prstGeom>
          <a:solidFill>
            <a:srgbClr val="8C1D2B"/>
          </a:solidFill>
          <a:ln w="12700">
            <a:solidFill>
              <a:srgbClr val="8C1D2B"/>
            </a:solidFill>
            <a:prstDash val="solid"/>
          </a:ln>
        </p:spPr>
      </p:sp>
      <p:sp>
        <p:nvSpPr>
          <p:cNvPr id="13" name="Text 11"/>
          <p:cNvSpPr txBox="1"/>
          <p:nvPr/>
        </p:nvSpPr>
        <p:spPr>
          <a:xfrm>
            <a:off x="2926080" y="1481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3383280" y="1444752"/>
            <a:ext cx="1463040" cy="502920"/>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Latihan dan bertanding</a:t>
            </a:r>
            <a:endParaRPr lang="en-US" sz="1100" dirty="0"/>
          </a:p>
        </p:txBody>
      </p:sp>
      <p:sp>
        <p:nvSpPr>
          <p:cNvPr id="15" name="Text 13"/>
          <p:cNvSpPr txBox="1"/>
          <p:nvPr/>
        </p:nvSpPr>
        <p:spPr>
          <a:xfrm>
            <a:off x="2926080" y="2011680"/>
            <a:ext cx="1874520" cy="914400"/>
          </a:xfrm>
          <a:prstGeom prst="rect">
            <a:avLst/>
          </a:prstGeom>
          <a:noFill/>
          <a:ln/>
        </p:spPr>
        <p:txBody>
          <a:bodyPr wrap="square" lIns="0" tIns="0" rIns="0" bIns="0" rtlCol="0" anchor="t"/>
          <a:lstStyle/>
          <a:p>
            <a:pPr indent="0" marL="0">
              <a:buNone/>
            </a:pPr>
            <a:r>
              <a:rPr lang="en-US" sz="950" dirty="0">
                <a:solidFill>
                  <a:srgbClr val="6B6B6B"/>
                </a:solidFill>
                <a:latin typeface="Calibri" pitchFamily="34" charset="0"/>
                <a:ea typeface="Calibri" pitchFamily="34" charset="-122"/>
                <a:cs typeface="Calibri" pitchFamily="34" charset="-120"/>
              </a:rPr>
              <a:t>Disiplin latihan, rotasi skuad, kontrol lini tengah</a:t>
            </a:r>
            <a:endParaRPr lang="en-US" sz="950" dirty="0"/>
          </a:p>
        </p:txBody>
      </p:sp>
      <p:sp>
        <p:nvSpPr>
          <p:cNvPr id="16" name="Shape 14"/>
          <p:cNvSpPr/>
          <p:nvPr/>
        </p:nvSpPr>
        <p:spPr>
          <a:xfrm>
            <a:off x="5029200" y="1371600"/>
            <a:ext cx="2148840" cy="1600200"/>
          </a:xfrm>
          <a:prstGeom prst="roundRect">
            <a:avLst>
              <a:gd name="adj" fmla="val 4571"/>
            </a:avLst>
          </a:prstGeom>
          <a:solidFill>
            <a:srgbClr val="F7EEEF"/>
          </a:solidFill>
          <a:ln w="12700">
            <a:solidFill>
              <a:srgbClr val="F7EEEF"/>
            </a:solidFill>
            <a:prstDash val="solid"/>
          </a:ln>
        </p:spPr>
      </p:sp>
      <p:sp>
        <p:nvSpPr>
          <p:cNvPr id="17" name="Shape 15"/>
          <p:cNvSpPr/>
          <p:nvPr/>
        </p:nvSpPr>
        <p:spPr>
          <a:xfrm>
            <a:off x="5166360" y="1481328"/>
            <a:ext cx="365760" cy="365760"/>
          </a:xfrm>
          <a:prstGeom prst="ellipse">
            <a:avLst/>
          </a:prstGeom>
          <a:solidFill>
            <a:srgbClr val="8C1D2B"/>
          </a:solidFill>
          <a:ln w="12700">
            <a:solidFill>
              <a:srgbClr val="8C1D2B"/>
            </a:solidFill>
            <a:prstDash val="solid"/>
          </a:ln>
        </p:spPr>
      </p:sp>
      <p:sp>
        <p:nvSpPr>
          <p:cNvPr id="18" name="Text 16"/>
          <p:cNvSpPr txBox="1"/>
          <p:nvPr/>
        </p:nvSpPr>
        <p:spPr>
          <a:xfrm>
            <a:off x="5166360" y="1481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5623560" y="1444752"/>
            <a:ext cx="1463040" cy="502920"/>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Menyalurkan tontonan</a:t>
            </a:r>
            <a:endParaRPr lang="en-US" sz="1100" dirty="0"/>
          </a:p>
        </p:txBody>
      </p:sp>
      <p:sp>
        <p:nvSpPr>
          <p:cNvPr id="20" name="Text 18"/>
          <p:cNvSpPr txBox="1"/>
          <p:nvPr/>
        </p:nvSpPr>
        <p:spPr>
          <a:xfrm>
            <a:off x="5166360" y="2011680"/>
            <a:ext cx="1874520" cy="914400"/>
          </a:xfrm>
          <a:prstGeom prst="rect">
            <a:avLst/>
          </a:prstGeom>
          <a:noFill/>
          <a:ln/>
        </p:spPr>
        <p:txBody>
          <a:bodyPr wrap="square" lIns="0" tIns="0" rIns="0" bIns="0" rtlCol="0" anchor="t"/>
          <a:lstStyle/>
          <a:p>
            <a:pPr indent="0" marL="0">
              <a:buNone/>
            </a:pPr>
            <a:r>
              <a:rPr lang="en-US" sz="950" dirty="0">
                <a:solidFill>
                  <a:srgbClr val="6B6B6B"/>
                </a:solidFill>
                <a:latin typeface="Calibri" pitchFamily="34" charset="0"/>
                <a:ea typeface="Calibri" pitchFamily="34" charset="-122"/>
                <a:cs typeface="Calibri" pitchFamily="34" charset="-120"/>
              </a:rPr>
              <a:t>Hak siar liga dan UEFA, MUTV, Old Trafford</a:t>
            </a:r>
            <a:endParaRPr lang="en-US" sz="950" dirty="0"/>
          </a:p>
        </p:txBody>
      </p:sp>
      <p:sp>
        <p:nvSpPr>
          <p:cNvPr id="21" name="Shape 19"/>
          <p:cNvSpPr/>
          <p:nvPr/>
        </p:nvSpPr>
        <p:spPr>
          <a:xfrm>
            <a:off x="7269480" y="1371600"/>
            <a:ext cx="2148840" cy="1600200"/>
          </a:xfrm>
          <a:prstGeom prst="roundRect">
            <a:avLst>
              <a:gd name="adj" fmla="val 4571"/>
            </a:avLst>
          </a:prstGeom>
          <a:solidFill>
            <a:srgbClr val="F7EEEF"/>
          </a:solidFill>
          <a:ln w="12700">
            <a:solidFill>
              <a:srgbClr val="F7EEEF"/>
            </a:solidFill>
            <a:prstDash val="solid"/>
          </a:ln>
        </p:spPr>
      </p:sp>
      <p:sp>
        <p:nvSpPr>
          <p:cNvPr id="22" name="Shape 20"/>
          <p:cNvSpPr/>
          <p:nvPr/>
        </p:nvSpPr>
        <p:spPr>
          <a:xfrm>
            <a:off x="7406640" y="1481328"/>
            <a:ext cx="365760" cy="365760"/>
          </a:xfrm>
          <a:prstGeom prst="ellipse">
            <a:avLst/>
          </a:prstGeom>
          <a:solidFill>
            <a:srgbClr val="8C1D2B"/>
          </a:solidFill>
          <a:ln w="12700">
            <a:solidFill>
              <a:srgbClr val="8C1D2B"/>
            </a:solidFill>
            <a:prstDash val="solid"/>
          </a:ln>
        </p:spPr>
      </p:sp>
      <p:sp>
        <p:nvSpPr>
          <p:cNvPr id="23" name="Text 21"/>
          <p:cNvSpPr txBox="1"/>
          <p:nvPr/>
        </p:nvSpPr>
        <p:spPr>
          <a:xfrm>
            <a:off x="7406640" y="1481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4" name="Text 22"/>
          <p:cNvSpPr txBox="1"/>
          <p:nvPr/>
        </p:nvSpPr>
        <p:spPr>
          <a:xfrm>
            <a:off x="7863840" y="1444752"/>
            <a:ext cx="1463040" cy="502920"/>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Menjual merek</a:t>
            </a:r>
            <a:endParaRPr lang="en-US" sz="1100" dirty="0"/>
          </a:p>
        </p:txBody>
      </p:sp>
      <p:sp>
        <p:nvSpPr>
          <p:cNvPr id="25" name="Text 23"/>
          <p:cNvSpPr txBox="1"/>
          <p:nvPr/>
        </p:nvSpPr>
        <p:spPr>
          <a:xfrm>
            <a:off x="7406640" y="2011680"/>
            <a:ext cx="1874520" cy="914400"/>
          </a:xfrm>
          <a:prstGeom prst="rect">
            <a:avLst/>
          </a:prstGeom>
          <a:noFill/>
          <a:ln/>
        </p:spPr>
        <p:txBody>
          <a:bodyPr wrap="square" lIns="0" tIns="0" rIns="0" bIns="0" rtlCol="0" anchor="t"/>
          <a:lstStyle/>
          <a:p>
            <a:pPr indent="0" marL="0">
              <a:buNone/>
            </a:pPr>
            <a:r>
              <a:rPr lang="en-US" sz="950" dirty="0">
                <a:solidFill>
                  <a:srgbClr val="6B6B6B"/>
                </a:solidFill>
                <a:latin typeface="Calibri" pitchFamily="34" charset="0"/>
                <a:ea typeface="Calibri" pitchFamily="34" charset="-122"/>
                <a:cs typeface="Calibri" pitchFamily="34" charset="-120"/>
              </a:rPr>
              <a:t>Aon, Nike, sponsor per negara, tur Asia</a:t>
            </a:r>
            <a:endParaRPr lang="en-US" sz="950" dirty="0"/>
          </a:p>
        </p:txBody>
      </p:sp>
      <p:sp>
        <p:nvSpPr>
          <p:cNvPr id="26" name="Shape 24"/>
          <p:cNvSpPr/>
          <p:nvPr/>
        </p:nvSpPr>
        <p:spPr>
          <a:xfrm>
            <a:off x="9509760" y="1371600"/>
            <a:ext cx="2148840" cy="1600200"/>
          </a:xfrm>
          <a:prstGeom prst="roundRect">
            <a:avLst>
              <a:gd name="adj" fmla="val 4571"/>
            </a:avLst>
          </a:prstGeom>
          <a:solidFill>
            <a:srgbClr val="F7EEEF"/>
          </a:solidFill>
          <a:ln w="12700">
            <a:solidFill>
              <a:srgbClr val="F7EEEF"/>
            </a:solidFill>
            <a:prstDash val="solid"/>
          </a:ln>
        </p:spPr>
      </p:sp>
      <p:sp>
        <p:nvSpPr>
          <p:cNvPr id="27" name="Shape 25"/>
          <p:cNvSpPr/>
          <p:nvPr/>
        </p:nvSpPr>
        <p:spPr>
          <a:xfrm>
            <a:off x="9646920" y="1481328"/>
            <a:ext cx="365760" cy="365760"/>
          </a:xfrm>
          <a:prstGeom prst="ellipse">
            <a:avLst/>
          </a:prstGeom>
          <a:solidFill>
            <a:srgbClr val="8C1D2B"/>
          </a:solidFill>
          <a:ln w="12700">
            <a:solidFill>
              <a:srgbClr val="8C1D2B"/>
            </a:solidFill>
            <a:prstDash val="solid"/>
          </a:ln>
        </p:spPr>
      </p:sp>
      <p:sp>
        <p:nvSpPr>
          <p:cNvPr id="28" name="Text 26"/>
          <p:cNvSpPr txBox="1"/>
          <p:nvPr/>
        </p:nvSpPr>
        <p:spPr>
          <a:xfrm>
            <a:off x="9646920" y="14813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9" name="Text 27"/>
          <p:cNvSpPr txBox="1"/>
          <p:nvPr/>
        </p:nvSpPr>
        <p:spPr>
          <a:xfrm>
            <a:off x="10104120" y="1444752"/>
            <a:ext cx="1463040" cy="502920"/>
          </a:xfrm>
          <a:prstGeom prst="rect">
            <a:avLst/>
          </a:prstGeom>
          <a:noFill/>
          <a:ln/>
        </p:spPr>
        <p:txBody>
          <a:bodyPr wrap="square" lIns="0" tIns="0" rIns="0" bIns="0" rtlCol="0" anchor="t"/>
          <a:lstStyle/>
          <a:p>
            <a:pPr indent="0" marL="0">
              <a:buNone/>
            </a:pPr>
            <a:r>
              <a:rPr lang="en-US" sz="1100" b="1" dirty="0">
                <a:solidFill>
                  <a:srgbClr val="2B2B2B"/>
                </a:solidFill>
                <a:latin typeface="Calibri" pitchFamily="34" charset="0"/>
                <a:ea typeface="Calibri" pitchFamily="34" charset="-122"/>
                <a:cs typeface="Calibri" pitchFamily="34" charset="-120"/>
              </a:rPr>
              <a:t>Melayani pendukung</a:t>
            </a:r>
            <a:endParaRPr lang="en-US" sz="1100" dirty="0"/>
          </a:p>
        </p:txBody>
      </p:sp>
      <p:sp>
        <p:nvSpPr>
          <p:cNvPr id="30" name="Text 28"/>
          <p:cNvSpPr txBox="1"/>
          <p:nvPr/>
        </p:nvSpPr>
        <p:spPr>
          <a:xfrm>
            <a:off x="9646920" y="2011680"/>
            <a:ext cx="1874520" cy="914400"/>
          </a:xfrm>
          <a:prstGeom prst="rect">
            <a:avLst/>
          </a:prstGeom>
          <a:noFill/>
          <a:ln/>
        </p:spPr>
        <p:txBody>
          <a:bodyPr wrap="square" lIns="0" tIns="0" rIns="0" bIns="0" rtlCol="0" anchor="t"/>
          <a:lstStyle/>
          <a:p>
            <a:pPr indent="0" marL="0">
              <a:buNone/>
            </a:pPr>
            <a:r>
              <a:rPr lang="en-US" sz="950" dirty="0">
                <a:solidFill>
                  <a:srgbClr val="6B6B6B"/>
                </a:solidFill>
                <a:latin typeface="Calibri" pitchFamily="34" charset="0"/>
                <a:ea typeface="Calibri" pitchFamily="34" charset="-122"/>
                <a:cs typeface="Calibri" pitchFamily="34" charset="-120"/>
              </a:rPr>
              <a:t>Superstore, museum, Soccer Schools, MU Mobile</a:t>
            </a:r>
            <a:endParaRPr lang="en-US" sz="950" dirty="0"/>
          </a:p>
        </p:txBody>
      </p:sp>
      <p:sp>
        <p:nvSpPr>
          <p:cNvPr id="31" name="Text 29"/>
          <p:cNvSpPr txBox="1"/>
          <p:nvPr/>
        </p:nvSpPr>
        <p:spPr>
          <a:xfrm>
            <a:off x="548640" y="3063240"/>
            <a:ext cx="1106424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Aktivitas pendukung: metodologi akademi dan inovasi rotasi skuad (R&amp;D); rekrutmen, struktur gaji, disiplin (SDM); pemisahan peran Gill dan Ferguson, MU International (administrasi umum).</a:t>
            </a:r>
            <a:endParaRPr lang="en-US" sz="1100" dirty="0"/>
          </a:p>
        </p:txBody>
      </p:sp>
      <p:sp>
        <p:nvSpPr>
          <p:cNvPr id="32" name="Shape 30"/>
          <p:cNvSpPr/>
          <p:nvPr/>
        </p:nvSpPr>
        <p:spPr>
          <a:xfrm>
            <a:off x="548640" y="3566160"/>
            <a:ext cx="5394960" cy="2651760"/>
          </a:xfrm>
          <a:prstGeom prst="roundRect">
            <a:avLst>
              <a:gd name="adj" fmla="val 2759"/>
            </a:avLst>
          </a:prstGeom>
          <a:solidFill>
            <a:srgbClr val="F7EEEF"/>
          </a:solidFill>
          <a:ln w="12700">
            <a:solidFill>
              <a:srgbClr val="F7EEEF"/>
            </a:solidFill>
            <a:prstDash val="solid"/>
          </a:ln>
        </p:spPr>
      </p:sp>
      <p:sp>
        <p:nvSpPr>
          <p:cNvPr id="33" name="Text 31"/>
          <p:cNvSpPr txBox="1"/>
          <p:nvPr/>
        </p:nvSpPr>
        <p:spPr>
          <a:xfrm>
            <a:off x="685800" y="3657600"/>
            <a:ext cx="5120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Di mana letak keunggulan biayanya</a:t>
            </a:r>
            <a:endParaRPr lang="en-US" sz="1300" dirty="0"/>
          </a:p>
        </p:txBody>
      </p:sp>
      <p:sp>
        <p:nvSpPr>
          <p:cNvPr id="34" name="Text 32"/>
          <p:cNvSpPr txBox="1"/>
          <p:nvPr/>
        </p:nvSpPr>
        <p:spPr>
          <a:xfrm>
            <a:off x="685800" y="3977640"/>
            <a:ext cx="5120640" cy="214884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Gaji sekitar 50% pendapatan, dibanding rata-rata Premier League 62%, Serie A 68%, Chelsea 81% (hlm. 578).</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Akademi memasok pemain tanpa biaya transfer; belanja bersih moderat.</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Menjual di puncak harga: Ronaldo £80 juta (rekor dunia); laba penjualan pemain £21,8 juta pada 2008 saja.</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Catatan: amortisasi pemain naik dari £13,1 juta (2000) ke £35,5 juta (2008).</a:t>
            </a:r>
            <a:endParaRPr lang="en-US" sz="1200" dirty="0"/>
          </a:p>
        </p:txBody>
      </p:sp>
      <p:sp>
        <p:nvSpPr>
          <p:cNvPr id="35" name="Shape 33"/>
          <p:cNvSpPr/>
          <p:nvPr/>
        </p:nvSpPr>
        <p:spPr>
          <a:xfrm>
            <a:off x="6126480" y="3566160"/>
            <a:ext cx="5486400" cy="2651760"/>
          </a:xfrm>
          <a:prstGeom prst="roundRect">
            <a:avLst>
              <a:gd name="adj" fmla="val 2759"/>
            </a:avLst>
          </a:prstGeom>
          <a:solidFill>
            <a:srgbClr val="F7EEEF"/>
          </a:solidFill>
          <a:ln w="12700">
            <a:solidFill>
              <a:srgbClr val="F7EEEF"/>
            </a:solidFill>
            <a:prstDash val="solid"/>
          </a:ln>
        </p:spPr>
      </p:sp>
      <p:sp>
        <p:nvSpPr>
          <p:cNvPr id="36" name="Text 34"/>
          <p:cNvSpPr txBox="1"/>
          <p:nvPr/>
        </p:nvSpPr>
        <p:spPr>
          <a:xfrm>
            <a:off x="6263640" y="365760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Nilai bagi dua pihak yang berbeda</a:t>
            </a:r>
            <a:endParaRPr lang="en-US" sz="1300" dirty="0"/>
          </a:p>
        </p:txBody>
      </p:sp>
      <p:sp>
        <p:nvSpPr>
          <p:cNvPr id="37" name="Text 35"/>
          <p:cNvSpPr txBox="1"/>
          <p:nvPr/>
        </p:nvSpPr>
        <p:spPr>
          <a:xfrm>
            <a:off x="6263640" y="3977640"/>
            <a:ext cx="5212080" cy="214884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Bagi pendukung: prestasi, sejarah, dan pengalaman Old Trafford.</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Bagi sponsor: akses ke 80 juta pendukung Asia. Bukti efektivitasnya: AIG "came from nowhere on the list of the world’s top 100 brands to 47th" dalam setahun pertama (hlm. 573).</a:t>
            </a:r>
            <a:endParaRPr lang="en-US" sz="1200" dirty="0"/>
          </a:p>
          <a:p>
            <a:pPr indent="0" marL="0">
              <a:spcAft>
                <a:spcPts val="300"/>
              </a:spcAft>
              <a:buNone/>
            </a:pP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Keunggulan biaya di aktivitas pertandingan berasal dari aktivitas hulu, sama seperti keunggulan biaya AirAsia di penerbangan berasal dari utilisasi dan waktu putar.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4 · BENCHMARKING</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Tolok ukur yang benar: margin, bukan pendapatan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Grant (2010), Case 6 "Manchester United: Preparing for Life without Ferguson", Table 6.5 (Forbes 2009) dan Table 6.6; margin dihitung dari EBITDA dibagi pendapatan.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30</a:t>
            </a:r>
            <a:endParaRPr lang="en-US" sz="900" dirty="0"/>
          </a:p>
        </p:txBody>
      </p:sp>
      <p:graphicFrame>
        <p:nvGraphicFramePr>
          <p:cNvPr id="6" name="Chart 0" descr=""/>
          <p:cNvGraphicFramePr/>
          <p:nvPr/>
        </p:nvGraphicFramePr>
        <p:xfrm>
          <a:off x="548640" y="137160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15200" y="1371600"/>
            <a:ext cx="4297680" cy="2377440"/>
          </a:xfrm>
          <a:prstGeom prst="roundRect">
            <a:avLst>
              <a:gd name="adj" fmla="val 3077"/>
            </a:avLst>
          </a:prstGeom>
          <a:solidFill>
            <a:srgbClr val="F7EEEF"/>
          </a:solidFill>
          <a:ln w="12700">
            <a:solidFill>
              <a:srgbClr val="F7EEEF"/>
            </a:solidFill>
            <a:prstDash val="solid"/>
          </a:ln>
        </p:spPr>
      </p:sp>
      <p:sp>
        <p:nvSpPr>
          <p:cNvPr id="8" name="Text 5"/>
          <p:cNvSpPr txBox="1"/>
          <p:nvPr/>
        </p:nvSpPr>
        <p:spPr>
          <a:xfrm>
            <a:off x="7452360" y="1463040"/>
            <a:ext cx="40233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Tiga model perolehan pemain</a:t>
            </a:r>
            <a:endParaRPr lang="en-US" sz="1300" dirty="0"/>
          </a:p>
        </p:txBody>
      </p:sp>
      <p:sp>
        <p:nvSpPr>
          <p:cNvPr id="9" name="Text 6"/>
          <p:cNvSpPr txBox="1"/>
          <p:nvPr/>
        </p:nvSpPr>
        <p:spPr>
          <a:xfrm>
            <a:off x="7452360" y="1783080"/>
            <a:ext cx="4023360" cy="187452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Membeli pemain terbaik: Real Madrid, Chelsea. Pendapatan tinggi, laba rendah atau negatif.</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Mengembangkan sendiri: Barcelona, Arsenal, Bayern. Laba positif dengan pendapatan lebih rendah.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Gabungan keduanya: MU membeli bintang tetapi menjual saat klub lain menilai lebih tinggi (hlm. 580, 583).</a:t>
            </a:r>
            <a:endParaRPr lang="en-US" sz="1150" dirty="0"/>
          </a:p>
        </p:txBody>
      </p:sp>
      <p:sp>
        <p:nvSpPr>
          <p:cNvPr id="10" name="Shape 7"/>
          <p:cNvSpPr/>
          <p:nvPr/>
        </p:nvSpPr>
        <p:spPr>
          <a:xfrm>
            <a:off x="7315200" y="3886200"/>
            <a:ext cx="4297680" cy="2331720"/>
          </a:xfrm>
          <a:prstGeom prst="roundRect">
            <a:avLst>
              <a:gd name="adj" fmla="val 3137"/>
            </a:avLst>
          </a:prstGeom>
          <a:solidFill>
            <a:srgbClr val="F7EEEF"/>
          </a:solidFill>
          <a:ln w="12700">
            <a:solidFill>
              <a:srgbClr val="F7EEEF"/>
            </a:solidFill>
            <a:prstDash val="solid"/>
          </a:ln>
        </p:spPr>
      </p:sp>
      <p:sp>
        <p:nvSpPr>
          <p:cNvPr id="11" name="Text 8"/>
          <p:cNvSpPr txBox="1"/>
          <p:nvPr/>
        </p:nvSpPr>
        <p:spPr>
          <a:xfrm>
            <a:off x="7452360" y="3977640"/>
            <a:ext cx="40233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Praktik terbaik yang terbukti</a:t>
            </a:r>
            <a:endParaRPr lang="en-US" sz="1300" dirty="0"/>
          </a:p>
        </p:txBody>
      </p:sp>
      <p:sp>
        <p:nvSpPr>
          <p:cNvPr id="12" name="Text 9"/>
          <p:cNvSpPr txBox="1"/>
          <p:nvPr/>
        </p:nvSpPr>
        <p:spPr>
          <a:xfrm>
            <a:off x="7452360" y="4297680"/>
            <a:ext cx="4023360" cy="18288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Return on sales 2000–2006 (Table 6.6): MU 12,6%, Arsenal 5,6%, Bayern 4,7%, Real Madrid 0,4%, Chelsea −60,4%, Inter −78,4%.</a:t>
            </a:r>
            <a:endParaRPr lang="en-US" sz="1150" dirty="0"/>
          </a:p>
          <a:p>
            <a:pPr indent="0" marL="0">
              <a:spcAft>
                <a:spcPts val="300"/>
              </a:spcAft>
              <a:buNone/>
            </a:pP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Benchmarking mengubah dugaan VRIN menjadi bukti: sistem pengembangan dan perdagangan pemain benar-benar lebih unggul, bukan sekadar cerita.</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5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Matriks kekuatan: unggul tipis, bertumpu satu baris</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Bobot dan rating disusun kelompok dari Table 6.2, 6.3, 6.5, 6.6, 6.7 kasus. Isi sel: rating (1–10) / skor tertimbang. Jumlah bobot 1,00.</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31</a:t>
            </a:r>
            <a:endParaRPr lang="en-US" sz="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589520" cy="914400"/>
        </p:xfrm>
        <a:graphic>
          <a:graphicData uri="http://schemas.openxmlformats.org/drawingml/2006/table">
            <a:tbl>
              <a:tblPr/>
              <a:tblGrid>
                <a:gridCol w="2377440"/>
                <a:gridCol w="731520"/>
                <a:gridCol w="914400"/>
                <a:gridCol w="914400"/>
                <a:gridCol w="868680"/>
                <a:gridCol w="868680"/>
                <a:gridCol w="914400"/>
              </a:tblGrid>
              <a:tr h="38404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 Success Factor</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Bobot</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Man United</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Real Madrid</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Barcelona</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Chelsea</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Arsenal</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Kualitas skuad</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1,35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1,35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Kemampuan manajer</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0,75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8 / 1,20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8 / 1,20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Akademi dan pemandu bakat</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3 / 0,30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3 / 0,30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8 / 0,80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Merek dan basis pendukung</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1,35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7 / 1,05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0,75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Kemampuan komersial</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1,00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7 / 0,70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0,60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Profitabilitas</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1,00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7 / 0,70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 / 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6 / 0,60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Keleluasaan finansial (utang)</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4 / 0,40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7 / 0,70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0,50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2 / 0,20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Stadion dan matchday</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0,05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0,45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8 / 0,40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0,45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 / 0,25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0,45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Rekam jejak prestasi</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1,00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10 / 1,00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9 / 0,90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384048">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Total skor tertimbang</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8C1D2B"/>
                          </a:solidFill>
                          <a:latin typeface="Calibri" pitchFamily="34" charset="0"/>
                          <a:ea typeface="Calibri" pitchFamily="34" charset="-122"/>
                          <a:cs typeface="Calibri" pitchFamily="34" charset="-120"/>
                        </a:rPr>
                        <a:t>8,65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7,15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8,40</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5,55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algn="ctr" indent="0" marL="0">
                        <a:buNone/>
                      </a:pPr>
                      <a:r>
                        <a:rPr lang="en-US" sz="1000" b="1" dirty="0">
                          <a:solidFill>
                            <a:srgbClr val="2B2B2B"/>
                          </a:solidFill>
                          <a:latin typeface="Calibri" pitchFamily="34" charset="0"/>
                          <a:ea typeface="Calibri" pitchFamily="34" charset="-122"/>
                          <a:cs typeface="Calibri" pitchFamily="34" charset="-120"/>
                        </a:rPr>
                        <a:t>6,55</a:t>
                      </a:r>
                      <a:endParaRPr lang="en-US" sz="1000" dirty="0">
                        <a:latin typeface="Calibri" charset="0"/>
                        <a:ea typeface="Calibri" charset="0"/>
                        <a:cs typeface="Calibri" charset="0"/>
                      </a:endParaRPr>
                    </a:p>
                  </a:txBody>
                  <a:tcPr marL="91440" marR="91440" marT="45720" marB="45720" anchor="ctr">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bl>
          </a:graphicData>
        </a:graphic>
      </p:graphicFrame>
      <p:sp>
        <p:nvSpPr>
          <p:cNvPr id="7" name="Shape 4"/>
          <p:cNvSpPr/>
          <p:nvPr/>
        </p:nvSpPr>
        <p:spPr>
          <a:xfrm>
            <a:off x="8321040" y="1325880"/>
            <a:ext cx="3291840" cy="1508760"/>
          </a:xfrm>
          <a:prstGeom prst="roundRect">
            <a:avLst>
              <a:gd name="adj" fmla="val 4848"/>
            </a:avLst>
          </a:prstGeom>
          <a:solidFill>
            <a:srgbClr val="F7EEEF"/>
          </a:solidFill>
          <a:ln w="12700">
            <a:solidFill>
              <a:srgbClr val="F7EEEF"/>
            </a:solidFill>
            <a:prstDash val="solid"/>
          </a:ln>
        </p:spPr>
      </p:sp>
      <p:sp>
        <p:nvSpPr>
          <p:cNvPr id="8" name="Text 5"/>
          <p:cNvSpPr txBox="1"/>
          <p:nvPr/>
        </p:nvSpPr>
        <p:spPr>
          <a:xfrm>
            <a:off x="8458200" y="1399032"/>
            <a:ext cx="301752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+0,25</a:t>
            </a:r>
            <a:endParaRPr lang="en-US" sz="2200" dirty="0"/>
          </a:p>
        </p:txBody>
      </p:sp>
      <p:sp>
        <p:nvSpPr>
          <p:cNvPr id="9" name="Text 6"/>
          <p:cNvSpPr txBox="1"/>
          <p:nvPr/>
        </p:nvSpPr>
        <p:spPr>
          <a:xfrm>
            <a:off x="8458200" y="1920240"/>
            <a:ext cx="301752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MU 8,65 vs Barcelona 8,40. Selisih tipis dan bertumpu pada baris kemampuan manajer.</a:t>
            </a:r>
            <a:endParaRPr lang="en-US" sz="1050" dirty="0"/>
          </a:p>
        </p:txBody>
      </p:sp>
      <p:sp>
        <p:nvSpPr>
          <p:cNvPr id="10" name="Shape 7"/>
          <p:cNvSpPr/>
          <p:nvPr/>
        </p:nvSpPr>
        <p:spPr>
          <a:xfrm>
            <a:off x="8321040" y="2971800"/>
            <a:ext cx="3291840" cy="1508760"/>
          </a:xfrm>
          <a:prstGeom prst="roundRect">
            <a:avLst>
              <a:gd name="adj" fmla="val 4848"/>
            </a:avLst>
          </a:prstGeom>
          <a:solidFill>
            <a:srgbClr val="F7EEEF"/>
          </a:solidFill>
          <a:ln w="12700">
            <a:solidFill>
              <a:srgbClr val="F7EEEF"/>
            </a:solidFill>
            <a:prstDash val="solid"/>
          </a:ln>
        </p:spPr>
      </p:sp>
      <p:sp>
        <p:nvSpPr>
          <p:cNvPr id="11" name="Text 8"/>
          <p:cNvSpPr txBox="1"/>
          <p:nvPr/>
        </p:nvSpPr>
        <p:spPr>
          <a:xfrm>
            <a:off x="8458200" y="3044952"/>
            <a:ext cx="301752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7,90</a:t>
            </a:r>
            <a:endParaRPr lang="en-US" sz="2200" dirty="0"/>
          </a:p>
        </p:txBody>
      </p:sp>
      <p:sp>
        <p:nvSpPr>
          <p:cNvPr id="12" name="Text 9"/>
          <p:cNvSpPr txBox="1"/>
          <p:nvPr/>
        </p:nvSpPr>
        <p:spPr>
          <a:xfrm>
            <a:off x="8458200" y="3566160"/>
            <a:ext cx="301752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Skor MU jika rating manajer turun dari 10 ke 5 karena pergantian pelatih: berada di bawah Barcelona.</a:t>
            </a:r>
            <a:endParaRPr lang="en-US" sz="1050" dirty="0"/>
          </a:p>
        </p:txBody>
      </p:sp>
      <p:sp>
        <p:nvSpPr>
          <p:cNvPr id="13" name="Shape 10"/>
          <p:cNvSpPr/>
          <p:nvPr/>
        </p:nvSpPr>
        <p:spPr>
          <a:xfrm>
            <a:off x="8321040" y="4617720"/>
            <a:ext cx="3291840" cy="1508760"/>
          </a:xfrm>
          <a:prstGeom prst="roundRect">
            <a:avLst>
              <a:gd name="adj" fmla="val 4848"/>
            </a:avLst>
          </a:prstGeom>
          <a:solidFill>
            <a:srgbClr val="F7EEEF"/>
          </a:solidFill>
          <a:ln w="12700">
            <a:solidFill>
              <a:srgbClr val="F7EEEF"/>
            </a:solidFill>
            <a:prstDash val="solid"/>
          </a:ln>
        </p:spPr>
      </p:sp>
      <p:sp>
        <p:nvSpPr>
          <p:cNvPr id="14" name="Text 11"/>
          <p:cNvSpPr txBox="1"/>
          <p:nvPr/>
        </p:nvSpPr>
        <p:spPr>
          <a:xfrm>
            <a:off x="8458200" y="4690872"/>
            <a:ext cx="301752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 8,3</a:t>
            </a:r>
            <a:endParaRPr lang="en-US" sz="2200" dirty="0"/>
          </a:p>
        </p:txBody>
      </p:sp>
      <p:sp>
        <p:nvSpPr>
          <p:cNvPr id="15" name="Text 12"/>
          <p:cNvSpPr txBox="1"/>
          <p:nvPr/>
        </p:nvSpPr>
        <p:spPr>
          <a:xfrm>
            <a:off x="8458200" y="5212080"/>
            <a:ext cx="301752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Rating minimal pengganti Ferguson agar MU sekadar sejajar Barcelona (8,65 − 1,50 + 0,15x ≥ 8,40).</a:t>
            </a:r>
            <a:endParaRPr lang="en-US" sz="1050" dirty="0"/>
          </a:p>
        </p:txBody>
      </p:sp>
      <p:sp>
        <p:nvSpPr>
          <p:cNvPr id="16" name="Text 13"/>
          <p:cNvSpPr txBox="1"/>
          <p:nvPr/>
        </p:nvSpPr>
        <p:spPr>
          <a:xfrm>
            <a:off x="548640" y="5852160"/>
            <a:ext cx="7589520" cy="457200"/>
          </a:xfrm>
          <a:prstGeom prst="rect">
            <a:avLst/>
          </a:prstGeom>
          <a:noFill/>
          <a:ln/>
        </p:spPr>
        <p:txBody>
          <a:bodyPr wrap="square" lIns="0" tIns="0" rIns="0" bIns="0" rtlCol="0" anchor="t"/>
          <a:lstStyle/>
          <a:p>
            <a:pPr indent="0" marL="0">
              <a:buNone/>
            </a:pPr>
            <a:r>
              <a:rPr lang="en-US" sz="1100" dirty="0">
                <a:solidFill>
                  <a:srgbClr val="6B6B6B"/>
                </a:solidFill>
                <a:latin typeface="Calibri" pitchFamily="34" charset="0"/>
                <a:ea typeface="Calibri" pitchFamily="34" charset="-122"/>
                <a:cs typeface="Calibri" pitchFamily="34" charset="-120"/>
              </a:rPr>
              <a:t>Uji kepekaan ini adalah "risk/scenario logic" yang diminta CO2 silabus: baris terlemah MU adalah keleluasaan finansial; keunggulan bersihnya bergantung pada keberhasilan suksesi.</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PERTANYAAN 6 · DITERAPKAN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Priority list: enam isu sebagai pertanyaan</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Rumusan mengikuti buku hlm. 118. Bukti dari Grant (2010), Case 6 "Manchester United: Preparing for Life without Ferguson".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48640" y="1371600"/>
            <a:ext cx="5486400" cy="1463040"/>
          </a:xfrm>
          <a:prstGeom prst="roundRect">
            <a:avLst>
              <a:gd name="adj" fmla="val 5000"/>
            </a:avLst>
          </a:prstGeom>
          <a:solidFill>
            <a:srgbClr val="F7EEEF"/>
          </a:solidFill>
          <a:ln w="12700">
            <a:solidFill>
              <a:srgbClr val="F7EEEF"/>
            </a:solidFill>
            <a:prstDash val="solid"/>
          </a:ln>
        </p:spPr>
      </p:sp>
      <p:sp>
        <p:nvSpPr>
          <p:cNvPr id="7" name="Shape 5"/>
          <p:cNvSpPr/>
          <p:nvPr/>
        </p:nvSpPr>
        <p:spPr>
          <a:xfrm>
            <a:off x="685800" y="1508760"/>
            <a:ext cx="411480" cy="411480"/>
          </a:xfrm>
          <a:prstGeom prst="ellipse">
            <a:avLst/>
          </a:prstGeom>
          <a:solidFill>
            <a:srgbClr val="8C1D2B"/>
          </a:solidFill>
          <a:ln w="12700">
            <a:solidFill>
              <a:srgbClr val="8C1D2B"/>
            </a:solidFill>
            <a:prstDash val="solid"/>
          </a:ln>
        </p:spPr>
      </p:sp>
      <p:sp>
        <p:nvSpPr>
          <p:cNvPr id="8" name="Text 6"/>
          <p:cNvSpPr txBox="1"/>
          <p:nvPr/>
        </p:nvSpPr>
        <p:spPr>
          <a:xfrm>
            <a:off x="685800" y="15087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234440" y="14630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Bagaimana mengganti Ferguson tanpa merusak sistemnya?</a:t>
            </a:r>
            <a:endParaRPr lang="en-US" sz="1250" dirty="0"/>
          </a:p>
        </p:txBody>
      </p:sp>
      <p:sp>
        <p:nvSpPr>
          <p:cNvPr id="10" name="Text 8"/>
          <p:cNvSpPr txBox="1"/>
          <p:nvPr/>
        </p:nvSpPr>
        <p:spPr>
          <a:xfrm>
            <a:off x="1234440" y="20574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Gill belum memutuskan; Ferguson belum mengumumkan niat pensiun (hlm. 573, 588).</a:t>
            </a:r>
            <a:endParaRPr lang="en-US" sz="1050" dirty="0"/>
          </a:p>
        </p:txBody>
      </p:sp>
      <p:sp>
        <p:nvSpPr>
          <p:cNvPr id="11" name="Shape 9"/>
          <p:cNvSpPr/>
          <p:nvPr/>
        </p:nvSpPr>
        <p:spPr>
          <a:xfrm>
            <a:off x="6172200" y="1371600"/>
            <a:ext cx="5486400" cy="1463040"/>
          </a:xfrm>
          <a:prstGeom prst="roundRect">
            <a:avLst>
              <a:gd name="adj" fmla="val 5000"/>
            </a:avLst>
          </a:prstGeom>
          <a:solidFill>
            <a:srgbClr val="F7EEEF"/>
          </a:solidFill>
          <a:ln w="12700">
            <a:solidFill>
              <a:srgbClr val="F7EEEF"/>
            </a:solidFill>
            <a:prstDash val="solid"/>
          </a:ln>
        </p:spPr>
      </p:sp>
      <p:sp>
        <p:nvSpPr>
          <p:cNvPr id="12" name="Shape 10"/>
          <p:cNvSpPr/>
          <p:nvPr/>
        </p:nvSpPr>
        <p:spPr>
          <a:xfrm>
            <a:off x="6309360" y="1508760"/>
            <a:ext cx="411480" cy="411480"/>
          </a:xfrm>
          <a:prstGeom prst="ellipse">
            <a:avLst/>
          </a:prstGeom>
          <a:solidFill>
            <a:srgbClr val="8C1D2B"/>
          </a:solidFill>
          <a:ln w="12700">
            <a:solidFill>
              <a:srgbClr val="8C1D2B"/>
            </a:solidFill>
            <a:prstDash val="solid"/>
          </a:ln>
        </p:spPr>
      </p:sp>
      <p:sp>
        <p:nvSpPr>
          <p:cNvPr id="13" name="Text 11"/>
          <p:cNvSpPr txBox="1"/>
          <p:nvPr/>
        </p:nvSpPr>
        <p:spPr>
          <a:xfrm>
            <a:off x="6309360" y="15087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6858000" y="14630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Apa yang harus dilakukan soal utang £616 juta?</a:t>
            </a:r>
            <a:endParaRPr lang="en-US" sz="1250" dirty="0"/>
          </a:p>
        </p:txBody>
      </p:sp>
      <p:sp>
        <p:nvSpPr>
          <p:cNvPr id="15" name="Text 13"/>
          <p:cNvSpPr txBox="1"/>
          <p:nvPr/>
        </p:nvSpPr>
        <p:spPr>
          <a:xfrm>
            <a:off x="6858000" y="20574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Membatasi daya beli justru saat Manchester City belanja £185 juta (hlm. 579).</a:t>
            </a:r>
            <a:endParaRPr lang="en-US" sz="1050" dirty="0"/>
          </a:p>
        </p:txBody>
      </p:sp>
      <p:sp>
        <p:nvSpPr>
          <p:cNvPr id="16" name="Shape 14"/>
          <p:cNvSpPr/>
          <p:nvPr/>
        </p:nvSpPr>
        <p:spPr>
          <a:xfrm>
            <a:off x="548640" y="2971800"/>
            <a:ext cx="5486400" cy="1463040"/>
          </a:xfrm>
          <a:prstGeom prst="roundRect">
            <a:avLst>
              <a:gd name="adj" fmla="val 5000"/>
            </a:avLst>
          </a:prstGeom>
          <a:solidFill>
            <a:srgbClr val="F7EEEF"/>
          </a:solidFill>
          <a:ln w="12700">
            <a:solidFill>
              <a:srgbClr val="F7EEEF"/>
            </a:solidFill>
            <a:prstDash val="solid"/>
          </a:ln>
        </p:spPr>
      </p:sp>
      <p:sp>
        <p:nvSpPr>
          <p:cNvPr id="17" name="Shape 15"/>
          <p:cNvSpPr/>
          <p:nvPr/>
        </p:nvSpPr>
        <p:spPr>
          <a:xfrm>
            <a:off x="685800" y="3108960"/>
            <a:ext cx="411480" cy="411480"/>
          </a:xfrm>
          <a:prstGeom prst="ellipse">
            <a:avLst/>
          </a:prstGeom>
          <a:solidFill>
            <a:srgbClr val="8C1D2B"/>
          </a:solidFill>
          <a:ln w="12700">
            <a:solidFill>
              <a:srgbClr val="8C1D2B"/>
            </a:solidFill>
            <a:prstDash val="solid"/>
          </a:ln>
        </p:spPr>
      </p:sp>
      <p:sp>
        <p:nvSpPr>
          <p:cNvPr id="18" name="Text 16"/>
          <p:cNvSpPr txBox="1"/>
          <p:nvPr/>
        </p:nvSpPr>
        <p:spPr>
          <a:xfrm>
            <a:off x="685800" y="31089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1234440" y="30632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Bagaimana menambal skuad setelah Ronaldo pergi?</a:t>
            </a:r>
            <a:endParaRPr lang="en-US" sz="1250" dirty="0"/>
          </a:p>
        </p:txBody>
      </p:sp>
      <p:sp>
        <p:nvSpPr>
          <p:cNvPr id="20" name="Text 18"/>
          <p:cNvSpPr txBox="1"/>
          <p:nvPr/>
        </p:nvSpPr>
        <p:spPr>
          <a:xfrm>
            <a:off x="1234440" y="36576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Tidak ada lagi pemain MU di peringkat FIFA Table 6.3; media menunggu apakah kas Ronaldo dipakai membeli Ribery (hlm. 588).</a:t>
            </a:r>
            <a:endParaRPr lang="en-US" sz="1050" dirty="0"/>
          </a:p>
        </p:txBody>
      </p:sp>
      <p:sp>
        <p:nvSpPr>
          <p:cNvPr id="21" name="Shape 19"/>
          <p:cNvSpPr/>
          <p:nvPr/>
        </p:nvSpPr>
        <p:spPr>
          <a:xfrm>
            <a:off x="6172200" y="2971800"/>
            <a:ext cx="5486400" cy="1463040"/>
          </a:xfrm>
          <a:prstGeom prst="roundRect">
            <a:avLst>
              <a:gd name="adj" fmla="val 5000"/>
            </a:avLst>
          </a:prstGeom>
          <a:solidFill>
            <a:srgbClr val="F7EEEF"/>
          </a:solidFill>
          <a:ln w="12700">
            <a:solidFill>
              <a:srgbClr val="F7EEEF"/>
            </a:solidFill>
            <a:prstDash val="solid"/>
          </a:ln>
        </p:spPr>
      </p:sp>
      <p:sp>
        <p:nvSpPr>
          <p:cNvPr id="22" name="Shape 20"/>
          <p:cNvSpPr/>
          <p:nvPr/>
        </p:nvSpPr>
        <p:spPr>
          <a:xfrm>
            <a:off x="6309360" y="3108960"/>
            <a:ext cx="411480" cy="411480"/>
          </a:xfrm>
          <a:prstGeom prst="ellipse">
            <a:avLst/>
          </a:prstGeom>
          <a:solidFill>
            <a:srgbClr val="8C1D2B"/>
          </a:solidFill>
          <a:ln w="12700">
            <a:solidFill>
              <a:srgbClr val="8C1D2B"/>
            </a:solidFill>
            <a:prstDash val="solid"/>
          </a:ln>
        </p:spPr>
      </p:sp>
      <p:sp>
        <p:nvSpPr>
          <p:cNvPr id="23" name="Text 21"/>
          <p:cNvSpPr txBox="1"/>
          <p:nvPr/>
        </p:nvSpPr>
        <p:spPr>
          <a:xfrm>
            <a:off x="6309360" y="31089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4" name="Text 22"/>
          <p:cNvSpPr txBox="1"/>
          <p:nvPr/>
        </p:nvSpPr>
        <p:spPr>
          <a:xfrm>
            <a:off x="6858000" y="30632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Apakah perlu membangun penyangga organisasi?</a:t>
            </a:r>
            <a:endParaRPr lang="en-US" sz="1250" dirty="0"/>
          </a:p>
        </p:txBody>
      </p:sp>
      <p:sp>
        <p:nvSpPr>
          <p:cNvPr id="25" name="Text 23"/>
          <p:cNvSpPr txBox="1"/>
          <p:nvPr/>
        </p:nvSpPr>
        <p:spPr>
          <a:xfrm>
            <a:off x="6858000" y="36576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Kasus: seluruh infrastruktur pemanduan, latihan, dan taktik dibangun oleh satu orang (hlm. 573).</a:t>
            </a:r>
            <a:endParaRPr lang="en-US" sz="1050" dirty="0"/>
          </a:p>
        </p:txBody>
      </p:sp>
      <p:sp>
        <p:nvSpPr>
          <p:cNvPr id="26" name="Shape 24"/>
          <p:cNvSpPr/>
          <p:nvPr/>
        </p:nvSpPr>
        <p:spPr>
          <a:xfrm>
            <a:off x="548640" y="4572000"/>
            <a:ext cx="5486400" cy="1463040"/>
          </a:xfrm>
          <a:prstGeom prst="roundRect">
            <a:avLst>
              <a:gd name="adj" fmla="val 5000"/>
            </a:avLst>
          </a:prstGeom>
          <a:solidFill>
            <a:srgbClr val="F7EEEF"/>
          </a:solidFill>
          <a:ln w="12700">
            <a:solidFill>
              <a:srgbClr val="F7EEEF"/>
            </a:solidFill>
            <a:prstDash val="solid"/>
          </a:ln>
        </p:spPr>
      </p:sp>
      <p:sp>
        <p:nvSpPr>
          <p:cNvPr id="27" name="Shape 25"/>
          <p:cNvSpPr/>
          <p:nvPr/>
        </p:nvSpPr>
        <p:spPr>
          <a:xfrm>
            <a:off x="685800" y="4709160"/>
            <a:ext cx="411480" cy="411480"/>
          </a:xfrm>
          <a:prstGeom prst="ellipse">
            <a:avLst/>
          </a:prstGeom>
          <a:solidFill>
            <a:srgbClr val="8C1D2B"/>
          </a:solidFill>
          <a:ln w="12700">
            <a:solidFill>
              <a:srgbClr val="8C1D2B"/>
            </a:solidFill>
            <a:prstDash val="solid"/>
          </a:ln>
        </p:spPr>
      </p:sp>
      <p:sp>
        <p:nvSpPr>
          <p:cNvPr id="28" name="Text 26"/>
          <p:cNvSpPr txBox="1"/>
          <p:nvPr/>
        </p:nvSpPr>
        <p:spPr>
          <a:xfrm>
            <a:off x="685800" y="47091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29" name="Text 27"/>
          <p:cNvSpPr txBox="1"/>
          <p:nvPr/>
        </p:nvSpPr>
        <p:spPr>
          <a:xfrm>
            <a:off x="1234440" y="46634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Bagaimana menjaga pendapatan komersial jika prestasi turun?</a:t>
            </a:r>
            <a:endParaRPr lang="en-US" sz="1250" dirty="0"/>
          </a:p>
        </p:txBody>
      </p:sp>
      <p:sp>
        <p:nvSpPr>
          <p:cNvPr id="30" name="Text 28"/>
          <p:cNvSpPr txBox="1"/>
          <p:nvPr/>
        </p:nvSpPr>
        <p:spPr>
          <a:xfrm>
            <a:off x="1234440" y="52578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Gill: "So long as the team kept winning games … the commercial revenues … would continue to flow" (hlm. 573).</a:t>
            </a:r>
            <a:endParaRPr lang="en-US" sz="1050" dirty="0"/>
          </a:p>
        </p:txBody>
      </p:sp>
      <p:sp>
        <p:nvSpPr>
          <p:cNvPr id="31" name="Shape 29"/>
          <p:cNvSpPr/>
          <p:nvPr/>
        </p:nvSpPr>
        <p:spPr>
          <a:xfrm>
            <a:off x="6172200" y="4572000"/>
            <a:ext cx="5486400" cy="1463040"/>
          </a:xfrm>
          <a:prstGeom prst="roundRect">
            <a:avLst>
              <a:gd name="adj" fmla="val 5000"/>
            </a:avLst>
          </a:prstGeom>
          <a:solidFill>
            <a:srgbClr val="F7EEEF"/>
          </a:solidFill>
          <a:ln w="12700">
            <a:solidFill>
              <a:srgbClr val="F7EEEF"/>
            </a:solidFill>
            <a:prstDash val="solid"/>
          </a:ln>
        </p:spPr>
      </p:sp>
      <p:sp>
        <p:nvSpPr>
          <p:cNvPr id="32" name="Shape 30"/>
          <p:cNvSpPr/>
          <p:nvPr/>
        </p:nvSpPr>
        <p:spPr>
          <a:xfrm>
            <a:off x="6309360" y="4709160"/>
            <a:ext cx="411480" cy="411480"/>
          </a:xfrm>
          <a:prstGeom prst="ellipse">
            <a:avLst/>
          </a:prstGeom>
          <a:solidFill>
            <a:srgbClr val="8C1D2B"/>
          </a:solidFill>
          <a:ln w="12700">
            <a:solidFill>
              <a:srgbClr val="8C1D2B"/>
            </a:solidFill>
            <a:prstDash val="solid"/>
          </a:ln>
        </p:spPr>
      </p:sp>
      <p:sp>
        <p:nvSpPr>
          <p:cNvPr id="33" name="Text 31"/>
          <p:cNvSpPr txBox="1"/>
          <p:nvPr/>
        </p:nvSpPr>
        <p:spPr>
          <a:xfrm>
            <a:off x="6309360" y="4709160"/>
            <a:ext cx="411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34" name="Text 32"/>
          <p:cNvSpPr txBox="1"/>
          <p:nvPr/>
        </p:nvSpPr>
        <p:spPr>
          <a:xfrm>
            <a:off x="6858000" y="4663440"/>
            <a:ext cx="4663440" cy="548640"/>
          </a:xfrm>
          <a:prstGeom prst="rect">
            <a:avLst/>
          </a:prstGeom>
          <a:noFill/>
          <a:ln/>
        </p:spPr>
        <p:txBody>
          <a:bodyPr wrap="square" lIns="0" tIns="0" rIns="0" bIns="0" rtlCol="0" anchor="t"/>
          <a:lstStyle/>
          <a:p>
            <a:pPr indent="0" marL="0">
              <a:buNone/>
            </a:pPr>
            <a:r>
              <a:rPr lang="en-US" sz="1250" b="1" dirty="0">
                <a:solidFill>
                  <a:srgbClr val="2B2B2B"/>
                </a:solidFill>
                <a:latin typeface="Calibri" pitchFamily="34" charset="0"/>
                <a:ea typeface="Calibri" pitchFamily="34" charset="-122"/>
                <a:cs typeface="Calibri" pitchFamily="34" charset="-120"/>
              </a:rPr>
              <a:t>Apakah tata kelola tetap aman tanpa Ferguson dan Gill?</a:t>
            </a:r>
            <a:endParaRPr lang="en-US" sz="1250" dirty="0"/>
          </a:p>
        </p:txBody>
      </p:sp>
      <p:sp>
        <p:nvSpPr>
          <p:cNvPr id="35" name="Text 33"/>
          <p:cNvSpPr txBox="1"/>
          <p:nvPr/>
        </p:nvSpPr>
        <p:spPr>
          <a:xfrm>
            <a:off x="6858000" y="5257800"/>
            <a:ext cx="4663440" cy="731520"/>
          </a:xfrm>
          <a:prstGeom prst="rect">
            <a:avLst/>
          </a:prstGeom>
          <a:noFill/>
          <a:ln/>
        </p:spPr>
        <p:txBody>
          <a:bodyPr wrap="square" lIns="0" tIns="0" rIns="0" bIns="0" rtlCol="0" anchor="t"/>
          <a:lstStyle/>
          <a:p>
            <a:pPr indent="0" marL="0">
              <a:buNone/>
            </a:pPr>
            <a:r>
              <a:rPr lang="en-US" sz="1050" dirty="0">
                <a:solidFill>
                  <a:srgbClr val="6B6B6B"/>
                </a:solidFill>
                <a:latin typeface="Calibri" pitchFamily="34" charset="0"/>
                <a:ea typeface="Calibri" pitchFamily="34" charset="-122"/>
                <a:cs typeface="Calibri" pitchFamily="34" charset="-120"/>
              </a:rPr>
              <a:t>Dewan terdiri atas enam anak Glazer; peran pasif pemilik berjalan karena keduanya diberi kebebasan (hlm. 584).</a:t>
            </a:r>
            <a:endParaRPr lang="en-US" sz="1050" dirty="0"/>
          </a:p>
        </p:txBody>
      </p:sp>
      <p:sp>
        <p:nvSpPr>
          <p:cNvPr id="36" name="Text 34"/>
          <p:cNvSpPr txBox="1"/>
          <p:nvPr/>
        </p:nvSpPr>
        <p:spPr>
          <a:xfrm>
            <a:off x="548640" y="6217920"/>
            <a:ext cx="11064240" cy="274320"/>
          </a:xfrm>
          <a:prstGeom prst="rect">
            <a:avLst/>
          </a:prstGeom>
          <a:noFill/>
          <a:ln/>
        </p:spPr>
        <p:txBody>
          <a:bodyPr wrap="square" lIns="0" tIns="0" rIns="0" bIns="0" rtlCol="0" anchor="t"/>
          <a:lstStyle/>
          <a:p>
            <a:pPr indent="0" marL="0">
              <a:buNone/>
            </a:pPr>
            <a:r>
              <a:rPr lang="en-US" sz="1100" b="1" dirty="0">
                <a:solidFill>
                  <a:srgbClr val="8C1D2B"/>
                </a:solidFill>
                <a:latin typeface="Calibri" pitchFamily="34" charset="0"/>
                <a:ea typeface="Calibri" pitchFamily="34" charset="-122"/>
                <a:cs typeface="Calibri" pitchFamily="34" charset="-120"/>
              </a:rPr>
              <a:t>Isu 1 dan 4 serius dan menuntut perumusan strategi baru; isu 2, 3, 5, 6 dapat ditangani dengan menyempurnakan strategi yang ada.</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8C1D2B"/>
        </a:solidFill>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ctr"/>
          <a:lstStyle/>
          <a:p>
            <a:pPr indent="0" marL="0">
              <a:buNone/>
            </a:pPr>
            <a:r>
              <a:rPr lang="en-US" sz="1300" b="1" spc="300" kern="0" dirty="0">
                <a:solidFill>
                  <a:srgbClr val="C9A227"/>
                </a:solidFill>
                <a:latin typeface="Calibri" pitchFamily="34" charset="0"/>
                <a:ea typeface="Calibri" pitchFamily="34" charset="-122"/>
                <a:cs typeface="Calibri" pitchFamily="34" charset="-120"/>
              </a:rPr>
              <a:t>BAGIAN C · KEPUTUSAN</a:t>
            </a:r>
            <a:endParaRPr lang="en-US" sz="1300" dirty="0"/>
          </a:p>
        </p:txBody>
      </p:sp>
      <p:sp>
        <p:nvSpPr>
          <p:cNvPr id="3" name="Text 1"/>
          <p:cNvSpPr txBox="1"/>
          <p:nvPr/>
        </p:nvSpPr>
        <p:spPr>
          <a:xfrm>
            <a:off x="731520" y="2560320"/>
            <a:ext cx="10515600" cy="12801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Dari priority list ke keputusan: pola analisis kasus</a:t>
            </a:r>
            <a:endParaRPr lang="en-US" sz="4000" dirty="0"/>
          </a:p>
        </p:txBody>
      </p:sp>
      <p:sp>
        <p:nvSpPr>
          <p:cNvPr id="4" name="Text 2"/>
          <p:cNvSpPr txBox="1"/>
          <p:nvPr/>
        </p:nvSpPr>
        <p:spPr>
          <a:xfrm>
            <a:off x="731520" y="3931920"/>
            <a:ext cx="10058400" cy="1371600"/>
          </a:xfrm>
          <a:prstGeom prst="rect">
            <a:avLst/>
          </a:prstGeom>
          <a:noFill/>
          <a:ln/>
        </p:spPr>
        <p:txBody>
          <a:bodyPr wrap="square" lIns="0" tIns="0" rIns="0" bIns="0" rtlCol="0" anchor="t"/>
          <a:lstStyle/>
          <a:p>
            <a:pPr indent="0" marL="0">
              <a:buNone/>
            </a:pPr>
            <a:r>
              <a:rPr lang="en-US" sz="1500" dirty="0">
                <a:solidFill>
                  <a:srgbClr val="F3DCDF"/>
                </a:solidFill>
                <a:latin typeface="Calibri" pitchFamily="34" charset="0"/>
                <a:ea typeface="Calibri" pitchFamily="34" charset="-122"/>
                <a:cs typeface="Calibri" pitchFamily="34" charset="-120"/>
              </a:rPr>
              <a:t>Mengikuti Appendix 3 silabus: masalah (tujuan dan penghalang), alternatif berjudul tanpa pro-kontra, isu sebagai pertanyaan eksplisit, simpulan yang dideduksi dari isu dengan argumen kuantitatif, lalu rencana implementasi.</a:t>
            </a:r>
            <a:endParaRPr lang="en-US" sz="15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F3DCDF"/>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LANGKAH 1 · MASALAH</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Tujuan yang ingin dicapai dan penghalangnya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Appendix 3 silabus: "The key words here are goals and barrier." Bukti dari Grant (2010), Case 6 "Manchester United: Preparing for Life without Ferguson".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548640" y="1371600"/>
            <a:ext cx="5394960" cy="4206240"/>
          </a:xfrm>
          <a:prstGeom prst="roundRect">
            <a:avLst>
              <a:gd name="adj" fmla="val 1739"/>
            </a:avLst>
          </a:prstGeom>
          <a:solidFill>
            <a:srgbClr val="F7EEEF"/>
          </a:solidFill>
          <a:ln w="12700">
            <a:solidFill>
              <a:srgbClr val="F7EEEF"/>
            </a:solidFill>
            <a:prstDash val="solid"/>
          </a:ln>
        </p:spPr>
      </p:sp>
      <p:sp>
        <p:nvSpPr>
          <p:cNvPr id="7" name="Text 5"/>
          <p:cNvSpPr txBox="1"/>
          <p:nvPr/>
        </p:nvSpPr>
        <p:spPr>
          <a:xfrm>
            <a:off x="685800" y="1463040"/>
            <a:ext cx="5120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Tiga tujuan</a:t>
            </a:r>
            <a:endParaRPr lang="en-US" sz="1300" dirty="0"/>
          </a:p>
        </p:txBody>
      </p:sp>
      <p:sp>
        <p:nvSpPr>
          <p:cNvPr id="8" name="Text 6"/>
          <p:cNvSpPr txBox="1"/>
          <p:nvPr/>
        </p:nvSpPr>
        <p:spPr>
          <a:xfrm>
            <a:off x="685800" y="1783080"/>
            <a:ext cx="5120640" cy="370332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1. Mempertahankan posisi empat besar Premier League setiap musim agar pendapatan Liga Champions (lebih dari €30 juta dari UEFA per musim) dan daya tarik sponsor terjaga.</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2. Mempertahankan profitabilitas dengan upah sekitar 50% pendapatan dan margin EBITDA 31,4%.</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3. Mempertahankan sistem pengembangan bakat dan pembentukan tim yang lolos keempat tes VRIN.</a:t>
            </a:r>
            <a:endParaRPr lang="en-US" sz="1250" dirty="0"/>
          </a:p>
        </p:txBody>
      </p:sp>
      <p:sp>
        <p:nvSpPr>
          <p:cNvPr id="9" name="Shape 7"/>
          <p:cNvSpPr/>
          <p:nvPr/>
        </p:nvSpPr>
        <p:spPr>
          <a:xfrm>
            <a:off x="6126480" y="1371600"/>
            <a:ext cx="5486400" cy="4206240"/>
          </a:xfrm>
          <a:prstGeom prst="roundRect">
            <a:avLst>
              <a:gd name="adj" fmla="val 1739"/>
            </a:avLst>
          </a:prstGeom>
          <a:solidFill>
            <a:srgbClr val="F7EEEF"/>
          </a:solidFill>
          <a:ln w="12700">
            <a:solidFill>
              <a:srgbClr val="F7EEEF"/>
            </a:solidFill>
            <a:prstDash val="solid"/>
          </a:ln>
        </p:spPr>
      </p:sp>
      <p:sp>
        <p:nvSpPr>
          <p:cNvPr id="10" name="Text 8"/>
          <p:cNvSpPr txBox="1"/>
          <p:nvPr/>
        </p:nvSpPr>
        <p:spPr>
          <a:xfrm>
            <a:off x="626364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Tiga penghalang</a:t>
            </a:r>
            <a:endParaRPr lang="en-US" sz="1300" dirty="0"/>
          </a:p>
        </p:txBody>
      </p:sp>
      <p:sp>
        <p:nvSpPr>
          <p:cNvPr id="11" name="Text 9"/>
          <p:cNvSpPr txBox="1"/>
          <p:nvPr/>
        </p:nvSpPr>
        <p:spPr>
          <a:xfrm>
            <a:off x="6263640" y="1783080"/>
            <a:ext cx="5212080" cy="3703320"/>
          </a:xfrm>
          <a:prstGeom prst="rect">
            <a:avLst/>
          </a:prstGeom>
          <a:noFill/>
          <a:ln/>
        </p:spPr>
        <p:txBody>
          <a:bodyPr wrap="square" lIns="0" tIns="0" rIns="0" bIns="0" rtlCol="0" anchor="t"/>
          <a:lstStyle/>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1. Ferguson berusia 68 pada akhir 2009 dan sistem itu berpusat padanya, dengan causal ambiguity tinggi: penentu performa tim "defies analysis".</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2. Utang £616 juta membatasi kemampuan menutup kesalahan transisi dengan belanja; MU "had not received the influx of cash" seperti Chelsea atau Manchester City.</a:t>
            </a:r>
            <a:endParaRPr lang="en-US" sz="1250" dirty="0"/>
          </a:p>
          <a:p>
            <a:pPr indent="0" marL="0">
              <a:spcAft>
                <a:spcPts val="300"/>
              </a:spcAft>
              <a:buNone/>
            </a:pPr>
            <a:endParaRPr lang="en-US" sz="1250" dirty="0"/>
          </a:p>
          <a:p>
            <a:pPr indent="0" marL="0">
              <a:spcAft>
                <a:spcPts val="300"/>
              </a:spcAft>
              <a:buNone/>
            </a:pPr>
            <a:r>
              <a:rPr lang="en-US" sz="1250" dirty="0">
                <a:solidFill>
                  <a:srgbClr val="2B2B2B"/>
                </a:solidFill>
                <a:latin typeface="Calibri" pitchFamily="34" charset="0"/>
                <a:ea typeface="Calibri" pitchFamily="34" charset="-122"/>
                <a:cs typeface="Calibri" pitchFamily="34" charset="-120"/>
              </a:rPr>
              <a:t>3. Pesaing berpemilik kaya sedang menaikkan harga pemain, sehingga kegagalan sistem internal akan mahal untuk diganti dengan pembelian.</a:t>
            </a:r>
            <a:endParaRPr lang="en-US" sz="1250" dirty="0"/>
          </a:p>
        </p:txBody>
      </p:sp>
      <p:sp>
        <p:nvSpPr>
          <p:cNvPr id="12" name="Shape 10"/>
          <p:cNvSpPr/>
          <p:nvPr/>
        </p:nvSpPr>
        <p:spPr>
          <a:xfrm>
            <a:off x="548640" y="5715000"/>
            <a:ext cx="11064240" cy="548640"/>
          </a:xfrm>
          <a:prstGeom prst="roundRect">
            <a:avLst>
              <a:gd name="adj" fmla="val 13333"/>
            </a:avLst>
          </a:prstGeom>
          <a:solidFill>
            <a:srgbClr val="FBEBD0"/>
          </a:solidFill>
          <a:ln w="12700">
            <a:solidFill>
              <a:srgbClr val="FBEBD0"/>
            </a:solidFill>
            <a:prstDash val="solid"/>
          </a:ln>
        </p:spPr>
      </p:sp>
      <p:sp>
        <p:nvSpPr>
          <p:cNvPr id="13" name="Text 11"/>
          <p:cNvSpPr txBox="1"/>
          <p:nvPr/>
        </p:nvSpPr>
        <p:spPr>
          <a:xfrm>
            <a:off x="685800" y="5824728"/>
            <a:ext cx="10789920" cy="329184"/>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Masalahnya: bagaimana memindahkan capability yang melekat pada seseorang menjadi capability yang melekat pada organisasi, dalam jangka waktu yang ditentukan oleh usia orang itu.</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LANGKAH 2 · ALTERNATIF</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Tiga alternatif berjudul, tanpa pro dan kontra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Appendix 3 silabus: "Strategies may be usefully given titles … Arguments pro or con … should NOT be included" pada tahap ini. Kandidat dari Grant (2010), Case 6 "Manchester United: Preparing for Life without Ferguson", hlm. 588.</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48640" y="1371600"/>
            <a:ext cx="3566160" cy="4846320"/>
          </a:xfrm>
          <a:prstGeom prst="roundRect">
            <a:avLst>
              <a:gd name="adj" fmla="val 2051"/>
            </a:avLst>
          </a:prstGeom>
          <a:solidFill>
            <a:srgbClr val="F7EEEF"/>
          </a:solidFill>
          <a:ln w="12700">
            <a:solidFill>
              <a:srgbClr val="F7EEEF"/>
            </a:solidFill>
            <a:prstDash val="solid"/>
          </a:ln>
        </p:spPr>
      </p:sp>
      <p:sp>
        <p:nvSpPr>
          <p:cNvPr id="7" name="Text 5"/>
          <p:cNvSpPr txBox="1"/>
          <p:nvPr/>
        </p:nvSpPr>
        <p:spPr>
          <a:xfrm>
            <a:off x="685800" y="1463040"/>
            <a:ext cx="731520" cy="731520"/>
          </a:xfrm>
          <a:prstGeom prst="rect">
            <a:avLst/>
          </a:prstGeom>
          <a:noFill/>
          <a:ln/>
        </p:spPr>
        <p:txBody>
          <a:bodyPr wrap="square" lIns="0" tIns="0" rIns="0" bIns="0" rtlCol="0" anchor="ctr"/>
          <a:lstStyle/>
          <a:p>
            <a:pPr indent="0" marL="0">
              <a:buNone/>
            </a:pPr>
            <a:r>
              <a:rPr lang="en-US" sz="4000" b="1" dirty="0">
                <a:solidFill>
                  <a:srgbClr val="8C1D2B"/>
                </a:solidFill>
                <a:latin typeface="Cambria" pitchFamily="34" charset="0"/>
                <a:ea typeface="Cambria" pitchFamily="34" charset="-122"/>
                <a:cs typeface="Cambria" pitchFamily="34" charset="-120"/>
              </a:rPr>
              <a:t>A</a:t>
            </a:r>
            <a:endParaRPr lang="en-US" sz="4000" dirty="0"/>
          </a:p>
        </p:txBody>
      </p:sp>
      <p:sp>
        <p:nvSpPr>
          <p:cNvPr id="8" name="Text 6"/>
          <p:cNvSpPr txBox="1"/>
          <p:nvPr/>
        </p:nvSpPr>
        <p:spPr>
          <a:xfrm>
            <a:off x="1417320" y="1600200"/>
            <a:ext cx="2560320" cy="822960"/>
          </a:xfrm>
          <a:prstGeom prst="rect">
            <a:avLst/>
          </a:prstGeom>
          <a:noFill/>
          <a:ln/>
        </p:spPr>
        <p:txBody>
          <a:bodyPr wrap="square" lIns="0" tIns="0" rIns="0" bIns="0" rtlCol="0" anchor="t"/>
          <a:lstStyle/>
          <a:p>
            <a:pPr indent="0" marL="0">
              <a:buNone/>
            </a:pPr>
            <a:r>
              <a:rPr lang="en-US" sz="1500" b="1" dirty="0">
                <a:solidFill>
                  <a:srgbClr val="2B2B2B"/>
                </a:solidFill>
                <a:latin typeface="Calibri" pitchFamily="34" charset="0"/>
                <a:ea typeface="Calibri" pitchFamily="34" charset="-122"/>
                <a:cs typeface="Calibri" pitchFamily="34" charset="-120"/>
              </a:rPr>
              <a:t>Kesinambungan Internal</a:t>
            </a:r>
            <a:endParaRPr lang="en-US" sz="1500" dirty="0"/>
          </a:p>
        </p:txBody>
      </p:sp>
      <p:sp>
        <p:nvSpPr>
          <p:cNvPr id="9" name="Text 7"/>
          <p:cNvSpPr txBox="1"/>
          <p:nvPr/>
        </p:nvSpPr>
        <p:spPr>
          <a:xfrm>
            <a:off x="685800" y="2468880"/>
            <a:ext cx="3291840" cy="3657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Mengangkat salah satu asisten Ferguson (Queiroz, Phelan, Solskjær, atau McClair) sebagai manajer tim dengan mandat mempertahankan sistem pemanduan bakat, akademi, dan rotasi skuad apa adanya. Ferguson mendampingi sebagai mentor pada musim pertama.</a:t>
            </a:r>
            <a:endParaRPr lang="en-US" sz="1200" dirty="0"/>
          </a:p>
        </p:txBody>
      </p:sp>
      <p:sp>
        <p:nvSpPr>
          <p:cNvPr id="10" name="Shape 8"/>
          <p:cNvSpPr/>
          <p:nvPr/>
        </p:nvSpPr>
        <p:spPr>
          <a:xfrm>
            <a:off x="4297680" y="1371600"/>
            <a:ext cx="3566160" cy="4846320"/>
          </a:xfrm>
          <a:prstGeom prst="roundRect">
            <a:avLst>
              <a:gd name="adj" fmla="val 2051"/>
            </a:avLst>
          </a:prstGeom>
          <a:solidFill>
            <a:srgbClr val="F7EEEF"/>
          </a:solidFill>
          <a:ln w="12700">
            <a:solidFill>
              <a:srgbClr val="F7EEEF"/>
            </a:solidFill>
            <a:prstDash val="solid"/>
          </a:ln>
        </p:spPr>
      </p:sp>
      <p:sp>
        <p:nvSpPr>
          <p:cNvPr id="11" name="Text 9"/>
          <p:cNvSpPr txBox="1"/>
          <p:nvPr/>
        </p:nvSpPr>
        <p:spPr>
          <a:xfrm>
            <a:off x="4434840" y="1463040"/>
            <a:ext cx="731520" cy="731520"/>
          </a:xfrm>
          <a:prstGeom prst="rect">
            <a:avLst/>
          </a:prstGeom>
          <a:noFill/>
          <a:ln/>
        </p:spPr>
        <p:txBody>
          <a:bodyPr wrap="square" lIns="0" tIns="0" rIns="0" bIns="0" rtlCol="0" anchor="ctr"/>
          <a:lstStyle/>
          <a:p>
            <a:pPr indent="0" marL="0">
              <a:buNone/>
            </a:pPr>
            <a:r>
              <a:rPr lang="en-US" sz="4000" b="1" dirty="0">
                <a:solidFill>
                  <a:srgbClr val="8C1D2B"/>
                </a:solidFill>
                <a:latin typeface="Cambria" pitchFamily="34" charset="0"/>
                <a:ea typeface="Cambria" pitchFamily="34" charset="-122"/>
                <a:cs typeface="Cambria" pitchFamily="34" charset="-120"/>
              </a:rPr>
              <a:t>B</a:t>
            </a:r>
            <a:endParaRPr lang="en-US" sz="4000" dirty="0"/>
          </a:p>
        </p:txBody>
      </p:sp>
      <p:sp>
        <p:nvSpPr>
          <p:cNvPr id="12" name="Text 10"/>
          <p:cNvSpPr txBox="1"/>
          <p:nvPr/>
        </p:nvSpPr>
        <p:spPr>
          <a:xfrm>
            <a:off x="5166360" y="1600200"/>
            <a:ext cx="2560320" cy="822960"/>
          </a:xfrm>
          <a:prstGeom prst="rect">
            <a:avLst/>
          </a:prstGeom>
          <a:noFill/>
          <a:ln/>
        </p:spPr>
        <p:txBody>
          <a:bodyPr wrap="square" lIns="0" tIns="0" rIns="0" bIns="0" rtlCol="0" anchor="t"/>
          <a:lstStyle/>
          <a:p>
            <a:pPr indent="0" marL="0">
              <a:buNone/>
            </a:pPr>
            <a:r>
              <a:rPr lang="en-US" sz="1500" b="1" dirty="0">
                <a:solidFill>
                  <a:srgbClr val="2B2B2B"/>
                </a:solidFill>
                <a:latin typeface="Calibri" pitchFamily="34" charset="0"/>
                <a:ea typeface="Calibri" pitchFamily="34" charset="-122"/>
                <a:cs typeface="Calibri" pitchFamily="34" charset="-120"/>
              </a:rPr>
              <a:t>Pemimpin Terbukti dari Luar</a:t>
            </a:r>
            <a:endParaRPr lang="en-US" sz="1500" dirty="0"/>
          </a:p>
        </p:txBody>
      </p:sp>
      <p:sp>
        <p:nvSpPr>
          <p:cNvPr id="13" name="Text 11"/>
          <p:cNvSpPr txBox="1"/>
          <p:nvPr/>
        </p:nvSpPr>
        <p:spPr>
          <a:xfrm>
            <a:off x="4434840" y="2468880"/>
            <a:ext cx="3291840" cy="3657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Mengangkat manajer berwibawa dengan rekam jejak (misalnya Mourinho) dan menerima bahwa sistem kepelatihan akan dibongkar dan dibangun ulang menurut caranya, dengan dukungan belanja pemain dari kas Ronaldo £80 juta.</a:t>
            </a:r>
            <a:endParaRPr lang="en-US" sz="1200" dirty="0"/>
          </a:p>
        </p:txBody>
      </p:sp>
      <p:sp>
        <p:nvSpPr>
          <p:cNvPr id="14" name="Shape 12"/>
          <p:cNvSpPr/>
          <p:nvPr/>
        </p:nvSpPr>
        <p:spPr>
          <a:xfrm>
            <a:off x="8046720" y="1371600"/>
            <a:ext cx="3566160" cy="4846320"/>
          </a:xfrm>
          <a:prstGeom prst="roundRect">
            <a:avLst>
              <a:gd name="adj" fmla="val 2051"/>
            </a:avLst>
          </a:prstGeom>
          <a:solidFill>
            <a:srgbClr val="F7EEEF"/>
          </a:solidFill>
          <a:ln w="12700">
            <a:solidFill>
              <a:srgbClr val="F7EEEF"/>
            </a:solidFill>
            <a:prstDash val="solid"/>
          </a:ln>
        </p:spPr>
      </p:sp>
      <p:sp>
        <p:nvSpPr>
          <p:cNvPr id="15" name="Text 13"/>
          <p:cNvSpPr txBox="1"/>
          <p:nvPr/>
        </p:nvSpPr>
        <p:spPr>
          <a:xfrm>
            <a:off x="8183880" y="1463040"/>
            <a:ext cx="731520" cy="731520"/>
          </a:xfrm>
          <a:prstGeom prst="rect">
            <a:avLst/>
          </a:prstGeom>
          <a:noFill/>
          <a:ln/>
        </p:spPr>
        <p:txBody>
          <a:bodyPr wrap="square" lIns="0" tIns="0" rIns="0" bIns="0" rtlCol="0" anchor="ctr"/>
          <a:lstStyle/>
          <a:p>
            <a:pPr indent="0" marL="0">
              <a:buNone/>
            </a:pPr>
            <a:r>
              <a:rPr lang="en-US" sz="4000" b="1" dirty="0">
                <a:solidFill>
                  <a:srgbClr val="8C1D2B"/>
                </a:solidFill>
                <a:latin typeface="Cambria" pitchFamily="34" charset="0"/>
                <a:ea typeface="Cambria" pitchFamily="34" charset="-122"/>
                <a:cs typeface="Cambria" pitchFamily="34" charset="-120"/>
              </a:rPr>
              <a:t>C</a:t>
            </a:r>
            <a:endParaRPr lang="en-US" sz="4000" dirty="0"/>
          </a:p>
        </p:txBody>
      </p:sp>
      <p:sp>
        <p:nvSpPr>
          <p:cNvPr id="16" name="Text 14"/>
          <p:cNvSpPr txBox="1"/>
          <p:nvPr/>
        </p:nvSpPr>
        <p:spPr>
          <a:xfrm>
            <a:off x="8915400" y="1600200"/>
            <a:ext cx="2560320" cy="822960"/>
          </a:xfrm>
          <a:prstGeom prst="rect">
            <a:avLst/>
          </a:prstGeom>
          <a:noFill/>
          <a:ln/>
        </p:spPr>
        <p:txBody>
          <a:bodyPr wrap="square" lIns="0" tIns="0" rIns="0" bIns="0" rtlCol="0" anchor="t"/>
          <a:lstStyle/>
          <a:p>
            <a:pPr indent="0" marL="0">
              <a:buNone/>
            </a:pPr>
            <a:r>
              <a:rPr lang="en-US" sz="1500" b="1" dirty="0">
                <a:solidFill>
                  <a:srgbClr val="2B2B2B"/>
                </a:solidFill>
                <a:latin typeface="Calibri" pitchFamily="34" charset="0"/>
                <a:ea typeface="Calibri" pitchFamily="34" charset="-122"/>
                <a:cs typeface="Calibri" pitchFamily="34" charset="-120"/>
              </a:rPr>
              <a:t>Pelembagaan Sistem sebelum Suksesi</a:t>
            </a:r>
            <a:endParaRPr lang="en-US" sz="1500" dirty="0"/>
          </a:p>
        </p:txBody>
      </p:sp>
      <p:sp>
        <p:nvSpPr>
          <p:cNvPr id="17" name="Text 15"/>
          <p:cNvSpPr txBox="1"/>
          <p:nvPr/>
        </p:nvSpPr>
        <p:spPr>
          <a:xfrm>
            <a:off x="8183880" y="2468880"/>
            <a:ext cx="3291840" cy="3657600"/>
          </a:xfrm>
          <a:prstGeom prst="rect">
            <a:avLst/>
          </a:prstGeom>
          <a:noFill/>
          <a:ln/>
        </p:spPr>
        <p:txBody>
          <a:bodyPr wrap="square" lIns="0" tIns="0" rIns="0" bIns="0" rtlCol="0" anchor="t"/>
          <a:lstStyle/>
          <a:p>
            <a:pPr indent="0" marL="0">
              <a:buNone/>
            </a:pPr>
            <a:r>
              <a:rPr lang="en-US" sz="1200" dirty="0">
                <a:solidFill>
                  <a:srgbClr val="2B2B2B"/>
                </a:solidFill>
                <a:latin typeface="Calibri" pitchFamily="34" charset="0"/>
                <a:ea typeface="Calibri" pitchFamily="34" charset="-122"/>
                <a:cs typeface="Calibri" pitchFamily="34" charset="-120"/>
              </a:rPr>
              <a:t>Memecah sistem Ferguson menjadi fungsi yang dipegang orang berbeda (direktur pemanduan bakat, direktur akademi, direktur sepak bola yang menetapkan filosofi permainan dan kebijakan transfer), lalu mengangkat manajer tim, dari dalam atau luar, yang bekerja di dalam struktur itu dengan batas upah 50% pendapatan.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LANGKAH 3 · ISU</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Tiga isu sebagai pertanyaan, dijawab dari Bagian B</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Appendix 3 silabus: "Issues may be usefully conceived as explicit questions." Bukti dari Grant (2010), Case 6 "Manchester United: Preparing for Life without Ferguson".</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48640" y="1463040"/>
            <a:ext cx="457200" cy="457200"/>
          </a:xfrm>
          <a:prstGeom prst="ellipse">
            <a:avLst/>
          </a:prstGeom>
          <a:solidFill>
            <a:srgbClr val="8C1D2B"/>
          </a:solidFill>
          <a:ln w="12700">
            <a:solidFill>
              <a:srgbClr val="8C1D2B"/>
            </a:solidFill>
            <a:prstDash val="solid"/>
          </a:ln>
        </p:spPr>
      </p:sp>
      <p:sp>
        <p:nvSpPr>
          <p:cNvPr id="7" name="Text 5"/>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Shape 6"/>
          <p:cNvSpPr/>
          <p:nvPr/>
        </p:nvSpPr>
        <p:spPr>
          <a:xfrm>
            <a:off x="1143000" y="1371600"/>
            <a:ext cx="6949440" cy="1463040"/>
          </a:xfrm>
          <a:prstGeom prst="roundRect">
            <a:avLst>
              <a:gd name="adj" fmla="val 5000"/>
            </a:avLst>
          </a:prstGeom>
          <a:solidFill>
            <a:srgbClr val="F7EEEF"/>
          </a:solidFill>
          <a:ln w="12700">
            <a:solidFill>
              <a:srgbClr val="F7EEEF"/>
            </a:solidFill>
            <a:prstDash val="solid"/>
          </a:ln>
        </p:spPr>
      </p:sp>
      <p:sp>
        <p:nvSpPr>
          <p:cNvPr id="9" name="Text 7"/>
          <p:cNvSpPr txBox="1"/>
          <p:nvPr/>
        </p:nvSpPr>
        <p:spPr>
          <a:xfrm>
            <a:off x="1280160" y="1463040"/>
            <a:ext cx="66751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Apakah sistem Ferguson dapat dipisahkan dari Ferguson?</a:t>
            </a:r>
            <a:endParaRPr lang="en-US" sz="1300" dirty="0"/>
          </a:p>
        </p:txBody>
      </p:sp>
      <p:sp>
        <p:nvSpPr>
          <p:cNvPr id="10" name="Text 8"/>
          <p:cNvSpPr txBox="1"/>
          <p:nvPr/>
        </p:nvSpPr>
        <p:spPr>
          <a:xfrm>
            <a:off x="1280160" y="1783080"/>
            <a:ext cx="6675120" cy="9601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Calibri" pitchFamily="34" charset="0"/>
                <a:ea typeface="Calibri" pitchFamily="34" charset="-122"/>
                <a:cs typeface="Calibri" pitchFamily="34" charset="-120"/>
              </a:rPr>
              <a:t>Uji VRIN (slide 27): sistem itu resource bundle dengan komponen yang dikenali: jaringan pemandu bakat, akademi, disiplin latihan, filosofi permainan, kebijakan transfer. Sebagian besar dapat dilembagakan; kemampuan mengendalikan bintang mungkin tidak.</a:t>
            </a:r>
            <a:endParaRPr lang="en-US" sz="1050" dirty="0"/>
          </a:p>
        </p:txBody>
      </p:sp>
      <p:sp>
        <p:nvSpPr>
          <p:cNvPr id="11" name="Shape 9"/>
          <p:cNvSpPr/>
          <p:nvPr/>
        </p:nvSpPr>
        <p:spPr>
          <a:xfrm>
            <a:off x="8229600" y="1371600"/>
            <a:ext cx="3383280" cy="1463040"/>
          </a:xfrm>
          <a:prstGeom prst="roundRect">
            <a:avLst>
              <a:gd name="adj" fmla="val 5000"/>
            </a:avLst>
          </a:prstGeom>
          <a:solidFill>
            <a:srgbClr val="F7EEEF"/>
          </a:solidFill>
          <a:ln w="12700">
            <a:solidFill>
              <a:srgbClr val="F7EEEF"/>
            </a:solidFill>
            <a:prstDash val="solid"/>
          </a:ln>
        </p:spPr>
      </p:sp>
      <p:sp>
        <p:nvSpPr>
          <p:cNvPr id="12" name="Text 10"/>
          <p:cNvSpPr txBox="1"/>
          <p:nvPr/>
        </p:nvSpPr>
        <p:spPr>
          <a:xfrm>
            <a:off x="8366760" y="1463040"/>
            <a:ext cx="31089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Implikasi</a:t>
            </a:r>
            <a:endParaRPr lang="en-US" sz="1300" dirty="0"/>
          </a:p>
        </p:txBody>
      </p:sp>
      <p:sp>
        <p:nvSpPr>
          <p:cNvPr id="13" name="Text 11"/>
          <p:cNvSpPr txBox="1"/>
          <p:nvPr/>
        </p:nvSpPr>
        <p:spPr>
          <a:xfrm>
            <a:off x="8366760" y="1783080"/>
            <a:ext cx="3108960" cy="96012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Mendukung C; membatasi A.</a:t>
            </a:r>
            <a:endParaRPr lang="en-US" sz="1200" dirty="0"/>
          </a:p>
        </p:txBody>
      </p:sp>
      <p:sp>
        <p:nvSpPr>
          <p:cNvPr id="14" name="Shape 12"/>
          <p:cNvSpPr/>
          <p:nvPr/>
        </p:nvSpPr>
        <p:spPr>
          <a:xfrm>
            <a:off x="548640" y="3063240"/>
            <a:ext cx="457200" cy="457200"/>
          </a:xfrm>
          <a:prstGeom prst="ellipse">
            <a:avLst/>
          </a:prstGeom>
          <a:solidFill>
            <a:srgbClr val="8C1D2B"/>
          </a:solidFill>
          <a:ln w="12700">
            <a:solidFill>
              <a:srgbClr val="8C1D2B"/>
            </a:solidFill>
            <a:prstDash val="solid"/>
          </a:ln>
        </p:spPr>
      </p:sp>
      <p:sp>
        <p:nvSpPr>
          <p:cNvPr id="15" name="Text 13"/>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Shape 14"/>
          <p:cNvSpPr/>
          <p:nvPr/>
        </p:nvSpPr>
        <p:spPr>
          <a:xfrm>
            <a:off x="1143000" y="2971800"/>
            <a:ext cx="6949440" cy="1463040"/>
          </a:xfrm>
          <a:prstGeom prst="roundRect">
            <a:avLst>
              <a:gd name="adj" fmla="val 5000"/>
            </a:avLst>
          </a:prstGeom>
          <a:solidFill>
            <a:srgbClr val="F7EEEF"/>
          </a:solidFill>
          <a:ln w="12700">
            <a:solidFill>
              <a:srgbClr val="F7EEEF"/>
            </a:solidFill>
            <a:prstDash val="solid"/>
          </a:ln>
        </p:spPr>
      </p:sp>
      <p:sp>
        <p:nvSpPr>
          <p:cNvPr id="17" name="Text 15"/>
          <p:cNvSpPr txBox="1"/>
          <p:nvPr/>
        </p:nvSpPr>
        <p:spPr>
          <a:xfrm>
            <a:off x="1280160" y="3063240"/>
            <a:ext cx="66751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Apakah orang dalam sanggup berwibawa di hadapan bintang?</a:t>
            </a:r>
            <a:endParaRPr lang="en-US" sz="1300" dirty="0"/>
          </a:p>
        </p:txBody>
      </p:sp>
      <p:sp>
        <p:nvSpPr>
          <p:cNvPr id="18" name="Text 16"/>
          <p:cNvSpPr txBox="1"/>
          <p:nvPr/>
        </p:nvSpPr>
        <p:spPr>
          <a:xfrm>
            <a:off x="1280160" y="3383280"/>
            <a:ext cx="6675120" cy="9601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Calibri" pitchFamily="34" charset="0"/>
                <a:ea typeface="Calibri" pitchFamily="34" charset="-122"/>
                <a:cs typeface="Calibri" pitchFamily="34" charset="-120"/>
              </a:rPr>
              <a:t>Kasus ragu: apakah asisten "could have the presence and strength of personality needed to exert leadership and authority over Manchester United’s high profile soccer stars" (hlm. 588). Prinsip tidak ada pemain lebih besar dari klub menuntut wibawa itu.</a:t>
            </a:r>
            <a:endParaRPr lang="en-US" sz="1050" dirty="0"/>
          </a:p>
        </p:txBody>
      </p:sp>
      <p:sp>
        <p:nvSpPr>
          <p:cNvPr id="19" name="Shape 17"/>
          <p:cNvSpPr/>
          <p:nvPr/>
        </p:nvSpPr>
        <p:spPr>
          <a:xfrm>
            <a:off x="8229600" y="2971800"/>
            <a:ext cx="3383280" cy="1463040"/>
          </a:xfrm>
          <a:prstGeom prst="roundRect">
            <a:avLst>
              <a:gd name="adj" fmla="val 5000"/>
            </a:avLst>
          </a:prstGeom>
          <a:solidFill>
            <a:srgbClr val="F7EEEF"/>
          </a:solidFill>
          <a:ln w="12700">
            <a:solidFill>
              <a:srgbClr val="F7EEEF"/>
            </a:solidFill>
            <a:prstDash val="solid"/>
          </a:ln>
        </p:spPr>
      </p:sp>
      <p:sp>
        <p:nvSpPr>
          <p:cNvPr id="20" name="Text 18"/>
          <p:cNvSpPr txBox="1"/>
          <p:nvPr/>
        </p:nvSpPr>
        <p:spPr>
          <a:xfrm>
            <a:off x="8366760" y="3063240"/>
            <a:ext cx="31089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Implikasi</a:t>
            </a:r>
            <a:endParaRPr lang="en-US" sz="1300" dirty="0"/>
          </a:p>
        </p:txBody>
      </p:sp>
      <p:sp>
        <p:nvSpPr>
          <p:cNvPr id="21" name="Text 19"/>
          <p:cNvSpPr txBox="1"/>
          <p:nvPr/>
        </p:nvSpPr>
        <p:spPr>
          <a:xfrm>
            <a:off x="8366760" y="3383280"/>
            <a:ext cx="3108960" cy="96012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Melemahkan A.</a:t>
            </a:r>
            <a:endParaRPr lang="en-US" sz="1200" dirty="0"/>
          </a:p>
        </p:txBody>
      </p:sp>
      <p:sp>
        <p:nvSpPr>
          <p:cNvPr id="22" name="Shape 20"/>
          <p:cNvSpPr/>
          <p:nvPr/>
        </p:nvSpPr>
        <p:spPr>
          <a:xfrm>
            <a:off x="548640" y="4663440"/>
            <a:ext cx="457200" cy="457200"/>
          </a:xfrm>
          <a:prstGeom prst="ellipse">
            <a:avLst/>
          </a:prstGeom>
          <a:solidFill>
            <a:srgbClr val="8C1D2B"/>
          </a:solidFill>
          <a:ln w="12700">
            <a:solidFill>
              <a:srgbClr val="8C1D2B"/>
            </a:solidFill>
            <a:prstDash val="solid"/>
          </a:ln>
        </p:spPr>
      </p:sp>
      <p:sp>
        <p:nvSpPr>
          <p:cNvPr id="23" name="Text 21"/>
          <p:cNvSpPr txBox="1"/>
          <p:nvPr/>
        </p:nvSpPr>
        <p:spPr>
          <a:xfrm>
            <a:off x="548640" y="4663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4" name="Shape 22"/>
          <p:cNvSpPr/>
          <p:nvPr/>
        </p:nvSpPr>
        <p:spPr>
          <a:xfrm>
            <a:off x="1143000" y="4572000"/>
            <a:ext cx="6949440" cy="1463040"/>
          </a:xfrm>
          <a:prstGeom prst="roundRect">
            <a:avLst>
              <a:gd name="adj" fmla="val 5000"/>
            </a:avLst>
          </a:prstGeom>
          <a:solidFill>
            <a:srgbClr val="F7EEEF"/>
          </a:solidFill>
          <a:ln w="12700">
            <a:solidFill>
              <a:srgbClr val="F7EEEF"/>
            </a:solidFill>
            <a:prstDash val="solid"/>
          </a:ln>
        </p:spPr>
      </p:sp>
      <p:sp>
        <p:nvSpPr>
          <p:cNvPr id="25" name="Text 23"/>
          <p:cNvSpPr txBox="1"/>
          <p:nvPr/>
        </p:nvSpPr>
        <p:spPr>
          <a:xfrm>
            <a:off x="1280160" y="4663440"/>
            <a:ext cx="667512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Apakah neraca sanggup menanggung perombakan total?</a:t>
            </a:r>
            <a:endParaRPr lang="en-US" sz="1300" dirty="0"/>
          </a:p>
        </p:txBody>
      </p:sp>
      <p:sp>
        <p:nvSpPr>
          <p:cNvPr id="26" name="Text 24"/>
          <p:cNvSpPr txBox="1"/>
          <p:nvPr/>
        </p:nvSpPr>
        <p:spPr>
          <a:xfrm>
            <a:off x="1280160" y="4983480"/>
            <a:ext cx="6675120" cy="960120"/>
          </a:xfrm>
          <a:prstGeom prst="rect">
            <a:avLst/>
          </a:prstGeom>
          <a:noFill/>
          <a:ln/>
        </p:spPr>
        <p:txBody>
          <a:bodyPr wrap="square" lIns="0" tIns="0" rIns="0" bIns="0" rtlCol="0" anchor="t"/>
          <a:lstStyle/>
          <a:p>
            <a:pPr indent="0" marL="0">
              <a:spcAft>
                <a:spcPts val="300"/>
              </a:spcAft>
              <a:buNone/>
            </a:pPr>
            <a:r>
              <a:rPr lang="en-US" sz="1050" dirty="0">
                <a:solidFill>
                  <a:srgbClr val="2B2B2B"/>
                </a:solidFill>
                <a:latin typeface="Calibri" pitchFamily="34" charset="0"/>
                <a:ea typeface="Calibri" pitchFamily="34" charset="-122"/>
                <a:cs typeface="Calibri" pitchFamily="34" charset="-120"/>
              </a:rPr>
              <a:t>Benchmarking (slide 30): model membeli pemain menghasilkan RoS 0,4% di Real Madrid dan −60,4% di Chelsea. Dengan utang £616 juta dan tanpa suntikan kas pemilik, MU tidak dapat meniru model itu.</a:t>
            </a:r>
            <a:endParaRPr lang="en-US" sz="1050" dirty="0"/>
          </a:p>
        </p:txBody>
      </p:sp>
      <p:sp>
        <p:nvSpPr>
          <p:cNvPr id="27" name="Shape 25"/>
          <p:cNvSpPr/>
          <p:nvPr/>
        </p:nvSpPr>
        <p:spPr>
          <a:xfrm>
            <a:off x="8229600" y="4572000"/>
            <a:ext cx="3383280" cy="1463040"/>
          </a:xfrm>
          <a:prstGeom prst="roundRect">
            <a:avLst>
              <a:gd name="adj" fmla="val 5000"/>
            </a:avLst>
          </a:prstGeom>
          <a:solidFill>
            <a:srgbClr val="F7EEEF"/>
          </a:solidFill>
          <a:ln w="12700">
            <a:solidFill>
              <a:srgbClr val="F7EEEF"/>
            </a:solidFill>
            <a:prstDash val="solid"/>
          </a:ln>
        </p:spPr>
      </p:sp>
      <p:sp>
        <p:nvSpPr>
          <p:cNvPr id="28" name="Text 26"/>
          <p:cNvSpPr txBox="1"/>
          <p:nvPr/>
        </p:nvSpPr>
        <p:spPr>
          <a:xfrm>
            <a:off x="8366760" y="4663440"/>
            <a:ext cx="310896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Implikasi</a:t>
            </a:r>
            <a:endParaRPr lang="en-US" sz="1300" dirty="0"/>
          </a:p>
        </p:txBody>
      </p:sp>
      <p:sp>
        <p:nvSpPr>
          <p:cNvPr id="29" name="Text 27"/>
          <p:cNvSpPr txBox="1"/>
          <p:nvPr/>
        </p:nvSpPr>
        <p:spPr>
          <a:xfrm>
            <a:off x="8366760" y="4983480"/>
            <a:ext cx="3108960" cy="96012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Menggugurkan B.</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ARGUMEN TANDINGAN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Membela alternatif B, lalu menguji dengan bukti</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Rubrik nilai A silabus menuntut "conflicting arguments, perspectives or problem-solving approaches". Bukti dari Grant (2010), Case 6 "Manchester United: Preparing for Life without Ferguson", hlm. 582–583, 588; Table 6.6, 6.8.</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548640" y="1371600"/>
            <a:ext cx="5394960" cy="4846320"/>
          </a:xfrm>
          <a:prstGeom prst="roundRect">
            <a:avLst>
              <a:gd name="adj" fmla="val 1509"/>
            </a:avLst>
          </a:prstGeom>
          <a:solidFill>
            <a:srgbClr val="F7EEEF"/>
          </a:solidFill>
          <a:ln w="12700">
            <a:solidFill>
              <a:srgbClr val="F7EEEF"/>
            </a:solidFill>
            <a:prstDash val="solid"/>
          </a:ln>
        </p:spPr>
      </p:sp>
      <p:sp>
        <p:nvSpPr>
          <p:cNvPr id="7" name="Text 5"/>
          <p:cNvSpPr txBox="1"/>
          <p:nvPr/>
        </p:nvSpPr>
        <p:spPr>
          <a:xfrm>
            <a:off x="685800" y="1463040"/>
            <a:ext cx="5120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Kasus terkuat untuk Pemimpin Terbukti dari Luar</a:t>
            </a:r>
            <a:endParaRPr lang="en-US" sz="1300" dirty="0"/>
          </a:p>
        </p:txBody>
      </p:sp>
      <p:sp>
        <p:nvSpPr>
          <p:cNvPr id="8" name="Text 6"/>
          <p:cNvSpPr txBox="1"/>
          <p:nvPr/>
        </p:nvSpPr>
        <p:spPr>
          <a:xfrm>
            <a:off x="685800" y="1783080"/>
            <a:ext cx="5120640" cy="434340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Kasus sendiri menyebut pelatih sebagai "the single person most responsible for its success" dan bahwa kesuksesan berkelanjutan "is almost always associated with a single coach" (hlm. 582).</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Table 6.8 memuat Mourinho dengan sukses di tiga klub berbeda (Porto, Chelsea, Inter).</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Setelah Busby pensiun, orang dalam gagal: 18 tahun tanpa gelar liga sampai orang luar (Ferguson dari Aberdeen) datang (hlm. 583).</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Kas £80 juta dari Ronaldo tersedia untuk membiayai pembangunan ulang.</a:t>
            </a:r>
            <a:endParaRPr lang="en-US" sz="1200" dirty="0"/>
          </a:p>
        </p:txBody>
      </p:sp>
      <p:sp>
        <p:nvSpPr>
          <p:cNvPr id="9" name="Shape 7"/>
          <p:cNvSpPr/>
          <p:nvPr/>
        </p:nvSpPr>
        <p:spPr>
          <a:xfrm>
            <a:off x="6126480" y="1371600"/>
            <a:ext cx="5486400" cy="4846320"/>
          </a:xfrm>
          <a:prstGeom prst="roundRect">
            <a:avLst>
              <a:gd name="adj" fmla="val 1509"/>
            </a:avLst>
          </a:prstGeom>
          <a:solidFill>
            <a:srgbClr val="F7EEEF"/>
          </a:solidFill>
          <a:ln w="12700">
            <a:solidFill>
              <a:srgbClr val="F7EEEF"/>
            </a:solidFill>
            <a:prstDash val="solid"/>
          </a:ln>
        </p:spPr>
      </p:sp>
      <p:sp>
        <p:nvSpPr>
          <p:cNvPr id="10" name="Text 8"/>
          <p:cNvSpPr txBox="1"/>
          <p:nvPr/>
        </p:nvSpPr>
        <p:spPr>
          <a:xfrm>
            <a:off x="626364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Mengapa argumen itu tidak cukup</a:t>
            </a:r>
            <a:endParaRPr lang="en-US" sz="1300" dirty="0"/>
          </a:p>
        </p:txBody>
      </p:sp>
      <p:sp>
        <p:nvSpPr>
          <p:cNvPr id="11" name="Text 9"/>
          <p:cNvSpPr txBox="1"/>
          <p:nvPr/>
        </p:nvSpPr>
        <p:spPr>
          <a:xfrm>
            <a:off x="6263640" y="1783080"/>
            <a:ext cx="5212080" cy="4343400"/>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Kasus juga menyatakan "coaches that achieve outstanding success with one team are often dismal failures with another" (hlm. 582): wibawa tidak otomatis pindah.</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Yang dibawa Ferguson pada 1986 bukan pembelian bintang melainkan pembangunan sistem dari bawah; hasil pertamanya baru 1990 dan gelar liga 1993. Orang luar yang membongkar sistem mengulang tujuh tahun itu tanpa jaminan.</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Real Madrid, yang bergonta-ganti pelatih ternama (Capello 1996–97 dan 2006–07, Hiddink 1998–99, Del Bosque 1999–2003, Sacchi 2004, Table 6.8), mencatat RoS 0,4% dan poin Eropa di bawah MU.</a:t>
            </a:r>
            <a:endParaRPr lang="en-US" sz="1200" dirty="0"/>
          </a:p>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 £80 juta setara satu pemain rekor dunia, bukan satu tim; dan setiap poundsterling yang dibelanjakan menaikkan rasio upah dari 50% menuju 81% Chelsea.</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LANGKAH 4 · SIMPULAN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Alternatif C terpilih: deduksi dari tiga isu</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Appendix 3 silabus: simpulan "deduces the best alternative from facts" dan "should use them to build quantitative arguments". Angka dari Grant (2010), Case 6 "Manchester United: Preparing for Life without Ferguson" dan slide 31.</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548640" y="1371600"/>
            <a:ext cx="6035040" cy="868680"/>
          </a:xfrm>
          <a:prstGeom prst="roundRect">
            <a:avLst>
              <a:gd name="adj" fmla="val 8421"/>
            </a:avLst>
          </a:prstGeom>
          <a:solidFill>
            <a:srgbClr val="F7EEEF"/>
          </a:solidFill>
          <a:ln w="12700">
            <a:solidFill>
              <a:srgbClr val="F7EEEF"/>
            </a:solidFill>
            <a:prstDash val="solid"/>
          </a:ln>
        </p:spPr>
      </p:sp>
      <p:sp>
        <p:nvSpPr>
          <p:cNvPr id="7" name="Text 5"/>
          <p:cNvSpPr txBox="1"/>
          <p:nvPr/>
        </p:nvSpPr>
        <p:spPr>
          <a:xfrm>
            <a:off x="685800" y="1463040"/>
            <a:ext cx="5760720" cy="731520"/>
          </a:xfrm>
          <a:prstGeom prst="rect">
            <a:avLst/>
          </a:prstGeom>
          <a:noFill/>
          <a:ln/>
        </p:spPr>
        <p:txBody>
          <a:bodyPr wrap="square" lIns="0" tIns="0" rIns="0" bIns="0" rtlCol="0" anchor="t"/>
          <a:lstStyle/>
          <a:p>
            <a:pPr indent="0" marL="0">
              <a:buNone/>
            </a:pPr>
            <a:r>
              <a:rPr lang="en-US" sz="1150" b="1" dirty="0">
                <a:solidFill>
                  <a:srgbClr val="8C1D2B"/>
                </a:solidFill>
                <a:latin typeface="Calibri" pitchFamily="34" charset="0"/>
                <a:ea typeface="Calibri" pitchFamily="34" charset="-122"/>
                <a:cs typeface="Calibri" pitchFamily="34" charset="-120"/>
              </a:rPr>
              <a:t>Premis 1. </a:t>
            </a:r>
            <a:pPr indent="0" marL="0">
              <a:buNone/>
            </a:pPr>
            <a:r>
              <a:rPr lang="en-US" sz="1150" dirty="0">
                <a:solidFill>
                  <a:srgbClr val="2B2B2B"/>
                </a:solidFill>
                <a:latin typeface="Calibri" pitchFamily="34" charset="0"/>
                <a:ea typeface="Calibri" pitchFamily="34" charset="-122"/>
                <a:cs typeface="Calibri" pitchFamily="34" charset="-120"/>
              </a:rPr>
              <a:t>Aset yang lolos VRIN adalah sistem, bukan orang; tugas utama melindungi sistem.</a:t>
            </a:r>
            <a:endParaRPr lang="en-US" sz="1150" dirty="0"/>
          </a:p>
        </p:txBody>
      </p:sp>
      <p:sp>
        <p:nvSpPr>
          <p:cNvPr id="8" name="Shape 6"/>
          <p:cNvSpPr/>
          <p:nvPr/>
        </p:nvSpPr>
        <p:spPr>
          <a:xfrm>
            <a:off x="548640" y="2331720"/>
            <a:ext cx="6035040" cy="868680"/>
          </a:xfrm>
          <a:prstGeom prst="roundRect">
            <a:avLst>
              <a:gd name="adj" fmla="val 8421"/>
            </a:avLst>
          </a:prstGeom>
          <a:solidFill>
            <a:srgbClr val="F7EEEF"/>
          </a:solidFill>
          <a:ln w="12700">
            <a:solidFill>
              <a:srgbClr val="F7EEEF"/>
            </a:solidFill>
            <a:prstDash val="solid"/>
          </a:ln>
        </p:spPr>
      </p:sp>
      <p:sp>
        <p:nvSpPr>
          <p:cNvPr id="9" name="Text 7"/>
          <p:cNvSpPr txBox="1"/>
          <p:nvPr/>
        </p:nvSpPr>
        <p:spPr>
          <a:xfrm>
            <a:off x="685800" y="2423160"/>
            <a:ext cx="5760720" cy="731520"/>
          </a:xfrm>
          <a:prstGeom prst="rect">
            <a:avLst/>
          </a:prstGeom>
          <a:noFill/>
          <a:ln/>
        </p:spPr>
        <p:txBody>
          <a:bodyPr wrap="square" lIns="0" tIns="0" rIns="0" bIns="0" rtlCol="0" anchor="t"/>
          <a:lstStyle/>
          <a:p>
            <a:pPr indent="0" marL="0">
              <a:buNone/>
            </a:pPr>
            <a:r>
              <a:rPr lang="en-US" sz="1150" b="1" dirty="0">
                <a:solidFill>
                  <a:srgbClr val="8C1D2B"/>
                </a:solidFill>
                <a:latin typeface="Calibri" pitchFamily="34" charset="0"/>
                <a:ea typeface="Calibri" pitchFamily="34" charset="-122"/>
                <a:cs typeface="Calibri" pitchFamily="34" charset="-120"/>
              </a:rPr>
              <a:t>Premis 2. </a:t>
            </a:r>
            <a:pPr indent="0" marL="0">
              <a:buNone/>
            </a:pPr>
            <a:r>
              <a:rPr lang="en-US" sz="1150" dirty="0">
                <a:solidFill>
                  <a:srgbClr val="2B2B2B"/>
                </a:solidFill>
                <a:latin typeface="Calibri" pitchFamily="34" charset="0"/>
                <a:ea typeface="Calibri" pitchFamily="34" charset="-122"/>
                <a:cs typeface="Calibri" pitchFamily="34" charset="-120"/>
              </a:rPr>
              <a:t>Sistem itu resource bundle yang komponennya dapat dipisahkan; pelembagaan mungkin dilakukan.</a:t>
            </a:r>
            <a:endParaRPr lang="en-US" sz="1150" dirty="0"/>
          </a:p>
        </p:txBody>
      </p:sp>
      <p:sp>
        <p:nvSpPr>
          <p:cNvPr id="10" name="Shape 8"/>
          <p:cNvSpPr/>
          <p:nvPr/>
        </p:nvSpPr>
        <p:spPr>
          <a:xfrm>
            <a:off x="548640" y="3291840"/>
            <a:ext cx="6035040" cy="868680"/>
          </a:xfrm>
          <a:prstGeom prst="roundRect">
            <a:avLst>
              <a:gd name="adj" fmla="val 8421"/>
            </a:avLst>
          </a:prstGeom>
          <a:solidFill>
            <a:srgbClr val="F7EEEF"/>
          </a:solidFill>
          <a:ln w="12700">
            <a:solidFill>
              <a:srgbClr val="F7EEEF"/>
            </a:solidFill>
            <a:prstDash val="solid"/>
          </a:ln>
        </p:spPr>
      </p:sp>
      <p:sp>
        <p:nvSpPr>
          <p:cNvPr id="11" name="Text 9"/>
          <p:cNvSpPr txBox="1"/>
          <p:nvPr/>
        </p:nvSpPr>
        <p:spPr>
          <a:xfrm>
            <a:off x="685800" y="3383280"/>
            <a:ext cx="5760720" cy="731520"/>
          </a:xfrm>
          <a:prstGeom prst="rect">
            <a:avLst/>
          </a:prstGeom>
          <a:noFill/>
          <a:ln/>
        </p:spPr>
        <p:txBody>
          <a:bodyPr wrap="square" lIns="0" tIns="0" rIns="0" bIns="0" rtlCol="0" anchor="t"/>
          <a:lstStyle/>
          <a:p>
            <a:pPr indent="0" marL="0">
              <a:buNone/>
            </a:pPr>
            <a:r>
              <a:rPr lang="en-US" sz="1150" b="1" dirty="0">
                <a:solidFill>
                  <a:srgbClr val="8C1D2B"/>
                </a:solidFill>
                <a:latin typeface="Calibri" pitchFamily="34" charset="0"/>
                <a:ea typeface="Calibri" pitchFamily="34" charset="-122"/>
                <a:cs typeface="Calibri" pitchFamily="34" charset="-120"/>
              </a:rPr>
              <a:t>Premis 3. </a:t>
            </a:r>
            <a:pPr indent="0" marL="0">
              <a:buNone/>
            </a:pPr>
            <a:r>
              <a:rPr lang="en-US" sz="1150" dirty="0">
                <a:solidFill>
                  <a:srgbClr val="2B2B2B"/>
                </a:solidFill>
                <a:latin typeface="Calibri" pitchFamily="34" charset="0"/>
                <a:ea typeface="Calibri" pitchFamily="34" charset="-122"/>
                <a:cs typeface="Calibri" pitchFamily="34" charset="-120"/>
              </a:rPr>
              <a:t>Neraca tidak sanggup menanggung model membeli; perombakan total (B) gugur.</a:t>
            </a:r>
            <a:endParaRPr lang="en-US" sz="1150" dirty="0"/>
          </a:p>
        </p:txBody>
      </p:sp>
      <p:sp>
        <p:nvSpPr>
          <p:cNvPr id="12" name="Shape 10"/>
          <p:cNvSpPr/>
          <p:nvPr/>
        </p:nvSpPr>
        <p:spPr>
          <a:xfrm>
            <a:off x="548640" y="4251960"/>
            <a:ext cx="6035040" cy="868680"/>
          </a:xfrm>
          <a:prstGeom prst="roundRect">
            <a:avLst>
              <a:gd name="adj" fmla="val 8421"/>
            </a:avLst>
          </a:prstGeom>
          <a:solidFill>
            <a:srgbClr val="F7EEEF"/>
          </a:solidFill>
          <a:ln w="12700">
            <a:solidFill>
              <a:srgbClr val="F7EEEF"/>
            </a:solidFill>
            <a:prstDash val="solid"/>
          </a:ln>
        </p:spPr>
      </p:sp>
      <p:sp>
        <p:nvSpPr>
          <p:cNvPr id="13" name="Text 11"/>
          <p:cNvSpPr txBox="1"/>
          <p:nvPr/>
        </p:nvSpPr>
        <p:spPr>
          <a:xfrm>
            <a:off x="685800" y="4343400"/>
            <a:ext cx="5760720" cy="731520"/>
          </a:xfrm>
          <a:prstGeom prst="rect">
            <a:avLst/>
          </a:prstGeom>
          <a:noFill/>
          <a:ln/>
        </p:spPr>
        <p:txBody>
          <a:bodyPr wrap="square" lIns="0" tIns="0" rIns="0" bIns="0" rtlCol="0" anchor="t"/>
          <a:lstStyle/>
          <a:p>
            <a:pPr indent="0" marL="0">
              <a:buNone/>
            </a:pPr>
            <a:r>
              <a:rPr lang="en-US" sz="1150" b="1" dirty="0">
                <a:solidFill>
                  <a:srgbClr val="8C1D2B"/>
                </a:solidFill>
                <a:latin typeface="Calibri" pitchFamily="34" charset="0"/>
                <a:ea typeface="Calibri" pitchFamily="34" charset="-122"/>
                <a:cs typeface="Calibri" pitchFamily="34" charset="-120"/>
              </a:rPr>
              <a:t>Premis 4. </a:t>
            </a:r>
            <a:pPr indent="0" marL="0">
              <a:buNone/>
            </a:pPr>
            <a:r>
              <a:rPr lang="en-US" sz="1150" dirty="0">
                <a:solidFill>
                  <a:srgbClr val="2B2B2B"/>
                </a:solidFill>
                <a:latin typeface="Calibri" pitchFamily="34" charset="0"/>
                <a:ea typeface="Calibri" pitchFamily="34" charset="-122"/>
                <a:cs typeface="Calibri" pitchFamily="34" charset="-120"/>
              </a:rPr>
              <a:t>Wibawa di hadapan bintang adalah komponen yang paling sulit dilembagakan; manajer dipilih atas wibawa, tetapi diikat struktur agar tidak membongkar sistem (A saja tidak cukup).</a:t>
            </a:r>
            <a:endParaRPr lang="en-US" sz="1150" dirty="0"/>
          </a:p>
        </p:txBody>
      </p:sp>
      <p:sp>
        <p:nvSpPr>
          <p:cNvPr id="14" name="Shape 12"/>
          <p:cNvSpPr/>
          <p:nvPr/>
        </p:nvSpPr>
        <p:spPr>
          <a:xfrm>
            <a:off x="548640" y="5257800"/>
            <a:ext cx="6035040" cy="1005840"/>
          </a:xfrm>
          <a:prstGeom prst="roundRect">
            <a:avLst>
              <a:gd name="adj" fmla="val 7273"/>
            </a:avLst>
          </a:prstGeom>
          <a:solidFill>
            <a:srgbClr val="FBEBD0"/>
          </a:solidFill>
          <a:ln w="12700">
            <a:solidFill>
              <a:srgbClr val="FBEBD0"/>
            </a:solidFill>
            <a:prstDash val="solid"/>
          </a:ln>
        </p:spPr>
      </p:sp>
      <p:sp>
        <p:nvSpPr>
          <p:cNvPr id="15" name="Text 13"/>
          <p:cNvSpPr txBox="1"/>
          <p:nvPr/>
        </p:nvSpPr>
        <p:spPr>
          <a:xfrm>
            <a:off x="685800" y="5367528"/>
            <a:ext cx="5760720" cy="786384"/>
          </a:xfrm>
          <a:prstGeom prst="rect">
            <a:avLst/>
          </a:prstGeom>
          <a:noFill/>
          <a:ln/>
        </p:spPr>
        <p:txBody>
          <a:bodyPr wrap="square" lIns="0" tIns="0" rIns="0" bIns="0" rtlCol="0" anchor="t"/>
          <a:lstStyle/>
          <a:p>
            <a:pPr indent="0" marL="0">
              <a:spcAft>
                <a:spcPts val="300"/>
              </a:spcAft>
              <a:buNone/>
            </a:pPr>
            <a:r>
              <a:rPr lang="en-US" sz="1200" dirty="0">
                <a:solidFill>
                  <a:srgbClr val="2B2B2B"/>
                </a:solidFill>
                <a:latin typeface="Calibri" pitchFamily="34" charset="0"/>
                <a:ea typeface="Calibri" pitchFamily="34" charset="-122"/>
                <a:cs typeface="Calibri" pitchFamily="34" charset="-120"/>
              </a:rPr>
              <a:t>Karena itu: lembagakan sistem lebih dulu (C), lalu pilih manajer berwibawa yang bekerja di dalamnya. C memuat kekuatan A tanpa kelemahannya, dan menutup pintu risiko B.</a:t>
            </a:r>
            <a:endParaRPr lang="en-US" sz="1200" dirty="0"/>
          </a:p>
        </p:txBody>
      </p:sp>
      <p:sp>
        <p:nvSpPr>
          <p:cNvPr id="16" name="Shape 14"/>
          <p:cNvSpPr/>
          <p:nvPr/>
        </p:nvSpPr>
        <p:spPr>
          <a:xfrm>
            <a:off x="6766560" y="1371600"/>
            <a:ext cx="4846320" cy="1508760"/>
          </a:xfrm>
          <a:prstGeom prst="roundRect">
            <a:avLst>
              <a:gd name="adj" fmla="val 4848"/>
            </a:avLst>
          </a:prstGeom>
          <a:solidFill>
            <a:srgbClr val="F7EEEF"/>
          </a:solidFill>
          <a:ln w="12700">
            <a:solidFill>
              <a:srgbClr val="F7EEEF"/>
            </a:solidFill>
            <a:prstDash val="solid"/>
          </a:ln>
        </p:spPr>
      </p:sp>
      <p:sp>
        <p:nvSpPr>
          <p:cNvPr id="17" name="Text 15"/>
          <p:cNvSpPr txBox="1"/>
          <p:nvPr/>
        </p:nvSpPr>
        <p:spPr>
          <a:xfrm>
            <a:off x="6903720" y="1444752"/>
            <a:ext cx="457200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&gt; €30 jt</a:t>
            </a:r>
            <a:endParaRPr lang="en-US" sz="2200" dirty="0"/>
          </a:p>
        </p:txBody>
      </p:sp>
      <p:sp>
        <p:nvSpPr>
          <p:cNvPr id="18" name="Text 16"/>
          <p:cNvSpPr txBox="1"/>
          <p:nvPr/>
        </p:nvSpPr>
        <p:spPr>
          <a:xfrm>
            <a:off x="6903720" y="1965960"/>
            <a:ext cx="457200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Pendapatan UEFA per musim yang hilang bila gagal lolos Liga Champions (hlm. 577), belum termasuk matchday dan sponsor.</a:t>
            </a:r>
            <a:endParaRPr lang="en-US" sz="1050" dirty="0"/>
          </a:p>
        </p:txBody>
      </p:sp>
      <p:sp>
        <p:nvSpPr>
          <p:cNvPr id="19" name="Shape 17"/>
          <p:cNvSpPr/>
          <p:nvPr/>
        </p:nvSpPr>
        <p:spPr>
          <a:xfrm>
            <a:off x="6766560" y="3017520"/>
            <a:ext cx="4846320" cy="1508760"/>
          </a:xfrm>
          <a:prstGeom prst="roundRect">
            <a:avLst>
              <a:gd name="adj" fmla="val 4848"/>
            </a:avLst>
          </a:prstGeom>
          <a:solidFill>
            <a:srgbClr val="F7EEEF"/>
          </a:solidFill>
          <a:ln w="12700">
            <a:solidFill>
              <a:srgbClr val="F7EEEF"/>
            </a:solidFill>
            <a:prstDash val="solid"/>
          </a:ln>
        </p:spPr>
      </p:sp>
      <p:sp>
        <p:nvSpPr>
          <p:cNvPr id="20" name="Text 18"/>
          <p:cNvSpPr txBox="1"/>
          <p:nvPr/>
        </p:nvSpPr>
        <p:spPr>
          <a:xfrm>
            <a:off x="6903720" y="3090672"/>
            <a:ext cx="457200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8,3</a:t>
            </a:r>
            <a:endParaRPr lang="en-US" sz="2200" dirty="0"/>
          </a:p>
        </p:txBody>
      </p:sp>
      <p:sp>
        <p:nvSpPr>
          <p:cNvPr id="21" name="Text 19"/>
          <p:cNvSpPr txBox="1"/>
          <p:nvPr/>
        </p:nvSpPr>
        <p:spPr>
          <a:xfrm>
            <a:off x="6903720" y="3611880"/>
            <a:ext cx="457200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Rating manajer minimal agar skor MU sejajar Barcelona; tanpa struktur, kegagalan satu orang menurunkan skor ke 7,90.</a:t>
            </a:r>
            <a:endParaRPr lang="en-US" sz="1050" dirty="0"/>
          </a:p>
        </p:txBody>
      </p:sp>
      <p:sp>
        <p:nvSpPr>
          <p:cNvPr id="22" name="Shape 20"/>
          <p:cNvSpPr/>
          <p:nvPr/>
        </p:nvSpPr>
        <p:spPr>
          <a:xfrm>
            <a:off x="6766560" y="4663440"/>
            <a:ext cx="4846320" cy="1508760"/>
          </a:xfrm>
          <a:prstGeom prst="roundRect">
            <a:avLst>
              <a:gd name="adj" fmla="val 4848"/>
            </a:avLst>
          </a:prstGeom>
          <a:solidFill>
            <a:srgbClr val="F7EEEF"/>
          </a:solidFill>
          <a:ln w="12700">
            <a:solidFill>
              <a:srgbClr val="F7EEEF"/>
            </a:solidFill>
            <a:prstDash val="solid"/>
          </a:ln>
        </p:spPr>
      </p:sp>
      <p:sp>
        <p:nvSpPr>
          <p:cNvPr id="23" name="Text 21"/>
          <p:cNvSpPr txBox="1"/>
          <p:nvPr/>
        </p:nvSpPr>
        <p:spPr>
          <a:xfrm>
            <a:off x="6903720" y="4736592"/>
            <a:ext cx="4572000" cy="502920"/>
          </a:xfrm>
          <a:prstGeom prst="rect">
            <a:avLst/>
          </a:prstGeom>
          <a:noFill/>
          <a:ln/>
        </p:spPr>
        <p:txBody>
          <a:bodyPr wrap="square" lIns="0" tIns="0" rIns="0" bIns="0" rtlCol="0" anchor="ctr"/>
          <a:lstStyle/>
          <a:p>
            <a:pPr indent="0" marL="0">
              <a:buNone/>
            </a:pPr>
            <a:r>
              <a:rPr lang="en-US" sz="2200" b="1" dirty="0">
                <a:solidFill>
                  <a:srgbClr val="8C1D2B"/>
                </a:solidFill>
                <a:latin typeface="Cambria" pitchFamily="34" charset="0"/>
                <a:ea typeface="Cambria" pitchFamily="34" charset="-122"/>
                <a:cs typeface="Cambria" pitchFamily="34" charset="-120"/>
              </a:rPr>
              <a:t>50%</a:t>
            </a:r>
            <a:endParaRPr lang="en-US" sz="2200" dirty="0"/>
          </a:p>
        </p:txBody>
      </p:sp>
      <p:sp>
        <p:nvSpPr>
          <p:cNvPr id="24" name="Text 22"/>
          <p:cNvSpPr txBox="1"/>
          <p:nvPr/>
        </p:nvSpPr>
        <p:spPr>
          <a:xfrm>
            <a:off x="6903720" y="5257800"/>
            <a:ext cx="4572000" cy="868680"/>
          </a:xfrm>
          <a:prstGeom prst="rect">
            <a:avLst/>
          </a:prstGeom>
          <a:noFill/>
          <a:ln/>
        </p:spPr>
        <p:txBody>
          <a:bodyPr wrap="square" lIns="0" tIns="0" rIns="0" bIns="0" rtlCol="0" anchor="t"/>
          <a:lstStyle/>
          <a:p>
            <a:pPr indent="0" marL="0">
              <a:buNone/>
            </a:pPr>
            <a:r>
              <a:rPr lang="en-US" sz="1050" dirty="0">
                <a:solidFill>
                  <a:srgbClr val="2B2B2B"/>
                </a:solidFill>
                <a:latin typeface="Calibri" pitchFamily="34" charset="0"/>
                <a:ea typeface="Calibri" pitchFamily="34" charset="-122"/>
                <a:cs typeface="Calibri" pitchFamily="34" charset="-120"/>
              </a:rPr>
              <a:t>Batas upah terhadap pendapatan yang menjaga margin 31,4%; melampaui 62% berarti kembali ke rata-rata liga yang merugi.</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RENCANA IMPLEMENTASI</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KPI, jadwal, penanggung jawab, sumber daya, risiko</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Sesuai CO2 silabus: "actionable implementation plans with KPIs, timelines, ownership, resources, and risk mitigation". Nama dan angka dasar dari Grant (2010), Case 6 "Manchester United: Preparing for Life without Ferguson"; target adalah usulan kelompok.</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2194560"/>
                <a:gridCol w="1371600"/>
                <a:gridCol w="1463040"/>
                <a:gridCol w="1554480"/>
                <a:gridCol w="237744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Tindakan</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Jadwal</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Penanggung jawab</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Sumber daya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Risiko dan mitigasi</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solidFill>
                      <a:srgbClr val="8C1D2B"/>
                    </a:solidFill>
                  </a:tcPr>
                </a:tc>
              </a:tr>
              <a:tr h="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Mendokumentasikan dan memecah sistem menjadi direktur pemanduan bakat, akademi, dan sepak bola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Tiga posisi terisi; kebijakan transfer dan filosofi permainan tertulis disetujui dewan</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Musim 2009–10, selagi Ferguson menjabat</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David Gill bersama Ferguson</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Tiga posisi direktur; jauh di bawah upah satu pemain bintang</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Ferguson menolak berbagi kewenangan: posisikan sebagai warisan, bukan pengurangan peran</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Memilih manajer tim yang bekerja di dalam struktur</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Kontrak memuat batas upah 50% pendapatan dan kewenangan transfer bersama direktur sepak bola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Diumumkan sebelum akhir musim 2009–10</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Dewan atas usulan Gill</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Anggaran kompensasi manajer</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Kandidat berwibawa menolak batasan: siapkan kandidat internal yang dilatih selama transisi</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Membelanjakan kas Ronaldo sesuai sistem, bukan untuk satu bintang</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Belanja bersih di bawah £30 juta per musim; dua lulusan akademi masuk tim utama per musim</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Jendela transfer 2009 dan 2010</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Direktur sepak bola dan manajer</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Kas £80 juta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Tekanan media dan pendukung: komunikasi rencana sejak awal</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Mengamankan pendapatan komersial Asia selagi prestasi tinggi</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Pendapatan komersial dari Asia naik 20% per tahun; dua sponsor per negara baru di India dan China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2009–2012</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Direktur komersial Richard Arnold</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Tim komersial London; tur Asia</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Prestasi turun selama transisi: kontrak multi-tahun dikunci sekarang</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r h="0">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Mengevaluasi dampak setiap akhir musim</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Ulangi matriks slide 31: skor sistem kepelatihan tetap di atas 7; posisi empat besar; rasio upah di bawah 55%</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Setiap Juni, mulai 2010</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Dewan</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Data internal</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c>
                  <a:txBody>
                    <a:bodyPr/>
                    <a:lstStyle/>
                    <a:p>
                      <a:pPr indent="0" marL="0">
                        <a:buNone/>
                      </a:pPr>
                      <a:r>
                        <a:rPr lang="en-US" sz="900" dirty="0">
                          <a:solidFill>
                            <a:srgbClr val="2B2B2B"/>
                          </a:solidFill>
                          <a:latin typeface="Calibri" pitchFamily="34" charset="0"/>
                          <a:ea typeface="Calibri" pitchFamily="34" charset="-122"/>
                          <a:cs typeface="Calibri" pitchFamily="34" charset="-120"/>
                        </a:rPr>
                        <a:t>Skor turun di bawah 6 meski struktur terisi: ganti manajer, bukan bongkar struktur</a:t>
                      </a:r>
                      <a:endParaRPr lang="en-US" sz="900" dirty="0">
                        <a:latin typeface="Calibri" charset="0"/>
                        <a:ea typeface="Calibri" charset="0"/>
                        <a:cs typeface="Calibri" charset="0"/>
                      </a:endParaRPr>
                    </a:p>
                  </a:txBody>
                  <a:tcPr marL="91440" marR="91440" marT="45720" marB="45720" anchor="t">
                    <a:lnL w="6350" cap="flat" cmpd="sng" algn="ctr">
                      <a:solidFill>
                        <a:srgbClr val="D9C6C8"/>
                      </a:solidFill>
                      <a:prstDash val="solid"/>
                      <a:round/>
                      <a:headEnd type="none" w="med" len="med"/>
                      <a:tailEnd type="none" w="med" len="med"/>
                    </a:lnL>
                    <a:lnR w="6350" cap="flat" cmpd="sng" algn="ctr">
                      <a:solidFill>
                        <a:srgbClr val="D9C6C8"/>
                      </a:solidFill>
                      <a:prstDash val="solid"/>
                      <a:round/>
                      <a:headEnd type="none" w="med" len="med"/>
                      <a:tailEnd type="none" w="med" len="med"/>
                    </a:lnR>
                    <a:lnT w="6350" cap="flat" cmpd="sng" algn="ctr">
                      <a:solidFill>
                        <a:srgbClr val="D9C6C8"/>
                      </a:solidFill>
                      <a:prstDash val="solid"/>
                      <a:round/>
                      <a:headEnd type="none" w="med" len="med"/>
                      <a:tailEnd type="none" w="med" len="med"/>
                    </a:lnT>
                    <a:lnB w="6350" cap="flat" cmpd="sng" algn="ctr">
                      <a:solidFill>
                        <a:srgbClr val="D9C6C8"/>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SUMBER DAN CATATAN VERIFIKASI</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Setiap angka dapat ditelusuri ke kasus</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Buku: Thompson, Peteraf, Gamble &amp; Strickland (2024). Kasus: Grant (2010), Contemporary Strategy Analysis, 7th ed., Case 6. Silabus: RPKPS MAN 5422 2026.</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548640" y="1371600"/>
            <a:ext cx="5394960" cy="4846320"/>
          </a:xfrm>
          <a:prstGeom prst="roundRect">
            <a:avLst>
              <a:gd name="adj" fmla="val 1509"/>
            </a:avLst>
          </a:prstGeom>
          <a:solidFill>
            <a:srgbClr val="F7EEEF"/>
          </a:solidFill>
          <a:ln w="12700">
            <a:solidFill>
              <a:srgbClr val="F7EEEF"/>
            </a:solidFill>
            <a:prstDash val="solid"/>
          </a:ln>
        </p:spPr>
      </p:sp>
      <p:sp>
        <p:nvSpPr>
          <p:cNvPr id="7" name="Text 5"/>
          <p:cNvSpPr txBox="1"/>
          <p:nvPr/>
        </p:nvSpPr>
        <p:spPr>
          <a:xfrm>
            <a:off x="685800" y="1463040"/>
            <a:ext cx="512064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Peta sumber data kasus</a:t>
            </a:r>
            <a:endParaRPr lang="en-US" sz="1300" dirty="0"/>
          </a:p>
        </p:txBody>
      </p:sp>
      <p:sp>
        <p:nvSpPr>
          <p:cNvPr id="8" name="Text 6"/>
          <p:cNvSpPr txBox="1"/>
          <p:nvPr/>
        </p:nvSpPr>
        <p:spPr>
          <a:xfrm>
            <a:off x="685800" y="1783080"/>
            <a:ext cx="5120640" cy="43434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6.1: gelar liga 1980–2009.</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6.2: poin performa Eropa 2000–2009.</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6.3: peringkat pemain FIFA 2008–09.</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6.4: transfer termahal.</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6.5: pendapatan, EBITDA, nilai klub, utang (Forbes 2009).</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6.6: return on sales 2000–2006.</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6.7: belanja transfer (dirujuk kasus hlm. 580).</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Table 6.8: pelatih paling dihormati 1990–2007.</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Appendix: laporan keuangan MU 2000–2008.</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Hlm. 573: tur Asia, Aon, 80 juta pendukung. Hlm. 577–579: pendapatan liga, gaji, pemilik. Hlm. 582–588: pelatih, era Ferguson, kepemilikan, gaya manajemen, komersial, kandidat pengganti.</a:t>
            </a:r>
            <a:endParaRPr lang="en-US" sz="1150" dirty="0"/>
          </a:p>
        </p:txBody>
      </p:sp>
      <p:sp>
        <p:nvSpPr>
          <p:cNvPr id="9" name="Shape 7"/>
          <p:cNvSpPr/>
          <p:nvPr/>
        </p:nvSpPr>
        <p:spPr>
          <a:xfrm>
            <a:off x="6126480" y="1371600"/>
            <a:ext cx="5486400" cy="4846320"/>
          </a:xfrm>
          <a:prstGeom prst="roundRect">
            <a:avLst>
              <a:gd name="adj" fmla="val 1509"/>
            </a:avLst>
          </a:prstGeom>
          <a:solidFill>
            <a:srgbClr val="F7EEEF"/>
          </a:solidFill>
          <a:ln w="12700">
            <a:solidFill>
              <a:srgbClr val="F7EEEF"/>
            </a:solidFill>
            <a:prstDash val="solid"/>
          </a:ln>
        </p:spPr>
      </p:sp>
      <p:sp>
        <p:nvSpPr>
          <p:cNvPr id="10" name="Text 8"/>
          <p:cNvSpPr txBox="1"/>
          <p:nvPr/>
        </p:nvSpPr>
        <p:spPr>
          <a:xfrm>
            <a:off x="6263640" y="1463040"/>
            <a:ext cx="5212080" cy="320040"/>
          </a:xfrm>
          <a:prstGeom prst="rect">
            <a:avLst/>
          </a:prstGeom>
          <a:noFill/>
          <a:ln/>
        </p:spPr>
        <p:txBody>
          <a:bodyPr wrap="square" lIns="0" tIns="0" rIns="0" bIns="0" rtlCol="0" anchor="t"/>
          <a:lstStyle/>
          <a:p>
            <a:pPr indent="0" marL="0">
              <a:buNone/>
            </a:pPr>
            <a:r>
              <a:rPr lang="en-US" sz="1300" b="1" dirty="0">
                <a:solidFill>
                  <a:srgbClr val="8C1D2B"/>
                </a:solidFill>
                <a:latin typeface="Calibri" pitchFamily="34" charset="0"/>
                <a:ea typeface="Calibri" pitchFamily="34" charset="-122"/>
                <a:cs typeface="Calibri" pitchFamily="34" charset="-120"/>
              </a:rPr>
              <a:t>Catatan kejujuran analisis</a:t>
            </a:r>
            <a:endParaRPr lang="en-US" sz="1300" dirty="0"/>
          </a:p>
        </p:txBody>
      </p:sp>
      <p:sp>
        <p:nvSpPr>
          <p:cNvPr id="11" name="Text 9"/>
          <p:cNvSpPr txBox="1"/>
          <p:nvPr/>
        </p:nvSpPr>
        <p:spPr>
          <a:xfrm>
            <a:off x="6263640" y="1783080"/>
            <a:ext cx="5212080" cy="4343400"/>
          </a:xfrm>
          <a:prstGeom prst="rect">
            <a:avLst/>
          </a:prstGeom>
          <a:noFill/>
          <a:ln/>
        </p:spPr>
        <p:txBody>
          <a:bodyPr wrap="square" lIns="0" tIns="0" rIns="0" bIns="0" rtlCol="0" anchor="t"/>
          <a:lstStyle/>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Bobot dan rating matriks kekuatan (slide 31) serta semua target rencana implementasi (slide 39) adalah penilaian kelompok, bukan data kasus.</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Margin EBITDA (slide 30) dihitung kelompok dari Table 6.5.</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Konsep transferability (slide 27) berasal dari buku teks Grant, bukan dari teks kasus.</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Kasus berhenti pada Juli 2009; tidak ada informasi setelah itu yang dipakai dalam analisis.</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 Gambar Figure 4.1–4.4, Table 4.1–4.4, dan Capsule 4.1 diambil langsung dari PDF buku, tidak digambar ulang.</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8C1D2B"/>
        </a:solidFill>
      </p:bgPr>
    </p:bg>
    <p:spTree>
      <p:nvGrpSpPr>
        <p:cNvPr id="1" name=""/>
        <p:cNvGrpSpPr/>
        <p:nvPr/>
      </p:nvGrpSpPr>
      <p:grpSpPr>
        <a:xfrm>
          <a:off x="0" y="0"/>
          <a:ext cx="0" cy="0"/>
          <a:chOff x="0" y="0"/>
          <a:chExt cx="0" cy="0"/>
        </a:xfrm>
      </p:grpSpPr>
      <p:sp>
        <p:nvSpPr>
          <p:cNvPr id="2" name="Text 0"/>
          <p:cNvSpPr txBox="1"/>
          <p:nvPr/>
        </p:nvSpPr>
        <p:spPr>
          <a:xfrm>
            <a:off x="731520" y="2103120"/>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Terima kasih</a:t>
            </a:r>
            <a:endParaRPr lang="en-US" sz="4400" dirty="0"/>
          </a:p>
        </p:txBody>
      </p:sp>
      <p:sp>
        <p:nvSpPr>
          <p:cNvPr id="3" name="Text 1"/>
          <p:cNvSpPr txBox="1"/>
          <p:nvPr/>
        </p:nvSpPr>
        <p:spPr>
          <a:xfrm>
            <a:off x="731520" y="3108960"/>
            <a:ext cx="10515600" cy="1097280"/>
          </a:xfrm>
          <a:prstGeom prst="rect">
            <a:avLst/>
          </a:prstGeom>
          <a:noFill/>
          <a:ln/>
        </p:spPr>
        <p:txBody>
          <a:bodyPr wrap="square" lIns="0" tIns="0" rIns="0" bIns="0" rtlCol="0" anchor="ctr"/>
          <a:lstStyle/>
          <a:p>
            <a:pPr indent="0" marL="0">
              <a:buNone/>
            </a:pPr>
            <a:r>
              <a:rPr lang="en-US" sz="1600" dirty="0">
                <a:solidFill>
                  <a:srgbClr val="F3DCDF"/>
                </a:solidFill>
                <a:latin typeface="Calibri" pitchFamily="34" charset="0"/>
                <a:ea typeface="Calibri" pitchFamily="34" charset="-122"/>
                <a:cs typeface="Calibri" pitchFamily="34" charset="-120"/>
              </a:rPr>
              <a:t>Kami membuka sesi tanya jawab dan diskusi. Pertanyaan yang paling kami harapkan: komponen mana dari sistem Ferguson yang menurut Anda tidak dapat dilembagakan, dan bukti apa yang mendukungnya?</a:t>
            </a:r>
            <a:endParaRPr lang="en-US" sz="1600" dirty="0"/>
          </a:p>
        </p:txBody>
      </p:sp>
      <p:sp>
        <p:nvSpPr>
          <p:cNvPr id="4" name="Text 2"/>
          <p:cNvSpPr txBox="1"/>
          <p:nvPr/>
        </p:nvSpPr>
        <p:spPr>
          <a:xfrm>
            <a:off x="731520" y="4937760"/>
            <a:ext cx="10515600" cy="914400"/>
          </a:xfrm>
          <a:prstGeom prst="rect">
            <a:avLst/>
          </a:prstGeom>
          <a:noFill/>
          <a:ln/>
        </p:spPr>
        <p:txBody>
          <a:bodyPr wrap="square" lIns="0" tIns="0" rIns="0" bIns="0" rtlCol="0" anchor="ctr"/>
          <a:lstStyle/>
          <a:p>
            <a:pPr indent="0" marL="0">
              <a:buNone/>
            </a:pPr>
            <a:r>
              <a:rPr lang="en-US" sz="1200" dirty="0">
                <a:solidFill>
                  <a:srgbClr val="F3DCDF"/>
                </a:solidFill>
                <a:latin typeface="Calibri" pitchFamily="34" charset="0"/>
                <a:ea typeface="Calibri" pitchFamily="34" charset="-122"/>
                <a:cs typeface="Calibri" pitchFamily="34" charset="-120"/>
              </a:rPr>
              <a:t>Kelompok 4 · Fitra Aidila · Aulia Sisca Rahmadiyanti · Bagaskoro · Imam Prayudha · Tegar Awanto</a:t>
            </a:r>
            <a:endParaRPr lang="en-US" sz="1200" dirty="0"/>
          </a:p>
          <a:p>
            <a:pPr indent="0" marL="0">
              <a:buNone/>
            </a:pPr>
            <a:r>
              <a:rPr lang="en-US" sz="1200" dirty="0">
                <a:solidFill>
                  <a:srgbClr val="F3DCDF"/>
                </a:solidFill>
                <a:latin typeface="Calibri" pitchFamily="34" charset="0"/>
                <a:ea typeface="Calibri" pitchFamily="34" charset="-122"/>
                <a:cs typeface="Calibri" pitchFamily="34" charset="-120"/>
              </a:rPr>
              <a:t>Strategic Management MAN 5422 · Dr. Rangga Almahendra, S.T., M.M.</a:t>
            </a:r>
            <a:endParaRPr lang="en-US" sz="12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F3DCDF"/>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LAMPIRAN · TABLE 4.1 (LANJUTAN)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Rasio likuiditas, leverage, dan aktivitas</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Table 4.1 hlm. 92.</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42</a:t>
            </a:r>
            <a:endParaRPr lang="en-US" sz="900" dirty="0"/>
          </a:p>
        </p:txBody>
      </p:sp>
      <p:pic>
        <p:nvPicPr>
          <p:cNvPr id="6" name="Image 0" descr="tab4_1b.png">    </p:cNvPr>
          <p:cNvPicPr>
            <a:picLocks noChangeAspect="1"/>
          </p:cNvPicPr>
          <p:nvPr/>
        </p:nvPicPr>
        <p:blipFill>
          <a:blip r:embed="rId1"/>
          <a:stretch>
            <a:fillRect/>
          </a:stretch>
        </p:blipFill>
        <p:spPr>
          <a:xfrm>
            <a:off x="4242863" y="1371600"/>
            <a:ext cx="3675794" cy="49377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01168"/>
            <a:ext cx="8229600" cy="274320"/>
          </a:xfrm>
          <a:prstGeom prst="rect">
            <a:avLst/>
          </a:prstGeom>
          <a:noFill/>
          <a:ln/>
        </p:spPr>
        <p:txBody>
          <a:bodyPr wrap="square" lIns="0" tIns="0" rIns="0" bIns="0" rtlCol="0" anchor="ctr"/>
          <a:lstStyle/>
          <a:p>
            <a:pPr indent="0" marL="0">
              <a:buNone/>
            </a:pPr>
            <a:r>
              <a:rPr lang="en-US" sz="1100" b="1" spc="200" kern="0" dirty="0">
                <a:solidFill>
                  <a:srgbClr val="8C1D2B"/>
                </a:solidFill>
                <a:latin typeface="Calibri" pitchFamily="34" charset="0"/>
                <a:ea typeface="Calibri" pitchFamily="34" charset="-122"/>
                <a:cs typeface="Calibri" pitchFamily="34" charset="-120"/>
              </a:rPr>
              <a:t>LAMPIRAN · TABLE 4.1 (LANJUTAN)</a:t>
            </a:r>
            <a:endParaRPr lang="en-US" sz="1100" dirty="0"/>
          </a:p>
        </p:txBody>
      </p:sp>
      <p:sp>
        <p:nvSpPr>
          <p:cNvPr id="3" name="Text 1"/>
          <p:cNvSpPr txBox="1"/>
          <p:nvPr/>
        </p:nvSpPr>
        <p:spPr>
          <a:xfrm>
            <a:off x="548640" y="438912"/>
            <a:ext cx="11064240" cy="868680"/>
          </a:xfrm>
          <a:prstGeom prst="rect">
            <a:avLst/>
          </a:prstGeom>
          <a:noFill/>
          <a:ln/>
        </p:spPr>
        <p:txBody>
          <a:bodyPr wrap="square" lIns="0" tIns="0" rIns="0" bIns="0" rtlCol="0" anchor="t"/>
          <a:lstStyle/>
          <a:p>
            <a:pPr indent="0" marL="0">
              <a:buNone/>
            </a:pPr>
            <a:r>
              <a:rPr lang="en-US" sz="2300" b="1" dirty="0">
                <a:solidFill>
                  <a:srgbClr val="2B2B2B"/>
                </a:solidFill>
                <a:latin typeface="Cambria" pitchFamily="34" charset="0"/>
                <a:ea typeface="Cambria" pitchFamily="34" charset="-122"/>
                <a:cs typeface="Cambria" pitchFamily="34" charset="-120"/>
              </a:rPr>
              <a:t>Ukuran kinerja keuangan penting lainnya</a:t>
            </a:r>
            <a:endParaRPr lang="en-US" sz="2300" dirty="0"/>
          </a:p>
        </p:txBody>
      </p:sp>
      <p:sp>
        <p:nvSpPr>
          <p:cNvPr id="4" name="Text 2"/>
          <p:cNvSpPr txBox="1"/>
          <p:nvPr/>
        </p:nvSpPr>
        <p:spPr>
          <a:xfrm>
            <a:off x="548640" y="6400800"/>
            <a:ext cx="10515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Sumber: Thompson, Peteraf, Gamble &amp; Strickland (2024), Crafting &amp; Executing Strategy, 24th ed., Ch. 4, Table 4.1 hlm. 93.</a:t>
            </a:r>
            <a:endParaRPr lang="en-US" sz="900" dirty="0"/>
          </a:p>
        </p:txBody>
      </p:sp>
      <p:sp>
        <p:nvSpPr>
          <p:cNvPr id="5" name="Text 3"/>
          <p:cNvSpPr txBox="1"/>
          <p:nvPr/>
        </p:nvSpPr>
        <p:spPr>
          <a:xfrm>
            <a:off x="11430000" y="6400800"/>
            <a:ext cx="36576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43</a:t>
            </a:r>
            <a:endParaRPr lang="en-US" sz="900" dirty="0"/>
          </a:p>
        </p:txBody>
      </p:sp>
      <p:pic>
        <p:nvPicPr>
          <p:cNvPr id="6" name="Image 0" descr="tab4_1c.png">    </p:cNvPr>
          <p:cNvPicPr>
            <a:picLocks noChangeAspect="1"/>
          </p:cNvPicPr>
          <p:nvPr/>
        </p:nvPicPr>
        <p:blipFill>
          <a:blip r:embed="rId1"/>
          <a:stretch>
            <a:fillRect/>
          </a:stretch>
        </p:blipFill>
        <p:spPr>
          <a:xfrm>
            <a:off x="3713689" y="1371600"/>
            <a:ext cx="4734141" cy="49377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2026-09-28T14:20:34Z</dcterms:created>
  <dcterms:modified xsi:type="dcterms:W3CDTF">2026-09-28T14:20:34Z</dcterms:modified>
</cp:coreProperties>
</file>