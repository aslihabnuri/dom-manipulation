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Sebutkan: hari ini kita bahas Chapter 4, yaitu cara menilai kekuatan sebuah perusahaan DARI DALAM. Chapter 3 kemarin menilai dari luar (industri dan pesaing); Chapter 4 menilai isi perusahaannya sendiri.
Lalu kita pakai kerangka itu untuk membedah satu kasus nyata: Manchester United pada Juli 2009, saat klub itu harus menyiapkan pengganti Sir Alex Ferguson.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pembagiannya: separuh pertama teori, separuh kedua praktik. Tekankan bahwa urutannya sengaja sama, supaya audiens bisa melihat framework mana dipakai untuk menjawab apa.
Kalau waktu mepet, bagian A bisa dipercepat di slide 5, 14 dan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jalan seluruh bagian A. Bacakan keenam pertanyaannya sekali, pelan, supaya audiens punya kerangka.
Poin yang perlu ditekankan: urutannya bukan acak. Q1 mengukur HASIL. Q2 sampai Q4 mencari SEBABNYA di dalam perusahaan. Q5 membandingkan dengan pesaing. Q6 memutuskan apa yang harus dikerjakan lebih dulu.
Catatan: banyak edisi lama buku ini hanya punya lima pertanyaan, dengan SWOT ditempel di dalam analisis resource. Edisi 2024 memisahkannya menjadi Q2 tersendiri.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dengan: sebelum menilai strategi, kita harus tahu dulu strateginya apa. Buku menampilkan Figure 4.1 yang memetakan komponen strategi sebuah perusahaan bisnis tunggal: langkah bersaing, strategi fungsional (R&amp;D, produksi, pemasaran, keuangan, SDM, IT), aliansi, cakupan geografis.
Setelah itu baru diukur. Buku menyebut DUA indikator terbaik:
(1) apakah perusahaan mencatat kenaikan kekuatan keuangan dan profitabilitas;
(2) apakah kekuatan bersaing dan posisi pasarnya membaik.
Enam indikator spesifik di slide ini diambil persis dari daftar buku. Perhatikan dua yang sering dilupakan: tingkat retensi pelanggan dan kecepatan akuisisi pelanggan baru. Keduanya sinyal awal, muncul sebelum angka laba berubah.
Kalimat kunci buku: kinerja keuangan yang lesu dan pencapaian pasar yang biasa-biasa saja hampir selalu menandakan strategi lemah, eksekusi lemah, atau keduanya.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Jangan bacakan semua rasio satu per satu; audiens akan bosan. Cukup jelaskan logika keempat kelompoknya:
PROFITABILITAS menjawab: apakah bisnisnya menghasilkan uang?
LIKUIDITAS menjawab: apakah bisa bayar tagihan bulan depan?
LEVERAGE menjawab: seberapa banyak yang dibiayai utang, dan seberapa berisiko itu?
AKTIVITAS menjawab: apakah aset dipakai efisien?
Beberapa patokan dari buku yang enak dikutip:
- ROE 12–15% itu rata-rata.
- Long-term debt-to-capital di bawah 0,25 bagus; di atas 0,50 berarti terlalu bergantung pada utang jangka panjang.
- Times-interest-earned minimal 2,0; di atas 3,0 baru dianggap sehat.
- P/E di atas 20 berarti investor percaya prospeknya; di bawah 12 berarti laba masa depan dianggap berisiko.
Tekankan free cash flow: laba setelah pajak + depresiasi − belanja modal − dividen. Itu uang yang benar-benar bebas dipakai.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dari slide sebelumnya: angka keuangan memberi tahu APAKAH strategi bekerja, tapi tidak memberi tahu KENAPA. Di situlah SWOT masuk.
Definisi buku: SWOT adalah singkatan dari kekuatan dan kelemahan internal, peluang pasar, dan ancaman eksternal. Nama lainnya Situational Analysis.
Empat pertanyaan pemandu yang dikutip di kolom kanan itu langsung dari buku, dan itulah yang membedakan SWOT yang bagus dari sekadar daftar:
- Apakah kekuatan perusahaan cukup besar untuk menutup kelemahannya?
- Apakah strateginya sudah dibangun di atas kekuatan itu dan melindungi dari kelemahannya?
- Apakah kekuatannya melampaui kekuatan pesaing, atau justru kalah?
- Apakah strateginya efektif menangkal ancaman dan menangkap peluang?
Istilah 'neraca strategis' juga dari buku: kekuatan itu aset bersaing, kelemahan itu kewajiban bersaing. Kondisi ideal adalah asetnya jauh lebih berat dari kewajibannya.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konsep yang paling sering keliru dipakai mahasiswa, jadi pelan-pelan.
COMPETENCE: perusahaan sudah belajar mengerjakan suatu aktivitas dengan cakap. Buku menyebut ini 'a true capability'. Contoh: hampir semua produsen sereal punya kemampuan pemasaran yang memadai.
DISTINCTIVE COMPETENCE: kemampuan yang membuat perusahaan mengerjakan aktivitas itu lebih baik dari para pesaingnya. Kuncinya kata 'lebih baik dari rival'.
CORE COMPETENCE: aktivitas yang dikerjakan dengan cakap DAN berada di pusat strategi perusahaan, serta memberi kontribusi besar pada keberhasilan pasar dan profitabilitasnya. Biasanya juga distinctive.
Kenapa ini penting: core competence sering bisa dipakai membuka pasar baru atau permintaan produk baru — jadi mesin pertumbuhan. Contoh P&amp;G: kemampuan mengelola merek melahirkan portofolio produk pemimpin pasar yang terus bertambah.
Kalau ditanya bedanya dengan capability di Q3 nanti: capability itu istilah umum (buku bilang capability dan competence itu sama). Distinctive dan core adalah dua tingkat di atasnya.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utama slide ini: SWOT yang berhenti di empat daftar tidak menghasilkan keputusan apa pun. Kalimat buku: 'Simply listing a company's strengths, weaknesses, opportunities, and threats is not enough; the payoff comes from the conclusions and the implications for strategy improvement that flow from the four lists.'
Enam tindakan di bawah itu persis isi kotak kanan Figure 4.2. Sebutkan dua-tiga saja saat presentasi, sisanya biar audiens baca.
Tutup dengan pengakuan bukunya sendiri: keindahan SWOT adalah kesederhanaannya, tapi itu juga keterbatasan utamanya. Untuk analisis yang lebih dalam kita butuh alat berikutnya — dan itulah isi Q3 sampai Q5. Kalimat ini jembatan yang bagus ke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persis dari buku:
RESOURCE adalah aset bersaing yang dimiliki atau dikendalikan perusahaan.
CAPABILITY adalah kapasitas perusahaan mengerjakan suatu aktivitas internal dengan cakap. Buku menyebut capability bisa juga disebut competence.
Hubungannya: capability dibangun dan dijalankan lewat pengerahan resource. Contoh buku — kemampuan Nestlé mengelola lebih dari 2.000 merek bersandar pada pengetahuan manajer mereknya, keahlian departemen pemasarannya, dan relasinya dengan peritel di hampir 200 negara.
Soal Tabel 4.3: human assets sengaja ditaruh di kolom INTANGIBLE, meski orangnya nyata, karena yang bernilai adalah keahlian dan pengetahuannya. Teknologi sebaliknya ditaruh di TANGIBLE menurut konvensi, walaupun beberapa jenis seperti rahasia dagang sebetulnya lebih cocok intangible.
Pesan buku yang penting: yang penting bukan bagaimana sebuah resource dikategorikan, tapi bahwa tidak ada resource yang terlewat saat diinventarisasi. Kategori hanya alat bantu supaya tidak ada yang lolos.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Kenapa capability lebih sulit ditemukan: buku bilang capability itu entitas yang lebih kompleks dari resource, dan hampir semuanya berbasis pengetahuan — tinggal di kepala orang, di modal intelektual perusahaan, atau di proses dan sistem organisasi.
Contoh buku untuk cara 1: kemampuan pengiriman cepat Amazon bersandar pada pengetahuan manajer fulfillment center-nya, relasinya dengan UPS, dan pengalaman merchandiser-nya memprediksi arus persediaan.
Kelemahan cara 2 (pendekatan fungsional) adalah yang paling penting diingat: banyak capability terpenting justru bersifat lintas fungsi, sehingga tidak akan ketemu kalau kita hanya melihat per departemen.
Definisi resource bundle dari buku: 'a linked and closely integrated set of competitive assets centered around one or more cross-functional capabilities'.
Contoh PetSmart yang bagus untuk dikutip: kemampuan rantai pasok dan pemasarannya diimbangi Petco, tapi PetSmart tetap unggul lewat kemampuan layanan pelanggannya — grooming, layanan dokter hewan, dan penitipan.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 lengkapnya di buku: 'the VRIN tests for sustainable competitive advantage'.
Jelaskan pembagiannya dulu, baru satu per satu:
Dua tes pertama (V dan R) menentukan apakah sesuatu bisa MENJADI sumber keunggulan. Dua tes terakhir (I dan N) menentukan apakah keunggulan itu BERTAHAN.
Untuk tes I, dua istilah wajib dijelaskan:
SOCIAL COMPLEXITY — keunggulan melekat pada hal sosial: budaya perusahaan, hubungan antarmanajer, kepercayaan dengan pelanggan atau pemasok. Tidak bisa dibeli.
CAUSAL AMBIGUITY — sebab-akibatnya sendiri sulit diurai. Bahkan perusahaan pemiliknya tidak sepenuhnya tahu kenapa resource itu bekerja. Kalau sebabnya tidak jelas, pesaing tidak tahu apa yang harus ditiru.
Tes N adalah yang paling sulit dinilai, kata buku, karena substitusi lebih sulit dikenali. Caranya: cari resource lain, di perusahaan mana pun, yang bisa menjalankan FUNGSI yang sama.
HATI-HATI dengan salah kaprah yang paling umum: tes N BUKAN bertanya 'kalau resource ini hilang, bisakah perusahaan menggantinya?'. Tes N bertanya 'bisakah PESAING mencapai hasil yang sama dengan resource jenis lain?'. Definisi buku: 'invulnerable to the threat of substitution from different types of resources and capabilities'. Keunggulan bisa hilang 'if rivals possess equivalent substitute resources'. Jadi resource yang tidak punya pengganti setara di tangan pesaing justru LOLOS tes N.
Fakta penting untuk ditutup: sangat sedikit perusahaan punya resource yang lolos keempat tes. Kebanyakan hanya punya campuran — satu dua sangat berharga, beberapa bagus, banyak yang biasa saja. Contoh yang lolos keempatnya: Costco dan Lincoln Electric.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menutup celah VRIN. Keempat tes VRIN hanya menguji ancaman dari LUAR: apakah pesaing bisa meniru, atau mengakali dengan resource lain. VRIN tidak menguji ancaman dari DALAM: resource yang menyusut, usang, atau hilang dari perusahaan sendiri. Buku membahas ancaman dari dalam itu di sini, di bagian 'resources and capabilities must be managed dynamically'. Ini akan sangat penting di kasus Manchester United.
Kalimat pembuka yang bagus: bahkan Costco dan Lincoln Electric — dua perusahaan yang lolos keempat tes VRIN — tidak boleh berpuas diri.
Tiga risiko di kiri itu langsung dari buku. Frasa 'from diamonds to rust' layak dikutip: aset strategis bisa berubah dari berlian jadi karat kalau teknologi, selera pelanggan, atau jalur distribusi berubah.
Tantangan manajemen menurut buku ada dua:
(1) terus memodifikasi aset bersaing yang sudah ada;
(2) waspada mencari peluang membangun jenis capability yang benar-benar baru.
Definisi dynamic capability: kemampuan untuk memodifikasi, memperdalam, atau menambah resource dan capability perusahaan yang sudah ada.
Contoh tambahan kalau ditanya: BMW mengembangkan kemampuan baru di desain mesin hibrida sehingga bisa meluncurkan i4 dan iX. Bristol-Myers Squibb dengan strategi akuisisi 'string of pearls' mengganti paten yang habis masa berlakunya dengan paten dan kemampuan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buku: rantai nilai adalah seluruh aktivitas yang dikerjakan perusahaan secara internal, yang digabungkan menciptakan nilai bagi pembeli.
Penting disampaikan: daftar aktivitas di Figure 4.3 itu ILUSTRATIF, bukan baku. Isinya berbeda-beda per industri. Contoh dari buku:
- Peritel seperti Nordstrom: pemilihan barang, tata letak toko, iklan, layanan pelanggan.
- Operator hotel seperti Marriott: reservasi dan operasi hotel.
- Supply chain management krusial bagi Boeing dan Amazon, tapi bukan komponen rantai nilai di Goldman Sachs atau WhatsApp.
- Pengiriman ke pelanggan krusial bagi Domino's, tidak penting bagi Starbucks.
Tiga selisih di bawah adalah bagian yang paling sering tertukar:
V − P: nilai yang dirasakan pembeli dikurangi harga yang ia bayar. Ini customer value proposition.
P − C: harga dikurangi biaya perusahaan. Ini margin laba, dan buku menekankan margin harus ikut dilacak — tanpa laba yang cukup, perusahaan tidak bisa bertahan lama walau nilainya bagus.
V − C: Total Economic Value, seluruh nilai ekonomi yang tercipta.
Illustration Capsule 4.1 di buku memberi contoh nyata: rincian biaya tiap aktivitas rantai nilai di Everlane Inc., peritel pakaian online Amerika.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Rantai nilai sistem kadang disebut juga vertical chain.
Kenapa rantai pemasok penting: biaya, mutu, dan fitur input yang mereka kirim langsung memengaruhi biaya dan kemampuan diferensiasi kita. Contoh buku — produsen mobil mendorong pemasok komponen membangun pabrik dekat pabrik perakitan supaya pengiriman just-in-time lancar dan biaya gudang turun. Contoh lain: perusahaan irigasi, pemasok alat panen anggur, dan pembuat tong, botol, tutup dan label semuanya berlokasi di wilayah anggur California, dekat 4.400 kilang yang mereka layani.
Kenapa rantai hilir penting: (1) biaya dan margin distributor ikut masuk ke harga yang dibayar konsumen akhir; (2) mutu kerja mereka memengaruhi volume penjualan dan kepuasan pelanggan.
Angka yang enak dikutip: lebih dari 80 persen perusahaan Fortune 500 dilaporkan memakai benchmarking.
Buku punya dua Illustration Capsule di bagian ini — 4.2 tentang benchmarking di industri tenaga surya, yang memakai ukuran Levelized Cost of Energy, dan 4.3 khusus tentang etika benchmarking.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area itu persis sama dengan tiga bagian rantai nilai sistem di slide sebelumnya — tunjukkan hubungannya, jangan biarkan audiens menebak.
Catatan dari buku untuk kolom 1: memperbaiki kerugian biaya internal dengan cara menekan pemasok atau mitra hilir adalah PILIHAN TERAKHIR, bukan langkah pertama.
Satu contoh konkret yang bagus: banyak peritel menemukan bahwa menyumbangkan barang retur ke lembaga amal lalu mengambil potongan pajaknya menghasilkan kerugian lebih kecil dibanding menanggung biaya logistik baliknya.
Untuk bagian hilir, contoh Walmart dan Target: keduanya mewajibkan pemasok tiba dalam jendela dua hari. Itu bukan cuma menaikkan efisiensi pusat distribusi, tapi juga memangkas waktu tunggu bongkar yang mahal bagi si pengirim. Win-win.
Tutup dengan dua jalur di kotak hitam. Tekankan bahwa keduanya menuntut usaha terus-menerus, bukan sekali jadi. Buku bilang reputasi dan merek unggul dibangun pelan-pelan lewat investasi dan pesan yang konsisten.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di slide ini menyalin Tabel 4.4 buku, dengan tiga baris terakhir digabung supaya muat. Baris yang digabung: technological skills, dealer network, dan new product innovation capability — bobot masing-masing 0,05.
Pelajaran paling penting dari contoh ini, dan sering ditanyakan:
ABC punya nilai tinggi di banyak hal — technological skills 10, dealer network 9, inovasi produk 9, mutu 8, reputasi 8. Tapi semua faktor itu bobotnya KECIL. Artinya ABC kuat di area yang tidak banyak berpengaruh di pasar.
Sebaliknya posisi biaya relatif berbobot 0,30, paling besar. Di situ ABC hanya 5 sementara Rival 1 dapat 10. Itulah sebabnya Rival 1 menang telak.
Implikasi strategisnya, langsung dari buku:
- ABC sebaiknya menyerang Rival 2, bukan Rival 1, karena skor Rival 2 jauh lebih rendah dan ABC unggul di lima area tempat Rival 2 lemah.
- Tapi ABC harus hati-hati memotong harga, karena Rival 1 bisa membalas dan pasti menang perang harga.
- Untuk bertahan, ABC perlu mengarahkan sebagian strateginya ke penurunan biaya.
Prinsipnya: kuat di faktor yang bobotnya kecil tidak menghasilkan kekuatan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Kalimat buku yang paling tegas: 'The final and most important analytic step is to zero in on exactly what strategic issues company managers need to address — and resolve.'
Contoh isi priority list dari buku, bagus untuk dibacakan satu dua:
- bagaimana menahan serangan pesaing asing baru;
- bagaimana melawan diskon harga pesaing;
- bagaimana menurunkan biaya yang terlalu tinggi;
- bagaimana mempertahankan laju pertumbuhan ketika permintaan melambat;
- apakah perlu mengakuisisi pesaing untuk menutup kelemahan;
- apakah perlu masuk pasar luar negeri;
- apa yang harus dilakukan menghadapi produk substitusi;
- apa yang harus dilakukan menghadapi basis pelanggan yang menua.
Tekankan perangkap pertama: daftar ini berisi PERTANYAAN, bukan jawaban. Mahasiswa sering langsung menulis solusi di sini, dan itu keliru menurut buku.
Perangkap kedua adalah diagnosisnya: kalau isu-isunya relatif kecil, berarti strategi sekarang sudah pada jalurnya dan cukup disetel halus. Kalau isunya serius, berarti strategi sekarang tidak cocok untuk jalan ke depan, dan menyusun strategi baru harus jadi prioritas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jujur soal sumber: kasus ini ditulis Robert M. Grant, bukan diambil dari buku Thompson. Yang kita pakai dari Thompson adalah KERANGKANYA, yaitu enam pertanyaan Chapter 4.
Tegaskan waktunya: Juli 2009. Ferguson MASIH menjabat. Semua analisis kita berdiri di titik itu, bukan dengan pengetahuan hari ini.
Ceritakan pembukanya (hlm. 572–573): David Gill ikut tur Asia bersama tim. Pertandingan di Malaysia, Indonesia, Korea, dan Cina resminya latihan pra-musim, tapi kasus menyebut tujuannya hampir seluruhnya komersial. Rutenya ditentukan kesepakatan sponsor: laga Kuala Lumpur adalah imbalan sponsor tur Telekom Malaysia senilai £2 juta.
Tapi yang ada di kepala Gill bukan urusan komersial. Kasus menyebut masalah terbesarnya adalah pensiunnya Ferguson — arsitek utama sukses klub selama 23 tahun, yang sudah membangun seluruh infrastruktur pemanduan bakat, latihan, disiplin tim, serta taktik dan strategi.
Dilema di kotak terakhir dikutip dari hlm. 588. Perhatikan kata kasusnya: manajer seperti Mourinho 'likely' — kemungkinan besar — membongkar 'much of' — sebagian besar — infrastruktur Ferguson. Bukan pasti, bukan seluruhnya.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Tegaskan setting waktunya: Juli 2009, saat tur pramusim Asia. Ferguson masih menjabat; kasus hanya menyebut ia akan berusia 68 tahun pada akhir 2009 dan Gill memperkirakan pensiun akhir musim 2009-10.
Pengambil keputusannya David Gill, Chief Executive. Keputusan yang disiapkan: siapa pengganti Ferguson.
Dilema inti (hlm. 588): orang dalam menjaga sistem tetap jalan tapi wibawanya diragukan; orang luar seperti Mourinho berarti membongkar dan membangun ulang infrastruktur Ferguson.
Tutup dengan pertanyaan yang jadi benang merah Bagian B: aset mana yang milik klub, aset mana yang milik satu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slide ini satu: audiens paham bahwa sepakbola Eropa adalah industri yang besar tapi merugi. Itu penting, karena Q1 menilai kinerja RELATIF terhadap industri.
Angka 6 dari 10 dari Tabel 6.6 (hlm. 580), ukurannya laba sebelum pajak dibagi pendapatan. Yang merugi: Chelsea (minus 60,4%), Inter (minus 78,4%), Rangers, Juventus, Celtic, Liverpool. Yang untung: MU (12,6%), Arsenal (5,6%), Bayern (4,7%), dan Real Madrid yang nyaris nol (0,4%). Kasus sendiri menyebut hanya MU, Arsenal, dan Bayern yang mencetak laba signifikan.
Mekanisme 'yang kaya makin kaya' (hlm. 575): pendapatan Liga Champions dipakai membeli pemain kelas atas, dan itu memperlebar jurang antara empat klub teratas Inggris dan sisanya.
Kalau ditanya soal kontrak sponsor jersey (hlm. 578): Juventus–Tamoil €110 juta/5 tahun, Arsenal–Emirates £100 juta/15 tahun, MU–Aon £80 juta/4 tahun, Chelsea–Samsung £50 juta/5 tahun. Per tahun dalam pound: MU £20 juta, Chelsea £10 juta, Arsenal sekitar £6,7 juta. Juventus sekitar €22 juta per tahun, tapi tidak bisa dibandingkan langsung karena kasus tidak memberi kurs euro–pound.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angka: Tabel 6.2 (poin Eropa), Tabel 6.1 (juara liga), dan Tabel 6.7 (poin performa, ukuran dan usia skuad).
Bedakan dua kolom poin supaya tidak membingungkan:
- Poin Eropa 2000–09 (Tabel 6.2): berdasarkan prestasi di liga domestik, piala domestik, Liga Champions, dan Intertoto Cup, disesuaikan dengan tingkat kesulitan liga. MU nomor satu.
- Poin performa (Tabel 6.7): ukuran yang dipakai kasus untuk dibandingkan dengan belanja transfer. Di sini MU nomor dua, tipis di bawah Barcelona.
Soal kartu 2008: itu Liga Champions (European Cup) KEDUA di era Ferguson, setelah 1999. Jangan sebut 'gelar Eropa kedua', karena kasus hlm. 584 juga mencatat Piala Winners Eropa 1991 — itu juga gelar Eropa.
Soal ukuran skuad: klaimnya hanya berlaku untuk enam klub di tabel ini. Di Tabel 6.7 lengkap, Roma punya skuad 46 pemain dan Lyon juga 34. Jadi jangan bilang skuad MU terbesar di Eropa.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memakai baris Turnover dari Appendix kasus (hlm. 589). Dua batang merah adalah dua tahun terakhir sebelum kasus ditulis.
Cara membacanya: bandingkan hanya di dalam periode yang sebanding. Dari 2006 ke 2008 pendapatan naik 53%, dari £167,8 juta ke £257,1 juta. Kasus hlm. 587 menyebut perluasan Old Trafford tahun 2006, terutama dari tambahan 7.500 kursi, memberi dorongan besar pada pendapatan. Penurunan 2004 ke 2005 jangan ditafsirkan sebagai kemunduran, karena di titik itulah akuntansi dan periode laporannya berubah.
Kalau ditanya kualitas laba: laba sebelum pajak 2008 (£66,4 juta) sudah termasuk keuntungan penjualan pemain £21,8 juta. Jadi sebagian laba datang dari menjual pemain — itu bagian dari model bisnis MU (slide 29).
PENTING dan sering ditanya dosen — kenapa data tidak sepenuhnya sebanding? Catatan kaki Appendix menyebut dua hal yang TERPISAH:
(1) Entitas pelapor: Manchester United plc untuk 2000–2005, Manchester United Limited untuk 2006–2008.
(2) Periode dan akuntansi: kolom 2000–2004 bertanda 12 bulan sampai 31 Juli, kolom 2005–2008 bertanda 11 bulan sampai 30 Juni, dan kasus menegaskan data 2000–4 tidak sebanding dengan 2005–8 karena perubahan akuntansi.
Karena itu angka laba di kartu pertama sengaja memakai 2006 dan 2008, dua-duanya di periode yang sebanding.
Soal 'tertinggi': Tabel 6.5 hanya memuat 15 klub besar Eropa dari daftar Forbes 2009. Jadi sebut 'tertinggi di tabel', bukan 'tertinggi di dunia'.
Soal utang £616 juta — siapkan jawaban ini. Appendix menampilkan ekuitas £294 juta dan tidak memuat utang sebesar itu. Penjelasan yang paling mungkin (ini dugaan kami, tidak ditulis di kasus): utang akuisisi Glazer berada di perusahaan induk, di atas Manchester United Limited. Yang pasti dari kasus hanya dua hal: akuisisinya dibiayai terutama dengan utang (hlm. 584), dan karena itu MU tidak mendapat suntikan dana pemilik seperti Chelsea atau Man City (hlm. 579).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analisis kami sendiri, bukan tabel yang tercetak di kasus. KATAKAN ITU. Angka mentahnya dari Tabel 6.7; perbandingannya yang kami susun.
Jelaskan pilihan klubnya supaya tidak terkesan memilih-milih: grafik memuat EMPAT klub dengan poin performa tertinggi di Tabel 6.7, yaitu Barcelona (200,0), MU (192,5), Real Madrid (183,0), dan Bayern (179,5). Di antara keempatnya, belanja bersih MU paling kecil.
Jangan klaim MU paling hemat di seluruh tabel — itu tidak benar. Arsenal, Lyon, Juventus, Roma, dan Valencia belanja bersih lebih sedikit, sedangkan AC Milan, Porto, dan PSV malah penjual bersih. Kalimat kasus sendiri (hlm. 586): belanja bersih MU 'relatively modest compared to other leading European clubs'.
Apa itu belanja transfer bersih: total uang untuk membeli pemain dikurangi total uang dari menjual pemain. MU belanja kotor £322 juta, tapi bersihnya £100 juta — artinya MU juga banyak menjual. Kasus: Ferguson mau menjual pemain yang dihargai lebih tinggi oleh klub lain.
Kasus sendiri (hlm. 580) menyebut Real Madrid dan Chelsea 'distinguished by their massive expenditures on star players'. Itu yang membuat perbandingan 4,4 kali lipat relevan.
Tutup dengan menyambung ke Q2 dan Q3: kalau bukan uang, lalu apa? Jawabannya ada di resource dan capability.
Notes: Grafik ditambahkan Chelsea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audiens: SWOT bukan bikin empat daftar. Setelah membacakan daftarnya sekilas, langsung masuk ke kesimpulan di kotak bawah — itu langkah 2 dari Figure 4.2.
Kesimpulannya diuraikan: kekuatan MU terpusat di sisi komersial dan pengembangan pemain. Peluang terbesarnya juga komersial, di Asia. Jadi kekuatan dan peluang cocok — sampai di sini bagus.
Masalahnya ada di kelemahan nomor satu: ketergantungan pada Ferguson. Itu menyerang sisi lapangan. Dan kasus hlm. 573 menyebut, bagi Gill, pendapatan komersial dari jersey, siaran, dan sponsor terus mengalir SELAMA tim menang dan bermain menarik. Jadi kalau sisi lapangan goyah, sisi komersial ikut terancam.
PENTING soal utang, karena sering salah: kasus hlm. 584 menyatakan ketakutan bahwa utang akan membatasi Ferguson membeli pemain 'proved groundless' — tidak terbukti. Jadi jangan bilang utang membatasi pembelian pemain. Yang benar (hlm. 579): karena akuisisinya dibiayai utang, MU tidak mendapat suntikan dana pemilik seperti yang dinikmati Chelsea dan Man City. Itu sebabnya poin itu ada di kolom Threats dalam bentuk 'tak dapat suntikan dana', sementara utangnya sendiri ada di Weaknesses.
Untuk langkah 3 (tindakan), sambungkan: itu yang akan kita bahas di slide priority list dan rekomendasi.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Tabel 4.3 di slide 9. Delapan kotak di slide ini mengikuti persis delapan kategori buku: fisik, finansial, teknologi, organisasional di kiri; human assets, merek dan reputasi, relasi, budaya dan insentif di kanan.
Bukti kekuatan merek yang layak diceritakan lengkap (hlm. 573): David Prosperi, VP Global Public Relations Aon, mengatakan bahwa setahun setelah sponsor AIG dimulai, AIG melompat dari luar daftar 100 merek dunia ke peringkat 47. Kalimatnya: Manchester United tidak ada tandingannya di dunia olahraga soal kesadaran merek global, khususnya di Asia. Itu bukan klaim MU, tapi kesaksian pihak yang membayar.
Kutipan Andy Anson, mantan direktur komersial (hlm. 587): 'We're not just a sports club, we are an international brand.' Sub-mereknya dibagi per usia: Fred the Red untuk anak, MUFC untuk remaja, Red Devil untuk dewasa.
Angka sponsor dari kasus hlm. 587: selain dua sponsor utama Nike dan AIG, ada Budweiser, Audi, Betfred, Hublot, Tri Indonesia, Bharti Airtel, plus tujuh sponsor lain — total 13.
Kalimat penutup slide penting: aset tak berwujud bisa pergi. Ronaldo sudah dijual. Ferguson akan pensiun. Stadion dan merek tidak ke mana-mana.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menerapkan tangga competence dari slide 7. Label CORE, DISTINCTIVE dan COMPETENCE adalah penilaian kelompok kami; jelaskan alasannya.
CORE — dikerjakan sangat baik DAN berada di jantung strategi:
- Mengenali dan mengembangkan bakat. Catatan jujur: kasus (hlm. 580) menyebut Bayern, Barcelona, Arsenal, dan Valencia juga menekankan pengembangan pemain sendiri. Jadi ini core bagi MU, tapi tidak unik. Yang khas MU menurut kasus (hlm. 583) adalah memadukan talenta muda dengan pemain berpengalaman.
- Membentuk dan merotasi tim. Kutipan Ferguson (hlm. 585): 'The best teams stand out because they are teams.' Ia juga disebut pelopor squad rotation.
- Mengubah merek jadi uang. Kasus menyebut MU dan Real Madrid klub paling fokus komersial di Eropa.
DISTINCTIVE — lebih baik dari pesaing, tapi bukan inti strategi:
- Disiplin transfer. Kasus (hlm. 586): Ferguson mau menjual pemain yang dihargai lebih tinggi klub lain — Beckham, Verón, van Nistelrooy, Ronaldo dengan rekor dunia £80 juta.
- Tata kelola. Kasus hlm. 587 menyebut MU salah satu klub Inggris pertama yang go public dan yang paling berhasil membangun tata kelola efektif. 'Paling berhasil' berarti lebih baik dari pesaing, jadi distinctive.
COMPETENCE — dikerjakan baik, tapi tidak membedakan:
- Mengelola stadion. Kasus hlm. 577 menyebut sebagian besar klub papan atas merenovasi stadionnya, dan Arsenal membangun stadion baru. Jadi ini wajar dimiliki klub besar.
Kalimat penutup di kotak bawah adalah jembatan ke slide VRIN.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paling penting di seluruh presentasi. Beri waktu lebih.
Jalankan baris per baris. Hasilnya sama di kedua kolom: empat-empatnya lolos. Itu menjelaskan kenapa MU mendominasi sepakbola Inggris dan Eropa selama dua dekade.
Baris Inimitable — kutip kasusnya langsung, karena ini hadiah dari penulis kasus (hlm. 583): 'the determinants of team performance remained a mystery … depends on a complex mix of factors that defies analysis.' Itu definisi causal ambiguity. Untuk social complexity, kutip Ferguson (hlm. 585): ia ingin membangun hubungan personal dengan semua orang di klub, termasuk pegawai kantor, juru masak, dan petugas binatu.
Baris Nonsubstitutable — jelaskan definisinya dulu, karena paling sering keliru. Tes N BUKAN bertanya 'kalau Ferguson pergi, bisakah MU menggantinya?'. Tes N bertanya 'bisakah PESAING mencapai hasil yang sama dengan resource JENIS LAIN?'. Buku: 'invulnerable to the threat of substitution from different types of resources and capabilities'.
Resource jenis lain yang dipakai pesaing adalah UANG untuk membeli bintang. Kasus menjawab sendiri bahwa jalan itu gagal: 'Real Madrid and Chelsea's lavishing of vast sums of money to build star-studded teams has yielded teams that have failed to achieve greatness.' Kasus juga bilang 'team performance is not simply a product of the quality of the players in the team.' Jadi uang bukan pengganti yang setara.
Catatan jujur kalau ditanya: Chelsea tetap juara liga 2005 dan 2006 (Tabel 6.1) dengan cara itu. Tapi ongkosnya return on sales minus 60,4% (Tabel 6.6). Substitusi bisa berhasil sesaat, tapi tidak setara dan tidak berkelanjutan.
Untuk merek, jalan lain pesaing adalah membeli superstar. Kasus hlm. 578 mengakui itu: Zidane, Beckham dan Ronaldo mendongkrak lisensi dan merchandise Real Madrid. Tapi itu pengganti parsial, karena pemain bisa pergi — Ronaldo sudah dijual MU. Basis fan melekat pada klub, dan Aon sendiri menyebut basis fan Asia sebagai faktor kunci kontrak £80 juta (hlm. 573). Jadi tetap LOLOS, dengan catatan itu.
KESIMPULAN YANG HARUS SAMPAI: kalau keduanya lolos VRIN, di mana masalah MU? Jawabannya ada di luar VRIN. VRIN hanya menguji ancaman dari pesaing. VRIN tidak menguji risiko perusahaan KEHILANGAN resource-nya sendiri. Merek dimiliki klub dan tidak bisa pensiun. Sistem Ferguson dibangun dan dipimpin satu orang yang akhir 2009 berusia 68 tahun. Buku membahas risiko ini di bagian 'resources must be managed dynamically' (slide 12) — dan itulah isi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slide 12: dynamic capability adalah kemampuan memperbarui resource dan capability secara terus-menerus, sampai memperbarui itu sendiri jadi rutinitas.
Tiga siklus di slide ini adalah buktinya. MU tidak sekadar beruntung punya satu generasi emas. MU membongkar dan membangun ulang tiga kali, dan setiap kali menghasilkan tim juara.
Siklus kedua: kasus hlm. 584 menyebut MU juara liga junior Inggris tahun 1990, dengan tim yang berisi Giggs, Beckham, Butt, Gary dan Phil Neville, serta Scholes. Pakai tahun 1990 sesuai kasus.
Siklus ketiga: kasus mencatat pemain inti tim 1999 dijual antara 2003 dan 2008. Ini menunjukkan MU berani melepas ikonnya sendiri.
INI TITIK SAMBUNG DENGAN SLIDE VRIN. Di slide sebelumnya, sistem Ferguson lolos keempat tes VRIN — artinya pesaing tidak bisa meniru atau mengakalinya. Tapi VRIN tidak menjawab pertanyaan di slide ini: apakah kemampuan memperbarui diri itu milik KLUB, atau milik FERGUSON? Buku membahas risiko ini di bagian 'resources and capabilities must be managed dynamically': resource bisa menyusut dan hilang.
Kasus memberi petunjuk yang tidak menyenangkan (hlm. 583): setelah Busby pensiun 1969, MU merosot dan Liverpool menjadi klub terkuat Inggris. Selama 18 tahun sebelum Ferguson datang, MU tidak memenangi satu pun gelar liga. Pola yang sama bisa terulang.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Terjemahkan Figure 4.3 ke bahasa sepakbola dulu, supaya audiens paham:
Supply chain di pabrik artinya membeli bahan baku. Di klub, 'bahan bakunya' adalah pemain — jadi supply chain MU adalah akademi dan pasar transfer.
Operations di pabrik artinya mengolah bahan jadi produk. Di klub, artinya latihan dan pertandingan.
Distribution artinya menyalurkan produk. Di klub, produknya tontonan, disalurkan lewat siaran televisi dan stadion.
Temuan utamanya: keunggulan biaya MU ada di HULU. MU tidak lebih hemat dalam melatih atau beriklan; MU lebih hemat dalam MENDAPATKAN pemain.
Angka gaji dari kasus hlm. 578: rata-rata Premier League 62%, Serie A 68%, La Liga 63%. Chelsea 81%, tertinggi di antara klub Inggris. MU dan Arsenal masing-masing membayar sekitar setengah pendapatannya untuk gaji.
Soal sponsor (hlm. 587): selain Nike dan AIG (yang diganti Aon 2010), ada Budweiser, Audi, Betfred, Hublot, Tri Indonesia, Bharti Airtel, plus tujuh sponsor lain — total 13. Hanya Tri Indonesia dan Bharti Airtel yang khusus satu negara.
Bedakan sumber dua kartu tengah. Akademi menekan kebutuhan MEMBELI: generasi Giggs dan Scholes menjadi inti tim 1994–2003 tanpa biaya transfer (hlm. 584). Penjualan menekan belanja BERSIH: kasus hlm. 586 menyebut Ferguson mau menjual pemain yang dinilai lebih tinggi oleh klub lain, dan 'as a result' belanja bersih MU relatif sederhana. Laba penjualan pemain di Appendix 2008 saja £21,8 juta. Jangan sebut 'menjual di puncak harga' — kasus tidak bilang begitu.
Jangan lupa yang melawan arah: amortisasi pemain naik hampir 50% dari 2005 ke 2008. Angka ini sengaja memakai periode 2005–2008 karena Appendix menyatakan data 2000–2004 tidak sebanding. Amortisasi adalah biaya akuntansi dari pembelian pemain, jadi MU juga makin banyak membeli.
Untuk customer value proposition, ingatkan rumus di slide 13: V dikurangi P. MU punya dua 'pelanggan' dengan V berbeda — pendukung dan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benchmarking. Yang dibandingkan bukan besarnya pendapatan, tapi margin: EBITDA dibagi pendapatan (Table 6.5) dan return on sales (Table 6.6).
Tiga cara mendapat pemain: membeli bintang (Real Madrid, Chelsea) menghasilkan pendapatan tinggi tapi laba rendah atau rugi; mengembangkan sendiri (Barcelona, Arsenal, Bayern) laba positif dengan pendapatan lebih rendah; MU menggabungkan keduanya, membeli lalu menjual saat klub lain menilai lebih tinggi (hlm. 580, 583).
Angka return on sales 2000–2006 (Table 6.6): MU 12,6%, Arsenal 5,6%, Bayern 4,7%, Real Madrid 0,4%, Chelsea −60,4%, Inter −78,4%.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Bilang dari awal: bobot dan rating ini KAMI yang menentukan, berdasarkan data kasus. Itu memang cara kerja alat ini — buku pun memakai contoh hipotetis di Tabel 4.4.
Alasan beberapa rating yang mungkin ditanya:
- Kualitas skuad MU hanya 6, padahal juara. Sebabnya: Tabel 6.3 (peringkat pemain dunia FIFA 2008–09) hanya memuat satu pemain MU, yaitu Ronaldo — dan ia dijual ke Real Madrid sebelum akhir Juni 2009 (Tabel 6.4). Jadi per Juli 2009, MU tidak punya pemain di daftar itu. Barcelona punya empat (Messi, Xavi, Eto'o, Iniesta), ditambah Deco yang tercatat 'Barcelona and Chelsea'. Kasus hlm. 580 menyebut Barcelona dan Chelsea sebagai tim paling bertabur bintang. Real Madrid tetap 9 karena musim panas 2009 membeli Ronaldo, Kaká dan Benzema (Tabel 6.4).
- Kemampuan manajer MU 10, Real Madrid 5. Sebabnya: Ferguson punya masa jabatan di satu klub terpanjang di Tabel 6.8, sementara Real Madrid mengganti 10 pelatih kepala antara 2003 dan Juli 2009 (hlm. 581).
- Keleluasaan finansial MU hanya 4 karena utang £616 juta dan tidak ada suntikan dana pemilik (hlm. 579). Tapi jangan bilang utang membatasi belanja pemain — kasus hlm. 584 menyebut ketakutan itu 'proved groundless'. Arsenal 2 karena utangnya £896 juta, tertinggi di Tabel 6.5.
Sekarang bagian yang paling penting.
MU unggul dari Barcelona hanya 0,25 poin. Dari mana selisih itu? MU unggul di merek (+0,45), lalu di manajer, komersial, dan profitabilitas (masing-masing +0,30). MU kalah di kualitas skuad (−0,60) dan keleluasaan finansial (−0,50). Baris lainnya seri.
Dari semua baris itu, hanya satu yang diperkirakan berubah drastis dalam waktu dekat: baris manajer, karena Ferguson diperkirakan pensiun musim panas 2010 (hlm. 588).
Coba turunkan rating itu dari 10 ke 5, seolah penggantinya manajer rata-rata. Skor MU turun 0,75 menjadi 7,90 — langsung di bawah Barcelona.
Hitung titik impasnya, dengan asumsi baris lain tetap: MU tanpa baris manajer punya 7,15. Supaya totalnya kembali ke 8,40, baris manajer harus menyumbang 1,25. Dengan bobot 0,15, ratingnya minimal 8,3. Artinya penggantinya harus manajer kelas dunia, bukan sekadar bagus.
Ini menghubungkan Q5 kembali ke Q3: baris yang paling rapuh di matriks adalah resource yang lolos VRIN tapi melekat pada satu orang. Itu risiko yang tidak diukur VRIN — dan karena itulah slide 28 membahas dynamic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aturan Q6 dari slide 17: priority list berisi PERTANYAAN, bukan jawaban. Kolom kiri semuanya berbentuk 'siapa', 'bagaimana', 'apa yang dilakukan', dan 'apakah perlu' — persis pola buku.
Sumber tiap isu di kasus:
1. Dilema suksesi: hlm. 588, dilema yang disadari Gill saat menimbang calon pengganti.
2. Mempertahankan sistem: hlm. 588 — 'it was important to maintain as much as possible of the system of training, scouting, and team development that Sir Alex had put in place.'
3. Uang penjualan Ronaldo: hlm. 588 — media menyorot apakah uangnya dipakai untuk menawar Franck Ribéry dari Bayern.
4. Director of football: hlm. 581 — lazim di Eropa daratan, tapi di Inggris sering memicu konflik dengan manajer (Chelsea, Newcastle).
5. Ketergantungan komersial: hlm. 573 — bagi Gill, pendapatan komersial terus mengalir selama tim menang dan bermain menarik.
6. Dana pemilik: hlm. 579 — karena Glazer membiayai akuisisinya dengan utang, MU tidak mendapat suntikan dana seperti Chelsea atau Man City.
PENTING soal utang: jangan bilang utang membatasi pembelian pemain. Kasus hlm. 584 justru menyatakan ketakutan itu 'proved groundless'. Isunya adalah tidak adanya suntikan dana pemilik di pasar transfer yang sedang meledak.
Kolom kanan adalah rekomendasi kami, dan itu sudah masuk tahap berikutnya — penyusunan strategi. Pisahkan keduanya saat bicara.
Logika rekomendasi 1: sistem Ferguson lolos VRIN, jadi layak dipertahankan. Masalahnya hanya satu: sistem itu dibangun dan dipimpin satu orang. Solusinya memindahkan sistem itu ke dalam prosedur klub supaya bertahan setelah ia pergi.
Logika rekomendasi 3, dari kasus hlm. 588: jika MU menunjuk manajer berwibawa seperti Mourinho, 'it was likely that this would involve a revolutionary change in coaching strategy in which much of Ferguson's infrastructure would be taken down and rebuilt.' Membongkar aset yang lolos VRIN adalah pilihan yang mahal.
Kalau ada yang berargumen orang dalam kurang berwibawa — itu memang kekhawatiran Gill di kasus, dan kami tidak menyangkalnya. Karena itulah kami mengusulkan masa transisi dengan Ferguson tetap mendampingi.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yang paling mungkin muncul, dan jawabannya:
1. Kenapa enam pertanyaan, bukan lima?
Edisi lama buku ini memakai lima pertanyaan dengan SWOT diselipkan ke dalam analisis resource. Edisi 2024 memisahkan SWOT jadi Q2 tersendiri.
2. Kenapa sistem Ferguson lolos Nonsubstitutable, padahal ia akan pensiun?
Karena tes N bertanya apakah PESAING bisa mencapai hasil yang sama dengan resource jenis lain — bukan apakah MU bisa mengganti Ferguson. Jalan lain pesaing, membeli bintang dengan uang besar, tidak menyamai hasilnya: tim Real Madrid dan Chelsea 'failed to achieve greatness' (hlm. 583). Risiko pensiun itu nyata, tapi tempatnya di luar VRIN: resource harus dikelola secara dinamis (slide 12 dan 28).
3. Kalau sistem Ferguson dan merek sama-sama lolos VRIN, kenapa MU tetap rentan?
Karena VRIN menguji serangan dari pesaing, bukan kehilangan dari dalam. Sistem Ferguson dibangun dan dipimpin satu orang yang diperkirakan pensiun musim panas 2010. Selain itu, kedua keunggulan saling bergantung: menurut pandangan Gill, pendapatan komersial terus mengalir selama tim menang dan bermain menarik (hlm. 573).
4. Kenapa laporan keuangan MU terlihat sehat padahal utangnya £616 juta?
Angka £616 juta berasal dari Tabel 6.5 (data Forbes). Appendix memuat akun Manchester United plc (2000–2005) dan Manchester United Limited (2006–2008), dan tidak memuat utang sebesar itu — bunga bersih 2008 malah tercatat positif, £0,46 juta. Dugaan kami, dan ini tidak ditulis di kasus: utang akuisisi Glazer berada di perusahaan induk, di atas klub.
5. Apakah akademi MU capability organisasi atau perpanjangan tangan Ferguson?
Kasus tidak memberi jawaban pasti. Yang mendukung 'milik organisasi': ada akademi dan lebih dari 20 pemandu bakat. Yang mendukung 'milik Ferguson': seluruh infrastruktur itu ia yang membangun (hlm. 573), dan Gill menilai penting untuk mempertahankannya sebanyak mungkin (hlm. 588).
6. Utang £616 juta itu weakness atau threat?
Weakness, karena sumbernya internal: akuisisi Glazer dibiayai terutama dengan utang (hlm. 584). Threat adalah faktor dari luar. Tapi hati-hati: kasus yang sama menyebut kekhawatiran bahwa utang akan membatasi pembelian pemain 'proved groundless'. Kelemahannya ada di neraca dan di tidak adanya suntikan dana pemilik, bukan di belanja pemain yang terhambat.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40080" y="685800"/>
            <a:ext cx="365760" cy="64008"/>
          </a:xfrm>
          <a:prstGeom prst="rect">
            <a:avLst/>
          </a:prstGeom>
          <a:solidFill>
            <a:srgbClr val="FBE122"/>
          </a:solidFill>
          <a:ln w="12700">
            <a:solidFill>
              <a:srgbClr val="FBE122"/>
            </a:solidFill>
            <a:prstDash val="solid"/>
          </a:ln>
        </p:spPr>
      </p:sp>
      <p:sp>
        <p:nvSpPr>
          <p:cNvPr id="4" name="Text 1"/>
          <p:cNvSpPr/>
          <p:nvPr/>
        </p:nvSpPr>
        <p:spPr>
          <a:xfrm>
            <a:off x="1143000" y="548640"/>
            <a:ext cx="6400800" cy="320040"/>
          </a:xfrm>
          <a:prstGeom prst="rect">
            <a:avLst/>
          </a:prstGeom>
          <a:noFill/>
          <a:ln/>
        </p:spPr>
        <p:txBody>
          <a:bodyPr wrap="square" lIns="0" tIns="0" rIns="0" bIns="0" rtlCol="0" anchor="t"/>
          <a:lstStyle/>
          <a:p>
            <a:pPr indent="0" marL="0">
              <a:buNone/>
            </a:pPr>
            <a:r>
              <a:rPr lang="en-US" sz="1100" spc="300" kern="0" dirty="0">
                <a:solidFill>
                  <a:srgbClr val="FBE122"/>
                </a:solidFill>
                <a:latin typeface="Poppins SemiBold" pitchFamily="34" charset="0"/>
                <a:ea typeface="Poppins SemiBold" pitchFamily="34" charset="-122"/>
                <a:cs typeface="Poppins SemiBold" pitchFamily="34" charset="-120"/>
              </a:rPr>
              <a:t>STRATEGIC MANAGEMENT  ·  CHAPTER 4</a:t>
            </a:r>
            <a:endParaRPr lang="en-US" sz="1100" dirty="0"/>
          </a:p>
        </p:txBody>
      </p:sp>
      <p:sp>
        <p:nvSpPr>
          <p:cNvPr id="5" name="Text 2"/>
          <p:cNvSpPr/>
          <p:nvPr/>
        </p:nvSpPr>
        <p:spPr>
          <a:xfrm>
            <a:off x="640080" y="1005840"/>
            <a:ext cx="5212080" cy="2286000"/>
          </a:xfrm>
          <a:prstGeom prst="rect">
            <a:avLst/>
          </a:prstGeom>
          <a:noFill/>
          <a:ln/>
        </p:spPr>
        <p:txBody>
          <a:bodyPr wrap="square" lIns="0" tIns="0" rIns="0" bIns="0" rtlCol="0" anchor="t"/>
          <a:lstStyle/>
          <a:p>
            <a:pPr indent="0" marL="0">
              <a:lnSpc>
                <a:spcPct val="92000"/>
              </a:lnSpc>
              <a:buNone/>
            </a:pPr>
            <a:r>
              <a:rPr lang="en-US" sz="3200" dirty="0">
                <a:solidFill>
                  <a:srgbClr val="FFFFFF"/>
                </a:solidFill>
                <a:latin typeface="Poppins ExtraBold" pitchFamily="34" charset="0"/>
                <a:ea typeface="Poppins ExtraBold" pitchFamily="34" charset="-122"/>
                <a:cs typeface="Poppins ExtraBold" pitchFamily="34" charset="-120"/>
              </a:rPr>
              <a:t>EVALUATING A COMPANY'S RESOURCES, CAPABILITIES, AND COMPETITIVENESS</a:t>
            </a:r>
            <a:endParaRPr lang="en-US" sz="3200" dirty="0"/>
          </a:p>
        </p:txBody>
      </p:sp>
      <p:sp>
        <p:nvSpPr>
          <p:cNvPr id="6" name="Text 3"/>
          <p:cNvSpPr/>
          <p:nvPr/>
        </p:nvSpPr>
        <p:spPr>
          <a:xfrm>
            <a:off x="640080" y="3310128"/>
            <a:ext cx="5212080" cy="502920"/>
          </a:xfrm>
          <a:prstGeom prst="rect">
            <a:avLst/>
          </a:prstGeom>
          <a:noFill/>
          <a:ln/>
        </p:spPr>
        <p:txBody>
          <a:bodyPr wrap="square" lIns="0" tIns="0" rIns="0" bIns="0" rtlCol="0" anchor="t"/>
          <a:lstStyle/>
          <a:p>
            <a:pPr indent="0" marL="0">
              <a:lnSpc>
                <a:spcPct val="115000"/>
              </a:lnSpc>
              <a:buNone/>
            </a:pPr>
            <a:r>
              <a:rPr lang="en-US" sz="1000" dirty="0">
                <a:solidFill>
                  <a:srgbClr val="E9DDD8"/>
                </a:solidFill>
                <a:latin typeface="Poppins" pitchFamily="34" charset="0"/>
                <a:ea typeface="Poppins" pitchFamily="34" charset="-122"/>
                <a:cs typeface="Poppins" pitchFamily="34" charset="-120"/>
              </a:rPr>
              <a:t>Thompson  ·  Peteraf  ·  Gamble  ·  Strickland</a:t>
            </a:r>
            <a:endParaRPr lang="en-US" sz="1000" dirty="0"/>
          </a:p>
          <a:p>
            <a:pPr indent="0" marL="0">
              <a:lnSpc>
                <a:spcPct val="115000"/>
              </a:lnSpc>
              <a:buNone/>
            </a:pPr>
            <a:r>
              <a:rPr lang="en-US" sz="1000" dirty="0">
                <a:solidFill>
                  <a:srgbClr val="E9DDD8"/>
                </a:solidFill>
                <a:latin typeface="Poppins" pitchFamily="34" charset="0"/>
                <a:ea typeface="Poppins" pitchFamily="34" charset="-122"/>
                <a:cs typeface="Poppins" pitchFamily="34" charset="-120"/>
              </a:rPr>
              <a:t>Crafting &amp; Executing Strategy, 2024 Release ISE</a:t>
            </a:r>
            <a:endParaRPr lang="en-US" sz="1000" dirty="0"/>
          </a:p>
        </p:txBody>
      </p:sp>
      <p:sp>
        <p:nvSpPr>
          <p:cNvPr id="7" name="Shape 4"/>
          <p:cNvSpPr/>
          <p:nvPr/>
        </p:nvSpPr>
        <p:spPr>
          <a:xfrm>
            <a:off x="640080" y="3977640"/>
            <a:ext cx="5029200" cy="1325880"/>
          </a:xfrm>
          <a:prstGeom prst="rect">
            <a:avLst/>
          </a:prstGeom>
          <a:solidFill>
            <a:srgbClr val="DA291C"/>
          </a:solidFill>
          <a:ln w="12700">
            <a:solidFill>
              <a:srgbClr val="DA291C"/>
            </a:solidFill>
            <a:prstDash val="solid"/>
          </a:ln>
        </p:spPr>
      </p:sp>
      <p:sp>
        <p:nvSpPr>
          <p:cNvPr id="8" name="Text 5"/>
          <p:cNvSpPr/>
          <p:nvPr/>
        </p:nvSpPr>
        <p:spPr>
          <a:xfrm>
            <a:off x="868680" y="411480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STUDI KASUS</a:t>
            </a:r>
            <a:endParaRPr lang="en-US" sz="800" dirty="0"/>
          </a:p>
        </p:txBody>
      </p:sp>
      <p:sp>
        <p:nvSpPr>
          <p:cNvPr id="9" name="Text 6"/>
          <p:cNvSpPr/>
          <p:nvPr/>
        </p:nvSpPr>
        <p:spPr>
          <a:xfrm>
            <a:off x="868680" y="4352544"/>
            <a:ext cx="4663440" cy="548640"/>
          </a:xfrm>
          <a:prstGeom prst="rect">
            <a:avLst/>
          </a:prstGeom>
          <a:noFill/>
          <a:ln/>
        </p:spPr>
        <p:txBody>
          <a:bodyPr wrap="square" lIns="0" tIns="0" rIns="0" bIns="0" rtlCol="0" anchor="t"/>
          <a:lstStyle/>
          <a:p>
            <a:pPr indent="0" marL="0">
              <a:lnSpc>
                <a:spcPct val="98000"/>
              </a:lnSpc>
              <a:buNone/>
            </a:pPr>
            <a:r>
              <a:rPr lang="en-US" sz="1400" dirty="0">
                <a:solidFill>
                  <a:srgbClr val="FFFFFF"/>
                </a:solidFill>
                <a:latin typeface="Poppins ExtraBold" pitchFamily="34" charset="0"/>
                <a:ea typeface="Poppins ExtraBold" pitchFamily="34" charset="-122"/>
                <a:cs typeface="Poppins ExtraBold" pitchFamily="34" charset="-120"/>
              </a:rPr>
              <a:t>Manchester United: Preparing for Life without Ferguson</a:t>
            </a:r>
            <a:endParaRPr lang="en-US" sz="1400" dirty="0"/>
          </a:p>
        </p:txBody>
      </p:sp>
      <p:sp>
        <p:nvSpPr>
          <p:cNvPr id="10" name="Text 7"/>
          <p:cNvSpPr/>
          <p:nvPr/>
        </p:nvSpPr>
        <p:spPr>
          <a:xfrm>
            <a:off x="868680" y="4937760"/>
            <a:ext cx="4663440" cy="274320"/>
          </a:xfrm>
          <a:prstGeom prst="rect">
            <a:avLst/>
          </a:prstGeom>
          <a:noFill/>
          <a:ln/>
        </p:spPr>
        <p:txBody>
          <a:bodyPr wrap="square" lIns="0" tIns="0" rIns="0" bIns="0" rtlCol="0" anchor="t"/>
          <a:lstStyle/>
          <a:p>
            <a:pPr indent="0" marL="0">
              <a:buNone/>
            </a:pPr>
            <a:r>
              <a:rPr lang="en-US" sz="950" dirty="0">
                <a:solidFill>
                  <a:srgbClr val="FFFFFF"/>
                </a:solidFill>
                <a:latin typeface="Poppins" pitchFamily="34" charset="0"/>
                <a:ea typeface="Poppins" pitchFamily="34" charset="-122"/>
                <a:cs typeface="Poppins" pitchFamily="34" charset="-120"/>
              </a:rPr>
              <a:t>Robert M. Grant (2010)   ·   setting Juli 2009</a:t>
            </a:r>
            <a:endParaRPr lang="en-US" sz="950" dirty="0"/>
          </a:p>
        </p:txBody>
      </p:sp>
      <p:sp>
        <p:nvSpPr>
          <p:cNvPr id="11" name="Text 8"/>
          <p:cNvSpPr/>
          <p:nvPr/>
        </p:nvSpPr>
        <p:spPr>
          <a:xfrm>
            <a:off x="640080" y="548640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DOSEN PENGAMPU</a:t>
            </a:r>
            <a:endParaRPr lang="en-US" sz="800" dirty="0"/>
          </a:p>
        </p:txBody>
      </p:sp>
      <p:sp>
        <p:nvSpPr>
          <p:cNvPr id="12" name="Text 9"/>
          <p:cNvSpPr/>
          <p:nvPr/>
        </p:nvSpPr>
        <p:spPr>
          <a:xfrm>
            <a:off x="640080" y="5705856"/>
            <a:ext cx="2926080" cy="274320"/>
          </a:xfrm>
          <a:prstGeom prst="rect">
            <a:avLst/>
          </a:prstGeom>
          <a:noFill/>
          <a:ln/>
        </p:spPr>
        <p:txBody>
          <a:bodyPr wrap="square" lIns="0" tIns="0" rIns="0" bIns="0" rtlCol="0" anchor="t"/>
          <a:lstStyle/>
          <a:p>
            <a:pPr indent="0" marL="0">
              <a:buNone/>
            </a:pPr>
            <a:r>
              <a:rPr lang="en-US" sz="950" dirty="0">
                <a:solidFill>
                  <a:srgbClr val="FFFFFF"/>
                </a:solidFill>
                <a:latin typeface="Poppins Medium" pitchFamily="34" charset="0"/>
                <a:ea typeface="Poppins Medium" pitchFamily="34" charset="-122"/>
                <a:cs typeface="Poppins Medium" pitchFamily="34" charset="-120"/>
              </a:rPr>
              <a:t>Dr. Rangga Almahendra, S.T., M.M.</a:t>
            </a:r>
            <a:endParaRPr lang="en-US" sz="950" dirty="0"/>
          </a:p>
        </p:txBody>
      </p:sp>
      <p:sp>
        <p:nvSpPr>
          <p:cNvPr id="13" name="Text 10"/>
          <p:cNvSpPr/>
          <p:nvPr/>
        </p:nvSpPr>
        <p:spPr>
          <a:xfrm>
            <a:off x="3383280" y="548640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KELOMPOK 4</a:t>
            </a:r>
            <a:endParaRPr lang="en-US" sz="800" dirty="0"/>
          </a:p>
        </p:txBody>
      </p:sp>
      <p:sp>
        <p:nvSpPr>
          <p:cNvPr id="14" name="Text 11"/>
          <p:cNvSpPr/>
          <p:nvPr/>
        </p:nvSpPr>
        <p:spPr>
          <a:xfrm>
            <a:off x="3383280" y="5705856"/>
            <a:ext cx="2743200" cy="640080"/>
          </a:xfrm>
          <a:prstGeom prst="rect">
            <a:avLst/>
          </a:prstGeom>
          <a:noFill/>
          <a:ln/>
        </p:spPr>
        <p:txBody>
          <a:bodyPr wrap="square" lIns="0" tIns="0" rIns="0" bIns="0" rtlCol="0" anchor="t"/>
          <a:lstStyle/>
          <a:p>
            <a:pPr indent="0" marL="0">
              <a:lnSpc>
                <a:spcPct val="115000"/>
              </a:lnSpc>
              <a:buNone/>
            </a:pPr>
            <a:r>
              <a:rPr lang="en-US" sz="950" dirty="0">
                <a:solidFill>
                  <a:srgbClr val="FFFFFF"/>
                </a:solidFill>
                <a:latin typeface="Poppins Medium" pitchFamily="34" charset="0"/>
                <a:ea typeface="Poppins Medium" pitchFamily="34" charset="-122"/>
                <a:cs typeface="Poppins Medium" pitchFamily="34" charset="-120"/>
              </a:rPr>
              <a:t>Fitra Aidila  ·  Aulia Sisca Rahmadiyanti  ·  Bagaskoro</a:t>
            </a:r>
            <a:endParaRPr lang="en-US" sz="950" dirty="0"/>
          </a:p>
          <a:p>
            <a:pPr indent="0" marL="0">
              <a:lnSpc>
                <a:spcPct val="115000"/>
              </a:lnSpc>
              <a:buNone/>
            </a:pPr>
            <a:r>
              <a:rPr lang="en-US" sz="950" dirty="0">
                <a:solidFill>
                  <a:srgbClr val="FFFFFF"/>
                </a:solidFill>
                <a:latin typeface="Poppins Medium" pitchFamily="34" charset="0"/>
                <a:ea typeface="Poppins Medium" pitchFamily="34" charset="-122"/>
                <a:cs typeface="Poppins Medium" pitchFamily="34" charset="-120"/>
              </a:rPr>
              <a:t>Imam Prayudha  ·  Tegar Awanto</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ALUR PRESENTASI</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02</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AGENDA</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Teori Chapter 4 dibahas lebih dulu, lalu diterapkan pada kasus Manchester United. Urutannya sengaja sama, supaya terlihat framework mana dipakai untuk menjawab apa.</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02</a:t>
            </a:r>
            <a:endParaRPr lang="en-US" sz="900" dirty="0"/>
          </a:p>
        </p:txBody>
      </p:sp>
      <p:sp>
        <p:nvSpPr>
          <p:cNvPr id="13" name="Shape 10"/>
          <p:cNvSpPr/>
          <p:nvPr/>
        </p:nvSpPr>
        <p:spPr>
          <a:xfrm>
            <a:off x="548640" y="1755648"/>
            <a:ext cx="6583680" cy="960120"/>
          </a:xfrm>
          <a:prstGeom prst="rect">
            <a:avLst/>
          </a:prstGeom>
          <a:solidFill>
            <a:srgbClr val="2B0F11"/>
          </a:solidFill>
          <a:ln w="12700">
            <a:solidFill>
              <a:srgbClr val="2B0F11"/>
            </a:solidFill>
            <a:prstDash val="solid"/>
          </a:ln>
        </p:spPr>
      </p:sp>
      <p:sp>
        <p:nvSpPr>
          <p:cNvPr id="14" name="Shape 11"/>
          <p:cNvSpPr/>
          <p:nvPr/>
        </p:nvSpPr>
        <p:spPr>
          <a:xfrm>
            <a:off x="548640" y="1755648"/>
            <a:ext cx="54864" cy="960120"/>
          </a:xfrm>
          <a:prstGeom prst="rect">
            <a:avLst/>
          </a:prstGeom>
          <a:solidFill>
            <a:srgbClr val="FBE122"/>
          </a:solidFill>
          <a:ln w="12700">
            <a:solidFill>
              <a:srgbClr val="FBE122"/>
            </a:solidFill>
            <a:prstDash val="solid"/>
          </a:ln>
        </p:spPr>
      </p:sp>
      <p:sp>
        <p:nvSpPr>
          <p:cNvPr id="15" name="Text 12"/>
          <p:cNvSpPr/>
          <p:nvPr/>
        </p:nvSpPr>
        <p:spPr>
          <a:xfrm>
            <a:off x="777240" y="1865376"/>
            <a:ext cx="1005840" cy="731520"/>
          </a:xfrm>
          <a:prstGeom prst="rect">
            <a:avLst/>
          </a:prstGeom>
          <a:noFill/>
          <a:ln/>
        </p:spPr>
        <p:txBody>
          <a:bodyPr wrap="square" lIns="0" tIns="0" rIns="0" bIns="0" rtlCol="0" anchor="ctr"/>
          <a:lstStyle/>
          <a:p>
            <a:pPr indent="0" marL="0">
              <a:buNone/>
            </a:pPr>
            <a:r>
              <a:rPr lang="en-US" sz="3000" dirty="0">
                <a:solidFill>
                  <a:srgbClr val="FBE122"/>
                </a:solidFill>
                <a:latin typeface="Poppins ExtraBold" pitchFamily="34" charset="0"/>
                <a:ea typeface="Poppins ExtraBold" pitchFamily="34" charset="-122"/>
                <a:cs typeface="Poppins ExtraBold" pitchFamily="34" charset="-120"/>
              </a:rPr>
              <a:t>01</a:t>
            </a:r>
            <a:endParaRPr lang="en-US" sz="3000" dirty="0"/>
          </a:p>
        </p:txBody>
      </p:sp>
      <p:sp>
        <p:nvSpPr>
          <p:cNvPr id="16" name="Text 13"/>
          <p:cNvSpPr/>
          <p:nvPr/>
        </p:nvSpPr>
        <p:spPr>
          <a:xfrm>
            <a:off x="1828800" y="1874520"/>
            <a:ext cx="4572000" cy="274320"/>
          </a:xfrm>
          <a:prstGeom prst="rect">
            <a:avLst/>
          </a:prstGeom>
          <a:noFill/>
          <a:ln/>
        </p:spPr>
        <p:txBody>
          <a:bodyPr wrap="square" lIns="0" tIns="0" rIns="0" bIns="0" rtlCol="0" anchor="t"/>
          <a:lstStyle/>
          <a:p>
            <a:pPr indent="0" marL="0">
              <a:buNone/>
            </a:pPr>
            <a:r>
              <a:rPr lang="en-US" sz="1250" dirty="0">
                <a:solidFill>
                  <a:srgbClr val="FFFFFF"/>
                </a:solidFill>
                <a:latin typeface="Poppins SemiBold" pitchFamily="34" charset="0"/>
                <a:ea typeface="Poppins SemiBold" pitchFamily="34" charset="-122"/>
                <a:cs typeface="Poppins SemiBold" pitchFamily="34" charset="-120"/>
              </a:rPr>
              <a:t>Framework Chapter 4</a:t>
            </a:r>
            <a:endParaRPr lang="en-US" sz="1250" dirty="0"/>
          </a:p>
        </p:txBody>
      </p:sp>
      <p:sp>
        <p:nvSpPr>
          <p:cNvPr id="17" name="Text 14"/>
          <p:cNvSpPr/>
          <p:nvPr/>
        </p:nvSpPr>
        <p:spPr>
          <a:xfrm>
            <a:off x="1828800" y="2148840"/>
            <a:ext cx="228600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3 – 17</a:t>
            </a:r>
            <a:endParaRPr lang="en-US" sz="750" dirty="0"/>
          </a:p>
        </p:txBody>
      </p:sp>
      <p:sp>
        <p:nvSpPr>
          <p:cNvPr id="18" name="Text 15"/>
          <p:cNvSpPr/>
          <p:nvPr/>
        </p:nvSpPr>
        <p:spPr>
          <a:xfrm>
            <a:off x="1828800" y="2340864"/>
            <a:ext cx="4572000" cy="384048"/>
          </a:xfrm>
          <a:prstGeom prst="rect">
            <a:avLst/>
          </a:prstGeom>
          <a:noFill/>
          <a:ln/>
        </p:spPr>
        <p:txBody>
          <a:bodyPr wrap="square" lIns="0" tIns="0" rIns="0" bIns="0" rtlCol="0" anchor="t"/>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Enam pertanyaan analisis internal dan alat untuk menjawabnya: Table 4.1, SWOT, VRIN Test, Value Chain, Competitive Strength Assessment, Priority List.</a:t>
            </a:r>
            <a:endParaRPr lang="en-US" sz="850" dirty="0"/>
          </a:p>
        </p:txBody>
      </p:sp>
      <p:sp>
        <p:nvSpPr>
          <p:cNvPr id="19" name="Shape 16"/>
          <p:cNvSpPr/>
          <p:nvPr/>
        </p:nvSpPr>
        <p:spPr>
          <a:xfrm>
            <a:off x="548640" y="2825496"/>
            <a:ext cx="6583680" cy="960120"/>
          </a:xfrm>
          <a:prstGeom prst="rect">
            <a:avLst/>
          </a:prstGeom>
          <a:solidFill>
            <a:srgbClr val="381418"/>
          </a:solidFill>
          <a:ln w="12700">
            <a:solidFill>
              <a:srgbClr val="381418"/>
            </a:solidFill>
            <a:prstDash val="solid"/>
          </a:ln>
        </p:spPr>
      </p:sp>
      <p:sp>
        <p:nvSpPr>
          <p:cNvPr id="20" name="Shape 17"/>
          <p:cNvSpPr/>
          <p:nvPr/>
        </p:nvSpPr>
        <p:spPr>
          <a:xfrm>
            <a:off x="548640" y="2825496"/>
            <a:ext cx="54864" cy="960120"/>
          </a:xfrm>
          <a:prstGeom prst="rect">
            <a:avLst/>
          </a:prstGeom>
          <a:solidFill>
            <a:srgbClr val="DA291C"/>
          </a:solidFill>
          <a:ln w="12700">
            <a:solidFill>
              <a:srgbClr val="DA291C"/>
            </a:solidFill>
            <a:prstDash val="solid"/>
          </a:ln>
        </p:spPr>
      </p:sp>
      <p:sp>
        <p:nvSpPr>
          <p:cNvPr id="21" name="Text 18"/>
          <p:cNvSpPr/>
          <p:nvPr/>
        </p:nvSpPr>
        <p:spPr>
          <a:xfrm>
            <a:off x="777240" y="2935224"/>
            <a:ext cx="1005840" cy="731520"/>
          </a:xfrm>
          <a:prstGeom prst="rect">
            <a:avLst/>
          </a:prstGeom>
          <a:noFill/>
          <a:ln/>
        </p:spPr>
        <p:txBody>
          <a:bodyPr wrap="square" lIns="0" tIns="0" rIns="0" bIns="0" rtlCol="0" anchor="ctr"/>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02</a:t>
            </a:r>
            <a:endParaRPr lang="en-US" sz="3000" dirty="0"/>
          </a:p>
        </p:txBody>
      </p:sp>
      <p:sp>
        <p:nvSpPr>
          <p:cNvPr id="22" name="Text 19"/>
          <p:cNvSpPr/>
          <p:nvPr/>
        </p:nvSpPr>
        <p:spPr>
          <a:xfrm>
            <a:off x="1828800" y="2944368"/>
            <a:ext cx="4572000" cy="274320"/>
          </a:xfrm>
          <a:prstGeom prst="rect">
            <a:avLst/>
          </a:prstGeom>
          <a:noFill/>
          <a:ln/>
        </p:spPr>
        <p:txBody>
          <a:bodyPr wrap="square" lIns="0" tIns="0" rIns="0" bIns="0" rtlCol="0" anchor="t"/>
          <a:lstStyle/>
          <a:p>
            <a:pPr indent="0" marL="0">
              <a:buNone/>
            </a:pPr>
            <a:r>
              <a:rPr lang="en-US" sz="1250" dirty="0">
                <a:solidFill>
                  <a:srgbClr val="FFFFFF"/>
                </a:solidFill>
                <a:latin typeface="Poppins SemiBold" pitchFamily="34" charset="0"/>
                <a:ea typeface="Poppins SemiBold" pitchFamily="34" charset="-122"/>
                <a:cs typeface="Poppins SemiBold" pitchFamily="34" charset="-120"/>
              </a:rPr>
              <a:t>Penerapan pada Manchester United</a:t>
            </a:r>
            <a:endParaRPr lang="en-US" sz="1250" dirty="0"/>
          </a:p>
        </p:txBody>
      </p:sp>
      <p:sp>
        <p:nvSpPr>
          <p:cNvPr id="23" name="Text 20"/>
          <p:cNvSpPr/>
          <p:nvPr/>
        </p:nvSpPr>
        <p:spPr>
          <a:xfrm>
            <a:off x="1828800" y="3218688"/>
            <a:ext cx="228600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18 – 31</a:t>
            </a:r>
            <a:endParaRPr lang="en-US" sz="750" dirty="0"/>
          </a:p>
        </p:txBody>
      </p:sp>
      <p:sp>
        <p:nvSpPr>
          <p:cNvPr id="24" name="Text 21"/>
          <p:cNvSpPr/>
          <p:nvPr/>
        </p:nvSpPr>
        <p:spPr>
          <a:xfrm>
            <a:off x="1828800" y="3410712"/>
            <a:ext cx="4572000" cy="384048"/>
          </a:xfrm>
          <a:prstGeom prst="rect">
            <a:avLst/>
          </a:prstGeom>
          <a:noFill/>
          <a:ln/>
        </p:spPr>
        <p:txBody>
          <a:bodyPr wrap="square" lIns="0" tIns="0" rIns="0" bIns="0" rtlCol="0" anchor="t"/>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Kinerja, SWOT, resource dan capability, VRIN Test, Value Chain, Benchmarking, dan Competitive Strength Assessment MU pada Juli 2009.</a:t>
            </a:r>
            <a:endParaRPr lang="en-US" sz="850" dirty="0"/>
          </a:p>
        </p:txBody>
      </p:sp>
      <p:sp>
        <p:nvSpPr>
          <p:cNvPr id="25" name="Shape 22"/>
          <p:cNvSpPr/>
          <p:nvPr/>
        </p:nvSpPr>
        <p:spPr>
          <a:xfrm>
            <a:off x="548640" y="3895344"/>
            <a:ext cx="6583680" cy="960120"/>
          </a:xfrm>
          <a:prstGeom prst="rect">
            <a:avLst/>
          </a:prstGeom>
          <a:solidFill>
            <a:srgbClr val="2B0F11"/>
          </a:solidFill>
          <a:ln w="12700">
            <a:solidFill>
              <a:srgbClr val="2B0F11"/>
            </a:solidFill>
            <a:prstDash val="solid"/>
          </a:ln>
        </p:spPr>
      </p:sp>
      <p:sp>
        <p:nvSpPr>
          <p:cNvPr id="26" name="Shape 23"/>
          <p:cNvSpPr/>
          <p:nvPr/>
        </p:nvSpPr>
        <p:spPr>
          <a:xfrm>
            <a:off x="548640" y="3895344"/>
            <a:ext cx="54864" cy="960120"/>
          </a:xfrm>
          <a:prstGeom prst="rect">
            <a:avLst/>
          </a:prstGeom>
          <a:solidFill>
            <a:srgbClr val="DA291C"/>
          </a:solidFill>
          <a:ln w="12700">
            <a:solidFill>
              <a:srgbClr val="DA291C"/>
            </a:solidFill>
            <a:prstDash val="solid"/>
          </a:ln>
        </p:spPr>
      </p:sp>
      <p:sp>
        <p:nvSpPr>
          <p:cNvPr id="27" name="Text 24"/>
          <p:cNvSpPr/>
          <p:nvPr/>
        </p:nvSpPr>
        <p:spPr>
          <a:xfrm>
            <a:off x="777240" y="4005072"/>
            <a:ext cx="1005840" cy="731520"/>
          </a:xfrm>
          <a:prstGeom prst="rect">
            <a:avLst/>
          </a:prstGeom>
          <a:noFill/>
          <a:ln/>
        </p:spPr>
        <p:txBody>
          <a:bodyPr wrap="square" lIns="0" tIns="0" rIns="0" bIns="0" rtlCol="0" anchor="ctr"/>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03</a:t>
            </a:r>
            <a:endParaRPr lang="en-US" sz="3000" dirty="0"/>
          </a:p>
        </p:txBody>
      </p:sp>
      <p:sp>
        <p:nvSpPr>
          <p:cNvPr id="28" name="Text 25"/>
          <p:cNvSpPr/>
          <p:nvPr/>
        </p:nvSpPr>
        <p:spPr>
          <a:xfrm>
            <a:off x="1828800" y="4014216"/>
            <a:ext cx="4572000" cy="274320"/>
          </a:xfrm>
          <a:prstGeom prst="rect">
            <a:avLst/>
          </a:prstGeom>
          <a:noFill/>
          <a:ln/>
        </p:spPr>
        <p:txBody>
          <a:bodyPr wrap="square" lIns="0" tIns="0" rIns="0" bIns="0" rtlCol="0" anchor="t"/>
          <a:lstStyle/>
          <a:p>
            <a:pPr indent="0" marL="0">
              <a:buNone/>
            </a:pPr>
            <a:r>
              <a:rPr lang="en-US" sz="1250" dirty="0">
                <a:solidFill>
                  <a:srgbClr val="FFFFFF"/>
                </a:solidFill>
                <a:latin typeface="Poppins SemiBold" pitchFamily="34" charset="0"/>
                <a:ea typeface="Poppins SemiBold" pitchFamily="34" charset="-122"/>
                <a:cs typeface="Poppins SemiBold" pitchFamily="34" charset="-120"/>
              </a:rPr>
              <a:t>Priority List</a:t>
            </a:r>
            <a:endParaRPr lang="en-US" sz="1250" dirty="0"/>
          </a:p>
        </p:txBody>
      </p:sp>
      <p:sp>
        <p:nvSpPr>
          <p:cNvPr id="29" name="Text 26"/>
          <p:cNvSpPr/>
          <p:nvPr/>
        </p:nvSpPr>
        <p:spPr>
          <a:xfrm>
            <a:off x="1828800" y="4288536"/>
            <a:ext cx="228600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32</a:t>
            </a:r>
            <a:endParaRPr lang="en-US" sz="750" dirty="0"/>
          </a:p>
        </p:txBody>
      </p:sp>
      <p:sp>
        <p:nvSpPr>
          <p:cNvPr id="30" name="Text 27"/>
          <p:cNvSpPr/>
          <p:nvPr/>
        </p:nvSpPr>
        <p:spPr>
          <a:xfrm>
            <a:off x="1828800" y="4480560"/>
            <a:ext cx="4572000" cy="384048"/>
          </a:xfrm>
          <a:prstGeom prst="rect">
            <a:avLst/>
          </a:prstGeom>
          <a:noFill/>
          <a:ln/>
        </p:spPr>
        <p:txBody>
          <a:bodyPr wrap="square" lIns="0" tIns="0" rIns="0" bIns="0" rtlCol="0" anchor="t"/>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Enam isu yang harus ditangani David Gill, ditulis sebagai pertanyaan sesuai aturan buku.</a:t>
            </a:r>
            <a:endParaRPr lang="en-US" sz="850" dirty="0"/>
          </a:p>
        </p:txBody>
      </p:sp>
      <p:sp>
        <p:nvSpPr>
          <p:cNvPr id="31" name="Shape 28"/>
          <p:cNvSpPr/>
          <p:nvPr/>
        </p:nvSpPr>
        <p:spPr>
          <a:xfrm>
            <a:off x="548640" y="4965192"/>
            <a:ext cx="6583680" cy="960120"/>
          </a:xfrm>
          <a:prstGeom prst="rect">
            <a:avLst/>
          </a:prstGeom>
          <a:solidFill>
            <a:srgbClr val="381418"/>
          </a:solidFill>
          <a:ln w="12700">
            <a:solidFill>
              <a:srgbClr val="381418"/>
            </a:solidFill>
            <a:prstDash val="solid"/>
          </a:ln>
        </p:spPr>
      </p:sp>
      <p:sp>
        <p:nvSpPr>
          <p:cNvPr id="32" name="Shape 29"/>
          <p:cNvSpPr/>
          <p:nvPr/>
        </p:nvSpPr>
        <p:spPr>
          <a:xfrm>
            <a:off x="548640" y="4965192"/>
            <a:ext cx="54864" cy="960120"/>
          </a:xfrm>
          <a:prstGeom prst="rect">
            <a:avLst/>
          </a:prstGeom>
          <a:solidFill>
            <a:srgbClr val="DA291C"/>
          </a:solidFill>
          <a:ln w="12700">
            <a:solidFill>
              <a:srgbClr val="DA291C"/>
            </a:solidFill>
            <a:prstDash val="solid"/>
          </a:ln>
        </p:spPr>
      </p:sp>
      <p:sp>
        <p:nvSpPr>
          <p:cNvPr id="33" name="Text 30"/>
          <p:cNvSpPr/>
          <p:nvPr/>
        </p:nvSpPr>
        <p:spPr>
          <a:xfrm>
            <a:off x="777240" y="5074920"/>
            <a:ext cx="1005840" cy="731520"/>
          </a:xfrm>
          <a:prstGeom prst="rect">
            <a:avLst/>
          </a:prstGeom>
          <a:noFill/>
          <a:ln/>
        </p:spPr>
        <p:txBody>
          <a:bodyPr wrap="square" lIns="0" tIns="0" rIns="0" bIns="0" rtlCol="0" anchor="ctr"/>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04</a:t>
            </a:r>
            <a:endParaRPr lang="en-US" sz="3000" dirty="0"/>
          </a:p>
        </p:txBody>
      </p:sp>
      <p:sp>
        <p:nvSpPr>
          <p:cNvPr id="34" name="Text 31"/>
          <p:cNvSpPr/>
          <p:nvPr/>
        </p:nvSpPr>
        <p:spPr>
          <a:xfrm>
            <a:off x="1828800" y="5084064"/>
            <a:ext cx="4572000" cy="274320"/>
          </a:xfrm>
          <a:prstGeom prst="rect">
            <a:avLst/>
          </a:prstGeom>
          <a:noFill/>
          <a:ln/>
        </p:spPr>
        <p:txBody>
          <a:bodyPr wrap="square" lIns="0" tIns="0" rIns="0" bIns="0" rtlCol="0" anchor="t"/>
          <a:lstStyle/>
          <a:p>
            <a:pPr indent="0" marL="0">
              <a:buNone/>
            </a:pPr>
            <a:r>
              <a:rPr lang="en-US" sz="1250" dirty="0">
                <a:solidFill>
                  <a:srgbClr val="FFFFFF"/>
                </a:solidFill>
                <a:latin typeface="Poppins SemiBold" pitchFamily="34" charset="0"/>
                <a:ea typeface="Poppins SemiBold" pitchFamily="34" charset="-122"/>
                <a:cs typeface="Poppins SemiBold" pitchFamily="34" charset="-120"/>
              </a:rPr>
              <a:t>Diskusi</a:t>
            </a:r>
            <a:endParaRPr lang="en-US" sz="1250" dirty="0"/>
          </a:p>
        </p:txBody>
      </p:sp>
      <p:sp>
        <p:nvSpPr>
          <p:cNvPr id="35" name="Text 32"/>
          <p:cNvSpPr/>
          <p:nvPr/>
        </p:nvSpPr>
        <p:spPr>
          <a:xfrm>
            <a:off x="1828800" y="5358384"/>
            <a:ext cx="228600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33</a:t>
            </a:r>
            <a:endParaRPr lang="en-US" sz="750" dirty="0"/>
          </a:p>
        </p:txBody>
      </p:sp>
      <p:sp>
        <p:nvSpPr>
          <p:cNvPr id="36" name="Text 33"/>
          <p:cNvSpPr/>
          <p:nvPr/>
        </p:nvSpPr>
        <p:spPr>
          <a:xfrm>
            <a:off x="1828800" y="5550408"/>
            <a:ext cx="4572000" cy="384048"/>
          </a:xfrm>
          <a:prstGeom prst="rect">
            <a:avLst/>
          </a:prstGeom>
          <a:noFill/>
          <a:ln/>
        </p:spPr>
        <p:txBody>
          <a:bodyPr wrap="square" lIns="0" tIns="0" rIns="0" bIns="0" rtlCol="0" anchor="t"/>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Tanya jawab dan diskusi kelas.</a:t>
            </a:r>
            <a:endParaRPr lang="en-US" sz="850" dirty="0"/>
          </a:p>
        </p:txBody>
      </p:sp>
      <p:pic>
        <p:nvPicPr>
          <p:cNvPr id="37" name="Image 0" descr="c_sq_b.jpg">    </p:cNvPr>
          <p:cNvPicPr>
            <a:picLocks noChangeAspect="1"/>
          </p:cNvPicPr>
          <p:nvPr/>
        </p:nvPicPr>
        <p:blipFill>
          <a:blip r:embed="rId1"/>
          <a:stretch>
            <a:fillRect/>
          </a:stretch>
        </p:blipFill>
        <p:spPr>
          <a:xfrm>
            <a:off x="7482535" y="1709928"/>
            <a:ext cx="4160520" cy="4160520"/>
          </a:xfrm>
          <a:prstGeom prst="rect">
            <a:avLst/>
          </a:prstGeom>
        </p:spPr>
      </p:pic>
      <p:sp>
        <p:nvSpPr>
          <p:cNvPr id="38" name="Text 34"/>
          <p:cNvSpPr/>
          <p:nvPr/>
        </p:nvSpPr>
        <p:spPr>
          <a:xfrm>
            <a:off x="7482535" y="5961888"/>
            <a:ext cx="4160520" cy="411480"/>
          </a:xfrm>
          <a:prstGeom prst="rect">
            <a:avLst/>
          </a:prstGeom>
          <a:noFill/>
          <a:ln/>
        </p:spPr>
        <p:txBody>
          <a:bodyPr wrap="square" lIns="0" tIns="0" rIns="0" bIns="0" rtlCol="0" anchor="t"/>
          <a:lstStyle/>
          <a:p>
            <a:pPr indent="0" marL="0">
              <a:lnSpc>
                <a:spcPct val="106000"/>
              </a:lnSpc>
              <a:buNone/>
            </a:pPr>
            <a:r>
              <a:rPr lang="en-US" sz="800" dirty="0">
                <a:solidFill>
                  <a:srgbClr val="A8928E"/>
                </a:solidFill>
                <a:latin typeface="Poppins" pitchFamily="34" charset="0"/>
                <a:ea typeface="Poppins" pitchFamily="34" charset="-122"/>
                <a:cs typeface="Poppins" pitchFamily="34" charset="-120"/>
              </a:rPr>
              <a:t>Juli 2009. Ferguson masih di pinggir lapangan. Pertanyaannya: aset mana yang milik klub, dan aset mana yang milik satu orang?</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BAGIAN A</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03</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ENAM PERTANYAAN</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Chapter 4 bukan kumpulan alat yang berdiri sendiri. Isinya satu alur pemeriksaan, disusun sebagai enam pertanyaan berurutan. Jawaban pertanyaan sebelumnya jadi bahan pertanyaan berikutnya.</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03</a:t>
            </a:r>
            <a:endParaRPr lang="en-US" sz="900" dirty="0"/>
          </a:p>
        </p:txBody>
      </p:sp>
      <p:pic>
        <p:nvPicPr>
          <p:cNvPr id="13" name="Image 0" descr="c_tall_a.jpg">    </p:cNvPr>
          <p:cNvPicPr>
            <a:picLocks noChangeAspect="1"/>
          </p:cNvPicPr>
          <p:nvPr/>
        </p:nvPicPr>
        <p:blipFill>
          <a:blip r:embed="rId1"/>
          <a:stretch>
            <a:fillRect/>
          </a:stretch>
        </p:blipFill>
        <p:spPr>
          <a:xfrm>
            <a:off x="9438288" y="1755648"/>
            <a:ext cx="2204767" cy="3950208"/>
          </a:xfrm>
          <a:prstGeom prst="rect">
            <a:avLst/>
          </a:prstGeom>
        </p:spPr>
      </p:pic>
      <p:sp>
        <p:nvSpPr>
          <p:cNvPr id="14" name="Shape 10"/>
          <p:cNvSpPr/>
          <p:nvPr/>
        </p:nvSpPr>
        <p:spPr>
          <a:xfrm>
            <a:off x="548640" y="1755648"/>
            <a:ext cx="2719376" cy="1874520"/>
          </a:xfrm>
          <a:prstGeom prst="rect">
            <a:avLst/>
          </a:prstGeom>
          <a:solidFill>
            <a:srgbClr val="2B0F11"/>
          </a:solidFill>
          <a:ln w="12700">
            <a:solidFill>
              <a:srgbClr val="2B0F11"/>
            </a:solidFill>
            <a:prstDash val="solid"/>
          </a:ln>
        </p:spPr>
      </p:sp>
      <p:sp>
        <p:nvSpPr>
          <p:cNvPr id="15" name="Shape 11"/>
          <p:cNvSpPr/>
          <p:nvPr/>
        </p:nvSpPr>
        <p:spPr>
          <a:xfrm>
            <a:off x="548640" y="1755648"/>
            <a:ext cx="2719376" cy="54864"/>
          </a:xfrm>
          <a:prstGeom prst="rect">
            <a:avLst/>
          </a:prstGeom>
          <a:solidFill>
            <a:srgbClr val="DA291C"/>
          </a:solidFill>
          <a:ln w="12700">
            <a:solidFill>
              <a:srgbClr val="DA291C"/>
            </a:solidFill>
            <a:prstDash val="solid"/>
          </a:ln>
        </p:spPr>
      </p:sp>
      <p:sp>
        <p:nvSpPr>
          <p:cNvPr id="16" name="Text 12"/>
          <p:cNvSpPr/>
          <p:nvPr/>
        </p:nvSpPr>
        <p:spPr>
          <a:xfrm>
            <a:off x="749808" y="1865376"/>
            <a:ext cx="914400" cy="594360"/>
          </a:xfrm>
          <a:prstGeom prst="rect">
            <a:avLst/>
          </a:prstGeom>
          <a:noFill/>
          <a:ln/>
        </p:spPr>
        <p:txBody>
          <a:bodyPr wrap="square" lIns="0" tIns="0" rIns="0" bIns="0" rtlCol="0" anchor="t"/>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1</a:t>
            </a:r>
            <a:endParaRPr lang="en-US" sz="3000" dirty="0"/>
          </a:p>
        </p:txBody>
      </p:sp>
      <p:sp>
        <p:nvSpPr>
          <p:cNvPr id="17" name="Text 13"/>
          <p:cNvSpPr/>
          <p:nvPr/>
        </p:nvSpPr>
        <p:spPr>
          <a:xfrm>
            <a:off x="749808" y="2487168"/>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Seberapa baik strategi yang sekarang bekerja?</a:t>
            </a:r>
            <a:endParaRPr lang="en-US" sz="1100" dirty="0"/>
          </a:p>
        </p:txBody>
      </p:sp>
      <p:sp>
        <p:nvSpPr>
          <p:cNvPr id="18" name="Text 14"/>
          <p:cNvSpPr/>
          <p:nvPr/>
        </p:nvSpPr>
        <p:spPr>
          <a:xfrm>
            <a:off x="749808" y="3246120"/>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Performance indicators + Table 4.1</a:t>
            </a:r>
            <a:endParaRPr lang="en-US" sz="850" dirty="0"/>
          </a:p>
        </p:txBody>
      </p:sp>
      <p:sp>
        <p:nvSpPr>
          <p:cNvPr id="19" name="Shape 15"/>
          <p:cNvSpPr/>
          <p:nvPr/>
        </p:nvSpPr>
        <p:spPr>
          <a:xfrm>
            <a:off x="3496616" y="1755648"/>
            <a:ext cx="2719376" cy="1874520"/>
          </a:xfrm>
          <a:prstGeom prst="rect">
            <a:avLst/>
          </a:prstGeom>
          <a:solidFill>
            <a:srgbClr val="2B0F11"/>
          </a:solidFill>
          <a:ln w="12700">
            <a:solidFill>
              <a:srgbClr val="2B0F11"/>
            </a:solidFill>
            <a:prstDash val="solid"/>
          </a:ln>
        </p:spPr>
      </p:sp>
      <p:sp>
        <p:nvSpPr>
          <p:cNvPr id="20" name="Shape 16"/>
          <p:cNvSpPr/>
          <p:nvPr/>
        </p:nvSpPr>
        <p:spPr>
          <a:xfrm>
            <a:off x="3496616" y="1755648"/>
            <a:ext cx="2719376" cy="54864"/>
          </a:xfrm>
          <a:prstGeom prst="rect">
            <a:avLst/>
          </a:prstGeom>
          <a:solidFill>
            <a:srgbClr val="DA291C"/>
          </a:solidFill>
          <a:ln w="12700">
            <a:solidFill>
              <a:srgbClr val="DA291C"/>
            </a:solidFill>
            <a:prstDash val="solid"/>
          </a:ln>
        </p:spPr>
      </p:sp>
      <p:sp>
        <p:nvSpPr>
          <p:cNvPr id="21" name="Text 17"/>
          <p:cNvSpPr/>
          <p:nvPr/>
        </p:nvSpPr>
        <p:spPr>
          <a:xfrm>
            <a:off x="3697784" y="1865376"/>
            <a:ext cx="914400" cy="594360"/>
          </a:xfrm>
          <a:prstGeom prst="rect">
            <a:avLst/>
          </a:prstGeom>
          <a:noFill/>
          <a:ln/>
        </p:spPr>
        <p:txBody>
          <a:bodyPr wrap="square" lIns="0" tIns="0" rIns="0" bIns="0" rtlCol="0" anchor="t"/>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2</a:t>
            </a:r>
            <a:endParaRPr lang="en-US" sz="3000" dirty="0"/>
          </a:p>
        </p:txBody>
      </p:sp>
      <p:sp>
        <p:nvSpPr>
          <p:cNvPr id="22" name="Text 18"/>
          <p:cNvSpPr/>
          <p:nvPr/>
        </p:nvSpPr>
        <p:spPr>
          <a:xfrm>
            <a:off x="3697784" y="2487168"/>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Apa kekuatan dan kelemahan kita, dihadapkan pada peluang dan ancaman?</a:t>
            </a:r>
            <a:endParaRPr lang="en-US" sz="1100" dirty="0"/>
          </a:p>
        </p:txBody>
      </p:sp>
      <p:sp>
        <p:nvSpPr>
          <p:cNvPr id="23" name="Text 19"/>
          <p:cNvSpPr/>
          <p:nvPr/>
        </p:nvSpPr>
        <p:spPr>
          <a:xfrm>
            <a:off x="3697784" y="3246120"/>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SWOT Analysis</a:t>
            </a:r>
            <a:endParaRPr lang="en-US" sz="850" dirty="0"/>
          </a:p>
        </p:txBody>
      </p:sp>
      <p:sp>
        <p:nvSpPr>
          <p:cNvPr id="24" name="Shape 20"/>
          <p:cNvSpPr/>
          <p:nvPr/>
        </p:nvSpPr>
        <p:spPr>
          <a:xfrm>
            <a:off x="6444592" y="1755648"/>
            <a:ext cx="2719376" cy="1874520"/>
          </a:xfrm>
          <a:prstGeom prst="rect">
            <a:avLst/>
          </a:prstGeom>
          <a:solidFill>
            <a:srgbClr val="2B0F11"/>
          </a:solidFill>
          <a:ln w="12700">
            <a:solidFill>
              <a:srgbClr val="2B0F11"/>
            </a:solidFill>
            <a:prstDash val="solid"/>
          </a:ln>
        </p:spPr>
      </p:sp>
      <p:sp>
        <p:nvSpPr>
          <p:cNvPr id="25" name="Shape 21"/>
          <p:cNvSpPr/>
          <p:nvPr/>
        </p:nvSpPr>
        <p:spPr>
          <a:xfrm>
            <a:off x="6444592" y="1755648"/>
            <a:ext cx="2719376" cy="54864"/>
          </a:xfrm>
          <a:prstGeom prst="rect">
            <a:avLst/>
          </a:prstGeom>
          <a:solidFill>
            <a:srgbClr val="DA291C"/>
          </a:solidFill>
          <a:ln w="12700">
            <a:solidFill>
              <a:srgbClr val="DA291C"/>
            </a:solidFill>
            <a:prstDash val="solid"/>
          </a:ln>
        </p:spPr>
      </p:sp>
      <p:sp>
        <p:nvSpPr>
          <p:cNvPr id="26" name="Text 22"/>
          <p:cNvSpPr/>
          <p:nvPr/>
        </p:nvSpPr>
        <p:spPr>
          <a:xfrm>
            <a:off x="6645760" y="1865376"/>
            <a:ext cx="914400" cy="594360"/>
          </a:xfrm>
          <a:prstGeom prst="rect">
            <a:avLst/>
          </a:prstGeom>
          <a:noFill/>
          <a:ln/>
        </p:spPr>
        <p:txBody>
          <a:bodyPr wrap="square" lIns="0" tIns="0" rIns="0" bIns="0" rtlCol="0" anchor="t"/>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3</a:t>
            </a:r>
            <a:endParaRPr lang="en-US" sz="3000" dirty="0"/>
          </a:p>
        </p:txBody>
      </p:sp>
      <p:sp>
        <p:nvSpPr>
          <p:cNvPr id="27" name="Text 23"/>
          <p:cNvSpPr/>
          <p:nvPr/>
        </p:nvSpPr>
        <p:spPr>
          <a:xfrm>
            <a:off x="6645760" y="2487168"/>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Resource dan capability apa yang paling penting, dan apakah tahan lama?</a:t>
            </a:r>
            <a:endParaRPr lang="en-US" sz="1100" dirty="0"/>
          </a:p>
        </p:txBody>
      </p:sp>
      <p:sp>
        <p:nvSpPr>
          <p:cNvPr id="28" name="Text 24"/>
          <p:cNvSpPr/>
          <p:nvPr/>
        </p:nvSpPr>
        <p:spPr>
          <a:xfrm>
            <a:off x="6645760" y="3246120"/>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Table 4.3 + VRIN Test</a:t>
            </a:r>
            <a:endParaRPr lang="en-US" sz="850" dirty="0"/>
          </a:p>
        </p:txBody>
      </p:sp>
      <p:sp>
        <p:nvSpPr>
          <p:cNvPr id="29" name="Shape 25"/>
          <p:cNvSpPr/>
          <p:nvPr/>
        </p:nvSpPr>
        <p:spPr>
          <a:xfrm>
            <a:off x="548640" y="3831336"/>
            <a:ext cx="2719376" cy="1874520"/>
          </a:xfrm>
          <a:prstGeom prst="rect">
            <a:avLst/>
          </a:prstGeom>
          <a:solidFill>
            <a:srgbClr val="2B0F11"/>
          </a:solidFill>
          <a:ln w="12700">
            <a:solidFill>
              <a:srgbClr val="2B0F11"/>
            </a:solidFill>
            <a:prstDash val="solid"/>
          </a:ln>
        </p:spPr>
      </p:sp>
      <p:sp>
        <p:nvSpPr>
          <p:cNvPr id="30" name="Shape 26"/>
          <p:cNvSpPr/>
          <p:nvPr/>
        </p:nvSpPr>
        <p:spPr>
          <a:xfrm>
            <a:off x="548640" y="3831336"/>
            <a:ext cx="2719376" cy="54864"/>
          </a:xfrm>
          <a:prstGeom prst="rect">
            <a:avLst/>
          </a:prstGeom>
          <a:solidFill>
            <a:srgbClr val="DA291C"/>
          </a:solidFill>
          <a:ln w="12700">
            <a:solidFill>
              <a:srgbClr val="DA291C"/>
            </a:solidFill>
            <a:prstDash val="solid"/>
          </a:ln>
        </p:spPr>
      </p:sp>
      <p:sp>
        <p:nvSpPr>
          <p:cNvPr id="31" name="Text 27"/>
          <p:cNvSpPr/>
          <p:nvPr/>
        </p:nvSpPr>
        <p:spPr>
          <a:xfrm>
            <a:off x="749808" y="3941064"/>
            <a:ext cx="914400" cy="594360"/>
          </a:xfrm>
          <a:prstGeom prst="rect">
            <a:avLst/>
          </a:prstGeom>
          <a:noFill/>
          <a:ln/>
        </p:spPr>
        <p:txBody>
          <a:bodyPr wrap="square" lIns="0" tIns="0" rIns="0" bIns="0" rtlCol="0" anchor="t"/>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4</a:t>
            </a:r>
            <a:endParaRPr lang="en-US" sz="3000" dirty="0"/>
          </a:p>
        </p:txBody>
      </p:sp>
      <p:sp>
        <p:nvSpPr>
          <p:cNvPr id="32" name="Text 28"/>
          <p:cNvSpPr/>
          <p:nvPr/>
        </p:nvSpPr>
        <p:spPr>
          <a:xfrm>
            <a:off x="749808" y="4562856"/>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Bagaimana aktivitas value chain memengaruhi biaya dan nilai pelanggan?</a:t>
            </a:r>
            <a:endParaRPr lang="en-US" sz="1100" dirty="0"/>
          </a:p>
        </p:txBody>
      </p:sp>
      <p:sp>
        <p:nvSpPr>
          <p:cNvPr id="33" name="Text 29"/>
          <p:cNvSpPr/>
          <p:nvPr/>
        </p:nvSpPr>
        <p:spPr>
          <a:xfrm>
            <a:off x="749808" y="5321808"/>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Value Chain + Benchmarking</a:t>
            </a:r>
            <a:endParaRPr lang="en-US" sz="850" dirty="0"/>
          </a:p>
        </p:txBody>
      </p:sp>
      <p:sp>
        <p:nvSpPr>
          <p:cNvPr id="34" name="Shape 30"/>
          <p:cNvSpPr/>
          <p:nvPr/>
        </p:nvSpPr>
        <p:spPr>
          <a:xfrm>
            <a:off x="3496616" y="3831336"/>
            <a:ext cx="2719376" cy="1874520"/>
          </a:xfrm>
          <a:prstGeom prst="rect">
            <a:avLst/>
          </a:prstGeom>
          <a:solidFill>
            <a:srgbClr val="2B0F11"/>
          </a:solidFill>
          <a:ln w="12700">
            <a:solidFill>
              <a:srgbClr val="2B0F11"/>
            </a:solidFill>
            <a:prstDash val="solid"/>
          </a:ln>
        </p:spPr>
      </p:sp>
      <p:sp>
        <p:nvSpPr>
          <p:cNvPr id="35" name="Shape 31"/>
          <p:cNvSpPr/>
          <p:nvPr/>
        </p:nvSpPr>
        <p:spPr>
          <a:xfrm>
            <a:off x="3496616" y="3831336"/>
            <a:ext cx="2719376" cy="54864"/>
          </a:xfrm>
          <a:prstGeom prst="rect">
            <a:avLst/>
          </a:prstGeom>
          <a:solidFill>
            <a:srgbClr val="DA291C"/>
          </a:solidFill>
          <a:ln w="12700">
            <a:solidFill>
              <a:srgbClr val="DA291C"/>
            </a:solidFill>
            <a:prstDash val="solid"/>
          </a:ln>
        </p:spPr>
      </p:sp>
      <p:sp>
        <p:nvSpPr>
          <p:cNvPr id="36" name="Text 32"/>
          <p:cNvSpPr/>
          <p:nvPr/>
        </p:nvSpPr>
        <p:spPr>
          <a:xfrm>
            <a:off x="3697784" y="3941064"/>
            <a:ext cx="914400" cy="594360"/>
          </a:xfrm>
          <a:prstGeom prst="rect">
            <a:avLst/>
          </a:prstGeom>
          <a:noFill/>
          <a:ln/>
        </p:spPr>
        <p:txBody>
          <a:bodyPr wrap="square" lIns="0" tIns="0" rIns="0" bIns="0" rtlCol="0" anchor="t"/>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5</a:t>
            </a:r>
            <a:endParaRPr lang="en-US" sz="3000" dirty="0"/>
          </a:p>
        </p:txBody>
      </p:sp>
      <p:sp>
        <p:nvSpPr>
          <p:cNvPr id="37" name="Text 33"/>
          <p:cNvSpPr/>
          <p:nvPr/>
        </p:nvSpPr>
        <p:spPr>
          <a:xfrm>
            <a:off x="3697784" y="4562856"/>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Kita lebih kuat atau lebih lemah dari pesaing utama?</a:t>
            </a:r>
            <a:endParaRPr lang="en-US" sz="1100" dirty="0"/>
          </a:p>
        </p:txBody>
      </p:sp>
      <p:sp>
        <p:nvSpPr>
          <p:cNvPr id="38" name="Text 34"/>
          <p:cNvSpPr/>
          <p:nvPr/>
        </p:nvSpPr>
        <p:spPr>
          <a:xfrm>
            <a:off x="3697784" y="5321808"/>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Competitive Strength Assessment (Table 4.4)</a:t>
            </a:r>
            <a:endParaRPr lang="en-US" sz="850" dirty="0"/>
          </a:p>
        </p:txBody>
      </p:sp>
      <p:sp>
        <p:nvSpPr>
          <p:cNvPr id="39" name="Shape 35"/>
          <p:cNvSpPr/>
          <p:nvPr/>
        </p:nvSpPr>
        <p:spPr>
          <a:xfrm>
            <a:off x="6444592" y="3831336"/>
            <a:ext cx="2719376" cy="1874520"/>
          </a:xfrm>
          <a:prstGeom prst="rect">
            <a:avLst/>
          </a:prstGeom>
          <a:solidFill>
            <a:srgbClr val="2B0F11"/>
          </a:solidFill>
          <a:ln w="12700">
            <a:solidFill>
              <a:srgbClr val="2B0F11"/>
            </a:solidFill>
            <a:prstDash val="solid"/>
          </a:ln>
        </p:spPr>
      </p:sp>
      <p:sp>
        <p:nvSpPr>
          <p:cNvPr id="40" name="Shape 36"/>
          <p:cNvSpPr/>
          <p:nvPr/>
        </p:nvSpPr>
        <p:spPr>
          <a:xfrm>
            <a:off x="6444592" y="3831336"/>
            <a:ext cx="2719376" cy="54864"/>
          </a:xfrm>
          <a:prstGeom prst="rect">
            <a:avLst/>
          </a:prstGeom>
          <a:solidFill>
            <a:srgbClr val="FBE122"/>
          </a:solidFill>
          <a:ln w="12700">
            <a:solidFill>
              <a:srgbClr val="FBE122"/>
            </a:solidFill>
            <a:prstDash val="solid"/>
          </a:ln>
        </p:spPr>
      </p:sp>
      <p:sp>
        <p:nvSpPr>
          <p:cNvPr id="41" name="Text 37"/>
          <p:cNvSpPr/>
          <p:nvPr/>
        </p:nvSpPr>
        <p:spPr>
          <a:xfrm>
            <a:off x="6645760" y="3941064"/>
            <a:ext cx="914400" cy="594360"/>
          </a:xfrm>
          <a:prstGeom prst="rect">
            <a:avLst/>
          </a:prstGeom>
          <a:noFill/>
          <a:ln/>
        </p:spPr>
        <p:txBody>
          <a:bodyPr wrap="square" lIns="0" tIns="0" rIns="0" bIns="0" rtlCol="0" anchor="t"/>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6</a:t>
            </a:r>
            <a:endParaRPr lang="en-US" sz="3000" dirty="0"/>
          </a:p>
        </p:txBody>
      </p:sp>
      <p:sp>
        <p:nvSpPr>
          <p:cNvPr id="42" name="Text 38"/>
          <p:cNvSpPr/>
          <p:nvPr/>
        </p:nvSpPr>
        <p:spPr>
          <a:xfrm>
            <a:off x="6645760" y="4562856"/>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Isu strategis apa yang harus ditangani lebih dulu?</a:t>
            </a:r>
            <a:endParaRPr lang="en-US" sz="1100" dirty="0"/>
          </a:p>
        </p:txBody>
      </p:sp>
      <p:sp>
        <p:nvSpPr>
          <p:cNvPr id="43" name="Text 39"/>
          <p:cNvSpPr/>
          <p:nvPr/>
        </p:nvSpPr>
        <p:spPr>
          <a:xfrm>
            <a:off x="6645760" y="5321808"/>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Priority List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1</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04</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KENALI DULU STRATEGI YANG SEDANG DIJALANKAN</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Sebelum menilai kinerja, pahami dulu komponen strategi perusahaan seperti dipetakan pada Figure 4.1.</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(2024), Figure 4.1, hlm. 90.</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04</a:t>
            </a:r>
            <a:endParaRPr lang="en-US" sz="900" dirty="0"/>
          </a:p>
        </p:txBody>
      </p:sp>
      <p:sp>
        <p:nvSpPr>
          <p:cNvPr id="13" name="Shape 10"/>
          <p:cNvSpPr/>
          <p:nvPr/>
        </p:nvSpPr>
        <p:spPr>
          <a:xfrm>
            <a:off x="548640" y="1755648"/>
            <a:ext cx="6263640" cy="4681472"/>
          </a:xfrm>
          <a:prstGeom prst="rect">
            <a:avLst/>
          </a:prstGeom>
          <a:solidFill>
            <a:srgbClr val="FFFFFF"/>
          </a:solidFill>
          <a:ln w="12700">
            <a:solidFill>
              <a:srgbClr val="FFFFFF"/>
            </a:solidFill>
            <a:prstDash val="solid"/>
          </a:ln>
        </p:spPr>
      </p:sp>
      <p:pic>
        <p:nvPicPr>
          <p:cNvPr id="14" name="Image 0" descr="fig4_1.png">    </p:cNvPr>
          <p:cNvPicPr>
            <a:picLocks noChangeAspect="1"/>
          </p:cNvPicPr>
          <p:nvPr/>
        </p:nvPicPr>
        <p:blipFill>
          <a:blip r:embed="rId1"/>
          <a:stretch>
            <a:fillRect/>
          </a:stretch>
        </p:blipFill>
        <p:spPr>
          <a:xfrm>
            <a:off x="685800" y="1892808"/>
            <a:ext cx="5989320" cy="4407152"/>
          </a:xfrm>
          <a:prstGeom prst="rect">
            <a:avLst/>
          </a:prstGeom>
        </p:spPr>
      </p:pic>
      <p:sp>
        <p:nvSpPr>
          <p:cNvPr id="15" name="Shape 11"/>
          <p:cNvSpPr/>
          <p:nvPr/>
        </p:nvSpPr>
        <p:spPr>
          <a:xfrm>
            <a:off x="7086600" y="1755648"/>
            <a:ext cx="4526280" cy="1325880"/>
          </a:xfrm>
          <a:prstGeom prst="rect">
            <a:avLst/>
          </a:prstGeom>
          <a:solidFill>
            <a:srgbClr val="0E0505"/>
          </a:solidFill>
          <a:ln w="12700">
            <a:solidFill>
              <a:srgbClr val="0E0505"/>
            </a:solidFill>
            <a:prstDash val="solid"/>
          </a:ln>
        </p:spPr>
      </p:sp>
      <p:sp>
        <p:nvSpPr>
          <p:cNvPr id="16" name="Shape 12"/>
          <p:cNvSpPr/>
          <p:nvPr/>
        </p:nvSpPr>
        <p:spPr>
          <a:xfrm>
            <a:off x="7086600" y="1755648"/>
            <a:ext cx="54864" cy="1325880"/>
          </a:xfrm>
          <a:prstGeom prst="rect">
            <a:avLst/>
          </a:prstGeom>
          <a:solidFill>
            <a:srgbClr val="DA291C"/>
          </a:solidFill>
          <a:ln w="12700">
            <a:solidFill>
              <a:srgbClr val="DA291C"/>
            </a:solidFill>
            <a:prstDash val="solid"/>
          </a:ln>
        </p:spPr>
      </p:sp>
      <p:sp>
        <p:nvSpPr>
          <p:cNvPr id="17" name="Text 13"/>
          <p:cNvSpPr/>
          <p:nvPr/>
        </p:nvSpPr>
        <p:spPr>
          <a:xfrm>
            <a:off x="7306056" y="1901952"/>
            <a:ext cx="4160520" cy="228600"/>
          </a:xfrm>
          <a:prstGeom prst="rect">
            <a:avLst/>
          </a:prstGeom>
          <a:noFill/>
          <a:ln/>
        </p:spPr>
        <p:txBody>
          <a:bodyPr wrap="square" lIns="0" tIns="0" rIns="0" bIns="0" rtlCol="0" anchor="t"/>
          <a:lstStyle/>
          <a:p>
            <a:pPr indent="0" marL="0">
              <a:buNone/>
            </a:pPr>
            <a:r>
              <a:rPr lang="en-US" sz="800" spc="150" kern="0" dirty="0">
                <a:solidFill>
                  <a:srgbClr val="DA291C"/>
                </a:solidFill>
                <a:latin typeface="Poppins SemiBold" pitchFamily="34" charset="0"/>
                <a:ea typeface="Poppins SemiBold" pitchFamily="34" charset="-122"/>
                <a:cs typeface="Poppins SemiBold" pitchFamily="34" charset="-120"/>
              </a:rPr>
              <a:t>CONTOH: AIRASIA</a:t>
            </a:r>
            <a:endParaRPr lang="en-US" sz="800" dirty="0"/>
          </a:p>
        </p:txBody>
      </p:sp>
      <p:sp>
        <p:nvSpPr>
          <p:cNvPr id="18" name="Text 14"/>
          <p:cNvSpPr/>
          <p:nvPr/>
        </p:nvSpPr>
        <p:spPr>
          <a:xfrm>
            <a:off x="7306056" y="2148840"/>
            <a:ext cx="4160520" cy="82296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pitchFamily="34" charset="0"/>
                <a:ea typeface="Poppins" pitchFamily="34" charset="-122"/>
                <a:cs typeface="Poppins" pitchFamily="34" charset="-120"/>
              </a:rPr>
              <a:t>Strategi biaya rendah terlihat konsisten di setiap fungsi: satu tipe pesawat (keluarga A320) di operasi dan penjualan tiket langsung secara online di pemasaran.</a:t>
            </a:r>
            <a:endParaRPr lang="en-US" sz="1000" dirty="0"/>
          </a:p>
        </p:txBody>
      </p:sp>
      <p:sp>
        <p:nvSpPr>
          <p:cNvPr id="19" name="Shape 15"/>
          <p:cNvSpPr/>
          <p:nvPr/>
        </p:nvSpPr>
        <p:spPr>
          <a:xfrm>
            <a:off x="7086600" y="3264408"/>
            <a:ext cx="4526280" cy="1508760"/>
          </a:xfrm>
          <a:prstGeom prst="rect">
            <a:avLst/>
          </a:prstGeom>
          <a:solidFill>
            <a:srgbClr val="2B0F11"/>
          </a:solidFill>
          <a:ln w="12700">
            <a:solidFill>
              <a:srgbClr val="2B0F11"/>
            </a:solidFill>
            <a:prstDash val="solid"/>
          </a:ln>
        </p:spPr>
      </p:sp>
      <p:sp>
        <p:nvSpPr>
          <p:cNvPr id="20" name="Shape 16"/>
          <p:cNvSpPr/>
          <p:nvPr/>
        </p:nvSpPr>
        <p:spPr>
          <a:xfrm>
            <a:off x="7086600" y="3264408"/>
            <a:ext cx="54864" cy="1508760"/>
          </a:xfrm>
          <a:prstGeom prst="rect">
            <a:avLst/>
          </a:prstGeom>
          <a:solidFill>
            <a:srgbClr val="DA291C"/>
          </a:solidFill>
          <a:ln w="12700">
            <a:solidFill>
              <a:srgbClr val="DA291C"/>
            </a:solidFill>
            <a:prstDash val="solid"/>
          </a:ln>
        </p:spPr>
      </p:sp>
      <p:sp>
        <p:nvSpPr>
          <p:cNvPr id="21" name="Text 17"/>
          <p:cNvSpPr/>
          <p:nvPr/>
        </p:nvSpPr>
        <p:spPr>
          <a:xfrm>
            <a:off x="7306056" y="3410712"/>
            <a:ext cx="416052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Setelah strategi dikenali</a:t>
            </a:r>
            <a:endParaRPr lang="en-US" sz="1200" dirty="0"/>
          </a:p>
        </p:txBody>
      </p:sp>
      <p:sp>
        <p:nvSpPr>
          <p:cNvPr id="22" name="Text 18"/>
          <p:cNvSpPr/>
          <p:nvPr/>
        </p:nvSpPr>
        <p:spPr>
          <a:xfrm>
            <a:off x="7306056" y="3739896"/>
            <a:ext cx="4160520" cy="923544"/>
          </a:xfrm>
          <a:prstGeom prst="rect">
            <a:avLst/>
          </a:prstGeom>
          <a:noFill/>
          <a:ln/>
        </p:spPr>
        <p:txBody>
          <a:bodyPr wrap="square" lIns="0" tIns="0" rIns="0" bIns="0" rtlCol="0" anchor="t"/>
          <a:lstStyle/>
          <a:p>
            <a:pPr indent="0" marL="0">
              <a:lnSpc>
                <a:spcPct val="108000"/>
              </a:lnSpc>
              <a:buNone/>
            </a:pPr>
            <a:r>
              <a:rPr lang="en-US" sz="1000" dirty="0">
                <a:solidFill>
                  <a:srgbClr val="E9DDD8"/>
                </a:solidFill>
                <a:latin typeface="Poppins" pitchFamily="34" charset="0"/>
                <a:ea typeface="Poppins" pitchFamily="34" charset="-122"/>
                <a:cs typeface="Poppins" pitchFamily="34" charset="-120"/>
              </a:rPr>
              <a:t>Kinerjanya diukur lewat tren penjualan dan laba, harga saham, kekuatan keuangan, retensi pelanggan, pelanggan baru, dan perbaikan proses internal.</a:t>
            </a:r>
            <a:endParaRPr lang="en-US" sz="1000" dirty="0"/>
          </a:p>
        </p:txBody>
      </p:sp>
      <p:sp>
        <p:nvSpPr>
          <p:cNvPr id="23" name="Shape 19"/>
          <p:cNvSpPr/>
          <p:nvPr/>
        </p:nvSpPr>
        <p:spPr>
          <a:xfrm>
            <a:off x="7086600" y="4956048"/>
            <a:ext cx="4526280" cy="1188720"/>
          </a:xfrm>
          <a:prstGeom prst="rect">
            <a:avLst/>
          </a:prstGeom>
          <a:solidFill>
            <a:srgbClr val="DA291C"/>
          </a:solidFill>
          <a:ln w="12700">
            <a:solidFill>
              <a:srgbClr val="DA291C"/>
            </a:solidFill>
            <a:prstDash val="solid"/>
          </a:ln>
        </p:spPr>
      </p:sp>
      <p:sp>
        <p:nvSpPr>
          <p:cNvPr id="24" name="Text 20"/>
          <p:cNvSpPr/>
          <p:nvPr/>
        </p:nvSpPr>
        <p:spPr>
          <a:xfrm>
            <a:off x="7315200" y="5084064"/>
            <a:ext cx="406908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CARA PAKAI</a:t>
            </a:r>
            <a:endParaRPr lang="en-US" sz="800" dirty="0"/>
          </a:p>
        </p:txBody>
      </p:sp>
      <p:sp>
        <p:nvSpPr>
          <p:cNvPr id="25" name="Text 21"/>
          <p:cNvSpPr/>
          <p:nvPr/>
        </p:nvSpPr>
        <p:spPr>
          <a:xfrm>
            <a:off x="7315200" y="5321808"/>
            <a:ext cx="4069080" cy="7315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Isi setiap kotak dengan tindakan nyata perusahaan, lalu periksa apakah semuanya saling mendukung.</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1  ·  TABLE 4.1</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05</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FINANCIAL RATIOS: ALAT UKURNYA</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Penilaian tadi perlu bukti angka. Buku mengelompokkan rasio ke dalam empat kategori, plus satu kelompok ukuran tambahan.</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05</a:t>
            </a:r>
            <a:endParaRPr lang="en-US" sz="900" dirty="0"/>
          </a:p>
        </p:txBody>
      </p:sp>
      <p:sp>
        <p:nvSpPr>
          <p:cNvPr id="13" name="Shape 10"/>
          <p:cNvSpPr/>
          <p:nvPr/>
        </p:nvSpPr>
        <p:spPr>
          <a:xfrm>
            <a:off x="548640" y="1755648"/>
            <a:ext cx="2602154" cy="3017520"/>
          </a:xfrm>
          <a:prstGeom prst="rect">
            <a:avLst/>
          </a:prstGeom>
          <a:solidFill>
            <a:srgbClr val="2B0F11"/>
          </a:solidFill>
          <a:ln w="12700">
            <a:solidFill>
              <a:srgbClr val="2B0F11"/>
            </a:solidFill>
            <a:prstDash val="solid"/>
          </a:ln>
        </p:spPr>
      </p:sp>
      <p:sp>
        <p:nvSpPr>
          <p:cNvPr id="14" name="Shape 11"/>
          <p:cNvSpPr/>
          <p:nvPr/>
        </p:nvSpPr>
        <p:spPr>
          <a:xfrm>
            <a:off x="548640" y="1755648"/>
            <a:ext cx="2602154" cy="54864"/>
          </a:xfrm>
          <a:prstGeom prst="rect">
            <a:avLst/>
          </a:prstGeom>
          <a:solidFill>
            <a:srgbClr val="DA291C"/>
          </a:solidFill>
          <a:ln w="12700">
            <a:solidFill>
              <a:srgbClr val="DA291C"/>
            </a:solidFill>
            <a:prstDash val="solid"/>
          </a:ln>
        </p:spPr>
      </p:sp>
      <p:sp>
        <p:nvSpPr>
          <p:cNvPr id="15" name="Text 12"/>
          <p:cNvSpPr/>
          <p:nvPr/>
        </p:nvSpPr>
        <p:spPr>
          <a:xfrm>
            <a:off x="749808"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Profitability</a:t>
            </a:r>
            <a:endParaRPr lang="en-US" sz="1500" dirty="0"/>
          </a:p>
        </p:txBody>
      </p:sp>
      <p:sp>
        <p:nvSpPr>
          <p:cNvPr id="16" name="Text 13"/>
          <p:cNvSpPr/>
          <p:nvPr/>
        </p:nvSpPr>
        <p:spPr>
          <a:xfrm>
            <a:off x="749808"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Seberapa besar laba yang dihasilkan</a:t>
            </a:r>
            <a:endParaRPr lang="en-US" sz="900" dirty="0"/>
          </a:p>
        </p:txBody>
      </p:sp>
      <p:sp>
        <p:nvSpPr>
          <p:cNvPr id="17" name="Shape 14"/>
          <p:cNvSpPr/>
          <p:nvPr/>
        </p:nvSpPr>
        <p:spPr>
          <a:xfrm>
            <a:off x="749808" y="2743200"/>
            <a:ext cx="2199818" cy="9144"/>
          </a:xfrm>
          <a:prstGeom prst="rect">
            <a:avLst/>
          </a:prstGeom>
          <a:solidFill>
            <a:srgbClr val="4C2226"/>
          </a:solidFill>
          <a:ln w="12700">
            <a:solidFill>
              <a:srgbClr val="4C2226"/>
            </a:solidFill>
            <a:prstDash val="solid"/>
          </a:ln>
        </p:spPr>
      </p:sp>
      <p:sp>
        <p:nvSpPr>
          <p:cNvPr id="18" name="Text 15"/>
          <p:cNvSpPr/>
          <p:nvPr/>
        </p:nvSpPr>
        <p:spPr>
          <a:xfrm>
            <a:off x="749808"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Gross profit margin</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Operating profit margin</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Net profit margin</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Total return on assets</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Net return on assets (ROA)</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Return on equity (ROE)</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Return on invested capital</a:t>
            </a:r>
            <a:endParaRPr lang="en-US" sz="1000" dirty="0"/>
          </a:p>
        </p:txBody>
      </p:sp>
      <p:sp>
        <p:nvSpPr>
          <p:cNvPr id="19" name="Shape 16"/>
          <p:cNvSpPr/>
          <p:nvPr/>
        </p:nvSpPr>
        <p:spPr>
          <a:xfrm>
            <a:off x="3379394" y="1755648"/>
            <a:ext cx="2602154" cy="3017520"/>
          </a:xfrm>
          <a:prstGeom prst="rect">
            <a:avLst/>
          </a:prstGeom>
          <a:solidFill>
            <a:srgbClr val="2B0F11"/>
          </a:solidFill>
          <a:ln w="12700">
            <a:solidFill>
              <a:srgbClr val="2B0F11"/>
            </a:solidFill>
            <a:prstDash val="solid"/>
          </a:ln>
        </p:spPr>
      </p:sp>
      <p:sp>
        <p:nvSpPr>
          <p:cNvPr id="20" name="Shape 17"/>
          <p:cNvSpPr/>
          <p:nvPr/>
        </p:nvSpPr>
        <p:spPr>
          <a:xfrm>
            <a:off x="3379394" y="1755648"/>
            <a:ext cx="2602154" cy="54864"/>
          </a:xfrm>
          <a:prstGeom prst="rect">
            <a:avLst/>
          </a:prstGeom>
          <a:solidFill>
            <a:srgbClr val="DA291C"/>
          </a:solidFill>
          <a:ln w="12700">
            <a:solidFill>
              <a:srgbClr val="DA291C"/>
            </a:solidFill>
            <a:prstDash val="solid"/>
          </a:ln>
        </p:spPr>
      </p:sp>
      <p:sp>
        <p:nvSpPr>
          <p:cNvPr id="21" name="Text 18"/>
          <p:cNvSpPr/>
          <p:nvPr/>
        </p:nvSpPr>
        <p:spPr>
          <a:xfrm>
            <a:off x="3580562"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Liquidity</a:t>
            </a:r>
            <a:endParaRPr lang="en-US" sz="1500" dirty="0"/>
          </a:p>
        </p:txBody>
      </p:sp>
      <p:sp>
        <p:nvSpPr>
          <p:cNvPr id="22" name="Text 19"/>
          <p:cNvSpPr/>
          <p:nvPr/>
        </p:nvSpPr>
        <p:spPr>
          <a:xfrm>
            <a:off x="3580562"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Sanggup bayar kewajiban jangka pendek?</a:t>
            </a:r>
            <a:endParaRPr lang="en-US" sz="900" dirty="0"/>
          </a:p>
        </p:txBody>
      </p:sp>
      <p:sp>
        <p:nvSpPr>
          <p:cNvPr id="23" name="Shape 20"/>
          <p:cNvSpPr/>
          <p:nvPr/>
        </p:nvSpPr>
        <p:spPr>
          <a:xfrm>
            <a:off x="3580562" y="2743200"/>
            <a:ext cx="2199818" cy="9144"/>
          </a:xfrm>
          <a:prstGeom prst="rect">
            <a:avLst/>
          </a:prstGeom>
          <a:solidFill>
            <a:srgbClr val="4C2226"/>
          </a:solidFill>
          <a:ln w="12700">
            <a:solidFill>
              <a:srgbClr val="4C2226"/>
            </a:solidFill>
            <a:prstDash val="solid"/>
          </a:ln>
        </p:spPr>
      </p:sp>
      <p:sp>
        <p:nvSpPr>
          <p:cNvPr id="24" name="Text 21"/>
          <p:cNvSpPr/>
          <p:nvPr/>
        </p:nvSpPr>
        <p:spPr>
          <a:xfrm>
            <a:off x="3580562"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Current ratio</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Working capital</a:t>
            </a:r>
            <a:endParaRPr lang="en-US" sz="1000" dirty="0"/>
          </a:p>
        </p:txBody>
      </p:sp>
      <p:sp>
        <p:nvSpPr>
          <p:cNvPr id="25" name="Shape 22"/>
          <p:cNvSpPr/>
          <p:nvPr/>
        </p:nvSpPr>
        <p:spPr>
          <a:xfrm>
            <a:off x="6210148" y="1755648"/>
            <a:ext cx="2602154" cy="3017520"/>
          </a:xfrm>
          <a:prstGeom prst="rect">
            <a:avLst/>
          </a:prstGeom>
          <a:solidFill>
            <a:srgbClr val="2B0F11"/>
          </a:solidFill>
          <a:ln w="12700">
            <a:solidFill>
              <a:srgbClr val="2B0F11"/>
            </a:solidFill>
            <a:prstDash val="solid"/>
          </a:ln>
        </p:spPr>
      </p:sp>
      <p:sp>
        <p:nvSpPr>
          <p:cNvPr id="26" name="Shape 23"/>
          <p:cNvSpPr/>
          <p:nvPr/>
        </p:nvSpPr>
        <p:spPr>
          <a:xfrm>
            <a:off x="6210148" y="1755648"/>
            <a:ext cx="2602154" cy="54864"/>
          </a:xfrm>
          <a:prstGeom prst="rect">
            <a:avLst/>
          </a:prstGeom>
          <a:solidFill>
            <a:srgbClr val="DA291C"/>
          </a:solidFill>
          <a:ln w="12700">
            <a:solidFill>
              <a:srgbClr val="DA291C"/>
            </a:solidFill>
            <a:prstDash val="solid"/>
          </a:ln>
        </p:spPr>
      </p:sp>
      <p:sp>
        <p:nvSpPr>
          <p:cNvPr id="27" name="Text 24"/>
          <p:cNvSpPr/>
          <p:nvPr/>
        </p:nvSpPr>
        <p:spPr>
          <a:xfrm>
            <a:off x="6411316"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Leverage</a:t>
            </a:r>
            <a:endParaRPr lang="en-US" sz="1500" dirty="0"/>
          </a:p>
        </p:txBody>
      </p:sp>
      <p:sp>
        <p:nvSpPr>
          <p:cNvPr id="28" name="Text 25"/>
          <p:cNvSpPr/>
          <p:nvPr/>
        </p:nvSpPr>
        <p:spPr>
          <a:xfrm>
            <a:off x="6411316"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Seberapa berat beban utangnya</a:t>
            </a:r>
            <a:endParaRPr lang="en-US" sz="900" dirty="0"/>
          </a:p>
        </p:txBody>
      </p:sp>
      <p:sp>
        <p:nvSpPr>
          <p:cNvPr id="29" name="Shape 26"/>
          <p:cNvSpPr/>
          <p:nvPr/>
        </p:nvSpPr>
        <p:spPr>
          <a:xfrm>
            <a:off x="6411316" y="2743200"/>
            <a:ext cx="2199818" cy="9144"/>
          </a:xfrm>
          <a:prstGeom prst="rect">
            <a:avLst/>
          </a:prstGeom>
          <a:solidFill>
            <a:srgbClr val="4C2226"/>
          </a:solidFill>
          <a:ln w="12700">
            <a:solidFill>
              <a:srgbClr val="4C2226"/>
            </a:solidFill>
            <a:prstDash val="solid"/>
          </a:ln>
        </p:spPr>
      </p:sp>
      <p:sp>
        <p:nvSpPr>
          <p:cNvPr id="30" name="Text 27"/>
          <p:cNvSpPr/>
          <p:nvPr/>
        </p:nvSpPr>
        <p:spPr>
          <a:xfrm>
            <a:off x="6411316"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Total debt-to-assets</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Long-term debt-to-capital</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Debt-to-equity</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Long-term debt-to-equity</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Times-interest-earned</a:t>
            </a:r>
            <a:endParaRPr lang="en-US" sz="1000" dirty="0"/>
          </a:p>
        </p:txBody>
      </p:sp>
      <p:sp>
        <p:nvSpPr>
          <p:cNvPr id="31" name="Shape 28"/>
          <p:cNvSpPr/>
          <p:nvPr/>
        </p:nvSpPr>
        <p:spPr>
          <a:xfrm>
            <a:off x="9040901" y="1755648"/>
            <a:ext cx="2602154" cy="3017520"/>
          </a:xfrm>
          <a:prstGeom prst="rect">
            <a:avLst/>
          </a:prstGeom>
          <a:solidFill>
            <a:srgbClr val="2B0F11"/>
          </a:solidFill>
          <a:ln w="12700">
            <a:solidFill>
              <a:srgbClr val="2B0F11"/>
            </a:solidFill>
            <a:prstDash val="solid"/>
          </a:ln>
        </p:spPr>
      </p:sp>
      <p:sp>
        <p:nvSpPr>
          <p:cNvPr id="32" name="Shape 29"/>
          <p:cNvSpPr/>
          <p:nvPr/>
        </p:nvSpPr>
        <p:spPr>
          <a:xfrm>
            <a:off x="9040901" y="1755648"/>
            <a:ext cx="2602154" cy="54864"/>
          </a:xfrm>
          <a:prstGeom prst="rect">
            <a:avLst/>
          </a:prstGeom>
          <a:solidFill>
            <a:srgbClr val="DA291C"/>
          </a:solidFill>
          <a:ln w="12700">
            <a:solidFill>
              <a:srgbClr val="DA291C"/>
            </a:solidFill>
            <a:prstDash val="solid"/>
          </a:ln>
        </p:spPr>
      </p:sp>
      <p:sp>
        <p:nvSpPr>
          <p:cNvPr id="33" name="Text 30"/>
          <p:cNvSpPr/>
          <p:nvPr/>
        </p:nvSpPr>
        <p:spPr>
          <a:xfrm>
            <a:off x="9242069"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Activity</a:t>
            </a:r>
            <a:endParaRPr lang="en-US" sz="1500" dirty="0"/>
          </a:p>
        </p:txBody>
      </p:sp>
      <p:sp>
        <p:nvSpPr>
          <p:cNvPr id="34" name="Text 31"/>
          <p:cNvSpPr/>
          <p:nvPr/>
        </p:nvSpPr>
        <p:spPr>
          <a:xfrm>
            <a:off x="9242069"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Seberapa efisien aset dikelola</a:t>
            </a:r>
            <a:endParaRPr lang="en-US" sz="900" dirty="0"/>
          </a:p>
        </p:txBody>
      </p:sp>
      <p:sp>
        <p:nvSpPr>
          <p:cNvPr id="35" name="Shape 32"/>
          <p:cNvSpPr/>
          <p:nvPr/>
        </p:nvSpPr>
        <p:spPr>
          <a:xfrm>
            <a:off x="9242069" y="2743200"/>
            <a:ext cx="2199818" cy="9144"/>
          </a:xfrm>
          <a:prstGeom prst="rect">
            <a:avLst/>
          </a:prstGeom>
          <a:solidFill>
            <a:srgbClr val="4C2226"/>
          </a:solidFill>
          <a:ln w="12700">
            <a:solidFill>
              <a:srgbClr val="4C2226"/>
            </a:solidFill>
            <a:prstDash val="solid"/>
          </a:ln>
        </p:spPr>
      </p:sp>
      <p:sp>
        <p:nvSpPr>
          <p:cNvPr id="36" name="Text 33"/>
          <p:cNvSpPr/>
          <p:nvPr/>
        </p:nvSpPr>
        <p:spPr>
          <a:xfrm>
            <a:off x="9242069"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Days of inventory</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Inventory turnover</a:t>
            </a:r>
            <a:endParaRPr lang="en-US" sz="1000" dirty="0"/>
          </a:p>
          <a:p>
            <a:pPr marL="152400" indent="-152400">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Average collection period</a:t>
            </a:r>
            <a:endParaRPr lang="en-US" sz="1000" dirty="0"/>
          </a:p>
        </p:txBody>
      </p:sp>
      <p:sp>
        <p:nvSpPr>
          <p:cNvPr id="37" name="Shape 34"/>
          <p:cNvSpPr/>
          <p:nvPr/>
        </p:nvSpPr>
        <p:spPr>
          <a:xfrm>
            <a:off x="548640" y="4956048"/>
            <a:ext cx="11094415" cy="868680"/>
          </a:xfrm>
          <a:prstGeom prst="rect">
            <a:avLst/>
          </a:prstGeom>
          <a:solidFill>
            <a:srgbClr val="381418"/>
          </a:solidFill>
          <a:ln w="12700">
            <a:solidFill>
              <a:srgbClr val="381418"/>
            </a:solidFill>
            <a:prstDash val="solid"/>
          </a:ln>
        </p:spPr>
      </p:sp>
      <p:sp>
        <p:nvSpPr>
          <p:cNvPr id="38" name="Text 35"/>
          <p:cNvSpPr/>
          <p:nvPr/>
        </p:nvSpPr>
        <p:spPr>
          <a:xfrm>
            <a:off x="777240" y="50840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UKURAN TAMBAHAN</a:t>
            </a:r>
            <a:endParaRPr lang="en-US" sz="800" dirty="0"/>
          </a:p>
        </p:txBody>
      </p:sp>
      <p:sp>
        <p:nvSpPr>
          <p:cNvPr id="39" name="Text 36"/>
          <p:cNvSpPr/>
          <p:nvPr/>
        </p:nvSpPr>
        <p:spPr>
          <a:xfrm>
            <a:off x="777240" y="5321808"/>
            <a:ext cx="10637215"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Dividend yield, price-to-earnings ratio, dividend payout ratio, internal cash flow, dan free cash flow. Free cash flow paling penting, karena menunjukkan sisa kas untuk membiayai langkah strategis baru.</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2</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06</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SWOT ANALYSIS: KENAPA STRATEGI BERHASIL ATAU GAGAL</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Q1 memberi tahu apakah strategi bekerja, tapi tidak kenapa. SWOT adalah alat paling sederhana untuk mencari sebabnya.</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06</a:t>
            </a:r>
            <a:endParaRPr lang="en-US" sz="900" dirty="0"/>
          </a:p>
        </p:txBody>
      </p:sp>
      <p:sp>
        <p:nvSpPr>
          <p:cNvPr id="13" name="Shape 10"/>
          <p:cNvSpPr/>
          <p:nvPr/>
        </p:nvSpPr>
        <p:spPr>
          <a:xfrm>
            <a:off x="548640" y="1755648"/>
            <a:ext cx="2834640" cy="1481328"/>
          </a:xfrm>
          <a:prstGeom prst="rect">
            <a:avLst/>
          </a:prstGeom>
          <a:solidFill>
            <a:srgbClr val="DA291C"/>
          </a:solidFill>
          <a:ln w="12700">
            <a:solidFill>
              <a:srgbClr val="DA291C"/>
            </a:solidFill>
            <a:prstDash val="solid"/>
          </a:ln>
        </p:spPr>
      </p:sp>
      <p:sp>
        <p:nvSpPr>
          <p:cNvPr id="14" name="Text 11"/>
          <p:cNvSpPr/>
          <p:nvPr/>
        </p:nvSpPr>
        <p:spPr>
          <a:xfrm>
            <a:off x="749808" y="1847088"/>
            <a:ext cx="822960" cy="822960"/>
          </a:xfrm>
          <a:prstGeom prst="rect">
            <a:avLst/>
          </a:prstGeom>
          <a:noFill/>
          <a:ln/>
        </p:spPr>
        <p:txBody>
          <a:bodyPr wrap="square" lIns="0" tIns="0" rIns="0" bIns="0" rtlCol="0" anchor="t"/>
          <a:lstStyle/>
          <a:p>
            <a:pPr indent="0" marL="0">
              <a:buNone/>
            </a:pPr>
            <a:r>
              <a:rPr lang="en-US" sz="4000" dirty="0">
                <a:solidFill>
                  <a:srgbClr val="FBE122"/>
                </a:solidFill>
                <a:latin typeface="Poppins ExtraBold" pitchFamily="34" charset="0"/>
                <a:ea typeface="Poppins ExtraBold" pitchFamily="34" charset="-122"/>
                <a:cs typeface="Poppins ExtraBold" pitchFamily="34" charset="-120"/>
              </a:rPr>
              <a:t>S</a:t>
            </a:r>
            <a:endParaRPr lang="en-US" sz="4000" dirty="0"/>
          </a:p>
        </p:txBody>
      </p:sp>
      <p:sp>
        <p:nvSpPr>
          <p:cNvPr id="15" name="Text 12"/>
          <p:cNvSpPr/>
          <p:nvPr/>
        </p:nvSpPr>
        <p:spPr>
          <a:xfrm>
            <a:off x="1554480" y="1984248"/>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Strengths</a:t>
            </a:r>
            <a:endParaRPr lang="en-US" sz="1300" dirty="0"/>
          </a:p>
        </p:txBody>
      </p:sp>
      <p:sp>
        <p:nvSpPr>
          <p:cNvPr id="16" name="Text 13"/>
          <p:cNvSpPr/>
          <p:nvPr/>
        </p:nvSpPr>
        <p:spPr>
          <a:xfrm>
            <a:off x="1554480" y="2322576"/>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FFFFFF"/>
                </a:solidFill>
                <a:latin typeface="Poppins" pitchFamily="34" charset="0"/>
                <a:ea typeface="Poppins" pitchFamily="34" charset="-122"/>
                <a:cs typeface="Poppins" pitchFamily="34" charset="-120"/>
              </a:rPr>
              <a:t>Yang perusahaan kuasai atau miliki, yang membuatnya lebih mampu bersaing</a:t>
            </a:r>
            <a:endParaRPr lang="en-US" sz="900" dirty="0"/>
          </a:p>
        </p:txBody>
      </p:sp>
      <p:sp>
        <p:nvSpPr>
          <p:cNvPr id="17" name="Shape 14"/>
          <p:cNvSpPr/>
          <p:nvPr/>
        </p:nvSpPr>
        <p:spPr>
          <a:xfrm>
            <a:off x="3566160" y="1755648"/>
            <a:ext cx="2834640" cy="1481328"/>
          </a:xfrm>
          <a:prstGeom prst="rect">
            <a:avLst/>
          </a:prstGeom>
          <a:solidFill>
            <a:srgbClr val="2B0F11"/>
          </a:solidFill>
          <a:ln w="12700">
            <a:solidFill>
              <a:srgbClr val="2B0F11"/>
            </a:solidFill>
            <a:prstDash val="solid"/>
          </a:ln>
        </p:spPr>
      </p:sp>
      <p:sp>
        <p:nvSpPr>
          <p:cNvPr id="18" name="Text 15"/>
          <p:cNvSpPr/>
          <p:nvPr/>
        </p:nvSpPr>
        <p:spPr>
          <a:xfrm>
            <a:off x="3767328" y="1847088"/>
            <a:ext cx="822960" cy="822960"/>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W</a:t>
            </a:r>
            <a:endParaRPr lang="en-US" sz="4000" dirty="0"/>
          </a:p>
        </p:txBody>
      </p:sp>
      <p:sp>
        <p:nvSpPr>
          <p:cNvPr id="19" name="Text 16"/>
          <p:cNvSpPr/>
          <p:nvPr/>
        </p:nvSpPr>
        <p:spPr>
          <a:xfrm>
            <a:off x="4572000" y="1984248"/>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Weaknesses</a:t>
            </a:r>
            <a:endParaRPr lang="en-US" sz="1300" dirty="0"/>
          </a:p>
        </p:txBody>
      </p:sp>
      <p:sp>
        <p:nvSpPr>
          <p:cNvPr id="20" name="Text 17"/>
          <p:cNvSpPr/>
          <p:nvPr/>
        </p:nvSpPr>
        <p:spPr>
          <a:xfrm>
            <a:off x="4572000" y="2322576"/>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Yang tidak dimiliki atau dikerjakan kurang baik dibanding pesaing</a:t>
            </a:r>
            <a:endParaRPr lang="en-US" sz="900" dirty="0"/>
          </a:p>
        </p:txBody>
      </p:sp>
      <p:sp>
        <p:nvSpPr>
          <p:cNvPr id="21" name="Shape 18"/>
          <p:cNvSpPr/>
          <p:nvPr/>
        </p:nvSpPr>
        <p:spPr>
          <a:xfrm>
            <a:off x="548640" y="3419856"/>
            <a:ext cx="2834640" cy="1481328"/>
          </a:xfrm>
          <a:prstGeom prst="rect">
            <a:avLst/>
          </a:prstGeom>
          <a:solidFill>
            <a:srgbClr val="2B0F11"/>
          </a:solidFill>
          <a:ln w="12700">
            <a:solidFill>
              <a:srgbClr val="2B0F11"/>
            </a:solidFill>
            <a:prstDash val="solid"/>
          </a:ln>
        </p:spPr>
      </p:sp>
      <p:sp>
        <p:nvSpPr>
          <p:cNvPr id="22" name="Text 19"/>
          <p:cNvSpPr/>
          <p:nvPr/>
        </p:nvSpPr>
        <p:spPr>
          <a:xfrm>
            <a:off x="749808" y="3511296"/>
            <a:ext cx="822960" cy="822960"/>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O</a:t>
            </a:r>
            <a:endParaRPr lang="en-US" sz="4000" dirty="0"/>
          </a:p>
        </p:txBody>
      </p:sp>
      <p:sp>
        <p:nvSpPr>
          <p:cNvPr id="23" name="Text 20"/>
          <p:cNvSpPr/>
          <p:nvPr/>
        </p:nvSpPr>
        <p:spPr>
          <a:xfrm>
            <a:off x="1554480" y="3648456"/>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Opportunities</a:t>
            </a:r>
            <a:endParaRPr lang="en-US" sz="1300" dirty="0"/>
          </a:p>
        </p:txBody>
      </p:sp>
      <p:sp>
        <p:nvSpPr>
          <p:cNvPr id="24" name="Text 21"/>
          <p:cNvSpPr/>
          <p:nvPr/>
        </p:nvSpPr>
        <p:spPr>
          <a:xfrm>
            <a:off x="1554480" y="3986784"/>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Peluang pasar: apa yang bisa diambil dari luar</a:t>
            </a:r>
            <a:endParaRPr lang="en-US" sz="900" dirty="0"/>
          </a:p>
        </p:txBody>
      </p:sp>
      <p:sp>
        <p:nvSpPr>
          <p:cNvPr id="25" name="Shape 22"/>
          <p:cNvSpPr/>
          <p:nvPr/>
        </p:nvSpPr>
        <p:spPr>
          <a:xfrm>
            <a:off x="3566160" y="3419856"/>
            <a:ext cx="2834640" cy="1481328"/>
          </a:xfrm>
          <a:prstGeom prst="rect">
            <a:avLst/>
          </a:prstGeom>
          <a:solidFill>
            <a:srgbClr val="DA291C"/>
          </a:solidFill>
          <a:ln w="12700">
            <a:solidFill>
              <a:srgbClr val="DA291C"/>
            </a:solidFill>
            <a:prstDash val="solid"/>
          </a:ln>
        </p:spPr>
      </p:sp>
      <p:sp>
        <p:nvSpPr>
          <p:cNvPr id="26" name="Text 23"/>
          <p:cNvSpPr/>
          <p:nvPr/>
        </p:nvSpPr>
        <p:spPr>
          <a:xfrm>
            <a:off x="3767328" y="3511296"/>
            <a:ext cx="822960" cy="822960"/>
          </a:xfrm>
          <a:prstGeom prst="rect">
            <a:avLst/>
          </a:prstGeom>
          <a:noFill/>
          <a:ln/>
        </p:spPr>
        <p:txBody>
          <a:bodyPr wrap="square" lIns="0" tIns="0" rIns="0" bIns="0" rtlCol="0" anchor="t"/>
          <a:lstStyle/>
          <a:p>
            <a:pPr indent="0" marL="0">
              <a:buNone/>
            </a:pPr>
            <a:r>
              <a:rPr lang="en-US" sz="4000" dirty="0">
                <a:solidFill>
                  <a:srgbClr val="FBE122"/>
                </a:solidFill>
                <a:latin typeface="Poppins ExtraBold" pitchFamily="34" charset="0"/>
                <a:ea typeface="Poppins ExtraBold" pitchFamily="34" charset="-122"/>
                <a:cs typeface="Poppins ExtraBold" pitchFamily="34" charset="-120"/>
              </a:rPr>
              <a:t>T</a:t>
            </a:r>
            <a:endParaRPr lang="en-US" sz="4000" dirty="0"/>
          </a:p>
        </p:txBody>
      </p:sp>
      <p:sp>
        <p:nvSpPr>
          <p:cNvPr id="27" name="Text 24"/>
          <p:cNvSpPr/>
          <p:nvPr/>
        </p:nvSpPr>
        <p:spPr>
          <a:xfrm>
            <a:off x="4572000" y="3648456"/>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Threats</a:t>
            </a:r>
            <a:endParaRPr lang="en-US" sz="1300" dirty="0"/>
          </a:p>
        </p:txBody>
      </p:sp>
      <p:sp>
        <p:nvSpPr>
          <p:cNvPr id="28" name="Text 25"/>
          <p:cNvSpPr/>
          <p:nvPr/>
        </p:nvSpPr>
        <p:spPr>
          <a:xfrm>
            <a:off x="4572000" y="3986784"/>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FFFFFF"/>
                </a:solidFill>
                <a:latin typeface="Poppins" pitchFamily="34" charset="0"/>
                <a:ea typeface="Poppins" pitchFamily="34" charset="-122"/>
                <a:cs typeface="Poppins" pitchFamily="34" charset="-120"/>
              </a:rPr>
              <a:t>Ancaman dari luar yang bisa menggerus laba dan posisi</a:t>
            </a:r>
            <a:endParaRPr lang="en-US" sz="900" dirty="0"/>
          </a:p>
        </p:txBody>
      </p:sp>
      <p:sp>
        <p:nvSpPr>
          <p:cNvPr id="29" name="Text 26"/>
          <p:cNvSpPr/>
          <p:nvPr/>
        </p:nvSpPr>
        <p:spPr>
          <a:xfrm>
            <a:off x="6675120" y="1737360"/>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CARA MEMBACANYA</a:t>
            </a:r>
            <a:endParaRPr lang="en-US" sz="850" dirty="0"/>
          </a:p>
        </p:txBody>
      </p:sp>
      <p:sp>
        <p:nvSpPr>
          <p:cNvPr id="30" name="Shape 27"/>
          <p:cNvSpPr/>
          <p:nvPr/>
        </p:nvSpPr>
        <p:spPr>
          <a:xfrm>
            <a:off x="6675120" y="2029968"/>
            <a:ext cx="4937760" cy="713232"/>
          </a:xfrm>
          <a:prstGeom prst="rect">
            <a:avLst/>
          </a:prstGeom>
          <a:solidFill>
            <a:srgbClr val="2B0F11"/>
          </a:solidFill>
          <a:ln w="12700">
            <a:solidFill>
              <a:srgbClr val="2B0F11"/>
            </a:solidFill>
            <a:prstDash val="solid"/>
          </a:ln>
        </p:spPr>
      </p:sp>
      <p:sp>
        <p:nvSpPr>
          <p:cNvPr id="31" name="Shape 28"/>
          <p:cNvSpPr/>
          <p:nvPr/>
        </p:nvSpPr>
        <p:spPr>
          <a:xfrm>
            <a:off x="6675120" y="2029968"/>
            <a:ext cx="54864" cy="713232"/>
          </a:xfrm>
          <a:prstGeom prst="rect">
            <a:avLst/>
          </a:prstGeom>
          <a:solidFill>
            <a:srgbClr val="DA291C"/>
          </a:solidFill>
          <a:ln w="12700">
            <a:solidFill>
              <a:srgbClr val="DA291C"/>
            </a:solidFill>
            <a:prstDash val="solid"/>
          </a:ln>
        </p:spPr>
      </p:sp>
      <p:sp>
        <p:nvSpPr>
          <p:cNvPr id="32" name="Text 29"/>
          <p:cNvSpPr/>
          <p:nvPr/>
        </p:nvSpPr>
        <p:spPr>
          <a:xfrm>
            <a:off x="6894576" y="2176272"/>
            <a:ext cx="4572000"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Nama lain SWOT</a:t>
            </a:r>
            <a:endParaRPr lang="en-US" sz="1100" dirty="0"/>
          </a:p>
        </p:txBody>
      </p:sp>
      <p:sp>
        <p:nvSpPr>
          <p:cNvPr id="33" name="Text 30"/>
          <p:cNvSpPr/>
          <p:nvPr/>
        </p:nvSpPr>
        <p:spPr>
          <a:xfrm>
            <a:off x="6894576" y="2505456"/>
            <a:ext cx="4572000" cy="128016"/>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Situational Analysis, analisis situasi.</a:t>
            </a:r>
            <a:endParaRPr lang="en-US" sz="950" dirty="0"/>
          </a:p>
        </p:txBody>
      </p:sp>
      <p:sp>
        <p:nvSpPr>
          <p:cNvPr id="34" name="Shape 31"/>
          <p:cNvSpPr/>
          <p:nvPr/>
        </p:nvSpPr>
        <p:spPr>
          <a:xfrm>
            <a:off x="6675120" y="2852928"/>
            <a:ext cx="4937760" cy="914400"/>
          </a:xfrm>
          <a:prstGeom prst="rect">
            <a:avLst/>
          </a:prstGeom>
          <a:solidFill>
            <a:srgbClr val="2B0F11"/>
          </a:solidFill>
          <a:ln w="12700">
            <a:solidFill>
              <a:srgbClr val="2B0F11"/>
            </a:solidFill>
            <a:prstDash val="solid"/>
          </a:ln>
        </p:spPr>
      </p:sp>
      <p:sp>
        <p:nvSpPr>
          <p:cNvPr id="35" name="Shape 32"/>
          <p:cNvSpPr/>
          <p:nvPr/>
        </p:nvSpPr>
        <p:spPr>
          <a:xfrm>
            <a:off x="6675120" y="2852928"/>
            <a:ext cx="54864" cy="914400"/>
          </a:xfrm>
          <a:prstGeom prst="rect">
            <a:avLst/>
          </a:prstGeom>
          <a:solidFill>
            <a:srgbClr val="DA291C"/>
          </a:solidFill>
          <a:ln w="12700">
            <a:solidFill>
              <a:srgbClr val="DA291C"/>
            </a:solidFill>
            <a:prstDash val="solid"/>
          </a:ln>
        </p:spPr>
      </p:sp>
      <p:sp>
        <p:nvSpPr>
          <p:cNvPr id="36" name="Text 33"/>
          <p:cNvSpPr/>
          <p:nvPr/>
        </p:nvSpPr>
        <p:spPr>
          <a:xfrm>
            <a:off x="6894576" y="2999232"/>
            <a:ext cx="4572000"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Neraca strategis</a:t>
            </a:r>
            <a:endParaRPr lang="en-US" sz="1100" dirty="0"/>
          </a:p>
        </p:txBody>
      </p:sp>
      <p:sp>
        <p:nvSpPr>
          <p:cNvPr id="37" name="Text 34"/>
          <p:cNvSpPr/>
          <p:nvPr/>
        </p:nvSpPr>
        <p:spPr>
          <a:xfrm>
            <a:off x="6894576" y="3328416"/>
            <a:ext cx="4572000" cy="32918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Kekuatan = aset bersaing. Kelemahan = kewajiban bersaing. Idealnya asetnya jauh lebih berat.</a:t>
            </a:r>
            <a:endParaRPr lang="en-US" sz="950" dirty="0"/>
          </a:p>
        </p:txBody>
      </p:sp>
      <p:sp>
        <p:nvSpPr>
          <p:cNvPr id="38" name="Shape 35"/>
          <p:cNvSpPr/>
          <p:nvPr/>
        </p:nvSpPr>
        <p:spPr>
          <a:xfrm>
            <a:off x="6675120" y="3877056"/>
            <a:ext cx="4937760" cy="1024128"/>
          </a:xfrm>
          <a:prstGeom prst="rect">
            <a:avLst/>
          </a:prstGeom>
          <a:solidFill>
            <a:srgbClr val="2B0F11"/>
          </a:solidFill>
          <a:ln w="12700">
            <a:solidFill>
              <a:srgbClr val="2B0F11"/>
            </a:solidFill>
            <a:prstDash val="solid"/>
          </a:ln>
        </p:spPr>
      </p:sp>
      <p:sp>
        <p:nvSpPr>
          <p:cNvPr id="39" name="Shape 36"/>
          <p:cNvSpPr/>
          <p:nvPr/>
        </p:nvSpPr>
        <p:spPr>
          <a:xfrm>
            <a:off x="6675120" y="3877056"/>
            <a:ext cx="54864" cy="1024128"/>
          </a:xfrm>
          <a:prstGeom prst="rect">
            <a:avLst/>
          </a:prstGeom>
          <a:solidFill>
            <a:srgbClr val="DA291C"/>
          </a:solidFill>
          <a:ln w="12700">
            <a:solidFill>
              <a:srgbClr val="DA291C"/>
            </a:solidFill>
            <a:prstDash val="solid"/>
          </a:ln>
        </p:spPr>
      </p:sp>
      <p:sp>
        <p:nvSpPr>
          <p:cNvPr id="40" name="Text 37"/>
          <p:cNvSpPr/>
          <p:nvPr/>
        </p:nvSpPr>
        <p:spPr>
          <a:xfrm>
            <a:off x="6894576" y="4023360"/>
            <a:ext cx="4572000"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Empat pertanyaan pemandu</a:t>
            </a:r>
            <a:endParaRPr lang="en-US" sz="1100" dirty="0"/>
          </a:p>
        </p:txBody>
      </p:sp>
      <p:sp>
        <p:nvSpPr>
          <p:cNvPr id="41" name="Text 38"/>
          <p:cNvSpPr/>
          <p:nvPr/>
        </p:nvSpPr>
        <p:spPr>
          <a:xfrm>
            <a:off x="6894576" y="4352544"/>
            <a:ext cx="4572000" cy="438912"/>
          </a:xfrm>
          <a:prstGeom prst="rect">
            <a:avLst/>
          </a:prstGeom>
          <a:noFill/>
          <a:ln/>
        </p:spPr>
        <p:txBody>
          <a:bodyPr wrap="square" lIns="0" tIns="0" rIns="0" bIns="0" rtlCol="0" anchor="t"/>
          <a:lstStyle/>
          <a:p>
            <a:pPr indent="0" marL="0">
              <a:lnSpc>
                <a:spcPct val="108000"/>
              </a:lnSpc>
              <a:buNone/>
            </a:pPr>
            <a:r>
              <a:rPr lang="en-US" sz="900" dirty="0">
                <a:solidFill>
                  <a:srgbClr val="E9DDD8"/>
                </a:solidFill>
                <a:latin typeface="Poppins" pitchFamily="34" charset="0"/>
                <a:ea typeface="Poppins" pitchFamily="34" charset="-122"/>
                <a:cs typeface="Poppins" pitchFamily="34" charset="-120"/>
              </a:rPr>
              <a:t>Apakah kekuatan cukup menutup kelemahan? Apakah strategi sudah bertumpu pada kekuatan itu? Apakah kekuatan kita melampaui pesaing? Apakah strategi berhasil menangkal ancaman?</a:t>
            </a:r>
            <a:endParaRPr lang="en-US" sz="900" dirty="0"/>
          </a:p>
        </p:txBody>
      </p:sp>
      <p:sp>
        <p:nvSpPr>
          <p:cNvPr id="42" name="Shape 39"/>
          <p:cNvSpPr/>
          <p:nvPr/>
        </p:nvSpPr>
        <p:spPr>
          <a:xfrm>
            <a:off x="548640" y="5102352"/>
            <a:ext cx="11064240" cy="777240"/>
          </a:xfrm>
          <a:prstGeom prst="rect">
            <a:avLst/>
          </a:prstGeom>
          <a:solidFill>
            <a:srgbClr val="381418"/>
          </a:solidFill>
          <a:ln w="12700">
            <a:solidFill>
              <a:srgbClr val="381418"/>
            </a:solidFill>
            <a:prstDash val="solid"/>
          </a:ln>
        </p:spPr>
      </p:sp>
      <p:sp>
        <p:nvSpPr>
          <p:cNvPr id="43" name="Text 40"/>
          <p:cNvSpPr/>
          <p:nvPr/>
        </p:nvSpPr>
        <p:spPr>
          <a:xfrm>
            <a:off x="777240" y="5230368"/>
            <a:ext cx="1060704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KENAPA SWOT POPULER</a:t>
            </a:r>
            <a:endParaRPr lang="en-US" sz="800" dirty="0"/>
          </a:p>
        </p:txBody>
      </p:sp>
      <p:sp>
        <p:nvSpPr>
          <p:cNvPr id="44" name="Text 41"/>
          <p:cNvSpPr/>
          <p:nvPr/>
        </p:nvSpPr>
        <p:spPr>
          <a:xfrm>
            <a:off x="777240" y="5468112"/>
            <a:ext cx="10607040" cy="320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Mudah dipakai, dan bisa dipakai dua arah: menilai strategi yang sedang berjalan, dan menyusun strategi baru dari nol. Dipakai perusahaan besar sampai sekolah dan lembaga nirlaba.</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2  ·  KONSEP INTI</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07</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COMPETENCE, DISTINCTIVE COMPETENCE, CORE COMPETENCE</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Buku memakai tiga tingkatan yang berbeda. Jangan disamakan: hanya tingkat ketiga yang benar-benar berharga.</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07</a:t>
            </a:r>
            <a:endParaRPr lang="en-US" sz="900" dirty="0"/>
          </a:p>
        </p:txBody>
      </p:sp>
      <p:sp>
        <p:nvSpPr>
          <p:cNvPr id="13" name="Shape 10"/>
          <p:cNvSpPr/>
          <p:nvPr/>
        </p:nvSpPr>
        <p:spPr>
          <a:xfrm>
            <a:off x="548640" y="2670048"/>
            <a:ext cx="3545738" cy="2011680"/>
          </a:xfrm>
          <a:prstGeom prst="rect">
            <a:avLst/>
          </a:prstGeom>
          <a:solidFill>
            <a:srgbClr val="2B0F11"/>
          </a:solidFill>
          <a:ln w="12700">
            <a:solidFill>
              <a:srgbClr val="2B0F11"/>
            </a:solidFill>
            <a:prstDash val="solid"/>
          </a:ln>
        </p:spPr>
      </p:sp>
      <p:sp>
        <p:nvSpPr>
          <p:cNvPr id="14" name="Shape 11"/>
          <p:cNvSpPr/>
          <p:nvPr/>
        </p:nvSpPr>
        <p:spPr>
          <a:xfrm>
            <a:off x="548640" y="2670048"/>
            <a:ext cx="3545738" cy="54864"/>
          </a:xfrm>
          <a:prstGeom prst="rect">
            <a:avLst/>
          </a:prstGeom>
          <a:solidFill>
            <a:srgbClr val="DA291C"/>
          </a:solidFill>
          <a:ln w="12700">
            <a:solidFill>
              <a:srgbClr val="DA291C"/>
            </a:solidFill>
            <a:prstDash val="solid"/>
          </a:ln>
        </p:spPr>
      </p:sp>
      <p:sp>
        <p:nvSpPr>
          <p:cNvPr id="15" name="Text 12"/>
          <p:cNvSpPr/>
          <p:nvPr/>
        </p:nvSpPr>
        <p:spPr>
          <a:xfrm>
            <a:off x="749808" y="2779776"/>
            <a:ext cx="914400" cy="640080"/>
          </a:xfrm>
          <a:prstGeom prst="rect">
            <a:avLst/>
          </a:prstGeom>
          <a:noFill/>
          <a:ln/>
        </p:spPr>
        <p:txBody>
          <a:bodyPr wrap="square" lIns="0" tIns="0" rIns="0" bIns="0" rtlCol="0" anchor="t"/>
          <a:lstStyle/>
          <a:p>
            <a:pPr indent="0" marL="0">
              <a:buNone/>
            </a:pPr>
            <a:r>
              <a:rPr lang="en-US" sz="3400" dirty="0">
                <a:solidFill>
                  <a:srgbClr val="DA291C"/>
                </a:solidFill>
                <a:latin typeface="Poppins ExtraBold" pitchFamily="34" charset="0"/>
                <a:ea typeface="Poppins ExtraBold" pitchFamily="34" charset="-122"/>
                <a:cs typeface="Poppins ExtraBold" pitchFamily="34" charset="-120"/>
              </a:rPr>
              <a:t>1</a:t>
            </a:r>
            <a:endParaRPr lang="en-US" sz="3400" dirty="0"/>
          </a:p>
        </p:txBody>
      </p:sp>
      <p:sp>
        <p:nvSpPr>
          <p:cNvPr id="16" name="Text 13"/>
          <p:cNvSpPr/>
          <p:nvPr/>
        </p:nvSpPr>
        <p:spPr>
          <a:xfrm>
            <a:off x="749808" y="3447288"/>
            <a:ext cx="3179978"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Competence</a:t>
            </a:r>
            <a:endParaRPr lang="en-US" sz="1300" dirty="0"/>
          </a:p>
        </p:txBody>
      </p:sp>
      <p:sp>
        <p:nvSpPr>
          <p:cNvPr id="17" name="Text 14"/>
          <p:cNvSpPr/>
          <p:nvPr/>
        </p:nvSpPr>
        <p:spPr>
          <a:xfrm>
            <a:off x="749808" y="3785616"/>
            <a:ext cx="3179978" cy="685800"/>
          </a:xfrm>
          <a:prstGeom prst="rect">
            <a:avLst/>
          </a:prstGeom>
          <a:noFill/>
          <a:ln/>
        </p:spPr>
        <p:txBody>
          <a:bodyPr wrap="square" lIns="0" tIns="0" rIns="0" bIns="0" rtlCol="0" anchor="t"/>
          <a:lstStyle/>
          <a:p>
            <a:pPr indent="0" marL="0">
              <a:lnSpc>
                <a:spcPct val="106000"/>
              </a:lnSpc>
              <a:buNone/>
            </a:pPr>
            <a:r>
              <a:rPr lang="en-US" sz="950" dirty="0">
                <a:solidFill>
                  <a:srgbClr val="E9DDD8"/>
                </a:solidFill>
                <a:latin typeface="Poppins" pitchFamily="34" charset="0"/>
                <a:ea typeface="Poppins" pitchFamily="34" charset="-122"/>
                <a:cs typeface="Poppins" pitchFamily="34" charset="-120"/>
              </a:rPr>
              <a:t>Aktivitas yang sudah dikuasai perusahaan, dikerjakan konsisten baik dan dengan biaya wajar.</a:t>
            </a:r>
            <a:endParaRPr lang="en-US" sz="950" dirty="0"/>
          </a:p>
        </p:txBody>
      </p:sp>
      <p:sp>
        <p:nvSpPr>
          <p:cNvPr id="18" name="Text 15"/>
          <p:cNvSpPr/>
          <p:nvPr/>
        </p:nvSpPr>
        <p:spPr>
          <a:xfrm>
            <a:off x="749808" y="4297680"/>
            <a:ext cx="3179978" cy="32004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Kemampuan biasa. Banyak perusahaan punya.</a:t>
            </a:r>
            <a:endParaRPr lang="en-US" sz="850" dirty="0"/>
          </a:p>
        </p:txBody>
      </p:sp>
      <p:sp>
        <p:nvSpPr>
          <p:cNvPr id="19" name="Shape 16"/>
          <p:cNvSpPr/>
          <p:nvPr/>
        </p:nvSpPr>
        <p:spPr>
          <a:xfrm>
            <a:off x="4322978" y="2212848"/>
            <a:ext cx="3545738" cy="2468880"/>
          </a:xfrm>
          <a:prstGeom prst="rect">
            <a:avLst/>
          </a:prstGeom>
          <a:solidFill>
            <a:srgbClr val="2B0F11"/>
          </a:solidFill>
          <a:ln w="12700">
            <a:solidFill>
              <a:srgbClr val="2B0F11"/>
            </a:solidFill>
            <a:prstDash val="solid"/>
          </a:ln>
        </p:spPr>
      </p:sp>
      <p:sp>
        <p:nvSpPr>
          <p:cNvPr id="20" name="Shape 17"/>
          <p:cNvSpPr/>
          <p:nvPr/>
        </p:nvSpPr>
        <p:spPr>
          <a:xfrm>
            <a:off x="4322978" y="2212848"/>
            <a:ext cx="3545738" cy="54864"/>
          </a:xfrm>
          <a:prstGeom prst="rect">
            <a:avLst/>
          </a:prstGeom>
          <a:solidFill>
            <a:srgbClr val="DA291C"/>
          </a:solidFill>
          <a:ln w="12700">
            <a:solidFill>
              <a:srgbClr val="DA291C"/>
            </a:solidFill>
            <a:prstDash val="solid"/>
          </a:ln>
        </p:spPr>
      </p:sp>
      <p:sp>
        <p:nvSpPr>
          <p:cNvPr id="21" name="Text 18"/>
          <p:cNvSpPr/>
          <p:nvPr/>
        </p:nvSpPr>
        <p:spPr>
          <a:xfrm>
            <a:off x="4524146" y="2322576"/>
            <a:ext cx="914400" cy="640080"/>
          </a:xfrm>
          <a:prstGeom prst="rect">
            <a:avLst/>
          </a:prstGeom>
          <a:noFill/>
          <a:ln/>
        </p:spPr>
        <p:txBody>
          <a:bodyPr wrap="square" lIns="0" tIns="0" rIns="0" bIns="0" rtlCol="0" anchor="t"/>
          <a:lstStyle/>
          <a:p>
            <a:pPr indent="0" marL="0">
              <a:buNone/>
            </a:pPr>
            <a:r>
              <a:rPr lang="en-US" sz="3400" dirty="0">
                <a:solidFill>
                  <a:srgbClr val="DA291C"/>
                </a:solidFill>
                <a:latin typeface="Poppins ExtraBold" pitchFamily="34" charset="0"/>
                <a:ea typeface="Poppins ExtraBold" pitchFamily="34" charset="-122"/>
                <a:cs typeface="Poppins ExtraBold" pitchFamily="34" charset="-120"/>
              </a:rPr>
              <a:t>2</a:t>
            </a:r>
            <a:endParaRPr lang="en-US" sz="3400" dirty="0"/>
          </a:p>
        </p:txBody>
      </p:sp>
      <p:sp>
        <p:nvSpPr>
          <p:cNvPr id="22" name="Text 19"/>
          <p:cNvSpPr/>
          <p:nvPr/>
        </p:nvSpPr>
        <p:spPr>
          <a:xfrm>
            <a:off x="4524146" y="2990088"/>
            <a:ext cx="3179978"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Distinctive Competence</a:t>
            </a:r>
            <a:endParaRPr lang="en-US" sz="1300" dirty="0"/>
          </a:p>
        </p:txBody>
      </p:sp>
      <p:sp>
        <p:nvSpPr>
          <p:cNvPr id="23" name="Text 20"/>
          <p:cNvSpPr/>
          <p:nvPr/>
        </p:nvSpPr>
        <p:spPr>
          <a:xfrm>
            <a:off x="4524146" y="3328416"/>
            <a:ext cx="3179978" cy="685800"/>
          </a:xfrm>
          <a:prstGeom prst="rect">
            <a:avLst/>
          </a:prstGeom>
          <a:noFill/>
          <a:ln/>
        </p:spPr>
        <p:txBody>
          <a:bodyPr wrap="square" lIns="0" tIns="0" rIns="0" bIns="0" rtlCol="0" anchor="t"/>
          <a:lstStyle/>
          <a:p>
            <a:pPr indent="0" marL="0">
              <a:lnSpc>
                <a:spcPct val="106000"/>
              </a:lnSpc>
              <a:buNone/>
            </a:pPr>
            <a:r>
              <a:rPr lang="en-US" sz="950" dirty="0">
                <a:solidFill>
                  <a:srgbClr val="E9DDD8"/>
                </a:solidFill>
                <a:latin typeface="Poppins" pitchFamily="34" charset="0"/>
                <a:ea typeface="Poppins" pitchFamily="34" charset="-122"/>
                <a:cs typeface="Poppins" pitchFamily="34" charset="-120"/>
              </a:rPr>
              <a:t>Kemampuan yang membuat perusahaan mengerjakan aktivitas itu LEBIH BAIK dari pesaingnya.</a:t>
            </a:r>
            <a:endParaRPr lang="en-US" sz="950" dirty="0"/>
          </a:p>
        </p:txBody>
      </p:sp>
      <p:sp>
        <p:nvSpPr>
          <p:cNvPr id="24" name="Text 21"/>
          <p:cNvSpPr/>
          <p:nvPr/>
        </p:nvSpPr>
        <p:spPr>
          <a:xfrm>
            <a:off x="4524146" y="4297680"/>
            <a:ext cx="3179978" cy="32004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Sudah membedakan, tapi belum tentu inti strategi.</a:t>
            </a:r>
            <a:endParaRPr lang="en-US" sz="850" dirty="0"/>
          </a:p>
        </p:txBody>
      </p:sp>
      <p:sp>
        <p:nvSpPr>
          <p:cNvPr id="25" name="Shape 22"/>
          <p:cNvSpPr/>
          <p:nvPr/>
        </p:nvSpPr>
        <p:spPr>
          <a:xfrm>
            <a:off x="8097317" y="1755648"/>
            <a:ext cx="3545738" cy="2926080"/>
          </a:xfrm>
          <a:prstGeom prst="rect">
            <a:avLst/>
          </a:prstGeom>
          <a:solidFill>
            <a:srgbClr val="DA291C"/>
          </a:solidFill>
          <a:ln w="12700">
            <a:solidFill>
              <a:srgbClr val="DA291C"/>
            </a:solidFill>
            <a:prstDash val="solid"/>
          </a:ln>
        </p:spPr>
      </p:sp>
      <p:sp>
        <p:nvSpPr>
          <p:cNvPr id="26" name="Shape 23"/>
          <p:cNvSpPr/>
          <p:nvPr/>
        </p:nvSpPr>
        <p:spPr>
          <a:xfrm>
            <a:off x="8097317" y="1755648"/>
            <a:ext cx="3545738" cy="54864"/>
          </a:xfrm>
          <a:prstGeom prst="rect">
            <a:avLst/>
          </a:prstGeom>
          <a:solidFill>
            <a:srgbClr val="FBE122"/>
          </a:solidFill>
          <a:ln w="12700">
            <a:solidFill>
              <a:srgbClr val="FBE122"/>
            </a:solidFill>
            <a:prstDash val="solid"/>
          </a:ln>
        </p:spPr>
      </p:sp>
      <p:sp>
        <p:nvSpPr>
          <p:cNvPr id="27" name="Text 24"/>
          <p:cNvSpPr/>
          <p:nvPr/>
        </p:nvSpPr>
        <p:spPr>
          <a:xfrm>
            <a:off x="8298485" y="1865376"/>
            <a:ext cx="914400" cy="640080"/>
          </a:xfrm>
          <a:prstGeom prst="rect">
            <a:avLst/>
          </a:prstGeom>
          <a:noFill/>
          <a:ln/>
        </p:spPr>
        <p:txBody>
          <a:bodyPr wrap="square" lIns="0" tIns="0" rIns="0" bIns="0" rtlCol="0" anchor="t"/>
          <a:lstStyle/>
          <a:p>
            <a:pPr indent="0" marL="0">
              <a:buNone/>
            </a:pPr>
            <a:r>
              <a:rPr lang="en-US" sz="3400" dirty="0">
                <a:solidFill>
                  <a:srgbClr val="FBE122"/>
                </a:solidFill>
                <a:latin typeface="Poppins ExtraBold" pitchFamily="34" charset="0"/>
                <a:ea typeface="Poppins ExtraBold" pitchFamily="34" charset="-122"/>
                <a:cs typeface="Poppins ExtraBold" pitchFamily="34" charset="-120"/>
              </a:rPr>
              <a:t>3</a:t>
            </a:r>
            <a:endParaRPr lang="en-US" sz="3400" dirty="0"/>
          </a:p>
        </p:txBody>
      </p:sp>
      <p:sp>
        <p:nvSpPr>
          <p:cNvPr id="28" name="Text 25"/>
          <p:cNvSpPr/>
          <p:nvPr/>
        </p:nvSpPr>
        <p:spPr>
          <a:xfrm>
            <a:off x="8298485" y="2532888"/>
            <a:ext cx="3179978"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Core Competence</a:t>
            </a:r>
            <a:endParaRPr lang="en-US" sz="1300" dirty="0"/>
          </a:p>
        </p:txBody>
      </p:sp>
      <p:sp>
        <p:nvSpPr>
          <p:cNvPr id="29" name="Text 26"/>
          <p:cNvSpPr/>
          <p:nvPr/>
        </p:nvSpPr>
        <p:spPr>
          <a:xfrm>
            <a:off x="8298485" y="2871216"/>
            <a:ext cx="3179978" cy="685800"/>
          </a:xfrm>
          <a:prstGeom prst="rect">
            <a:avLst/>
          </a:prstGeom>
          <a:noFill/>
          <a:ln/>
        </p:spPr>
        <p:txBody>
          <a:bodyPr wrap="square" lIns="0" tIns="0" rIns="0" bIns="0" rtlCol="0" anchor="t"/>
          <a:lstStyle/>
          <a:p>
            <a:pPr indent="0" marL="0">
              <a:lnSpc>
                <a:spcPct val="106000"/>
              </a:lnSpc>
              <a:buNone/>
            </a:pPr>
            <a:r>
              <a:rPr lang="en-US" sz="950" dirty="0">
                <a:solidFill>
                  <a:srgbClr val="FFFFFF"/>
                </a:solidFill>
                <a:latin typeface="Poppins" pitchFamily="34" charset="0"/>
                <a:ea typeface="Poppins" pitchFamily="34" charset="-122"/>
                <a:cs typeface="Poppins" pitchFamily="34" charset="-120"/>
              </a:rPr>
              <a:t>Aktivitas yang dikuasai dengan baik DAN berada di jantung strategi perusahaan.</a:t>
            </a:r>
            <a:endParaRPr lang="en-US" sz="950" dirty="0"/>
          </a:p>
        </p:txBody>
      </p:sp>
      <p:sp>
        <p:nvSpPr>
          <p:cNvPr id="30" name="Text 27"/>
          <p:cNvSpPr/>
          <p:nvPr/>
        </p:nvSpPr>
        <p:spPr>
          <a:xfrm>
            <a:off x="8298485" y="4297680"/>
            <a:ext cx="3179978" cy="32004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Paling berharga. Sering jadi mesin pertumbuhan.</a:t>
            </a:r>
            <a:endParaRPr lang="en-US" sz="850" dirty="0"/>
          </a:p>
        </p:txBody>
      </p:sp>
      <p:sp>
        <p:nvSpPr>
          <p:cNvPr id="31" name="Text 28"/>
          <p:cNvSpPr/>
          <p:nvPr/>
        </p:nvSpPr>
        <p:spPr>
          <a:xfrm>
            <a:off x="548640" y="4864608"/>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CONTOH DARI BUKU</a:t>
            </a:r>
            <a:endParaRPr lang="en-US" sz="850" dirty="0"/>
          </a:p>
        </p:txBody>
      </p:sp>
      <p:sp>
        <p:nvSpPr>
          <p:cNvPr id="32" name="Shape 29"/>
          <p:cNvSpPr/>
          <p:nvPr/>
        </p:nvSpPr>
        <p:spPr>
          <a:xfrm>
            <a:off x="548640" y="5138928"/>
            <a:ext cx="3545738" cy="868680"/>
          </a:xfrm>
          <a:prstGeom prst="rect">
            <a:avLst/>
          </a:prstGeom>
          <a:solidFill>
            <a:srgbClr val="2B0F11"/>
          </a:solidFill>
          <a:ln w="12700">
            <a:solidFill>
              <a:srgbClr val="2B0F11"/>
            </a:solidFill>
            <a:prstDash val="solid"/>
          </a:ln>
        </p:spPr>
      </p:sp>
      <p:sp>
        <p:nvSpPr>
          <p:cNvPr id="33" name="Shape 30"/>
          <p:cNvSpPr/>
          <p:nvPr/>
        </p:nvSpPr>
        <p:spPr>
          <a:xfrm>
            <a:off x="548640" y="5138928"/>
            <a:ext cx="54864" cy="868680"/>
          </a:xfrm>
          <a:prstGeom prst="rect">
            <a:avLst/>
          </a:prstGeom>
          <a:solidFill>
            <a:srgbClr val="DA291C"/>
          </a:solidFill>
          <a:ln w="12700">
            <a:solidFill>
              <a:srgbClr val="DA291C"/>
            </a:solidFill>
            <a:prstDash val="solid"/>
          </a:ln>
        </p:spPr>
      </p:sp>
      <p:sp>
        <p:nvSpPr>
          <p:cNvPr id="34" name="Text 31"/>
          <p:cNvSpPr/>
          <p:nvPr/>
        </p:nvSpPr>
        <p:spPr>
          <a:xfrm>
            <a:off x="768096" y="5285232"/>
            <a:ext cx="3179978"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Procter &amp; Gamble</a:t>
            </a:r>
            <a:endParaRPr lang="en-US" sz="1100" dirty="0"/>
          </a:p>
        </p:txBody>
      </p:sp>
      <p:sp>
        <p:nvSpPr>
          <p:cNvPr id="35" name="Text 32"/>
          <p:cNvSpPr/>
          <p:nvPr/>
        </p:nvSpPr>
        <p:spPr>
          <a:xfrm>
            <a:off x="768096" y="5614416"/>
            <a:ext cx="3179978" cy="283464"/>
          </a:xfrm>
          <a:prstGeom prst="rect">
            <a:avLst/>
          </a:prstGeom>
          <a:noFill/>
          <a:ln/>
        </p:spPr>
        <p:txBody>
          <a:bodyPr wrap="square" lIns="0" tIns="0" rIns="0" bIns="0" rtlCol="0" anchor="t"/>
          <a:lstStyle/>
          <a:p>
            <a:pPr indent="0" marL="0">
              <a:lnSpc>
                <a:spcPct val="108000"/>
              </a:lnSpc>
              <a:buNone/>
            </a:pPr>
            <a:r>
              <a:rPr lang="en-US" sz="900" dirty="0">
                <a:solidFill>
                  <a:srgbClr val="E9DDD8"/>
                </a:solidFill>
                <a:latin typeface="Poppins" pitchFamily="34" charset="0"/>
                <a:ea typeface="Poppins" pitchFamily="34" charset="-122"/>
                <a:cs typeface="Poppins" pitchFamily="34" charset="-120"/>
              </a:rPr>
              <a:t>Core competence di manajemen merek, melahirkan Tide, Crest, Pampers, Olay, Febreze.</a:t>
            </a:r>
            <a:endParaRPr lang="en-US" sz="900" dirty="0"/>
          </a:p>
        </p:txBody>
      </p:sp>
      <p:sp>
        <p:nvSpPr>
          <p:cNvPr id="36" name="Shape 33"/>
          <p:cNvSpPr/>
          <p:nvPr/>
        </p:nvSpPr>
        <p:spPr>
          <a:xfrm>
            <a:off x="4322978" y="5138928"/>
            <a:ext cx="3545738" cy="868680"/>
          </a:xfrm>
          <a:prstGeom prst="rect">
            <a:avLst/>
          </a:prstGeom>
          <a:solidFill>
            <a:srgbClr val="2B0F11"/>
          </a:solidFill>
          <a:ln w="12700">
            <a:solidFill>
              <a:srgbClr val="2B0F11"/>
            </a:solidFill>
            <a:prstDash val="solid"/>
          </a:ln>
        </p:spPr>
      </p:sp>
      <p:sp>
        <p:nvSpPr>
          <p:cNvPr id="37" name="Shape 34"/>
          <p:cNvSpPr/>
          <p:nvPr/>
        </p:nvSpPr>
        <p:spPr>
          <a:xfrm>
            <a:off x="4322978" y="5138928"/>
            <a:ext cx="54864" cy="868680"/>
          </a:xfrm>
          <a:prstGeom prst="rect">
            <a:avLst/>
          </a:prstGeom>
          <a:solidFill>
            <a:srgbClr val="DA291C"/>
          </a:solidFill>
          <a:ln w="12700">
            <a:solidFill>
              <a:srgbClr val="DA291C"/>
            </a:solidFill>
            <a:prstDash val="solid"/>
          </a:ln>
        </p:spPr>
      </p:sp>
      <p:sp>
        <p:nvSpPr>
          <p:cNvPr id="38" name="Text 35"/>
          <p:cNvSpPr/>
          <p:nvPr/>
        </p:nvSpPr>
        <p:spPr>
          <a:xfrm>
            <a:off x="4542434" y="5285232"/>
            <a:ext cx="3179978"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Nike</a:t>
            </a:r>
            <a:endParaRPr lang="en-US" sz="1100" dirty="0"/>
          </a:p>
        </p:txBody>
      </p:sp>
      <p:sp>
        <p:nvSpPr>
          <p:cNvPr id="39" name="Text 36"/>
          <p:cNvSpPr/>
          <p:nvPr/>
        </p:nvSpPr>
        <p:spPr>
          <a:xfrm>
            <a:off x="4542434" y="5614416"/>
            <a:ext cx="3179978" cy="283464"/>
          </a:xfrm>
          <a:prstGeom prst="rect">
            <a:avLst/>
          </a:prstGeom>
          <a:noFill/>
          <a:ln/>
        </p:spPr>
        <p:txBody>
          <a:bodyPr wrap="square" lIns="0" tIns="0" rIns="0" bIns="0" rtlCol="0" anchor="t"/>
          <a:lstStyle/>
          <a:p>
            <a:pPr indent="0" marL="0">
              <a:lnSpc>
                <a:spcPct val="108000"/>
              </a:lnSpc>
              <a:buNone/>
            </a:pPr>
            <a:r>
              <a:rPr lang="en-US" sz="900" dirty="0">
                <a:solidFill>
                  <a:srgbClr val="E9DDD8"/>
                </a:solidFill>
                <a:latin typeface="Poppins" pitchFamily="34" charset="0"/>
                <a:ea typeface="Poppins" pitchFamily="34" charset="-122"/>
                <a:cs typeface="Poppins" pitchFamily="34" charset="-120"/>
              </a:rPr>
              <a:t>Core competence di desain dan pemasaran sepatu serta apparel olahraga.</a:t>
            </a:r>
            <a:endParaRPr lang="en-US" sz="900" dirty="0"/>
          </a:p>
        </p:txBody>
      </p:sp>
      <p:sp>
        <p:nvSpPr>
          <p:cNvPr id="40" name="Shape 37"/>
          <p:cNvSpPr/>
          <p:nvPr/>
        </p:nvSpPr>
        <p:spPr>
          <a:xfrm>
            <a:off x="8097317" y="5138928"/>
            <a:ext cx="3545738" cy="868680"/>
          </a:xfrm>
          <a:prstGeom prst="rect">
            <a:avLst/>
          </a:prstGeom>
          <a:solidFill>
            <a:srgbClr val="2B0F11"/>
          </a:solidFill>
          <a:ln w="12700">
            <a:solidFill>
              <a:srgbClr val="2B0F11"/>
            </a:solidFill>
            <a:prstDash val="solid"/>
          </a:ln>
        </p:spPr>
      </p:sp>
      <p:sp>
        <p:nvSpPr>
          <p:cNvPr id="41" name="Shape 38"/>
          <p:cNvSpPr/>
          <p:nvPr/>
        </p:nvSpPr>
        <p:spPr>
          <a:xfrm>
            <a:off x="8097317" y="5138928"/>
            <a:ext cx="54864" cy="868680"/>
          </a:xfrm>
          <a:prstGeom prst="rect">
            <a:avLst/>
          </a:prstGeom>
          <a:solidFill>
            <a:srgbClr val="DA291C"/>
          </a:solidFill>
          <a:ln w="12700">
            <a:solidFill>
              <a:srgbClr val="DA291C"/>
            </a:solidFill>
            <a:prstDash val="solid"/>
          </a:ln>
        </p:spPr>
      </p:sp>
      <p:sp>
        <p:nvSpPr>
          <p:cNvPr id="42" name="Text 39"/>
          <p:cNvSpPr/>
          <p:nvPr/>
        </p:nvSpPr>
        <p:spPr>
          <a:xfrm>
            <a:off x="8316773" y="5285232"/>
            <a:ext cx="3179978"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Kellogg</a:t>
            </a:r>
            <a:endParaRPr lang="en-US" sz="1100" dirty="0"/>
          </a:p>
        </p:txBody>
      </p:sp>
      <p:sp>
        <p:nvSpPr>
          <p:cNvPr id="43" name="Text 40"/>
          <p:cNvSpPr/>
          <p:nvPr/>
        </p:nvSpPr>
        <p:spPr>
          <a:xfrm>
            <a:off x="8316773" y="5614416"/>
            <a:ext cx="3179978" cy="283464"/>
          </a:xfrm>
          <a:prstGeom prst="rect">
            <a:avLst/>
          </a:prstGeom>
          <a:noFill/>
          <a:ln/>
        </p:spPr>
        <p:txBody>
          <a:bodyPr wrap="square" lIns="0" tIns="0" rIns="0" bIns="0" rtlCol="0" anchor="t"/>
          <a:lstStyle/>
          <a:p>
            <a:pPr indent="0" marL="0">
              <a:lnSpc>
                <a:spcPct val="108000"/>
              </a:lnSpc>
              <a:buNone/>
            </a:pPr>
            <a:r>
              <a:rPr lang="en-US" sz="900" dirty="0">
                <a:solidFill>
                  <a:srgbClr val="E9DDD8"/>
                </a:solidFill>
                <a:latin typeface="Poppins" pitchFamily="34" charset="0"/>
                <a:ea typeface="Poppins" pitchFamily="34" charset="-122"/>
                <a:cs typeface="Poppins" pitchFamily="34" charset="-120"/>
              </a:rPr>
              <a:t>Core competence di pengembangan, produksi, dan pemasaran sereal sarapan.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2  ·  FIGURE 4.2</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08</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SWOT BUKAN BIKIN EMPAT DAFTAR</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Nilai SWOT ada pada kesimpulan yang ditarik dari daftarnya, bukan pada daftarnya. Buku menggambarkannya sebagai tiga langkah.</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08</a:t>
            </a:r>
            <a:endParaRPr lang="en-US" sz="900" dirty="0"/>
          </a:p>
        </p:txBody>
      </p:sp>
      <p:sp>
        <p:nvSpPr>
          <p:cNvPr id="13" name="Shape 10"/>
          <p:cNvSpPr/>
          <p:nvPr/>
        </p:nvSpPr>
        <p:spPr>
          <a:xfrm>
            <a:off x="548640" y="1755648"/>
            <a:ext cx="5120640" cy="960120"/>
          </a:xfrm>
          <a:prstGeom prst="rect">
            <a:avLst/>
          </a:prstGeom>
          <a:solidFill>
            <a:srgbClr val="2B0F11"/>
          </a:solidFill>
          <a:ln w="12700">
            <a:solidFill>
              <a:srgbClr val="2B0F11"/>
            </a:solidFill>
            <a:prstDash val="solid"/>
          </a:ln>
        </p:spPr>
      </p:sp>
      <p:sp>
        <p:nvSpPr>
          <p:cNvPr id="14" name="Shape 11"/>
          <p:cNvSpPr/>
          <p:nvPr/>
        </p:nvSpPr>
        <p:spPr>
          <a:xfrm>
            <a:off x="731520" y="2002536"/>
            <a:ext cx="457200" cy="457200"/>
          </a:xfrm>
          <a:prstGeom prst="ellipse">
            <a:avLst/>
          </a:prstGeom>
          <a:solidFill>
            <a:srgbClr val="DA291C"/>
          </a:solidFill>
          <a:ln w="12700">
            <a:solidFill>
              <a:srgbClr val="DA291C"/>
            </a:solidFill>
            <a:prstDash val="solid"/>
          </a:ln>
        </p:spPr>
      </p:sp>
      <p:sp>
        <p:nvSpPr>
          <p:cNvPr id="15" name="Text 12"/>
          <p:cNvSpPr/>
          <p:nvPr/>
        </p:nvSpPr>
        <p:spPr>
          <a:xfrm>
            <a:off x="731520" y="200253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1</a:t>
            </a:r>
            <a:endParaRPr lang="en-US" sz="1200" dirty="0"/>
          </a:p>
        </p:txBody>
      </p:sp>
      <p:sp>
        <p:nvSpPr>
          <p:cNvPr id="16" name="Text 13"/>
          <p:cNvSpPr/>
          <p:nvPr/>
        </p:nvSpPr>
        <p:spPr>
          <a:xfrm>
            <a:off x="1371600" y="1892808"/>
            <a:ext cx="41148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Identifikasi</a:t>
            </a:r>
            <a:endParaRPr lang="en-US" sz="1200" dirty="0"/>
          </a:p>
        </p:txBody>
      </p:sp>
      <p:sp>
        <p:nvSpPr>
          <p:cNvPr id="17" name="Text 14"/>
          <p:cNvSpPr/>
          <p:nvPr/>
        </p:nvSpPr>
        <p:spPr>
          <a:xfrm>
            <a:off x="1371600" y="2167128"/>
            <a:ext cx="4114800" cy="530352"/>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Susun keempat daftar berdasarkan bukti, bukan opini. Table 4.2 di buku memberi contoh isi masing-masing.</a:t>
            </a:r>
            <a:endParaRPr lang="en-US" sz="900" dirty="0"/>
          </a:p>
        </p:txBody>
      </p:sp>
      <p:sp>
        <p:nvSpPr>
          <p:cNvPr id="18" name="Shape 15"/>
          <p:cNvSpPr/>
          <p:nvPr/>
        </p:nvSpPr>
        <p:spPr>
          <a:xfrm>
            <a:off x="548640" y="2852928"/>
            <a:ext cx="5120640" cy="960120"/>
          </a:xfrm>
          <a:prstGeom prst="rect">
            <a:avLst/>
          </a:prstGeom>
          <a:solidFill>
            <a:srgbClr val="2B0F11"/>
          </a:solidFill>
          <a:ln w="12700">
            <a:solidFill>
              <a:srgbClr val="2B0F11"/>
            </a:solidFill>
            <a:prstDash val="solid"/>
          </a:ln>
        </p:spPr>
      </p:sp>
      <p:sp>
        <p:nvSpPr>
          <p:cNvPr id="19" name="Shape 16"/>
          <p:cNvSpPr/>
          <p:nvPr/>
        </p:nvSpPr>
        <p:spPr>
          <a:xfrm>
            <a:off x="731520" y="3099816"/>
            <a:ext cx="457200" cy="457200"/>
          </a:xfrm>
          <a:prstGeom prst="ellipse">
            <a:avLst/>
          </a:prstGeom>
          <a:solidFill>
            <a:srgbClr val="DA291C"/>
          </a:solidFill>
          <a:ln w="12700">
            <a:solidFill>
              <a:srgbClr val="DA291C"/>
            </a:solidFill>
            <a:prstDash val="solid"/>
          </a:ln>
        </p:spPr>
      </p:sp>
      <p:sp>
        <p:nvSpPr>
          <p:cNvPr id="20" name="Text 17"/>
          <p:cNvSpPr/>
          <p:nvPr/>
        </p:nvSpPr>
        <p:spPr>
          <a:xfrm>
            <a:off x="731520" y="309981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2</a:t>
            </a:r>
            <a:endParaRPr lang="en-US" sz="1200" dirty="0"/>
          </a:p>
        </p:txBody>
      </p:sp>
      <p:sp>
        <p:nvSpPr>
          <p:cNvPr id="21" name="Text 18"/>
          <p:cNvSpPr/>
          <p:nvPr/>
        </p:nvSpPr>
        <p:spPr>
          <a:xfrm>
            <a:off x="1371600" y="2990088"/>
            <a:ext cx="41148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Tarik kesimpulan</a:t>
            </a:r>
            <a:endParaRPr lang="en-US" sz="1200" dirty="0"/>
          </a:p>
        </p:txBody>
      </p:sp>
      <p:sp>
        <p:nvSpPr>
          <p:cNvPr id="22" name="Text 19"/>
          <p:cNvSpPr/>
          <p:nvPr/>
        </p:nvSpPr>
        <p:spPr>
          <a:xfrm>
            <a:off x="1371600" y="3264408"/>
            <a:ext cx="4114800" cy="530352"/>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Dua pertanyaan: apa sebab berhasil atau gagalnya strategi? Sisi mana dari situasi perusahaan yang menarik, sisi mana yang tidak?</a:t>
            </a:r>
            <a:endParaRPr lang="en-US" sz="900" dirty="0"/>
          </a:p>
        </p:txBody>
      </p:sp>
      <p:sp>
        <p:nvSpPr>
          <p:cNvPr id="23" name="Shape 20"/>
          <p:cNvSpPr/>
          <p:nvPr/>
        </p:nvSpPr>
        <p:spPr>
          <a:xfrm>
            <a:off x="548640" y="3950208"/>
            <a:ext cx="5120640" cy="960120"/>
          </a:xfrm>
          <a:prstGeom prst="rect">
            <a:avLst/>
          </a:prstGeom>
          <a:solidFill>
            <a:srgbClr val="2B0F11"/>
          </a:solidFill>
          <a:ln w="12700">
            <a:solidFill>
              <a:srgbClr val="2B0F11"/>
            </a:solidFill>
            <a:prstDash val="solid"/>
          </a:ln>
        </p:spPr>
      </p:sp>
      <p:sp>
        <p:nvSpPr>
          <p:cNvPr id="24" name="Shape 21"/>
          <p:cNvSpPr/>
          <p:nvPr/>
        </p:nvSpPr>
        <p:spPr>
          <a:xfrm>
            <a:off x="731520" y="4197096"/>
            <a:ext cx="457200" cy="457200"/>
          </a:xfrm>
          <a:prstGeom prst="ellipse">
            <a:avLst/>
          </a:prstGeom>
          <a:solidFill>
            <a:srgbClr val="DA291C"/>
          </a:solidFill>
          <a:ln w="12700">
            <a:solidFill>
              <a:srgbClr val="DA291C"/>
            </a:solidFill>
            <a:prstDash val="solid"/>
          </a:ln>
        </p:spPr>
      </p:sp>
      <p:sp>
        <p:nvSpPr>
          <p:cNvPr id="25" name="Text 22"/>
          <p:cNvSpPr/>
          <p:nvPr/>
        </p:nvSpPr>
        <p:spPr>
          <a:xfrm>
            <a:off x="731520" y="419709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3</a:t>
            </a:r>
            <a:endParaRPr lang="en-US" sz="1200" dirty="0"/>
          </a:p>
        </p:txBody>
      </p:sp>
      <p:sp>
        <p:nvSpPr>
          <p:cNvPr id="26" name="Text 23"/>
          <p:cNvSpPr/>
          <p:nvPr/>
        </p:nvSpPr>
        <p:spPr>
          <a:xfrm>
            <a:off x="1371600" y="4087368"/>
            <a:ext cx="41148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Terjemahkan jadi tindakan</a:t>
            </a:r>
            <a:endParaRPr lang="en-US" sz="1200" dirty="0"/>
          </a:p>
        </p:txBody>
      </p:sp>
      <p:sp>
        <p:nvSpPr>
          <p:cNvPr id="27" name="Text 24"/>
          <p:cNvSpPr/>
          <p:nvPr/>
        </p:nvSpPr>
        <p:spPr>
          <a:xfrm>
            <a:off x="1371600" y="4361688"/>
            <a:ext cx="4114800" cy="530352"/>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Ubah kesimpulan itu menjadi langkah strategis yang konkret.</a:t>
            </a:r>
            <a:endParaRPr lang="en-US" sz="900" dirty="0"/>
          </a:p>
        </p:txBody>
      </p:sp>
      <p:sp>
        <p:nvSpPr>
          <p:cNvPr id="28" name="Shape 25"/>
          <p:cNvSpPr/>
          <p:nvPr/>
        </p:nvSpPr>
        <p:spPr>
          <a:xfrm>
            <a:off x="5943600" y="1755648"/>
            <a:ext cx="5669280" cy="3154680"/>
          </a:xfrm>
          <a:prstGeom prst="rect">
            <a:avLst/>
          </a:prstGeom>
          <a:solidFill>
            <a:srgbClr val="381418"/>
          </a:solidFill>
          <a:ln w="12700">
            <a:solidFill>
              <a:srgbClr val="381418"/>
            </a:solidFill>
            <a:prstDash val="solid"/>
          </a:ln>
        </p:spPr>
      </p:sp>
      <p:sp>
        <p:nvSpPr>
          <p:cNvPr id="29" name="Shape 26"/>
          <p:cNvSpPr/>
          <p:nvPr/>
        </p:nvSpPr>
        <p:spPr>
          <a:xfrm>
            <a:off x="5943600" y="1755648"/>
            <a:ext cx="54864" cy="3154680"/>
          </a:xfrm>
          <a:prstGeom prst="rect">
            <a:avLst/>
          </a:prstGeom>
          <a:solidFill>
            <a:srgbClr val="FBE122"/>
          </a:solidFill>
          <a:ln w="12700">
            <a:solidFill>
              <a:srgbClr val="FBE122"/>
            </a:solidFill>
            <a:prstDash val="solid"/>
          </a:ln>
        </p:spPr>
      </p:sp>
      <p:sp>
        <p:nvSpPr>
          <p:cNvPr id="30" name="Text 27"/>
          <p:cNvSpPr/>
          <p:nvPr/>
        </p:nvSpPr>
        <p:spPr>
          <a:xfrm>
            <a:off x="6199632" y="1920240"/>
            <a:ext cx="5212080" cy="274320"/>
          </a:xfrm>
          <a:prstGeom prst="rect">
            <a:avLst/>
          </a:prstGeom>
          <a:noFill/>
          <a:ln/>
        </p:spPr>
        <p:txBody>
          <a:bodyPr wrap="square" lIns="0" tIns="0" rIns="0" bIns="0" rtlCol="0" anchor="t"/>
          <a:lstStyle/>
          <a:p>
            <a:pPr indent="0" marL="0">
              <a:buNone/>
            </a:pPr>
            <a:r>
              <a:rPr lang="en-US" sz="900" spc="120" kern="0" dirty="0">
                <a:solidFill>
                  <a:srgbClr val="FBE122"/>
                </a:solidFill>
                <a:latin typeface="Poppins SemiBold" pitchFamily="34" charset="0"/>
                <a:ea typeface="Poppins SemiBold" pitchFamily="34" charset="-122"/>
                <a:cs typeface="Poppins SemiBold" pitchFamily="34" charset="-120"/>
              </a:rPr>
              <a:t>ENAM TINDAKAN YANG BISA LAHIR DARI LANGKAH 3</a:t>
            </a:r>
            <a:endParaRPr lang="en-US" sz="900" dirty="0"/>
          </a:p>
        </p:txBody>
      </p:sp>
      <p:sp>
        <p:nvSpPr>
          <p:cNvPr id="31" name="Text 28"/>
          <p:cNvSpPr/>
          <p:nvPr/>
        </p:nvSpPr>
        <p:spPr>
          <a:xfrm>
            <a:off x="6199632" y="2304288"/>
            <a:ext cx="5212080" cy="2560320"/>
          </a:xfrm>
          <a:prstGeom prst="rect">
            <a:avLst/>
          </a:prstGeom>
          <a:noFill/>
          <a:ln/>
        </p:spPr>
        <p:txBody>
          <a:bodyPr wrap="square" lIns="0" tIns="0" rIns="0" bIns="0" rtlCol="0" anchor="t"/>
          <a:lstStyle/>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Jadikan kekuatan sebagai fondasi strategi</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Perbaiki kelemahan yang menghambat strategi</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Pakai kekuatan untuk meredam ancaman besar</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Kejar peluang yang paling cocok dengan kekuatan</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Benahi kelemahan yang menghalangi peluang penting</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Tutup kelemahan yang membuat rentan pada ancaman</a:t>
            </a:r>
            <a:endParaRPr lang="en-US" sz="1000" dirty="0"/>
          </a:p>
        </p:txBody>
      </p:sp>
      <p:sp>
        <p:nvSpPr>
          <p:cNvPr id="32" name="Shape 29"/>
          <p:cNvSpPr/>
          <p:nvPr/>
        </p:nvSpPr>
        <p:spPr>
          <a:xfrm>
            <a:off x="548640" y="5138928"/>
            <a:ext cx="11064240" cy="731520"/>
          </a:xfrm>
          <a:prstGeom prst="rect">
            <a:avLst/>
          </a:prstGeom>
          <a:solidFill>
            <a:srgbClr val="DA291C"/>
          </a:solidFill>
          <a:ln w="12700">
            <a:solidFill>
              <a:srgbClr val="DA291C"/>
            </a:solidFill>
            <a:prstDash val="solid"/>
          </a:ln>
        </p:spPr>
      </p:sp>
      <p:sp>
        <p:nvSpPr>
          <p:cNvPr id="33" name="Text 30"/>
          <p:cNvSpPr/>
          <p:nvPr/>
        </p:nvSpPr>
        <p:spPr>
          <a:xfrm>
            <a:off x="777240" y="5266944"/>
            <a:ext cx="1060704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KETERBATASAN SWOT, DIAKUI BUKUNYA SENDIRI</a:t>
            </a:r>
            <a:endParaRPr lang="en-US" sz="800" dirty="0"/>
          </a:p>
        </p:txBody>
      </p:sp>
      <p:sp>
        <p:nvSpPr>
          <p:cNvPr id="34" name="Text 31"/>
          <p:cNvSpPr/>
          <p:nvPr/>
        </p:nvSpPr>
        <p:spPr>
          <a:xfrm>
            <a:off x="777240" y="5504688"/>
            <a:ext cx="10607040"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Kekuatannya ada pada kesederhanaan, dan itu juga batasnya. Untuk pemahaman yang lebih dalam dibutuhkan alat yang lebih canggih, yaitu Q3 sampai Q5 berikutnya.</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3</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09</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RESOURCE DAN CAPABILITY: DUA HAL BERBEDA</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Resource itu sesuatu yang perusahaan PUNYA. Capability itu sesuatu yang perusahaan BISA KERJAKAN. Capability dibangun dengan mengerahkan resource.</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09</a:t>
            </a:r>
            <a:endParaRPr lang="en-US" sz="900" dirty="0"/>
          </a:p>
        </p:txBody>
      </p:sp>
      <p:sp>
        <p:nvSpPr>
          <p:cNvPr id="13" name="Shape 10"/>
          <p:cNvSpPr/>
          <p:nvPr/>
        </p:nvSpPr>
        <p:spPr>
          <a:xfrm>
            <a:off x="548640" y="1755648"/>
            <a:ext cx="5432908" cy="960120"/>
          </a:xfrm>
          <a:prstGeom prst="rect">
            <a:avLst/>
          </a:prstGeom>
          <a:solidFill>
            <a:srgbClr val="2B0F11"/>
          </a:solidFill>
          <a:ln w="12700">
            <a:solidFill>
              <a:srgbClr val="2B0F11"/>
            </a:solidFill>
            <a:prstDash val="solid"/>
          </a:ln>
        </p:spPr>
      </p:sp>
      <p:sp>
        <p:nvSpPr>
          <p:cNvPr id="14" name="Shape 11"/>
          <p:cNvSpPr/>
          <p:nvPr/>
        </p:nvSpPr>
        <p:spPr>
          <a:xfrm>
            <a:off x="548640" y="1755648"/>
            <a:ext cx="54864" cy="960120"/>
          </a:xfrm>
          <a:prstGeom prst="rect">
            <a:avLst/>
          </a:prstGeom>
          <a:solidFill>
            <a:srgbClr val="DA291C"/>
          </a:solidFill>
          <a:ln w="12700">
            <a:solidFill>
              <a:srgbClr val="DA291C"/>
            </a:solidFill>
            <a:prstDash val="solid"/>
          </a:ln>
        </p:spPr>
      </p:sp>
      <p:sp>
        <p:nvSpPr>
          <p:cNvPr id="15" name="Text 12"/>
          <p:cNvSpPr/>
          <p:nvPr/>
        </p:nvSpPr>
        <p:spPr>
          <a:xfrm>
            <a:off x="768096" y="1901952"/>
            <a:ext cx="5067148" cy="274320"/>
          </a:xfrm>
          <a:prstGeom prst="rect">
            <a:avLst/>
          </a:prstGeom>
          <a:noFill/>
          <a:ln/>
        </p:spPr>
        <p:txBody>
          <a:bodyPr wrap="square" lIns="0" tIns="0" rIns="0" bIns="0" rtlCol="0" anchor="t"/>
          <a:lstStyle/>
          <a:p>
            <a:pPr indent="0" marL="0">
              <a:lnSpc>
                <a:spcPct val="95000"/>
              </a:lnSpc>
              <a:buNone/>
            </a:pPr>
            <a:r>
              <a:rPr lang="en-US" sz="1300" dirty="0">
                <a:solidFill>
                  <a:srgbClr val="FFFFFF"/>
                </a:solidFill>
                <a:latin typeface="Poppins SemiBold" pitchFamily="34" charset="0"/>
                <a:ea typeface="Poppins SemiBold" pitchFamily="34" charset="-122"/>
                <a:cs typeface="Poppins SemiBold" pitchFamily="34" charset="-120"/>
              </a:rPr>
              <a:t>Resource</a:t>
            </a:r>
            <a:endParaRPr lang="en-US" sz="1300" dirty="0"/>
          </a:p>
        </p:txBody>
      </p:sp>
      <p:sp>
        <p:nvSpPr>
          <p:cNvPr id="16" name="Text 13"/>
          <p:cNvSpPr/>
          <p:nvPr/>
        </p:nvSpPr>
        <p:spPr>
          <a:xfrm>
            <a:off x="768096" y="2231136"/>
            <a:ext cx="5067148" cy="37490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Aset bersaing yang dimiliki atau dikendalikan perusahaan. Contoh: merek, pabrik, kas, paten, tim R&amp;D.</a:t>
            </a:r>
            <a:endParaRPr lang="en-US" sz="950" dirty="0"/>
          </a:p>
        </p:txBody>
      </p:sp>
      <p:sp>
        <p:nvSpPr>
          <p:cNvPr id="17" name="Shape 14"/>
          <p:cNvSpPr/>
          <p:nvPr/>
        </p:nvSpPr>
        <p:spPr>
          <a:xfrm>
            <a:off x="6210148" y="1755648"/>
            <a:ext cx="5432908" cy="960120"/>
          </a:xfrm>
          <a:prstGeom prst="rect">
            <a:avLst/>
          </a:prstGeom>
          <a:solidFill>
            <a:srgbClr val="2B0F11"/>
          </a:solidFill>
          <a:ln w="12700">
            <a:solidFill>
              <a:srgbClr val="2B0F11"/>
            </a:solidFill>
            <a:prstDash val="solid"/>
          </a:ln>
        </p:spPr>
      </p:sp>
      <p:sp>
        <p:nvSpPr>
          <p:cNvPr id="18" name="Shape 15"/>
          <p:cNvSpPr/>
          <p:nvPr/>
        </p:nvSpPr>
        <p:spPr>
          <a:xfrm>
            <a:off x="6210148" y="1755648"/>
            <a:ext cx="54864" cy="960120"/>
          </a:xfrm>
          <a:prstGeom prst="rect">
            <a:avLst/>
          </a:prstGeom>
          <a:solidFill>
            <a:srgbClr val="FBE122"/>
          </a:solidFill>
          <a:ln w="12700">
            <a:solidFill>
              <a:srgbClr val="FBE122"/>
            </a:solidFill>
            <a:prstDash val="solid"/>
          </a:ln>
        </p:spPr>
      </p:sp>
      <p:sp>
        <p:nvSpPr>
          <p:cNvPr id="19" name="Text 16"/>
          <p:cNvSpPr/>
          <p:nvPr/>
        </p:nvSpPr>
        <p:spPr>
          <a:xfrm>
            <a:off x="6429604" y="1901952"/>
            <a:ext cx="5067148" cy="274320"/>
          </a:xfrm>
          <a:prstGeom prst="rect">
            <a:avLst/>
          </a:prstGeom>
          <a:noFill/>
          <a:ln/>
        </p:spPr>
        <p:txBody>
          <a:bodyPr wrap="square" lIns="0" tIns="0" rIns="0" bIns="0" rtlCol="0" anchor="t"/>
          <a:lstStyle/>
          <a:p>
            <a:pPr indent="0" marL="0">
              <a:lnSpc>
                <a:spcPct val="95000"/>
              </a:lnSpc>
              <a:buNone/>
            </a:pPr>
            <a:r>
              <a:rPr lang="en-US" sz="1300" dirty="0">
                <a:solidFill>
                  <a:srgbClr val="FFFFFF"/>
                </a:solidFill>
                <a:latin typeface="Poppins SemiBold" pitchFamily="34" charset="0"/>
                <a:ea typeface="Poppins SemiBold" pitchFamily="34" charset="-122"/>
                <a:cs typeface="Poppins SemiBold" pitchFamily="34" charset="-120"/>
              </a:rPr>
              <a:t>Capability</a:t>
            </a:r>
            <a:endParaRPr lang="en-US" sz="1300" dirty="0"/>
          </a:p>
        </p:txBody>
      </p:sp>
      <p:sp>
        <p:nvSpPr>
          <p:cNvPr id="20" name="Text 17"/>
          <p:cNvSpPr/>
          <p:nvPr/>
        </p:nvSpPr>
        <p:spPr>
          <a:xfrm>
            <a:off x="6429604" y="2231136"/>
            <a:ext cx="5067148" cy="37490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Kemampuan perusahaan mengerjakan suatu aktivitas internal dengan baik. Disebut juga competence. Contoh: kemampuan Starbucks mengelola dan melatih karyawan.</a:t>
            </a:r>
            <a:endParaRPr lang="en-US" sz="950" dirty="0"/>
          </a:p>
        </p:txBody>
      </p:sp>
      <p:sp>
        <p:nvSpPr>
          <p:cNvPr id="21" name="Text 18"/>
          <p:cNvSpPr/>
          <p:nvPr/>
        </p:nvSpPr>
        <p:spPr>
          <a:xfrm>
            <a:off x="548640" y="2944368"/>
            <a:ext cx="54864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TABLE 4.3  ·  TIPE RESOURCE</a:t>
            </a:r>
            <a:endParaRPr lang="en-US" sz="850" dirty="0"/>
          </a:p>
        </p:txBody>
      </p:sp>
      <p:sp>
        <p:nvSpPr>
          <p:cNvPr id="22" name="Shape 19"/>
          <p:cNvSpPr/>
          <p:nvPr/>
        </p:nvSpPr>
        <p:spPr>
          <a:xfrm>
            <a:off x="548640" y="3236976"/>
            <a:ext cx="5432908" cy="457200"/>
          </a:xfrm>
          <a:prstGeom prst="rect">
            <a:avLst/>
          </a:prstGeom>
          <a:solidFill>
            <a:srgbClr val="DA291C"/>
          </a:solidFill>
          <a:ln w="12700">
            <a:solidFill>
              <a:srgbClr val="DA291C"/>
            </a:solidFill>
            <a:prstDash val="solid"/>
          </a:ln>
        </p:spPr>
      </p:sp>
      <p:sp>
        <p:nvSpPr>
          <p:cNvPr id="23" name="Text 20"/>
          <p:cNvSpPr/>
          <p:nvPr/>
        </p:nvSpPr>
        <p:spPr>
          <a:xfrm>
            <a:off x="768096" y="3328416"/>
            <a:ext cx="1828800" cy="27432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Tangible</a:t>
            </a:r>
            <a:endParaRPr lang="en-US" sz="1300" dirty="0"/>
          </a:p>
        </p:txBody>
      </p:sp>
      <p:sp>
        <p:nvSpPr>
          <p:cNvPr id="24" name="Text 21"/>
          <p:cNvSpPr/>
          <p:nvPr/>
        </p:nvSpPr>
        <p:spPr>
          <a:xfrm>
            <a:off x="2377440" y="3364992"/>
            <a:ext cx="3421228" cy="274320"/>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bisa disentuh atau dihitung</a:t>
            </a:r>
            <a:endParaRPr lang="en-US" sz="900" dirty="0"/>
          </a:p>
        </p:txBody>
      </p:sp>
      <p:sp>
        <p:nvSpPr>
          <p:cNvPr id="25" name="Shape 22"/>
          <p:cNvSpPr/>
          <p:nvPr/>
        </p:nvSpPr>
        <p:spPr>
          <a:xfrm>
            <a:off x="548640" y="3694176"/>
            <a:ext cx="5432908" cy="566928"/>
          </a:xfrm>
          <a:prstGeom prst="rect">
            <a:avLst/>
          </a:prstGeom>
          <a:solidFill>
            <a:srgbClr val="2B0F11"/>
          </a:solidFill>
          <a:ln w="12700">
            <a:solidFill>
              <a:srgbClr val="2B0F11"/>
            </a:solidFill>
            <a:prstDash val="solid"/>
          </a:ln>
        </p:spPr>
      </p:sp>
      <p:sp>
        <p:nvSpPr>
          <p:cNvPr id="26" name="Text 23"/>
          <p:cNvSpPr/>
          <p:nvPr/>
        </p:nvSpPr>
        <p:spPr>
          <a:xfrm>
            <a:off x="768096" y="3785616"/>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Fisik</a:t>
            </a:r>
            <a:endParaRPr lang="en-US" sz="1000" dirty="0"/>
          </a:p>
        </p:txBody>
      </p:sp>
      <p:sp>
        <p:nvSpPr>
          <p:cNvPr id="27" name="Text 24"/>
          <p:cNvSpPr/>
          <p:nvPr/>
        </p:nvSpPr>
        <p:spPr>
          <a:xfrm>
            <a:off x="2468880" y="3785616"/>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E9DDD8"/>
                </a:solidFill>
                <a:latin typeface="Poppins" pitchFamily="34" charset="0"/>
                <a:ea typeface="Poppins" pitchFamily="34" charset="-122"/>
                <a:cs typeface="Poppins" pitchFamily="34" charset="-120"/>
              </a:rPr>
              <a:t>tanah, pabrik, peralatan, lokasi, sumber daya alam</a:t>
            </a:r>
            <a:endParaRPr lang="en-US" sz="900" dirty="0"/>
          </a:p>
        </p:txBody>
      </p:sp>
      <p:sp>
        <p:nvSpPr>
          <p:cNvPr id="28" name="Shape 25"/>
          <p:cNvSpPr/>
          <p:nvPr/>
        </p:nvSpPr>
        <p:spPr>
          <a:xfrm>
            <a:off x="548640" y="4297680"/>
            <a:ext cx="5432908" cy="566928"/>
          </a:xfrm>
          <a:prstGeom prst="rect">
            <a:avLst/>
          </a:prstGeom>
          <a:solidFill>
            <a:srgbClr val="381418"/>
          </a:solidFill>
          <a:ln w="12700">
            <a:solidFill>
              <a:srgbClr val="381418"/>
            </a:solidFill>
            <a:prstDash val="solid"/>
          </a:ln>
        </p:spPr>
      </p:sp>
      <p:sp>
        <p:nvSpPr>
          <p:cNvPr id="29" name="Text 26"/>
          <p:cNvSpPr/>
          <p:nvPr/>
        </p:nvSpPr>
        <p:spPr>
          <a:xfrm>
            <a:off x="768096" y="4389120"/>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Finansial</a:t>
            </a:r>
            <a:endParaRPr lang="en-US" sz="1000" dirty="0"/>
          </a:p>
        </p:txBody>
      </p:sp>
      <p:sp>
        <p:nvSpPr>
          <p:cNvPr id="30" name="Text 27"/>
          <p:cNvSpPr/>
          <p:nvPr/>
        </p:nvSpPr>
        <p:spPr>
          <a:xfrm>
            <a:off x="2468880" y="4389120"/>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E9DDD8"/>
                </a:solidFill>
                <a:latin typeface="Poppins" pitchFamily="34" charset="0"/>
                <a:ea typeface="Poppins" pitchFamily="34" charset="-122"/>
                <a:cs typeface="Poppins" pitchFamily="34" charset="-120"/>
              </a:rPr>
              <a:t>kas, surat berharga, peringkat kredit</a:t>
            </a:r>
            <a:endParaRPr lang="en-US" sz="900" dirty="0"/>
          </a:p>
        </p:txBody>
      </p:sp>
      <p:sp>
        <p:nvSpPr>
          <p:cNvPr id="31" name="Shape 28"/>
          <p:cNvSpPr/>
          <p:nvPr/>
        </p:nvSpPr>
        <p:spPr>
          <a:xfrm>
            <a:off x="548640" y="4901184"/>
            <a:ext cx="5432908" cy="566928"/>
          </a:xfrm>
          <a:prstGeom prst="rect">
            <a:avLst/>
          </a:prstGeom>
          <a:solidFill>
            <a:srgbClr val="2B0F11"/>
          </a:solidFill>
          <a:ln w="12700">
            <a:solidFill>
              <a:srgbClr val="2B0F11"/>
            </a:solidFill>
            <a:prstDash val="solid"/>
          </a:ln>
        </p:spPr>
      </p:sp>
      <p:sp>
        <p:nvSpPr>
          <p:cNvPr id="32" name="Text 29"/>
          <p:cNvSpPr/>
          <p:nvPr/>
        </p:nvSpPr>
        <p:spPr>
          <a:xfrm>
            <a:off x="768096" y="4992624"/>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Teknologi</a:t>
            </a:r>
            <a:endParaRPr lang="en-US" sz="1000" dirty="0"/>
          </a:p>
        </p:txBody>
      </p:sp>
      <p:sp>
        <p:nvSpPr>
          <p:cNvPr id="33" name="Text 30"/>
          <p:cNvSpPr/>
          <p:nvPr/>
        </p:nvSpPr>
        <p:spPr>
          <a:xfrm>
            <a:off x="2468880" y="4992624"/>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E9DDD8"/>
                </a:solidFill>
                <a:latin typeface="Poppins" pitchFamily="34" charset="0"/>
                <a:ea typeface="Poppins" pitchFamily="34" charset="-122"/>
                <a:cs typeface="Poppins" pitchFamily="34" charset="-120"/>
              </a:rPr>
              <a:t>paten, hak cipta, teknologi produksi dan inovasi</a:t>
            </a:r>
            <a:endParaRPr lang="en-US" sz="900" dirty="0"/>
          </a:p>
        </p:txBody>
      </p:sp>
      <p:sp>
        <p:nvSpPr>
          <p:cNvPr id="34" name="Shape 31"/>
          <p:cNvSpPr/>
          <p:nvPr/>
        </p:nvSpPr>
        <p:spPr>
          <a:xfrm>
            <a:off x="548640" y="5504688"/>
            <a:ext cx="5432908" cy="566928"/>
          </a:xfrm>
          <a:prstGeom prst="rect">
            <a:avLst/>
          </a:prstGeom>
          <a:solidFill>
            <a:srgbClr val="381418"/>
          </a:solidFill>
          <a:ln w="12700">
            <a:solidFill>
              <a:srgbClr val="381418"/>
            </a:solidFill>
            <a:prstDash val="solid"/>
          </a:ln>
        </p:spPr>
      </p:sp>
      <p:sp>
        <p:nvSpPr>
          <p:cNvPr id="35" name="Text 32"/>
          <p:cNvSpPr/>
          <p:nvPr/>
        </p:nvSpPr>
        <p:spPr>
          <a:xfrm>
            <a:off x="768096" y="5596128"/>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Organisasional</a:t>
            </a:r>
            <a:endParaRPr lang="en-US" sz="1000" dirty="0"/>
          </a:p>
        </p:txBody>
      </p:sp>
      <p:sp>
        <p:nvSpPr>
          <p:cNvPr id="36" name="Text 33"/>
          <p:cNvSpPr/>
          <p:nvPr/>
        </p:nvSpPr>
        <p:spPr>
          <a:xfrm>
            <a:off x="2468880" y="5596128"/>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E9DDD8"/>
                </a:solidFill>
                <a:latin typeface="Poppins" pitchFamily="34" charset="0"/>
                <a:ea typeface="Poppins" pitchFamily="34" charset="-122"/>
                <a:cs typeface="Poppins" pitchFamily="34" charset="-120"/>
              </a:rPr>
              <a:t>sistem IT, sistem kendali, struktur organisasi</a:t>
            </a:r>
            <a:endParaRPr lang="en-US" sz="900" dirty="0"/>
          </a:p>
        </p:txBody>
      </p:sp>
      <p:sp>
        <p:nvSpPr>
          <p:cNvPr id="37" name="Shape 34"/>
          <p:cNvSpPr/>
          <p:nvPr/>
        </p:nvSpPr>
        <p:spPr>
          <a:xfrm>
            <a:off x="6210148" y="3236976"/>
            <a:ext cx="5432908" cy="457200"/>
          </a:xfrm>
          <a:prstGeom prst="rect">
            <a:avLst/>
          </a:prstGeom>
          <a:solidFill>
            <a:srgbClr val="FBE122"/>
          </a:solidFill>
          <a:ln w="12700">
            <a:solidFill>
              <a:srgbClr val="FBE122"/>
            </a:solidFill>
            <a:prstDash val="solid"/>
          </a:ln>
        </p:spPr>
      </p:sp>
      <p:sp>
        <p:nvSpPr>
          <p:cNvPr id="38" name="Text 35"/>
          <p:cNvSpPr/>
          <p:nvPr/>
        </p:nvSpPr>
        <p:spPr>
          <a:xfrm>
            <a:off x="6429604" y="3328416"/>
            <a:ext cx="1828800" cy="274320"/>
          </a:xfrm>
          <a:prstGeom prst="rect">
            <a:avLst/>
          </a:prstGeom>
          <a:noFill/>
          <a:ln/>
        </p:spPr>
        <p:txBody>
          <a:bodyPr wrap="square" lIns="0" tIns="0" rIns="0" bIns="0" rtlCol="0" anchor="t"/>
          <a:lstStyle/>
          <a:p>
            <a:pPr indent="0" marL="0">
              <a:buNone/>
            </a:pPr>
            <a:r>
              <a:rPr lang="en-US" sz="1300" dirty="0">
                <a:solidFill>
                  <a:srgbClr val="1A0809"/>
                </a:solidFill>
                <a:latin typeface="Poppins ExtraBold" pitchFamily="34" charset="0"/>
                <a:ea typeface="Poppins ExtraBold" pitchFamily="34" charset="-122"/>
                <a:cs typeface="Poppins ExtraBold" pitchFamily="34" charset="-120"/>
              </a:rPr>
              <a:t>Intangible</a:t>
            </a:r>
            <a:endParaRPr lang="en-US" sz="1300" dirty="0"/>
          </a:p>
        </p:txBody>
      </p:sp>
      <p:sp>
        <p:nvSpPr>
          <p:cNvPr id="39" name="Text 36"/>
          <p:cNvSpPr/>
          <p:nvPr/>
        </p:nvSpPr>
        <p:spPr>
          <a:xfrm>
            <a:off x="8038948" y="3364992"/>
            <a:ext cx="3421228" cy="274320"/>
          </a:xfrm>
          <a:prstGeom prst="rect">
            <a:avLst/>
          </a:prstGeom>
          <a:noFill/>
          <a:ln/>
        </p:spPr>
        <p:txBody>
          <a:bodyPr wrap="square" lIns="0" tIns="0" rIns="0" bIns="0" rtlCol="0" anchor="t"/>
          <a:lstStyle/>
          <a:p>
            <a:pPr indent="0" marL="0">
              <a:buNone/>
            </a:pPr>
            <a:r>
              <a:rPr lang="en-US" sz="900" dirty="0">
                <a:solidFill>
                  <a:srgbClr val="1A0809"/>
                </a:solidFill>
                <a:latin typeface="Poppins" pitchFamily="34" charset="0"/>
                <a:ea typeface="Poppins" pitchFamily="34" charset="-122"/>
                <a:cs typeface="Poppins" pitchFamily="34" charset="-120"/>
              </a:rPr>
              <a:t>tidak berwujud</a:t>
            </a:r>
            <a:endParaRPr lang="en-US" sz="900" dirty="0"/>
          </a:p>
        </p:txBody>
      </p:sp>
      <p:sp>
        <p:nvSpPr>
          <p:cNvPr id="40" name="Shape 37"/>
          <p:cNvSpPr/>
          <p:nvPr/>
        </p:nvSpPr>
        <p:spPr>
          <a:xfrm>
            <a:off x="6210148" y="3694176"/>
            <a:ext cx="5432908" cy="566928"/>
          </a:xfrm>
          <a:prstGeom prst="rect">
            <a:avLst/>
          </a:prstGeom>
          <a:solidFill>
            <a:srgbClr val="2B0F11"/>
          </a:solidFill>
          <a:ln w="12700">
            <a:solidFill>
              <a:srgbClr val="2B0F11"/>
            </a:solidFill>
            <a:prstDash val="solid"/>
          </a:ln>
        </p:spPr>
      </p:sp>
      <p:sp>
        <p:nvSpPr>
          <p:cNvPr id="41" name="Text 38"/>
          <p:cNvSpPr/>
          <p:nvPr/>
        </p:nvSpPr>
        <p:spPr>
          <a:xfrm>
            <a:off x="6429604" y="3785616"/>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Human assets</a:t>
            </a:r>
            <a:endParaRPr lang="en-US" sz="1000" dirty="0"/>
          </a:p>
        </p:txBody>
      </p:sp>
      <p:sp>
        <p:nvSpPr>
          <p:cNvPr id="42" name="Text 39"/>
          <p:cNvSpPr/>
          <p:nvPr/>
        </p:nvSpPr>
        <p:spPr>
          <a:xfrm>
            <a:off x="8130388" y="3785616"/>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E9DDD8"/>
                </a:solidFill>
                <a:latin typeface="Poppins" pitchFamily="34" charset="0"/>
                <a:ea typeface="Poppins" pitchFamily="34" charset="-122"/>
                <a:cs typeface="Poppins" pitchFamily="34" charset="-120"/>
              </a:rPr>
              <a:t>pendidikan, pengalaman, bakat, pengetahuan</a:t>
            </a:r>
            <a:endParaRPr lang="en-US" sz="900" dirty="0"/>
          </a:p>
        </p:txBody>
      </p:sp>
      <p:sp>
        <p:nvSpPr>
          <p:cNvPr id="43" name="Shape 40"/>
          <p:cNvSpPr/>
          <p:nvPr/>
        </p:nvSpPr>
        <p:spPr>
          <a:xfrm>
            <a:off x="6210148" y="4297680"/>
            <a:ext cx="5432908" cy="566928"/>
          </a:xfrm>
          <a:prstGeom prst="rect">
            <a:avLst/>
          </a:prstGeom>
          <a:solidFill>
            <a:srgbClr val="381418"/>
          </a:solidFill>
          <a:ln w="12700">
            <a:solidFill>
              <a:srgbClr val="381418"/>
            </a:solidFill>
            <a:prstDash val="solid"/>
          </a:ln>
        </p:spPr>
      </p:sp>
      <p:sp>
        <p:nvSpPr>
          <p:cNvPr id="44" name="Text 41"/>
          <p:cNvSpPr/>
          <p:nvPr/>
        </p:nvSpPr>
        <p:spPr>
          <a:xfrm>
            <a:off x="6429604" y="4389120"/>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Merek &amp; reputasi</a:t>
            </a:r>
            <a:endParaRPr lang="en-US" sz="1000" dirty="0"/>
          </a:p>
        </p:txBody>
      </p:sp>
      <p:sp>
        <p:nvSpPr>
          <p:cNvPr id="45" name="Text 42"/>
          <p:cNvSpPr/>
          <p:nvPr/>
        </p:nvSpPr>
        <p:spPr>
          <a:xfrm>
            <a:off x="8130388" y="4389120"/>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E9DDD8"/>
                </a:solidFill>
                <a:latin typeface="Poppins" pitchFamily="34" charset="0"/>
                <a:ea typeface="Poppins" pitchFamily="34" charset="-122"/>
                <a:cs typeface="Poppins" pitchFamily="34" charset="-120"/>
              </a:rPr>
              <a:t>nama merek, citra, loyalitas, reputasi mutu</a:t>
            </a:r>
            <a:endParaRPr lang="en-US" sz="900" dirty="0"/>
          </a:p>
        </p:txBody>
      </p:sp>
      <p:sp>
        <p:nvSpPr>
          <p:cNvPr id="46" name="Shape 43"/>
          <p:cNvSpPr/>
          <p:nvPr/>
        </p:nvSpPr>
        <p:spPr>
          <a:xfrm>
            <a:off x="6210148" y="4901184"/>
            <a:ext cx="5432908" cy="566928"/>
          </a:xfrm>
          <a:prstGeom prst="rect">
            <a:avLst/>
          </a:prstGeom>
          <a:solidFill>
            <a:srgbClr val="2B0F11"/>
          </a:solidFill>
          <a:ln w="12700">
            <a:solidFill>
              <a:srgbClr val="2B0F11"/>
            </a:solidFill>
            <a:prstDash val="solid"/>
          </a:ln>
        </p:spPr>
      </p:sp>
      <p:sp>
        <p:nvSpPr>
          <p:cNvPr id="47" name="Text 44"/>
          <p:cNvSpPr/>
          <p:nvPr/>
        </p:nvSpPr>
        <p:spPr>
          <a:xfrm>
            <a:off x="6429604" y="4992624"/>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Relasi</a:t>
            </a:r>
            <a:endParaRPr lang="en-US" sz="1000" dirty="0"/>
          </a:p>
        </p:txBody>
      </p:sp>
      <p:sp>
        <p:nvSpPr>
          <p:cNvPr id="48" name="Text 45"/>
          <p:cNvSpPr/>
          <p:nvPr/>
        </p:nvSpPr>
        <p:spPr>
          <a:xfrm>
            <a:off x="8130388" y="4992624"/>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E9DDD8"/>
                </a:solidFill>
                <a:latin typeface="Poppins" pitchFamily="34" charset="0"/>
                <a:ea typeface="Poppins" pitchFamily="34" charset="-122"/>
                <a:cs typeface="Poppins" pitchFamily="34" charset="-120"/>
              </a:rPr>
              <a:t>aliansi, joint venture, jaringan dealer</a:t>
            </a:r>
            <a:endParaRPr lang="en-US" sz="900" dirty="0"/>
          </a:p>
        </p:txBody>
      </p:sp>
      <p:sp>
        <p:nvSpPr>
          <p:cNvPr id="49" name="Shape 46"/>
          <p:cNvSpPr/>
          <p:nvPr/>
        </p:nvSpPr>
        <p:spPr>
          <a:xfrm>
            <a:off x="6210148" y="5504688"/>
            <a:ext cx="5432908" cy="566928"/>
          </a:xfrm>
          <a:prstGeom prst="rect">
            <a:avLst/>
          </a:prstGeom>
          <a:solidFill>
            <a:srgbClr val="381418"/>
          </a:solidFill>
          <a:ln w="12700">
            <a:solidFill>
              <a:srgbClr val="381418"/>
            </a:solidFill>
            <a:prstDash val="solid"/>
          </a:ln>
        </p:spPr>
      </p:sp>
      <p:sp>
        <p:nvSpPr>
          <p:cNvPr id="50" name="Text 47"/>
          <p:cNvSpPr/>
          <p:nvPr/>
        </p:nvSpPr>
        <p:spPr>
          <a:xfrm>
            <a:off x="6429604" y="5596128"/>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Budaya &amp; insentif</a:t>
            </a:r>
            <a:endParaRPr lang="en-US" sz="1000" dirty="0"/>
          </a:p>
        </p:txBody>
      </p:sp>
      <p:sp>
        <p:nvSpPr>
          <p:cNvPr id="51" name="Text 48"/>
          <p:cNvSpPr/>
          <p:nvPr/>
        </p:nvSpPr>
        <p:spPr>
          <a:xfrm>
            <a:off x="8130388" y="5596128"/>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E9DDD8"/>
                </a:solidFill>
                <a:latin typeface="Poppins" pitchFamily="34" charset="0"/>
                <a:ea typeface="Poppins" pitchFamily="34" charset="-122"/>
                <a:cs typeface="Poppins" pitchFamily="34" charset="-120"/>
              </a:rPr>
              <a:t>norma perilaku, keyakinan bersama, kompensasi</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3  ·  LANJUTAN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10</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CARA MENEMUKAN CAPABILITY PERUSAHAAN</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Capability lebih sulit ditemukan daripada resource, karena wujudnya tidak kelihatan. Buku memberi dua cara.</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10</a:t>
            </a:r>
            <a:endParaRPr lang="en-US" sz="900" dirty="0"/>
          </a:p>
        </p:txBody>
      </p:sp>
      <p:pic>
        <p:nvPicPr>
          <p:cNvPr id="13" name="Image 0" descr="c_sq_a.jpg">    </p:cNvPr>
          <p:cNvPicPr>
            <a:picLocks noChangeAspect="1"/>
          </p:cNvPicPr>
          <p:nvPr/>
        </p:nvPicPr>
        <p:blipFill>
          <a:blip r:embed="rId1"/>
          <a:stretch>
            <a:fillRect/>
          </a:stretch>
        </p:blipFill>
        <p:spPr>
          <a:xfrm>
            <a:off x="9555480" y="1892808"/>
            <a:ext cx="2148840" cy="2148840"/>
          </a:xfrm>
          <a:prstGeom prst="rect">
            <a:avLst/>
          </a:prstGeom>
        </p:spPr>
      </p:pic>
      <p:sp>
        <p:nvSpPr>
          <p:cNvPr id="14" name="Text 10"/>
          <p:cNvSpPr/>
          <p:nvPr/>
        </p:nvSpPr>
        <p:spPr>
          <a:xfrm>
            <a:off x="9555480" y="4178808"/>
            <a:ext cx="2148840" cy="1188720"/>
          </a:xfrm>
          <a:prstGeom prst="rect">
            <a:avLst/>
          </a:prstGeom>
          <a:noFill/>
          <a:ln/>
        </p:spPr>
        <p:txBody>
          <a:bodyPr wrap="square" lIns="0" tIns="0" rIns="0" bIns="0" rtlCol="0" anchor="t"/>
          <a:lstStyle/>
          <a:p>
            <a:pPr algn="ctr" indent="0" marL="0">
              <a:lnSpc>
                <a:spcPct val="108000"/>
              </a:lnSpc>
              <a:buNone/>
            </a:pPr>
            <a:r>
              <a:rPr lang="en-US" sz="850" dirty="0">
                <a:solidFill>
                  <a:srgbClr val="A8928E"/>
                </a:solidFill>
                <a:latin typeface="Poppins" pitchFamily="34" charset="0"/>
                <a:ea typeface="Poppins" pitchFamily="34" charset="-122"/>
                <a:cs typeface="Poppins" pitchFamily="34" charset="-120"/>
              </a:rPr>
              <a:t>Capability yang lolos semua saringan adalah yang membawa gelar. Alat ujinya di slide berikutnya: VRIN Test.</a:t>
            </a:r>
            <a:endParaRPr lang="en-US" sz="850" dirty="0"/>
          </a:p>
        </p:txBody>
      </p:sp>
      <p:sp>
        <p:nvSpPr>
          <p:cNvPr id="15" name="Shape 11"/>
          <p:cNvSpPr/>
          <p:nvPr/>
        </p:nvSpPr>
        <p:spPr>
          <a:xfrm>
            <a:off x="548640" y="1755648"/>
            <a:ext cx="4274820" cy="1554480"/>
          </a:xfrm>
          <a:prstGeom prst="rect">
            <a:avLst/>
          </a:prstGeom>
          <a:solidFill>
            <a:srgbClr val="2B0F11"/>
          </a:solidFill>
          <a:ln w="12700">
            <a:solidFill>
              <a:srgbClr val="2B0F11"/>
            </a:solidFill>
            <a:prstDash val="solid"/>
          </a:ln>
        </p:spPr>
      </p:sp>
      <p:sp>
        <p:nvSpPr>
          <p:cNvPr id="16" name="Shape 12"/>
          <p:cNvSpPr/>
          <p:nvPr/>
        </p:nvSpPr>
        <p:spPr>
          <a:xfrm>
            <a:off x="548640" y="1755648"/>
            <a:ext cx="54864" cy="1554480"/>
          </a:xfrm>
          <a:prstGeom prst="rect">
            <a:avLst/>
          </a:prstGeom>
          <a:solidFill>
            <a:srgbClr val="DA291C"/>
          </a:solidFill>
          <a:ln w="12700">
            <a:solidFill>
              <a:srgbClr val="DA291C"/>
            </a:solidFill>
            <a:prstDash val="solid"/>
          </a:ln>
        </p:spPr>
      </p:sp>
      <p:sp>
        <p:nvSpPr>
          <p:cNvPr id="17" name="Text 13"/>
          <p:cNvSpPr/>
          <p:nvPr/>
        </p:nvSpPr>
        <p:spPr>
          <a:xfrm>
            <a:off x="768096" y="1901952"/>
            <a:ext cx="390906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CARA 1</a:t>
            </a:r>
            <a:endParaRPr lang="en-US" sz="800" dirty="0"/>
          </a:p>
        </p:txBody>
      </p:sp>
      <p:sp>
        <p:nvSpPr>
          <p:cNvPr id="18" name="Text 14"/>
          <p:cNvSpPr/>
          <p:nvPr/>
        </p:nvSpPr>
        <p:spPr>
          <a:xfrm>
            <a:off x="768096" y="2148840"/>
            <a:ext cx="390906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Berangkat dari daftar resource</a:t>
            </a:r>
            <a:endParaRPr lang="en-US" sz="1200" dirty="0"/>
          </a:p>
        </p:txBody>
      </p:sp>
      <p:sp>
        <p:nvSpPr>
          <p:cNvPr id="19" name="Text 15"/>
          <p:cNvSpPr/>
          <p:nvPr/>
        </p:nvSpPr>
        <p:spPr>
          <a:xfrm>
            <a:off x="768096" y="2478024"/>
            <a:ext cx="3909060" cy="722376"/>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Lihat daftar resource, lalu tanya: kemampuan apa yang mungkin tumbuh dari sini? Armada truk dan pusat distribusi otomatis menandakan kemampuan logistik yang matang.</a:t>
            </a:r>
            <a:endParaRPr lang="en-US" sz="950" dirty="0"/>
          </a:p>
        </p:txBody>
      </p:sp>
      <p:sp>
        <p:nvSpPr>
          <p:cNvPr id="20" name="Shape 16"/>
          <p:cNvSpPr/>
          <p:nvPr/>
        </p:nvSpPr>
        <p:spPr>
          <a:xfrm>
            <a:off x="5052060" y="1755648"/>
            <a:ext cx="4274820" cy="1554480"/>
          </a:xfrm>
          <a:prstGeom prst="rect">
            <a:avLst/>
          </a:prstGeom>
          <a:solidFill>
            <a:srgbClr val="2B0F11"/>
          </a:solidFill>
          <a:ln w="12700">
            <a:solidFill>
              <a:srgbClr val="2B0F11"/>
            </a:solidFill>
            <a:prstDash val="solid"/>
          </a:ln>
        </p:spPr>
      </p:sp>
      <p:sp>
        <p:nvSpPr>
          <p:cNvPr id="21" name="Shape 17"/>
          <p:cNvSpPr/>
          <p:nvPr/>
        </p:nvSpPr>
        <p:spPr>
          <a:xfrm>
            <a:off x="5052060" y="1755648"/>
            <a:ext cx="54864" cy="1554480"/>
          </a:xfrm>
          <a:prstGeom prst="rect">
            <a:avLst/>
          </a:prstGeom>
          <a:solidFill>
            <a:srgbClr val="DA291C"/>
          </a:solidFill>
          <a:ln w="12700">
            <a:solidFill>
              <a:srgbClr val="DA291C"/>
            </a:solidFill>
            <a:prstDash val="solid"/>
          </a:ln>
        </p:spPr>
      </p:sp>
      <p:sp>
        <p:nvSpPr>
          <p:cNvPr id="22" name="Text 18"/>
          <p:cNvSpPr/>
          <p:nvPr/>
        </p:nvSpPr>
        <p:spPr>
          <a:xfrm>
            <a:off x="5271516" y="1901952"/>
            <a:ext cx="390906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CARA 2</a:t>
            </a:r>
            <a:endParaRPr lang="en-US" sz="800" dirty="0"/>
          </a:p>
        </p:txBody>
      </p:sp>
      <p:sp>
        <p:nvSpPr>
          <p:cNvPr id="23" name="Text 19"/>
          <p:cNvSpPr/>
          <p:nvPr/>
        </p:nvSpPr>
        <p:spPr>
          <a:xfrm>
            <a:off x="5271516" y="2148840"/>
            <a:ext cx="390906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Berangkat dari fungsi perusahaan</a:t>
            </a:r>
            <a:endParaRPr lang="en-US" sz="1200" dirty="0"/>
          </a:p>
        </p:txBody>
      </p:sp>
      <p:sp>
        <p:nvSpPr>
          <p:cNvPr id="24" name="Text 20"/>
          <p:cNvSpPr/>
          <p:nvPr/>
        </p:nvSpPr>
        <p:spPr>
          <a:xfrm>
            <a:off x="5271516" y="2478024"/>
            <a:ext cx="3909060" cy="722376"/>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Telusuri tiap fungsi. Injection molding dan metal stamping di produksi; direct selling dan database marketing di penjualan; riset dasar dan pengembangan produk baru di R&amp;D.</a:t>
            </a:r>
            <a:endParaRPr lang="en-US" sz="950" dirty="0"/>
          </a:p>
        </p:txBody>
      </p:sp>
      <p:sp>
        <p:nvSpPr>
          <p:cNvPr id="25" name="Shape 21"/>
          <p:cNvSpPr/>
          <p:nvPr/>
        </p:nvSpPr>
        <p:spPr>
          <a:xfrm>
            <a:off x="548640" y="3493008"/>
            <a:ext cx="8778240" cy="1051560"/>
          </a:xfrm>
          <a:prstGeom prst="rect">
            <a:avLst/>
          </a:prstGeom>
          <a:solidFill>
            <a:srgbClr val="2B0F11"/>
          </a:solidFill>
          <a:ln w="12700">
            <a:solidFill>
              <a:srgbClr val="2B0F11"/>
            </a:solidFill>
            <a:prstDash val="solid"/>
          </a:ln>
        </p:spPr>
      </p:sp>
      <p:sp>
        <p:nvSpPr>
          <p:cNvPr id="26" name="Shape 22"/>
          <p:cNvSpPr/>
          <p:nvPr/>
        </p:nvSpPr>
        <p:spPr>
          <a:xfrm>
            <a:off x="548640" y="3493008"/>
            <a:ext cx="54864" cy="1051560"/>
          </a:xfrm>
          <a:prstGeom prst="rect">
            <a:avLst/>
          </a:prstGeom>
          <a:solidFill>
            <a:srgbClr val="FBE122"/>
          </a:solidFill>
          <a:ln w="12700">
            <a:solidFill>
              <a:srgbClr val="FBE122"/>
            </a:solidFill>
            <a:prstDash val="solid"/>
          </a:ln>
        </p:spPr>
      </p:sp>
      <p:sp>
        <p:nvSpPr>
          <p:cNvPr id="27" name="Text 23"/>
          <p:cNvSpPr/>
          <p:nvPr/>
        </p:nvSpPr>
        <p:spPr>
          <a:xfrm>
            <a:off x="768096" y="3639312"/>
            <a:ext cx="841248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Masalahnya: capability terpenting justru lintas fungsi</a:t>
            </a:r>
            <a:endParaRPr lang="en-US" sz="1200" dirty="0"/>
          </a:p>
        </p:txBody>
      </p:sp>
      <p:sp>
        <p:nvSpPr>
          <p:cNvPr id="28" name="Text 24"/>
          <p:cNvSpPr/>
          <p:nvPr/>
        </p:nvSpPr>
        <p:spPr>
          <a:xfrm>
            <a:off x="768096" y="3968496"/>
            <a:ext cx="8412480" cy="46634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Cara 2 gagal menangkap kemampuan yang lahir dari kerja sama antarbagian. Kemampuan desain Warby Parker bukan cuma karena desainernya, tapi juga riset pasar, rekayasa, dan relasi dengan pemasok serta pabrik.</a:t>
            </a:r>
            <a:endParaRPr lang="en-US" sz="950" dirty="0"/>
          </a:p>
        </p:txBody>
      </p:sp>
      <p:sp>
        <p:nvSpPr>
          <p:cNvPr id="29" name="Shape 25"/>
          <p:cNvSpPr/>
          <p:nvPr/>
        </p:nvSpPr>
        <p:spPr>
          <a:xfrm>
            <a:off x="548640" y="4727448"/>
            <a:ext cx="8778240" cy="1188720"/>
          </a:xfrm>
          <a:prstGeom prst="rect">
            <a:avLst/>
          </a:prstGeom>
          <a:solidFill>
            <a:srgbClr val="DA291C"/>
          </a:solidFill>
          <a:ln w="12700">
            <a:solidFill>
              <a:srgbClr val="DA291C"/>
            </a:solidFill>
            <a:prstDash val="solid"/>
          </a:ln>
        </p:spPr>
      </p:sp>
      <p:sp>
        <p:nvSpPr>
          <p:cNvPr id="30" name="Text 26"/>
          <p:cNvSpPr/>
          <p:nvPr/>
        </p:nvSpPr>
        <p:spPr>
          <a:xfrm>
            <a:off x="777240" y="4855464"/>
            <a:ext cx="832104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RESOURCE BUNDLE</a:t>
            </a:r>
            <a:endParaRPr lang="en-US" sz="800" dirty="0"/>
          </a:p>
        </p:txBody>
      </p:sp>
      <p:sp>
        <p:nvSpPr>
          <p:cNvPr id="31" name="Text 27"/>
          <p:cNvSpPr/>
          <p:nvPr/>
        </p:nvSpPr>
        <p:spPr>
          <a:xfrm>
            <a:off x="777240" y="5093208"/>
            <a:ext cx="8321040" cy="7315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Kumpulan aset bersaing yang saling terkait erat di sekitar satu atau beberapa kemampuan lintas fungsi. Bundle bisa lolos VRIN Test meski komponen-komponennya sendiri tidak. Paket Nike (keahlian styling, riset pasar, endorsement atlet, nama merek, kecakapan manajerial) membuatnya nomor satu di sepatu olahraga lebih dari 20 tahun.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3  ·  FRAMEWORK INTI</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11</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VRIN TEST: EMPAT SARINGAN</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Punya resource saja belum berarti unggul. VRIN Test menguji apakah sebuah resource atau capability benar-benar memberi keunggulan, dan apakah keunggulan itu bisa bertahan.</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11</a:t>
            </a:r>
            <a:endParaRPr lang="en-US" sz="900" dirty="0"/>
          </a:p>
        </p:txBody>
      </p:sp>
      <p:sp>
        <p:nvSpPr>
          <p:cNvPr id="13" name="Shape 10"/>
          <p:cNvSpPr/>
          <p:nvPr/>
        </p:nvSpPr>
        <p:spPr>
          <a:xfrm>
            <a:off x="548640" y="1755648"/>
            <a:ext cx="2602154" cy="3017520"/>
          </a:xfrm>
          <a:prstGeom prst="rect">
            <a:avLst/>
          </a:prstGeom>
          <a:solidFill>
            <a:srgbClr val="2B0F11"/>
          </a:solidFill>
          <a:ln w="12700">
            <a:solidFill>
              <a:srgbClr val="2B0F11"/>
            </a:solidFill>
            <a:prstDash val="solid"/>
          </a:ln>
        </p:spPr>
      </p:sp>
      <p:sp>
        <p:nvSpPr>
          <p:cNvPr id="14" name="Shape 11"/>
          <p:cNvSpPr/>
          <p:nvPr/>
        </p:nvSpPr>
        <p:spPr>
          <a:xfrm>
            <a:off x="548640" y="1755648"/>
            <a:ext cx="2602154" cy="54864"/>
          </a:xfrm>
          <a:prstGeom prst="rect">
            <a:avLst/>
          </a:prstGeom>
          <a:solidFill>
            <a:srgbClr val="DA291C"/>
          </a:solidFill>
          <a:ln w="12700">
            <a:solidFill>
              <a:srgbClr val="DA291C"/>
            </a:solidFill>
            <a:prstDash val="solid"/>
          </a:ln>
        </p:spPr>
      </p:sp>
      <p:sp>
        <p:nvSpPr>
          <p:cNvPr id="15" name="Text 12"/>
          <p:cNvSpPr/>
          <p:nvPr/>
        </p:nvSpPr>
        <p:spPr>
          <a:xfrm>
            <a:off x="749808" y="1847088"/>
            <a:ext cx="1097280" cy="777240"/>
          </a:xfrm>
          <a:prstGeom prst="rect">
            <a:avLst/>
          </a:prstGeom>
          <a:noFill/>
          <a:ln/>
        </p:spPr>
        <p:txBody>
          <a:bodyPr wrap="square" lIns="0" tIns="0" rIns="0" bIns="0" rtlCol="0" anchor="t"/>
          <a:lstStyle/>
          <a:p>
            <a:pPr indent="0" marL="0">
              <a:buNone/>
            </a:pPr>
            <a:r>
              <a:rPr lang="en-US" sz="4400" dirty="0">
                <a:solidFill>
                  <a:srgbClr val="DA291C"/>
                </a:solidFill>
                <a:latin typeface="Poppins ExtraBold" pitchFamily="34" charset="0"/>
                <a:ea typeface="Poppins ExtraBold" pitchFamily="34" charset="-122"/>
                <a:cs typeface="Poppins ExtraBold" pitchFamily="34" charset="-120"/>
              </a:rPr>
              <a:t>V</a:t>
            </a:r>
            <a:endParaRPr lang="en-US" sz="4400" dirty="0"/>
          </a:p>
        </p:txBody>
      </p:sp>
      <p:sp>
        <p:nvSpPr>
          <p:cNvPr id="16" name="Text 13"/>
          <p:cNvSpPr/>
          <p:nvPr/>
        </p:nvSpPr>
        <p:spPr>
          <a:xfrm>
            <a:off x="749808"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Valuable</a:t>
            </a:r>
            <a:endParaRPr lang="en-US" sz="1300" dirty="0"/>
          </a:p>
        </p:txBody>
      </p:sp>
      <p:sp>
        <p:nvSpPr>
          <p:cNvPr id="17" name="Text 14"/>
          <p:cNvSpPr/>
          <p:nvPr/>
        </p:nvSpPr>
        <p:spPr>
          <a:xfrm>
            <a:off x="749808"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Bernilai untuk bersaing?</a:t>
            </a:r>
            <a:endParaRPr lang="en-US" sz="900" dirty="0"/>
          </a:p>
        </p:txBody>
      </p:sp>
      <p:sp>
        <p:nvSpPr>
          <p:cNvPr id="18" name="Text 15"/>
          <p:cNvSpPr/>
          <p:nvPr/>
        </p:nvSpPr>
        <p:spPr>
          <a:xfrm>
            <a:off x="749808"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Harus langsung menopang strategi dan membuat perusahaan lebih efektif bersaing. Google Wallet gagal meski memakai resource teknologi yang membuat Google nomor satu di mesin pencari.</a:t>
            </a:r>
            <a:endParaRPr lang="en-US" sz="900" dirty="0"/>
          </a:p>
        </p:txBody>
      </p:sp>
      <p:sp>
        <p:nvSpPr>
          <p:cNvPr id="19" name="Shape 16"/>
          <p:cNvSpPr/>
          <p:nvPr/>
        </p:nvSpPr>
        <p:spPr>
          <a:xfrm>
            <a:off x="3379394" y="1755648"/>
            <a:ext cx="2602154" cy="3017520"/>
          </a:xfrm>
          <a:prstGeom prst="rect">
            <a:avLst/>
          </a:prstGeom>
          <a:solidFill>
            <a:srgbClr val="2B0F11"/>
          </a:solidFill>
          <a:ln w="12700">
            <a:solidFill>
              <a:srgbClr val="2B0F11"/>
            </a:solidFill>
            <a:prstDash val="solid"/>
          </a:ln>
        </p:spPr>
      </p:sp>
      <p:sp>
        <p:nvSpPr>
          <p:cNvPr id="20" name="Shape 17"/>
          <p:cNvSpPr/>
          <p:nvPr/>
        </p:nvSpPr>
        <p:spPr>
          <a:xfrm>
            <a:off x="3379394" y="1755648"/>
            <a:ext cx="2602154" cy="54864"/>
          </a:xfrm>
          <a:prstGeom prst="rect">
            <a:avLst/>
          </a:prstGeom>
          <a:solidFill>
            <a:srgbClr val="DA291C"/>
          </a:solidFill>
          <a:ln w="12700">
            <a:solidFill>
              <a:srgbClr val="DA291C"/>
            </a:solidFill>
            <a:prstDash val="solid"/>
          </a:ln>
        </p:spPr>
      </p:sp>
      <p:sp>
        <p:nvSpPr>
          <p:cNvPr id="21" name="Text 18"/>
          <p:cNvSpPr/>
          <p:nvPr/>
        </p:nvSpPr>
        <p:spPr>
          <a:xfrm>
            <a:off x="3580562" y="1847088"/>
            <a:ext cx="1097280" cy="777240"/>
          </a:xfrm>
          <a:prstGeom prst="rect">
            <a:avLst/>
          </a:prstGeom>
          <a:noFill/>
          <a:ln/>
        </p:spPr>
        <p:txBody>
          <a:bodyPr wrap="square" lIns="0" tIns="0" rIns="0" bIns="0" rtlCol="0" anchor="t"/>
          <a:lstStyle/>
          <a:p>
            <a:pPr indent="0" marL="0">
              <a:buNone/>
            </a:pPr>
            <a:r>
              <a:rPr lang="en-US" sz="4400" dirty="0">
                <a:solidFill>
                  <a:srgbClr val="DA291C"/>
                </a:solidFill>
                <a:latin typeface="Poppins ExtraBold" pitchFamily="34" charset="0"/>
                <a:ea typeface="Poppins ExtraBold" pitchFamily="34" charset="-122"/>
                <a:cs typeface="Poppins ExtraBold" pitchFamily="34" charset="-120"/>
              </a:rPr>
              <a:t>R</a:t>
            </a:r>
            <a:endParaRPr lang="en-US" sz="4400" dirty="0"/>
          </a:p>
        </p:txBody>
      </p:sp>
      <p:sp>
        <p:nvSpPr>
          <p:cNvPr id="22" name="Text 19"/>
          <p:cNvSpPr/>
          <p:nvPr/>
        </p:nvSpPr>
        <p:spPr>
          <a:xfrm>
            <a:off x="3580562"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Rare</a:t>
            </a:r>
            <a:endParaRPr lang="en-US" sz="1300" dirty="0"/>
          </a:p>
        </p:txBody>
      </p:sp>
      <p:sp>
        <p:nvSpPr>
          <p:cNvPr id="23" name="Text 20"/>
          <p:cNvSpPr/>
          <p:nvPr/>
        </p:nvSpPr>
        <p:spPr>
          <a:xfrm>
            <a:off x="3580562"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Langka, tidak dimiliki pesaing?</a:t>
            </a:r>
            <a:endParaRPr lang="en-US" sz="900" dirty="0"/>
          </a:p>
        </p:txBody>
      </p:sp>
      <p:sp>
        <p:nvSpPr>
          <p:cNvPr id="24" name="Text 21"/>
          <p:cNvSpPr/>
          <p:nvPr/>
        </p:nvSpPr>
        <p:spPr>
          <a:xfrm>
            <a:off x="3580562"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Kalau semua pesaing punya, itu syarat ikut bermain, bukan pembeda. Semua produsen sereal punya kemampuan pemasaran; kekuatan merek Oreo tidak umum.</a:t>
            </a:r>
            <a:endParaRPr lang="en-US" sz="900" dirty="0"/>
          </a:p>
        </p:txBody>
      </p:sp>
      <p:sp>
        <p:nvSpPr>
          <p:cNvPr id="25" name="Shape 22"/>
          <p:cNvSpPr/>
          <p:nvPr/>
        </p:nvSpPr>
        <p:spPr>
          <a:xfrm>
            <a:off x="6210148" y="1755648"/>
            <a:ext cx="2602154" cy="3017520"/>
          </a:xfrm>
          <a:prstGeom prst="rect">
            <a:avLst/>
          </a:prstGeom>
          <a:solidFill>
            <a:srgbClr val="381418"/>
          </a:solidFill>
          <a:ln w="12700">
            <a:solidFill>
              <a:srgbClr val="381418"/>
            </a:solidFill>
            <a:prstDash val="solid"/>
          </a:ln>
        </p:spPr>
      </p:sp>
      <p:sp>
        <p:nvSpPr>
          <p:cNvPr id="26" name="Shape 23"/>
          <p:cNvSpPr/>
          <p:nvPr/>
        </p:nvSpPr>
        <p:spPr>
          <a:xfrm>
            <a:off x="6210148" y="1755648"/>
            <a:ext cx="2602154" cy="54864"/>
          </a:xfrm>
          <a:prstGeom prst="rect">
            <a:avLst/>
          </a:prstGeom>
          <a:solidFill>
            <a:srgbClr val="FBE122"/>
          </a:solidFill>
          <a:ln w="12700">
            <a:solidFill>
              <a:srgbClr val="FBE122"/>
            </a:solidFill>
            <a:prstDash val="solid"/>
          </a:ln>
        </p:spPr>
      </p:sp>
      <p:sp>
        <p:nvSpPr>
          <p:cNvPr id="27" name="Text 24"/>
          <p:cNvSpPr/>
          <p:nvPr/>
        </p:nvSpPr>
        <p:spPr>
          <a:xfrm>
            <a:off x="6411316" y="1847088"/>
            <a:ext cx="1097280" cy="777240"/>
          </a:xfrm>
          <a:prstGeom prst="rect">
            <a:avLst/>
          </a:prstGeom>
          <a:noFill/>
          <a:ln/>
        </p:spPr>
        <p:txBody>
          <a:bodyPr wrap="square" lIns="0" tIns="0" rIns="0" bIns="0" rtlCol="0" anchor="t"/>
          <a:lstStyle/>
          <a:p>
            <a:pPr indent="0" marL="0">
              <a:buNone/>
            </a:pPr>
            <a:r>
              <a:rPr lang="en-US" sz="4400" dirty="0">
                <a:solidFill>
                  <a:srgbClr val="FBE122"/>
                </a:solidFill>
                <a:latin typeface="Poppins ExtraBold" pitchFamily="34" charset="0"/>
                <a:ea typeface="Poppins ExtraBold" pitchFamily="34" charset="-122"/>
                <a:cs typeface="Poppins ExtraBold" pitchFamily="34" charset="-120"/>
              </a:rPr>
              <a:t>I</a:t>
            </a:r>
            <a:endParaRPr lang="en-US" sz="4400" dirty="0"/>
          </a:p>
        </p:txBody>
      </p:sp>
      <p:sp>
        <p:nvSpPr>
          <p:cNvPr id="28" name="Text 25"/>
          <p:cNvSpPr/>
          <p:nvPr/>
        </p:nvSpPr>
        <p:spPr>
          <a:xfrm>
            <a:off x="6411316"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Inimitable</a:t>
            </a:r>
            <a:endParaRPr lang="en-US" sz="1300" dirty="0"/>
          </a:p>
        </p:txBody>
      </p:sp>
      <p:sp>
        <p:nvSpPr>
          <p:cNvPr id="29" name="Text 26"/>
          <p:cNvSpPr/>
          <p:nvPr/>
        </p:nvSpPr>
        <p:spPr>
          <a:xfrm>
            <a:off x="6411316"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Sulit ditiru?</a:t>
            </a:r>
            <a:endParaRPr lang="en-US" sz="900" dirty="0"/>
          </a:p>
        </p:txBody>
      </p:sp>
      <p:sp>
        <p:nvSpPr>
          <p:cNvPr id="30" name="Text 27"/>
          <p:cNvSpPr/>
          <p:nvPr/>
        </p:nvSpPr>
        <p:spPr>
          <a:xfrm>
            <a:off x="6411316"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Sulit ditiru kalau unik, harus dibangun bertahun-tahun, butuh biaya sangat besar, atau melibatkan social complexity dan causal ambiguity.</a:t>
            </a:r>
            <a:endParaRPr lang="en-US" sz="900" dirty="0"/>
          </a:p>
        </p:txBody>
      </p:sp>
      <p:sp>
        <p:nvSpPr>
          <p:cNvPr id="31" name="Shape 28"/>
          <p:cNvSpPr/>
          <p:nvPr/>
        </p:nvSpPr>
        <p:spPr>
          <a:xfrm>
            <a:off x="9040901" y="1755648"/>
            <a:ext cx="2602154" cy="3017520"/>
          </a:xfrm>
          <a:prstGeom prst="rect">
            <a:avLst/>
          </a:prstGeom>
          <a:solidFill>
            <a:srgbClr val="381418"/>
          </a:solidFill>
          <a:ln w="12700">
            <a:solidFill>
              <a:srgbClr val="381418"/>
            </a:solidFill>
            <a:prstDash val="solid"/>
          </a:ln>
        </p:spPr>
      </p:sp>
      <p:sp>
        <p:nvSpPr>
          <p:cNvPr id="32" name="Shape 29"/>
          <p:cNvSpPr/>
          <p:nvPr/>
        </p:nvSpPr>
        <p:spPr>
          <a:xfrm>
            <a:off x="9040901" y="1755648"/>
            <a:ext cx="2602154" cy="54864"/>
          </a:xfrm>
          <a:prstGeom prst="rect">
            <a:avLst/>
          </a:prstGeom>
          <a:solidFill>
            <a:srgbClr val="FBE122"/>
          </a:solidFill>
          <a:ln w="12700">
            <a:solidFill>
              <a:srgbClr val="FBE122"/>
            </a:solidFill>
            <a:prstDash val="solid"/>
          </a:ln>
        </p:spPr>
      </p:sp>
      <p:sp>
        <p:nvSpPr>
          <p:cNvPr id="33" name="Text 30"/>
          <p:cNvSpPr/>
          <p:nvPr/>
        </p:nvSpPr>
        <p:spPr>
          <a:xfrm>
            <a:off x="9242069" y="1847088"/>
            <a:ext cx="1097280" cy="777240"/>
          </a:xfrm>
          <a:prstGeom prst="rect">
            <a:avLst/>
          </a:prstGeom>
          <a:noFill/>
          <a:ln/>
        </p:spPr>
        <p:txBody>
          <a:bodyPr wrap="square" lIns="0" tIns="0" rIns="0" bIns="0" rtlCol="0" anchor="t"/>
          <a:lstStyle/>
          <a:p>
            <a:pPr indent="0" marL="0">
              <a:buNone/>
            </a:pPr>
            <a:r>
              <a:rPr lang="en-US" sz="4400" dirty="0">
                <a:solidFill>
                  <a:srgbClr val="FBE122"/>
                </a:solidFill>
                <a:latin typeface="Poppins ExtraBold" pitchFamily="34" charset="0"/>
                <a:ea typeface="Poppins ExtraBold" pitchFamily="34" charset="-122"/>
                <a:cs typeface="Poppins ExtraBold" pitchFamily="34" charset="-120"/>
              </a:rPr>
              <a:t>N</a:t>
            </a:r>
            <a:endParaRPr lang="en-US" sz="4400" dirty="0"/>
          </a:p>
        </p:txBody>
      </p:sp>
      <p:sp>
        <p:nvSpPr>
          <p:cNvPr id="34" name="Text 31"/>
          <p:cNvSpPr/>
          <p:nvPr/>
        </p:nvSpPr>
        <p:spPr>
          <a:xfrm>
            <a:off x="9242069"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Nonsubstitutable</a:t>
            </a:r>
            <a:endParaRPr lang="en-US" sz="1300" dirty="0"/>
          </a:p>
        </p:txBody>
      </p:sp>
      <p:sp>
        <p:nvSpPr>
          <p:cNvPr id="35" name="Text 32"/>
          <p:cNvSpPr/>
          <p:nvPr/>
        </p:nvSpPr>
        <p:spPr>
          <a:xfrm>
            <a:off x="9242069"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Pesaing tak punya jalan lain?</a:t>
            </a:r>
            <a:endParaRPr lang="en-US" sz="900" dirty="0"/>
          </a:p>
        </p:txBody>
      </p:sp>
      <p:sp>
        <p:nvSpPr>
          <p:cNvPr id="36" name="Text 33"/>
          <p:cNvSpPr/>
          <p:nvPr/>
        </p:nvSpPr>
        <p:spPr>
          <a:xfrm>
            <a:off x="9242069"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Pesaing tidak meniru, tapi memakai resource JENIS LAIN untuk hasil yang sama. Keunggulan otomasi bisa dibatalkan pesaing yang memakai tenaga kerja murah di luar negeri.</a:t>
            </a:r>
            <a:endParaRPr lang="en-US" sz="900" dirty="0"/>
          </a:p>
        </p:txBody>
      </p:sp>
      <p:sp>
        <p:nvSpPr>
          <p:cNvPr id="37" name="Shape 34"/>
          <p:cNvSpPr/>
          <p:nvPr/>
        </p:nvSpPr>
        <p:spPr>
          <a:xfrm>
            <a:off x="548640" y="4956048"/>
            <a:ext cx="5432908" cy="868680"/>
          </a:xfrm>
          <a:prstGeom prst="rect">
            <a:avLst/>
          </a:prstGeom>
          <a:solidFill>
            <a:srgbClr val="DA291C"/>
          </a:solidFill>
          <a:ln w="12700">
            <a:solidFill>
              <a:srgbClr val="DA291C"/>
            </a:solidFill>
            <a:prstDash val="solid"/>
          </a:ln>
        </p:spPr>
      </p:sp>
      <p:sp>
        <p:nvSpPr>
          <p:cNvPr id="38" name="Text 35"/>
          <p:cNvSpPr/>
          <p:nvPr/>
        </p:nvSpPr>
        <p:spPr>
          <a:xfrm>
            <a:off x="777240" y="5084064"/>
            <a:ext cx="497570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V + R</a:t>
            </a:r>
            <a:endParaRPr lang="en-US" sz="800" dirty="0"/>
          </a:p>
        </p:txBody>
      </p:sp>
      <p:sp>
        <p:nvSpPr>
          <p:cNvPr id="39" name="Text 36"/>
          <p:cNvSpPr/>
          <p:nvPr/>
        </p:nvSpPr>
        <p:spPr>
          <a:xfrm>
            <a:off x="777240" y="5321808"/>
            <a:ext cx="4975708"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Menjawab apakah resource bisa MENCIPTAKAN keunggulan bersaing.</a:t>
            </a:r>
            <a:endParaRPr lang="en-US" sz="1000" dirty="0"/>
          </a:p>
        </p:txBody>
      </p:sp>
      <p:sp>
        <p:nvSpPr>
          <p:cNvPr id="40" name="Shape 37"/>
          <p:cNvSpPr/>
          <p:nvPr/>
        </p:nvSpPr>
        <p:spPr>
          <a:xfrm>
            <a:off x="6210148" y="4956048"/>
            <a:ext cx="5432908" cy="868680"/>
          </a:xfrm>
          <a:prstGeom prst="rect">
            <a:avLst/>
          </a:prstGeom>
          <a:solidFill>
            <a:srgbClr val="381418"/>
          </a:solidFill>
          <a:ln w="12700">
            <a:solidFill>
              <a:srgbClr val="381418"/>
            </a:solidFill>
            <a:prstDash val="solid"/>
          </a:ln>
        </p:spPr>
      </p:sp>
      <p:sp>
        <p:nvSpPr>
          <p:cNvPr id="41" name="Text 38"/>
          <p:cNvSpPr/>
          <p:nvPr/>
        </p:nvSpPr>
        <p:spPr>
          <a:xfrm>
            <a:off x="6438748" y="5084064"/>
            <a:ext cx="497570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I + N</a:t>
            </a:r>
            <a:endParaRPr lang="en-US" sz="800" dirty="0"/>
          </a:p>
        </p:txBody>
      </p:sp>
      <p:sp>
        <p:nvSpPr>
          <p:cNvPr id="42" name="Text 39"/>
          <p:cNvSpPr/>
          <p:nvPr/>
        </p:nvSpPr>
        <p:spPr>
          <a:xfrm>
            <a:off x="6438748" y="5321808"/>
            <a:ext cx="4975708"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Menjawab apakah keunggulan itu BISA BERTAHAN menghadapi serangan pesaing.</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3  ·  LANJUTAN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12</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RESOURCE HARUS DIKELOLA SECARA DINAMIS</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VRIN Test menguji serangan dari pesaing. Tapi resource juga bisa menyusut, bahkan hilang, dari dalam perusahaan sendiri.</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12</a:t>
            </a:r>
            <a:endParaRPr lang="en-US" sz="900" dirty="0"/>
          </a:p>
        </p:txBody>
      </p:sp>
      <p:sp>
        <p:nvSpPr>
          <p:cNvPr id="13" name="Shape 10"/>
          <p:cNvSpPr/>
          <p:nvPr/>
        </p:nvSpPr>
        <p:spPr>
          <a:xfrm>
            <a:off x="548640" y="1755648"/>
            <a:ext cx="3545738" cy="1234440"/>
          </a:xfrm>
          <a:prstGeom prst="rect">
            <a:avLst/>
          </a:prstGeom>
          <a:solidFill>
            <a:srgbClr val="2B0F11"/>
          </a:solidFill>
          <a:ln w="12700">
            <a:solidFill>
              <a:srgbClr val="2B0F11"/>
            </a:solidFill>
            <a:prstDash val="solid"/>
          </a:ln>
        </p:spPr>
      </p:sp>
      <p:sp>
        <p:nvSpPr>
          <p:cNvPr id="14" name="Shape 11"/>
          <p:cNvSpPr/>
          <p:nvPr/>
        </p:nvSpPr>
        <p:spPr>
          <a:xfrm>
            <a:off x="548640" y="1755648"/>
            <a:ext cx="54864" cy="1234440"/>
          </a:xfrm>
          <a:prstGeom prst="rect">
            <a:avLst/>
          </a:prstGeom>
          <a:solidFill>
            <a:srgbClr val="DA291C"/>
          </a:solidFill>
          <a:ln w="12700">
            <a:solidFill>
              <a:srgbClr val="DA291C"/>
            </a:solidFill>
            <a:prstDash val="solid"/>
          </a:ln>
        </p:spPr>
      </p:sp>
      <p:sp>
        <p:nvSpPr>
          <p:cNvPr id="15" name="Text 12"/>
          <p:cNvSpPr/>
          <p:nvPr/>
        </p:nvSpPr>
        <p:spPr>
          <a:xfrm>
            <a:off x="768096" y="1901952"/>
            <a:ext cx="317997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Pesaing menyusul</a:t>
            </a:r>
            <a:endParaRPr lang="en-US" sz="1200" dirty="0"/>
          </a:p>
        </p:txBody>
      </p:sp>
      <p:sp>
        <p:nvSpPr>
          <p:cNvPr id="16" name="Text 13"/>
          <p:cNvSpPr/>
          <p:nvPr/>
        </p:nvSpPr>
        <p:spPr>
          <a:xfrm>
            <a:off x="768096" y="2231136"/>
            <a:ext cx="3179978" cy="64922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Yang awalnya tidak bisa meniru, lama-lama menemukan pengganti yang makin baik.</a:t>
            </a:r>
            <a:endParaRPr lang="en-US" sz="950" dirty="0"/>
          </a:p>
        </p:txBody>
      </p:sp>
      <p:sp>
        <p:nvSpPr>
          <p:cNvPr id="17" name="Shape 14"/>
          <p:cNvSpPr/>
          <p:nvPr/>
        </p:nvSpPr>
        <p:spPr>
          <a:xfrm>
            <a:off x="4322978" y="1755648"/>
            <a:ext cx="3545738" cy="1234440"/>
          </a:xfrm>
          <a:prstGeom prst="rect">
            <a:avLst/>
          </a:prstGeom>
          <a:solidFill>
            <a:srgbClr val="2B0F11"/>
          </a:solidFill>
          <a:ln w="12700">
            <a:solidFill>
              <a:srgbClr val="2B0F11"/>
            </a:solidFill>
            <a:prstDash val="solid"/>
          </a:ln>
        </p:spPr>
      </p:sp>
      <p:sp>
        <p:nvSpPr>
          <p:cNvPr id="18" name="Shape 15"/>
          <p:cNvSpPr/>
          <p:nvPr/>
        </p:nvSpPr>
        <p:spPr>
          <a:xfrm>
            <a:off x="4322978" y="1755648"/>
            <a:ext cx="54864" cy="1234440"/>
          </a:xfrm>
          <a:prstGeom prst="rect">
            <a:avLst/>
          </a:prstGeom>
          <a:solidFill>
            <a:srgbClr val="DA291C"/>
          </a:solidFill>
          <a:ln w="12700">
            <a:solidFill>
              <a:srgbClr val="DA291C"/>
            </a:solidFill>
            <a:prstDash val="solid"/>
          </a:ln>
        </p:spPr>
      </p:sp>
      <p:sp>
        <p:nvSpPr>
          <p:cNvPr id="19" name="Text 16"/>
          <p:cNvSpPr/>
          <p:nvPr/>
        </p:nvSpPr>
        <p:spPr>
          <a:xfrm>
            <a:off x="4542434" y="1901952"/>
            <a:ext cx="317997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Aset menyusut sendiri</a:t>
            </a:r>
            <a:endParaRPr lang="en-US" sz="1200" dirty="0"/>
          </a:p>
        </p:txBody>
      </p:sp>
      <p:sp>
        <p:nvSpPr>
          <p:cNvPr id="20" name="Text 17"/>
          <p:cNvSpPr/>
          <p:nvPr/>
        </p:nvSpPr>
        <p:spPr>
          <a:xfrm>
            <a:off x="4542434" y="2231136"/>
            <a:ext cx="3179978" cy="64922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Resource bisa terdepresiasi seperti aset lain kalau dibiarkan tanpa perhatian.</a:t>
            </a:r>
            <a:endParaRPr lang="en-US" sz="950" dirty="0"/>
          </a:p>
        </p:txBody>
      </p:sp>
      <p:sp>
        <p:nvSpPr>
          <p:cNvPr id="21" name="Shape 18"/>
          <p:cNvSpPr/>
          <p:nvPr/>
        </p:nvSpPr>
        <p:spPr>
          <a:xfrm>
            <a:off x="8097317" y="1755648"/>
            <a:ext cx="3545738" cy="1234440"/>
          </a:xfrm>
          <a:prstGeom prst="rect">
            <a:avLst/>
          </a:prstGeom>
          <a:solidFill>
            <a:srgbClr val="2B0F11"/>
          </a:solidFill>
          <a:ln w="12700">
            <a:solidFill>
              <a:srgbClr val="2B0F11"/>
            </a:solidFill>
            <a:prstDash val="solid"/>
          </a:ln>
        </p:spPr>
      </p:sp>
      <p:sp>
        <p:nvSpPr>
          <p:cNvPr id="22" name="Shape 19"/>
          <p:cNvSpPr/>
          <p:nvPr/>
        </p:nvSpPr>
        <p:spPr>
          <a:xfrm>
            <a:off x="8097317" y="1755648"/>
            <a:ext cx="54864" cy="1234440"/>
          </a:xfrm>
          <a:prstGeom prst="rect">
            <a:avLst/>
          </a:prstGeom>
          <a:solidFill>
            <a:srgbClr val="DA291C"/>
          </a:solidFill>
          <a:ln w="12700">
            <a:solidFill>
              <a:srgbClr val="DA291C"/>
            </a:solidFill>
            <a:prstDash val="solid"/>
          </a:ln>
        </p:spPr>
      </p:sp>
      <p:sp>
        <p:nvSpPr>
          <p:cNvPr id="23" name="Text 20"/>
          <p:cNvSpPr/>
          <p:nvPr/>
        </p:nvSpPr>
        <p:spPr>
          <a:xfrm>
            <a:off x="8316773" y="1901952"/>
            <a:ext cx="317997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Pasar berubah</a:t>
            </a:r>
            <a:endParaRPr lang="en-US" sz="1200" dirty="0"/>
          </a:p>
        </p:txBody>
      </p:sp>
      <p:sp>
        <p:nvSpPr>
          <p:cNvPr id="24" name="Text 21"/>
          <p:cNvSpPr/>
          <p:nvPr/>
        </p:nvSpPr>
        <p:spPr>
          <a:xfrm>
            <a:off x="8316773" y="2231136"/>
            <a:ext cx="3179978" cy="64922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Perubahan teknologi, selera pelanggan, atau jalur distribusi bisa mengubah aset strategis "dari berlian jadi karat".</a:t>
            </a:r>
            <a:endParaRPr lang="en-US" sz="950" dirty="0"/>
          </a:p>
        </p:txBody>
      </p:sp>
      <p:sp>
        <p:nvSpPr>
          <p:cNvPr id="25" name="Shape 22"/>
          <p:cNvSpPr/>
          <p:nvPr/>
        </p:nvSpPr>
        <p:spPr>
          <a:xfrm>
            <a:off x="548640" y="3218688"/>
            <a:ext cx="6766560" cy="2651760"/>
          </a:xfrm>
          <a:prstGeom prst="rect">
            <a:avLst/>
          </a:prstGeom>
          <a:solidFill>
            <a:srgbClr val="DA291C"/>
          </a:solidFill>
          <a:ln w="12700">
            <a:solidFill>
              <a:srgbClr val="DA291C"/>
            </a:solidFill>
            <a:prstDash val="solid"/>
          </a:ln>
        </p:spPr>
      </p:sp>
      <p:sp>
        <p:nvSpPr>
          <p:cNvPr id="26" name="Text 23"/>
          <p:cNvSpPr/>
          <p:nvPr/>
        </p:nvSpPr>
        <p:spPr>
          <a:xfrm>
            <a:off x="777240" y="3383280"/>
            <a:ext cx="4572000" cy="274320"/>
          </a:xfrm>
          <a:prstGeom prst="rect">
            <a:avLst/>
          </a:prstGeom>
          <a:noFill/>
          <a:ln/>
        </p:spPr>
        <p:txBody>
          <a:bodyPr wrap="square" lIns="0" tIns="0" rIns="0" bIns="0" rtlCol="0" anchor="t"/>
          <a:lstStyle/>
          <a:p>
            <a:pPr indent="0" marL="0">
              <a:buNone/>
            </a:pPr>
            <a:r>
              <a:rPr lang="en-US" sz="900" spc="200" kern="0" dirty="0">
                <a:solidFill>
                  <a:srgbClr val="FBE122"/>
                </a:solidFill>
                <a:latin typeface="Poppins SemiBold" pitchFamily="34" charset="0"/>
                <a:ea typeface="Poppins SemiBold" pitchFamily="34" charset="-122"/>
                <a:cs typeface="Poppins SemiBold" pitchFamily="34" charset="-120"/>
              </a:rPr>
              <a:t>DYNAMIC CAPABILITY</a:t>
            </a:r>
            <a:endParaRPr lang="en-US" sz="900" dirty="0"/>
          </a:p>
        </p:txBody>
      </p:sp>
      <p:sp>
        <p:nvSpPr>
          <p:cNvPr id="27" name="Text 24"/>
          <p:cNvSpPr/>
          <p:nvPr/>
        </p:nvSpPr>
        <p:spPr>
          <a:xfrm>
            <a:off x="777240" y="3675888"/>
            <a:ext cx="6309360" cy="685800"/>
          </a:xfrm>
          <a:prstGeom prst="rect">
            <a:avLst/>
          </a:prstGeom>
          <a:noFill/>
          <a:ln/>
        </p:spPr>
        <p:txBody>
          <a:bodyPr wrap="square" lIns="0" tIns="0" rIns="0" bIns="0" rtlCol="0" anchor="t"/>
          <a:lstStyle/>
          <a:p>
            <a:pPr indent="0" marL="0">
              <a:lnSpc>
                <a:spcPct val="102000"/>
              </a:lnSpc>
              <a:buNone/>
            </a:pPr>
            <a:r>
              <a:rPr lang="en-US" sz="1300" dirty="0">
                <a:solidFill>
                  <a:srgbClr val="FFFFFF"/>
                </a:solidFill>
                <a:latin typeface="Poppins SemiBold" pitchFamily="34" charset="0"/>
                <a:ea typeface="Poppins SemiBold" pitchFamily="34" charset="-122"/>
                <a:cs typeface="Poppins SemiBold" pitchFamily="34" charset="-120"/>
              </a:rPr>
              <a:t>Kemampuan yang terus berjalan untuk memperbaiki, memperdalam, atau menambah resource dan capability yang sudah ada.</a:t>
            </a:r>
            <a:endParaRPr lang="en-US" sz="1300" dirty="0"/>
          </a:p>
        </p:txBody>
      </p:sp>
      <p:sp>
        <p:nvSpPr>
          <p:cNvPr id="28" name="Text 25"/>
          <p:cNvSpPr/>
          <p:nvPr/>
        </p:nvSpPr>
        <p:spPr>
          <a:xfrm>
            <a:off x="777240" y="4453128"/>
            <a:ext cx="457200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DUA BENTUKNYA</a:t>
            </a:r>
            <a:endParaRPr lang="en-US" sz="800" dirty="0"/>
          </a:p>
        </p:txBody>
      </p:sp>
      <p:sp>
        <p:nvSpPr>
          <p:cNvPr id="29" name="Text 26"/>
          <p:cNvSpPr/>
          <p:nvPr/>
        </p:nvSpPr>
        <p:spPr>
          <a:xfrm>
            <a:off x="777240" y="4700016"/>
            <a:ext cx="6309360" cy="109728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1000" dirty="0">
                <a:solidFill>
                  <a:srgbClr val="FFFFFF"/>
                </a:solidFill>
                <a:latin typeface="Poppins" pitchFamily="34" charset="0"/>
                <a:ea typeface="Poppins" pitchFamily="34" charset="-122"/>
                <a:cs typeface="Poppins" pitchFamily="34" charset="-120"/>
              </a:rPr>
              <a:t>Memperbaiki yang ada sedikit demi sedikit. Toyota terus menyempurnakan mesin hibrida dan Toyota Production System.</a:t>
            </a:r>
            <a:endParaRPr lang="en-US" sz="1000" dirty="0"/>
          </a:p>
          <a:p>
            <a:pPr marL="152400" indent="-152400">
              <a:lnSpc>
                <a:spcPct val="106000"/>
              </a:lnSpc>
              <a:spcAft>
                <a:spcPts val="300"/>
              </a:spcAft>
              <a:buSzPct val="100000"/>
              <a:buChar char="•"/>
            </a:pPr>
            <a:r>
              <a:rPr lang="en-US" sz="1000" dirty="0">
                <a:solidFill>
                  <a:srgbClr val="FFFFFF"/>
                </a:solidFill>
                <a:latin typeface="Poppins" pitchFamily="34" charset="0"/>
                <a:ea typeface="Poppins" pitchFamily="34" charset="-122"/>
                <a:cs typeface="Poppins" pitchFamily="34" charset="-120"/>
              </a:rPr>
              <a:t>Menambah yang baru lewat aliansi atau akuisisi. GM bermitra dengan LG dan mendahului Tesla meluncurkan Chevy Bolt EV.</a:t>
            </a:r>
            <a:endParaRPr lang="en-US" sz="1000" dirty="0"/>
          </a:p>
        </p:txBody>
      </p:sp>
      <p:sp>
        <p:nvSpPr>
          <p:cNvPr id="30" name="Shape 27"/>
          <p:cNvSpPr/>
          <p:nvPr/>
        </p:nvSpPr>
        <p:spPr>
          <a:xfrm>
            <a:off x="7543800" y="3218688"/>
            <a:ext cx="4069080" cy="2651760"/>
          </a:xfrm>
          <a:prstGeom prst="rect">
            <a:avLst/>
          </a:prstGeom>
          <a:solidFill>
            <a:srgbClr val="2B0F11"/>
          </a:solidFill>
          <a:ln w="12700">
            <a:solidFill>
              <a:srgbClr val="2B0F11"/>
            </a:solidFill>
            <a:prstDash val="solid"/>
          </a:ln>
        </p:spPr>
      </p:sp>
      <p:sp>
        <p:nvSpPr>
          <p:cNvPr id="31" name="Shape 28"/>
          <p:cNvSpPr/>
          <p:nvPr/>
        </p:nvSpPr>
        <p:spPr>
          <a:xfrm>
            <a:off x="7543800" y="3218688"/>
            <a:ext cx="54864" cy="2651760"/>
          </a:xfrm>
          <a:prstGeom prst="rect">
            <a:avLst/>
          </a:prstGeom>
          <a:solidFill>
            <a:srgbClr val="FBE122"/>
          </a:solidFill>
          <a:ln w="12700">
            <a:solidFill>
              <a:srgbClr val="FBE122"/>
            </a:solidFill>
            <a:prstDash val="solid"/>
          </a:ln>
        </p:spPr>
      </p:sp>
      <p:sp>
        <p:nvSpPr>
          <p:cNvPr id="32" name="Text 29"/>
          <p:cNvSpPr/>
          <p:nvPr/>
        </p:nvSpPr>
        <p:spPr>
          <a:xfrm>
            <a:off x="7763256" y="3364992"/>
            <a:ext cx="370332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Inti dynamic capability</a:t>
            </a:r>
            <a:endParaRPr lang="en-US" sz="1200" dirty="0"/>
          </a:p>
        </p:txBody>
      </p:sp>
      <p:sp>
        <p:nvSpPr>
          <p:cNvPr id="33" name="Text 30"/>
          <p:cNvSpPr/>
          <p:nvPr/>
        </p:nvSpPr>
        <p:spPr>
          <a:xfrm>
            <a:off x="7763256" y="3694176"/>
            <a:ext cx="3703320" cy="2066544"/>
          </a:xfrm>
          <a:prstGeom prst="rect">
            <a:avLst/>
          </a:prstGeom>
          <a:noFill/>
          <a:ln/>
        </p:spPr>
        <p:txBody>
          <a:bodyPr wrap="square" lIns="0" tIns="0" rIns="0" bIns="0" rtlCol="0" anchor="t"/>
          <a:lstStyle/>
          <a:p>
            <a:pPr indent="0" marL="0">
              <a:lnSpc>
                <a:spcPct val="108000"/>
              </a:lnSpc>
              <a:buNone/>
            </a:pPr>
            <a:r>
              <a:rPr lang="en-US" sz="1000" dirty="0">
                <a:solidFill>
                  <a:srgbClr val="E9DDD8"/>
                </a:solidFill>
                <a:latin typeface="Poppins" pitchFamily="34" charset="0"/>
                <a:ea typeface="Poppins" pitchFamily="34" charset="-122"/>
                <a:cs typeface="Poppins" pitchFamily="34" charset="-120"/>
              </a:rPr>
              <a:t>Ketika kegiatan memperbarui aset dilakukan terus-menerus sampai menjadi rutinitas manajemen, kemampuan memperbarui itu sendiri berubah menjadi sebuah capability. Di titik itulah ia disebut dynamic capability.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4  ·  FIGURE 4.3</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13</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PERUSAHAAN</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Setiap bisnis adalah kumpulan aktivitas. Value chain memecah perusahaan menjadi aktivitas-aktivitas itu, supaya biaya dan nilai bisa dilacak satu per satu.</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13</a:t>
            </a:r>
            <a:endParaRPr lang="en-US" sz="900" dirty="0"/>
          </a:p>
        </p:txBody>
      </p:sp>
      <p:sp>
        <p:nvSpPr>
          <p:cNvPr id="13" name="Text 10"/>
          <p:cNvSpPr/>
          <p:nvPr/>
        </p:nvSpPr>
        <p:spPr>
          <a:xfrm>
            <a:off x="548640" y="1755648"/>
            <a:ext cx="73152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PRIMARY ACTIVITIES  ·  aktivitas utama pencipta nilai</a:t>
            </a:r>
            <a:endParaRPr lang="en-US" sz="850" dirty="0"/>
          </a:p>
        </p:txBody>
      </p:sp>
      <p:sp>
        <p:nvSpPr>
          <p:cNvPr id="14" name="Shape 11"/>
          <p:cNvSpPr/>
          <p:nvPr/>
        </p:nvSpPr>
        <p:spPr>
          <a:xfrm>
            <a:off x="548640" y="2048256"/>
            <a:ext cx="1807403" cy="1417320"/>
          </a:xfrm>
          <a:prstGeom prst="rect">
            <a:avLst/>
          </a:prstGeom>
          <a:solidFill>
            <a:srgbClr val="2B0F11"/>
          </a:solidFill>
          <a:ln w="12700">
            <a:solidFill>
              <a:srgbClr val="2B0F11"/>
            </a:solidFill>
            <a:prstDash val="solid"/>
          </a:ln>
        </p:spPr>
      </p:sp>
      <p:sp>
        <p:nvSpPr>
          <p:cNvPr id="15" name="Shape 12"/>
          <p:cNvSpPr/>
          <p:nvPr/>
        </p:nvSpPr>
        <p:spPr>
          <a:xfrm>
            <a:off x="548640" y="2048256"/>
            <a:ext cx="1807403" cy="54864"/>
          </a:xfrm>
          <a:prstGeom prst="rect">
            <a:avLst/>
          </a:prstGeom>
          <a:solidFill>
            <a:srgbClr val="DA291C"/>
          </a:solidFill>
          <a:ln w="12700">
            <a:solidFill>
              <a:srgbClr val="DA291C"/>
            </a:solidFill>
            <a:prstDash val="solid"/>
          </a:ln>
        </p:spPr>
      </p:sp>
      <p:sp>
        <p:nvSpPr>
          <p:cNvPr id="16" name="Text 13"/>
          <p:cNvSpPr/>
          <p:nvPr/>
        </p:nvSpPr>
        <p:spPr>
          <a:xfrm>
            <a:off x="685800"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Supply Chain Management</a:t>
            </a:r>
            <a:endParaRPr lang="en-US" sz="1050" dirty="0"/>
          </a:p>
        </p:txBody>
      </p:sp>
      <p:sp>
        <p:nvSpPr>
          <p:cNvPr id="17" name="Text 14"/>
          <p:cNvSpPr/>
          <p:nvPr/>
        </p:nvSpPr>
        <p:spPr>
          <a:xfrm>
            <a:off x="685800"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E9DDD8"/>
                </a:solidFill>
                <a:latin typeface="Poppins" pitchFamily="34" charset="0"/>
                <a:ea typeface="Poppins" pitchFamily="34" charset="-122"/>
                <a:cs typeface="Poppins" pitchFamily="34" charset="-120"/>
              </a:rPr>
              <a:t>Membeli, menerima, menyimpan, dan menyalurkan input</a:t>
            </a:r>
            <a:endParaRPr lang="en-US" sz="850" dirty="0"/>
          </a:p>
        </p:txBody>
      </p:sp>
      <p:sp>
        <p:nvSpPr>
          <p:cNvPr id="18" name="Shape 15"/>
          <p:cNvSpPr/>
          <p:nvPr/>
        </p:nvSpPr>
        <p:spPr>
          <a:xfrm>
            <a:off x="2493203" y="2048256"/>
            <a:ext cx="1807403" cy="1417320"/>
          </a:xfrm>
          <a:prstGeom prst="rect">
            <a:avLst/>
          </a:prstGeom>
          <a:solidFill>
            <a:srgbClr val="2B0F11"/>
          </a:solidFill>
          <a:ln w="12700">
            <a:solidFill>
              <a:srgbClr val="2B0F11"/>
            </a:solidFill>
            <a:prstDash val="solid"/>
          </a:ln>
        </p:spPr>
      </p:sp>
      <p:sp>
        <p:nvSpPr>
          <p:cNvPr id="19" name="Shape 16"/>
          <p:cNvSpPr/>
          <p:nvPr/>
        </p:nvSpPr>
        <p:spPr>
          <a:xfrm>
            <a:off x="2493203" y="2048256"/>
            <a:ext cx="1807403" cy="54864"/>
          </a:xfrm>
          <a:prstGeom prst="rect">
            <a:avLst/>
          </a:prstGeom>
          <a:solidFill>
            <a:srgbClr val="DA291C"/>
          </a:solidFill>
          <a:ln w="12700">
            <a:solidFill>
              <a:srgbClr val="DA291C"/>
            </a:solidFill>
            <a:prstDash val="solid"/>
          </a:ln>
        </p:spPr>
      </p:sp>
      <p:sp>
        <p:nvSpPr>
          <p:cNvPr id="20" name="Text 17"/>
          <p:cNvSpPr/>
          <p:nvPr/>
        </p:nvSpPr>
        <p:spPr>
          <a:xfrm>
            <a:off x="2630363"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Operations</a:t>
            </a:r>
            <a:endParaRPr lang="en-US" sz="1050" dirty="0"/>
          </a:p>
        </p:txBody>
      </p:sp>
      <p:sp>
        <p:nvSpPr>
          <p:cNvPr id="21" name="Text 18"/>
          <p:cNvSpPr/>
          <p:nvPr/>
        </p:nvSpPr>
        <p:spPr>
          <a:xfrm>
            <a:off x="2630363"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E9DDD8"/>
                </a:solidFill>
                <a:latin typeface="Poppins" pitchFamily="34" charset="0"/>
                <a:ea typeface="Poppins" pitchFamily="34" charset="-122"/>
                <a:cs typeface="Poppins" pitchFamily="34" charset="-120"/>
              </a:rPr>
              <a:t>Mengubah input jadi produk jadi</a:t>
            </a:r>
            <a:endParaRPr lang="en-US" sz="850" dirty="0"/>
          </a:p>
        </p:txBody>
      </p:sp>
      <p:sp>
        <p:nvSpPr>
          <p:cNvPr id="22" name="Shape 19"/>
          <p:cNvSpPr/>
          <p:nvPr/>
        </p:nvSpPr>
        <p:spPr>
          <a:xfrm>
            <a:off x="4437766" y="2048256"/>
            <a:ext cx="1807403" cy="1417320"/>
          </a:xfrm>
          <a:prstGeom prst="rect">
            <a:avLst/>
          </a:prstGeom>
          <a:solidFill>
            <a:srgbClr val="2B0F11"/>
          </a:solidFill>
          <a:ln w="12700">
            <a:solidFill>
              <a:srgbClr val="2B0F11"/>
            </a:solidFill>
            <a:prstDash val="solid"/>
          </a:ln>
        </p:spPr>
      </p:sp>
      <p:sp>
        <p:nvSpPr>
          <p:cNvPr id="23" name="Shape 20"/>
          <p:cNvSpPr/>
          <p:nvPr/>
        </p:nvSpPr>
        <p:spPr>
          <a:xfrm>
            <a:off x="4437766" y="2048256"/>
            <a:ext cx="1807403" cy="54864"/>
          </a:xfrm>
          <a:prstGeom prst="rect">
            <a:avLst/>
          </a:prstGeom>
          <a:solidFill>
            <a:srgbClr val="DA291C"/>
          </a:solidFill>
          <a:ln w="12700">
            <a:solidFill>
              <a:srgbClr val="DA291C"/>
            </a:solidFill>
            <a:prstDash val="solid"/>
          </a:ln>
        </p:spPr>
      </p:sp>
      <p:sp>
        <p:nvSpPr>
          <p:cNvPr id="24" name="Text 21"/>
          <p:cNvSpPr/>
          <p:nvPr/>
        </p:nvSpPr>
        <p:spPr>
          <a:xfrm>
            <a:off x="4574926"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Distribution</a:t>
            </a:r>
            <a:endParaRPr lang="en-US" sz="1050" dirty="0"/>
          </a:p>
        </p:txBody>
      </p:sp>
      <p:sp>
        <p:nvSpPr>
          <p:cNvPr id="25" name="Text 22"/>
          <p:cNvSpPr/>
          <p:nvPr/>
        </p:nvSpPr>
        <p:spPr>
          <a:xfrm>
            <a:off x="4574926"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E9DDD8"/>
                </a:solidFill>
                <a:latin typeface="Poppins" pitchFamily="34" charset="0"/>
                <a:ea typeface="Poppins" pitchFamily="34" charset="-122"/>
                <a:cs typeface="Poppins" pitchFamily="34" charset="-120"/>
              </a:rPr>
              <a:t>Menyimpan dan mengirim ke pembeli</a:t>
            </a:r>
            <a:endParaRPr lang="en-US" sz="850" dirty="0"/>
          </a:p>
        </p:txBody>
      </p:sp>
      <p:sp>
        <p:nvSpPr>
          <p:cNvPr id="26" name="Shape 23"/>
          <p:cNvSpPr/>
          <p:nvPr/>
        </p:nvSpPr>
        <p:spPr>
          <a:xfrm>
            <a:off x="6382329" y="2048256"/>
            <a:ext cx="1807403" cy="1417320"/>
          </a:xfrm>
          <a:prstGeom prst="rect">
            <a:avLst/>
          </a:prstGeom>
          <a:solidFill>
            <a:srgbClr val="2B0F11"/>
          </a:solidFill>
          <a:ln w="12700">
            <a:solidFill>
              <a:srgbClr val="2B0F11"/>
            </a:solidFill>
            <a:prstDash val="solid"/>
          </a:ln>
        </p:spPr>
      </p:sp>
      <p:sp>
        <p:nvSpPr>
          <p:cNvPr id="27" name="Shape 24"/>
          <p:cNvSpPr/>
          <p:nvPr/>
        </p:nvSpPr>
        <p:spPr>
          <a:xfrm>
            <a:off x="6382329" y="2048256"/>
            <a:ext cx="1807403" cy="54864"/>
          </a:xfrm>
          <a:prstGeom prst="rect">
            <a:avLst/>
          </a:prstGeom>
          <a:solidFill>
            <a:srgbClr val="DA291C"/>
          </a:solidFill>
          <a:ln w="12700">
            <a:solidFill>
              <a:srgbClr val="DA291C"/>
            </a:solidFill>
            <a:prstDash val="solid"/>
          </a:ln>
        </p:spPr>
      </p:sp>
      <p:sp>
        <p:nvSpPr>
          <p:cNvPr id="28" name="Text 25"/>
          <p:cNvSpPr/>
          <p:nvPr/>
        </p:nvSpPr>
        <p:spPr>
          <a:xfrm>
            <a:off x="6519489"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Sales &amp; Marketing</a:t>
            </a:r>
            <a:endParaRPr lang="en-US" sz="1050" dirty="0"/>
          </a:p>
        </p:txBody>
      </p:sp>
      <p:sp>
        <p:nvSpPr>
          <p:cNvPr id="29" name="Text 26"/>
          <p:cNvSpPr/>
          <p:nvPr/>
        </p:nvSpPr>
        <p:spPr>
          <a:xfrm>
            <a:off x="6519489"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E9DDD8"/>
                </a:solidFill>
                <a:latin typeface="Poppins" pitchFamily="34" charset="0"/>
                <a:ea typeface="Poppins" pitchFamily="34" charset="-122"/>
                <a:cs typeface="Poppins" pitchFamily="34" charset="-120"/>
              </a:rPr>
              <a:t>Tenaga jual, iklan, promosi, dukungan dealer</a:t>
            </a:r>
            <a:endParaRPr lang="en-US" sz="850" dirty="0"/>
          </a:p>
        </p:txBody>
      </p:sp>
      <p:sp>
        <p:nvSpPr>
          <p:cNvPr id="30" name="Shape 27"/>
          <p:cNvSpPr/>
          <p:nvPr/>
        </p:nvSpPr>
        <p:spPr>
          <a:xfrm>
            <a:off x="8326892" y="2048256"/>
            <a:ext cx="1807403" cy="1417320"/>
          </a:xfrm>
          <a:prstGeom prst="rect">
            <a:avLst/>
          </a:prstGeom>
          <a:solidFill>
            <a:srgbClr val="2B0F11"/>
          </a:solidFill>
          <a:ln w="12700">
            <a:solidFill>
              <a:srgbClr val="2B0F11"/>
            </a:solidFill>
            <a:prstDash val="solid"/>
          </a:ln>
        </p:spPr>
      </p:sp>
      <p:sp>
        <p:nvSpPr>
          <p:cNvPr id="31" name="Shape 28"/>
          <p:cNvSpPr/>
          <p:nvPr/>
        </p:nvSpPr>
        <p:spPr>
          <a:xfrm>
            <a:off x="8326892" y="2048256"/>
            <a:ext cx="1807403" cy="54864"/>
          </a:xfrm>
          <a:prstGeom prst="rect">
            <a:avLst/>
          </a:prstGeom>
          <a:solidFill>
            <a:srgbClr val="DA291C"/>
          </a:solidFill>
          <a:ln w="12700">
            <a:solidFill>
              <a:srgbClr val="DA291C"/>
            </a:solidFill>
            <a:prstDash val="solid"/>
          </a:ln>
        </p:spPr>
      </p:sp>
      <p:sp>
        <p:nvSpPr>
          <p:cNvPr id="32" name="Text 29"/>
          <p:cNvSpPr/>
          <p:nvPr/>
        </p:nvSpPr>
        <p:spPr>
          <a:xfrm>
            <a:off x="8464052"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Service</a:t>
            </a:r>
            <a:endParaRPr lang="en-US" sz="1050" dirty="0"/>
          </a:p>
        </p:txBody>
      </p:sp>
      <p:sp>
        <p:nvSpPr>
          <p:cNvPr id="33" name="Text 30"/>
          <p:cNvSpPr/>
          <p:nvPr/>
        </p:nvSpPr>
        <p:spPr>
          <a:xfrm>
            <a:off x="8464052"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E9DDD8"/>
                </a:solidFill>
                <a:latin typeface="Poppins" pitchFamily="34" charset="0"/>
                <a:ea typeface="Poppins" pitchFamily="34" charset="-122"/>
                <a:cs typeface="Poppins" pitchFamily="34" charset="-120"/>
              </a:rPr>
              <a:t>Pemasangan, perbaikan, suku cadang, layanan pelanggan</a:t>
            </a:r>
            <a:endParaRPr lang="en-US" sz="850" dirty="0"/>
          </a:p>
        </p:txBody>
      </p:sp>
      <p:sp>
        <p:nvSpPr>
          <p:cNvPr id="34" name="Shape 31"/>
          <p:cNvSpPr/>
          <p:nvPr/>
        </p:nvSpPr>
        <p:spPr>
          <a:xfrm>
            <a:off x="10271455" y="2048256"/>
            <a:ext cx="1371600" cy="1417320"/>
          </a:xfrm>
          <a:prstGeom prst="rect">
            <a:avLst/>
          </a:prstGeom>
          <a:solidFill>
            <a:srgbClr val="DA291C"/>
          </a:solidFill>
          <a:ln w="12700">
            <a:solidFill>
              <a:srgbClr val="DA291C"/>
            </a:solidFill>
            <a:prstDash val="solid"/>
          </a:ln>
        </p:spPr>
      </p:sp>
      <p:sp>
        <p:nvSpPr>
          <p:cNvPr id="35" name="Text 32"/>
          <p:cNvSpPr/>
          <p:nvPr/>
        </p:nvSpPr>
        <p:spPr>
          <a:xfrm>
            <a:off x="10381183" y="2231136"/>
            <a:ext cx="1152144" cy="502920"/>
          </a:xfrm>
          <a:prstGeom prst="rect">
            <a:avLst/>
          </a:prstGeom>
          <a:noFill/>
          <a:ln/>
        </p:spPr>
        <p:txBody>
          <a:bodyPr wrap="square" lIns="0" tIns="0" rIns="0" bIns="0" rtlCol="0" anchor="t"/>
          <a:lstStyle/>
          <a:p>
            <a:pPr algn="ct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Profit Margin</a:t>
            </a:r>
            <a:endParaRPr lang="en-US" sz="1100" dirty="0"/>
          </a:p>
        </p:txBody>
      </p:sp>
      <p:sp>
        <p:nvSpPr>
          <p:cNvPr id="36" name="Text 33"/>
          <p:cNvSpPr/>
          <p:nvPr/>
        </p:nvSpPr>
        <p:spPr>
          <a:xfrm>
            <a:off x="10381183" y="2779776"/>
            <a:ext cx="1152144" cy="457200"/>
          </a:xfrm>
          <a:prstGeom prst="rect">
            <a:avLst/>
          </a:prstGeom>
          <a:noFill/>
          <a:ln/>
        </p:spPr>
        <p:txBody>
          <a:bodyPr wrap="square" lIns="0" tIns="0" rIns="0" bIns="0" rtlCol="0" anchor="t"/>
          <a:lstStyle/>
          <a:p>
            <a:pPr algn="ctr" indent="0" marL="0">
              <a:buNone/>
            </a:pPr>
            <a:r>
              <a:rPr lang="en-US" sz="2000" dirty="0">
                <a:solidFill>
                  <a:srgbClr val="FBE122"/>
                </a:solidFill>
                <a:latin typeface="Poppins ExtraBold" pitchFamily="34" charset="0"/>
                <a:ea typeface="Poppins ExtraBold" pitchFamily="34" charset="-122"/>
                <a:cs typeface="Poppins ExtraBold" pitchFamily="34" charset="-120"/>
              </a:rPr>
              <a:t>P − C</a:t>
            </a:r>
            <a:endParaRPr lang="en-US" sz="2000" dirty="0"/>
          </a:p>
        </p:txBody>
      </p:sp>
      <p:sp>
        <p:nvSpPr>
          <p:cNvPr id="37" name="Text 34"/>
          <p:cNvSpPr/>
          <p:nvPr/>
        </p:nvSpPr>
        <p:spPr>
          <a:xfrm>
            <a:off x="548640" y="3694176"/>
            <a:ext cx="73152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SUPPORT ACTIVITIES  ·  aktivitas pendukung</a:t>
            </a:r>
            <a:endParaRPr lang="en-US" sz="850" dirty="0"/>
          </a:p>
        </p:txBody>
      </p:sp>
      <p:sp>
        <p:nvSpPr>
          <p:cNvPr id="38" name="Shape 35"/>
          <p:cNvSpPr/>
          <p:nvPr/>
        </p:nvSpPr>
        <p:spPr>
          <a:xfrm>
            <a:off x="548640" y="3986784"/>
            <a:ext cx="3545738" cy="868680"/>
          </a:xfrm>
          <a:prstGeom prst="rect">
            <a:avLst/>
          </a:prstGeom>
          <a:solidFill>
            <a:srgbClr val="381418"/>
          </a:solidFill>
          <a:ln w="12700">
            <a:solidFill>
              <a:srgbClr val="381418"/>
            </a:solidFill>
            <a:prstDash val="solid"/>
          </a:ln>
        </p:spPr>
      </p:sp>
      <p:sp>
        <p:nvSpPr>
          <p:cNvPr id="39" name="Shape 36"/>
          <p:cNvSpPr/>
          <p:nvPr/>
        </p:nvSpPr>
        <p:spPr>
          <a:xfrm>
            <a:off x="548640" y="3986784"/>
            <a:ext cx="54864" cy="868680"/>
          </a:xfrm>
          <a:prstGeom prst="rect">
            <a:avLst/>
          </a:prstGeom>
          <a:solidFill>
            <a:srgbClr val="FBE122"/>
          </a:solidFill>
          <a:ln w="12700">
            <a:solidFill>
              <a:srgbClr val="FBE122"/>
            </a:solidFill>
            <a:prstDash val="solid"/>
          </a:ln>
        </p:spPr>
      </p:sp>
      <p:sp>
        <p:nvSpPr>
          <p:cNvPr id="40" name="Text 37"/>
          <p:cNvSpPr/>
          <p:nvPr/>
        </p:nvSpPr>
        <p:spPr>
          <a:xfrm>
            <a:off x="777240" y="4096512"/>
            <a:ext cx="3179978" cy="29260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Product R&amp;D, Technology &amp; Systems Development</a:t>
            </a:r>
            <a:endParaRPr lang="en-US" sz="1050" dirty="0"/>
          </a:p>
        </p:txBody>
      </p:sp>
      <p:sp>
        <p:nvSpPr>
          <p:cNvPr id="41" name="Text 38"/>
          <p:cNvSpPr/>
          <p:nvPr/>
        </p:nvSpPr>
        <p:spPr>
          <a:xfrm>
            <a:off x="777240" y="4425696"/>
            <a:ext cx="3179978" cy="365760"/>
          </a:xfrm>
          <a:prstGeom prst="rect">
            <a:avLst/>
          </a:prstGeom>
          <a:noFill/>
          <a:ln/>
        </p:spPr>
        <p:txBody>
          <a:bodyPr wrap="square" lIns="0" tIns="0" rIns="0" bIns="0" rtlCol="0" anchor="t"/>
          <a:lstStyle/>
          <a:p>
            <a:pPr indent="0" marL="0">
              <a:buNone/>
            </a:pPr>
            <a:r>
              <a:rPr lang="en-US" sz="900" dirty="0">
                <a:solidFill>
                  <a:srgbClr val="E9DDD8"/>
                </a:solidFill>
                <a:latin typeface="Poppins" pitchFamily="34" charset="0"/>
                <a:ea typeface="Poppins" pitchFamily="34" charset="-122"/>
                <a:cs typeface="Poppins" pitchFamily="34" charset="-120"/>
              </a:rPr>
              <a:t>Riset produk dan proses, desain, otomasi</a:t>
            </a:r>
            <a:endParaRPr lang="en-US" sz="900" dirty="0"/>
          </a:p>
        </p:txBody>
      </p:sp>
      <p:sp>
        <p:nvSpPr>
          <p:cNvPr id="42" name="Shape 39"/>
          <p:cNvSpPr/>
          <p:nvPr/>
        </p:nvSpPr>
        <p:spPr>
          <a:xfrm>
            <a:off x="4322978" y="3986784"/>
            <a:ext cx="3545738" cy="868680"/>
          </a:xfrm>
          <a:prstGeom prst="rect">
            <a:avLst/>
          </a:prstGeom>
          <a:solidFill>
            <a:srgbClr val="381418"/>
          </a:solidFill>
          <a:ln w="12700">
            <a:solidFill>
              <a:srgbClr val="381418"/>
            </a:solidFill>
            <a:prstDash val="solid"/>
          </a:ln>
        </p:spPr>
      </p:sp>
      <p:sp>
        <p:nvSpPr>
          <p:cNvPr id="43" name="Shape 40"/>
          <p:cNvSpPr/>
          <p:nvPr/>
        </p:nvSpPr>
        <p:spPr>
          <a:xfrm>
            <a:off x="4322978" y="3986784"/>
            <a:ext cx="54864" cy="868680"/>
          </a:xfrm>
          <a:prstGeom prst="rect">
            <a:avLst/>
          </a:prstGeom>
          <a:solidFill>
            <a:srgbClr val="FBE122"/>
          </a:solidFill>
          <a:ln w="12700">
            <a:solidFill>
              <a:srgbClr val="FBE122"/>
            </a:solidFill>
            <a:prstDash val="solid"/>
          </a:ln>
        </p:spPr>
      </p:sp>
      <p:sp>
        <p:nvSpPr>
          <p:cNvPr id="44" name="Text 41"/>
          <p:cNvSpPr/>
          <p:nvPr/>
        </p:nvSpPr>
        <p:spPr>
          <a:xfrm>
            <a:off x="4551578" y="4096512"/>
            <a:ext cx="3179978" cy="29260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Human Resource Management</a:t>
            </a:r>
            <a:endParaRPr lang="en-US" sz="1050" dirty="0"/>
          </a:p>
        </p:txBody>
      </p:sp>
      <p:sp>
        <p:nvSpPr>
          <p:cNvPr id="45" name="Text 42"/>
          <p:cNvSpPr/>
          <p:nvPr/>
        </p:nvSpPr>
        <p:spPr>
          <a:xfrm>
            <a:off x="4551578" y="4425696"/>
            <a:ext cx="3179978" cy="365760"/>
          </a:xfrm>
          <a:prstGeom prst="rect">
            <a:avLst/>
          </a:prstGeom>
          <a:noFill/>
          <a:ln/>
        </p:spPr>
        <p:txBody>
          <a:bodyPr wrap="square" lIns="0" tIns="0" rIns="0" bIns="0" rtlCol="0" anchor="t"/>
          <a:lstStyle/>
          <a:p>
            <a:pPr indent="0" marL="0">
              <a:buNone/>
            </a:pPr>
            <a:r>
              <a:rPr lang="en-US" sz="900" dirty="0">
                <a:solidFill>
                  <a:srgbClr val="E9DDD8"/>
                </a:solidFill>
                <a:latin typeface="Poppins" pitchFamily="34" charset="0"/>
                <a:ea typeface="Poppins" pitchFamily="34" charset="-122"/>
                <a:cs typeface="Poppins" pitchFamily="34" charset="-120"/>
              </a:rPr>
              <a:t>Rekrutmen, pelatihan, kompensasi</a:t>
            </a:r>
            <a:endParaRPr lang="en-US" sz="900" dirty="0"/>
          </a:p>
        </p:txBody>
      </p:sp>
      <p:sp>
        <p:nvSpPr>
          <p:cNvPr id="46" name="Shape 43"/>
          <p:cNvSpPr/>
          <p:nvPr/>
        </p:nvSpPr>
        <p:spPr>
          <a:xfrm>
            <a:off x="8097317" y="3986784"/>
            <a:ext cx="3545738" cy="868680"/>
          </a:xfrm>
          <a:prstGeom prst="rect">
            <a:avLst/>
          </a:prstGeom>
          <a:solidFill>
            <a:srgbClr val="381418"/>
          </a:solidFill>
          <a:ln w="12700">
            <a:solidFill>
              <a:srgbClr val="381418"/>
            </a:solidFill>
            <a:prstDash val="solid"/>
          </a:ln>
        </p:spPr>
      </p:sp>
      <p:sp>
        <p:nvSpPr>
          <p:cNvPr id="47" name="Shape 44"/>
          <p:cNvSpPr/>
          <p:nvPr/>
        </p:nvSpPr>
        <p:spPr>
          <a:xfrm>
            <a:off x="8097317" y="3986784"/>
            <a:ext cx="54864" cy="868680"/>
          </a:xfrm>
          <a:prstGeom prst="rect">
            <a:avLst/>
          </a:prstGeom>
          <a:solidFill>
            <a:srgbClr val="FBE122"/>
          </a:solidFill>
          <a:ln w="12700">
            <a:solidFill>
              <a:srgbClr val="FBE122"/>
            </a:solidFill>
            <a:prstDash val="solid"/>
          </a:ln>
        </p:spPr>
      </p:sp>
      <p:sp>
        <p:nvSpPr>
          <p:cNvPr id="48" name="Text 45"/>
          <p:cNvSpPr/>
          <p:nvPr/>
        </p:nvSpPr>
        <p:spPr>
          <a:xfrm>
            <a:off x="8325917" y="4096512"/>
            <a:ext cx="3179978" cy="29260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General Administration</a:t>
            </a:r>
            <a:endParaRPr lang="en-US" sz="1050" dirty="0"/>
          </a:p>
        </p:txBody>
      </p:sp>
      <p:sp>
        <p:nvSpPr>
          <p:cNvPr id="49" name="Text 46"/>
          <p:cNvSpPr/>
          <p:nvPr/>
        </p:nvSpPr>
        <p:spPr>
          <a:xfrm>
            <a:off x="8325917" y="4425696"/>
            <a:ext cx="3179978" cy="365760"/>
          </a:xfrm>
          <a:prstGeom prst="rect">
            <a:avLst/>
          </a:prstGeom>
          <a:noFill/>
          <a:ln/>
        </p:spPr>
        <p:txBody>
          <a:bodyPr wrap="square" lIns="0" tIns="0" rIns="0" bIns="0" rtlCol="0" anchor="t"/>
          <a:lstStyle/>
          <a:p>
            <a:pPr indent="0" marL="0">
              <a:buNone/>
            </a:pPr>
            <a:r>
              <a:rPr lang="en-US" sz="900" dirty="0">
                <a:solidFill>
                  <a:srgbClr val="E9DDD8"/>
                </a:solidFill>
                <a:latin typeface="Poppins" pitchFamily="34" charset="0"/>
                <a:ea typeface="Poppins" pitchFamily="34" charset="-122"/>
                <a:cs typeface="Poppins" pitchFamily="34" charset="-120"/>
              </a:rPr>
              <a:t>Akuntansi, keuangan, hukum, sistem informasi</a:t>
            </a:r>
            <a:endParaRPr lang="en-US" sz="900" dirty="0"/>
          </a:p>
        </p:txBody>
      </p:sp>
      <p:sp>
        <p:nvSpPr>
          <p:cNvPr id="50" name="Shape 47"/>
          <p:cNvSpPr/>
          <p:nvPr/>
        </p:nvSpPr>
        <p:spPr>
          <a:xfrm>
            <a:off x="548640" y="5065776"/>
            <a:ext cx="11094415" cy="822960"/>
          </a:xfrm>
          <a:prstGeom prst="rect">
            <a:avLst/>
          </a:prstGeom>
          <a:solidFill>
            <a:srgbClr val="DA291C"/>
          </a:solidFill>
          <a:ln w="12700">
            <a:solidFill>
              <a:srgbClr val="DA291C"/>
            </a:solidFill>
            <a:prstDash val="solid"/>
          </a:ln>
        </p:spPr>
      </p:sp>
      <p:sp>
        <p:nvSpPr>
          <p:cNvPr id="51" name="Text 48"/>
          <p:cNvSpPr/>
          <p:nvPr/>
        </p:nvSpPr>
        <p:spPr>
          <a:xfrm>
            <a:off x="777240" y="5193792"/>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TIGA SELISIH YANG HARUS DIBEDAKAN</a:t>
            </a:r>
            <a:endParaRPr lang="en-US" sz="800" dirty="0"/>
          </a:p>
        </p:txBody>
      </p:sp>
      <p:sp>
        <p:nvSpPr>
          <p:cNvPr id="52" name="Text 49"/>
          <p:cNvSpPr/>
          <p:nvPr/>
        </p:nvSpPr>
        <p:spPr>
          <a:xfrm>
            <a:off x="777240" y="5431536"/>
            <a:ext cx="10637215" cy="36576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V − P = nilai yang diterima pelanggan (customer value proposition).   P − C = margin laba perusahaan.   V − C = Total Economic Value, seluruh nilai ekonomi yang diciptakan perusahaan.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4  ·  FIGURE 4.4</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14</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SYSTEM DAN BENCHMARKING</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Biaya dan mutu yang sampai ke pembeli tidak hanya ditentukan perusahaan sendiri, tapi oleh seluruh rantai dari pemasok sampai penjual akhir.</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14</a:t>
            </a:r>
            <a:endParaRPr lang="en-US" sz="900" dirty="0"/>
          </a:p>
        </p:txBody>
      </p:sp>
      <p:sp>
        <p:nvSpPr>
          <p:cNvPr id="13" name="Shape 10"/>
          <p:cNvSpPr/>
          <p:nvPr/>
        </p:nvSpPr>
        <p:spPr>
          <a:xfrm>
            <a:off x="548640" y="1755648"/>
            <a:ext cx="2567864" cy="914400"/>
          </a:xfrm>
          <a:prstGeom prst="rect">
            <a:avLst/>
          </a:prstGeom>
          <a:solidFill>
            <a:srgbClr val="2B0F11"/>
          </a:solidFill>
          <a:ln w="12700">
            <a:solidFill>
              <a:srgbClr val="2B0F11"/>
            </a:solidFill>
            <a:prstDash val="solid"/>
          </a:ln>
        </p:spPr>
      </p:sp>
      <p:sp>
        <p:nvSpPr>
          <p:cNvPr id="14" name="Text 11"/>
          <p:cNvSpPr/>
          <p:nvPr/>
        </p:nvSpPr>
        <p:spPr>
          <a:xfrm>
            <a:off x="731520"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Value chain PEMASOK</a:t>
            </a:r>
            <a:endParaRPr lang="en-US" sz="1050" dirty="0"/>
          </a:p>
        </p:txBody>
      </p:sp>
      <p:sp>
        <p:nvSpPr>
          <p:cNvPr id="15" name="Text 12"/>
          <p:cNvSpPr/>
          <p:nvPr/>
        </p:nvSpPr>
        <p:spPr>
          <a:xfrm>
            <a:off x="731520" y="2212848"/>
            <a:ext cx="2247824" cy="411480"/>
          </a:xfrm>
          <a:prstGeom prst="rect">
            <a:avLst/>
          </a:prstGeom>
          <a:noFill/>
          <a:ln/>
        </p:spPr>
        <p:txBody>
          <a:bodyPr wrap="square" lIns="0" tIns="0" rIns="0" bIns="0" rtlCol="0" anchor="t"/>
          <a:lstStyle/>
          <a:p>
            <a:pPr indent="0" marL="0">
              <a:buNone/>
            </a:pPr>
            <a:r>
              <a:rPr lang="en-US" sz="850" dirty="0">
                <a:solidFill>
                  <a:srgbClr val="E9DDD8"/>
                </a:solidFill>
                <a:latin typeface="Poppins" pitchFamily="34" charset="0"/>
                <a:ea typeface="Poppins" pitchFamily="34" charset="-122"/>
                <a:cs typeface="Poppins" pitchFamily="34" charset="-120"/>
              </a:rPr>
              <a:t>Biaya dan mutu input yang masuk</a:t>
            </a:r>
            <a:endParaRPr lang="en-US" sz="850" dirty="0"/>
          </a:p>
        </p:txBody>
      </p:sp>
      <p:sp>
        <p:nvSpPr>
          <p:cNvPr id="16" name="Shape 13"/>
          <p:cNvSpPr/>
          <p:nvPr/>
        </p:nvSpPr>
        <p:spPr>
          <a:xfrm rot="5400000">
            <a:off x="3180512" y="2139696"/>
            <a:ext cx="146304" cy="164592"/>
          </a:xfrm>
          <a:prstGeom prst="triangle">
            <a:avLst/>
          </a:prstGeom>
          <a:solidFill>
            <a:srgbClr val="FBE122"/>
          </a:solidFill>
          <a:ln w="12700">
            <a:solidFill>
              <a:srgbClr val="FBE122"/>
            </a:solidFill>
            <a:prstDash val="solid"/>
          </a:ln>
        </p:spPr>
      </p:sp>
      <p:sp>
        <p:nvSpPr>
          <p:cNvPr id="17" name="Shape 14"/>
          <p:cNvSpPr/>
          <p:nvPr/>
        </p:nvSpPr>
        <p:spPr>
          <a:xfrm>
            <a:off x="3390824" y="1755648"/>
            <a:ext cx="2567864" cy="914400"/>
          </a:xfrm>
          <a:prstGeom prst="rect">
            <a:avLst/>
          </a:prstGeom>
          <a:solidFill>
            <a:srgbClr val="2B0F11"/>
          </a:solidFill>
          <a:ln w="12700">
            <a:solidFill>
              <a:srgbClr val="2B0F11"/>
            </a:solidFill>
            <a:prstDash val="solid"/>
          </a:ln>
        </p:spPr>
      </p:sp>
      <p:sp>
        <p:nvSpPr>
          <p:cNvPr id="18" name="Text 15"/>
          <p:cNvSpPr/>
          <p:nvPr/>
        </p:nvSpPr>
        <p:spPr>
          <a:xfrm>
            <a:off x="3573704"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Value chain PERUSAHAAN</a:t>
            </a:r>
            <a:endParaRPr lang="en-US" sz="1050" dirty="0"/>
          </a:p>
        </p:txBody>
      </p:sp>
      <p:sp>
        <p:nvSpPr>
          <p:cNvPr id="19" name="Text 16"/>
          <p:cNvSpPr/>
          <p:nvPr/>
        </p:nvSpPr>
        <p:spPr>
          <a:xfrm>
            <a:off x="3573704" y="2212848"/>
            <a:ext cx="2247824" cy="411480"/>
          </a:xfrm>
          <a:prstGeom prst="rect">
            <a:avLst/>
          </a:prstGeom>
          <a:noFill/>
          <a:ln/>
        </p:spPr>
        <p:txBody>
          <a:bodyPr wrap="square" lIns="0" tIns="0" rIns="0" bIns="0" rtlCol="0" anchor="t"/>
          <a:lstStyle/>
          <a:p>
            <a:pPr indent="0" marL="0">
              <a:buNone/>
            </a:pPr>
            <a:r>
              <a:rPr lang="en-US" sz="850" dirty="0">
                <a:solidFill>
                  <a:srgbClr val="E9DDD8"/>
                </a:solidFill>
                <a:latin typeface="Poppins" pitchFamily="34" charset="0"/>
                <a:ea typeface="Poppins" pitchFamily="34" charset="-122"/>
                <a:cs typeface="Poppins" pitchFamily="34" charset="-120"/>
              </a:rPr>
              <a:t>Aktivitas internal sendiri</a:t>
            </a:r>
            <a:endParaRPr lang="en-US" sz="850" dirty="0"/>
          </a:p>
        </p:txBody>
      </p:sp>
      <p:sp>
        <p:nvSpPr>
          <p:cNvPr id="20" name="Shape 17"/>
          <p:cNvSpPr/>
          <p:nvPr/>
        </p:nvSpPr>
        <p:spPr>
          <a:xfrm rot="5400000">
            <a:off x="6022696" y="2139696"/>
            <a:ext cx="146304" cy="164592"/>
          </a:xfrm>
          <a:prstGeom prst="triangle">
            <a:avLst/>
          </a:prstGeom>
          <a:solidFill>
            <a:srgbClr val="FBE122"/>
          </a:solidFill>
          <a:ln w="12700">
            <a:solidFill>
              <a:srgbClr val="FBE122"/>
            </a:solidFill>
            <a:prstDash val="solid"/>
          </a:ln>
        </p:spPr>
      </p:sp>
      <p:sp>
        <p:nvSpPr>
          <p:cNvPr id="21" name="Shape 18"/>
          <p:cNvSpPr/>
          <p:nvPr/>
        </p:nvSpPr>
        <p:spPr>
          <a:xfrm>
            <a:off x="6233008" y="1755648"/>
            <a:ext cx="2567864" cy="914400"/>
          </a:xfrm>
          <a:prstGeom prst="rect">
            <a:avLst/>
          </a:prstGeom>
          <a:solidFill>
            <a:srgbClr val="2B0F11"/>
          </a:solidFill>
          <a:ln w="12700">
            <a:solidFill>
              <a:srgbClr val="2B0F11"/>
            </a:solidFill>
            <a:prstDash val="solid"/>
          </a:ln>
        </p:spPr>
      </p:sp>
      <p:sp>
        <p:nvSpPr>
          <p:cNvPr id="22" name="Text 19"/>
          <p:cNvSpPr/>
          <p:nvPr/>
        </p:nvSpPr>
        <p:spPr>
          <a:xfrm>
            <a:off x="6415888"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Value chain MITRA HILIR</a:t>
            </a:r>
            <a:endParaRPr lang="en-US" sz="1050" dirty="0"/>
          </a:p>
        </p:txBody>
      </p:sp>
      <p:sp>
        <p:nvSpPr>
          <p:cNvPr id="23" name="Text 20"/>
          <p:cNvSpPr/>
          <p:nvPr/>
        </p:nvSpPr>
        <p:spPr>
          <a:xfrm>
            <a:off x="6415888" y="2212848"/>
            <a:ext cx="2247824" cy="411480"/>
          </a:xfrm>
          <a:prstGeom prst="rect">
            <a:avLst/>
          </a:prstGeom>
          <a:noFill/>
          <a:ln/>
        </p:spPr>
        <p:txBody>
          <a:bodyPr wrap="square" lIns="0" tIns="0" rIns="0" bIns="0" rtlCol="0" anchor="t"/>
          <a:lstStyle/>
          <a:p>
            <a:pPr indent="0" marL="0">
              <a:buNone/>
            </a:pPr>
            <a:r>
              <a:rPr lang="en-US" sz="850" dirty="0">
                <a:solidFill>
                  <a:srgbClr val="E9DDD8"/>
                </a:solidFill>
                <a:latin typeface="Poppins" pitchFamily="34" charset="0"/>
                <a:ea typeface="Poppins" pitchFamily="34" charset="-122"/>
                <a:cs typeface="Poppins" pitchFamily="34" charset="-120"/>
              </a:rPr>
              <a:t>Distributor, dealer, mitra strategis</a:t>
            </a:r>
            <a:endParaRPr lang="en-US" sz="850" dirty="0"/>
          </a:p>
        </p:txBody>
      </p:sp>
      <p:sp>
        <p:nvSpPr>
          <p:cNvPr id="24" name="Shape 21"/>
          <p:cNvSpPr/>
          <p:nvPr/>
        </p:nvSpPr>
        <p:spPr>
          <a:xfrm rot="5400000">
            <a:off x="8864879" y="2139696"/>
            <a:ext cx="146304" cy="164592"/>
          </a:xfrm>
          <a:prstGeom prst="triangle">
            <a:avLst/>
          </a:prstGeom>
          <a:solidFill>
            <a:srgbClr val="FBE122"/>
          </a:solidFill>
          <a:ln w="12700">
            <a:solidFill>
              <a:srgbClr val="FBE122"/>
            </a:solidFill>
            <a:prstDash val="solid"/>
          </a:ln>
        </p:spPr>
      </p:sp>
      <p:sp>
        <p:nvSpPr>
          <p:cNvPr id="25" name="Shape 22"/>
          <p:cNvSpPr/>
          <p:nvPr/>
        </p:nvSpPr>
        <p:spPr>
          <a:xfrm>
            <a:off x="9075191" y="1755648"/>
            <a:ext cx="2567864" cy="914400"/>
          </a:xfrm>
          <a:prstGeom prst="rect">
            <a:avLst/>
          </a:prstGeom>
          <a:solidFill>
            <a:srgbClr val="DA291C"/>
          </a:solidFill>
          <a:ln w="12700">
            <a:solidFill>
              <a:srgbClr val="DA291C"/>
            </a:solidFill>
            <a:prstDash val="solid"/>
          </a:ln>
        </p:spPr>
      </p:sp>
      <p:sp>
        <p:nvSpPr>
          <p:cNvPr id="26" name="Text 23"/>
          <p:cNvSpPr/>
          <p:nvPr/>
        </p:nvSpPr>
        <p:spPr>
          <a:xfrm>
            <a:off x="9258071"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PEMBELI / PENGGUNA AKHIR</a:t>
            </a:r>
            <a:endParaRPr lang="en-US" sz="1050" dirty="0"/>
          </a:p>
        </p:txBody>
      </p:sp>
      <p:sp>
        <p:nvSpPr>
          <p:cNvPr id="27" name="Text 24"/>
          <p:cNvSpPr/>
          <p:nvPr/>
        </p:nvSpPr>
        <p:spPr>
          <a:xfrm>
            <a:off x="9258071" y="2212848"/>
            <a:ext cx="2247824" cy="411480"/>
          </a:xfrm>
          <a:prstGeom prst="rect">
            <a:avLst/>
          </a:prstGeom>
          <a:noFill/>
          <a:ln/>
        </p:spPr>
        <p:txBody>
          <a:bodyPr wrap="square" lIns="0" tIns="0" rIns="0" bIns="0" rtlCol="0" anchor="t"/>
          <a:lstStyle/>
          <a:p>
            <a:pPr indent="0" marL="0">
              <a:buNone/>
            </a:pPr>
            <a:r>
              <a:rPr lang="en-US" sz="850" dirty="0">
                <a:solidFill>
                  <a:srgbClr val="FFFFFF"/>
                </a:solidFill>
                <a:latin typeface="Poppins" pitchFamily="34" charset="0"/>
                <a:ea typeface="Poppins" pitchFamily="34" charset="-122"/>
                <a:cs typeface="Poppins" pitchFamily="34" charset="-120"/>
              </a:rPr>
              <a:t>Nilai yang akhirnya dirasakan</a:t>
            </a:r>
            <a:endParaRPr lang="en-US" sz="850" dirty="0"/>
          </a:p>
        </p:txBody>
      </p:sp>
      <p:sp>
        <p:nvSpPr>
          <p:cNvPr id="28" name="Shape 25"/>
          <p:cNvSpPr/>
          <p:nvPr/>
        </p:nvSpPr>
        <p:spPr>
          <a:xfrm>
            <a:off x="548640" y="2871216"/>
            <a:ext cx="5120640" cy="2331720"/>
          </a:xfrm>
          <a:prstGeom prst="rect">
            <a:avLst/>
          </a:prstGeom>
          <a:solidFill>
            <a:srgbClr val="2B0F11"/>
          </a:solidFill>
          <a:ln w="12700">
            <a:solidFill>
              <a:srgbClr val="2B0F11"/>
            </a:solidFill>
            <a:prstDash val="solid"/>
          </a:ln>
        </p:spPr>
      </p:sp>
      <p:sp>
        <p:nvSpPr>
          <p:cNvPr id="29" name="Shape 26"/>
          <p:cNvSpPr/>
          <p:nvPr/>
        </p:nvSpPr>
        <p:spPr>
          <a:xfrm>
            <a:off x="548640" y="2871216"/>
            <a:ext cx="54864" cy="2331720"/>
          </a:xfrm>
          <a:prstGeom prst="rect">
            <a:avLst/>
          </a:prstGeom>
          <a:solidFill>
            <a:srgbClr val="DA291C"/>
          </a:solidFill>
          <a:ln w="12700">
            <a:solidFill>
              <a:srgbClr val="DA291C"/>
            </a:solidFill>
            <a:prstDash val="solid"/>
          </a:ln>
        </p:spPr>
      </p:sp>
      <p:sp>
        <p:nvSpPr>
          <p:cNvPr id="30" name="Text 27"/>
          <p:cNvSpPr/>
          <p:nvPr/>
        </p:nvSpPr>
        <p:spPr>
          <a:xfrm>
            <a:off x="804672" y="3008376"/>
            <a:ext cx="4663440"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Benchmarking</a:t>
            </a:r>
            <a:endParaRPr lang="en-US" sz="1400" dirty="0"/>
          </a:p>
        </p:txBody>
      </p:sp>
      <p:sp>
        <p:nvSpPr>
          <p:cNvPr id="31" name="Text 28"/>
          <p:cNvSpPr/>
          <p:nvPr/>
        </p:nvSpPr>
        <p:spPr>
          <a:xfrm>
            <a:off x="804672" y="3374136"/>
            <a:ext cx="4663440" cy="868680"/>
          </a:xfrm>
          <a:prstGeom prst="rect">
            <a:avLst/>
          </a:prstGeom>
          <a:noFill/>
          <a:ln/>
        </p:spPr>
        <p:txBody>
          <a:bodyPr wrap="square" lIns="0" tIns="0" rIns="0" bIns="0" rtlCol="0" anchor="t"/>
          <a:lstStyle/>
          <a:p>
            <a:pPr indent="0" marL="0">
              <a:lnSpc>
                <a:spcPct val="106000"/>
              </a:lnSpc>
              <a:buNone/>
            </a:pPr>
            <a:r>
              <a:rPr lang="en-US" sz="950" dirty="0">
                <a:solidFill>
                  <a:srgbClr val="E9DDD8"/>
                </a:solidFill>
                <a:latin typeface="Poppins" pitchFamily="34" charset="0"/>
                <a:ea typeface="Poppins" pitchFamily="34" charset="-122"/>
                <a:cs typeface="Poppins" pitchFamily="34" charset="-120"/>
              </a:rPr>
              <a:t>Membandingkan cara perusahaan lain mengerjakan aktivitas yang sama, lalu menirukan cara terbaiknya. Bisa dengan pesaing di industri yang sama, bisa juga dengan industri lain sama sekali.</a:t>
            </a:r>
            <a:endParaRPr lang="en-US" sz="950" dirty="0"/>
          </a:p>
        </p:txBody>
      </p:sp>
      <p:sp>
        <p:nvSpPr>
          <p:cNvPr id="32" name="Text 29"/>
          <p:cNvSpPr/>
          <p:nvPr/>
        </p:nvSpPr>
        <p:spPr>
          <a:xfrm>
            <a:off x="804672" y="4288536"/>
            <a:ext cx="4663440" cy="868680"/>
          </a:xfrm>
          <a:prstGeom prst="rect">
            <a:avLst/>
          </a:prstGeom>
          <a:noFill/>
          <a:ln/>
        </p:spPr>
        <p:txBody>
          <a:bodyPr wrap="square" lIns="0" tIns="0" rIns="0" bIns="0" rtlCol="0" anchor="t"/>
          <a:lstStyle/>
          <a:p>
            <a:pPr indent="0" marL="0">
              <a:lnSpc>
                <a:spcPct val="106000"/>
              </a:lnSpc>
              <a:buNone/>
            </a:pPr>
            <a:r>
              <a:rPr lang="en-US" sz="950" dirty="0">
                <a:solidFill>
                  <a:srgbClr val="FBE122"/>
                </a:solidFill>
                <a:latin typeface="Poppins SemiBold" pitchFamily="34" charset="0"/>
                <a:ea typeface="Poppins SemiBold" pitchFamily="34" charset="-122"/>
                <a:cs typeface="Poppins SemiBold" pitchFamily="34" charset="-120"/>
              </a:rPr>
              <a:t>Best practice </a:t>
            </a:r>
            <a:pPr indent="0" marL="0">
              <a:lnSpc>
                <a:spcPct val="106000"/>
              </a:lnSpc>
              <a:buNone/>
            </a:pPr>
            <a:r>
              <a:rPr lang="en-US" sz="950" dirty="0">
                <a:solidFill>
                  <a:srgbClr val="E9DDD8"/>
                </a:solidFill>
                <a:latin typeface="Poppins" pitchFamily="34" charset="0"/>
                <a:ea typeface="Poppins" pitchFamily="34" charset="-122"/>
                <a:cs typeface="Poppins" pitchFamily="34" charset="-120"/>
              </a:rPr>
              <a:t>= cara mengerjakan suatu aktivitas yang terbukti konsisten memberi hasil lebih baik dibanding cara lain. Harus sudah dibuktikan minimal oleh satu perusahaan.</a:t>
            </a:r>
            <a:endParaRPr lang="en-US" sz="950" dirty="0"/>
          </a:p>
        </p:txBody>
      </p:sp>
      <p:sp>
        <p:nvSpPr>
          <p:cNvPr id="33" name="Text 30"/>
          <p:cNvSpPr/>
          <p:nvPr/>
        </p:nvSpPr>
        <p:spPr>
          <a:xfrm>
            <a:off x="5897880" y="2852928"/>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TIGA CONTOH YANG TERKENAL</a:t>
            </a:r>
            <a:endParaRPr lang="en-US" sz="850" dirty="0"/>
          </a:p>
        </p:txBody>
      </p:sp>
      <p:sp>
        <p:nvSpPr>
          <p:cNvPr id="34" name="Shape 31"/>
          <p:cNvSpPr/>
          <p:nvPr/>
        </p:nvSpPr>
        <p:spPr>
          <a:xfrm>
            <a:off x="5897880" y="3145536"/>
            <a:ext cx="5745175" cy="640080"/>
          </a:xfrm>
          <a:prstGeom prst="rect">
            <a:avLst/>
          </a:prstGeom>
          <a:solidFill>
            <a:srgbClr val="2B0F11"/>
          </a:solidFill>
          <a:ln w="12700">
            <a:solidFill>
              <a:srgbClr val="2B0F11"/>
            </a:solidFill>
            <a:prstDash val="solid"/>
          </a:ln>
        </p:spPr>
      </p:sp>
      <p:sp>
        <p:nvSpPr>
          <p:cNvPr id="35" name="Text 32"/>
          <p:cNvSpPr/>
          <p:nvPr/>
        </p:nvSpPr>
        <p:spPr>
          <a:xfrm>
            <a:off x="6080760" y="3218688"/>
            <a:ext cx="1600200" cy="502920"/>
          </a:xfrm>
          <a:prstGeom prst="rect">
            <a:avLst/>
          </a:prstGeom>
          <a:noFill/>
          <a:ln/>
        </p:spPr>
        <p:txBody>
          <a:bodyPr wrap="square" lIns="0" tIns="0" rIns="0" bIns="0" rtlCol="0" anchor="ctr"/>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Xerox</a:t>
            </a:r>
            <a:endParaRPr lang="en-US" sz="1050" dirty="0"/>
          </a:p>
        </p:txBody>
      </p:sp>
      <p:sp>
        <p:nvSpPr>
          <p:cNvPr id="36" name="Text 33"/>
          <p:cNvSpPr/>
          <p:nvPr/>
        </p:nvSpPr>
        <p:spPr>
          <a:xfrm>
            <a:off x="7680960" y="3200400"/>
            <a:ext cx="3824935" cy="54864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Pelopornya. Tidak membatasi diri pada pesaing mesin kantor, tapi ke perusahaan mana pun yang kelas dunia.</a:t>
            </a:r>
            <a:endParaRPr lang="en-US" sz="850" dirty="0"/>
          </a:p>
        </p:txBody>
      </p:sp>
      <p:sp>
        <p:nvSpPr>
          <p:cNvPr id="37" name="Shape 34"/>
          <p:cNvSpPr/>
          <p:nvPr/>
        </p:nvSpPr>
        <p:spPr>
          <a:xfrm>
            <a:off x="5897880" y="3858768"/>
            <a:ext cx="5745175" cy="640080"/>
          </a:xfrm>
          <a:prstGeom prst="rect">
            <a:avLst/>
          </a:prstGeom>
          <a:solidFill>
            <a:srgbClr val="381418"/>
          </a:solidFill>
          <a:ln w="12700">
            <a:solidFill>
              <a:srgbClr val="381418"/>
            </a:solidFill>
            <a:prstDash val="solid"/>
          </a:ln>
        </p:spPr>
      </p:sp>
      <p:sp>
        <p:nvSpPr>
          <p:cNvPr id="38" name="Text 35"/>
          <p:cNvSpPr/>
          <p:nvPr/>
        </p:nvSpPr>
        <p:spPr>
          <a:xfrm>
            <a:off x="6080760" y="3931920"/>
            <a:ext cx="1600200" cy="502920"/>
          </a:xfrm>
          <a:prstGeom prst="rect">
            <a:avLst/>
          </a:prstGeom>
          <a:noFill/>
          <a:ln/>
        </p:spPr>
        <p:txBody>
          <a:bodyPr wrap="square" lIns="0" tIns="0" rIns="0" bIns="0" rtlCol="0" anchor="ctr"/>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Toyota</a:t>
            </a:r>
            <a:endParaRPr lang="en-US" sz="1050" dirty="0"/>
          </a:p>
        </p:txBody>
      </p:sp>
      <p:sp>
        <p:nvSpPr>
          <p:cNvPr id="39" name="Text 36"/>
          <p:cNvSpPr/>
          <p:nvPr/>
        </p:nvSpPr>
        <p:spPr>
          <a:xfrm>
            <a:off x="7680960" y="3913632"/>
            <a:ext cx="3824935" cy="54864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Ide just-in-time datang dari mengamati cara supermarket Amerika mengisi ulang raknya.</a:t>
            </a:r>
            <a:endParaRPr lang="en-US" sz="850" dirty="0"/>
          </a:p>
        </p:txBody>
      </p:sp>
      <p:sp>
        <p:nvSpPr>
          <p:cNvPr id="40" name="Shape 37"/>
          <p:cNvSpPr/>
          <p:nvPr/>
        </p:nvSpPr>
        <p:spPr>
          <a:xfrm>
            <a:off x="5897880" y="4572000"/>
            <a:ext cx="5745175" cy="640080"/>
          </a:xfrm>
          <a:prstGeom prst="rect">
            <a:avLst/>
          </a:prstGeom>
          <a:solidFill>
            <a:srgbClr val="2B0F11"/>
          </a:solidFill>
          <a:ln w="12700">
            <a:solidFill>
              <a:srgbClr val="2B0F11"/>
            </a:solidFill>
            <a:prstDash val="solid"/>
          </a:ln>
        </p:spPr>
      </p:sp>
      <p:sp>
        <p:nvSpPr>
          <p:cNvPr id="41" name="Text 38"/>
          <p:cNvSpPr/>
          <p:nvPr/>
        </p:nvSpPr>
        <p:spPr>
          <a:xfrm>
            <a:off x="6080760" y="4645152"/>
            <a:ext cx="1600200" cy="502920"/>
          </a:xfrm>
          <a:prstGeom prst="rect">
            <a:avLst/>
          </a:prstGeom>
          <a:noFill/>
          <a:ln/>
        </p:spPr>
        <p:txBody>
          <a:bodyPr wrap="square" lIns="0" tIns="0" rIns="0" bIns="0" rtlCol="0" anchor="ctr"/>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Southwest Airlines</a:t>
            </a:r>
            <a:endParaRPr lang="en-US" sz="1050" dirty="0"/>
          </a:p>
        </p:txBody>
      </p:sp>
      <p:sp>
        <p:nvSpPr>
          <p:cNvPr id="42" name="Text 39"/>
          <p:cNvSpPr/>
          <p:nvPr/>
        </p:nvSpPr>
        <p:spPr>
          <a:xfrm>
            <a:off x="7680960" y="4626864"/>
            <a:ext cx="3824935" cy="54864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Memangkas waktu parkir pesawat dengan mempelajari kru pit balap mobil.</a:t>
            </a:r>
            <a:endParaRPr lang="en-US" sz="850" dirty="0"/>
          </a:p>
        </p:txBody>
      </p:sp>
      <p:sp>
        <p:nvSpPr>
          <p:cNvPr id="43" name="Shape 40"/>
          <p:cNvSpPr/>
          <p:nvPr/>
        </p:nvSpPr>
        <p:spPr>
          <a:xfrm>
            <a:off x="548640" y="5385816"/>
            <a:ext cx="11094415" cy="731520"/>
          </a:xfrm>
          <a:prstGeom prst="rect">
            <a:avLst/>
          </a:prstGeom>
          <a:solidFill>
            <a:srgbClr val="381418"/>
          </a:solidFill>
          <a:ln w="12700">
            <a:solidFill>
              <a:srgbClr val="381418"/>
            </a:solidFill>
            <a:prstDash val="solid"/>
          </a:ln>
        </p:spPr>
      </p:sp>
      <p:sp>
        <p:nvSpPr>
          <p:cNvPr id="44" name="Text 41"/>
          <p:cNvSpPr/>
          <p:nvPr/>
        </p:nvSpPr>
        <p:spPr>
          <a:xfrm>
            <a:off x="777240" y="5513832"/>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BAGIAN SULITNYA BUKAN MEMUTUSKAN, TAPI MENDAPAT DATANYA</a:t>
            </a:r>
            <a:endParaRPr lang="en-US" sz="800" dirty="0"/>
          </a:p>
        </p:txBody>
      </p:sp>
      <p:sp>
        <p:nvSpPr>
          <p:cNvPr id="45" name="Text 42"/>
          <p:cNvSpPr/>
          <p:nvPr/>
        </p:nvSpPr>
        <p:spPr>
          <a:xfrm>
            <a:off x="777240" y="5751576"/>
            <a:ext cx="10637215" cy="27432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Sumber yang sah: laporan publik, asosiasi dagang, firma riset, kunjungan lapangan, dan konsultan pihak ketiga yang mengumpulkan data secara anonim. Bukan pengumpulan intelijen yang melanggar hukum.</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4  ·  TINDAKAN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15</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KALAU BIAYA ATAU NILAINYA KALAH, APA YANG DILAKUKAN</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Analisis value chain dan benchmarking bisa menunjukkan kita kalah biaya atau kalah nilai. Buku menunjuk tiga area perbaikan.</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15</a:t>
            </a:r>
            <a:endParaRPr lang="en-US" sz="900" dirty="0"/>
          </a:p>
        </p:txBody>
      </p:sp>
      <p:sp>
        <p:nvSpPr>
          <p:cNvPr id="13" name="Shape 10"/>
          <p:cNvSpPr/>
          <p:nvPr/>
        </p:nvSpPr>
        <p:spPr>
          <a:xfrm>
            <a:off x="548640" y="1755648"/>
            <a:ext cx="3545738" cy="3063240"/>
          </a:xfrm>
          <a:prstGeom prst="rect">
            <a:avLst/>
          </a:prstGeom>
          <a:solidFill>
            <a:srgbClr val="2B0F11"/>
          </a:solidFill>
          <a:ln w="12700">
            <a:solidFill>
              <a:srgbClr val="2B0F11"/>
            </a:solidFill>
            <a:prstDash val="solid"/>
          </a:ln>
        </p:spPr>
      </p:sp>
      <p:sp>
        <p:nvSpPr>
          <p:cNvPr id="14" name="Shape 11"/>
          <p:cNvSpPr/>
          <p:nvPr/>
        </p:nvSpPr>
        <p:spPr>
          <a:xfrm>
            <a:off x="548640" y="1755648"/>
            <a:ext cx="3545738" cy="54864"/>
          </a:xfrm>
          <a:prstGeom prst="rect">
            <a:avLst/>
          </a:prstGeom>
          <a:solidFill>
            <a:srgbClr val="DA291C"/>
          </a:solidFill>
          <a:ln w="12700">
            <a:solidFill>
              <a:srgbClr val="DA291C"/>
            </a:solidFill>
            <a:prstDash val="solid"/>
          </a:ln>
        </p:spPr>
      </p:sp>
      <p:sp>
        <p:nvSpPr>
          <p:cNvPr id="15" name="Text 12"/>
          <p:cNvSpPr/>
          <p:nvPr/>
        </p:nvSpPr>
        <p:spPr>
          <a:xfrm>
            <a:off x="749808" y="1920240"/>
            <a:ext cx="3179978" cy="32004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1. Aktivitas internal sendiri</a:t>
            </a:r>
            <a:endParaRPr lang="en-US" sz="1200" dirty="0"/>
          </a:p>
        </p:txBody>
      </p:sp>
      <p:sp>
        <p:nvSpPr>
          <p:cNvPr id="16" name="Text 13"/>
          <p:cNvSpPr/>
          <p:nvPr/>
        </p:nvSpPr>
        <p:spPr>
          <a:xfrm>
            <a:off x="749808" y="2322576"/>
            <a:ext cx="3179978" cy="242316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Terapkan best practice, terutama di aktivitas mahal</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Hapus aktivitas yang tidak perlu dengan merombak value chain</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Pindahkan aktivitas mahal ke wilayah berbiaya lebih rendah</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Serahkan ke pihak luar (outsourcing) jika mereka lebih murah</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Investasi teknologi yang menaikkan produktivitas</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Rancang ulang produk agar lebih murah dibuat</a:t>
            </a:r>
            <a:endParaRPr lang="en-US" sz="1000" dirty="0"/>
          </a:p>
        </p:txBody>
      </p:sp>
      <p:sp>
        <p:nvSpPr>
          <p:cNvPr id="17" name="Shape 14"/>
          <p:cNvSpPr/>
          <p:nvPr/>
        </p:nvSpPr>
        <p:spPr>
          <a:xfrm>
            <a:off x="4322978" y="1755648"/>
            <a:ext cx="3545738" cy="3063240"/>
          </a:xfrm>
          <a:prstGeom prst="rect">
            <a:avLst/>
          </a:prstGeom>
          <a:solidFill>
            <a:srgbClr val="2B0F11"/>
          </a:solidFill>
          <a:ln w="12700">
            <a:solidFill>
              <a:srgbClr val="2B0F11"/>
            </a:solidFill>
            <a:prstDash val="solid"/>
          </a:ln>
        </p:spPr>
      </p:sp>
      <p:sp>
        <p:nvSpPr>
          <p:cNvPr id="18" name="Shape 15"/>
          <p:cNvSpPr/>
          <p:nvPr/>
        </p:nvSpPr>
        <p:spPr>
          <a:xfrm>
            <a:off x="4322978" y="1755648"/>
            <a:ext cx="3545738" cy="54864"/>
          </a:xfrm>
          <a:prstGeom prst="rect">
            <a:avLst/>
          </a:prstGeom>
          <a:solidFill>
            <a:srgbClr val="FBE122"/>
          </a:solidFill>
          <a:ln w="12700">
            <a:solidFill>
              <a:srgbClr val="FBE122"/>
            </a:solidFill>
            <a:prstDash val="solid"/>
          </a:ln>
        </p:spPr>
      </p:sp>
      <p:sp>
        <p:nvSpPr>
          <p:cNvPr id="19" name="Text 16"/>
          <p:cNvSpPr/>
          <p:nvPr/>
        </p:nvSpPr>
        <p:spPr>
          <a:xfrm>
            <a:off x="4524146" y="1920240"/>
            <a:ext cx="3179978" cy="32004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2. Bagian pemasok</a:t>
            </a:r>
            <a:endParaRPr lang="en-US" sz="1200" dirty="0"/>
          </a:p>
        </p:txBody>
      </p:sp>
      <p:sp>
        <p:nvSpPr>
          <p:cNvPr id="20" name="Text 17"/>
          <p:cNvSpPr/>
          <p:nvPr/>
        </p:nvSpPr>
        <p:spPr>
          <a:xfrm>
            <a:off x="4524146" y="2322576"/>
            <a:ext cx="3179978" cy="242316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Tekan harga beli ke pemasok</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Ganti ke input substitusi yang lebih murah</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Kerja sama erat mencari penghematan bersama</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Integrasi ke belakang: produksi sendiri</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Untuk menaikkan nilai: pilih pemasok bermutu tinggi dan libatkan mereka sejak tahap desain</a:t>
            </a:r>
            <a:endParaRPr lang="en-US" sz="1000" dirty="0"/>
          </a:p>
        </p:txBody>
      </p:sp>
      <p:sp>
        <p:nvSpPr>
          <p:cNvPr id="21" name="Shape 18"/>
          <p:cNvSpPr/>
          <p:nvPr/>
        </p:nvSpPr>
        <p:spPr>
          <a:xfrm>
            <a:off x="8097317" y="1755648"/>
            <a:ext cx="3545738" cy="3063240"/>
          </a:xfrm>
          <a:prstGeom prst="rect">
            <a:avLst/>
          </a:prstGeom>
          <a:solidFill>
            <a:srgbClr val="2B0F11"/>
          </a:solidFill>
          <a:ln w="12700">
            <a:solidFill>
              <a:srgbClr val="2B0F11"/>
            </a:solidFill>
            <a:prstDash val="solid"/>
          </a:ln>
        </p:spPr>
      </p:sp>
      <p:sp>
        <p:nvSpPr>
          <p:cNvPr id="22" name="Shape 19"/>
          <p:cNvSpPr/>
          <p:nvPr/>
        </p:nvSpPr>
        <p:spPr>
          <a:xfrm>
            <a:off x="8097317" y="1755648"/>
            <a:ext cx="3545738" cy="54864"/>
          </a:xfrm>
          <a:prstGeom prst="rect">
            <a:avLst/>
          </a:prstGeom>
          <a:solidFill>
            <a:srgbClr val="DA291C"/>
          </a:solidFill>
          <a:ln w="12700">
            <a:solidFill>
              <a:srgbClr val="DA291C"/>
            </a:solidFill>
            <a:prstDash val="solid"/>
          </a:ln>
        </p:spPr>
      </p:sp>
      <p:sp>
        <p:nvSpPr>
          <p:cNvPr id="23" name="Text 20"/>
          <p:cNvSpPr/>
          <p:nvPr/>
        </p:nvSpPr>
        <p:spPr>
          <a:xfrm>
            <a:off x="8298485" y="1920240"/>
            <a:ext cx="3179978" cy="32004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3. Bagian mitra hilir</a:t>
            </a:r>
            <a:endParaRPr lang="en-US" sz="1200" dirty="0"/>
          </a:p>
        </p:txBody>
      </p:sp>
      <p:sp>
        <p:nvSpPr>
          <p:cNvPr id="24" name="Text 21"/>
          <p:cNvSpPr/>
          <p:nvPr/>
        </p:nvSpPr>
        <p:spPr>
          <a:xfrm>
            <a:off x="8298485" y="2322576"/>
            <a:ext cx="3179978" cy="242316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Tekan biaya dan markup distributor serta dealer</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Kerja sama mencari penghematan yang saling menguntungkan</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Ubah jalur distribusi, termasuk jualan langsung lewat internet</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Integrasi ke depan: buka gerai sendiri</a:t>
            </a:r>
            <a:endParaRPr lang="en-US" sz="1000" dirty="0"/>
          </a:p>
          <a:p>
            <a:pPr marL="152400" indent="-152400">
              <a:lnSpc>
                <a:spcPct val="106000"/>
              </a:lnSpc>
              <a:spcAft>
                <a:spcPts val="300"/>
              </a:spcAft>
              <a:buSzPct val="100000"/>
              <a:buChar char="•"/>
            </a:pPr>
            <a:r>
              <a:rPr lang="en-US" sz="950" dirty="0">
                <a:solidFill>
                  <a:srgbClr val="E9DDD8"/>
                </a:solidFill>
                <a:latin typeface="Poppins" pitchFamily="34" charset="0"/>
                <a:ea typeface="Poppins" pitchFamily="34" charset="-122"/>
                <a:cs typeface="Poppins" pitchFamily="34" charset="-120"/>
              </a:rPr>
              <a:t>Untuk menaikkan nilai: iklan bersama, perjanjian eksklusif, dan pelatihan mitra</a:t>
            </a:r>
            <a:endParaRPr lang="en-US" sz="1000" dirty="0"/>
          </a:p>
        </p:txBody>
      </p:sp>
      <p:sp>
        <p:nvSpPr>
          <p:cNvPr id="25" name="Shape 22"/>
          <p:cNvSpPr/>
          <p:nvPr/>
        </p:nvSpPr>
        <p:spPr>
          <a:xfrm>
            <a:off x="548640" y="5001768"/>
            <a:ext cx="11094415" cy="868680"/>
          </a:xfrm>
          <a:prstGeom prst="rect">
            <a:avLst/>
          </a:prstGeom>
          <a:solidFill>
            <a:srgbClr val="DA291C"/>
          </a:solidFill>
          <a:ln w="12700">
            <a:solidFill>
              <a:srgbClr val="DA291C"/>
            </a:solidFill>
            <a:prstDash val="solid"/>
          </a:ln>
        </p:spPr>
      </p:sp>
      <p:sp>
        <p:nvSpPr>
          <p:cNvPr id="26" name="Text 23"/>
          <p:cNvSpPr/>
          <p:nvPr/>
        </p:nvSpPr>
        <p:spPr>
          <a:xfrm>
            <a:off x="777240" y="512978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HANYA ADA DUA JALAN MENGUBAH KERJA VALUE CHAIN JADI KEUNGGULAN BERSAING</a:t>
            </a:r>
            <a:endParaRPr lang="en-US" sz="800" dirty="0"/>
          </a:p>
        </p:txBody>
      </p:sp>
      <p:sp>
        <p:nvSpPr>
          <p:cNvPr id="27" name="Text 24"/>
          <p:cNvSpPr/>
          <p:nvPr/>
        </p:nvSpPr>
        <p:spPr>
          <a:xfrm>
            <a:off x="777240" y="5367528"/>
            <a:ext cx="10637215"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(1) Lebih efisien sehingga biayanya lebih rendah dari pesaing: Ryanair, Nucor, TJX.   (2) Menjadi dasar diferensiasi sehingga pelanggan mau membayar lebih: Rolex (status), Braun (desain), L.L. Bean (layanan), FedEx (keandalan).</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5  ·  TABLE 4.4</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16</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COMPETITIVE STRENGTH ASSESSMENT</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Alat untuk mengubah penilaian yang serba kualitatif menjadi satu angka yang bisa langsung dibandingkan dengan pesaing.</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16</a:t>
            </a:r>
            <a:endParaRPr lang="en-US" sz="900" dirty="0"/>
          </a:p>
        </p:txBody>
      </p:sp>
      <p:sp>
        <p:nvSpPr>
          <p:cNvPr id="13" name="Shape 10"/>
          <p:cNvSpPr/>
          <p:nvPr/>
        </p:nvSpPr>
        <p:spPr>
          <a:xfrm>
            <a:off x="548640" y="1755648"/>
            <a:ext cx="2109155" cy="822960"/>
          </a:xfrm>
          <a:prstGeom prst="rect">
            <a:avLst/>
          </a:prstGeom>
          <a:solidFill>
            <a:srgbClr val="2B0F11"/>
          </a:solidFill>
          <a:ln w="12700">
            <a:solidFill>
              <a:srgbClr val="2B0F11"/>
            </a:solidFill>
            <a:prstDash val="solid"/>
          </a:ln>
        </p:spPr>
      </p:sp>
      <p:sp>
        <p:nvSpPr>
          <p:cNvPr id="14" name="Shape 11"/>
          <p:cNvSpPr/>
          <p:nvPr/>
        </p:nvSpPr>
        <p:spPr>
          <a:xfrm>
            <a:off x="685800" y="1938528"/>
            <a:ext cx="420624" cy="420624"/>
          </a:xfrm>
          <a:prstGeom prst="ellipse">
            <a:avLst/>
          </a:prstGeom>
          <a:solidFill>
            <a:srgbClr val="DA291C"/>
          </a:solidFill>
          <a:ln w="12700">
            <a:solidFill>
              <a:srgbClr val="DA291C"/>
            </a:solidFill>
            <a:prstDash val="solid"/>
          </a:ln>
        </p:spPr>
      </p:sp>
      <p:sp>
        <p:nvSpPr>
          <p:cNvPr id="15" name="Text 12"/>
          <p:cNvSpPr/>
          <p:nvPr/>
        </p:nvSpPr>
        <p:spPr>
          <a:xfrm>
            <a:off x="685800"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1</a:t>
            </a:r>
            <a:endParaRPr lang="en-US" sz="1104" dirty="0"/>
          </a:p>
        </p:txBody>
      </p:sp>
      <p:sp>
        <p:nvSpPr>
          <p:cNvPr id="16" name="Text 13"/>
          <p:cNvSpPr/>
          <p:nvPr/>
        </p:nvSpPr>
        <p:spPr>
          <a:xfrm>
            <a:off x="1207008"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Daftar KSF</a:t>
            </a:r>
            <a:endParaRPr lang="en-US" sz="1050" dirty="0"/>
          </a:p>
        </p:txBody>
      </p:sp>
      <p:sp>
        <p:nvSpPr>
          <p:cNvPr id="17" name="Text 14"/>
          <p:cNvSpPr/>
          <p:nvPr/>
        </p:nvSpPr>
        <p:spPr>
          <a:xfrm>
            <a:off x="1207008"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E9DDD8"/>
                </a:solidFill>
                <a:latin typeface="Poppins" pitchFamily="34" charset="0"/>
                <a:ea typeface="Poppins" pitchFamily="34" charset="-122"/>
                <a:cs typeface="Poppins" pitchFamily="34" charset="-120"/>
              </a:rPr>
              <a:t>Susun key success factor industri</a:t>
            </a:r>
            <a:endParaRPr lang="en-US" sz="800" dirty="0"/>
          </a:p>
        </p:txBody>
      </p:sp>
      <p:sp>
        <p:nvSpPr>
          <p:cNvPr id="18" name="Shape 15"/>
          <p:cNvSpPr/>
          <p:nvPr/>
        </p:nvSpPr>
        <p:spPr>
          <a:xfrm>
            <a:off x="2794955" y="1755648"/>
            <a:ext cx="2109155" cy="822960"/>
          </a:xfrm>
          <a:prstGeom prst="rect">
            <a:avLst/>
          </a:prstGeom>
          <a:solidFill>
            <a:srgbClr val="2B0F11"/>
          </a:solidFill>
          <a:ln w="12700">
            <a:solidFill>
              <a:srgbClr val="2B0F11"/>
            </a:solidFill>
            <a:prstDash val="solid"/>
          </a:ln>
        </p:spPr>
      </p:sp>
      <p:sp>
        <p:nvSpPr>
          <p:cNvPr id="19" name="Shape 16"/>
          <p:cNvSpPr/>
          <p:nvPr/>
        </p:nvSpPr>
        <p:spPr>
          <a:xfrm>
            <a:off x="2932115" y="1938528"/>
            <a:ext cx="420624" cy="420624"/>
          </a:xfrm>
          <a:prstGeom prst="ellipse">
            <a:avLst/>
          </a:prstGeom>
          <a:solidFill>
            <a:srgbClr val="DA291C"/>
          </a:solidFill>
          <a:ln w="12700">
            <a:solidFill>
              <a:srgbClr val="DA291C"/>
            </a:solidFill>
            <a:prstDash val="solid"/>
          </a:ln>
        </p:spPr>
      </p:sp>
      <p:sp>
        <p:nvSpPr>
          <p:cNvPr id="20" name="Text 17"/>
          <p:cNvSpPr/>
          <p:nvPr/>
        </p:nvSpPr>
        <p:spPr>
          <a:xfrm>
            <a:off x="2932115"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2</a:t>
            </a:r>
            <a:endParaRPr lang="en-US" sz="1104" dirty="0"/>
          </a:p>
        </p:txBody>
      </p:sp>
      <p:sp>
        <p:nvSpPr>
          <p:cNvPr id="21" name="Text 18"/>
          <p:cNvSpPr/>
          <p:nvPr/>
        </p:nvSpPr>
        <p:spPr>
          <a:xfrm>
            <a:off x="3453323"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Beri bobot</a:t>
            </a:r>
            <a:endParaRPr lang="en-US" sz="1050" dirty="0"/>
          </a:p>
        </p:txBody>
      </p:sp>
      <p:sp>
        <p:nvSpPr>
          <p:cNvPr id="22" name="Text 19"/>
          <p:cNvSpPr/>
          <p:nvPr/>
        </p:nvSpPr>
        <p:spPr>
          <a:xfrm>
            <a:off x="3453323"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E9DDD8"/>
                </a:solidFill>
                <a:latin typeface="Poppins" pitchFamily="34" charset="0"/>
                <a:ea typeface="Poppins" pitchFamily="34" charset="-122"/>
                <a:cs typeface="Poppins" pitchFamily="34" charset="-120"/>
              </a:rPr>
              <a:t>Sesuai tingkat kepentingan; total harus 1,00</a:t>
            </a:r>
            <a:endParaRPr lang="en-US" sz="800" dirty="0"/>
          </a:p>
        </p:txBody>
      </p:sp>
      <p:sp>
        <p:nvSpPr>
          <p:cNvPr id="23" name="Shape 20"/>
          <p:cNvSpPr/>
          <p:nvPr/>
        </p:nvSpPr>
        <p:spPr>
          <a:xfrm>
            <a:off x="5041270" y="1755648"/>
            <a:ext cx="2109155" cy="822960"/>
          </a:xfrm>
          <a:prstGeom prst="rect">
            <a:avLst/>
          </a:prstGeom>
          <a:solidFill>
            <a:srgbClr val="2B0F11"/>
          </a:solidFill>
          <a:ln w="12700">
            <a:solidFill>
              <a:srgbClr val="2B0F11"/>
            </a:solidFill>
            <a:prstDash val="solid"/>
          </a:ln>
        </p:spPr>
      </p:sp>
      <p:sp>
        <p:nvSpPr>
          <p:cNvPr id="24" name="Shape 21"/>
          <p:cNvSpPr/>
          <p:nvPr/>
        </p:nvSpPr>
        <p:spPr>
          <a:xfrm>
            <a:off x="5178430" y="1938528"/>
            <a:ext cx="420624" cy="420624"/>
          </a:xfrm>
          <a:prstGeom prst="ellipse">
            <a:avLst/>
          </a:prstGeom>
          <a:solidFill>
            <a:srgbClr val="DA291C"/>
          </a:solidFill>
          <a:ln w="12700">
            <a:solidFill>
              <a:srgbClr val="DA291C"/>
            </a:solidFill>
            <a:prstDash val="solid"/>
          </a:ln>
        </p:spPr>
      </p:sp>
      <p:sp>
        <p:nvSpPr>
          <p:cNvPr id="25" name="Text 22"/>
          <p:cNvSpPr/>
          <p:nvPr/>
        </p:nvSpPr>
        <p:spPr>
          <a:xfrm>
            <a:off x="5178430"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3</a:t>
            </a:r>
            <a:endParaRPr lang="en-US" sz="1104" dirty="0"/>
          </a:p>
        </p:txBody>
      </p:sp>
      <p:sp>
        <p:nvSpPr>
          <p:cNvPr id="26" name="Text 23"/>
          <p:cNvSpPr/>
          <p:nvPr/>
        </p:nvSpPr>
        <p:spPr>
          <a:xfrm>
            <a:off x="5699638"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Beri rating</a:t>
            </a:r>
            <a:endParaRPr lang="en-US" sz="1050" dirty="0"/>
          </a:p>
        </p:txBody>
      </p:sp>
      <p:sp>
        <p:nvSpPr>
          <p:cNvPr id="27" name="Text 24"/>
          <p:cNvSpPr/>
          <p:nvPr/>
        </p:nvSpPr>
        <p:spPr>
          <a:xfrm>
            <a:off x="5699638"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E9DDD8"/>
                </a:solidFill>
                <a:latin typeface="Poppins" pitchFamily="34" charset="0"/>
                <a:ea typeface="Poppins" pitchFamily="34" charset="-122"/>
                <a:cs typeface="Poppins" pitchFamily="34" charset="-120"/>
              </a:rPr>
              <a:t>Skala 1–10. 1 sangat lemah, 10 sangat kuat</a:t>
            </a:r>
            <a:endParaRPr lang="en-US" sz="800" dirty="0"/>
          </a:p>
        </p:txBody>
      </p:sp>
      <p:sp>
        <p:nvSpPr>
          <p:cNvPr id="28" name="Shape 25"/>
          <p:cNvSpPr/>
          <p:nvPr/>
        </p:nvSpPr>
        <p:spPr>
          <a:xfrm>
            <a:off x="7287585" y="1755648"/>
            <a:ext cx="2109155" cy="822960"/>
          </a:xfrm>
          <a:prstGeom prst="rect">
            <a:avLst/>
          </a:prstGeom>
          <a:solidFill>
            <a:srgbClr val="2B0F11"/>
          </a:solidFill>
          <a:ln w="12700">
            <a:solidFill>
              <a:srgbClr val="2B0F11"/>
            </a:solidFill>
            <a:prstDash val="solid"/>
          </a:ln>
        </p:spPr>
      </p:sp>
      <p:sp>
        <p:nvSpPr>
          <p:cNvPr id="29" name="Shape 26"/>
          <p:cNvSpPr/>
          <p:nvPr/>
        </p:nvSpPr>
        <p:spPr>
          <a:xfrm>
            <a:off x="7424745" y="1938528"/>
            <a:ext cx="420624" cy="420624"/>
          </a:xfrm>
          <a:prstGeom prst="ellipse">
            <a:avLst/>
          </a:prstGeom>
          <a:solidFill>
            <a:srgbClr val="DA291C"/>
          </a:solidFill>
          <a:ln w="12700">
            <a:solidFill>
              <a:srgbClr val="DA291C"/>
            </a:solidFill>
            <a:prstDash val="solid"/>
          </a:ln>
        </p:spPr>
      </p:sp>
      <p:sp>
        <p:nvSpPr>
          <p:cNvPr id="30" name="Text 27"/>
          <p:cNvSpPr/>
          <p:nvPr/>
        </p:nvSpPr>
        <p:spPr>
          <a:xfrm>
            <a:off x="7424745"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4</a:t>
            </a:r>
            <a:endParaRPr lang="en-US" sz="1104" dirty="0"/>
          </a:p>
        </p:txBody>
      </p:sp>
      <p:sp>
        <p:nvSpPr>
          <p:cNvPr id="31" name="Text 28"/>
          <p:cNvSpPr/>
          <p:nvPr/>
        </p:nvSpPr>
        <p:spPr>
          <a:xfrm>
            <a:off x="7945953"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Kalikan</a:t>
            </a:r>
            <a:endParaRPr lang="en-US" sz="1050" dirty="0"/>
          </a:p>
        </p:txBody>
      </p:sp>
      <p:sp>
        <p:nvSpPr>
          <p:cNvPr id="32" name="Text 29"/>
          <p:cNvSpPr/>
          <p:nvPr/>
        </p:nvSpPr>
        <p:spPr>
          <a:xfrm>
            <a:off x="7945953"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E9DDD8"/>
                </a:solidFill>
                <a:latin typeface="Poppins" pitchFamily="34" charset="0"/>
                <a:ea typeface="Poppins" pitchFamily="34" charset="-122"/>
                <a:cs typeface="Poppins" pitchFamily="34" charset="-120"/>
              </a:rPr>
              <a:t>Rating × bobot = skor tertimbang</a:t>
            </a:r>
            <a:endParaRPr lang="en-US" sz="800" dirty="0"/>
          </a:p>
        </p:txBody>
      </p:sp>
      <p:sp>
        <p:nvSpPr>
          <p:cNvPr id="33" name="Shape 30"/>
          <p:cNvSpPr/>
          <p:nvPr/>
        </p:nvSpPr>
        <p:spPr>
          <a:xfrm>
            <a:off x="9533900" y="1755648"/>
            <a:ext cx="2109155" cy="822960"/>
          </a:xfrm>
          <a:prstGeom prst="rect">
            <a:avLst/>
          </a:prstGeom>
          <a:solidFill>
            <a:srgbClr val="2B0F11"/>
          </a:solidFill>
          <a:ln w="12700">
            <a:solidFill>
              <a:srgbClr val="2B0F11"/>
            </a:solidFill>
            <a:prstDash val="solid"/>
          </a:ln>
        </p:spPr>
      </p:sp>
      <p:sp>
        <p:nvSpPr>
          <p:cNvPr id="34" name="Shape 31"/>
          <p:cNvSpPr/>
          <p:nvPr/>
        </p:nvSpPr>
        <p:spPr>
          <a:xfrm>
            <a:off x="9671060" y="1938528"/>
            <a:ext cx="420624" cy="420624"/>
          </a:xfrm>
          <a:prstGeom prst="ellipse">
            <a:avLst/>
          </a:prstGeom>
          <a:solidFill>
            <a:srgbClr val="DA291C"/>
          </a:solidFill>
          <a:ln w="12700">
            <a:solidFill>
              <a:srgbClr val="DA291C"/>
            </a:solidFill>
            <a:prstDash val="solid"/>
          </a:ln>
        </p:spPr>
      </p:sp>
      <p:sp>
        <p:nvSpPr>
          <p:cNvPr id="35" name="Text 32"/>
          <p:cNvSpPr/>
          <p:nvPr/>
        </p:nvSpPr>
        <p:spPr>
          <a:xfrm>
            <a:off x="9671060"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5</a:t>
            </a:r>
            <a:endParaRPr lang="en-US" sz="1104" dirty="0"/>
          </a:p>
        </p:txBody>
      </p:sp>
      <p:sp>
        <p:nvSpPr>
          <p:cNvPr id="36" name="Text 33"/>
          <p:cNvSpPr/>
          <p:nvPr/>
        </p:nvSpPr>
        <p:spPr>
          <a:xfrm>
            <a:off x="10192268"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Jumlahkan</a:t>
            </a:r>
            <a:endParaRPr lang="en-US" sz="1050" dirty="0"/>
          </a:p>
        </p:txBody>
      </p:sp>
      <p:sp>
        <p:nvSpPr>
          <p:cNvPr id="37" name="Text 34"/>
          <p:cNvSpPr/>
          <p:nvPr/>
        </p:nvSpPr>
        <p:spPr>
          <a:xfrm>
            <a:off x="10192268"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E9DDD8"/>
                </a:solidFill>
                <a:latin typeface="Poppins" pitchFamily="34" charset="0"/>
                <a:ea typeface="Poppins" pitchFamily="34" charset="-122"/>
                <a:cs typeface="Poppins" pitchFamily="34" charset="-120"/>
              </a:rPr>
              <a:t>Totalnya jadi ukuran kekuatan keseluruhan</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223760" cy="914400"/>
        </p:xfrm>
        <a:graphic>
          <a:graphicData uri="http://schemas.openxmlformats.org/drawingml/2006/table">
            <a:tbl>
              <a:tblPr/>
              <a:tblGrid>
                <a:gridCol w="2651760"/>
                <a:gridCol w="822960"/>
                <a:gridCol w="1252728"/>
                <a:gridCol w="1252728"/>
                <a:gridCol w="1243584"/>
              </a:tblGrid>
              <a:tr h="301752">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Key Success Factor</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Bobot</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ABC Co.</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Rival 1</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Rival 2</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r>
              <a:tr h="30175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Mutu / performa produk</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8 / 0,80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5 / 0,50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1 / 0,10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30175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Reputasi dan citra</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8 / 0,80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7 / 0,70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1 / 0,10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r>
              <a:tr h="30175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Kemampuan produksi</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2 / 0,20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10 / 1,00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5 / 0,50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30175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Sumber daya keuangan</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5 / 0,50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10 / 1,00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3 / 0,30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r>
              <a:tr h="30175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Posisi biaya relatif</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0,30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5 / 1,50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10 / 3,00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1 / 0,30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30175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Layanan pelanggan</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0,15</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5 / 0,75</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7 / 1,05</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1 / 0,15</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r>
              <a:tr h="30175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Faktor lain (tiga baris)</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0,15</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1,40</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0,45</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900" dirty="0">
                          <a:solidFill>
                            <a:srgbClr val="E9DDD8"/>
                          </a:solidFill>
                          <a:latin typeface="Poppins" pitchFamily="34" charset="0"/>
                          <a:ea typeface="Poppins" pitchFamily="34" charset="-122"/>
                          <a:cs typeface="Poppins" pitchFamily="34" charset="-120"/>
                        </a:rPr>
                        <a:t>0,65</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301752">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TOTAL SKOR TERTIMBANG</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1,00</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5,95</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7,70</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2,10</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r>
            </a:tbl>
          </a:graphicData>
        </a:graphic>
      </p:graphicFrame>
      <p:sp>
        <p:nvSpPr>
          <p:cNvPr id="39" name="Text 35"/>
          <p:cNvSpPr/>
          <p:nvPr/>
        </p:nvSpPr>
        <p:spPr>
          <a:xfrm>
            <a:off x="548640" y="5550408"/>
            <a:ext cx="7223760" cy="228600"/>
          </a:xfrm>
          <a:prstGeom prst="rect">
            <a:avLst/>
          </a:prstGeom>
          <a:noFill/>
          <a:ln/>
        </p:spPr>
        <p:txBody>
          <a:bodyPr wrap="square" lIns="0" tIns="0" rIns="0" bIns="0" rtlCol="0" anchor="t"/>
          <a:lstStyle/>
          <a:p>
            <a:pPr indent="0" marL="0">
              <a:buNone/>
            </a:pPr>
            <a:r>
              <a:rPr lang="en-US" sz="800" dirty="0">
                <a:solidFill>
                  <a:srgbClr val="A8928E"/>
                </a:solidFill>
                <a:latin typeface="Poppins" pitchFamily="34" charset="0"/>
                <a:ea typeface="Poppins" pitchFamily="34" charset="-122"/>
                <a:cs typeface="Poppins" pitchFamily="34" charset="-120"/>
              </a:rPr>
              <a:t>Contoh dari Table 4.4 buku. Isi sel: rating / skor tertimbang.</a:t>
            </a:r>
            <a:endParaRPr lang="en-US" sz="800" dirty="0"/>
          </a:p>
        </p:txBody>
      </p:sp>
      <p:sp>
        <p:nvSpPr>
          <p:cNvPr id="40" name="Text 36"/>
          <p:cNvSpPr/>
          <p:nvPr/>
        </p:nvSpPr>
        <p:spPr>
          <a:xfrm>
            <a:off x="8046720" y="2743200"/>
            <a:ext cx="359633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APA YANG BISA DIBACA DARI ANGKANYA</a:t>
            </a:r>
            <a:endParaRPr lang="en-US" sz="850" dirty="0"/>
          </a:p>
        </p:txBody>
      </p:sp>
      <p:sp>
        <p:nvSpPr>
          <p:cNvPr id="41" name="Shape 37"/>
          <p:cNvSpPr/>
          <p:nvPr/>
        </p:nvSpPr>
        <p:spPr>
          <a:xfrm>
            <a:off x="8046720" y="3035808"/>
            <a:ext cx="3596335" cy="804672"/>
          </a:xfrm>
          <a:prstGeom prst="rect">
            <a:avLst/>
          </a:prstGeom>
          <a:solidFill>
            <a:srgbClr val="A81D14"/>
          </a:solidFill>
          <a:ln w="12700">
            <a:solidFill>
              <a:srgbClr val="A81D14"/>
            </a:solidFill>
            <a:prstDash val="solid"/>
          </a:ln>
        </p:spPr>
      </p:sp>
      <p:sp>
        <p:nvSpPr>
          <p:cNvPr id="42" name="Shape 38"/>
          <p:cNvSpPr/>
          <p:nvPr/>
        </p:nvSpPr>
        <p:spPr>
          <a:xfrm>
            <a:off x="8046720" y="3035808"/>
            <a:ext cx="54864" cy="804672"/>
          </a:xfrm>
          <a:prstGeom prst="rect">
            <a:avLst/>
          </a:prstGeom>
          <a:solidFill>
            <a:srgbClr val="DA291C"/>
          </a:solidFill>
          <a:ln w="12700">
            <a:solidFill>
              <a:srgbClr val="DA291C"/>
            </a:solidFill>
            <a:prstDash val="solid"/>
          </a:ln>
        </p:spPr>
      </p:sp>
      <p:sp>
        <p:nvSpPr>
          <p:cNvPr id="43" name="Text 39"/>
          <p:cNvSpPr/>
          <p:nvPr/>
        </p:nvSpPr>
        <p:spPr>
          <a:xfrm>
            <a:off x="8266176" y="3182112"/>
            <a:ext cx="3230575" cy="274320"/>
          </a:xfrm>
          <a:prstGeom prst="rect">
            <a:avLst/>
          </a:prstGeom>
          <a:noFill/>
          <a:ln/>
        </p:spPr>
        <p:txBody>
          <a:bodyPr wrap="square" lIns="0" tIns="0" rIns="0" bIns="0" rtlCol="0" anchor="t"/>
          <a:lstStyle/>
          <a:p>
            <a:pPr indent="0" marL="0">
              <a:lnSpc>
                <a:spcPct val="95000"/>
              </a:lnSpc>
              <a:buNone/>
            </a:pPr>
            <a:r>
              <a:rPr lang="en-US" sz="1050" dirty="0">
                <a:solidFill>
                  <a:srgbClr val="FFFFFF"/>
                </a:solidFill>
                <a:latin typeface="Poppins SemiBold" pitchFamily="34" charset="0"/>
                <a:ea typeface="Poppins SemiBold" pitchFamily="34" charset="-122"/>
                <a:cs typeface="Poppins SemiBold" pitchFamily="34" charset="-120"/>
              </a:rPr>
              <a:t>Selisih total skor</a:t>
            </a:r>
            <a:endParaRPr lang="en-US" sz="1050" dirty="0"/>
          </a:p>
        </p:txBody>
      </p:sp>
      <p:sp>
        <p:nvSpPr>
          <p:cNvPr id="44" name="Text 40"/>
          <p:cNvSpPr/>
          <p:nvPr/>
        </p:nvSpPr>
        <p:spPr>
          <a:xfrm>
            <a:off x="8266176" y="3511296"/>
            <a:ext cx="3230575" cy="219456"/>
          </a:xfrm>
          <a:prstGeom prst="rect">
            <a:avLst/>
          </a:prstGeom>
          <a:noFill/>
          <a:ln/>
        </p:spPr>
        <p:txBody>
          <a:bodyPr wrap="square" lIns="0" tIns="0" rIns="0" bIns="0" rtlCol="0" anchor="t"/>
          <a:lstStyle/>
          <a:p>
            <a:pPr indent="0" marL="0">
              <a:lnSpc>
                <a:spcPct val="108000"/>
              </a:lnSpc>
              <a:buNone/>
            </a:pPr>
            <a:r>
              <a:rPr lang="en-US" sz="850" dirty="0">
                <a:solidFill>
                  <a:srgbClr val="E9DDD8"/>
                </a:solidFill>
                <a:latin typeface="Poppins" pitchFamily="34" charset="0"/>
                <a:ea typeface="Poppins" pitchFamily="34" charset="-122"/>
                <a:cs typeface="Poppins" pitchFamily="34" charset="-120"/>
              </a:rPr>
              <a:t>Besarnya net competitive advantage. Rival 1 (7,70) unggul jauh atas Rival 2 (2,10).</a:t>
            </a:r>
            <a:endParaRPr lang="en-US" sz="850" dirty="0"/>
          </a:p>
        </p:txBody>
      </p:sp>
      <p:sp>
        <p:nvSpPr>
          <p:cNvPr id="45" name="Shape 41"/>
          <p:cNvSpPr/>
          <p:nvPr/>
        </p:nvSpPr>
        <p:spPr>
          <a:xfrm>
            <a:off x="8046720" y="3931920"/>
            <a:ext cx="3596335" cy="804672"/>
          </a:xfrm>
          <a:prstGeom prst="rect">
            <a:avLst/>
          </a:prstGeom>
          <a:solidFill>
            <a:srgbClr val="2B0F11"/>
          </a:solidFill>
          <a:ln w="12700">
            <a:solidFill>
              <a:srgbClr val="2B0F11"/>
            </a:solidFill>
            <a:prstDash val="solid"/>
          </a:ln>
        </p:spPr>
      </p:sp>
      <p:sp>
        <p:nvSpPr>
          <p:cNvPr id="46" name="Shape 42"/>
          <p:cNvSpPr/>
          <p:nvPr/>
        </p:nvSpPr>
        <p:spPr>
          <a:xfrm>
            <a:off x="8046720" y="3931920"/>
            <a:ext cx="54864" cy="804672"/>
          </a:xfrm>
          <a:prstGeom prst="rect">
            <a:avLst/>
          </a:prstGeom>
          <a:solidFill>
            <a:srgbClr val="2B0F11"/>
          </a:solidFill>
          <a:ln w="12700">
            <a:solidFill>
              <a:srgbClr val="2B0F11"/>
            </a:solidFill>
            <a:prstDash val="solid"/>
          </a:ln>
        </p:spPr>
      </p:sp>
      <p:sp>
        <p:nvSpPr>
          <p:cNvPr id="47" name="Text 43"/>
          <p:cNvSpPr/>
          <p:nvPr/>
        </p:nvSpPr>
        <p:spPr>
          <a:xfrm>
            <a:off x="8266176" y="4078224"/>
            <a:ext cx="3230575" cy="274320"/>
          </a:xfrm>
          <a:prstGeom prst="rect">
            <a:avLst/>
          </a:prstGeom>
          <a:noFill/>
          <a:ln/>
        </p:spPr>
        <p:txBody>
          <a:bodyPr wrap="square" lIns="0" tIns="0" rIns="0" bIns="0" rtlCol="0" anchor="t"/>
          <a:lstStyle/>
          <a:p>
            <a:pPr indent="0" marL="0">
              <a:lnSpc>
                <a:spcPct val="95000"/>
              </a:lnSpc>
              <a:buNone/>
            </a:pPr>
            <a:r>
              <a:rPr lang="en-US" sz="1050" dirty="0">
                <a:solidFill>
                  <a:srgbClr val="FFFFFF"/>
                </a:solidFill>
                <a:latin typeface="Poppins SemiBold" pitchFamily="34" charset="0"/>
                <a:ea typeface="Poppins SemiBold" pitchFamily="34" charset="-122"/>
                <a:cs typeface="Poppins SemiBold" pitchFamily="34" charset="-120"/>
              </a:rPr>
              <a:t>Serang di mana</a:t>
            </a:r>
            <a:endParaRPr lang="en-US" sz="1050" dirty="0"/>
          </a:p>
        </p:txBody>
      </p:sp>
      <p:sp>
        <p:nvSpPr>
          <p:cNvPr id="48" name="Text 44"/>
          <p:cNvSpPr/>
          <p:nvPr/>
        </p:nvSpPr>
        <p:spPr>
          <a:xfrm>
            <a:off x="8266176" y="4407408"/>
            <a:ext cx="3230575" cy="219456"/>
          </a:xfrm>
          <a:prstGeom prst="rect">
            <a:avLst/>
          </a:prstGeom>
          <a:noFill/>
          <a:ln/>
        </p:spPr>
        <p:txBody>
          <a:bodyPr wrap="square" lIns="0" tIns="0" rIns="0" bIns="0" rtlCol="0" anchor="t"/>
          <a:lstStyle/>
          <a:p>
            <a:pPr indent="0" marL="0">
              <a:lnSpc>
                <a:spcPct val="108000"/>
              </a:lnSpc>
              <a:buNone/>
            </a:pPr>
            <a:r>
              <a:rPr lang="en-US" sz="850" dirty="0">
                <a:solidFill>
                  <a:srgbClr val="E9DDD8"/>
                </a:solidFill>
                <a:latin typeface="Poppins" pitchFamily="34" charset="0"/>
                <a:ea typeface="Poppins" pitchFamily="34" charset="-122"/>
                <a:cs typeface="Poppins" pitchFamily="34" charset="-120"/>
              </a:rPr>
              <a:t>Serang pesaing yang skornya lebih rendah, di faktor tempat kita kuat dan dia lemah.</a:t>
            </a:r>
            <a:endParaRPr lang="en-US" sz="850" dirty="0"/>
          </a:p>
        </p:txBody>
      </p:sp>
      <p:sp>
        <p:nvSpPr>
          <p:cNvPr id="49" name="Shape 45"/>
          <p:cNvSpPr/>
          <p:nvPr/>
        </p:nvSpPr>
        <p:spPr>
          <a:xfrm>
            <a:off x="8046720" y="4828032"/>
            <a:ext cx="3596335" cy="804672"/>
          </a:xfrm>
          <a:prstGeom prst="rect">
            <a:avLst/>
          </a:prstGeom>
          <a:solidFill>
            <a:srgbClr val="2B0F11"/>
          </a:solidFill>
          <a:ln w="12700">
            <a:solidFill>
              <a:srgbClr val="2B0F11"/>
            </a:solidFill>
            <a:prstDash val="solid"/>
          </a:ln>
        </p:spPr>
      </p:sp>
      <p:sp>
        <p:nvSpPr>
          <p:cNvPr id="50" name="Shape 46"/>
          <p:cNvSpPr/>
          <p:nvPr/>
        </p:nvSpPr>
        <p:spPr>
          <a:xfrm>
            <a:off x="8046720" y="4828032"/>
            <a:ext cx="54864" cy="804672"/>
          </a:xfrm>
          <a:prstGeom prst="rect">
            <a:avLst/>
          </a:prstGeom>
          <a:solidFill>
            <a:srgbClr val="2B0F11"/>
          </a:solidFill>
          <a:ln w="12700">
            <a:solidFill>
              <a:srgbClr val="2B0F11"/>
            </a:solidFill>
            <a:prstDash val="solid"/>
          </a:ln>
        </p:spPr>
      </p:sp>
      <p:sp>
        <p:nvSpPr>
          <p:cNvPr id="51" name="Text 47"/>
          <p:cNvSpPr/>
          <p:nvPr/>
        </p:nvSpPr>
        <p:spPr>
          <a:xfrm>
            <a:off x="8266176" y="4974336"/>
            <a:ext cx="3230575" cy="274320"/>
          </a:xfrm>
          <a:prstGeom prst="rect">
            <a:avLst/>
          </a:prstGeom>
          <a:noFill/>
          <a:ln/>
        </p:spPr>
        <p:txBody>
          <a:bodyPr wrap="square" lIns="0" tIns="0" rIns="0" bIns="0" rtlCol="0" anchor="t"/>
          <a:lstStyle/>
          <a:p>
            <a:pPr indent="0" marL="0">
              <a:lnSpc>
                <a:spcPct val="95000"/>
              </a:lnSpc>
              <a:buNone/>
            </a:pPr>
            <a:r>
              <a:rPr lang="en-US" sz="1050" dirty="0">
                <a:solidFill>
                  <a:srgbClr val="FFFFFF"/>
                </a:solidFill>
                <a:latin typeface="Poppins SemiBold" pitchFamily="34" charset="0"/>
                <a:ea typeface="Poppins SemiBold" pitchFamily="34" charset="-122"/>
                <a:cs typeface="Poppins SemiBold" pitchFamily="34" charset="-120"/>
              </a:rPr>
              <a:t>Bertahan di mana</a:t>
            </a:r>
            <a:endParaRPr lang="en-US" sz="1050" dirty="0"/>
          </a:p>
        </p:txBody>
      </p:sp>
      <p:sp>
        <p:nvSpPr>
          <p:cNvPr id="52" name="Text 48"/>
          <p:cNvSpPr/>
          <p:nvPr/>
        </p:nvSpPr>
        <p:spPr>
          <a:xfrm>
            <a:off x="8266176" y="5303520"/>
            <a:ext cx="3230575" cy="219456"/>
          </a:xfrm>
          <a:prstGeom prst="rect">
            <a:avLst/>
          </a:prstGeom>
          <a:noFill/>
          <a:ln/>
        </p:spPr>
        <p:txBody>
          <a:bodyPr wrap="square" lIns="0" tIns="0" rIns="0" bIns="0" rtlCol="0" anchor="t"/>
          <a:lstStyle/>
          <a:p>
            <a:pPr indent="0" marL="0">
              <a:lnSpc>
                <a:spcPct val="108000"/>
              </a:lnSpc>
              <a:buNone/>
            </a:pPr>
            <a:r>
              <a:rPr lang="en-US" sz="850" dirty="0">
                <a:solidFill>
                  <a:srgbClr val="E9DDD8"/>
                </a:solidFill>
                <a:latin typeface="Poppins" pitchFamily="34" charset="0"/>
                <a:ea typeface="Poppins" pitchFamily="34" charset="-122"/>
                <a:cs typeface="Poppins" pitchFamily="34" charset="-120"/>
              </a:rPr>
              <a:t>Kalau kita lemah di faktor tempat pesaing kuat, siapkan langkah bertahan lebih dulu.</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6</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17</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ISU APA YANG HARUS DITANGANI LEBIH DULU?</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Langkah terakhir dan paling penting. Semua temuan dari Q1 sampai Q5, ditambah analisis industri dari Chapter 3, dikerucutkan jadi satu daftar prioritas.</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17</a:t>
            </a:r>
            <a:endParaRPr lang="en-US" sz="900" dirty="0"/>
          </a:p>
        </p:txBody>
      </p:sp>
      <p:pic>
        <p:nvPicPr>
          <p:cNvPr id="13" name="Image 0" descr="c_tall_b.jpg">    </p:cNvPr>
          <p:cNvPicPr>
            <a:picLocks noChangeAspect="1"/>
          </p:cNvPicPr>
          <p:nvPr/>
        </p:nvPicPr>
        <p:blipFill>
          <a:blip r:embed="rId1"/>
          <a:stretch>
            <a:fillRect/>
          </a:stretch>
        </p:blipFill>
        <p:spPr>
          <a:xfrm>
            <a:off x="9958858" y="1755648"/>
            <a:ext cx="1684197" cy="3017520"/>
          </a:xfrm>
          <a:prstGeom prst="rect">
            <a:avLst/>
          </a:prstGeom>
        </p:spPr>
      </p:pic>
      <p:sp>
        <p:nvSpPr>
          <p:cNvPr id="14" name="Shape 10"/>
          <p:cNvSpPr/>
          <p:nvPr/>
        </p:nvSpPr>
        <p:spPr>
          <a:xfrm>
            <a:off x="548640" y="1755648"/>
            <a:ext cx="4572000" cy="3017520"/>
          </a:xfrm>
          <a:prstGeom prst="rect">
            <a:avLst/>
          </a:prstGeom>
          <a:solidFill>
            <a:srgbClr val="DA291C"/>
          </a:solidFill>
          <a:ln w="12700">
            <a:solidFill>
              <a:srgbClr val="DA291C"/>
            </a:solidFill>
            <a:prstDash val="solid"/>
          </a:ln>
        </p:spPr>
      </p:sp>
      <p:sp>
        <p:nvSpPr>
          <p:cNvPr id="15" name="Text 11"/>
          <p:cNvSpPr/>
          <p:nvPr/>
        </p:nvSpPr>
        <p:spPr>
          <a:xfrm>
            <a:off x="777240" y="1938528"/>
            <a:ext cx="3657600" cy="274320"/>
          </a:xfrm>
          <a:prstGeom prst="rect">
            <a:avLst/>
          </a:prstGeom>
          <a:noFill/>
          <a:ln/>
        </p:spPr>
        <p:txBody>
          <a:bodyPr wrap="square" lIns="0" tIns="0" rIns="0" bIns="0" rtlCol="0" anchor="t"/>
          <a:lstStyle/>
          <a:p>
            <a:pPr indent="0" marL="0">
              <a:buNone/>
            </a:pPr>
            <a:r>
              <a:rPr lang="en-US" sz="900" spc="200" kern="0" dirty="0">
                <a:solidFill>
                  <a:srgbClr val="FBE122"/>
                </a:solidFill>
                <a:latin typeface="Poppins SemiBold" pitchFamily="34" charset="0"/>
                <a:ea typeface="Poppins SemiBold" pitchFamily="34" charset="-122"/>
                <a:cs typeface="Poppins SemiBold" pitchFamily="34" charset="-120"/>
              </a:rPr>
              <a:t>PRIORITY LIST</a:t>
            </a:r>
            <a:endParaRPr lang="en-US" sz="900" dirty="0"/>
          </a:p>
        </p:txBody>
      </p:sp>
      <p:sp>
        <p:nvSpPr>
          <p:cNvPr id="16" name="Text 12"/>
          <p:cNvSpPr/>
          <p:nvPr/>
        </p:nvSpPr>
        <p:spPr>
          <a:xfrm>
            <a:off x="777240" y="2258568"/>
            <a:ext cx="4114800" cy="1280160"/>
          </a:xfrm>
          <a:prstGeom prst="rect">
            <a:avLst/>
          </a:prstGeom>
          <a:noFill/>
          <a:ln/>
        </p:spPr>
        <p:txBody>
          <a:bodyPr wrap="square" lIns="0" tIns="0" rIns="0" bIns="0" rtlCol="0" anchor="t"/>
          <a:lstStyle/>
          <a:p>
            <a:pPr indent="0" marL="0">
              <a:lnSpc>
                <a:spcPct val="102000"/>
              </a:lnSpc>
              <a:buNone/>
            </a:pPr>
            <a:r>
              <a:rPr lang="en-US" sz="1200" dirty="0">
                <a:solidFill>
                  <a:srgbClr val="FFFFFF"/>
                </a:solidFill>
                <a:latin typeface="Poppins SemiBold" pitchFamily="34" charset="0"/>
                <a:ea typeface="Poppins SemiBold" pitchFamily="34" charset="-122"/>
                <a:cs typeface="Poppins SemiBold" pitchFamily="34" charset="-120"/>
              </a:rPr>
              <a:t>Daftar isu dan masalah yang harus dituntaskan manajemen agar perusahaan lebih berhasil, secara keuangan maupun secara bersaing, di tahun-tahun mendatang.</a:t>
            </a:r>
            <a:endParaRPr lang="en-US" sz="1200" dirty="0"/>
          </a:p>
        </p:txBody>
      </p:sp>
      <p:sp>
        <p:nvSpPr>
          <p:cNvPr id="17" name="Text 13"/>
          <p:cNvSpPr/>
          <p:nvPr/>
        </p:nvSpPr>
        <p:spPr>
          <a:xfrm>
            <a:off x="777240" y="3630168"/>
            <a:ext cx="4114800" cy="100584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pitchFamily="34" charset="0"/>
                <a:ea typeface="Poppins" pitchFamily="34" charset="-122"/>
                <a:cs typeface="Poppins" pitchFamily="34" charset="-120"/>
              </a:rPr>
              <a:t>Isinya selalu berbentuk "bagaimana caranya…", "apa yang harus dilakukan soal…", dan "apakah perlu…".</a:t>
            </a:r>
            <a:endParaRPr lang="en-US" sz="1050" dirty="0"/>
          </a:p>
        </p:txBody>
      </p:sp>
      <p:sp>
        <p:nvSpPr>
          <p:cNvPr id="18" name="Text 14"/>
          <p:cNvSpPr/>
          <p:nvPr/>
        </p:nvSpPr>
        <p:spPr>
          <a:xfrm>
            <a:off x="5349240" y="1737360"/>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DUA HAL YANG SERING KELIRU</a:t>
            </a:r>
            <a:endParaRPr lang="en-US" sz="850" dirty="0"/>
          </a:p>
        </p:txBody>
      </p:sp>
      <p:sp>
        <p:nvSpPr>
          <p:cNvPr id="19" name="Shape 15"/>
          <p:cNvSpPr/>
          <p:nvPr/>
        </p:nvSpPr>
        <p:spPr>
          <a:xfrm>
            <a:off x="5349240" y="2029968"/>
            <a:ext cx="4381018" cy="1280160"/>
          </a:xfrm>
          <a:prstGeom prst="rect">
            <a:avLst/>
          </a:prstGeom>
          <a:solidFill>
            <a:srgbClr val="2B0F11"/>
          </a:solidFill>
          <a:ln w="12700">
            <a:solidFill>
              <a:srgbClr val="2B0F11"/>
            </a:solidFill>
            <a:prstDash val="solid"/>
          </a:ln>
        </p:spPr>
      </p:sp>
      <p:sp>
        <p:nvSpPr>
          <p:cNvPr id="20" name="Shape 16"/>
          <p:cNvSpPr/>
          <p:nvPr/>
        </p:nvSpPr>
        <p:spPr>
          <a:xfrm>
            <a:off x="5349240" y="2029968"/>
            <a:ext cx="54864" cy="1280160"/>
          </a:xfrm>
          <a:prstGeom prst="rect">
            <a:avLst/>
          </a:prstGeom>
          <a:solidFill>
            <a:srgbClr val="DA291C"/>
          </a:solidFill>
          <a:ln w="12700">
            <a:solidFill>
              <a:srgbClr val="DA291C"/>
            </a:solidFill>
            <a:prstDash val="solid"/>
          </a:ln>
        </p:spPr>
      </p:sp>
      <p:sp>
        <p:nvSpPr>
          <p:cNvPr id="21" name="Text 17"/>
          <p:cNvSpPr/>
          <p:nvPr/>
        </p:nvSpPr>
        <p:spPr>
          <a:xfrm>
            <a:off x="5568696" y="2176272"/>
            <a:ext cx="401525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Ini bukan daftar solusi</a:t>
            </a:r>
            <a:endParaRPr lang="en-US" sz="1200" dirty="0"/>
          </a:p>
        </p:txBody>
      </p:sp>
      <p:sp>
        <p:nvSpPr>
          <p:cNvPr id="22" name="Text 18"/>
          <p:cNvSpPr/>
          <p:nvPr/>
        </p:nvSpPr>
        <p:spPr>
          <a:xfrm>
            <a:off x="5568696" y="2505456"/>
            <a:ext cx="4015258" cy="694944"/>
          </a:xfrm>
          <a:prstGeom prst="rect">
            <a:avLst/>
          </a:prstGeom>
          <a:noFill/>
          <a:ln/>
        </p:spPr>
        <p:txBody>
          <a:bodyPr wrap="square" lIns="0" tIns="0" rIns="0" bIns="0" rtlCol="0" anchor="t"/>
          <a:lstStyle/>
          <a:p>
            <a:pPr indent="0" marL="0">
              <a:lnSpc>
                <a:spcPct val="108000"/>
              </a:lnSpc>
              <a:buNone/>
            </a:pPr>
            <a:r>
              <a:rPr lang="en-US" sz="1000" dirty="0">
                <a:solidFill>
                  <a:srgbClr val="E9DDD8"/>
                </a:solidFill>
                <a:latin typeface="Poppins" pitchFamily="34" charset="0"/>
                <a:ea typeface="Poppins" pitchFamily="34" charset="-122"/>
                <a:cs typeface="Poppins" pitchFamily="34" charset="-120"/>
              </a:rPr>
              <a:t>Tujuannya mengidentifikasi ISU yang harus ditangani, bukan memutuskan tindakan apa yang diambil. Keputusan tindakan datang belakangan, saat menyusun strategi.</a:t>
            </a:r>
            <a:endParaRPr lang="en-US" sz="1000" dirty="0"/>
          </a:p>
        </p:txBody>
      </p:sp>
      <p:sp>
        <p:nvSpPr>
          <p:cNvPr id="23" name="Shape 19"/>
          <p:cNvSpPr/>
          <p:nvPr/>
        </p:nvSpPr>
        <p:spPr>
          <a:xfrm>
            <a:off x="5349240" y="3493008"/>
            <a:ext cx="4381018" cy="1280160"/>
          </a:xfrm>
          <a:prstGeom prst="rect">
            <a:avLst/>
          </a:prstGeom>
          <a:solidFill>
            <a:srgbClr val="2B0F11"/>
          </a:solidFill>
          <a:ln w="12700">
            <a:solidFill>
              <a:srgbClr val="2B0F11"/>
            </a:solidFill>
            <a:prstDash val="solid"/>
          </a:ln>
        </p:spPr>
      </p:sp>
      <p:sp>
        <p:nvSpPr>
          <p:cNvPr id="24" name="Shape 20"/>
          <p:cNvSpPr/>
          <p:nvPr/>
        </p:nvSpPr>
        <p:spPr>
          <a:xfrm>
            <a:off x="5349240" y="3493008"/>
            <a:ext cx="54864" cy="1280160"/>
          </a:xfrm>
          <a:prstGeom prst="rect">
            <a:avLst/>
          </a:prstGeom>
          <a:solidFill>
            <a:srgbClr val="FBE122"/>
          </a:solidFill>
          <a:ln w="12700">
            <a:solidFill>
              <a:srgbClr val="FBE122"/>
            </a:solidFill>
            <a:prstDash val="solid"/>
          </a:ln>
        </p:spPr>
      </p:sp>
      <p:sp>
        <p:nvSpPr>
          <p:cNvPr id="25" name="Text 21"/>
          <p:cNvSpPr/>
          <p:nvPr/>
        </p:nvSpPr>
        <p:spPr>
          <a:xfrm>
            <a:off x="5568696" y="3639312"/>
            <a:ext cx="401525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Panjang daftar itu diagnosis</a:t>
            </a:r>
            <a:endParaRPr lang="en-US" sz="1200" dirty="0"/>
          </a:p>
        </p:txBody>
      </p:sp>
      <p:sp>
        <p:nvSpPr>
          <p:cNvPr id="26" name="Text 22"/>
          <p:cNvSpPr/>
          <p:nvPr/>
        </p:nvSpPr>
        <p:spPr>
          <a:xfrm>
            <a:off x="5568696" y="3968496"/>
            <a:ext cx="4015258" cy="694944"/>
          </a:xfrm>
          <a:prstGeom prst="rect">
            <a:avLst/>
          </a:prstGeom>
          <a:noFill/>
          <a:ln/>
        </p:spPr>
        <p:txBody>
          <a:bodyPr wrap="square" lIns="0" tIns="0" rIns="0" bIns="0" rtlCol="0" anchor="t"/>
          <a:lstStyle/>
          <a:p>
            <a:pPr indent="0" marL="0">
              <a:lnSpc>
                <a:spcPct val="108000"/>
              </a:lnSpc>
              <a:buNone/>
            </a:pPr>
            <a:r>
              <a:rPr lang="en-US" sz="1000" dirty="0">
                <a:solidFill>
                  <a:srgbClr val="E9DDD8"/>
                </a:solidFill>
                <a:latin typeface="Poppins" pitchFamily="34" charset="0"/>
                <a:ea typeface="Poppins" pitchFamily="34" charset="-122"/>
                <a:cs typeface="Poppins" pitchFamily="34" charset="-120"/>
              </a:rPr>
              <a:t>Kalau isinya ringan, strategi sekarang sudah cukup dan tinggal disetel halus. Kalau isinya berat, menyusun strategi baru harus jadi agenda nomor satu manajemen.</a:t>
            </a:r>
            <a:endParaRPr lang="en-US" sz="1000" dirty="0"/>
          </a:p>
        </p:txBody>
      </p:sp>
      <p:sp>
        <p:nvSpPr>
          <p:cNvPr id="27" name="Shape 23"/>
          <p:cNvSpPr/>
          <p:nvPr/>
        </p:nvSpPr>
        <p:spPr>
          <a:xfrm>
            <a:off x="548640" y="5001768"/>
            <a:ext cx="11094415" cy="822960"/>
          </a:xfrm>
          <a:prstGeom prst="rect">
            <a:avLst/>
          </a:prstGeom>
          <a:solidFill>
            <a:srgbClr val="381418"/>
          </a:solidFill>
          <a:ln w="12700">
            <a:solidFill>
              <a:srgbClr val="381418"/>
            </a:solidFill>
            <a:prstDash val="solid"/>
          </a:ln>
        </p:spPr>
      </p:sp>
      <p:sp>
        <p:nvSpPr>
          <p:cNvPr id="28" name="Text 24"/>
          <p:cNvSpPr/>
          <p:nvPr/>
        </p:nvSpPr>
        <p:spPr>
          <a:xfrm>
            <a:off x="777240" y="512978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UJI AKHIR CHAPTER 4</a:t>
            </a:r>
            <a:endParaRPr lang="en-US" sz="800" dirty="0"/>
          </a:p>
        </p:txBody>
      </p:sp>
      <p:sp>
        <p:nvSpPr>
          <p:cNvPr id="29" name="Text 25"/>
          <p:cNvSpPr/>
          <p:nvPr/>
        </p:nvSpPr>
        <p:spPr>
          <a:xfrm>
            <a:off x="777240" y="5367528"/>
            <a:ext cx="10637215" cy="365760"/>
          </a:xfrm>
          <a:prstGeom prst="rect">
            <a:avLst/>
          </a:prstGeom>
          <a:noFill/>
          <a:ln/>
        </p:spPr>
        <p:txBody>
          <a:bodyPr wrap="square" lIns="0" tIns="0" rIns="0" bIns="0" rtlCol="0" anchor="t"/>
          <a:lstStyle/>
          <a:p>
            <a:pPr indent="0" marL="0">
              <a:lnSpc>
                <a:spcPct val="108000"/>
              </a:lnSpc>
              <a:buNone/>
            </a:pPr>
            <a:r>
              <a:rPr lang="en-US" sz="1050" dirty="0">
                <a:solidFill>
                  <a:srgbClr val="FFFFFF"/>
                </a:solidFill>
                <a:latin typeface="Poppins Medium" pitchFamily="34" charset="0"/>
                <a:ea typeface="Poppins Medium" pitchFamily="34" charset="-122"/>
                <a:cs typeface="Poppins Medium" pitchFamily="34" charset="-120"/>
              </a:rPr>
              <a:t>Strategi yang baik wajib memuat cara menangani SEMUA isu dan hambatan pada daftar prioritas itu. Di sinilah analisis berhenti dan penyusunan strategi dimulai.</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138928"/>
            <a:ext cx="12191695" cy="1719072"/>
          </a:xfrm>
          <a:prstGeom prst="rect">
            <a:avLst/>
          </a:prstGeom>
          <a:solidFill>
            <a:srgbClr val="DA291C"/>
          </a:solidFill>
          <a:ln w="12700">
            <a:solidFill>
              <a:srgbClr val="DA291C"/>
            </a:solidFill>
            <a:prstDash val="solid"/>
          </a:ln>
        </p:spPr>
      </p:sp>
      <p:sp>
        <p:nvSpPr>
          <p:cNvPr id="3" name="Shape 1"/>
          <p:cNvSpPr/>
          <p:nvPr/>
        </p:nvSpPr>
        <p:spPr>
          <a:xfrm>
            <a:off x="640080" y="5468112"/>
            <a:ext cx="365760" cy="64008"/>
          </a:xfrm>
          <a:prstGeom prst="rect">
            <a:avLst/>
          </a:prstGeom>
          <a:solidFill>
            <a:srgbClr val="FBE122"/>
          </a:solidFill>
          <a:ln w="12700">
            <a:solidFill>
              <a:srgbClr val="FBE122"/>
            </a:solidFill>
            <a:prstDash val="solid"/>
          </a:ln>
        </p:spPr>
      </p:sp>
      <p:sp>
        <p:nvSpPr>
          <p:cNvPr id="4" name="Text 2"/>
          <p:cNvSpPr/>
          <p:nvPr/>
        </p:nvSpPr>
        <p:spPr>
          <a:xfrm>
            <a:off x="1143000" y="5340096"/>
            <a:ext cx="5486400" cy="320040"/>
          </a:xfrm>
          <a:prstGeom prst="rect">
            <a:avLst/>
          </a:prstGeom>
          <a:noFill/>
          <a:ln/>
        </p:spPr>
        <p:txBody>
          <a:bodyPr wrap="square" lIns="0" tIns="0" rIns="0" bIns="0" rtlCol="0" anchor="t"/>
          <a:lstStyle/>
          <a:p>
            <a:pPr indent="0" marL="0">
              <a:buNone/>
            </a:pPr>
            <a:r>
              <a:rPr lang="en-US" sz="1000" spc="300" kern="0" dirty="0">
                <a:solidFill>
                  <a:srgbClr val="FBE122"/>
                </a:solidFill>
                <a:latin typeface="Poppins SemiBold" pitchFamily="34" charset="0"/>
                <a:ea typeface="Poppins SemiBold" pitchFamily="34" charset="-122"/>
                <a:cs typeface="Poppins SemiBold" pitchFamily="34" charset="-120"/>
              </a:rPr>
              <a:t>BAGIAN B  ·  STUDI KASUS</a:t>
            </a:r>
            <a:endParaRPr lang="en-US" sz="1000" dirty="0"/>
          </a:p>
        </p:txBody>
      </p:sp>
      <p:sp>
        <p:nvSpPr>
          <p:cNvPr id="5" name="Text 3"/>
          <p:cNvSpPr/>
          <p:nvPr/>
        </p:nvSpPr>
        <p:spPr>
          <a:xfrm>
            <a:off x="640080" y="5687568"/>
            <a:ext cx="7772400" cy="685800"/>
          </a:xfrm>
          <a:prstGeom prst="rect">
            <a:avLst/>
          </a:prstGeom>
          <a:noFill/>
          <a:ln/>
        </p:spPr>
        <p:txBody>
          <a:bodyPr wrap="square" lIns="0" tIns="0" rIns="0" bIns="0" rtlCol="0" anchor="t"/>
          <a:lstStyle/>
          <a:p>
            <a:pPr indent="0" marL="0">
              <a:buNone/>
            </a:pPr>
            <a:r>
              <a:rPr lang="en-US" sz="3600" dirty="0">
                <a:solidFill>
                  <a:srgbClr val="FFFFFF"/>
                </a:solidFill>
                <a:latin typeface="Poppins ExtraBold" pitchFamily="34" charset="0"/>
                <a:ea typeface="Poppins ExtraBold" pitchFamily="34" charset="-122"/>
                <a:cs typeface="Poppins ExtraBold" pitchFamily="34" charset="-120"/>
              </a:rPr>
              <a:t>MANCHESTER UNITED</a:t>
            </a:r>
            <a:endParaRPr lang="en-US" sz="3600" dirty="0"/>
          </a:p>
        </p:txBody>
      </p:sp>
      <p:sp>
        <p:nvSpPr>
          <p:cNvPr id="6" name="Text 4"/>
          <p:cNvSpPr/>
          <p:nvPr/>
        </p:nvSpPr>
        <p:spPr>
          <a:xfrm>
            <a:off x="640080" y="6327648"/>
            <a:ext cx="7772400" cy="365760"/>
          </a:xfrm>
          <a:prstGeom prst="rect">
            <a:avLst/>
          </a:prstGeom>
          <a:noFill/>
          <a:ln/>
        </p:spPr>
        <p:txBody>
          <a:bodyPr wrap="square" lIns="0" tIns="0" rIns="0" bIns="0" rtlCol="0" anchor="t"/>
          <a:lstStyle/>
          <a:p>
            <a:pPr indent="0" marL="0">
              <a:buNone/>
            </a:pPr>
            <a:r>
              <a:rPr lang="en-US" sz="1500" dirty="0">
                <a:solidFill>
                  <a:srgbClr val="FFFFFF"/>
                </a:solidFill>
                <a:latin typeface="Poppins Medium" pitchFamily="34" charset="0"/>
                <a:ea typeface="Poppins Medium" pitchFamily="34" charset="-122"/>
                <a:cs typeface="Poppins Medium" pitchFamily="34" charset="-120"/>
              </a:rPr>
              <a:t>Preparing for Life without Ferguson</a:t>
            </a:r>
            <a:endParaRPr lang="en-US" sz="1500" dirty="0"/>
          </a:p>
        </p:txBody>
      </p:sp>
      <p:sp>
        <p:nvSpPr>
          <p:cNvPr id="7" name="Text 5"/>
          <p:cNvSpPr/>
          <p:nvPr/>
        </p:nvSpPr>
        <p:spPr>
          <a:xfrm>
            <a:off x="8503920" y="5458968"/>
            <a:ext cx="3108960" cy="1280160"/>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Ditulis Robert M. Grant, dibantu Simon I. Peck, Christopher Carr dan Timothy Smith. © 2010. Kasus ini bukan dari buku Thompson; kami pakai kerangka Chapter 4 untuk membedahnya.</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KASUS  ·  SITUASI</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19</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JULI 2009: KEPUTUSAN YANG DIHADAPI DAVID GILL</a:t>
            </a:r>
            <a:endParaRPr lang="en-US" sz="2600" dirty="0"/>
          </a:p>
        </p:txBody>
      </p:sp>
      <p:sp>
        <p:nvSpPr>
          <p:cNvPr id="8" name="Shape 6"/>
          <p:cNvSpPr/>
          <p:nvPr/>
        </p:nvSpPr>
        <p:spPr>
          <a:xfrm>
            <a:off x="548640" y="6382512"/>
            <a:ext cx="11094415" cy="9144"/>
          </a:xfrm>
          <a:prstGeom prst="rect">
            <a:avLst/>
          </a:prstGeom>
          <a:solidFill>
            <a:srgbClr val="4C2226"/>
          </a:solidFill>
          <a:ln w="12700">
            <a:solidFill>
              <a:srgbClr val="4C2226"/>
            </a:solidFill>
            <a:prstDash val="solid"/>
          </a:ln>
        </p:spPr>
      </p:sp>
      <p:sp>
        <p:nvSpPr>
          <p:cNvPr id="9" name="Text 7"/>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 hlm. 573 dan 588.</a:t>
            </a:r>
            <a:endParaRPr lang="en-US" sz="750" dirty="0"/>
          </a:p>
        </p:txBody>
      </p:sp>
      <p:sp>
        <p:nvSpPr>
          <p:cNvPr id="10" name="Text 8"/>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19</a:t>
            </a:r>
            <a:endParaRPr lang="en-US" sz="900" dirty="0"/>
          </a:p>
        </p:txBody>
      </p:sp>
      <p:sp>
        <p:nvSpPr>
          <p:cNvPr id="12" name="Shape 9"/>
          <p:cNvSpPr/>
          <p:nvPr/>
        </p:nvSpPr>
        <p:spPr>
          <a:xfrm>
            <a:off x="548640" y="1234440"/>
            <a:ext cx="2514600" cy="2011680"/>
          </a:xfrm>
          <a:prstGeom prst="rect">
            <a:avLst/>
          </a:prstGeom>
          <a:solidFill>
            <a:srgbClr val="2B0F11"/>
          </a:solidFill>
          <a:ln w="12700">
            <a:solidFill>
              <a:srgbClr val="2B0F11"/>
            </a:solidFill>
            <a:prstDash val="solid"/>
          </a:ln>
        </p:spPr>
      </p:sp>
      <p:sp>
        <p:nvSpPr>
          <p:cNvPr id="13" name="Shape 10"/>
          <p:cNvSpPr/>
          <p:nvPr/>
        </p:nvSpPr>
        <p:spPr>
          <a:xfrm>
            <a:off x="548640" y="1234440"/>
            <a:ext cx="54864" cy="2011680"/>
          </a:xfrm>
          <a:prstGeom prst="rect">
            <a:avLst/>
          </a:prstGeom>
          <a:solidFill>
            <a:srgbClr val="DA291C"/>
          </a:solidFill>
          <a:ln w="12700">
            <a:solidFill>
              <a:srgbClr val="DA291C"/>
            </a:solidFill>
            <a:prstDash val="solid"/>
          </a:ln>
        </p:spPr>
      </p:sp>
      <p:sp>
        <p:nvSpPr>
          <p:cNvPr id="14" name="Text 11"/>
          <p:cNvSpPr/>
          <p:nvPr/>
        </p:nvSpPr>
        <p:spPr>
          <a:xfrm>
            <a:off x="768096" y="1380744"/>
            <a:ext cx="214884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Waktu</a:t>
            </a:r>
            <a:endParaRPr lang="en-US" sz="1200" dirty="0"/>
          </a:p>
        </p:txBody>
      </p:sp>
      <p:sp>
        <p:nvSpPr>
          <p:cNvPr id="15" name="Text 12"/>
          <p:cNvSpPr/>
          <p:nvPr/>
        </p:nvSpPr>
        <p:spPr>
          <a:xfrm>
            <a:off x="768096" y="1709928"/>
            <a:ext cx="2148840" cy="142646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Juli 2009, tur pramusim ke Malaysia, Indonesia, Korea, dan China. Skuad pulang 28 Juli 2009.</a:t>
            </a:r>
            <a:endParaRPr lang="en-US" sz="950" dirty="0"/>
          </a:p>
        </p:txBody>
      </p:sp>
      <p:sp>
        <p:nvSpPr>
          <p:cNvPr id="16" name="Shape 13"/>
          <p:cNvSpPr/>
          <p:nvPr/>
        </p:nvSpPr>
        <p:spPr>
          <a:xfrm>
            <a:off x="3246120" y="1234440"/>
            <a:ext cx="2514600" cy="2011680"/>
          </a:xfrm>
          <a:prstGeom prst="rect">
            <a:avLst/>
          </a:prstGeom>
          <a:solidFill>
            <a:srgbClr val="2B0F11"/>
          </a:solidFill>
          <a:ln w="12700">
            <a:solidFill>
              <a:srgbClr val="2B0F11"/>
            </a:solidFill>
            <a:prstDash val="solid"/>
          </a:ln>
        </p:spPr>
      </p:sp>
      <p:sp>
        <p:nvSpPr>
          <p:cNvPr id="17" name="Shape 14"/>
          <p:cNvSpPr/>
          <p:nvPr/>
        </p:nvSpPr>
        <p:spPr>
          <a:xfrm>
            <a:off x="3246120" y="1234440"/>
            <a:ext cx="54864" cy="2011680"/>
          </a:xfrm>
          <a:prstGeom prst="rect">
            <a:avLst/>
          </a:prstGeom>
          <a:solidFill>
            <a:srgbClr val="DA291C"/>
          </a:solidFill>
          <a:ln w="12700">
            <a:solidFill>
              <a:srgbClr val="DA291C"/>
            </a:solidFill>
            <a:prstDash val="solid"/>
          </a:ln>
        </p:spPr>
      </p:sp>
      <p:sp>
        <p:nvSpPr>
          <p:cNvPr id="18" name="Text 15"/>
          <p:cNvSpPr/>
          <p:nvPr/>
        </p:nvSpPr>
        <p:spPr>
          <a:xfrm>
            <a:off x="3465576" y="1380744"/>
            <a:ext cx="214884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Pengambil keputusan</a:t>
            </a:r>
            <a:endParaRPr lang="en-US" sz="1200" dirty="0"/>
          </a:p>
        </p:txBody>
      </p:sp>
      <p:sp>
        <p:nvSpPr>
          <p:cNvPr id="19" name="Text 16"/>
          <p:cNvSpPr/>
          <p:nvPr/>
        </p:nvSpPr>
        <p:spPr>
          <a:xfrm>
            <a:off x="3465576" y="1709928"/>
            <a:ext cx="2148840" cy="142646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David Gill, Chief Executive Manchester United Football Club Limited.</a:t>
            </a:r>
            <a:endParaRPr lang="en-US" sz="950" dirty="0"/>
          </a:p>
        </p:txBody>
      </p:sp>
      <p:sp>
        <p:nvSpPr>
          <p:cNvPr id="20" name="Shape 17"/>
          <p:cNvSpPr/>
          <p:nvPr/>
        </p:nvSpPr>
        <p:spPr>
          <a:xfrm>
            <a:off x="5943600" y="1234440"/>
            <a:ext cx="2514600" cy="2011680"/>
          </a:xfrm>
          <a:prstGeom prst="rect">
            <a:avLst/>
          </a:prstGeom>
          <a:solidFill>
            <a:srgbClr val="2B0F11"/>
          </a:solidFill>
          <a:ln w="12700">
            <a:solidFill>
              <a:srgbClr val="2B0F11"/>
            </a:solidFill>
            <a:prstDash val="solid"/>
          </a:ln>
        </p:spPr>
      </p:sp>
      <p:sp>
        <p:nvSpPr>
          <p:cNvPr id="21" name="Shape 18"/>
          <p:cNvSpPr/>
          <p:nvPr/>
        </p:nvSpPr>
        <p:spPr>
          <a:xfrm>
            <a:off x="5943600" y="1234440"/>
            <a:ext cx="54864" cy="2011680"/>
          </a:xfrm>
          <a:prstGeom prst="rect">
            <a:avLst/>
          </a:prstGeom>
          <a:solidFill>
            <a:srgbClr val="FBE122"/>
          </a:solidFill>
          <a:ln w="12700">
            <a:solidFill>
              <a:srgbClr val="FBE122"/>
            </a:solidFill>
            <a:prstDash val="solid"/>
          </a:ln>
        </p:spPr>
      </p:sp>
      <p:sp>
        <p:nvSpPr>
          <p:cNvPr id="22" name="Text 19"/>
          <p:cNvSpPr/>
          <p:nvPr/>
        </p:nvSpPr>
        <p:spPr>
          <a:xfrm>
            <a:off x="6163056" y="1380744"/>
            <a:ext cx="214884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Keputusan</a:t>
            </a:r>
            <a:endParaRPr lang="en-US" sz="1200" dirty="0"/>
          </a:p>
        </p:txBody>
      </p:sp>
      <p:sp>
        <p:nvSpPr>
          <p:cNvPr id="23" name="Text 20"/>
          <p:cNvSpPr/>
          <p:nvPr/>
        </p:nvSpPr>
        <p:spPr>
          <a:xfrm>
            <a:off x="6163056" y="1709928"/>
            <a:ext cx="2148840" cy="142646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Menyiapkan pengganti Sir Alex Ferguson. Kasus: "at the end of 2009 Ferguson would be 68 years old". Gill memperkirakan ia pensiun akhir musim 2009–10.</a:t>
            </a:r>
            <a:endParaRPr lang="en-US" sz="950" dirty="0"/>
          </a:p>
        </p:txBody>
      </p:sp>
      <p:pic>
        <p:nvPicPr>
          <p:cNvPr id="24" name="Image 0" descr="c_land.jpg">    </p:cNvPr>
          <p:cNvPicPr>
            <a:picLocks noChangeAspect="1"/>
          </p:cNvPicPr>
          <p:nvPr/>
        </p:nvPicPr>
        <p:blipFill>
          <a:blip r:embed="rId1"/>
          <a:stretch>
            <a:fillRect/>
          </a:stretch>
        </p:blipFill>
        <p:spPr>
          <a:xfrm>
            <a:off x="8732520" y="1234440"/>
            <a:ext cx="2880360" cy="1920240"/>
          </a:xfrm>
          <a:prstGeom prst="rect">
            <a:avLst/>
          </a:prstGeom>
        </p:spPr>
      </p:pic>
      <p:sp>
        <p:nvSpPr>
          <p:cNvPr id="25" name="Text 21"/>
          <p:cNvSpPr/>
          <p:nvPr/>
        </p:nvSpPr>
        <p:spPr>
          <a:xfrm>
            <a:off x="8732520" y="3182112"/>
            <a:ext cx="2880360" cy="22860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Old Trafford, Theatre of Dreams</a:t>
            </a:r>
            <a:endParaRPr lang="en-US" sz="750" dirty="0"/>
          </a:p>
        </p:txBody>
      </p:sp>
      <p:sp>
        <p:nvSpPr>
          <p:cNvPr id="26" name="Shape 22"/>
          <p:cNvSpPr/>
          <p:nvPr/>
        </p:nvSpPr>
        <p:spPr>
          <a:xfrm>
            <a:off x="548640" y="3474720"/>
            <a:ext cx="11064240" cy="2331720"/>
          </a:xfrm>
          <a:prstGeom prst="rect">
            <a:avLst/>
          </a:prstGeom>
          <a:solidFill>
            <a:srgbClr val="381418"/>
          </a:solidFill>
          <a:ln w="12700">
            <a:solidFill>
              <a:srgbClr val="381418"/>
            </a:solidFill>
            <a:prstDash val="solid"/>
          </a:ln>
        </p:spPr>
      </p:sp>
      <p:sp>
        <p:nvSpPr>
          <p:cNvPr id="27" name="Shape 23"/>
          <p:cNvSpPr/>
          <p:nvPr/>
        </p:nvSpPr>
        <p:spPr>
          <a:xfrm>
            <a:off x="548640" y="3474720"/>
            <a:ext cx="54864" cy="2331720"/>
          </a:xfrm>
          <a:prstGeom prst="rect">
            <a:avLst/>
          </a:prstGeom>
          <a:solidFill>
            <a:srgbClr val="DA291C"/>
          </a:solidFill>
          <a:ln w="12700">
            <a:solidFill>
              <a:srgbClr val="DA291C"/>
            </a:solidFill>
            <a:prstDash val="solid"/>
          </a:ln>
        </p:spPr>
      </p:sp>
      <p:sp>
        <p:nvSpPr>
          <p:cNvPr id="28" name="Text 24"/>
          <p:cNvSpPr/>
          <p:nvPr/>
        </p:nvSpPr>
        <p:spPr>
          <a:xfrm>
            <a:off x="804672" y="3611880"/>
            <a:ext cx="45720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DILEMA INTI  ·  KASUS HLM. 588</a:t>
            </a:r>
            <a:endParaRPr lang="en-US" sz="850" dirty="0"/>
          </a:p>
        </p:txBody>
      </p:sp>
      <p:sp>
        <p:nvSpPr>
          <p:cNvPr id="29" name="Text 25"/>
          <p:cNvSpPr/>
          <p:nvPr/>
        </p:nvSpPr>
        <p:spPr>
          <a:xfrm>
            <a:off x="804672" y="3913632"/>
            <a:ext cx="5212080" cy="1097280"/>
          </a:xfrm>
          <a:prstGeom prst="rect">
            <a:avLst/>
          </a:prstGeom>
          <a:noFill/>
          <a:ln/>
        </p:spPr>
        <p:txBody>
          <a:bodyPr wrap="square" lIns="0" tIns="0" rIns="0" bIns="0" rtlCol="0" anchor="t"/>
          <a:lstStyle/>
          <a:p>
            <a:pPr indent="0" marL="0">
              <a:lnSpc>
                <a:spcPct val="106000"/>
              </a:lnSpc>
              <a:buNone/>
            </a:pPr>
            <a:r>
              <a:rPr lang="en-US" sz="1000" dirty="0">
                <a:solidFill>
                  <a:srgbClr val="FFFFFF"/>
                </a:solidFill>
                <a:latin typeface="Poppins SemiBold" pitchFamily="34" charset="0"/>
                <a:ea typeface="Poppins SemiBold" pitchFamily="34" charset="-122"/>
                <a:cs typeface="Poppins SemiBold" pitchFamily="34" charset="-120"/>
              </a:rPr>
              <a:t>Pilih orang dalam </a:t>
            </a:r>
            <a:pPr indent="0" marL="0">
              <a:lnSpc>
                <a:spcPct val="106000"/>
              </a:lnSpc>
              <a:buNone/>
            </a:pPr>
            <a:r>
              <a:rPr lang="en-US" sz="1000" dirty="0">
                <a:solidFill>
                  <a:srgbClr val="E9DDD8"/>
                </a:solidFill>
                <a:latin typeface="Poppins" pitchFamily="34" charset="0"/>
                <a:ea typeface="Poppins" pitchFamily="34" charset="-122"/>
                <a:cs typeface="Poppins" pitchFamily="34" charset="-120"/>
              </a:rPr>
              <a:t>(Queiroz, Phelan, Solskjær, McClair): sistem latihan, pemanduan bakat, dan pengembangan tim tetap jalan. Tetapi apakah mereka cukup berwibawa di depan pemain bintang?</a:t>
            </a:r>
            <a:endParaRPr lang="en-US" sz="1000" dirty="0"/>
          </a:p>
        </p:txBody>
      </p:sp>
      <p:sp>
        <p:nvSpPr>
          <p:cNvPr id="30" name="Text 26"/>
          <p:cNvSpPr/>
          <p:nvPr/>
        </p:nvSpPr>
        <p:spPr>
          <a:xfrm>
            <a:off x="6263640" y="3913632"/>
            <a:ext cx="5120640" cy="1097280"/>
          </a:xfrm>
          <a:prstGeom prst="rect">
            <a:avLst/>
          </a:prstGeom>
          <a:noFill/>
          <a:ln/>
        </p:spPr>
        <p:txBody>
          <a:bodyPr wrap="square" lIns="0" tIns="0" rIns="0" bIns="0" rtlCol="0" anchor="t"/>
          <a:lstStyle/>
          <a:p>
            <a:pPr indent="0" marL="0">
              <a:lnSpc>
                <a:spcPct val="106000"/>
              </a:lnSpc>
              <a:buNone/>
            </a:pPr>
            <a:r>
              <a:rPr lang="en-US" sz="1000" dirty="0">
                <a:solidFill>
                  <a:srgbClr val="FFFFFF"/>
                </a:solidFill>
                <a:latin typeface="Poppins SemiBold" pitchFamily="34" charset="0"/>
                <a:ea typeface="Poppins SemiBold" pitchFamily="34" charset="-122"/>
                <a:cs typeface="Poppins SemiBold" pitchFamily="34" charset="-120"/>
              </a:rPr>
              <a:t>Pilih orang luar berwibawa </a:t>
            </a:r>
            <a:pPr indent="0" marL="0">
              <a:lnSpc>
                <a:spcPct val="106000"/>
              </a:lnSpc>
              <a:buNone/>
            </a:pPr>
            <a:r>
              <a:rPr lang="en-US" sz="1000" dirty="0">
                <a:solidFill>
                  <a:srgbClr val="E9DDD8"/>
                </a:solidFill>
                <a:latin typeface="Poppins" pitchFamily="34" charset="0"/>
                <a:ea typeface="Poppins" pitchFamily="34" charset="-122"/>
                <a:cs typeface="Poppins" pitchFamily="34" charset="-120"/>
              </a:rPr>
              <a:t>seperti Mourinho: kasus menyebut ini "a revolutionary change in coaching strategy in which much of Ferguson's infrastructure would be taken down and rebuilt".</a:t>
            </a:r>
            <a:endParaRPr lang="en-US" sz="1000" dirty="0"/>
          </a:p>
        </p:txBody>
      </p:sp>
      <p:sp>
        <p:nvSpPr>
          <p:cNvPr id="31" name="Shape 27"/>
          <p:cNvSpPr/>
          <p:nvPr/>
        </p:nvSpPr>
        <p:spPr>
          <a:xfrm>
            <a:off x="804672" y="5102352"/>
            <a:ext cx="10515600" cy="548640"/>
          </a:xfrm>
          <a:prstGeom prst="rect">
            <a:avLst/>
          </a:prstGeom>
          <a:solidFill>
            <a:srgbClr val="DA291C"/>
          </a:solidFill>
          <a:ln w="12700">
            <a:solidFill>
              <a:srgbClr val="DA291C"/>
            </a:solidFill>
            <a:prstDash val="solid"/>
          </a:ln>
        </p:spPr>
      </p:sp>
      <p:sp>
        <p:nvSpPr>
          <p:cNvPr id="32" name="Text 28"/>
          <p:cNvSpPr/>
          <p:nvPr/>
        </p:nvSpPr>
        <p:spPr>
          <a:xfrm>
            <a:off x="987552" y="5102352"/>
            <a:ext cx="10241280" cy="54864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Pertanyaan Chapter 4 di baliknya: aset mana yang milik klub, dan aset mana yang milik satu orang?</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KONTEKS</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20</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SEPAKBOLA EROPA SEBAGAI INDUSTRI</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Q1 menuntut perbandingan dengan pesaing. Jadi kita perlu tahu dulu industrinya seperti apa.</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20</a:t>
            </a:r>
            <a:endParaRPr lang="en-US" sz="900" dirty="0"/>
          </a:p>
        </p:txBody>
      </p:sp>
      <p:sp>
        <p:nvSpPr>
          <p:cNvPr id="13" name="Shape 10"/>
          <p:cNvSpPr/>
          <p:nvPr/>
        </p:nvSpPr>
        <p:spPr>
          <a:xfrm>
            <a:off x="548640" y="1755648"/>
            <a:ext cx="3545738" cy="1417320"/>
          </a:xfrm>
          <a:prstGeom prst="rect">
            <a:avLst/>
          </a:prstGeom>
          <a:solidFill>
            <a:srgbClr val="2B0F11"/>
          </a:solidFill>
          <a:ln w="12700">
            <a:solidFill>
              <a:srgbClr val="2B0F11"/>
            </a:solidFill>
            <a:prstDash val="solid"/>
          </a:ln>
        </p:spPr>
      </p:sp>
      <p:sp>
        <p:nvSpPr>
          <p:cNvPr id="14" name="Shape 11"/>
          <p:cNvSpPr/>
          <p:nvPr/>
        </p:nvSpPr>
        <p:spPr>
          <a:xfrm>
            <a:off x="548640" y="1755648"/>
            <a:ext cx="3545738" cy="54864"/>
          </a:xfrm>
          <a:prstGeom prst="rect">
            <a:avLst/>
          </a:prstGeom>
          <a:solidFill>
            <a:srgbClr val="DA291C"/>
          </a:solidFill>
          <a:ln w="12700">
            <a:solidFill>
              <a:srgbClr val="DA291C"/>
            </a:solidFill>
            <a:prstDash val="solid"/>
          </a:ln>
        </p:spPr>
      </p:sp>
      <p:sp>
        <p:nvSpPr>
          <p:cNvPr id="15" name="Text 12"/>
          <p:cNvSpPr/>
          <p:nvPr/>
        </p:nvSpPr>
        <p:spPr>
          <a:xfrm>
            <a:off x="768096" y="1938528"/>
            <a:ext cx="3179978" cy="50292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€2,4 M</a:t>
            </a:r>
            <a:endParaRPr lang="en-US" sz="2600" dirty="0"/>
          </a:p>
        </p:txBody>
      </p:sp>
      <p:sp>
        <p:nvSpPr>
          <p:cNvPr id="16" name="Text 13"/>
          <p:cNvSpPr/>
          <p:nvPr/>
        </p:nvSpPr>
        <p:spPr>
          <a:xfrm>
            <a:off x="768096" y="2487168"/>
            <a:ext cx="3179978"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Pendapatan Premier League 2007–08</a:t>
            </a:r>
            <a:endParaRPr lang="en-US" sz="1000" dirty="0"/>
          </a:p>
        </p:txBody>
      </p:sp>
      <p:sp>
        <p:nvSpPr>
          <p:cNvPr id="17" name="Text 14"/>
          <p:cNvSpPr/>
          <p:nvPr/>
        </p:nvSpPr>
        <p:spPr>
          <a:xfrm>
            <a:off x="768096" y="2761488"/>
            <a:ext cx="3179978" cy="32004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Terbesar di Eropa. Serie A, La Liga dan Bundesliga masing-masing sekitar €1,4 miliar.</a:t>
            </a:r>
            <a:endParaRPr lang="en-US" sz="900" dirty="0"/>
          </a:p>
        </p:txBody>
      </p:sp>
      <p:sp>
        <p:nvSpPr>
          <p:cNvPr id="18" name="Shape 15"/>
          <p:cNvSpPr/>
          <p:nvPr/>
        </p:nvSpPr>
        <p:spPr>
          <a:xfrm>
            <a:off x="4322978" y="1755648"/>
            <a:ext cx="3545738" cy="1417320"/>
          </a:xfrm>
          <a:prstGeom prst="rect">
            <a:avLst/>
          </a:prstGeom>
          <a:solidFill>
            <a:srgbClr val="2B0F11"/>
          </a:solidFill>
          <a:ln w="12700">
            <a:solidFill>
              <a:srgbClr val="2B0F11"/>
            </a:solidFill>
            <a:prstDash val="solid"/>
          </a:ln>
        </p:spPr>
      </p:sp>
      <p:sp>
        <p:nvSpPr>
          <p:cNvPr id="19" name="Shape 16"/>
          <p:cNvSpPr/>
          <p:nvPr/>
        </p:nvSpPr>
        <p:spPr>
          <a:xfrm>
            <a:off x="4322978" y="1755648"/>
            <a:ext cx="3545738" cy="54864"/>
          </a:xfrm>
          <a:prstGeom prst="rect">
            <a:avLst/>
          </a:prstGeom>
          <a:solidFill>
            <a:srgbClr val="DA291C"/>
          </a:solidFill>
          <a:ln w="12700">
            <a:solidFill>
              <a:srgbClr val="DA291C"/>
            </a:solidFill>
            <a:prstDash val="solid"/>
          </a:ln>
        </p:spPr>
      </p:sp>
      <p:sp>
        <p:nvSpPr>
          <p:cNvPr id="20" name="Text 17"/>
          <p:cNvSpPr/>
          <p:nvPr/>
        </p:nvSpPr>
        <p:spPr>
          <a:xfrm>
            <a:off x="4542434" y="1938528"/>
            <a:ext cx="3179978" cy="50292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62%</a:t>
            </a:r>
            <a:endParaRPr lang="en-US" sz="2600" dirty="0"/>
          </a:p>
        </p:txBody>
      </p:sp>
      <p:sp>
        <p:nvSpPr>
          <p:cNvPr id="21" name="Text 18"/>
          <p:cNvSpPr/>
          <p:nvPr/>
        </p:nvSpPr>
        <p:spPr>
          <a:xfrm>
            <a:off x="4542434" y="2487168"/>
            <a:ext cx="3179978"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Porsi gaji terhadap pendapatan</a:t>
            </a:r>
            <a:endParaRPr lang="en-US" sz="1000" dirty="0"/>
          </a:p>
        </p:txBody>
      </p:sp>
      <p:sp>
        <p:nvSpPr>
          <p:cNvPr id="22" name="Text 19"/>
          <p:cNvSpPr/>
          <p:nvPr/>
        </p:nvSpPr>
        <p:spPr>
          <a:xfrm>
            <a:off x="4542434" y="2761488"/>
            <a:ext cx="3179978" cy="32004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Premier League. Serie A 68%, La Liga 63%. Gaji adalah pos biaya terbesar klub Eropa.</a:t>
            </a:r>
            <a:endParaRPr lang="en-US" sz="900" dirty="0"/>
          </a:p>
        </p:txBody>
      </p:sp>
      <p:sp>
        <p:nvSpPr>
          <p:cNvPr id="23" name="Shape 20"/>
          <p:cNvSpPr/>
          <p:nvPr/>
        </p:nvSpPr>
        <p:spPr>
          <a:xfrm>
            <a:off x="8097317" y="1755648"/>
            <a:ext cx="3545738" cy="1417320"/>
          </a:xfrm>
          <a:prstGeom prst="rect">
            <a:avLst/>
          </a:prstGeom>
          <a:solidFill>
            <a:srgbClr val="2B0F11"/>
          </a:solidFill>
          <a:ln w="12700">
            <a:solidFill>
              <a:srgbClr val="2B0F11"/>
            </a:solidFill>
            <a:prstDash val="solid"/>
          </a:ln>
        </p:spPr>
      </p:sp>
      <p:sp>
        <p:nvSpPr>
          <p:cNvPr id="24" name="Shape 21"/>
          <p:cNvSpPr/>
          <p:nvPr/>
        </p:nvSpPr>
        <p:spPr>
          <a:xfrm>
            <a:off x="8097317" y="1755648"/>
            <a:ext cx="3545738" cy="54864"/>
          </a:xfrm>
          <a:prstGeom prst="rect">
            <a:avLst/>
          </a:prstGeom>
          <a:solidFill>
            <a:srgbClr val="FBE122"/>
          </a:solidFill>
          <a:ln w="12700">
            <a:solidFill>
              <a:srgbClr val="FBE122"/>
            </a:solidFill>
            <a:prstDash val="solid"/>
          </a:ln>
        </p:spPr>
      </p:sp>
      <p:sp>
        <p:nvSpPr>
          <p:cNvPr id="25" name="Text 22"/>
          <p:cNvSpPr/>
          <p:nvPr/>
        </p:nvSpPr>
        <p:spPr>
          <a:xfrm>
            <a:off x="8316773" y="1938528"/>
            <a:ext cx="3179978" cy="50292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6 dari 10</a:t>
            </a:r>
            <a:endParaRPr lang="en-US" sz="2600" dirty="0"/>
          </a:p>
        </p:txBody>
      </p:sp>
      <p:sp>
        <p:nvSpPr>
          <p:cNvPr id="26" name="Text 23"/>
          <p:cNvSpPr/>
          <p:nvPr/>
        </p:nvSpPr>
        <p:spPr>
          <a:xfrm>
            <a:off x="8316773" y="2487168"/>
            <a:ext cx="3179978"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Klub besar di Table 6.6 merugi</a:t>
            </a:r>
            <a:endParaRPr lang="en-US" sz="1000" dirty="0"/>
          </a:p>
        </p:txBody>
      </p:sp>
      <p:sp>
        <p:nvSpPr>
          <p:cNvPr id="27" name="Text 24"/>
          <p:cNvSpPr/>
          <p:nvPr/>
        </p:nvSpPr>
        <p:spPr>
          <a:xfrm>
            <a:off x="8316773" y="2761488"/>
            <a:ext cx="3179978" cy="32004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Selama 2000–2006. Industri ini tumbuh pesat, tapi sangat tidak menguntungkan.</a:t>
            </a:r>
            <a:endParaRPr lang="en-US" sz="900" dirty="0"/>
          </a:p>
        </p:txBody>
      </p:sp>
      <p:sp>
        <p:nvSpPr>
          <p:cNvPr id="28" name="Text 25"/>
          <p:cNvSpPr/>
          <p:nvPr/>
        </p:nvSpPr>
        <p:spPr>
          <a:xfrm>
            <a:off x="548640" y="3401568"/>
            <a:ext cx="585216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TIGA SUMBER PENDAPATAN KLUB  ·  PREMIER LEAGUE 2007–08</a:t>
            </a:r>
            <a:endParaRPr lang="en-US" sz="850" dirty="0"/>
          </a:p>
        </p:txBody>
      </p:sp>
      <p:sp>
        <p:nvSpPr>
          <p:cNvPr id="29" name="Shape 26"/>
          <p:cNvSpPr/>
          <p:nvPr/>
        </p:nvSpPr>
        <p:spPr>
          <a:xfrm>
            <a:off x="548640" y="3675888"/>
            <a:ext cx="5852160" cy="685800"/>
          </a:xfrm>
          <a:prstGeom prst="rect">
            <a:avLst/>
          </a:prstGeom>
          <a:solidFill>
            <a:srgbClr val="2B0F11"/>
          </a:solidFill>
          <a:ln w="12700">
            <a:solidFill>
              <a:srgbClr val="2B0F11"/>
            </a:solidFill>
            <a:prstDash val="solid"/>
          </a:ln>
        </p:spPr>
      </p:sp>
      <p:sp>
        <p:nvSpPr>
          <p:cNvPr id="30" name="Text 27"/>
          <p:cNvSpPr/>
          <p:nvPr/>
        </p:nvSpPr>
        <p:spPr>
          <a:xfrm>
            <a:off x="731520" y="3749040"/>
            <a:ext cx="1371600"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Matchday</a:t>
            </a:r>
            <a:endParaRPr lang="en-US" sz="1050" dirty="0"/>
          </a:p>
        </p:txBody>
      </p:sp>
      <p:sp>
        <p:nvSpPr>
          <p:cNvPr id="31" name="Text 28"/>
          <p:cNvSpPr/>
          <p:nvPr/>
        </p:nvSpPr>
        <p:spPr>
          <a:xfrm>
            <a:off x="731520" y="4005072"/>
            <a:ext cx="1371600" cy="274320"/>
          </a:xfrm>
          <a:prstGeom prst="rect">
            <a:avLst/>
          </a:prstGeom>
          <a:noFill/>
          <a:ln/>
        </p:spPr>
        <p:txBody>
          <a:bodyPr wrap="square" lIns="0" tIns="0" rIns="0" bIns="0" rtlCol="0" anchor="t"/>
          <a:lstStyle/>
          <a:p>
            <a:pPr indent="0" marL="0">
              <a:buNone/>
            </a:pPr>
            <a:r>
              <a:rPr lang="en-US" sz="1200" dirty="0">
                <a:solidFill>
                  <a:srgbClr val="FBE122"/>
                </a:solidFill>
                <a:latin typeface="Poppins ExtraBold" pitchFamily="34" charset="0"/>
                <a:ea typeface="Poppins ExtraBold" pitchFamily="34" charset="-122"/>
                <a:cs typeface="Poppins ExtraBold" pitchFamily="34" charset="-120"/>
              </a:rPr>
              <a:t>£554 jt</a:t>
            </a:r>
            <a:endParaRPr lang="en-US" sz="1200" dirty="0"/>
          </a:p>
        </p:txBody>
      </p:sp>
      <p:sp>
        <p:nvSpPr>
          <p:cNvPr id="32" name="Text 29"/>
          <p:cNvSpPr/>
          <p:nvPr/>
        </p:nvSpPr>
        <p:spPr>
          <a:xfrm>
            <a:off x="2148840" y="3730752"/>
            <a:ext cx="3566160"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Tiket dan hospitality. Dibatasi kapasitas stadion; itu sebabnya klub besar merenovasi atau membangun stadion baru.</a:t>
            </a:r>
            <a:endParaRPr lang="en-US" sz="850" dirty="0"/>
          </a:p>
        </p:txBody>
      </p:sp>
      <p:sp>
        <p:nvSpPr>
          <p:cNvPr id="33" name="Shape 30"/>
          <p:cNvSpPr/>
          <p:nvPr/>
        </p:nvSpPr>
        <p:spPr>
          <a:xfrm>
            <a:off x="548640" y="4434840"/>
            <a:ext cx="5852160" cy="685800"/>
          </a:xfrm>
          <a:prstGeom prst="rect">
            <a:avLst/>
          </a:prstGeom>
          <a:solidFill>
            <a:srgbClr val="381418"/>
          </a:solidFill>
          <a:ln w="12700">
            <a:solidFill>
              <a:srgbClr val="381418"/>
            </a:solidFill>
            <a:prstDash val="solid"/>
          </a:ln>
        </p:spPr>
      </p:sp>
      <p:sp>
        <p:nvSpPr>
          <p:cNvPr id="34" name="Text 31"/>
          <p:cNvSpPr/>
          <p:nvPr/>
        </p:nvSpPr>
        <p:spPr>
          <a:xfrm>
            <a:off x="731520" y="4507992"/>
            <a:ext cx="1371600"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Broadcasting</a:t>
            </a:r>
            <a:endParaRPr lang="en-US" sz="1050" dirty="0"/>
          </a:p>
        </p:txBody>
      </p:sp>
      <p:sp>
        <p:nvSpPr>
          <p:cNvPr id="35" name="Text 32"/>
          <p:cNvSpPr/>
          <p:nvPr/>
        </p:nvSpPr>
        <p:spPr>
          <a:xfrm>
            <a:off x="731520" y="4764024"/>
            <a:ext cx="1371600" cy="274320"/>
          </a:xfrm>
          <a:prstGeom prst="rect">
            <a:avLst/>
          </a:prstGeom>
          <a:noFill/>
          <a:ln/>
        </p:spPr>
        <p:txBody>
          <a:bodyPr wrap="square" lIns="0" tIns="0" rIns="0" bIns="0" rtlCol="0" anchor="t"/>
          <a:lstStyle/>
          <a:p>
            <a:pPr indent="0" marL="0">
              <a:buNone/>
            </a:pPr>
            <a:r>
              <a:rPr lang="en-US" sz="1200" dirty="0">
                <a:solidFill>
                  <a:srgbClr val="FBE122"/>
                </a:solidFill>
                <a:latin typeface="Poppins ExtraBold" pitchFamily="34" charset="0"/>
                <a:ea typeface="Poppins ExtraBold" pitchFamily="34" charset="-122"/>
                <a:cs typeface="Poppins ExtraBold" pitchFamily="34" charset="-120"/>
              </a:rPr>
              <a:t>£931 jt</a:t>
            </a:r>
            <a:endParaRPr lang="en-US" sz="1200" dirty="0"/>
          </a:p>
        </p:txBody>
      </p:sp>
      <p:sp>
        <p:nvSpPr>
          <p:cNvPr id="36" name="Text 33"/>
          <p:cNvSpPr/>
          <p:nvPr/>
        </p:nvSpPr>
        <p:spPr>
          <a:xfrm>
            <a:off x="2148840" y="4489704"/>
            <a:ext cx="3566160"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Hak siar dinegosiasikan Premier League. Kontrak 2006 bernilai £2,7 miliar; tiap klub dapat rata-rata £45 juta per tahun.</a:t>
            </a:r>
            <a:endParaRPr lang="en-US" sz="850" dirty="0"/>
          </a:p>
        </p:txBody>
      </p:sp>
      <p:sp>
        <p:nvSpPr>
          <p:cNvPr id="37" name="Shape 34"/>
          <p:cNvSpPr/>
          <p:nvPr/>
        </p:nvSpPr>
        <p:spPr>
          <a:xfrm>
            <a:off x="548640" y="5193792"/>
            <a:ext cx="5852160" cy="685800"/>
          </a:xfrm>
          <a:prstGeom prst="rect">
            <a:avLst/>
          </a:prstGeom>
          <a:solidFill>
            <a:srgbClr val="2B0F11"/>
          </a:solidFill>
          <a:ln w="12700">
            <a:solidFill>
              <a:srgbClr val="2B0F11"/>
            </a:solidFill>
            <a:prstDash val="solid"/>
          </a:ln>
        </p:spPr>
      </p:sp>
      <p:sp>
        <p:nvSpPr>
          <p:cNvPr id="38" name="Text 35"/>
          <p:cNvSpPr/>
          <p:nvPr/>
        </p:nvSpPr>
        <p:spPr>
          <a:xfrm>
            <a:off x="731520" y="5266944"/>
            <a:ext cx="1371600"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Commercial</a:t>
            </a:r>
            <a:endParaRPr lang="en-US" sz="1050" dirty="0"/>
          </a:p>
        </p:txBody>
      </p:sp>
      <p:sp>
        <p:nvSpPr>
          <p:cNvPr id="39" name="Text 36"/>
          <p:cNvSpPr/>
          <p:nvPr/>
        </p:nvSpPr>
        <p:spPr>
          <a:xfrm>
            <a:off x="731520" y="5522976"/>
            <a:ext cx="1371600" cy="274320"/>
          </a:xfrm>
          <a:prstGeom prst="rect">
            <a:avLst/>
          </a:prstGeom>
          <a:noFill/>
          <a:ln/>
        </p:spPr>
        <p:txBody>
          <a:bodyPr wrap="square" lIns="0" tIns="0" rIns="0" bIns="0" rtlCol="0" anchor="t"/>
          <a:lstStyle/>
          <a:p>
            <a:pPr indent="0" marL="0">
              <a:buNone/>
            </a:pPr>
            <a:r>
              <a:rPr lang="en-US" sz="1200" dirty="0">
                <a:solidFill>
                  <a:srgbClr val="FBE122"/>
                </a:solidFill>
                <a:latin typeface="Poppins ExtraBold" pitchFamily="34" charset="0"/>
                <a:ea typeface="Poppins ExtraBold" pitchFamily="34" charset="-122"/>
                <a:cs typeface="Poppins ExtraBold" pitchFamily="34" charset="-120"/>
              </a:rPr>
              <a:t>£447 jt</a:t>
            </a:r>
            <a:endParaRPr lang="en-US" sz="1200" dirty="0"/>
          </a:p>
        </p:txBody>
      </p:sp>
      <p:sp>
        <p:nvSpPr>
          <p:cNvPr id="40" name="Text 37"/>
          <p:cNvSpPr/>
          <p:nvPr/>
        </p:nvSpPr>
        <p:spPr>
          <a:xfrm>
            <a:off x="2148840" y="5248656"/>
            <a:ext cx="3566160"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Sponsor, lisensi merchandise, iklan. Terpusat di sedikit klub; Real Madrid dan Barcelona meraup lebih dari 60% sponsor La Liga.</a:t>
            </a:r>
            <a:endParaRPr lang="en-US" sz="850" dirty="0"/>
          </a:p>
        </p:txBody>
      </p:sp>
      <p:sp>
        <p:nvSpPr>
          <p:cNvPr id="41" name="Text 38"/>
          <p:cNvSpPr/>
          <p:nvPr/>
        </p:nvSpPr>
        <p:spPr>
          <a:xfrm>
            <a:off x="6675120" y="3401568"/>
            <a:ext cx="496793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ATURAN MAIN DAN LOGIKA EKONOMINYA</a:t>
            </a:r>
            <a:endParaRPr lang="en-US" sz="850" dirty="0"/>
          </a:p>
        </p:txBody>
      </p:sp>
      <p:sp>
        <p:nvSpPr>
          <p:cNvPr id="42" name="Shape 39"/>
          <p:cNvSpPr/>
          <p:nvPr/>
        </p:nvSpPr>
        <p:spPr>
          <a:xfrm>
            <a:off x="6675120" y="3675888"/>
            <a:ext cx="4967935" cy="685800"/>
          </a:xfrm>
          <a:prstGeom prst="rect">
            <a:avLst/>
          </a:prstGeom>
          <a:solidFill>
            <a:srgbClr val="2B0F11"/>
          </a:solidFill>
          <a:ln w="12700">
            <a:solidFill>
              <a:srgbClr val="2B0F11"/>
            </a:solidFill>
            <a:prstDash val="solid"/>
          </a:ln>
        </p:spPr>
      </p:sp>
      <p:sp>
        <p:nvSpPr>
          <p:cNvPr id="43" name="Shape 40"/>
          <p:cNvSpPr/>
          <p:nvPr/>
        </p:nvSpPr>
        <p:spPr>
          <a:xfrm>
            <a:off x="6675120" y="3675888"/>
            <a:ext cx="54864" cy="685800"/>
          </a:xfrm>
          <a:prstGeom prst="rect">
            <a:avLst/>
          </a:prstGeom>
          <a:solidFill>
            <a:srgbClr val="DA291C"/>
          </a:solidFill>
          <a:ln w="12700">
            <a:solidFill>
              <a:srgbClr val="DA291C"/>
            </a:solidFill>
            <a:prstDash val="solid"/>
          </a:ln>
        </p:spPr>
      </p:sp>
      <p:sp>
        <p:nvSpPr>
          <p:cNvPr id="44" name="Text 41"/>
          <p:cNvSpPr/>
          <p:nvPr/>
        </p:nvSpPr>
        <p:spPr>
          <a:xfrm>
            <a:off x="6903720" y="3749040"/>
            <a:ext cx="4602175" cy="22860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Struktur kompetisi</a:t>
            </a:r>
            <a:endParaRPr lang="en-US" sz="1000" dirty="0"/>
          </a:p>
        </p:txBody>
      </p:sp>
      <p:sp>
        <p:nvSpPr>
          <p:cNvPr id="45" name="Text 42"/>
          <p:cNvSpPr/>
          <p:nvPr/>
        </p:nvSpPr>
        <p:spPr>
          <a:xfrm>
            <a:off x="6903720" y="3977640"/>
            <a:ext cx="4602175" cy="384048"/>
          </a:xfrm>
          <a:prstGeom prst="rect">
            <a:avLst/>
          </a:prstGeom>
          <a:noFill/>
          <a:ln/>
        </p:spPr>
        <p:txBody>
          <a:bodyPr wrap="square" lIns="0" tIns="0" rIns="0" bIns="0" rtlCol="0" anchor="t"/>
          <a:lstStyle/>
          <a:p>
            <a:pPr indent="0" marL="0">
              <a:lnSpc>
                <a:spcPct val="103000"/>
              </a:lnSpc>
              <a:buNone/>
            </a:pPr>
            <a:r>
              <a:rPr lang="en-US" sz="800" dirty="0">
                <a:solidFill>
                  <a:srgbClr val="E9DDD8"/>
                </a:solidFill>
                <a:latin typeface="Poppins" pitchFamily="34" charset="0"/>
                <a:ea typeface="Poppins" pitchFamily="34" charset="-122"/>
                <a:cs typeface="Poppins" pitchFamily="34" charset="-120"/>
              </a:rPr>
              <a:t>20 klub Premier League, tiga terbawah turun kasta. Empat teratas lolos Champions League, kompetisi 32 klub terbaik Eropa.</a:t>
            </a:r>
            <a:endParaRPr lang="en-US" sz="800" dirty="0"/>
          </a:p>
        </p:txBody>
      </p:sp>
      <p:sp>
        <p:nvSpPr>
          <p:cNvPr id="46" name="Shape 43"/>
          <p:cNvSpPr/>
          <p:nvPr/>
        </p:nvSpPr>
        <p:spPr>
          <a:xfrm>
            <a:off x="6675120" y="4434840"/>
            <a:ext cx="4967935" cy="685800"/>
          </a:xfrm>
          <a:prstGeom prst="rect">
            <a:avLst/>
          </a:prstGeom>
          <a:solidFill>
            <a:srgbClr val="381418"/>
          </a:solidFill>
          <a:ln w="12700">
            <a:solidFill>
              <a:srgbClr val="381418"/>
            </a:solidFill>
            <a:prstDash val="solid"/>
          </a:ln>
        </p:spPr>
      </p:sp>
      <p:sp>
        <p:nvSpPr>
          <p:cNvPr id="47" name="Shape 44"/>
          <p:cNvSpPr/>
          <p:nvPr/>
        </p:nvSpPr>
        <p:spPr>
          <a:xfrm>
            <a:off x="6675120" y="4434840"/>
            <a:ext cx="54864" cy="685800"/>
          </a:xfrm>
          <a:prstGeom prst="rect">
            <a:avLst/>
          </a:prstGeom>
          <a:solidFill>
            <a:srgbClr val="DA291C"/>
          </a:solidFill>
          <a:ln w="12700">
            <a:solidFill>
              <a:srgbClr val="DA291C"/>
            </a:solidFill>
            <a:prstDash val="solid"/>
          </a:ln>
        </p:spPr>
      </p:sp>
      <p:sp>
        <p:nvSpPr>
          <p:cNvPr id="48" name="Text 45"/>
          <p:cNvSpPr/>
          <p:nvPr/>
        </p:nvSpPr>
        <p:spPr>
          <a:xfrm>
            <a:off x="6903720" y="4507992"/>
            <a:ext cx="4602175" cy="22860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Yang kaya makin kaya</a:t>
            </a:r>
            <a:endParaRPr lang="en-US" sz="1000" dirty="0"/>
          </a:p>
        </p:txBody>
      </p:sp>
      <p:sp>
        <p:nvSpPr>
          <p:cNvPr id="49" name="Text 46"/>
          <p:cNvSpPr/>
          <p:nvPr/>
        </p:nvSpPr>
        <p:spPr>
          <a:xfrm>
            <a:off x="6903720" y="4736592"/>
            <a:ext cx="4602175" cy="384048"/>
          </a:xfrm>
          <a:prstGeom prst="rect">
            <a:avLst/>
          </a:prstGeom>
          <a:noFill/>
          <a:ln/>
        </p:spPr>
        <p:txBody>
          <a:bodyPr wrap="square" lIns="0" tIns="0" rIns="0" bIns="0" rtlCol="0" anchor="t"/>
          <a:lstStyle/>
          <a:p>
            <a:pPr indent="0" marL="0">
              <a:lnSpc>
                <a:spcPct val="103000"/>
              </a:lnSpc>
              <a:buNone/>
            </a:pPr>
            <a:r>
              <a:rPr lang="en-US" sz="800" dirty="0">
                <a:solidFill>
                  <a:srgbClr val="E9DDD8"/>
                </a:solidFill>
                <a:latin typeface="Poppins" pitchFamily="34" charset="0"/>
                <a:ea typeface="Poppins" pitchFamily="34" charset="-122"/>
                <a:cs typeface="Poppins" pitchFamily="34" charset="-120"/>
              </a:rPr>
              <a:t>Sejak UCL dimulai 1992, muncul jurang keuangan antara MU, Chelsea, Liverpool, Arsenal dan sisanya. Uang Eropa membeli pemain bagus.</a:t>
            </a:r>
            <a:endParaRPr lang="en-US" sz="800" dirty="0"/>
          </a:p>
        </p:txBody>
      </p:sp>
      <p:sp>
        <p:nvSpPr>
          <p:cNvPr id="50" name="Shape 47"/>
          <p:cNvSpPr/>
          <p:nvPr/>
        </p:nvSpPr>
        <p:spPr>
          <a:xfrm>
            <a:off x="6675120" y="5193792"/>
            <a:ext cx="4967935" cy="685800"/>
          </a:xfrm>
          <a:prstGeom prst="rect">
            <a:avLst/>
          </a:prstGeom>
          <a:solidFill>
            <a:srgbClr val="2B0F11"/>
          </a:solidFill>
          <a:ln w="12700">
            <a:solidFill>
              <a:srgbClr val="2B0F11"/>
            </a:solidFill>
            <a:prstDash val="solid"/>
          </a:ln>
        </p:spPr>
      </p:sp>
      <p:sp>
        <p:nvSpPr>
          <p:cNvPr id="51" name="Shape 48"/>
          <p:cNvSpPr/>
          <p:nvPr/>
        </p:nvSpPr>
        <p:spPr>
          <a:xfrm>
            <a:off x="6675120" y="5193792"/>
            <a:ext cx="54864" cy="685800"/>
          </a:xfrm>
          <a:prstGeom prst="rect">
            <a:avLst/>
          </a:prstGeom>
          <a:solidFill>
            <a:srgbClr val="DA291C"/>
          </a:solidFill>
          <a:ln w="12700">
            <a:solidFill>
              <a:srgbClr val="DA291C"/>
            </a:solidFill>
            <a:prstDash val="solid"/>
          </a:ln>
        </p:spPr>
      </p:sp>
      <p:sp>
        <p:nvSpPr>
          <p:cNvPr id="52" name="Text 49"/>
          <p:cNvSpPr/>
          <p:nvPr/>
        </p:nvSpPr>
        <p:spPr>
          <a:xfrm>
            <a:off x="6903720" y="5266944"/>
            <a:ext cx="4602175" cy="22860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Harga pemain meledak</a:t>
            </a:r>
            <a:endParaRPr lang="en-US" sz="1000" dirty="0"/>
          </a:p>
        </p:txBody>
      </p:sp>
      <p:sp>
        <p:nvSpPr>
          <p:cNvPr id="53" name="Text 50"/>
          <p:cNvSpPr/>
          <p:nvPr/>
        </p:nvSpPr>
        <p:spPr>
          <a:xfrm>
            <a:off x="6903720" y="5495544"/>
            <a:ext cx="4602175" cy="384048"/>
          </a:xfrm>
          <a:prstGeom prst="rect">
            <a:avLst/>
          </a:prstGeom>
          <a:noFill/>
          <a:ln/>
        </p:spPr>
        <p:txBody>
          <a:bodyPr wrap="square" lIns="0" tIns="0" rIns="0" bIns="0" rtlCol="0" anchor="t"/>
          <a:lstStyle/>
          <a:p>
            <a:pPr indent="0" marL="0">
              <a:lnSpc>
                <a:spcPct val="103000"/>
              </a:lnSpc>
              <a:buNone/>
            </a:pPr>
            <a:r>
              <a:rPr lang="en-US" sz="800" dirty="0">
                <a:solidFill>
                  <a:srgbClr val="E9DDD8"/>
                </a:solidFill>
                <a:latin typeface="Poppins" pitchFamily="34" charset="0"/>
                <a:ea typeface="Poppins" pitchFamily="34" charset="-122"/>
                <a:cs typeface="Poppins" pitchFamily="34" charset="-120"/>
              </a:rPr>
              <a:t>Rekor transfer baru tercipta musim panas 2009 meski resesi. Pendorongnya: Real Madrid, lalu Chelsea, lalu Manchester City.</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1  ·  DITERAPKAN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21</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DI LAPANGAN: JELAS DI ATAS RATA-RATA</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Indikator kedua Thompson, apakah posisi dan kekuatan bersaingnya membaik, dijawab data kompetisi kasus.</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 Table 6.1, 6.2 dan 6.7.</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21</a:t>
            </a:r>
            <a:endParaRPr lang="en-US" sz="900" dirty="0"/>
          </a:p>
        </p:txBody>
      </p:sp>
      <p:sp>
        <p:nvSpPr>
          <p:cNvPr id="13" name="Shape 10"/>
          <p:cNvSpPr/>
          <p:nvPr/>
        </p:nvSpPr>
        <p:spPr>
          <a:xfrm>
            <a:off x="548640" y="1755648"/>
            <a:ext cx="4114800" cy="1234440"/>
          </a:xfrm>
          <a:prstGeom prst="rect">
            <a:avLst/>
          </a:prstGeom>
          <a:solidFill>
            <a:srgbClr val="2B0F11"/>
          </a:solidFill>
          <a:ln w="12700">
            <a:solidFill>
              <a:srgbClr val="2B0F11"/>
            </a:solidFill>
            <a:prstDash val="solid"/>
          </a:ln>
        </p:spPr>
      </p:sp>
      <p:sp>
        <p:nvSpPr>
          <p:cNvPr id="14" name="Shape 11"/>
          <p:cNvSpPr/>
          <p:nvPr/>
        </p:nvSpPr>
        <p:spPr>
          <a:xfrm>
            <a:off x="548640" y="1755648"/>
            <a:ext cx="4114800" cy="54864"/>
          </a:xfrm>
          <a:prstGeom prst="rect">
            <a:avLst/>
          </a:prstGeom>
          <a:solidFill>
            <a:srgbClr val="DA291C"/>
          </a:solidFill>
          <a:ln w="12700">
            <a:solidFill>
              <a:srgbClr val="DA291C"/>
            </a:solidFill>
            <a:prstDash val="solid"/>
          </a:ln>
        </p:spPr>
      </p:sp>
      <p:sp>
        <p:nvSpPr>
          <p:cNvPr id="15" name="Text 12"/>
          <p:cNvSpPr/>
          <p:nvPr/>
        </p:nvSpPr>
        <p:spPr>
          <a:xfrm>
            <a:off x="768096" y="1938528"/>
            <a:ext cx="3749040" cy="502920"/>
          </a:xfrm>
          <a:prstGeom prst="rect">
            <a:avLst/>
          </a:prstGeom>
          <a:noFill/>
          <a:ln/>
        </p:spPr>
        <p:txBody>
          <a:bodyPr wrap="square" lIns="0" tIns="0" rIns="0" bIns="0" rtlCol="0" anchor="t"/>
          <a:lstStyle/>
          <a:p>
            <a:pPr indent="0" marL="0">
              <a:buNone/>
            </a:pPr>
            <a:r>
              <a:rPr lang="en-US" sz="2400" dirty="0">
                <a:solidFill>
                  <a:srgbClr val="FFFFFF"/>
                </a:solidFill>
                <a:latin typeface="Poppins ExtraBold" pitchFamily="34" charset="0"/>
                <a:ea typeface="Poppins ExtraBold" pitchFamily="34" charset="-122"/>
                <a:cs typeface="Poppins ExtraBold" pitchFamily="34" charset="-120"/>
              </a:rPr>
              <a:t>1.460</a:t>
            </a:r>
            <a:endParaRPr lang="en-US" sz="2400" dirty="0"/>
          </a:p>
        </p:txBody>
      </p:sp>
      <p:sp>
        <p:nvSpPr>
          <p:cNvPr id="16" name="Text 13"/>
          <p:cNvSpPr/>
          <p:nvPr/>
        </p:nvSpPr>
        <p:spPr>
          <a:xfrm>
            <a:off x="768096" y="2487168"/>
            <a:ext cx="3749040"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Poin Eropa 2000–2009, tertinggi  ·  Table 6.2</a:t>
            </a:r>
            <a:endParaRPr lang="en-US" sz="1000" dirty="0"/>
          </a:p>
        </p:txBody>
      </p:sp>
      <p:sp>
        <p:nvSpPr>
          <p:cNvPr id="17" name="Text 14"/>
          <p:cNvSpPr/>
          <p:nvPr/>
        </p:nvSpPr>
        <p:spPr>
          <a:xfrm>
            <a:off x="768096" y="2761488"/>
            <a:ext cx="3749040" cy="13716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Barcelona 1.411  ·  Real Madrid 1.314  ·  Arsenal 1.310</a:t>
            </a:r>
            <a:endParaRPr lang="en-US" sz="900" dirty="0"/>
          </a:p>
        </p:txBody>
      </p:sp>
      <p:sp>
        <p:nvSpPr>
          <p:cNvPr id="18" name="Shape 15"/>
          <p:cNvSpPr/>
          <p:nvPr/>
        </p:nvSpPr>
        <p:spPr>
          <a:xfrm>
            <a:off x="548640" y="3127248"/>
            <a:ext cx="4114800" cy="1234440"/>
          </a:xfrm>
          <a:prstGeom prst="rect">
            <a:avLst/>
          </a:prstGeom>
          <a:solidFill>
            <a:srgbClr val="2B0F11"/>
          </a:solidFill>
          <a:ln w="12700">
            <a:solidFill>
              <a:srgbClr val="2B0F11"/>
            </a:solidFill>
            <a:prstDash val="solid"/>
          </a:ln>
        </p:spPr>
      </p:sp>
      <p:sp>
        <p:nvSpPr>
          <p:cNvPr id="19" name="Shape 16"/>
          <p:cNvSpPr/>
          <p:nvPr/>
        </p:nvSpPr>
        <p:spPr>
          <a:xfrm>
            <a:off x="548640" y="3127248"/>
            <a:ext cx="4114800" cy="54864"/>
          </a:xfrm>
          <a:prstGeom prst="rect">
            <a:avLst/>
          </a:prstGeom>
          <a:solidFill>
            <a:srgbClr val="DA291C"/>
          </a:solidFill>
          <a:ln w="12700">
            <a:solidFill>
              <a:srgbClr val="DA291C"/>
            </a:solidFill>
            <a:prstDash val="solid"/>
          </a:ln>
        </p:spPr>
      </p:sp>
      <p:sp>
        <p:nvSpPr>
          <p:cNvPr id="20" name="Text 17"/>
          <p:cNvSpPr/>
          <p:nvPr/>
        </p:nvSpPr>
        <p:spPr>
          <a:xfrm>
            <a:off x="768096" y="3310128"/>
            <a:ext cx="3749040" cy="502920"/>
          </a:xfrm>
          <a:prstGeom prst="rect">
            <a:avLst/>
          </a:prstGeom>
          <a:noFill/>
          <a:ln/>
        </p:spPr>
        <p:txBody>
          <a:bodyPr wrap="square" lIns="0" tIns="0" rIns="0" bIns="0" rtlCol="0" anchor="t"/>
          <a:lstStyle/>
          <a:p>
            <a:pPr indent="0" marL="0">
              <a:buNone/>
            </a:pPr>
            <a:r>
              <a:rPr lang="en-US" sz="2400" dirty="0">
                <a:solidFill>
                  <a:srgbClr val="FFFFFF"/>
                </a:solidFill>
                <a:latin typeface="Poppins ExtraBold" pitchFamily="34" charset="0"/>
                <a:ea typeface="Poppins ExtraBold" pitchFamily="34" charset="-122"/>
                <a:cs typeface="Poppins ExtraBold" pitchFamily="34" charset="-120"/>
              </a:rPr>
              <a:t>3</a:t>
            </a:r>
            <a:endParaRPr lang="en-US" sz="2400" dirty="0"/>
          </a:p>
        </p:txBody>
      </p:sp>
      <p:sp>
        <p:nvSpPr>
          <p:cNvPr id="21" name="Text 18"/>
          <p:cNvSpPr/>
          <p:nvPr/>
        </p:nvSpPr>
        <p:spPr>
          <a:xfrm>
            <a:off x="768096" y="3858768"/>
            <a:ext cx="3749040"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Gelar liga beruntun 2007, 2008, 2009  ·  Table 6.1</a:t>
            </a:r>
            <a:endParaRPr lang="en-US" sz="1000" dirty="0"/>
          </a:p>
        </p:txBody>
      </p:sp>
      <p:sp>
        <p:nvSpPr>
          <p:cNvPr id="22" name="Text 19"/>
          <p:cNvSpPr/>
          <p:nvPr/>
        </p:nvSpPr>
        <p:spPr>
          <a:xfrm>
            <a:off x="768096" y="4133088"/>
            <a:ext cx="3749040" cy="13716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Total 11 gelar liga sejak 1993 dalam rentang kasus</a:t>
            </a:r>
            <a:endParaRPr lang="en-US" sz="900" dirty="0"/>
          </a:p>
        </p:txBody>
      </p:sp>
      <p:sp>
        <p:nvSpPr>
          <p:cNvPr id="23" name="Shape 20"/>
          <p:cNvSpPr/>
          <p:nvPr/>
        </p:nvSpPr>
        <p:spPr>
          <a:xfrm>
            <a:off x="548640" y="4498848"/>
            <a:ext cx="4114800" cy="1234440"/>
          </a:xfrm>
          <a:prstGeom prst="rect">
            <a:avLst/>
          </a:prstGeom>
          <a:solidFill>
            <a:srgbClr val="2B0F11"/>
          </a:solidFill>
          <a:ln w="12700">
            <a:solidFill>
              <a:srgbClr val="2B0F11"/>
            </a:solidFill>
            <a:prstDash val="solid"/>
          </a:ln>
        </p:spPr>
      </p:sp>
      <p:sp>
        <p:nvSpPr>
          <p:cNvPr id="24" name="Shape 21"/>
          <p:cNvSpPr/>
          <p:nvPr/>
        </p:nvSpPr>
        <p:spPr>
          <a:xfrm>
            <a:off x="548640" y="4498848"/>
            <a:ext cx="4114800" cy="54864"/>
          </a:xfrm>
          <a:prstGeom prst="rect">
            <a:avLst/>
          </a:prstGeom>
          <a:solidFill>
            <a:srgbClr val="FBE122"/>
          </a:solidFill>
          <a:ln w="12700">
            <a:solidFill>
              <a:srgbClr val="FBE122"/>
            </a:solidFill>
            <a:prstDash val="solid"/>
          </a:ln>
        </p:spPr>
      </p:sp>
      <p:sp>
        <p:nvSpPr>
          <p:cNvPr id="25" name="Text 22"/>
          <p:cNvSpPr/>
          <p:nvPr/>
        </p:nvSpPr>
        <p:spPr>
          <a:xfrm>
            <a:off x="768096" y="4681728"/>
            <a:ext cx="3749040" cy="502920"/>
          </a:xfrm>
          <a:prstGeom prst="rect">
            <a:avLst/>
          </a:prstGeom>
          <a:noFill/>
          <a:ln/>
        </p:spPr>
        <p:txBody>
          <a:bodyPr wrap="square" lIns="0" tIns="0" rIns="0" bIns="0" rtlCol="0" anchor="t"/>
          <a:lstStyle/>
          <a:p>
            <a:pPr indent="0" marL="0">
              <a:buNone/>
            </a:pPr>
            <a:r>
              <a:rPr lang="en-US" sz="2400" dirty="0">
                <a:solidFill>
                  <a:srgbClr val="FFFFFF"/>
                </a:solidFill>
                <a:latin typeface="Poppins ExtraBold" pitchFamily="34" charset="0"/>
                <a:ea typeface="Poppins ExtraBold" pitchFamily="34" charset="-122"/>
                <a:cs typeface="Poppins ExtraBold" pitchFamily="34" charset="-120"/>
              </a:rPr>
              <a:t>2008</a:t>
            </a:r>
            <a:endParaRPr lang="en-US" sz="2400" dirty="0"/>
          </a:p>
        </p:txBody>
      </p:sp>
      <p:sp>
        <p:nvSpPr>
          <p:cNvPr id="26" name="Text 23"/>
          <p:cNvSpPr/>
          <p:nvPr/>
        </p:nvSpPr>
        <p:spPr>
          <a:xfrm>
            <a:off x="768096" y="5230368"/>
            <a:ext cx="3749040"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Liga Champions kedua di era Ferguson  ·  hlm. 584</a:t>
            </a:r>
            <a:endParaRPr lang="en-US" sz="1000" dirty="0"/>
          </a:p>
        </p:txBody>
      </p:sp>
      <p:sp>
        <p:nvSpPr>
          <p:cNvPr id="27" name="Text 24"/>
          <p:cNvSpPr/>
          <p:nvPr/>
        </p:nvSpPr>
        <p:spPr>
          <a:xfrm>
            <a:off x="768096" y="5504688"/>
            <a:ext cx="3749040" cy="13716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Yang pertama 1999, bersama gelar liga dan FA Cup</a:t>
            </a:r>
            <a:endParaRPr lang="en-US" sz="900" dirty="0"/>
          </a:p>
        </p:txBody>
      </p:sp>
      <p:sp>
        <p:nvSpPr>
          <p:cNvPr id="28" name="Shape 25"/>
          <p:cNvSpPr/>
          <p:nvPr/>
        </p:nvSpPr>
        <p:spPr>
          <a:xfrm>
            <a:off x="4937760" y="1755648"/>
            <a:ext cx="6675120" cy="3977640"/>
          </a:xfrm>
          <a:prstGeom prst="rect">
            <a:avLst/>
          </a:prstGeom>
          <a:solidFill>
            <a:srgbClr val="2B0F11"/>
          </a:solidFill>
          <a:ln w="12700">
            <a:solidFill>
              <a:srgbClr val="2B0F11"/>
            </a:solidFill>
            <a:prstDash val="solid"/>
          </a:ln>
        </p:spPr>
      </p:sp>
      <p:sp>
        <p:nvSpPr>
          <p:cNvPr id="29" name="Text 26"/>
          <p:cNvSpPr/>
          <p:nvPr/>
        </p:nvSpPr>
        <p:spPr>
          <a:xfrm>
            <a:off x="5166360" y="1892808"/>
            <a:ext cx="621792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POIN PERFORMA EROPA 2000–09  ·  TABLE 6.2</a:t>
            </a:r>
            <a:endParaRPr lang="en-US" sz="850" dirty="0"/>
          </a:p>
        </p:txBody>
      </p:sp>
      <p:sp>
        <p:nvSpPr>
          <p:cNvPr id="30" name="Text 27"/>
          <p:cNvSpPr/>
          <p:nvPr/>
        </p:nvSpPr>
        <p:spPr>
          <a:xfrm>
            <a:off x="5166360" y="2272741"/>
            <a:ext cx="1143000" cy="291694"/>
          </a:xfrm>
          <a:prstGeom prst="rect">
            <a:avLst/>
          </a:prstGeom>
          <a:noFill/>
          <a:ln/>
        </p:spPr>
        <p:txBody>
          <a:bodyPr wrap="square" lIns="0" tIns="0" rIns="0" bIns="0" rtlCol="0" anchor="ctr"/>
          <a:lstStyle/>
          <a:p>
            <a:pPr algn="r" indent="0" marL="0">
              <a:buNone/>
            </a:pPr>
            <a:r>
              <a:rPr lang="en-US" sz="900" dirty="0">
                <a:solidFill>
                  <a:srgbClr val="FFFFFF"/>
                </a:solidFill>
                <a:latin typeface="Poppins SemiBold" pitchFamily="34" charset="0"/>
                <a:ea typeface="Poppins SemiBold" pitchFamily="34" charset="-122"/>
                <a:cs typeface="Poppins SemiBold" pitchFamily="34" charset="-120"/>
              </a:rPr>
              <a:t>Man United</a:t>
            </a:r>
            <a:endParaRPr lang="en-US" sz="900" dirty="0"/>
          </a:p>
        </p:txBody>
      </p:sp>
      <p:sp>
        <p:nvSpPr>
          <p:cNvPr id="31" name="Shape 28"/>
          <p:cNvSpPr/>
          <p:nvPr/>
        </p:nvSpPr>
        <p:spPr>
          <a:xfrm>
            <a:off x="6446520" y="2291029"/>
            <a:ext cx="4160520" cy="255118"/>
          </a:xfrm>
          <a:prstGeom prst="rect">
            <a:avLst/>
          </a:prstGeom>
          <a:solidFill>
            <a:srgbClr val="DA291C"/>
          </a:solidFill>
          <a:ln w="12700">
            <a:solidFill>
              <a:srgbClr val="DA291C"/>
            </a:solidFill>
            <a:prstDash val="solid"/>
          </a:ln>
        </p:spPr>
      </p:sp>
      <p:sp>
        <p:nvSpPr>
          <p:cNvPr id="32" name="Text 29"/>
          <p:cNvSpPr/>
          <p:nvPr/>
        </p:nvSpPr>
        <p:spPr>
          <a:xfrm>
            <a:off x="10680192" y="2272741"/>
            <a:ext cx="685800" cy="291694"/>
          </a:xfrm>
          <a:prstGeom prst="rect">
            <a:avLst/>
          </a:prstGeom>
          <a:noFill/>
          <a:ln/>
        </p:spPr>
        <p:txBody>
          <a:bodyPr wrap="square" lIns="0" tIns="0" rIns="0" bIns="0" rtlCol="0" anchor="ctr"/>
          <a:lstStyle/>
          <a:p>
            <a:pPr algn="l" indent="0" marL="0">
              <a:buNone/>
            </a:pPr>
            <a:r>
              <a:rPr lang="en-US" sz="900" dirty="0">
                <a:solidFill>
                  <a:srgbClr val="FBE122"/>
                </a:solidFill>
                <a:latin typeface="Poppins SemiBold" pitchFamily="34" charset="0"/>
                <a:ea typeface="Poppins SemiBold" pitchFamily="34" charset="-122"/>
                <a:cs typeface="Poppins SemiBold" pitchFamily="34" charset="-120"/>
              </a:rPr>
              <a:t>1.460</a:t>
            </a:r>
            <a:endParaRPr lang="en-US" sz="900" dirty="0"/>
          </a:p>
        </p:txBody>
      </p:sp>
      <p:sp>
        <p:nvSpPr>
          <p:cNvPr id="33" name="Text 30"/>
          <p:cNvSpPr/>
          <p:nvPr/>
        </p:nvSpPr>
        <p:spPr>
          <a:xfrm>
            <a:off x="5166360" y="2684221"/>
            <a:ext cx="1143000" cy="291694"/>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Barcelona</a:t>
            </a:r>
            <a:endParaRPr lang="en-US" sz="900" dirty="0"/>
          </a:p>
        </p:txBody>
      </p:sp>
      <p:sp>
        <p:nvSpPr>
          <p:cNvPr id="34" name="Shape 31"/>
          <p:cNvSpPr/>
          <p:nvPr/>
        </p:nvSpPr>
        <p:spPr>
          <a:xfrm>
            <a:off x="6446520" y="2702509"/>
            <a:ext cx="4020886" cy="255118"/>
          </a:xfrm>
          <a:prstGeom prst="rect">
            <a:avLst/>
          </a:prstGeom>
          <a:solidFill>
            <a:srgbClr val="4C2226"/>
          </a:solidFill>
          <a:ln w="12700">
            <a:solidFill>
              <a:srgbClr val="4C2226"/>
            </a:solidFill>
            <a:prstDash val="solid"/>
          </a:ln>
        </p:spPr>
      </p:sp>
      <p:sp>
        <p:nvSpPr>
          <p:cNvPr id="35" name="Text 32"/>
          <p:cNvSpPr/>
          <p:nvPr/>
        </p:nvSpPr>
        <p:spPr>
          <a:xfrm>
            <a:off x="10540558" y="2684221"/>
            <a:ext cx="685800" cy="291694"/>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1.411</a:t>
            </a:r>
            <a:endParaRPr lang="en-US" sz="900" dirty="0"/>
          </a:p>
        </p:txBody>
      </p:sp>
      <p:sp>
        <p:nvSpPr>
          <p:cNvPr id="36" name="Text 33"/>
          <p:cNvSpPr/>
          <p:nvPr/>
        </p:nvSpPr>
        <p:spPr>
          <a:xfrm>
            <a:off x="5166360" y="3095701"/>
            <a:ext cx="1143000" cy="291694"/>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Real Madrid</a:t>
            </a:r>
            <a:endParaRPr lang="en-US" sz="900" dirty="0"/>
          </a:p>
        </p:txBody>
      </p:sp>
      <p:sp>
        <p:nvSpPr>
          <p:cNvPr id="37" name="Shape 34"/>
          <p:cNvSpPr/>
          <p:nvPr/>
        </p:nvSpPr>
        <p:spPr>
          <a:xfrm>
            <a:off x="6446520" y="3113989"/>
            <a:ext cx="3744468" cy="255118"/>
          </a:xfrm>
          <a:prstGeom prst="rect">
            <a:avLst/>
          </a:prstGeom>
          <a:solidFill>
            <a:srgbClr val="4C2226"/>
          </a:solidFill>
          <a:ln w="12700">
            <a:solidFill>
              <a:srgbClr val="4C2226"/>
            </a:solidFill>
            <a:prstDash val="solid"/>
          </a:ln>
        </p:spPr>
      </p:sp>
      <p:sp>
        <p:nvSpPr>
          <p:cNvPr id="38" name="Text 35"/>
          <p:cNvSpPr/>
          <p:nvPr/>
        </p:nvSpPr>
        <p:spPr>
          <a:xfrm>
            <a:off x="10264140" y="3095701"/>
            <a:ext cx="685800" cy="291694"/>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1.314</a:t>
            </a:r>
            <a:endParaRPr lang="en-US" sz="900" dirty="0"/>
          </a:p>
        </p:txBody>
      </p:sp>
      <p:sp>
        <p:nvSpPr>
          <p:cNvPr id="39" name="Text 36"/>
          <p:cNvSpPr/>
          <p:nvPr/>
        </p:nvSpPr>
        <p:spPr>
          <a:xfrm>
            <a:off x="5166360" y="3507181"/>
            <a:ext cx="1143000" cy="291694"/>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Bayern</a:t>
            </a:r>
            <a:endParaRPr lang="en-US" sz="900" dirty="0"/>
          </a:p>
        </p:txBody>
      </p:sp>
      <p:sp>
        <p:nvSpPr>
          <p:cNvPr id="40" name="Shape 37"/>
          <p:cNvSpPr/>
          <p:nvPr/>
        </p:nvSpPr>
        <p:spPr>
          <a:xfrm>
            <a:off x="6446520" y="3525469"/>
            <a:ext cx="3744468" cy="255118"/>
          </a:xfrm>
          <a:prstGeom prst="rect">
            <a:avLst/>
          </a:prstGeom>
          <a:solidFill>
            <a:srgbClr val="4C2226"/>
          </a:solidFill>
          <a:ln w="12700">
            <a:solidFill>
              <a:srgbClr val="4C2226"/>
            </a:solidFill>
            <a:prstDash val="solid"/>
          </a:ln>
        </p:spPr>
      </p:sp>
      <p:sp>
        <p:nvSpPr>
          <p:cNvPr id="41" name="Text 38"/>
          <p:cNvSpPr/>
          <p:nvPr/>
        </p:nvSpPr>
        <p:spPr>
          <a:xfrm>
            <a:off x="10264140" y="3507181"/>
            <a:ext cx="685800" cy="291694"/>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1.314</a:t>
            </a:r>
            <a:endParaRPr lang="en-US" sz="900" dirty="0"/>
          </a:p>
        </p:txBody>
      </p:sp>
      <p:sp>
        <p:nvSpPr>
          <p:cNvPr id="42" name="Text 39"/>
          <p:cNvSpPr/>
          <p:nvPr/>
        </p:nvSpPr>
        <p:spPr>
          <a:xfrm>
            <a:off x="5166360" y="3918661"/>
            <a:ext cx="1143000" cy="291694"/>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Arsenal</a:t>
            </a:r>
            <a:endParaRPr lang="en-US" sz="900" dirty="0"/>
          </a:p>
        </p:txBody>
      </p:sp>
      <p:sp>
        <p:nvSpPr>
          <p:cNvPr id="43" name="Shape 40"/>
          <p:cNvSpPr/>
          <p:nvPr/>
        </p:nvSpPr>
        <p:spPr>
          <a:xfrm>
            <a:off x="6446520" y="3936949"/>
            <a:ext cx="3733069" cy="255118"/>
          </a:xfrm>
          <a:prstGeom prst="rect">
            <a:avLst/>
          </a:prstGeom>
          <a:solidFill>
            <a:srgbClr val="4C2226"/>
          </a:solidFill>
          <a:ln w="12700">
            <a:solidFill>
              <a:srgbClr val="4C2226"/>
            </a:solidFill>
            <a:prstDash val="solid"/>
          </a:ln>
        </p:spPr>
      </p:sp>
      <p:sp>
        <p:nvSpPr>
          <p:cNvPr id="44" name="Text 41"/>
          <p:cNvSpPr/>
          <p:nvPr/>
        </p:nvSpPr>
        <p:spPr>
          <a:xfrm>
            <a:off x="10252741" y="3918661"/>
            <a:ext cx="685800" cy="291694"/>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1.310</a:t>
            </a:r>
            <a:endParaRPr lang="en-US" sz="900" dirty="0"/>
          </a:p>
        </p:txBody>
      </p:sp>
      <p:sp>
        <p:nvSpPr>
          <p:cNvPr id="45" name="Text 42"/>
          <p:cNvSpPr/>
          <p:nvPr/>
        </p:nvSpPr>
        <p:spPr>
          <a:xfrm>
            <a:off x="5166360" y="4330141"/>
            <a:ext cx="1143000" cy="291694"/>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Chelsea</a:t>
            </a:r>
            <a:endParaRPr lang="en-US" sz="900" dirty="0"/>
          </a:p>
        </p:txBody>
      </p:sp>
      <p:sp>
        <p:nvSpPr>
          <p:cNvPr id="46" name="Shape 43"/>
          <p:cNvSpPr/>
          <p:nvPr/>
        </p:nvSpPr>
        <p:spPr>
          <a:xfrm>
            <a:off x="6446520" y="4348429"/>
            <a:ext cx="3636180" cy="255118"/>
          </a:xfrm>
          <a:prstGeom prst="rect">
            <a:avLst/>
          </a:prstGeom>
          <a:solidFill>
            <a:srgbClr val="4C2226"/>
          </a:solidFill>
          <a:ln w="12700">
            <a:solidFill>
              <a:srgbClr val="4C2226"/>
            </a:solidFill>
            <a:prstDash val="solid"/>
          </a:ln>
        </p:spPr>
      </p:sp>
      <p:sp>
        <p:nvSpPr>
          <p:cNvPr id="47" name="Text 44"/>
          <p:cNvSpPr/>
          <p:nvPr/>
        </p:nvSpPr>
        <p:spPr>
          <a:xfrm>
            <a:off x="10155852" y="4330141"/>
            <a:ext cx="685800" cy="291694"/>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1.276</a:t>
            </a:r>
            <a:endParaRPr lang="en-US" sz="900" dirty="0"/>
          </a:p>
        </p:txBody>
      </p:sp>
      <p:sp>
        <p:nvSpPr>
          <p:cNvPr id="48" name="Shape 45"/>
          <p:cNvSpPr/>
          <p:nvPr/>
        </p:nvSpPr>
        <p:spPr>
          <a:xfrm>
            <a:off x="6446520" y="2212848"/>
            <a:ext cx="9144" cy="2468880"/>
          </a:xfrm>
          <a:prstGeom prst="rect">
            <a:avLst/>
          </a:prstGeom>
          <a:solidFill>
            <a:srgbClr val="A8928E"/>
          </a:solidFill>
          <a:ln w="12700">
            <a:solidFill>
              <a:srgbClr val="A8928E"/>
            </a:solidFill>
            <a:prstDash val="solid"/>
          </a:ln>
        </p:spPr>
      </p:sp>
      <p:sp>
        <p:nvSpPr>
          <p:cNvPr id="49" name="Text 46"/>
          <p:cNvSpPr/>
          <p:nvPr/>
        </p:nvSpPr>
        <p:spPr>
          <a:xfrm>
            <a:off x="5166360" y="4818888"/>
            <a:ext cx="6217920" cy="82296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Di antara enam klub ini, skuad MU paling besar (34 pemain) dan termuda kedua (25,6 tahun) setelah Arsenal. Cocok dengan strategi memadukan pemain muda dan pemain berpengalaman (Table 6.7).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1  ·  DITERAPKAN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22</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DI KEUANGAN: PALING UNTUNG DI ANTARA KLUB BESAR</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Indikator pertama Thompson, apakah kekuatan keuangan dan labanya membaik, dijawab Appendix kasus serta Table 6.5 dan 6.6.</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 Appendix hlm. 589, Table 6.5 dan 6.6.</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22</a:t>
            </a:r>
            <a:endParaRPr lang="en-US" sz="900" dirty="0"/>
          </a:p>
        </p:txBody>
      </p:sp>
      <p:sp>
        <p:nvSpPr>
          <p:cNvPr id="13" name="Shape 10"/>
          <p:cNvSpPr/>
          <p:nvPr/>
        </p:nvSpPr>
        <p:spPr>
          <a:xfrm>
            <a:off x="548640" y="1755648"/>
            <a:ext cx="6766560" cy="3246120"/>
          </a:xfrm>
          <a:prstGeom prst="rect">
            <a:avLst/>
          </a:prstGeom>
          <a:solidFill>
            <a:srgbClr val="2B0F11"/>
          </a:solidFill>
          <a:ln w="12700">
            <a:solidFill>
              <a:srgbClr val="2B0F11"/>
            </a:solidFill>
            <a:prstDash val="solid"/>
          </a:ln>
        </p:spPr>
      </p:sp>
      <p:sp>
        <p:nvSpPr>
          <p:cNvPr id="14" name="Text 11"/>
          <p:cNvSpPr/>
          <p:nvPr/>
        </p:nvSpPr>
        <p:spPr>
          <a:xfrm>
            <a:off x="777240" y="1892808"/>
            <a:ext cx="630936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PENDAPATAN MU, £ JUTA  ·  NAIK 53% DARI 2006 KE 2008</a:t>
            </a:r>
            <a:endParaRPr lang="en-US" sz="850" dirty="0"/>
          </a:p>
        </p:txBody>
      </p:sp>
      <p:sp>
        <p:nvSpPr>
          <p:cNvPr id="15" name="Shape 12"/>
          <p:cNvSpPr/>
          <p:nvPr/>
        </p:nvSpPr>
        <p:spPr>
          <a:xfrm>
            <a:off x="910438" y="3357128"/>
            <a:ext cx="434645" cy="730240"/>
          </a:xfrm>
          <a:prstGeom prst="rect">
            <a:avLst/>
          </a:prstGeom>
          <a:solidFill>
            <a:srgbClr val="4C2226"/>
          </a:solidFill>
          <a:ln w="12700">
            <a:solidFill>
              <a:srgbClr val="4C2226"/>
            </a:solidFill>
            <a:prstDash val="solid"/>
          </a:ln>
        </p:spPr>
      </p:sp>
      <p:sp>
        <p:nvSpPr>
          <p:cNvPr id="16" name="Text 13"/>
          <p:cNvSpPr/>
          <p:nvPr/>
        </p:nvSpPr>
        <p:spPr>
          <a:xfrm>
            <a:off x="727558" y="3101096"/>
            <a:ext cx="800405" cy="256032"/>
          </a:xfrm>
          <a:prstGeom prst="rect">
            <a:avLst/>
          </a:prstGeom>
          <a:noFill/>
          <a:ln/>
        </p:spPr>
        <p:txBody>
          <a:bodyPr wrap="square" lIns="0" tIns="0" rIns="0" bIns="0" rtlCol="0" anchor="b"/>
          <a:lstStyle/>
          <a:p>
            <a:pPr algn="ctr" indent="0" marL="0">
              <a:buNone/>
            </a:pPr>
            <a:r>
              <a:rPr lang="en-US" sz="850" dirty="0">
                <a:solidFill>
                  <a:srgbClr val="E9DDD8"/>
                </a:solidFill>
                <a:latin typeface="Poppins SemiBold" pitchFamily="34" charset="0"/>
                <a:ea typeface="Poppins SemiBold" pitchFamily="34" charset="-122"/>
                <a:cs typeface="Poppins SemiBold" pitchFamily="34" charset="-120"/>
              </a:rPr>
              <a:t>116,0</a:t>
            </a:r>
            <a:endParaRPr lang="en-US" sz="850" dirty="0"/>
          </a:p>
        </p:txBody>
      </p:sp>
      <p:sp>
        <p:nvSpPr>
          <p:cNvPr id="17" name="Text 14"/>
          <p:cNvSpPr/>
          <p:nvPr/>
        </p:nvSpPr>
        <p:spPr>
          <a:xfrm>
            <a:off x="727558" y="4133088"/>
            <a:ext cx="800405" cy="274320"/>
          </a:xfrm>
          <a:prstGeom prst="rect">
            <a:avLst/>
          </a:prstGeom>
          <a:noFill/>
          <a:ln/>
        </p:spPr>
        <p:txBody>
          <a:bodyPr wrap="square" lIns="0" tIns="0" rIns="0" bIns="0" rtlCol="0" anchor="t"/>
          <a:lstStyle/>
          <a:p>
            <a:pPr algn="ctr" indent="0" marL="0">
              <a:buNone/>
            </a:pPr>
            <a:r>
              <a:rPr lang="en-US" sz="850" dirty="0">
                <a:solidFill>
                  <a:srgbClr val="E9DDD8"/>
                </a:solidFill>
                <a:latin typeface="Poppins" pitchFamily="34" charset="0"/>
                <a:ea typeface="Poppins" pitchFamily="34" charset="-122"/>
                <a:cs typeface="Poppins" pitchFamily="34" charset="-120"/>
              </a:rPr>
              <a:t>2000</a:t>
            </a:r>
            <a:endParaRPr lang="en-US" sz="850" dirty="0"/>
          </a:p>
        </p:txBody>
      </p:sp>
      <p:sp>
        <p:nvSpPr>
          <p:cNvPr id="18" name="Shape 15"/>
          <p:cNvSpPr/>
          <p:nvPr/>
        </p:nvSpPr>
        <p:spPr>
          <a:xfrm>
            <a:off x="1611478" y="3271514"/>
            <a:ext cx="434645" cy="815854"/>
          </a:xfrm>
          <a:prstGeom prst="rect">
            <a:avLst/>
          </a:prstGeom>
          <a:solidFill>
            <a:srgbClr val="4C2226"/>
          </a:solidFill>
          <a:ln w="12700">
            <a:solidFill>
              <a:srgbClr val="4C2226"/>
            </a:solidFill>
            <a:prstDash val="solid"/>
          </a:ln>
        </p:spPr>
      </p:sp>
      <p:sp>
        <p:nvSpPr>
          <p:cNvPr id="19" name="Text 16"/>
          <p:cNvSpPr/>
          <p:nvPr/>
        </p:nvSpPr>
        <p:spPr>
          <a:xfrm>
            <a:off x="1428598" y="3015482"/>
            <a:ext cx="800405" cy="256032"/>
          </a:xfrm>
          <a:prstGeom prst="rect">
            <a:avLst/>
          </a:prstGeom>
          <a:noFill/>
          <a:ln/>
        </p:spPr>
        <p:txBody>
          <a:bodyPr wrap="square" lIns="0" tIns="0" rIns="0" bIns="0" rtlCol="0" anchor="b"/>
          <a:lstStyle/>
          <a:p>
            <a:pPr algn="ctr" indent="0" marL="0">
              <a:buNone/>
            </a:pPr>
            <a:r>
              <a:rPr lang="en-US" sz="850" dirty="0">
                <a:solidFill>
                  <a:srgbClr val="E9DDD8"/>
                </a:solidFill>
                <a:latin typeface="Poppins SemiBold" pitchFamily="34" charset="0"/>
                <a:ea typeface="Poppins SemiBold" pitchFamily="34" charset="-122"/>
                <a:cs typeface="Poppins SemiBold" pitchFamily="34" charset="-120"/>
              </a:rPr>
              <a:t>129,6</a:t>
            </a:r>
            <a:endParaRPr lang="en-US" sz="850" dirty="0"/>
          </a:p>
        </p:txBody>
      </p:sp>
      <p:sp>
        <p:nvSpPr>
          <p:cNvPr id="20" name="Text 17"/>
          <p:cNvSpPr/>
          <p:nvPr/>
        </p:nvSpPr>
        <p:spPr>
          <a:xfrm>
            <a:off x="1428598" y="4133088"/>
            <a:ext cx="800405" cy="274320"/>
          </a:xfrm>
          <a:prstGeom prst="rect">
            <a:avLst/>
          </a:prstGeom>
          <a:noFill/>
          <a:ln/>
        </p:spPr>
        <p:txBody>
          <a:bodyPr wrap="square" lIns="0" tIns="0" rIns="0" bIns="0" rtlCol="0" anchor="t"/>
          <a:lstStyle/>
          <a:p>
            <a:pPr algn="ctr" indent="0" marL="0">
              <a:buNone/>
            </a:pPr>
            <a:r>
              <a:rPr lang="en-US" sz="850" dirty="0">
                <a:solidFill>
                  <a:srgbClr val="E9DDD8"/>
                </a:solidFill>
                <a:latin typeface="Poppins" pitchFamily="34" charset="0"/>
                <a:ea typeface="Poppins" pitchFamily="34" charset="-122"/>
                <a:cs typeface="Poppins" pitchFamily="34" charset="-120"/>
              </a:rPr>
              <a:t>2001</a:t>
            </a:r>
            <a:endParaRPr lang="en-US" sz="850" dirty="0"/>
          </a:p>
        </p:txBody>
      </p:sp>
      <p:sp>
        <p:nvSpPr>
          <p:cNvPr id="21" name="Shape 18"/>
          <p:cNvSpPr/>
          <p:nvPr/>
        </p:nvSpPr>
        <p:spPr>
          <a:xfrm>
            <a:off x="2312518" y="3167644"/>
            <a:ext cx="434645" cy="919724"/>
          </a:xfrm>
          <a:prstGeom prst="rect">
            <a:avLst/>
          </a:prstGeom>
          <a:solidFill>
            <a:srgbClr val="4C2226"/>
          </a:solidFill>
          <a:ln w="12700">
            <a:solidFill>
              <a:srgbClr val="4C2226"/>
            </a:solidFill>
            <a:prstDash val="solid"/>
          </a:ln>
        </p:spPr>
      </p:sp>
      <p:sp>
        <p:nvSpPr>
          <p:cNvPr id="22" name="Text 19"/>
          <p:cNvSpPr/>
          <p:nvPr/>
        </p:nvSpPr>
        <p:spPr>
          <a:xfrm>
            <a:off x="2129638" y="2911612"/>
            <a:ext cx="800405" cy="256032"/>
          </a:xfrm>
          <a:prstGeom prst="rect">
            <a:avLst/>
          </a:prstGeom>
          <a:noFill/>
          <a:ln/>
        </p:spPr>
        <p:txBody>
          <a:bodyPr wrap="square" lIns="0" tIns="0" rIns="0" bIns="0" rtlCol="0" anchor="b"/>
          <a:lstStyle/>
          <a:p>
            <a:pPr algn="ctr" indent="0" marL="0">
              <a:buNone/>
            </a:pPr>
            <a:r>
              <a:rPr lang="en-US" sz="850" dirty="0">
                <a:solidFill>
                  <a:srgbClr val="E9DDD8"/>
                </a:solidFill>
                <a:latin typeface="Poppins SemiBold" pitchFamily="34" charset="0"/>
                <a:ea typeface="Poppins SemiBold" pitchFamily="34" charset="-122"/>
                <a:cs typeface="Poppins SemiBold" pitchFamily="34" charset="-120"/>
              </a:rPr>
              <a:t>146,1</a:t>
            </a:r>
            <a:endParaRPr lang="en-US" sz="850" dirty="0"/>
          </a:p>
        </p:txBody>
      </p:sp>
      <p:sp>
        <p:nvSpPr>
          <p:cNvPr id="23" name="Text 20"/>
          <p:cNvSpPr/>
          <p:nvPr/>
        </p:nvSpPr>
        <p:spPr>
          <a:xfrm>
            <a:off x="2129638" y="4133088"/>
            <a:ext cx="800405" cy="274320"/>
          </a:xfrm>
          <a:prstGeom prst="rect">
            <a:avLst/>
          </a:prstGeom>
          <a:noFill/>
          <a:ln/>
        </p:spPr>
        <p:txBody>
          <a:bodyPr wrap="square" lIns="0" tIns="0" rIns="0" bIns="0" rtlCol="0" anchor="t"/>
          <a:lstStyle/>
          <a:p>
            <a:pPr algn="ctr" indent="0" marL="0">
              <a:buNone/>
            </a:pPr>
            <a:r>
              <a:rPr lang="en-US" sz="850" dirty="0">
                <a:solidFill>
                  <a:srgbClr val="E9DDD8"/>
                </a:solidFill>
                <a:latin typeface="Poppins" pitchFamily="34" charset="0"/>
                <a:ea typeface="Poppins" pitchFamily="34" charset="-122"/>
                <a:cs typeface="Poppins" pitchFamily="34" charset="-120"/>
              </a:rPr>
              <a:t>2002</a:t>
            </a:r>
            <a:endParaRPr lang="en-US" sz="850" dirty="0"/>
          </a:p>
        </p:txBody>
      </p:sp>
      <p:sp>
        <p:nvSpPr>
          <p:cNvPr id="24" name="Shape 21"/>
          <p:cNvSpPr/>
          <p:nvPr/>
        </p:nvSpPr>
        <p:spPr>
          <a:xfrm>
            <a:off x="3013558" y="2998304"/>
            <a:ext cx="434645" cy="1089064"/>
          </a:xfrm>
          <a:prstGeom prst="rect">
            <a:avLst/>
          </a:prstGeom>
          <a:solidFill>
            <a:srgbClr val="4C2226"/>
          </a:solidFill>
          <a:ln w="12700">
            <a:solidFill>
              <a:srgbClr val="4C2226"/>
            </a:solidFill>
            <a:prstDash val="solid"/>
          </a:ln>
        </p:spPr>
      </p:sp>
      <p:sp>
        <p:nvSpPr>
          <p:cNvPr id="25" name="Text 22"/>
          <p:cNvSpPr/>
          <p:nvPr/>
        </p:nvSpPr>
        <p:spPr>
          <a:xfrm>
            <a:off x="2830678" y="2742272"/>
            <a:ext cx="800405" cy="256032"/>
          </a:xfrm>
          <a:prstGeom prst="rect">
            <a:avLst/>
          </a:prstGeom>
          <a:noFill/>
          <a:ln/>
        </p:spPr>
        <p:txBody>
          <a:bodyPr wrap="square" lIns="0" tIns="0" rIns="0" bIns="0" rtlCol="0" anchor="b"/>
          <a:lstStyle/>
          <a:p>
            <a:pPr algn="ctr" indent="0" marL="0">
              <a:buNone/>
            </a:pPr>
            <a:r>
              <a:rPr lang="en-US" sz="850" dirty="0">
                <a:solidFill>
                  <a:srgbClr val="E9DDD8"/>
                </a:solidFill>
                <a:latin typeface="Poppins SemiBold" pitchFamily="34" charset="0"/>
                <a:ea typeface="Poppins SemiBold" pitchFamily="34" charset="-122"/>
                <a:cs typeface="Poppins SemiBold" pitchFamily="34" charset="-120"/>
              </a:rPr>
              <a:t>173,0</a:t>
            </a:r>
            <a:endParaRPr lang="en-US" sz="850" dirty="0"/>
          </a:p>
        </p:txBody>
      </p:sp>
      <p:sp>
        <p:nvSpPr>
          <p:cNvPr id="26" name="Text 23"/>
          <p:cNvSpPr/>
          <p:nvPr/>
        </p:nvSpPr>
        <p:spPr>
          <a:xfrm>
            <a:off x="2830678" y="4133088"/>
            <a:ext cx="800405" cy="274320"/>
          </a:xfrm>
          <a:prstGeom prst="rect">
            <a:avLst/>
          </a:prstGeom>
          <a:noFill/>
          <a:ln/>
        </p:spPr>
        <p:txBody>
          <a:bodyPr wrap="square" lIns="0" tIns="0" rIns="0" bIns="0" rtlCol="0" anchor="t"/>
          <a:lstStyle/>
          <a:p>
            <a:pPr algn="ctr" indent="0" marL="0">
              <a:buNone/>
            </a:pPr>
            <a:r>
              <a:rPr lang="en-US" sz="850" dirty="0">
                <a:solidFill>
                  <a:srgbClr val="E9DDD8"/>
                </a:solidFill>
                <a:latin typeface="Poppins" pitchFamily="34" charset="0"/>
                <a:ea typeface="Poppins" pitchFamily="34" charset="-122"/>
                <a:cs typeface="Poppins" pitchFamily="34" charset="-120"/>
              </a:rPr>
              <a:t>2003</a:t>
            </a:r>
            <a:endParaRPr lang="en-US" sz="850" dirty="0"/>
          </a:p>
        </p:txBody>
      </p:sp>
      <p:sp>
        <p:nvSpPr>
          <p:cNvPr id="27" name="Shape 24"/>
          <p:cNvSpPr/>
          <p:nvPr/>
        </p:nvSpPr>
        <p:spPr>
          <a:xfrm>
            <a:off x="3714598" y="3022855"/>
            <a:ext cx="434645" cy="1064513"/>
          </a:xfrm>
          <a:prstGeom prst="rect">
            <a:avLst/>
          </a:prstGeom>
          <a:solidFill>
            <a:srgbClr val="4C2226"/>
          </a:solidFill>
          <a:ln w="12700">
            <a:solidFill>
              <a:srgbClr val="4C2226"/>
            </a:solidFill>
            <a:prstDash val="solid"/>
          </a:ln>
        </p:spPr>
      </p:sp>
      <p:sp>
        <p:nvSpPr>
          <p:cNvPr id="28" name="Text 25"/>
          <p:cNvSpPr/>
          <p:nvPr/>
        </p:nvSpPr>
        <p:spPr>
          <a:xfrm>
            <a:off x="3531718" y="2766823"/>
            <a:ext cx="800405" cy="256032"/>
          </a:xfrm>
          <a:prstGeom prst="rect">
            <a:avLst/>
          </a:prstGeom>
          <a:noFill/>
          <a:ln/>
        </p:spPr>
        <p:txBody>
          <a:bodyPr wrap="square" lIns="0" tIns="0" rIns="0" bIns="0" rtlCol="0" anchor="b"/>
          <a:lstStyle/>
          <a:p>
            <a:pPr algn="ctr" indent="0" marL="0">
              <a:buNone/>
            </a:pPr>
            <a:r>
              <a:rPr lang="en-US" sz="850" dirty="0">
                <a:solidFill>
                  <a:srgbClr val="E9DDD8"/>
                </a:solidFill>
                <a:latin typeface="Poppins SemiBold" pitchFamily="34" charset="0"/>
                <a:ea typeface="Poppins SemiBold" pitchFamily="34" charset="-122"/>
                <a:cs typeface="Poppins SemiBold" pitchFamily="34" charset="-120"/>
              </a:rPr>
              <a:t>169,1</a:t>
            </a:r>
            <a:endParaRPr lang="en-US" sz="850" dirty="0"/>
          </a:p>
        </p:txBody>
      </p:sp>
      <p:sp>
        <p:nvSpPr>
          <p:cNvPr id="29" name="Text 26"/>
          <p:cNvSpPr/>
          <p:nvPr/>
        </p:nvSpPr>
        <p:spPr>
          <a:xfrm>
            <a:off x="3531718" y="4133088"/>
            <a:ext cx="800405" cy="274320"/>
          </a:xfrm>
          <a:prstGeom prst="rect">
            <a:avLst/>
          </a:prstGeom>
          <a:noFill/>
          <a:ln/>
        </p:spPr>
        <p:txBody>
          <a:bodyPr wrap="square" lIns="0" tIns="0" rIns="0" bIns="0" rtlCol="0" anchor="t"/>
          <a:lstStyle/>
          <a:p>
            <a:pPr algn="ctr" indent="0" marL="0">
              <a:buNone/>
            </a:pPr>
            <a:r>
              <a:rPr lang="en-US" sz="850" dirty="0">
                <a:solidFill>
                  <a:srgbClr val="E9DDD8"/>
                </a:solidFill>
                <a:latin typeface="Poppins" pitchFamily="34" charset="0"/>
                <a:ea typeface="Poppins" pitchFamily="34" charset="-122"/>
                <a:cs typeface="Poppins" pitchFamily="34" charset="-120"/>
              </a:rPr>
              <a:t>2004</a:t>
            </a:r>
            <a:endParaRPr lang="en-US" sz="850" dirty="0"/>
          </a:p>
        </p:txBody>
      </p:sp>
      <p:sp>
        <p:nvSpPr>
          <p:cNvPr id="30" name="Shape 27"/>
          <p:cNvSpPr/>
          <p:nvPr/>
        </p:nvSpPr>
        <p:spPr>
          <a:xfrm>
            <a:off x="4415638" y="3097767"/>
            <a:ext cx="434645" cy="989601"/>
          </a:xfrm>
          <a:prstGeom prst="rect">
            <a:avLst/>
          </a:prstGeom>
          <a:solidFill>
            <a:srgbClr val="4C2226"/>
          </a:solidFill>
          <a:ln w="12700">
            <a:solidFill>
              <a:srgbClr val="4C2226"/>
            </a:solidFill>
            <a:prstDash val="solid"/>
          </a:ln>
        </p:spPr>
      </p:sp>
      <p:sp>
        <p:nvSpPr>
          <p:cNvPr id="31" name="Text 28"/>
          <p:cNvSpPr/>
          <p:nvPr/>
        </p:nvSpPr>
        <p:spPr>
          <a:xfrm>
            <a:off x="4232758" y="2841735"/>
            <a:ext cx="800405" cy="256032"/>
          </a:xfrm>
          <a:prstGeom prst="rect">
            <a:avLst/>
          </a:prstGeom>
          <a:noFill/>
          <a:ln/>
        </p:spPr>
        <p:txBody>
          <a:bodyPr wrap="square" lIns="0" tIns="0" rIns="0" bIns="0" rtlCol="0" anchor="b"/>
          <a:lstStyle/>
          <a:p>
            <a:pPr algn="ctr" indent="0" marL="0">
              <a:buNone/>
            </a:pPr>
            <a:r>
              <a:rPr lang="en-US" sz="850" dirty="0">
                <a:solidFill>
                  <a:srgbClr val="E9DDD8"/>
                </a:solidFill>
                <a:latin typeface="Poppins SemiBold" pitchFamily="34" charset="0"/>
                <a:ea typeface="Poppins SemiBold" pitchFamily="34" charset="-122"/>
                <a:cs typeface="Poppins SemiBold" pitchFamily="34" charset="-120"/>
              </a:rPr>
              <a:t>157,2</a:t>
            </a:r>
            <a:endParaRPr lang="en-US" sz="850" dirty="0"/>
          </a:p>
        </p:txBody>
      </p:sp>
      <p:sp>
        <p:nvSpPr>
          <p:cNvPr id="32" name="Text 29"/>
          <p:cNvSpPr/>
          <p:nvPr/>
        </p:nvSpPr>
        <p:spPr>
          <a:xfrm>
            <a:off x="4232758" y="4133088"/>
            <a:ext cx="800405" cy="274320"/>
          </a:xfrm>
          <a:prstGeom prst="rect">
            <a:avLst/>
          </a:prstGeom>
          <a:noFill/>
          <a:ln/>
        </p:spPr>
        <p:txBody>
          <a:bodyPr wrap="square" lIns="0" tIns="0" rIns="0" bIns="0" rtlCol="0" anchor="t"/>
          <a:lstStyle/>
          <a:p>
            <a:pPr algn="ctr" indent="0" marL="0">
              <a:buNone/>
            </a:pPr>
            <a:r>
              <a:rPr lang="en-US" sz="850" dirty="0">
                <a:solidFill>
                  <a:srgbClr val="E9DDD8"/>
                </a:solidFill>
                <a:latin typeface="Poppins" pitchFamily="34" charset="0"/>
                <a:ea typeface="Poppins" pitchFamily="34" charset="-122"/>
                <a:cs typeface="Poppins" pitchFamily="34" charset="-120"/>
              </a:rPr>
              <a:t>2005</a:t>
            </a:r>
            <a:endParaRPr lang="en-US" sz="850" dirty="0"/>
          </a:p>
        </p:txBody>
      </p:sp>
      <p:sp>
        <p:nvSpPr>
          <p:cNvPr id="33" name="Shape 30"/>
          <p:cNvSpPr/>
          <p:nvPr/>
        </p:nvSpPr>
        <p:spPr>
          <a:xfrm>
            <a:off x="5116678" y="3031039"/>
            <a:ext cx="434645" cy="1056329"/>
          </a:xfrm>
          <a:prstGeom prst="rect">
            <a:avLst/>
          </a:prstGeom>
          <a:solidFill>
            <a:srgbClr val="4C2226"/>
          </a:solidFill>
          <a:ln w="12700">
            <a:solidFill>
              <a:srgbClr val="4C2226"/>
            </a:solidFill>
            <a:prstDash val="solid"/>
          </a:ln>
        </p:spPr>
      </p:sp>
      <p:sp>
        <p:nvSpPr>
          <p:cNvPr id="34" name="Text 31"/>
          <p:cNvSpPr/>
          <p:nvPr/>
        </p:nvSpPr>
        <p:spPr>
          <a:xfrm>
            <a:off x="4933798" y="2775007"/>
            <a:ext cx="800405" cy="256032"/>
          </a:xfrm>
          <a:prstGeom prst="rect">
            <a:avLst/>
          </a:prstGeom>
          <a:noFill/>
          <a:ln/>
        </p:spPr>
        <p:txBody>
          <a:bodyPr wrap="square" lIns="0" tIns="0" rIns="0" bIns="0" rtlCol="0" anchor="b"/>
          <a:lstStyle/>
          <a:p>
            <a:pPr algn="ctr" indent="0" marL="0">
              <a:buNone/>
            </a:pPr>
            <a:r>
              <a:rPr lang="en-US" sz="850" dirty="0">
                <a:solidFill>
                  <a:srgbClr val="E9DDD8"/>
                </a:solidFill>
                <a:latin typeface="Poppins SemiBold" pitchFamily="34" charset="0"/>
                <a:ea typeface="Poppins SemiBold" pitchFamily="34" charset="-122"/>
                <a:cs typeface="Poppins SemiBold" pitchFamily="34" charset="-120"/>
              </a:rPr>
              <a:t>167,8</a:t>
            </a:r>
            <a:endParaRPr lang="en-US" sz="850" dirty="0"/>
          </a:p>
        </p:txBody>
      </p:sp>
      <p:sp>
        <p:nvSpPr>
          <p:cNvPr id="35" name="Text 32"/>
          <p:cNvSpPr/>
          <p:nvPr/>
        </p:nvSpPr>
        <p:spPr>
          <a:xfrm>
            <a:off x="4933798" y="4133088"/>
            <a:ext cx="800405" cy="274320"/>
          </a:xfrm>
          <a:prstGeom prst="rect">
            <a:avLst/>
          </a:prstGeom>
          <a:noFill/>
          <a:ln/>
        </p:spPr>
        <p:txBody>
          <a:bodyPr wrap="square" lIns="0" tIns="0" rIns="0" bIns="0" rtlCol="0" anchor="t"/>
          <a:lstStyle/>
          <a:p>
            <a:pPr algn="ctr" indent="0" marL="0">
              <a:buNone/>
            </a:pPr>
            <a:r>
              <a:rPr lang="en-US" sz="850" dirty="0">
                <a:solidFill>
                  <a:srgbClr val="E9DDD8"/>
                </a:solidFill>
                <a:latin typeface="Poppins" pitchFamily="34" charset="0"/>
                <a:ea typeface="Poppins" pitchFamily="34" charset="-122"/>
                <a:cs typeface="Poppins" pitchFamily="34" charset="-120"/>
              </a:rPr>
              <a:t>2006</a:t>
            </a:r>
            <a:endParaRPr lang="en-US" sz="850" dirty="0"/>
          </a:p>
        </p:txBody>
      </p:sp>
      <p:sp>
        <p:nvSpPr>
          <p:cNvPr id="36" name="Shape 33"/>
          <p:cNvSpPr/>
          <p:nvPr/>
        </p:nvSpPr>
        <p:spPr>
          <a:xfrm>
            <a:off x="5817718" y="2751533"/>
            <a:ext cx="434645" cy="1335835"/>
          </a:xfrm>
          <a:prstGeom prst="rect">
            <a:avLst/>
          </a:prstGeom>
          <a:solidFill>
            <a:srgbClr val="DA291C"/>
          </a:solidFill>
          <a:ln w="12700">
            <a:solidFill>
              <a:srgbClr val="DA291C"/>
            </a:solidFill>
            <a:prstDash val="solid"/>
          </a:ln>
        </p:spPr>
      </p:sp>
      <p:sp>
        <p:nvSpPr>
          <p:cNvPr id="37" name="Text 34"/>
          <p:cNvSpPr/>
          <p:nvPr/>
        </p:nvSpPr>
        <p:spPr>
          <a:xfrm>
            <a:off x="5634838" y="2495501"/>
            <a:ext cx="800405" cy="256032"/>
          </a:xfrm>
          <a:prstGeom prst="rect">
            <a:avLst/>
          </a:prstGeom>
          <a:noFill/>
          <a:ln/>
        </p:spPr>
        <p:txBody>
          <a:bodyPr wrap="square" lIns="0" tIns="0" rIns="0" bIns="0" rtlCol="0" anchor="b"/>
          <a:lstStyle/>
          <a:p>
            <a:pPr algn="ctr" indent="0" marL="0">
              <a:buNone/>
            </a:pPr>
            <a:r>
              <a:rPr lang="en-US" sz="850" dirty="0">
                <a:solidFill>
                  <a:srgbClr val="FBE122"/>
                </a:solidFill>
                <a:latin typeface="Poppins SemiBold" pitchFamily="34" charset="0"/>
                <a:ea typeface="Poppins SemiBold" pitchFamily="34" charset="-122"/>
                <a:cs typeface="Poppins SemiBold" pitchFamily="34" charset="-120"/>
              </a:rPr>
              <a:t>212,2</a:t>
            </a:r>
            <a:endParaRPr lang="en-US" sz="850" dirty="0"/>
          </a:p>
        </p:txBody>
      </p:sp>
      <p:sp>
        <p:nvSpPr>
          <p:cNvPr id="38" name="Text 35"/>
          <p:cNvSpPr/>
          <p:nvPr/>
        </p:nvSpPr>
        <p:spPr>
          <a:xfrm>
            <a:off x="5634838" y="4133088"/>
            <a:ext cx="800405" cy="274320"/>
          </a:xfrm>
          <a:prstGeom prst="rect">
            <a:avLst/>
          </a:prstGeom>
          <a:noFill/>
          <a:ln/>
        </p:spPr>
        <p:txBody>
          <a:bodyPr wrap="square" lIns="0" tIns="0" rIns="0" bIns="0" rtlCol="0" anchor="t"/>
          <a:lstStyle/>
          <a:p>
            <a:pPr algn="ctr" indent="0" marL="0">
              <a:buNone/>
            </a:pPr>
            <a:r>
              <a:rPr lang="en-US" sz="850" dirty="0">
                <a:solidFill>
                  <a:srgbClr val="E9DDD8"/>
                </a:solidFill>
                <a:latin typeface="Poppins" pitchFamily="34" charset="0"/>
                <a:ea typeface="Poppins" pitchFamily="34" charset="-122"/>
                <a:cs typeface="Poppins" pitchFamily="34" charset="-120"/>
              </a:rPr>
              <a:t>2007</a:t>
            </a:r>
            <a:endParaRPr lang="en-US" sz="850" dirty="0"/>
          </a:p>
        </p:txBody>
      </p:sp>
      <p:sp>
        <p:nvSpPr>
          <p:cNvPr id="39" name="Shape 36"/>
          <p:cNvSpPr/>
          <p:nvPr/>
        </p:nvSpPr>
        <p:spPr>
          <a:xfrm>
            <a:off x="6518758" y="2468880"/>
            <a:ext cx="434645" cy="1618488"/>
          </a:xfrm>
          <a:prstGeom prst="rect">
            <a:avLst/>
          </a:prstGeom>
          <a:solidFill>
            <a:srgbClr val="DA291C"/>
          </a:solidFill>
          <a:ln w="12700">
            <a:solidFill>
              <a:srgbClr val="DA291C"/>
            </a:solidFill>
            <a:prstDash val="solid"/>
          </a:ln>
        </p:spPr>
      </p:sp>
      <p:sp>
        <p:nvSpPr>
          <p:cNvPr id="40" name="Text 37"/>
          <p:cNvSpPr/>
          <p:nvPr/>
        </p:nvSpPr>
        <p:spPr>
          <a:xfrm>
            <a:off x="6335878" y="2212848"/>
            <a:ext cx="800405" cy="256032"/>
          </a:xfrm>
          <a:prstGeom prst="rect">
            <a:avLst/>
          </a:prstGeom>
          <a:noFill/>
          <a:ln/>
        </p:spPr>
        <p:txBody>
          <a:bodyPr wrap="square" lIns="0" tIns="0" rIns="0" bIns="0" rtlCol="0" anchor="b"/>
          <a:lstStyle/>
          <a:p>
            <a:pPr algn="ctr" indent="0" marL="0">
              <a:buNone/>
            </a:pPr>
            <a:r>
              <a:rPr lang="en-US" sz="850" dirty="0">
                <a:solidFill>
                  <a:srgbClr val="FBE122"/>
                </a:solidFill>
                <a:latin typeface="Poppins SemiBold" pitchFamily="34" charset="0"/>
                <a:ea typeface="Poppins SemiBold" pitchFamily="34" charset="-122"/>
                <a:cs typeface="Poppins SemiBold" pitchFamily="34" charset="-120"/>
              </a:rPr>
              <a:t>257,1</a:t>
            </a:r>
            <a:endParaRPr lang="en-US" sz="850" dirty="0"/>
          </a:p>
        </p:txBody>
      </p:sp>
      <p:sp>
        <p:nvSpPr>
          <p:cNvPr id="41" name="Text 38"/>
          <p:cNvSpPr/>
          <p:nvPr/>
        </p:nvSpPr>
        <p:spPr>
          <a:xfrm>
            <a:off x="6335878" y="4133088"/>
            <a:ext cx="800405" cy="274320"/>
          </a:xfrm>
          <a:prstGeom prst="rect">
            <a:avLst/>
          </a:prstGeom>
          <a:noFill/>
          <a:ln/>
        </p:spPr>
        <p:txBody>
          <a:bodyPr wrap="square" lIns="0" tIns="0" rIns="0" bIns="0" rtlCol="0" anchor="t"/>
          <a:lstStyle/>
          <a:p>
            <a:pPr algn="ctr" indent="0" marL="0">
              <a:buNone/>
            </a:pPr>
            <a:r>
              <a:rPr lang="en-US" sz="850" dirty="0">
                <a:solidFill>
                  <a:srgbClr val="E9DDD8"/>
                </a:solidFill>
                <a:latin typeface="Poppins" pitchFamily="34" charset="0"/>
                <a:ea typeface="Poppins" pitchFamily="34" charset="-122"/>
                <a:cs typeface="Poppins" pitchFamily="34" charset="-120"/>
              </a:rPr>
              <a:t>2008</a:t>
            </a:r>
            <a:endParaRPr lang="en-US" sz="850" dirty="0"/>
          </a:p>
        </p:txBody>
      </p:sp>
      <p:sp>
        <p:nvSpPr>
          <p:cNvPr id="42" name="Shape 39"/>
          <p:cNvSpPr/>
          <p:nvPr/>
        </p:nvSpPr>
        <p:spPr>
          <a:xfrm>
            <a:off x="777240" y="4087368"/>
            <a:ext cx="6309360" cy="9144"/>
          </a:xfrm>
          <a:prstGeom prst="rect">
            <a:avLst/>
          </a:prstGeom>
          <a:solidFill>
            <a:srgbClr val="A8928E"/>
          </a:solidFill>
          <a:ln w="12700">
            <a:solidFill>
              <a:srgbClr val="A8928E"/>
            </a:solidFill>
            <a:prstDash val="solid"/>
          </a:ln>
        </p:spPr>
      </p:sp>
      <p:sp>
        <p:nvSpPr>
          <p:cNvPr id="43" name="Text 40"/>
          <p:cNvSpPr/>
          <p:nvPr/>
        </p:nvSpPr>
        <p:spPr>
          <a:xfrm>
            <a:off x="777240" y="4453128"/>
            <a:ext cx="6309360" cy="502920"/>
          </a:xfrm>
          <a:prstGeom prst="rect">
            <a:avLst/>
          </a:prstGeom>
          <a:noFill/>
          <a:ln/>
        </p:spPr>
        <p:txBody>
          <a:bodyPr wrap="square" lIns="0" tIns="0" rIns="0" bIns="0" rtlCol="0" anchor="t"/>
          <a:lstStyle/>
          <a:p>
            <a:pPr indent="0" marL="0">
              <a:lnSpc>
                <a:spcPct val="104000"/>
              </a:lnSpc>
              <a:buNone/>
            </a:pPr>
            <a:r>
              <a:rPr lang="en-US" sz="750" dirty="0">
                <a:solidFill>
                  <a:srgbClr val="A8928E"/>
                </a:solidFill>
                <a:latin typeface="Poppins" pitchFamily="34" charset="0"/>
                <a:ea typeface="Poppins" pitchFamily="34" charset="-122"/>
                <a:cs typeface="Poppins" pitchFamily="34" charset="-120"/>
              </a:rPr>
              <a:t>Entitas: plc untuk 2000–2005, Limited untuk 2006–2008. Tahun buku 2000–04 sampai 31 Juli, 2005–08 sampai 30 Juni. Kasus: data 2000–04 tidak sebanding dengan 2005–08 karena perubahan akuntansi.</a:t>
            </a:r>
            <a:endParaRPr lang="en-US" sz="750" dirty="0"/>
          </a:p>
        </p:txBody>
      </p:sp>
      <p:sp>
        <p:nvSpPr>
          <p:cNvPr id="44" name="Text 41"/>
          <p:cNvSpPr/>
          <p:nvPr/>
        </p:nvSpPr>
        <p:spPr>
          <a:xfrm>
            <a:off x="7543800" y="1737360"/>
            <a:ext cx="409925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BUKTI PENDUKUNG</a:t>
            </a:r>
            <a:endParaRPr lang="en-US" sz="850" dirty="0"/>
          </a:p>
        </p:txBody>
      </p:sp>
      <p:sp>
        <p:nvSpPr>
          <p:cNvPr id="45" name="Shape 42"/>
          <p:cNvSpPr/>
          <p:nvPr/>
        </p:nvSpPr>
        <p:spPr>
          <a:xfrm>
            <a:off x="7543800" y="2029968"/>
            <a:ext cx="4099255" cy="676656"/>
          </a:xfrm>
          <a:prstGeom prst="rect">
            <a:avLst/>
          </a:prstGeom>
          <a:solidFill>
            <a:srgbClr val="2B0F11"/>
          </a:solidFill>
          <a:ln w="12700">
            <a:solidFill>
              <a:srgbClr val="2B0F11"/>
            </a:solidFill>
            <a:prstDash val="solid"/>
          </a:ln>
        </p:spPr>
      </p:sp>
      <p:sp>
        <p:nvSpPr>
          <p:cNvPr id="46" name="Text 43"/>
          <p:cNvSpPr/>
          <p:nvPr/>
        </p:nvSpPr>
        <p:spPr>
          <a:xfrm>
            <a:off x="7726680" y="2075688"/>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×2,2</a:t>
            </a:r>
            <a:endParaRPr lang="en-US" sz="1400" dirty="0"/>
          </a:p>
        </p:txBody>
      </p:sp>
      <p:sp>
        <p:nvSpPr>
          <p:cNvPr id="47" name="Text 44"/>
          <p:cNvSpPr/>
          <p:nvPr/>
        </p:nvSpPr>
        <p:spPr>
          <a:xfrm>
            <a:off x="9098280" y="2075688"/>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Laba bersih naik dari £21,6 jt (2006) ke £46,8 jt (2008). Margin bersih 2008: 18,2%</a:t>
            </a:r>
            <a:endParaRPr lang="en-US" sz="850" dirty="0"/>
          </a:p>
        </p:txBody>
      </p:sp>
      <p:sp>
        <p:nvSpPr>
          <p:cNvPr id="48" name="Shape 45"/>
          <p:cNvSpPr/>
          <p:nvPr/>
        </p:nvSpPr>
        <p:spPr>
          <a:xfrm>
            <a:off x="7543800" y="2779776"/>
            <a:ext cx="4099255" cy="676656"/>
          </a:xfrm>
          <a:prstGeom prst="rect">
            <a:avLst/>
          </a:prstGeom>
          <a:solidFill>
            <a:srgbClr val="381418"/>
          </a:solidFill>
          <a:ln w="12700">
            <a:solidFill>
              <a:srgbClr val="381418"/>
            </a:solidFill>
            <a:prstDash val="solid"/>
          </a:ln>
        </p:spPr>
      </p:sp>
      <p:sp>
        <p:nvSpPr>
          <p:cNvPr id="49" name="Text 46"/>
          <p:cNvSpPr/>
          <p:nvPr/>
        </p:nvSpPr>
        <p:spPr>
          <a:xfrm>
            <a:off x="7726680" y="2825496"/>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12,6%</a:t>
            </a:r>
            <a:endParaRPr lang="en-US" sz="1400" dirty="0"/>
          </a:p>
        </p:txBody>
      </p:sp>
      <p:sp>
        <p:nvSpPr>
          <p:cNvPr id="50" name="Text 47"/>
          <p:cNvSpPr/>
          <p:nvPr/>
        </p:nvSpPr>
        <p:spPr>
          <a:xfrm>
            <a:off x="9098280" y="2825496"/>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Return on sales 2000–2006 (Table 6.6), tertinggi dari 10 klub; Real Madrid hanya 0,4%</a:t>
            </a:r>
            <a:endParaRPr lang="en-US" sz="850" dirty="0"/>
          </a:p>
        </p:txBody>
      </p:sp>
      <p:sp>
        <p:nvSpPr>
          <p:cNvPr id="51" name="Shape 48"/>
          <p:cNvSpPr/>
          <p:nvPr/>
        </p:nvSpPr>
        <p:spPr>
          <a:xfrm>
            <a:off x="7543800" y="3529584"/>
            <a:ext cx="4099255" cy="676656"/>
          </a:xfrm>
          <a:prstGeom prst="rect">
            <a:avLst/>
          </a:prstGeom>
          <a:solidFill>
            <a:srgbClr val="2B0F11"/>
          </a:solidFill>
          <a:ln w="12700">
            <a:solidFill>
              <a:srgbClr val="2B0F11"/>
            </a:solidFill>
            <a:prstDash val="solid"/>
          </a:ln>
        </p:spPr>
      </p:sp>
      <p:sp>
        <p:nvSpPr>
          <p:cNvPr id="52" name="Text 49"/>
          <p:cNvSpPr/>
          <p:nvPr/>
        </p:nvSpPr>
        <p:spPr>
          <a:xfrm>
            <a:off x="7726680" y="3575304"/>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€101,9 jt</a:t>
            </a:r>
            <a:endParaRPr lang="en-US" sz="1400" dirty="0"/>
          </a:p>
        </p:txBody>
      </p:sp>
      <p:sp>
        <p:nvSpPr>
          <p:cNvPr id="53" name="Text 50"/>
          <p:cNvSpPr/>
          <p:nvPr/>
        </p:nvSpPr>
        <p:spPr>
          <a:xfrm>
            <a:off x="9098280" y="3575304"/>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EBITDA tertinggi di Table 6.5 (data Forbes 2009). Margin 31,4% vs Barcelona 22,3%, Real Madrid 14,1%</a:t>
            </a:r>
            <a:endParaRPr lang="en-US" sz="850" dirty="0"/>
          </a:p>
        </p:txBody>
      </p:sp>
      <p:sp>
        <p:nvSpPr>
          <p:cNvPr id="54" name="Shape 51"/>
          <p:cNvSpPr/>
          <p:nvPr/>
        </p:nvSpPr>
        <p:spPr>
          <a:xfrm>
            <a:off x="7543800" y="4279392"/>
            <a:ext cx="4099255" cy="676656"/>
          </a:xfrm>
          <a:prstGeom prst="rect">
            <a:avLst/>
          </a:prstGeom>
          <a:solidFill>
            <a:srgbClr val="381418"/>
          </a:solidFill>
          <a:ln w="12700">
            <a:solidFill>
              <a:srgbClr val="381418"/>
            </a:solidFill>
            <a:prstDash val="solid"/>
          </a:ln>
        </p:spPr>
      </p:sp>
      <p:sp>
        <p:nvSpPr>
          <p:cNvPr id="55" name="Text 52"/>
          <p:cNvSpPr/>
          <p:nvPr/>
        </p:nvSpPr>
        <p:spPr>
          <a:xfrm>
            <a:off x="7726680" y="4325112"/>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£1,14 M</a:t>
            </a:r>
            <a:endParaRPr lang="en-US" sz="1400" dirty="0"/>
          </a:p>
        </p:txBody>
      </p:sp>
      <p:sp>
        <p:nvSpPr>
          <p:cNvPr id="56" name="Text 53"/>
          <p:cNvSpPr/>
          <p:nvPr/>
        </p:nvSpPr>
        <p:spPr>
          <a:xfrm>
            <a:off x="9098280" y="4325112"/>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Nilai klub tertinggi di Table 6.5, di atas Barcelona £960 jt dan Real Madrid £850 jt</a:t>
            </a:r>
            <a:endParaRPr lang="en-US" sz="850" dirty="0"/>
          </a:p>
        </p:txBody>
      </p:sp>
      <p:sp>
        <p:nvSpPr>
          <p:cNvPr id="57" name="Shape 54"/>
          <p:cNvSpPr/>
          <p:nvPr/>
        </p:nvSpPr>
        <p:spPr>
          <a:xfrm>
            <a:off x="548640" y="5184648"/>
            <a:ext cx="11094415" cy="731520"/>
          </a:xfrm>
          <a:prstGeom prst="rect">
            <a:avLst/>
          </a:prstGeom>
          <a:solidFill>
            <a:srgbClr val="DA291C"/>
          </a:solidFill>
          <a:ln w="12700">
            <a:solidFill>
              <a:srgbClr val="DA291C"/>
            </a:solidFill>
            <a:prstDash val="solid"/>
          </a:ln>
        </p:spPr>
      </p:sp>
      <p:sp>
        <p:nvSpPr>
          <p:cNvPr id="58" name="Text 55"/>
          <p:cNvSpPr/>
          <p:nvPr/>
        </p:nvSpPr>
        <p:spPr>
          <a:xfrm>
            <a:off x="777240" y="53126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SATU ANGKA YANG MERUSAK GAMBARAN INI</a:t>
            </a:r>
            <a:endParaRPr lang="en-US" sz="800" dirty="0"/>
          </a:p>
        </p:txBody>
      </p:sp>
      <p:sp>
        <p:nvSpPr>
          <p:cNvPr id="59" name="Text 56"/>
          <p:cNvSpPr/>
          <p:nvPr/>
        </p:nvSpPr>
        <p:spPr>
          <a:xfrm>
            <a:off x="777240" y="5550408"/>
            <a:ext cx="10637215"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Utang £616 juta, tertinggi kedua di Table 6.5 setelah Arsenal (£896 juta). Kasus mencatat akuisisi Glazer 2005 dibiayai terutama dengan utang (hlm. 584).</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1  ·  KESIMPULAN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23</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PRESTASI PUNCAK, BELANJA RELATIF HEMAT</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Analisis turunan kami dari Table 6.7: dari empat klub berprestasi tertinggi, belanja bersih MU yang paling kecil.</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 Table 6.7; perbandingan disusun kelompok.</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23</a:t>
            </a:r>
            <a:endParaRPr lang="en-US" sz="900" dirty="0"/>
          </a:p>
        </p:txBody>
      </p:sp>
      <p:sp>
        <p:nvSpPr>
          <p:cNvPr id="13" name="Shape 10"/>
          <p:cNvSpPr/>
          <p:nvPr/>
        </p:nvSpPr>
        <p:spPr>
          <a:xfrm>
            <a:off x="548640" y="1755648"/>
            <a:ext cx="6766560" cy="3246120"/>
          </a:xfrm>
          <a:prstGeom prst="rect">
            <a:avLst/>
          </a:prstGeom>
          <a:solidFill>
            <a:srgbClr val="2B0F11"/>
          </a:solidFill>
          <a:ln w="12700">
            <a:solidFill>
              <a:srgbClr val="2B0F11"/>
            </a:solidFill>
            <a:prstDash val="solid"/>
          </a:ln>
        </p:spPr>
      </p:sp>
      <p:sp>
        <p:nvSpPr>
          <p:cNvPr id="14" name="Text 11"/>
          <p:cNvSpPr/>
          <p:nvPr/>
        </p:nvSpPr>
        <p:spPr>
          <a:xfrm>
            <a:off x="777240" y="1892808"/>
            <a:ext cx="6309360" cy="228600"/>
          </a:xfrm>
          <a:prstGeom prst="rect">
            <a:avLst/>
          </a:prstGeom>
          <a:noFill/>
          <a:ln/>
        </p:spPr>
        <p:txBody>
          <a:bodyPr wrap="square" lIns="0" tIns="0" rIns="0" bIns="0" rtlCol="0" anchor="t"/>
          <a:lstStyle/>
          <a:p>
            <a:pPr indent="0" marL="0">
              <a:buNone/>
            </a:pPr>
            <a:r>
              <a:rPr lang="en-US" sz="850" spc="120" kern="0" dirty="0">
                <a:solidFill>
                  <a:srgbClr val="FBE122"/>
                </a:solidFill>
                <a:latin typeface="Poppins SemiBold" pitchFamily="34" charset="0"/>
                <a:ea typeface="Poppins SemiBold" pitchFamily="34" charset="-122"/>
                <a:cs typeface="Poppins SemiBold" pitchFamily="34" charset="-120"/>
              </a:rPr>
              <a:t>BELANJA TRANSFER BERSIH 2003–09, £ JUTA  ·  EMPAT KLUB DENGAN POIN PERFORMA TERTINGGI</a:t>
            </a:r>
            <a:endParaRPr lang="en-US" sz="850" dirty="0"/>
          </a:p>
        </p:txBody>
      </p:sp>
      <p:sp>
        <p:nvSpPr>
          <p:cNvPr id="15" name="Text 12"/>
          <p:cNvSpPr/>
          <p:nvPr/>
        </p:nvSpPr>
        <p:spPr>
          <a:xfrm>
            <a:off x="777240" y="2331491"/>
            <a:ext cx="2240280" cy="334213"/>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Real Madrid (183,0 poin)</a:t>
            </a:r>
            <a:endParaRPr lang="en-US" sz="900" dirty="0"/>
          </a:p>
        </p:txBody>
      </p:sp>
      <p:sp>
        <p:nvSpPr>
          <p:cNvPr id="16" name="Shape 13"/>
          <p:cNvSpPr/>
          <p:nvPr/>
        </p:nvSpPr>
        <p:spPr>
          <a:xfrm>
            <a:off x="3154680" y="2349779"/>
            <a:ext cx="3154680" cy="297637"/>
          </a:xfrm>
          <a:prstGeom prst="rect">
            <a:avLst/>
          </a:prstGeom>
          <a:solidFill>
            <a:srgbClr val="4C2226"/>
          </a:solidFill>
          <a:ln w="12700">
            <a:solidFill>
              <a:srgbClr val="4C2226"/>
            </a:solidFill>
            <a:prstDash val="solid"/>
          </a:ln>
        </p:spPr>
      </p:sp>
      <p:sp>
        <p:nvSpPr>
          <p:cNvPr id="17" name="Text 14"/>
          <p:cNvSpPr/>
          <p:nvPr/>
        </p:nvSpPr>
        <p:spPr>
          <a:xfrm>
            <a:off x="6382512" y="2331491"/>
            <a:ext cx="685800" cy="334213"/>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438</a:t>
            </a:r>
            <a:endParaRPr lang="en-US" sz="900" dirty="0"/>
          </a:p>
        </p:txBody>
      </p:sp>
      <p:sp>
        <p:nvSpPr>
          <p:cNvPr id="18" name="Text 15"/>
          <p:cNvSpPr/>
          <p:nvPr/>
        </p:nvSpPr>
        <p:spPr>
          <a:xfrm>
            <a:off x="777240" y="2811551"/>
            <a:ext cx="2240280" cy="334213"/>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Barcelona (200,0 poin)</a:t>
            </a:r>
            <a:endParaRPr lang="en-US" sz="900" dirty="0"/>
          </a:p>
        </p:txBody>
      </p:sp>
      <p:sp>
        <p:nvSpPr>
          <p:cNvPr id="19" name="Shape 16"/>
          <p:cNvSpPr/>
          <p:nvPr/>
        </p:nvSpPr>
        <p:spPr>
          <a:xfrm>
            <a:off x="3154680" y="2829839"/>
            <a:ext cx="1793414" cy="297637"/>
          </a:xfrm>
          <a:prstGeom prst="rect">
            <a:avLst/>
          </a:prstGeom>
          <a:solidFill>
            <a:srgbClr val="4C2226"/>
          </a:solidFill>
          <a:ln w="12700">
            <a:solidFill>
              <a:srgbClr val="4C2226"/>
            </a:solidFill>
            <a:prstDash val="solid"/>
          </a:ln>
        </p:spPr>
      </p:sp>
      <p:sp>
        <p:nvSpPr>
          <p:cNvPr id="20" name="Text 17"/>
          <p:cNvSpPr/>
          <p:nvPr/>
        </p:nvSpPr>
        <p:spPr>
          <a:xfrm>
            <a:off x="5021246" y="2811551"/>
            <a:ext cx="685800" cy="334213"/>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249</a:t>
            </a:r>
            <a:endParaRPr lang="en-US" sz="900" dirty="0"/>
          </a:p>
        </p:txBody>
      </p:sp>
      <p:sp>
        <p:nvSpPr>
          <p:cNvPr id="21" name="Text 18"/>
          <p:cNvSpPr/>
          <p:nvPr/>
        </p:nvSpPr>
        <p:spPr>
          <a:xfrm>
            <a:off x="777240" y="3291611"/>
            <a:ext cx="2240280" cy="334213"/>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Bayern München (179,5 poin)</a:t>
            </a:r>
            <a:endParaRPr lang="en-US" sz="900" dirty="0"/>
          </a:p>
        </p:txBody>
      </p:sp>
      <p:sp>
        <p:nvSpPr>
          <p:cNvPr id="22" name="Shape 19"/>
          <p:cNvSpPr/>
          <p:nvPr/>
        </p:nvSpPr>
        <p:spPr>
          <a:xfrm>
            <a:off x="3154680" y="3309899"/>
            <a:ext cx="878701" cy="297637"/>
          </a:xfrm>
          <a:prstGeom prst="rect">
            <a:avLst/>
          </a:prstGeom>
          <a:solidFill>
            <a:srgbClr val="4C2226"/>
          </a:solidFill>
          <a:ln w="12700">
            <a:solidFill>
              <a:srgbClr val="4C2226"/>
            </a:solidFill>
            <a:prstDash val="solid"/>
          </a:ln>
        </p:spPr>
      </p:sp>
      <p:sp>
        <p:nvSpPr>
          <p:cNvPr id="23" name="Text 20"/>
          <p:cNvSpPr/>
          <p:nvPr/>
        </p:nvSpPr>
        <p:spPr>
          <a:xfrm>
            <a:off x="4106533" y="3291611"/>
            <a:ext cx="685800" cy="334213"/>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122</a:t>
            </a:r>
            <a:endParaRPr lang="en-US" sz="900" dirty="0"/>
          </a:p>
        </p:txBody>
      </p:sp>
      <p:sp>
        <p:nvSpPr>
          <p:cNvPr id="24" name="Text 21"/>
          <p:cNvSpPr/>
          <p:nvPr/>
        </p:nvSpPr>
        <p:spPr>
          <a:xfrm>
            <a:off x="777240" y="3771671"/>
            <a:ext cx="2240280" cy="334213"/>
          </a:xfrm>
          <a:prstGeom prst="rect">
            <a:avLst/>
          </a:prstGeom>
          <a:noFill/>
          <a:ln/>
        </p:spPr>
        <p:txBody>
          <a:bodyPr wrap="square" lIns="0" tIns="0" rIns="0" bIns="0" rtlCol="0" anchor="ctr"/>
          <a:lstStyle/>
          <a:p>
            <a:pPr algn="r" indent="0" marL="0">
              <a:buNone/>
            </a:pPr>
            <a:r>
              <a:rPr lang="en-US" sz="900" dirty="0">
                <a:solidFill>
                  <a:srgbClr val="FFFFFF"/>
                </a:solidFill>
                <a:latin typeface="Poppins SemiBold" pitchFamily="34" charset="0"/>
                <a:ea typeface="Poppins SemiBold" pitchFamily="34" charset="-122"/>
                <a:cs typeface="Poppins SemiBold" pitchFamily="34" charset="-120"/>
              </a:rPr>
              <a:t>Manchester United (192,5 poin)</a:t>
            </a:r>
            <a:endParaRPr lang="en-US" sz="900" dirty="0"/>
          </a:p>
        </p:txBody>
      </p:sp>
      <p:sp>
        <p:nvSpPr>
          <p:cNvPr id="25" name="Shape 22"/>
          <p:cNvSpPr/>
          <p:nvPr/>
        </p:nvSpPr>
        <p:spPr>
          <a:xfrm>
            <a:off x="3154680" y="3789959"/>
            <a:ext cx="720247" cy="297637"/>
          </a:xfrm>
          <a:prstGeom prst="rect">
            <a:avLst/>
          </a:prstGeom>
          <a:solidFill>
            <a:srgbClr val="DA291C"/>
          </a:solidFill>
          <a:ln w="12700">
            <a:solidFill>
              <a:srgbClr val="DA291C"/>
            </a:solidFill>
            <a:prstDash val="solid"/>
          </a:ln>
        </p:spPr>
      </p:sp>
      <p:sp>
        <p:nvSpPr>
          <p:cNvPr id="26" name="Text 23"/>
          <p:cNvSpPr/>
          <p:nvPr/>
        </p:nvSpPr>
        <p:spPr>
          <a:xfrm>
            <a:off x="3948079" y="3771671"/>
            <a:ext cx="685800" cy="334213"/>
          </a:xfrm>
          <a:prstGeom prst="rect">
            <a:avLst/>
          </a:prstGeom>
          <a:noFill/>
          <a:ln/>
        </p:spPr>
        <p:txBody>
          <a:bodyPr wrap="square" lIns="0" tIns="0" rIns="0" bIns="0" rtlCol="0" anchor="ctr"/>
          <a:lstStyle/>
          <a:p>
            <a:pPr algn="l" indent="0" marL="0">
              <a:buNone/>
            </a:pPr>
            <a:r>
              <a:rPr lang="en-US" sz="900" dirty="0">
                <a:solidFill>
                  <a:srgbClr val="FBE122"/>
                </a:solidFill>
                <a:latin typeface="Poppins SemiBold" pitchFamily="34" charset="0"/>
                <a:ea typeface="Poppins SemiBold" pitchFamily="34" charset="-122"/>
                <a:cs typeface="Poppins SemiBold" pitchFamily="34" charset="-120"/>
              </a:rPr>
              <a:t>100</a:t>
            </a:r>
            <a:endParaRPr lang="en-US" sz="900" dirty="0"/>
          </a:p>
        </p:txBody>
      </p:sp>
      <p:sp>
        <p:nvSpPr>
          <p:cNvPr id="27" name="Shape 24"/>
          <p:cNvSpPr/>
          <p:nvPr/>
        </p:nvSpPr>
        <p:spPr>
          <a:xfrm>
            <a:off x="3154680" y="2258568"/>
            <a:ext cx="9144" cy="1920240"/>
          </a:xfrm>
          <a:prstGeom prst="rect">
            <a:avLst/>
          </a:prstGeom>
          <a:solidFill>
            <a:srgbClr val="A8928E"/>
          </a:solidFill>
          <a:ln w="12700">
            <a:solidFill>
              <a:srgbClr val="A8928E"/>
            </a:solidFill>
            <a:prstDash val="solid"/>
          </a:ln>
        </p:spPr>
      </p:sp>
      <p:sp>
        <p:nvSpPr>
          <p:cNvPr id="28" name="Text 25"/>
          <p:cNvSpPr/>
          <p:nvPr/>
        </p:nvSpPr>
        <p:spPr>
          <a:xfrm>
            <a:off x="777240" y="4315968"/>
            <a:ext cx="6309360" cy="640080"/>
          </a:xfrm>
          <a:prstGeom prst="rect">
            <a:avLst/>
          </a:prstGeom>
          <a:noFill/>
          <a:ln/>
        </p:spPr>
        <p:txBody>
          <a:bodyPr wrap="square" lIns="0" tIns="0" rIns="0" bIns="0" rtlCol="0" anchor="t"/>
          <a:lstStyle/>
          <a:p>
            <a:pPr indent="0" marL="0">
              <a:lnSpc>
                <a:spcPct val="104000"/>
              </a:lnSpc>
              <a:buNone/>
            </a:pPr>
            <a:r>
              <a:rPr lang="en-US" sz="850" dirty="0">
                <a:solidFill>
                  <a:srgbClr val="A8928E"/>
                </a:solidFill>
                <a:latin typeface="Poppins" pitchFamily="34" charset="0"/>
                <a:ea typeface="Poppins" pitchFamily="34" charset="-122"/>
                <a:cs typeface="Poppins" pitchFamily="34" charset="-120"/>
              </a:rPr>
              <a:t>Klub lain di Table 6.7 ada yang belanja lebih sedikit: Arsenal £22 jt, AC Milan justru penjual bersih (−£66 jt). Tapi poinnya 162,0 dan 169,0, di bawah MU.</a:t>
            </a:r>
            <a:endParaRPr lang="en-US" sz="850" dirty="0"/>
          </a:p>
        </p:txBody>
      </p:sp>
      <p:sp>
        <p:nvSpPr>
          <p:cNvPr id="29" name="Shape 26"/>
          <p:cNvSpPr/>
          <p:nvPr/>
        </p:nvSpPr>
        <p:spPr>
          <a:xfrm>
            <a:off x="7543800" y="1755648"/>
            <a:ext cx="4099255" cy="1325880"/>
          </a:xfrm>
          <a:prstGeom prst="rect">
            <a:avLst/>
          </a:prstGeom>
          <a:solidFill>
            <a:srgbClr val="DA291C"/>
          </a:solidFill>
          <a:ln w="12700">
            <a:solidFill>
              <a:srgbClr val="DA291C"/>
            </a:solidFill>
            <a:prstDash val="solid"/>
          </a:ln>
        </p:spPr>
      </p:sp>
      <p:sp>
        <p:nvSpPr>
          <p:cNvPr id="30" name="Text 27"/>
          <p:cNvSpPr/>
          <p:nvPr/>
        </p:nvSpPr>
        <p:spPr>
          <a:xfrm>
            <a:off x="7726680" y="1847088"/>
            <a:ext cx="1828800" cy="548640"/>
          </a:xfrm>
          <a:prstGeom prst="rect">
            <a:avLst/>
          </a:prstGeom>
          <a:noFill/>
          <a:ln/>
        </p:spPr>
        <p:txBody>
          <a:bodyPr wrap="square" lIns="0" tIns="0" rIns="0" bIns="0" rtlCol="0" anchor="t"/>
          <a:lstStyle/>
          <a:p>
            <a:pPr indent="0" marL="0">
              <a:buNone/>
            </a:pPr>
            <a:r>
              <a:rPr lang="en-US" sz="2800" dirty="0">
                <a:solidFill>
                  <a:srgbClr val="FBE122"/>
                </a:solidFill>
                <a:latin typeface="Poppins ExtraBold" pitchFamily="34" charset="0"/>
                <a:ea typeface="Poppins ExtraBold" pitchFamily="34" charset="-122"/>
                <a:cs typeface="Poppins ExtraBold" pitchFamily="34" charset="-120"/>
              </a:rPr>
              <a:t>4,4×</a:t>
            </a:r>
            <a:endParaRPr lang="en-US" sz="2800" dirty="0"/>
          </a:p>
        </p:txBody>
      </p:sp>
      <p:sp>
        <p:nvSpPr>
          <p:cNvPr id="31" name="Text 28"/>
          <p:cNvSpPr/>
          <p:nvPr/>
        </p:nvSpPr>
        <p:spPr>
          <a:xfrm>
            <a:off x="7726680" y="2377440"/>
            <a:ext cx="3733495" cy="685800"/>
          </a:xfrm>
          <a:prstGeom prst="rect">
            <a:avLst/>
          </a:prstGeom>
          <a:noFill/>
          <a:ln/>
        </p:spPr>
        <p:txBody>
          <a:bodyPr wrap="square" lIns="0" tIns="0" rIns="0" bIns="0" rtlCol="0" anchor="t"/>
          <a:lstStyle/>
          <a:p>
            <a:pPr indent="0" marL="0">
              <a:lnSpc>
                <a:spcPct val="105000"/>
              </a:lnSpc>
              <a:buNone/>
            </a:pPr>
            <a:r>
              <a:rPr lang="en-US" sz="900" dirty="0">
                <a:solidFill>
                  <a:srgbClr val="FFFFFF"/>
                </a:solidFill>
                <a:latin typeface="Poppins Medium" pitchFamily="34" charset="0"/>
                <a:ea typeface="Poppins Medium" pitchFamily="34" charset="-122"/>
                <a:cs typeface="Poppins Medium" pitchFamily="34" charset="-120"/>
              </a:rPr>
              <a:t>Real Madrid membelanjakan 4,4 kali lipat belanja bersih MU (£438 jt vs £100 jt), tapi poin performanya lebih rendah: 183,0 vs 192,5.</a:t>
            </a:r>
            <a:endParaRPr lang="en-US" sz="900" dirty="0"/>
          </a:p>
        </p:txBody>
      </p:sp>
      <p:sp>
        <p:nvSpPr>
          <p:cNvPr id="32" name="Shape 29"/>
          <p:cNvSpPr/>
          <p:nvPr/>
        </p:nvSpPr>
        <p:spPr>
          <a:xfrm>
            <a:off x="7543800" y="3218688"/>
            <a:ext cx="4099255" cy="548640"/>
          </a:xfrm>
          <a:prstGeom prst="rect">
            <a:avLst/>
          </a:prstGeom>
          <a:solidFill>
            <a:srgbClr val="2B0F11"/>
          </a:solidFill>
          <a:ln w="12700">
            <a:solidFill>
              <a:srgbClr val="2B0F11"/>
            </a:solidFill>
            <a:prstDash val="solid"/>
          </a:ln>
        </p:spPr>
      </p:sp>
      <p:sp>
        <p:nvSpPr>
          <p:cNvPr id="33" name="Text 30"/>
          <p:cNvSpPr/>
          <p:nvPr/>
        </p:nvSpPr>
        <p:spPr>
          <a:xfrm>
            <a:off x="7726680" y="3264408"/>
            <a:ext cx="1371600" cy="457200"/>
          </a:xfrm>
          <a:prstGeom prst="rect">
            <a:avLst/>
          </a:prstGeom>
          <a:noFill/>
          <a:ln/>
        </p:spPr>
        <p:txBody>
          <a:bodyPr wrap="square" lIns="0" tIns="0" rIns="0" bIns="0" rtlCol="0" anchor="ctr"/>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Chelsea</a:t>
            </a:r>
            <a:endParaRPr lang="en-US" sz="950" dirty="0"/>
          </a:p>
        </p:txBody>
      </p:sp>
      <p:sp>
        <p:nvSpPr>
          <p:cNvPr id="34" name="Text 31"/>
          <p:cNvSpPr/>
          <p:nvPr/>
        </p:nvSpPr>
        <p:spPr>
          <a:xfrm>
            <a:off x="9098280" y="3264408"/>
            <a:ext cx="2407615" cy="457200"/>
          </a:xfrm>
          <a:prstGeom prst="rect">
            <a:avLst/>
          </a:prstGeom>
          <a:noFill/>
          <a:ln/>
        </p:spPr>
        <p:txBody>
          <a:bodyPr wrap="square" lIns="0" tIns="0" rIns="0" bIns="0" rtlCol="0" anchor="ctr"/>
          <a:lstStyle/>
          <a:p>
            <a:pPr indent="0" marL="0">
              <a:lnSpc>
                <a:spcPct val="103000"/>
              </a:lnSpc>
              <a:buNone/>
            </a:pPr>
            <a:r>
              <a:rPr lang="en-US" sz="850" dirty="0">
                <a:solidFill>
                  <a:srgbClr val="E9DDD8"/>
                </a:solidFill>
                <a:latin typeface="Poppins" pitchFamily="34" charset="0"/>
                <a:ea typeface="Poppins" pitchFamily="34" charset="-122"/>
                <a:cs typeface="Poppins" pitchFamily="34" charset="-120"/>
              </a:rPr>
              <a:t>£430 jt belanja bersih, hanya 144,5 poin.</a:t>
            </a:r>
            <a:endParaRPr lang="en-US" sz="850" dirty="0"/>
          </a:p>
        </p:txBody>
      </p:sp>
      <p:sp>
        <p:nvSpPr>
          <p:cNvPr id="35" name="Shape 32"/>
          <p:cNvSpPr/>
          <p:nvPr/>
        </p:nvSpPr>
        <p:spPr>
          <a:xfrm>
            <a:off x="7543800" y="3831336"/>
            <a:ext cx="4099255" cy="548640"/>
          </a:xfrm>
          <a:prstGeom prst="rect">
            <a:avLst/>
          </a:prstGeom>
          <a:solidFill>
            <a:srgbClr val="381418"/>
          </a:solidFill>
          <a:ln w="12700">
            <a:solidFill>
              <a:srgbClr val="381418"/>
            </a:solidFill>
            <a:prstDash val="solid"/>
          </a:ln>
        </p:spPr>
      </p:sp>
      <p:sp>
        <p:nvSpPr>
          <p:cNvPr id="36" name="Text 33"/>
          <p:cNvSpPr/>
          <p:nvPr/>
        </p:nvSpPr>
        <p:spPr>
          <a:xfrm>
            <a:off x="7726680" y="3877056"/>
            <a:ext cx="1371600" cy="457200"/>
          </a:xfrm>
          <a:prstGeom prst="rect">
            <a:avLst/>
          </a:prstGeom>
          <a:noFill/>
          <a:ln/>
        </p:spPr>
        <p:txBody>
          <a:bodyPr wrap="square" lIns="0" tIns="0" rIns="0" bIns="0" rtlCol="0" anchor="ctr"/>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Barcelona</a:t>
            </a:r>
            <a:endParaRPr lang="en-US" sz="950" dirty="0"/>
          </a:p>
        </p:txBody>
      </p:sp>
      <p:sp>
        <p:nvSpPr>
          <p:cNvPr id="37" name="Text 34"/>
          <p:cNvSpPr/>
          <p:nvPr/>
        </p:nvSpPr>
        <p:spPr>
          <a:xfrm>
            <a:off x="9098280" y="3877056"/>
            <a:ext cx="2407615" cy="457200"/>
          </a:xfrm>
          <a:prstGeom prst="rect">
            <a:avLst/>
          </a:prstGeom>
          <a:noFill/>
          <a:ln/>
        </p:spPr>
        <p:txBody>
          <a:bodyPr wrap="square" lIns="0" tIns="0" rIns="0" bIns="0" rtlCol="0" anchor="ctr"/>
          <a:lstStyle/>
          <a:p>
            <a:pPr indent="0" marL="0">
              <a:lnSpc>
                <a:spcPct val="103000"/>
              </a:lnSpc>
              <a:buNone/>
            </a:pPr>
            <a:r>
              <a:rPr lang="en-US" sz="850" dirty="0">
                <a:solidFill>
                  <a:srgbClr val="E9DDD8"/>
                </a:solidFill>
                <a:latin typeface="Poppins" pitchFamily="34" charset="0"/>
                <a:ea typeface="Poppins" pitchFamily="34" charset="-122"/>
                <a:cs typeface="Poppins" pitchFamily="34" charset="-120"/>
              </a:rPr>
              <a:t>Satu-satunya yang mengungguli MU, dengan belanja 2,5× lipat.</a:t>
            </a:r>
            <a:endParaRPr lang="en-US" sz="850" dirty="0"/>
          </a:p>
        </p:txBody>
      </p:sp>
      <p:sp>
        <p:nvSpPr>
          <p:cNvPr id="38" name="Shape 35"/>
          <p:cNvSpPr/>
          <p:nvPr/>
        </p:nvSpPr>
        <p:spPr>
          <a:xfrm>
            <a:off x="7543800" y="4443984"/>
            <a:ext cx="4099255" cy="548640"/>
          </a:xfrm>
          <a:prstGeom prst="rect">
            <a:avLst/>
          </a:prstGeom>
          <a:solidFill>
            <a:srgbClr val="2B0F11"/>
          </a:solidFill>
          <a:ln w="12700">
            <a:solidFill>
              <a:srgbClr val="2B0F11"/>
            </a:solidFill>
            <a:prstDash val="solid"/>
          </a:ln>
        </p:spPr>
      </p:sp>
      <p:sp>
        <p:nvSpPr>
          <p:cNvPr id="39" name="Text 36"/>
          <p:cNvSpPr/>
          <p:nvPr/>
        </p:nvSpPr>
        <p:spPr>
          <a:xfrm>
            <a:off x="7726680" y="4489704"/>
            <a:ext cx="1371600" cy="457200"/>
          </a:xfrm>
          <a:prstGeom prst="rect">
            <a:avLst/>
          </a:prstGeom>
          <a:noFill/>
          <a:ln/>
        </p:spPr>
        <p:txBody>
          <a:bodyPr wrap="square" lIns="0" tIns="0" rIns="0" bIns="0" rtlCol="0" anchor="ctr"/>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Kata kasus sendiri</a:t>
            </a:r>
            <a:endParaRPr lang="en-US" sz="950" dirty="0"/>
          </a:p>
        </p:txBody>
      </p:sp>
      <p:sp>
        <p:nvSpPr>
          <p:cNvPr id="40" name="Text 37"/>
          <p:cNvSpPr/>
          <p:nvPr/>
        </p:nvSpPr>
        <p:spPr>
          <a:xfrm>
            <a:off x="9098280" y="4489704"/>
            <a:ext cx="2407615" cy="457200"/>
          </a:xfrm>
          <a:prstGeom prst="rect">
            <a:avLst/>
          </a:prstGeom>
          <a:noFill/>
          <a:ln/>
        </p:spPr>
        <p:txBody>
          <a:bodyPr wrap="square" lIns="0" tIns="0" rIns="0" bIns="0" rtlCol="0" anchor="ctr"/>
          <a:lstStyle/>
          <a:p>
            <a:pPr indent="0" marL="0">
              <a:lnSpc>
                <a:spcPct val="103000"/>
              </a:lnSpc>
              <a:buNone/>
            </a:pPr>
            <a:r>
              <a:rPr lang="en-US" sz="850" dirty="0">
                <a:solidFill>
                  <a:srgbClr val="E9DDD8"/>
                </a:solidFill>
                <a:latin typeface="Poppins" pitchFamily="34" charset="0"/>
                <a:ea typeface="Poppins" pitchFamily="34" charset="-122"/>
                <a:cs typeface="Poppins" pitchFamily="34" charset="-120"/>
              </a:rPr>
              <a:t>Belanja bersih MU "relatif sederhana" (hlm. 586).</a:t>
            </a:r>
            <a:endParaRPr lang="en-US" sz="850" dirty="0"/>
          </a:p>
        </p:txBody>
      </p:sp>
      <p:sp>
        <p:nvSpPr>
          <p:cNvPr id="41" name="Shape 38"/>
          <p:cNvSpPr/>
          <p:nvPr/>
        </p:nvSpPr>
        <p:spPr>
          <a:xfrm>
            <a:off x="548640" y="5184648"/>
            <a:ext cx="11094415" cy="731520"/>
          </a:xfrm>
          <a:prstGeom prst="rect">
            <a:avLst/>
          </a:prstGeom>
          <a:solidFill>
            <a:srgbClr val="DA291C"/>
          </a:solidFill>
          <a:ln w="12700">
            <a:solidFill>
              <a:srgbClr val="DA291C"/>
            </a:solidFill>
            <a:prstDash val="solid"/>
          </a:ln>
        </p:spPr>
      </p:sp>
      <p:sp>
        <p:nvSpPr>
          <p:cNvPr id="42" name="Text 39"/>
          <p:cNvSpPr/>
          <p:nvPr/>
        </p:nvSpPr>
        <p:spPr>
          <a:xfrm>
            <a:off x="777240" y="53126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JAWABAN Q1</a:t>
            </a:r>
            <a:endParaRPr lang="en-US" sz="800" dirty="0"/>
          </a:p>
        </p:txBody>
      </p:sp>
      <p:sp>
        <p:nvSpPr>
          <p:cNvPr id="43" name="Text 40"/>
          <p:cNvSpPr/>
          <p:nvPr/>
        </p:nvSpPr>
        <p:spPr>
          <a:xfrm>
            <a:off x="777240" y="5550408"/>
            <a:ext cx="10637215"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Strategi MU bekerja sangat baik. Kedua indikator Thompson terpenuhi sekaligus, di industri yang mayoritas pelakunya merugi. Yang harus dijelaskan pertanyaan berikutnya: kenapa bisa begitu.</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2  ·  DITERAPKAN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24</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SWOT MANCHESTER UNITED, JULI 2009</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Semua temuan Q1 dirangkum, lalu ditarik kesimpulan sesuai langkah 2 dan 3 Figure 4.2, bukan berhenti di daftar.</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24</a:t>
            </a:r>
            <a:endParaRPr lang="en-US" sz="900" dirty="0"/>
          </a:p>
        </p:txBody>
      </p:sp>
      <p:sp>
        <p:nvSpPr>
          <p:cNvPr id="13" name="Shape 10"/>
          <p:cNvSpPr/>
          <p:nvPr/>
        </p:nvSpPr>
        <p:spPr>
          <a:xfrm>
            <a:off x="548640" y="1755648"/>
            <a:ext cx="5432908" cy="1572768"/>
          </a:xfrm>
          <a:prstGeom prst="rect">
            <a:avLst/>
          </a:prstGeom>
          <a:solidFill>
            <a:srgbClr val="DA291C"/>
          </a:solidFill>
          <a:ln w="12700">
            <a:solidFill>
              <a:srgbClr val="DA291C"/>
            </a:solidFill>
            <a:prstDash val="solid"/>
          </a:ln>
        </p:spPr>
      </p:sp>
      <p:sp>
        <p:nvSpPr>
          <p:cNvPr id="14" name="Text 11"/>
          <p:cNvSpPr/>
          <p:nvPr/>
        </p:nvSpPr>
        <p:spPr>
          <a:xfrm>
            <a:off x="731520" y="1828800"/>
            <a:ext cx="822960" cy="731520"/>
          </a:xfrm>
          <a:prstGeom prst="rect">
            <a:avLst/>
          </a:prstGeom>
          <a:noFill/>
          <a:ln/>
        </p:spPr>
        <p:txBody>
          <a:bodyPr wrap="square" lIns="0" tIns="0" rIns="0" bIns="0" rtlCol="0" anchor="t"/>
          <a:lstStyle/>
          <a:p>
            <a:pPr indent="0" marL="0">
              <a:buNone/>
            </a:pPr>
            <a:r>
              <a:rPr lang="en-US" sz="3600" dirty="0">
                <a:solidFill>
                  <a:srgbClr val="FBE122"/>
                </a:solidFill>
                <a:latin typeface="Poppins ExtraBold" pitchFamily="34" charset="0"/>
                <a:ea typeface="Poppins ExtraBold" pitchFamily="34" charset="-122"/>
                <a:cs typeface="Poppins ExtraBold" pitchFamily="34" charset="-120"/>
              </a:rPr>
              <a:t>S</a:t>
            </a:r>
            <a:endParaRPr lang="en-US" sz="3600" dirty="0"/>
          </a:p>
        </p:txBody>
      </p:sp>
      <p:sp>
        <p:nvSpPr>
          <p:cNvPr id="15" name="Text 12"/>
          <p:cNvSpPr/>
          <p:nvPr/>
        </p:nvSpPr>
        <p:spPr>
          <a:xfrm>
            <a:off x="1508760" y="1883664"/>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Strengths</a:t>
            </a:r>
            <a:endParaRPr lang="en-US" sz="1200" dirty="0"/>
          </a:p>
        </p:txBody>
      </p:sp>
      <p:sp>
        <p:nvSpPr>
          <p:cNvPr id="16" name="Text 13"/>
          <p:cNvSpPr/>
          <p:nvPr/>
        </p:nvSpPr>
        <p:spPr>
          <a:xfrm>
            <a:off x="1508760" y="2167128"/>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Merek global dengan 80 juta pendukung di Asia</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Laba tertinggi di antara klub besar: EBITDA €101,9 jt, RoS 12,6%</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Akademi dan jaringan pemandu bakat yang matang</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Disiplin transfer: belanja bersih hanya £100 jt</a:t>
            </a:r>
            <a:endParaRPr lang="en-US" sz="1000" dirty="0"/>
          </a:p>
        </p:txBody>
      </p:sp>
      <p:sp>
        <p:nvSpPr>
          <p:cNvPr id="17" name="Shape 14"/>
          <p:cNvSpPr/>
          <p:nvPr/>
        </p:nvSpPr>
        <p:spPr>
          <a:xfrm>
            <a:off x="6210148" y="1755648"/>
            <a:ext cx="5432908" cy="1572768"/>
          </a:xfrm>
          <a:prstGeom prst="rect">
            <a:avLst/>
          </a:prstGeom>
          <a:solidFill>
            <a:srgbClr val="2B0F11"/>
          </a:solidFill>
          <a:ln w="12700">
            <a:solidFill>
              <a:srgbClr val="2B0F11"/>
            </a:solidFill>
            <a:prstDash val="solid"/>
          </a:ln>
        </p:spPr>
      </p:sp>
      <p:sp>
        <p:nvSpPr>
          <p:cNvPr id="18" name="Text 15"/>
          <p:cNvSpPr/>
          <p:nvPr/>
        </p:nvSpPr>
        <p:spPr>
          <a:xfrm>
            <a:off x="6393028" y="1828800"/>
            <a:ext cx="822960" cy="731520"/>
          </a:xfrm>
          <a:prstGeom prst="rect">
            <a:avLst/>
          </a:prstGeom>
          <a:noFill/>
          <a:ln/>
        </p:spPr>
        <p:txBody>
          <a:bodyPr wrap="square" lIns="0" tIns="0" rIns="0" bIns="0" rtlCol="0" anchor="t"/>
          <a:lstStyle/>
          <a:p>
            <a:pPr indent="0" marL="0">
              <a:buNone/>
            </a:pPr>
            <a:r>
              <a:rPr lang="en-US" sz="3600" dirty="0">
                <a:solidFill>
                  <a:srgbClr val="DA291C"/>
                </a:solidFill>
                <a:latin typeface="Poppins ExtraBold" pitchFamily="34" charset="0"/>
                <a:ea typeface="Poppins ExtraBold" pitchFamily="34" charset="-122"/>
                <a:cs typeface="Poppins ExtraBold" pitchFamily="34" charset="-120"/>
              </a:rPr>
              <a:t>W</a:t>
            </a:r>
            <a:endParaRPr lang="en-US" sz="3600" dirty="0"/>
          </a:p>
        </p:txBody>
      </p:sp>
      <p:sp>
        <p:nvSpPr>
          <p:cNvPr id="19" name="Text 16"/>
          <p:cNvSpPr/>
          <p:nvPr/>
        </p:nvSpPr>
        <p:spPr>
          <a:xfrm>
            <a:off x="7170268" y="1883664"/>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Weaknesses</a:t>
            </a:r>
            <a:endParaRPr lang="en-US" sz="1200" dirty="0"/>
          </a:p>
        </p:txBody>
      </p:sp>
      <p:sp>
        <p:nvSpPr>
          <p:cNvPr id="20" name="Text 17"/>
          <p:cNvSpPr/>
          <p:nvPr/>
        </p:nvSpPr>
        <p:spPr>
          <a:xfrm>
            <a:off x="7170268" y="2167128"/>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E9DDD8"/>
                </a:solidFill>
                <a:latin typeface="Poppins" pitchFamily="34" charset="0"/>
                <a:ea typeface="Poppins" pitchFamily="34" charset="-122"/>
                <a:cs typeface="Poppins" pitchFamily="34" charset="-120"/>
              </a:rPr>
              <a:t>Bergantung pada satu orang yang akhir 2009 berusia 68 tahun</a:t>
            </a:r>
            <a:endParaRPr lang="en-US" sz="1000" dirty="0"/>
          </a:p>
          <a:p>
            <a:pPr marL="152400" indent="-152400">
              <a:lnSpc>
                <a:spcPct val="102000"/>
              </a:lnSpc>
              <a:spcAft>
                <a:spcPts val="300"/>
              </a:spcAft>
              <a:buSzPct val="100000"/>
              <a:buChar char="•"/>
            </a:pPr>
            <a:r>
              <a:rPr lang="en-US" sz="900" dirty="0">
                <a:solidFill>
                  <a:srgbClr val="E9DDD8"/>
                </a:solidFill>
                <a:latin typeface="Poppins" pitchFamily="34" charset="0"/>
                <a:ea typeface="Poppins" pitchFamily="34" charset="-122"/>
                <a:cs typeface="Poppins" pitchFamily="34" charset="-120"/>
              </a:rPr>
              <a:t>Belum ada keputusan suksesi; Ferguson belum menyatakan niat pensiun</a:t>
            </a:r>
            <a:endParaRPr lang="en-US" sz="1000" dirty="0"/>
          </a:p>
          <a:p>
            <a:pPr marL="152400" indent="-152400">
              <a:lnSpc>
                <a:spcPct val="102000"/>
              </a:lnSpc>
              <a:spcAft>
                <a:spcPts val="300"/>
              </a:spcAft>
              <a:buSzPct val="100000"/>
              <a:buChar char="•"/>
            </a:pPr>
            <a:r>
              <a:rPr lang="en-US" sz="900" dirty="0">
                <a:solidFill>
                  <a:srgbClr val="E9DDD8"/>
                </a:solidFill>
                <a:latin typeface="Poppins" pitchFamily="34" charset="0"/>
                <a:ea typeface="Poppins" pitchFamily="34" charset="-122"/>
                <a:cs typeface="Poppins" pitchFamily="34" charset="-120"/>
              </a:rPr>
              <a:t>Ronaldo, satu-satunya pemain MU di peringkat FIFA, baru dijual</a:t>
            </a:r>
            <a:endParaRPr lang="en-US" sz="1000" dirty="0"/>
          </a:p>
          <a:p>
            <a:pPr marL="152400" indent="-152400">
              <a:lnSpc>
                <a:spcPct val="102000"/>
              </a:lnSpc>
              <a:spcAft>
                <a:spcPts val="300"/>
              </a:spcAft>
              <a:buSzPct val="100000"/>
              <a:buChar char="•"/>
            </a:pPr>
            <a:r>
              <a:rPr lang="en-US" sz="900" dirty="0">
                <a:solidFill>
                  <a:srgbClr val="E9DDD8"/>
                </a:solidFill>
                <a:latin typeface="Poppins" pitchFamily="34" charset="0"/>
                <a:ea typeface="Poppins" pitchFamily="34" charset="-122"/>
                <a:cs typeface="Poppins" pitchFamily="34" charset="-120"/>
              </a:rPr>
              <a:t>Utang £616 jt; akuisisi Glazer 2005 dibiayai utang</a:t>
            </a:r>
            <a:endParaRPr lang="en-US" sz="1000" dirty="0"/>
          </a:p>
        </p:txBody>
      </p:sp>
      <p:sp>
        <p:nvSpPr>
          <p:cNvPr id="21" name="Shape 18"/>
          <p:cNvSpPr/>
          <p:nvPr/>
        </p:nvSpPr>
        <p:spPr>
          <a:xfrm>
            <a:off x="548640" y="3511296"/>
            <a:ext cx="5432908" cy="1572768"/>
          </a:xfrm>
          <a:prstGeom prst="rect">
            <a:avLst/>
          </a:prstGeom>
          <a:solidFill>
            <a:srgbClr val="2B0F11"/>
          </a:solidFill>
          <a:ln w="12700">
            <a:solidFill>
              <a:srgbClr val="2B0F11"/>
            </a:solidFill>
            <a:prstDash val="solid"/>
          </a:ln>
        </p:spPr>
      </p:sp>
      <p:sp>
        <p:nvSpPr>
          <p:cNvPr id="22" name="Text 19"/>
          <p:cNvSpPr/>
          <p:nvPr/>
        </p:nvSpPr>
        <p:spPr>
          <a:xfrm>
            <a:off x="731520" y="3584448"/>
            <a:ext cx="822960" cy="731520"/>
          </a:xfrm>
          <a:prstGeom prst="rect">
            <a:avLst/>
          </a:prstGeom>
          <a:noFill/>
          <a:ln/>
        </p:spPr>
        <p:txBody>
          <a:bodyPr wrap="square" lIns="0" tIns="0" rIns="0" bIns="0" rtlCol="0" anchor="t"/>
          <a:lstStyle/>
          <a:p>
            <a:pPr indent="0" marL="0">
              <a:buNone/>
            </a:pPr>
            <a:r>
              <a:rPr lang="en-US" sz="3600" dirty="0">
                <a:solidFill>
                  <a:srgbClr val="DA291C"/>
                </a:solidFill>
                <a:latin typeface="Poppins ExtraBold" pitchFamily="34" charset="0"/>
                <a:ea typeface="Poppins ExtraBold" pitchFamily="34" charset="-122"/>
                <a:cs typeface="Poppins ExtraBold" pitchFamily="34" charset="-120"/>
              </a:rPr>
              <a:t>O</a:t>
            </a:r>
            <a:endParaRPr lang="en-US" sz="3600" dirty="0"/>
          </a:p>
        </p:txBody>
      </p:sp>
      <p:sp>
        <p:nvSpPr>
          <p:cNvPr id="23" name="Text 20"/>
          <p:cNvSpPr/>
          <p:nvPr/>
        </p:nvSpPr>
        <p:spPr>
          <a:xfrm>
            <a:off x="1508760" y="3639312"/>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Opportunities</a:t>
            </a:r>
            <a:endParaRPr lang="en-US" sz="1200" dirty="0"/>
          </a:p>
        </p:txBody>
      </p:sp>
      <p:sp>
        <p:nvSpPr>
          <p:cNvPr id="24" name="Text 21"/>
          <p:cNvSpPr/>
          <p:nvPr/>
        </p:nvSpPr>
        <p:spPr>
          <a:xfrm>
            <a:off x="1508760" y="3922776"/>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E9DDD8"/>
                </a:solidFill>
                <a:latin typeface="Poppins" pitchFamily="34" charset="0"/>
                <a:ea typeface="Poppins" pitchFamily="34" charset="-122"/>
                <a:cs typeface="Poppins" pitchFamily="34" charset="-120"/>
              </a:rPr>
              <a:t>Pasar Asia: India dan Cina disebut Aon sebagai target utama</a:t>
            </a:r>
            <a:endParaRPr lang="en-US" sz="1000" dirty="0"/>
          </a:p>
          <a:p>
            <a:pPr marL="152400" indent="-152400">
              <a:lnSpc>
                <a:spcPct val="102000"/>
              </a:lnSpc>
              <a:spcAft>
                <a:spcPts val="300"/>
              </a:spcAft>
              <a:buSzPct val="100000"/>
              <a:buChar char="•"/>
            </a:pPr>
            <a:r>
              <a:rPr lang="en-US" sz="900" dirty="0">
                <a:solidFill>
                  <a:srgbClr val="E9DDD8"/>
                </a:solidFill>
                <a:latin typeface="Poppins" pitchFamily="34" charset="0"/>
                <a:ea typeface="Poppins" pitchFamily="34" charset="-122"/>
                <a:cs typeface="Poppins" pitchFamily="34" charset="-120"/>
              </a:rPr>
              <a:t>Sponsor khusus per negara masih bisa diperbanyak</a:t>
            </a:r>
            <a:endParaRPr lang="en-US" sz="1000" dirty="0"/>
          </a:p>
          <a:p>
            <a:pPr marL="152400" indent="-152400">
              <a:lnSpc>
                <a:spcPct val="102000"/>
              </a:lnSpc>
              <a:spcAft>
                <a:spcPts val="300"/>
              </a:spcAft>
              <a:buSzPct val="100000"/>
              <a:buChar char="•"/>
            </a:pPr>
            <a:r>
              <a:rPr lang="en-US" sz="900" dirty="0">
                <a:solidFill>
                  <a:srgbClr val="E9DDD8"/>
                </a:solidFill>
                <a:latin typeface="Poppins" pitchFamily="34" charset="0"/>
                <a:ea typeface="Poppins" pitchFamily="34" charset="-122"/>
                <a:cs typeface="Poppins" pitchFamily="34" charset="-120"/>
              </a:rPr>
              <a:t>Pendapatan siaran Premier League naik 43% dalam setahun</a:t>
            </a:r>
            <a:endParaRPr lang="en-US" sz="1000" dirty="0"/>
          </a:p>
          <a:p>
            <a:pPr marL="152400" indent="-152400">
              <a:lnSpc>
                <a:spcPct val="102000"/>
              </a:lnSpc>
              <a:spcAft>
                <a:spcPts val="300"/>
              </a:spcAft>
              <a:buSzPct val="100000"/>
              <a:buChar char="•"/>
            </a:pPr>
            <a:r>
              <a:rPr lang="en-US" sz="900" dirty="0">
                <a:solidFill>
                  <a:srgbClr val="E9DDD8"/>
                </a:solidFill>
                <a:latin typeface="Poppins" pitchFamily="34" charset="0"/>
                <a:ea typeface="Poppins" pitchFamily="34" charset="-122"/>
                <a:cs typeface="Poppins" pitchFamily="34" charset="-120"/>
              </a:rPr>
              <a:t>Kanal digital: MUTV, MU Mobile, toko online</a:t>
            </a:r>
            <a:endParaRPr lang="en-US" sz="1000" dirty="0"/>
          </a:p>
        </p:txBody>
      </p:sp>
      <p:sp>
        <p:nvSpPr>
          <p:cNvPr id="25" name="Shape 22"/>
          <p:cNvSpPr/>
          <p:nvPr/>
        </p:nvSpPr>
        <p:spPr>
          <a:xfrm>
            <a:off x="6210148" y="3511296"/>
            <a:ext cx="5432908" cy="1572768"/>
          </a:xfrm>
          <a:prstGeom prst="rect">
            <a:avLst/>
          </a:prstGeom>
          <a:solidFill>
            <a:srgbClr val="DA291C"/>
          </a:solidFill>
          <a:ln w="12700">
            <a:solidFill>
              <a:srgbClr val="DA291C"/>
            </a:solidFill>
            <a:prstDash val="solid"/>
          </a:ln>
        </p:spPr>
      </p:sp>
      <p:sp>
        <p:nvSpPr>
          <p:cNvPr id="26" name="Text 23"/>
          <p:cNvSpPr/>
          <p:nvPr/>
        </p:nvSpPr>
        <p:spPr>
          <a:xfrm>
            <a:off x="6393028" y="3584448"/>
            <a:ext cx="822960" cy="731520"/>
          </a:xfrm>
          <a:prstGeom prst="rect">
            <a:avLst/>
          </a:prstGeom>
          <a:noFill/>
          <a:ln/>
        </p:spPr>
        <p:txBody>
          <a:bodyPr wrap="square" lIns="0" tIns="0" rIns="0" bIns="0" rtlCol="0" anchor="t"/>
          <a:lstStyle/>
          <a:p>
            <a:pPr indent="0" marL="0">
              <a:buNone/>
            </a:pPr>
            <a:r>
              <a:rPr lang="en-US" sz="3600" dirty="0">
                <a:solidFill>
                  <a:srgbClr val="FBE122"/>
                </a:solidFill>
                <a:latin typeface="Poppins ExtraBold" pitchFamily="34" charset="0"/>
                <a:ea typeface="Poppins ExtraBold" pitchFamily="34" charset="-122"/>
                <a:cs typeface="Poppins ExtraBold" pitchFamily="34" charset="-120"/>
              </a:rPr>
              <a:t>T</a:t>
            </a:r>
            <a:endParaRPr lang="en-US" sz="3600" dirty="0"/>
          </a:p>
        </p:txBody>
      </p:sp>
      <p:sp>
        <p:nvSpPr>
          <p:cNvPr id="27" name="Text 24"/>
          <p:cNvSpPr/>
          <p:nvPr/>
        </p:nvSpPr>
        <p:spPr>
          <a:xfrm>
            <a:off x="7170268" y="3639312"/>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Threats</a:t>
            </a:r>
            <a:endParaRPr lang="en-US" sz="1200" dirty="0"/>
          </a:p>
        </p:txBody>
      </p:sp>
      <p:sp>
        <p:nvSpPr>
          <p:cNvPr id="28" name="Text 25"/>
          <p:cNvSpPr/>
          <p:nvPr/>
        </p:nvSpPr>
        <p:spPr>
          <a:xfrm>
            <a:off x="7170268" y="3922776"/>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Harga pemain meledak, didorong Manchester City (£185 jt)</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Pesaing berpemilik sangat kaya: Abramovich, Sheikh Mansour</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MU tak dapat suntikan dana pemilik seperti Chelsea dan City</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Barcelona unggul poin performa (200,0 vs 192,5)</a:t>
            </a:r>
            <a:endParaRPr lang="en-US" sz="1000" dirty="0"/>
          </a:p>
        </p:txBody>
      </p:sp>
      <p:sp>
        <p:nvSpPr>
          <p:cNvPr id="29" name="Shape 26"/>
          <p:cNvSpPr/>
          <p:nvPr/>
        </p:nvSpPr>
        <p:spPr>
          <a:xfrm>
            <a:off x="548640" y="5266944"/>
            <a:ext cx="11094415" cy="777240"/>
          </a:xfrm>
          <a:prstGeom prst="rect">
            <a:avLst/>
          </a:prstGeom>
          <a:solidFill>
            <a:srgbClr val="381418"/>
          </a:solidFill>
          <a:ln w="12700">
            <a:solidFill>
              <a:srgbClr val="381418"/>
            </a:solidFill>
            <a:prstDash val="solid"/>
          </a:ln>
        </p:spPr>
      </p:sp>
      <p:sp>
        <p:nvSpPr>
          <p:cNvPr id="30" name="Text 27"/>
          <p:cNvSpPr/>
          <p:nvPr/>
        </p:nvSpPr>
        <p:spPr>
          <a:xfrm>
            <a:off x="777240" y="5394960"/>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KESIMPULAN  ·  LANGKAH 2</a:t>
            </a:r>
            <a:endParaRPr lang="en-US" sz="800" dirty="0"/>
          </a:p>
        </p:txBody>
      </p:sp>
      <p:sp>
        <p:nvSpPr>
          <p:cNvPr id="31" name="Text 28"/>
          <p:cNvSpPr/>
          <p:nvPr/>
        </p:nvSpPr>
        <p:spPr>
          <a:xfrm>
            <a:off x="777240" y="5632704"/>
            <a:ext cx="10637215" cy="320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Kekuatan MU cukup untuk menangkap peluang komersial di Asia. Tapi kelemahan terbesarnya, ketergantungan pada Ferguson, menyerang sisi lapangan, padahal bagi Gill sisi lapangan adalah syarat mengalirnya pendapatan komersial.</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3  ·  DITERAPKAN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25</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INVENTARISASI RESOURCE MANCHESTER UNITED</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Langkah pertama Q3: mendaftar aset bersaing klub memakai delapan kategori Table 4.3, semuanya berdasarkan bukti dari kasus.</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25</a:t>
            </a:r>
            <a:endParaRPr lang="en-US" sz="900" dirty="0"/>
          </a:p>
        </p:txBody>
      </p:sp>
      <p:sp>
        <p:nvSpPr>
          <p:cNvPr id="13" name="Shape 10"/>
          <p:cNvSpPr/>
          <p:nvPr/>
        </p:nvSpPr>
        <p:spPr>
          <a:xfrm>
            <a:off x="548640" y="1755648"/>
            <a:ext cx="5432908" cy="384048"/>
          </a:xfrm>
          <a:prstGeom prst="rect">
            <a:avLst/>
          </a:prstGeom>
          <a:solidFill>
            <a:srgbClr val="DA291C"/>
          </a:solidFill>
          <a:ln w="12700">
            <a:solidFill>
              <a:srgbClr val="DA291C"/>
            </a:solidFill>
            <a:prstDash val="solid"/>
          </a:ln>
        </p:spPr>
      </p:sp>
      <p:sp>
        <p:nvSpPr>
          <p:cNvPr id="14" name="Text 11"/>
          <p:cNvSpPr/>
          <p:nvPr/>
        </p:nvSpPr>
        <p:spPr>
          <a:xfrm>
            <a:off x="768096" y="1755648"/>
            <a:ext cx="5432908" cy="384048"/>
          </a:xfrm>
          <a:prstGeom prst="rect">
            <a:avLst/>
          </a:prstGeom>
          <a:noFill/>
          <a:ln/>
        </p:spPr>
        <p:txBody>
          <a:bodyPr wrap="square" lIns="0" tIns="0" rIns="0" bIns="0" rtlCol="0" anchor="ctr"/>
          <a:lstStyle/>
          <a:p>
            <a:pPr indent="0" marL="0">
              <a:buNone/>
            </a:pPr>
            <a:r>
              <a:rPr lang="en-US" sz="1200" spc="200" kern="0" dirty="0">
                <a:solidFill>
                  <a:srgbClr val="FFFFFF"/>
                </a:solidFill>
                <a:latin typeface="Poppins ExtraBold" pitchFamily="34" charset="0"/>
                <a:ea typeface="Poppins ExtraBold" pitchFamily="34" charset="-122"/>
                <a:cs typeface="Poppins ExtraBold" pitchFamily="34" charset="-120"/>
              </a:rPr>
              <a:t>TANGIBLE</a:t>
            </a:r>
            <a:endParaRPr lang="en-US" sz="1200" dirty="0"/>
          </a:p>
        </p:txBody>
      </p:sp>
      <p:sp>
        <p:nvSpPr>
          <p:cNvPr id="15" name="Shape 12"/>
          <p:cNvSpPr/>
          <p:nvPr/>
        </p:nvSpPr>
        <p:spPr>
          <a:xfrm>
            <a:off x="548640" y="2139696"/>
            <a:ext cx="5432908" cy="694944"/>
          </a:xfrm>
          <a:prstGeom prst="rect">
            <a:avLst/>
          </a:prstGeom>
          <a:solidFill>
            <a:srgbClr val="2B0F11"/>
          </a:solidFill>
          <a:ln w="12700">
            <a:solidFill>
              <a:srgbClr val="2B0F11"/>
            </a:solidFill>
            <a:prstDash val="solid"/>
          </a:ln>
        </p:spPr>
      </p:sp>
      <p:sp>
        <p:nvSpPr>
          <p:cNvPr id="16" name="Text 13"/>
          <p:cNvSpPr/>
          <p:nvPr/>
        </p:nvSpPr>
        <p:spPr>
          <a:xfrm>
            <a:off x="768096" y="2212848"/>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Finansial</a:t>
            </a:r>
            <a:endParaRPr lang="en-US" sz="1000" dirty="0"/>
          </a:p>
        </p:txBody>
      </p:sp>
      <p:sp>
        <p:nvSpPr>
          <p:cNvPr id="17" name="Text 14"/>
          <p:cNvSpPr/>
          <p:nvPr/>
        </p:nvSpPr>
        <p:spPr>
          <a:xfrm>
            <a:off x="2331720" y="2194560"/>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EBITDA €101,9 jt, tertinggi di Table 6.5; laba bersih 2008 £46,8 jt; ekuitas £294 jt.</a:t>
            </a:r>
            <a:endParaRPr lang="en-US" sz="850" dirty="0"/>
          </a:p>
        </p:txBody>
      </p:sp>
      <p:sp>
        <p:nvSpPr>
          <p:cNvPr id="18" name="Shape 15"/>
          <p:cNvSpPr/>
          <p:nvPr/>
        </p:nvSpPr>
        <p:spPr>
          <a:xfrm>
            <a:off x="548640" y="2852928"/>
            <a:ext cx="5432908" cy="694944"/>
          </a:xfrm>
          <a:prstGeom prst="rect">
            <a:avLst/>
          </a:prstGeom>
          <a:solidFill>
            <a:srgbClr val="381418"/>
          </a:solidFill>
          <a:ln w="12700">
            <a:solidFill>
              <a:srgbClr val="381418"/>
            </a:solidFill>
            <a:prstDash val="solid"/>
          </a:ln>
        </p:spPr>
      </p:sp>
      <p:sp>
        <p:nvSpPr>
          <p:cNvPr id="19" name="Text 16"/>
          <p:cNvSpPr/>
          <p:nvPr/>
        </p:nvSpPr>
        <p:spPr>
          <a:xfrm>
            <a:off x="768096" y="2926080"/>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Fisik</a:t>
            </a:r>
            <a:endParaRPr lang="en-US" sz="1000" dirty="0"/>
          </a:p>
        </p:txBody>
      </p:sp>
      <p:sp>
        <p:nvSpPr>
          <p:cNvPr id="20" name="Text 17"/>
          <p:cNvSpPr/>
          <p:nvPr/>
        </p:nvSpPr>
        <p:spPr>
          <a:xfrm>
            <a:off x="2331720" y="2907792"/>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Old Trafford, diperluas 2006 dengan tambahan 7.500 kursi; museum, tur stadion, suite dan ballroom.</a:t>
            </a:r>
            <a:endParaRPr lang="en-US" sz="850" dirty="0"/>
          </a:p>
        </p:txBody>
      </p:sp>
      <p:sp>
        <p:nvSpPr>
          <p:cNvPr id="21" name="Shape 18"/>
          <p:cNvSpPr/>
          <p:nvPr/>
        </p:nvSpPr>
        <p:spPr>
          <a:xfrm>
            <a:off x="548640" y="3566160"/>
            <a:ext cx="5432908" cy="694944"/>
          </a:xfrm>
          <a:prstGeom prst="rect">
            <a:avLst/>
          </a:prstGeom>
          <a:solidFill>
            <a:srgbClr val="2B0F11"/>
          </a:solidFill>
          <a:ln w="12700">
            <a:solidFill>
              <a:srgbClr val="2B0F11"/>
            </a:solidFill>
            <a:prstDash val="solid"/>
          </a:ln>
        </p:spPr>
      </p:sp>
      <p:sp>
        <p:nvSpPr>
          <p:cNvPr id="22" name="Text 19"/>
          <p:cNvSpPr/>
          <p:nvPr/>
        </p:nvSpPr>
        <p:spPr>
          <a:xfrm>
            <a:off x="768096" y="3639312"/>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Teknologi</a:t>
            </a:r>
            <a:endParaRPr lang="en-US" sz="1000" dirty="0"/>
          </a:p>
        </p:txBody>
      </p:sp>
      <p:sp>
        <p:nvSpPr>
          <p:cNvPr id="23" name="Text 20"/>
          <p:cNvSpPr/>
          <p:nvPr/>
        </p:nvSpPr>
        <p:spPr>
          <a:xfrm>
            <a:off x="2331720" y="3621024"/>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MUTV (siaran web), MU Mobile (SMS dan video), toko online store.manutd.com.</a:t>
            </a:r>
            <a:endParaRPr lang="en-US" sz="850" dirty="0"/>
          </a:p>
        </p:txBody>
      </p:sp>
      <p:sp>
        <p:nvSpPr>
          <p:cNvPr id="24" name="Shape 21"/>
          <p:cNvSpPr/>
          <p:nvPr/>
        </p:nvSpPr>
        <p:spPr>
          <a:xfrm>
            <a:off x="548640" y="4279392"/>
            <a:ext cx="5432908" cy="694944"/>
          </a:xfrm>
          <a:prstGeom prst="rect">
            <a:avLst/>
          </a:prstGeom>
          <a:solidFill>
            <a:srgbClr val="381418"/>
          </a:solidFill>
          <a:ln w="12700">
            <a:solidFill>
              <a:srgbClr val="381418"/>
            </a:solidFill>
            <a:prstDash val="solid"/>
          </a:ln>
        </p:spPr>
      </p:sp>
      <p:sp>
        <p:nvSpPr>
          <p:cNvPr id="25" name="Text 22"/>
          <p:cNvSpPr/>
          <p:nvPr/>
        </p:nvSpPr>
        <p:spPr>
          <a:xfrm>
            <a:off x="768096" y="4352544"/>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Organisasional</a:t>
            </a:r>
            <a:endParaRPr lang="en-US" sz="1000" dirty="0"/>
          </a:p>
        </p:txBody>
      </p:sp>
      <p:sp>
        <p:nvSpPr>
          <p:cNvPr id="26" name="Text 23"/>
          <p:cNvSpPr/>
          <p:nvPr/>
        </p:nvSpPr>
        <p:spPr>
          <a:xfrm>
            <a:off x="2331720" y="4334256"/>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Urusan tim (Ferguson) terpisah dari komersial (Gill; direktur komersial Richard Arnold); MU International.</a:t>
            </a:r>
            <a:endParaRPr lang="en-US" sz="850" dirty="0"/>
          </a:p>
        </p:txBody>
      </p:sp>
      <p:sp>
        <p:nvSpPr>
          <p:cNvPr id="27" name="Shape 24"/>
          <p:cNvSpPr/>
          <p:nvPr/>
        </p:nvSpPr>
        <p:spPr>
          <a:xfrm>
            <a:off x="6210148" y="1755648"/>
            <a:ext cx="5432908" cy="384048"/>
          </a:xfrm>
          <a:prstGeom prst="rect">
            <a:avLst/>
          </a:prstGeom>
          <a:solidFill>
            <a:srgbClr val="FBE122"/>
          </a:solidFill>
          <a:ln w="12700">
            <a:solidFill>
              <a:srgbClr val="FBE122"/>
            </a:solidFill>
            <a:prstDash val="solid"/>
          </a:ln>
        </p:spPr>
      </p:sp>
      <p:sp>
        <p:nvSpPr>
          <p:cNvPr id="28" name="Text 25"/>
          <p:cNvSpPr/>
          <p:nvPr/>
        </p:nvSpPr>
        <p:spPr>
          <a:xfrm>
            <a:off x="6429604" y="1755648"/>
            <a:ext cx="5432908" cy="384048"/>
          </a:xfrm>
          <a:prstGeom prst="rect">
            <a:avLst/>
          </a:prstGeom>
          <a:noFill/>
          <a:ln/>
        </p:spPr>
        <p:txBody>
          <a:bodyPr wrap="square" lIns="0" tIns="0" rIns="0" bIns="0" rtlCol="0" anchor="ctr"/>
          <a:lstStyle/>
          <a:p>
            <a:pPr indent="0" marL="0">
              <a:buNone/>
            </a:pPr>
            <a:r>
              <a:rPr lang="en-US" sz="1200" spc="200" kern="0" dirty="0">
                <a:solidFill>
                  <a:srgbClr val="1A0809"/>
                </a:solidFill>
                <a:latin typeface="Poppins ExtraBold" pitchFamily="34" charset="0"/>
                <a:ea typeface="Poppins ExtraBold" pitchFamily="34" charset="-122"/>
                <a:cs typeface="Poppins ExtraBold" pitchFamily="34" charset="-120"/>
              </a:rPr>
              <a:t>INTANGIBLE</a:t>
            </a:r>
            <a:endParaRPr lang="en-US" sz="1200" dirty="0"/>
          </a:p>
        </p:txBody>
      </p:sp>
      <p:sp>
        <p:nvSpPr>
          <p:cNvPr id="29" name="Shape 26"/>
          <p:cNvSpPr/>
          <p:nvPr/>
        </p:nvSpPr>
        <p:spPr>
          <a:xfrm>
            <a:off x="6210148" y="2139696"/>
            <a:ext cx="5432908" cy="694944"/>
          </a:xfrm>
          <a:prstGeom prst="rect">
            <a:avLst/>
          </a:prstGeom>
          <a:solidFill>
            <a:srgbClr val="2B0F11"/>
          </a:solidFill>
          <a:ln w="12700">
            <a:solidFill>
              <a:srgbClr val="2B0F11"/>
            </a:solidFill>
            <a:prstDash val="solid"/>
          </a:ln>
        </p:spPr>
      </p:sp>
      <p:sp>
        <p:nvSpPr>
          <p:cNvPr id="30" name="Text 27"/>
          <p:cNvSpPr/>
          <p:nvPr/>
        </p:nvSpPr>
        <p:spPr>
          <a:xfrm>
            <a:off x="6429604" y="2212848"/>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Human assets</a:t>
            </a:r>
            <a:endParaRPr lang="en-US" sz="1000" dirty="0"/>
          </a:p>
        </p:txBody>
      </p:sp>
      <p:sp>
        <p:nvSpPr>
          <p:cNvPr id="31" name="Text 28"/>
          <p:cNvSpPr/>
          <p:nvPr/>
        </p:nvSpPr>
        <p:spPr>
          <a:xfrm>
            <a:off x="7993228" y="2194560"/>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Ferguson sejak 1986; skuad 34 pemain; lebih dari 20 pemandu bakat. Ronaldo, peringkat 1 FIFA, dijual 2009.</a:t>
            </a:r>
            <a:endParaRPr lang="en-US" sz="850" dirty="0"/>
          </a:p>
        </p:txBody>
      </p:sp>
      <p:sp>
        <p:nvSpPr>
          <p:cNvPr id="32" name="Shape 29"/>
          <p:cNvSpPr/>
          <p:nvPr/>
        </p:nvSpPr>
        <p:spPr>
          <a:xfrm>
            <a:off x="6210148" y="2852928"/>
            <a:ext cx="5432908" cy="694944"/>
          </a:xfrm>
          <a:prstGeom prst="rect">
            <a:avLst/>
          </a:prstGeom>
          <a:solidFill>
            <a:srgbClr val="381418"/>
          </a:solidFill>
          <a:ln w="12700">
            <a:solidFill>
              <a:srgbClr val="381418"/>
            </a:solidFill>
            <a:prstDash val="solid"/>
          </a:ln>
        </p:spPr>
      </p:sp>
      <p:sp>
        <p:nvSpPr>
          <p:cNvPr id="33" name="Text 30"/>
          <p:cNvSpPr/>
          <p:nvPr/>
        </p:nvSpPr>
        <p:spPr>
          <a:xfrm>
            <a:off x="6429604" y="2926080"/>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Merek &amp; reputasi</a:t>
            </a:r>
            <a:endParaRPr lang="en-US" sz="1000" dirty="0"/>
          </a:p>
        </p:txBody>
      </p:sp>
      <p:sp>
        <p:nvSpPr>
          <p:cNvPr id="34" name="Text 31"/>
          <p:cNvSpPr/>
          <p:nvPr/>
        </p:nvSpPr>
        <p:spPr>
          <a:xfrm>
            <a:off x="7993228" y="2907792"/>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80 juta pendukung di Asia; sub-merek Fred the Red, MUFC, Red Devil. Menurut Aon, tak tertandingi di dunia olahraga.</a:t>
            </a:r>
            <a:endParaRPr lang="en-US" sz="850" dirty="0"/>
          </a:p>
        </p:txBody>
      </p:sp>
      <p:sp>
        <p:nvSpPr>
          <p:cNvPr id="35" name="Shape 32"/>
          <p:cNvSpPr/>
          <p:nvPr/>
        </p:nvSpPr>
        <p:spPr>
          <a:xfrm>
            <a:off x="6210148" y="3566160"/>
            <a:ext cx="5432908" cy="694944"/>
          </a:xfrm>
          <a:prstGeom prst="rect">
            <a:avLst/>
          </a:prstGeom>
          <a:solidFill>
            <a:srgbClr val="2B0F11"/>
          </a:solidFill>
          <a:ln w="12700">
            <a:solidFill>
              <a:srgbClr val="2B0F11"/>
            </a:solidFill>
            <a:prstDash val="solid"/>
          </a:ln>
        </p:spPr>
      </p:sp>
      <p:sp>
        <p:nvSpPr>
          <p:cNvPr id="36" name="Text 33"/>
          <p:cNvSpPr/>
          <p:nvPr/>
        </p:nvSpPr>
        <p:spPr>
          <a:xfrm>
            <a:off x="6429604" y="3639312"/>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Relasi</a:t>
            </a:r>
            <a:endParaRPr lang="en-US" sz="1000" dirty="0"/>
          </a:p>
        </p:txBody>
      </p:sp>
      <p:sp>
        <p:nvSpPr>
          <p:cNvPr id="37" name="Text 34"/>
          <p:cNvSpPr/>
          <p:nvPr/>
        </p:nvSpPr>
        <p:spPr>
          <a:xfrm>
            <a:off x="7993228" y="3621024"/>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Nike dan AIG (diganti Aon, £80 jt/4 tahun), ditambah 13 sponsor lain, termasuk Tri Indonesia dan Bharti Airtel.</a:t>
            </a:r>
            <a:endParaRPr lang="en-US" sz="850" dirty="0"/>
          </a:p>
        </p:txBody>
      </p:sp>
      <p:sp>
        <p:nvSpPr>
          <p:cNvPr id="38" name="Shape 35"/>
          <p:cNvSpPr/>
          <p:nvPr/>
        </p:nvSpPr>
        <p:spPr>
          <a:xfrm>
            <a:off x="6210148" y="4279392"/>
            <a:ext cx="5432908" cy="694944"/>
          </a:xfrm>
          <a:prstGeom prst="rect">
            <a:avLst/>
          </a:prstGeom>
          <a:solidFill>
            <a:srgbClr val="381418"/>
          </a:solidFill>
          <a:ln w="12700">
            <a:solidFill>
              <a:srgbClr val="381418"/>
            </a:solidFill>
            <a:prstDash val="solid"/>
          </a:ln>
        </p:spPr>
      </p:sp>
      <p:sp>
        <p:nvSpPr>
          <p:cNvPr id="39" name="Text 36"/>
          <p:cNvSpPr/>
          <p:nvPr/>
        </p:nvSpPr>
        <p:spPr>
          <a:xfrm>
            <a:off x="6429604" y="4352544"/>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Budaya &amp; insentif</a:t>
            </a:r>
            <a:endParaRPr lang="en-US" sz="1000" dirty="0"/>
          </a:p>
        </p:txBody>
      </p:sp>
      <p:sp>
        <p:nvSpPr>
          <p:cNvPr id="40" name="Text 37"/>
          <p:cNvSpPr/>
          <p:nvPr/>
        </p:nvSpPr>
        <p:spPr>
          <a:xfrm>
            <a:off x="7993228" y="4334256"/>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E9DDD8"/>
                </a:solidFill>
                <a:latin typeface="Poppins" pitchFamily="34" charset="0"/>
                <a:ea typeface="Poppins" pitchFamily="34" charset="-122"/>
                <a:cs typeface="Poppins" pitchFamily="34" charset="-120"/>
              </a:rPr>
              <a:t>Disiplin latihan ketat, perang terhadap alkohol, prinsip "tidak ada pemain yang lebih besar dari klub".</a:t>
            </a:r>
            <a:endParaRPr lang="en-US" sz="850" dirty="0"/>
          </a:p>
        </p:txBody>
      </p:sp>
      <p:sp>
        <p:nvSpPr>
          <p:cNvPr id="41" name="Shape 38"/>
          <p:cNvSpPr/>
          <p:nvPr/>
        </p:nvSpPr>
        <p:spPr>
          <a:xfrm>
            <a:off x="548640" y="5184648"/>
            <a:ext cx="11094415" cy="731520"/>
          </a:xfrm>
          <a:prstGeom prst="rect">
            <a:avLst/>
          </a:prstGeom>
          <a:solidFill>
            <a:srgbClr val="DA291C"/>
          </a:solidFill>
          <a:ln w="12700">
            <a:solidFill>
              <a:srgbClr val="DA291C"/>
            </a:solidFill>
            <a:prstDash val="solid"/>
          </a:ln>
        </p:spPr>
      </p:sp>
      <p:sp>
        <p:nvSpPr>
          <p:cNvPr id="42" name="Text 39"/>
          <p:cNvSpPr/>
          <p:nvPr/>
        </p:nvSpPr>
        <p:spPr>
          <a:xfrm>
            <a:off x="777240" y="53126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PERHATIKAN KOMPOSISINYA</a:t>
            </a:r>
            <a:endParaRPr lang="en-US" sz="800" dirty="0"/>
          </a:p>
        </p:txBody>
      </p:sp>
      <p:sp>
        <p:nvSpPr>
          <p:cNvPr id="43" name="Text 40"/>
          <p:cNvSpPr/>
          <p:nvPr/>
        </p:nvSpPr>
        <p:spPr>
          <a:xfrm>
            <a:off x="777240" y="5550408"/>
            <a:ext cx="10637215"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Aset yang paling membedakan MU ada di kolom kanan, yang tidak berwujud. Itu yang membuat klub ini unggul, dan sekaligus rapuh, karena sebagian aset tak berwujud melekat pada orang, dan orang bisa pergi.</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3  ·  DITERAPKAN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26</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CAPABILITY MU, DAN MANA YANG CORE COMPETENCE</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Kami pakai tingkatan di slide 7: mana yang sekadar competence, mana yang distinctive competence, dan mana yang benar-benar core competence.</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26</a:t>
            </a:r>
            <a:endParaRPr lang="en-US" sz="900" dirty="0"/>
          </a:p>
        </p:txBody>
      </p:sp>
      <p:sp>
        <p:nvSpPr>
          <p:cNvPr id="13" name="Shape 10"/>
          <p:cNvSpPr/>
          <p:nvPr/>
        </p:nvSpPr>
        <p:spPr>
          <a:xfrm>
            <a:off x="548640" y="1755648"/>
            <a:ext cx="3545738" cy="1481328"/>
          </a:xfrm>
          <a:prstGeom prst="rect">
            <a:avLst/>
          </a:prstGeom>
          <a:solidFill>
            <a:srgbClr val="DA291C"/>
          </a:solidFill>
          <a:ln w="12700">
            <a:solidFill>
              <a:srgbClr val="DA291C"/>
            </a:solidFill>
            <a:prstDash val="solid"/>
          </a:ln>
        </p:spPr>
      </p:sp>
      <p:sp>
        <p:nvSpPr>
          <p:cNvPr id="14" name="Shape 11"/>
          <p:cNvSpPr/>
          <p:nvPr/>
        </p:nvSpPr>
        <p:spPr>
          <a:xfrm>
            <a:off x="548640" y="1755648"/>
            <a:ext cx="54864" cy="1481328"/>
          </a:xfrm>
          <a:prstGeom prst="rect">
            <a:avLst/>
          </a:prstGeom>
          <a:solidFill>
            <a:srgbClr val="FBE122"/>
          </a:solidFill>
          <a:ln w="12700">
            <a:solidFill>
              <a:srgbClr val="FBE122"/>
            </a:solidFill>
            <a:prstDash val="solid"/>
          </a:ln>
        </p:spPr>
      </p:sp>
      <p:sp>
        <p:nvSpPr>
          <p:cNvPr id="15" name="Text 12"/>
          <p:cNvSpPr/>
          <p:nvPr/>
        </p:nvSpPr>
        <p:spPr>
          <a:xfrm>
            <a:off x="768096" y="1901952"/>
            <a:ext cx="317997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CORE COMPETENCE</a:t>
            </a:r>
            <a:endParaRPr lang="en-US" sz="800" dirty="0"/>
          </a:p>
        </p:txBody>
      </p:sp>
      <p:sp>
        <p:nvSpPr>
          <p:cNvPr id="16" name="Text 13"/>
          <p:cNvSpPr/>
          <p:nvPr/>
        </p:nvSpPr>
        <p:spPr>
          <a:xfrm>
            <a:off x="768096" y="2148840"/>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Mengenali dan mengembangkan bakat</a:t>
            </a:r>
            <a:endParaRPr lang="en-US" sz="1150" dirty="0"/>
          </a:p>
        </p:txBody>
      </p:sp>
      <p:sp>
        <p:nvSpPr>
          <p:cNvPr id="17" name="Text 14"/>
          <p:cNvSpPr/>
          <p:nvPr/>
        </p:nvSpPr>
        <p:spPr>
          <a:xfrm>
            <a:off x="768096" y="2478024"/>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Pemandu bakat dari 5 jadi lebih dari 20 orang; Youth Academy; dua pemandu bakat penuh waktu di Brasil sejak 2008.</a:t>
            </a:r>
            <a:endParaRPr lang="en-US" sz="850" dirty="0"/>
          </a:p>
        </p:txBody>
      </p:sp>
      <p:sp>
        <p:nvSpPr>
          <p:cNvPr id="18" name="Shape 15"/>
          <p:cNvSpPr/>
          <p:nvPr/>
        </p:nvSpPr>
        <p:spPr>
          <a:xfrm>
            <a:off x="4322978" y="1755648"/>
            <a:ext cx="3545738" cy="1481328"/>
          </a:xfrm>
          <a:prstGeom prst="rect">
            <a:avLst/>
          </a:prstGeom>
          <a:solidFill>
            <a:srgbClr val="DA291C"/>
          </a:solidFill>
          <a:ln w="12700">
            <a:solidFill>
              <a:srgbClr val="DA291C"/>
            </a:solidFill>
            <a:prstDash val="solid"/>
          </a:ln>
        </p:spPr>
      </p:sp>
      <p:sp>
        <p:nvSpPr>
          <p:cNvPr id="19" name="Shape 16"/>
          <p:cNvSpPr/>
          <p:nvPr/>
        </p:nvSpPr>
        <p:spPr>
          <a:xfrm>
            <a:off x="4322978" y="1755648"/>
            <a:ext cx="54864" cy="1481328"/>
          </a:xfrm>
          <a:prstGeom prst="rect">
            <a:avLst/>
          </a:prstGeom>
          <a:solidFill>
            <a:srgbClr val="FBE122"/>
          </a:solidFill>
          <a:ln w="12700">
            <a:solidFill>
              <a:srgbClr val="FBE122"/>
            </a:solidFill>
            <a:prstDash val="solid"/>
          </a:ln>
        </p:spPr>
      </p:sp>
      <p:sp>
        <p:nvSpPr>
          <p:cNvPr id="20" name="Text 17"/>
          <p:cNvSpPr/>
          <p:nvPr/>
        </p:nvSpPr>
        <p:spPr>
          <a:xfrm>
            <a:off x="4542434" y="1901952"/>
            <a:ext cx="317997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CORE COMPETENCE</a:t>
            </a:r>
            <a:endParaRPr lang="en-US" sz="800" dirty="0"/>
          </a:p>
        </p:txBody>
      </p:sp>
      <p:sp>
        <p:nvSpPr>
          <p:cNvPr id="21" name="Text 18"/>
          <p:cNvSpPr/>
          <p:nvPr/>
        </p:nvSpPr>
        <p:spPr>
          <a:xfrm>
            <a:off x="4542434" y="2148840"/>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Membentuk dan merotasi tim</a:t>
            </a:r>
            <a:endParaRPr lang="en-US" sz="1150" dirty="0"/>
          </a:p>
        </p:txBody>
      </p:sp>
      <p:sp>
        <p:nvSpPr>
          <p:cNvPr id="22" name="Text 19"/>
          <p:cNvSpPr/>
          <p:nvPr/>
        </p:nvSpPr>
        <p:spPr>
          <a:xfrm>
            <a:off x="4542434" y="2478024"/>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Memadukan pemain muda dengan pemain berpengalaman. Kasus menyebut Ferguson pelopor rotasi skuad.</a:t>
            </a:r>
            <a:endParaRPr lang="en-US" sz="850" dirty="0"/>
          </a:p>
        </p:txBody>
      </p:sp>
      <p:sp>
        <p:nvSpPr>
          <p:cNvPr id="23" name="Shape 20"/>
          <p:cNvSpPr/>
          <p:nvPr/>
        </p:nvSpPr>
        <p:spPr>
          <a:xfrm>
            <a:off x="8097317" y="1755648"/>
            <a:ext cx="3545738" cy="1481328"/>
          </a:xfrm>
          <a:prstGeom prst="rect">
            <a:avLst/>
          </a:prstGeom>
          <a:solidFill>
            <a:srgbClr val="DA291C"/>
          </a:solidFill>
          <a:ln w="12700">
            <a:solidFill>
              <a:srgbClr val="DA291C"/>
            </a:solidFill>
            <a:prstDash val="solid"/>
          </a:ln>
        </p:spPr>
      </p:sp>
      <p:sp>
        <p:nvSpPr>
          <p:cNvPr id="24" name="Shape 21"/>
          <p:cNvSpPr/>
          <p:nvPr/>
        </p:nvSpPr>
        <p:spPr>
          <a:xfrm>
            <a:off x="8097317" y="1755648"/>
            <a:ext cx="54864" cy="1481328"/>
          </a:xfrm>
          <a:prstGeom prst="rect">
            <a:avLst/>
          </a:prstGeom>
          <a:solidFill>
            <a:srgbClr val="FBE122"/>
          </a:solidFill>
          <a:ln w="12700">
            <a:solidFill>
              <a:srgbClr val="FBE122"/>
            </a:solidFill>
            <a:prstDash val="solid"/>
          </a:ln>
        </p:spPr>
      </p:sp>
      <p:sp>
        <p:nvSpPr>
          <p:cNvPr id="25" name="Text 22"/>
          <p:cNvSpPr/>
          <p:nvPr/>
        </p:nvSpPr>
        <p:spPr>
          <a:xfrm>
            <a:off x="8316773" y="1901952"/>
            <a:ext cx="317997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CORE COMPETENCE</a:t>
            </a:r>
            <a:endParaRPr lang="en-US" sz="800" dirty="0"/>
          </a:p>
        </p:txBody>
      </p:sp>
      <p:sp>
        <p:nvSpPr>
          <p:cNvPr id="26" name="Text 23"/>
          <p:cNvSpPr/>
          <p:nvPr/>
        </p:nvSpPr>
        <p:spPr>
          <a:xfrm>
            <a:off x="8316773" y="2148840"/>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Mengubah merek jadi uang</a:t>
            </a:r>
            <a:endParaRPr lang="en-US" sz="1150" dirty="0"/>
          </a:p>
        </p:txBody>
      </p:sp>
      <p:sp>
        <p:nvSpPr>
          <p:cNvPr id="27" name="Text 24"/>
          <p:cNvSpPr/>
          <p:nvPr/>
        </p:nvSpPr>
        <p:spPr>
          <a:xfrm>
            <a:off x="8316773" y="2478024"/>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Sponsor khusus Indonesia dan India, sub-merek per usia, MU Finance, MU Mobile, MUTV, Soccer Schools, tur Asia.</a:t>
            </a:r>
            <a:endParaRPr lang="en-US" sz="850" dirty="0"/>
          </a:p>
        </p:txBody>
      </p:sp>
      <p:sp>
        <p:nvSpPr>
          <p:cNvPr id="28" name="Shape 25"/>
          <p:cNvSpPr/>
          <p:nvPr/>
        </p:nvSpPr>
        <p:spPr>
          <a:xfrm>
            <a:off x="548640" y="3419856"/>
            <a:ext cx="3545738" cy="1481328"/>
          </a:xfrm>
          <a:prstGeom prst="rect">
            <a:avLst/>
          </a:prstGeom>
          <a:solidFill>
            <a:srgbClr val="2B0F11"/>
          </a:solidFill>
          <a:ln w="12700">
            <a:solidFill>
              <a:srgbClr val="2B0F11"/>
            </a:solidFill>
            <a:prstDash val="solid"/>
          </a:ln>
        </p:spPr>
      </p:sp>
      <p:sp>
        <p:nvSpPr>
          <p:cNvPr id="29" name="Shape 26"/>
          <p:cNvSpPr/>
          <p:nvPr/>
        </p:nvSpPr>
        <p:spPr>
          <a:xfrm>
            <a:off x="548640" y="3419856"/>
            <a:ext cx="54864" cy="1481328"/>
          </a:xfrm>
          <a:prstGeom prst="rect">
            <a:avLst/>
          </a:prstGeom>
          <a:solidFill>
            <a:srgbClr val="DA291C"/>
          </a:solidFill>
          <a:ln w="12700">
            <a:solidFill>
              <a:srgbClr val="DA291C"/>
            </a:solidFill>
            <a:prstDash val="solid"/>
          </a:ln>
        </p:spPr>
      </p:sp>
      <p:sp>
        <p:nvSpPr>
          <p:cNvPr id="30" name="Text 27"/>
          <p:cNvSpPr/>
          <p:nvPr/>
        </p:nvSpPr>
        <p:spPr>
          <a:xfrm>
            <a:off x="768096" y="3566160"/>
            <a:ext cx="3179978" cy="228600"/>
          </a:xfrm>
          <a:prstGeom prst="rect">
            <a:avLst/>
          </a:prstGeom>
          <a:noFill/>
          <a:ln/>
        </p:spPr>
        <p:txBody>
          <a:bodyPr wrap="square" lIns="0" tIns="0" rIns="0" bIns="0" rtlCol="0" anchor="t"/>
          <a:lstStyle/>
          <a:p>
            <a:pPr indent="0" marL="0">
              <a:buNone/>
            </a:pPr>
            <a:r>
              <a:rPr lang="en-US" sz="800" spc="150" kern="0" dirty="0">
                <a:solidFill>
                  <a:srgbClr val="DA291C"/>
                </a:solidFill>
                <a:latin typeface="Poppins SemiBold" pitchFamily="34" charset="0"/>
                <a:ea typeface="Poppins SemiBold" pitchFamily="34" charset="-122"/>
                <a:cs typeface="Poppins SemiBold" pitchFamily="34" charset="-120"/>
              </a:rPr>
              <a:t>DISTINCTIVE COMPETENCE</a:t>
            </a:r>
            <a:endParaRPr lang="en-US" sz="800" dirty="0"/>
          </a:p>
        </p:txBody>
      </p:sp>
      <p:sp>
        <p:nvSpPr>
          <p:cNvPr id="31" name="Text 28"/>
          <p:cNvSpPr/>
          <p:nvPr/>
        </p:nvSpPr>
        <p:spPr>
          <a:xfrm>
            <a:off x="768096" y="3813048"/>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Disiplin di pasar transfer</a:t>
            </a:r>
            <a:endParaRPr lang="en-US" sz="1150" dirty="0"/>
          </a:p>
        </p:txBody>
      </p:sp>
      <p:sp>
        <p:nvSpPr>
          <p:cNvPr id="32" name="Text 29"/>
          <p:cNvSpPr/>
          <p:nvPr/>
        </p:nvSpPr>
        <p:spPr>
          <a:xfrm>
            <a:off x="768096" y="4142232"/>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E9DDD8"/>
                </a:solidFill>
                <a:latin typeface="Poppins" pitchFamily="34" charset="0"/>
                <a:ea typeface="Poppins" pitchFamily="34" charset="-122"/>
                <a:cs typeface="Poppins" pitchFamily="34" charset="-120"/>
              </a:rPr>
              <a:t>Belanja kotor £322 jt, bersih £100 jt. Mau menjual pemain yang dihargai lebih tinggi klub lain, seperti Ronaldo (£80 jt).</a:t>
            </a:r>
            <a:endParaRPr lang="en-US" sz="850" dirty="0"/>
          </a:p>
        </p:txBody>
      </p:sp>
      <p:sp>
        <p:nvSpPr>
          <p:cNvPr id="33" name="Shape 30"/>
          <p:cNvSpPr/>
          <p:nvPr/>
        </p:nvSpPr>
        <p:spPr>
          <a:xfrm>
            <a:off x="4322978" y="3419856"/>
            <a:ext cx="3545738" cy="1481328"/>
          </a:xfrm>
          <a:prstGeom prst="rect">
            <a:avLst/>
          </a:prstGeom>
          <a:solidFill>
            <a:srgbClr val="2B0F11"/>
          </a:solidFill>
          <a:ln w="12700">
            <a:solidFill>
              <a:srgbClr val="2B0F11"/>
            </a:solidFill>
            <a:prstDash val="solid"/>
          </a:ln>
        </p:spPr>
      </p:sp>
      <p:sp>
        <p:nvSpPr>
          <p:cNvPr id="34" name="Shape 31"/>
          <p:cNvSpPr/>
          <p:nvPr/>
        </p:nvSpPr>
        <p:spPr>
          <a:xfrm>
            <a:off x="4322978" y="3419856"/>
            <a:ext cx="54864" cy="1481328"/>
          </a:xfrm>
          <a:prstGeom prst="rect">
            <a:avLst/>
          </a:prstGeom>
          <a:solidFill>
            <a:srgbClr val="DA291C"/>
          </a:solidFill>
          <a:ln w="12700">
            <a:solidFill>
              <a:srgbClr val="DA291C"/>
            </a:solidFill>
            <a:prstDash val="solid"/>
          </a:ln>
        </p:spPr>
      </p:sp>
      <p:sp>
        <p:nvSpPr>
          <p:cNvPr id="35" name="Text 32"/>
          <p:cNvSpPr/>
          <p:nvPr/>
        </p:nvSpPr>
        <p:spPr>
          <a:xfrm>
            <a:off x="4542434" y="3566160"/>
            <a:ext cx="3179978" cy="228600"/>
          </a:xfrm>
          <a:prstGeom prst="rect">
            <a:avLst/>
          </a:prstGeom>
          <a:noFill/>
          <a:ln/>
        </p:spPr>
        <p:txBody>
          <a:bodyPr wrap="square" lIns="0" tIns="0" rIns="0" bIns="0" rtlCol="0" anchor="t"/>
          <a:lstStyle/>
          <a:p>
            <a:pPr indent="0" marL="0">
              <a:buNone/>
            </a:pPr>
            <a:r>
              <a:rPr lang="en-US" sz="800" spc="150" kern="0" dirty="0">
                <a:solidFill>
                  <a:srgbClr val="DA291C"/>
                </a:solidFill>
                <a:latin typeface="Poppins SemiBold" pitchFamily="34" charset="0"/>
                <a:ea typeface="Poppins SemiBold" pitchFamily="34" charset="-122"/>
                <a:cs typeface="Poppins SemiBold" pitchFamily="34" charset="-120"/>
              </a:rPr>
              <a:t>DISTINCTIVE COMPETENCE</a:t>
            </a:r>
            <a:endParaRPr lang="en-US" sz="800" dirty="0"/>
          </a:p>
        </p:txBody>
      </p:sp>
      <p:sp>
        <p:nvSpPr>
          <p:cNvPr id="36" name="Text 33"/>
          <p:cNvSpPr/>
          <p:nvPr/>
        </p:nvSpPr>
        <p:spPr>
          <a:xfrm>
            <a:off x="4542434" y="3813048"/>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Tata kelola klub</a:t>
            </a:r>
            <a:endParaRPr lang="en-US" sz="1150" dirty="0"/>
          </a:p>
        </p:txBody>
      </p:sp>
      <p:sp>
        <p:nvSpPr>
          <p:cNvPr id="37" name="Text 34"/>
          <p:cNvSpPr/>
          <p:nvPr/>
        </p:nvSpPr>
        <p:spPr>
          <a:xfrm>
            <a:off x="4542434" y="4142232"/>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E9DDD8"/>
                </a:solidFill>
                <a:latin typeface="Poppins" pitchFamily="34" charset="0"/>
                <a:ea typeface="Poppins" pitchFamily="34" charset="-122"/>
                <a:cs typeface="Poppins" pitchFamily="34" charset="-120"/>
              </a:rPr>
              <a:t>Kasus: klub Inggris "paling berhasil membangun tata kelola yang efektif". Glazer memilih peran pasif.</a:t>
            </a:r>
            <a:endParaRPr lang="en-US" sz="850" dirty="0"/>
          </a:p>
        </p:txBody>
      </p:sp>
      <p:sp>
        <p:nvSpPr>
          <p:cNvPr id="38" name="Shape 35"/>
          <p:cNvSpPr/>
          <p:nvPr/>
        </p:nvSpPr>
        <p:spPr>
          <a:xfrm>
            <a:off x="8097317" y="3419856"/>
            <a:ext cx="3545738" cy="1481328"/>
          </a:xfrm>
          <a:prstGeom prst="rect">
            <a:avLst/>
          </a:prstGeom>
          <a:solidFill>
            <a:srgbClr val="2B0F11"/>
          </a:solidFill>
          <a:ln w="12700">
            <a:solidFill>
              <a:srgbClr val="2B0F11"/>
            </a:solidFill>
            <a:prstDash val="solid"/>
          </a:ln>
        </p:spPr>
      </p:sp>
      <p:sp>
        <p:nvSpPr>
          <p:cNvPr id="39" name="Shape 36"/>
          <p:cNvSpPr/>
          <p:nvPr/>
        </p:nvSpPr>
        <p:spPr>
          <a:xfrm>
            <a:off x="8097317" y="3419856"/>
            <a:ext cx="54864" cy="1481328"/>
          </a:xfrm>
          <a:prstGeom prst="rect">
            <a:avLst/>
          </a:prstGeom>
          <a:solidFill>
            <a:srgbClr val="A8928E"/>
          </a:solidFill>
          <a:ln w="12700">
            <a:solidFill>
              <a:srgbClr val="A8928E"/>
            </a:solidFill>
            <a:prstDash val="solid"/>
          </a:ln>
        </p:spPr>
      </p:sp>
      <p:sp>
        <p:nvSpPr>
          <p:cNvPr id="40" name="Text 37"/>
          <p:cNvSpPr/>
          <p:nvPr/>
        </p:nvSpPr>
        <p:spPr>
          <a:xfrm>
            <a:off x="8316773" y="3566160"/>
            <a:ext cx="3179978" cy="228600"/>
          </a:xfrm>
          <a:prstGeom prst="rect">
            <a:avLst/>
          </a:prstGeom>
          <a:noFill/>
          <a:ln/>
        </p:spPr>
        <p:txBody>
          <a:bodyPr wrap="square" lIns="0" tIns="0" rIns="0" bIns="0" rtlCol="0" anchor="t"/>
          <a:lstStyle/>
          <a:p>
            <a:pPr indent="0" marL="0">
              <a:buNone/>
            </a:pPr>
            <a:r>
              <a:rPr lang="en-US" sz="800" spc="150" kern="0" dirty="0">
                <a:solidFill>
                  <a:srgbClr val="A8928E"/>
                </a:solidFill>
                <a:latin typeface="Poppins SemiBold" pitchFamily="34" charset="0"/>
                <a:ea typeface="Poppins SemiBold" pitchFamily="34" charset="-122"/>
                <a:cs typeface="Poppins SemiBold" pitchFamily="34" charset="-120"/>
              </a:rPr>
              <a:t>COMPETENCE</a:t>
            </a:r>
            <a:endParaRPr lang="en-US" sz="800" dirty="0"/>
          </a:p>
        </p:txBody>
      </p:sp>
      <p:sp>
        <p:nvSpPr>
          <p:cNvPr id="41" name="Text 38"/>
          <p:cNvSpPr/>
          <p:nvPr/>
        </p:nvSpPr>
        <p:spPr>
          <a:xfrm>
            <a:off x="8316773" y="3813048"/>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Mengelola stadion dan acara</a:t>
            </a:r>
            <a:endParaRPr lang="en-US" sz="1150" dirty="0"/>
          </a:p>
        </p:txBody>
      </p:sp>
      <p:sp>
        <p:nvSpPr>
          <p:cNvPr id="42" name="Text 39"/>
          <p:cNvSpPr/>
          <p:nvPr/>
        </p:nvSpPr>
        <p:spPr>
          <a:xfrm>
            <a:off x="8316773" y="4142232"/>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E9DDD8"/>
                </a:solidFill>
                <a:latin typeface="Poppins" pitchFamily="34" charset="0"/>
                <a:ea typeface="Poppins" pitchFamily="34" charset="-122"/>
                <a:cs typeface="Poppins" pitchFamily="34" charset="-120"/>
              </a:rPr>
              <a:t>Old Trafford disewakan untuk konferensi dan pernikahan; museum dan tur. Dikerjakan baik, tapi klub besar lain juga melakukannya.</a:t>
            </a:r>
            <a:endParaRPr lang="en-US" sz="850" dirty="0"/>
          </a:p>
        </p:txBody>
      </p:sp>
      <p:sp>
        <p:nvSpPr>
          <p:cNvPr id="43" name="Shape 40"/>
          <p:cNvSpPr/>
          <p:nvPr/>
        </p:nvSpPr>
        <p:spPr>
          <a:xfrm>
            <a:off x="548640" y="5084064"/>
            <a:ext cx="11094415" cy="777240"/>
          </a:xfrm>
          <a:prstGeom prst="rect">
            <a:avLst/>
          </a:prstGeom>
          <a:solidFill>
            <a:srgbClr val="381418"/>
          </a:solidFill>
          <a:ln w="12700">
            <a:solidFill>
              <a:srgbClr val="381418"/>
            </a:solidFill>
            <a:prstDash val="solid"/>
          </a:ln>
        </p:spPr>
      </p:sp>
      <p:sp>
        <p:nvSpPr>
          <p:cNvPr id="44" name="Text 41"/>
          <p:cNvSpPr/>
          <p:nvPr/>
        </p:nvSpPr>
        <p:spPr>
          <a:xfrm>
            <a:off x="777240" y="5212080"/>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YANG PERLU DISADARI</a:t>
            </a:r>
            <a:endParaRPr lang="en-US" sz="800" dirty="0"/>
          </a:p>
        </p:txBody>
      </p:sp>
      <p:sp>
        <p:nvSpPr>
          <p:cNvPr id="45" name="Text 42"/>
          <p:cNvSpPr/>
          <p:nvPr/>
        </p:nvSpPr>
        <p:spPr>
          <a:xfrm>
            <a:off x="777240" y="5449824"/>
            <a:ext cx="10637215" cy="320040"/>
          </a:xfrm>
          <a:prstGeom prst="rect">
            <a:avLst/>
          </a:prstGeom>
          <a:noFill/>
          <a:ln/>
        </p:spPr>
        <p:txBody>
          <a:bodyPr wrap="square" lIns="0" tIns="0" rIns="0" bIns="0" rtlCol="0" anchor="t"/>
          <a:lstStyle/>
          <a:p>
            <a:pPr indent="0" marL="0">
              <a:lnSpc>
                <a:spcPct val="108000"/>
              </a:lnSpc>
              <a:buNone/>
            </a:pPr>
            <a:r>
              <a:rPr lang="en-US" sz="1050" dirty="0">
                <a:solidFill>
                  <a:srgbClr val="FFFFFF"/>
                </a:solidFill>
                <a:latin typeface="Poppins Medium" pitchFamily="34" charset="0"/>
                <a:ea typeface="Poppins Medium" pitchFamily="34" charset="-122"/>
                <a:cs typeface="Poppins Medium" pitchFamily="34" charset="-120"/>
              </a:rPr>
              <a:t>Tiga capability yang langsung menentukan prestasi lapangan (bakat, tim, dan transfer) dibangun dan diarahkan oleh Ferguson. Tiga lainnya berdiri di luar dirinya.</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3  ·  VRIN TEST</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27</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DUA KEUNGGULAN, SAMA-SAMA LOLOS VRIN TEST</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Kami uji dua hal dengan empat saringan yang sama: sistem Ferguson, dan merek beserta mesin komersialnya.</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 Table 6.5 dan 6.8; hlm. 573 sampai 588.</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27</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11094415" cy="914400"/>
        </p:xfrm>
        <a:graphic>
          <a:graphicData uri="http://schemas.openxmlformats.org/drawingml/2006/table">
            <a:tbl>
              <a:tblPr/>
              <a:tblGrid>
                <a:gridCol w="1554480"/>
                <a:gridCol w="4754880"/>
                <a:gridCol w="4754880"/>
              </a:tblGrid>
              <a:tr h="329184">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Tes</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Sistem Ferguson</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Merek &amp; mesin komersial</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r>
              <a:tr h="71323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Valuable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l" indent="0" marL="0">
                        <a:buNone/>
                      </a:pPr>
                      <a:r>
                        <a:rPr lang="en-US" sz="900" dirty="0">
                          <a:solidFill>
                            <a:srgbClr val="E9DDD8"/>
                          </a:solidFill>
                          <a:latin typeface="Poppins" pitchFamily="34" charset="0"/>
                          <a:ea typeface="Poppins" pitchFamily="34" charset="-122"/>
                          <a:cs typeface="Poppins" pitchFamily="34" charset="-120"/>
                        </a:rPr>
                        <a:t>LOLOS. Poin Eropa tertinggi, tiga gelar liga beruntun, Liga Champions 2008. Ferguson memenangi lebih banyak gelar daripada seluruh sejarah klub sebelumnya.</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l" indent="0" marL="0">
                        <a:buNone/>
                      </a:pPr>
                      <a:r>
                        <a:rPr lang="en-US" sz="900" dirty="0">
                          <a:solidFill>
                            <a:srgbClr val="E9DDD8"/>
                          </a:solidFill>
                          <a:latin typeface="Poppins" pitchFamily="34" charset="0"/>
                          <a:ea typeface="Poppins" pitchFamily="34" charset="-122"/>
                          <a:cs typeface="Poppins" pitchFamily="34" charset="-120"/>
                        </a:rPr>
                        <a:t>LOLOS. Aon membayar £80 jt untuk 4 tahun, atau £20 jt per tahun, dua kali lipat Chelsea dan Samsung (£10 jt per tahun).</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71323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Rare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l" indent="0" marL="0">
                        <a:buNone/>
                      </a:pPr>
                      <a:r>
                        <a:rPr lang="en-US" sz="900" dirty="0">
                          <a:solidFill>
                            <a:srgbClr val="E9DDD8"/>
                          </a:solidFill>
                          <a:latin typeface="Poppins" pitchFamily="34" charset="0"/>
                          <a:ea typeface="Poppins" pitchFamily="34" charset="-122"/>
                          <a:cs typeface="Poppins" pitchFamily="34" charset="-120"/>
                        </a:rPr>
                        <a:t>LOLOS. Table 6.8 hanya memuat 15 pelatih paling dihormati dunia; Ferguson paling lama di satu klub, sejak 1986.</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l" indent="0" marL="0">
                        <a:buNone/>
                      </a:pPr>
                      <a:r>
                        <a:rPr lang="en-US" sz="900" dirty="0">
                          <a:solidFill>
                            <a:srgbClr val="E9DDD8"/>
                          </a:solidFill>
                          <a:latin typeface="Poppins" pitchFamily="34" charset="0"/>
                          <a:ea typeface="Poppins" pitchFamily="34" charset="-122"/>
                          <a:cs typeface="Poppins" pitchFamily="34" charset="-120"/>
                        </a:rPr>
                        <a:t>LOLOS. Kasus hanya menyebut MU dan Real Madrid sebagai pemimpin eksploitasi merek global. MU punya 80 juta pendukung di Asia.</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r>
              <a:tr h="71323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Inimitable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l" indent="0" marL="0">
                        <a:buNone/>
                      </a:pPr>
                      <a:r>
                        <a:rPr lang="en-US" sz="900" dirty="0">
                          <a:solidFill>
                            <a:srgbClr val="E9DDD8"/>
                          </a:solidFill>
                          <a:latin typeface="Poppins" pitchFamily="34" charset="0"/>
                          <a:ea typeface="Poppins" pitchFamily="34" charset="-122"/>
                          <a:cs typeface="Poppins" pitchFamily="34" charset="-120"/>
                        </a:rPr>
                        <a:t>LOLOS. Kasus sendiri menyebut penentu performa tim "tetap misteri … menentang analisis": causal ambiguity. Ditambah 23 tahun akumulasi dan social complexity.</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l" indent="0" marL="0">
                        <a:buNone/>
                      </a:pPr>
                      <a:r>
                        <a:rPr lang="en-US" sz="900" dirty="0">
                          <a:solidFill>
                            <a:srgbClr val="E9DDD8"/>
                          </a:solidFill>
                          <a:latin typeface="Poppins" pitchFamily="34" charset="0"/>
                          <a:ea typeface="Poppins" pitchFamily="34" charset="-122"/>
                          <a:cs typeface="Poppins" pitchFamily="34" charset="-120"/>
                        </a:rPr>
                        <a:t>LOLOS. Dibangun sejak 1878 lewat sejarah dan prestasi panjang. Chelsea, meski belanja besar, pendapatannya masih di bawah MU: €268,9 jt vs €324,8 jt (Table 6.5).</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713232">
                <a:tc>
                  <a:txBody>
                    <a:bodyP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Nonsubstitutable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l" indent="0" marL="0">
                        <a:buNone/>
                      </a:pPr>
                      <a:r>
                        <a:rPr lang="en-US" sz="900" dirty="0">
                          <a:solidFill>
                            <a:srgbClr val="E9DDD8"/>
                          </a:solidFill>
                          <a:latin typeface="Poppins" pitchFamily="34" charset="0"/>
                          <a:ea typeface="Poppins" pitchFamily="34" charset="-122"/>
                          <a:cs typeface="Poppins" pitchFamily="34" charset="-120"/>
                        </a:rPr>
                        <a:t>LOLOS. Jalan lain pesaing, membeli bintang dengan uang besar, tidak menyamai hasilnya: tim bertabur bintang Real Madrid dan Chelsea "gagal mencapai kejayaan".</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l" indent="0" marL="0">
                        <a:buNone/>
                      </a:pPr>
                      <a:r>
                        <a:rPr lang="en-US" sz="900" dirty="0">
                          <a:solidFill>
                            <a:srgbClr val="E9DDD8"/>
                          </a:solidFill>
                          <a:latin typeface="Poppins" pitchFamily="34" charset="0"/>
                          <a:ea typeface="Poppins" pitchFamily="34" charset="-122"/>
                          <a:cs typeface="Poppins" pitchFamily="34" charset="-120"/>
                        </a:rPr>
                        <a:t>LOLOS. Superstar bisa mendongkrak penjualan merchandise, tapi pemain datang dan pergi. Basis fan tetap: Aon menyebut fan Asia MU faktor kunci kontraknya.</a:t>
                      </a:r>
                      <a:endParaRPr lang="en-US" sz="90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r>
            </a:tbl>
          </a:graphicData>
        </a:graphic>
      </p:graphicFrame>
      <p:sp>
        <p:nvSpPr>
          <p:cNvPr id="14" name="Shape 10"/>
          <p:cNvSpPr/>
          <p:nvPr/>
        </p:nvSpPr>
        <p:spPr>
          <a:xfrm>
            <a:off x="548640" y="5138928"/>
            <a:ext cx="11094415" cy="777240"/>
          </a:xfrm>
          <a:prstGeom prst="rect">
            <a:avLst/>
          </a:prstGeom>
          <a:solidFill>
            <a:srgbClr val="DA291C"/>
          </a:solidFill>
          <a:ln w="12700">
            <a:solidFill>
              <a:srgbClr val="DA291C"/>
            </a:solidFill>
            <a:prstDash val="solid"/>
          </a:ln>
        </p:spPr>
      </p:sp>
      <p:sp>
        <p:nvSpPr>
          <p:cNvPr id="15" name="Text 11"/>
          <p:cNvSpPr/>
          <p:nvPr/>
        </p:nvSpPr>
        <p:spPr>
          <a:xfrm>
            <a:off x="777240" y="526694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KESIMPULAN Q3</a:t>
            </a:r>
            <a:endParaRPr lang="en-US" sz="800" dirty="0"/>
          </a:p>
        </p:txBody>
      </p:sp>
      <p:sp>
        <p:nvSpPr>
          <p:cNvPr id="16" name="Text 12"/>
          <p:cNvSpPr/>
          <p:nvPr/>
        </p:nvSpPr>
        <p:spPr>
          <a:xfrm>
            <a:off x="777240" y="5504688"/>
            <a:ext cx="10637215" cy="320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Keduanya lolos VRIN Test, jadi keduanya tahan terhadap serangan PESAING. Bedanya ada di luar VRIN: merek melekat pada klub, sedangkan sistem Ferguson dibangun dan dipimpin satu orang yang akan segera pensiun.</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3  ·  DYNAMIC CAPABILITY</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28</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TIGA KALI MEMBANGUN ULANG TIM JUARA</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Inilah yang tidak diukur VRIN Test: apakah kemampuan memperbarui diri ini milik klub, atau milik satu orang.</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 hlm. 583 dan 584.</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28</a:t>
            </a:r>
            <a:endParaRPr lang="en-US" sz="900" dirty="0"/>
          </a:p>
        </p:txBody>
      </p:sp>
      <p:sp>
        <p:nvSpPr>
          <p:cNvPr id="13" name="Shape 10"/>
          <p:cNvSpPr/>
          <p:nvPr/>
        </p:nvSpPr>
        <p:spPr>
          <a:xfrm>
            <a:off x="548640" y="1865376"/>
            <a:ext cx="11094415" cy="27432"/>
          </a:xfrm>
          <a:prstGeom prst="rect">
            <a:avLst/>
          </a:prstGeom>
          <a:solidFill>
            <a:srgbClr val="DA291C"/>
          </a:solidFill>
          <a:ln w="12700">
            <a:solidFill>
              <a:srgbClr val="DA291C"/>
            </a:solidFill>
            <a:prstDash val="solid"/>
          </a:ln>
        </p:spPr>
      </p:sp>
      <p:sp>
        <p:nvSpPr>
          <p:cNvPr id="14" name="Shape 11"/>
          <p:cNvSpPr/>
          <p:nvPr/>
        </p:nvSpPr>
        <p:spPr>
          <a:xfrm>
            <a:off x="685800" y="1773936"/>
            <a:ext cx="201168" cy="201168"/>
          </a:xfrm>
          <a:prstGeom prst="ellipse">
            <a:avLst/>
          </a:prstGeom>
          <a:solidFill>
            <a:srgbClr val="FBE122"/>
          </a:solidFill>
          <a:ln w="12700">
            <a:solidFill>
              <a:srgbClr val="FBE122"/>
            </a:solidFill>
            <a:prstDash val="solid"/>
          </a:ln>
        </p:spPr>
      </p:sp>
      <p:sp>
        <p:nvSpPr>
          <p:cNvPr id="15" name="Shape 12"/>
          <p:cNvSpPr/>
          <p:nvPr/>
        </p:nvSpPr>
        <p:spPr>
          <a:xfrm>
            <a:off x="548640" y="2139696"/>
            <a:ext cx="3545738" cy="3017520"/>
          </a:xfrm>
          <a:prstGeom prst="rect">
            <a:avLst/>
          </a:prstGeom>
          <a:solidFill>
            <a:srgbClr val="2B0F11"/>
          </a:solidFill>
          <a:ln w="12700">
            <a:solidFill>
              <a:srgbClr val="2B0F11"/>
            </a:solidFill>
            <a:prstDash val="solid"/>
          </a:ln>
        </p:spPr>
      </p:sp>
      <p:sp>
        <p:nvSpPr>
          <p:cNvPr id="16" name="Text 13"/>
          <p:cNvSpPr/>
          <p:nvPr/>
        </p:nvSpPr>
        <p:spPr>
          <a:xfrm>
            <a:off x="749808" y="2286000"/>
            <a:ext cx="3179978" cy="411480"/>
          </a:xfrm>
          <a:prstGeom prst="rect">
            <a:avLst/>
          </a:prstGeom>
          <a:noFill/>
          <a:ln/>
        </p:spPr>
        <p:txBody>
          <a:bodyPr wrap="square" lIns="0" tIns="0" rIns="0" bIns="0" rtlCol="0" anchor="t"/>
          <a:lstStyle/>
          <a:p>
            <a:pPr indent="0" marL="0">
              <a:buNone/>
            </a:pPr>
            <a:r>
              <a:rPr lang="en-US" sz="2000" dirty="0">
                <a:solidFill>
                  <a:srgbClr val="DA291C"/>
                </a:solidFill>
                <a:latin typeface="Poppins ExtraBold" pitchFamily="34" charset="0"/>
                <a:ea typeface="Poppins ExtraBold" pitchFamily="34" charset="-122"/>
                <a:cs typeface="Poppins ExtraBold" pitchFamily="34" charset="-120"/>
              </a:rPr>
              <a:t>1986 – 1993</a:t>
            </a:r>
            <a:endParaRPr lang="en-US" sz="2000" dirty="0"/>
          </a:p>
        </p:txBody>
      </p:sp>
      <p:sp>
        <p:nvSpPr>
          <p:cNvPr id="17" name="Text 14"/>
          <p:cNvSpPr/>
          <p:nvPr/>
        </p:nvSpPr>
        <p:spPr>
          <a:xfrm>
            <a:off x="749808" y="2715768"/>
            <a:ext cx="3179978" cy="54864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Membersihkan dan membangun fondasi</a:t>
            </a:r>
            <a:endParaRPr lang="en-US" sz="1200" dirty="0"/>
          </a:p>
        </p:txBody>
      </p:sp>
      <p:sp>
        <p:nvSpPr>
          <p:cNvPr id="18" name="Text 15"/>
          <p:cNvSpPr/>
          <p:nvPr/>
        </p:nvSpPr>
        <p:spPr>
          <a:xfrm>
            <a:off x="749808" y="3291840"/>
            <a:ext cx="3179978" cy="118872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Ferguson menyingkirkan pemain yang dinilai kurang berbakat atau kurang berkomitmen, mempertahankan Bryan Robson, mendatangkan Hughes, Ince, Cantona, Keane. Ia juga menegakkan disiplin latihan.</a:t>
            </a:r>
            <a:endParaRPr lang="en-US" sz="900" dirty="0"/>
          </a:p>
        </p:txBody>
      </p:sp>
      <p:sp>
        <p:nvSpPr>
          <p:cNvPr id="19" name="Shape 16"/>
          <p:cNvSpPr/>
          <p:nvPr/>
        </p:nvSpPr>
        <p:spPr>
          <a:xfrm>
            <a:off x="749808" y="4453128"/>
            <a:ext cx="3143402" cy="9144"/>
          </a:xfrm>
          <a:prstGeom prst="rect">
            <a:avLst/>
          </a:prstGeom>
          <a:solidFill>
            <a:srgbClr val="4C2226"/>
          </a:solidFill>
          <a:ln w="12700">
            <a:solidFill>
              <a:srgbClr val="4C2226"/>
            </a:solidFill>
            <a:prstDash val="solid"/>
          </a:ln>
        </p:spPr>
      </p:sp>
      <p:sp>
        <p:nvSpPr>
          <p:cNvPr id="20" name="Text 17"/>
          <p:cNvSpPr/>
          <p:nvPr/>
        </p:nvSpPr>
        <p:spPr>
          <a:xfrm>
            <a:off x="749808" y="4544568"/>
            <a:ext cx="3179978" cy="548640"/>
          </a:xfrm>
          <a:prstGeom prst="rect">
            <a:avLst/>
          </a:prstGeom>
          <a:noFill/>
          <a:ln/>
        </p:spPr>
        <p:txBody>
          <a:bodyPr wrap="square" lIns="0" tIns="0" rIns="0" bIns="0" rtlCol="0" anchor="t"/>
          <a:lstStyle/>
          <a:p>
            <a:pPr indent="0" marL="0">
              <a:lnSpc>
                <a:spcPct val="104000"/>
              </a:lnSpc>
              <a:buNone/>
            </a:pPr>
            <a:r>
              <a:rPr lang="en-US" sz="850" dirty="0">
                <a:solidFill>
                  <a:srgbClr val="FBE122"/>
                </a:solidFill>
                <a:latin typeface="Poppins Medium" pitchFamily="34" charset="0"/>
                <a:ea typeface="Poppins Medium" pitchFamily="34" charset="-122"/>
                <a:cs typeface="Poppins Medium" pitchFamily="34" charset="-120"/>
              </a:rPr>
              <a:t>FA Cup 1990  ·  Piala Winners 1991  ·  liga pertama era Ferguson 1993</a:t>
            </a:r>
            <a:endParaRPr lang="en-US" sz="850" dirty="0"/>
          </a:p>
        </p:txBody>
      </p:sp>
      <p:sp>
        <p:nvSpPr>
          <p:cNvPr id="21" name="Shape 18"/>
          <p:cNvSpPr/>
          <p:nvPr/>
        </p:nvSpPr>
        <p:spPr>
          <a:xfrm>
            <a:off x="4460138" y="1773936"/>
            <a:ext cx="201168" cy="201168"/>
          </a:xfrm>
          <a:prstGeom prst="ellipse">
            <a:avLst/>
          </a:prstGeom>
          <a:solidFill>
            <a:srgbClr val="FBE122"/>
          </a:solidFill>
          <a:ln w="12700">
            <a:solidFill>
              <a:srgbClr val="FBE122"/>
            </a:solidFill>
            <a:prstDash val="solid"/>
          </a:ln>
        </p:spPr>
      </p:sp>
      <p:sp>
        <p:nvSpPr>
          <p:cNvPr id="22" name="Shape 19"/>
          <p:cNvSpPr/>
          <p:nvPr/>
        </p:nvSpPr>
        <p:spPr>
          <a:xfrm>
            <a:off x="4322978" y="2139696"/>
            <a:ext cx="3545738" cy="3017520"/>
          </a:xfrm>
          <a:prstGeom prst="rect">
            <a:avLst/>
          </a:prstGeom>
          <a:solidFill>
            <a:srgbClr val="2B0F11"/>
          </a:solidFill>
          <a:ln w="12700">
            <a:solidFill>
              <a:srgbClr val="2B0F11"/>
            </a:solidFill>
            <a:prstDash val="solid"/>
          </a:ln>
        </p:spPr>
      </p:sp>
      <p:sp>
        <p:nvSpPr>
          <p:cNvPr id="23" name="Text 20"/>
          <p:cNvSpPr/>
          <p:nvPr/>
        </p:nvSpPr>
        <p:spPr>
          <a:xfrm>
            <a:off x="4524146" y="2286000"/>
            <a:ext cx="3179978" cy="411480"/>
          </a:xfrm>
          <a:prstGeom prst="rect">
            <a:avLst/>
          </a:prstGeom>
          <a:noFill/>
          <a:ln/>
        </p:spPr>
        <p:txBody>
          <a:bodyPr wrap="square" lIns="0" tIns="0" rIns="0" bIns="0" rtlCol="0" anchor="t"/>
          <a:lstStyle/>
          <a:p>
            <a:pPr indent="0" marL="0">
              <a:buNone/>
            </a:pPr>
            <a:r>
              <a:rPr lang="en-US" sz="2000" dirty="0">
                <a:solidFill>
                  <a:srgbClr val="DA291C"/>
                </a:solidFill>
                <a:latin typeface="Poppins ExtraBold" pitchFamily="34" charset="0"/>
                <a:ea typeface="Poppins ExtraBold" pitchFamily="34" charset="-122"/>
                <a:cs typeface="Poppins ExtraBold" pitchFamily="34" charset="-120"/>
              </a:rPr>
              <a:t>1994 – 2003</a:t>
            </a:r>
            <a:endParaRPr lang="en-US" sz="2000" dirty="0"/>
          </a:p>
        </p:txBody>
      </p:sp>
      <p:sp>
        <p:nvSpPr>
          <p:cNvPr id="24" name="Text 21"/>
          <p:cNvSpPr/>
          <p:nvPr/>
        </p:nvSpPr>
        <p:spPr>
          <a:xfrm>
            <a:off x="4524146" y="2715768"/>
            <a:ext cx="3179978" cy="54864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Generasi akademi</a:t>
            </a:r>
            <a:endParaRPr lang="en-US" sz="1200" dirty="0"/>
          </a:p>
        </p:txBody>
      </p:sp>
      <p:sp>
        <p:nvSpPr>
          <p:cNvPr id="25" name="Text 22"/>
          <p:cNvSpPr/>
          <p:nvPr/>
        </p:nvSpPr>
        <p:spPr>
          <a:xfrm>
            <a:off x="4524146" y="3291840"/>
            <a:ext cx="3179978" cy="118872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Juara liga junior 1990 menghasilkan Giggs, Beckham, Butt, Gary dan Phil Neville, serta Scholes. Mereka jadi inti tim yang mendominasi sepakbola Inggris.</a:t>
            </a:r>
            <a:endParaRPr lang="en-US" sz="900" dirty="0"/>
          </a:p>
        </p:txBody>
      </p:sp>
      <p:sp>
        <p:nvSpPr>
          <p:cNvPr id="26" name="Shape 23"/>
          <p:cNvSpPr/>
          <p:nvPr/>
        </p:nvSpPr>
        <p:spPr>
          <a:xfrm>
            <a:off x="4524146" y="4453128"/>
            <a:ext cx="3143402" cy="9144"/>
          </a:xfrm>
          <a:prstGeom prst="rect">
            <a:avLst/>
          </a:prstGeom>
          <a:solidFill>
            <a:srgbClr val="4C2226"/>
          </a:solidFill>
          <a:ln w="12700">
            <a:solidFill>
              <a:srgbClr val="4C2226"/>
            </a:solidFill>
            <a:prstDash val="solid"/>
          </a:ln>
        </p:spPr>
      </p:sp>
      <p:sp>
        <p:nvSpPr>
          <p:cNvPr id="27" name="Text 24"/>
          <p:cNvSpPr/>
          <p:nvPr/>
        </p:nvSpPr>
        <p:spPr>
          <a:xfrm>
            <a:off x="4524146" y="4544568"/>
            <a:ext cx="3179978" cy="548640"/>
          </a:xfrm>
          <a:prstGeom prst="rect">
            <a:avLst/>
          </a:prstGeom>
          <a:noFill/>
          <a:ln/>
        </p:spPr>
        <p:txBody>
          <a:bodyPr wrap="square" lIns="0" tIns="0" rIns="0" bIns="0" rtlCol="0" anchor="t"/>
          <a:lstStyle/>
          <a:p>
            <a:pPr indent="0" marL="0">
              <a:lnSpc>
                <a:spcPct val="104000"/>
              </a:lnSpc>
              <a:buNone/>
            </a:pPr>
            <a:r>
              <a:rPr lang="en-US" sz="850" dirty="0">
                <a:solidFill>
                  <a:srgbClr val="FBE122"/>
                </a:solidFill>
                <a:latin typeface="Poppins Medium" pitchFamily="34" charset="0"/>
                <a:ea typeface="Poppins Medium" pitchFamily="34" charset="-122"/>
                <a:cs typeface="Poppins Medium" pitchFamily="34" charset="-120"/>
              </a:rPr>
              <a:t>Puncaknya 1999: liga, FA Cup, European Cup, Intercontinental Cup</a:t>
            </a:r>
            <a:endParaRPr lang="en-US" sz="850" dirty="0"/>
          </a:p>
        </p:txBody>
      </p:sp>
      <p:sp>
        <p:nvSpPr>
          <p:cNvPr id="28" name="Shape 25"/>
          <p:cNvSpPr/>
          <p:nvPr/>
        </p:nvSpPr>
        <p:spPr>
          <a:xfrm>
            <a:off x="8234477" y="1773936"/>
            <a:ext cx="201168" cy="201168"/>
          </a:xfrm>
          <a:prstGeom prst="ellipse">
            <a:avLst/>
          </a:prstGeom>
          <a:solidFill>
            <a:srgbClr val="FBE122"/>
          </a:solidFill>
          <a:ln w="12700">
            <a:solidFill>
              <a:srgbClr val="FBE122"/>
            </a:solidFill>
            <a:prstDash val="solid"/>
          </a:ln>
        </p:spPr>
      </p:sp>
      <p:sp>
        <p:nvSpPr>
          <p:cNvPr id="29" name="Shape 26"/>
          <p:cNvSpPr/>
          <p:nvPr/>
        </p:nvSpPr>
        <p:spPr>
          <a:xfrm>
            <a:off x="8097317" y="2139696"/>
            <a:ext cx="3545738" cy="3017520"/>
          </a:xfrm>
          <a:prstGeom prst="rect">
            <a:avLst/>
          </a:prstGeom>
          <a:solidFill>
            <a:srgbClr val="2B0F11"/>
          </a:solidFill>
          <a:ln w="12700">
            <a:solidFill>
              <a:srgbClr val="2B0F11"/>
            </a:solidFill>
            <a:prstDash val="solid"/>
          </a:ln>
        </p:spPr>
      </p:sp>
      <p:sp>
        <p:nvSpPr>
          <p:cNvPr id="30" name="Text 27"/>
          <p:cNvSpPr/>
          <p:nvPr/>
        </p:nvSpPr>
        <p:spPr>
          <a:xfrm>
            <a:off x="8298485" y="2286000"/>
            <a:ext cx="3179978" cy="411480"/>
          </a:xfrm>
          <a:prstGeom prst="rect">
            <a:avLst/>
          </a:prstGeom>
          <a:noFill/>
          <a:ln/>
        </p:spPr>
        <p:txBody>
          <a:bodyPr wrap="square" lIns="0" tIns="0" rIns="0" bIns="0" rtlCol="0" anchor="t"/>
          <a:lstStyle/>
          <a:p>
            <a:pPr indent="0" marL="0">
              <a:buNone/>
            </a:pPr>
            <a:r>
              <a:rPr lang="en-US" sz="2000" dirty="0">
                <a:solidFill>
                  <a:srgbClr val="DA291C"/>
                </a:solidFill>
                <a:latin typeface="Poppins ExtraBold" pitchFamily="34" charset="0"/>
                <a:ea typeface="Poppins ExtraBold" pitchFamily="34" charset="-122"/>
                <a:cs typeface="Poppins ExtraBold" pitchFamily="34" charset="-120"/>
              </a:rPr>
              <a:t>2003 – 2008</a:t>
            </a:r>
            <a:endParaRPr lang="en-US" sz="2000" dirty="0"/>
          </a:p>
        </p:txBody>
      </p:sp>
      <p:sp>
        <p:nvSpPr>
          <p:cNvPr id="31" name="Text 28"/>
          <p:cNvSpPr/>
          <p:nvPr/>
        </p:nvSpPr>
        <p:spPr>
          <a:xfrm>
            <a:off x="8298485" y="2715768"/>
            <a:ext cx="3179978" cy="54864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Regenerasi kedua</a:t>
            </a:r>
            <a:endParaRPr lang="en-US" sz="1200" dirty="0"/>
          </a:p>
        </p:txBody>
      </p:sp>
      <p:sp>
        <p:nvSpPr>
          <p:cNvPr id="32" name="Text 29"/>
          <p:cNvSpPr/>
          <p:nvPr/>
        </p:nvSpPr>
        <p:spPr>
          <a:xfrm>
            <a:off x="8298485" y="3291840"/>
            <a:ext cx="3179978" cy="1188720"/>
          </a:xfrm>
          <a:prstGeom prst="rect">
            <a:avLst/>
          </a:prstGeom>
          <a:noFill/>
          <a:ln/>
        </p:spPr>
        <p:txBody>
          <a:bodyPr wrap="square" lIns="0" tIns="0" rIns="0" bIns="0" rtlCol="0" anchor="t"/>
          <a:lstStyle/>
          <a:p>
            <a:pPr indent="0" marL="0">
              <a:lnSpc>
                <a:spcPct val="106000"/>
              </a:lnSpc>
              <a:buNone/>
            </a:pPr>
            <a:r>
              <a:rPr lang="en-US" sz="900" dirty="0">
                <a:solidFill>
                  <a:srgbClr val="E9DDD8"/>
                </a:solidFill>
                <a:latin typeface="Poppins" pitchFamily="34" charset="0"/>
                <a:ea typeface="Poppins" pitchFamily="34" charset="-122"/>
                <a:cs typeface="Poppins" pitchFamily="34" charset="-120"/>
              </a:rPr>
              <a:t>Kasus mencatat Beckham, Keane, Schmeichel, Cole, Sheringham, Stam dijual. Penggantinya antara lain Ferdinand, Ronaldo, Rooney, van der Sar, Evra, Vidić, Carrick.</a:t>
            </a:r>
            <a:endParaRPr lang="en-US" sz="900" dirty="0"/>
          </a:p>
        </p:txBody>
      </p:sp>
      <p:sp>
        <p:nvSpPr>
          <p:cNvPr id="33" name="Shape 30"/>
          <p:cNvSpPr/>
          <p:nvPr/>
        </p:nvSpPr>
        <p:spPr>
          <a:xfrm>
            <a:off x="8298485" y="4453128"/>
            <a:ext cx="3143402" cy="9144"/>
          </a:xfrm>
          <a:prstGeom prst="rect">
            <a:avLst/>
          </a:prstGeom>
          <a:solidFill>
            <a:srgbClr val="4C2226"/>
          </a:solidFill>
          <a:ln w="12700">
            <a:solidFill>
              <a:srgbClr val="4C2226"/>
            </a:solidFill>
            <a:prstDash val="solid"/>
          </a:ln>
        </p:spPr>
      </p:sp>
      <p:sp>
        <p:nvSpPr>
          <p:cNvPr id="34" name="Text 31"/>
          <p:cNvSpPr/>
          <p:nvPr/>
        </p:nvSpPr>
        <p:spPr>
          <a:xfrm>
            <a:off x="8298485" y="4544568"/>
            <a:ext cx="3179978" cy="548640"/>
          </a:xfrm>
          <a:prstGeom prst="rect">
            <a:avLst/>
          </a:prstGeom>
          <a:noFill/>
          <a:ln/>
        </p:spPr>
        <p:txBody>
          <a:bodyPr wrap="square" lIns="0" tIns="0" rIns="0" bIns="0" rtlCol="0" anchor="t"/>
          <a:lstStyle/>
          <a:p>
            <a:pPr indent="0" marL="0">
              <a:lnSpc>
                <a:spcPct val="104000"/>
              </a:lnSpc>
              <a:buNone/>
            </a:pPr>
            <a:r>
              <a:rPr lang="en-US" sz="850" dirty="0">
                <a:solidFill>
                  <a:srgbClr val="FBE122"/>
                </a:solidFill>
                <a:latin typeface="Poppins Medium" pitchFamily="34" charset="0"/>
                <a:ea typeface="Poppins Medium" pitchFamily="34" charset="-122"/>
                <a:cs typeface="Poppins Medium" pitchFamily="34" charset="-120"/>
              </a:rPr>
              <a:t>Liga Champions 2008  ·  tiga gelar liga beruntun 2007–2009</a:t>
            </a:r>
            <a:endParaRPr lang="en-US" sz="850" dirty="0"/>
          </a:p>
        </p:txBody>
      </p:sp>
      <p:sp>
        <p:nvSpPr>
          <p:cNvPr id="35" name="Shape 32"/>
          <p:cNvSpPr/>
          <p:nvPr/>
        </p:nvSpPr>
        <p:spPr>
          <a:xfrm>
            <a:off x="548640" y="5321808"/>
            <a:ext cx="11094415" cy="640080"/>
          </a:xfrm>
          <a:prstGeom prst="rect">
            <a:avLst/>
          </a:prstGeom>
          <a:solidFill>
            <a:srgbClr val="DA291C"/>
          </a:solidFill>
          <a:ln w="12700">
            <a:solidFill>
              <a:srgbClr val="DA291C"/>
            </a:solidFill>
            <a:prstDash val="solid"/>
          </a:ln>
        </p:spPr>
      </p:sp>
      <p:sp>
        <p:nvSpPr>
          <p:cNvPr id="36" name="Text 33"/>
          <p:cNvSpPr/>
          <p:nvPr/>
        </p:nvSpPr>
        <p:spPr>
          <a:xfrm>
            <a:off x="777240" y="544982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PRESEDEN DARI KASUS SENDIRI</a:t>
            </a:r>
            <a:endParaRPr lang="en-US" sz="800" dirty="0"/>
          </a:p>
        </p:txBody>
      </p:sp>
      <p:sp>
        <p:nvSpPr>
          <p:cNvPr id="37" name="Text 34"/>
          <p:cNvSpPr/>
          <p:nvPr/>
        </p:nvSpPr>
        <p:spPr>
          <a:xfrm>
            <a:off x="777240" y="5687568"/>
            <a:ext cx="10637215" cy="18288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Setelah Matt Busby pensiun 1969, MU merosot. Selama 18 tahun sebelum Ferguson datang, MU tidak memenangi satu pun gelar liga dan hanya sekali jadi runner-up (hlm. 583).</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4  ·  DITERAPKAN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29</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DAN STRUKTUR BIAYA MU</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Kerangka Figure 4.3 dipetakan ke aktivitas nyata sebuah klub. Hasilnya: keunggulan biaya MU ada di HULU, di cara mendapatkan pemain.</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 hlm. 580, 583, 584, 586.</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29</a:t>
            </a:r>
            <a:endParaRPr lang="en-US" sz="900" dirty="0"/>
          </a:p>
        </p:txBody>
      </p:sp>
      <p:sp>
        <p:nvSpPr>
          <p:cNvPr id="13" name="Text 10"/>
          <p:cNvSpPr/>
          <p:nvPr/>
        </p:nvSpPr>
        <p:spPr>
          <a:xfrm>
            <a:off x="548640" y="1755648"/>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PRIMARY ACTIVITIES</a:t>
            </a:r>
            <a:endParaRPr lang="en-US" sz="850" dirty="0"/>
          </a:p>
        </p:txBody>
      </p:sp>
      <p:sp>
        <p:nvSpPr>
          <p:cNvPr id="14" name="Shape 11"/>
          <p:cNvSpPr/>
          <p:nvPr/>
        </p:nvSpPr>
        <p:spPr>
          <a:xfrm>
            <a:off x="548640" y="2029968"/>
            <a:ext cx="1335024" cy="1463040"/>
          </a:xfrm>
          <a:prstGeom prst="rect">
            <a:avLst/>
          </a:prstGeom>
          <a:solidFill>
            <a:srgbClr val="DA291C"/>
          </a:solidFill>
          <a:ln w="12700">
            <a:solidFill>
              <a:srgbClr val="DA291C"/>
            </a:solidFill>
            <a:prstDash val="solid"/>
          </a:ln>
        </p:spPr>
      </p:sp>
      <p:sp>
        <p:nvSpPr>
          <p:cNvPr id="15" name="Shape 12"/>
          <p:cNvSpPr/>
          <p:nvPr/>
        </p:nvSpPr>
        <p:spPr>
          <a:xfrm>
            <a:off x="548640" y="2029968"/>
            <a:ext cx="1335024" cy="45720"/>
          </a:xfrm>
          <a:prstGeom prst="rect">
            <a:avLst/>
          </a:prstGeom>
          <a:solidFill>
            <a:srgbClr val="FBE122"/>
          </a:solidFill>
          <a:ln w="12700">
            <a:solidFill>
              <a:srgbClr val="FBE122"/>
            </a:solidFill>
            <a:prstDash val="solid"/>
          </a:ln>
        </p:spPr>
      </p:sp>
      <p:sp>
        <p:nvSpPr>
          <p:cNvPr id="16" name="Text 13"/>
          <p:cNvSpPr/>
          <p:nvPr/>
        </p:nvSpPr>
        <p:spPr>
          <a:xfrm>
            <a:off x="658368"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Supply Chain</a:t>
            </a:r>
            <a:endParaRPr lang="en-US" sz="800" dirty="0"/>
          </a:p>
        </p:txBody>
      </p:sp>
      <p:sp>
        <p:nvSpPr>
          <p:cNvPr id="17" name="Text 14"/>
          <p:cNvSpPr/>
          <p:nvPr/>
        </p:nvSpPr>
        <p:spPr>
          <a:xfrm>
            <a:off x="658368"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Mendapatkan pemain</a:t>
            </a:r>
            <a:endParaRPr lang="en-US" sz="950" dirty="0"/>
          </a:p>
        </p:txBody>
      </p:sp>
      <p:sp>
        <p:nvSpPr>
          <p:cNvPr id="18" name="Text 15"/>
          <p:cNvSpPr/>
          <p:nvPr/>
        </p:nvSpPr>
        <p:spPr>
          <a:xfrm>
            <a:off x="658368"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FFFFFF"/>
                </a:solidFill>
                <a:latin typeface="Poppins" pitchFamily="34" charset="0"/>
                <a:ea typeface="Poppins" pitchFamily="34" charset="-122"/>
                <a:cs typeface="Poppins" pitchFamily="34" charset="-120"/>
              </a:rPr>
              <a:t>Akademi, 20+ pemandu bakat, pasar transfer</a:t>
            </a:r>
            <a:endParaRPr lang="en-US" sz="750" dirty="0"/>
          </a:p>
        </p:txBody>
      </p:sp>
      <p:sp>
        <p:nvSpPr>
          <p:cNvPr id="19" name="Shape 16"/>
          <p:cNvSpPr/>
          <p:nvPr/>
        </p:nvSpPr>
        <p:spPr>
          <a:xfrm>
            <a:off x="1975104" y="2029968"/>
            <a:ext cx="1335024" cy="1463040"/>
          </a:xfrm>
          <a:prstGeom prst="rect">
            <a:avLst/>
          </a:prstGeom>
          <a:solidFill>
            <a:srgbClr val="2B0F11"/>
          </a:solidFill>
          <a:ln w="12700">
            <a:solidFill>
              <a:srgbClr val="2B0F11"/>
            </a:solidFill>
            <a:prstDash val="solid"/>
          </a:ln>
        </p:spPr>
      </p:sp>
      <p:sp>
        <p:nvSpPr>
          <p:cNvPr id="20" name="Shape 17"/>
          <p:cNvSpPr/>
          <p:nvPr/>
        </p:nvSpPr>
        <p:spPr>
          <a:xfrm>
            <a:off x="1975104" y="2029968"/>
            <a:ext cx="1335024" cy="45720"/>
          </a:xfrm>
          <a:prstGeom prst="rect">
            <a:avLst/>
          </a:prstGeom>
          <a:solidFill>
            <a:srgbClr val="DA291C"/>
          </a:solidFill>
          <a:ln w="12700">
            <a:solidFill>
              <a:srgbClr val="DA291C"/>
            </a:solidFill>
            <a:prstDash val="solid"/>
          </a:ln>
        </p:spPr>
      </p:sp>
      <p:sp>
        <p:nvSpPr>
          <p:cNvPr id="21" name="Text 18"/>
          <p:cNvSpPr/>
          <p:nvPr/>
        </p:nvSpPr>
        <p:spPr>
          <a:xfrm>
            <a:off x="2084832"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Operations</a:t>
            </a:r>
            <a:endParaRPr lang="en-US" sz="800" dirty="0"/>
          </a:p>
        </p:txBody>
      </p:sp>
      <p:sp>
        <p:nvSpPr>
          <p:cNvPr id="22" name="Text 19"/>
          <p:cNvSpPr/>
          <p:nvPr/>
        </p:nvSpPr>
        <p:spPr>
          <a:xfrm>
            <a:off x="2084832"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Latihan dan bertanding</a:t>
            </a:r>
            <a:endParaRPr lang="en-US" sz="950" dirty="0"/>
          </a:p>
        </p:txBody>
      </p:sp>
      <p:sp>
        <p:nvSpPr>
          <p:cNvPr id="23" name="Text 20"/>
          <p:cNvSpPr/>
          <p:nvPr/>
        </p:nvSpPr>
        <p:spPr>
          <a:xfrm>
            <a:off x="2084832"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Disiplin latihan, rotasi skuad, taktik</a:t>
            </a:r>
            <a:endParaRPr lang="en-US" sz="750" dirty="0"/>
          </a:p>
        </p:txBody>
      </p:sp>
      <p:sp>
        <p:nvSpPr>
          <p:cNvPr id="24" name="Shape 21"/>
          <p:cNvSpPr/>
          <p:nvPr/>
        </p:nvSpPr>
        <p:spPr>
          <a:xfrm>
            <a:off x="3401568" y="2029968"/>
            <a:ext cx="1335024" cy="1463040"/>
          </a:xfrm>
          <a:prstGeom prst="rect">
            <a:avLst/>
          </a:prstGeom>
          <a:solidFill>
            <a:srgbClr val="2B0F11"/>
          </a:solidFill>
          <a:ln w="12700">
            <a:solidFill>
              <a:srgbClr val="2B0F11"/>
            </a:solidFill>
            <a:prstDash val="solid"/>
          </a:ln>
        </p:spPr>
      </p:sp>
      <p:sp>
        <p:nvSpPr>
          <p:cNvPr id="25" name="Shape 22"/>
          <p:cNvSpPr/>
          <p:nvPr/>
        </p:nvSpPr>
        <p:spPr>
          <a:xfrm>
            <a:off x="3401568" y="2029968"/>
            <a:ext cx="1335024" cy="45720"/>
          </a:xfrm>
          <a:prstGeom prst="rect">
            <a:avLst/>
          </a:prstGeom>
          <a:solidFill>
            <a:srgbClr val="DA291C"/>
          </a:solidFill>
          <a:ln w="12700">
            <a:solidFill>
              <a:srgbClr val="DA291C"/>
            </a:solidFill>
            <a:prstDash val="solid"/>
          </a:ln>
        </p:spPr>
      </p:sp>
      <p:sp>
        <p:nvSpPr>
          <p:cNvPr id="26" name="Text 23"/>
          <p:cNvSpPr/>
          <p:nvPr/>
        </p:nvSpPr>
        <p:spPr>
          <a:xfrm>
            <a:off x="3511296"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Distribution</a:t>
            </a:r>
            <a:endParaRPr lang="en-US" sz="800" dirty="0"/>
          </a:p>
        </p:txBody>
      </p:sp>
      <p:sp>
        <p:nvSpPr>
          <p:cNvPr id="27" name="Text 24"/>
          <p:cNvSpPr/>
          <p:nvPr/>
        </p:nvSpPr>
        <p:spPr>
          <a:xfrm>
            <a:off x="3511296"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Menyalurkan tontonan</a:t>
            </a:r>
            <a:endParaRPr lang="en-US" sz="950" dirty="0"/>
          </a:p>
        </p:txBody>
      </p:sp>
      <p:sp>
        <p:nvSpPr>
          <p:cNvPr id="28" name="Text 25"/>
          <p:cNvSpPr/>
          <p:nvPr/>
        </p:nvSpPr>
        <p:spPr>
          <a:xfrm>
            <a:off x="3511296"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Hak siar liga dan UEFA, MUTV, Old Trafford</a:t>
            </a:r>
            <a:endParaRPr lang="en-US" sz="750" dirty="0"/>
          </a:p>
        </p:txBody>
      </p:sp>
      <p:sp>
        <p:nvSpPr>
          <p:cNvPr id="29" name="Shape 26"/>
          <p:cNvSpPr/>
          <p:nvPr/>
        </p:nvSpPr>
        <p:spPr>
          <a:xfrm>
            <a:off x="4828032" y="2029968"/>
            <a:ext cx="1335024" cy="1463040"/>
          </a:xfrm>
          <a:prstGeom prst="rect">
            <a:avLst/>
          </a:prstGeom>
          <a:solidFill>
            <a:srgbClr val="2B0F11"/>
          </a:solidFill>
          <a:ln w="12700">
            <a:solidFill>
              <a:srgbClr val="2B0F11"/>
            </a:solidFill>
            <a:prstDash val="solid"/>
          </a:ln>
        </p:spPr>
      </p:sp>
      <p:sp>
        <p:nvSpPr>
          <p:cNvPr id="30" name="Shape 27"/>
          <p:cNvSpPr/>
          <p:nvPr/>
        </p:nvSpPr>
        <p:spPr>
          <a:xfrm>
            <a:off x="4828032" y="2029968"/>
            <a:ext cx="1335024" cy="45720"/>
          </a:xfrm>
          <a:prstGeom prst="rect">
            <a:avLst/>
          </a:prstGeom>
          <a:solidFill>
            <a:srgbClr val="DA291C"/>
          </a:solidFill>
          <a:ln w="12700">
            <a:solidFill>
              <a:srgbClr val="DA291C"/>
            </a:solidFill>
            <a:prstDash val="solid"/>
          </a:ln>
        </p:spPr>
      </p:sp>
      <p:sp>
        <p:nvSpPr>
          <p:cNvPr id="31" name="Text 28"/>
          <p:cNvSpPr/>
          <p:nvPr/>
        </p:nvSpPr>
        <p:spPr>
          <a:xfrm>
            <a:off x="4937760"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Sales &amp; Marketing</a:t>
            </a:r>
            <a:endParaRPr lang="en-US" sz="800" dirty="0"/>
          </a:p>
        </p:txBody>
      </p:sp>
      <p:sp>
        <p:nvSpPr>
          <p:cNvPr id="32" name="Text 29"/>
          <p:cNvSpPr/>
          <p:nvPr/>
        </p:nvSpPr>
        <p:spPr>
          <a:xfrm>
            <a:off x="4937760"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Menjual merek</a:t>
            </a:r>
            <a:endParaRPr lang="en-US" sz="950" dirty="0"/>
          </a:p>
        </p:txBody>
      </p:sp>
      <p:sp>
        <p:nvSpPr>
          <p:cNvPr id="33" name="Text 30"/>
          <p:cNvSpPr/>
          <p:nvPr/>
        </p:nvSpPr>
        <p:spPr>
          <a:xfrm>
            <a:off x="4937760"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Nike, AIG/Aon, 13 sponsor lain, tur Asia</a:t>
            </a:r>
            <a:endParaRPr lang="en-US" sz="750" dirty="0"/>
          </a:p>
        </p:txBody>
      </p:sp>
      <p:sp>
        <p:nvSpPr>
          <p:cNvPr id="34" name="Shape 31"/>
          <p:cNvSpPr/>
          <p:nvPr/>
        </p:nvSpPr>
        <p:spPr>
          <a:xfrm>
            <a:off x="6254496" y="2029968"/>
            <a:ext cx="1335024" cy="1463040"/>
          </a:xfrm>
          <a:prstGeom prst="rect">
            <a:avLst/>
          </a:prstGeom>
          <a:solidFill>
            <a:srgbClr val="2B0F11"/>
          </a:solidFill>
          <a:ln w="12700">
            <a:solidFill>
              <a:srgbClr val="2B0F11"/>
            </a:solidFill>
            <a:prstDash val="solid"/>
          </a:ln>
        </p:spPr>
      </p:sp>
      <p:sp>
        <p:nvSpPr>
          <p:cNvPr id="35" name="Shape 32"/>
          <p:cNvSpPr/>
          <p:nvPr/>
        </p:nvSpPr>
        <p:spPr>
          <a:xfrm>
            <a:off x="6254496" y="2029968"/>
            <a:ext cx="1335024" cy="45720"/>
          </a:xfrm>
          <a:prstGeom prst="rect">
            <a:avLst/>
          </a:prstGeom>
          <a:solidFill>
            <a:srgbClr val="DA291C"/>
          </a:solidFill>
          <a:ln w="12700">
            <a:solidFill>
              <a:srgbClr val="DA291C"/>
            </a:solidFill>
            <a:prstDash val="solid"/>
          </a:ln>
        </p:spPr>
      </p:sp>
      <p:sp>
        <p:nvSpPr>
          <p:cNvPr id="36" name="Text 33"/>
          <p:cNvSpPr/>
          <p:nvPr/>
        </p:nvSpPr>
        <p:spPr>
          <a:xfrm>
            <a:off x="6364224"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Service</a:t>
            </a:r>
            <a:endParaRPr lang="en-US" sz="800" dirty="0"/>
          </a:p>
        </p:txBody>
      </p:sp>
      <p:sp>
        <p:nvSpPr>
          <p:cNvPr id="37" name="Text 34"/>
          <p:cNvSpPr/>
          <p:nvPr/>
        </p:nvSpPr>
        <p:spPr>
          <a:xfrm>
            <a:off x="6364224"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Melayani pendukung</a:t>
            </a:r>
            <a:endParaRPr lang="en-US" sz="950" dirty="0"/>
          </a:p>
        </p:txBody>
      </p:sp>
      <p:sp>
        <p:nvSpPr>
          <p:cNvPr id="38" name="Text 35"/>
          <p:cNvSpPr/>
          <p:nvPr/>
        </p:nvSpPr>
        <p:spPr>
          <a:xfrm>
            <a:off x="6364224"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Superstore, museum, Soccer Schools, MU Mobile</a:t>
            </a:r>
            <a:endParaRPr lang="en-US" sz="750" dirty="0"/>
          </a:p>
        </p:txBody>
      </p:sp>
      <p:sp>
        <p:nvSpPr>
          <p:cNvPr id="39" name="Text 36"/>
          <p:cNvSpPr/>
          <p:nvPr/>
        </p:nvSpPr>
        <p:spPr>
          <a:xfrm>
            <a:off x="548640" y="3657600"/>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SUPPORT ACTIVITIES</a:t>
            </a:r>
            <a:endParaRPr lang="en-US" sz="850" dirty="0"/>
          </a:p>
        </p:txBody>
      </p:sp>
      <p:sp>
        <p:nvSpPr>
          <p:cNvPr id="40" name="Shape 37"/>
          <p:cNvSpPr/>
          <p:nvPr/>
        </p:nvSpPr>
        <p:spPr>
          <a:xfrm>
            <a:off x="548640" y="3931920"/>
            <a:ext cx="2286000" cy="868680"/>
          </a:xfrm>
          <a:prstGeom prst="rect">
            <a:avLst/>
          </a:prstGeom>
          <a:solidFill>
            <a:srgbClr val="381418"/>
          </a:solidFill>
          <a:ln w="12700">
            <a:solidFill>
              <a:srgbClr val="381418"/>
            </a:solidFill>
            <a:prstDash val="solid"/>
          </a:ln>
        </p:spPr>
      </p:sp>
      <p:sp>
        <p:nvSpPr>
          <p:cNvPr id="41" name="Shape 38"/>
          <p:cNvSpPr/>
          <p:nvPr/>
        </p:nvSpPr>
        <p:spPr>
          <a:xfrm>
            <a:off x="548640" y="3931920"/>
            <a:ext cx="45720" cy="868680"/>
          </a:xfrm>
          <a:prstGeom prst="rect">
            <a:avLst/>
          </a:prstGeom>
          <a:solidFill>
            <a:srgbClr val="FBE122"/>
          </a:solidFill>
          <a:ln w="12700">
            <a:solidFill>
              <a:srgbClr val="FBE122"/>
            </a:solidFill>
            <a:prstDash val="solid"/>
          </a:ln>
        </p:spPr>
      </p:sp>
      <p:sp>
        <p:nvSpPr>
          <p:cNvPr id="42" name="Text 39"/>
          <p:cNvSpPr/>
          <p:nvPr/>
        </p:nvSpPr>
        <p:spPr>
          <a:xfrm>
            <a:off x="731520" y="4023360"/>
            <a:ext cx="2011680" cy="27432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Product R&amp;D &amp; Systems</a:t>
            </a:r>
            <a:endParaRPr lang="en-US" sz="900" dirty="0"/>
          </a:p>
        </p:txBody>
      </p:sp>
      <p:sp>
        <p:nvSpPr>
          <p:cNvPr id="43" name="Text 40"/>
          <p:cNvSpPr/>
          <p:nvPr/>
        </p:nvSpPr>
        <p:spPr>
          <a:xfrm>
            <a:off x="731520" y="4315968"/>
            <a:ext cx="2011680" cy="457200"/>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Metodologi akademi, inovasi rotasi skuad, MUTV</a:t>
            </a:r>
            <a:endParaRPr lang="en-US" sz="750" dirty="0"/>
          </a:p>
        </p:txBody>
      </p:sp>
      <p:sp>
        <p:nvSpPr>
          <p:cNvPr id="44" name="Shape 41"/>
          <p:cNvSpPr/>
          <p:nvPr/>
        </p:nvSpPr>
        <p:spPr>
          <a:xfrm>
            <a:off x="2926080" y="3931920"/>
            <a:ext cx="2286000" cy="868680"/>
          </a:xfrm>
          <a:prstGeom prst="rect">
            <a:avLst/>
          </a:prstGeom>
          <a:solidFill>
            <a:srgbClr val="381418"/>
          </a:solidFill>
          <a:ln w="12700">
            <a:solidFill>
              <a:srgbClr val="381418"/>
            </a:solidFill>
            <a:prstDash val="solid"/>
          </a:ln>
        </p:spPr>
      </p:sp>
      <p:sp>
        <p:nvSpPr>
          <p:cNvPr id="45" name="Shape 42"/>
          <p:cNvSpPr/>
          <p:nvPr/>
        </p:nvSpPr>
        <p:spPr>
          <a:xfrm>
            <a:off x="2926080" y="3931920"/>
            <a:ext cx="45720" cy="868680"/>
          </a:xfrm>
          <a:prstGeom prst="rect">
            <a:avLst/>
          </a:prstGeom>
          <a:solidFill>
            <a:srgbClr val="FBE122"/>
          </a:solidFill>
          <a:ln w="12700">
            <a:solidFill>
              <a:srgbClr val="FBE122"/>
            </a:solidFill>
            <a:prstDash val="solid"/>
          </a:ln>
        </p:spPr>
      </p:sp>
      <p:sp>
        <p:nvSpPr>
          <p:cNvPr id="46" name="Text 43"/>
          <p:cNvSpPr/>
          <p:nvPr/>
        </p:nvSpPr>
        <p:spPr>
          <a:xfrm>
            <a:off x="3108960" y="4023360"/>
            <a:ext cx="2011680" cy="27432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Human Resource Management</a:t>
            </a:r>
            <a:endParaRPr lang="en-US" sz="900" dirty="0"/>
          </a:p>
        </p:txBody>
      </p:sp>
      <p:sp>
        <p:nvSpPr>
          <p:cNvPr id="47" name="Text 44"/>
          <p:cNvSpPr/>
          <p:nvPr/>
        </p:nvSpPr>
        <p:spPr>
          <a:xfrm>
            <a:off x="3108960" y="4315968"/>
            <a:ext cx="2011680" cy="457200"/>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Rekrutmen, struktur gaji, penegakan disiplin</a:t>
            </a:r>
            <a:endParaRPr lang="en-US" sz="750" dirty="0"/>
          </a:p>
        </p:txBody>
      </p:sp>
      <p:sp>
        <p:nvSpPr>
          <p:cNvPr id="48" name="Shape 45"/>
          <p:cNvSpPr/>
          <p:nvPr/>
        </p:nvSpPr>
        <p:spPr>
          <a:xfrm>
            <a:off x="5303520" y="3931920"/>
            <a:ext cx="2286000" cy="868680"/>
          </a:xfrm>
          <a:prstGeom prst="rect">
            <a:avLst/>
          </a:prstGeom>
          <a:solidFill>
            <a:srgbClr val="381418"/>
          </a:solidFill>
          <a:ln w="12700">
            <a:solidFill>
              <a:srgbClr val="381418"/>
            </a:solidFill>
            <a:prstDash val="solid"/>
          </a:ln>
        </p:spPr>
      </p:sp>
      <p:sp>
        <p:nvSpPr>
          <p:cNvPr id="49" name="Shape 46"/>
          <p:cNvSpPr/>
          <p:nvPr/>
        </p:nvSpPr>
        <p:spPr>
          <a:xfrm>
            <a:off x="5303520" y="3931920"/>
            <a:ext cx="45720" cy="868680"/>
          </a:xfrm>
          <a:prstGeom prst="rect">
            <a:avLst/>
          </a:prstGeom>
          <a:solidFill>
            <a:srgbClr val="FBE122"/>
          </a:solidFill>
          <a:ln w="12700">
            <a:solidFill>
              <a:srgbClr val="FBE122"/>
            </a:solidFill>
            <a:prstDash val="solid"/>
          </a:ln>
        </p:spPr>
      </p:sp>
      <p:sp>
        <p:nvSpPr>
          <p:cNvPr id="50" name="Text 47"/>
          <p:cNvSpPr/>
          <p:nvPr/>
        </p:nvSpPr>
        <p:spPr>
          <a:xfrm>
            <a:off x="5486400" y="4023360"/>
            <a:ext cx="2011680" cy="27432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General Administration</a:t>
            </a:r>
            <a:endParaRPr lang="en-US" sz="900" dirty="0"/>
          </a:p>
        </p:txBody>
      </p:sp>
      <p:sp>
        <p:nvSpPr>
          <p:cNvPr id="51" name="Text 48"/>
          <p:cNvSpPr/>
          <p:nvPr/>
        </p:nvSpPr>
        <p:spPr>
          <a:xfrm>
            <a:off x="5486400" y="4315968"/>
            <a:ext cx="2011680" cy="457200"/>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Pemisahan peran Gill dan Ferguson; MU International</a:t>
            </a:r>
            <a:endParaRPr lang="en-US" sz="750" dirty="0"/>
          </a:p>
        </p:txBody>
      </p:sp>
      <p:sp>
        <p:nvSpPr>
          <p:cNvPr id="52" name="Text 49"/>
          <p:cNvSpPr/>
          <p:nvPr/>
        </p:nvSpPr>
        <p:spPr>
          <a:xfrm>
            <a:off x="7863840" y="1755648"/>
            <a:ext cx="377921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DI MANA LETAK KEUNGGULAN BIAYANYA</a:t>
            </a:r>
            <a:endParaRPr lang="en-US" sz="850" dirty="0"/>
          </a:p>
        </p:txBody>
      </p:sp>
      <p:sp>
        <p:nvSpPr>
          <p:cNvPr id="53" name="Shape 50"/>
          <p:cNvSpPr/>
          <p:nvPr/>
        </p:nvSpPr>
        <p:spPr>
          <a:xfrm>
            <a:off x="7863840" y="2029968"/>
            <a:ext cx="3779215" cy="640080"/>
          </a:xfrm>
          <a:prstGeom prst="rect">
            <a:avLst/>
          </a:prstGeom>
          <a:solidFill>
            <a:srgbClr val="2B0F11"/>
          </a:solidFill>
          <a:ln w="12700">
            <a:solidFill>
              <a:srgbClr val="2B0F11"/>
            </a:solidFill>
            <a:prstDash val="solid"/>
          </a:ln>
        </p:spPr>
      </p:sp>
      <p:sp>
        <p:nvSpPr>
          <p:cNvPr id="54" name="Shape 51"/>
          <p:cNvSpPr/>
          <p:nvPr/>
        </p:nvSpPr>
        <p:spPr>
          <a:xfrm>
            <a:off x="7863840" y="2029968"/>
            <a:ext cx="45720" cy="640080"/>
          </a:xfrm>
          <a:prstGeom prst="rect">
            <a:avLst/>
          </a:prstGeom>
          <a:solidFill>
            <a:srgbClr val="DA291C"/>
          </a:solidFill>
          <a:ln w="12700">
            <a:solidFill>
              <a:srgbClr val="DA291C"/>
            </a:solidFill>
            <a:prstDash val="solid"/>
          </a:ln>
        </p:spPr>
      </p:sp>
      <p:sp>
        <p:nvSpPr>
          <p:cNvPr id="55" name="Text 52"/>
          <p:cNvSpPr/>
          <p:nvPr/>
        </p:nvSpPr>
        <p:spPr>
          <a:xfrm>
            <a:off x="8046720" y="2093976"/>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Gaji hanya ± 50% pendapatan</a:t>
            </a:r>
            <a:endParaRPr lang="en-US" sz="950" dirty="0"/>
          </a:p>
        </p:txBody>
      </p:sp>
      <p:sp>
        <p:nvSpPr>
          <p:cNvPr id="56" name="Text 53"/>
          <p:cNvSpPr/>
          <p:nvPr/>
        </p:nvSpPr>
        <p:spPr>
          <a:xfrm>
            <a:off x="8046720" y="2322576"/>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Rata-rata Premier League 62%, Serie A 68%, Chelsea 81%. Selisih 31 poin dengan Chelsea.</a:t>
            </a:r>
            <a:endParaRPr lang="en-US" sz="750" dirty="0"/>
          </a:p>
        </p:txBody>
      </p:sp>
      <p:sp>
        <p:nvSpPr>
          <p:cNvPr id="57" name="Shape 54"/>
          <p:cNvSpPr/>
          <p:nvPr/>
        </p:nvSpPr>
        <p:spPr>
          <a:xfrm>
            <a:off x="7863840" y="2734056"/>
            <a:ext cx="3779215" cy="640080"/>
          </a:xfrm>
          <a:prstGeom prst="rect">
            <a:avLst/>
          </a:prstGeom>
          <a:solidFill>
            <a:srgbClr val="381418"/>
          </a:solidFill>
          <a:ln w="12700">
            <a:solidFill>
              <a:srgbClr val="381418"/>
            </a:solidFill>
            <a:prstDash val="solid"/>
          </a:ln>
        </p:spPr>
      </p:sp>
      <p:sp>
        <p:nvSpPr>
          <p:cNvPr id="58" name="Shape 55"/>
          <p:cNvSpPr/>
          <p:nvPr/>
        </p:nvSpPr>
        <p:spPr>
          <a:xfrm>
            <a:off x="7863840" y="2734056"/>
            <a:ext cx="45720" cy="640080"/>
          </a:xfrm>
          <a:prstGeom prst="rect">
            <a:avLst/>
          </a:prstGeom>
          <a:solidFill>
            <a:srgbClr val="DA291C"/>
          </a:solidFill>
          <a:ln w="12700">
            <a:solidFill>
              <a:srgbClr val="DA291C"/>
            </a:solidFill>
            <a:prstDash val="solid"/>
          </a:ln>
        </p:spPr>
      </p:sp>
      <p:sp>
        <p:nvSpPr>
          <p:cNvPr id="59" name="Text 56"/>
          <p:cNvSpPr/>
          <p:nvPr/>
        </p:nvSpPr>
        <p:spPr>
          <a:xfrm>
            <a:off x="8046720" y="2798064"/>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Akademi: pemain tanpa biaya transfer</a:t>
            </a:r>
            <a:endParaRPr lang="en-US" sz="950" dirty="0"/>
          </a:p>
        </p:txBody>
      </p:sp>
      <p:sp>
        <p:nvSpPr>
          <p:cNvPr id="60" name="Text 57"/>
          <p:cNvSpPr/>
          <p:nvPr/>
        </p:nvSpPr>
        <p:spPr>
          <a:xfrm>
            <a:off x="8046720" y="3026664"/>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Giggs, Beckham, Butt, Neville bersaudara, Scholes: inti tim 1994–2003 (hlm. 584).</a:t>
            </a:r>
            <a:endParaRPr lang="en-US" sz="750" dirty="0"/>
          </a:p>
        </p:txBody>
      </p:sp>
      <p:sp>
        <p:nvSpPr>
          <p:cNvPr id="61" name="Shape 58"/>
          <p:cNvSpPr/>
          <p:nvPr/>
        </p:nvSpPr>
        <p:spPr>
          <a:xfrm>
            <a:off x="7863840" y="3438144"/>
            <a:ext cx="3779215" cy="640080"/>
          </a:xfrm>
          <a:prstGeom prst="rect">
            <a:avLst/>
          </a:prstGeom>
          <a:solidFill>
            <a:srgbClr val="2B0F11"/>
          </a:solidFill>
          <a:ln w="12700">
            <a:solidFill>
              <a:srgbClr val="2B0F11"/>
            </a:solidFill>
            <a:prstDash val="solid"/>
          </a:ln>
        </p:spPr>
      </p:sp>
      <p:sp>
        <p:nvSpPr>
          <p:cNvPr id="62" name="Shape 59"/>
          <p:cNvSpPr/>
          <p:nvPr/>
        </p:nvSpPr>
        <p:spPr>
          <a:xfrm>
            <a:off x="7863840" y="3438144"/>
            <a:ext cx="45720" cy="640080"/>
          </a:xfrm>
          <a:prstGeom prst="rect">
            <a:avLst/>
          </a:prstGeom>
          <a:solidFill>
            <a:srgbClr val="DA291C"/>
          </a:solidFill>
          <a:ln w="12700">
            <a:solidFill>
              <a:srgbClr val="DA291C"/>
            </a:solidFill>
            <a:prstDash val="solid"/>
          </a:ln>
        </p:spPr>
      </p:sp>
      <p:sp>
        <p:nvSpPr>
          <p:cNvPr id="63" name="Text 60"/>
          <p:cNvSpPr/>
          <p:nvPr/>
        </p:nvSpPr>
        <p:spPr>
          <a:xfrm>
            <a:off x="8046720" y="3502152"/>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Menjual pemain yang dihargai tinggi</a:t>
            </a:r>
            <a:endParaRPr lang="en-US" sz="950" dirty="0"/>
          </a:p>
        </p:txBody>
      </p:sp>
      <p:sp>
        <p:nvSpPr>
          <p:cNvPr id="64" name="Text 61"/>
          <p:cNvSpPr/>
          <p:nvPr/>
        </p:nvSpPr>
        <p:spPr>
          <a:xfrm>
            <a:off x="8046720" y="3730752"/>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Kotor £322 jt, bersih hanya £100 jt (2003–09). Ronaldo dilepas £80 jt, rekor dunia.</a:t>
            </a:r>
            <a:endParaRPr lang="en-US" sz="750" dirty="0"/>
          </a:p>
        </p:txBody>
      </p:sp>
      <p:sp>
        <p:nvSpPr>
          <p:cNvPr id="65" name="Shape 62"/>
          <p:cNvSpPr/>
          <p:nvPr/>
        </p:nvSpPr>
        <p:spPr>
          <a:xfrm>
            <a:off x="7863840" y="4142232"/>
            <a:ext cx="3779215" cy="640080"/>
          </a:xfrm>
          <a:prstGeom prst="rect">
            <a:avLst/>
          </a:prstGeom>
          <a:solidFill>
            <a:srgbClr val="381418"/>
          </a:solidFill>
          <a:ln w="12700">
            <a:solidFill>
              <a:srgbClr val="381418"/>
            </a:solidFill>
            <a:prstDash val="solid"/>
          </a:ln>
        </p:spPr>
      </p:sp>
      <p:sp>
        <p:nvSpPr>
          <p:cNvPr id="66" name="Shape 63"/>
          <p:cNvSpPr/>
          <p:nvPr/>
        </p:nvSpPr>
        <p:spPr>
          <a:xfrm>
            <a:off x="7863840" y="4142232"/>
            <a:ext cx="45720" cy="640080"/>
          </a:xfrm>
          <a:prstGeom prst="rect">
            <a:avLst/>
          </a:prstGeom>
          <a:solidFill>
            <a:srgbClr val="FBE122"/>
          </a:solidFill>
          <a:ln w="12700">
            <a:solidFill>
              <a:srgbClr val="FBE122"/>
            </a:solidFill>
            <a:prstDash val="solid"/>
          </a:ln>
        </p:spPr>
      </p:sp>
      <p:sp>
        <p:nvSpPr>
          <p:cNvPr id="67" name="Text 64"/>
          <p:cNvSpPr/>
          <p:nvPr/>
        </p:nvSpPr>
        <p:spPr>
          <a:xfrm>
            <a:off x="8046720" y="4206240"/>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Yang melawan arah</a:t>
            </a:r>
            <a:endParaRPr lang="en-US" sz="950" dirty="0"/>
          </a:p>
        </p:txBody>
      </p:sp>
      <p:sp>
        <p:nvSpPr>
          <p:cNvPr id="68" name="Text 65"/>
          <p:cNvSpPr/>
          <p:nvPr/>
        </p:nvSpPr>
        <p:spPr>
          <a:xfrm>
            <a:off x="8046720" y="4434840"/>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E9DDD8"/>
                </a:solidFill>
                <a:latin typeface="Poppins" pitchFamily="34" charset="0"/>
                <a:ea typeface="Poppins" pitchFamily="34" charset="-122"/>
                <a:cs typeface="Poppins" pitchFamily="34" charset="-120"/>
              </a:rPr>
              <a:t>Amortisasi pemain naik dari £24,2 jt (2005) ke £35,5 jt (2008).</a:t>
            </a:r>
            <a:endParaRPr lang="en-US" sz="750" dirty="0"/>
          </a:p>
        </p:txBody>
      </p:sp>
      <p:sp>
        <p:nvSpPr>
          <p:cNvPr id="69" name="Shape 66"/>
          <p:cNvSpPr/>
          <p:nvPr/>
        </p:nvSpPr>
        <p:spPr>
          <a:xfrm>
            <a:off x="548640" y="5001768"/>
            <a:ext cx="11094415" cy="868680"/>
          </a:xfrm>
          <a:prstGeom prst="rect">
            <a:avLst/>
          </a:prstGeom>
          <a:solidFill>
            <a:srgbClr val="DA291C"/>
          </a:solidFill>
          <a:ln w="12700">
            <a:solidFill>
              <a:srgbClr val="DA291C"/>
            </a:solidFill>
            <a:prstDash val="solid"/>
          </a:ln>
        </p:spPr>
      </p:sp>
      <p:sp>
        <p:nvSpPr>
          <p:cNvPr id="70" name="Text 67"/>
          <p:cNvSpPr/>
          <p:nvPr/>
        </p:nvSpPr>
        <p:spPr>
          <a:xfrm>
            <a:off x="777240" y="512978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NILAI BAGI DUA PIHAK BERBEDA</a:t>
            </a:r>
            <a:endParaRPr lang="en-US" sz="800" dirty="0"/>
          </a:p>
        </p:txBody>
      </p:sp>
      <p:sp>
        <p:nvSpPr>
          <p:cNvPr id="71" name="Text 68"/>
          <p:cNvSpPr/>
          <p:nvPr/>
        </p:nvSpPr>
        <p:spPr>
          <a:xfrm>
            <a:off x="777240" y="5367528"/>
            <a:ext cx="10637215" cy="41148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Bagi pendukung: prestasi, sejarah, dan pengalaman Old Trafford. Bagi sponsor: akses ke 80 juta pendukung Asia, ditambah bukti bahwa akses itu bekerja, yaitu lompatan AIG ke peringkat 47 merek dunia dalam satu tahun.</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4  ·  BENCHMARKING DITERAPKAN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30</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YANG DIBANDINGKAN BUKAN PENDAPATAN, TETAPI MARGIN</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Benchmarking mengubah dugaan VRIN Test menjadi bukti: sistem pengembangan dan penjualan pemain MU memang lebih unggul.</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 Table 6.5 (Forbes 2009) dan Table 6.6; margin dihitung dari EBITDA dibagi pendapatan.</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30</a:t>
            </a:r>
            <a:endParaRPr lang="en-US" sz="900" dirty="0"/>
          </a:p>
        </p:txBody>
      </p:sp>
      <p:sp>
        <p:nvSpPr>
          <p:cNvPr id="13" name="Shape 10"/>
          <p:cNvSpPr/>
          <p:nvPr/>
        </p:nvSpPr>
        <p:spPr>
          <a:xfrm>
            <a:off x="548640" y="1755648"/>
            <a:ext cx="6126480" cy="4160520"/>
          </a:xfrm>
          <a:prstGeom prst="rect">
            <a:avLst/>
          </a:prstGeom>
          <a:solidFill>
            <a:srgbClr val="2B0F11"/>
          </a:solidFill>
          <a:ln w="12700">
            <a:solidFill>
              <a:srgbClr val="2B0F11"/>
            </a:solidFill>
            <a:prstDash val="solid"/>
          </a:ln>
        </p:spPr>
      </p:sp>
      <p:sp>
        <p:nvSpPr>
          <p:cNvPr id="14" name="Text 11"/>
          <p:cNvSpPr/>
          <p:nvPr/>
        </p:nvSpPr>
        <p:spPr>
          <a:xfrm>
            <a:off x="777240" y="1892808"/>
            <a:ext cx="566928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MARGIN EBITDA KLUB EROPA, %  ·  DIHITUNG DARI TABLE 6.5</a:t>
            </a:r>
            <a:endParaRPr lang="en-US" sz="850" dirty="0"/>
          </a:p>
        </p:txBody>
      </p:sp>
      <p:sp>
        <p:nvSpPr>
          <p:cNvPr id="15" name="Text 12"/>
          <p:cNvSpPr/>
          <p:nvPr/>
        </p:nvSpPr>
        <p:spPr>
          <a:xfrm>
            <a:off x="777240" y="2262317"/>
            <a:ext cx="1234440" cy="257678"/>
          </a:xfrm>
          <a:prstGeom prst="rect">
            <a:avLst/>
          </a:prstGeom>
          <a:noFill/>
          <a:ln/>
        </p:spPr>
        <p:txBody>
          <a:bodyPr wrap="square" lIns="0" tIns="0" rIns="0" bIns="0" rtlCol="0" anchor="ctr"/>
          <a:lstStyle/>
          <a:p>
            <a:pPr algn="r" indent="0" marL="0">
              <a:buNone/>
            </a:pPr>
            <a:r>
              <a:rPr lang="en-US" sz="900" dirty="0">
                <a:solidFill>
                  <a:srgbClr val="FFFFFF"/>
                </a:solidFill>
                <a:latin typeface="Poppins SemiBold" pitchFamily="34" charset="0"/>
                <a:ea typeface="Poppins SemiBold" pitchFamily="34" charset="-122"/>
                <a:cs typeface="Poppins SemiBold" pitchFamily="34" charset="-120"/>
              </a:rPr>
              <a:t>Man United</a:t>
            </a:r>
            <a:endParaRPr lang="en-US" sz="900" dirty="0"/>
          </a:p>
        </p:txBody>
      </p:sp>
      <p:sp>
        <p:nvSpPr>
          <p:cNvPr id="16" name="Shape 13"/>
          <p:cNvSpPr/>
          <p:nvPr/>
        </p:nvSpPr>
        <p:spPr>
          <a:xfrm>
            <a:off x="2465169" y="2280605"/>
            <a:ext cx="3204111" cy="221102"/>
          </a:xfrm>
          <a:prstGeom prst="rect">
            <a:avLst/>
          </a:prstGeom>
          <a:solidFill>
            <a:srgbClr val="DA291C"/>
          </a:solidFill>
          <a:ln w="12700">
            <a:solidFill>
              <a:srgbClr val="DA291C"/>
            </a:solidFill>
            <a:prstDash val="solid"/>
          </a:ln>
        </p:spPr>
      </p:sp>
      <p:sp>
        <p:nvSpPr>
          <p:cNvPr id="17" name="Text 14"/>
          <p:cNvSpPr/>
          <p:nvPr/>
        </p:nvSpPr>
        <p:spPr>
          <a:xfrm>
            <a:off x="5742432" y="2262317"/>
            <a:ext cx="685800" cy="257678"/>
          </a:xfrm>
          <a:prstGeom prst="rect">
            <a:avLst/>
          </a:prstGeom>
          <a:noFill/>
          <a:ln/>
        </p:spPr>
        <p:txBody>
          <a:bodyPr wrap="square" lIns="0" tIns="0" rIns="0" bIns="0" rtlCol="0" anchor="ctr"/>
          <a:lstStyle/>
          <a:p>
            <a:pPr algn="l" indent="0" marL="0">
              <a:buNone/>
            </a:pPr>
            <a:r>
              <a:rPr lang="en-US" sz="900" dirty="0">
                <a:solidFill>
                  <a:srgbClr val="FBE122"/>
                </a:solidFill>
                <a:latin typeface="Poppins SemiBold" pitchFamily="34" charset="0"/>
                <a:ea typeface="Poppins SemiBold" pitchFamily="34" charset="-122"/>
                <a:cs typeface="Poppins SemiBold" pitchFamily="34" charset="-120"/>
              </a:rPr>
              <a:t>31,4</a:t>
            </a:r>
            <a:endParaRPr lang="en-US" sz="900" dirty="0"/>
          </a:p>
        </p:txBody>
      </p:sp>
      <p:sp>
        <p:nvSpPr>
          <p:cNvPr id="18" name="Text 15"/>
          <p:cNvSpPr/>
          <p:nvPr/>
        </p:nvSpPr>
        <p:spPr>
          <a:xfrm>
            <a:off x="777240" y="2618933"/>
            <a:ext cx="1234440" cy="257678"/>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Barcelona</a:t>
            </a:r>
            <a:endParaRPr lang="en-US" sz="900" dirty="0"/>
          </a:p>
        </p:txBody>
      </p:sp>
      <p:sp>
        <p:nvSpPr>
          <p:cNvPr id="19" name="Shape 16"/>
          <p:cNvSpPr/>
          <p:nvPr/>
        </p:nvSpPr>
        <p:spPr>
          <a:xfrm>
            <a:off x="2465169" y="2637221"/>
            <a:ext cx="2275531" cy="221102"/>
          </a:xfrm>
          <a:prstGeom prst="rect">
            <a:avLst/>
          </a:prstGeom>
          <a:solidFill>
            <a:srgbClr val="4C2226"/>
          </a:solidFill>
          <a:ln w="12700">
            <a:solidFill>
              <a:srgbClr val="4C2226"/>
            </a:solidFill>
            <a:prstDash val="solid"/>
          </a:ln>
        </p:spPr>
      </p:sp>
      <p:sp>
        <p:nvSpPr>
          <p:cNvPr id="20" name="Text 17"/>
          <p:cNvSpPr/>
          <p:nvPr/>
        </p:nvSpPr>
        <p:spPr>
          <a:xfrm>
            <a:off x="4813852" y="2618933"/>
            <a:ext cx="685800" cy="257678"/>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22,3</a:t>
            </a:r>
            <a:endParaRPr lang="en-US" sz="900" dirty="0"/>
          </a:p>
        </p:txBody>
      </p:sp>
      <p:sp>
        <p:nvSpPr>
          <p:cNvPr id="21" name="Text 18"/>
          <p:cNvSpPr/>
          <p:nvPr/>
        </p:nvSpPr>
        <p:spPr>
          <a:xfrm>
            <a:off x="777240" y="2975549"/>
            <a:ext cx="1234440" cy="257678"/>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Arsenal</a:t>
            </a:r>
            <a:endParaRPr lang="en-US" sz="900" dirty="0"/>
          </a:p>
        </p:txBody>
      </p:sp>
      <p:sp>
        <p:nvSpPr>
          <p:cNvPr id="22" name="Shape 19"/>
          <p:cNvSpPr/>
          <p:nvPr/>
        </p:nvSpPr>
        <p:spPr>
          <a:xfrm>
            <a:off x="2465169" y="2993837"/>
            <a:ext cx="1969406" cy="221102"/>
          </a:xfrm>
          <a:prstGeom prst="rect">
            <a:avLst/>
          </a:prstGeom>
          <a:solidFill>
            <a:srgbClr val="4C2226"/>
          </a:solidFill>
          <a:ln w="12700">
            <a:solidFill>
              <a:srgbClr val="4C2226"/>
            </a:solidFill>
            <a:prstDash val="solid"/>
          </a:ln>
        </p:spPr>
      </p:sp>
      <p:sp>
        <p:nvSpPr>
          <p:cNvPr id="23" name="Text 20"/>
          <p:cNvSpPr/>
          <p:nvPr/>
        </p:nvSpPr>
        <p:spPr>
          <a:xfrm>
            <a:off x="4507727" y="2975549"/>
            <a:ext cx="685800" cy="257678"/>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19,3</a:t>
            </a:r>
            <a:endParaRPr lang="en-US" sz="900" dirty="0"/>
          </a:p>
        </p:txBody>
      </p:sp>
      <p:sp>
        <p:nvSpPr>
          <p:cNvPr id="24" name="Text 21"/>
          <p:cNvSpPr/>
          <p:nvPr/>
        </p:nvSpPr>
        <p:spPr>
          <a:xfrm>
            <a:off x="777240" y="3332165"/>
            <a:ext cx="1234440" cy="257678"/>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AC Milan</a:t>
            </a:r>
            <a:endParaRPr lang="en-US" sz="900" dirty="0"/>
          </a:p>
        </p:txBody>
      </p:sp>
      <p:sp>
        <p:nvSpPr>
          <p:cNvPr id="25" name="Shape 22"/>
          <p:cNvSpPr/>
          <p:nvPr/>
        </p:nvSpPr>
        <p:spPr>
          <a:xfrm>
            <a:off x="2465169" y="3350453"/>
            <a:ext cx="1795935" cy="221102"/>
          </a:xfrm>
          <a:prstGeom prst="rect">
            <a:avLst/>
          </a:prstGeom>
          <a:solidFill>
            <a:srgbClr val="4C2226"/>
          </a:solidFill>
          <a:ln w="12700">
            <a:solidFill>
              <a:srgbClr val="4C2226"/>
            </a:solidFill>
            <a:prstDash val="solid"/>
          </a:ln>
        </p:spPr>
      </p:sp>
      <p:sp>
        <p:nvSpPr>
          <p:cNvPr id="26" name="Text 23"/>
          <p:cNvSpPr/>
          <p:nvPr/>
        </p:nvSpPr>
        <p:spPr>
          <a:xfrm>
            <a:off x="4334256" y="3332165"/>
            <a:ext cx="685800" cy="257678"/>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17,6</a:t>
            </a:r>
            <a:endParaRPr lang="en-US" sz="900" dirty="0"/>
          </a:p>
        </p:txBody>
      </p:sp>
      <p:sp>
        <p:nvSpPr>
          <p:cNvPr id="27" name="Text 24"/>
          <p:cNvSpPr/>
          <p:nvPr/>
        </p:nvSpPr>
        <p:spPr>
          <a:xfrm>
            <a:off x="777240" y="3688781"/>
            <a:ext cx="1234440" cy="257678"/>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Juventus</a:t>
            </a:r>
            <a:endParaRPr lang="en-US" sz="900" dirty="0"/>
          </a:p>
        </p:txBody>
      </p:sp>
      <p:sp>
        <p:nvSpPr>
          <p:cNvPr id="28" name="Shape 25"/>
          <p:cNvSpPr/>
          <p:nvPr/>
        </p:nvSpPr>
        <p:spPr>
          <a:xfrm>
            <a:off x="2465169" y="3707069"/>
            <a:ext cx="1785730" cy="221102"/>
          </a:xfrm>
          <a:prstGeom prst="rect">
            <a:avLst/>
          </a:prstGeom>
          <a:solidFill>
            <a:srgbClr val="4C2226"/>
          </a:solidFill>
          <a:ln w="12700">
            <a:solidFill>
              <a:srgbClr val="4C2226"/>
            </a:solidFill>
            <a:prstDash val="solid"/>
          </a:ln>
        </p:spPr>
      </p:sp>
      <p:sp>
        <p:nvSpPr>
          <p:cNvPr id="29" name="Text 26"/>
          <p:cNvSpPr/>
          <p:nvPr/>
        </p:nvSpPr>
        <p:spPr>
          <a:xfrm>
            <a:off x="4324052" y="3688781"/>
            <a:ext cx="685800" cy="257678"/>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17,5</a:t>
            </a:r>
            <a:endParaRPr lang="en-US" sz="900" dirty="0"/>
          </a:p>
        </p:txBody>
      </p:sp>
      <p:sp>
        <p:nvSpPr>
          <p:cNvPr id="30" name="Text 27"/>
          <p:cNvSpPr/>
          <p:nvPr/>
        </p:nvSpPr>
        <p:spPr>
          <a:xfrm>
            <a:off x="777240" y="4045397"/>
            <a:ext cx="1234440" cy="257678"/>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Liverpool</a:t>
            </a:r>
            <a:endParaRPr lang="en-US" sz="900" dirty="0"/>
          </a:p>
        </p:txBody>
      </p:sp>
      <p:sp>
        <p:nvSpPr>
          <p:cNvPr id="31" name="Shape 28"/>
          <p:cNvSpPr/>
          <p:nvPr/>
        </p:nvSpPr>
        <p:spPr>
          <a:xfrm>
            <a:off x="2465169" y="4063685"/>
            <a:ext cx="1612259" cy="221102"/>
          </a:xfrm>
          <a:prstGeom prst="rect">
            <a:avLst/>
          </a:prstGeom>
          <a:solidFill>
            <a:srgbClr val="4C2226"/>
          </a:solidFill>
          <a:ln w="12700">
            <a:solidFill>
              <a:srgbClr val="4C2226"/>
            </a:solidFill>
            <a:prstDash val="solid"/>
          </a:ln>
        </p:spPr>
      </p:sp>
      <p:sp>
        <p:nvSpPr>
          <p:cNvPr id="32" name="Text 29"/>
          <p:cNvSpPr/>
          <p:nvPr/>
        </p:nvSpPr>
        <p:spPr>
          <a:xfrm>
            <a:off x="4150581" y="4045397"/>
            <a:ext cx="685800" cy="257678"/>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15,8</a:t>
            </a:r>
            <a:endParaRPr lang="en-US" sz="900" dirty="0"/>
          </a:p>
        </p:txBody>
      </p:sp>
      <p:sp>
        <p:nvSpPr>
          <p:cNvPr id="33" name="Text 30"/>
          <p:cNvSpPr/>
          <p:nvPr/>
        </p:nvSpPr>
        <p:spPr>
          <a:xfrm>
            <a:off x="777240" y="4402013"/>
            <a:ext cx="1234440" cy="257678"/>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Real Madrid</a:t>
            </a:r>
            <a:endParaRPr lang="en-US" sz="900" dirty="0"/>
          </a:p>
        </p:txBody>
      </p:sp>
      <p:sp>
        <p:nvSpPr>
          <p:cNvPr id="34" name="Shape 31"/>
          <p:cNvSpPr/>
          <p:nvPr/>
        </p:nvSpPr>
        <p:spPr>
          <a:xfrm>
            <a:off x="2465169" y="4420301"/>
            <a:ext cx="1438789" cy="221102"/>
          </a:xfrm>
          <a:prstGeom prst="rect">
            <a:avLst/>
          </a:prstGeom>
          <a:solidFill>
            <a:srgbClr val="4C2226"/>
          </a:solidFill>
          <a:ln w="12700">
            <a:solidFill>
              <a:srgbClr val="4C2226"/>
            </a:solidFill>
            <a:prstDash val="solid"/>
          </a:ln>
        </p:spPr>
      </p:sp>
      <p:sp>
        <p:nvSpPr>
          <p:cNvPr id="35" name="Text 32"/>
          <p:cNvSpPr/>
          <p:nvPr/>
        </p:nvSpPr>
        <p:spPr>
          <a:xfrm>
            <a:off x="3977110" y="4402013"/>
            <a:ext cx="685800" cy="257678"/>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14,1</a:t>
            </a:r>
            <a:endParaRPr lang="en-US" sz="900" dirty="0"/>
          </a:p>
        </p:txBody>
      </p:sp>
      <p:sp>
        <p:nvSpPr>
          <p:cNvPr id="36" name="Text 33"/>
          <p:cNvSpPr/>
          <p:nvPr/>
        </p:nvSpPr>
        <p:spPr>
          <a:xfrm>
            <a:off x="777240" y="4758629"/>
            <a:ext cx="1234440" cy="257678"/>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Bayern</a:t>
            </a:r>
            <a:endParaRPr lang="en-US" sz="900" dirty="0"/>
          </a:p>
        </p:txBody>
      </p:sp>
      <p:sp>
        <p:nvSpPr>
          <p:cNvPr id="37" name="Shape 34"/>
          <p:cNvSpPr/>
          <p:nvPr/>
        </p:nvSpPr>
        <p:spPr>
          <a:xfrm>
            <a:off x="2465169" y="4776917"/>
            <a:ext cx="1295930" cy="221102"/>
          </a:xfrm>
          <a:prstGeom prst="rect">
            <a:avLst/>
          </a:prstGeom>
          <a:solidFill>
            <a:srgbClr val="4C2226"/>
          </a:solidFill>
          <a:ln w="12700">
            <a:solidFill>
              <a:srgbClr val="4C2226"/>
            </a:solidFill>
            <a:prstDash val="solid"/>
          </a:ln>
        </p:spPr>
      </p:sp>
      <p:sp>
        <p:nvSpPr>
          <p:cNvPr id="38" name="Text 35"/>
          <p:cNvSpPr/>
          <p:nvPr/>
        </p:nvSpPr>
        <p:spPr>
          <a:xfrm>
            <a:off x="3834251" y="4758629"/>
            <a:ext cx="685800" cy="257678"/>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12,7</a:t>
            </a:r>
            <a:endParaRPr lang="en-US" sz="900" dirty="0"/>
          </a:p>
        </p:txBody>
      </p:sp>
      <p:sp>
        <p:nvSpPr>
          <p:cNvPr id="39" name="Text 36"/>
          <p:cNvSpPr/>
          <p:nvPr/>
        </p:nvSpPr>
        <p:spPr>
          <a:xfrm>
            <a:off x="777240" y="5115245"/>
            <a:ext cx="1234440" cy="257678"/>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Inter</a:t>
            </a:r>
            <a:endParaRPr lang="en-US" sz="900" dirty="0"/>
          </a:p>
        </p:txBody>
      </p:sp>
      <p:sp>
        <p:nvSpPr>
          <p:cNvPr id="40" name="Shape 37"/>
          <p:cNvSpPr/>
          <p:nvPr/>
        </p:nvSpPr>
        <p:spPr>
          <a:xfrm>
            <a:off x="2465169" y="5133533"/>
            <a:ext cx="1010213" cy="221102"/>
          </a:xfrm>
          <a:prstGeom prst="rect">
            <a:avLst/>
          </a:prstGeom>
          <a:solidFill>
            <a:srgbClr val="4C2226"/>
          </a:solidFill>
          <a:ln w="12700">
            <a:solidFill>
              <a:srgbClr val="4C2226"/>
            </a:solidFill>
            <a:prstDash val="solid"/>
          </a:ln>
        </p:spPr>
      </p:sp>
      <p:sp>
        <p:nvSpPr>
          <p:cNvPr id="41" name="Text 38"/>
          <p:cNvSpPr/>
          <p:nvPr/>
        </p:nvSpPr>
        <p:spPr>
          <a:xfrm>
            <a:off x="3548535" y="5115245"/>
            <a:ext cx="685800" cy="257678"/>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9,9</a:t>
            </a:r>
            <a:endParaRPr lang="en-US" sz="900" dirty="0"/>
          </a:p>
        </p:txBody>
      </p:sp>
      <p:sp>
        <p:nvSpPr>
          <p:cNvPr id="42" name="Text 39"/>
          <p:cNvSpPr/>
          <p:nvPr/>
        </p:nvSpPr>
        <p:spPr>
          <a:xfrm>
            <a:off x="777240" y="5471861"/>
            <a:ext cx="1234440" cy="257678"/>
          </a:xfrm>
          <a:prstGeom prst="rect">
            <a:avLst/>
          </a:prstGeom>
          <a:noFill/>
          <a:ln/>
        </p:spPr>
        <p:txBody>
          <a:bodyPr wrap="square" lIns="0" tIns="0" rIns="0" bIns="0" rtlCol="0" anchor="ctr"/>
          <a:lstStyle/>
          <a:p>
            <a:pPr algn="r" indent="0" marL="0">
              <a:buNone/>
            </a:pPr>
            <a:r>
              <a:rPr lang="en-US" sz="900" dirty="0">
                <a:solidFill>
                  <a:srgbClr val="E9DDD8"/>
                </a:solidFill>
                <a:latin typeface="Poppins" pitchFamily="34" charset="0"/>
                <a:ea typeface="Poppins" pitchFamily="34" charset="-122"/>
                <a:cs typeface="Poppins" pitchFamily="34" charset="-120"/>
              </a:rPr>
              <a:t>Chelsea</a:t>
            </a:r>
            <a:endParaRPr lang="en-US" sz="900" dirty="0"/>
          </a:p>
        </p:txBody>
      </p:sp>
      <p:sp>
        <p:nvSpPr>
          <p:cNvPr id="43" name="Shape 40"/>
          <p:cNvSpPr/>
          <p:nvPr/>
        </p:nvSpPr>
        <p:spPr>
          <a:xfrm>
            <a:off x="2148840" y="5490149"/>
            <a:ext cx="316329" cy="221102"/>
          </a:xfrm>
          <a:prstGeom prst="rect">
            <a:avLst/>
          </a:prstGeom>
          <a:solidFill>
            <a:srgbClr val="4C2226"/>
          </a:solidFill>
          <a:ln w="12700">
            <a:solidFill>
              <a:srgbClr val="4C2226"/>
            </a:solidFill>
            <a:prstDash val="solid"/>
          </a:ln>
        </p:spPr>
      </p:sp>
      <p:sp>
        <p:nvSpPr>
          <p:cNvPr id="44" name="Text 41"/>
          <p:cNvSpPr/>
          <p:nvPr/>
        </p:nvSpPr>
        <p:spPr>
          <a:xfrm>
            <a:off x="2538321" y="5471861"/>
            <a:ext cx="685800" cy="257678"/>
          </a:xfrm>
          <a:prstGeom prst="rect">
            <a:avLst/>
          </a:prstGeom>
          <a:noFill/>
          <a:ln/>
        </p:spPr>
        <p:txBody>
          <a:bodyPr wrap="square" lIns="0" tIns="0" rIns="0" bIns="0" rtlCol="0" anchor="ctr"/>
          <a:lstStyle/>
          <a:p>
            <a:pPr algn="l" indent="0" marL="0">
              <a:buNone/>
            </a:pPr>
            <a:r>
              <a:rPr lang="en-US" sz="900" dirty="0">
                <a:solidFill>
                  <a:srgbClr val="E9DDD8"/>
                </a:solidFill>
                <a:latin typeface="Poppins SemiBold" pitchFamily="34" charset="0"/>
                <a:ea typeface="Poppins SemiBold" pitchFamily="34" charset="-122"/>
                <a:cs typeface="Poppins SemiBold" pitchFamily="34" charset="-120"/>
              </a:rPr>
              <a:t>−3,1</a:t>
            </a:r>
            <a:endParaRPr lang="en-US" sz="900" dirty="0"/>
          </a:p>
        </p:txBody>
      </p:sp>
      <p:sp>
        <p:nvSpPr>
          <p:cNvPr id="45" name="Shape 42"/>
          <p:cNvSpPr/>
          <p:nvPr/>
        </p:nvSpPr>
        <p:spPr>
          <a:xfrm>
            <a:off x="2465169" y="2212848"/>
            <a:ext cx="9144" cy="3566160"/>
          </a:xfrm>
          <a:prstGeom prst="rect">
            <a:avLst/>
          </a:prstGeom>
          <a:solidFill>
            <a:srgbClr val="A8928E"/>
          </a:solidFill>
          <a:ln w="12700">
            <a:solidFill>
              <a:srgbClr val="A8928E"/>
            </a:solidFill>
            <a:prstDash val="solid"/>
          </a:ln>
        </p:spPr>
      </p:sp>
      <p:sp>
        <p:nvSpPr>
          <p:cNvPr id="46" name="Shape 43"/>
          <p:cNvSpPr/>
          <p:nvPr/>
        </p:nvSpPr>
        <p:spPr>
          <a:xfrm>
            <a:off x="6903720" y="1755648"/>
            <a:ext cx="4739335" cy="2057400"/>
          </a:xfrm>
          <a:prstGeom prst="rect">
            <a:avLst/>
          </a:prstGeom>
          <a:solidFill>
            <a:srgbClr val="2B0F11"/>
          </a:solidFill>
          <a:ln w="12700">
            <a:solidFill>
              <a:srgbClr val="2B0F11"/>
            </a:solidFill>
            <a:prstDash val="solid"/>
          </a:ln>
        </p:spPr>
      </p:sp>
      <p:sp>
        <p:nvSpPr>
          <p:cNvPr id="47" name="Shape 44"/>
          <p:cNvSpPr/>
          <p:nvPr/>
        </p:nvSpPr>
        <p:spPr>
          <a:xfrm>
            <a:off x="6903720" y="1755648"/>
            <a:ext cx="54864" cy="2057400"/>
          </a:xfrm>
          <a:prstGeom prst="rect">
            <a:avLst/>
          </a:prstGeom>
          <a:solidFill>
            <a:srgbClr val="DA291C"/>
          </a:solidFill>
          <a:ln w="12700">
            <a:solidFill>
              <a:srgbClr val="DA291C"/>
            </a:solidFill>
            <a:prstDash val="solid"/>
          </a:ln>
        </p:spPr>
      </p:sp>
      <p:sp>
        <p:nvSpPr>
          <p:cNvPr id="48" name="Text 45"/>
          <p:cNvSpPr/>
          <p:nvPr/>
        </p:nvSpPr>
        <p:spPr>
          <a:xfrm>
            <a:off x="7123176" y="1901952"/>
            <a:ext cx="4373575"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Tiga cara mendapat pemain</a:t>
            </a:r>
            <a:endParaRPr lang="en-US" sz="1200" dirty="0"/>
          </a:p>
        </p:txBody>
      </p:sp>
      <p:sp>
        <p:nvSpPr>
          <p:cNvPr id="49" name="Text 46"/>
          <p:cNvSpPr/>
          <p:nvPr/>
        </p:nvSpPr>
        <p:spPr>
          <a:xfrm>
            <a:off x="7123176" y="2231136"/>
            <a:ext cx="4373575" cy="1472184"/>
          </a:xfrm>
          <a:prstGeom prst="rect">
            <a:avLst/>
          </a:prstGeom>
          <a:noFill/>
          <a:ln/>
        </p:spPr>
        <p:txBody>
          <a:bodyPr wrap="square" lIns="0" tIns="0" rIns="0" bIns="0" rtlCol="0" anchor="t"/>
          <a:lstStyle/>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Membeli bintang: Real Madrid, Chelsea. Pendapatan tinggi, laba rendah atau rugi.</a:t>
            </a:r>
            <a:endParaRPr lang="en-US" sz="950" dirty="0"/>
          </a:p>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Mengembangkan sendiri: Barcelona, Arsenal, Bayern. Laba positif dengan pendapatan lebih rendah.</a:t>
            </a:r>
            <a:endParaRPr lang="en-US" sz="950" dirty="0"/>
          </a:p>
          <a:p>
            <a:pPr indent="0" marL="0">
              <a:lnSpc>
                <a:spcPct val="108000"/>
              </a:lnSpc>
              <a:buNone/>
            </a:pPr>
            <a:r>
              <a:rPr lang="en-US" sz="950" dirty="0">
                <a:solidFill>
                  <a:srgbClr val="E9DDD8"/>
                </a:solidFill>
                <a:latin typeface="Poppins" pitchFamily="34" charset="0"/>
                <a:ea typeface="Poppins" pitchFamily="34" charset="-122"/>
                <a:cs typeface="Poppins" pitchFamily="34" charset="-120"/>
              </a:rPr>
              <a:t>Gabungan: MU membeli bintang, lalu menjual saat klub lain menilai lebih tinggi (hlm. 580, 583).</a:t>
            </a:r>
            <a:endParaRPr lang="en-US" sz="950" dirty="0"/>
          </a:p>
        </p:txBody>
      </p:sp>
      <p:sp>
        <p:nvSpPr>
          <p:cNvPr id="50" name="Shape 47"/>
          <p:cNvSpPr/>
          <p:nvPr/>
        </p:nvSpPr>
        <p:spPr>
          <a:xfrm>
            <a:off x="6903720" y="3995928"/>
            <a:ext cx="4739335" cy="1920240"/>
          </a:xfrm>
          <a:prstGeom prst="rect">
            <a:avLst/>
          </a:prstGeom>
          <a:solidFill>
            <a:srgbClr val="DA291C"/>
          </a:solidFill>
          <a:ln w="12700">
            <a:solidFill>
              <a:srgbClr val="DA291C"/>
            </a:solidFill>
            <a:prstDash val="solid"/>
          </a:ln>
        </p:spPr>
      </p:sp>
      <p:sp>
        <p:nvSpPr>
          <p:cNvPr id="51" name="Text 48"/>
          <p:cNvSpPr/>
          <p:nvPr/>
        </p:nvSpPr>
        <p:spPr>
          <a:xfrm>
            <a:off x="7132320" y="4123944"/>
            <a:ext cx="428213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BUKTI MANA YANG PALING UNTUNG</a:t>
            </a:r>
            <a:endParaRPr lang="en-US" sz="800" dirty="0"/>
          </a:p>
        </p:txBody>
      </p:sp>
      <p:sp>
        <p:nvSpPr>
          <p:cNvPr id="52" name="Text 49"/>
          <p:cNvSpPr/>
          <p:nvPr/>
        </p:nvSpPr>
        <p:spPr>
          <a:xfrm>
            <a:off x="7132320" y="4361688"/>
            <a:ext cx="4282135" cy="1463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Return on sales 2000–2006 (Table 6.6): MU 12,6%, Arsenal 5,6%, Bayern 4,7%, Real Madrid 0,4%, Chelsea −60,4%, Inter −78,4%.</a:t>
            </a:r>
            <a:endParaRPr lang="en-US" sz="1000" dirty="0"/>
          </a:p>
          <a:p>
            <a:pPr indent="0" marL="0">
              <a:lnSpc>
                <a:spcPct val="108000"/>
              </a:lnSpc>
              <a:buNone/>
            </a:pPr>
            <a:endParaRPr lang="en-US" sz="1000" dirty="0"/>
          </a:p>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Benchmarking mengubah dugaan VRIN Test menjadi bukti: sistem pengembangan dan penjualan pemain memang lebih unggul.</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5  ·  DITERAPKAN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31</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500" dirty="0">
                <a:solidFill>
                  <a:srgbClr val="FFFFFF"/>
                </a:solidFill>
                <a:latin typeface="Poppins ExtraBold" pitchFamily="34" charset="0"/>
                <a:ea typeface="Poppins ExtraBold" pitchFamily="34" charset="-122"/>
                <a:cs typeface="Poppins ExtraBold" pitchFamily="34" charset="-120"/>
              </a:rPr>
              <a:t>COMPETITIVE STRENGTH ASSESSMENT MANCHESTER UNITED</a:t>
            </a:r>
            <a:endParaRPr lang="en-US" sz="25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Bobot dan rating disusun kelompok kami berdasarkan Table 6.2, 6.3, 6.5, 6.6 dan 6.7 kasus. Isi sel: rating (1–10) / skor tertimbang.</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 Bobot dan rating adalah penilaian kelompok.</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11094415" cy="914400"/>
        </p:xfrm>
        <a:graphic>
          <a:graphicData uri="http://schemas.openxmlformats.org/drawingml/2006/table">
            <a:tbl>
              <a:tblPr/>
              <a:tblGrid>
                <a:gridCol w="2743200"/>
                <a:gridCol w="822960"/>
                <a:gridCol w="1499616"/>
                <a:gridCol w="1499616"/>
                <a:gridCol w="1499616"/>
                <a:gridCol w="1499616"/>
                <a:gridCol w="1499616"/>
              </a:tblGrid>
              <a:tr h="265176">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Key Success Factor</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Bobot</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Man United</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Real Madrid</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Barcelona</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Chelsea</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Arsenal</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DA291C"/>
                    </a:solidFill>
                  </a:tcPr>
                </a:tc>
              </a:tr>
              <a:tr h="265176">
                <a:tc>
                  <a:txBody>
                    <a:bodyPr/>
                    <a:lstStyle/>
                    <a:p>
                      <a:pPr algn="l" indent="0" marL="0">
                        <a:buNone/>
                      </a:pPr>
                      <a:r>
                        <a:rPr lang="en-US" sz="850" dirty="0">
                          <a:solidFill>
                            <a:srgbClr val="E9DDD8"/>
                          </a:solidFill>
                          <a:latin typeface="Poppins SemiBold" pitchFamily="34" charset="0"/>
                          <a:ea typeface="Poppins SemiBold" pitchFamily="34" charset="-122"/>
                          <a:cs typeface="Poppins SemiBold" pitchFamily="34" charset="-120"/>
                        </a:rPr>
                        <a:t>Kualitas skuad</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1,35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10 / 1,50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1,35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265176">
                <a:tc>
                  <a:txBody>
                    <a:bodyPr/>
                    <a:lstStyle/>
                    <a:p>
                      <a:pPr algn="l" indent="0" marL="0">
                        <a:buNone/>
                      </a:pPr>
                      <a:r>
                        <a:rPr lang="en-US" sz="850" dirty="0">
                          <a:solidFill>
                            <a:srgbClr val="E9DDD8"/>
                          </a:solidFill>
                          <a:latin typeface="Poppins SemiBold" pitchFamily="34" charset="0"/>
                          <a:ea typeface="Poppins SemiBold" pitchFamily="34" charset="-122"/>
                          <a:cs typeface="Poppins SemiBold" pitchFamily="34" charset="-120"/>
                        </a:rPr>
                        <a:t>Kemampuan manajer</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1,50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5 / 0,75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8 / 1,20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8 / 1,20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r>
              <a:tr h="265176">
                <a:tc>
                  <a:txBody>
                    <a:bodyPr/>
                    <a:lstStyle/>
                    <a:p>
                      <a:pPr algn="l" indent="0" marL="0">
                        <a:buNone/>
                      </a:pPr>
                      <a:r>
                        <a:rPr lang="en-US" sz="850" dirty="0">
                          <a:solidFill>
                            <a:srgbClr val="E9DDD8"/>
                          </a:solidFill>
                          <a:latin typeface="Poppins SemiBold" pitchFamily="34" charset="0"/>
                          <a:ea typeface="Poppins SemiBold" pitchFamily="34" charset="-122"/>
                          <a:cs typeface="Poppins SemiBold" pitchFamily="34" charset="-120"/>
                        </a:rPr>
                        <a:t>Akademi &amp; pemandu bakat</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3 / 0,30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3 / 0,30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8 / 0,80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265176">
                <a:tc>
                  <a:txBody>
                    <a:bodyPr/>
                    <a:lstStyle/>
                    <a:p>
                      <a:pPr algn="l" indent="0" marL="0">
                        <a:buNone/>
                      </a:pPr>
                      <a:r>
                        <a:rPr lang="en-US" sz="850" dirty="0">
                          <a:solidFill>
                            <a:srgbClr val="E9DDD8"/>
                          </a:solidFill>
                          <a:latin typeface="Poppins SemiBold" pitchFamily="34" charset="0"/>
                          <a:ea typeface="Poppins SemiBold" pitchFamily="34" charset="-122"/>
                          <a:cs typeface="Poppins SemiBold" pitchFamily="34" charset="-120"/>
                        </a:rPr>
                        <a:t>Merek &amp; basis pendukung</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1,50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1,35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7 / 1,05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5 / 0,75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r>
              <a:tr h="265176">
                <a:tc>
                  <a:txBody>
                    <a:bodyPr/>
                    <a:lstStyle/>
                    <a:p>
                      <a:pPr algn="l" indent="0" marL="0">
                        <a:buNone/>
                      </a:pPr>
                      <a:r>
                        <a:rPr lang="en-US" sz="850" dirty="0">
                          <a:solidFill>
                            <a:srgbClr val="E9DDD8"/>
                          </a:solidFill>
                          <a:latin typeface="Poppins SemiBold" pitchFamily="34" charset="0"/>
                          <a:ea typeface="Poppins SemiBold" pitchFamily="34" charset="-122"/>
                          <a:cs typeface="Poppins SemiBold" pitchFamily="34" charset="-120"/>
                        </a:rPr>
                        <a:t>Kemampuan komersial</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7 / 0,70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6 / 0,60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265176">
                <a:tc>
                  <a:txBody>
                    <a:bodyPr/>
                    <a:lstStyle/>
                    <a:p>
                      <a:pPr algn="l" indent="0" marL="0">
                        <a:buNone/>
                      </a:pPr>
                      <a:r>
                        <a:rPr lang="en-US" sz="850" dirty="0">
                          <a:solidFill>
                            <a:srgbClr val="E9DDD8"/>
                          </a:solidFill>
                          <a:latin typeface="Poppins SemiBold" pitchFamily="34" charset="0"/>
                          <a:ea typeface="Poppins SemiBold" pitchFamily="34" charset="-122"/>
                          <a:cs typeface="Poppins SemiBold" pitchFamily="34" charset="-120"/>
                        </a:rPr>
                        <a:t>Profitabilitas</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7 / 0,70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1 / 0,10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6 / 0,60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r>
              <a:tr h="265176">
                <a:tc>
                  <a:txBody>
                    <a:bodyPr/>
                    <a:lstStyle/>
                    <a:p>
                      <a:pPr algn="l" indent="0" marL="0">
                        <a:buNone/>
                      </a:pPr>
                      <a:r>
                        <a:rPr lang="en-US" sz="850" dirty="0">
                          <a:solidFill>
                            <a:srgbClr val="E9DDD8"/>
                          </a:solidFill>
                          <a:latin typeface="Poppins SemiBold" pitchFamily="34" charset="0"/>
                          <a:ea typeface="Poppins SemiBold" pitchFamily="34" charset="-122"/>
                          <a:cs typeface="Poppins SemiBold" pitchFamily="34" charset="-120"/>
                        </a:rPr>
                        <a:t>Keleluasaan finansial (utang)</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4 / 0,40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7 / 0,70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2 / 0,20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265176">
                <a:tc>
                  <a:txBody>
                    <a:bodyPr/>
                    <a:lstStyle/>
                    <a:p>
                      <a:pPr algn="l" indent="0" marL="0">
                        <a:buNone/>
                      </a:pPr>
                      <a:r>
                        <a:rPr lang="en-US" sz="850" dirty="0">
                          <a:solidFill>
                            <a:srgbClr val="E9DDD8"/>
                          </a:solidFill>
                          <a:latin typeface="Poppins SemiBold" pitchFamily="34" charset="0"/>
                          <a:ea typeface="Poppins SemiBold" pitchFamily="34" charset="-122"/>
                          <a:cs typeface="Poppins SemiBold" pitchFamily="34" charset="-120"/>
                        </a:rPr>
                        <a:t>Stadion &amp; matchday</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0,05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9 / 0,45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8 / 0,40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0,45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5 / 0,25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0,45</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81418"/>
                    </a:solidFill>
                  </a:tcPr>
                </a:tc>
              </a:tr>
              <a:tr h="265176">
                <a:tc>
                  <a:txBody>
                    <a:bodyPr/>
                    <a:lstStyle/>
                    <a:p>
                      <a:pPr algn="l" indent="0" marL="0">
                        <a:buNone/>
                      </a:pPr>
                      <a:r>
                        <a:rPr lang="en-US" sz="850" dirty="0">
                          <a:solidFill>
                            <a:srgbClr val="E9DDD8"/>
                          </a:solidFill>
                          <a:latin typeface="Poppins SemiBold" pitchFamily="34" charset="0"/>
                          <a:ea typeface="Poppins SemiBold" pitchFamily="34" charset="-122"/>
                          <a:cs typeface="Poppins SemiBold" pitchFamily="34" charset="-120"/>
                        </a:rPr>
                        <a:t>Rekam jejak prestasi</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c>
                  <a:txBody>
                    <a:bodyPr/>
                    <a:lstStyle/>
                    <a:p>
                      <a:pPr algn="ctr" indent="0" marL="0">
                        <a:buNone/>
                      </a:pPr>
                      <a:r>
                        <a:rPr lang="en-US" sz="850" dirty="0">
                          <a:solidFill>
                            <a:srgbClr val="E9DDD8"/>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2B0F11"/>
                    </a:solidFill>
                  </a:tcPr>
                </a:tc>
              </a:tr>
              <a:tr h="265176">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TOTAL SKOR TERTIMBANG</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1,00</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c>
                  <a:txBody>
                    <a:bodyPr/>
                    <a:lstStyle/>
                    <a:p>
                      <a:pPr algn="ctr" indent="0" marL="0">
                        <a:buNone/>
                      </a:pPr>
                      <a:r>
                        <a:rPr lang="en-US" sz="850" dirty="0">
                          <a:solidFill>
                            <a:srgbClr val="FBE122"/>
                          </a:solidFill>
                          <a:latin typeface="Poppins SemiBold" pitchFamily="34" charset="0"/>
                          <a:ea typeface="Poppins SemiBold" pitchFamily="34" charset="-122"/>
                          <a:cs typeface="Poppins SemiBold" pitchFamily="34" charset="-120"/>
                        </a:rPr>
                        <a:t>8,65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7,15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8,40</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5,55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6,55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A0809"/>
                      </a:solidFill>
                      <a:prstDash val="solid"/>
                      <a:round/>
                      <a:headEnd type="none" w="med" len="med"/>
                      <a:tailEnd type="none" w="med" len="med"/>
                    </a:lnL>
                    <a:lnR w="9525" cap="flat" cmpd="sng" algn="ctr">
                      <a:solidFill>
                        <a:srgbClr val="1A0809"/>
                      </a:solidFill>
                      <a:prstDash val="solid"/>
                      <a:round/>
                      <a:headEnd type="none" w="med" len="med"/>
                      <a:tailEnd type="none" w="med" len="med"/>
                    </a:lnR>
                    <a:lnT w="9525" cap="flat" cmpd="sng" algn="ctr">
                      <a:solidFill>
                        <a:srgbClr val="1A0809"/>
                      </a:solidFill>
                      <a:prstDash val="solid"/>
                      <a:round/>
                      <a:headEnd type="none" w="med" len="med"/>
                      <a:tailEnd type="none" w="med" len="med"/>
                    </a:lnT>
                    <a:lnB w="9525" cap="flat" cmpd="sng" algn="ctr">
                      <a:solidFill>
                        <a:srgbClr val="1A0809"/>
                      </a:solidFill>
                      <a:prstDash val="solid"/>
                      <a:round/>
                      <a:headEnd type="none" w="med" len="med"/>
                      <a:tailEnd type="none" w="med" len="med"/>
                    </a:lnB>
                    <a:solidFill>
                      <a:srgbClr val="0E0505"/>
                    </a:solidFill>
                  </a:tcPr>
                </a:tc>
              </a:tr>
            </a:tbl>
          </a:graphicData>
        </a:graphic>
      </p:graphicFrame>
      <p:sp>
        <p:nvSpPr>
          <p:cNvPr id="14" name="Shape 10"/>
          <p:cNvSpPr/>
          <p:nvPr/>
        </p:nvSpPr>
        <p:spPr>
          <a:xfrm>
            <a:off x="548640" y="4873752"/>
            <a:ext cx="3545738" cy="914400"/>
          </a:xfrm>
          <a:prstGeom prst="rect">
            <a:avLst/>
          </a:prstGeom>
          <a:solidFill>
            <a:srgbClr val="DA291C"/>
          </a:solidFill>
          <a:ln w="12700">
            <a:solidFill>
              <a:srgbClr val="DA291C"/>
            </a:solidFill>
            <a:prstDash val="solid"/>
          </a:ln>
        </p:spPr>
      </p:sp>
      <p:sp>
        <p:nvSpPr>
          <p:cNvPr id="15" name="Text 11"/>
          <p:cNvSpPr/>
          <p:nvPr/>
        </p:nvSpPr>
        <p:spPr>
          <a:xfrm>
            <a:off x="749808" y="4965192"/>
            <a:ext cx="3179978" cy="320040"/>
          </a:xfrm>
          <a:prstGeom prst="rect">
            <a:avLst/>
          </a:prstGeom>
          <a:noFill/>
          <a:ln/>
        </p:spPr>
        <p:txBody>
          <a:bodyPr wrap="square" lIns="0" tIns="0" rIns="0" bIns="0" rtlCol="0" anchor="t"/>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Unggul 0,25 poin</a:t>
            </a:r>
            <a:endParaRPr lang="en-US" sz="1400" dirty="0"/>
          </a:p>
        </p:txBody>
      </p:sp>
      <p:sp>
        <p:nvSpPr>
          <p:cNvPr id="16" name="Text 12"/>
          <p:cNvSpPr/>
          <p:nvPr/>
        </p:nvSpPr>
        <p:spPr>
          <a:xfrm>
            <a:off x="749808" y="5285232"/>
            <a:ext cx="3179978" cy="502920"/>
          </a:xfrm>
          <a:prstGeom prst="rect">
            <a:avLst/>
          </a:prstGeom>
          <a:noFill/>
          <a:ln/>
        </p:spPr>
        <p:txBody>
          <a:bodyPr wrap="square" lIns="0" tIns="0" rIns="0" bIns="0" rtlCol="0" anchor="t"/>
          <a:lstStyle/>
          <a:p>
            <a:pPr indent="0" marL="0">
              <a:lnSpc>
                <a:spcPct val="104000"/>
              </a:lnSpc>
              <a:buNone/>
            </a:pPr>
            <a:r>
              <a:rPr lang="en-US" sz="900" dirty="0">
                <a:solidFill>
                  <a:srgbClr val="FFFFFF"/>
                </a:solidFill>
                <a:latin typeface="Poppins" pitchFamily="34" charset="0"/>
                <a:ea typeface="Poppins" pitchFamily="34" charset="-122"/>
                <a:cs typeface="Poppins" pitchFamily="34" charset="-120"/>
              </a:rPr>
              <a:t>MU 8,65 vs Barcelona 8,40. Tipis: cukup satu baris turun untuk menghapusnya.</a:t>
            </a:r>
            <a:endParaRPr lang="en-US" sz="900" dirty="0"/>
          </a:p>
        </p:txBody>
      </p:sp>
      <p:sp>
        <p:nvSpPr>
          <p:cNvPr id="17" name="Shape 13"/>
          <p:cNvSpPr/>
          <p:nvPr/>
        </p:nvSpPr>
        <p:spPr>
          <a:xfrm>
            <a:off x="4322978" y="4873752"/>
            <a:ext cx="3545738" cy="914400"/>
          </a:xfrm>
          <a:prstGeom prst="rect">
            <a:avLst/>
          </a:prstGeom>
          <a:solidFill>
            <a:srgbClr val="2B0F11"/>
          </a:solidFill>
          <a:ln w="12700">
            <a:solidFill>
              <a:srgbClr val="2B0F11"/>
            </a:solidFill>
            <a:prstDash val="solid"/>
          </a:ln>
        </p:spPr>
      </p:sp>
      <p:sp>
        <p:nvSpPr>
          <p:cNvPr id="18" name="Text 14"/>
          <p:cNvSpPr/>
          <p:nvPr/>
        </p:nvSpPr>
        <p:spPr>
          <a:xfrm>
            <a:off x="4524146" y="4965192"/>
            <a:ext cx="3179978"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Turun ke 7,90</a:t>
            </a:r>
            <a:endParaRPr lang="en-US" sz="1400" dirty="0"/>
          </a:p>
        </p:txBody>
      </p:sp>
      <p:sp>
        <p:nvSpPr>
          <p:cNvPr id="19" name="Text 15"/>
          <p:cNvSpPr/>
          <p:nvPr/>
        </p:nvSpPr>
        <p:spPr>
          <a:xfrm>
            <a:off x="4524146" y="5285232"/>
            <a:ext cx="3179978" cy="502920"/>
          </a:xfrm>
          <a:prstGeom prst="rect">
            <a:avLst/>
          </a:prstGeom>
          <a:noFill/>
          <a:ln/>
        </p:spPr>
        <p:txBody>
          <a:bodyPr wrap="square" lIns="0" tIns="0" rIns="0" bIns="0" rtlCol="0" anchor="t"/>
          <a:lstStyle/>
          <a:p>
            <a:pPr indent="0" marL="0">
              <a:lnSpc>
                <a:spcPct val="104000"/>
              </a:lnSpc>
              <a:buNone/>
            </a:pPr>
            <a:r>
              <a:rPr lang="en-US" sz="900" dirty="0">
                <a:solidFill>
                  <a:srgbClr val="E9DDD8"/>
                </a:solidFill>
                <a:latin typeface="Poppins" pitchFamily="34" charset="0"/>
                <a:ea typeface="Poppins" pitchFamily="34" charset="-122"/>
                <a:cs typeface="Poppins" pitchFamily="34" charset="-120"/>
              </a:rPr>
              <a:t>Kalau rating manajer jatuh dari 10 ke 5 karena ganti pelatih, MU langsung di bawah Barcelona.</a:t>
            </a:r>
            <a:endParaRPr lang="en-US" sz="900" dirty="0"/>
          </a:p>
        </p:txBody>
      </p:sp>
      <p:sp>
        <p:nvSpPr>
          <p:cNvPr id="20" name="Shape 16"/>
          <p:cNvSpPr/>
          <p:nvPr/>
        </p:nvSpPr>
        <p:spPr>
          <a:xfrm>
            <a:off x="8097317" y="4873752"/>
            <a:ext cx="3545738" cy="914400"/>
          </a:xfrm>
          <a:prstGeom prst="rect">
            <a:avLst/>
          </a:prstGeom>
          <a:solidFill>
            <a:srgbClr val="2B0F11"/>
          </a:solidFill>
          <a:ln w="12700">
            <a:solidFill>
              <a:srgbClr val="2B0F11"/>
            </a:solidFill>
            <a:prstDash val="solid"/>
          </a:ln>
        </p:spPr>
      </p:sp>
      <p:sp>
        <p:nvSpPr>
          <p:cNvPr id="21" name="Text 17"/>
          <p:cNvSpPr/>
          <p:nvPr/>
        </p:nvSpPr>
        <p:spPr>
          <a:xfrm>
            <a:off x="8298485" y="4965192"/>
            <a:ext cx="3179978"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Butuh minimal 8,3</a:t>
            </a:r>
            <a:endParaRPr lang="en-US" sz="1400" dirty="0"/>
          </a:p>
        </p:txBody>
      </p:sp>
      <p:sp>
        <p:nvSpPr>
          <p:cNvPr id="22" name="Text 18"/>
          <p:cNvSpPr/>
          <p:nvPr/>
        </p:nvSpPr>
        <p:spPr>
          <a:xfrm>
            <a:off x="8298485" y="5285232"/>
            <a:ext cx="3179978" cy="502920"/>
          </a:xfrm>
          <a:prstGeom prst="rect">
            <a:avLst/>
          </a:prstGeom>
          <a:noFill/>
          <a:ln/>
        </p:spPr>
        <p:txBody>
          <a:bodyPr wrap="square" lIns="0" tIns="0" rIns="0" bIns="0" rtlCol="0" anchor="t"/>
          <a:lstStyle/>
          <a:p>
            <a:pPr indent="0" marL="0">
              <a:lnSpc>
                <a:spcPct val="104000"/>
              </a:lnSpc>
              <a:buNone/>
            </a:pPr>
            <a:r>
              <a:rPr lang="en-US" sz="900" dirty="0">
                <a:solidFill>
                  <a:srgbClr val="E9DDD8"/>
                </a:solidFill>
                <a:latin typeface="Poppins" pitchFamily="34" charset="0"/>
                <a:ea typeface="Poppins" pitchFamily="34" charset="-122"/>
                <a:cs typeface="Poppins" pitchFamily="34" charset="-120"/>
              </a:rPr>
              <a:t>Rating yang harus dicapai pengganti Ferguson supaya MU sekadar bertahan sejajar Barcelona.</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A0809"/>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DA291C"/>
          </a:solidFill>
          <a:ln w="12700">
            <a:solidFill>
              <a:srgbClr val="DA291C"/>
            </a:solidFill>
            <a:prstDash val="solid"/>
          </a:ln>
        </p:spPr>
      </p:sp>
      <p:sp>
        <p:nvSpPr>
          <p:cNvPr id="3" name="Text 1"/>
          <p:cNvSpPr/>
          <p:nvPr/>
        </p:nvSpPr>
        <p:spPr>
          <a:xfrm>
            <a:off x="932688" y="301752"/>
            <a:ext cx="6979615" cy="320040"/>
          </a:xfrm>
          <a:prstGeom prst="rect">
            <a:avLst/>
          </a:prstGeom>
          <a:noFill/>
          <a:ln/>
        </p:spPr>
        <p:txBody>
          <a:bodyPr wrap="square" lIns="0" tIns="0" rIns="0" bIns="0" rtlCol="0" anchor="t"/>
          <a:lstStyle/>
          <a:p>
            <a:pPr indent="0" marL="0">
              <a:buNone/>
            </a:pPr>
            <a:r>
              <a:rPr lang="en-US" sz="950" spc="200" kern="0" dirty="0">
                <a:solidFill>
                  <a:srgbClr val="DA291C"/>
                </a:solidFill>
                <a:latin typeface="Poppins SemiBold" pitchFamily="34" charset="0"/>
                <a:ea typeface="Poppins SemiBold" pitchFamily="34" charset="-122"/>
                <a:cs typeface="Poppins SemiBold" pitchFamily="34" charset="-120"/>
              </a:rPr>
              <a:t>PERTANYAAN 6  ·  PRIORITY LIST DITERAPKAN</a:t>
            </a:r>
            <a:endParaRPr lang="en-US" sz="950" dirty="0"/>
          </a:p>
        </p:txBody>
      </p:sp>
      <p:sp>
        <p:nvSpPr>
          <p:cNvPr id="4" name="Text 2"/>
          <p:cNvSpPr/>
          <p:nvPr/>
        </p:nvSpPr>
        <p:spPr>
          <a:xfrm>
            <a:off x="7436815" y="301752"/>
            <a:ext cx="3291840" cy="320040"/>
          </a:xfrm>
          <a:prstGeom prst="rect">
            <a:avLst/>
          </a:prstGeom>
          <a:noFill/>
          <a:ln/>
        </p:spPr>
        <p:txBody>
          <a:bodyPr wrap="square" lIns="0" tIns="0" rIns="0" bIns="0" rtlCol="0" anchor="t"/>
          <a:lstStyle/>
          <a:p>
            <a:pPr algn="r" indent="0" marL="0">
              <a:buNone/>
            </a:pPr>
            <a:r>
              <a:rPr lang="en-US" sz="800" dirty="0">
                <a:solidFill>
                  <a:srgbClr val="A8928E"/>
                </a:solidFill>
                <a:latin typeface="Poppins" pitchFamily="34" charset="0"/>
                <a:ea typeface="Poppins" pitchFamily="34" charset="-122"/>
                <a:cs typeface="Poppins" pitchFamily="34" charset="-120"/>
              </a:rPr>
              <a:t>Manchester United  ·  Chapter 4</a:t>
            </a:r>
            <a:endParaRPr lang="en-US" sz="800" dirty="0"/>
          </a:p>
        </p:txBody>
      </p:sp>
      <p:sp>
        <p:nvSpPr>
          <p:cNvPr id="5" name="Shape 3"/>
          <p:cNvSpPr/>
          <p:nvPr/>
        </p:nvSpPr>
        <p:spPr>
          <a:xfrm>
            <a:off x="10865815" y="329184"/>
            <a:ext cx="9144" cy="256032"/>
          </a:xfrm>
          <a:prstGeom prst="rect">
            <a:avLst/>
          </a:prstGeom>
          <a:solidFill>
            <a:srgbClr val="4C2226"/>
          </a:solidFill>
          <a:ln w="12700">
            <a:solidFill>
              <a:srgbClr val="4C2226"/>
            </a:solidFill>
            <a:prstDash val="solid"/>
          </a:ln>
        </p:spPr>
      </p:sp>
      <p:sp>
        <p:nvSpPr>
          <p:cNvPr id="6" name="Text 4"/>
          <p:cNvSpPr/>
          <p:nvPr/>
        </p:nvSpPr>
        <p:spPr>
          <a:xfrm>
            <a:off x="11002975" y="301752"/>
            <a:ext cx="640080" cy="320040"/>
          </a:xfrm>
          <a:prstGeom prst="rect">
            <a:avLst/>
          </a:prstGeom>
          <a:noFill/>
          <a:ln/>
        </p:spPr>
        <p:txBody>
          <a:bodyPr wrap="square" lIns="0" tIns="0" rIns="0" bIns="0" rtlCol="0" anchor="t"/>
          <a:lstStyle/>
          <a:p>
            <a:pPr algn="r" indent="0" marL="0">
              <a:buNone/>
            </a:pPr>
            <a:r>
              <a:rPr lang="en-US" sz="900" dirty="0">
                <a:solidFill>
                  <a:srgbClr val="FBE122"/>
                </a:solidFill>
                <a:latin typeface="Poppins SemiBold" pitchFamily="34" charset="0"/>
                <a:ea typeface="Poppins SemiBold" pitchFamily="34" charset="-122"/>
                <a:cs typeface="Poppins SemiBold" pitchFamily="34" charset="-120"/>
              </a:rPr>
              <a:t>32</a:t>
            </a:r>
            <a:endParaRPr lang="en-US" sz="900" dirty="0"/>
          </a:p>
        </p:txBody>
      </p:sp>
      <p:sp>
        <p:nvSpPr>
          <p:cNvPr id="7" name="Text 5"/>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ENAM ISU UNTUK DAVID GILL, DITULIS SEBAGAI PERTANYAAN</a:t>
            </a:r>
            <a:endParaRPr lang="en-US" sz="2600" dirty="0"/>
          </a:p>
        </p:txBody>
      </p:sp>
      <p:sp>
        <p:nvSpPr>
          <p:cNvPr id="8" name="Text 6"/>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E9DDD8"/>
                </a:solidFill>
                <a:latin typeface="Poppins" pitchFamily="34" charset="0"/>
                <a:ea typeface="Poppins" pitchFamily="34" charset="-122"/>
                <a:cs typeface="Poppins" pitchFamily="34" charset="-120"/>
              </a:rPr>
              <a:t>Rumusan mengikuti aturan buku (hlm. 118): priority list berisi pertanyaan, bukan jawaban. Bukti tiap isu dari kasus.</a:t>
            </a:r>
            <a:endParaRPr lang="en-US" sz="1150" dirty="0"/>
          </a:p>
        </p:txBody>
      </p:sp>
      <p:sp>
        <p:nvSpPr>
          <p:cNvPr id="9" name="Shape 7"/>
          <p:cNvSpPr/>
          <p:nvPr/>
        </p:nvSpPr>
        <p:spPr>
          <a:xfrm>
            <a:off x="548640" y="6382512"/>
            <a:ext cx="11094415" cy="9144"/>
          </a:xfrm>
          <a:prstGeom prst="rect">
            <a:avLst/>
          </a:prstGeom>
          <a:solidFill>
            <a:srgbClr val="4C2226"/>
          </a:solidFill>
          <a:ln w="12700">
            <a:solidFill>
              <a:srgbClr val="4C2226"/>
            </a:solidFill>
            <a:prstDash val="solid"/>
          </a:ln>
        </p:spPr>
      </p:sp>
      <p:sp>
        <p:nvSpPr>
          <p:cNvPr id="10" name="Text 8"/>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8928E"/>
                </a:solidFill>
                <a:latin typeface="Poppins" pitchFamily="34" charset="0"/>
                <a:ea typeface="Poppins" pitchFamily="34" charset="-122"/>
                <a:cs typeface="Poppins" pitchFamily="34" charset="-120"/>
              </a:rPr>
              <a:t>Sumber: Grant (2010), Case 6 "Manchester United: Preparing for Life without Ferguson". Rumusan mengikuti Thompson dkk. (2024) hlm. 118.</a:t>
            </a:r>
            <a:endParaRPr lang="en-US" sz="750" dirty="0"/>
          </a:p>
        </p:txBody>
      </p:sp>
      <p:sp>
        <p:nvSpPr>
          <p:cNvPr id="11" name="Text 9"/>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DA291C"/>
                </a:solidFill>
                <a:latin typeface="Poppins SemiBold" pitchFamily="34" charset="0"/>
                <a:ea typeface="Poppins SemiBold" pitchFamily="34" charset="-122"/>
                <a:cs typeface="Poppins SemiBold" pitchFamily="34" charset="-120"/>
              </a:rPr>
              <a:t>32</a:t>
            </a:r>
            <a:endParaRPr lang="en-US" sz="900" dirty="0"/>
          </a:p>
        </p:txBody>
      </p:sp>
      <p:sp>
        <p:nvSpPr>
          <p:cNvPr id="13" name="Shape 10"/>
          <p:cNvSpPr/>
          <p:nvPr/>
        </p:nvSpPr>
        <p:spPr>
          <a:xfrm>
            <a:off x="548640" y="1755648"/>
            <a:ext cx="5432908" cy="1024128"/>
          </a:xfrm>
          <a:prstGeom prst="rect">
            <a:avLst/>
          </a:prstGeom>
          <a:solidFill>
            <a:srgbClr val="DA291C"/>
          </a:solidFill>
          <a:ln w="12700">
            <a:solidFill>
              <a:srgbClr val="DA291C"/>
            </a:solidFill>
            <a:prstDash val="solid"/>
          </a:ln>
        </p:spPr>
      </p:sp>
      <p:sp>
        <p:nvSpPr>
          <p:cNvPr id="14" name="Shape 11"/>
          <p:cNvSpPr/>
          <p:nvPr/>
        </p:nvSpPr>
        <p:spPr>
          <a:xfrm>
            <a:off x="731520" y="2029968"/>
            <a:ext cx="457200" cy="457200"/>
          </a:xfrm>
          <a:prstGeom prst="ellipse">
            <a:avLst/>
          </a:prstGeom>
          <a:solidFill>
            <a:srgbClr val="FBE122"/>
          </a:solidFill>
          <a:ln w="12700">
            <a:solidFill>
              <a:srgbClr val="FBE122"/>
            </a:solidFill>
            <a:prstDash val="solid"/>
          </a:ln>
        </p:spPr>
      </p:sp>
      <p:sp>
        <p:nvSpPr>
          <p:cNvPr id="15" name="Text 12"/>
          <p:cNvSpPr/>
          <p:nvPr/>
        </p:nvSpPr>
        <p:spPr>
          <a:xfrm>
            <a:off x="731520" y="2029968"/>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1</a:t>
            </a:r>
            <a:endParaRPr lang="en-US" sz="1200" dirty="0"/>
          </a:p>
        </p:txBody>
      </p:sp>
      <p:sp>
        <p:nvSpPr>
          <p:cNvPr id="16" name="Text 13"/>
          <p:cNvSpPr/>
          <p:nvPr/>
        </p:nvSpPr>
        <p:spPr>
          <a:xfrm>
            <a:off x="1371600" y="1865376"/>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Bagaimana mengganti Ferguson tanpa merusak sistemnya?</a:t>
            </a:r>
            <a:endParaRPr lang="en-US" sz="1100" dirty="0"/>
          </a:p>
        </p:txBody>
      </p:sp>
      <p:sp>
        <p:nvSpPr>
          <p:cNvPr id="17" name="Text 14"/>
          <p:cNvSpPr/>
          <p:nvPr/>
        </p:nvSpPr>
        <p:spPr>
          <a:xfrm>
            <a:off x="1371600" y="2304288"/>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FFFFFF"/>
                </a:solidFill>
                <a:latin typeface="Poppins" pitchFamily="34" charset="0"/>
                <a:ea typeface="Poppins" pitchFamily="34" charset="-122"/>
                <a:cs typeface="Poppins" pitchFamily="34" charset="-120"/>
              </a:rPr>
              <a:t>Gill belum memutuskan; Ferguson belum mengumumkan pensiun (hlm. 573, 588).</a:t>
            </a:r>
            <a:endParaRPr lang="en-US" sz="850" dirty="0"/>
          </a:p>
        </p:txBody>
      </p:sp>
      <p:sp>
        <p:nvSpPr>
          <p:cNvPr id="18" name="Shape 15"/>
          <p:cNvSpPr/>
          <p:nvPr/>
        </p:nvSpPr>
        <p:spPr>
          <a:xfrm>
            <a:off x="6210148" y="1755648"/>
            <a:ext cx="5432908" cy="1024128"/>
          </a:xfrm>
          <a:prstGeom prst="rect">
            <a:avLst/>
          </a:prstGeom>
          <a:solidFill>
            <a:srgbClr val="2B0F11"/>
          </a:solidFill>
          <a:ln w="12700">
            <a:solidFill>
              <a:srgbClr val="2B0F11"/>
            </a:solidFill>
            <a:prstDash val="solid"/>
          </a:ln>
        </p:spPr>
      </p:sp>
      <p:sp>
        <p:nvSpPr>
          <p:cNvPr id="19" name="Shape 16"/>
          <p:cNvSpPr/>
          <p:nvPr/>
        </p:nvSpPr>
        <p:spPr>
          <a:xfrm>
            <a:off x="6393028" y="2029968"/>
            <a:ext cx="457200" cy="457200"/>
          </a:xfrm>
          <a:prstGeom prst="ellipse">
            <a:avLst/>
          </a:prstGeom>
          <a:solidFill>
            <a:srgbClr val="DA291C"/>
          </a:solidFill>
          <a:ln w="12700">
            <a:solidFill>
              <a:srgbClr val="DA291C"/>
            </a:solidFill>
            <a:prstDash val="solid"/>
          </a:ln>
        </p:spPr>
      </p:sp>
      <p:sp>
        <p:nvSpPr>
          <p:cNvPr id="20" name="Text 17"/>
          <p:cNvSpPr/>
          <p:nvPr/>
        </p:nvSpPr>
        <p:spPr>
          <a:xfrm>
            <a:off x="6393028" y="2029968"/>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2</a:t>
            </a:r>
            <a:endParaRPr lang="en-US" sz="1200" dirty="0"/>
          </a:p>
        </p:txBody>
      </p:sp>
      <p:sp>
        <p:nvSpPr>
          <p:cNvPr id="21" name="Text 18"/>
          <p:cNvSpPr/>
          <p:nvPr/>
        </p:nvSpPr>
        <p:spPr>
          <a:xfrm>
            <a:off x="7033108" y="1865376"/>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Apa yang harus dilakukan soal utang £616 juta?</a:t>
            </a:r>
            <a:endParaRPr lang="en-US" sz="1100" dirty="0"/>
          </a:p>
        </p:txBody>
      </p:sp>
      <p:sp>
        <p:nvSpPr>
          <p:cNvPr id="22" name="Text 19"/>
          <p:cNvSpPr/>
          <p:nvPr/>
        </p:nvSpPr>
        <p:spPr>
          <a:xfrm>
            <a:off x="7033108" y="2304288"/>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E9DDD8"/>
                </a:solidFill>
                <a:latin typeface="Poppins" pitchFamily="34" charset="0"/>
                <a:ea typeface="Poppins" pitchFamily="34" charset="-122"/>
                <a:cs typeface="Poppins" pitchFamily="34" charset="-120"/>
              </a:rPr>
              <a:t>Utang membatasi daya beli, justru saat Manchester City belanja £185 juta (hlm. 579).</a:t>
            </a:r>
            <a:endParaRPr lang="en-US" sz="850" dirty="0"/>
          </a:p>
        </p:txBody>
      </p:sp>
      <p:sp>
        <p:nvSpPr>
          <p:cNvPr id="23" name="Shape 20"/>
          <p:cNvSpPr/>
          <p:nvPr/>
        </p:nvSpPr>
        <p:spPr>
          <a:xfrm>
            <a:off x="548640" y="2916936"/>
            <a:ext cx="5432908" cy="1024128"/>
          </a:xfrm>
          <a:prstGeom prst="rect">
            <a:avLst/>
          </a:prstGeom>
          <a:solidFill>
            <a:srgbClr val="2B0F11"/>
          </a:solidFill>
          <a:ln w="12700">
            <a:solidFill>
              <a:srgbClr val="2B0F11"/>
            </a:solidFill>
            <a:prstDash val="solid"/>
          </a:ln>
        </p:spPr>
      </p:sp>
      <p:sp>
        <p:nvSpPr>
          <p:cNvPr id="24" name="Shape 21"/>
          <p:cNvSpPr/>
          <p:nvPr/>
        </p:nvSpPr>
        <p:spPr>
          <a:xfrm>
            <a:off x="731520" y="3191256"/>
            <a:ext cx="457200" cy="457200"/>
          </a:xfrm>
          <a:prstGeom prst="ellipse">
            <a:avLst/>
          </a:prstGeom>
          <a:solidFill>
            <a:srgbClr val="DA291C"/>
          </a:solidFill>
          <a:ln w="12700">
            <a:solidFill>
              <a:srgbClr val="DA291C"/>
            </a:solidFill>
            <a:prstDash val="solid"/>
          </a:ln>
        </p:spPr>
      </p:sp>
      <p:sp>
        <p:nvSpPr>
          <p:cNvPr id="25" name="Text 22"/>
          <p:cNvSpPr/>
          <p:nvPr/>
        </p:nvSpPr>
        <p:spPr>
          <a:xfrm>
            <a:off x="731520" y="319125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3</a:t>
            </a:r>
            <a:endParaRPr lang="en-US" sz="1200" dirty="0"/>
          </a:p>
        </p:txBody>
      </p:sp>
      <p:sp>
        <p:nvSpPr>
          <p:cNvPr id="26" name="Text 23"/>
          <p:cNvSpPr/>
          <p:nvPr/>
        </p:nvSpPr>
        <p:spPr>
          <a:xfrm>
            <a:off x="1371600" y="3026664"/>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Bagaimana menambal skuad setelah Ronaldo pergi?</a:t>
            </a:r>
            <a:endParaRPr lang="en-US" sz="1100" dirty="0"/>
          </a:p>
        </p:txBody>
      </p:sp>
      <p:sp>
        <p:nvSpPr>
          <p:cNvPr id="27" name="Text 24"/>
          <p:cNvSpPr/>
          <p:nvPr/>
        </p:nvSpPr>
        <p:spPr>
          <a:xfrm>
            <a:off x="1371600" y="3465576"/>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E9DDD8"/>
                </a:solidFill>
                <a:latin typeface="Poppins" pitchFamily="34" charset="0"/>
                <a:ea typeface="Poppins" pitchFamily="34" charset="-122"/>
                <a:cs typeface="Poppins" pitchFamily="34" charset="-120"/>
              </a:rPr>
              <a:t>Tidak ada lagi pemain MU di peringkat FIFA Table 6.3. Media menunggu apakah kas Ronaldo dipakai membeli Ribery (hlm. 588).</a:t>
            </a:r>
            <a:endParaRPr lang="en-US" sz="850" dirty="0"/>
          </a:p>
        </p:txBody>
      </p:sp>
      <p:sp>
        <p:nvSpPr>
          <p:cNvPr id="28" name="Shape 25"/>
          <p:cNvSpPr/>
          <p:nvPr/>
        </p:nvSpPr>
        <p:spPr>
          <a:xfrm>
            <a:off x="6210148" y="2916936"/>
            <a:ext cx="5432908" cy="1024128"/>
          </a:xfrm>
          <a:prstGeom prst="rect">
            <a:avLst/>
          </a:prstGeom>
          <a:solidFill>
            <a:srgbClr val="DA291C"/>
          </a:solidFill>
          <a:ln w="12700">
            <a:solidFill>
              <a:srgbClr val="DA291C"/>
            </a:solidFill>
            <a:prstDash val="solid"/>
          </a:ln>
        </p:spPr>
      </p:sp>
      <p:sp>
        <p:nvSpPr>
          <p:cNvPr id="29" name="Shape 26"/>
          <p:cNvSpPr/>
          <p:nvPr/>
        </p:nvSpPr>
        <p:spPr>
          <a:xfrm>
            <a:off x="6393028" y="3191256"/>
            <a:ext cx="457200" cy="457200"/>
          </a:xfrm>
          <a:prstGeom prst="ellipse">
            <a:avLst/>
          </a:prstGeom>
          <a:solidFill>
            <a:srgbClr val="FBE122"/>
          </a:solidFill>
          <a:ln w="12700">
            <a:solidFill>
              <a:srgbClr val="FBE122"/>
            </a:solidFill>
            <a:prstDash val="solid"/>
          </a:ln>
        </p:spPr>
      </p:sp>
      <p:sp>
        <p:nvSpPr>
          <p:cNvPr id="30" name="Text 27"/>
          <p:cNvSpPr/>
          <p:nvPr/>
        </p:nvSpPr>
        <p:spPr>
          <a:xfrm>
            <a:off x="6393028" y="319125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4</a:t>
            </a:r>
            <a:endParaRPr lang="en-US" sz="1200" dirty="0"/>
          </a:p>
        </p:txBody>
      </p:sp>
      <p:sp>
        <p:nvSpPr>
          <p:cNvPr id="31" name="Text 28"/>
          <p:cNvSpPr/>
          <p:nvPr/>
        </p:nvSpPr>
        <p:spPr>
          <a:xfrm>
            <a:off x="7033108" y="3026664"/>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Apakah perlu membangun penyangga organisasi?</a:t>
            </a:r>
            <a:endParaRPr lang="en-US" sz="1100" dirty="0"/>
          </a:p>
        </p:txBody>
      </p:sp>
      <p:sp>
        <p:nvSpPr>
          <p:cNvPr id="32" name="Text 29"/>
          <p:cNvSpPr/>
          <p:nvPr/>
        </p:nvSpPr>
        <p:spPr>
          <a:xfrm>
            <a:off x="7033108" y="3465576"/>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FFFFFF"/>
                </a:solidFill>
                <a:latin typeface="Poppins" pitchFamily="34" charset="0"/>
                <a:ea typeface="Poppins" pitchFamily="34" charset="-122"/>
                <a:cs typeface="Poppins" pitchFamily="34" charset="-120"/>
              </a:rPr>
              <a:t>Kasus: seluruh sistem pemanduan, latihan, dan taktik dibangun oleh satu orang (hlm. 573).</a:t>
            </a:r>
            <a:endParaRPr lang="en-US" sz="850" dirty="0"/>
          </a:p>
        </p:txBody>
      </p:sp>
      <p:sp>
        <p:nvSpPr>
          <p:cNvPr id="33" name="Shape 30"/>
          <p:cNvSpPr/>
          <p:nvPr/>
        </p:nvSpPr>
        <p:spPr>
          <a:xfrm>
            <a:off x="548640" y="4078224"/>
            <a:ext cx="5432908" cy="1024128"/>
          </a:xfrm>
          <a:prstGeom prst="rect">
            <a:avLst/>
          </a:prstGeom>
          <a:solidFill>
            <a:srgbClr val="2B0F11"/>
          </a:solidFill>
          <a:ln w="12700">
            <a:solidFill>
              <a:srgbClr val="2B0F11"/>
            </a:solidFill>
            <a:prstDash val="solid"/>
          </a:ln>
        </p:spPr>
      </p:sp>
      <p:sp>
        <p:nvSpPr>
          <p:cNvPr id="34" name="Shape 31"/>
          <p:cNvSpPr/>
          <p:nvPr/>
        </p:nvSpPr>
        <p:spPr>
          <a:xfrm>
            <a:off x="731520" y="4352544"/>
            <a:ext cx="457200" cy="457200"/>
          </a:xfrm>
          <a:prstGeom prst="ellipse">
            <a:avLst/>
          </a:prstGeom>
          <a:solidFill>
            <a:srgbClr val="DA291C"/>
          </a:solidFill>
          <a:ln w="12700">
            <a:solidFill>
              <a:srgbClr val="DA291C"/>
            </a:solidFill>
            <a:prstDash val="solid"/>
          </a:ln>
        </p:spPr>
      </p:sp>
      <p:sp>
        <p:nvSpPr>
          <p:cNvPr id="35" name="Text 32"/>
          <p:cNvSpPr/>
          <p:nvPr/>
        </p:nvSpPr>
        <p:spPr>
          <a:xfrm>
            <a:off x="731520" y="4352544"/>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5</a:t>
            </a:r>
            <a:endParaRPr lang="en-US" sz="1200" dirty="0"/>
          </a:p>
        </p:txBody>
      </p:sp>
      <p:sp>
        <p:nvSpPr>
          <p:cNvPr id="36" name="Text 33"/>
          <p:cNvSpPr/>
          <p:nvPr/>
        </p:nvSpPr>
        <p:spPr>
          <a:xfrm>
            <a:off x="1371600" y="4187952"/>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Bagaimana menjaga pendapatan komersial kalau prestasi turun?</a:t>
            </a:r>
            <a:endParaRPr lang="en-US" sz="1100" dirty="0"/>
          </a:p>
        </p:txBody>
      </p:sp>
      <p:sp>
        <p:nvSpPr>
          <p:cNvPr id="37" name="Text 34"/>
          <p:cNvSpPr/>
          <p:nvPr/>
        </p:nvSpPr>
        <p:spPr>
          <a:xfrm>
            <a:off x="1371600" y="4626864"/>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E9DDD8"/>
                </a:solidFill>
                <a:latin typeface="Poppins" pitchFamily="34" charset="0"/>
                <a:ea typeface="Poppins" pitchFamily="34" charset="-122"/>
                <a:cs typeface="Poppins" pitchFamily="34" charset="-120"/>
              </a:rPr>
              <a:t>Gill: "So long as the team kept winning games … the commercial revenues … would continue to flow" (hlm. 573).</a:t>
            </a:r>
            <a:endParaRPr lang="en-US" sz="850" dirty="0"/>
          </a:p>
        </p:txBody>
      </p:sp>
      <p:sp>
        <p:nvSpPr>
          <p:cNvPr id="38" name="Shape 35"/>
          <p:cNvSpPr/>
          <p:nvPr/>
        </p:nvSpPr>
        <p:spPr>
          <a:xfrm>
            <a:off x="6210148" y="4078224"/>
            <a:ext cx="5432908" cy="1024128"/>
          </a:xfrm>
          <a:prstGeom prst="rect">
            <a:avLst/>
          </a:prstGeom>
          <a:solidFill>
            <a:srgbClr val="2B0F11"/>
          </a:solidFill>
          <a:ln w="12700">
            <a:solidFill>
              <a:srgbClr val="2B0F11"/>
            </a:solidFill>
            <a:prstDash val="solid"/>
          </a:ln>
        </p:spPr>
      </p:sp>
      <p:sp>
        <p:nvSpPr>
          <p:cNvPr id="39" name="Shape 36"/>
          <p:cNvSpPr/>
          <p:nvPr/>
        </p:nvSpPr>
        <p:spPr>
          <a:xfrm>
            <a:off x="6393028" y="4352544"/>
            <a:ext cx="457200" cy="457200"/>
          </a:xfrm>
          <a:prstGeom prst="ellipse">
            <a:avLst/>
          </a:prstGeom>
          <a:solidFill>
            <a:srgbClr val="DA291C"/>
          </a:solidFill>
          <a:ln w="12700">
            <a:solidFill>
              <a:srgbClr val="DA291C"/>
            </a:solidFill>
            <a:prstDash val="solid"/>
          </a:ln>
        </p:spPr>
      </p:sp>
      <p:sp>
        <p:nvSpPr>
          <p:cNvPr id="40" name="Text 37"/>
          <p:cNvSpPr/>
          <p:nvPr/>
        </p:nvSpPr>
        <p:spPr>
          <a:xfrm>
            <a:off x="6393028" y="4352544"/>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6</a:t>
            </a:r>
            <a:endParaRPr lang="en-US" sz="1200" dirty="0"/>
          </a:p>
        </p:txBody>
      </p:sp>
      <p:sp>
        <p:nvSpPr>
          <p:cNvPr id="41" name="Text 38"/>
          <p:cNvSpPr/>
          <p:nvPr/>
        </p:nvSpPr>
        <p:spPr>
          <a:xfrm>
            <a:off x="7033108" y="4187952"/>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Apakah tata kelola tetap aman tanpa Ferguson dan Gill?</a:t>
            </a:r>
            <a:endParaRPr lang="en-US" sz="1100" dirty="0"/>
          </a:p>
        </p:txBody>
      </p:sp>
      <p:sp>
        <p:nvSpPr>
          <p:cNvPr id="42" name="Text 39"/>
          <p:cNvSpPr/>
          <p:nvPr/>
        </p:nvSpPr>
        <p:spPr>
          <a:xfrm>
            <a:off x="7033108" y="4626864"/>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E9DDD8"/>
                </a:solidFill>
                <a:latin typeface="Poppins" pitchFamily="34" charset="0"/>
                <a:ea typeface="Poppins" pitchFamily="34" charset="-122"/>
                <a:cs typeface="Poppins" pitchFamily="34" charset="-120"/>
              </a:rPr>
              <a:t>Dewan hanya berisi enam anak Glazer; peran pasif pemilik berjalan karena dua orang ini diberi kebebasan (hlm. 584).</a:t>
            </a:r>
            <a:endParaRPr lang="en-US" sz="850" dirty="0"/>
          </a:p>
        </p:txBody>
      </p:sp>
      <p:sp>
        <p:nvSpPr>
          <p:cNvPr id="43" name="Shape 40"/>
          <p:cNvSpPr/>
          <p:nvPr/>
        </p:nvSpPr>
        <p:spPr>
          <a:xfrm>
            <a:off x="548640" y="5239512"/>
            <a:ext cx="11094415" cy="640080"/>
          </a:xfrm>
          <a:prstGeom prst="rect">
            <a:avLst/>
          </a:prstGeom>
          <a:solidFill>
            <a:srgbClr val="381418"/>
          </a:solidFill>
          <a:ln w="12700">
            <a:solidFill>
              <a:srgbClr val="381418"/>
            </a:solidFill>
            <a:prstDash val="solid"/>
          </a:ln>
        </p:spPr>
      </p:sp>
      <p:sp>
        <p:nvSpPr>
          <p:cNvPr id="44" name="Text 41"/>
          <p:cNvSpPr/>
          <p:nvPr/>
        </p:nvSpPr>
        <p:spPr>
          <a:xfrm>
            <a:off x="777240" y="5367528"/>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PEMBACAAN</a:t>
            </a:r>
            <a:endParaRPr lang="en-US" sz="800" dirty="0"/>
          </a:p>
        </p:txBody>
      </p:sp>
      <p:sp>
        <p:nvSpPr>
          <p:cNvPr id="45" name="Text 42"/>
          <p:cNvSpPr/>
          <p:nvPr/>
        </p:nvSpPr>
        <p:spPr>
          <a:xfrm>
            <a:off x="777240" y="5605272"/>
            <a:ext cx="10637215" cy="182880"/>
          </a:xfrm>
          <a:prstGeom prst="rect">
            <a:avLst/>
          </a:prstGeom>
          <a:noFill/>
          <a:ln/>
        </p:spPr>
        <p:txBody>
          <a:bodyPr wrap="square" lIns="0" tIns="0" rIns="0" bIns="0" rtlCol="0" anchor="t"/>
          <a:lstStyle/>
          <a:p>
            <a:pPr indent="0" marL="0">
              <a:lnSpc>
                <a:spcPct val="108000"/>
              </a:lnSpc>
              <a:buNone/>
            </a:pPr>
            <a:r>
              <a:rPr lang="en-US" sz="1050" dirty="0">
                <a:solidFill>
                  <a:srgbClr val="FFFFFF"/>
                </a:solidFill>
                <a:latin typeface="Poppins Medium" pitchFamily="34" charset="0"/>
                <a:ea typeface="Poppins Medium" pitchFamily="34" charset="-122"/>
                <a:cs typeface="Poppins Medium" pitchFamily="34" charset="-120"/>
              </a:rPr>
              <a:t>Isu 1 dan 4 (merah) serius dan butuh strategi baru. Isu 2, 3, 5, 6 bisa ditangani dengan menyempurnakan strategi yang ada.</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40080" y="1600200"/>
            <a:ext cx="365760" cy="64008"/>
          </a:xfrm>
          <a:prstGeom prst="rect">
            <a:avLst/>
          </a:prstGeom>
          <a:solidFill>
            <a:srgbClr val="FBE122"/>
          </a:solidFill>
          <a:ln w="12700">
            <a:solidFill>
              <a:srgbClr val="FBE122"/>
            </a:solidFill>
            <a:prstDash val="solid"/>
          </a:ln>
        </p:spPr>
      </p:sp>
      <p:sp>
        <p:nvSpPr>
          <p:cNvPr id="4" name="Text 1"/>
          <p:cNvSpPr/>
          <p:nvPr/>
        </p:nvSpPr>
        <p:spPr>
          <a:xfrm>
            <a:off x="1143000" y="1463040"/>
            <a:ext cx="6400800" cy="320040"/>
          </a:xfrm>
          <a:prstGeom prst="rect">
            <a:avLst/>
          </a:prstGeom>
          <a:noFill/>
          <a:ln/>
        </p:spPr>
        <p:txBody>
          <a:bodyPr wrap="square" lIns="0" tIns="0" rIns="0" bIns="0" rtlCol="0" anchor="t"/>
          <a:lstStyle/>
          <a:p>
            <a:pPr indent="0" marL="0">
              <a:buNone/>
            </a:pPr>
            <a:r>
              <a:rPr lang="en-US" sz="1100" spc="300" kern="0" dirty="0">
                <a:solidFill>
                  <a:srgbClr val="FBE122"/>
                </a:solidFill>
                <a:latin typeface="Poppins SemiBold" pitchFamily="34" charset="0"/>
                <a:ea typeface="Poppins SemiBold" pitchFamily="34" charset="-122"/>
                <a:cs typeface="Poppins SemiBold" pitchFamily="34" charset="-120"/>
              </a:rPr>
              <a:t>STRATEGIC MANAGEMENT  ·  CHAPTER 4</a:t>
            </a:r>
            <a:endParaRPr lang="en-US" sz="1100" dirty="0"/>
          </a:p>
        </p:txBody>
      </p:sp>
      <p:sp>
        <p:nvSpPr>
          <p:cNvPr id="5" name="Text 2"/>
          <p:cNvSpPr/>
          <p:nvPr/>
        </p:nvSpPr>
        <p:spPr>
          <a:xfrm>
            <a:off x="640080" y="1965960"/>
            <a:ext cx="5669280" cy="1097280"/>
          </a:xfrm>
          <a:prstGeom prst="rect">
            <a:avLst/>
          </a:prstGeom>
          <a:noFill/>
          <a:ln/>
        </p:spPr>
        <p:txBody>
          <a:bodyPr wrap="square" lIns="0" tIns="0" rIns="0" bIns="0" rtlCol="0" anchor="t"/>
          <a:lstStyle/>
          <a:p>
            <a:pPr indent="0" marL="0">
              <a:buNone/>
            </a:pPr>
            <a:r>
              <a:rPr lang="en-US" sz="4800" dirty="0">
                <a:solidFill>
                  <a:srgbClr val="FFFFFF"/>
                </a:solidFill>
                <a:latin typeface="Poppins ExtraBold" pitchFamily="34" charset="0"/>
                <a:ea typeface="Poppins ExtraBold" pitchFamily="34" charset="-122"/>
                <a:cs typeface="Poppins ExtraBold" pitchFamily="34" charset="-120"/>
              </a:rPr>
              <a:t>TERIMA KASIH</a:t>
            </a:r>
            <a:endParaRPr lang="en-US" sz="4800" dirty="0"/>
          </a:p>
        </p:txBody>
      </p:sp>
      <p:sp>
        <p:nvSpPr>
          <p:cNvPr id="6" name="Text 3"/>
          <p:cNvSpPr/>
          <p:nvPr/>
        </p:nvSpPr>
        <p:spPr>
          <a:xfrm>
            <a:off x="640080" y="3063240"/>
            <a:ext cx="7040880" cy="457200"/>
          </a:xfrm>
          <a:prstGeom prst="rect">
            <a:avLst/>
          </a:prstGeom>
          <a:noFill/>
          <a:ln/>
        </p:spPr>
        <p:txBody>
          <a:bodyPr wrap="square" lIns="0" tIns="0" rIns="0" bIns="0" rtlCol="0" anchor="t"/>
          <a:lstStyle/>
          <a:p>
            <a:pPr indent="0" marL="0">
              <a:buNone/>
            </a:pPr>
            <a:r>
              <a:rPr lang="en-US" sz="1800" dirty="0">
                <a:solidFill>
                  <a:srgbClr val="E9DDD8"/>
                </a:solidFill>
                <a:latin typeface="Poppins Medium" pitchFamily="34" charset="0"/>
                <a:ea typeface="Poppins Medium" pitchFamily="34" charset="-122"/>
                <a:cs typeface="Poppins Medium" pitchFamily="34" charset="-120"/>
              </a:rPr>
              <a:t>Kami membuka sesi tanya jawab dan diskusi</a:t>
            </a:r>
            <a:endParaRPr lang="en-US" sz="1800" dirty="0"/>
          </a:p>
        </p:txBody>
      </p:sp>
      <p:sp>
        <p:nvSpPr>
          <p:cNvPr id="7" name="Shape 4"/>
          <p:cNvSpPr/>
          <p:nvPr/>
        </p:nvSpPr>
        <p:spPr>
          <a:xfrm>
            <a:off x="640080" y="3931920"/>
            <a:ext cx="5394960" cy="1234440"/>
          </a:xfrm>
          <a:prstGeom prst="rect">
            <a:avLst/>
          </a:prstGeom>
          <a:solidFill>
            <a:srgbClr val="DA291C"/>
          </a:solidFill>
          <a:ln w="12700">
            <a:solidFill>
              <a:srgbClr val="DA291C"/>
            </a:solidFill>
            <a:prstDash val="solid"/>
          </a:ln>
        </p:spPr>
      </p:sp>
      <p:sp>
        <p:nvSpPr>
          <p:cNvPr id="8" name="Text 5"/>
          <p:cNvSpPr/>
          <p:nvPr/>
        </p:nvSpPr>
        <p:spPr>
          <a:xfrm>
            <a:off x="868680" y="406908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KELOMPOK 4</a:t>
            </a:r>
            <a:endParaRPr lang="en-US" sz="800" dirty="0"/>
          </a:p>
        </p:txBody>
      </p:sp>
      <p:sp>
        <p:nvSpPr>
          <p:cNvPr id="9" name="Text 6"/>
          <p:cNvSpPr/>
          <p:nvPr/>
        </p:nvSpPr>
        <p:spPr>
          <a:xfrm>
            <a:off x="868680" y="4315968"/>
            <a:ext cx="5029200" cy="73152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Poppins SemiBold" pitchFamily="34" charset="0"/>
                <a:ea typeface="Poppins SemiBold" pitchFamily="34" charset="-122"/>
                <a:cs typeface="Poppins SemiBold" pitchFamily="34" charset="-120"/>
              </a:rPr>
              <a:t>Fitra Aidila  ·  Aulia Sisca Rahmadiyanti  ·  Bagaskoro  ·  Imam Prayudha  ·  Tegar Awanto</a:t>
            </a:r>
            <a:endParaRPr lang="en-US" sz="1050" dirty="0"/>
          </a:p>
        </p:txBody>
      </p:sp>
      <p:sp>
        <p:nvSpPr>
          <p:cNvPr id="10" name="Text 7"/>
          <p:cNvSpPr/>
          <p:nvPr/>
        </p:nvSpPr>
        <p:spPr>
          <a:xfrm>
            <a:off x="640080" y="5440680"/>
            <a:ext cx="5394960" cy="731520"/>
          </a:xfrm>
          <a:prstGeom prst="rect">
            <a:avLst/>
          </a:prstGeom>
          <a:noFill/>
          <a:ln/>
        </p:spPr>
        <p:txBody>
          <a:bodyPr wrap="square" lIns="0" tIns="0" rIns="0" bIns="0" rtlCol="0" anchor="t"/>
          <a:lstStyle/>
          <a:p>
            <a:pPr indent="0" marL="0">
              <a:lnSpc>
                <a:spcPct val="115000"/>
              </a:lnSpc>
              <a:buNone/>
            </a:pPr>
            <a:r>
              <a:rPr lang="en-US" sz="850" dirty="0">
                <a:solidFill>
                  <a:srgbClr val="E9DDD8"/>
                </a:solidFill>
                <a:latin typeface="Poppins" pitchFamily="34" charset="0"/>
                <a:ea typeface="Poppins" pitchFamily="34" charset="-122"/>
                <a:cs typeface="Poppins" pitchFamily="34" charset="-120"/>
              </a:rPr>
              <a:t>Strategic Management  ·  Dr. Rangga Almahendra, S.T., M.M.</a:t>
            </a:r>
            <a:endParaRPr lang="en-US" sz="850" dirty="0"/>
          </a:p>
          <a:p>
            <a:pPr indent="0" marL="0">
              <a:lnSpc>
                <a:spcPct val="115000"/>
              </a:lnSpc>
              <a:buNone/>
            </a:pPr>
            <a:r>
              <a:rPr lang="en-US" sz="850" dirty="0">
                <a:solidFill>
                  <a:srgbClr val="E9DDD8"/>
                </a:solidFill>
                <a:latin typeface="Poppins" pitchFamily="34" charset="0"/>
                <a:ea typeface="Poppins" pitchFamily="34" charset="-122"/>
                <a:cs typeface="Poppins" pitchFamily="34" charset="-120"/>
              </a:rPr>
              <a:t>Chapter 4: Thompson, Peteraf, Gamble &amp; Strickland, 2024 Release ISE   |   Kasus: Manchester United, Robert M. Grant (2010)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 Manchester United</dc:title>
  <dc:subject>PptxGenJS Presentation</dc:subject>
  <dc:creator>Kelompok 4</dc:creator>
  <cp:lastModifiedBy>Kelompok 4</cp:lastModifiedBy>
  <cp:revision>1</cp:revision>
  <dcterms:created xsi:type="dcterms:W3CDTF">2026-09-30T07:48:15Z</dcterms:created>
  <dcterms:modified xsi:type="dcterms:W3CDTF">2026-09-30T07:48:15Z</dcterms:modified>
</cp:coreProperties>
</file>